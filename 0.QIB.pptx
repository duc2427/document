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48" r:id="rId1"/>
    <p:sldMasterId id="2147483732" r:id="rId2"/>
  </p:sldMasterIdLst>
  <p:notesMasterIdLst>
    <p:notesMasterId r:id="rId294"/>
  </p:notesMasterIdLst>
  <p:handoutMasterIdLst>
    <p:handoutMasterId r:id="rId295"/>
  </p:handoutMasterIdLst>
  <p:sldIdLst>
    <p:sldId id="1481" r:id="rId3"/>
    <p:sldId id="1485" r:id="rId4"/>
    <p:sldId id="1469" r:id="rId5"/>
    <p:sldId id="1462" r:id="rId6"/>
    <p:sldId id="1463" r:id="rId7"/>
    <p:sldId id="1464" r:id="rId8"/>
    <p:sldId id="1465" r:id="rId9"/>
    <p:sldId id="1467" r:id="rId10"/>
    <p:sldId id="1468" r:id="rId11"/>
    <p:sldId id="1470" r:id="rId12"/>
    <p:sldId id="271" r:id="rId13"/>
    <p:sldId id="336" r:id="rId14"/>
    <p:sldId id="1076" r:id="rId15"/>
    <p:sldId id="1077" r:id="rId16"/>
    <p:sldId id="285" r:id="rId17"/>
    <p:sldId id="454" r:id="rId18"/>
    <p:sldId id="487" r:id="rId19"/>
    <p:sldId id="488" r:id="rId20"/>
    <p:sldId id="494" r:id="rId21"/>
    <p:sldId id="489" r:id="rId22"/>
    <p:sldId id="474" r:id="rId23"/>
    <p:sldId id="491" r:id="rId24"/>
    <p:sldId id="832" r:id="rId25"/>
    <p:sldId id="833" r:id="rId26"/>
    <p:sldId id="388" r:id="rId27"/>
    <p:sldId id="383" r:id="rId28"/>
    <p:sldId id="457" r:id="rId29"/>
    <p:sldId id="384" r:id="rId30"/>
    <p:sldId id="399" r:id="rId31"/>
    <p:sldId id="1483" r:id="rId32"/>
    <p:sldId id="400" r:id="rId33"/>
    <p:sldId id="401" r:id="rId34"/>
    <p:sldId id="1486" r:id="rId35"/>
    <p:sldId id="458" r:id="rId36"/>
    <p:sldId id="459" r:id="rId37"/>
    <p:sldId id="410" r:id="rId38"/>
    <p:sldId id="411" r:id="rId39"/>
    <p:sldId id="412" r:id="rId40"/>
    <p:sldId id="834" r:id="rId41"/>
    <p:sldId id="835" r:id="rId42"/>
    <p:sldId id="836" r:id="rId43"/>
    <p:sldId id="417" r:id="rId44"/>
    <p:sldId id="1487" r:id="rId45"/>
    <p:sldId id="418" r:id="rId46"/>
    <p:sldId id="419" r:id="rId47"/>
    <p:sldId id="420" r:id="rId48"/>
    <p:sldId id="421" r:id="rId49"/>
    <p:sldId id="1459" r:id="rId50"/>
    <p:sldId id="422" r:id="rId51"/>
    <p:sldId id="423" r:id="rId52"/>
    <p:sldId id="424" r:id="rId53"/>
    <p:sldId id="425" r:id="rId54"/>
    <p:sldId id="426" r:id="rId55"/>
    <p:sldId id="1474" r:id="rId56"/>
    <p:sldId id="468" r:id="rId57"/>
    <p:sldId id="469" r:id="rId58"/>
    <p:sldId id="470" r:id="rId59"/>
    <p:sldId id="471" r:id="rId60"/>
    <p:sldId id="472" r:id="rId61"/>
    <p:sldId id="1484" r:id="rId62"/>
    <p:sldId id="429" r:id="rId63"/>
    <p:sldId id="461" r:id="rId64"/>
    <p:sldId id="431" r:id="rId65"/>
    <p:sldId id="463" r:id="rId66"/>
    <p:sldId id="464" r:id="rId67"/>
    <p:sldId id="1460" r:id="rId68"/>
    <p:sldId id="456" r:id="rId69"/>
    <p:sldId id="1230" r:id="rId70"/>
    <p:sldId id="1231" r:id="rId71"/>
    <p:sldId id="1232" r:id="rId72"/>
    <p:sldId id="1233" r:id="rId73"/>
    <p:sldId id="1234" r:id="rId74"/>
    <p:sldId id="1235" r:id="rId75"/>
    <p:sldId id="1315" r:id="rId76"/>
    <p:sldId id="1237" r:id="rId77"/>
    <p:sldId id="1238" r:id="rId78"/>
    <p:sldId id="1239" r:id="rId79"/>
    <p:sldId id="1240" r:id="rId80"/>
    <p:sldId id="1480" r:id="rId81"/>
    <p:sldId id="1479" r:id="rId82"/>
    <p:sldId id="1241" r:id="rId83"/>
    <p:sldId id="1242" r:id="rId84"/>
    <p:sldId id="1243" r:id="rId85"/>
    <p:sldId id="1244" r:id="rId86"/>
    <p:sldId id="1245" r:id="rId87"/>
    <p:sldId id="1246" r:id="rId88"/>
    <p:sldId id="1247" r:id="rId89"/>
    <p:sldId id="1248" r:id="rId90"/>
    <p:sldId id="1249" r:id="rId91"/>
    <p:sldId id="1250" r:id="rId92"/>
    <p:sldId id="1251" r:id="rId93"/>
    <p:sldId id="1252" r:id="rId94"/>
    <p:sldId id="1253" r:id="rId95"/>
    <p:sldId id="1254" r:id="rId96"/>
    <p:sldId id="1255" r:id="rId97"/>
    <p:sldId id="1256" r:id="rId98"/>
    <p:sldId id="1257" r:id="rId99"/>
    <p:sldId id="1258" r:id="rId100"/>
    <p:sldId id="1259" r:id="rId101"/>
    <p:sldId id="1260" r:id="rId102"/>
    <p:sldId id="1261" r:id="rId103"/>
    <p:sldId id="1262" r:id="rId104"/>
    <p:sldId id="1263" r:id="rId105"/>
    <p:sldId id="1264" r:id="rId106"/>
    <p:sldId id="1265" r:id="rId107"/>
    <p:sldId id="1266" r:id="rId108"/>
    <p:sldId id="1267" r:id="rId109"/>
    <p:sldId id="1268" r:id="rId110"/>
    <p:sldId id="1269" r:id="rId111"/>
    <p:sldId id="1270" r:id="rId112"/>
    <p:sldId id="1271" r:id="rId113"/>
    <p:sldId id="1272" r:id="rId114"/>
    <p:sldId id="1273" r:id="rId115"/>
    <p:sldId id="1274" r:id="rId116"/>
    <p:sldId id="1275" r:id="rId117"/>
    <p:sldId id="1276" r:id="rId118"/>
    <p:sldId id="1277" r:id="rId119"/>
    <p:sldId id="1278" r:id="rId120"/>
    <p:sldId id="1279" r:id="rId121"/>
    <p:sldId id="1280" r:id="rId122"/>
    <p:sldId id="1281" r:id="rId123"/>
    <p:sldId id="1282" r:id="rId124"/>
    <p:sldId id="1283" r:id="rId125"/>
    <p:sldId id="1284" r:id="rId126"/>
    <p:sldId id="1285" r:id="rId127"/>
    <p:sldId id="1286" r:id="rId128"/>
    <p:sldId id="1287" r:id="rId129"/>
    <p:sldId id="1288" r:id="rId130"/>
    <p:sldId id="1289" r:id="rId131"/>
    <p:sldId id="1290" r:id="rId132"/>
    <p:sldId id="1291" r:id="rId133"/>
    <p:sldId id="1292" r:id="rId134"/>
    <p:sldId id="1293" r:id="rId135"/>
    <p:sldId id="1294" r:id="rId136"/>
    <p:sldId id="1295" r:id="rId137"/>
    <p:sldId id="1296" r:id="rId138"/>
    <p:sldId id="1297" r:id="rId139"/>
    <p:sldId id="1298" r:id="rId140"/>
    <p:sldId id="1299" r:id="rId141"/>
    <p:sldId id="1300" r:id="rId142"/>
    <p:sldId id="1301" r:id="rId143"/>
    <p:sldId id="1475" r:id="rId144"/>
    <p:sldId id="1476" r:id="rId145"/>
    <p:sldId id="1477" r:id="rId146"/>
    <p:sldId id="1302" r:id="rId147"/>
    <p:sldId id="1303" r:id="rId148"/>
    <p:sldId id="1304" r:id="rId149"/>
    <p:sldId id="1305" r:id="rId150"/>
    <p:sldId id="1306" r:id="rId151"/>
    <p:sldId id="1307" r:id="rId152"/>
    <p:sldId id="1308" r:id="rId153"/>
    <p:sldId id="1309" r:id="rId154"/>
    <p:sldId id="1310" r:id="rId155"/>
    <p:sldId id="1311" r:id="rId156"/>
    <p:sldId id="1312" r:id="rId157"/>
    <p:sldId id="1313" r:id="rId158"/>
    <p:sldId id="1314" r:id="rId159"/>
    <p:sldId id="1316" r:id="rId160"/>
    <p:sldId id="1317" r:id="rId161"/>
    <p:sldId id="1318" r:id="rId162"/>
    <p:sldId id="1319" r:id="rId163"/>
    <p:sldId id="1320" r:id="rId164"/>
    <p:sldId id="1321" r:id="rId165"/>
    <p:sldId id="1322" r:id="rId166"/>
    <p:sldId id="1323" r:id="rId167"/>
    <p:sldId id="1324" r:id="rId168"/>
    <p:sldId id="1325" r:id="rId169"/>
    <p:sldId id="1326" r:id="rId170"/>
    <p:sldId id="1327" r:id="rId171"/>
    <p:sldId id="1328" r:id="rId172"/>
    <p:sldId id="1329" r:id="rId173"/>
    <p:sldId id="1330" r:id="rId174"/>
    <p:sldId id="1331" r:id="rId175"/>
    <p:sldId id="1332" r:id="rId176"/>
    <p:sldId id="1333" r:id="rId177"/>
    <p:sldId id="1334" r:id="rId178"/>
    <p:sldId id="1478" r:id="rId179"/>
    <p:sldId id="1335" r:id="rId180"/>
    <p:sldId id="1336" r:id="rId181"/>
    <p:sldId id="1337" r:id="rId182"/>
    <p:sldId id="1338" r:id="rId183"/>
    <p:sldId id="1339" r:id="rId184"/>
    <p:sldId id="1340" r:id="rId185"/>
    <p:sldId id="1350" r:id="rId186"/>
    <p:sldId id="1351" r:id="rId187"/>
    <p:sldId id="1352" r:id="rId188"/>
    <p:sldId id="1461" r:id="rId189"/>
    <p:sldId id="1353" r:id="rId190"/>
    <p:sldId id="1354" r:id="rId191"/>
    <p:sldId id="1355" r:id="rId192"/>
    <p:sldId id="1356" r:id="rId193"/>
    <p:sldId id="1357" r:id="rId194"/>
    <p:sldId id="1358" r:id="rId195"/>
    <p:sldId id="1359" r:id="rId196"/>
    <p:sldId id="1360" r:id="rId197"/>
    <p:sldId id="1361" r:id="rId198"/>
    <p:sldId id="1362" r:id="rId199"/>
    <p:sldId id="1363" r:id="rId200"/>
    <p:sldId id="1364" r:id="rId201"/>
    <p:sldId id="1365" r:id="rId202"/>
    <p:sldId id="1366" r:id="rId203"/>
    <p:sldId id="1368" r:id="rId204"/>
    <p:sldId id="1369" r:id="rId205"/>
    <p:sldId id="1370" r:id="rId206"/>
    <p:sldId id="1371" r:id="rId207"/>
    <p:sldId id="1372" r:id="rId208"/>
    <p:sldId id="1373" r:id="rId209"/>
    <p:sldId id="1374" r:id="rId210"/>
    <p:sldId id="1375" r:id="rId211"/>
    <p:sldId id="1376" r:id="rId212"/>
    <p:sldId id="1377" r:id="rId213"/>
    <p:sldId id="1378" r:id="rId214"/>
    <p:sldId id="1379" r:id="rId215"/>
    <p:sldId id="1380" r:id="rId216"/>
    <p:sldId id="1381" r:id="rId217"/>
    <p:sldId id="1382" r:id="rId218"/>
    <p:sldId id="1383" r:id="rId219"/>
    <p:sldId id="1384" r:id="rId220"/>
    <p:sldId id="1385" r:id="rId221"/>
    <p:sldId id="1386" r:id="rId222"/>
    <p:sldId id="1441" r:id="rId223"/>
    <p:sldId id="1442" r:id="rId224"/>
    <p:sldId id="1443" r:id="rId225"/>
    <p:sldId id="1444" r:id="rId226"/>
    <p:sldId id="1445" r:id="rId227"/>
    <p:sldId id="1446" r:id="rId228"/>
    <p:sldId id="1447" r:id="rId229"/>
    <p:sldId id="1448" r:id="rId230"/>
    <p:sldId id="1387" r:id="rId231"/>
    <p:sldId id="1449" r:id="rId232"/>
    <p:sldId id="1388" r:id="rId233"/>
    <p:sldId id="1389" r:id="rId234"/>
    <p:sldId id="1390" r:id="rId235"/>
    <p:sldId id="1391" r:id="rId236"/>
    <p:sldId id="1392" r:id="rId237"/>
    <p:sldId id="1393" r:id="rId238"/>
    <p:sldId id="1394" r:id="rId239"/>
    <p:sldId id="1395" r:id="rId240"/>
    <p:sldId id="1396" r:id="rId241"/>
    <p:sldId id="1397" r:id="rId242"/>
    <p:sldId id="1398" r:id="rId243"/>
    <p:sldId id="1399" r:id="rId244"/>
    <p:sldId id="1450" r:id="rId245"/>
    <p:sldId id="1451" r:id="rId246"/>
    <p:sldId id="1400" r:id="rId247"/>
    <p:sldId id="1401" r:id="rId248"/>
    <p:sldId id="1402" r:id="rId249"/>
    <p:sldId id="1403" r:id="rId250"/>
    <p:sldId id="1404" r:id="rId251"/>
    <p:sldId id="1405" r:id="rId252"/>
    <p:sldId id="1406" r:id="rId253"/>
    <p:sldId id="1407" r:id="rId254"/>
    <p:sldId id="1408" r:id="rId255"/>
    <p:sldId id="1409" r:id="rId256"/>
    <p:sldId id="1410" r:id="rId257"/>
    <p:sldId id="1411" r:id="rId258"/>
    <p:sldId id="1412" r:id="rId259"/>
    <p:sldId id="1413" r:id="rId260"/>
    <p:sldId id="1414" r:id="rId261"/>
    <p:sldId id="1415" r:id="rId262"/>
    <p:sldId id="1452" r:id="rId263"/>
    <p:sldId id="1453" r:id="rId264"/>
    <p:sldId id="1454" r:id="rId265"/>
    <p:sldId id="1416" r:id="rId266"/>
    <p:sldId id="1417" r:id="rId267"/>
    <p:sldId id="1418" r:id="rId268"/>
    <p:sldId id="1419" r:id="rId269"/>
    <p:sldId id="1420" r:id="rId270"/>
    <p:sldId id="1421" r:id="rId271"/>
    <p:sldId id="1422" r:id="rId272"/>
    <p:sldId id="1423" r:id="rId273"/>
    <p:sldId id="1424" r:id="rId274"/>
    <p:sldId id="1455" r:id="rId275"/>
    <p:sldId id="1425" r:id="rId276"/>
    <p:sldId id="1426" r:id="rId277"/>
    <p:sldId id="1427" r:id="rId278"/>
    <p:sldId id="1428" r:id="rId279"/>
    <p:sldId id="1473" r:id="rId280"/>
    <p:sldId id="1430" r:id="rId281"/>
    <p:sldId id="1431" r:id="rId282"/>
    <p:sldId id="1432" r:id="rId283"/>
    <p:sldId id="1433" r:id="rId284"/>
    <p:sldId id="1434" r:id="rId285"/>
    <p:sldId id="1435" r:id="rId286"/>
    <p:sldId id="1436" r:id="rId287"/>
    <p:sldId id="1437" r:id="rId288"/>
    <p:sldId id="1438" r:id="rId289"/>
    <p:sldId id="1439" r:id="rId290"/>
    <p:sldId id="1457" r:id="rId291"/>
    <p:sldId id="1458" r:id="rId292"/>
    <p:sldId id="1440" r:id="rId293"/>
  </p:sldIdLst>
  <p:sldSz cx="9906000" cy="6858000" type="A4"/>
  <p:notesSz cx="6858000" cy="9926638"/>
  <p:defaultTextStyle>
    <a:defPPr>
      <a:defRPr lang="ko-KR"/>
    </a:defPPr>
    <a:lvl1pPr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p:defaultTextStyle>
  <p:extLst>
    <p:ext uri="{EFAFB233-063F-42B5-8137-9DF3F51BA10A}">
      <p15:sldGuideLst xmlns:p15="http://schemas.microsoft.com/office/powerpoint/2012/main">
        <p15:guide id="1" orient="horz" pos="2160">
          <p15:clr>
            <a:srgbClr val="A4A3A4"/>
          </p15:clr>
        </p15:guide>
        <p15:guide id="2" pos="3120">
          <p15:clr>
            <a:srgbClr val="A4A3A4"/>
          </p15:clr>
        </p15:guide>
      </p15:sldGuideLst>
    </p:ext>
    <p:ext uri="{2D200454-40CA-4A62-9FC3-DE9A4176ACB9}">
      <p15:notesGuideLst xmlns:p15="http://schemas.microsoft.com/office/powerpoint/2012/main">
        <p15:guide id="1" orient="horz" pos="3127">
          <p15:clr>
            <a:srgbClr val="A4A3A4"/>
          </p15:clr>
        </p15:guide>
        <p15:guide id="2" pos="2160">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AutoBVT" initials="A" lastIdx="1"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5003D"/>
    <a:srgbClr val="A9072E"/>
    <a:srgbClr val="59595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793D81CF-94F2-401A-BA57-92F5A7B2D0C5}" styleName="보통 스타일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422" autoAdjust="0"/>
    <p:restoredTop sz="82739" autoAdjust="0"/>
  </p:normalViewPr>
  <p:slideViewPr>
    <p:cSldViewPr>
      <p:cViewPr varScale="1">
        <p:scale>
          <a:sx n="92" d="100"/>
          <a:sy n="92" d="100"/>
        </p:scale>
        <p:origin x="1512" y="64"/>
      </p:cViewPr>
      <p:guideLst>
        <p:guide orient="horz" pos="2160"/>
        <p:guide pos="3120"/>
      </p:guideLst>
    </p:cSldViewPr>
  </p:slideViewPr>
  <p:outlineViewPr>
    <p:cViewPr>
      <p:scale>
        <a:sx n="33" d="100"/>
        <a:sy n="33" d="100"/>
      </p:scale>
      <p:origin x="0" y="0"/>
    </p:cViewPr>
  </p:outlineViewPr>
  <p:notesTextViewPr>
    <p:cViewPr>
      <p:scale>
        <a:sx n="125" d="100"/>
        <a:sy n="125" d="100"/>
      </p:scale>
      <p:origin x="0" y="0"/>
    </p:cViewPr>
  </p:notesTextViewPr>
  <p:sorterViewPr>
    <p:cViewPr>
      <p:scale>
        <a:sx n="100" d="100"/>
        <a:sy n="100" d="100"/>
      </p:scale>
      <p:origin x="0" y="39132"/>
    </p:cViewPr>
  </p:sorterViewPr>
  <p:notesViewPr>
    <p:cSldViewPr>
      <p:cViewPr>
        <p:scale>
          <a:sx n="100" d="100"/>
          <a:sy n="100" d="100"/>
        </p:scale>
        <p:origin x="-1824" y="498"/>
      </p:cViewPr>
      <p:guideLst>
        <p:guide orient="horz" pos="3127"/>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99" Type="http://schemas.openxmlformats.org/officeDocument/2006/relationships/theme" Target="theme/theme1.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170" Type="http://schemas.openxmlformats.org/officeDocument/2006/relationships/slide" Target="slides/slide168.xml"/><Relationship Id="rId226" Type="http://schemas.openxmlformats.org/officeDocument/2006/relationships/slide" Target="slides/slide224.xml"/><Relationship Id="rId268" Type="http://schemas.openxmlformats.org/officeDocument/2006/relationships/slide" Target="slides/slide266.xml"/><Relationship Id="rId32" Type="http://schemas.openxmlformats.org/officeDocument/2006/relationships/slide" Target="slides/slide30.xml"/><Relationship Id="rId74" Type="http://schemas.openxmlformats.org/officeDocument/2006/relationships/slide" Target="slides/slide72.xml"/><Relationship Id="rId128" Type="http://schemas.openxmlformats.org/officeDocument/2006/relationships/slide" Target="slides/slide126.xml"/><Relationship Id="rId5" Type="http://schemas.openxmlformats.org/officeDocument/2006/relationships/slide" Target="slides/slide3.xml"/><Relationship Id="rId181" Type="http://schemas.openxmlformats.org/officeDocument/2006/relationships/slide" Target="slides/slide179.xml"/><Relationship Id="rId237" Type="http://schemas.openxmlformats.org/officeDocument/2006/relationships/slide" Target="slides/slide235.xml"/><Relationship Id="rId279" Type="http://schemas.openxmlformats.org/officeDocument/2006/relationships/slide" Target="slides/slide277.xml"/><Relationship Id="rId43" Type="http://schemas.openxmlformats.org/officeDocument/2006/relationships/slide" Target="slides/slide41.xml"/><Relationship Id="rId139" Type="http://schemas.openxmlformats.org/officeDocument/2006/relationships/slide" Target="slides/slide137.xml"/><Relationship Id="rId290" Type="http://schemas.openxmlformats.org/officeDocument/2006/relationships/slide" Target="slides/slide288.xml"/><Relationship Id="rId85" Type="http://schemas.openxmlformats.org/officeDocument/2006/relationships/slide" Target="slides/slide83.xml"/><Relationship Id="rId150" Type="http://schemas.openxmlformats.org/officeDocument/2006/relationships/slide" Target="slides/slide148.xml"/><Relationship Id="rId192" Type="http://schemas.openxmlformats.org/officeDocument/2006/relationships/slide" Target="slides/slide190.xml"/><Relationship Id="rId206" Type="http://schemas.openxmlformats.org/officeDocument/2006/relationships/slide" Target="slides/slide204.xml"/><Relationship Id="rId248" Type="http://schemas.openxmlformats.org/officeDocument/2006/relationships/slide" Target="slides/slide246.xml"/><Relationship Id="rId12" Type="http://schemas.openxmlformats.org/officeDocument/2006/relationships/slide" Target="slides/slide10.xml"/><Relationship Id="rId108" Type="http://schemas.openxmlformats.org/officeDocument/2006/relationships/slide" Target="slides/slide106.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8" Type="http://schemas.openxmlformats.org/officeDocument/2006/relationships/slide" Target="slides/slide236.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291" Type="http://schemas.openxmlformats.org/officeDocument/2006/relationships/slide" Target="slides/slide289.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281" Type="http://schemas.openxmlformats.org/officeDocument/2006/relationships/slide" Target="slides/slide279.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250" Type="http://schemas.openxmlformats.org/officeDocument/2006/relationships/slide" Target="slides/slide248.xml"/><Relationship Id="rId271" Type="http://schemas.openxmlformats.org/officeDocument/2006/relationships/slide" Target="slides/slide269.xml"/><Relationship Id="rId292" Type="http://schemas.openxmlformats.org/officeDocument/2006/relationships/slide" Target="slides/slide290.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261" Type="http://schemas.openxmlformats.org/officeDocument/2006/relationships/slide" Target="slides/slide259.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282" Type="http://schemas.openxmlformats.org/officeDocument/2006/relationships/slide" Target="slides/slide280.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72" Type="http://schemas.openxmlformats.org/officeDocument/2006/relationships/slide" Target="slides/slide270.xml"/><Relationship Id="rId293" Type="http://schemas.openxmlformats.org/officeDocument/2006/relationships/slide" Target="slides/slide29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262" Type="http://schemas.openxmlformats.org/officeDocument/2006/relationships/slide" Target="slides/slide260.xml"/><Relationship Id="rId283" Type="http://schemas.openxmlformats.org/officeDocument/2006/relationships/slide" Target="slides/slide281.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273" Type="http://schemas.openxmlformats.org/officeDocument/2006/relationships/slide" Target="slides/slide271.xml"/><Relationship Id="rId294" Type="http://schemas.openxmlformats.org/officeDocument/2006/relationships/notesMaster" Target="notesMasters/notesMaster1.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284" Type="http://schemas.openxmlformats.org/officeDocument/2006/relationships/slide" Target="slides/slide282.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4" Type="http://schemas.openxmlformats.org/officeDocument/2006/relationships/slide" Target="slides/slide272.xml"/><Relationship Id="rId295" Type="http://schemas.openxmlformats.org/officeDocument/2006/relationships/handoutMaster" Target="handoutMasters/handoutMaster1.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slide" Target="slides/slide262.xml"/><Relationship Id="rId285" Type="http://schemas.openxmlformats.org/officeDocument/2006/relationships/slide" Target="slides/slide283.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275" Type="http://schemas.openxmlformats.org/officeDocument/2006/relationships/slide" Target="slides/slide273.xml"/><Relationship Id="rId296" Type="http://schemas.openxmlformats.org/officeDocument/2006/relationships/commentAuthors" Target="commentAuthors.xml"/><Relationship Id="rId300" Type="http://schemas.openxmlformats.org/officeDocument/2006/relationships/tableStyles" Target="tableStyles.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slide" Target="slides/slide263.xml"/><Relationship Id="rId286" Type="http://schemas.openxmlformats.org/officeDocument/2006/relationships/slide" Target="slides/slide284.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276" Type="http://schemas.openxmlformats.org/officeDocument/2006/relationships/slide" Target="slides/slide274.xml"/><Relationship Id="rId297" Type="http://schemas.openxmlformats.org/officeDocument/2006/relationships/presProps" Target="presProps.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slide" Target="slides/slide264.xml"/><Relationship Id="rId287" Type="http://schemas.openxmlformats.org/officeDocument/2006/relationships/slide" Target="slides/slide285.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277" Type="http://schemas.openxmlformats.org/officeDocument/2006/relationships/slide" Target="slides/slide275.xml"/><Relationship Id="rId298" Type="http://schemas.openxmlformats.org/officeDocument/2006/relationships/viewProps" Target="viewProps.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267" Type="http://schemas.openxmlformats.org/officeDocument/2006/relationships/slide" Target="slides/slide265.xml"/><Relationship Id="rId288" Type="http://schemas.openxmlformats.org/officeDocument/2006/relationships/slide" Target="slides/slide286.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278" Type="http://schemas.openxmlformats.org/officeDocument/2006/relationships/slide" Target="slides/slide276.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107" Type="http://schemas.openxmlformats.org/officeDocument/2006/relationships/slide" Target="slides/slide105.xml"/><Relationship Id="rId289" Type="http://schemas.openxmlformats.org/officeDocument/2006/relationships/slide" Target="slides/slide287.xml"/><Relationship Id="rId11" Type="http://schemas.openxmlformats.org/officeDocument/2006/relationships/slide" Target="slides/slide9.xml"/><Relationship Id="rId53" Type="http://schemas.openxmlformats.org/officeDocument/2006/relationships/slide" Target="slides/slide51.xml"/><Relationship Id="rId149" Type="http://schemas.openxmlformats.org/officeDocument/2006/relationships/slide" Target="slides/slide147.xml"/><Relationship Id="rId95" Type="http://schemas.openxmlformats.org/officeDocument/2006/relationships/slide" Target="slides/slide93.xml"/><Relationship Id="rId160" Type="http://schemas.openxmlformats.org/officeDocument/2006/relationships/slide" Target="slides/slide158.xml"/><Relationship Id="rId216" Type="http://schemas.openxmlformats.org/officeDocument/2006/relationships/slide" Target="slides/slide214.xml"/><Relationship Id="rId258" Type="http://schemas.openxmlformats.org/officeDocument/2006/relationships/slide" Target="slides/slide256.xml"/><Relationship Id="rId22" Type="http://schemas.openxmlformats.org/officeDocument/2006/relationships/slide" Target="slides/slide20.xml"/><Relationship Id="rId64" Type="http://schemas.openxmlformats.org/officeDocument/2006/relationships/slide" Target="slides/slide62.xml"/><Relationship Id="rId118" Type="http://schemas.openxmlformats.org/officeDocument/2006/relationships/slide" Target="slides/slide116.xml"/><Relationship Id="rId171" Type="http://schemas.openxmlformats.org/officeDocument/2006/relationships/slide" Target="slides/slide169.xml"/><Relationship Id="rId227" Type="http://schemas.openxmlformats.org/officeDocument/2006/relationships/slide" Target="slides/slide225.xml"/><Relationship Id="rId269" Type="http://schemas.openxmlformats.org/officeDocument/2006/relationships/slide" Target="slides/slide267.xml"/><Relationship Id="rId33" Type="http://schemas.openxmlformats.org/officeDocument/2006/relationships/slide" Target="slides/slide31.xml"/><Relationship Id="rId129" Type="http://schemas.openxmlformats.org/officeDocument/2006/relationships/slide" Target="slides/slide127.xml"/><Relationship Id="rId280" Type="http://schemas.openxmlformats.org/officeDocument/2006/relationships/slide" Target="slides/slide278.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587" cy="496253"/>
          </a:xfrm>
          <a:prstGeom prst="rect">
            <a:avLst/>
          </a:prstGeom>
        </p:spPr>
        <p:txBody>
          <a:bodyPr vert="horz" lIns="91440" tIns="45720" rIns="91440" bIns="45720" rtlCol="0"/>
          <a:lstStyle>
            <a:lvl1pPr algn="l" fontAlgn="auto">
              <a:spcBef>
                <a:spcPts val="0"/>
              </a:spcBef>
              <a:spcAft>
                <a:spcPts val="0"/>
              </a:spcAft>
              <a:defRPr kumimoji="0" sz="1200">
                <a:latin typeface="+mn-lt"/>
                <a:ea typeface="+mn-ea"/>
              </a:defRPr>
            </a:lvl1pPr>
          </a:lstStyle>
          <a:p>
            <a:pPr>
              <a:defRPr/>
            </a:pPr>
            <a:endParaRPr lang="ko-KR" altLang="en-US" dirty="0"/>
          </a:p>
        </p:txBody>
      </p:sp>
      <p:sp>
        <p:nvSpPr>
          <p:cNvPr id="3" name="날짜 개체 틀 2"/>
          <p:cNvSpPr>
            <a:spLocks noGrp="1"/>
          </p:cNvSpPr>
          <p:nvPr>
            <p:ph type="dt" sz="quarter" idx="1"/>
          </p:nvPr>
        </p:nvSpPr>
        <p:spPr>
          <a:xfrm>
            <a:off x="3884815" y="0"/>
            <a:ext cx="2971587" cy="496253"/>
          </a:xfrm>
          <a:prstGeom prst="rect">
            <a:avLst/>
          </a:prstGeom>
        </p:spPr>
        <p:txBody>
          <a:bodyPr vert="horz" lIns="91440" tIns="45720" rIns="91440" bIns="45720" rtlCol="0"/>
          <a:lstStyle>
            <a:lvl1pPr algn="r" fontAlgn="auto">
              <a:spcBef>
                <a:spcPts val="0"/>
              </a:spcBef>
              <a:spcAft>
                <a:spcPts val="0"/>
              </a:spcAft>
              <a:defRPr kumimoji="0" sz="1200">
                <a:latin typeface="+mn-lt"/>
                <a:ea typeface="+mn-ea"/>
              </a:defRPr>
            </a:lvl1pPr>
          </a:lstStyle>
          <a:p>
            <a:pPr>
              <a:defRPr/>
            </a:pPr>
            <a:fld id="{826744C8-9A35-43DF-98A6-F07D1506F8EB}" type="datetimeFigureOut">
              <a:rPr lang="ko-KR" altLang="en-US"/>
              <a:pPr>
                <a:defRPr/>
              </a:pPr>
              <a:t>2026-04-03</a:t>
            </a:fld>
            <a:endParaRPr lang="ko-KR" altLang="en-US" dirty="0"/>
          </a:p>
        </p:txBody>
      </p:sp>
      <p:sp>
        <p:nvSpPr>
          <p:cNvPr id="4" name="바닥글 개체 틀 3"/>
          <p:cNvSpPr>
            <a:spLocks noGrp="1"/>
          </p:cNvSpPr>
          <p:nvPr>
            <p:ph type="ftr" sz="quarter" idx="2"/>
          </p:nvPr>
        </p:nvSpPr>
        <p:spPr>
          <a:xfrm>
            <a:off x="0" y="9428800"/>
            <a:ext cx="2971587" cy="496252"/>
          </a:xfrm>
          <a:prstGeom prst="rect">
            <a:avLst/>
          </a:prstGeom>
        </p:spPr>
        <p:txBody>
          <a:bodyPr vert="horz" lIns="91440" tIns="45720" rIns="91440" bIns="45720" rtlCol="0" anchor="b"/>
          <a:lstStyle>
            <a:lvl1pPr algn="l" fontAlgn="auto">
              <a:spcBef>
                <a:spcPts val="0"/>
              </a:spcBef>
              <a:spcAft>
                <a:spcPts val="0"/>
              </a:spcAft>
              <a:defRPr kumimoji="0" sz="1200">
                <a:latin typeface="+mn-lt"/>
                <a:ea typeface="+mn-ea"/>
              </a:defRPr>
            </a:lvl1pPr>
          </a:lstStyle>
          <a:p>
            <a:pPr>
              <a:defRPr/>
            </a:pPr>
            <a:endParaRPr lang="ko-KR" altLang="en-US" dirty="0"/>
          </a:p>
        </p:txBody>
      </p:sp>
      <p:sp>
        <p:nvSpPr>
          <p:cNvPr id="5" name="슬라이드 번호 개체 틀 4"/>
          <p:cNvSpPr>
            <a:spLocks noGrp="1"/>
          </p:cNvSpPr>
          <p:nvPr>
            <p:ph type="sldNum" sz="quarter" idx="3"/>
          </p:nvPr>
        </p:nvSpPr>
        <p:spPr>
          <a:xfrm>
            <a:off x="3884815" y="9428800"/>
            <a:ext cx="2971587" cy="496252"/>
          </a:xfrm>
          <a:prstGeom prst="rect">
            <a:avLst/>
          </a:prstGeom>
        </p:spPr>
        <p:txBody>
          <a:bodyPr vert="horz" lIns="91440" tIns="45720" rIns="91440" bIns="45720" rtlCol="0" anchor="b"/>
          <a:lstStyle>
            <a:lvl1pPr algn="r" fontAlgn="auto">
              <a:spcBef>
                <a:spcPts val="0"/>
              </a:spcBef>
              <a:spcAft>
                <a:spcPts val="0"/>
              </a:spcAft>
              <a:defRPr kumimoji="0" sz="1200">
                <a:latin typeface="+mn-lt"/>
                <a:ea typeface="+mn-ea"/>
              </a:defRPr>
            </a:lvl1pPr>
          </a:lstStyle>
          <a:p>
            <a:pPr>
              <a:defRPr/>
            </a:pPr>
            <a:fld id="{5E52953D-FE7A-498B-ACC0-E760AE702B50}" type="slidenum">
              <a:rPr lang="ko-KR" altLang="en-US"/>
              <a:pPr>
                <a:defRPr/>
              </a:pPr>
              <a:t>‹#›</a:t>
            </a:fld>
            <a:endParaRPr lang="ko-KR" altLang="en-US" dirty="0"/>
          </a:p>
        </p:txBody>
      </p:sp>
    </p:spTree>
    <p:extLst>
      <p:ext uri="{BB962C8B-B14F-4D97-AF65-F5344CB8AC3E}">
        <p14:creationId xmlns:p14="http://schemas.microsoft.com/office/powerpoint/2010/main" val="3004102869"/>
      </p:ext>
    </p:extLst>
  </p:cSld>
  <p:clrMap bg1="lt1" tx1="dk1" bg2="lt2" tx2="dk2" accent1="accent1" accent2="accent2" accent3="accent3" accent4="accent4" accent5="accent5" accent6="accent6" hlink="hlink" folHlink="folHlink"/>
  <p:hf hd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587" cy="496253"/>
          </a:xfrm>
          <a:prstGeom prst="rect">
            <a:avLst/>
          </a:prstGeom>
        </p:spPr>
        <p:txBody>
          <a:bodyPr vert="horz" lIns="91440" tIns="45720" rIns="91440" bIns="45720" rtlCol="0"/>
          <a:lstStyle>
            <a:lvl1pPr algn="l" fontAlgn="auto">
              <a:spcBef>
                <a:spcPts val="0"/>
              </a:spcBef>
              <a:spcAft>
                <a:spcPts val="0"/>
              </a:spcAft>
              <a:defRPr kumimoji="0" sz="1200">
                <a:latin typeface="+mn-lt"/>
                <a:ea typeface="+mn-ea"/>
              </a:defRPr>
            </a:lvl1pPr>
          </a:lstStyle>
          <a:p>
            <a:pPr>
              <a:defRPr/>
            </a:pPr>
            <a:endParaRPr lang="ko-KR" altLang="en-US" dirty="0"/>
          </a:p>
        </p:txBody>
      </p:sp>
      <p:sp>
        <p:nvSpPr>
          <p:cNvPr id="3" name="날짜 개체 틀 2"/>
          <p:cNvSpPr>
            <a:spLocks noGrp="1"/>
          </p:cNvSpPr>
          <p:nvPr>
            <p:ph type="dt" idx="1"/>
          </p:nvPr>
        </p:nvSpPr>
        <p:spPr>
          <a:xfrm>
            <a:off x="3884815" y="0"/>
            <a:ext cx="2971587" cy="496253"/>
          </a:xfrm>
          <a:prstGeom prst="rect">
            <a:avLst/>
          </a:prstGeom>
        </p:spPr>
        <p:txBody>
          <a:bodyPr vert="horz" lIns="91440" tIns="45720" rIns="91440" bIns="45720" rtlCol="0"/>
          <a:lstStyle>
            <a:lvl1pPr algn="r" fontAlgn="auto">
              <a:spcBef>
                <a:spcPts val="0"/>
              </a:spcBef>
              <a:spcAft>
                <a:spcPts val="0"/>
              </a:spcAft>
              <a:defRPr kumimoji="0" sz="1200">
                <a:latin typeface="+mn-lt"/>
                <a:ea typeface="+mn-ea"/>
              </a:defRPr>
            </a:lvl1pPr>
          </a:lstStyle>
          <a:p>
            <a:pPr>
              <a:defRPr/>
            </a:pPr>
            <a:fld id="{D7A4D746-FD10-421F-8C57-6DBC289C4592}" type="datetimeFigureOut">
              <a:rPr lang="ko-KR" altLang="en-US"/>
              <a:pPr>
                <a:defRPr/>
              </a:pPr>
              <a:t>2026-04-03</a:t>
            </a:fld>
            <a:endParaRPr lang="ko-KR" altLang="en-US" dirty="0"/>
          </a:p>
        </p:txBody>
      </p:sp>
      <p:sp>
        <p:nvSpPr>
          <p:cNvPr id="4" name="슬라이드 이미지 개체 틀 3"/>
          <p:cNvSpPr>
            <a:spLocks noGrp="1" noRot="1" noChangeAspect="1"/>
          </p:cNvSpPr>
          <p:nvPr>
            <p:ph type="sldImg" idx="2"/>
          </p:nvPr>
        </p:nvSpPr>
        <p:spPr>
          <a:xfrm>
            <a:off x="741363" y="744538"/>
            <a:ext cx="5375275" cy="3721100"/>
          </a:xfrm>
          <a:prstGeom prst="rect">
            <a:avLst/>
          </a:prstGeom>
          <a:noFill/>
          <a:ln w="12700">
            <a:solidFill>
              <a:prstClr val="black"/>
            </a:solidFill>
          </a:ln>
        </p:spPr>
        <p:txBody>
          <a:bodyPr vert="horz" lIns="91440" tIns="45720" rIns="91440" bIns="45720" rtlCol="0" anchor="ctr"/>
          <a:lstStyle/>
          <a:p>
            <a:pPr lvl="0"/>
            <a:endParaRPr lang="ko-KR" altLang="en-US" noProof="0" dirty="0"/>
          </a:p>
        </p:txBody>
      </p:sp>
      <p:sp>
        <p:nvSpPr>
          <p:cNvPr id="5" name="슬라이드 노트 개체 틀 4"/>
          <p:cNvSpPr>
            <a:spLocks noGrp="1"/>
          </p:cNvSpPr>
          <p:nvPr>
            <p:ph type="body" sz="quarter" idx="3"/>
          </p:nvPr>
        </p:nvSpPr>
        <p:spPr>
          <a:xfrm>
            <a:off x="686121" y="4715192"/>
            <a:ext cx="5485760" cy="4466274"/>
          </a:xfrm>
          <a:prstGeom prst="rect">
            <a:avLst/>
          </a:prstGeom>
        </p:spPr>
        <p:txBody>
          <a:bodyPr vert="horz" lIns="91440" tIns="45720" rIns="91440" bIns="45720" rtlCol="0">
            <a:normAutofit/>
          </a:bodyPr>
          <a:lstStyle/>
          <a:p>
            <a:pPr lvl="0"/>
            <a:r>
              <a:rPr lang="ko-KR" altLang="en-US" noProof="0"/>
              <a:t>마스터 텍스트 스타일을 편집합니다</a:t>
            </a:r>
          </a:p>
          <a:p>
            <a:pPr lvl="1"/>
            <a:r>
              <a:rPr lang="ko-KR" altLang="en-US" noProof="0"/>
              <a:t>둘째 수준</a:t>
            </a:r>
          </a:p>
          <a:p>
            <a:pPr lvl="2"/>
            <a:r>
              <a:rPr lang="ko-KR" altLang="en-US" noProof="0"/>
              <a:t>셋째 수준</a:t>
            </a:r>
          </a:p>
          <a:p>
            <a:pPr lvl="3"/>
            <a:r>
              <a:rPr lang="ko-KR" altLang="en-US" noProof="0"/>
              <a:t>넷째 수준</a:t>
            </a:r>
          </a:p>
          <a:p>
            <a:pPr lvl="4"/>
            <a:r>
              <a:rPr lang="ko-KR" altLang="en-US" noProof="0"/>
              <a:t>다섯째 수준</a:t>
            </a:r>
          </a:p>
        </p:txBody>
      </p:sp>
      <p:sp>
        <p:nvSpPr>
          <p:cNvPr id="6" name="바닥글 개체 틀 5"/>
          <p:cNvSpPr>
            <a:spLocks noGrp="1"/>
          </p:cNvSpPr>
          <p:nvPr>
            <p:ph type="ftr" sz="quarter" idx="4"/>
          </p:nvPr>
        </p:nvSpPr>
        <p:spPr>
          <a:xfrm>
            <a:off x="0" y="9428800"/>
            <a:ext cx="2971587" cy="496252"/>
          </a:xfrm>
          <a:prstGeom prst="rect">
            <a:avLst/>
          </a:prstGeom>
        </p:spPr>
        <p:txBody>
          <a:bodyPr vert="horz" lIns="91440" tIns="45720" rIns="91440" bIns="45720" rtlCol="0" anchor="b"/>
          <a:lstStyle>
            <a:lvl1pPr algn="l" fontAlgn="auto">
              <a:spcBef>
                <a:spcPts val="0"/>
              </a:spcBef>
              <a:spcAft>
                <a:spcPts val="0"/>
              </a:spcAft>
              <a:defRPr kumimoji="0" sz="1200">
                <a:latin typeface="+mn-lt"/>
                <a:ea typeface="+mn-ea"/>
              </a:defRPr>
            </a:lvl1pPr>
          </a:lstStyle>
          <a:p>
            <a:pPr>
              <a:defRPr/>
            </a:pPr>
            <a:endParaRPr lang="ko-KR" altLang="en-US" dirty="0"/>
          </a:p>
        </p:txBody>
      </p:sp>
      <p:sp>
        <p:nvSpPr>
          <p:cNvPr id="7" name="슬라이드 번호 개체 틀 6"/>
          <p:cNvSpPr>
            <a:spLocks noGrp="1"/>
          </p:cNvSpPr>
          <p:nvPr>
            <p:ph type="sldNum" sz="quarter" idx="5"/>
          </p:nvPr>
        </p:nvSpPr>
        <p:spPr>
          <a:xfrm>
            <a:off x="3884815" y="9428800"/>
            <a:ext cx="2971587" cy="496252"/>
          </a:xfrm>
          <a:prstGeom prst="rect">
            <a:avLst/>
          </a:prstGeom>
        </p:spPr>
        <p:txBody>
          <a:bodyPr vert="horz" lIns="91440" tIns="45720" rIns="91440" bIns="45720" rtlCol="0" anchor="b"/>
          <a:lstStyle>
            <a:lvl1pPr algn="r" fontAlgn="auto">
              <a:spcBef>
                <a:spcPts val="0"/>
              </a:spcBef>
              <a:spcAft>
                <a:spcPts val="0"/>
              </a:spcAft>
              <a:defRPr kumimoji="0" sz="1200">
                <a:latin typeface="+mn-lt"/>
                <a:ea typeface="+mn-ea"/>
              </a:defRPr>
            </a:lvl1pPr>
          </a:lstStyle>
          <a:p>
            <a:pPr>
              <a:defRPr/>
            </a:pPr>
            <a:fld id="{57D61B13-DF71-4CDB-8E21-B10FB1C732E6}" type="slidenum">
              <a:rPr lang="ko-KR" altLang="en-US"/>
              <a:pPr>
                <a:defRPr/>
              </a:pPr>
              <a:t>‹#›</a:t>
            </a:fld>
            <a:endParaRPr lang="ko-KR" altLang="en-US" dirty="0"/>
          </a:p>
        </p:txBody>
      </p:sp>
    </p:spTree>
    <p:extLst>
      <p:ext uri="{BB962C8B-B14F-4D97-AF65-F5344CB8AC3E}">
        <p14:creationId xmlns:p14="http://schemas.microsoft.com/office/powerpoint/2010/main" val="4047108328"/>
      </p:ext>
    </p:extLst>
  </p:cSld>
  <p:clrMap bg1="lt1" tx1="dk1" bg2="lt2" tx2="dk2" accent1="accent1" accent2="accent2" accent3="accent3" accent4="accent4" accent5="accent5" accent6="accent6" hlink="hlink" folHlink="folHlink"/>
  <p:hf hdr="0" dt="0"/>
  <p:notesStyle>
    <a:lvl1pPr algn="l" rtl="0" eaLnBrk="0" fontAlgn="base" latinLnBrk="1" hangingPunct="0">
      <a:spcBef>
        <a:spcPct val="30000"/>
      </a:spcBef>
      <a:spcAft>
        <a:spcPct val="0"/>
      </a:spcAft>
      <a:defRPr sz="1200" kern="1200">
        <a:solidFill>
          <a:schemeClr val="tx1"/>
        </a:solidFill>
        <a:latin typeface="+mn-lt"/>
        <a:ea typeface="+mn-ea"/>
        <a:cs typeface="+mn-cs"/>
      </a:defRPr>
    </a:lvl1pPr>
    <a:lvl2pPr marL="457200" algn="l" rtl="0" eaLnBrk="0" fontAlgn="base" latinLnBrk="1" hangingPunct="0">
      <a:spcBef>
        <a:spcPct val="30000"/>
      </a:spcBef>
      <a:spcAft>
        <a:spcPct val="0"/>
      </a:spcAft>
      <a:defRPr sz="1200" kern="1200">
        <a:solidFill>
          <a:schemeClr val="tx1"/>
        </a:solidFill>
        <a:latin typeface="+mn-lt"/>
        <a:ea typeface="+mn-ea"/>
        <a:cs typeface="+mn-cs"/>
      </a:defRPr>
    </a:lvl2pPr>
    <a:lvl3pPr marL="914400" algn="l" rtl="0" eaLnBrk="0" fontAlgn="base" latinLnBrk="1" hangingPunct="0">
      <a:spcBef>
        <a:spcPct val="30000"/>
      </a:spcBef>
      <a:spcAft>
        <a:spcPct val="0"/>
      </a:spcAft>
      <a:defRPr sz="1200" kern="1200">
        <a:solidFill>
          <a:schemeClr val="tx1"/>
        </a:solidFill>
        <a:latin typeface="+mn-lt"/>
        <a:ea typeface="+mn-ea"/>
        <a:cs typeface="+mn-cs"/>
      </a:defRPr>
    </a:lvl3pPr>
    <a:lvl4pPr marL="1371600" algn="l" rtl="0" eaLnBrk="0" fontAlgn="base" latinLnBrk="1" hangingPunct="0">
      <a:spcBef>
        <a:spcPct val="30000"/>
      </a:spcBef>
      <a:spcAft>
        <a:spcPct val="0"/>
      </a:spcAft>
      <a:defRPr sz="1200" kern="1200">
        <a:solidFill>
          <a:schemeClr val="tx1"/>
        </a:solidFill>
        <a:latin typeface="+mn-lt"/>
        <a:ea typeface="+mn-ea"/>
        <a:cs typeface="+mn-cs"/>
      </a:defRPr>
    </a:lvl4pPr>
    <a:lvl5pPr marL="1828800" algn="l" rtl="0" eaLnBrk="0" fontAlgn="base" latinLnBrk="1" hangingPunct="0">
      <a:spcBef>
        <a:spcPct val="30000"/>
      </a:spcBef>
      <a:spcAft>
        <a:spcPct val="0"/>
      </a:spcAft>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7" name="Rectangle 3"/>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ko-KR" altLang="en-US" dirty="0"/>
              <a:t>과정 시간표 설명</a:t>
            </a:r>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9414321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t>
            </a:r>
            <a:r>
              <a:rPr lang="en-US" dirty="0" err="1"/>
              <a:t>hệ</a:t>
            </a:r>
            <a:r>
              <a:rPr lang="en-US" baseline="0" dirty="0"/>
              <a:t> </a:t>
            </a:r>
            <a:r>
              <a:rPr lang="en-US" baseline="0" dirty="0" err="1"/>
              <a:t>phương</a:t>
            </a:r>
            <a:r>
              <a:rPr lang="en-US" baseline="0" dirty="0"/>
              <a:t> </a:t>
            </a:r>
            <a:r>
              <a:rPr lang="en-US" baseline="0" dirty="0" err="1"/>
              <a:t>pháp</a:t>
            </a:r>
            <a:r>
              <a:rPr lang="en-US" baseline="0" dirty="0"/>
              <a:t>”, </a:t>
            </a:r>
            <a:r>
              <a:rPr lang="en-US" baseline="0" dirty="0" err="1"/>
              <a:t>bao</a:t>
            </a:r>
            <a:r>
              <a:rPr lang="en-US" baseline="0" dirty="0"/>
              <a:t> </a:t>
            </a:r>
            <a:r>
              <a:rPr lang="en-US" baseline="0" dirty="0" err="1"/>
              <a:t>gồm</a:t>
            </a:r>
            <a:r>
              <a:rPr lang="en-US" baseline="0" dirty="0"/>
              <a:t> </a:t>
            </a:r>
            <a:r>
              <a:rPr lang="en-US" baseline="0" dirty="0" err="1"/>
              <a:t>nhiều</a:t>
            </a:r>
            <a:r>
              <a:rPr lang="en-US" baseline="0" dirty="0"/>
              <a:t> pp </a:t>
            </a:r>
            <a:r>
              <a:rPr lang="en-US" baseline="0" dirty="0" err="1"/>
              <a:t>nhỏ</a:t>
            </a:r>
            <a:r>
              <a:rPr lang="en-US" baseline="0" dirty="0"/>
              <a:t> </a:t>
            </a:r>
            <a:r>
              <a:rPr lang="en-US" baseline="0" dirty="0" err="1"/>
              <a:t>bên</a:t>
            </a:r>
            <a:r>
              <a:rPr lang="en-US" baseline="0" dirty="0"/>
              <a:t> </a:t>
            </a:r>
            <a:r>
              <a:rPr lang="en-US" baseline="0" dirty="0" err="1"/>
              <a:t>trong</a:t>
            </a:r>
            <a:r>
              <a:rPr lang="en-US" baseline="0" dirty="0"/>
              <a:t>, </a:t>
            </a:r>
            <a:r>
              <a:rPr lang="en-US" baseline="0" dirty="0" err="1"/>
              <a:t>khác</a:t>
            </a:r>
            <a:r>
              <a:rPr lang="en-US" baseline="0" dirty="0"/>
              <a:t> vs </a:t>
            </a:r>
            <a:r>
              <a:rPr lang="en-US" baseline="0" dirty="0" err="1"/>
              <a:t>iso</a:t>
            </a:r>
            <a:r>
              <a:rPr lang="en-US" baseline="0" dirty="0"/>
              <a:t>, </a:t>
            </a:r>
            <a:r>
              <a:rPr lang="en-US" baseline="0" dirty="0" err="1"/>
              <a:t>iso</a:t>
            </a:r>
            <a:r>
              <a:rPr lang="en-US" baseline="0" dirty="0"/>
              <a:t> </a:t>
            </a:r>
            <a:r>
              <a:rPr lang="en-US" baseline="0" dirty="0" err="1"/>
              <a:t>tập</a:t>
            </a:r>
            <a:r>
              <a:rPr lang="en-US" baseline="0" dirty="0"/>
              <a:t> </a:t>
            </a:r>
            <a:r>
              <a:rPr lang="en-US" baseline="0" dirty="0" err="1"/>
              <a:t>trung</a:t>
            </a:r>
            <a:r>
              <a:rPr lang="en-US" baseline="0" dirty="0"/>
              <a:t> </a:t>
            </a:r>
            <a:r>
              <a:rPr lang="en-US" baseline="0" dirty="0" err="1"/>
              <a:t>quan</a:t>
            </a:r>
            <a:r>
              <a:rPr lang="en-US" baseline="0" dirty="0"/>
              <a:t> </a:t>
            </a:r>
            <a:r>
              <a:rPr lang="en-US" baseline="0" dirty="0" err="1"/>
              <a:t>ly</a:t>
            </a:r>
            <a:r>
              <a:rPr lang="en-US" baseline="0" dirty="0"/>
              <a:t> output </a:t>
            </a:r>
            <a:r>
              <a:rPr lang="en-US" baseline="0" dirty="0" err="1"/>
              <a:t>đầu</a:t>
            </a:r>
            <a:r>
              <a:rPr lang="en-US" baseline="0" dirty="0"/>
              <a:t> </a:t>
            </a:r>
            <a:r>
              <a:rPr lang="en-US" baseline="0" dirty="0" err="1"/>
              <a:t>ra</a:t>
            </a:r>
            <a:r>
              <a:rPr lang="en-US" baseline="0" dirty="0"/>
              <a:t>, 6 sigma </a:t>
            </a:r>
            <a:r>
              <a:rPr lang="en-US" baseline="0" dirty="0" err="1"/>
              <a:t>tập</a:t>
            </a:r>
            <a:r>
              <a:rPr lang="en-US" baseline="0" dirty="0"/>
              <a:t> </a:t>
            </a:r>
            <a:r>
              <a:rPr lang="en-US" baseline="0" dirty="0" err="1"/>
              <a:t>trung</a:t>
            </a:r>
            <a:r>
              <a:rPr lang="en-US" baseline="0" dirty="0"/>
              <a:t> </a:t>
            </a:r>
            <a:r>
              <a:rPr lang="en-US" baseline="0" dirty="0" err="1"/>
              <a:t>cải</a:t>
            </a:r>
            <a:r>
              <a:rPr lang="en-US" baseline="0" dirty="0"/>
              <a:t> </a:t>
            </a:r>
            <a:r>
              <a:rPr lang="en-US" baseline="0" dirty="0" err="1"/>
              <a:t>tiến</a:t>
            </a:r>
            <a:r>
              <a:rPr lang="en-US" baseline="0" dirty="0"/>
              <a:t> “</a:t>
            </a:r>
            <a:r>
              <a:rPr lang="en-US" baseline="0" dirty="0" err="1"/>
              <a:t>quy</a:t>
            </a:r>
            <a:r>
              <a:rPr lang="en-US" baseline="0" dirty="0"/>
              <a:t> </a:t>
            </a:r>
            <a:r>
              <a:rPr lang="en-US" baseline="0" dirty="0" err="1"/>
              <a:t>trình</a:t>
            </a:r>
            <a:r>
              <a:rPr lang="en-US" baseline="0" dirty="0"/>
              <a:t>”</a:t>
            </a:r>
          </a:p>
          <a:p>
            <a:r>
              <a:rPr lang="en-US" baseline="0" dirty="0" err="1"/>
              <a:t>Công</a:t>
            </a:r>
            <a:r>
              <a:rPr lang="en-US" baseline="0" dirty="0"/>
              <a:t> </a:t>
            </a:r>
            <a:r>
              <a:rPr lang="en-US" baseline="0" dirty="0" err="1"/>
              <a:t>cụ</a:t>
            </a:r>
            <a:r>
              <a:rPr lang="en-US" baseline="0" dirty="0"/>
              <a:t> </a:t>
            </a:r>
            <a:r>
              <a:rPr lang="en-US" baseline="0" dirty="0" err="1"/>
              <a:t>như</a:t>
            </a:r>
            <a:r>
              <a:rPr lang="en-US" baseline="0" dirty="0"/>
              <a:t> 5 why, logic tree</a:t>
            </a:r>
          </a:p>
          <a:p>
            <a:r>
              <a:rPr lang="en-US" baseline="0" dirty="0" err="1"/>
              <a:t>Vậy</a:t>
            </a:r>
            <a:r>
              <a:rPr lang="en-US" baseline="0" dirty="0"/>
              <a:t> </a:t>
            </a:r>
            <a:r>
              <a:rPr lang="en-US" baseline="0" dirty="0" err="1"/>
              <a:t>để</a:t>
            </a:r>
            <a:r>
              <a:rPr lang="en-US" baseline="0" dirty="0"/>
              <a:t> </a:t>
            </a:r>
            <a:r>
              <a:rPr lang="en-US" baseline="0" dirty="0" err="1"/>
              <a:t>tìm</a:t>
            </a:r>
            <a:r>
              <a:rPr lang="en-US" baseline="0" dirty="0"/>
              <a:t> </a:t>
            </a:r>
            <a:r>
              <a:rPr lang="en-US" baseline="0" dirty="0" err="1"/>
              <a:t>nguyên</a:t>
            </a:r>
            <a:r>
              <a:rPr lang="en-US" baseline="0" dirty="0"/>
              <a:t> </a:t>
            </a:r>
            <a:r>
              <a:rPr lang="en-US" baseline="0" dirty="0" err="1"/>
              <a:t>nhân</a:t>
            </a:r>
            <a:r>
              <a:rPr lang="en-US" baseline="0" dirty="0"/>
              <a:t> </a:t>
            </a:r>
            <a:r>
              <a:rPr lang="en-US" baseline="0" dirty="0" err="1"/>
              <a:t>gôc</a:t>
            </a:r>
            <a:r>
              <a:rPr lang="en-US" baseline="0" dirty="0"/>
              <a:t> </a:t>
            </a:r>
            <a:r>
              <a:rPr lang="en-US" baseline="0" dirty="0" err="1"/>
              <a:t>rễ</a:t>
            </a:r>
            <a:r>
              <a:rPr lang="en-US" baseline="0" dirty="0"/>
              <a:t> </a:t>
            </a:r>
            <a:r>
              <a:rPr lang="en-US" baseline="0" dirty="0" err="1"/>
              <a:t>thi</a:t>
            </a:r>
            <a:r>
              <a:rPr lang="en-US" baseline="0" dirty="0"/>
              <a:t> dung cc </a:t>
            </a:r>
            <a:r>
              <a:rPr lang="en-US" baseline="0" dirty="0" err="1"/>
              <a:t>nào</a:t>
            </a:r>
            <a:r>
              <a:rPr lang="en-US" baseline="0" dirty="0"/>
              <a:t>? </a:t>
            </a:r>
            <a:r>
              <a:rPr lang="en-US" baseline="0" dirty="0">
                <a:sym typeface="Wingdings" panose="05000000000000000000" pitchFamily="2" charset="2"/>
              </a:rPr>
              <a:t> 5 why</a:t>
            </a:r>
          </a:p>
          <a:p>
            <a:r>
              <a:rPr lang="en-US" baseline="0" dirty="0" err="1">
                <a:sym typeface="Wingdings" panose="05000000000000000000" pitchFamily="2" charset="2"/>
              </a:rPr>
              <a:t>Khác</a:t>
            </a:r>
            <a:r>
              <a:rPr lang="en-US" baseline="0" dirty="0">
                <a:sym typeface="Wingdings" panose="05000000000000000000" pitchFamily="2" charset="2"/>
              </a:rPr>
              <a:t> </a:t>
            </a:r>
            <a:r>
              <a:rPr lang="en-US" baseline="0" dirty="0" err="1">
                <a:sym typeface="Wingdings" panose="05000000000000000000" pitchFamily="2" charset="2"/>
              </a:rPr>
              <a:t>biệt</a:t>
            </a:r>
            <a:r>
              <a:rPr lang="en-US" baseline="0" dirty="0">
                <a:sym typeface="Wingdings" panose="05000000000000000000" pitchFamily="2" charset="2"/>
              </a:rPr>
              <a:t> </a:t>
            </a:r>
            <a:r>
              <a:rPr lang="en-US" baseline="0" dirty="0" err="1">
                <a:sym typeface="Wingdings" panose="05000000000000000000" pitchFamily="2" charset="2"/>
              </a:rPr>
              <a:t>của</a:t>
            </a:r>
            <a:r>
              <a:rPr lang="en-US" baseline="0" dirty="0">
                <a:sym typeface="Wingdings" panose="05000000000000000000" pitchFamily="2" charset="2"/>
              </a:rPr>
              <a:t> 6 sigma </a:t>
            </a:r>
            <a:r>
              <a:rPr lang="en-US" baseline="0" dirty="0" err="1">
                <a:sym typeface="Wingdings" panose="05000000000000000000" pitchFamily="2" charset="2"/>
              </a:rPr>
              <a:t>là</a:t>
            </a:r>
            <a:r>
              <a:rPr lang="en-US" baseline="0" dirty="0">
                <a:sym typeface="Wingdings" panose="05000000000000000000" pitchFamily="2" charset="2"/>
              </a:rPr>
              <a:t> </a:t>
            </a:r>
            <a:r>
              <a:rPr lang="en-US" baseline="0" dirty="0" err="1">
                <a:sym typeface="Wingdings" panose="05000000000000000000" pitchFamily="2" charset="2"/>
              </a:rPr>
              <a:t>dựa</a:t>
            </a:r>
            <a:r>
              <a:rPr lang="en-US" baseline="0" dirty="0">
                <a:sym typeface="Wingdings" panose="05000000000000000000" pitchFamily="2" charset="2"/>
              </a:rPr>
              <a:t> </a:t>
            </a:r>
            <a:r>
              <a:rPr lang="en-US" baseline="0" dirty="0" err="1">
                <a:sym typeface="Wingdings" panose="05000000000000000000" pitchFamily="2" charset="2"/>
              </a:rPr>
              <a:t>vào</a:t>
            </a:r>
            <a:r>
              <a:rPr lang="en-US" baseline="0" dirty="0">
                <a:sym typeface="Wingdings" panose="05000000000000000000" pitchFamily="2" charset="2"/>
              </a:rPr>
              <a:t> </a:t>
            </a:r>
            <a:r>
              <a:rPr lang="en-US" baseline="0" dirty="0" err="1">
                <a:sym typeface="Wingdings" panose="05000000000000000000" pitchFamily="2" charset="2"/>
              </a:rPr>
              <a:t>thống</a:t>
            </a:r>
            <a:r>
              <a:rPr lang="en-US" baseline="0" dirty="0">
                <a:sym typeface="Wingdings" panose="05000000000000000000" pitchFamily="2" charset="2"/>
              </a:rPr>
              <a:t> </a:t>
            </a:r>
            <a:r>
              <a:rPr lang="en-US" baseline="0" dirty="0" err="1">
                <a:sym typeface="Wingdings" panose="05000000000000000000" pitchFamily="2" charset="2"/>
              </a:rPr>
              <a:t>kế</a:t>
            </a:r>
            <a:r>
              <a:rPr lang="en-US" baseline="0" dirty="0">
                <a:sym typeface="Wingdings" panose="05000000000000000000" pitchFamily="2" charset="2"/>
              </a:rPr>
              <a:t>, </a:t>
            </a:r>
            <a:r>
              <a:rPr lang="en-US" baseline="0" dirty="0" err="1">
                <a:sym typeface="Wingdings" panose="05000000000000000000" pitchFamily="2" charset="2"/>
              </a:rPr>
              <a:t>dưa</a:t>
            </a:r>
            <a:r>
              <a:rPr lang="en-US" baseline="0" dirty="0">
                <a:sym typeface="Wingdings" panose="05000000000000000000" pitchFamily="2" charset="2"/>
              </a:rPr>
              <a:t> </a:t>
            </a:r>
            <a:r>
              <a:rPr lang="en-US" baseline="0" dirty="0" err="1">
                <a:sym typeface="Wingdings" panose="05000000000000000000" pitchFamily="2" charset="2"/>
              </a:rPr>
              <a:t>vao</a:t>
            </a:r>
            <a:r>
              <a:rPr lang="en-US" baseline="0" dirty="0">
                <a:sym typeface="Wingdings" panose="05000000000000000000" pitchFamily="2" charset="2"/>
              </a:rPr>
              <a:t> logic </a:t>
            </a:r>
            <a:r>
              <a:rPr lang="en-US" baseline="0" dirty="0" err="1">
                <a:sym typeface="Wingdings" panose="05000000000000000000" pitchFamily="2" charset="2"/>
              </a:rPr>
              <a:t>toán</a:t>
            </a:r>
            <a:r>
              <a:rPr lang="en-US" baseline="0" dirty="0">
                <a:sym typeface="Wingdings" panose="05000000000000000000" pitchFamily="2" charset="2"/>
              </a:rPr>
              <a:t> </a:t>
            </a:r>
            <a:r>
              <a:rPr lang="en-US" baseline="0" dirty="0" err="1">
                <a:sym typeface="Wingdings" panose="05000000000000000000" pitchFamily="2" charset="2"/>
              </a:rPr>
              <a:t>học</a:t>
            </a:r>
            <a:r>
              <a:rPr lang="en-US" baseline="0" dirty="0">
                <a:sym typeface="Wingdings" panose="05000000000000000000" pitchFamily="2" charset="2"/>
              </a:rPr>
              <a:t> </a:t>
            </a:r>
            <a:r>
              <a:rPr lang="en-US" baseline="0" dirty="0" err="1">
                <a:sym typeface="Wingdings" panose="05000000000000000000" pitchFamily="2" charset="2"/>
              </a:rPr>
              <a:t>chứ</a:t>
            </a:r>
            <a:r>
              <a:rPr lang="en-US" baseline="0" dirty="0">
                <a:sym typeface="Wingdings" panose="05000000000000000000" pitchFamily="2" charset="2"/>
              </a:rPr>
              <a:t> </a:t>
            </a:r>
            <a:r>
              <a:rPr lang="en-US" baseline="0" dirty="0" err="1">
                <a:sym typeface="Wingdings" panose="05000000000000000000" pitchFamily="2" charset="2"/>
              </a:rPr>
              <a:t>ko</a:t>
            </a:r>
            <a:r>
              <a:rPr lang="en-US" baseline="0" dirty="0">
                <a:sym typeface="Wingdings" panose="05000000000000000000" pitchFamily="2" charset="2"/>
              </a:rPr>
              <a:t> </a:t>
            </a:r>
            <a:r>
              <a:rPr lang="en-US" baseline="0" dirty="0" err="1">
                <a:sym typeface="Wingdings" panose="05000000000000000000" pitchFamily="2" charset="2"/>
              </a:rPr>
              <a:t>fai</a:t>
            </a:r>
            <a:r>
              <a:rPr lang="en-US" baseline="0" dirty="0">
                <a:sym typeface="Wingdings" panose="05000000000000000000" pitchFamily="2" charset="2"/>
              </a:rPr>
              <a:t> </a:t>
            </a:r>
            <a:r>
              <a:rPr lang="en-US" baseline="0" dirty="0" err="1">
                <a:sym typeface="Wingdings" panose="05000000000000000000" pitchFamily="2" charset="2"/>
              </a:rPr>
              <a:t>cảm</a:t>
            </a:r>
            <a:r>
              <a:rPr lang="en-US" baseline="0" dirty="0">
                <a:sym typeface="Wingdings" panose="05000000000000000000" pitchFamily="2" charset="2"/>
              </a:rPr>
              <a:t> </a:t>
            </a:r>
            <a:r>
              <a:rPr lang="en-US" baseline="0" dirty="0" err="1">
                <a:sym typeface="Wingdings" panose="05000000000000000000" pitchFamily="2" charset="2"/>
              </a:rPr>
              <a:t>tính</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3</a:t>
            </a:fld>
            <a:endParaRPr lang="ko-KR" altLang="en-US" dirty="0"/>
          </a:p>
        </p:txBody>
      </p:sp>
    </p:spTree>
    <p:extLst>
      <p:ext uri="{BB962C8B-B14F-4D97-AF65-F5344CB8AC3E}">
        <p14:creationId xmlns:p14="http://schemas.microsoft.com/office/powerpoint/2010/main" val="166086726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pPr marL="0" marR="0" indent="0" algn="l" defTabSz="914400" rtl="0" eaLnBrk="0" fontAlgn="base" latinLnBrk="1" hangingPunct="0">
              <a:lnSpc>
                <a:spcPct val="100000"/>
              </a:lnSpc>
              <a:spcBef>
                <a:spcPct val="30000"/>
              </a:spcBef>
              <a:spcAft>
                <a:spcPct val="0"/>
              </a:spcAft>
              <a:buClrTx/>
              <a:buSzTx/>
              <a:buFontTx/>
              <a:buNone/>
              <a:tabLst/>
              <a:defRPr/>
            </a:pPr>
            <a:r>
              <a:rPr lang="en-US" sz="1200" dirty="0">
                <a:latin typeface="Calibri" panose="020F0502020204030204" pitchFamily="34" charset="0"/>
                <a:cs typeface="Calibri" panose="020F0502020204030204" pitchFamily="34" charset="0"/>
              </a:rPr>
              <a:t>Six Sigma chia </a:t>
            </a:r>
            <a:r>
              <a:rPr lang="en-US" sz="1200" dirty="0" err="1">
                <a:latin typeface="Calibri" panose="020F0502020204030204" pitchFamily="34" charset="0"/>
                <a:cs typeface="Calibri" panose="020F0502020204030204" pitchFamily="34" charset="0"/>
              </a:rPr>
              <a:t>thành</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các</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cấp</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độ</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sau</a:t>
            </a:r>
            <a:r>
              <a:rPr lang="en-US" sz="1200" dirty="0">
                <a:latin typeface="Calibri" panose="020F0502020204030204" pitchFamily="34" charset="0"/>
                <a:cs typeface="Calibri" panose="020F0502020204030204" pitchFamily="34" charset="0"/>
              </a:rPr>
              <a:t>:</a:t>
            </a:r>
          </a:p>
          <a:p>
            <a:pPr marL="0" marR="0" indent="0" algn="l" defTabSz="914400" rtl="0" eaLnBrk="0" fontAlgn="base" latinLnBrk="1" hangingPunct="0">
              <a:lnSpc>
                <a:spcPct val="100000"/>
              </a:lnSpc>
              <a:spcBef>
                <a:spcPct val="30000"/>
              </a:spcBef>
              <a:spcAft>
                <a:spcPct val="0"/>
              </a:spcAft>
              <a:buClrTx/>
              <a:buSzTx/>
              <a:buFontTx/>
              <a:buNone/>
              <a:tabLst/>
              <a:defRPr/>
            </a:pPr>
            <a:r>
              <a:rPr lang="en-US" sz="1200" dirty="0" err="1">
                <a:latin typeface="Calibri" panose="020F0502020204030204" pitchFamily="34" charset="0"/>
                <a:cs typeface="Calibri" panose="020F0502020204030204" pitchFamily="34" charset="0"/>
              </a:rPr>
              <a:t>Khả</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năng</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gây</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lỗi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liên</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quan</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đến</a:t>
            </a:r>
            <a:r>
              <a:rPr lang="en-US" sz="1200" baseline="0" dirty="0">
                <a:latin typeface="Calibri" panose="020F0502020204030204" pitchFamily="34" charset="0"/>
                <a:cs typeface="Calibri" panose="020F0502020204030204" pitchFamily="34" charset="0"/>
              </a:rPr>
              <a:t> DPU (defect per unit), DPO (defect per opportunity), DPMO (defect per million opportunity)</a:t>
            </a:r>
          </a:p>
          <a:p>
            <a:pPr marL="0" marR="0" indent="0" algn="l" defTabSz="914400" rtl="0" eaLnBrk="0" fontAlgn="base" latinLnBrk="1" hangingPunct="0">
              <a:lnSpc>
                <a:spcPct val="100000"/>
              </a:lnSpc>
              <a:spcBef>
                <a:spcPct val="30000"/>
              </a:spcBef>
              <a:spcAft>
                <a:spcPct val="0"/>
              </a:spcAft>
              <a:buClrTx/>
              <a:buSzTx/>
              <a:buFontTx/>
              <a:buNone/>
              <a:tabLst/>
              <a:defRPr/>
            </a:pPr>
            <a:r>
              <a:rPr lang="en-US" sz="1200" baseline="0" dirty="0">
                <a:latin typeface="Calibri" panose="020F0502020204030204" pitchFamily="34" charset="0"/>
                <a:cs typeface="Calibri" panose="020F0502020204030204" pitchFamily="34" charset="0"/>
              </a:rPr>
              <a:t>DPU=D/U (unit </a:t>
            </a:r>
            <a:r>
              <a:rPr lang="en-US" sz="1200" baseline="0" dirty="0" err="1">
                <a:latin typeface="Calibri" panose="020F0502020204030204" pitchFamily="34" charset="0"/>
                <a:cs typeface="Calibri" panose="020F0502020204030204" pitchFamily="34" charset="0"/>
              </a:rPr>
              <a:t>là</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số</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sản</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phẩm</a:t>
            </a:r>
            <a:r>
              <a:rPr lang="en-US" sz="1200" baseline="0" dirty="0">
                <a:latin typeface="Calibri" panose="020F0502020204030204" pitchFamily="34" charset="0"/>
                <a:cs typeface="Calibri" panose="020F0502020204030204" pitchFamily="34" charset="0"/>
              </a:rPr>
              <a:t>, defect </a:t>
            </a:r>
            <a:r>
              <a:rPr lang="en-US" sz="1200" baseline="0" dirty="0" err="1">
                <a:latin typeface="Calibri" panose="020F0502020204030204" pitchFamily="34" charset="0"/>
                <a:cs typeface="Calibri" panose="020F0502020204030204" pitchFamily="34" charset="0"/>
              </a:rPr>
              <a:t>là</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số</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lỗi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trong</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sp</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đó</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có</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thể</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hiểu</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là</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số</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sai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hỏng</a:t>
            </a:r>
            <a:r>
              <a:rPr lang="en-US" sz="1200" baseline="0" dirty="0">
                <a:latin typeface="Calibri" panose="020F0502020204030204" pitchFamily="34" charset="0"/>
                <a:cs typeface="Calibri" panose="020F0502020204030204" pitchFamily="34" charset="0"/>
              </a:rPr>
              <a:t>)</a:t>
            </a:r>
          </a:p>
          <a:p>
            <a:pPr marL="0" marR="0" indent="0" algn="l" defTabSz="914400" rtl="0" eaLnBrk="0" fontAlgn="base" latinLnBrk="1" hangingPunct="0">
              <a:lnSpc>
                <a:spcPct val="100000"/>
              </a:lnSpc>
              <a:spcBef>
                <a:spcPct val="30000"/>
              </a:spcBef>
              <a:spcAft>
                <a:spcPct val="0"/>
              </a:spcAft>
              <a:buClrTx/>
              <a:buSzTx/>
              <a:buFontTx/>
              <a:buNone/>
              <a:tabLst/>
              <a:defRPr/>
            </a:pPr>
            <a:r>
              <a:rPr lang="en-US" sz="1200" baseline="0" dirty="0" err="1">
                <a:latin typeface="Calibri" panose="020F0502020204030204" pitchFamily="34" charset="0"/>
                <a:cs typeface="Calibri" panose="020F0502020204030204" pitchFamily="34" charset="0"/>
              </a:rPr>
              <a:t>Phân</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biệt</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giữa</a:t>
            </a:r>
            <a:r>
              <a:rPr lang="en-US" sz="1200" baseline="0" dirty="0">
                <a:latin typeface="Calibri" panose="020F0502020204030204" pitchFamily="34" charset="0"/>
                <a:cs typeface="Calibri" panose="020F0502020204030204" pitchFamily="34" charset="0"/>
              </a:rPr>
              <a:t> defect </a:t>
            </a:r>
            <a:r>
              <a:rPr lang="en-US" sz="1200" baseline="0" dirty="0" err="1">
                <a:latin typeface="Calibri" panose="020F0502020204030204" pitchFamily="34" charset="0"/>
                <a:cs typeface="Calibri" panose="020F0502020204030204" pitchFamily="34" charset="0"/>
              </a:rPr>
              <a:t>và</a:t>
            </a:r>
            <a:r>
              <a:rPr lang="en-US" sz="1200" baseline="0" dirty="0">
                <a:latin typeface="Calibri" panose="020F0502020204030204" pitchFamily="34" charset="0"/>
                <a:cs typeface="Calibri" panose="020F0502020204030204" pitchFamily="34" charset="0"/>
              </a:rPr>
              <a:t> defective</a:t>
            </a:r>
          </a:p>
          <a:p>
            <a:pPr marL="0" marR="0" indent="0" algn="l" defTabSz="914400" rtl="0" eaLnBrk="0" fontAlgn="base" latinLnBrk="1" hangingPunct="0">
              <a:lnSpc>
                <a:spcPct val="100000"/>
              </a:lnSpc>
              <a:spcBef>
                <a:spcPct val="30000"/>
              </a:spcBef>
              <a:spcAft>
                <a:spcPct val="0"/>
              </a:spcAft>
              <a:buClrTx/>
              <a:buSzTx/>
              <a:buFontTx/>
              <a:buNone/>
              <a:tabLst/>
              <a:defRPr/>
            </a:pPr>
            <a:r>
              <a:rPr lang="en-US" sz="1200" baseline="0" dirty="0">
                <a:latin typeface="Calibri" panose="020F0502020204030204" pitchFamily="34" charset="0"/>
                <a:cs typeface="Calibri" panose="020F0502020204030204" pitchFamily="34" charset="0"/>
              </a:rPr>
              <a:t>VD: </a:t>
            </a:r>
            <a:r>
              <a:rPr lang="en-US" sz="1200" baseline="0" dirty="0" err="1">
                <a:latin typeface="Calibri" panose="020F0502020204030204" pitchFamily="34" charset="0"/>
                <a:cs typeface="Calibri" panose="020F0502020204030204" pitchFamily="34" charset="0"/>
              </a:rPr>
              <a:t>bút</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hỏng</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thi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gọi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là</a:t>
            </a:r>
            <a:r>
              <a:rPr lang="en-US" sz="1200" baseline="0" dirty="0">
                <a:latin typeface="Calibri" panose="020F0502020204030204" pitchFamily="34" charset="0"/>
                <a:cs typeface="Calibri" panose="020F0502020204030204" pitchFamily="34" charset="0"/>
              </a:rPr>
              <a:t> 1 defective (1 </a:t>
            </a:r>
            <a:r>
              <a:rPr lang="en-US" sz="1200" baseline="0" dirty="0" err="1">
                <a:latin typeface="Calibri" panose="020F0502020204030204" pitchFamily="34" charset="0"/>
                <a:cs typeface="Calibri" panose="020F0502020204030204" pitchFamily="34" charset="0"/>
              </a:rPr>
              <a:t>sp</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lỗi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đc</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goi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là</a:t>
            </a:r>
            <a:r>
              <a:rPr lang="en-US" sz="1200" baseline="0" dirty="0">
                <a:latin typeface="Calibri" panose="020F0502020204030204" pitchFamily="34" charset="0"/>
                <a:cs typeface="Calibri" panose="020F0502020204030204" pitchFamily="34" charset="0"/>
              </a:rPr>
              <a:t> 1 defective)</a:t>
            </a:r>
          </a:p>
          <a:p>
            <a:pPr marL="0" marR="0" indent="0" algn="l" defTabSz="914400" rtl="0" eaLnBrk="0" fontAlgn="base" latinLnBrk="1" hangingPunct="0">
              <a:lnSpc>
                <a:spcPct val="100000"/>
              </a:lnSpc>
              <a:spcBef>
                <a:spcPct val="30000"/>
              </a:spcBef>
              <a:spcAft>
                <a:spcPct val="0"/>
              </a:spcAft>
              <a:buClrTx/>
              <a:buSzTx/>
              <a:buFontTx/>
              <a:buNone/>
              <a:tabLst/>
              <a:defRPr/>
            </a:pPr>
            <a:r>
              <a:rPr lang="en-US" sz="1200" baseline="0" dirty="0" err="1">
                <a:latin typeface="Calibri" panose="020F0502020204030204" pitchFamily="34" charset="0"/>
                <a:cs typeface="Calibri" panose="020F0502020204030204" pitchFamily="34" charset="0"/>
              </a:rPr>
              <a:t>Trên</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cai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bút</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hỏng</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lại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có</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nhiều</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vị</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trí</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hỏng</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ngòi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vỏ</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ruột</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Thi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đó</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đc</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gọi</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là</a:t>
            </a:r>
            <a:r>
              <a:rPr lang="en-US" sz="1200" baseline="0" dirty="0">
                <a:latin typeface="Calibri" panose="020F0502020204030204" pitchFamily="34" charset="0"/>
                <a:cs typeface="Calibri" panose="020F0502020204030204" pitchFamily="34" charset="0"/>
              </a:rPr>
              <a:t> </a:t>
            </a:r>
            <a:r>
              <a:rPr lang="en-US" sz="1200" baseline="0" dirty="0" err="1">
                <a:latin typeface="Calibri" panose="020F0502020204030204" pitchFamily="34" charset="0"/>
                <a:cs typeface="Calibri" panose="020F0502020204030204" pitchFamily="34" charset="0"/>
              </a:rPr>
              <a:t>defect</a:t>
            </a:r>
            <a:r>
              <a:rPr lang="en-US" sz="1200" baseline="0" dirty="0" err="1">
                <a:latin typeface="Calibri" panose="020F0502020204030204" pitchFamily="34" charset="0"/>
                <a:cs typeface="Calibri" panose="020F0502020204030204" pitchFamily="34" charset="0"/>
                <a:sym typeface="Wingdings" panose="05000000000000000000" pitchFamily="2" charset="2"/>
              </a:rPr>
              <a:t>trên</a:t>
            </a:r>
            <a:r>
              <a:rPr lang="en-US" sz="1200" baseline="0" dirty="0">
                <a:latin typeface="Calibri" panose="020F0502020204030204" pitchFamily="34" charset="0"/>
                <a:cs typeface="Calibri" panose="020F0502020204030204" pitchFamily="34" charset="0"/>
                <a:sym typeface="Wingdings" panose="05000000000000000000" pitchFamily="2" charset="2"/>
              </a:rPr>
              <a:t> 1 </a:t>
            </a:r>
            <a:r>
              <a:rPr lang="en-US" sz="1200" baseline="0" dirty="0" err="1">
                <a:latin typeface="Calibri" panose="020F0502020204030204" pitchFamily="34" charset="0"/>
                <a:cs typeface="Calibri" panose="020F0502020204030204" pitchFamily="34" charset="0"/>
                <a:sym typeface="Wingdings" panose="05000000000000000000" pitchFamily="2" charset="2"/>
              </a:rPr>
              <a:t>decctive</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có</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thể</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có</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nhiều</a:t>
            </a:r>
            <a:r>
              <a:rPr lang="en-US" sz="1200" baseline="0" dirty="0">
                <a:latin typeface="Calibri" panose="020F0502020204030204" pitchFamily="34" charset="0"/>
                <a:cs typeface="Calibri" panose="020F0502020204030204" pitchFamily="34" charset="0"/>
                <a:sym typeface="Wingdings" panose="05000000000000000000" pitchFamily="2" charset="2"/>
              </a:rPr>
              <a:t> defect</a:t>
            </a:r>
          </a:p>
          <a:p>
            <a:pPr marL="0" marR="0" indent="0" algn="l" defTabSz="914400" rtl="0" eaLnBrk="0" fontAlgn="base" latinLnBrk="1" hangingPunct="0">
              <a:lnSpc>
                <a:spcPct val="100000"/>
              </a:lnSpc>
              <a:spcBef>
                <a:spcPct val="30000"/>
              </a:spcBef>
              <a:spcAft>
                <a:spcPct val="0"/>
              </a:spcAft>
              <a:buClrTx/>
              <a:buSzTx/>
              <a:buFontTx/>
              <a:buNone/>
              <a:tabLst/>
              <a:defRPr/>
            </a:pP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Trong</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cthuc</a:t>
            </a:r>
            <a:r>
              <a:rPr lang="en-US" sz="1200" baseline="0" dirty="0">
                <a:latin typeface="Calibri" panose="020F0502020204030204" pitchFamily="34" charset="0"/>
                <a:cs typeface="Calibri" panose="020F0502020204030204" pitchFamily="34" charset="0"/>
                <a:sym typeface="Wingdings" panose="05000000000000000000" pitchFamily="2" charset="2"/>
              </a:rPr>
              <a:t> DPU </a:t>
            </a:r>
            <a:r>
              <a:rPr lang="en-US" sz="1200" baseline="0" dirty="0" err="1">
                <a:latin typeface="Calibri" panose="020F0502020204030204" pitchFamily="34" charset="0"/>
                <a:cs typeface="Calibri" panose="020F0502020204030204" pitchFamily="34" charset="0"/>
                <a:sym typeface="Wingdings" panose="05000000000000000000" pitchFamily="2" charset="2"/>
              </a:rPr>
              <a:t>là</a:t>
            </a:r>
            <a:r>
              <a:rPr lang="en-US" sz="1200" baseline="0" dirty="0">
                <a:latin typeface="Calibri" panose="020F0502020204030204" pitchFamily="34" charset="0"/>
                <a:cs typeface="Calibri" panose="020F0502020204030204" pitchFamily="34" charset="0"/>
                <a:sym typeface="Wingdings" panose="05000000000000000000" pitchFamily="2" charset="2"/>
              </a:rPr>
              <a:t> minh </a:t>
            </a:r>
            <a:r>
              <a:rPr lang="en-US" sz="1200" baseline="0" dirty="0" err="1">
                <a:latin typeface="Calibri" panose="020F0502020204030204" pitchFamily="34" charset="0"/>
                <a:cs typeface="Calibri" panose="020F0502020204030204" pitchFamily="34" charset="0"/>
                <a:sym typeface="Wingdings" panose="05000000000000000000" pitchFamily="2" charset="2"/>
              </a:rPr>
              <a:t>đếm</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tất</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cả</a:t>
            </a:r>
            <a:r>
              <a:rPr lang="en-US" sz="1200" baseline="0" dirty="0">
                <a:latin typeface="Calibri" panose="020F0502020204030204" pitchFamily="34" charset="0"/>
                <a:cs typeface="Calibri" panose="020F0502020204030204" pitchFamily="34" charset="0"/>
                <a:sym typeface="Wingdings" panose="05000000000000000000" pitchFamily="2" charset="2"/>
              </a:rPr>
              <a:t> defect </a:t>
            </a:r>
            <a:r>
              <a:rPr lang="en-US" sz="1200" baseline="0" dirty="0" err="1">
                <a:latin typeface="Calibri" panose="020F0502020204030204" pitchFamily="34" charset="0"/>
                <a:cs typeface="Calibri" panose="020F0502020204030204" pitchFamily="34" charset="0"/>
                <a:sym typeface="Wingdings" panose="05000000000000000000" pitchFamily="2" charset="2"/>
              </a:rPr>
              <a:t>trên</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tât</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cả</a:t>
            </a:r>
            <a:r>
              <a:rPr lang="en-US" sz="1200" baseline="0" dirty="0">
                <a:latin typeface="Calibri" panose="020F0502020204030204" pitchFamily="34" charset="0"/>
                <a:cs typeface="Calibri" panose="020F0502020204030204" pitchFamily="34" charset="0"/>
                <a:sym typeface="Wingdings" panose="05000000000000000000" pitchFamily="2" charset="2"/>
              </a:rPr>
              <a:t> </a:t>
            </a:r>
            <a:r>
              <a:rPr lang="en-US" sz="1200" baseline="0" dirty="0" err="1">
                <a:latin typeface="Calibri" panose="020F0502020204030204" pitchFamily="34" charset="0"/>
                <a:cs typeface="Calibri" panose="020F0502020204030204" pitchFamily="34" charset="0"/>
                <a:sym typeface="Wingdings" panose="05000000000000000000" pitchFamily="2" charset="2"/>
              </a:rPr>
              <a:t>cac</a:t>
            </a:r>
            <a:r>
              <a:rPr lang="en-US" sz="1200" baseline="0" dirty="0">
                <a:latin typeface="Calibri" panose="020F0502020204030204" pitchFamily="34" charset="0"/>
                <a:cs typeface="Calibri" panose="020F0502020204030204" pitchFamily="34" charset="0"/>
                <a:sym typeface="Wingdings" panose="05000000000000000000" pitchFamily="2" charset="2"/>
              </a:rPr>
              <a:t> unit</a:t>
            </a:r>
            <a:endParaRPr lang="en-US" sz="1200" dirty="0">
              <a:latin typeface="Calibri" panose="020F0502020204030204" pitchFamily="34" charset="0"/>
              <a:cs typeface="Calibri" panose="020F0502020204030204" pitchFamily="34" charset="0"/>
            </a:endParaRPr>
          </a:p>
          <a:p>
            <a:endParaRPr lang="en-US" dirty="0"/>
          </a:p>
          <a:p>
            <a:r>
              <a:rPr lang="en-US" dirty="0"/>
              <a:t>O: opportunity </a:t>
            </a:r>
            <a:r>
              <a:rPr lang="en-US" dirty="0" err="1"/>
              <a:t>là</a:t>
            </a:r>
            <a:r>
              <a:rPr lang="en-US" baseline="0" dirty="0"/>
              <a:t> </a:t>
            </a:r>
            <a:r>
              <a:rPr lang="en-US" baseline="0" dirty="0" err="1"/>
              <a:t>số</a:t>
            </a:r>
            <a:r>
              <a:rPr lang="en-US" baseline="0" dirty="0"/>
              <a:t> </a:t>
            </a:r>
            <a:r>
              <a:rPr lang="en-US" baseline="0" dirty="0" err="1"/>
              <a:t>cơ</a:t>
            </a:r>
            <a:r>
              <a:rPr lang="en-US" baseline="0" dirty="0"/>
              <a:t> </a:t>
            </a:r>
            <a:r>
              <a:rPr lang="en-US" baseline="0" dirty="0" err="1"/>
              <a:t>hội</a:t>
            </a:r>
            <a:r>
              <a:rPr lang="en-US" baseline="0" dirty="0"/>
              <a:t> </a:t>
            </a:r>
            <a:r>
              <a:rPr lang="en-US" baseline="0" dirty="0" err="1"/>
              <a:t>để</a:t>
            </a:r>
            <a:r>
              <a:rPr lang="en-US" baseline="0" dirty="0"/>
              <a:t> </a:t>
            </a:r>
            <a:r>
              <a:rPr lang="en-US" baseline="0" dirty="0" err="1"/>
              <a:t>xảy</a:t>
            </a:r>
            <a:r>
              <a:rPr lang="en-US" baseline="0" dirty="0"/>
              <a:t> </a:t>
            </a:r>
            <a:r>
              <a:rPr lang="en-US" baseline="0" dirty="0" err="1"/>
              <a:t>ra</a:t>
            </a:r>
            <a:r>
              <a:rPr lang="en-US" baseline="0" dirty="0"/>
              <a:t> </a:t>
            </a:r>
            <a:r>
              <a:rPr lang="en-US" baseline="0" dirty="0" err="1"/>
              <a:t>sai</a:t>
            </a:r>
            <a:r>
              <a:rPr lang="en-US" baseline="0" dirty="0"/>
              <a:t> </a:t>
            </a:r>
            <a:r>
              <a:rPr lang="en-US" baseline="0" dirty="0" err="1"/>
              <a:t>hỏng</a:t>
            </a:r>
            <a:r>
              <a:rPr lang="en-US" baseline="0" dirty="0"/>
              <a:t> </a:t>
            </a:r>
            <a:r>
              <a:rPr lang="en-US" baseline="0" dirty="0" err="1"/>
              <a:t>trên</a:t>
            </a:r>
            <a:r>
              <a:rPr lang="en-US" baseline="0" dirty="0"/>
              <a:t> 1 unit</a:t>
            </a:r>
          </a:p>
          <a:p>
            <a:r>
              <a:rPr lang="en-US" baseline="0" dirty="0"/>
              <a:t>DPO=D/(U*O)</a:t>
            </a:r>
          </a:p>
          <a:p>
            <a:r>
              <a:rPr lang="en-US" baseline="0" dirty="0" err="1"/>
              <a:t>Khó</a:t>
            </a:r>
            <a:r>
              <a:rPr lang="en-US" baseline="0" dirty="0"/>
              <a:t> </a:t>
            </a:r>
            <a:r>
              <a:rPr lang="en-US" baseline="0" dirty="0" err="1"/>
              <a:t>khăn</a:t>
            </a:r>
            <a:r>
              <a:rPr lang="en-US" baseline="0" dirty="0"/>
              <a:t> </a:t>
            </a:r>
            <a:r>
              <a:rPr lang="en-US" baseline="0" dirty="0" err="1"/>
              <a:t>là</a:t>
            </a:r>
            <a:r>
              <a:rPr lang="en-US" baseline="0" dirty="0"/>
              <a:t> </a:t>
            </a:r>
            <a:r>
              <a:rPr lang="en-US" baseline="0" dirty="0" err="1"/>
              <a:t>đếm</a:t>
            </a:r>
            <a:r>
              <a:rPr lang="en-US" baseline="0" dirty="0"/>
              <a:t> </a:t>
            </a:r>
            <a:r>
              <a:rPr lang="en-US" baseline="0" dirty="0" err="1"/>
              <a:t>đc</a:t>
            </a:r>
            <a:r>
              <a:rPr lang="en-US" baseline="0" dirty="0"/>
              <a:t> </a:t>
            </a:r>
            <a:r>
              <a:rPr lang="en-US" baseline="0" dirty="0" err="1"/>
              <a:t>số</a:t>
            </a:r>
            <a:r>
              <a:rPr lang="en-US" baseline="0" dirty="0"/>
              <a:t> </a:t>
            </a:r>
            <a:r>
              <a:rPr lang="en-US" baseline="0" dirty="0" err="1"/>
              <a:t>cơ</a:t>
            </a:r>
            <a:r>
              <a:rPr lang="en-US" baseline="0" dirty="0"/>
              <a:t> </a:t>
            </a:r>
            <a:r>
              <a:rPr lang="en-US" baseline="0" dirty="0" err="1"/>
              <a:t>hội</a:t>
            </a:r>
            <a:r>
              <a:rPr lang="en-US" baseline="0" dirty="0"/>
              <a:t> </a:t>
            </a:r>
            <a:r>
              <a:rPr lang="en-US" baseline="0" dirty="0" err="1"/>
              <a:t>xảy</a:t>
            </a:r>
            <a:r>
              <a:rPr lang="en-US" baseline="0" dirty="0"/>
              <a:t> </a:t>
            </a:r>
            <a:r>
              <a:rPr lang="en-US" baseline="0" dirty="0" err="1"/>
              <a:t>ra</a:t>
            </a:r>
            <a:r>
              <a:rPr lang="en-US" baseline="0" dirty="0"/>
              <a:t> </a:t>
            </a:r>
            <a:r>
              <a:rPr lang="en-US" baseline="0" dirty="0" err="1"/>
              <a:t>sai</a:t>
            </a:r>
            <a:r>
              <a:rPr lang="en-US" baseline="0" dirty="0"/>
              <a:t> </a:t>
            </a:r>
            <a:r>
              <a:rPr lang="en-US" baseline="0" dirty="0" err="1"/>
              <a:t>hỏng</a:t>
            </a:r>
            <a:r>
              <a:rPr lang="en-US" baseline="0" dirty="0"/>
              <a:t>, </a:t>
            </a:r>
            <a:r>
              <a:rPr lang="en-US" baseline="0" dirty="0" err="1"/>
              <a:t>những</a:t>
            </a:r>
            <a:r>
              <a:rPr lang="en-US" baseline="0" dirty="0"/>
              <a:t> </a:t>
            </a:r>
            <a:r>
              <a:rPr lang="en-US" baseline="0" dirty="0" err="1"/>
              <a:t>sp</a:t>
            </a:r>
            <a:r>
              <a:rPr lang="en-US" baseline="0" dirty="0"/>
              <a:t> </a:t>
            </a:r>
            <a:r>
              <a:rPr lang="en-US" baseline="0" dirty="0" err="1"/>
              <a:t>đơn</a:t>
            </a:r>
            <a:r>
              <a:rPr lang="en-US" baseline="0" dirty="0"/>
              <a:t> </a:t>
            </a:r>
            <a:r>
              <a:rPr lang="en-US" baseline="0" dirty="0" err="1"/>
              <a:t>giản</a:t>
            </a:r>
            <a:r>
              <a:rPr lang="en-US" baseline="0" dirty="0"/>
              <a:t> </a:t>
            </a:r>
            <a:r>
              <a:rPr lang="en-US" baseline="0" dirty="0" err="1"/>
              <a:t>như</a:t>
            </a:r>
            <a:r>
              <a:rPr lang="en-US" baseline="0" dirty="0"/>
              <a:t> </a:t>
            </a:r>
            <a:r>
              <a:rPr lang="en-US" baseline="0" dirty="0" err="1"/>
              <a:t>cái</a:t>
            </a:r>
            <a:r>
              <a:rPr lang="en-US" baseline="0" dirty="0"/>
              <a:t> </a:t>
            </a:r>
            <a:r>
              <a:rPr lang="en-US" baseline="0" dirty="0" err="1"/>
              <a:t>bút</a:t>
            </a:r>
            <a:r>
              <a:rPr lang="en-US" baseline="0" dirty="0"/>
              <a:t>, no chi </a:t>
            </a:r>
            <a:r>
              <a:rPr lang="en-US" baseline="0" dirty="0" err="1"/>
              <a:t>có</a:t>
            </a:r>
            <a:r>
              <a:rPr lang="en-US" baseline="0" dirty="0"/>
              <a:t> </a:t>
            </a:r>
            <a:r>
              <a:rPr lang="en-US" baseline="0" dirty="0" err="1"/>
              <a:t>vài</a:t>
            </a:r>
            <a:r>
              <a:rPr lang="en-US" baseline="0" dirty="0"/>
              <a:t> </a:t>
            </a:r>
            <a:r>
              <a:rPr lang="en-US" baseline="0" dirty="0" err="1"/>
              <a:t>bộ</a:t>
            </a:r>
            <a:r>
              <a:rPr lang="en-US" baseline="0" dirty="0"/>
              <a:t> </a:t>
            </a:r>
            <a:r>
              <a:rPr lang="en-US" baseline="0" dirty="0" err="1"/>
              <a:t>phân</a:t>
            </a:r>
            <a:r>
              <a:rPr lang="en-US" baseline="0" dirty="0"/>
              <a:t> </a:t>
            </a:r>
            <a:r>
              <a:rPr lang="en-US" baseline="0" dirty="0" err="1"/>
              <a:t>thôi</a:t>
            </a:r>
            <a:r>
              <a:rPr lang="en-US" baseline="0" dirty="0"/>
              <a:t> </a:t>
            </a:r>
            <a:r>
              <a:rPr lang="en-US" baseline="0" dirty="0" err="1"/>
              <a:t>thi</a:t>
            </a:r>
            <a:r>
              <a:rPr lang="en-US" baseline="0" dirty="0"/>
              <a:t> </a:t>
            </a:r>
            <a:r>
              <a:rPr lang="en-US" baseline="0" dirty="0" err="1"/>
              <a:t>có</a:t>
            </a:r>
            <a:r>
              <a:rPr lang="en-US" baseline="0" dirty="0"/>
              <a:t> </a:t>
            </a:r>
            <a:r>
              <a:rPr lang="en-US" baseline="0" dirty="0" err="1"/>
              <a:t>thể</a:t>
            </a:r>
            <a:r>
              <a:rPr lang="en-US" baseline="0" dirty="0"/>
              <a:t> </a:t>
            </a:r>
            <a:r>
              <a:rPr lang="en-US" baseline="0" dirty="0" err="1"/>
              <a:t>dễ</a:t>
            </a:r>
            <a:r>
              <a:rPr lang="en-US" baseline="0" dirty="0"/>
              <a:t> </a:t>
            </a:r>
            <a:r>
              <a:rPr lang="en-US" baseline="0" dirty="0" err="1"/>
              <a:t>dàng</a:t>
            </a:r>
            <a:r>
              <a:rPr lang="en-US" baseline="0" dirty="0"/>
              <a:t> </a:t>
            </a:r>
            <a:r>
              <a:rPr lang="en-US" baseline="0" dirty="0" err="1"/>
              <a:t>đếm</a:t>
            </a:r>
            <a:r>
              <a:rPr lang="en-US" baseline="0" dirty="0"/>
              <a:t> </a:t>
            </a:r>
            <a:r>
              <a:rPr lang="en-US" baseline="0" dirty="0" err="1"/>
              <a:t>đc</a:t>
            </a:r>
            <a:r>
              <a:rPr lang="en-US" baseline="0" dirty="0"/>
              <a:t> </a:t>
            </a:r>
            <a:r>
              <a:rPr lang="en-US" baseline="0" dirty="0" err="1"/>
              <a:t>những</a:t>
            </a:r>
            <a:r>
              <a:rPr lang="en-US" baseline="0" dirty="0"/>
              <a:t> </a:t>
            </a:r>
            <a:r>
              <a:rPr lang="en-US" baseline="0" dirty="0" err="1"/>
              <a:t>cơ</a:t>
            </a:r>
            <a:r>
              <a:rPr lang="en-US" baseline="0" dirty="0"/>
              <a:t> </a:t>
            </a:r>
            <a:r>
              <a:rPr lang="en-US" baseline="0" dirty="0" err="1"/>
              <a:t>hội</a:t>
            </a:r>
            <a:r>
              <a:rPr lang="en-US" baseline="0" dirty="0"/>
              <a:t> </a:t>
            </a:r>
            <a:r>
              <a:rPr lang="en-US" baseline="0" dirty="0" err="1"/>
              <a:t>bị</a:t>
            </a:r>
            <a:r>
              <a:rPr lang="en-US" baseline="0" dirty="0"/>
              <a:t> </a:t>
            </a:r>
            <a:r>
              <a:rPr lang="en-US" baseline="0" dirty="0" err="1"/>
              <a:t>sai</a:t>
            </a:r>
            <a:r>
              <a:rPr lang="en-US" baseline="0" dirty="0"/>
              <a:t> </a:t>
            </a:r>
            <a:r>
              <a:rPr lang="en-US" baseline="0" dirty="0" err="1"/>
              <a:t>hỏng</a:t>
            </a:r>
            <a:r>
              <a:rPr lang="en-US" baseline="0" dirty="0"/>
              <a:t>, vs </a:t>
            </a:r>
            <a:r>
              <a:rPr lang="en-US" baseline="0" dirty="0" err="1"/>
              <a:t>những</a:t>
            </a:r>
            <a:r>
              <a:rPr lang="en-US" baseline="0" dirty="0"/>
              <a:t> </a:t>
            </a:r>
            <a:r>
              <a:rPr lang="en-US" baseline="0" dirty="0" err="1"/>
              <a:t>sp</a:t>
            </a:r>
            <a:r>
              <a:rPr lang="en-US" baseline="0" dirty="0"/>
              <a:t> </a:t>
            </a:r>
            <a:r>
              <a:rPr lang="en-US" baseline="0" dirty="0" err="1"/>
              <a:t>phức</a:t>
            </a:r>
            <a:r>
              <a:rPr lang="en-US" baseline="0" dirty="0"/>
              <a:t> </a:t>
            </a:r>
            <a:r>
              <a:rPr lang="en-US" baseline="0" dirty="0" err="1"/>
              <a:t>tạp</a:t>
            </a:r>
            <a:r>
              <a:rPr lang="en-US" baseline="0" dirty="0"/>
              <a:t> </a:t>
            </a:r>
            <a:r>
              <a:rPr lang="en-US" baseline="0" dirty="0" err="1"/>
              <a:t>thi</a:t>
            </a:r>
            <a:r>
              <a:rPr lang="en-US" baseline="0" dirty="0"/>
              <a:t> </a:t>
            </a:r>
            <a:r>
              <a:rPr lang="en-US" baseline="0" dirty="0" err="1"/>
              <a:t>fai</a:t>
            </a:r>
            <a:r>
              <a:rPr lang="en-US" baseline="0" dirty="0"/>
              <a:t> </a:t>
            </a:r>
            <a:r>
              <a:rPr lang="en-US" baseline="0" dirty="0" err="1"/>
              <a:t>họp</a:t>
            </a:r>
            <a:r>
              <a:rPr lang="en-US" baseline="0" dirty="0"/>
              <a:t> </a:t>
            </a:r>
            <a:r>
              <a:rPr lang="en-US" baseline="0" dirty="0" err="1"/>
              <a:t>các</a:t>
            </a:r>
            <a:r>
              <a:rPr lang="en-US" baseline="0" dirty="0"/>
              <a:t> </a:t>
            </a:r>
            <a:r>
              <a:rPr lang="en-US" baseline="0" dirty="0" err="1"/>
              <a:t>bên</a:t>
            </a:r>
            <a:r>
              <a:rPr lang="en-US" baseline="0" dirty="0"/>
              <a:t> </a:t>
            </a:r>
            <a:r>
              <a:rPr lang="en-US" baseline="0" dirty="0" err="1"/>
              <a:t>để</a:t>
            </a:r>
            <a:r>
              <a:rPr lang="en-US" baseline="0" dirty="0"/>
              <a:t> </a:t>
            </a:r>
            <a:r>
              <a:rPr lang="en-US" baseline="0" dirty="0" err="1"/>
              <a:t>tìm</a:t>
            </a:r>
            <a:r>
              <a:rPr lang="en-US" baseline="0" dirty="0"/>
              <a:t> </a:t>
            </a:r>
            <a:r>
              <a:rPr lang="en-US" baseline="0" dirty="0" err="1"/>
              <a:t>ra</a:t>
            </a:r>
            <a:r>
              <a:rPr lang="en-US" baseline="0" dirty="0"/>
              <a:t> O </a:t>
            </a:r>
            <a:r>
              <a:rPr lang="en-US" baseline="0" dirty="0" err="1"/>
              <a:t>đó</a:t>
            </a:r>
            <a:endParaRPr lang="en-US" baseline="0" dirty="0"/>
          </a:p>
          <a:p>
            <a:endParaRPr lang="en-US" baseline="0" dirty="0"/>
          </a:p>
          <a:p>
            <a:r>
              <a:rPr lang="en-US" baseline="0" dirty="0"/>
              <a:t>DPMO=DPO*10^6</a:t>
            </a:r>
          </a:p>
          <a:p>
            <a:endParaRPr lang="en-US" baseline="0" dirty="0"/>
          </a:p>
          <a:p>
            <a:pPr marL="171450" indent="-171450">
              <a:buFont typeface="Wingdings" panose="05000000000000000000" pitchFamily="2" charset="2"/>
              <a:buChar char="à"/>
            </a:pPr>
            <a:r>
              <a:rPr lang="en-US" baseline="0" dirty="0" err="1">
                <a:sym typeface="Wingdings" panose="05000000000000000000" pitchFamily="2" charset="2"/>
              </a:rPr>
              <a:t>Khi</a:t>
            </a:r>
            <a:r>
              <a:rPr lang="en-US" baseline="0" dirty="0">
                <a:sym typeface="Wingdings" panose="05000000000000000000" pitchFamily="2" charset="2"/>
              </a:rPr>
              <a:t> set up target </a:t>
            </a:r>
            <a:r>
              <a:rPr lang="en-US" baseline="0" dirty="0" err="1">
                <a:sym typeface="Wingdings" panose="05000000000000000000" pitchFamily="2" charset="2"/>
              </a:rPr>
              <a:t>cho</a:t>
            </a:r>
            <a:r>
              <a:rPr lang="en-US" baseline="0" dirty="0">
                <a:sym typeface="Wingdings" panose="05000000000000000000" pitchFamily="2" charset="2"/>
              </a:rPr>
              <a:t> project 6 sigma: 1 </a:t>
            </a:r>
            <a:r>
              <a:rPr lang="en-US" baseline="0" dirty="0" err="1">
                <a:sym typeface="Wingdings" panose="05000000000000000000" pitchFamily="2" charset="2"/>
              </a:rPr>
              <a:t>là</a:t>
            </a:r>
            <a:r>
              <a:rPr lang="en-US" baseline="0" dirty="0">
                <a:sym typeface="Wingdings" panose="05000000000000000000" pitchFamily="2" charset="2"/>
              </a:rPr>
              <a:t> set up </a:t>
            </a:r>
            <a:r>
              <a:rPr lang="en-US" baseline="0" dirty="0" err="1">
                <a:sym typeface="Wingdings" panose="05000000000000000000" pitchFamily="2" charset="2"/>
              </a:rPr>
              <a:t>theo</a:t>
            </a:r>
            <a:r>
              <a:rPr lang="en-US" baseline="0" dirty="0">
                <a:sym typeface="Wingdings" panose="05000000000000000000" pitchFamily="2" charset="2"/>
              </a:rPr>
              <a:t> ppm, 2 </a:t>
            </a:r>
            <a:r>
              <a:rPr lang="en-US" baseline="0" dirty="0" err="1">
                <a:sym typeface="Wingdings" panose="05000000000000000000" pitchFamily="2" charset="2"/>
              </a:rPr>
              <a:t>là</a:t>
            </a:r>
            <a:r>
              <a:rPr lang="en-US" baseline="0" dirty="0">
                <a:sym typeface="Wingdings" panose="05000000000000000000" pitchFamily="2" charset="2"/>
              </a:rPr>
              <a:t> set up </a:t>
            </a:r>
            <a:r>
              <a:rPr lang="en-US" baseline="0" dirty="0" err="1">
                <a:sym typeface="Wingdings" panose="05000000000000000000" pitchFamily="2" charset="2"/>
              </a:rPr>
              <a:t>theo</a:t>
            </a:r>
            <a:r>
              <a:rPr lang="en-US" baseline="0" dirty="0">
                <a:sym typeface="Wingdings" panose="05000000000000000000" pitchFamily="2" charset="2"/>
              </a:rPr>
              <a:t> DPU </a:t>
            </a:r>
            <a:r>
              <a:rPr lang="en-US" baseline="0" dirty="0" err="1">
                <a:sym typeface="Wingdings" panose="05000000000000000000" pitchFamily="2" charset="2"/>
              </a:rPr>
              <a:t>hoặc</a:t>
            </a:r>
            <a:r>
              <a:rPr lang="en-US" baseline="0" dirty="0">
                <a:sym typeface="Wingdings" panose="05000000000000000000" pitchFamily="2" charset="2"/>
              </a:rPr>
              <a:t> DPMO</a:t>
            </a:r>
          </a:p>
          <a:p>
            <a:pPr marL="171450" indent="-171450">
              <a:buFont typeface="Wingdings" panose="05000000000000000000" pitchFamily="2" charset="2"/>
              <a:buChar char="à"/>
            </a:pPr>
            <a:r>
              <a:rPr lang="en-US" baseline="0" dirty="0">
                <a:sym typeface="Wingdings" panose="05000000000000000000" pitchFamily="2" charset="2"/>
              </a:rPr>
              <a:t>Ppm= </a:t>
            </a:r>
            <a:r>
              <a:rPr lang="en-US" baseline="0" dirty="0" err="1">
                <a:sym typeface="Wingdings" panose="05000000000000000000" pitchFamily="2" charset="2"/>
              </a:rPr>
              <a:t>số</a:t>
            </a:r>
            <a:r>
              <a:rPr lang="en-US" baseline="0" dirty="0">
                <a:sym typeface="Wingdings" panose="05000000000000000000" pitchFamily="2" charset="2"/>
              </a:rPr>
              <a:t> defective/ </a:t>
            </a:r>
            <a:r>
              <a:rPr lang="en-US" baseline="0" dirty="0" err="1">
                <a:sym typeface="Wingdings" panose="05000000000000000000" pitchFamily="2" charset="2"/>
              </a:rPr>
              <a:t>tổng</a:t>
            </a:r>
            <a:r>
              <a:rPr lang="en-US" baseline="0" dirty="0">
                <a:sym typeface="Wingdings" panose="05000000000000000000" pitchFamily="2" charset="2"/>
              </a:rPr>
              <a:t> </a:t>
            </a:r>
            <a:r>
              <a:rPr lang="en-US" baseline="0" dirty="0" err="1">
                <a:sym typeface="Wingdings" panose="05000000000000000000" pitchFamily="2" charset="2"/>
              </a:rPr>
              <a:t>số</a:t>
            </a:r>
            <a:r>
              <a:rPr lang="en-US" baseline="0" dirty="0">
                <a:sym typeface="Wingdings" panose="05000000000000000000" pitchFamily="2" charset="2"/>
              </a:rPr>
              <a:t> </a:t>
            </a:r>
            <a:r>
              <a:rPr lang="en-US" baseline="0" dirty="0" err="1">
                <a:sym typeface="Wingdings" panose="05000000000000000000" pitchFamily="2" charset="2"/>
              </a:rPr>
              <a:t>lượng</a:t>
            </a:r>
            <a:r>
              <a:rPr lang="en-US" baseline="0" dirty="0">
                <a:sym typeface="Wingdings" panose="05000000000000000000" pitchFamily="2" charset="2"/>
              </a:rPr>
              <a:t> </a:t>
            </a:r>
            <a:r>
              <a:rPr lang="en-US" baseline="0" dirty="0" err="1">
                <a:sym typeface="Wingdings" panose="05000000000000000000" pitchFamily="2" charset="2"/>
              </a:rPr>
              <a:t>sx</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4</a:t>
            </a:fld>
            <a:endParaRPr lang="ko-KR" altLang="en-US" dirty="0"/>
          </a:p>
        </p:txBody>
      </p:sp>
    </p:spTree>
    <p:extLst>
      <p:ext uri="{BB962C8B-B14F-4D97-AF65-F5344CB8AC3E}">
        <p14:creationId xmlns:p14="http://schemas.microsoft.com/office/powerpoint/2010/main" val="9873479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DMAIC: </a:t>
            </a:r>
            <a:r>
              <a:rPr lang="en-US" dirty="0" err="1"/>
              <a:t>sử</a:t>
            </a:r>
            <a:r>
              <a:rPr lang="en-US" baseline="0" dirty="0"/>
              <a:t> </a:t>
            </a:r>
            <a:r>
              <a:rPr lang="en-US" baseline="0" dirty="0" err="1"/>
              <a:t>dụng</a:t>
            </a:r>
            <a:r>
              <a:rPr lang="en-US" baseline="0" dirty="0"/>
              <a:t> </a:t>
            </a:r>
            <a:r>
              <a:rPr lang="en-US" baseline="0" dirty="0" err="1"/>
              <a:t>trong</a:t>
            </a:r>
            <a:r>
              <a:rPr lang="en-US" baseline="0" dirty="0"/>
              <a:t> </a:t>
            </a:r>
            <a:r>
              <a:rPr lang="en-US" baseline="0" dirty="0" err="1"/>
              <a:t>tiến</a:t>
            </a:r>
            <a:r>
              <a:rPr lang="en-US" baseline="0" dirty="0"/>
              <a:t> </a:t>
            </a:r>
            <a:r>
              <a:rPr lang="en-US" baseline="0" dirty="0" err="1"/>
              <a:t>trinh</a:t>
            </a:r>
            <a:r>
              <a:rPr lang="en-US" baseline="0" dirty="0"/>
              <a:t> </a:t>
            </a:r>
            <a:r>
              <a:rPr lang="en-US" baseline="0" dirty="0" err="1"/>
              <a:t>sx</a:t>
            </a:r>
            <a:r>
              <a:rPr lang="en-US" baseline="0" dirty="0"/>
              <a:t> hang </a:t>
            </a:r>
            <a:r>
              <a:rPr lang="en-US" baseline="0" dirty="0" err="1"/>
              <a:t>loạt</a:t>
            </a:r>
            <a:endParaRPr lang="en-US" dirty="0"/>
          </a:p>
          <a:p>
            <a:r>
              <a:rPr lang="en-US" dirty="0"/>
              <a:t>DMADV: dung</a:t>
            </a:r>
            <a:r>
              <a:rPr lang="en-US" baseline="0" dirty="0"/>
              <a:t> </a:t>
            </a:r>
            <a:r>
              <a:rPr lang="en-US" baseline="0" dirty="0" err="1"/>
              <a:t>trong</a:t>
            </a:r>
            <a:r>
              <a:rPr lang="en-US" baseline="0" dirty="0"/>
              <a:t> </a:t>
            </a:r>
            <a:r>
              <a:rPr lang="en-US" baseline="0" dirty="0" err="1"/>
              <a:t>giai</a:t>
            </a:r>
            <a:r>
              <a:rPr lang="en-US" baseline="0" dirty="0"/>
              <a:t> </a:t>
            </a:r>
            <a:r>
              <a:rPr lang="en-US" baseline="0" dirty="0" err="1"/>
              <a:t>đoạn</a:t>
            </a:r>
            <a:r>
              <a:rPr lang="en-US" baseline="0" dirty="0"/>
              <a:t> develop (DV: design, verify)</a:t>
            </a:r>
            <a:endParaRPr lang="en-US" dirty="0"/>
          </a:p>
          <a:p>
            <a:r>
              <a:rPr lang="en-US" dirty="0"/>
              <a:t>IDOV: dung</a:t>
            </a:r>
            <a:r>
              <a:rPr lang="en-US" baseline="0" dirty="0"/>
              <a:t> </a:t>
            </a:r>
            <a:r>
              <a:rPr lang="en-US" baseline="0" dirty="0" err="1"/>
              <a:t>trong</a:t>
            </a:r>
            <a:r>
              <a:rPr lang="en-US" baseline="0" dirty="0"/>
              <a:t> </a:t>
            </a:r>
            <a:r>
              <a:rPr lang="en-US" baseline="0" dirty="0" err="1"/>
              <a:t>giai</a:t>
            </a:r>
            <a:r>
              <a:rPr lang="en-US" baseline="0" dirty="0"/>
              <a:t> </a:t>
            </a:r>
            <a:r>
              <a:rPr lang="en-US" baseline="0" dirty="0" err="1"/>
              <a:t>đoạn</a:t>
            </a:r>
            <a:r>
              <a:rPr lang="en-US" baseline="0" dirty="0"/>
              <a:t> </a:t>
            </a:r>
            <a:r>
              <a:rPr lang="en-US" baseline="0" dirty="0" err="1"/>
              <a:t>chưa</a:t>
            </a:r>
            <a:r>
              <a:rPr lang="en-US" baseline="0" dirty="0"/>
              <a:t> </a:t>
            </a:r>
            <a:r>
              <a:rPr lang="en-US" baseline="0" dirty="0" err="1"/>
              <a:t>hình</a:t>
            </a:r>
            <a:r>
              <a:rPr lang="en-US" baseline="0" dirty="0"/>
              <a:t> </a:t>
            </a:r>
            <a:r>
              <a:rPr lang="en-US" baseline="0" dirty="0" err="1"/>
              <a:t>thành</a:t>
            </a:r>
            <a:r>
              <a:rPr lang="en-US" baseline="0" dirty="0"/>
              <a:t> </a:t>
            </a:r>
            <a:r>
              <a:rPr lang="en-US" baseline="0" dirty="0" err="1"/>
              <a:t>sp</a:t>
            </a:r>
            <a:r>
              <a:rPr lang="en-US" baseline="0" dirty="0"/>
              <a:t>, </a:t>
            </a:r>
            <a:r>
              <a:rPr lang="en-US" baseline="0" dirty="0" err="1"/>
              <a:t>đang</a:t>
            </a:r>
            <a:r>
              <a:rPr lang="en-US" baseline="0" dirty="0"/>
              <a:t> </a:t>
            </a:r>
            <a:r>
              <a:rPr lang="en-US" baseline="0" dirty="0" err="1"/>
              <a:t>tìm</a:t>
            </a:r>
            <a:r>
              <a:rPr lang="en-US" baseline="0" dirty="0"/>
              <a:t> ý </a:t>
            </a:r>
            <a:r>
              <a:rPr lang="en-US" baseline="0" dirty="0" err="1"/>
              <a:t>tưởng</a:t>
            </a:r>
            <a:r>
              <a:rPr lang="en-US" baseline="0" dirty="0"/>
              <a:t> </a:t>
            </a:r>
            <a:r>
              <a:rPr lang="en-US" baseline="0" dirty="0" err="1"/>
              <a:t>để</a:t>
            </a:r>
            <a:r>
              <a:rPr lang="en-US" baseline="0" dirty="0"/>
              <a:t> </a:t>
            </a:r>
            <a:r>
              <a:rPr lang="en-US" baseline="0" dirty="0" err="1"/>
              <a:t>thiết</a:t>
            </a:r>
            <a:r>
              <a:rPr lang="en-US" baseline="0" dirty="0"/>
              <a:t> </a:t>
            </a:r>
            <a:r>
              <a:rPr lang="en-US" baseline="0" dirty="0" err="1"/>
              <a:t>kế</a:t>
            </a:r>
            <a:r>
              <a:rPr lang="en-US" baseline="0" dirty="0"/>
              <a:t> </a:t>
            </a:r>
            <a:r>
              <a:rPr lang="en-US" baseline="0" dirty="0" err="1"/>
              <a:t>sp</a:t>
            </a:r>
            <a:r>
              <a:rPr lang="en-US" baseline="0" dirty="0"/>
              <a:t> ( identify, design, optimize, verify)</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5</a:t>
            </a:fld>
            <a:endParaRPr lang="ko-KR" altLang="en-US" dirty="0"/>
          </a:p>
        </p:txBody>
      </p:sp>
    </p:spTree>
    <p:extLst>
      <p:ext uri="{BB962C8B-B14F-4D97-AF65-F5344CB8AC3E}">
        <p14:creationId xmlns:p14="http://schemas.microsoft.com/office/powerpoint/2010/main" val="35560162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1" hangingPunct="0">
              <a:lnSpc>
                <a:spcPct val="100000"/>
              </a:lnSpc>
              <a:spcBef>
                <a:spcPct val="30000"/>
              </a:spcBef>
              <a:spcAft>
                <a:spcPct val="0"/>
              </a:spcAft>
              <a:buClrTx/>
              <a:buSzTx/>
              <a:buFontTx/>
              <a:buNone/>
              <a:tabLst/>
              <a:defRPr/>
            </a:pPr>
            <a:r>
              <a:rPr lang="vi-VN" dirty="0">
                <a:latin typeface="Calibri" panose="020F0502020204030204" pitchFamily="34" charset="0"/>
                <a:cs typeface="Calibri" panose="020F0502020204030204" pitchFamily="34" charset="0"/>
              </a:rPr>
              <a:t>Đấy là kết quả “trong mơ” cho tất cả các doanh nghiệp!</a:t>
            </a:r>
            <a:endParaRPr lang="en-US" dirty="0">
              <a:latin typeface="Calibri" panose="020F0502020204030204" pitchFamily="34" charset="0"/>
              <a:cs typeface="Calibri" panose="020F0502020204030204" pitchFamily="34" charset="0"/>
            </a:endParaRPr>
          </a:p>
          <a:p>
            <a:pPr marL="0" marR="0" indent="0" algn="l" defTabSz="914400" rtl="0" eaLnBrk="0" fontAlgn="base" latinLnBrk="1" hangingPunct="0">
              <a:lnSpc>
                <a:spcPct val="100000"/>
              </a:lnSpc>
              <a:spcBef>
                <a:spcPct val="30000"/>
              </a:spcBef>
              <a:spcAft>
                <a:spcPct val="0"/>
              </a:spcAft>
              <a:buClrTx/>
              <a:buSzTx/>
              <a:buFontTx/>
              <a:buNone/>
              <a:tabLst/>
              <a:defRPr/>
            </a:pPr>
            <a:r>
              <a:rPr lang="vi-VN" dirty="0">
                <a:latin typeface="Calibri" panose="020F0502020204030204" pitchFamily="34" charset="0"/>
                <a:cs typeface="Calibri" panose="020F0502020204030204" pitchFamily="34" charset="0"/>
              </a:rPr>
              <a:t>Một trong các dự án Six Sigma thành công nhất của Ford Việt Nam là giảm lượng container chở linh kiện nhập khẩu</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7</a:t>
            </a:fld>
            <a:endParaRPr lang="ko-KR" altLang="en-US" dirty="0"/>
          </a:p>
        </p:txBody>
      </p:sp>
    </p:spTree>
    <p:extLst>
      <p:ext uri="{BB962C8B-B14F-4D97-AF65-F5344CB8AC3E}">
        <p14:creationId xmlns:p14="http://schemas.microsoft.com/office/powerpoint/2010/main" val="67760524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656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B4FB3A49-5A04-4880-84B6-4800C8E4CA8D}" type="slidenum">
              <a:rPr lang="ko-KR" altLang="en-US" smtClean="0"/>
              <a:pPr>
                <a:defRPr/>
              </a:pPr>
              <a:t>9</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6359452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861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5844"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708C367D-007B-49E4-B023-DE3DD9F4550E}" type="slidenum">
              <a:rPr lang="ko-KR" altLang="en-US" smtClean="0"/>
              <a:pPr fontAlgn="base">
                <a:spcBef>
                  <a:spcPct val="0"/>
                </a:spcBef>
                <a:spcAft>
                  <a:spcPct val="0"/>
                </a:spcAft>
                <a:defRPr/>
              </a:pPr>
              <a:t>10</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91825421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963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8B7694AC-A93F-447D-B0D1-D374AA2D00F5}" type="slidenum">
              <a:rPr lang="ko-KR" altLang="en-US" smtClean="0"/>
              <a:pPr>
                <a:defRPr/>
              </a:pPr>
              <a:t>11</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40003926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065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2BAF05B5-C665-4C85-9653-4B2131D58AF7}" type="slidenum">
              <a:rPr lang="ko-KR" altLang="en-US" smtClean="0"/>
              <a:pPr>
                <a:defRPr/>
              </a:pPr>
              <a:t>14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21978603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168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buFontTx/>
              <a:buChar char="•"/>
            </a:pPr>
            <a:r>
              <a:rPr lang="en-US" altLang="ko-KR" dirty="0"/>
              <a:t>Pareto</a:t>
            </a:r>
            <a:r>
              <a:rPr lang="en-US" altLang="ko-KR" baseline="0" dirty="0"/>
              <a:t> </a:t>
            </a:r>
            <a:r>
              <a:rPr lang="en-US" altLang="ko-KR" baseline="0" dirty="0" err="1"/>
              <a:t>thường</a:t>
            </a:r>
            <a:r>
              <a:rPr lang="en-US" altLang="ko-KR" baseline="0" dirty="0"/>
              <a:t> </a:t>
            </a:r>
            <a:r>
              <a:rPr lang="en-US" altLang="ko-KR" baseline="0" dirty="0" err="1"/>
              <a:t>đc</a:t>
            </a:r>
            <a:r>
              <a:rPr lang="en-US" altLang="ko-KR" baseline="0" dirty="0"/>
              <a:t> </a:t>
            </a:r>
            <a:r>
              <a:rPr lang="en-US" altLang="ko-KR" baseline="0" dirty="0" err="1"/>
              <a:t>sd</a:t>
            </a:r>
            <a:r>
              <a:rPr lang="en-US" altLang="ko-KR" baseline="0" dirty="0"/>
              <a:t> </a:t>
            </a:r>
            <a:r>
              <a:rPr lang="en-US" altLang="ko-KR" baseline="0" dirty="0" err="1"/>
              <a:t>trong</a:t>
            </a:r>
            <a:r>
              <a:rPr lang="en-US" altLang="ko-KR" baseline="0" dirty="0"/>
              <a:t> </a:t>
            </a:r>
            <a:r>
              <a:rPr lang="en-US" altLang="ko-KR" baseline="0" dirty="0" err="1"/>
              <a:t>giai</a:t>
            </a:r>
            <a:r>
              <a:rPr lang="en-US" altLang="ko-KR" baseline="0" dirty="0"/>
              <a:t> </a:t>
            </a:r>
            <a:r>
              <a:rPr lang="en-US" altLang="ko-KR" baseline="0" dirty="0" err="1"/>
              <a:t>đoạn</a:t>
            </a:r>
            <a:r>
              <a:rPr lang="en-US" altLang="ko-KR" baseline="0" dirty="0"/>
              <a:t> D (define)</a:t>
            </a:r>
          </a:p>
          <a:p>
            <a:pPr>
              <a:buFontTx/>
              <a:buChar char="•"/>
            </a:pPr>
            <a:r>
              <a:rPr lang="en-US" altLang="ko-KR" baseline="0" dirty="0" err="1"/>
              <a:t>Khi</a:t>
            </a:r>
            <a:r>
              <a:rPr lang="en-US" altLang="ko-KR" baseline="0" dirty="0"/>
              <a:t> </a:t>
            </a:r>
            <a:r>
              <a:rPr lang="en-US" altLang="ko-KR" baseline="0" dirty="0" err="1"/>
              <a:t>có</a:t>
            </a:r>
            <a:r>
              <a:rPr lang="en-US" altLang="ko-KR" baseline="0" dirty="0"/>
              <a:t> </a:t>
            </a:r>
            <a:r>
              <a:rPr lang="en-US" altLang="ko-KR" baseline="0" dirty="0" err="1"/>
              <a:t>nhiều</a:t>
            </a:r>
            <a:r>
              <a:rPr lang="en-US" altLang="ko-KR" baseline="0" dirty="0"/>
              <a:t> issue </a:t>
            </a:r>
            <a:r>
              <a:rPr lang="en-US" altLang="ko-KR" baseline="0" dirty="0" err="1"/>
              <a:t>xảy</a:t>
            </a:r>
            <a:r>
              <a:rPr lang="en-US" altLang="ko-KR" baseline="0" dirty="0"/>
              <a:t> </a:t>
            </a:r>
            <a:r>
              <a:rPr lang="en-US" altLang="ko-KR" baseline="0" dirty="0" err="1"/>
              <a:t>ra</a:t>
            </a:r>
            <a:r>
              <a:rPr lang="en-US" altLang="ko-KR" baseline="0" dirty="0"/>
              <a:t>, </a:t>
            </a:r>
            <a:r>
              <a:rPr lang="en-US" altLang="ko-KR" baseline="0" dirty="0" err="1"/>
              <a:t>làm</a:t>
            </a:r>
            <a:r>
              <a:rPr lang="en-US" altLang="ko-KR" baseline="0" dirty="0"/>
              <a:t> </a:t>
            </a:r>
            <a:r>
              <a:rPr lang="en-US" altLang="ko-KR" baseline="0" dirty="0" err="1"/>
              <a:t>thê</a:t>
            </a:r>
            <a:r>
              <a:rPr lang="en-US" altLang="ko-KR" baseline="0" dirty="0"/>
              <a:t> </a:t>
            </a:r>
            <a:r>
              <a:rPr lang="en-US" altLang="ko-KR" baseline="0" dirty="0" err="1"/>
              <a:t>nào</a:t>
            </a:r>
            <a:r>
              <a:rPr lang="en-US" altLang="ko-KR" baseline="0" dirty="0"/>
              <a:t> </a:t>
            </a:r>
            <a:r>
              <a:rPr lang="en-US" altLang="ko-KR" baseline="0" dirty="0" err="1"/>
              <a:t>để</a:t>
            </a:r>
            <a:r>
              <a:rPr lang="en-US" altLang="ko-KR" baseline="0" dirty="0"/>
              <a:t> </a:t>
            </a:r>
            <a:r>
              <a:rPr lang="en-US" altLang="ko-KR" baseline="0" dirty="0" err="1"/>
              <a:t>biết</a:t>
            </a:r>
            <a:r>
              <a:rPr lang="en-US" altLang="ko-KR" baseline="0" dirty="0"/>
              <a:t> </a:t>
            </a:r>
            <a:r>
              <a:rPr lang="en-US" altLang="ko-KR" baseline="0" dirty="0" err="1"/>
              <a:t>cần</a:t>
            </a:r>
            <a:r>
              <a:rPr lang="en-US" altLang="ko-KR" baseline="0" dirty="0"/>
              <a:t> </a:t>
            </a:r>
            <a:r>
              <a:rPr lang="en-US" altLang="ko-KR" baseline="0" dirty="0" err="1"/>
              <a:t>cải</a:t>
            </a:r>
            <a:r>
              <a:rPr lang="en-US" altLang="ko-KR" baseline="0" dirty="0"/>
              <a:t> </a:t>
            </a:r>
            <a:r>
              <a:rPr lang="en-US" altLang="ko-KR" baseline="0" dirty="0" err="1"/>
              <a:t>tiến</a:t>
            </a:r>
            <a:r>
              <a:rPr lang="en-US" altLang="ko-KR" baseline="0" dirty="0"/>
              <a:t> issue </a:t>
            </a:r>
            <a:r>
              <a:rPr lang="en-US" altLang="ko-KR" baseline="0" dirty="0" err="1"/>
              <a:t>nào</a:t>
            </a:r>
            <a:r>
              <a:rPr lang="en-US" altLang="ko-KR" baseline="0" dirty="0"/>
              <a:t> </a:t>
            </a:r>
            <a:r>
              <a:rPr lang="en-US" altLang="ko-KR" baseline="0" dirty="0" err="1"/>
              <a:t>trước</a:t>
            </a:r>
            <a:r>
              <a:rPr lang="en-US" altLang="ko-KR" baseline="0" dirty="0"/>
              <a:t>?</a:t>
            </a:r>
          </a:p>
          <a:p>
            <a:pPr>
              <a:buFontTx/>
              <a:buChar char="•"/>
            </a:pPr>
            <a:r>
              <a:rPr lang="en-US" altLang="ko-KR" baseline="0" dirty="0" err="1"/>
              <a:t>Đầu</a:t>
            </a:r>
            <a:r>
              <a:rPr lang="en-US" altLang="ko-KR" baseline="0" dirty="0"/>
              <a:t> </a:t>
            </a:r>
            <a:r>
              <a:rPr lang="en-US" altLang="ko-KR" baseline="0" dirty="0" err="1"/>
              <a:t>vào</a:t>
            </a:r>
            <a:r>
              <a:rPr lang="en-US" altLang="ko-KR" baseline="0" dirty="0"/>
              <a:t> </a:t>
            </a:r>
            <a:r>
              <a:rPr lang="en-US" altLang="ko-KR" baseline="0" dirty="0" err="1"/>
              <a:t>của</a:t>
            </a:r>
            <a:r>
              <a:rPr lang="en-US" altLang="ko-KR" baseline="0" dirty="0"/>
              <a:t> </a:t>
            </a:r>
            <a:r>
              <a:rPr lang="en-US" altLang="ko-KR" baseline="0" dirty="0" err="1"/>
              <a:t>pareto</a:t>
            </a:r>
            <a:r>
              <a:rPr lang="en-US" altLang="ko-KR" baseline="0" dirty="0"/>
              <a:t>: </a:t>
            </a:r>
            <a:r>
              <a:rPr lang="en-US" altLang="ko-KR" baseline="0" dirty="0" err="1"/>
              <a:t>các</a:t>
            </a:r>
            <a:r>
              <a:rPr lang="en-US" altLang="ko-KR" baseline="0" dirty="0"/>
              <a:t> </a:t>
            </a:r>
            <a:r>
              <a:rPr lang="en-US" altLang="ko-KR" baseline="0" dirty="0" err="1"/>
              <a:t>loại</a:t>
            </a:r>
            <a:r>
              <a:rPr lang="en-US" altLang="ko-KR" baseline="0" dirty="0"/>
              <a:t> </a:t>
            </a:r>
            <a:r>
              <a:rPr lang="en-US" altLang="ko-KR" baseline="0" dirty="0" err="1"/>
              <a:t>lỗi</a:t>
            </a:r>
            <a:r>
              <a:rPr lang="en-US" altLang="ko-KR" baseline="0" dirty="0"/>
              <a:t> </a:t>
            </a:r>
            <a:r>
              <a:rPr lang="en-US" altLang="ko-KR" baseline="0" dirty="0" err="1"/>
              <a:t>xảy</a:t>
            </a:r>
            <a:r>
              <a:rPr lang="en-US" altLang="ko-KR" baseline="0" dirty="0"/>
              <a:t> </a:t>
            </a:r>
            <a:r>
              <a:rPr lang="en-US" altLang="ko-KR" baseline="0" dirty="0" err="1"/>
              <a:t>ra</a:t>
            </a:r>
            <a:r>
              <a:rPr lang="en-US" altLang="ko-KR" baseline="0" dirty="0"/>
              <a:t> </a:t>
            </a:r>
            <a:r>
              <a:rPr lang="en-US" altLang="ko-KR" baseline="0" dirty="0" err="1"/>
              <a:t>trên</a:t>
            </a:r>
            <a:r>
              <a:rPr lang="en-US" altLang="ko-KR" baseline="0" dirty="0"/>
              <a:t> </a:t>
            </a:r>
            <a:r>
              <a:rPr lang="en-US" altLang="ko-KR" baseline="0" dirty="0" err="1"/>
              <a:t>chuyền</a:t>
            </a:r>
            <a:endParaRPr lang="en-US" altLang="ko-KR" baseline="0" dirty="0"/>
          </a:p>
          <a:p>
            <a:pPr>
              <a:buFontTx/>
              <a:buChar char="•"/>
            </a:pPr>
            <a:r>
              <a:rPr lang="en-US" altLang="ko-KR" dirty="0"/>
              <a:t>Output:</a:t>
            </a:r>
            <a:r>
              <a:rPr lang="en-US" altLang="ko-KR" baseline="0" dirty="0"/>
              <a:t> </a:t>
            </a:r>
            <a:r>
              <a:rPr lang="en-US" altLang="ko-KR" baseline="0" dirty="0" err="1"/>
              <a:t>số</a:t>
            </a:r>
            <a:r>
              <a:rPr lang="en-US" altLang="ko-KR" baseline="0" dirty="0"/>
              <a:t> </a:t>
            </a:r>
            <a:r>
              <a:rPr lang="en-US" altLang="ko-KR" baseline="0" dirty="0" err="1"/>
              <a:t>lượng</a:t>
            </a:r>
            <a:r>
              <a:rPr lang="en-US" altLang="ko-KR" baseline="0" dirty="0"/>
              <a:t> </a:t>
            </a:r>
            <a:r>
              <a:rPr lang="en-US" altLang="ko-KR" baseline="0" dirty="0" err="1"/>
              <a:t>lỗi</a:t>
            </a:r>
            <a:r>
              <a:rPr lang="en-US" altLang="ko-KR" baseline="0" dirty="0"/>
              <a:t> (</a:t>
            </a:r>
            <a:r>
              <a:rPr lang="en-US" altLang="ko-KR" baseline="0" dirty="0" err="1"/>
              <a:t>số</a:t>
            </a:r>
            <a:r>
              <a:rPr lang="en-US" altLang="ko-KR" baseline="0" dirty="0"/>
              <a:t> </a:t>
            </a:r>
            <a:r>
              <a:rPr lang="en-US" altLang="ko-KR" baseline="0" dirty="0" err="1"/>
              <a:t>sp</a:t>
            </a:r>
            <a:r>
              <a:rPr lang="en-US" altLang="ko-KR" baseline="0" dirty="0"/>
              <a:t> </a:t>
            </a:r>
            <a:r>
              <a:rPr lang="en-US" altLang="ko-KR" baseline="0" dirty="0" err="1"/>
              <a:t>lỗi</a:t>
            </a:r>
            <a:r>
              <a:rPr lang="en-US" altLang="ko-KR" baseline="0" dirty="0"/>
              <a:t>)</a:t>
            </a:r>
          </a:p>
          <a:p>
            <a:pPr>
              <a:buFontTx/>
              <a:buChar char="•"/>
            </a:pPr>
            <a:r>
              <a:rPr lang="en-US" altLang="ko-KR" baseline="0" dirty="0"/>
              <a:t>VD: </a:t>
            </a:r>
            <a:r>
              <a:rPr lang="en-US" altLang="ko-KR" baseline="0" dirty="0" err="1"/>
              <a:t>xước</a:t>
            </a:r>
            <a:r>
              <a:rPr lang="en-US" altLang="ko-KR" baseline="0" dirty="0"/>
              <a:t>: 700ea</a:t>
            </a:r>
          </a:p>
          <a:p>
            <a:pPr>
              <a:buFontTx/>
              <a:buChar char="•"/>
            </a:pPr>
            <a:r>
              <a:rPr lang="en-US" altLang="ko-KR" baseline="0" dirty="0"/>
              <a:t>     function: 200ea</a:t>
            </a:r>
          </a:p>
          <a:p>
            <a:pPr>
              <a:buFontTx/>
              <a:buChar char="•"/>
            </a:pPr>
            <a:r>
              <a:rPr lang="en-US" altLang="ko-KR" baseline="0" dirty="0"/>
              <a:t>     other: 100ea</a:t>
            </a:r>
          </a:p>
          <a:p>
            <a:pPr>
              <a:buFontTx/>
              <a:buChar char="•"/>
            </a:pPr>
            <a:r>
              <a:rPr lang="en-US" altLang="ko-KR" baseline="0" dirty="0">
                <a:sym typeface="Wingdings" panose="05000000000000000000" pitchFamily="2" charset="2"/>
              </a:rPr>
              <a:t></a:t>
            </a:r>
            <a:r>
              <a:rPr lang="en-US" altLang="ko-KR" baseline="0" dirty="0" err="1">
                <a:sym typeface="Wingdings" panose="05000000000000000000" pitchFamily="2" charset="2"/>
              </a:rPr>
              <a:t>chọn</a:t>
            </a:r>
            <a:r>
              <a:rPr lang="en-US" altLang="ko-KR" baseline="0" dirty="0">
                <a:sym typeface="Wingdings" panose="05000000000000000000" pitchFamily="2" charset="2"/>
              </a:rPr>
              <a:t> </a:t>
            </a:r>
            <a:r>
              <a:rPr lang="en-US" altLang="ko-KR" baseline="0" dirty="0" err="1">
                <a:sym typeface="Wingdings" panose="05000000000000000000" pitchFamily="2" charset="2"/>
              </a:rPr>
              <a:t>xước</a:t>
            </a:r>
            <a:r>
              <a:rPr lang="en-US" altLang="ko-KR" baseline="0" dirty="0">
                <a:sym typeface="Wingdings" panose="05000000000000000000" pitchFamily="2" charset="2"/>
              </a:rPr>
              <a:t> </a:t>
            </a:r>
            <a:r>
              <a:rPr lang="en-US" altLang="ko-KR" baseline="0" dirty="0" err="1">
                <a:sym typeface="Wingdings" panose="05000000000000000000" pitchFamily="2" charset="2"/>
              </a:rPr>
              <a:t>vì</a:t>
            </a:r>
            <a:r>
              <a:rPr lang="en-US" altLang="ko-KR" baseline="0" dirty="0">
                <a:sym typeface="Wingdings" panose="05000000000000000000" pitchFamily="2" charset="2"/>
              </a:rPr>
              <a:t> </a:t>
            </a:r>
            <a:r>
              <a:rPr lang="en-US" altLang="ko-KR" baseline="0" dirty="0" err="1">
                <a:sym typeface="Wingdings" panose="05000000000000000000" pitchFamily="2" charset="2"/>
              </a:rPr>
              <a:t>nó</a:t>
            </a:r>
            <a:r>
              <a:rPr lang="en-US" altLang="ko-KR" baseline="0" dirty="0">
                <a:sym typeface="Wingdings" panose="05000000000000000000" pitchFamily="2" charset="2"/>
              </a:rPr>
              <a:t> </a:t>
            </a:r>
            <a:r>
              <a:rPr lang="en-US" altLang="ko-KR" baseline="0" dirty="0" err="1">
                <a:sym typeface="Wingdings" panose="05000000000000000000" pitchFamily="2" charset="2"/>
              </a:rPr>
              <a:t>chiếm</a:t>
            </a:r>
            <a:r>
              <a:rPr lang="en-US" altLang="ko-KR" baseline="0" dirty="0">
                <a:sym typeface="Wingdings" panose="05000000000000000000" pitchFamily="2" charset="2"/>
              </a:rPr>
              <a:t> </a:t>
            </a:r>
            <a:r>
              <a:rPr lang="en-US" altLang="ko-KR" baseline="0" dirty="0" err="1">
                <a:sym typeface="Wingdings" panose="05000000000000000000" pitchFamily="2" charset="2"/>
              </a:rPr>
              <a:t>đến</a:t>
            </a:r>
            <a:r>
              <a:rPr lang="en-US" altLang="ko-KR" baseline="0" dirty="0">
                <a:sym typeface="Wingdings" panose="05000000000000000000" pitchFamily="2" charset="2"/>
              </a:rPr>
              <a:t> 70% output</a:t>
            </a:r>
          </a:p>
          <a:p>
            <a:pPr>
              <a:buFontTx/>
              <a:buChar char="•"/>
            </a:pPr>
            <a:r>
              <a:rPr lang="en-US" altLang="ko-KR" baseline="0" dirty="0" err="1">
                <a:sym typeface="Wingdings" panose="05000000000000000000" pitchFamily="2" charset="2"/>
              </a:rPr>
              <a:t>Vậy</a:t>
            </a:r>
            <a:r>
              <a:rPr lang="en-US" altLang="ko-KR" baseline="0" dirty="0">
                <a:sym typeface="Wingdings" panose="05000000000000000000" pitchFamily="2" charset="2"/>
              </a:rPr>
              <a:t> </a:t>
            </a:r>
            <a:r>
              <a:rPr lang="en-US" altLang="ko-KR" baseline="0" dirty="0" err="1">
                <a:sym typeface="Wingdings" panose="05000000000000000000" pitchFamily="2" charset="2"/>
              </a:rPr>
              <a:t>cải</a:t>
            </a:r>
            <a:r>
              <a:rPr lang="en-US" altLang="ko-KR" baseline="0" dirty="0">
                <a:sym typeface="Wingdings" panose="05000000000000000000" pitchFamily="2" charset="2"/>
              </a:rPr>
              <a:t> </a:t>
            </a:r>
            <a:r>
              <a:rPr lang="en-US" altLang="ko-KR" baseline="0" dirty="0" err="1">
                <a:sym typeface="Wingdings" panose="05000000000000000000" pitchFamily="2" charset="2"/>
              </a:rPr>
              <a:t>tiến</a:t>
            </a:r>
            <a:r>
              <a:rPr lang="en-US" altLang="ko-KR" baseline="0" dirty="0">
                <a:sym typeface="Wingdings" panose="05000000000000000000" pitchFamily="2" charset="2"/>
              </a:rPr>
              <a:t> </a:t>
            </a:r>
            <a:r>
              <a:rPr lang="en-US" altLang="ko-KR" baseline="0" dirty="0" err="1">
                <a:sym typeface="Wingdings" panose="05000000000000000000" pitchFamily="2" charset="2"/>
              </a:rPr>
              <a:t>là</a:t>
            </a:r>
            <a:r>
              <a:rPr lang="en-US" altLang="ko-KR" baseline="0" dirty="0">
                <a:sym typeface="Wingdings" panose="05000000000000000000" pitchFamily="2" charset="2"/>
              </a:rPr>
              <a:t> </a:t>
            </a:r>
            <a:r>
              <a:rPr lang="en-US" altLang="ko-KR" baseline="0" dirty="0" err="1">
                <a:sym typeface="Wingdings" panose="05000000000000000000" pitchFamily="2" charset="2"/>
              </a:rPr>
              <a:t>cải</a:t>
            </a:r>
            <a:r>
              <a:rPr lang="en-US" altLang="ko-KR" baseline="0" dirty="0">
                <a:sym typeface="Wingdings" panose="05000000000000000000" pitchFamily="2" charset="2"/>
              </a:rPr>
              <a:t> </a:t>
            </a:r>
            <a:r>
              <a:rPr lang="en-US" altLang="ko-KR" baseline="0" dirty="0" err="1">
                <a:sym typeface="Wingdings" panose="05000000000000000000" pitchFamily="2" charset="2"/>
              </a:rPr>
              <a:t>tiến</a:t>
            </a:r>
            <a:r>
              <a:rPr lang="en-US" altLang="ko-KR" baseline="0" dirty="0">
                <a:sym typeface="Wingdings" panose="05000000000000000000" pitchFamily="2" charset="2"/>
              </a:rPr>
              <a:t> </a:t>
            </a:r>
            <a:r>
              <a:rPr lang="en-US" altLang="ko-KR" baseline="0" dirty="0" err="1">
                <a:sym typeface="Wingdings" panose="05000000000000000000" pitchFamily="2" charset="2"/>
              </a:rPr>
              <a:t>số</a:t>
            </a:r>
            <a:r>
              <a:rPr lang="en-US" altLang="ko-KR" baseline="0" dirty="0">
                <a:sym typeface="Wingdings" panose="05000000000000000000" pitchFamily="2" charset="2"/>
              </a:rPr>
              <a:t> </a:t>
            </a:r>
            <a:r>
              <a:rPr lang="en-US" altLang="ko-KR" baseline="0" dirty="0" err="1">
                <a:sym typeface="Wingdings" panose="05000000000000000000" pitchFamily="2" charset="2"/>
              </a:rPr>
              <a:t>ít</a:t>
            </a:r>
            <a:r>
              <a:rPr lang="en-US" altLang="ko-KR" baseline="0" dirty="0">
                <a:sym typeface="Wingdings" panose="05000000000000000000" pitchFamily="2" charset="2"/>
              </a:rPr>
              <a:t> </a:t>
            </a:r>
            <a:r>
              <a:rPr lang="en-US" altLang="ko-KR" baseline="0" dirty="0" err="1">
                <a:sym typeface="Wingdings" panose="05000000000000000000" pitchFamily="2" charset="2"/>
              </a:rPr>
              <a:t>trọng</a:t>
            </a:r>
            <a:r>
              <a:rPr lang="en-US" altLang="ko-KR" baseline="0" dirty="0">
                <a:sym typeface="Wingdings" panose="05000000000000000000" pitchFamily="2" charset="2"/>
              </a:rPr>
              <a:t> </a:t>
            </a:r>
            <a:r>
              <a:rPr lang="en-US" altLang="ko-KR" baseline="0" dirty="0" err="1">
                <a:sym typeface="Wingdings" panose="05000000000000000000" pitchFamily="2" charset="2"/>
              </a:rPr>
              <a:t>yếu</a:t>
            </a:r>
            <a:r>
              <a:rPr lang="en-US" altLang="ko-KR" baseline="0" dirty="0">
                <a:sym typeface="Wingdings" panose="05000000000000000000" pitchFamily="2" charset="2"/>
              </a:rPr>
              <a:t> </a:t>
            </a:r>
            <a:r>
              <a:rPr lang="en-US" altLang="ko-KR" baseline="0" dirty="0" err="1">
                <a:sym typeface="Wingdings" panose="05000000000000000000" pitchFamily="2" charset="2"/>
              </a:rPr>
              <a:t>trước</a:t>
            </a:r>
            <a:r>
              <a:rPr lang="en-US" altLang="ko-KR" baseline="0" dirty="0">
                <a:sym typeface="Wingdings" panose="05000000000000000000" pitchFamily="2" charset="2"/>
              </a:rPr>
              <a:t> </a:t>
            </a:r>
            <a:r>
              <a:rPr lang="en-US" altLang="ko-KR" baseline="0" dirty="0" err="1">
                <a:sym typeface="Wingdings" panose="05000000000000000000" pitchFamily="2" charset="2"/>
              </a:rPr>
              <a:t>vì</a:t>
            </a:r>
            <a:r>
              <a:rPr lang="en-US" altLang="ko-KR" baseline="0" dirty="0">
                <a:sym typeface="Wingdings" panose="05000000000000000000" pitchFamily="2" charset="2"/>
              </a:rPr>
              <a:t> </a:t>
            </a:r>
            <a:r>
              <a:rPr lang="en-US" altLang="ko-KR" baseline="0" dirty="0" err="1">
                <a:sym typeface="Wingdings" panose="05000000000000000000" pitchFamily="2" charset="2"/>
              </a:rPr>
              <a:t>nó</a:t>
            </a:r>
            <a:r>
              <a:rPr lang="en-US" altLang="ko-KR" baseline="0" dirty="0">
                <a:sym typeface="Wingdings" panose="05000000000000000000" pitchFamily="2" charset="2"/>
              </a:rPr>
              <a:t> </a:t>
            </a:r>
            <a:r>
              <a:rPr lang="en-US" altLang="ko-KR" baseline="0" dirty="0" err="1">
                <a:sym typeface="Wingdings" panose="05000000000000000000" pitchFamily="2" charset="2"/>
              </a:rPr>
              <a:t>sẽ</a:t>
            </a:r>
            <a:r>
              <a:rPr lang="en-US" altLang="ko-KR" baseline="0" dirty="0">
                <a:sym typeface="Wingdings" panose="05000000000000000000" pitchFamily="2" charset="2"/>
              </a:rPr>
              <a:t> </a:t>
            </a:r>
            <a:r>
              <a:rPr lang="en-US" altLang="ko-KR" baseline="0" dirty="0" err="1">
                <a:sym typeface="Wingdings" panose="05000000000000000000" pitchFamily="2" charset="2"/>
              </a:rPr>
              <a:t>giúp</a:t>
            </a:r>
            <a:r>
              <a:rPr lang="en-US" altLang="ko-KR" baseline="0" dirty="0">
                <a:sym typeface="Wingdings" panose="05000000000000000000" pitchFamily="2" charset="2"/>
              </a:rPr>
              <a:t> </a:t>
            </a:r>
            <a:r>
              <a:rPr lang="en-US" altLang="ko-KR" baseline="0" dirty="0" err="1">
                <a:sym typeface="Wingdings" panose="05000000000000000000" pitchFamily="2" charset="2"/>
              </a:rPr>
              <a:t>đạt</a:t>
            </a:r>
            <a:r>
              <a:rPr lang="en-US" altLang="ko-KR" baseline="0" dirty="0">
                <a:sym typeface="Wingdings" panose="05000000000000000000" pitchFamily="2" charset="2"/>
              </a:rPr>
              <a:t> </a:t>
            </a:r>
            <a:r>
              <a:rPr lang="en-US" altLang="ko-KR" baseline="0" dirty="0" err="1">
                <a:sym typeface="Wingdings" panose="05000000000000000000" pitchFamily="2" charset="2"/>
              </a:rPr>
              <a:t>đc</a:t>
            </a:r>
            <a:r>
              <a:rPr lang="en-US" altLang="ko-KR" baseline="0" dirty="0">
                <a:sym typeface="Wingdings" panose="05000000000000000000" pitchFamily="2" charset="2"/>
              </a:rPr>
              <a:t> </a:t>
            </a:r>
            <a:r>
              <a:rPr lang="en-US" altLang="ko-KR" baseline="0" dirty="0" err="1">
                <a:sym typeface="Wingdings" panose="05000000000000000000" pitchFamily="2" charset="2"/>
              </a:rPr>
              <a:t>hiệu</a:t>
            </a:r>
            <a:r>
              <a:rPr lang="en-US" altLang="ko-KR" baseline="0" dirty="0">
                <a:sym typeface="Wingdings" panose="05000000000000000000" pitchFamily="2" charset="2"/>
              </a:rPr>
              <a:t> </a:t>
            </a:r>
            <a:r>
              <a:rPr lang="en-US" altLang="ko-KR" baseline="0" dirty="0" err="1">
                <a:sym typeface="Wingdings" panose="05000000000000000000" pitchFamily="2" charset="2"/>
              </a:rPr>
              <a:t>quả</a:t>
            </a:r>
            <a:r>
              <a:rPr lang="en-US" altLang="ko-KR" baseline="0" dirty="0">
                <a:sym typeface="Wingdings" panose="05000000000000000000" pitchFamily="2" charset="2"/>
              </a:rPr>
              <a:t> </a:t>
            </a:r>
            <a:r>
              <a:rPr lang="en-US" altLang="ko-KR" baseline="0" dirty="0" err="1">
                <a:sym typeface="Wingdings" panose="05000000000000000000" pitchFamily="2" charset="2"/>
              </a:rPr>
              <a:t>cao</a:t>
            </a:r>
            <a:r>
              <a:rPr lang="en-US" altLang="ko-KR" baseline="0" dirty="0">
                <a:sym typeface="Wingdings" panose="05000000000000000000" pitchFamily="2" charset="2"/>
              </a:rPr>
              <a:t> </a:t>
            </a:r>
            <a:r>
              <a:rPr lang="en-US" altLang="ko-KR" baseline="0" dirty="0" err="1">
                <a:sym typeface="Wingdings" panose="05000000000000000000" pitchFamily="2" charset="2"/>
              </a:rPr>
              <a:t>nhất</a:t>
            </a:r>
            <a:endParaRPr lang="ko-KR" altLang="en-US" dirty="0"/>
          </a:p>
          <a:p>
            <a:endParaRPr lang="ko-KR" altLang="en-US" dirty="0"/>
          </a:p>
        </p:txBody>
      </p:sp>
      <p:sp>
        <p:nvSpPr>
          <p:cNvPr id="4" name="슬라이드 번호 개체 틀 3"/>
          <p:cNvSpPr>
            <a:spLocks noGrp="1"/>
          </p:cNvSpPr>
          <p:nvPr>
            <p:ph type="sldNum" sz="quarter" idx="5"/>
          </p:nvPr>
        </p:nvSpPr>
        <p:spPr/>
        <p:txBody>
          <a:bodyPr/>
          <a:lstStyle/>
          <a:p>
            <a:pPr>
              <a:defRPr/>
            </a:pPr>
            <a:fld id="{F285880C-5B3E-4D69-872E-92D56055033C}" type="slidenum">
              <a:rPr lang="ko-KR" altLang="en-US" smtClean="0"/>
              <a:pPr>
                <a:defRPr/>
              </a:pPr>
              <a:t>15</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04828446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ko-KR" dirty="0"/>
              <a:t>VOC ??? SCV ??? ILO ???</a:t>
            </a:r>
          </a:p>
          <a:p>
            <a:r>
              <a:rPr lang="en-US" altLang="ko-KR" dirty="0"/>
              <a:t>Ở</a:t>
            </a:r>
            <a:r>
              <a:rPr lang="en-US" altLang="ko-KR" baseline="0" dirty="0"/>
              <a:t> </a:t>
            </a:r>
            <a:r>
              <a:rPr lang="en-US" altLang="ko-KR" baseline="0" dirty="0" err="1"/>
              <a:t>đây</a:t>
            </a:r>
            <a:r>
              <a:rPr lang="en-US" altLang="ko-KR" baseline="0" dirty="0"/>
              <a:t> </a:t>
            </a:r>
            <a:r>
              <a:rPr lang="en-US" altLang="ko-KR" baseline="0" dirty="0" err="1"/>
              <a:t>có</a:t>
            </a:r>
            <a:r>
              <a:rPr lang="en-US" altLang="ko-KR" baseline="0" dirty="0"/>
              <a:t> rat </a:t>
            </a:r>
            <a:r>
              <a:rPr lang="en-US" altLang="ko-KR" baseline="0" dirty="0" err="1"/>
              <a:t>nhiều</a:t>
            </a:r>
            <a:r>
              <a:rPr lang="en-US" altLang="ko-KR" baseline="0" dirty="0"/>
              <a:t> dung </a:t>
            </a:r>
            <a:r>
              <a:rPr lang="en-US" altLang="ko-KR" baseline="0" dirty="0" err="1"/>
              <a:t>sai</a:t>
            </a:r>
            <a:r>
              <a:rPr lang="en-US" altLang="ko-KR" baseline="0" dirty="0"/>
              <a:t>, </a:t>
            </a:r>
            <a:r>
              <a:rPr lang="en-US" altLang="ko-KR" baseline="0" dirty="0" err="1"/>
              <a:t>mn</a:t>
            </a:r>
            <a:r>
              <a:rPr lang="en-US" altLang="ko-KR" baseline="0" dirty="0"/>
              <a:t> </a:t>
            </a:r>
            <a:r>
              <a:rPr lang="en-US" altLang="ko-KR" baseline="0" dirty="0" err="1"/>
              <a:t>thây</a:t>
            </a:r>
            <a:r>
              <a:rPr lang="en-US" altLang="ko-KR" baseline="0" dirty="0"/>
              <a:t> </a:t>
            </a:r>
            <a:r>
              <a:rPr lang="en-US" altLang="ko-KR" baseline="0" dirty="0" err="1"/>
              <a:t>quen</a:t>
            </a:r>
            <a:r>
              <a:rPr lang="en-US" altLang="ko-KR" baseline="0" dirty="0"/>
              <a:t> </a:t>
            </a:r>
            <a:r>
              <a:rPr lang="en-US" altLang="ko-KR" baseline="0" dirty="0" err="1"/>
              <a:t>thuôc</a:t>
            </a:r>
            <a:r>
              <a:rPr lang="en-US" altLang="ko-KR" baseline="0" dirty="0"/>
              <a:t> </a:t>
            </a:r>
            <a:r>
              <a:rPr lang="en-US" altLang="ko-KR" baseline="0" dirty="0" err="1"/>
              <a:t>nhât</a:t>
            </a:r>
            <a:r>
              <a:rPr lang="en-US" altLang="ko-KR" baseline="0" dirty="0"/>
              <a:t> vs dung </a:t>
            </a:r>
            <a:r>
              <a:rPr lang="en-US" altLang="ko-KR" baseline="0" dirty="0" err="1"/>
              <a:t>sai</a:t>
            </a:r>
            <a:r>
              <a:rPr lang="en-US" altLang="ko-KR" baseline="0" dirty="0"/>
              <a:t> </a:t>
            </a:r>
            <a:r>
              <a:rPr lang="en-US" altLang="ko-KR" baseline="0" dirty="0" err="1"/>
              <a:t>nào</a:t>
            </a:r>
            <a:r>
              <a:rPr lang="en-US" altLang="ko-KR" baseline="0" dirty="0"/>
              <a:t>?</a:t>
            </a:r>
          </a:p>
          <a:p>
            <a:r>
              <a:rPr lang="en-US" altLang="ko-KR" baseline="0" dirty="0"/>
              <a:t>LSL: lower specification limit</a:t>
            </a:r>
          </a:p>
          <a:p>
            <a:r>
              <a:rPr lang="en-US" altLang="ko-KR" baseline="0" dirty="0"/>
              <a:t>USL: upper------------</a:t>
            </a:r>
          </a:p>
          <a:p>
            <a:r>
              <a:rPr lang="en-US" altLang="ko-KR" baseline="0" dirty="0" err="1"/>
              <a:t>Tác</a:t>
            </a:r>
            <a:r>
              <a:rPr lang="en-US" altLang="ko-KR" baseline="0" dirty="0"/>
              <a:t> </a:t>
            </a:r>
            <a:r>
              <a:rPr lang="en-US" altLang="ko-KR" baseline="0" dirty="0" err="1"/>
              <a:t>dụng</a:t>
            </a:r>
            <a:r>
              <a:rPr lang="en-US" altLang="ko-KR" baseline="0" dirty="0"/>
              <a:t> </a:t>
            </a:r>
            <a:r>
              <a:rPr lang="en-US" altLang="ko-KR" baseline="0" dirty="0" err="1"/>
              <a:t>chinh</a:t>
            </a:r>
            <a:r>
              <a:rPr lang="en-US" altLang="ko-KR" baseline="0" dirty="0"/>
              <a:t> </a:t>
            </a:r>
            <a:r>
              <a:rPr lang="en-US" altLang="ko-KR" baseline="0" dirty="0" err="1"/>
              <a:t>là</a:t>
            </a:r>
            <a:r>
              <a:rPr lang="en-US" altLang="ko-KR" baseline="0" dirty="0"/>
              <a:t> </a:t>
            </a:r>
            <a:r>
              <a:rPr lang="en-US" altLang="ko-KR" baseline="0" dirty="0" err="1"/>
              <a:t>gi</a:t>
            </a:r>
            <a:r>
              <a:rPr lang="en-US" altLang="ko-KR" baseline="0" dirty="0"/>
              <a:t>? </a:t>
            </a:r>
            <a:r>
              <a:rPr lang="en-US" altLang="ko-KR" baseline="0" dirty="0">
                <a:sym typeface="Wingdings" panose="05000000000000000000" pitchFamily="2" charset="2"/>
              </a:rPr>
              <a:t> </a:t>
            </a:r>
            <a:r>
              <a:rPr lang="en-US" altLang="ko-KR" baseline="0" dirty="0" err="1">
                <a:sym typeface="Wingdings" panose="05000000000000000000" pitchFamily="2" charset="2"/>
              </a:rPr>
              <a:t>để</a:t>
            </a:r>
            <a:r>
              <a:rPr lang="en-US" altLang="ko-KR" baseline="0" dirty="0">
                <a:sym typeface="Wingdings" panose="05000000000000000000" pitchFamily="2" charset="2"/>
              </a:rPr>
              <a:t> </a:t>
            </a:r>
            <a:r>
              <a:rPr lang="en-US" altLang="ko-KR" baseline="0" dirty="0" err="1">
                <a:sym typeface="Wingdings" panose="05000000000000000000" pitchFamily="2" charset="2"/>
              </a:rPr>
              <a:t>kiêm</a:t>
            </a:r>
            <a:r>
              <a:rPr lang="en-US" altLang="ko-KR" baseline="0" dirty="0">
                <a:sym typeface="Wingdings" panose="05000000000000000000" pitchFamily="2" charset="2"/>
              </a:rPr>
              <a:t> </a:t>
            </a:r>
            <a:r>
              <a:rPr lang="en-US" altLang="ko-KR" baseline="0" dirty="0" err="1">
                <a:sym typeface="Wingdings" panose="05000000000000000000" pitchFamily="2" charset="2"/>
              </a:rPr>
              <a:t>soát</a:t>
            </a:r>
            <a:r>
              <a:rPr lang="en-US" altLang="ko-KR" baseline="0" dirty="0">
                <a:sym typeface="Wingdings" panose="05000000000000000000" pitchFamily="2" charset="2"/>
              </a:rPr>
              <a:t> </a:t>
            </a:r>
            <a:r>
              <a:rPr lang="en-US" altLang="ko-KR" baseline="0" dirty="0" err="1">
                <a:sym typeface="Wingdings" panose="05000000000000000000" pitchFamily="2" charset="2"/>
              </a:rPr>
              <a:t>sp</a:t>
            </a:r>
            <a:r>
              <a:rPr lang="en-US" altLang="ko-KR" baseline="0" dirty="0">
                <a:sym typeface="Wingdings" panose="05000000000000000000" pitchFamily="2" charset="2"/>
              </a:rPr>
              <a:t> </a:t>
            </a:r>
            <a:r>
              <a:rPr lang="en-US" altLang="ko-KR" baseline="0" dirty="0" err="1">
                <a:sym typeface="Wingdings" panose="05000000000000000000" pitchFamily="2" charset="2"/>
              </a:rPr>
              <a:t>đầu</a:t>
            </a:r>
            <a:r>
              <a:rPr lang="en-US" altLang="ko-KR" baseline="0" dirty="0">
                <a:sym typeface="Wingdings" panose="05000000000000000000" pitchFamily="2" charset="2"/>
              </a:rPr>
              <a:t> </a:t>
            </a:r>
            <a:r>
              <a:rPr lang="en-US" altLang="ko-KR" baseline="0" dirty="0" err="1">
                <a:sym typeface="Wingdings" panose="05000000000000000000" pitchFamily="2" charset="2"/>
              </a:rPr>
              <a:t>ra</a:t>
            </a:r>
            <a:r>
              <a:rPr lang="en-US" altLang="ko-KR" baseline="0" dirty="0">
                <a:sym typeface="Wingdings" panose="05000000000000000000" pitchFamily="2" charset="2"/>
              </a:rPr>
              <a:t> </a:t>
            </a:r>
            <a:r>
              <a:rPr lang="en-US" altLang="ko-KR" baseline="0" dirty="0" err="1">
                <a:sym typeface="Wingdings" panose="05000000000000000000" pitchFamily="2" charset="2"/>
              </a:rPr>
              <a:t>xem</a:t>
            </a:r>
            <a:r>
              <a:rPr lang="en-US" altLang="ko-KR" baseline="0" dirty="0">
                <a:sym typeface="Wingdings" panose="05000000000000000000" pitchFamily="2" charset="2"/>
              </a:rPr>
              <a:t> </a:t>
            </a:r>
            <a:r>
              <a:rPr lang="en-US" altLang="ko-KR" baseline="0" dirty="0" err="1">
                <a:sym typeface="Wingdings" panose="05000000000000000000" pitchFamily="2" charset="2"/>
              </a:rPr>
              <a:t>có</a:t>
            </a:r>
            <a:r>
              <a:rPr lang="en-US" altLang="ko-KR" baseline="0" dirty="0">
                <a:sym typeface="Wingdings" panose="05000000000000000000" pitchFamily="2" charset="2"/>
              </a:rPr>
              <a:t> </a:t>
            </a:r>
            <a:r>
              <a:rPr lang="en-US" altLang="ko-KR" baseline="0" dirty="0" err="1">
                <a:sym typeface="Wingdings" panose="05000000000000000000" pitchFamily="2" charset="2"/>
              </a:rPr>
              <a:t>sai</a:t>
            </a:r>
            <a:r>
              <a:rPr lang="en-US" altLang="ko-KR" baseline="0" dirty="0">
                <a:sym typeface="Wingdings" panose="05000000000000000000" pitchFamily="2" charset="2"/>
              </a:rPr>
              <a:t> </a:t>
            </a:r>
            <a:r>
              <a:rPr lang="en-US" altLang="ko-KR" baseline="0" dirty="0" err="1">
                <a:sym typeface="Wingdings" panose="05000000000000000000" pitchFamily="2" charset="2"/>
              </a:rPr>
              <a:t>hỏng</a:t>
            </a:r>
            <a:r>
              <a:rPr lang="en-US" altLang="ko-KR" baseline="0" dirty="0">
                <a:sym typeface="Wingdings" panose="05000000000000000000" pitchFamily="2" charset="2"/>
              </a:rPr>
              <a:t> hay </a:t>
            </a:r>
            <a:r>
              <a:rPr lang="en-US" altLang="ko-KR" baseline="0" dirty="0" err="1">
                <a:sym typeface="Wingdings" panose="05000000000000000000" pitchFamily="2" charset="2"/>
              </a:rPr>
              <a:t>ko</a:t>
            </a:r>
            <a:r>
              <a:rPr lang="en-US" altLang="ko-KR" baseline="0" dirty="0">
                <a:sym typeface="Wingdings" panose="05000000000000000000" pitchFamily="2" charset="2"/>
              </a:rPr>
              <a:t>, </a:t>
            </a:r>
            <a:r>
              <a:rPr lang="en-US" altLang="ko-KR" baseline="0" dirty="0" err="1">
                <a:sym typeface="Wingdings" panose="05000000000000000000" pitchFamily="2" charset="2"/>
              </a:rPr>
              <a:t>để</a:t>
            </a:r>
            <a:r>
              <a:rPr lang="en-US" altLang="ko-KR" baseline="0" dirty="0">
                <a:sym typeface="Wingdings" panose="05000000000000000000" pitchFamily="2" charset="2"/>
              </a:rPr>
              <a:t> </a:t>
            </a:r>
            <a:r>
              <a:rPr lang="en-US" altLang="ko-KR" baseline="0" dirty="0" err="1">
                <a:sym typeface="Wingdings" panose="05000000000000000000" pitchFamily="2" charset="2"/>
              </a:rPr>
              <a:t>đánh</a:t>
            </a:r>
            <a:r>
              <a:rPr lang="en-US" altLang="ko-KR" baseline="0" dirty="0">
                <a:sym typeface="Wingdings" panose="05000000000000000000" pitchFamily="2" charset="2"/>
              </a:rPr>
              <a:t> </a:t>
            </a:r>
            <a:r>
              <a:rPr lang="en-US" altLang="ko-KR" baseline="0" dirty="0" err="1">
                <a:sym typeface="Wingdings" panose="05000000000000000000" pitchFamily="2" charset="2"/>
              </a:rPr>
              <a:t>giá</a:t>
            </a:r>
            <a:r>
              <a:rPr lang="en-US" altLang="ko-KR" baseline="0" dirty="0">
                <a:sym typeface="Wingdings" panose="05000000000000000000" pitchFamily="2" charset="2"/>
              </a:rPr>
              <a:t> pass/fail </a:t>
            </a:r>
            <a:r>
              <a:rPr lang="en-US" altLang="ko-KR" baseline="0" dirty="0" err="1">
                <a:sym typeface="Wingdings" panose="05000000000000000000" pitchFamily="2" charset="2"/>
              </a:rPr>
              <a:t>của</a:t>
            </a:r>
            <a:r>
              <a:rPr lang="en-US" altLang="ko-KR" baseline="0" dirty="0">
                <a:sym typeface="Wingdings" panose="05000000000000000000" pitchFamily="2" charset="2"/>
              </a:rPr>
              <a:t> </a:t>
            </a:r>
            <a:r>
              <a:rPr lang="en-US" altLang="ko-KR" baseline="0" dirty="0" err="1">
                <a:sym typeface="Wingdings" panose="05000000000000000000" pitchFamily="2" charset="2"/>
              </a:rPr>
              <a:t>sp</a:t>
            </a:r>
            <a:endParaRPr lang="en-US" altLang="ko-KR" baseline="0" dirty="0">
              <a:sym typeface="Wingdings" panose="05000000000000000000" pitchFamily="2" charset="2"/>
            </a:endParaRPr>
          </a:p>
          <a:p>
            <a:endParaRPr lang="en-US" altLang="ko-KR" baseline="0" dirty="0">
              <a:sym typeface="Wingdings" panose="05000000000000000000" pitchFamily="2" charset="2"/>
            </a:endParaRPr>
          </a:p>
          <a:p>
            <a:r>
              <a:rPr lang="en-US" altLang="ko-KR" baseline="0" dirty="0" err="1">
                <a:sym typeface="Wingdings" panose="05000000000000000000" pitchFamily="2" charset="2"/>
              </a:rPr>
              <a:t>Ngoài</a:t>
            </a:r>
            <a:r>
              <a:rPr lang="en-US" altLang="ko-KR" baseline="0" dirty="0">
                <a:sym typeface="Wingdings" panose="05000000000000000000" pitchFamily="2" charset="2"/>
              </a:rPr>
              <a:t> </a:t>
            </a:r>
            <a:r>
              <a:rPr lang="en-US" altLang="ko-KR" baseline="0" dirty="0" err="1">
                <a:sym typeface="Wingdings" panose="05000000000000000000" pitchFamily="2" charset="2"/>
              </a:rPr>
              <a:t>ra</a:t>
            </a:r>
            <a:r>
              <a:rPr lang="en-US" altLang="ko-KR" baseline="0" dirty="0">
                <a:sym typeface="Wingdings" panose="05000000000000000000" pitchFamily="2" charset="2"/>
              </a:rPr>
              <a:t> </a:t>
            </a:r>
            <a:r>
              <a:rPr lang="en-US" altLang="ko-KR" baseline="0" dirty="0" err="1">
                <a:sym typeface="Wingdings" panose="05000000000000000000" pitchFamily="2" charset="2"/>
              </a:rPr>
              <a:t>có</a:t>
            </a:r>
            <a:r>
              <a:rPr lang="en-US" altLang="ko-KR" baseline="0" dirty="0">
                <a:sym typeface="Wingdings" panose="05000000000000000000" pitchFamily="2" charset="2"/>
              </a:rPr>
              <a:t> </a:t>
            </a:r>
            <a:r>
              <a:rPr lang="en-US" altLang="ko-KR" baseline="0" dirty="0" err="1">
                <a:sym typeface="Wingdings" panose="05000000000000000000" pitchFamily="2" charset="2"/>
              </a:rPr>
              <a:t>đương</a:t>
            </a:r>
            <a:r>
              <a:rPr lang="en-US" altLang="ko-KR" baseline="0" dirty="0">
                <a:sym typeface="Wingdings" panose="05000000000000000000" pitchFamily="2" charset="2"/>
              </a:rPr>
              <a:t> </a:t>
            </a:r>
            <a:r>
              <a:rPr lang="en-US" altLang="ko-KR" baseline="0" dirty="0" err="1">
                <a:sym typeface="Wingdings" panose="05000000000000000000" pitchFamily="2" charset="2"/>
              </a:rPr>
              <a:t>màu</a:t>
            </a:r>
            <a:r>
              <a:rPr lang="en-US" altLang="ko-KR" baseline="0" dirty="0">
                <a:sym typeface="Wingdings" panose="05000000000000000000" pitchFamily="2" charset="2"/>
              </a:rPr>
              <a:t> </a:t>
            </a:r>
            <a:r>
              <a:rPr lang="en-US" altLang="ko-KR" baseline="0" dirty="0" err="1">
                <a:sym typeface="Wingdings" panose="05000000000000000000" pitchFamily="2" charset="2"/>
              </a:rPr>
              <a:t>đỏ</a:t>
            </a:r>
            <a:r>
              <a:rPr lang="en-US" altLang="ko-KR" baseline="0" dirty="0">
                <a:sym typeface="Wingdings" panose="05000000000000000000" pitchFamily="2" charset="2"/>
              </a:rPr>
              <a:t> </a:t>
            </a:r>
            <a:r>
              <a:rPr lang="en-US" altLang="ko-KR" baseline="0" dirty="0" err="1">
                <a:sym typeface="Wingdings" panose="05000000000000000000" pitchFamily="2" charset="2"/>
              </a:rPr>
              <a:t>rộng</a:t>
            </a:r>
            <a:r>
              <a:rPr lang="en-US" altLang="ko-KR" baseline="0" dirty="0">
                <a:sym typeface="Wingdings" panose="05000000000000000000" pitchFamily="2" charset="2"/>
              </a:rPr>
              <a:t> </a:t>
            </a:r>
            <a:r>
              <a:rPr lang="en-US" altLang="ko-KR" baseline="0" dirty="0" err="1">
                <a:sym typeface="Wingdings" panose="05000000000000000000" pitchFamily="2" charset="2"/>
              </a:rPr>
              <a:t>hơn</a:t>
            </a:r>
            <a:r>
              <a:rPr lang="en-US" altLang="ko-KR" baseline="0" dirty="0">
                <a:sym typeface="Wingdings" panose="05000000000000000000" pitchFamily="2" charset="2"/>
              </a:rPr>
              <a:t> 1 </a:t>
            </a:r>
            <a:r>
              <a:rPr lang="en-US" altLang="ko-KR" baseline="0" dirty="0" err="1">
                <a:sym typeface="Wingdings" panose="05000000000000000000" pitchFamily="2" charset="2"/>
              </a:rPr>
              <a:t>chút</a:t>
            </a:r>
            <a:r>
              <a:rPr lang="en-US" altLang="ko-KR" baseline="0" dirty="0">
                <a:sym typeface="Wingdings" panose="05000000000000000000" pitchFamily="2" charset="2"/>
              </a:rPr>
              <a:t>, </a:t>
            </a:r>
            <a:r>
              <a:rPr lang="en-US" altLang="ko-KR" baseline="0" dirty="0" err="1">
                <a:sym typeface="Wingdings" panose="05000000000000000000" pitchFamily="2" charset="2"/>
              </a:rPr>
              <a:t>là</a:t>
            </a:r>
            <a:r>
              <a:rPr lang="en-US" altLang="ko-KR" baseline="0" dirty="0">
                <a:sym typeface="Wingdings" panose="05000000000000000000" pitchFamily="2" charset="2"/>
              </a:rPr>
              <a:t> </a:t>
            </a:r>
            <a:r>
              <a:rPr lang="en-US" altLang="ko-KR" baseline="0" dirty="0" err="1">
                <a:sym typeface="Wingdings" panose="05000000000000000000" pitchFamily="2" charset="2"/>
              </a:rPr>
              <a:t>đương</a:t>
            </a:r>
            <a:r>
              <a:rPr lang="en-US" altLang="ko-KR" baseline="0" dirty="0">
                <a:sym typeface="Wingdings" panose="05000000000000000000" pitchFamily="2" charset="2"/>
              </a:rPr>
              <a:t> VOC (voice of </a:t>
            </a:r>
            <a:r>
              <a:rPr lang="en-US" altLang="ko-KR" baseline="0" dirty="0" err="1">
                <a:sym typeface="Wingdings" panose="05000000000000000000" pitchFamily="2" charset="2"/>
              </a:rPr>
              <a:t>custumer</a:t>
            </a:r>
            <a:r>
              <a:rPr lang="en-US" altLang="ko-KR" baseline="0" dirty="0">
                <a:sym typeface="Wingdings" panose="05000000000000000000" pitchFamily="2" charset="2"/>
              </a:rPr>
              <a:t>) </a:t>
            </a:r>
            <a:r>
              <a:rPr lang="en-US" altLang="ko-KR" baseline="0" dirty="0" err="1">
                <a:sym typeface="Wingdings" panose="05000000000000000000" pitchFamily="2" charset="2"/>
              </a:rPr>
              <a:t>yêu</a:t>
            </a:r>
            <a:r>
              <a:rPr lang="en-US" altLang="ko-KR" baseline="0" dirty="0">
                <a:sym typeface="Wingdings" panose="05000000000000000000" pitchFamily="2" charset="2"/>
              </a:rPr>
              <a:t> </a:t>
            </a:r>
            <a:r>
              <a:rPr lang="en-US" altLang="ko-KR" baseline="0" dirty="0" err="1">
                <a:sym typeface="Wingdings" panose="05000000000000000000" pitchFamily="2" charset="2"/>
              </a:rPr>
              <a:t>cầu</a:t>
            </a:r>
            <a:r>
              <a:rPr lang="en-US" altLang="ko-KR" baseline="0" dirty="0">
                <a:sym typeface="Wingdings" panose="05000000000000000000" pitchFamily="2" charset="2"/>
              </a:rPr>
              <a:t> </a:t>
            </a:r>
            <a:r>
              <a:rPr lang="en-US" altLang="ko-KR" baseline="0" dirty="0" err="1">
                <a:sym typeface="Wingdings" panose="05000000000000000000" pitchFamily="2" charset="2"/>
              </a:rPr>
              <a:t>của</a:t>
            </a:r>
            <a:r>
              <a:rPr lang="en-US" altLang="ko-KR" baseline="0" dirty="0">
                <a:sym typeface="Wingdings" panose="05000000000000000000" pitchFamily="2" charset="2"/>
              </a:rPr>
              <a:t> </a:t>
            </a:r>
            <a:r>
              <a:rPr lang="en-US" altLang="ko-KR" baseline="0" dirty="0" err="1">
                <a:sym typeface="Wingdings" panose="05000000000000000000" pitchFamily="2" charset="2"/>
              </a:rPr>
              <a:t>khách</a:t>
            </a:r>
            <a:r>
              <a:rPr lang="en-US" altLang="ko-KR" baseline="0" dirty="0">
                <a:sym typeface="Wingdings" panose="05000000000000000000" pitchFamily="2" charset="2"/>
              </a:rPr>
              <a:t> hang</a:t>
            </a:r>
          </a:p>
          <a:p>
            <a:r>
              <a:rPr lang="en-US" altLang="ko-KR" baseline="0" dirty="0">
                <a:sym typeface="Wingdings" panose="05000000000000000000" pitchFamily="2" charset="2"/>
              </a:rPr>
              <a:t>VD: BMW </a:t>
            </a:r>
            <a:r>
              <a:rPr lang="en-US" altLang="ko-KR" baseline="0" dirty="0" err="1">
                <a:sym typeface="Wingdings" panose="05000000000000000000" pitchFamily="2" charset="2"/>
              </a:rPr>
              <a:t>yêu</a:t>
            </a:r>
            <a:r>
              <a:rPr lang="en-US" altLang="ko-KR" baseline="0" dirty="0">
                <a:sym typeface="Wingdings" panose="05000000000000000000" pitchFamily="2" charset="2"/>
              </a:rPr>
              <a:t> </a:t>
            </a:r>
            <a:r>
              <a:rPr lang="en-US" altLang="ko-KR" baseline="0" dirty="0" err="1">
                <a:sym typeface="Wingdings" panose="05000000000000000000" pitchFamily="2" charset="2"/>
              </a:rPr>
              <a:t>cầu</a:t>
            </a:r>
            <a:r>
              <a:rPr lang="en-US" altLang="ko-KR" baseline="0" dirty="0">
                <a:sym typeface="Wingdings" panose="05000000000000000000" pitchFamily="2" charset="2"/>
              </a:rPr>
              <a:t> LG </a:t>
            </a:r>
            <a:r>
              <a:rPr lang="en-US" altLang="ko-KR" baseline="0" dirty="0" err="1">
                <a:sym typeface="Wingdings" panose="05000000000000000000" pitchFamily="2" charset="2"/>
              </a:rPr>
              <a:t>làm</a:t>
            </a:r>
            <a:r>
              <a:rPr lang="en-US" altLang="ko-KR" baseline="0" dirty="0">
                <a:sym typeface="Wingdings" panose="05000000000000000000" pitchFamily="2" charset="2"/>
              </a:rPr>
              <a:t> 1 part </a:t>
            </a:r>
            <a:r>
              <a:rPr lang="en-US" altLang="ko-KR" baseline="0" dirty="0" err="1">
                <a:sym typeface="Wingdings" panose="05000000000000000000" pitchFamily="2" charset="2"/>
              </a:rPr>
              <a:t>có</a:t>
            </a:r>
            <a:r>
              <a:rPr lang="en-US" altLang="ko-KR" baseline="0" dirty="0">
                <a:sym typeface="Wingdings" panose="05000000000000000000" pitchFamily="2" charset="2"/>
              </a:rPr>
              <a:t> spec 10+-0.2 cm, </a:t>
            </a:r>
            <a:r>
              <a:rPr lang="en-US" altLang="ko-KR" baseline="0" dirty="0" err="1">
                <a:sym typeface="Wingdings" panose="05000000000000000000" pitchFamily="2" charset="2"/>
              </a:rPr>
              <a:t>đó</a:t>
            </a:r>
            <a:r>
              <a:rPr lang="en-US" altLang="ko-KR" baseline="0" dirty="0">
                <a:sym typeface="Wingdings" panose="05000000000000000000" pitchFamily="2" charset="2"/>
              </a:rPr>
              <a:t> </a:t>
            </a:r>
            <a:r>
              <a:rPr lang="en-US" altLang="ko-KR" baseline="0" dirty="0" err="1">
                <a:sym typeface="Wingdings" panose="05000000000000000000" pitchFamily="2" charset="2"/>
              </a:rPr>
              <a:t>chính</a:t>
            </a:r>
            <a:r>
              <a:rPr lang="en-US" altLang="ko-KR" baseline="0" dirty="0">
                <a:sym typeface="Wingdings" panose="05000000000000000000" pitchFamily="2" charset="2"/>
              </a:rPr>
              <a:t> </a:t>
            </a:r>
            <a:r>
              <a:rPr lang="en-US" altLang="ko-KR" baseline="0" dirty="0" err="1">
                <a:sym typeface="Wingdings" panose="05000000000000000000" pitchFamily="2" charset="2"/>
              </a:rPr>
              <a:t>là</a:t>
            </a:r>
            <a:r>
              <a:rPr lang="en-US" altLang="ko-KR" baseline="0" dirty="0">
                <a:sym typeface="Wingdings" panose="05000000000000000000" pitchFamily="2" charset="2"/>
              </a:rPr>
              <a:t> VOC </a:t>
            </a:r>
            <a:r>
              <a:rPr lang="en-US" altLang="ko-KR" baseline="0" dirty="0" err="1">
                <a:sym typeface="Wingdings" panose="05000000000000000000" pitchFamily="2" charset="2"/>
              </a:rPr>
              <a:t>của</a:t>
            </a:r>
            <a:r>
              <a:rPr lang="en-US" altLang="ko-KR" baseline="0" dirty="0">
                <a:sym typeface="Wingdings" panose="05000000000000000000" pitchFamily="2" charset="2"/>
              </a:rPr>
              <a:t> </a:t>
            </a:r>
            <a:r>
              <a:rPr lang="en-US" altLang="ko-KR" baseline="0" dirty="0" err="1">
                <a:sym typeface="Wingdings" panose="05000000000000000000" pitchFamily="2" charset="2"/>
              </a:rPr>
              <a:t>khách</a:t>
            </a:r>
            <a:r>
              <a:rPr lang="en-US" altLang="ko-KR" baseline="0" dirty="0">
                <a:sym typeface="Wingdings" panose="05000000000000000000" pitchFamily="2" charset="2"/>
              </a:rPr>
              <a:t> hang</a:t>
            </a:r>
          </a:p>
          <a:p>
            <a:r>
              <a:rPr lang="en-US" altLang="ko-KR" baseline="0" dirty="0" err="1">
                <a:sym typeface="Wingdings" panose="05000000000000000000" pitchFamily="2" charset="2"/>
              </a:rPr>
              <a:t>Tức</a:t>
            </a:r>
            <a:r>
              <a:rPr lang="en-US" altLang="ko-KR" baseline="0" dirty="0">
                <a:sym typeface="Wingdings" panose="05000000000000000000" pitchFamily="2" charset="2"/>
              </a:rPr>
              <a:t> </a:t>
            </a:r>
            <a:r>
              <a:rPr lang="en-US" altLang="ko-KR" baseline="0" dirty="0" err="1">
                <a:sym typeface="Wingdings" panose="05000000000000000000" pitchFamily="2" charset="2"/>
              </a:rPr>
              <a:t>là</a:t>
            </a:r>
            <a:r>
              <a:rPr lang="en-US" altLang="ko-KR" baseline="0" dirty="0">
                <a:sym typeface="Wingdings" panose="05000000000000000000" pitchFamily="2" charset="2"/>
              </a:rPr>
              <a:t> 9.8, 10.2, </a:t>
            </a:r>
            <a:r>
              <a:rPr lang="en-US" altLang="ko-KR" baseline="0" dirty="0" err="1">
                <a:sym typeface="Wingdings" panose="05000000000000000000" pitchFamily="2" charset="2"/>
              </a:rPr>
              <a:t>lúc</a:t>
            </a:r>
            <a:r>
              <a:rPr lang="en-US" altLang="ko-KR" baseline="0" dirty="0">
                <a:sym typeface="Wingdings" panose="05000000000000000000" pitchFamily="2" charset="2"/>
              </a:rPr>
              <a:t> </a:t>
            </a:r>
            <a:r>
              <a:rPr lang="en-US" altLang="ko-KR" baseline="0" dirty="0" err="1">
                <a:sym typeface="Wingdings" panose="05000000000000000000" pitchFamily="2" charset="2"/>
              </a:rPr>
              <a:t>đó</a:t>
            </a:r>
            <a:r>
              <a:rPr lang="en-US" altLang="ko-KR" baseline="0" dirty="0">
                <a:sym typeface="Wingdings" panose="05000000000000000000" pitchFamily="2" charset="2"/>
              </a:rPr>
              <a:t> LG </a:t>
            </a:r>
            <a:r>
              <a:rPr lang="en-US" altLang="ko-KR" baseline="0" dirty="0" err="1">
                <a:sym typeface="Wingdings" panose="05000000000000000000" pitchFamily="2" charset="2"/>
              </a:rPr>
              <a:t>có</a:t>
            </a:r>
            <a:r>
              <a:rPr lang="en-US" altLang="ko-KR" baseline="0" dirty="0">
                <a:sym typeface="Wingdings" panose="05000000000000000000" pitchFamily="2" charset="2"/>
              </a:rPr>
              <a:t> </a:t>
            </a:r>
            <a:r>
              <a:rPr lang="en-US" altLang="ko-KR" baseline="0" dirty="0" err="1">
                <a:sym typeface="Wingdings" panose="05000000000000000000" pitchFamily="2" charset="2"/>
              </a:rPr>
              <a:t>thể</a:t>
            </a:r>
            <a:r>
              <a:rPr lang="en-US" altLang="ko-KR" baseline="0" dirty="0">
                <a:sym typeface="Wingdings" panose="05000000000000000000" pitchFamily="2" charset="2"/>
              </a:rPr>
              <a:t> set up spec </a:t>
            </a:r>
            <a:r>
              <a:rPr lang="en-US" altLang="ko-KR" baseline="0" dirty="0" err="1">
                <a:sym typeface="Wingdings" panose="05000000000000000000" pitchFamily="2" charset="2"/>
              </a:rPr>
              <a:t>hẹp</a:t>
            </a:r>
            <a:r>
              <a:rPr lang="en-US" altLang="ko-KR" baseline="0" dirty="0">
                <a:sym typeface="Wingdings" panose="05000000000000000000" pitchFamily="2" charset="2"/>
              </a:rPr>
              <a:t> </a:t>
            </a:r>
            <a:r>
              <a:rPr lang="en-US" altLang="ko-KR" baseline="0" dirty="0" err="1">
                <a:sym typeface="Wingdings" panose="05000000000000000000" pitchFamily="2" charset="2"/>
              </a:rPr>
              <a:t>hơn</a:t>
            </a:r>
            <a:r>
              <a:rPr lang="en-US" altLang="ko-KR" baseline="0" dirty="0">
                <a:sym typeface="Wingdings" panose="05000000000000000000" pitchFamily="2" charset="2"/>
              </a:rPr>
              <a:t> </a:t>
            </a:r>
            <a:r>
              <a:rPr lang="en-US" altLang="ko-KR" baseline="0" dirty="0" err="1">
                <a:sym typeface="Wingdings" panose="05000000000000000000" pitchFamily="2" charset="2"/>
              </a:rPr>
              <a:t>hoặc</a:t>
            </a:r>
            <a:r>
              <a:rPr lang="en-US" altLang="ko-KR" baseline="0" dirty="0">
                <a:sym typeface="Wingdings" panose="05000000000000000000" pitchFamily="2" charset="2"/>
              </a:rPr>
              <a:t> </a:t>
            </a:r>
            <a:r>
              <a:rPr lang="en-US" altLang="ko-KR" baseline="0" dirty="0" err="1">
                <a:sym typeface="Wingdings" panose="05000000000000000000" pitchFamily="2" charset="2"/>
              </a:rPr>
              <a:t>bằng</a:t>
            </a:r>
            <a:endParaRPr lang="en-US" altLang="ko-KR" baseline="0" dirty="0">
              <a:sym typeface="Wingdings" panose="05000000000000000000" pitchFamily="2" charset="2"/>
            </a:endParaRPr>
          </a:p>
          <a:p>
            <a:r>
              <a:rPr lang="en-US" altLang="ko-KR" baseline="0" dirty="0" err="1">
                <a:sym typeface="Wingdings" panose="05000000000000000000" pitchFamily="2" charset="2"/>
              </a:rPr>
              <a:t>Mục</a:t>
            </a:r>
            <a:r>
              <a:rPr lang="en-US" altLang="ko-KR" baseline="0" dirty="0">
                <a:sym typeface="Wingdings" panose="05000000000000000000" pitchFamily="2" charset="2"/>
              </a:rPr>
              <a:t> </a:t>
            </a:r>
            <a:r>
              <a:rPr lang="en-US" altLang="ko-KR" baseline="0" dirty="0" err="1">
                <a:sym typeface="Wingdings" panose="05000000000000000000" pitchFamily="2" charset="2"/>
              </a:rPr>
              <a:t>đích</a:t>
            </a:r>
            <a:r>
              <a:rPr lang="en-US" altLang="ko-KR" baseline="0" dirty="0">
                <a:sym typeface="Wingdings" panose="05000000000000000000" pitchFamily="2" charset="2"/>
              </a:rPr>
              <a:t> </a:t>
            </a:r>
            <a:r>
              <a:rPr lang="en-US" altLang="ko-KR" baseline="0" dirty="0" err="1">
                <a:sym typeface="Wingdings" panose="05000000000000000000" pitchFamily="2" charset="2"/>
              </a:rPr>
              <a:t>của</a:t>
            </a:r>
            <a:r>
              <a:rPr lang="en-US" altLang="ko-KR" baseline="0" dirty="0">
                <a:sym typeface="Wingdings" panose="05000000000000000000" pitchFamily="2" charset="2"/>
              </a:rPr>
              <a:t> VOC </a:t>
            </a:r>
            <a:r>
              <a:rPr lang="en-US" altLang="ko-KR" baseline="0" dirty="0" err="1">
                <a:sym typeface="Wingdings" panose="05000000000000000000" pitchFamily="2" charset="2"/>
              </a:rPr>
              <a:t>là</a:t>
            </a:r>
            <a:r>
              <a:rPr lang="en-US" altLang="ko-KR" baseline="0" dirty="0">
                <a:sym typeface="Wingdings" panose="05000000000000000000" pitchFamily="2" charset="2"/>
              </a:rPr>
              <a:t> </a:t>
            </a:r>
            <a:r>
              <a:rPr lang="en-US" altLang="ko-KR" baseline="0" dirty="0" err="1">
                <a:sym typeface="Wingdings" panose="05000000000000000000" pitchFamily="2" charset="2"/>
              </a:rPr>
              <a:t>làm</a:t>
            </a:r>
            <a:r>
              <a:rPr lang="en-US" altLang="ko-KR" baseline="0" dirty="0">
                <a:sym typeface="Wingdings" panose="05000000000000000000" pitchFamily="2" charset="2"/>
              </a:rPr>
              <a:t> </a:t>
            </a:r>
            <a:r>
              <a:rPr lang="en-US" altLang="ko-KR" baseline="0" dirty="0" err="1">
                <a:sym typeface="Wingdings" panose="05000000000000000000" pitchFamily="2" charset="2"/>
              </a:rPr>
              <a:t>hài</a:t>
            </a:r>
            <a:r>
              <a:rPr lang="en-US" altLang="ko-KR" baseline="0" dirty="0">
                <a:sym typeface="Wingdings" panose="05000000000000000000" pitchFamily="2" charset="2"/>
              </a:rPr>
              <a:t> long </a:t>
            </a:r>
            <a:r>
              <a:rPr lang="en-US" altLang="ko-KR" baseline="0" dirty="0" err="1">
                <a:sym typeface="Wingdings" panose="05000000000000000000" pitchFamily="2" charset="2"/>
              </a:rPr>
              <a:t>khách</a:t>
            </a:r>
            <a:r>
              <a:rPr lang="en-US" altLang="ko-KR" baseline="0" dirty="0">
                <a:sym typeface="Wingdings" panose="05000000000000000000" pitchFamily="2" charset="2"/>
              </a:rPr>
              <a:t> hang</a:t>
            </a:r>
          </a:p>
          <a:p>
            <a:endParaRPr lang="en-US" altLang="ko-KR" baseline="0" dirty="0">
              <a:sym typeface="Wingdings" panose="05000000000000000000" pitchFamily="2" charset="2"/>
            </a:endParaRPr>
          </a:p>
          <a:p>
            <a:r>
              <a:rPr lang="en-US" altLang="ko-KR" baseline="0" dirty="0" err="1">
                <a:sym typeface="Wingdings" panose="05000000000000000000" pitchFamily="2" charset="2"/>
              </a:rPr>
              <a:t>Tuy</a:t>
            </a:r>
            <a:r>
              <a:rPr lang="en-US" altLang="ko-KR" baseline="0" dirty="0">
                <a:sym typeface="Wingdings" panose="05000000000000000000" pitchFamily="2" charset="2"/>
              </a:rPr>
              <a:t> </a:t>
            </a:r>
            <a:r>
              <a:rPr lang="en-US" altLang="ko-KR" baseline="0" dirty="0" err="1">
                <a:sym typeface="Wingdings" panose="05000000000000000000" pitchFamily="2" charset="2"/>
              </a:rPr>
              <a:t>nhiên</a:t>
            </a:r>
            <a:r>
              <a:rPr lang="en-US" altLang="ko-KR" baseline="0" dirty="0">
                <a:sym typeface="Wingdings" panose="05000000000000000000" pitchFamily="2" charset="2"/>
              </a:rPr>
              <a:t> 6 sigma </a:t>
            </a:r>
            <a:r>
              <a:rPr lang="en-US" altLang="ko-KR" baseline="0" dirty="0" err="1">
                <a:sym typeface="Wingdings" panose="05000000000000000000" pitchFamily="2" charset="2"/>
              </a:rPr>
              <a:t>lại</a:t>
            </a:r>
            <a:r>
              <a:rPr lang="en-US" altLang="ko-KR" baseline="0" dirty="0">
                <a:sym typeface="Wingdings" panose="05000000000000000000" pitchFamily="2" charset="2"/>
              </a:rPr>
              <a:t> </a:t>
            </a:r>
            <a:r>
              <a:rPr lang="en-US" altLang="ko-KR" baseline="0" dirty="0" err="1">
                <a:sym typeface="Wingdings" panose="05000000000000000000" pitchFamily="2" charset="2"/>
              </a:rPr>
              <a:t>là</a:t>
            </a:r>
            <a:r>
              <a:rPr lang="en-US" altLang="ko-KR" baseline="0" dirty="0">
                <a:sym typeface="Wingdings" panose="05000000000000000000" pitchFamily="2" charset="2"/>
              </a:rPr>
              <a:t> </a:t>
            </a:r>
            <a:r>
              <a:rPr lang="en-US" altLang="ko-KR" baseline="0" dirty="0" err="1">
                <a:sym typeface="Wingdings" panose="05000000000000000000" pitchFamily="2" charset="2"/>
              </a:rPr>
              <a:t>đg</a:t>
            </a:r>
            <a:r>
              <a:rPr lang="en-US" altLang="ko-KR" baseline="0" dirty="0">
                <a:sym typeface="Wingdings" panose="05000000000000000000" pitchFamily="2" charset="2"/>
              </a:rPr>
              <a:t> </a:t>
            </a:r>
            <a:r>
              <a:rPr lang="en-US" altLang="ko-KR" baseline="0" dirty="0" err="1">
                <a:sym typeface="Wingdings" panose="05000000000000000000" pitchFamily="2" charset="2"/>
              </a:rPr>
              <a:t>trong</a:t>
            </a:r>
            <a:r>
              <a:rPr lang="en-US" altLang="ko-KR" baseline="0" dirty="0">
                <a:sym typeface="Wingdings" panose="05000000000000000000" pitchFamily="2" charset="2"/>
              </a:rPr>
              <a:t> </a:t>
            </a:r>
            <a:r>
              <a:rPr lang="en-US" altLang="ko-KR" baseline="0" dirty="0" err="1">
                <a:sym typeface="Wingdings" panose="05000000000000000000" pitchFamily="2" charset="2"/>
              </a:rPr>
              <a:t>cùng</a:t>
            </a:r>
            <a:r>
              <a:rPr lang="en-US" altLang="ko-KR" baseline="0" dirty="0">
                <a:sym typeface="Wingdings" panose="05000000000000000000" pitchFamily="2" charset="2"/>
              </a:rPr>
              <a:t> LCL, UCL (control limit); </a:t>
            </a:r>
            <a:r>
              <a:rPr lang="en-US" altLang="ko-KR" baseline="0" dirty="0" err="1">
                <a:sym typeface="Wingdings" panose="05000000000000000000" pitchFamily="2" charset="2"/>
              </a:rPr>
              <a:t>đg</a:t>
            </a:r>
            <a:r>
              <a:rPr lang="en-US" altLang="ko-KR" baseline="0" dirty="0">
                <a:sym typeface="Wingdings" panose="05000000000000000000" pitchFamily="2" charset="2"/>
              </a:rPr>
              <a:t> </a:t>
            </a:r>
            <a:r>
              <a:rPr lang="en-US" altLang="ko-KR" baseline="0" dirty="0" err="1">
                <a:sym typeface="Wingdings" panose="05000000000000000000" pitchFamily="2" charset="2"/>
              </a:rPr>
              <a:t>này</a:t>
            </a:r>
            <a:r>
              <a:rPr lang="en-US" altLang="ko-KR" baseline="0" dirty="0">
                <a:sym typeface="Wingdings" panose="05000000000000000000" pitchFamily="2" charset="2"/>
              </a:rPr>
              <a:t> </a:t>
            </a:r>
            <a:r>
              <a:rPr lang="en-US" altLang="ko-KR" baseline="0" dirty="0" err="1">
                <a:sym typeface="Wingdings" panose="05000000000000000000" pitchFamily="2" charset="2"/>
              </a:rPr>
              <a:t>ko</a:t>
            </a:r>
            <a:r>
              <a:rPr lang="en-US" altLang="ko-KR" baseline="0" dirty="0">
                <a:sym typeface="Wingdings" panose="05000000000000000000" pitchFamily="2" charset="2"/>
              </a:rPr>
              <a:t> </a:t>
            </a:r>
            <a:r>
              <a:rPr lang="en-US" altLang="ko-KR" baseline="0" dirty="0" err="1">
                <a:sym typeface="Wingdings" panose="05000000000000000000" pitchFamily="2" charset="2"/>
              </a:rPr>
              <a:t>có</a:t>
            </a:r>
            <a:r>
              <a:rPr lang="en-US" altLang="ko-KR" baseline="0" dirty="0">
                <a:sym typeface="Wingdings" panose="05000000000000000000" pitchFamily="2" charset="2"/>
              </a:rPr>
              <a:t> </a:t>
            </a:r>
            <a:r>
              <a:rPr lang="en-US" altLang="ko-KR" baseline="0" dirty="0" err="1">
                <a:sym typeface="Wingdings" panose="05000000000000000000" pitchFamily="2" charset="2"/>
              </a:rPr>
              <a:t>tác</a:t>
            </a:r>
            <a:r>
              <a:rPr lang="en-US" altLang="ko-KR" baseline="0" dirty="0">
                <a:sym typeface="Wingdings" panose="05000000000000000000" pitchFamily="2" charset="2"/>
              </a:rPr>
              <a:t> </a:t>
            </a:r>
            <a:r>
              <a:rPr lang="en-US" altLang="ko-KR" baseline="0" dirty="0" err="1">
                <a:sym typeface="Wingdings" panose="05000000000000000000" pitchFamily="2" charset="2"/>
              </a:rPr>
              <a:t>dụng</a:t>
            </a:r>
            <a:r>
              <a:rPr lang="en-US" altLang="ko-KR" baseline="0" dirty="0">
                <a:sym typeface="Wingdings" panose="05000000000000000000" pitchFamily="2" charset="2"/>
              </a:rPr>
              <a:t> </a:t>
            </a:r>
            <a:r>
              <a:rPr lang="en-US" altLang="ko-KR" baseline="0" dirty="0" err="1">
                <a:sym typeface="Wingdings" panose="05000000000000000000" pitchFamily="2" charset="2"/>
              </a:rPr>
              <a:t>đánh</a:t>
            </a:r>
            <a:r>
              <a:rPr lang="en-US" altLang="ko-KR" baseline="0" dirty="0">
                <a:sym typeface="Wingdings" panose="05000000000000000000" pitchFamily="2" charset="2"/>
              </a:rPr>
              <a:t> </a:t>
            </a:r>
            <a:r>
              <a:rPr lang="en-US" altLang="ko-KR" baseline="0" dirty="0" err="1">
                <a:sym typeface="Wingdings" panose="05000000000000000000" pitchFamily="2" charset="2"/>
              </a:rPr>
              <a:t>giá</a:t>
            </a:r>
            <a:r>
              <a:rPr lang="en-US" altLang="ko-KR" baseline="0" dirty="0">
                <a:sym typeface="Wingdings" panose="05000000000000000000" pitchFamily="2" charset="2"/>
              </a:rPr>
              <a:t> pass/fail </a:t>
            </a:r>
            <a:r>
              <a:rPr lang="en-US" altLang="ko-KR" baseline="0" dirty="0" err="1">
                <a:sym typeface="Wingdings" panose="05000000000000000000" pitchFamily="2" charset="2"/>
              </a:rPr>
              <a:t>mà</a:t>
            </a:r>
            <a:r>
              <a:rPr lang="en-US" altLang="ko-KR" baseline="0" dirty="0">
                <a:sym typeface="Wingdings" panose="05000000000000000000" pitchFamily="2" charset="2"/>
              </a:rPr>
              <a:t> </a:t>
            </a:r>
            <a:r>
              <a:rPr lang="en-US" altLang="ko-KR" baseline="0" dirty="0" err="1">
                <a:sym typeface="Wingdings" panose="05000000000000000000" pitchFamily="2" charset="2"/>
              </a:rPr>
              <a:t>để</a:t>
            </a:r>
            <a:r>
              <a:rPr lang="en-US" altLang="ko-KR" baseline="0" dirty="0">
                <a:sym typeface="Wingdings" panose="05000000000000000000" pitchFamily="2" charset="2"/>
              </a:rPr>
              <a:t> </a:t>
            </a:r>
            <a:r>
              <a:rPr lang="en-US" altLang="ko-KR" baseline="0" dirty="0" err="1">
                <a:sym typeface="Wingdings" panose="05000000000000000000" pitchFamily="2" charset="2"/>
              </a:rPr>
              <a:t>kiểm</a:t>
            </a:r>
            <a:r>
              <a:rPr lang="en-US" altLang="ko-KR" baseline="0" dirty="0">
                <a:sym typeface="Wingdings" panose="05000000000000000000" pitchFamily="2" charset="2"/>
              </a:rPr>
              <a:t> </a:t>
            </a:r>
            <a:r>
              <a:rPr lang="en-US" altLang="ko-KR" baseline="0" dirty="0" err="1">
                <a:sym typeface="Wingdings" panose="05000000000000000000" pitchFamily="2" charset="2"/>
              </a:rPr>
              <a:t>soát</a:t>
            </a:r>
            <a:r>
              <a:rPr lang="en-US" altLang="ko-KR" baseline="0" dirty="0">
                <a:sym typeface="Wingdings" panose="05000000000000000000" pitchFamily="2" charset="2"/>
              </a:rPr>
              <a:t> </a:t>
            </a:r>
            <a:r>
              <a:rPr lang="en-US" altLang="ko-KR" baseline="0" dirty="0" err="1">
                <a:sym typeface="Wingdings" panose="05000000000000000000" pitchFamily="2" charset="2"/>
              </a:rPr>
              <a:t>quy</a:t>
            </a:r>
            <a:r>
              <a:rPr lang="en-US" altLang="ko-KR" baseline="0" dirty="0">
                <a:sym typeface="Wingdings" panose="05000000000000000000" pitchFamily="2" charset="2"/>
              </a:rPr>
              <a:t> </a:t>
            </a:r>
            <a:r>
              <a:rPr lang="en-US" altLang="ko-KR" baseline="0" dirty="0" err="1">
                <a:sym typeface="Wingdings" panose="05000000000000000000" pitchFamily="2" charset="2"/>
              </a:rPr>
              <a:t>trình</a:t>
            </a:r>
            <a:endParaRPr lang="en-US" altLang="ko-KR" baseline="0" dirty="0">
              <a:sym typeface="Wingdings" panose="05000000000000000000" pitchFamily="2" charset="2"/>
            </a:endParaRPr>
          </a:p>
          <a:p>
            <a:r>
              <a:rPr lang="en-US" altLang="ko-KR" baseline="0" dirty="0" err="1">
                <a:sym typeface="Wingdings" panose="05000000000000000000" pitchFamily="2" charset="2"/>
              </a:rPr>
              <a:t>Đối</a:t>
            </a:r>
            <a:r>
              <a:rPr lang="en-US" altLang="ko-KR" baseline="0" dirty="0">
                <a:sym typeface="Wingdings" panose="05000000000000000000" pitchFamily="2" charset="2"/>
              </a:rPr>
              <a:t> vs control limit </a:t>
            </a:r>
            <a:r>
              <a:rPr lang="en-US" altLang="ko-KR" baseline="0" dirty="0" err="1">
                <a:sym typeface="Wingdings" panose="05000000000000000000" pitchFamily="2" charset="2"/>
              </a:rPr>
              <a:t>có</a:t>
            </a:r>
            <a:r>
              <a:rPr lang="en-US" altLang="ko-KR" baseline="0" dirty="0">
                <a:sym typeface="Wingdings" panose="05000000000000000000" pitchFamily="2" charset="2"/>
              </a:rPr>
              <a:t> VOP (voice of process)  </a:t>
            </a:r>
            <a:r>
              <a:rPr lang="en-US" altLang="ko-KR" baseline="0" dirty="0" err="1">
                <a:sym typeface="Wingdings" panose="05000000000000000000" pitchFamily="2" charset="2"/>
              </a:rPr>
              <a:t>ngăn</a:t>
            </a:r>
            <a:r>
              <a:rPr lang="en-US" altLang="ko-KR" baseline="0" dirty="0">
                <a:sym typeface="Wingdings" panose="05000000000000000000" pitchFamily="2" charset="2"/>
              </a:rPr>
              <a:t> </a:t>
            </a:r>
            <a:r>
              <a:rPr lang="en-US" altLang="ko-KR" baseline="0" dirty="0" err="1">
                <a:sym typeface="Wingdings" panose="05000000000000000000" pitchFamily="2" charset="2"/>
              </a:rPr>
              <a:t>chặn</a:t>
            </a:r>
            <a:r>
              <a:rPr lang="en-US" altLang="ko-KR" baseline="0" dirty="0">
                <a:sym typeface="Wingdings" panose="05000000000000000000" pitchFamily="2" charset="2"/>
              </a:rPr>
              <a:t> </a:t>
            </a:r>
            <a:r>
              <a:rPr lang="en-US" altLang="ko-KR" baseline="0" dirty="0" err="1">
                <a:sym typeface="Wingdings" panose="05000000000000000000" pitchFamily="2" charset="2"/>
              </a:rPr>
              <a:t>lỗi</a:t>
            </a:r>
            <a:r>
              <a:rPr lang="en-US" altLang="ko-KR" baseline="0" dirty="0">
                <a:sym typeface="Wingdings" panose="05000000000000000000" pitchFamily="2" charset="2"/>
              </a:rPr>
              <a:t> </a:t>
            </a:r>
            <a:r>
              <a:rPr lang="en-US" altLang="ko-KR" baseline="0" dirty="0" err="1">
                <a:sym typeface="Wingdings" panose="05000000000000000000" pitchFamily="2" charset="2"/>
              </a:rPr>
              <a:t>trước</a:t>
            </a:r>
            <a:r>
              <a:rPr lang="en-US" altLang="ko-KR" baseline="0" dirty="0">
                <a:sym typeface="Wingdings" panose="05000000000000000000" pitchFamily="2" charset="2"/>
              </a:rPr>
              <a:t> </a:t>
            </a:r>
            <a:r>
              <a:rPr lang="en-US" altLang="ko-KR" baseline="0" dirty="0" err="1">
                <a:sym typeface="Wingdings" panose="05000000000000000000" pitchFamily="2" charset="2"/>
              </a:rPr>
              <a:t>khi</a:t>
            </a:r>
            <a:r>
              <a:rPr lang="en-US" altLang="ko-KR" baseline="0" dirty="0">
                <a:sym typeface="Wingdings" panose="05000000000000000000" pitchFamily="2" charset="2"/>
              </a:rPr>
              <a:t> </a:t>
            </a:r>
            <a:r>
              <a:rPr lang="en-US" altLang="ko-KR" baseline="0" dirty="0" err="1">
                <a:sym typeface="Wingdings" panose="05000000000000000000" pitchFamily="2" charset="2"/>
              </a:rPr>
              <a:t>nó</a:t>
            </a:r>
            <a:r>
              <a:rPr lang="en-US" altLang="ko-KR" baseline="0" dirty="0">
                <a:sym typeface="Wingdings" panose="05000000000000000000" pitchFamily="2" charset="2"/>
              </a:rPr>
              <a:t> </a:t>
            </a:r>
            <a:r>
              <a:rPr lang="en-US" altLang="ko-KR" baseline="0" dirty="0" err="1">
                <a:sym typeface="Wingdings" panose="05000000000000000000" pitchFamily="2" charset="2"/>
              </a:rPr>
              <a:t>xảy</a:t>
            </a:r>
            <a:r>
              <a:rPr lang="en-US" altLang="ko-KR" baseline="0" dirty="0">
                <a:sym typeface="Wingdings" panose="05000000000000000000" pitchFamily="2" charset="2"/>
              </a:rPr>
              <a:t> </a:t>
            </a:r>
            <a:r>
              <a:rPr lang="en-US" altLang="ko-KR" baseline="0" dirty="0" err="1">
                <a:sym typeface="Wingdings" panose="05000000000000000000" pitchFamily="2" charset="2"/>
              </a:rPr>
              <a:t>ra</a:t>
            </a:r>
            <a:r>
              <a:rPr lang="en-US" altLang="ko-KR" baseline="0" dirty="0">
                <a:sym typeface="Wingdings" panose="05000000000000000000" pitchFamily="2" charset="2"/>
              </a:rPr>
              <a:t>, </a:t>
            </a:r>
            <a:r>
              <a:rPr lang="en-US" altLang="ko-KR" baseline="0" dirty="0" err="1">
                <a:sym typeface="Wingdings" panose="05000000000000000000" pitchFamily="2" charset="2"/>
              </a:rPr>
              <a:t>giảm</a:t>
            </a:r>
            <a:r>
              <a:rPr lang="en-US" altLang="ko-KR" baseline="0" dirty="0">
                <a:sym typeface="Wingdings" panose="05000000000000000000" pitchFamily="2" charset="2"/>
              </a:rPr>
              <a:t> </a:t>
            </a:r>
            <a:r>
              <a:rPr lang="en-US" altLang="ko-KR" baseline="0" dirty="0" err="1">
                <a:sym typeface="Wingdings" panose="05000000000000000000" pitchFamily="2" charset="2"/>
              </a:rPr>
              <a:t>thiêu</a:t>
            </a:r>
            <a:r>
              <a:rPr lang="en-US" altLang="ko-KR" baseline="0" dirty="0">
                <a:sym typeface="Wingdings" panose="05000000000000000000" pitchFamily="2" charset="2"/>
              </a:rPr>
              <a:t> chi </a:t>
            </a:r>
            <a:r>
              <a:rPr lang="en-US" altLang="ko-KR" baseline="0" dirty="0" err="1">
                <a:sym typeface="Wingdings" panose="05000000000000000000" pitchFamily="2" charset="2"/>
              </a:rPr>
              <a:t>phí</a:t>
            </a:r>
            <a:r>
              <a:rPr lang="en-US" altLang="ko-KR" baseline="0" dirty="0">
                <a:sym typeface="Wingdings" panose="05000000000000000000" pitchFamily="2" charset="2"/>
              </a:rPr>
              <a:t> </a:t>
            </a:r>
            <a:r>
              <a:rPr lang="en-US" altLang="ko-KR" baseline="0" dirty="0" err="1">
                <a:sym typeface="Wingdings" panose="05000000000000000000" pitchFamily="2" charset="2"/>
              </a:rPr>
              <a:t>khi</a:t>
            </a:r>
            <a:r>
              <a:rPr lang="en-US" altLang="ko-KR" baseline="0" dirty="0">
                <a:sym typeface="Wingdings" panose="05000000000000000000" pitchFamily="2" charset="2"/>
              </a:rPr>
              <a:t> </a:t>
            </a:r>
            <a:r>
              <a:rPr lang="en-US" altLang="ko-KR" baseline="0" dirty="0" err="1">
                <a:sym typeface="Wingdings" panose="05000000000000000000" pitchFamily="2" charset="2"/>
              </a:rPr>
              <a:t>xảy</a:t>
            </a:r>
            <a:r>
              <a:rPr lang="en-US" altLang="ko-KR" baseline="0" dirty="0">
                <a:sym typeface="Wingdings" panose="05000000000000000000" pitchFamily="2" charset="2"/>
              </a:rPr>
              <a:t> </a:t>
            </a:r>
            <a:r>
              <a:rPr lang="en-US" altLang="ko-KR" baseline="0" dirty="0" err="1">
                <a:sym typeface="Wingdings" panose="05000000000000000000" pitchFamily="2" charset="2"/>
              </a:rPr>
              <a:t>ra</a:t>
            </a:r>
            <a:r>
              <a:rPr lang="en-US" altLang="ko-KR" baseline="0" dirty="0">
                <a:sym typeface="Wingdings" panose="05000000000000000000" pitchFamily="2" charset="2"/>
              </a:rPr>
              <a:t> </a:t>
            </a:r>
            <a:r>
              <a:rPr lang="en-US" altLang="ko-KR" baseline="0" dirty="0" err="1">
                <a:sym typeface="Wingdings" panose="05000000000000000000" pitchFamily="2" charset="2"/>
              </a:rPr>
              <a:t>lỗi</a:t>
            </a:r>
            <a:r>
              <a:rPr lang="en-US" altLang="ko-KR" baseline="0" dirty="0">
                <a:sym typeface="Wingdings" panose="05000000000000000000" pitchFamily="2" charset="2"/>
              </a:rPr>
              <a:t> </a:t>
            </a:r>
            <a:r>
              <a:rPr lang="en-US" altLang="ko-KR" baseline="0" dirty="0" err="1">
                <a:sym typeface="Wingdings" panose="05000000000000000000" pitchFamily="2" charset="2"/>
              </a:rPr>
              <a:t>và</a:t>
            </a:r>
            <a:r>
              <a:rPr lang="en-US" altLang="ko-KR" baseline="0" dirty="0">
                <a:sym typeface="Wingdings" panose="05000000000000000000" pitchFamily="2" charset="2"/>
              </a:rPr>
              <a:t> </a:t>
            </a:r>
            <a:r>
              <a:rPr lang="en-US" altLang="ko-KR" baseline="0" dirty="0" err="1">
                <a:sym typeface="Wingdings" panose="05000000000000000000" pitchFamily="2" charset="2"/>
              </a:rPr>
              <a:t>ko</a:t>
            </a:r>
            <a:r>
              <a:rPr lang="en-US" altLang="ko-KR" baseline="0" dirty="0">
                <a:sym typeface="Wingdings" panose="05000000000000000000" pitchFamily="2" charset="2"/>
              </a:rPr>
              <a:t> </a:t>
            </a:r>
            <a:r>
              <a:rPr lang="en-US" altLang="ko-KR" baseline="0" dirty="0" err="1">
                <a:sym typeface="Wingdings" panose="05000000000000000000" pitchFamily="2" charset="2"/>
              </a:rPr>
              <a:t>để</a:t>
            </a:r>
            <a:r>
              <a:rPr lang="en-US" altLang="ko-KR" baseline="0" dirty="0">
                <a:sym typeface="Wingdings" panose="05000000000000000000" pitchFamily="2" charset="2"/>
              </a:rPr>
              <a:t> </a:t>
            </a:r>
            <a:r>
              <a:rPr lang="en-US" altLang="ko-KR" baseline="0" dirty="0" err="1">
                <a:sym typeface="Wingdings" panose="05000000000000000000" pitchFamily="2" charset="2"/>
              </a:rPr>
              <a:t>lỗi</a:t>
            </a:r>
            <a:r>
              <a:rPr lang="en-US" altLang="ko-KR" baseline="0" dirty="0">
                <a:sym typeface="Wingdings" panose="05000000000000000000" pitchFamily="2" charset="2"/>
              </a:rPr>
              <a:t> </a:t>
            </a:r>
            <a:r>
              <a:rPr lang="en-US" altLang="ko-KR" baseline="0" dirty="0" err="1">
                <a:sym typeface="Wingdings" panose="05000000000000000000" pitchFamily="2" charset="2"/>
              </a:rPr>
              <a:t>đến</a:t>
            </a:r>
            <a:r>
              <a:rPr lang="en-US" altLang="ko-KR" baseline="0" dirty="0">
                <a:sym typeface="Wingdings" panose="05000000000000000000" pitchFamily="2" charset="2"/>
              </a:rPr>
              <a:t> </a:t>
            </a:r>
            <a:r>
              <a:rPr lang="en-US" altLang="ko-KR" baseline="0" dirty="0" err="1">
                <a:sym typeface="Wingdings" panose="05000000000000000000" pitchFamily="2" charset="2"/>
              </a:rPr>
              <a:t>tay</a:t>
            </a:r>
            <a:r>
              <a:rPr lang="en-US" altLang="ko-KR" baseline="0" dirty="0">
                <a:sym typeface="Wingdings" panose="05000000000000000000" pitchFamily="2" charset="2"/>
              </a:rPr>
              <a:t> </a:t>
            </a:r>
            <a:r>
              <a:rPr lang="en-US" altLang="ko-KR" baseline="0" dirty="0" err="1">
                <a:sym typeface="Wingdings" panose="05000000000000000000" pitchFamily="2" charset="2"/>
              </a:rPr>
              <a:t>khách</a:t>
            </a:r>
            <a:r>
              <a:rPr lang="en-US" altLang="ko-KR" baseline="0" dirty="0">
                <a:sym typeface="Wingdings" panose="05000000000000000000" pitchFamily="2" charset="2"/>
              </a:rPr>
              <a:t> </a:t>
            </a:r>
            <a:r>
              <a:rPr lang="en-US" altLang="ko-KR" baseline="0" dirty="0" err="1">
                <a:sym typeface="Wingdings" panose="05000000000000000000" pitchFamily="2" charset="2"/>
              </a:rPr>
              <a:t>hàng</a:t>
            </a:r>
            <a:endParaRPr lang="ko-KR" altLang="en-US" dirty="0"/>
          </a:p>
        </p:txBody>
      </p:sp>
      <p:sp>
        <p:nvSpPr>
          <p:cNvPr id="4" name="슬라이드 번호 개체 틀 3"/>
          <p:cNvSpPr>
            <a:spLocks noGrp="1"/>
          </p:cNvSpPr>
          <p:nvPr>
            <p:ph type="sldNum" sz="quarter" idx="5"/>
          </p:nvPr>
        </p:nvSpPr>
        <p:spPr/>
        <p:txBody>
          <a:bodyPr/>
          <a:lstStyle/>
          <a:p>
            <a:pPr>
              <a:defRPr/>
            </a:pPr>
            <a:fld id="{EA88EC9E-7100-44D5-885D-DAC9697C3F76}" type="slidenum">
              <a:rPr lang="ko-KR" altLang="en-US" smtClean="0"/>
              <a:pPr>
                <a:defRPr/>
              </a:pPr>
              <a:t>16</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3458468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373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ko-KR" dirty="0" err="1"/>
              <a:t>Khác</a:t>
            </a:r>
            <a:r>
              <a:rPr lang="en-US" altLang="ko-KR" baseline="0" dirty="0"/>
              <a:t> </a:t>
            </a:r>
            <a:r>
              <a:rPr lang="en-US" altLang="ko-KR" baseline="0" dirty="0" err="1"/>
              <a:t>nhau</a:t>
            </a:r>
            <a:r>
              <a:rPr lang="en-US" altLang="ko-KR" baseline="0" dirty="0"/>
              <a:t> </a:t>
            </a:r>
            <a:r>
              <a:rPr lang="en-US" altLang="ko-KR" baseline="0" dirty="0" err="1"/>
              <a:t>giữa</a:t>
            </a:r>
            <a:r>
              <a:rPr lang="en-US" altLang="ko-KR" baseline="0" dirty="0"/>
              <a:t> control </a:t>
            </a:r>
            <a:r>
              <a:rPr lang="en-US" altLang="ko-KR" baseline="0" dirty="0" err="1"/>
              <a:t>và</a:t>
            </a:r>
            <a:r>
              <a:rPr lang="en-US" altLang="ko-KR" baseline="0" dirty="0"/>
              <a:t> improvement</a:t>
            </a:r>
          </a:p>
          <a:p>
            <a:r>
              <a:rPr lang="en-US" altLang="ko-KR" baseline="0" dirty="0"/>
              <a:t>Control: </a:t>
            </a:r>
            <a:r>
              <a:rPr lang="en-US" altLang="ko-KR" baseline="0" dirty="0" err="1"/>
              <a:t>kiểm</a:t>
            </a:r>
            <a:r>
              <a:rPr lang="en-US" altLang="ko-KR" baseline="0" dirty="0"/>
              <a:t> </a:t>
            </a:r>
            <a:r>
              <a:rPr lang="en-US" altLang="ko-KR" baseline="0" dirty="0" err="1"/>
              <a:t>soát</a:t>
            </a:r>
            <a:r>
              <a:rPr lang="en-US" altLang="ko-KR" baseline="0" dirty="0"/>
              <a:t> </a:t>
            </a:r>
            <a:r>
              <a:rPr lang="en-US" altLang="ko-KR" baseline="0" dirty="0" err="1"/>
              <a:t>trong</a:t>
            </a:r>
            <a:r>
              <a:rPr lang="en-US" altLang="ko-KR" baseline="0" dirty="0"/>
              <a:t> 1 </a:t>
            </a:r>
            <a:r>
              <a:rPr lang="en-US" altLang="ko-KR" baseline="0" dirty="0" err="1"/>
              <a:t>mức</a:t>
            </a:r>
            <a:r>
              <a:rPr lang="en-US" altLang="ko-KR" baseline="0" dirty="0"/>
              <a:t> </a:t>
            </a:r>
            <a:r>
              <a:rPr lang="en-US" altLang="ko-KR" baseline="0" dirty="0" err="1"/>
              <a:t>tiêu</a:t>
            </a:r>
            <a:r>
              <a:rPr lang="en-US" altLang="ko-KR" baseline="0" dirty="0"/>
              <a:t> </a:t>
            </a:r>
            <a:r>
              <a:rPr lang="en-US" altLang="ko-KR" baseline="0" dirty="0" err="1"/>
              <a:t>chuẩn</a:t>
            </a:r>
            <a:r>
              <a:rPr lang="en-US" altLang="ko-KR" baseline="0" dirty="0"/>
              <a:t> </a:t>
            </a:r>
            <a:r>
              <a:rPr lang="en-US" altLang="ko-KR" baseline="0" dirty="0" err="1"/>
              <a:t>cho</a:t>
            </a:r>
            <a:r>
              <a:rPr lang="en-US" altLang="ko-KR" baseline="0" dirty="0"/>
              <a:t> </a:t>
            </a:r>
            <a:r>
              <a:rPr lang="en-US" altLang="ko-KR" baseline="0" dirty="0" err="1"/>
              <a:t>trước</a:t>
            </a:r>
            <a:endParaRPr lang="en-US" altLang="ko-KR" baseline="0" dirty="0"/>
          </a:p>
          <a:p>
            <a:r>
              <a:rPr lang="en-US" altLang="ko-KR" baseline="0" dirty="0"/>
              <a:t>VD: </a:t>
            </a:r>
            <a:r>
              <a:rPr lang="en-US" altLang="ko-KR" baseline="0" dirty="0" err="1"/>
              <a:t>yêu</a:t>
            </a:r>
            <a:r>
              <a:rPr lang="en-US" altLang="ko-KR" baseline="0" dirty="0"/>
              <a:t> </a:t>
            </a:r>
            <a:r>
              <a:rPr lang="en-US" altLang="ko-KR" baseline="0" dirty="0" err="1"/>
              <a:t>cầu</a:t>
            </a:r>
            <a:r>
              <a:rPr lang="en-US" altLang="ko-KR" baseline="0" dirty="0"/>
              <a:t> </a:t>
            </a:r>
            <a:r>
              <a:rPr lang="en-US" altLang="ko-KR" baseline="0" dirty="0" err="1"/>
              <a:t>kiểm</a:t>
            </a:r>
            <a:r>
              <a:rPr lang="en-US" altLang="ko-KR" baseline="0" dirty="0"/>
              <a:t> </a:t>
            </a:r>
            <a:r>
              <a:rPr lang="en-US" altLang="ko-KR" baseline="0" dirty="0" err="1"/>
              <a:t>soatas</a:t>
            </a:r>
            <a:r>
              <a:rPr lang="en-US" altLang="ko-KR" baseline="0" dirty="0"/>
              <a:t> </a:t>
            </a:r>
            <a:r>
              <a:rPr lang="en-US" altLang="ko-KR" baseline="0" dirty="0" err="1"/>
              <a:t>học</a:t>
            </a:r>
            <a:r>
              <a:rPr lang="en-US" altLang="ko-KR" baseline="0" dirty="0"/>
              <a:t> </a:t>
            </a:r>
            <a:r>
              <a:rPr lang="en-US" altLang="ko-KR" baseline="0" dirty="0" err="1"/>
              <a:t>lực</a:t>
            </a:r>
            <a:r>
              <a:rPr lang="en-US" altLang="ko-KR" baseline="0" dirty="0"/>
              <a:t> </a:t>
            </a:r>
            <a:r>
              <a:rPr lang="en-US" altLang="ko-KR" baseline="0" dirty="0" err="1"/>
              <a:t>trong</a:t>
            </a:r>
            <a:r>
              <a:rPr lang="en-US" altLang="ko-KR" baseline="0" dirty="0"/>
              <a:t> </a:t>
            </a:r>
            <a:r>
              <a:rPr lang="en-US" altLang="ko-KR" baseline="0" dirty="0" err="1"/>
              <a:t>khoảng</a:t>
            </a:r>
            <a:r>
              <a:rPr lang="en-US" altLang="ko-KR" baseline="0" dirty="0"/>
              <a:t> 80đ, </a:t>
            </a:r>
            <a:r>
              <a:rPr lang="en-US" altLang="ko-KR" baseline="0" dirty="0" err="1"/>
              <a:t>nếu</a:t>
            </a:r>
            <a:r>
              <a:rPr lang="en-US" altLang="ko-KR" baseline="0" dirty="0"/>
              <a:t> </a:t>
            </a:r>
            <a:r>
              <a:rPr lang="en-US" altLang="ko-KR" baseline="0" dirty="0" err="1"/>
              <a:t>điểm</a:t>
            </a:r>
            <a:r>
              <a:rPr lang="en-US" altLang="ko-KR" baseline="0" dirty="0"/>
              <a:t> </a:t>
            </a:r>
            <a:r>
              <a:rPr lang="en-US" altLang="ko-KR" baseline="0" dirty="0" err="1"/>
              <a:t>thấp</a:t>
            </a:r>
            <a:r>
              <a:rPr lang="en-US" altLang="ko-KR" baseline="0" dirty="0"/>
              <a:t> </a:t>
            </a:r>
            <a:r>
              <a:rPr lang="en-US" altLang="ko-KR" baseline="0" dirty="0" err="1"/>
              <a:t>hơn</a:t>
            </a:r>
            <a:r>
              <a:rPr lang="en-US" altLang="ko-KR" baseline="0" dirty="0"/>
              <a:t> </a:t>
            </a:r>
            <a:r>
              <a:rPr lang="en-US" altLang="ko-KR" baseline="0" dirty="0" err="1"/>
              <a:t>thi</a:t>
            </a:r>
            <a:r>
              <a:rPr lang="en-US" altLang="ko-KR" baseline="0" dirty="0"/>
              <a:t> </a:t>
            </a:r>
            <a:r>
              <a:rPr lang="en-US" altLang="ko-KR" baseline="0" dirty="0" err="1"/>
              <a:t>fai</a:t>
            </a:r>
            <a:r>
              <a:rPr lang="en-US" altLang="ko-KR" baseline="0" dirty="0"/>
              <a:t> </a:t>
            </a:r>
            <a:r>
              <a:rPr lang="en-US" altLang="ko-KR" baseline="0" dirty="0" err="1"/>
              <a:t>kéo</a:t>
            </a:r>
            <a:r>
              <a:rPr lang="en-US" altLang="ko-KR" baseline="0" dirty="0"/>
              <a:t> </a:t>
            </a:r>
            <a:r>
              <a:rPr lang="en-US" altLang="ko-KR" baseline="0" dirty="0" err="1"/>
              <a:t>lên</a:t>
            </a:r>
            <a:endParaRPr lang="en-US" altLang="ko-KR" baseline="0" dirty="0"/>
          </a:p>
          <a:p>
            <a:r>
              <a:rPr lang="en-US" altLang="ko-KR" baseline="0" dirty="0"/>
              <a:t>Improvement: </a:t>
            </a:r>
            <a:r>
              <a:rPr lang="en-US" altLang="ko-KR" baseline="0" dirty="0" err="1"/>
              <a:t>hiện</a:t>
            </a:r>
            <a:r>
              <a:rPr lang="en-US" altLang="ko-KR" baseline="0" dirty="0"/>
              <a:t> </a:t>
            </a:r>
            <a:r>
              <a:rPr lang="en-US" altLang="ko-KR" baseline="0" dirty="0" err="1"/>
              <a:t>tại</a:t>
            </a:r>
            <a:r>
              <a:rPr lang="en-US" altLang="ko-KR" baseline="0" dirty="0"/>
              <a:t> </a:t>
            </a:r>
            <a:r>
              <a:rPr lang="en-US" altLang="ko-KR" baseline="0" dirty="0" err="1"/>
              <a:t>điểm</a:t>
            </a:r>
            <a:r>
              <a:rPr lang="en-US" altLang="ko-KR" baseline="0" dirty="0"/>
              <a:t> </a:t>
            </a:r>
            <a:r>
              <a:rPr lang="en-US" altLang="ko-KR" baseline="0" dirty="0" err="1"/>
              <a:t>số</a:t>
            </a:r>
            <a:r>
              <a:rPr lang="en-US" altLang="ko-KR" baseline="0" dirty="0"/>
              <a:t> </a:t>
            </a:r>
            <a:r>
              <a:rPr lang="en-US" altLang="ko-KR" baseline="0" dirty="0" err="1"/>
              <a:t>trên</a:t>
            </a:r>
            <a:r>
              <a:rPr lang="en-US" altLang="ko-KR" baseline="0" dirty="0"/>
              <a:t> 80đ </a:t>
            </a:r>
            <a:r>
              <a:rPr lang="en-US" altLang="ko-KR" baseline="0" dirty="0" err="1"/>
              <a:t>thi</a:t>
            </a:r>
            <a:r>
              <a:rPr lang="en-US" altLang="ko-KR" baseline="0" dirty="0"/>
              <a:t> </a:t>
            </a:r>
            <a:r>
              <a:rPr lang="en-US" altLang="ko-KR" baseline="0" dirty="0" err="1"/>
              <a:t>vân</a:t>
            </a:r>
            <a:r>
              <a:rPr lang="en-US" altLang="ko-KR" baseline="0" dirty="0"/>
              <a:t> </a:t>
            </a:r>
            <a:r>
              <a:rPr lang="en-US" altLang="ko-KR" baseline="0" dirty="0" err="1"/>
              <a:t>fai</a:t>
            </a:r>
            <a:r>
              <a:rPr lang="en-US" altLang="ko-KR" baseline="0" dirty="0"/>
              <a:t> </a:t>
            </a:r>
            <a:r>
              <a:rPr lang="en-US" altLang="ko-KR" baseline="0" dirty="0" err="1"/>
              <a:t>cai</a:t>
            </a:r>
            <a:r>
              <a:rPr lang="en-US" altLang="ko-KR" baseline="0" dirty="0"/>
              <a:t> </a:t>
            </a:r>
            <a:r>
              <a:rPr lang="en-US" altLang="ko-KR" baseline="0" dirty="0" err="1"/>
              <a:t>tiến</a:t>
            </a:r>
            <a:r>
              <a:rPr lang="en-US" altLang="ko-KR" baseline="0" dirty="0"/>
              <a:t>, </a:t>
            </a:r>
            <a:r>
              <a:rPr lang="en-US" altLang="ko-KR" baseline="0" dirty="0" err="1"/>
              <a:t>kéo</a:t>
            </a:r>
            <a:r>
              <a:rPr lang="en-US" altLang="ko-KR" baseline="0" dirty="0"/>
              <a:t> </a:t>
            </a:r>
            <a:r>
              <a:rPr lang="en-US" altLang="ko-KR" baseline="0" dirty="0" err="1"/>
              <a:t>lên</a:t>
            </a:r>
            <a:r>
              <a:rPr lang="en-US" altLang="ko-KR" baseline="0" dirty="0"/>
              <a:t> </a:t>
            </a:r>
            <a:r>
              <a:rPr lang="en-US" altLang="ko-KR" baseline="0" dirty="0" err="1"/>
              <a:t>cao</a:t>
            </a:r>
            <a:r>
              <a:rPr lang="en-US" altLang="ko-KR" baseline="0" dirty="0"/>
              <a:t> </a:t>
            </a:r>
            <a:r>
              <a:rPr lang="en-US" altLang="ko-KR" baseline="0" dirty="0" err="1"/>
              <a:t>nữa</a:t>
            </a:r>
            <a:endParaRPr lang="en-US" altLang="ko-KR" baseline="0" dirty="0"/>
          </a:p>
          <a:p>
            <a:endParaRPr lang="en-US" altLang="ko-KR" baseline="0" dirty="0"/>
          </a:p>
          <a:p>
            <a:r>
              <a:rPr lang="en-US" altLang="ko-KR" baseline="0" dirty="0"/>
              <a:t>VD: </a:t>
            </a:r>
            <a:r>
              <a:rPr lang="en-US" altLang="ko-KR" baseline="0" dirty="0" err="1"/>
              <a:t>trên</a:t>
            </a:r>
            <a:r>
              <a:rPr lang="en-US" altLang="ko-KR" baseline="0" dirty="0"/>
              <a:t> </a:t>
            </a:r>
            <a:r>
              <a:rPr lang="en-US" altLang="ko-KR" baseline="0" dirty="0" err="1"/>
              <a:t>chuyền</a:t>
            </a:r>
            <a:r>
              <a:rPr lang="en-US" altLang="ko-KR" baseline="0" dirty="0"/>
              <a:t> </a:t>
            </a:r>
            <a:r>
              <a:rPr lang="en-US" altLang="ko-KR" baseline="0" dirty="0" err="1"/>
              <a:t>yêu</a:t>
            </a:r>
            <a:r>
              <a:rPr lang="en-US" altLang="ko-KR" baseline="0" dirty="0"/>
              <a:t> </a:t>
            </a:r>
            <a:r>
              <a:rPr lang="en-US" altLang="ko-KR" baseline="0" dirty="0" err="1"/>
              <a:t>câu</a:t>
            </a:r>
            <a:r>
              <a:rPr lang="en-US" altLang="ko-KR" baseline="0" dirty="0"/>
              <a:t> </a:t>
            </a:r>
            <a:r>
              <a:rPr lang="en-US" altLang="ko-KR" baseline="0" dirty="0" err="1"/>
              <a:t>kiêm</a:t>
            </a:r>
            <a:r>
              <a:rPr lang="en-US" altLang="ko-KR" baseline="0" dirty="0"/>
              <a:t> </a:t>
            </a:r>
            <a:r>
              <a:rPr lang="en-US" altLang="ko-KR" baseline="0" dirty="0" err="1"/>
              <a:t>soát</a:t>
            </a:r>
            <a:r>
              <a:rPr lang="en-US" altLang="ko-KR" baseline="0" dirty="0"/>
              <a:t> </a:t>
            </a:r>
            <a:r>
              <a:rPr lang="en-US" altLang="ko-KR" baseline="0" dirty="0" err="1"/>
              <a:t>lỗi</a:t>
            </a:r>
            <a:r>
              <a:rPr lang="en-US" altLang="ko-KR" baseline="0" dirty="0"/>
              <a:t> </a:t>
            </a:r>
            <a:r>
              <a:rPr lang="en-US" altLang="ko-KR" baseline="0" dirty="0" err="1"/>
              <a:t>dưới</a:t>
            </a:r>
            <a:r>
              <a:rPr lang="en-US" altLang="ko-KR" baseline="0" dirty="0"/>
              <a:t> 0.5% </a:t>
            </a:r>
            <a:r>
              <a:rPr lang="en-US" altLang="ko-KR" baseline="0" dirty="0" err="1"/>
              <a:t>thì</a:t>
            </a:r>
            <a:r>
              <a:rPr lang="en-US" altLang="ko-KR" baseline="0" dirty="0"/>
              <a:t> </a:t>
            </a:r>
            <a:r>
              <a:rPr lang="en-US" altLang="ko-KR" baseline="0" dirty="0" err="1"/>
              <a:t>nếu</a:t>
            </a:r>
            <a:r>
              <a:rPr lang="en-US" altLang="ko-KR" baseline="0" dirty="0"/>
              <a:t> </a:t>
            </a:r>
            <a:r>
              <a:rPr lang="en-US" altLang="ko-KR" baseline="0" dirty="0" err="1"/>
              <a:t>treen</a:t>
            </a:r>
            <a:r>
              <a:rPr lang="en-US" altLang="ko-KR" baseline="0" dirty="0"/>
              <a:t> </a:t>
            </a:r>
            <a:r>
              <a:rPr lang="en-US" altLang="ko-KR" baseline="0" dirty="0" err="1"/>
              <a:t>fai</a:t>
            </a:r>
            <a:r>
              <a:rPr lang="en-US" altLang="ko-KR" baseline="0" dirty="0"/>
              <a:t> </a:t>
            </a:r>
            <a:r>
              <a:rPr lang="en-US" altLang="ko-KR" baseline="0" dirty="0" err="1"/>
              <a:t>kéo</a:t>
            </a:r>
            <a:r>
              <a:rPr lang="en-US" altLang="ko-KR" baseline="0" dirty="0"/>
              <a:t> </a:t>
            </a:r>
            <a:r>
              <a:rPr lang="en-US" altLang="ko-KR" baseline="0" dirty="0" err="1"/>
              <a:t>về</a:t>
            </a:r>
            <a:r>
              <a:rPr lang="en-US" altLang="ko-KR" baseline="0" dirty="0"/>
              <a:t>, </a:t>
            </a:r>
            <a:r>
              <a:rPr lang="en-US" altLang="ko-KR" baseline="0" dirty="0" err="1"/>
              <a:t>nhưng</a:t>
            </a:r>
            <a:r>
              <a:rPr lang="en-US" altLang="ko-KR" baseline="0" dirty="0"/>
              <a:t> </a:t>
            </a:r>
            <a:r>
              <a:rPr lang="en-US" altLang="ko-KR" baseline="0" dirty="0" err="1"/>
              <a:t>cải</a:t>
            </a:r>
            <a:r>
              <a:rPr lang="en-US" altLang="ko-KR" baseline="0" dirty="0"/>
              <a:t> </a:t>
            </a:r>
            <a:r>
              <a:rPr lang="en-US" altLang="ko-KR" baseline="0" dirty="0" err="1"/>
              <a:t>tiến</a:t>
            </a:r>
            <a:r>
              <a:rPr lang="en-US" altLang="ko-KR" baseline="0" dirty="0"/>
              <a:t> </a:t>
            </a:r>
            <a:r>
              <a:rPr lang="en-US" altLang="ko-KR" baseline="0" dirty="0" err="1"/>
              <a:t>là</a:t>
            </a:r>
            <a:r>
              <a:rPr lang="en-US" altLang="ko-KR" baseline="0" dirty="0"/>
              <a:t> 0.5% </a:t>
            </a:r>
            <a:r>
              <a:rPr lang="en-US" altLang="ko-KR" baseline="0" dirty="0" err="1"/>
              <a:t>thi</a:t>
            </a:r>
            <a:r>
              <a:rPr lang="en-US" altLang="ko-KR" baseline="0" dirty="0"/>
              <a:t> </a:t>
            </a:r>
            <a:r>
              <a:rPr lang="en-US" altLang="ko-KR" baseline="0" dirty="0" err="1"/>
              <a:t>fai</a:t>
            </a:r>
            <a:r>
              <a:rPr lang="en-US" altLang="ko-KR" baseline="0" dirty="0"/>
              <a:t> </a:t>
            </a:r>
            <a:r>
              <a:rPr lang="en-US" altLang="ko-KR" baseline="0" dirty="0" err="1"/>
              <a:t>đưa</a:t>
            </a:r>
            <a:r>
              <a:rPr lang="en-US" altLang="ko-KR" baseline="0" dirty="0"/>
              <a:t> </a:t>
            </a:r>
            <a:r>
              <a:rPr lang="en-US" altLang="ko-KR" baseline="0" dirty="0" err="1"/>
              <a:t>về</a:t>
            </a:r>
            <a:r>
              <a:rPr lang="en-US" altLang="ko-KR" baseline="0" dirty="0"/>
              <a:t> 0.4, 0.3…</a:t>
            </a:r>
            <a:endParaRPr lang="ko-KR" altLang="en-US" dirty="0"/>
          </a:p>
        </p:txBody>
      </p:sp>
      <p:sp>
        <p:nvSpPr>
          <p:cNvPr id="4" name="슬라이드 번호 개체 틀 3"/>
          <p:cNvSpPr>
            <a:spLocks noGrp="1"/>
          </p:cNvSpPr>
          <p:nvPr>
            <p:ph type="sldNum" sz="quarter" idx="5"/>
          </p:nvPr>
        </p:nvSpPr>
        <p:spPr/>
        <p:txBody>
          <a:bodyPr/>
          <a:lstStyle/>
          <a:p>
            <a:pPr>
              <a:defRPr/>
            </a:pPr>
            <a:fld id="{DEFCC1E3-2E67-4D59-A779-4DB5859D75EC}" type="slidenum">
              <a:rPr lang="ko-KR" altLang="en-US" smtClean="0"/>
              <a:pPr>
                <a:defRPr/>
              </a:pPr>
              <a:t>17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83399718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987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263E39AC-5AD8-4A33-ADC0-8E4C19C32B6A}" type="slidenum">
              <a:rPr lang="ko-KR" altLang="en-US" smtClean="0"/>
              <a:pPr>
                <a:defRPr/>
              </a:pPr>
              <a:t>18</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98096167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475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buFontTx/>
              <a:buChar char="•"/>
            </a:pPr>
            <a:r>
              <a:rPr lang="en-US" altLang="ko-KR" dirty="0" err="1"/>
              <a:t>Phương</a:t>
            </a:r>
            <a:r>
              <a:rPr lang="en-US" altLang="ko-KR" dirty="0"/>
              <a:t> </a:t>
            </a:r>
            <a:r>
              <a:rPr lang="en-US" altLang="ko-KR" dirty="0" err="1"/>
              <a:t>sai</a:t>
            </a:r>
            <a:r>
              <a:rPr lang="en-US" altLang="ko-KR" dirty="0"/>
              <a:t> chi </a:t>
            </a:r>
            <a:r>
              <a:rPr lang="en-US" altLang="ko-KR" dirty="0" err="1"/>
              <a:t>đinh</a:t>
            </a:r>
            <a:r>
              <a:rPr lang="en-US" altLang="ko-KR" baseline="0" dirty="0"/>
              <a:t> </a:t>
            </a:r>
            <a:r>
              <a:rPr lang="en-US" altLang="ko-KR" baseline="0" dirty="0" err="1"/>
              <a:t>năm</a:t>
            </a:r>
            <a:r>
              <a:rPr lang="en-US" altLang="ko-KR" baseline="0" dirty="0"/>
              <a:t> </a:t>
            </a:r>
            <a:r>
              <a:rPr lang="en-US" altLang="ko-KR" baseline="0" dirty="0" err="1"/>
              <a:t>bên</a:t>
            </a:r>
            <a:r>
              <a:rPr lang="en-US" altLang="ko-KR" baseline="0" dirty="0"/>
              <a:t> </a:t>
            </a:r>
            <a:r>
              <a:rPr lang="en-US" altLang="ko-KR" baseline="0" dirty="0" err="1"/>
              <a:t>ngoai</a:t>
            </a:r>
            <a:r>
              <a:rPr lang="en-US" altLang="ko-KR" baseline="0" dirty="0"/>
              <a:t> </a:t>
            </a:r>
            <a:r>
              <a:rPr lang="en-US" altLang="ko-KR" baseline="0" dirty="0" err="1"/>
              <a:t>khoảng</a:t>
            </a:r>
            <a:r>
              <a:rPr lang="en-US" altLang="ko-KR" baseline="0" dirty="0"/>
              <a:t> </a:t>
            </a:r>
            <a:r>
              <a:rPr lang="en-US" altLang="ko-KR" baseline="0" dirty="0" err="1"/>
              <a:t>phân</a:t>
            </a:r>
            <a:r>
              <a:rPr lang="en-US" altLang="ko-KR" baseline="0" dirty="0"/>
              <a:t> </a:t>
            </a:r>
            <a:r>
              <a:rPr lang="en-US" altLang="ko-KR" baseline="0" dirty="0" err="1"/>
              <a:t>bổ</a:t>
            </a:r>
            <a:r>
              <a:rPr lang="en-US" altLang="ko-KR" baseline="0" dirty="0"/>
              <a:t> vi </a:t>
            </a:r>
            <a:r>
              <a:rPr lang="en-US" altLang="ko-KR" baseline="0" dirty="0" err="1"/>
              <a:t>các</a:t>
            </a:r>
            <a:r>
              <a:rPr lang="en-US" altLang="ko-KR" baseline="0" dirty="0"/>
              <a:t> </a:t>
            </a:r>
            <a:r>
              <a:rPr lang="en-US" altLang="ko-KR" baseline="0" dirty="0" err="1"/>
              <a:t>vấn</a:t>
            </a:r>
            <a:r>
              <a:rPr lang="en-US" altLang="ko-KR" baseline="0" dirty="0"/>
              <a:t> </a:t>
            </a:r>
            <a:r>
              <a:rPr lang="en-US" altLang="ko-KR" baseline="0" dirty="0" err="1"/>
              <a:t>đề</a:t>
            </a:r>
            <a:r>
              <a:rPr lang="en-US" altLang="ko-KR" baseline="0" dirty="0"/>
              <a:t> </a:t>
            </a:r>
            <a:r>
              <a:rPr lang="en-US" altLang="ko-KR" baseline="0" dirty="0" err="1"/>
              <a:t>bất</a:t>
            </a:r>
            <a:r>
              <a:rPr lang="en-US" altLang="ko-KR" baseline="0" dirty="0"/>
              <a:t> </a:t>
            </a:r>
            <a:r>
              <a:rPr lang="en-US" altLang="ko-KR" baseline="0" dirty="0" err="1"/>
              <a:t>thường</a:t>
            </a:r>
            <a:r>
              <a:rPr lang="en-US" altLang="ko-KR" baseline="0" dirty="0"/>
              <a:t>, </a:t>
            </a:r>
            <a:r>
              <a:rPr lang="en-US" altLang="ko-KR" baseline="0" dirty="0" err="1"/>
              <a:t>vd</a:t>
            </a:r>
            <a:r>
              <a:rPr lang="en-US" altLang="ko-KR" baseline="0" dirty="0"/>
              <a:t> do </a:t>
            </a:r>
            <a:r>
              <a:rPr lang="en-US" altLang="ko-KR" baseline="0" dirty="0" err="1"/>
              <a:t>bất</a:t>
            </a:r>
            <a:r>
              <a:rPr lang="en-US" altLang="ko-KR" baseline="0" dirty="0"/>
              <a:t> </a:t>
            </a:r>
            <a:r>
              <a:rPr lang="en-US" altLang="ko-KR" baseline="0" dirty="0" err="1"/>
              <a:t>cẩn</a:t>
            </a:r>
            <a:r>
              <a:rPr lang="en-US" altLang="ko-KR" baseline="0" dirty="0"/>
              <a:t>, </a:t>
            </a:r>
            <a:r>
              <a:rPr lang="en-US" altLang="ko-KR" baseline="0" dirty="0" err="1"/>
              <a:t>máy</a:t>
            </a:r>
            <a:r>
              <a:rPr lang="en-US" altLang="ko-KR" baseline="0" dirty="0"/>
              <a:t> </a:t>
            </a:r>
            <a:r>
              <a:rPr lang="en-US" altLang="ko-KR" baseline="0" dirty="0" err="1"/>
              <a:t>móc</a:t>
            </a:r>
            <a:r>
              <a:rPr lang="en-US" altLang="ko-KR" baseline="0" dirty="0"/>
              <a:t> </a:t>
            </a:r>
            <a:r>
              <a:rPr lang="en-US" altLang="ko-KR" baseline="0" dirty="0" err="1"/>
              <a:t>hỏng</a:t>
            </a:r>
            <a:r>
              <a:rPr lang="en-US" altLang="ko-KR" baseline="0" dirty="0"/>
              <a:t>…</a:t>
            </a:r>
            <a:r>
              <a:rPr lang="en-US" altLang="ko-KR" baseline="0" dirty="0" err="1"/>
              <a:t>dẫn</a:t>
            </a:r>
            <a:r>
              <a:rPr lang="en-US" altLang="ko-KR" baseline="0" dirty="0"/>
              <a:t> </a:t>
            </a:r>
            <a:r>
              <a:rPr lang="en-US" altLang="ko-KR" baseline="0" dirty="0" err="1"/>
              <a:t>đến</a:t>
            </a:r>
            <a:r>
              <a:rPr lang="en-US" altLang="ko-KR" baseline="0" dirty="0"/>
              <a:t> </a:t>
            </a:r>
            <a:r>
              <a:rPr lang="en-US" altLang="ko-KR" baseline="0" dirty="0" err="1"/>
              <a:t>dừng</a:t>
            </a:r>
            <a:r>
              <a:rPr lang="en-US" altLang="ko-KR" baseline="0" dirty="0"/>
              <a:t> </a:t>
            </a:r>
            <a:r>
              <a:rPr lang="en-US" altLang="ko-KR" baseline="0" dirty="0" err="1"/>
              <a:t>chuyền</a:t>
            </a:r>
            <a:endParaRPr lang="en-US" altLang="ko-KR" baseline="0" dirty="0"/>
          </a:p>
          <a:p>
            <a:pPr>
              <a:buFontTx/>
              <a:buChar char="•"/>
            </a:pPr>
            <a:r>
              <a:rPr lang="en-US" altLang="ko-KR" baseline="0" dirty="0"/>
              <a:t>PS </a:t>
            </a:r>
            <a:r>
              <a:rPr lang="en-US" altLang="ko-KR" baseline="0" dirty="0" err="1"/>
              <a:t>ngẫu</a:t>
            </a:r>
            <a:r>
              <a:rPr lang="en-US" altLang="ko-KR" baseline="0" dirty="0"/>
              <a:t> </a:t>
            </a:r>
            <a:r>
              <a:rPr lang="en-US" altLang="ko-KR" baseline="0" dirty="0" err="1"/>
              <a:t>nhiên</a:t>
            </a:r>
            <a:r>
              <a:rPr lang="en-US" altLang="ko-KR" baseline="0" dirty="0"/>
              <a:t> </a:t>
            </a:r>
            <a:r>
              <a:rPr lang="en-US" altLang="ko-KR" baseline="0" dirty="0" err="1"/>
              <a:t>là</a:t>
            </a:r>
            <a:r>
              <a:rPr lang="en-US" altLang="ko-KR" baseline="0" dirty="0"/>
              <a:t> </a:t>
            </a:r>
            <a:r>
              <a:rPr lang="en-US" altLang="ko-KR" baseline="0" dirty="0" err="1"/>
              <a:t>những</a:t>
            </a:r>
            <a:r>
              <a:rPr lang="en-US" altLang="ko-KR" baseline="0" dirty="0"/>
              <a:t> </a:t>
            </a:r>
            <a:r>
              <a:rPr lang="en-US" altLang="ko-KR" baseline="0" dirty="0" err="1"/>
              <a:t>thay</a:t>
            </a:r>
            <a:r>
              <a:rPr lang="en-US" altLang="ko-KR" baseline="0" dirty="0"/>
              <a:t> </a:t>
            </a:r>
            <a:r>
              <a:rPr lang="en-US" altLang="ko-KR" baseline="0" dirty="0" err="1"/>
              <a:t>đổi</a:t>
            </a:r>
            <a:r>
              <a:rPr lang="en-US" altLang="ko-KR" baseline="0" dirty="0"/>
              <a:t> </a:t>
            </a:r>
            <a:r>
              <a:rPr lang="en-US" altLang="ko-KR" baseline="0" dirty="0" err="1"/>
              <a:t>liên</a:t>
            </a:r>
            <a:r>
              <a:rPr lang="en-US" altLang="ko-KR" baseline="0" dirty="0"/>
              <a:t> </a:t>
            </a:r>
            <a:r>
              <a:rPr lang="en-US" altLang="ko-KR" baseline="0" dirty="0" err="1"/>
              <a:t>tục</a:t>
            </a:r>
            <a:r>
              <a:rPr lang="en-US" altLang="ko-KR" baseline="0" dirty="0"/>
              <a:t> </a:t>
            </a:r>
            <a:r>
              <a:rPr lang="en-US" altLang="ko-KR" baseline="0" dirty="0" err="1"/>
              <a:t>trong</a:t>
            </a:r>
            <a:r>
              <a:rPr lang="en-US" altLang="ko-KR" baseline="0" dirty="0"/>
              <a:t> </a:t>
            </a:r>
            <a:r>
              <a:rPr lang="en-US" altLang="ko-KR" baseline="0" dirty="0" err="1"/>
              <a:t>đk</a:t>
            </a:r>
            <a:r>
              <a:rPr lang="en-US" altLang="ko-KR" baseline="0" dirty="0"/>
              <a:t> </a:t>
            </a:r>
            <a:r>
              <a:rPr lang="en-US" altLang="ko-KR" baseline="0" dirty="0" err="1"/>
              <a:t>sx</a:t>
            </a:r>
            <a:r>
              <a:rPr lang="en-US" altLang="ko-KR" baseline="0" dirty="0"/>
              <a:t>: </a:t>
            </a:r>
            <a:r>
              <a:rPr lang="en-US" altLang="ko-KR" baseline="0" dirty="0" err="1"/>
              <a:t>vd</a:t>
            </a:r>
            <a:r>
              <a:rPr lang="en-US" altLang="ko-KR" baseline="0" dirty="0"/>
              <a:t> do </a:t>
            </a:r>
            <a:r>
              <a:rPr lang="en-US" altLang="ko-KR" baseline="0" dirty="0" err="1"/>
              <a:t>môi</a:t>
            </a:r>
            <a:r>
              <a:rPr lang="en-US" altLang="ko-KR" baseline="0" dirty="0"/>
              <a:t> </a:t>
            </a:r>
            <a:r>
              <a:rPr lang="en-US" altLang="ko-KR" baseline="0" dirty="0" err="1"/>
              <a:t>trường</a:t>
            </a:r>
            <a:r>
              <a:rPr lang="en-US" altLang="ko-KR" baseline="0" dirty="0"/>
              <a:t> lam </a:t>
            </a:r>
            <a:r>
              <a:rPr lang="en-US" altLang="ko-KR" baseline="0" dirty="0" err="1"/>
              <a:t>việc</a:t>
            </a:r>
            <a:r>
              <a:rPr lang="en-US" altLang="ko-KR" baseline="0" dirty="0"/>
              <a:t> </a:t>
            </a:r>
            <a:r>
              <a:rPr lang="en-US" altLang="ko-KR" baseline="0" dirty="0" err="1"/>
              <a:t>khác</a:t>
            </a:r>
            <a:r>
              <a:rPr lang="en-US" altLang="ko-KR" baseline="0" dirty="0"/>
              <a:t> </a:t>
            </a:r>
            <a:r>
              <a:rPr lang="en-US" altLang="ko-KR" baseline="0" dirty="0" err="1"/>
              <a:t>nhau</a:t>
            </a:r>
            <a:r>
              <a:rPr lang="en-US" altLang="ko-KR" baseline="0" dirty="0"/>
              <a:t>, </a:t>
            </a:r>
            <a:r>
              <a:rPr lang="en-US" altLang="ko-KR" baseline="0" dirty="0" err="1"/>
              <a:t>khác</a:t>
            </a:r>
            <a:r>
              <a:rPr lang="en-US" altLang="ko-KR" baseline="0" dirty="0"/>
              <a:t> </a:t>
            </a:r>
            <a:r>
              <a:rPr lang="en-US" altLang="ko-KR" baseline="0" dirty="0" err="1"/>
              <a:t>biệt</a:t>
            </a:r>
            <a:r>
              <a:rPr lang="en-US" altLang="ko-KR" baseline="0" dirty="0"/>
              <a:t> </a:t>
            </a:r>
            <a:r>
              <a:rPr lang="en-US" altLang="ko-KR" baseline="0" dirty="0" err="1"/>
              <a:t>về</a:t>
            </a:r>
            <a:r>
              <a:rPr lang="en-US" altLang="ko-KR" baseline="0" dirty="0"/>
              <a:t> </a:t>
            </a:r>
            <a:r>
              <a:rPr lang="en-US" altLang="ko-KR" baseline="0" dirty="0" err="1"/>
              <a:t>kỹ</a:t>
            </a:r>
            <a:r>
              <a:rPr lang="en-US" altLang="ko-KR" baseline="0" dirty="0"/>
              <a:t> </a:t>
            </a:r>
            <a:r>
              <a:rPr lang="en-US" altLang="ko-KR" baseline="0" dirty="0" err="1"/>
              <a:t>năg</a:t>
            </a:r>
            <a:r>
              <a:rPr lang="en-US" altLang="ko-KR" baseline="0" dirty="0"/>
              <a:t> </a:t>
            </a:r>
            <a:r>
              <a:rPr lang="en-US" altLang="ko-KR" baseline="0" dirty="0" err="1"/>
              <a:t>làm</a:t>
            </a:r>
            <a:r>
              <a:rPr lang="en-US" altLang="ko-KR" baseline="0" dirty="0"/>
              <a:t> </a:t>
            </a:r>
            <a:r>
              <a:rPr lang="en-US" altLang="ko-KR" baseline="0" dirty="0" err="1"/>
              <a:t>việc</a:t>
            </a:r>
            <a:r>
              <a:rPr lang="en-US" altLang="ko-KR" baseline="0" dirty="0"/>
              <a:t> </a:t>
            </a:r>
            <a:r>
              <a:rPr lang="en-US" altLang="ko-KR" baseline="0" dirty="0" err="1"/>
              <a:t>của</a:t>
            </a:r>
            <a:r>
              <a:rPr lang="en-US" altLang="ko-KR" baseline="0" dirty="0"/>
              <a:t> </a:t>
            </a:r>
            <a:r>
              <a:rPr lang="en-US" altLang="ko-KR" baseline="0" dirty="0" err="1"/>
              <a:t>công</a:t>
            </a:r>
            <a:r>
              <a:rPr lang="en-US" altLang="ko-KR" baseline="0" dirty="0"/>
              <a:t> </a:t>
            </a:r>
            <a:r>
              <a:rPr lang="en-US" altLang="ko-KR" baseline="0" dirty="0" err="1"/>
              <a:t>nhân</a:t>
            </a:r>
            <a:r>
              <a:rPr lang="en-US" altLang="ko-KR" baseline="0" dirty="0"/>
              <a:t>… </a:t>
            </a:r>
            <a:r>
              <a:rPr lang="en-US" altLang="ko-KR" baseline="0" dirty="0" err="1"/>
              <a:t>gây</a:t>
            </a:r>
            <a:r>
              <a:rPr lang="en-US" altLang="ko-KR" baseline="0" dirty="0"/>
              <a:t> </a:t>
            </a:r>
            <a:r>
              <a:rPr lang="en-US" altLang="ko-KR" baseline="0" dirty="0" err="1"/>
              <a:t>ra</a:t>
            </a:r>
            <a:r>
              <a:rPr lang="en-US" altLang="ko-KR" baseline="0" dirty="0"/>
              <a:t> </a:t>
            </a:r>
            <a:r>
              <a:rPr lang="en-US" altLang="ko-KR" baseline="0" dirty="0" err="1"/>
              <a:t>sai</a:t>
            </a:r>
            <a:r>
              <a:rPr lang="en-US" altLang="ko-KR" baseline="0" dirty="0"/>
              <a:t> </a:t>
            </a:r>
            <a:r>
              <a:rPr lang="en-US" altLang="ko-KR" baseline="0" dirty="0" err="1"/>
              <a:t>số</a:t>
            </a:r>
            <a:r>
              <a:rPr lang="en-US" altLang="ko-KR" baseline="0" dirty="0"/>
              <a:t> </a:t>
            </a:r>
            <a:r>
              <a:rPr lang="en-US" altLang="ko-KR" baseline="0" dirty="0" err="1"/>
              <a:t>nhưng</a:t>
            </a:r>
            <a:r>
              <a:rPr lang="en-US" altLang="ko-KR" baseline="0" dirty="0"/>
              <a:t> </a:t>
            </a:r>
            <a:r>
              <a:rPr lang="en-US" altLang="ko-KR" baseline="0" dirty="0" err="1"/>
              <a:t>vẫn</a:t>
            </a:r>
            <a:r>
              <a:rPr lang="en-US" altLang="ko-KR" baseline="0" dirty="0"/>
              <a:t> </a:t>
            </a:r>
            <a:r>
              <a:rPr lang="en-US" altLang="ko-KR" baseline="0" dirty="0" err="1"/>
              <a:t>trong</a:t>
            </a:r>
            <a:r>
              <a:rPr lang="en-US" altLang="ko-KR" baseline="0" dirty="0"/>
              <a:t> </a:t>
            </a:r>
            <a:r>
              <a:rPr lang="en-US" altLang="ko-KR" baseline="0" dirty="0" err="1"/>
              <a:t>khoảng</a:t>
            </a:r>
            <a:r>
              <a:rPr lang="en-US" altLang="ko-KR" baseline="0" dirty="0"/>
              <a:t> </a:t>
            </a:r>
            <a:r>
              <a:rPr lang="en-US" altLang="ko-KR" baseline="0" dirty="0" err="1"/>
              <a:t>phân</a:t>
            </a:r>
            <a:r>
              <a:rPr lang="en-US" altLang="ko-KR" baseline="0" dirty="0"/>
              <a:t> </a:t>
            </a:r>
            <a:r>
              <a:rPr lang="en-US" altLang="ko-KR" baseline="0" dirty="0" err="1"/>
              <a:t>bố</a:t>
            </a:r>
            <a:endParaRPr lang="ko-KR" altLang="en-US" dirty="0"/>
          </a:p>
        </p:txBody>
      </p:sp>
      <p:sp>
        <p:nvSpPr>
          <p:cNvPr id="4" name="슬라이드 번호 개체 틀 3"/>
          <p:cNvSpPr>
            <a:spLocks noGrp="1"/>
          </p:cNvSpPr>
          <p:nvPr>
            <p:ph type="sldNum" sz="quarter" idx="5"/>
          </p:nvPr>
        </p:nvSpPr>
        <p:spPr/>
        <p:txBody>
          <a:bodyPr/>
          <a:lstStyle/>
          <a:p>
            <a:pPr>
              <a:defRPr/>
            </a:pPr>
            <a:fld id="{25FCCE29-17AB-40F5-A27C-3ACFED412727}" type="slidenum">
              <a:rPr lang="ko-KR" altLang="en-US" smtClean="0"/>
              <a:pPr>
                <a:defRPr/>
              </a:pPr>
              <a:t>19</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74337708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577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buFontTx/>
              <a:buNone/>
            </a:pPr>
            <a:r>
              <a:rPr lang="en-US" altLang="ko-KR" dirty="0"/>
              <a:t>VD:</a:t>
            </a:r>
            <a:r>
              <a:rPr lang="en-US" altLang="ko-KR" baseline="0" dirty="0"/>
              <a:t> </a:t>
            </a:r>
            <a:r>
              <a:rPr lang="en-US" altLang="ko-KR" baseline="0" dirty="0" err="1"/>
              <a:t>khuôn</a:t>
            </a:r>
            <a:r>
              <a:rPr lang="en-US" altLang="ko-KR" baseline="0" dirty="0"/>
              <a:t>: </a:t>
            </a:r>
            <a:r>
              <a:rPr lang="en-US" altLang="ko-KR" baseline="0" dirty="0" err="1"/>
              <a:t>sp</a:t>
            </a:r>
            <a:r>
              <a:rPr lang="en-US" altLang="ko-KR" baseline="0" dirty="0"/>
              <a:t> </a:t>
            </a:r>
            <a:r>
              <a:rPr lang="en-US" altLang="ko-KR" baseline="0" dirty="0" err="1"/>
              <a:t>bị</a:t>
            </a:r>
            <a:r>
              <a:rPr lang="en-US" altLang="ko-KR" baseline="0" dirty="0"/>
              <a:t> NG do </a:t>
            </a:r>
            <a:r>
              <a:rPr lang="en-US" altLang="ko-KR" baseline="0" dirty="0" err="1"/>
              <a:t>khuôn</a:t>
            </a:r>
            <a:r>
              <a:rPr lang="en-US" altLang="ko-KR" baseline="0" dirty="0"/>
              <a:t> </a:t>
            </a:r>
            <a:r>
              <a:rPr lang="en-US" altLang="ko-KR" baseline="0" dirty="0" err="1"/>
              <a:t>bị</a:t>
            </a:r>
            <a:r>
              <a:rPr lang="en-US" altLang="ko-KR" baseline="0" dirty="0"/>
              <a:t> </a:t>
            </a:r>
            <a:r>
              <a:rPr lang="en-US" altLang="ko-KR" baseline="0" dirty="0" err="1"/>
              <a:t>mòn</a:t>
            </a:r>
            <a:r>
              <a:rPr lang="en-US" altLang="ko-KR" baseline="0" dirty="0"/>
              <a:t>, </a:t>
            </a:r>
            <a:r>
              <a:rPr lang="en-US" altLang="ko-KR" baseline="0" dirty="0" err="1"/>
              <a:t>vậy</a:t>
            </a:r>
            <a:r>
              <a:rPr lang="en-US" altLang="ko-KR" baseline="0" dirty="0"/>
              <a:t> </a:t>
            </a:r>
            <a:r>
              <a:rPr lang="en-US" altLang="ko-KR" baseline="0" dirty="0" err="1"/>
              <a:t>nguyên</a:t>
            </a:r>
            <a:r>
              <a:rPr lang="en-US" altLang="ko-KR" baseline="0" dirty="0"/>
              <a:t> </a:t>
            </a:r>
            <a:r>
              <a:rPr lang="en-US" altLang="ko-KR" baseline="0" dirty="0" err="1"/>
              <a:t>nhan</a:t>
            </a:r>
            <a:r>
              <a:rPr lang="en-US" altLang="ko-KR" baseline="0" dirty="0"/>
              <a:t> </a:t>
            </a:r>
            <a:r>
              <a:rPr lang="en-US" altLang="ko-KR" baseline="0" dirty="0" err="1"/>
              <a:t>này</a:t>
            </a:r>
            <a:r>
              <a:rPr lang="en-US" altLang="ko-KR" baseline="0" dirty="0"/>
              <a:t> </a:t>
            </a:r>
            <a:r>
              <a:rPr lang="en-US" altLang="ko-KR" baseline="0" dirty="0" err="1"/>
              <a:t>thuộc</a:t>
            </a:r>
            <a:r>
              <a:rPr lang="en-US" altLang="ko-KR" baseline="0" dirty="0"/>
              <a:t> </a:t>
            </a:r>
            <a:r>
              <a:rPr lang="en-US" altLang="ko-KR" baseline="0" dirty="0" err="1"/>
              <a:t>về</a:t>
            </a:r>
            <a:r>
              <a:rPr lang="en-US" altLang="ko-KR" baseline="0" dirty="0"/>
              <a:t> </a:t>
            </a:r>
            <a:r>
              <a:rPr lang="en-US" altLang="ko-KR" baseline="0" dirty="0" err="1"/>
              <a:t>ngẫu</a:t>
            </a:r>
            <a:r>
              <a:rPr lang="en-US" altLang="ko-KR" baseline="0" dirty="0"/>
              <a:t> </a:t>
            </a:r>
            <a:r>
              <a:rPr lang="en-US" altLang="ko-KR" baseline="0" dirty="0" err="1"/>
              <a:t>nhiên</a:t>
            </a:r>
            <a:r>
              <a:rPr lang="en-US" altLang="ko-KR" baseline="0" dirty="0"/>
              <a:t> hay </a:t>
            </a:r>
            <a:r>
              <a:rPr lang="en-US" altLang="ko-KR" baseline="0" dirty="0" err="1"/>
              <a:t>chỉ</a:t>
            </a:r>
            <a:r>
              <a:rPr lang="en-US" altLang="ko-KR" baseline="0" dirty="0"/>
              <a:t> </a:t>
            </a:r>
            <a:r>
              <a:rPr lang="en-US" altLang="ko-KR" baseline="0" dirty="0" err="1"/>
              <a:t>định</a:t>
            </a:r>
            <a:r>
              <a:rPr lang="en-US" altLang="ko-KR" baseline="0" dirty="0"/>
              <a:t> </a:t>
            </a:r>
            <a:r>
              <a:rPr lang="en-US" altLang="ko-KR" baseline="0" dirty="0">
                <a:sym typeface="Wingdings" panose="05000000000000000000" pitchFamily="2" charset="2"/>
              </a:rPr>
              <a:t> do </a:t>
            </a:r>
            <a:r>
              <a:rPr lang="en-US" altLang="ko-KR" baseline="0" dirty="0" err="1">
                <a:sym typeface="Wingdings" panose="05000000000000000000" pitchFamily="2" charset="2"/>
              </a:rPr>
              <a:t>chỉ</a:t>
            </a:r>
            <a:r>
              <a:rPr lang="en-US" altLang="ko-KR" baseline="0" dirty="0">
                <a:sym typeface="Wingdings" panose="05000000000000000000" pitchFamily="2" charset="2"/>
              </a:rPr>
              <a:t> </a:t>
            </a:r>
            <a:r>
              <a:rPr lang="en-US" altLang="ko-KR" baseline="0" dirty="0" err="1">
                <a:sym typeface="Wingdings" panose="05000000000000000000" pitchFamily="2" charset="2"/>
              </a:rPr>
              <a:t>định</a:t>
            </a:r>
            <a:endParaRPr lang="en-US" altLang="ko-KR" baseline="0" dirty="0">
              <a:sym typeface="Wingdings" panose="05000000000000000000" pitchFamily="2" charset="2"/>
            </a:endParaRPr>
          </a:p>
          <a:p>
            <a:pPr>
              <a:buFontTx/>
              <a:buNone/>
            </a:pPr>
            <a:r>
              <a:rPr lang="en-US" altLang="ko-KR" baseline="0" dirty="0" err="1">
                <a:sym typeface="Wingdings" panose="05000000000000000000" pitchFamily="2" charset="2"/>
              </a:rPr>
              <a:t>Phải</a:t>
            </a:r>
            <a:r>
              <a:rPr lang="en-US" altLang="ko-KR" baseline="0" dirty="0">
                <a:sym typeface="Wingdings" panose="05000000000000000000" pitchFamily="2" charset="2"/>
              </a:rPr>
              <a:t> </a:t>
            </a:r>
            <a:r>
              <a:rPr lang="en-US" altLang="ko-KR" baseline="0" dirty="0" err="1">
                <a:sym typeface="Wingdings" panose="05000000000000000000" pitchFamily="2" charset="2"/>
              </a:rPr>
              <a:t>có</a:t>
            </a:r>
            <a:r>
              <a:rPr lang="en-US" altLang="ko-KR" baseline="0" dirty="0">
                <a:sym typeface="Wingdings" panose="05000000000000000000" pitchFamily="2" charset="2"/>
              </a:rPr>
              <a:t> </a:t>
            </a:r>
            <a:r>
              <a:rPr lang="en-US" altLang="ko-KR" baseline="0" dirty="0" err="1">
                <a:sym typeface="Wingdings" panose="05000000000000000000" pitchFamily="2" charset="2"/>
              </a:rPr>
              <a:t>quy</a:t>
            </a:r>
            <a:r>
              <a:rPr lang="en-US" altLang="ko-KR" baseline="0" dirty="0">
                <a:sym typeface="Wingdings" panose="05000000000000000000" pitchFamily="2" charset="2"/>
              </a:rPr>
              <a:t> </a:t>
            </a:r>
            <a:r>
              <a:rPr lang="en-US" altLang="ko-KR" baseline="0" dirty="0" err="1">
                <a:sym typeface="Wingdings" panose="05000000000000000000" pitchFamily="2" charset="2"/>
              </a:rPr>
              <a:t>trinh</a:t>
            </a:r>
            <a:r>
              <a:rPr lang="en-US" altLang="ko-KR" baseline="0" dirty="0">
                <a:sym typeface="Wingdings" panose="05000000000000000000" pitchFamily="2" charset="2"/>
              </a:rPr>
              <a:t> </a:t>
            </a:r>
            <a:r>
              <a:rPr lang="en-US" altLang="ko-KR" baseline="0" dirty="0" err="1">
                <a:sym typeface="Wingdings" panose="05000000000000000000" pitchFamily="2" charset="2"/>
              </a:rPr>
              <a:t>bao</a:t>
            </a:r>
            <a:r>
              <a:rPr lang="en-US" altLang="ko-KR" baseline="0" dirty="0">
                <a:sym typeface="Wingdings" panose="05000000000000000000" pitchFamily="2" charset="2"/>
              </a:rPr>
              <a:t> tri </a:t>
            </a:r>
            <a:r>
              <a:rPr lang="en-US" altLang="ko-KR" baseline="0" dirty="0" err="1">
                <a:sym typeface="Wingdings" panose="05000000000000000000" pitchFamily="2" charset="2"/>
              </a:rPr>
              <a:t>bao</a:t>
            </a:r>
            <a:r>
              <a:rPr lang="en-US" altLang="ko-KR" baseline="0" dirty="0">
                <a:sym typeface="Wingdings" panose="05000000000000000000" pitchFamily="2" charset="2"/>
              </a:rPr>
              <a:t> </a:t>
            </a:r>
            <a:r>
              <a:rPr lang="en-US" altLang="ko-KR" baseline="0" dirty="0" err="1">
                <a:sym typeface="Wingdings" panose="05000000000000000000" pitchFamily="2" charset="2"/>
              </a:rPr>
              <a:t>dưỡng</a:t>
            </a:r>
            <a:r>
              <a:rPr lang="en-US" altLang="ko-KR" baseline="0" dirty="0">
                <a:sym typeface="Wingdings" panose="05000000000000000000" pitchFamily="2" charset="2"/>
              </a:rPr>
              <a:t>, </a:t>
            </a:r>
            <a:r>
              <a:rPr lang="en-US" altLang="ko-KR" baseline="0" dirty="0" err="1">
                <a:sym typeface="Wingdings" panose="05000000000000000000" pitchFamily="2" charset="2"/>
              </a:rPr>
              <a:t>mặc</a:t>
            </a:r>
            <a:r>
              <a:rPr lang="en-US" altLang="ko-KR" baseline="0" dirty="0">
                <a:sym typeface="Wingdings" panose="05000000000000000000" pitchFamily="2" charset="2"/>
              </a:rPr>
              <a:t> </a:t>
            </a:r>
            <a:r>
              <a:rPr lang="en-US" altLang="ko-KR" baseline="0" dirty="0" err="1">
                <a:sym typeface="Wingdings" panose="05000000000000000000" pitchFamily="2" charset="2"/>
              </a:rPr>
              <a:t>dù</a:t>
            </a:r>
            <a:r>
              <a:rPr lang="en-US" altLang="ko-KR" baseline="0" dirty="0">
                <a:sym typeface="Wingdings" panose="05000000000000000000" pitchFamily="2" charset="2"/>
              </a:rPr>
              <a:t> dung </a:t>
            </a:r>
            <a:r>
              <a:rPr lang="en-US" altLang="ko-KR" baseline="0" dirty="0" err="1">
                <a:sym typeface="Wingdings" panose="05000000000000000000" pitchFamily="2" charset="2"/>
              </a:rPr>
              <a:t>lâu</a:t>
            </a:r>
            <a:r>
              <a:rPr lang="en-US" altLang="ko-KR" baseline="0" dirty="0">
                <a:sym typeface="Wingdings" panose="05000000000000000000" pitchFamily="2" charset="2"/>
              </a:rPr>
              <a:t> </a:t>
            </a:r>
            <a:r>
              <a:rPr lang="en-US" altLang="ko-KR" baseline="0" dirty="0" err="1">
                <a:sym typeface="Wingdings" panose="05000000000000000000" pitchFamily="2" charset="2"/>
              </a:rPr>
              <a:t>sẽ</a:t>
            </a:r>
            <a:r>
              <a:rPr lang="en-US" altLang="ko-KR" baseline="0" dirty="0">
                <a:sym typeface="Wingdings" panose="05000000000000000000" pitchFamily="2" charset="2"/>
              </a:rPr>
              <a:t> </a:t>
            </a:r>
            <a:r>
              <a:rPr lang="en-US" altLang="ko-KR" baseline="0" dirty="0" err="1">
                <a:sym typeface="Wingdings" panose="05000000000000000000" pitchFamily="2" charset="2"/>
              </a:rPr>
              <a:t>mòn</a:t>
            </a:r>
            <a:r>
              <a:rPr lang="en-US" altLang="ko-KR" baseline="0" dirty="0">
                <a:sym typeface="Wingdings" panose="05000000000000000000" pitchFamily="2" charset="2"/>
              </a:rPr>
              <a:t> </a:t>
            </a:r>
            <a:r>
              <a:rPr lang="en-US" altLang="ko-KR" baseline="0" dirty="0" err="1">
                <a:sym typeface="Wingdings" panose="05000000000000000000" pitchFamily="2" charset="2"/>
              </a:rPr>
              <a:t>nhưng</a:t>
            </a:r>
            <a:r>
              <a:rPr lang="en-US" altLang="ko-KR" baseline="0" dirty="0">
                <a:sym typeface="Wingdings" panose="05000000000000000000" pitchFamily="2" charset="2"/>
              </a:rPr>
              <a:t> </a:t>
            </a:r>
            <a:r>
              <a:rPr lang="en-US" altLang="ko-KR" baseline="0" dirty="0" err="1">
                <a:sym typeface="Wingdings" panose="05000000000000000000" pitchFamily="2" charset="2"/>
              </a:rPr>
              <a:t>nếu</a:t>
            </a:r>
            <a:r>
              <a:rPr lang="en-US" altLang="ko-KR" baseline="0" dirty="0">
                <a:sym typeface="Wingdings" panose="05000000000000000000" pitchFamily="2" charset="2"/>
              </a:rPr>
              <a:t> </a:t>
            </a:r>
            <a:r>
              <a:rPr lang="en-US" altLang="ko-KR" baseline="0" dirty="0" err="1">
                <a:sym typeface="Wingdings" panose="05000000000000000000" pitchFamily="2" charset="2"/>
              </a:rPr>
              <a:t>tuân</a:t>
            </a:r>
            <a:r>
              <a:rPr lang="en-US" altLang="ko-KR" baseline="0" dirty="0">
                <a:sym typeface="Wingdings" panose="05000000000000000000" pitchFamily="2" charset="2"/>
              </a:rPr>
              <a:t> </a:t>
            </a:r>
            <a:r>
              <a:rPr lang="en-US" altLang="ko-KR" baseline="0" dirty="0" err="1">
                <a:sym typeface="Wingdings" panose="05000000000000000000" pitchFamily="2" charset="2"/>
              </a:rPr>
              <a:t>thu</a:t>
            </a:r>
            <a:r>
              <a:rPr lang="en-US" altLang="ko-KR" baseline="0" dirty="0">
                <a:sym typeface="Wingdings" panose="05000000000000000000" pitchFamily="2" charset="2"/>
              </a:rPr>
              <a:t> </a:t>
            </a:r>
            <a:r>
              <a:rPr lang="en-US" altLang="ko-KR" baseline="0" dirty="0" err="1">
                <a:sym typeface="Wingdings" panose="05000000000000000000" pitchFamily="2" charset="2"/>
              </a:rPr>
              <a:t>quy</a:t>
            </a:r>
            <a:r>
              <a:rPr lang="en-US" altLang="ko-KR" baseline="0" dirty="0">
                <a:sym typeface="Wingdings" panose="05000000000000000000" pitchFamily="2" charset="2"/>
              </a:rPr>
              <a:t> </a:t>
            </a:r>
            <a:r>
              <a:rPr lang="en-US" altLang="ko-KR" baseline="0" dirty="0" err="1">
                <a:sym typeface="Wingdings" panose="05000000000000000000" pitchFamily="2" charset="2"/>
              </a:rPr>
              <a:t>trinh</a:t>
            </a:r>
            <a:r>
              <a:rPr lang="en-US" altLang="ko-KR" baseline="0" dirty="0">
                <a:sym typeface="Wingdings" panose="05000000000000000000" pitchFamily="2" charset="2"/>
              </a:rPr>
              <a:t> </a:t>
            </a:r>
            <a:r>
              <a:rPr lang="en-US" altLang="ko-KR" baseline="0" dirty="0" err="1">
                <a:sym typeface="Wingdings" panose="05000000000000000000" pitchFamily="2" charset="2"/>
              </a:rPr>
              <a:t>bao</a:t>
            </a:r>
            <a:r>
              <a:rPr lang="en-US" altLang="ko-KR" baseline="0" dirty="0">
                <a:sym typeface="Wingdings" panose="05000000000000000000" pitchFamily="2" charset="2"/>
              </a:rPr>
              <a:t> tri </a:t>
            </a:r>
            <a:r>
              <a:rPr lang="en-US" altLang="ko-KR" baseline="0" dirty="0" err="1">
                <a:sym typeface="Wingdings" panose="05000000000000000000" pitchFamily="2" charset="2"/>
              </a:rPr>
              <a:t>bao</a:t>
            </a:r>
            <a:r>
              <a:rPr lang="en-US" altLang="ko-KR" baseline="0" dirty="0">
                <a:sym typeface="Wingdings" panose="05000000000000000000" pitchFamily="2" charset="2"/>
              </a:rPr>
              <a:t> </a:t>
            </a:r>
            <a:r>
              <a:rPr lang="en-US" altLang="ko-KR" baseline="0" dirty="0" err="1">
                <a:sym typeface="Wingdings" panose="05000000000000000000" pitchFamily="2" charset="2"/>
              </a:rPr>
              <a:t>dương</a:t>
            </a:r>
            <a:r>
              <a:rPr lang="en-US" altLang="ko-KR" baseline="0" dirty="0">
                <a:sym typeface="Wingdings" panose="05000000000000000000" pitchFamily="2" charset="2"/>
              </a:rPr>
              <a:t> </a:t>
            </a:r>
            <a:r>
              <a:rPr lang="en-US" altLang="ko-KR" baseline="0" dirty="0" err="1">
                <a:sym typeface="Wingdings" panose="05000000000000000000" pitchFamily="2" charset="2"/>
              </a:rPr>
              <a:t>thi</a:t>
            </a:r>
            <a:r>
              <a:rPr lang="en-US" altLang="ko-KR" baseline="0" dirty="0">
                <a:sym typeface="Wingdings" panose="05000000000000000000" pitchFamily="2" charset="2"/>
              </a:rPr>
              <a:t> </a:t>
            </a:r>
            <a:r>
              <a:rPr lang="en-US" altLang="ko-KR" baseline="0" dirty="0" err="1">
                <a:sym typeface="Wingdings" panose="05000000000000000000" pitchFamily="2" charset="2"/>
              </a:rPr>
              <a:t>vẫn</a:t>
            </a:r>
            <a:r>
              <a:rPr lang="en-US" altLang="ko-KR" baseline="0" dirty="0">
                <a:sym typeface="Wingdings" panose="05000000000000000000" pitchFamily="2" charset="2"/>
              </a:rPr>
              <a:t> </a:t>
            </a:r>
            <a:r>
              <a:rPr lang="en-US" altLang="ko-KR" baseline="0" dirty="0" err="1">
                <a:sym typeface="Wingdings" panose="05000000000000000000" pitchFamily="2" charset="2"/>
              </a:rPr>
              <a:t>hđ</a:t>
            </a:r>
            <a:r>
              <a:rPr lang="en-US" altLang="ko-KR" baseline="0" dirty="0">
                <a:sym typeface="Wingdings" panose="05000000000000000000" pitchFamily="2" charset="2"/>
              </a:rPr>
              <a:t> </a:t>
            </a:r>
            <a:r>
              <a:rPr lang="en-US" altLang="ko-KR" baseline="0" dirty="0" err="1">
                <a:sym typeface="Wingdings" panose="05000000000000000000" pitchFamily="2" charset="2"/>
              </a:rPr>
              <a:t>tôt</a:t>
            </a:r>
            <a:endParaRPr lang="en-US" altLang="ko-KR" baseline="0" dirty="0">
              <a:sym typeface="Wingdings" panose="05000000000000000000" pitchFamily="2" charset="2"/>
            </a:endParaRPr>
          </a:p>
          <a:p>
            <a:pPr>
              <a:buFontTx/>
              <a:buNone/>
            </a:pPr>
            <a:r>
              <a:rPr lang="en-US" altLang="ko-KR" baseline="0" dirty="0" err="1">
                <a:sym typeface="Wingdings" panose="05000000000000000000" pitchFamily="2" charset="2"/>
              </a:rPr>
              <a:t>Nếu</a:t>
            </a:r>
            <a:r>
              <a:rPr lang="en-US" altLang="ko-KR" baseline="0" dirty="0">
                <a:sym typeface="Wingdings" panose="05000000000000000000" pitchFamily="2" charset="2"/>
              </a:rPr>
              <a:t> 1 </a:t>
            </a:r>
            <a:r>
              <a:rPr lang="en-US" altLang="ko-KR" baseline="0" dirty="0" err="1">
                <a:sym typeface="Wingdings" panose="05000000000000000000" pitchFamily="2" charset="2"/>
              </a:rPr>
              <a:t>vđ</a:t>
            </a:r>
            <a:r>
              <a:rPr lang="en-US" altLang="ko-KR" baseline="0" dirty="0">
                <a:sym typeface="Wingdings" panose="05000000000000000000" pitchFamily="2" charset="2"/>
              </a:rPr>
              <a:t> j </a:t>
            </a:r>
            <a:r>
              <a:rPr lang="en-US" altLang="ko-KR" baseline="0" dirty="0" err="1">
                <a:sym typeface="Wingdings" panose="05000000000000000000" pitchFamily="2" charset="2"/>
              </a:rPr>
              <a:t>đó</a:t>
            </a:r>
            <a:r>
              <a:rPr lang="en-US" altLang="ko-KR" baseline="0" dirty="0">
                <a:sym typeface="Wingdings" panose="05000000000000000000" pitchFamily="2" charset="2"/>
              </a:rPr>
              <a:t> </a:t>
            </a:r>
            <a:r>
              <a:rPr lang="en-US" altLang="ko-KR" baseline="0" dirty="0" err="1">
                <a:sym typeface="Wingdings" panose="05000000000000000000" pitchFamily="2" charset="2"/>
              </a:rPr>
              <a:t>ko</a:t>
            </a:r>
            <a:r>
              <a:rPr lang="en-US" altLang="ko-KR" baseline="0" dirty="0">
                <a:sym typeface="Wingdings" panose="05000000000000000000" pitchFamily="2" charset="2"/>
              </a:rPr>
              <a:t> </a:t>
            </a:r>
            <a:r>
              <a:rPr lang="en-US" altLang="ko-KR" baseline="0" dirty="0" err="1">
                <a:sym typeface="Wingdings" panose="05000000000000000000" pitchFamily="2" charset="2"/>
              </a:rPr>
              <a:t>có</a:t>
            </a:r>
            <a:r>
              <a:rPr lang="en-US" altLang="ko-KR" baseline="0" dirty="0">
                <a:sym typeface="Wingdings" panose="05000000000000000000" pitchFamily="2" charset="2"/>
              </a:rPr>
              <a:t> </a:t>
            </a:r>
            <a:r>
              <a:rPr lang="en-US" altLang="ko-KR" baseline="0" dirty="0" err="1">
                <a:sym typeface="Wingdings" panose="05000000000000000000" pitchFamily="2" charset="2"/>
              </a:rPr>
              <a:t>quy</a:t>
            </a:r>
            <a:r>
              <a:rPr lang="en-US" altLang="ko-KR" baseline="0" dirty="0">
                <a:sym typeface="Wingdings" panose="05000000000000000000" pitchFamily="2" charset="2"/>
              </a:rPr>
              <a:t> </a:t>
            </a:r>
            <a:r>
              <a:rPr lang="en-US" altLang="ko-KR" baseline="0" dirty="0" err="1">
                <a:sym typeface="Wingdings" panose="05000000000000000000" pitchFamily="2" charset="2"/>
              </a:rPr>
              <a:t>trinh</a:t>
            </a:r>
            <a:r>
              <a:rPr lang="en-US" altLang="ko-KR" baseline="0" dirty="0">
                <a:sym typeface="Wingdings" panose="05000000000000000000" pitchFamily="2" charset="2"/>
              </a:rPr>
              <a:t> </a:t>
            </a:r>
            <a:r>
              <a:rPr lang="en-US" altLang="ko-KR" baseline="0" dirty="0" err="1">
                <a:sym typeface="Wingdings" panose="05000000000000000000" pitchFamily="2" charset="2"/>
              </a:rPr>
              <a:t>mà</a:t>
            </a:r>
            <a:r>
              <a:rPr lang="en-US" altLang="ko-KR" baseline="0" dirty="0">
                <a:sym typeface="Wingdings" panose="05000000000000000000" pitchFamily="2" charset="2"/>
              </a:rPr>
              <a:t> </a:t>
            </a:r>
            <a:r>
              <a:rPr lang="en-US" altLang="ko-KR" baseline="0" dirty="0" err="1">
                <a:sym typeface="Wingdings" panose="05000000000000000000" pitchFamily="2" charset="2"/>
              </a:rPr>
              <a:t>đột</a:t>
            </a:r>
            <a:r>
              <a:rPr lang="en-US" altLang="ko-KR" baseline="0" dirty="0">
                <a:sym typeface="Wingdings" panose="05000000000000000000" pitchFamily="2" charset="2"/>
              </a:rPr>
              <a:t> </a:t>
            </a:r>
            <a:r>
              <a:rPr lang="en-US" altLang="ko-KR" baseline="0" dirty="0" err="1">
                <a:sym typeface="Wingdings" panose="05000000000000000000" pitchFamily="2" charset="2"/>
              </a:rPr>
              <a:t>nhiên</a:t>
            </a:r>
            <a:r>
              <a:rPr lang="en-US" altLang="ko-KR" baseline="0" dirty="0">
                <a:sym typeface="Wingdings" panose="05000000000000000000" pitchFamily="2" charset="2"/>
              </a:rPr>
              <a:t> </a:t>
            </a:r>
            <a:r>
              <a:rPr lang="en-US" altLang="ko-KR" baseline="0" dirty="0" err="1">
                <a:sym typeface="Wingdings" panose="05000000000000000000" pitchFamily="2" charset="2"/>
              </a:rPr>
              <a:t>xay</a:t>
            </a:r>
            <a:r>
              <a:rPr lang="en-US" altLang="ko-KR" baseline="0" dirty="0">
                <a:sym typeface="Wingdings" panose="05000000000000000000" pitchFamily="2" charset="2"/>
              </a:rPr>
              <a:t> </a:t>
            </a:r>
            <a:r>
              <a:rPr lang="en-US" altLang="ko-KR" baseline="0" dirty="0" err="1">
                <a:sym typeface="Wingdings" panose="05000000000000000000" pitchFamily="2" charset="2"/>
              </a:rPr>
              <a:t>ra</a:t>
            </a:r>
            <a:r>
              <a:rPr lang="en-US" altLang="ko-KR" baseline="0" dirty="0">
                <a:sym typeface="Wingdings" panose="05000000000000000000" pitchFamily="2" charset="2"/>
              </a:rPr>
              <a:t> </a:t>
            </a:r>
            <a:r>
              <a:rPr lang="en-US" altLang="ko-KR" baseline="0" dirty="0" err="1">
                <a:sym typeface="Wingdings" panose="05000000000000000000" pitchFamily="2" charset="2"/>
              </a:rPr>
              <a:t>thi</a:t>
            </a:r>
            <a:r>
              <a:rPr lang="en-US" altLang="ko-KR" baseline="0" dirty="0">
                <a:sym typeface="Wingdings" panose="05000000000000000000" pitchFamily="2" charset="2"/>
              </a:rPr>
              <a:t> </a:t>
            </a:r>
            <a:r>
              <a:rPr lang="en-US" altLang="ko-KR" baseline="0" dirty="0" err="1">
                <a:sym typeface="Wingdings" panose="05000000000000000000" pitchFamily="2" charset="2"/>
              </a:rPr>
              <a:t>sx</a:t>
            </a:r>
            <a:r>
              <a:rPr lang="en-US" altLang="ko-KR" baseline="0" dirty="0">
                <a:sym typeface="Wingdings" panose="05000000000000000000" pitchFamily="2" charset="2"/>
              </a:rPr>
              <a:t> </a:t>
            </a:r>
            <a:r>
              <a:rPr lang="en-US" altLang="ko-KR" baseline="0" dirty="0" err="1">
                <a:sym typeface="Wingdings" panose="05000000000000000000" pitchFamily="2" charset="2"/>
              </a:rPr>
              <a:t>thuôc</a:t>
            </a:r>
            <a:r>
              <a:rPr lang="en-US" altLang="ko-KR" baseline="0" dirty="0">
                <a:sym typeface="Wingdings" panose="05000000000000000000" pitchFamily="2" charset="2"/>
              </a:rPr>
              <a:t> </a:t>
            </a:r>
            <a:r>
              <a:rPr lang="en-US" altLang="ko-KR" baseline="0" dirty="0" err="1">
                <a:sym typeface="Wingdings" panose="05000000000000000000" pitchFamily="2" charset="2"/>
              </a:rPr>
              <a:t>về</a:t>
            </a:r>
            <a:r>
              <a:rPr lang="en-US" altLang="ko-KR" baseline="0" dirty="0">
                <a:sym typeface="Wingdings" panose="05000000000000000000" pitchFamily="2" charset="2"/>
              </a:rPr>
              <a:t> </a:t>
            </a:r>
            <a:r>
              <a:rPr lang="en-US" altLang="ko-KR" baseline="0" dirty="0" err="1">
                <a:sym typeface="Wingdings" panose="05000000000000000000" pitchFamily="2" charset="2"/>
              </a:rPr>
              <a:t>ngẫu</a:t>
            </a:r>
            <a:r>
              <a:rPr lang="en-US" altLang="ko-KR" baseline="0" dirty="0">
                <a:sym typeface="Wingdings" panose="05000000000000000000" pitchFamily="2" charset="2"/>
              </a:rPr>
              <a:t> </a:t>
            </a:r>
            <a:r>
              <a:rPr lang="en-US" altLang="ko-KR" baseline="0" dirty="0" err="1">
                <a:sym typeface="Wingdings" panose="05000000000000000000" pitchFamily="2" charset="2"/>
              </a:rPr>
              <a:t>nhiên</a:t>
            </a:r>
            <a:endParaRPr lang="ko-KR" altLang="en-US" dirty="0"/>
          </a:p>
        </p:txBody>
      </p:sp>
      <p:sp>
        <p:nvSpPr>
          <p:cNvPr id="4" name="슬라이드 번호 개체 틀 3"/>
          <p:cNvSpPr>
            <a:spLocks noGrp="1"/>
          </p:cNvSpPr>
          <p:nvPr>
            <p:ph type="sldNum" sz="quarter" idx="5"/>
          </p:nvPr>
        </p:nvSpPr>
        <p:spPr/>
        <p:txBody>
          <a:bodyPr/>
          <a:lstStyle/>
          <a:p>
            <a:pPr>
              <a:defRPr/>
            </a:pPr>
            <a:fld id="{869357B0-A30C-43CD-B758-63E9720523F1}" type="slidenum">
              <a:rPr lang="ko-KR" altLang="en-US" smtClean="0"/>
              <a:pPr>
                <a:defRPr/>
              </a:pPr>
              <a:t>20</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5404149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680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buFontTx/>
              <a:buNone/>
            </a:pPr>
            <a:r>
              <a:rPr lang="en-US" altLang="ko-KR" dirty="0" err="1"/>
              <a:t>Đường</a:t>
            </a:r>
            <a:r>
              <a:rPr lang="en-US" altLang="ko-KR" dirty="0"/>
              <a:t> </a:t>
            </a:r>
            <a:r>
              <a:rPr lang="en-US" altLang="ko-KR" dirty="0" err="1"/>
              <a:t>phân</a:t>
            </a:r>
            <a:r>
              <a:rPr lang="en-US" altLang="ko-KR" baseline="0" dirty="0"/>
              <a:t> </a:t>
            </a:r>
            <a:r>
              <a:rPr lang="en-US" altLang="ko-KR" baseline="0" dirty="0" err="1"/>
              <a:t>phối</a:t>
            </a:r>
            <a:r>
              <a:rPr lang="en-US" altLang="ko-KR" baseline="0" dirty="0"/>
              <a:t> </a:t>
            </a:r>
            <a:r>
              <a:rPr lang="en-US" altLang="ko-KR" baseline="0" dirty="0" err="1"/>
              <a:t>chuẩn</a:t>
            </a:r>
            <a:r>
              <a:rPr lang="en-US" altLang="ko-KR" baseline="0" dirty="0"/>
              <a:t>: normal distribution (</a:t>
            </a:r>
            <a:r>
              <a:rPr lang="en-US" altLang="ko-KR" baseline="0" dirty="0" err="1"/>
              <a:t>đg</a:t>
            </a:r>
            <a:r>
              <a:rPr lang="en-US" altLang="ko-KR" baseline="0" dirty="0"/>
              <a:t> </a:t>
            </a:r>
            <a:r>
              <a:rPr lang="en-US" altLang="ko-KR" baseline="0" dirty="0" err="1"/>
              <a:t>hinh</a:t>
            </a:r>
            <a:r>
              <a:rPr lang="en-US" altLang="ko-KR" baseline="0" dirty="0"/>
              <a:t> </a:t>
            </a:r>
            <a:r>
              <a:rPr lang="en-US" altLang="ko-KR" baseline="0" dirty="0" err="1"/>
              <a:t>chuông</a:t>
            </a:r>
            <a:r>
              <a:rPr lang="en-US" altLang="ko-KR" baseline="0" dirty="0"/>
              <a:t>)</a:t>
            </a:r>
          </a:p>
          <a:p>
            <a:pPr>
              <a:buFontTx/>
              <a:buNone/>
            </a:pPr>
            <a:r>
              <a:rPr lang="en-US" altLang="ko-KR" baseline="0" dirty="0" err="1"/>
              <a:t>Đặc</a:t>
            </a:r>
            <a:r>
              <a:rPr lang="en-US" altLang="ko-KR" baseline="0" dirty="0"/>
              <a:t> </a:t>
            </a:r>
            <a:r>
              <a:rPr lang="en-US" altLang="ko-KR" baseline="0" dirty="0" err="1"/>
              <a:t>điểm</a:t>
            </a:r>
            <a:r>
              <a:rPr lang="en-US" altLang="ko-KR" baseline="0" dirty="0"/>
              <a:t> </a:t>
            </a:r>
            <a:r>
              <a:rPr lang="en-US" altLang="ko-KR" baseline="0" dirty="0" err="1"/>
              <a:t>là</a:t>
            </a:r>
            <a:r>
              <a:rPr lang="en-US" altLang="ko-KR" baseline="0" dirty="0"/>
              <a:t> j; </a:t>
            </a:r>
            <a:r>
              <a:rPr lang="en-US" altLang="ko-KR" baseline="0" dirty="0" err="1"/>
              <a:t>cân</a:t>
            </a:r>
            <a:r>
              <a:rPr lang="en-US" altLang="ko-KR" baseline="0" dirty="0"/>
              <a:t> </a:t>
            </a:r>
            <a:r>
              <a:rPr lang="en-US" altLang="ko-KR" baseline="0" dirty="0" err="1"/>
              <a:t>đối</a:t>
            </a:r>
            <a:r>
              <a:rPr lang="en-US" altLang="ko-KR" baseline="0" dirty="0"/>
              <a:t>, </a:t>
            </a:r>
            <a:r>
              <a:rPr lang="en-US" altLang="ko-KR" baseline="0" dirty="0" err="1"/>
              <a:t>đôi</a:t>
            </a:r>
            <a:r>
              <a:rPr lang="en-US" altLang="ko-KR" baseline="0" dirty="0"/>
              <a:t> </a:t>
            </a:r>
            <a:r>
              <a:rPr lang="en-US" altLang="ko-KR" baseline="0" dirty="0" err="1"/>
              <a:t>xứng</a:t>
            </a:r>
            <a:r>
              <a:rPr lang="en-US" altLang="ko-KR" baseline="0" dirty="0"/>
              <a:t> </a:t>
            </a:r>
            <a:r>
              <a:rPr lang="en-US" altLang="ko-KR" baseline="0" dirty="0">
                <a:sym typeface="Wingdings" panose="05000000000000000000" pitchFamily="2" charset="2"/>
              </a:rPr>
              <a:t> </a:t>
            </a:r>
            <a:r>
              <a:rPr lang="en-US" altLang="ko-KR" baseline="0" dirty="0" err="1">
                <a:sym typeface="Wingdings" panose="05000000000000000000" pitchFamily="2" charset="2"/>
              </a:rPr>
              <a:t>hầu</a:t>
            </a:r>
            <a:r>
              <a:rPr lang="en-US" altLang="ko-KR" baseline="0" dirty="0">
                <a:sym typeface="Wingdings" panose="05000000000000000000" pitchFamily="2" charset="2"/>
              </a:rPr>
              <a:t> </a:t>
            </a:r>
            <a:r>
              <a:rPr lang="en-US" altLang="ko-KR" baseline="0" dirty="0" err="1">
                <a:sym typeface="Wingdings" panose="05000000000000000000" pitchFamily="2" charset="2"/>
              </a:rPr>
              <a:t>hết</a:t>
            </a:r>
            <a:r>
              <a:rPr lang="en-US" altLang="ko-KR" baseline="0" dirty="0">
                <a:sym typeface="Wingdings" panose="05000000000000000000" pitchFamily="2" charset="2"/>
              </a:rPr>
              <a:t> </a:t>
            </a:r>
            <a:r>
              <a:rPr lang="en-US" altLang="ko-KR" baseline="0" dirty="0" err="1">
                <a:sym typeface="Wingdings" panose="05000000000000000000" pitchFamily="2" charset="2"/>
              </a:rPr>
              <a:t>các</a:t>
            </a:r>
            <a:r>
              <a:rPr lang="en-US" altLang="ko-KR" baseline="0" dirty="0">
                <a:sym typeface="Wingdings" panose="05000000000000000000" pitchFamily="2" charset="2"/>
              </a:rPr>
              <a:t> </a:t>
            </a:r>
            <a:r>
              <a:rPr lang="en-US" altLang="ko-KR" baseline="0" dirty="0" err="1">
                <a:sym typeface="Wingdings" panose="05000000000000000000" pitchFamily="2" charset="2"/>
              </a:rPr>
              <a:t>dữ</a:t>
            </a:r>
            <a:r>
              <a:rPr lang="en-US" altLang="ko-KR" baseline="0" dirty="0">
                <a:sym typeface="Wingdings" panose="05000000000000000000" pitchFamily="2" charset="2"/>
              </a:rPr>
              <a:t> </a:t>
            </a:r>
            <a:r>
              <a:rPr lang="en-US" altLang="ko-KR" baseline="0" dirty="0" err="1">
                <a:sym typeface="Wingdings" panose="05000000000000000000" pitchFamily="2" charset="2"/>
              </a:rPr>
              <a:t>liệu</a:t>
            </a:r>
            <a:r>
              <a:rPr lang="en-US" altLang="ko-KR" baseline="0" dirty="0">
                <a:sym typeface="Wingdings" panose="05000000000000000000" pitchFamily="2" charset="2"/>
              </a:rPr>
              <a:t> </a:t>
            </a:r>
            <a:r>
              <a:rPr lang="en-US" altLang="ko-KR" baseline="0" dirty="0" err="1">
                <a:sym typeface="Wingdings" panose="05000000000000000000" pitchFamily="2" charset="2"/>
              </a:rPr>
              <a:t>sẽ</a:t>
            </a:r>
            <a:r>
              <a:rPr lang="en-US" altLang="ko-KR" baseline="0" dirty="0">
                <a:sym typeface="Wingdings" panose="05000000000000000000" pitchFamily="2" charset="2"/>
              </a:rPr>
              <a:t> </a:t>
            </a:r>
            <a:r>
              <a:rPr lang="en-US" altLang="ko-KR" baseline="0" dirty="0" err="1">
                <a:sym typeface="Wingdings" panose="05000000000000000000" pitchFamily="2" charset="2"/>
              </a:rPr>
              <a:t>tuân</a:t>
            </a:r>
            <a:r>
              <a:rPr lang="en-US" altLang="ko-KR" baseline="0" dirty="0">
                <a:sym typeface="Wingdings" panose="05000000000000000000" pitchFamily="2" charset="2"/>
              </a:rPr>
              <a:t> </a:t>
            </a:r>
            <a:r>
              <a:rPr lang="en-US" altLang="ko-KR" baseline="0" dirty="0" err="1">
                <a:sym typeface="Wingdings" panose="05000000000000000000" pitchFamily="2" charset="2"/>
              </a:rPr>
              <a:t>theo</a:t>
            </a:r>
            <a:r>
              <a:rPr lang="en-US" altLang="ko-KR" baseline="0" dirty="0">
                <a:sym typeface="Wingdings" panose="05000000000000000000" pitchFamily="2" charset="2"/>
              </a:rPr>
              <a:t> </a:t>
            </a:r>
            <a:r>
              <a:rPr lang="en-US" altLang="ko-KR" baseline="0" dirty="0" err="1">
                <a:sym typeface="Wingdings" panose="05000000000000000000" pitchFamily="2" charset="2"/>
              </a:rPr>
              <a:t>đg</a:t>
            </a:r>
            <a:r>
              <a:rPr lang="en-US" altLang="ko-KR" baseline="0" dirty="0">
                <a:sym typeface="Wingdings" panose="05000000000000000000" pitchFamily="2" charset="2"/>
              </a:rPr>
              <a:t> </a:t>
            </a:r>
            <a:r>
              <a:rPr lang="en-US" altLang="ko-KR" baseline="0" dirty="0" err="1">
                <a:sym typeface="Wingdings" panose="05000000000000000000" pitchFamily="2" charset="2"/>
              </a:rPr>
              <a:t>phân</a:t>
            </a:r>
            <a:r>
              <a:rPr lang="en-US" altLang="ko-KR" baseline="0" dirty="0">
                <a:sym typeface="Wingdings" panose="05000000000000000000" pitchFamily="2" charset="2"/>
              </a:rPr>
              <a:t> </a:t>
            </a:r>
            <a:r>
              <a:rPr lang="en-US" altLang="ko-KR" baseline="0" dirty="0" err="1">
                <a:sym typeface="Wingdings" panose="05000000000000000000" pitchFamily="2" charset="2"/>
              </a:rPr>
              <a:t>phối</a:t>
            </a:r>
            <a:r>
              <a:rPr lang="en-US" altLang="ko-KR" baseline="0" dirty="0">
                <a:sym typeface="Wingdings" panose="05000000000000000000" pitchFamily="2" charset="2"/>
              </a:rPr>
              <a:t> </a:t>
            </a:r>
            <a:r>
              <a:rPr lang="en-US" altLang="ko-KR" baseline="0" dirty="0" err="1">
                <a:sym typeface="Wingdings" panose="05000000000000000000" pitchFamily="2" charset="2"/>
              </a:rPr>
              <a:t>này</a:t>
            </a:r>
            <a:r>
              <a:rPr lang="en-US" altLang="ko-KR" baseline="0" dirty="0">
                <a:sym typeface="Wingdings" panose="05000000000000000000" pitchFamily="2" charset="2"/>
              </a:rPr>
              <a:t>, </a:t>
            </a:r>
            <a:r>
              <a:rPr lang="en-US" altLang="ko-KR" baseline="0" dirty="0" err="1">
                <a:sym typeface="Wingdings" panose="05000000000000000000" pitchFamily="2" charset="2"/>
              </a:rPr>
              <a:t>bao</a:t>
            </a:r>
            <a:r>
              <a:rPr lang="en-US" altLang="ko-KR" baseline="0" dirty="0">
                <a:sym typeface="Wingdings" panose="05000000000000000000" pitchFamily="2" charset="2"/>
              </a:rPr>
              <a:t> </a:t>
            </a:r>
            <a:r>
              <a:rPr lang="en-US" altLang="ko-KR" baseline="0" dirty="0" err="1">
                <a:sym typeface="Wingdings" panose="05000000000000000000" pitchFamily="2" charset="2"/>
              </a:rPr>
              <a:t>gôm</a:t>
            </a:r>
            <a:r>
              <a:rPr lang="en-US" altLang="ko-KR" baseline="0" dirty="0">
                <a:sym typeface="Wingdings" panose="05000000000000000000" pitchFamily="2" charset="2"/>
              </a:rPr>
              <a:t> ca </a:t>
            </a:r>
            <a:r>
              <a:rPr lang="en-US" altLang="ko-KR" baseline="0" dirty="0" err="1">
                <a:sym typeface="Wingdings" panose="05000000000000000000" pitchFamily="2" charset="2"/>
              </a:rPr>
              <a:t>dư</a:t>
            </a:r>
            <a:r>
              <a:rPr lang="en-US" altLang="ko-KR" baseline="0" dirty="0">
                <a:sym typeface="Wingdings" panose="05000000000000000000" pitchFamily="2" charset="2"/>
              </a:rPr>
              <a:t> lieu </a:t>
            </a:r>
            <a:r>
              <a:rPr lang="en-US" altLang="ko-KR" baseline="0" dirty="0" err="1">
                <a:sym typeface="Wingdings" panose="05000000000000000000" pitchFamily="2" charset="2"/>
              </a:rPr>
              <a:t>đo</a:t>
            </a:r>
            <a:r>
              <a:rPr lang="en-US" altLang="ko-KR" baseline="0" dirty="0">
                <a:sym typeface="Wingdings" panose="05000000000000000000" pitchFamily="2" charset="2"/>
              </a:rPr>
              <a:t> </a:t>
            </a:r>
            <a:r>
              <a:rPr lang="en-US" altLang="ko-KR" baseline="0" dirty="0" err="1">
                <a:sym typeface="Wingdings" panose="05000000000000000000" pitchFamily="2" charset="2"/>
              </a:rPr>
              <a:t>lương</a:t>
            </a:r>
            <a:r>
              <a:rPr lang="en-US" altLang="ko-KR" baseline="0" dirty="0">
                <a:sym typeface="Wingdings" panose="05000000000000000000" pitchFamily="2" charset="2"/>
              </a:rPr>
              <a:t> </a:t>
            </a:r>
            <a:r>
              <a:rPr lang="en-US" altLang="ko-KR" baseline="0" dirty="0" err="1">
                <a:sym typeface="Wingdings" panose="05000000000000000000" pitchFamily="2" charset="2"/>
              </a:rPr>
              <a:t>trong</a:t>
            </a:r>
            <a:r>
              <a:rPr lang="en-US" altLang="ko-KR" baseline="0" dirty="0">
                <a:sym typeface="Wingdings" panose="05000000000000000000" pitchFamily="2" charset="2"/>
              </a:rPr>
              <a:t> </a:t>
            </a:r>
            <a:r>
              <a:rPr lang="en-US" altLang="ko-KR" baseline="0" dirty="0" err="1">
                <a:sym typeface="Wingdings" panose="05000000000000000000" pitchFamily="2" charset="2"/>
              </a:rPr>
              <a:t>sx</a:t>
            </a:r>
            <a:endParaRPr lang="en-US" altLang="ko-KR" baseline="0" dirty="0">
              <a:sym typeface="Wingdings" panose="05000000000000000000" pitchFamily="2" charset="2"/>
            </a:endParaRPr>
          </a:p>
          <a:p>
            <a:pPr>
              <a:buFontTx/>
              <a:buNone/>
            </a:pPr>
            <a:r>
              <a:rPr lang="en-US" altLang="ko-KR" baseline="0" dirty="0" err="1">
                <a:sym typeface="Wingdings" panose="05000000000000000000" pitchFamily="2" charset="2"/>
              </a:rPr>
              <a:t>Đg</a:t>
            </a:r>
            <a:r>
              <a:rPr lang="en-US" altLang="ko-KR" baseline="0" dirty="0">
                <a:sym typeface="Wingdings" panose="05000000000000000000" pitchFamily="2" charset="2"/>
              </a:rPr>
              <a:t> </a:t>
            </a:r>
            <a:r>
              <a:rPr lang="en-US" altLang="ko-KR" baseline="0" dirty="0" err="1">
                <a:sym typeface="Wingdings" panose="05000000000000000000" pitchFamily="2" charset="2"/>
              </a:rPr>
              <a:t>này</a:t>
            </a:r>
            <a:r>
              <a:rPr lang="en-US" altLang="ko-KR" baseline="0" dirty="0">
                <a:sym typeface="Wingdings" panose="05000000000000000000" pitchFamily="2" charset="2"/>
              </a:rPr>
              <a:t> </a:t>
            </a:r>
            <a:r>
              <a:rPr lang="en-US" altLang="ko-KR" baseline="0" dirty="0" err="1">
                <a:sym typeface="Wingdings" panose="05000000000000000000" pitchFamily="2" charset="2"/>
              </a:rPr>
              <a:t>ko</a:t>
            </a:r>
            <a:r>
              <a:rPr lang="en-US" altLang="ko-KR" baseline="0" dirty="0">
                <a:sym typeface="Wingdings" panose="05000000000000000000" pitchFamily="2" charset="2"/>
              </a:rPr>
              <a:t> </a:t>
            </a:r>
            <a:r>
              <a:rPr lang="en-US" altLang="ko-KR" baseline="0" dirty="0" err="1">
                <a:sym typeface="Wingdings" panose="05000000000000000000" pitchFamily="2" charset="2"/>
              </a:rPr>
              <a:t>bao</a:t>
            </a:r>
            <a:r>
              <a:rPr lang="en-US" altLang="ko-KR" baseline="0" dirty="0">
                <a:sym typeface="Wingdings" panose="05000000000000000000" pitchFamily="2" charset="2"/>
              </a:rPr>
              <a:t> </a:t>
            </a:r>
            <a:r>
              <a:rPr lang="en-US" altLang="ko-KR" baseline="0" dirty="0" err="1">
                <a:sym typeface="Wingdings" panose="05000000000000000000" pitchFamily="2" charset="2"/>
              </a:rPr>
              <a:t>giờ</a:t>
            </a:r>
            <a:r>
              <a:rPr lang="en-US" altLang="ko-KR" baseline="0" dirty="0">
                <a:sym typeface="Wingdings" panose="05000000000000000000" pitchFamily="2" charset="2"/>
              </a:rPr>
              <a:t> </a:t>
            </a:r>
            <a:r>
              <a:rPr lang="en-US" altLang="ko-KR" baseline="0" dirty="0" err="1">
                <a:sym typeface="Wingdings" panose="05000000000000000000" pitchFamily="2" charset="2"/>
              </a:rPr>
              <a:t>chạm</a:t>
            </a:r>
            <a:r>
              <a:rPr lang="en-US" altLang="ko-KR" baseline="0" dirty="0">
                <a:sym typeface="Wingdings" panose="05000000000000000000" pitchFamily="2" charset="2"/>
              </a:rPr>
              <a:t> 0, </a:t>
            </a:r>
            <a:r>
              <a:rPr lang="en-US" altLang="ko-KR" baseline="0" dirty="0" err="1">
                <a:sym typeface="Wingdings" panose="05000000000000000000" pitchFamily="2" charset="2"/>
              </a:rPr>
              <a:t>sẽ</a:t>
            </a:r>
            <a:r>
              <a:rPr lang="en-US" altLang="ko-KR" baseline="0" dirty="0">
                <a:sym typeface="Wingdings" panose="05000000000000000000" pitchFamily="2" charset="2"/>
              </a:rPr>
              <a:t> </a:t>
            </a:r>
            <a:r>
              <a:rPr lang="en-US" altLang="ko-KR" baseline="0" dirty="0" err="1">
                <a:sym typeface="Wingdings" panose="05000000000000000000" pitchFamily="2" charset="2"/>
              </a:rPr>
              <a:t>kéo</a:t>
            </a:r>
            <a:r>
              <a:rPr lang="en-US" altLang="ko-KR" baseline="0" dirty="0">
                <a:sym typeface="Wingdings" panose="05000000000000000000" pitchFamily="2" charset="2"/>
              </a:rPr>
              <a:t> </a:t>
            </a:r>
            <a:r>
              <a:rPr lang="en-US" altLang="ko-KR" baseline="0" dirty="0" err="1">
                <a:sym typeface="Wingdings" panose="05000000000000000000" pitchFamily="2" charset="2"/>
              </a:rPr>
              <a:t>dài</a:t>
            </a:r>
            <a:r>
              <a:rPr lang="en-US" altLang="ko-KR" baseline="0" dirty="0">
                <a:sym typeface="Wingdings" panose="05000000000000000000" pitchFamily="2" charset="2"/>
              </a:rPr>
              <a:t> </a:t>
            </a:r>
            <a:r>
              <a:rPr lang="en-US" altLang="ko-KR" baseline="0" dirty="0" err="1">
                <a:sym typeface="Wingdings" panose="05000000000000000000" pitchFamily="2" charset="2"/>
              </a:rPr>
              <a:t>ra</a:t>
            </a:r>
            <a:r>
              <a:rPr lang="en-US" altLang="ko-KR" baseline="0" dirty="0">
                <a:sym typeface="Wingdings" panose="05000000000000000000" pitchFamily="2" charset="2"/>
              </a:rPr>
              <a:t> </a:t>
            </a:r>
            <a:r>
              <a:rPr lang="en-US" altLang="ko-KR" baseline="0" dirty="0" err="1">
                <a:sym typeface="Wingdings" panose="05000000000000000000" pitchFamily="2" charset="2"/>
              </a:rPr>
              <a:t>vô</a:t>
            </a:r>
            <a:r>
              <a:rPr lang="en-US" altLang="ko-KR" baseline="0" dirty="0">
                <a:sym typeface="Wingdings" panose="05000000000000000000" pitchFamily="2" charset="2"/>
              </a:rPr>
              <a:t> </a:t>
            </a:r>
            <a:r>
              <a:rPr lang="en-US" altLang="ko-KR" baseline="0" dirty="0" err="1">
                <a:sym typeface="Wingdings" panose="05000000000000000000" pitchFamily="2" charset="2"/>
              </a:rPr>
              <a:t>tận</a:t>
            </a:r>
            <a:endParaRPr lang="ko-KR" altLang="en-US" dirty="0"/>
          </a:p>
        </p:txBody>
      </p:sp>
      <p:sp>
        <p:nvSpPr>
          <p:cNvPr id="4" name="슬라이드 번호 개체 틀 3"/>
          <p:cNvSpPr>
            <a:spLocks noGrp="1"/>
          </p:cNvSpPr>
          <p:nvPr>
            <p:ph type="sldNum" sz="quarter" idx="5"/>
          </p:nvPr>
        </p:nvSpPr>
        <p:spPr/>
        <p:txBody>
          <a:bodyPr/>
          <a:lstStyle/>
          <a:p>
            <a:pPr>
              <a:defRPr/>
            </a:pPr>
            <a:fld id="{F42DB482-2085-4379-B37B-0C7F5DA6B74A}" type="slidenum">
              <a:rPr lang="ko-KR" altLang="en-US" smtClean="0"/>
              <a:pPr>
                <a:defRPr/>
              </a:pPr>
              <a:t>21</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73359095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782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fontScale="92500"/>
          </a:bodyPr>
          <a:lstStyle/>
          <a:p>
            <a:pPr latinLnBrk="1"/>
            <a:r>
              <a:rPr lang="en-US" altLang="ko-KR" sz="1200" kern="1200" dirty="0">
                <a:solidFill>
                  <a:schemeClr val="tx1"/>
                </a:solidFill>
                <a:effectLst/>
                <a:latin typeface="+mn-lt"/>
                <a:ea typeface="+mn-ea"/>
                <a:cs typeface="+mn-cs"/>
              </a:rPr>
              <a:t>&lt;Explain the picture on the left&gt;</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When the X axis is input and the Y axis is output and the function between X and Y is the process, if the input value is 5~8 and the process is linear, then the resulting output is 50~80. If the spec is 60/70 in our example, then all data points outside this range are processed as defective. The first way of handling these defective products is to select only the good products as output. A slightly better method is to use only input values of 6 and 7. This way only the good products are outputted, but unfortunately this method involves cost. The last approach is to change the process curve itself so a lot more of the passing region is covered. This way, good products are outputted for all ranges of the input value. This is an improvement. Changing the process in such a way so that variances in the input are absorbed by the process and consequently the goods produced are all of passing quality. This is the benefit of increasing the process capability and is an example of genuine improvement.</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&lt;The diagram on the right&gt; illustrates the concept of changing or improving X in order to induce an improvement in the output Y. </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Improvement is enhancing capability, not regulating. Screening out the good Y</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s , or inputting only good X</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s is regulating.</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Improvement is changing the process or system.</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The output can be enhanced by changing the input.</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However improvement is aiming for something higher.</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Using better components to gain better performance costs money.</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Improvement is overcoming this restriction.</a:t>
            </a:r>
            <a:endParaRPr lang="ko-KR" altLang="ko-KR" sz="1200" kern="1200" dirty="0">
              <a:solidFill>
                <a:schemeClr val="tx1"/>
              </a:solidFill>
              <a:effectLst/>
              <a:latin typeface="+mn-lt"/>
              <a:ea typeface="+mn-ea"/>
              <a:cs typeface="+mn-cs"/>
            </a:endParaRPr>
          </a:p>
        </p:txBody>
      </p:sp>
      <p:sp>
        <p:nvSpPr>
          <p:cNvPr id="4" name="슬라이드 번호 개체 틀 3"/>
          <p:cNvSpPr>
            <a:spLocks noGrp="1"/>
          </p:cNvSpPr>
          <p:nvPr>
            <p:ph type="sldNum" sz="quarter" idx="5"/>
          </p:nvPr>
        </p:nvSpPr>
        <p:spPr/>
        <p:txBody>
          <a:bodyPr/>
          <a:lstStyle/>
          <a:p>
            <a:pPr>
              <a:defRPr/>
            </a:pPr>
            <a:fld id="{7E8DE346-41FC-465F-BF7B-CBFFD1B22213}" type="slidenum">
              <a:rPr lang="ko-KR" altLang="en-US" smtClean="0"/>
              <a:pPr>
                <a:defRPr/>
              </a:pPr>
              <a:t>22</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01153501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indent="0" algn="l" defTabSz="914400" rtl="0" eaLnBrk="0" fontAlgn="base" latinLnBrk="1" hangingPunct="0">
              <a:lnSpc>
                <a:spcPct val="100000"/>
              </a:lnSpc>
              <a:spcBef>
                <a:spcPct val="30000"/>
              </a:spcBef>
              <a:spcAft>
                <a:spcPct val="0"/>
              </a:spcAft>
              <a:buClrTx/>
              <a:buSzTx/>
              <a:buFontTx/>
              <a:buNone/>
              <a:tabLst/>
              <a:defRPr/>
            </a:pPr>
            <a:r>
              <a:rPr lang="en-US" altLang="ko-KR" sz="1200" b="1" dirty="0">
                <a:latin typeface="Arial" pitchFamily="34" charset="0"/>
                <a:ea typeface="맑은 고딕" panose="020B0503020000020004" pitchFamily="50" charset="-127"/>
                <a:cs typeface="Arial" pitchFamily="34" charset="0"/>
              </a:rPr>
              <a:t>Stratification: </a:t>
            </a:r>
            <a:r>
              <a:rPr lang="en-US" altLang="ko-KR" sz="1200" b="1" dirty="0" err="1">
                <a:latin typeface="Arial" pitchFamily="34" charset="0"/>
                <a:ea typeface="맑은 고딕" panose="020B0503020000020004" pitchFamily="50" charset="-127"/>
                <a:cs typeface="Arial" pitchFamily="34" charset="0"/>
              </a:rPr>
              <a:t>phân</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tầng</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dữ</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liệu</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phân</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loại</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dữ</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liệu</a:t>
            </a:r>
            <a:r>
              <a:rPr lang="en-US" altLang="ko-KR" sz="1200" b="1" baseline="0" dirty="0">
                <a:latin typeface="Arial" pitchFamily="34" charset="0"/>
                <a:ea typeface="맑은 고딕" panose="020B0503020000020004" pitchFamily="50" charset="-127"/>
                <a:cs typeface="Arial" pitchFamily="34" charset="0"/>
              </a:rPr>
              <a:t> (VD: </a:t>
            </a:r>
            <a:r>
              <a:rPr lang="en-US" altLang="ko-KR" sz="1200" b="1" baseline="0" dirty="0" err="1">
                <a:latin typeface="Arial" pitchFamily="34" charset="0"/>
                <a:ea typeface="맑은 고딕" panose="020B0503020000020004" pitchFamily="50" charset="-127"/>
                <a:cs typeface="Arial" pitchFamily="34" charset="0"/>
              </a:rPr>
              <a:t>nam</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nữ</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màu</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xanh</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đỏ</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vàng</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sp</a:t>
            </a:r>
            <a:r>
              <a:rPr lang="en-US" altLang="ko-KR" sz="1200" b="1" baseline="0" dirty="0">
                <a:latin typeface="Arial" pitchFamily="34" charset="0"/>
                <a:ea typeface="맑은 고딕" panose="020B0503020000020004" pitchFamily="50" charset="-127"/>
                <a:cs typeface="Arial" pitchFamily="34" charset="0"/>
              </a:rPr>
              <a:t> line 1, 2…)</a:t>
            </a:r>
          </a:p>
          <a:p>
            <a:pPr marL="0" marR="0" indent="0" algn="l" defTabSz="914400" rtl="0" eaLnBrk="0" fontAlgn="base" latinLnBrk="1" hangingPunct="0">
              <a:lnSpc>
                <a:spcPct val="100000"/>
              </a:lnSpc>
              <a:spcBef>
                <a:spcPct val="30000"/>
              </a:spcBef>
              <a:spcAft>
                <a:spcPct val="0"/>
              </a:spcAft>
              <a:buClrTx/>
              <a:buSzTx/>
              <a:buFontTx/>
              <a:buNone/>
              <a:tabLst/>
              <a:defRPr/>
            </a:pPr>
            <a:r>
              <a:rPr lang="en-US" altLang="ko-KR" sz="1200" b="1" dirty="0">
                <a:latin typeface="Arial" pitchFamily="34" charset="0"/>
                <a:ea typeface="맑은 고딕" panose="020B0503020000020004" pitchFamily="50" charset="-127"/>
                <a:cs typeface="Arial" pitchFamily="34" charset="0"/>
              </a:rPr>
              <a:t>Characteristics Diagram: </a:t>
            </a:r>
            <a:r>
              <a:rPr lang="en-US" altLang="ko-KR" sz="1200" b="1" dirty="0" err="1">
                <a:latin typeface="Arial" pitchFamily="34" charset="0"/>
                <a:ea typeface="맑은 고딕" panose="020B0503020000020004" pitchFamily="50" charset="-127"/>
                <a:cs typeface="Arial" pitchFamily="34" charset="0"/>
              </a:rPr>
              <a:t>biểu</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đồ</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đặc</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tính</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sp</a:t>
            </a:r>
            <a:endParaRPr lang="en-US" altLang="ko-KR" sz="1200" b="1" baseline="0" dirty="0">
              <a:latin typeface="Arial" pitchFamily="34" charset="0"/>
              <a:ea typeface="맑은 고딕" panose="020B0503020000020004" pitchFamily="50" charset="-127"/>
              <a:cs typeface="Arial" pitchFamily="34" charset="0"/>
            </a:endParaRPr>
          </a:p>
          <a:p>
            <a:pPr marL="0" marR="0" indent="0" algn="l" defTabSz="914400" rtl="0" eaLnBrk="0" fontAlgn="base" latinLnBrk="1" hangingPunct="0">
              <a:lnSpc>
                <a:spcPct val="100000"/>
              </a:lnSpc>
              <a:spcBef>
                <a:spcPct val="30000"/>
              </a:spcBef>
              <a:spcAft>
                <a:spcPct val="0"/>
              </a:spcAft>
              <a:buClrTx/>
              <a:buSzTx/>
              <a:buFontTx/>
              <a:buNone/>
              <a:tabLst/>
              <a:defRPr/>
            </a:pPr>
            <a:r>
              <a:rPr lang="en-US" altLang="ko-KR" sz="1200" b="1" baseline="0" dirty="0">
                <a:latin typeface="Arial" pitchFamily="34" charset="0"/>
                <a:ea typeface="맑은 고딕" panose="020B0503020000020004" pitchFamily="50" charset="-127"/>
                <a:cs typeface="Arial" pitchFamily="34" charset="0"/>
              </a:rPr>
              <a:t>s</a:t>
            </a:r>
            <a:endParaRPr lang="en-US" altLang="ko-KR" sz="1200" b="1" dirty="0">
              <a:latin typeface="Arial" pitchFamily="34" charset="0"/>
              <a:ea typeface="맑은 고딕" panose="020B0503020000020004" pitchFamily="50" charset="-127"/>
              <a:cs typeface="Arial" pitchFamily="34" charset="0"/>
            </a:endParaRPr>
          </a:p>
          <a:p>
            <a:pPr marL="0" marR="0" indent="0" algn="l" defTabSz="914400" rtl="0" eaLnBrk="0" fontAlgn="base" latinLnBrk="1" hangingPunct="0">
              <a:lnSpc>
                <a:spcPct val="100000"/>
              </a:lnSpc>
              <a:spcBef>
                <a:spcPct val="30000"/>
              </a:spcBef>
              <a:spcAft>
                <a:spcPct val="0"/>
              </a:spcAft>
              <a:buClrTx/>
              <a:buSzTx/>
              <a:buFontTx/>
              <a:buNone/>
              <a:tabLst/>
              <a:defRPr/>
            </a:pPr>
            <a:endParaRPr lang="en-US" altLang="ko-KR" sz="1200" b="1" baseline="0" dirty="0">
              <a:latin typeface="Arial" pitchFamily="34" charset="0"/>
              <a:ea typeface="맑은 고딕" panose="020B0503020000020004" pitchFamily="50" charset="-127"/>
              <a:cs typeface="Arial" pitchFamily="34" charset="0"/>
            </a:endParaRPr>
          </a:p>
          <a:p>
            <a:pPr marL="0" marR="0" indent="0" algn="l" defTabSz="914400" rtl="0" eaLnBrk="0" fontAlgn="base" latinLnBrk="1" hangingPunct="0">
              <a:lnSpc>
                <a:spcPct val="100000"/>
              </a:lnSpc>
              <a:spcBef>
                <a:spcPct val="30000"/>
              </a:spcBef>
              <a:spcAft>
                <a:spcPct val="0"/>
              </a:spcAft>
              <a:buClrTx/>
              <a:buSzTx/>
              <a:buFontTx/>
              <a:buNone/>
              <a:tabLst/>
              <a:defRPr/>
            </a:pPr>
            <a:endParaRPr lang="en-US" altLang="ko-KR" sz="1200" b="1" dirty="0">
              <a:latin typeface="Arial" pitchFamily="34" charset="0"/>
              <a:ea typeface="맑은 고딕" panose="020B0503020000020004" pitchFamily="50" charset="-127"/>
              <a:cs typeface="Arial" pitchFamily="34" charset="0"/>
            </a:endParaRPr>
          </a:p>
          <a:p>
            <a:endParaRPr lang="ko-KR" altLang="en-US" dirty="0"/>
          </a:p>
        </p:txBody>
      </p:sp>
      <p:sp>
        <p:nvSpPr>
          <p:cNvPr id="4" name="슬라이드 번호 개체 틀 3"/>
          <p:cNvSpPr>
            <a:spLocks noGrp="1"/>
          </p:cNvSpPr>
          <p:nvPr>
            <p:ph type="sldNum" sz="quarter" idx="5"/>
          </p:nvPr>
        </p:nvSpPr>
        <p:spPr/>
        <p:txBody>
          <a:bodyPr/>
          <a:lstStyle/>
          <a:p>
            <a:pPr>
              <a:defRPr/>
            </a:pPr>
            <a:fld id="{71962142-F903-4DDF-84A5-F7C424D7CDF1}" type="slidenum">
              <a:rPr lang="ko-KR" altLang="en-US" smtClean="0"/>
              <a:pPr>
                <a:defRPr/>
              </a:pPr>
              <a:t>23</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09794182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8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ko-KR" altLang="en-US" dirty="0"/>
              <a:t>한번 읽어보세요</a:t>
            </a:r>
          </a:p>
        </p:txBody>
      </p:sp>
      <p:sp>
        <p:nvSpPr>
          <p:cNvPr id="4" name="슬라이드 번호 개체 틀 3"/>
          <p:cNvSpPr>
            <a:spLocks noGrp="1"/>
          </p:cNvSpPr>
          <p:nvPr>
            <p:ph type="sldNum" sz="quarter" idx="5"/>
          </p:nvPr>
        </p:nvSpPr>
        <p:spPr/>
        <p:txBody>
          <a:bodyPr/>
          <a:lstStyle/>
          <a:p>
            <a:pPr>
              <a:defRPr/>
            </a:pPr>
            <a:fld id="{D62324A3-0F32-4903-8E28-90EF99DD19CB}" type="slidenum">
              <a:rPr lang="ko-KR" altLang="en-US" smtClean="0"/>
              <a:pPr>
                <a:defRPr/>
              </a:pPr>
              <a:t>24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5704668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ko-KR" dirty="0" err="1"/>
              <a:t>Tại</a:t>
            </a:r>
            <a:r>
              <a:rPr lang="en-US" altLang="ko-KR" dirty="0"/>
              <a:t> </a:t>
            </a:r>
            <a:r>
              <a:rPr lang="en-US" altLang="ko-KR" dirty="0" err="1"/>
              <a:t>sao</a:t>
            </a:r>
            <a:r>
              <a:rPr lang="en-US" altLang="ko-KR" dirty="0"/>
              <a:t> </a:t>
            </a:r>
            <a:r>
              <a:rPr lang="en-US" altLang="ko-KR" dirty="0" err="1"/>
              <a:t>dư</a:t>
            </a:r>
            <a:r>
              <a:rPr lang="en-US" altLang="ko-KR" baseline="0" dirty="0"/>
              <a:t> </a:t>
            </a:r>
            <a:r>
              <a:rPr lang="en-US" altLang="ko-KR" baseline="0" dirty="0" err="1"/>
              <a:t>liệu</a:t>
            </a:r>
            <a:r>
              <a:rPr lang="en-US" altLang="ko-KR" baseline="0" dirty="0"/>
              <a:t> </a:t>
            </a:r>
            <a:r>
              <a:rPr lang="en-US" altLang="ko-KR" baseline="0" dirty="0" err="1"/>
              <a:t>lại</a:t>
            </a:r>
            <a:r>
              <a:rPr lang="en-US" altLang="ko-KR" baseline="0" dirty="0"/>
              <a:t> </a:t>
            </a:r>
            <a:r>
              <a:rPr lang="en-US" altLang="ko-KR" baseline="0" dirty="0" err="1"/>
              <a:t>quan</a:t>
            </a:r>
            <a:r>
              <a:rPr lang="en-US" altLang="ko-KR" baseline="0" dirty="0"/>
              <a:t> </a:t>
            </a:r>
            <a:r>
              <a:rPr lang="en-US" altLang="ko-KR" baseline="0" dirty="0" err="1"/>
              <a:t>trọng</a:t>
            </a:r>
            <a:r>
              <a:rPr lang="en-US" altLang="ko-KR" baseline="0" dirty="0" err="1">
                <a:sym typeface="Wingdings" panose="05000000000000000000" pitchFamily="2" charset="2"/>
              </a:rPr>
              <a:t>vì</a:t>
            </a:r>
            <a:r>
              <a:rPr lang="en-US" altLang="ko-KR" baseline="0" dirty="0">
                <a:sym typeface="Wingdings" panose="05000000000000000000" pitchFamily="2" charset="2"/>
              </a:rPr>
              <a:t> lam </a:t>
            </a:r>
            <a:r>
              <a:rPr lang="en-US" altLang="ko-KR" baseline="0" dirty="0" err="1">
                <a:sym typeface="Wingdings" panose="05000000000000000000" pitchFamily="2" charset="2"/>
              </a:rPr>
              <a:t>việc</a:t>
            </a:r>
            <a:r>
              <a:rPr lang="en-US" altLang="ko-KR" baseline="0" dirty="0">
                <a:sym typeface="Wingdings" panose="05000000000000000000" pitchFamily="2" charset="2"/>
              </a:rPr>
              <a:t> </a:t>
            </a:r>
            <a:r>
              <a:rPr lang="en-US" altLang="ko-KR" baseline="0" dirty="0" err="1">
                <a:sym typeface="Wingdings" panose="05000000000000000000" pitchFamily="2" charset="2"/>
              </a:rPr>
              <a:t>tren</a:t>
            </a:r>
            <a:r>
              <a:rPr lang="en-US" altLang="ko-KR" baseline="0" dirty="0">
                <a:sym typeface="Wingdings" panose="05000000000000000000" pitchFamily="2" charset="2"/>
              </a:rPr>
              <a:t> </a:t>
            </a:r>
            <a:r>
              <a:rPr lang="en-US" altLang="ko-KR" baseline="0" dirty="0" err="1">
                <a:sym typeface="Wingdings" panose="05000000000000000000" pitchFamily="2" charset="2"/>
              </a:rPr>
              <a:t>số</a:t>
            </a:r>
            <a:r>
              <a:rPr lang="en-US" altLang="ko-KR" baseline="0" dirty="0">
                <a:sym typeface="Wingdings" panose="05000000000000000000" pitchFamily="2" charset="2"/>
              </a:rPr>
              <a:t> </a:t>
            </a:r>
            <a:r>
              <a:rPr lang="en-US" altLang="ko-KR" baseline="0" dirty="0" err="1">
                <a:sym typeface="Wingdings" panose="05000000000000000000" pitchFamily="2" charset="2"/>
              </a:rPr>
              <a:t>liệu</a:t>
            </a:r>
            <a:r>
              <a:rPr lang="en-US" altLang="ko-KR" baseline="0" dirty="0">
                <a:sym typeface="Wingdings" panose="05000000000000000000" pitchFamily="2" charset="2"/>
              </a:rPr>
              <a:t> </a:t>
            </a:r>
            <a:r>
              <a:rPr lang="en-US" altLang="ko-KR" baseline="0" dirty="0" err="1">
                <a:sym typeface="Wingdings" panose="05000000000000000000" pitchFamily="2" charset="2"/>
              </a:rPr>
              <a:t>có</a:t>
            </a:r>
            <a:r>
              <a:rPr lang="en-US" altLang="ko-KR" baseline="0" dirty="0">
                <a:sym typeface="Wingdings" panose="05000000000000000000" pitchFamily="2" charset="2"/>
              </a:rPr>
              <a:t> </a:t>
            </a:r>
            <a:r>
              <a:rPr lang="en-US" altLang="ko-KR" baseline="0" dirty="0" err="1">
                <a:sym typeface="Wingdings" panose="05000000000000000000" pitchFamily="2" charset="2"/>
              </a:rPr>
              <a:t>sức</a:t>
            </a:r>
            <a:r>
              <a:rPr lang="en-US" altLang="ko-KR" baseline="0" dirty="0">
                <a:sym typeface="Wingdings" panose="05000000000000000000" pitchFamily="2" charset="2"/>
              </a:rPr>
              <a:t> </a:t>
            </a:r>
            <a:r>
              <a:rPr lang="en-US" altLang="ko-KR" baseline="0" dirty="0" err="1">
                <a:sym typeface="Wingdings" panose="05000000000000000000" pitchFamily="2" charset="2"/>
              </a:rPr>
              <a:t>nặng</a:t>
            </a:r>
            <a:r>
              <a:rPr lang="en-US" altLang="ko-KR" baseline="0" dirty="0">
                <a:sym typeface="Wingdings" panose="05000000000000000000" pitchFamily="2" charset="2"/>
              </a:rPr>
              <a:t>, </a:t>
            </a:r>
            <a:r>
              <a:rPr lang="en-US" altLang="ko-KR" baseline="0" dirty="0" err="1">
                <a:sym typeface="Wingdings" panose="05000000000000000000" pitchFamily="2" charset="2"/>
              </a:rPr>
              <a:t>độ</a:t>
            </a:r>
            <a:r>
              <a:rPr lang="en-US" altLang="ko-KR" baseline="0" dirty="0">
                <a:sym typeface="Wingdings" panose="05000000000000000000" pitchFamily="2" charset="2"/>
              </a:rPr>
              <a:t> tin </a:t>
            </a:r>
            <a:r>
              <a:rPr lang="en-US" altLang="ko-KR" baseline="0" dirty="0" err="1">
                <a:sym typeface="Wingdings" panose="05000000000000000000" pitchFamily="2" charset="2"/>
              </a:rPr>
              <a:t>cây</a:t>
            </a:r>
            <a:r>
              <a:rPr lang="en-US" altLang="ko-KR" baseline="0" dirty="0">
                <a:sym typeface="Wingdings" panose="05000000000000000000" pitchFamily="2" charset="2"/>
              </a:rPr>
              <a:t> </a:t>
            </a:r>
            <a:r>
              <a:rPr lang="en-US" altLang="ko-KR" baseline="0" dirty="0" err="1">
                <a:sym typeface="Wingdings" panose="05000000000000000000" pitchFamily="2" charset="2"/>
              </a:rPr>
              <a:t>hơn</a:t>
            </a:r>
            <a:endParaRPr lang="ko-KR" altLang="en-US" dirty="0"/>
          </a:p>
        </p:txBody>
      </p:sp>
      <p:sp>
        <p:nvSpPr>
          <p:cNvPr id="35844"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ACB1678B-2C92-4988-B8B0-CEAD84453F19}" type="slidenum">
              <a:rPr lang="ko-KR" altLang="en-US" smtClean="0"/>
              <a:pPr fontAlgn="base">
                <a:spcBef>
                  <a:spcPct val="0"/>
                </a:spcBef>
                <a:spcAft>
                  <a:spcPct val="0"/>
                </a:spcAft>
                <a:defRPr/>
              </a:pPr>
              <a:t>25</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7227598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294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2B35B147-AD0E-4EDF-BBE4-5FBB2CBB97D5}" type="slidenum">
              <a:rPr lang="ko-KR" altLang="en-US" smtClean="0"/>
              <a:pPr>
                <a:defRPr/>
              </a:pPr>
              <a:t>26</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12082086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buFontTx/>
              <a:buChar char="•"/>
            </a:pPr>
            <a:endParaRPr lang="ko-KR" altLang="en-US" dirty="0"/>
          </a:p>
        </p:txBody>
      </p:sp>
      <p:sp>
        <p:nvSpPr>
          <p:cNvPr id="4" name="슬라이드 번호 개체 틀 3"/>
          <p:cNvSpPr>
            <a:spLocks noGrp="1"/>
          </p:cNvSpPr>
          <p:nvPr>
            <p:ph type="sldNum" sz="quarter" idx="5"/>
          </p:nvPr>
        </p:nvSpPr>
        <p:spPr/>
        <p:txBody>
          <a:bodyPr/>
          <a:lstStyle/>
          <a:p>
            <a:pPr>
              <a:defRPr/>
            </a:pPr>
            <a:fld id="{210BBD31-DDE5-43CD-9E42-A1B31E67DD36}" type="slidenum">
              <a:rPr lang="ko-KR" altLang="en-US" smtClean="0"/>
              <a:pPr>
                <a:defRPr/>
              </a:pPr>
              <a:t>27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90418152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499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ko-KR" dirty="0" err="1"/>
              <a:t>Dữ</a:t>
            </a:r>
            <a:r>
              <a:rPr lang="en-US" altLang="ko-KR" dirty="0"/>
              <a:t> </a:t>
            </a:r>
            <a:r>
              <a:rPr lang="en-US" altLang="ko-KR" dirty="0" err="1"/>
              <a:t>liệu</a:t>
            </a:r>
            <a:r>
              <a:rPr lang="en-US" altLang="ko-KR" baseline="0" dirty="0"/>
              <a:t> </a:t>
            </a:r>
            <a:r>
              <a:rPr lang="en-US" altLang="ko-KR" baseline="0" dirty="0" err="1"/>
              <a:t>liên</a:t>
            </a:r>
            <a:r>
              <a:rPr lang="en-US" altLang="ko-KR" baseline="0" dirty="0"/>
              <a:t> </a:t>
            </a:r>
            <a:r>
              <a:rPr lang="en-US" altLang="ko-KR" baseline="0" dirty="0" err="1"/>
              <a:t>tục</a:t>
            </a:r>
            <a:r>
              <a:rPr lang="en-US" altLang="ko-KR" baseline="0" dirty="0"/>
              <a:t>: </a:t>
            </a:r>
            <a:r>
              <a:rPr lang="en-US" altLang="ko-KR" baseline="0" dirty="0" err="1"/>
              <a:t>fai</a:t>
            </a:r>
            <a:r>
              <a:rPr lang="en-US" altLang="ko-KR" baseline="0" dirty="0"/>
              <a:t> </a:t>
            </a:r>
            <a:r>
              <a:rPr lang="en-US" altLang="ko-KR" baseline="0" dirty="0" err="1"/>
              <a:t>có</a:t>
            </a:r>
            <a:r>
              <a:rPr lang="en-US" altLang="ko-KR" baseline="0" dirty="0"/>
              <a:t> </a:t>
            </a:r>
            <a:r>
              <a:rPr lang="en-US" altLang="ko-KR" baseline="0" dirty="0" err="1"/>
              <a:t>đơn</a:t>
            </a:r>
            <a:r>
              <a:rPr lang="en-US" altLang="ko-KR" baseline="0" dirty="0"/>
              <a:t> </a:t>
            </a:r>
            <a:r>
              <a:rPr lang="en-US" altLang="ko-KR" baseline="0" dirty="0" err="1"/>
              <a:t>vị</a:t>
            </a:r>
            <a:r>
              <a:rPr lang="en-US" altLang="ko-KR" baseline="0" dirty="0"/>
              <a:t> </a:t>
            </a:r>
            <a:r>
              <a:rPr lang="en-US" altLang="ko-KR" baseline="0" dirty="0" err="1"/>
              <a:t>đo</a:t>
            </a:r>
            <a:r>
              <a:rPr lang="en-US" altLang="ko-KR" baseline="0" dirty="0"/>
              <a:t>, </a:t>
            </a:r>
            <a:r>
              <a:rPr lang="en-US" altLang="ko-KR" baseline="0" dirty="0" err="1"/>
              <a:t>để</a:t>
            </a:r>
            <a:r>
              <a:rPr lang="en-US" altLang="ko-KR" baseline="0" dirty="0"/>
              <a:t> </a:t>
            </a:r>
            <a:r>
              <a:rPr lang="en-US" altLang="ko-KR" baseline="0" dirty="0" err="1"/>
              <a:t>tăng</a:t>
            </a:r>
            <a:r>
              <a:rPr lang="en-US" altLang="ko-KR" baseline="0" dirty="0"/>
              <a:t> </a:t>
            </a:r>
            <a:r>
              <a:rPr lang="en-US" altLang="ko-KR" baseline="0" dirty="0" err="1"/>
              <a:t>từ</a:t>
            </a:r>
            <a:r>
              <a:rPr lang="en-US" altLang="ko-KR" baseline="0" dirty="0"/>
              <a:t> 1 </a:t>
            </a:r>
            <a:r>
              <a:rPr lang="en-US" altLang="ko-KR" baseline="0" dirty="0" err="1"/>
              <a:t>giá</a:t>
            </a:r>
            <a:r>
              <a:rPr lang="en-US" altLang="ko-KR" baseline="0" dirty="0"/>
              <a:t> </a:t>
            </a:r>
            <a:r>
              <a:rPr lang="en-US" altLang="ko-KR" baseline="0" dirty="0" err="1"/>
              <a:t>trị</a:t>
            </a:r>
            <a:r>
              <a:rPr lang="en-US" altLang="ko-KR" baseline="0" dirty="0"/>
              <a:t> </a:t>
            </a:r>
            <a:r>
              <a:rPr lang="en-US" altLang="ko-KR" baseline="0" dirty="0" err="1"/>
              <a:t>này</a:t>
            </a:r>
            <a:r>
              <a:rPr lang="en-US" altLang="ko-KR" baseline="0" dirty="0"/>
              <a:t> </a:t>
            </a:r>
            <a:r>
              <a:rPr lang="en-US" altLang="ko-KR" baseline="0" dirty="0" err="1"/>
              <a:t>lên</a:t>
            </a:r>
            <a:r>
              <a:rPr lang="en-US" altLang="ko-KR" baseline="0" dirty="0"/>
              <a:t> </a:t>
            </a:r>
            <a:r>
              <a:rPr lang="en-US" altLang="ko-KR" baseline="0" dirty="0" err="1"/>
              <a:t>giá</a:t>
            </a:r>
            <a:r>
              <a:rPr lang="en-US" altLang="ko-KR" baseline="0" dirty="0"/>
              <a:t> </a:t>
            </a:r>
            <a:r>
              <a:rPr lang="en-US" altLang="ko-KR" baseline="0" dirty="0" err="1"/>
              <a:t>trị</a:t>
            </a:r>
            <a:r>
              <a:rPr lang="en-US" altLang="ko-KR" baseline="0" dirty="0"/>
              <a:t> </a:t>
            </a:r>
            <a:r>
              <a:rPr lang="en-US" altLang="ko-KR" baseline="0" dirty="0" err="1"/>
              <a:t>tiêp</a:t>
            </a:r>
            <a:r>
              <a:rPr lang="en-US" altLang="ko-KR" baseline="0" dirty="0"/>
              <a:t> </a:t>
            </a:r>
            <a:r>
              <a:rPr lang="en-US" altLang="ko-KR" baseline="0" dirty="0" err="1"/>
              <a:t>theo</a:t>
            </a:r>
            <a:r>
              <a:rPr lang="en-US" altLang="ko-KR" baseline="0" dirty="0"/>
              <a:t> </a:t>
            </a:r>
            <a:r>
              <a:rPr lang="en-US" altLang="ko-KR" baseline="0" dirty="0" err="1"/>
              <a:t>thi</a:t>
            </a:r>
            <a:r>
              <a:rPr lang="en-US" altLang="ko-KR" baseline="0" dirty="0"/>
              <a:t> </a:t>
            </a:r>
            <a:r>
              <a:rPr lang="en-US" altLang="ko-KR" baseline="0" dirty="0" err="1"/>
              <a:t>băt</a:t>
            </a:r>
            <a:r>
              <a:rPr lang="en-US" altLang="ko-KR" baseline="0" dirty="0"/>
              <a:t> </a:t>
            </a:r>
            <a:r>
              <a:rPr lang="en-US" altLang="ko-KR" baseline="0" dirty="0" err="1"/>
              <a:t>buộc</a:t>
            </a:r>
            <a:r>
              <a:rPr lang="en-US" altLang="ko-KR" baseline="0" dirty="0"/>
              <a:t> </a:t>
            </a:r>
            <a:r>
              <a:rPr lang="en-US" altLang="ko-KR" baseline="0" dirty="0" err="1"/>
              <a:t>fai</a:t>
            </a:r>
            <a:r>
              <a:rPr lang="en-US" altLang="ko-KR" baseline="0" dirty="0"/>
              <a:t> </a:t>
            </a:r>
            <a:r>
              <a:rPr lang="en-US" altLang="ko-KR" baseline="0" dirty="0" err="1"/>
              <a:t>trai</a:t>
            </a:r>
            <a:r>
              <a:rPr lang="en-US" altLang="ko-KR" baseline="0" dirty="0"/>
              <a:t> qua </a:t>
            </a:r>
            <a:r>
              <a:rPr lang="en-US" altLang="ko-KR" baseline="0" dirty="0" err="1"/>
              <a:t>tât</a:t>
            </a:r>
            <a:r>
              <a:rPr lang="en-US" altLang="ko-KR" baseline="0" dirty="0"/>
              <a:t> </a:t>
            </a:r>
            <a:r>
              <a:rPr lang="en-US" altLang="ko-KR" baseline="0" dirty="0" err="1"/>
              <a:t>cả</a:t>
            </a:r>
            <a:r>
              <a:rPr lang="en-US" altLang="ko-KR" baseline="0" dirty="0"/>
              <a:t> </a:t>
            </a:r>
            <a:r>
              <a:rPr lang="en-US" altLang="ko-KR" baseline="0" dirty="0" err="1"/>
              <a:t>các</a:t>
            </a:r>
            <a:r>
              <a:rPr lang="en-US" altLang="ko-KR" baseline="0" dirty="0"/>
              <a:t> </a:t>
            </a:r>
            <a:r>
              <a:rPr lang="en-US" altLang="ko-KR" baseline="0" dirty="0" err="1"/>
              <a:t>gia</a:t>
            </a:r>
            <a:r>
              <a:rPr lang="en-US" altLang="ko-KR" baseline="0" dirty="0"/>
              <a:t> </a:t>
            </a:r>
            <a:r>
              <a:rPr lang="en-US" altLang="ko-KR" baseline="0" dirty="0" err="1"/>
              <a:t>ttri</a:t>
            </a:r>
            <a:r>
              <a:rPr lang="en-US" altLang="ko-KR" baseline="0" dirty="0"/>
              <a:t> ơ </a:t>
            </a:r>
            <a:r>
              <a:rPr lang="en-US" altLang="ko-KR" baseline="0" dirty="0" err="1"/>
              <a:t>giữa</a:t>
            </a:r>
            <a:endParaRPr lang="en-US" altLang="ko-KR" baseline="0" dirty="0"/>
          </a:p>
          <a:p>
            <a:r>
              <a:rPr lang="en-US" altLang="ko-KR" baseline="0" dirty="0"/>
              <a:t>VD: </a:t>
            </a:r>
            <a:r>
              <a:rPr lang="en-US" altLang="ko-KR" baseline="0" dirty="0" err="1"/>
              <a:t>để</a:t>
            </a:r>
            <a:r>
              <a:rPr lang="en-US" altLang="ko-KR" baseline="0" dirty="0"/>
              <a:t> </a:t>
            </a:r>
            <a:r>
              <a:rPr lang="en-US" altLang="ko-KR" baseline="0" dirty="0" err="1"/>
              <a:t>lên</a:t>
            </a:r>
            <a:r>
              <a:rPr lang="en-US" altLang="ko-KR" baseline="0" dirty="0"/>
              <a:t> </a:t>
            </a:r>
            <a:r>
              <a:rPr lang="en-US" altLang="ko-KR" baseline="0" dirty="0" err="1"/>
              <a:t>từ</a:t>
            </a:r>
            <a:r>
              <a:rPr lang="en-US" altLang="ko-KR" baseline="0" dirty="0"/>
              <a:t> </a:t>
            </a:r>
            <a:r>
              <a:rPr lang="en-US" altLang="ko-KR" baseline="0" dirty="0" err="1"/>
              <a:t>phút</a:t>
            </a:r>
            <a:r>
              <a:rPr lang="en-US" altLang="ko-KR" baseline="0" dirty="0"/>
              <a:t> 1 </a:t>
            </a:r>
            <a:r>
              <a:rPr lang="en-US" altLang="ko-KR" baseline="0" dirty="0" err="1"/>
              <a:t>lên</a:t>
            </a:r>
            <a:r>
              <a:rPr lang="en-US" altLang="ko-KR" baseline="0" dirty="0"/>
              <a:t> 3 </a:t>
            </a:r>
            <a:r>
              <a:rPr lang="en-US" altLang="ko-KR" baseline="0" dirty="0" err="1"/>
              <a:t>thi</a:t>
            </a:r>
            <a:r>
              <a:rPr lang="en-US" altLang="ko-KR" baseline="0" dirty="0"/>
              <a:t> </a:t>
            </a:r>
            <a:r>
              <a:rPr lang="en-US" altLang="ko-KR" baseline="0" dirty="0" err="1"/>
              <a:t>băt</a:t>
            </a:r>
            <a:r>
              <a:rPr lang="en-US" altLang="ko-KR" baseline="0" dirty="0"/>
              <a:t> </a:t>
            </a:r>
            <a:r>
              <a:rPr lang="en-US" altLang="ko-KR" baseline="0" dirty="0" err="1"/>
              <a:t>buộc</a:t>
            </a:r>
            <a:r>
              <a:rPr lang="en-US" altLang="ko-KR" baseline="0" dirty="0"/>
              <a:t> </a:t>
            </a:r>
            <a:r>
              <a:rPr lang="en-US" altLang="ko-KR" baseline="0" dirty="0" err="1"/>
              <a:t>đi</a:t>
            </a:r>
            <a:r>
              <a:rPr lang="en-US" altLang="ko-KR" baseline="0" dirty="0"/>
              <a:t> qua </a:t>
            </a:r>
            <a:r>
              <a:rPr lang="en-US" altLang="ko-KR" baseline="0" dirty="0" err="1"/>
              <a:t>hết</a:t>
            </a:r>
            <a:r>
              <a:rPr lang="en-US" altLang="ko-KR" baseline="0" dirty="0"/>
              <a:t> </a:t>
            </a:r>
            <a:r>
              <a:rPr lang="en-US" altLang="ko-KR" baseline="0" dirty="0" err="1"/>
              <a:t>gia</a:t>
            </a:r>
            <a:r>
              <a:rPr lang="en-US" altLang="ko-KR" baseline="0" dirty="0"/>
              <a:t> tri ơ </a:t>
            </a:r>
            <a:r>
              <a:rPr lang="en-US" altLang="ko-KR" baseline="0" dirty="0" err="1"/>
              <a:t>giữa</a:t>
            </a:r>
            <a:endParaRPr lang="en-US" altLang="ko-KR" baseline="0" dirty="0"/>
          </a:p>
          <a:p>
            <a:r>
              <a:rPr lang="en-US" altLang="ko-KR" baseline="0" dirty="0" err="1"/>
              <a:t>Dư</a:t>
            </a:r>
            <a:r>
              <a:rPr lang="en-US" altLang="ko-KR" baseline="0" dirty="0"/>
              <a:t> lieu </a:t>
            </a:r>
            <a:r>
              <a:rPr lang="en-US" altLang="ko-KR" baseline="0" dirty="0" err="1"/>
              <a:t>rời</a:t>
            </a:r>
            <a:r>
              <a:rPr lang="en-US" altLang="ko-KR" baseline="0" dirty="0"/>
              <a:t> </a:t>
            </a:r>
            <a:r>
              <a:rPr lang="en-US" altLang="ko-KR" baseline="0" dirty="0" err="1"/>
              <a:t>rạc</a:t>
            </a:r>
            <a:r>
              <a:rPr lang="en-US" altLang="ko-KR" baseline="0" dirty="0"/>
              <a:t>: </a:t>
            </a:r>
            <a:r>
              <a:rPr lang="en-US" altLang="ko-KR" baseline="0" dirty="0" err="1"/>
              <a:t>thường</a:t>
            </a:r>
            <a:r>
              <a:rPr lang="en-US" altLang="ko-KR" baseline="0" dirty="0"/>
              <a:t> </a:t>
            </a:r>
            <a:r>
              <a:rPr lang="en-US" altLang="ko-KR" baseline="0" dirty="0" err="1"/>
              <a:t>là</a:t>
            </a:r>
            <a:r>
              <a:rPr lang="en-US" altLang="ko-KR" baseline="0" dirty="0"/>
              <a:t> ở </a:t>
            </a:r>
            <a:r>
              <a:rPr lang="en-US" altLang="ko-KR" baseline="0" dirty="0" err="1"/>
              <a:t>dạng</a:t>
            </a:r>
            <a:r>
              <a:rPr lang="en-US" altLang="ko-KR" baseline="0" dirty="0"/>
              <a:t> </a:t>
            </a:r>
            <a:r>
              <a:rPr lang="en-US" altLang="ko-KR" baseline="0" dirty="0" err="1"/>
              <a:t>số</a:t>
            </a:r>
            <a:r>
              <a:rPr lang="en-US" altLang="ko-KR" baseline="0" dirty="0"/>
              <a:t> </a:t>
            </a:r>
            <a:r>
              <a:rPr lang="en-US" altLang="ko-KR" baseline="0" dirty="0" err="1"/>
              <a:t>đếm</a:t>
            </a:r>
            <a:r>
              <a:rPr lang="en-US" altLang="ko-KR" baseline="0" dirty="0"/>
              <a:t>, ti </a:t>
            </a:r>
            <a:r>
              <a:rPr lang="en-US" altLang="ko-KR" baseline="0" dirty="0" err="1"/>
              <a:t>lệ</a:t>
            </a:r>
            <a:r>
              <a:rPr lang="en-US" altLang="ko-KR" baseline="0" dirty="0"/>
              <a:t> </a:t>
            </a:r>
            <a:r>
              <a:rPr lang="en-US" altLang="ko-KR" baseline="0" dirty="0" err="1"/>
              <a:t>lỗi</a:t>
            </a:r>
            <a:r>
              <a:rPr lang="en-US" altLang="ko-KR" baseline="0" dirty="0"/>
              <a:t> </a:t>
            </a:r>
            <a:r>
              <a:rPr lang="en-US" altLang="ko-KR" baseline="0" dirty="0" err="1"/>
              <a:t>cung</a:t>
            </a:r>
            <a:r>
              <a:rPr lang="en-US" altLang="ko-KR" baseline="0" dirty="0"/>
              <a:t> </a:t>
            </a:r>
            <a:r>
              <a:rPr lang="en-US" altLang="ko-KR" baseline="0" dirty="0" err="1"/>
              <a:t>là</a:t>
            </a:r>
            <a:r>
              <a:rPr lang="en-US" altLang="ko-KR" baseline="0" dirty="0"/>
              <a:t> </a:t>
            </a:r>
            <a:r>
              <a:rPr lang="en-US" altLang="ko-KR" baseline="0" dirty="0" err="1"/>
              <a:t>dư</a:t>
            </a:r>
            <a:r>
              <a:rPr lang="en-US" altLang="ko-KR" baseline="0" dirty="0"/>
              <a:t> lieu </a:t>
            </a:r>
            <a:r>
              <a:rPr lang="en-US" altLang="ko-KR" baseline="0" dirty="0" err="1"/>
              <a:t>rơi</a:t>
            </a:r>
            <a:r>
              <a:rPr lang="en-US" altLang="ko-KR" baseline="0" dirty="0"/>
              <a:t> </a:t>
            </a:r>
            <a:r>
              <a:rPr lang="en-US" altLang="ko-KR" baseline="0" dirty="0" err="1"/>
              <a:t>rạc</a:t>
            </a:r>
            <a:r>
              <a:rPr lang="en-US" altLang="ko-KR" baseline="0" dirty="0"/>
              <a:t> </a:t>
            </a:r>
            <a:r>
              <a:rPr lang="en-US" altLang="ko-KR" baseline="0" dirty="0" err="1"/>
              <a:t>măc</a:t>
            </a:r>
            <a:r>
              <a:rPr lang="en-US" altLang="ko-KR" baseline="0" dirty="0"/>
              <a:t> du </a:t>
            </a:r>
            <a:r>
              <a:rPr lang="en-US" altLang="ko-KR" baseline="0" dirty="0" err="1"/>
              <a:t>có</a:t>
            </a:r>
            <a:r>
              <a:rPr lang="en-US" altLang="ko-KR" baseline="0" dirty="0"/>
              <a:t> </a:t>
            </a:r>
            <a:r>
              <a:rPr lang="en-US" altLang="ko-KR" baseline="0" dirty="0" err="1"/>
              <a:t>đơn</a:t>
            </a:r>
            <a:r>
              <a:rPr lang="en-US" altLang="ko-KR" baseline="0" dirty="0"/>
              <a:t> </a:t>
            </a:r>
            <a:r>
              <a:rPr lang="en-US" altLang="ko-KR" baseline="0" dirty="0" err="1"/>
              <a:t>vị</a:t>
            </a:r>
            <a:r>
              <a:rPr lang="en-US" altLang="ko-KR" baseline="0" dirty="0"/>
              <a:t> % vi </a:t>
            </a:r>
            <a:r>
              <a:rPr lang="en-US" altLang="ko-KR" baseline="0" dirty="0" err="1"/>
              <a:t>bản</a:t>
            </a:r>
            <a:r>
              <a:rPr lang="en-US" altLang="ko-KR" baseline="0" dirty="0"/>
              <a:t> chat </a:t>
            </a:r>
            <a:r>
              <a:rPr lang="en-US" altLang="ko-KR" baseline="0" dirty="0" err="1"/>
              <a:t>là</a:t>
            </a:r>
            <a:r>
              <a:rPr lang="en-US" altLang="ko-KR" baseline="0" dirty="0"/>
              <a:t> </a:t>
            </a:r>
            <a:r>
              <a:rPr lang="en-US" altLang="ko-KR" baseline="0" dirty="0" err="1"/>
              <a:t>quy</a:t>
            </a:r>
            <a:r>
              <a:rPr lang="en-US" altLang="ko-KR" baseline="0" dirty="0"/>
              <a:t> </a:t>
            </a:r>
            <a:r>
              <a:rPr lang="en-US" altLang="ko-KR" baseline="0" dirty="0" err="1"/>
              <a:t>từ</a:t>
            </a:r>
            <a:r>
              <a:rPr lang="en-US" altLang="ko-KR" baseline="0" dirty="0"/>
              <a:t> </a:t>
            </a:r>
            <a:r>
              <a:rPr lang="en-US" altLang="ko-KR" baseline="0" dirty="0" err="1"/>
              <a:t>số</a:t>
            </a:r>
            <a:r>
              <a:rPr lang="en-US" altLang="ko-KR" baseline="0" dirty="0"/>
              <a:t> </a:t>
            </a:r>
            <a:r>
              <a:rPr lang="en-US" altLang="ko-KR" baseline="0" dirty="0" err="1"/>
              <a:t>lượng</a:t>
            </a:r>
            <a:r>
              <a:rPr lang="en-US" altLang="ko-KR" baseline="0" dirty="0"/>
              <a:t> </a:t>
            </a:r>
            <a:r>
              <a:rPr lang="en-US" altLang="ko-KR" baseline="0" dirty="0" err="1"/>
              <a:t>lỗi</a:t>
            </a:r>
            <a:r>
              <a:rPr lang="en-US" altLang="ko-KR" baseline="0" dirty="0"/>
              <a:t> </a:t>
            </a:r>
            <a:r>
              <a:rPr lang="en-US" altLang="ko-KR" baseline="0" dirty="0" err="1"/>
              <a:t>ra</a:t>
            </a:r>
            <a:endParaRPr lang="ko-KR" altLang="en-US" dirty="0"/>
          </a:p>
        </p:txBody>
      </p:sp>
      <p:sp>
        <p:nvSpPr>
          <p:cNvPr id="4" name="슬라이드 번호 개체 틀 3"/>
          <p:cNvSpPr>
            <a:spLocks noGrp="1"/>
          </p:cNvSpPr>
          <p:nvPr>
            <p:ph type="sldNum" sz="quarter" idx="5"/>
          </p:nvPr>
        </p:nvSpPr>
        <p:spPr/>
        <p:txBody>
          <a:bodyPr/>
          <a:lstStyle/>
          <a:p>
            <a:pPr>
              <a:defRPr/>
            </a:pPr>
            <a:fld id="{735F5E97-CDDF-4E24-A7DE-682520E6DDF0}" type="slidenum">
              <a:rPr lang="ko-KR" altLang="en-US" smtClean="0"/>
              <a:pPr>
                <a:defRPr/>
              </a:pPr>
              <a:t>28</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49214307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Nominal: </a:t>
            </a:r>
            <a:r>
              <a:rPr lang="en-US" dirty="0" err="1"/>
              <a:t>dữ</a:t>
            </a:r>
            <a:r>
              <a:rPr lang="en-US" baseline="0" dirty="0"/>
              <a:t> </a:t>
            </a:r>
            <a:r>
              <a:rPr lang="en-US" baseline="0" dirty="0" err="1"/>
              <a:t>liệu</a:t>
            </a:r>
            <a:r>
              <a:rPr lang="en-US" baseline="0" dirty="0"/>
              <a:t> </a:t>
            </a:r>
            <a:r>
              <a:rPr lang="en-US" baseline="0" dirty="0" err="1"/>
              <a:t>định</a:t>
            </a:r>
            <a:r>
              <a:rPr lang="en-US" baseline="0" dirty="0"/>
              <a:t> </a:t>
            </a:r>
            <a:r>
              <a:rPr lang="en-US" baseline="0" dirty="0" err="1"/>
              <a:t>danh</a:t>
            </a:r>
            <a:r>
              <a:rPr lang="en-US" baseline="0" dirty="0"/>
              <a:t> (</a:t>
            </a:r>
            <a:r>
              <a:rPr lang="en-US" baseline="0" dirty="0" err="1"/>
              <a:t>dữ</a:t>
            </a:r>
            <a:r>
              <a:rPr lang="en-US" baseline="0" dirty="0"/>
              <a:t> </a:t>
            </a:r>
            <a:r>
              <a:rPr lang="en-US" baseline="0" dirty="0" err="1"/>
              <a:t>liệu</a:t>
            </a:r>
            <a:r>
              <a:rPr lang="en-US" baseline="0" dirty="0"/>
              <a:t> ở </a:t>
            </a:r>
            <a:r>
              <a:rPr lang="en-US" baseline="0" dirty="0" err="1"/>
              <a:t>dạng</a:t>
            </a:r>
            <a:r>
              <a:rPr lang="en-US" baseline="0" dirty="0"/>
              <a:t> </a:t>
            </a:r>
            <a:r>
              <a:rPr lang="en-US" baseline="0" dirty="0" err="1"/>
              <a:t>ngang</a:t>
            </a:r>
            <a:r>
              <a:rPr lang="en-US" baseline="0" dirty="0"/>
              <a:t> hang, VD: chia </a:t>
            </a:r>
            <a:r>
              <a:rPr lang="en-US" baseline="0" dirty="0" err="1"/>
              <a:t>ra</a:t>
            </a:r>
            <a:r>
              <a:rPr lang="en-US" baseline="0" dirty="0"/>
              <a:t> </a:t>
            </a:r>
            <a:r>
              <a:rPr lang="en-US" baseline="0" dirty="0" err="1"/>
              <a:t>màu</a:t>
            </a:r>
            <a:r>
              <a:rPr lang="en-US" baseline="0" dirty="0"/>
              <a:t> </a:t>
            </a:r>
            <a:r>
              <a:rPr lang="en-US" baseline="0" dirty="0" err="1"/>
              <a:t>xanh</a:t>
            </a:r>
            <a:r>
              <a:rPr lang="en-US" baseline="0" dirty="0"/>
              <a:t> </a:t>
            </a:r>
            <a:r>
              <a:rPr lang="en-US" baseline="0" dirty="0" err="1"/>
              <a:t>đỏ</a:t>
            </a:r>
            <a:r>
              <a:rPr lang="en-US" baseline="0" dirty="0"/>
              <a:t>… </a:t>
            </a:r>
            <a:r>
              <a:rPr lang="en-US" baseline="0" dirty="0" err="1"/>
              <a:t>thi</a:t>
            </a:r>
            <a:r>
              <a:rPr lang="en-US" baseline="0" dirty="0"/>
              <a:t> la </a:t>
            </a:r>
            <a:r>
              <a:rPr lang="en-US" baseline="0" dirty="0" err="1"/>
              <a:t>ngang</a:t>
            </a:r>
            <a:r>
              <a:rPr lang="en-US" baseline="0" dirty="0"/>
              <a:t> hang </a:t>
            </a:r>
            <a:r>
              <a:rPr lang="en-US" baseline="0" dirty="0" err="1"/>
              <a:t>nhau</a:t>
            </a:r>
            <a:r>
              <a:rPr lang="en-US" baseline="0" dirty="0"/>
              <a:t>)</a:t>
            </a:r>
          </a:p>
          <a:p>
            <a:r>
              <a:rPr lang="en-US" baseline="0" dirty="0"/>
              <a:t>Ordinal: </a:t>
            </a:r>
            <a:r>
              <a:rPr lang="en-US" baseline="0" dirty="0" err="1"/>
              <a:t>dư</a:t>
            </a:r>
            <a:r>
              <a:rPr lang="en-US" baseline="0" dirty="0"/>
              <a:t> </a:t>
            </a:r>
            <a:r>
              <a:rPr lang="en-US" baseline="0" dirty="0" err="1"/>
              <a:t>liệu</a:t>
            </a:r>
            <a:r>
              <a:rPr lang="en-US" baseline="0" dirty="0"/>
              <a:t> </a:t>
            </a:r>
            <a:r>
              <a:rPr lang="en-US" baseline="0" dirty="0" err="1"/>
              <a:t>thứ</a:t>
            </a:r>
            <a:r>
              <a:rPr lang="en-US" baseline="0" dirty="0"/>
              <a:t> </a:t>
            </a:r>
            <a:r>
              <a:rPr lang="en-US" baseline="0" dirty="0" err="1"/>
              <a:t>bậc</a:t>
            </a:r>
            <a:r>
              <a:rPr lang="en-US" baseline="0" dirty="0"/>
              <a:t>: VD survey </a:t>
            </a:r>
            <a:r>
              <a:rPr lang="en-US" baseline="0" dirty="0" err="1"/>
              <a:t>ko</a:t>
            </a:r>
            <a:r>
              <a:rPr lang="en-US" baseline="0" dirty="0"/>
              <a:t> </a:t>
            </a:r>
            <a:r>
              <a:rPr lang="en-US" baseline="0" dirty="0" err="1"/>
              <a:t>hai</a:t>
            </a:r>
            <a:r>
              <a:rPr lang="en-US" baseline="0" dirty="0"/>
              <a:t> long, </a:t>
            </a:r>
            <a:r>
              <a:rPr lang="en-US" baseline="0" dirty="0" err="1"/>
              <a:t>bt</a:t>
            </a:r>
            <a:r>
              <a:rPr lang="en-US" baseline="0" dirty="0"/>
              <a:t>, </a:t>
            </a:r>
            <a:r>
              <a:rPr lang="en-US" baseline="0" dirty="0" err="1"/>
              <a:t>rât</a:t>
            </a:r>
            <a:r>
              <a:rPr lang="en-US" baseline="0" dirty="0"/>
              <a:t> </a:t>
            </a:r>
            <a:r>
              <a:rPr lang="en-US" baseline="0" dirty="0" err="1"/>
              <a:t>hai</a:t>
            </a:r>
            <a:r>
              <a:rPr lang="en-US" baseline="0" dirty="0"/>
              <a:t> long…</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29</a:t>
            </a:fld>
            <a:endParaRPr lang="ko-KR" altLang="en-US" dirty="0"/>
          </a:p>
        </p:txBody>
      </p:sp>
    </p:spTree>
    <p:extLst>
      <p:ext uri="{BB962C8B-B14F-4D97-AF65-F5344CB8AC3E}">
        <p14:creationId xmlns:p14="http://schemas.microsoft.com/office/powerpoint/2010/main" val="7100209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601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DA1F8A84-4A0E-4D3F-9F00-809BA191C676}" type="slidenum">
              <a:rPr lang="ko-KR" altLang="en-US" smtClean="0"/>
              <a:pPr>
                <a:defRPr/>
              </a:pPr>
              <a:t>30</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79966479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704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FE0C331D-3AF0-48D2-95E0-20845FDBEDA1}" type="slidenum">
              <a:rPr lang="ko-KR" altLang="en-US" smtClean="0"/>
              <a:pPr>
                <a:defRPr/>
              </a:pPr>
              <a:t>31</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61318454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704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FE0C331D-3AF0-48D2-95E0-20845FDBEDA1}" type="slidenum">
              <a:rPr lang="ko-KR" altLang="en-US" smtClean="0"/>
              <a:pPr>
                <a:defRPr/>
              </a:pPr>
              <a:t>32</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76740406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ko-KR" dirty="0" err="1"/>
              <a:t>Thông</a:t>
            </a:r>
            <a:r>
              <a:rPr lang="en-US" altLang="ko-KR" baseline="0" dirty="0"/>
              <a:t> </a:t>
            </a:r>
            <a:r>
              <a:rPr lang="en-US" altLang="ko-KR" baseline="0" dirty="0" err="1"/>
              <a:t>thường</a:t>
            </a:r>
            <a:r>
              <a:rPr lang="en-US" altLang="ko-KR" baseline="0" dirty="0"/>
              <a:t> </a:t>
            </a:r>
            <a:r>
              <a:rPr lang="en-US" altLang="ko-KR" baseline="0" dirty="0" err="1"/>
              <a:t>để</a:t>
            </a:r>
            <a:r>
              <a:rPr lang="en-US" altLang="ko-KR" baseline="0" dirty="0"/>
              <a:t> </a:t>
            </a:r>
            <a:r>
              <a:rPr lang="en-US" altLang="ko-KR" baseline="0" dirty="0" err="1"/>
              <a:t>thu</a:t>
            </a:r>
            <a:r>
              <a:rPr lang="en-US" altLang="ko-KR" baseline="0" dirty="0"/>
              <a:t> </a:t>
            </a:r>
            <a:r>
              <a:rPr lang="en-US" altLang="ko-KR" baseline="0" dirty="0" err="1"/>
              <a:t>thâp</a:t>
            </a:r>
            <a:r>
              <a:rPr lang="en-US" altLang="ko-KR" baseline="0" dirty="0"/>
              <a:t> </a:t>
            </a:r>
            <a:r>
              <a:rPr lang="en-US" altLang="ko-KR" baseline="0" dirty="0" err="1"/>
              <a:t>dư</a:t>
            </a:r>
            <a:r>
              <a:rPr lang="en-US" altLang="ko-KR" baseline="0" dirty="0"/>
              <a:t> </a:t>
            </a:r>
            <a:r>
              <a:rPr lang="en-US" altLang="ko-KR" baseline="0" dirty="0" err="1"/>
              <a:t>liệu</a:t>
            </a:r>
            <a:r>
              <a:rPr lang="en-US" altLang="ko-KR" baseline="0" dirty="0"/>
              <a:t> </a:t>
            </a:r>
            <a:r>
              <a:rPr lang="en-US" altLang="ko-KR" baseline="0" dirty="0" err="1"/>
              <a:t>thi</a:t>
            </a:r>
            <a:r>
              <a:rPr lang="en-US" altLang="ko-KR" baseline="0" dirty="0"/>
              <a:t> se </a:t>
            </a:r>
            <a:r>
              <a:rPr lang="en-US" altLang="ko-KR" baseline="0" dirty="0" err="1"/>
              <a:t>khảo</a:t>
            </a:r>
            <a:r>
              <a:rPr lang="en-US" altLang="ko-KR" baseline="0" dirty="0"/>
              <a:t> </a:t>
            </a:r>
            <a:r>
              <a:rPr lang="en-US" altLang="ko-KR" baseline="0" dirty="0" err="1"/>
              <a:t>sát</a:t>
            </a:r>
            <a:r>
              <a:rPr lang="en-US" altLang="ko-KR" baseline="0" dirty="0"/>
              <a:t> </a:t>
            </a:r>
            <a:r>
              <a:rPr lang="en-US" altLang="ko-KR" baseline="0" dirty="0" err="1"/>
              <a:t>tổng</a:t>
            </a:r>
            <a:r>
              <a:rPr lang="en-US" altLang="ko-KR" baseline="0" dirty="0"/>
              <a:t> </a:t>
            </a:r>
            <a:r>
              <a:rPr lang="en-US" altLang="ko-KR" baseline="0" dirty="0" err="1"/>
              <a:t>thể</a:t>
            </a:r>
            <a:r>
              <a:rPr lang="en-US" altLang="ko-KR" baseline="0" dirty="0"/>
              <a:t>, </a:t>
            </a:r>
            <a:r>
              <a:rPr lang="en-US" altLang="ko-KR" baseline="0" dirty="0" err="1"/>
              <a:t>nhưng</a:t>
            </a:r>
            <a:r>
              <a:rPr lang="en-US" altLang="ko-KR" baseline="0" dirty="0"/>
              <a:t> do </a:t>
            </a:r>
            <a:r>
              <a:rPr lang="en-US" altLang="ko-KR" baseline="0" dirty="0" err="1"/>
              <a:t>vđ</a:t>
            </a:r>
            <a:r>
              <a:rPr lang="en-US" altLang="ko-KR" baseline="0" dirty="0"/>
              <a:t> </a:t>
            </a:r>
            <a:r>
              <a:rPr lang="en-US" altLang="ko-KR" baseline="0" dirty="0" err="1"/>
              <a:t>về</a:t>
            </a:r>
            <a:r>
              <a:rPr lang="en-US" altLang="ko-KR" baseline="0" dirty="0"/>
              <a:t> </a:t>
            </a:r>
            <a:r>
              <a:rPr lang="en-US" altLang="ko-KR" baseline="0" dirty="0" err="1"/>
              <a:t>tgian</a:t>
            </a:r>
            <a:r>
              <a:rPr lang="en-US" altLang="ko-KR" baseline="0" dirty="0"/>
              <a:t> </a:t>
            </a:r>
            <a:r>
              <a:rPr lang="en-US" altLang="ko-KR" baseline="0" dirty="0" err="1"/>
              <a:t>và</a:t>
            </a:r>
            <a:r>
              <a:rPr lang="en-US" altLang="ko-KR" baseline="0" dirty="0"/>
              <a:t> </a:t>
            </a:r>
            <a:r>
              <a:rPr lang="en-US" altLang="ko-KR" baseline="0" dirty="0" err="1"/>
              <a:t>nguồn</a:t>
            </a:r>
            <a:r>
              <a:rPr lang="en-US" altLang="ko-KR" baseline="0" dirty="0"/>
              <a:t> </a:t>
            </a:r>
            <a:r>
              <a:rPr lang="en-US" altLang="ko-KR" baseline="0" dirty="0" err="1"/>
              <a:t>lực</a:t>
            </a:r>
            <a:r>
              <a:rPr lang="en-US" altLang="ko-KR" baseline="0" dirty="0"/>
              <a:t> </a:t>
            </a:r>
            <a:r>
              <a:rPr lang="en-US" altLang="ko-KR" baseline="0" dirty="0" err="1"/>
              <a:t>nên</a:t>
            </a:r>
            <a:r>
              <a:rPr lang="en-US" altLang="ko-KR" baseline="0" dirty="0"/>
              <a:t> </a:t>
            </a:r>
            <a:r>
              <a:rPr lang="en-US" altLang="ko-KR" baseline="0" dirty="0" err="1"/>
              <a:t>sd</a:t>
            </a:r>
            <a:r>
              <a:rPr lang="en-US" altLang="ko-KR" baseline="0" dirty="0"/>
              <a:t> pp </a:t>
            </a:r>
            <a:r>
              <a:rPr lang="en-US" altLang="ko-KR" baseline="0" dirty="0" err="1"/>
              <a:t>chọn</a:t>
            </a:r>
            <a:r>
              <a:rPr lang="en-US" altLang="ko-KR" baseline="0" dirty="0"/>
              <a:t> </a:t>
            </a:r>
            <a:r>
              <a:rPr lang="en-US" altLang="ko-KR" baseline="0" dirty="0" err="1"/>
              <a:t>mẫu</a:t>
            </a:r>
            <a:endParaRPr lang="en-US" altLang="ko-KR" baseline="0" dirty="0"/>
          </a:p>
          <a:p>
            <a:r>
              <a:rPr lang="en-US" altLang="ko-KR" baseline="0" dirty="0" err="1"/>
              <a:t>Tuy</a:t>
            </a:r>
            <a:r>
              <a:rPr lang="en-US" altLang="ko-KR" baseline="0" dirty="0"/>
              <a:t> </a:t>
            </a:r>
            <a:r>
              <a:rPr lang="en-US" altLang="ko-KR" baseline="0" dirty="0" err="1"/>
              <a:t>nhien</a:t>
            </a:r>
            <a:r>
              <a:rPr lang="en-US" altLang="ko-KR" baseline="0" dirty="0"/>
              <a:t> </a:t>
            </a:r>
            <a:r>
              <a:rPr lang="en-US" altLang="ko-KR" baseline="0" dirty="0" err="1"/>
              <a:t>khi</a:t>
            </a:r>
            <a:r>
              <a:rPr lang="en-US" altLang="ko-KR" baseline="0" dirty="0"/>
              <a:t> </a:t>
            </a:r>
            <a:r>
              <a:rPr lang="en-US" altLang="ko-KR" baseline="0" dirty="0" err="1"/>
              <a:t>lấy</a:t>
            </a:r>
            <a:r>
              <a:rPr lang="en-US" altLang="ko-KR" baseline="0" dirty="0"/>
              <a:t> </a:t>
            </a:r>
            <a:r>
              <a:rPr lang="en-US" altLang="ko-KR" baseline="0" dirty="0" err="1"/>
              <a:t>mẫu</a:t>
            </a:r>
            <a:r>
              <a:rPr lang="en-US" altLang="ko-KR" baseline="0" dirty="0"/>
              <a:t> </a:t>
            </a:r>
            <a:r>
              <a:rPr lang="en-US" altLang="ko-KR" baseline="0" dirty="0" err="1"/>
              <a:t>có</a:t>
            </a:r>
            <a:r>
              <a:rPr lang="en-US" altLang="ko-KR" baseline="0" dirty="0"/>
              <a:t> </a:t>
            </a:r>
            <a:r>
              <a:rPr lang="en-US" altLang="ko-KR" baseline="0" dirty="0" err="1"/>
              <a:t>thể</a:t>
            </a:r>
            <a:r>
              <a:rPr lang="en-US" altLang="ko-KR" baseline="0" dirty="0"/>
              <a:t> </a:t>
            </a:r>
            <a:r>
              <a:rPr lang="en-US" altLang="ko-KR" baseline="0" dirty="0" err="1"/>
              <a:t>có</a:t>
            </a:r>
            <a:r>
              <a:rPr lang="en-US" altLang="ko-KR" baseline="0" dirty="0"/>
              <a:t> </a:t>
            </a:r>
            <a:r>
              <a:rPr lang="en-US" altLang="ko-KR" baseline="0" dirty="0" err="1"/>
              <a:t>rủi</a:t>
            </a:r>
            <a:r>
              <a:rPr lang="en-US" altLang="ko-KR" baseline="0" dirty="0"/>
              <a:t> </a:t>
            </a:r>
            <a:r>
              <a:rPr lang="en-US" altLang="ko-KR" baseline="0" dirty="0" err="1"/>
              <a:t>ro</a:t>
            </a:r>
            <a:r>
              <a:rPr lang="en-US" altLang="ko-KR" baseline="0" dirty="0"/>
              <a:t> do </a:t>
            </a:r>
            <a:r>
              <a:rPr lang="en-US" altLang="ko-KR" baseline="0" dirty="0" err="1"/>
              <a:t>mẫu</a:t>
            </a:r>
            <a:r>
              <a:rPr lang="en-US" altLang="ko-KR" baseline="0" dirty="0"/>
              <a:t> </a:t>
            </a:r>
            <a:r>
              <a:rPr lang="en-US" altLang="ko-KR" baseline="0" dirty="0" err="1"/>
              <a:t>khi</a:t>
            </a:r>
            <a:r>
              <a:rPr lang="en-US" altLang="ko-KR" baseline="0" dirty="0"/>
              <a:t> </a:t>
            </a:r>
            <a:r>
              <a:rPr lang="en-US" altLang="ko-KR" baseline="0" dirty="0" err="1"/>
              <a:t>lấy</a:t>
            </a:r>
            <a:r>
              <a:rPr lang="en-US" altLang="ko-KR" baseline="0" dirty="0"/>
              <a:t> </a:t>
            </a:r>
            <a:r>
              <a:rPr lang="en-US" altLang="ko-KR" baseline="0" dirty="0" err="1"/>
              <a:t>có</a:t>
            </a:r>
            <a:r>
              <a:rPr lang="en-US" altLang="ko-KR" baseline="0" dirty="0"/>
              <a:t> </a:t>
            </a:r>
            <a:r>
              <a:rPr lang="en-US" altLang="ko-KR" baseline="0" dirty="0" err="1"/>
              <a:t>thể</a:t>
            </a:r>
            <a:r>
              <a:rPr lang="en-US" altLang="ko-KR" baseline="0" dirty="0"/>
              <a:t> </a:t>
            </a:r>
            <a:r>
              <a:rPr lang="en-US" altLang="ko-KR" baseline="0" dirty="0" err="1"/>
              <a:t>ko</a:t>
            </a:r>
            <a:r>
              <a:rPr lang="en-US" altLang="ko-KR" baseline="0" dirty="0"/>
              <a:t> </a:t>
            </a:r>
            <a:r>
              <a:rPr lang="en-US" altLang="ko-KR" baseline="0" dirty="0" err="1"/>
              <a:t>thể</a:t>
            </a:r>
            <a:r>
              <a:rPr lang="en-US" altLang="ko-KR" baseline="0" dirty="0"/>
              <a:t> </a:t>
            </a:r>
            <a:r>
              <a:rPr lang="en-US" altLang="ko-KR" baseline="0" dirty="0" err="1"/>
              <a:t>hiện</a:t>
            </a:r>
            <a:r>
              <a:rPr lang="en-US" altLang="ko-KR" baseline="0" dirty="0"/>
              <a:t> </a:t>
            </a:r>
            <a:r>
              <a:rPr lang="en-US" altLang="ko-KR" baseline="0" dirty="0" err="1"/>
              <a:t>đc</a:t>
            </a:r>
            <a:r>
              <a:rPr lang="en-US" altLang="ko-KR" baseline="0" dirty="0"/>
              <a:t> </a:t>
            </a:r>
            <a:r>
              <a:rPr lang="en-US" altLang="ko-KR" baseline="0" dirty="0" err="1"/>
              <a:t>hết</a:t>
            </a:r>
            <a:r>
              <a:rPr lang="en-US" altLang="ko-KR" baseline="0" dirty="0"/>
              <a:t> </a:t>
            </a:r>
            <a:r>
              <a:rPr lang="en-US" altLang="ko-KR" baseline="0" dirty="0" err="1"/>
              <a:t>tinh</a:t>
            </a:r>
            <a:r>
              <a:rPr lang="en-US" altLang="ko-KR" baseline="0" dirty="0"/>
              <a:t> </a:t>
            </a:r>
            <a:r>
              <a:rPr lang="en-US" altLang="ko-KR" baseline="0" dirty="0" err="1"/>
              <a:t>chât</a:t>
            </a:r>
            <a:r>
              <a:rPr lang="en-US" altLang="ko-KR" baseline="0" dirty="0"/>
              <a:t> </a:t>
            </a:r>
            <a:r>
              <a:rPr lang="en-US" altLang="ko-KR" baseline="0" dirty="0" err="1"/>
              <a:t>của</a:t>
            </a:r>
            <a:r>
              <a:rPr lang="en-US" altLang="ko-KR" baseline="0" dirty="0"/>
              <a:t> </a:t>
            </a:r>
            <a:r>
              <a:rPr lang="en-US" altLang="ko-KR" baseline="0" dirty="0" err="1"/>
              <a:t>tổng</a:t>
            </a:r>
            <a:r>
              <a:rPr lang="en-US" altLang="ko-KR" baseline="0" dirty="0"/>
              <a:t> </a:t>
            </a:r>
            <a:r>
              <a:rPr lang="en-US" altLang="ko-KR" baseline="0" dirty="0" err="1"/>
              <a:t>thể</a:t>
            </a:r>
            <a:r>
              <a:rPr lang="en-US" altLang="ko-KR" baseline="0" dirty="0" err="1">
                <a:sym typeface="Wingdings" panose="05000000000000000000" pitchFamily="2" charset="2"/>
              </a:rPr>
              <a:t>sampling</a:t>
            </a:r>
            <a:r>
              <a:rPr lang="en-US" altLang="ko-KR" baseline="0" dirty="0">
                <a:sym typeface="Wingdings" panose="05000000000000000000" pitchFamily="2" charset="2"/>
              </a:rPr>
              <a:t> </a:t>
            </a:r>
            <a:r>
              <a:rPr lang="en-US" altLang="ko-KR" baseline="0" dirty="0" err="1">
                <a:sym typeface="Wingdings" panose="05000000000000000000" pitchFamily="2" charset="2"/>
              </a:rPr>
              <a:t>erro</a:t>
            </a:r>
            <a:endParaRPr lang="en-US" altLang="ko-KR" baseline="0" dirty="0">
              <a:sym typeface="Wingdings" panose="05000000000000000000" pitchFamily="2" charset="2"/>
            </a:endParaRPr>
          </a:p>
          <a:p>
            <a:r>
              <a:rPr lang="en-US" altLang="ko-KR" baseline="0" dirty="0" err="1">
                <a:sym typeface="Wingdings" panose="05000000000000000000" pitchFamily="2" charset="2"/>
              </a:rPr>
              <a:t>Vậy</a:t>
            </a:r>
            <a:r>
              <a:rPr lang="en-US" altLang="ko-KR" baseline="0" dirty="0">
                <a:sym typeface="Wingdings" panose="05000000000000000000" pitchFamily="2" charset="2"/>
              </a:rPr>
              <a:t> </a:t>
            </a:r>
            <a:r>
              <a:rPr lang="en-US" altLang="ko-KR" baseline="0" dirty="0" err="1">
                <a:sym typeface="Wingdings" panose="05000000000000000000" pitchFamily="2" charset="2"/>
              </a:rPr>
              <a:t>làm</a:t>
            </a:r>
            <a:r>
              <a:rPr lang="en-US" altLang="ko-KR" baseline="0" dirty="0">
                <a:sym typeface="Wingdings" panose="05000000000000000000" pitchFamily="2" charset="2"/>
              </a:rPr>
              <a:t> j </a:t>
            </a:r>
            <a:r>
              <a:rPr lang="en-US" altLang="ko-KR" baseline="0" dirty="0" err="1">
                <a:sym typeface="Wingdings" panose="05000000000000000000" pitchFamily="2" charset="2"/>
              </a:rPr>
              <a:t>để</a:t>
            </a:r>
            <a:r>
              <a:rPr lang="en-US" altLang="ko-KR" baseline="0" dirty="0">
                <a:sym typeface="Wingdings" panose="05000000000000000000" pitchFamily="2" charset="2"/>
              </a:rPr>
              <a:t> </a:t>
            </a:r>
            <a:r>
              <a:rPr lang="en-US" altLang="ko-KR" baseline="0" dirty="0" err="1">
                <a:sym typeface="Wingdings" panose="05000000000000000000" pitchFamily="2" charset="2"/>
              </a:rPr>
              <a:t>hạn</a:t>
            </a:r>
            <a:r>
              <a:rPr lang="en-US" altLang="ko-KR" baseline="0" dirty="0">
                <a:sym typeface="Wingdings" panose="05000000000000000000" pitchFamily="2" charset="2"/>
              </a:rPr>
              <a:t> </a:t>
            </a:r>
            <a:r>
              <a:rPr lang="en-US" altLang="ko-KR" baseline="0" dirty="0" err="1">
                <a:sym typeface="Wingdings" panose="05000000000000000000" pitchFamily="2" charset="2"/>
              </a:rPr>
              <a:t>chê</a:t>
            </a:r>
            <a:r>
              <a:rPr lang="en-US" altLang="ko-KR" baseline="0" dirty="0">
                <a:sym typeface="Wingdings" panose="05000000000000000000" pitchFamily="2" charset="2"/>
              </a:rPr>
              <a:t> </a:t>
            </a:r>
            <a:r>
              <a:rPr lang="en-US" altLang="ko-KR" baseline="0" dirty="0" err="1">
                <a:sym typeface="Wingdings" panose="05000000000000000000" pitchFamily="2" charset="2"/>
              </a:rPr>
              <a:t>lỗi</a:t>
            </a:r>
            <a:r>
              <a:rPr lang="en-US" altLang="ko-KR" baseline="0" dirty="0">
                <a:sym typeface="Wingdings" panose="05000000000000000000" pitchFamily="2" charset="2"/>
              </a:rPr>
              <a:t> </a:t>
            </a:r>
            <a:r>
              <a:rPr lang="en-US" altLang="ko-KR" baseline="0" dirty="0" err="1">
                <a:sym typeface="Wingdings" panose="05000000000000000000" pitchFamily="2" charset="2"/>
              </a:rPr>
              <a:t>này</a:t>
            </a:r>
            <a:r>
              <a:rPr lang="en-US" altLang="ko-KR" baseline="0" dirty="0">
                <a:sym typeface="Wingdings" panose="05000000000000000000" pitchFamily="2" charset="2"/>
              </a:rPr>
              <a:t> </a:t>
            </a:r>
            <a:r>
              <a:rPr lang="en-US" altLang="ko-KR" baseline="0" dirty="0" err="1">
                <a:sym typeface="Wingdings" panose="05000000000000000000" pitchFamily="2" charset="2"/>
              </a:rPr>
              <a:t>xay</a:t>
            </a:r>
            <a:r>
              <a:rPr lang="en-US" altLang="ko-KR" baseline="0" dirty="0">
                <a:sym typeface="Wingdings" panose="05000000000000000000" pitchFamily="2" charset="2"/>
              </a:rPr>
              <a:t> </a:t>
            </a:r>
            <a:r>
              <a:rPr lang="en-US" altLang="ko-KR" baseline="0" dirty="0" err="1">
                <a:sym typeface="Wingdings" panose="05000000000000000000" pitchFamily="2" charset="2"/>
              </a:rPr>
              <a:t>ra</a:t>
            </a:r>
            <a:endParaRPr lang="en-US" altLang="ko-KR" baseline="0" dirty="0">
              <a:sym typeface="Wingdings" panose="05000000000000000000" pitchFamily="2" charset="2"/>
            </a:endParaRPr>
          </a:p>
          <a:p>
            <a:r>
              <a:rPr lang="en-US" altLang="ko-KR" baseline="0" dirty="0">
                <a:sym typeface="Wingdings" panose="05000000000000000000" pitchFamily="2" charset="2"/>
              </a:rPr>
              <a:t>VD: </a:t>
            </a:r>
            <a:r>
              <a:rPr lang="en-US" altLang="ko-KR" baseline="0" dirty="0" err="1">
                <a:sym typeface="Wingdings" panose="05000000000000000000" pitchFamily="2" charset="2"/>
              </a:rPr>
              <a:t>khảo</a:t>
            </a:r>
            <a:r>
              <a:rPr lang="en-US" altLang="ko-KR" baseline="0" dirty="0">
                <a:sym typeface="Wingdings" panose="05000000000000000000" pitchFamily="2" charset="2"/>
              </a:rPr>
              <a:t> sat </a:t>
            </a:r>
            <a:r>
              <a:rPr lang="en-US" altLang="ko-KR" baseline="0" dirty="0" err="1">
                <a:sym typeface="Wingdings" panose="05000000000000000000" pitchFamily="2" charset="2"/>
              </a:rPr>
              <a:t>chiêu</a:t>
            </a:r>
            <a:r>
              <a:rPr lang="en-US" altLang="ko-KR" baseline="0" dirty="0">
                <a:sym typeface="Wingdings" panose="05000000000000000000" pitchFamily="2" charset="2"/>
              </a:rPr>
              <a:t> </a:t>
            </a:r>
            <a:r>
              <a:rPr lang="en-US" altLang="ko-KR" baseline="0" dirty="0" err="1">
                <a:sym typeface="Wingdings" panose="05000000000000000000" pitchFamily="2" charset="2"/>
              </a:rPr>
              <a:t>cao</a:t>
            </a:r>
            <a:r>
              <a:rPr lang="en-US" altLang="ko-KR" baseline="0" dirty="0">
                <a:sym typeface="Wingdings" panose="05000000000000000000" pitchFamily="2" charset="2"/>
              </a:rPr>
              <a:t> </a:t>
            </a:r>
            <a:r>
              <a:rPr lang="en-US" altLang="ko-KR" baseline="0" dirty="0" err="1">
                <a:sym typeface="Wingdings" panose="05000000000000000000" pitchFamily="2" charset="2"/>
              </a:rPr>
              <a:t>trung</a:t>
            </a:r>
            <a:r>
              <a:rPr lang="en-US" altLang="ko-KR" baseline="0" dirty="0">
                <a:sym typeface="Wingdings" panose="05000000000000000000" pitchFamily="2" charset="2"/>
              </a:rPr>
              <a:t> </a:t>
            </a:r>
            <a:r>
              <a:rPr lang="en-US" altLang="ko-KR" baseline="0" dirty="0" err="1">
                <a:sym typeface="Wingdings" panose="05000000000000000000" pitchFamily="2" charset="2"/>
              </a:rPr>
              <a:t>binh</a:t>
            </a:r>
            <a:r>
              <a:rPr lang="en-US" altLang="ko-KR" baseline="0" dirty="0">
                <a:sym typeface="Wingdings" panose="05000000000000000000" pitchFamily="2" charset="2"/>
              </a:rPr>
              <a:t> </a:t>
            </a:r>
            <a:r>
              <a:rPr lang="en-US" altLang="ko-KR" baseline="0" dirty="0" err="1">
                <a:sym typeface="Wingdings" panose="05000000000000000000" pitchFamily="2" charset="2"/>
              </a:rPr>
              <a:t>của</a:t>
            </a:r>
            <a:r>
              <a:rPr lang="en-US" altLang="ko-KR" baseline="0" dirty="0">
                <a:sym typeface="Wingdings" panose="05000000000000000000" pitchFamily="2" charset="2"/>
              </a:rPr>
              <a:t> NVLG, lam </a:t>
            </a:r>
            <a:r>
              <a:rPr lang="en-US" altLang="ko-KR" baseline="0" dirty="0" err="1">
                <a:sym typeface="Wingdings" panose="05000000000000000000" pitchFamily="2" charset="2"/>
              </a:rPr>
              <a:t>sao</a:t>
            </a:r>
            <a:r>
              <a:rPr lang="en-US" altLang="ko-KR" baseline="0" dirty="0">
                <a:sym typeface="Wingdings" panose="05000000000000000000" pitchFamily="2" charset="2"/>
              </a:rPr>
              <a:t> </a:t>
            </a:r>
            <a:r>
              <a:rPr lang="en-US" altLang="ko-KR" baseline="0" dirty="0" err="1">
                <a:sym typeface="Wingdings" panose="05000000000000000000" pitchFamily="2" charset="2"/>
              </a:rPr>
              <a:t>để</a:t>
            </a:r>
            <a:r>
              <a:rPr lang="en-US" altLang="ko-KR" baseline="0" dirty="0">
                <a:sym typeface="Wingdings" panose="05000000000000000000" pitchFamily="2" charset="2"/>
              </a:rPr>
              <a:t> </a:t>
            </a:r>
            <a:r>
              <a:rPr lang="en-US" altLang="ko-KR" baseline="0" dirty="0" err="1">
                <a:sym typeface="Wingdings" panose="05000000000000000000" pitchFamily="2" charset="2"/>
              </a:rPr>
              <a:t>khao</a:t>
            </a:r>
            <a:r>
              <a:rPr lang="en-US" altLang="ko-KR" baseline="0" dirty="0">
                <a:sym typeface="Wingdings" panose="05000000000000000000" pitchFamily="2" charset="2"/>
              </a:rPr>
              <a:t> sat </a:t>
            </a:r>
            <a:r>
              <a:rPr lang="en-US" altLang="ko-KR" baseline="0" dirty="0" err="1">
                <a:sym typeface="Wingdings" panose="05000000000000000000" pitchFamily="2" charset="2"/>
              </a:rPr>
              <a:t>chinh</a:t>
            </a:r>
            <a:r>
              <a:rPr lang="en-US" altLang="ko-KR" baseline="0" dirty="0">
                <a:sym typeface="Wingdings" panose="05000000000000000000" pitchFamily="2" charset="2"/>
              </a:rPr>
              <a:t> </a:t>
            </a:r>
            <a:r>
              <a:rPr lang="en-US" altLang="ko-KR" baseline="0" dirty="0" err="1">
                <a:sym typeface="Wingdings" panose="05000000000000000000" pitchFamily="2" charset="2"/>
              </a:rPr>
              <a:t>xác</a:t>
            </a:r>
            <a:r>
              <a:rPr lang="en-US" altLang="ko-KR" baseline="0" dirty="0">
                <a:sym typeface="Wingdings" panose="05000000000000000000" pitchFamily="2" charset="2"/>
              </a:rPr>
              <a:t> </a:t>
            </a:r>
            <a:r>
              <a:rPr lang="en-US" altLang="ko-KR" baseline="0" dirty="0" err="1">
                <a:sym typeface="Wingdings" panose="05000000000000000000" pitchFamily="2" charset="2"/>
              </a:rPr>
              <a:t>nhât</a:t>
            </a:r>
            <a:r>
              <a:rPr lang="en-US" altLang="ko-KR" baseline="0" dirty="0">
                <a:sym typeface="Wingdings" panose="05000000000000000000" pitchFamily="2" charset="2"/>
              </a:rPr>
              <a:t> ma </a:t>
            </a:r>
            <a:r>
              <a:rPr lang="en-US" altLang="ko-KR" baseline="0" dirty="0" err="1">
                <a:sym typeface="Wingdings" panose="05000000000000000000" pitchFamily="2" charset="2"/>
              </a:rPr>
              <a:t>ko</a:t>
            </a:r>
            <a:r>
              <a:rPr lang="en-US" altLang="ko-KR" baseline="0" dirty="0">
                <a:sym typeface="Wingdings" panose="05000000000000000000" pitchFamily="2" charset="2"/>
              </a:rPr>
              <a:t> </a:t>
            </a:r>
            <a:r>
              <a:rPr lang="en-US" altLang="ko-KR" baseline="0" dirty="0" err="1">
                <a:sym typeface="Wingdings" panose="05000000000000000000" pitchFamily="2" charset="2"/>
              </a:rPr>
              <a:t>fai</a:t>
            </a:r>
            <a:r>
              <a:rPr lang="en-US" altLang="ko-KR" baseline="0" dirty="0">
                <a:sym typeface="Wingdings" panose="05000000000000000000" pitchFamily="2" charset="2"/>
              </a:rPr>
              <a:t> </a:t>
            </a:r>
            <a:r>
              <a:rPr lang="en-US" altLang="ko-KR" baseline="0" dirty="0" err="1">
                <a:sym typeface="Wingdings" panose="05000000000000000000" pitchFamily="2" charset="2"/>
              </a:rPr>
              <a:t>đi</a:t>
            </a:r>
            <a:r>
              <a:rPr lang="en-US" altLang="ko-KR" baseline="0" dirty="0">
                <a:sym typeface="Wingdings" panose="05000000000000000000" pitchFamily="2" charset="2"/>
              </a:rPr>
              <a:t> </a:t>
            </a:r>
            <a:r>
              <a:rPr lang="en-US" altLang="ko-KR" baseline="0" dirty="0" err="1">
                <a:sym typeface="Wingdings" panose="05000000000000000000" pitchFamily="2" charset="2"/>
              </a:rPr>
              <a:t>đo</a:t>
            </a:r>
            <a:r>
              <a:rPr lang="en-US" altLang="ko-KR" baseline="0" dirty="0">
                <a:sym typeface="Wingdings" panose="05000000000000000000" pitchFamily="2" charset="2"/>
              </a:rPr>
              <a:t> </a:t>
            </a:r>
            <a:r>
              <a:rPr lang="en-US" altLang="ko-KR" baseline="0" dirty="0" err="1">
                <a:sym typeface="Wingdings" panose="05000000000000000000" pitchFamily="2" charset="2"/>
              </a:rPr>
              <a:t>tưng</a:t>
            </a:r>
            <a:r>
              <a:rPr lang="en-US" altLang="ko-KR" baseline="0" dirty="0">
                <a:sym typeface="Wingdings" panose="05000000000000000000" pitchFamily="2" charset="2"/>
              </a:rPr>
              <a:t> </a:t>
            </a:r>
            <a:r>
              <a:rPr lang="en-US" altLang="ko-KR" baseline="0" dirty="0" err="1">
                <a:sym typeface="Wingdings" panose="05000000000000000000" pitchFamily="2" charset="2"/>
              </a:rPr>
              <a:t>người</a:t>
            </a:r>
            <a:r>
              <a:rPr lang="en-US" altLang="ko-KR" baseline="0" dirty="0">
                <a:sym typeface="Wingdings" panose="05000000000000000000" pitchFamily="2" charset="2"/>
              </a:rPr>
              <a:t> 1</a:t>
            </a:r>
          </a:p>
          <a:p>
            <a:r>
              <a:rPr lang="en-US" altLang="ko-KR" baseline="0" dirty="0">
                <a:sym typeface="Wingdings" panose="05000000000000000000" pitchFamily="2" charset="2"/>
              </a:rPr>
              <a:t>1 tang </a:t>
            </a:r>
            <a:r>
              <a:rPr lang="en-US" altLang="ko-KR" baseline="0" dirty="0" err="1">
                <a:sym typeface="Wingdings" panose="05000000000000000000" pitchFamily="2" charset="2"/>
              </a:rPr>
              <a:t>kich</a:t>
            </a:r>
            <a:r>
              <a:rPr lang="en-US" altLang="ko-KR" baseline="0" dirty="0">
                <a:sym typeface="Wingdings" panose="05000000000000000000" pitchFamily="2" charset="2"/>
              </a:rPr>
              <a:t> </a:t>
            </a:r>
            <a:r>
              <a:rPr lang="en-US" altLang="ko-KR" baseline="0" dirty="0" err="1">
                <a:sym typeface="Wingdings" panose="05000000000000000000" pitchFamily="2" charset="2"/>
              </a:rPr>
              <a:t>thước</a:t>
            </a:r>
            <a:r>
              <a:rPr lang="en-US" altLang="ko-KR" baseline="0" dirty="0">
                <a:sym typeface="Wingdings" panose="05000000000000000000" pitchFamily="2" charset="2"/>
              </a:rPr>
              <a:t> </a:t>
            </a:r>
            <a:r>
              <a:rPr lang="en-US" altLang="ko-KR" baseline="0" dirty="0" err="1">
                <a:sym typeface="Wingdings" panose="05000000000000000000" pitchFamily="2" charset="2"/>
              </a:rPr>
              <a:t>mấu</a:t>
            </a:r>
            <a:r>
              <a:rPr lang="en-US" altLang="ko-KR" baseline="0" dirty="0">
                <a:sym typeface="Wingdings" panose="05000000000000000000" pitchFamily="2" charset="2"/>
              </a:rPr>
              <a:t>, </a:t>
            </a:r>
            <a:r>
              <a:rPr lang="en-US" altLang="ko-KR" baseline="0" dirty="0" err="1">
                <a:sym typeface="Wingdings" panose="05000000000000000000" pitchFamily="2" charset="2"/>
              </a:rPr>
              <a:t>lấy</a:t>
            </a:r>
            <a:r>
              <a:rPr lang="en-US" altLang="ko-KR" baseline="0" dirty="0">
                <a:sym typeface="Wingdings" panose="05000000000000000000" pitchFamily="2" charset="2"/>
              </a:rPr>
              <a:t> </a:t>
            </a:r>
            <a:r>
              <a:rPr lang="en-US" altLang="ko-KR" baseline="0" dirty="0" err="1">
                <a:sym typeface="Wingdings" panose="05000000000000000000" pitchFamily="2" charset="2"/>
              </a:rPr>
              <a:t>nhiều</a:t>
            </a:r>
            <a:r>
              <a:rPr lang="en-US" altLang="ko-KR" baseline="0" dirty="0">
                <a:sym typeface="Wingdings" panose="05000000000000000000" pitchFamily="2" charset="2"/>
              </a:rPr>
              <a:t> </a:t>
            </a:r>
            <a:r>
              <a:rPr lang="en-US" altLang="ko-KR" baseline="0" dirty="0" err="1">
                <a:sym typeface="Wingdings" panose="05000000000000000000" pitchFamily="2" charset="2"/>
              </a:rPr>
              <a:t>người</a:t>
            </a:r>
            <a:r>
              <a:rPr lang="en-US" altLang="ko-KR" baseline="0" dirty="0">
                <a:sym typeface="Wingdings" panose="05000000000000000000" pitchFamily="2" charset="2"/>
              </a:rPr>
              <a:t> </a:t>
            </a:r>
            <a:r>
              <a:rPr lang="en-US" altLang="ko-KR" baseline="0" dirty="0" err="1">
                <a:sym typeface="Wingdings" panose="05000000000000000000" pitchFamily="2" charset="2"/>
              </a:rPr>
              <a:t>lên</a:t>
            </a:r>
            <a:r>
              <a:rPr lang="en-US" altLang="ko-KR" baseline="0" dirty="0">
                <a:sym typeface="Wingdings" panose="05000000000000000000" pitchFamily="2" charset="2"/>
              </a:rPr>
              <a:t>, </a:t>
            </a:r>
            <a:r>
              <a:rPr lang="en-US" altLang="ko-KR" baseline="0" dirty="0" err="1">
                <a:sym typeface="Wingdings" panose="05000000000000000000" pitchFamily="2" charset="2"/>
              </a:rPr>
              <a:t>nhưng</a:t>
            </a:r>
            <a:r>
              <a:rPr lang="en-US" altLang="ko-KR" baseline="0" dirty="0">
                <a:sym typeface="Wingdings" panose="05000000000000000000" pitchFamily="2" charset="2"/>
              </a:rPr>
              <a:t> </a:t>
            </a:r>
            <a:r>
              <a:rPr lang="en-US" altLang="ko-KR" baseline="0" dirty="0" err="1">
                <a:sym typeface="Wingdings" panose="05000000000000000000" pitchFamily="2" charset="2"/>
              </a:rPr>
              <a:t>khi</a:t>
            </a:r>
            <a:r>
              <a:rPr lang="en-US" altLang="ko-KR" baseline="0" dirty="0">
                <a:sym typeface="Wingdings" panose="05000000000000000000" pitchFamily="2" charset="2"/>
              </a:rPr>
              <a:t> </a:t>
            </a:r>
            <a:r>
              <a:rPr lang="en-US" altLang="ko-KR" baseline="0" dirty="0" err="1">
                <a:sym typeface="Wingdings" panose="05000000000000000000" pitchFamily="2" charset="2"/>
              </a:rPr>
              <a:t>lây</a:t>
            </a:r>
            <a:r>
              <a:rPr lang="en-US" altLang="ko-KR" baseline="0" dirty="0">
                <a:sym typeface="Wingdings" panose="05000000000000000000" pitchFamily="2" charset="2"/>
              </a:rPr>
              <a:t> </a:t>
            </a:r>
            <a:r>
              <a:rPr lang="en-US" altLang="ko-KR" baseline="0" dirty="0" err="1">
                <a:sym typeface="Wingdings" panose="05000000000000000000" pitchFamily="2" charset="2"/>
              </a:rPr>
              <a:t>nhiêu</a:t>
            </a:r>
            <a:r>
              <a:rPr lang="en-US" altLang="ko-KR" baseline="0" dirty="0">
                <a:sym typeface="Wingdings" panose="05000000000000000000" pitchFamily="2" charset="2"/>
              </a:rPr>
              <a:t> </a:t>
            </a:r>
            <a:r>
              <a:rPr lang="en-US" altLang="ko-KR" baseline="0" dirty="0" err="1">
                <a:sym typeface="Wingdings" panose="05000000000000000000" pitchFamily="2" charset="2"/>
              </a:rPr>
              <a:t>mâu</a:t>
            </a:r>
            <a:r>
              <a:rPr lang="en-US" altLang="ko-KR" baseline="0" dirty="0">
                <a:sym typeface="Wingdings" panose="05000000000000000000" pitchFamily="2" charset="2"/>
              </a:rPr>
              <a:t> </a:t>
            </a:r>
            <a:r>
              <a:rPr lang="en-US" altLang="ko-KR" baseline="0" dirty="0" err="1">
                <a:sym typeface="Wingdings" panose="05000000000000000000" pitchFamily="2" charset="2"/>
              </a:rPr>
              <a:t>hơn</a:t>
            </a:r>
            <a:r>
              <a:rPr lang="en-US" altLang="ko-KR" baseline="0" dirty="0">
                <a:sym typeface="Wingdings" panose="05000000000000000000" pitchFamily="2" charset="2"/>
              </a:rPr>
              <a:t> </a:t>
            </a:r>
            <a:r>
              <a:rPr lang="en-US" altLang="ko-KR" baseline="0" dirty="0" err="1">
                <a:sym typeface="Wingdings" panose="05000000000000000000" pitchFamily="2" charset="2"/>
              </a:rPr>
              <a:t>thi</a:t>
            </a:r>
            <a:r>
              <a:rPr lang="en-US" altLang="ko-KR" baseline="0" dirty="0">
                <a:sym typeface="Wingdings" panose="05000000000000000000" pitchFamily="2" charset="2"/>
              </a:rPr>
              <a:t> </a:t>
            </a:r>
            <a:r>
              <a:rPr lang="en-US" altLang="ko-KR" baseline="0" dirty="0" err="1">
                <a:sym typeface="Wingdings" panose="05000000000000000000" pitchFamily="2" charset="2"/>
              </a:rPr>
              <a:t>mât</a:t>
            </a:r>
            <a:r>
              <a:rPr lang="en-US" altLang="ko-KR" baseline="0" dirty="0">
                <a:sym typeface="Wingdings" panose="05000000000000000000" pitchFamily="2" charset="2"/>
              </a:rPr>
              <a:t> </a:t>
            </a:r>
            <a:r>
              <a:rPr lang="en-US" altLang="ko-KR" baseline="0" dirty="0" err="1">
                <a:sym typeface="Wingdings" panose="05000000000000000000" pitchFamily="2" charset="2"/>
              </a:rPr>
              <a:t>tgian</a:t>
            </a:r>
            <a:r>
              <a:rPr lang="en-US" altLang="ko-KR" baseline="0" dirty="0">
                <a:sym typeface="Wingdings" panose="05000000000000000000" pitchFamily="2" charset="2"/>
              </a:rPr>
              <a:t> </a:t>
            </a:r>
            <a:r>
              <a:rPr lang="en-US" altLang="ko-KR" baseline="0" dirty="0" err="1">
                <a:sym typeface="Wingdings" panose="05000000000000000000" pitchFamily="2" charset="2"/>
              </a:rPr>
              <a:t>hơn</a:t>
            </a:r>
            <a:r>
              <a:rPr lang="en-US" altLang="ko-KR" baseline="0" dirty="0">
                <a:sym typeface="Wingdings" panose="05000000000000000000" pitchFamily="2" charset="2"/>
              </a:rPr>
              <a:t>, </a:t>
            </a:r>
            <a:r>
              <a:rPr lang="en-US" altLang="ko-KR" baseline="0" dirty="0" err="1">
                <a:sym typeface="Wingdings" panose="05000000000000000000" pitchFamily="2" charset="2"/>
              </a:rPr>
              <a:t>vậy</a:t>
            </a:r>
            <a:r>
              <a:rPr lang="en-US" altLang="ko-KR" baseline="0" dirty="0">
                <a:sym typeface="Wingdings" panose="05000000000000000000" pitchFamily="2" charset="2"/>
              </a:rPr>
              <a:t> </a:t>
            </a:r>
            <a:r>
              <a:rPr lang="en-US" altLang="ko-KR" baseline="0" dirty="0" err="1">
                <a:sym typeface="Wingdings" panose="05000000000000000000" pitchFamily="2" charset="2"/>
              </a:rPr>
              <a:t>nên</a:t>
            </a:r>
            <a:r>
              <a:rPr lang="en-US" altLang="ko-KR" baseline="0" dirty="0">
                <a:sym typeface="Wingdings" panose="05000000000000000000" pitchFamily="2" charset="2"/>
              </a:rPr>
              <a:t> </a:t>
            </a:r>
            <a:r>
              <a:rPr lang="en-US" altLang="ko-KR" baseline="0" dirty="0" err="1">
                <a:sym typeface="Wingdings" panose="05000000000000000000" pitchFamily="2" charset="2"/>
              </a:rPr>
              <a:t>giới</a:t>
            </a:r>
            <a:r>
              <a:rPr lang="en-US" altLang="ko-KR" baseline="0" dirty="0">
                <a:sym typeface="Wingdings" panose="05000000000000000000" pitchFamily="2" charset="2"/>
              </a:rPr>
              <a:t> </a:t>
            </a:r>
            <a:r>
              <a:rPr lang="en-US" altLang="ko-KR" baseline="0" dirty="0" err="1">
                <a:sym typeface="Wingdings" panose="05000000000000000000" pitchFamily="2" charset="2"/>
              </a:rPr>
              <a:t>hạn</a:t>
            </a:r>
            <a:r>
              <a:rPr lang="en-US" altLang="ko-KR" baseline="0" dirty="0">
                <a:sym typeface="Wingdings" panose="05000000000000000000" pitchFamily="2" charset="2"/>
              </a:rPr>
              <a:t> </a:t>
            </a:r>
            <a:r>
              <a:rPr lang="en-US" altLang="ko-KR" baseline="0" dirty="0" err="1">
                <a:sym typeface="Wingdings" panose="05000000000000000000" pitchFamily="2" charset="2"/>
              </a:rPr>
              <a:t>kích</a:t>
            </a:r>
            <a:r>
              <a:rPr lang="en-US" altLang="ko-KR" baseline="0" dirty="0">
                <a:sym typeface="Wingdings" panose="05000000000000000000" pitchFamily="2" charset="2"/>
              </a:rPr>
              <a:t> </a:t>
            </a:r>
            <a:r>
              <a:rPr lang="en-US" altLang="ko-KR" baseline="0" dirty="0" err="1">
                <a:sym typeface="Wingdings" panose="05000000000000000000" pitchFamily="2" charset="2"/>
              </a:rPr>
              <a:t>thước</a:t>
            </a:r>
            <a:r>
              <a:rPr lang="en-US" altLang="ko-KR" baseline="0" dirty="0">
                <a:sym typeface="Wingdings" panose="05000000000000000000" pitchFamily="2" charset="2"/>
              </a:rPr>
              <a:t> </a:t>
            </a:r>
            <a:r>
              <a:rPr lang="en-US" altLang="ko-KR" baseline="0" dirty="0" err="1">
                <a:sym typeface="Wingdings" panose="05000000000000000000" pitchFamily="2" charset="2"/>
              </a:rPr>
              <a:t>mẫu</a:t>
            </a:r>
            <a:r>
              <a:rPr lang="en-US" altLang="ko-KR" baseline="0" dirty="0">
                <a:sym typeface="Wingdings" panose="05000000000000000000" pitchFamily="2" charset="2"/>
              </a:rPr>
              <a:t> </a:t>
            </a:r>
            <a:r>
              <a:rPr lang="en-US" altLang="ko-KR" baseline="0" dirty="0" err="1">
                <a:sym typeface="Wingdings" panose="05000000000000000000" pitchFamily="2" charset="2"/>
              </a:rPr>
              <a:t>từ</a:t>
            </a:r>
            <a:r>
              <a:rPr lang="en-US" altLang="ko-KR" baseline="0" dirty="0">
                <a:sym typeface="Wingdings" panose="05000000000000000000" pitchFamily="2" charset="2"/>
              </a:rPr>
              <a:t> 1~5% </a:t>
            </a:r>
            <a:r>
              <a:rPr lang="en-US" altLang="ko-KR" baseline="0" dirty="0" err="1">
                <a:sym typeface="Wingdings" panose="05000000000000000000" pitchFamily="2" charset="2"/>
              </a:rPr>
              <a:t>số</a:t>
            </a:r>
            <a:r>
              <a:rPr lang="en-US" altLang="ko-KR" baseline="0" dirty="0">
                <a:sym typeface="Wingdings" panose="05000000000000000000" pitchFamily="2" charset="2"/>
              </a:rPr>
              <a:t> </a:t>
            </a:r>
            <a:r>
              <a:rPr lang="en-US" altLang="ko-KR" baseline="0" dirty="0" err="1">
                <a:sym typeface="Wingdings" panose="05000000000000000000" pitchFamily="2" charset="2"/>
              </a:rPr>
              <a:t>lượng</a:t>
            </a:r>
            <a:endParaRPr lang="en-US" altLang="ko-KR" baseline="0" dirty="0">
              <a:sym typeface="Wingdings" panose="05000000000000000000" pitchFamily="2" charset="2"/>
            </a:endParaRPr>
          </a:p>
          <a:p>
            <a:r>
              <a:rPr lang="en-US" altLang="ko-KR" baseline="0" dirty="0">
                <a:sym typeface="Wingdings" panose="05000000000000000000" pitchFamily="2" charset="2"/>
              </a:rPr>
              <a:t>2 </a:t>
            </a:r>
            <a:r>
              <a:rPr lang="en-US" altLang="ko-KR" baseline="0" dirty="0" err="1">
                <a:sym typeface="Wingdings" panose="05000000000000000000" pitchFamily="2" charset="2"/>
              </a:rPr>
              <a:t>là</a:t>
            </a:r>
            <a:r>
              <a:rPr lang="en-US" altLang="ko-KR" baseline="0" dirty="0">
                <a:sym typeface="Wingdings" panose="05000000000000000000" pitchFamily="2" charset="2"/>
              </a:rPr>
              <a:t> </a:t>
            </a:r>
            <a:r>
              <a:rPr lang="en-US" altLang="ko-KR" baseline="0" dirty="0" err="1">
                <a:sym typeface="Wingdings" panose="05000000000000000000" pitchFamily="2" charset="2"/>
              </a:rPr>
              <a:t>sư</a:t>
            </a:r>
            <a:r>
              <a:rPr lang="en-US" altLang="ko-KR" baseline="0" dirty="0">
                <a:sym typeface="Wingdings" panose="05000000000000000000" pitchFamily="2" charset="2"/>
              </a:rPr>
              <a:t> dung </a:t>
            </a:r>
            <a:r>
              <a:rPr lang="en-US" altLang="ko-KR" baseline="0" dirty="0" err="1">
                <a:sym typeface="Wingdings" panose="05000000000000000000" pitchFamily="2" charset="2"/>
              </a:rPr>
              <a:t>các</a:t>
            </a:r>
            <a:r>
              <a:rPr lang="en-US" altLang="ko-KR" baseline="0" dirty="0">
                <a:sym typeface="Wingdings" panose="05000000000000000000" pitchFamily="2" charset="2"/>
              </a:rPr>
              <a:t> pp </a:t>
            </a:r>
            <a:r>
              <a:rPr lang="en-US" altLang="ko-KR" baseline="0" dirty="0" err="1">
                <a:sym typeface="Wingdings" panose="05000000000000000000" pitchFamily="2" charset="2"/>
              </a:rPr>
              <a:t>chọn</a:t>
            </a:r>
            <a:r>
              <a:rPr lang="en-US" altLang="ko-KR" baseline="0" dirty="0">
                <a:sym typeface="Wingdings" panose="05000000000000000000" pitchFamily="2" charset="2"/>
              </a:rPr>
              <a:t> </a:t>
            </a:r>
            <a:r>
              <a:rPr lang="en-US" altLang="ko-KR" baseline="0" dirty="0" err="1">
                <a:sym typeface="Wingdings" panose="05000000000000000000" pitchFamily="2" charset="2"/>
              </a:rPr>
              <a:t>mẫu</a:t>
            </a:r>
            <a:r>
              <a:rPr lang="en-US" altLang="ko-KR" baseline="0" dirty="0">
                <a:sym typeface="Wingdings" panose="05000000000000000000" pitchFamily="2" charset="2"/>
              </a:rPr>
              <a:t> </a:t>
            </a:r>
            <a:r>
              <a:rPr lang="en-US" altLang="ko-KR" baseline="0" dirty="0" err="1">
                <a:sym typeface="Wingdings" panose="05000000000000000000" pitchFamily="2" charset="2"/>
              </a:rPr>
              <a:t>phù</a:t>
            </a:r>
            <a:r>
              <a:rPr lang="en-US" altLang="ko-KR" baseline="0" dirty="0">
                <a:sym typeface="Wingdings" panose="05000000000000000000" pitchFamily="2" charset="2"/>
              </a:rPr>
              <a:t> </a:t>
            </a:r>
            <a:r>
              <a:rPr lang="en-US" altLang="ko-KR" baseline="0" dirty="0" err="1">
                <a:sym typeface="Wingdings" panose="05000000000000000000" pitchFamily="2" charset="2"/>
              </a:rPr>
              <a:t>hợp</a:t>
            </a:r>
            <a:r>
              <a:rPr lang="en-US" altLang="ko-KR" baseline="0" dirty="0">
                <a:sym typeface="Wingdings" panose="05000000000000000000" pitchFamily="2" charset="2"/>
              </a:rPr>
              <a:t> (</a:t>
            </a:r>
            <a:r>
              <a:rPr lang="en-US" altLang="ko-KR" baseline="0" dirty="0" err="1">
                <a:sym typeface="Wingdings" panose="05000000000000000000" pitchFamily="2" charset="2"/>
              </a:rPr>
              <a:t>chinh</a:t>
            </a:r>
            <a:r>
              <a:rPr lang="en-US" altLang="ko-KR" baseline="0" dirty="0">
                <a:sym typeface="Wingdings" panose="05000000000000000000" pitchFamily="2" charset="2"/>
              </a:rPr>
              <a:t> </a:t>
            </a:r>
            <a:r>
              <a:rPr lang="en-US" altLang="ko-KR" baseline="0" dirty="0" err="1">
                <a:sym typeface="Wingdings" panose="05000000000000000000" pitchFamily="2" charset="2"/>
              </a:rPr>
              <a:t>việc</a:t>
            </a:r>
            <a:r>
              <a:rPr lang="en-US" altLang="ko-KR" baseline="0" dirty="0">
                <a:sym typeface="Wingdings" panose="05000000000000000000" pitchFamily="2" charset="2"/>
              </a:rPr>
              <a:t> </a:t>
            </a:r>
            <a:r>
              <a:rPr lang="en-US" altLang="ko-KR" baseline="0" dirty="0" err="1">
                <a:sym typeface="Wingdings" panose="05000000000000000000" pitchFamily="2" charset="2"/>
              </a:rPr>
              <a:t>phân</a:t>
            </a:r>
            <a:r>
              <a:rPr lang="en-US" altLang="ko-KR" baseline="0" dirty="0">
                <a:sym typeface="Wingdings" panose="05000000000000000000" pitchFamily="2" charset="2"/>
              </a:rPr>
              <a:t> </a:t>
            </a:r>
            <a:r>
              <a:rPr lang="en-US" altLang="ko-KR" baseline="0" dirty="0" err="1">
                <a:sym typeface="Wingdings" panose="05000000000000000000" pitchFamily="2" charset="2"/>
              </a:rPr>
              <a:t>loại</a:t>
            </a:r>
            <a:r>
              <a:rPr lang="en-US" altLang="ko-KR" baseline="0" dirty="0">
                <a:sym typeface="Wingdings" panose="05000000000000000000" pitchFamily="2" charset="2"/>
              </a:rPr>
              <a:t> </a:t>
            </a:r>
            <a:r>
              <a:rPr lang="en-US" altLang="ko-KR" baseline="0" dirty="0" err="1">
                <a:sym typeface="Wingdings" panose="05000000000000000000" pitchFamily="2" charset="2"/>
              </a:rPr>
              <a:t>số</a:t>
            </a:r>
            <a:r>
              <a:rPr lang="en-US" altLang="ko-KR" baseline="0" dirty="0">
                <a:sym typeface="Wingdings" panose="05000000000000000000" pitchFamily="2" charset="2"/>
              </a:rPr>
              <a:t> </a:t>
            </a:r>
            <a:r>
              <a:rPr lang="en-US" altLang="ko-KR" baseline="0" dirty="0" err="1">
                <a:sym typeface="Wingdings" panose="05000000000000000000" pitchFamily="2" charset="2"/>
              </a:rPr>
              <a:t>lượng</a:t>
            </a:r>
            <a:r>
              <a:rPr lang="en-US" altLang="ko-KR" baseline="0" dirty="0">
                <a:sym typeface="Wingdings" panose="05000000000000000000" pitchFamily="2" charset="2"/>
              </a:rPr>
              <a:t> </a:t>
            </a:r>
            <a:r>
              <a:rPr lang="en-US" altLang="ko-KR" baseline="0" dirty="0" err="1">
                <a:sym typeface="Wingdings" panose="05000000000000000000" pitchFamily="2" charset="2"/>
              </a:rPr>
              <a:t>nam</a:t>
            </a:r>
            <a:r>
              <a:rPr lang="en-US" altLang="ko-KR" baseline="0" dirty="0">
                <a:sym typeface="Wingdings" panose="05000000000000000000" pitchFamily="2" charset="2"/>
              </a:rPr>
              <a:t> </a:t>
            </a:r>
            <a:r>
              <a:rPr lang="en-US" altLang="ko-KR" baseline="0" dirty="0" err="1">
                <a:sym typeface="Wingdings" panose="05000000000000000000" pitchFamily="2" charset="2"/>
              </a:rPr>
              <a:t>nữ</a:t>
            </a:r>
            <a:r>
              <a:rPr lang="en-US" altLang="ko-KR" baseline="0" dirty="0">
                <a:sym typeface="Wingdings" panose="05000000000000000000" pitchFamily="2" charset="2"/>
              </a:rPr>
              <a:t> hay </a:t>
            </a:r>
            <a:r>
              <a:rPr lang="en-US" altLang="ko-KR" baseline="0" dirty="0" err="1">
                <a:sym typeface="Wingdings" panose="05000000000000000000" pitchFamily="2" charset="2"/>
              </a:rPr>
              <a:t>môi</a:t>
            </a:r>
            <a:r>
              <a:rPr lang="en-US" altLang="ko-KR" baseline="0" dirty="0">
                <a:sym typeface="Wingdings" panose="05000000000000000000" pitchFamily="2" charset="2"/>
              </a:rPr>
              <a:t> </a:t>
            </a:r>
            <a:r>
              <a:rPr lang="en-US" altLang="ko-KR" baseline="0" dirty="0" err="1">
                <a:sym typeface="Wingdings" panose="05000000000000000000" pitchFamily="2" charset="2"/>
              </a:rPr>
              <a:t>phong</a:t>
            </a:r>
            <a:r>
              <a:rPr lang="en-US" altLang="ko-KR" baseline="0" dirty="0">
                <a:sym typeface="Wingdings" panose="05000000000000000000" pitchFamily="2" charset="2"/>
              </a:rPr>
              <a:t> </a:t>
            </a:r>
            <a:r>
              <a:rPr lang="en-US" altLang="ko-KR" baseline="0" dirty="0" err="1">
                <a:sym typeface="Wingdings" panose="05000000000000000000" pitchFamily="2" charset="2"/>
              </a:rPr>
              <a:t>bn</a:t>
            </a:r>
            <a:r>
              <a:rPr lang="en-US" altLang="ko-KR" baseline="0" dirty="0">
                <a:sym typeface="Wingdings" panose="05000000000000000000" pitchFamily="2" charset="2"/>
              </a:rPr>
              <a:t> </a:t>
            </a:r>
            <a:r>
              <a:rPr lang="en-US" altLang="ko-KR" baseline="0" dirty="0" err="1">
                <a:sym typeface="Wingdings" panose="05000000000000000000" pitchFamily="2" charset="2"/>
              </a:rPr>
              <a:t>người</a:t>
            </a:r>
            <a:r>
              <a:rPr lang="en-US" altLang="ko-KR" baseline="0" dirty="0">
                <a:sym typeface="Wingdings" panose="05000000000000000000" pitchFamily="2" charset="2"/>
              </a:rPr>
              <a:t> </a:t>
            </a:r>
            <a:r>
              <a:rPr lang="en-US" altLang="ko-KR" baseline="0" dirty="0" err="1">
                <a:sym typeface="Wingdings" panose="05000000000000000000" pitchFamily="2" charset="2"/>
              </a:rPr>
              <a:t>chinh</a:t>
            </a:r>
            <a:r>
              <a:rPr lang="en-US" altLang="ko-KR" baseline="0" dirty="0">
                <a:sym typeface="Wingdings" panose="05000000000000000000" pitchFamily="2" charset="2"/>
              </a:rPr>
              <a:t> </a:t>
            </a:r>
            <a:r>
              <a:rPr lang="en-US" altLang="ko-KR" baseline="0" dirty="0" err="1">
                <a:sym typeface="Wingdings" panose="05000000000000000000" pitchFamily="2" charset="2"/>
              </a:rPr>
              <a:t>là</a:t>
            </a:r>
            <a:r>
              <a:rPr lang="en-US" altLang="ko-KR" baseline="0" dirty="0">
                <a:sym typeface="Wingdings" panose="05000000000000000000" pitchFamily="2" charset="2"/>
              </a:rPr>
              <a:t> </a:t>
            </a:r>
            <a:r>
              <a:rPr lang="en-US" altLang="ko-KR" baseline="0" dirty="0" err="1">
                <a:sym typeface="Wingdings" panose="05000000000000000000" pitchFamily="2" charset="2"/>
              </a:rPr>
              <a:t>các</a:t>
            </a:r>
            <a:r>
              <a:rPr lang="en-US" altLang="ko-KR" baseline="0" dirty="0">
                <a:sym typeface="Wingdings" panose="05000000000000000000" pitchFamily="2" charset="2"/>
              </a:rPr>
              <a:t> pp </a:t>
            </a:r>
            <a:r>
              <a:rPr lang="en-US" altLang="ko-KR" baseline="0" dirty="0" err="1">
                <a:sym typeface="Wingdings" panose="05000000000000000000" pitchFamily="2" charset="2"/>
              </a:rPr>
              <a:t>chọn</a:t>
            </a:r>
            <a:r>
              <a:rPr lang="en-US" altLang="ko-KR" baseline="0" dirty="0">
                <a:sym typeface="Wingdings" panose="05000000000000000000" pitchFamily="2" charset="2"/>
              </a:rPr>
              <a:t> </a:t>
            </a:r>
            <a:r>
              <a:rPr lang="en-US" altLang="ko-KR" baseline="0" dirty="0" err="1">
                <a:sym typeface="Wingdings" panose="05000000000000000000" pitchFamily="2" charset="2"/>
              </a:rPr>
              <a:t>mẫu</a:t>
            </a:r>
            <a:r>
              <a:rPr lang="en-US" altLang="ko-KR" baseline="0" dirty="0">
                <a:sym typeface="Wingdings" panose="05000000000000000000" pitchFamily="2" charset="2"/>
              </a:rPr>
              <a:t>)</a:t>
            </a:r>
            <a:endParaRPr lang="ko-KR" altLang="en-US" dirty="0"/>
          </a:p>
        </p:txBody>
      </p:sp>
      <p:sp>
        <p:nvSpPr>
          <p:cNvPr id="4" name="슬라이드 번호 개체 틀 3"/>
          <p:cNvSpPr>
            <a:spLocks noGrp="1"/>
          </p:cNvSpPr>
          <p:nvPr>
            <p:ph type="sldNum" sz="quarter" idx="5"/>
          </p:nvPr>
        </p:nvSpPr>
        <p:spPr/>
        <p:txBody>
          <a:bodyPr/>
          <a:lstStyle/>
          <a:p>
            <a:pPr>
              <a:defRPr/>
            </a:pPr>
            <a:fld id="{B7F362BA-8A4B-45A4-BEE8-47F0FA438F89}" type="slidenum">
              <a:rPr lang="ko-KR" altLang="en-US" smtClean="0"/>
              <a:pPr>
                <a:defRPr/>
              </a:pPr>
              <a:t>33</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08759477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909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46F5E53B-CA6C-44EE-90D7-44C825494C2F}" type="slidenum">
              <a:rPr lang="ko-KR" altLang="en-US" smtClean="0"/>
              <a:pPr>
                <a:defRPr/>
              </a:pPr>
              <a:t>34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85746218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ko-KR" dirty="0" err="1"/>
              <a:t>Cách</a:t>
            </a:r>
            <a:r>
              <a:rPr lang="en-US" altLang="ko-KR" baseline="0" dirty="0"/>
              <a:t> </a:t>
            </a:r>
            <a:r>
              <a:rPr lang="en-US" altLang="ko-KR" baseline="0" dirty="0" err="1"/>
              <a:t>dê</a:t>
            </a:r>
            <a:r>
              <a:rPr lang="en-US" altLang="ko-KR" baseline="0" dirty="0"/>
              <a:t> </a:t>
            </a:r>
            <a:r>
              <a:rPr lang="en-US" altLang="ko-KR" baseline="0" dirty="0" err="1"/>
              <a:t>nhât</a:t>
            </a:r>
            <a:r>
              <a:rPr lang="en-US" altLang="ko-KR" baseline="0" dirty="0"/>
              <a:t> </a:t>
            </a:r>
            <a:r>
              <a:rPr lang="en-US" altLang="ko-KR" baseline="0" dirty="0" err="1"/>
              <a:t>để</a:t>
            </a:r>
            <a:r>
              <a:rPr lang="en-US" altLang="ko-KR" baseline="0" dirty="0"/>
              <a:t> </a:t>
            </a:r>
            <a:r>
              <a:rPr lang="en-US" altLang="ko-KR" baseline="0" dirty="0" err="1"/>
              <a:t>lấy</a:t>
            </a:r>
            <a:r>
              <a:rPr lang="en-US" altLang="ko-KR" baseline="0" dirty="0"/>
              <a:t> </a:t>
            </a:r>
            <a:r>
              <a:rPr lang="en-US" altLang="ko-KR" baseline="0" dirty="0" err="1"/>
              <a:t>đc</a:t>
            </a:r>
            <a:r>
              <a:rPr lang="en-US" altLang="ko-KR" baseline="0" dirty="0"/>
              <a:t> 100 </a:t>
            </a:r>
            <a:r>
              <a:rPr lang="en-US" altLang="ko-KR" baseline="0" dirty="0" err="1"/>
              <a:t>ngươi</a:t>
            </a:r>
            <a:r>
              <a:rPr lang="en-US" altLang="ko-KR" baseline="0" dirty="0"/>
              <a:t> </a:t>
            </a:r>
            <a:r>
              <a:rPr lang="en-US" altLang="ko-KR" baseline="0" dirty="0" err="1"/>
              <a:t>là</a:t>
            </a:r>
            <a:r>
              <a:rPr lang="en-US" altLang="ko-KR" baseline="0" dirty="0"/>
              <a:t> j</a:t>
            </a:r>
          </a:p>
          <a:p>
            <a:r>
              <a:rPr lang="en-US" altLang="ko-KR" baseline="0" dirty="0"/>
              <a:t>C1: </a:t>
            </a:r>
            <a:r>
              <a:rPr lang="en-US" altLang="ko-KR" baseline="0" dirty="0" err="1"/>
              <a:t>cách</a:t>
            </a:r>
            <a:r>
              <a:rPr lang="en-US" altLang="ko-KR" baseline="0" dirty="0"/>
              <a:t> </a:t>
            </a:r>
            <a:r>
              <a:rPr lang="en-US" altLang="ko-KR" baseline="0" dirty="0" err="1"/>
              <a:t>dễ</a:t>
            </a:r>
            <a:r>
              <a:rPr lang="en-US" altLang="ko-KR" baseline="0" dirty="0"/>
              <a:t> </a:t>
            </a:r>
            <a:r>
              <a:rPr lang="en-US" altLang="ko-KR" baseline="0" dirty="0" err="1"/>
              <a:t>nhất</a:t>
            </a:r>
            <a:r>
              <a:rPr lang="en-US" altLang="ko-KR" baseline="0" dirty="0"/>
              <a:t>, </a:t>
            </a:r>
            <a:r>
              <a:rPr lang="en-US" altLang="ko-KR" baseline="0" dirty="0" err="1"/>
              <a:t>tuy</a:t>
            </a:r>
            <a:r>
              <a:rPr lang="en-US" altLang="ko-KR" baseline="0" dirty="0"/>
              <a:t> </a:t>
            </a:r>
            <a:r>
              <a:rPr lang="en-US" altLang="ko-KR" baseline="0" dirty="0" err="1"/>
              <a:t>nhiên</a:t>
            </a:r>
            <a:r>
              <a:rPr lang="en-US" altLang="ko-KR" baseline="0" dirty="0"/>
              <a:t> </a:t>
            </a:r>
            <a:r>
              <a:rPr lang="en-US" altLang="ko-KR" baseline="0" dirty="0" err="1"/>
              <a:t>dễ</a:t>
            </a:r>
            <a:r>
              <a:rPr lang="en-US" altLang="ko-KR" baseline="0" dirty="0"/>
              <a:t> </a:t>
            </a:r>
            <a:r>
              <a:rPr lang="en-US" altLang="ko-KR" baseline="0" dirty="0" err="1"/>
              <a:t>gây</a:t>
            </a:r>
            <a:r>
              <a:rPr lang="en-US" altLang="ko-KR" baseline="0" dirty="0"/>
              <a:t> </a:t>
            </a:r>
            <a:r>
              <a:rPr lang="en-US" altLang="ko-KR" baseline="0" dirty="0" err="1"/>
              <a:t>tính</a:t>
            </a:r>
            <a:r>
              <a:rPr lang="en-US" altLang="ko-KR" baseline="0" dirty="0"/>
              <a:t> </a:t>
            </a:r>
            <a:r>
              <a:rPr lang="en-US" altLang="ko-KR" baseline="0" dirty="0" err="1"/>
              <a:t>thiên</a:t>
            </a:r>
            <a:r>
              <a:rPr lang="en-US" altLang="ko-KR" baseline="0" dirty="0"/>
              <a:t> </a:t>
            </a:r>
            <a:r>
              <a:rPr lang="en-US" altLang="ko-KR" baseline="0" dirty="0" err="1"/>
              <a:t>vị</a:t>
            </a:r>
            <a:r>
              <a:rPr lang="en-US" altLang="ko-KR" baseline="0" dirty="0"/>
              <a:t>, </a:t>
            </a:r>
            <a:r>
              <a:rPr lang="en-US" altLang="ko-KR" baseline="0" dirty="0" err="1"/>
              <a:t>độ</a:t>
            </a:r>
            <a:r>
              <a:rPr lang="en-US" altLang="ko-KR" baseline="0" dirty="0"/>
              <a:t> </a:t>
            </a:r>
            <a:r>
              <a:rPr lang="en-US" altLang="ko-KR" baseline="0" dirty="0" err="1"/>
              <a:t>chuẩn</a:t>
            </a:r>
            <a:r>
              <a:rPr lang="en-US" altLang="ko-KR" baseline="0" dirty="0"/>
              <a:t> </a:t>
            </a:r>
            <a:r>
              <a:rPr lang="en-US" altLang="ko-KR" baseline="0" dirty="0" err="1"/>
              <a:t>xác</a:t>
            </a:r>
            <a:r>
              <a:rPr lang="en-US" altLang="ko-KR" baseline="0" dirty="0"/>
              <a:t> </a:t>
            </a:r>
            <a:r>
              <a:rPr lang="en-US" altLang="ko-KR" baseline="0" dirty="0" err="1"/>
              <a:t>là</a:t>
            </a:r>
            <a:r>
              <a:rPr lang="en-US" altLang="ko-KR" baseline="0" dirty="0"/>
              <a:t> </a:t>
            </a:r>
            <a:r>
              <a:rPr lang="en-US" altLang="ko-KR" baseline="0" dirty="0" err="1"/>
              <a:t>thấp</a:t>
            </a:r>
            <a:r>
              <a:rPr lang="en-US" altLang="ko-KR" baseline="0" dirty="0"/>
              <a:t> </a:t>
            </a:r>
            <a:r>
              <a:rPr lang="en-US" altLang="ko-KR" baseline="0" dirty="0" err="1"/>
              <a:t>nhất</a:t>
            </a:r>
            <a:r>
              <a:rPr lang="en-US" altLang="ko-KR" baseline="0" dirty="0"/>
              <a:t>, </a:t>
            </a:r>
            <a:r>
              <a:rPr lang="en-US" altLang="ko-KR" baseline="0" dirty="0" err="1"/>
              <a:t>có</a:t>
            </a:r>
            <a:r>
              <a:rPr lang="en-US" altLang="ko-KR" baseline="0" dirty="0"/>
              <a:t> </a:t>
            </a:r>
            <a:r>
              <a:rPr lang="en-US" altLang="ko-KR" baseline="0" dirty="0" err="1"/>
              <a:t>thể</a:t>
            </a:r>
            <a:r>
              <a:rPr lang="en-US" altLang="ko-KR" baseline="0" dirty="0"/>
              <a:t> </a:t>
            </a:r>
            <a:r>
              <a:rPr lang="en-US" altLang="ko-KR" baseline="0" dirty="0" err="1"/>
              <a:t>lây</a:t>
            </a:r>
            <a:r>
              <a:rPr lang="en-US" altLang="ko-KR" baseline="0" dirty="0"/>
              <a:t> </a:t>
            </a:r>
            <a:r>
              <a:rPr lang="en-US" altLang="ko-KR" baseline="0" dirty="0" err="1"/>
              <a:t>toàn</a:t>
            </a:r>
            <a:r>
              <a:rPr lang="en-US" altLang="ko-KR" baseline="0" dirty="0"/>
              <a:t> </a:t>
            </a:r>
            <a:r>
              <a:rPr lang="en-US" altLang="ko-KR" baseline="0" dirty="0" err="1"/>
              <a:t>người</a:t>
            </a:r>
            <a:r>
              <a:rPr lang="en-US" altLang="ko-KR" baseline="0" dirty="0"/>
              <a:t> </a:t>
            </a:r>
            <a:r>
              <a:rPr lang="en-US" altLang="ko-KR" baseline="0" dirty="0" err="1"/>
              <a:t>cao</a:t>
            </a:r>
            <a:r>
              <a:rPr lang="en-US" altLang="ko-KR" baseline="0" dirty="0"/>
              <a:t>, </a:t>
            </a:r>
            <a:r>
              <a:rPr lang="en-US" altLang="ko-KR" baseline="0" dirty="0" err="1"/>
              <a:t>toàn</a:t>
            </a:r>
            <a:r>
              <a:rPr lang="en-US" altLang="ko-KR" baseline="0" dirty="0"/>
              <a:t> </a:t>
            </a:r>
            <a:r>
              <a:rPr lang="en-US" altLang="ko-KR" baseline="0" dirty="0" err="1"/>
              <a:t>người</a:t>
            </a:r>
            <a:r>
              <a:rPr lang="en-US" altLang="ko-KR" baseline="0" dirty="0"/>
              <a:t> </a:t>
            </a:r>
            <a:r>
              <a:rPr lang="en-US" altLang="ko-KR" baseline="0" dirty="0" err="1"/>
              <a:t>thấp</a:t>
            </a:r>
            <a:r>
              <a:rPr lang="en-US" altLang="ko-KR" baseline="0" dirty="0"/>
              <a:t>…</a:t>
            </a:r>
          </a:p>
          <a:p>
            <a:r>
              <a:rPr lang="en-US" altLang="ko-KR" baseline="0" dirty="0"/>
              <a:t>C2: </a:t>
            </a:r>
            <a:r>
              <a:rPr lang="en-US" altLang="ko-KR" baseline="0" dirty="0" err="1"/>
              <a:t>phân</a:t>
            </a:r>
            <a:r>
              <a:rPr lang="en-US" altLang="ko-KR" baseline="0" dirty="0"/>
              <a:t> </a:t>
            </a:r>
            <a:r>
              <a:rPr lang="en-US" altLang="ko-KR" baseline="0" dirty="0" err="1"/>
              <a:t>tầng</a:t>
            </a:r>
            <a:r>
              <a:rPr lang="en-US" altLang="ko-KR" baseline="0" dirty="0"/>
              <a:t> </a:t>
            </a:r>
            <a:r>
              <a:rPr lang="en-US" altLang="ko-KR" baseline="0" dirty="0" err="1"/>
              <a:t>thi</a:t>
            </a:r>
            <a:r>
              <a:rPr lang="en-US" altLang="ko-KR" baseline="0" dirty="0"/>
              <a:t> </a:t>
            </a:r>
            <a:r>
              <a:rPr lang="en-US" altLang="ko-KR" baseline="0" dirty="0" err="1"/>
              <a:t>tầng</a:t>
            </a:r>
            <a:r>
              <a:rPr lang="en-US" altLang="ko-KR" baseline="0" dirty="0"/>
              <a:t> </a:t>
            </a:r>
            <a:r>
              <a:rPr lang="en-US" altLang="ko-KR" baseline="0" dirty="0" err="1"/>
              <a:t>fai</a:t>
            </a:r>
            <a:r>
              <a:rPr lang="en-US" altLang="ko-KR" baseline="0" dirty="0"/>
              <a:t> </a:t>
            </a:r>
            <a:r>
              <a:rPr lang="en-US" altLang="ko-KR" baseline="0" dirty="0" err="1"/>
              <a:t>liên</a:t>
            </a:r>
            <a:r>
              <a:rPr lang="en-US" altLang="ko-KR" baseline="0" dirty="0"/>
              <a:t> </a:t>
            </a:r>
            <a:r>
              <a:rPr lang="en-US" altLang="ko-KR" baseline="0" dirty="0" err="1"/>
              <a:t>quan</a:t>
            </a:r>
            <a:r>
              <a:rPr lang="en-US" altLang="ko-KR" baseline="0" dirty="0"/>
              <a:t>, </a:t>
            </a:r>
            <a:r>
              <a:rPr lang="en-US" altLang="ko-KR" baseline="0" dirty="0" err="1"/>
              <a:t>ảnh</a:t>
            </a:r>
            <a:r>
              <a:rPr lang="en-US" altLang="ko-KR" baseline="0" dirty="0"/>
              <a:t> </a:t>
            </a:r>
            <a:r>
              <a:rPr lang="en-US" altLang="ko-KR" baseline="0" dirty="0" err="1"/>
              <a:t>hưởng</a:t>
            </a:r>
            <a:r>
              <a:rPr lang="en-US" altLang="ko-KR" baseline="0" dirty="0"/>
              <a:t> </a:t>
            </a:r>
            <a:r>
              <a:rPr lang="en-US" altLang="ko-KR" baseline="0" dirty="0" err="1"/>
              <a:t>đến</a:t>
            </a:r>
            <a:r>
              <a:rPr lang="en-US" altLang="ko-KR" baseline="0" dirty="0"/>
              <a:t> </a:t>
            </a:r>
            <a:r>
              <a:rPr lang="en-US" altLang="ko-KR" baseline="0" dirty="0" err="1"/>
              <a:t>mục</a:t>
            </a:r>
            <a:r>
              <a:rPr lang="en-US" altLang="ko-KR" baseline="0" dirty="0"/>
              <a:t> </a:t>
            </a:r>
            <a:r>
              <a:rPr lang="en-US" altLang="ko-KR" baseline="0" dirty="0" err="1"/>
              <a:t>tiêu</a:t>
            </a:r>
            <a:r>
              <a:rPr lang="en-US" altLang="ko-KR" baseline="0" dirty="0"/>
              <a:t> </a:t>
            </a:r>
            <a:r>
              <a:rPr lang="en-US" altLang="ko-KR" baseline="0" dirty="0" err="1"/>
              <a:t>cần</a:t>
            </a:r>
            <a:r>
              <a:rPr lang="en-US" altLang="ko-KR" baseline="0" dirty="0"/>
              <a:t> </a:t>
            </a:r>
            <a:r>
              <a:rPr lang="en-US" altLang="ko-KR" baseline="0" dirty="0" err="1"/>
              <a:t>đạt</a:t>
            </a:r>
            <a:r>
              <a:rPr lang="en-US" altLang="ko-KR" baseline="0" dirty="0" err="1">
                <a:sym typeface="Wingdings" panose="05000000000000000000" pitchFamily="2" charset="2"/>
              </a:rPr>
              <a:t>cần</a:t>
            </a:r>
            <a:r>
              <a:rPr lang="en-US" altLang="ko-KR" baseline="0" dirty="0">
                <a:sym typeface="Wingdings" panose="05000000000000000000" pitchFamily="2" charset="2"/>
              </a:rPr>
              <a:t> </a:t>
            </a:r>
            <a:r>
              <a:rPr lang="en-US" altLang="ko-KR" baseline="0" dirty="0" err="1">
                <a:sym typeface="Wingdings" panose="05000000000000000000" pitchFamily="2" charset="2"/>
              </a:rPr>
              <a:t>xác</a:t>
            </a:r>
            <a:r>
              <a:rPr lang="en-US" altLang="ko-KR" baseline="0" dirty="0">
                <a:sym typeface="Wingdings" panose="05000000000000000000" pitchFamily="2" charset="2"/>
              </a:rPr>
              <a:t> </a:t>
            </a:r>
            <a:r>
              <a:rPr lang="en-US" altLang="ko-KR" baseline="0" dirty="0" err="1">
                <a:sym typeface="Wingdings" panose="05000000000000000000" pitchFamily="2" charset="2"/>
              </a:rPr>
              <a:t>định</a:t>
            </a:r>
            <a:r>
              <a:rPr lang="en-US" altLang="ko-KR" baseline="0" dirty="0">
                <a:sym typeface="Wingdings" panose="05000000000000000000" pitchFamily="2" charset="2"/>
              </a:rPr>
              <a:t> </a:t>
            </a:r>
            <a:r>
              <a:rPr lang="en-US" altLang="ko-KR" baseline="0" dirty="0" err="1">
                <a:sym typeface="Wingdings" panose="05000000000000000000" pitchFamily="2" charset="2"/>
              </a:rPr>
              <a:t>tầng</a:t>
            </a:r>
            <a:r>
              <a:rPr lang="en-US" altLang="ko-KR" baseline="0" dirty="0">
                <a:sym typeface="Wingdings" panose="05000000000000000000" pitchFamily="2" charset="2"/>
              </a:rPr>
              <a:t> </a:t>
            </a:r>
            <a:r>
              <a:rPr lang="en-US" altLang="ko-KR" baseline="0" dirty="0" err="1">
                <a:sym typeface="Wingdings" panose="05000000000000000000" pitchFamily="2" charset="2"/>
              </a:rPr>
              <a:t>là</a:t>
            </a:r>
            <a:r>
              <a:rPr lang="en-US" altLang="ko-KR" baseline="0" dirty="0">
                <a:sym typeface="Wingdings" panose="05000000000000000000" pitchFamily="2" charset="2"/>
              </a:rPr>
              <a:t> j, VD: </a:t>
            </a:r>
            <a:r>
              <a:rPr lang="en-US" altLang="ko-KR" baseline="0" dirty="0" err="1">
                <a:sym typeface="Wingdings" panose="05000000000000000000" pitchFamily="2" charset="2"/>
              </a:rPr>
              <a:t>chiêu</a:t>
            </a:r>
            <a:r>
              <a:rPr lang="en-US" altLang="ko-KR" baseline="0" dirty="0">
                <a:sym typeface="Wingdings" panose="05000000000000000000" pitchFamily="2" charset="2"/>
              </a:rPr>
              <a:t> </a:t>
            </a:r>
            <a:r>
              <a:rPr lang="en-US" altLang="ko-KR" baseline="0" dirty="0" err="1">
                <a:sym typeface="Wingdings" panose="05000000000000000000" pitchFamily="2" charset="2"/>
              </a:rPr>
              <a:t>cao</a:t>
            </a:r>
            <a:r>
              <a:rPr lang="en-US" altLang="ko-KR" baseline="0" dirty="0">
                <a:sym typeface="Wingdings" panose="05000000000000000000" pitchFamily="2" charset="2"/>
              </a:rPr>
              <a:t> </a:t>
            </a:r>
            <a:r>
              <a:rPr lang="en-US" altLang="ko-KR" baseline="0" dirty="0" err="1">
                <a:sym typeface="Wingdings" panose="05000000000000000000" pitchFamily="2" charset="2"/>
              </a:rPr>
              <a:t>bị</a:t>
            </a:r>
            <a:r>
              <a:rPr lang="en-US" altLang="ko-KR" baseline="0" dirty="0">
                <a:sym typeface="Wingdings" panose="05000000000000000000" pitchFamily="2" charset="2"/>
              </a:rPr>
              <a:t> </a:t>
            </a:r>
            <a:r>
              <a:rPr lang="en-US" altLang="ko-KR" baseline="0" dirty="0" err="1">
                <a:sym typeface="Wingdings" panose="05000000000000000000" pitchFamily="2" charset="2"/>
              </a:rPr>
              <a:t>ảnh</a:t>
            </a:r>
            <a:r>
              <a:rPr lang="en-US" altLang="ko-KR" baseline="0" dirty="0">
                <a:sym typeface="Wingdings" panose="05000000000000000000" pitchFamily="2" charset="2"/>
              </a:rPr>
              <a:t> </a:t>
            </a:r>
            <a:r>
              <a:rPr lang="en-US" altLang="ko-KR" baseline="0" dirty="0" err="1">
                <a:sym typeface="Wingdings" panose="05000000000000000000" pitchFamily="2" charset="2"/>
              </a:rPr>
              <a:t>hưởng</a:t>
            </a:r>
            <a:r>
              <a:rPr lang="en-US" altLang="ko-KR" baseline="0" dirty="0">
                <a:sym typeface="Wingdings" panose="05000000000000000000" pitchFamily="2" charset="2"/>
              </a:rPr>
              <a:t> </a:t>
            </a:r>
            <a:r>
              <a:rPr lang="en-US" altLang="ko-KR" baseline="0" dirty="0" err="1">
                <a:sym typeface="Wingdings" panose="05000000000000000000" pitchFamily="2" charset="2"/>
              </a:rPr>
              <a:t>bơi</a:t>
            </a:r>
            <a:r>
              <a:rPr lang="en-US" altLang="ko-KR" baseline="0" dirty="0">
                <a:sym typeface="Wingdings" panose="05000000000000000000" pitchFamily="2" charset="2"/>
              </a:rPr>
              <a:t> </a:t>
            </a:r>
            <a:r>
              <a:rPr lang="en-US" altLang="ko-KR" baseline="0" dirty="0" err="1">
                <a:sym typeface="Wingdings" panose="05000000000000000000" pitchFamily="2" charset="2"/>
              </a:rPr>
              <a:t>tac</a:t>
            </a:r>
            <a:r>
              <a:rPr lang="en-US" altLang="ko-KR" baseline="0" dirty="0">
                <a:sym typeface="Wingdings" panose="05000000000000000000" pitchFamily="2" charset="2"/>
              </a:rPr>
              <a:t> </a:t>
            </a:r>
            <a:r>
              <a:rPr lang="en-US" altLang="ko-KR" baseline="0" dirty="0" err="1">
                <a:sym typeface="Wingdings" panose="05000000000000000000" pitchFamily="2" charset="2"/>
              </a:rPr>
              <a:t>nhân</a:t>
            </a:r>
            <a:r>
              <a:rPr lang="en-US" altLang="ko-KR" baseline="0" dirty="0">
                <a:sym typeface="Wingdings" panose="05000000000000000000" pitchFamily="2" charset="2"/>
              </a:rPr>
              <a:t> j</a:t>
            </a:r>
          </a:p>
          <a:p>
            <a:r>
              <a:rPr lang="en-US" altLang="ko-KR" baseline="0" dirty="0">
                <a:sym typeface="Wingdings" panose="05000000000000000000" pitchFamily="2" charset="2"/>
              </a:rPr>
              <a:t>VD: </a:t>
            </a:r>
            <a:r>
              <a:rPr lang="en-US" altLang="ko-KR" baseline="0" dirty="0" err="1">
                <a:sym typeface="Wingdings" panose="05000000000000000000" pitchFamily="2" charset="2"/>
              </a:rPr>
              <a:t>những</a:t>
            </a:r>
            <a:r>
              <a:rPr lang="en-US" altLang="ko-KR" baseline="0" dirty="0">
                <a:sym typeface="Wingdings" panose="05000000000000000000" pitchFamily="2" charset="2"/>
              </a:rPr>
              <a:t> </a:t>
            </a:r>
            <a:r>
              <a:rPr lang="en-US" altLang="ko-KR" baseline="0" dirty="0" err="1">
                <a:sym typeface="Wingdings" panose="05000000000000000000" pitchFamily="2" charset="2"/>
              </a:rPr>
              <a:t>người</a:t>
            </a:r>
            <a:r>
              <a:rPr lang="en-US" altLang="ko-KR" baseline="0" dirty="0">
                <a:sym typeface="Wingdings" panose="05000000000000000000" pitchFamily="2" charset="2"/>
              </a:rPr>
              <a:t> </a:t>
            </a:r>
            <a:r>
              <a:rPr lang="en-US" altLang="ko-KR" baseline="0" dirty="0" err="1">
                <a:sym typeface="Wingdings" panose="05000000000000000000" pitchFamily="2" charset="2"/>
              </a:rPr>
              <a:t>đi</a:t>
            </a:r>
            <a:r>
              <a:rPr lang="en-US" altLang="ko-KR" baseline="0" dirty="0">
                <a:sym typeface="Wingdings" panose="05000000000000000000" pitchFamily="2" charset="2"/>
              </a:rPr>
              <a:t> </a:t>
            </a:r>
            <a:r>
              <a:rPr lang="en-US" altLang="ko-KR" baseline="0" dirty="0" err="1">
                <a:sym typeface="Wingdings" panose="05000000000000000000" pitchFamily="2" charset="2"/>
              </a:rPr>
              <a:t>ngủ</a:t>
            </a:r>
            <a:r>
              <a:rPr lang="en-US" altLang="ko-KR" baseline="0" dirty="0">
                <a:sym typeface="Wingdings" panose="05000000000000000000" pitchFamily="2" charset="2"/>
              </a:rPr>
              <a:t> </a:t>
            </a:r>
            <a:r>
              <a:rPr lang="en-US" altLang="ko-KR" baseline="0" dirty="0" err="1">
                <a:sym typeface="Wingdings" panose="05000000000000000000" pitchFamily="2" charset="2"/>
              </a:rPr>
              <a:t>sớm</a:t>
            </a:r>
            <a:r>
              <a:rPr lang="en-US" altLang="ko-KR" baseline="0" dirty="0">
                <a:sym typeface="Wingdings" panose="05000000000000000000" pitchFamily="2" charset="2"/>
              </a:rPr>
              <a:t>, </a:t>
            </a:r>
            <a:r>
              <a:rPr lang="en-US" altLang="ko-KR" baseline="0" dirty="0" err="1">
                <a:sym typeface="Wingdings" panose="05000000000000000000" pitchFamily="2" charset="2"/>
              </a:rPr>
              <a:t>muộn</a:t>
            </a:r>
            <a:r>
              <a:rPr lang="en-US" altLang="ko-KR" baseline="0" dirty="0">
                <a:sym typeface="Wingdings" panose="05000000000000000000" pitchFamily="2" charset="2"/>
              </a:rPr>
              <a:t>, </a:t>
            </a:r>
            <a:r>
              <a:rPr lang="en-US" altLang="ko-KR" baseline="0" dirty="0" err="1">
                <a:sym typeface="Wingdings" panose="05000000000000000000" pitchFamily="2" charset="2"/>
              </a:rPr>
              <a:t>hoặc</a:t>
            </a:r>
            <a:r>
              <a:rPr lang="en-US" altLang="ko-KR" baseline="0" dirty="0">
                <a:sym typeface="Wingdings" panose="05000000000000000000" pitchFamily="2" charset="2"/>
              </a:rPr>
              <a:t> </a:t>
            </a:r>
            <a:r>
              <a:rPr lang="en-US" altLang="ko-KR" baseline="0" dirty="0" err="1">
                <a:sym typeface="Wingdings" panose="05000000000000000000" pitchFamily="2" charset="2"/>
              </a:rPr>
              <a:t>những</a:t>
            </a:r>
            <a:r>
              <a:rPr lang="en-US" altLang="ko-KR" baseline="0" dirty="0">
                <a:sym typeface="Wingdings" panose="05000000000000000000" pitchFamily="2" charset="2"/>
              </a:rPr>
              <a:t> </a:t>
            </a:r>
            <a:r>
              <a:rPr lang="en-US" altLang="ko-KR" baseline="0" dirty="0" err="1">
                <a:sym typeface="Wingdings" panose="05000000000000000000" pitchFamily="2" charset="2"/>
              </a:rPr>
              <a:t>người</a:t>
            </a:r>
            <a:r>
              <a:rPr lang="en-US" altLang="ko-KR" baseline="0" dirty="0">
                <a:sym typeface="Wingdings" panose="05000000000000000000" pitchFamily="2" charset="2"/>
              </a:rPr>
              <a:t> </a:t>
            </a:r>
            <a:r>
              <a:rPr lang="en-US" altLang="ko-KR" baseline="0" dirty="0" err="1">
                <a:sym typeface="Wingdings" panose="05000000000000000000" pitchFamily="2" charset="2"/>
              </a:rPr>
              <a:t>độ</a:t>
            </a:r>
            <a:r>
              <a:rPr lang="en-US" altLang="ko-KR" baseline="0" dirty="0">
                <a:sym typeface="Wingdings" panose="05000000000000000000" pitchFamily="2" charset="2"/>
              </a:rPr>
              <a:t> </a:t>
            </a:r>
            <a:r>
              <a:rPr lang="en-US" altLang="ko-KR" baseline="0" dirty="0" err="1">
                <a:sym typeface="Wingdings" panose="05000000000000000000" pitchFamily="2" charset="2"/>
              </a:rPr>
              <a:t>tuổi</a:t>
            </a:r>
            <a:r>
              <a:rPr lang="en-US" altLang="ko-KR" baseline="0" dirty="0">
                <a:sym typeface="Wingdings" panose="05000000000000000000" pitchFamily="2" charset="2"/>
              </a:rPr>
              <a:t> 20, 30, 40…</a:t>
            </a:r>
            <a:endParaRPr lang="ko-KR" altLang="en-US" dirty="0"/>
          </a:p>
        </p:txBody>
      </p:sp>
      <p:sp>
        <p:nvSpPr>
          <p:cNvPr id="4" name="슬라이드 번호 개체 틀 3"/>
          <p:cNvSpPr>
            <a:spLocks noGrp="1"/>
          </p:cNvSpPr>
          <p:nvPr>
            <p:ph type="sldNum" sz="quarter" idx="5"/>
          </p:nvPr>
        </p:nvSpPr>
        <p:spPr/>
        <p:txBody>
          <a:bodyPr/>
          <a:lstStyle/>
          <a:p>
            <a:pPr>
              <a:defRPr/>
            </a:pPr>
            <a:fld id="{01E7CBA4-225C-43A4-89AF-CEF91A5C4B22}" type="slidenum">
              <a:rPr lang="ko-KR" altLang="en-US" smtClean="0"/>
              <a:pPr>
                <a:defRPr/>
              </a:pPr>
              <a:t>35</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86805594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113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ko-KR" dirty="0"/>
              <a:t>C3: </a:t>
            </a:r>
            <a:r>
              <a:rPr lang="en-US" altLang="ko-KR" dirty="0" err="1"/>
              <a:t>tạo</a:t>
            </a:r>
            <a:r>
              <a:rPr lang="en-US" altLang="ko-KR" baseline="0" dirty="0"/>
              <a:t> </a:t>
            </a:r>
            <a:r>
              <a:rPr lang="en-US" altLang="ko-KR" baseline="0" dirty="0" err="1"/>
              <a:t>ra</a:t>
            </a:r>
            <a:r>
              <a:rPr lang="en-US" altLang="ko-KR" baseline="0" dirty="0"/>
              <a:t> </a:t>
            </a:r>
            <a:r>
              <a:rPr lang="en-US" altLang="ko-KR" baseline="0" dirty="0" err="1"/>
              <a:t>quy</a:t>
            </a:r>
            <a:r>
              <a:rPr lang="en-US" altLang="ko-KR" baseline="0" dirty="0"/>
              <a:t> </a:t>
            </a:r>
            <a:r>
              <a:rPr lang="en-US" altLang="ko-KR" baseline="0" dirty="0" err="1"/>
              <a:t>luât</a:t>
            </a:r>
            <a:r>
              <a:rPr lang="en-US" altLang="ko-KR" baseline="0" dirty="0"/>
              <a:t> </a:t>
            </a:r>
            <a:r>
              <a:rPr lang="en-US" altLang="ko-KR" baseline="0" dirty="0" err="1"/>
              <a:t>để</a:t>
            </a:r>
            <a:r>
              <a:rPr lang="en-US" altLang="ko-KR" baseline="0" dirty="0"/>
              <a:t> </a:t>
            </a:r>
            <a:r>
              <a:rPr lang="en-US" altLang="ko-KR" baseline="0" dirty="0" err="1"/>
              <a:t>chọn</a:t>
            </a:r>
            <a:r>
              <a:rPr lang="en-US" altLang="ko-KR" baseline="0" dirty="0"/>
              <a:t> </a:t>
            </a:r>
            <a:r>
              <a:rPr lang="en-US" altLang="ko-KR" baseline="0" dirty="0" err="1"/>
              <a:t>theo</a:t>
            </a:r>
            <a:r>
              <a:rPr lang="en-US" altLang="ko-KR" baseline="0" dirty="0"/>
              <a:t> </a:t>
            </a:r>
            <a:r>
              <a:rPr lang="en-US" altLang="ko-KR" baseline="0" dirty="0" err="1"/>
              <a:t>nguyên</a:t>
            </a:r>
            <a:r>
              <a:rPr lang="en-US" altLang="ko-KR" baseline="0" dirty="0"/>
              <a:t> </a:t>
            </a:r>
            <a:r>
              <a:rPr lang="en-US" altLang="ko-KR" baseline="0" dirty="0" err="1"/>
              <a:t>tắc</a:t>
            </a:r>
            <a:endParaRPr lang="en-US" altLang="ko-KR" baseline="0" dirty="0"/>
          </a:p>
          <a:p>
            <a:r>
              <a:rPr lang="en-US" altLang="ko-KR" baseline="0" dirty="0"/>
              <a:t>VD: </a:t>
            </a:r>
            <a:r>
              <a:rPr lang="en-US" altLang="ko-KR" baseline="0" dirty="0" err="1"/>
              <a:t>quy</a:t>
            </a:r>
            <a:r>
              <a:rPr lang="en-US" altLang="ko-KR" baseline="0" dirty="0"/>
              <a:t> </a:t>
            </a:r>
            <a:r>
              <a:rPr lang="en-US" altLang="ko-KR" baseline="0" dirty="0" err="1"/>
              <a:t>luât</a:t>
            </a:r>
            <a:r>
              <a:rPr lang="en-US" altLang="ko-KR" baseline="0" dirty="0"/>
              <a:t> </a:t>
            </a:r>
            <a:r>
              <a:rPr lang="en-US" altLang="ko-KR" baseline="0" dirty="0" err="1"/>
              <a:t>về</a:t>
            </a:r>
            <a:r>
              <a:rPr lang="en-US" altLang="ko-KR" baseline="0" dirty="0"/>
              <a:t> </a:t>
            </a:r>
            <a:r>
              <a:rPr lang="en-US" altLang="ko-KR" baseline="0" dirty="0" err="1"/>
              <a:t>không</a:t>
            </a:r>
            <a:r>
              <a:rPr lang="en-US" altLang="ko-KR" baseline="0" dirty="0"/>
              <a:t> </a:t>
            </a:r>
            <a:r>
              <a:rPr lang="en-US" altLang="ko-KR" baseline="0" dirty="0" err="1"/>
              <a:t>gian</a:t>
            </a:r>
            <a:r>
              <a:rPr lang="en-US" altLang="ko-KR" baseline="0" dirty="0"/>
              <a:t>, </a:t>
            </a:r>
            <a:r>
              <a:rPr lang="en-US" altLang="ko-KR" baseline="0" dirty="0" err="1"/>
              <a:t>vị</a:t>
            </a:r>
            <a:r>
              <a:rPr lang="en-US" altLang="ko-KR" baseline="0" dirty="0"/>
              <a:t> </a:t>
            </a:r>
            <a:r>
              <a:rPr lang="en-US" altLang="ko-KR" baseline="0" dirty="0" err="1"/>
              <a:t>trí</a:t>
            </a:r>
            <a:r>
              <a:rPr lang="en-US" altLang="ko-KR" baseline="0" dirty="0"/>
              <a:t>… VD </a:t>
            </a:r>
            <a:r>
              <a:rPr lang="en-US" altLang="ko-KR" baseline="0" dirty="0" err="1"/>
              <a:t>cứ</a:t>
            </a:r>
            <a:r>
              <a:rPr lang="en-US" altLang="ko-KR" baseline="0" dirty="0"/>
              <a:t> </a:t>
            </a:r>
            <a:r>
              <a:rPr lang="en-US" altLang="ko-KR" baseline="0" dirty="0" err="1"/>
              <a:t>trong</a:t>
            </a:r>
            <a:r>
              <a:rPr lang="en-US" altLang="ko-KR" baseline="0" dirty="0"/>
              <a:t> 1 </a:t>
            </a:r>
            <a:r>
              <a:rPr lang="en-US" altLang="ko-KR" baseline="0" dirty="0" err="1"/>
              <a:t>dãy</a:t>
            </a:r>
            <a:r>
              <a:rPr lang="en-US" altLang="ko-KR" baseline="0" dirty="0"/>
              <a:t>, </a:t>
            </a:r>
            <a:r>
              <a:rPr lang="en-US" altLang="ko-KR" baseline="0" dirty="0" err="1"/>
              <a:t>cách</a:t>
            </a:r>
            <a:r>
              <a:rPr lang="en-US" altLang="ko-KR" baseline="0" dirty="0"/>
              <a:t> 1 </a:t>
            </a:r>
            <a:r>
              <a:rPr lang="en-US" altLang="ko-KR" baseline="0" dirty="0" err="1"/>
              <a:t>người</a:t>
            </a:r>
            <a:r>
              <a:rPr lang="en-US" altLang="ko-KR" baseline="0" dirty="0"/>
              <a:t> </a:t>
            </a:r>
            <a:r>
              <a:rPr lang="en-US" altLang="ko-KR" baseline="0" dirty="0" err="1"/>
              <a:t>lấy</a:t>
            </a:r>
            <a:r>
              <a:rPr lang="en-US" altLang="ko-KR" baseline="0" dirty="0"/>
              <a:t> 1 </a:t>
            </a:r>
            <a:r>
              <a:rPr lang="en-US" altLang="ko-KR" baseline="0" dirty="0" err="1"/>
              <a:t>người</a:t>
            </a:r>
            <a:endParaRPr lang="en-US" altLang="ko-KR" baseline="0" dirty="0"/>
          </a:p>
          <a:p>
            <a:r>
              <a:rPr lang="en-US" altLang="ko-KR" baseline="0" dirty="0"/>
              <a:t>VD#: </a:t>
            </a:r>
            <a:r>
              <a:rPr lang="en-US" altLang="ko-KR" baseline="0" dirty="0" err="1"/>
              <a:t>trong</a:t>
            </a:r>
            <a:r>
              <a:rPr lang="en-US" altLang="ko-KR" baseline="0" dirty="0"/>
              <a:t> </a:t>
            </a:r>
            <a:r>
              <a:rPr lang="en-US" altLang="ko-KR" baseline="0" dirty="0" err="1"/>
              <a:t>palet</a:t>
            </a:r>
            <a:r>
              <a:rPr lang="en-US" altLang="ko-KR" baseline="0" dirty="0"/>
              <a:t> </a:t>
            </a:r>
            <a:r>
              <a:rPr lang="en-US" altLang="ko-KR" baseline="0" dirty="0" err="1"/>
              <a:t>lây</a:t>
            </a:r>
            <a:r>
              <a:rPr lang="en-US" altLang="ko-KR" baseline="0" dirty="0"/>
              <a:t> </a:t>
            </a:r>
            <a:r>
              <a:rPr lang="en-US" altLang="ko-KR" baseline="0" dirty="0" err="1"/>
              <a:t>theo</a:t>
            </a:r>
            <a:r>
              <a:rPr lang="en-US" altLang="ko-KR" baseline="0" dirty="0"/>
              <a:t> </a:t>
            </a:r>
            <a:r>
              <a:rPr lang="en-US" altLang="ko-KR" baseline="0" dirty="0" err="1"/>
              <a:t>đường</a:t>
            </a:r>
            <a:r>
              <a:rPr lang="en-US" altLang="ko-KR" baseline="0" dirty="0"/>
              <a:t> </a:t>
            </a:r>
            <a:r>
              <a:rPr lang="en-US" altLang="ko-KR" baseline="0" dirty="0" err="1"/>
              <a:t>chéo</a:t>
            </a:r>
            <a:r>
              <a:rPr lang="en-US" altLang="ko-KR" baseline="0" dirty="0"/>
              <a:t>, </a:t>
            </a:r>
            <a:r>
              <a:rPr lang="en-US" altLang="ko-KR" baseline="0" dirty="0" err="1"/>
              <a:t>hoặc</a:t>
            </a:r>
            <a:r>
              <a:rPr lang="en-US" altLang="ko-KR" baseline="0" dirty="0"/>
              <a:t> </a:t>
            </a:r>
            <a:r>
              <a:rPr lang="en-US" altLang="ko-KR" baseline="0" dirty="0" err="1"/>
              <a:t>tren</a:t>
            </a:r>
            <a:r>
              <a:rPr lang="en-US" altLang="ko-KR" baseline="0" dirty="0"/>
              <a:t> line </a:t>
            </a:r>
            <a:r>
              <a:rPr lang="en-US" altLang="ko-KR" baseline="0" dirty="0" err="1"/>
              <a:t>cách</a:t>
            </a:r>
            <a:r>
              <a:rPr lang="en-US" altLang="ko-KR" baseline="0" dirty="0"/>
              <a:t> 5 con </a:t>
            </a:r>
            <a:r>
              <a:rPr lang="en-US" altLang="ko-KR" baseline="0" dirty="0" err="1"/>
              <a:t>lấy</a:t>
            </a:r>
            <a:r>
              <a:rPr lang="en-US" altLang="ko-KR" baseline="0" dirty="0"/>
              <a:t> 1 con</a:t>
            </a:r>
          </a:p>
          <a:p>
            <a:r>
              <a:rPr lang="en-US" altLang="ko-KR" baseline="0" dirty="0"/>
              <a:t>C4: chia 1 </a:t>
            </a:r>
            <a:r>
              <a:rPr lang="en-US" altLang="ko-KR" baseline="0" dirty="0" err="1"/>
              <a:t>tổng</a:t>
            </a:r>
            <a:r>
              <a:rPr lang="en-US" altLang="ko-KR" baseline="0" dirty="0"/>
              <a:t> </a:t>
            </a:r>
            <a:r>
              <a:rPr lang="en-US" altLang="ko-KR" baseline="0" dirty="0" err="1"/>
              <a:t>thể</a:t>
            </a:r>
            <a:r>
              <a:rPr lang="en-US" altLang="ko-KR" baseline="0" dirty="0"/>
              <a:t> </a:t>
            </a:r>
            <a:r>
              <a:rPr lang="en-US" altLang="ko-KR" baseline="0" dirty="0" err="1"/>
              <a:t>thanh</a:t>
            </a:r>
            <a:r>
              <a:rPr lang="en-US" altLang="ko-KR" baseline="0" dirty="0"/>
              <a:t> </a:t>
            </a:r>
            <a:r>
              <a:rPr lang="en-US" altLang="ko-KR" baseline="0" dirty="0" err="1"/>
              <a:t>nhiêu</a:t>
            </a:r>
            <a:r>
              <a:rPr lang="en-US" altLang="ko-KR" baseline="0" dirty="0"/>
              <a:t> </a:t>
            </a:r>
            <a:r>
              <a:rPr lang="en-US" altLang="ko-KR" baseline="0" dirty="0" err="1"/>
              <a:t>nhóm</a:t>
            </a:r>
            <a:r>
              <a:rPr lang="en-US" altLang="ko-KR" baseline="0" dirty="0"/>
              <a:t> </a:t>
            </a:r>
            <a:r>
              <a:rPr lang="en-US" altLang="ko-KR" baseline="0" dirty="0" err="1"/>
              <a:t>khác</a:t>
            </a:r>
            <a:r>
              <a:rPr lang="en-US" altLang="ko-KR" baseline="0" dirty="0"/>
              <a:t> </a:t>
            </a:r>
            <a:r>
              <a:rPr lang="en-US" altLang="ko-KR" baseline="0" dirty="0" err="1"/>
              <a:t>nhau</a:t>
            </a:r>
            <a:r>
              <a:rPr lang="en-US" altLang="ko-KR" baseline="0" dirty="0"/>
              <a:t> </a:t>
            </a:r>
            <a:r>
              <a:rPr lang="en-US" altLang="ko-KR" baseline="0" dirty="0" err="1"/>
              <a:t>và</a:t>
            </a:r>
            <a:r>
              <a:rPr lang="en-US" altLang="ko-KR" baseline="0" dirty="0"/>
              <a:t> </a:t>
            </a:r>
            <a:r>
              <a:rPr lang="en-US" altLang="ko-KR" baseline="0" dirty="0" err="1"/>
              <a:t>nhóm</a:t>
            </a:r>
            <a:r>
              <a:rPr lang="en-US" altLang="ko-KR" baseline="0" dirty="0"/>
              <a:t> </a:t>
            </a:r>
            <a:r>
              <a:rPr lang="en-US" altLang="ko-KR" baseline="0" dirty="0" err="1"/>
              <a:t>đc</a:t>
            </a:r>
            <a:r>
              <a:rPr lang="en-US" altLang="ko-KR" baseline="0" dirty="0"/>
              <a:t> </a:t>
            </a:r>
            <a:r>
              <a:rPr lang="en-US" altLang="ko-KR" baseline="0" dirty="0" err="1"/>
              <a:t>lấy</a:t>
            </a:r>
            <a:r>
              <a:rPr lang="en-US" altLang="ko-KR" baseline="0" dirty="0"/>
              <a:t> </a:t>
            </a:r>
            <a:r>
              <a:rPr lang="en-US" altLang="ko-KR" baseline="0" dirty="0" err="1"/>
              <a:t>ra</a:t>
            </a:r>
            <a:r>
              <a:rPr lang="en-US" altLang="ko-KR" baseline="0" dirty="0"/>
              <a:t> </a:t>
            </a:r>
            <a:r>
              <a:rPr lang="en-US" altLang="ko-KR" baseline="0" dirty="0" err="1"/>
              <a:t>cũng</a:t>
            </a:r>
            <a:r>
              <a:rPr lang="en-US" altLang="ko-KR" baseline="0" dirty="0"/>
              <a:t> </a:t>
            </a:r>
            <a:r>
              <a:rPr lang="en-US" altLang="ko-KR" baseline="0" dirty="0" err="1"/>
              <a:t>fai</a:t>
            </a:r>
            <a:r>
              <a:rPr lang="en-US" altLang="ko-KR" baseline="0" dirty="0"/>
              <a:t> </a:t>
            </a:r>
            <a:r>
              <a:rPr lang="en-US" altLang="ko-KR" baseline="0" dirty="0" err="1"/>
              <a:t>có</a:t>
            </a:r>
            <a:r>
              <a:rPr lang="en-US" altLang="ko-KR" baseline="0" dirty="0"/>
              <a:t> </a:t>
            </a:r>
            <a:r>
              <a:rPr lang="en-US" altLang="ko-KR" baseline="0" dirty="0" err="1"/>
              <a:t>đầy</a:t>
            </a:r>
            <a:r>
              <a:rPr lang="en-US" altLang="ko-KR" baseline="0" dirty="0"/>
              <a:t> </a:t>
            </a:r>
            <a:r>
              <a:rPr lang="en-US" altLang="ko-KR" baseline="0" dirty="0" err="1"/>
              <a:t>đủ</a:t>
            </a:r>
            <a:r>
              <a:rPr lang="en-US" altLang="ko-KR" baseline="0" dirty="0"/>
              <a:t> </a:t>
            </a:r>
            <a:r>
              <a:rPr lang="en-US" altLang="ko-KR" baseline="0" dirty="0" err="1"/>
              <a:t>đặc</a:t>
            </a:r>
            <a:r>
              <a:rPr lang="en-US" altLang="ko-KR" baseline="0" dirty="0"/>
              <a:t> </a:t>
            </a:r>
            <a:r>
              <a:rPr lang="en-US" altLang="ko-KR" baseline="0" dirty="0" err="1"/>
              <a:t>điểm</a:t>
            </a:r>
            <a:r>
              <a:rPr lang="en-US" altLang="ko-KR" baseline="0" dirty="0"/>
              <a:t> </a:t>
            </a:r>
            <a:r>
              <a:rPr lang="en-US" altLang="ko-KR" baseline="0" dirty="0" err="1"/>
              <a:t>của</a:t>
            </a:r>
            <a:r>
              <a:rPr lang="en-US" altLang="ko-KR" baseline="0" dirty="0"/>
              <a:t> </a:t>
            </a:r>
            <a:r>
              <a:rPr lang="en-US" altLang="ko-KR" baseline="0" dirty="0" err="1"/>
              <a:t>tổng</a:t>
            </a:r>
            <a:r>
              <a:rPr lang="en-US" altLang="ko-KR" baseline="0" dirty="0"/>
              <a:t> </a:t>
            </a:r>
            <a:r>
              <a:rPr lang="en-US" altLang="ko-KR" baseline="0" dirty="0" err="1"/>
              <a:t>thể</a:t>
            </a:r>
            <a:r>
              <a:rPr lang="en-US" altLang="ko-KR" baseline="0" dirty="0" err="1">
                <a:sym typeface="Wingdings" panose="05000000000000000000" pitchFamily="2" charset="2"/>
              </a:rPr>
              <a:t>thu</a:t>
            </a:r>
            <a:r>
              <a:rPr lang="en-US" altLang="ko-KR" baseline="0" dirty="0">
                <a:sym typeface="Wingdings" panose="05000000000000000000" pitchFamily="2" charset="2"/>
              </a:rPr>
              <a:t> </a:t>
            </a:r>
            <a:r>
              <a:rPr lang="en-US" altLang="ko-KR" baseline="0" dirty="0" err="1">
                <a:sym typeface="Wingdings" panose="05000000000000000000" pitchFamily="2" charset="2"/>
              </a:rPr>
              <a:t>hẹp</a:t>
            </a:r>
            <a:r>
              <a:rPr lang="en-US" altLang="ko-KR" baseline="0" dirty="0">
                <a:sym typeface="Wingdings" panose="05000000000000000000" pitchFamily="2" charset="2"/>
              </a:rPr>
              <a:t> </a:t>
            </a:r>
            <a:r>
              <a:rPr lang="en-US" altLang="ko-KR" baseline="0" dirty="0" err="1">
                <a:sym typeface="Wingdings" panose="05000000000000000000" pitchFamily="2" charset="2"/>
              </a:rPr>
              <a:t>tổng</a:t>
            </a:r>
            <a:r>
              <a:rPr lang="en-US" altLang="ko-KR" baseline="0" dirty="0">
                <a:sym typeface="Wingdings" panose="05000000000000000000" pitchFamily="2" charset="2"/>
              </a:rPr>
              <a:t> </a:t>
            </a:r>
            <a:r>
              <a:rPr lang="en-US" altLang="ko-KR" baseline="0" dirty="0" err="1">
                <a:sym typeface="Wingdings" panose="05000000000000000000" pitchFamily="2" charset="2"/>
              </a:rPr>
              <a:t>thể</a:t>
            </a:r>
            <a:r>
              <a:rPr lang="en-US" altLang="ko-KR" baseline="0" dirty="0">
                <a:sym typeface="Wingdings" panose="05000000000000000000" pitchFamily="2" charset="2"/>
              </a:rPr>
              <a:t> </a:t>
            </a:r>
            <a:r>
              <a:rPr lang="en-US" altLang="ko-KR" baseline="0" dirty="0" err="1">
                <a:sym typeface="Wingdings" panose="05000000000000000000" pitchFamily="2" charset="2"/>
              </a:rPr>
              <a:t>để</a:t>
            </a:r>
            <a:r>
              <a:rPr lang="en-US" altLang="ko-KR" baseline="0" dirty="0">
                <a:sym typeface="Wingdings" panose="05000000000000000000" pitchFamily="2" charset="2"/>
              </a:rPr>
              <a:t> </a:t>
            </a:r>
            <a:r>
              <a:rPr lang="en-US" altLang="ko-KR" baseline="0" dirty="0" err="1">
                <a:sym typeface="Wingdings" panose="05000000000000000000" pitchFamily="2" charset="2"/>
              </a:rPr>
              <a:t>khảo</a:t>
            </a:r>
            <a:r>
              <a:rPr lang="en-US" altLang="ko-KR" baseline="0" dirty="0">
                <a:sym typeface="Wingdings" panose="05000000000000000000" pitchFamily="2" charset="2"/>
              </a:rPr>
              <a:t> </a:t>
            </a:r>
            <a:r>
              <a:rPr lang="en-US" altLang="ko-KR" baseline="0" dirty="0" err="1">
                <a:sym typeface="Wingdings" panose="05000000000000000000" pitchFamily="2" charset="2"/>
              </a:rPr>
              <a:t>sát</a:t>
            </a:r>
            <a:endParaRPr lang="ko-KR" altLang="en-US" dirty="0"/>
          </a:p>
        </p:txBody>
      </p:sp>
      <p:sp>
        <p:nvSpPr>
          <p:cNvPr id="4" name="슬라이드 번호 개체 틀 3"/>
          <p:cNvSpPr>
            <a:spLocks noGrp="1"/>
          </p:cNvSpPr>
          <p:nvPr>
            <p:ph type="sldNum" sz="quarter" idx="5"/>
          </p:nvPr>
        </p:nvSpPr>
        <p:spPr/>
        <p:txBody>
          <a:bodyPr/>
          <a:lstStyle/>
          <a:p>
            <a:pPr>
              <a:defRPr/>
            </a:pPr>
            <a:fld id="{5AB2BF18-8030-4D1A-9DD9-F8CED83CDB76}" type="slidenum">
              <a:rPr lang="ko-KR" altLang="en-US" smtClean="0"/>
              <a:pPr>
                <a:defRPr/>
              </a:pPr>
              <a:t>36</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39647366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6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FB06D548-8B97-449A-9E1D-75CA5CB7ED1D}" type="slidenum">
              <a:rPr lang="ko-KR" altLang="en-US" smtClean="0"/>
              <a:pPr>
                <a:defRPr/>
              </a:pPr>
              <a:t>37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09620419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318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buFontTx/>
              <a:buNone/>
            </a:pPr>
            <a:r>
              <a:rPr lang="en-US" altLang="ko-KR" dirty="0"/>
              <a:t>1:</a:t>
            </a:r>
            <a:r>
              <a:rPr lang="en-US" altLang="ko-KR" baseline="0" dirty="0"/>
              <a:t> </a:t>
            </a:r>
            <a:r>
              <a:rPr lang="en-US" altLang="ko-KR" baseline="0" dirty="0" err="1"/>
              <a:t>đo</a:t>
            </a:r>
            <a:r>
              <a:rPr lang="en-US" altLang="ko-KR" baseline="0" dirty="0"/>
              <a:t> 1 </a:t>
            </a:r>
            <a:r>
              <a:rPr lang="en-US" altLang="ko-KR" baseline="0" dirty="0" err="1"/>
              <a:t>cái</a:t>
            </a:r>
            <a:r>
              <a:rPr lang="en-US" altLang="ko-KR" baseline="0" dirty="0"/>
              <a:t> </a:t>
            </a:r>
            <a:r>
              <a:rPr lang="en-US" altLang="ko-KR" baseline="0" dirty="0" err="1"/>
              <a:t>đc</a:t>
            </a:r>
            <a:r>
              <a:rPr lang="en-US" altLang="ko-KR" baseline="0" dirty="0"/>
              <a:t> </a:t>
            </a:r>
            <a:r>
              <a:rPr lang="en-US" altLang="ko-KR" baseline="0" dirty="0" err="1"/>
              <a:t>luôn</a:t>
            </a:r>
            <a:r>
              <a:rPr lang="en-US" altLang="ko-KR" baseline="0" dirty="0"/>
              <a:t>, </a:t>
            </a:r>
            <a:r>
              <a:rPr lang="en-US" altLang="ko-KR" baseline="0" dirty="0" err="1"/>
              <a:t>biết</a:t>
            </a:r>
            <a:r>
              <a:rPr lang="en-US" altLang="ko-KR" baseline="0" dirty="0"/>
              <a:t> </a:t>
            </a:r>
            <a:r>
              <a:rPr lang="en-US" altLang="ko-KR" baseline="0" dirty="0" err="1"/>
              <a:t>luôn</a:t>
            </a:r>
            <a:endParaRPr lang="en-US" altLang="ko-KR" baseline="0" dirty="0"/>
          </a:p>
          <a:p>
            <a:pPr>
              <a:buFontTx/>
              <a:buNone/>
            </a:pPr>
            <a:r>
              <a:rPr lang="en-US" altLang="ko-KR" baseline="0" dirty="0"/>
              <a:t>3: VD </a:t>
            </a:r>
            <a:r>
              <a:rPr lang="en-US" altLang="ko-KR" baseline="0" dirty="0" err="1"/>
              <a:t>đo</a:t>
            </a:r>
            <a:r>
              <a:rPr lang="en-US" altLang="ko-KR" baseline="0" dirty="0"/>
              <a:t> </a:t>
            </a:r>
            <a:r>
              <a:rPr lang="en-US" altLang="ko-KR" baseline="0" dirty="0" err="1"/>
              <a:t>diện</a:t>
            </a:r>
            <a:r>
              <a:rPr lang="en-US" altLang="ko-KR" baseline="0" dirty="0"/>
              <a:t> </a:t>
            </a:r>
            <a:r>
              <a:rPr lang="en-US" altLang="ko-KR" baseline="0" dirty="0" err="1"/>
              <a:t>tích</a:t>
            </a:r>
            <a:r>
              <a:rPr lang="en-US" altLang="ko-KR" baseline="0" dirty="0"/>
              <a:t> </a:t>
            </a:r>
            <a:r>
              <a:rPr lang="en-US" altLang="ko-KR" baseline="0" dirty="0" err="1"/>
              <a:t>phòng</a:t>
            </a:r>
            <a:r>
              <a:rPr lang="en-US" altLang="ko-KR" baseline="0" dirty="0"/>
              <a:t>, </a:t>
            </a:r>
            <a:r>
              <a:rPr lang="en-US" altLang="ko-KR" baseline="0" dirty="0" err="1"/>
              <a:t>fai</a:t>
            </a:r>
            <a:r>
              <a:rPr lang="en-US" altLang="ko-KR" baseline="0" dirty="0"/>
              <a:t> </a:t>
            </a:r>
            <a:r>
              <a:rPr lang="en-US" altLang="ko-KR" baseline="0" dirty="0" err="1"/>
              <a:t>thông</a:t>
            </a:r>
            <a:r>
              <a:rPr lang="en-US" altLang="ko-KR" baseline="0" dirty="0"/>
              <a:t> qua </a:t>
            </a:r>
            <a:r>
              <a:rPr lang="en-US" altLang="ko-KR" baseline="0" dirty="0" err="1"/>
              <a:t>chiều</a:t>
            </a:r>
            <a:r>
              <a:rPr lang="en-US" altLang="ko-KR" baseline="0" dirty="0"/>
              <a:t> </a:t>
            </a:r>
            <a:r>
              <a:rPr lang="en-US" altLang="ko-KR" baseline="0" dirty="0" err="1"/>
              <a:t>dài</a:t>
            </a:r>
            <a:r>
              <a:rPr lang="en-US" altLang="ko-KR" baseline="0" dirty="0"/>
              <a:t>, </a:t>
            </a:r>
            <a:r>
              <a:rPr lang="en-US" altLang="ko-KR" baseline="0" dirty="0" err="1"/>
              <a:t>rộng</a:t>
            </a:r>
            <a:r>
              <a:rPr lang="en-US" altLang="ko-KR" baseline="0" dirty="0"/>
              <a:t>; </a:t>
            </a:r>
            <a:r>
              <a:rPr lang="en-US" altLang="ko-KR" baseline="0" dirty="0" err="1"/>
              <a:t>hoặc</a:t>
            </a:r>
            <a:r>
              <a:rPr lang="en-US" altLang="ko-KR" baseline="0" dirty="0"/>
              <a:t> VD </a:t>
            </a:r>
            <a:r>
              <a:rPr lang="en-US" altLang="ko-KR" baseline="0" dirty="0" err="1"/>
              <a:t>đo</a:t>
            </a:r>
            <a:r>
              <a:rPr lang="en-US" altLang="ko-KR" baseline="0" dirty="0"/>
              <a:t> </a:t>
            </a:r>
            <a:r>
              <a:rPr lang="en-US" altLang="ko-KR" baseline="0" dirty="0" err="1"/>
              <a:t>voi</a:t>
            </a:r>
            <a:r>
              <a:rPr lang="en-US" altLang="ko-KR" baseline="0" dirty="0"/>
              <a:t>, </a:t>
            </a:r>
            <a:r>
              <a:rPr lang="en-US" altLang="ko-KR" baseline="0" dirty="0" err="1"/>
              <a:t>fai</a:t>
            </a:r>
            <a:r>
              <a:rPr lang="en-US" altLang="ko-KR" baseline="0" dirty="0"/>
              <a:t> </a:t>
            </a:r>
            <a:r>
              <a:rPr lang="en-US" altLang="ko-KR" baseline="0" dirty="0" err="1"/>
              <a:t>thông</a:t>
            </a:r>
            <a:r>
              <a:rPr lang="en-US" altLang="ko-KR" baseline="0" dirty="0"/>
              <a:t> qua </a:t>
            </a:r>
            <a:r>
              <a:rPr lang="en-US" altLang="ko-KR" baseline="0" dirty="0" err="1"/>
              <a:t>cân</a:t>
            </a:r>
            <a:r>
              <a:rPr lang="en-US" altLang="ko-KR" baseline="0" dirty="0"/>
              <a:t> </a:t>
            </a:r>
            <a:r>
              <a:rPr lang="en-US" altLang="ko-KR" baseline="0" dirty="0" err="1"/>
              <a:t>đá</a:t>
            </a:r>
            <a:r>
              <a:rPr lang="en-US" altLang="ko-KR" baseline="0" dirty="0"/>
              <a:t>…</a:t>
            </a:r>
          </a:p>
          <a:p>
            <a:pPr>
              <a:buFontTx/>
              <a:buNone/>
            </a:pPr>
            <a:r>
              <a:rPr lang="en-US" altLang="ko-KR" baseline="0" dirty="0"/>
              <a:t>2: </a:t>
            </a:r>
            <a:r>
              <a:rPr lang="en-US" altLang="ko-KR" baseline="0" dirty="0" err="1"/>
              <a:t>có</a:t>
            </a:r>
            <a:r>
              <a:rPr lang="en-US" altLang="ko-KR" baseline="0" dirty="0"/>
              <a:t> 1 </a:t>
            </a:r>
            <a:r>
              <a:rPr lang="en-US" altLang="ko-KR" baseline="0" dirty="0" err="1"/>
              <a:t>vật</a:t>
            </a:r>
            <a:r>
              <a:rPr lang="en-US" altLang="ko-KR" baseline="0" dirty="0"/>
              <a:t> </a:t>
            </a:r>
            <a:r>
              <a:rPr lang="en-US" altLang="ko-KR" baseline="0" dirty="0" err="1"/>
              <a:t>mẫu</a:t>
            </a:r>
            <a:r>
              <a:rPr lang="en-US" altLang="ko-KR" baseline="0" dirty="0"/>
              <a:t> </a:t>
            </a:r>
            <a:r>
              <a:rPr lang="en-US" altLang="ko-KR" baseline="0" dirty="0" err="1"/>
              <a:t>và</a:t>
            </a:r>
            <a:r>
              <a:rPr lang="en-US" altLang="ko-KR" baseline="0" dirty="0"/>
              <a:t> </a:t>
            </a:r>
            <a:r>
              <a:rPr lang="en-US" altLang="ko-KR" baseline="0" dirty="0" err="1"/>
              <a:t>ss</a:t>
            </a:r>
            <a:r>
              <a:rPr lang="en-US" altLang="ko-KR" baseline="0" dirty="0"/>
              <a:t> vs no </a:t>
            </a:r>
            <a:r>
              <a:rPr lang="en-US" altLang="ko-KR" baseline="0" dirty="0" err="1"/>
              <a:t>đê</a:t>
            </a:r>
            <a:r>
              <a:rPr lang="en-US" altLang="ko-KR" baseline="0" dirty="0"/>
              <a:t> </a:t>
            </a:r>
            <a:r>
              <a:rPr lang="en-US" altLang="ko-KR" baseline="0" dirty="0" err="1"/>
              <a:t>biêt</a:t>
            </a:r>
            <a:r>
              <a:rPr lang="en-US" altLang="ko-KR" baseline="0" dirty="0"/>
              <a:t> </a:t>
            </a:r>
            <a:r>
              <a:rPr lang="en-US" altLang="ko-KR" baseline="0" dirty="0" err="1"/>
              <a:t>giông</a:t>
            </a:r>
            <a:r>
              <a:rPr lang="en-US" altLang="ko-KR" baseline="0" dirty="0"/>
              <a:t> hay </a:t>
            </a:r>
            <a:r>
              <a:rPr lang="en-US" altLang="ko-KR" baseline="0" dirty="0" err="1"/>
              <a:t>khác</a:t>
            </a:r>
            <a:r>
              <a:rPr lang="en-US" altLang="ko-KR" baseline="0" dirty="0"/>
              <a:t>; VD: </a:t>
            </a:r>
            <a:r>
              <a:rPr lang="en-US" altLang="ko-KR" baseline="0" dirty="0" err="1"/>
              <a:t>ss</a:t>
            </a:r>
            <a:r>
              <a:rPr lang="en-US" altLang="ko-KR" baseline="0" dirty="0"/>
              <a:t> </a:t>
            </a:r>
            <a:r>
              <a:rPr lang="en-US" altLang="ko-KR" baseline="0" dirty="0" err="1"/>
              <a:t>quyển</a:t>
            </a:r>
            <a:r>
              <a:rPr lang="en-US" altLang="ko-KR" baseline="0" dirty="0"/>
              <a:t> </a:t>
            </a:r>
            <a:r>
              <a:rPr lang="en-US" altLang="ko-KR" baseline="0" dirty="0" err="1"/>
              <a:t>sổ</a:t>
            </a:r>
            <a:r>
              <a:rPr lang="en-US" altLang="ko-KR" baseline="0" dirty="0"/>
              <a:t> </a:t>
            </a:r>
            <a:r>
              <a:rPr lang="en-US" altLang="ko-KR" baseline="0" dirty="0" err="1"/>
              <a:t>về</a:t>
            </a:r>
            <a:r>
              <a:rPr lang="en-US" altLang="ko-KR" baseline="0" dirty="0"/>
              <a:t> </a:t>
            </a:r>
            <a:r>
              <a:rPr lang="en-US" altLang="ko-KR" baseline="0" dirty="0" err="1"/>
              <a:t>màu</a:t>
            </a:r>
            <a:r>
              <a:rPr lang="en-US" altLang="ko-KR" baseline="0" dirty="0"/>
              <a:t> </a:t>
            </a:r>
            <a:r>
              <a:rPr lang="en-US" altLang="ko-KR" baseline="0" dirty="0" err="1"/>
              <a:t>sắc</a:t>
            </a:r>
            <a:r>
              <a:rPr lang="en-US" altLang="ko-KR" baseline="0" dirty="0"/>
              <a:t>, </a:t>
            </a:r>
            <a:r>
              <a:rPr lang="en-US" altLang="ko-KR" baseline="0" dirty="0" err="1"/>
              <a:t>chữ</a:t>
            </a:r>
            <a:r>
              <a:rPr lang="en-US" altLang="ko-KR" baseline="0" dirty="0"/>
              <a:t> in…</a:t>
            </a:r>
          </a:p>
          <a:p>
            <a:pPr>
              <a:buFontTx/>
              <a:buNone/>
            </a:pPr>
            <a:r>
              <a:rPr lang="en-US" altLang="ko-KR" baseline="0" dirty="0"/>
              <a:t>4: </a:t>
            </a:r>
            <a:r>
              <a:rPr lang="en-US" altLang="ko-KR" baseline="0" dirty="0" err="1"/>
              <a:t>có</a:t>
            </a:r>
            <a:r>
              <a:rPr lang="en-US" altLang="ko-KR" baseline="0" dirty="0"/>
              <a:t> 1 jig, </a:t>
            </a:r>
            <a:r>
              <a:rPr lang="en-US" altLang="ko-KR" baseline="0" dirty="0" err="1"/>
              <a:t>đo</a:t>
            </a:r>
            <a:r>
              <a:rPr lang="en-US" altLang="ko-KR" baseline="0" dirty="0"/>
              <a:t> </a:t>
            </a:r>
            <a:r>
              <a:rPr lang="en-US" altLang="ko-KR" baseline="0" dirty="0" err="1"/>
              <a:t>xem</a:t>
            </a:r>
            <a:r>
              <a:rPr lang="en-US" altLang="ko-KR" baseline="0" dirty="0"/>
              <a:t> </a:t>
            </a:r>
            <a:r>
              <a:rPr lang="en-US" altLang="ko-KR" baseline="0" dirty="0" err="1"/>
              <a:t>lỗi</a:t>
            </a:r>
            <a:r>
              <a:rPr lang="en-US" altLang="ko-KR" baseline="0" dirty="0"/>
              <a:t> hay </a:t>
            </a:r>
            <a:r>
              <a:rPr lang="en-US" altLang="ko-KR" baseline="0" dirty="0" err="1"/>
              <a:t>ko</a:t>
            </a:r>
            <a:endParaRPr lang="en-US" altLang="ko-KR" baseline="0" dirty="0"/>
          </a:p>
        </p:txBody>
      </p:sp>
      <p:sp>
        <p:nvSpPr>
          <p:cNvPr id="4" name="슬라이드 번호 개체 틀 3"/>
          <p:cNvSpPr>
            <a:spLocks noGrp="1"/>
          </p:cNvSpPr>
          <p:nvPr>
            <p:ph type="sldNum" sz="quarter" idx="5"/>
          </p:nvPr>
        </p:nvSpPr>
        <p:spPr/>
        <p:txBody>
          <a:bodyPr/>
          <a:lstStyle/>
          <a:p>
            <a:pPr>
              <a:defRPr/>
            </a:pPr>
            <a:fld id="{B93ACC71-5566-48B2-8955-5442A0776C8E}" type="slidenum">
              <a:rPr lang="ko-KR" altLang="en-US" smtClean="0"/>
              <a:pPr>
                <a:defRPr/>
              </a:pPr>
              <a:t>38</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78116989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421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buFontTx/>
              <a:buNone/>
            </a:pPr>
            <a:r>
              <a:rPr lang="en-US" altLang="ko-KR" dirty="0" err="1"/>
              <a:t>Độ</a:t>
            </a:r>
            <a:r>
              <a:rPr lang="en-US" altLang="ko-KR" dirty="0"/>
              <a:t> </a:t>
            </a:r>
            <a:r>
              <a:rPr lang="en-US" altLang="ko-KR" dirty="0" err="1"/>
              <a:t>chinh</a:t>
            </a:r>
            <a:r>
              <a:rPr lang="en-US" altLang="ko-KR" dirty="0"/>
              <a:t> </a:t>
            </a:r>
            <a:r>
              <a:rPr lang="en-US" altLang="ko-KR" dirty="0" err="1"/>
              <a:t>xác</a:t>
            </a:r>
            <a:r>
              <a:rPr lang="en-US" altLang="ko-KR" dirty="0"/>
              <a:t>:</a:t>
            </a:r>
            <a:r>
              <a:rPr lang="en-US" altLang="ko-KR" baseline="0" dirty="0"/>
              <a:t> precise: </a:t>
            </a:r>
            <a:r>
              <a:rPr lang="en-US" altLang="ko-KR" baseline="0" dirty="0" err="1"/>
              <a:t>mức</a:t>
            </a:r>
            <a:r>
              <a:rPr lang="en-US" altLang="ko-KR" baseline="0" dirty="0"/>
              <a:t> </a:t>
            </a:r>
            <a:r>
              <a:rPr lang="en-US" altLang="ko-KR" baseline="0" dirty="0" err="1"/>
              <a:t>độ</a:t>
            </a:r>
            <a:r>
              <a:rPr lang="en-US" altLang="ko-KR" baseline="0" dirty="0"/>
              <a:t> </a:t>
            </a:r>
            <a:r>
              <a:rPr lang="en-US" altLang="ko-KR" baseline="0" dirty="0" err="1"/>
              <a:t>phân</a:t>
            </a:r>
            <a:r>
              <a:rPr lang="en-US" altLang="ko-KR" baseline="0" dirty="0"/>
              <a:t> </a:t>
            </a:r>
            <a:r>
              <a:rPr lang="en-US" altLang="ko-KR" baseline="0" dirty="0" err="1"/>
              <a:t>tán</a:t>
            </a:r>
            <a:r>
              <a:rPr lang="en-US" altLang="ko-KR" baseline="0" dirty="0"/>
              <a:t> </a:t>
            </a:r>
            <a:r>
              <a:rPr lang="en-US" altLang="ko-KR" baseline="0" dirty="0" err="1"/>
              <a:t>của</a:t>
            </a:r>
            <a:r>
              <a:rPr lang="en-US" altLang="ko-KR" baseline="0" dirty="0"/>
              <a:t> </a:t>
            </a:r>
            <a:r>
              <a:rPr lang="en-US" altLang="ko-KR" baseline="0" dirty="0" err="1"/>
              <a:t>dữ</a:t>
            </a:r>
            <a:r>
              <a:rPr lang="en-US" altLang="ko-KR" baseline="0" dirty="0"/>
              <a:t> </a:t>
            </a:r>
            <a:r>
              <a:rPr lang="en-US" altLang="ko-KR" baseline="0" dirty="0" err="1"/>
              <a:t>liệu</a:t>
            </a:r>
            <a:endParaRPr lang="ko-KR" altLang="en-US" dirty="0"/>
          </a:p>
        </p:txBody>
      </p:sp>
      <p:sp>
        <p:nvSpPr>
          <p:cNvPr id="4" name="슬라이드 번호 개체 틀 3"/>
          <p:cNvSpPr>
            <a:spLocks noGrp="1"/>
          </p:cNvSpPr>
          <p:nvPr>
            <p:ph type="sldNum" sz="quarter" idx="5"/>
          </p:nvPr>
        </p:nvSpPr>
        <p:spPr/>
        <p:txBody>
          <a:bodyPr/>
          <a:lstStyle/>
          <a:p>
            <a:pPr>
              <a:defRPr/>
            </a:pPr>
            <a:fld id="{AD4BE825-876B-468B-A323-79AA360084F1}" type="slidenum">
              <a:rPr lang="ko-KR" altLang="en-US" smtClean="0"/>
              <a:pPr>
                <a:defRPr/>
              </a:pPr>
              <a:t>39</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0235508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523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buFontTx/>
              <a:buNone/>
            </a:pPr>
            <a:r>
              <a:rPr lang="en-US" altLang="ko-KR" dirty="0"/>
              <a:t>SIPOC: </a:t>
            </a:r>
            <a:r>
              <a:rPr lang="en-US" altLang="ko-KR" dirty="0" err="1"/>
              <a:t>mô</a:t>
            </a:r>
            <a:r>
              <a:rPr lang="en-US" altLang="ko-KR" baseline="0" dirty="0"/>
              <a:t> </a:t>
            </a:r>
            <a:r>
              <a:rPr lang="en-US" altLang="ko-KR" baseline="0" dirty="0" err="1"/>
              <a:t>hinh</a:t>
            </a:r>
            <a:r>
              <a:rPr lang="en-US" altLang="ko-KR" baseline="0" dirty="0"/>
              <a:t> nay </a:t>
            </a:r>
            <a:r>
              <a:rPr lang="en-US" altLang="ko-KR" baseline="0" dirty="0" err="1"/>
              <a:t>thương</a:t>
            </a:r>
            <a:r>
              <a:rPr lang="en-US" altLang="ko-KR" baseline="0" dirty="0"/>
              <a:t> </a:t>
            </a:r>
            <a:r>
              <a:rPr lang="en-US" altLang="ko-KR" baseline="0" dirty="0" err="1"/>
              <a:t>đc</a:t>
            </a:r>
            <a:r>
              <a:rPr lang="en-US" altLang="ko-KR" baseline="0" dirty="0"/>
              <a:t> </a:t>
            </a:r>
            <a:r>
              <a:rPr lang="en-US" altLang="ko-KR" baseline="0" dirty="0" err="1"/>
              <a:t>sd</a:t>
            </a:r>
            <a:r>
              <a:rPr lang="en-US" altLang="ko-KR" baseline="0" dirty="0"/>
              <a:t> </a:t>
            </a:r>
            <a:r>
              <a:rPr lang="en-US" altLang="ko-KR" baseline="0" dirty="0" err="1"/>
              <a:t>để</a:t>
            </a:r>
            <a:r>
              <a:rPr lang="en-US" altLang="ko-KR" baseline="0" dirty="0"/>
              <a:t> </a:t>
            </a:r>
            <a:r>
              <a:rPr lang="en-US" altLang="ko-KR" baseline="0" dirty="0" err="1"/>
              <a:t>giai</a:t>
            </a:r>
            <a:r>
              <a:rPr lang="en-US" altLang="ko-KR" baseline="0" dirty="0"/>
              <a:t> </a:t>
            </a:r>
            <a:r>
              <a:rPr lang="en-US" altLang="ko-KR" baseline="0" dirty="0" err="1"/>
              <a:t>thích</a:t>
            </a:r>
            <a:r>
              <a:rPr lang="en-US" altLang="ko-KR" baseline="0" dirty="0"/>
              <a:t> </a:t>
            </a:r>
            <a:r>
              <a:rPr lang="en-US" altLang="ko-KR" baseline="0" dirty="0" err="1"/>
              <a:t>quy</a:t>
            </a:r>
            <a:r>
              <a:rPr lang="en-US" altLang="ko-KR" baseline="0" dirty="0"/>
              <a:t> </a:t>
            </a:r>
            <a:r>
              <a:rPr lang="en-US" altLang="ko-KR" baseline="0" dirty="0" err="1"/>
              <a:t>trinh</a:t>
            </a:r>
            <a:r>
              <a:rPr lang="en-US" altLang="ko-KR" baseline="0" dirty="0"/>
              <a:t> </a:t>
            </a:r>
            <a:r>
              <a:rPr lang="en-US" altLang="ko-KR" baseline="0" dirty="0" err="1"/>
              <a:t>tổng</a:t>
            </a:r>
            <a:r>
              <a:rPr lang="en-US" altLang="ko-KR" baseline="0" dirty="0"/>
              <a:t> </a:t>
            </a:r>
            <a:r>
              <a:rPr lang="en-US" altLang="ko-KR" baseline="0" dirty="0" err="1"/>
              <a:t>quát</a:t>
            </a:r>
            <a:r>
              <a:rPr lang="en-US" altLang="ko-KR" baseline="0" dirty="0"/>
              <a:t>, </a:t>
            </a:r>
            <a:r>
              <a:rPr lang="en-US" altLang="ko-KR" baseline="0" dirty="0" err="1"/>
              <a:t>giúp</a:t>
            </a:r>
            <a:r>
              <a:rPr lang="en-US" altLang="ko-KR" baseline="0" dirty="0"/>
              <a:t> </a:t>
            </a:r>
            <a:r>
              <a:rPr lang="en-US" altLang="ko-KR" baseline="0" dirty="0" err="1"/>
              <a:t>cta</a:t>
            </a:r>
            <a:r>
              <a:rPr lang="en-US" altLang="ko-KR" baseline="0" dirty="0"/>
              <a:t> co </a:t>
            </a:r>
            <a:r>
              <a:rPr lang="en-US" altLang="ko-KR" baseline="0" dirty="0" err="1"/>
              <a:t>cai</a:t>
            </a:r>
            <a:r>
              <a:rPr lang="en-US" altLang="ko-KR" baseline="0" dirty="0"/>
              <a:t> </a:t>
            </a:r>
            <a:r>
              <a:rPr lang="en-US" altLang="ko-KR" baseline="0" dirty="0" err="1"/>
              <a:t>nhin</a:t>
            </a:r>
            <a:r>
              <a:rPr lang="en-US" altLang="ko-KR" baseline="0" dirty="0"/>
              <a:t> </a:t>
            </a:r>
            <a:r>
              <a:rPr lang="en-US" altLang="ko-KR" baseline="0" dirty="0" err="1"/>
              <a:t>tông</a:t>
            </a:r>
            <a:r>
              <a:rPr lang="en-US" altLang="ko-KR" baseline="0" dirty="0"/>
              <a:t> </a:t>
            </a:r>
            <a:r>
              <a:rPr lang="en-US" altLang="ko-KR" baseline="0" dirty="0" err="1"/>
              <a:t>quát</a:t>
            </a:r>
            <a:r>
              <a:rPr lang="en-US" altLang="ko-KR" baseline="0" dirty="0"/>
              <a:t> </a:t>
            </a:r>
            <a:r>
              <a:rPr lang="en-US" altLang="ko-KR" baseline="0" dirty="0" err="1"/>
              <a:t>về</a:t>
            </a:r>
            <a:r>
              <a:rPr lang="en-US" altLang="ko-KR" baseline="0" dirty="0"/>
              <a:t> </a:t>
            </a:r>
            <a:r>
              <a:rPr lang="en-US" altLang="ko-KR" baseline="0" dirty="0" err="1"/>
              <a:t>quy</a:t>
            </a:r>
            <a:r>
              <a:rPr lang="en-US" altLang="ko-KR" baseline="0" dirty="0"/>
              <a:t> </a:t>
            </a:r>
            <a:r>
              <a:rPr lang="en-US" altLang="ko-KR" baseline="0" dirty="0" err="1"/>
              <a:t>trình</a:t>
            </a:r>
            <a:endParaRPr lang="en-US" altLang="ko-KR" baseline="0" dirty="0"/>
          </a:p>
          <a:p>
            <a:pPr>
              <a:buFontTx/>
              <a:buNone/>
            </a:pPr>
            <a:r>
              <a:rPr lang="en-US" altLang="ko-KR" baseline="0" dirty="0"/>
              <a:t>VD: SOP </a:t>
            </a:r>
            <a:r>
              <a:rPr lang="en-US" altLang="ko-KR" baseline="0" dirty="0" err="1"/>
              <a:t>cũng</a:t>
            </a:r>
            <a:r>
              <a:rPr lang="en-US" altLang="ko-KR" baseline="0" dirty="0"/>
              <a:t> </a:t>
            </a:r>
            <a:r>
              <a:rPr lang="en-US" altLang="ko-KR" baseline="0" dirty="0" err="1"/>
              <a:t>theo</a:t>
            </a:r>
            <a:r>
              <a:rPr lang="en-US" altLang="ko-KR" baseline="0" dirty="0"/>
              <a:t> </a:t>
            </a:r>
            <a:r>
              <a:rPr lang="en-US" altLang="ko-KR" baseline="0" dirty="0" err="1"/>
              <a:t>mô</a:t>
            </a:r>
            <a:r>
              <a:rPr lang="en-US" altLang="ko-KR" baseline="0" dirty="0"/>
              <a:t> </a:t>
            </a:r>
            <a:r>
              <a:rPr lang="en-US" altLang="ko-KR" baseline="0" dirty="0" err="1"/>
              <a:t>hinh</a:t>
            </a:r>
            <a:r>
              <a:rPr lang="en-US" altLang="ko-KR" baseline="0" dirty="0"/>
              <a:t> nay</a:t>
            </a:r>
          </a:p>
          <a:p>
            <a:pPr>
              <a:buFontTx/>
              <a:buNone/>
            </a:pPr>
            <a:r>
              <a:rPr lang="en-US" altLang="ko-KR" baseline="0" dirty="0"/>
              <a:t>Process </a:t>
            </a:r>
            <a:r>
              <a:rPr lang="en-US" altLang="ko-KR" baseline="0" dirty="0" err="1"/>
              <a:t>trong</a:t>
            </a:r>
            <a:r>
              <a:rPr lang="en-US" altLang="ko-KR" baseline="0" dirty="0"/>
              <a:t> </a:t>
            </a:r>
            <a:r>
              <a:rPr lang="en-US" altLang="ko-KR" baseline="0" dirty="0" err="1"/>
              <a:t>mô</a:t>
            </a:r>
            <a:r>
              <a:rPr lang="en-US" altLang="ko-KR" baseline="0" dirty="0"/>
              <a:t> </a:t>
            </a:r>
            <a:r>
              <a:rPr lang="en-US" altLang="ko-KR" baseline="0" dirty="0" err="1"/>
              <a:t>hinh</a:t>
            </a:r>
            <a:r>
              <a:rPr lang="en-US" altLang="ko-KR" baseline="0" dirty="0"/>
              <a:t> </a:t>
            </a:r>
            <a:r>
              <a:rPr lang="en-US" altLang="ko-KR" baseline="0" dirty="0" err="1"/>
              <a:t>này</a:t>
            </a:r>
            <a:r>
              <a:rPr lang="en-US" altLang="ko-KR" baseline="0" dirty="0"/>
              <a:t> </a:t>
            </a:r>
            <a:r>
              <a:rPr lang="en-US" altLang="ko-KR" baseline="0" dirty="0" err="1"/>
              <a:t>thường</a:t>
            </a:r>
            <a:r>
              <a:rPr lang="en-US" altLang="ko-KR" baseline="0" dirty="0"/>
              <a:t> </a:t>
            </a:r>
            <a:r>
              <a:rPr lang="en-US" altLang="ko-KR" baseline="0" dirty="0" err="1"/>
              <a:t>là</a:t>
            </a:r>
            <a:r>
              <a:rPr lang="en-US" altLang="ko-KR" baseline="0" dirty="0"/>
              <a:t> process </a:t>
            </a:r>
            <a:r>
              <a:rPr lang="en-US" altLang="ko-KR" baseline="0" dirty="0" err="1"/>
              <a:t>tổng</a:t>
            </a:r>
            <a:r>
              <a:rPr lang="en-US" altLang="ko-KR" baseline="0" dirty="0"/>
              <a:t> </a:t>
            </a:r>
            <a:r>
              <a:rPr lang="en-US" altLang="ko-KR" baseline="0" dirty="0" err="1"/>
              <a:t>quát</a:t>
            </a:r>
            <a:r>
              <a:rPr lang="en-US" altLang="ko-KR" baseline="0" dirty="0"/>
              <a:t>, </a:t>
            </a:r>
            <a:r>
              <a:rPr lang="en-US" altLang="ko-KR" baseline="0" dirty="0" err="1"/>
              <a:t>dưới</a:t>
            </a:r>
            <a:r>
              <a:rPr lang="en-US" altLang="ko-KR" baseline="0" dirty="0"/>
              <a:t> 7 </a:t>
            </a:r>
            <a:r>
              <a:rPr lang="en-US" altLang="ko-KR" baseline="0" dirty="0" err="1"/>
              <a:t>bước</a:t>
            </a:r>
            <a:endParaRPr lang="en-US" altLang="ko-KR" baseline="0" dirty="0"/>
          </a:p>
          <a:p>
            <a:pPr>
              <a:buFontTx/>
              <a:buNone/>
            </a:pPr>
            <a:r>
              <a:rPr lang="en-US" altLang="ko-KR" baseline="0" dirty="0"/>
              <a:t>Reaction: feedback </a:t>
            </a:r>
            <a:r>
              <a:rPr lang="en-US" altLang="ko-KR" baseline="0" dirty="0" err="1"/>
              <a:t>của</a:t>
            </a:r>
            <a:r>
              <a:rPr lang="en-US" altLang="ko-KR" baseline="0" dirty="0"/>
              <a:t> </a:t>
            </a:r>
            <a:r>
              <a:rPr lang="en-US" altLang="ko-KR" baseline="0" dirty="0" err="1"/>
              <a:t>khách</a:t>
            </a:r>
            <a:r>
              <a:rPr lang="en-US" altLang="ko-KR" baseline="0" dirty="0"/>
              <a:t> hang</a:t>
            </a:r>
          </a:p>
          <a:p>
            <a:pPr>
              <a:buFontTx/>
              <a:buNone/>
            </a:pPr>
            <a:r>
              <a:rPr lang="en-US" altLang="ko-KR" baseline="0" dirty="0" err="1"/>
              <a:t>Kiểm</a:t>
            </a:r>
            <a:r>
              <a:rPr lang="en-US" altLang="ko-KR" baseline="0" dirty="0"/>
              <a:t> </a:t>
            </a:r>
            <a:r>
              <a:rPr lang="en-US" altLang="ko-KR" baseline="0" dirty="0" err="1"/>
              <a:t>soát</a:t>
            </a:r>
            <a:r>
              <a:rPr lang="en-US" altLang="ko-KR" baseline="0" dirty="0"/>
              <a:t> </a:t>
            </a:r>
            <a:r>
              <a:rPr lang="en-US" altLang="ko-KR" baseline="0" dirty="0" err="1"/>
              <a:t>đầu</a:t>
            </a:r>
            <a:r>
              <a:rPr lang="en-US" altLang="ko-KR" baseline="0" dirty="0"/>
              <a:t> </a:t>
            </a:r>
            <a:r>
              <a:rPr lang="en-US" altLang="ko-KR" baseline="0" dirty="0" err="1"/>
              <a:t>ra</a:t>
            </a:r>
            <a:r>
              <a:rPr lang="en-US" altLang="ko-KR" baseline="0" dirty="0"/>
              <a:t> </a:t>
            </a:r>
            <a:r>
              <a:rPr lang="en-US" altLang="ko-KR" baseline="0" dirty="0" err="1"/>
              <a:t>thông</a:t>
            </a:r>
            <a:r>
              <a:rPr lang="en-US" altLang="ko-KR" baseline="0" dirty="0"/>
              <a:t> qua </a:t>
            </a:r>
            <a:r>
              <a:rPr lang="en-US" altLang="ko-KR" baseline="0" dirty="0" err="1"/>
              <a:t>việc</a:t>
            </a:r>
            <a:r>
              <a:rPr lang="en-US" altLang="ko-KR" baseline="0" dirty="0"/>
              <a:t> </a:t>
            </a:r>
            <a:r>
              <a:rPr lang="en-US" altLang="ko-KR" baseline="0" dirty="0" err="1"/>
              <a:t>đo</a:t>
            </a:r>
            <a:r>
              <a:rPr lang="en-US" altLang="ko-KR" baseline="0" dirty="0"/>
              <a:t> </a:t>
            </a:r>
            <a:r>
              <a:rPr lang="en-US" altLang="ko-KR" baseline="0" dirty="0" err="1"/>
              <a:t>lường</a:t>
            </a:r>
            <a:r>
              <a:rPr lang="en-US" altLang="ko-KR" baseline="0" dirty="0"/>
              <a:t> </a:t>
            </a:r>
            <a:r>
              <a:rPr lang="en-US" altLang="ko-KR" baseline="0" dirty="0" err="1"/>
              <a:t>thi</a:t>
            </a:r>
            <a:r>
              <a:rPr lang="en-US" altLang="ko-KR" baseline="0" dirty="0"/>
              <a:t> vs </a:t>
            </a:r>
            <a:r>
              <a:rPr lang="en-US" altLang="ko-KR" baseline="0" dirty="0" err="1"/>
              <a:t>mỗi</a:t>
            </a:r>
            <a:r>
              <a:rPr lang="en-US" altLang="ko-KR" baseline="0" dirty="0"/>
              <a:t> </a:t>
            </a:r>
            <a:r>
              <a:rPr lang="en-US" altLang="ko-KR" baseline="0" dirty="0" err="1"/>
              <a:t>dư</a:t>
            </a:r>
            <a:r>
              <a:rPr lang="en-US" altLang="ko-KR" baseline="0" dirty="0"/>
              <a:t> </a:t>
            </a:r>
            <a:r>
              <a:rPr lang="en-US" altLang="ko-KR" baseline="0" dirty="0" err="1"/>
              <a:t>liệu</a:t>
            </a:r>
            <a:r>
              <a:rPr lang="en-US" altLang="ko-KR" baseline="0" dirty="0"/>
              <a:t> </a:t>
            </a:r>
            <a:r>
              <a:rPr lang="en-US" altLang="ko-KR" baseline="0" dirty="0" err="1"/>
              <a:t>đo</a:t>
            </a:r>
            <a:r>
              <a:rPr lang="en-US" altLang="ko-KR" baseline="0" dirty="0"/>
              <a:t> </a:t>
            </a:r>
            <a:r>
              <a:rPr lang="en-US" altLang="ko-KR" baseline="0" dirty="0" err="1"/>
              <a:t>lường</a:t>
            </a:r>
            <a:r>
              <a:rPr lang="en-US" altLang="ko-KR" baseline="0" dirty="0"/>
              <a:t> </a:t>
            </a:r>
            <a:r>
              <a:rPr lang="en-US" altLang="ko-KR" baseline="0" dirty="0" err="1"/>
              <a:t>fai</a:t>
            </a:r>
            <a:r>
              <a:rPr lang="en-US" altLang="ko-KR" baseline="0" dirty="0"/>
              <a:t> </a:t>
            </a:r>
            <a:r>
              <a:rPr lang="en-US" altLang="ko-KR" baseline="0" dirty="0" err="1"/>
              <a:t>đi</a:t>
            </a:r>
            <a:r>
              <a:rPr lang="en-US" altLang="ko-KR" baseline="0" dirty="0"/>
              <a:t> </a:t>
            </a:r>
            <a:r>
              <a:rPr lang="en-US" altLang="ko-KR" baseline="0" dirty="0" err="1"/>
              <a:t>kèm</a:t>
            </a:r>
            <a:r>
              <a:rPr lang="en-US" altLang="ko-KR" baseline="0" dirty="0"/>
              <a:t> vs 1 data resume (</a:t>
            </a:r>
            <a:r>
              <a:rPr lang="en-US" altLang="ko-KR" baseline="0" dirty="0" err="1"/>
              <a:t>toàn</a:t>
            </a:r>
            <a:r>
              <a:rPr lang="en-US" altLang="ko-KR" baseline="0" dirty="0"/>
              <a:t> </a:t>
            </a:r>
            <a:r>
              <a:rPr lang="en-US" altLang="ko-KR" baseline="0" dirty="0" err="1"/>
              <a:t>bộ</a:t>
            </a:r>
            <a:r>
              <a:rPr lang="en-US" altLang="ko-KR" baseline="0" dirty="0"/>
              <a:t> </a:t>
            </a:r>
            <a:r>
              <a:rPr lang="en-US" altLang="ko-KR" baseline="0" dirty="0" err="1"/>
              <a:t>thông</a:t>
            </a:r>
            <a:r>
              <a:rPr lang="en-US" altLang="ko-KR" baseline="0" dirty="0"/>
              <a:t> tin </a:t>
            </a:r>
            <a:r>
              <a:rPr lang="en-US" altLang="ko-KR" baseline="0" dirty="0" err="1"/>
              <a:t>kèm</a:t>
            </a:r>
            <a:r>
              <a:rPr lang="en-US" altLang="ko-KR" baseline="0" dirty="0"/>
              <a:t> </a:t>
            </a:r>
            <a:r>
              <a:rPr lang="en-US" altLang="ko-KR" baseline="0" dirty="0" err="1"/>
              <a:t>theo</a:t>
            </a:r>
            <a:r>
              <a:rPr lang="en-US" altLang="ko-KR" baseline="0" dirty="0"/>
              <a:t> vs </a:t>
            </a:r>
            <a:r>
              <a:rPr lang="en-US" altLang="ko-KR" baseline="0" dirty="0" err="1"/>
              <a:t>dữ</a:t>
            </a:r>
            <a:r>
              <a:rPr lang="en-US" altLang="ko-KR" baseline="0" dirty="0"/>
              <a:t> lieu </a:t>
            </a:r>
            <a:r>
              <a:rPr lang="en-US" altLang="ko-KR" baseline="0" dirty="0" err="1"/>
              <a:t>đó</a:t>
            </a:r>
            <a:r>
              <a:rPr lang="en-US" altLang="ko-KR" baseline="0" dirty="0"/>
              <a:t>, </a:t>
            </a:r>
            <a:r>
              <a:rPr lang="en-US" altLang="ko-KR" baseline="0" dirty="0" err="1"/>
              <a:t>bao</a:t>
            </a:r>
            <a:r>
              <a:rPr lang="en-US" altLang="ko-KR" baseline="0" dirty="0"/>
              <a:t> </a:t>
            </a:r>
            <a:r>
              <a:rPr lang="en-US" altLang="ko-KR" baseline="0" dirty="0" err="1"/>
              <a:t>gồm</a:t>
            </a:r>
            <a:r>
              <a:rPr lang="en-US" altLang="ko-KR" baseline="0" dirty="0"/>
              <a:t> </a:t>
            </a:r>
            <a:r>
              <a:rPr lang="en-US" altLang="ko-KR" baseline="0" dirty="0" err="1"/>
              <a:t>các</a:t>
            </a:r>
            <a:r>
              <a:rPr lang="en-US" altLang="ko-KR" baseline="0" dirty="0"/>
              <a:t> </a:t>
            </a:r>
            <a:r>
              <a:rPr lang="en-US" altLang="ko-KR" baseline="0" dirty="0" err="1"/>
              <a:t>hạng</a:t>
            </a:r>
            <a:r>
              <a:rPr lang="en-US" altLang="ko-KR" baseline="0" dirty="0"/>
              <a:t> </a:t>
            </a:r>
            <a:r>
              <a:rPr lang="en-US" altLang="ko-KR" baseline="0" dirty="0" err="1"/>
              <a:t>mục</a:t>
            </a:r>
            <a:r>
              <a:rPr lang="en-US" altLang="ko-KR" baseline="0" dirty="0"/>
              <a:t> </a:t>
            </a:r>
            <a:r>
              <a:rPr lang="en-US" altLang="ko-KR" baseline="0" dirty="0" err="1"/>
              <a:t>như</a:t>
            </a:r>
            <a:r>
              <a:rPr lang="en-US" altLang="ko-KR" baseline="0" dirty="0"/>
              <a:t> </a:t>
            </a:r>
            <a:r>
              <a:rPr lang="en-US" altLang="ko-KR" baseline="0" dirty="0" err="1"/>
              <a:t>ảnh</a:t>
            </a:r>
            <a:r>
              <a:rPr lang="en-US" altLang="ko-KR" baseline="0" dirty="0"/>
              <a:t>)</a:t>
            </a:r>
          </a:p>
          <a:p>
            <a:pPr>
              <a:buFontTx/>
              <a:buNone/>
            </a:pPr>
            <a:r>
              <a:rPr lang="en-US" altLang="ko-KR" baseline="0" dirty="0"/>
              <a:t>VD: </a:t>
            </a:r>
            <a:r>
              <a:rPr lang="en-US" altLang="ko-KR" baseline="0" dirty="0" err="1"/>
              <a:t>đo</a:t>
            </a:r>
            <a:r>
              <a:rPr lang="en-US" altLang="ko-KR" baseline="0" dirty="0"/>
              <a:t> </a:t>
            </a:r>
            <a:r>
              <a:rPr lang="en-US" altLang="ko-KR" baseline="0" dirty="0" err="1"/>
              <a:t>lương</a:t>
            </a:r>
            <a:r>
              <a:rPr lang="en-US" altLang="ko-KR" baseline="0" dirty="0"/>
              <a:t> 1 </a:t>
            </a:r>
            <a:r>
              <a:rPr lang="en-US" altLang="ko-KR" baseline="0" dirty="0" err="1"/>
              <a:t>cái</a:t>
            </a:r>
            <a:r>
              <a:rPr lang="en-US" altLang="ko-KR" baseline="0" dirty="0"/>
              <a:t> </a:t>
            </a:r>
            <a:r>
              <a:rPr lang="en-US" altLang="ko-KR" baseline="0" dirty="0" err="1"/>
              <a:t>bút</a:t>
            </a:r>
            <a:r>
              <a:rPr lang="en-US" altLang="ko-KR" baseline="0" dirty="0"/>
              <a:t>, </a:t>
            </a:r>
            <a:r>
              <a:rPr lang="en-US" altLang="ko-KR" baseline="0" dirty="0" err="1"/>
              <a:t>fai</a:t>
            </a:r>
            <a:r>
              <a:rPr lang="en-US" altLang="ko-KR" baseline="0" dirty="0"/>
              <a:t> </a:t>
            </a:r>
            <a:r>
              <a:rPr lang="en-US" altLang="ko-KR" baseline="0" dirty="0" err="1"/>
              <a:t>biết</a:t>
            </a:r>
            <a:r>
              <a:rPr lang="en-US" altLang="ko-KR" baseline="0" dirty="0"/>
              <a:t> </a:t>
            </a:r>
            <a:r>
              <a:rPr lang="en-US" altLang="ko-KR" baseline="0" dirty="0" err="1"/>
              <a:t>thông</a:t>
            </a:r>
            <a:r>
              <a:rPr lang="en-US" altLang="ko-KR" baseline="0" dirty="0"/>
              <a:t> tin basic </a:t>
            </a:r>
            <a:r>
              <a:rPr lang="en-US" altLang="ko-KR" baseline="0" dirty="0" err="1"/>
              <a:t>của</a:t>
            </a:r>
            <a:r>
              <a:rPr lang="en-US" altLang="ko-KR" baseline="0" dirty="0"/>
              <a:t> </a:t>
            </a:r>
            <a:r>
              <a:rPr lang="en-US" altLang="ko-KR" baseline="0" dirty="0" err="1"/>
              <a:t>cái</a:t>
            </a:r>
            <a:r>
              <a:rPr lang="en-US" altLang="ko-KR" baseline="0" dirty="0"/>
              <a:t> </a:t>
            </a:r>
            <a:r>
              <a:rPr lang="en-US" altLang="ko-KR" baseline="0" dirty="0" err="1"/>
              <a:t>bút</a:t>
            </a:r>
            <a:r>
              <a:rPr lang="en-US" altLang="ko-KR" baseline="0" dirty="0"/>
              <a:t> </a:t>
            </a:r>
            <a:r>
              <a:rPr lang="en-US" altLang="ko-KR" baseline="0" dirty="0" err="1"/>
              <a:t>đí</a:t>
            </a:r>
            <a:r>
              <a:rPr lang="en-US" altLang="ko-KR" baseline="0" dirty="0"/>
              <a:t>, </a:t>
            </a:r>
            <a:r>
              <a:rPr lang="en-US" altLang="ko-KR" baseline="0" dirty="0" err="1"/>
              <a:t>đk</a:t>
            </a:r>
            <a:r>
              <a:rPr lang="en-US" altLang="ko-KR" baseline="0" dirty="0"/>
              <a:t> 5M1E </a:t>
            </a:r>
            <a:r>
              <a:rPr lang="en-US" altLang="ko-KR" baseline="0" dirty="0" err="1"/>
              <a:t>của</a:t>
            </a:r>
            <a:r>
              <a:rPr lang="en-US" altLang="ko-KR" baseline="0" dirty="0"/>
              <a:t> </a:t>
            </a:r>
            <a:r>
              <a:rPr lang="en-US" altLang="ko-KR" baseline="0" dirty="0" err="1"/>
              <a:t>chuyền</a:t>
            </a:r>
            <a:r>
              <a:rPr lang="en-US" altLang="ko-KR" baseline="0" dirty="0"/>
              <a:t> </a:t>
            </a:r>
            <a:r>
              <a:rPr lang="en-US" altLang="ko-KR" baseline="0" dirty="0" err="1"/>
              <a:t>sx</a:t>
            </a:r>
            <a:r>
              <a:rPr lang="en-US" altLang="ko-KR" baseline="0" dirty="0"/>
              <a:t> but </a:t>
            </a:r>
            <a:r>
              <a:rPr lang="en-US" altLang="ko-KR" baseline="0" dirty="0" err="1"/>
              <a:t>đó</a:t>
            </a:r>
            <a:r>
              <a:rPr lang="en-US" altLang="ko-KR" baseline="0" dirty="0"/>
              <a:t>, </a:t>
            </a:r>
            <a:r>
              <a:rPr lang="en-US" altLang="ko-KR" baseline="0" dirty="0" err="1"/>
              <a:t>dự</a:t>
            </a:r>
            <a:r>
              <a:rPr lang="en-US" altLang="ko-KR" baseline="0" dirty="0"/>
              <a:t> </a:t>
            </a:r>
            <a:r>
              <a:rPr lang="en-US" altLang="ko-KR" baseline="0" dirty="0" err="1"/>
              <a:t>đoán</a:t>
            </a:r>
            <a:r>
              <a:rPr lang="en-US" altLang="ko-KR" baseline="0" dirty="0"/>
              <a:t> feedback </a:t>
            </a:r>
            <a:r>
              <a:rPr lang="en-US" altLang="ko-KR" baseline="0" dirty="0" err="1"/>
              <a:t>khách</a:t>
            </a:r>
            <a:r>
              <a:rPr lang="en-US" altLang="ko-KR" baseline="0" dirty="0"/>
              <a:t> hang, </a:t>
            </a:r>
            <a:r>
              <a:rPr lang="en-US" altLang="ko-KR" baseline="0" dirty="0" err="1"/>
              <a:t>đk</a:t>
            </a:r>
            <a:r>
              <a:rPr lang="en-US" altLang="ko-KR" baseline="0" dirty="0"/>
              <a:t> </a:t>
            </a:r>
            <a:r>
              <a:rPr lang="en-US" altLang="ko-KR" baseline="0" dirty="0" err="1"/>
              <a:t>liên</a:t>
            </a:r>
            <a:r>
              <a:rPr lang="en-US" altLang="ko-KR" baseline="0" dirty="0"/>
              <a:t> </a:t>
            </a:r>
            <a:r>
              <a:rPr lang="en-US" altLang="ko-KR" baseline="0" dirty="0" err="1"/>
              <a:t>quan</a:t>
            </a:r>
            <a:r>
              <a:rPr lang="en-US" altLang="ko-KR" baseline="0" dirty="0"/>
              <a:t> </a:t>
            </a:r>
            <a:r>
              <a:rPr lang="en-US" altLang="ko-KR" baseline="0" dirty="0" err="1"/>
              <a:t>đến</a:t>
            </a:r>
            <a:r>
              <a:rPr lang="en-US" altLang="ko-KR" baseline="0" dirty="0"/>
              <a:t> fixing </a:t>
            </a:r>
            <a:r>
              <a:rPr lang="en-US" altLang="ko-KR" baseline="0" dirty="0" err="1"/>
              <a:t>máy</a:t>
            </a:r>
            <a:r>
              <a:rPr lang="en-US" altLang="ko-KR" baseline="0" dirty="0"/>
              <a:t> </a:t>
            </a:r>
            <a:r>
              <a:rPr lang="en-US" altLang="ko-KR" baseline="0" dirty="0" err="1"/>
              <a:t>móc</a:t>
            </a:r>
            <a:r>
              <a:rPr lang="en-US" altLang="ko-KR" baseline="0" dirty="0"/>
              <a:t> </a:t>
            </a:r>
            <a:r>
              <a:rPr lang="en-US" altLang="ko-KR" baseline="0" dirty="0" err="1"/>
              <a:t>kèm</a:t>
            </a:r>
            <a:r>
              <a:rPr lang="en-US" altLang="ko-KR" baseline="0" dirty="0"/>
              <a:t> </a:t>
            </a:r>
            <a:r>
              <a:rPr lang="en-US" altLang="ko-KR" baseline="0" dirty="0" err="1"/>
              <a:t>theo</a:t>
            </a:r>
            <a:r>
              <a:rPr lang="en-US" altLang="ko-KR" baseline="0" dirty="0"/>
              <a:t>, </a:t>
            </a:r>
            <a:r>
              <a:rPr lang="en-US" altLang="ko-KR" baseline="0" dirty="0" err="1"/>
              <a:t>đk</a:t>
            </a:r>
            <a:r>
              <a:rPr lang="en-US" altLang="ko-KR" baseline="0" dirty="0"/>
              <a:t> </a:t>
            </a:r>
            <a:r>
              <a:rPr lang="en-US" altLang="ko-KR" baseline="0" dirty="0" err="1"/>
              <a:t>môi</a:t>
            </a:r>
            <a:r>
              <a:rPr lang="en-US" altLang="ko-KR" baseline="0" dirty="0"/>
              <a:t> </a:t>
            </a:r>
            <a:r>
              <a:rPr lang="en-US" altLang="ko-KR" baseline="0" dirty="0" err="1"/>
              <a:t>trường</a:t>
            </a:r>
            <a:r>
              <a:rPr lang="en-US" altLang="ko-KR" baseline="0" dirty="0"/>
              <a:t>, </a:t>
            </a:r>
            <a:r>
              <a:rPr lang="en-US" altLang="ko-KR" baseline="0" dirty="0" err="1"/>
              <a:t>những</a:t>
            </a:r>
            <a:r>
              <a:rPr lang="en-US" altLang="ko-KR" baseline="0" dirty="0"/>
              <a:t> issue </a:t>
            </a:r>
            <a:r>
              <a:rPr lang="en-US" altLang="ko-KR" baseline="0" dirty="0" err="1"/>
              <a:t>bât</a:t>
            </a:r>
            <a:r>
              <a:rPr lang="en-US" altLang="ko-KR" baseline="0" dirty="0"/>
              <a:t> </a:t>
            </a:r>
            <a:r>
              <a:rPr lang="en-US" altLang="ko-KR" baseline="0" dirty="0" err="1"/>
              <a:t>thường</a:t>
            </a:r>
            <a:r>
              <a:rPr lang="en-US" altLang="ko-KR" baseline="0" dirty="0"/>
              <a:t> </a:t>
            </a:r>
            <a:r>
              <a:rPr lang="en-US" altLang="ko-KR" baseline="0" dirty="0" err="1"/>
              <a:t>trong</a:t>
            </a:r>
            <a:r>
              <a:rPr lang="en-US" altLang="ko-KR" baseline="0" dirty="0"/>
              <a:t> qua </a:t>
            </a:r>
            <a:r>
              <a:rPr lang="en-US" altLang="ko-KR" baseline="0" dirty="0" err="1"/>
              <a:t>trinh</a:t>
            </a:r>
            <a:r>
              <a:rPr lang="en-US" altLang="ko-KR" baseline="0" dirty="0"/>
              <a:t> </a:t>
            </a:r>
            <a:r>
              <a:rPr lang="en-US" altLang="ko-KR" baseline="0" dirty="0" err="1"/>
              <a:t>sx</a:t>
            </a:r>
            <a:r>
              <a:rPr lang="en-US" altLang="ko-KR" baseline="0" dirty="0">
                <a:sym typeface="Wingdings" panose="05000000000000000000" pitchFamily="2" charset="2"/>
              </a:rPr>
              <a:t> data resume </a:t>
            </a:r>
            <a:r>
              <a:rPr lang="en-US" altLang="ko-KR" baseline="0" dirty="0" err="1">
                <a:sym typeface="Wingdings" panose="05000000000000000000" pitchFamily="2" charset="2"/>
              </a:rPr>
              <a:t>chinh</a:t>
            </a:r>
            <a:r>
              <a:rPr lang="en-US" altLang="ko-KR" baseline="0" dirty="0">
                <a:sym typeface="Wingdings" panose="05000000000000000000" pitchFamily="2" charset="2"/>
              </a:rPr>
              <a:t> la lich </a:t>
            </a:r>
            <a:r>
              <a:rPr lang="en-US" altLang="ko-KR" baseline="0" dirty="0" err="1">
                <a:sym typeface="Wingdings" panose="05000000000000000000" pitchFamily="2" charset="2"/>
              </a:rPr>
              <a:t>sư</a:t>
            </a:r>
            <a:r>
              <a:rPr lang="en-US" altLang="ko-KR" baseline="0" dirty="0">
                <a:sym typeface="Wingdings" panose="05000000000000000000" pitchFamily="2" charset="2"/>
              </a:rPr>
              <a:t> </a:t>
            </a:r>
            <a:r>
              <a:rPr lang="en-US" altLang="ko-KR" baseline="0" dirty="0" err="1">
                <a:sym typeface="Wingdings" panose="05000000000000000000" pitchFamily="2" charset="2"/>
              </a:rPr>
              <a:t>dư</a:t>
            </a:r>
            <a:r>
              <a:rPr lang="en-US" altLang="ko-KR" baseline="0" dirty="0">
                <a:sym typeface="Wingdings" panose="05000000000000000000" pitchFamily="2" charset="2"/>
              </a:rPr>
              <a:t> </a:t>
            </a:r>
            <a:r>
              <a:rPr lang="en-US" altLang="ko-KR" baseline="0" dirty="0" err="1">
                <a:sym typeface="Wingdings" panose="05000000000000000000" pitchFamily="2" charset="2"/>
              </a:rPr>
              <a:t>liệu</a:t>
            </a:r>
            <a:r>
              <a:rPr lang="en-US" altLang="ko-KR" baseline="0" dirty="0">
                <a:sym typeface="Wingdings" panose="05000000000000000000" pitchFamily="2" charset="2"/>
              </a:rPr>
              <a:t> </a:t>
            </a:r>
            <a:r>
              <a:rPr lang="en-US" altLang="ko-KR" baseline="0" dirty="0" err="1">
                <a:sym typeface="Wingdings" panose="05000000000000000000" pitchFamily="2" charset="2"/>
              </a:rPr>
              <a:t>để</a:t>
            </a:r>
            <a:r>
              <a:rPr lang="en-US" altLang="ko-KR" baseline="0" dirty="0">
                <a:sym typeface="Wingdings" panose="05000000000000000000" pitchFamily="2" charset="2"/>
              </a:rPr>
              <a:t> </a:t>
            </a:r>
            <a:r>
              <a:rPr lang="en-US" altLang="ko-KR" baseline="0" dirty="0" err="1">
                <a:sym typeface="Wingdings" panose="05000000000000000000" pitchFamily="2" charset="2"/>
              </a:rPr>
              <a:t>giup</a:t>
            </a:r>
            <a:r>
              <a:rPr lang="en-US" altLang="ko-KR" baseline="0" dirty="0">
                <a:sym typeface="Wingdings" panose="05000000000000000000" pitchFamily="2" charset="2"/>
              </a:rPr>
              <a:t> </a:t>
            </a:r>
            <a:r>
              <a:rPr lang="en-US" altLang="ko-KR" baseline="0" dirty="0" err="1">
                <a:sym typeface="Wingdings" panose="05000000000000000000" pitchFamily="2" charset="2"/>
              </a:rPr>
              <a:t>tim</a:t>
            </a:r>
            <a:r>
              <a:rPr lang="en-US" altLang="ko-KR" baseline="0" dirty="0">
                <a:sym typeface="Wingdings" panose="05000000000000000000" pitchFamily="2" charset="2"/>
              </a:rPr>
              <a:t> </a:t>
            </a:r>
            <a:r>
              <a:rPr lang="en-US" altLang="ko-KR" baseline="0" dirty="0" err="1">
                <a:sym typeface="Wingdings" panose="05000000000000000000" pitchFamily="2" charset="2"/>
              </a:rPr>
              <a:t>ra</a:t>
            </a:r>
            <a:r>
              <a:rPr lang="en-US" altLang="ko-KR" baseline="0" dirty="0">
                <a:sym typeface="Wingdings" panose="05000000000000000000" pitchFamily="2" charset="2"/>
              </a:rPr>
              <a:t> </a:t>
            </a:r>
            <a:r>
              <a:rPr lang="en-US" altLang="ko-KR" baseline="0" dirty="0" err="1">
                <a:sym typeface="Wingdings" panose="05000000000000000000" pitchFamily="2" charset="2"/>
              </a:rPr>
              <a:t>nguyên</a:t>
            </a:r>
            <a:r>
              <a:rPr lang="en-US" altLang="ko-KR" baseline="0" dirty="0">
                <a:sym typeface="Wingdings" panose="05000000000000000000" pitchFamily="2" charset="2"/>
              </a:rPr>
              <a:t> </a:t>
            </a:r>
            <a:r>
              <a:rPr lang="en-US" altLang="ko-KR" baseline="0" dirty="0" err="1">
                <a:sym typeface="Wingdings" panose="05000000000000000000" pitchFamily="2" charset="2"/>
              </a:rPr>
              <a:t>nhân</a:t>
            </a:r>
            <a:r>
              <a:rPr lang="en-US" altLang="ko-KR" baseline="0" dirty="0">
                <a:sym typeface="Wingdings" panose="05000000000000000000" pitchFamily="2" charset="2"/>
              </a:rPr>
              <a:t> </a:t>
            </a:r>
            <a:r>
              <a:rPr lang="en-US" altLang="ko-KR" baseline="0" dirty="0" err="1">
                <a:sym typeface="Wingdings" panose="05000000000000000000" pitchFamily="2" charset="2"/>
              </a:rPr>
              <a:t>khi</a:t>
            </a:r>
            <a:r>
              <a:rPr lang="en-US" altLang="ko-KR" baseline="0" dirty="0">
                <a:sym typeface="Wingdings" panose="05000000000000000000" pitchFamily="2" charset="2"/>
              </a:rPr>
              <a:t> </a:t>
            </a:r>
            <a:r>
              <a:rPr lang="en-US" altLang="ko-KR" baseline="0" dirty="0" err="1">
                <a:sym typeface="Wingdings" panose="05000000000000000000" pitchFamily="2" charset="2"/>
              </a:rPr>
              <a:t>phat</a:t>
            </a:r>
            <a:r>
              <a:rPr lang="en-US" altLang="ko-KR" baseline="0" dirty="0">
                <a:sym typeface="Wingdings" panose="05000000000000000000" pitchFamily="2" charset="2"/>
              </a:rPr>
              <a:t> </a:t>
            </a:r>
            <a:r>
              <a:rPr lang="en-US" altLang="ko-KR" baseline="0" dirty="0" err="1">
                <a:sym typeface="Wingdings" panose="05000000000000000000" pitchFamily="2" charset="2"/>
              </a:rPr>
              <a:t>sinh</a:t>
            </a:r>
            <a:r>
              <a:rPr lang="en-US" altLang="ko-KR" baseline="0" dirty="0">
                <a:sym typeface="Wingdings" panose="05000000000000000000" pitchFamily="2" charset="2"/>
              </a:rPr>
              <a:t> </a:t>
            </a:r>
            <a:r>
              <a:rPr lang="en-US" altLang="ko-KR" baseline="0" dirty="0" err="1">
                <a:sym typeface="Wingdings" panose="05000000000000000000" pitchFamily="2" charset="2"/>
              </a:rPr>
              <a:t>vđ</a:t>
            </a:r>
            <a:endParaRPr lang="ko-KR" altLang="en-US" dirty="0"/>
          </a:p>
        </p:txBody>
      </p:sp>
      <p:sp>
        <p:nvSpPr>
          <p:cNvPr id="4" name="슬라이드 번호 개체 틀 3"/>
          <p:cNvSpPr>
            <a:spLocks noGrp="1"/>
          </p:cNvSpPr>
          <p:nvPr>
            <p:ph type="sldNum" sz="quarter" idx="5"/>
          </p:nvPr>
        </p:nvSpPr>
        <p:spPr/>
        <p:txBody>
          <a:bodyPr/>
          <a:lstStyle/>
          <a:p>
            <a:pPr>
              <a:defRPr/>
            </a:pPr>
            <a:fld id="{03452C9F-7A2A-48E3-B6A5-B9EC02EF4971}" type="slidenum">
              <a:rPr lang="ko-KR" altLang="en-US" smtClean="0"/>
              <a:pPr>
                <a:defRPr/>
              </a:pPr>
              <a:t>40</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74528448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AB5D8039-6D3B-4149-A606-98987BB98561}" type="slidenum">
              <a:rPr lang="ko-KR" altLang="en-US" smtClean="0"/>
              <a:pPr>
                <a:defRPr/>
              </a:pPr>
              <a:t>41</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35259642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830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4C5F6BAD-4B70-4F22-A179-150E7A3B1C93}" type="slidenum">
              <a:rPr lang="ko-KR" altLang="en-US" smtClean="0"/>
              <a:pPr>
                <a:defRPr/>
              </a:pPr>
              <a:t>44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72152591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AB5D8039-6D3B-4149-A606-98987BB98561}" type="slidenum">
              <a:rPr lang="ko-KR" altLang="en-US" smtClean="0"/>
              <a:pPr>
                <a:defRPr/>
              </a:pPr>
              <a:t>47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35259642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933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vi-VN" sz="1200" b="0" i="0" kern="1200" dirty="0">
                <a:solidFill>
                  <a:schemeClr val="tx1"/>
                </a:solidFill>
                <a:effectLst/>
                <a:latin typeface="+mn-lt"/>
                <a:ea typeface="+mn-ea"/>
                <a:cs typeface="+mn-cs"/>
              </a:rPr>
              <a:t>Và đó là lý do tại sao phải sử dụng (n-1) thay vì n khi tính phương sai/độ lệch chuẩn cho sample. Ý tưởng là để điều chỉnh cho những “thiên vị” (bias) khi chọn mẫu. Nếu tôi lấy 1 sample gồm 30 quan sát, rồi tính mean cho sample đó; sau đó lấy tiếp 30 quan sát khác, thì chỉ có 29 quan sát được phép tự do thay đổi </a:t>
            </a:r>
            <a:r>
              <a:rPr lang="vi-VN" sz="1200" b="1" i="0" u="sng" kern="1200" dirty="0">
                <a:solidFill>
                  <a:schemeClr val="tx1"/>
                </a:solidFill>
                <a:effectLst/>
                <a:latin typeface="+mn-lt"/>
                <a:ea typeface="+mn-ea"/>
                <a:cs typeface="+mn-cs"/>
              </a:rPr>
              <a:t>nếu như muốn sample mean không đổi</a:t>
            </a:r>
            <a:r>
              <a:rPr lang="vi-VN" sz="1200" b="0" i="0" kern="1200" dirty="0">
                <a:solidFill>
                  <a:schemeClr val="tx1"/>
                </a:solidFill>
                <a:effectLst/>
                <a:latin typeface="+mn-lt"/>
                <a:ea typeface="+mn-ea"/>
                <a:cs typeface="+mn-cs"/>
              </a:rPr>
              <a:t>. Nói cách khác, sau khi lấy ngẫu nhiên 29 quan sát đầu tiên, chỉ có duy nhất 1 giá trị cho quan sát thứ 30 đưa lại giá trị sample mean như cũ. Như vậy, tôi đã mất </a:t>
            </a:r>
            <a:r>
              <a:rPr lang="vi-VN" sz="1200" b="1" i="0" kern="1200" dirty="0">
                <a:solidFill>
                  <a:schemeClr val="tx1"/>
                </a:solidFill>
                <a:effectLst/>
                <a:latin typeface="+mn-lt"/>
                <a:ea typeface="+mn-ea"/>
                <a:cs typeface="+mn-cs"/>
              </a:rPr>
              <a:t>1 bậc tự do </a:t>
            </a:r>
            <a:r>
              <a:rPr lang="vi-VN" sz="1200" b="1" i="1" kern="1200" dirty="0">
                <a:solidFill>
                  <a:schemeClr val="tx1"/>
                </a:solidFill>
                <a:effectLst/>
                <a:latin typeface="+mn-lt"/>
                <a:ea typeface="+mn-ea"/>
                <a:cs typeface="+mn-cs"/>
              </a:rPr>
              <a:t>(1 degree of freedom). </a:t>
            </a:r>
            <a:r>
              <a:rPr lang="vi-VN" sz="1200" b="1" i="0" kern="1200" dirty="0">
                <a:solidFill>
                  <a:schemeClr val="tx1"/>
                </a:solidFill>
                <a:effectLst/>
                <a:latin typeface="+mn-lt"/>
                <a:ea typeface="+mn-ea"/>
                <a:cs typeface="+mn-cs"/>
              </a:rPr>
              <a:t>Số 1 này chính là điều chỉnh từ n thành (n-1).</a:t>
            </a:r>
            <a:endParaRPr lang="en-US" sz="1200" b="1" i="0" kern="1200" dirty="0">
              <a:solidFill>
                <a:schemeClr val="tx1"/>
              </a:solidFill>
              <a:effectLst/>
              <a:latin typeface="+mn-lt"/>
              <a:ea typeface="+mn-ea"/>
              <a:cs typeface="+mn-cs"/>
            </a:endParaRPr>
          </a:p>
          <a:p>
            <a:endParaRPr lang="ko-KR" altLang="en-US" dirty="0"/>
          </a:p>
        </p:txBody>
      </p:sp>
      <p:sp>
        <p:nvSpPr>
          <p:cNvPr id="4" name="슬라이드 번호 개체 틀 3"/>
          <p:cNvSpPr>
            <a:spLocks noGrp="1"/>
          </p:cNvSpPr>
          <p:nvPr>
            <p:ph type="sldNum" sz="quarter" idx="5"/>
          </p:nvPr>
        </p:nvSpPr>
        <p:spPr/>
        <p:txBody>
          <a:bodyPr/>
          <a:lstStyle/>
          <a:p>
            <a:pPr>
              <a:defRPr/>
            </a:pPr>
            <a:fld id="{348412DF-89D3-44C7-9BBC-CC9C0050C5DD}" type="slidenum">
              <a:rPr lang="ko-KR" altLang="en-US" smtClean="0"/>
              <a:pPr>
                <a:defRPr/>
              </a:pPr>
              <a:t>48</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34326359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1" i="0" kern="1200" dirty="0">
                <a:solidFill>
                  <a:schemeClr val="tx1"/>
                </a:solidFill>
                <a:effectLst/>
                <a:latin typeface="+mn-lt"/>
                <a:ea typeface="+mn-ea"/>
                <a:cs typeface="+mn-cs"/>
              </a:rPr>
              <a:t>Q1 = 25 * (n+1) / 100</a:t>
            </a:r>
          </a:p>
          <a:p>
            <a:r>
              <a:rPr lang="en-US" sz="1200" b="1" i="0" kern="1200" dirty="0">
                <a:solidFill>
                  <a:schemeClr val="tx1"/>
                </a:solidFill>
                <a:effectLst/>
                <a:latin typeface="+mn-lt"/>
                <a:ea typeface="+mn-ea"/>
                <a:cs typeface="+mn-cs"/>
              </a:rPr>
              <a:t>Q3 = 75 * (n+1) / 100</a:t>
            </a:r>
          </a:p>
          <a:p>
            <a:r>
              <a:rPr lang="en-US" dirty="0" err="1"/>
              <a:t>Thông</a:t>
            </a:r>
            <a:r>
              <a:rPr lang="en-US" baseline="0" dirty="0"/>
              <a:t> </a:t>
            </a:r>
            <a:r>
              <a:rPr lang="en-US" baseline="0" dirty="0" err="1"/>
              <a:t>thường</a:t>
            </a:r>
            <a:r>
              <a:rPr lang="en-US" baseline="0" dirty="0"/>
              <a:t> </a:t>
            </a:r>
            <a:r>
              <a:rPr lang="en-US" baseline="0" dirty="0" err="1"/>
              <a:t>để</a:t>
            </a:r>
            <a:r>
              <a:rPr lang="en-US" baseline="0" dirty="0"/>
              <a:t> </a:t>
            </a:r>
            <a:r>
              <a:rPr lang="en-US" baseline="0" dirty="0" err="1"/>
              <a:t>thể</a:t>
            </a:r>
            <a:r>
              <a:rPr lang="en-US" baseline="0" dirty="0"/>
              <a:t> </a:t>
            </a:r>
            <a:r>
              <a:rPr lang="en-US" baseline="0" dirty="0" err="1"/>
              <a:t>hiện</a:t>
            </a:r>
            <a:r>
              <a:rPr lang="en-US" baseline="0" dirty="0"/>
              <a:t> </a:t>
            </a:r>
            <a:r>
              <a:rPr lang="en-US" baseline="0" dirty="0" err="1"/>
              <a:t>dữ</a:t>
            </a:r>
            <a:r>
              <a:rPr lang="en-US" baseline="0" dirty="0"/>
              <a:t> </a:t>
            </a:r>
            <a:r>
              <a:rPr lang="en-US" baseline="0" dirty="0" err="1"/>
              <a:t>liêu</a:t>
            </a:r>
            <a:r>
              <a:rPr lang="en-US" baseline="0" dirty="0"/>
              <a:t> </a:t>
            </a:r>
            <a:r>
              <a:rPr lang="en-US" baseline="0" dirty="0" err="1"/>
              <a:t>có</a:t>
            </a:r>
            <a:r>
              <a:rPr lang="en-US" baseline="0" dirty="0"/>
              <a:t> </a:t>
            </a:r>
            <a:r>
              <a:rPr lang="en-US" baseline="0" dirty="0" err="1"/>
              <a:t>nhiều</a:t>
            </a:r>
            <a:r>
              <a:rPr lang="en-US" baseline="0" dirty="0"/>
              <a:t> </a:t>
            </a:r>
            <a:r>
              <a:rPr lang="en-US" baseline="0" dirty="0" err="1"/>
              <a:t>cách</a:t>
            </a:r>
            <a:r>
              <a:rPr lang="en-US" baseline="0" dirty="0"/>
              <a:t>, </a:t>
            </a:r>
            <a:r>
              <a:rPr lang="en-US" baseline="0" dirty="0" err="1"/>
              <a:t>cơ</a:t>
            </a:r>
            <a:r>
              <a:rPr lang="en-US" baseline="0" dirty="0"/>
              <a:t> </a:t>
            </a:r>
            <a:r>
              <a:rPr lang="en-US" baseline="0" dirty="0" err="1"/>
              <a:t>bản</a:t>
            </a:r>
            <a:r>
              <a:rPr lang="en-US" baseline="0" dirty="0"/>
              <a:t> </a:t>
            </a:r>
            <a:r>
              <a:rPr lang="en-US" baseline="0" dirty="0" err="1"/>
              <a:t>là</a:t>
            </a:r>
            <a:r>
              <a:rPr lang="en-US" baseline="0" dirty="0"/>
              <a:t> dung </a:t>
            </a:r>
            <a:r>
              <a:rPr lang="en-US" baseline="0" dirty="0" err="1"/>
              <a:t>hinh</a:t>
            </a:r>
            <a:r>
              <a:rPr lang="en-US" baseline="0" dirty="0"/>
              <a:t> </a:t>
            </a:r>
            <a:r>
              <a:rPr lang="en-US" baseline="0" dirty="0" err="1"/>
              <a:t>chuông</a:t>
            </a:r>
            <a:r>
              <a:rPr lang="en-US" baseline="0" dirty="0"/>
              <a:t>, </a:t>
            </a:r>
            <a:r>
              <a:rPr lang="en-US" baseline="0" dirty="0" err="1"/>
              <a:t>tuy</a:t>
            </a:r>
            <a:r>
              <a:rPr lang="en-US" baseline="0" dirty="0"/>
              <a:t> </a:t>
            </a:r>
            <a:r>
              <a:rPr lang="en-US" baseline="0" dirty="0" err="1"/>
              <a:t>nhiên</a:t>
            </a:r>
            <a:r>
              <a:rPr lang="en-US" baseline="0" dirty="0"/>
              <a:t> </a:t>
            </a:r>
            <a:r>
              <a:rPr lang="en-US" baseline="0" dirty="0" err="1"/>
              <a:t>khi</a:t>
            </a:r>
            <a:r>
              <a:rPr lang="en-US" baseline="0" dirty="0"/>
              <a:t> </a:t>
            </a:r>
            <a:r>
              <a:rPr lang="en-US" baseline="0" dirty="0" err="1"/>
              <a:t>muốn</a:t>
            </a:r>
            <a:r>
              <a:rPr lang="en-US" baseline="0" dirty="0"/>
              <a:t> </a:t>
            </a:r>
            <a:r>
              <a:rPr lang="en-US" baseline="0" dirty="0" err="1"/>
              <a:t>ss</a:t>
            </a:r>
            <a:r>
              <a:rPr lang="en-US" baseline="0" dirty="0"/>
              <a:t> </a:t>
            </a:r>
            <a:r>
              <a:rPr lang="en-US" baseline="0" dirty="0" err="1"/>
              <a:t>nhiều</a:t>
            </a:r>
            <a:r>
              <a:rPr lang="en-US" baseline="0" dirty="0"/>
              <a:t> </a:t>
            </a:r>
            <a:r>
              <a:rPr lang="en-US" baseline="0" dirty="0" err="1"/>
              <a:t>bộ</a:t>
            </a:r>
            <a:r>
              <a:rPr lang="en-US" baseline="0" dirty="0"/>
              <a:t> </a:t>
            </a:r>
            <a:r>
              <a:rPr lang="en-US" baseline="0" dirty="0" err="1"/>
              <a:t>dữ</a:t>
            </a:r>
            <a:r>
              <a:rPr lang="en-US" baseline="0" dirty="0"/>
              <a:t> lieu </a:t>
            </a:r>
            <a:r>
              <a:rPr lang="en-US" baseline="0" dirty="0" err="1"/>
              <a:t>khác</a:t>
            </a:r>
            <a:r>
              <a:rPr lang="en-US" baseline="0" dirty="0"/>
              <a:t> </a:t>
            </a:r>
            <a:r>
              <a:rPr lang="en-US" baseline="0" dirty="0" err="1"/>
              <a:t>nhau</a:t>
            </a:r>
            <a:r>
              <a:rPr lang="en-US" baseline="0" dirty="0"/>
              <a:t> </a:t>
            </a:r>
            <a:r>
              <a:rPr lang="en-US" baseline="0" dirty="0" err="1"/>
              <a:t>thi</a:t>
            </a:r>
            <a:r>
              <a:rPr lang="en-US" baseline="0" dirty="0"/>
              <a:t> </a:t>
            </a:r>
            <a:r>
              <a:rPr lang="en-US" baseline="0" dirty="0" err="1"/>
              <a:t>hinh</a:t>
            </a:r>
            <a:r>
              <a:rPr lang="en-US" baseline="0" dirty="0"/>
              <a:t> </a:t>
            </a:r>
            <a:r>
              <a:rPr lang="en-US" baseline="0" dirty="0" err="1"/>
              <a:t>chuông</a:t>
            </a:r>
            <a:r>
              <a:rPr lang="en-US" baseline="0" dirty="0"/>
              <a:t> </a:t>
            </a:r>
            <a:r>
              <a:rPr lang="en-US" baseline="0" dirty="0" err="1"/>
              <a:t>rât</a:t>
            </a:r>
            <a:r>
              <a:rPr lang="en-US" baseline="0" dirty="0"/>
              <a:t> </a:t>
            </a:r>
            <a:r>
              <a:rPr lang="en-US" baseline="0" dirty="0" err="1"/>
              <a:t>công</a:t>
            </a:r>
            <a:r>
              <a:rPr lang="en-US" baseline="0" dirty="0"/>
              <a:t> </a:t>
            </a:r>
            <a:r>
              <a:rPr lang="en-US" baseline="0" dirty="0" err="1"/>
              <a:t>kềnh</a:t>
            </a:r>
            <a:r>
              <a:rPr lang="en-US" baseline="0" dirty="0"/>
              <a:t> </a:t>
            </a:r>
            <a:r>
              <a:rPr lang="en-US" baseline="0" dirty="0" err="1"/>
              <a:t>nên</a:t>
            </a:r>
            <a:r>
              <a:rPr lang="en-US" baseline="0" dirty="0"/>
              <a:t> </a:t>
            </a:r>
            <a:r>
              <a:rPr lang="en-US" baseline="0" dirty="0" err="1"/>
              <a:t>chuyển</a:t>
            </a:r>
            <a:r>
              <a:rPr lang="en-US" baseline="0" dirty="0"/>
              <a:t> sang box plot </a:t>
            </a:r>
            <a:r>
              <a:rPr lang="en-US" baseline="0" dirty="0" err="1"/>
              <a:t>cho</a:t>
            </a:r>
            <a:r>
              <a:rPr lang="en-US" baseline="0" dirty="0"/>
              <a:t> </a:t>
            </a:r>
            <a:r>
              <a:rPr lang="en-US" baseline="0" dirty="0" err="1"/>
              <a:t>dễ</a:t>
            </a:r>
            <a:endParaRPr lang="en-US" baseline="0" dirty="0"/>
          </a:p>
          <a:p>
            <a:r>
              <a:rPr lang="en-US" baseline="0" dirty="0" err="1"/>
              <a:t>Để</a:t>
            </a:r>
            <a:r>
              <a:rPr lang="en-US" baseline="0" dirty="0"/>
              <a:t> </a:t>
            </a:r>
            <a:r>
              <a:rPr lang="en-US" baseline="0" dirty="0" err="1"/>
              <a:t>vẽ</a:t>
            </a:r>
            <a:r>
              <a:rPr lang="en-US" baseline="0" dirty="0"/>
              <a:t> </a:t>
            </a:r>
            <a:r>
              <a:rPr lang="en-US" baseline="0" dirty="0" err="1"/>
              <a:t>đc</a:t>
            </a:r>
            <a:r>
              <a:rPr lang="en-US" baseline="0" dirty="0"/>
              <a:t> box plot </a:t>
            </a:r>
            <a:r>
              <a:rPr lang="en-US" baseline="0" dirty="0" err="1"/>
              <a:t>thi</a:t>
            </a:r>
            <a:r>
              <a:rPr lang="en-US" baseline="0" dirty="0"/>
              <a:t> </a:t>
            </a:r>
            <a:r>
              <a:rPr lang="en-US" baseline="0" dirty="0" err="1"/>
              <a:t>cân</a:t>
            </a:r>
            <a:r>
              <a:rPr lang="en-US" baseline="0" dirty="0"/>
              <a:t> 5 </a:t>
            </a:r>
            <a:r>
              <a:rPr lang="en-US" baseline="0" dirty="0" err="1"/>
              <a:t>điểm</a:t>
            </a:r>
            <a:r>
              <a:rPr lang="en-US" baseline="0" dirty="0"/>
              <a:t>, min, ¼, 2/4, ¾, max</a:t>
            </a:r>
          </a:p>
          <a:p>
            <a:r>
              <a:rPr lang="en-US" baseline="0" dirty="0" err="1"/>
              <a:t>Vậy</a:t>
            </a:r>
            <a:r>
              <a:rPr lang="en-US" baseline="0" dirty="0"/>
              <a:t> </a:t>
            </a:r>
            <a:r>
              <a:rPr lang="en-US" baseline="0" dirty="0" err="1"/>
              <a:t>trong</a:t>
            </a:r>
            <a:r>
              <a:rPr lang="en-US" baseline="0" dirty="0"/>
              <a:t> </a:t>
            </a:r>
            <a:r>
              <a:rPr lang="en-US" baseline="0" dirty="0" err="1"/>
              <a:t>sx</a:t>
            </a:r>
            <a:r>
              <a:rPr lang="en-US" baseline="0" dirty="0"/>
              <a:t>, box to hay </a:t>
            </a:r>
            <a:r>
              <a:rPr lang="en-US" baseline="0" dirty="0" err="1"/>
              <a:t>nhỏ</a:t>
            </a:r>
            <a:r>
              <a:rPr lang="en-US" baseline="0" dirty="0"/>
              <a:t> </a:t>
            </a:r>
            <a:r>
              <a:rPr lang="en-US" baseline="0" dirty="0" err="1"/>
              <a:t>thi</a:t>
            </a:r>
            <a:r>
              <a:rPr lang="en-US" baseline="0" dirty="0"/>
              <a:t> </a:t>
            </a:r>
            <a:r>
              <a:rPr lang="en-US" baseline="0" dirty="0" err="1"/>
              <a:t>tốt</a:t>
            </a:r>
            <a:r>
              <a:rPr lang="en-US" baseline="0" dirty="0">
                <a:sym typeface="Wingdings" panose="05000000000000000000" pitchFamily="2" charset="2"/>
              </a:rPr>
              <a:t> </a:t>
            </a:r>
            <a:r>
              <a:rPr lang="en-US" baseline="0" dirty="0" err="1">
                <a:sym typeface="Wingdings" panose="05000000000000000000" pitchFamily="2" charset="2"/>
              </a:rPr>
              <a:t>nhỏ</a:t>
            </a:r>
            <a:r>
              <a:rPr lang="en-US" baseline="0" dirty="0">
                <a:sym typeface="Wingdings" panose="05000000000000000000" pitchFamily="2" charset="2"/>
              </a:rPr>
              <a:t>, vi </a:t>
            </a:r>
            <a:r>
              <a:rPr lang="en-US" baseline="0" dirty="0" err="1">
                <a:sym typeface="Wingdings" panose="05000000000000000000" pitchFamily="2" charset="2"/>
              </a:rPr>
              <a:t>dư</a:t>
            </a:r>
            <a:r>
              <a:rPr lang="en-US" baseline="0" dirty="0">
                <a:sym typeface="Wingdings" panose="05000000000000000000" pitchFamily="2" charset="2"/>
              </a:rPr>
              <a:t> lieu it </a:t>
            </a:r>
            <a:r>
              <a:rPr lang="en-US" baseline="0" dirty="0" err="1">
                <a:sym typeface="Wingdings" panose="05000000000000000000" pitchFamily="2" charset="2"/>
              </a:rPr>
              <a:t>phân</a:t>
            </a:r>
            <a:r>
              <a:rPr lang="en-US" baseline="0" dirty="0">
                <a:sym typeface="Wingdings" panose="05000000000000000000" pitchFamily="2" charset="2"/>
              </a:rPr>
              <a:t> </a:t>
            </a:r>
            <a:r>
              <a:rPr lang="en-US" baseline="0" dirty="0" err="1">
                <a:sym typeface="Wingdings" panose="05000000000000000000" pitchFamily="2" charset="2"/>
              </a:rPr>
              <a:t>tán</a:t>
            </a:r>
            <a:r>
              <a:rPr lang="en-US" baseline="0" dirty="0">
                <a:sym typeface="Wingdings" panose="05000000000000000000" pitchFamily="2" charset="2"/>
              </a:rPr>
              <a:t>, </a:t>
            </a:r>
            <a:r>
              <a:rPr lang="en-US" baseline="0" dirty="0" err="1">
                <a:sym typeface="Wingdings" panose="05000000000000000000" pitchFamily="2" charset="2"/>
              </a:rPr>
              <a:t>lỗi</a:t>
            </a:r>
            <a:r>
              <a:rPr lang="en-US" baseline="0" dirty="0">
                <a:sym typeface="Wingdings" panose="05000000000000000000" pitchFamily="2" charset="2"/>
              </a:rPr>
              <a:t> </a:t>
            </a:r>
            <a:r>
              <a:rPr lang="en-US" baseline="0" dirty="0" err="1">
                <a:sym typeface="Wingdings" panose="05000000000000000000" pitchFamily="2" charset="2"/>
              </a:rPr>
              <a:t>càng</a:t>
            </a:r>
            <a:r>
              <a:rPr lang="en-US" baseline="0" dirty="0">
                <a:sym typeface="Wingdings" panose="05000000000000000000" pitchFamily="2" charset="2"/>
              </a:rPr>
              <a:t> it</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49</a:t>
            </a:fld>
            <a:endParaRPr lang="ko-KR" altLang="en-US" dirty="0"/>
          </a:p>
        </p:txBody>
      </p:sp>
    </p:spTree>
    <p:extLst>
      <p:ext uri="{BB962C8B-B14F-4D97-AF65-F5344CB8AC3E}">
        <p14:creationId xmlns:p14="http://schemas.microsoft.com/office/powerpoint/2010/main" val="293662903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035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ko-KR" dirty="0" err="1"/>
              <a:t>Hệ</a:t>
            </a:r>
            <a:r>
              <a:rPr lang="en-US" altLang="ko-KR" dirty="0"/>
              <a:t> </a:t>
            </a:r>
            <a:r>
              <a:rPr lang="en-US" altLang="ko-KR" dirty="0" err="1"/>
              <a:t>số</a:t>
            </a:r>
            <a:r>
              <a:rPr lang="en-US" altLang="ko-KR" baseline="0" dirty="0"/>
              <a:t> </a:t>
            </a:r>
            <a:r>
              <a:rPr lang="en-US" altLang="ko-KR" baseline="0" dirty="0" err="1"/>
              <a:t>biên</a:t>
            </a:r>
            <a:r>
              <a:rPr lang="en-US" altLang="ko-KR" baseline="0" dirty="0"/>
              <a:t> </a:t>
            </a:r>
            <a:r>
              <a:rPr lang="en-US" altLang="ko-KR" baseline="0" dirty="0" err="1"/>
              <a:t>thiên</a:t>
            </a:r>
            <a:r>
              <a:rPr lang="en-US" altLang="ko-KR" baseline="0" dirty="0"/>
              <a:t> dung </a:t>
            </a:r>
            <a:r>
              <a:rPr lang="en-US" altLang="ko-KR" baseline="0" dirty="0" err="1"/>
              <a:t>để</a:t>
            </a:r>
            <a:r>
              <a:rPr lang="en-US" altLang="ko-KR" baseline="0" dirty="0"/>
              <a:t> </a:t>
            </a:r>
            <a:r>
              <a:rPr lang="en-US" altLang="ko-KR" baseline="0" dirty="0" err="1"/>
              <a:t>ss</a:t>
            </a:r>
            <a:r>
              <a:rPr lang="en-US" altLang="ko-KR" baseline="0" dirty="0"/>
              <a:t> </a:t>
            </a:r>
            <a:r>
              <a:rPr lang="en-US" altLang="ko-KR" baseline="0" dirty="0" err="1"/>
              <a:t>các</a:t>
            </a:r>
            <a:r>
              <a:rPr lang="en-US" altLang="ko-KR" baseline="0" dirty="0"/>
              <a:t> </a:t>
            </a:r>
            <a:r>
              <a:rPr lang="en-US" altLang="ko-KR" baseline="0" dirty="0" err="1"/>
              <a:t>bộ</a:t>
            </a:r>
            <a:r>
              <a:rPr lang="en-US" altLang="ko-KR" baseline="0" dirty="0"/>
              <a:t> </a:t>
            </a:r>
            <a:r>
              <a:rPr lang="en-US" altLang="ko-KR" baseline="0" dirty="0" err="1"/>
              <a:t>dữ</a:t>
            </a:r>
            <a:r>
              <a:rPr lang="en-US" altLang="ko-KR" baseline="0" dirty="0"/>
              <a:t> </a:t>
            </a:r>
            <a:r>
              <a:rPr lang="en-US" altLang="ko-KR" baseline="0" dirty="0" err="1"/>
              <a:t>liệu</a:t>
            </a:r>
            <a:r>
              <a:rPr lang="en-US" altLang="ko-KR" baseline="0" dirty="0"/>
              <a:t> </a:t>
            </a:r>
            <a:r>
              <a:rPr lang="en-US" altLang="ko-KR" baseline="0" dirty="0" err="1"/>
              <a:t>ko</a:t>
            </a:r>
            <a:r>
              <a:rPr lang="en-US" altLang="ko-KR" baseline="0" dirty="0"/>
              <a:t> </a:t>
            </a:r>
            <a:r>
              <a:rPr lang="en-US" altLang="ko-KR" baseline="0" dirty="0" err="1"/>
              <a:t>cùng</a:t>
            </a:r>
            <a:r>
              <a:rPr lang="en-US" altLang="ko-KR" baseline="0" dirty="0"/>
              <a:t> </a:t>
            </a:r>
            <a:r>
              <a:rPr lang="en-US" altLang="ko-KR" baseline="0" dirty="0" err="1"/>
              <a:t>đơn</a:t>
            </a:r>
            <a:r>
              <a:rPr lang="en-US" altLang="ko-KR" baseline="0" dirty="0"/>
              <a:t> </a:t>
            </a:r>
            <a:r>
              <a:rPr lang="en-US" altLang="ko-KR" baseline="0" dirty="0" err="1"/>
              <a:t>vị</a:t>
            </a:r>
            <a:r>
              <a:rPr lang="en-US" altLang="ko-KR" baseline="0" dirty="0"/>
              <a:t> </a:t>
            </a:r>
            <a:r>
              <a:rPr lang="en-US" altLang="ko-KR" baseline="0" dirty="0" err="1"/>
              <a:t>đo</a:t>
            </a:r>
            <a:endParaRPr lang="en-US" altLang="ko-KR" baseline="0" dirty="0"/>
          </a:p>
          <a:p>
            <a:r>
              <a:rPr lang="en-US" altLang="ko-KR" baseline="0" dirty="0"/>
              <a:t>VD; </a:t>
            </a:r>
            <a:r>
              <a:rPr lang="en-US" altLang="ko-KR" baseline="0" dirty="0" err="1"/>
              <a:t>cân</a:t>
            </a:r>
            <a:r>
              <a:rPr lang="en-US" altLang="ko-KR" baseline="0" dirty="0"/>
              <a:t> </a:t>
            </a:r>
            <a:r>
              <a:rPr lang="en-US" altLang="ko-KR" baseline="0" dirty="0" err="1"/>
              <a:t>biết</a:t>
            </a:r>
            <a:r>
              <a:rPr lang="en-US" altLang="ko-KR" baseline="0" dirty="0"/>
              <a:t> </a:t>
            </a:r>
            <a:r>
              <a:rPr lang="en-US" altLang="ko-KR" baseline="0" dirty="0" err="1"/>
              <a:t>trong</a:t>
            </a:r>
            <a:r>
              <a:rPr lang="en-US" altLang="ko-KR" baseline="0" dirty="0"/>
              <a:t> 1 </a:t>
            </a:r>
            <a:r>
              <a:rPr lang="en-US" altLang="ko-KR" baseline="0" dirty="0" err="1"/>
              <a:t>phòng</a:t>
            </a:r>
            <a:r>
              <a:rPr lang="en-US" altLang="ko-KR" baseline="0" dirty="0"/>
              <a:t> </a:t>
            </a:r>
            <a:r>
              <a:rPr lang="en-US" altLang="ko-KR" baseline="0" dirty="0" err="1"/>
              <a:t>thi</a:t>
            </a:r>
            <a:r>
              <a:rPr lang="en-US" altLang="ko-KR" baseline="0" dirty="0"/>
              <a:t> </a:t>
            </a:r>
            <a:r>
              <a:rPr lang="en-US" altLang="ko-KR" baseline="0" dirty="0" err="1"/>
              <a:t>biến</a:t>
            </a:r>
            <a:r>
              <a:rPr lang="en-US" altLang="ko-KR" baseline="0" dirty="0"/>
              <a:t> </a:t>
            </a:r>
            <a:r>
              <a:rPr lang="en-US" altLang="ko-KR" baseline="0" dirty="0" err="1"/>
              <a:t>động</a:t>
            </a:r>
            <a:r>
              <a:rPr lang="en-US" altLang="ko-KR" baseline="0" dirty="0"/>
              <a:t> </a:t>
            </a:r>
            <a:r>
              <a:rPr lang="en-US" altLang="ko-KR" baseline="0" dirty="0" err="1"/>
              <a:t>về</a:t>
            </a:r>
            <a:r>
              <a:rPr lang="en-US" altLang="ko-KR" baseline="0" dirty="0"/>
              <a:t> </a:t>
            </a:r>
            <a:r>
              <a:rPr lang="en-US" altLang="ko-KR" baseline="0" dirty="0" err="1"/>
              <a:t>câng</a:t>
            </a:r>
            <a:r>
              <a:rPr lang="en-US" altLang="ko-KR" baseline="0" dirty="0"/>
              <a:t> </a:t>
            </a:r>
            <a:r>
              <a:rPr lang="en-US" altLang="ko-KR" baseline="0" dirty="0" err="1"/>
              <a:t>nặng</a:t>
            </a:r>
            <a:r>
              <a:rPr lang="en-US" altLang="ko-KR" baseline="0" dirty="0"/>
              <a:t> hay </a:t>
            </a:r>
            <a:r>
              <a:rPr lang="en-US" altLang="ko-KR" baseline="0" dirty="0" err="1"/>
              <a:t>chiều</a:t>
            </a:r>
            <a:r>
              <a:rPr lang="en-US" altLang="ko-KR" baseline="0" dirty="0"/>
              <a:t> </a:t>
            </a:r>
            <a:r>
              <a:rPr lang="en-US" altLang="ko-KR" baseline="0" dirty="0" err="1"/>
              <a:t>cao</a:t>
            </a:r>
            <a:r>
              <a:rPr lang="en-US" altLang="ko-KR" baseline="0" dirty="0"/>
              <a:t> </a:t>
            </a:r>
            <a:r>
              <a:rPr lang="en-US" altLang="ko-KR" baseline="0" dirty="0" err="1"/>
              <a:t>mạnh</a:t>
            </a:r>
            <a:r>
              <a:rPr lang="en-US" altLang="ko-KR" baseline="0" dirty="0"/>
              <a:t> </a:t>
            </a:r>
            <a:r>
              <a:rPr lang="en-US" altLang="ko-KR" baseline="0" dirty="0" err="1"/>
              <a:t>hơn</a:t>
            </a:r>
            <a:r>
              <a:rPr lang="en-US" altLang="ko-KR" baseline="0" dirty="0"/>
              <a:t> </a:t>
            </a:r>
            <a:r>
              <a:rPr lang="en-US" altLang="ko-KR" baseline="0" dirty="0" err="1"/>
              <a:t>thì</a:t>
            </a:r>
            <a:r>
              <a:rPr lang="en-US" altLang="ko-KR" baseline="0" dirty="0"/>
              <a:t> </a:t>
            </a:r>
            <a:r>
              <a:rPr lang="en-US" altLang="ko-KR" baseline="0" dirty="0" err="1"/>
              <a:t>ko</a:t>
            </a:r>
            <a:r>
              <a:rPr lang="en-US" altLang="ko-KR" baseline="0" dirty="0"/>
              <a:t> </a:t>
            </a:r>
            <a:r>
              <a:rPr lang="en-US" altLang="ko-KR" baseline="0" dirty="0" err="1"/>
              <a:t>cùng</a:t>
            </a:r>
            <a:r>
              <a:rPr lang="en-US" altLang="ko-KR" baseline="0" dirty="0"/>
              <a:t> </a:t>
            </a:r>
            <a:r>
              <a:rPr lang="en-US" altLang="ko-KR" baseline="0" dirty="0" err="1"/>
              <a:t>thang</a:t>
            </a:r>
            <a:r>
              <a:rPr lang="en-US" altLang="ko-KR" baseline="0" dirty="0"/>
              <a:t> </a:t>
            </a:r>
            <a:r>
              <a:rPr lang="en-US" altLang="ko-KR" baseline="0" dirty="0" err="1"/>
              <a:t>đo</a:t>
            </a:r>
            <a:r>
              <a:rPr lang="en-US" altLang="ko-KR" baseline="0" dirty="0"/>
              <a:t> </a:t>
            </a:r>
            <a:r>
              <a:rPr lang="en-US" altLang="ko-KR" baseline="0" dirty="0" err="1"/>
              <a:t>nên</a:t>
            </a:r>
            <a:r>
              <a:rPr lang="en-US" altLang="ko-KR" baseline="0" dirty="0"/>
              <a:t> </a:t>
            </a:r>
            <a:r>
              <a:rPr lang="en-US" altLang="ko-KR" baseline="0" dirty="0" err="1"/>
              <a:t>fai</a:t>
            </a:r>
            <a:r>
              <a:rPr lang="en-US" altLang="ko-KR" baseline="0" dirty="0"/>
              <a:t> dung </a:t>
            </a:r>
            <a:r>
              <a:rPr lang="en-US" altLang="ko-KR" baseline="0" dirty="0" err="1"/>
              <a:t>đến</a:t>
            </a:r>
            <a:r>
              <a:rPr lang="en-US" altLang="ko-KR" baseline="0" dirty="0"/>
              <a:t> CV</a:t>
            </a:r>
          </a:p>
          <a:p>
            <a:r>
              <a:rPr lang="en-US" altLang="ko-KR" baseline="0" dirty="0" err="1"/>
              <a:t>Hệ</a:t>
            </a:r>
            <a:r>
              <a:rPr lang="en-US" altLang="ko-KR" baseline="0" dirty="0"/>
              <a:t> </a:t>
            </a:r>
            <a:r>
              <a:rPr lang="en-US" altLang="ko-KR" baseline="0" dirty="0" err="1"/>
              <a:t>số</a:t>
            </a:r>
            <a:r>
              <a:rPr lang="en-US" altLang="ko-KR" baseline="0" dirty="0"/>
              <a:t> </a:t>
            </a:r>
            <a:r>
              <a:rPr lang="en-US" altLang="ko-KR" baseline="0" dirty="0" err="1"/>
              <a:t>biên</a:t>
            </a:r>
            <a:r>
              <a:rPr lang="en-US" altLang="ko-KR" baseline="0" dirty="0"/>
              <a:t> </a:t>
            </a:r>
            <a:r>
              <a:rPr lang="en-US" altLang="ko-KR" baseline="0" dirty="0" err="1"/>
              <a:t>thiên</a:t>
            </a:r>
            <a:r>
              <a:rPr lang="en-US" altLang="ko-KR" baseline="0" dirty="0"/>
              <a:t> </a:t>
            </a:r>
            <a:r>
              <a:rPr lang="en-US" altLang="ko-KR" baseline="0" dirty="0" err="1"/>
              <a:t>càng</a:t>
            </a:r>
            <a:r>
              <a:rPr lang="en-US" altLang="ko-KR" baseline="0" dirty="0"/>
              <a:t> </a:t>
            </a:r>
            <a:r>
              <a:rPr lang="en-US" altLang="ko-KR" baseline="0" dirty="0" err="1"/>
              <a:t>lớn</a:t>
            </a:r>
            <a:r>
              <a:rPr lang="en-US" altLang="ko-KR" baseline="0" dirty="0"/>
              <a:t> </a:t>
            </a:r>
            <a:r>
              <a:rPr lang="en-US" altLang="ko-KR" baseline="0" dirty="0" err="1"/>
              <a:t>thì</a:t>
            </a:r>
            <a:r>
              <a:rPr lang="en-US" altLang="ko-KR" baseline="0" dirty="0"/>
              <a:t> </a:t>
            </a:r>
            <a:r>
              <a:rPr lang="en-US" altLang="ko-KR" baseline="0" dirty="0" err="1"/>
              <a:t>dữ</a:t>
            </a:r>
            <a:r>
              <a:rPr lang="en-US" altLang="ko-KR" baseline="0" dirty="0"/>
              <a:t> </a:t>
            </a:r>
            <a:r>
              <a:rPr lang="en-US" altLang="ko-KR" baseline="0" dirty="0" err="1"/>
              <a:t>liệu</a:t>
            </a:r>
            <a:r>
              <a:rPr lang="en-US" altLang="ko-KR" baseline="0" dirty="0"/>
              <a:t> </a:t>
            </a:r>
            <a:r>
              <a:rPr lang="en-US" altLang="ko-KR" baseline="0" dirty="0" err="1"/>
              <a:t>phân</a:t>
            </a:r>
            <a:r>
              <a:rPr lang="en-US" altLang="ko-KR" baseline="0" dirty="0"/>
              <a:t> </a:t>
            </a:r>
            <a:r>
              <a:rPr lang="en-US" altLang="ko-KR" baseline="0" dirty="0" err="1"/>
              <a:t>tán</a:t>
            </a:r>
            <a:r>
              <a:rPr lang="en-US" altLang="ko-KR" baseline="0" dirty="0"/>
              <a:t> </a:t>
            </a:r>
            <a:r>
              <a:rPr lang="en-US" altLang="ko-KR" baseline="0" dirty="0" err="1"/>
              <a:t>càng</a:t>
            </a:r>
            <a:r>
              <a:rPr lang="en-US" altLang="ko-KR" baseline="0" dirty="0"/>
              <a:t> </a:t>
            </a:r>
            <a:r>
              <a:rPr lang="en-US" altLang="ko-KR" baseline="0" dirty="0" err="1"/>
              <a:t>nhiều</a:t>
            </a:r>
            <a:r>
              <a:rPr lang="en-US" altLang="ko-KR" baseline="0" dirty="0"/>
              <a:t>, </a:t>
            </a:r>
            <a:r>
              <a:rPr lang="en-US" altLang="ko-KR" baseline="0" dirty="0" err="1"/>
              <a:t>chuông</a:t>
            </a:r>
            <a:r>
              <a:rPr lang="en-US" altLang="ko-KR" baseline="0" dirty="0"/>
              <a:t> </a:t>
            </a:r>
            <a:r>
              <a:rPr lang="en-US" altLang="ko-KR" baseline="0" dirty="0" err="1"/>
              <a:t>càng</a:t>
            </a:r>
            <a:r>
              <a:rPr lang="en-US" altLang="ko-KR" baseline="0" dirty="0"/>
              <a:t> </a:t>
            </a:r>
            <a:r>
              <a:rPr lang="en-US" altLang="ko-KR" baseline="0" dirty="0" err="1"/>
              <a:t>rộng</a:t>
            </a:r>
            <a:endParaRPr lang="ko-KR" altLang="en-US" dirty="0"/>
          </a:p>
        </p:txBody>
      </p:sp>
      <p:sp>
        <p:nvSpPr>
          <p:cNvPr id="4" name="슬라이드 번호 개체 틀 3"/>
          <p:cNvSpPr>
            <a:spLocks noGrp="1"/>
          </p:cNvSpPr>
          <p:nvPr>
            <p:ph type="sldNum" sz="quarter" idx="5"/>
          </p:nvPr>
        </p:nvSpPr>
        <p:spPr/>
        <p:txBody>
          <a:bodyPr/>
          <a:lstStyle/>
          <a:p>
            <a:pPr>
              <a:defRPr/>
            </a:pPr>
            <a:fld id="{1F1B8FC0-8365-4156-8113-E090FD790D13}" type="slidenum">
              <a:rPr lang="ko-KR" altLang="en-US" smtClean="0"/>
              <a:pPr>
                <a:defRPr/>
              </a:pPr>
              <a:t>50</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66867110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137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ko-KR" dirty="0"/>
              <a:t>F: </a:t>
            </a:r>
            <a:r>
              <a:rPr lang="en-US" altLang="ko-KR" dirty="0" err="1"/>
              <a:t>tần</a:t>
            </a:r>
            <a:r>
              <a:rPr lang="en-US" altLang="ko-KR" baseline="0" dirty="0"/>
              <a:t> </a:t>
            </a:r>
            <a:r>
              <a:rPr lang="en-US" altLang="ko-KR" baseline="0" dirty="0" err="1"/>
              <a:t>suất</a:t>
            </a:r>
            <a:r>
              <a:rPr lang="en-US" altLang="ko-KR" baseline="0" dirty="0"/>
              <a:t> </a:t>
            </a:r>
            <a:r>
              <a:rPr lang="en-US" altLang="ko-KR" baseline="0" dirty="0" err="1"/>
              <a:t>xuất</a:t>
            </a:r>
            <a:r>
              <a:rPr lang="en-US" altLang="ko-KR" baseline="0" dirty="0"/>
              <a:t> </a:t>
            </a:r>
            <a:r>
              <a:rPr lang="en-US" altLang="ko-KR" baseline="0" dirty="0" err="1"/>
              <a:t>hiện</a:t>
            </a:r>
            <a:r>
              <a:rPr lang="en-US" altLang="ko-KR" baseline="0" dirty="0"/>
              <a:t> </a:t>
            </a:r>
            <a:r>
              <a:rPr lang="en-US" altLang="ko-KR" baseline="0" dirty="0" err="1"/>
              <a:t>của</a:t>
            </a:r>
            <a:r>
              <a:rPr lang="en-US" altLang="ko-KR" baseline="0" dirty="0"/>
              <a:t> </a:t>
            </a:r>
            <a:r>
              <a:rPr lang="en-US" altLang="ko-KR" baseline="0" dirty="0" err="1"/>
              <a:t>các</a:t>
            </a:r>
            <a:r>
              <a:rPr lang="en-US" altLang="ko-KR" baseline="0" dirty="0"/>
              <a:t> </a:t>
            </a:r>
            <a:r>
              <a:rPr lang="en-US" altLang="ko-KR" baseline="0" dirty="0" err="1"/>
              <a:t>số</a:t>
            </a:r>
            <a:r>
              <a:rPr lang="en-US" altLang="ko-KR" baseline="0" dirty="0"/>
              <a:t> </a:t>
            </a:r>
            <a:r>
              <a:rPr lang="en-US" altLang="ko-KR" baseline="0" dirty="0" err="1"/>
              <a:t>hạng</a:t>
            </a:r>
            <a:r>
              <a:rPr lang="en-US" altLang="ko-KR" baseline="0" dirty="0"/>
              <a:t> </a:t>
            </a:r>
            <a:r>
              <a:rPr lang="en-US" altLang="ko-KR" baseline="0" dirty="0" err="1"/>
              <a:t>trong</a:t>
            </a:r>
            <a:r>
              <a:rPr lang="en-US" altLang="ko-KR" baseline="0" dirty="0"/>
              <a:t> </a:t>
            </a:r>
            <a:r>
              <a:rPr lang="en-US" altLang="ko-KR" baseline="0" dirty="0" err="1"/>
              <a:t>dãy</a:t>
            </a:r>
            <a:r>
              <a:rPr lang="en-US" altLang="ko-KR" baseline="0" dirty="0"/>
              <a:t> </a:t>
            </a:r>
            <a:r>
              <a:rPr lang="en-US" altLang="ko-KR" baseline="0" dirty="0" err="1"/>
              <a:t>giá</a:t>
            </a:r>
            <a:r>
              <a:rPr lang="en-US" altLang="ko-KR" baseline="0" dirty="0"/>
              <a:t> </a:t>
            </a:r>
            <a:r>
              <a:rPr lang="en-US" altLang="ko-KR" baseline="0" dirty="0" err="1"/>
              <a:t>trị</a:t>
            </a:r>
            <a:endParaRPr lang="ko-KR" altLang="en-US" dirty="0"/>
          </a:p>
        </p:txBody>
      </p:sp>
      <p:sp>
        <p:nvSpPr>
          <p:cNvPr id="4" name="슬라이드 번호 개체 틀 3"/>
          <p:cNvSpPr>
            <a:spLocks noGrp="1"/>
          </p:cNvSpPr>
          <p:nvPr>
            <p:ph type="sldNum" sz="quarter" idx="5"/>
          </p:nvPr>
        </p:nvSpPr>
        <p:spPr/>
        <p:txBody>
          <a:bodyPr/>
          <a:lstStyle/>
          <a:p>
            <a:pPr>
              <a:defRPr/>
            </a:pPr>
            <a:fld id="{0B63BC45-7D14-49FF-8251-A52AAF8AF6D0}" type="slidenum">
              <a:rPr lang="ko-KR" altLang="en-US" smtClean="0"/>
              <a:pPr>
                <a:defRPr/>
              </a:pPr>
              <a:t>51</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82509750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Càng</a:t>
            </a:r>
            <a:r>
              <a:rPr lang="en-US" baseline="0" dirty="0"/>
              <a:t> </a:t>
            </a:r>
            <a:r>
              <a:rPr lang="en-US" baseline="0" dirty="0" err="1"/>
              <a:t>nhọn</a:t>
            </a:r>
            <a:r>
              <a:rPr lang="en-US" baseline="0" dirty="0"/>
              <a:t> </a:t>
            </a:r>
            <a:r>
              <a:rPr lang="en-US" baseline="0" dirty="0" err="1"/>
              <a:t>thi</a:t>
            </a:r>
            <a:r>
              <a:rPr lang="en-US" baseline="0" dirty="0"/>
              <a:t> </a:t>
            </a:r>
            <a:r>
              <a:rPr lang="en-US" baseline="0" dirty="0" err="1"/>
              <a:t>càng</a:t>
            </a:r>
            <a:r>
              <a:rPr lang="en-US" baseline="0" dirty="0"/>
              <a:t> </a:t>
            </a:r>
            <a:r>
              <a:rPr lang="en-US" baseline="0" dirty="0" err="1"/>
              <a:t>tôt</a:t>
            </a:r>
            <a:r>
              <a:rPr lang="en-US" baseline="0" dirty="0"/>
              <a:t> vi </a:t>
            </a:r>
            <a:r>
              <a:rPr lang="en-US" baseline="0" dirty="0" err="1"/>
              <a:t>cang</a:t>
            </a:r>
            <a:r>
              <a:rPr lang="en-US" baseline="0" dirty="0"/>
              <a:t> </a:t>
            </a:r>
            <a:r>
              <a:rPr lang="en-US" baseline="0" dirty="0" err="1"/>
              <a:t>nhiêu</a:t>
            </a:r>
            <a:r>
              <a:rPr lang="en-US" baseline="0" dirty="0"/>
              <a:t> </a:t>
            </a:r>
            <a:r>
              <a:rPr lang="en-US" baseline="0" dirty="0" err="1"/>
              <a:t>dư</a:t>
            </a:r>
            <a:r>
              <a:rPr lang="en-US" baseline="0" dirty="0"/>
              <a:t> </a:t>
            </a:r>
            <a:r>
              <a:rPr lang="en-US" baseline="0" dirty="0" err="1"/>
              <a:t>liệu</a:t>
            </a:r>
            <a:r>
              <a:rPr lang="en-US" baseline="0" dirty="0"/>
              <a:t> </a:t>
            </a:r>
            <a:r>
              <a:rPr lang="en-US" baseline="0" dirty="0" err="1"/>
              <a:t>tập</a:t>
            </a:r>
            <a:r>
              <a:rPr lang="en-US" baseline="0" dirty="0"/>
              <a:t> </a:t>
            </a:r>
            <a:r>
              <a:rPr lang="en-US" baseline="0" dirty="0" err="1"/>
              <a:t>trung</a:t>
            </a:r>
            <a:r>
              <a:rPr lang="en-US" baseline="0" dirty="0"/>
              <a:t> </a:t>
            </a:r>
            <a:r>
              <a:rPr lang="en-US" baseline="0" dirty="0" err="1"/>
              <a:t>vào</a:t>
            </a:r>
            <a:r>
              <a:rPr lang="en-US" baseline="0" dirty="0"/>
              <a:t> target </a:t>
            </a:r>
            <a:r>
              <a:rPr lang="en-US" baseline="0" dirty="0" err="1"/>
              <a:t>hơn</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52</a:t>
            </a:fld>
            <a:endParaRPr lang="ko-KR" altLang="en-US" dirty="0"/>
          </a:p>
        </p:txBody>
      </p:sp>
    </p:spTree>
    <p:extLst>
      <p:ext uri="{BB962C8B-B14F-4D97-AF65-F5344CB8AC3E}">
        <p14:creationId xmlns:p14="http://schemas.microsoft.com/office/powerpoint/2010/main" val="197385176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AB5D8039-6D3B-4149-A606-98987BB98561}" type="slidenum">
              <a:rPr lang="ko-KR" altLang="en-US" smtClean="0"/>
              <a:pPr>
                <a:defRPr/>
              </a:pPr>
              <a:t>53</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74085222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Vs 1 process, </a:t>
            </a:r>
            <a:r>
              <a:rPr lang="en-US" dirty="0" err="1"/>
              <a:t>quan</a:t>
            </a:r>
            <a:r>
              <a:rPr lang="en-US" dirty="0"/>
              <a:t> </a:t>
            </a:r>
            <a:r>
              <a:rPr lang="en-US" dirty="0" err="1"/>
              <a:t>tâm</a:t>
            </a:r>
            <a:r>
              <a:rPr lang="en-US" baseline="0" dirty="0"/>
              <a:t> </a:t>
            </a:r>
            <a:r>
              <a:rPr lang="en-US" baseline="0" dirty="0" err="1"/>
              <a:t>nhất</a:t>
            </a:r>
            <a:r>
              <a:rPr lang="en-US" baseline="0" dirty="0"/>
              <a:t> </a:t>
            </a:r>
            <a:r>
              <a:rPr lang="en-US" baseline="0" dirty="0" err="1"/>
              <a:t>là</a:t>
            </a:r>
            <a:r>
              <a:rPr lang="en-US" baseline="0" dirty="0"/>
              <a:t> process nay ti </a:t>
            </a:r>
            <a:r>
              <a:rPr lang="en-US" baseline="0" dirty="0" err="1"/>
              <a:t>lê</a:t>
            </a:r>
            <a:r>
              <a:rPr lang="en-US" baseline="0" dirty="0"/>
              <a:t> </a:t>
            </a:r>
            <a:r>
              <a:rPr lang="en-US" baseline="0" dirty="0" err="1"/>
              <a:t>lôi</a:t>
            </a:r>
            <a:r>
              <a:rPr lang="en-US" baseline="0" dirty="0"/>
              <a:t> </a:t>
            </a:r>
            <a:r>
              <a:rPr lang="en-US" baseline="0" dirty="0" err="1"/>
              <a:t>cao</a:t>
            </a:r>
            <a:r>
              <a:rPr lang="en-US" baseline="0" dirty="0"/>
              <a:t> hay </a:t>
            </a:r>
            <a:r>
              <a:rPr lang="en-US" baseline="0" dirty="0" err="1"/>
              <a:t>thâp</a:t>
            </a:r>
            <a:endParaRPr lang="en-US" baseline="0" dirty="0"/>
          </a:p>
          <a:p>
            <a:r>
              <a:rPr lang="en-US" baseline="0" dirty="0" err="1"/>
              <a:t>Khi</a:t>
            </a:r>
            <a:r>
              <a:rPr lang="en-US" baseline="0" dirty="0"/>
              <a:t> </a:t>
            </a:r>
            <a:r>
              <a:rPr lang="en-US" baseline="0" dirty="0" err="1"/>
              <a:t>sx</a:t>
            </a:r>
            <a:r>
              <a:rPr lang="en-US" baseline="0" dirty="0"/>
              <a:t> </a:t>
            </a:r>
            <a:r>
              <a:rPr lang="en-US" baseline="0" dirty="0" err="1"/>
              <a:t>chỉ</a:t>
            </a:r>
            <a:r>
              <a:rPr lang="en-US" baseline="0" dirty="0"/>
              <a:t> </a:t>
            </a:r>
            <a:r>
              <a:rPr lang="en-US" baseline="0" dirty="0" err="1"/>
              <a:t>có</a:t>
            </a:r>
            <a:r>
              <a:rPr lang="en-US" baseline="0" dirty="0"/>
              <a:t> ti </a:t>
            </a:r>
            <a:r>
              <a:rPr lang="en-US" baseline="0" dirty="0" err="1"/>
              <a:t>lệ</a:t>
            </a:r>
            <a:r>
              <a:rPr lang="en-US" baseline="0" dirty="0"/>
              <a:t> </a:t>
            </a:r>
            <a:r>
              <a:rPr lang="en-US" baseline="0" dirty="0" err="1"/>
              <a:t>lỗi</a:t>
            </a:r>
            <a:r>
              <a:rPr lang="en-US" baseline="0" dirty="0"/>
              <a:t> </a:t>
            </a:r>
            <a:r>
              <a:rPr lang="en-US" baseline="0" dirty="0" err="1"/>
              <a:t>của</a:t>
            </a:r>
            <a:r>
              <a:rPr lang="en-US" baseline="0" dirty="0"/>
              <a:t> </a:t>
            </a:r>
            <a:r>
              <a:rPr lang="en-US" baseline="0" dirty="0" err="1"/>
              <a:t>ngay</a:t>
            </a:r>
            <a:r>
              <a:rPr lang="en-US" baseline="0" dirty="0"/>
              <a:t> </a:t>
            </a:r>
            <a:r>
              <a:rPr lang="en-US" baseline="0" dirty="0" err="1"/>
              <a:t>hôm</a:t>
            </a:r>
            <a:r>
              <a:rPr lang="en-US" baseline="0" dirty="0"/>
              <a:t> </a:t>
            </a:r>
            <a:r>
              <a:rPr lang="en-US" baseline="0" dirty="0" err="1"/>
              <a:t>đó</a:t>
            </a:r>
            <a:r>
              <a:rPr lang="en-US" baseline="0" dirty="0"/>
              <a:t> </a:t>
            </a:r>
            <a:r>
              <a:rPr lang="en-US" baseline="0" dirty="0" err="1"/>
              <a:t>thôi</a:t>
            </a:r>
            <a:r>
              <a:rPr lang="en-US" baseline="0" dirty="0"/>
              <a:t>, </a:t>
            </a:r>
            <a:r>
              <a:rPr lang="en-US" baseline="0" dirty="0" err="1"/>
              <a:t>để</a:t>
            </a:r>
            <a:r>
              <a:rPr lang="en-US" baseline="0" dirty="0"/>
              <a:t> </a:t>
            </a:r>
            <a:r>
              <a:rPr lang="en-US" baseline="0" dirty="0" err="1"/>
              <a:t>dư</a:t>
            </a:r>
            <a:r>
              <a:rPr lang="en-US" baseline="0" dirty="0"/>
              <a:t> </a:t>
            </a:r>
            <a:r>
              <a:rPr lang="en-US" baseline="0" dirty="0" err="1"/>
              <a:t>đoan</a:t>
            </a:r>
            <a:r>
              <a:rPr lang="en-US" baseline="0" dirty="0"/>
              <a:t> </a:t>
            </a:r>
            <a:r>
              <a:rPr lang="en-US" baseline="0" dirty="0" err="1"/>
              <a:t>đc</a:t>
            </a:r>
            <a:r>
              <a:rPr lang="en-US" baseline="0" dirty="0"/>
              <a:t> ti </a:t>
            </a:r>
            <a:r>
              <a:rPr lang="en-US" baseline="0" dirty="0" err="1"/>
              <a:t>lê</a:t>
            </a:r>
            <a:r>
              <a:rPr lang="en-US" baseline="0" dirty="0"/>
              <a:t> </a:t>
            </a:r>
            <a:r>
              <a:rPr lang="en-US" baseline="0" dirty="0" err="1"/>
              <a:t>lôi</a:t>
            </a:r>
            <a:r>
              <a:rPr lang="en-US" baseline="0" dirty="0"/>
              <a:t> </a:t>
            </a:r>
            <a:r>
              <a:rPr lang="en-US" baseline="0" dirty="0" err="1"/>
              <a:t>trong</a:t>
            </a:r>
            <a:r>
              <a:rPr lang="en-US" baseline="0" dirty="0"/>
              <a:t> </a:t>
            </a:r>
            <a:r>
              <a:rPr lang="en-US" baseline="0" dirty="0" err="1"/>
              <a:t>tương</a:t>
            </a:r>
            <a:r>
              <a:rPr lang="en-US" baseline="0" dirty="0"/>
              <a:t> </a:t>
            </a:r>
            <a:r>
              <a:rPr lang="en-US" baseline="0" dirty="0" err="1"/>
              <a:t>lai</a:t>
            </a:r>
            <a:r>
              <a:rPr lang="en-US" baseline="0" dirty="0"/>
              <a:t> </a:t>
            </a:r>
            <a:r>
              <a:rPr lang="en-US" baseline="0" dirty="0" err="1"/>
              <a:t>thi</a:t>
            </a:r>
            <a:r>
              <a:rPr lang="en-US" baseline="0" dirty="0"/>
              <a:t> </a:t>
            </a:r>
            <a:r>
              <a:rPr lang="en-US" baseline="0" dirty="0" err="1"/>
              <a:t>cần</a:t>
            </a:r>
            <a:r>
              <a:rPr lang="en-US" baseline="0" dirty="0"/>
              <a:t> </a:t>
            </a:r>
            <a:r>
              <a:rPr lang="en-US" baseline="0" dirty="0" err="1"/>
              <a:t>đến</a:t>
            </a:r>
            <a:r>
              <a:rPr lang="en-US" baseline="0" dirty="0"/>
              <a:t> </a:t>
            </a:r>
            <a:r>
              <a:rPr lang="en-US" baseline="0" dirty="0" err="1"/>
              <a:t>bài</a:t>
            </a:r>
            <a:r>
              <a:rPr lang="en-US" baseline="0" dirty="0"/>
              <a:t> </a:t>
            </a:r>
            <a:r>
              <a:rPr lang="en-US" baseline="0" dirty="0" err="1"/>
              <a:t>toán</a:t>
            </a:r>
            <a:r>
              <a:rPr lang="en-US" baseline="0" dirty="0"/>
              <a:t> </a:t>
            </a:r>
            <a:r>
              <a:rPr lang="en-US" baseline="0" dirty="0" err="1"/>
              <a:t>xác</a:t>
            </a:r>
            <a:r>
              <a:rPr lang="en-US" baseline="0" dirty="0"/>
              <a:t> </a:t>
            </a:r>
            <a:r>
              <a:rPr lang="en-US" baseline="0" dirty="0" err="1"/>
              <a:t>suất</a:t>
            </a:r>
            <a:endParaRPr lang="en-US" baseline="0" dirty="0"/>
          </a:p>
          <a:p>
            <a:r>
              <a:rPr lang="en-US" baseline="0" dirty="0" err="1"/>
              <a:t>Bài</a:t>
            </a:r>
            <a:r>
              <a:rPr lang="en-US" baseline="0" dirty="0"/>
              <a:t> </a:t>
            </a:r>
            <a:r>
              <a:rPr lang="en-US" baseline="0" dirty="0" err="1"/>
              <a:t>toán</a:t>
            </a:r>
            <a:r>
              <a:rPr lang="en-US" baseline="0" dirty="0"/>
              <a:t> </a:t>
            </a:r>
            <a:r>
              <a:rPr lang="en-US" baseline="0" dirty="0" err="1"/>
              <a:t>này</a:t>
            </a:r>
            <a:r>
              <a:rPr lang="en-US" baseline="0" dirty="0"/>
              <a:t> </a:t>
            </a:r>
            <a:r>
              <a:rPr lang="en-US" baseline="0" dirty="0" err="1"/>
              <a:t>cần</a:t>
            </a:r>
            <a:r>
              <a:rPr lang="en-US" baseline="0" dirty="0"/>
              <a:t> </a:t>
            </a:r>
            <a:r>
              <a:rPr lang="en-US" baseline="0" dirty="0" err="1"/>
              <a:t>có</a:t>
            </a:r>
            <a:r>
              <a:rPr lang="en-US" baseline="0" dirty="0"/>
              <a:t> </a:t>
            </a:r>
            <a:r>
              <a:rPr lang="en-US" baseline="0" dirty="0" err="1"/>
              <a:t>dữ</a:t>
            </a:r>
            <a:r>
              <a:rPr lang="en-US" baseline="0" dirty="0"/>
              <a:t> </a:t>
            </a:r>
            <a:r>
              <a:rPr lang="en-US" baseline="0" dirty="0" err="1"/>
              <a:t>liệu</a:t>
            </a:r>
            <a:r>
              <a:rPr lang="en-US" baseline="0" dirty="0"/>
              <a:t> </a:t>
            </a:r>
            <a:r>
              <a:rPr lang="en-US" baseline="0" dirty="0" err="1"/>
              <a:t>lấy</a:t>
            </a:r>
            <a:r>
              <a:rPr lang="en-US" baseline="0" dirty="0"/>
              <a:t> </a:t>
            </a:r>
            <a:r>
              <a:rPr lang="en-US" baseline="0" dirty="0" err="1"/>
              <a:t>mẫu</a:t>
            </a:r>
            <a:r>
              <a:rPr lang="en-US" baseline="0" dirty="0">
                <a:sym typeface="Wingdings" panose="05000000000000000000" pitchFamily="2" charset="2"/>
              </a:rPr>
              <a:t> </a:t>
            </a:r>
            <a:r>
              <a:rPr lang="en-US" baseline="0" dirty="0" err="1">
                <a:sym typeface="Wingdings" panose="05000000000000000000" pitchFamily="2" charset="2"/>
              </a:rPr>
              <a:t>tức</a:t>
            </a:r>
            <a:r>
              <a:rPr lang="en-US" baseline="0" dirty="0">
                <a:sym typeface="Wingdings" panose="05000000000000000000" pitchFamily="2" charset="2"/>
              </a:rPr>
              <a:t> </a:t>
            </a:r>
            <a:r>
              <a:rPr lang="en-US" baseline="0" dirty="0" err="1">
                <a:sym typeface="Wingdings" panose="05000000000000000000" pitchFamily="2" charset="2"/>
              </a:rPr>
              <a:t>là</a:t>
            </a:r>
            <a:r>
              <a:rPr lang="en-US" baseline="0" dirty="0">
                <a:sym typeface="Wingdings" panose="05000000000000000000" pitchFamily="2" charset="2"/>
              </a:rPr>
              <a:t> </a:t>
            </a:r>
            <a:r>
              <a:rPr lang="en-US" baseline="0" dirty="0" err="1">
                <a:sym typeface="Wingdings" panose="05000000000000000000" pitchFamily="2" charset="2"/>
              </a:rPr>
              <a:t>dựa</a:t>
            </a:r>
            <a:r>
              <a:rPr lang="en-US" baseline="0" dirty="0">
                <a:sym typeface="Wingdings" panose="05000000000000000000" pitchFamily="2" charset="2"/>
              </a:rPr>
              <a:t> </a:t>
            </a:r>
            <a:r>
              <a:rPr lang="en-US" baseline="0" dirty="0" err="1">
                <a:sym typeface="Wingdings" panose="05000000000000000000" pitchFamily="2" charset="2"/>
              </a:rPr>
              <a:t>vào</a:t>
            </a:r>
            <a:r>
              <a:rPr lang="en-US" baseline="0" dirty="0">
                <a:sym typeface="Wingdings" panose="05000000000000000000" pitchFamily="2" charset="2"/>
              </a:rPr>
              <a:t> </a:t>
            </a:r>
            <a:r>
              <a:rPr lang="en-US" baseline="0" dirty="0" err="1">
                <a:sym typeface="Wingdings" panose="05000000000000000000" pitchFamily="2" charset="2"/>
              </a:rPr>
              <a:t>dữ</a:t>
            </a:r>
            <a:r>
              <a:rPr lang="en-US" baseline="0" dirty="0">
                <a:sym typeface="Wingdings" panose="05000000000000000000" pitchFamily="2" charset="2"/>
              </a:rPr>
              <a:t> </a:t>
            </a:r>
            <a:r>
              <a:rPr lang="en-US" baseline="0" dirty="0" err="1">
                <a:sym typeface="Wingdings" panose="05000000000000000000" pitchFamily="2" charset="2"/>
              </a:rPr>
              <a:t>liệu</a:t>
            </a:r>
            <a:r>
              <a:rPr lang="en-US" baseline="0" dirty="0">
                <a:sym typeface="Wingdings" panose="05000000000000000000" pitchFamily="2" charset="2"/>
              </a:rPr>
              <a:t> </a:t>
            </a:r>
            <a:r>
              <a:rPr lang="en-US" baseline="0" dirty="0" err="1">
                <a:sym typeface="Wingdings" panose="05000000000000000000" pitchFamily="2" charset="2"/>
              </a:rPr>
              <a:t>lấy</a:t>
            </a:r>
            <a:r>
              <a:rPr lang="en-US" baseline="0" dirty="0">
                <a:sym typeface="Wingdings" panose="05000000000000000000" pitchFamily="2" charset="2"/>
              </a:rPr>
              <a:t> </a:t>
            </a:r>
            <a:r>
              <a:rPr lang="en-US" baseline="0" dirty="0" err="1">
                <a:sym typeface="Wingdings" panose="05000000000000000000" pitchFamily="2" charset="2"/>
              </a:rPr>
              <a:t>mẫu</a:t>
            </a:r>
            <a:r>
              <a:rPr lang="en-US" baseline="0" dirty="0">
                <a:sym typeface="Wingdings" panose="05000000000000000000" pitchFamily="2" charset="2"/>
              </a:rPr>
              <a:t> </a:t>
            </a:r>
            <a:r>
              <a:rPr lang="en-US" baseline="0" dirty="0" err="1">
                <a:sym typeface="Wingdings" panose="05000000000000000000" pitchFamily="2" charset="2"/>
              </a:rPr>
              <a:t>của</a:t>
            </a:r>
            <a:r>
              <a:rPr lang="en-US" baseline="0" dirty="0">
                <a:sym typeface="Wingdings" panose="05000000000000000000" pitchFamily="2" charset="2"/>
              </a:rPr>
              <a:t> </a:t>
            </a:r>
            <a:r>
              <a:rPr lang="en-US" baseline="0" dirty="0" err="1">
                <a:sym typeface="Wingdings" panose="05000000000000000000" pitchFamily="2" charset="2"/>
              </a:rPr>
              <a:t>dây</a:t>
            </a:r>
            <a:r>
              <a:rPr lang="en-US" baseline="0" dirty="0">
                <a:sym typeface="Wingdings" panose="05000000000000000000" pitchFamily="2" charset="2"/>
              </a:rPr>
              <a:t> </a:t>
            </a:r>
            <a:r>
              <a:rPr lang="en-US" baseline="0" dirty="0" err="1">
                <a:sym typeface="Wingdings" panose="05000000000000000000" pitchFamily="2" charset="2"/>
              </a:rPr>
              <a:t>chuyền</a:t>
            </a:r>
            <a:r>
              <a:rPr lang="en-US" baseline="0" dirty="0">
                <a:sym typeface="Wingdings" panose="05000000000000000000" pitchFamily="2" charset="2"/>
              </a:rPr>
              <a:t>, </a:t>
            </a:r>
            <a:r>
              <a:rPr lang="en-US" baseline="0" dirty="0" err="1">
                <a:sym typeface="Wingdings" panose="05000000000000000000" pitchFamily="2" charset="2"/>
              </a:rPr>
              <a:t>cần</a:t>
            </a:r>
            <a:r>
              <a:rPr lang="en-US" baseline="0" dirty="0">
                <a:sym typeface="Wingdings" panose="05000000000000000000" pitchFamily="2" charset="2"/>
              </a:rPr>
              <a:t> </a:t>
            </a:r>
            <a:r>
              <a:rPr lang="en-US" baseline="0" dirty="0" err="1">
                <a:sym typeface="Wingdings" panose="05000000000000000000" pitchFamily="2" charset="2"/>
              </a:rPr>
              <a:t>fai</a:t>
            </a:r>
            <a:r>
              <a:rPr lang="en-US" baseline="0" dirty="0">
                <a:sym typeface="Wingdings" panose="05000000000000000000" pitchFamily="2" charset="2"/>
              </a:rPr>
              <a:t> </a:t>
            </a:r>
            <a:r>
              <a:rPr lang="en-US" baseline="0" dirty="0" err="1">
                <a:sym typeface="Wingdings" panose="05000000000000000000" pitchFamily="2" charset="2"/>
              </a:rPr>
              <a:t>dự</a:t>
            </a:r>
            <a:r>
              <a:rPr lang="en-US" baseline="0" dirty="0">
                <a:sym typeface="Wingdings" panose="05000000000000000000" pitchFamily="2" charset="2"/>
              </a:rPr>
              <a:t> </a:t>
            </a:r>
            <a:r>
              <a:rPr lang="en-US" baseline="0" dirty="0" err="1">
                <a:sym typeface="Wingdings" panose="05000000000000000000" pitchFamily="2" charset="2"/>
              </a:rPr>
              <a:t>đoán</a:t>
            </a:r>
            <a:r>
              <a:rPr lang="en-US" baseline="0" dirty="0">
                <a:sym typeface="Wingdings" panose="05000000000000000000" pitchFamily="2" charset="2"/>
              </a:rPr>
              <a:t> </a:t>
            </a:r>
            <a:r>
              <a:rPr lang="en-US" baseline="0" dirty="0" err="1">
                <a:sym typeface="Wingdings" panose="05000000000000000000" pitchFamily="2" charset="2"/>
              </a:rPr>
              <a:t>đc</a:t>
            </a:r>
            <a:r>
              <a:rPr lang="en-US" baseline="0" dirty="0">
                <a:sym typeface="Wingdings" panose="05000000000000000000" pitchFamily="2" charset="2"/>
              </a:rPr>
              <a:t> ti </a:t>
            </a:r>
            <a:r>
              <a:rPr lang="en-US" baseline="0" dirty="0" err="1">
                <a:sym typeface="Wingdings" panose="05000000000000000000" pitchFamily="2" charset="2"/>
              </a:rPr>
              <a:t>lệ</a:t>
            </a:r>
            <a:r>
              <a:rPr lang="en-US" baseline="0" dirty="0">
                <a:sym typeface="Wingdings" panose="05000000000000000000" pitchFamily="2" charset="2"/>
              </a:rPr>
              <a:t> </a:t>
            </a:r>
            <a:r>
              <a:rPr lang="en-US" baseline="0" dirty="0" err="1">
                <a:sym typeface="Wingdings" panose="05000000000000000000" pitchFamily="2" charset="2"/>
              </a:rPr>
              <a:t>lỗi</a:t>
            </a:r>
            <a:r>
              <a:rPr lang="en-US" baseline="0" dirty="0">
                <a:sym typeface="Wingdings" panose="05000000000000000000" pitchFamily="2" charset="2"/>
              </a:rPr>
              <a:t> </a:t>
            </a:r>
            <a:r>
              <a:rPr lang="en-US" baseline="0" dirty="0" err="1">
                <a:sym typeface="Wingdings" panose="05000000000000000000" pitchFamily="2" charset="2"/>
              </a:rPr>
              <a:t>nếu</a:t>
            </a:r>
            <a:r>
              <a:rPr lang="en-US" baseline="0" dirty="0">
                <a:sym typeface="Wingdings" panose="05000000000000000000" pitchFamily="2" charset="2"/>
              </a:rPr>
              <a:t> </a:t>
            </a:r>
            <a:r>
              <a:rPr lang="en-US" baseline="0" dirty="0" err="1">
                <a:sym typeface="Wingdings" panose="05000000000000000000" pitchFamily="2" charset="2"/>
              </a:rPr>
              <a:t>sx</a:t>
            </a:r>
            <a:r>
              <a:rPr lang="en-US" baseline="0" dirty="0">
                <a:sym typeface="Wingdings" panose="05000000000000000000" pitchFamily="2" charset="2"/>
              </a:rPr>
              <a:t> </a:t>
            </a:r>
            <a:r>
              <a:rPr lang="en-US" baseline="0" dirty="0" err="1">
                <a:sym typeface="Wingdings" panose="05000000000000000000" pitchFamily="2" charset="2"/>
              </a:rPr>
              <a:t>trong</a:t>
            </a:r>
            <a:r>
              <a:rPr lang="en-US" baseline="0" dirty="0">
                <a:sym typeface="Wingdings" panose="05000000000000000000" pitchFamily="2" charset="2"/>
              </a:rPr>
              <a:t> </a:t>
            </a:r>
            <a:r>
              <a:rPr lang="en-US" baseline="0" dirty="0" err="1">
                <a:sym typeface="Wingdings" panose="05000000000000000000" pitchFamily="2" charset="2"/>
              </a:rPr>
              <a:t>tương</a:t>
            </a:r>
            <a:r>
              <a:rPr lang="en-US" baseline="0" dirty="0">
                <a:sym typeface="Wingdings" panose="05000000000000000000" pitchFamily="2" charset="2"/>
              </a:rPr>
              <a:t> </a:t>
            </a:r>
            <a:r>
              <a:rPr lang="en-US" baseline="0" dirty="0" err="1">
                <a:sym typeface="Wingdings" panose="05000000000000000000" pitchFamily="2" charset="2"/>
              </a:rPr>
              <a:t>lai</a:t>
            </a:r>
            <a:r>
              <a:rPr lang="en-US" baseline="0" dirty="0">
                <a:sym typeface="Wingdings" panose="05000000000000000000" pitchFamily="2" charset="2"/>
              </a:rPr>
              <a:t> </a:t>
            </a:r>
            <a:r>
              <a:rPr lang="en-US" baseline="0" dirty="0" err="1">
                <a:sym typeface="Wingdings" panose="05000000000000000000" pitchFamily="2" charset="2"/>
              </a:rPr>
              <a:t>là</a:t>
            </a:r>
            <a:r>
              <a:rPr lang="en-US" baseline="0" dirty="0">
                <a:sym typeface="Wingdings" panose="05000000000000000000" pitchFamily="2" charset="2"/>
              </a:rPr>
              <a:t> </a:t>
            </a:r>
            <a:r>
              <a:rPr lang="en-US" baseline="0" dirty="0" err="1">
                <a:sym typeface="Wingdings" panose="05000000000000000000" pitchFamily="2" charset="2"/>
              </a:rPr>
              <a:t>bao</a:t>
            </a:r>
            <a:r>
              <a:rPr lang="en-US" baseline="0" dirty="0">
                <a:sym typeface="Wingdings" panose="05000000000000000000" pitchFamily="2" charset="2"/>
              </a:rPr>
              <a:t> </a:t>
            </a:r>
            <a:r>
              <a:rPr lang="en-US" baseline="0" dirty="0" err="1">
                <a:sym typeface="Wingdings" panose="05000000000000000000" pitchFamily="2" charset="2"/>
              </a:rPr>
              <a:t>nhiêu</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59</a:t>
            </a:fld>
            <a:endParaRPr lang="ko-KR" altLang="en-US" dirty="0"/>
          </a:p>
        </p:txBody>
      </p:sp>
    </p:spTree>
    <p:extLst>
      <p:ext uri="{BB962C8B-B14F-4D97-AF65-F5344CB8AC3E}">
        <p14:creationId xmlns:p14="http://schemas.microsoft.com/office/powerpoint/2010/main" val="155351945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342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latinLnBrk="1"/>
            <a:r>
              <a:rPr lang="en-US" altLang="ko-KR" sz="1200" kern="1200" dirty="0" err="1">
                <a:solidFill>
                  <a:schemeClr val="tx1"/>
                </a:solidFill>
                <a:effectLst/>
                <a:latin typeface="+mn-lt"/>
                <a:ea typeface="+mn-ea"/>
                <a:cs typeface="+mn-cs"/>
              </a:rPr>
              <a:t>Đây</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là</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đồ</a:t>
            </a:r>
            <a:r>
              <a:rPr lang="en-US" altLang="ko-KR" sz="1200" kern="1200" baseline="0" dirty="0">
                <a:solidFill>
                  <a:schemeClr val="tx1"/>
                </a:solidFill>
                <a:effectLst/>
                <a:latin typeface="+mn-lt"/>
                <a:ea typeface="+mn-ea"/>
                <a:cs typeface="+mn-cs"/>
              </a:rPr>
              <a:t> thị </a:t>
            </a:r>
            <a:r>
              <a:rPr lang="en-US" altLang="ko-KR" sz="1200" kern="1200" baseline="0" dirty="0" err="1">
                <a:solidFill>
                  <a:schemeClr val="tx1"/>
                </a:solidFill>
                <a:effectLst/>
                <a:latin typeface="+mn-lt"/>
                <a:ea typeface="+mn-ea"/>
                <a:cs typeface="+mn-cs"/>
              </a:rPr>
              <a:t>phân</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phối</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chuẩn</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thể</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hiện</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tỉ</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lệ</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dữ</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liệu</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tập</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trung</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phân</a:t>
            </a:r>
            <a:r>
              <a:rPr lang="en-US" altLang="ko-KR" sz="1200" kern="1200" baseline="0" dirty="0">
                <a:solidFill>
                  <a:schemeClr val="tx1"/>
                </a:solidFill>
                <a:effectLst/>
                <a:latin typeface="+mn-lt"/>
                <a:ea typeface="+mn-ea"/>
                <a:cs typeface="+mn-cs"/>
              </a:rPr>
              <a:t> chia </a:t>
            </a:r>
            <a:r>
              <a:rPr lang="en-US" altLang="ko-KR" sz="1200" kern="1200" baseline="0" dirty="0" err="1">
                <a:solidFill>
                  <a:schemeClr val="tx1"/>
                </a:solidFill>
                <a:effectLst/>
                <a:latin typeface="+mn-lt"/>
                <a:ea typeface="+mn-ea"/>
                <a:cs typeface="+mn-cs"/>
              </a:rPr>
              <a:t>theo</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số</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bước</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độ</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lệch</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chuẩn</a:t>
            </a:r>
            <a:endParaRPr lang="en-US" altLang="ko-KR" sz="1200" kern="1200" baseline="0" dirty="0">
              <a:solidFill>
                <a:schemeClr val="tx1"/>
              </a:solidFill>
              <a:effectLst/>
              <a:latin typeface="+mn-lt"/>
              <a:ea typeface="+mn-ea"/>
              <a:cs typeface="+mn-cs"/>
            </a:endParaRPr>
          </a:p>
          <a:p>
            <a:pPr latinLnBrk="1"/>
            <a:r>
              <a:rPr lang="en-US" altLang="ko-KR" sz="1200" kern="1200" dirty="0" err="1">
                <a:solidFill>
                  <a:schemeClr val="tx1"/>
                </a:solidFill>
                <a:effectLst/>
                <a:latin typeface="+mn-lt"/>
                <a:ea typeface="+mn-ea"/>
                <a:cs typeface="+mn-cs"/>
              </a:rPr>
              <a:t>Tính</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từ</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gtri</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tb</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thì</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sẽ</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có</a:t>
            </a:r>
            <a:r>
              <a:rPr lang="en-US" altLang="ko-KR" sz="1200" kern="1200" baseline="0" dirty="0">
                <a:solidFill>
                  <a:schemeClr val="tx1"/>
                </a:solidFill>
                <a:effectLst/>
                <a:latin typeface="+mn-lt"/>
                <a:ea typeface="+mn-ea"/>
                <a:cs typeface="+mn-cs"/>
              </a:rPr>
              <a:t> 68.27% </a:t>
            </a:r>
            <a:r>
              <a:rPr lang="en-US" altLang="ko-KR" sz="1200" kern="1200" baseline="0" dirty="0" err="1">
                <a:solidFill>
                  <a:schemeClr val="tx1"/>
                </a:solidFill>
                <a:effectLst/>
                <a:latin typeface="+mn-lt"/>
                <a:ea typeface="+mn-ea"/>
                <a:cs typeface="+mn-cs"/>
              </a:rPr>
              <a:t>lượng</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dữ</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liệu</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nằm</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giữa</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khoảng</a:t>
            </a:r>
            <a:r>
              <a:rPr lang="en-US" altLang="ko-KR" sz="1200" kern="1200" baseline="0" dirty="0">
                <a:solidFill>
                  <a:schemeClr val="tx1"/>
                </a:solidFill>
                <a:effectLst/>
                <a:latin typeface="+mn-lt"/>
                <a:ea typeface="+mn-ea"/>
                <a:cs typeface="+mn-cs"/>
              </a:rPr>
              <a:t> +-1 </a:t>
            </a:r>
            <a:r>
              <a:rPr lang="en-US" altLang="ko-KR" sz="1200" kern="1200" baseline="0" dirty="0" err="1">
                <a:solidFill>
                  <a:schemeClr val="tx1"/>
                </a:solidFill>
                <a:effectLst/>
                <a:latin typeface="+mn-lt"/>
                <a:ea typeface="+mn-ea"/>
                <a:cs typeface="+mn-cs"/>
              </a:rPr>
              <a:t>độ</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lêch</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chuân</a:t>
            </a:r>
            <a:endParaRPr lang="en-US" altLang="ko-KR" sz="1200" kern="1200" baseline="0" dirty="0">
              <a:solidFill>
                <a:schemeClr val="tx1"/>
              </a:solidFill>
              <a:effectLst/>
              <a:latin typeface="+mn-lt"/>
              <a:ea typeface="+mn-ea"/>
              <a:cs typeface="+mn-cs"/>
            </a:endParaRPr>
          </a:p>
          <a:p>
            <a:pPr latinLnBrk="1"/>
            <a:r>
              <a:rPr lang="en-US" altLang="ko-KR" sz="1200" kern="1200" baseline="0" dirty="0">
                <a:solidFill>
                  <a:schemeClr val="tx1"/>
                </a:solidFill>
                <a:effectLst/>
                <a:latin typeface="+mn-lt"/>
                <a:ea typeface="+mn-ea"/>
                <a:cs typeface="+mn-cs"/>
              </a:rPr>
              <a:t>+-3 s </a:t>
            </a:r>
            <a:r>
              <a:rPr lang="en-US" altLang="ko-KR" sz="1200" kern="1200" baseline="0" dirty="0" err="1">
                <a:solidFill>
                  <a:schemeClr val="tx1"/>
                </a:solidFill>
                <a:effectLst/>
                <a:latin typeface="+mn-lt"/>
                <a:ea typeface="+mn-ea"/>
                <a:cs typeface="+mn-cs"/>
              </a:rPr>
              <a:t>chính</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là</a:t>
            </a:r>
            <a:r>
              <a:rPr lang="en-US" altLang="ko-KR" sz="1200" kern="1200" baseline="0" dirty="0">
                <a:solidFill>
                  <a:schemeClr val="tx1"/>
                </a:solidFill>
                <a:effectLst/>
                <a:latin typeface="+mn-lt"/>
                <a:ea typeface="+mn-ea"/>
                <a:cs typeface="+mn-cs"/>
              </a:rPr>
              <a:t> concept </a:t>
            </a:r>
            <a:r>
              <a:rPr lang="en-US" altLang="ko-KR" sz="1200" kern="1200" baseline="0" dirty="0" err="1">
                <a:solidFill>
                  <a:schemeClr val="tx1"/>
                </a:solidFill>
                <a:effectLst/>
                <a:latin typeface="+mn-lt"/>
                <a:ea typeface="+mn-ea"/>
                <a:cs typeface="+mn-cs"/>
              </a:rPr>
              <a:t>để</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thiêt</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lập</a:t>
            </a:r>
            <a:r>
              <a:rPr lang="en-US" altLang="ko-KR" sz="1200" kern="1200" baseline="0" dirty="0">
                <a:solidFill>
                  <a:schemeClr val="tx1"/>
                </a:solidFill>
                <a:effectLst/>
                <a:latin typeface="+mn-lt"/>
                <a:ea typeface="+mn-ea"/>
                <a:cs typeface="+mn-cs"/>
              </a:rPr>
              <a:t> control limit (UCL, LCL)</a:t>
            </a:r>
            <a:endParaRPr lang="en-US"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This slide can be easier to understand if I take an example.</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For instance when the mean is 10cm and the standard deviation is 1 cm, the proportion of samples in the range 9~11cm is 68.27%</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(It would be better if we take the example of LG product)</a:t>
            </a:r>
            <a:endParaRPr lang="ko-KR" altLang="ko-KR" sz="1200" kern="1200" dirty="0">
              <a:solidFill>
                <a:schemeClr val="tx1"/>
              </a:solidFill>
              <a:effectLst/>
              <a:latin typeface="+mn-lt"/>
              <a:ea typeface="+mn-ea"/>
              <a:cs typeface="+mn-cs"/>
            </a:endParaRPr>
          </a:p>
        </p:txBody>
      </p:sp>
      <p:sp>
        <p:nvSpPr>
          <p:cNvPr id="4" name="슬라이드 번호 개체 틀 3"/>
          <p:cNvSpPr>
            <a:spLocks noGrp="1"/>
          </p:cNvSpPr>
          <p:nvPr>
            <p:ph type="sldNum" sz="quarter" idx="5"/>
          </p:nvPr>
        </p:nvSpPr>
        <p:spPr/>
        <p:txBody>
          <a:bodyPr/>
          <a:lstStyle/>
          <a:p>
            <a:pPr>
              <a:defRPr/>
            </a:pPr>
            <a:fld id="{150527D8-A24A-4E47-8FE7-25B8E5A8E52D}" type="slidenum">
              <a:rPr lang="ko-KR" altLang="en-US" smtClean="0"/>
              <a:pPr>
                <a:defRPr/>
              </a:pPr>
              <a:t>60</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66062120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err="1"/>
              <a:t>Đồ</a:t>
            </a:r>
            <a:r>
              <a:rPr lang="en-US" baseline="0" dirty="0"/>
              <a:t> thị </a:t>
            </a:r>
            <a:r>
              <a:rPr lang="en-US" baseline="0" dirty="0" err="1"/>
              <a:t>phân</a:t>
            </a:r>
            <a:r>
              <a:rPr lang="en-US" baseline="0" dirty="0"/>
              <a:t> </a:t>
            </a:r>
            <a:r>
              <a:rPr lang="en-US" baseline="0" dirty="0" err="1"/>
              <a:t>phối</a:t>
            </a:r>
            <a:r>
              <a:rPr lang="en-US" baseline="0" dirty="0"/>
              <a:t> </a:t>
            </a:r>
            <a:r>
              <a:rPr lang="en-US" baseline="0" dirty="0" err="1"/>
              <a:t>chuẩn</a:t>
            </a:r>
            <a:endParaRPr lang="en-US" baseline="0" dirty="0"/>
          </a:p>
          <a:p>
            <a:r>
              <a:rPr lang="en-US" baseline="0" dirty="0"/>
              <a:t>X bar= X </a:t>
            </a:r>
            <a:r>
              <a:rPr lang="en-US" baseline="0" dirty="0" err="1"/>
              <a:t>trung</a:t>
            </a:r>
            <a:r>
              <a:rPr lang="en-US" baseline="0" dirty="0"/>
              <a:t> </a:t>
            </a:r>
            <a:r>
              <a:rPr lang="en-US" baseline="0" dirty="0" err="1"/>
              <a:t>bình</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61</a:t>
            </a:fld>
            <a:endParaRPr lang="ko-KR" altLang="en-US" dirty="0"/>
          </a:p>
        </p:txBody>
      </p:sp>
    </p:spTree>
    <p:extLst>
      <p:ext uri="{BB962C8B-B14F-4D97-AF65-F5344CB8AC3E}">
        <p14:creationId xmlns:p14="http://schemas.microsoft.com/office/powerpoint/2010/main" val="10750239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Zusl</a:t>
            </a:r>
            <a:r>
              <a:rPr lang="en-US" dirty="0"/>
              <a:t>=(55-50)/5=1</a:t>
            </a:r>
          </a:p>
          <a:p>
            <a:r>
              <a:rPr lang="en-US" dirty="0" err="1"/>
              <a:t>zlsl</a:t>
            </a:r>
            <a:r>
              <a:rPr lang="en-US" dirty="0"/>
              <a:t>=(45-50)/5=-1</a:t>
            </a:r>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63</a:t>
            </a:fld>
            <a:endParaRPr lang="ko-KR" altLang="en-US" dirty="0"/>
          </a:p>
        </p:txBody>
      </p:sp>
    </p:spTree>
    <p:extLst>
      <p:ext uri="{BB962C8B-B14F-4D97-AF65-F5344CB8AC3E}">
        <p14:creationId xmlns:p14="http://schemas.microsoft.com/office/powerpoint/2010/main" val="311130537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65</a:t>
            </a:fld>
            <a:endParaRPr lang="ko-KR" altLang="en-US" dirty="0"/>
          </a:p>
        </p:txBody>
      </p:sp>
    </p:spTree>
    <p:extLst>
      <p:ext uri="{BB962C8B-B14F-4D97-AF65-F5344CB8AC3E}">
        <p14:creationId xmlns:p14="http://schemas.microsoft.com/office/powerpoint/2010/main" val="140359326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665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ko-KR" dirty="0"/>
              <a:t>Kaizen</a:t>
            </a:r>
            <a:r>
              <a:rPr lang="en-US" altLang="ko-KR" baseline="0" dirty="0"/>
              <a:t> </a:t>
            </a:r>
            <a:r>
              <a:rPr lang="en-US" altLang="ko-KR" baseline="0" dirty="0" err="1"/>
              <a:t>của</a:t>
            </a:r>
            <a:r>
              <a:rPr lang="en-US" altLang="ko-KR" baseline="0" dirty="0"/>
              <a:t> </a:t>
            </a:r>
            <a:r>
              <a:rPr lang="en-US" altLang="ko-KR" baseline="0" dirty="0" err="1"/>
              <a:t>nhật</a:t>
            </a:r>
            <a:r>
              <a:rPr lang="en-US" altLang="ko-KR" baseline="0" dirty="0"/>
              <a:t>: </a:t>
            </a:r>
            <a:r>
              <a:rPr lang="en-US" altLang="ko-KR" baseline="0" dirty="0" err="1"/>
              <a:t>điều</a:t>
            </a:r>
            <a:r>
              <a:rPr lang="en-US" altLang="ko-KR" baseline="0" dirty="0"/>
              <a:t> </a:t>
            </a:r>
            <a:r>
              <a:rPr lang="en-US" altLang="ko-KR" baseline="0" dirty="0" err="1"/>
              <a:t>kiện</a:t>
            </a:r>
            <a:r>
              <a:rPr lang="en-US" altLang="ko-KR" baseline="0" dirty="0"/>
              <a:t> </a:t>
            </a:r>
            <a:r>
              <a:rPr lang="en-US" altLang="ko-KR" baseline="0" dirty="0" err="1"/>
              <a:t>tiên</a:t>
            </a:r>
            <a:r>
              <a:rPr lang="en-US" altLang="ko-KR" baseline="0" dirty="0"/>
              <a:t> </a:t>
            </a:r>
            <a:r>
              <a:rPr lang="en-US" altLang="ko-KR" baseline="0" dirty="0" err="1"/>
              <a:t>quyết</a:t>
            </a:r>
            <a:r>
              <a:rPr lang="en-US" altLang="ko-KR" baseline="0" dirty="0"/>
              <a:t>.</a:t>
            </a:r>
            <a:endParaRPr lang="ko-KR" altLang="en-US" dirty="0"/>
          </a:p>
        </p:txBody>
      </p:sp>
      <p:sp>
        <p:nvSpPr>
          <p:cNvPr id="35844"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CCC3257B-3AE0-4D37-9A3D-70C30F2E3D8C}" type="slidenum">
              <a:rPr lang="ko-KR" altLang="en-US" smtClean="0"/>
              <a:pPr fontAlgn="base">
                <a:spcBef>
                  <a:spcPct val="0"/>
                </a:spcBef>
                <a:spcAft>
                  <a:spcPct val="0"/>
                </a:spcAft>
                <a:defRPr/>
              </a:pPr>
              <a:t>67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73723464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9EBA91CF-E606-4F35-81C2-7521F02C0329}" type="slidenum">
              <a:rPr lang="en-US" altLang="ko-KR">
                <a:solidFill>
                  <a:prstClr val="black"/>
                </a:solidFill>
              </a:rPr>
              <a:pPr>
                <a:defRPr/>
              </a:pPr>
              <a:t>69</a:t>
            </a:fld>
            <a:endParaRPr lang="en-US" altLang="ko-KR" dirty="0">
              <a:solidFill>
                <a:prstClr val="black"/>
              </a:solidFill>
            </a:endParaRPr>
          </a:p>
        </p:txBody>
      </p:sp>
      <p:sp>
        <p:nvSpPr>
          <p:cNvPr id="327683" name="Rectangle 2"/>
          <p:cNvSpPr>
            <a:spLocks noGrp="1" noRot="1" noChangeAspect="1" noChangeArrowheads="1" noTextEdit="1"/>
          </p:cNvSpPr>
          <p:nvPr>
            <p:ph type="sldImg"/>
          </p:nvPr>
        </p:nvSpPr>
        <p:spPr bwMode="auto">
          <a:xfrm>
            <a:off x="-22225" y="585788"/>
            <a:ext cx="5757863" cy="39862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7684" name="Text Box 5"/>
          <p:cNvSpPr txBox="1">
            <a:spLocks noChangeArrowheads="1"/>
          </p:cNvSpPr>
          <p:nvPr/>
        </p:nvSpPr>
        <p:spPr bwMode="auto">
          <a:xfrm>
            <a:off x="5842415" y="1100317"/>
            <a:ext cx="427025" cy="24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3</a:t>
            </a:r>
            <a:r>
              <a:rPr lang="ko-KR" altLang="en-US" b="1" dirty="0">
                <a:solidFill>
                  <a:srgbClr val="404040"/>
                </a:solidFill>
                <a:latin typeface="Arial" pitchFamily="34" charset="0"/>
                <a:ea typeface="바탕체" pitchFamily="17" charset="-127"/>
              </a:rPr>
              <a:t>분</a:t>
            </a:r>
          </a:p>
        </p:txBody>
      </p:sp>
      <p:sp>
        <p:nvSpPr>
          <p:cNvPr id="327685" name="Text Box 6"/>
          <p:cNvSpPr txBox="1">
            <a:spLocks noChangeArrowheads="1"/>
          </p:cNvSpPr>
          <p:nvPr/>
        </p:nvSpPr>
        <p:spPr bwMode="auto">
          <a:xfrm>
            <a:off x="5616907" y="3009225"/>
            <a:ext cx="850853" cy="516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PT</a:t>
            </a:r>
          </a:p>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실습 사례</a:t>
            </a:r>
          </a:p>
        </p:txBody>
      </p:sp>
      <p:sp>
        <p:nvSpPr>
          <p:cNvPr id="327686" name="Text Box 7"/>
          <p:cNvSpPr txBox="1">
            <a:spLocks noChangeArrowheads="1"/>
          </p:cNvSpPr>
          <p:nvPr/>
        </p:nvSpPr>
        <p:spPr bwMode="auto">
          <a:xfrm>
            <a:off x="1412224" y="4964112"/>
            <a:ext cx="1912819" cy="248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필요성 인식</a:t>
            </a:r>
          </a:p>
        </p:txBody>
      </p:sp>
      <p:sp>
        <p:nvSpPr>
          <p:cNvPr id="327687" name="Text Box 8"/>
          <p:cNvSpPr txBox="1">
            <a:spLocks noChangeArrowheads="1"/>
          </p:cNvSpPr>
          <p:nvPr/>
        </p:nvSpPr>
        <p:spPr bwMode="auto">
          <a:xfrm>
            <a:off x="260694" y="5794899"/>
            <a:ext cx="6659681" cy="23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&lt; </a:t>
            </a:r>
            <a:r>
              <a:rPr lang="ko-KR" altLang="en-US" b="1" dirty="0">
                <a:solidFill>
                  <a:srgbClr val="404040"/>
                </a:solidFill>
                <a:latin typeface="Arial" pitchFamily="34" charset="0"/>
                <a:ea typeface="바탕체" pitchFamily="17" charset="-127"/>
              </a:rPr>
              <a:t>진행 </a:t>
            </a:r>
            <a:r>
              <a:rPr lang="en-US" altLang="ko-KR" b="1" dirty="0">
                <a:solidFill>
                  <a:srgbClr val="404040"/>
                </a:solidFill>
                <a:latin typeface="Arial" pitchFamily="34" charset="0"/>
                <a:ea typeface="바탕체" pitchFamily="17" charset="-127"/>
              </a:rPr>
              <a:t>&gt;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강사 소개 및 기대 전달</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관련 강사의 경험을 통한 협상의 중요성</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역량 강화의 기회       </a:t>
            </a:r>
          </a:p>
          <a:p>
            <a:pPr eaLnBrk="0">
              <a:lnSpc>
                <a:spcPct val="55000"/>
              </a:lnSpc>
              <a:spcBef>
                <a:spcPct val="30000"/>
              </a:spcBef>
              <a:spcAft>
                <a:spcPct val="30000"/>
              </a:spcAft>
              <a:buFont typeface="Wingdings" pitchFamily="2" charset="2"/>
              <a:buNone/>
            </a:pPr>
            <a:endParaRPr lang="ko-KR" altLang="en-US" b="1" dirty="0">
              <a:solidFill>
                <a:srgbClr val="404040"/>
              </a:solidFill>
              <a:latin typeface="Arial" pitchFamily="34" charset="0"/>
              <a:ea typeface="바탕체" pitchFamily="17" charset="-127"/>
            </a:endParaRP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학습 목표 제시</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Open </a:t>
            </a:r>
            <a:r>
              <a:rPr lang="ko-KR" altLang="en-US" b="1" dirty="0">
                <a:solidFill>
                  <a:srgbClr val="404040"/>
                </a:solidFill>
                <a:latin typeface="Arial" pitchFamily="34" charset="0"/>
                <a:ea typeface="바탕체" pitchFamily="17" charset="-127"/>
              </a:rPr>
              <a:t>질문 </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평소의 협상 경험은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학습자 답변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협상을 해 본 경험들이 모두 있으니 협상에 대해 이미 많은 것을 이해하고 있다고 판단 됨</a:t>
            </a:r>
            <a:r>
              <a:rPr lang="en-US" altLang="ko-KR" b="1" dirty="0">
                <a:solidFill>
                  <a:srgbClr val="404040"/>
                </a:solidFill>
                <a:latin typeface="Arial" pitchFamily="34" charset="0"/>
                <a:ea typeface="바탕체" pitchFamily="17" charset="-127"/>
              </a:rPr>
              <a:t>. </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늘 해오던 것이므로 평소 경험을 활용하여 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방법 살펴 보고자 함</a:t>
            </a:r>
            <a:r>
              <a:rPr lang="en-US" altLang="ko-KR" b="1" dirty="0">
                <a:solidFill>
                  <a:srgbClr val="404040"/>
                </a:solidFill>
                <a:latin typeface="Arial" pitchFamily="34" charset="0"/>
                <a:ea typeface="바탕체" pitchFamily="17" charset="-127"/>
              </a:rPr>
              <a:t>.</a:t>
            </a:r>
          </a:p>
        </p:txBody>
      </p:sp>
      <p:sp>
        <p:nvSpPr>
          <p:cNvPr id="2" name="바닥글 개체 틀 1"/>
          <p:cNvSpPr>
            <a:spLocks noGrp="1"/>
          </p:cNvSpPr>
          <p:nvPr>
            <p:ph type="ftr" sz="quarter" idx="10"/>
          </p:nvPr>
        </p:nvSpPr>
        <p:spPr/>
        <p:txBody>
          <a:bodyPr/>
          <a:lstStyle/>
          <a:p>
            <a:pPr>
              <a:defRPr/>
            </a:pPr>
            <a:endParaRPr lang="ko-KR" altLang="en-US" dirty="0"/>
          </a:p>
        </p:txBody>
      </p:sp>
      <p:sp>
        <p:nvSpPr>
          <p:cNvPr id="3" name="Notes Placeholder 2"/>
          <p:cNvSpPr>
            <a:spLocks noGrp="1"/>
          </p:cNvSpPr>
          <p:nvPr>
            <p:ph type="body" idx="1"/>
          </p:nvPr>
        </p:nvSpPr>
        <p:spPr/>
        <p:txBody>
          <a:bodyPr/>
          <a:lstStyle/>
          <a:p>
            <a:r>
              <a:rPr lang="en-US" dirty="0" err="1"/>
              <a:t>Những</a:t>
            </a:r>
            <a:r>
              <a:rPr lang="en-US" dirty="0"/>
              <a:t> </a:t>
            </a:r>
            <a:r>
              <a:rPr lang="en-US" dirty="0" err="1"/>
              <a:t>vđê</a:t>
            </a:r>
            <a:r>
              <a:rPr lang="en-US" baseline="0" dirty="0"/>
              <a:t> </a:t>
            </a:r>
            <a:r>
              <a:rPr lang="en-US" baseline="0" dirty="0" err="1"/>
              <a:t>phưc</a:t>
            </a:r>
            <a:r>
              <a:rPr lang="en-US" baseline="0" dirty="0"/>
              <a:t> </a:t>
            </a:r>
            <a:r>
              <a:rPr lang="en-US" baseline="0" dirty="0" err="1"/>
              <a:t>tạp</a:t>
            </a:r>
            <a:r>
              <a:rPr lang="en-US" baseline="0" dirty="0"/>
              <a:t>, </a:t>
            </a:r>
            <a:r>
              <a:rPr lang="en-US" baseline="0" dirty="0" err="1"/>
              <a:t>cần</a:t>
            </a:r>
            <a:r>
              <a:rPr lang="en-US" baseline="0" dirty="0"/>
              <a:t> </a:t>
            </a:r>
            <a:r>
              <a:rPr lang="en-US" baseline="0" dirty="0" err="1"/>
              <a:t>có</a:t>
            </a:r>
            <a:r>
              <a:rPr lang="en-US" baseline="0" dirty="0"/>
              <a:t> </a:t>
            </a:r>
            <a:r>
              <a:rPr lang="en-US" baseline="0" dirty="0" err="1"/>
              <a:t>cái</a:t>
            </a:r>
            <a:r>
              <a:rPr lang="en-US" baseline="0" dirty="0"/>
              <a:t> </a:t>
            </a:r>
            <a:r>
              <a:rPr lang="en-US" baseline="0" dirty="0" err="1"/>
              <a:t>nhìn</a:t>
            </a:r>
            <a:r>
              <a:rPr lang="en-US" baseline="0" dirty="0"/>
              <a:t> </a:t>
            </a:r>
            <a:r>
              <a:rPr lang="en-US" baseline="0" dirty="0" err="1"/>
              <a:t>tổng</a:t>
            </a:r>
            <a:r>
              <a:rPr lang="en-US" baseline="0" dirty="0"/>
              <a:t> </a:t>
            </a:r>
            <a:r>
              <a:rPr lang="en-US" baseline="0" dirty="0" err="1"/>
              <a:t>quan</a:t>
            </a:r>
            <a:r>
              <a:rPr lang="en-US" baseline="0" dirty="0"/>
              <a:t> </a:t>
            </a:r>
            <a:r>
              <a:rPr lang="en-US" baseline="0" dirty="0" err="1"/>
              <a:t>về</a:t>
            </a:r>
            <a:r>
              <a:rPr lang="en-US" baseline="0" dirty="0"/>
              <a:t> </a:t>
            </a:r>
            <a:r>
              <a:rPr lang="en-US" baseline="0" dirty="0" err="1"/>
              <a:t>vđề</a:t>
            </a:r>
            <a:r>
              <a:rPr lang="en-US" baseline="0" dirty="0"/>
              <a:t>, </a:t>
            </a:r>
            <a:r>
              <a:rPr lang="en-US" baseline="0" dirty="0" err="1"/>
              <a:t>liên</a:t>
            </a:r>
            <a:r>
              <a:rPr lang="en-US" baseline="0" dirty="0"/>
              <a:t> </a:t>
            </a:r>
            <a:r>
              <a:rPr lang="en-US" baseline="0" dirty="0" err="1"/>
              <a:t>quan</a:t>
            </a:r>
            <a:r>
              <a:rPr lang="en-US" baseline="0" dirty="0"/>
              <a:t> </a:t>
            </a:r>
            <a:r>
              <a:rPr lang="en-US" baseline="0" dirty="0" err="1"/>
              <a:t>nhiều</a:t>
            </a:r>
            <a:r>
              <a:rPr lang="en-US" baseline="0" dirty="0"/>
              <a:t> </a:t>
            </a:r>
            <a:r>
              <a:rPr lang="en-US" baseline="0" dirty="0" err="1"/>
              <a:t>phòng</a:t>
            </a:r>
            <a:r>
              <a:rPr lang="en-US" baseline="0" dirty="0"/>
              <a:t> ban </a:t>
            </a:r>
            <a:r>
              <a:rPr lang="en-US" baseline="0" dirty="0" err="1"/>
              <a:t>thì</a:t>
            </a:r>
            <a:r>
              <a:rPr lang="en-US" baseline="0" dirty="0"/>
              <a:t> </a:t>
            </a:r>
            <a:r>
              <a:rPr lang="en-US" baseline="0" dirty="0" err="1"/>
              <a:t>sẽ</a:t>
            </a:r>
            <a:r>
              <a:rPr lang="en-US" baseline="0" dirty="0"/>
              <a:t> dung </a:t>
            </a:r>
            <a:r>
              <a:rPr lang="en-US" baseline="0" dirty="0" err="1"/>
              <a:t>đến</a:t>
            </a:r>
            <a:r>
              <a:rPr lang="en-US" baseline="0" dirty="0"/>
              <a:t> </a:t>
            </a:r>
            <a:r>
              <a:rPr lang="en-US" baseline="0" dirty="0" err="1"/>
              <a:t>nó</a:t>
            </a:r>
            <a:endParaRPr lang="en-US" dirty="0"/>
          </a:p>
        </p:txBody>
      </p:sp>
    </p:spTree>
    <p:extLst>
      <p:ext uri="{BB962C8B-B14F-4D97-AF65-F5344CB8AC3E}">
        <p14:creationId xmlns:p14="http://schemas.microsoft.com/office/powerpoint/2010/main" val="59843806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Hầu</a:t>
            </a:r>
            <a:r>
              <a:rPr lang="en-US" dirty="0"/>
              <a:t> </a:t>
            </a:r>
            <a:r>
              <a:rPr lang="en-US" dirty="0" err="1"/>
              <a:t>như</a:t>
            </a:r>
            <a:r>
              <a:rPr lang="en-US" baseline="0" dirty="0"/>
              <a:t> </a:t>
            </a:r>
            <a:r>
              <a:rPr lang="en-US" baseline="0" dirty="0" err="1"/>
              <a:t>báo</a:t>
            </a:r>
            <a:r>
              <a:rPr lang="en-US" baseline="0" dirty="0"/>
              <a:t> </a:t>
            </a:r>
            <a:r>
              <a:rPr lang="en-US" baseline="0" dirty="0" err="1"/>
              <a:t>cáo</a:t>
            </a:r>
            <a:r>
              <a:rPr lang="en-US" baseline="0" dirty="0"/>
              <a:t> </a:t>
            </a:r>
            <a:r>
              <a:rPr lang="en-US" baseline="0" dirty="0" err="1"/>
              <a:t>này</a:t>
            </a:r>
            <a:r>
              <a:rPr lang="en-US" baseline="0" dirty="0"/>
              <a:t> </a:t>
            </a:r>
            <a:r>
              <a:rPr lang="en-US" baseline="0" dirty="0" err="1"/>
              <a:t>gửi</a:t>
            </a:r>
            <a:r>
              <a:rPr lang="en-US" baseline="0" dirty="0"/>
              <a:t> buyer </a:t>
            </a:r>
            <a:r>
              <a:rPr lang="en-US" baseline="0" dirty="0" err="1"/>
              <a:t>đều</a:t>
            </a:r>
            <a:r>
              <a:rPr lang="en-US" baseline="0" dirty="0"/>
              <a:t> </a:t>
            </a:r>
            <a:r>
              <a:rPr lang="en-US" baseline="0" dirty="0" err="1"/>
              <a:t>có</a:t>
            </a:r>
            <a:r>
              <a:rPr lang="en-US" baseline="0" dirty="0"/>
              <a:t> </a:t>
            </a:r>
            <a:r>
              <a:rPr lang="en-US" baseline="0" dirty="0" err="1"/>
              <a:t>biểu</a:t>
            </a:r>
            <a:r>
              <a:rPr lang="en-US" baseline="0" dirty="0"/>
              <a:t> </a:t>
            </a:r>
            <a:r>
              <a:rPr lang="en-US" baseline="0" dirty="0" err="1"/>
              <a:t>đồ</a:t>
            </a:r>
            <a:r>
              <a:rPr lang="en-US" baseline="0" dirty="0"/>
              <a:t> </a:t>
            </a:r>
            <a:r>
              <a:rPr lang="en-US" baseline="0" dirty="0" err="1"/>
              <a:t>xương</a:t>
            </a:r>
            <a:r>
              <a:rPr lang="en-US" baseline="0" dirty="0"/>
              <a:t> </a:t>
            </a:r>
            <a:r>
              <a:rPr lang="en-US" baseline="0" dirty="0" err="1"/>
              <a:t>cá</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70</a:t>
            </a:fld>
            <a:endParaRPr lang="ko-KR" altLang="en-US" dirty="0"/>
          </a:p>
        </p:txBody>
      </p:sp>
    </p:spTree>
    <p:extLst>
      <p:ext uri="{BB962C8B-B14F-4D97-AF65-F5344CB8AC3E}">
        <p14:creationId xmlns:p14="http://schemas.microsoft.com/office/powerpoint/2010/main" val="155747686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72</a:t>
            </a:fld>
            <a:endParaRPr lang="ko-KR" altLang="en-US" dirty="0"/>
          </a:p>
        </p:txBody>
      </p:sp>
    </p:spTree>
    <p:extLst>
      <p:ext uri="{BB962C8B-B14F-4D97-AF65-F5344CB8AC3E}">
        <p14:creationId xmlns:p14="http://schemas.microsoft.com/office/powerpoint/2010/main" val="305006867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Ví</a:t>
            </a:r>
            <a:r>
              <a:rPr lang="en-US" baseline="0" dirty="0"/>
              <a:t> </a:t>
            </a:r>
            <a:r>
              <a:rPr lang="en-US" baseline="0" dirty="0" err="1"/>
              <a:t>dụ</a:t>
            </a:r>
            <a:r>
              <a:rPr lang="en-US" baseline="0" dirty="0"/>
              <a:t>: </a:t>
            </a:r>
            <a:r>
              <a:rPr lang="en-US" baseline="0" dirty="0" err="1"/>
              <a:t>công</a:t>
            </a:r>
            <a:r>
              <a:rPr lang="en-US" baseline="0" dirty="0"/>
              <a:t> </a:t>
            </a:r>
            <a:r>
              <a:rPr lang="en-US" baseline="0" dirty="0" err="1"/>
              <a:t>nhân</a:t>
            </a:r>
            <a:r>
              <a:rPr lang="en-US" baseline="0" dirty="0"/>
              <a:t> </a:t>
            </a:r>
            <a:r>
              <a:rPr lang="en-US" baseline="0" dirty="0" err="1"/>
              <a:t>làm</a:t>
            </a:r>
            <a:r>
              <a:rPr lang="en-US" baseline="0" dirty="0"/>
              <a:t> </a:t>
            </a:r>
            <a:r>
              <a:rPr lang="en-US" baseline="0" dirty="0" err="1"/>
              <a:t>sai</a:t>
            </a:r>
            <a:r>
              <a:rPr lang="en-US" baseline="0" dirty="0"/>
              <a:t> </a:t>
            </a:r>
            <a:r>
              <a:rPr lang="en-US" baseline="0" dirty="0" err="1"/>
              <a:t>thao</a:t>
            </a:r>
            <a:r>
              <a:rPr lang="en-US" baseline="0" dirty="0"/>
              <a:t> </a:t>
            </a:r>
            <a:r>
              <a:rPr lang="en-US" baseline="0" dirty="0" err="1"/>
              <a:t>tác</a:t>
            </a:r>
            <a:r>
              <a:rPr lang="en-US" baseline="0" dirty="0"/>
              <a:t>: </a:t>
            </a:r>
            <a:r>
              <a:rPr lang="en-US" baseline="0" dirty="0" err="1"/>
              <a:t>có</a:t>
            </a:r>
            <a:r>
              <a:rPr lang="en-US" baseline="0" dirty="0"/>
              <a:t> </a:t>
            </a:r>
            <a:r>
              <a:rPr lang="en-US" baseline="0" dirty="0" err="1"/>
              <a:t>thể</a:t>
            </a:r>
            <a:r>
              <a:rPr lang="en-US" baseline="0" dirty="0"/>
              <a:t> </a:t>
            </a:r>
            <a:r>
              <a:rPr lang="en-US" baseline="0" dirty="0" err="1"/>
              <a:t>thuộc</a:t>
            </a:r>
            <a:r>
              <a:rPr lang="en-US" baseline="0" dirty="0"/>
              <a:t> </a:t>
            </a:r>
            <a:r>
              <a:rPr lang="en-US" baseline="0" dirty="0" err="1"/>
              <a:t>về</a:t>
            </a:r>
            <a:r>
              <a:rPr lang="en-US" baseline="0" dirty="0"/>
              <a:t> con </a:t>
            </a:r>
            <a:r>
              <a:rPr lang="en-US" baseline="0" dirty="0" err="1"/>
              <a:t>ng</a:t>
            </a:r>
            <a:r>
              <a:rPr lang="en-US" baseline="0" dirty="0"/>
              <a:t>, </a:t>
            </a:r>
            <a:r>
              <a:rPr lang="en-US" baseline="0" dirty="0" err="1"/>
              <a:t>tuy</a:t>
            </a:r>
            <a:r>
              <a:rPr lang="en-US" baseline="0" dirty="0"/>
              <a:t> </a:t>
            </a:r>
            <a:r>
              <a:rPr lang="en-US" baseline="0" dirty="0" err="1"/>
              <a:t>nhiên</a:t>
            </a:r>
            <a:r>
              <a:rPr lang="en-US" baseline="0" dirty="0"/>
              <a:t> </a:t>
            </a:r>
            <a:r>
              <a:rPr lang="en-US" baseline="0" dirty="0" err="1"/>
              <a:t>cũng</a:t>
            </a:r>
            <a:r>
              <a:rPr lang="en-US" baseline="0" dirty="0"/>
              <a:t> </a:t>
            </a:r>
            <a:r>
              <a:rPr lang="en-US" baseline="0" dirty="0" err="1"/>
              <a:t>có</a:t>
            </a:r>
            <a:r>
              <a:rPr lang="en-US" baseline="0" dirty="0"/>
              <a:t> </a:t>
            </a:r>
            <a:r>
              <a:rPr lang="en-US" baseline="0" dirty="0" err="1"/>
              <a:t>thể</a:t>
            </a:r>
            <a:r>
              <a:rPr lang="en-US" baseline="0" dirty="0"/>
              <a:t> </a:t>
            </a:r>
            <a:r>
              <a:rPr lang="en-US" baseline="0" dirty="0" err="1"/>
              <a:t>đặt</a:t>
            </a:r>
            <a:r>
              <a:rPr lang="en-US" baseline="0" dirty="0"/>
              <a:t> </a:t>
            </a:r>
            <a:r>
              <a:rPr lang="en-US" baseline="0" dirty="0" err="1"/>
              <a:t>vào</a:t>
            </a:r>
            <a:r>
              <a:rPr lang="en-US" baseline="0" dirty="0"/>
              <a:t> method</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74</a:t>
            </a:fld>
            <a:endParaRPr lang="ko-KR" altLang="en-US" dirty="0"/>
          </a:p>
        </p:txBody>
      </p:sp>
    </p:spTree>
    <p:extLst>
      <p:ext uri="{BB962C8B-B14F-4D97-AF65-F5344CB8AC3E}">
        <p14:creationId xmlns:p14="http://schemas.microsoft.com/office/powerpoint/2010/main" val="293552036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75</a:t>
            </a:fld>
            <a:endParaRPr lang="ko-KR" altLang="en-US" dirty="0"/>
          </a:p>
        </p:txBody>
      </p:sp>
    </p:spTree>
    <p:extLst>
      <p:ext uri="{BB962C8B-B14F-4D97-AF65-F5344CB8AC3E}">
        <p14:creationId xmlns:p14="http://schemas.microsoft.com/office/powerpoint/2010/main" val="82777995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Show </a:t>
            </a:r>
            <a:r>
              <a:rPr lang="en-US" dirty="0" err="1"/>
              <a:t>báo</a:t>
            </a:r>
            <a:r>
              <a:rPr lang="en-US" baseline="0" dirty="0"/>
              <a:t> </a:t>
            </a:r>
            <a:r>
              <a:rPr lang="en-US" baseline="0" dirty="0" err="1"/>
              <a:t>cáo</a:t>
            </a:r>
            <a:r>
              <a:rPr lang="en-US" baseline="0" dirty="0"/>
              <a:t> </a:t>
            </a:r>
            <a:r>
              <a:rPr lang="en-US" baseline="0" dirty="0" err="1"/>
              <a:t>mẫu</a:t>
            </a:r>
            <a:r>
              <a:rPr lang="en-US" baseline="0" dirty="0"/>
              <a:t>.</a:t>
            </a:r>
          </a:p>
          <a:p>
            <a:r>
              <a:rPr lang="en-US" baseline="0" dirty="0" err="1"/>
              <a:t>Có</a:t>
            </a:r>
            <a:r>
              <a:rPr lang="en-US" baseline="0" dirty="0"/>
              <a:t> </a:t>
            </a:r>
            <a:r>
              <a:rPr lang="en-US" baseline="0" dirty="0" err="1"/>
              <a:t>điểm</a:t>
            </a:r>
            <a:r>
              <a:rPr lang="en-US" baseline="0" dirty="0"/>
              <a:t> </a:t>
            </a:r>
            <a:r>
              <a:rPr lang="en-US" baseline="0" dirty="0" err="1"/>
              <a:t>nào</a:t>
            </a:r>
            <a:r>
              <a:rPr lang="en-US" baseline="0" dirty="0"/>
              <a:t> </a:t>
            </a:r>
            <a:r>
              <a:rPr lang="en-US" baseline="0" dirty="0" err="1"/>
              <a:t>chưa</a:t>
            </a:r>
            <a:r>
              <a:rPr lang="en-US" baseline="0" dirty="0"/>
              <a:t> </a:t>
            </a:r>
            <a:r>
              <a:rPr lang="en-US" baseline="0" dirty="0" err="1"/>
              <a:t>hợp</a:t>
            </a:r>
            <a:r>
              <a:rPr lang="en-US" baseline="0" dirty="0"/>
              <a:t> </a:t>
            </a:r>
            <a:r>
              <a:rPr lang="en-US" baseline="0" dirty="0" err="1"/>
              <a:t>lí</a:t>
            </a:r>
            <a:r>
              <a:rPr lang="en-US" baseline="0" dirty="0"/>
              <a:t>?</a:t>
            </a:r>
          </a:p>
          <a:p>
            <a:r>
              <a:rPr lang="en-US" baseline="0" dirty="0" err="1"/>
              <a:t>Cty</a:t>
            </a:r>
            <a:r>
              <a:rPr lang="en-US" baseline="0" dirty="0"/>
              <a:t> </a:t>
            </a:r>
            <a:r>
              <a:rPr lang="en-US" baseline="0" dirty="0" err="1"/>
              <a:t>nhật</a:t>
            </a:r>
            <a:r>
              <a:rPr lang="en-US" baseline="0" dirty="0"/>
              <a:t> </a:t>
            </a:r>
            <a:r>
              <a:rPr lang="en-US" baseline="0" dirty="0" err="1"/>
              <a:t>bao</a:t>
            </a:r>
            <a:r>
              <a:rPr lang="en-US" baseline="0" dirty="0"/>
              <a:t> h </a:t>
            </a:r>
            <a:r>
              <a:rPr lang="en-US" baseline="0" dirty="0" err="1"/>
              <a:t>cũng</a:t>
            </a:r>
            <a:r>
              <a:rPr lang="en-US" baseline="0" dirty="0"/>
              <a:t> </a:t>
            </a:r>
            <a:r>
              <a:rPr lang="en-US" baseline="0" dirty="0" err="1"/>
              <a:t>có</a:t>
            </a:r>
            <a:r>
              <a:rPr lang="en-US" baseline="0" dirty="0"/>
              <a:t> </a:t>
            </a:r>
            <a:r>
              <a:rPr lang="en-US" baseline="0" dirty="0" err="1"/>
              <a:t>biểu</a:t>
            </a:r>
            <a:r>
              <a:rPr lang="en-US" baseline="0" dirty="0"/>
              <a:t> </a:t>
            </a:r>
            <a:r>
              <a:rPr lang="en-US" baseline="0" dirty="0" err="1"/>
              <a:t>đồ</a:t>
            </a:r>
            <a:r>
              <a:rPr lang="en-US" baseline="0" dirty="0"/>
              <a:t> </a:t>
            </a:r>
            <a:r>
              <a:rPr lang="en-US" baseline="0" dirty="0" err="1"/>
              <a:t>xương</a:t>
            </a:r>
            <a:r>
              <a:rPr lang="en-US" baseline="0" dirty="0"/>
              <a:t> </a:t>
            </a:r>
            <a:r>
              <a:rPr lang="en-US" baseline="0" dirty="0" err="1"/>
              <a:t>cá</a:t>
            </a:r>
            <a:r>
              <a:rPr lang="en-US" baseline="0" dirty="0"/>
              <a:t> </a:t>
            </a:r>
            <a:r>
              <a:rPr lang="en-US" baseline="0" dirty="0" err="1"/>
              <a:t>và</a:t>
            </a:r>
            <a:r>
              <a:rPr lang="en-US" baseline="0" dirty="0"/>
              <a:t> 5 why </a:t>
            </a:r>
            <a:r>
              <a:rPr lang="en-US" baseline="0" dirty="0" err="1"/>
              <a:t>bên</a:t>
            </a:r>
            <a:r>
              <a:rPr lang="en-US" baseline="0" dirty="0"/>
              <a:t> </a:t>
            </a:r>
            <a:r>
              <a:rPr lang="en-US" baseline="0" dirty="0" err="1"/>
              <a:t>dưới</a:t>
            </a:r>
            <a:r>
              <a:rPr lang="en-US" baseline="0" dirty="0"/>
              <a:t>.</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77</a:t>
            </a:fld>
            <a:endParaRPr lang="ko-KR" altLang="en-US" dirty="0"/>
          </a:p>
        </p:txBody>
      </p:sp>
    </p:spTree>
    <p:extLst>
      <p:ext uri="{BB962C8B-B14F-4D97-AF65-F5344CB8AC3E}">
        <p14:creationId xmlns:p14="http://schemas.microsoft.com/office/powerpoint/2010/main" val="119862497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Show </a:t>
            </a:r>
            <a:r>
              <a:rPr lang="en-US" dirty="0" err="1"/>
              <a:t>báo</a:t>
            </a:r>
            <a:r>
              <a:rPr lang="en-US" baseline="0" dirty="0"/>
              <a:t> </a:t>
            </a:r>
            <a:r>
              <a:rPr lang="en-US" baseline="0" dirty="0" err="1"/>
              <a:t>cáo</a:t>
            </a:r>
            <a:r>
              <a:rPr lang="en-US" baseline="0" dirty="0"/>
              <a:t> </a:t>
            </a:r>
            <a:r>
              <a:rPr lang="en-US" baseline="0" dirty="0" err="1"/>
              <a:t>mẫu</a:t>
            </a:r>
            <a:r>
              <a:rPr lang="en-US" baseline="0" dirty="0"/>
              <a:t>.</a:t>
            </a:r>
          </a:p>
          <a:p>
            <a:r>
              <a:rPr lang="en-US" baseline="0" dirty="0" err="1"/>
              <a:t>Có</a:t>
            </a:r>
            <a:r>
              <a:rPr lang="en-US" baseline="0" dirty="0"/>
              <a:t> </a:t>
            </a:r>
            <a:r>
              <a:rPr lang="en-US" baseline="0" dirty="0" err="1"/>
              <a:t>điểm</a:t>
            </a:r>
            <a:r>
              <a:rPr lang="en-US" baseline="0" dirty="0"/>
              <a:t> </a:t>
            </a:r>
            <a:r>
              <a:rPr lang="en-US" baseline="0" dirty="0" err="1"/>
              <a:t>nào</a:t>
            </a:r>
            <a:r>
              <a:rPr lang="en-US" baseline="0" dirty="0"/>
              <a:t> </a:t>
            </a:r>
            <a:r>
              <a:rPr lang="en-US" baseline="0" dirty="0" err="1"/>
              <a:t>chưa</a:t>
            </a:r>
            <a:r>
              <a:rPr lang="en-US" baseline="0" dirty="0"/>
              <a:t> </a:t>
            </a:r>
            <a:r>
              <a:rPr lang="en-US" baseline="0" dirty="0" err="1"/>
              <a:t>hợp</a:t>
            </a:r>
            <a:r>
              <a:rPr lang="en-US" baseline="0" dirty="0"/>
              <a:t> </a:t>
            </a:r>
            <a:r>
              <a:rPr lang="en-US" baseline="0" dirty="0" err="1"/>
              <a:t>lí</a:t>
            </a:r>
            <a:r>
              <a:rPr lang="en-US" baseline="0" dirty="0"/>
              <a:t>?</a:t>
            </a:r>
          </a:p>
          <a:p>
            <a:r>
              <a:rPr lang="en-US" baseline="0" dirty="0" err="1"/>
              <a:t>Cty</a:t>
            </a:r>
            <a:r>
              <a:rPr lang="en-US" baseline="0" dirty="0"/>
              <a:t> </a:t>
            </a:r>
            <a:r>
              <a:rPr lang="en-US" baseline="0" dirty="0" err="1"/>
              <a:t>nhật</a:t>
            </a:r>
            <a:r>
              <a:rPr lang="en-US" baseline="0" dirty="0"/>
              <a:t> </a:t>
            </a:r>
            <a:r>
              <a:rPr lang="en-US" baseline="0" dirty="0" err="1"/>
              <a:t>bao</a:t>
            </a:r>
            <a:r>
              <a:rPr lang="en-US" baseline="0" dirty="0"/>
              <a:t> h </a:t>
            </a:r>
            <a:r>
              <a:rPr lang="en-US" baseline="0" dirty="0" err="1"/>
              <a:t>cũng</a:t>
            </a:r>
            <a:r>
              <a:rPr lang="en-US" baseline="0" dirty="0"/>
              <a:t> </a:t>
            </a:r>
            <a:r>
              <a:rPr lang="en-US" baseline="0" dirty="0" err="1"/>
              <a:t>có</a:t>
            </a:r>
            <a:r>
              <a:rPr lang="en-US" baseline="0" dirty="0"/>
              <a:t> </a:t>
            </a:r>
            <a:r>
              <a:rPr lang="en-US" baseline="0" dirty="0" err="1"/>
              <a:t>biểu</a:t>
            </a:r>
            <a:r>
              <a:rPr lang="en-US" baseline="0" dirty="0"/>
              <a:t> </a:t>
            </a:r>
            <a:r>
              <a:rPr lang="en-US" baseline="0" dirty="0" err="1"/>
              <a:t>đồ</a:t>
            </a:r>
            <a:r>
              <a:rPr lang="en-US" baseline="0" dirty="0"/>
              <a:t> </a:t>
            </a:r>
            <a:r>
              <a:rPr lang="en-US" baseline="0" dirty="0" err="1"/>
              <a:t>xương</a:t>
            </a:r>
            <a:r>
              <a:rPr lang="en-US" baseline="0" dirty="0"/>
              <a:t> </a:t>
            </a:r>
            <a:r>
              <a:rPr lang="en-US" baseline="0" dirty="0" err="1"/>
              <a:t>cá</a:t>
            </a:r>
            <a:r>
              <a:rPr lang="en-US" baseline="0" dirty="0"/>
              <a:t> </a:t>
            </a:r>
            <a:r>
              <a:rPr lang="en-US" baseline="0" dirty="0" err="1"/>
              <a:t>và</a:t>
            </a:r>
            <a:r>
              <a:rPr lang="en-US" baseline="0" dirty="0"/>
              <a:t> 5 why </a:t>
            </a:r>
            <a:r>
              <a:rPr lang="en-US" baseline="0" dirty="0" err="1"/>
              <a:t>bên</a:t>
            </a:r>
            <a:r>
              <a:rPr lang="en-US" baseline="0" dirty="0"/>
              <a:t> </a:t>
            </a:r>
            <a:r>
              <a:rPr lang="en-US" baseline="0" dirty="0" err="1"/>
              <a:t>dưới</a:t>
            </a:r>
            <a:r>
              <a:rPr lang="en-US" baseline="0" dirty="0"/>
              <a:t>.</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78</a:t>
            </a:fld>
            <a:endParaRPr lang="ko-KR" altLang="en-US" dirty="0"/>
          </a:p>
        </p:txBody>
      </p:sp>
    </p:spTree>
    <p:extLst>
      <p:ext uri="{BB962C8B-B14F-4D97-AF65-F5344CB8AC3E}">
        <p14:creationId xmlns:p14="http://schemas.microsoft.com/office/powerpoint/2010/main" val="134592833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Show </a:t>
            </a:r>
            <a:r>
              <a:rPr lang="en-US" dirty="0" err="1"/>
              <a:t>báo</a:t>
            </a:r>
            <a:r>
              <a:rPr lang="en-US" baseline="0" dirty="0"/>
              <a:t> </a:t>
            </a:r>
            <a:r>
              <a:rPr lang="en-US" baseline="0" dirty="0" err="1"/>
              <a:t>cáo</a:t>
            </a:r>
            <a:r>
              <a:rPr lang="en-US" baseline="0" dirty="0"/>
              <a:t> </a:t>
            </a:r>
            <a:r>
              <a:rPr lang="en-US" baseline="0" dirty="0" err="1"/>
              <a:t>mẫu</a:t>
            </a:r>
            <a:r>
              <a:rPr lang="en-US" baseline="0" dirty="0"/>
              <a:t>.</a:t>
            </a:r>
          </a:p>
          <a:p>
            <a:r>
              <a:rPr lang="en-US" baseline="0" dirty="0" err="1"/>
              <a:t>Có</a:t>
            </a:r>
            <a:r>
              <a:rPr lang="en-US" baseline="0" dirty="0"/>
              <a:t> </a:t>
            </a:r>
            <a:r>
              <a:rPr lang="en-US" baseline="0" dirty="0" err="1"/>
              <a:t>điểm</a:t>
            </a:r>
            <a:r>
              <a:rPr lang="en-US" baseline="0" dirty="0"/>
              <a:t> </a:t>
            </a:r>
            <a:r>
              <a:rPr lang="en-US" baseline="0" dirty="0" err="1"/>
              <a:t>nào</a:t>
            </a:r>
            <a:r>
              <a:rPr lang="en-US" baseline="0" dirty="0"/>
              <a:t> </a:t>
            </a:r>
            <a:r>
              <a:rPr lang="en-US" baseline="0" dirty="0" err="1"/>
              <a:t>chưa</a:t>
            </a:r>
            <a:r>
              <a:rPr lang="en-US" baseline="0" dirty="0"/>
              <a:t> </a:t>
            </a:r>
            <a:r>
              <a:rPr lang="en-US" baseline="0" dirty="0" err="1"/>
              <a:t>hợp</a:t>
            </a:r>
            <a:r>
              <a:rPr lang="en-US" baseline="0" dirty="0"/>
              <a:t> </a:t>
            </a:r>
            <a:r>
              <a:rPr lang="en-US" baseline="0" dirty="0" err="1"/>
              <a:t>lí</a:t>
            </a:r>
            <a:r>
              <a:rPr lang="en-US" baseline="0" dirty="0"/>
              <a:t>?</a:t>
            </a:r>
          </a:p>
          <a:p>
            <a:r>
              <a:rPr lang="en-US" baseline="0" dirty="0" err="1"/>
              <a:t>Cty</a:t>
            </a:r>
            <a:r>
              <a:rPr lang="en-US" baseline="0" dirty="0"/>
              <a:t> </a:t>
            </a:r>
            <a:r>
              <a:rPr lang="en-US" baseline="0" dirty="0" err="1"/>
              <a:t>nhật</a:t>
            </a:r>
            <a:r>
              <a:rPr lang="en-US" baseline="0" dirty="0"/>
              <a:t> </a:t>
            </a:r>
            <a:r>
              <a:rPr lang="en-US" baseline="0" dirty="0" err="1"/>
              <a:t>bao</a:t>
            </a:r>
            <a:r>
              <a:rPr lang="en-US" baseline="0" dirty="0"/>
              <a:t> h </a:t>
            </a:r>
            <a:r>
              <a:rPr lang="en-US" baseline="0" dirty="0" err="1"/>
              <a:t>cũng</a:t>
            </a:r>
            <a:r>
              <a:rPr lang="en-US" baseline="0" dirty="0"/>
              <a:t> </a:t>
            </a:r>
            <a:r>
              <a:rPr lang="en-US" baseline="0" dirty="0" err="1"/>
              <a:t>có</a:t>
            </a:r>
            <a:r>
              <a:rPr lang="en-US" baseline="0" dirty="0"/>
              <a:t> </a:t>
            </a:r>
            <a:r>
              <a:rPr lang="en-US" baseline="0" dirty="0" err="1"/>
              <a:t>biểu</a:t>
            </a:r>
            <a:r>
              <a:rPr lang="en-US" baseline="0" dirty="0"/>
              <a:t> </a:t>
            </a:r>
            <a:r>
              <a:rPr lang="en-US" baseline="0" dirty="0" err="1"/>
              <a:t>đồ</a:t>
            </a:r>
            <a:r>
              <a:rPr lang="en-US" baseline="0" dirty="0"/>
              <a:t> </a:t>
            </a:r>
            <a:r>
              <a:rPr lang="en-US" baseline="0" dirty="0" err="1"/>
              <a:t>xương</a:t>
            </a:r>
            <a:r>
              <a:rPr lang="en-US" baseline="0" dirty="0"/>
              <a:t> </a:t>
            </a:r>
            <a:r>
              <a:rPr lang="en-US" baseline="0" dirty="0" err="1"/>
              <a:t>cá</a:t>
            </a:r>
            <a:r>
              <a:rPr lang="en-US" baseline="0" dirty="0"/>
              <a:t> </a:t>
            </a:r>
            <a:r>
              <a:rPr lang="en-US" baseline="0" dirty="0" err="1"/>
              <a:t>và</a:t>
            </a:r>
            <a:r>
              <a:rPr lang="en-US" baseline="0" dirty="0"/>
              <a:t> 5 why </a:t>
            </a:r>
            <a:r>
              <a:rPr lang="en-US" baseline="0" dirty="0" err="1"/>
              <a:t>bên</a:t>
            </a:r>
            <a:r>
              <a:rPr lang="en-US" baseline="0" dirty="0"/>
              <a:t> </a:t>
            </a:r>
            <a:r>
              <a:rPr lang="en-US" baseline="0" dirty="0" err="1"/>
              <a:t>dưới</a:t>
            </a:r>
            <a:r>
              <a:rPr lang="en-US" baseline="0" dirty="0"/>
              <a:t>.</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79</a:t>
            </a:fld>
            <a:endParaRPr lang="ko-KR" altLang="en-US" dirty="0"/>
          </a:p>
        </p:txBody>
      </p:sp>
    </p:spTree>
    <p:extLst>
      <p:ext uri="{BB962C8B-B14F-4D97-AF65-F5344CB8AC3E}">
        <p14:creationId xmlns:p14="http://schemas.microsoft.com/office/powerpoint/2010/main" val="74038960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CAABCEEB-4C8F-46A8-AE37-2C28436A145F}" type="slidenum">
              <a:rPr lang="en-US" altLang="ko-KR">
                <a:solidFill>
                  <a:prstClr val="black"/>
                </a:solidFill>
              </a:rPr>
              <a:pPr>
                <a:defRPr/>
              </a:pPr>
              <a:t>82</a:t>
            </a:fld>
            <a:endParaRPr lang="en-US" altLang="ko-KR" dirty="0">
              <a:solidFill>
                <a:prstClr val="black"/>
              </a:solidFill>
            </a:endParaRPr>
          </a:p>
        </p:txBody>
      </p:sp>
      <p:sp>
        <p:nvSpPr>
          <p:cNvPr id="328707" name="Rectangle 2"/>
          <p:cNvSpPr>
            <a:spLocks noGrp="1" noRot="1" noChangeAspect="1" noChangeArrowheads="1" noTextEdit="1"/>
          </p:cNvSpPr>
          <p:nvPr>
            <p:ph type="sldImg"/>
          </p:nvPr>
        </p:nvSpPr>
        <p:spPr bwMode="auto">
          <a:xfrm>
            <a:off x="-22225" y="585788"/>
            <a:ext cx="5757863" cy="39862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8708" name="Text Box 5"/>
          <p:cNvSpPr txBox="1">
            <a:spLocks noChangeArrowheads="1"/>
          </p:cNvSpPr>
          <p:nvPr/>
        </p:nvSpPr>
        <p:spPr bwMode="auto">
          <a:xfrm>
            <a:off x="5842415" y="1100317"/>
            <a:ext cx="427025" cy="24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3</a:t>
            </a:r>
            <a:r>
              <a:rPr lang="ko-KR" altLang="en-US" b="1" dirty="0">
                <a:solidFill>
                  <a:srgbClr val="404040"/>
                </a:solidFill>
                <a:latin typeface="Arial" pitchFamily="34" charset="0"/>
                <a:ea typeface="바탕체" pitchFamily="17" charset="-127"/>
              </a:rPr>
              <a:t>분</a:t>
            </a:r>
          </a:p>
        </p:txBody>
      </p:sp>
      <p:sp>
        <p:nvSpPr>
          <p:cNvPr id="328709" name="Text Box 6"/>
          <p:cNvSpPr txBox="1">
            <a:spLocks noChangeArrowheads="1"/>
          </p:cNvSpPr>
          <p:nvPr/>
        </p:nvSpPr>
        <p:spPr bwMode="auto">
          <a:xfrm>
            <a:off x="5616907" y="3009225"/>
            <a:ext cx="850853" cy="516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PT</a:t>
            </a:r>
          </a:p>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실습 사례</a:t>
            </a:r>
          </a:p>
        </p:txBody>
      </p:sp>
      <p:sp>
        <p:nvSpPr>
          <p:cNvPr id="328710" name="Text Box 7"/>
          <p:cNvSpPr txBox="1">
            <a:spLocks noChangeArrowheads="1"/>
          </p:cNvSpPr>
          <p:nvPr/>
        </p:nvSpPr>
        <p:spPr bwMode="auto">
          <a:xfrm>
            <a:off x="1412224" y="4964112"/>
            <a:ext cx="1912819" cy="248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필요성 인식</a:t>
            </a:r>
          </a:p>
        </p:txBody>
      </p:sp>
      <p:sp>
        <p:nvSpPr>
          <p:cNvPr id="328711" name="Text Box 8"/>
          <p:cNvSpPr txBox="1">
            <a:spLocks noChangeArrowheads="1"/>
          </p:cNvSpPr>
          <p:nvPr/>
        </p:nvSpPr>
        <p:spPr bwMode="auto">
          <a:xfrm>
            <a:off x="260694" y="5794899"/>
            <a:ext cx="6659681" cy="23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&lt; </a:t>
            </a:r>
            <a:r>
              <a:rPr lang="ko-KR" altLang="en-US" b="1" dirty="0">
                <a:solidFill>
                  <a:srgbClr val="404040"/>
                </a:solidFill>
                <a:latin typeface="Arial" pitchFamily="34" charset="0"/>
                <a:ea typeface="바탕체" pitchFamily="17" charset="-127"/>
              </a:rPr>
              <a:t>진행 </a:t>
            </a:r>
            <a:r>
              <a:rPr lang="en-US" altLang="ko-KR" b="1" dirty="0">
                <a:solidFill>
                  <a:srgbClr val="404040"/>
                </a:solidFill>
                <a:latin typeface="Arial" pitchFamily="34" charset="0"/>
                <a:ea typeface="바탕체" pitchFamily="17" charset="-127"/>
              </a:rPr>
              <a:t>&gt;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강사 소개 및 기대 전달</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관련 강사의 경험을 통한 협상의 중요성</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역량 강화의 기회       </a:t>
            </a:r>
          </a:p>
          <a:p>
            <a:pPr eaLnBrk="0">
              <a:lnSpc>
                <a:spcPct val="55000"/>
              </a:lnSpc>
              <a:spcBef>
                <a:spcPct val="30000"/>
              </a:spcBef>
              <a:spcAft>
                <a:spcPct val="30000"/>
              </a:spcAft>
              <a:buFont typeface="Wingdings" pitchFamily="2" charset="2"/>
              <a:buNone/>
            </a:pPr>
            <a:endParaRPr lang="ko-KR" altLang="en-US" b="1" dirty="0">
              <a:solidFill>
                <a:srgbClr val="404040"/>
              </a:solidFill>
              <a:latin typeface="Arial" pitchFamily="34" charset="0"/>
              <a:ea typeface="바탕체" pitchFamily="17" charset="-127"/>
            </a:endParaRP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학습 목표 제시</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Open </a:t>
            </a:r>
            <a:r>
              <a:rPr lang="ko-KR" altLang="en-US" b="1" dirty="0">
                <a:solidFill>
                  <a:srgbClr val="404040"/>
                </a:solidFill>
                <a:latin typeface="Arial" pitchFamily="34" charset="0"/>
                <a:ea typeface="바탕체" pitchFamily="17" charset="-127"/>
              </a:rPr>
              <a:t>질문 </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평소의 협상 경험은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학습자 답변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협상을 해 본 경험들이 모두 있으니 협상에 대해 이미 많은 것을 이해하고 있다고 판단 됨</a:t>
            </a:r>
            <a:r>
              <a:rPr lang="en-US" altLang="ko-KR" b="1" dirty="0">
                <a:solidFill>
                  <a:srgbClr val="404040"/>
                </a:solidFill>
                <a:latin typeface="Arial" pitchFamily="34" charset="0"/>
                <a:ea typeface="바탕체" pitchFamily="17" charset="-127"/>
              </a:rPr>
              <a:t>. </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늘 해오던 것이므로 평소 경험을 활용하여 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방법 살펴 보고자 함</a:t>
            </a:r>
            <a:r>
              <a:rPr lang="en-US" altLang="ko-KR" b="1" dirty="0">
                <a:solidFill>
                  <a:srgbClr val="404040"/>
                </a:solidFill>
                <a:latin typeface="Arial" pitchFamily="34" charset="0"/>
                <a:ea typeface="바탕체" pitchFamily="17" charset="-127"/>
              </a:rPr>
              <a:t>.</a:t>
            </a:r>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686026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Pareto</a:t>
            </a:r>
            <a:r>
              <a:rPr lang="en-US" baseline="0" dirty="0"/>
              <a:t> </a:t>
            </a:r>
            <a:r>
              <a:rPr lang="en-US" baseline="0" dirty="0" err="1"/>
              <a:t>chưa</a:t>
            </a:r>
            <a:r>
              <a:rPr lang="en-US" baseline="0" dirty="0"/>
              <a:t> </a:t>
            </a:r>
            <a:r>
              <a:rPr lang="en-US" baseline="0" dirty="0" err="1"/>
              <a:t>đủ</a:t>
            </a:r>
            <a:r>
              <a:rPr lang="en-US" baseline="0" dirty="0"/>
              <a:t> </a:t>
            </a:r>
            <a:r>
              <a:rPr lang="en-US" baseline="0" dirty="0" err="1"/>
              <a:t>khả</a:t>
            </a:r>
            <a:r>
              <a:rPr lang="en-US" baseline="0" dirty="0"/>
              <a:t> </a:t>
            </a:r>
            <a:r>
              <a:rPr lang="en-US" baseline="0" dirty="0" err="1"/>
              <a:t>năng</a:t>
            </a:r>
            <a:r>
              <a:rPr lang="en-US" baseline="0" dirty="0"/>
              <a:t> </a:t>
            </a:r>
            <a:r>
              <a:rPr lang="en-US" baseline="0" dirty="0" err="1"/>
              <a:t>hoàn</a:t>
            </a:r>
            <a:r>
              <a:rPr lang="en-US" baseline="0" dirty="0"/>
              <a:t> </a:t>
            </a:r>
            <a:r>
              <a:rPr lang="en-US" baseline="0" dirty="0" err="1"/>
              <a:t>thiện</a:t>
            </a:r>
            <a:r>
              <a:rPr lang="en-US" baseline="0" dirty="0"/>
              <a:t> </a:t>
            </a:r>
            <a:r>
              <a:rPr lang="en-US" baseline="0" dirty="0" err="1"/>
              <a:t>biểu</a:t>
            </a:r>
            <a:r>
              <a:rPr lang="en-US" baseline="0" dirty="0"/>
              <a:t> </a:t>
            </a:r>
            <a:r>
              <a:rPr lang="en-US" baseline="0" dirty="0" err="1"/>
              <a:t>đồ</a:t>
            </a:r>
            <a:r>
              <a:rPr lang="en-US" baseline="0" dirty="0"/>
              <a:t> </a:t>
            </a:r>
            <a:r>
              <a:rPr lang="en-US" baseline="0" dirty="0" err="1"/>
              <a:t>này</a:t>
            </a:r>
            <a:r>
              <a:rPr lang="en-US" baseline="0" dirty="0"/>
              <a:t>, </a:t>
            </a:r>
            <a:r>
              <a:rPr lang="en-US" baseline="0" dirty="0" err="1"/>
              <a:t>mãi</a:t>
            </a:r>
            <a:r>
              <a:rPr lang="en-US" baseline="0" dirty="0"/>
              <a:t> </a:t>
            </a:r>
            <a:r>
              <a:rPr lang="en-US" baseline="0" dirty="0" err="1"/>
              <a:t>đến</a:t>
            </a:r>
            <a:r>
              <a:rPr lang="en-US" baseline="0" dirty="0"/>
              <a:t> </a:t>
            </a:r>
            <a:r>
              <a:rPr lang="en-US" baseline="0" dirty="0" err="1"/>
              <a:t>anwm</a:t>
            </a:r>
            <a:r>
              <a:rPr lang="en-US" baseline="0" dirty="0"/>
              <a:t> 1951…</a:t>
            </a:r>
          </a:p>
          <a:p>
            <a:r>
              <a:rPr lang="en-US" baseline="0" dirty="0" err="1"/>
              <a:t>Vui</a:t>
            </a:r>
            <a:r>
              <a:rPr lang="en-US" baseline="0" dirty="0"/>
              <a:t>: </a:t>
            </a:r>
            <a:r>
              <a:rPr lang="en-US" baseline="0" dirty="0" err="1"/>
              <a:t>doanh</a:t>
            </a:r>
            <a:r>
              <a:rPr lang="en-US" baseline="0" dirty="0"/>
              <a:t> </a:t>
            </a:r>
            <a:r>
              <a:rPr lang="en-US" baseline="0" dirty="0" err="1"/>
              <a:t>thu</a:t>
            </a:r>
            <a:r>
              <a:rPr lang="en-US" baseline="0" dirty="0"/>
              <a:t> 80% </a:t>
            </a:r>
            <a:r>
              <a:rPr lang="en-US" baseline="0" dirty="0" err="1"/>
              <a:t>phim</a:t>
            </a:r>
            <a:r>
              <a:rPr lang="en-US" baseline="0" dirty="0"/>
              <a:t> </a:t>
            </a:r>
            <a:r>
              <a:rPr lang="en-US" baseline="0" dirty="0" err="1"/>
              <a:t>đến</a:t>
            </a:r>
            <a:r>
              <a:rPr lang="en-US" baseline="0" dirty="0"/>
              <a:t> </a:t>
            </a:r>
            <a:r>
              <a:rPr lang="en-US" baseline="0" dirty="0" err="1"/>
              <a:t>từ</a:t>
            </a:r>
            <a:r>
              <a:rPr lang="en-US" baseline="0" dirty="0"/>
              <a:t> 20% </a:t>
            </a:r>
            <a:r>
              <a:rPr lang="en-US" baseline="0" dirty="0" err="1"/>
              <a:t>nhà</a:t>
            </a:r>
            <a:r>
              <a:rPr lang="en-US" baseline="0" dirty="0"/>
              <a:t> </a:t>
            </a:r>
            <a:r>
              <a:rPr lang="en-US" baseline="0" dirty="0" err="1"/>
              <a:t>sản</a:t>
            </a:r>
            <a:r>
              <a:rPr lang="en-US" baseline="0" dirty="0"/>
              <a:t> </a:t>
            </a:r>
            <a:r>
              <a:rPr lang="en-US" baseline="0" dirty="0" err="1"/>
              <a:t>xuất</a:t>
            </a:r>
            <a:r>
              <a:rPr lang="en-US" baseline="0" dirty="0"/>
              <a:t>. Tokyo hot….</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83</a:t>
            </a:fld>
            <a:endParaRPr lang="ko-KR" altLang="en-US" dirty="0"/>
          </a:p>
        </p:txBody>
      </p:sp>
    </p:spTree>
    <p:extLst>
      <p:ext uri="{BB962C8B-B14F-4D97-AF65-F5344CB8AC3E}">
        <p14:creationId xmlns:p14="http://schemas.microsoft.com/office/powerpoint/2010/main" val="108028731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Cột</a:t>
            </a:r>
            <a:r>
              <a:rPr lang="en-US" dirty="0"/>
              <a:t> </a:t>
            </a:r>
            <a:r>
              <a:rPr lang="en-US" dirty="0" err="1"/>
              <a:t>trái</a:t>
            </a:r>
            <a:r>
              <a:rPr lang="en-US" dirty="0"/>
              <a:t>:</a:t>
            </a:r>
            <a:r>
              <a:rPr lang="en-US" baseline="0" dirty="0"/>
              <a:t> </a:t>
            </a:r>
            <a:r>
              <a:rPr lang="en-US" baseline="0" dirty="0" err="1"/>
              <a:t>số</a:t>
            </a:r>
            <a:r>
              <a:rPr lang="en-US" baseline="0" dirty="0"/>
              <a:t> </a:t>
            </a:r>
            <a:r>
              <a:rPr lang="en-US" baseline="0" dirty="0" err="1"/>
              <a:t>lượng</a:t>
            </a:r>
            <a:r>
              <a:rPr lang="en-US" baseline="0" dirty="0"/>
              <a:t> </a:t>
            </a:r>
            <a:r>
              <a:rPr lang="en-US" baseline="0" dirty="0" err="1"/>
              <a:t>lỗi</a:t>
            </a:r>
            <a:endParaRPr lang="en-US" baseline="0" dirty="0"/>
          </a:p>
          <a:p>
            <a:r>
              <a:rPr lang="en-US" baseline="0" dirty="0" err="1"/>
              <a:t>Cột</a:t>
            </a:r>
            <a:r>
              <a:rPr lang="en-US" baseline="0" dirty="0"/>
              <a:t> </a:t>
            </a:r>
            <a:r>
              <a:rPr lang="en-US" baseline="0" dirty="0" err="1"/>
              <a:t>phải</a:t>
            </a:r>
            <a:r>
              <a:rPr lang="en-US" baseline="0" dirty="0"/>
              <a:t>: </a:t>
            </a:r>
            <a:r>
              <a:rPr lang="en-US" baseline="0" dirty="0" err="1"/>
              <a:t>phân</a:t>
            </a:r>
            <a:r>
              <a:rPr lang="en-US" baseline="0" dirty="0"/>
              <a:t> </a:t>
            </a:r>
            <a:r>
              <a:rPr lang="en-US" baseline="0" dirty="0" err="1"/>
              <a:t>trăm</a:t>
            </a:r>
            <a:r>
              <a:rPr lang="en-US" baseline="0" dirty="0"/>
              <a:t> </a:t>
            </a:r>
            <a:r>
              <a:rPr lang="en-US" baseline="0" dirty="0" err="1"/>
              <a:t>lỗi</a:t>
            </a:r>
            <a:endParaRPr lang="en-US" baseline="0" dirty="0"/>
          </a:p>
          <a:p>
            <a:r>
              <a:rPr lang="en-US" baseline="0" dirty="0" err="1"/>
              <a:t>Đường</a:t>
            </a:r>
            <a:r>
              <a:rPr lang="en-US" baseline="0" dirty="0"/>
              <a:t>: </a:t>
            </a:r>
            <a:r>
              <a:rPr lang="en-US" baseline="0" dirty="0" err="1"/>
              <a:t>cộng</a:t>
            </a:r>
            <a:r>
              <a:rPr lang="en-US" baseline="0" dirty="0"/>
              <a:t> </a:t>
            </a:r>
            <a:r>
              <a:rPr lang="en-US" baseline="0" dirty="0" err="1"/>
              <a:t>dồn</a:t>
            </a:r>
            <a:r>
              <a:rPr lang="en-US" baseline="0" dirty="0"/>
              <a:t> </a:t>
            </a:r>
            <a:r>
              <a:rPr lang="en-US" baseline="0" dirty="0" err="1"/>
              <a:t>tổng</a:t>
            </a:r>
            <a:r>
              <a:rPr lang="en-US" baseline="0" dirty="0"/>
              <a:t> </a:t>
            </a:r>
            <a:r>
              <a:rPr lang="en-US" baseline="0" dirty="0" err="1"/>
              <a:t>số</a:t>
            </a:r>
            <a:r>
              <a:rPr lang="en-US" baseline="0" dirty="0"/>
              <a:t> </a:t>
            </a:r>
            <a:r>
              <a:rPr lang="en-US" baseline="0" dirty="0" err="1"/>
              <a:t>lỗi</a:t>
            </a:r>
            <a:r>
              <a:rPr lang="en-US" baseline="0" dirty="0"/>
              <a:t> </a:t>
            </a:r>
            <a:r>
              <a:rPr lang="en-US" baseline="0" dirty="0" err="1"/>
              <a:t>chiếm</a:t>
            </a:r>
            <a:r>
              <a:rPr lang="en-US" baseline="0" dirty="0"/>
              <a:t> </a:t>
            </a:r>
            <a:r>
              <a:rPr lang="en-US" baseline="0" dirty="0" err="1"/>
              <a:t>bao</a:t>
            </a:r>
            <a:r>
              <a:rPr lang="en-US" baseline="0" dirty="0"/>
              <a:t> </a:t>
            </a:r>
            <a:r>
              <a:rPr lang="en-US" baseline="0" dirty="0" err="1"/>
              <a:t>nhiêu</a:t>
            </a:r>
            <a:r>
              <a:rPr lang="en-US" baseline="0" dirty="0"/>
              <a:t> </a:t>
            </a:r>
            <a:r>
              <a:rPr lang="en-US" baseline="0" dirty="0" err="1"/>
              <a:t>phần</a:t>
            </a:r>
            <a:r>
              <a:rPr lang="en-US" baseline="0" dirty="0"/>
              <a:t> tram, </a:t>
            </a:r>
            <a:r>
              <a:rPr lang="en-US" baseline="0" dirty="0" err="1"/>
              <a:t>cái</a:t>
            </a:r>
            <a:r>
              <a:rPr lang="en-US" baseline="0" dirty="0"/>
              <a:t> </a:t>
            </a:r>
            <a:r>
              <a:rPr lang="en-US" baseline="0" dirty="0" err="1"/>
              <a:t>nào</a:t>
            </a:r>
            <a:r>
              <a:rPr lang="en-US" baseline="0" dirty="0"/>
              <a:t> </a:t>
            </a:r>
            <a:r>
              <a:rPr lang="en-US" baseline="0" dirty="0" err="1"/>
              <a:t>cao</a:t>
            </a:r>
            <a:r>
              <a:rPr lang="en-US" baseline="0" dirty="0"/>
              <a:t> </a:t>
            </a:r>
            <a:r>
              <a:rPr lang="en-US" baseline="0" dirty="0" err="1"/>
              <a:t>thì</a:t>
            </a:r>
            <a:r>
              <a:rPr lang="en-US" baseline="0" dirty="0"/>
              <a:t> </a:t>
            </a:r>
            <a:r>
              <a:rPr lang="en-US" baseline="0" dirty="0" err="1"/>
              <a:t>cải</a:t>
            </a:r>
            <a:r>
              <a:rPr lang="en-US" baseline="0" dirty="0"/>
              <a:t> </a:t>
            </a:r>
            <a:r>
              <a:rPr lang="en-US" baseline="0" dirty="0" err="1"/>
              <a:t>tiến</a:t>
            </a:r>
            <a:r>
              <a:rPr lang="en-US" baseline="0" dirty="0"/>
              <a:t> </a:t>
            </a:r>
            <a:r>
              <a:rPr lang="en-US" baseline="0" dirty="0" err="1"/>
              <a:t>trc</a:t>
            </a:r>
            <a:endParaRPr lang="en-US" baseline="0" dirty="0"/>
          </a:p>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88</a:t>
            </a:fld>
            <a:endParaRPr lang="ko-KR" altLang="en-US" dirty="0"/>
          </a:p>
        </p:txBody>
      </p:sp>
    </p:spTree>
    <p:extLst>
      <p:ext uri="{BB962C8B-B14F-4D97-AF65-F5344CB8AC3E}">
        <p14:creationId xmlns:p14="http://schemas.microsoft.com/office/powerpoint/2010/main" val="417866397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0AA51BFF-9A34-45A7-B328-306B7905BE1D}" type="slidenum">
              <a:rPr lang="en-US" altLang="ko-KR">
                <a:solidFill>
                  <a:prstClr val="black"/>
                </a:solidFill>
              </a:rPr>
              <a:pPr>
                <a:defRPr/>
              </a:pPr>
              <a:t>101</a:t>
            </a:fld>
            <a:endParaRPr lang="en-US" altLang="ko-KR" dirty="0">
              <a:solidFill>
                <a:prstClr val="black"/>
              </a:solidFill>
            </a:endParaRPr>
          </a:p>
        </p:txBody>
      </p:sp>
      <p:sp>
        <p:nvSpPr>
          <p:cNvPr id="329731" name="Rectangle 2"/>
          <p:cNvSpPr>
            <a:spLocks noGrp="1" noRot="1" noChangeAspect="1" noChangeArrowheads="1" noTextEdit="1"/>
          </p:cNvSpPr>
          <p:nvPr>
            <p:ph type="sldImg"/>
          </p:nvPr>
        </p:nvSpPr>
        <p:spPr bwMode="auto">
          <a:xfrm>
            <a:off x="-22225" y="585788"/>
            <a:ext cx="5757863" cy="39862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9732" name="Text Box 5"/>
          <p:cNvSpPr txBox="1">
            <a:spLocks noChangeArrowheads="1"/>
          </p:cNvSpPr>
          <p:nvPr/>
        </p:nvSpPr>
        <p:spPr bwMode="auto">
          <a:xfrm>
            <a:off x="5842415" y="1100317"/>
            <a:ext cx="427025" cy="24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3</a:t>
            </a:r>
            <a:r>
              <a:rPr lang="ko-KR" altLang="en-US" b="1" dirty="0">
                <a:solidFill>
                  <a:srgbClr val="404040"/>
                </a:solidFill>
                <a:latin typeface="Arial" pitchFamily="34" charset="0"/>
                <a:ea typeface="바탕체" pitchFamily="17" charset="-127"/>
              </a:rPr>
              <a:t>분</a:t>
            </a:r>
          </a:p>
        </p:txBody>
      </p:sp>
      <p:sp>
        <p:nvSpPr>
          <p:cNvPr id="329733" name="Text Box 6"/>
          <p:cNvSpPr txBox="1">
            <a:spLocks noChangeArrowheads="1"/>
          </p:cNvSpPr>
          <p:nvPr/>
        </p:nvSpPr>
        <p:spPr bwMode="auto">
          <a:xfrm>
            <a:off x="5616907" y="3009225"/>
            <a:ext cx="850853" cy="516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PT</a:t>
            </a:r>
          </a:p>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실습 사례</a:t>
            </a:r>
          </a:p>
        </p:txBody>
      </p:sp>
      <p:sp>
        <p:nvSpPr>
          <p:cNvPr id="329734" name="Text Box 7"/>
          <p:cNvSpPr txBox="1">
            <a:spLocks noChangeArrowheads="1"/>
          </p:cNvSpPr>
          <p:nvPr/>
        </p:nvSpPr>
        <p:spPr bwMode="auto">
          <a:xfrm>
            <a:off x="1412224" y="4964112"/>
            <a:ext cx="1912819" cy="248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필요성 인식</a:t>
            </a:r>
          </a:p>
        </p:txBody>
      </p:sp>
      <p:sp>
        <p:nvSpPr>
          <p:cNvPr id="329735" name="Text Box 8"/>
          <p:cNvSpPr txBox="1">
            <a:spLocks noChangeArrowheads="1"/>
          </p:cNvSpPr>
          <p:nvPr/>
        </p:nvSpPr>
        <p:spPr bwMode="auto">
          <a:xfrm>
            <a:off x="260694" y="5794899"/>
            <a:ext cx="6659681" cy="23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&lt; </a:t>
            </a:r>
            <a:r>
              <a:rPr lang="ko-KR" altLang="en-US" b="1" dirty="0">
                <a:solidFill>
                  <a:srgbClr val="404040"/>
                </a:solidFill>
                <a:latin typeface="Arial" pitchFamily="34" charset="0"/>
                <a:ea typeface="바탕체" pitchFamily="17" charset="-127"/>
              </a:rPr>
              <a:t>진행 </a:t>
            </a:r>
            <a:r>
              <a:rPr lang="en-US" altLang="ko-KR" b="1" dirty="0">
                <a:solidFill>
                  <a:srgbClr val="404040"/>
                </a:solidFill>
                <a:latin typeface="Arial" pitchFamily="34" charset="0"/>
                <a:ea typeface="바탕체" pitchFamily="17" charset="-127"/>
              </a:rPr>
              <a:t>&gt;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강사 소개 및 기대 전달</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관련 강사의 경험을 통한 협상의 중요성</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역량 강화의 기회       </a:t>
            </a:r>
          </a:p>
          <a:p>
            <a:pPr eaLnBrk="0">
              <a:lnSpc>
                <a:spcPct val="55000"/>
              </a:lnSpc>
              <a:spcBef>
                <a:spcPct val="30000"/>
              </a:spcBef>
              <a:spcAft>
                <a:spcPct val="30000"/>
              </a:spcAft>
              <a:buFont typeface="Wingdings" pitchFamily="2" charset="2"/>
              <a:buNone/>
            </a:pPr>
            <a:endParaRPr lang="ko-KR" altLang="en-US" b="1" dirty="0">
              <a:solidFill>
                <a:srgbClr val="404040"/>
              </a:solidFill>
              <a:latin typeface="Arial" pitchFamily="34" charset="0"/>
              <a:ea typeface="바탕체" pitchFamily="17" charset="-127"/>
            </a:endParaRP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학습 목표 제시</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Open </a:t>
            </a:r>
            <a:r>
              <a:rPr lang="ko-KR" altLang="en-US" b="1" dirty="0">
                <a:solidFill>
                  <a:srgbClr val="404040"/>
                </a:solidFill>
                <a:latin typeface="Arial" pitchFamily="34" charset="0"/>
                <a:ea typeface="바탕체" pitchFamily="17" charset="-127"/>
              </a:rPr>
              <a:t>질문 </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평소의 협상 경험은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학습자 답변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협상을 해 본 경험들이 모두 있으니 협상에 대해 이미 많은 것을 이해하고 있다고 판단 됨</a:t>
            </a:r>
            <a:r>
              <a:rPr lang="en-US" altLang="ko-KR" b="1" dirty="0">
                <a:solidFill>
                  <a:srgbClr val="404040"/>
                </a:solidFill>
                <a:latin typeface="Arial" pitchFamily="34" charset="0"/>
                <a:ea typeface="바탕체" pitchFamily="17" charset="-127"/>
              </a:rPr>
              <a:t>. </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늘 해오던 것이므로 평소 경험을 활용하여 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방법 살펴 보고자 함</a:t>
            </a:r>
            <a:r>
              <a:rPr lang="en-US" altLang="ko-KR" b="1" dirty="0">
                <a:solidFill>
                  <a:srgbClr val="404040"/>
                </a:solidFill>
                <a:latin typeface="Arial" pitchFamily="34" charset="0"/>
                <a:ea typeface="바탕체" pitchFamily="17" charset="-127"/>
              </a:rPr>
              <a:t>.</a:t>
            </a:r>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41084461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865324E7-603D-4338-B531-BB060FA30ACA}" type="slidenum">
              <a:rPr lang="en-US" altLang="ko-KR">
                <a:solidFill>
                  <a:prstClr val="black"/>
                </a:solidFill>
              </a:rPr>
              <a:pPr>
                <a:defRPr/>
              </a:pPr>
              <a:t>112</a:t>
            </a:fld>
            <a:endParaRPr lang="en-US" altLang="ko-KR" dirty="0">
              <a:solidFill>
                <a:prstClr val="black"/>
              </a:solidFill>
            </a:endParaRPr>
          </a:p>
        </p:txBody>
      </p:sp>
      <p:sp>
        <p:nvSpPr>
          <p:cNvPr id="330755" name="Rectangle 2"/>
          <p:cNvSpPr>
            <a:spLocks noGrp="1" noRot="1" noChangeAspect="1" noChangeArrowheads="1" noTextEdit="1"/>
          </p:cNvSpPr>
          <p:nvPr>
            <p:ph type="sldImg"/>
          </p:nvPr>
        </p:nvSpPr>
        <p:spPr bwMode="auto">
          <a:xfrm>
            <a:off x="-22225" y="585788"/>
            <a:ext cx="5757863" cy="39862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0756" name="Text Box 5"/>
          <p:cNvSpPr txBox="1">
            <a:spLocks noChangeArrowheads="1"/>
          </p:cNvSpPr>
          <p:nvPr/>
        </p:nvSpPr>
        <p:spPr bwMode="auto">
          <a:xfrm>
            <a:off x="5842415" y="1100317"/>
            <a:ext cx="427025" cy="24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3</a:t>
            </a:r>
            <a:r>
              <a:rPr lang="ko-KR" altLang="en-US" b="1" dirty="0">
                <a:solidFill>
                  <a:srgbClr val="404040"/>
                </a:solidFill>
                <a:latin typeface="Arial" pitchFamily="34" charset="0"/>
                <a:ea typeface="바탕체" pitchFamily="17" charset="-127"/>
              </a:rPr>
              <a:t>분</a:t>
            </a:r>
          </a:p>
        </p:txBody>
      </p:sp>
      <p:sp>
        <p:nvSpPr>
          <p:cNvPr id="330757" name="Text Box 6"/>
          <p:cNvSpPr txBox="1">
            <a:spLocks noChangeArrowheads="1"/>
          </p:cNvSpPr>
          <p:nvPr/>
        </p:nvSpPr>
        <p:spPr bwMode="auto">
          <a:xfrm>
            <a:off x="5616907" y="3009225"/>
            <a:ext cx="850853" cy="516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PT</a:t>
            </a:r>
          </a:p>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실습 사례</a:t>
            </a:r>
          </a:p>
        </p:txBody>
      </p:sp>
      <p:sp>
        <p:nvSpPr>
          <p:cNvPr id="330758" name="Text Box 7"/>
          <p:cNvSpPr txBox="1">
            <a:spLocks noChangeArrowheads="1"/>
          </p:cNvSpPr>
          <p:nvPr/>
        </p:nvSpPr>
        <p:spPr bwMode="auto">
          <a:xfrm>
            <a:off x="1412224" y="4964112"/>
            <a:ext cx="1912819" cy="248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필요성 인식</a:t>
            </a:r>
          </a:p>
        </p:txBody>
      </p:sp>
      <p:sp>
        <p:nvSpPr>
          <p:cNvPr id="330759" name="Text Box 8"/>
          <p:cNvSpPr txBox="1">
            <a:spLocks noChangeArrowheads="1"/>
          </p:cNvSpPr>
          <p:nvPr/>
        </p:nvSpPr>
        <p:spPr bwMode="auto">
          <a:xfrm>
            <a:off x="260694" y="5794899"/>
            <a:ext cx="6659681" cy="23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&lt; </a:t>
            </a:r>
            <a:r>
              <a:rPr lang="ko-KR" altLang="en-US" b="1" dirty="0">
                <a:solidFill>
                  <a:srgbClr val="404040"/>
                </a:solidFill>
                <a:latin typeface="Arial" pitchFamily="34" charset="0"/>
                <a:ea typeface="바탕체" pitchFamily="17" charset="-127"/>
              </a:rPr>
              <a:t>진행 </a:t>
            </a:r>
            <a:r>
              <a:rPr lang="en-US" altLang="ko-KR" b="1" dirty="0">
                <a:solidFill>
                  <a:srgbClr val="404040"/>
                </a:solidFill>
                <a:latin typeface="Arial" pitchFamily="34" charset="0"/>
                <a:ea typeface="바탕체" pitchFamily="17" charset="-127"/>
              </a:rPr>
              <a:t>&gt;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강사 소개 및 기대 전달</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관련 강사의 경험을 통한 협상의 중요성</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역량 강화의 기회       </a:t>
            </a:r>
          </a:p>
          <a:p>
            <a:pPr eaLnBrk="0">
              <a:lnSpc>
                <a:spcPct val="55000"/>
              </a:lnSpc>
              <a:spcBef>
                <a:spcPct val="30000"/>
              </a:spcBef>
              <a:spcAft>
                <a:spcPct val="30000"/>
              </a:spcAft>
              <a:buFont typeface="Wingdings" pitchFamily="2" charset="2"/>
              <a:buNone/>
            </a:pPr>
            <a:endParaRPr lang="ko-KR" altLang="en-US" b="1" dirty="0">
              <a:solidFill>
                <a:srgbClr val="404040"/>
              </a:solidFill>
              <a:latin typeface="Arial" pitchFamily="34" charset="0"/>
              <a:ea typeface="바탕체" pitchFamily="17" charset="-127"/>
            </a:endParaRP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학습 목표 제시</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Open </a:t>
            </a:r>
            <a:r>
              <a:rPr lang="ko-KR" altLang="en-US" b="1" dirty="0">
                <a:solidFill>
                  <a:srgbClr val="404040"/>
                </a:solidFill>
                <a:latin typeface="Arial" pitchFamily="34" charset="0"/>
                <a:ea typeface="바탕체" pitchFamily="17" charset="-127"/>
              </a:rPr>
              <a:t>질문 </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평소의 협상 경험은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학습자 답변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협상을 해 본 경험들이 모두 있으니 협상에 대해 이미 많은 것을 이해하고 있다고 판단 됨</a:t>
            </a:r>
            <a:r>
              <a:rPr lang="en-US" altLang="ko-KR" b="1" dirty="0">
                <a:solidFill>
                  <a:srgbClr val="404040"/>
                </a:solidFill>
                <a:latin typeface="Arial" pitchFamily="34" charset="0"/>
                <a:ea typeface="바탕체" pitchFamily="17" charset="-127"/>
              </a:rPr>
              <a:t>. </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늘 해오던 것이므로 평소 경험을 활용하여 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방법 살펴 보고자 함</a:t>
            </a:r>
            <a:r>
              <a:rPr lang="en-US" altLang="ko-KR" b="1" dirty="0">
                <a:solidFill>
                  <a:srgbClr val="404040"/>
                </a:solidFill>
                <a:latin typeface="Arial" pitchFamily="34" charset="0"/>
                <a:ea typeface="바탕체" pitchFamily="17" charset="-127"/>
              </a:rPr>
              <a:t>.</a:t>
            </a:r>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98970719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22CF94E5-18FD-47D1-BF82-026820ACD221}" type="slidenum">
              <a:rPr lang="en-US" altLang="ko-KR">
                <a:solidFill>
                  <a:prstClr val="black"/>
                </a:solidFill>
              </a:rPr>
              <a:pPr>
                <a:defRPr/>
              </a:pPr>
              <a:t>116</a:t>
            </a:fld>
            <a:endParaRPr lang="en-US" altLang="ko-KR" dirty="0">
              <a:solidFill>
                <a:prstClr val="black"/>
              </a:solidFill>
            </a:endParaRPr>
          </a:p>
        </p:txBody>
      </p:sp>
      <p:sp>
        <p:nvSpPr>
          <p:cNvPr id="331779" name="Rectangle 2"/>
          <p:cNvSpPr>
            <a:spLocks noGrp="1" noRot="1" noChangeAspect="1" noChangeArrowheads="1" noTextEdit="1"/>
          </p:cNvSpPr>
          <p:nvPr>
            <p:ph type="sldImg"/>
          </p:nvPr>
        </p:nvSpPr>
        <p:spPr bwMode="auto">
          <a:xfrm>
            <a:off x="-22225" y="585788"/>
            <a:ext cx="5757863" cy="39862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1780" name="Text Box 5"/>
          <p:cNvSpPr txBox="1">
            <a:spLocks noChangeArrowheads="1"/>
          </p:cNvSpPr>
          <p:nvPr/>
        </p:nvSpPr>
        <p:spPr bwMode="auto">
          <a:xfrm>
            <a:off x="5842415" y="1100317"/>
            <a:ext cx="427025" cy="24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3</a:t>
            </a:r>
            <a:r>
              <a:rPr lang="ko-KR" altLang="en-US" b="1" dirty="0">
                <a:solidFill>
                  <a:srgbClr val="404040"/>
                </a:solidFill>
                <a:latin typeface="Arial" pitchFamily="34" charset="0"/>
                <a:ea typeface="바탕체" pitchFamily="17" charset="-127"/>
              </a:rPr>
              <a:t>분</a:t>
            </a:r>
          </a:p>
        </p:txBody>
      </p:sp>
      <p:sp>
        <p:nvSpPr>
          <p:cNvPr id="331781" name="Text Box 6"/>
          <p:cNvSpPr txBox="1">
            <a:spLocks noChangeArrowheads="1"/>
          </p:cNvSpPr>
          <p:nvPr/>
        </p:nvSpPr>
        <p:spPr bwMode="auto">
          <a:xfrm>
            <a:off x="5616907" y="3009225"/>
            <a:ext cx="850853" cy="516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PT</a:t>
            </a:r>
          </a:p>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실습 사례</a:t>
            </a:r>
          </a:p>
        </p:txBody>
      </p:sp>
      <p:sp>
        <p:nvSpPr>
          <p:cNvPr id="331782" name="Text Box 7"/>
          <p:cNvSpPr txBox="1">
            <a:spLocks noChangeArrowheads="1"/>
          </p:cNvSpPr>
          <p:nvPr/>
        </p:nvSpPr>
        <p:spPr bwMode="auto">
          <a:xfrm>
            <a:off x="1412224" y="4964112"/>
            <a:ext cx="1912819" cy="248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필요성 인식</a:t>
            </a:r>
          </a:p>
        </p:txBody>
      </p:sp>
      <p:sp>
        <p:nvSpPr>
          <p:cNvPr id="331783" name="Text Box 8"/>
          <p:cNvSpPr txBox="1">
            <a:spLocks noChangeArrowheads="1"/>
          </p:cNvSpPr>
          <p:nvPr/>
        </p:nvSpPr>
        <p:spPr bwMode="auto">
          <a:xfrm>
            <a:off x="260694" y="5794899"/>
            <a:ext cx="6659681" cy="23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&lt; </a:t>
            </a:r>
            <a:r>
              <a:rPr lang="ko-KR" altLang="en-US" b="1" dirty="0">
                <a:solidFill>
                  <a:srgbClr val="404040"/>
                </a:solidFill>
                <a:latin typeface="Arial" pitchFamily="34" charset="0"/>
                <a:ea typeface="바탕체" pitchFamily="17" charset="-127"/>
              </a:rPr>
              <a:t>진행 </a:t>
            </a:r>
            <a:r>
              <a:rPr lang="en-US" altLang="ko-KR" b="1" dirty="0">
                <a:solidFill>
                  <a:srgbClr val="404040"/>
                </a:solidFill>
                <a:latin typeface="Arial" pitchFamily="34" charset="0"/>
                <a:ea typeface="바탕체" pitchFamily="17" charset="-127"/>
              </a:rPr>
              <a:t>&gt;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강사 소개 및 기대 전달</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관련 강사의 경험을 통한 협상의 중요성</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역량 강화의 기회       </a:t>
            </a:r>
          </a:p>
          <a:p>
            <a:pPr eaLnBrk="0">
              <a:lnSpc>
                <a:spcPct val="55000"/>
              </a:lnSpc>
              <a:spcBef>
                <a:spcPct val="30000"/>
              </a:spcBef>
              <a:spcAft>
                <a:spcPct val="30000"/>
              </a:spcAft>
              <a:buFont typeface="Wingdings" pitchFamily="2" charset="2"/>
              <a:buNone/>
            </a:pPr>
            <a:endParaRPr lang="ko-KR" altLang="en-US" b="1" dirty="0">
              <a:solidFill>
                <a:srgbClr val="404040"/>
              </a:solidFill>
              <a:latin typeface="Arial" pitchFamily="34" charset="0"/>
              <a:ea typeface="바탕체" pitchFamily="17" charset="-127"/>
            </a:endParaRP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학습 목표 제시</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Open </a:t>
            </a:r>
            <a:r>
              <a:rPr lang="ko-KR" altLang="en-US" b="1" dirty="0">
                <a:solidFill>
                  <a:srgbClr val="404040"/>
                </a:solidFill>
                <a:latin typeface="Arial" pitchFamily="34" charset="0"/>
                <a:ea typeface="바탕체" pitchFamily="17" charset="-127"/>
              </a:rPr>
              <a:t>질문 </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평소의 협상 경험은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학습자 답변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협상을 해 본 경험들이 모두 있으니 협상에 대해 이미 많은 것을 이해하고 있다고 판단 됨</a:t>
            </a:r>
            <a:r>
              <a:rPr lang="en-US" altLang="ko-KR" b="1" dirty="0">
                <a:solidFill>
                  <a:srgbClr val="404040"/>
                </a:solidFill>
                <a:latin typeface="Arial" pitchFamily="34" charset="0"/>
                <a:ea typeface="바탕체" pitchFamily="17" charset="-127"/>
              </a:rPr>
              <a:t>. </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늘 해오던 것이므로 평소 경험을 활용하여 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방법 살펴 보고자 함</a:t>
            </a:r>
            <a:r>
              <a:rPr lang="en-US" altLang="ko-KR" b="1" dirty="0">
                <a:solidFill>
                  <a:srgbClr val="404040"/>
                </a:solidFill>
                <a:latin typeface="Arial" pitchFamily="34" charset="0"/>
                <a:ea typeface="바탕체" pitchFamily="17" charset="-127"/>
              </a:rPr>
              <a:t>.</a:t>
            </a:r>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00374925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C39A5663-3FF8-42B2-9DBD-55C7234F36AF}" type="slidenum">
              <a:rPr lang="en-US" altLang="ko-KR">
                <a:solidFill>
                  <a:prstClr val="black"/>
                </a:solidFill>
              </a:rPr>
              <a:pPr>
                <a:defRPr/>
              </a:pPr>
              <a:t>127</a:t>
            </a:fld>
            <a:endParaRPr lang="en-US" altLang="ko-KR" dirty="0">
              <a:solidFill>
                <a:prstClr val="black"/>
              </a:solidFill>
            </a:endParaRPr>
          </a:p>
        </p:txBody>
      </p:sp>
      <p:sp>
        <p:nvSpPr>
          <p:cNvPr id="332803" name="Rectangle 2"/>
          <p:cNvSpPr>
            <a:spLocks noGrp="1" noRot="1" noChangeAspect="1" noChangeArrowheads="1" noTextEdit="1"/>
          </p:cNvSpPr>
          <p:nvPr>
            <p:ph type="sldImg"/>
          </p:nvPr>
        </p:nvSpPr>
        <p:spPr bwMode="auto">
          <a:xfrm>
            <a:off x="-22225" y="585788"/>
            <a:ext cx="5757863" cy="39862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2804" name="Text Box 5"/>
          <p:cNvSpPr txBox="1">
            <a:spLocks noChangeArrowheads="1"/>
          </p:cNvSpPr>
          <p:nvPr/>
        </p:nvSpPr>
        <p:spPr bwMode="auto">
          <a:xfrm>
            <a:off x="5842415" y="1100317"/>
            <a:ext cx="427025" cy="24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3</a:t>
            </a:r>
            <a:r>
              <a:rPr lang="ko-KR" altLang="en-US" b="1" dirty="0">
                <a:solidFill>
                  <a:srgbClr val="404040"/>
                </a:solidFill>
                <a:latin typeface="Arial" pitchFamily="34" charset="0"/>
                <a:ea typeface="바탕체" pitchFamily="17" charset="-127"/>
              </a:rPr>
              <a:t>분</a:t>
            </a:r>
          </a:p>
        </p:txBody>
      </p:sp>
      <p:sp>
        <p:nvSpPr>
          <p:cNvPr id="332805" name="Text Box 6"/>
          <p:cNvSpPr txBox="1">
            <a:spLocks noChangeArrowheads="1"/>
          </p:cNvSpPr>
          <p:nvPr/>
        </p:nvSpPr>
        <p:spPr bwMode="auto">
          <a:xfrm>
            <a:off x="5616907" y="3009225"/>
            <a:ext cx="850853" cy="516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PT</a:t>
            </a:r>
          </a:p>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실습 사례</a:t>
            </a:r>
          </a:p>
        </p:txBody>
      </p:sp>
      <p:sp>
        <p:nvSpPr>
          <p:cNvPr id="332806" name="Text Box 7"/>
          <p:cNvSpPr txBox="1">
            <a:spLocks noChangeArrowheads="1"/>
          </p:cNvSpPr>
          <p:nvPr/>
        </p:nvSpPr>
        <p:spPr bwMode="auto">
          <a:xfrm>
            <a:off x="1412224" y="4964112"/>
            <a:ext cx="1912819" cy="248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필요성 인식</a:t>
            </a:r>
          </a:p>
        </p:txBody>
      </p:sp>
      <p:sp>
        <p:nvSpPr>
          <p:cNvPr id="332807" name="Text Box 8"/>
          <p:cNvSpPr txBox="1">
            <a:spLocks noChangeArrowheads="1"/>
          </p:cNvSpPr>
          <p:nvPr/>
        </p:nvSpPr>
        <p:spPr bwMode="auto">
          <a:xfrm>
            <a:off x="260694" y="5794899"/>
            <a:ext cx="6659681" cy="23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&lt; </a:t>
            </a:r>
            <a:r>
              <a:rPr lang="ko-KR" altLang="en-US" b="1" dirty="0">
                <a:solidFill>
                  <a:srgbClr val="404040"/>
                </a:solidFill>
                <a:latin typeface="Arial" pitchFamily="34" charset="0"/>
                <a:ea typeface="바탕체" pitchFamily="17" charset="-127"/>
              </a:rPr>
              <a:t>진행 </a:t>
            </a:r>
            <a:r>
              <a:rPr lang="en-US" altLang="ko-KR" b="1" dirty="0">
                <a:solidFill>
                  <a:srgbClr val="404040"/>
                </a:solidFill>
                <a:latin typeface="Arial" pitchFamily="34" charset="0"/>
                <a:ea typeface="바탕체" pitchFamily="17" charset="-127"/>
              </a:rPr>
              <a:t>&gt;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강사 소개 및 기대 전달</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관련 강사의 경험을 통한 협상의 중요성</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역량 강화의 기회       </a:t>
            </a:r>
          </a:p>
          <a:p>
            <a:pPr eaLnBrk="0">
              <a:lnSpc>
                <a:spcPct val="55000"/>
              </a:lnSpc>
              <a:spcBef>
                <a:spcPct val="30000"/>
              </a:spcBef>
              <a:spcAft>
                <a:spcPct val="30000"/>
              </a:spcAft>
              <a:buFont typeface="Wingdings" pitchFamily="2" charset="2"/>
              <a:buNone/>
            </a:pPr>
            <a:endParaRPr lang="ko-KR" altLang="en-US" b="1" dirty="0">
              <a:solidFill>
                <a:srgbClr val="404040"/>
              </a:solidFill>
              <a:latin typeface="Arial" pitchFamily="34" charset="0"/>
              <a:ea typeface="바탕체" pitchFamily="17" charset="-127"/>
            </a:endParaRP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학습 목표 제시</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Open </a:t>
            </a:r>
            <a:r>
              <a:rPr lang="ko-KR" altLang="en-US" b="1" dirty="0">
                <a:solidFill>
                  <a:srgbClr val="404040"/>
                </a:solidFill>
                <a:latin typeface="Arial" pitchFamily="34" charset="0"/>
                <a:ea typeface="바탕체" pitchFamily="17" charset="-127"/>
              </a:rPr>
              <a:t>질문 </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평소의 협상 경험은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학습자 답변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협상을 해 본 경험들이 모두 있으니 협상에 대해 이미 많은 것을 이해하고 있다고 판단 됨</a:t>
            </a:r>
            <a:r>
              <a:rPr lang="en-US" altLang="ko-KR" b="1" dirty="0">
                <a:solidFill>
                  <a:srgbClr val="404040"/>
                </a:solidFill>
                <a:latin typeface="Arial" pitchFamily="34" charset="0"/>
                <a:ea typeface="바탕체" pitchFamily="17" charset="-127"/>
              </a:rPr>
              <a:t>. </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늘 해오던 것이므로 평소 경험을 활용하여 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방법 살펴 보고자 함</a:t>
            </a:r>
            <a:r>
              <a:rPr lang="en-US" altLang="ko-KR" b="1" dirty="0">
                <a:solidFill>
                  <a:srgbClr val="404040"/>
                </a:solidFill>
                <a:latin typeface="Arial" pitchFamily="34" charset="0"/>
                <a:ea typeface="바탕체" pitchFamily="17" charset="-127"/>
              </a:rPr>
              <a:t>.</a:t>
            </a:r>
          </a:p>
        </p:txBody>
      </p:sp>
      <p:sp>
        <p:nvSpPr>
          <p:cNvPr id="2" name="바닥글 개체 틀 1"/>
          <p:cNvSpPr>
            <a:spLocks noGrp="1"/>
          </p:cNvSpPr>
          <p:nvPr>
            <p:ph type="ftr" sz="quarter" idx="10"/>
          </p:nvPr>
        </p:nvSpPr>
        <p:spPr/>
        <p:txBody>
          <a:bodyPr/>
          <a:lstStyle/>
          <a:p>
            <a:pPr>
              <a:defRPr/>
            </a:pPr>
            <a:endParaRPr lang="ko-KR" altLang="en-US"/>
          </a:p>
        </p:txBody>
      </p:sp>
      <p:sp>
        <p:nvSpPr>
          <p:cNvPr id="9" name="Notes Placeholder 8"/>
          <p:cNvSpPr>
            <a:spLocks noGrp="1"/>
          </p:cNvSpPr>
          <p:nvPr>
            <p:ph type="body" idx="1"/>
          </p:nvPr>
        </p:nvSpPr>
        <p:spPr/>
        <p:txBody>
          <a:bodyPr>
            <a:normAutofit/>
          </a:bodyPr>
          <a:lstStyle/>
          <a:p>
            <a:r>
              <a:rPr lang="en-US" dirty="0" err="1"/>
              <a:t>Tìm</a:t>
            </a:r>
            <a:r>
              <a:rPr lang="en-US" baseline="0" dirty="0"/>
              <a:t> </a:t>
            </a:r>
            <a:r>
              <a:rPr lang="en-US" baseline="0" dirty="0" err="1"/>
              <a:t>mối</a:t>
            </a:r>
            <a:r>
              <a:rPr lang="en-US" baseline="0" dirty="0"/>
              <a:t> </a:t>
            </a:r>
            <a:r>
              <a:rPr lang="en-US" baseline="0" dirty="0" err="1"/>
              <a:t>qhe</a:t>
            </a:r>
            <a:r>
              <a:rPr lang="en-US" baseline="0" dirty="0"/>
              <a:t> </a:t>
            </a:r>
            <a:r>
              <a:rPr lang="en-US" baseline="0" dirty="0" err="1"/>
              <a:t>tương</a:t>
            </a:r>
            <a:r>
              <a:rPr lang="en-US" baseline="0" dirty="0"/>
              <a:t> </a:t>
            </a:r>
            <a:r>
              <a:rPr lang="en-US" baseline="0" dirty="0" err="1"/>
              <a:t>quan</a:t>
            </a:r>
            <a:r>
              <a:rPr lang="en-US" baseline="0" dirty="0"/>
              <a:t> </a:t>
            </a:r>
            <a:r>
              <a:rPr lang="en-US" baseline="0" dirty="0" err="1"/>
              <a:t>giữa</a:t>
            </a:r>
            <a:r>
              <a:rPr lang="en-US" baseline="0" dirty="0"/>
              <a:t> 2 </a:t>
            </a:r>
            <a:r>
              <a:rPr lang="en-US" baseline="0" dirty="0" err="1"/>
              <a:t>bộ</a:t>
            </a:r>
            <a:r>
              <a:rPr lang="en-US" baseline="0" dirty="0"/>
              <a:t> </a:t>
            </a:r>
            <a:r>
              <a:rPr lang="en-US" baseline="0" dirty="0" err="1"/>
              <a:t>dữ</a:t>
            </a:r>
            <a:r>
              <a:rPr lang="en-US" baseline="0" dirty="0"/>
              <a:t> </a:t>
            </a:r>
            <a:r>
              <a:rPr lang="en-US" baseline="0" dirty="0" err="1"/>
              <a:t>liệu</a:t>
            </a:r>
            <a:endParaRPr lang="en-US" baseline="0" dirty="0"/>
          </a:p>
          <a:p>
            <a:r>
              <a:rPr lang="en-US" baseline="0" dirty="0" err="1"/>
              <a:t>Ví</a:t>
            </a:r>
            <a:r>
              <a:rPr lang="en-US" baseline="0" dirty="0"/>
              <a:t> </a:t>
            </a:r>
            <a:r>
              <a:rPr lang="en-US" baseline="0" dirty="0" err="1"/>
              <a:t>dụ</a:t>
            </a:r>
            <a:r>
              <a:rPr lang="en-US" baseline="0" dirty="0"/>
              <a:t>: </a:t>
            </a:r>
            <a:r>
              <a:rPr lang="en-US" baseline="0" dirty="0" err="1"/>
              <a:t>có</a:t>
            </a:r>
            <a:r>
              <a:rPr lang="en-US" baseline="0" dirty="0"/>
              <a:t> </a:t>
            </a:r>
            <a:r>
              <a:rPr lang="en-US" baseline="0" dirty="0" err="1"/>
              <a:t>ai</a:t>
            </a:r>
            <a:r>
              <a:rPr lang="en-US" baseline="0" dirty="0"/>
              <a:t> </a:t>
            </a:r>
            <a:r>
              <a:rPr lang="en-US" baseline="0" dirty="0" err="1"/>
              <a:t>có</a:t>
            </a:r>
            <a:r>
              <a:rPr lang="en-US" baseline="0" dirty="0"/>
              <a:t> </a:t>
            </a:r>
            <a:r>
              <a:rPr lang="en-US" baseline="0" dirty="0" err="1"/>
              <a:t>thể</a:t>
            </a:r>
            <a:r>
              <a:rPr lang="en-US" baseline="0" dirty="0"/>
              <a:t> </a:t>
            </a:r>
            <a:r>
              <a:rPr lang="en-US" baseline="0" dirty="0" err="1"/>
              <a:t>chắc</a:t>
            </a:r>
            <a:r>
              <a:rPr lang="en-US" baseline="0" dirty="0"/>
              <a:t> </a:t>
            </a:r>
            <a:r>
              <a:rPr lang="en-US" baseline="0" dirty="0" err="1"/>
              <a:t>chắn</a:t>
            </a:r>
            <a:r>
              <a:rPr lang="en-US" baseline="0" dirty="0"/>
              <a:t> </a:t>
            </a:r>
            <a:r>
              <a:rPr lang="en-US" baseline="0" dirty="0" err="1"/>
              <a:t>đc</a:t>
            </a:r>
            <a:r>
              <a:rPr lang="en-US" baseline="0" dirty="0"/>
              <a:t> </a:t>
            </a:r>
            <a:r>
              <a:rPr lang="en-US" baseline="0" dirty="0" err="1"/>
              <a:t>rằng</a:t>
            </a:r>
            <a:r>
              <a:rPr lang="en-US" baseline="0" dirty="0"/>
              <a:t> </a:t>
            </a:r>
            <a:r>
              <a:rPr lang="en-US" baseline="0" dirty="0" err="1"/>
              <a:t>độ</a:t>
            </a:r>
            <a:r>
              <a:rPr lang="en-US" baseline="0" dirty="0"/>
              <a:t> </a:t>
            </a:r>
            <a:r>
              <a:rPr lang="en-US" baseline="0" dirty="0" err="1"/>
              <a:t>ẩm</a:t>
            </a:r>
            <a:r>
              <a:rPr lang="en-US" baseline="0" dirty="0"/>
              <a:t> </a:t>
            </a:r>
            <a:r>
              <a:rPr lang="en-US" baseline="0" dirty="0" err="1"/>
              <a:t>và</a:t>
            </a:r>
            <a:r>
              <a:rPr lang="en-US" baseline="0" dirty="0"/>
              <a:t> </a:t>
            </a:r>
            <a:r>
              <a:rPr lang="en-US" baseline="0" dirty="0" err="1"/>
              <a:t>nhiệt</a:t>
            </a:r>
            <a:r>
              <a:rPr lang="en-US" baseline="0" dirty="0"/>
              <a:t> </a:t>
            </a:r>
            <a:r>
              <a:rPr lang="en-US" baseline="0" dirty="0" err="1"/>
              <a:t>độ</a:t>
            </a:r>
            <a:r>
              <a:rPr lang="en-US" baseline="0" dirty="0"/>
              <a:t> </a:t>
            </a:r>
            <a:r>
              <a:rPr lang="en-US" baseline="0" dirty="0" err="1"/>
              <a:t>có</a:t>
            </a:r>
            <a:r>
              <a:rPr lang="en-US" baseline="0" dirty="0"/>
              <a:t> </a:t>
            </a:r>
            <a:r>
              <a:rPr lang="en-US" baseline="0" dirty="0" err="1"/>
              <a:t>liên</a:t>
            </a:r>
            <a:r>
              <a:rPr lang="en-US" baseline="0" dirty="0"/>
              <a:t> </a:t>
            </a:r>
            <a:r>
              <a:rPr lang="en-US" baseline="0" dirty="0" err="1"/>
              <a:t>quan</a:t>
            </a:r>
            <a:r>
              <a:rPr lang="en-US" baseline="0" dirty="0"/>
              <a:t> </a:t>
            </a:r>
            <a:r>
              <a:rPr lang="en-US" baseline="0" dirty="0" err="1"/>
              <a:t>đến</a:t>
            </a:r>
            <a:r>
              <a:rPr lang="en-US" baseline="0" dirty="0"/>
              <a:t> </a:t>
            </a:r>
            <a:r>
              <a:rPr lang="en-US" baseline="0" dirty="0" err="1"/>
              <a:t>nhau</a:t>
            </a:r>
            <a:r>
              <a:rPr lang="en-US" baseline="0" dirty="0"/>
              <a:t> hay </a:t>
            </a:r>
            <a:r>
              <a:rPr lang="en-US" baseline="0" dirty="0" err="1"/>
              <a:t>ko</a:t>
            </a:r>
            <a:r>
              <a:rPr lang="en-US" baseline="0" dirty="0"/>
              <a:t>?</a:t>
            </a:r>
            <a:endParaRPr lang="en-US" dirty="0"/>
          </a:p>
        </p:txBody>
      </p:sp>
    </p:spTree>
    <p:extLst>
      <p:ext uri="{BB962C8B-B14F-4D97-AF65-F5344CB8AC3E}">
        <p14:creationId xmlns:p14="http://schemas.microsoft.com/office/powerpoint/2010/main" val="360612466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Ví</a:t>
            </a:r>
            <a:r>
              <a:rPr lang="en-US" baseline="0" dirty="0"/>
              <a:t> </a:t>
            </a:r>
            <a:r>
              <a:rPr lang="en-US" baseline="0" dirty="0" err="1"/>
              <a:t>dụ</a:t>
            </a:r>
            <a:r>
              <a:rPr lang="en-US" baseline="0" dirty="0"/>
              <a:t>: </a:t>
            </a:r>
            <a:r>
              <a:rPr lang="en-US" baseline="0" dirty="0" err="1"/>
              <a:t>có</a:t>
            </a:r>
            <a:r>
              <a:rPr lang="en-US" baseline="0" dirty="0"/>
              <a:t> </a:t>
            </a:r>
            <a:r>
              <a:rPr lang="en-US" baseline="0" dirty="0" err="1"/>
              <a:t>mối</a:t>
            </a:r>
            <a:r>
              <a:rPr lang="en-US" baseline="0" dirty="0"/>
              <a:t> </a:t>
            </a:r>
            <a:r>
              <a:rPr lang="en-US" baseline="0" dirty="0" err="1"/>
              <a:t>quan</a:t>
            </a:r>
            <a:r>
              <a:rPr lang="en-US" baseline="0" dirty="0"/>
              <a:t> </a:t>
            </a:r>
            <a:r>
              <a:rPr lang="en-US" baseline="0" dirty="0" err="1"/>
              <a:t>hệ</a:t>
            </a:r>
            <a:r>
              <a:rPr lang="en-US" baseline="0" dirty="0"/>
              <a:t> </a:t>
            </a:r>
            <a:r>
              <a:rPr lang="en-US" baseline="0" dirty="0" err="1"/>
              <a:t>nào</a:t>
            </a:r>
            <a:r>
              <a:rPr lang="en-US" baseline="0" dirty="0"/>
              <a:t> </a:t>
            </a:r>
            <a:r>
              <a:rPr lang="en-US" baseline="0" dirty="0" err="1"/>
              <a:t>giữa</a:t>
            </a:r>
            <a:r>
              <a:rPr lang="en-US" baseline="0" dirty="0"/>
              <a:t> </a:t>
            </a:r>
            <a:r>
              <a:rPr lang="en-US" baseline="0" dirty="0" err="1"/>
              <a:t>độ</a:t>
            </a:r>
            <a:r>
              <a:rPr lang="en-US" baseline="0" dirty="0"/>
              <a:t> </a:t>
            </a:r>
            <a:r>
              <a:rPr lang="en-US" baseline="0" dirty="0" err="1"/>
              <a:t>tuổi</a:t>
            </a:r>
            <a:r>
              <a:rPr lang="en-US" baseline="0" dirty="0"/>
              <a:t> </a:t>
            </a:r>
            <a:r>
              <a:rPr lang="en-US" baseline="0" dirty="0" err="1"/>
              <a:t>và</a:t>
            </a:r>
            <a:r>
              <a:rPr lang="en-US" baseline="0" dirty="0"/>
              <a:t> </a:t>
            </a:r>
            <a:r>
              <a:rPr lang="en-US" baseline="0" dirty="0" err="1"/>
              <a:t>thu</a:t>
            </a:r>
            <a:r>
              <a:rPr lang="en-US" baseline="0" dirty="0"/>
              <a:t> </a:t>
            </a:r>
            <a:r>
              <a:rPr lang="en-US" baseline="0" dirty="0" err="1"/>
              <a:t>nhập</a:t>
            </a:r>
            <a:r>
              <a:rPr lang="en-US" baseline="0" dirty="0"/>
              <a:t> hay </a:t>
            </a:r>
            <a:r>
              <a:rPr lang="en-US" baseline="0" dirty="0" err="1"/>
              <a:t>ko</a:t>
            </a:r>
            <a:r>
              <a:rPr lang="en-US" baseline="0" dirty="0"/>
              <a:t>?</a:t>
            </a:r>
          </a:p>
          <a:p>
            <a:r>
              <a:rPr lang="en-US" baseline="0" dirty="0" err="1"/>
              <a:t>Dựa</a:t>
            </a:r>
            <a:r>
              <a:rPr lang="en-US" baseline="0" dirty="0"/>
              <a:t> </a:t>
            </a:r>
            <a:r>
              <a:rPr lang="en-US" baseline="0" dirty="0" err="1"/>
              <a:t>vào</a:t>
            </a:r>
            <a:r>
              <a:rPr lang="en-US" baseline="0" dirty="0"/>
              <a:t> </a:t>
            </a:r>
            <a:r>
              <a:rPr lang="en-US" baseline="0" dirty="0" err="1"/>
              <a:t>dữ</a:t>
            </a:r>
            <a:r>
              <a:rPr lang="en-US" baseline="0" dirty="0"/>
              <a:t> </a:t>
            </a:r>
            <a:r>
              <a:rPr lang="en-US" baseline="0" dirty="0" err="1"/>
              <a:t>liệu</a:t>
            </a:r>
            <a:r>
              <a:rPr lang="en-US" baseline="0" dirty="0"/>
              <a:t> </a:t>
            </a:r>
            <a:r>
              <a:rPr lang="en-US" baseline="0" dirty="0" err="1"/>
              <a:t>nào</a:t>
            </a:r>
            <a:r>
              <a:rPr lang="en-US" baseline="0" dirty="0"/>
              <a:t> </a:t>
            </a:r>
            <a:r>
              <a:rPr lang="en-US" baseline="0" dirty="0" err="1"/>
              <a:t>để</a:t>
            </a:r>
            <a:r>
              <a:rPr lang="en-US" baseline="0" dirty="0"/>
              <a:t> </a:t>
            </a:r>
            <a:r>
              <a:rPr lang="en-US" baseline="0" dirty="0" err="1"/>
              <a:t>xác</a:t>
            </a:r>
            <a:r>
              <a:rPr lang="en-US" baseline="0" dirty="0"/>
              <a:t> </a:t>
            </a:r>
            <a:r>
              <a:rPr lang="en-US" baseline="0" dirty="0" err="1"/>
              <a:t>định</a:t>
            </a:r>
            <a:r>
              <a:rPr lang="en-US" baseline="0" dirty="0"/>
              <a:t> </a:t>
            </a:r>
            <a:r>
              <a:rPr lang="en-US" baseline="0" dirty="0" err="1"/>
              <a:t>mqh</a:t>
            </a:r>
            <a:r>
              <a:rPr lang="en-US" baseline="0" dirty="0"/>
              <a:t> </a:t>
            </a:r>
            <a:r>
              <a:rPr lang="en-US" baseline="0" dirty="0" err="1"/>
              <a:t>đó</a:t>
            </a:r>
            <a:r>
              <a:rPr lang="en-US" baseline="0" dirty="0"/>
              <a:t>?</a:t>
            </a:r>
          </a:p>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129</a:t>
            </a:fld>
            <a:endParaRPr lang="ko-KR" altLang="en-US" dirty="0"/>
          </a:p>
        </p:txBody>
      </p:sp>
    </p:spTree>
    <p:extLst>
      <p:ext uri="{BB962C8B-B14F-4D97-AF65-F5344CB8AC3E}">
        <p14:creationId xmlns:p14="http://schemas.microsoft.com/office/powerpoint/2010/main" val="368049371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130</a:t>
            </a:fld>
            <a:endParaRPr lang="ko-KR" altLang="en-US" dirty="0"/>
          </a:p>
        </p:txBody>
      </p:sp>
    </p:spTree>
    <p:extLst>
      <p:ext uri="{BB962C8B-B14F-4D97-AF65-F5344CB8AC3E}">
        <p14:creationId xmlns:p14="http://schemas.microsoft.com/office/powerpoint/2010/main" val="171120072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Ví</a:t>
            </a:r>
            <a:r>
              <a:rPr lang="en-US" baseline="0" dirty="0"/>
              <a:t> </a:t>
            </a:r>
            <a:r>
              <a:rPr lang="en-US" baseline="0" dirty="0" err="1"/>
              <a:t>dụ</a:t>
            </a:r>
            <a:r>
              <a:rPr lang="en-US" baseline="0" dirty="0"/>
              <a:t>: </a:t>
            </a:r>
            <a:r>
              <a:rPr lang="en-US" dirty="0" err="1"/>
              <a:t>Vẻ</a:t>
            </a:r>
            <a:r>
              <a:rPr lang="en-US" dirty="0"/>
              <a:t> </a:t>
            </a:r>
            <a:r>
              <a:rPr lang="en-US" dirty="0" err="1"/>
              <a:t>đẹp</a:t>
            </a:r>
            <a:r>
              <a:rPr lang="en-US" baseline="0" dirty="0"/>
              <a:t> </a:t>
            </a:r>
            <a:r>
              <a:rPr lang="en-US" baseline="0" dirty="0" err="1"/>
              <a:t>của</a:t>
            </a:r>
            <a:r>
              <a:rPr lang="en-US" baseline="0" dirty="0"/>
              <a:t> </a:t>
            </a:r>
            <a:r>
              <a:rPr lang="en-US" baseline="0" dirty="0" err="1"/>
              <a:t>phụ</a:t>
            </a:r>
            <a:r>
              <a:rPr lang="en-US" baseline="0" dirty="0"/>
              <a:t> </a:t>
            </a:r>
            <a:r>
              <a:rPr lang="en-US" baseline="0" dirty="0" err="1"/>
              <a:t>nữ</a:t>
            </a:r>
            <a:r>
              <a:rPr lang="en-US" baseline="0" dirty="0"/>
              <a:t> .</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139</a:t>
            </a:fld>
            <a:endParaRPr lang="ko-KR" altLang="en-US" dirty="0"/>
          </a:p>
        </p:txBody>
      </p:sp>
    </p:spTree>
    <p:extLst>
      <p:ext uri="{BB962C8B-B14F-4D97-AF65-F5344CB8AC3E}">
        <p14:creationId xmlns:p14="http://schemas.microsoft.com/office/powerpoint/2010/main" val="365616432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C3C69301-8D63-4480-B199-A3FF4AF01733}" type="slidenum">
              <a:rPr lang="en-US" altLang="ko-KR">
                <a:solidFill>
                  <a:prstClr val="black"/>
                </a:solidFill>
              </a:rPr>
              <a:pPr>
                <a:defRPr/>
              </a:pPr>
              <a:t>144</a:t>
            </a:fld>
            <a:endParaRPr lang="en-US" altLang="ko-KR" dirty="0">
              <a:solidFill>
                <a:prstClr val="black"/>
              </a:solidFill>
            </a:endParaRPr>
          </a:p>
        </p:txBody>
      </p:sp>
      <p:sp>
        <p:nvSpPr>
          <p:cNvPr id="333827" name="Rectangle 2"/>
          <p:cNvSpPr>
            <a:spLocks noGrp="1" noRot="1" noChangeAspect="1" noChangeArrowheads="1" noTextEdit="1"/>
          </p:cNvSpPr>
          <p:nvPr>
            <p:ph type="sldImg"/>
          </p:nvPr>
        </p:nvSpPr>
        <p:spPr bwMode="auto">
          <a:xfrm>
            <a:off x="-22225" y="585788"/>
            <a:ext cx="5757863" cy="39862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3828" name="Text Box 5"/>
          <p:cNvSpPr txBox="1">
            <a:spLocks noChangeArrowheads="1"/>
          </p:cNvSpPr>
          <p:nvPr/>
        </p:nvSpPr>
        <p:spPr bwMode="auto">
          <a:xfrm>
            <a:off x="5842415" y="1100317"/>
            <a:ext cx="427025" cy="24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3</a:t>
            </a:r>
            <a:r>
              <a:rPr lang="ko-KR" altLang="en-US" b="1" dirty="0">
                <a:solidFill>
                  <a:srgbClr val="404040"/>
                </a:solidFill>
                <a:latin typeface="Arial" pitchFamily="34" charset="0"/>
                <a:ea typeface="바탕체" pitchFamily="17" charset="-127"/>
              </a:rPr>
              <a:t>분</a:t>
            </a:r>
          </a:p>
        </p:txBody>
      </p:sp>
      <p:sp>
        <p:nvSpPr>
          <p:cNvPr id="333829" name="Text Box 6"/>
          <p:cNvSpPr txBox="1">
            <a:spLocks noChangeArrowheads="1"/>
          </p:cNvSpPr>
          <p:nvPr/>
        </p:nvSpPr>
        <p:spPr bwMode="auto">
          <a:xfrm>
            <a:off x="5616907" y="3009225"/>
            <a:ext cx="850853" cy="516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PT</a:t>
            </a:r>
          </a:p>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실습 사례</a:t>
            </a:r>
          </a:p>
        </p:txBody>
      </p:sp>
      <p:sp>
        <p:nvSpPr>
          <p:cNvPr id="333830" name="Text Box 7"/>
          <p:cNvSpPr txBox="1">
            <a:spLocks noChangeArrowheads="1"/>
          </p:cNvSpPr>
          <p:nvPr/>
        </p:nvSpPr>
        <p:spPr bwMode="auto">
          <a:xfrm>
            <a:off x="1412224" y="4964112"/>
            <a:ext cx="1912819" cy="248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필요성 인식</a:t>
            </a:r>
          </a:p>
        </p:txBody>
      </p:sp>
      <p:sp>
        <p:nvSpPr>
          <p:cNvPr id="333831" name="Text Box 8"/>
          <p:cNvSpPr txBox="1">
            <a:spLocks noChangeArrowheads="1"/>
          </p:cNvSpPr>
          <p:nvPr/>
        </p:nvSpPr>
        <p:spPr bwMode="auto">
          <a:xfrm>
            <a:off x="260694" y="5794899"/>
            <a:ext cx="6659681" cy="23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&lt; </a:t>
            </a:r>
            <a:r>
              <a:rPr lang="ko-KR" altLang="en-US" b="1" dirty="0">
                <a:solidFill>
                  <a:srgbClr val="404040"/>
                </a:solidFill>
                <a:latin typeface="Arial" pitchFamily="34" charset="0"/>
                <a:ea typeface="바탕체" pitchFamily="17" charset="-127"/>
              </a:rPr>
              <a:t>진행 </a:t>
            </a:r>
            <a:r>
              <a:rPr lang="en-US" altLang="ko-KR" b="1" dirty="0">
                <a:solidFill>
                  <a:srgbClr val="404040"/>
                </a:solidFill>
                <a:latin typeface="Arial" pitchFamily="34" charset="0"/>
                <a:ea typeface="바탕체" pitchFamily="17" charset="-127"/>
              </a:rPr>
              <a:t>&gt;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강사 소개 및 기대 전달</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관련 강사의 경험을 통한 협상의 중요성</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역량 강화의 기회       </a:t>
            </a:r>
          </a:p>
          <a:p>
            <a:pPr eaLnBrk="0">
              <a:lnSpc>
                <a:spcPct val="55000"/>
              </a:lnSpc>
              <a:spcBef>
                <a:spcPct val="30000"/>
              </a:spcBef>
              <a:spcAft>
                <a:spcPct val="30000"/>
              </a:spcAft>
              <a:buFont typeface="Wingdings" pitchFamily="2" charset="2"/>
              <a:buNone/>
            </a:pPr>
            <a:endParaRPr lang="ko-KR" altLang="en-US" b="1" dirty="0">
              <a:solidFill>
                <a:srgbClr val="404040"/>
              </a:solidFill>
              <a:latin typeface="Arial" pitchFamily="34" charset="0"/>
              <a:ea typeface="바탕체" pitchFamily="17" charset="-127"/>
            </a:endParaRP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학습 목표 제시</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Open </a:t>
            </a:r>
            <a:r>
              <a:rPr lang="ko-KR" altLang="en-US" b="1" dirty="0">
                <a:solidFill>
                  <a:srgbClr val="404040"/>
                </a:solidFill>
                <a:latin typeface="Arial" pitchFamily="34" charset="0"/>
                <a:ea typeface="바탕체" pitchFamily="17" charset="-127"/>
              </a:rPr>
              <a:t>질문 </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평소의 협상 경험은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학습자 답변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협상을 해 본 경험들이 모두 있으니 협상에 대해 이미 많은 것을 이해하고 있다고 판단 됨</a:t>
            </a:r>
            <a:r>
              <a:rPr lang="en-US" altLang="ko-KR" b="1" dirty="0">
                <a:solidFill>
                  <a:srgbClr val="404040"/>
                </a:solidFill>
                <a:latin typeface="Arial" pitchFamily="34" charset="0"/>
                <a:ea typeface="바탕체" pitchFamily="17" charset="-127"/>
              </a:rPr>
              <a:t>. </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늘 해오던 것이므로 평소 경험을 활용하여 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방법 살펴 보고자 함</a:t>
            </a:r>
            <a:r>
              <a:rPr lang="en-US" altLang="ko-KR" b="1" dirty="0">
                <a:solidFill>
                  <a:srgbClr val="404040"/>
                </a:solidFill>
                <a:latin typeface="Arial" pitchFamily="34" charset="0"/>
                <a:ea typeface="바탕체" pitchFamily="17" charset="-127"/>
              </a:rPr>
              <a:t>.</a:t>
            </a:r>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5597593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fontScale="55000" lnSpcReduction="20000"/>
          </a:bodyPr>
          <a:lstStyle/>
          <a:p>
            <a:pPr latinLnBrk="1"/>
            <a:r>
              <a:rPr lang="en-US" altLang="ko-KR" sz="1200" kern="1200" dirty="0">
                <a:solidFill>
                  <a:schemeClr val="tx1"/>
                </a:solidFill>
                <a:effectLst/>
                <a:latin typeface="+mn-lt"/>
                <a:ea typeface="+mn-ea"/>
                <a:cs typeface="+mn-cs"/>
              </a:rPr>
              <a:t>These graphs show how grades in English have changed over the past 2 years.</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The grades have moved up and down but during the last 2 years, overall, it has shown an upward trend of 10 points from 75 to 85 points.</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Also, it is easy to make a comparison of grades because the bottom of the graph is marked with a 0 and with one look the reader can read the overall trend. You can say they are rather plain graphs.</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The 10 point increase on the graphs indeed look like a 10 point increase and although the increase is big, it is not such a radical improvement.</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While Na</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s English grade has increased slightly, but Mr. Cho, who has taught him English lessons for the past 2 years, might want to emphasize the increase even more to Na</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s parents. </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This way they will continue to entrust him with their son</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s education. However, for this purpose, the graphs are rather unsatisfactory.</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To make the increase look more dramatic the bottom empty space in graph 1 was removed in graph 2.</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The data are the same but the bottom has been cut out. Consequently, the grade curve occupies 1/3 the height of the entire graph. </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We have not employed any trickery but the impression the graph projects has become very different.</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The bottom part of graph has become hidden and the slightest increase looks magnified.</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When Mr. Cho thinks about the high income he earned during the past 2 years teaching Na, he could be tempted to use other methods </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 methods that are essentially deceptions, but could be more effective in dramatizing the look of the increase.</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As illustrated in the next graph, by changing the intervals of the vertical axis, small changes can be made to look larger.</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When the vertical axis scale is changed to go from 75 points to 85 points, the effectiveness of Mr. Cho</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s tutoring has become magnified.</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When he shows Graph 3 to the parents of Na and claim </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his grades has improved dramatically by 10 points</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 Na</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s parents would be very satisfied.</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In a similar fashion, the horizontal axis can be tailored to meet the intentions of the person creating the graph.</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First select the starting point and ending point of the axis that transforms the graph to the desired shape.</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If Mr. Cho feels that showing only the recent grades could be more advantageous for him, he could draw the graph to show only the test grades starting from the 18</a:t>
            </a:r>
            <a:r>
              <a:rPr lang="en-US" altLang="ko-KR" sz="1200" kern="1200" baseline="30000" dirty="0">
                <a:solidFill>
                  <a:schemeClr val="tx1"/>
                </a:solidFill>
                <a:effectLst/>
                <a:latin typeface="+mn-lt"/>
                <a:ea typeface="+mn-ea"/>
                <a:cs typeface="+mn-cs"/>
              </a:rPr>
              <a:t>th</a:t>
            </a:r>
            <a:r>
              <a:rPr lang="en-US" altLang="ko-KR" sz="1200" kern="1200" dirty="0">
                <a:solidFill>
                  <a:schemeClr val="tx1"/>
                </a:solidFill>
                <a:effectLst/>
                <a:latin typeface="+mn-lt"/>
                <a:ea typeface="+mn-ea"/>
                <a:cs typeface="+mn-cs"/>
              </a:rPr>
              <a:t> session, as shown in the next graph.</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Mr. Cho will think of Graph 4 as a better alternative when he wants to show that as a result of his tutoring, the grades are steadily on an upward trend.</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The intervals on the horizontal axis can be altered to show changes in data to correspond to the intentions of the author, whatever it may be.</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If the interval spacing is narrow, the vicissitudes of the graph in the vertical direction would be magnified. In contrast, stretching the interval spacing would flatten out the vertical vicissitudes.</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If Mr. Cho wants to convey the message to the parents that Na</a:t>
            </a:r>
            <a:r>
              <a:rPr lang="ko-KR" altLang="ko-KR" sz="1200" kern="1200" dirty="0">
                <a:solidFill>
                  <a:schemeClr val="tx1"/>
                </a:solidFill>
                <a:effectLst/>
                <a:latin typeface="+mn-lt"/>
                <a:ea typeface="+mn-ea"/>
                <a:cs typeface="+mn-cs"/>
              </a:rPr>
              <a:t>’</a:t>
            </a:r>
            <a:r>
              <a:rPr lang="en-US" altLang="ko-KR" sz="1200" kern="1200" dirty="0">
                <a:solidFill>
                  <a:schemeClr val="tx1"/>
                </a:solidFill>
                <a:effectLst/>
                <a:latin typeface="+mn-lt"/>
                <a:ea typeface="+mn-ea"/>
                <a:cs typeface="+mn-cs"/>
              </a:rPr>
              <a:t>s grades are rising but because they are fluctuating, Na needs to concentrate more on his studies, what type of graph should he turn to?</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All he has to do is narrow the horizontal axis of the graph.</a:t>
            </a:r>
            <a:endParaRPr lang="ko-KR" altLang="ko-KR" sz="1200" kern="1200" dirty="0">
              <a:solidFill>
                <a:schemeClr val="tx1"/>
              </a:solidFill>
              <a:effectLst/>
              <a:latin typeface="+mn-lt"/>
              <a:ea typeface="+mn-ea"/>
              <a:cs typeface="+mn-cs"/>
            </a:endParaRPr>
          </a:p>
          <a:p>
            <a:pPr latinLnBrk="1"/>
            <a:r>
              <a:rPr lang="en-US" altLang="ko-KR" sz="1200" kern="1200" dirty="0">
                <a:solidFill>
                  <a:schemeClr val="tx1"/>
                </a:solidFill>
                <a:effectLst/>
                <a:latin typeface="+mn-lt"/>
                <a:ea typeface="+mn-ea"/>
                <a:cs typeface="+mn-cs"/>
              </a:rPr>
              <a:t>A graph with a narrowed horizontal axis (Graph 5) is sufficient to give the impression of severe grade fluctuating trend.</a:t>
            </a:r>
            <a:endParaRPr lang="ko-KR" altLang="ko-KR" sz="1200" kern="1200" dirty="0">
              <a:solidFill>
                <a:schemeClr val="tx1"/>
              </a:solidFill>
              <a:effectLst/>
              <a:latin typeface="+mn-lt"/>
              <a:ea typeface="+mn-ea"/>
              <a:cs typeface="+mn-cs"/>
            </a:endParaRPr>
          </a:p>
        </p:txBody>
      </p:sp>
      <p:sp>
        <p:nvSpPr>
          <p:cNvPr id="4" name="슬라이드 번호 개체 틀 3"/>
          <p:cNvSpPr>
            <a:spLocks noGrp="1"/>
          </p:cNvSpPr>
          <p:nvPr>
            <p:ph type="sldNum" sz="quarter" idx="10"/>
          </p:nvPr>
        </p:nvSpPr>
        <p:spPr/>
        <p:txBody>
          <a:bodyPr/>
          <a:lstStyle/>
          <a:p>
            <a:pPr>
              <a:defRPr/>
            </a:pPr>
            <a:fld id="{F90E1B37-6792-4299-AD16-FE437235A179}" type="slidenum">
              <a:rPr lang="ko-KR" altLang="en-US" smtClean="0"/>
              <a:pPr>
                <a:defRPr/>
              </a:pPr>
              <a:t>154</a:t>
            </a:fld>
            <a:endParaRPr lang="ko-KR" altLang="en-US" dirty="0"/>
          </a:p>
        </p:txBody>
      </p:sp>
      <p:sp>
        <p:nvSpPr>
          <p:cNvPr id="5" name="바닥글 개체 틀 4"/>
          <p:cNvSpPr>
            <a:spLocks noGrp="1"/>
          </p:cNvSpPr>
          <p:nvPr>
            <p:ph type="ftr" sz="quarter" idx="11"/>
          </p:nvPr>
        </p:nvSpPr>
        <p:spPr/>
        <p:txBody>
          <a:bodyPr/>
          <a:lstStyle/>
          <a:p>
            <a:pPr>
              <a:defRPr/>
            </a:pPr>
            <a:endParaRPr lang="ko-KR" altLang="en-US"/>
          </a:p>
        </p:txBody>
      </p:sp>
    </p:spTree>
    <p:extLst>
      <p:ext uri="{BB962C8B-B14F-4D97-AF65-F5344CB8AC3E}">
        <p14:creationId xmlns:p14="http://schemas.microsoft.com/office/powerpoint/2010/main" val="278546649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pPr>
              <a:defRPr/>
            </a:pPr>
            <a:fld id="{57D61B13-DF71-4CDB-8E21-B10FB1C732E6}" type="slidenum">
              <a:rPr lang="ko-KR" altLang="en-US" smtClean="0"/>
              <a:pPr>
                <a:defRPr/>
              </a:pPr>
              <a:t>156</a:t>
            </a:fld>
            <a:endParaRPr lang="ko-KR" altLang="en-US"/>
          </a:p>
        </p:txBody>
      </p:sp>
      <p:sp>
        <p:nvSpPr>
          <p:cNvPr id="5" name="바닥글 개체 틀 4"/>
          <p:cNvSpPr>
            <a:spLocks noGrp="1"/>
          </p:cNvSpPr>
          <p:nvPr>
            <p:ph type="ftr" sz="quarter" idx="11"/>
          </p:nvPr>
        </p:nvSpPr>
        <p:spPr/>
        <p:txBody>
          <a:bodyPr/>
          <a:lstStyle/>
          <a:p>
            <a:pPr>
              <a:defRPr/>
            </a:pPr>
            <a:endParaRPr lang="ko-KR" altLang="en-US"/>
          </a:p>
        </p:txBody>
      </p:sp>
    </p:spTree>
    <p:extLst>
      <p:ext uri="{BB962C8B-B14F-4D97-AF65-F5344CB8AC3E}">
        <p14:creationId xmlns:p14="http://schemas.microsoft.com/office/powerpoint/2010/main" val="26929341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0E613CF0-FF92-4864-9755-8B5237BB21C9}" type="slidenum">
              <a:rPr lang="en-US" altLang="ko-KR">
                <a:solidFill>
                  <a:prstClr val="black"/>
                </a:solidFill>
              </a:rPr>
              <a:pPr>
                <a:defRPr/>
              </a:pPr>
              <a:t>160</a:t>
            </a:fld>
            <a:endParaRPr lang="en-US" altLang="ko-KR" dirty="0">
              <a:solidFill>
                <a:prstClr val="black"/>
              </a:solidFill>
            </a:endParaRPr>
          </a:p>
        </p:txBody>
      </p:sp>
      <p:sp>
        <p:nvSpPr>
          <p:cNvPr id="334851" name="Rectangle 2"/>
          <p:cNvSpPr>
            <a:spLocks noGrp="1" noRot="1" noChangeAspect="1" noChangeArrowheads="1" noTextEdit="1"/>
          </p:cNvSpPr>
          <p:nvPr>
            <p:ph type="sldImg"/>
          </p:nvPr>
        </p:nvSpPr>
        <p:spPr bwMode="auto">
          <a:xfrm>
            <a:off x="-22225" y="585788"/>
            <a:ext cx="5757863" cy="39862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4852" name="Text Box 5"/>
          <p:cNvSpPr txBox="1">
            <a:spLocks noChangeArrowheads="1"/>
          </p:cNvSpPr>
          <p:nvPr/>
        </p:nvSpPr>
        <p:spPr bwMode="auto">
          <a:xfrm>
            <a:off x="5842415" y="1100317"/>
            <a:ext cx="427025" cy="24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3</a:t>
            </a:r>
            <a:r>
              <a:rPr lang="ko-KR" altLang="en-US" b="1" dirty="0">
                <a:solidFill>
                  <a:srgbClr val="404040"/>
                </a:solidFill>
                <a:latin typeface="Arial" pitchFamily="34" charset="0"/>
                <a:ea typeface="바탕체" pitchFamily="17" charset="-127"/>
              </a:rPr>
              <a:t>분</a:t>
            </a:r>
          </a:p>
        </p:txBody>
      </p:sp>
      <p:sp>
        <p:nvSpPr>
          <p:cNvPr id="334853" name="Text Box 6"/>
          <p:cNvSpPr txBox="1">
            <a:spLocks noChangeArrowheads="1"/>
          </p:cNvSpPr>
          <p:nvPr/>
        </p:nvSpPr>
        <p:spPr bwMode="auto">
          <a:xfrm>
            <a:off x="5616907" y="3009225"/>
            <a:ext cx="850853" cy="516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PT</a:t>
            </a:r>
          </a:p>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실습 사례</a:t>
            </a:r>
          </a:p>
        </p:txBody>
      </p:sp>
      <p:sp>
        <p:nvSpPr>
          <p:cNvPr id="334854" name="Text Box 7"/>
          <p:cNvSpPr txBox="1">
            <a:spLocks noChangeArrowheads="1"/>
          </p:cNvSpPr>
          <p:nvPr/>
        </p:nvSpPr>
        <p:spPr bwMode="auto">
          <a:xfrm>
            <a:off x="1412224" y="4964112"/>
            <a:ext cx="1912819" cy="248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8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필요성 인식</a:t>
            </a:r>
          </a:p>
        </p:txBody>
      </p:sp>
      <p:sp>
        <p:nvSpPr>
          <p:cNvPr id="334855" name="Text Box 8"/>
          <p:cNvSpPr txBox="1">
            <a:spLocks noChangeArrowheads="1"/>
          </p:cNvSpPr>
          <p:nvPr/>
        </p:nvSpPr>
        <p:spPr bwMode="auto">
          <a:xfrm>
            <a:off x="260694" y="5794899"/>
            <a:ext cx="6659681" cy="23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none" lIns="91847" tIns="45925" rIns="91847" bIns="45925">
            <a:spAutoFit/>
          </a:bodyPr>
          <a:lstStyle>
            <a:lvl1pPr>
              <a:defRPr sz="1200">
                <a:solidFill>
                  <a:schemeClr val="tx1"/>
                </a:solidFill>
                <a:latin typeface="맑은 고딕" pitchFamily="50" charset="-127"/>
                <a:ea typeface="맑은 고딕" pitchFamily="50" charset="-127"/>
              </a:defRPr>
            </a:lvl1pPr>
            <a:lvl2pPr marL="742950" indent="-285750">
              <a:defRPr sz="1200">
                <a:solidFill>
                  <a:schemeClr val="tx1"/>
                </a:solidFill>
                <a:latin typeface="맑은 고딕" pitchFamily="50" charset="-127"/>
                <a:ea typeface="맑은 고딕" pitchFamily="50" charset="-127"/>
              </a:defRPr>
            </a:lvl2pPr>
            <a:lvl3pPr marL="1143000" indent="-228600">
              <a:defRPr sz="1200">
                <a:solidFill>
                  <a:schemeClr val="tx1"/>
                </a:solidFill>
                <a:latin typeface="맑은 고딕" pitchFamily="50" charset="-127"/>
                <a:ea typeface="맑은 고딕" pitchFamily="50" charset="-127"/>
              </a:defRPr>
            </a:lvl3pPr>
            <a:lvl4pPr marL="1600200" indent="-228600">
              <a:defRPr sz="1200">
                <a:solidFill>
                  <a:schemeClr val="tx1"/>
                </a:solidFill>
                <a:latin typeface="맑은 고딕" pitchFamily="50" charset="-127"/>
                <a:ea typeface="맑은 고딕" pitchFamily="50" charset="-127"/>
              </a:defRPr>
            </a:lvl4pPr>
            <a:lvl5pPr marL="2057400" indent="-228600">
              <a:defRPr sz="1200">
                <a:solidFill>
                  <a:schemeClr val="tx1"/>
                </a:solidFill>
                <a:latin typeface="맑은 고딕" pitchFamily="50" charset="-127"/>
                <a:ea typeface="맑은 고딕" pitchFamily="50" charset="-127"/>
              </a:defRPr>
            </a:lvl5pPr>
            <a:lvl6pPr marL="25146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6pPr>
            <a:lvl7pPr marL="29718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7pPr>
            <a:lvl8pPr marL="34290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8pPr>
            <a:lvl9pPr marL="3886200" indent="-228600" eaLnBrk="0" fontAlgn="base" hangingPunct="0">
              <a:spcBef>
                <a:spcPct val="30000"/>
              </a:spcBef>
              <a:spcAft>
                <a:spcPct val="0"/>
              </a:spcAft>
              <a:defRPr sz="1200">
                <a:solidFill>
                  <a:schemeClr val="tx1"/>
                </a:solidFill>
                <a:latin typeface="맑은 고딕" pitchFamily="50" charset="-127"/>
                <a:ea typeface="맑은 고딕" pitchFamily="50" charset="-127"/>
              </a:defRPr>
            </a:lvl9pPr>
          </a:lstStyle>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&lt; </a:t>
            </a:r>
            <a:r>
              <a:rPr lang="ko-KR" altLang="en-US" b="1" dirty="0">
                <a:solidFill>
                  <a:srgbClr val="404040"/>
                </a:solidFill>
                <a:latin typeface="Arial" pitchFamily="34" charset="0"/>
                <a:ea typeface="바탕체" pitchFamily="17" charset="-127"/>
              </a:rPr>
              <a:t>진행 </a:t>
            </a:r>
            <a:r>
              <a:rPr lang="en-US" altLang="ko-KR" b="1" dirty="0">
                <a:solidFill>
                  <a:srgbClr val="404040"/>
                </a:solidFill>
                <a:latin typeface="Arial" pitchFamily="34" charset="0"/>
                <a:ea typeface="바탕체" pitchFamily="17" charset="-127"/>
              </a:rPr>
              <a:t>&gt;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강사 소개 및 기대 전달</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관련 강사의 경험을 통한 협상의 중요성</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협상 역량 강화의 기회       </a:t>
            </a:r>
          </a:p>
          <a:p>
            <a:pPr eaLnBrk="0">
              <a:lnSpc>
                <a:spcPct val="55000"/>
              </a:lnSpc>
              <a:spcBef>
                <a:spcPct val="30000"/>
              </a:spcBef>
              <a:spcAft>
                <a:spcPct val="30000"/>
              </a:spcAft>
              <a:buFont typeface="Wingdings" pitchFamily="2" charset="2"/>
              <a:buNone/>
            </a:pPr>
            <a:endParaRPr lang="ko-KR" altLang="en-US" b="1" dirty="0">
              <a:solidFill>
                <a:srgbClr val="404040"/>
              </a:solidFill>
              <a:latin typeface="Arial" pitchFamily="34" charset="0"/>
              <a:ea typeface="바탕체" pitchFamily="17" charset="-127"/>
            </a:endParaRP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학습 목표 제시</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Open </a:t>
            </a:r>
            <a:r>
              <a:rPr lang="ko-KR" altLang="en-US" b="1" dirty="0">
                <a:solidFill>
                  <a:srgbClr val="404040"/>
                </a:solidFill>
                <a:latin typeface="Arial" pitchFamily="34" charset="0"/>
                <a:ea typeface="바탕체" pitchFamily="17" charset="-127"/>
              </a:rPr>
              <a:t>질문 </a:t>
            </a:r>
          </a:p>
          <a:p>
            <a:pPr eaLnBrk="0">
              <a:lnSpc>
                <a:spcPct val="55000"/>
              </a:lnSpc>
              <a:spcBef>
                <a:spcPct val="30000"/>
              </a:spcBef>
              <a:spcAft>
                <a:spcPct val="30000"/>
              </a:spcAft>
              <a:buFont typeface="Wingdings" pitchFamily="2" charset="2"/>
              <a:buNone/>
            </a:pPr>
            <a:r>
              <a:rPr lang="ko-KR" altLang="en-US" b="1" dirty="0">
                <a:solidFill>
                  <a:srgbClr val="404040"/>
                </a:solidFill>
                <a:latin typeface="Arial" pitchFamily="34" charset="0"/>
                <a:ea typeface="바탕체" pitchFamily="17" charset="-127"/>
              </a:rPr>
              <a:t>      </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평소의 협상 경험은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학습자 답변</a:t>
            </a:r>
            <a:r>
              <a:rPr lang="en-US" altLang="ko-KR" b="1" dirty="0">
                <a:solidFill>
                  <a:srgbClr val="404040"/>
                </a:solidFill>
                <a:latin typeface="Arial" pitchFamily="34" charset="0"/>
                <a:ea typeface="바탕체" pitchFamily="17" charset="-127"/>
              </a:rPr>
              <a:t>)</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협상을 해 본 경험들이 모두 있으니 협상에 대해 이미 많은 것을 이해하고 있다고 판단 됨</a:t>
            </a:r>
            <a:r>
              <a:rPr lang="en-US" altLang="ko-KR" b="1" dirty="0">
                <a:solidFill>
                  <a:srgbClr val="404040"/>
                </a:solidFill>
                <a:latin typeface="Arial" pitchFamily="34" charset="0"/>
                <a:ea typeface="바탕체" pitchFamily="17" charset="-127"/>
              </a:rPr>
              <a:t>. </a:t>
            </a:r>
          </a:p>
          <a:p>
            <a:pPr eaLnBrk="0">
              <a:lnSpc>
                <a:spcPct val="55000"/>
              </a:lnSpc>
              <a:spcBef>
                <a:spcPct val="30000"/>
              </a:spcBef>
              <a:spcAft>
                <a:spcPct val="30000"/>
              </a:spcAft>
              <a:buFont typeface="Wingdings" pitchFamily="2" charset="2"/>
              <a:buNone/>
            </a:pPr>
            <a:r>
              <a:rPr lang="en-US" altLang="ko-KR" b="1" dirty="0">
                <a:solidFill>
                  <a:srgbClr val="404040"/>
                </a:solidFill>
                <a:latin typeface="Arial" pitchFamily="34" charset="0"/>
                <a:ea typeface="바탕체" pitchFamily="17" charset="-127"/>
              </a:rPr>
              <a:t>      . </a:t>
            </a:r>
            <a:r>
              <a:rPr lang="ko-KR" altLang="en-US" b="1" dirty="0">
                <a:solidFill>
                  <a:srgbClr val="404040"/>
                </a:solidFill>
                <a:latin typeface="Arial" pitchFamily="34" charset="0"/>
                <a:ea typeface="바탕체" pitchFamily="17" charset="-127"/>
              </a:rPr>
              <a:t>늘 해오던 것이므로 평소 경험을 활용하여 협상의 개념</a:t>
            </a:r>
            <a:r>
              <a:rPr lang="en-US" altLang="ko-KR" b="1" dirty="0">
                <a:solidFill>
                  <a:srgbClr val="404040"/>
                </a:solidFill>
                <a:latin typeface="Arial" pitchFamily="34" charset="0"/>
                <a:ea typeface="바탕체" pitchFamily="17" charset="-127"/>
              </a:rPr>
              <a:t>, </a:t>
            </a:r>
            <a:r>
              <a:rPr lang="ko-KR" altLang="en-US" b="1" dirty="0">
                <a:solidFill>
                  <a:srgbClr val="404040"/>
                </a:solidFill>
                <a:latin typeface="Arial" pitchFamily="34" charset="0"/>
                <a:ea typeface="바탕체" pitchFamily="17" charset="-127"/>
              </a:rPr>
              <a:t>방법 살펴 보고자 함</a:t>
            </a:r>
            <a:r>
              <a:rPr lang="en-US" altLang="ko-KR" b="1" dirty="0">
                <a:solidFill>
                  <a:srgbClr val="404040"/>
                </a:solidFill>
                <a:latin typeface="Arial" pitchFamily="34" charset="0"/>
                <a:ea typeface="바탕체" pitchFamily="17" charset="-127"/>
              </a:rPr>
              <a:t>.</a:t>
            </a:r>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44259107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Bắt</a:t>
            </a:r>
            <a:r>
              <a:rPr lang="en-US" dirty="0"/>
              <a:t> </a:t>
            </a:r>
            <a:r>
              <a:rPr lang="en-US" dirty="0" err="1"/>
              <a:t>đầu</a:t>
            </a:r>
            <a:r>
              <a:rPr lang="en-US" dirty="0"/>
              <a:t> </a:t>
            </a:r>
            <a:r>
              <a:rPr lang="en-US" dirty="0" err="1"/>
              <a:t>từng</a:t>
            </a:r>
            <a:r>
              <a:rPr lang="en-US" dirty="0"/>
              <a:t> </a:t>
            </a:r>
            <a:r>
              <a:rPr lang="en-US" dirty="0" err="1"/>
              <a:t>phần</a:t>
            </a:r>
            <a:r>
              <a:rPr lang="en-US" dirty="0"/>
              <a:t> </a:t>
            </a:r>
            <a:r>
              <a:rPr lang="en-US" dirty="0" err="1"/>
              <a:t>giới</a:t>
            </a:r>
            <a:r>
              <a:rPr lang="en-US" dirty="0"/>
              <a:t> </a:t>
            </a:r>
            <a:r>
              <a:rPr lang="en-US" dirty="0" err="1"/>
              <a:t>thiệu</a:t>
            </a:r>
            <a:endParaRPr lang="en-US" dirty="0"/>
          </a:p>
        </p:txBody>
      </p:sp>
      <p:sp>
        <p:nvSpPr>
          <p:cNvPr id="4" name="Footer Placeholder 3"/>
          <p:cNvSpPr>
            <a:spLocks noGrp="1"/>
          </p:cNvSpPr>
          <p:nvPr>
            <p:ph type="ftr" sz="quarter" idx="4"/>
          </p:nvPr>
        </p:nvSpPr>
        <p:spPr/>
        <p:txBody>
          <a:bodyPr/>
          <a:lstStyle/>
          <a:p>
            <a:pPr>
              <a:defRPr/>
            </a:pPr>
            <a:endParaRPr lang="ko-KR" altLang="en-US" dirty="0"/>
          </a:p>
        </p:txBody>
      </p:sp>
      <p:sp>
        <p:nvSpPr>
          <p:cNvPr id="5" name="Slide Number Placeholder 4"/>
          <p:cNvSpPr>
            <a:spLocks noGrp="1"/>
          </p:cNvSpPr>
          <p:nvPr>
            <p:ph type="sldNum" sz="quarter" idx="5"/>
          </p:nvPr>
        </p:nvSpPr>
        <p:spPr/>
        <p:txBody>
          <a:bodyPr/>
          <a:lstStyle/>
          <a:p>
            <a:pPr>
              <a:defRPr/>
            </a:pPr>
            <a:fld id="{57D61B13-DF71-4CDB-8E21-B10FB1C732E6}" type="slidenum">
              <a:rPr lang="ko-KR" altLang="en-US" smtClean="0"/>
              <a:pPr>
                <a:defRPr/>
              </a:pPr>
              <a:t>161</a:t>
            </a:fld>
            <a:endParaRPr lang="ko-KR" altLang="en-US" dirty="0"/>
          </a:p>
        </p:txBody>
      </p:sp>
    </p:spTree>
    <p:extLst>
      <p:ext uri="{BB962C8B-B14F-4D97-AF65-F5344CB8AC3E}">
        <p14:creationId xmlns:p14="http://schemas.microsoft.com/office/powerpoint/2010/main" val="65913754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fontScale="92500"/>
          </a:bodyPr>
          <a:lstStyle/>
          <a:p>
            <a:r>
              <a:rPr lang="vi-VN" sz="1200" b="1" i="0" u="none" strike="noStrike" kern="1200" dirty="0">
                <a:solidFill>
                  <a:schemeClr val="tx1"/>
                </a:solidFill>
                <a:effectLst/>
                <a:latin typeface="+mn-lt"/>
                <a:ea typeface="+mn-ea"/>
                <a:cs typeface="+mn-cs"/>
              </a:rPr>
              <a:t>Giả thiết vô hiệu (giả thuyết không (H0)) là gì?</a:t>
            </a:r>
            <a:endParaRPr lang="vi-VN" sz="1200" b="1" i="0" kern="1200" dirty="0">
              <a:solidFill>
                <a:schemeClr val="tx1"/>
              </a:solidFill>
              <a:effectLst/>
              <a:latin typeface="+mn-lt"/>
              <a:ea typeface="+mn-ea"/>
              <a:cs typeface="+mn-cs"/>
            </a:endParaRPr>
          </a:p>
          <a:p>
            <a:r>
              <a:rPr lang="vi-VN" sz="1200" b="0" i="0" kern="1200" dirty="0">
                <a:solidFill>
                  <a:schemeClr val="tx1"/>
                </a:solidFill>
                <a:effectLst/>
                <a:latin typeface="+mn-lt"/>
                <a:ea typeface="+mn-ea"/>
                <a:cs typeface="+mn-cs"/>
              </a:rPr>
              <a:t>H0 là một phát biểu (đẳng thức hoặc bất đẳng thức) liên quan đến tham số của tổng thể. Giả thiết vô hiệu là giả thiết ngược với giả thiết chính. Thường người ta muốn bác bỏ giả thiết vô hiệu.</a:t>
            </a:r>
            <a:br>
              <a:rPr lang="vi-VN" sz="1200" b="0" i="0" kern="1200" dirty="0">
                <a:solidFill>
                  <a:schemeClr val="tx1"/>
                </a:solidFill>
                <a:effectLst/>
                <a:latin typeface="+mn-lt"/>
                <a:ea typeface="+mn-ea"/>
                <a:cs typeface="+mn-cs"/>
              </a:rPr>
            </a:br>
            <a:r>
              <a:rPr lang="vi-VN" sz="1200" b="0" i="0" kern="1200" dirty="0">
                <a:solidFill>
                  <a:schemeClr val="tx1"/>
                </a:solidFill>
                <a:effectLst/>
                <a:latin typeface="+mn-lt"/>
                <a:ea typeface="+mn-ea"/>
                <a:cs typeface="+mn-cs"/>
              </a:rPr>
              <a:t>Ví dụ: H0: Không có sự khác biệt giữa hai nhóm, không có mối tương quan giữa X và Y.</a:t>
            </a:r>
            <a:br>
              <a:rPr lang="vi-VN" sz="1200" b="0" i="0" kern="1200" dirty="0">
                <a:solidFill>
                  <a:schemeClr val="tx1"/>
                </a:solidFill>
                <a:effectLst/>
                <a:latin typeface="+mn-lt"/>
                <a:ea typeface="+mn-ea"/>
                <a:cs typeface="+mn-cs"/>
              </a:rPr>
            </a:br>
            <a:r>
              <a:rPr lang="vi-VN" sz="1200" b="0" i="0" kern="1200" dirty="0">
                <a:solidFill>
                  <a:schemeClr val="tx1"/>
                </a:solidFill>
                <a:effectLst/>
                <a:latin typeface="+mn-lt"/>
                <a:ea typeface="+mn-ea"/>
                <a:cs typeface="+mn-cs"/>
              </a:rPr>
              <a:t>H0 thường được giả định đúng trong thủ tục kiểm định giả thuyết. Và người ta sẽ cố tìm cách để chứng minh H0 sai. Ví dụ một tuyên bố của nhà sản xuất thường bị nghi ngờ và để trong phát biểu trong H0.</a:t>
            </a:r>
          </a:p>
          <a:p>
            <a:r>
              <a:rPr lang="vi-VN" sz="1200" b="1" i="0" u="none" strike="noStrike" kern="1200" dirty="0">
                <a:solidFill>
                  <a:schemeClr val="tx1"/>
                </a:solidFill>
                <a:effectLst/>
                <a:latin typeface="+mn-lt"/>
                <a:ea typeface="+mn-ea"/>
                <a:cs typeface="+mn-cs"/>
              </a:rPr>
              <a:t>Giả thuyết khác, giả thiết đảo(Ha) là gì?</a:t>
            </a:r>
            <a:endParaRPr lang="vi-VN" sz="1200" b="1" i="0" kern="1200" dirty="0">
              <a:solidFill>
                <a:schemeClr val="tx1"/>
              </a:solidFill>
              <a:effectLst/>
              <a:latin typeface="+mn-lt"/>
              <a:ea typeface="+mn-ea"/>
              <a:cs typeface="+mn-cs"/>
            </a:endParaRPr>
          </a:p>
          <a:p>
            <a:r>
              <a:rPr lang="vi-VN" sz="1200" b="0" i="0" kern="1200" dirty="0">
                <a:solidFill>
                  <a:schemeClr val="tx1"/>
                </a:solidFill>
                <a:effectLst/>
                <a:latin typeface="+mn-lt"/>
                <a:ea typeface="+mn-ea"/>
                <a:cs typeface="+mn-cs"/>
              </a:rPr>
              <a:t>Ha là phát biểu ngược với H0</a:t>
            </a:r>
            <a:br>
              <a:rPr lang="vi-VN" sz="1200" b="0" i="0" kern="1200" dirty="0">
                <a:solidFill>
                  <a:schemeClr val="tx1"/>
                </a:solidFill>
                <a:effectLst/>
                <a:latin typeface="+mn-lt"/>
                <a:ea typeface="+mn-ea"/>
                <a:cs typeface="+mn-cs"/>
              </a:rPr>
            </a:br>
            <a:r>
              <a:rPr lang="vi-VN" sz="1200" b="0" i="0" kern="1200" dirty="0">
                <a:solidFill>
                  <a:schemeClr val="tx1"/>
                </a:solidFill>
                <a:effectLst/>
                <a:latin typeface="+mn-lt"/>
                <a:ea typeface="+mn-ea"/>
                <a:cs typeface="+mn-cs"/>
              </a:rPr>
              <a:t>Ha được kết luận là đúng nếu H0 bị bác bỏ</a:t>
            </a:r>
            <a:br>
              <a:rPr lang="vi-VN" sz="1200" b="0" i="0" kern="1200" dirty="0">
                <a:solidFill>
                  <a:schemeClr val="tx1"/>
                </a:solidFill>
                <a:effectLst/>
                <a:latin typeface="+mn-lt"/>
                <a:ea typeface="+mn-ea"/>
                <a:cs typeface="+mn-cs"/>
              </a:rPr>
            </a:br>
            <a:r>
              <a:rPr lang="vi-VN" sz="1200" b="0" i="0" kern="1200" dirty="0">
                <a:solidFill>
                  <a:schemeClr val="tx1"/>
                </a:solidFill>
                <a:effectLst/>
                <a:latin typeface="+mn-lt"/>
                <a:ea typeface="+mn-ea"/>
                <a:cs typeface="+mn-cs"/>
              </a:rPr>
              <a:t>Nhà nghiên cứu mong muốn ủng hộ Ha và nghi ngờ H0</a:t>
            </a:r>
            <a:br>
              <a:rPr lang="vi-VN" sz="1200" b="0" i="0" kern="1200" dirty="0">
                <a:solidFill>
                  <a:schemeClr val="tx1"/>
                </a:solidFill>
                <a:effectLst/>
                <a:latin typeface="+mn-lt"/>
                <a:ea typeface="+mn-ea"/>
                <a:cs typeface="+mn-cs"/>
              </a:rPr>
            </a:br>
            <a:r>
              <a:rPr lang="vi-VN" sz="1200" b="0" i="0" kern="1200" dirty="0">
                <a:solidFill>
                  <a:schemeClr val="tx1"/>
                </a:solidFill>
                <a:effectLst/>
                <a:latin typeface="+mn-lt"/>
                <a:ea typeface="+mn-ea"/>
                <a:cs typeface="+mn-cs"/>
              </a:rPr>
              <a:t>Nhiệm vụ của tất cả kiểm định giả thuyết hoặc là bác bỏ H0 hay không bác bỏ H0</a:t>
            </a:r>
          </a:p>
          <a:p>
            <a:pPr latinLnBrk="1"/>
            <a:endParaRPr lang="en-US" sz="1200" b="0" i="0" kern="1200" dirty="0">
              <a:solidFill>
                <a:schemeClr val="tx1"/>
              </a:solidFill>
              <a:effectLst/>
              <a:latin typeface="+mn-lt"/>
              <a:ea typeface="+mn-ea"/>
              <a:cs typeface="+mn-cs"/>
            </a:endParaRPr>
          </a:p>
          <a:p>
            <a:pPr latinLnBrk="1"/>
            <a:r>
              <a:rPr lang="en-US" sz="1200" b="0" i="0" kern="1200" dirty="0">
                <a:solidFill>
                  <a:schemeClr val="tx1"/>
                </a:solidFill>
                <a:effectLst/>
                <a:latin typeface="+mn-lt"/>
                <a:ea typeface="+mn-ea"/>
                <a:cs typeface="+mn-cs"/>
              </a:rPr>
              <a:t>- </a:t>
            </a:r>
            <a:r>
              <a:rPr lang="vi-VN" sz="1200" b="0" i="0" kern="1200" dirty="0">
                <a:solidFill>
                  <a:schemeClr val="tx1"/>
                </a:solidFill>
                <a:effectLst/>
                <a:latin typeface="+mn-lt"/>
                <a:ea typeface="+mn-ea"/>
                <a:cs typeface="+mn-cs"/>
              </a:rPr>
              <a:t>Ý nghĩa của p-value, sig là xác suất của dữ liệu xảy ra nếu giả thiết vô hiệu H0 là đúng. Nghĩa là có bao nhiêu phần trăm của dữ liệu thỏa mãn trị số P. Giả sử P =2%, thì có 2% dữ liệu trong bộ số liệu thỏa mãn điều kiện nào đó.</a:t>
            </a:r>
            <a:br>
              <a:rPr lang="vi-VN" dirty="0"/>
            </a:br>
            <a:r>
              <a:rPr lang="vi-VN" sz="1200" b="0" i="0" kern="1200" dirty="0">
                <a:solidFill>
                  <a:schemeClr val="tx1"/>
                </a:solidFill>
                <a:effectLst/>
                <a:latin typeface="+mn-lt"/>
                <a:ea typeface="+mn-ea"/>
                <a:cs typeface="+mn-cs"/>
              </a:rPr>
              <a:t>Lưu ý không được hiểu là : xác suất của giả thiết vô hiệu H0 là 2%, hay P(H0)=2% , mà phải hiểu ở đây là xác suất của dữ liệu xảy ra</a:t>
            </a:r>
            <a:br>
              <a:rPr lang="vi-VN" dirty="0"/>
            </a:br>
            <a:r>
              <a:rPr lang="vi-VN" sz="1200" b="0" i="0" kern="1200" dirty="0">
                <a:solidFill>
                  <a:schemeClr val="tx1"/>
                </a:solidFill>
                <a:effectLst/>
                <a:latin typeface="+mn-lt"/>
                <a:ea typeface="+mn-ea"/>
                <a:cs typeface="+mn-cs"/>
              </a:rPr>
              <a:t>Logic của trị số P là chứng minh nghịch đảo, chứng minh phủ định:</a:t>
            </a:r>
            <a:br>
              <a:rPr lang="vi-VN" dirty="0"/>
            </a:br>
            <a:r>
              <a:rPr lang="vi-VN" sz="1200" b="0" i="0" kern="1200" dirty="0">
                <a:solidFill>
                  <a:schemeClr val="tx1"/>
                </a:solidFill>
                <a:effectLst/>
                <a:latin typeface="+mn-lt"/>
                <a:ea typeface="+mn-ea"/>
                <a:cs typeface="+mn-cs"/>
              </a:rPr>
              <a:t>-Nếu giả thiết vô hiệu H0 là đúng thì dữ liệu không thể xảy ra.</a:t>
            </a:r>
            <a:br>
              <a:rPr lang="vi-VN" dirty="0"/>
            </a:br>
            <a:r>
              <a:rPr lang="vi-VN" sz="1200" b="0" i="0" kern="1200" dirty="0">
                <a:solidFill>
                  <a:schemeClr val="tx1"/>
                </a:solidFill>
                <a:effectLst/>
                <a:latin typeface="+mn-lt"/>
                <a:ea typeface="+mn-ea"/>
                <a:cs typeface="+mn-cs"/>
              </a:rPr>
              <a:t>-Dữ liệu xảy ra</a:t>
            </a:r>
            <a:br>
              <a:rPr lang="vi-VN" dirty="0"/>
            </a:br>
            <a:r>
              <a:rPr lang="vi-VN" sz="1200" b="0" i="0" kern="1200" dirty="0">
                <a:solidFill>
                  <a:schemeClr val="tx1"/>
                </a:solidFill>
                <a:effectLst/>
                <a:latin typeface="+mn-lt"/>
                <a:ea typeface="+mn-ea"/>
                <a:cs typeface="+mn-cs"/>
              </a:rPr>
              <a:t>-Nên giả thiết vô hiệu H0 là không đúng.</a:t>
            </a:r>
            <a:endParaRPr lang="ko-KR" altLang="ko-KR" sz="1200" kern="1200" dirty="0">
              <a:solidFill>
                <a:schemeClr val="tx1"/>
              </a:solidFill>
              <a:effectLst/>
              <a:cs typeface="+mn-cs"/>
            </a:endParaRPr>
          </a:p>
        </p:txBody>
      </p:sp>
      <p:sp>
        <p:nvSpPr>
          <p:cNvPr id="4" name="슬라이드 번호 개체 틀 3"/>
          <p:cNvSpPr>
            <a:spLocks noGrp="1"/>
          </p:cNvSpPr>
          <p:nvPr>
            <p:ph type="sldNum" sz="quarter" idx="5"/>
          </p:nvPr>
        </p:nvSpPr>
        <p:spPr/>
        <p:txBody>
          <a:bodyPr/>
          <a:lstStyle/>
          <a:p>
            <a:pPr>
              <a:defRPr/>
            </a:pPr>
            <a:fld id="{746FA95B-EADC-430E-9D84-8C7DAB14A737}" type="slidenum">
              <a:rPr lang="ko-KR" altLang="en-US" smtClean="0"/>
              <a:pPr>
                <a:defRPr/>
              </a:pPr>
              <a:t>162</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73313674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164</a:t>
            </a:fld>
            <a:endParaRPr lang="ko-KR" altLang="en-US" dirty="0"/>
          </a:p>
        </p:txBody>
      </p:sp>
    </p:spTree>
    <p:extLst>
      <p:ext uri="{BB962C8B-B14F-4D97-AF65-F5344CB8AC3E}">
        <p14:creationId xmlns:p14="http://schemas.microsoft.com/office/powerpoint/2010/main" val="178308151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Từ</a:t>
            </a:r>
            <a:r>
              <a:rPr lang="en-US" dirty="0"/>
              <a:t> </a:t>
            </a:r>
            <a:r>
              <a:rPr lang="en-US" dirty="0" err="1"/>
              <a:t>trang</a:t>
            </a:r>
            <a:r>
              <a:rPr lang="en-US" dirty="0"/>
              <a:t> </a:t>
            </a:r>
            <a:r>
              <a:rPr lang="en-US" dirty="0" err="1"/>
              <a:t>này</a:t>
            </a:r>
            <a:r>
              <a:rPr lang="en-US" dirty="0"/>
              <a:t> </a:t>
            </a:r>
            <a:r>
              <a:rPr lang="en-US" dirty="0" err="1"/>
              <a:t>dùng</a:t>
            </a:r>
            <a:r>
              <a:rPr lang="en-US" dirty="0"/>
              <a:t> </a:t>
            </a:r>
            <a:r>
              <a:rPr lang="en-US" dirty="0" err="1"/>
              <a:t>minitab</a:t>
            </a:r>
            <a:r>
              <a:rPr lang="en-US" dirty="0"/>
              <a:t> . </a:t>
            </a:r>
            <a:r>
              <a:rPr lang="en-US" dirty="0" err="1"/>
              <a:t>Giữ</a:t>
            </a:r>
            <a:r>
              <a:rPr lang="en-US" dirty="0"/>
              <a:t> </a:t>
            </a:r>
            <a:r>
              <a:rPr lang="en-US" dirty="0" err="1"/>
              <a:t>đề</a:t>
            </a:r>
            <a:r>
              <a:rPr lang="en-US" dirty="0"/>
              <a:t> </a:t>
            </a:r>
            <a:r>
              <a:rPr lang="en-US" dirty="0" err="1"/>
              <a:t>bài</a:t>
            </a:r>
            <a:r>
              <a:rPr lang="en-US" dirty="0"/>
              <a:t> </a:t>
            </a:r>
            <a:r>
              <a:rPr lang="en-US" dirty="0" err="1"/>
              <a:t>cố</a:t>
            </a:r>
            <a:r>
              <a:rPr lang="en-US" dirty="0"/>
              <a:t> </a:t>
            </a:r>
            <a:r>
              <a:rPr lang="en-US" dirty="0" err="1"/>
              <a:t>định</a:t>
            </a:r>
            <a:r>
              <a:rPr lang="en-US" dirty="0"/>
              <a:t> </a:t>
            </a:r>
            <a:r>
              <a:rPr lang="en-US" dirty="0" err="1"/>
              <a:t>trong</a:t>
            </a:r>
            <a:r>
              <a:rPr lang="en-US" dirty="0"/>
              <a:t> video</a:t>
            </a:r>
          </a:p>
        </p:txBody>
      </p:sp>
      <p:sp>
        <p:nvSpPr>
          <p:cNvPr id="4" name="Footer Placeholder 3"/>
          <p:cNvSpPr>
            <a:spLocks noGrp="1"/>
          </p:cNvSpPr>
          <p:nvPr>
            <p:ph type="ftr" sz="quarter" idx="4"/>
          </p:nvPr>
        </p:nvSpPr>
        <p:spPr/>
        <p:txBody>
          <a:bodyPr/>
          <a:lstStyle/>
          <a:p>
            <a:pPr>
              <a:defRPr/>
            </a:pPr>
            <a:endParaRPr lang="ko-KR" altLang="en-US" dirty="0"/>
          </a:p>
        </p:txBody>
      </p:sp>
      <p:sp>
        <p:nvSpPr>
          <p:cNvPr id="5" name="Slide Number Placeholder 4"/>
          <p:cNvSpPr>
            <a:spLocks noGrp="1"/>
          </p:cNvSpPr>
          <p:nvPr>
            <p:ph type="sldNum" sz="quarter" idx="5"/>
          </p:nvPr>
        </p:nvSpPr>
        <p:spPr/>
        <p:txBody>
          <a:bodyPr/>
          <a:lstStyle/>
          <a:p>
            <a:pPr>
              <a:defRPr/>
            </a:pPr>
            <a:fld id="{57D61B13-DF71-4CDB-8E21-B10FB1C732E6}" type="slidenum">
              <a:rPr lang="ko-KR" altLang="en-US" smtClean="0"/>
              <a:pPr>
                <a:defRPr/>
              </a:pPr>
              <a:t>165</a:t>
            </a:fld>
            <a:endParaRPr lang="ko-KR" altLang="en-US" dirty="0"/>
          </a:p>
        </p:txBody>
      </p:sp>
    </p:spTree>
    <p:extLst>
      <p:ext uri="{BB962C8B-B14F-4D97-AF65-F5344CB8AC3E}">
        <p14:creationId xmlns:p14="http://schemas.microsoft.com/office/powerpoint/2010/main" val="86349833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57D61B13-DF71-4CDB-8E21-B10FB1C732E6}" type="slidenum">
              <a:rPr lang="ko-KR" altLang="en-US" smtClean="0"/>
              <a:pPr>
                <a:defRPr/>
              </a:pPr>
              <a:t>166</a:t>
            </a:fld>
            <a:endParaRPr lang="ko-KR" altLang="en-US" dirty="0"/>
          </a:p>
        </p:txBody>
      </p:sp>
      <p:sp>
        <p:nvSpPr>
          <p:cNvPr id="5" name="바닥글 개체 틀 4"/>
          <p:cNvSpPr>
            <a:spLocks noGrp="1"/>
          </p:cNvSpPr>
          <p:nvPr>
            <p:ph type="ftr" sz="quarter" idx="11"/>
          </p:nvPr>
        </p:nvSpPr>
        <p:spPr/>
        <p:txBody>
          <a:bodyPr/>
          <a:lstStyle/>
          <a:p>
            <a:pPr>
              <a:defRPr/>
            </a:pPr>
            <a:endParaRPr lang="ko-KR" altLang="en-US" dirty="0"/>
          </a:p>
        </p:txBody>
      </p:sp>
    </p:spTree>
    <p:extLst>
      <p:ext uri="{BB962C8B-B14F-4D97-AF65-F5344CB8AC3E}">
        <p14:creationId xmlns:p14="http://schemas.microsoft.com/office/powerpoint/2010/main" val="260500725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Xổ</a:t>
            </a:r>
            <a:r>
              <a:rPr lang="en-US" dirty="0"/>
              <a:t> </a:t>
            </a:r>
            <a:r>
              <a:rPr lang="en-US" dirty="0" err="1"/>
              <a:t>kết</a:t>
            </a:r>
            <a:r>
              <a:rPr lang="en-US" dirty="0"/>
              <a:t> </a:t>
            </a:r>
            <a:r>
              <a:rPr lang="en-US" dirty="0" err="1"/>
              <a:t>luận</a:t>
            </a:r>
            <a:r>
              <a:rPr lang="en-US" dirty="0"/>
              <a:t> </a:t>
            </a:r>
            <a:r>
              <a:rPr lang="en-US" dirty="0" err="1"/>
              <a:t>ra</a:t>
            </a:r>
            <a:r>
              <a:rPr lang="en-US" dirty="0"/>
              <a:t> </a:t>
            </a:r>
            <a:r>
              <a:rPr lang="en-US" dirty="0" err="1"/>
              <a:t>bên</a:t>
            </a:r>
            <a:r>
              <a:rPr lang="en-US" dirty="0"/>
              <a:t> </a:t>
            </a:r>
            <a:r>
              <a:rPr lang="en-US" dirty="0" err="1"/>
              <a:t>dưới</a:t>
            </a:r>
            <a:r>
              <a:rPr lang="en-US" dirty="0"/>
              <a:t> </a:t>
            </a:r>
          </a:p>
        </p:txBody>
      </p:sp>
      <p:sp>
        <p:nvSpPr>
          <p:cNvPr id="4" name="Footer Placeholder 3"/>
          <p:cNvSpPr>
            <a:spLocks noGrp="1"/>
          </p:cNvSpPr>
          <p:nvPr>
            <p:ph type="ftr" sz="quarter" idx="4"/>
          </p:nvPr>
        </p:nvSpPr>
        <p:spPr/>
        <p:txBody>
          <a:bodyPr/>
          <a:lstStyle/>
          <a:p>
            <a:pPr>
              <a:defRPr/>
            </a:pPr>
            <a:endParaRPr lang="ko-KR" altLang="en-US" dirty="0"/>
          </a:p>
        </p:txBody>
      </p:sp>
      <p:sp>
        <p:nvSpPr>
          <p:cNvPr id="5" name="Slide Number Placeholder 4"/>
          <p:cNvSpPr>
            <a:spLocks noGrp="1"/>
          </p:cNvSpPr>
          <p:nvPr>
            <p:ph type="sldNum" sz="quarter" idx="5"/>
          </p:nvPr>
        </p:nvSpPr>
        <p:spPr/>
        <p:txBody>
          <a:bodyPr/>
          <a:lstStyle/>
          <a:p>
            <a:pPr>
              <a:defRPr/>
            </a:pPr>
            <a:fld id="{57D61B13-DF71-4CDB-8E21-B10FB1C732E6}" type="slidenum">
              <a:rPr lang="ko-KR" altLang="en-US" smtClean="0"/>
              <a:pPr>
                <a:defRPr/>
              </a:pPr>
              <a:t>167</a:t>
            </a:fld>
            <a:endParaRPr lang="ko-KR" altLang="en-US" dirty="0"/>
          </a:p>
        </p:txBody>
      </p:sp>
    </p:spTree>
    <p:extLst>
      <p:ext uri="{BB962C8B-B14F-4D97-AF65-F5344CB8AC3E}">
        <p14:creationId xmlns:p14="http://schemas.microsoft.com/office/powerpoint/2010/main" val="89242525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171</a:t>
            </a:fld>
            <a:endParaRPr lang="ko-KR" altLang="en-US" dirty="0"/>
          </a:p>
        </p:txBody>
      </p:sp>
    </p:spTree>
    <p:extLst>
      <p:ext uri="{BB962C8B-B14F-4D97-AF65-F5344CB8AC3E}">
        <p14:creationId xmlns:p14="http://schemas.microsoft.com/office/powerpoint/2010/main" val="102033319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1" hangingPunct="0">
              <a:lnSpc>
                <a:spcPct val="100000"/>
              </a:lnSpc>
              <a:spcBef>
                <a:spcPct val="30000"/>
              </a:spcBef>
              <a:spcAft>
                <a:spcPct val="0"/>
              </a:spcAft>
              <a:buClrTx/>
              <a:buSzTx/>
              <a:buFontTx/>
              <a:buNone/>
              <a:tabLst/>
              <a:defRPr/>
            </a:pPr>
            <a:r>
              <a:rPr lang="vi-VN" sz="1200" b="0" i="0" kern="1200" dirty="0">
                <a:solidFill>
                  <a:schemeClr val="tx1"/>
                </a:solidFill>
                <a:effectLst/>
                <a:latin typeface="+mn-lt"/>
                <a:ea typeface="+mn-ea"/>
                <a:cs typeface="+mn-cs"/>
              </a:rPr>
              <a:t>Ý nghĩa cụ thể:giả sử R bình phương là 0.60, thì mô hình hồi quy tuyến tính này phù hợp với tập dữ liệu ở mức 60%. Nói cách khác, 60% biến thiên của biến phụ thuộc được giải thích bởi các biến độc lập.( còn 40% còn lại ở đâu, dĩ nhiên là do sai số đo lường, do cách thu thập dữ liệu, do có thể có biến độc lập khác giải thích cho biến phụ thuộc mà chưa được được vào mô hình nghiên cứu…vv). Thông thường, ngưỡng của R2 phải trên 50%, vì như thế mô hình mới phù hợp. Tuy nhiên tùy vào dạng nghiên cứu, như các mô hình về tài chính, không phải tất cả các hệ số R2 đều bắc buộc phải thỏa mãn lớn hơn 50%.( do rất khó dể dự đoán giá vàng, giá cổ phiếu mà chỉ đơn thuần dựa vào các biến độc lập ví dụ GDP, ROA,ROE….)</a:t>
            </a:r>
            <a:endParaRPr lang="en-US" dirty="0"/>
          </a:p>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174</a:t>
            </a:fld>
            <a:endParaRPr lang="ko-KR" altLang="en-US" dirty="0"/>
          </a:p>
        </p:txBody>
      </p:sp>
    </p:spTree>
    <p:extLst>
      <p:ext uri="{BB962C8B-B14F-4D97-AF65-F5344CB8AC3E}">
        <p14:creationId xmlns:p14="http://schemas.microsoft.com/office/powerpoint/2010/main" val="128951740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178</a:t>
            </a:fld>
            <a:endParaRPr lang="ko-KR" altLang="en-US" dirty="0"/>
          </a:p>
        </p:txBody>
      </p:sp>
    </p:spTree>
    <p:extLst>
      <p:ext uri="{BB962C8B-B14F-4D97-AF65-F5344CB8AC3E}">
        <p14:creationId xmlns:p14="http://schemas.microsoft.com/office/powerpoint/2010/main" val="141190799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Nếu</a:t>
            </a:r>
            <a:r>
              <a:rPr lang="en-US" baseline="0" dirty="0"/>
              <a:t> </a:t>
            </a:r>
            <a:r>
              <a:rPr lang="en-US" baseline="0" dirty="0" err="1"/>
              <a:t>chọn</a:t>
            </a:r>
            <a:r>
              <a:rPr lang="en-US" baseline="0" dirty="0"/>
              <a:t> </a:t>
            </a:r>
            <a:r>
              <a:rPr lang="en-US" baseline="0" dirty="0" err="1"/>
              <a:t>mức</a:t>
            </a:r>
            <a:r>
              <a:rPr lang="en-US" baseline="0" dirty="0"/>
              <a:t> </a:t>
            </a:r>
            <a:r>
              <a:rPr lang="en-US" baseline="0" dirty="0" err="1"/>
              <a:t>anpha</a:t>
            </a:r>
            <a:r>
              <a:rPr lang="en-US" baseline="0" dirty="0"/>
              <a:t> 99% </a:t>
            </a:r>
            <a:r>
              <a:rPr lang="en-US" baseline="0" dirty="0" err="1"/>
              <a:t>thì</a:t>
            </a:r>
            <a:r>
              <a:rPr lang="en-US" baseline="0" dirty="0"/>
              <a:t> </a:t>
            </a:r>
            <a:r>
              <a:rPr lang="en-US" baseline="0" dirty="0" err="1"/>
              <a:t>sao</a:t>
            </a:r>
            <a:r>
              <a:rPr lang="en-US" baseline="0" dirty="0"/>
              <a:t>, </a:t>
            </a:r>
            <a:r>
              <a:rPr lang="en-US" baseline="0" dirty="0" err="1"/>
              <a:t>kết</a:t>
            </a:r>
            <a:r>
              <a:rPr lang="en-US" baseline="0" dirty="0"/>
              <a:t> </a:t>
            </a:r>
            <a:r>
              <a:rPr lang="en-US" baseline="0" dirty="0" err="1"/>
              <a:t>luận</a:t>
            </a:r>
            <a:r>
              <a:rPr lang="en-US" baseline="0" dirty="0"/>
              <a:t> </a:t>
            </a:r>
            <a:r>
              <a:rPr lang="en-US" baseline="0" dirty="0" err="1"/>
              <a:t>phải</a:t>
            </a:r>
            <a:r>
              <a:rPr lang="en-US" baseline="0" dirty="0"/>
              <a:t> </a:t>
            </a:r>
            <a:r>
              <a:rPr lang="en-US" baseline="0" dirty="0" err="1"/>
              <a:t>là</a:t>
            </a:r>
            <a:r>
              <a:rPr lang="en-US" baseline="0" dirty="0"/>
              <a:t> </a:t>
            </a:r>
            <a:r>
              <a:rPr lang="en-US" baseline="0" dirty="0" err="1"/>
              <a:t>ngược</a:t>
            </a:r>
            <a:r>
              <a:rPr lang="en-US" baseline="0" dirty="0"/>
              <a:t> </a:t>
            </a:r>
            <a:r>
              <a:rPr lang="en-US" baseline="0" dirty="0" err="1"/>
              <a:t>lại</a:t>
            </a:r>
            <a:r>
              <a:rPr lang="en-US" baseline="0" dirty="0"/>
              <a:t>. </a:t>
            </a:r>
            <a:r>
              <a:rPr lang="en-US" baseline="0" dirty="0" err="1"/>
              <a:t>Vậy</a:t>
            </a:r>
            <a:r>
              <a:rPr lang="en-US" baseline="0" dirty="0"/>
              <a:t> </a:t>
            </a:r>
            <a:r>
              <a:rPr lang="en-US" baseline="0" dirty="0" err="1"/>
              <a:t>cái</a:t>
            </a:r>
            <a:r>
              <a:rPr lang="en-US" baseline="0" dirty="0"/>
              <a:t> </a:t>
            </a:r>
            <a:r>
              <a:rPr lang="en-US" baseline="0" dirty="0" err="1"/>
              <a:t>nào</a:t>
            </a:r>
            <a:r>
              <a:rPr lang="en-US" baseline="0" dirty="0"/>
              <a:t> </a:t>
            </a:r>
            <a:r>
              <a:rPr lang="en-US" baseline="0" dirty="0" err="1"/>
              <a:t>đúng</a:t>
            </a:r>
            <a:r>
              <a:rPr lang="en-US" baseline="0" dirty="0"/>
              <a:t>?</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179</a:t>
            </a:fld>
            <a:endParaRPr lang="ko-KR" altLang="en-US" dirty="0"/>
          </a:p>
        </p:txBody>
      </p:sp>
    </p:spTree>
    <p:extLst>
      <p:ext uri="{BB962C8B-B14F-4D97-AF65-F5344CB8AC3E}">
        <p14:creationId xmlns:p14="http://schemas.microsoft.com/office/powerpoint/2010/main" val="139267004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181</a:t>
            </a:fld>
            <a:endParaRPr lang="ko-KR" altLang="en-US" dirty="0"/>
          </a:p>
        </p:txBody>
      </p:sp>
    </p:spTree>
    <p:extLst>
      <p:ext uri="{BB962C8B-B14F-4D97-AF65-F5344CB8AC3E}">
        <p14:creationId xmlns:p14="http://schemas.microsoft.com/office/powerpoint/2010/main" val="177574724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C4528615-1E70-4FFA-8781-C0240739EA9B}" type="slidenum">
              <a:rPr lang="ko-KR" altLang="en-US" smtClean="0"/>
              <a:pPr>
                <a:defRPr/>
              </a:pPr>
              <a:t>183</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31509084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슬라이드 노트 개체 틀 2"/>
          <p:cNvSpPr>
            <a:spLocks noGrp="1"/>
          </p:cNvSpPr>
          <p:nvPr>
            <p:ph type="body" idx="1"/>
          </p:nvPr>
        </p:nvSpPr>
        <p:spPr/>
        <p:txBody>
          <a:bodyPr>
            <a:normAutofit/>
          </a:bodyPr>
          <a:lstStyle/>
          <a:p>
            <a:pPr>
              <a:defRPr/>
            </a:pPr>
            <a:endParaRPr lang="ko-KR" altLang="en-US" sz="1100"/>
          </a:p>
        </p:txBody>
      </p:sp>
      <p:sp>
        <p:nvSpPr>
          <p:cNvPr id="4" name="슬라이드 번호 개체 틀 3"/>
          <p:cNvSpPr>
            <a:spLocks noGrp="1"/>
          </p:cNvSpPr>
          <p:nvPr>
            <p:ph type="sldNum" sz="quarter" idx="5"/>
          </p:nvPr>
        </p:nvSpPr>
        <p:spPr/>
        <p:txBody>
          <a:bodyPr/>
          <a:lstStyle/>
          <a:p>
            <a:pPr>
              <a:defRPr/>
            </a:pPr>
            <a:fld id="{D256CE4C-E812-472D-96E5-271BD124BDF6}" type="slidenum">
              <a:rPr lang="ko-KR" altLang="en-US" smtClean="0"/>
              <a:pPr>
                <a:defRPr/>
              </a:pPr>
              <a:t>184</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69942474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슬라이드 노트 개체 틀 2"/>
          <p:cNvSpPr>
            <a:spLocks noGrp="1"/>
          </p:cNvSpPr>
          <p:nvPr>
            <p:ph type="body" idx="1"/>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a:defRPr/>
            </a:pPr>
            <a:r>
              <a:rPr lang="en-US" altLang="ko-KR" sz="1100" dirty="0"/>
              <a:t>Ps </a:t>
            </a:r>
            <a:r>
              <a:rPr lang="en-US" altLang="ko-KR" sz="1100" dirty="0" err="1"/>
              <a:t>chỉ</a:t>
            </a:r>
            <a:r>
              <a:rPr lang="en-US" altLang="ko-KR" sz="1100" baseline="0" dirty="0"/>
              <a:t> </a:t>
            </a:r>
            <a:r>
              <a:rPr lang="en-US" altLang="ko-KR" sz="1100" baseline="0" dirty="0" err="1"/>
              <a:t>định</a:t>
            </a:r>
            <a:r>
              <a:rPr lang="en-US" altLang="ko-KR" sz="1100" baseline="0" dirty="0"/>
              <a:t> hay </a:t>
            </a:r>
            <a:r>
              <a:rPr lang="en-US" altLang="ko-KR" sz="1100" baseline="0" dirty="0" err="1"/>
              <a:t>ngẫu</a:t>
            </a:r>
            <a:r>
              <a:rPr lang="en-US" altLang="ko-KR" sz="1100" baseline="0" dirty="0"/>
              <a:t> </a:t>
            </a:r>
            <a:r>
              <a:rPr lang="en-US" altLang="ko-KR" sz="1100" baseline="0" dirty="0" err="1"/>
              <a:t>nhiên</a:t>
            </a:r>
            <a:r>
              <a:rPr lang="en-US" altLang="ko-KR" sz="1100" baseline="0" dirty="0"/>
              <a:t> </a:t>
            </a:r>
            <a:r>
              <a:rPr lang="en-US" altLang="ko-KR" sz="1100" baseline="0" dirty="0" err="1"/>
              <a:t>thì</a:t>
            </a:r>
            <a:r>
              <a:rPr lang="en-US" altLang="ko-KR" sz="1100" baseline="0" dirty="0"/>
              <a:t> </a:t>
            </a:r>
            <a:r>
              <a:rPr lang="en-US" altLang="ko-KR" sz="1100" baseline="0" dirty="0" err="1"/>
              <a:t>đều</a:t>
            </a:r>
            <a:r>
              <a:rPr lang="en-US" altLang="ko-KR" sz="1100" baseline="0" dirty="0"/>
              <a:t> </a:t>
            </a:r>
            <a:r>
              <a:rPr lang="en-US" altLang="ko-KR" sz="1100" baseline="0" dirty="0" err="1"/>
              <a:t>thuộc</a:t>
            </a:r>
            <a:r>
              <a:rPr lang="en-US" altLang="ko-KR" sz="1100" baseline="0" dirty="0"/>
              <a:t> </a:t>
            </a:r>
            <a:r>
              <a:rPr lang="en-US" altLang="ko-KR" sz="1100" baseline="0" dirty="0" err="1"/>
              <a:t>quy</a:t>
            </a:r>
            <a:r>
              <a:rPr lang="en-US" altLang="ko-KR" sz="1100" baseline="0" dirty="0"/>
              <a:t> </a:t>
            </a:r>
            <a:r>
              <a:rPr lang="en-US" altLang="ko-KR" sz="1100" baseline="0" dirty="0" err="1"/>
              <a:t>trình</a:t>
            </a:r>
            <a:r>
              <a:rPr lang="en-US" altLang="ko-KR" sz="1100" baseline="0" dirty="0"/>
              <a:t> </a:t>
            </a:r>
            <a:r>
              <a:rPr lang="en-US" altLang="ko-KR" sz="1100" baseline="0" dirty="0" err="1"/>
              <a:t>sx</a:t>
            </a:r>
            <a:r>
              <a:rPr lang="en-US" altLang="ko-KR" sz="1100" baseline="0" dirty="0"/>
              <a:t>, </a:t>
            </a:r>
            <a:r>
              <a:rPr lang="en-US" altLang="ko-KR" sz="1100" baseline="0" dirty="0" err="1"/>
              <a:t>tuy</a:t>
            </a:r>
            <a:r>
              <a:rPr lang="en-US" altLang="ko-KR" sz="1100" baseline="0" dirty="0"/>
              <a:t> </a:t>
            </a:r>
            <a:r>
              <a:rPr lang="en-US" altLang="ko-KR" sz="1100" baseline="0" dirty="0" err="1"/>
              <a:t>nhiên</a:t>
            </a:r>
            <a:r>
              <a:rPr lang="en-US" altLang="ko-KR" sz="1100" baseline="0" dirty="0"/>
              <a:t> </a:t>
            </a:r>
            <a:r>
              <a:rPr lang="en-US" altLang="ko-KR" sz="1100" baseline="0" dirty="0" err="1"/>
              <a:t>sai</a:t>
            </a:r>
            <a:r>
              <a:rPr lang="en-US" altLang="ko-KR" sz="1100" baseline="0" dirty="0"/>
              <a:t> </a:t>
            </a:r>
            <a:r>
              <a:rPr lang="en-US" altLang="ko-KR" sz="1100" baseline="0" dirty="0" err="1"/>
              <a:t>số</a:t>
            </a:r>
            <a:r>
              <a:rPr lang="en-US" altLang="ko-KR" sz="1100" baseline="0" dirty="0"/>
              <a:t> </a:t>
            </a:r>
            <a:r>
              <a:rPr lang="en-US" altLang="ko-KR" sz="1100" baseline="0" dirty="0" err="1"/>
              <a:t>trong</a:t>
            </a:r>
            <a:r>
              <a:rPr lang="en-US" altLang="ko-KR" sz="1100" baseline="0" dirty="0"/>
              <a:t> </a:t>
            </a:r>
            <a:r>
              <a:rPr lang="en-US" altLang="ko-KR" sz="1100" baseline="0" dirty="0" err="1"/>
              <a:t>sx</a:t>
            </a:r>
            <a:r>
              <a:rPr lang="en-US" altLang="ko-KR" sz="1100" baseline="0" dirty="0"/>
              <a:t> </a:t>
            </a:r>
            <a:r>
              <a:rPr lang="en-US" altLang="ko-KR" sz="1100" baseline="0" dirty="0" err="1"/>
              <a:t>thi</a:t>
            </a:r>
            <a:r>
              <a:rPr lang="en-US" altLang="ko-KR" sz="1100" baseline="0" dirty="0"/>
              <a:t> </a:t>
            </a:r>
            <a:r>
              <a:rPr lang="en-US" altLang="ko-KR" sz="1100" baseline="0" dirty="0" err="1"/>
              <a:t>ko</a:t>
            </a:r>
            <a:r>
              <a:rPr lang="en-US" altLang="ko-KR" sz="1100" baseline="0" dirty="0"/>
              <a:t> </a:t>
            </a:r>
            <a:r>
              <a:rPr lang="en-US" altLang="ko-KR" sz="1100" baseline="0" dirty="0" err="1"/>
              <a:t>chỉ</a:t>
            </a:r>
            <a:r>
              <a:rPr lang="en-US" altLang="ko-KR" sz="1100" baseline="0" dirty="0"/>
              <a:t> </a:t>
            </a:r>
            <a:r>
              <a:rPr lang="en-US" altLang="ko-KR" sz="1100" baseline="0" dirty="0" err="1"/>
              <a:t>đến</a:t>
            </a:r>
            <a:r>
              <a:rPr lang="en-US" altLang="ko-KR" sz="1100" baseline="0" dirty="0"/>
              <a:t> </a:t>
            </a:r>
            <a:r>
              <a:rPr lang="en-US" altLang="ko-KR" sz="1100" baseline="0" dirty="0" err="1"/>
              <a:t>từ</a:t>
            </a:r>
            <a:r>
              <a:rPr lang="en-US" altLang="ko-KR" sz="1100" baseline="0" dirty="0"/>
              <a:t> </a:t>
            </a:r>
            <a:r>
              <a:rPr lang="en-US" altLang="ko-KR" sz="1100" baseline="0" dirty="0" err="1"/>
              <a:t>quy</a:t>
            </a:r>
            <a:r>
              <a:rPr lang="en-US" altLang="ko-KR" sz="1100" baseline="0" dirty="0"/>
              <a:t> </a:t>
            </a:r>
            <a:r>
              <a:rPr lang="en-US" altLang="ko-KR" sz="1100" baseline="0" dirty="0" err="1"/>
              <a:t>trình</a:t>
            </a:r>
            <a:r>
              <a:rPr lang="en-US" altLang="ko-KR" sz="1100" baseline="0" dirty="0"/>
              <a:t>, </a:t>
            </a:r>
            <a:r>
              <a:rPr lang="en-US" altLang="ko-KR" sz="1100" baseline="0" dirty="0" err="1"/>
              <a:t>mà</a:t>
            </a:r>
            <a:r>
              <a:rPr lang="en-US" altLang="ko-KR" sz="1100" baseline="0" dirty="0"/>
              <a:t> </a:t>
            </a:r>
            <a:r>
              <a:rPr lang="en-US" altLang="ko-KR" sz="1100" baseline="0" dirty="0" err="1"/>
              <a:t>còn</a:t>
            </a:r>
            <a:r>
              <a:rPr lang="en-US" altLang="ko-KR" sz="1100" baseline="0" dirty="0"/>
              <a:t> 1 </a:t>
            </a:r>
            <a:r>
              <a:rPr lang="en-US" altLang="ko-KR" sz="1100" baseline="0" dirty="0" err="1"/>
              <a:t>nhánh</a:t>
            </a:r>
            <a:r>
              <a:rPr lang="en-US" altLang="ko-KR" sz="1100" baseline="0" dirty="0"/>
              <a:t> </a:t>
            </a:r>
            <a:r>
              <a:rPr lang="en-US" altLang="ko-KR" sz="1100" baseline="0" dirty="0" err="1"/>
              <a:t>khác</a:t>
            </a:r>
            <a:r>
              <a:rPr lang="en-US" altLang="ko-KR" sz="1100" baseline="0" dirty="0"/>
              <a:t> </a:t>
            </a:r>
            <a:r>
              <a:rPr lang="en-US" altLang="ko-KR" sz="1100" baseline="0" dirty="0" err="1"/>
              <a:t>đó</a:t>
            </a:r>
            <a:r>
              <a:rPr lang="en-US" altLang="ko-KR" sz="1100" baseline="0" dirty="0"/>
              <a:t> </a:t>
            </a:r>
            <a:r>
              <a:rPr lang="en-US" altLang="ko-KR" sz="1100" baseline="0" dirty="0" err="1"/>
              <a:t>là</a:t>
            </a:r>
            <a:r>
              <a:rPr lang="en-US" altLang="ko-KR" sz="1100" baseline="0" dirty="0"/>
              <a:t> </a:t>
            </a:r>
            <a:r>
              <a:rPr lang="en-US" altLang="ko-KR" sz="1100" baseline="0" dirty="0" err="1"/>
              <a:t>đo</a:t>
            </a:r>
            <a:r>
              <a:rPr lang="en-US" altLang="ko-KR" sz="1100" baseline="0" dirty="0"/>
              <a:t> </a:t>
            </a:r>
            <a:r>
              <a:rPr lang="en-US" altLang="ko-KR" sz="1100" baseline="0" dirty="0" err="1"/>
              <a:t>lường</a:t>
            </a:r>
            <a:endParaRPr lang="en-US" altLang="ko-KR" sz="1100" baseline="0" dirty="0"/>
          </a:p>
          <a:p>
            <a:pPr>
              <a:defRPr/>
            </a:pPr>
            <a:r>
              <a:rPr lang="en-US" altLang="ko-KR" sz="1100" baseline="0" dirty="0"/>
              <a:t>Total variation (</a:t>
            </a:r>
            <a:r>
              <a:rPr lang="en-US" altLang="ko-KR" sz="1100" baseline="0" dirty="0" err="1"/>
              <a:t>tổng</a:t>
            </a:r>
            <a:r>
              <a:rPr lang="en-US" altLang="ko-KR" sz="1100" baseline="0" dirty="0"/>
              <a:t> </a:t>
            </a:r>
            <a:r>
              <a:rPr lang="en-US" altLang="ko-KR" sz="1100" baseline="0" dirty="0" err="1"/>
              <a:t>các</a:t>
            </a:r>
            <a:r>
              <a:rPr lang="en-US" altLang="ko-KR" sz="1100" baseline="0" dirty="0"/>
              <a:t> </a:t>
            </a:r>
            <a:r>
              <a:rPr lang="en-US" altLang="ko-KR" sz="1100" baseline="0" dirty="0" err="1"/>
              <a:t>sai</a:t>
            </a:r>
            <a:r>
              <a:rPr lang="en-US" altLang="ko-KR" sz="1100" baseline="0" dirty="0"/>
              <a:t> </a:t>
            </a:r>
            <a:r>
              <a:rPr lang="en-US" altLang="ko-KR" sz="1100" baseline="0" dirty="0" err="1"/>
              <a:t>lệch</a:t>
            </a:r>
            <a:r>
              <a:rPr lang="en-US" altLang="ko-KR" sz="1100" baseline="0" dirty="0"/>
              <a:t> </a:t>
            </a:r>
            <a:r>
              <a:rPr lang="en-US" altLang="ko-KR" sz="1100" baseline="0" dirty="0" err="1"/>
              <a:t>cấu</a:t>
            </a:r>
            <a:r>
              <a:rPr lang="en-US" altLang="ko-KR" sz="1100" baseline="0" dirty="0"/>
              <a:t> </a:t>
            </a:r>
            <a:r>
              <a:rPr lang="en-US" altLang="ko-KR" sz="1100" baseline="0" dirty="0" err="1"/>
              <a:t>thành</a:t>
            </a:r>
            <a:r>
              <a:rPr lang="en-US" altLang="ko-KR" sz="1100" baseline="0" dirty="0"/>
              <a:t>)</a:t>
            </a:r>
          </a:p>
          <a:p>
            <a:pPr marL="228600" indent="-228600">
              <a:buAutoNum type="arabicPeriod"/>
              <a:defRPr/>
            </a:pPr>
            <a:r>
              <a:rPr lang="en-US" altLang="ko-KR" sz="1100" baseline="0" dirty="0"/>
              <a:t>MSA</a:t>
            </a:r>
          </a:p>
          <a:p>
            <a:pPr marL="228600" indent="-228600">
              <a:buAutoNum type="arabicPeriod"/>
              <a:defRPr/>
            </a:pPr>
            <a:r>
              <a:rPr lang="en-US" altLang="ko-KR" sz="1100" baseline="0" dirty="0"/>
              <a:t>Process variation</a:t>
            </a:r>
          </a:p>
          <a:p>
            <a:pPr marL="0" indent="0">
              <a:buNone/>
              <a:defRPr/>
            </a:pPr>
            <a:r>
              <a:rPr lang="en-US" altLang="ko-KR" sz="1100" baseline="0" dirty="0"/>
              <a:t>2.1: chance variance</a:t>
            </a:r>
          </a:p>
          <a:p>
            <a:pPr marL="0" indent="0">
              <a:buNone/>
              <a:defRPr/>
            </a:pPr>
            <a:r>
              <a:rPr lang="en-US" altLang="ko-KR" sz="1100" baseline="0" dirty="0"/>
              <a:t>2.2: assignable variance</a:t>
            </a:r>
          </a:p>
          <a:p>
            <a:pPr marL="0" indent="0">
              <a:buNone/>
              <a:defRPr/>
            </a:pPr>
            <a:r>
              <a:rPr lang="en-US" altLang="ko-KR" sz="1100" baseline="0" dirty="0"/>
              <a:t>VD: </a:t>
            </a:r>
            <a:r>
              <a:rPr lang="en-US" altLang="ko-KR" sz="1100" baseline="0" dirty="0" err="1"/>
              <a:t>làm</a:t>
            </a:r>
            <a:r>
              <a:rPr lang="en-US" altLang="ko-KR" sz="1100" baseline="0" dirty="0"/>
              <a:t> </a:t>
            </a:r>
            <a:r>
              <a:rPr lang="en-US" altLang="ko-KR" sz="1100" baseline="0" dirty="0" err="1"/>
              <a:t>sao</a:t>
            </a:r>
            <a:r>
              <a:rPr lang="en-US" altLang="ko-KR" sz="1100" baseline="0" dirty="0"/>
              <a:t> </a:t>
            </a:r>
            <a:r>
              <a:rPr lang="en-US" altLang="ko-KR" sz="1100" baseline="0" dirty="0" err="1"/>
              <a:t>để</a:t>
            </a:r>
            <a:r>
              <a:rPr lang="en-US" altLang="ko-KR" sz="1100" baseline="0" dirty="0"/>
              <a:t> </a:t>
            </a:r>
            <a:r>
              <a:rPr lang="en-US" altLang="ko-KR" sz="1100" baseline="0" dirty="0" err="1"/>
              <a:t>biết</a:t>
            </a:r>
            <a:r>
              <a:rPr lang="en-US" altLang="ko-KR" sz="1100" baseline="0" dirty="0"/>
              <a:t> </a:t>
            </a:r>
            <a:r>
              <a:rPr lang="en-US" altLang="ko-KR" sz="1100" baseline="0" dirty="0" err="1"/>
              <a:t>bạn</a:t>
            </a:r>
            <a:r>
              <a:rPr lang="en-US" altLang="ko-KR" sz="1100" baseline="0" dirty="0"/>
              <a:t> A </a:t>
            </a:r>
            <a:r>
              <a:rPr lang="en-US" altLang="ko-KR" sz="1100" baseline="0" dirty="0" err="1"/>
              <a:t>cao</a:t>
            </a:r>
            <a:r>
              <a:rPr lang="en-US" altLang="ko-KR" sz="1100" baseline="0" dirty="0"/>
              <a:t> </a:t>
            </a:r>
            <a:r>
              <a:rPr lang="en-US" altLang="ko-KR" sz="1100" baseline="0" dirty="0" err="1"/>
              <a:t>bao</a:t>
            </a:r>
            <a:r>
              <a:rPr lang="en-US" altLang="ko-KR" sz="1100" baseline="0" dirty="0"/>
              <a:t> </a:t>
            </a:r>
            <a:r>
              <a:rPr lang="en-US" altLang="ko-KR" sz="1100" baseline="0" dirty="0" err="1"/>
              <a:t>nhiêu</a:t>
            </a:r>
            <a:r>
              <a:rPr lang="en-US" altLang="ko-KR" sz="1100" baseline="0" dirty="0"/>
              <a:t>? </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phải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endParaRPr lang="en-US" altLang="ko-KR" sz="1100" baseline="0" dirty="0">
              <a:sym typeface="Wingdings" panose="05000000000000000000" pitchFamily="2" charset="2"/>
            </a:endParaRPr>
          </a:p>
          <a:p>
            <a:pPr marL="0" indent="0">
              <a:buNone/>
              <a:defRPr/>
            </a:pPr>
            <a:r>
              <a:rPr lang="en-US" altLang="ko-KR" sz="1100" baseline="0" dirty="0" err="1">
                <a:sym typeface="Wingdings" panose="05000000000000000000" pitchFamily="2" charset="2"/>
              </a:rPr>
              <a:t>Nhìn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bằng</a:t>
            </a:r>
            <a:r>
              <a:rPr lang="en-US" altLang="ko-KR" sz="1100" baseline="0" dirty="0">
                <a:sym typeface="Wingdings" panose="05000000000000000000" pitchFamily="2" charset="2"/>
              </a:rPr>
              <a:t> so </a:t>
            </a:r>
            <a:r>
              <a:rPr lang="en-US" altLang="ko-KR" sz="1100" baseline="0" dirty="0" err="1">
                <a:sym typeface="Wingdings" panose="05000000000000000000" pitchFamily="2" charset="2"/>
              </a:rPr>
              <a:t>sánh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thì</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thấy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 </a:t>
            </a:r>
            <a:r>
              <a:rPr lang="en-US" altLang="ko-KR" sz="1100" baseline="0" dirty="0" err="1">
                <a:sym typeface="Wingdings" panose="05000000000000000000" pitchFamily="2" charset="2"/>
              </a:rPr>
              <a:t>cao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hơn</a:t>
            </a:r>
            <a:r>
              <a:rPr lang="en-US" altLang="ko-KR" sz="1100" baseline="0" dirty="0">
                <a:sym typeface="Wingdings" panose="05000000000000000000" pitchFamily="2" charset="2"/>
              </a:rPr>
              <a:t> B </a:t>
            </a:r>
            <a:r>
              <a:rPr lang="en-US" altLang="ko-KR" sz="1100" baseline="0" dirty="0" err="1">
                <a:sym typeface="Wingdings" panose="05000000000000000000" pitchFamily="2" charset="2"/>
              </a:rPr>
              <a:t>nhưng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thì</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lệch</a:t>
            </a:r>
            <a:r>
              <a:rPr lang="en-US" altLang="ko-KR" sz="1100" baseline="0" dirty="0">
                <a:sym typeface="Wingdings" panose="05000000000000000000" pitchFamily="2" charset="2"/>
              </a:rPr>
              <a:t> 2cm, </a:t>
            </a:r>
          </a:p>
          <a:p>
            <a:pPr marL="0" indent="0">
              <a:buNone/>
              <a:defRPr/>
            </a:pPr>
            <a:r>
              <a:rPr lang="en-US" altLang="ko-KR" sz="1100" baseline="0" dirty="0">
                <a:sym typeface="Wingdings" panose="05000000000000000000" pitchFamily="2" charset="2"/>
              </a:rPr>
              <a:t>2cm </a:t>
            </a:r>
            <a:r>
              <a:rPr lang="en-US" altLang="ko-KR" sz="1100" baseline="0" dirty="0" err="1">
                <a:sym typeface="Wingdings" panose="05000000000000000000" pitchFamily="2" charset="2"/>
              </a:rPr>
              <a:t>lúc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này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sẽ</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total variation . </a:t>
            </a:r>
            <a:r>
              <a:rPr lang="en-US" altLang="ko-KR" sz="1100" baseline="0" dirty="0" err="1">
                <a:sym typeface="Wingdings" panose="05000000000000000000" pitchFamily="2" charset="2"/>
              </a:rPr>
              <a:t>Việc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của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chung</a:t>
            </a:r>
            <a:r>
              <a:rPr lang="en-US" altLang="ko-KR" sz="1100" baseline="0" dirty="0">
                <a:sym typeface="Wingdings" panose="05000000000000000000" pitchFamily="2" charset="2"/>
              </a:rPr>
              <a:t> ta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tìm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ra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xem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hệ</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thông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đang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đóng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gop</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bn</a:t>
            </a:r>
            <a:r>
              <a:rPr lang="en-US" altLang="ko-KR" sz="1100" baseline="0" dirty="0">
                <a:sym typeface="Wingdings" panose="05000000000000000000" pitchFamily="2" charset="2"/>
              </a:rPr>
              <a:t> % </a:t>
            </a:r>
            <a:r>
              <a:rPr lang="en-US" altLang="ko-KR" sz="1100" baseline="0" dirty="0" err="1">
                <a:sym typeface="Wingdings" panose="05000000000000000000" pitchFamily="2" charset="2"/>
              </a:rPr>
              <a:t>để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tạo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ra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sự</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lệch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này</a:t>
            </a:r>
            <a:endParaRPr lang="en-US" altLang="ko-KR" sz="1100" baseline="0" dirty="0">
              <a:sym typeface="Wingdings" panose="05000000000000000000" pitchFamily="2" charset="2"/>
            </a:endParaRPr>
          </a:p>
          <a:p>
            <a:pPr marL="0" marR="0" indent="0" algn="l" defTabSz="914400" rtl="0" eaLnBrk="0" fontAlgn="base" latinLnBrk="1" hangingPunct="0">
              <a:lnSpc>
                <a:spcPct val="100000"/>
              </a:lnSpc>
              <a:spcBef>
                <a:spcPct val="30000"/>
              </a:spcBef>
              <a:spcAft>
                <a:spcPct val="0"/>
              </a:spcAft>
              <a:buClrTx/>
              <a:buSzTx/>
              <a:buFontTx/>
              <a:buNone/>
              <a:tabLst/>
              <a:defRPr/>
            </a:pPr>
            <a:r>
              <a:rPr lang="en-US" altLang="ko-KR" sz="1100" baseline="0" dirty="0" err="1">
                <a:sym typeface="Wingdings" panose="05000000000000000000" pitchFamily="2" charset="2"/>
              </a:rPr>
              <a:t>tuy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nhiên</a:t>
            </a:r>
            <a:r>
              <a:rPr lang="en-US" altLang="ko-KR" sz="1100" baseline="0" dirty="0">
                <a:sym typeface="Wingdings" panose="05000000000000000000" pitchFamily="2" charset="2"/>
              </a:rPr>
              <a:t> 2cm </a:t>
            </a:r>
            <a:r>
              <a:rPr lang="en-US" altLang="ko-KR" sz="1100" baseline="0" dirty="0" err="1">
                <a:sym typeface="Wingdings" panose="05000000000000000000" pitchFamily="2" charset="2"/>
              </a:rPr>
              <a:t>này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cũng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thể</a:t>
            </a:r>
            <a:r>
              <a:rPr lang="en-US" altLang="ko-KR" sz="1100" baseline="0" dirty="0">
                <a:sym typeface="Wingdings" panose="05000000000000000000" pitchFamily="2" charset="2"/>
              </a:rPr>
              <a:t> 2 </a:t>
            </a:r>
            <a:r>
              <a:rPr lang="en-US" altLang="ko-KR" sz="1100" baseline="0" dirty="0" err="1">
                <a:sym typeface="Wingdings" panose="05000000000000000000" pitchFamily="2" charset="2"/>
              </a:rPr>
              <a:t>bạn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cao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bằng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nhau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nhưng</a:t>
            </a:r>
            <a:r>
              <a:rPr lang="en-US" altLang="ko-KR" sz="1100" baseline="0" dirty="0">
                <a:sym typeface="Wingdings" panose="05000000000000000000" pitchFamily="2" charset="2"/>
              </a:rPr>
              <a:t> do </a:t>
            </a:r>
            <a:r>
              <a:rPr lang="en-US" altLang="ko-KR" sz="1100" baseline="0" dirty="0" err="1">
                <a:sym typeface="Wingdings" panose="05000000000000000000" pitchFamily="2" charset="2"/>
              </a:rPr>
              <a:t>trog</a:t>
            </a:r>
            <a:r>
              <a:rPr lang="en-US" altLang="ko-KR" sz="1100" baseline="0" dirty="0">
                <a:sym typeface="Wingdings" panose="05000000000000000000" pitchFamily="2" charset="2"/>
              </a:rPr>
              <a:t> qua </a:t>
            </a:r>
            <a:r>
              <a:rPr lang="en-US" altLang="ko-KR" sz="1100" baseline="0" dirty="0" err="1">
                <a:sym typeface="Wingdings" panose="05000000000000000000" pitchFamily="2" charset="2"/>
              </a:rPr>
              <a:t>trinh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do A </a:t>
            </a:r>
            <a:r>
              <a:rPr lang="en-US" altLang="ko-KR" sz="1100" baseline="0" dirty="0" err="1">
                <a:sym typeface="Wingdings" panose="05000000000000000000" pitchFamily="2" charset="2"/>
              </a:rPr>
              <a:t>lệch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lên</a:t>
            </a:r>
            <a:r>
              <a:rPr lang="en-US" altLang="ko-KR" sz="1100" baseline="0" dirty="0">
                <a:sym typeface="Wingdings" panose="05000000000000000000" pitchFamily="2" charset="2"/>
              </a:rPr>
              <a:t> 1cm,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B </a:t>
            </a:r>
            <a:r>
              <a:rPr lang="en-US" altLang="ko-KR" sz="1100" baseline="0" dirty="0" err="1">
                <a:sym typeface="Wingdings" panose="05000000000000000000" pitchFamily="2" charset="2"/>
              </a:rPr>
              <a:t>lệch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xuống</a:t>
            </a:r>
            <a:r>
              <a:rPr lang="en-US" altLang="ko-KR" sz="1100" baseline="0" dirty="0">
                <a:sym typeface="Wingdings" panose="05000000000000000000" pitchFamily="2" charset="2"/>
              </a:rPr>
              <a:t> 1cm</a:t>
            </a:r>
          </a:p>
          <a:p>
            <a:pPr marL="0" indent="0">
              <a:buNone/>
              <a:defRPr/>
            </a:pPr>
            <a:r>
              <a:rPr lang="en-US" altLang="ko-KR" sz="1100" dirty="0">
                <a:sym typeface="Wingdings" panose="05000000000000000000" pitchFamily="2" charset="2"/>
              </a:rPr>
              <a:t></a:t>
            </a:r>
            <a:r>
              <a:rPr lang="en-US" altLang="ko-KR" sz="1100" dirty="0" err="1">
                <a:sym typeface="Wingdings" panose="05000000000000000000" pitchFamily="2" charset="2"/>
              </a:rPr>
              <a:t>lúc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này</a:t>
            </a:r>
            <a:r>
              <a:rPr lang="en-US" altLang="ko-KR" sz="1100" baseline="0" dirty="0">
                <a:sym typeface="Wingdings" panose="05000000000000000000" pitchFamily="2" charset="2"/>
              </a:rPr>
              <a:t> 100% </a:t>
            </a:r>
            <a:r>
              <a:rPr lang="en-US" altLang="ko-KR" sz="1100" baseline="0" dirty="0" err="1">
                <a:sym typeface="Wingdings" panose="05000000000000000000" pitchFamily="2" charset="2"/>
              </a:rPr>
              <a:t>sai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lệch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đến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từ</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lường</a:t>
            </a:r>
            <a:endParaRPr lang="en-US" altLang="ko-KR" sz="1100" baseline="0" dirty="0">
              <a:sym typeface="Wingdings" panose="05000000000000000000" pitchFamily="2" charset="2"/>
            </a:endParaRPr>
          </a:p>
          <a:p>
            <a:pPr marL="0" indent="0">
              <a:buNone/>
              <a:defRPr/>
            </a:pPr>
            <a:r>
              <a:rPr lang="en-US" altLang="ko-KR" sz="1100" baseline="0" dirty="0" err="1">
                <a:sym typeface="Wingdings" panose="05000000000000000000" pitchFamily="2" charset="2"/>
              </a:rPr>
              <a:t>Trong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hệ</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thống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thông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fai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giới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hạn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mức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số</a:t>
            </a:r>
            <a:r>
              <a:rPr lang="en-US" altLang="ko-KR" sz="1100" baseline="0" dirty="0">
                <a:sym typeface="Wingdings" panose="05000000000000000000" pitchFamily="2" charset="2"/>
              </a:rPr>
              <a:t> do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lường</a:t>
            </a:r>
            <a:r>
              <a:rPr lang="en-US" altLang="ko-KR" sz="1100" baseline="0" dirty="0">
                <a:sym typeface="Wingdings" panose="05000000000000000000" pitchFamily="2" charset="2"/>
              </a:rPr>
              <a:t> &lt;10%, </a:t>
            </a:r>
            <a:r>
              <a:rPr lang="en-US" altLang="ko-KR" sz="1100" baseline="0" dirty="0" err="1">
                <a:sym typeface="Wingdings" panose="05000000000000000000" pitchFamily="2" charset="2"/>
              </a:rPr>
              <a:t>tức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số</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tư</a:t>
            </a:r>
            <a:r>
              <a:rPr lang="en-US" altLang="ko-KR" sz="1100" baseline="0" dirty="0">
                <a:sym typeface="Wingdings" panose="05000000000000000000" pitchFamily="2" charset="2"/>
              </a:rPr>
              <a:t> process &gt;90%</a:t>
            </a:r>
          </a:p>
          <a:p>
            <a:pPr marL="0" indent="0">
              <a:buNone/>
              <a:defRPr/>
            </a:pPr>
            <a:r>
              <a:rPr lang="en-US" altLang="ko-KR" sz="1100" baseline="0" dirty="0" err="1">
                <a:sym typeface="Wingdings" panose="05000000000000000000" pitchFamily="2" charset="2"/>
              </a:rPr>
              <a:t>Nhiệm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vụ</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cta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hnay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xem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xem</a:t>
            </a:r>
            <a:r>
              <a:rPr lang="en-US" altLang="ko-KR" sz="1100" baseline="0" dirty="0">
                <a:sym typeface="Wingdings" panose="05000000000000000000" pitchFamily="2" charset="2"/>
              </a:rPr>
              <a:t> MSA </a:t>
            </a:r>
            <a:r>
              <a:rPr lang="en-US" altLang="ko-KR" sz="1100" baseline="0" dirty="0" err="1">
                <a:sym typeface="Wingdings" panose="05000000000000000000" pitchFamily="2" charset="2"/>
              </a:rPr>
              <a:t>nó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đang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chiếm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trong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tổng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lệch</a:t>
            </a:r>
            <a:endParaRPr lang="ko-KR" altLang="en-US" sz="1100" dirty="0"/>
          </a:p>
        </p:txBody>
      </p:sp>
      <p:sp>
        <p:nvSpPr>
          <p:cNvPr id="4" name="슬라이드 번호 개체 틀 3"/>
          <p:cNvSpPr>
            <a:spLocks noGrp="1"/>
          </p:cNvSpPr>
          <p:nvPr>
            <p:ph type="sldNum" sz="quarter" idx="5"/>
          </p:nvPr>
        </p:nvSpPr>
        <p:spPr/>
        <p:txBody>
          <a:bodyPr/>
          <a:lstStyle/>
          <a:p>
            <a:pPr>
              <a:defRPr/>
            </a:pPr>
            <a:fld id="{0EE82344-57AD-4511-878A-E2B71AB5EC31}" type="slidenum">
              <a:rPr lang="ko-KR" altLang="en-US" smtClean="0"/>
              <a:pPr>
                <a:defRPr/>
              </a:pPr>
              <a:t>185</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26373798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Làm</a:t>
            </a:r>
            <a:r>
              <a:rPr lang="en-US" baseline="0" dirty="0"/>
              <a:t> </a:t>
            </a:r>
            <a:r>
              <a:rPr lang="en-US" baseline="0" dirty="0" err="1"/>
              <a:t>sao</a:t>
            </a:r>
            <a:r>
              <a:rPr lang="en-US" baseline="0" dirty="0"/>
              <a:t> </a:t>
            </a:r>
            <a:r>
              <a:rPr lang="en-US" baseline="0" dirty="0" err="1"/>
              <a:t>để</a:t>
            </a:r>
            <a:r>
              <a:rPr lang="en-US" baseline="0" dirty="0"/>
              <a:t> </a:t>
            </a:r>
            <a:r>
              <a:rPr lang="en-US" baseline="0" dirty="0" err="1"/>
              <a:t>biết</a:t>
            </a:r>
            <a:r>
              <a:rPr lang="en-US" baseline="0" dirty="0"/>
              <a:t> 1m </a:t>
            </a:r>
            <a:r>
              <a:rPr lang="en-US" baseline="0" dirty="0" err="1"/>
              <a:t>là</a:t>
            </a:r>
            <a:r>
              <a:rPr lang="en-US" baseline="0" dirty="0"/>
              <a:t> </a:t>
            </a:r>
            <a:r>
              <a:rPr lang="en-US" baseline="0" dirty="0" err="1"/>
              <a:t>bao</a:t>
            </a:r>
            <a:r>
              <a:rPr lang="en-US" baseline="0" dirty="0"/>
              <a:t> </a:t>
            </a:r>
            <a:r>
              <a:rPr lang="en-US" baseline="0" dirty="0" err="1"/>
              <a:t>nhiêu</a:t>
            </a:r>
            <a:r>
              <a:rPr lang="en-US" baseline="0" dirty="0"/>
              <a:t> </a:t>
            </a:r>
            <a:r>
              <a:rPr lang="en-US" baseline="0" dirty="0" err="1"/>
              <a:t>và</a:t>
            </a:r>
            <a:r>
              <a:rPr lang="en-US" baseline="0" dirty="0"/>
              <a:t> </a:t>
            </a:r>
            <a:r>
              <a:rPr lang="en-US" baseline="0" dirty="0" err="1"/>
              <a:t>các</a:t>
            </a:r>
            <a:r>
              <a:rPr lang="en-US" baseline="0" dirty="0"/>
              <a:t> 1m </a:t>
            </a:r>
            <a:r>
              <a:rPr lang="en-US" baseline="0" dirty="0" err="1"/>
              <a:t>có</a:t>
            </a:r>
            <a:r>
              <a:rPr lang="en-US" baseline="0" dirty="0"/>
              <a:t> </a:t>
            </a:r>
            <a:r>
              <a:rPr lang="en-US" baseline="0" dirty="0" err="1"/>
              <a:t>bằng</a:t>
            </a:r>
            <a:r>
              <a:rPr lang="en-US" baseline="0" dirty="0"/>
              <a:t> </a:t>
            </a:r>
            <a:r>
              <a:rPr lang="en-US" baseline="0" dirty="0" err="1"/>
              <a:t>nhau</a:t>
            </a:r>
            <a:r>
              <a:rPr lang="en-US" baseline="0" dirty="0"/>
              <a:t> hay </a:t>
            </a:r>
            <a:r>
              <a:rPr lang="en-US" baseline="0" dirty="0" err="1"/>
              <a:t>ko</a:t>
            </a:r>
            <a:r>
              <a:rPr lang="en-US" baseline="0" dirty="0"/>
              <a:t>, </a:t>
            </a:r>
            <a:r>
              <a:rPr lang="en-US" baseline="0" dirty="0" err="1"/>
              <a:t>việc</a:t>
            </a:r>
            <a:r>
              <a:rPr lang="en-US" baseline="0" dirty="0"/>
              <a:t> </a:t>
            </a:r>
            <a:r>
              <a:rPr lang="en-US" baseline="0" dirty="0" err="1"/>
              <a:t>này</a:t>
            </a:r>
            <a:r>
              <a:rPr lang="en-US" baseline="0" dirty="0"/>
              <a:t> </a:t>
            </a:r>
            <a:r>
              <a:rPr lang="en-US" baseline="0" dirty="0" err="1"/>
              <a:t>làm</a:t>
            </a:r>
            <a:r>
              <a:rPr lang="en-US" baseline="0" dirty="0"/>
              <a:t> </a:t>
            </a:r>
            <a:r>
              <a:rPr lang="en-US" baseline="0" dirty="0" err="1"/>
              <a:t>đau</a:t>
            </a:r>
            <a:r>
              <a:rPr lang="en-US" baseline="0" dirty="0"/>
              <a:t> </a:t>
            </a:r>
            <a:r>
              <a:rPr lang="en-US" baseline="0" dirty="0" err="1"/>
              <a:t>đầu</a:t>
            </a:r>
            <a:r>
              <a:rPr lang="en-US" baseline="0" dirty="0"/>
              <a:t> </a:t>
            </a:r>
            <a:r>
              <a:rPr lang="en-US" baseline="0" dirty="0" err="1"/>
              <a:t>các</a:t>
            </a:r>
            <a:r>
              <a:rPr lang="en-US" baseline="0" dirty="0"/>
              <a:t> </a:t>
            </a:r>
            <a:r>
              <a:rPr lang="en-US" baseline="0" dirty="0" err="1"/>
              <a:t>nhà</a:t>
            </a:r>
            <a:r>
              <a:rPr lang="en-US" baseline="0" dirty="0"/>
              <a:t> </a:t>
            </a:r>
            <a:r>
              <a:rPr lang="en-US" baseline="0" dirty="0" err="1"/>
              <a:t>khoa</a:t>
            </a:r>
            <a:r>
              <a:rPr lang="en-US" baseline="0" dirty="0"/>
              <a:t> </a:t>
            </a:r>
            <a:r>
              <a:rPr lang="en-US" baseline="0" dirty="0" err="1"/>
              <a:t>học</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186</a:t>
            </a:fld>
            <a:endParaRPr lang="ko-KR" altLang="en-US" dirty="0"/>
          </a:p>
        </p:txBody>
      </p:sp>
    </p:spTree>
    <p:extLst>
      <p:ext uri="{BB962C8B-B14F-4D97-AF65-F5344CB8AC3E}">
        <p14:creationId xmlns:p14="http://schemas.microsoft.com/office/powerpoint/2010/main" val="14238750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슬라이드 노트 개체 틀 2"/>
          <p:cNvSpPr>
            <a:spLocks noGrp="1"/>
          </p:cNvSpPr>
          <p:nvPr>
            <p:ph type="body" idx="1"/>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a:defRPr/>
            </a:pPr>
            <a:endParaRPr lang="ko-KR" altLang="en-US" sz="1100"/>
          </a:p>
        </p:txBody>
      </p:sp>
      <p:sp>
        <p:nvSpPr>
          <p:cNvPr id="4" name="슬라이드 번호 개체 틀 3"/>
          <p:cNvSpPr>
            <a:spLocks noGrp="1"/>
          </p:cNvSpPr>
          <p:nvPr>
            <p:ph type="sldNum" sz="quarter" idx="5"/>
          </p:nvPr>
        </p:nvSpPr>
        <p:spPr/>
        <p:txBody>
          <a:bodyPr/>
          <a:lstStyle/>
          <a:p>
            <a:pPr>
              <a:defRPr/>
            </a:pPr>
            <a:fld id="{FC11A641-A7A9-428A-8B36-5AAF4E560DF8}" type="slidenum">
              <a:rPr lang="ko-KR" altLang="en-US" smtClean="0"/>
              <a:pPr>
                <a:defRPr/>
              </a:pPr>
              <a:t>187</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62707098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슬라이드 노트 개체 틀 2"/>
          <p:cNvSpPr>
            <a:spLocks noGrp="1"/>
          </p:cNvSpPr>
          <p:nvPr>
            <p:ph type="body" idx="1"/>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a:defRPr/>
            </a:pPr>
            <a:endParaRPr lang="ko-KR" altLang="en-US" sz="1100" dirty="0"/>
          </a:p>
          <a:p>
            <a:pPr>
              <a:defRPr/>
            </a:pPr>
            <a:r>
              <a:rPr lang="en-US" altLang="ko-KR" sz="1100" dirty="0" err="1"/>
              <a:t>Thông</a:t>
            </a:r>
            <a:r>
              <a:rPr lang="en-US" altLang="ko-KR" sz="1100" baseline="0" dirty="0"/>
              <a:t> </a:t>
            </a:r>
            <a:r>
              <a:rPr lang="en-US" altLang="ko-KR" sz="1100" baseline="0" dirty="0" err="1"/>
              <a:t>thường</a:t>
            </a:r>
            <a:r>
              <a:rPr lang="en-US" altLang="ko-KR" sz="1100" baseline="0" dirty="0"/>
              <a:t> </a:t>
            </a:r>
            <a:r>
              <a:rPr lang="en-US" altLang="ko-KR" sz="1100" baseline="0" dirty="0" err="1"/>
              <a:t>phân</a:t>
            </a:r>
            <a:r>
              <a:rPr lang="en-US" altLang="ko-KR" sz="1100" baseline="0" dirty="0"/>
              <a:t> </a:t>
            </a:r>
            <a:r>
              <a:rPr lang="en-US" altLang="ko-KR" sz="1100" baseline="0" dirty="0" err="1"/>
              <a:t>tích</a:t>
            </a:r>
            <a:r>
              <a:rPr lang="en-US" altLang="ko-KR" sz="1100" baseline="0" dirty="0"/>
              <a:t> minh </a:t>
            </a:r>
            <a:r>
              <a:rPr lang="en-US" altLang="ko-KR" sz="1100" baseline="0" dirty="0" err="1"/>
              <a:t>thường</a:t>
            </a:r>
            <a:r>
              <a:rPr lang="en-US" altLang="ko-KR" sz="1100" baseline="0" dirty="0"/>
              <a:t> </a:t>
            </a:r>
            <a:r>
              <a:rPr lang="en-US" altLang="ko-KR" sz="1100" baseline="0" dirty="0" err="1"/>
              <a:t>làm</a:t>
            </a:r>
            <a:r>
              <a:rPr lang="en-US" altLang="ko-KR" sz="1100" baseline="0" dirty="0"/>
              <a:t> </a:t>
            </a:r>
            <a:r>
              <a:rPr lang="en-US" altLang="ko-KR" sz="1100" baseline="0" dirty="0" err="1"/>
              <a:t>theo</a:t>
            </a:r>
            <a:r>
              <a:rPr lang="en-US" altLang="ko-KR" sz="1100" baseline="0" dirty="0"/>
              <a:t> 5M 1E, </a:t>
            </a:r>
            <a:r>
              <a:rPr lang="en-US" altLang="ko-KR" sz="1100" baseline="0" dirty="0" err="1"/>
              <a:t>cái</a:t>
            </a:r>
            <a:r>
              <a:rPr lang="en-US" altLang="ko-KR" sz="1100" baseline="0" dirty="0"/>
              <a:t> M </a:t>
            </a:r>
            <a:r>
              <a:rPr lang="en-US" altLang="ko-KR" sz="1100" baseline="0" dirty="0" err="1"/>
              <a:t>thứ</a:t>
            </a:r>
            <a:r>
              <a:rPr lang="en-US" altLang="ko-KR" sz="1100" baseline="0" dirty="0"/>
              <a:t> 5 </a:t>
            </a:r>
            <a:r>
              <a:rPr lang="en-US" altLang="ko-KR" sz="1100" baseline="0" dirty="0" err="1"/>
              <a:t>chính</a:t>
            </a:r>
            <a:r>
              <a:rPr lang="en-US" altLang="ko-KR" sz="1100" baseline="0" dirty="0"/>
              <a:t> </a:t>
            </a:r>
            <a:r>
              <a:rPr lang="en-US" altLang="ko-KR" sz="1100" baseline="0" dirty="0" err="1"/>
              <a:t>là</a:t>
            </a:r>
            <a:r>
              <a:rPr lang="en-US" altLang="ko-KR" sz="1100" baseline="0" dirty="0"/>
              <a:t> </a:t>
            </a:r>
            <a:r>
              <a:rPr lang="en-US" altLang="ko-KR" sz="1100" baseline="0" dirty="0" err="1"/>
              <a:t>đo</a:t>
            </a:r>
            <a:r>
              <a:rPr lang="en-US" altLang="ko-KR" sz="1100" baseline="0" dirty="0"/>
              <a:t> </a:t>
            </a:r>
            <a:r>
              <a:rPr lang="en-US" altLang="ko-KR" sz="1100" baseline="0" dirty="0" err="1"/>
              <a:t>lường</a:t>
            </a:r>
            <a:r>
              <a:rPr lang="en-US" altLang="ko-KR" sz="1100" baseline="0" dirty="0"/>
              <a:t>, E </a:t>
            </a:r>
            <a:r>
              <a:rPr lang="en-US" altLang="ko-KR" sz="1100" baseline="0" dirty="0" err="1"/>
              <a:t>chinh</a:t>
            </a:r>
            <a:r>
              <a:rPr lang="en-US" altLang="ko-KR" sz="1100" baseline="0" dirty="0"/>
              <a:t> </a:t>
            </a:r>
            <a:r>
              <a:rPr lang="en-US" altLang="ko-KR" sz="1100" baseline="0" dirty="0" err="1"/>
              <a:t>là</a:t>
            </a:r>
            <a:r>
              <a:rPr lang="en-US" altLang="ko-KR" sz="1100" baseline="0" dirty="0"/>
              <a:t> </a:t>
            </a:r>
            <a:r>
              <a:rPr lang="en-US" altLang="ko-KR" sz="1100" baseline="0" dirty="0" err="1"/>
              <a:t>môi</a:t>
            </a:r>
            <a:r>
              <a:rPr lang="en-US" altLang="ko-KR" sz="1100" baseline="0" dirty="0"/>
              <a:t> </a:t>
            </a:r>
            <a:r>
              <a:rPr lang="en-US" altLang="ko-KR" sz="1100" baseline="0" dirty="0" err="1"/>
              <a:t>trường</a:t>
            </a:r>
            <a:r>
              <a:rPr lang="en-US" altLang="ko-KR" sz="1100" baseline="0" dirty="0"/>
              <a:t>, </a:t>
            </a:r>
            <a:r>
              <a:rPr lang="en-US" altLang="ko-KR" sz="1100" baseline="0" dirty="0" err="1"/>
              <a:t>ko</a:t>
            </a:r>
            <a:r>
              <a:rPr lang="en-US" altLang="ko-KR" sz="1100" baseline="0" dirty="0"/>
              <a:t> </a:t>
            </a:r>
            <a:r>
              <a:rPr lang="en-US" altLang="ko-KR" sz="1100" baseline="0" dirty="0" err="1"/>
              <a:t>đc</a:t>
            </a:r>
            <a:r>
              <a:rPr lang="en-US" altLang="ko-KR" sz="1100" baseline="0" dirty="0"/>
              <a:t> </a:t>
            </a:r>
            <a:r>
              <a:rPr lang="en-US" altLang="ko-KR" sz="1100" baseline="0" dirty="0" err="1"/>
              <a:t>bỏ</a:t>
            </a:r>
            <a:r>
              <a:rPr lang="en-US" altLang="ko-KR" sz="1100" baseline="0" dirty="0"/>
              <a:t> E </a:t>
            </a:r>
            <a:r>
              <a:rPr lang="en-US" altLang="ko-KR" sz="1100" baseline="0" dirty="0" err="1"/>
              <a:t>ra</a:t>
            </a:r>
            <a:r>
              <a:rPr lang="en-US" altLang="ko-KR" sz="1100" baseline="0" dirty="0"/>
              <a:t> </a:t>
            </a:r>
            <a:r>
              <a:rPr lang="en-US" altLang="ko-KR" sz="1100" baseline="0" dirty="0" err="1"/>
              <a:t>ngoài</a:t>
            </a:r>
            <a:endParaRPr lang="en-US" altLang="ko-KR" sz="1100" baseline="0" dirty="0"/>
          </a:p>
          <a:p>
            <a:pPr>
              <a:defRPr/>
            </a:pPr>
            <a:r>
              <a:rPr lang="en-US" altLang="ko-KR" sz="1100" baseline="0" dirty="0"/>
              <a:t>Tai </a:t>
            </a:r>
            <a:r>
              <a:rPr lang="en-US" altLang="ko-KR" sz="1100" baseline="0" dirty="0" err="1"/>
              <a:t>sao</a:t>
            </a:r>
            <a:r>
              <a:rPr lang="en-US" altLang="ko-KR" sz="1100" baseline="0" dirty="0"/>
              <a:t> pitch issue </a:t>
            </a:r>
            <a:r>
              <a:rPr lang="en-US" altLang="ko-KR" sz="1100" baseline="0" dirty="0" err="1"/>
              <a:t>lại</a:t>
            </a:r>
            <a:r>
              <a:rPr lang="en-US" altLang="ko-KR" sz="1100" baseline="0" dirty="0"/>
              <a:t> </a:t>
            </a:r>
            <a:r>
              <a:rPr lang="en-US" altLang="ko-KR" sz="1100" baseline="0" dirty="0" err="1"/>
              <a:t>chỉ</a:t>
            </a:r>
            <a:r>
              <a:rPr lang="en-US" altLang="ko-KR" sz="1100" baseline="0" dirty="0"/>
              <a:t> dung 4M </a:t>
            </a:r>
            <a:r>
              <a:rPr lang="en-US" altLang="ko-KR" sz="1100" baseline="0" dirty="0" err="1"/>
              <a:t>mà</a:t>
            </a:r>
            <a:r>
              <a:rPr lang="en-US" altLang="ko-KR" sz="1100" baseline="0" dirty="0"/>
              <a:t> </a:t>
            </a:r>
            <a:r>
              <a:rPr lang="en-US" altLang="ko-KR" sz="1100" baseline="0" dirty="0" err="1"/>
              <a:t>ko</a:t>
            </a:r>
            <a:r>
              <a:rPr lang="en-US" altLang="ko-KR" sz="1100" baseline="0" dirty="0"/>
              <a:t> 5M1E? </a:t>
            </a:r>
            <a:r>
              <a:rPr lang="en-US" altLang="ko-KR" sz="1100" baseline="0" dirty="0">
                <a:sym typeface="Wingdings" panose="05000000000000000000" pitchFamily="2" charset="2"/>
              </a:rPr>
              <a:t>do </a:t>
            </a:r>
            <a:r>
              <a:rPr lang="en-US" altLang="ko-KR" sz="1100" baseline="0" dirty="0" err="1">
                <a:sym typeface="Wingdings" panose="05000000000000000000" pitchFamily="2" charset="2"/>
              </a:rPr>
              <a:t>hẹ</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thống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trong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nahf</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máy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đã</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kiểm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định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rồi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certificate </a:t>
            </a:r>
            <a:r>
              <a:rPr lang="en-US" altLang="ko-KR" sz="1100" baseline="0" dirty="0" err="1">
                <a:sym typeface="Wingdings" panose="05000000000000000000" pitchFamily="2" charset="2"/>
              </a:rPr>
              <a:t>rôi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cần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kiêm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lại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nhưng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khi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làm</a:t>
            </a:r>
            <a:r>
              <a:rPr lang="en-US" altLang="ko-KR" sz="1100" baseline="0" dirty="0">
                <a:sym typeface="Wingdings" panose="05000000000000000000" pitchFamily="2" charset="2"/>
              </a:rPr>
              <a:t> 6 sigma </a:t>
            </a:r>
            <a:r>
              <a:rPr lang="en-US" altLang="ko-KR" sz="1100" baseline="0" dirty="0" err="1">
                <a:sym typeface="Wingdings" panose="05000000000000000000" pitchFamily="2" charset="2"/>
              </a:rPr>
              <a:t>vẫn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cần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từ</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đầu</a:t>
            </a:r>
            <a:endParaRPr lang="ko-KR" altLang="en-US" sz="1100" dirty="0"/>
          </a:p>
        </p:txBody>
      </p:sp>
      <p:sp>
        <p:nvSpPr>
          <p:cNvPr id="4" name="슬라이드 번호 개체 틀 3"/>
          <p:cNvSpPr>
            <a:spLocks noGrp="1"/>
          </p:cNvSpPr>
          <p:nvPr>
            <p:ph type="sldNum" sz="quarter" idx="5"/>
          </p:nvPr>
        </p:nvSpPr>
        <p:spPr/>
        <p:txBody>
          <a:bodyPr/>
          <a:lstStyle/>
          <a:p>
            <a:pPr>
              <a:defRPr/>
            </a:pPr>
            <a:fld id="{46DA4DCA-F954-4BFC-A2AB-B4FA7921EB6C}" type="slidenum">
              <a:rPr lang="ko-KR" altLang="en-US" smtClean="0"/>
              <a:pPr>
                <a:defRPr/>
              </a:pPr>
              <a:t>188</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0277431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슬라이드 노트 개체 틀 2"/>
          <p:cNvSpPr>
            <a:spLocks noGrp="1"/>
          </p:cNvSpPr>
          <p:nvPr>
            <p:ph type="body" idx="1"/>
          </p:nvPr>
        </p:nvSpPr>
        <p:spPr/>
        <p:txBody>
          <a:bodyPr>
            <a:normAutofit/>
          </a:bodyPr>
          <a:lstStyle/>
          <a:p>
            <a:pPr>
              <a:defRPr/>
            </a:pPr>
            <a:r>
              <a:rPr lang="en-US" altLang="ko-KR" sz="1100" dirty="0"/>
              <a:t>Accuracy </a:t>
            </a:r>
            <a:r>
              <a:rPr lang="en-US" altLang="ko-KR" sz="1100" dirty="0" err="1"/>
              <a:t>sẽ</a:t>
            </a:r>
            <a:r>
              <a:rPr lang="en-US" altLang="ko-KR" sz="1100" baseline="0" dirty="0"/>
              <a:t> </a:t>
            </a:r>
            <a:r>
              <a:rPr lang="en-US" altLang="ko-KR" sz="1100" baseline="0" dirty="0" err="1"/>
              <a:t>gắn</a:t>
            </a:r>
            <a:r>
              <a:rPr lang="en-US" altLang="ko-KR" sz="1100" baseline="0" dirty="0"/>
              <a:t> </a:t>
            </a:r>
            <a:r>
              <a:rPr lang="en-US" altLang="ko-KR" sz="1100" baseline="0" dirty="0" err="1"/>
              <a:t>liền</a:t>
            </a:r>
            <a:r>
              <a:rPr lang="en-US" altLang="ko-KR" sz="1100" baseline="0" dirty="0"/>
              <a:t> vs target, </a:t>
            </a:r>
            <a:r>
              <a:rPr lang="en-US" altLang="ko-KR" sz="1100" baseline="0" dirty="0" err="1"/>
              <a:t>lệch</a:t>
            </a:r>
            <a:r>
              <a:rPr lang="en-US" altLang="ko-KR" sz="1100" baseline="0" dirty="0"/>
              <a:t> target </a:t>
            </a:r>
            <a:r>
              <a:rPr lang="en-US" altLang="ko-KR" sz="1100" baseline="0" dirty="0" err="1"/>
              <a:t>là</a:t>
            </a:r>
            <a:r>
              <a:rPr lang="en-US" altLang="ko-KR" sz="1100" baseline="0" dirty="0"/>
              <a:t> accuracy </a:t>
            </a:r>
            <a:r>
              <a:rPr lang="en-US" altLang="ko-KR" sz="1100" baseline="0" dirty="0" err="1"/>
              <a:t>kém</a:t>
            </a:r>
            <a:endParaRPr lang="en-US" altLang="ko-KR" sz="1100" baseline="0" dirty="0"/>
          </a:p>
          <a:p>
            <a:pPr>
              <a:defRPr/>
            </a:pPr>
            <a:r>
              <a:rPr lang="en-US" altLang="ko-KR" sz="1100" baseline="0" dirty="0" err="1"/>
              <a:t>Nếu</a:t>
            </a:r>
            <a:r>
              <a:rPr lang="en-US" altLang="ko-KR" sz="1100" baseline="0" dirty="0"/>
              <a:t> </a:t>
            </a:r>
            <a:r>
              <a:rPr lang="en-US" altLang="ko-KR" sz="1100" baseline="0" dirty="0" err="1"/>
              <a:t>đỉnh</a:t>
            </a:r>
            <a:r>
              <a:rPr lang="en-US" altLang="ko-KR" sz="1100" baseline="0" dirty="0"/>
              <a:t> </a:t>
            </a:r>
            <a:r>
              <a:rPr lang="en-US" altLang="ko-KR" sz="1100" baseline="0" dirty="0" err="1"/>
              <a:t>hình</a:t>
            </a:r>
            <a:r>
              <a:rPr lang="en-US" altLang="ko-KR" sz="1100" baseline="0" dirty="0"/>
              <a:t> </a:t>
            </a:r>
            <a:r>
              <a:rPr lang="en-US" altLang="ko-KR" sz="1100" baseline="0" dirty="0" err="1"/>
              <a:t>chuông</a:t>
            </a:r>
            <a:r>
              <a:rPr lang="en-US" altLang="ko-KR" sz="1100" baseline="0" dirty="0"/>
              <a:t> </a:t>
            </a:r>
            <a:r>
              <a:rPr lang="en-US" altLang="ko-KR" sz="1100" baseline="0" dirty="0" err="1"/>
              <a:t>vào</a:t>
            </a:r>
            <a:r>
              <a:rPr lang="en-US" altLang="ko-KR" sz="1100" baseline="0" dirty="0"/>
              <a:t> target </a:t>
            </a:r>
            <a:r>
              <a:rPr lang="en-US" altLang="ko-KR" sz="1100" baseline="0" dirty="0" err="1"/>
              <a:t>thì</a:t>
            </a:r>
            <a:r>
              <a:rPr lang="en-US" altLang="ko-KR" sz="1100" baseline="0" dirty="0"/>
              <a:t> accuracy </a:t>
            </a:r>
            <a:r>
              <a:rPr lang="en-US" altLang="ko-KR" sz="1100" baseline="0" dirty="0" err="1"/>
              <a:t>tôt</a:t>
            </a:r>
            <a:endParaRPr lang="en-US" altLang="ko-KR" sz="1100" baseline="0" dirty="0"/>
          </a:p>
          <a:p>
            <a:pPr>
              <a:defRPr/>
            </a:pPr>
            <a:r>
              <a:rPr lang="en-US" altLang="ko-KR" sz="1100" baseline="0" dirty="0"/>
              <a:t>Precision </a:t>
            </a:r>
            <a:r>
              <a:rPr lang="en-US" altLang="ko-KR" sz="1100" baseline="0" dirty="0" err="1"/>
              <a:t>alf</a:t>
            </a:r>
            <a:r>
              <a:rPr lang="en-US" altLang="ko-KR" sz="1100" baseline="0" dirty="0"/>
              <a:t> </a:t>
            </a:r>
            <a:r>
              <a:rPr lang="en-US" altLang="ko-KR" sz="1100" baseline="0" dirty="0" err="1"/>
              <a:t>sự</a:t>
            </a:r>
            <a:r>
              <a:rPr lang="en-US" altLang="ko-KR" sz="1100" baseline="0" dirty="0"/>
              <a:t> </a:t>
            </a:r>
            <a:r>
              <a:rPr lang="en-US" altLang="ko-KR" sz="1100" baseline="0" dirty="0" err="1"/>
              <a:t>tương</a:t>
            </a:r>
            <a:r>
              <a:rPr lang="en-US" altLang="ko-KR" sz="1100" baseline="0" dirty="0"/>
              <a:t> </a:t>
            </a:r>
            <a:r>
              <a:rPr lang="en-US" altLang="ko-KR" sz="1100" baseline="0" dirty="0" err="1"/>
              <a:t>đồng</a:t>
            </a:r>
            <a:r>
              <a:rPr lang="en-US" altLang="ko-KR" sz="1100" baseline="0" dirty="0"/>
              <a:t> </a:t>
            </a:r>
            <a:r>
              <a:rPr lang="en-US" altLang="ko-KR" sz="1100" baseline="0" dirty="0" err="1"/>
              <a:t>giữa</a:t>
            </a:r>
            <a:r>
              <a:rPr lang="en-US" altLang="ko-KR" sz="1100" baseline="0" dirty="0"/>
              <a:t> </a:t>
            </a:r>
            <a:r>
              <a:rPr lang="en-US" altLang="ko-KR" sz="1100" baseline="0" dirty="0" err="1"/>
              <a:t>các</a:t>
            </a:r>
            <a:r>
              <a:rPr lang="en-US" altLang="ko-KR" sz="1100" baseline="0" dirty="0"/>
              <a:t> </a:t>
            </a:r>
            <a:r>
              <a:rPr lang="en-US" altLang="ko-KR" sz="1100" baseline="0" dirty="0" err="1"/>
              <a:t>dữ</a:t>
            </a:r>
            <a:r>
              <a:rPr lang="en-US" altLang="ko-KR" sz="1100" baseline="0" dirty="0"/>
              <a:t> </a:t>
            </a:r>
            <a:r>
              <a:rPr lang="en-US" altLang="ko-KR" sz="1100" baseline="0" dirty="0" err="1"/>
              <a:t>liệu</a:t>
            </a:r>
            <a:r>
              <a:rPr lang="en-US" altLang="ko-KR" sz="1100" baseline="0" dirty="0"/>
              <a:t> </a:t>
            </a:r>
            <a:r>
              <a:rPr lang="en-US" altLang="ko-KR" sz="1100" baseline="0" dirty="0" err="1"/>
              <a:t>đo</a:t>
            </a:r>
            <a:r>
              <a:rPr lang="en-US" altLang="ko-KR" sz="1100" baseline="0" dirty="0"/>
              <a:t> </a:t>
            </a:r>
            <a:r>
              <a:rPr lang="en-US" altLang="ko-KR" sz="1100" baseline="0" dirty="0" err="1"/>
              <a:t>lường</a:t>
            </a:r>
            <a:r>
              <a:rPr lang="en-US" altLang="ko-KR" sz="1100" baseline="0" dirty="0"/>
              <a:t>/</a:t>
            </a:r>
            <a:r>
              <a:rPr lang="en-US" altLang="ko-KR" sz="1100" baseline="0" dirty="0" err="1"/>
              <a:t>dư</a:t>
            </a:r>
            <a:r>
              <a:rPr lang="en-US" altLang="ko-KR" sz="1100" baseline="0" dirty="0"/>
              <a:t> </a:t>
            </a:r>
            <a:r>
              <a:rPr lang="en-US" altLang="ko-KR" sz="1100" baseline="0" dirty="0" err="1"/>
              <a:t>liệu</a:t>
            </a:r>
            <a:r>
              <a:rPr lang="en-US" altLang="ko-KR" sz="1100" baseline="0" dirty="0"/>
              <a:t> </a:t>
            </a:r>
            <a:r>
              <a:rPr lang="en-US" altLang="ko-KR" sz="1100" baseline="0" dirty="0" err="1"/>
              <a:t>sx</a:t>
            </a:r>
            <a:r>
              <a:rPr lang="en-US" altLang="ko-KR" sz="1100" baseline="0" dirty="0"/>
              <a:t>.</a:t>
            </a:r>
          </a:p>
          <a:p>
            <a:pPr>
              <a:defRPr/>
            </a:pPr>
            <a:r>
              <a:rPr lang="en-US" altLang="ko-KR" sz="1100" baseline="0" dirty="0" err="1"/>
              <a:t>Nếu</a:t>
            </a:r>
            <a:r>
              <a:rPr lang="en-US" altLang="ko-KR" sz="1100" baseline="0" dirty="0"/>
              <a:t> </a:t>
            </a:r>
            <a:r>
              <a:rPr lang="en-US" altLang="ko-KR" sz="1100" baseline="0" dirty="0" err="1"/>
              <a:t>hinh</a:t>
            </a:r>
            <a:r>
              <a:rPr lang="en-US" altLang="ko-KR" sz="1100" baseline="0" dirty="0"/>
              <a:t> </a:t>
            </a:r>
            <a:r>
              <a:rPr lang="en-US" altLang="ko-KR" sz="1100" baseline="0" dirty="0" err="1"/>
              <a:t>chuông</a:t>
            </a:r>
            <a:r>
              <a:rPr lang="en-US" altLang="ko-KR" sz="1100" baseline="0" dirty="0"/>
              <a:t> </a:t>
            </a:r>
            <a:r>
              <a:rPr lang="en-US" altLang="ko-KR" sz="1100" baseline="0" dirty="0" err="1"/>
              <a:t>càng</a:t>
            </a:r>
            <a:r>
              <a:rPr lang="en-US" altLang="ko-KR" sz="1100" baseline="0" dirty="0"/>
              <a:t> </a:t>
            </a:r>
            <a:r>
              <a:rPr lang="en-US" altLang="ko-KR" sz="1100" baseline="0" dirty="0" err="1"/>
              <a:t>hẹp</a:t>
            </a:r>
            <a:r>
              <a:rPr lang="en-US" altLang="ko-KR" sz="1100" baseline="0" dirty="0"/>
              <a:t> </a:t>
            </a:r>
            <a:r>
              <a:rPr lang="en-US" altLang="ko-KR" sz="1100" baseline="0" dirty="0" err="1"/>
              <a:t>thì</a:t>
            </a:r>
            <a:r>
              <a:rPr lang="en-US" altLang="ko-KR" sz="1100" baseline="0" dirty="0"/>
              <a:t> pre..</a:t>
            </a:r>
            <a:r>
              <a:rPr lang="en-US" altLang="ko-KR" sz="1100" baseline="0" dirty="0" err="1"/>
              <a:t>càng</a:t>
            </a:r>
            <a:r>
              <a:rPr lang="en-US" altLang="ko-KR" sz="1100" baseline="0" dirty="0"/>
              <a:t> </a:t>
            </a:r>
            <a:r>
              <a:rPr lang="en-US" altLang="ko-KR" sz="1100" baseline="0" dirty="0" err="1"/>
              <a:t>tốt</a:t>
            </a:r>
            <a:endParaRPr lang="en-US" altLang="ko-KR" sz="1100" baseline="0" dirty="0"/>
          </a:p>
          <a:p>
            <a:pPr>
              <a:defRPr/>
            </a:pPr>
            <a:r>
              <a:rPr lang="en-US" altLang="ko-KR" sz="1100" baseline="0" dirty="0" err="1"/>
              <a:t>Đỉnh</a:t>
            </a:r>
            <a:r>
              <a:rPr lang="en-US" altLang="ko-KR" sz="1100" baseline="0" dirty="0"/>
              <a:t> </a:t>
            </a:r>
            <a:r>
              <a:rPr lang="en-US" altLang="ko-KR" sz="1100" baseline="0" dirty="0" err="1"/>
              <a:t>hinh</a:t>
            </a:r>
            <a:r>
              <a:rPr lang="en-US" altLang="ko-KR" sz="1100" baseline="0" dirty="0"/>
              <a:t> </a:t>
            </a:r>
            <a:r>
              <a:rPr lang="en-US" altLang="ko-KR" sz="1100" baseline="0" dirty="0" err="1"/>
              <a:t>chuông</a:t>
            </a:r>
            <a:r>
              <a:rPr lang="en-US" altLang="ko-KR" sz="1100" baseline="0" dirty="0"/>
              <a:t> </a:t>
            </a:r>
            <a:r>
              <a:rPr lang="en-US" altLang="ko-KR" sz="1100" baseline="0" dirty="0" err="1"/>
              <a:t>đc</a:t>
            </a:r>
            <a:r>
              <a:rPr lang="en-US" altLang="ko-KR" sz="1100" baseline="0" dirty="0"/>
              <a:t> </a:t>
            </a:r>
            <a:r>
              <a:rPr lang="en-US" altLang="ko-KR" sz="1100" baseline="0" dirty="0" err="1"/>
              <a:t>xđ</a:t>
            </a:r>
            <a:r>
              <a:rPr lang="en-US" altLang="ko-KR" sz="1100" baseline="0" dirty="0"/>
              <a:t> </a:t>
            </a:r>
            <a:r>
              <a:rPr lang="en-US" altLang="ko-KR" sz="1100" baseline="0" dirty="0" err="1"/>
              <a:t>bởi</a:t>
            </a:r>
            <a:r>
              <a:rPr lang="en-US" altLang="ko-KR" sz="1100" baseline="0" dirty="0"/>
              <a:t> </a:t>
            </a:r>
            <a:r>
              <a:rPr lang="en-US" altLang="ko-KR" sz="1100" baseline="0" dirty="0" err="1"/>
              <a:t>gtri</a:t>
            </a:r>
            <a:r>
              <a:rPr lang="en-US" altLang="ko-KR" sz="1100" baseline="0" dirty="0"/>
              <a:t> </a:t>
            </a:r>
            <a:r>
              <a:rPr lang="en-US" altLang="ko-KR" sz="1100" baseline="0" dirty="0" err="1"/>
              <a:t>trung</a:t>
            </a:r>
            <a:r>
              <a:rPr lang="en-US" altLang="ko-KR" sz="1100" baseline="0" dirty="0"/>
              <a:t> </a:t>
            </a:r>
            <a:r>
              <a:rPr lang="en-US" altLang="ko-KR" sz="1100" baseline="0" dirty="0" err="1"/>
              <a:t>bình</a:t>
            </a:r>
            <a:r>
              <a:rPr lang="en-US" altLang="ko-KR" sz="1100" baseline="0" dirty="0"/>
              <a:t>, </a:t>
            </a:r>
            <a:r>
              <a:rPr lang="en-US" altLang="ko-KR" sz="1100" baseline="0" dirty="0" err="1"/>
              <a:t>độ</a:t>
            </a:r>
            <a:r>
              <a:rPr lang="en-US" altLang="ko-KR" sz="1100" baseline="0" dirty="0"/>
              <a:t> </a:t>
            </a:r>
            <a:r>
              <a:rPr lang="en-US" altLang="ko-KR" sz="1100" baseline="0" dirty="0" err="1"/>
              <a:t>rộng</a:t>
            </a:r>
            <a:r>
              <a:rPr lang="en-US" altLang="ko-KR" sz="1100" baseline="0" dirty="0"/>
              <a:t> </a:t>
            </a:r>
            <a:r>
              <a:rPr lang="en-US" altLang="ko-KR" sz="1100" baseline="0" dirty="0" err="1"/>
              <a:t>hẹp</a:t>
            </a:r>
            <a:r>
              <a:rPr lang="en-US" altLang="ko-KR" sz="1100" baseline="0" dirty="0"/>
              <a:t> </a:t>
            </a:r>
            <a:r>
              <a:rPr lang="en-US" altLang="ko-KR" sz="1100" baseline="0" dirty="0" err="1"/>
              <a:t>của</a:t>
            </a:r>
            <a:r>
              <a:rPr lang="en-US" altLang="ko-KR" sz="1100" baseline="0" dirty="0"/>
              <a:t> </a:t>
            </a:r>
            <a:r>
              <a:rPr lang="en-US" altLang="ko-KR" sz="1100" baseline="0" dirty="0" err="1"/>
              <a:t>chuông</a:t>
            </a:r>
            <a:r>
              <a:rPr lang="en-US" altLang="ko-KR" sz="1100" baseline="0" dirty="0"/>
              <a:t> </a:t>
            </a:r>
            <a:r>
              <a:rPr lang="en-US" altLang="ko-KR" sz="1100" baseline="0" dirty="0" err="1"/>
              <a:t>quyết</a:t>
            </a:r>
            <a:r>
              <a:rPr lang="en-US" altLang="ko-KR" sz="1100" baseline="0" dirty="0"/>
              <a:t> </a:t>
            </a:r>
            <a:r>
              <a:rPr lang="en-US" altLang="ko-KR" sz="1100" baseline="0" dirty="0" err="1"/>
              <a:t>định</a:t>
            </a:r>
            <a:r>
              <a:rPr lang="en-US" altLang="ko-KR" sz="1100" baseline="0" dirty="0"/>
              <a:t> </a:t>
            </a:r>
            <a:r>
              <a:rPr lang="en-US" altLang="ko-KR" sz="1100" baseline="0" dirty="0" err="1"/>
              <a:t>bởi</a:t>
            </a:r>
            <a:r>
              <a:rPr lang="en-US" altLang="ko-KR" sz="1100" baseline="0" dirty="0"/>
              <a:t> </a:t>
            </a:r>
            <a:r>
              <a:rPr lang="en-US" altLang="ko-KR" sz="1100" baseline="0" dirty="0" err="1"/>
              <a:t>độ</a:t>
            </a:r>
            <a:r>
              <a:rPr lang="en-US" altLang="ko-KR" sz="1100" baseline="0" dirty="0"/>
              <a:t> </a:t>
            </a:r>
            <a:r>
              <a:rPr lang="en-US" altLang="ko-KR" sz="1100" baseline="0" dirty="0" err="1"/>
              <a:t>lêch</a:t>
            </a:r>
            <a:r>
              <a:rPr lang="en-US" altLang="ko-KR" sz="1100" baseline="0" dirty="0"/>
              <a:t> </a:t>
            </a:r>
            <a:r>
              <a:rPr lang="en-US" altLang="ko-KR" sz="1100" baseline="0" dirty="0" err="1"/>
              <a:t>chuẩn</a:t>
            </a:r>
            <a:endParaRPr lang="en-US" altLang="ko-KR" sz="1100" baseline="0" dirty="0"/>
          </a:p>
          <a:p>
            <a:pPr>
              <a:defRPr/>
            </a:pPr>
            <a:r>
              <a:rPr lang="en-US" altLang="ko-KR" sz="1100" baseline="0" dirty="0"/>
              <a:t>X bar </a:t>
            </a:r>
            <a:r>
              <a:rPr lang="en-US" altLang="ko-KR" sz="1100" baseline="0" dirty="0" err="1"/>
              <a:t>liên</a:t>
            </a:r>
            <a:r>
              <a:rPr lang="en-US" altLang="ko-KR" sz="1100" baseline="0" dirty="0"/>
              <a:t> </a:t>
            </a:r>
            <a:r>
              <a:rPr lang="en-US" altLang="ko-KR" sz="1100" baseline="0" dirty="0" err="1"/>
              <a:t>quan</a:t>
            </a:r>
            <a:r>
              <a:rPr lang="en-US" altLang="ko-KR" sz="1100" baseline="0" dirty="0"/>
              <a:t> </a:t>
            </a:r>
            <a:r>
              <a:rPr lang="en-US" altLang="ko-KR" sz="1100" baseline="0" dirty="0" err="1"/>
              <a:t>đến</a:t>
            </a:r>
            <a:r>
              <a:rPr lang="en-US" altLang="ko-KR" sz="1100" baseline="0" dirty="0"/>
              <a:t> accuracy, s </a:t>
            </a:r>
            <a:r>
              <a:rPr lang="en-US" altLang="ko-KR" sz="1100" baseline="0" dirty="0" err="1"/>
              <a:t>liên</a:t>
            </a:r>
            <a:r>
              <a:rPr lang="en-US" altLang="ko-KR" sz="1100" baseline="0" dirty="0"/>
              <a:t> </a:t>
            </a:r>
            <a:r>
              <a:rPr lang="en-US" altLang="ko-KR" sz="1100" baseline="0" dirty="0" err="1"/>
              <a:t>quan</a:t>
            </a:r>
            <a:r>
              <a:rPr lang="en-US" altLang="ko-KR" sz="1100" baseline="0" dirty="0"/>
              <a:t> </a:t>
            </a:r>
            <a:r>
              <a:rPr lang="en-US" altLang="ko-KR" sz="1100" baseline="0" dirty="0" err="1"/>
              <a:t>đến</a:t>
            </a:r>
            <a:r>
              <a:rPr lang="en-US" altLang="ko-KR" sz="1100" baseline="0" dirty="0"/>
              <a:t> precision</a:t>
            </a:r>
          </a:p>
          <a:p>
            <a:pPr>
              <a:defRPr/>
            </a:pPr>
            <a:r>
              <a:rPr lang="en-US" altLang="ko-KR" sz="1100" baseline="0" dirty="0"/>
              <a:t>Validity </a:t>
            </a:r>
            <a:r>
              <a:rPr lang="en-US" altLang="ko-KR" sz="1100" baseline="0" dirty="0" err="1"/>
              <a:t>là</a:t>
            </a:r>
            <a:r>
              <a:rPr lang="en-US" altLang="ko-KR" sz="1100" baseline="0" dirty="0"/>
              <a:t> </a:t>
            </a:r>
            <a:r>
              <a:rPr lang="en-US" altLang="ko-KR" sz="1100" baseline="0" dirty="0" err="1"/>
              <a:t>độ</a:t>
            </a:r>
            <a:r>
              <a:rPr lang="en-US" altLang="ko-KR" sz="1100" baseline="0" dirty="0"/>
              <a:t> </a:t>
            </a:r>
            <a:r>
              <a:rPr lang="en-US" altLang="ko-KR" sz="1100" baseline="0" dirty="0" err="1"/>
              <a:t>phù</a:t>
            </a:r>
            <a:r>
              <a:rPr lang="en-US" altLang="ko-KR" sz="1100" baseline="0" dirty="0"/>
              <a:t> </a:t>
            </a:r>
            <a:r>
              <a:rPr lang="en-US" altLang="ko-KR" sz="1100" baseline="0" dirty="0" err="1"/>
              <a:t>hợp</a:t>
            </a:r>
            <a:r>
              <a:rPr lang="en-US" altLang="ko-KR" sz="1100" baseline="0" dirty="0"/>
              <a:t> </a:t>
            </a:r>
            <a:r>
              <a:rPr lang="en-US" altLang="ko-KR" sz="1100" baseline="0" dirty="0" err="1"/>
              <a:t>của</a:t>
            </a:r>
            <a:r>
              <a:rPr lang="en-US" altLang="ko-KR" sz="1100" baseline="0" dirty="0"/>
              <a:t> </a:t>
            </a:r>
            <a:r>
              <a:rPr lang="en-US" altLang="ko-KR" sz="1100" baseline="0" dirty="0" err="1"/>
              <a:t>hệ</a:t>
            </a:r>
            <a:r>
              <a:rPr lang="en-US" altLang="ko-KR" sz="1100" baseline="0" dirty="0"/>
              <a:t> </a:t>
            </a:r>
            <a:r>
              <a:rPr lang="en-US" altLang="ko-KR" sz="1100" baseline="0" dirty="0" err="1"/>
              <a:t>thống</a:t>
            </a:r>
            <a:r>
              <a:rPr lang="en-US" altLang="ko-KR" sz="1100" baseline="0" dirty="0"/>
              <a:t> </a:t>
            </a:r>
            <a:r>
              <a:rPr lang="en-US" altLang="ko-KR" sz="1100" baseline="0" dirty="0" err="1"/>
              <a:t>đo</a:t>
            </a:r>
            <a:r>
              <a:rPr lang="en-US" altLang="ko-KR" sz="1100" baseline="0" dirty="0"/>
              <a:t> </a:t>
            </a:r>
            <a:r>
              <a:rPr lang="en-US" altLang="ko-KR" sz="1100" baseline="0" dirty="0" err="1"/>
              <a:t>lường</a:t>
            </a:r>
            <a:r>
              <a:rPr lang="en-US" altLang="ko-KR" sz="1100" baseline="0" dirty="0"/>
              <a:t> vs </a:t>
            </a:r>
            <a:r>
              <a:rPr lang="en-US" altLang="ko-KR" sz="1100" baseline="0" dirty="0" err="1"/>
              <a:t>vật</a:t>
            </a:r>
            <a:r>
              <a:rPr lang="en-US" altLang="ko-KR" sz="1100" baseline="0" dirty="0"/>
              <a:t> </a:t>
            </a:r>
            <a:r>
              <a:rPr lang="en-US" altLang="ko-KR" sz="1100" baseline="0" dirty="0" err="1"/>
              <a:t>cần</a:t>
            </a:r>
            <a:r>
              <a:rPr lang="en-US" altLang="ko-KR" sz="1100" baseline="0" dirty="0"/>
              <a:t> </a:t>
            </a:r>
            <a:r>
              <a:rPr lang="en-US" altLang="ko-KR" sz="1100" baseline="0" dirty="0" err="1"/>
              <a:t>đo</a:t>
            </a:r>
            <a:r>
              <a:rPr lang="en-US" altLang="ko-KR" sz="1100" baseline="0" dirty="0"/>
              <a:t> </a:t>
            </a:r>
            <a:r>
              <a:rPr lang="en-US" altLang="ko-KR" sz="1100" baseline="0" dirty="0">
                <a:sym typeface="Wingdings" panose="05000000000000000000" pitchFamily="2" charset="2"/>
              </a:rPr>
              <a:t> VD: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vòng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eo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bằng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thước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mét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thì</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pphuf</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hợp</a:t>
            </a:r>
            <a:endParaRPr lang="en-US" altLang="ko-KR" sz="1100" baseline="0" dirty="0">
              <a:sym typeface="Wingdings" panose="05000000000000000000" pitchFamily="2" charset="2"/>
            </a:endParaRPr>
          </a:p>
          <a:p>
            <a:pPr>
              <a:defRPr/>
            </a:pPr>
            <a:r>
              <a:rPr lang="en-US" altLang="ko-KR" sz="1100" baseline="0" dirty="0" err="1">
                <a:sym typeface="Wingdings" panose="05000000000000000000" pitchFamily="2" charset="2"/>
              </a:rPr>
              <a:t>Valadity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thứ</a:t>
            </a:r>
            <a:r>
              <a:rPr lang="en-US" altLang="ko-KR" sz="1100" baseline="0" dirty="0">
                <a:sym typeface="Wingdings" panose="05000000000000000000" pitchFamily="2" charset="2"/>
              </a:rPr>
              <a:t> 2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fai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xác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những</a:t>
            </a:r>
            <a:r>
              <a:rPr lang="en-US" altLang="ko-KR" sz="1100" baseline="0" dirty="0">
                <a:sym typeface="Wingdings" panose="05000000000000000000" pitchFamily="2" charset="2"/>
              </a:rPr>
              <a:t> j ban </a:t>
            </a:r>
            <a:r>
              <a:rPr lang="en-US" altLang="ko-KR" sz="1100" baseline="0" dirty="0" err="1">
                <a:sym typeface="Wingdings" panose="05000000000000000000" pitchFamily="2" charset="2"/>
              </a:rPr>
              <a:t>muốn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VD </a:t>
            </a:r>
            <a:r>
              <a:rPr lang="en-US" altLang="ko-KR" sz="1100" baseline="0" dirty="0" err="1">
                <a:sym typeface="Wingdings" panose="05000000000000000000" pitchFamily="2" charset="2"/>
              </a:rPr>
              <a:t>để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hiệu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quả</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của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chế</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độ</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giảm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cân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thì</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fai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cái</a:t>
            </a:r>
            <a:r>
              <a:rPr lang="en-US" altLang="ko-KR" sz="1100" baseline="0" dirty="0">
                <a:sym typeface="Wingdings" panose="05000000000000000000" pitchFamily="2" charset="2"/>
              </a:rPr>
              <a:t> j: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cần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nặng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lượng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mỡ</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nếu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validity </a:t>
            </a:r>
            <a:r>
              <a:rPr lang="en-US" altLang="ko-KR" sz="1100" baseline="0" dirty="0" err="1">
                <a:sym typeface="Wingdings" panose="05000000000000000000" pitchFamily="2" charset="2"/>
              </a:rPr>
              <a:t>bằng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chiều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cao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sai</a:t>
            </a:r>
            <a:endParaRPr lang="en-US" altLang="ko-KR" sz="1100" baseline="0" dirty="0">
              <a:sym typeface="Wingdings" panose="05000000000000000000" pitchFamily="2" charset="2"/>
            </a:endParaRPr>
          </a:p>
          <a:p>
            <a:pPr>
              <a:defRPr/>
            </a:pPr>
            <a:r>
              <a:rPr lang="en-US" altLang="ko-KR" sz="1100" baseline="0" dirty="0">
                <a:sym typeface="Wingdings" panose="05000000000000000000" pitchFamily="2" charset="2"/>
              </a:rPr>
              <a:t>2 </a:t>
            </a:r>
            <a:r>
              <a:rPr lang="en-US" altLang="ko-KR" sz="1100" baseline="0" dirty="0" err="1">
                <a:sym typeface="Wingdings" panose="05000000000000000000" pitchFamily="2" charset="2"/>
              </a:rPr>
              <a:t>yếu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tố</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xet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duêth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thực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tế</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còn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kỹ</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thuật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j: VD </a:t>
            </a:r>
            <a:r>
              <a:rPr lang="en-US" altLang="ko-KR" sz="1100" baseline="0" dirty="0" err="1">
                <a:sym typeface="Wingdings" panose="05000000000000000000" pitchFamily="2" charset="2"/>
              </a:rPr>
              <a:t>thước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kẻ</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sẽ</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những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thông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số</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nào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phạm</a:t>
            </a:r>
            <a:r>
              <a:rPr lang="en-US" altLang="ko-KR" sz="1100" baseline="0" dirty="0">
                <a:sym typeface="Wingdings" panose="05000000000000000000" pitchFamily="2" charset="2"/>
              </a:rPr>
              <a:t> vi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của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hệ</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thốngRange</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độ</a:t>
            </a:r>
            <a:r>
              <a:rPr lang="en-US" altLang="ko-KR" sz="1100" baseline="0" dirty="0">
                <a:sym typeface="Wingdings" panose="05000000000000000000" pitchFamily="2" charset="2"/>
              </a:rPr>
              <a:t> chia </a:t>
            </a:r>
            <a:r>
              <a:rPr lang="en-US" altLang="ko-KR" sz="1100" baseline="0" dirty="0" err="1">
                <a:sym typeface="Wingdings" panose="05000000000000000000" pitchFamily="2" charset="2"/>
              </a:rPr>
              <a:t>nhỏ</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nhất</a:t>
            </a:r>
            <a:r>
              <a:rPr lang="en-US" altLang="ko-KR" sz="1100" baseline="0" dirty="0">
                <a:sym typeface="Wingdings" panose="05000000000000000000" pitchFamily="2" charset="2"/>
              </a:rPr>
              <a:t>/</a:t>
            </a:r>
            <a:r>
              <a:rPr lang="en-US" altLang="ko-KR" sz="1100" baseline="0" dirty="0" err="1">
                <a:sym typeface="Wingdings" panose="05000000000000000000" pitchFamily="2" charset="2"/>
              </a:rPr>
              <a:t>độ</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phân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giải</a:t>
            </a:r>
            <a:r>
              <a:rPr lang="en-US" altLang="ko-KR" sz="1100" baseline="0" dirty="0">
                <a:sym typeface="Wingdings" panose="05000000000000000000" pitchFamily="2" charset="2"/>
              </a:rPr>
              <a:t> resolution</a:t>
            </a:r>
            <a:endParaRPr lang="ko-KR" altLang="en-US" sz="1100" dirty="0"/>
          </a:p>
        </p:txBody>
      </p:sp>
      <p:sp>
        <p:nvSpPr>
          <p:cNvPr id="4" name="슬라이드 번호 개체 틀 3"/>
          <p:cNvSpPr>
            <a:spLocks noGrp="1"/>
          </p:cNvSpPr>
          <p:nvPr>
            <p:ph type="sldNum" sz="quarter" idx="5"/>
          </p:nvPr>
        </p:nvSpPr>
        <p:spPr/>
        <p:txBody>
          <a:bodyPr/>
          <a:lstStyle/>
          <a:p>
            <a:pPr>
              <a:defRPr/>
            </a:pPr>
            <a:fld id="{150F00E4-71C8-48D3-A132-B5FE262127ED}" type="slidenum">
              <a:rPr lang="ko-KR" altLang="en-US" smtClean="0"/>
              <a:pPr>
                <a:defRPr/>
              </a:pPr>
              <a:t>189</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400602329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슬라이드 노트 개체 틀 2"/>
          <p:cNvSpPr>
            <a:spLocks noGrp="1"/>
          </p:cNvSpPr>
          <p:nvPr>
            <p:ph type="body" idx="1"/>
          </p:nvPr>
        </p:nvSpPr>
        <p:spPr/>
        <p:txBody>
          <a:bodyPr>
            <a:normAutofit fontScale="92500" lnSpcReduction="20000"/>
          </a:bodyPr>
          <a:lstStyle/>
          <a:p>
            <a:pPr>
              <a:defRPr/>
            </a:pPr>
            <a:r>
              <a:rPr lang="en-US" altLang="ko-KR" sz="1100" dirty="0"/>
              <a:t>Accuracy: </a:t>
            </a:r>
            <a:r>
              <a:rPr lang="en-US" altLang="ko-KR" sz="1100" dirty="0" err="1"/>
              <a:t>độ</a:t>
            </a:r>
            <a:r>
              <a:rPr lang="en-US" altLang="ko-KR" sz="1100" baseline="0" dirty="0"/>
              <a:t> </a:t>
            </a:r>
            <a:r>
              <a:rPr lang="en-US" altLang="ko-KR" sz="1100" baseline="0" dirty="0" err="1"/>
              <a:t>chính</a:t>
            </a:r>
            <a:r>
              <a:rPr lang="en-US" altLang="ko-KR" sz="1100" baseline="0" dirty="0"/>
              <a:t> </a:t>
            </a:r>
            <a:r>
              <a:rPr lang="en-US" altLang="ko-KR" sz="1100" baseline="0" dirty="0" err="1"/>
              <a:t>xác</a:t>
            </a:r>
            <a:r>
              <a:rPr lang="en-US" altLang="ko-KR" sz="1100" baseline="0" dirty="0"/>
              <a:t> so vs target</a:t>
            </a:r>
          </a:p>
          <a:p>
            <a:pPr>
              <a:defRPr/>
            </a:pPr>
            <a:r>
              <a:rPr lang="en-US" altLang="ko-KR" sz="1100" baseline="0" dirty="0" err="1"/>
              <a:t>Bía</a:t>
            </a:r>
            <a:r>
              <a:rPr lang="en-US" altLang="ko-KR" sz="1100" baseline="0" dirty="0"/>
              <a:t> </a:t>
            </a:r>
            <a:r>
              <a:rPr lang="en-US" altLang="ko-KR" sz="1100" baseline="0" dirty="0" err="1"/>
              <a:t>là</a:t>
            </a:r>
            <a:r>
              <a:rPr lang="en-US" altLang="ko-KR" sz="1100" baseline="0" dirty="0"/>
              <a:t> </a:t>
            </a:r>
            <a:r>
              <a:rPr lang="en-US" altLang="ko-KR" sz="1100" baseline="0" dirty="0" err="1"/>
              <a:t>chênh</a:t>
            </a:r>
            <a:r>
              <a:rPr lang="en-US" altLang="ko-KR" sz="1100" baseline="0" dirty="0"/>
              <a:t> </a:t>
            </a:r>
            <a:r>
              <a:rPr lang="en-US" altLang="ko-KR" sz="1100" baseline="0" dirty="0" err="1"/>
              <a:t>lệc</a:t>
            </a:r>
            <a:r>
              <a:rPr lang="en-US" altLang="ko-KR" sz="1100" baseline="0" dirty="0"/>
              <a:t> </a:t>
            </a:r>
            <a:r>
              <a:rPr lang="en-US" altLang="ko-KR" sz="1100" baseline="0" dirty="0" err="1"/>
              <a:t>giữa</a:t>
            </a:r>
            <a:r>
              <a:rPr lang="en-US" altLang="ko-KR" sz="1100" baseline="0" dirty="0"/>
              <a:t> </a:t>
            </a:r>
            <a:r>
              <a:rPr lang="en-US" altLang="ko-KR" sz="1100" baseline="0" dirty="0" err="1"/>
              <a:t>gtrij</a:t>
            </a:r>
            <a:r>
              <a:rPr lang="en-US" altLang="ko-KR" sz="1100" baseline="0" dirty="0"/>
              <a:t> </a:t>
            </a:r>
            <a:r>
              <a:rPr lang="en-US" altLang="ko-KR" sz="1100" baseline="0" dirty="0" err="1"/>
              <a:t>đo</a:t>
            </a:r>
            <a:r>
              <a:rPr lang="en-US" altLang="ko-KR" sz="1100" baseline="0" dirty="0"/>
              <a:t> </a:t>
            </a:r>
            <a:r>
              <a:rPr lang="en-US" altLang="ko-KR" sz="1100" baseline="0" dirty="0" err="1"/>
              <a:t>lường</a:t>
            </a:r>
            <a:r>
              <a:rPr lang="en-US" altLang="ko-KR" sz="1100" baseline="0" dirty="0"/>
              <a:t> </a:t>
            </a:r>
            <a:r>
              <a:rPr lang="en-US" altLang="ko-KR" sz="1100" baseline="0" dirty="0" err="1"/>
              <a:t>đc</a:t>
            </a:r>
            <a:r>
              <a:rPr lang="en-US" altLang="ko-KR" sz="1100" baseline="0" dirty="0"/>
              <a:t> vs </a:t>
            </a:r>
            <a:r>
              <a:rPr lang="en-US" altLang="ko-KR" sz="1100" baseline="0" dirty="0" err="1"/>
              <a:t>giá</a:t>
            </a:r>
            <a:r>
              <a:rPr lang="en-US" altLang="ko-KR" sz="1100" baseline="0" dirty="0"/>
              <a:t> </a:t>
            </a:r>
            <a:r>
              <a:rPr lang="en-US" altLang="ko-KR" sz="1100" baseline="0" dirty="0" err="1"/>
              <a:t>trị</a:t>
            </a:r>
            <a:r>
              <a:rPr lang="en-US" altLang="ko-KR" sz="1100" baseline="0" dirty="0"/>
              <a:t> reference (</a:t>
            </a:r>
            <a:r>
              <a:rPr lang="en-US" altLang="ko-KR" sz="1100" baseline="0" dirty="0" err="1"/>
              <a:t>gtri</a:t>
            </a:r>
            <a:r>
              <a:rPr lang="en-US" altLang="ko-KR" sz="1100" baseline="0" dirty="0"/>
              <a:t> </a:t>
            </a:r>
            <a:r>
              <a:rPr lang="en-US" altLang="ko-KR" sz="1100" baseline="0" dirty="0" err="1"/>
              <a:t>tham</a:t>
            </a:r>
            <a:r>
              <a:rPr lang="en-US" altLang="ko-KR" sz="1100" baseline="0" dirty="0"/>
              <a:t> </a:t>
            </a:r>
            <a:r>
              <a:rPr lang="en-US" altLang="ko-KR" sz="1100" baseline="0" dirty="0" err="1"/>
              <a:t>chiếu</a:t>
            </a:r>
            <a:r>
              <a:rPr lang="en-US" altLang="ko-KR" sz="1100" baseline="0" dirty="0"/>
              <a:t>)</a:t>
            </a:r>
          </a:p>
          <a:p>
            <a:pPr>
              <a:defRPr/>
            </a:pPr>
            <a:r>
              <a:rPr lang="en-US" altLang="ko-KR" sz="1100" baseline="0" dirty="0"/>
              <a:t>VD: minh </a:t>
            </a:r>
            <a:r>
              <a:rPr lang="en-US" altLang="ko-KR" sz="1100" baseline="0" dirty="0" err="1"/>
              <a:t>biết</a:t>
            </a:r>
            <a:r>
              <a:rPr lang="en-US" altLang="ko-KR" sz="1100" baseline="0" dirty="0"/>
              <a:t> minh 60kg </a:t>
            </a:r>
            <a:r>
              <a:rPr lang="en-US" altLang="ko-KR" sz="1100" baseline="0" dirty="0" err="1"/>
              <a:t>mà</a:t>
            </a:r>
            <a:r>
              <a:rPr lang="en-US" altLang="ko-KR" sz="1100" baseline="0" dirty="0"/>
              <a:t> </a:t>
            </a:r>
            <a:r>
              <a:rPr lang="en-US" altLang="ko-KR" sz="1100" baseline="0" dirty="0" err="1"/>
              <a:t>đứng</a:t>
            </a:r>
            <a:r>
              <a:rPr lang="en-US" altLang="ko-KR" sz="1100" baseline="0" dirty="0"/>
              <a:t> </a:t>
            </a:r>
            <a:r>
              <a:rPr lang="en-US" altLang="ko-KR" sz="1100" baseline="0" dirty="0" err="1"/>
              <a:t>lên</a:t>
            </a:r>
            <a:r>
              <a:rPr lang="en-US" altLang="ko-KR" sz="1100" baseline="0" dirty="0"/>
              <a:t> </a:t>
            </a:r>
            <a:r>
              <a:rPr lang="en-US" altLang="ko-KR" sz="1100" baseline="0" dirty="0" err="1"/>
              <a:t>cân</a:t>
            </a:r>
            <a:r>
              <a:rPr lang="en-US" altLang="ko-KR" sz="1100" baseline="0" dirty="0"/>
              <a:t> </a:t>
            </a:r>
            <a:r>
              <a:rPr lang="en-US" altLang="ko-KR" sz="1100" baseline="0" dirty="0" err="1"/>
              <a:t>chỉ</a:t>
            </a:r>
            <a:r>
              <a:rPr lang="en-US" altLang="ko-KR" sz="1100" baseline="0" dirty="0"/>
              <a:t> </a:t>
            </a:r>
            <a:r>
              <a:rPr lang="en-US" altLang="ko-KR" sz="1100" baseline="0" dirty="0" err="1"/>
              <a:t>đc</a:t>
            </a:r>
            <a:r>
              <a:rPr lang="en-US" altLang="ko-KR" sz="1100" baseline="0" dirty="0"/>
              <a:t> 58kg, </a:t>
            </a:r>
            <a:r>
              <a:rPr lang="en-US" altLang="ko-KR" sz="1100" baseline="0" dirty="0" err="1"/>
              <a:t>nghia</a:t>
            </a:r>
            <a:r>
              <a:rPr lang="en-US" altLang="ko-KR" sz="1100" baseline="0" dirty="0"/>
              <a:t> </a:t>
            </a:r>
            <a:r>
              <a:rPr lang="en-US" altLang="ko-KR" sz="1100" baseline="0" dirty="0" err="1"/>
              <a:t>là</a:t>
            </a:r>
            <a:r>
              <a:rPr lang="en-US" altLang="ko-KR" sz="1100" baseline="0" dirty="0"/>
              <a:t> bias = 2kg</a:t>
            </a:r>
          </a:p>
          <a:p>
            <a:pPr>
              <a:defRPr/>
            </a:pPr>
            <a:r>
              <a:rPr lang="en-US" altLang="ko-KR" sz="1100" baseline="0" dirty="0" err="1"/>
              <a:t>Khó</a:t>
            </a:r>
            <a:r>
              <a:rPr lang="en-US" altLang="ko-KR" sz="1100" baseline="0" dirty="0"/>
              <a:t> khan ở </a:t>
            </a:r>
            <a:r>
              <a:rPr lang="en-US" altLang="ko-KR" sz="1100" baseline="0" dirty="0" err="1"/>
              <a:t>đây</a:t>
            </a:r>
            <a:r>
              <a:rPr lang="en-US" altLang="ko-KR" sz="1100" baseline="0" dirty="0"/>
              <a:t> </a:t>
            </a:r>
            <a:r>
              <a:rPr lang="en-US" altLang="ko-KR" sz="1100" baseline="0" dirty="0" err="1"/>
              <a:t>là</a:t>
            </a:r>
            <a:r>
              <a:rPr lang="en-US" altLang="ko-KR" sz="1100" baseline="0" dirty="0"/>
              <a:t> lam </a:t>
            </a:r>
            <a:r>
              <a:rPr lang="en-US" altLang="ko-KR" sz="1100" baseline="0" dirty="0" err="1"/>
              <a:t>thê</a:t>
            </a:r>
            <a:r>
              <a:rPr lang="en-US" altLang="ko-KR" sz="1100" baseline="0" dirty="0"/>
              <a:t> </a:t>
            </a:r>
            <a:r>
              <a:rPr lang="en-US" altLang="ko-KR" sz="1100" baseline="0" dirty="0" err="1"/>
              <a:t>nao</a:t>
            </a:r>
            <a:r>
              <a:rPr lang="en-US" altLang="ko-KR" sz="1100" baseline="0" dirty="0"/>
              <a:t> </a:t>
            </a:r>
            <a:r>
              <a:rPr lang="en-US" altLang="ko-KR" sz="1100" baseline="0" dirty="0" err="1"/>
              <a:t>để</a:t>
            </a:r>
            <a:r>
              <a:rPr lang="en-US" altLang="ko-KR" sz="1100" baseline="0" dirty="0"/>
              <a:t> </a:t>
            </a:r>
            <a:r>
              <a:rPr lang="en-US" altLang="ko-KR" sz="1100" baseline="0" dirty="0" err="1"/>
              <a:t>biết</a:t>
            </a:r>
            <a:r>
              <a:rPr lang="en-US" altLang="ko-KR" sz="1100" baseline="0" dirty="0"/>
              <a:t> </a:t>
            </a:r>
            <a:r>
              <a:rPr lang="en-US" altLang="ko-KR" sz="1100" baseline="0" dirty="0" err="1"/>
              <a:t>gtri</a:t>
            </a:r>
            <a:r>
              <a:rPr lang="en-US" altLang="ko-KR" sz="1100" baseline="0" dirty="0"/>
              <a:t> </a:t>
            </a:r>
            <a:r>
              <a:rPr lang="en-US" altLang="ko-KR" sz="1100" baseline="0" dirty="0" err="1"/>
              <a:t>tham</a:t>
            </a:r>
            <a:r>
              <a:rPr lang="en-US" altLang="ko-KR" sz="1100" baseline="0" dirty="0"/>
              <a:t> </a:t>
            </a:r>
            <a:r>
              <a:rPr lang="en-US" altLang="ko-KR" sz="1100" baseline="0" dirty="0" err="1"/>
              <a:t>chiều</a:t>
            </a:r>
            <a:r>
              <a:rPr lang="en-US" altLang="ko-KR" sz="1100" baseline="0" dirty="0"/>
              <a:t> </a:t>
            </a:r>
            <a:r>
              <a:rPr lang="en-US" altLang="ko-KR" sz="1100" baseline="0" dirty="0" err="1"/>
              <a:t>bằng</a:t>
            </a:r>
            <a:r>
              <a:rPr lang="en-US" altLang="ko-KR" sz="1100" baseline="0" dirty="0"/>
              <a:t> </a:t>
            </a:r>
            <a:r>
              <a:rPr lang="en-US" altLang="ko-KR" sz="1100" baseline="0" dirty="0" err="1"/>
              <a:t>bn</a:t>
            </a:r>
            <a:r>
              <a:rPr lang="en-US" altLang="ko-KR" sz="1100" baseline="0" dirty="0"/>
              <a:t>, lam </a:t>
            </a:r>
            <a:r>
              <a:rPr lang="en-US" altLang="ko-KR" sz="1100" baseline="0" dirty="0" err="1"/>
              <a:t>thê</a:t>
            </a:r>
            <a:r>
              <a:rPr lang="en-US" altLang="ko-KR" sz="1100" baseline="0" dirty="0"/>
              <a:t> </a:t>
            </a:r>
            <a:r>
              <a:rPr lang="en-US" altLang="ko-KR" sz="1100" baseline="0" dirty="0" err="1"/>
              <a:t>nao</a:t>
            </a:r>
            <a:r>
              <a:rPr lang="en-US" altLang="ko-KR" sz="1100" baseline="0" dirty="0"/>
              <a:t> </a:t>
            </a:r>
            <a:r>
              <a:rPr lang="en-US" altLang="ko-KR" sz="1100" baseline="0" dirty="0" err="1"/>
              <a:t>để</a:t>
            </a:r>
            <a:r>
              <a:rPr lang="en-US" altLang="ko-KR" sz="1100" baseline="0" dirty="0"/>
              <a:t> </a:t>
            </a:r>
            <a:r>
              <a:rPr lang="en-US" altLang="ko-KR" sz="1100" baseline="0" dirty="0" err="1"/>
              <a:t>biêt</a:t>
            </a:r>
            <a:r>
              <a:rPr lang="en-US" altLang="ko-KR" sz="1100" baseline="0" dirty="0"/>
              <a:t> </a:t>
            </a:r>
            <a:r>
              <a:rPr lang="en-US" altLang="ko-KR" sz="1100" baseline="0" dirty="0" err="1"/>
              <a:t>cái</a:t>
            </a:r>
            <a:r>
              <a:rPr lang="en-US" altLang="ko-KR" sz="1100" baseline="0" dirty="0"/>
              <a:t> </a:t>
            </a:r>
            <a:r>
              <a:rPr lang="en-US" altLang="ko-KR" sz="1100" baseline="0" dirty="0" err="1"/>
              <a:t>cân</a:t>
            </a:r>
            <a:r>
              <a:rPr lang="en-US" altLang="ko-KR" sz="1100" baseline="0" dirty="0"/>
              <a:t> </a:t>
            </a:r>
            <a:r>
              <a:rPr lang="en-US" altLang="ko-KR" sz="1100" baseline="0" dirty="0" err="1"/>
              <a:t>có</a:t>
            </a:r>
            <a:r>
              <a:rPr lang="en-US" altLang="ko-KR" sz="1100" baseline="0" dirty="0"/>
              <a:t> </a:t>
            </a:r>
            <a:r>
              <a:rPr lang="en-US" altLang="ko-KR" sz="1100" baseline="0" dirty="0" err="1"/>
              <a:t>chuẩn</a:t>
            </a:r>
            <a:r>
              <a:rPr lang="en-US" altLang="ko-KR" sz="1100" baseline="0" dirty="0"/>
              <a:t> </a:t>
            </a:r>
            <a:r>
              <a:rPr lang="en-US" altLang="ko-KR" sz="1100" baseline="0" dirty="0" err="1"/>
              <a:t>ko</a:t>
            </a:r>
            <a:r>
              <a:rPr lang="en-US" altLang="ko-KR" sz="1100" baseline="0" dirty="0"/>
              <a:t>? </a:t>
            </a:r>
            <a:r>
              <a:rPr lang="en-US" altLang="ko-KR" sz="1100" baseline="0" dirty="0" err="1"/>
              <a:t>Dùng</a:t>
            </a:r>
            <a:r>
              <a:rPr lang="en-US" altLang="ko-KR" sz="1100" baseline="0" dirty="0"/>
              <a:t> </a:t>
            </a:r>
            <a:r>
              <a:rPr lang="en-US" altLang="ko-KR" sz="1100" baseline="0" dirty="0" err="1"/>
              <a:t>vật</a:t>
            </a:r>
            <a:r>
              <a:rPr lang="en-US" altLang="ko-KR" sz="1100" baseline="0" dirty="0"/>
              <a:t> </a:t>
            </a:r>
            <a:r>
              <a:rPr lang="en-US" altLang="ko-KR" sz="1100" baseline="0" dirty="0" err="1"/>
              <a:t>chuẩn</a:t>
            </a:r>
            <a:r>
              <a:rPr lang="en-US" altLang="ko-KR" sz="1100" baseline="0" dirty="0"/>
              <a:t>: VD </a:t>
            </a:r>
            <a:r>
              <a:rPr lang="en-US" altLang="ko-KR" sz="1100" baseline="0" dirty="0" err="1"/>
              <a:t>quả</a:t>
            </a:r>
            <a:r>
              <a:rPr lang="en-US" altLang="ko-KR" sz="1100" baseline="0" dirty="0"/>
              <a:t> </a:t>
            </a:r>
            <a:r>
              <a:rPr lang="en-US" altLang="ko-KR" sz="1100" baseline="0" dirty="0" err="1"/>
              <a:t>tạ</a:t>
            </a:r>
            <a:r>
              <a:rPr lang="en-US" altLang="ko-KR" sz="1100" baseline="0" dirty="0"/>
              <a:t> 5kg, can </a:t>
            </a:r>
            <a:r>
              <a:rPr lang="en-US" altLang="ko-KR" sz="1100" baseline="0" dirty="0" err="1"/>
              <a:t>nước</a:t>
            </a:r>
            <a:r>
              <a:rPr lang="en-US" altLang="ko-KR" sz="1100" baseline="0" dirty="0"/>
              <a:t> 5l, </a:t>
            </a:r>
            <a:r>
              <a:rPr lang="en-US" altLang="ko-KR" sz="1100" baseline="0" dirty="0" err="1"/>
              <a:t>đặt</a:t>
            </a:r>
            <a:r>
              <a:rPr lang="en-US" altLang="ko-KR" sz="1100" baseline="0" dirty="0"/>
              <a:t> </a:t>
            </a:r>
            <a:r>
              <a:rPr lang="en-US" altLang="ko-KR" sz="1100" baseline="0" dirty="0" err="1"/>
              <a:t>lên</a:t>
            </a:r>
            <a:r>
              <a:rPr lang="en-US" altLang="ko-KR" sz="1100" baseline="0" dirty="0"/>
              <a:t> kg </a:t>
            </a:r>
            <a:r>
              <a:rPr lang="en-US" altLang="ko-KR" sz="1100" baseline="0" dirty="0" err="1"/>
              <a:t>xem</a:t>
            </a:r>
            <a:r>
              <a:rPr lang="en-US" altLang="ko-KR" sz="1100" baseline="0" dirty="0"/>
              <a:t> </a:t>
            </a:r>
            <a:r>
              <a:rPr lang="en-US" altLang="ko-KR" sz="1100" baseline="0" dirty="0" err="1"/>
              <a:t>cân</a:t>
            </a:r>
            <a:r>
              <a:rPr lang="en-US" altLang="ko-KR" sz="1100" baseline="0" dirty="0"/>
              <a:t> </a:t>
            </a:r>
            <a:r>
              <a:rPr lang="en-US" altLang="ko-KR" sz="1100" baseline="0" dirty="0" err="1"/>
              <a:t>chính</a:t>
            </a:r>
            <a:r>
              <a:rPr lang="en-US" altLang="ko-KR" sz="1100" baseline="0" dirty="0"/>
              <a:t> </a:t>
            </a:r>
            <a:r>
              <a:rPr lang="en-US" altLang="ko-KR" sz="1100" baseline="0" dirty="0" err="1"/>
              <a:t>xác</a:t>
            </a:r>
            <a:r>
              <a:rPr lang="en-US" altLang="ko-KR" sz="1100" baseline="0" dirty="0"/>
              <a:t> hay </a:t>
            </a:r>
            <a:r>
              <a:rPr lang="en-US" altLang="ko-KR" sz="1100" baseline="0" dirty="0" err="1"/>
              <a:t>ko</a:t>
            </a:r>
            <a:r>
              <a:rPr lang="en-US" altLang="ko-KR" sz="1100" baseline="0" dirty="0"/>
              <a:t>.</a:t>
            </a:r>
          </a:p>
          <a:p>
            <a:pPr>
              <a:defRPr/>
            </a:pPr>
            <a:r>
              <a:rPr lang="en-US" altLang="ko-KR" sz="1100" baseline="0" dirty="0" err="1"/>
              <a:t>Cái</a:t>
            </a:r>
            <a:r>
              <a:rPr lang="en-US" altLang="ko-KR" sz="1100" baseline="0" dirty="0"/>
              <a:t> </a:t>
            </a:r>
            <a:r>
              <a:rPr lang="en-US" altLang="ko-KR" sz="1100" baseline="0" dirty="0" err="1"/>
              <a:t>tạ</a:t>
            </a:r>
            <a:r>
              <a:rPr lang="en-US" altLang="ko-KR" sz="1100" baseline="0" dirty="0"/>
              <a:t> minh </a:t>
            </a:r>
            <a:r>
              <a:rPr lang="en-US" altLang="ko-KR" sz="1100" baseline="0" dirty="0" err="1"/>
              <a:t>mang</a:t>
            </a:r>
            <a:r>
              <a:rPr lang="en-US" altLang="ko-KR" sz="1100" baseline="0" dirty="0"/>
              <a:t> </a:t>
            </a:r>
            <a:r>
              <a:rPr lang="en-US" altLang="ko-KR" sz="1100" baseline="0" dirty="0" err="1"/>
              <a:t>về</a:t>
            </a:r>
            <a:r>
              <a:rPr lang="en-US" altLang="ko-KR" sz="1100" baseline="0" dirty="0"/>
              <a:t> </a:t>
            </a:r>
            <a:r>
              <a:rPr lang="en-US" altLang="ko-KR" sz="1100" baseline="0" dirty="0" err="1"/>
              <a:t>chính</a:t>
            </a:r>
            <a:r>
              <a:rPr lang="en-US" altLang="ko-KR" sz="1100" baseline="0" dirty="0"/>
              <a:t> </a:t>
            </a:r>
            <a:r>
              <a:rPr lang="en-US" altLang="ko-KR" sz="1100" baseline="0" dirty="0" err="1"/>
              <a:t>là</a:t>
            </a:r>
            <a:r>
              <a:rPr lang="en-US" altLang="ko-KR" sz="1100" baseline="0" dirty="0"/>
              <a:t> </a:t>
            </a:r>
            <a:r>
              <a:rPr lang="en-US" altLang="ko-KR" sz="1100" baseline="0" dirty="0" err="1"/>
              <a:t>gtri</a:t>
            </a:r>
            <a:r>
              <a:rPr lang="en-US" altLang="ko-KR" sz="1100" baseline="0" dirty="0"/>
              <a:t> </a:t>
            </a:r>
            <a:r>
              <a:rPr lang="en-US" altLang="ko-KR" sz="1100" baseline="0" dirty="0" err="1"/>
              <a:t>tham</a:t>
            </a:r>
            <a:r>
              <a:rPr lang="en-US" altLang="ko-KR" sz="1100" baseline="0" dirty="0"/>
              <a:t> </a:t>
            </a:r>
            <a:r>
              <a:rPr lang="en-US" altLang="ko-KR" sz="1100" baseline="0" dirty="0" err="1"/>
              <a:t>chiếu</a:t>
            </a:r>
            <a:r>
              <a:rPr lang="en-US" altLang="ko-KR" sz="1100" baseline="0" dirty="0"/>
              <a:t>.</a:t>
            </a:r>
          </a:p>
          <a:p>
            <a:pPr>
              <a:defRPr/>
            </a:pPr>
            <a:r>
              <a:rPr lang="en-US" altLang="ko-KR" sz="1100" baseline="0" dirty="0" err="1"/>
              <a:t>Vậy</a:t>
            </a:r>
            <a:r>
              <a:rPr lang="en-US" altLang="ko-KR" sz="1100" baseline="0" dirty="0"/>
              <a:t> ở </a:t>
            </a:r>
            <a:r>
              <a:rPr lang="en-US" altLang="ko-KR" sz="1100" baseline="0" dirty="0" err="1"/>
              <a:t>nahf</a:t>
            </a:r>
            <a:r>
              <a:rPr lang="en-US" altLang="ko-KR" sz="1100" baseline="0" dirty="0"/>
              <a:t> </a:t>
            </a:r>
            <a:r>
              <a:rPr lang="en-US" altLang="ko-KR" sz="1100" baseline="0" dirty="0" err="1"/>
              <a:t>máy</a:t>
            </a:r>
            <a:r>
              <a:rPr lang="en-US" altLang="ko-KR" sz="1100" baseline="0" dirty="0"/>
              <a:t> minh </a:t>
            </a:r>
            <a:r>
              <a:rPr lang="en-US" altLang="ko-KR" sz="1100" baseline="0" dirty="0" err="1"/>
              <a:t>lấy</a:t>
            </a:r>
            <a:r>
              <a:rPr lang="en-US" altLang="ko-KR" sz="1100" baseline="0" dirty="0"/>
              <a:t> </a:t>
            </a:r>
            <a:r>
              <a:rPr lang="en-US" altLang="ko-KR" sz="1100" baseline="0" dirty="0" err="1"/>
              <a:t>tham</a:t>
            </a:r>
            <a:r>
              <a:rPr lang="en-US" altLang="ko-KR" sz="1100" baseline="0" dirty="0"/>
              <a:t> </a:t>
            </a:r>
            <a:r>
              <a:rPr lang="en-US" altLang="ko-KR" sz="1100" baseline="0" dirty="0" err="1"/>
              <a:t>chieues</a:t>
            </a:r>
            <a:r>
              <a:rPr lang="en-US" altLang="ko-KR" sz="1100" baseline="0" dirty="0"/>
              <a:t> ở </a:t>
            </a:r>
            <a:r>
              <a:rPr lang="en-US" altLang="ko-KR" sz="1100" baseline="0" dirty="0" err="1"/>
              <a:t>đâu</a:t>
            </a:r>
            <a:r>
              <a:rPr lang="en-US" altLang="ko-KR" sz="1100" baseline="0" dirty="0"/>
              <a:t>? </a:t>
            </a:r>
            <a:r>
              <a:rPr lang="en-US" altLang="ko-KR" sz="1100" baseline="0" dirty="0" err="1"/>
              <a:t>Từ</a:t>
            </a:r>
            <a:r>
              <a:rPr lang="en-US" altLang="ko-KR" sz="1100" baseline="0" dirty="0"/>
              <a:t> </a:t>
            </a:r>
            <a:r>
              <a:rPr lang="en-US" altLang="ko-KR" sz="1100" baseline="0" dirty="0" err="1"/>
              <a:t>các</a:t>
            </a:r>
            <a:r>
              <a:rPr lang="en-US" altLang="ko-KR" sz="1100" baseline="0" dirty="0"/>
              <a:t> master sample, </a:t>
            </a:r>
            <a:r>
              <a:rPr lang="en-US" altLang="ko-KR" sz="1100" baseline="0" dirty="0" err="1"/>
              <a:t>nhưng</a:t>
            </a:r>
            <a:r>
              <a:rPr lang="en-US" altLang="ko-KR" sz="1100" baseline="0" dirty="0"/>
              <a:t> </a:t>
            </a:r>
            <a:r>
              <a:rPr lang="en-US" altLang="ko-KR" sz="1100" baseline="0" dirty="0" err="1"/>
              <a:t>ko</a:t>
            </a:r>
            <a:r>
              <a:rPr lang="en-US" altLang="ko-KR" sz="1100" baseline="0" dirty="0"/>
              <a:t> </a:t>
            </a:r>
            <a:r>
              <a:rPr lang="en-US" altLang="ko-KR" sz="1100" baseline="0" dirty="0" err="1"/>
              <a:t>fai</a:t>
            </a:r>
            <a:r>
              <a:rPr lang="en-US" altLang="ko-KR" sz="1100" baseline="0" dirty="0"/>
              <a:t> </a:t>
            </a:r>
            <a:r>
              <a:rPr lang="en-US" altLang="ko-KR" sz="1100" baseline="0" dirty="0" err="1"/>
              <a:t>sp</a:t>
            </a:r>
            <a:r>
              <a:rPr lang="en-US" altLang="ko-KR" sz="1100" baseline="0" dirty="0"/>
              <a:t> </a:t>
            </a:r>
            <a:r>
              <a:rPr lang="en-US" altLang="ko-KR" sz="1100" baseline="0" dirty="0" err="1"/>
              <a:t>nào</a:t>
            </a:r>
            <a:r>
              <a:rPr lang="en-US" altLang="ko-KR" sz="1100" baseline="0" dirty="0"/>
              <a:t> </a:t>
            </a:r>
            <a:r>
              <a:rPr lang="en-US" altLang="ko-KR" sz="1100" baseline="0" dirty="0" err="1"/>
              <a:t>cũng</a:t>
            </a:r>
            <a:r>
              <a:rPr lang="en-US" altLang="ko-KR" sz="1100" baseline="0" dirty="0"/>
              <a:t> </a:t>
            </a:r>
            <a:r>
              <a:rPr lang="en-US" altLang="ko-KR" sz="1100" baseline="0" dirty="0" err="1"/>
              <a:t>có</a:t>
            </a:r>
            <a:r>
              <a:rPr lang="en-US" altLang="ko-KR" sz="1100" baseline="0" dirty="0"/>
              <a:t> master sample? </a:t>
            </a:r>
            <a:r>
              <a:rPr lang="en-US" altLang="ko-KR" sz="1100" baseline="0" dirty="0" err="1"/>
              <a:t>Vậy</a:t>
            </a:r>
            <a:r>
              <a:rPr lang="en-US" altLang="ko-KR" sz="1100" baseline="0" dirty="0"/>
              <a:t> </a:t>
            </a:r>
            <a:r>
              <a:rPr lang="en-US" altLang="ko-KR" sz="1100" baseline="0" dirty="0" err="1"/>
              <a:t>thi</a:t>
            </a:r>
            <a:r>
              <a:rPr lang="en-US" altLang="ko-KR" sz="1100" baseline="0" dirty="0"/>
              <a:t> </a:t>
            </a:r>
            <a:r>
              <a:rPr lang="en-US" altLang="ko-KR" sz="1100" baseline="0" dirty="0" err="1"/>
              <a:t>fai</a:t>
            </a:r>
            <a:r>
              <a:rPr lang="en-US" altLang="ko-KR" sz="1100" baseline="0" dirty="0"/>
              <a:t> </a:t>
            </a:r>
            <a:r>
              <a:rPr lang="en-US" altLang="ko-KR" sz="1100" baseline="0" dirty="0" err="1"/>
              <a:t>lấy</a:t>
            </a:r>
            <a:r>
              <a:rPr lang="en-US" altLang="ko-KR" sz="1100" baseline="0" dirty="0"/>
              <a:t> sample </a:t>
            </a:r>
            <a:r>
              <a:rPr lang="en-US" altLang="ko-KR" sz="1100" baseline="0" dirty="0" err="1"/>
              <a:t>từ</a:t>
            </a:r>
            <a:r>
              <a:rPr lang="en-US" altLang="ko-KR" sz="1100" baseline="0" dirty="0"/>
              <a:t> </a:t>
            </a:r>
            <a:r>
              <a:rPr lang="en-US" altLang="ko-KR" sz="1100" baseline="0" dirty="0" err="1"/>
              <a:t>sp</a:t>
            </a:r>
            <a:r>
              <a:rPr lang="en-US" altLang="ko-KR" sz="1100" baseline="0" dirty="0"/>
              <a:t> </a:t>
            </a:r>
            <a:r>
              <a:rPr lang="en-US" altLang="ko-KR" sz="1100" baseline="0" dirty="0" err="1"/>
              <a:t>trên</a:t>
            </a:r>
            <a:r>
              <a:rPr lang="en-US" altLang="ko-KR" sz="1100" baseline="0" dirty="0"/>
              <a:t> </a:t>
            </a:r>
            <a:r>
              <a:rPr lang="en-US" altLang="ko-KR" sz="1100" baseline="0" dirty="0" err="1"/>
              <a:t>chuyền</a:t>
            </a:r>
            <a:r>
              <a:rPr lang="en-US" altLang="ko-KR" sz="1100" baseline="0" dirty="0"/>
              <a:t> </a:t>
            </a:r>
            <a:r>
              <a:rPr lang="en-US" altLang="ko-KR" sz="1100" baseline="0" dirty="0" err="1"/>
              <a:t>và</a:t>
            </a:r>
            <a:r>
              <a:rPr lang="en-US" altLang="ko-KR" sz="1100" baseline="0" dirty="0"/>
              <a:t> </a:t>
            </a:r>
            <a:r>
              <a:rPr lang="en-US" altLang="ko-KR" sz="1100" baseline="0" dirty="0" err="1"/>
              <a:t>fai</a:t>
            </a:r>
            <a:r>
              <a:rPr lang="en-US" altLang="ko-KR" sz="1100" baseline="0" dirty="0"/>
              <a:t> </a:t>
            </a:r>
            <a:r>
              <a:rPr lang="en-US" altLang="ko-KR" sz="1100" baseline="0" dirty="0" err="1"/>
              <a:t>sử</a:t>
            </a:r>
            <a:r>
              <a:rPr lang="en-US" altLang="ko-KR" sz="1100" baseline="0" dirty="0"/>
              <a:t> </a:t>
            </a:r>
            <a:r>
              <a:rPr lang="en-US" altLang="ko-KR" sz="1100" baseline="0" dirty="0" err="1"/>
              <a:t>dụng</a:t>
            </a:r>
            <a:r>
              <a:rPr lang="en-US" altLang="ko-KR" sz="1100" baseline="0" dirty="0"/>
              <a:t> </a:t>
            </a:r>
            <a:r>
              <a:rPr lang="en-US" altLang="ko-KR" sz="1100" baseline="0" dirty="0" err="1"/>
              <a:t>thước</a:t>
            </a:r>
            <a:r>
              <a:rPr lang="en-US" altLang="ko-KR" sz="1100" baseline="0" dirty="0"/>
              <a:t> </a:t>
            </a:r>
            <a:r>
              <a:rPr lang="en-US" altLang="ko-KR" sz="1100" baseline="0" dirty="0" err="1"/>
              <a:t>đo</a:t>
            </a:r>
            <a:r>
              <a:rPr lang="en-US" altLang="ko-KR" sz="1100" baseline="0" dirty="0"/>
              <a:t> </a:t>
            </a:r>
            <a:r>
              <a:rPr lang="en-US" altLang="ko-KR" sz="1100" baseline="0" dirty="0" err="1"/>
              <a:t>chính</a:t>
            </a:r>
            <a:r>
              <a:rPr lang="en-US" altLang="ko-KR" sz="1100" baseline="0" dirty="0"/>
              <a:t> </a:t>
            </a:r>
            <a:r>
              <a:rPr lang="en-US" altLang="ko-KR" sz="1100" baseline="0" dirty="0" err="1"/>
              <a:t>xác</a:t>
            </a:r>
            <a:r>
              <a:rPr lang="en-US" altLang="ko-KR" sz="1100" baseline="0" dirty="0"/>
              <a:t> </a:t>
            </a:r>
            <a:r>
              <a:rPr lang="en-US" altLang="ko-KR" sz="1100" baseline="0" dirty="0" err="1"/>
              <a:t>để</a:t>
            </a:r>
            <a:r>
              <a:rPr lang="en-US" altLang="ko-KR" sz="1100" baseline="0" dirty="0"/>
              <a:t> </a:t>
            </a:r>
            <a:r>
              <a:rPr lang="en-US" altLang="ko-KR" sz="1100" baseline="0" dirty="0" err="1"/>
              <a:t>đo</a:t>
            </a:r>
            <a:r>
              <a:rPr lang="en-US" altLang="ko-KR" sz="1100" baseline="0" dirty="0"/>
              <a:t> </a:t>
            </a:r>
            <a:r>
              <a:rPr lang="en-US" altLang="ko-KR" sz="1100" baseline="0" dirty="0" err="1"/>
              <a:t>lại</a:t>
            </a:r>
            <a:r>
              <a:rPr lang="en-US" altLang="ko-KR" sz="1100" baseline="0" dirty="0"/>
              <a:t>, </a:t>
            </a:r>
            <a:r>
              <a:rPr lang="en-US" altLang="ko-KR" sz="1100" baseline="0" dirty="0" err="1"/>
              <a:t>thước</a:t>
            </a:r>
            <a:r>
              <a:rPr lang="en-US" altLang="ko-KR" sz="1100" baseline="0" dirty="0"/>
              <a:t> </a:t>
            </a:r>
            <a:r>
              <a:rPr lang="en-US" altLang="ko-KR" sz="1100" baseline="0" dirty="0" err="1"/>
              <a:t>đo</a:t>
            </a:r>
            <a:r>
              <a:rPr lang="en-US" altLang="ko-KR" sz="1100" baseline="0" dirty="0"/>
              <a:t> </a:t>
            </a:r>
            <a:r>
              <a:rPr lang="en-US" altLang="ko-KR" sz="1100" baseline="0" dirty="0" err="1"/>
              <a:t>có</a:t>
            </a:r>
            <a:r>
              <a:rPr lang="en-US" altLang="ko-KR" sz="1100" baseline="0" dirty="0"/>
              <a:t> resolution </a:t>
            </a:r>
            <a:r>
              <a:rPr lang="en-US" altLang="ko-KR" sz="1100" baseline="0" dirty="0" err="1"/>
              <a:t>nhỏ</a:t>
            </a:r>
            <a:r>
              <a:rPr lang="en-US" altLang="ko-KR" sz="1100" baseline="0" dirty="0"/>
              <a:t>, VD </a:t>
            </a:r>
            <a:r>
              <a:rPr lang="en-US" altLang="ko-KR" sz="1100" baseline="0" dirty="0" err="1"/>
              <a:t>để</a:t>
            </a:r>
            <a:r>
              <a:rPr lang="en-US" altLang="ko-KR" sz="1100" baseline="0" dirty="0"/>
              <a:t> </a:t>
            </a:r>
            <a:r>
              <a:rPr lang="en-US" altLang="ko-KR" sz="1100" baseline="0" dirty="0" err="1"/>
              <a:t>kiểm</a:t>
            </a:r>
            <a:r>
              <a:rPr lang="en-US" altLang="ko-KR" sz="1100" baseline="0" dirty="0"/>
              <a:t> </a:t>
            </a:r>
            <a:r>
              <a:rPr lang="en-US" altLang="ko-KR" sz="1100" baseline="0" dirty="0" err="1"/>
              <a:t>định</a:t>
            </a:r>
            <a:r>
              <a:rPr lang="en-US" altLang="ko-KR" sz="1100" baseline="0" dirty="0"/>
              <a:t> 1 </a:t>
            </a:r>
            <a:r>
              <a:rPr lang="en-US" altLang="ko-KR" sz="1100" baseline="0" dirty="0" err="1"/>
              <a:t>cái</a:t>
            </a:r>
            <a:r>
              <a:rPr lang="en-US" altLang="ko-KR" sz="1100" baseline="0" dirty="0"/>
              <a:t> </a:t>
            </a:r>
            <a:r>
              <a:rPr lang="en-US" altLang="ko-KR" sz="1100" baseline="0" dirty="0" err="1"/>
              <a:t>thước</a:t>
            </a:r>
            <a:r>
              <a:rPr lang="en-US" altLang="ko-KR" sz="1100" baseline="0" dirty="0"/>
              <a:t> vs </a:t>
            </a:r>
            <a:r>
              <a:rPr lang="en-US" altLang="ko-KR" sz="1100" baseline="0" dirty="0" err="1"/>
              <a:t>độ</a:t>
            </a:r>
            <a:r>
              <a:rPr lang="en-US" altLang="ko-KR" sz="1100" baseline="0" dirty="0"/>
              <a:t> chi </a:t>
            </a:r>
            <a:r>
              <a:rPr lang="en-US" altLang="ko-KR" sz="1100" baseline="0" dirty="0" err="1"/>
              <a:t>tiêt</a:t>
            </a:r>
            <a:r>
              <a:rPr lang="en-US" altLang="ko-KR" sz="1100" baseline="0" dirty="0"/>
              <a:t> </a:t>
            </a:r>
            <a:r>
              <a:rPr lang="en-US" altLang="ko-KR" sz="1100" baseline="0" dirty="0" err="1"/>
              <a:t>là</a:t>
            </a:r>
            <a:r>
              <a:rPr lang="en-US" altLang="ko-KR" sz="1100" baseline="0" dirty="0"/>
              <a:t> 1% </a:t>
            </a:r>
            <a:r>
              <a:rPr lang="en-US" altLang="ko-KR" sz="1100" baseline="0" dirty="0" err="1"/>
              <a:t>thi</a:t>
            </a:r>
            <a:r>
              <a:rPr lang="en-US" altLang="ko-KR" sz="1100" baseline="0" dirty="0"/>
              <a:t> </a:t>
            </a:r>
            <a:r>
              <a:rPr lang="en-US" altLang="ko-KR" sz="1100" baseline="0" dirty="0" err="1"/>
              <a:t>fai</a:t>
            </a:r>
            <a:r>
              <a:rPr lang="en-US" altLang="ko-KR" sz="1100" baseline="0" dirty="0"/>
              <a:t> </a:t>
            </a:r>
            <a:r>
              <a:rPr lang="en-US" altLang="ko-KR" sz="1100" baseline="0" dirty="0" err="1"/>
              <a:t>lấy</a:t>
            </a:r>
            <a:r>
              <a:rPr lang="en-US" altLang="ko-KR" sz="1100" baseline="0" dirty="0"/>
              <a:t> </a:t>
            </a:r>
            <a:r>
              <a:rPr lang="en-US" altLang="ko-KR" sz="1100" baseline="0" dirty="0" err="1"/>
              <a:t>gtri</a:t>
            </a:r>
            <a:r>
              <a:rPr lang="en-US" altLang="ko-KR" sz="1100" baseline="0" dirty="0"/>
              <a:t> </a:t>
            </a:r>
            <a:r>
              <a:rPr lang="en-US" altLang="ko-KR" sz="1100" baseline="0" dirty="0" err="1"/>
              <a:t>tham</a:t>
            </a:r>
            <a:r>
              <a:rPr lang="en-US" altLang="ko-KR" sz="1100" baseline="0" dirty="0"/>
              <a:t> </a:t>
            </a:r>
            <a:r>
              <a:rPr lang="en-US" altLang="ko-KR" sz="1100" baseline="0" dirty="0" err="1"/>
              <a:t>chiếu</a:t>
            </a:r>
            <a:r>
              <a:rPr lang="en-US" altLang="ko-KR" sz="1100" baseline="0" dirty="0"/>
              <a:t> </a:t>
            </a:r>
            <a:r>
              <a:rPr lang="en-US" altLang="ko-KR" sz="1100" baseline="0" dirty="0" err="1"/>
              <a:t>lệch</a:t>
            </a:r>
            <a:r>
              <a:rPr lang="en-US" altLang="ko-KR" sz="1100" baseline="0" dirty="0"/>
              <a:t> </a:t>
            </a:r>
            <a:r>
              <a:rPr lang="en-US" altLang="ko-KR" sz="1100" baseline="0" dirty="0" err="1"/>
              <a:t>xuống</a:t>
            </a:r>
            <a:r>
              <a:rPr lang="en-US" altLang="ko-KR" sz="1100" baseline="0" dirty="0"/>
              <a:t> 1 </a:t>
            </a:r>
            <a:r>
              <a:rPr lang="en-US" altLang="ko-KR" sz="1100" baseline="0" dirty="0" err="1"/>
              <a:t>số</a:t>
            </a:r>
            <a:r>
              <a:rPr lang="en-US" altLang="ko-KR" sz="1100" baseline="0" dirty="0"/>
              <a:t> 0 </a:t>
            </a:r>
            <a:r>
              <a:rPr lang="en-US" altLang="ko-KR" sz="1100" baseline="0" dirty="0" err="1"/>
              <a:t>phần</a:t>
            </a:r>
            <a:r>
              <a:rPr lang="en-US" altLang="ko-KR" sz="1100" baseline="0" dirty="0"/>
              <a:t> </a:t>
            </a:r>
            <a:r>
              <a:rPr lang="en-US" altLang="ko-KR" sz="1100" baseline="0" dirty="0" err="1"/>
              <a:t>nghìn</a:t>
            </a:r>
            <a:r>
              <a:rPr lang="en-US" altLang="ko-KR" sz="1100" baseline="0" dirty="0"/>
              <a:t>, </a:t>
            </a:r>
            <a:r>
              <a:rPr lang="en-US" altLang="ko-KR" sz="1100" baseline="0" dirty="0" err="1"/>
              <a:t>thương</a:t>
            </a:r>
            <a:r>
              <a:rPr lang="en-US" altLang="ko-KR" sz="1100" baseline="0" dirty="0"/>
              <a:t> dung </a:t>
            </a:r>
            <a:r>
              <a:rPr lang="en-US" altLang="ko-KR" sz="1100" baseline="0" dirty="0" err="1"/>
              <a:t>thước</a:t>
            </a:r>
            <a:r>
              <a:rPr lang="en-US" altLang="ko-KR" sz="1100" baseline="0" dirty="0"/>
              <a:t> 3D ở </a:t>
            </a:r>
            <a:r>
              <a:rPr lang="en-US" altLang="ko-KR" sz="1100" baseline="0" dirty="0" err="1"/>
              <a:t>dưới</a:t>
            </a:r>
            <a:r>
              <a:rPr lang="en-US" altLang="ko-KR" sz="1100" baseline="0" dirty="0"/>
              <a:t> SQA.</a:t>
            </a:r>
          </a:p>
          <a:p>
            <a:pPr>
              <a:defRPr/>
            </a:pPr>
            <a:r>
              <a:rPr lang="en-US" altLang="ko-KR" sz="1100" baseline="0" dirty="0"/>
              <a:t>VD: FSE </a:t>
            </a:r>
            <a:r>
              <a:rPr lang="en-US" altLang="ko-KR" sz="1100" baseline="0" dirty="0" err="1"/>
              <a:t>hỏi</a:t>
            </a:r>
            <a:r>
              <a:rPr lang="en-US" altLang="ko-KR" sz="1100" baseline="0" dirty="0"/>
              <a:t> </a:t>
            </a:r>
            <a:r>
              <a:rPr lang="en-US" altLang="ko-KR" sz="1100" baseline="0" dirty="0" err="1"/>
              <a:t>lấy</a:t>
            </a:r>
            <a:r>
              <a:rPr lang="en-US" altLang="ko-KR" sz="1100" baseline="0" dirty="0"/>
              <a:t> reference ở </a:t>
            </a:r>
            <a:r>
              <a:rPr lang="en-US" altLang="ko-KR" sz="1100" baseline="0" dirty="0" err="1"/>
              <a:t>đâu</a:t>
            </a:r>
            <a:r>
              <a:rPr lang="en-US" altLang="ko-KR" sz="1100" baseline="0" dirty="0"/>
              <a:t> </a:t>
            </a:r>
            <a:r>
              <a:rPr lang="en-US" altLang="ko-KR" sz="1100" baseline="0" dirty="0" err="1"/>
              <a:t>thì</a:t>
            </a:r>
            <a:r>
              <a:rPr lang="en-US" altLang="ko-KR" sz="1100" baseline="0" dirty="0"/>
              <a:t> </a:t>
            </a:r>
            <a:r>
              <a:rPr lang="en-US" altLang="ko-KR" sz="1100" baseline="0" dirty="0" err="1"/>
              <a:t>có</a:t>
            </a:r>
            <a:r>
              <a:rPr lang="en-US" altLang="ko-KR" sz="1100" baseline="0" dirty="0"/>
              <a:t> </a:t>
            </a:r>
            <a:r>
              <a:rPr lang="en-US" altLang="ko-KR" sz="1100" baseline="0" dirty="0" err="1"/>
              <a:t>thể</a:t>
            </a:r>
            <a:r>
              <a:rPr lang="en-US" altLang="ko-KR" sz="1100" baseline="0" dirty="0"/>
              <a:t> </a:t>
            </a:r>
            <a:r>
              <a:rPr lang="en-US" altLang="ko-KR" sz="1100" baseline="0" dirty="0" err="1"/>
              <a:t>noi</a:t>
            </a:r>
            <a:r>
              <a:rPr lang="en-US" altLang="ko-KR" sz="1100" baseline="0" dirty="0"/>
              <a:t> </a:t>
            </a:r>
            <a:r>
              <a:rPr lang="en-US" altLang="ko-KR" sz="1100" baseline="0" dirty="0" err="1"/>
              <a:t>là</a:t>
            </a:r>
            <a:r>
              <a:rPr lang="en-US" altLang="ko-KR" sz="1100" baseline="0" dirty="0"/>
              <a:t> </a:t>
            </a:r>
            <a:r>
              <a:rPr lang="en-US" altLang="ko-KR" sz="1100" baseline="0" dirty="0" err="1"/>
              <a:t>lấy</a:t>
            </a:r>
            <a:r>
              <a:rPr lang="en-US" altLang="ko-KR" sz="1100" baseline="0" dirty="0"/>
              <a:t> 1 con Ok </a:t>
            </a:r>
            <a:r>
              <a:rPr lang="en-US" altLang="ko-KR" sz="1100" baseline="0" dirty="0" err="1"/>
              <a:t>trên</a:t>
            </a:r>
            <a:r>
              <a:rPr lang="en-US" altLang="ko-KR" sz="1100" baseline="0" dirty="0"/>
              <a:t> </a:t>
            </a:r>
            <a:r>
              <a:rPr lang="en-US" altLang="ko-KR" sz="1100" baseline="0" dirty="0" err="1"/>
              <a:t>chuyền</a:t>
            </a:r>
            <a:r>
              <a:rPr lang="en-US" altLang="ko-KR" sz="1100" baseline="0" dirty="0"/>
              <a:t> </a:t>
            </a:r>
            <a:r>
              <a:rPr lang="en-US" altLang="ko-KR" sz="1100" baseline="0" dirty="0" err="1"/>
              <a:t>rồi</a:t>
            </a:r>
            <a:r>
              <a:rPr lang="en-US" altLang="ko-KR" sz="1100" baseline="0" dirty="0"/>
              <a:t> dung </a:t>
            </a:r>
            <a:r>
              <a:rPr lang="en-US" altLang="ko-KR" sz="1100" baseline="0" dirty="0" err="1"/>
              <a:t>thước</a:t>
            </a:r>
            <a:r>
              <a:rPr lang="en-US" altLang="ko-KR" sz="1100" baseline="0" dirty="0"/>
              <a:t> </a:t>
            </a:r>
            <a:r>
              <a:rPr lang="en-US" altLang="ko-KR" sz="1100" baseline="0" dirty="0" err="1"/>
              <a:t>đo</a:t>
            </a:r>
            <a:r>
              <a:rPr lang="en-US" altLang="ko-KR" sz="1100" baseline="0" dirty="0"/>
              <a:t> </a:t>
            </a:r>
            <a:r>
              <a:rPr lang="en-US" altLang="ko-KR" sz="1100" baseline="0" dirty="0" err="1"/>
              <a:t>chính</a:t>
            </a:r>
            <a:r>
              <a:rPr lang="en-US" altLang="ko-KR" sz="1100" baseline="0" dirty="0"/>
              <a:t> </a:t>
            </a:r>
            <a:r>
              <a:rPr lang="en-US" altLang="ko-KR" sz="1100" baseline="0" dirty="0" err="1"/>
              <a:t>xác</a:t>
            </a:r>
            <a:r>
              <a:rPr lang="en-US" altLang="ko-KR" sz="1100" baseline="0" dirty="0"/>
              <a:t>, chi </a:t>
            </a:r>
            <a:r>
              <a:rPr lang="en-US" altLang="ko-KR" sz="1100" baseline="0" dirty="0" err="1"/>
              <a:t>tiêt</a:t>
            </a:r>
            <a:r>
              <a:rPr lang="en-US" altLang="ko-KR" sz="1100" baseline="0" dirty="0"/>
              <a:t> </a:t>
            </a:r>
            <a:r>
              <a:rPr lang="en-US" altLang="ko-KR" sz="1100" baseline="0" dirty="0" err="1"/>
              <a:t>hơn</a:t>
            </a:r>
            <a:r>
              <a:rPr lang="en-US" altLang="ko-KR" sz="1100" baseline="0" dirty="0"/>
              <a:t> </a:t>
            </a:r>
            <a:r>
              <a:rPr lang="en-US" altLang="ko-KR" sz="1100" baseline="0" dirty="0" err="1"/>
              <a:t>để</a:t>
            </a:r>
            <a:r>
              <a:rPr lang="en-US" altLang="ko-KR" sz="1100" baseline="0" dirty="0"/>
              <a:t> </a:t>
            </a:r>
            <a:r>
              <a:rPr lang="en-US" altLang="ko-KR" sz="1100" baseline="0" dirty="0" err="1"/>
              <a:t>lấy</a:t>
            </a:r>
            <a:r>
              <a:rPr lang="en-US" altLang="ko-KR" sz="1100" baseline="0" dirty="0"/>
              <a:t> </a:t>
            </a:r>
            <a:r>
              <a:rPr lang="en-US" altLang="ko-KR" sz="1100" baseline="0" dirty="0" err="1"/>
              <a:t>đc</a:t>
            </a:r>
            <a:r>
              <a:rPr lang="en-US" altLang="ko-KR" sz="1100" baseline="0" dirty="0"/>
              <a:t> </a:t>
            </a:r>
            <a:r>
              <a:rPr lang="en-US" altLang="ko-KR" sz="1100" baseline="0" dirty="0" err="1"/>
              <a:t>gtri</a:t>
            </a:r>
            <a:r>
              <a:rPr lang="en-US" altLang="ko-KR" sz="1100" baseline="0" dirty="0"/>
              <a:t> </a:t>
            </a:r>
            <a:r>
              <a:rPr lang="en-US" altLang="ko-KR" sz="1100" baseline="0" dirty="0" err="1"/>
              <a:t>này</a:t>
            </a:r>
            <a:endParaRPr lang="en-US" altLang="ko-KR" sz="1100" baseline="0" dirty="0"/>
          </a:p>
          <a:p>
            <a:pPr>
              <a:defRPr/>
            </a:pPr>
            <a:endParaRPr lang="en-US" altLang="ko-KR" sz="1100" baseline="0" dirty="0"/>
          </a:p>
          <a:p>
            <a:pPr>
              <a:defRPr/>
            </a:pPr>
            <a:r>
              <a:rPr lang="en-US" altLang="ko-KR" sz="1100" baseline="0" dirty="0" err="1"/>
              <a:t>Tuyến</a:t>
            </a:r>
            <a:r>
              <a:rPr lang="en-US" altLang="ko-KR" sz="1100" baseline="0" dirty="0"/>
              <a:t> </a:t>
            </a:r>
            <a:r>
              <a:rPr lang="en-US" altLang="ko-KR" sz="1100" baseline="0" dirty="0" err="1"/>
              <a:t>tính</a:t>
            </a:r>
            <a:r>
              <a:rPr lang="en-US" altLang="ko-KR" sz="1100" baseline="0" dirty="0"/>
              <a:t>: 3 </a:t>
            </a:r>
            <a:r>
              <a:rPr lang="en-US" altLang="ko-KR" sz="1100" baseline="0" dirty="0" err="1"/>
              <a:t>điểm</a:t>
            </a:r>
            <a:r>
              <a:rPr lang="en-US" altLang="ko-KR" sz="1100" baseline="0" dirty="0"/>
              <a:t> </a:t>
            </a:r>
            <a:r>
              <a:rPr lang="en-US" altLang="ko-KR" sz="1100" baseline="0" dirty="0" err="1"/>
              <a:t>ko</a:t>
            </a:r>
            <a:r>
              <a:rPr lang="en-US" altLang="ko-KR" sz="1100" baseline="0" dirty="0"/>
              <a:t> </a:t>
            </a:r>
            <a:r>
              <a:rPr lang="en-US" altLang="ko-KR" sz="1100" baseline="0" dirty="0" err="1"/>
              <a:t>thẳng</a:t>
            </a:r>
            <a:r>
              <a:rPr lang="en-US" altLang="ko-KR" sz="1100" baseline="0" dirty="0"/>
              <a:t> hang </a:t>
            </a:r>
            <a:r>
              <a:rPr lang="en-US" altLang="ko-KR" sz="1100" baseline="0" dirty="0" err="1"/>
              <a:t>thi</a:t>
            </a:r>
            <a:r>
              <a:rPr lang="en-US" altLang="ko-KR" sz="1100" baseline="0" dirty="0"/>
              <a:t> </a:t>
            </a:r>
            <a:r>
              <a:rPr lang="en-US" altLang="ko-KR" sz="1100" baseline="0" dirty="0" err="1"/>
              <a:t>khó</a:t>
            </a:r>
            <a:r>
              <a:rPr lang="en-US" altLang="ko-KR" sz="1100" baseline="0" dirty="0"/>
              <a:t> </a:t>
            </a:r>
            <a:r>
              <a:rPr lang="en-US" altLang="ko-KR" sz="1100" baseline="0" dirty="0" err="1"/>
              <a:t>cải</a:t>
            </a:r>
            <a:r>
              <a:rPr lang="en-US" altLang="ko-KR" sz="1100" baseline="0" dirty="0"/>
              <a:t> </a:t>
            </a:r>
            <a:r>
              <a:rPr lang="en-US" altLang="ko-KR" sz="1100" baseline="0" dirty="0" err="1"/>
              <a:t>tienes</a:t>
            </a:r>
            <a:r>
              <a:rPr lang="en-US" altLang="ko-KR" sz="1100" baseline="0" dirty="0"/>
              <a:t>, </a:t>
            </a:r>
            <a:r>
              <a:rPr lang="en-US" altLang="ko-KR" sz="1100" baseline="0" dirty="0" err="1"/>
              <a:t>nếu</a:t>
            </a:r>
            <a:r>
              <a:rPr lang="en-US" altLang="ko-KR" sz="1100" baseline="0" dirty="0"/>
              <a:t> </a:t>
            </a:r>
            <a:r>
              <a:rPr lang="en-US" altLang="ko-KR" sz="1100" baseline="0" dirty="0" err="1"/>
              <a:t>cùng</a:t>
            </a:r>
            <a:r>
              <a:rPr lang="en-US" altLang="ko-KR" sz="1100" baseline="0" dirty="0"/>
              <a:t> </a:t>
            </a:r>
            <a:r>
              <a:rPr lang="en-US" altLang="ko-KR" sz="1100" baseline="0" dirty="0" err="1"/>
              <a:t>lệch</a:t>
            </a:r>
            <a:r>
              <a:rPr lang="en-US" altLang="ko-KR" sz="1100" baseline="0" dirty="0"/>
              <a:t> 1 </a:t>
            </a:r>
            <a:r>
              <a:rPr lang="en-US" altLang="ko-KR" sz="1100" baseline="0" dirty="0" err="1"/>
              <a:t>gtrij</a:t>
            </a:r>
            <a:r>
              <a:rPr lang="en-US" altLang="ko-KR" sz="1100" baseline="0" dirty="0"/>
              <a:t> </a:t>
            </a:r>
            <a:r>
              <a:rPr lang="en-US" altLang="ko-KR" sz="1100" baseline="0" dirty="0" err="1"/>
              <a:t>thi</a:t>
            </a:r>
            <a:r>
              <a:rPr lang="en-US" altLang="ko-KR" sz="1100" baseline="0" dirty="0"/>
              <a:t> chi </a:t>
            </a:r>
            <a:r>
              <a:rPr lang="en-US" altLang="ko-KR" sz="1100" baseline="0" dirty="0" err="1"/>
              <a:t>cần</a:t>
            </a:r>
            <a:r>
              <a:rPr lang="en-US" altLang="ko-KR" sz="1100" baseline="0" dirty="0"/>
              <a:t> </a:t>
            </a:r>
            <a:r>
              <a:rPr lang="en-US" altLang="ko-KR" sz="1100" baseline="0" dirty="0" err="1"/>
              <a:t>chỉnh</a:t>
            </a:r>
            <a:r>
              <a:rPr lang="en-US" altLang="ko-KR" sz="1100" baseline="0" dirty="0"/>
              <a:t> </a:t>
            </a:r>
            <a:r>
              <a:rPr lang="en-US" altLang="ko-KR" sz="1100" baseline="0" dirty="0" err="1"/>
              <a:t>thước</a:t>
            </a:r>
            <a:r>
              <a:rPr lang="en-US" altLang="ko-KR" sz="1100" baseline="0" dirty="0"/>
              <a:t> </a:t>
            </a:r>
            <a:r>
              <a:rPr lang="en-US" altLang="ko-KR" sz="1100" baseline="0" dirty="0" err="1"/>
              <a:t>đo</a:t>
            </a:r>
            <a:r>
              <a:rPr lang="en-US" altLang="ko-KR" sz="1100" baseline="0" dirty="0"/>
              <a:t> </a:t>
            </a:r>
            <a:r>
              <a:rPr lang="en-US" altLang="ko-KR" sz="1100" baseline="0" dirty="0" err="1"/>
              <a:t>là</a:t>
            </a:r>
            <a:r>
              <a:rPr lang="en-US" altLang="ko-KR" sz="1100" baseline="0" dirty="0"/>
              <a:t> </a:t>
            </a:r>
            <a:r>
              <a:rPr lang="en-US" altLang="ko-KR" sz="1100" baseline="0" dirty="0" err="1"/>
              <a:t>đc</a:t>
            </a:r>
            <a:r>
              <a:rPr lang="en-US" altLang="ko-KR" sz="1100" baseline="0" dirty="0"/>
              <a:t>, </a:t>
            </a:r>
            <a:r>
              <a:rPr lang="en-US" altLang="ko-KR" sz="1100" baseline="0" dirty="0" err="1"/>
              <a:t>nhưng</a:t>
            </a:r>
            <a:r>
              <a:rPr lang="en-US" altLang="ko-KR" sz="1100" baseline="0" dirty="0"/>
              <a:t> </a:t>
            </a:r>
            <a:r>
              <a:rPr lang="en-US" altLang="ko-KR" sz="1100" baseline="0" dirty="0" err="1"/>
              <a:t>ko</a:t>
            </a:r>
            <a:r>
              <a:rPr lang="en-US" altLang="ko-KR" sz="1100" baseline="0" dirty="0"/>
              <a:t> </a:t>
            </a:r>
            <a:r>
              <a:rPr lang="en-US" altLang="ko-KR" sz="1100" baseline="0" dirty="0" err="1"/>
              <a:t>thẳng</a:t>
            </a:r>
            <a:r>
              <a:rPr lang="en-US" altLang="ko-KR" sz="1100" baseline="0" dirty="0"/>
              <a:t> hang </a:t>
            </a:r>
            <a:r>
              <a:rPr lang="en-US" altLang="ko-KR" sz="1100" baseline="0" dirty="0" err="1"/>
              <a:t>thi</a:t>
            </a:r>
            <a:r>
              <a:rPr lang="en-US" altLang="ko-KR" sz="1100" baseline="0" dirty="0"/>
              <a:t> </a:t>
            </a:r>
            <a:r>
              <a:rPr lang="en-US" altLang="ko-KR" sz="1100" baseline="0" dirty="0" err="1"/>
              <a:t>cai</a:t>
            </a:r>
            <a:r>
              <a:rPr lang="en-US" altLang="ko-KR" sz="1100" baseline="0" dirty="0"/>
              <a:t> </a:t>
            </a:r>
            <a:r>
              <a:rPr lang="en-US" altLang="ko-KR" sz="1100" baseline="0" dirty="0" err="1"/>
              <a:t>tiến</a:t>
            </a:r>
            <a:r>
              <a:rPr lang="en-US" altLang="ko-KR" sz="1100" baseline="0" dirty="0"/>
              <a:t> </a:t>
            </a:r>
            <a:r>
              <a:rPr lang="en-US" altLang="ko-KR" sz="1100" baseline="0" dirty="0" err="1"/>
              <a:t>sẽ</a:t>
            </a:r>
            <a:r>
              <a:rPr lang="en-US" altLang="ko-KR" sz="1100" baseline="0" dirty="0"/>
              <a:t> </a:t>
            </a:r>
            <a:r>
              <a:rPr lang="en-US" altLang="ko-KR" sz="1100" baseline="0" dirty="0" err="1"/>
              <a:t>kho</a:t>
            </a:r>
            <a:r>
              <a:rPr lang="en-US" altLang="ko-KR" sz="1100" baseline="0" dirty="0"/>
              <a:t> khan </a:t>
            </a:r>
            <a:r>
              <a:rPr lang="en-US" altLang="ko-KR" sz="1100" baseline="0" dirty="0" err="1"/>
              <a:t>hơn</a:t>
            </a:r>
            <a:endParaRPr lang="en-US" altLang="ko-KR" sz="1100" baseline="0" dirty="0"/>
          </a:p>
          <a:p>
            <a:pPr>
              <a:defRPr/>
            </a:pPr>
            <a:r>
              <a:rPr lang="en-US" altLang="ko-KR" sz="1100" baseline="0" dirty="0" err="1"/>
              <a:t>Bản</a:t>
            </a:r>
            <a:r>
              <a:rPr lang="en-US" altLang="ko-KR" sz="1100" baseline="0" dirty="0"/>
              <a:t> </a:t>
            </a:r>
            <a:r>
              <a:rPr lang="en-US" altLang="ko-KR" sz="1100" baseline="0" dirty="0" err="1"/>
              <a:t>chất</a:t>
            </a:r>
            <a:r>
              <a:rPr lang="en-US" altLang="ko-KR" sz="1100" baseline="0" dirty="0"/>
              <a:t> </a:t>
            </a:r>
            <a:r>
              <a:rPr lang="en-US" altLang="ko-KR" sz="1100" baseline="0" dirty="0" err="1"/>
              <a:t>của</a:t>
            </a:r>
            <a:r>
              <a:rPr lang="en-US" altLang="ko-KR" sz="1100" baseline="0" dirty="0"/>
              <a:t> </a:t>
            </a:r>
            <a:r>
              <a:rPr lang="en-US" altLang="ko-KR" sz="1100" baseline="0" dirty="0" err="1"/>
              <a:t>tuyến</a:t>
            </a:r>
            <a:r>
              <a:rPr lang="en-US" altLang="ko-KR" sz="1100" baseline="0" dirty="0"/>
              <a:t> </a:t>
            </a:r>
            <a:r>
              <a:rPr lang="en-US" altLang="ko-KR" sz="1100" baseline="0" dirty="0" err="1"/>
              <a:t>tính</a:t>
            </a:r>
            <a:r>
              <a:rPr lang="en-US" altLang="ko-KR" sz="1100" baseline="0" dirty="0"/>
              <a:t> </a:t>
            </a:r>
            <a:r>
              <a:rPr lang="en-US" altLang="ko-KR" sz="1100" baseline="0" dirty="0" err="1"/>
              <a:t>là</a:t>
            </a:r>
            <a:r>
              <a:rPr lang="en-US" altLang="ko-KR" sz="1100" baseline="0" dirty="0"/>
              <a:t> </a:t>
            </a:r>
            <a:r>
              <a:rPr lang="en-US" altLang="ko-KR" sz="1100" baseline="0" dirty="0" err="1"/>
              <a:t>kết</a:t>
            </a:r>
            <a:r>
              <a:rPr lang="en-US" altLang="ko-KR" sz="1100" baseline="0" dirty="0"/>
              <a:t> </a:t>
            </a:r>
            <a:r>
              <a:rPr lang="en-US" altLang="ko-KR" sz="1100" baseline="0" dirty="0" err="1"/>
              <a:t>nối</a:t>
            </a:r>
            <a:r>
              <a:rPr lang="en-US" altLang="ko-KR" sz="1100" baseline="0" dirty="0"/>
              <a:t> </a:t>
            </a:r>
            <a:r>
              <a:rPr lang="en-US" altLang="ko-KR" sz="1100" baseline="0" dirty="0" err="1"/>
              <a:t>các</a:t>
            </a:r>
            <a:r>
              <a:rPr lang="en-US" altLang="ko-KR" sz="1100" baseline="0" dirty="0"/>
              <a:t> bias </a:t>
            </a:r>
            <a:r>
              <a:rPr lang="en-US" altLang="ko-KR" sz="1100" baseline="0" dirty="0" err="1"/>
              <a:t>lại</a:t>
            </a:r>
            <a:r>
              <a:rPr lang="en-US" altLang="ko-KR" sz="1100" baseline="0" dirty="0"/>
              <a:t> vs </a:t>
            </a:r>
            <a:r>
              <a:rPr lang="en-US" altLang="ko-KR" sz="1100" baseline="0" dirty="0" err="1"/>
              <a:t>nhau</a:t>
            </a:r>
            <a:r>
              <a:rPr lang="en-US" altLang="ko-KR" sz="1100" baseline="0" dirty="0"/>
              <a:t> </a:t>
            </a:r>
            <a:r>
              <a:rPr lang="en-US" altLang="ko-KR" sz="1100" baseline="0" dirty="0" err="1"/>
              <a:t>xem</a:t>
            </a:r>
            <a:r>
              <a:rPr lang="en-US" altLang="ko-KR" sz="1100" baseline="0" dirty="0"/>
              <a:t> </a:t>
            </a:r>
            <a:r>
              <a:rPr lang="en-US" altLang="ko-KR" sz="1100" baseline="0" dirty="0" err="1"/>
              <a:t>có</a:t>
            </a:r>
            <a:r>
              <a:rPr lang="en-US" altLang="ko-KR" sz="1100" baseline="0" dirty="0"/>
              <a:t> </a:t>
            </a:r>
            <a:r>
              <a:rPr lang="en-US" altLang="ko-KR" sz="1100" baseline="0" dirty="0" err="1"/>
              <a:t>thăng</a:t>
            </a:r>
            <a:r>
              <a:rPr lang="en-US" altLang="ko-KR" sz="1100" baseline="0" dirty="0"/>
              <a:t> hang </a:t>
            </a:r>
            <a:r>
              <a:rPr lang="en-US" altLang="ko-KR" sz="1100" baseline="0" dirty="0" err="1"/>
              <a:t>ko</a:t>
            </a:r>
            <a:endParaRPr lang="en-US" altLang="ko-KR" sz="1100" baseline="0" dirty="0"/>
          </a:p>
          <a:p>
            <a:pPr>
              <a:defRPr/>
            </a:pPr>
            <a:r>
              <a:rPr lang="en-US" altLang="ko-KR" sz="1100" baseline="0" dirty="0" err="1"/>
              <a:t>Nếu</a:t>
            </a:r>
            <a:r>
              <a:rPr lang="en-US" altLang="ko-KR" sz="1100" baseline="0" dirty="0"/>
              <a:t> </a:t>
            </a:r>
            <a:r>
              <a:rPr lang="en-US" altLang="ko-KR" sz="1100" baseline="0" dirty="0" err="1"/>
              <a:t>đường</a:t>
            </a:r>
            <a:r>
              <a:rPr lang="en-US" altLang="ko-KR" sz="1100" baseline="0" dirty="0"/>
              <a:t> </a:t>
            </a:r>
            <a:r>
              <a:rPr lang="en-US" altLang="ko-KR" sz="1100" baseline="0" dirty="0" err="1"/>
              <a:t>lệch</a:t>
            </a:r>
            <a:r>
              <a:rPr lang="en-US" altLang="ko-KR" sz="1100" baseline="0" dirty="0"/>
              <a:t> </a:t>
            </a:r>
            <a:r>
              <a:rPr lang="en-US" altLang="ko-KR" sz="1100" baseline="0" dirty="0" err="1"/>
              <a:t>chéo</a:t>
            </a:r>
            <a:r>
              <a:rPr lang="en-US" altLang="ko-KR" sz="1100" baseline="0" dirty="0"/>
              <a:t> </a:t>
            </a:r>
            <a:r>
              <a:rPr lang="en-US" altLang="ko-KR" sz="1100" baseline="0" dirty="0" err="1"/>
              <a:t>lên</a:t>
            </a:r>
            <a:r>
              <a:rPr lang="en-US" altLang="ko-KR" sz="1100" baseline="0" dirty="0"/>
              <a:t>, </a:t>
            </a:r>
            <a:r>
              <a:rPr lang="en-US" altLang="ko-KR" sz="1100" baseline="0" dirty="0" err="1"/>
              <a:t>càng</a:t>
            </a:r>
            <a:r>
              <a:rPr lang="en-US" altLang="ko-KR" sz="1100" baseline="0" dirty="0"/>
              <a:t> </a:t>
            </a:r>
            <a:r>
              <a:rPr lang="en-US" altLang="ko-KR" sz="1100" baseline="0" dirty="0" err="1"/>
              <a:t>đo</a:t>
            </a:r>
            <a:r>
              <a:rPr lang="en-US" altLang="ko-KR" sz="1100" baseline="0" dirty="0"/>
              <a:t> </a:t>
            </a:r>
            <a:r>
              <a:rPr lang="en-US" altLang="ko-KR" sz="1100" baseline="0" dirty="0" err="1"/>
              <a:t>dải</a:t>
            </a:r>
            <a:r>
              <a:rPr lang="en-US" altLang="ko-KR" sz="1100" baseline="0" dirty="0"/>
              <a:t> </a:t>
            </a:r>
            <a:r>
              <a:rPr lang="en-US" altLang="ko-KR" sz="1100" baseline="0" dirty="0" err="1"/>
              <a:t>cao</a:t>
            </a:r>
            <a:r>
              <a:rPr lang="en-US" altLang="ko-KR" sz="1100" baseline="0" dirty="0"/>
              <a:t> </a:t>
            </a:r>
            <a:r>
              <a:rPr lang="en-US" altLang="ko-KR" sz="1100" baseline="0" dirty="0" err="1"/>
              <a:t>thi</a:t>
            </a:r>
            <a:r>
              <a:rPr lang="en-US" altLang="ko-KR" sz="1100" baseline="0" dirty="0"/>
              <a:t> </a:t>
            </a:r>
            <a:r>
              <a:rPr lang="en-US" altLang="ko-KR" sz="1100" baseline="0" dirty="0" err="1"/>
              <a:t>lệch</a:t>
            </a:r>
            <a:r>
              <a:rPr lang="en-US" altLang="ko-KR" sz="1100" baseline="0" dirty="0"/>
              <a:t> </a:t>
            </a:r>
            <a:r>
              <a:rPr lang="en-US" altLang="ko-KR" sz="1100" baseline="0" dirty="0" err="1"/>
              <a:t>càng</a:t>
            </a:r>
            <a:r>
              <a:rPr lang="en-US" altLang="ko-KR" sz="1100" baseline="0" dirty="0"/>
              <a:t> </a:t>
            </a:r>
            <a:r>
              <a:rPr lang="en-US" altLang="ko-KR" sz="1100" baseline="0" dirty="0" err="1"/>
              <a:t>nhiều</a:t>
            </a:r>
            <a:r>
              <a:rPr lang="en-US" altLang="ko-KR" sz="1100" baseline="0" dirty="0"/>
              <a:t> </a:t>
            </a:r>
            <a:r>
              <a:rPr lang="en-US" altLang="ko-KR" sz="1100" baseline="0" dirty="0" err="1"/>
              <a:t>thi</a:t>
            </a:r>
            <a:r>
              <a:rPr lang="en-US" altLang="ko-KR" sz="1100" baseline="0" dirty="0"/>
              <a:t> </a:t>
            </a:r>
            <a:r>
              <a:rPr lang="en-US" altLang="ko-KR" sz="1100" baseline="0" dirty="0" err="1"/>
              <a:t>cai</a:t>
            </a:r>
            <a:r>
              <a:rPr lang="en-US" altLang="ko-KR" sz="1100" baseline="0" dirty="0"/>
              <a:t> </a:t>
            </a:r>
            <a:r>
              <a:rPr lang="en-US" altLang="ko-KR" sz="1100" baseline="0" dirty="0" err="1"/>
              <a:t>tiến</a:t>
            </a:r>
            <a:r>
              <a:rPr lang="en-US" altLang="ko-KR" sz="1100" baseline="0" dirty="0"/>
              <a:t> </a:t>
            </a:r>
            <a:r>
              <a:rPr lang="en-US" altLang="ko-KR" sz="1100" baseline="0" dirty="0" err="1"/>
              <a:t>ntn</a:t>
            </a:r>
            <a:r>
              <a:rPr lang="en-US" altLang="ko-KR" sz="1100" baseline="0" dirty="0"/>
              <a:t>? </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fai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tính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toan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ptrinh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thẳng</a:t>
            </a:r>
            <a:r>
              <a:rPr lang="en-US" altLang="ko-KR" sz="1100" baseline="0" dirty="0">
                <a:sym typeface="Wingdings" panose="05000000000000000000" pitchFamily="2" charset="2"/>
              </a:rPr>
              <a:t> , </a:t>
            </a:r>
            <a:r>
              <a:rPr lang="en-US" altLang="ko-KR" sz="1100" baseline="0" dirty="0" err="1">
                <a:sym typeface="Wingdings" panose="05000000000000000000" pitchFamily="2" charset="2"/>
              </a:rPr>
              <a:t>mà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ptrinh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thăng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ptrinh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bậc</a:t>
            </a:r>
            <a:r>
              <a:rPr lang="en-US" altLang="ko-KR" sz="1100" baseline="0" dirty="0">
                <a:sym typeface="Wingdings" panose="05000000000000000000" pitchFamily="2" charset="2"/>
              </a:rPr>
              <a:t> 1, </a:t>
            </a:r>
            <a:r>
              <a:rPr lang="en-US" altLang="ko-KR" sz="1100" baseline="0" dirty="0" err="1">
                <a:sym typeface="Wingdings" panose="05000000000000000000" pitchFamily="2" charset="2"/>
              </a:rPr>
              <a:t>dễ</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tiến</a:t>
            </a:r>
            <a:r>
              <a:rPr lang="en-US" altLang="ko-KR" sz="1100" baseline="0" dirty="0">
                <a:sym typeface="Wingdings" panose="05000000000000000000" pitchFamily="2" charset="2"/>
              </a:rPr>
              <a:t>: VD: y=2x+3, vs x(refer) </a:t>
            </a:r>
            <a:r>
              <a:rPr lang="en-US" altLang="ko-KR" sz="1100" baseline="0" dirty="0" err="1">
                <a:sym typeface="Wingdings" panose="05000000000000000000" pitchFamily="2" charset="2"/>
              </a:rPr>
              <a:t>thi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độ</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lệc</a:t>
            </a:r>
            <a:r>
              <a:rPr lang="en-US" altLang="ko-KR" sz="1100" baseline="0" dirty="0">
                <a:sym typeface="Wingdings" panose="05000000000000000000" pitchFamily="2" charset="2"/>
              </a:rPr>
              <a:t> (y) </a:t>
            </a:r>
            <a:r>
              <a:rPr lang="en-US" altLang="ko-KR" sz="1100" baseline="0" dirty="0" err="1">
                <a:sym typeface="Wingdings" panose="05000000000000000000" pitchFamily="2" charset="2"/>
              </a:rPr>
              <a:t>bằng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bao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nhiêu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vân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dễ</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tiến</a:t>
            </a:r>
            <a:r>
              <a:rPr lang="en-US" altLang="ko-KR" sz="1100" baseline="0" dirty="0">
                <a:sym typeface="Wingdings" panose="05000000000000000000" pitchFamily="2" charset="2"/>
              </a:rPr>
              <a:t>. </a:t>
            </a:r>
          </a:p>
          <a:p>
            <a:pPr>
              <a:defRPr/>
            </a:pPr>
            <a:r>
              <a:rPr lang="en-US" altLang="ko-KR" sz="1100" baseline="0" dirty="0" err="1">
                <a:sym typeface="Wingdings" panose="05000000000000000000" pitchFamily="2" charset="2"/>
              </a:rPr>
              <a:t>Đôi</a:t>
            </a:r>
            <a:r>
              <a:rPr lang="en-US" altLang="ko-KR" sz="1100" baseline="0" dirty="0">
                <a:sym typeface="Wingdings" panose="05000000000000000000" pitchFamily="2" charset="2"/>
              </a:rPr>
              <a:t> vs </a:t>
            </a:r>
            <a:r>
              <a:rPr lang="en-US" altLang="ko-KR" sz="1100" baseline="0" dirty="0" err="1">
                <a:sym typeface="Wingdings" panose="05000000000000000000" pitchFamily="2" charset="2"/>
              </a:rPr>
              <a:t>máy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tự</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động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máy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ctrinh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bù</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nó</a:t>
            </a:r>
            <a:r>
              <a:rPr lang="en-US" altLang="ko-KR" sz="1100" baseline="0" dirty="0">
                <a:sym typeface="Wingdings" panose="05000000000000000000" pitchFamily="2" charset="2"/>
              </a:rPr>
              <a:t> bang </a:t>
            </a:r>
            <a:r>
              <a:rPr lang="en-US" altLang="ko-KR" sz="1100" baseline="0" dirty="0" err="1">
                <a:sym typeface="Wingdings" panose="05000000000000000000" pitchFamily="2" charset="2"/>
              </a:rPr>
              <a:t>hàm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số</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nếu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cali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thủ</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công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bằng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tay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thì</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cũng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dựng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ptrinh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này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rôi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tinh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toàn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bằng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tay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bù</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vào</a:t>
            </a:r>
            <a:endParaRPr lang="en-US" altLang="ko-KR" sz="1100" baseline="0" dirty="0">
              <a:sym typeface="Wingdings" panose="05000000000000000000" pitchFamily="2" charset="2"/>
            </a:endParaRPr>
          </a:p>
          <a:p>
            <a:pPr>
              <a:defRPr/>
            </a:pPr>
            <a:endParaRPr lang="en-US" altLang="ko-KR" sz="1100" baseline="0" dirty="0">
              <a:sym typeface="Wingdings" panose="05000000000000000000" pitchFamily="2" charset="2"/>
            </a:endParaRPr>
          </a:p>
          <a:p>
            <a:pPr>
              <a:defRPr/>
            </a:pPr>
            <a:r>
              <a:rPr lang="en-US" altLang="ko-KR" sz="1100" baseline="0" dirty="0" err="1">
                <a:sym typeface="Wingdings" panose="05000000000000000000" pitchFamily="2" charset="2"/>
              </a:rPr>
              <a:t>Độ</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ổn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đinh</a:t>
            </a:r>
            <a:r>
              <a:rPr lang="en-US" altLang="ko-KR" sz="1100" baseline="0" dirty="0">
                <a:sym typeface="Wingdings" panose="05000000000000000000" pitchFamily="2" charset="2"/>
              </a:rPr>
              <a:t>:</a:t>
            </a:r>
          </a:p>
          <a:p>
            <a:pPr>
              <a:defRPr/>
            </a:pPr>
            <a:r>
              <a:rPr lang="en-US" altLang="ko-KR" sz="1100" baseline="0" dirty="0" err="1">
                <a:sym typeface="Wingdings" panose="05000000000000000000" pitchFamily="2" charset="2"/>
              </a:rPr>
              <a:t>Làm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thê</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nào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biêt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cân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ổn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định</a:t>
            </a:r>
            <a:r>
              <a:rPr lang="en-US" altLang="ko-KR" sz="1100" baseline="0" dirty="0">
                <a:sym typeface="Wingdings" panose="05000000000000000000" pitchFamily="2" charset="2"/>
              </a:rPr>
              <a:t> hay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 </a:t>
            </a:r>
            <a:r>
              <a:rPr lang="en-US" altLang="ko-KR" sz="1100" baseline="0" dirty="0" err="1">
                <a:sym typeface="Wingdings" panose="05000000000000000000" pitchFamily="2" charset="2"/>
              </a:rPr>
              <a:t>để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biết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dây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chuyên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ổn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định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fai</a:t>
            </a:r>
            <a:r>
              <a:rPr lang="en-US" altLang="ko-KR" sz="1100" baseline="0" dirty="0">
                <a:sym typeface="Wingdings" panose="05000000000000000000" pitchFamily="2" charset="2"/>
              </a:rPr>
              <a:t> verify </a:t>
            </a:r>
            <a:r>
              <a:rPr lang="en-US" altLang="ko-KR" sz="1100" baseline="0" dirty="0" err="1">
                <a:sym typeface="Wingdings" panose="05000000000000000000" pitchFamily="2" charset="2"/>
              </a:rPr>
              <a:t>nó</a:t>
            </a:r>
            <a:r>
              <a:rPr lang="en-US" altLang="ko-KR" sz="1100" baseline="0" dirty="0">
                <a:sym typeface="Wingdings" panose="05000000000000000000" pitchFamily="2" charset="2"/>
              </a:rPr>
              <a:t> 2,3 </a:t>
            </a:r>
            <a:r>
              <a:rPr lang="en-US" altLang="ko-KR" sz="1100" baseline="0" dirty="0" err="1">
                <a:sym typeface="Wingdings" panose="05000000000000000000" pitchFamily="2" charset="2"/>
              </a:rPr>
              <a:t>tháng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xem</a:t>
            </a:r>
            <a:r>
              <a:rPr lang="en-US" altLang="ko-KR" sz="1100" baseline="0" dirty="0">
                <a:sym typeface="Wingdings" panose="05000000000000000000" pitchFamily="2" charset="2"/>
              </a:rPr>
              <a:t> ti </a:t>
            </a:r>
            <a:r>
              <a:rPr lang="en-US" altLang="ko-KR" sz="1100" baseline="0" dirty="0" err="1">
                <a:sym typeface="Wingdings" panose="05000000000000000000" pitchFamily="2" charset="2"/>
              </a:rPr>
              <a:t>lê</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lỗi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thê</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nào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mới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biêt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ổn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định</a:t>
            </a:r>
            <a:r>
              <a:rPr lang="en-US" altLang="ko-KR" sz="1100" baseline="0" dirty="0">
                <a:sym typeface="Wingdings" panose="05000000000000000000" pitchFamily="2" charset="2"/>
              </a:rPr>
              <a:t> hay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chứ</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fai</a:t>
            </a:r>
            <a:r>
              <a:rPr lang="en-US" altLang="ko-KR" sz="1100" baseline="0" dirty="0">
                <a:sym typeface="Wingdings" panose="05000000000000000000" pitchFamily="2" charset="2"/>
              </a:rPr>
              <a:t> 1,2 </a:t>
            </a:r>
            <a:r>
              <a:rPr lang="en-US" altLang="ko-KR" sz="1100" baseline="0" dirty="0" err="1">
                <a:sym typeface="Wingdings" panose="05000000000000000000" pitchFamily="2" charset="2"/>
              </a:rPr>
              <a:t>ngày</a:t>
            </a:r>
            <a:r>
              <a:rPr lang="en-US" altLang="ko-KR" sz="1100" baseline="0" dirty="0">
                <a:sym typeface="Wingdings" panose="05000000000000000000" pitchFamily="2" charset="2"/>
              </a:rPr>
              <a:t>.</a:t>
            </a:r>
          </a:p>
          <a:p>
            <a:pPr>
              <a:defRPr/>
            </a:pPr>
            <a:r>
              <a:rPr lang="en-US" altLang="ko-KR" sz="1100" baseline="0" dirty="0" err="1">
                <a:sym typeface="Wingdings" panose="05000000000000000000" pitchFamily="2" charset="2"/>
              </a:rPr>
              <a:t>Vậy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cta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sẽ</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lấy</a:t>
            </a:r>
            <a:r>
              <a:rPr lang="en-US" altLang="ko-KR" sz="1100" baseline="0" dirty="0">
                <a:sym typeface="Wingdings" panose="05000000000000000000" pitchFamily="2" charset="2"/>
              </a:rPr>
              <a:t> 1 </a:t>
            </a:r>
            <a:r>
              <a:rPr lang="en-US" altLang="ko-KR" sz="1100" baseline="0" dirty="0" err="1">
                <a:sym typeface="Wingdings" panose="05000000000000000000" pitchFamily="2" charset="2"/>
              </a:rPr>
              <a:t>gtri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nó</a:t>
            </a:r>
            <a:r>
              <a:rPr lang="en-US" altLang="ko-KR" sz="1100" baseline="0" dirty="0">
                <a:sym typeface="Wingdings" panose="05000000000000000000" pitchFamily="2" charset="2"/>
              </a:rPr>
              <a:t> hang </a:t>
            </a:r>
            <a:r>
              <a:rPr lang="en-US" altLang="ko-KR" sz="1100" baseline="0" dirty="0" err="1">
                <a:sym typeface="Wingdings" panose="05000000000000000000" pitchFamily="2" charset="2"/>
              </a:rPr>
              <a:t>ngày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biết</a:t>
            </a:r>
            <a:r>
              <a:rPr lang="en-US" altLang="ko-KR" sz="1100" baseline="0" dirty="0">
                <a:sym typeface="Wingdings" panose="05000000000000000000" pitchFamily="2" charset="2"/>
              </a:rPr>
              <a:t> no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ổn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định</a:t>
            </a:r>
            <a:r>
              <a:rPr lang="en-US" altLang="ko-KR" sz="1100" baseline="0" dirty="0">
                <a:sym typeface="Wingdings" panose="05000000000000000000" pitchFamily="2" charset="2"/>
              </a:rPr>
              <a:t> hay </a:t>
            </a:r>
            <a:r>
              <a:rPr lang="en-US" altLang="ko-KR" sz="1100" baseline="0" dirty="0" err="1">
                <a:sym typeface="Wingdings" panose="05000000000000000000" pitchFamily="2" charset="2"/>
              </a:rPr>
              <a:t>ko</a:t>
            </a:r>
            <a:endParaRPr lang="ko-KR" altLang="en-US" sz="1100" dirty="0"/>
          </a:p>
        </p:txBody>
      </p:sp>
      <p:sp>
        <p:nvSpPr>
          <p:cNvPr id="4" name="슬라이드 번호 개체 틀 3"/>
          <p:cNvSpPr>
            <a:spLocks noGrp="1"/>
          </p:cNvSpPr>
          <p:nvPr>
            <p:ph type="sldNum" sz="quarter" idx="5"/>
          </p:nvPr>
        </p:nvSpPr>
        <p:spPr/>
        <p:txBody>
          <a:bodyPr/>
          <a:lstStyle/>
          <a:p>
            <a:pPr>
              <a:defRPr/>
            </a:pPr>
            <a:fld id="{767B848D-FD1D-47F3-A433-2EB1BB5CEC91}" type="slidenum">
              <a:rPr lang="ko-KR" altLang="en-US" smtClean="0"/>
              <a:pPr>
                <a:defRPr/>
              </a:pPr>
              <a:t>190</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77038081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1" name="슬라이드 노트 개체 틀 2"/>
          <p:cNvSpPr>
            <a:spLocks noGrp="1"/>
          </p:cNvSpPr>
          <p:nvPr>
            <p:ph type="body" idx="1"/>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a:defRPr/>
            </a:pPr>
            <a:r>
              <a:rPr lang="en-US" altLang="ko-KR" dirty="0"/>
              <a:t>Precision = Gage R&amp;R</a:t>
            </a:r>
          </a:p>
          <a:p>
            <a:pPr>
              <a:defRPr/>
            </a:pPr>
            <a:r>
              <a:rPr lang="en-US" altLang="ko-KR" sz="1200" b="1" dirty="0">
                <a:solidFill>
                  <a:srgbClr val="000000"/>
                </a:solidFill>
                <a:latin typeface="Arial" pitchFamily="34" charset="0"/>
                <a:ea typeface="맑은 고딕" pitchFamily="50" charset="-127"/>
                <a:cs typeface="Arial" pitchFamily="34" charset="0"/>
              </a:rPr>
              <a:t>Repeatability: </a:t>
            </a:r>
            <a:r>
              <a:rPr lang="en-US" altLang="ko-KR" sz="1200" b="1" dirty="0" err="1">
                <a:solidFill>
                  <a:srgbClr val="000000"/>
                </a:solidFill>
                <a:latin typeface="Arial" pitchFamily="34" charset="0"/>
                <a:ea typeface="맑은 고딕" pitchFamily="50" charset="-127"/>
                <a:cs typeface="Arial" pitchFamily="34" charset="0"/>
              </a:rPr>
              <a:t>đánh</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giá</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lặp</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lại</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nhiều</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lần</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sử</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dụng</a:t>
            </a:r>
            <a:r>
              <a:rPr lang="en-US" altLang="ko-KR" sz="1200" b="1" baseline="0" dirty="0">
                <a:solidFill>
                  <a:srgbClr val="000000"/>
                </a:solidFill>
                <a:latin typeface="Arial" pitchFamily="34" charset="0"/>
                <a:ea typeface="맑은 고딕" pitchFamily="50" charset="-127"/>
                <a:cs typeface="Arial" pitchFamily="34" charset="0"/>
              </a:rPr>
              <a:t> 1 </a:t>
            </a:r>
            <a:r>
              <a:rPr lang="en-US" altLang="ko-KR" sz="1200" b="1" baseline="0" dirty="0" err="1">
                <a:solidFill>
                  <a:srgbClr val="000000"/>
                </a:solidFill>
                <a:latin typeface="Arial" pitchFamily="34" charset="0"/>
                <a:ea typeface="맑은 고딕" pitchFamily="50" charset="-127"/>
                <a:cs typeface="Arial" pitchFamily="34" charset="0"/>
              </a:rPr>
              <a:t>người</a:t>
            </a:r>
            <a:r>
              <a:rPr lang="en-US" altLang="ko-KR" sz="1200" b="1" baseline="0" dirty="0">
                <a:solidFill>
                  <a:srgbClr val="000000"/>
                </a:solidFill>
                <a:latin typeface="Arial" pitchFamily="34" charset="0"/>
                <a:ea typeface="맑은 고딕" pitchFamily="50" charset="-127"/>
                <a:cs typeface="Arial" pitchFamily="34" charset="0"/>
              </a:rPr>
              <a:t>, 1 </a:t>
            </a:r>
            <a:r>
              <a:rPr lang="en-US" altLang="ko-KR" sz="1200" b="1" baseline="0" dirty="0" err="1">
                <a:solidFill>
                  <a:srgbClr val="000000"/>
                </a:solidFill>
                <a:latin typeface="Arial" pitchFamily="34" charset="0"/>
                <a:ea typeface="맑은 고딕" pitchFamily="50" charset="-127"/>
                <a:cs typeface="Arial" pitchFamily="34" charset="0"/>
              </a:rPr>
              <a:t>dụng</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cụ</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duy</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nhất</a:t>
            </a:r>
            <a:endParaRPr lang="en-US" altLang="ko-KR" sz="1200" b="1" baseline="0" dirty="0">
              <a:solidFill>
                <a:srgbClr val="000000"/>
              </a:solidFill>
              <a:latin typeface="Arial" pitchFamily="34" charset="0"/>
              <a:ea typeface="맑은 고딕" pitchFamily="50" charset="-127"/>
              <a:cs typeface="Arial" pitchFamily="34" charset="0"/>
            </a:endParaRPr>
          </a:p>
          <a:p>
            <a:pPr>
              <a:defRPr/>
            </a:pPr>
            <a:r>
              <a:rPr lang="en-US" altLang="ko-KR" sz="1200" b="1" baseline="0" dirty="0">
                <a:solidFill>
                  <a:srgbClr val="000000"/>
                </a:solidFill>
                <a:latin typeface="Arial" pitchFamily="34" charset="0"/>
                <a:ea typeface="맑은 고딕" pitchFamily="50" charset="-127"/>
                <a:cs typeface="Arial" pitchFamily="34" charset="0"/>
              </a:rPr>
              <a:t>VD: </a:t>
            </a:r>
            <a:r>
              <a:rPr lang="en-US" altLang="ko-KR" sz="1200" b="1" baseline="0" dirty="0" err="1">
                <a:solidFill>
                  <a:srgbClr val="000000"/>
                </a:solidFill>
                <a:latin typeface="Arial" pitchFamily="34" charset="0"/>
                <a:ea typeface="맑은 고딕" pitchFamily="50" charset="-127"/>
                <a:cs typeface="Arial" pitchFamily="34" charset="0"/>
              </a:rPr>
              <a:t>đo</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chiều</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dai</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cai</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bút</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này</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chỉ</a:t>
            </a:r>
            <a:r>
              <a:rPr lang="en-US" altLang="ko-KR" sz="1200" b="1" baseline="0" dirty="0">
                <a:solidFill>
                  <a:srgbClr val="000000"/>
                </a:solidFill>
                <a:latin typeface="Arial" pitchFamily="34" charset="0"/>
                <a:ea typeface="맑은 고딕" pitchFamily="50" charset="-127"/>
                <a:cs typeface="Arial" pitchFamily="34" charset="0"/>
              </a:rPr>
              <a:t> dung 1 </a:t>
            </a:r>
            <a:r>
              <a:rPr lang="en-US" altLang="ko-KR" sz="1200" b="1" baseline="0" dirty="0" err="1">
                <a:solidFill>
                  <a:srgbClr val="000000"/>
                </a:solidFill>
                <a:latin typeface="Arial" pitchFamily="34" charset="0"/>
                <a:ea typeface="맑은 고딕" pitchFamily="50" charset="-127"/>
                <a:cs typeface="Arial" pitchFamily="34" charset="0"/>
              </a:rPr>
              <a:t>người</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đo</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lại</a:t>
            </a:r>
            <a:r>
              <a:rPr lang="en-US" altLang="ko-KR" sz="1200" b="1" baseline="0" dirty="0">
                <a:solidFill>
                  <a:srgbClr val="000000"/>
                </a:solidFill>
                <a:latin typeface="Arial" pitchFamily="34" charset="0"/>
                <a:ea typeface="맑은 고딕" pitchFamily="50" charset="-127"/>
                <a:cs typeface="Arial" pitchFamily="34" charset="0"/>
              </a:rPr>
              <a:t> 30 </a:t>
            </a:r>
            <a:r>
              <a:rPr lang="en-US" altLang="ko-KR" sz="1200" b="1" baseline="0" dirty="0" err="1">
                <a:solidFill>
                  <a:srgbClr val="000000"/>
                </a:solidFill>
                <a:latin typeface="Arial" pitchFamily="34" charset="0"/>
                <a:ea typeface="맑은 고딕" pitchFamily="50" charset="-127"/>
                <a:cs typeface="Arial" pitchFamily="34" charset="0"/>
              </a:rPr>
              <a:t>lần</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đây</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là</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tiêu</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chuẩn</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thâm</a:t>
            </a:r>
            <a:r>
              <a:rPr lang="en-US" altLang="ko-KR" sz="1200" b="1" baseline="0" dirty="0">
                <a:solidFill>
                  <a:srgbClr val="000000"/>
                </a:solidFill>
                <a:latin typeface="Arial" pitchFamily="34" charset="0"/>
                <a:ea typeface="맑은 고딕" pitchFamily="50" charset="-127"/>
                <a:cs typeface="Arial" pitchFamily="34" charset="0"/>
              </a:rPr>
              <a:t> chi vs GM </a:t>
            </a:r>
            <a:r>
              <a:rPr lang="en-US" altLang="ko-KR" sz="1200" b="1" baseline="0" dirty="0" err="1">
                <a:solidFill>
                  <a:srgbClr val="000000"/>
                </a:solidFill>
                <a:latin typeface="Arial" pitchFamily="34" charset="0"/>
                <a:ea typeface="맑은 고딕" pitchFamily="50" charset="-127"/>
                <a:cs typeface="Arial" pitchFamily="34" charset="0"/>
              </a:rPr>
              <a:t>yêu</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cầu</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đo</a:t>
            </a:r>
            <a:r>
              <a:rPr lang="en-US" altLang="ko-KR" sz="1200" b="1" baseline="0" dirty="0">
                <a:solidFill>
                  <a:srgbClr val="000000"/>
                </a:solidFill>
                <a:latin typeface="Arial" pitchFamily="34" charset="0"/>
                <a:ea typeface="맑은 고딕" pitchFamily="50" charset="-127"/>
                <a:cs typeface="Arial" pitchFamily="34" charset="0"/>
              </a:rPr>
              <a:t> 120 </a:t>
            </a:r>
            <a:r>
              <a:rPr lang="en-US" altLang="ko-KR" sz="1200" b="1" baseline="0" dirty="0" err="1">
                <a:solidFill>
                  <a:srgbClr val="000000"/>
                </a:solidFill>
                <a:latin typeface="Arial" pitchFamily="34" charset="0"/>
                <a:ea typeface="맑은 고딕" pitchFamily="50" charset="-127"/>
                <a:cs typeface="Arial" pitchFamily="34" charset="0"/>
              </a:rPr>
              <a:t>lần</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người</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đo</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đc</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cấp</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chứng</a:t>
            </a:r>
            <a:r>
              <a:rPr lang="en-US" altLang="ko-KR" sz="1200" b="1" baseline="0" dirty="0">
                <a:solidFill>
                  <a:srgbClr val="000000"/>
                </a:solidFill>
                <a:latin typeface="Arial" pitchFamily="34" charset="0"/>
                <a:ea typeface="맑은 고딕" pitchFamily="50" charset="-127"/>
                <a:cs typeface="Arial" pitchFamily="34" charset="0"/>
              </a:rPr>
              <a:t> </a:t>
            </a:r>
            <a:r>
              <a:rPr lang="en-US" altLang="ko-KR" sz="1200" b="1" baseline="0" dirty="0" err="1">
                <a:solidFill>
                  <a:srgbClr val="000000"/>
                </a:solidFill>
                <a:latin typeface="Arial" pitchFamily="34" charset="0"/>
                <a:ea typeface="맑은 고딕" pitchFamily="50" charset="-127"/>
                <a:cs typeface="Arial" pitchFamily="34" charset="0"/>
              </a:rPr>
              <a:t>chỉ</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nếu</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30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lân</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đo</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mà</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sai</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số</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lớn</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thi</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vđề</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nằm</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ở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dụng</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cụ</a:t>
            </a:r>
            <a:endPar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endParaRPr>
          </a:p>
          <a:p>
            <a:pPr>
              <a:defRPr/>
            </a:pP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Như</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vậy</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rêpatability</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là</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đánh</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giá</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dụng</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cụ</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đo</a:t>
            </a:r>
            <a:endPar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endParaRPr>
          </a:p>
          <a:p>
            <a:pPr>
              <a:defRPr/>
            </a:pPr>
            <a:endPar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endParaRPr>
          </a:p>
          <a:p>
            <a:pPr>
              <a:defRPr/>
            </a:pP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Nếu</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muốn</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đánh</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giá</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người</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đo</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thi</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vẫn</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dụng</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cụ</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đó</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ta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mời</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nhiều</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người</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kahcs</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nhau</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đo</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đó</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là</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những</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ngươi</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đang</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thực</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hiện</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đo</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đạc</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dưới</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chuyền</a:t>
            </a:r>
            <a:r>
              <a:rPr lang="en-US" altLang="ko-KR" sz="1200" b="1" baseline="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lang="en-US" altLang="ko-KR" sz="1200" b="1" baseline="0" dirty="0" err="1">
                <a:solidFill>
                  <a:srgbClr val="000000"/>
                </a:solidFill>
                <a:latin typeface="Arial" pitchFamily="34" charset="0"/>
                <a:ea typeface="맑은 고딕" pitchFamily="50" charset="-127"/>
                <a:cs typeface="Arial" pitchFamily="34" charset="0"/>
                <a:sym typeface="Wingdings" panose="05000000000000000000" pitchFamily="2" charset="2"/>
              </a:rPr>
              <a:t>thôi</a:t>
            </a:r>
            <a:endParaRPr lang="ko-KR" altLang="en-US" dirty="0"/>
          </a:p>
        </p:txBody>
      </p:sp>
      <p:sp>
        <p:nvSpPr>
          <p:cNvPr id="4" name="슬라이드 번호 개체 틀 3"/>
          <p:cNvSpPr>
            <a:spLocks noGrp="1"/>
          </p:cNvSpPr>
          <p:nvPr>
            <p:ph type="sldNum" sz="quarter" idx="5"/>
          </p:nvPr>
        </p:nvSpPr>
        <p:spPr/>
        <p:txBody>
          <a:bodyPr/>
          <a:lstStyle/>
          <a:p>
            <a:pPr>
              <a:defRPr/>
            </a:pPr>
            <a:fld id="{F427ACAD-D284-492B-A347-4C8ECC9161F0}" type="slidenum">
              <a:rPr lang="ko-KR" altLang="en-US" smtClean="0"/>
              <a:pPr>
                <a:defRPr/>
              </a:pPr>
              <a:t>191</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15788013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4176B083-23D8-424A-A68A-12F88EEDFA46}" type="slidenum">
              <a:rPr lang="ko-KR" altLang="en-US" smtClean="0"/>
              <a:pPr>
                <a:defRPr/>
              </a:pPr>
              <a:t>192</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41008293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GB" sz="1200" b="0" i="0" kern="1200" dirty="0">
                <a:solidFill>
                  <a:schemeClr val="tx1"/>
                </a:solidFill>
                <a:effectLst/>
                <a:latin typeface="+mn-lt"/>
                <a:ea typeface="+mn-ea"/>
                <a:cs typeface="+mn-cs"/>
              </a:rPr>
              <a:t>One thing that is overlooked sometimes is the operator-part interaction. This type of interaction occurs when an operator measures a part differently from other operators. If an operator-part interaction exists, it needs to be corrected. It is a sign of inconsistency in the measurement system.</a:t>
            </a:r>
            <a:endParaRPr lang="ko-KR" altLang="en-US" sz="1100" dirty="0"/>
          </a:p>
        </p:txBody>
      </p:sp>
      <p:sp>
        <p:nvSpPr>
          <p:cNvPr id="4" name="슬라이드 번호 개체 틀 3"/>
          <p:cNvSpPr>
            <a:spLocks noGrp="1"/>
          </p:cNvSpPr>
          <p:nvPr>
            <p:ph type="sldNum" sz="quarter" idx="5"/>
          </p:nvPr>
        </p:nvSpPr>
        <p:spPr/>
        <p:txBody>
          <a:bodyPr/>
          <a:lstStyle/>
          <a:p>
            <a:pPr>
              <a:defRPr/>
            </a:pPr>
            <a:fld id="{0ACDCF7E-7B75-4037-A501-FA0FF95155E2}" type="slidenum">
              <a:rPr lang="ko-KR" altLang="en-US" smtClean="0"/>
              <a:pPr>
                <a:defRPr/>
              </a:pPr>
              <a:t>193</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79814041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슬라이드 노트 개체 틀 2"/>
          <p:cNvSpPr>
            <a:spLocks noGrp="1"/>
          </p:cNvSpPr>
          <p:nvPr>
            <p:ph type="body" idx="1"/>
          </p:nvPr>
        </p:nvSpPr>
        <p:spPr/>
        <p:txBody>
          <a:bodyPr>
            <a:normAutofit fontScale="85000" lnSpcReduction="10000"/>
          </a:bodyPr>
          <a:lstStyle/>
          <a:p>
            <a:pPr>
              <a:defRPr/>
            </a:pPr>
            <a:r>
              <a:rPr lang="en-US" altLang="ko-KR" sz="1100" dirty="0" err="1"/>
              <a:t>Mục</a:t>
            </a:r>
            <a:r>
              <a:rPr lang="en-US" altLang="ko-KR" sz="1100" baseline="0" dirty="0"/>
              <a:t> </a:t>
            </a:r>
            <a:r>
              <a:rPr lang="en-US" altLang="ko-KR" sz="1100" baseline="0" dirty="0" err="1"/>
              <a:t>đích</a:t>
            </a:r>
            <a:r>
              <a:rPr lang="en-US" altLang="ko-KR" sz="1100" baseline="0" dirty="0"/>
              <a:t> </a:t>
            </a:r>
            <a:r>
              <a:rPr lang="en-US" altLang="ko-KR" sz="1100" baseline="0" dirty="0" err="1"/>
              <a:t>ngày</a:t>
            </a:r>
            <a:r>
              <a:rPr lang="en-US" altLang="ko-KR" sz="1100" baseline="0" dirty="0"/>
              <a:t> </a:t>
            </a:r>
            <a:r>
              <a:rPr lang="en-US" altLang="ko-KR" sz="1100" baseline="0" dirty="0" err="1"/>
              <a:t>hnay</a:t>
            </a:r>
            <a:r>
              <a:rPr lang="en-US" altLang="ko-KR" sz="1100" baseline="0" dirty="0"/>
              <a:t> </a:t>
            </a:r>
            <a:r>
              <a:rPr lang="en-US" altLang="ko-KR" sz="1100" baseline="0" dirty="0" err="1"/>
              <a:t>là</a:t>
            </a:r>
            <a:r>
              <a:rPr lang="en-US" altLang="ko-KR" sz="1100" baseline="0" dirty="0"/>
              <a:t> minh </a:t>
            </a:r>
            <a:r>
              <a:rPr lang="en-US" altLang="ko-KR" sz="1100" baseline="0" dirty="0" err="1"/>
              <a:t>sẽ</a:t>
            </a:r>
            <a:r>
              <a:rPr lang="en-US" altLang="ko-KR" sz="1100" baseline="0" dirty="0"/>
              <a:t> </a:t>
            </a:r>
            <a:r>
              <a:rPr lang="en-US" altLang="ko-KR" sz="1100" baseline="0" dirty="0" err="1"/>
              <a:t>đi</a:t>
            </a:r>
            <a:r>
              <a:rPr lang="en-US" altLang="ko-KR" sz="1100" baseline="0" dirty="0"/>
              <a:t> </a:t>
            </a:r>
            <a:r>
              <a:rPr lang="en-US" altLang="ko-KR" sz="1100" baseline="0" dirty="0" err="1"/>
              <a:t>tìm</a:t>
            </a:r>
            <a:r>
              <a:rPr lang="en-US" altLang="ko-KR" sz="1100" baseline="0" dirty="0"/>
              <a:t> </a:t>
            </a:r>
            <a:r>
              <a:rPr lang="en-US" altLang="ko-KR" sz="1100" baseline="0" dirty="0" err="1"/>
              <a:t>hiểu</a:t>
            </a:r>
            <a:r>
              <a:rPr lang="en-US" altLang="ko-KR" sz="1100" baseline="0" dirty="0"/>
              <a:t> </a:t>
            </a:r>
            <a:r>
              <a:rPr lang="en-US" altLang="ko-KR" sz="1100" baseline="0" dirty="0" err="1"/>
              <a:t>tât</a:t>
            </a:r>
            <a:r>
              <a:rPr lang="en-US" altLang="ko-KR" sz="1100" baseline="0" dirty="0"/>
              <a:t> </a:t>
            </a:r>
            <a:r>
              <a:rPr lang="en-US" altLang="ko-KR" sz="1100" baseline="0" dirty="0" err="1"/>
              <a:t>cả</a:t>
            </a:r>
            <a:r>
              <a:rPr lang="en-US" altLang="ko-KR" sz="1100" baseline="0" dirty="0"/>
              <a:t> </a:t>
            </a:r>
            <a:r>
              <a:rPr lang="en-US" altLang="ko-KR" sz="1100" baseline="0" dirty="0" err="1"/>
              <a:t>các</a:t>
            </a:r>
            <a:r>
              <a:rPr lang="en-US" altLang="ko-KR" sz="1100" baseline="0" dirty="0"/>
              <a:t> </a:t>
            </a:r>
            <a:r>
              <a:rPr lang="en-US" altLang="ko-KR" sz="1100" baseline="0" dirty="0" err="1"/>
              <a:t>loại</a:t>
            </a:r>
            <a:r>
              <a:rPr lang="en-US" altLang="ko-KR" sz="1100" baseline="0" dirty="0"/>
              <a:t> gage </a:t>
            </a:r>
            <a:r>
              <a:rPr lang="en-US" altLang="ko-KR" sz="1100" baseline="0" dirty="0" err="1"/>
              <a:t>để</a:t>
            </a:r>
            <a:r>
              <a:rPr lang="en-US" altLang="ko-KR" sz="1100" baseline="0" dirty="0"/>
              <a:t> </a:t>
            </a:r>
            <a:r>
              <a:rPr lang="en-US" altLang="ko-KR" sz="1100" baseline="0" dirty="0" err="1"/>
              <a:t>làm</a:t>
            </a:r>
            <a:r>
              <a:rPr lang="en-US" altLang="ko-KR" sz="1100" baseline="0" dirty="0"/>
              <a:t> </a:t>
            </a:r>
            <a:r>
              <a:rPr lang="en-US" altLang="ko-KR" sz="1100" baseline="0" dirty="0" err="1"/>
              <a:t>sao</a:t>
            </a:r>
            <a:r>
              <a:rPr lang="en-US" altLang="ko-KR" sz="1100" baseline="0" dirty="0"/>
              <a:t> verify </a:t>
            </a:r>
            <a:r>
              <a:rPr lang="en-US" altLang="ko-KR" sz="1100" baseline="0" dirty="0" err="1"/>
              <a:t>đc</a:t>
            </a:r>
            <a:r>
              <a:rPr lang="en-US" altLang="ko-KR" sz="1100" baseline="0" dirty="0"/>
              <a:t> 5 </a:t>
            </a:r>
            <a:r>
              <a:rPr lang="en-US" altLang="ko-KR" sz="1100" baseline="0" dirty="0" err="1"/>
              <a:t>hạng</a:t>
            </a:r>
            <a:r>
              <a:rPr lang="en-US" altLang="ko-KR" sz="1100" baseline="0" dirty="0"/>
              <a:t> </a:t>
            </a:r>
            <a:r>
              <a:rPr lang="en-US" altLang="ko-KR" sz="1100" baseline="0" dirty="0" err="1"/>
              <a:t>mục</a:t>
            </a:r>
            <a:r>
              <a:rPr lang="en-US" altLang="ko-KR" sz="1100" baseline="0" dirty="0"/>
              <a:t> </a:t>
            </a:r>
            <a:r>
              <a:rPr lang="en-US" altLang="ko-KR" sz="1100" baseline="0" dirty="0" err="1"/>
              <a:t>này</a:t>
            </a:r>
            <a:endParaRPr lang="en-US" altLang="ko-KR" sz="1100" baseline="0" dirty="0"/>
          </a:p>
          <a:p>
            <a:pPr>
              <a:defRPr/>
            </a:pPr>
            <a:endParaRPr lang="en-US" altLang="ko-KR" sz="1100" baseline="0" dirty="0"/>
          </a:p>
          <a:p>
            <a:pPr>
              <a:defRPr/>
            </a:pPr>
            <a:r>
              <a:rPr lang="en-US" altLang="ko-KR" sz="1100" baseline="0" dirty="0" err="1"/>
              <a:t>Bước</a:t>
            </a:r>
            <a:r>
              <a:rPr lang="en-US" altLang="ko-KR" sz="1100" baseline="0" dirty="0"/>
              <a:t> 1 </a:t>
            </a:r>
            <a:r>
              <a:rPr lang="en-US" altLang="ko-KR" sz="1100" baseline="0" dirty="0" err="1"/>
              <a:t>để</a:t>
            </a:r>
            <a:r>
              <a:rPr lang="en-US" altLang="ko-KR" sz="1100" baseline="0" dirty="0"/>
              <a:t> </a:t>
            </a:r>
            <a:r>
              <a:rPr lang="en-US" altLang="ko-KR" sz="1100" baseline="0" dirty="0" err="1"/>
              <a:t>đánh</a:t>
            </a:r>
            <a:r>
              <a:rPr lang="en-US" altLang="ko-KR" sz="1100" baseline="0" dirty="0"/>
              <a:t> </a:t>
            </a:r>
            <a:r>
              <a:rPr lang="en-US" altLang="ko-KR" sz="1100" baseline="0" dirty="0" err="1"/>
              <a:t>giá</a:t>
            </a:r>
            <a:r>
              <a:rPr lang="en-US" altLang="ko-KR" sz="1100" baseline="0" dirty="0"/>
              <a:t> validity.</a:t>
            </a:r>
          </a:p>
          <a:p>
            <a:pPr>
              <a:defRPr/>
            </a:pPr>
            <a:r>
              <a:rPr lang="en-US" altLang="ko-KR" sz="1100" baseline="0" dirty="0" err="1"/>
              <a:t>Nếu</a:t>
            </a:r>
            <a:r>
              <a:rPr lang="en-US" altLang="ko-KR" sz="1100" baseline="0" dirty="0"/>
              <a:t> </a:t>
            </a:r>
            <a:r>
              <a:rPr lang="en-US" altLang="ko-KR" sz="1100" baseline="0" dirty="0" err="1"/>
              <a:t>khoảng</a:t>
            </a:r>
            <a:r>
              <a:rPr lang="en-US" altLang="ko-KR" sz="1100" baseline="0" dirty="0"/>
              <a:t> spec </a:t>
            </a:r>
            <a:r>
              <a:rPr lang="en-US" altLang="ko-KR" sz="1100" baseline="0" dirty="0" err="1"/>
              <a:t>là</a:t>
            </a:r>
            <a:r>
              <a:rPr lang="en-US" altLang="ko-KR" sz="1100" baseline="0" dirty="0"/>
              <a:t> 10+-0.1, </a:t>
            </a:r>
            <a:r>
              <a:rPr lang="en-US" altLang="ko-KR" sz="1100" baseline="0" dirty="0" err="1"/>
              <a:t>thì</a:t>
            </a:r>
            <a:r>
              <a:rPr lang="en-US" altLang="ko-KR" sz="1100" baseline="0" dirty="0"/>
              <a:t> dung </a:t>
            </a:r>
            <a:r>
              <a:rPr lang="en-US" altLang="ko-KR" sz="1100" baseline="0" dirty="0" err="1"/>
              <a:t>sai</a:t>
            </a:r>
            <a:r>
              <a:rPr lang="en-US" altLang="ko-KR" sz="1100" baseline="0" dirty="0"/>
              <a:t> (tolerance= 0.2) </a:t>
            </a:r>
            <a:r>
              <a:rPr lang="en-US" altLang="ko-KR" sz="1100" baseline="0" dirty="0" err="1"/>
              <a:t>chính</a:t>
            </a:r>
            <a:r>
              <a:rPr lang="en-US" altLang="ko-KR" sz="1100" baseline="0" dirty="0"/>
              <a:t> </a:t>
            </a:r>
            <a:r>
              <a:rPr lang="en-US" altLang="ko-KR" sz="1100" baseline="0" dirty="0" err="1"/>
              <a:t>là</a:t>
            </a:r>
            <a:r>
              <a:rPr lang="en-US" altLang="ko-KR" sz="1100" baseline="0" dirty="0"/>
              <a:t> </a:t>
            </a:r>
            <a:r>
              <a:rPr lang="en-US" altLang="ko-KR" sz="1100" baseline="0" dirty="0" err="1"/>
              <a:t>độ</a:t>
            </a:r>
            <a:r>
              <a:rPr lang="en-US" altLang="ko-KR" sz="1100" baseline="0" dirty="0"/>
              <a:t> </a:t>
            </a:r>
            <a:r>
              <a:rPr lang="en-US" altLang="ko-KR" sz="1100" baseline="0" dirty="0" err="1"/>
              <a:t>rộng</a:t>
            </a:r>
            <a:r>
              <a:rPr lang="en-US" altLang="ko-KR" sz="1100" baseline="0" dirty="0"/>
              <a:t> </a:t>
            </a:r>
            <a:r>
              <a:rPr lang="en-US" altLang="ko-KR" sz="1100" baseline="0" dirty="0" err="1"/>
              <a:t>giữa</a:t>
            </a:r>
            <a:r>
              <a:rPr lang="en-US" altLang="ko-KR" sz="1100" baseline="0" dirty="0"/>
              <a:t> 2 spec</a:t>
            </a:r>
          </a:p>
          <a:p>
            <a:pPr>
              <a:defRPr/>
            </a:pPr>
            <a:r>
              <a:rPr lang="en-US" altLang="ko-KR" sz="1100" baseline="0" dirty="0" err="1"/>
              <a:t>Vậy</a:t>
            </a:r>
            <a:r>
              <a:rPr lang="en-US" altLang="ko-KR" sz="1100" baseline="0" dirty="0"/>
              <a:t> </a:t>
            </a:r>
            <a:r>
              <a:rPr lang="en-US" altLang="ko-KR" sz="1100" baseline="0" dirty="0" err="1"/>
              <a:t>để</a:t>
            </a:r>
            <a:r>
              <a:rPr lang="en-US" altLang="ko-KR" sz="1100" baseline="0" dirty="0"/>
              <a:t> </a:t>
            </a:r>
            <a:r>
              <a:rPr lang="en-US" altLang="ko-KR" sz="1100" baseline="0" dirty="0" err="1"/>
              <a:t>xác</a:t>
            </a:r>
            <a:r>
              <a:rPr lang="en-US" altLang="ko-KR" sz="1100" baseline="0" dirty="0"/>
              <a:t> </a:t>
            </a:r>
            <a:r>
              <a:rPr lang="en-US" altLang="ko-KR" sz="1100" baseline="0" dirty="0" err="1"/>
              <a:t>đinh</a:t>
            </a:r>
            <a:r>
              <a:rPr lang="en-US" altLang="ko-KR" sz="1100" baseline="0" dirty="0"/>
              <a:t> </a:t>
            </a:r>
            <a:r>
              <a:rPr lang="en-US" altLang="ko-KR" sz="1100" baseline="0" dirty="0" err="1"/>
              <a:t>dụng</a:t>
            </a:r>
            <a:r>
              <a:rPr lang="en-US" altLang="ko-KR" sz="1100" baseline="0" dirty="0"/>
              <a:t> </a:t>
            </a:r>
            <a:r>
              <a:rPr lang="en-US" altLang="ko-KR" sz="1100" baseline="0" dirty="0" err="1"/>
              <a:t>cụ</a:t>
            </a:r>
            <a:r>
              <a:rPr lang="en-US" altLang="ko-KR" sz="1100" baseline="0" dirty="0"/>
              <a:t> </a:t>
            </a:r>
            <a:r>
              <a:rPr lang="en-US" altLang="ko-KR" sz="1100" baseline="0" dirty="0" err="1"/>
              <a:t>đo</a:t>
            </a:r>
            <a:r>
              <a:rPr lang="en-US" altLang="ko-KR" sz="1100" baseline="0" dirty="0"/>
              <a:t> </a:t>
            </a:r>
            <a:r>
              <a:rPr lang="en-US" altLang="ko-KR" sz="1100" baseline="0" dirty="0" err="1"/>
              <a:t>có</a:t>
            </a:r>
            <a:r>
              <a:rPr lang="en-US" altLang="ko-KR" sz="1100" baseline="0" dirty="0"/>
              <a:t> </a:t>
            </a:r>
            <a:r>
              <a:rPr lang="en-US" altLang="ko-KR" sz="1100" baseline="0" dirty="0" err="1"/>
              <a:t>phù</a:t>
            </a:r>
            <a:r>
              <a:rPr lang="en-US" altLang="ko-KR" sz="1100" baseline="0" dirty="0"/>
              <a:t> </a:t>
            </a:r>
            <a:r>
              <a:rPr lang="en-US" altLang="ko-KR" sz="1100" baseline="0" dirty="0" err="1"/>
              <a:t>hợp</a:t>
            </a:r>
            <a:r>
              <a:rPr lang="en-US" altLang="ko-KR" sz="1100" baseline="0" dirty="0"/>
              <a:t> vs </a:t>
            </a:r>
            <a:r>
              <a:rPr lang="en-US" altLang="ko-KR" sz="1100" baseline="0" dirty="0" err="1"/>
              <a:t>hệ</a:t>
            </a:r>
            <a:r>
              <a:rPr lang="en-US" altLang="ko-KR" sz="1100" baseline="0" dirty="0"/>
              <a:t> </a:t>
            </a:r>
            <a:r>
              <a:rPr lang="en-US" altLang="ko-KR" sz="1100" baseline="0" dirty="0" err="1"/>
              <a:t>thống</a:t>
            </a:r>
            <a:r>
              <a:rPr lang="en-US" altLang="ko-KR" sz="1100" baseline="0" dirty="0"/>
              <a:t> </a:t>
            </a:r>
            <a:r>
              <a:rPr lang="en-US" altLang="ko-KR" sz="1100" baseline="0" dirty="0" err="1"/>
              <a:t>đo</a:t>
            </a:r>
            <a:r>
              <a:rPr lang="en-US" altLang="ko-KR" sz="1100" baseline="0" dirty="0"/>
              <a:t> hay </a:t>
            </a:r>
            <a:r>
              <a:rPr lang="en-US" altLang="ko-KR" sz="1100" baseline="0" dirty="0" err="1"/>
              <a:t>ko</a:t>
            </a:r>
            <a:r>
              <a:rPr lang="en-US" altLang="ko-KR" sz="1100" baseline="0" dirty="0"/>
              <a:t> </a:t>
            </a:r>
            <a:r>
              <a:rPr lang="en-US" altLang="ko-KR" sz="1100" baseline="0" dirty="0" err="1"/>
              <a:t>thi</a:t>
            </a:r>
            <a:r>
              <a:rPr lang="en-US" altLang="ko-KR" sz="1100" baseline="0" dirty="0"/>
              <a:t> ta </a:t>
            </a:r>
            <a:r>
              <a:rPr lang="en-US" altLang="ko-KR" sz="1100" baseline="0" dirty="0" err="1"/>
              <a:t>lấy</a:t>
            </a:r>
            <a:r>
              <a:rPr lang="en-US" altLang="ko-KR" sz="1100" baseline="0" dirty="0"/>
              <a:t> resolution/ tolerance:</a:t>
            </a:r>
          </a:p>
          <a:p>
            <a:pPr>
              <a:defRPr/>
            </a:pPr>
            <a:r>
              <a:rPr lang="en-US" altLang="ko-KR" sz="1100" baseline="0" dirty="0"/>
              <a:t>Tolerance=TOL, Resolution=RE</a:t>
            </a:r>
          </a:p>
          <a:p>
            <a:pPr>
              <a:defRPr/>
            </a:pPr>
            <a:r>
              <a:rPr lang="en-US" altLang="ko-KR" sz="1100" baseline="0" dirty="0"/>
              <a:t>VD: </a:t>
            </a:r>
            <a:r>
              <a:rPr lang="en-US" altLang="ko-KR" sz="1100" baseline="0" dirty="0" err="1"/>
              <a:t>bài</a:t>
            </a:r>
            <a:r>
              <a:rPr lang="en-US" altLang="ko-KR" sz="1100" baseline="0" dirty="0"/>
              <a:t> </a:t>
            </a:r>
            <a:r>
              <a:rPr lang="en-US" altLang="ko-KR" sz="1100" baseline="0" dirty="0" err="1"/>
              <a:t>này</a:t>
            </a:r>
            <a:r>
              <a:rPr lang="en-US" altLang="ko-KR" sz="1100" baseline="0" dirty="0"/>
              <a:t> </a:t>
            </a:r>
            <a:r>
              <a:rPr lang="en-US" altLang="ko-KR" sz="1100" baseline="0" dirty="0" err="1"/>
              <a:t>đo</a:t>
            </a:r>
            <a:r>
              <a:rPr lang="en-US" altLang="ko-KR" sz="1100" baseline="0" dirty="0"/>
              <a:t> </a:t>
            </a:r>
            <a:r>
              <a:rPr lang="en-US" altLang="ko-KR" sz="1100" baseline="0" dirty="0" err="1"/>
              <a:t>bằng</a:t>
            </a:r>
            <a:r>
              <a:rPr lang="en-US" altLang="ko-KR" sz="1100" baseline="0" dirty="0"/>
              <a:t> </a:t>
            </a:r>
            <a:r>
              <a:rPr lang="en-US" altLang="ko-KR" sz="1100" baseline="0" dirty="0" err="1"/>
              <a:t>cali</a:t>
            </a:r>
            <a:r>
              <a:rPr lang="en-US" altLang="ko-KR" sz="1100" baseline="0" dirty="0"/>
              <a:t> vs </a:t>
            </a:r>
            <a:r>
              <a:rPr lang="en-US" altLang="ko-KR" sz="1100" baseline="0" dirty="0" err="1"/>
              <a:t>độ</a:t>
            </a:r>
            <a:r>
              <a:rPr lang="en-US" altLang="ko-KR" sz="1100" baseline="0" dirty="0"/>
              <a:t> </a:t>
            </a:r>
            <a:r>
              <a:rPr lang="en-US" altLang="ko-KR" sz="1100" baseline="0" dirty="0" err="1"/>
              <a:t>phân</a:t>
            </a:r>
            <a:r>
              <a:rPr lang="en-US" altLang="ko-KR" sz="1100" baseline="0" dirty="0"/>
              <a:t> </a:t>
            </a:r>
            <a:r>
              <a:rPr lang="en-US" altLang="ko-KR" sz="1100" baseline="0" dirty="0" err="1"/>
              <a:t>giải</a:t>
            </a:r>
            <a:r>
              <a:rPr lang="en-US" altLang="ko-KR" sz="1100" baseline="0" dirty="0"/>
              <a:t> 0.01 </a:t>
            </a:r>
            <a:r>
              <a:rPr lang="en-US" altLang="ko-KR" sz="1100" baseline="0" dirty="0" err="1"/>
              <a:t>thì</a:t>
            </a:r>
            <a:r>
              <a:rPr lang="en-US" altLang="ko-KR" sz="1100" baseline="0" dirty="0"/>
              <a:t> </a:t>
            </a:r>
            <a:r>
              <a:rPr lang="en-US" altLang="ko-KR" sz="1100" baseline="0" dirty="0" err="1"/>
              <a:t>có</a:t>
            </a:r>
            <a:r>
              <a:rPr lang="en-US" altLang="ko-KR" sz="1100" baseline="0" dirty="0"/>
              <a:t> 0.01/0.2 = 5% (</a:t>
            </a:r>
            <a:r>
              <a:rPr lang="en-US" altLang="ko-KR" sz="1100" baseline="0" dirty="0" err="1"/>
              <a:t>phần</a:t>
            </a:r>
            <a:r>
              <a:rPr lang="en-US" altLang="ko-KR" sz="1100" baseline="0" dirty="0"/>
              <a:t> </a:t>
            </a:r>
            <a:r>
              <a:rPr lang="en-US" altLang="ko-KR" sz="1100" baseline="0" dirty="0" err="1"/>
              <a:t>trăm</a:t>
            </a:r>
            <a:r>
              <a:rPr lang="en-US" altLang="ko-KR" sz="1100" baseline="0" dirty="0"/>
              <a:t> resolution)</a:t>
            </a:r>
          </a:p>
          <a:p>
            <a:pPr>
              <a:defRPr/>
            </a:pPr>
            <a:r>
              <a:rPr lang="en-US" altLang="ko-KR" sz="1100" baseline="0" dirty="0" err="1"/>
              <a:t>Đánh</a:t>
            </a:r>
            <a:r>
              <a:rPr lang="en-US" altLang="ko-KR" sz="1100" baseline="0" dirty="0"/>
              <a:t> </a:t>
            </a:r>
            <a:r>
              <a:rPr lang="en-US" altLang="ko-KR" sz="1100" baseline="0" dirty="0" err="1"/>
              <a:t>giá</a:t>
            </a:r>
            <a:r>
              <a:rPr lang="en-US" altLang="ko-KR" sz="1100" baseline="0" dirty="0"/>
              <a:t> %resolution </a:t>
            </a:r>
            <a:r>
              <a:rPr lang="en-US" altLang="ko-KR" sz="1100" baseline="0" dirty="0" err="1"/>
              <a:t>thì</a:t>
            </a:r>
            <a:r>
              <a:rPr lang="en-US" altLang="ko-KR" sz="1100" baseline="0" dirty="0"/>
              <a:t> </a:t>
            </a:r>
            <a:r>
              <a:rPr lang="en-US" altLang="ko-KR" sz="1100" baseline="0" dirty="0" err="1"/>
              <a:t>fai</a:t>
            </a:r>
            <a:r>
              <a:rPr lang="en-US" altLang="ko-KR" sz="1100" baseline="0" dirty="0"/>
              <a:t> &lt;=5% (</a:t>
            </a:r>
            <a:r>
              <a:rPr lang="en-US" altLang="ko-KR" sz="1100" baseline="0" dirty="0" err="1"/>
              <a:t>tức</a:t>
            </a:r>
            <a:r>
              <a:rPr lang="en-US" altLang="ko-KR" sz="1100" baseline="0" dirty="0"/>
              <a:t> </a:t>
            </a:r>
            <a:r>
              <a:rPr lang="en-US" altLang="ko-KR" sz="1100" baseline="0" dirty="0" err="1"/>
              <a:t>là</a:t>
            </a:r>
            <a:r>
              <a:rPr lang="en-US" altLang="ko-KR" sz="1100" baseline="0" dirty="0"/>
              <a:t> </a:t>
            </a:r>
            <a:r>
              <a:rPr lang="en-US" altLang="ko-KR" sz="1100" baseline="0" dirty="0" err="1"/>
              <a:t>dụng</a:t>
            </a:r>
            <a:r>
              <a:rPr lang="en-US" altLang="ko-KR" sz="1100" baseline="0" dirty="0"/>
              <a:t> </a:t>
            </a:r>
            <a:r>
              <a:rPr lang="en-US" altLang="ko-KR" sz="1100" baseline="0" dirty="0" err="1"/>
              <a:t>cụ</a:t>
            </a:r>
            <a:r>
              <a:rPr lang="en-US" altLang="ko-KR" sz="1100" baseline="0" dirty="0"/>
              <a:t> </a:t>
            </a:r>
            <a:r>
              <a:rPr lang="en-US" altLang="ko-KR" sz="1100" baseline="0" dirty="0" err="1"/>
              <a:t>đo</a:t>
            </a:r>
            <a:r>
              <a:rPr lang="en-US" altLang="ko-KR" sz="1100" baseline="0" dirty="0"/>
              <a:t> </a:t>
            </a:r>
            <a:r>
              <a:rPr lang="en-US" altLang="ko-KR" sz="1100" baseline="0" dirty="0" err="1"/>
              <a:t>đó</a:t>
            </a:r>
            <a:r>
              <a:rPr lang="en-US" altLang="ko-KR" sz="1100" baseline="0" dirty="0"/>
              <a:t> </a:t>
            </a:r>
            <a:r>
              <a:rPr lang="en-US" altLang="ko-KR" sz="1100" baseline="0" dirty="0" err="1"/>
              <a:t>đủ</a:t>
            </a:r>
            <a:r>
              <a:rPr lang="en-US" altLang="ko-KR" sz="1100" baseline="0" dirty="0"/>
              <a:t> </a:t>
            </a:r>
            <a:r>
              <a:rPr lang="en-US" altLang="ko-KR" sz="1100" baseline="0" dirty="0" err="1"/>
              <a:t>phù</a:t>
            </a:r>
            <a:r>
              <a:rPr lang="en-US" altLang="ko-KR" sz="1100" baseline="0" dirty="0"/>
              <a:t> </a:t>
            </a:r>
            <a:r>
              <a:rPr lang="en-US" altLang="ko-KR" sz="1100" baseline="0" dirty="0" err="1"/>
              <a:t>hợp</a:t>
            </a:r>
            <a:r>
              <a:rPr lang="en-US" altLang="ko-KR" sz="1100" baseline="0" dirty="0"/>
              <a:t> </a:t>
            </a:r>
            <a:r>
              <a:rPr lang="en-US" altLang="ko-KR" sz="1100" baseline="0" dirty="0" err="1"/>
              <a:t>để</a:t>
            </a:r>
            <a:r>
              <a:rPr lang="en-US" altLang="ko-KR" sz="1100" baseline="0" dirty="0"/>
              <a:t> </a:t>
            </a:r>
            <a:r>
              <a:rPr lang="en-US" altLang="ko-KR" sz="1100" baseline="0" dirty="0" err="1"/>
              <a:t>đo</a:t>
            </a:r>
            <a:r>
              <a:rPr lang="en-US" altLang="ko-KR" sz="1100" baseline="0" dirty="0"/>
              <a:t> </a:t>
            </a:r>
            <a:r>
              <a:rPr lang="en-US" altLang="ko-KR" sz="1100" baseline="0" dirty="0" err="1"/>
              <a:t>đối</a:t>
            </a:r>
            <a:r>
              <a:rPr lang="en-US" altLang="ko-KR" sz="1100" baseline="0" dirty="0"/>
              <a:t> </a:t>
            </a:r>
            <a:r>
              <a:rPr lang="en-US" altLang="ko-KR" sz="1100" baseline="0" dirty="0" err="1"/>
              <a:t>tượng</a:t>
            </a:r>
            <a:r>
              <a:rPr lang="en-US" altLang="ko-KR" sz="1100" baseline="0" dirty="0"/>
              <a:t> </a:t>
            </a:r>
            <a:r>
              <a:rPr lang="en-US" altLang="ko-KR" sz="1100" baseline="0" dirty="0" err="1"/>
              <a:t>của</a:t>
            </a:r>
            <a:r>
              <a:rPr lang="en-US" altLang="ko-KR" sz="1100" baseline="0" dirty="0"/>
              <a:t> </a:t>
            </a:r>
            <a:r>
              <a:rPr lang="en-US" altLang="ko-KR" sz="1100" baseline="0" dirty="0" err="1"/>
              <a:t>cta</a:t>
            </a:r>
            <a:r>
              <a:rPr lang="en-US" altLang="ko-KR" sz="1100" baseline="0" dirty="0"/>
              <a:t>)</a:t>
            </a:r>
          </a:p>
          <a:p>
            <a:pPr>
              <a:defRPr/>
            </a:pPr>
            <a:r>
              <a:rPr lang="en-US" altLang="ko-KR" sz="1100" baseline="0" dirty="0" err="1"/>
              <a:t>Bên</a:t>
            </a:r>
            <a:r>
              <a:rPr lang="en-US" altLang="ko-KR" sz="1100" baseline="0" dirty="0"/>
              <a:t> H&amp;A </a:t>
            </a:r>
            <a:r>
              <a:rPr lang="en-US" altLang="ko-KR" sz="1100" baseline="0" dirty="0" err="1"/>
              <a:t>thi</a:t>
            </a:r>
            <a:r>
              <a:rPr lang="en-US" altLang="ko-KR" sz="1100" baseline="0" dirty="0"/>
              <a:t> part </a:t>
            </a:r>
            <a:r>
              <a:rPr lang="en-US" altLang="ko-KR" sz="1100" baseline="0" dirty="0" err="1"/>
              <a:t>gia</a:t>
            </a:r>
            <a:r>
              <a:rPr lang="en-US" altLang="ko-KR" sz="1100" baseline="0" dirty="0"/>
              <a:t> </a:t>
            </a:r>
            <a:r>
              <a:rPr lang="en-US" altLang="ko-KR" sz="1100" baseline="0" dirty="0" err="1"/>
              <a:t>công</a:t>
            </a:r>
            <a:r>
              <a:rPr lang="en-US" altLang="ko-KR" sz="1100" baseline="0" dirty="0"/>
              <a:t> </a:t>
            </a:r>
            <a:r>
              <a:rPr lang="en-US" altLang="ko-KR" sz="1100" baseline="0" dirty="0" err="1"/>
              <a:t>nhiều</a:t>
            </a:r>
            <a:r>
              <a:rPr lang="en-US" altLang="ko-KR" sz="1100" baseline="0" dirty="0"/>
              <a:t> </a:t>
            </a:r>
            <a:r>
              <a:rPr lang="en-US" altLang="ko-KR" sz="1100" baseline="0" dirty="0" err="1"/>
              <a:t>nên</a:t>
            </a:r>
            <a:r>
              <a:rPr lang="en-US" altLang="ko-KR" sz="1100" baseline="0" dirty="0"/>
              <a:t> </a:t>
            </a:r>
            <a:r>
              <a:rPr lang="en-US" altLang="ko-KR" sz="1100" baseline="0" dirty="0" err="1"/>
              <a:t>tỉ</a:t>
            </a:r>
            <a:r>
              <a:rPr lang="en-US" altLang="ko-KR" sz="1100" baseline="0" dirty="0"/>
              <a:t> </a:t>
            </a:r>
            <a:r>
              <a:rPr lang="en-US" altLang="ko-KR" sz="1100" baseline="0" dirty="0" err="1"/>
              <a:t>lệ</a:t>
            </a:r>
            <a:r>
              <a:rPr lang="en-US" altLang="ko-KR" sz="1100" baseline="0" dirty="0"/>
              <a:t> </a:t>
            </a:r>
            <a:r>
              <a:rPr lang="en-US" altLang="ko-KR" sz="1100" baseline="0" dirty="0" err="1"/>
              <a:t>này</a:t>
            </a:r>
            <a:r>
              <a:rPr lang="en-US" altLang="ko-KR" sz="1100" baseline="0" dirty="0"/>
              <a:t> </a:t>
            </a:r>
            <a:r>
              <a:rPr lang="en-US" altLang="ko-KR" sz="1100" baseline="0" dirty="0" err="1"/>
              <a:t>có</a:t>
            </a:r>
            <a:r>
              <a:rPr lang="en-US" altLang="ko-KR" sz="1100" baseline="0" dirty="0"/>
              <a:t> </a:t>
            </a:r>
            <a:r>
              <a:rPr lang="en-US" altLang="ko-KR" sz="1100" baseline="0" dirty="0" err="1"/>
              <a:t>thể</a:t>
            </a:r>
            <a:r>
              <a:rPr lang="en-US" altLang="ko-KR" sz="1100" baseline="0" dirty="0"/>
              <a:t> </a:t>
            </a:r>
            <a:r>
              <a:rPr lang="en-US" altLang="ko-KR" sz="1100" baseline="0" dirty="0" err="1"/>
              <a:t>giữ</a:t>
            </a:r>
            <a:r>
              <a:rPr lang="en-US" altLang="ko-KR" sz="1100" baseline="0" dirty="0"/>
              <a:t> ở </a:t>
            </a:r>
            <a:r>
              <a:rPr lang="en-US" altLang="ko-KR" sz="1100" baseline="0" dirty="0" err="1"/>
              <a:t>mức</a:t>
            </a:r>
            <a:r>
              <a:rPr lang="en-US" altLang="ko-KR" sz="1100" baseline="0" dirty="0"/>
              <a:t> &lt;=10%, </a:t>
            </a:r>
            <a:r>
              <a:rPr lang="en-US" altLang="ko-KR" sz="1100" baseline="0" dirty="0" err="1"/>
              <a:t>còn</a:t>
            </a:r>
            <a:r>
              <a:rPr lang="en-US" altLang="ko-KR" sz="1100" baseline="0" dirty="0"/>
              <a:t> IVI </a:t>
            </a:r>
            <a:r>
              <a:rPr lang="en-US" altLang="ko-KR" sz="1100" baseline="0" dirty="0" err="1"/>
              <a:t>yêu</a:t>
            </a:r>
            <a:r>
              <a:rPr lang="en-US" altLang="ko-KR" sz="1100" baseline="0" dirty="0"/>
              <a:t> </a:t>
            </a:r>
            <a:r>
              <a:rPr lang="en-US" altLang="ko-KR" sz="1100" baseline="0" dirty="0" err="1"/>
              <a:t>câu</a:t>
            </a:r>
            <a:r>
              <a:rPr lang="en-US" altLang="ko-KR" sz="1100" baseline="0" dirty="0"/>
              <a:t> </a:t>
            </a:r>
            <a:r>
              <a:rPr lang="en-US" altLang="ko-KR" sz="1100" baseline="0" dirty="0" err="1"/>
              <a:t>chinh</a:t>
            </a:r>
            <a:r>
              <a:rPr lang="en-US" altLang="ko-KR" sz="1100" baseline="0" dirty="0"/>
              <a:t> </a:t>
            </a:r>
            <a:r>
              <a:rPr lang="en-US" altLang="ko-KR" sz="1100" baseline="0" dirty="0" err="1"/>
              <a:t>xác</a:t>
            </a:r>
            <a:r>
              <a:rPr lang="en-US" altLang="ko-KR" sz="1100" baseline="0" dirty="0"/>
              <a:t> </a:t>
            </a:r>
            <a:r>
              <a:rPr lang="en-US" altLang="ko-KR" sz="1100" baseline="0" dirty="0" err="1"/>
              <a:t>cao</a:t>
            </a:r>
            <a:r>
              <a:rPr lang="en-US" altLang="ko-KR" sz="1100" baseline="0" dirty="0"/>
              <a:t> </a:t>
            </a:r>
            <a:r>
              <a:rPr lang="en-US" altLang="ko-KR" sz="1100" baseline="0" dirty="0" err="1"/>
              <a:t>hơn</a:t>
            </a:r>
            <a:r>
              <a:rPr lang="en-US" altLang="ko-KR" sz="1100" baseline="0" dirty="0"/>
              <a:t> </a:t>
            </a:r>
            <a:r>
              <a:rPr lang="en-US" altLang="ko-KR" sz="1100" baseline="0" dirty="0" err="1"/>
              <a:t>thi</a:t>
            </a:r>
            <a:r>
              <a:rPr lang="en-US" altLang="ko-KR" sz="1100" baseline="0" dirty="0"/>
              <a:t> </a:t>
            </a:r>
            <a:r>
              <a:rPr lang="en-US" altLang="ko-KR" sz="1100" baseline="0" dirty="0" err="1"/>
              <a:t>thường</a:t>
            </a:r>
            <a:r>
              <a:rPr lang="en-US" altLang="ko-KR" sz="1100" baseline="0" dirty="0"/>
              <a:t> &lt;=5%, vs IVI PE </a:t>
            </a:r>
            <a:r>
              <a:rPr lang="en-US" altLang="ko-KR" sz="1100" baseline="0" dirty="0" err="1"/>
              <a:t>thậm</a:t>
            </a:r>
            <a:r>
              <a:rPr lang="en-US" altLang="ko-KR" sz="1100" baseline="0" dirty="0"/>
              <a:t> chi </a:t>
            </a:r>
            <a:r>
              <a:rPr lang="en-US" altLang="ko-KR" sz="1100" baseline="0" dirty="0" err="1"/>
              <a:t>còn</a:t>
            </a:r>
            <a:r>
              <a:rPr lang="en-US" altLang="ko-KR" sz="1100" baseline="0" dirty="0"/>
              <a:t> </a:t>
            </a:r>
            <a:r>
              <a:rPr lang="en-US" altLang="ko-KR" sz="1100" baseline="0" dirty="0" err="1"/>
              <a:t>yêu</a:t>
            </a:r>
            <a:r>
              <a:rPr lang="en-US" altLang="ko-KR" sz="1100" baseline="0" dirty="0"/>
              <a:t> </a:t>
            </a:r>
            <a:r>
              <a:rPr lang="en-US" altLang="ko-KR" sz="1100" baseline="0" dirty="0" err="1"/>
              <a:t>cầu</a:t>
            </a:r>
            <a:r>
              <a:rPr lang="en-US" altLang="ko-KR" sz="1100" baseline="0" dirty="0"/>
              <a:t> &lt;=2%</a:t>
            </a:r>
          </a:p>
          <a:p>
            <a:pPr>
              <a:defRPr/>
            </a:pPr>
            <a:endParaRPr lang="en-US" altLang="ko-KR" sz="1100" baseline="0" dirty="0"/>
          </a:p>
          <a:p>
            <a:pPr>
              <a:defRPr/>
            </a:pPr>
            <a:r>
              <a:rPr lang="en-US" altLang="ko-KR" sz="1100" baseline="0" dirty="0" err="1"/>
              <a:t>Bước</a:t>
            </a:r>
            <a:r>
              <a:rPr lang="en-US" altLang="ko-KR" sz="1100" baseline="0" dirty="0"/>
              <a:t> 2:</a:t>
            </a:r>
          </a:p>
          <a:p>
            <a:pPr>
              <a:defRPr/>
            </a:pPr>
            <a:r>
              <a:rPr lang="en-US" altLang="ko-KR" sz="1100" baseline="0" dirty="0" err="1"/>
              <a:t>Có</a:t>
            </a:r>
            <a:r>
              <a:rPr lang="en-US" altLang="ko-KR" sz="1100" baseline="0" dirty="0"/>
              <a:t> 4 pp </a:t>
            </a:r>
            <a:r>
              <a:rPr lang="en-US" altLang="ko-KR" sz="1100" baseline="0" dirty="0" err="1"/>
              <a:t>chọn</a:t>
            </a:r>
            <a:r>
              <a:rPr lang="en-US" altLang="ko-KR" sz="1100" baseline="0" dirty="0"/>
              <a:t> </a:t>
            </a:r>
            <a:r>
              <a:rPr lang="en-US" altLang="ko-KR" sz="1100" baseline="0" dirty="0" err="1"/>
              <a:t>mấu</a:t>
            </a:r>
            <a:r>
              <a:rPr lang="en-US" altLang="ko-KR" sz="1100" baseline="0" dirty="0"/>
              <a:t> </a:t>
            </a:r>
            <a:r>
              <a:rPr lang="en-US" altLang="ko-KR" sz="1100" baseline="0" dirty="0" err="1"/>
              <a:t>cơ</a:t>
            </a:r>
            <a:r>
              <a:rPr lang="en-US" altLang="ko-KR" sz="1100" baseline="0" dirty="0"/>
              <a:t> </a:t>
            </a:r>
            <a:r>
              <a:rPr lang="en-US" altLang="ko-KR" sz="1100" baseline="0" dirty="0" err="1"/>
              <a:t>bản</a:t>
            </a:r>
            <a:r>
              <a:rPr lang="en-US" altLang="ko-KR" sz="1100" baseline="0" dirty="0"/>
              <a:t>: </a:t>
            </a:r>
            <a:r>
              <a:rPr lang="en-US" altLang="ko-KR" sz="1100" baseline="0" dirty="0" err="1"/>
              <a:t>ngẫu</a:t>
            </a:r>
            <a:r>
              <a:rPr lang="en-US" altLang="ko-KR" sz="1100" baseline="0" dirty="0"/>
              <a:t> </a:t>
            </a:r>
            <a:r>
              <a:rPr lang="en-US" altLang="ko-KR" sz="1100" baseline="0" dirty="0" err="1"/>
              <a:t>nhiên</a:t>
            </a:r>
            <a:r>
              <a:rPr lang="en-US" altLang="ko-KR" sz="1100" baseline="0" dirty="0"/>
              <a:t> </a:t>
            </a:r>
            <a:r>
              <a:rPr lang="en-US" altLang="ko-KR" sz="1100" baseline="0" dirty="0" err="1"/>
              <a:t>đgian</a:t>
            </a:r>
            <a:r>
              <a:rPr lang="en-US" altLang="ko-KR" sz="1100" baseline="0" dirty="0"/>
              <a:t>, </a:t>
            </a:r>
            <a:r>
              <a:rPr lang="en-US" altLang="ko-KR" sz="1100" baseline="0" dirty="0" err="1"/>
              <a:t>ngâu</a:t>
            </a:r>
            <a:r>
              <a:rPr lang="en-US" altLang="ko-KR" sz="1100" baseline="0" dirty="0"/>
              <a:t> </a:t>
            </a:r>
            <a:r>
              <a:rPr lang="en-US" altLang="ko-KR" sz="1100" baseline="0" dirty="0" err="1"/>
              <a:t>nhiên</a:t>
            </a:r>
            <a:r>
              <a:rPr lang="en-US" altLang="ko-KR" sz="1100" baseline="0" dirty="0"/>
              <a:t> </a:t>
            </a:r>
            <a:r>
              <a:rPr lang="en-US" altLang="ko-KR" sz="1100" baseline="0" dirty="0" err="1"/>
              <a:t>phân</a:t>
            </a:r>
            <a:r>
              <a:rPr lang="en-US" altLang="ko-KR" sz="1100" baseline="0" dirty="0"/>
              <a:t> </a:t>
            </a:r>
            <a:r>
              <a:rPr lang="en-US" altLang="ko-KR" sz="1100" baseline="0" dirty="0" err="1"/>
              <a:t>tầng</a:t>
            </a:r>
            <a:r>
              <a:rPr lang="en-US" altLang="ko-KR" sz="1100" baseline="0" dirty="0"/>
              <a:t>, </a:t>
            </a:r>
            <a:r>
              <a:rPr lang="en-US" altLang="ko-KR" sz="1100" baseline="0" dirty="0" err="1"/>
              <a:t>có</a:t>
            </a:r>
            <a:r>
              <a:rPr lang="en-US" altLang="ko-KR" sz="1100" baseline="0" dirty="0"/>
              <a:t> </a:t>
            </a:r>
            <a:r>
              <a:rPr lang="en-US" altLang="ko-KR" sz="1100" baseline="0" dirty="0" err="1"/>
              <a:t>hệ</a:t>
            </a:r>
            <a:r>
              <a:rPr lang="en-US" altLang="ko-KR" sz="1100" baseline="0" dirty="0"/>
              <a:t> </a:t>
            </a:r>
            <a:r>
              <a:rPr lang="en-US" altLang="ko-KR" sz="1100" baseline="0" dirty="0" err="1"/>
              <a:t>thống</a:t>
            </a:r>
            <a:r>
              <a:rPr lang="en-US" altLang="ko-KR" sz="1100" baseline="0" dirty="0"/>
              <a:t>, </a:t>
            </a:r>
            <a:r>
              <a:rPr lang="en-US" altLang="ko-KR" sz="1100" baseline="0" dirty="0" err="1"/>
              <a:t>theo</a:t>
            </a:r>
            <a:r>
              <a:rPr lang="en-US" altLang="ko-KR" sz="1100" baseline="0" dirty="0"/>
              <a:t> </a:t>
            </a:r>
            <a:r>
              <a:rPr lang="en-US" altLang="ko-KR" sz="1100" baseline="0" dirty="0" err="1"/>
              <a:t>nhóm</a:t>
            </a:r>
            <a:endParaRPr lang="en-US" altLang="ko-KR" sz="1100" baseline="0" dirty="0"/>
          </a:p>
          <a:p>
            <a:pPr>
              <a:defRPr/>
            </a:pPr>
            <a:r>
              <a:rPr lang="en-US" altLang="ko-KR" sz="1100" baseline="0" dirty="0"/>
              <a:t>1 </a:t>
            </a:r>
            <a:r>
              <a:rPr lang="en-US" altLang="ko-KR" sz="1100" baseline="0" dirty="0" err="1"/>
              <a:t>bộ</a:t>
            </a:r>
            <a:r>
              <a:rPr lang="en-US" altLang="ko-KR" sz="1100" baseline="0" dirty="0"/>
              <a:t> </a:t>
            </a:r>
            <a:r>
              <a:rPr lang="en-US" altLang="ko-KR" sz="1100" baseline="0" dirty="0" err="1"/>
              <a:t>mẫu</a:t>
            </a:r>
            <a:r>
              <a:rPr lang="en-US" altLang="ko-KR" sz="1100" baseline="0" dirty="0"/>
              <a:t> </a:t>
            </a:r>
            <a:r>
              <a:rPr lang="en-US" altLang="ko-KR" sz="1100" baseline="0" dirty="0" err="1"/>
              <a:t>tôt</a:t>
            </a:r>
            <a:r>
              <a:rPr lang="en-US" altLang="ko-KR" sz="1100" baseline="0" dirty="0"/>
              <a:t> </a:t>
            </a:r>
            <a:r>
              <a:rPr lang="en-US" altLang="ko-KR" sz="1100" baseline="0" dirty="0" err="1"/>
              <a:t>là</a:t>
            </a:r>
            <a:r>
              <a:rPr lang="en-US" altLang="ko-KR" sz="1100" baseline="0" dirty="0"/>
              <a:t> 1 </a:t>
            </a:r>
            <a:r>
              <a:rPr lang="en-US" altLang="ko-KR" sz="1100" baseline="0" dirty="0" err="1"/>
              <a:t>bộ</a:t>
            </a:r>
            <a:r>
              <a:rPr lang="en-US" altLang="ko-KR" sz="1100" baseline="0" dirty="0"/>
              <a:t> </a:t>
            </a:r>
            <a:r>
              <a:rPr lang="en-US" altLang="ko-KR" sz="1100" baseline="0" dirty="0" err="1"/>
              <a:t>mẫu</a:t>
            </a:r>
            <a:r>
              <a:rPr lang="en-US" altLang="ko-KR" sz="1100" baseline="0" dirty="0"/>
              <a:t> </a:t>
            </a:r>
            <a:r>
              <a:rPr lang="en-US" altLang="ko-KR" sz="1100" baseline="0" dirty="0" err="1"/>
              <a:t>có</a:t>
            </a:r>
            <a:r>
              <a:rPr lang="en-US" altLang="ko-KR" sz="1100" baseline="0" dirty="0"/>
              <a:t> </a:t>
            </a:r>
            <a:r>
              <a:rPr lang="en-US" altLang="ko-KR" sz="1100" baseline="0" dirty="0" err="1"/>
              <a:t>đây</a:t>
            </a:r>
            <a:r>
              <a:rPr lang="en-US" altLang="ko-KR" sz="1100" baseline="0" dirty="0"/>
              <a:t> </a:t>
            </a:r>
            <a:r>
              <a:rPr lang="en-US" altLang="ko-KR" sz="1100" baseline="0" dirty="0" err="1"/>
              <a:t>đủ</a:t>
            </a:r>
            <a:r>
              <a:rPr lang="en-US" altLang="ko-KR" sz="1100" baseline="0" dirty="0"/>
              <a:t> </a:t>
            </a:r>
            <a:r>
              <a:rPr lang="en-US" altLang="ko-KR" sz="1100" baseline="0" dirty="0" err="1"/>
              <a:t>đăc</a:t>
            </a:r>
            <a:r>
              <a:rPr lang="en-US" altLang="ko-KR" sz="1100" baseline="0" dirty="0"/>
              <a:t> </a:t>
            </a:r>
            <a:r>
              <a:rPr lang="en-US" altLang="ko-KR" sz="1100" baseline="0" dirty="0" err="1"/>
              <a:t>điểm</a:t>
            </a:r>
            <a:r>
              <a:rPr lang="en-US" altLang="ko-KR" sz="1100" baseline="0" dirty="0"/>
              <a:t> </a:t>
            </a:r>
            <a:r>
              <a:rPr lang="en-US" altLang="ko-KR" sz="1100" baseline="0" dirty="0" err="1"/>
              <a:t>cua</a:t>
            </a:r>
            <a:r>
              <a:rPr lang="en-US" altLang="ko-KR" sz="1100" baseline="0" dirty="0"/>
              <a:t> </a:t>
            </a:r>
            <a:r>
              <a:rPr lang="en-US" altLang="ko-KR" sz="1100" baseline="0" dirty="0" err="1"/>
              <a:t>tổng</a:t>
            </a:r>
            <a:r>
              <a:rPr lang="en-US" altLang="ko-KR" sz="1100" baseline="0" dirty="0"/>
              <a:t> </a:t>
            </a:r>
            <a:r>
              <a:rPr lang="en-US" altLang="ko-KR" sz="1100" baseline="0" dirty="0" err="1"/>
              <a:t>thể</a:t>
            </a:r>
            <a:endParaRPr lang="en-US" altLang="ko-KR" sz="1100" baseline="0" dirty="0"/>
          </a:p>
          <a:p>
            <a:pPr>
              <a:defRPr/>
            </a:pPr>
            <a:r>
              <a:rPr lang="en-US" altLang="ko-KR" sz="1100" dirty="0">
                <a:sym typeface="Wingdings" panose="05000000000000000000" pitchFamily="2" charset="2"/>
              </a:rPr>
              <a:t></a:t>
            </a:r>
            <a:r>
              <a:rPr lang="en-US" altLang="ko-KR" sz="1100" dirty="0" err="1">
                <a:sym typeface="Wingdings" panose="05000000000000000000" pitchFamily="2" charset="2"/>
              </a:rPr>
              <a:t>xuống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trang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sau</a:t>
            </a:r>
            <a:endParaRPr lang="en-US" altLang="ko-KR" sz="1100" baseline="0" dirty="0">
              <a:sym typeface="Wingdings" panose="05000000000000000000" pitchFamily="2" charset="2"/>
            </a:endParaRPr>
          </a:p>
          <a:p>
            <a:pPr>
              <a:defRPr/>
            </a:pPr>
            <a:endParaRPr lang="en-US" altLang="ko-KR" sz="1100" baseline="0" dirty="0">
              <a:sym typeface="Wingdings" panose="05000000000000000000" pitchFamily="2" charset="2"/>
            </a:endParaRPr>
          </a:p>
          <a:p>
            <a:pPr>
              <a:defRPr/>
            </a:pPr>
            <a:r>
              <a:rPr lang="en-US" altLang="ko-KR" sz="1100" baseline="0" dirty="0">
                <a:sym typeface="Wingdings" panose="05000000000000000000" pitchFamily="2" charset="2"/>
              </a:rPr>
              <a:t>B3: </a:t>
            </a:r>
            <a:r>
              <a:rPr lang="en-US" altLang="ko-KR" sz="1100" baseline="0" dirty="0" err="1">
                <a:sym typeface="Wingdings" panose="05000000000000000000" pitchFamily="2" charset="2"/>
              </a:rPr>
              <a:t>sau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khi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chọn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mẫu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xong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rôi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tiêp</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theo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chung</a:t>
            </a:r>
            <a:r>
              <a:rPr lang="en-US" altLang="ko-KR" sz="1100" baseline="0" dirty="0">
                <a:sym typeface="Wingdings" panose="05000000000000000000" pitchFamily="2" charset="2"/>
              </a:rPr>
              <a:t> ta co </a:t>
            </a:r>
            <a:r>
              <a:rPr lang="en-US" altLang="ko-KR" sz="1100" baseline="0" dirty="0" err="1">
                <a:sym typeface="Wingdings" panose="05000000000000000000" pitchFamily="2" charset="2"/>
              </a:rPr>
              <a:t>thể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bị</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hỏi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vậy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bạn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ntn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thi</a:t>
            </a:r>
            <a:r>
              <a:rPr lang="en-US" altLang="ko-KR" sz="1100" baseline="0" dirty="0">
                <a:sym typeface="Wingdings" panose="05000000000000000000" pitchFamily="2" charset="2"/>
              </a:rPr>
              <a:t> ở </a:t>
            </a:r>
            <a:r>
              <a:rPr lang="en-US" altLang="ko-KR" sz="1100" baseline="0" dirty="0" err="1">
                <a:sym typeface="Wingdings" panose="05000000000000000000" pitchFamily="2" charset="2"/>
              </a:rPr>
              <a:t>đây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2 </a:t>
            </a:r>
            <a:r>
              <a:rPr lang="en-US" altLang="ko-KR" sz="1100" baseline="0" dirty="0" err="1">
                <a:sym typeface="Wingdings" panose="05000000000000000000" pitchFamily="2" charset="2"/>
              </a:rPr>
              <a:t>cách</a:t>
            </a:r>
            <a:endParaRPr lang="en-US" altLang="ko-KR" sz="1100" baseline="0" dirty="0">
              <a:sym typeface="Wingdings" panose="05000000000000000000" pitchFamily="2" charset="2"/>
            </a:endParaRPr>
          </a:p>
          <a:p>
            <a:pPr>
              <a:defRPr/>
            </a:pPr>
            <a:r>
              <a:rPr lang="en-US" altLang="ko-KR" sz="1100" baseline="0" dirty="0" err="1">
                <a:sym typeface="Wingdings" panose="05000000000000000000" pitchFamily="2" charset="2"/>
              </a:rPr>
              <a:t>Thử</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nghiệm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ngãu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nhiên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nghia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chung</a:t>
            </a:r>
            <a:r>
              <a:rPr lang="en-US" altLang="ko-KR" sz="1100" baseline="0" dirty="0">
                <a:sym typeface="Wingdings" panose="05000000000000000000" pitchFamily="2" charset="2"/>
              </a:rPr>
              <a:t> ta </a:t>
            </a:r>
            <a:r>
              <a:rPr lang="en-US" altLang="ko-KR" sz="1100" baseline="0" dirty="0" err="1">
                <a:sym typeface="Wingdings" panose="05000000000000000000" pitchFamily="2" charset="2"/>
              </a:rPr>
              <a:t>sẽ</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đưa</a:t>
            </a:r>
            <a:r>
              <a:rPr lang="en-US" altLang="ko-KR" sz="1100" baseline="0" dirty="0">
                <a:sym typeface="Wingdings" panose="05000000000000000000" pitchFamily="2" charset="2"/>
              </a:rPr>
              <a:t> 2 </a:t>
            </a:r>
            <a:r>
              <a:rPr lang="en-US" altLang="ko-KR" sz="1100" baseline="0" dirty="0" err="1">
                <a:sym typeface="Wingdings" panose="05000000000000000000" pitchFamily="2" charset="2"/>
              </a:rPr>
              <a:t>mẫu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cho</a:t>
            </a:r>
            <a:r>
              <a:rPr lang="en-US" altLang="ko-KR" sz="1100" baseline="0" dirty="0">
                <a:sym typeface="Wingdings" panose="05000000000000000000" pitchFamily="2" charset="2"/>
              </a:rPr>
              <a:t> 1 </a:t>
            </a:r>
            <a:r>
              <a:rPr lang="en-US" altLang="ko-KR" sz="1100" baseline="0" dirty="0" err="1">
                <a:sym typeface="Wingdings" panose="05000000000000000000" pitchFamily="2" charset="2"/>
              </a:rPr>
              <a:t>người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2 </a:t>
            </a:r>
            <a:r>
              <a:rPr lang="en-US" altLang="ko-KR" sz="1100" baseline="0" dirty="0" err="1">
                <a:sym typeface="Wingdings" panose="05000000000000000000" pitchFamily="2" charset="2"/>
              </a:rPr>
              <a:t>lần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liên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tục</a:t>
            </a:r>
            <a:r>
              <a:rPr lang="en-US" altLang="ko-KR" sz="1100" baseline="0" dirty="0">
                <a:sym typeface="Wingdings" panose="05000000000000000000" pitchFamily="2" charset="2"/>
              </a:rPr>
              <a:t>: VD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2 con </a:t>
            </a:r>
            <a:r>
              <a:rPr lang="en-US" altLang="ko-KR" sz="1100" baseline="0" dirty="0" err="1">
                <a:sym typeface="Wingdings" panose="05000000000000000000" pitchFamily="2" charset="2"/>
              </a:rPr>
              <a:t>a,b</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đưa</a:t>
            </a:r>
            <a:r>
              <a:rPr lang="en-US" altLang="ko-KR" sz="1100" baseline="0" dirty="0">
                <a:sym typeface="Wingdings" panose="05000000000000000000" pitchFamily="2" charset="2"/>
              </a:rPr>
              <a:t> con a </a:t>
            </a:r>
            <a:r>
              <a:rPr lang="en-US" altLang="ko-KR" sz="1100" baseline="0" dirty="0" err="1">
                <a:sym typeface="Wingdings" panose="05000000000000000000" pitchFamily="2" charset="2"/>
              </a:rPr>
              <a:t>cho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trước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biêt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nó</a:t>
            </a:r>
            <a:r>
              <a:rPr lang="en-US" altLang="ko-KR" sz="1100" baseline="0" dirty="0">
                <a:sym typeface="Wingdings" panose="05000000000000000000" pitchFamily="2" charset="2"/>
              </a:rPr>
              <a:t> ok hay ng, </a:t>
            </a:r>
            <a:r>
              <a:rPr lang="en-US" altLang="ko-KR" sz="1100" baseline="0" dirty="0" err="1">
                <a:sym typeface="Wingdings" panose="05000000000000000000" pitchFamily="2" charset="2"/>
              </a:rPr>
              <a:t>sau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lại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đưa</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lại</a:t>
            </a:r>
            <a:r>
              <a:rPr lang="en-US" altLang="ko-KR" sz="1100" baseline="0" dirty="0">
                <a:sym typeface="Wingdings" panose="05000000000000000000" pitchFamily="2" charset="2"/>
              </a:rPr>
              <a:t> con a, </a:t>
            </a:r>
            <a:r>
              <a:rPr lang="en-US" altLang="ko-KR" sz="1100" baseline="0" dirty="0" err="1">
                <a:sym typeface="Wingdings" panose="05000000000000000000" pitchFamily="2" charset="2"/>
              </a:rPr>
              <a:t>bạn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sẽ</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nghi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con </a:t>
            </a:r>
            <a:r>
              <a:rPr lang="en-US" altLang="ko-KR" sz="1100" baseline="0" dirty="0" err="1">
                <a:sym typeface="Wingdings" panose="05000000000000000000" pitchFamily="2" charset="2"/>
              </a:rPr>
              <a:t>khác</a:t>
            </a:r>
            <a:endParaRPr lang="en-US" altLang="ko-KR" sz="1100" baseline="0" dirty="0">
              <a:sym typeface="Wingdings" panose="05000000000000000000" pitchFamily="2" charset="2"/>
            </a:endParaRPr>
          </a:p>
          <a:p>
            <a:pPr>
              <a:defRPr/>
            </a:pPr>
            <a:r>
              <a:rPr lang="en-US" altLang="ko-KR" sz="1100" baseline="0" dirty="0">
                <a:sym typeface="Wingdings" panose="05000000000000000000" pitchFamily="2" charset="2"/>
              </a:rPr>
              <a:t>Blind test </a:t>
            </a:r>
            <a:r>
              <a:rPr lang="en-US" altLang="ko-KR" sz="1100" baseline="0" dirty="0" err="1">
                <a:sym typeface="Wingdings" panose="05000000000000000000" pitchFamily="2" charset="2"/>
              </a:rPr>
              <a:t>là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người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biêt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các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thông</a:t>
            </a:r>
            <a:r>
              <a:rPr lang="en-US" altLang="ko-KR" sz="1100" baseline="0" dirty="0">
                <a:sym typeface="Wingdings" panose="05000000000000000000" pitchFamily="2" charset="2"/>
              </a:rPr>
              <a:t> tin </a:t>
            </a:r>
            <a:r>
              <a:rPr lang="en-US" altLang="ko-KR" sz="1100" baseline="0" dirty="0" err="1">
                <a:sym typeface="Wingdings" panose="05000000000000000000" pitchFamily="2" charset="2"/>
              </a:rPr>
              <a:t>về</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mẫu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biết</a:t>
            </a:r>
            <a:r>
              <a:rPr lang="en-US" altLang="ko-KR" sz="1100" baseline="0" dirty="0">
                <a:sym typeface="Wingdings" panose="05000000000000000000" pitchFamily="2" charset="2"/>
              </a:rPr>
              <a:t> spec,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biết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thước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số</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độ</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phân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giai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ntn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chỉ</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thôi</a:t>
            </a:r>
            <a:endParaRPr lang="en-US" altLang="ko-KR" sz="1100" baseline="0" dirty="0">
              <a:sym typeface="Wingdings" panose="05000000000000000000" pitchFamily="2" charset="2"/>
            </a:endParaRPr>
          </a:p>
          <a:p>
            <a:pPr>
              <a:defRPr/>
            </a:pPr>
            <a:endParaRPr lang="en-US" altLang="ko-KR" sz="1100" baseline="0" dirty="0">
              <a:sym typeface="Wingdings" panose="05000000000000000000" pitchFamily="2" charset="2"/>
            </a:endParaRPr>
          </a:p>
          <a:p>
            <a:pPr>
              <a:defRPr/>
            </a:pPr>
            <a:r>
              <a:rPr lang="en-US" altLang="ko-KR" sz="1100" baseline="0" dirty="0">
                <a:sym typeface="Wingdings" panose="05000000000000000000" pitchFamily="2" charset="2"/>
              </a:rPr>
              <a:t>B4: </a:t>
            </a:r>
            <a:r>
              <a:rPr lang="en-US" altLang="ko-KR" sz="1100" baseline="0" dirty="0" err="1">
                <a:sym typeface="Wingdings" panose="05000000000000000000" pitchFamily="2" charset="2"/>
              </a:rPr>
              <a:t>Chay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minitab</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sd</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tiêu</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chuẩn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đánh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giá</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xem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hệ</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thống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có</a:t>
            </a:r>
            <a:r>
              <a:rPr lang="en-US" altLang="ko-KR" sz="1100" baseline="0" dirty="0">
                <a:sym typeface="Wingdings" panose="05000000000000000000" pitchFamily="2" charset="2"/>
              </a:rPr>
              <a:t> ok </a:t>
            </a:r>
            <a:r>
              <a:rPr lang="en-US" altLang="ko-KR" sz="1100" baseline="0" dirty="0" err="1">
                <a:sym typeface="Wingdings" panose="05000000000000000000" pitchFamily="2" charset="2"/>
              </a:rPr>
              <a:t>không</a:t>
            </a:r>
            <a:endParaRPr lang="en-US" altLang="ko-KR" sz="1100" baseline="0" dirty="0">
              <a:sym typeface="Wingdings" panose="05000000000000000000" pitchFamily="2" charset="2"/>
            </a:endParaRPr>
          </a:p>
          <a:p>
            <a:pPr>
              <a:defRPr/>
            </a:pPr>
            <a:r>
              <a:rPr lang="en-US" altLang="ko-KR" sz="1100" baseline="0" dirty="0">
                <a:sym typeface="Wingdings" panose="05000000000000000000" pitchFamily="2" charset="2"/>
              </a:rPr>
              <a:t>B5: </a:t>
            </a:r>
            <a:r>
              <a:rPr lang="en-US" altLang="ko-KR" sz="1100" baseline="0" dirty="0" err="1">
                <a:sym typeface="Wingdings" panose="05000000000000000000" pitchFamily="2" charset="2"/>
              </a:rPr>
              <a:t>néue</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vượt</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quá</a:t>
            </a:r>
            <a:r>
              <a:rPr lang="en-US" altLang="ko-KR" sz="1100" baseline="0" dirty="0">
                <a:sym typeface="Wingdings" panose="05000000000000000000" pitchFamily="2" charset="2"/>
              </a:rPr>
              <a:t> spec </a:t>
            </a:r>
            <a:r>
              <a:rPr lang="en-US" altLang="ko-KR" sz="1100" baseline="0" dirty="0" err="1">
                <a:sym typeface="Wingdings" panose="05000000000000000000" pitchFamily="2" charset="2"/>
              </a:rPr>
              <a:t>thi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sẽ</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cải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tiến</a:t>
            </a:r>
            <a:endParaRPr lang="ko-KR" altLang="en-US" sz="1100" dirty="0"/>
          </a:p>
        </p:txBody>
      </p:sp>
      <p:sp>
        <p:nvSpPr>
          <p:cNvPr id="4" name="슬라이드 번호 개체 틀 3"/>
          <p:cNvSpPr>
            <a:spLocks noGrp="1"/>
          </p:cNvSpPr>
          <p:nvPr>
            <p:ph type="sldNum" sz="quarter" idx="5"/>
          </p:nvPr>
        </p:nvSpPr>
        <p:spPr/>
        <p:txBody>
          <a:bodyPr/>
          <a:lstStyle/>
          <a:p>
            <a:pPr>
              <a:defRPr/>
            </a:pPr>
            <a:fld id="{F0393700-41F4-45D6-B4AC-467A808A2C38}" type="slidenum">
              <a:rPr lang="ko-KR" altLang="en-US" smtClean="0"/>
              <a:pPr>
                <a:defRPr/>
              </a:pPr>
              <a:t>194</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72536743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indent="0" algn="l" defTabSz="914400" rtl="0" eaLnBrk="0" fontAlgn="base" latinLnBrk="1" hangingPunct="0">
              <a:lnSpc>
                <a:spcPct val="100000"/>
              </a:lnSpc>
              <a:spcBef>
                <a:spcPct val="30000"/>
              </a:spcBef>
              <a:spcAft>
                <a:spcPct val="0"/>
              </a:spcAft>
              <a:buClrTx/>
              <a:buSzTx/>
              <a:buFontTx/>
              <a:buNone/>
              <a:tabLst/>
              <a:defRPr/>
            </a:pPr>
            <a:r>
              <a:rPr lang="en-US" altLang="ko-KR" sz="1100" baseline="0" dirty="0"/>
              <a:t>1 </a:t>
            </a:r>
            <a:r>
              <a:rPr lang="en-US" altLang="ko-KR" sz="1100" baseline="0" dirty="0" err="1"/>
              <a:t>bộ</a:t>
            </a:r>
            <a:r>
              <a:rPr lang="en-US" altLang="ko-KR" sz="1100" baseline="0" dirty="0"/>
              <a:t> </a:t>
            </a:r>
            <a:r>
              <a:rPr lang="en-US" altLang="ko-KR" sz="1100" baseline="0" dirty="0" err="1"/>
              <a:t>mẫu</a:t>
            </a:r>
            <a:r>
              <a:rPr lang="en-US" altLang="ko-KR" sz="1100" baseline="0" dirty="0"/>
              <a:t> </a:t>
            </a:r>
            <a:r>
              <a:rPr lang="en-US" altLang="ko-KR" sz="1100" baseline="0" dirty="0" err="1"/>
              <a:t>tôt</a:t>
            </a:r>
            <a:r>
              <a:rPr lang="en-US" altLang="ko-KR" sz="1100" baseline="0" dirty="0"/>
              <a:t> </a:t>
            </a:r>
            <a:r>
              <a:rPr lang="en-US" altLang="ko-KR" sz="1100" baseline="0" dirty="0" err="1"/>
              <a:t>là</a:t>
            </a:r>
            <a:r>
              <a:rPr lang="en-US" altLang="ko-KR" sz="1100" baseline="0" dirty="0"/>
              <a:t> 1 </a:t>
            </a:r>
            <a:r>
              <a:rPr lang="en-US" altLang="ko-KR" sz="1100" baseline="0" dirty="0" err="1"/>
              <a:t>bộ</a:t>
            </a:r>
            <a:r>
              <a:rPr lang="en-US" altLang="ko-KR" sz="1100" baseline="0" dirty="0"/>
              <a:t> </a:t>
            </a:r>
            <a:r>
              <a:rPr lang="en-US" altLang="ko-KR" sz="1100" baseline="0" dirty="0" err="1"/>
              <a:t>mẫu</a:t>
            </a:r>
            <a:r>
              <a:rPr lang="en-US" altLang="ko-KR" sz="1100" baseline="0" dirty="0"/>
              <a:t> </a:t>
            </a:r>
            <a:r>
              <a:rPr lang="en-US" altLang="ko-KR" sz="1100" baseline="0" dirty="0" err="1"/>
              <a:t>có</a:t>
            </a:r>
            <a:r>
              <a:rPr lang="en-US" altLang="ko-KR" sz="1100" baseline="0" dirty="0"/>
              <a:t> </a:t>
            </a:r>
            <a:r>
              <a:rPr lang="en-US" altLang="ko-KR" sz="1100" baseline="0" dirty="0" err="1"/>
              <a:t>đây</a:t>
            </a:r>
            <a:r>
              <a:rPr lang="en-US" altLang="ko-KR" sz="1100" baseline="0" dirty="0"/>
              <a:t> </a:t>
            </a:r>
            <a:r>
              <a:rPr lang="en-US" altLang="ko-KR" sz="1100" baseline="0" dirty="0" err="1"/>
              <a:t>đủ</a:t>
            </a:r>
            <a:r>
              <a:rPr lang="en-US" altLang="ko-KR" sz="1100" baseline="0" dirty="0"/>
              <a:t> </a:t>
            </a:r>
            <a:r>
              <a:rPr lang="en-US" altLang="ko-KR" sz="1100" baseline="0" dirty="0" err="1"/>
              <a:t>đăc</a:t>
            </a:r>
            <a:r>
              <a:rPr lang="en-US" altLang="ko-KR" sz="1100" baseline="0" dirty="0"/>
              <a:t> </a:t>
            </a:r>
            <a:r>
              <a:rPr lang="en-US" altLang="ko-KR" sz="1100" baseline="0" dirty="0" err="1"/>
              <a:t>điểm</a:t>
            </a:r>
            <a:r>
              <a:rPr lang="en-US" altLang="ko-KR" sz="1100" baseline="0" dirty="0"/>
              <a:t> </a:t>
            </a:r>
            <a:r>
              <a:rPr lang="en-US" altLang="ko-KR" sz="1100" baseline="0" dirty="0" err="1"/>
              <a:t>cua</a:t>
            </a:r>
            <a:r>
              <a:rPr lang="en-US" altLang="ko-KR" sz="1100" baseline="0" dirty="0"/>
              <a:t> </a:t>
            </a:r>
            <a:r>
              <a:rPr lang="en-US" altLang="ko-KR" sz="1100" baseline="0" dirty="0" err="1"/>
              <a:t>tổng</a:t>
            </a:r>
            <a:r>
              <a:rPr lang="en-US" altLang="ko-KR" sz="1100" baseline="0" dirty="0"/>
              <a:t> </a:t>
            </a:r>
            <a:r>
              <a:rPr lang="en-US" altLang="ko-KR" sz="1100" baseline="0" dirty="0" err="1"/>
              <a:t>thể</a:t>
            </a:r>
            <a:endParaRPr lang="ko-KR" altLang="en-US" sz="1100" dirty="0"/>
          </a:p>
          <a:p>
            <a:r>
              <a:rPr lang="en-US" altLang="ko-KR" sz="1100" dirty="0" err="1"/>
              <a:t>Hinh</a:t>
            </a:r>
            <a:r>
              <a:rPr lang="en-US" altLang="ko-KR" sz="1100" dirty="0"/>
              <a:t> </a:t>
            </a:r>
            <a:r>
              <a:rPr lang="en-US" altLang="ko-KR" sz="1100" dirty="0" err="1"/>
              <a:t>chuông</a:t>
            </a:r>
            <a:r>
              <a:rPr lang="en-US" altLang="ko-KR" sz="1100" baseline="0" dirty="0"/>
              <a:t> </a:t>
            </a:r>
            <a:r>
              <a:rPr lang="en-US" altLang="ko-KR" sz="1100" baseline="0" dirty="0" err="1"/>
              <a:t>của</a:t>
            </a:r>
            <a:r>
              <a:rPr lang="en-US" altLang="ko-KR" sz="1100" baseline="0" dirty="0"/>
              <a:t> </a:t>
            </a:r>
            <a:r>
              <a:rPr lang="en-US" altLang="ko-KR" sz="1100" baseline="0" dirty="0" err="1"/>
              <a:t>mẫu</a:t>
            </a:r>
            <a:r>
              <a:rPr lang="en-US" altLang="ko-KR" sz="1100" baseline="0" dirty="0"/>
              <a:t> vs </a:t>
            </a:r>
            <a:r>
              <a:rPr lang="en-US" altLang="ko-KR" sz="1100" baseline="0" dirty="0" err="1"/>
              <a:t>tổng</a:t>
            </a:r>
            <a:r>
              <a:rPr lang="en-US" altLang="ko-KR" sz="1100" baseline="0" dirty="0"/>
              <a:t> </a:t>
            </a:r>
            <a:r>
              <a:rPr lang="en-US" altLang="ko-KR" sz="1100" baseline="0" dirty="0" err="1"/>
              <a:t>thể</a:t>
            </a:r>
            <a:r>
              <a:rPr lang="en-US" altLang="ko-KR" sz="1100" baseline="0" dirty="0"/>
              <a:t> no </a:t>
            </a:r>
            <a:r>
              <a:rPr lang="en-US" altLang="ko-KR" sz="1100" baseline="0" dirty="0" err="1"/>
              <a:t>fai</a:t>
            </a:r>
            <a:r>
              <a:rPr lang="en-US" altLang="ko-KR" sz="1100" baseline="0" dirty="0"/>
              <a:t> </a:t>
            </a:r>
            <a:r>
              <a:rPr lang="en-US" altLang="ko-KR" sz="1100" baseline="0" dirty="0" err="1"/>
              <a:t>tường</a:t>
            </a:r>
            <a:r>
              <a:rPr lang="en-US" altLang="ko-KR" sz="1100" baseline="0" dirty="0"/>
              <a:t> </a:t>
            </a:r>
            <a:r>
              <a:rPr lang="en-US" altLang="ko-KR" sz="1100" baseline="0" dirty="0" err="1"/>
              <a:t>tự</a:t>
            </a:r>
            <a:r>
              <a:rPr lang="en-US" altLang="ko-KR" sz="1100" baseline="0" dirty="0"/>
              <a:t> </a:t>
            </a:r>
            <a:r>
              <a:rPr lang="en-US" altLang="ko-KR" sz="1100" baseline="0" dirty="0" err="1"/>
              <a:t>nhau</a:t>
            </a:r>
            <a:endParaRPr lang="en-US" altLang="ko-KR" sz="1100" baseline="0" dirty="0"/>
          </a:p>
          <a:p>
            <a:r>
              <a:rPr lang="en-US" altLang="ko-KR" sz="1100" baseline="0" dirty="0" err="1"/>
              <a:t>Như</a:t>
            </a:r>
            <a:r>
              <a:rPr lang="en-US" altLang="ko-KR" sz="1100" baseline="0" dirty="0"/>
              <a:t> </a:t>
            </a:r>
            <a:r>
              <a:rPr lang="en-US" altLang="ko-KR" sz="1100" baseline="0" dirty="0" err="1"/>
              <a:t>hinh</a:t>
            </a:r>
            <a:r>
              <a:rPr lang="en-US" altLang="ko-KR" sz="1100" baseline="0" dirty="0"/>
              <a:t> 1 </a:t>
            </a:r>
            <a:r>
              <a:rPr lang="en-US" altLang="ko-KR" sz="1100" baseline="0" dirty="0" err="1"/>
              <a:t>lấy</a:t>
            </a:r>
            <a:r>
              <a:rPr lang="en-US" altLang="ko-KR" sz="1100" baseline="0" dirty="0"/>
              <a:t> </a:t>
            </a:r>
            <a:r>
              <a:rPr lang="en-US" altLang="ko-KR" sz="1100" baseline="0" dirty="0" err="1"/>
              <a:t>ra</a:t>
            </a:r>
            <a:r>
              <a:rPr lang="en-US" altLang="ko-KR" sz="1100" baseline="0" dirty="0"/>
              <a:t> 10 con </a:t>
            </a:r>
            <a:r>
              <a:rPr lang="en-US" altLang="ko-KR" sz="1100" baseline="0" dirty="0" err="1"/>
              <a:t>ko</a:t>
            </a:r>
            <a:r>
              <a:rPr lang="en-US" altLang="ko-KR" sz="1100" baseline="0" dirty="0"/>
              <a:t> con </a:t>
            </a:r>
            <a:r>
              <a:rPr lang="en-US" altLang="ko-KR" sz="1100" baseline="0" dirty="0" err="1"/>
              <a:t>nào</a:t>
            </a:r>
            <a:r>
              <a:rPr lang="en-US" altLang="ko-KR" sz="1100" baseline="0" dirty="0"/>
              <a:t> NG </a:t>
            </a:r>
            <a:r>
              <a:rPr lang="en-US" altLang="ko-KR" sz="1100" baseline="0" dirty="0" err="1"/>
              <a:t>cả</a:t>
            </a:r>
            <a:r>
              <a:rPr lang="en-US" altLang="ko-KR" sz="1100" baseline="0" dirty="0"/>
              <a:t>, </a:t>
            </a:r>
            <a:r>
              <a:rPr lang="en-US" altLang="ko-KR" sz="1100" baseline="0" dirty="0" err="1"/>
              <a:t>đêu</a:t>
            </a:r>
            <a:r>
              <a:rPr lang="en-US" altLang="ko-KR" sz="1100" baseline="0" dirty="0"/>
              <a:t> </a:t>
            </a:r>
            <a:r>
              <a:rPr lang="en-US" altLang="ko-KR" sz="1100" baseline="0" dirty="0" err="1"/>
              <a:t>trong</a:t>
            </a:r>
            <a:r>
              <a:rPr lang="en-US" altLang="ko-KR" sz="1100" baseline="0" dirty="0"/>
              <a:t> spec, </a:t>
            </a:r>
            <a:r>
              <a:rPr lang="en-US" altLang="ko-KR" sz="1100" baseline="0" dirty="0" err="1"/>
              <a:t>hinh</a:t>
            </a:r>
            <a:r>
              <a:rPr lang="en-US" altLang="ko-KR" sz="1100" baseline="0" dirty="0"/>
              <a:t> </a:t>
            </a:r>
            <a:r>
              <a:rPr lang="en-US" altLang="ko-KR" sz="1100" baseline="0" dirty="0" err="1"/>
              <a:t>chuông</a:t>
            </a:r>
            <a:r>
              <a:rPr lang="en-US" altLang="ko-KR" sz="1100" baseline="0" dirty="0"/>
              <a:t> </a:t>
            </a:r>
            <a:r>
              <a:rPr lang="en-US" altLang="ko-KR" sz="1100" baseline="0" dirty="0" err="1"/>
              <a:t>gọn</a:t>
            </a:r>
            <a:r>
              <a:rPr lang="en-US" altLang="ko-KR" sz="1100" baseline="0" dirty="0"/>
              <a:t>--&gt; </a:t>
            </a:r>
            <a:r>
              <a:rPr lang="en-US" altLang="ko-KR" sz="1100" baseline="0" dirty="0" err="1"/>
              <a:t>dẫn</a:t>
            </a:r>
            <a:r>
              <a:rPr lang="en-US" altLang="ko-KR" sz="1100" baseline="0" dirty="0"/>
              <a:t> </a:t>
            </a:r>
            <a:r>
              <a:rPr lang="en-US" altLang="ko-KR" sz="1100" baseline="0" dirty="0" err="1"/>
              <a:t>đến</a:t>
            </a:r>
            <a:r>
              <a:rPr lang="en-US" altLang="ko-KR" sz="1100" baseline="0" dirty="0"/>
              <a:t> </a:t>
            </a:r>
            <a:r>
              <a:rPr lang="en-US" altLang="ko-KR" sz="1100" baseline="0" dirty="0" err="1"/>
              <a:t>đánh</a:t>
            </a:r>
            <a:r>
              <a:rPr lang="en-US" altLang="ko-KR" sz="1100" baseline="0" dirty="0"/>
              <a:t> </a:t>
            </a:r>
            <a:r>
              <a:rPr lang="en-US" altLang="ko-KR" sz="1100" baseline="0" dirty="0" err="1"/>
              <a:t>giá</a:t>
            </a:r>
            <a:r>
              <a:rPr lang="en-US" altLang="ko-KR" sz="1100" baseline="0" dirty="0"/>
              <a:t> </a:t>
            </a:r>
            <a:r>
              <a:rPr lang="en-US" altLang="ko-KR" sz="1100" baseline="0" dirty="0" err="1"/>
              <a:t>quy</a:t>
            </a:r>
            <a:r>
              <a:rPr lang="en-US" altLang="ko-KR" sz="1100" baseline="0" dirty="0"/>
              <a:t> </a:t>
            </a:r>
            <a:r>
              <a:rPr lang="en-US" altLang="ko-KR" sz="1100" baseline="0" dirty="0" err="1"/>
              <a:t>trinh</a:t>
            </a:r>
            <a:r>
              <a:rPr lang="en-US" altLang="ko-KR" sz="1100" baseline="0" dirty="0"/>
              <a:t> </a:t>
            </a:r>
            <a:r>
              <a:rPr lang="en-US" altLang="ko-KR" sz="1100" baseline="0" dirty="0" err="1"/>
              <a:t>tôt</a:t>
            </a:r>
            <a:r>
              <a:rPr lang="en-US" altLang="ko-KR" sz="1100" baseline="0" dirty="0"/>
              <a:t> </a:t>
            </a:r>
            <a:r>
              <a:rPr lang="en-US" altLang="ko-KR" sz="1100" baseline="0" dirty="0" err="1"/>
              <a:t>nhưng</a:t>
            </a:r>
            <a:r>
              <a:rPr lang="en-US" altLang="ko-KR" sz="1100" baseline="0" dirty="0"/>
              <a:t> </a:t>
            </a:r>
            <a:r>
              <a:rPr lang="en-US" altLang="ko-KR" sz="1100" baseline="0" dirty="0" err="1"/>
              <a:t>thưc</a:t>
            </a:r>
            <a:r>
              <a:rPr lang="en-US" altLang="ko-KR" sz="1100" baseline="0" dirty="0"/>
              <a:t> </a:t>
            </a:r>
            <a:r>
              <a:rPr lang="en-US" altLang="ko-KR" sz="1100" baseline="0" dirty="0" err="1"/>
              <a:t>tê</a:t>
            </a:r>
            <a:r>
              <a:rPr lang="en-US" altLang="ko-KR" sz="1100" baseline="0" dirty="0"/>
              <a:t> </a:t>
            </a:r>
            <a:r>
              <a:rPr lang="en-US" altLang="ko-KR" sz="1100" baseline="0" dirty="0" err="1"/>
              <a:t>hinh</a:t>
            </a:r>
            <a:r>
              <a:rPr lang="en-US" altLang="ko-KR" sz="1100" baseline="0" dirty="0"/>
              <a:t> </a:t>
            </a:r>
            <a:r>
              <a:rPr lang="en-US" altLang="ko-KR" sz="1100" baseline="0" dirty="0" err="1"/>
              <a:t>chuôn</a:t>
            </a:r>
            <a:r>
              <a:rPr lang="en-US" altLang="ko-KR" sz="1100" baseline="0" dirty="0"/>
              <a:t> </a:t>
            </a:r>
            <a:r>
              <a:rPr lang="en-US" altLang="ko-KR" sz="1100" baseline="0" dirty="0" err="1"/>
              <a:t>cua</a:t>
            </a:r>
            <a:r>
              <a:rPr lang="en-US" altLang="ko-KR" sz="1100" baseline="0" dirty="0"/>
              <a:t> minh </a:t>
            </a:r>
            <a:r>
              <a:rPr lang="en-US" altLang="ko-KR" sz="1100" baseline="0" dirty="0" err="1"/>
              <a:t>lai</a:t>
            </a:r>
            <a:r>
              <a:rPr lang="en-US" altLang="ko-KR" sz="1100" baseline="0" dirty="0"/>
              <a:t> </a:t>
            </a:r>
            <a:r>
              <a:rPr lang="en-US" altLang="ko-KR" sz="1100" baseline="0" dirty="0" err="1"/>
              <a:t>ko</a:t>
            </a:r>
            <a:r>
              <a:rPr lang="en-US" altLang="ko-KR" sz="1100" baseline="0" dirty="0"/>
              <a:t> </a:t>
            </a:r>
            <a:r>
              <a:rPr lang="en-US" altLang="ko-KR" sz="1100" baseline="0" dirty="0" err="1"/>
              <a:t>tôt</a:t>
            </a:r>
            <a:endParaRPr lang="en-US" altLang="ko-KR" sz="1100" baseline="0" dirty="0"/>
          </a:p>
          <a:p>
            <a:r>
              <a:rPr lang="en-US" altLang="ko-KR" sz="1100" baseline="0" dirty="0" err="1"/>
              <a:t>Trong</a:t>
            </a:r>
            <a:r>
              <a:rPr lang="en-US" altLang="ko-KR" sz="1100" baseline="0" dirty="0"/>
              <a:t> 6 sigma, </a:t>
            </a:r>
            <a:r>
              <a:rPr lang="en-US" altLang="ko-KR" sz="1100" baseline="0" dirty="0" err="1"/>
              <a:t>lấy</a:t>
            </a:r>
            <a:r>
              <a:rPr lang="en-US" altLang="ko-KR" sz="1100" baseline="0" dirty="0"/>
              <a:t> </a:t>
            </a:r>
            <a:r>
              <a:rPr lang="en-US" altLang="ko-KR" sz="1100" baseline="0" dirty="0" err="1"/>
              <a:t>mẫu</a:t>
            </a:r>
            <a:r>
              <a:rPr lang="en-US" altLang="ko-KR" sz="1100" baseline="0" dirty="0"/>
              <a:t> </a:t>
            </a:r>
            <a:r>
              <a:rPr lang="en-US" altLang="ko-KR" sz="1100" baseline="0" dirty="0" err="1"/>
              <a:t>đúng</a:t>
            </a:r>
            <a:r>
              <a:rPr lang="en-US" altLang="ko-KR" sz="1100" baseline="0" dirty="0"/>
              <a:t> </a:t>
            </a:r>
            <a:r>
              <a:rPr lang="en-US" altLang="ko-KR" sz="1100" baseline="0" dirty="0" err="1"/>
              <a:t>alf</a:t>
            </a:r>
            <a:r>
              <a:rPr lang="en-US" altLang="ko-KR" sz="1100" baseline="0" dirty="0"/>
              <a:t> </a:t>
            </a:r>
            <a:r>
              <a:rPr lang="en-US" altLang="ko-KR" sz="1100" baseline="0" dirty="0" err="1"/>
              <a:t>đk</a:t>
            </a:r>
            <a:r>
              <a:rPr lang="en-US" altLang="ko-KR" sz="1100" baseline="0" dirty="0"/>
              <a:t> </a:t>
            </a:r>
            <a:r>
              <a:rPr lang="en-US" altLang="ko-KR" sz="1100" baseline="0" dirty="0" err="1"/>
              <a:t>tiên</a:t>
            </a:r>
            <a:r>
              <a:rPr lang="en-US" altLang="ko-KR" sz="1100" baseline="0" dirty="0"/>
              <a:t> </a:t>
            </a:r>
            <a:r>
              <a:rPr lang="en-US" altLang="ko-KR" sz="1100" baseline="0" dirty="0" err="1"/>
              <a:t>quyết</a:t>
            </a:r>
            <a:r>
              <a:rPr lang="en-US" altLang="ko-KR" sz="1100" baseline="0" dirty="0"/>
              <a:t> </a:t>
            </a:r>
            <a:r>
              <a:rPr lang="en-US" altLang="ko-KR" sz="1100" baseline="0" dirty="0" err="1"/>
              <a:t>để</a:t>
            </a:r>
            <a:r>
              <a:rPr lang="en-US" altLang="ko-KR" sz="1100" baseline="0" dirty="0"/>
              <a:t> </a:t>
            </a:r>
            <a:r>
              <a:rPr lang="en-US" altLang="ko-KR" sz="1100" baseline="0" dirty="0" err="1"/>
              <a:t>tính</a:t>
            </a:r>
            <a:r>
              <a:rPr lang="en-US" altLang="ko-KR" sz="1100" baseline="0" dirty="0"/>
              <a:t> </a:t>
            </a:r>
            <a:r>
              <a:rPr lang="en-US" altLang="ko-KR" sz="1100" baseline="0" dirty="0" err="1"/>
              <a:t>toán</a:t>
            </a:r>
            <a:r>
              <a:rPr lang="en-US" altLang="ko-KR" sz="1100" baseline="0" dirty="0"/>
              <a:t> </a:t>
            </a:r>
            <a:r>
              <a:rPr lang="en-US" altLang="ko-KR" sz="1100" baseline="0" dirty="0" err="1"/>
              <a:t>và</a:t>
            </a:r>
            <a:r>
              <a:rPr lang="en-US" altLang="ko-KR" sz="1100" baseline="0" dirty="0"/>
              <a:t> </a:t>
            </a:r>
            <a:r>
              <a:rPr lang="en-US" altLang="ko-KR" sz="1100" baseline="0" dirty="0" err="1"/>
              <a:t>kết</a:t>
            </a:r>
            <a:r>
              <a:rPr lang="en-US" altLang="ko-KR" sz="1100" baseline="0" dirty="0"/>
              <a:t> </a:t>
            </a:r>
            <a:r>
              <a:rPr lang="en-US" altLang="ko-KR" sz="1100" baseline="0" dirty="0" err="1"/>
              <a:t>luận</a:t>
            </a:r>
            <a:r>
              <a:rPr lang="en-US" altLang="ko-KR" sz="1100" baseline="0" dirty="0"/>
              <a:t> </a:t>
            </a:r>
            <a:r>
              <a:rPr lang="en-US" altLang="ko-KR" sz="1100" baseline="0" dirty="0" err="1"/>
              <a:t>đung</a:t>
            </a:r>
            <a:endParaRPr lang="en-US" altLang="ko-KR" sz="1100" baseline="0" dirty="0"/>
          </a:p>
          <a:p>
            <a:endParaRPr lang="en-US" altLang="ko-KR" sz="1100" baseline="0" dirty="0"/>
          </a:p>
          <a:p>
            <a:r>
              <a:rPr lang="en-US" altLang="ko-KR" sz="1100" baseline="0" dirty="0"/>
              <a:t>TH2: </a:t>
            </a:r>
            <a:r>
              <a:rPr lang="en-US" altLang="ko-KR" sz="1100" baseline="0" dirty="0" err="1"/>
              <a:t>lấy</a:t>
            </a:r>
            <a:r>
              <a:rPr lang="en-US" altLang="ko-KR" sz="1100" baseline="0" dirty="0"/>
              <a:t> </a:t>
            </a:r>
            <a:r>
              <a:rPr lang="en-US" altLang="ko-KR" sz="1100" baseline="0" dirty="0" err="1"/>
              <a:t>quá</a:t>
            </a:r>
            <a:r>
              <a:rPr lang="en-US" altLang="ko-KR" sz="1100" baseline="0" dirty="0"/>
              <a:t> </a:t>
            </a:r>
            <a:r>
              <a:rPr lang="en-US" altLang="ko-KR" sz="1100" baseline="0" dirty="0" err="1"/>
              <a:t>nhiều</a:t>
            </a:r>
            <a:r>
              <a:rPr lang="en-US" altLang="ko-KR" sz="1100" baseline="0" dirty="0"/>
              <a:t> </a:t>
            </a:r>
            <a:r>
              <a:rPr lang="en-US" altLang="ko-KR" sz="1100" baseline="0" dirty="0" err="1"/>
              <a:t>mẫu</a:t>
            </a:r>
            <a:r>
              <a:rPr lang="en-US" altLang="ko-KR" sz="1100" baseline="0" dirty="0"/>
              <a:t> NG</a:t>
            </a:r>
          </a:p>
          <a:p>
            <a:r>
              <a:rPr lang="en-US" altLang="ko-KR" sz="1100" baseline="0" dirty="0" err="1"/>
              <a:t>Khi</a:t>
            </a:r>
            <a:r>
              <a:rPr lang="en-US" altLang="ko-KR" sz="1100" baseline="0" dirty="0"/>
              <a:t> </a:t>
            </a:r>
            <a:r>
              <a:rPr lang="en-US" altLang="ko-KR" sz="1100" baseline="0" dirty="0" err="1"/>
              <a:t>mn</a:t>
            </a:r>
            <a:r>
              <a:rPr lang="en-US" altLang="ko-KR" sz="1100" baseline="0" dirty="0"/>
              <a:t> </a:t>
            </a:r>
            <a:r>
              <a:rPr lang="en-US" altLang="ko-KR" sz="1100" baseline="0" dirty="0" err="1"/>
              <a:t>làm</a:t>
            </a:r>
            <a:r>
              <a:rPr lang="en-US" altLang="ko-KR" sz="1100" baseline="0" dirty="0"/>
              <a:t> project </a:t>
            </a:r>
            <a:r>
              <a:rPr lang="en-US" altLang="ko-KR" sz="1100" baseline="0" dirty="0" err="1"/>
              <a:t>mn</a:t>
            </a:r>
            <a:r>
              <a:rPr lang="en-US" altLang="ko-KR" sz="1100" baseline="0" dirty="0"/>
              <a:t> </a:t>
            </a:r>
            <a:r>
              <a:rPr lang="en-US" altLang="ko-KR" sz="1100" baseline="0" dirty="0" err="1"/>
              <a:t>lấy</a:t>
            </a:r>
            <a:r>
              <a:rPr lang="en-US" altLang="ko-KR" sz="1100" baseline="0" dirty="0"/>
              <a:t> 10 </a:t>
            </a:r>
            <a:r>
              <a:rPr lang="en-US" altLang="ko-KR" sz="1100" baseline="0" dirty="0" err="1"/>
              <a:t>mẫu</a:t>
            </a:r>
            <a:r>
              <a:rPr lang="en-US" altLang="ko-KR" sz="1100" baseline="0" dirty="0"/>
              <a:t> </a:t>
            </a:r>
            <a:r>
              <a:rPr lang="en-US" altLang="ko-KR" sz="1100" baseline="0" dirty="0" err="1"/>
              <a:t>mà</a:t>
            </a:r>
            <a:r>
              <a:rPr lang="en-US" altLang="ko-KR" sz="1100" baseline="0" dirty="0"/>
              <a:t> </a:t>
            </a:r>
            <a:r>
              <a:rPr lang="en-US" altLang="ko-KR" sz="1100" baseline="0" dirty="0" err="1"/>
              <a:t>toàn</a:t>
            </a:r>
            <a:r>
              <a:rPr lang="en-US" altLang="ko-KR" sz="1100" baseline="0" dirty="0"/>
              <a:t> </a:t>
            </a:r>
            <a:r>
              <a:rPr lang="en-US" altLang="ko-KR" sz="1100" baseline="0" dirty="0" err="1"/>
              <a:t>lấy</a:t>
            </a:r>
            <a:r>
              <a:rPr lang="en-US" altLang="ko-KR" sz="1100" baseline="0" dirty="0"/>
              <a:t> 10 </a:t>
            </a:r>
            <a:r>
              <a:rPr lang="en-US" altLang="ko-KR" sz="1100" baseline="0" dirty="0" err="1"/>
              <a:t>mẫu</a:t>
            </a:r>
            <a:r>
              <a:rPr lang="en-US" altLang="ko-KR" sz="1100" baseline="0" dirty="0"/>
              <a:t> ok </a:t>
            </a:r>
            <a:r>
              <a:rPr lang="en-US" altLang="ko-KR" sz="1100" baseline="0" dirty="0" err="1"/>
              <a:t>thôi</a:t>
            </a:r>
            <a:r>
              <a:rPr lang="en-US" altLang="ko-KR" sz="1100" baseline="0" dirty="0"/>
              <a:t>, </a:t>
            </a:r>
            <a:r>
              <a:rPr lang="en-US" altLang="ko-KR" sz="1100" baseline="0" dirty="0" err="1"/>
              <a:t>ko</a:t>
            </a:r>
            <a:r>
              <a:rPr lang="en-US" altLang="ko-KR" sz="1100" baseline="0" dirty="0"/>
              <a:t> </a:t>
            </a:r>
            <a:r>
              <a:rPr lang="en-US" altLang="ko-KR" sz="1100" baseline="0" dirty="0" err="1"/>
              <a:t>có</a:t>
            </a:r>
            <a:r>
              <a:rPr lang="en-US" altLang="ko-KR" sz="1100" baseline="0" dirty="0"/>
              <a:t> con </a:t>
            </a:r>
            <a:r>
              <a:rPr lang="en-US" altLang="ko-KR" sz="1100" baseline="0" dirty="0" err="1"/>
              <a:t>lỗi</a:t>
            </a:r>
            <a:r>
              <a:rPr lang="en-US" altLang="ko-KR" sz="1100" baseline="0" dirty="0"/>
              <a:t> </a:t>
            </a:r>
            <a:r>
              <a:rPr lang="en-US" altLang="ko-KR" sz="1100" baseline="0" dirty="0" err="1"/>
              <a:t>nào</a:t>
            </a:r>
            <a:r>
              <a:rPr lang="en-US" altLang="ko-KR" sz="1100" baseline="0" dirty="0"/>
              <a:t> </a:t>
            </a:r>
            <a:r>
              <a:rPr lang="en-US" altLang="ko-KR" sz="1100" baseline="0" dirty="0" err="1"/>
              <a:t>cả</a:t>
            </a:r>
            <a:r>
              <a:rPr lang="en-US" altLang="ko-KR" sz="1100" baseline="0" dirty="0"/>
              <a:t>, </a:t>
            </a:r>
            <a:r>
              <a:rPr lang="en-US" altLang="ko-KR" sz="1100" baseline="0" dirty="0" err="1"/>
              <a:t>lúc</a:t>
            </a:r>
            <a:r>
              <a:rPr lang="en-US" altLang="ko-KR" sz="1100" baseline="0" dirty="0"/>
              <a:t> </a:t>
            </a:r>
            <a:r>
              <a:rPr lang="en-US" altLang="ko-KR" sz="1100" baseline="0" dirty="0" err="1"/>
              <a:t>đó</a:t>
            </a:r>
            <a:r>
              <a:rPr lang="en-US" altLang="ko-KR" sz="1100" baseline="0" dirty="0"/>
              <a:t> </a:t>
            </a:r>
            <a:r>
              <a:rPr lang="en-US" altLang="ko-KR" sz="1100" baseline="0" dirty="0" err="1"/>
              <a:t>sẽ</a:t>
            </a:r>
            <a:r>
              <a:rPr lang="en-US" altLang="ko-KR" sz="1100" baseline="0" dirty="0"/>
              <a:t> </a:t>
            </a:r>
            <a:r>
              <a:rPr lang="en-US" altLang="ko-KR" sz="1100" baseline="0" dirty="0" err="1"/>
              <a:t>bị</a:t>
            </a:r>
            <a:r>
              <a:rPr lang="en-US" altLang="ko-KR" sz="1100" baseline="0" dirty="0"/>
              <a:t> FSE </a:t>
            </a:r>
            <a:r>
              <a:rPr lang="en-US" altLang="ko-KR" sz="1100" baseline="0" dirty="0" err="1"/>
              <a:t>hỏi</a:t>
            </a:r>
            <a:r>
              <a:rPr lang="en-US" altLang="ko-KR" sz="1100" baseline="0" dirty="0"/>
              <a:t> </a:t>
            </a:r>
            <a:r>
              <a:rPr lang="en-US" altLang="ko-KR" sz="1100" baseline="0" dirty="0" err="1"/>
              <a:t>tại</a:t>
            </a:r>
            <a:r>
              <a:rPr lang="en-US" altLang="ko-KR" sz="1100" baseline="0" dirty="0"/>
              <a:t> </a:t>
            </a:r>
            <a:r>
              <a:rPr lang="en-US" altLang="ko-KR" sz="1100" baseline="0" dirty="0" err="1"/>
              <a:t>sao</a:t>
            </a:r>
            <a:r>
              <a:rPr lang="en-US" altLang="ko-KR" sz="1100" baseline="0" dirty="0"/>
              <a:t>.</a:t>
            </a:r>
          </a:p>
          <a:p>
            <a:r>
              <a:rPr lang="en-US" altLang="ko-KR" sz="1100" baseline="0" dirty="0" err="1"/>
              <a:t>Lúc</a:t>
            </a:r>
            <a:r>
              <a:rPr lang="en-US" altLang="ko-KR" sz="1100" baseline="0" dirty="0"/>
              <a:t> </a:t>
            </a:r>
            <a:r>
              <a:rPr lang="en-US" altLang="ko-KR" sz="1100" baseline="0" dirty="0" err="1"/>
              <a:t>lấy</a:t>
            </a:r>
            <a:r>
              <a:rPr lang="en-US" altLang="ko-KR" sz="1100" baseline="0" dirty="0"/>
              <a:t> </a:t>
            </a:r>
            <a:r>
              <a:rPr lang="en-US" altLang="ko-KR" sz="1100" baseline="0" dirty="0" err="1"/>
              <a:t>mẫu</a:t>
            </a:r>
            <a:r>
              <a:rPr lang="en-US" altLang="ko-KR" sz="1100" baseline="0" dirty="0"/>
              <a:t> </a:t>
            </a:r>
            <a:r>
              <a:rPr lang="en-US" altLang="ko-KR" sz="1100" baseline="0" dirty="0" err="1"/>
              <a:t>ra</a:t>
            </a:r>
            <a:r>
              <a:rPr lang="en-US" altLang="ko-KR" sz="1100" baseline="0" dirty="0"/>
              <a:t> </a:t>
            </a:r>
            <a:r>
              <a:rPr lang="en-US" altLang="ko-KR" sz="1100" baseline="0" dirty="0" err="1"/>
              <a:t>thi</a:t>
            </a:r>
            <a:r>
              <a:rPr lang="en-US" altLang="ko-KR" sz="1100" baseline="0" dirty="0"/>
              <a:t> ti </a:t>
            </a:r>
            <a:r>
              <a:rPr lang="en-US" altLang="ko-KR" sz="1100" baseline="0" dirty="0" err="1"/>
              <a:t>lệ</a:t>
            </a:r>
            <a:r>
              <a:rPr lang="en-US" altLang="ko-KR" sz="1100" baseline="0" dirty="0"/>
              <a:t> </a:t>
            </a:r>
            <a:r>
              <a:rPr lang="en-US" altLang="ko-KR" sz="1100" baseline="0" dirty="0" err="1"/>
              <a:t>lỗi</a:t>
            </a:r>
            <a:r>
              <a:rPr lang="en-US" altLang="ko-KR" sz="1100" baseline="0" dirty="0"/>
              <a:t> NG </a:t>
            </a:r>
            <a:r>
              <a:rPr lang="en-US" altLang="ko-KR" sz="1100" baseline="0" dirty="0" err="1"/>
              <a:t>ko</a:t>
            </a:r>
            <a:r>
              <a:rPr lang="en-US" altLang="ko-KR" sz="1100" baseline="0" dirty="0"/>
              <a:t> </a:t>
            </a:r>
            <a:r>
              <a:rPr lang="en-US" altLang="ko-KR" sz="1100" baseline="0" dirty="0" err="1"/>
              <a:t>đc</a:t>
            </a:r>
            <a:r>
              <a:rPr lang="en-US" altLang="ko-KR" sz="1100" baseline="0" dirty="0"/>
              <a:t> </a:t>
            </a:r>
            <a:r>
              <a:rPr lang="en-US" altLang="ko-KR" sz="1100" baseline="0" dirty="0" err="1"/>
              <a:t>cao</a:t>
            </a:r>
            <a:r>
              <a:rPr lang="en-US" altLang="ko-KR" sz="1100" baseline="0" dirty="0"/>
              <a:t> </a:t>
            </a:r>
            <a:r>
              <a:rPr lang="en-US" altLang="ko-KR" sz="1100" baseline="0" dirty="0" err="1"/>
              <a:t>hơn</a:t>
            </a:r>
            <a:r>
              <a:rPr lang="en-US" altLang="ko-KR" sz="1100" baseline="0" dirty="0"/>
              <a:t> ti </a:t>
            </a:r>
            <a:r>
              <a:rPr lang="en-US" altLang="ko-KR" sz="1100" baseline="0" dirty="0" err="1"/>
              <a:t>lê</a:t>
            </a:r>
            <a:r>
              <a:rPr lang="en-US" altLang="ko-KR" sz="1100" baseline="0" dirty="0"/>
              <a:t> </a:t>
            </a:r>
            <a:r>
              <a:rPr lang="en-US" altLang="ko-KR" sz="1100" baseline="0" dirty="0" err="1"/>
              <a:t>lỗi</a:t>
            </a:r>
            <a:r>
              <a:rPr lang="en-US" altLang="ko-KR" sz="1100" baseline="0" dirty="0"/>
              <a:t> </a:t>
            </a:r>
            <a:r>
              <a:rPr lang="en-US" altLang="ko-KR" sz="1100" baseline="0" dirty="0" err="1"/>
              <a:t>hiện</a:t>
            </a:r>
            <a:r>
              <a:rPr lang="en-US" altLang="ko-KR" sz="1100" baseline="0" dirty="0"/>
              <a:t> </a:t>
            </a:r>
            <a:r>
              <a:rPr lang="en-US" altLang="ko-KR" sz="1100" baseline="0" dirty="0" err="1"/>
              <a:t>có</a:t>
            </a:r>
            <a:endParaRPr lang="en-US" altLang="ko-KR" sz="1100" baseline="0" dirty="0"/>
          </a:p>
          <a:p>
            <a:r>
              <a:rPr lang="en-US" altLang="ko-KR" sz="1100" baseline="0" dirty="0">
                <a:sym typeface="Wingdings" panose="05000000000000000000" pitchFamily="2" charset="2"/>
              </a:rPr>
              <a:t>quay </a:t>
            </a:r>
            <a:r>
              <a:rPr lang="en-US" altLang="ko-KR" sz="1100" baseline="0" dirty="0" err="1">
                <a:sym typeface="Wingdings" panose="05000000000000000000" pitchFamily="2" charset="2"/>
              </a:rPr>
              <a:t>lại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trang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trước</a:t>
            </a:r>
            <a:endParaRPr lang="en-US" altLang="ko-KR" sz="1100" baseline="0" dirty="0"/>
          </a:p>
          <a:p>
            <a:endParaRPr lang="en-US" altLang="ko-KR" sz="1100" baseline="0" dirty="0"/>
          </a:p>
        </p:txBody>
      </p:sp>
      <p:sp>
        <p:nvSpPr>
          <p:cNvPr id="4" name="슬라이드 번호 개체 틀 3"/>
          <p:cNvSpPr>
            <a:spLocks noGrp="1"/>
          </p:cNvSpPr>
          <p:nvPr>
            <p:ph type="sldNum" sz="quarter" idx="5"/>
          </p:nvPr>
        </p:nvSpPr>
        <p:spPr/>
        <p:txBody>
          <a:bodyPr/>
          <a:lstStyle/>
          <a:p>
            <a:pPr>
              <a:defRPr/>
            </a:pPr>
            <a:fld id="{B29A0594-3242-4DAC-A603-EFC6F55C1539}" type="slidenum">
              <a:rPr lang="ko-KR" altLang="en-US" smtClean="0"/>
              <a:pPr>
                <a:defRPr/>
              </a:pPr>
              <a:t>195</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25880572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슬라이드 노트 개체 틀 2"/>
          <p:cNvSpPr>
            <a:spLocks noGrp="1"/>
          </p:cNvSpPr>
          <p:nvPr>
            <p:ph type="body" idx="1"/>
          </p:nvPr>
        </p:nvSpPr>
        <p:spPr/>
        <p:txBody>
          <a:bodyPr>
            <a:normAutofit/>
          </a:bodyPr>
          <a:lstStyle/>
          <a:p>
            <a:pPr>
              <a:defRPr/>
            </a:pPr>
            <a:r>
              <a:rPr lang="en-US" altLang="ko-KR" sz="1100" dirty="0" err="1"/>
              <a:t>Khi</a:t>
            </a:r>
            <a:r>
              <a:rPr lang="en-US" altLang="ko-KR" sz="1100" dirty="0"/>
              <a:t> </a:t>
            </a:r>
            <a:r>
              <a:rPr lang="en-US" altLang="ko-KR" sz="1100" dirty="0" err="1"/>
              <a:t>chay</a:t>
            </a:r>
            <a:r>
              <a:rPr lang="en-US" altLang="ko-KR" sz="1100" dirty="0"/>
              <a:t> </a:t>
            </a:r>
            <a:r>
              <a:rPr lang="en-US" altLang="ko-KR" sz="1100" dirty="0" err="1"/>
              <a:t>minitab</a:t>
            </a:r>
            <a:r>
              <a:rPr lang="en-US" altLang="ko-KR" sz="1100" dirty="0"/>
              <a:t> chi </a:t>
            </a:r>
            <a:r>
              <a:rPr lang="en-US" altLang="ko-KR" sz="1100" dirty="0" err="1"/>
              <a:t>tìm</a:t>
            </a:r>
            <a:r>
              <a:rPr lang="en-US" altLang="ko-KR" sz="1100" baseline="0" dirty="0"/>
              <a:t> </a:t>
            </a:r>
            <a:r>
              <a:rPr lang="en-US" altLang="ko-KR" sz="1100" baseline="0" dirty="0" err="1"/>
              <a:t>nhưng</a:t>
            </a:r>
            <a:r>
              <a:rPr lang="en-US" altLang="ko-KR" sz="1100" baseline="0" dirty="0"/>
              <a:t> </a:t>
            </a:r>
            <a:r>
              <a:rPr lang="en-US" altLang="ko-KR" sz="1100" baseline="0" dirty="0" err="1"/>
              <a:t>gtri</a:t>
            </a:r>
            <a:r>
              <a:rPr lang="en-US" altLang="ko-KR" sz="1100" baseline="0" dirty="0"/>
              <a:t> nay </a:t>
            </a:r>
            <a:r>
              <a:rPr lang="en-US" altLang="ko-KR" sz="1100" baseline="0" dirty="0" err="1"/>
              <a:t>đê</a:t>
            </a:r>
            <a:r>
              <a:rPr lang="en-US" altLang="ko-KR" sz="1100" baseline="0" dirty="0"/>
              <a:t> so </a:t>
            </a:r>
            <a:r>
              <a:rPr lang="en-US" altLang="ko-KR" sz="1100" baseline="0" dirty="0" err="1"/>
              <a:t>sánh</a:t>
            </a:r>
            <a:endParaRPr lang="en-US" altLang="ko-KR" sz="1100" baseline="0" dirty="0"/>
          </a:p>
          <a:p>
            <a:pPr>
              <a:defRPr/>
            </a:pPr>
            <a:r>
              <a:rPr lang="en-US" altLang="ko-KR" sz="1100" baseline="0" dirty="0"/>
              <a:t>Gage </a:t>
            </a:r>
            <a:r>
              <a:rPr lang="en-US" altLang="ko-KR" sz="1100" baseline="0" dirty="0" err="1"/>
              <a:t>var</a:t>
            </a:r>
            <a:r>
              <a:rPr lang="en-US" altLang="ko-KR" sz="1100" baseline="0" dirty="0"/>
              <a:t>: </a:t>
            </a:r>
            <a:r>
              <a:rPr lang="en-US" altLang="ko-KR" sz="1100" baseline="0" dirty="0" err="1"/>
              <a:t>phương</a:t>
            </a:r>
            <a:r>
              <a:rPr lang="en-US" altLang="ko-KR" sz="1100" baseline="0" dirty="0"/>
              <a:t> </a:t>
            </a:r>
            <a:r>
              <a:rPr lang="en-US" altLang="ko-KR" sz="1100" baseline="0" dirty="0" err="1"/>
              <a:t>sai</a:t>
            </a:r>
            <a:r>
              <a:rPr lang="en-US" altLang="ko-KR" sz="1100" baseline="0" dirty="0"/>
              <a:t> </a:t>
            </a:r>
            <a:r>
              <a:rPr lang="en-US" altLang="ko-KR" sz="1100" baseline="0" dirty="0" err="1"/>
              <a:t>của</a:t>
            </a:r>
            <a:r>
              <a:rPr lang="en-US" altLang="ko-KR" sz="1100" baseline="0" dirty="0"/>
              <a:t> </a:t>
            </a:r>
            <a:r>
              <a:rPr lang="en-US" altLang="ko-KR" sz="1100" baseline="0" dirty="0" err="1"/>
              <a:t>hê</a:t>
            </a:r>
            <a:r>
              <a:rPr lang="en-US" altLang="ko-KR" sz="1100" baseline="0" dirty="0"/>
              <a:t> </a:t>
            </a:r>
            <a:r>
              <a:rPr lang="en-US" altLang="ko-KR" sz="1100" baseline="0" dirty="0" err="1"/>
              <a:t>thông</a:t>
            </a:r>
            <a:r>
              <a:rPr lang="en-US" altLang="ko-KR" sz="1100" baseline="0" dirty="0"/>
              <a:t> </a:t>
            </a:r>
            <a:r>
              <a:rPr lang="en-US" altLang="ko-KR" sz="1100" baseline="0" dirty="0" err="1"/>
              <a:t>đo</a:t>
            </a:r>
            <a:r>
              <a:rPr lang="en-US" altLang="ko-KR" sz="1100" baseline="0" dirty="0"/>
              <a:t>, overall </a:t>
            </a:r>
            <a:r>
              <a:rPr lang="en-US" altLang="ko-KR" sz="1100" baseline="0" dirty="0" err="1"/>
              <a:t>var</a:t>
            </a:r>
            <a:r>
              <a:rPr lang="en-US" altLang="ko-KR" sz="1100" baseline="0" dirty="0"/>
              <a:t>: </a:t>
            </a:r>
            <a:r>
              <a:rPr lang="en-US" altLang="ko-KR" sz="1100" baseline="0" dirty="0" err="1"/>
              <a:t>tổng</a:t>
            </a:r>
            <a:r>
              <a:rPr lang="en-US" altLang="ko-KR" sz="1100" baseline="0" dirty="0"/>
              <a:t> </a:t>
            </a:r>
            <a:r>
              <a:rPr lang="en-US" altLang="ko-KR" sz="1100" baseline="0" dirty="0" err="1"/>
              <a:t>các</a:t>
            </a:r>
            <a:r>
              <a:rPr lang="en-US" altLang="ko-KR" sz="1100" baseline="0" dirty="0"/>
              <a:t> </a:t>
            </a:r>
            <a:r>
              <a:rPr lang="en-US" altLang="ko-KR" sz="1100" baseline="0" dirty="0" err="1"/>
              <a:t>psai</a:t>
            </a:r>
            <a:endParaRPr lang="en-US" altLang="ko-KR" sz="1100" baseline="0" dirty="0"/>
          </a:p>
          <a:p>
            <a:pPr>
              <a:defRPr/>
            </a:pPr>
            <a:r>
              <a:rPr lang="en-US" altLang="ko-KR" sz="1100" baseline="0" dirty="0"/>
              <a:t>Study </a:t>
            </a:r>
            <a:r>
              <a:rPr lang="en-US" altLang="ko-KR" sz="1100" baseline="0" dirty="0" err="1"/>
              <a:t>var</a:t>
            </a:r>
            <a:r>
              <a:rPr lang="en-US" altLang="ko-KR" sz="1100" baseline="0" dirty="0"/>
              <a:t> </a:t>
            </a:r>
            <a:r>
              <a:rPr lang="en-US" altLang="ko-KR" sz="1100" baseline="0" dirty="0" err="1"/>
              <a:t>là</a:t>
            </a:r>
            <a:r>
              <a:rPr lang="en-US" altLang="ko-KR" sz="1100" baseline="0" dirty="0"/>
              <a:t> </a:t>
            </a:r>
            <a:r>
              <a:rPr lang="en-US" altLang="ko-KR" sz="1100" baseline="0" dirty="0" err="1"/>
              <a:t>đánh</a:t>
            </a:r>
            <a:r>
              <a:rPr lang="en-US" altLang="ko-KR" sz="1100" baseline="0" dirty="0"/>
              <a:t> </a:t>
            </a:r>
            <a:r>
              <a:rPr lang="en-US" altLang="ko-KR" sz="1100" baseline="0" dirty="0" err="1"/>
              <a:t>giá</a:t>
            </a:r>
            <a:r>
              <a:rPr lang="en-US" altLang="ko-KR" sz="1100" baseline="0" dirty="0"/>
              <a:t> </a:t>
            </a:r>
            <a:r>
              <a:rPr lang="en-US" altLang="ko-KR" sz="1100" baseline="0" dirty="0" err="1"/>
              <a:t>hệ</a:t>
            </a:r>
            <a:r>
              <a:rPr lang="en-US" altLang="ko-KR" sz="1100" baseline="0" dirty="0"/>
              <a:t> </a:t>
            </a:r>
            <a:r>
              <a:rPr lang="en-US" altLang="ko-KR" sz="1100" baseline="0" dirty="0" err="1"/>
              <a:t>thống</a:t>
            </a:r>
            <a:r>
              <a:rPr lang="en-US" altLang="ko-KR" sz="1100" baseline="0" dirty="0"/>
              <a:t> </a:t>
            </a:r>
            <a:r>
              <a:rPr lang="en-US" altLang="ko-KR" sz="1100" baseline="0" dirty="0" err="1"/>
              <a:t>đo</a:t>
            </a:r>
            <a:r>
              <a:rPr lang="en-US" altLang="ko-KR" sz="1100" baseline="0" dirty="0"/>
              <a:t> </a:t>
            </a:r>
            <a:r>
              <a:rPr lang="en-US" altLang="ko-KR" sz="1100" baseline="0" dirty="0" err="1"/>
              <a:t>lương</a:t>
            </a:r>
            <a:r>
              <a:rPr lang="en-US" altLang="ko-KR" sz="1100" baseline="0" dirty="0"/>
              <a:t> </a:t>
            </a:r>
            <a:r>
              <a:rPr lang="en-US" altLang="ko-KR" sz="1100" baseline="0" dirty="0" err="1"/>
              <a:t>đang</a:t>
            </a:r>
            <a:r>
              <a:rPr lang="en-US" altLang="ko-KR" sz="1100" baseline="0" dirty="0"/>
              <a:t> </a:t>
            </a:r>
            <a:r>
              <a:rPr lang="en-US" altLang="ko-KR" sz="1100" baseline="0" dirty="0" err="1"/>
              <a:t>đong</a:t>
            </a:r>
            <a:r>
              <a:rPr lang="en-US" altLang="ko-KR" sz="1100" baseline="0" dirty="0"/>
              <a:t> </a:t>
            </a:r>
            <a:r>
              <a:rPr lang="en-US" altLang="ko-KR" sz="1100" baseline="0" dirty="0" err="1"/>
              <a:t>gop</a:t>
            </a:r>
            <a:r>
              <a:rPr lang="en-US" altLang="ko-KR" sz="1100" baseline="0" dirty="0"/>
              <a:t> </a:t>
            </a:r>
            <a:r>
              <a:rPr lang="en-US" altLang="ko-KR" sz="1100" baseline="0" dirty="0" err="1"/>
              <a:t>bn</a:t>
            </a:r>
            <a:r>
              <a:rPr lang="en-US" altLang="ko-KR" sz="1100" baseline="0" dirty="0"/>
              <a:t> % </a:t>
            </a:r>
            <a:r>
              <a:rPr lang="en-US" altLang="ko-KR" sz="1100" baseline="0" dirty="0" err="1"/>
              <a:t>sai</a:t>
            </a:r>
            <a:r>
              <a:rPr lang="en-US" altLang="ko-KR" sz="1100" baseline="0" dirty="0"/>
              <a:t> </a:t>
            </a:r>
            <a:r>
              <a:rPr lang="en-US" altLang="ko-KR" sz="1100" baseline="0" dirty="0" err="1"/>
              <a:t>lệch</a:t>
            </a:r>
            <a:r>
              <a:rPr lang="en-US" altLang="ko-KR" sz="1100" baseline="0" dirty="0"/>
              <a:t> </a:t>
            </a:r>
            <a:r>
              <a:rPr lang="en-US" altLang="ko-KR" sz="1100" baseline="0" dirty="0" err="1"/>
              <a:t>vào</a:t>
            </a:r>
            <a:r>
              <a:rPr lang="en-US" altLang="ko-KR" sz="1100" baseline="0" dirty="0"/>
              <a:t> </a:t>
            </a:r>
            <a:r>
              <a:rPr lang="en-US" altLang="ko-KR" sz="1100" baseline="0" dirty="0" err="1"/>
              <a:t>tổng</a:t>
            </a:r>
            <a:r>
              <a:rPr lang="en-US" altLang="ko-KR" sz="1100" baseline="0" dirty="0"/>
              <a:t> </a:t>
            </a:r>
            <a:r>
              <a:rPr lang="en-US" altLang="ko-KR" sz="1100" baseline="0" dirty="0" err="1"/>
              <a:t>sai</a:t>
            </a:r>
            <a:r>
              <a:rPr lang="en-US" altLang="ko-KR" sz="1100" baseline="0" dirty="0"/>
              <a:t> </a:t>
            </a:r>
            <a:r>
              <a:rPr lang="en-US" altLang="ko-KR" sz="1100" baseline="0" dirty="0" err="1"/>
              <a:t>số</a:t>
            </a:r>
            <a:endParaRPr lang="en-US" altLang="ko-KR" sz="1100" baseline="0" dirty="0"/>
          </a:p>
          <a:p>
            <a:pPr>
              <a:defRPr/>
            </a:pPr>
            <a:r>
              <a:rPr lang="en-US" altLang="ko-KR" sz="1100" baseline="0" dirty="0"/>
              <a:t>% </a:t>
            </a:r>
            <a:r>
              <a:rPr lang="en-US" altLang="ko-KR" sz="1100" baseline="0" dirty="0" err="1"/>
              <a:t>sai</a:t>
            </a:r>
            <a:r>
              <a:rPr lang="en-US" altLang="ko-KR" sz="1100" baseline="0" dirty="0"/>
              <a:t> </a:t>
            </a:r>
            <a:r>
              <a:rPr lang="en-US" altLang="ko-KR" sz="1100" baseline="0" dirty="0" err="1"/>
              <a:t>lệch</a:t>
            </a:r>
            <a:r>
              <a:rPr lang="en-US" altLang="ko-KR" sz="1100" baseline="0" dirty="0"/>
              <a:t> </a:t>
            </a:r>
            <a:r>
              <a:rPr lang="en-US" altLang="ko-KR" sz="1100" baseline="0" dirty="0" err="1"/>
              <a:t>đến</a:t>
            </a:r>
            <a:r>
              <a:rPr lang="en-US" altLang="ko-KR" sz="1100" baseline="0" dirty="0"/>
              <a:t> </a:t>
            </a:r>
            <a:r>
              <a:rPr lang="en-US" altLang="ko-KR" sz="1100" baseline="0" dirty="0" err="1"/>
              <a:t>từ</a:t>
            </a:r>
            <a:r>
              <a:rPr lang="en-US" altLang="ko-KR" sz="1100" baseline="0" dirty="0"/>
              <a:t> </a:t>
            </a:r>
            <a:r>
              <a:rPr lang="en-US" altLang="ko-KR" sz="1100" baseline="0" dirty="0" err="1"/>
              <a:t>hê</a:t>
            </a:r>
            <a:r>
              <a:rPr lang="en-US" altLang="ko-KR" sz="1100" baseline="0" dirty="0"/>
              <a:t> </a:t>
            </a:r>
            <a:r>
              <a:rPr lang="en-US" altLang="ko-KR" sz="1100" baseline="0" dirty="0" err="1"/>
              <a:t>thông</a:t>
            </a:r>
            <a:r>
              <a:rPr lang="en-US" altLang="ko-KR" sz="1100" baseline="0" dirty="0"/>
              <a:t> </a:t>
            </a:r>
            <a:r>
              <a:rPr lang="en-US" altLang="ko-KR" sz="1100" baseline="0" dirty="0" err="1"/>
              <a:t>đo</a:t>
            </a:r>
            <a:r>
              <a:rPr lang="en-US" altLang="ko-KR" sz="1100" baseline="0" dirty="0"/>
              <a:t> </a:t>
            </a:r>
            <a:r>
              <a:rPr lang="en-US" altLang="ko-KR" sz="1100" baseline="0" dirty="0" err="1"/>
              <a:t>lương</a:t>
            </a:r>
            <a:r>
              <a:rPr lang="en-US" altLang="ko-KR" sz="1100" baseline="0" dirty="0"/>
              <a:t> </a:t>
            </a:r>
            <a:r>
              <a:rPr lang="en-US" altLang="ko-KR" sz="1100" baseline="0" dirty="0" err="1"/>
              <a:t>fai</a:t>
            </a:r>
            <a:r>
              <a:rPr lang="en-US" altLang="ko-KR" sz="1100" baseline="0" dirty="0"/>
              <a:t> &lt;= 10%</a:t>
            </a:r>
          </a:p>
          <a:p>
            <a:pPr>
              <a:defRPr/>
            </a:pPr>
            <a:r>
              <a:rPr lang="en-US" altLang="ko-KR" sz="1100" baseline="0" dirty="0" err="1"/>
              <a:t>Ngoặc</a:t>
            </a:r>
            <a:r>
              <a:rPr lang="en-US" altLang="ko-KR" sz="1100" baseline="0" dirty="0"/>
              <a:t> </a:t>
            </a:r>
            <a:r>
              <a:rPr lang="en-US" altLang="ko-KR" sz="1100" baseline="0" dirty="0" err="1"/>
              <a:t>vuông</a:t>
            </a:r>
            <a:r>
              <a:rPr lang="en-US" altLang="ko-KR" sz="1100" baseline="0" dirty="0"/>
              <a:t> </a:t>
            </a:r>
            <a:r>
              <a:rPr lang="en-US" altLang="ko-KR" sz="1100" baseline="0" dirty="0" err="1"/>
              <a:t>là</a:t>
            </a:r>
            <a:r>
              <a:rPr lang="en-US" altLang="ko-KR" sz="1100" baseline="0" dirty="0"/>
              <a:t> </a:t>
            </a:r>
            <a:r>
              <a:rPr lang="en-US" altLang="ko-KR" sz="1100" baseline="0" dirty="0" err="1"/>
              <a:t>hoặc</a:t>
            </a:r>
            <a:r>
              <a:rPr lang="en-US" altLang="ko-KR" sz="1100" baseline="0" dirty="0"/>
              <a:t>, </a:t>
            </a:r>
            <a:r>
              <a:rPr lang="en-US" altLang="ko-KR" sz="1100" baseline="0" dirty="0" err="1"/>
              <a:t>ko</a:t>
            </a:r>
            <a:r>
              <a:rPr lang="en-US" altLang="ko-KR" sz="1100" baseline="0" dirty="0"/>
              <a:t> </a:t>
            </a:r>
            <a:r>
              <a:rPr lang="en-US" altLang="ko-KR" sz="1100" baseline="0" dirty="0" err="1"/>
              <a:t>fai</a:t>
            </a:r>
            <a:r>
              <a:rPr lang="en-US" altLang="ko-KR" sz="1100" baseline="0" dirty="0"/>
              <a:t> </a:t>
            </a:r>
            <a:r>
              <a:rPr lang="en-US" altLang="ko-KR" sz="1100" baseline="0" dirty="0" err="1"/>
              <a:t>lúc</a:t>
            </a:r>
            <a:r>
              <a:rPr lang="en-US" altLang="ko-KR" sz="1100" baseline="0" dirty="0"/>
              <a:t> </a:t>
            </a:r>
            <a:r>
              <a:rPr lang="en-US" altLang="ko-KR" sz="1100" baseline="0" dirty="0" err="1"/>
              <a:t>nào</a:t>
            </a:r>
            <a:r>
              <a:rPr lang="en-US" altLang="ko-KR" sz="1100" baseline="0" dirty="0"/>
              <a:t> </a:t>
            </a:r>
            <a:r>
              <a:rPr lang="en-US" altLang="ko-KR" sz="1100" baseline="0" dirty="0" err="1"/>
              <a:t>cung</a:t>
            </a:r>
            <a:r>
              <a:rPr lang="en-US" altLang="ko-KR" sz="1100" baseline="0" dirty="0"/>
              <a:t> </a:t>
            </a:r>
            <a:r>
              <a:rPr lang="en-US" altLang="ko-KR" sz="1100" baseline="0" dirty="0" err="1"/>
              <a:t>có</a:t>
            </a:r>
            <a:r>
              <a:rPr lang="en-US" altLang="ko-KR" sz="1100" baseline="0" dirty="0"/>
              <a:t> % process </a:t>
            </a:r>
            <a:r>
              <a:rPr lang="en-US" altLang="ko-KR" sz="1100" baseline="0" dirty="0" err="1"/>
              <a:t>vì</a:t>
            </a:r>
            <a:r>
              <a:rPr lang="en-US" altLang="ko-KR" sz="1100" baseline="0" dirty="0"/>
              <a:t>:</a:t>
            </a:r>
          </a:p>
          <a:p>
            <a:pPr>
              <a:defRPr/>
            </a:pPr>
            <a:r>
              <a:rPr lang="en-US" altLang="ko-KR" sz="1100" baseline="0" dirty="0"/>
              <a:t>Known process vas: </a:t>
            </a:r>
            <a:r>
              <a:rPr lang="en-US" altLang="ko-KR" sz="1100" baseline="0" dirty="0" err="1"/>
              <a:t>psai</a:t>
            </a:r>
            <a:r>
              <a:rPr lang="en-US" altLang="ko-KR" sz="1100" baseline="0" dirty="0"/>
              <a:t> </a:t>
            </a:r>
            <a:r>
              <a:rPr lang="en-US" altLang="ko-KR" sz="1100" baseline="0" dirty="0" err="1"/>
              <a:t>của</a:t>
            </a:r>
            <a:r>
              <a:rPr lang="en-US" altLang="ko-KR" sz="1100" baseline="0" dirty="0"/>
              <a:t> </a:t>
            </a:r>
            <a:r>
              <a:rPr lang="en-US" altLang="ko-KR" sz="1100" baseline="0" dirty="0" err="1"/>
              <a:t>quy</a:t>
            </a:r>
            <a:r>
              <a:rPr lang="en-US" altLang="ko-KR" sz="1100" baseline="0" dirty="0"/>
              <a:t> </a:t>
            </a:r>
            <a:r>
              <a:rPr lang="en-US" altLang="ko-KR" sz="1100" baseline="0" dirty="0" err="1"/>
              <a:t>trình</a:t>
            </a:r>
            <a:r>
              <a:rPr lang="en-US" altLang="ko-KR" sz="1100" baseline="0" dirty="0"/>
              <a:t> </a:t>
            </a:r>
            <a:r>
              <a:rPr lang="en-US" altLang="ko-KR" sz="1100" baseline="0" dirty="0" err="1"/>
              <a:t>đã</a:t>
            </a:r>
            <a:r>
              <a:rPr lang="en-US" altLang="ko-KR" sz="1100" baseline="0" dirty="0"/>
              <a:t> </a:t>
            </a:r>
            <a:r>
              <a:rPr lang="en-US" altLang="ko-KR" sz="1100" baseline="0" dirty="0" err="1"/>
              <a:t>biết</a:t>
            </a:r>
            <a:r>
              <a:rPr lang="en-US" altLang="ko-KR" sz="1100" baseline="0" dirty="0"/>
              <a:t>, </a:t>
            </a:r>
            <a:r>
              <a:rPr lang="en-US" altLang="ko-KR" sz="1100" baseline="0" dirty="0" err="1"/>
              <a:t>tức</a:t>
            </a:r>
            <a:r>
              <a:rPr lang="en-US" altLang="ko-KR" sz="1100" baseline="0" dirty="0"/>
              <a:t> </a:t>
            </a:r>
            <a:r>
              <a:rPr lang="en-US" altLang="ko-KR" sz="1100" baseline="0" dirty="0" err="1"/>
              <a:t>là</a:t>
            </a:r>
            <a:r>
              <a:rPr lang="en-US" altLang="ko-KR" sz="1100" baseline="0" dirty="0"/>
              <a:t> no </a:t>
            </a:r>
            <a:r>
              <a:rPr lang="en-US" altLang="ko-KR" sz="1100" baseline="0" dirty="0" err="1"/>
              <a:t>fai</a:t>
            </a:r>
            <a:r>
              <a:rPr lang="en-US" altLang="ko-KR" sz="1100" baseline="0" dirty="0"/>
              <a:t> </a:t>
            </a:r>
            <a:r>
              <a:rPr lang="en-US" altLang="ko-KR" sz="1100" baseline="0" dirty="0" err="1"/>
              <a:t>lấy</a:t>
            </a:r>
            <a:r>
              <a:rPr lang="en-US" altLang="ko-KR" sz="1100" baseline="0" dirty="0"/>
              <a:t> refer </a:t>
            </a:r>
            <a:r>
              <a:rPr lang="en-US" altLang="ko-KR" sz="1100" baseline="0" dirty="0" err="1"/>
              <a:t>từ</a:t>
            </a:r>
            <a:r>
              <a:rPr lang="en-US" altLang="ko-KR" sz="1100" baseline="0" dirty="0"/>
              <a:t> 1 </a:t>
            </a:r>
            <a:r>
              <a:rPr lang="en-US" altLang="ko-KR" sz="1100" baseline="0" dirty="0" err="1"/>
              <a:t>dữ</a:t>
            </a:r>
            <a:r>
              <a:rPr lang="en-US" altLang="ko-KR" sz="1100" baseline="0" dirty="0"/>
              <a:t> </a:t>
            </a:r>
            <a:r>
              <a:rPr lang="en-US" altLang="ko-KR" sz="1100" baseline="0" dirty="0" err="1"/>
              <a:t>liệu</a:t>
            </a:r>
            <a:r>
              <a:rPr lang="en-US" altLang="ko-KR" sz="1100" baseline="0" dirty="0"/>
              <a:t> </a:t>
            </a:r>
            <a:r>
              <a:rPr lang="en-US" altLang="ko-KR" sz="1100" baseline="0" dirty="0" err="1"/>
              <a:t>trong</a:t>
            </a:r>
            <a:r>
              <a:rPr lang="en-US" altLang="ko-KR" sz="1100" baseline="0" dirty="0"/>
              <a:t> </a:t>
            </a:r>
            <a:r>
              <a:rPr lang="en-US" altLang="ko-KR" sz="1100" baseline="0" dirty="0" err="1"/>
              <a:t>quá</a:t>
            </a:r>
            <a:r>
              <a:rPr lang="en-US" altLang="ko-KR" sz="1100" baseline="0" dirty="0"/>
              <a:t> </a:t>
            </a:r>
            <a:r>
              <a:rPr lang="en-US" altLang="ko-KR" sz="1100" baseline="0" dirty="0" err="1"/>
              <a:t>khứ</a:t>
            </a:r>
            <a:r>
              <a:rPr lang="en-US" altLang="ko-KR" sz="1100" baseline="0" dirty="0"/>
              <a:t> </a:t>
            </a:r>
            <a:r>
              <a:rPr lang="en-US" altLang="ko-KR" sz="1100" baseline="0" dirty="0" err="1"/>
              <a:t>để</a:t>
            </a:r>
            <a:r>
              <a:rPr lang="en-US" altLang="ko-KR" sz="1100" baseline="0" dirty="0"/>
              <a:t> </a:t>
            </a:r>
            <a:r>
              <a:rPr lang="en-US" altLang="ko-KR" sz="1100" baseline="0" dirty="0" err="1"/>
              <a:t>đối</a:t>
            </a:r>
            <a:r>
              <a:rPr lang="en-US" altLang="ko-KR" sz="1100" baseline="0" dirty="0"/>
              <a:t> </a:t>
            </a:r>
            <a:r>
              <a:rPr lang="en-US" altLang="ko-KR" sz="1100" baseline="0" dirty="0" err="1"/>
              <a:t>chiếu</a:t>
            </a:r>
            <a:r>
              <a:rPr lang="en-US" altLang="ko-KR" sz="1100" baseline="0" dirty="0"/>
              <a:t>, </a:t>
            </a:r>
            <a:r>
              <a:rPr lang="en-US" altLang="ko-KR" sz="1100" baseline="0" dirty="0" err="1"/>
              <a:t>tức</a:t>
            </a:r>
            <a:r>
              <a:rPr lang="en-US" altLang="ko-KR" sz="1100" baseline="0" dirty="0"/>
              <a:t> </a:t>
            </a:r>
            <a:r>
              <a:rPr lang="en-US" altLang="ko-KR" sz="1100" baseline="0" dirty="0" err="1"/>
              <a:t>là</a:t>
            </a:r>
            <a:r>
              <a:rPr lang="en-US" altLang="ko-KR" sz="1100" baseline="0" dirty="0"/>
              <a:t> minh </a:t>
            </a:r>
            <a:r>
              <a:rPr lang="en-US" altLang="ko-KR" sz="1100" baseline="0" dirty="0" err="1"/>
              <a:t>fai</a:t>
            </a:r>
            <a:r>
              <a:rPr lang="en-US" altLang="ko-KR" sz="1100" baseline="0" dirty="0"/>
              <a:t> </a:t>
            </a:r>
            <a:r>
              <a:rPr lang="en-US" altLang="ko-KR" sz="1100" baseline="0" dirty="0" err="1"/>
              <a:t>đã</a:t>
            </a:r>
            <a:r>
              <a:rPr lang="en-US" altLang="ko-KR" sz="1100" baseline="0" dirty="0"/>
              <a:t> </a:t>
            </a:r>
            <a:r>
              <a:rPr lang="en-US" altLang="ko-KR" sz="1100" baseline="0" dirty="0" err="1"/>
              <a:t>từng</a:t>
            </a:r>
            <a:r>
              <a:rPr lang="en-US" altLang="ko-KR" sz="1100" baseline="0" dirty="0"/>
              <a:t> </a:t>
            </a:r>
            <a:r>
              <a:rPr lang="en-US" altLang="ko-KR" sz="1100" baseline="0" dirty="0" err="1"/>
              <a:t>làm</a:t>
            </a:r>
            <a:r>
              <a:rPr lang="en-US" altLang="ko-KR" sz="1100" baseline="0" dirty="0"/>
              <a:t> </a:t>
            </a:r>
            <a:r>
              <a:rPr lang="en-US" altLang="ko-KR" sz="1100" baseline="0" dirty="0" err="1"/>
              <a:t>rôi</a:t>
            </a:r>
            <a:r>
              <a:rPr lang="en-US" altLang="ko-KR" sz="1100" baseline="0" dirty="0"/>
              <a:t> </a:t>
            </a:r>
            <a:r>
              <a:rPr lang="en-US" altLang="ko-KR" sz="1100" baseline="0" dirty="0" err="1"/>
              <a:t>thi</a:t>
            </a:r>
            <a:r>
              <a:rPr lang="en-US" altLang="ko-KR" sz="1100" baseline="0" dirty="0"/>
              <a:t> </a:t>
            </a:r>
            <a:r>
              <a:rPr lang="en-US" altLang="ko-KR" sz="1100" baseline="0" dirty="0" err="1"/>
              <a:t>mới</a:t>
            </a:r>
            <a:r>
              <a:rPr lang="en-US" altLang="ko-KR" sz="1100" baseline="0" dirty="0"/>
              <a:t> </a:t>
            </a:r>
            <a:r>
              <a:rPr lang="en-US" altLang="ko-KR" sz="1100" baseline="0" dirty="0" err="1"/>
              <a:t>có</a:t>
            </a:r>
            <a:r>
              <a:rPr lang="en-US" altLang="ko-KR" sz="1100" baseline="0" dirty="0"/>
              <a:t> </a:t>
            </a:r>
            <a:r>
              <a:rPr lang="en-US" altLang="ko-KR" sz="1100" baseline="0" dirty="0" err="1"/>
              <a:t>dữ</a:t>
            </a:r>
            <a:r>
              <a:rPr lang="en-US" altLang="ko-KR" sz="1100" baseline="0" dirty="0"/>
              <a:t> </a:t>
            </a:r>
            <a:r>
              <a:rPr lang="en-US" altLang="ko-KR" sz="1100" baseline="0" dirty="0" err="1"/>
              <a:t>liệu</a:t>
            </a:r>
            <a:r>
              <a:rPr lang="en-US" altLang="ko-KR" sz="1100" baseline="0" dirty="0"/>
              <a:t> </a:t>
            </a:r>
            <a:r>
              <a:rPr lang="en-US" altLang="ko-KR" sz="1100" baseline="0" dirty="0" err="1"/>
              <a:t>để</a:t>
            </a:r>
            <a:r>
              <a:rPr lang="en-US" altLang="ko-KR" sz="1100" baseline="0" dirty="0"/>
              <a:t> </a:t>
            </a:r>
            <a:r>
              <a:rPr lang="en-US" altLang="ko-KR" sz="1100" baseline="0" dirty="0" err="1"/>
              <a:t>đối</a:t>
            </a:r>
            <a:r>
              <a:rPr lang="en-US" altLang="ko-KR" sz="1100" baseline="0" dirty="0"/>
              <a:t> </a:t>
            </a:r>
            <a:r>
              <a:rPr lang="en-US" altLang="ko-KR" sz="1100" baseline="0" dirty="0" err="1"/>
              <a:t>chiếu</a:t>
            </a:r>
            <a:r>
              <a:rPr lang="en-US" altLang="ko-KR" sz="1100" baseline="0" dirty="0"/>
              <a:t>, </a:t>
            </a:r>
            <a:r>
              <a:rPr lang="en-US" altLang="ko-KR" sz="1100" baseline="0" dirty="0" err="1"/>
              <a:t>nếu</a:t>
            </a:r>
            <a:r>
              <a:rPr lang="en-US" altLang="ko-KR" sz="1100" baseline="0" dirty="0"/>
              <a:t> </a:t>
            </a:r>
            <a:r>
              <a:rPr lang="en-US" altLang="ko-KR" sz="1100" baseline="0" dirty="0" err="1"/>
              <a:t>chưa</a:t>
            </a:r>
            <a:r>
              <a:rPr lang="en-US" altLang="ko-KR" sz="1100" baseline="0" dirty="0"/>
              <a:t> </a:t>
            </a:r>
            <a:r>
              <a:rPr lang="en-US" altLang="ko-KR" sz="1100" baseline="0" dirty="0" err="1"/>
              <a:t>làm</a:t>
            </a:r>
            <a:r>
              <a:rPr lang="en-US" altLang="ko-KR" sz="1100" baseline="0" dirty="0"/>
              <a:t> </a:t>
            </a:r>
            <a:r>
              <a:rPr lang="en-US" altLang="ko-KR" sz="1100" baseline="0" dirty="0" err="1"/>
              <a:t>bao</a:t>
            </a:r>
            <a:r>
              <a:rPr lang="en-US" altLang="ko-KR" sz="1100" baseline="0" dirty="0"/>
              <a:t> h </a:t>
            </a:r>
            <a:r>
              <a:rPr lang="en-US" altLang="ko-KR" sz="1100" baseline="0" dirty="0" err="1"/>
              <a:t>thi</a:t>
            </a:r>
            <a:r>
              <a:rPr lang="en-US" altLang="ko-KR" sz="1100" baseline="0" dirty="0"/>
              <a:t> </a:t>
            </a:r>
            <a:r>
              <a:rPr lang="en-US" altLang="ko-KR" sz="1100" baseline="0" dirty="0" err="1"/>
              <a:t>ko</a:t>
            </a:r>
            <a:r>
              <a:rPr lang="en-US" altLang="ko-KR" sz="1100" baseline="0" dirty="0"/>
              <a:t> </a:t>
            </a:r>
            <a:r>
              <a:rPr lang="en-US" altLang="ko-KR" sz="1100" baseline="0" dirty="0" err="1"/>
              <a:t>có</a:t>
            </a:r>
            <a:r>
              <a:rPr lang="en-US" altLang="ko-KR" sz="1100" baseline="0" dirty="0"/>
              <a:t> j </a:t>
            </a:r>
            <a:r>
              <a:rPr lang="en-US" altLang="ko-KR" sz="1100" baseline="0" dirty="0" err="1"/>
              <a:t>đối</a:t>
            </a:r>
            <a:r>
              <a:rPr lang="en-US" altLang="ko-KR" sz="1100" baseline="0" dirty="0"/>
              <a:t> </a:t>
            </a:r>
            <a:r>
              <a:rPr lang="en-US" altLang="ko-KR" sz="1100" baseline="0" dirty="0" err="1"/>
              <a:t>chiếu</a:t>
            </a:r>
            <a:r>
              <a:rPr lang="en-US" altLang="ko-KR" sz="1100" baseline="0" dirty="0"/>
              <a:t> </a:t>
            </a:r>
            <a:r>
              <a:rPr lang="en-US" altLang="ko-KR" sz="1100" baseline="0" dirty="0" err="1"/>
              <a:t>cả</a:t>
            </a:r>
            <a:r>
              <a:rPr lang="en-US" altLang="ko-KR" sz="1100" baseline="0" dirty="0"/>
              <a:t> </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vậy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hiên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tại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cta</a:t>
            </a:r>
            <a:r>
              <a:rPr lang="en-US" altLang="ko-KR" sz="1100" baseline="0" dirty="0">
                <a:sym typeface="Wingdings" panose="05000000000000000000" pitchFamily="2" charset="2"/>
              </a:rPr>
              <a:t> chi </a:t>
            </a:r>
            <a:r>
              <a:rPr lang="en-US" altLang="ko-KR" sz="1100" baseline="0" dirty="0" err="1">
                <a:sym typeface="Wingdings" panose="05000000000000000000" pitchFamily="2" charset="2"/>
              </a:rPr>
              <a:t>cân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quan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tâm</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đến</a:t>
            </a:r>
            <a:r>
              <a:rPr lang="en-US" altLang="ko-KR" sz="1100" baseline="0" dirty="0">
                <a:sym typeface="Wingdings" panose="05000000000000000000" pitchFamily="2" charset="2"/>
              </a:rPr>
              <a:t> % study </a:t>
            </a:r>
            <a:r>
              <a:rPr lang="en-US" altLang="ko-KR" sz="1100" baseline="0" dirty="0" err="1">
                <a:sym typeface="Wingdings" panose="05000000000000000000" pitchFamily="2" charset="2"/>
              </a:rPr>
              <a:t>var</a:t>
            </a:r>
            <a:endParaRPr lang="en-US" altLang="ko-KR" sz="1100" baseline="0" dirty="0">
              <a:sym typeface="Wingdings" panose="05000000000000000000" pitchFamily="2" charset="2"/>
            </a:endParaRPr>
          </a:p>
          <a:p>
            <a:pPr>
              <a:defRPr/>
            </a:pPr>
            <a:endParaRPr lang="en-US" altLang="ko-KR" sz="1100" baseline="0" dirty="0">
              <a:sym typeface="Wingdings" panose="05000000000000000000" pitchFamily="2" charset="2"/>
            </a:endParaRPr>
          </a:p>
          <a:p>
            <a:pPr>
              <a:defRPr/>
            </a:pPr>
            <a:r>
              <a:rPr lang="en-US" altLang="ko-KR" sz="1100" baseline="0" dirty="0">
                <a:sym typeface="Wingdings" panose="05000000000000000000" pitchFamily="2" charset="2"/>
              </a:rPr>
              <a:t>Tolerance: dung </a:t>
            </a:r>
            <a:r>
              <a:rPr lang="en-US" altLang="ko-KR" sz="1100" baseline="0" dirty="0" err="1">
                <a:sym typeface="Wingdings" panose="05000000000000000000" pitchFamily="2" charset="2"/>
              </a:rPr>
              <a:t>sai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độ</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rộng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của</a:t>
            </a:r>
            <a:r>
              <a:rPr lang="en-US" altLang="ko-KR" sz="1100" baseline="0" dirty="0">
                <a:sym typeface="Wingdings" panose="05000000000000000000" pitchFamily="2" charset="2"/>
              </a:rPr>
              <a:t> spec)</a:t>
            </a:r>
          </a:p>
          <a:p>
            <a:pPr>
              <a:defRPr/>
            </a:pPr>
            <a:r>
              <a:rPr lang="en-US" altLang="ko-KR" sz="1100" baseline="0" dirty="0">
                <a:sym typeface="Wingdings" panose="05000000000000000000" pitchFamily="2" charset="2"/>
              </a:rPr>
              <a:t>Product spec: USL – LSL</a:t>
            </a:r>
          </a:p>
          <a:p>
            <a:pPr>
              <a:defRPr/>
            </a:pPr>
            <a:r>
              <a:rPr lang="en-US" altLang="ko-KR" sz="1100" baseline="0" dirty="0">
                <a:sym typeface="Wingdings" panose="05000000000000000000" pitchFamily="2" charset="2"/>
              </a:rPr>
              <a:t>% tolerance &lt;=10% </a:t>
            </a:r>
            <a:r>
              <a:rPr lang="en-US" altLang="ko-KR" sz="1100" baseline="0" dirty="0" err="1">
                <a:sym typeface="Wingdings" panose="05000000000000000000" pitchFamily="2" charset="2"/>
              </a:rPr>
              <a:t>để</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tránh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trường</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hợp</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đánh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giá</a:t>
            </a:r>
            <a:r>
              <a:rPr lang="en-US" altLang="ko-KR" sz="1100" baseline="0" dirty="0">
                <a:sym typeface="Wingdings" panose="05000000000000000000" pitchFamily="2" charset="2"/>
              </a:rPr>
              <a:t> 1 con NG </a:t>
            </a:r>
            <a:r>
              <a:rPr lang="en-US" altLang="ko-KR" sz="1100" baseline="0" dirty="0" err="1">
                <a:sym typeface="Wingdings" panose="05000000000000000000" pitchFamily="2" charset="2"/>
              </a:rPr>
              <a:t>thành</a:t>
            </a:r>
            <a:r>
              <a:rPr lang="en-US" altLang="ko-KR" sz="1100" baseline="0" dirty="0">
                <a:sym typeface="Wingdings" panose="05000000000000000000" pitchFamily="2" charset="2"/>
              </a:rPr>
              <a:t> ok </a:t>
            </a:r>
            <a:r>
              <a:rPr lang="en-US" altLang="ko-KR" sz="1100" baseline="0" dirty="0" err="1">
                <a:sym typeface="Wingdings" panose="05000000000000000000" pitchFamily="2" charset="2"/>
              </a:rPr>
              <a:t>và</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ngược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lại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cái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này</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nó</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liên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quan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trực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tiếp</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việc</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đánh</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giá</a:t>
            </a:r>
            <a:r>
              <a:rPr lang="en-US" altLang="ko-KR" sz="1100" baseline="0" dirty="0">
                <a:sym typeface="Wingdings" panose="05000000000000000000" pitchFamily="2" charset="2"/>
              </a:rPr>
              <a:t> pass/fail </a:t>
            </a:r>
            <a:r>
              <a:rPr lang="en-US" altLang="ko-KR" sz="1100" baseline="0" dirty="0" err="1">
                <a:sym typeface="Wingdings" panose="05000000000000000000" pitchFamily="2" charset="2"/>
              </a:rPr>
              <a:t>trên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chuyền</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còn</a:t>
            </a:r>
            <a:r>
              <a:rPr lang="en-US" altLang="ko-KR" sz="1100" baseline="0" dirty="0">
                <a:sym typeface="Wingdings" panose="05000000000000000000" pitchFamily="2" charset="2"/>
              </a:rPr>
              <a:t> % study </a:t>
            </a:r>
            <a:r>
              <a:rPr lang="en-US" altLang="ko-KR" sz="1100" baseline="0" dirty="0" err="1">
                <a:sym typeface="Wingdings" panose="05000000000000000000" pitchFamily="2" charset="2"/>
              </a:rPr>
              <a:t>var</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thi</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ko</a:t>
            </a:r>
            <a:r>
              <a:rPr lang="en-US" altLang="ko-KR" sz="1100" baseline="0" dirty="0">
                <a:sym typeface="Wingdings" panose="05000000000000000000" pitchFamily="2" charset="2"/>
              </a:rPr>
              <a:t> </a:t>
            </a:r>
            <a:r>
              <a:rPr lang="en-US" altLang="ko-KR" sz="1100" baseline="0" dirty="0" err="1">
                <a:sym typeface="Wingdings" panose="05000000000000000000" pitchFamily="2" charset="2"/>
              </a:rPr>
              <a:t>liên</a:t>
            </a:r>
            <a:r>
              <a:rPr lang="en-US" altLang="ko-KR" sz="1100" baseline="0" dirty="0">
                <a:sym typeface="Wingdings" panose="05000000000000000000" pitchFamily="2" charset="2"/>
              </a:rPr>
              <a:t> </a:t>
            </a:r>
            <a:r>
              <a:rPr lang="en-US" altLang="ko-KR" sz="1100" baseline="0">
                <a:sym typeface="Wingdings" panose="05000000000000000000" pitchFamily="2" charset="2"/>
              </a:rPr>
              <a:t>quan</a:t>
            </a:r>
            <a:endParaRPr lang="ko-KR" altLang="en-US" sz="1100" dirty="0"/>
          </a:p>
        </p:txBody>
      </p:sp>
      <p:sp>
        <p:nvSpPr>
          <p:cNvPr id="4" name="슬라이드 번호 개체 틀 3"/>
          <p:cNvSpPr>
            <a:spLocks noGrp="1"/>
          </p:cNvSpPr>
          <p:nvPr>
            <p:ph type="sldNum" sz="quarter" idx="5"/>
          </p:nvPr>
        </p:nvSpPr>
        <p:spPr/>
        <p:txBody>
          <a:bodyPr/>
          <a:lstStyle/>
          <a:p>
            <a:pPr>
              <a:defRPr/>
            </a:pPr>
            <a:fld id="{D63A4913-B6F5-4AFA-B84B-E6CFA862A08C}" type="slidenum">
              <a:rPr lang="ko-KR" altLang="en-US" smtClean="0"/>
              <a:pPr>
                <a:defRPr/>
              </a:pPr>
              <a:t>196</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50830958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25FE4370-A95C-4D5F-9EAD-CAAD3A4BDE44}" type="slidenum">
              <a:rPr lang="ko-KR" altLang="en-US" smtClean="0"/>
              <a:pPr>
                <a:defRPr/>
              </a:pPr>
              <a:t>197</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01254177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D323DDA8-19AE-42E5-8007-C21EE8AC6D9C}" type="slidenum">
              <a:rPr lang="ko-KR" altLang="en-US" smtClean="0"/>
              <a:pPr>
                <a:defRPr/>
              </a:pPr>
              <a:t>198</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11281280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3C63F636-41F5-43CE-9ACB-43FC1AFD75EE}" type="slidenum">
              <a:rPr lang="ko-KR" altLang="en-US" smtClean="0"/>
              <a:pPr>
                <a:defRPr/>
              </a:pPr>
              <a:t>199</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417966245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83BBF377-EA4C-4027-BF49-935FA37CC36B}" type="slidenum">
              <a:rPr lang="ko-KR" altLang="en-US" smtClean="0"/>
              <a:pPr>
                <a:defRPr/>
              </a:pPr>
              <a:t>200</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92414224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D464E472-F094-48F9-AF53-F9B2FD240596}" type="slidenum">
              <a:rPr lang="ko-KR" altLang="en-US" smtClean="0"/>
              <a:pPr>
                <a:defRPr/>
              </a:pPr>
              <a:t>201</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402369123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ABDF4985-92A4-4D84-A976-5D4912961FDE}" type="slidenum">
              <a:rPr lang="ko-KR" altLang="en-US" smtClean="0"/>
              <a:pPr>
                <a:defRPr/>
              </a:pPr>
              <a:t>202</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84573642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41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80505A8D-B4E6-4AE3-AB71-2B05DDA3C47B}" type="slidenum">
              <a:rPr lang="ko-KR" altLang="en-US" smtClean="0"/>
              <a:pPr>
                <a:defRPr/>
              </a:pPr>
              <a:t>203</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1566310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DCCB32FD-B3CB-4A9E-871D-15A3E40E1546}" type="slidenum">
              <a:rPr lang="ko-KR" altLang="en-US" smtClean="0"/>
              <a:pPr>
                <a:defRPr/>
              </a:pPr>
              <a:t>204</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763891638"/>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3E4EBE01-B6B4-4C91-9D73-954B424760EE}" type="slidenum">
              <a:rPr lang="ko-KR" altLang="en-US" smtClean="0"/>
              <a:pPr>
                <a:defRPr/>
              </a:pPr>
              <a:t>205</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32214150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1E69E0A5-5C93-4965-969F-67287B59E067}" type="slidenum">
              <a:rPr lang="ko-KR" altLang="en-US" smtClean="0"/>
              <a:pPr>
                <a:defRPr/>
              </a:pPr>
              <a:t>206</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27425190"/>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51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42938443-9958-42AB-9745-515329DAE29F}" type="slidenum">
              <a:rPr lang="ko-KR" altLang="en-US" smtClean="0"/>
              <a:pPr>
                <a:defRPr/>
              </a:pPr>
              <a:t>207</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780712230"/>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553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456CAF2F-EC93-4E7E-ACF2-F28FE67DE092}" type="slidenum">
              <a:rPr lang="ko-KR" altLang="en-US" smtClean="0"/>
              <a:pPr>
                <a:defRPr/>
              </a:pPr>
              <a:t>208</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41762424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656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BE08456F-2670-4179-8822-939757C88B24}" type="slidenum">
              <a:rPr lang="ko-KR" altLang="en-US" smtClean="0"/>
              <a:pPr>
                <a:defRPr/>
              </a:pPr>
              <a:t>209</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12300018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375554B0-8A3D-4FA5-9D5F-F1F6FF24A017}" type="slidenum">
              <a:rPr lang="ko-KR" altLang="en-US" smtClean="0"/>
              <a:pPr>
                <a:defRPr/>
              </a:pPr>
              <a:t>210</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116746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861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A9C790F3-A182-4F42-92CF-0848D1E0AF50}" type="slidenum">
              <a:rPr lang="ko-KR" altLang="en-US" smtClean="0"/>
              <a:pPr>
                <a:defRPr/>
              </a:pPr>
              <a:t>211</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31709208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963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49F766C2-F016-4ECD-AA88-AE10DADBBAA1}" type="slidenum">
              <a:rPr lang="ko-KR" altLang="en-US" smtClean="0"/>
              <a:pPr>
                <a:defRPr/>
              </a:pPr>
              <a:t>212</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405357981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슬라이드 노트 개체 틀 2"/>
          <p:cNvSpPr>
            <a:spLocks noGrp="1"/>
          </p:cNvSpPr>
          <p:nvPr>
            <p:ph type="body" idx="1"/>
          </p:nvPr>
        </p:nvSpPr>
        <p:spPr/>
        <p:txBody>
          <a:bodyPr>
            <a:normAutofit/>
          </a:bodyPr>
          <a:lstStyle/>
          <a:p>
            <a:pPr>
              <a:defRPr/>
            </a:pPr>
            <a:endParaRPr lang="ko-KR" altLang="en-US" sz="1100"/>
          </a:p>
        </p:txBody>
      </p:sp>
      <p:sp>
        <p:nvSpPr>
          <p:cNvPr id="4" name="슬라이드 번호 개체 틀 3"/>
          <p:cNvSpPr>
            <a:spLocks noGrp="1"/>
          </p:cNvSpPr>
          <p:nvPr>
            <p:ph type="sldNum" sz="quarter" idx="5"/>
          </p:nvPr>
        </p:nvSpPr>
        <p:spPr/>
        <p:txBody>
          <a:bodyPr/>
          <a:lstStyle/>
          <a:p>
            <a:pPr>
              <a:defRPr/>
            </a:pPr>
            <a:fld id="{D7805678-6C49-4889-BCDB-FB7027FE8A0C}" type="slidenum">
              <a:rPr lang="ko-KR" altLang="en-US" smtClean="0"/>
              <a:pPr>
                <a:defRPr/>
              </a:pPr>
              <a:t>213</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5745017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sz="1100"/>
          </a:p>
        </p:txBody>
      </p:sp>
      <p:sp>
        <p:nvSpPr>
          <p:cNvPr id="4" name="슬라이드 번호 개체 틀 3"/>
          <p:cNvSpPr>
            <a:spLocks noGrp="1"/>
          </p:cNvSpPr>
          <p:nvPr>
            <p:ph type="sldNum" sz="quarter" idx="5"/>
          </p:nvPr>
        </p:nvSpPr>
        <p:spPr/>
        <p:txBody>
          <a:bodyPr/>
          <a:lstStyle/>
          <a:p>
            <a:pPr>
              <a:defRPr/>
            </a:pPr>
            <a:fld id="{375554B0-8A3D-4FA5-9D5F-F1F6FF24A017}" type="slidenum">
              <a:rPr lang="ko-KR" altLang="en-US" smtClean="0"/>
              <a:pPr>
                <a:defRPr/>
              </a:pPr>
              <a:t>214</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116746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슬라이드 노트 개체 틀 2"/>
          <p:cNvSpPr>
            <a:spLocks noGrp="1"/>
          </p:cNvSpPr>
          <p:nvPr>
            <p:ph type="body" idx="1"/>
          </p:nvPr>
        </p:nvSpPr>
        <p:spPr/>
        <p:txBody>
          <a:bodyPr>
            <a:normAutofit/>
          </a:bodyPr>
          <a:lstStyle/>
          <a:p>
            <a:pPr>
              <a:defRPr/>
            </a:pPr>
            <a:endParaRPr lang="ko-KR" altLang="en-US" sz="1100"/>
          </a:p>
        </p:txBody>
      </p:sp>
      <p:sp>
        <p:nvSpPr>
          <p:cNvPr id="4" name="슬라이드 번호 개체 틀 3"/>
          <p:cNvSpPr>
            <a:spLocks noGrp="1"/>
          </p:cNvSpPr>
          <p:nvPr>
            <p:ph type="sldNum" sz="quarter" idx="5"/>
          </p:nvPr>
        </p:nvSpPr>
        <p:spPr/>
        <p:txBody>
          <a:bodyPr/>
          <a:lstStyle/>
          <a:p>
            <a:pPr>
              <a:defRPr/>
            </a:pPr>
            <a:fld id="{F31C31FA-FB09-4EBC-90E1-404CB04336A0}" type="slidenum">
              <a:rPr lang="ko-KR" altLang="en-US" smtClean="0"/>
              <a:pPr>
                <a:defRPr/>
              </a:pPr>
              <a:t>215</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17958877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a:t>2</a:t>
            </a:r>
            <a:r>
              <a:rPr lang="en-US" baseline="0" dirty="0"/>
              <a:t> mod </a:t>
            </a:r>
            <a:r>
              <a:rPr lang="en-US" baseline="0" dirty="0" err="1"/>
              <a:t>cuối</a:t>
            </a:r>
            <a:r>
              <a:rPr lang="en-US" baseline="0" dirty="0"/>
              <a:t> </a:t>
            </a:r>
            <a:r>
              <a:rPr lang="en-US" baseline="0" dirty="0" err="1"/>
              <a:t>cùng</a:t>
            </a:r>
            <a:r>
              <a:rPr lang="en-US" baseline="0" dirty="0"/>
              <a:t> ~&gt; </a:t>
            </a:r>
            <a:r>
              <a:rPr lang="en-US" baseline="0" dirty="0" err="1"/>
              <a:t>bài</a:t>
            </a:r>
            <a:r>
              <a:rPr lang="en-US" baseline="0" dirty="0"/>
              <a:t> </a:t>
            </a:r>
            <a:r>
              <a:rPr lang="en-US" baseline="0" dirty="0" err="1"/>
              <a:t>kiểm</a:t>
            </a:r>
            <a:r>
              <a:rPr lang="en-US" baseline="0" dirty="0"/>
              <a:t> </a:t>
            </a:r>
            <a:r>
              <a:rPr lang="en-US" baseline="0" dirty="0" err="1"/>
              <a:t>tra</a:t>
            </a:r>
            <a:r>
              <a:rPr lang="en-US" baseline="0" dirty="0"/>
              <a:t> </a:t>
            </a:r>
            <a:r>
              <a:rPr lang="en-US" baseline="0" dirty="0" err="1"/>
              <a:t>quyết</a:t>
            </a:r>
            <a:r>
              <a:rPr lang="en-US" baseline="0" dirty="0"/>
              <a:t> </a:t>
            </a:r>
            <a:r>
              <a:rPr lang="en-US" baseline="0" dirty="0" err="1"/>
              <a:t>định</a:t>
            </a:r>
            <a:endParaRPr lang="en-US" baseline="0" dirty="0"/>
          </a:p>
          <a:p>
            <a:endParaRPr lang="en-US" baseline="0" dirty="0"/>
          </a:p>
          <a:p>
            <a:r>
              <a:rPr lang="en-US" baseline="0" dirty="0"/>
              <a:t>Review </a:t>
            </a:r>
            <a:r>
              <a:rPr lang="en-US" baseline="0" dirty="0" err="1"/>
              <a:t>lại</a:t>
            </a:r>
            <a:r>
              <a:rPr lang="en-US" baseline="0" dirty="0"/>
              <a:t> </a:t>
            </a:r>
            <a:r>
              <a:rPr lang="en-US" baseline="0" dirty="0" err="1"/>
              <a:t>modul</a:t>
            </a:r>
            <a:r>
              <a:rPr lang="en-US" baseline="0" dirty="0"/>
              <a:t> </a:t>
            </a:r>
            <a:r>
              <a:rPr lang="en-US" baseline="0" dirty="0" err="1"/>
              <a:t>trước</a:t>
            </a:r>
            <a:r>
              <a:rPr lang="en-US" baseline="0" dirty="0"/>
              <a:t> </a:t>
            </a:r>
            <a:r>
              <a:rPr lang="en-US" baseline="0" dirty="0" err="1"/>
              <a:t>đó</a:t>
            </a:r>
            <a:r>
              <a:rPr lang="en-US" baseline="0" dirty="0"/>
              <a:t> “Gage R&amp;R” ~&gt; </a:t>
            </a:r>
            <a:r>
              <a:rPr lang="en-US" baseline="0" dirty="0" err="1"/>
              <a:t>Sai</a:t>
            </a:r>
            <a:r>
              <a:rPr lang="en-US" baseline="0" dirty="0"/>
              <a:t> </a:t>
            </a:r>
            <a:r>
              <a:rPr lang="en-US" baseline="0" dirty="0" err="1"/>
              <a:t>số</a:t>
            </a:r>
            <a:r>
              <a:rPr lang="en-US" baseline="0" dirty="0"/>
              <a:t> do </a:t>
            </a:r>
            <a:r>
              <a:rPr lang="en-US" baseline="0" dirty="0" err="1"/>
              <a:t>thiết</a:t>
            </a:r>
            <a:r>
              <a:rPr lang="en-US" baseline="0" dirty="0"/>
              <a:t> </a:t>
            </a:r>
            <a:r>
              <a:rPr lang="en-US" baseline="0" dirty="0" err="1"/>
              <a:t>bị</a:t>
            </a:r>
            <a:r>
              <a:rPr lang="en-US" baseline="0" dirty="0"/>
              <a:t> </a:t>
            </a:r>
            <a:r>
              <a:rPr lang="en-US" baseline="0" dirty="0" err="1"/>
              <a:t>đo</a:t>
            </a:r>
            <a:r>
              <a:rPr lang="en-US" baseline="0" dirty="0"/>
              <a:t> + </a:t>
            </a:r>
            <a:r>
              <a:rPr lang="en-US" baseline="0" dirty="0" err="1"/>
              <a:t>sai</a:t>
            </a:r>
            <a:r>
              <a:rPr lang="en-US" baseline="0" dirty="0"/>
              <a:t> </a:t>
            </a:r>
            <a:r>
              <a:rPr lang="en-US" baseline="0" dirty="0" err="1"/>
              <a:t>số</a:t>
            </a:r>
            <a:r>
              <a:rPr lang="en-US" baseline="0" dirty="0"/>
              <a:t> do </a:t>
            </a:r>
            <a:r>
              <a:rPr lang="en-US" baseline="0" dirty="0" err="1"/>
              <a:t>nhiều</a:t>
            </a:r>
            <a:r>
              <a:rPr lang="en-US" baseline="0" dirty="0"/>
              <a:t> </a:t>
            </a:r>
            <a:r>
              <a:rPr lang="en-US" baseline="0" dirty="0" err="1"/>
              <a:t>người</a:t>
            </a:r>
            <a:r>
              <a:rPr lang="en-US" baseline="0" dirty="0"/>
              <a:t> </a:t>
            </a:r>
            <a:r>
              <a:rPr lang="en-US" baseline="0" dirty="0" err="1"/>
              <a:t>đo</a:t>
            </a:r>
            <a:r>
              <a:rPr lang="en-US" baseline="0" dirty="0"/>
              <a:t> </a:t>
            </a:r>
            <a:r>
              <a:rPr lang="en-US" baseline="0" dirty="0" err="1"/>
              <a:t>một</a:t>
            </a:r>
            <a:r>
              <a:rPr lang="en-US" baseline="0" dirty="0"/>
              <a:t> </a:t>
            </a:r>
            <a:r>
              <a:rPr lang="en-US" baseline="0" dirty="0" err="1"/>
              <a:t>lúc</a:t>
            </a:r>
            <a:r>
              <a:rPr lang="en-US" baseline="0" dirty="0"/>
              <a:t> ~&gt; </a:t>
            </a:r>
            <a:r>
              <a:rPr lang="en-US" baseline="0" dirty="0" err="1"/>
              <a:t>xác</a:t>
            </a:r>
            <a:r>
              <a:rPr lang="en-US" baseline="0" dirty="0"/>
              <a:t> </a:t>
            </a:r>
            <a:r>
              <a:rPr lang="en-US" baseline="0" dirty="0" err="1"/>
              <a:t>định</a:t>
            </a:r>
            <a:r>
              <a:rPr lang="en-US" baseline="0" dirty="0"/>
              <a:t> </a:t>
            </a:r>
            <a:r>
              <a:rPr lang="en-US" baseline="0" dirty="0" err="1"/>
              <a:t>sai</a:t>
            </a:r>
            <a:r>
              <a:rPr lang="en-US" baseline="0" dirty="0"/>
              <a:t> </a:t>
            </a:r>
            <a:r>
              <a:rPr lang="en-US" baseline="0" dirty="0" err="1"/>
              <a:t>số</a:t>
            </a:r>
            <a:r>
              <a:rPr lang="en-US" baseline="0" dirty="0"/>
              <a:t> do </a:t>
            </a:r>
            <a:r>
              <a:rPr lang="en-US" baseline="0" dirty="0" err="1"/>
              <a:t>người</a:t>
            </a:r>
            <a:r>
              <a:rPr lang="en-US" baseline="0" dirty="0"/>
              <a:t> </a:t>
            </a:r>
            <a:r>
              <a:rPr lang="en-US" baseline="0" dirty="0" err="1"/>
              <a:t>đo</a:t>
            </a:r>
            <a:r>
              <a:rPr lang="en-US" baseline="0" dirty="0"/>
              <a:t> hay do </a:t>
            </a:r>
            <a:r>
              <a:rPr lang="en-US" baseline="0" dirty="0" err="1"/>
              <a:t>thiết</a:t>
            </a:r>
            <a:r>
              <a:rPr lang="en-US" baseline="0" dirty="0"/>
              <a:t> </a:t>
            </a:r>
            <a:r>
              <a:rPr lang="en-US" baseline="0" dirty="0" err="1"/>
              <a:t>bị</a:t>
            </a:r>
            <a:r>
              <a:rPr lang="en-US" baseline="0" dirty="0"/>
              <a:t> </a:t>
            </a:r>
            <a:r>
              <a:rPr lang="en-US" baseline="0" dirty="0" err="1"/>
              <a:t>đo</a:t>
            </a:r>
            <a:endParaRPr lang="en-US" baseline="0" dirty="0"/>
          </a:p>
          <a:p>
            <a:endParaRPr lang="en-US" baseline="0" dirty="0"/>
          </a:p>
          <a:p>
            <a:r>
              <a:rPr lang="en-US" baseline="0" dirty="0" err="1"/>
              <a:t>Tại</a:t>
            </a:r>
            <a:r>
              <a:rPr lang="en-US" baseline="0" dirty="0"/>
              <a:t> </a:t>
            </a:r>
            <a:r>
              <a:rPr lang="en-US" baseline="0" dirty="0" err="1"/>
              <a:t>sao</a:t>
            </a:r>
            <a:r>
              <a:rPr lang="en-US" baseline="0" dirty="0"/>
              <a:t> </a:t>
            </a:r>
            <a:r>
              <a:rPr lang="en-US" baseline="0" dirty="0" err="1"/>
              <a:t>lại</a:t>
            </a:r>
            <a:r>
              <a:rPr lang="en-US" baseline="0" dirty="0"/>
              <a:t> </a:t>
            </a:r>
            <a:r>
              <a:rPr lang="en-US" baseline="0" dirty="0" err="1"/>
              <a:t>đánh</a:t>
            </a:r>
            <a:r>
              <a:rPr lang="en-US" baseline="0" dirty="0"/>
              <a:t> </a:t>
            </a:r>
            <a:r>
              <a:rPr lang="en-US" baseline="0" dirty="0" err="1"/>
              <a:t>giá</a:t>
            </a:r>
            <a:r>
              <a:rPr lang="en-US" baseline="0" dirty="0"/>
              <a:t> </a:t>
            </a:r>
            <a:r>
              <a:rPr lang="en-US" baseline="0" dirty="0" err="1"/>
              <a:t>năng</a:t>
            </a:r>
            <a:r>
              <a:rPr lang="en-US" baseline="0" dirty="0"/>
              <a:t> </a:t>
            </a:r>
            <a:r>
              <a:rPr lang="en-US" baseline="0" dirty="0" err="1"/>
              <a:t>lực</a:t>
            </a:r>
            <a:r>
              <a:rPr lang="en-US" baseline="0" dirty="0"/>
              <a:t> </a:t>
            </a:r>
            <a:r>
              <a:rPr lang="en-US" baseline="0" dirty="0" err="1"/>
              <a:t>quá</a:t>
            </a:r>
            <a:r>
              <a:rPr lang="en-US" baseline="0" dirty="0"/>
              <a:t> </a:t>
            </a:r>
            <a:r>
              <a:rPr lang="en-US" baseline="0" dirty="0" err="1"/>
              <a:t>trình</a:t>
            </a:r>
            <a:r>
              <a:rPr lang="en-US" baseline="0" dirty="0"/>
              <a:t>. </a:t>
            </a:r>
            <a:r>
              <a:rPr lang="en-US" baseline="0" dirty="0" err="1"/>
              <a:t>Bài</a:t>
            </a:r>
            <a:r>
              <a:rPr lang="en-US" baseline="0" dirty="0"/>
              <a:t> </a:t>
            </a:r>
            <a:r>
              <a:rPr lang="en-US" baseline="0" dirty="0" err="1"/>
              <a:t>toán</a:t>
            </a:r>
            <a:r>
              <a:rPr lang="en-US" baseline="0" dirty="0"/>
              <a:t> </a:t>
            </a:r>
            <a:r>
              <a:rPr lang="en-US" baseline="0" dirty="0" err="1"/>
              <a:t>đặt</a:t>
            </a:r>
            <a:r>
              <a:rPr lang="en-US" baseline="0" dirty="0"/>
              <a:t> </a:t>
            </a:r>
            <a:r>
              <a:rPr lang="en-US" baseline="0" dirty="0" err="1"/>
              <a:t>ra</a:t>
            </a:r>
            <a:r>
              <a:rPr lang="en-US" baseline="0" dirty="0"/>
              <a:t>, 2 </a:t>
            </a:r>
            <a:r>
              <a:rPr lang="en-US" baseline="0" dirty="0" err="1"/>
              <a:t>nhà</a:t>
            </a:r>
            <a:r>
              <a:rPr lang="en-US" baseline="0" dirty="0"/>
              <a:t> </a:t>
            </a:r>
            <a:r>
              <a:rPr lang="en-US" baseline="0" dirty="0" err="1"/>
              <a:t>cung</a:t>
            </a:r>
            <a:r>
              <a:rPr lang="en-US" baseline="0" dirty="0"/>
              <a:t> </a:t>
            </a:r>
            <a:r>
              <a:rPr lang="en-US" baseline="0" dirty="0" err="1"/>
              <a:t>cấp</a:t>
            </a:r>
            <a:r>
              <a:rPr lang="en-US" baseline="0" dirty="0"/>
              <a:t> </a:t>
            </a:r>
            <a:r>
              <a:rPr lang="en-US" baseline="0" dirty="0" err="1"/>
              <a:t>cho</a:t>
            </a:r>
            <a:r>
              <a:rPr lang="en-US" baseline="0" dirty="0"/>
              <a:t> LG, 6000 con, </a:t>
            </a:r>
            <a:r>
              <a:rPr lang="en-US" baseline="0" dirty="0" err="1"/>
              <a:t>số</a:t>
            </a:r>
            <a:r>
              <a:rPr lang="en-US" baseline="0" dirty="0"/>
              <a:t> </a:t>
            </a:r>
            <a:r>
              <a:rPr lang="en-US" baseline="0" dirty="0" err="1"/>
              <a:t>lượng</a:t>
            </a:r>
            <a:r>
              <a:rPr lang="en-US" baseline="0" dirty="0"/>
              <a:t> </a:t>
            </a:r>
            <a:r>
              <a:rPr lang="en-US" baseline="0" dirty="0" err="1"/>
              <a:t>quá</a:t>
            </a:r>
            <a:r>
              <a:rPr lang="en-US" baseline="0" dirty="0"/>
              <a:t> </a:t>
            </a:r>
            <a:r>
              <a:rPr lang="en-US" baseline="0" dirty="0" err="1"/>
              <a:t>lớn</a:t>
            </a:r>
            <a:r>
              <a:rPr lang="en-US" baseline="0" dirty="0"/>
              <a:t>, </a:t>
            </a:r>
            <a:r>
              <a:rPr lang="en-US" baseline="0" dirty="0" err="1"/>
              <a:t>đánh</a:t>
            </a:r>
            <a:r>
              <a:rPr lang="en-US" baseline="0" dirty="0"/>
              <a:t> </a:t>
            </a:r>
            <a:r>
              <a:rPr lang="en-US" baseline="0" dirty="0" err="1"/>
              <a:t>giá</a:t>
            </a:r>
            <a:r>
              <a:rPr lang="en-US" baseline="0" dirty="0"/>
              <a:t> </a:t>
            </a:r>
            <a:r>
              <a:rPr lang="en-US" baseline="0" dirty="0" err="1"/>
              <a:t>ntn</a:t>
            </a:r>
            <a:r>
              <a:rPr lang="en-US" baseline="0" dirty="0"/>
              <a:t>?</a:t>
            </a:r>
          </a:p>
          <a:p>
            <a:r>
              <a:rPr lang="en-US" baseline="0" dirty="0"/>
              <a:t>A check 10 </a:t>
            </a:r>
            <a:r>
              <a:rPr lang="en-US" baseline="0" dirty="0" err="1"/>
              <a:t>mẫu</a:t>
            </a:r>
            <a:r>
              <a:rPr lang="en-US" baseline="0" dirty="0"/>
              <a:t>, 3 </a:t>
            </a:r>
            <a:r>
              <a:rPr lang="en-US" baseline="0" dirty="0" err="1"/>
              <a:t>lỗi</a:t>
            </a:r>
            <a:r>
              <a:rPr lang="en-US" baseline="0" dirty="0"/>
              <a:t> ~&gt; 70%</a:t>
            </a:r>
          </a:p>
          <a:p>
            <a:r>
              <a:rPr lang="en-US" baseline="0" dirty="0"/>
              <a:t>B check 20 </a:t>
            </a:r>
            <a:r>
              <a:rPr lang="en-US" baseline="0" dirty="0" err="1"/>
              <a:t>mẫu</a:t>
            </a:r>
            <a:r>
              <a:rPr lang="en-US" baseline="0" dirty="0"/>
              <a:t>, 4 </a:t>
            </a:r>
            <a:r>
              <a:rPr lang="en-US" baseline="0" dirty="0" err="1"/>
              <a:t>lỗi</a:t>
            </a:r>
            <a:r>
              <a:rPr lang="en-US" baseline="0" dirty="0"/>
              <a:t> ~&gt; 80%</a:t>
            </a:r>
          </a:p>
          <a:p>
            <a:r>
              <a:rPr lang="en-US" baseline="0" dirty="0"/>
              <a:t>~&gt; </a:t>
            </a:r>
            <a:r>
              <a:rPr lang="en-US" baseline="0" dirty="0" err="1"/>
              <a:t>chọn</a:t>
            </a:r>
            <a:r>
              <a:rPr lang="en-US" baseline="0" dirty="0"/>
              <a:t> B</a:t>
            </a:r>
          </a:p>
          <a:p>
            <a:r>
              <a:rPr lang="en-US" dirty="0" err="1"/>
              <a:t>mai</a:t>
            </a:r>
            <a:r>
              <a:rPr lang="en-US" baseline="0" dirty="0"/>
              <a:t> </a:t>
            </a:r>
            <a:r>
              <a:rPr lang="en-US" baseline="0" dirty="0" err="1"/>
              <a:t>gửi</a:t>
            </a:r>
            <a:r>
              <a:rPr lang="en-US" baseline="0" dirty="0"/>
              <a:t> </a:t>
            </a:r>
            <a:r>
              <a:rPr lang="en-US" baseline="0" dirty="0" err="1"/>
              <a:t>kết</a:t>
            </a:r>
            <a:r>
              <a:rPr lang="en-US" baseline="0" dirty="0"/>
              <a:t> </a:t>
            </a:r>
            <a:r>
              <a:rPr lang="en-US" baseline="0" dirty="0" err="1"/>
              <a:t>quả</a:t>
            </a:r>
            <a:r>
              <a:rPr lang="en-US" baseline="0" dirty="0"/>
              <a:t> </a:t>
            </a:r>
            <a:r>
              <a:rPr lang="en-US" baseline="0" dirty="0" err="1"/>
              <a:t>khác</a:t>
            </a:r>
            <a:r>
              <a:rPr lang="en-US" baseline="0" dirty="0"/>
              <a:t> A </a:t>
            </a:r>
            <a:r>
              <a:rPr lang="en-US" baseline="0" dirty="0" err="1"/>
              <a:t>nhỉnh</a:t>
            </a:r>
            <a:r>
              <a:rPr lang="en-US" baseline="0" dirty="0"/>
              <a:t> </a:t>
            </a:r>
            <a:r>
              <a:rPr lang="en-US" baseline="0" dirty="0" err="1"/>
              <a:t>hơn</a:t>
            </a:r>
            <a:r>
              <a:rPr lang="en-US" baseline="0" dirty="0"/>
              <a:t>. ~&gt; </a:t>
            </a:r>
            <a:r>
              <a:rPr lang="en-US" baseline="0" dirty="0" err="1"/>
              <a:t>vậy</a:t>
            </a:r>
            <a:r>
              <a:rPr lang="en-US" baseline="0" dirty="0"/>
              <a:t> </a:t>
            </a:r>
            <a:r>
              <a:rPr lang="en-US" baseline="0" dirty="0" err="1"/>
              <a:t>lại</a:t>
            </a:r>
            <a:r>
              <a:rPr lang="en-US" baseline="0" dirty="0"/>
              <a:t> </a:t>
            </a:r>
            <a:r>
              <a:rPr lang="en-US" baseline="0" dirty="0" err="1"/>
              <a:t>chọn</a:t>
            </a:r>
            <a:r>
              <a:rPr lang="en-US" baseline="0" dirty="0"/>
              <a:t> A?</a:t>
            </a:r>
          </a:p>
          <a:p>
            <a:endParaRPr lang="en-US" baseline="0" dirty="0"/>
          </a:p>
          <a:p>
            <a:r>
              <a:rPr lang="en-US" baseline="0" dirty="0" err="1"/>
              <a:t>Vậy</a:t>
            </a:r>
            <a:r>
              <a:rPr lang="en-US" baseline="0" dirty="0"/>
              <a:t> </a:t>
            </a:r>
            <a:r>
              <a:rPr lang="en-US" baseline="0" dirty="0" err="1"/>
              <a:t>nếu</a:t>
            </a:r>
            <a:r>
              <a:rPr lang="en-US" baseline="0" dirty="0"/>
              <a:t> </a:t>
            </a:r>
            <a:r>
              <a:rPr lang="en-US" baseline="0" dirty="0" err="1"/>
              <a:t>chỉ</a:t>
            </a:r>
            <a:r>
              <a:rPr lang="en-US" baseline="0" dirty="0"/>
              <a:t> </a:t>
            </a:r>
            <a:r>
              <a:rPr lang="en-US" baseline="0" dirty="0" err="1"/>
              <a:t>dựa</a:t>
            </a:r>
            <a:r>
              <a:rPr lang="en-US" baseline="0" dirty="0"/>
              <a:t> </a:t>
            </a:r>
            <a:r>
              <a:rPr lang="en-US" baseline="0" dirty="0" err="1"/>
              <a:t>vào</a:t>
            </a:r>
            <a:r>
              <a:rPr lang="en-US" baseline="0" dirty="0"/>
              <a:t> 2 </a:t>
            </a:r>
            <a:r>
              <a:rPr lang="en-US" baseline="0" dirty="0" err="1"/>
              <a:t>tập</a:t>
            </a:r>
            <a:r>
              <a:rPr lang="en-US" baseline="0" dirty="0"/>
              <a:t> </a:t>
            </a:r>
            <a:r>
              <a:rPr lang="en-US" baseline="0" dirty="0" err="1"/>
              <a:t>hợp</a:t>
            </a:r>
            <a:r>
              <a:rPr lang="en-US" baseline="0" dirty="0"/>
              <a:t> </a:t>
            </a:r>
            <a:r>
              <a:rPr lang="en-US" baseline="0" dirty="0" err="1"/>
              <a:t>dữ</a:t>
            </a:r>
            <a:r>
              <a:rPr lang="en-US" baseline="0" dirty="0"/>
              <a:t> </a:t>
            </a:r>
            <a:r>
              <a:rPr lang="en-US" baseline="0" dirty="0" err="1"/>
              <a:t>liệu</a:t>
            </a:r>
            <a:r>
              <a:rPr lang="en-US" baseline="0" dirty="0"/>
              <a:t> </a:t>
            </a:r>
            <a:r>
              <a:rPr lang="en-US" baseline="0" dirty="0" err="1"/>
              <a:t>này</a:t>
            </a:r>
            <a:r>
              <a:rPr lang="en-US" baseline="0" dirty="0"/>
              <a:t> ~&gt; </a:t>
            </a:r>
            <a:r>
              <a:rPr lang="en-US" baseline="0" dirty="0" err="1"/>
              <a:t>không</a:t>
            </a:r>
            <a:r>
              <a:rPr lang="en-US" baseline="0" dirty="0"/>
              <a:t> </a:t>
            </a:r>
            <a:r>
              <a:rPr lang="en-US" baseline="0" dirty="0" err="1"/>
              <a:t>thể</a:t>
            </a:r>
            <a:r>
              <a:rPr lang="en-US" baseline="0" dirty="0"/>
              <a:t> </a:t>
            </a:r>
            <a:r>
              <a:rPr lang="en-US" baseline="0" dirty="0" err="1"/>
              <a:t>đánh</a:t>
            </a:r>
            <a:r>
              <a:rPr lang="en-US" baseline="0" dirty="0"/>
              <a:t> </a:t>
            </a:r>
            <a:r>
              <a:rPr lang="en-US" baseline="0" dirty="0" err="1"/>
              <a:t>giá</a:t>
            </a:r>
            <a:r>
              <a:rPr lang="en-US" baseline="0" dirty="0"/>
              <a:t> </a:t>
            </a:r>
            <a:r>
              <a:rPr lang="en-US" baseline="0" dirty="0" err="1"/>
              <a:t>đc</a:t>
            </a:r>
            <a:r>
              <a:rPr lang="en-US" baseline="0" dirty="0"/>
              <a:t> </a:t>
            </a:r>
            <a:r>
              <a:rPr lang="en-US" baseline="0" dirty="0" err="1"/>
              <a:t>nhà</a:t>
            </a:r>
            <a:r>
              <a:rPr lang="en-US" baseline="0" dirty="0"/>
              <a:t> </a:t>
            </a:r>
            <a:r>
              <a:rPr lang="en-US" baseline="0" dirty="0" err="1"/>
              <a:t>cung</a:t>
            </a:r>
            <a:r>
              <a:rPr lang="en-US" baseline="0" dirty="0"/>
              <a:t> </a:t>
            </a:r>
            <a:r>
              <a:rPr lang="en-US" baseline="0" dirty="0" err="1"/>
              <a:t>cấp</a:t>
            </a:r>
            <a:r>
              <a:rPr lang="en-US" baseline="0" dirty="0"/>
              <a:t> </a:t>
            </a:r>
            <a:r>
              <a:rPr lang="en-US" baseline="0" dirty="0" err="1"/>
              <a:t>nào</a:t>
            </a:r>
            <a:r>
              <a:rPr lang="en-US" baseline="0" dirty="0"/>
              <a:t> </a:t>
            </a:r>
            <a:r>
              <a:rPr lang="en-US" baseline="0" dirty="0" err="1"/>
              <a:t>tốt</a:t>
            </a:r>
            <a:r>
              <a:rPr lang="en-US" baseline="0" dirty="0"/>
              <a:t> </a:t>
            </a:r>
            <a:r>
              <a:rPr lang="en-US" baseline="0" dirty="0" err="1"/>
              <a:t>hơn</a:t>
            </a:r>
            <a:r>
              <a:rPr lang="en-US" baseline="0" dirty="0"/>
              <a:t> ~&gt; </a:t>
            </a:r>
            <a:r>
              <a:rPr lang="en-US" baseline="0" dirty="0" err="1"/>
              <a:t>cần</a:t>
            </a:r>
            <a:r>
              <a:rPr lang="en-US" baseline="0" dirty="0"/>
              <a:t> </a:t>
            </a:r>
            <a:r>
              <a:rPr lang="en-US" baseline="0" dirty="0" err="1"/>
              <a:t>một</a:t>
            </a:r>
            <a:r>
              <a:rPr lang="en-US" baseline="0" dirty="0"/>
              <a:t> </a:t>
            </a:r>
            <a:r>
              <a:rPr lang="en-US" baseline="0" dirty="0" err="1"/>
              <a:t>chỉ</a:t>
            </a:r>
            <a:r>
              <a:rPr lang="en-US" baseline="0" dirty="0"/>
              <a:t> </a:t>
            </a:r>
            <a:r>
              <a:rPr lang="en-US" baseline="0" dirty="0" err="1"/>
              <a:t>số</a:t>
            </a:r>
            <a:r>
              <a:rPr lang="en-US" baseline="0" dirty="0"/>
              <a:t> </a:t>
            </a:r>
            <a:r>
              <a:rPr lang="en-US" baseline="0" dirty="0" err="1"/>
              <a:t>có</a:t>
            </a:r>
            <a:r>
              <a:rPr lang="en-US" baseline="0" dirty="0"/>
              <a:t> </a:t>
            </a:r>
            <a:r>
              <a:rPr lang="en-US" baseline="0" dirty="0" err="1"/>
              <a:t>thể</a:t>
            </a:r>
            <a:r>
              <a:rPr lang="en-US" baseline="0" dirty="0"/>
              <a:t> </a:t>
            </a:r>
            <a:r>
              <a:rPr lang="en-US" baseline="0" dirty="0" err="1"/>
              <a:t>đánh</a:t>
            </a:r>
            <a:r>
              <a:rPr lang="en-US" baseline="0" dirty="0"/>
              <a:t> </a:t>
            </a:r>
            <a:r>
              <a:rPr lang="en-US" baseline="0" dirty="0" err="1"/>
              <a:t>giá</a:t>
            </a:r>
            <a:r>
              <a:rPr lang="en-US" baseline="0" dirty="0"/>
              <a:t> </a:t>
            </a:r>
            <a:r>
              <a:rPr lang="en-US" baseline="0" dirty="0" err="1"/>
              <a:t>đc</a:t>
            </a:r>
            <a:r>
              <a:rPr lang="en-US" baseline="0" dirty="0"/>
              <a:t>.</a:t>
            </a:r>
          </a:p>
          <a:p>
            <a:endParaRPr lang="en-US" baseline="0" dirty="0"/>
          </a:p>
          <a:p>
            <a:r>
              <a:rPr lang="en-US" baseline="0" dirty="0"/>
              <a:t>~&gt; </a:t>
            </a:r>
            <a:r>
              <a:rPr lang="en-US" baseline="0" dirty="0" err="1"/>
              <a:t>Mục</a:t>
            </a:r>
            <a:r>
              <a:rPr lang="en-US" baseline="0" dirty="0"/>
              <a:t> </a:t>
            </a:r>
            <a:r>
              <a:rPr lang="en-US" baseline="0" dirty="0" err="1"/>
              <a:t>tiêu</a:t>
            </a:r>
            <a:r>
              <a:rPr lang="en-US" baseline="0" dirty="0"/>
              <a:t> </a:t>
            </a:r>
            <a:r>
              <a:rPr lang="en-US" baseline="0" dirty="0" err="1"/>
              <a:t>của</a:t>
            </a:r>
            <a:r>
              <a:rPr lang="en-US" baseline="0" dirty="0"/>
              <a:t> </a:t>
            </a:r>
            <a:r>
              <a:rPr lang="en-US" baseline="0" dirty="0" err="1"/>
              <a:t>bài</a:t>
            </a:r>
            <a:r>
              <a:rPr lang="en-US" baseline="0" dirty="0"/>
              <a:t> </a:t>
            </a:r>
            <a:r>
              <a:rPr lang="en-US" baseline="0" dirty="0" err="1"/>
              <a:t>này</a:t>
            </a:r>
            <a:r>
              <a:rPr lang="en-US" baseline="0" dirty="0"/>
              <a:t>. </a:t>
            </a:r>
            <a:r>
              <a:rPr lang="en-US" baseline="0" dirty="0" err="1"/>
              <a:t>Trả</a:t>
            </a:r>
            <a:r>
              <a:rPr lang="en-US" baseline="0" dirty="0"/>
              <a:t> </a:t>
            </a:r>
            <a:r>
              <a:rPr lang="en-US" baseline="0" dirty="0" err="1"/>
              <a:t>lời</a:t>
            </a:r>
            <a:r>
              <a:rPr lang="en-US" baseline="0" dirty="0"/>
              <a:t> </a:t>
            </a:r>
            <a:r>
              <a:rPr lang="en-US" baseline="0" dirty="0" err="1"/>
              <a:t>câu</a:t>
            </a:r>
            <a:r>
              <a:rPr lang="en-US" baseline="0" dirty="0"/>
              <a:t> </a:t>
            </a:r>
            <a:r>
              <a:rPr lang="en-US" baseline="0" dirty="0" err="1"/>
              <a:t>hỏi</a:t>
            </a:r>
            <a:r>
              <a:rPr lang="en-US" baseline="0" dirty="0"/>
              <a:t>: </a:t>
            </a:r>
            <a:r>
              <a:rPr lang="en-US" baseline="0" dirty="0" err="1"/>
              <a:t>lỗi</a:t>
            </a:r>
            <a:r>
              <a:rPr lang="en-US" baseline="0" dirty="0"/>
              <a:t> </a:t>
            </a:r>
            <a:r>
              <a:rPr lang="en-US" baseline="0" dirty="0" err="1"/>
              <a:t>của</a:t>
            </a:r>
            <a:r>
              <a:rPr lang="en-US" baseline="0" dirty="0"/>
              <a:t> </a:t>
            </a:r>
            <a:r>
              <a:rPr lang="en-US" baseline="0" dirty="0" err="1"/>
              <a:t>nhà</a:t>
            </a:r>
            <a:r>
              <a:rPr lang="en-US" baseline="0" dirty="0"/>
              <a:t> </a:t>
            </a:r>
            <a:r>
              <a:rPr lang="en-US" baseline="0" dirty="0" err="1"/>
              <a:t>cung</a:t>
            </a:r>
            <a:r>
              <a:rPr lang="en-US" baseline="0" dirty="0"/>
              <a:t> </a:t>
            </a:r>
            <a:r>
              <a:rPr lang="en-US" baseline="0" dirty="0" err="1"/>
              <a:t>cấp</a:t>
            </a:r>
            <a:r>
              <a:rPr lang="en-US" baseline="0" dirty="0"/>
              <a:t> </a:t>
            </a:r>
            <a:r>
              <a:rPr lang="en-US" baseline="0" dirty="0" err="1"/>
              <a:t>có</a:t>
            </a:r>
            <a:r>
              <a:rPr lang="en-US" baseline="0" dirty="0"/>
              <a:t> </a:t>
            </a:r>
            <a:r>
              <a:rPr lang="en-US" baseline="0" dirty="0" err="1"/>
              <a:t>số</a:t>
            </a:r>
            <a:r>
              <a:rPr lang="en-US" baseline="0" dirty="0"/>
              <a:t> </a:t>
            </a:r>
            <a:r>
              <a:rPr lang="en-US" baseline="0" dirty="0" err="1"/>
              <a:t>liệu</a:t>
            </a:r>
            <a:r>
              <a:rPr lang="en-US" baseline="0" dirty="0"/>
              <a:t> </a:t>
            </a:r>
            <a:r>
              <a:rPr lang="en-US" baseline="0" dirty="0" err="1"/>
              <a:t>như</a:t>
            </a:r>
            <a:r>
              <a:rPr lang="en-US" baseline="0" dirty="0"/>
              <a:t> </a:t>
            </a:r>
            <a:r>
              <a:rPr lang="en-US" baseline="0" dirty="0" err="1"/>
              <a:t>thế</a:t>
            </a:r>
            <a:r>
              <a:rPr lang="en-US" baseline="0" dirty="0"/>
              <a:t>? </a:t>
            </a:r>
            <a:r>
              <a:rPr lang="en-US" baseline="0" dirty="0" err="1"/>
              <a:t>chọn</a:t>
            </a:r>
            <a:r>
              <a:rPr lang="en-US" baseline="0" dirty="0"/>
              <a:t> </a:t>
            </a:r>
            <a:r>
              <a:rPr lang="en-US" baseline="0" dirty="0" err="1"/>
              <a:t>ai</a:t>
            </a:r>
            <a:r>
              <a:rPr lang="en-US" baseline="0" dirty="0"/>
              <a:t>?</a:t>
            </a:r>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216</a:t>
            </a:fld>
            <a:endParaRPr lang="ko-KR" altLang="en-US" dirty="0"/>
          </a:p>
        </p:txBody>
      </p:sp>
    </p:spTree>
    <p:extLst>
      <p:ext uri="{BB962C8B-B14F-4D97-AF65-F5344CB8AC3E}">
        <p14:creationId xmlns:p14="http://schemas.microsoft.com/office/powerpoint/2010/main" val="181360957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217</a:t>
            </a:fld>
            <a:endParaRPr lang="ko-KR" altLang="en-US" dirty="0"/>
          </a:p>
        </p:txBody>
      </p:sp>
    </p:spTree>
    <p:extLst>
      <p:ext uri="{BB962C8B-B14F-4D97-AF65-F5344CB8AC3E}">
        <p14:creationId xmlns:p14="http://schemas.microsoft.com/office/powerpoint/2010/main" val="109681714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err="1"/>
              <a:t>Chí</a:t>
            </a:r>
            <a:r>
              <a:rPr lang="en-US" baseline="0" dirty="0"/>
              <a:t> </a:t>
            </a:r>
            <a:r>
              <a:rPr lang="en-US" baseline="0" dirty="0" err="1"/>
              <a:t>số</a:t>
            </a:r>
            <a:r>
              <a:rPr lang="en-US" baseline="0" dirty="0"/>
              <a:t> </a:t>
            </a:r>
            <a:r>
              <a:rPr lang="en-US" baseline="0" dirty="0" err="1"/>
              <a:t>năng</a:t>
            </a:r>
            <a:r>
              <a:rPr lang="en-US" baseline="0" dirty="0"/>
              <a:t> </a:t>
            </a:r>
            <a:r>
              <a:rPr lang="en-US" baseline="0" dirty="0" err="1"/>
              <a:t>lực</a:t>
            </a:r>
            <a:r>
              <a:rPr lang="en-US" baseline="0" dirty="0"/>
              <a:t> </a:t>
            </a:r>
            <a:r>
              <a:rPr lang="en-US" baseline="0" dirty="0" err="1"/>
              <a:t>quá</a:t>
            </a:r>
            <a:r>
              <a:rPr lang="en-US" baseline="0" dirty="0"/>
              <a:t> </a:t>
            </a:r>
            <a:r>
              <a:rPr lang="en-US" baseline="0" dirty="0" err="1"/>
              <a:t>trình</a:t>
            </a:r>
            <a:r>
              <a:rPr lang="en-US" baseline="0" dirty="0"/>
              <a:t> </a:t>
            </a:r>
            <a:r>
              <a:rPr lang="en-US" baseline="0" dirty="0" err="1"/>
              <a:t>là</a:t>
            </a:r>
            <a:r>
              <a:rPr lang="en-US" baseline="0" dirty="0"/>
              <a:t> </a:t>
            </a:r>
            <a:r>
              <a:rPr lang="en-US" baseline="0" dirty="0" err="1"/>
              <a:t>gì</a:t>
            </a:r>
            <a:r>
              <a:rPr lang="en-US" baseline="0" dirty="0"/>
              <a:t>? </a:t>
            </a:r>
            <a:r>
              <a:rPr lang="en-US" baseline="0" dirty="0" err="1"/>
              <a:t>Là</a:t>
            </a:r>
            <a:r>
              <a:rPr lang="en-US" baseline="0" dirty="0"/>
              <a:t> </a:t>
            </a:r>
            <a:r>
              <a:rPr lang="en-US" baseline="0" dirty="0" err="1"/>
              <a:t>năng</a:t>
            </a:r>
            <a:r>
              <a:rPr lang="en-US" baseline="0" dirty="0"/>
              <a:t> </a:t>
            </a:r>
            <a:r>
              <a:rPr lang="en-US" baseline="0" dirty="0" err="1"/>
              <a:t>lực</a:t>
            </a:r>
            <a:r>
              <a:rPr lang="en-US" baseline="0" dirty="0"/>
              <a:t> </a:t>
            </a:r>
            <a:r>
              <a:rPr lang="en-US" baseline="0" dirty="0" err="1"/>
              <a:t>sản</a:t>
            </a:r>
            <a:r>
              <a:rPr lang="en-US" baseline="0" dirty="0"/>
              <a:t> </a:t>
            </a:r>
            <a:r>
              <a:rPr lang="en-US" baseline="0" dirty="0" err="1"/>
              <a:t>xuất</a:t>
            </a:r>
            <a:r>
              <a:rPr lang="en-US" baseline="0" dirty="0"/>
              <a:t> </a:t>
            </a:r>
            <a:r>
              <a:rPr lang="en-US" baseline="0" dirty="0" err="1"/>
              <a:t>của</a:t>
            </a:r>
            <a:r>
              <a:rPr lang="en-US" baseline="0" dirty="0"/>
              <a:t> </a:t>
            </a:r>
            <a:r>
              <a:rPr lang="en-US" baseline="0" dirty="0" err="1"/>
              <a:t>chuyền</a:t>
            </a:r>
            <a:r>
              <a:rPr lang="en-US" baseline="0" dirty="0"/>
              <a:t> </a:t>
            </a:r>
            <a:r>
              <a:rPr lang="en-US" baseline="0" dirty="0" err="1"/>
              <a:t>để</a:t>
            </a:r>
            <a:r>
              <a:rPr lang="en-US" baseline="0" dirty="0"/>
              <a:t> </a:t>
            </a:r>
            <a:r>
              <a:rPr lang="en-US" baseline="0" dirty="0" err="1"/>
              <a:t>sản</a:t>
            </a:r>
            <a:r>
              <a:rPr lang="en-US" baseline="0" dirty="0"/>
              <a:t> </a:t>
            </a:r>
            <a:r>
              <a:rPr lang="en-US" baseline="0" dirty="0" err="1"/>
              <a:t>xuất</a:t>
            </a:r>
            <a:r>
              <a:rPr lang="en-US" baseline="0" dirty="0"/>
              <a:t> </a:t>
            </a:r>
            <a:r>
              <a:rPr lang="en-US" baseline="0" dirty="0" err="1"/>
              <a:t>ra</a:t>
            </a:r>
            <a:r>
              <a:rPr lang="en-US" baseline="0" dirty="0"/>
              <a:t> </a:t>
            </a:r>
            <a:r>
              <a:rPr lang="en-US" baseline="0" dirty="0" err="1"/>
              <a:t>được</a:t>
            </a:r>
            <a:r>
              <a:rPr lang="en-US" baseline="0" dirty="0"/>
              <a:t> </a:t>
            </a:r>
            <a:r>
              <a:rPr lang="en-US" baseline="0" dirty="0" err="1"/>
              <a:t>những</a:t>
            </a:r>
            <a:r>
              <a:rPr lang="en-US" baseline="0" dirty="0"/>
              <a:t> </a:t>
            </a:r>
            <a:r>
              <a:rPr lang="en-US" baseline="0" dirty="0" err="1"/>
              <a:t>sản</a:t>
            </a:r>
            <a:r>
              <a:rPr lang="en-US" baseline="0" dirty="0"/>
              <a:t> </a:t>
            </a:r>
            <a:r>
              <a:rPr lang="en-US" baseline="0" dirty="0" err="1"/>
              <a:t>phẩm</a:t>
            </a:r>
            <a:r>
              <a:rPr lang="en-US" baseline="0" dirty="0"/>
              <a:t> </a:t>
            </a:r>
            <a:r>
              <a:rPr lang="en-US" baseline="0" dirty="0" err="1"/>
              <a:t>đồng</a:t>
            </a:r>
            <a:r>
              <a:rPr lang="en-US" baseline="0" dirty="0"/>
              <a:t> </a:t>
            </a:r>
            <a:r>
              <a:rPr lang="en-US" baseline="0" dirty="0" err="1"/>
              <a:t>nhất</a:t>
            </a:r>
            <a:r>
              <a:rPr lang="en-US" baseline="0" dirty="0"/>
              <a:t> </a:t>
            </a:r>
            <a:r>
              <a:rPr lang="en-US" baseline="0" dirty="0" err="1"/>
              <a:t>về</a:t>
            </a:r>
            <a:r>
              <a:rPr lang="en-US" baseline="0" dirty="0"/>
              <a:t> </a:t>
            </a:r>
            <a:r>
              <a:rPr lang="en-US" baseline="0" dirty="0" err="1"/>
              <a:t>mặt</a:t>
            </a:r>
            <a:r>
              <a:rPr lang="en-US" baseline="0" dirty="0"/>
              <a:t> </a:t>
            </a:r>
            <a:r>
              <a:rPr lang="en-US" baseline="0" dirty="0" err="1"/>
              <a:t>chất</a:t>
            </a:r>
            <a:r>
              <a:rPr lang="en-US" baseline="0" dirty="0"/>
              <a:t> </a:t>
            </a:r>
            <a:r>
              <a:rPr lang="en-US" baseline="0" dirty="0" err="1"/>
              <a:t>lượng</a:t>
            </a:r>
            <a:r>
              <a:rPr lang="en-US" baseline="0" dirty="0"/>
              <a:t>, </a:t>
            </a:r>
            <a:r>
              <a:rPr lang="en-US" baseline="0" dirty="0" err="1"/>
              <a:t>đáp</a:t>
            </a:r>
            <a:r>
              <a:rPr lang="en-US" baseline="0" dirty="0"/>
              <a:t> </a:t>
            </a:r>
            <a:r>
              <a:rPr lang="en-US" baseline="0" dirty="0" err="1"/>
              <a:t>ứng</a:t>
            </a:r>
            <a:r>
              <a:rPr lang="en-US" baseline="0" dirty="0"/>
              <a:t> </a:t>
            </a:r>
            <a:r>
              <a:rPr lang="en-US" baseline="0" dirty="0" err="1"/>
              <a:t>được</a:t>
            </a:r>
            <a:r>
              <a:rPr lang="en-US" baseline="0" dirty="0"/>
              <a:t> </a:t>
            </a:r>
            <a:r>
              <a:rPr lang="en-US" baseline="0" dirty="0" err="1"/>
              <a:t>những</a:t>
            </a:r>
            <a:r>
              <a:rPr lang="en-US" baseline="0" dirty="0"/>
              <a:t> </a:t>
            </a:r>
            <a:r>
              <a:rPr lang="en-US" baseline="0" dirty="0" err="1"/>
              <a:t>tiêu</a:t>
            </a:r>
            <a:r>
              <a:rPr lang="en-US" baseline="0" dirty="0"/>
              <a:t> </a:t>
            </a:r>
            <a:r>
              <a:rPr lang="en-US" baseline="0" dirty="0" err="1"/>
              <a:t>chuẩn</a:t>
            </a:r>
            <a:r>
              <a:rPr lang="en-US" baseline="0" dirty="0"/>
              <a:t> </a:t>
            </a:r>
            <a:r>
              <a:rPr lang="en-US" baseline="0" dirty="0" err="1"/>
              <a:t>đã</a:t>
            </a:r>
            <a:r>
              <a:rPr lang="en-US" baseline="0" dirty="0"/>
              <a:t> </a:t>
            </a:r>
            <a:r>
              <a:rPr lang="en-US" baseline="0" dirty="0" err="1"/>
              <a:t>đặt</a:t>
            </a:r>
            <a:r>
              <a:rPr lang="en-US" baseline="0" dirty="0"/>
              <a:t> </a:t>
            </a:r>
            <a:r>
              <a:rPr lang="en-US" baseline="0" dirty="0" err="1"/>
              <a:t>ra</a:t>
            </a:r>
            <a:r>
              <a:rPr lang="en-US" baseline="0" dirty="0"/>
              <a:t> / </a:t>
            </a:r>
            <a:r>
              <a:rPr lang="en-US" baseline="0" dirty="0" err="1"/>
              <a:t>thông</a:t>
            </a:r>
            <a:r>
              <a:rPr lang="en-US" baseline="0" dirty="0"/>
              <a:t> qua </a:t>
            </a:r>
            <a:r>
              <a:rPr lang="en-US" baseline="0" dirty="0" err="1"/>
              <a:t>năng</a:t>
            </a:r>
            <a:r>
              <a:rPr lang="en-US" baseline="0" dirty="0"/>
              <a:t> </a:t>
            </a:r>
            <a:r>
              <a:rPr lang="en-US" baseline="0" dirty="0" err="1"/>
              <a:t>lực</a:t>
            </a:r>
            <a:r>
              <a:rPr lang="en-US" baseline="0" dirty="0"/>
              <a:t> </a:t>
            </a:r>
            <a:r>
              <a:rPr lang="en-US" baseline="0" dirty="0" err="1"/>
              <a:t>quá</a:t>
            </a:r>
            <a:r>
              <a:rPr lang="en-US" baseline="0" dirty="0"/>
              <a:t> </a:t>
            </a:r>
            <a:r>
              <a:rPr lang="en-US" baseline="0" dirty="0" err="1"/>
              <a:t>trình</a:t>
            </a:r>
            <a:r>
              <a:rPr lang="en-US" baseline="0" dirty="0"/>
              <a:t>, </a:t>
            </a:r>
            <a:r>
              <a:rPr lang="en-US" baseline="0" dirty="0" err="1"/>
              <a:t>khả</a:t>
            </a:r>
            <a:r>
              <a:rPr lang="en-US" baseline="0" dirty="0"/>
              <a:t> </a:t>
            </a:r>
            <a:r>
              <a:rPr lang="en-US" baseline="0" dirty="0" err="1"/>
              <a:t>năng</a:t>
            </a:r>
            <a:r>
              <a:rPr lang="en-US" baseline="0" dirty="0"/>
              <a:t> </a:t>
            </a:r>
            <a:r>
              <a:rPr lang="en-US" baseline="0" dirty="0" err="1"/>
              <a:t>sản</a:t>
            </a:r>
            <a:r>
              <a:rPr lang="en-US" baseline="0" dirty="0"/>
              <a:t> </a:t>
            </a:r>
            <a:r>
              <a:rPr lang="en-US" baseline="0" dirty="0" err="1"/>
              <a:t>xuất</a:t>
            </a:r>
            <a:r>
              <a:rPr lang="en-US" baseline="0" dirty="0"/>
              <a:t> </a:t>
            </a:r>
            <a:r>
              <a:rPr lang="en-US" baseline="0" dirty="0" err="1"/>
              <a:t>trong</a:t>
            </a:r>
            <a:r>
              <a:rPr lang="en-US" baseline="0" dirty="0"/>
              <a:t> </a:t>
            </a:r>
            <a:r>
              <a:rPr lang="en-US" baseline="0" dirty="0" err="1"/>
              <a:t>tương</a:t>
            </a:r>
            <a:r>
              <a:rPr lang="en-US" baseline="0" dirty="0"/>
              <a:t> </a:t>
            </a:r>
            <a:r>
              <a:rPr lang="en-US" baseline="0" dirty="0" err="1"/>
              <a:t>lai</a:t>
            </a:r>
            <a:r>
              <a:rPr lang="en-US" baseline="0" dirty="0"/>
              <a:t> </a:t>
            </a:r>
            <a:r>
              <a:rPr lang="en-US" baseline="0" dirty="0" err="1"/>
              <a:t>được</a:t>
            </a:r>
            <a:r>
              <a:rPr lang="en-US" baseline="0" dirty="0"/>
              <a:t> </a:t>
            </a:r>
            <a:r>
              <a:rPr lang="en-US" baseline="0" dirty="0" err="1"/>
              <a:t>đánh</a:t>
            </a:r>
            <a:r>
              <a:rPr lang="en-US" baseline="0" dirty="0"/>
              <a:t> </a:t>
            </a:r>
            <a:r>
              <a:rPr lang="en-US" baseline="0" dirty="0" err="1"/>
              <a:t>giá</a:t>
            </a:r>
            <a:r>
              <a:rPr lang="en-US" baseline="0" dirty="0"/>
              <a:t> / </a:t>
            </a:r>
            <a:r>
              <a:rPr lang="en-US" baseline="0" dirty="0" err="1"/>
              <a:t>năng</a:t>
            </a:r>
            <a:r>
              <a:rPr lang="en-US" baseline="0" dirty="0"/>
              <a:t> </a:t>
            </a:r>
            <a:r>
              <a:rPr lang="en-US" baseline="0" dirty="0" err="1"/>
              <a:t>lực</a:t>
            </a:r>
            <a:r>
              <a:rPr lang="en-US" baseline="0" dirty="0"/>
              <a:t> </a:t>
            </a:r>
            <a:r>
              <a:rPr lang="en-US" baseline="0" dirty="0" err="1"/>
              <a:t>quá</a:t>
            </a:r>
            <a:r>
              <a:rPr lang="en-US" baseline="0" dirty="0"/>
              <a:t> </a:t>
            </a:r>
            <a:r>
              <a:rPr lang="en-US" baseline="0" dirty="0" err="1"/>
              <a:t>trình</a:t>
            </a:r>
            <a:r>
              <a:rPr lang="en-US" baseline="0" dirty="0"/>
              <a:t> </a:t>
            </a:r>
            <a:r>
              <a:rPr lang="en-US" baseline="0" dirty="0" err="1"/>
              <a:t>được</a:t>
            </a:r>
            <a:r>
              <a:rPr lang="en-US" baseline="0" dirty="0"/>
              <a:t> </a:t>
            </a:r>
            <a:r>
              <a:rPr lang="en-US" baseline="0" dirty="0" err="1"/>
              <a:t>kiểm</a:t>
            </a:r>
            <a:r>
              <a:rPr lang="en-US" baseline="0" dirty="0"/>
              <a:t> </a:t>
            </a:r>
            <a:r>
              <a:rPr lang="en-US" baseline="0" dirty="0" err="1"/>
              <a:t>soát</a:t>
            </a:r>
            <a:r>
              <a:rPr lang="en-US" baseline="0" dirty="0"/>
              <a:t> </a:t>
            </a:r>
            <a:r>
              <a:rPr lang="en-US" baseline="0" dirty="0" err="1"/>
              <a:t>trong</a:t>
            </a:r>
            <a:r>
              <a:rPr lang="en-US" baseline="0" dirty="0"/>
              <a:t> </a:t>
            </a:r>
            <a:r>
              <a:rPr lang="en-US" baseline="0" dirty="0" err="1"/>
              <a:t>vùng</a:t>
            </a:r>
            <a:r>
              <a:rPr lang="en-US" baseline="0" dirty="0"/>
              <a:t> </a:t>
            </a:r>
            <a:r>
              <a:rPr lang="en-US" baseline="0" dirty="0" err="1"/>
              <a:t>giới</a:t>
            </a:r>
            <a:r>
              <a:rPr lang="en-US" baseline="0" dirty="0"/>
              <a:t> </a:t>
            </a:r>
            <a:r>
              <a:rPr lang="en-US" baseline="0" dirty="0" err="1"/>
              <a:t>hạn</a:t>
            </a:r>
            <a:r>
              <a:rPr lang="en-US" baseline="0" dirty="0"/>
              <a:t> 6 </a:t>
            </a:r>
            <a:r>
              <a:rPr lang="en-US" baseline="0" dirty="0" err="1"/>
              <a:t>xích</a:t>
            </a:r>
            <a:r>
              <a:rPr lang="en-US" baseline="0" dirty="0"/>
              <a:t>-ma.</a:t>
            </a:r>
          </a:p>
          <a:p>
            <a:endParaRPr lang="en-US" baseline="0" dirty="0"/>
          </a:p>
          <a:p>
            <a:r>
              <a:rPr lang="en-US" baseline="0" dirty="0" err="1"/>
              <a:t>Tìm</a:t>
            </a:r>
            <a:r>
              <a:rPr lang="en-US" baseline="0" dirty="0"/>
              <a:t> </a:t>
            </a:r>
            <a:r>
              <a:rPr lang="en-US" baseline="0" dirty="0" err="1"/>
              <a:t>được</a:t>
            </a:r>
            <a:r>
              <a:rPr lang="en-US" baseline="0" dirty="0"/>
              <a:t> </a:t>
            </a:r>
            <a:r>
              <a:rPr lang="en-US" baseline="0" dirty="0" err="1"/>
              <a:t>chỉ</a:t>
            </a:r>
            <a:r>
              <a:rPr lang="en-US" baseline="0" dirty="0"/>
              <a:t> </a:t>
            </a:r>
            <a:r>
              <a:rPr lang="en-US" baseline="0" dirty="0" err="1"/>
              <a:t>số</a:t>
            </a:r>
            <a:r>
              <a:rPr lang="en-US" baseline="0" dirty="0"/>
              <a:t> </a:t>
            </a:r>
            <a:r>
              <a:rPr lang="en-US" baseline="0" dirty="0" err="1"/>
              <a:t>năng</a:t>
            </a:r>
            <a:r>
              <a:rPr lang="en-US" baseline="0" dirty="0"/>
              <a:t> </a:t>
            </a:r>
            <a:r>
              <a:rPr lang="en-US" baseline="0" dirty="0" err="1"/>
              <a:t>lực</a:t>
            </a:r>
            <a:r>
              <a:rPr lang="en-US" baseline="0" dirty="0"/>
              <a:t> </a:t>
            </a:r>
            <a:r>
              <a:rPr lang="en-US" baseline="0" dirty="0" err="1"/>
              <a:t>quá</a:t>
            </a:r>
            <a:r>
              <a:rPr lang="en-US" baseline="0" dirty="0"/>
              <a:t> </a:t>
            </a:r>
            <a:r>
              <a:rPr lang="en-US" baseline="0" dirty="0" err="1"/>
              <a:t>trình</a:t>
            </a:r>
            <a:r>
              <a:rPr lang="en-US" baseline="0" dirty="0"/>
              <a:t> </a:t>
            </a:r>
            <a:r>
              <a:rPr lang="en-US" baseline="0" dirty="0" err="1"/>
              <a:t>này</a:t>
            </a:r>
            <a:r>
              <a:rPr lang="en-US" baseline="0" dirty="0"/>
              <a:t> </a:t>
            </a:r>
            <a:r>
              <a:rPr lang="en-US" baseline="0" dirty="0" err="1"/>
              <a:t>có</a:t>
            </a:r>
            <a:r>
              <a:rPr lang="en-US" baseline="0" dirty="0"/>
              <a:t> </a:t>
            </a:r>
            <a:r>
              <a:rPr lang="en-US" baseline="0" dirty="0" err="1"/>
              <a:t>thể</a:t>
            </a:r>
            <a:r>
              <a:rPr lang="en-US" baseline="0" dirty="0"/>
              <a:t> </a:t>
            </a:r>
            <a:r>
              <a:rPr lang="en-US" baseline="0" dirty="0" err="1"/>
              <a:t>đánh</a:t>
            </a:r>
            <a:r>
              <a:rPr lang="en-US" baseline="0" dirty="0"/>
              <a:t> </a:t>
            </a:r>
            <a:r>
              <a:rPr lang="en-US" baseline="0" dirty="0" err="1"/>
              <a:t>giá</a:t>
            </a:r>
            <a:r>
              <a:rPr lang="en-US" baseline="0" dirty="0"/>
              <a:t> </a:t>
            </a:r>
            <a:r>
              <a:rPr lang="en-US" baseline="0" dirty="0" err="1"/>
              <a:t>đc</a:t>
            </a:r>
            <a:r>
              <a:rPr lang="en-US" baseline="0" dirty="0"/>
              <a:t> </a:t>
            </a:r>
            <a:r>
              <a:rPr lang="en-US" baseline="0" dirty="0" err="1"/>
              <a:t>ông</a:t>
            </a:r>
            <a:r>
              <a:rPr lang="en-US" baseline="0" dirty="0"/>
              <a:t> A hay B </a:t>
            </a:r>
            <a:r>
              <a:rPr lang="en-US" baseline="0" dirty="0" err="1"/>
              <a:t>tốt</a:t>
            </a:r>
            <a:r>
              <a:rPr lang="en-US" baseline="0" dirty="0"/>
              <a:t>.  Ở LG </a:t>
            </a:r>
            <a:r>
              <a:rPr lang="en-US" baseline="0" dirty="0" err="1"/>
              <a:t>đang</a:t>
            </a:r>
            <a:r>
              <a:rPr lang="en-US" baseline="0" dirty="0"/>
              <a:t> </a:t>
            </a:r>
            <a:r>
              <a:rPr lang="en-US" baseline="0" dirty="0" err="1"/>
              <a:t>đánh</a:t>
            </a:r>
            <a:r>
              <a:rPr lang="en-US" baseline="0" dirty="0"/>
              <a:t> </a:t>
            </a:r>
            <a:r>
              <a:rPr lang="en-US" baseline="0" dirty="0" err="1"/>
              <a:t>giá</a:t>
            </a:r>
            <a:r>
              <a:rPr lang="en-US" baseline="0" dirty="0"/>
              <a:t> </a:t>
            </a:r>
            <a:r>
              <a:rPr lang="en-US" baseline="0" dirty="0" err="1"/>
              <a:t>theo</a:t>
            </a:r>
            <a:r>
              <a:rPr lang="en-US" baseline="0" dirty="0"/>
              <a:t> 3-4 </a:t>
            </a:r>
            <a:r>
              <a:rPr lang="en-US" baseline="0" dirty="0" err="1"/>
              <a:t>xích</a:t>
            </a:r>
            <a:r>
              <a:rPr lang="en-US" baseline="0" dirty="0"/>
              <a:t>-ma.</a:t>
            </a:r>
          </a:p>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218</a:t>
            </a:fld>
            <a:endParaRPr lang="ko-KR" altLang="en-US" dirty="0"/>
          </a:p>
        </p:txBody>
      </p:sp>
    </p:spTree>
    <p:extLst>
      <p:ext uri="{BB962C8B-B14F-4D97-AF65-F5344CB8AC3E}">
        <p14:creationId xmlns:p14="http://schemas.microsoft.com/office/powerpoint/2010/main" val="161496178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err="1"/>
              <a:t>Ký</a:t>
            </a:r>
            <a:r>
              <a:rPr lang="en-US" baseline="0" dirty="0"/>
              <a:t> </a:t>
            </a:r>
            <a:r>
              <a:rPr lang="en-US" baseline="0" dirty="0" err="1"/>
              <a:t>hiệu</a:t>
            </a:r>
            <a:r>
              <a:rPr lang="en-US" baseline="0" dirty="0"/>
              <a:t>: </a:t>
            </a:r>
            <a:r>
              <a:rPr lang="en-US" baseline="0" dirty="0" err="1"/>
              <a:t>chúng</a:t>
            </a:r>
            <a:r>
              <a:rPr lang="en-US" baseline="0" dirty="0"/>
              <a:t> </a:t>
            </a:r>
            <a:r>
              <a:rPr lang="en-US" baseline="0" dirty="0" err="1"/>
              <a:t>ta</a:t>
            </a:r>
            <a:r>
              <a:rPr lang="en-US" baseline="0" dirty="0"/>
              <a:t> </a:t>
            </a:r>
            <a:r>
              <a:rPr lang="en-US" baseline="0" dirty="0" err="1"/>
              <a:t>ký</a:t>
            </a:r>
            <a:r>
              <a:rPr lang="en-US" baseline="0" dirty="0"/>
              <a:t> </a:t>
            </a:r>
            <a:r>
              <a:rPr lang="en-US" baseline="0" dirty="0" err="1"/>
              <a:t>hiệu</a:t>
            </a:r>
            <a:r>
              <a:rPr lang="en-US" baseline="0" dirty="0"/>
              <a:t> </a:t>
            </a:r>
            <a:r>
              <a:rPr lang="en-US" baseline="0" dirty="0" err="1"/>
              <a:t>theo</a:t>
            </a:r>
            <a:r>
              <a:rPr lang="en-US" baseline="0" dirty="0"/>
              <a:t> Six Sigma,</a:t>
            </a:r>
          </a:p>
          <a:p>
            <a:endParaRPr lang="en-US" baseline="0" dirty="0"/>
          </a:p>
          <a:p>
            <a:r>
              <a:rPr lang="en-US" baseline="0" dirty="0" err="1"/>
              <a:t>Zst</a:t>
            </a:r>
            <a:r>
              <a:rPr lang="en-US" baseline="0" dirty="0"/>
              <a:t>, </a:t>
            </a:r>
            <a:r>
              <a:rPr lang="en-US" baseline="0" dirty="0" err="1"/>
              <a:t>Zlt</a:t>
            </a:r>
            <a:r>
              <a:rPr lang="en-US" baseline="0" dirty="0"/>
              <a:t> </a:t>
            </a:r>
            <a:r>
              <a:rPr lang="en-US" baseline="0" dirty="0" err="1"/>
              <a:t>là</a:t>
            </a:r>
            <a:r>
              <a:rPr lang="en-US" baseline="0" dirty="0"/>
              <a:t> </a:t>
            </a:r>
            <a:r>
              <a:rPr lang="en-US" baseline="0" dirty="0" err="1"/>
              <a:t>gì</a:t>
            </a:r>
            <a:r>
              <a:rPr lang="en-US" baseline="0" dirty="0"/>
              <a:t>. </a:t>
            </a:r>
            <a:r>
              <a:rPr lang="en-US" baseline="0" dirty="0" err="1"/>
              <a:t>Vậy</a:t>
            </a:r>
            <a:r>
              <a:rPr lang="en-US" baseline="0" dirty="0"/>
              <a:t> Z </a:t>
            </a:r>
            <a:r>
              <a:rPr lang="en-US" baseline="0" dirty="0" err="1"/>
              <a:t>nào</a:t>
            </a:r>
            <a:r>
              <a:rPr lang="en-US" baseline="0" dirty="0"/>
              <a:t> </a:t>
            </a:r>
            <a:r>
              <a:rPr lang="en-US" baseline="0" dirty="0" err="1"/>
              <a:t>cao</a:t>
            </a:r>
            <a:r>
              <a:rPr lang="en-US" baseline="0" dirty="0"/>
              <a:t> </a:t>
            </a:r>
            <a:r>
              <a:rPr lang="en-US" baseline="0" dirty="0" err="1"/>
              <a:t>hơn</a:t>
            </a:r>
            <a:r>
              <a:rPr lang="en-US" baseline="0" dirty="0"/>
              <a:t>? </a:t>
            </a:r>
            <a:r>
              <a:rPr lang="en-US" baseline="0" dirty="0" err="1"/>
              <a:t>Zst</a:t>
            </a:r>
            <a:r>
              <a:rPr lang="en-US" baseline="0" dirty="0"/>
              <a:t>. </a:t>
            </a:r>
            <a:br>
              <a:rPr lang="en-US" baseline="0" dirty="0"/>
            </a:br>
            <a:r>
              <a:rPr lang="en-US" baseline="0" dirty="0"/>
              <a:t>Ở </a:t>
            </a:r>
            <a:r>
              <a:rPr lang="en-US" baseline="0" dirty="0" err="1"/>
              <a:t>hàn</a:t>
            </a:r>
            <a:r>
              <a:rPr lang="en-US" baseline="0" dirty="0"/>
              <a:t> </a:t>
            </a:r>
            <a:r>
              <a:rPr lang="en-US" baseline="0" dirty="0" err="1"/>
              <a:t>không</a:t>
            </a:r>
            <a:r>
              <a:rPr lang="en-US" baseline="0" dirty="0"/>
              <a:t> </a:t>
            </a:r>
            <a:r>
              <a:rPr lang="en-US" baseline="0" dirty="0" err="1"/>
              <a:t>dùng</a:t>
            </a:r>
            <a:r>
              <a:rPr lang="en-US" baseline="0" dirty="0"/>
              <a:t> </a:t>
            </a:r>
            <a:r>
              <a:rPr lang="en-US" baseline="0" dirty="0" err="1"/>
              <a:t>Zst</a:t>
            </a:r>
            <a:r>
              <a:rPr lang="en-US" baseline="0" dirty="0"/>
              <a:t> hay </a:t>
            </a:r>
            <a:r>
              <a:rPr lang="en-US" baseline="0" dirty="0" err="1"/>
              <a:t>lt</a:t>
            </a:r>
            <a:r>
              <a:rPr lang="en-US" baseline="0" dirty="0"/>
              <a:t>, </a:t>
            </a:r>
            <a:r>
              <a:rPr lang="en-US" baseline="0" dirty="0" err="1"/>
              <a:t>mà</a:t>
            </a:r>
            <a:r>
              <a:rPr lang="en-US" baseline="0" dirty="0"/>
              <a:t> </a:t>
            </a:r>
            <a:r>
              <a:rPr lang="en-US" baseline="0" dirty="0" err="1"/>
              <a:t>dùng</a:t>
            </a:r>
            <a:r>
              <a:rPr lang="en-US" baseline="0" dirty="0"/>
              <a:t> </a:t>
            </a:r>
            <a:r>
              <a:rPr lang="en-US" baseline="0" dirty="0" err="1"/>
              <a:t>Zbench</a:t>
            </a:r>
            <a:r>
              <a:rPr lang="en-US" baseline="0" dirty="0"/>
              <a:t>. Z </a:t>
            </a:r>
            <a:r>
              <a:rPr lang="en-US" baseline="0" dirty="0" err="1"/>
              <a:t>đã</a:t>
            </a:r>
            <a:r>
              <a:rPr lang="en-US" baseline="0" dirty="0"/>
              <a:t> </a:t>
            </a:r>
            <a:r>
              <a:rPr lang="en-US" baseline="0" dirty="0" err="1"/>
              <a:t>học</a:t>
            </a:r>
            <a:r>
              <a:rPr lang="en-US" baseline="0" dirty="0"/>
              <a:t> ở mod2, </a:t>
            </a:r>
            <a:r>
              <a:rPr lang="en-US" baseline="0" dirty="0" err="1"/>
              <a:t>tính</a:t>
            </a:r>
            <a:r>
              <a:rPr lang="en-US" baseline="0" dirty="0"/>
              <a:t> Z </a:t>
            </a:r>
            <a:r>
              <a:rPr lang="en-US" baseline="0" dirty="0" err="1"/>
              <a:t>để</a:t>
            </a:r>
            <a:r>
              <a:rPr lang="en-US" baseline="0" dirty="0"/>
              <a:t> </a:t>
            </a:r>
            <a:r>
              <a:rPr lang="en-US" baseline="0" dirty="0" err="1"/>
              <a:t>làm</a:t>
            </a:r>
            <a:r>
              <a:rPr lang="en-US" baseline="0" dirty="0"/>
              <a:t> </a:t>
            </a:r>
            <a:r>
              <a:rPr lang="en-US" baseline="0" dirty="0" err="1"/>
              <a:t>gì</a:t>
            </a:r>
            <a:r>
              <a:rPr lang="en-US" baseline="0" dirty="0"/>
              <a:t>?</a:t>
            </a:r>
          </a:p>
          <a:p>
            <a:r>
              <a:rPr lang="en-US" baseline="0" dirty="0" err="1"/>
              <a:t>từ</a:t>
            </a:r>
            <a:r>
              <a:rPr lang="en-US" baseline="0" dirty="0"/>
              <a:t> Z ~&gt; </a:t>
            </a:r>
            <a:r>
              <a:rPr lang="en-US" baseline="0" dirty="0" err="1"/>
              <a:t>xác</a:t>
            </a:r>
            <a:r>
              <a:rPr lang="en-US" baseline="0" dirty="0"/>
              <a:t> </a:t>
            </a:r>
            <a:r>
              <a:rPr lang="en-US" baseline="0" dirty="0" err="1"/>
              <a:t>suất</a:t>
            </a:r>
            <a:r>
              <a:rPr lang="en-US" baseline="0" dirty="0"/>
              <a:t> </a:t>
            </a:r>
            <a:r>
              <a:rPr lang="en-US" baseline="0" dirty="0" err="1"/>
              <a:t>để</a:t>
            </a:r>
            <a:r>
              <a:rPr lang="en-US" baseline="0" dirty="0"/>
              <a:t> sp </a:t>
            </a:r>
            <a:r>
              <a:rPr lang="en-US" baseline="0" dirty="0" err="1"/>
              <a:t>bị</a:t>
            </a:r>
            <a:r>
              <a:rPr lang="en-US" baseline="0" dirty="0"/>
              <a:t> NG</a:t>
            </a:r>
          </a:p>
          <a:p>
            <a:endParaRPr lang="en-US" baseline="0" dirty="0"/>
          </a:p>
          <a:p>
            <a:r>
              <a:rPr lang="en-US" baseline="0" dirty="0" err="1"/>
              <a:t>Tại</a:t>
            </a:r>
            <a:r>
              <a:rPr lang="en-US" baseline="0" dirty="0"/>
              <a:t> </a:t>
            </a:r>
            <a:r>
              <a:rPr lang="en-US" baseline="0" dirty="0" err="1"/>
              <a:t>sao</a:t>
            </a:r>
            <a:r>
              <a:rPr lang="en-US" baseline="0" dirty="0"/>
              <a:t> </a:t>
            </a:r>
            <a:r>
              <a:rPr lang="en-US" baseline="0" dirty="0" err="1"/>
              <a:t>phải</a:t>
            </a:r>
            <a:r>
              <a:rPr lang="en-US" baseline="0" dirty="0"/>
              <a:t> </a:t>
            </a:r>
            <a:r>
              <a:rPr lang="en-US" baseline="0" dirty="0" err="1"/>
              <a:t>đánh</a:t>
            </a:r>
            <a:r>
              <a:rPr lang="en-US" baseline="0" dirty="0"/>
              <a:t> </a:t>
            </a:r>
            <a:r>
              <a:rPr lang="en-US" baseline="0" dirty="0" err="1"/>
              <a:t>giá</a:t>
            </a:r>
            <a:r>
              <a:rPr lang="en-US" baseline="0" dirty="0"/>
              <a:t> </a:t>
            </a:r>
            <a:r>
              <a:rPr lang="en-US" baseline="0" dirty="0" err="1"/>
              <a:t>năng</a:t>
            </a:r>
            <a:r>
              <a:rPr lang="en-US" baseline="0" dirty="0"/>
              <a:t> </a:t>
            </a:r>
            <a:r>
              <a:rPr lang="en-US" baseline="0" dirty="0" err="1"/>
              <a:t>lực</a:t>
            </a:r>
            <a:r>
              <a:rPr lang="en-US" baseline="0" dirty="0"/>
              <a:t> </a:t>
            </a:r>
            <a:r>
              <a:rPr lang="en-US" baseline="0" dirty="0" err="1"/>
              <a:t>quá</a:t>
            </a:r>
            <a:r>
              <a:rPr lang="en-US" baseline="0" dirty="0"/>
              <a:t> </a:t>
            </a:r>
            <a:r>
              <a:rPr lang="en-US" baseline="0" dirty="0" err="1"/>
              <a:t>trình</a:t>
            </a:r>
            <a:r>
              <a:rPr lang="en-US" baseline="0" dirty="0"/>
              <a:t>:</a:t>
            </a:r>
          </a:p>
          <a:p>
            <a:pPr>
              <a:buFontTx/>
              <a:buChar char="-"/>
            </a:pPr>
            <a:r>
              <a:rPr lang="en-US" dirty="0"/>
              <a:t> </a:t>
            </a:r>
            <a:r>
              <a:rPr lang="en-US" dirty="0" err="1"/>
              <a:t>Lượng</a:t>
            </a:r>
            <a:r>
              <a:rPr lang="en-US" baseline="0" dirty="0"/>
              <a:t> </a:t>
            </a:r>
            <a:r>
              <a:rPr lang="en-US" baseline="0" dirty="0" err="1"/>
              <a:t>hóa</a:t>
            </a:r>
            <a:r>
              <a:rPr lang="en-US" baseline="0" dirty="0"/>
              <a:t> </a:t>
            </a:r>
            <a:r>
              <a:rPr lang="en-US" baseline="0" dirty="0" err="1"/>
              <a:t>các</a:t>
            </a:r>
            <a:r>
              <a:rPr lang="en-US" baseline="0" dirty="0"/>
              <a:t> </a:t>
            </a:r>
            <a:r>
              <a:rPr lang="vi-VN" dirty="0"/>
              <a:t>khả năng để sản xuất các sản phẩm tốt</a:t>
            </a:r>
            <a:endParaRPr lang="en-US" dirty="0"/>
          </a:p>
          <a:p>
            <a:pPr>
              <a:buFontTx/>
              <a:buChar char="-"/>
            </a:pPr>
            <a:r>
              <a:rPr lang="en-US" dirty="0"/>
              <a:t> </a:t>
            </a:r>
            <a:r>
              <a:rPr lang="vi-VN" dirty="0"/>
              <a:t>Một tiêu chuẩn cho hiệu ứng cải tiến có thể được so sánh</a:t>
            </a:r>
            <a:endParaRPr lang="en-US" dirty="0"/>
          </a:p>
          <a:p>
            <a:pPr>
              <a:buFontTx/>
              <a:buChar char="-"/>
            </a:pPr>
            <a:r>
              <a:rPr lang="en-US" dirty="0"/>
              <a:t> </a:t>
            </a:r>
            <a:r>
              <a:rPr lang="vi-VN" dirty="0"/>
              <a:t>Để so sánh với các công ty khác nhau và các đơn vị kinh doanh</a:t>
            </a:r>
            <a:endParaRPr lang="en-US" dirty="0"/>
          </a:p>
          <a:p>
            <a:pPr>
              <a:buFontTx/>
              <a:buChar char="-"/>
            </a:pPr>
            <a:r>
              <a:rPr lang="en-US" dirty="0"/>
              <a:t> </a:t>
            </a:r>
            <a:r>
              <a:rPr lang="vi-VN" dirty="0"/>
              <a:t>Đối với việc quyết định xem vấn đề nằm với công nghệ hoặc quản lý</a:t>
            </a:r>
            <a:endParaRPr lang="en-US" dirty="0"/>
          </a:p>
          <a:p>
            <a:pPr>
              <a:buFontTx/>
              <a:buChar char="-"/>
            </a:pPr>
            <a:endParaRPr lang="en-US" baseline="0"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219</a:t>
            </a:fld>
            <a:endParaRPr lang="ko-KR" altLang="en-US" dirty="0"/>
          </a:p>
        </p:txBody>
      </p:sp>
    </p:spTree>
    <p:extLst>
      <p:ext uri="{BB962C8B-B14F-4D97-AF65-F5344CB8AC3E}">
        <p14:creationId xmlns:p14="http://schemas.microsoft.com/office/powerpoint/2010/main" val="2849938143"/>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220</a:t>
            </a:fld>
            <a:endParaRPr lang="ko-KR" altLang="en-US" dirty="0"/>
          </a:p>
        </p:txBody>
      </p:sp>
    </p:spTree>
    <p:extLst>
      <p:ext uri="{BB962C8B-B14F-4D97-AF65-F5344CB8AC3E}">
        <p14:creationId xmlns:p14="http://schemas.microsoft.com/office/powerpoint/2010/main" val="76777423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t>
            </a:r>
            <a:r>
              <a:rPr lang="en-US" dirty="0" err="1"/>
              <a:t>số</a:t>
            </a:r>
            <a:r>
              <a:rPr lang="en-US" dirty="0"/>
              <a:t> </a:t>
            </a:r>
            <a:r>
              <a:rPr lang="en-US" dirty="0" err="1"/>
              <a:t>lượng</a:t>
            </a:r>
            <a:r>
              <a:rPr lang="en-US" dirty="0"/>
              <a:t> </a:t>
            </a:r>
            <a:r>
              <a:rPr lang="en-US" dirty="0" err="1"/>
              <a:t>phải</a:t>
            </a:r>
            <a:r>
              <a:rPr lang="en-US" dirty="0"/>
              <a:t> </a:t>
            </a:r>
            <a:br>
              <a:rPr lang="en-US" dirty="0"/>
            </a:br>
            <a:r>
              <a:rPr lang="en-US" dirty="0"/>
              <a:t>- </a:t>
            </a:r>
            <a:r>
              <a:rPr lang="en-US" dirty="0" err="1"/>
              <a:t>dồ</a:t>
            </a:r>
            <a:r>
              <a:rPr lang="en-US" dirty="0"/>
              <a:t> </a:t>
            </a:r>
            <a:r>
              <a:rPr lang="en-US" dirty="0" err="1"/>
              <a:t>thị</a:t>
            </a:r>
            <a:r>
              <a:rPr lang="en-US" dirty="0"/>
              <a:t> </a:t>
            </a:r>
            <a:r>
              <a:rPr lang="en-US" dirty="0" err="1"/>
              <a:t>phải</a:t>
            </a:r>
            <a:r>
              <a:rPr lang="en-US" dirty="0"/>
              <a:t> </a:t>
            </a:r>
            <a:r>
              <a:rPr lang="en-US" dirty="0" err="1"/>
              <a:t>nằm</a:t>
            </a:r>
            <a:r>
              <a:rPr lang="en-US" dirty="0"/>
              <a:t> </a:t>
            </a:r>
            <a:r>
              <a:rPr lang="en-US" dirty="0" err="1"/>
              <a:t>trong</a:t>
            </a:r>
            <a:r>
              <a:rPr lang="en-US" dirty="0"/>
              <a:t> control limit</a:t>
            </a:r>
          </a:p>
          <a:p>
            <a:endParaRPr lang="en-US" dirty="0"/>
          </a:p>
        </p:txBody>
      </p:sp>
      <p:sp>
        <p:nvSpPr>
          <p:cNvPr id="4" name="Footer Placeholder 3"/>
          <p:cNvSpPr>
            <a:spLocks noGrp="1"/>
          </p:cNvSpPr>
          <p:nvPr>
            <p:ph type="ftr" sz="quarter" idx="4"/>
          </p:nvPr>
        </p:nvSpPr>
        <p:spPr/>
        <p:txBody>
          <a:bodyPr/>
          <a:lstStyle/>
          <a:p>
            <a:pPr>
              <a:defRPr/>
            </a:pPr>
            <a:endParaRPr lang="ko-KR" altLang="en-US" dirty="0"/>
          </a:p>
        </p:txBody>
      </p:sp>
      <p:sp>
        <p:nvSpPr>
          <p:cNvPr id="5" name="Slide Number Placeholder 4"/>
          <p:cNvSpPr>
            <a:spLocks noGrp="1"/>
          </p:cNvSpPr>
          <p:nvPr>
            <p:ph type="sldNum" sz="quarter" idx="5"/>
          </p:nvPr>
        </p:nvSpPr>
        <p:spPr/>
        <p:txBody>
          <a:bodyPr/>
          <a:lstStyle/>
          <a:p>
            <a:pPr>
              <a:defRPr/>
            </a:pPr>
            <a:fld id="{57D61B13-DF71-4CDB-8E21-B10FB1C732E6}" type="slidenum">
              <a:rPr lang="ko-KR" altLang="en-US" smtClean="0"/>
              <a:pPr>
                <a:defRPr/>
              </a:pPr>
              <a:t>221</a:t>
            </a:fld>
            <a:endParaRPr lang="ko-KR" altLang="en-US" dirty="0"/>
          </a:p>
        </p:txBody>
      </p:sp>
    </p:spTree>
    <p:extLst>
      <p:ext uri="{BB962C8B-B14F-4D97-AF65-F5344CB8AC3E}">
        <p14:creationId xmlns:p14="http://schemas.microsoft.com/office/powerpoint/2010/main" val="36802261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err="1"/>
              <a:t>Giả</a:t>
            </a:r>
            <a:r>
              <a:rPr lang="en-US" baseline="0" dirty="0"/>
              <a:t> </a:t>
            </a:r>
            <a:r>
              <a:rPr lang="en-US" baseline="0" dirty="0" err="1"/>
              <a:t>sử</a:t>
            </a:r>
            <a:r>
              <a:rPr lang="en-US" baseline="0" dirty="0"/>
              <a:t> </a:t>
            </a:r>
            <a:r>
              <a:rPr lang="en-US" baseline="0" dirty="0" err="1"/>
              <a:t>tính</a:t>
            </a:r>
            <a:r>
              <a:rPr lang="en-US" baseline="0" dirty="0"/>
              <a:t> Z </a:t>
            </a:r>
            <a:r>
              <a:rPr lang="en-US" baseline="0" dirty="0" err="1"/>
              <a:t>tại</a:t>
            </a:r>
            <a:r>
              <a:rPr lang="en-US" baseline="0" dirty="0"/>
              <a:t> </a:t>
            </a:r>
            <a:r>
              <a:rPr lang="en-US" baseline="0" dirty="0" err="1"/>
              <a:t>điểm</a:t>
            </a:r>
            <a:r>
              <a:rPr lang="en-US" baseline="0" dirty="0"/>
              <a:t> </a:t>
            </a:r>
            <a:r>
              <a:rPr lang="en-US" baseline="0" dirty="0" err="1"/>
              <a:t>giới</a:t>
            </a:r>
            <a:r>
              <a:rPr lang="en-US" baseline="0" dirty="0"/>
              <a:t> </a:t>
            </a:r>
            <a:r>
              <a:rPr lang="en-US" baseline="0" dirty="0" err="1"/>
              <a:t>hạn</a:t>
            </a:r>
            <a:r>
              <a:rPr lang="en-US" baseline="0" dirty="0"/>
              <a:t> </a:t>
            </a:r>
            <a:r>
              <a:rPr lang="en-US" baseline="0" dirty="0" err="1"/>
              <a:t>trên</a:t>
            </a:r>
            <a:r>
              <a:rPr lang="en-US" baseline="0" dirty="0"/>
              <a:t> </a:t>
            </a:r>
            <a:r>
              <a:rPr lang="en-US" baseline="0" dirty="0" err="1"/>
              <a:t>và</a:t>
            </a:r>
            <a:r>
              <a:rPr lang="en-US" baseline="0" dirty="0"/>
              <a:t> </a:t>
            </a:r>
            <a:r>
              <a:rPr lang="en-US" baseline="0" dirty="0" err="1"/>
              <a:t>điểm</a:t>
            </a:r>
            <a:r>
              <a:rPr lang="en-US" baseline="0" dirty="0"/>
              <a:t> </a:t>
            </a:r>
            <a:r>
              <a:rPr lang="en-US" baseline="0" dirty="0" err="1"/>
              <a:t>giới</a:t>
            </a:r>
            <a:r>
              <a:rPr lang="en-US" baseline="0" dirty="0"/>
              <a:t> </a:t>
            </a:r>
            <a:r>
              <a:rPr lang="en-US" baseline="0" dirty="0" err="1"/>
              <a:t>hạn</a:t>
            </a:r>
            <a:r>
              <a:rPr lang="en-US" baseline="0" dirty="0"/>
              <a:t> </a:t>
            </a:r>
            <a:r>
              <a:rPr lang="en-US" baseline="0" dirty="0" err="1"/>
              <a:t>dưới</a:t>
            </a:r>
            <a:r>
              <a:rPr lang="en-US" baseline="0" dirty="0"/>
              <a:t>.</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228</a:t>
            </a:fld>
            <a:endParaRPr lang="ko-KR" altLang="en-US" dirty="0"/>
          </a:p>
        </p:txBody>
      </p:sp>
    </p:spTree>
    <p:extLst>
      <p:ext uri="{BB962C8B-B14F-4D97-AF65-F5344CB8AC3E}">
        <p14:creationId xmlns:p14="http://schemas.microsoft.com/office/powerpoint/2010/main" val="404227451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85000" lnSpcReduction="20000"/>
          </a:bodyPr>
          <a:lstStyle/>
          <a:p>
            <a:r>
              <a:rPr lang="en-US" dirty="0" err="1"/>
              <a:t>Đọc</a:t>
            </a:r>
            <a:r>
              <a:rPr lang="en-US" baseline="0" dirty="0"/>
              <a:t> </a:t>
            </a:r>
            <a:r>
              <a:rPr lang="en-US" baseline="0" dirty="0" err="1"/>
              <a:t>dịch</a:t>
            </a:r>
            <a:endParaRPr lang="en-US" baseline="0" dirty="0"/>
          </a:p>
          <a:p>
            <a:endParaRPr lang="en-US" baseline="0" dirty="0"/>
          </a:p>
          <a:p>
            <a:r>
              <a:rPr lang="en-US" baseline="0" dirty="0" err="1"/>
              <a:t>Giải</a:t>
            </a:r>
            <a:r>
              <a:rPr lang="en-US" baseline="0" dirty="0"/>
              <a:t> </a:t>
            </a:r>
            <a:r>
              <a:rPr lang="en-US" baseline="0" dirty="0" err="1"/>
              <a:t>quyết</a:t>
            </a:r>
            <a:r>
              <a:rPr lang="en-US" baseline="0" dirty="0"/>
              <a:t> </a:t>
            </a:r>
            <a:r>
              <a:rPr lang="en-US" baseline="0" dirty="0" err="1"/>
              <a:t>bài</a:t>
            </a:r>
            <a:r>
              <a:rPr lang="en-US" baseline="0" dirty="0"/>
              <a:t> </a:t>
            </a:r>
            <a:r>
              <a:rPr lang="en-US" baseline="0" dirty="0" err="1"/>
              <a:t>toán</a:t>
            </a:r>
            <a:r>
              <a:rPr lang="en-US" baseline="0" dirty="0"/>
              <a:t>,</a:t>
            </a:r>
          </a:p>
          <a:p>
            <a:r>
              <a:rPr lang="en-US" baseline="0" dirty="0" err="1"/>
              <a:t>Nhắc</a:t>
            </a:r>
            <a:r>
              <a:rPr lang="en-US" baseline="0" dirty="0"/>
              <a:t> </a:t>
            </a:r>
            <a:r>
              <a:rPr lang="en-US" baseline="0" dirty="0" err="1"/>
              <a:t>lại</a:t>
            </a:r>
            <a:r>
              <a:rPr lang="en-US" baseline="0" dirty="0"/>
              <a:t>, </a:t>
            </a:r>
            <a:r>
              <a:rPr lang="en-US" baseline="0" dirty="0" err="1"/>
              <a:t>Công</a:t>
            </a:r>
            <a:r>
              <a:rPr lang="en-US" baseline="0" dirty="0"/>
              <a:t> </a:t>
            </a:r>
            <a:r>
              <a:rPr lang="en-US" baseline="0" dirty="0" err="1"/>
              <a:t>thức</a:t>
            </a:r>
            <a:r>
              <a:rPr lang="en-US" baseline="0" dirty="0"/>
              <a:t> </a:t>
            </a:r>
            <a:r>
              <a:rPr lang="en-US" baseline="0" dirty="0" err="1"/>
              <a:t>để</a:t>
            </a:r>
            <a:r>
              <a:rPr lang="en-US" baseline="0" dirty="0"/>
              <a:t> </a:t>
            </a:r>
            <a:r>
              <a:rPr lang="en-US" baseline="0" dirty="0" err="1"/>
              <a:t>tính</a:t>
            </a:r>
            <a:r>
              <a:rPr lang="en-US" baseline="0" dirty="0"/>
              <a:t> Z=?</a:t>
            </a:r>
          </a:p>
          <a:p>
            <a:r>
              <a:rPr lang="en-US" baseline="0" dirty="0"/>
              <a:t>Z= X-M/</a:t>
            </a:r>
            <a:r>
              <a:rPr lang="en-US" baseline="0" dirty="0" err="1"/>
              <a:t>anpha</a:t>
            </a:r>
            <a:endParaRPr lang="en-US" baseline="0" dirty="0"/>
          </a:p>
          <a:p>
            <a:r>
              <a:rPr lang="en-US" baseline="0" dirty="0" err="1"/>
              <a:t>Đầu</a:t>
            </a:r>
            <a:r>
              <a:rPr lang="en-US" baseline="0" dirty="0"/>
              <a:t> </a:t>
            </a:r>
            <a:r>
              <a:rPr lang="en-US" baseline="0" dirty="0" err="1"/>
              <a:t>tiên</a:t>
            </a:r>
            <a:r>
              <a:rPr lang="en-US" baseline="0" dirty="0"/>
              <a:t> </a:t>
            </a:r>
            <a:r>
              <a:rPr lang="en-US" baseline="0" dirty="0" err="1"/>
              <a:t>cần</a:t>
            </a:r>
            <a:r>
              <a:rPr lang="en-US" baseline="0" dirty="0"/>
              <a:t> </a:t>
            </a:r>
            <a:r>
              <a:rPr lang="en-US" baseline="0" dirty="0" err="1"/>
              <a:t>kiểm</a:t>
            </a:r>
            <a:r>
              <a:rPr lang="en-US" baseline="0" dirty="0"/>
              <a:t> </a:t>
            </a:r>
            <a:r>
              <a:rPr lang="en-US" baseline="0" dirty="0" err="1"/>
              <a:t>tra</a:t>
            </a:r>
            <a:r>
              <a:rPr lang="en-US" baseline="0" dirty="0"/>
              <a:t> </a:t>
            </a:r>
            <a:r>
              <a:rPr lang="en-US" baseline="0" dirty="0" err="1"/>
              <a:t>Pvalue</a:t>
            </a:r>
            <a:r>
              <a:rPr lang="en-US" baseline="0" dirty="0"/>
              <a:t>? </a:t>
            </a:r>
            <a:r>
              <a:rPr lang="en-US" baseline="0" dirty="0" err="1"/>
              <a:t>Xem</a:t>
            </a:r>
            <a:r>
              <a:rPr lang="en-US" baseline="0" dirty="0"/>
              <a:t> </a:t>
            </a:r>
            <a:r>
              <a:rPr lang="en-US" baseline="0" dirty="0" err="1"/>
              <a:t>số</a:t>
            </a:r>
            <a:r>
              <a:rPr lang="en-US" baseline="0" dirty="0"/>
              <a:t> </a:t>
            </a:r>
            <a:r>
              <a:rPr lang="en-US" baseline="0" dirty="0" err="1"/>
              <a:t>liệu</a:t>
            </a:r>
            <a:r>
              <a:rPr lang="en-US" baseline="0" dirty="0"/>
              <a:t> </a:t>
            </a:r>
            <a:r>
              <a:rPr lang="en-US" baseline="0" dirty="0" err="1"/>
              <a:t>này</a:t>
            </a:r>
            <a:r>
              <a:rPr lang="en-US" baseline="0" dirty="0"/>
              <a:t> </a:t>
            </a:r>
            <a:r>
              <a:rPr lang="en-US" baseline="0" dirty="0" err="1"/>
              <a:t>có</a:t>
            </a:r>
            <a:r>
              <a:rPr lang="en-US" baseline="0" dirty="0"/>
              <a:t> </a:t>
            </a:r>
            <a:r>
              <a:rPr lang="en-US" baseline="0" dirty="0" err="1"/>
              <a:t>thể</a:t>
            </a:r>
            <a:r>
              <a:rPr lang="en-US" baseline="0" dirty="0"/>
              <a:t> </a:t>
            </a:r>
            <a:r>
              <a:rPr lang="en-US" baseline="0" dirty="0" err="1"/>
              <a:t>sử</a:t>
            </a:r>
            <a:r>
              <a:rPr lang="en-US" baseline="0" dirty="0"/>
              <a:t> </a:t>
            </a:r>
            <a:r>
              <a:rPr lang="en-US" baseline="0" dirty="0" err="1"/>
              <a:t>dụng</a:t>
            </a:r>
            <a:r>
              <a:rPr lang="en-US" baseline="0" dirty="0"/>
              <a:t> </a:t>
            </a:r>
            <a:r>
              <a:rPr lang="en-US" baseline="0" dirty="0" err="1"/>
              <a:t>được</a:t>
            </a:r>
            <a:r>
              <a:rPr lang="en-US" baseline="0" dirty="0"/>
              <a:t> hay </a:t>
            </a:r>
            <a:r>
              <a:rPr lang="en-US" baseline="0" dirty="0" err="1"/>
              <a:t>không</a:t>
            </a:r>
            <a:r>
              <a:rPr lang="en-US" baseline="0" dirty="0"/>
              <a:t>?</a:t>
            </a:r>
          </a:p>
          <a:p>
            <a:r>
              <a:rPr lang="en-US" baseline="0" dirty="0" err="1"/>
              <a:t>Lưu</a:t>
            </a:r>
            <a:r>
              <a:rPr lang="en-US" baseline="0" dirty="0"/>
              <a:t> ý </a:t>
            </a:r>
            <a:r>
              <a:rPr lang="en-US" baseline="0" dirty="0" err="1"/>
              <a:t>tất</a:t>
            </a:r>
            <a:r>
              <a:rPr lang="en-US" baseline="0" dirty="0"/>
              <a:t> </a:t>
            </a:r>
            <a:r>
              <a:rPr lang="en-US" baseline="0" dirty="0" err="1"/>
              <a:t>cả</a:t>
            </a:r>
            <a:r>
              <a:rPr lang="en-US" baseline="0" dirty="0"/>
              <a:t> </a:t>
            </a:r>
            <a:r>
              <a:rPr lang="en-US" baseline="0" dirty="0" err="1"/>
              <a:t>các</a:t>
            </a:r>
            <a:r>
              <a:rPr lang="en-US" baseline="0" dirty="0"/>
              <a:t> </a:t>
            </a:r>
            <a:r>
              <a:rPr lang="en-US" baseline="0" dirty="0" err="1"/>
              <a:t>dữ</a:t>
            </a:r>
            <a:r>
              <a:rPr lang="en-US" baseline="0" dirty="0"/>
              <a:t> </a:t>
            </a:r>
            <a:r>
              <a:rPr lang="en-US" baseline="0" dirty="0" err="1"/>
              <a:t>liệu</a:t>
            </a:r>
            <a:r>
              <a:rPr lang="en-US" baseline="0" dirty="0"/>
              <a:t> </a:t>
            </a:r>
            <a:r>
              <a:rPr lang="en-US" baseline="0" dirty="0" err="1"/>
              <a:t>trên</a:t>
            </a:r>
            <a:r>
              <a:rPr lang="en-US" baseline="0" dirty="0"/>
              <a:t> </a:t>
            </a:r>
            <a:r>
              <a:rPr lang="en-US" baseline="0" dirty="0" err="1"/>
              <a:t>phải</a:t>
            </a:r>
            <a:r>
              <a:rPr lang="en-US" baseline="0" dirty="0"/>
              <a:t> </a:t>
            </a:r>
            <a:r>
              <a:rPr lang="en-US" baseline="0" dirty="0" err="1"/>
              <a:t>được</a:t>
            </a:r>
            <a:r>
              <a:rPr lang="en-US" baseline="0" dirty="0"/>
              <a:t> </a:t>
            </a:r>
            <a:r>
              <a:rPr lang="en-US" baseline="0" dirty="0" err="1"/>
              <a:t>nhập</a:t>
            </a:r>
            <a:r>
              <a:rPr lang="en-US" baseline="0" dirty="0"/>
              <a:t> </a:t>
            </a:r>
            <a:r>
              <a:rPr lang="en-US" baseline="0" dirty="0" err="1"/>
              <a:t>trên</a:t>
            </a:r>
            <a:r>
              <a:rPr lang="en-US" baseline="0" dirty="0"/>
              <a:t> </a:t>
            </a:r>
            <a:r>
              <a:rPr lang="en-US" baseline="0" dirty="0" err="1"/>
              <a:t>một</a:t>
            </a:r>
            <a:r>
              <a:rPr lang="en-US" baseline="0" dirty="0"/>
              <a:t> </a:t>
            </a:r>
            <a:r>
              <a:rPr lang="en-US" baseline="0" dirty="0" err="1"/>
              <a:t>cột</a:t>
            </a:r>
            <a:r>
              <a:rPr lang="en-US" baseline="0" dirty="0"/>
              <a:t> </a:t>
            </a:r>
            <a:r>
              <a:rPr lang="en-US" baseline="0" dirty="0" err="1"/>
              <a:t>thì</a:t>
            </a:r>
            <a:r>
              <a:rPr lang="en-US" baseline="0" dirty="0"/>
              <a:t> </a:t>
            </a:r>
            <a:r>
              <a:rPr lang="en-US" baseline="0" dirty="0" err="1"/>
              <a:t>minitab</a:t>
            </a:r>
            <a:r>
              <a:rPr lang="en-US" baseline="0" dirty="0"/>
              <a:t> </a:t>
            </a:r>
            <a:r>
              <a:rPr lang="en-US" baseline="0" dirty="0" err="1"/>
              <a:t>mới</a:t>
            </a:r>
            <a:r>
              <a:rPr lang="en-US" baseline="0" dirty="0"/>
              <a:t> </a:t>
            </a:r>
            <a:r>
              <a:rPr lang="en-US" baseline="0" dirty="0" err="1"/>
              <a:t>có</a:t>
            </a:r>
            <a:r>
              <a:rPr lang="en-US" baseline="0" dirty="0"/>
              <a:t> </a:t>
            </a:r>
            <a:r>
              <a:rPr lang="en-US" baseline="0" dirty="0" err="1"/>
              <a:t>thể</a:t>
            </a:r>
            <a:r>
              <a:rPr lang="en-US" baseline="0" dirty="0"/>
              <a:t> </a:t>
            </a:r>
            <a:r>
              <a:rPr lang="en-US" baseline="0" dirty="0" err="1"/>
              <a:t>xử</a:t>
            </a:r>
            <a:r>
              <a:rPr lang="en-US" baseline="0" dirty="0"/>
              <a:t> </a:t>
            </a:r>
            <a:r>
              <a:rPr lang="en-US" baseline="0" dirty="0" err="1"/>
              <a:t>lý</a:t>
            </a:r>
            <a:r>
              <a:rPr lang="en-US" baseline="0" dirty="0"/>
              <a:t> </a:t>
            </a:r>
            <a:r>
              <a:rPr lang="en-US" baseline="0" dirty="0" err="1"/>
              <a:t>được</a:t>
            </a:r>
            <a:r>
              <a:rPr lang="en-US" baseline="0" dirty="0"/>
              <a:t>.</a:t>
            </a:r>
          </a:p>
          <a:p>
            <a:endParaRPr lang="en-US" baseline="0" dirty="0"/>
          </a:p>
          <a:p>
            <a:r>
              <a:rPr lang="en-US" baseline="0" dirty="0" err="1"/>
              <a:t>Mn</a:t>
            </a:r>
            <a:r>
              <a:rPr lang="en-US" baseline="0" dirty="0"/>
              <a:t> </a:t>
            </a:r>
            <a:r>
              <a:rPr lang="en-US" baseline="0" dirty="0" err="1"/>
              <a:t>nhớ</a:t>
            </a:r>
            <a:r>
              <a:rPr lang="en-US" baseline="0" dirty="0"/>
              <a:t> </a:t>
            </a:r>
            <a:r>
              <a:rPr lang="en-US" baseline="0" dirty="0" err="1"/>
              <a:t>thao</a:t>
            </a:r>
            <a:r>
              <a:rPr lang="en-US" baseline="0" dirty="0"/>
              <a:t> </a:t>
            </a:r>
            <a:r>
              <a:rPr lang="en-US" baseline="0" dirty="0" err="1"/>
              <a:t>tác</a:t>
            </a:r>
            <a:r>
              <a:rPr lang="en-US" baseline="0" dirty="0"/>
              <a:t> </a:t>
            </a:r>
            <a:r>
              <a:rPr lang="en-US" baseline="0" dirty="0" err="1"/>
              <a:t>kiểm</a:t>
            </a:r>
            <a:r>
              <a:rPr lang="en-US" baseline="0" dirty="0"/>
              <a:t> </a:t>
            </a:r>
            <a:r>
              <a:rPr lang="en-US" baseline="0" dirty="0" err="1"/>
              <a:t>tra</a:t>
            </a:r>
            <a:r>
              <a:rPr lang="en-US" baseline="0" dirty="0"/>
              <a:t> </a:t>
            </a:r>
            <a:r>
              <a:rPr lang="en-US" baseline="0" dirty="0" err="1"/>
              <a:t>Pvalue</a:t>
            </a:r>
            <a:r>
              <a:rPr lang="en-US" baseline="0" dirty="0"/>
              <a:t> </a:t>
            </a:r>
            <a:r>
              <a:rPr lang="en-US" baseline="0" dirty="0" err="1"/>
              <a:t>không</a:t>
            </a:r>
            <a:r>
              <a:rPr lang="en-US" baseline="0" dirty="0"/>
              <a:t>? ~&gt; Support</a:t>
            </a:r>
          </a:p>
          <a:p>
            <a:endParaRPr lang="en-US" baseline="0" dirty="0"/>
          </a:p>
          <a:p>
            <a:r>
              <a:rPr lang="en-US" baseline="0" dirty="0"/>
              <a:t>1-sample T </a:t>
            </a:r>
            <a:r>
              <a:rPr lang="en-US" baseline="0" dirty="0" err="1"/>
              <a:t>tesr</a:t>
            </a:r>
            <a:r>
              <a:rPr lang="en-US" baseline="0" dirty="0"/>
              <a:t> </a:t>
            </a:r>
            <a:r>
              <a:rPr lang="en-US" baseline="0" dirty="0" err="1"/>
              <a:t>sử</a:t>
            </a:r>
            <a:r>
              <a:rPr lang="en-US" baseline="0" dirty="0"/>
              <a:t> </a:t>
            </a:r>
            <a:r>
              <a:rPr lang="en-US" baseline="0" dirty="0" err="1"/>
              <a:t>dụng</a:t>
            </a:r>
            <a:r>
              <a:rPr lang="en-US" baseline="0" dirty="0"/>
              <a:t> </a:t>
            </a:r>
            <a:r>
              <a:rPr lang="en-US" baseline="0" dirty="0" err="1"/>
              <a:t>khi</a:t>
            </a:r>
            <a:r>
              <a:rPr lang="en-US" baseline="0" dirty="0"/>
              <a:t> </a:t>
            </a:r>
            <a:r>
              <a:rPr lang="en-US" baseline="0" dirty="0" err="1"/>
              <a:t>cần</a:t>
            </a:r>
            <a:r>
              <a:rPr lang="en-US" baseline="0" dirty="0"/>
              <a:t> so </a:t>
            </a:r>
            <a:r>
              <a:rPr lang="en-US" baseline="0" dirty="0" err="1"/>
              <a:t>sánh</a:t>
            </a:r>
            <a:r>
              <a:rPr lang="en-US" baseline="0" dirty="0"/>
              <a:t> </a:t>
            </a:r>
            <a:r>
              <a:rPr lang="en-US" baseline="0" dirty="0" err="1"/>
              <a:t>giá</a:t>
            </a:r>
            <a:r>
              <a:rPr lang="en-US" baseline="0" dirty="0"/>
              <a:t> </a:t>
            </a:r>
            <a:r>
              <a:rPr lang="en-US" baseline="0" dirty="0" err="1"/>
              <a:t>trị</a:t>
            </a:r>
            <a:r>
              <a:rPr lang="en-US" baseline="0" dirty="0"/>
              <a:t> </a:t>
            </a:r>
            <a:r>
              <a:rPr lang="en-US" baseline="0" dirty="0" err="1"/>
              <a:t>trung</a:t>
            </a:r>
            <a:r>
              <a:rPr lang="en-US" baseline="0" dirty="0"/>
              <a:t> </a:t>
            </a:r>
            <a:r>
              <a:rPr lang="en-US" baseline="0" dirty="0" err="1"/>
              <a:t>bình</a:t>
            </a:r>
            <a:r>
              <a:rPr lang="en-US" baseline="0" dirty="0"/>
              <a:t> </a:t>
            </a:r>
            <a:r>
              <a:rPr lang="en-US" baseline="0" dirty="0" err="1"/>
              <a:t>của</a:t>
            </a:r>
            <a:r>
              <a:rPr lang="en-US" baseline="0" dirty="0"/>
              <a:t> 1 </a:t>
            </a:r>
            <a:r>
              <a:rPr lang="en-US" baseline="0" dirty="0" err="1"/>
              <a:t>tập</a:t>
            </a:r>
            <a:r>
              <a:rPr lang="en-US" baseline="0" dirty="0"/>
              <a:t> </a:t>
            </a:r>
            <a:r>
              <a:rPr lang="en-US" baseline="0" dirty="0" err="1"/>
              <a:t>hợp</a:t>
            </a:r>
            <a:r>
              <a:rPr lang="en-US" baseline="0" dirty="0"/>
              <a:t> </a:t>
            </a:r>
            <a:r>
              <a:rPr lang="en-US" baseline="0" dirty="0" err="1"/>
              <a:t>với</a:t>
            </a:r>
            <a:r>
              <a:rPr lang="en-US" baseline="0" dirty="0"/>
              <a:t> </a:t>
            </a:r>
            <a:r>
              <a:rPr lang="en-US" baseline="0" dirty="0" err="1"/>
              <a:t>giá</a:t>
            </a:r>
            <a:r>
              <a:rPr lang="en-US" baseline="0" dirty="0"/>
              <a:t> </a:t>
            </a:r>
            <a:r>
              <a:rPr lang="en-US" baseline="0" dirty="0" err="1"/>
              <a:t>trị</a:t>
            </a:r>
            <a:r>
              <a:rPr lang="en-US" baseline="0" dirty="0"/>
              <a:t> </a:t>
            </a:r>
            <a:r>
              <a:rPr lang="en-US" baseline="0" dirty="0" err="1"/>
              <a:t>cho</a:t>
            </a:r>
            <a:r>
              <a:rPr lang="en-US" baseline="0" dirty="0"/>
              <a:t> </a:t>
            </a:r>
            <a:r>
              <a:rPr lang="en-US" baseline="0" dirty="0" err="1"/>
              <a:t>trước</a:t>
            </a:r>
            <a:r>
              <a:rPr lang="en-US" baseline="0" dirty="0"/>
              <a:t>.</a:t>
            </a:r>
          </a:p>
          <a:p>
            <a:r>
              <a:rPr lang="en-US" baseline="0" dirty="0"/>
              <a:t>click normal Test ~&gt; </a:t>
            </a:r>
            <a:r>
              <a:rPr lang="en-US" baseline="0" dirty="0" err="1"/>
              <a:t>hiện</a:t>
            </a:r>
            <a:r>
              <a:rPr lang="en-US" baseline="0" dirty="0"/>
              <a:t> </a:t>
            </a:r>
            <a:r>
              <a:rPr lang="en-US" baseline="0" dirty="0" err="1"/>
              <a:t>bảng</a:t>
            </a:r>
            <a:r>
              <a:rPr lang="en-US" baseline="0" dirty="0"/>
              <a:t> ~&gt; </a:t>
            </a:r>
            <a:r>
              <a:rPr lang="en-US" baseline="0" dirty="0" err="1"/>
              <a:t>giá</a:t>
            </a:r>
            <a:r>
              <a:rPr lang="en-US" baseline="0" dirty="0"/>
              <a:t> </a:t>
            </a:r>
            <a:r>
              <a:rPr lang="en-US" baseline="0" dirty="0" err="1"/>
              <a:t>trị</a:t>
            </a:r>
            <a:r>
              <a:rPr lang="en-US" baseline="0" dirty="0"/>
              <a:t> </a:t>
            </a:r>
            <a:r>
              <a:rPr lang="en-US" baseline="0" dirty="0" err="1"/>
              <a:t>Pvalue</a:t>
            </a:r>
            <a:r>
              <a:rPr lang="en-US" baseline="0" dirty="0"/>
              <a:t> = 0.615 ~&gt; normal distribution ~&gt; </a:t>
            </a:r>
            <a:r>
              <a:rPr lang="en-US" baseline="0" dirty="0" err="1"/>
              <a:t>có</a:t>
            </a:r>
            <a:r>
              <a:rPr lang="en-US" baseline="0" dirty="0"/>
              <a:t> </a:t>
            </a:r>
            <a:r>
              <a:rPr lang="en-US" baseline="0" dirty="0" err="1"/>
              <a:t>thể</a:t>
            </a:r>
            <a:r>
              <a:rPr lang="en-US" baseline="0" dirty="0"/>
              <a:t> </a:t>
            </a:r>
            <a:r>
              <a:rPr lang="en-US" baseline="0" dirty="0" err="1"/>
              <a:t>sử</a:t>
            </a:r>
            <a:r>
              <a:rPr lang="en-US" baseline="0" dirty="0"/>
              <a:t> </a:t>
            </a:r>
            <a:r>
              <a:rPr lang="en-US" baseline="0" dirty="0" err="1"/>
              <a:t>dụng</a:t>
            </a:r>
            <a:r>
              <a:rPr lang="en-US" baseline="0" dirty="0"/>
              <a:t> </a:t>
            </a:r>
            <a:r>
              <a:rPr lang="en-US" baseline="0" dirty="0" err="1"/>
              <a:t>được</a:t>
            </a:r>
            <a:r>
              <a:rPr lang="en-US" baseline="0" dirty="0"/>
              <a:t> </a:t>
            </a:r>
            <a:r>
              <a:rPr lang="en-US" baseline="0" dirty="0" err="1"/>
              <a:t>số</a:t>
            </a:r>
            <a:r>
              <a:rPr lang="en-US" baseline="0" dirty="0"/>
              <a:t> </a:t>
            </a:r>
            <a:r>
              <a:rPr lang="en-US" baseline="0" dirty="0" err="1"/>
              <a:t>liệu</a:t>
            </a:r>
            <a:r>
              <a:rPr lang="en-US" baseline="0" dirty="0"/>
              <a:t> </a:t>
            </a:r>
            <a:r>
              <a:rPr lang="en-US" baseline="0" dirty="0" err="1"/>
              <a:t>này</a:t>
            </a:r>
            <a:endParaRPr lang="en-US" baseline="0" dirty="0"/>
          </a:p>
          <a:p>
            <a:endParaRPr lang="en-US" baseline="0" dirty="0"/>
          </a:p>
          <a:p>
            <a:r>
              <a:rPr lang="en-US" baseline="0" dirty="0" err="1"/>
              <a:t>Thao</a:t>
            </a:r>
            <a:r>
              <a:rPr lang="en-US" baseline="0" dirty="0"/>
              <a:t> </a:t>
            </a:r>
            <a:r>
              <a:rPr lang="en-US" baseline="0" dirty="0" err="1"/>
              <a:t>tác</a:t>
            </a:r>
            <a:r>
              <a:rPr lang="en-US" baseline="0" dirty="0"/>
              <a:t> </a:t>
            </a:r>
            <a:r>
              <a:rPr lang="en-US" baseline="0" dirty="0" err="1"/>
              <a:t>tính</a:t>
            </a:r>
            <a:r>
              <a:rPr lang="en-US" baseline="0" dirty="0"/>
              <a:t> Z? </a:t>
            </a:r>
            <a:r>
              <a:rPr lang="en-US" baseline="0" dirty="0" err="1"/>
              <a:t>trong</a:t>
            </a:r>
            <a:r>
              <a:rPr lang="en-US" baseline="0" dirty="0"/>
              <a:t> </a:t>
            </a:r>
            <a:r>
              <a:rPr lang="en-US" baseline="0" dirty="0" err="1"/>
              <a:t>sách</a:t>
            </a:r>
            <a:r>
              <a:rPr lang="en-US" baseline="0" dirty="0"/>
              <a:t>, </a:t>
            </a:r>
            <a:r>
              <a:rPr lang="en-US" baseline="0" dirty="0" err="1"/>
              <a:t>có</a:t>
            </a:r>
            <a:r>
              <a:rPr lang="en-US" baseline="0" dirty="0"/>
              <a:t> </a:t>
            </a:r>
            <a:r>
              <a:rPr lang="en-US" baseline="0" dirty="0" err="1"/>
              <a:t>ai</a:t>
            </a:r>
            <a:r>
              <a:rPr lang="en-US" baseline="0" dirty="0"/>
              <a:t> </a:t>
            </a:r>
            <a:r>
              <a:rPr lang="en-US" baseline="0" dirty="0" err="1"/>
              <a:t>tìm</a:t>
            </a:r>
            <a:r>
              <a:rPr lang="en-US" baseline="0" dirty="0"/>
              <a:t> </a:t>
            </a:r>
            <a:r>
              <a:rPr lang="en-US" baseline="0" dirty="0" err="1"/>
              <a:t>ra</a:t>
            </a:r>
            <a:r>
              <a:rPr lang="en-US" baseline="0" dirty="0"/>
              <a:t> </a:t>
            </a:r>
            <a:r>
              <a:rPr lang="en-US" baseline="0" dirty="0" err="1"/>
              <a:t>cách</a:t>
            </a:r>
            <a:r>
              <a:rPr lang="en-US" baseline="0" dirty="0"/>
              <a:t> </a:t>
            </a:r>
            <a:r>
              <a:rPr lang="en-US" baseline="0" dirty="0" err="1"/>
              <a:t>chưa</a:t>
            </a:r>
            <a:r>
              <a:rPr lang="en-US" baseline="0" dirty="0"/>
              <a:t>?</a:t>
            </a:r>
          </a:p>
          <a:p>
            <a:r>
              <a:rPr lang="en-US" baseline="0" dirty="0"/>
              <a:t>Click </a:t>
            </a:r>
            <a:r>
              <a:rPr lang="en-US" baseline="0" dirty="0" err="1"/>
              <a:t>vào</a:t>
            </a:r>
            <a:r>
              <a:rPr lang="en-US" baseline="0" dirty="0"/>
              <a:t> Stat~&gt; Quality tool~&gt; Capability Analysis ~&gt; Normal.</a:t>
            </a:r>
          </a:p>
          <a:p>
            <a:r>
              <a:rPr lang="en-US" baseline="0" dirty="0" err="1"/>
              <a:t>chọn</a:t>
            </a:r>
            <a:r>
              <a:rPr lang="en-US" baseline="0" dirty="0"/>
              <a:t> </a:t>
            </a:r>
            <a:r>
              <a:rPr lang="en-US" baseline="0" dirty="0" err="1"/>
              <a:t>cột</a:t>
            </a:r>
            <a:r>
              <a:rPr lang="en-US" baseline="0" dirty="0"/>
              <a:t> </a:t>
            </a:r>
            <a:r>
              <a:rPr lang="en-US" baseline="0" dirty="0" err="1"/>
              <a:t>dữ</a:t>
            </a:r>
            <a:r>
              <a:rPr lang="en-US" baseline="0" dirty="0"/>
              <a:t> </a:t>
            </a:r>
            <a:r>
              <a:rPr lang="en-US" baseline="0" dirty="0" err="1"/>
              <a:t>liệu</a:t>
            </a:r>
            <a:r>
              <a:rPr lang="en-US" baseline="0" dirty="0"/>
              <a:t> C1. Subgroup size: 5, click option</a:t>
            </a:r>
          </a:p>
          <a:p>
            <a:endParaRPr lang="en-US" baseline="0" dirty="0"/>
          </a:p>
          <a:p>
            <a:r>
              <a:rPr lang="en-US" baseline="0" dirty="0"/>
              <a:t>Potential </a:t>
            </a:r>
            <a:r>
              <a:rPr lang="en-US" baseline="0" dirty="0" err="1"/>
              <a:t>Zst</a:t>
            </a:r>
            <a:r>
              <a:rPr lang="en-US" baseline="0" dirty="0"/>
              <a:t> = Overall </a:t>
            </a:r>
            <a:r>
              <a:rPr lang="en-US" baseline="0" dirty="0" err="1"/>
              <a:t>Zlt</a:t>
            </a:r>
            <a:r>
              <a:rPr lang="en-US" baseline="0" dirty="0"/>
              <a:t>. </a:t>
            </a:r>
            <a:r>
              <a:rPr lang="en-US" baseline="0" dirty="0" err="1"/>
              <a:t>Chỉ</a:t>
            </a:r>
            <a:r>
              <a:rPr lang="en-US" baseline="0" dirty="0"/>
              <a:t> </a:t>
            </a:r>
            <a:r>
              <a:rPr lang="en-US" baseline="0" dirty="0" err="1"/>
              <a:t>số</a:t>
            </a:r>
            <a:r>
              <a:rPr lang="en-US" baseline="0" dirty="0"/>
              <a:t> Z </a:t>
            </a:r>
            <a:r>
              <a:rPr lang="en-US" baseline="0" dirty="0" err="1"/>
              <a:t>này</a:t>
            </a:r>
            <a:r>
              <a:rPr lang="en-US" baseline="0" dirty="0"/>
              <a:t> </a:t>
            </a:r>
            <a:r>
              <a:rPr lang="en-US" baseline="0" dirty="0" err="1"/>
              <a:t>quá</a:t>
            </a:r>
            <a:r>
              <a:rPr lang="en-US" baseline="0" dirty="0"/>
              <a:t> </a:t>
            </a:r>
            <a:r>
              <a:rPr lang="en-US" baseline="0" dirty="0" err="1"/>
              <a:t>thấp</a:t>
            </a:r>
            <a:endParaRPr lang="en-US" baseline="0" dirty="0"/>
          </a:p>
          <a:p>
            <a:endParaRPr lang="en-US" baseline="0" dirty="0"/>
          </a:p>
          <a:p>
            <a:r>
              <a:rPr lang="en-US" baseline="0" dirty="0"/>
              <a:t>Z </a:t>
            </a:r>
            <a:r>
              <a:rPr lang="en-US" baseline="0" dirty="0" err="1"/>
              <a:t>thấp</a:t>
            </a:r>
            <a:r>
              <a:rPr lang="en-US" baseline="0" dirty="0"/>
              <a:t> </a:t>
            </a:r>
            <a:r>
              <a:rPr lang="en-US" baseline="0" dirty="0" err="1"/>
              <a:t>càng</a:t>
            </a:r>
            <a:r>
              <a:rPr lang="en-US" baseline="0" dirty="0"/>
              <a:t> </a:t>
            </a:r>
            <a:r>
              <a:rPr lang="en-US" baseline="0" dirty="0" err="1"/>
              <a:t>tốt</a:t>
            </a:r>
            <a:r>
              <a:rPr lang="en-US" baseline="0" dirty="0"/>
              <a:t> hay </a:t>
            </a:r>
            <a:r>
              <a:rPr lang="en-US" baseline="0" dirty="0" err="1"/>
              <a:t>càng</a:t>
            </a:r>
            <a:r>
              <a:rPr lang="en-US" baseline="0" dirty="0"/>
              <a:t> </a:t>
            </a:r>
            <a:r>
              <a:rPr lang="en-US" baseline="0" dirty="0" err="1"/>
              <a:t>cao</a:t>
            </a:r>
            <a:r>
              <a:rPr lang="en-US" baseline="0" dirty="0"/>
              <a:t> </a:t>
            </a:r>
            <a:r>
              <a:rPr lang="en-US" baseline="0" dirty="0" err="1"/>
              <a:t>càng</a:t>
            </a:r>
            <a:r>
              <a:rPr lang="en-US" baseline="0" dirty="0"/>
              <a:t> </a:t>
            </a:r>
            <a:r>
              <a:rPr lang="en-US" baseline="0" dirty="0" err="1"/>
              <a:t>tốt</a:t>
            </a:r>
            <a:r>
              <a:rPr lang="en-US" baseline="0" dirty="0"/>
              <a:t>?</a:t>
            </a:r>
          </a:p>
          <a:p>
            <a:endParaRPr lang="en-US" baseline="0" dirty="0"/>
          </a:p>
          <a:p>
            <a:r>
              <a:rPr lang="en-US" baseline="0" dirty="0"/>
              <a:t>Z </a:t>
            </a:r>
            <a:r>
              <a:rPr lang="en-US" baseline="0" dirty="0" err="1"/>
              <a:t>càng</a:t>
            </a:r>
            <a:r>
              <a:rPr lang="en-US" baseline="0" dirty="0"/>
              <a:t> </a:t>
            </a:r>
            <a:r>
              <a:rPr lang="en-US" baseline="0" dirty="0" err="1"/>
              <a:t>cao</a:t>
            </a:r>
            <a:r>
              <a:rPr lang="en-US" baseline="0" dirty="0"/>
              <a:t>~&gt; </a:t>
            </a:r>
            <a:r>
              <a:rPr lang="en-US" baseline="0" dirty="0" err="1"/>
              <a:t>Thể</a:t>
            </a:r>
            <a:r>
              <a:rPr lang="en-US" baseline="0" dirty="0"/>
              <a:t> </a:t>
            </a:r>
            <a:r>
              <a:rPr lang="en-US" baseline="0" dirty="0" err="1"/>
              <a:t>hiện</a:t>
            </a:r>
            <a:r>
              <a:rPr lang="en-US" baseline="0" dirty="0"/>
              <a:t> </a:t>
            </a:r>
            <a:r>
              <a:rPr lang="en-US" baseline="0" dirty="0" err="1"/>
              <a:t>xác</a:t>
            </a:r>
            <a:r>
              <a:rPr lang="en-US" baseline="0" dirty="0"/>
              <a:t> </a:t>
            </a:r>
            <a:r>
              <a:rPr lang="en-US" baseline="0" dirty="0" err="1"/>
              <a:t>suât</a:t>
            </a:r>
            <a:r>
              <a:rPr lang="en-US" baseline="0" dirty="0"/>
              <a:t> </a:t>
            </a:r>
            <a:r>
              <a:rPr lang="en-US" baseline="0" dirty="0" err="1"/>
              <a:t>của</a:t>
            </a:r>
            <a:r>
              <a:rPr lang="en-US" baseline="0" dirty="0"/>
              <a:t> </a:t>
            </a:r>
            <a:r>
              <a:rPr lang="en-US" baseline="0" dirty="0" err="1"/>
              <a:t>lỗi</a:t>
            </a:r>
            <a:r>
              <a:rPr lang="en-US" baseline="0" dirty="0"/>
              <a:t> </a:t>
            </a:r>
            <a:r>
              <a:rPr lang="en-US" baseline="0" dirty="0" err="1"/>
              <a:t>càng</a:t>
            </a:r>
            <a:r>
              <a:rPr lang="en-US" baseline="0" dirty="0"/>
              <a:t> </a:t>
            </a:r>
            <a:r>
              <a:rPr lang="en-US" baseline="0" dirty="0" err="1"/>
              <a:t>thấp</a:t>
            </a:r>
            <a:r>
              <a:rPr lang="en-US" baseline="0" dirty="0"/>
              <a:t>.</a:t>
            </a:r>
          </a:p>
          <a:p>
            <a:endParaRPr lang="en-US" baseline="0" dirty="0"/>
          </a:p>
          <a:p>
            <a:r>
              <a:rPr lang="en-US" baseline="0" dirty="0" err="1"/>
              <a:t>Từng</a:t>
            </a:r>
            <a:r>
              <a:rPr lang="en-US" baseline="0" dirty="0"/>
              <a:t> </a:t>
            </a:r>
            <a:r>
              <a:rPr lang="en-US" baseline="0" dirty="0" err="1"/>
              <a:t>thành</a:t>
            </a:r>
            <a:r>
              <a:rPr lang="en-US" baseline="0" dirty="0"/>
              <a:t> </a:t>
            </a:r>
            <a:r>
              <a:rPr lang="en-US" baseline="0" dirty="0" err="1"/>
              <a:t>viên</a:t>
            </a:r>
            <a:r>
              <a:rPr lang="en-US" baseline="0" dirty="0"/>
              <a:t> </a:t>
            </a:r>
            <a:r>
              <a:rPr lang="en-US" baseline="0" dirty="0" err="1"/>
              <a:t>trong</a:t>
            </a:r>
            <a:r>
              <a:rPr lang="en-US" baseline="0" dirty="0"/>
              <a:t> </a:t>
            </a:r>
            <a:r>
              <a:rPr lang="en-US" baseline="0" dirty="0" err="1"/>
              <a:t>các</a:t>
            </a:r>
            <a:r>
              <a:rPr lang="en-US" baseline="0" dirty="0"/>
              <a:t> </a:t>
            </a:r>
            <a:r>
              <a:rPr lang="en-US" baseline="0" dirty="0" err="1"/>
              <a:t>nhóm</a:t>
            </a:r>
            <a:r>
              <a:rPr lang="en-US" baseline="0" dirty="0"/>
              <a:t> </a:t>
            </a:r>
            <a:r>
              <a:rPr lang="en-US" baseline="0" dirty="0" err="1"/>
              <a:t>thực</a:t>
            </a:r>
            <a:r>
              <a:rPr lang="en-US" baseline="0" dirty="0"/>
              <a:t> </a:t>
            </a:r>
            <a:r>
              <a:rPr lang="en-US" baseline="0" dirty="0" err="1"/>
              <a:t>hành</a:t>
            </a:r>
            <a:endParaRPr lang="en-US" baseline="0"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230</a:t>
            </a:fld>
            <a:endParaRPr lang="ko-KR" altLang="en-US" dirty="0"/>
          </a:p>
        </p:txBody>
      </p:sp>
    </p:spTree>
    <p:extLst>
      <p:ext uri="{BB962C8B-B14F-4D97-AF65-F5344CB8AC3E}">
        <p14:creationId xmlns:p14="http://schemas.microsoft.com/office/powerpoint/2010/main" val="104351641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231</a:t>
            </a:fld>
            <a:endParaRPr lang="ko-KR" altLang="en-US" dirty="0"/>
          </a:p>
        </p:txBody>
      </p:sp>
    </p:spTree>
    <p:extLst>
      <p:ext uri="{BB962C8B-B14F-4D97-AF65-F5344CB8AC3E}">
        <p14:creationId xmlns:p14="http://schemas.microsoft.com/office/powerpoint/2010/main" val="2156015495"/>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err="1"/>
              <a:t>Hỏi</a:t>
            </a:r>
            <a:r>
              <a:rPr lang="en-US" dirty="0"/>
              <a:t> </a:t>
            </a:r>
            <a:r>
              <a:rPr lang="en-US" dirty="0" err="1"/>
              <a:t>lại</a:t>
            </a:r>
            <a:r>
              <a:rPr lang="en-US" baseline="0" dirty="0"/>
              <a:t> </a:t>
            </a:r>
            <a:r>
              <a:rPr lang="en-US" baseline="0" dirty="0" err="1"/>
              <a:t>anh</a:t>
            </a:r>
            <a:r>
              <a:rPr lang="en-US" baseline="0" dirty="0"/>
              <a:t> </a:t>
            </a:r>
            <a:r>
              <a:rPr lang="en-US" baseline="0" dirty="0" err="1"/>
              <a:t>Huy</a:t>
            </a:r>
            <a:r>
              <a:rPr lang="en-US" baseline="0" dirty="0"/>
              <a:t> </a:t>
            </a:r>
            <a:r>
              <a:rPr lang="en-US" baseline="0" dirty="0" err="1"/>
              <a:t>về</a:t>
            </a:r>
            <a:r>
              <a:rPr lang="en-US" baseline="0" dirty="0"/>
              <a:t> </a:t>
            </a:r>
            <a:r>
              <a:rPr lang="en-US" baseline="0" dirty="0" err="1"/>
              <a:t>trang</a:t>
            </a:r>
            <a:r>
              <a:rPr lang="en-US" baseline="0" dirty="0"/>
              <a:t> </a:t>
            </a:r>
            <a:r>
              <a:rPr lang="en-US" baseline="0" dirty="0" err="1"/>
              <a:t>này</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232</a:t>
            </a:fld>
            <a:endParaRPr lang="ko-KR" altLang="en-US" dirty="0"/>
          </a:p>
        </p:txBody>
      </p:sp>
    </p:spTree>
    <p:extLst>
      <p:ext uri="{BB962C8B-B14F-4D97-AF65-F5344CB8AC3E}">
        <p14:creationId xmlns:p14="http://schemas.microsoft.com/office/powerpoint/2010/main" val="371336990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233</a:t>
            </a:fld>
            <a:endParaRPr lang="ko-KR" altLang="en-US" dirty="0"/>
          </a:p>
        </p:txBody>
      </p:sp>
    </p:spTree>
    <p:extLst>
      <p:ext uri="{BB962C8B-B14F-4D97-AF65-F5344CB8AC3E}">
        <p14:creationId xmlns:p14="http://schemas.microsoft.com/office/powerpoint/2010/main" val="280909591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234</a:t>
            </a:fld>
            <a:endParaRPr lang="ko-KR" altLang="en-US" dirty="0"/>
          </a:p>
        </p:txBody>
      </p:sp>
    </p:spTree>
    <p:extLst>
      <p:ext uri="{BB962C8B-B14F-4D97-AF65-F5344CB8AC3E}">
        <p14:creationId xmlns:p14="http://schemas.microsoft.com/office/powerpoint/2010/main" val="34497773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err="1"/>
              <a:t>Zst</a:t>
            </a:r>
            <a:r>
              <a:rPr lang="en-US" dirty="0"/>
              <a:t> </a:t>
            </a:r>
            <a:r>
              <a:rPr lang="en-US" dirty="0" err="1"/>
              <a:t>sẽ</a:t>
            </a:r>
            <a:r>
              <a:rPr lang="en-US" baseline="0" dirty="0"/>
              <a:t> </a:t>
            </a:r>
            <a:r>
              <a:rPr lang="en-US" baseline="0" dirty="0" err="1"/>
              <a:t>bị</a:t>
            </a:r>
            <a:r>
              <a:rPr lang="en-US" baseline="0" dirty="0"/>
              <a:t> </a:t>
            </a:r>
            <a:r>
              <a:rPr lang="en-US" baseline="0" dirty="0" err="1"/>
              <a:t>phục</a:t>
            </a:r>
            <a:r>
              <a:rPr lang="en-US" baseline="0" dirty="0"/>
              <a:t> </a:t>
            </a:r>
            <a:r>
              <a:rPr lang="en-US" baseline="0" dirty="0" err="1"/>
              <a:t>thuộc</a:t>
            </a:r>
            <a:r>
              <a:rPr lang="en-US" baseline="0" dirty="0"/>
              <a:t> </a:t>
            </a:r>
            <a:r>
              <a:rPr lang="en-US" baseline="0" dirty="0" err="1"/>
              <a:t>vào</a:t>
            </a:r>
            <a:r>
              <a:rPr lang="en-US" baseline="0" dirty="0"/>
              <a:t> </a:t>
            </a:r>
            <a:r>
              <a:rPr lang="en-US" baseline="0" dirty="0" err="1"/>
              <a:t>năng</a:t>
            </a:r>
            <a:r>
              <a:rPr lang="en-US" baseline="0" dirty="0"/>
              <a:t> </a:t>
            </a:r>
            <a:r>
              <a:rPr lang="en-US" baseline="0" dirty="0" err="1"/>
              <a:t>lực</a:t>
            </a:r>
            <a:r>
              <a:rPr lang="en-US" baseline="0" dirty="0"/>
              <a:t> </a:t>
            </a:r>
            <a:r>
              <a:rPr lang="en-US" baseline="0" dirty="0" err="1"/>
              <a:t>sản</a:t>
            </a:r>
            <a:r>
              <a:rPr lang="en-US" baseline="0" dirty="0"/>
              <a:t> </a:t>
            </a:r>
            <a:r>
              <a:rPr lang="en-US" baseline="0" dirty="0" err="1"/>
              <a:t>xuất</a:t>
            </a:r>
            <a:r>
              <a:rPr lang="en-US" baseline="0" dirty="0"/>
              <a:t> </a:t>
            </a:r>
            <a:r>
              <a:rPr lang="en-US" baseline="0" dirty="0" err="1"/>
              <a:t>và</a:t>
            </a:r>
            <a:r>
              <a:rPr lang="en-US" baseline="0" dirty="0"/>
              <a:t> </a:t>
            </a:r>
            <a:r>
              <a:rPr lang="en-US" baseline="0" dirty="0" err="1"/>
              <a:t>yếu</a:t>
            </a:r>
            <a:r>
              <a:rPr lang="en-US" baseline="0" dirty="0"/>
              <a:t> </a:t>
            </a:r>
            <a:r>
              <a:rPr lang="en-US" baseline="0" dirty="0" err="1"/>
              <a:t>tố</a:t>
            </a:r>
            <a:r>
              <a:rPr lang="en-US" baseline="0" dirty="0"/>
              <a:t> </a:t>
            </a:r>
            <a:r>
              <a:rPr lang="en-US" baseline="0" dirty="0" err="1"/>
              <a:t>kỹ</a:t>
            </a:r>
            <a:r>
              <a:rPr lang="en-US" baseline="0" dirty="0"/>
              <a:t> </a:t>
            </a:r>
            <a:r>
              <a:rPr lang="en-US" baseline="0" dirty="0" err="1"/>
              <a:t>thuật</a:t>
            </a:r>
            <a:r>
              <a:rPr lang="en-US" baseline="0" dirty="0"/>
              <a:t>.</a:t>
            </a:r>
          </a:p>
          <a:p>
            <a:endParaRPr lang="en-US" baseline="0" dirty="0"/>
          </a:p>
          <a:p>
            <a:r>
              <a:rPr lang="en-US" baseline="0" dirty="0" err="1"/>
              <a:t>Zshift</a:t>
            </a:r>
            <a:r>
              <a:rPr lang="en-US" baseline="0" dirty="0"/>
              <a:t>=?</a:t>
            </a:r>
          </a:p>
          <a:p>
            <a:r>
              <a:rPr lang="en-US" baseline="0" dirty="0" err="1"/>
              <a:t>Khoảng</a:t>
            </a:r>
            <a:r>
              <a:rPr lang="en-US" baseline="0" dirty="0"/>
              <a:t> </a:t>
            </a:r>
            <a:r>
              <a:rPr lang="en-US" baseline="0" dirty="0" err="1"/>
              <a:t>cách</a:t>
            </a:r>
            <a:r>
              <a:rPr lang="en-US" baseline="0" dirty="0"/>
              <a:t> </a:t>
            </a:r>
            <a:r>
              <a:rPr lang="en-US" baseline="0" dirty="0" err="1"/>
              <a:t>giữa</a:t>
            </a:r>
            <a:r>
              <a:rPr lang="en-US" baseline="0" dirty="0"/>
              <a:t> Z </a:t>
            </a:r>
            <a:r>
              <a:rPr lang="en-US" baseline="0" dirty="0" err="1"/>
              <a:t>ngắn</a:t>
            </a:r>
            <a:r>
              <a:rPr lang="en-US" baseline="0" dirty="0"/>
              <a:t> </a:t>
            </a:r>
            <a:r>
              <a:rPr lang="en-US" baseline="0" dirty="0" err="1"/>
              <a:t>và</a:t>
            </a:r>
            <a:r>
              <a:rPr lang="en-US" baseline="0" dirty="0"/>
              <a:t> </a:t>
            </a:r>
            <a:r>
              <a:rPr lang="en-US" baseline="0" dirty="0" err="1"/>
              <a:t>dài</a:t>
            </a:r>
            <a:r>
              <a:rPr lang="en-US" baseline="0" dirty="0"/>
              <a:t>. Z shift </a:t>
            </a:r>
            <a:r>
              <a:rPr lang="en-US" baseline="0" dirty="0" err="1"/>
              <a:t>thấp</a:t>
            </a:r>
            <a:r>
              <a:rPr lang="en-US" baseline="0" dirty="0"/>
              <a:t> </a:t>
            </a:r>
            <a:r>
              <a:rPr lang="en-US" baseline="0" dirty="0" err="1"/>
              <a:t>có</a:t>
            </a:r>
            <a:r>
              <a:rPr lang="en-US" baseline="0" dirty="0"/>
              <a:t> </a:t>
            </a:r>
            <a:r>
              <a:rPr lang="en-US" baseline="0" dirty="0" err="1"/>
              <a:t>tốt</a:t>
            </a:r>
            <a:r>
              <a:rPr lang="en-US" baseline="0" dirty="0"/>
              <a:t> hay </a:t>
            </a:r>
            <a:r>
              <a:rPr lang="en-US" baseline="0" dirty="0" err="1"/>
              <a:t>không</a:t>
            </a:r>
            <a:r>
              <a:rPr lang="en-US" baseline="0" dirty="0"/>
              <a:t>?</a:t>
            </a:r>
          </a:p>
          <a:p>
            <a:r>
              <a:rPr lang="en-US" baseline="0" dirty="0"/>
              <a:t>Z shift </a:t>
            </a:r>
            <a:r>
              <a:rPr lang="en-US" baseline="0" dirty="0" err="1"/>
              <a:t>thấp</a:t>
            </a:r>
            <a:r>
              <a:rPr lang="en-US" baseline="0" dirty="0"/>
              <a:t> </a:t>
            </a:r>
            <a:r>
              <a:rPr lang="en-US" baseline="0" dirty="0" err="1"/>
              <a:t>thì</a:t>
            </a:r>
            <a:r>
              <a:rPr lang="en-US" baseline="0" dirty="0"/>
              <a:t> </a:t>
            </a:r>
            <a:r>
              <a:rPr lang="en-US" baseline="0" dirty="0" err="1"/>
              <a:t>chứng</a:t>
            </a:r>
            <a:r>
              <a:rPr lang="en-US" baseline="0" dirty="0"/>
              <a:t> </a:t>
            </a:r>
            <a:r>
              <a:rPr lang="en-US" baseline="0" dirty="0" err="1"/>
              <a:t>tỏ</a:t>
            </a:r>
            <a:r>
              <a:rPr lang="en-US" baseline="0" dirty="0"/>
              <a:t> </a:t>
            </a:r>
            <a:r>
              <a:rPr lang="en-US" baseline="0" dirty="0" err="1"/>
              <a:t>năng</a:t>
            </a:r>
            <a:r>
              <a:rPr lang="en-US" baseline="0" dirty="0"/>
              <a:t> </a:t>
            </a:r>
            <a:r>
              <a:rPr lang="en-US" baseline="0" dirty="0" err="1"/>
              <a:t>lực</a:t>
            </a:r>
            <a:r>
              <a:rPr lang="en-US" baseline="0" dirty="0"/>
              <a:t> </a:t>
            </a:r>
            <a:r>
              <a:rPr lang="en-US" baseline="0" dirty="0" err="1"/>
              <a:t>càng</a:t>
            </a:r>
            <a:r>
              <a:rPr lang="en-US" baseline="0" dirty="0"/>
              <a:t> </a:t>
            </a:r>
            <a:r>
              <a:rPr lang="en-US" baseline="0" dirty="0" err="1"/>
              <a:t>tốt</a:t>
            </a:r>
            <a:endParaRPr lang="en-US" baseline="0" dirty="0"/>
          </a:p>
          <a:p>
            <a:endParaRPr lang="en-US" baseline="0" dirty="0"/>
          </a:p>
          <a:p>
            <a:r>
              <a:rPr lang="en-US" baseline="0" dirty="0"/>
              <a:t>4 </a:t>
            </a:r>
            <a:r>
              <a:rPr lang="en-US" baseline="0" dirty="0" err="1"/>
              <a:t>vùng</a:t>
            </a:r>
            <a:r>
              <a:rPr lang="en-US" baseline="0" dirty="0"/>
              <a:t> A BCD </a:t>
            </a:r>
            <a:r>
              <a:rPr lang="en-US" baseline="0" dirty="0" err="1"/>
              <a:t>thì</a:t>
            </a:r>
            <a:r>
              <a:rPr lang="en-US" baseline="0" dirty="0"/>
              <a:t> </a:t>
            </a:r>
            <a:r>
              <a:rPr lang="en-US" baseline="0" dirty="0" err="1"/>
              <a:t>vùng</a:t>
            </a:r>
            <a:r>
              <a:rPr lang="en-US" baseline="0" dirty="0"/>
              <a:t> </a:t>
            </a:r>
            <a:r>
              <a:rPr lang="en-US" baseline="0" dirty="0" err="1"/>
              <a:t>nào</a:t>
            </a:r>
            <a:r>
              <a:rPr lang="en-US" baseline="0" dirty="0"/>
              <a:t> </a:t>
            </a:r>
            <a:r>
              <a:rPr lang="en-US" baseline="0" dirty="0" err="1"/>
              <a:t>là</a:t>
            </a:r>
            <a:r>
              <a:rPr lang="en-US" baseline="0" dirty="0"/>
              <a:t> </a:t>
            </a:r>
            <a:r>
              <a:rPr lang="en-US" baseline="0" dirty="0" err="1"/>
              <a:t>tốt</a:t>
            </a:r>
            <a:r>
              <a:rPr lang="en-US" baseline="0" dirty="0"/>
              <a:t> </a:t>
            </a:r>
            <a:r>
              <a:rPr lang="en-US" baseline="0" dirty="0" err="1"/>
              <a:t>nhất</a:t>
            </a:r>
            <a:r>
              <a:rPr lang="en-US" baseline="0" dirty="0"/>
              <a:t>? </a:t>
            </a:r>
            <a:r>
              <a:rPr lang="en-US" baseline="0" dirty="0" err="1"/>
              <a:t>Vùng</a:t>
            </a:r>
            <a:r>
              <a:rPr lang="en-US" baseline="0" dirty="0"/>
              <a:t> D </a:t>
            </a:r>
            <a:r>
              <a:rPr lang="en-US" baseline="0" dirty="0" err="1"/>
              <a:t>cả</a:t>
            </a:r>
            <a:r>
              <a:rPr lang="en-US" baseline="0" dirty="0"/>
              <a:t> </a:t>
            </a:r>
            <a:r>
              <a:rPr lang="en-US" baseline="0" dirty="0" err="1"/>
              <a:t>kỹ</a:t>
            </a:r>
            <a:r>
              <a:rPr lang="en-US" baseline="0" dirty="0"/>
              <a:t> </a:t>
            </a:r>
            <a:r>
              <a:rPr lang="en-US" baseline="0" dirty="0" err="1"/>
              <a:t>thuật</a:t>
            </a:r>
            <a:r>
              <a:rPr lang="en-US" baseline="0" dirty="0"/>
              <a:t> + </a:t>
            </a:r>
          </a:p>
          <a:p>
            <a:r>
              <a:rPr lang="en-US" baseline="0" dirty="0"/>
              <a:t>C </a:t>
            </a:r>
            <a:r>
              <a:rPr lang="en-US" baseline="0" dirty="0" err="1"/>
              <a:t>ko</a:t>
            </a:r>
            <a:r>
              <a:rPr lang="en-US" baseline="0" dirty="0"/>
              <a:t> </a:t>
            </a:r>
            <a:r>
              <a:rPr lang="en-US" baseline="0" dirty="0" err="1"/>
              <a:t>có</a:t>
            </a:r>
            <a:r>
              <a:rPr lang="en-US" baseline="0" dirty="0"/>
              <a:t> </a:t>
            </a:r>
            <a:r>
              <a:rPr lang="en-US" baseline="0" dirty="0" err="1"/>
              <a:t>khả</a:t>
            </a:r>
            <a:r>
              <a:rPr lang="en-US" baseline="0" dirty="0"/>
              <a:t> </a:t>
            </a:r>
            <a:r>
              <a:rPr lang="en-US" baseline="0" dirty="0" err="1"/>
              <a:t>năng</a:t>
            </a:r>
            <a:r>
              <a:rPr lang="en-US" baseline="0" dirty="0"/>
              <a:t> control </a:t>
            </a:r>
            <a:r>
              <a:rPr lang="en-US" baseline="0" dirty="0" err="1"/>
              <a:t>ngắn</a:t>
            </a:r>
            <a:r>
              <a:rPr lang="en-US" baseline="0" dirty="0"/>
              <a:t> </a:t>
            </a:r>
            <a:r>
              <a:rPr lang="en-US" baseline="0" dirty="0" err="1"/>
              <a:t>hạn</a:t>
            </a:r>
            <a:r>
              <a:rPr lang="en-US" baseline="0" dirty="0"/>
              <a:t> </a:t>
            </a:r>
            <a:r>
              <a:rPr lang="en-US" baseline="0" dirty="0" err="1"/>
              <a:t>và</a:t>
            </a:r>
            <a:r>
              <a:rPr lang="en-US" baseline="0" dirty="0"/>
              <a:t> </a:t>
            </a:r>
            <a:r>
              <a:rPr lang="en-US" baseline="0" dirty="0" err="1"/>
              <a:t>dài</a:t>
            </a:r>
            <a:r>
              <a:rPr lang="en-US" baseline="0" dirty="0"/>
              <a:t> </a:t>
            </a:r>
            <a:r>
              <a:rPr lang="en-US" baseline="0" dirty="0" err="1"/>
              <a:t>hạn</a:t>
            </a:r>
            <a:r>
              <a:rPr lang="en-US" baseline="0" dirty="0"/>
              <a:t> </a:t>
            </a:r>
            <a:r>
              <a:rPr lang="en-US" baseline="0" dirty="0" err="1"/>
              <a:t>nhưng</a:t>
            </a:r>
            <a:r>
              <a:rPr lang="en-US" baseline="0" dirty="0"/>
              <a:t> </a:t>
            </a:r>
            <a:r>
              <a:rPr lang="en-US" baseline="0" dirty="0" err="1"/>
              <a:t>cần</a:t>
            </a:r>
            <a:r>
              <a:rPr lang="en-US" baseline="0" dirty="0"/>
              <a:t> </a:t>
            </a:r>
            <a:r>
              <a:rPr lang="en-US" baseline="0" dirty="0" err="1"/>
              <a:t>phải</a:t>
            </a:r>
            <a:r>
              <a:rPr lang="en-US" baseline="0" dirty="0"/>
              <a:t> improve </a:t>
            </a:r>
            <a:r>
              <a:rPr lang="en-US" baseline="0" dirty="0" err="1"/>
              <a:t>kỹ</a:t>
            </a:r>
            <a:r>
              <a:rPr lang="en-US" baseline="0" dirty="0"/>
              <a:t> </a:t>
            </a:r>
            <a:r>
              <a:rPr lang="en-US" baseline="0" dirty="0" err="1"/>
              <a:t>thuật</a:t>
            </a:r>
            <a:endParaRPr lang="en-US" baseline="0" dirty="0"/>
          </a:p>
          <a:p>
            <a:r>
              <a:rPr lang="en-US" baseline="0" dirty="0"/>
              <a:t>A </a:t>
            </a:r>
            <a:r>
              <a:rPr lang="en-US" baseline="0" dirty="0" err="1"/>
              <a:t>Zshift</a:t>
            </a:r>
            <a:r>
              <a:rPr lang="en-US" baseline="0" dirty="0"/>
              <a:t> </a:t>
            </a:r>
            <a:r>
              <a:rPr lang="en-US" baseline="0" dirty="0" err="1"/>
              <a:t>quá</a:t>
            </a:r>
            <a:r>
              <a:rPr lang="en-US" baseline="0" dirty="0"/>
              <a:t> </a:t>
            </a:r>
            <a:r>
              <a:rPr lang="en-US" baseline="0" dirty="0" err="1"/>
              <a:t>lớn</a:t>
            </a:r>
            <a:r>
              <a:rPr lang="en-US" baseline="0" dirty="0"/>
              <a:t>, </a:t>
            </a:r>
            <a:r>
              <a:rPr lang="en-US" baseline="0" dirty="0" err="1"/>
              <a:t>không</a:t>
            </a:r>
            <a:r>
              <a:rPr lang="en-US" baseline="0" dirty="0"/>
              <a:t> </a:t>
            </a:r>
            <a:r>
              <a:rPr lang="en-US" baseline="0" dirty="0" err="1"/>
              <a:t>có</a:t>
            </a:r>
            <a:r>
              <a:rPr lang="en-US" baseline="0" dirty="0"/>
              <a:t> </a:t>
            </a:r>
            <a:r>
              <a:rPr lang="en-US" baseline="0" dirty="0" err="1"/>
              <a:t>cả</a:t>
            </a:r>
            <a:r>
              <a:rPr lang="en-US" baseline="0" dirty="0"/>
              <a:t> </a:t>
            </a:r>
            <a:r>
              <a:rPr lang="en-US" baseline="0" dirty="0" err="1"/>
              <a:t>năng</a:t>
            </a:r>
            <a:endParaRPr lang="en-US" baseline="0" dirty="0"/>
          </a:p>
          <a:p>
            <a:r>
              <a:rPr lang="en-US" baseline="0" dirty="0"/>
              <a:t>B </a:t>
            </a:r>
          </a:p>
          <a:p>
            <a:endParaRPr lang="en-US" baseline="0" dirty="0"/>
          </a:p>
          <a:p>
            <a:r>
              <a:rPr lang="en-US" baseline="0" dirty="0" err="1"/>
              <a:t>Trước</a:t>
            </a:r>
            <a:r>
              <a:rPr lang="en-US" baseline="0" dirty="0"/>
              <a:t> </a:t>
            </a:r>
            <a:r>
              <a:rPr lang="en-US" baseline="0" dirty="0" err="1"/>
              <a:t>khi</a:t>
            </a:r>
            <a:r>
              <a:rPr lang="en-US" baseline="0" dirty="0"/>
              <a:t> </a:t>
            </a:r>
            <a:r>
              <a:rPr lang="en-US" baseline="0" dirty="0" err="1"/>
              <a:t>tính</a:t>
            </a:r>
            <a:r>
              <a:rPr lang="en-US" baseline="0" dirty="0"/>
              <a:t> </a:t>
            </a:r>
            <a:r>
              <a:rPr lang="en-US" baseline="0" dirty="0" err="1"/>
              <a:t>chỉ</a:t>
            </a:r>
            <a:r>
              <a:rPr lang="en-US" baseline="0" dirty="0"/>
              <a:t> </a:t>
            </a:r>
            <a:r>
              <a:rPr lang="en-US" baseline="0" dirty="0" err="1"/>
              <a:t>số</a:t>
            </a:r>
            <a:r>
              <a:rPr lang="en-US" baseline="0" dirty="0"/>
              <a:t> </a:t>
            </a:r>
            <a:r>
              <a:rPr lang="en-US" baseline="0" dirty="0" err="1"/>
              <a:t>năng</a:t>
            </a:r>
            <a:r>
              <a:rPr lang="en-US" baseline="0" dirty="0"/>
              <a:t> </a:t>
            </a:r>
            <a:r>
              <a:rPr lang="en-US" baseline="0" dirty="0" err="1"/>
              <a:t>lực</a:t>
            </a:r>
            <a:r>
              <a:rPr lang="en-US" baseline="0" dirty="0"/>
              <a:t> </a:t>
            </a:r>
            <a:r>
              <a:rPr lang="en-US" baseline="0" dirty="0" err="1"/>
              <a:t>quá</a:t>
            </a:r>
            <a:r>
              <a:rPr lang="en-US" baseline="0" dirty="0"/>
              <a:t> </a:t>
            </a:r>
            <a:r>
              <a:rPr lang="en-US" baseline="0" dirty="0" err="1"/>
              <a:t>trình</a:t>
            </a:r>
            <a:r>
              <a:rPr lang="en-US" baseline="0" dirty="0"/>
              <a:t> </a:t>
            </a:r>
            <a:r>
              <a:rPr lang="en-US" baseline="0" dirty="0" err="1"/>
              <a:t>cần</a:t>
            </a:r>
            <a:r>
              <a:rPr lang="en-US" baseline="0" dirty="0"/>
              <a:t> </a:t>
            </a:r>
            <a:r>
              <a:rPr lang="en-US" baseline="0" dirty="0" err="1"/>
              <a:t>làm</a:t>
            </a:r>
            <a:r>
              <a:rPr lang="en-US" baseline="0" dirty="0"/>
              <a:t> </a:t>
            </a:r>
            <a:r>
              <a:rPr lang="en-US" baseline="0" dirty="0" err="1"/>
              <a:t>gì</a:t>
            </a:r>
            <a:r>
              <a:rPr lang="en-US" baseline="0" dirty="0"/>
              <a:t>?</a:t>
            </a:r>
          </a:p>
          <a:p>
            <a:r>
              <a:rPr lang="en-US" baseline="0" dirty="0" err="1"/>
              <a:t>Modul</a:t>
            </a:r>
            <a:r>
              <a:rPr lang="en-US" baseline="0" dirty="0"/>
              <a:t> 4? </a:t>
            </a:r>
            <a:r>
              <a:rPr lang="en-US" baseline="0" dirty="0" err="1"/>
              <a:t>Cần</a:t>
            </a:r>
            <a:r>
              <a:rPr lang="en-US" baseline="0" dirty="0"/>
              <a:t> </a:t>
            </a:r>
            <a:r>
              <a:rPr lang="en-US" baseline="0" dirty="0" err="1"/>
              <a:t>kiểm</a:t>
            </a:r>
            <a:r>
              <a:rPr lang="en-US" baseline="0" dirty="0"/>
              <a:t> </a:t>
            </a:r>
            <a:r>
              <a:rPr lang="en-US" baseline="0" dirty="0" err="1"/>
              <a:t>tra</a:t>
            </a:r>
            <a:r>
              <a:rPr lang="en-US" baseline="0" dirty="0"/>
              <a:t> </a:t>
            </a:r>
            <a:r>
              <a:rPr lang="en-US" baseline="0" dirty="0" err="1"/>
              <a:t>gì</a:t>
            </a:r>
            <a:r>
              <a:rPr lang="en-US" baseline="0" dirty="0"/>
              <a:t>? </a:t>
            </a:r>
            <a:r>
              <a:rPr lang="en-US" baseline="0" dirty="0" err="1"/>
              <a:t>tính</a:t>
            </a:r>
            <a:r>
              <a:rPr lang="en-US" baseline="0" dirty="0"/>
              <a:t> </a:t>
            </a:r>
            <a:r>
              <a:rPr lang="en-US" baseline="0" dirty="0" err="1"/>
              <a:t>gì</a:t>
            </a:r>
            <a:r>
              <a:rPr lang="en-US" baseline="0" dirty="0"/>
              <a:t>?</a:t>
            </a:r>
          </a:p>
          <a:p>
            <a:r>
              <a:rPr lang="en-US" baseline="0" dirty="0" err="1"/>
              <a:t>Tính</a:t>
            </a:r>
            <a:r>
              <a:rPr lang="en-US" baseline="0" dirty="0"/>
              <a:t> </a:t>
            </a:r>
            <a:r>
              <a:rPr lang="en-US" baseline="0" dirty="0" err="1"/>
              <a:t>Pvalue</a:t>
            </a:r>
            <a:r>
              <a:rPr lang="en-US" baseline="0" dirty="0"/>
              <a:t> &lt; 0.05 ~&gt; </a:t>
            </a:r>
            <a:r>
              <a:rPr lang="en-US" baseline="0" dirty="0" err="1"/>
              <a:t>biểu</a:t>
            </a:r>
            <a:r>
              <a:rPr lang="en-US" baseline="0" dirty="0"/>
              <a:t> </a:t>
            </a:r>
            <a:r>
              <a:rPr lang="en-US" baseline="0" dirty="0" err="1"/>
              <a:t>đồ</a:t>
            </a:r>
            <a:r>
              <a:rPr lang="en-US" baseline="0" dirty="0"/>
              <a:t> </a:t>
            </a:r>
            <a:r>
              <a:rPr lang="en-US" baseline="0" dirty="0" err="1"/>
              <a:t>phân</a:t>
            </a:r>
            <a:r>
              <a:rPr lang="en-US" baseline="0" dirty="0"/>
              <a:t> </a:t>
            </a:r>
            <a:r>
              <a:rPr lang="en-US" baseline="0" dirty="0" err="1"/>
              <a:t>bố</a:t>
            </a:r>
            <a:r>
              <a:rPr lang="en-US" baseline="0" dirty="0"/>
              <a:t> </a:t>
            </a:r>
            <a:r>
              <a:rPr lang="en-US" baseline="0" dirty="0" err="1"/>
              <a:t>tập</a:t>
            </a:r>
            <a:r>
              <a:rPr lang="en-US" baseline="0" dirty="0"/>
              <a:t> </a:t>
            </a:r>
            <a:r>
              <a:rPr lang="en-US" baseline="0" dirty="0" err="1"/>
              <a:t>trung</a:t>
            </a:r>
            <a:r>
              <a:rPr lang="en-US" baseline="0" dirty="0"/>
              <a:t> ~&gt; </a:t>
            </a:r>
            <a:r>
              <a:rPr lang="en-US" baseline="0" dirty="0" err="1"/>
              <a:t>dữ</a:t>
            </a:r>
            <a:r>
              <a:rPr lang="en-US" baseline="0" dirty="0"/>
              <a:t> </a:t>
            </a:r>
            <a:r>
              <a:rPr lang="en-US" baseline="0" dirty="0" err="1"/>
              <a:t>liệu</a:t>
            </a:r>
            <a:r>
              <a:rPr lang="en-US" baseline="0" dirty="0"/>
              <a:t> </a:t>
            </a:r>
            <a:r>
              <a:rPr lang="en-US" baseline="0" dirty="0" err="1"/>
              <a:t>có</a:t>
            </a:r>
            <a:r>
              <a:rPr lang="en-US" baseline="0" dirty="0"/>
              <a:t> </a:t>
            </a:r>
            <a:r>
              <a:rPr lang="en-US" baseline="0" dirty="0" err="1"/>
              <a:t>thể</a:t>
            </a:r>
            <a:r>
              <a:rPr lang="en-US" baseline="0" dirty="0"/>
              <a:t> tin </a:t>
            </a:r>
            <a:r>
              <a:rPr lang="en-US" baseline="0" dirty="0" err="1"/>
              <a:t>tưởng</a:t>
            </a:r>
            <a:r>
              <a:rPr lang="en-US" baseline="0" dirty="0"/>
              <a:t> </a:t>
            </a:r>
            <a:r>
              <a:rPr lang="en-US" baseline="0" dirty="0" err="1"/>
              <a:t>và</a:t>
            </a:r>
            <a:r>
              <a:rPr lang="en-US" baseline="0" dirty="0"/>
              <a:t> </a:t>
            </a:r>
            <a:r>
              <a:rPr lang="en-US" baseline="0" dirty="0" err="1"/>
              <a:t>sử</a:t>
            </a:r>
            <a:r>
              <a:rPr lang="en-US" baseline="0" dirty="0"/>
              <a:t> dung </a:t>
            </a:r>
            <a:r>
              <a:rPr lang="en-US" baseline="0" dirty="0" err="1"/>
              <a:t>tiếp</a:t>
            </a:r>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235</a:t>
            </a:fld>
            <a:endParaRPr lang="ko-KR" altLang="en-US" dirty="0"/>
          </a:p>
        </p:txBody>
      </p:sp>
    </p:spTree>
    <p:extLst>
      <p:ext uri="{BB962C8B-B14F-4D97-AF65-F5344CB8AC3E}">
        <p14:creationId xmlns:p14="http://schemas.microsoft.com/office/powerpoint/2010/main" val="212606304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236</a:t>
            </a:fld>
            <a:endParaRPr lang="ko-KR" altLang="en-US" dirty="0"/>
          </a:p>
        </p:txBody>
      </p:sp>
    </p:spTree>
    <p:extLst>
      <p:ext uri="{BB962C8B-B14F-4D97-AF65-F5344CB8AC3E}">
        <p14:creationId xmlns:p14="http://schemas.microsoft.com/office/powerpoint/2010/main" val="260740671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238</a:t>
            </a:fld>
            <a:endParaRPr lang="ko-KR" altLang="en-US" dirty="0"/>
          </a:p>
        </p:txBody>
      </p:sp>
    </p:spTree>
    <p:extLst>
      <p:ext uri="{BB962C8B-B14F-4D97-AF65-F5344CB8AC3E}">
        <p14:creationId xmlns:p14="http://schemas.microsoft.com/office/powerpoint/2010/main" val="3382368454"/>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Footer Placeholder 3"/>
          <p:cNvSpPr>
            <a:spLocks noGrp="1"/>
          </p:cNvSpPr>
          <p:nvPr>
            <p:ph type="ftr" sz="quarter" idx="10"/>
          </p:nvPr>
        </p:nvSpPr>
        <p:spPr/>
        <p:txBody>
          <a:bodyPr/>
          <a:lstStyle/>
          <a:p>
            <a:pPr>
              <a:defRPr/>
            </a:pPr>
            <a:endParaRPr lang="ko-KR" altLang="en-US" dirty="0"/>
          </a:p>
        </p:txBody>
      </p:sp>
      <p:sp>
        <p:nvSpPr>
          <p:cNvPr id="5" name="Slide Number Placeholder 4"/>
          <p:cNvSpPr>
            <a:spLocks noGrp="1"/>
          </p:cNvSpPr>
          <p:nvPr>
            <p:ph type="sldNum" sz="quarter" idx="11"/>
          </p:nvPr>
        </p:nvSpPr>
        <p:spPr/>
        <p:txBody>
          <a:bodyPr/>
          <a:lstStyle/>
          <a:p>
            <a:pPr>
              <a:defRPr/>
            </a:pPr>
            <a:fld id="{57D61B13-DF71-4CDB-8E21-B10FB1C732E6}" type="slidenum">
              <a:rPr lang="ko-KR" altLang="en-US" smtClean="0"/>
              <a:pPr>
                <a:defRPr/>
              </a:pPr>
              <a:t>239</a:t>
            </a:fld>
            <a:endParaRPr lang="ko-KR" altLang="en-US" dirty="0"/>
          </a:p>
        </p:txBody>
      </p:sp>
    </p:spTree>
    <p:extLst>
      <p:ext uri="{BB962C8B-B14F-4D97-AF65-F5344CB8AC3E}">
        <p14:creationId xmlns:p14="http://schemas.microsoft.com/office/powerpoint/2010/main" val="155525491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5844"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2C6041AC-DC49-4295-9A39-8A02F2F62EE5}" type="slidenum">
              <a:rPr lang="ko-KR" altLang="en-US" smtClean="0"/>
              <a:pPr fontAlgn="base">
                <a:spcBef>
                  <a:spcPct val="0"/>
                </a:spcBef>
                <a:spcAft>
                  <a:spcPct val="0"/>
                </a:spcAft>
                <a:defRPr/>
              </a:pPr>
              <a:t>244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859922817"/>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ko-KR" dirty="0"/>
              <a:t>SQA: </a:t>
            </a:r>
            <a:r>
              <a:rPr lang="en-US" altLang="ko-KR" dirty="0" err="1"/>
              <a:t>kiemr</a:t>
            </a:r>
            <a:r>
              <a:rPr lang="en-US" altLang="ko-KR" baseline="0" dirty="0"/>
              <a:t> </a:t>
            </a:r>
            <a:r>
              <a:rPr lang="en-US" altLang="ko-KR" baseline="0" dirty="0" err="1"/>
              <a:t>soát</a:t>
            </a:r>
            <a:r>
              <a:rPr lang="en-US" altLang="ko-KR" baseline="0" dirty="0"/>
              <a:t> </a:t>
            </a:r>
            <a:r>
              <a:rPr lang="en-US" altLang="ko-KR" baseline="0" dirty="0" err="1"/>
              <a:t>nhiệt</a:t>
            </a:r>
            <a:r>
              <a:rPr lang="en-US" altLang="ko-KR" baseline="0" dirty="0"/>
              <a:t> </a:t>
            </a:r>
            <a:r>
              <a:rPr lang="en-US" altLang="ko-KR" baseline="0" dirty="0" err="1"/>
              <a:t>độ</a:t>
            </a:r>
            <a:r>
              <a:rPr lang="en-US" altLang="ko-KR" baseline="0" dirty="0"/>
              <a:t>, </a:t>
            </a:r>
            <a:r>
              <a:rPr lang="en-US" altLang="ko-KR" baseline="0" dirty="0" err="1"/>
              <a:t>độ</a:t>
            </a:r>
            <a:r>
              <a:rPr lang="en-US" altLang="ko-KR" baseline="0" dirty="0"/>
              <a:t> </a:t>
            </a:r>
            <a:r>
              <a:rPr lang="en-US" altLang="ko-KR" baseline="0" dirty="0" err="1"/>
              <a:t>ẩm</a:t>
            </a:r>
            <a:endParaRPr lang="en-US" altLang="ko-KR" baseline="0" dirty="0"/>
          </a:p>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2B9D14C7-3501-4DD6-8812-B6A1C4245CE1}" type="slidenum">
              <a:rPr lang="ko-KR" altLang="en-US" smtClean="0"/>
              <a:pPr fontAlgn="base">
                <a:spcBef>
                  <a:spcPct val="0"/>
                </a:spcBef>
                <a:spcAft>
                  <a:spcPct val="0"/>
                </a:spcAft>
                <a:defRPr/>
              </a:pPr>
              <a:t>245</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22926551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ko-KR" dirty="0"/>
              <a:t>VD:</a:t>
            </a:r>
            <a:r>
              <a:rPr lang="en-US" altLang="ko-KR" baseline="0" dirty="0"/>
              <a:t> sp </a:t>
            </a:r>
            <a:r>
              <a:rPr lang="en-US" altLang="ko-KR" baseline="0" dirty="0" err="1"/>
              <a:t>điện</a:t>
            </a:r>
            <a:r>
              <a:rPr lang="en-US" altLang="ko-KR" baseline="0" dirty="0"/>
              <a:t> </a:t>
            </a:r>
            <a:r>
              <a:rPr lang="en-US" altLang="ko-KR" baseline="0" dirty="0" err="1"/>
              <a:t>thoại</a:t>
            </a:r>
            <a:r>
              <a:rPr lang="en-US" altLang="ko-KR" baseline="0" dirty="0"/>
              <a:t> ~&gt; </a:t>
            </a:r>
            <a:r>
              <a:rPr lang="en-US" altLang="ko-KR" baseline="0" dirty="0" err="1"/>
              <a:t>dùng</a:t>
            </a:r>
            <a:r>
              <a:rPr lang="en-US" altLang="ko-KR" baseline="0" dirty="0"/>
              <a:t> </a:t>
            </a:r>
            <a:r>
              <a:rPr lang="en-US" altLang="ko-KR" baseline="0" dirty="0" err="1"/>
              <a:t>thời</a:t>
            </a:r>
            <a:r>
              <a:rPr lang="en-US" altLang="ko-KR" baseline="0" dirty="0"/>
              <a:t> </a:t>
            </a:r>
            <a:r>
              <a:rPr lang="en-US" altLang="ko-KR" baseline="0" dirty="0" err="1"/>
              <a:t>gian</a:t>
            </a:r>
            <a:r>
              <a:rPr lang="en-US" altLang="ko-KR" baseline="0" dirty="0"/>
              <a:t> </a:t>
            </a:r>
            <a:r>
              <a:rPr lang="en-US" altLang="ko-KR" baseline="0" dirty="0" err="1"/>
              <a:t>dài</a:t>
            </a:r>
            <a:r>
              <a:rPr lang="en-US" altLang="ko-KR" baseline="0" dirty="0"/>
              <a:t> ???</a:t>
            </a: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08500552-C44A-4179-8615-FCB0E23B9672}" type="slidenum">
              <a:rPr lang="ko-KR" altLang="en-US" smtClean="0"/>
              <a:pPr fontAlgn="base">
                <a:spcBef>
                  <a:spcPct val="0"/>
                </a:spcBef>
                <a:spcAft>
                  <a:spcPct val="0"/>
                </a:spcAft>
                <a:defRPr/>
              </a:pPr>
              <a:t>246</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544533998"/>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슬라이드 노트 개체 틀 2"/>
          <p:cNvSpPr>
            <a:spLocks noGrp="1"/>
          </p:cNvSpPr>
          <p:nvPr>
            <p:ph type="body" idx="1"/>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eaLnBrk="1" hangingPunct="1">
              <a:spcBef>
                <a:spcPct val="0"/>
              </a:spcBef>
              <a:defRPr/>
            </a:pPr>
            <a:r>
              <a:rPr lang="en-US" altLang="ko-KR" dirty="0"/>
              <a:t>VD:</a:t>
            </a:r>
            <a:r>
              <a:rPr lang="en-US" altLang="ko-KR" baseline="0" dirty="0"/>
              <a:t> </a:t>
            </a:r>
            <a:r>
              <a:rPr lang="en-US" altLang="ko-KR" baseline="0" dirty="0" err="1"/>
              <a:t>thả</a:t>
            </a:r>
            <a:r>
              <a:rPr lang="en-US" altLang="ko-KR" baseline="0" dirty="0"/>
              <a:t> part </a:t>
            </a:r>
            <a:r>
              <a:rPr lang="en-US" altLang="ko-KR" baseline="0" dirty="0" err="1"/>
              <a:t>chuyền</a:t>
            </a:r>
            <a:r>
              <a:rPr lang="en-US" altLang="ko-KR" baseline="0" dirty="0"/>
              <a:t> TV</a:t>
            </a:r>
            <a:endParaRPr lang="en-US" altLang="ko-KR"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F2E1689F-4B69-4E13-B87B-9DBDD3AEDDD8}" type="slidenum">
              <a:rPr lang="ko-KR" altLang="en-US" smtClean="0"/>
              <a:pPr fontAlgn="base">
                <a:spcBef>
                  <a:spcPct val="0"/>
                </a:spcBef>
                <a:spcAft>
                  <a:spcPct val="0"/>
                </a:spcAft>
                <a:defRPr/>
              </a:pPr>
              <a:t>247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60116843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ko-KR" dirty="0" err="1"/>
              <a:t>Dựa</a:t>
            </a:r>
            <a:r>
              <a:rPr lang="en-US" altLang="ko-KR" dirty="0"/>
              <a:t> </a:t>
            </a:r>
            <a:r>
              <a:rPr lang="en-US" altLang="ko-KR" dirty="0" err="1"/>
              <a:t>trên</a:t>
            </a:r>
            <a:r>
              <a:rPr lang="en-US" altLang="ko-KR" baseline="0" dirty="0"/>
              <a:t> </a:t>
            </a:r>
            <a:r>
              <a:rPr lang="en-US" altLang="ko-KR" baseline="0" dirty="0" err="1"/>
              <a:t>yếu</a:t>
            </a:r>
            <a:r>
              <a:rPr lang="en-US" altLang="ko-KR" baseline="0" dirty="0"/>
              <a:t> </a:t>
            </a:r>
            <a:r>
              <a:rPr lang="en-US" altLang="ko-KR" baseline="0" dirty="0" err="1"/>
              <a:t>tố</a:t>
            </a:r>
            <a:r>
              <a:rPr lang="en-US" altLang="ko-KR" baseline="0" dirty="0"/>
              <a:t> </a:t>
            </a:r>
            <a:r>
              <a:rPr lang="en-US" altLang="ko-KR" baseline="0" dirty="0" err="1"/>
              <a:t>nào</a:t>
            </a:r>
            <a:r>
              <a:rPr lang="en-US" altLang="ko-KR" baseline="0" dirty="0"/>
              <a:t> </a:t>
            </a:r>
            <a:r>
              <a:rPr lang="en-US" altLang="ko-KR" baseline="0" dirty="0" err="1"/>
              <a:t>để</a:t>
            </a:r>
            <a:r>
              <a:rPr lang="en-US" altLang="ko-KR" baseline="0" dirty="0"/>
              <a:t> </a:t>
            </a:r>
            <a:r>
              <a:rPr lang="en-US" altLang="ko-KR" baseline="0" dirty="0" err="1"/>
              <a:t>nhận</a:t>
            </a:r>
            <a:r>
              <a:rPr lang="en-US" altLang="ko-KR" baseline="0" dirty="0"/>
              <a:t> </a:t>
            </a:r>
            <a:r>
              <a:rPr lang="en-US" altLang="ko-KR" baseline="0" dirty="0" err="1"/>
              <a:t>biết</a:t>
            </a:r>
            <a:r>
              <a:rPr lang="en-US" altLang="ko-KR" baseline="0" dirty="0"/>
              <a:t> </a:t>
            </a:r>
            <a:r>
              <a:rPr lang="en-US" altLang="ko-KR" baseline="0" dirty="0" err="1"/>
              <a:t>được</a:t>
            </a:r>
            <a:r>
              <a:rPr lang="en-US" altLang="ko-KR" baseline="0" dirty="0"/>
              <a:t> Assignable - Chance</a:t>
            </a: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944764B6-CB72-43E4-994A-6400C6473EE7}" type="slidenum">
              <a:rPr lang="ko-KR" altLang="en-US" smtClean="0"/>
              <a:pPr fontAlgn="base">
                <a:spcBef>
                  <a:spcPct val="0"/>
                </a:spcBef>
                <a:spcAft>
                  <a:spcPct val="0"/>
                </a:spcAft>
                <a:defRPr/>
              </a:pPr>
              <a:t>248</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36872681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63990352-1B69-4D16-8986-9F25413A29C1}" type="slidenum">
              <a:rPr lang="ko-KR" altLang="en-US" smtClean="0"/>
              <a:pPr fontAlgn="base">
                <a:spcBef>
                  <a:spcPct val="0"/>
                </a:spcBef>
                <a:spcAft>
                  <a:spcPct val="0"/>
                </a:spcAft>
                <a:defRPr/>
              </a:pPr>
              <a:t>249</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73894418"/>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41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67683838-DFB7-4423-A65A-49B70DED1C40}" type="slidenum">
              <a:rPr lang="ko-KR" altLang="en-US" smtClean="0"/>
              <a:pPr>
                <a:defRPr/>
              </a:pPr>
              <a:t>250</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652196626"/>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A59FDD90-BE96-45E2-BC1E-6FC9A876C817}" type="slidenum">
              <a:rPr lang="ko-KR" altLang="en-US" smtClean="0"/>
              <a:pPr fontAlgn="base">
                <a:spcBef>
                  <a:spcPct val="0"/>
                </a:spcBef>
                <a:spcAft>
                  <a:spcPct val="0"/>
                </a:spcAft>
                <a:defRPr/>
              </a:pPr>
              <a:t>251</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60925509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ko-KR"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B10D28E6-06F6-457F-82E1-C262DC876F5F}" type="slidenum">
              <a:rPr lang="ko-KR" altLang="en-US" smtClean="0"/>
              <a:pPr fontAlgn="base">
                <a:spcBef>
                  <a:spcPct val="0"/>
                </a:spcBef>
                <a:spcAft>
                  <a:spcPct val="0"/>
                </a:spcAft>
                <a:defRPr/>
              </a:pPr>
              <a:t>252</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985988680"/>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ko-KR"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B10D28E6-06F6-457F-82E1-C262DC876F5F}" type="slidenum">
              <a:rPr lang="ko-KR" altLang="en-US" smtClean="0"/>
              <a:pPr fontAlgn="base">
                <a:spcBef>
                  <a:spcPct val="0"/>
                </a:spcBef>
                <a:spcAft>
                  <a:spcPct val="0"/>
                </a:spcAft>
                <a:defRPr/>
              </a:pPr>
              <a:t>253</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985988680"/>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51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E93E2A44-5C23-497C-8D17-88EEE3AAC864}" type="slidenum">
              <a:rPr lang="ko-KR" altLang="en-US" smtClean="0"/>
              <a:pPr fontAlgn="base">
                <a:spcBef>
                  <a:spcPct val="0"/>
                </a:spcBef>
                <a:spcAft>
                  <a:spcPct val="0"/>
                </a:spcAft>
                <a:defRPr/>
              </a:pPr>
              <a:t>254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17878570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553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051099B3-4160-44F8-8E18-CAB2B5261852}" type="slidenum">
              <a:rPr lang="ko-KR" altLang="en-US" smtClean="0"/>
              <a:pPr fontAlgn="base">
                <a:spcBef>
                  <a:spcPct val="0"/>
                </a:spcBef>
                <a:spcAft>
                  <a:spcPct val="0"/>
                </a:spcAft>
                <a:defRPr/>
              </a:pPr>
              <a:t>255</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503305274"/>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656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D93386F3-C90F-4DC0-8AE2-3413C79E597C}" type="slidenum">
              <a:rPr lang="ko-KR" altLang="en-US" smtClean="0"/>
              <a:pPr fontAlgn="base">
                <a:spcBef>
                  <a:spcPct val="0"/>
                </a:spcBef>
                <a:spcAft>
                  <a:spcPct val="0"/>
                </a:spcAft>
                <a:defRPr/>
              </a:pPr>
              <a:t>256</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912063796"/>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FA17A9AD-667A-4D8C-95B0-C3412ECAEDC5}" type="slidenum">
              <a:rPr lang="ko-KR" altLang="en-US" smtClean="0"/>
              <a:pPr fontAlgn="base">
                <a:spcBef>
                  <a:spcPct val="0"/>
                </a:spcBef>
                <a:spcAft>
                  <a:spcPct val="0"/>
                </a:spcAft>
                <a:defRPr/>
              </a:pPr>
              <a:t>257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035603967"/>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861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1285B7A2-6497-4B49-93FE-C8F36C004960}" type="slidenum">
              <a:rPr lang="ko-KR" altLang="en-US" smtClean="0"/>
              <a:pPr fontAlgn="base">
                <a:spcBef>
                  <a:spcPct val="0"/>
                </a:spcBef>
                <a:spcAft>
                  <a:spcPct val="0"/>
                </a:spcAft>
                <a:defRPr/>
              </a:pPr>
              <a:t>258</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52434067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065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ko-KR"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2B4DD058-F3DB-4A20-BEF1-AE5F0EB13930}" type="slidenum">
              <a:rPr lang="ko-KR" altLang="en-US" smtClean="0"/>
              <a:pPr fontAlgn="base">
                <a:spcBef>
                  <a:spcPct val="0"/>
                </a:spcBef>
                <a:spcAft>
                  <a:spcPct val="0"/>
                </a:spcAft>
                <a:defRPr/>
              </a:pPr>
              <a:t>259</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623178836"/>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168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05BB2E27-2C48-40AF-8DC5-A40B80E5B54C}" type="slidenum">
              <a:rPr lang="ko-KR" altLang="en-US" smtClean="0"/>
              <a:pPr fontAlgn="base">
                <a:spcBef>
                  <a:spcPct val="0"/>
                </a:spcBef>
                <a:spcAft>
                  <a:spcPct val="0"/>
                </a:spcAft>
                <a:defRPr/>
              </a:pPr>
              <a:t>260</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1475581322"/>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5D1EC503-0265-4E7B-9119-76B62C916A7B}" type="slidenum">
              <a:rPr lang="ko-KR" altLang="en-US" smtClean="0"/>
              <a:pPr fontAlgn="base">
                <a:spcBef>
                  <a:spcPct val="0"/>
                </a:spcBef>
                <a:spcAft>
                  <a:spcPct val="0"/>
                </a:spcAft>
                <a:defRPr/>
              </a:pPr>
              <a:t>261</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464183094"/>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373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68DC5D6B-7D60-448A-A416-BB4677AB7705}" type="slidenum">
              <a:rPr lang="ko-KR" altLang="en-US" smtClean="0"/>
              <a:pPr fontAlgn="base">
                <a:spcBef>
                  <a:spcPct val="0"/>
                </a:spcBef>
                <a:spcAft>
                  <a:spcPct val="0"/>
                </a:spcAft>
                <a:defRPr/>
              </a:pPr>
              <a:t>262</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4107267983"/>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475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0CDE0FB4-22B5-4F3E-9EEF-7E357BA46560}" type="slidenum">
              <a:rPr lang="ko-KR" altLang="en-US" smtClean="0"/>
              <a:pPr fontAlgn="base">
                <a:spcBef>
                  <a:spcPct val="0"/>
                </a:spcBef>
                <a:spcAft>
                  <a:spcPct val="0"/>
                </a:spcAft>
                <a:defRPr/>
              </a:pPr>
              <a:t>263</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979451262"/>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577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ko-KR" dirty="0"/>
          </a:p>
        </p:txBody>
      </p:sp>
      <p:sp>
        <p:nvSpPr>
          <p:cNvPr id="4" name="슬라이드 번호 개체 틀 3"/>
          <p:cNvSpPr>
            <a:spLocks noGrp="1"/>
          </p:cNvSpPr>
          <p:nvPr>
            <p:ph type="sldNum" sz="quarter" idx="5"/>
          </p:nvPr>
        </p:nvSpPr>
        <p:spPr/>
        <p:txBody>
          <a:bodyPr/>
          <a:lstStyle/>
          <a:p>
            <a:pPr>
              <a:defRPr/>
            </a:pPr>
            <a:fld id="{E563E3C2-77B0-4FFF-BE54-6830549DBBC0}" type="slidenum">
              <a:rPr lang="ko-KR" altLang="en-US" smtClean="0"/>
              <a:pPr>
                <a:defRPr/>
              </a:pPr>
              <a:t>264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471145439"/>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680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vi-VN" dirty="0"/>
              <a:t>điều chỉnh quá thường xuyên thiết bị, cơ chế buộc không ổn định, vật liệu, công nhân, sự khác biệt cụ.</a:t>
            </a:r>
            <a:endParaRPr lang="ko-KR" altLang="en-US" dirty="0"/>
          </a:p>
        </p:txBody>
      </p:sp>
      <p:sp>
        <p:nvSpPr>
          <p:cNvPr id="4" name="슬라이드 번호 개체 틀 3"/>
          <p:cNvSpPr>
            <a:spLocks noGrp="1"/>
          </p:cNvSpPr>
          <p:nvPr>
            <p:ph type="sldNum" sz="quarter" idx="5"/>
          </p:nvPr>
        </p:nvSpPr>
        <p:spPr/>
        <p:txBody>
          <a:bodyPr/>
          <a:lstStyle/>
          <a:p>
            <a:pPr>
              <a:defRPr/>
            </a:pPr>
            <a:fld id="{A02521E6-F07B-400F-968F-2EF69FDC9698}" type="slidenum">
              <a:rPr lang="ko-KR" altLang="en-US" smtClean="0"/>
              <a:pPr>
                <a:defRPr/>
              </a:pPr>
              <a:t>265</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0521903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782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vi-VN" dirty="0"/>
              <a:t>bảo quản kém thiết bị, công nhân bất cẩn hoặc sai lầm, những thay đổi trong nguyên liệu.</a:t>
            </a:r>
            <a:br>
              <a:rPr lang="vi-VN" dirty="0"/>
            </a:br>
            <a:r>
              <a:rPr lang="vi-VN" dirty="0"/>
              <a:t>(Khi chất lượng kém: tăng, khi chất lượng là tốt: giảm)</a:t>
            </a:r>
            <a:endParaRPr lang="en-US" dirty="0"/>
          </a:p>
          <a:p>
            <a:r>
              <a:rPr lang="vi-VN" dirty="0"/>
              <a:t>Thiết lập thay đổi trong các thiết bị sản xuất, luân chuyển công nhân, sửa đổi quy trình làm việc, giới thiệu các nguyên liệu mới, thiết bị sản xuất thiết lập lại lên.</a:t>
            </a:r>
            <a:endParaRPr lang="ko-KR" altLang="en-US" dirty="0"/>
          </a:p>
        </p:txBody>
      </p:sp>
      <p:sp>
        <p:nvSpPr>
          <p:cNvPr id="4" name="슬라이드 번호 개체 틀 3"/>
          <p:cNvSpPr>
            <a:spLocks noGrp="1"/>
          </p:cNvSpPr>
          <p:nvPr>
            <p:ph type="sldNum" sz="quarter" idx="5"/>
          </p:nvPr>
        </p:nvSpPr>
        <p:spPr/>
        <p:txBody>
          <a:bodyPr/>
          <a:lstStyle/>
          <a:p>
            <a:pPr>
              <a:defRPr/>
            </a:pPr>
            <a:fld id="{B22D9792-2377-4AAD-AB10-2FE576E0702A}" type="slidenum">
              <a:rPr lang="ko-KR" altLang="en-US" smtClean="0"/>
              <a:pPr>
                <a:defRPr/>
              </a:pPr>
              <a:t>266</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3092575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vi-VN" dirty="0"/>
              <a:t>1.Decrease: cải thiện dần chất lượng nguyên liệu, hiệu suất thiết bị sản xuất tốt hơn đạt được thông qua bảo trì thiết bị hiệu quả</a:t>
            </a:r>
            <a:br>
              <a:rPr lang="vi-VN" dirty="0"/>
            </a:br>
            <a:r>
              <a:rPr lang="vi-VN" dirty="0"/>
              <a:t>2.Increase: nới lỏng dần hay đeo máy, công cụ, hoặc kiểm tra máy móc, suy thoái chất lượng</a:t>
            </a:r>
            <a:endParaRPr lang="en-US" dirty="0"/>
          </a:p>
          <a:p>
            <a:endParaRPr lang="en-US" altLang="ko-KR" dirty="0"/>
          </a:p>
          <a:p>
            <a:r>
              <a:rPr lang="vi-VN" dirty="0"/>
              <a:t>Dần dần mặc các công cụ, giảm dần các thành phần hoạt chất trong các giải pháp, công nhân mệt mỏi, thay đổi nước làm mát</a:t>
            </a:r>
            <a:endParaRPr lang="ko-KR" altLang="en-US" dirty="0"/>
          </a:p>
        </p:txBody>
      </p:sp>
      <p:sp>
        <p:nvSpPr>
          <p:cNvPr id="4" name="슬라이드 번호 개체 틀 3"/>
          <p:cNvSpPr>
            <a:spLocks noGrp="1"/>
          </p:cNvSpPr>
          <p:nvPr>
            <p:ph type="sldNum" sz="quarter" idx="5"/>
          </p:nvPr>
        </p:nvSpPr>
        <p:spPr/>
        <p:txBody>
          <a:bodyPr/>
          <a:lstStyle/>
          <a:p>
            <a:pPr>
              <a:defRPr/>
            </a:pPr>
            <a:fld id="{FAC3499A-9323-4D31-8867-5D3EA4DD629A}" type="slidenum">
              <a:rPr lang="ko-KR" altLang="en-US" smtClean="0"/>
              <a:pPr>
                <a:defRPr/>
              </a:pPr>
              <a:t>267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011682164"/>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987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vi-VN" dirty="0"/>
              <a:t>mệt mỏi lao động hoặc xoay người lao động, thay thế định kỳ của các công cụ, lịch trình bảo trì, đeo dụng cụ.</a:t>
            </a:r>
            <a:br>
              <a:rPr lang="vi-VN" dirty="0"/>
            </a:br>
            <a:endParaRPr lang="ko-KR" altLang="en-US" dirty="0"/>
          </a:p>
        </p:txBody>
      </p:sp>
      <p:sp>
        <p:nvSpPr>
          <p:cNvPr id="4" name="슬라이드 번호 개체 틀 3"/>
          <p:cNvSpPr>
            <a:spLocks noGrp="1"/>
          </p:cNvSpPr>
          <p:nvPr>
            <p:ph type="sldNum" sz="quarter" idx="5"/>
          </p:nvPr>
        </p:nvSpPr>
        <p:spPr/>
        <p:txBody>
          <a:bodyPr/>
          <a:lstStyle/>
          <a:p>
            <a:pPr>
              <a:defRPr/>
            </a:pPr>
            <a:fld id="{151E2740-48A8-4F6A-81B9-A196E9257854}" type="slidenum">
              <a:rPr lang="ko-KR" altLang="en-US" smtClean="0"/>
              <a:pPr>
                <a:defRPr/>
              </a:pPr>
              <a:t>268</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122216670"/>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8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vi-VN" dirty="0"/>
              <a:t>Công nhân sai lầm, incompetency kỹ thuật do đào tạo không đầy đủ, độ rung quá mức do cơ chế buộc không đúng.</a:t>
            </a:r>
            <a:br>
              <a:rPr lang="vi-VN" dirty="0"/>
            </a:br>
            <a:r>
              <a:rPr lang="vi-VN" dirty="0"/>
              <a:t>nguyên liệu không phù hợp được cung cấp bởi các nhà cung cấp khác nhau, bộ phận bị lỗi, đo sai lầm hoặc dụng cụ bị lỗi</a:t>
            </a:r>
            <a:endParaRPr lang="ko-KR" altLang="en-US" dirty="0"/>
          </a:p>
        </p:txBody>
      </p:sp>
      <p:sp>
        <p:nvSpPr>
          <p:cNvPr id="4" name="슬라이드 번호 개체 틀 3"/>
          <p:cNvSpPr>
            <a:spLocks noGrp="1"/>
          </p:cNvSpPr>
          <p:nvPr>
            <p:ph type="sldNum" sz="quarter" idx="5"/>
          </p:nvPr>
        </p:nvSpPr>
        <p:spPr/>
        <p:txBody>
          <a:bodyPr/>
          <a:lstStyle/>
          <a:p>
            <a:pPr>
              <a:defRPr/>
            </a:pPr>
            <a:fld id="{45FD0B04-F443-4549-9BEC-261A047AC410}" type="slidenum">
              <a:rPr lang="ko-KR" altLang="en-US" smtClean="0"/>
              <a:pPr>
                <a:defRPr/>
              </a:pPr>
              <a:t>269</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616970285"/>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vi-VN" dirty="0"/>
              <a:t>công suất không đủ để phát hiện những thay đổi trong các thông số đặc tính chất lượng. Nếu các cụ không có khả năng phân biệt, những thay đổi trong quá trình này sẽ không được chú ý. Đơn vị đo tối thiểu phải bằng 1/10 giá trị khoan dung.</a:t>
            </a:r>
            <a:endParaRPr lang="en-US" dirty="0"/>
          </a:p>
          <a:p>
            <a:r>
              <a:rPr lang="vi-VN" dirty="0"/>
              <a:t>dữ liệu đo được chế tác nhân tạo để làm cho sản xuất tốt gần hơn với giá trị trung bình hoặc một sản phẩm bị lỗi đã được làm lại và cải thiện giá trị đã được ghi nhận.</a:t>
            </a:r>
            <a:endParaRPr lang="ko-KR" altLang="en-US" dirty="0"/>
          </a:p>
        </p:txBody>
      </p:sp>
      <p:sp>
        <p:nvSpPr>
          <p:cNvPr id="4" name="슬라이드 번호 개체 틀 3"/>
          <p:cNvSpPr>
            <a:spLocks noGrp="1"/>
          </p:cNvSpPr>
          <p:nvPr>
            <p:ph type="sldNum" sz="quarter" idx="5"/>
          </p:nvPr>
        </p:nvSpPr>
        <p:spPr/>
        <p:txBody>
          <a:bodyPr/>
          <a:lstStyle/>
          <a:p>
            <a:pPr>
              <a:defRPr/>
            </a:pPr>
            <a:fld id="{8C291316-39C8-4D62-9786-2FD902C7B3BB}" type="slidenum">
              <a:rPr lang="ko-KR" altLang="en-US" smtClean="0"/>
              <a:pPr>
                <a:defRPr/>
              </a:pPr>
              <a:t>270</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339526109"/>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294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vi-VN" dirty="0"/>
              <a:t>các nhà cung cấp khác nhau, công nhân, thanh tra viên, dây chuyền sản xuất, dụng cụ, tiêu chí kiểm tra được trộn lẫn.</a:t>
            </a:r>
            <a:endParaRPr lang="ko-KR" altLang="en-US" dirty="0"/>
          </a:p>
        </p:txBody>
      </p:sp>
      <p:sp>
        <p:nvSpPr>
          <p:cNvPr id="4" name="슬라이드 번호 개체 틀 3"/>
          <p:cNvSpPr>
            <a:spLocks noGrp="1"/>
          </p:cNvSpPr>
          <p:nvPr>
            <p:ph type="sldNum" sz="quarter" idx="5"/>
          </p:nvPr>
        </p:nvSpPr>
        <p:spPr/>
        <p:txBody>
          <a:bodyPr/>
          <a:lstStyle/>
          <a:p>
            <a:pPr>
              <a:defRPr/>
            </a:pPr>
            <a:fld id="{86C3F311-5543-4DBE-BD3C-86EBF08FEF77}" type="slidenum">
              <a:rPr lang="ko-KR" altLang="en-US" smtClean="0"/>
              <a:pPr>
                <a:defRPr/>
              </a:pPr>
              <a:t>271</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4086484703"/>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a:p>
        </p:txBody>
      </p:sp>
      <p:sp>
        <p:nvSpPr>
          <p:cNvPr id="4" name="슬라이드 번호 개체 틀 3"/>
          <p:cNvSpPr>
            <a:spLocks noGrp="1"/>
          </p:cNvSpPr>
          <p:nvPr>
            <p:ph type="sldNum" sz="quarter" idx="5"/>
          </p:nvPr>
        </p:nvSpPr>
        <p:spPr/>
        <p:txBody>
          <a:bodyPr/>
          <a:lstStyle/>
          <a:p>
            <a:pPr>
              <a:defRPr/>
            </a:pPr>
            <a:fld id="{2DF43ED2-5C15-4A5F-8448-D098CB2481E7}" type="slidenum">
              <a:rPr lang="ko-KR" altLang="en-US" smtClean="0"/>
              <a:pPr>
                <a:defRPr/>
              </a:pPr>
              <a:t>272</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3271481788"/>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601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ko-KR"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D83D40E2-0D18-4F5F-8B46-DFF499A984DE}" type="slidenum">
              <a:rPr lang="ko-KR" altLang="en-US" smtClean="0"/>
              <a:pPr fontAlgn="base">
                <a:spcBef>
                  <a:spcPct val="0"/>
                </a:spcBef>
                <a:spcAft>
                  <a:spcPct val="0"/>
                </a:spcAft>
                <a:defRPr/>
              </a:pPr>
              <a:t>273</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134693926"/>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704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625A64D8-8BEA-4DB5-9196-03BA4A2BF000}" type="slidenum">
              <a:rPr lang="ko-KR" altLang="en-US" smtClean="0"/>
              <a:pPr fontAlgn="base">
                <a:spcBef>
                  <a:spcPct val="0"/>
                </a:spcBef>
                <a:spcAft>
                  <a:spcPct val="0"/>
                </a:spcAft>
                <a:defRPr/>
              </a:pPr>
              <a:t>274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193884112"/>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8A017B3C-8543-40E5-9FF3-E5D1498C4129}" type="slidenum">
              <a:rPr lang="ko-KR" altLang="en-US" smtClean="0"/>
              <a:pPr fontAlgn="base">
                <a:spcBef>
                  <a:spcPct val="0"/>
                </a:spcBef>
                <a:spcAft>
                  <a:spcPct val="0"/>
                </a:spcAft>
                <a:defRPr/>
              </a:pPr>
              <a:t>275</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0339756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909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42E3E545-0F0D-4690-A20A-5C5CADE6736C}" type="slidenum">
              <a:rPr lang="ko-KR" altLang="en-US" smtClean="0"/>
              <a:pPr fontAlgn="base">
                <a:spcBef>
                  <a:spcPct val="0"/>
                </a:spcBef>
                <a:spcAft>
                  <a:spcPct val="0"/>
                </a:spcAft>
                <a:defRPr/>
              </a:pPr>
              <a:t>276</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718584898"/>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08373B99-EE2C-4D57-BB1D-F32972E767F9}" type="slidenum">
              <a:rPr lang="ko-KR" altLang="en-US" smtClean="0"/>
              <a:pPr fontAlgn="base">
                <a:spcBef>
                  <a:spcPct val="0"/>
                </a:spcBef>
                <a:spcAft>
                  <a:spcPct val="0"/>
                </a:spcAft>
                <a:defRPr/>
              </a:pPr>
              <a:t>277</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4265847414"/>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113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7970DE24-3E8D-4427-8CC9-FB361CB96E99}" type="slidenum">
              <a:rPr lang="ko-KR" altLang="en-US" smtClean="0"/>
              <a:pPr fontAlgn="base">
                <a:spcBef>
                  <a:spcPct val="0"/>
                </a:spcBef>
                <a:spcAft>
                  <a:spcPct val="0"/>
                </a:spcAft>
                <a:defRPr/>
              </a:pPr>
              <a:t>278</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712577503"/>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6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3BA9D259-F5B6-41BE-B2CF-3BCDA8EF5B07}" type="slidenum">
              <a:rPr lang="ko-KR" altLang="en-US" smtClean="0"/>
              <a:pPr fontAlgn="base">
                <a:spcBef>
                  <a:spcPct val="0"/>
                </a:spcBef>
                <a:spcAft>
                  <a:spcPct val="0"/>
                </a:spcAft>
                <a:defRPr/>
              </a:pPr>
              <a:t>279</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80603059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318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90726512-95D4-448F-885C-1C0491BB8A75}" type="slidenum">
              <a:rPr lang="ko-KR" altLang="en-US" smtClean="0"/>
              <a:pPr fontAlgn="base">
                <a:spcBef>
                  <a:spcPct val="0"/>
                </a:spcBef>
                <a:spcAft>
                  <a:spcPct val="0"/>
                </a:spcAft>
                <a:defRPr/>
              </a:pPr>
              <a:t>280</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89860481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421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24FD6D7C-CD0F-4783-8148-2F88CA2759F5}" type="slidenum">
              <a:rPr lang="ko-KR" altLang="en-US" smtClean="0"/>
              <a:pPr fontAlgn="base">
                <a:spcBef>
                  <a:spcPct val="0"/>
                </a:spcBef>
                <a:spcAft>
                  <a:spcPct val="0"/>
                </a:spcAft>
                <a:defRPr/>
              </a:pPr>
              <a:t>281</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443725673"/>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523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77CE2DEB-CC09-4251-8B83-5B36D325F047}" type="slidenum">
              <a:rPr lang="ko-KR" altLang="en-US" smtClean="0"/>
              <a:pPr fontAlgn="base">
                <a:spcBef>
                  <a:spcPct val="0"/>
                </a:spcBef>
                <a:spcAft>
                  <a:spcPct val="0"/>
                </a:spcAft>
                <a:defRPr/>
              </a:pPr>
              <a:t>282</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93050029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5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980EF141-AF24-4CEF-9307-CDB619711CE8}" type="slidenum">
              <a:rPr lang="ko-KR" altLang="en-US" smtClean="0"/>
              <a:pPr fontAlgn="base">
                <a:spcBef>
                  <a:spcPct val="0"/>
                </a:spcBef>
                <a:spcAft>
                  <a:spcPct val="0"/>
                </a:spcAft>
                <a:defRPr/>
              </a:pPr>
              <a:t>283</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47370098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51EFC2EA-8751-458C-A565-01B36732EF49}" type="slidenum">
              <a:rPr lang="ko-KR" altLang="en-US" smtClean="0"/>
              <a:pPr fontAlgn="base">
                <a:spcBef>
                  <a:spcPct val="0"/>
                </a:spcBef>
                <a:spcAft>
                  <a:spcPct val="0"/>
                </a:spcAft>
                <a:defRPr/>
              </a:pPr>
              <a:t>284</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4042967152"/>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830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CCBD8016-9CCD-407C-8632-ADCA100EB126}" type="slidenum">
              <a:rPr lang="ko-KR" altLang="en-US" smtClean="0"/>
              <a:pPr fontAlgn="base">
                <a:spcBef>
                  <a:spcPct val="0"/>
                </a:spcBef>
                <a:spcAft>
                  <a:spcPct val="0"/>
                </a:spcAft>
                <a:defRPr/>
              </a:pPr>
              <a:t>285</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3254459227"/>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933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A7C6443F-98BA-4A22-B985-985728E50BA9}" type="slidenum">
              <a:rPr lang="ko-KR" altLang="en-US" smtClean="0"/>
              <a:pPr fontAlgn="base">
                <a:spcBef>
                  <a:spcPct val="0"/>
                </a:spcBef>
                <a:spcAft>
                  <a:spcPct val="0"/>
                </a:spcAft>
                <a:defRPr/>
              </a:pPr>
              <a:t>286</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2028611090"/>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035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52E95B02-0E29-4401-B253-006D67779F55}" type="slidenum">
              <a:rPr lang="ko-KR" altLang="en-US" smtClean="0"/>
              <a:pPr fontAlgn="base">
                <a:spcBef>
                  <a:spcPct val="0"/>
                </a:spcBef>
                <a:spcAft>
                  <a:spcPct val="0"/>
                </a:spcAft>
                <a:defRPr/>
              </a:pPr>
              <a:t>287</a:t>
            </a:fld>
            <a:endParaRPr lang="ko-KR" altLang="en-US" dirty="0"/>
          </a:p>
        </p:txBody>
      </p:sp>
      <p:sp>
        <p:nvSpPr>
          <p:cNvPr id="2" name="바닥글 개체 틀 1"/>
          <p:cNvSpPr>
            <a:spLocks noGrp="1"/>
          </p:cNvSpPr>
          <p:nvPr>
            <p:ph type="ftr" sz="quarter" idx="10"/>
          </p:nvPr>
        </p:nvSpPr>
        <p:spPr/>
        <p:txBody>
          <a:bodyPr/>
          <a:lstStyle/>
          <a:p>
            <a:pPr>
              <a:defRPr/>
            </a:pPr>
            <a:endParaRPr lang="ko-KR" altLang="en-US" dirty="0"/>
          </a:p>
        </p:txBody>
      </p:sp>
    </p:spTree>
    <p:extLst>
      <p:ext uri="{BB962C8B-B14F-4D97-AF65-F5344CB8AC3E}">
        <p14:creationId xmlns:p14="http://schemas.microsoft.com/office/powerpoint/2010/main" val="1913760200"/>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240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449395DA-6EFB-45DC-8275-7E9D67A045AA}" type="slidenum">
              <a:rPr lang="ko-KR" altLang="en-US" smtClean="0"/>
              <a:pPr fontAlgn="base">
                <a:spcBef>
                  <a:spcPct val="0"/>
                </a:spcBef>
                <a:spcAft>
                  <a:spcPct val="0"/>
                </a:spcAft>
                <a:defRPr/>
              </a:pPr>
              <a:t>289</a:t>
            </a:fld>
            <a:endParaRPr lang="ko-KR" altLang="en-US"/>
          </a:p>
        </p:txBody>
      </p:sp>
      <p:sp>
        <p:nvSpPr>
          <p:cNvPr id="2" name="바닥글 개체 틀 1"/>
          <p:cNvSpPr>
            <a:spLocks noGrp="1"/>
          </p:cNvSpPr>
          <p:nvPr>
            <p:ph type="ftr" sz="quarter" idx="10"/>
          </p:nvPr>
        </p:nvSpPr>
        <p:spPr/>
        <p:txBody>
          <a:bodyPr/>
          <a:lstStyle/>
          <a:p>
            <a:pPr>
              <a:defRPr/>
            </a:pPr>
            <a:endParaRPr lang="ko-KR" altLang="en-US"/>
          </a:p>
        </p:txBody>
      </p:sp>
    </p:spTree>
    <p:extLst>
      <p:ext uri="{BB962C8B-B14F-4D97-AF65-F5344CB8AC3E}">
        <p14:creationId xmlns:p14="http://schemas.microsoft.com/office/powerpoint/2010/main" val="226092002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본문 슬라이드">
    <p:spTree>
      <p:nvGrpSpPr>
        <p:cNvPr id="1" name=""/>
        <p:cNvGrpSpPr/>
        <p:nvPr/>
      </p:nvGrpSpPr>
      <p:grpSpPr>
        <a:xfrm>
          <a:off x="0" y="0"/>
          <a:ext cx="0" cy="0"/>
          <a:chOff x="0" y="0"/>
          <a:chExt cx="0" cy="0"/>
        </a:xfrm>
      </p:grpSpPr>
      <p:sp>
        <p:nvSpPr>
          <p:cNvPr id="3" name="슬라이드 번호 개체 틀 5"/>
          <p:cNvSpPr>
            <a:spLocks noGrp="1"/>
          </p:cNvSpPr>
          <p:nvPr>
            <p:ph type="sldNum" sz="quarter" idx="10"/>
          </p:nvPr>
        </p:nvSpPr>
        <p:spPr/>
        <p:txBody>
          <a:bodyPr/>
          <a:lstStyle>
            <a:lvl1pPr algn="r">
              <a:defRPr sz="1000">
                <a:solidFill>
                  <a:schemeClr val="tx1"/>
                </a:solidFill>
              </a:defRPr>
            </a:lvl1pPr>
          </a:lstStyle>
          <a:p>
            <a:pPr>
              <a:defRPr/>
            </a:pPr>
            <a:fld id="{336E293E-7793-468B-AB4C-49C46432963A}" type="slidenum">
              <a:rPr lang="ko-KR" altLang="en-US"/>
              <a:pPr>
                <a:defRPr/>
              </a:pPr>
              <a:t>‹#›</a:t>
            </a:fld>
            <a:endParaRPr lang="ko-KR" altLang="en-US" dirty="0"/>
          </a:p>
        </p:txBody>
      </p:sp>
    </p:spTree>
    <p:extLst>
      <p:ext uri="{BB962C8B-B14F-4D97-AF65-F5344CB8AC3E}">
        <p14:creationId xmlns:p14="http://schemas.microsoft.com/office/powerpoint/2010/main" val="237834912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5" name="직사각형 4"/>
          <p:cNvSpPr/>
          <p:nvPr userDrawn="1"/>
        </p:nvSpPr>
        <p:spPr>
          <a:xfrm>
            <a:off x="0" y="2420938"/>
            <a:ext cx="9906000" cy="647700"/>
          </a:xfrm>
          <a:prstGeom prst="rect">
            <a:avLst/>
          </a:prstGeom>
          <a:solidFill>
            <a:schemeClr val="accent2">
              <a:lumMod val="60000"/>
              <a:lumOff val="40000"/>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a:lnSpc>
                <a:spcPct val="85000"/>
              </a:lnSpc>
              <a:spcBef>
                <a:spcPct val="30000"/>
              </a:spcBef>
              <a:spcAft>
                <a:spcPct val="30000"/>
              </a:spcAft>
              <a:buFont typeface="Wingdings" pitchFamily="2" charset="2"/>
              <a:buNone/>
              <a:defRPr/>
            </a:pPr>
            <a:endParaRPr lang="ko-KR" altLang="en-US" sz="1200" b="1" dirty="0">
              <a:solidFill>
                <a:srgbClr val="FFFFFF"/>
              </a:solidFill>
            </a:endParaRPr>
          </a:p>
        </p:txBody>
      </p:sp>
    </p:spTree>
    <p:extLst>
      <p:ext uri="{BB962C8B-B14F-4D97-AF65-F5344CB8AC3E}">
        <p14:creationId xmlns:p14="http://schemas.microsoft.com/office/powerpoint/2010/main" val="132443002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82638" y="4406900"/>
            <a:ext cx="84201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82638" y="2906713"/>
            <a:ext cx="84201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7" name="슬라이드 번호 개체 틀 5"/>
          <p:cNvSpPr>
            <a:spLocks noGrp="1"/>
          </p:cNvSpPr>
          <p:nvPr>
            <p:ph type="sldNum" sz="quarter" idx="4"/>
          </p:nvPr>
        </p:nvSpPr>
        <p:spPr>
          <a:xfrm>
            <a:off x="9166225" y="6475413"/>
            <a:ext cx="654050" cy="365125"/>
          </a:xfrm>
          <a:prstGeom prst="rect">
            <a:avLst/>
          </a:prstGeom>
        </p:spPr>
        <p:txBody>
          <a:bodyPr vert="horz" lIns="91440" tIns="45720" rIns="91440" bIns="45720" rtlCol="0" anchor="ctr"/>
          <a:lstStyle>
            <a:lvl1pPr algn="r" fontAlgn="auto">
              <a:spcBef>
                <a:spcPts val="0"/>
              </a:spcBef>
              <a:spcAft>
                <a:spcPts val="0"/>
              </a:spcAft>
              <a:defRPr kumimoji="0" sz="1000">
                <a:solidFill>
                  <a:schemeClr val="tx1"/>
                </a:solidFill>
                <a:latin typeface="+mn-lt"/>
                <a:ea typeface="+mn-ea"/>
              </a:defRPr>
            </a:lvl1pPr>
          </a:lstStyle>
          <a:p>
            <a:pPr>
              <a:defRPr/>
            </a:pPr>
            <a:fld id="{BA3A7022-CBD4-4A06-BAFB-3534D8B9DC6A}" type="slidenum">
              <a:rPr lang="ko-KR" altLang="en-US"/>
              <a:pPr>
                <a:defRPr/>
              </a:pPr>
              <a:t>‹#›</a:t>
            </a:fld>
            <a:endParaRPr lang="ko-KR" altLang="en-US" dirty="0"/>
          </a:p>
        </p:txBody>
      </p:sp>
    </p:spTree>
    <p:extLst>
      <p:ext uri="{BB962C8B-B14F-4D97-AF65-F5344CB8AC3E}">
        <p14:creationId xmlns:p14="http://schemas.microsoft.com/office/powerpoint/2010/main" val="12302414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6" name="슬라이드 번호 개체 틀 5"/>
          <p:cNvSpPr>
            <a:spLocks noGrp="1"/>
          </p:cNvSpPr>
          <p:nvPr>
            <p:ph type="sldNum" sz="quarter" idx="4"/>
          </p:nvPr>
        </p:nvSpPr>
        <p:spPr>
          <a:xfrm>
            <a:off x="9166225" y="6475413"/>
            <a:ext cx="654050" cy="365125"/>
          </a:xfrm>
          <a:prstGeom prst="rect">
            <a:avLst/>
          </a:prstGeom>
        </p:spPr>
        <p:txBody>
          <a:bodyPr vert="horz" lIns="91440" tIns="45720" rIns="91440" bIns="45720" rtlCol="0" anchor="ctr"/>
          <a:lstStyle>
            <a:lvl1pPr algn="r" fontAlgn="auto">
              <a:spcBef>
                <a:spcPts val="0"/>
              </a:spcBef>
              <a:spcAft>
                <a:spcPts val="0"/>
              </a:spcAft>
              <a:defRPr kumimoji="0" sz="1000">
                <a:solidFill>
                  <a:schemeClr val="tx1"/>
                </a:solidFill>
                <a:latin typeface="+mn-lt"/>
                <a:ea typeface="+mn-ea"/>
              </a:defRPr>
            </a:lvl1pPr>
          </a:lstStyle>
          <a:p>
            <a:pPr>
              <a:defRPr/>
            </a:pPr>
            <a:fld id="{BA3A7022-CBD4-4A06-BAFB-3534D8B9DC6A}" type="slidenum">
              <a:rPr lang="ko-KR" altLang="en-US"/>
              <a:pPr>
                <a:defRPr/>
              </a:pPr>
              <a:t>‹#›</a:t>
            </a:fld>
            <a:endParaRPr lang="ko-KR" altLang="en-US" dirty="0"/>
          </a:p>
        </p:txBody>
      </p:sp>
    </p:spTree>
    <p:extLst>
      <p:ext uri="{BB962C8B-B14F-4D97-AF65-F5344CB8AC3E}">
        <p14:creationId xmlns:p14="http://schemas.microsoft.com/office/powerpoint/2010/main" val="241569051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세로 텍스트 개체 틀 2"/>
          <p:cNvSpPr>
            <a:spLocks noGrp="1"/>
          </p:cNvSpPr>
          <p:nvPr>
            <p:ph type="body" orient="vert" idx="1"/>
          </p:nvPr>
        </p:nvSpPr>
        <p:spPr/>
        <p:txBody>
          <a:bodyPr vert="eaVert"/>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슬라이드 번호 개체 틀 5"/>
          <p:cNvSpPr>
            <a:spLocks noGrp="1"/>
          </p:cNvSpPr>
          <p:nvPr>
            <p:ph type="sldNum" sz="quarter" idx="4"/>
          </p:nvPr>
        </p:nvSpPr>
        <p:spPr>
          <a:xfrm>
            <a:off x="9166225" y="6475413"/>
            <a:ext cx="654050" cy="365125"/>
          </a:xfrm>
          <a:prstGeom prst="rect">
            <a:avLst/>
          </a:prstGeom>
        </p:spPr>
        <p:txBody>
          <a:bodyPr vert="horz" lIns="91440" tIns="45720" rIns="91440" bIns="45720" rtlCol="0" anchor="ctr"/>
          <a:lstStyle>
            <a:lvl1pPr algn="r" fontAlgn="auto">
              <a:spcBef>
                <a:spcPts val="0"/>
              </a:spcBef>
              <a:spcAft>
                <a:spcPts val="0"/>
              </a:spcAft>
              <a:defRPr kumimoji="0" sz="1000">
                <a:solidFill>
                  <a:schemeClr val="tx1"/>
                </a:solidFill>
                <a:latin typeface="+mn-lt"/>
                <a:ea typeface="+mn-ea"/>
              </a:defRPr>
            </a:lvl1pPr>
          </a:lstStyle>
          <a:p>
            <a:pPr>
              <a:defRPr/>
            </a:pPr>
            <a:fld id="{BA3A7022-CBD4-4A06-BAFB-3534D8B9DC6A}" type="slidenum">
              <a:rPr lang="ko-KR" altLang="en-US"/>
              <a:pPr>
                <a:defRPr/>
              </a:pPr>
              <a:t>‹#›</a:t>
            </a:fld>
            <a:endParaRPr lang="ko-KR" altLang="en-US" dirty="0"/>
          </a:p>
        </p:txBody>
      </p:sp>
    </p:spTree>
    <p:extLst>
      <p:ext uri="{BB962C8B-B14F-4D97-AF65-F5344CB8AC3E}">
        <p14:creationId xmlns:p14="http://schemas.microsoft.com/office/powerpoint/2010/main" val="115236427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본문 슬라이드">
    <p:spTree>
      <p:nvGrpSpPr>
        <p:cNvPr id="1" name=""/>
        <p:cNvGrpSpPr/>
        <p:nvPr/>
      </p:nvGrpSpPr>
      <p:grpSpPr>
        <a:xfrm>
          <a:off x="0" y="0"/>
          <a:ext cx="0" cy="0"/>
          <a:chOff x="0" y="0"/>
          <a:chExt cx="0" cy="0"/>
        </a:xfrm>
      </p:grpSpPr>
      <p:sp>
        <p:nvSpPr>
          <p:cNvPr id="3" name="슬라이드 번호 개체 틀 5"/>
          <p:cNvSpPr>
            <a:spLocks noGrp="1"/>
          </p:cNvSpPr>
          <p:nvPr>
            <p:ph type="sldNum" sz="quarter" idx="10"/>
          </p:nvPr>
        </p:nvSpPr>
        <p:spPr>
          <a:xfrm>
            <a:off x="9166225" y="6475413"/>
            <a:ext cx="654050" cy="365125"/>
          </a:xfrm>
          <a:prstGeom prst="rect">
            <a:avLst/>
          </a:prstGeom>
        </p:spPr>
        <p:txBody>
          <a:bodyPr/>
          <a:lstStyle>
            <a:lvl1pPr algn="r">
              <a:defRPr sz="1000">
                <a:solidFill>
                  <a:schemeClr val="tx1"/>
                </a:solidFill>
              </a:defRPr>
            </a:lvl1pPr>
          </a:lstStyle>
          <a:p>
            <a:pPr>
              <a:defRPr/>
            </a:pPr>
            <a:fld id="{336E293E-7793-468B-AB4C-49C46432963A}" type="slidenum">
              <a:rPr lang="ko-KR" altLang="en-US"/>
              <a:pPr>
                <a:defRPr/>
              </a:pPr>
              <a:t>‹#›</a:t>
            </a:fld>
            <a:endParaRPr lang="ko-KR" altLang="en-US" dirty="0"/>
          </a:p>
        </p:txBody>
      </p:sp>
    </p:spTree>
    <p:extLst>
      <p:ext uri="{BB962C8B-B14F-4D97-AF65-F5344CB8AC3E}">
        <p14:creationId xmlns:p14="http://schemas.microsoft.com/office/powerpoint/2010/main" val="237834912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theme" Target="../theme/theme2.xml"/><Relationship Id="rId5" Type="http://schemas.openxmlformats.org/officeDocument/2006/relationships/slideLayout" Target="../slideLayouts/slideLayout6.xml"/><Relationship Id="rId4" Type="http://schemas.openxmlformats.org/officeDocument/2006/relationships/slideLayout" Target="../slideLayouts/slideLayout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gray">
      <p:bgPr>
        <a:solidFill>
          <a:schemeClr val="bg1"/>
        </a:solidFill>
        <a:effectLst/>
      </p:bgPr>
    </p:bg>
    <p:spTree>
      <p:nvGrpSpPr>
        <p:cNvPr id="1" name=""/>
        <p:cNvGrpSpPr/>
        <p:nvPr/>
      </p:nvGrpSpPr>
      <p:grpSpPr>
        <a:xfrm>
          <a:off x="0" y="0"/>
          <a:ext cx="0" cy="0"/>
          <a:chOff x="0" y="0"/>
          <a:chExt cx="0" cy="0"/>
        </a:xfrm>
      </p:grpSpPr>
      <p:sp>
        <p:nvSpPr>
          <p:cNvPr id="10" name="제목 1"/>
          <p:cNvSpPr txBox="1">
            <a:spLocks/>
          </p:cNvSpPr>
          <p:nvPr userDrawn="1"/>
        </p:nvSpPr>
        <p:spPr>
          <a:xfrm>
            <a:off x="195263" y="171450"/>
            <a:ext cx="7410450" cy="346075"/>
          </a:xfrm>
          <a:prstGeom prst="rect">
            <a:avLst/>
          </a:prstGeom>
        </p:spPr>
        <p:txBody>
          <a:bodyPr/>
          <a:lstStyle>
            <a:lvl1pPr algn="l">
              <a:defRPr sz="1800" b="1">
                <a:solidFill>
                  <a:srgbClr val="A9072E"/>
                </a:solidFill>
              </a:defRPr>
            </a:lvl1pPr>
          </a:lstStyle>
          <a:p>
            <a:pPr fontAlgn="auto">
              <a:spcAft>
                <a:spcPts val="0"/>
              </a:spcAft>
              <a:defRPr/>
            </a:pPr>
            <a:endParaRPr kumimoji="0" lang="ko-KR" altLang="en-US" dirty="0">
              <a:solidFill>
                <a:schemeClr val="tx1"/>
              </a:solidFill>
              <a:latin typeface="+mj-lt"/>
              <a:ea typeface="+mj-ea"/>
              <a:cs typeface="+mj-cs"/>
            </a:endParaRPr>
          </a:p>
        </p:txBody>
      </p:sp>
      <p:cxnSp>
        <p:nvCxnSpPr>
          <p:cNvPr id="13" name="직선 연결선 12"/>
          <p:cNvCxnSpPr/>
          <p:nvPr userDrawn="1"/>
        </p:nvCxnSpPr>
        <p:spPr>
          <a:xfrm>
            <a:off x="0" y="733425"/>
            <a:ext cx="9906000" cy="0"/>
          </a:xfrm>
          <a:prstGeom prst="line">
            <a:avLst/>
          </a:prstGeom>
          <a:ln w="19050">
            <a:solidFill>
              <a:srgbClr val="595959"/>
            </a:solidFill>
          </a:ln>
        </p:spPr>
        <p:style>
          <a:lnRef idx="1">
            <a:schemeClr val="accent1"/>
          </a:lnRef>
          <a:fillRef idx="0">
            <a:schemeClr val="accent1"/>
          </a:fillRef>
          <a:effectRef idx="0">
            <a:schemeClr val="accent1"/>
          </a:effectRef>
          <a:fontRef idx="minor">
            <a:schemeClr val="tx1"/>
          </a:fontRef>
        </p:style>
      </p:cxnSp>
      <p:sp>
        <p:nvSpPr>
          <p:cNvPr id="5" name="슬라이드 번호 개체 틀 5"/>
          <p:cNvSpPr>
            <a:spLocks noGrp="1"/>
          </p:cNvSpPr>
          <p:nvPr>
            <p:ph type="sldNum" sz="quarter" idx="4"/>
          </p:nvPr>
        </p:nvSpPr>
        <p:spPr>
          <a:xfrm>
            <a:off x="9166225" y="6475413"/>
            <a:ext cx="654050" cy="365125"/>
          </a:xfrm>
          <a:prstGeom prst="rect">
            <a:avLst/>
          </a:prstGeom>
        </p:spPr>
        <p:txBody>
          <a:bodyPr vert="horz" lIns="91440" tIns="45720" rIns="91440" bIns="45720" rtlCol="0" anchor="ctr"/>
          <a:lstStyle>
            <a:lvl1pPr algn="r" fontAlgn="auto">
              <a:spcBef>
                <a:spcPts val="0"/>
              </a:spcBef>
              <a:spcAft>
                <a:spcPts val="0"/>
              </a:spcAft>
              <a:defRPr kumimoji="0" sz="1000">
                <a:solidFill>
                  <a:schemeClr val="tx1"/>
                </a:solidFill>
                <a:latin typeface="+mn-lt"/>
                <a:ea typeface="+mn-ea"/>
              </a:defRPr>
            </a:lvl1pPr>
          </a:lstStyle>
          <a:p>
            <a:pPr>
              <a:defRPr/>
            </a:pPr>
            <a:fld id="{BA3A7022-CBD4-4A06-BAFB-3534D8B9DC6A}" type="slidenum">
              <a:rPr lang="ko-KR" altLang="en-US"/>
              <a:pPr>
                <a:defRPr/>
              </a:pPr>
              <a:t>‹#›</a:t>
            </a:fld>
            <a:endParaRPr lang="ko-KR" altLang="en-US" dirty="0"/>
          </a:p>
        </p:txBody>
      </p:sp>
      <p:pic>
        <p:nvPicPr>
          <p:cNvPr id="6" name="그림 5"/>
          <p:cNvPicPr>
            <a:picLocks noChangeAspect="1"/>
          </p:cNvPicPr>
          <p:nvPr userDrawn="1"/>
        </p:nvPicPr>
        <p:blipFill rotWithShape="1">
          <a:blip r:embed="rId3" cstate="print">
            <a:extLst>
              <a:ext uri="{28A0092B-C50C-407E-A947-70E740481C1C}">
                <a14:useLocalDpi xmlns:a14="http://schemas.microsoft.com/office/drawing/2010/main"/>
              </a:ext>
            </a:extLst>
          </a:blip>
          <a:srcRect t="12135" b="28090"/>
          <a:stretch/>
        </p:blipFill>
        <p:spPr>
          <a:xfrm>
            <a:off x="128464" y="6376226"/>
            <a:ext cx="864096" cy="365142"/>
          </a:xfrm>
          <a:prstGeom prst="rect">
            <a:avLst/>
          </a:prstGeom>
        </p:spPr>
      </p:pic>
      <p:sp>
        <p:nvSpPr>
          <p:cNvPr id="3" name="TextBox 2">
            <a:extLst>
              <a:ext uri="{FF2B5EF4-FFF2-40B4-BE49-F238E27FC236}">
                <a16:creationId xmlns:a16="http://schemas.microsoft.com/office/drawing/2014/main" id="{D39F9CFD-9D7B-8824-BB68-599AFB8D294E}"/>
              </a:ext>
            </a:extLst>
          </p:cNvPr>
          <p:cNvSpPr txBox="1"/>
          <p:nvPr userDrawn="1">
            <p:extLst>
              <p:ext uri="{1162E1C5-73C7-4A58-AE30-91384D911F3F}">
                <p184:classification xmlns:p184="http://schemas.microsoft.com/office/powerpoint/2018/4/main" val="hdr"/>
              </p:ext>
            </p:extLst>
          </p:nvPr>
        </p:nvSpPr>
        <p:spPr>
          <a:xfrm>
            <a:off x="4281488" y="63500"/>
            <a:ext cx="1377950" cy="182880"/>
          </a:xfrm>
          <a:prstGeom prst="rect">
            <a:avLst/>
          </a:prstGeom>
        </p:spPr>
        <p:txBody>
          <a:bodyPr horzOverflow="overflow" lIns="0" tIns="0" rIns="0" bIns="0">
            <a:spAutoFit/>
          </a:bodyPr>
          <a:lstStyle/>
          <a:p>
            <a:pPr algn="l"/>
            <a:r>
              <a:rPr lang="en-US" sz="12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LGE Internal Use Only</a:t>
            </a:r>
          </a:p>
        </p:txBody>
      </p:sp>
    </p:spTree>
  </p:cSld>
  <p:clrMap bg1="lt1" tx1="dk1" bg2="lt2" tx2="dk2" accent1="accent1" accent2="accent2" accent3="accent3" accent4="accent4" accent5="accent5" accent6="accent6" hlink="hlink" folHlink="folHlink"/>
  <p:sldLayoutIdLst>
    <p:sldLayoutId id="2147483728" r:id="rId1"/>
  </p:sldLayoutIdLst>
  <p:hf hdr="0" dt="0"/>
  <p:txStyles>
    <p:title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p:titleStyle>
    <p:bodyStyle>
      <a:lvl1pPr marL="342900" indent="-342900" algn="l" rtl="0" eaLnBrk="0" fontAlgn="base" latinLnBrk="1"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latinLnBrk="1"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latinLnBrk="1"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latinLnBrk="1"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latinLnBrk="1"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p:cNvSpPr>
            <a:spLocks noGrp="1"/>
          </p:cNvSpPr>
          <p:nvPr>
            <p:ph type="body" idx="1"/>
          </p:nvPr>
        </p:nvSpPr>
        <p:spPr>
          <a:xfrm>
            <a:off x="495300" y="1600200"/>
            <a:ext cx="89154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5" name="TextBox 4">
            <a:extLst>
              <a:ext uri="{FF2B5EF4-FFF2-40B4-BE49-F238E27FC236}">
                <a16:creationId xmlns:a16="http://schemas.microsoft.com/office/drawing/2014/main" id="{AB8A2722-E8AF-6AE6-24AB-7A5365C71116}"/>
              </a:ext>
            </a:extLst>
          </p:cNvPr>
          <p:cNvSpPr txBox="1"/>
          <p:nvPr userDrawn="1">
            <p:extLst>
              <p:ext uri="{1162E1C5-73C7-4A58-AE30-91384D911F3F}">
                <p184:classification xmlns:p184="http://schemas.microsoft.com/office/powerpoint/2018/4/main" val="hdr"/>
              </p:ext>
            </p:extLst>
          </p:nvPr>
        </p:nvSpPr>
        <p:spPr>
          <a:xfrm>
            <a:off x="4281488" y="63500"/>
            <a:ext cx="1377950" cy="182880"/>
          </a:xfrm>
          <a:prstGeom prst="rect">
            <a:avLst/>
          </a:prstGeom>
        </p:spPr>
        <p:txBody>
          <a:bodyPr horzOverflow="overflow" lIns="0" tIns="0" rIns="0" bIns="0">
            <a:spAutoFit/>
          </a:bodyPr>
          <a:lstStyle/>
          <a:p>
            <a:pPr algn="l"/>
            <a:r>
              <a:rPr lang="en-US" sz="12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LGE Internal Use Only</a:t>
            </a:r>
          </a:p>
        </p:txBody>
      </p:sp>
    </p:spTree>
    <p:extLst>
      <p:ext uri="{BB962C8B-B14F-4D97-AF65-F5344CB8AC3E}">
        <p14:creationId xmlns:p14="http://schemas.microsoft.com/office/powerpoint/2010/main" val="1380957763"/>
      </p:ext>
    </p:extLst>
  </p:cSld>
  <p:clrMap bg1="lt1" tx1="dk1" bg2="lt2" tx2="dk2" accent1="accent1" accent2="accent2" accent3="accent3" accent4="accent4" accent5="accent5" accent6="accent6" hlink="hlink" folHlink="folHlink"/>
  <p:sldLayoutIdLst>
    <p:sldLayoutId id="2147483739" r:id="rId1"/>
    <p:sldLayoutId id="2147483735" r:id="rId2"/>
    <p:sldLayoutId id="2147483738" r:id="rId3"/>
    <p:sldLayoutId id="2147483742" r:id="rId4"/>
    <p:sldLayoutId id="2147483743" r:id="rId5"/>
  </p:sldLayoutIdLst>
  <p:hf hdr="0" dt="0"/>
  <p:txStyles>
    <p:titleStyle>
      <a:lvl1pPr algn="ctr" defTabSz="914400" rtl="0" eaLnBrk="1" latinLnBrk="1"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tags" Target="../tags/tag3.xml"/><Relationship Id="rId7" Type="http://schemas.openxmlformats.org/officeDocument/2006/relationships/image" Target="../media/image8.jpeg"/><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image" Target="../media/image7.jpeg"/><Relationship Id="rId5" Type="http://schemas.openxmlformats.org/officeDocument/2006/relationships/notesSlide" Target="../notesSlides/notesSlide8.xml"/><Relationship Id="rId4"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10.jpeg"/><Relationship Id="rId1" Type="http://schemas.openxmlformats.org/officeDocument/2006/relationships/slideLayout" Target="../slideLayouts/slideLayout1.xml"/><Relationship Id="rId4" Type="http://schemas.openxmlformats.org/officeDocument/2006/relationships/image" Target="../media/image12.gif"/></Relationships>
</file>

<file path=ppt/slides/_rels/slide14.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2.xml"/><Relationship Id="rId1" Type="http://schemas.openxmlformats.org/officeDocument/2006/relationships/slideLayout" Target="../slideLayouts/slideLayout1.xml"/><Relationship Id="rId4" Type="http://schemas.openxmlformats.org/officeDocument/2006/relationships/image" Target="../media/image15.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9.xml"/><Relationship Id="rId1" Type="http://schemas.openxmlformats.org/officeDocument/2006/relationships/slideLayout" Target="../slideLayouts/slideLayout3.xml"/><Relationship Id="rId4" Type="http://schemas.openxmlformats.org/officeDocument/2006/relationships/image" Target="../media/image18.jpe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image" Target="../media/image19.wmf"/><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2.xml"/><Relationship Id="rId1" Type="http://schemas.openxmlformats.org/officeDocument/2006/relationships/slideLayout" Target="../slideLayouts/slideLayout1.xml"/><Relationship Id="rId5" Type="http://schemas.openxmlformats.org/officeDocument/2006/relationships/image" Target="../media/image21.wmf"/><Relationship Id="rId4" Type="http://schemas.openxmlformats.org/officeDocument/2006/relationships/oleObject" Target="../embeddings/oleObject1.bin"/></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25.xml"/><Relationship Id="rId1" Type="http://schemas.openxmlformats.org/officeDocument/2006/relationships/slideLayout" Target="../slideLayouts/slideLayout1.xml"/><Relationship Id="rId6" Type="http://schemas.openxmlformats.org/officeDocument/2006/relationships/image" Target="../media/image24.wmf"/><Relationship Id="rId5" Type="http://schemas.openxmlformats.org/officeDocument/2006/relationships/oleObject" Target="../embeddings/oleObject3.bin"/><Relationship Id="rId4" Type="http://schemas.openxmlformats.org/officeDocument/2006/relationships/image" Target="../media/image23.wmf"/></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0.xml"/><Relationship Id="rId1" Type="http://schemas.openxmlformats.org/officeDocument/2006/relationships/slideLayout" Target="../slideLayouts/slideLayout1.xml"/><Relationship Id="rId5" Type="http://schemas.openxmlformats.org/officeDocument/2006/relationships/image" Target="../media/image26.png"/><Relationship Id="rId4" Type="http://schemas.openxmlformats.org/officeDocument/2006/relationships/image" Target="../media/image25.png"/></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1.xml"/><Relationship Id="rId1" Type="http://schemas.openxmlformats.org/officeDocument/2006/relationships/slideLayout" Target="../slideLayouts/slideLayout1.xml"/><Relationship Id="rId4" Type="http://schemas.openxmlformats.org/officeDocument/2006/relationships/image" Target="../media/image28.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31.jpeg"/><Relationship Id="rId1" Type="http://schemas.openxmlformats.org/officeDocument/2006/relationships/slideLayout" Target="../slideLayouts/slideLayout1.xml"/><Relationship Id="rId4" Type="http://schemas.openxmlformats.org/officeDocument/2006/relationships/image" Target="../media/image17.png"/></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39.xml"/><Relationship Id="rId1" Type="http://schemas.openxmlformats.org/officeDocument/2006/relationships/slideLayout" Target="../slideLayouts/slideLayout1.xml"/><Relationship Id="rId5" Type="http://schemas.openxmlformats.org/officeDocument/2006/relationships/image" Target="../media/image34.png"/><Relationship Id="rId4" Type="http://schemas.openxmlformats.org/officeDocument/2006/relationships/image" Target="../media/image17.png"/></Relationships>
</file>

<file path=ppt/slides/_rels/slide5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0.xml"/><Relationship Id="rId1" Type="http://schemas.openxmlformats.org/officeDocument/2006/relationships/slideLayout" Target="../slideLayouts/slideLayout1.xml"/><Relationship Id="rId4" Type="http://schemas.openxmlformats.org/officeDocument/2006/relationships/image" Target="../media/image36.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notesSlide" Target="../notesSlides/notesSlide42.xml"/><Relationship Id="rId1" Type="http://schemas.openxmlformats.org/officeDocument/2006/relationships/slideLayout" Target="../slideLayouts/slideLayout1.xml"/><Relationship Id="rId6" Type="http://schemas.openxmlformats.org/officeDocument/2006/relationships/image" Target="../media/image17.png"/><Relationship Id="rId5" Type="http://schemas.openxmlformats.org/officeDocument/2006/relationships/image" Target="../media/image38.png"/><Relationship Id="rId4" Type="http://schemas.openxmlformats.org/officeDocument/2006/relationships/image" Target="../media/image37.wmf"/></Relationships>
</file>

<file path=ppt/slides/_rels/slide53.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notesSlide" Target="../notesSlides/notesSlide43.xml"/><Relationship Id="rId1" Type="http://schemas.openxmlformats.org/officeDocument/2006/relationships/slideLayout" Target="../slideLayouts/slideLayout1.xml"/><Relationship Id="rId5" Type="http://schemas.openxmlformats.org/officeDocument/2006/relationships/image" Target="../media/image40.png"/><Relationship Id="rId4" Type="http://schemas.openxmlformats.org/officeDocument/2006/relationships/image" Target="../media/image39.wmf"/></Relationships>
</file>

<file path=ppt/slides/_rels/slide5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17.png"/><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6.xml"/><Relationship Id="rId1" Type="http://schemas.openxmlformats.org/officeDocument/2006/relationships/slideLayout" Target="../slideLayouts/slideLayout1.xml"/><Relationship Id="rId5" Type="http://schemas.openxmlformats.org/officeDocument/2006/relationships/image" Target="../media/image48.png"/><Relationship Id="rId4" Type="http://schemas.openxmlformats.org/officeDocument/2006/relationships/image" Target="../media/image47.png"/></Relationships>
</file>

<file path=ppt/slides/_rels/slide62.xml.rels><?xml version="1.0" encoding="UTF-8" standalone="yes"?>
<Relationships xmlns="http://schemas.openxmlformats.org/package/2006/relationships"><Relationship Id="rId13" Type="http://schemas.openxmlformats.org/officeDocument/2006/relationships/image" Target="../media/image54.wmf"/><Relationship Id="rId18" Type="http://schemas.openxmlformats.org/officeDocument/2006/relationships/oleObject" Target="../embeddings/oleObject13.bin"/><Relationship Id="rId26" Type="http://schemas.openxmlformats.org/officeDocument/2006/relationships/oleObject" Target="../embeddings/oleObject17.bin"/><Relationship Id="rId39" Type="http://schemas.openxmlformats.org/officeDocument/2006/relationships/image" Target="../media/image69.png"/><Relationship Id="rId21" Type="http://schemas.openxmlformats.org/officeDocument/2006/relationships/image" Target="../media/image58.wmf"/><Relationship Id="rId34" Type="http://schemas.openxmlformats.org/officeDocument/2006/relationships/oleObject" Target="../embeddings/oleObject21.bin"/><Relationship Id="rId7" Type="http://schemas.openxmlformats.org/officeDocument/2006/relationships/image" Target="../media/image51.wmf"/><Relationship Id="rId12" Type="http://schemas.openxmlformats.org/officeDocument/2006/relationships/oleObject" Target="../embeddings/oleObject10.bin"/><Relationship Id="rId17" Type="http://schemas.openxmlformats.org/officeDocument/2006/relationships/image" Target="../media/image56.wmf"/><Relationship Id="rId25" Type="http://schemas.openxmlformats.org/officeDocument/2006/relationships/image" Target="../media/image60.wmf"/><Relationship Id="rId33" Type="http://schemas.openxmlformats.org/officeDocument/2006/relationships/image" Target="../media/image64.wmf"/><Relationship Id="rId38" Type="http://schemas.openxmlformats.org/officeDocument/2006/relationships/image" Target="../media/image68.png"/><Relationship Id="rId2" Type="http://schemas.openxmlformats.org/officeDocument/2006/relationships/notesSlide" Target="../notesSlides/notesSlide47.xml"/><Relationship Id="rId16" Type="http://schemas.openxmlformats.org/officeDocument/2006/relationships/oleObject" Target="../embeddings/oleObject12.bin"/><Relationship Id="rId20" Type="http://schemas.openxmlformats.org/officeDocument/2006/relationships/oleObject" Target="../embeddings/oleObject14.bin"/><Relationship Id="rId29" Type="http://schemas.openxmlformats.org/officeDocument/2006/relationships/image" Target="../media/image62.wmf"/><Relationship Id="rId1" Type="http://schemas.openxmlformats.org/officeDocument/2006/relationships/slideLayout" Target="../slideLayouts/slideLayout1.xml"/><Relationship Id="rId6" Type="http://schemas.openxmlformats.org/officeDocument/2006/relationships/oleObject" Target="../embeddings/oleObject7.bin"/><Relationship Id="rId11" Type="http://schemas.openxmlformats.org/officeDocument/2006/relationships/image" Target="../media/image53.wmf"/><Relationship Id="rId24" Type="http://schemas.openxmlformats.org/officeDocument/2006/relationships/oleObject" Target="../embeddings/oleObject16.bin"/><Relationship Id="rId32" Type="http://schemas.openxmlformats.org/officeDocument/2006/relationships/oleObject" Target="../embeddings/oleObject20.bin"/><Relationship Id="rId37" Type="http://schemas.openxmlformats.org/officeDocument/2006/relationships/image" Target="../media/image67.png"/><Relationship Id="rId5" Type="http://schemas.openxmlformats.org/officeDocument/2006/relationships/image" Target="../media/image50.wmf"/><Relationship Id="rId15" Type="http://schemas.openxmlformats.org/officeDocument/2006/relationships/image" Target="../media/image55.wmf"/><Relationship Id="rId23" Type="http://schemas.openxmlformats.org/officeDocument/2006/relationships/image" Target="../media/image59.wmf"/><Relationship Id="rId28" Type="http://schemas.openxmlformats.org/officeDocument/2006/relationships/oleObject" Target="../embeddings/oleObject18.bin"/><Relationship Id="rId36" Type="http://schemas.openxmlformats.org/officeDocument/2006/relationships/image" Target="../media/image66.png"/><Relationship Id="rId10" Type="http://schemas.openxmlformats.org/officeDocument/2006/relationships/oleObject" Target="../embeddings/oleObject9.bin"/><Relationship Id="rId19" Type="http://schemas.openxmlformats.org/officeDocument/2006/relationships/image" Target="../media/image57.wmf"/><Relationship Id="rId31" Type="http://schemas.openxmlformats.org/officeDocument/2006/relationships/image" Target="../media/image63.wmf"/><Relationship Id="rId4" Type="http://schemas.openxmlformats.org/officeDocument/2006/relationships/oleObject" Target="../embeddings/oleObject6.bin"/><Relationship Id="rId9" Type="http://schemas.openxmlformats.org/officeDocument/2006/relationships/image" Target="../media/image52.wmf"/><Relationship Id="rId14" Type="http://schemas.openxmlformats.org/officeDocument/2006/relationships/oleObject" Target="../embeddings/oleObject11.bin"/><Relationship Id="rId22" Type="http://schemas.openxmlformats.org/officeDocument/2006/relationships/oleObject" Target="../embeddings/oleObject15.bin"/><Relationship Id="rId27" Type="http://schemas.openxmlformats.org/officeDocument/2006/relationships/image" Target="../media/image61.wmf"/><Relationship Id="rId30" Type="http://schemas.openxmlformats.org/officeDocument/2006/relationships/oleObject" Target="../embeddings/oleObject19.bin"/><Relationship Id="rId35" Type="http://schemas.openxmlformats.org/officeDocument/2006/relationships/image" Target="../media/image65.wmf"/><Relationship Id="rId8" Type="http://schemas.openxmlformats.org/officeDocument/2006/relationships/oleObject" Target="../embeddings/oleObject8.bin"/><Relationship Id="rId3" Type="http://schemas.openxmlformats.org/officeDocument/2006/relationships/image" Target="../media/image49.png"/></Relationships>
</file>

<file path=ppt/slides/_rels/slide63.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46.png"/><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71.emf"/><Relationship Id="rId2" Type="http://schemas.openxmlformats.org/officeDocument/2006/relationships/oleObject" Target="../embeddings/oleObject22.bin"/><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image" Target="../media/image73.png"/><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51.xml"/><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notesSlide" Target="../notesSlides/notesSlide55.xml"/><Relationship Id="rId1" Type="http://schemas.openxmlformats.org/officeDocument/2006/relationships/slideLayout" Target="../slideLayouts/slideLayout6.xml"/><Relationship Id="rId4" Type="http://schemas.openxmlformats.org/officeDocument/2006/relationships/image" Target="../media/image77.jpe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56.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hyperlink" Target="http://ko.wikipedia.org/wiki/%ED%8C%8C%EC%9D%BC:Vilfredo_Pareto.jpg" TargetMode="External"/><Relationship Id="rId2" Type="http://schemas.openxmlformats.org/officeDocument/2006/relationships/notesSlide" Target="../notesSlides/notesSlide60.xml"/><Relationship Id="rId1" Type="http://schemas.openxmlformats.org/officeDocument/2006/relationships/slideLayout" Target="../slideLayouts/slideLayout6.xml"/><Relationship Id="rId5" Type="http://schemas.openxmlformats.org/officeDocument/2006/relationships/image" Target="../media/image82.jpeg"/><Relationship Id="rId4" Type="http://schemas.openxmlformats.org/officeDocument/2006/relationships/image" Target="../media/image81.jpe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tags" Target="../tags/tag5.xml"/><Relationship Id="rId1" Type="http://schemas.openxmlformats.org/officeDocument/2006/relationships/tags" Target="../tags/tag4.xml"/><Relationship Id="rId5" Type="http://schemas.openxmlformats.org/officeDocument/2006/relationships/image" Target="../media/image90.emf"/><Relationship Id="rId4" Type="http://schemas.openxmlformats.org/officeDocument/2006/relationships/image" Target="../media/image89.emf"/></Relationships>
</file>

<file path=ppt/slides/_rels/slide92.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Layout" Target="../slideLayouts/slideLayout6.xml"/></Relationships>
</file>

<file path=ppt/slides/_rels/slide94.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png"/><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2" Type="http://schemas.openxmlformats.org/officeDocument/2006/relationships/image" Target="../media/image97.emf"/><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3" Type="http://schemas.openxmlformats.org/officeDocument/2006/relationships/image" Target="../media/image98.emf"/><Relationship Id="rId2" Type="http://schemas.openxmlformats.org/officeDocument/2006/relationships/oleObject" Target="../embeddings/oleObject23.bin"/><Relationship Id="rId1" Type="http://schemas.openxmlformats.org/officeDocument/2006/relationships/slideLayout" Target="../slideLayouts/slideLayout6.xml"/><Relationship Id="rId5" Type="http://schemas.openxmlformats.org/officeDocument/2006/relationships/image" Target="../media/image99.emf"/><Relationship Id="rId4" Type="http://schemas.openxmlformats.org/officeDocument/2006/relationships/oleObject" Target="../embeddings/oleObject24.bin"/></Relationships>
</file>

<file path=ppt/slides/_rels/slide98.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01.png"/><Relationship Id="rId1" Type="http://schemas.openxmlformats.org/officeDocument/2006/relationships/slideLayout" Target="../slideLayouts/slideLayout6.xml"/><Relationship Id="rId4" Type="http://schemas.openxmlformats.org/officeDocument/2006/relationships/image" Target="../media/image102.png"/></Relationships>
</file>

<file path=ppt/slides/_rels/slide100.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0.png"/><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2" Type="http://schemas.openxmlformats.org/officeDocument/2006/relationships/image" Target="../media/image106.png"/><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3" Type="http://schemas.openxmlformats.org/officeDocument/2006/relationships/image" Target="../media/image107.wmf"/><Relationship Id="rId2" Type="http://schemas.openxmlformats.org/officeDocument/2006/relationships/oleObject" Target="../embeddings/oleObject25.bin"/><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image" Target="../media/image108.wmf"/><Relationship Id="rId2" Type="http://schemas.openxmlformats.org/officeDocument/2006/relationships/oleObject" Target="../embeddings/oleObject26.bin"/><Relationship Id="rId1" Type="http://schemas.openxmlformats.org/officeDocument/2006/relationships/slideLayout" Target="../slideLayouts/slideLayout6.xml"/><Relationship Id="rId5" Type="http://schemas.openxmlformats.org/officeDocument/2006/relationships/image" Target="../media/image109.wmf"/><Relationship Id="rId4" Type="http://schemas.openxmlformats.org/officeDocument/2006/relationships/oleObject" Target="../embeddings/oleObject27.bin"/></Relationships>
</file>

<file path=ppt/slides/_rels/slide110.xml.rels><?xml version="1.0" encoding="UTF-8" standalone="yes"?>
<Relationships xmlns="http://schemas.openxmlformats.org/package/2006/relationships"><Relationship Id="rId2" Type="http://schemas.openxmlformats.org/officeDocument/2006/relationships/hyperlink" Target="../QC7Tool/Histogram/Vi%20Du%20Histogram.pptx" TargetMode="External"/><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image" Target="../media/image110.emf"/><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66.xml"/><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67.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32.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image" Target="../media/image114.emf"/><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33.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image" Target="../media/image116.png"/><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34.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18.emf"/><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3" Type="http://schemas.openxmlformats.org/officeDocument/2006/relationships/image" Target="../media/image119.wmf"/><Relationship Id="rId2" Type="http://schemas.openxmlformats.org/officeDocument/2006/relationships/oleObject" Target="../embeddings/oleObject28.bin"/><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3" Type="http://schemas.openxmlformats.org/officeDocument/2006/relationships/image" Target="../media/image120.wmf"/><Relationship Id="rId2" Type="http://schemas.openxmlformats.org/officeDocument/2006/relationships/oleObject" Target="../embeddings/oleObject29.bin"/><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2" Type="http://schemas.openxmlformats.org/officeDocument/2006/relationships/image" Target="../media/image121.jpeg"/><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image" Target="../media/image122.jpeg"/><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124.jpeg"/><Relationship Id="rId1" Type="http://schemas.openxmlformats.org/officeDocument/2006/relationships/slideLayout" Target="../slideLayouts/slideLayout6.xml"/></Relationships>
</file>

<file path=ppt/slides/_rels/slide140.xml.rels><?xml version="1.0" encoding="UTF-8" standalone="yes"?>
<Relationships xmlns="http://schemas.openxmlformats.org/package/2006/relationships"><Relationship Id="rId3" Type="http://schemas.openxmlformats.org/officeDocument/2006/relationships/image" Target="../media/image126.jpeg"/><Relationship Id="rId2" Type="http://schemas.openxmlformats.org/officeDocument/2006/relationships/notesSlide" Target="../notesSlides/notesSlide68.xml"/><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6.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8" Type="http://schemas.openxmlformats.org/officeDocument/2006/relationships/image" Target="../media/image135.png"/><Relationship Id="rId13" Type="http://schemas.openxmlformats.org/officeDocument/2006/relationships/image" Target="../media/image140.jpeg"/><Relationship Id="rId3" Type="http://schemas.openxmlformats.org/officeDocument/2006/relationships/image" Target="../media/image130.png"/><Relationship Id="rId7" Type="http://schemas.openxmlformats.org/officeDocument/2006/relationships/image" Target="../media/image134.png"/><Relationship Id="rId12" Type="http://schemas.openxmlformats.org/officeDocument/2006/relationships/image" Target="../media/image139.png"/><Relationship Id="rId2" Type="http://schemas.openxmlformats.org/officeDocument/2006/relationships/image" Target="../media/image129.png"/><Relationship Id="rId16" Type="http://schemas.openxmlformats.org/officeDocument/2006/relationships/image" Target="../media/image143.png"/><Relationship Id="rId1" Type="http://schemas.openxmlformats.org/officeDocument/2006/relationships/slideLayout" Target="../slideLayouts/slideLayout6.xml"/><Relationship Id="rId6" Type="http://schemas.openxmlformats.org/officeDocument/2006/relationships/image" Target="../media/image133.png"/><Relationship Id="rId11" Type="http://schemas.openxmlformats.org/officeDocument/2006/relationships/image" Target="../media/image138.png"/><Relationship Id="rId5" Type="http://schemas.openxmlformats.org/officeDocument/2006/relationships/image" Target="../media/image132.jpeg"/><Relationship Id="rId15" Type="http://schemas.openxmlformats.org/officeDocument/2006/relationships/image" Target="../media/image142.jpeg"/><Relationship Id="rId10" Type="http://schemas.openxmlformats.org/officeDocument/2006/relationships/image" Target="../media/image137.jpeg"/><Relationship Id="rId4" Type="http://schemas.openxmlformats.org/officeDocument/2006/relationships/image" Target="../media/image131.png"/><Relationship Id="rId9" Type="http://schemas.openxmlformats.org/officeDocument/2006/relationships/image" Target="../media/image136.png"/><Relationship Id="rId14" Type="http://schemas.openxmlformats.org/officeDocument/2006/relationships/image" Target="../media/image141.jpe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44.png"/><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oleObject" Target="../embeddings/oleObject30.bin"/><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2" Type="http://schemas.openxmlformats.org/officeDocument/2006/relationships/image" Target="../media/image147.png"/><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2" Type="http://schemas.openxmlformats.org/officeDocument/2006/relationships/image" Target="../media/image148.png"/><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70.xml"/><Relationship Id="rId1" Type="http://schemas.openxmlformats.org/officeDocument/2006/relationships/slideLayout" Target="../slideLayouts/slideLayout6.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3" Type="http://schemas.openxmlformats.org/officeDocument/2006/relationships/image" Target="../media/image150.wmf"/><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76.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67.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notesSlide" Target="../notesSlides/notesSlide77.xml"/><Relationship Id="rId1" Type="http://schemas.openxmlformats.org/officeDocument/2006/relationships/slideLayout" Target="../slideLayouts/slideLayout6.xml"/><Relationship Id="rId5" Type="http://schemas.openxmlformats.org/officeDocument/2006/relationships/image" Target="../media/image100.png"/><Relationship Id="rId4" Type="http://schemas.openxmlformats.org/officeDocument/2006/relationships/image" Target="../media/image153.png"/></Relationships>
</file>

<file path=ppt/slides/_rels/slide168.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78.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69.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55.png"/><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56.png"/><Relationship Id="rId1" Type="http://schemas.openxmlformats.org/officeDocument/2006/relationships/slideLayout" Target="../slideLayouts/slideLayout6.xml"/><Relationship Id="rId4" Type="http://schemas.openxmlformats.org/officeDocument/2006/relationships/image" Target="../media/image157.png"/></Relationships>
</file>

<file path=ppt/slides/_rels/slide171.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image" Target="../media/image158.png"/><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72.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notesSlide" Target="../notesSlides/notesSlide79.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73.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61.png"/><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62.png"/><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80.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76.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64.png"/><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81.xml"/><Relationship Id="rId1" Type="http://schemas.openxmlformats.org/officeDocument/2006/relationships/slideLayout" Target="../slideLayouts/slideLayout6.xml"/><Relationship Id="rId5" Type="http://schemas.openxmlformats.org/officeDocument/2006/relationships/image" Target="../media/image100.png"/><Relationship Id="rId4" Type="http://schemas.openxmlformats.org/officeDocument/2006/relationships/image" Target="../media/image166.png"/></Relationships>
</file>

<file path=ppt/slides/_rels/slide180.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82.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181.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83.xml"/><Relationship Id="rId1" Type="http://schemas.openxmlformats.org/officeDocument/2006/relationships/slideLayout" Target="../slideLayouts/slideLayout6.xml"/><Relationship Id="rId5" Type="http://schemas.openxmlformats.org/officeDocument/2006/relationships/image" Target="../media/image100.png"/><Relationship Id="rId4" Type="http://schemas.openxmlformats.org/officeDocument/2006/relationships/image" Target="../media/image169.png"/></Relationships>
</file>

<file path=ppt/slides/_rels/slide183.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70.png"/><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notesSlide" Target="../notesSlides/notesSlide84.xml"/><Relationship Id="rId1" Type="http://schemas.openxmlformats.org/officeDocument/2006/relationships/slideLayout" Target="../slideLayouts/slideLayout4.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notesSlide" Target="../notesSlides/notesSlide86.xml"/><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8" Type="http://schemas.openxmlformats.org/officeDocument/2006/relationships/hyperlink" Target="https://vi.wikipedia.org/wiki/Platin" TargetMode="External"/><Relationship Id="rId13" Type="http://schemas.openxmlformats.org/officeDocument/2006/relationships/hyperlink" Target="https://vi.wikipedia.org/w/index.php?title=Th%C6%B0%E1%BB%9Bc_m%C3%A9t_ti%C3%AAu_chu%E1%BA%A9n_qu%E1%BB%91c_t%E1%BA%BF&amp;action=edit&amp;redlink=1" TargetMode="External"/><Relationship Id="rId3" Type="http://schemas.openxmlformats.org/officeDocument/2006/relationships/hyperlink" Target="https://vi.wikipedia.org/wiki/Ph%C3%A1p" TargetMode="External"/><Relationship Id="rId7" Type="http://schemas.openxmlformats.org/officeDocument/2006/relationships/hyperlink" Target="https://vi.wikipedia.org/wiki/B%E1%BA%AFc_C%E1%BB%B1c" TargetMode="External"/><Relationship Id="rId12" Type="http://schemas.openxmlformats.org/officeDocument/2006/relationships/hyperlink" Target="https://vi.wikipedia.org/w/index.php?title=H%E1%BB%99i_ngh%E1%BB%8B_%C4%90o_l%C6%B0%E1%BB%9Dng_Qu%E1%BB%91c_t%E1%BA%BF&amp;action=edit&amp;redlink=1" TargetMode="External"/><Relationship Id="rId2" Type="http://schemas.openxmlformats.org/officeDocument/2006/relationships/notesSlide" Target="../notesSlides/notesSlide87.xml"/><Relationship Id="rId16" Type="http://schemas.openxmlformats.org/officeDocument/2006/relationships/hyperlink" Target="https://vi.wikipedia.org/w/index.php?title=Kprypton-86&amp;action=edit&amp;redlink=1" TargetMode="External"/><Relationship Id="rId1" Type="http://schemas.openxmlformats.org/officeDocument/2006/relationships/slideLayout" Target="../slideLayouts/slideLayout6.xml"/><Relationship Id="rId6" Type="http://schemas.openxmlformats.org/officeDocument/2006/relationships/hyperlink" Target="https://vi.wikipedia.org/wiki/Paris" TargetMode="External"/><Relationship Id="rId11" Type="http://schemas.openxmlformats.org/officeDocument/2006/relationships/hyperlink" Target="https://vi.wikipedia.org/wiki/MM" TargetMode="External"/><Relationship Id="rId5" Type="http://schemas.openxmlformats.org/officeDocument/2006/relationships/hyperlink" Target="https://vi.wikipedia.org/wiki/X%C3%ADch_%C4%91%E1%BA%A1o" TargetMode="External"/><Relationship Id="rId15" Type="http://schemas.openxmlformats.org/officeDocument/2006/relationships/hyperlink" Target="https://vi.wikipedia.org/w/index.php?title=M%C3%A0u_v%C3%A0ng_cam&amp;action=edit&amp;redlink=1" TargetMode="External"/><Relationship Id="rId10" Type="http://schemas.openxmlformats.org/officeDocument/2006/relationships/hyperlink" Target="https://vi.wikipedia.org/w/index.php?title=Ph%C3%A9p_%C4%91o_ch%C3%ADnh_x%C3%A1c&amp;action=edit&amp;redlink=1" TargetMode="External"/><Relationship Id="rId4" Type="http://schemas.openxmlformats.org/officeDocument/2006/relationships/hyperlink" Target="https://vi.wikipedia.org/wiki/Kinh_tuy%E1%BA%BFn" TargetMode="External"/><Relationship Id="rId9" Type="http://schemas.openxmlformats.org/officeDocument/2006/relationships/hyperlink" Target="https://vi.wikipedia.org/wiki/Iridi" TargetMode="External"/><Relationship Id="rId14" Type="http://schemas.openxmlformats.org/officeDocument/2006/relationships/hyperlink" Target="https://vi.wikipedia.org/wiki/B%C6%B0%E1%BB%9Bc_s%C3%B3ng" TargetMode="External"/></Relationships>
</file>

<file path=ppt/slides/_rels/slide188.xml.rels><?xml version="1.0" encoding="UTF-8" standalone="yes"?>
<Relationships xmlns="http://schemas.openxmlformats.org/package/2006/relationships"><Relationship Id="rId3" Type="http://schemas.openxmlformats.org/officeDocument/2006/relationships/image" Target="../media/image173.jpeg"/><Relationship Id="rId2" Type="http://schemas.openxmlformats.org/officeDocument/2006/relationships/notesSlide" Target="../notesSlides/notesSlide88.xml"/><Relationship Id="rId1" Type="http://schemas.openxmlformats.org/officeDocument/2006/relationships/slideLayout" Target="../slideLayouts/slideLayout6.xml"/></Relationships>
</file>

<file path=ppt/slides/_rels/slide189.xml.rels><?xml version="1.0" encoding="UTF-8" standalone="yes"?>
<Relationships xmlns="http://schemas.openxmlformats.org/package/2006/relationships"><Relationship Id="rId3" Type="http://schemas.openxmlformats.org/officeDocument/2006/relationships/image" Target="../media/image174.jpeg"/><Relationship Id="rId2" Type="http://schemas.openxmlformats.org/officeDocument/2006/relationships/notesSlide" Target="../notesSlides/notesSlide89.xml"/><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notesSlide" Target="../notesSlides/notesSlide91.xml"/><Relationship Id="rId1" Type="http://schemas.openxmlformats.org/officeDocument/2006/relationships/slideLayout" Target="../slideLayouts/slideLayout6.xml"/><Relationship Id="rId5" Type="http://schemas.openxmlformats.org/officeDocument/2006/relationships/image" Target="../media/image178.png"/><Relationship Id="rId4" Type="http://schemas.openxmlformats.org/officeDocument/2006/relationships/image" Target="../media/image177.png"/></Relationships>
</file>

<file path=ppt/slides/_rels/slide192.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92.xml"/><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notesSlide" Target="../notesSlides/notesSlide95.xml"/><Relationship Id="rId1" Type="http://schemas.openxmlformats.org/officeDocument/2006/relationships/slideLayout" Target="../slideLayouts/slideLayout6.xml"/><Relationship Id="rId4" Type="http://schemas.openxmlformats.org/officeDocument/2006/relationships/image" Target="../media/image181.png"/></Relationships>
</file>

<file path=ppt/slides/_rels/slide19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3" Type="http://schemas.openxmlformats.org/officeDocument/2006/relationships/image" Target="../media/image182.wmf"/><Relationship Id="rId2" Type="http://schemas.openxmlformats.org/officeDocument/2006/relationships/notesSlide" Target="../notesSlides/notesSlide99.xml"/><Relationship Id="rId1" Type="http://schemas.openxmlformats.org/officeDocument/2006/relationships/slideLayout" Target="../slideLayouts/slideLayout6.xml"/><Relationship Id="rId6" Type="http://schemas.openxmlformats.org/officeDocument/2006/relationships/image" Target="../media/image183.wmf"/><Relationship Id="rId5" Type="http://schemas.openxmlformats.org/officeDocument/2006/relationships/oleObject" Target="../embeddings/oleObject31.bin"/><Relationship Id="rId4" Type="http://schemas.openxmlformats.org/officeDocument/2006/relationships/image" Target="../media/image100.png"/></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notesSlide" Target="../notesSlides/notesSlide101.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202.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102.xml"/><Relationship Id="rId1" Type="http://schemas.openxmlformats.org/officeDocument/2006/relationships/slideLayout" Target="../slideLayouts/slideLayout6.xml"/><Relationship Id="rId5" Type="http://schemas.openxmlformats.org/officeDocument/2006/relationships/image" Target="../media/image100.png"/><Relationship Id="rId4" Type="http://schemas.openxmlformats.org/officeDocument/2006/relationships/image" Target="../media/image186.png"/></Relationships>
</file>

<file path=ppt/slides/_rels/slide203.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103.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204.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104.xml"/><Relationship Id="rId1" Type="http://schemas.openxmlformats.org/officeDocument/2006/relationships/slideLayout" Target="../slideLayouts/slideLayout6.xml"/><Relationship Id="rId5" Type="http://schemas.openxmlformats.org/officeDocument/2006/relationships/image" Target="../media/image100.png"/><Relationship Id="rId4" Type="http://schemas.openxmlformats.org/officeDocument/2006/relationships/image" Target="../media/image189.png"/></Relationships>
</file>

<file path=ppt/slides/_rels/slide205.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105.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206.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notesSlide" Target="../notesSlides/notesSlide106.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207.xml.rels><?xml version="1.0" encoding="UTF-8" standalone="yes"?>
<Relationships xmlns="http://schemas.openxmlformats.org/package/2006/relationships"><Relationship Id="rId8" Type="http://schemas.openxmlformats.org/officeDocument/2006/relationships/image" Target="../media/image194.wmf"/><Relationship Id="rId3" Type="http://schemas.openxmlformats.org/officeDocument/2006/relationships/oleObject" Target="../embeddings/oleObject32.bin"/><Relationship Id="rId7" Type="http://schemas.openxmlformats.org/officeDocument/2006/relationships/oleObject" Target="../embeddings/oleObject34.bin"/><Relationship Id="rId2" Type="http://schemas.openxmlformats.org/officeDocument/2006/relationships/notesSlide" Target="../notesSlides/notesSlide107.xml"/><Relationship Id="rId1" Type="http://schemas.openxmlformats.org/officeDocument/2006/relationships/slideLayout" Target="../slideLayouts/slideLayout6.xml"/><Relationship Id="rId6" Type="http://schemas.openxmlformats.org/officeDocument/2006/relationships/image" Target="../media/image193.wmf"/><Relationship Id="rId5" Type="http://schemas.openxmlformats.org/officeDocument/2006/relationships/oleObject" Target="../embeddings/oleObject33.bin"/><Relationship Id="rId4" Type="http://schemas.openxmlformats.org/officeDocument/2006/relationships/image" Target="../media/image192.wmf"/><Relationship Id="rId9" Type="http://schemas.openxmlformats.org/officeDocument/2006/relationships/image" Target="../media/image100.png"/></Relationships>
</file>

<file path=ppt/slides/_rels/slide208.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108.xml"/><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109.xml"/><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3" Type="http://schemas.openxmlformats.org/officeDocument/2006/relationships/image" Target="../media/image197.emf"/><Relationship Id="rId2" Type="http://schemas.openxmlformats.org/officeDocument/2006/relationships/notesSlide" Target="../notesSlides/notesSlide110.xml"/><Relationship Id="rId1" Type="http://schemas.openxmlformats.org/officeDocument/2006/relationships/slideLayout" Target="../slideLayouts/slideLayout6.xml"/><Relationship Id="rId6" Type="http://schemas.openxmlformats.org/officeDocument/2006/relationships/image" Target="../media/image198.wmf"/><Relationship Id="rId5" Type="http://schemas.openxmlformats.org/officeDocument/2006/relationships/oleObject" Target="../embeddings/oleObject35.bin"/><Relationship Id="rId4" Type="http://schemas.openxmlformats.org/officeDocument/2006/relationships/image" Target="../media/image100.png"/></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6.xml"/></Relationships>
</file>

<file path=ppt/slides/_rels/slide212.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notesSlide" Target="../notesSlides/notesSlide112.xml"/><Relationship Id="rId1" Type="http://schemas.openxmlformats.org/officeDocument/2006/relationships/slideLayout" Target="../slideLayouts/slideLayout6.xml"/><Relationship Id="rId5" Type="http://schemas.openxmlformats.org/officeDocument/2006/relationships/image" Target="../media/image200.png"/><Relationship Id="rId4" Type="http://schemas.openxmlformats.org/officeDocument/2006/relationships/image" Target="../media/image100.png"/></Relationships>
</file>

<file path=ppt/slides/_rels/slide213.xml.rels><?xml version="1.0" encoding="UTF-8" standalone="yes"?>
<Relationships xmlns="http://schemas.openxmlformats.org/package/2006/relationships"><Relationship Id="rId3" Type="http://schemas.openxmlformats.org/officeDocument/2006/relationships/image" Target="../media/image201.png"/><Relationship Id="rId2" Type="http://schemas.openxmlformats.org/officeDocument/2006/relationships/notesSlide" Target="../notesSlides/notesSlide113.xml"/><Relationship Id="rId1" Type="http://schemas.openxmlformats.org/officeDocument/2006/relationships/slideLayout" Target="../slideLayouts/slideLayout6.xml"/><Relationship Id="rId5" Type="http://schemas.openxmlformats.org/officeDocument/2006/relationships/image" Target="../media/image100.png"/><Relationship Id="rId4" Type="http://schemas.openxmlformats.org/officeDocument/2006/relationships/image" Target="../media/image202.png"/></Relationships>
</file>

<file path=ppt/slides/_rels/slide214.xml.rels><?xml version="1.0" encoding="UTF-8" standalone="yes"?>
<Relationships xmlns="http://schemas.openxmlformats.org/package/2006/relationships"><Relationship Id="rId3" Type="http://schemas.openxmlformats.org/officeDocument/2006/relationships/image" Target="../media/image203.emf"/><Relationship Id="rId2" Type="http://schemas.openxmlformats.org/officeDocument/2006/relationships/notesSlide" Target="../notesSlides/notesSlide114.xml"/><Relationship Id="rId1" Type="http://schemas.openxmlformats.org/officeDocument/2006/relationships/slideLayout" Target="../slideLayouts/slideLayout6.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6.xml"/></Relationships>
</file>

<file path=ppt/slides/_rels/slide21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16.xml"/><Relationship Id="rId1" Type="http://schemas.openxmlformats.org/officeDocument/2006/relationships/slideLayout" Target="../slideLayouts/slideLayout6.xml"/></Relationships>
</file>

<file path=ppt/slides/_rels/slide217.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notesSlide" Target="../notesSlides/notesSlide117.xml"/><Relationship Id="rId1" Type="http://schemas.openxmlformats.org/officeDocument/2006/relationships/slideLayout" Target="../slideLayouts/slideLayout4.xml"/></Relationships>
</file>

<file path=ppt/slides/_rels/slide218.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notesSlide" Target="../notesSlides/notesSlide118.xml"/><Relationship Id="rId1" Type="http://schemas.openxmlformats.org/officeDocument/2006/relationships/slideLayout" Target="../slideLayouts/slideLayout6.xml"/><Relationship Id="rId4" Type="http://schemas.openxmlformats.org/officeDocument/2006/relationships/image" Target="../media/image205.jpeg"/></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6.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6.xml"/></Relationships>
</file>

<file path=ppt/slides/_rels/slide221.xml.rels><?xml version="1.0" encoding="UTF-8" standalone="yes"?>
<Relationships xmlns="http://schemas.openxmlformats.org/package/2006/relationships"><Relationship Id="rId3" Type="http://schemas.openxmlformats.org/officeDocument/2006/relationships/oleObject" Target="../embeddings/oleObject36.bin"/><Relationship Id="rId2" Type="http://schemas.openxmlformats.org/officeDocument/2006/relationships/notesSlide" Target="../notesSlides/notesSlide121.xml"/><Relationship Id="rId1" Type="http://schemas.openxmlformats.org/officeDocument/2006/relationships/slideLayout" Target="../slideLayouts/slideLayout6.xml"/><Relationship Id="rId4" Type="http://schemas.openxmlformats.org/officeDocument/2006/relationships/image" Target="../media/image206.wmf"/></Relationships>
</file>

<file path=ppt/slides/_rels/slide222.xml.rels><?xml version="1.0" encoding="UTF-8" standalone="yes"?>
<Relationships xmlns="http://schemas.openxmlformats.org/package/2006/relationships"><Relationship Id="rId3" Type="http://schemas.openxmlformats.org/officeDocument/2006/relationships/image" Target="../media/image46.png"/><Relationship Id="rId7" Type="http://schemas.openxmlformats.org/officeDocument/2006/relationships/image" Target="../media/image208.wmf"/><Relationship Id="rId2" Type="http://schemas.openxmlformats.org/officeDocument/2006/relationships/notesSlide" Target="../notesSlides/notesSlide122.xml"/><Relationship Id="rId1" Type="http://schemas.openxmlformats.org/officeDocument/2006/relationships/slideLayout" Target="../slideLayouts/slideLayout6.xml"/><Relationship Id="rId6" Type="http://schemas.openxmlformats.org/officeDocument/2006/relationships/oleObject" Target="../embeddings/oleObject38.bin"/><Relationship Id="rId5" Type="http://schemas.openxmlformats.org/officeDocument/2006/relationships/image" Target="../media/image207.wmf"/><Relationship Id="rId4" Type="http://schemas.openxmlformats.org/officeDocument/2006/relationships/oleObject" Target="../embeddings/oleObject37.bin"/></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4.xml.rels><?xml version="1.0" encoding="UTF-8" standalone="yes"?>
<Relationships xmlns="http://schemas.openxmlformats.org/package/2006/relationships"><Relationship Id="rId8" Type="http://schemas.openxmlformats.org/officeDocument/2006/relationships/oleObject" Target="../embeddings/oleObject42.bin"/><Relationship Id="rId3" Type="http://schemas.openxmlformats.org/officeDocument/2006/relationships/image" Target="../media/image209.wmf"/><Relationship Id="rId7" Type="http://schemas.openxmlformats.org/officeDocument/2006/relationships/image" Target="../media/image211.wmf"/><Relationship Id="rId2" Type="http://schemas.openxmlformats.org/officeDocument/2006/relationships/oleObject" Target="../embeddings/oleObject39.bin"/><Relationship Id="rId1" Type="http://schemas.openxmlformats.org/officeDocument/2006/relationships/slideLayout" Target="../slideLayouts/slideLayout6.xml"/><Relationship Id="rId6" Type="http://schemas.openxmlformats.org/officeDocument/2006/relationships/oleObject" Target="../embeddings/oleObject41.bin"/><Relationship Id="rId5" Type="http://schemas.openxmlformats.org/officeDocument/2006/relationships/image" Target="../media/image210.wmf"/><Relationship Id="rId4" Type="http://schemas.openxmlformats.org/officeDocument/2006/relationships/oleObject" Target="../embeddings/oleObject40.bin"/><Relationship Id="rId9" Type="http://schemas.openxmlformats.org/officeDocument/2006/relationships/image" Target="../media/image208.wmf"/></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7.xml.rels><?xml version="1.0" encoding="UTF-8" standalone="yes"?>
<Relationships xmlns="http://schemas.openxmlformats.org/package/2006/relationships"><Relationship Id="rId3" Type="http://schemas.openxmlformats.org/officeDocument/2006/relationships/image" Target="../media/image212.wmf"/><Relationship Id="rId2" Type="http://schemas.openxmlformats.org/officeDocument/2006/relationships/oleObject" Target="../embeddings/oleObject43.bin"/><Relationship Id="rId1" Type="http://schemas.openxmlformats.org/officeDocument/2006/relationships/slideLayout" Target="../slideLayouts/slideLayout6.xml"/><Relationship Id="rId5" Type="http://schemas.openxmlformats.org/officeDocument/2006/relationships/image" Target="../media/image213.wmf"/><Relationship Id="rId4" Type="http://schemas.openxmlformats.org/officeDocument/2006/relationships/oleObject" Target="../embeddings/oleObject44.bin"/></Relationships>
</file>

<file path=ppt/slides/_rels/slide228.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image" Target="../media/image214.png"/><Relationship Id="rId1" Type="http://schemas.openxmlformats.org/officeDocument/2006/relationships/slideLayout" Target="../slideLayouts/slideLayout6.xml"/><Relationship Id="rId4" Type="http://schemas.openxmlformats.org/officeDocument/2006/relationships/image" Target="../media/image216.png"/></Relationships>
</file>

<file path=ppt/slides/_rels/slide229.xml.rels><?xml version="1.0" encoding="UTF-8" standalone="yes"?>
<Relationships xmlns="http://schemas.openxmlformats.org/package/2006/relationships"><Relationship Id="rId3" Type="http://schemas.openxmlformats.org/officeDocument/2006/relationships/oleObject" Target="../embeddings/oleObject45.bin"/><Relationship Id="rId2" Type="http://schemas.openxmlformats.org/officeDocument/2006/relationships/notesSlide" Target="../notesSlides/notesSlide123.xml"/><Relationship Id="rId1" Type="http://schemas.openxmlformats.org/officeDocument/2006/relationships/slideLayout" Target="../slideLayouts/slideLayout6.xml"/><Relationship Id="rId6" Type="http://schemas.openxmlformats.org/officeDocument/2006/relationships/image" Target="../media/image218.wmf"/><Relationship Id="rId5" Type="http://schemas.openxmlformats.org/officeDocument/2006/relationships/oleObject" Target="../embeddings/oleObject46.bin"/><Relationship Id="rId4" Type="http://schemas.openxmlformats.org/officeDocument/2006/relationships/image" Target="../media/image217.wmf"/></Relationships>
</file>

<file path=ppt/slides/_rels/slide230.xml.rels><?xml version="1.0" encoding="UTF-8" standalone="yes"?>
<Relationships xmlns="http://schemas.openxmlformats.org/package/2006/relationships"><Relationship Id="rId2" Type="http://schemas.openxmlformats.org/officeDocument/2006/relationships/image" Target="../media/image219.png"/><Relationship Id="rId1" Type="http://schemas.openxmlformats.org/officeDocument/2006/relationships/slideLayout" Target="../slideLayouts/slideLayout6.xml"/></Relationships>
</file>

<file path=ppt/slides/_rels/slide231.xml.rels><?xml version="1.0" encoding="UTF-8" standalone="yes"?>
<Relationships xmlns="http://schemas.openxmlformats.org/package/2006/relationships"><Relationship Id="rId3" Type="http://schemas.openxmlformats.org/officeDocument/2006/relationships/image" Target="../media/image220.jpeg"/><Relationship Id="rId2" Type="http://schemas.openxmlformats.org/officeDocument/2006/relationships/notesSlide" Target="../notesSlides/notesSlide124.xml"/><Relationship Id="rId1" Type="http://schemas.openxmlformats.org/officeDocument/2006/relationships/slideLayout" Target="../slideLayouts/slideLayout6.xml"/></Relationships>
</file>

<file path=ppt/slides/_rels/slide232.xml.rels><?xml version="1.0" encoding="UTF-8" standalone="yes"?>
<Relationships xmlns="http://schemas.openxmlformats.org/package/2006/relationships"><Relationship Id="rId3" Type="http://schemas.openxmlformats.org/officeDocument/2006/relationships/image" Target="../media/image221.png"/><Relationship Id="rId2" Type="http://schemas.openxmlformats.org/officeDocument/2006/relationships/notesSlide" Target="../notesSlides/notesSlide125.xml"/><Relationship Id="rId1" Type="http://schemas.openxmlformats.org/officeDocument/2006/relationships/slideLayout" Target="../slideLayouts/slideLayout6.xml"/><Relationship Id="rId6" Type="http://schemas.openxmlformats.org/officeDocument/2006/relationships/image" Target="../media/image100.png"/><Relationship Id="rId5" Type="http://schemas.openxmlformats.org/officeDocument/2006/relationships/image" Target="../media/image214.png"/><Relationship Id="rId4" Type="http://schemas.openxmlformats.org/officeDocument/2006/relationships/image" Target="../media/image222.png"/></Relationships>
</file>

<file path=ppt/slides/_rels/slide233.xml.rels><?xml version="1.0" encoding="UTF-8" standalone="yes"?>
<Relationships xmlns="http://schemas.openxmlformats.org/package/2006/relationships"><Relationship Id="rId3" Type="http://schemas.openxmlformats.org/officeDocument/2006/relationships/image" Target="../media/image223.emf"/><Relationship Id="rId2" Type="http://schemas.openxmlformats.org/officeDocument/2006/relationships/notesSlide" Target="../notesSlides/notesSlide126.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234.xml.rels><?xml version="1.0" encoding="UTF-8" standalone="yes"?>
<Relationships xmlns="http://schemas.openxmlformats.org/package/2006/relationships"><Relationship Id="rId3" Type="http://schemas.openxmlformats.org/officeDocument/2006/relationships/image" Target="../media/image221.png"/><Relationship Id="rId7" Type="http://schemas.openxmlformats.org/officeDocument/2006/relationships/image" Target="../media/image100.png"/><Relationship Id="rId2" Type="http://schemas.openxmlformats.org/officeDocument/2006/relationships/notesSlide" Target="../notesSlides/notesSlide127.xml"/><Relationship Id="rId1" Type="http://schemas.openxmlformats.org/officeDocument/2006/relationships/slideLayout" Target="../slideLayouts/slideLayout6.xml"/><Relationship Id="rId6" Type="http://schemas.openxmlformats.org/officeDocument/2006/relationships/image" Target="../media/image214.png"/><Relationship Id="rId5" Type="http://schemas.openxmlformats.org/officeDocument/2006/relationships/image" Target="../media/image225.png"/><Relationship Id="rId4" Type="http://schemas.openxmlformats.org/officeDocument/2006/relationships/image" Target="../media/image224.png"/></Relationships>
</file>

<file path=ppt/slides/_rels/slide235.xml.rels><?xml version="1.0" encoding="UTF-8" standalone="yes"?>
<Relationships xmlns="http://schemas.openxmlformats.org/package/2006/relationships"><Relationship Id="rId3" Type="http://schemas.openxmlformats.org/officeDocument/2006/relationships/image" Target="../media/image226.emf"/><Relationship Id="rId2" Type="http://schemas.openxmlformats.org/officeDocument/2006/relationships/notesSlide" Target="../notesSlides/notesSlide128.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6.xml"/></Relationships>
</file>

<file path=ppt/slides/_rels/slide237.xml.rels><?xml version="1.0" encoding="UTF-8" standalone="yes"?>
<Relationships xmlns="http://schemas.openxmlformats.org/package/2006/relationships"><Relationship Id="rId3" Type="http://schemas.openxmlformats.org/officeDocument/2006/relationships/image" Target="../media/image227.png"/><Relationship Id="rId2" Type="http://schemas.openxmlformats.org/officeDocument/2006/relationships/notesSlide" Target="../notesSlides/notesSlide130.xml"/><Relationship Id="rId1" Type="http://schemas.openxmlformats.org/officeDocument/2006/relationships/slideLayout" Target="../slideLayouts/slideLayout6.xml"/><Relationship Id="rId6" Type="http://schemas.openxmlformats.org/officeDocument/2006/relationships/image" Target="../media/image230.png"/><Relationship Id="rId5" Type="http://schemas.openxmlformats.org/officeDocument/2006/relationships/image" Target="../media/image229.png"/><Relationship Id="rId4" Type="http://schemas.openxmlformats.org/officeDocument/2006/relationships/image" Target="../media/image228.png"/></Relationships>
</file>

<file path=ppt/slides/_rels/slide238.xml.rels><?xml version="1.0" encoding="UTF-8" standalone="yes"?>
<Relationships xmlns="http://schemas.openxmlformats.org/package/2006/relationships"><Relationship Id="rId2" Type="http://schemas.openxmlformats.org/officeDocument/2006/relationships/image" Target="../media/image231.png"/><Relationship Id="rId1" Type="http://schemas.openxmlformats.org/officeDocument/2006/relationships/slideLayout" Target="../slideLayouts/slideLayout6.xml"/></Relationships>
</file>

<file path=ppt/slides/_rels/slide239.xml.rels><?xml version="1.0" encoding="UTF-8" standalone="yes"?>
<Relationships xmlns="http://schemas.openxmlformats.org/package/2006/relationships"><Relationship Id="rId3" Type="http://schemas.openxmlformats.org/officeDocument/2006/relationships/oleObject" Target="../embeddings/oleObject47.bin"/><Relationship Id="rId2" Type="http://schemas.openxmlformats.org/officeDocument/2006/relationships/notesSlide" Target="../notesSlides/notesSlide131.xml"/><Relationship Id="rId1" Type="http://schemas.openxmlformats.org/officeDocument/2006/relationships/slideLayout" Target="../slideLayouts/slideLayout6.xml"/><Relationship Id="rId5" Type="http://schemas.openxmlformats.org/officeDocument/2006/relationships/image" Target="../media/image233.emf"/><Relationship Id="rId4" Type="http://schemas.openxmlformats.org/officeDocument/2006/relationships/image" Target="../media/image232.emf"/></Relationships>
</file>

<file path=ppt/slides/_rels/slide240.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notesSlide" Target="../notesSlides/notesSlide132.xml"/><Relationship Id="rId1" Type="http://schemas.openxmlformats.org/officeDocument/2006/relationships/slideLayout" Target="../slideLayouts/slideLayout6.xml"/></Relationships>
</file>

<file path=ppt/slides/_rels/slide241.xml.rels><?xml version="1.0" encoding="UTF-8" standalone="yes"?>
<Relationships xmlns="http://schemas.openxmlformats.org/package/2006/relationships"><Relationship Id="rId2" Type="http://schemas.openxmlformats.org/officeDocument/2006/relationships/image" Target="../media/image234.png"/><Relationship Id="rId1" Type="http://schemas.openxmlformats.org/officeDocument/2006/relationships/slideLayout" Target="../slideLayouts/slideLayout6.xml"/></Relationships>
</file>

<file path=ppt/slides/_rels/slide242.xml.rels><?xml version="1.0" encoding="UTF-8" standalone="yes"?>
<Relationships xmlns="http://schemas.openxmlformats.org/package/2006/relationships"><Relationship Id="rId2" Type="http://schemas.openxmlformats.org/officeDocument/2006/relationships/image" Target="../media/image235.jpeg"/><Relationship Id="rId1" Type="http://schemas.openxmlformats.org/officeDocument/2006/relationships/slideLayout" Target="../slideLayouts/slideLayout6.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6.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6.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6.xml"/></Relationships>
</file>

<file path=ppt/slides/_rels/slide248.xml.rels><?xml version="1.0" encoding="UTF-8" standalone="yes"?>
<Relationships xmlns="http://schemas.openxmlformats.org/package/2006/relationships"><Relationship Id="rId3" Type="http://schemas.openxmlformats.org/officeDocument/2006/relationships/image" Target="../media/image236.jpeg"/><Relationship Id="rId2" Type="http://schemas.openxmlformats.org/officeDocument/2006/relationships/notesSlide" Target="../notesSlides/notesSlide136.xml"/><Relationship Id="rId1" Type="http://schemas.openxmlformats.org/officeDocument/2006/relationships/slideLayout" Target="../slideLayouts/slideLayout6.xml"/></Relationships>
</file>

<file path=ppt/slides/_rels/slide249.xml.rels><?xml version="1.0" encoding="UTF-8" standalone="yes"?>
<Relationships xmlns="http://schemas.openxmlformats.org/package/2006/relationships"><Relationship Id="rId3" Type="http://schemas.openxmlformats.org/officeDocument/2006/relationships/image" Target="../media/image237.jpeg"/><Relationship Id="rId2" Type="http://schemas.openxmlformats.org/officeDocument/2006/relationships/notesSlide" Target="../notesSlides/notesSlide137.xml"/><Relationship Id="rId1" Type="http://schemas.openxmlformats.org/officeDocument/2006/relationships/slideLayout" Target="../slideLayouts/slideLayout6.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6.xml"/></Relationships>
</file>

<file path=ppt/slides/_rels/slide251.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notesSlide" Target="../notesSlides/notesSlide139.xml"/><Relationship Id="rId1" Type="http://schemas.openxmlformats.org/officeDocument/2006/relationships/slideLayout" Target="../slideLayouts/slideLayout6.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6.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6.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6.xml"/></Relationships>
</file>

<file path=ppt/slides/_rels/slide255.xml.rels><?xml version="1.0" encoding="UTF-8" standalone="yes"?>
<Relationships xmlns="http://schemas.openxmlformats.org/package/2006/relationships"><Relationship Id="rId3" Type="http://schemas.openxmlformats.org/officeDocument/2006/relationships/oleObject" Target="../embeddings/oleObject48.bin"/><Relationship Id="rId2" Type="http://schemas.openxmlformats.org/officeDocument/2006/relationships/notesSlide" Target="../notesSlides/notesSlide143.xml"/><Relationship Id="rId1" Type="http://schemas.openxmlformats.org/officeDocument/2006/relationships/slideLayout" Target="../slideLayouts/slideLayout6.xml"/><Relationship Id="rId5" Type="http://schemas.openxmlformats.org/officeDocument/2006/relationships/image" Target="../media/image237.jpeg"/><Relationship Id="rId4" Type="http://schemas.openxmlformats.org/officeDocument/2006/relationships/image" Target="../media/image239.png"/></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6.xml"/></Relationships>
</file>

<file path=ppt/slides/_rels/slide257.xml.rels><?xml version="1.0" encoding="UTF-8" standalone="yes"?>
<Relationships xmlns="http://schemas.openxmlformats.org/package/2006/relationships"><Relationship Id="rId3" Type="http://schemas.openxmlformats.org/officeDocument/2006/relationships/image" Target="../media/image240.emf"/><Relationship Id="rId2" Type="http://schemas.openxmlformats.org/officeDocument/2006/relationships/notesSlide" Target="../notesSlides/notesSlide145.xml"/><Relationship Id="rId1" Type="http://schemas.openxmlformats.org/officeDocument/2006/relationships/slideLayout" Target="../slideLayouts/slideLayout6.xml"/></Relationships>
</file>

<file path=ppt/slides/_rels/slide258.xml.rels><?xml version="1.0" encoding="UTF-8" standalone="yes"?>
<Relationships xmlns="http://schemas.openxmlformats.org/package/2006/relationships"><Relationship Id="rId3" Type="http://schemas.openxmlformats.org/officeDocument/2006/relationships/image" Target="../media/image241.emf"/><Relationship Id="rId2" Type="http://schemas.openxmlformats.org/officeDocument/2006/relationships/notesSlide" Target="../notesSlides/notesSlide146.xml"/><Relationship Id="rId1" Type="http://schemas.openxmlformats.org/officeDocument/2006/relationships/slideLayout" Target="../slideLayouts/slideLayout6.xml"/></Relationships>
</file>

<file path=ppt/slides/_rels/slide259.xml.rels><?xml version="1.0" encoding="UTF-8" standalone="yes"?>
<Relationships xmlns="http://schemas.openxmlformats.org/package/2006/relationships"><Relationship Id="rId3" Type="http://schemas.openxmlformats.org/officeDocument/2006/relationships/image" Target="../media/image242.emf"/><Relationship Id="rId2" Type="http://schemas.openxmlformats.org/officeDocument/2006/relationships/notesSlide" Target="../notesSlides/notesSlide147.xml"/><Relationship Id="rId1" Type="http://schemas.openxmlformats.org/officeDocument/2006/relationships/slideLayout" Target="../slideLayouts/slideLayout6.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6.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6.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6.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6.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6.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6.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6.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6.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6.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6.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6.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6.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6.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6.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6.xml"/></Relationships>
</file>

<file path=ppt/slides/_rels/slide275.xml.rels><?xml version="1.0" encoding="UTF-8" standalone="yes"?>
<Relationships xmlns="http://schemas.openxmlformats.org/package/2006/relationships"><Relationship Id="rId3" Type="http://schemas.openxmlformats.org/officeDocument/2006/relationships/image" Target="../media/image243.png"/><Relationship Id="rId2" Type="http://schemas.openxmlformats.org/officeDocument/2006/relationships/notesSlide" Target="../notesSlides/notesSlide163.xml"/><Relationship Id="rId1" Type="http://schemas.openxmlformats.org/officeDocument/2006/relationships/slideLayout" Target="../slideLayouts/slideLayout6.xml"/></Relationships>
</file>

<file path=ppt/slides/_rels/slide276.xml.rels><?xml version="1.0" encoding="UTF-8" standalone="yes"?>
<Relationships xmlns="http://schemas.openxmlformats.org/package/2006/relationships"><Relationship Id="rId3" Type="http://schemas.openxmlformats.org/officeDocument/2006/relationships/image" Target="../media/image244.png"/><Relationship Id="rId2" Type="http://schemas.openxmlformats.org/officeDocument/2006/relationships/notesSlide" Target="../notesSlides/notesSlide164.xml"/><Relationship Id="rId1" Type="http://schemas.openxmlformats.org/officeDocument/2006/relationships/slideLayout" Target="../slideLayouts/slideLayout6.xml"/><Relationship Id="rId5" Type="http://schemas.openxmlformats.org/officeDocument/2006/relationships/image" Target="../media/image246.png"/><Relationship Id="rId4" Type="http://schemas.openxmlformats.org/officeDocument/2006/relationships/image" Target="../media/image245.png"/></Relationships>
</file>

<file path=ppt/slides/_rels/slide277.xml.rels><?xml version="1.0" encoding="UTF-8" standalone="yes"?>
<Relationships xmlns="http://schemas.openxmlformats.org/package/2006/relationships"><Relationship Id="rId3" Type="http://schemas.openxmlformats.org/officeDocument/2006/relationships/image" Target="../media/image247.emf"/><Relationship Id="rId2" Type="http://schemas.openxmlformats.org/officeDocument/2006/relationships/notesSlide" Target="../notesSlides/notesSlide165.xml"/><Relationship Id="rId1" Type="http://schemas.openxmlformats.org/officeDocument/2006/relationships/slideLayout" Target="../slideLayouts/slideLayout6.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6.xml"/></Relationships>
</file>

<file path=ppt/slides/_rels/slide279.xml.rels><?xml version="1.0" encoding="UTF-8" standalone="yes"?>
<Relationships xmlns="http://schemas.openxmlformats.org/package/2006/relationships"><Relationship Id="rId3" Type="http://schemas.openxmlformats.org/officeDocument/2006/relationships/image" Target="../media/image248.png"/><Relationship Id="rId2" Type="http://schemas.openxmlformats.org/officeDocument/2006/relationships/notesSlide" Target="../notesSlides/notesSlide167.xml"/><Relationship Id="rId1" Type="http://schemas.openxmlformats.org/officeDocument/2006/relationships/slideLayout" Target="../slideLayouts/slideLayout6.xml"/><Relationship Id="rId5" Type="http://schemas.openxmlformats.org/officeDocument/2006/relationships/image" Target="../media/image249.png"/><Relationship Id="rId4" Type="http://schemas.openxmlformats.org/officeDocument/2006/relationships/image" Target="../media/image244.png"/></Relationships>
</file>

<file path=ppt/slides/_rels/slide280.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notesSlide" Target="../notesSlides/notesSlide168.xml"/><Relationship Id="rId1" Type="http://schemas.openxmlformats.org/officeDocument/2006/relationships/slideLayout" Target="../slideLayouts/slideLayout6.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6.xml"/></Relationships>
</file>

<file path=ppt/slides/_rels/slide282.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notesSlide" Target="../notesSlides/notesSlide170.xml"/><Relationship Id="rId1" Type="http://schemas.openxmlformats.org/officeDocument/2006/relationships/slideLayout" Target="../slideLayouts/slideLayout6.xml"/></Relationships>
</file>

<file path=ppt/slides/_rels/slide283.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notesSlide" Target="../notesSlides/notesSlide171.xml"/><Relationship Id="rId1" Type="http://schemas.openxmlformats.org/officeDocument/2006/relationships/slideLayout" Target="../slideLayouts/slideLayout6.xml"/><Relationship Id="rId4" Type="http://schemas.openxmlformats.org/officeDocument/2006/relationships/image" Target="../media/image253.png"/></Relationships>
</file>

<file path=ppt/slides/_rels/slide284.xml.rels><?xml version="1.0" encoding="UTF-8" standalone="yes"?>
<Relationships xmlns="http://schemas.openxmlformats.org/package/2006/relationships"><Relationship Id="rId3" Type="http://schemas.openxmlformats.org/officeDocument/2006/relationships/image" Target="../media/image254.emf"/><Relationship Id="rId2" Type="http://schemas.openxmlformats.org/officeDocument/2006/relationships/notesSlide" Target="../notesSlides/notesSlide172.xml"/><Relationship Id="rId1" Type="http://schemas.openxmlformats.org/officeDocument/2006/relationships/slideLayout" Target="../slideLayouts/slideLayout6.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6.xml"/></Relationships>
</file>

<file path=ppt/slides/_rels/slide286.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notesSlide" Target="../notesSlides/notesSlide174.xml"/><Relationship Id="rId1" Type="http://schemas.openxmlformats.org/officeDocument/2006/relationships/slideLayout" Target="../slideLayouts/slideLayout6.xml"/></Relationships>
</file>

<file path=ppt/slides/_rels/slide287.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notesSlide" Target="../notesSlides/notesSlide175.xml"/><Relationship Id="rId1" Type="http://schemas.openxmlformats.org/officeDocument/2006/relationships/slideLayout" Target="../slideLayouts/slideLayout6.xml"/><Relationship Id="rId4" Type="http://schemas.openxmlformats.org/officeDocument/2006/relationships/image" Target="../media/image257.png"/></Relationships>
</file>

<file path=ppt/slides/_rels/slide288.xml.rels><?xml version="1.0" encoding="UTF-8" standalone="yes"?>
<Relationships xmlns="http://schemas.openxmlformats.org/package/2006/relationships"><Relationship Id="rId3" Type="http://schemas.openxmlformats.org/officeDocument/2006/relationships/image" Target="../media/image258.emf"/><Relationship Id="rId2" Type="http://schemas.openxmlformats.org/officeDocument/2006/relationships/notesSlide" Target="../notesSlides/notesSlide176.xml"/><Relationship Id="rId1" Type="http://schemas.openxmlformats.org/officeDocument/2006/relationships/slideLayout" Target="../slideLayouts/slideLayout6.xml"/></Relationships>
</file>

<file path=ppt/slides/_rels/slide289.xml.rels><?xml version="1.0" encoding="UTF-8" standalone="yes"?>
<Relationships xmlns="http://schemas.openxmlformats.org/package/2006/relationships"><Relationship Id="rId2" Type="http://schemas.openxmlformats.org/officeDocument/2006/relationships/image" Target="../media/image238.png"/><Relationship Id="rId1" Type="http://schemas.openxmlformats.org/officeDocument/2006/relationships/slideLayout" Target="../slideLayouts/slideLayout6.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6.xml"/></Relationships>
</file>

<file path=ppt/slides/_rels/slide291.xml.rels><?xml version="1.0" encoding="UTF-8" standalone="yes"?>
<Relationships xmlns="http://schemas.openxmlformats.org/package/2006/relationships"><Relationship Id="rId2" Type="http://schemas.openxmlformats.org/officeDocument/2006/relationships/image" Target="../media/image259.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0</a:t>
            </a:fld>
            <a:endParaRPr lang="ko-KR" altLang="en-US" dirty="0"/>
          </a:p>
        </p:txBody>
      </p:sp>
      <p:sp>
        <p:nvSpPr>
          <p:cNvPr id="3" name="제목 5"/>
          <p:cNvSpPr txBox="1">
            <a:spLocks/>
          </p:cNvSpPr>
          <p:nvPr/>
        </p:nvSpPr>
        <p:spPr bwMode="auto">
          <a:xfrm>
            <a:off x="659396" y="2643182"/>
            <a:ext cx="7913132" cy="706438"/>
          </a:xfrm>
          <a:prstGeom prst="rect">
            <a:avLst/>
          </a:prstGeom>
          <a:noFill/>
          <a:ln w="9525">
            <a:noFill/>
            <a:prstDash val="sysDash"/>
            <a:miter lim="800000"/>
            <a:headEnd/>
            <a:tailEnd/>
          </a:ln>
        </p:spPr>
        <p:txBody>
          <a:bodyPr anchor="ctr"/>
          <a:lstStyle/>
          <a:p>
            <a:pPr algn="ctr"/>
            <a:r>
              <a:rPr lang="en-US" altLang="ko-KR" sz="13800" b="1" dirty="0">
                <a:solidFill>
                  <a:srgbClr val="C5003D"/>
                </a:solidFill>
                <a:latin typeface="맑은 고딕" pitchFamily="50" charset="-127"/>
                <a:ea typeface="맑은 고딕" pitchFamily="50" charset="-127"/>
              </a:rPr>
              <a:t>6 sigma</a:t>
            </a:r>
            <a:endParaRPr lang="ko-KR" altLang="en-US" sz="13800" b="1" dirty="0">
              <a:solidFill>
                <a:srgbClr val="C5003D"/>
              </a:solidFill>
              <a:latin typeface="맑은 고딕" pitchFamily="50" charset="-127"/>
              <a:ea typeface="맑은 고딕" pitchFamily="50" charset="-127"/>
            </a:endParaRPr>
          </a:p>
        </p:txBody>
      </p:sp>
    </p:spTree>
    <p:extLst>
      <p:ext uri="{BB962C8B-B14F-4D97-AF65-F5344CB8AC3E}">
        <p14:creationId xmlns:p14="http://schemas.microsoft.com/office/powerpoint/2010/main" val="165791321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제목 1"/>
          <p:cNvSpPr>
            <a:spLocks noGrp="1"/>
          </p:cNvSpPr>
          <p:nvPr>
            <p:ph type="title" idx="4294967295"/>
          </p:nvPr>
        </p:nvSpPr>
        <p:spPr bwMode="auto">
          <a:xfrm>
            <a:off x="195263" y="188913"/>
            <a:ext cx="4037012" cy="34607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err="1">
                <a:latin typeface="Arial" pitchFamily="34" charset="0"/>
                <a:cs typeface="Arial" pitchFamily="34" charset="0"/>
              </a:rPr>
              <a:t>Lịch</a:t>
            </a:r>
            <a:r>
              <a:rPr lang="en-US" altLang="ko-KR" sz="2000" b="1" dirty="0">
                <a:latin typeface="Arial" pitchFamily="34" charset="0"/>
                <a:cs typeface="Arial" pitchFamily="34" charset="0"/>
              </a:rPr>
              <a:t> </a:t>
            </a:r>
            <a:r>
              <a:rPr lang="en-US" altLang="ko-KR" sz="2000" b="1" dirty="0" err="1">
                <a:latin typeface="Arial" pitchFamily="34" charset="0"/>
                <a:cs typeface="Arial" pitchFamily="34" charset="0"/>
              </a:rPr>
              <a:t>trình</a:t>
            </a:r>
            <a:endParaRPr lang="ko-KR" altLang="en-US" sz="2000" b="1"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a:t>
            </a:fld>
            <a:endParaRPr lang="ko-KR" altLang="en-US" dirty="0">
              <a:latin typeface="Arial" pitchFamily="34" charset="0"/>
              <a:cs typeface="Arial" pitchFamily="34" charset="0"/>
            </a:endParaRPr>
          </a:p>
        </p:txBody>
      </p:sp>
      <p:graphicFrame>
        <p:nvGraphicFramePr>
          <p:cNvPr id="5" name="Table 4"/>
          <p:cNvGraphicFramePr>
            <a:graphicFrameLocks noGrp="1"/>
          </p:cNvGraphicFramePr>
          <p:nvPr>
            <p:extLst>
              <p:ext uri="{D42A27DB-BD31-4B8C-83A1-F6EECF244321}">
                <p14:modId xmlns:p14="http://schemas.microsoft.com/office/powerpoint/2010/main" val="1420896589"/>
              </p:ext>
            </p:extLst>
          </p:nvPr>
        </p:nvGraphicFramePr>
        <p:xfrm>
          <a:off x="704528" y="980728"/>
          <a:ext cx="8461697" cy="5491091"/>
        </p:xfrm>
        <a:graphic>
          <a:graphicData uri="http://schemas.openxmlformats.org/drawingml/2006/table">
            <a:tbl>
              <a:tblPr/>
              <a:tblGrid>
                <a:gridCol w="1164756">
                  <a:extLst>
                    <a:ext uri="{9D8B030D-6E8A-4147-A177-3AD203B41FA5}">
                      <a16:colId xmlns:a16="http://schemas.microsoft.com/office/drawing/2014/main" val="20000"/>
                    </a:ext>
                  </a:extLst>
                </a:gridCol>
                <a:gridCol w="1624420">
                  <a:extLst>
                    <a:ext uri="{9D8B030D-6E8A-4147-A177-3AD203B41FA5}">
                      <a16:colId xmlns:a16="http://schemas.microsoft.com/office/drawing/2014/main" val="20001"/>
                    </a:ext>
                  </a:extLst>
                </a:gridCol>
                <a:gridCol w="1827473">
                  <a:extLst>
                    <a:ext uri="{9D8B030D-6E8A-4147-A177-3AD203B41FA5}">
                      <a16:colId xmlns:a16="http://schemas.microsoft.com/office/drawing/2014/main" val="20002"/>
                    </a:ext>
                  </a:extLst>
                </a:gridCol>
                <a:gridCol w="2096641">
                  <a:extLst>
                    <a:ext uri="{9D8B030D-6E8A-4147-A177-3AD203B41FA5}">
                      <a16:colId xmlns:a16="http://schemas.microsoft.com/office/drawing/2014/main" val="20003"/>
                    </a:ext>
                  </a:extLst>
                </a:gridCol>
                <a:gridCol w="1748407">
                  <a:extLst>
                    <a:ext uri="{9D8B030D-6E8A-4147-A177-3AD203B41FA5}">
                      <a16:colId xmlns:a16="http://schemas.microsoft.com/office/drawing/2014/main" val="20004"/>
                    </a:ext>
                  </a:extLst>
                </a:gridCol>
              </a:tblGrid>
              <a:tr h="304460">
                <a:tc rowSpan="3">
                  <a:txBody>
                    <a:bodyPr/>
                    <a:lstStyle/>
                    <a:p>
                      <a:pPr algn="ctr" fontAlgn="ctr" latinLnBrk="0"/>
                      <a:r>
                        <a:rPr lang="en-US" sz="1400" b="1" i="0" u="none" strike="noStrike" dirty="0">
                          <a:solidFill>
                            <a:srgbClr val="000000"/>
                          </a:solidFill>
                          <a:latin typeface="Arial" pitchFamily="34" charset="0"/>
                          <a:cs typeface="Arial" pitchFamily="34" charset="0"/>
                        </a:rPr>
                        <a:t>Time</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gridSpan="2">
                  <a:txBody>
                    <a:bodyPr/>
                    <a:lstStyle/>
                    <a:p>
                      <a:pPr algn="ctr" fontAlgn="ctr" latinLnBrk="0"/>
                      <a:r>
                        <a:rPr lang="en-US" sz="1600" b="1" i="0" u="none" strike="noStrike" dirty="0">
                          <a:solidFill>
                            <a:srgbClr val="000000"/>
                          </a:solidFill>
                          <a:latin typeface="Arial" pitchFamily="34" charset="0"/>
                          <a:cs typeface="Arial" pitchFamily="34" charset="0"/>
                        </a:rPr>
                        <a:t>Week</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endParaRPr lang="en-US"/>
                    </a:p>
                  </a:txBody>
                  <a:tcPr/>
                </a:tc>
                <a:tc gridSpan="2">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b="1" i="0" u="none" strike="noStrike" dirty="0">
                          <a:solidFill>
                            <a:srgbClr val="000000"/>
                          </a:solidFill>
                          <a:latin typeface="Arial" pitchFamily="34" charset="0"/>
                          <a:cs typeface="Arial" pitchFamily="34" charset="0"/>
                        </a:rPr>
                        <a:t>Week</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endParaRPr lang="en-US"/>
                    </a:p>
                  </a:txBody>
                  <a:tcPr/>
                </a:tc>
                <a:extLst>
                  <a:ext uri="{0D108BD9-81ED-4DB2-BD59-A6C34878D82A}">
                    <a16:rowId xmlns:a16="http://schemas.microsoft.com/office/drawing/2014/main" val="10000"/>
                  </a:ext>
                </a:extLst>
              </a:tr>
              <a:tr h="304460">
                <a:tc vMerge="1">
                  <a:txBody>
                    <a:bodyPr/>
                    <a:lstStyle/>
                    <a:p>
                      <a:pPr algn="ctr" fontAlgn="ctr"/>
                      <a:endParaRPr lang="en-US" sz="1400" b="1"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gridSpan="2">
                  <a:txBody>
                    <a:bodyPr/>
                    <a:lstStyle/>
                    <a:p>
                      <a:pPr algn="ctr" fontAlgn="ctr" latinLnBrk="0"/>
                      <a:r>
                        <a:rPr lang="en-US" sz="1400" b="1" i="0" u="none" strike="noStrike" dirty="0">
                          <a:solidFill>
                            <a:srgbClr val="000000"/>
                          </a:solidFill>
                          <a:latin typeface="Arial" pitchFamily="34" charset="0"/>
                          <a:cs typeface="Arial" pitchFamily="34" charset="0"/>
                        </a:rPr>
                        <a:t>QIB (Quality improvement basic)</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hMerge="1">
                  <a:txBody>
                    <a:bodyPr/>
                    <a:lstStyle/>
                    <a:p>
                      <a:pPr algn="ctr" fontAlgn="ctr"/>
                      <a:endParaRPr lang="en-US" sz="1400" b="1"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gridSpan="2">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1" i="0" u="none" strike="noStrike" dirty="0">
                          <a:solidFill>
                            <a:srgbClr val="000000"/>
                          </a:solidFill>
                          <a:latin typeface="Arial" pitchFamily="34" charset="0"/>
                          <a:cs typeface="Arial" pitchFamily="34" charset="0"/>
                        </a:rPr>
                        <a:t>SPC (Statistic process control)</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hMerge="1">
                  <a:txBody>
                    <a:bodyPr/>
                    <a:lstStyle/>
                    <a:p>
                      <a:endParaRPr lang="en-US"/>
                    </a:p>
                  </a:txBody>
                  <a:tcPr/>
                </a:tc>
                <a:extLst>
                  <a:ext uri="{0D108BD9-81ED-4DB2-BD59-A6C34878D82A}">
                    <a16:rowId xmlns:a16="http://schemas.microsoft.com/office/drawing/2014/main" val="10001"/>
                  </a:ext>
                </a:extLst>
              </a:tr>
              <a:tr h="378779">
                <a:tc vMerge="1">
                  <a:txBody>
                    <a:bodyPr/>
                    <a:lstStyle/>
                    <a:p>
                      <a:pPr algn="ctr" fontAlgn="ctr"/>
                      <a:endParaRPr lang="en-US" sz="1400" b="1"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1100" b="1" i="0" u="none" strike="noStrike" dirty="0">
                          <a:solidFill>
                            <a:schemeClr val="tx1"/>
                          </a:solidFill>
                          <a:latin typeface="Arial" pitchFamily="34" charset="0"/>
                          <a:cs typeface="Arial" pitchFamily="34" charset="0"/>
                        </a:rPr>
                        <a:t>Day 1</a:t>
                      </a:r>
                    </a:p>
                  </a:txBody>
                  <a:tcPr marL="6998" marR="6998" marT="69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a:txBody>
                    <a:bodyPr/>
                    <a:lstStyle/>
                    <a:p>
                      <a:pPr algn="ctr" fontAlgn="ctr"/>
                      <a:r>
                        <a:rPr lang="en-US" sz="1100" b="1" i="0" u="none" strike="noStrike" dirty="0">
                          <a:solidFill>
                            <a:schemeClr val="tx1"/>
                          </a:solidFill>
                          <a:latin typeface="Arial" pitchFamily="34" charset="0"/>
                          <a:cs typeface="Arial" pitchFamily="34" charset="0"/>
                        </a:rPr>
                        <a:t>Day 2</a:t>
                      </a:r>
                    </a:p>
                  </a:txBody>
                  <a:tcPr marL="6998" marR="6998" marT="69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100" b="1" i="0" u="none" strike="noStrike" dirty="0">
                          <a:solidFill>
                            <a:schemeClr val="tx1"/>
                          </a:solidFill>
                          <a:latin typeface="Arial" pitchFamily="34" charset="0"/>
                          <a:cs typeface="Arial" pitchFamily="34" charset="0"/>
                        </a:rPr>
                        <a:t>Day 3</a:t>
                      </a:r>
                    </a:p>
                  </a:txBody>
                  <a:tcPr marL="6998" marR="6998" marT="69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100" b="1" i="0" u="none" strike="noStrike" dirty="0">
                          <a:solidFill>
                            <a:schemeClr val="tx1"/>
                          </a:solidFill>
                          <a:latin typeface="Arial" pitchFamily="34" charset="0"/>
                          <a:cs typeface="Arial" pitchFamily="34" charset="0"/>
                        </a:rPr>
                        <a:t>Day 4</a:t>
                      </a:r>
                    </a:p>
                  </a:txBody>
                  <a:tcPr marL="6998" marR="6998" marT="69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564115">
                <a:tc>
                  <a:txBody>
                    <a:bodyPr/>
                    <a:lstStyle/>
                    <a:p>
                      <a:pPr algn="ctr" fontAlgn="ctr" latinLnBrk="0"/>
                      <a:r>
                        <a:rPr lang="en-US" sz="1400" b="0" i="0" u="none" strike="noStrike" dirty="0">
                          <a:solidFill>
                            <a:srgbClr val="000000"/>
                          </a:solidFill>
                          <a:latin typeface="Arial" pitchFamily="34" charset="0"/>
                          <a:cs typeface="Arial" pitchFamily="34" charset="0"/>
                        </a:rPr>
                        <a:t>8:30~10:00</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latinLnBrk="0"/>
                      <a:r>
                        <a:rPr lang="en-US" sz="1400" b="0" i="0" u="none" strike="noStrike" dirty="0">
                          <a:solidFill>
                            <a:srgbClr val="000000"/>
                          </a:solidFill>
                          <a:latin typeface="Arial" pitchFamily="34" charset="0"/>
                          <a:cs typeface="Arial" pitchFamily="34" charset="0"/>
                        </a:rPr>
                        <a:t>Introduction</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latinLnBrk="0"/>
                      <a:r>
                        <a:rPr lang="en-US" sz="1400" b="0" i="0" u="none" strike="noStrike" dirty="0">
                          <a:solidFill>
                            <a:srgbClr val="000000"/>
                          </a:solidFill>
                          <a:latin typeface="Arial" pitchFamily="34" charset="0"/>
                          <a:cs typeface="Arial" pitchFamily="34" charset="0"/>
                        </a:rPr>
                        <a:t>Hypothesis verification</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latinLnBrk="0"/>
                      <a:r>
                        <a:rPr lang="en-US" sz="1400" b="0" i="0" u="none" strike="noStrike" dirty="0">
                          <a:solidFill>
                            <a:srgbClr val="000000"/>
                          </a:solidFill>
                          <a:latin typeface="Arial" pitchFamily="34" charset="0"/>
                          <a:cs typeface="Arial" pitchFamily="34" charset="0"/>
                        </a:rPr>
                        <a:t>Gage R&amp;R Type</a:t>
                      </a:r>
                      <a:r>
                        <a:rPr lang="en-US" sz="1400" b="0" i="0" u="none" strike="noStrike" baseline="0" dirty="0">
                          <a:solidFill>
                            <a:srgbClr val="000000"/>
                          </a:solidFill>
                          <a:latin typeface="Arial" pitchFamily="34" charset="0"/>
                          <a:cs typeface="Arial" pitchFamily="34" charset="0"/>
                        </a:rPr>
                        <a:t> 4,5,6</a:t>
                      </a:r>
                      <a:endParaRPr lang="en-US" sz="1400" b="0"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Control</a:t>
                      </a:r>
                      <a:r>
                        <a:rPr lang="en-US" sz="1400" b="0" i="0" u="none" strike="noStrike" baseline="0" dirty="0">
                          <a:solidFill>
                            <a:srgbClr val="000000"/>
                          </a:solidFill>
                          <a:latin typeface="Arial" pitchFamily="34" charset="0"/>
                          <a:cs typeface="Arial" pitchFamily="34" charset="0"/>
                        </a:rPr>
                        <a:t> Chart</a:t>
                      </a:r>
                      <a:endParaRPr lang="vi-VN" sz="1400" b="0" i="0" u="none" strike="noStrike" dirty="0">
                        <a:solidFill>
                          <a:srgbClr val="000000"/>
                        </a:solidFill>
                        <a:latin typeface="+mn-lt"/>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3"/>
                  </a:ext>
                </a:extLst>
              </a:tr>
              <a:tr h="318029">
                <a:tc>
                  <a:txBody>
                    <a:bodyPr/>
                    <a:lstStyle/>
                    <a:p>
                      <a:pPr algn="ctr" fontAlgn="ctr" latinLnBrk="0"/>
                      <a:r>
                        <a:rPr lang="en-US" sz="1400" b="0" i="0" u="none" strike="noStrike" dirty="0">
                          <a:solidFill>
                            <a:srgbClr val="000000"/>
                          </a:solidFill>
                          <a:latin typeface="Arial" pitchFamily="34" charset="0"/>
                          <a:cs typeface="Arial" pitchFamily="34" charset="0"/>
                        </a:rPr>
                        <a:t>10:00~10:15</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4">
                  <a:txBody>
                    <a:bodyPr/>
                    <a:lstStyle/>
                    <a:p>
                      <a:pPr algn="ctr" fontAlgn="ctr" latinLnBrk="0"/>
                      <a:r>
                        <a:rPr lang="en-US" sz="1400" b="0" i="0" u="none" strike="noStrike" dirty="0">
                          <a:solidFill>
                            <a:srgbClr val="000000"/>
                          </a:solidFill>
                          <a:latin typeface="Arial" pitchFamily="34" charset="0"/>
                          <a:cs typeface="Arial" pitchFamily="34" charset="0"/>
                        </a:rPr>
                        <a:t>Break</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hMerge="1">
                  <a:txBody>
                    <a:bodyPr/>
                    <a:lstStyle/>
                    <a:p>
                      <a:endParaRPr lang="en-US"/>
                    </a:p>
                  </a:txBody>
                  <a:tcPr/>
                </a:tc>
                <a:tc hMerge="1">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sz="1400" b="0" i="0" u="none" strike="noStrike" dirty="0">
                        <a:solidFill>
                          <a:srgbClr val="000000"/>
                        </a:solidFill>
                        <a:latin typeface="Arial" pitchFamily="34" charset="0"/>
                        <a:cs typeface="Arial" pitchFamily="34" charset="0"/>
                      </a:endParaRPr>
                    </a:p>
                  </a:txBody>
                  <a:tcPr marL="9331" marR="9331" marT="9331"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hMerge="1">
                  <a:txBody>
                    <a:bodyPr/>
                    <a:lstStyle/>
                    <a:p>
                      <a:endParaRPr lang="en-US"/>
                    </a:p>
                  </a:txBody>
                  <a:tcPr/>
                </a:tc>
                <a:extLst>
                  <a:ext uri="{0D108BD9-81ED-4DB2-BD59-A6C34878D82A}">
                    <a16:rowId xmlns:a16="http://schemas.microsoft.com/office/drawing/2014/main" val="10004"/>
                  </a:ext>
                </a:extLst>
              </a:tr>
              <a:tr h="578019">
                <a:tc>
                  <a:txBody>
                    <a:bodyPr/>
                    <a:lstStyle/>
                    <a:p>
                      <a:pPr algn="ctr" fontAlgn="ctr" latinLnBrk="0"/>
                      <a:r>
                        <a:rPr lang="en-US" sz="1400" b="0" i="0" u="none" strike="noStrike" dirty="0">
                          <a:solidFill>
                            <a:srgbClr val="000000"/>
                          </a:solidFill>
                          <a:latin typeface="Arial" pitchFamily="34" charset="0"/>
                          <a:cs typeface="Arial" pitchFamily="34" charset="0"/>
                        </a:rPr>
                        <a:t>10:15~12:00</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latinLnBrk="0"/>
                      <a:r>
                        <a:rPr lang="en-US" sz="1400" b="0" i="0" u="none" strike="noStrike" dirty="0">
                          <a:solidFill>
                            <a:srgbClr val="000000"/>
                          </a:solidFill>
                          <a:latin typeface="Arial" pitchFamily="34" charset="0"/>
                          <a:cs typeface="Arial" pitchFamily="34" charset="0"/>
                        </a:rPr>
                        <a:t>Data</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Hypothesis verification</a:t>
                      </a:r>
                    </a:p>
                  </a:txBody>
                  <a:tcPr marL="9331" marR="9331" marT="9331"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Process capability</a:t>
                      </a:r>
                      <a:r>
                        <a:rPr lang="en-US" sz="1400" b="0" i="0" u="none" strike="noStrike" baseline="0" dirty="0">
                          <a:solidFill>
                            <a:srgbClr val="000000"/>
                          </a:solidFill>
                          <a:latin typeface="Arial" pitchFamily="34" charset="0"/>
                          <a:cs typeface="Arial" pitchFamily="34" charset="0"/>
                        </a:rPr>
                        <a:t> </a:t>
                      </a:r>
                      <a:r>
                        <a:rPr lang="en-US" sz="1400" b="0" i="0" u="none" strike="noStrike" dirty="0">
                          <a:solidFill>
                            <a:srgbClr val="000000"/>
                          </a:solidFill>
                          <a:latin typeface="Arial" pitchFamily="34" charset="0"/>
                          <a:cs typeface="Arial" pitchFamily="34" charset="0"/>
                        </a:rPr>
                        <a:t>Introduction</a:t>
                      </a:r>
                    </a:p>
                  </a:txBody>
                  <a:tcPr marL="9331" marR="9331" marT="9331"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Control</a:t>
                      </a:r>
                      <a:r>
                        <a:rPr lang="en-US" sz="1400" b="0" i="0" u="none" strike="noStrike" baseline="0" dirty="0">
                          <a:solidFill>
                            <a:srgbClr val="000000"/>
                          </a:solidFill>
                          <a:latin typeface="Arial" pitchFamily="34" charset="0"/>
                          <a:cs typeface="Arial" pitchFamily="34" charset="0"/>
                        </a:rPr>
                        <a:t> Chart</a:t>
                      </a:r>
                      <a:endParaRPr lang="vi-VN" sz="1400" b="0" i="0" u="none" strike="noStrike" dirty="0">
                        <a:solidFill>
                          <a:srgbClr val="000000"/>
                        </a:solidFill>
                        <a:latin typeface="+mn-lt"/>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5"/>
                  </a:ext>
                </a:extLst>
              </a:tr>
              <a:tr h="339767">
                <a:tc>
                  <a:txBody>
                    <a:bodyPr/>
                    <a:lstStyle/>
                    <a:p>
                      <a:pPr algn="ctr" fontAlgn="ctr" latinLnBrk="0"/>
                      <a:r>
                        <a:rPr lang="en-US" sz="1400" b="0" i="0" u="none" strike="noStrike" dirty="0">
                          <a:solidFill>
                            <a:srgbClr val="000000"/>
                          </a:solidFill>
                          <a:latin typeface="Arial" pitchFamily="34" charset="0"/>
                          <a:cs typeface="Arial" pitchFamily="34" charset="0"/>
                        </a:rPr>
                        <a:t>12:00~13:45</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4">
                  <a:txBody>
                    <a:bodyPr/>
                    <a:lstStyle/>
                    <a:p>
                      <a:pPr algn="ctr" fontAlgn="ctr" latinLnBrk="0"/>
                      <a:r>
                        <a:rPr lang="en-US" sz="1400" b="0" i="0" u="none" strike="noStrike" dirty="0">
                          <a:solidFill>
                            <a:srgbClr val="000000"/>
                          </a:solidFill>
                          <a:latin typeface="Arial" pitchFamily="34" charset="0"/>
                          <a:cs typeface="Arial" pitchFamily="34" charset="0"/>
                        </a:rPr>
                        <a:t>Lunch</a:t>
                      </a:r>
                      <a:endParaRPr lang="vi-VN" sz="1400" b="0"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hMerge="1">
                  <a:txBody>
                    <a:bodyPr/>
                    <a:lstStyle/>
                    <a:p>
                      <a:endParaRPr lang="en-US"/>
                    </a:p>
                  </a:txBody>
                  <a:tcPr/>
                </a:tc>
                <a:tc hMerge="1">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vi-VN" sz="1400" b="0" i="0" u="none" strike="noStrike" dirty="0">
                        <a:solidFill>
                          <a:srgbClr val="000000"/>
                        </a:solidFill>
                        <a:latin typeface="Arial" pitchFamily="34" charset="0"/>
                        <a:cs typeface="Arial" pitchFamily="34" charset="0"/>
                      </a:endParaRPr>
                    </a:p>
                  </a:txBody>
                  <a:tcPr marL="9331" marR="9331" marT="9331"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hMerge="1">
                  <a:txBody>
                    <a:bodyPr/>
                    <a:lstStyle/>
                    <a:p>
                      <a:endParaRPr lang="en-US"/>
                    </a:p>
                  </a:txBody>
                  <a:tcPr/>
                </a:tc>
                <a:extLst>
                  <a:ext uri="{0D108BD9-81ED-4DB2-BD59-A6C34878D82A}">
                    <a16:rowId xmlns:a16="http://schemas.microsoft.com/office/drawing/2014/main" val="10006"/>
                  </a:ext>
                </a:extLst>
              </a:tr>
              <a:tr h="578019">
                <a:tc>
                  <a:txBody>
                    <a:bodyPr/>
                    <a:lstStyle/>
                    <a:p>
                      <a:pPr algn="ctr" fontAlgn="ctr" latinLnBrk="0"/>
                      <a:r>
                        <a:rPr lang="en-US" sz="1400" b="0" i="0" u="none" strike="noStrike" dirty="0">
                          <a:solidFill>
                            <a:srgbClr val="000000"/>
                          </a:solidFill>
                          <a:latin typeface="Arial" pitchFamily="34" charset="0"/>
                          <a:cs typeface="Arial" pitchFamily="34" charset="0"/>
                        </a:rPr>
                        <a:t>13:45~15:00</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latinLnBrk="0"/>
                      <a:r>
                        <a:rPr lang="en-US" sz="1400" b="0" i="0" u="none" strike="noStrike" dirty="0">
                          <a:solidFill>
                            <a:srgbClr val="000000"/>
                          </a:solidFill>
                          <a:latin typeface="Arial" pitchFamily="34" charset="0"/>
                          <a:cs typeface="Arial" pitchFamily="34" charset="0"/>
                        </a:rPr>
                        <a:t>QC7 tool</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latinLnBrk="0"/>
                      <a:r>
                        <a:rPr lang="en-US" sz="1400" b="0" i="0" u="none" strike="noStrike" dirty="0">
                          <a:solidFill>
                            <a:srgbClr val="000000"/>
                          </a:solidFill>
                          <a:latin typeface="Arial" pitchFamily="34" charset="0"/>
                          <a:cs typeface="Arial" pitchFamily="34" charset="0"/>
                        </a:rPr>
                        <a:t>Gage R&amp;R Type</a:t>
                      </a:r>
                      <a:r>
                        <a:rPr lang="en-US" sz="1400" b="0" i="0" u="none" strike="noStrike" baseline="0" dirty="0">
                          <a:solidFill>
                            <a:srgbClr val="000000"/>
                          </a:solidFill>
                          <a:latin typeface="Arial" pitchFamily="34" charset="0"/>
                          <a:cs typeface="Arial" pitchFamily="34" charset="0"/>
                        </a:rPr>
                        <a:t> 1</a:t>
                      </a:r>
                      <a:endParaRPr lang="en-US" sz="1400" b="0"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CP, CPK</a:t>
                      </a:r>
                    </a:p>
                  </a:txBody>
                  <a:tcPr marL="9331" marR="9331" marT="9331"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Summarize</a:t>
                      </a:r>
                      <a:endParaRPr lang="vi-VN" sz="1400" b="0" i="0" u="none" strike="noStrike" dirty="0">
                        <a:solidFill>
                          <a:srgbClr val="000000"/>
                        </a:solidFill>
                        <a:latin typeface="+mn-lt"/>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7"/>
                  </a:ext>
                </a:extLst>
              </a:tr>
              <a:tr h="282404">
                <a:tc>
                  <a:txBody>
                    <a:bodyPr/>
                    <a:lstStyle/>
                    <a:p>
                      <a:pPr algn="ctr" fontAlgn="ctr" latinLnBrk="0"/>
                      <a:r>
                        <a:rPr lang="en-US" sz="1400" b="0" i="0" u="none" strike="noStrike" dirty="0">
                          <a:solidFill>
                            <a:srgbClr val="000000"/>
                          </a:solidFill>
                          <a:latin typeface="Arial" pitchFamily="34" charset="0"/>
                          <a:cs typeface="Arial" pitchFamily="34" charset="0"/>
                        </a:rPr>
                        <a:t>15:00~15:15</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4">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Break</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hMerge="1">
                  <a:txBody>
                    <a:bodyPr/>
                    <a:lstStyle/>
                    <a:p>
                      <a:endParaRPr lang="en-US"/>
                    </a:p>
                  </a:txBody>
                  <a:tcPr/>
                </a:tc>
                <a:tc hMerge="1">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sz="1400" b="0" i="0" u="none" strike="noStrike" dirty="0">
                        <a:solidFill>
                          <a:srgbClr val="000000"/>
                        </a:solidFill>
                        <a:latin typeface="Arial" pitchFamily="34" charset="0"/>
                        <a:cs typeface="Arial" pitchFamily="34" charset="0"/>
                      </a:endParaRPr>
                    </a:p>
                  </a:txBody>
                  <a:tcPr marL="9331" marR="9331" marT="9331"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hMerge="1">
                  <a:txBody>
                    <a:bodyPr/>
                    <a:lstStyle/>
                    <a:p>
                      <a:endParaRPr lang="en-US"/>
                    </a:p>
                  </a:txBody>
                  <a:tcPr/>
                </a:tc>
                <a:extLst>
                  <a:ext uri="{0D108BD9-81ED-4DB2-BD59-A6C34878D82A}">
                    <a16:rowId xmlns:a16="http://schemas.microsoft.com/office/drawing/2014/main" val="10008"/>
                  </a:ext>
                </a:extLst>
              </a:tr>
              <a:tr h="573616">
                <a:tc>
                  <a:txBody>
                    <a:bodyPr/>
                    <a:lstStyle/>
                    <a:p>
                      <a:pPr algn="ctr" fontAlgn="ctr" latinLnBrk="0"/>
                      <a:r>
                        <a:rPr lang="en-US" sz="1400" b="0" i="0" u="none" strike="noStrike" dirty="0">
                          <a:solidFill>
                            <a:srgbClr val="000000"/>
                          </a:solidFill>
                          <a:latin typeface="Arial" pitchFamily="34" charset="0"/>
                          <a:cs typeface="Arial" pitchFamily="34" charset="0"/>
                        </a:rPr>
                        <a:t>15:15~17:00</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QC7 tool</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latinLnBrk="0"/>
                      <a:r>
                        <a:rPr lang="en-US" sz="1400" b="0" i="0" u="none" strike="noStrike" dirty="0">
                          <a:solidFill>
                            <a:srgbClr val="000000"/>
                          </a:solidFill>
                          <a:latin typeface="Arial" pitchFamily="34" charset="0"/>
                          <a:cs typeface="Arial" pitchFamily="34" charset="0"/>
                        </a:rPr>
                        <a:t>Gage R&amp;R Type</a:t>
                      </a:r>
                      <a:r>
                        <a:rPr lang="en-US" sz="1400" b="0" i="0" u="none" strike="noStrike" baseline="0" dirty="0">
                          <a:solidFill>
                            <a:srgbClr val="000000"/>
                          </a:solidFill>
                          <a:latin typeface="Arial" pitchFamily="34" charset="0"/>
                          <a:cs typeface="Arial" pitchFamily="34" charset="0"/>
                        </a:rPr>
                        <a:t> 2,3</a:t>
                      </a:r>
                      <a:endParaRPr lang="en-US" sz="1400" b="0"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ZST,</a:t>
                      </a:r>
                      <a:r>
                        <a:rPr lang="en-US" sz="1400" b="0" i="0" u="none" strike="noStrike" baseline="0" dirty="0">
                          <a:solidFill>
                            <a:srgbClr val="000000"/>
                          </a:solidFill>
                          <a:latin typeface="Arial" pitchFamily="34" charset="0"/>
                          <a:cs typeface="Arial" pitchFamily="34" charset="0"/>
                        </a:rPr>
                        <a:t> ZLT, </a:t>
                      </a:r>
                      <a:r>
                        <a:rPr lang="en-US" sz="1400" b="0" i="0" u="none" strike="noStrike" baseline="0" dirty="0" err="1">
                          <a:solidFill>
                            <a:srgbClr val="000000"/>
                          </a:solidFill>
                          <a:latin typeface="Arial" pitchFamily="34" charset="0"/>
                          <a:cs typeface="Arial" pitchFamily="34" charset="0"/>
                        </a:rPr>
                        <a:t>ZShift</a:t>
                      </a:r>
                      <a:endParaRPr lang="en-US" sz="1400" b="0"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latin typeface="Arial" pitchFamily="34" charset="0"/>
                          <a:cs typeface="Arial" pitchFamily="34" charset="0"/>
                        </a:rPr>
                        <a:t>Test</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9"/>
                  </a:ext>
                </a:extLst>
              </a:tr>
              <a:tr h="695807">
                <a:tc>
                  <a:txBody>
                    <a:bodyPr/>
                    <a:lstStyle/>
                    <a:p>
                      <a:pPr algn="ctr" fontAlgn="ctr" latinLnBrk="0"/>
                      <a:r>
                        <a:rPr lang="en-US" sz="1400" b="1" i="0" u="none" strike="noStrike" baseline="0" dirty="0">
                          <a:solidFill>
                            <a:srgbClr val="000000"/>
                          </a:solidFill>
                          <a:latin typeface="Arial" pitchFamily="34" charset="0"/>
                          <a:cs typeface="Arial" pitchFamily="34" charset="0"/>
                        </a:rPr>
                        <a:t>Next 1 month</a:t>
                      </a:r>
                      <a:endParaRPr lang="en-US" sz="1400" b="1"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4">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1" i="0" u="none" strike="noStrike" dirty="0">
                          <a:solidFill>
                            <a:srgbClr val="000000"/>
                          </a:solidFill>
                          <a:latin typeface="Arial" pitchFamily="34" charset="0"/>
                          <a:cs typeface="Arial" pitchFamily="34" charset="0"/>
                        </a:rPr>
                        <a:t>Doing assignment</a:t>
                      </a:r>
                      <a:r>
                        <a:rPr lang="en-US" sz="1400" b="1" i="0" u="none" strike="noStrike" baseline="0" dirty="0">
                          <a:solidFill>
                            <a:srgbClr val="000000"/>
                          </a:solidFill>
                          <a:latin typeface="Arial" pitchFamily="34" charset="0"/>
                          <a:cs typeface="Arial" pitchFamily="34" charset="0"/>
                        </a:rPr>
                        <a:t> and review every week.</a:t>
                      </a:r>
                      <a:endParaRPr lang="en-US" sz="1400" b="1"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1400" b="0"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sz="1400" b="0"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sz="1400" b="0" i="0" u="none" strike="noStrike" dirty="0">
                        <a:solidFill>
                          <a:srgbClr val="000000"/>
                        </a:solidFill>
                        <a:latin typeface="Arial" pitchFamily="34" charset="0"/>
                        <a:cs typeface="Arial" pitchFamily="34" charset="0"/>
                      </a:endParaRP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10"/>
                  </a:ext>
                </a:extLst>
              </a:tr>
              <a:tr h="573616">
                <a:tc>
                  <a:txBody>
                    <a:bodyPr/>
                    <a:lstStyle/>
                    <a:p>
                      <a:pPr algn="ctr" fontAlgn="ctr" latinLnBrk="0"/>
                      <a:r>
                        <a:rPr lang="en-US" sz="1400" b="1" i="0" u="none" strike="noStrike" dirty="0">
                          <a:solidFill>
                            <a:srgbClr val="000000"/>
                          </a:solidFill>
                          <a:latin typeface="Arial" pitchFamily="34" charset="0"/>
                          <a:cs typeface="Arial" pitchFamily="34" charset="0"/>
                        </a:rPr>
                        <a:t>Place</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4">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400" b="1" i="0" u="none" strike="noStrike" dirty="0">
                          <a:solidFill>
                            <a:srgbClr val="000000"/>
                          </a:solidFill>
                          <a:latin typeface="Arial" pitchFamily="34" charset="0"/>
                          <a:cs typeface="Arial" pitchFamily="34" charset="0"/>
                        </a:rPr>
                        <a:t>IT room</a:t>
                      </a:r>
                    </a:p>
                  </a:txBody>
                  <a:tcPr marL="9331" marR="9331" marT="933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1"/>
                  </a:ext>
                </a:extLst>
              </a:tr>
            </a:tbl>
          </a:graphicData>
        </a:graphic>
      </p:graphicFrame>
    </p:spTree>
    <p:extLst>
      <p:ext uri="{BB962C8B-B14F-4D97-AF65-F5344CB8AC3E}">
        <p14:creationId xmlns:p14="http://schemas.microsoft.com/office/powerpoint/2010/main" val="3864448917"/>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2</a:t>
            </a:fld>
            <a:endParaRPr lang="ko-KR" altLang="en-US" dirty="0"/>
          </a:p>
        </p:txBody>
      </p:sp>
      <p:sp>
        <p:nvSpPr>
          <p:cNvPr id="4" name="Rectangle 3"/>
          <p:cNvSpPr/>
          <p:nvPr/>
        </p:nvSpPr>
        <p:spPr>
          <a:xfrm>
            <a:off x="848544" y="2420888"/>
            <a:ext cx="7836791" cy="1754326"/>
          </a:xfrm>
          <a:prstGeom prst="rect">
            <a:avLst/>
          </a:prstGeom>
          <a:noFill/>
        </p:spPr>
        <p:txBody>
          <a:bodyPr wrap="square" lIns="91440" tIns="45720" rIns="91440" bIns="45720">
            <a:spAutoFit/>
          </a:bodyPr>
          <a:lstStyle/>
          <a:p>
            <a:pPr algn="ctr" latinLnBrk="0"/>
            <a:r>
              <a:rPr lang="en-US" sz="5400" b="1" cap="none" spc="0" dirty="0" err="1">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Tổng</a:t>
            </a:r>
            <a:r>
              <a:rPr lang="en-US" sz="5400" b="1" cap="none" spc="0" dirty="0">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 </a:t>
            </a:r>
            <a:r>
              <a:rPr lang="en-US" sz="5400" b="1" cap="none" spc="0" dirty="0" err="1">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quan</a:t>
            </a:r>
            <a:r>
              <a:rPr lang="en-US" sz="5400" b="1" cap="none" spc="0" dirty="0">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 </a:t>
            </a:r>
            <a:r>
              <a:rPr lang="en-US" sz="5400" b="1" cap="none" spc="0" dirty="0" err="1">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về</a:t>
            </a:r>
            <a:r>
              <a:rPr lang="en-US" sz="5400" b="1" cap="none" spc="0" dirty="0">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 </a:t>
            </a:r>
            <a:r>
              <a:rPr lang="en-US" sz="5400" b="1" cap="none" spc="0" dirty="0" err="1">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hoạt</a:t>
            </a:r>
            <a:r>
              <a:rPr lang="en-US" sz="5400" b="1" cap="none" spc="0" dirty="0">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 </a:t>
            </a:r>
            <a:r>
              <a:rPr lang="en-US" sz="5400" b="1" cap="none" spc="0" dirty="0" err="1">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động</a:t>
            </a:r>
            <a:r>
              <a:rPr lang="en-US" sz="5400" b="1" cap="none" spc="0" dirty="0">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 </a:t>
            </a:r>
          </a:p>
          <a:p>
            <a:pPr algn="ctr" latinLnBrk="0"/>
            <a:r>
              <a:rPr lang="en-US" sz="5400" b="1" cap="none" spc="0" dirty="0">
                <a:ln w="22225">
                  <a:solidFill>
                    <a:schemeClr val="accent2"/>
                  </a:solidFill>
                  <a:prstDash val="solid"/>
                </a:ln>
                <a:solidFill>
                  <a:srgbClr val="FF0000"/>
                </a:solidFill>
                <a:effectLst/>
                <a:latin typeface="Calibri" panose="020F0502020204030204" pitchFamily="34" charset="0"/>
                <a:cs typeface="Calibri" panose="020F0502020204030204" pitchFamily="34" charset="0"/>
              </a:rPr>
              <a:t>Six sigma</a:t>
            </a:r>
          </a:p>
        </p:txBody>
      </p:sp>
    </p:spTree>
    <p:extLst>
      <p:ext uri="{BB962C8B-B14F-4D97-AF65-F5344CB8AC3E}">
        <p14:creationId xmlns:p14="http://schemas.microsoft.com/office/powerpoint/2010/main" val="137240506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3</a:t>
            </a:fld>
            <a:endParaRPr lang="ko-KR" altLang="en-US" dirty="0"/>
          </a:p>
        </p:txBody>
      </p:sp>
      <p:sp>
        <p:nvSpPr>
          <p:cNvPr id="3" name="제목 1"/>
          <p:cNvSpPr txBox="1">
            <a:spLocks/>
          </p:cNvSpPr>
          <p:nvPr/>
        </p:nvSpPr>
        <p:spPr bwMode="auto">
          <a:xfrm>
            <a:off x="211138" y="174625"/>
            <a:ext cx="3589734" cy="41751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a:lstStyle>
          <a:p>
            <a:pPr algn="l" eaLnBrk="1" hangingPunct="1"/>
            <a:r>
              <a:rPr kumimoji="0" lang="en-US" altLang="ko-KR" sz="2000" b="1" dirty="0" err="1">
                <a:latin typeface="Arial" pitchFamily="34" charset="0"/>
                <a:cs typeface="Arial" pitchFamily="34" charset="0"/>
              </a:rPr>
              <a:t>Tổng</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quan</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về</a:t>
            </a:r>
            <a:r>
              <a:rPr kumimoji="0" lang="en-US" altLang="ko-KR" sz="2000" b="1" dirty="0">
                <a:latin typeface="Arial" pitchFamily="34" charset="0"/>
                <a:cs typeface="Arial" pitchFamily="34" charset="0"/>
              </a:rPr>
              <a:t> 6 sigma</a:t>
            </a:r>
            <a:endParaRPr kumimoji="0" lang="ko-KR" altLang="en-US" sz="2000" b="1" dirty="0">
              <a:latin typeface="Arial" pitchFamily="34" charset="0"/>
              <a:cs typeface="Arial" pitchFamily="34" charset="0"/>
            </a:endParaRPr>
          </a:p>
        </p:txBody>
      </p:sp>
      <p:sp>
        <p:nvSpPr>
          <p:cNvPr id="4" name="Rectangle 3"/>
          <p:cNvSpPr/>
          <p:nvPr/>
        </p:nvSpPr>
        <p:spPr>
          <a:xfrm>
            <a:off x="704528" y="1673828"/>
            <a:ext cx="4392488" cy="3970318"/>
          </a:xfrm>
          <a:prstGeom prst="rect">
            <a:avLst/>
          </a:prstGeom>
        </p:spPr>
        <p:txBody>
          <a:bodyPr wrap="square">
            <a:spAutoFit/>
          </a:bodyPr>
          <a:lstStyle/>
          <a:p>
            <a:pPr marL="285750" indent="-285750" algn="just" latinLnBrk="0">
              <a:buFont typeface="Wingdings" panose="05000000000000000000" pitchFamily="2" charset="2"/>
              <a:buChar char="q"/>
            </a:pPr>
            <a:r>
              <a:rPr lang="en-US" sz="2800" dirty="0">
                <a:latin typeface="Calibri" panose="020F0502020204030204" pitchFamily="34" charset="0"/>
                <a:cs typeface="Calibri" panose="020F0502020204030204" pitchFamily="34" charset="0"/>
              </a:rPr>
              <a:t>Six Sigma </a:t>
            </a:r>
            <a:r>
              <a:rPr lang="en-US" sz="2800" dirty="0" err="1">
                <a:latin typeface="Calibri" panose="020F0502020204030204" pitchFamily="34" charset="0"/>
                <a:cs typeface="Calibri" panose="020F0502020204030204" pitchFamily="34" charset="0"/>
              </a:rPr>
              <a:t>là</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một</a:t>
            </a:r>
            <a:r>
              <a:rPr lang="en-US" sz="2800" dirty="0">
                <a:latin typeface="Calibri" panose="020F0502020204030204" pitchFamily="34" charset="0"/>
                <a:cs typeface="Calibri" panose="020F0502020204030204" pitchFamily="34" charset="0"/>
              </a:rPr>
              <a:t> </a:t>
            </a:r>
            <a:r>
              <a:rPr lang="en-US" sz="2800" dirty="0" err="1">
                <a:solidFill>
                  <a:srgbClr val="FF0000"/>
                </a:solidFill>
                <a:latin typeface="Calibri" panose="020F0502020204030204" pitchFamily="34" charset="0"/>
                <a:cs typeface="Calibri" panose="020F0502020204030204" pitchFamily="34" charset="0"/>
              </a:rPr>
              <a:t>hệ</a:t>
            </a:r>
            <a:r>
              <a:rPr lang="en-US" sz="2800" dirty="0">
                <a:solidFill>
                  <a:srgbClr val="FF0000"/>
                </a:solidFill>
                <a:latin typeface="Calibri" panose="020F0502020204030204" pitchFamily="34" charset="0"/>
                <a:cs typeface="Calibri" panose="020F0502020204030204" pitchFamily="34" charset="0"/>
              </a:rPr>
              <a:t> </a:t>
            </a:r>
            <a:r>
              <a:rPr lang="en-US" sz="2800" dirty="0" err="1">
                <a:solidFill>
                  <a:srgbClr val="FF0000"/>
                </a:solidFill>
                <a:latin typeface="Calibri" panose="020F0502020204030204" pitchFamily="34" charset="0"/>
                <a:cs typeface="Calibri" panose="020F0502020204030204" pitchFamily="34" charset="0"/>
              </a:rPr>
              <a:t>phương</a:t>
            </a:r>
            <a:r>
              <a:rPr lang="en-US" sz="2800" dirty="0">
                <a:solidFill>
                  <a:srgbClr val="FF0000"/>
                </a:solidFill>
                <a:latin typeface="Calibri" panose="020F0502020204030204" pitchFamily="34" charset="0"/>
                <a:cs typeface="Calibri" panose="020F0502020204030204" pitchFamily="34" charset="0"/>
              </a:rPr>
              <a:t> </a:t>
            </a:r>
            <a:r>
              <a:rPr lang="en-US" sz="2800" dirty="0" err="1">
                <a:solidFill>
                  <a:srgbClr val="FF0000"/>
                </a:solidFill>
                <a:latin typeface="Calibri" panose="020F0502020204030204" pitchFamily="34" charset="0"/>
                <a:cs typeface="Calibri" panose="020F0502020204030204" pitchFamily="34" charset="0"/>
              </a:rPr>
              <a:t>pháp</a:t>
            </a:r>
            <a:r>
              <a:rPr lang="en-US" sz="2800" dirty="0">
                <a:latin typeface="Calibri" panose="020F0502020204030204" pitchFamily="34" charset="0"/>
                <a:cs typeface="Calibri" panose="020F0502020204030204" pitchFamily="34" charset="0"/>
              </a:rPr>
              <a:t> </a:t>
            </a:r>
            <a:r>
              <a:rPr lang="en-US" sz="2800" i="1" dirty="0" err="1">
                <a:latin typeface="Calibri" panose="020F0502020204030204" pitchFamily="34" charset="0"/>
                <a:cs typeface="Calibri" panose="020F0502020204030204" pitchFamily="34" charset="0"/>
              </a:rPr>
              <a:t>cải</a:t>
            </a:r>
            <a:r>
              <a:rPr lang="en-US" sz="2800" i="1" dirty="0">
                <a:latin typeface="Calibri" panose="020F0502020204030204" pitchFamily="34" charset="0"/>
                <a:cs typeface="Calibri" panose="020F0502020204030204" pitchFamily="34" charset="0"/>
              </a:rPr>
              <a:t> </a:t>
            </a:r>
            <a:r>
              <a:rPr lang="en-US" sz="2800" i="1" dirty="0" err="1">
                <a:latin typeface="Calibri" panose="020F0502020204030204" pitchFamily="34" charset="0"/>
                <a:cs typeface="Calibri" panose="020F0502020204030204" pitchFamily="34" charset="0"/>
              </a:rPr>
              <a:t>tiến</a:t>
            </a:r>
            <a:r>
              <a:rPr lang="en-US" sz="2800" i="1" dirty="0">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quy</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trình</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dựa</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trên</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thống</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kê</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với</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mục</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đích</a:t>
            </a:r>
            <a:r>
              <a:rPr lang="en-US" sz="2800" dirty="0">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giảm</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thiểu</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tỷ</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lệ</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sai</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sót</a:t>
            </a:r>
            <a:r>
              <a:rPr lang="en-US" sz="2800" dirty="0">
                <a:latin typeface="Calibri" panose="020F0502020204030204" pitchFamily="34" charset="0"/>
                <a:cs typeface="Calibri" panose="020F0502020204030204" pitchFamily="34" charset="0"/>
              </a:rPr>
              <a:t> hay </a:t>
            </a:r>
            <a:r>
              <a:rPr lang="en-US" sz="2800" dirty="0" err="1">
                <a:latin typeface="Calibri" panose="020F0502020204030204" pitchFamily="34" charset="0"/>
                <a:cs typeface="Calibri" panose="020F0502020204030204" pitchFamily="34" charset="0"/>
              </a:rPr>
              <a:t>khuyết</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tật</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đến</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mức</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hoàn</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hảo</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nhất</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bằng</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cách</a:t>
            </a:r>
            <a:r>
              <a:rPr lang="en-US" sz="2800" dirty="0">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xác</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định</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và</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loại</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trừ</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các</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nguyên</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nhân</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gốc</a:t>
            </a:r>
            <a:r>
              <a:rPr lang="en-US" sz="2800" i="1" dirty="0">
                <a:solidFill>
                  <a:srgbClr val="FF0000"/>
                </a:solidFill>
                <a:latin typeface="Calibri" panose="020F0502020204030204" pitchFamily="34" charset="0"/>
                <a:cs typeface="Calibri" panose="020F0502020204030204" pitchFamily="34" charset="0"/>
              </a:rPr>
              <a:t> </a:t>
            </a:r>
            <a:r>
              <a:rPr lang="en-US" sz="2800" i="1" dirty="0" err="1">
                <a:solidFill>
                  <a:srgbClr val="FF0000"/>
                </a:solidFill>
                <a:latin typeface="Calibri" panose="020F0502020204030204" pitchFamily="34" charset="0"/>
                <a:cs typeface="Calibri" panose="020F0502020204030204" pitchFamily="34" charset="0"/>
              </a:rPr>
              <a:t>rễ</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trong</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các</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quy</a:t>
            </a:r>
            <a:r>
              <a:rPr lang="en-US" sz="2800" dirty="0">
                <a:latin typeface="Calibri" panose="020F0502020204030204" pitchFamily="34" charset="0"/>
                <a:cs typeface="Calibri" panose="020F0502020204030204" pitchFamily="34" charset="0"/>
              </a:rPr>
              <a:t> </a:t>
            </a:r>
            <a:r>
              <a:rPr lang="en-US" sz="2800" dirty="0" err="1">
                <a:latin typeface="Calibri" panose="020F0502020204030204" pitchFamily="34" charset="0"/>
                <a:cs typeface="Calibri" panose="020F0502020204030204" pitchFamily="34" charset="0"/>
              </a:rPr>
              <a:t>trình</a:t>
            </a:r>
            <a:r>
              <a:rPr lang="en-US" sz="2800" dirty="0">
                <a:latin typeface="Calibri" panose="020F0502020204030204" pitchFamily="34" charset="0"/>
                <a:cs typeface="Calibri" panose="020F0502020204030204" pitchFamily="34" charset="0"/>
              </a:rPr>
              <a:t>. </a:t>
            </a:r>
          </a:p>
        </p:txBody>
      </p:sp>
      <p:pic>
        <p:nvPicPr>
          <p:cNvPr id="5" name="Picture 4"/>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6235304" y="1908483"/>
            <a:ext cx="2930921" cy="3501008"/>
          </a:xfrm>
          <a:prstGeom prst="rect">
            <a:avLst/>
          </a:prstGeom>
        </p:spPr>
      </p:pic>
    </p:spTree>
    <p:extLst>
      <p:ext uri="{BB962C8B-B14F-4D97-AF65-F5344CB8AC3E}">
        <p14:creationId xmlns:p14="http://schemas.microsoft.com/office/powerpoint/2010/main" val="148321413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4</a:t>
            </a:fld>
            <a:endParaRPr lang="ko-KR" altLang="en-US" dirty="0"/>
          </a:p>
        </p:txBody>
      </p:sp>
      <p:sp>
        <p:nvSpPr>
          <p:cNvPr id="3" name="제목 1"/>
          <p:cNvSpPr txBox="1">
            <a:spLocks/>
          </p:cNvSpPr>
          <p:nvPr/>
        </p:nvSpPr>
        <p:spPr bwMode="auto">
          <a:xfrm>
            <a:off x="211138" y="174625"/>
            <a:ext cx="3589734" cy="41751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a:lstStyle>
          <a:p>
            <a:pPr algn="l" eaLnBrk="1" hangingPunct="1"/>
            <a:r>
              <a:rPr kumimoji="0" lang="en-US" altLang="ko-KR" sz="2000" b="1" dirty="0" err="1">
                <a:latin typeface="Arial" pitchFamily="34" charset="0"/>
                <a:cs typeface="Arial" pitchFamily="34" charset="0"/>
              </a:rPr>
              <a:t>Tổng</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quan</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về</a:t>
            </a:r>
            <a:r>
              <a:rPr kumimoji="0" lang="en-US" altLang="ko-KR" sz="2000" b="1" dirty="0">
                <a:latin typeface="Arial" pitchFamily="34" charset="0"/>
                <a:cs typeface="Arial" pitchFamily="34" charset="0"/>
              </a:rPr>
              <a:t> 6 sigma</a:t>
            </a:r>
            <a:endParaRPr kumimoji="0" lang="ko-KR" altLang="en-US" sz="2000" b="1" dirty="0">
              <a:latin typeface="Arial" pitchFamily="34" charset="0"/>
              <a:cs typeface="Arial" pitchFamily="34" charset="0"/>
            </a:endParaRPr>
          </a:p>
        </p:txBody>
      </p:sp>
      <p:pic>
        <p:nvPicPr>
          <p:cNvPr id="9" name="Picture 8"/>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712640" y="764704"/>
            <a:ext cx="6076950" cy="4562475"/>
          </a:xfrm>
          <a:prstGeom prst="rect">
            <a:avLst/>
          </a:prstGeom>
        </p:spPr>
      </p:pic>
      <p:sp>
        <p:nvSpPr>
          <p:cNvPr id="10" name="Rectangle 9"/>
          <p:cNvSpPr/>
          <p:nvPr/>
        </p:nvSpPr>
        <p:spPr>
          <a:xfrm>
            <a:off x="704528" y="5445224"/>
            <a:ext cx="7560840" cy="830997"/>
          </a:xfrm>
          <a:prstGeom prst="rect">
            <a:avLst/>
          </a:prstGeom>
        </p:spPr>
        <p:txBody>
          <a:bodyPr wrap="square">
            <a:spAutoFit/>
          </a:bodyPr>
          <a:lstStyle/>
          <a:p>
            <a:r>
              <a:rPr lang="en-US" sz="2000" dirty="0" err="1">
                <a:latin typeface="Calibri" panose="020F0502020204030204" pitchFamily="34" charset="0"/>
                <a:cs typeface="Calibri" panose="020F0502020204030204" pitchFamily="34" charset="0"/>
              </a:rPr>
              <a:t>Mục</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tiêu</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của</a:t>
            </a:r>
            <a:r>
              <a:rPr lang="en-US" sz="2000" dirty="0">
                <a:latin typeface="Calibri" panose="020F0502020204030204" pitchFamily="34" charset="0"/>
                <a:cs typeface="Calibri" panose="020F0502020204030204" pitchFamily="34" charset="0"/>
              </a:rPr>
              <a:t> Six Sigma </a:t>
            </a:r>
            <a:r>
              <a:rPr lang="en-US" sz="2000" dirty="0" err="1">
                <a:latin typeface="Calibri" panose="020F0502020204030204" pitchFamily="34" charset="0"/>
                <a:cs typeface="Calibri" panose="020F0502020204030204" pitchFamily="34" charset="0"/>
              </a:rPr>
              <a:t>là</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chỉ</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có</a:t>
            </a:r>
            <a:r>
              <a:rPr lang="en-US" sz="2000" dirty="0">
                <a:latin typeface="Calibri" panose="020F0502020204030204" pitchFamily="34" charset="0"/>
                <a:cs typeface="Calibri" panose="020F0502020204030204" pitchFamily="34" charset="0"/>
              </a:rPr>
              <a:t> </a:t>
            </a:r>
            <a:r>
              <a:rPr lang="en-US" sz="2400" i="1" dirty="0">
                <a:solidFill>
                  <a:srgbClr val="FF0000"/>
                </a:solidFill>
                <a:latin typeface="Calibri" panose="020F0502020204030204" pitchFamily="34" charset="0"/>
                <a:cs typeface="Calibri" panose="020F0502020204030204" pitchFamily="34" charset="0"/>
              </a:rPr>
              <a:t>3,4 </a:t>
            </a:r>
            <a:r>
              <a:rPr lang="en-US" sz="2400" i="1" dirty="0" err="1">
                <a:solidFill>
                  <a:srgbClr val="FF0000"/>
                </a:solidFill>
                <a:latin typeface="Calibri" panose="020F0502020204030204" pitchFamily="34" charset="0"/>
                <a:cs typeface="Calibri" panose="020F0502020204030204" pitchFamily="34" charset="0"/>
              </a:rPr>
              <a:t>lỗi</a:t>
            </a:r>
            <a:r>
              <a:rPr lang="en-US" sz="2400" i="1" dirty="0">
                <a:solidFill>
                  <a:srgbClr val="FF0000"/>
                </a:solidFill>
                <a:latin typeface="Calibri" panose="020F0502020204030204" pitchFamily="34" charset="0"/>
                <a:cs typeface="Calibri" panose="020F0502020204030204" pitchFamily="34" charset="0"/>
              </a:rPr>
              <a:t> </a:t>
            </a:r>
            <a:r>
              <a:rPr lang="en-US" sz="2000" dirty="0">
                <a:latin typeface="Calibri" panose="020F0502020204030204" pitchFamily="34" charset="0"/>
                <a:cs typeface="Calibri" panose="020F0502020204030204" pitchFamily="34" charset="0"/>
              </a:rPr>
              <a:t>(hay </a:t>
            </a:r>
            <a:r>
              <a:rPr lang="en-US" sz="2000" dirty="0" err="1">
                <a:latin typeface="Calibri" panose="020F0502020204030204" pitchFamily="34" charset="0"/>
                <a:cs typeface="Calibri" panose="020F0502020204030204" pitchFamily="34" charset="0"/>
              </a:rPr>
              <a:t>sai</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sót</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trên</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mỗi</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một</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triệu</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khả</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năng</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gây</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lỗi</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Nói</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cách</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khác</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hoàn</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hảo</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đến</a:t>
            </a:r>
            <a:r>
              <a:rPr lang="en-US" sz="2000" dirty="0">
                <a:latin typeface="Calibri" panose="020F0502020204030204" pitchFamily="34" charset="0"/>
                <a:cs typeface="Calibri" panose="020F0502020204030204" pitchFamily="34" charset="0"/>
              </a:rPr>
              <a:t> </a:t>
            </a:r>
            <a:r>
              <a:rPr lang="en-US" sz="2000" dirty="0" err="1">
                <a:latin typeface="Calibri" panose="020F0502020204030204" pitchFamily="34" charset="0"/>
                <a:cs typeface="Calibri" panose="020F0502020204030204" pitchFamily="34" charset="0"/>
              </a:rPr>
              <a:t>mức</a:t>
            </a:r>
            <a:r>
              <a:rPr lang="en-US" sz="2000" dirty="0">
                <a:latin typeface="Calibri" panose="020F0502020204030204" pitchFamily="34" charset="0"/>
                <a:cs typeface="Calibri" panose="020F0502020204030204" pitchFamily="34" charset="0"/>
              </a:rPr>
              <a:t> </a:t>
            </a:r>
            <a:r>
              <a:rPr lang="en-US" sz="2400" i="1" dirty="0">
                <a:solidFill>
                  <a:srgbClr val="FF0000"/>
                </a:solidFill>
                <a:latin typeface="Calibri" panose="020F0502020204030204" pitchFamily="34" charset="0"/>
                <a:cs typeface="Calibri" panose="020F0502020204030204" pitchFamily="34" charset="0"/>
              </a:rPr>
              <a:t>99,99966%.</a:t>
            </a:r>
            <a:endParaRPr lang="en-US" sz="2000" i="1" dirty="0">
              <a:solidFill>
                <a:srgbClr val="FF0000"/>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42315921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5</a:t>
            </a:fld>
            <a:endParaRPr lang="ko-KR" altLang="en-US" dirty="0"/>
          </a:p>
        </p:txBody>
      </p:sp>
      <p:sp>
        <p:nvSpPr>
          <p:cNvPr id="3" name="제목 1"/>
          <p:cNvSpPr txBox="1">
            <a:spLocks/>
          </p:cNvSpPr>
          <p:nvPr/>
        </p:nvSpPr>
        <p:spPr bwMode="auto">
          <a:xfrm>
            <a:off x="211138" y="174625"/>
            <a:ext cx="3589734" cy="41751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a:lstStyle>
          <a:p>
            <a:pPr algn="l" eaLnBrk="1" hangingPunct="1"/>
            <a:r>
              <a:rPr kumimoji="0" lang="en-US" altLang="ko-KR" sz="2000" b="1" dirty="0" err="1">
                <a:latin typeface="Arial" pitchFamily="34" charset="0"/>
                <a:cs typeface="Arial" pitchFamily="34" charset="0"/>
              </a:rPr>
              <a:t>Tổng</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quan</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về</a:t>
            </a:r>
            <a:r>
              <a:rPr kumimoji="0" lang="en-US" altLang="ko-KR" sz="2000" b="1" dirty="0">
                <a:latin typeface="Arial" pitchFamily="34" charset="0"/>
                <a:cs typeface="Arial" pitchFamily="34" charset="0"/>
              </a:rPr>
              <a:t> 6 sigma</a:t>
            </a:r>
            <a:endParaRPr kumimoji="0" lang="ko-KR" altLang="en-US" sz="2000" b="1" dirty="0">
              <a:latin typeface="Arial" pitchFamily="34" charset="0"/>
              <a:cs typeface="Arial" pitchFamily="34" charset="0"/>
            </a:endParaRPr>
          </a:p>
        </p:txBody>
      </p:sp>
      <p:sp>
        <p:nvSpPr>
          <p:cNvPr id="4" name="Rectangle 3"/>
          <p:cNvSpPr/>
          <p:nvPr/>
        </p:nvSpPr>
        <p:spPr>
          <a:xfrm>
            <a:off x="914574" y="1079198"/>
            <a:ext cx="8251651" cy="4985980"/>
          </a:xfrm>
          <a:prstGeom prst="rect">
            <a:avLst/>
          </a:prstGeom>
        </p:spPr>
        <p:txBody>
          <a:bodyPr wrap="square">
            <a:spAutoFit/>
          </a:bodyPr>
          <a:lstStyle/>
          <a:p>
            <a:pPr latinLnBrk="0"/>
            <a:r>
              <a:rPr lang="vi-VN" sz="2400" dirty="0">
                <a:latin typeface="Calibri" panose="020F0502020204030204" pitchFamily="34" charset="0"/>
                <a:cs typeface="Calibri" panose="020F0502020204030204" pitchFamily="34" charset="0"/>
              </a:rPr>
              <a:t>Hệ phương pháp Six Sigma dựa trên tiến trình mang tên </a:t>
            </a:r>
            <a:r>
              <a:rPr lang="vi-VN" sz="2400" dirty="0">
                <a:solidFill>
                  <a:srgbClr val="FF0000"/>
                </a:solidFill>
                <a:latin typeface="Calibri" panose="020F0502020204030204" pitchFamily="34" charset="0"/>
                <a:cs typeface="Calibri" panose="020F0502020204030204" pitchFamily="34" charset="0"/>
              </a:rPr>
              <a:t>DMAIC</a:t>
            </a:r>
            <a:r>
              <a:rPr lang="vi-VN" sz="2400" dirty="0">
                <a:latin typeface="Calibri" panose="020F0502020204030204" pitchFamily="34" charset="0"/>
                <a:cs typeface="Calibri" panose="020F0502020204030204" pitchFamily="34" charset="0"/>
              </a:rPr>
              <a:t>: </a:t>
            </a:r>
            <a:endParaRPr lang="en-US" sz="2400" dirty="0">
              <a:latin typeface="Calibri" panose="020F0502020204030204" pitchFamily="34" charset="0"/>
              <a:cs typeface="Calibri" panose="020F0502020204030204" pitchFamily="34" charset="0"/>
            </a:endParaRPr>
          </a:p>
          <a:p>
            <a:pPr latinLnBrk="0"/>
            <a:endParaRPr lang="en-US" dirty="0">
              <a:solidFill>
                <a:srgbClr val="FF0000"/>
              </a:solidFill>
              <a:latin typeface="Calibri" panose="020F0502020204030204" pitchFamily="34" charset="0"/>
              <a:cs typeface="Calibri" panose="020F0502020204030204" pitchFamily="34" charset="0"/>
            </a:endParaRPr>
          </a:p>
          <a:p>
            <a:pPr latinLnBrk="0"/>
            <a:endParaRPr lang="en-US" dirty="0">
              <a:solidFill>
                <a:srgbClr val="FF0000"/>
              </a:solidFill>
              <a:latin typeface="Calibri" panose="020F0502020204030204" pitchFamily="34" charset="0"/>
              <a:cs typeface="Calibri" panose="020F0502020204030204" pitchFamily="34" charset="0"/>
            </a:endParaRPr>
          </a:p>
          <a:p>
            <a:pPr latinLnBrk="0"/>
            <a:endParaRPr lang="en-US" dirty="0">
              <a:solidFill>
                <a:srgbClr val="FF0000"/>
              </a:solidFill>
              <a:latin typeface="Calibri" panose="020F0502020204030204" pitchFamily="34" charset="0"/>
              <a:cs typeface="Calibri" panose="020F0502020204030204" pitchFamily="34" charset="0"/>
            </a:endParaRPr>
          </a:p>
          <a:p>
            <a:pPr latinLnBrk="0">
              <a:lnSpc>
                <a:spcPct val="200000"/>
              </a:lnSpc>
            </a:pPr>
            <a:r>
              <a:rPr lang="vi-VN" sz="2400" dirty="0">
                <a:solidFill>
                  <a:srgbClr val="FF0000"/>
                </a:solidFill>
                <a:latin typeface="Calibri" panose="020F0502020204030204" pitchFamily="34" charset="0"/>
                <a:cs typeface="Calibri" panose="020F0502020204030204" pitchFamily="34" charset="0"/>
              </a:rPr>
              <a:t>D</a:t>
            </a:r>
            <a:r>
              <a:rPr lang="vi-VN" dirty="0">
                <a:latin typeface="Calibri" panose="020F0502020204030204" pitchFamily="34" charset="0"/>
                <a:cs typeface="Calibri" panose="020F0502020204030204" pitchFamily="34" charset="0"/>
              </a:rPr>
              <a:t>efine (Xác Định), </a:t>
            </a:r>
            <a:endParaRPr lang="en-US" dirty="0">
              <a:latin typeface="Calibri" panose="020F0502020204030204" pitchFamily="34" charset="0"/>
              <a:cs typeface="Calibri" panose="020F0502020204030204" pitchFamily="34" charset="0"/>
            </a:endParaRPr>
          </a:p>
          <a:p>
            <a:pPr latinLnBrk="0">
              <a:lnSpc>
                <a:spcPct val="200000"/>
              </a:lnSpc>
            </a:pPr>
            <a:r>
              <a:rPr lang="en-US" sz="2400" dirty="0">
                <a:solidFill>
                  <a:srgbClr val="FF0000"/>
                </a:solidFill>
                <a:latin typeface="Calibri" panose="020F0502020204030204" pitchFamily="34" charset="0"/>
                <a:cs typeface="Calibri" panose="020F0502020204030204" pitchFamily="34" charset="0"/>
              </a:rPr>
              <a:t>M</a:t>
            </a:r>
            <a:r>
              <a:rPr lang="vi-VN" dirty="0">
                <a:latin typeface="Calibri" panose="020F0502020204030204" pitchFamily="34" charset="0"/>
                <a:cs typeface="Calibri" panose="020F0502020204030204" pitchFamily="34" charset="0"/>
              </a:rPr>
              <a:t>easure (Đo Lường), </a:t>
            </a:r>
            <a:endParaRPr lang="en-US" dirty="0">
              <a:latin typeface="Calibri" panose="020F0502020204030204" pitchFamily="34" charset="0"/>
              <a:cs typeface="Calibri" panose="020F0502020204030204" pitchFamily="34" charset="0"/>
            </a:endParaRPr>
          </a:p>
          <a:p>
            <a:pPr latinLnBrk="0">
              <a:lnSpc>
                <a:spcPct val="200000"/>
              </a:lnSpc>
            </a:pPr>
            <a:r>
              <a:rPr lang="vi-VN" sz="2400" dirty="0">
                <a:solidFill>
                  <a:srgbClr val="FF0000"/>
                </a:solidFill>
                <a:latin typeface="Calibri" panose="020F0502020204030204" pitchFamily="34" charset="0"/>
                <a:cs typeface="Calibri" panose="020F0502020204030204" pitchFamily="34" charset="0"/>
              </a:rPr>
              <a:t>A</a:t>
            </a:r>
            <a:r>
              <a:rPr lang="vi-VN" dirty="0">
                <a:latin typeface="Calibri" panose="020F0502020204030204" pitchFamily="34" charset="0"/>
                <a:cs typeface="Calibri" panose="020F0502020204030204" pitchFamily="34" charset="0"/>
              </a:rPr>
              <a:t>nalyze (Phân Tích), </a:t>
            </a:r>
            <a:endParaRPr lang="en-US" dirty="0">
              <a:latin typeface="Calibri" panose="020F0502020204030204" pitchFamily="34" charset="0"/>
              <a:cs typeface="Calibri" panose="020F0502020204030204" pitchFamily="34" charset="0"/>
            </a:endParaRPr>
          </a:p>
          <a:p>
            <a:pPr latinLnBrk="0">
              <a:lnSpc>
                <a:spcPct val="200000"/>
              </a:lnSpc>
            </a:pPr>
            <a:r>
              <a:rPr lang="vi-VN" sz="2400" dirty="0">
                <a:solidFill>
                  <a:srgbClr val="FF0000"/>
                </a:solidFill>
                <a:latin typeface="Calibri" panose="020F0502020204030204" pitchFamily="34" charset="0"/>
                <a:cs typeface="Calibri" panose="020F0502020204030204" pitchFamily="34" charset="0"/>
              </a:rPr>
              <a:t>I</a:t>
            </a:r>
            <a:r>
              <a:rPr lang="vi-VN" dirty="0">
                <a:latin typeface="Calibri" panose="020F0502020204030204" pitchFamily="34" charset="0"/>
                <a:cs typeface="Calibri" panose="020F0502020204030204" pitchFamily="34" charset="0"/>
              </a:rPr>
              <a:t>mprove (Cải Tiến) </a:t>
            </a:r>
            <a:endParaRPr lang="en-US" dirty="0">
              <a:latin typeface="Calibri" panose="020F0502020204030204" pitchFamily="34" charset="0"/>
              <a:cs typeface="Calibri" panose="020F0502020204030204" pitchFamily="34" charset="0"/>
            </a:endParaRPr>
          </a:p>
          <a:p>
            <a:pPr latinLnBrk="0">
              <a:lnSpc>
                <a:spcPct val="200000"/>
              </a:lnSpc>
            </a:pPr>
            <a:r>
              <a:rPr lang="vi-VN" sz="2400" dirty="0">
                <a:solidFill>
                  <a:srgbClr val="FF0000"/>
                </a:solidFill>
                <a:latin typeface="Calibri" panose="020F0502020204030204" pitchFamily="34" charset="0"/>
                <a:cs typeface="Calibri" panose="020F0502020204030204" pitchFamily="34" charset="0"/>
              </a:rPr>
              <a:t>C</a:t>
            </a:r>
            <a:r>
              <a:rPr lang="vi-VN" dirty="0">
                <a:latin typeface="Calibri" panose="020F0502020204030204" pitchFamily="34" charset="0"/>
                <a:cs typeface="Calibri" panose="020F0502020204030204" pitchFamily="34" charset="0"/>
              </a:rPr>
              <a:t>ontrol (Kiểm Soát).</a:t>
            </a:r>
            <a:endParaRPr lang="en-US" dirty="0">
              <a:latin typeface="Calibri" panose="020F0502020204030204" pitchFamily="34" charset="0"/>
              <a:cs typeface="Calibri" panose="020F0502020204030204" pitchFamily="34"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4664968" y="2204990"/>
            <a:ext cx="4015116" cy="4065305"/>
          </a:xfrm>
          <a:prstGeom prst="rect">
            <a:avLst/>
          </a:prstGeom>
        </p:spPr>
      </p:pic>
    </p:spTree>
    <p:extLst>
      <p:ext uri="{BB962C8B-B14F-4D97-AF65-F5344CB8AC3E}">
        <p14:creationId xmlns:p14="http://schemas.microsoft.com/office/powerpoint/2010/main" val="64630934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6</a:t>
            </a:fld>
            <a:endParaRPr lang="ko-KR" altLang="en-US" dirty="0"/>
          </a:p>
        </p:txBody>
      </p:sp>
      <p:sp>
        <p:nvSpPr>
          <p:cNvPr id="3" name="제목 1"/>
          <p:cNvSpPr txBox="1">
            <a:spLocks/>
          </p:cNvSpPr>
          <p:nvPr/>
        </p:nvSpPr>
        <p:spPr bwMode="auto">
          <a:xfrm>
            <a:off x="211138" y="174625"/>
            <a:ext cx="3589734" cy="41751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a:lstStyle>
          <a:p>
            <a:pPr algn="l" eaLnBrk="1" hangingPunct="1"/>
            <a:r>
              <a:rPr kumimoji="0" lang="en-US" altLang="ko-KR" sz="2000" b="1" dirty="0" err="1">
                <a:latin typeface="Arial" pitchFamily="34" charset="0"/>
                <a:cs typeface="Arial" pitchFamily="34" charset="0"/>
              </a:rPr>
              <a:t>Tổng</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quan</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về</a:t>
            </a:r>
            <a:r>
              <a:rPr kumimoji="0" lang="en-US" altLang="ko-KR" sz="2000" b="1" dirty="0">
                <a:latin typeface="Arial" pitchFamily="34" charset="0"/>
                <a:cs typeface="Arial" pitchFamily="34" charset="0"/>
              </a:rPr>
              <a:t> 6 sigma</a:t>
            </a:r>
            <a:endParaRPr kumimoji="0" lang="ko-KR" altLang="en-US" sz="2000" b="1" dirty="0">
              <a:latin typeface="Arial" pitchFamily="34" charset="0"/>
              <a:cs typeface="Arial" pitchFamily="34" charset="0"/>
            </a:endParaRPr>
          </a:p>
        </p:txBody>
      </p:sp>
      <p:sp>
        <p:nvSpPr>
          <p:cNvPr id="5" name="Rectangle 4"/>
          <p:cNvSpPr/>
          <p:nvPr/>
        </p:nvSpPr>
        <p:spPr>
          <a:xfrm>
            <a:off x="920552" y="1124744"/>
            <a:ext cx="3131819" cy="523220"/>
          </a:xfrm>
          <a:prstGeom prst="rect">
            <a:avLst/>
          </a:prstGeom>
        </p:spPr>
        <p:txBody>
          <a:bodyPr wrap="none">
            <a:spAutoFit/>
          </a:bodyPr>
          <a:lstStyle/>
          <a:p>
            <a:r>
              <a:rPr lang="en-US" sz="2800" b="1" dirty="0" err="1">
                <a:latin typeface="Calibri" panose="020F0502020204030204" pitchFamily="34" charset="0"/>
                <a:cs typeface="Calibri" panose="020F0502020204030204" pitchFamily="34" charset="0"/>
              </a:rPr>
              <a:t>Triển</a:t>
            </a:r>
            <a:r>
              <a:rPr lang="en-US" sz="2800" b="1" dirty="0">
                <a:latin typeface="Calibri" panose="020F0502020204030204" pitchFamily="34" charset="0"/>
                <a:cs typeface="Calibri" panose="020F0502020204030204" pitchFamily="34" charset="0"/>
              </a:rPr>
              <a:t> </a:t>
            </a:r>
            <a:r>
              <a:rPr lang="en-US" sz="2800" b="1" dirty="0" err="1">
                <a:latin typeface="Calibri" panose="020F0502020204030204" pitchFamily="34" charset="0"/>
                <a:cs typeface="Calibri" panose="020F0502020204030204" pitchFamily="34" charset="0"/>
              </a:rPr>
              <a:t>khai</a:t>
            </a:r>
            <a:r>
              <a:rPr lang="en-US" sz="2800" b="1" dirty="0">
                <a:latin typeface="Calibri" panose="020F0502020204030204" pitchFamily="34" charset="0"/>
                <a:cs typeface="Calibri" panose="020F0502020204030204" pitchFamily="34" charset="0"/>
              </a:rPr>
              <a:t> Six Sigma</a:t>
            </a:r>
            <a:endParaRPr lang="en-US" sz="2800" dirty="0">
              <a:latin typeface="Calibri" panose="020F0502020204030204" pitchFamily="34" charset="0"/>
              <a:cs typeface="Calibri" panose="020F0502020204030204" pitchFamily="34" charset="0"/>
            </a:endParaRPr>
          </a:p>
        </p:txBody>
      </p:sp>
      <p:sp>
        <p:nvSpPr>
          <p:cNvPr id="7" name="Rectangle 6"/>
          <p:cNvSpPr/>
          <p:nvPr/>
        </p:nvSpPr>
        <p:spPr>
          <a:xfrm>
            <a:off x="1122462" y="2180570"/>
            <a:ext cx="7646962" cy="923330"/>
          </a:xfrm>
          <a:prstGeom prst="rect">
            <a:avLst/>
          </a:prstGeom>
        </p:spPr>
        <p:txBody>
          <a:bodyPr wrap="square">
            <a:spAutoFit/>
          </a:bodyPr>
          <a:lstStyle/>
          <a:p>
            <a:pPr marL="285750" indent="-285750" latinLnBrk="0">
              <a:buFont typeface="Wingdings" panose="05000000000000000000" pitchFamily="2" charset="2"/>
              <a:buChar char="q"/>
            </a:pPr>
            <a:r>
              <a:rPr lang="vi-VN" dirty="0">
                <a:latin typeface="Calibri" panose="020F0502020204030204" pitchFamily="34" charset="0"/>
                <a:cs typeface="Calibri" panose="020F0502020204030204" pitchFamily="34" charset="0"/>
              </a:rPr>
              <a:t>Six Sigma được hình thành bởi tập đoàn Motorola vào năm 1986 và sau đó tập đoàn General Electric (GE) đã ứng dụng thành công vào thập niên 90 và phổ biến trên khắp thế giới từ đó.</a:t>
            </a:r>
            <a:endParaRPr lang="en-US" dirty="0">
              <a:latin typeface="Calibri" panose="020F0502020204030204" pitchFamily="34" charset="0"/>
              <a:cs typeface="Calibri" panose="020F0502020204030204" pitchFamily="34" charset="0"/>
            </a:endParaRPr>
          </a:p>
        </p:txBody>
      </p:sp>
      <p:sp>
        <p:nvSpPr>
          <p:cNvPr id="8" name="Rectangle 7"/>
          <p:cNvSpPr/>
          <p:nvPr/>
        </p:nvSpPr>
        <p:spPr>
          <a:xfrm>
            <a:off x="1122462" y="4869160"/>
            <a:ext cx="7646962" cy="646331"/>
          </a:xfrm>
          <a:prstGeom prst="rect">
            <a:avLst/>
          </a:prstGeom>
        </p:spPr>
        <p:txBody>
          <a:bodyPr wrap="square">
            <a:spAutoFit/>
          </a:bodyPr>
          <a:lstStyle/>
          <a:p>
            <a:pPr marL="285750" indent="-285750" latinLnBrk="0">
              <a:buFont typeface="Wingdings" panose="05000000000000000000" pitchFamily="2" charset="2"/>
              <a:buChar char="q"/>
            </a:pPr>
            <a:r>
              <a:rPr lang="en-US" dirty="0" err="1">
                <a:latin typeface="Calibri" panose="020F0502020204030204" pitchFamily="34" charset="0"/>
                <a:cs typeface="Calibri" panose="020F0502020204030204" pitchFamily="34" charset="0"/>
              </a:rPr>
              <a:t>Tại</a:t>
            </a:r>
            <a:r>
              <a:rPr lang="vi-VN" dirty="0">
                <a:latin typeface="Calibri" panose="020F0502020204030204" pitchFamily="34" charset="0"/>
                <a:cs typeface="Calibri" panose="020F0502020204030204" pitchFamily="34" charset="0"/>
              </a:rPr>
              <a:t> Việt Nam</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chưa</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được</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phổ</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biến</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rộng</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rãi</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Một</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số</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tập</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đoàn</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đã</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áp</a:t>
            </a:r>
            <a:r>
              <a:rPr lang="en-US"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dụng</a:t>
            </a:r>
            <a:r>
              <a:rPr lang="en-US" dirty="0">
                <a:latin typeface="Calibri" panose="020F0502020204030204" pitchFamily="34" charset="0"/>
                <a:cs typeface="Calibri" panose="020F0502020204030204" pitchFamily="34" charset="0"/>
              </a:rPr>
              <a:t> 6 sigma: </a:t>
            </a:r>
            <a:r>
              <a:rPr lang="en-US" i="1" dirty="0">
                <a:solidFill>
                  <a:srgbClr val="FF0000"/>
                </a:solidFill>
                <a:latin typeface="Calibri" panose="020F0502020204030204" pitchFamily="34" charset="0"/>
                <a:cs typeface="Calibri" panose="020F0502020204030204" pitchFamily="34" charset="0"/>
              </a:rPr>
              <a:t>SONION, American Standard, Ford, LG </a:t>
            </a:r>
            <a:r>
              <a:rPr lang="en-US" i="1" dirty="0" err="1">
                <a:solidFill>
                  <a:srgbClr val="FF0000"/>
                </a:solidFill>
                <a:latin typeface="Calibri" panose="020F0502020204030204" pitchFamily="34" charset="0"/>
                <a:cs typeface="Calibri" panose="020F0502020204030204" pitchFamily="34" charset="0"/>
              </a:rPr>
              <a:t>và</a:t>
            </a:r>
            <a:r>
              <a:rPr lang="en-US" i="1" dirty="0">
                <a:solidFill>
                  <a:srgbClr val="FF0000"/>
                </a:solidFill>
                <a:latin typeface="Calibri" panose="020F0502020204030204" pitchFamily="34" charset="0"/>
                <a:cs typeface="Calibri" panose="020F0502020204030204" pitchFamily="34" charset="0"/>
              </a:rPr>
              <a:t> Samsung</a:t>
            </a:r>
          </a:p>
        </p:txBody>
      </p:sp>
      <p:sp>
        <p:nvSpPr>
          <p:cNvPr id="9" name="Rectangle 8"/>
          <p:cNvSpPr/>
          <p:nvPr/>
        </p:nvSpPr>
        <p:spPr>
          <a:xfrm>
            <a:off x="1122462" y="3501008"/>
            <a:ext cx="7646962" cy="677108"/>
          </a:xfrm>
          <a:prstGeom prst="rect">
            <a:avLst/>
          </a:prstGeom>
        </p:spPr>
        <p:txBody>
          <a:bodyPr wrap="square">
            <a:spAutoFit/>
          </a:bodyPr>
          <a:lstStyle/>
          <a:p>
            <a:pPr marL="285750" indent="-285750" latinLnBrk="0">
              <a:buFont typeface="Wingdings" panose="05000000000000000000" pitchFamily="2" charset="2"/>
              <a:buChar char="q"/>
            </a:pPr>
            <a:r>
              <a:rPr lang="en-US" dirty="0" err="1">
                <a:latin typeface="Calibri" panose="020F0502020204030204" pitchFamily="34" charset="0"/>
                <a:cs typeface="Calibri" panose="020F0502020204030204" pitchFamily="34" charset="0"/>
              </a:rPr>
              <a:t>Tại</a:t>
            </a:r>
            <a:r>
              <a:rPr lang="vi-VN" dirty="0">
                <a:latin typeface="Calibri" panose="020F0502020204030204" pitchFamily="34" charset="0"/>
                <a:cs typeface="Calibri" panose="020F0502020204030204" pitchFamily="34" charset="0"/>
              </a:rPr>
              <a:t> </a:t>
            </a:r>
            <a:r>
              <a:rPr lang="en-US" dirty="0" err="1">
                <a:latin typeface="Calibri" panose="020F0502020204030204" pitchFamily="34" charset="0"/>
                <a:cs typeface="Calibri" panose="020F0502020204030204" pitchFamily="34" charset="0"/>
              </a:rPr>
              <a:t>Mỹ</a:t>
            </a:r>
            <a:r>
              <a:rPr lang="en-US" dirty="0">
                <a:latin typeface="Calibri" panose="020F0502020204030204" pitchFamily="34" charset="0"/>
                <a:cs typeface="Calibri" panose="020F0502020204030204" pitchFamily="34" charset="0"/>
              </a:rPr>
              <a:t>: </a:t>
            </a:r>
            <a:r>
              <a:rPr lang="vi-VN" dirty="0">
                <a:latin typeface="Calibri" panose="020F0502020204030204" pitchFamily="34" charset="0"/>
                <a:cs typeface="Calibri" panose="020F0502020204030204" pitchFamily="34" charset="0"/>
              </a:rPr>
              <a:t>Khoảng </a:t>
            </a:r>
            <a:r>
              <a:rPr lang="vi-VN" sz="2000" dirty="0">
                <a:solidFill>
                  <a:srgbClr val="FF0000"/>
                </a:solidFill>
                <a:latin typeface="Calibri" panose="020F0502020204030204" pitchFamily="34" charset="0"/>
                <a:cs typeface="Calibri" panose="020F0502020204030204" pitchFamily="34" charset="0"/>
              </a:rPr>
              <a:t>22% </a:t>
            </a:r>
            <a:r>
              <a:rPr lang="vi-VN" dirty="0">
                <a:latin typeface="Calibri" panose="020F0502020204030204" pitchFamily="34" charset="0"/>
                <a:cs typeface="Calibri" panose="020F0502020204030204" pitchFamily="34" charset="0"/>
              </a:rPr>
              <a:t>trong tổng số các công ty được khảo sát đang áp dụng Six Sigma</a:t>
            </a:r>
            <a:endParaRPr lang="en-US" i="1" dirty="0">
              <a:solidFill>
                <a:srgbClr val="FF0000"/>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28643971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5516999" y="4150242"/>
            <a:ext cx="3995936" cy="3220815"/>
          </a:xfrm>
          <a:prstGeom prst="rect">
            <a:avLst/>
          </a:prstGeom>
        </p:spPr>
      </p:pic>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7</a:t>
            </a:fld>
            <a:endParaRPr lang="ko-KR" altLang="en-US" dirty="0"/>
          </a:p>
        </p:txBody>
      </p:sp>
      <p:sp>
        <p:nvSpPr>
          <p:cNvPr id="3" name="Rectangle 2"/>
          <p:cNvSpPr/>
          <p:nvPr/>
        </p:nvSpPr>
        <p:spPr>
          <a:xfrm>
            <a:off x="704528" y="1052736"/>
            <a:ext cx="4812471" cy="523220"/>
          </a:xfrm>
          <a:prstGeom prst="rect">
            <a:avLst/>
          </a:prstGeom>
        </p:spPr>
        <p:txBody>
          <a:bodyPr wrap="none">
            <a:spAutoFit/>
          </a:bodyPr>
          <a:lstStyle/>
          <a:p>
            <a:r>
              <a:rPr lang="en-US" sz="2800" b="1" dirty="0" err="1">
                <a:latin typeface="Calibri" panose="020F0502020204030204" pitchFamily="34" charset="0"/>
                <a:cs typeface="Calibri" panose="020F0502020204030204" pitchFamily="34" charset="0"/>
              </a:rPr>
              <a:t>Thành</a:t>
            </a:r>
            <a:r>
              <a:rPr lang="en-US" sz="2800" b="1" dirty="0">
                <a:latin typeface="Calibri" panose="020F0502020204030204" pitchFamily="34" charset="0"/>
                <a:cs typeface="Calibri" panose="020F0502020204030204" pitchFamily="34" charset="0"/>
              </a:rPr>
              <a:t> </a:t>
            </a:r>
            <a:r>
              <a:rPr lang="en-US" sz="2800" b="1" dirty="0" err="1">
                <a:latin typeface="Calibri" panose="020F0502020204030204" pitchFamily="34" charset="0"/>
                <a:cs typeface="Calibri" panose="020F0502020204030204" pitchFamily="34" charset="0"/>
              </a:rPr>
              <a:t>công</a:t>
            </a:r>
            <a:r>
              <a:rPr lang="en-US" sz="2800" b="1" dirty="0">
                <a:latin typeface="Calibri" panose="020F0502020204030204" pitchFamily="34" charset="0"/>
                <a:cs typeface="Calibri" panose="020F0502020204030204" pitchFamily="34" charset="0"/>
              </a:rPr>
              <a:t> </a:t>
            </a:r>
            <a:r>
              <a:rPr lang="en-US" sz="2800" b="1" dirty="0" err="1">
                <a:latin typeface="Calibri" panose="020F0502020204030204" pitchFamily="34" charset="0"/>
                <a:cs typeface="Calibri" panose="020F0502020204030204" pitchFamily="34" charset="0"/>
              </a:rPr>
              <a:t>của</a:t>
            </a:r>
            <a:r>
              <a:rPr lang="en-US" sz="2800" b="1" dirty="0">
                <a:latin typeface="Calibri" panose="020F0502020204030204" pitchFamily="34" charset="0"/>
                <a:cs typeface="Calibri" panose="020F0502020204030204" pitchFamily="34" charset="0"/>
              </a:rPr>
              <a:t> Ford </a:t>
            </a:r>
            <a:r>
              <a:rPr lang="en-US" sz="2800" b="1" dirty="0" err="1">
                <a:latin typeface="Calibri" panose="020F0502020204030204" pitchFamily="34" charset="0"/>
                <a:cs typeface="Calibri" panose="020F0502020204030204" pitchFamily="34" charset="0"/>
              </a:rPr>
              <a:t>Việt</a:t>
            </a:r>
            <a:r>
              <a:rPr lang="en-US" sz="2800" b="1" dirty="0">
                <a:latin typeface="Calibri" panose="020F0502020204030204" pitchFamily="34" charset="0"/>
                <a:cs typeface="Calibri" panose="020F0502020204030204" pitchFamily="34" charset="0"/>
              </a:rPr>
              <a:t> Nam </a:t>
            </a:r>
            <a:endParaRPr lang="en-US" sz="2800" dirty="0">
              <a:latin typeface="Calibri" panose="020F0502020204030204" pitchFamily="34" charset="0"/>
              <a:cs typeface="Calibri" panose="020F0502020204030204" pitchFamily="34" charset="0"/>
            </a:endParaRPr>
          </a:p>
        </p:txBody>
      </p:sp>
      <p:sp>
        <p:nvSpPr>
          <p:cNvPr id="4" name="제목 1"/>
          <p:cNvSpPr txBox="1">
            <a:spLocks/>
          </p:cNvSpPr>
          <p:nvPr/>
        </p:nvSpPr>
        <p:spPr bwMode="auto">
          <a:xfrm>
            <a:off x="211138" y="174625"/>
            <a:ext cx="3589734" cy="41751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a:lstStyle>
          <a:p>
            <a:pPr algn="l" eaLnBrk="1" hangingPunct="1"/>
            <a:r>
              <a:rPr kumimoji="0" lang="en-US" altLang="ko-KR" sz="2000" b="1" dirty="0" err="1">
                <a:latin typeface="Arial" pitchFamily="34" charset="0"/>
                <a:cs typeface="Arial" pitchFamily="34" charset="0"/>
              </a:rPr>
              <a:t>Tổng</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quan</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về</a:t>
            </a:r>
            <a:r>
              <a:rPr kumimoji="0" lang="en-US" altLang="ko-KR" sz="2000" b="1" dirty="0">
                <a:latin typeface="Arial" pitchFamily="34" charset="0"/>
                <a:cs typeface="Arial" pitchFamily="34" charset="0"/>
              </a:rPr>
              <a:t> 6 sigma</a:t>
            </a:r>
            <a:endParaRPr kumimoji="0" lang="ko-KR" altLang="en-US" sz="2000" b="1" dirty="0">
              <a:latin typeface="Arial" pitchFamily="34" charset="0"/>
              <a:cs typeface="Arial" pitchFamily="34" charset="0"/>
            </a:endParaRPr>
          </a:p>
        </p:txBody>
      </p:sp>
      <p:sp>
        <p:nvSpPr>
          <p:cNvPr id="6" name="Rectangle 5"/>
          <p:cNvSpPr/>
          <p:nvPr/>
        </p:nvSpPr>
        <p:spPr>
          <a:xfrm>
            <a:off x="704528" y="2036554"/>
            <a:ext cx="6580956" cy="3724096"/>
          </a:xfrm>
          <a:prstGeom prst="rect">
            <a:avLst/>
          </a:prstGeom>
        </p:spPr>
        <p:txBody>
          <a:bodyPr wrap="square">
            <a:spAutoFit/>
          </a:bodyPr>
          <a:lstStyle/>
          <a:p>
            <a:pPr marL="285750" indent="-285750" algn="just" latinLnBrk="0">
              <a:buFont typeface="Wingdings" panose="05000000000000000000" pitchFamily="2" charset="2"/>
              <a:buChar char="q"/>
            </a:pPr>
            <a:r>
              <a:rPr lang="vi-VN" dirty="0">
                <a:latin typeface="Calibri" panose="020F0502020204030204" pitchFamily="34" charset="0"/>
                <a:cs typeface="Calibri" panose="020F0502020204030204" pitchFamily="34" charset="0"/>
              </a:rPr>
              <a:t>Năm 2000, Công ty Ford Việt Nam đã bắt đầu triển khai Six Sigma trong 200 dự án để cải tiến quy trình trong mọi lĩnh vực sản xuất kinh doanh. </a:t>
            </a:r>
            <a:endParaRPr lang="en-US" dirty="0">
              <a:latin typeface="Calibri" panose="020F0502020204030204" pitchFamily="34" charset="0"/>
              <a:cs typeface="Calibri" panose="020F0502020204030204" pitchFamily="34" charset="0"/>
            </a:endParaRPr>
          </a:p>
          <a:p>
            <a:pPr marL="285750" indent="-285750" algn="just" latinLnBrk="0">
              <a:buFont typeface="Wingdings" panose="05000000000000000000" pitchFamily="2" charset="2"/>
              <a:buChar char="q"/>
            </a:pPr>
            <a:endParaRPr lang="en-US" dirty="0">
              <a:latin typeface="Calibri" panose="020F0502020204030204" pitchFamily="34" charset="0"/>
              <a:cs typeface="Calibri" panose="020F0502020204030204" pitchFamily="34" charset="0"/>
            </a:endParaRPr>
          </a:p>
          <a:p>
            <a:pPr marL="285750" indent="-285750" algn="just" latinLnBrk="0">
              <a:buFont typeface="Wingdings" panose="05000000000000000000" pitchFamily="2" charset="2"/>
              <a:buChar char="q"/>
            </a:pPr>
            <a:r>
              <a:rPr lang="vi-VN" dirty="0">
                <a:latin typeface="Calibri" panose="020F0502020204030204" pitchFamily="34" charset="0"/>
                <a:cs typeface="Calibri" panose="020F0502020204030204" pitchFamily="34" charset="0"/>
              </a:rPr>
              <a:t>Kết quả</a:t>
            </a:r>
            <a:r>
              <a:rPr lang="en-US" dirty="0">
                <a:latin typeface="Calibri" panose="020F0502020204030204" pitchFamily="34" charset="0"/>
                <a:cs typeface="Calibri" panose="020F0502020204030204" pitchFamily="34" charset="0"/>
              </a:rPr>
              <a:t>:</a:t>
            </a:r>
            <a:r>
              <a:rPr lang="vi-VN" dirty="0">
                <a:latin typeface="Calibri" panose="020F0502020204030204" pitchFamily="34" charset="0"/>
                <a:cs typeface="Calibri" panose="020F0502020204030204" pitchFamily="34" charset="0"/>
              </a:rPr>
              <a:t> 2007, Ford đã tiết kiệm được 1.2 triệu USD và chỉ số hài lòng của khách hàng đạt mức trên 90%/năm  </a:t>
            </a:r>
            <a:endParaRPr lang="en-US" dirty="0">
              <a:latin typeface="Calibri" panose="020F0502020204030204" pitchFamily="34" charset="0"/>
              <a:cs typeface="Calibri" panose="020F0502020204030204" pitchFamily="34" charset="0"/>
            </a:endParaRPr>
          </a:p>
          <a:p>
            <a:pPr marL="285750" indent="-285750" algn="just" latinLnBrk="0">
              <a:buFont typeface="Wingdings" panose="05000000000000000000" pitchFamily="2" charset="2"/>
              <a:buChar char="q"/>
            </a:pPr>
            <a:endParaRPr lang="en-US" dirty="0">
              <a:latin typeface="Calibri" panose="020F0502020204030204" pitchFamily="34" charset="0"/>
              <a:cs typeface="Calibri" panose="020F0502020204030204" pitchFamily="34" charset="0"/>
            </a:endParaRPr>
          </a:p>
          <a:p>
            <a:pPr marL="285750" indent="-285750" algn="just" latinLnBrk="0">
              <a:buFont typeface="Wingdings" panose="05000000000000000000" pitchFamily="2" charset="2"/>
              <a:buChar char="q"/>
            </a:pPr>
            <a:r>
              <a:rPr lang="en-US" dirty="0" err="1">
                <a:latin typeface="Calibri" panose="020F0502020204030204" pitchFamily="34" charset="0"/>
                <a:cs typeface="Calibri" panose="020F0502020204030204" pitchFamily="34" charset="0"/>
              </a:rPr>
              <a:t>Năm</a:t>
            </a:r>
            <a:r>
              <a:rPr lang="en-US" dirty="0">
                <a:latin typeface="Calibri" panose="020F0502020204030204" pitchFamily="34" charset="0"/>
                <a:cs typeface="Calibri" panose="020F0502020204030204" pitchFamily="34" charset="0"/>
              </a:rPr>
              <a:t> </a:t>
            </a:r>
            <a:r>
              <a:rPr lang="vi-VN" dirty="0">
                <a:latin typeface="Calibri" panose="020F0502020204030204" pitchFamily="34" charset="0"/>
                <a:cs typeface="Calibri" panose="020F0502020204030204" pitchFamily="34" charset="0"/>
              </a:rPr>
              <a:t>2005. Xác định được nguyên nhân gây hao phí là do các thùng chứa linh kiện xe hơi trong các container còn rất nhiều khoảng trống, Ford đã sắp xếp và tận dụng tối đa không gian còn trống theo phương pháp cải tiến Six Sigma</a:t>
            </a:r>
          </a:p>
          <a:p>
            <a:pPr algn="just"/>
            <a:endParaRPr lang="en-US" dirty="0">
              <a:latin typeface="Calibri" panose="020F0502020204030204" pitchFamily="34" charset="0"/>
              <a:cs typeface="Calibri" panose="020F0502020204030204" pitchFamily="34" charset="0"/>
              <a:sym typeface="Wingdings" panose="05000000000000000000" pitchFamily="2" charset="2"/>
            </a:endParaRPr>
          </a:p>
          <a:p>
            <a:pPr algn="just"/>
            <a:r>
              <a:rPr lang="en-US" dirty="0">
                <a:latin typeface="Calibri" panose="020F0502020204030204" pitchFamily="34" charset="0"/>
                <a:cs typeface="Calibri" panose="020F0502020204030204" pitchFamily="34" charset="0"/>
                <a:sym typeface="Wingdings" panose="05000000000000000000" pitchFamily="2" charset="2"/>
              </a:rPr>
              <a:t></a:t>
            </a:r>
            <a:r>
              <a:rPr lang="en-US" sz="2000" i="1" dirty="0">
                <a:latin typeface="Calibri" panose="020F0502020204030204" pitchFamily="34" charset="0"/>
                <a:cs typeface="Calibri" panose="020F0502020204030204" pitchFamily="34" charset="0"/>
                <a:sym typeface="Wingdings" panose="05000000000000000000" pitchFamily="2" charset="2"/>
              </a:rPr>
              <a:t>Ford </a:t>
            </a:r>
            <a:r>
              <a:rPr lang="en-US" sz="2000" i="1" dirty="0" err="1">
                <a:latin typeface="Calibri" panose="020F0502020204030204" pitchFamily="34" charset="0"/>
                <a:cs typeface="Calibri" panose="020F0502020204030204" pitchFamily="34" charset="0"/>
                <a:sym typeface="Wingdings" panose="05000000000000000000" pitchFamily="2" charset="2"/>
              </a:rPr>
              <a:t>đã</a:t>
            </a:r>
            <a:r>
              <a:rPr lang="en-US" sz="2000" i="1" dirty="0">
                <a:latin typeface="Calibri" panose="020F0502020204030204" pitchFamily="34" charset="0"/>
                <a:cs typeface="Calibri" panose="020F0502020204030204" pitchFamily="34" charset="0"/>
                <a:sym typeface="Wingdings" panose="05000000000000000000" pitchFamily="2" charset="2"/>
              </a:rPr>
              <a:t> </a:t>
            </a:r>
            <a:r>
              <a:rPr lang="en-US" sz="2000" i="1" dirty="0" err="1">
                <a:latin typeface="Calibri" panose="020F0502020204030204" pitchFamily="34" charset="0"/>
                <a:cs typeface="Calibri" panose="020F0502020204030204" pitchFamily="34" charset="0"/>
                <a:sym typeface="Wingdings" panose="05000000000000000000" pitchFamily="2" charset="2"/>
              </a:rPr>
              <a:t>tiết</a:t>
            </a:r>
            <a:r>
              <a:rPr lang="en-US" sz="2000" i="1" dirty="0">
                <a:latin typeface="Calibri" panose="020F0502020204030204" pitchFamily="34" charset="0"/>
                <a:cs typeface="Calibri" panose="020F0502020204030204" pitchFamily="34" charset="0"/>
                <a:sym typeface="Wingdings" panose="05000000000000000000" pitchFamily="2" charset="2"/>
              </a:rPr>
              <a:t> </a:t>
            </a:r>
            <a:r>
              <a:rPr lang="en-US" sz="2000" i="1" dirty="0" err="1">
                <a:latin typeface="Calibri" panose="020F0502020204030204" pitchFamily="34" charset="0"/>
                <a:cs typeface="Calibri" panose="020F0502020204030204" pitchFamily="34" charset="0"/>
                <a:sym typeface="Wingdings" panose="05000000000000000000" pitchFamily="2" charset="2"/>
              </a:rPr>
              <a:t>kiệm</a:t>
            </a:r>
            <a:r>
              <a:rPr lang="en-US" sz="2000" i="1" dirty="0">
                <a:latin typeface="Calibri" panose="020F0502020204030204" pitchFamily="34" charset="0"/>
                <a:cs typeface="Calibri" panose="020F0502020204030204" pitchFamily="34" charset="0"/>
                <a:sym typeface="Wingdings" panose="05000000000000000000" pitchFamily="2" charset="2"/>
              </a:rPr>
              <a:t> </a:t>
            </a:r>
            <a:r>
              <a:rPr lang="en-US" sz="2000" i="1" dirty="0">
                <a:solidFill>
                  <a:srgbClr val="FF0000"/>
                </a:solidFill>
                <a:latin typeface="Calibri" panose="020F0502020204030204" pitchFamily="34" charset="0"/>
                <a:cs typeface="Calibri" panose="020F0502020204030204" pitchFamily="34" charset="0"/>
                <a:sym typeface="Wingdings" panose="05000000000000000000" pitchFamily="2" charset="2"/>
              </a:rPr>
              <a:t>150.000 </a:t>
            </a:r>
            <a:r>
              <a:rPr lang="en-US" sz="2000" i="1" dirty="0">
                <a:latin typeface="Calibri" panose="020F0502020204030204" pitchFamily="34" charset="0"/>
                <a:cs typeface="Calibri" panose="020F0502020204030204" pitchFamily="34" charset="0"/>
                <a:sym typeface="Wingdings" panose="05000000000000000000" pitchFamily="2" charset="2"/>
              </a:rPr>
              <a:t>USD</a:t>
            </a:r>
            <a:endParaRPr lang="vi-VN" sz="2000" i="1"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29176412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8</a:t>
            </a:fld>
            <a:endParaRPr lang="ko-KR" altLang="en-US" dirty="0"/>
          </a:p>
        </p:txBody>
      </p:sp>
      <p:sp>
        <p:nvSpPr>
          <p:cNvPr id="4" name="Rectangle 3"/>
          <p:cNvSpPr/>
          <p:nvPr/>
        </p:nvSpPr>
        <p:spPr>
          <a:xfrm>
            <a:off x="1568624" y="2132856"/>
            <a:ext cx="6552728" cy="830997"/>
          </a:xfrm>
          <a:prstGeom prst="rect">
            <a:avLst/>
          </a:prstGeom>
        </p:spPr>
        <p:txBody>
          <a:bodyPr wrap="square">
            <a:spAutoFit/>
          </a:bodyPr>
          <a:lstStyle/>
          <a:p>
            <a:pPr algn="ctr" latinLnBrk="0"/>
            <a:r>
              <a:rPr lang="vi-VN" sz="2400" i="1" dirty="0">
                <a:latin typeface="Calibri" panose="020F0502020204030204" pitchFamily="34" charset="0"/>
                <a:cs typeface="Calibri" panose="020F0502020204030204" pitchFamily="34" charset="0"/>
              </a:rPr>
              <a:t>Six Sigma đem lại rất nhiều lợi ích về cả kinh tế và danh tiếng cũng như các phương diện khác.</a:t>
            </a:r>
            <a:endParaRPr lang="en-US" sz="2400" i="1" dirty="0">
              <a:latin typeface="Calibri" panose="020F0502020204030204" pitchFamily="34" charset="0"/>
              <a:cs typeface="Calibri" panose="020F0502020204030204" pitchFamily="34" charset="0"/>
            </a:endParaRPr>
          </a:p>
        </p:txBody>
      </p:sp>
      <p:sp>
        <p:nvSpPr>
          <p:cNvPr id="5" name="제목 1"/>
          <p:cNvSpPr txBox="1">
            <a:spLocks/>
          </p:cNvSpPr>
          <p:nvPr/>
        </p:nvSpPr>
        <p:spPr bwMode="auto">
          <a:xfrm>
            <a:off x="211138" y="174625"/>
            <a:ext cx="3589734" cy="41751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a:lstStyle>
          <a:p>
            <a:pPr algn="l" eaLnBrk="1" hangingPunct="1"/>
            <a:r>
              <a:rPr kumimoji="0" lang="en-US" altLang="ko-KR" sz="2000" b="1" dirty="0" err="1">
                <a:latin typeface="Arial" pitchFamily="34" charset="0"/>
                <a:cs typeface="Arial" pitchFamily="34" charset="0"/>
              </a:rPr>
              <a:t>Tổng</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quan</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về</a:t>
            </a:r>
            <a:r>
              <a:rPr kumimoji="0" lang="en-US" altLang="ko-KR" sz="2000" b="1" dirty="0">
                <a:latin typeface="Arial" pitchFamily="34" charset="0"/>
                <a:cs typeface="Arial" pitchFamily="34" charset="0"/>
              </a:rPr>
              <a:t> 6 sigma</a:t>
            </a:r>
            <a:endParaRPr kumimoji="0" lang="ko-KR" altLang="en-US" sz="2000" b="1" dirty="0">
              <a:latin typeface="Arial" pitchFamily="34" charset="0"/>
              <a:cs typeface="Arial" pitchFamily="34" charset="0"/>
            </a:endParaRPr>
          </a:p>
        </p:txBody>
      </p:sp>
      <p:sp>
        <p:nvSpPr>
          <p:cNvPr id="6" name="Rectangle 5"/>
          <p:cNvSpPr/>
          <p:nvPr/>
        </p:nvSpPr>
        <p:spPr>
          <a:xfrm>
            <a:off x="704528" y="1052736"/>
            <a:ext cx="1411669" cy="523220"/>
          </a:xfrm>
          <a:prstGeom prst="rect">
            <a:avLst/>
          </a:prstGeom>
        </p:spPr>
        <p:txBody>
          <a:bodyPr wrap="none">
            <a:spAutoFit/>
          </a:bodyPr>
          <a:lstStyle/>
          <a:p>
            <a:r>
              <a:rPr lang="en-US" sz="2800" b="1" dirty="0" err="1">
                <a:latin typeface="Calibri" panose="020F0502020204030204" pitchFamily="34" charset="0"/>
                <a:cs typeface="Calibri" panose="020F0502020204030204" pitchFamily="34" charset="0"/>
              </a:rPr>
              <a:t>Kết</a:t>
            </a:r>
            <a:r>
              <a:rPr lang="en-US" sz="2800" b="1" dirty="0">
                <a:latin typeface="Calibri" panose="020F0502020204030204" pitchFamily="34" charset="0"/>
                <a:cs typeface="Calibri" panose="020F0502020204030204" pitchFamily="34" charset="0"/>
              </a:rPr>
              <a:t> </a:t>
            </a:r>
            <a:r>
              <a:rPr lang="en-US" sz="2800" b="1" dirty="0" err="1">
                <a:latin typeface="Calibri" panose="020F0502020204030204" pitchFamily="34" charset="0"/>
                <a:cs typeface="Calibri" panose="020F0502020204030204" pitchFamily="34" charset="0"/>
              </a:rPr>
              <a:t>luận</a:t>
            </a:r>
            <a:endParaRPr lang="en-US" sz="2800" b="1" dirty="0">
              <a:latin typeface="Calibri" panose="020F0502020204030204" pitchFamily="34" charset="0"/>
              <a:cs typeface="Calibri" panose="020F0502020204030204" pitchFamily="34" charset="0"/>
            </a:endParaRPr>
          </a:p>
        </p:txBody>
      </p:sp>
      <p:sp>
        <p:nvSpPr>
          <p:cNvPr id="8" name="Rectangle 7"/>
          <p:cNvSpPr/>
          <p:nvPr/>
        </p:nvSpPr>
        <p:spPr>
          <a:xfrm>
            <a:off x="1568624" y="4149080"/>
            <a:ext cx="7056784" cy="584775"/>
          </a:xfrm>
          <a:prstGeom prst="rect">
            <a:avLst/>
          </a:prstGeom>
        </p:spPr>
        <p:txBody>
          <a:bodyPr wrap="square">
            <a:spAutoFit/>
          </a:bodyPr>
          <a:lstStyle/>
          <a:p>
            <a:pPr latinLnBrk="0"/>
            <a:r>
              <a:rPr lang="en-US" sz="3200" i="1" dirty="0" err="1">
                <a:solidFill>
                  <a:srgbClr val="FF0000"/>
                </a:solidFill>
                <a:latin typeface="Calibri" panose="020F0502020204030204" pitchFamily="34" charset="0"/>
                <a:cs typeface="Calibri" panose="020F0502020204030204" pitchFamily="34" charset="0"/>
              </a:rPr>
              <a:t>Các</a:t>
            </a:r>
            <a:r>
              <a:rPr lang="en-US" sz="3200" i="1" dirty="0">
                <a:solidFill>
                  <a:srgbClr val="FF0000"/>
                </a:solidFill>
                <a:latin typeface="Calibri" panose="020F0502020204030204" pitchFamily="34" charset="0"/>
                <a:cs typeface="Calibri" panose="020F0502020204030204" pitchFamily="34" charset="0"/>
              </a:rPr>
              <a:t> b</a:t>
            </a:r>
            <a:r>
              <a:rPr lang="vi-VN" sz="3200" i="1" dirty="0">
                <a:solidFill>
                  <a:srgbClr val="FF0000"/>
                </a:solidFill>
                <a:latin typeface="Calibri" panose="020F0502020204030204" pitchFamily="34" charset="0"/>
                <a:cs typeface="Calibri" panose="020F0502020204030204" pitchFamily="34" charset="0"/>
              </a:rPr>
              <a:t>ạn đã sẵn sàng cho Six Sigma chưa?</a:t>
            </a:r>
          </a:p>
        </p:txBody>
      </p:sp>
    </p:spTree>
    <p:extLst>
      <p:ext uri="{BB962C8B-B14F-4D97-AF65-F5344CB8AC3E}">
        <p14:creationId xmlns:p14="http://schemas.microsoft.com/office/powerpoint/2010/main" val="203829816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122" name="제목 1"/>
          <p:cNvSpPr>
            <a:spLocks noGrp="1"/>
          </p:cNvSpPr>
          <p:nvPr>
            <p:ph type="title" idx="4294967295"/>
          </p:nvPr>
        </p:nvSpPr>
        <p:spPr bwMode="auto">
          <a:xfrm>
            <a:off x="211138" y="174625"/>
            <a:ext cx="2430462" cy="41751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err="1">
                <a:latin typeface="Arial" pitchFamily="34" charset="0"/>
                <a:cs typeface="Arial" pitchFamily="34" charset="0"/>
              </a:rPr>
              <a:t>Mục</a:t>
            </a:r>
            <a:r>
              <a:rPr lang="en-US" altLang="ko-KR" sz="2000" b="1" dirty="0">
                <a:latin typeface="Arial" pitchFamily="34" charset="0"/>
                <a:cs typeface="Arial" pitchFamily="34" charset="0"/>
              </a:rPr>
              <a:t> </a:t>
            </a:r>
            <a:r>
              <a:rPr lang="en-US" altLang="ko-KR" sz="2000" b="1" dirty="0" err="1">
                <a:latin typeface="Arial" pitchFamily="34" charset="0"/>
                <a:cs typeface="Arial" pitchFamily="34" charset="0"/>
              </a:rPr>
              <a:t>tiêu</a:t>
            </a:r>
            <a:r>
              <a:rPr lang="en-US" altLang="ko-KR" sz="2000" b="1" dirty="0">
                <a:latin typeface="Arial" pitchFamily="34" charset="0"/>
                <a:cs typeface="Arial" pitchFamily="34" charset="0"/>
              </a:rPr>
              <a:t> </a:t>
            </a:r>
            <a:r>
              <a:rPr lang="en-US" altLang="ko-KR" sz="2000" b="1" dirty="0" err="1">
                <a:latin typeface="Arial" pitchFamily="34" charset="0"/>
                <a:cs typeface="Arial" pitchFamily="34" charset="0"/>
              </a:rPr>
              <a:t>khóa</a:t>
            </a:r>
            <a:r>
              <a:rPr lang="en-US" altLang="ko-KR" sz="2000" b="1" dirty="0">
                <a:latin typeface="Arial" pitchFamily="34" charset="0"/>
                <a:cs typeface="Arial" pitchFamily="34" charset="0"/>
              </a:rPr>
              <a:t> </a:t>
            </a:r>
            <a:r>
              <a:rPr lang="en-US" altLang="ko-KR" sz="2000" b="1" dirty="0" err="1">
                <a:latin typeface="Arial" pitchFamily="34" charset="0"/>
                <a:cs typeface="Arial" pitchFamily="34" charset="0"/>
              </a:rPr>
              <a:t>học</a:t>
            </a:r>
            <a:endParaRPr lang="ko-KR" altLang="en-US" sz="2000" b="1" dirty="0">
              <a:latin typeface="Arial" pitchFamily="34" charset="0"/>
              <a:cs typeface="Arial" pitchFamily="34" charset="0"/>
            </a:endParaRPr>
          </a:p>
        </p:txBody>
      </p:sp>
      <p:pic>
        <p:nvPicPr>
          <p:cNvPr id="5123"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896938" y="2128838"/>
            <a:ext cx="735012"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29"/>
          <p:cNvSpPr txBox="1"/>
          <p:nvPr/>
        </p:nvSpPr>
        <p:spPr>
          <a:xfrm>
            <a:off x="896938" y="2997200"/>
            <a:ext cx="8269287" cy="2308324"/>
          </a:xfrm>
          <a:prstGeom prst="rect">
            <a:avLst/>
          </a:prstGeom>
          <a:noFill/>
        </p:spPr>
        <p:txBody>
          <a:bodyPr wrap="square">
            <a:spAutoFit/>
          </a:bodyPr>
          <a:lstStyle/>
          <a:p>
            <a:pPr marL="266700" indent="-266700" fontAlgn="auto">
              <a:lnSpc>
                <a:spcPct val="150000"/>
              </a:lnSpc>
              <a:spcBef>
                <a:spcPts val="0"/>
              </a:spcBef>
              <a:spcAft>
                <a:spcPts val="0"/>
              </a:spcAft>
              <a:buClr>
                <a:schemeClr val="bg1">
                  <a:lumMod val="50000"/>
                </a:schemeClr>
              </a:buClr>
              <a:buFont typeface="Wingdings" pitchFamily="2" charset="2"/>
              <a:buChar char="u"/>
              <a:defRPr/>
            </a:pPr>
            <a:r>
              <a:rPr kumimoji="0" lang="en-US" altLang="ko-KR" sz="1600" b="1" dirty="0" err="1">
                <a:latin typeface="Arial" pitchFamily="34" charset="0"/>
                <a:ea typeface="맑은 고딕" panose="020B0503020000020004" pitchFamily="50" charset="-127"/>
                <a:cs typeface="Arial" pitchFamily="34" charset="0"/>
              </a:rPr>
              <a:t>Hiểu</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được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sự</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khác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biệt</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giữa</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quản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lý</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chất</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lượng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và</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cải</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tiến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chất</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lượng</a:t>
            </a:r>
            <a:r>
              <a:rPr kumimoji="0" lang="en-US" altLang="ko-KR" sz="1600" b="1" dirty="0">
                <a:latin typeface="Arial" pitchFamily="34" charset="0"/>
                <a:ea typeface="맑은 고딕" panose="020B0503020000020004" pitchFamily="50" charset="-127"/>
                <a:cs typeface="Arial" pitchFamily="34" charset="0"/>
              </a:rPr>
              <a:t>.</a:t>
            </a:r>
          </a:p>
          <a:p>
            <a:pPr marL="266700" indent="-266700" fontAlgn="auto">
              <a:lnSpc>
                <a:spcPct val="150000"/>
              </a:lnSpc>
              <a:spcBef>
                <a:spcPts val="0"/>
              </a:spcBef>
              <a:spcAft>
                <a:spcPts val="0"/>
              </a:spcAft>
              <a:buClr>
                <a:schemeClr val="bg1">
                  <a:lumMod val="50000"/>
                </a:schemeClr>
              </a:buClr>
              <a:buFont typeface="Wingdings" pitchFamily="2" charset="2"/>
              <a:buChar char="u"/>
              <a:defRPr/>
            </a:pPr>
            <a:r>
              <a:rPr kumimoji="0" lang="en-US" altLang="ko-KR" sz="1600" b="1" dirty="0" err="1">
                <a:latin typeface="Arial" pitchFamily="34" charset="0"/>
                <a:ea typeface="맑은 고딕" panose="020B0503020000020004" pitchFamily="50" charset="-127"/>
                <a:cs typeface="Arial" pitchFamily="34" charset="0"/>
              </a:rPr>
              <a:t>Nắm</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được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cách</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sử</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dụng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công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cụ</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cơ</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bản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trong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việc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quản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lý</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và</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cải</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tiến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chất</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lượng</a:t>
            </a:r>
            <a:r>
              <a:rPr kumimoji="0" lang="en-US" altLang="ko-KR" sz="1600" b="1" dirty="0">
                <a:latin typeface="Arial" pitchFamily="34" charset="0"/>
                <a:ea typeface="맑은 고딕" panose="020B0503020000020004" pitchFamily="50" charset="-127"/>
                <a:cs typeface="Arial" pitchFamily="34" charset="0"/>
              </a:rPr>
              <a:t>.</a:t>
            </a:r>
          </a:p>
          <a:p>
            <a:pPr marL="266700" indent="-266700" fontAlgn="auto">
              <a:lnSpc>
                <a:spcPct val="150000"/>
              </a:lnSpc>
              <a:spcBef>
                <a:spcPts val="0"/>
              </a:spcBef>
              <a:spcAft>
                <a:spcPts val="0"/>
              </a:spcAft>
              <a:buClr>
                <a:schemeClr val="bg1">
                  <a:lumMod val="50000"/>
                </a:schemeClr>
              </a:buClr>
              <a:buFont typeface="Wingdings" pitchFamily="2" charset="2"/>
              <a:buChar char="u"/>
              <a:defRPr/>
            </a:pPr>
            <a:r>
              <a:rPr kumimoji="0" lang="ko-KR" altLang="en-US"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Hiểu</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được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quá</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trình</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cải</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tiến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chất</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lượng</a:t>
            </a:r>
            <a:r>
              <a:rPr kumimoji="0" lang="en-US" altLang="ko-KR" sz="1600" b="1" dirty="0">
                <a:latin typeface="Arial" pitchFamily="34" charset="0"/>
                <a:ea typeface="맑은 고딕" panose="020B0503020000020004" pitchFamily="50" charset="-127"/>
                <a:cs typeface="Arial" pitchFamily="34" charset="0"/>
              </a:rPr>
              <a:t>.</a:t>
            </a:r>
            <a:endParaRPr kumimoji="0" lang="en-US" altLang="ko-KR" sz="700" b="1" dirty="0">
              <a:latin typeface="Arial" pitchFamily="34" charset="0"/>
              <a:ea typeface="맑은 고딕" panose="020B0503020000020004" pitchFamily="50" charset="-127"/>
              <a:cs typeface="Arial" pitchFamily="34" charset="0"/>
            </a:endParaRPr>
          </a:p>
          <a:p>
            <a:pPr marL="266700" indent="-266700" fontAlgn="auto">
              <a:lnSpc>
                <a:spcPct val="150000"/>
              </a:lnSpc>
              <a:spcBef>
                <a:spcPts val="0"/>
              </a:spcBef>
              <a:spcAft>
                <a:spcPts val="0"/>
              </a:spcAft>
              <a:buClr>
                <a:schemeClr val="bg1">
                  <a:lumMod val="50000"/>
                </a:schemeClr>
              </a:buClr>
              <a:defRPr/>
            </a:pPr>
            <a:r>
              <a:rPr kumimoji="0" lang="ko-KR" altLang="en-US"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Thông</a:t>
            </a:r>
            <a:r>
              <a:rPr kumimoji="0" lang="en-US" altLang="ko-KR" sz="1600" b="1" dirty="0">
                <a:latin typeface="Arial" pitchFamily="34" charset="0"/>
                <a:ea typeface="맑은 고딕" panose="020B0503020000020004" pitchFamily="50" charset="-127"/>
                <a:cs typeface="Arial" pitchFamily="34" charset="0"/>
              </a:rPr>
              <a:t> qua </a:t>
            </a:r>
            <a:r>
              <a:rPr kumimoji="0" lang="en-US" altLang="ko-KR" sz="1600" b="1" dirty="0" err="1">
                <a:latin typeface="Arial" pitchFamily="34" charset="0"/>
                <a:ea typeface="맑은 고딕" panose="020B0503020000020004" pitchFamily="50" charset="-127"/>
                <a:cs typeface="Arial" pitchFamily="34" charset="0"/>
              </a:rPr>
              <a:t>những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mục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tiêu</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trên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tiến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hành</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thực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hiện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việc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quản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lý</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và</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cải</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tiến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chất</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lượng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trên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cơ</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sở</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dữ</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liệu</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thu</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thập</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được</a:t>
            </a:r>
            <a:endParaRPr kumimoji="0" lang="ko-KR" altLang="en-US" sz="1600" b="1" dirty="0">
              <a:latin typeface="Arial" pitchFamily="34" charset="0"/>
              <a:ea typeface="맑은 고딕" panose="020B0503020000020004" pitchFamily="50" charset="-127"/>
              <a:cs typeface="Arial" pitchFamily="34" charset="0"/>
            </a:endParaRPr>
          </a:p>
        </p:txBody>
      </p:sp>
      <p:sp>
        <p:nvSpPr>
          <p:cNvPr id="5125" name="직사각형 30"/>
          <p:cNvSpPr>
            <a:spLocks noChangeArrowheads="1"/>
          </p:cNvSpPr>
          <p:nvPr/>
        </p:nvSpPr>
        <p:spPr bwMode="auto">
          <a:xfrm>
            <a:off x="1754188" y="2273300"/>
            <a:ext cx="631983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600" b="1" dirty="0" err="1">
                <a:solidFill>
                  <a:srgbClr val="000000"/>
                </a:solidFill>
                <a:latin typeface="Arial" pitchFamily="34" charset="0"/>
                <a:ea typeface="맑은 고딕" pitchFamily="50" charset="-127"/>
                <a:cs typeface="Arial" pitchFamily="34" charset="0"/>
              </a:rPr>
              <a:t>Mục</a:t>
            </a:r>
            <a:r>
              <a:rPr kumimoji="0" lang="en-US" altLang="ko-KR" sz="1600" b="1" dirty="0">
                <a:solidFill>
                  <a:srgbClr val="000000"/>
                </a:solidFill>
                <a:latin typeface="Arial" pitchFamily="34" charset="0"/>
                <a:ea typeface="맑은 고딕" pitchFamily="50" charset="-127"/>
                <a:cs typeface="Arial" pitchFamily="34" charset="0"/>
              </a:rPr>
              <a:t> </a:t>
            </a:r>
            <a:r>
              <a:rPr kumimoji="0" lang="en-US" altLang="ko-KR" sz="1600" b="1" dirty="0" err="1">
                <a:solidFill>
                  <a:srgbClr val="000000"/>
                </a:solidFill>
                <a:latin typeface="Arial" pitchFamily="34" charset="0"/>
                <a:ea typeface="맑은 고딕" pitchFamily="50" charset="-127"/>
                <a:cs typeface="Arial" pitchFamily="34" charset="0"/>
              </a:rPr>
              <a:t>tiêu</a:t>
            </a:r>
            <a:r>
              <a:rPr kumimoji="0" lang="en-US" altLang="ko-KR" sz="1600" b="1" dirty="0">
                <a:solidFill>
                  <a:srgbClr val="000000"/>
                </a:solidFill>
                <a:latin typeface="Arial" pitchFamily="34" charset="0"/>
                <a:ea typeface="맑은 고딕" pitchFamily="50" charset="-127"/>
                <a:cs typeface="Arial" pitchFamily="34" charset="0"/>
              </a:rPr>
              <a:t> </a:t>
            </a:r>
            <a:r>
              <a:rPr kumimoji="0" lang="en-US" altLang="ko-KR" sz="1600" b="1" dirty="0" err="1">
                <a:solidFill>
                  <a:srgbClr val="000000"/>
                </a:solidFill>
                <a:latin typeface="Arial" pitchFamily="34" charset="0"/>
                <a:ea typeface="맑은 고딕" pitchFamily="50" charset="-127"/>
                <a:cs typeface="Arial" pitchFamily="34" charset="0"/>
              </a:rPr>
              <a:t>của</a:t>
            </a:r>
            <a:r>
              <a:rPr kumimoji="0" lang="en-US" altLang="ko-KR" sz="1600" b="1" dirty="0">
                <a:solidFill>
                  <a:srgbClr val="000000"/>
                </a:solidFill>
                <a:latin typeface="Arial" pitchFamily="34" charset="0"/>
                <a:ea typeface="맑은 고딕" pitchFamily="50" charset="-127"/>
                <a:cs typeface="Arial" pitchFamily="34" charset="0"/>
              </a:rPr>
              <a:t> </a:t>
            </a:r>
            <a:r>
              <a:rPr kumimoji="0" lang="en-US" altLang="ko-KR" sz="1600" b="1" dirty="0" err="1">
                <a:solidFill>
                  <a:srgbClr val="000000"/>
                </a:solidFill>
                <a:latin typeface="Arial" pitchFamily="34" charset="0"/>
                <a:ea typeface="맑은 고딕" pitchFamily="50" charset="-127"/>
                <a:cs typeface="Arial" pitchFamily="34" charset="0"/>
              </a:rPr>
              <a:t>khóa</a:t>
            </a:r>
            <a:r>
              <a:rPr kumimoji="0" lang="en-US" altLang="ko-KR" sz="1600" b="1" dirty="0">
                <a:solidFill>
                  <a:srgbClr val="000000"/>
                </a:solidFill>
                <a:latin typeface="Arial" pitchFamily="34" charset="0"/>
                <a:ea typeface="맑은 고딕" pitchFamily="50" charset="-127"/>
                <a:cs typeface="Arial" pitchFamily="34" charset="0"/>
              </a:rPr>
              <a:t> </a:t>
            </a:r>
            <a:r>
              <a:rPr kumimoji="0" lang="en-US" altLang="ko-KR" sz="1600" b="1" dirty="0" err="1">
                <a:solidFill>
                  <a:srgbClr val="000000"/>
                </a:solidFill>
                <a:latin typeface="Arial" pitchFamily="34" charset="0"/>
                <a:ea typeface="맑은 고딕" pitchFamily="50" charset="-127"/>
                <a:cs typeface="Arial" pitchFamily="34" charset="0"/>
              </a:rPr>
              <a:t>học</a:t>
            </a:r>
            <a:r>
              <a:rPr kumimoji="0" lang="en-US" altLang="ko-KR" sz="1600" b="1" dirty="0">
                <a:solidFill>
                  <a:srgbClr val="000000"/>
                </a:solidFill>
                <a:latin typeface="Arial" pitchFamily="34" charset="0"/>
                <a:ea typeface="맑은 고딕" pitchFamily="50" charset="-127"/>
                <a:cs typeface="Arial" pitchFamily="34" charset="0"/>
              </a:rPr>
              <a:t> Quality Improvement Basic (QIB) </a:t>
            </a:r>
            <a:r>
              <a:rPr kumimoji="0" lang="en-US" altLang="ko-KR" sz="1600" b="1" dirty="0" err="1">
                <a:solidFill>
                  <a:srgbClr val="000000"/>
                </a:solidFill>
                <a:latin typeface="Arial" pitchFamily="34" charset="0"/>
                <a:ea typeface="맑은 고딕" pitchFamily="50" charset="-127"/>
                <a:cs typeface="Arial" pitchFamily="34" charset="0"/>
              </a:rPr>
              <a:t>là</a:t>
            </a:r>
            <a:r>
              <a:rPr kumimoji="0" lang="en-US" altLang="ko-KR" sz="1600" b="1" dirty="0">
                <a:solidFill>
                  <a:srgbClr val="000000"/>
                </a:solidFill>
                <a:latin typeface="Arial" pitchFamily="34" charset="0"/>
                <a:ea typeface="맑은 고딕" pitchFamily="50" charset="-127"/>
                <a:cs typeface="Arial" pitchFamily="34" charset="0"/>
              </a:rPr>
              <a:t>:</a:t>
            </a:r>
            <a:endParaRPr kumimoji="0" lang="ko-KR" altLang="en-US" sz="2000" b="1" dirty="0">
              <a:latin typeface="Arial" pitchFamily="34" charset="0"/>
              <a:ea typeface="맑은 고딕" pitchFamily="50" charset="-127"/>
              <a:cs typeface="Arial" pitchFamily="34" charset="0"/>
            </a:endParaRPr>
          </a:p>
        </p:txBody>
      </p:sp>
      <p:cxnSp>
        <p:nvCxnSpPr>
          <p:cNvPr id="33" name="직선 연결선 32"/>
          <p:cNvCxnSpPr/>
          <p:nvPr/>
        </p:nvCxnSpPr>
        <p:spPr>
          <a:xfrm>
            <a:off x="848544" y="2780928"/>
            <a:ext cx="7823200" cy="0"/>
          </a:xfrm>
          <a:prstGeom prst="line">
            <a:avLst/>
          </a:prstGeom>
          <a:ln>
            <a:solidFill>
              <a:schemeClr val="bg1">
                <a:lumMod val="5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35" name="모서리가 둥근 직사각형 34"/>
          <p:cNvSpPr/>
          <p:nvPr/>
        </p:nvSpPr>
        <p:spPr>
          <a:xfrm>
            <a:off x="661988" y="1844674"/>
            <a:ext cx="8755508" cy="3600549"/>
          </a:xfrm>
          <a:prstGeom prst="roundRect">
            <a:avLst>
              <a:gd name="adj" fmla="val 8852"/>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kumimoji="0" lang="ko-KR" altLang="en-US"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344600698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p:cNvSpPr/>
          <p:nvPr/>
        </p:nvSpPr>
        <p:spPr>
          <a:xfrm>
            <a:off x="0" y="549275"/>
            <a:ext cx="9906000" cy="2873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kumimoji="0" lang="ko-KR" altLang="en-US" dirty="0">
              <a:latin typeface="Arial" pitchFamily="34" charset="0"/>
              <a:cs typeface="Arial" pitchFamily="34" charset="0"/>
            </a:endParaRPr>
          </a:p>
        </p:txBody>
      </p:sp>
      <p:sp>
        <p:nvSpPr>
          <p:cNvPr id="7171" name="제목 5"/>
          <p:cNvSpPr>
            <a:spLocks noGrp="1"/>
          </p:cNvSpPr>
          <p:nvPr>
            <p:ph type="title" idx="4294967295"/>
          </p:nvPr>
        </p:nvSpPr>
        <p:spPr bwMode="auto">
          <a:xfrm>
            <a:off x="1424608" y="1844824"/>
            <a:ext cx="7129462" cy="864096"/>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ash"/>
                <a:miter lim="800000"/>
                <a:headEnd/>
                <a:tailEnd/>
              </a14:hiddenLine>
            </a:ext>
          </a:extLst>
        </p:spPr>
        <p:txBody>
          <a:bodyPr anchor="ctr"/>
          <a:lstStyle/>
          <a:p>
            <a:pPr eaLnBrk="1" hangingPunct="1"/>
            <a:r>
              <a:rPr lang="en-US" altLang="ko-KR" sz="3600" b="1" dirty="0">
                <a:solidFill>
                  <a:srgbClr val="C5003D"/>
                </a:solidFill>
                <a:latin typeface="Arial" pitchFamily="34" charset="0"/>
                <a:cs typeface="Arial" pitchFamily="34" charset="0"/>
              </a:rPr>
              <a:t>M1. </a:t>
            </a:r>
            <a:r>
              <a:rPr lang="en-US" altLang="ko-KR" sz="3600" b="1" dirty="0" err="1">
                <a:solidFill>
                  <a:srgbClr val="C5003D"/>
                </a:solidFill>
                <a:latin typeface="Arial" pitchFamily="34" charset="0"/>
                <a:cs typeface="Arial" pitchFamily="34" charset="0"/>
              </a:rPr>
              <a:t>Giới</a:t>
            </a:r>
            <a:r>
              <a:rPr lang="en-US" altLang="ko-KR" sz="3600" b="1" dirty="0">
                <a:solidFill>
                  <a:srgbClr val="C5003D"/>
                </a:solidFill>
                <a:latin typeface="Arial" pitchFamily="34" charset="0"/>
                <a:cs typeface="Arial" pitchFamily="34" charset="0"/>
              </a:rPr>
              <a:t> </a:t>
            </a:r>
            <a:r>
              <a:rPr lang="en-US" altLang="ko-KR" sz="3600" b="1" dirty="0" err="1">
                <a:solidFill>
                  <a:srgbClr val="C5003D"/>
                </a:solidFill>
                <a:latin typeface="Arial" pitchFamily="34" charset="0"/>
                <a:cs typeface="Arial" pitchFamily="34" charset="0"/>
              </a:rPr>
              <a:t>thiệu</a:t>
            </a:r>
            <a:endParaRPr lang="ko-KR" altLang="en-US" sz="3200" b="1" dirty="0">
              <a:solidFill>
                <a:srgbClr val="C5003D"/>
              </a:solidFill>
              <a:latin typeface="Arial" pitchFamily="34" charset="0"/>
              <a:cs typeface="Arial" pitchFamily="34" charset="0"/>
            </a:endParaRPr>
          </a:p>
        </p:txBody>
      </p:sp>
      <p:sp>
        <p:nvSpPr>
          <p:cNvPr id="7" name="직사각형 6"/>
          <p:cNvSpPr/>
          <p:nvPr/>
        </p:nvSpPr>
        <p:spPr>
          <a:xfrm>
            <a:off x="2356773" y="3212976"/>
            <a:ext cx="6124619" cy="2486835"/>
          </a:xfrm>
          <a:prstGeom prst="rect">
            <a:avLst/>
          </a:prstGeom>
        </p:spPr>
        <p:txBody>
          <a:bodyPr wrap="square">
            <a:spAutoFit/>
          </a:bodyPr>
          <a:lstStyle/>
          <a:p>
            <a:pPr fontAlgn="auto">
              <a:lnSpc>
                <a:spcPct val="130000"/>
              </a:lnSpc>
              <a:spcBef>
                <a:spcPts val="200"/>
              </a:spcBef>
              <a:spcAft>
                <a:spcPts val="0"/>
              </a:spcAft>
              <a:defRPr/>
            </a:pP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(1) </a:t>
            </a:r>
            <a:r>
              <a:rPr kumimoji="0" lang="vi-VN"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Khái niệm về chất lượng</a:t>
            </a:r>
            <a:endParaRPr kumimoji="0" lang="ko-KR" altLang="en-US" sz="1600"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(2)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Định</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nghĩa</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về</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1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số</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thuật</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ngữ</a:t>
            </a:r>
            <a:endParaRPr kumimoji="0" lang="ko-KR" altLang="en-US" sz="1600"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(3) </a:t>
            </a:r>
            <a:r>
              <a:rPr kumimoji="0" lang="vi-VN"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Phương sai: các yếu tố gây ra các vấn đề chất lượng</a:t>
            </a:r>
            <a:endPar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(4)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Phương</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sai</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và</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nguyên</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nhân</a:t>
            </a:r>
            <a:endPar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(5)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Quản</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lý</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chất</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lượng</a:t>
            </a:r>
            <a:endPar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(6)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Cải</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tiến</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chất</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lượng</a:t>
            </a:r>
            <a:endPar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(7)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Công</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cụ</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để</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quản</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lý</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và</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cải</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tiến</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chất</a:t>
            </a:r>
            <a:r>
              <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sz="1600" b="1" dirty="0" err="1">
                <a:solidFill>
                  <a:schemeClr val="tx1">
                    <a:lumMod val="75000"/>
                    <a:lumOff val="25000"/>
                  </a:schemeClr>
                </a:solidFill>
                <a:latin typeface="Arial" pitchFamily="34" charset="0"/>
                <a:ea typeface="맑은 고딕" panose="020B0503020000020004" pitchFamily="50" charset="-127"/>
                <a:cs typeface="Arial" pitchFamily="34" charset="0"/>
              </a:rPr>
              <a:t>lượng</a:t>
            </a:r>
            <a:endParaRPr kumimoji="0" lang="en-US" altLang="ko-KR" sz="1600" b="1" dirty="0">
              <a:solidFill>
                <a:schemeClr val="tx1">
                  <a:lumMod val="75000"/>
                  <a:lumOff val="25000"/>
                </a:schemeClr>
              </a:solidFill>
              <a:latin typeface="Arial" pitchFamily="34" charset="0"/>
              <a:ea typeface="맑은 고딕" panose="020B0503020000020004" pitchFamily="50" charset="-127"/>
              <a:cs typeface="Arial" pitchFamily="34" charset="0"/>
            </a:endParaRPr>
          </a:p>
        </p:txBody>
      </p:sp>
      <p:cxnSp>
        <p:nvCxnSpPr>
          <p:cNvPr id="8" name="직선 연결선 7"/>
          <p:cNvCxnSpPr/>
          <p:nvPr/>
        </p:nvCxnSpPr>
        <p:spPr>
          <a:xfrm>
            <a:off x="2360613" y="2851150"/>
            <a:ext cx="5227637"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360613" y="6021388"/>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2360613" y="2924175"/>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10</a:t>
            </a:fld>
            <a:endParaRPr lang="ko-KR" altLang="en-US" dirty="0">
              <a:latin typeface="Arial" pitchFamily="34" charset="0"/>
              <a:cs typeface="Arial" pitchFamily="34" charset="0"/>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7"/>
          <p:cNvSpPr>
            <a:spLocks noChangeArrowheads="1"/>
          </p:cNvSpPr>
          <p:nvPr/>
        </p:nvSpPr>
        <p:spPr bwMode="auto">
          <a:xfrm>
            <a:off x="69850" y="185708"/>
            <a:ext cx="35429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Khái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niệm</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về</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chất</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lượng</a:t>
            </a:r>
            <a:endParaRPr lang="ko-KR" altLang="en-US" sz="2000" b="1" dirty="0">
              <a:latin typeface="Arial" pitchFamily="34" charset="0"/>
              <a:ea typeface="맑은 고딕" pitchFamily="50" charset="-127"/>
              <a:cs typeface="Arial" pitchFamily="34" charset="0"/>
            </a:endParaRPr>
          </a:p>
        </p:txBody>
      </p:sp>
      <p:grpSp>
        <p:nvGrpSpPr>
          <p:cNvPr id="8195" name="Group 44"/>
          <p:cNvGrpSpPr>
            <a:grpSpLocks/>
          </p:cNvGrpSpPr>
          <p:nvPr/>
        </p:nvGrpSpPr>
        <p:grpSpPr bwMode="auto">
          <a:xfrm>
            <a:off x="1208088" y="1681163"/>
            <a:ext cx="1079500" cy="4286250"/>
            <a:chOff x="1215" y="1431"/>
            <a:chExt cx="683" cy="2383"/>
          </a:xfrm>
        </p:grpSpPr>
        <p:pic>
          <p:nvPicPr>
            <p:cNvPr id="8203" name="Picture 24"/>
            <p:cNvPicPr preferRelativeResize="0">
              <a:picLocks noChangeArrowheads="1"/>
            </p:cNvPicPr>
            <p:nvPr/>
          </p:nvPicPr>
          <p:blipFill>
            <a:blip r:embed="rId6" cstate="print">
              <a:extLst>
                <a:ext uri="{28A0092B-C50C-407E-A947-70E740481C1C}">
                  <a14:useLocalDpi xmlns:a14="http://schemas.microsoft.com/office/drawing/2010/main"/>
                </a:ext>
              </a:extLst>
            </a:blip>
            <a:srcRect/>
            <a:stretch>
              <a:fillRect/>
            </a:stretch>
          </p:blipFill>
          <p:spPr bwMode="auto">
            <a:xfrm>
              <a:off x="1215" y="1431"/>
              <a:ext cx="683" cy="594"/>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pic>
        <p:pic>
          <p:nvPicPr>
            <p:cNvPr id="8204" name="Picture 25"/>
            <p:cNvPicPr preferRelativeResize="0">
              <a:picLocks noChangeArrowheads="1"/>
            </p:cNvPicPr>
            <p:nvPr/>
          </p:nvPicPr>
          <p:blipFill>
            <a:blip r:embed="rId7" cstate="print">
              <a:extLst>
                <a:ext uri="{28A0092B-C50C-407E-A947-70E740481C1C}">
                  <a14:useLocalDpi xmlns:a14="http://schemas.microsoft.com/office/drawing/2010/main"/>
                </a:ext>
              </a:extLst>
            </a:blip>
            <a:srcRect/>
            <a:stretch>
              <a:fillRect/>
            </a:stretch>
          </p:blipFill>
          <p:spPr bwMode="auto">
            <a:xfrm>
              <a:off x="1215" y="2259"/>
              <a:ext cx="683" cy="594"/>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pic>
        <p:pic>
          <p:nvPicPr>
            <p:cNvPr id="8205" name="Picture 27"/>
            <p:cNvPicPr preferRelativeResize="0">
              <a:picLocks noChangeArrowheads="1"/>
            </p:cNvPicPr>
            <p:nvPr/>
          </p:nvPicPr>
          <p:blipFill>
            <a:blip r:embed="rId8" cstate="print">
              <a:extLst>
                <a:ext uri="{28A0092B-C50C-407E-A947-70E740481C1C}">
                  <a14:useLocalDpi xmlns:a14="http://schemas.microsoft.com/office/drawing/2010/main"/>
                </a:ext>
              </a:extLst>
            </a:blip>
            <a:srcRect/>
            <a:stretch>
              <a:fillRect/>
            </a:stretch>
          </p:blipFill>
          <p:spPr bwMode="auto">
            <a:xfrm>
              <a:off x="1215" y="3088"/>
              <a:ext cx="683" cy="594"/>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pic>
        <p:sp>
          <p:nvSpPr>
            <p:cNvPr id="8206" name="Text Box 28"/>
            <p:cNvSpPr txBox="1">
              <a:spLocks noChangeArrowheads="1"/>
            </p:cNvSpPr>
            <p:nvPr/>
          </p:nvSpPr>
          <p:spPr bwMode="auto">
            <a:xfrm>
              <a:off x="1391" y="2068"/>
              <a:ext cx="333" cy="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100" b="1" dirty="0">
                  <a:latin typeface="Arial" pitchFamily="34" charset="0"/>
                  <a:ea typeface="맑은 고딕" pitchFamily="50" charset="-127"/>
                  <a:cs typeface="Arial" pitchFamily="34" charset="0"/>
                </a:rPr>
                <a:t>Deming</a:t>
              </a:r>
              <a:endParaRPr lang="ko-KR" altLang="en-US" sz="1100" b="1" dirty="0">
                <a:latin typeface="Arial" pitchFamily="34" charset="0"/>
                <a:ea typeface="맑은 고딕" pitchFamily="50" charset="-127"/>
                <a:cs typeface="Arial" pitchFamily="34" charset="0"/>
              </a:endParaRPr>
            </a:p>
          </p:txBody>
        </p:sp>
        <p:sp>
          <p:nvSpPr>
            <p:cNvPr id="8207" name="Text Box 29"/>
            <p:cNvSpPr txBox="1">
              <a:spLocks noChangeArrowheads="1"/>
            </p:cNvSpPr>
            <p:nvPr/>
          </p:nvSpPr>
          <p:spPr bwMode="auto">
            <a:xfrm>
              <a:off x="1439" y="2896"/>
              <a:ext cx="243" cy="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100" b="1" dirty="0">
                  <a:latin typeface="Arial" pitchFamily="34" charset="0"/>
                  <a:ea typeface="맑은 고딕" pitchFamily="50" charset="-127"/>
                  <a:cs typeface="Arial" pitchFamily="34" charset="0"/>
                </a:rPr>
                <a:t>Juran</a:t>
              </a:r>
              <a:endParaRPr lang="ko-KR" altLang="en-US" sz="1100" b="1" dirty="0">
                <a:latin typeface="Arial" pitchFamily="34" charset="0"/>
                <a:ea typeface="맑은 고딕" pitchFamily="50" charset="-127"/>
                <a:cs typeface="Arial" pitchFamily="34" charset="0"/>
              </a:endParaRPr>
            </a:p>
          </p:txBody>
        </p:sp>
        <p:sp>
          <p:nvSpPr>
            <p:cNvPr id="8208" name="Text Box 30"/>
            <p:cNvSpPr txBox="1">
              <a:spLocks noChangeArrowheads="1"/>
            </p:cNvSpPr>
            <p:nvPr/>
          </p:nvSpPr>
          <p:spPr bwMode="auto">
            <a:xfrm>
              <a:off x="1411" y="3720"/>
              <a:ext cx="308" cy="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100" b="1" dirty="0">
                  <a:latin typeface="Arial" pitchFamily="34" charset="0"/>
                  <a:ea typeface="맑은 고딕" pitchFamily="50" charset="-127"/>
                  <a:cs typeface="Arial" pitchFamily="34" charset="0"/>
                </a:rPr>
                <a:t>Crosby</a:t>
              </a:r>
              <a:endParaRPr lang="ko-KR" altLang="en-US" sz="1100" b="1" dirty="0">
                <a:latin typeface="Arial" pitchFamily="34" charset="0"/>
                <a:ea typeface="맑은 고딕" pitchFamily="50" charset="-127"/>
                <a:cs typeface="Arial" pitchFamily="34" charset="0"/>
              </a:endParaRPr>
            </a:p>
          </p:txBody>
        </p:sp>
      </p:grpSp>
      <p:sp>
        <p:nvSpPr>
          <p:cNvPr id="8196" name="Text Box 32"/>
          <p:cNvSpPr txBox="1">
            <a:spLocks noChangeArrowheads="1"/>
          </p:cNvSpPr>
          <p:nvPr>
            <p:custDataLst>
              <p:tags r:id="rId1"/>
            </p:custDataLst>
          </p:nvPr>
        </p:nvSpPr>
        <p:spPr bwMode="auto">
          <a:xfrm>
            <a:off x="2463800" y="1720850"/>
            <a:ext cx="4607030" cy="1120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80000"/>
              </a:lnSpc>
              <a:spcBef>
                <a:spcPct val="50000"/>
              </a:spcBef>
              <a:buSzPct val="90000"/>
              <a:buFont typeface="Wingdings" pitchFamily="2" charset="2"/>
              <a:buChar char="q"/>
            </a:pPr>
            <a:r>
              <a:rPr lang="en-US" altLang="ko-KR" sz="1300" b="1" dirty="0">
                <a:solidFill>
                  <a:srgbClr val="000000"/>
                </a:solidFill>
                <a:latin typeface="Arial" pitchFamily="34" charset="0"/>
                <a:ea typeface="맑은 고딕" pitchFamily="50" charset="-127"/>
                <a:cs typeface="Arial" pitchFamily="34" charset="0"/>
              </a:rPr>
              <a:t> </a:t>
            </a:r>
            <a:r>
              <a:rPr lang="vi-VN" altLang="ko-KR" sz="1300" b="1" dirty="0">
                <a:solidFill>
                  <a:srgbClr val="000000"/>
                </a:solidFill>
                <a:latin typeface="Arial" pitchFamily="34" charset="0"/>
                <a:ea typeface="맑은 고딕" pitchFamily="50" charset="-127"/>
                <a:cs typeface="Arial" pitchFamily="34" charset="0"/>
              </a:rPr>
              <a:t>Kiểm soát chất lượng dựa trên thống kê</a:t>
            </a:r>
            <a:endParaRPr lang="ko-KR" altLang="en-US" sz="1300" b="1" dirty="0">
              <a:solidFill>
                <a:srgbClr val="000000"/>
              </a:solidFill>
              <a:latin typeface="Arial" pitchFamily="34" charset="0"/>
              <a:ea typeface="맑은 고딕" pitchFamily="50" charset="-127"/>
              <a:cs typeface="Arial" pitchFamily="34" charset="0"/>
            </a:endParaRPr>
          </a:p>
          <a:p>
            <a:pPr eaLnBrk="1" hangingPunct="1">
              <a:lnSpc>
                <a:spcPct val="80000"/>
              </a:lnSpc>
              <a:spcBef>
                <a:spcPct val="50000"/>
              </a:spcBef>
              <a:buSzPct val="90000"/>
              <a:buFont typeface="Wingdings" pitchFamily="2" charset="2"/>
              <a:buChar char="q"/>
            </a:pPr>
            <a:r>
              <a:rPr lang="en-US" altLang="ko-KR" sz="1300" b="1" dirty="0">
                <a:solidFill>
                  <a:srgbClr val="000000"/>
                </a:solidFill>
                <a:latin typeface="Arial" pitchFamily="34" charset="0"/>
                <a:ea typeface="맑은 고딕" pitchFamily="50" charset="-127"/>
                <a:cs typeface="Arial" pitchFamily="34" charset="0"/>
              </a:rPr>
              <a:t> </a:t>
            </a:r>
            <a:r>
              <a:rPr lang="vi-VN" altLang="ko-KR" sz="1300" b="1" dirty="0">
                <a:solidFill>
                  <a:srgbClr val="000000"/>
                </a:solidFill>
                <a:latin typeface="Arial" pitchFamily="34" charset="0"/>
                <a:ea typeface="맑은 고딕" pitchFamily="50" charset="-127"/>
                <a:cs typeface="Arial" pitchFamily="34" charset="0"/>
              </a:rPr>
              <a:t>Chu trình kiểm soát chất lượng của Deming</a:t>
            </a:r>
            <a:endParaRPr lang="en-US" altLang="ko-KR" sz="1300" b="1" dirty="0">
              <a:solidFill>
                <a:srgbClr val="000000"/>
              </a:solidFill>
              <a:latin typeface="Arial" pitchFamily="34" charset="0"/>
              <a:ea typeface="맑은 고딕" pitchFamily="50" charset="-127"/>
              <a:cs typeface="Arial" pitchFamily="34" charset="0"/>
            </a:endParaRPr>
          </a:p>
          <a:p>
            <a:pPr eaLnBrk="1" hangingPunct="1">
              <a:lnSpc>
                <a:spcPct val="80000"/>
              </a:lnSpc>
              <a:spcBef>
                <a:spcPct val="50000"/>
              </a:spcBef>
              <a:buSzPct val="90000"/>
              <a:buFont typeface="Wingdings" pitchFamily="2" charset="2"/>
              <a:buNone/>
            </a:pPr>
            <a:endParaRPr lang="en-US" altLang="ko-KR" sz="1300" b="1" dirty="0">
              <a:solidFill>
                <a:srgbClr val="000000"/>
              </a:solidFill>
              <a:latin typeface="Arial" pitchFamily="34" charset="0"/>
              <a:ea typeface="맑은 고딕" pitchFamily="50" charset="-127"/>
              <a:cs typeface="Arial" pitchFamily="34" charset="0"/>
            </a:endParaRPr>
          </a:p>
          <a:p>
            <a:pPr eaLnBrk="1" hangingPunct="1">
              <a:lnSpc>
                <a:spcPct val="80000"/>
              </a:lnSpc>
              <a:spcBef>
                <a:spcPct val="50000"/>
              </a:spcBef>
              <a:buSzPct val="90000"/>
              <a:buFont typeface="Wingdings" pitchFamily="2" charset="2"/>
              <a:buNone/>
            </a:pPr>
            <a:r>
              <a:rPr lang="en-US" sz="1300" b="1" dirty="0">
                <a:solidFill>
                  <a:srgbClr val="000000"/>
                </a:solidFill>
                <a:latin typeface="Arial" pitchFamily="34" charset="0"/>
                <a:ea typeface="맑은 고딕" pitchFamily="50" charset="-127"/>
                <a:cs typeface="Arial" pitchFamily="34" charset="0"/>
              </a:rPr>
              <a:t>“</a:t>
            </a:r>
            <a:r>
              <a:rPr lang="vi-VN" sz="1400" dirty="0">
                <a:latin typeface="Arial" pitchFamily="34" charset="0"/>
                <a:cs typeface="Arial" pitchFamily="34" charset="0"/>
              </a:rPr>
              <a:t> </a:t>
            </a:r>
            <a:r>
              <a:rPr lang="vi-VN" altLang="ko-KR" sz="1300" b="1" dirty="0">
                <a:solidFill>
                  <a:srgbClr val="000000"/>
                </a:solidFill>
                <a:latin typeface="Arial" pitchFamily="34" charset="0"/>
                <a:ea typeface="맑은 고딕" pitchFamily="50" charset="-127"/>
                <a:cs typeface="Arial" pitchFamily="34" charset="0"/>
              </a:rPr>
              <a:t>Chất lượng là một đặc tính toàn diện của sản phẩm</a:t>
            </a:r>
            <a:br>
              <a:rPr lang="vi-VN" altLang="ko-KR" sz="1300" b="1" dirty="0">
                <a:solidFill>
                  <a:srgbClr val="000000"/>
                </a:solidFill>
                <a:latin typeface="Arial" pitchFamily="34" charset="0"/>
                <a:ea typeface="맑은 고딕" pitchFamily="50" charset="-127"/>
                <a:cs typeface="Arial" pitchFamily="34" charset="0"/>
              </a:rPr>
            </a:br>
            <a:r>
              <a:rPr lang="vi-VN" altLang="ko-KR" sz="1300" b="1" dirty="0">
                <a:solidFill>
                  <a:srgbClr val="000000"/>
                </a:solidFill>
                <a:latin typeface="Arial" pitchFamily="34" charset="0"/>
                <a:ea typeface="맑은 고딕" pitchFamily="50" charset="-127"/>
                <a:cs typeface="Arial" pitchFamily="34" charset="0"/>
              </a:rPr>
              <a:t>đại diện cho mức độ đáp ứng</a:t>
            </a:r>
            <a:r>
              <a:rPr lang="en-US" altLang="ko-KR" sz="1300" b="1" dirty="0">
                <a:solidFill>
                  <a:srgbClr val="000000"/>
                </a:solidFill>
                <a:latin typeface="Arial" pitchFamily="34" charset="0"/>
                <a:ea typeface="맑은 고딕" pitchFamily="50" charset="-127"/>
                <a:cs typeface="Arial" pitchFamily="34" charset="0"/>
              </a:rPr>
              <a:t> </a:t>
            </a:r>
            <a:r>
              <a:rPr lang="vi-VN" altLang="ko-KR" sz="1300" b="1" dirty="0">
                <a:solidFill>
                  <a:srgbClr val="000000"/>
                </a:solidFill>
                <a:latin typeface="Arial" pitchFamily="34" charset="0"/>
                <a:ea typeface="맑은 고딕" pitchFamily="50" charset="-127"/>
                <a:cs typeface="Arial" pitchFamily="34" charset="0"/>
              </a:rPr>
              <a:t>mong đợi của khách hàng </a:t>
            </a:r>
            <a:r>
              <a:rPr lang="en-US" altLang="ko-KR" sz="1300" b="1" dirty="0">
                <a:solidFill>
                  <a:srgbClr val="000000"/>
                </a:solidFill>
                <a:latin typeface="Arial" pitchFamily="34" charset="0"/>
                <a:ea typeface="맑은 고딕" pitchFamily="50" charset="-127"/>
                <a:cs typeface="Arial" pitchFamily="34" charset="0"/>
              </a:rPr>
              <a:t>“</a:t>
            </a:r>
          </a:p>
        </p:txBody>
      </p:sp>
      <p:sp>
        <p:nvSpPr>
          <p:cNvPr id="8197" name="Text Box 33"/>
          <p:cNvSpPr txBox="1">
            <a:spLocks noChangeArrowheads="1"/>
          </p:cNvSpPr>
          <p:nvPr>
            <p:custDataLst>
              <p:tags r:id="rId2"/>
            </p:custDataLst>
          </p:nvPr>
        </p:nvSpPr>
        <p:spPr bwMode="auto">
          <a:xfrm>
            <a:off x="2463800" y="3484563"/>
            <a:ext cx="3864841" cy="32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80000"/>
              </a:lnSpc>
              <a:spcBef>
                <a:spcPct val="50000"/>
              </a:spcBef>
              <a:buSzPct val="90000"/>
              <a:buFont typeface="Wingdings" pitchFamily="2" charset="2"/>
              <a:buChar char="q"/>
            </a:pPr>
            <a:r>
              <a:rPr lang="ko-KR" altLang="en-US" sz="1300" b="1" dirty="0">
                <a:solidFill>
                  <a:srgbClr val="000000"/>
                </a:solidFill>
                <a:latin typeface="Arial" pitchFamily="34" charset="0"/>
                <a:ea typeface="맑은 고딕" pitchFamily="50" charset="-127"/>
                <a:cs typeface="Arial" pitchFamily="34" charset="0"/>
              </a:rPr>
              <a:t> </a:t>
            </a:r>
            <a:r>
              <a:rPr lang="vi-VN" altLang="ko-KR" sz="1300" b="1" dirty="0">
                <a:solidFill>
                  <a:srgbClr val="000000"/>
                </a:solidFill>
                <a:latin typeface="Arial" pitchFamily="34" charset="0"/>
                <a:ea typeface="맑은 고딕" pitchFamily="50" charset="-127"/>
                <a:cs typeface="Arial" pitchFamily="34" charset="0"/>
              </a:rPr>
              <a:t>Sổ tay Quản lý chất lượng</a:t>
            </a:r>
            <a:br>
              <a:rPr lang="vi-VN" altLang="ko-KR" sz="1300" b="1" dirty="0">
                <a:solidFill>
                  <a:srgbClr val="000000"/>
                </a:solidFill>
                <a:latin typeface="Arial" pitchFamily="34" charset="0"/>
                <a:ea typeface="맑은 고딕" pitchFamily="50" charset="-127"/>
                <a:cs typeface="Arial" pitchFamily="34" charset="0"/>
              </a:rPr>
            </a:br>
            <a:r>
              <a:rPr lang="vi-VN" altLang="ko-KR" sz="1300" b="1" dirty="0">
                <a:solidFill>
                  <a:srgbClr val="000000"/>
                </a:solidFill>
                <a:latin typeface="Arial" pitchFamily="34" charset="0"/>
                <a:ea typeface="맑은 고딕" pitchFamily="50" charset="-127"/>
                <a:cs typeface="Arial" pitchFamily="34" charset="0"/>
              </a:rPr>
              <a:t>   "Chất lượng là sự phù hợp </a:t>
            </a:r>
            <a:r>
              <a:rPr lang="en-US" altLang="ko-KR" sz="1300" b="1" dirty="0" err="1">
                <a:solidFill>
                  <a:srgbClr val="000000"/>
                </a:solidFill>
                <a:latin typeface="Arial" pitchFamily="34" charset="0"/>
                <a:ea typeface="맑은 고딕" pitchFamily="50" charset="-127"/>
                <a:cs typeface="Arial" pitchFamily="34" charset="0"/>
              </a:rPr>
              <a:t>với</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việc</a:t>
            </a:r>
            <a:r>
              <a:rPr lang="en-US" altLang="ko-KR" sz="1300" b="1" dirty="0">
                <a:solidFill>
                  <a:srgbClr val="000000"/>
                </a:solidFill>
                <a:latin typeface="Arial" pitchFamily="34" charset="0"/>
                <a:ea typeface="맑은 고딕" pitchFamily="50" charset="-127"/>
                <a:cs typeface="Arial" pitchFamily="34" charset="0"/>
              </a:rPr>
              <a:t> </a:t>
            </a:r>
            <a:r>
              <a:rPr lang="vi-VN" altLang="ko-KR" sz="1300" b="1" dirty="0">
                <a:solidFill>
                  <a:srgbClr val="000000"/>
                </a:solidFill>
                <a:latin typeface="Arial" pitchFamily="34" charset="0"/>
                <a:ea typeface="맑은 고딕" pitchFamily="50" charset="-127"/>
                <a:cs typeface="Arial" pitchFamily="34" charset="0"/>
              </a:rPr>
              <a:t>sử dụng"</a:t>
            </a:r>
            <a:endParaRPr lang="en-US" altLang="ko-KR" sz="1300" b="1" dirty="0">
              <a:solidFill>
                <a:srgbClr val="000000"/>
              </a:solidFill>
              <a:latin typeface="Arial" pitchFamily="34" charset="0"/>
              <a:ea typeface="맑은 고딕" pitchFamily="50" charset="-127"/>
              <a:cs typeface="Arial" pitchFamily="34" charset="0"/>
            </a:endParaRPr>
          </a:p>
        </p:txBody>
      </p:sp>
      <p:sp>
        <p:nvSpPr>
          <p:cNvPr id="8198" name="Text Box 34"/>
          <p:cNvSpPr txBox="1">
            <a:spLocks noChangeArrowheads="1"/>
          </p:cNvSpPr>
          <p:nvPr>
            <p:custDataLst>
              <p:tags r:id="rId3"/>
            </p:custDataLst>
          </p:nvPr>
        </p:nvSpPr>
        <p:spPr bwMode="auto">
          <a:xfrm>
            <a:off x="2463800" y="4949825"/>
            <a:ext cx="4937472" cy="580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80000"/>
              </a:lnSpc>
              <a:spcBef>
                <a:spcPct val="50000"/>
              </a:spcBef>
              <a:buSzPct val="90000"/>
              <a:buFont typeface="Wingdings" pitchFamily="2" charset="2"/>
              <a:buChar char="q"/>
            </a:pP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Chiến</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dịch</a:t>
            </a:r>
            <a:r>
              <a:rPr lang="ko-KR" altLang="en-US" sz="1300" b="1" dirty="0">
                <a:solidFill>
                  <a:srgbClr val="000000"/>
                </a:solidFill>
                <a:latin typeface="Arial" pitchFamily="34" charset="0"/>
                <a:ea typeface="맑은 고딕" pitchFamily="50" charset="-127"/>
                <a:cs typeface="Arial" pitchFamily="34" charset="0"/>
              </a:rPr>
              <a:t> </a:t>
            </a:r>
            <a:r>
              <a:rPr lang="en-US" altLang="ko-KR" sz="1300" b="1" dirty="0">
                <a:solidFill>
                  <a:srgbClr val="000000"/>
                </a:solidFill>
                <a:latin typeface="Arial" pitchFamily="34" charset="0"/>
                <a:ea typeface="맑은 고딕" pitchFamily="50" charset="-127"/>
                <a:cs typeface="Arial" pitchFamily="34" charset="0"/>
              </a:rPr>
              <a:t>Zero Defect</a:t>
            </a:r>
          </a:p>
          <a:p>
            <a:pPr eaLnBrk="1" hangingPunct="1">
              <a:lnSpc>
                <a:spcPct val="80000"/>
              </a:lnSpc>
              <a:spcBef>
                <a:spcPct val="50000"/>
              </a:spcBef>
              <a:buSzPct val="90000"/>
              <a:buFont typeface="Wingdings" pitchFamily="2" charset="2"/>
              <a:buNone/>
            </a:pP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Chất</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lượng</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được</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xác</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định</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bằng</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sự</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phù</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hợp</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với</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nhu</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cầu</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không</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phải</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những</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cái</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tốt</a:t>
            </a:r>
            <a:r>
              <a:rPr lang="en-US" altLang="ko-KR" sz="1300" b="1" dirty="0">
                <a:solidFill>
                  <a:srgbClr val="000000"/>
                </a:solidFill>
                <a:latin typeface="Arial" pitchFamily="34" charset="0"/>
                <a:ea typeface="맑은 고딕" pitchFamily="50" charset="-127"/>
                <a:cs typeface="Arial" pitchFamily="34" charset="0"/>
              </a:rPr>
              <a:t>”, hay “</a:t>
            </a:r>
            <a:r>
              <a:rPr lang="en-US" altLang="ko-KR" sz="1300" b="1" dirty="0" err="1">
                <a:solidFill>
                  <a:srgbClr val="000000"/>
                </a:solidFill>
                <a:latin typeface="Arial" pitchFamily="34" charset="0"/>
                <a:ea typeface="맑은 고딕" pitchFamily="50" charset="-127"/>
                <a:cs typeface="Arial" pitchFamily="34" charset="0"/>
              </a:rPr>
              <a:t>cái</a:t>
            </a:r>
            <a:r>
              <a:rPr lang="en-US" altLang="ko-KR" sz="1300" b="1" dirty="0">
                <a:solidFill>
                  <a:srgbClr val="000000"/>
                </a:solidFill>
                <a:latin typeface="Arial" pitchFamily="34" charset="0"/>
                <a:ea typeface="맑은 고딕" pitchFamily="50" charset="-127"/>
                <a:cs typeface="Arial" pitchFamily="34" charset="0"/>
              </a:rPr>
              <a:t> </a:t>
            </a:r>
            <a:r>
              <a:rPr lang="en-US" altLang="ko-KR" sz="1300" b="1" dirty="0" err="1">
                <a:solidFill>
                  <a:srgbClr val="000000"/>
                </a:solidFill>
                <a:latin typeface="Arial" pitchFamily="34" charset="0"/>
                <a:ea typeface="맑은 고딕" pitchFamily="50" charset="-127"/>
                <a:cs typeface="Arial" pitchFamily="34" charset="0"/>
              </a:rPr>
              <a:t>đẹp</a:t>
            </a:r>
            <a:r>
              <a:rPr lang="en-US" altLang="ko-KR" sz="1300" b="1" dirty="0">
                <a:solidFill>
                  <a:srgbClr val="000000"/>
                </a:solidFill>
                <a:latin typeface="Arial" pitchFamily="34" charset="0"/>
                <a:ea typeface="맑은 고딕" pitchFamily="50" charset="-127"/>
                <a:cs typeface="Arial" pitchFamily="34" charset="0"/>
              </a:rPr>
              <a:t>”.”</a:t>
            </a:r>
          </a:p>
        </p:txBody>
      </p:sp>
      <p:sp>
        <p:nvSpPr>
          <p:cNvPr id="8199" name="AutoShape 36"/>
          <p:cNvSpPr>
            <a:spLocks noChangeArrowheads="1"/>
          </p:cNvSpPr>
          <p:nvPr/>
        </p:nvSpPr>
        <p:spPr bwMode="auto">
          <a:xfrm>
            <a:off x="7400925" y="4005263"/>
            <a:ext cx="1328738" cy="1327150"/>
          </a:xfrm>
          <a:prstGeom prst="star32">
            <a:avLst>
              <a:gd name="adj" fmla="val 41273"/>
            </a:avLst>
          </a:prstGeom>
          <a:solidFill>
            <a:srgbClr val="FFFF00"/>
          </a:solidFill>
          <a:ln w="6350" algn="ctr">
            <a:solidFill>
              <a:schemeClr val="bg2"/>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200" b="1" dirty="0" err="1">
                <a:solidFill>
                  <a:srgbClr val="FF0000"/>
                </a:solidFill>
                <a:latin typeface="Arial" pitchFamily="34" charset="0"/>
                <a:ea typeface="맑은 고딕" pitchFamily="50" charset="-127"/>
                <a:cs typeface="Arial" pitchFamily="34" charset="0"/>
              </a:rPr>
              <a:t>Chất</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lượng</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là</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sự</a:t>
            </a:r>
            <a:endParaRPr lang="en-US" altLang="ko-KR" sz="1200" b="1" dirty="0">
              <a:solidFill>
                <a:srgbClr val="FF0000"/>
              </a:solidFill>
              <a:latin typeface="Arial" pitchFamily="34" charset="0"/>
              <a:ea typeface="맑은 고딕" pitchFamily="50" charset="-127"/>
              <a:cs typeface="Arial" pitchFamily="34" charset="0"/>
            </a:endParaRPr>
          </a:p>
          <a:p>
            <a:pPr algn="ctr" eaLnBrk="1" hangingPunct="1">
              <a:lnSpc>
                <a:spcPct val="110000"/>
              </a:lnSpc>
            </a:pP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thỏa</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mãn</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của</a:t>
            </a:r>
            <a:r>
              <a:rPr lang="en-US" altLang="ko-KR" sz="1200" b="1" dirty="0">
                <a:solidFill>
                  <a:srgbClr val="FF0000"/>
                </a:solidFill>
                <a:latin typeface="Arial" pitchFamily="34" charset="0"/>
                <a:ea typeface="맑은 고딕" pitchFamily="50" charset="-127"/>
                <a:cs typeface="Arial" pitchFamily="34" charset="0"/>
              </a:rPr>
              <a:t> </a:t>
            </a:r>
          </a:p>
          <a:p>
            <a:pPr algn="ctr" eaLnBrk="1" hangingPunct="1">
              <a:lnSpc>
                <a:spcPct val="110000"/>
              </a:lnSpc>
            </a:pPr>
            <a:r>
              <a:rPr lang="en-US" altLang="ko-KR" sz="1200" b="1" dirty="0" err="1">
                <a:solidFill>
                  <a:srgbClr val="FF0000"/>
                </a:solidFill>
                <a:latin typeface="Arial" pitchFamily="34" charset="0"/>
                <a:ea typeface="맑은 고딕" pitchFamily="50" charset="-127"/>
                <a:cs typeface="Arial" pitchFamily="34" charset="0"/>
              </a:rPr>
              <a:t>người</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tiêu</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dùng</a:t>
            </a:r>
            <a:endParaRPr lang="ko-KR" altLang="en-US" sz="1200" b="1" dirty="0">
              <a:solidFill>
                <a:srgbClr val="FF0000"/>
              </a:solidFill>
              <a:latin typeface="Arial" pitchFamily="34" charset="0"/>
              <a:ea typeface="맑은 고딕" pitchFamily="50" charset="-127"/>
              <a:cs typeface="Arial" pitchFamily="34" charset="0"/>
            </a:endParaRPr>
          </a:p>
        </p:txBody>
      </p:sp>
      <p:sp>
        <p:nvSpPr>
          <p:cNvPr id="8200" name="AutoShape 37"/>
          <p:cNvSpPr>
            <a:spLocks noChangeArrowheads="1"/>
          </p:cNvSpPr>
          <p:nvPr/>
        </p:nvSpPr>
        <p:spPr bwMode="auto">
          <a:xfrm>
            <a:off x="7382416" y="1621632"/>
            <a:ext cx="1328738" cy="1327150"/>
          </a:xfrm>
          <a:prstGeom prst="star32">
            <a:avLst>
              <a:gd name="adj" fmla="val 41273"/>
            </a:avLst>
          </a:prstGeom>
          <a:solidFill>
            <a:srgbClr val="FFFF00"/>
          </a:solidFill>
          <a:ln w="6350" algn="ctr">
            <a:solidFill>
              <a:schemeClr val="bg2"/>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200" b="1" dirty="0" err="1">
                <a:solidFill>
                  <a:srgbClr val="FF0000"/>
                </a:solidFill>
                <a:latin typeface="Arial" pitchFamily="34" charset="0"/>
                <a:ea typeface="맑은 고딕" pitchFamily="50" charset="-127"/>
                <a:cs typeface="Arial" pitchFamily="34" charset="0"/>
              </a:rPr>
              <a:t>Chất</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lượng</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là</a:t>
            </a:r>
            <a:endParaRPr lang="en-US" altLang="ko-KR" sz="1200" b="1" dirty="0">
              <a:solidFill>
                <a:srgbClr val="FF0000"/>
              </a:solidFill>
              <a:latin typeface="Arial" pitchFamily="34" charset="0"/>
              <a:ea typeface="맑은 고딕" pitchFamily="50" charset="-127"/>
              <a:cs typeface="Arial" pitchFamily="34" charset="0"/>
            </a:endParaRPr>
          </a:p>
          <a:p>
            <a:pPr algn="ctr" eaLnBrk="1" hangingPunct="1">
              <a:lnSpc>
                <a:spcPct val="110000"/>
              </a:lnSpc>
            </a:pP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sự</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phù</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hợp</a:t>
            </a:r>
            <a:endParaRPr lang="en-US" altLang="ko-KR" sz="1200" b="1" dirty="0">
              <a:solidFill>
                <a:srgbClr val="FF0000"/>
              </a:solidFill>
              <a:latin typeface="Arial" pitchFamily="34" charset="0"/>
              <a:ea typeface="맑은 고딕" pitchFamily="50" charset="-127"/>
              <a:cs typeface="Arial" pitchFamily="34" charset="0"/>
            </a:endParaRPr>
          </a:p>
          <a:p>
            <a:pPr algn="ctr" eaLnBrk="1" hangingPunct="1">
              <a:lnSpc>
                <a:spcPct val="110000"/>
              </a:lnSpc>
            </a:pP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với</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yêu</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cầu</a:t>
            </a:r>
            <a:endParaRPr lang="en-US" altLang="ko-KR" sz="1200" b="1" dirty="0">
              <a:solidFill>
                <a:srgbClr val="FF0000"/>
              </a:solidFill>
              <a:latin typeface="Arial" pitchFamily="34" charset="0"/>
              <a:ea typeface="맑은 고딕" pitchFamily="50" charset="-127"/>
              <a:cs typeface="Arial" pitchFamily="34" charset="0"/>
            </a:endParaRPr>
          </a:p>
          <a:p>
            <a:pPr algn="ctr" eaLnBrk="1" hangingPunct="1">
              <a:lnSpc>
                <a:spcPct val="110000"/>
              </a:lnSpc>
            </a:pP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của</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khách</a:t>
            </a:r>
            <a:r>
              <a:rPr lang="en-US" altLang="ko-KR" sz="1200" b="1" dirty="0">
                <a:solidFill>
                  <a:srgbClr val="FF0000"/>
                </a:solidFill>
                <a:latin typeface="Arial" pitchFamily="34" charset="0"/>
                <a:ea typeface="맑은 고딕" pitchFamily="50" charset="-127"/>
                <a:cs typeface="Arial" pitchFamily="34" charset="0"/>
              </a:rPr>
              <a:t> </a:t>
            </a:r>
            <a:r>
              <a:rPr lang="en-US" altLang="ko-KR" sz="1200" b="1" dirty="0" err="1">
                <a:solidFill>
                  <a:srgbClr val="FF0000"/>
                </a:solidFill>
                <a:latin typeface="Arial" pitchFamily="34" charset="0"/>
                <a:ea typeface="맑은 고딕" pitchFamily="50" charset="-127"/>
                <a:cs typeface="Arial" pitchFamily="34" charset="0"/>
              </a:rPr>
              <a:t>hàng</a:t>
            </a:r>
            <a:endParaRPr lang="ko-KR" altLang="en-US" sz="1200" b="1" dirty="0">
              <a:solidFill>
                <a:srgbClr val="FF0000"/>
              </a:solidFill>
              <a:latin typeface="Arial" pitchFamily="34" charset="0"/>
              <a:ea typeface="맑은 고딕" pitchFamily="50" charset="-127"/>
              <a:cs typeface="Arial" pitchFamily="34" charset="0"/>
            </a:endParaRPr>
          </a:p>
        </p:txBody>
      </p:sp>
      <p:sp>
        <p:nvSpPr>
          <p:cNvPr id="8201" name="Text Box 46"/>
          <p:cNvSpPr txBox="1">
            <a:spLocks noChangeArrowheads="1"/>
          </p:cNvSpPr>
          <p:nvPr/>
        </p:nvSpPr>
        <p:spPr bwMode="auto">
          <a:xfrm>
            <a:off x="1762286" y="1149350"/>
            <a:ext cx="62625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u="sng" dirty="0">
                <a:latin typeface="Arial" pitchFamily="34" charset="0"/>
                <a:ea typeface="맑은 고딕" pitchFamily="50" charset="-127"/>
                <a:cs typeface="Arial" pitchFamily="34" charset="0"/>
              </a:rPr>
              <a:t>“</a:t>
            </a:r>
            <a:r>
              <a:rPr lang="en-US" altLang="ko-KR" sz="1600" b="1" u="sng" dirty="0" err="1">
                <a:latin typeface="Arial" pitchFamily="34" charset="0"/>
                <a:ea typeface="맑은 고딕" pitchFamily="50" charset="-127"/>
                <a:cs typeface="Arial" pitchFamily="34" charset="0"/>
              </a:rPr>
              <a:t>Chất</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lượng</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được</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định</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nghĩa</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bởi</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các</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chuyên</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gia</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như</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thế</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nào</a:t>
            </a:r>
            <a:endParaRPr lang="ko-KR" altLang="en-US" sz="1600" b="1" u="sng" dirty="0">
              <a:latin typeface="Arial" pitchFamily="34" charset="0"/>
              <a:ea typeface="맑은 고딕" pitchFamily="50" charset="-127"/>
              <a:cs typeface="Arial" pitchFamily="34" charset="0"/>
            </a:endParaRPr>
          </a:p>
        </p:txBody>
      </p:sp>
      <p:sp>
        <p:nvSpPr>
          <p:cNvPr id="16" name="Text Box 48"/>
          <p:cNvSpPr txBox="1">
            <a:spLocks noChangeArrowheads="1"/>
          </p:cNvSpPr>
          <p:nvPr/>
        </p:nvSpPr>
        <p:spPr bwMode="auto">
          <a:xfrm>
            <a:off x="992188" y="6156325"/>
            <a:ext cx="8438207" cy="323165"/>
          </a:xfrm>
          <a:prstGeom prst="rect">
            <a:avLst/>
          </a:prstGeom>
          <a:noFill/>
          <a:ln>
            <a:noFill/>
          </a:ln>
          <a:effectLst/>
        </p:spPr>
        <p:txBody>
          <a:bodyPr wrap="none" lIns="0" tIns="0" rIns="0" bIns="0">
            <a:spAutoFit/>
          </a:bodyPr>
          <a:lstStyle>
            <a:lvl1pPr eaLnBrk="0" hangingPunct="0">
              <a:defRPr kumimoji="1" sz="1000">
                <a:solidFill>
                  <a:schemeClr val="tx1"/>
                </a:solidFill>
                <a:latin typeface="Arial" charset="0"/>
                <a:ea typeface="돋움" pitchFamily="50" charset="-127"/>
              </a:defRPr>
            </a:lvl1pPr>
            <a:lvl2pPr marL="742950" indent="-285750" eaLnBrk="0" hangingPunct="0">
              <a:defRPr kumimoji="1" sz="1000">
                <a:solidFill>
                  <a:schemeClr val="tx1"/>
                </a:solidFill>
                <a:latin typeface="Arial" charset="0"/>
                <a:ea typeface="돋움" pitchFamily="50" charset="-127"/>
              </a:defRPr>
            </a:lvl2pPr>
            <a:lvl3pPr marL="1143000" indent="-228600" eaLnBrk="0" hangingPunct="0">
              <a:defRPr kumimoji="1" sz="1000">
                <a:solidFill>
                  <a:schemeClr val="tx1"/>
                </a:solidFill>
                <a:latin typeface="Arial" charset="0"/>
                <a:ea typeface="돋움" pitchFamily="50" charset="-127"/>
              </a:defRPr>
            </a:lvl3pPr>
            <a:lvl4pPr marL="1600200" indent="-228600" eaLnBrk="0" hangingPunct="0">
              <a:defRPr kumimoji="1" sz="1000">
                <a:solidFill>
                  <a:schemeClr val="tx1"/>
                </a:solidFill>
                <a:latin typeface="Arial" charset="0"/>
                <a:ea typeface="돋움" pitchFamily="50" charset="-127"/>
              </a:defRPr>
            </a:lvl4pPr>
            <a:lvl5pPr marL="2057400" indent="-228600" eaLnBrk="0" hangingPunct="0">
              <a:defRPr kumimoji="1" sz="1000">
                <a:solidFill>
                  <a:schemeClr val="tx1"/>
                </a:solidFill>
                <a:latin typeface="Arial" charset="0"/>
                <a:ea typeface="돋움" pitchFamily="50" charset="-127"/>
              </a:defRPr>
            </a:lvl5pPr>
            <a:lvl6pPr marL="2514600" indent="-228600" eaLnBrk="0" fontAlgn="base" hangingPunct="0">
              <a:spcBef>
                <a:spcPct val="0"/>
              </a:spcBef>
              <a:spcAft>
                <a:spcPct val="0"/>
              </a:spcAft>
              <a:defRPr kumimoji="1" sz="1000">
                <a:solidFill>
                  <a:schemeClr val="tx1"/>
                </a:solidFill>
                <a:latin typeface="Arial" charset="0"/>
                <a:ea typeface="돋움" pitchFamily="50" charset="-127"/>
              </a:defRPr>
            </a:lvl6pPr>
            <a:lvl7pPr marL="2971800" indent="-228600" eaLnBrk="0" fontAlgn="base" hangingPunct="0">
              <a:spcBef>
                <a:spcPct val="0"/>
              </a:spcBef>
              <a:spcAft>
                <a:spcPct val="0"/>
              </a:spcAft>
              <a:defRPr kumimoji="1" sz="1000">
                <a:solidFill>
                  <a:schemeClr val="tx1"/>
                </a:solidFill>
                <a:latin typeface="Arial" charset="0"/>
                <a:ea typeface="돋움" pitchFamily="50" charset="-127"/>
              </a:defRPr>
            </a:lvl7pPr>
            <a:lvl8pPr marL="3429000" indent="-228600" eaLnBrk="0" fontAlgn="base" hangingPunct="0">
              <a:spcBef>
                <a:spcPct val="0"/>
              </a:spcBef>
              <a:spcAft>
                <a:spcPct val="0"/>
              </a:spcAft>
              <a:defRPr kumimoji="1" sz="1000">
                <a:solidFill>
                  <a:schemeClr val="tx1"/>
                </a:solidFill>
                <a:latin typeface="Arial" charset="0"/>
                <a:ea typeface="돋움" pitchFamily="50" charset="-127"/>
              </a:defRPr>
            </a:lvl8pPr>
            <a:lvl9pPr marL="3886200" indent="-228600" eaLnBrk="0" fontAlgn="base" hangingPunct="0">
              <a:spcBef>
                <a:spcPct val="0"/>
              </a:spcBef>
              <a:spcAft>
                <a:spcPct val="0"/>
              </a:spcAft>
              <a:defRPr kumimoji="1" sz="1000">
                <a:solidFill>
                  <a:schemeClr val="tx1"/>
                </a:solidFill>
                <a:latin typeface="Arial" charset="0"/>
                <a:ea typeface="돋움" pitchFamily="50" charset="-127"/>
              </a:defRPr>
            </a:lvl9pPr>
          </a:lstStyle>
          <a:p>
            <a:pPr eaLnBrk="1" hangingPunct="1">
              <a:defRPr/>
            </a:pPr>
            <a:r>
              <a:rPr lang="ko-KR" altLang="en-US" sz="1050" b="1" dirty="0">
                <a:latin typeface="Arial" pitchFamily="34" charset="0"/>
                <a:ea typeface="맑은 고딕" panose="020B0503020000020004" pitchFamily="50" charset="-127"/>
                <a:cs typeface="Arial" pitchFamily="34" charset="0"/>
              </a:rPr>
              <a:t>*</a:t>
            </a:r>
            <a:r>
              <a:rPr lang="vi-VN" sz="1050" dirty="0">
                <a:latin typeface="Arial" pitchFamily="34" charset="0"/>
                <a:cs typeface="Arial" pitchFamily="34" charset="0"/>
              </a:rPr>
              <a:t>Sự phát triển của khái niệm chất lượng: sự phù hợp với quy định (1950) → phù hợp để sử dụng </a:t>
            </a:r>
            <a:r>
              <a:rPr lang="en-US" sz="1050" dirty="0">
                <a:latin typeface="Arial" pitchFamily="34" charset="0"/>
                <a:cs typeface="Arial" pitchFamily="34" charset="0"/>
              </a:rPr>
              <a:t> </a:t>
            </a:r>
            <a:r>
              <a:rPr lang="vi-VN" sz="1050" dirty="0">
                <a:latin typeface="Arial" pitchFamily="34" charset="0"/>
                <a:cs typeface="Arial" pitchFamily="34" charset="0"/>
              </a:rPr>
              <a:t>(1960) → sự phù hợp với chi phí (1970) </a:t>
            </a:r>
            <a:endParaRPr lang="en-US" sz="1050" dirty="0">
              <a:latin typeface="Arial" pitchFamily="34" charset="0"/>
              <a:cs typeface="Arial" pitchFamily="34" charset="0"/>
            </a:endParaRPr>
          </a:p>
          <a:p>
            <a:pPr eaLnBrk="1" hangingPunct="1">
              <a:defRPr/>
            </a:pPr>
            <a:r>
              <a:rPr lang="vi-VN" sz="1050" dirty="0">
                <a:latin typeface="Arial" pitchFamily="34" charset="0"/>
                <a:cs typeface="Arial" pitchFamily="34" charset="0"/>
              </a:rPr>
              <a:t>→ sự phù hợp với yêu cầu tiềm năng (1980) → sự phù hợp với yêu cầu của khách hàng (1990)</a:t>
            </a:r>
            <a:endParaRPr lang="en-US" altLang="ko-KR" sz="1050" b="1" dirty="0">
              <a:latin typeface="Arial" pitchFamily="34" charset="0"/>
              <a:ea typeface="맑은 고딕" panose="020B0503020000020004"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11</a:t>
            </a:fld>
            <a:endParaRPr lang="ko-KR" altLang="en-US" dirty="0">
              <a:latin typeface="Arial" pitchFamily="34" charset="0"/>
              <a:cs typeface="Arial"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20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1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9" grpId="0" animBg="1"/>
      <p:bldP spid="820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a:t>
            </a:fld>
            <a:endParaRPr lang="ko-KR" altLang="en-US" dirty="0">
              <a:latin typeface="Arial" pitchFamily="34" charset="0"/>
              <a:cs typeface="Arial" pitchFamily="34" charset="0"/>
            </a:endParaRPr>
          </a:p>
        </p:txBody>
      </p:sp>
      <p:pic>
        <p:nvPicPr>
          <p:cNvPr id="3" name="Picture 2"/>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0" y="2780928"/>
            <a:ext cx="5313040" cy="3591854"/>
          </a:xfrm>
          <a:prstGeom prst="rect">
            <a:avLst/>
          </a:prstGeom>
        </p:spPr>
      </p:pic>
      <p:pic>
        <p:nvPicPr>
          <p:cNvPr id="6" name="Picture 5"/>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0" y="724073"/>
            <a:ext cx="4677463" cy="2560911"/>
          </a:xfrm>
          <a:prstGeom prst="rect">
            <a:avLst/>
          </a:prstGeom>
        </p:spPr>
      </p:pic>
      <p:pic>
        <p:nvPicPr>
          <p:cNvPr id="9" name="Picture 8"/>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4953000" y="2284413"/>
            <a:ext cx="4762500" cy="4191000"/>
          </a:xfrm>
          <a:prstGeom prst="rect">
            <a:avLst/>
          </a:prstGeom>
        </p:spPr>
      </p:pic>
      <p:sp>
        <p:nvSpPr>
          <p:cNvPr id="10" name="Cloud Callout 9"/>
          <p:cNvSpPr/>
          <p:nvPr/>
        </p:nvSpPr>
        <p:spPr>
          <a:xfrm>
            <a:off x="6249144" y="901606"/>
            <a:ext cx="2736304" cy="1303258"/>
          </a:xfrm>
          <a:prstGeom prst="cloudCallou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tx1"/>
                </a:solidFill>
                <a:latin typeface="Arial" pitchFamily="34" charset="0"/>
                <a:cs typeface="Arial" pitchFamily="34" charset="0"/>
              </a:rPr>
              <a:t>Mệt</a:t>
            </a:r>
            <a:r>
              <a:rPr lang="en-US" sz="2000" dirty="0">
                <a:solidFill>
                  <a:schemeClr val="tx1"/>
                </a:solidFill>
                <a:latin typeface="Arial" pitchFamily="34" charset="0"/>
                <a:cs typeface="Arial" pitchFamily="34" charset="0"/>
              </a:rPr>
              <a:t> </a:t>
            </a:r>
            <a:r>
              <a:rPr lang="en-US" sz="2000" dirty="0" err="1">
                <a:solidFill>
                  <a:schemeClr val="tx1"/>
                </a:solidFill>
                <a:latin typeface="Arial" pitchFamily="34" charset="0"/>
                <a:cs typeface="Arial" pitchFamily="34" charset="0"/>
              </a:rPr>
              <a:t>quá</a:t>
            </a:r>
            <a:r>
              <a:rPr lang="en-US" sz="2000" dirty="0">
                <a:solidFill>
                  <a:schemeClr val="tx1"/>
                </a:solidFill>
                <a:latin typeface="Arial" pitchFamily="34" charset="0"/>
                <a:cs typeface="Arial" pitchFamily="34" charset="0"/>
              </a:rPr>
              <a:t>!!!…</a:t>
            </a:r>
            <a:r>
              <a:rPr lang="en-US" sz="2000" dirty="0">
                <a:solidFill>
                  <a:schemeClr val="tx1"/>
                </a:solidFill>
                <a:latin typeface="Arial" pitchFamily="34" charset="0"/>
                <a:cs typeface="Arial" pitchFamily="34" charset="0"/>
                <a:sym typeface="Wingdings" panose="05000000000000000000" pitchFamily="2" charset="2"/>
              </a:rPr>
              <a:t></a:t>
            </a:r>
            <a:endParaRPr lang="en-US" sz="2000" dirty="0">
              <a:solidFill>
                <a:schemeClr val="tx1"/>
              </a:solidFill>
              <a:latin typeface="Arial" pitchFamily="34" charset="0"/>
              <a:cs typeface="Arial" pitchFamily="34" charset="0"/>
            </a:endParaRPr>
          </a:p>
        </p:txBody>
      </p:sp>
      <p:sp>
        <p:nvSpPr>
          <p:cNvPr id="11" name="Rectangle 7"/>
          <p:cNvSpPr>
            <a:spLocks noChangeArrowheads="1"/>
          </p:cNvSpPr>
          <p:nvPr/>
        </p:nvSpPr>
        <p:spPr bwMode="auto">
          <a:xfrm>
            <a:off x="69850" y="201583"/>
            <a:ext cx="254909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sz="2000" b="1" dirty="0" err="1">
                <a:latin typeface="Arial" pitchFamily="34" charset="0"/>
                <a:cs typeface="Arial" pitchFamily="34" charset="0"/>
              </a:rPr>
              <a:t>Sự</a:t>
            </a:r>
            <a:r>
              <a:rPr lang="en-US" sz="2000" b="1" dirty="0">
                <a:latin typeface="Arial" pitchFamily="34" charset="0"/>
                <a:cs typeface="Arial" pitchFamily="34" charset="0"/>
              </a:rPr>
              <a:t> </a:t>
            </a:r>
            <a:r>
              <a:rPr lang="en-US" sz="2000" b="1" dirty="0" err="1">
                <a:latin typeface="Arial" pitchFamily="34" charset="0"/>
                <a:cs typeface="Arial" pitchFamily="34" charset="0"/>
              </a:rPr>
              <a:t>phát</a:t>
            </a:r>
            <a:r>
              <a:rPr lang="en-US" sz="2000" b="1" dirty="0">
                <a:latin typeface="Arial" pitchFamily="34" charset="0"/>
                <a:cs typeface="Arial" pitchFamily="34" charset="0"/>
              </a:rPr>
              <a:t> </a:t>
            </a:r>
            <a:r>
              <a:rPr lang="en-US" sz="2000" b="1" dirty="0" err="1">
                <a:latin typeface="Arial" pitchFamily="34" charset="0"/>
                <a:cs typeface="Arial" pitchFamily="34" charset="0"/>
              </a:rPr>
              <a:t>triển</a:t>
            </a:r>
            <a:r>
              <a:rPr lang="en-US" sz="2000" b="1" dirty="0">
                <a:latin typeface="Arial" pitchFamily="34" charset="0"/>
                <a:cs typeface="Arial" pitchFamily="34" charset="0"/>
              </a:rPr>
              <a:t> </a:t>
            </a:r>
            <a:r>
              <a:rPr lang="en-US" sz="2000" b="1" dirty="0" err="1">
                <a:latin typeface="Arial" pitchFamily="34" charset="0"/>
                <a:cs typeface="Arial" pitchFamily="34" charset="0"/>
              </a:rPr>
              <a:t>của</a:t>
            </a:r>
            <a:r>
              <a:rPr lang="en-US" sz="2000" b="1" dirty="0">
                <a:latin typeface="Arial" pitchFamily="34" charset="0"/>
                <a:cs typeface="Arial" pitchFamily="34" charset="0"/>
              </a:rPr>
              <a:t>…</a:t>
            </a:r>
            <a:endParaRPr lang="ko-KR" altLang="en-US" sz="20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972689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6" presetClass="entr" presetSubtype="32"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circle(out)">
                                      <p:cBhvr>
                                        <p:cTn id="11" dur="5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a:t>
            </a:fld>
            <a:endParaRPr lang="ko-KR" altLang="en-US" dirty="0">
              <a:latin typeface="Arial" pitchFamily="34" charset="0"/>
              <a:cs typeface="Arial" pitchFamily="34" charset="0"/>
            </a:endParaRPr>
          </a:p>
        </p:txBody>
      </p:sp>
      <p:pic>
        <p:nvPicPr>
          <p:cNvPr id="3" name="Picture 2"/>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416496" y="764704"/>
            <a:ext cx="9057456" cy="5584373"/>
          </a:xfrm>
          <a:prstGeom prst="rect">
            <a:avLst/>
          </a:prstGeom>
        </p:spPr>
      </p:pic>
      <p:sp>
        <p:nvSpPr>
          <p:cNvPr id="5" name="Rectangle 7"/>
          <p:cNvSpPr>
            <a:spLocks noChangeArrowheads="1"/>
          </p:cNvSpPr>
          <p:nvPr/>
        </p:nvSpPr>
        <p:spPr bwMode="auto">
          <a:xfrm>
            <a:off x="69850" y="201583"/>
            <a:ext cx="535435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sz="2000" b="1" dirty="0" err="1">
                <a:latin typeface="Arial" pitchFamily="34" charset="0"/>
                <a:cs typeface="Arial" pitchFamily="34" charset="0"/>
              </a:rPr>
              <a:t>Sự</a:t>
            </a:r>
            <a:r>
              <a:rPr lang="en-US" sz="2000" b="1" dirty="0">
                <a:latin typeface="Arial" pitchFamily="34" charset="0"/>
                <a:cs typeface="Arial" pitchFamily="34" charset="0"/>
              </a:rPr>
              <a:t> </a:t>
            </a:r>
            <a:r>
              <a:rPr lang="en-US" sz="2000" b="1" dirty="0" err="1">
                <a:latin typeface="Arial" pitchFamily="34" charset="0"/>
                <a:cs typeface="Arial" pitchFamily="34" charset="0"/>
              </a:rPr>
              <a:t>phát</a:t>
            </a:r>
            <a:r>
              <a:rPr lang="en-US" sz="2000" b="1" dirty="0">
                <a:latin typeface="Arial" pitchFamily="34" charset="0"/>
                <a:cs typeface="Arial" pitchFamily="34" charset="0"/>
              </a:rPr>
              <a:t> </a:t>
            </a:r>
            <a:r>
              <a:rPr lang="en-US" sz="2000" b="1" dirty="0" err="1">
                <a:latin typeface="Arial" pitchFamily="34" charset="0"/>
                <a:cs typeface="Arial" pitchFamily="34" charset="0"/>
              </a:rPr>
              <a:t>triển</a:t>
            </a:r>
            <a:r>
              <a:rPr lang="en-US" sz="2000" b="1" dirty="0">
                <a:latin typeface="Arial" pitchFamily="34" charset="0"/>
                <a:cs typeface="Arial" pitchFamily="34" charset="0"/>
              </a:rPr>
              <a:t> </a:t>
            </a:r>
            <a:r>
              <a:rPr lang="en-US" sz="2000" b="1" dirty="0" err="1">
                <a:latin typeface="Arial" pitchFamily="34" charset="0"/>
                <a:cs typeface="Arial" pitchFamily="34" charset="0"/>
              </a:rPr>
              <a:t>của</a:t>
            </a:r>
            <a:r>
              <a:rPr lang="en-US" sz="2000" b="1" dirty="0">
                <a:latin typeface="Arial" pitchFamily="34" charset="0"/>
                <a:cs typeface="Arial" pitchFamily="34" charset="0"/>
              </a:rPr>
              <a:t> </a:t>
            </a:r>
            <a:r>
              <a:rPr lang="en-US" sz="2000" b="1" dirty="0" err="1">
                <a:latin typeface="Arial" pitchFamily="34" charset="0"/>
                <a:cs typeface="Arial" pitchFamily="34" charset="0"/>
              </a:rPr>
              <a:t>ngành</a:t>
            </a:r>
            <a:r>
              <a:rPr lang="en-US" sz="2000" b="1" dirty="0">
                <a:latin typeface="Arial" pitchFamily="34" charset="0"/>
                <a:cs typeface="Arial" pitchFamily="34" charset="0"/>
              </a:rPr>
              <a:t> </a:t>
            </a:r>
            <a:r>
              <a:rPr lang="en-US" sz="2000" b="1" dirty="0" err="1">
                <a:latin typeface="Arial" pitchFamily="34" charset="0"/>
                <a:cs typeface="Arial" pitchFamily="34" charset="0"/>
              </a:rPr>
              <a:t>sản</a:t>
            </a:r>
            <a:r>
              <a:rPr lang="en-US" sz="2000" b="1" dirty="0">
                <a:latin typeface="Arial" pitchFamily="34" charset="0"/>
                <a:cs typeface="Arial" pitchFamily="34" charset="0"/>
              </a:rPr>
              <a:t> </a:t>
            </a:r>
            <a:r>
              <a:rPr lang="en-US" sz="2000" b="1" dirty="0" err="1">
                <a:latin typeface="Arial" pitchFamily="34" charset="0"/>
                <a:cs typeface="Arial" pitchFamily="34" charset="0"/>
              </a:rPr>
              <a:t>xuất</a:t>
            </a:r>
            <a:r>
              <a:rPr lang="en-US" sz="2000" b="1" dirty="0">
                <a:latin typeface="Arial" pitchFamily="34" charset="0"/>
                <a:cs typeface="Arial" pitchFamily="34" charset="0"/>
              </a:rPr>
              <a:t> </a:t>
            </a:r>
            <a:r>
              <a:rPr lang="en-US" sz="2000" b="1" dirty="0" err="1">
                <a:latin typeface="Arial" pitchFamily="34" charset="0"/>
                <a:cs typeface="Arial" pitchFamily="34" charset="0"/>
              </a:rPr>
              <a:t>máy</a:t>
            </a:r>
            <a:r>
              <a:rPr lang="en-US" sz="2000" b="1" dirty="0">
                <a:latin typeface="Arial" pitchFamily="34" charset="0"/>
                <a:cs typeface="Arial" pitchFamily="34" charset="0"/>
              </a:rPr>
              <a:t> </a:t>
            </a:r>
            <a:r>
              <a:rPr lang="en-US" sz="2000" b="1" dirty="0" err="1">
                <a:latin typeface="Arial" pitchFamily="34" charset="0"/>
                <a:cs typeface="Arial" pitchFamily="34" charset="0"/>
              </a:rPr>
              <a:t>giặt</a:t>
            </a:r>
            <a:endParaRPr lang="ko-KR" altLang="en-US" sz="20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89205236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9" name="Rectangle 72"/>
          <p:cNvSpPr>
            <a:spLocks noChangeArrowheads="1"/>
          </p:cNvSpPr>
          <p:nvPr/>
        </p:nvSpPr>
        <p:spPr bwMode="auto">
          <a:xfrm>
            <a:off x="1857375" y="1198563"/>
            <a:ext cx="6162675" cy="604837"/>
          </a:xfrm>
          <a:prstGeom prst="rect">
            <a:avLst/>
          </a:prstGeom>
          <a:solidFill>
            <a:srgbClr val="EAEAEA"/>
          </a:solidFill>
          <a:ln w="19050">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000" dirty="0">
              <a:latin typeface="Arial" pitchFamily="34" charset="0"/>
              <a:ea typeface="맑은 고딕" pitchFamily="50" charset="-127"/>
              <a:cs typeface="Arial" pitchFamily="34" charset="0"/>
            </a:endParaRPr>
          </a:p>
        </p:txBody>
      </p:sp>
      <p:sp>
        <p:nvSpPr>
          <p:cNvPr id="9220" name="Rectangle 73"/>
          <p:cNvSpPr>
            <a:spLocks noChangeArrowheads="1"/>
          </p:cNvSpPr>
          <p:nvPr/>
        </p:nvSpPr>
        <p:spPr bwMode="auto">
          <a:xfrm>
            <a:off x="704528" y="3786190"/>
            <a:ext cx="8496944" cy="1181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20000"/>
              </a:lnSpc>
              <a:buFont typeface="Arial" pitchFamily="34" charset="0"/>
              <a:buChar char="•"/>
            </a:pPr>
            <a:r>
              <a:rPr lang="en-US" altLang="ko-KR" sz="1600" b="1" dirty="0">
                <a:latin typeface="Arial" pitchFamily="34" charset="0"/>
                <a:ea typeface="맑은 고딕" pitchFamily="50" charset="-127"/>
                <a:cs typeface="Arial" pitchFamily="34" charset="0"/>
              </a:rPr>
              <a:t> </a:t>
            </a:r>
            <a:r>
              <a:rPr lang="vi-VN" altLang="ko-KR" sz="1600" b="1" dirty="0">
                <a:latin typeface="Arial" pitchFamily="34" charset="0"/>
                <a:ea typeface="맑은 고딕" pitchFamily="50" charset="-127"/>
                <a:cs typeface="Arial" pitchFamily="34" charset="0"/>
              </a:rPr>
              <a:t>Các tiêu chuẩn về chất lượng được xác định bởi khách hàng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những</a:t>
            </a:r>
            <a:r>
              <a:rPr lang="en-US" altLang="ko-KR" sz="1600" b="1" dirty="0">
                <a:latin typeface="Arial" pitchFamily="34" charset="0"/>
                <a:ea typeface="맑은 고딕" pitchFamily="50" charset="-127"/>
                <a:cs typeface="Arial" pitchFamily="34" charset="0"/>
              </a:rPr>
              <a:t> </a:t>
            </a:r>
            <a:r>
              <a:rPr lang="vi-VN" altLang="ko-KR" sz="1600" b="1" dirty="0">
                <a:latin typeface="Arial" pitchFamily="34" charset="0"/>
                <a:ea typeface="맑은 고딕" pitchFamily="50" charset="-127"/>
                <a:cs typeface="Arial" pitchFamily="34" charset="0"/>
              </a:rPr>
              <a:t>người </a:t>
            </a:r>
            <a:r>
              <a:rPr lang="en-US" altLang="ko-KR" sz="1600" b="1" dirty="0" err="1">
                <a:latin typeface="Arial" pitchFamily="34" charset="0"/>
                <a:ea typeface="맑은 고딕" pitchFamily="50" charset="-127"/>
                <a:cs typeface="Arial" pitchFamily="34" charset="0"/>
              </a:rPr>
              <a:t>sử</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dụng</a:t>
            </a:r>
            <a:br>
              <a:rPr lang="en-US" altLang="ko-KR" sz="1600" b="1" dirty="0">
                <a:latin typeface="Arial" pitchFamily="34" charset="0"/>
                <a:ea typeface="맑은 고딕" pitchFamily="50" charset="-127"/>
                <a:cs typeface="Arial" pitchFamily="34" charset="0"/>
              </a:rPr>
            </a:br>
            <a:r>
              <a:rPr lang="vi-VN" altLang="ko-KR" sz="1600" b="1" dirty="0">
                <a:latin typeface="Arial" pitchFamily="34" charset="0"/>
                <a:ea typeface="맑은 고딕" pitchFamily="50" charset="-127"/>
                <a:cs typeface="Arial" pitchFamily="34" charset="0"/>
              </a:rPr>
              <a:t>sản phẩm hoặc dịch vụ</a:t>
            </a:r>
            <a:r>
              <a:rPr lang="en-US" altLang="ko-KR" sz="1600" b="1" dirty="0">
                <a:latin typeface="Arial" pitchFamily="34" charset="0"/>
                <a:ea typeface="맑은 고딕" pitchFamily="50" charset="-127"/>
                <a:cs typeface="Arial" pitchFamily="34" charset="0"/>
              </a:rPr>
              <a:t>.</a:t>
            </a:r>
          </a:p>
          <a:p>
            <a:pPr algn="just" eaLnBrk="1" hangingPunct="1">
              <a:lnSpc>
                <a:spcPct val="120000"/>
              </a:lnSpc>
              <a:buFont typeface="Arial" pitchFamily="34" charset="0"/>
              <a:buChar char="•"/>
            </a:pPr>
            <a:r>
              <a:rPr lang="en-US" altLang="ko-KR" sz="1600" b="1" dirty="0">
                <a:latin typeface="Arial" pitchFamily="34" charset="0"/>
                <a:ea typeface="맑은 고딕" pitchFamily="50" charset="-127"/>
                <a:cs typeface="Arial" pitchFamily="34" charset="0"/>
              </a:rPr>
              <a:t> </a:t>
            </a:r>
            <a:r>
              <a:rPr lang="vi-VN" altLang="ko-KR" sz="1600" b="1" dirty="0">
                <a:latin typeface="Arial" pitchFamily="34" charset="0"/>
                <a:ea typeface="맑은 고딕" pitchFamily="50" charset="-127"/>
                <a:cs typeface="Arial" pitchFamily="34" charset="0"/>
              </a:rPr>
              <a:t>Chất lượng được đánh giá bởi khách hàng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phải</a:t>
            </a:r>
            <a:r>
              <a:rPr lang="en-US" altLang="ko-KR" sz="1600" b="1" dirty="0">
                <a:latin typeface="Arial" pitchFamily="34" charset="0"/>
                <a:ea typeface="맑은 고딕" pitchFamily="50" charset="-127"/>
                <a:cs typeface="Arial" pitchFamily="34" charset="0"/>
              </a:rPr>
              <a:t> </a:t>
            </a:r>
            <a:r>
              <a:rPr lang="vi-VN" altLang="ko-KR" sz="1600" b="1" dirty="0">
                <a:latin typeface="Arial" pitchFamily="34" charset="0"/>
                <a:ea typeface="맑은 고딕" pitchFamily="50" charset="-127"/>
                <a:cs typeface="Arial" pitchFamily="34" charset="0"/>
              </a:rPr>
              <a:t>đáp ứng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vi-VN" altLang="ko-KR" sz="1600" b="1" dirty="0">
                <a:latin typeface="Arial" pitchFamily="34" charset="0"/>
                <a:ea typeface="맑은 고딕" pitchFamily="50" charset="-127"/>
                <a:cs typeface="Arial" pitchFamily="34" charset="0"/>
              </a:rPr>
              <a:t> yêu cầu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làm</a:t>
            </a:r>
            <a:br>
              <a:rPr lang="en-US" altLang="ko-KR" sz="1600" b="1" dirty="0">
                <a:latin typeface="Arial" pitchFamily="34" charset="0"/>
                <a:ea typeface="맑은 고딕" pitchFamily="50" charset="-127"/>
                <a:cs typeface="Arial" pitchFamily="34" charset="0"/>
              </a:rPr>
            </a:br>
            <a:r>
              <a:rPr lang="en-US" altLang="ko-KR" sz="1600" b="1" dirty="0" err="1">
                <a:latin typeface="Arial" pitchFamily="34" charset="0"/>
                <a:ea typeface="맑은 고딕" pitchFamily="50" charset="-127"/>
                <a:cs typeface="Arial" pitchFamily="34" charset="0"/>
              </a:rPr>
              <a:t>thỏa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mãn</a:t>
            </a:r>
            <a:r>
              <a:rPr lang="en-US" altLang="ko-KR" sz="1600" b="1" dirty="0">
                <a:latin typeface="Arial" pitchFamily="34" charset="0"/>
                <a:ea typeface="맑은 고딕" pitchFamily="50" charset="-127"/>
                <a:cs typeface="Arial" pitchFamily="34" charset="0"/>
              </a:rPr>
              <a:t> </a:t>
            </a:r>
            <a:r>
              <a:rPr lang="vi-VN" altLang="ko-KR" sz="1600" b="1" dirty="0">
                <a:latin typeface="Arial" pitchFamily="34" charset="0"/>
                <a:ea typeface="맑은 고딕" pitchFamily="50" charset="-127"/>
                <a:cs typeface="Arial" pitchFamily="34" charset="0"/>
              </a:rPr>
              <a:t>khách hàng</a:t>
            </a:r>
            <a:r>
              <a:rPr lang="en-US" altLang="ko-KR" sz="1600" b="1" dirty="0">
                <a:latin typeface="Arial" pitchFamily="34" charset="0"/>
                <a:ea typeface="맑은 고딕" pitchFamily="50" charset="-127"/>
                <a:cs typeface="Arial" pitchFamily="34" charset="0"/>
              </a:rPr>
              <a:t>.</a:t>
            </a:r>
          </a:p>
        </p:txBody>
      </p:sp>
      <p:sp>
        <p:nvSpPr>
          <p:cNvPr id="9221" name="Rectangle 74"/>
          <p:cNvSpPr>
            <a:spLocks noChangeArrowheads="1"/>
          </p:cNvSpPr>
          <p:nvPr/>
        </p:nvSpPr>
        <p:spPr bwMode="auto">
          <a:xfrm>
            <a:off x="2142968" y="1162844"/>
            <a:ext cx="5620065" cy="655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20000"/>
              </a:lnSpc>
            </a:pPr>
            <a:r>
              <a:rPr lang="vi-VN" altLang="ko-KR" sz="1600" b="1" dirty="0">
                <a:latin typeface="Arial" pitchFamily="34" charset="0"/>
                <a:ea typeface="맑은 고딕" pitchFamily="50" charset="-127"/>
                <a:cs typeface="Arial" pitchFamily="34" charset="0"/>
              </a:rPr>
              <a:t>Chất lượng là sự phù hợp với yêu cầu của khách hàng</a:t>
            </a:r>
            <a:br>
              <a:rPr lang="vi-VN" altLang="ko-KR" sz="1600" b="1" dirty="0">
                <a:latin typeface="Arial" pitchFamily="34" charset="0"/>
                <a:ea typeface="맑은 고딕" pitchFamily="50" charset="-127"/>
                <a:cs typeface="Arial" pitchFamily="34" charset="0"/>
              </a:rPr>
            </a:br>
            <a:r>
              <a:rPr lang="vi-VN" altLang="ko-KR" sz="1600" b="1" dirty="0">
                <a:latin typeface="Arial" pitchFamily="34" charset="0"/>
                <a:ea typeface="맑은 고딕" pitchFamily="50" charset="-127"/>
                <a:cs typeface="Arial" pitchFamily="34" charset="0"/>
              </a:rPr>
              <a:t>và sự hài lòng của khách hàng</a:t>
            </a:r>
            <a:endParaRPr lang="ko-KR" altLang="en-US" sz="1600" b="1" dirty="0">
              <a:latin typeface="Arial" pitchFamily="34" charset="0"/>
              <a:ea typeface="맑은 고딕" pitchFamily="50" charset="-127"/>
              <a:cs typeface="Arial" pitchFamily="34" charset="0"/>
            </a:endParaRPr>
          </a:p>
        </p:txBody>
      </p:sp>
      <p:sp>
        <p:nvSpPr>
          <p:cNvPr id="9222" name="Rectangle 75"/>
          <p:cNvSpPr>
            <a:spLocks noChangeArrowheads="1"/>
          </p:cNvSpPr>
          <p:nvPr/>
        </p:nvSpPr>
        <p:spPr bwMode="auto">
          <a:xfrm>
            <a:off x="1452538" y="5199063"/>
            <a:ext cx="737734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60000"/>
              </a:lnSpc>
            </a:pPr>
            <a:r>
              <a:rPr lang="ko-KR" altLang="en-US"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Có</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thể</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lãng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vấn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đề</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về</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thành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nhưng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chất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lượng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thì</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không</a:t>
            </a:r>
            <a:r>
              <a:rPr lang="en-US" altLang="ko-KR" sz="1600" b="1" dirty="0">
                <a:latin typeface="Arial" pitchFamily="34" charset="0"/>
                <a:ea typeface="맑은 고딕" pitchFamily="50" charset="-127"/>
                <a:cs typeface="Arial" pitchFamily="34" charset="0"/>
              </a:rPr>
              <a:t>!”</a:t>
            </a:r>
            <a:br>
              <a:rPr lang="en-US" altLang="ko-KR" sz="1400" b="1" dirty="0">
                <a:solidFill>
                  <a:schemeClr val="bg2"/>
                </a:solidFill>
                <a:latin typeface="Arial" pitchFamily="34" charset="0"/>
                <a:ea typeface="맑은 고딕" pitchFamily="50" charset="-127"/>
                <a:cs typeface="Arial" pitchFamily="34" charset="0"/>
              </a:rPr>
            </a:br>
            <a:r>
              <a:rPr lang="en-US" altLang="ko-KR" sz="1400" b="1" dirty="0">
                <a:solidFill>
                  <a:schemeClr val="bg2"/>
                </a:solidFill>
                <a:latin typeface="Arial" pitchFamily="34" charset="0"/>
                <a:ea typeface="맑은 고딕" pitchFamily="50" charset="-127"/>
                <a:cs typeface="Arial" pitchFamily="34" charset="0"/>
              </a:rPr>
              <a:t>					</a:t>
            </a:r>
            <a:r>
              <a:rPr lang="en-US" altLang="ko-KR" sz="1400" b="1" dirty="0">
                <a:latin typeface="Arial" pitchFamily="34" charset="0"/>
                <a:ea typeface="맑은 고딕" pitchFamily="50" charset="-127"/>
                <a:cs typeface="Arial" pitchFamily="34" charset="0"/>
              </a:rPr>
              <a:t>– French proverb –</a:t>
            </a:r>
            <a:endParaRPr lang="ko-KR" altLang="en-US" sz="1400" b="1" dirty="0">
              <a:latin typeface="Arial" pitchFamily="34" charset="0"/>
              <a:ea typeface="맑은 고딕" pitchFamily="50" charset="-127"/>
              <a:cs typeface="Arial" pitchFamily="34" charset="0"/>
            </a:endParaRPr>
          </a:p>
        </p:txBody>
      </p:sp>
      <p:sp>
        <p:nvSpPr>
          <p:cNvPr id="9223" name="AutoShape 79"/>
          <p:cNvSpPr>
            <a:spLocks noChangeArrowheads="1"/>
          </p:cNvSpPr>
          <p:nvPr/>
        </p:nvSpPr>
        <p:spPr bwMode="auto">
          <a:xfrm flipV="1">
            <a:off x="3068638" y="3151188"/>
            <a:ext cx="3740150" cy="220662"/>
          </a:xfrm>
          <a:prstGeom prst="triangle">
            <a:avLst>
              <a:gd name="adj" fmla="val 50000"/>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000" dirty="0">
              <a:latin typeface="Arial" pitchFamily="34" charset="0"/>
              <a:ea typeface="맑은 고딕" pitchFamily="50" charset="-127"/>
              <a:cs typeface="Arial" pitchFamily="34" charset="0"/>
            </a:endParaRPr>
          </a:p>
        </p:txBody>
      </p:sp>
      <p:sp>
        <p:nvSpPr>
          <p:cNvPr id="9224" name="Oval 97"/>
          <p:cNvSpPr>
            <a:spLocks noChangeArrowheads="1"/>
          </p:cNvSpPr>
          <p:nvPr/>
        </p:nvSpPr>
        <p:spPr bwMode="auto">
          <a:xfrm>
            <a:off x="1640632" y="2060848"/>
            <a:ext cx="1188720" cy="1097280"/>
          </a:xfrm>
          <a:prstGeom prst="ellipse">
            <a:avLst/>
          </a:prstGeom>
          <a:solidFill>
            <a:srgbClr val="FFFFCC"/>
          </a:solidFill>
          <a:ln w="19050"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200" b="1" dirty="0" err="1">
                <a:latin typeface="Arial" pitchFamily="34" charset="0"/>
                <a:ea typeface="맑은 고딕" pitchFamily="50" charset="-127"/>
                <a:cs typeface="Arial" pitchFamily="34" charset="0"/>
              </a:rPr>
              <a:t>Quan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điểm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endParaRPr lang="en-US" altLang="ko-KR" sz="1200" b="1" dirty="0">
              <a:latin typeface="Arial" pitchFamily="34" charset="0"/>
              <a:ea typeface="맑은 고딕" pitchFamily="50" charset="-127"/>
              <a:cs typeface="Arial" pitchFamily="34" charset="0"/>
            </a:endParaRPr>
          </a:p>
          <a:p>
            <a:pPr algn="ctr" eaLnBrk="1" hangingPunct="1">
              <a:lnSpc>
                <a:spcPct val="110000"/>
              </a:lnSpc>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nhà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sản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xuất</a:t>
            </a:r>
            <a:endParaRPr lang="ko-KR" altLang="en-US" sz="1200" b="1" dirty="0">
              <a:latin typeface="Arial" pitchFamily="34" charset="0"/>
              <a:ea typeface="맑은 고딕" pitchFamily="50" charset="-127"/>
              <a:cs typeface="Arial" pitchFamily="34" charset="0"/>
            </a:endParaRPr>
          </a:p>
        </p:txBody>
      </p:sp>
      <p:sp>
        <p:nvSpPr>
          <p:cNvPr id="9225" name="Oval 98"/>
          <p:cNvSpPr>
            <a:spLocks noChangeArrowheads="1"/>
          </p:cNvSpPr>
          <p:nvPr/>
        </p:nvSpPr>
        <p:spPr bwMode="auto">
          <a:xfrm>
            <a:off x="6969224" y="1988840"/>
            <a:ext cx="1188720" cy="1097280"/>
          </a:xfrm>
          <a:prstGeom prst="ellipse">
            <a:avLst/>
          </a:prstGeom>
          <a:solidFill>
            <a:srgbClr val="FFFFCC"/>
          </a:solidFill>
          <a:ln w="19050"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200" b="1" dirty="0" err="1">
                <a:latin typeface="Arial" pitchFamily="34" charset="0"/>
                <a:ea typeface="맑은 고딕" pitchFamily="50" charset="-127"/>
                <a:cs typeface="Arial" pitchFamily="34" charset="0"/>
              </a:rPr>
              <a:t>Quan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điểm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p>
          <a:p>
            <a:pPr algn="ctr" eaLnBrk="1" hangingPunct="1">
              <a:lnSpc>
                <a:spcPct val="110000"/>
              </a:lnSpc>
            </a:pPr>
            <a:r>
              <a:rPr lang="en-US" altLang="ko-KR" sz="1200" b="1" dirty="0" err="1">
                <a:latin typeface="Arial" pitchFamily="34" charset="0"/>
                <a:ea typeface="맑은 고딕" pitchFamily="50" charset="-127"/>
                <a:cs typeface="Arial" pitchFamily="34" charset="0"/>
              </a:rPr>
              <a:t>khách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hàng</a:t>
            </a:r>
            <a:endParaRPr lang="ko-KR" altLang="en-US" sz="1200" b="1" dirty="0">
              <a:latin typeface="Arial" pitchFamily="34" charset="0"/>
              <a:ea typeface="맑은 고딕" pitchFamily="50" charset="-127"/>
              <a:cs typeface="Arial" pitchFamily="34" charset="0"/>
            </a:endParaRPr>
          </a:p>
        </p:txBody>
      </p:sp>
      <p:sp>
        <p:nvSpPr>
          <p:cNvPr id="9226" name="Text Box 99"/>
          <p:cNvSpPr txBox="1">
            <a:spLocks noChangeArrowheads="1"/>
          </p:cNvSpPr>
          <p:nvPr/>
        </p:nvSpPr>
        <p:spPr bwMode="auto">
          <a:xfrm>
            <a:off x="2787309" y="2265363"/>
            <a:ext cx="1865895" cy="473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400" b="1" dirty="0">
                <a:latin typeface="Arial" pitchFamily="34" charset="0"/>
                <a:ea typeface="맑은 고딕" pitchFamily="50" charset="-127"/>
                <a:cs typeface="Arial" pitchFamily="34" charset="0"/>
              </a:rPr>
              <a:t>“P</a:t>
            </a:r>
            <a:r>
              <a:rPr lang="vi-VN" altLang="ko-KR" sz="1400" b="1" dirty="0">
                <a:latin typeface="Arial" pitchFamily="34" charset="0"/>
                <a:ea typeface="맑은 고딕" pitchFamily="50" charset="-127"/>
                <a:cs typeface="Arial" pitchFamily="34" charset="0"/>
              </a:rPr>
              <a:t>hù hợp với yêu cầu</a:t>
            </a:r>
            <a:endParaRPr lang="en-US" altLang="ko-KR" sz="1400" b="1" dirty="0">
              <a:latin typeface="Arial" pitchFamily="34" charset="0"/>
              <a:ea typeface="맑은 고딕" pitchFamily="50" charset="-127"/>
              <a:cs typeface="Arial" pitchFamily="34" charset="0"/>
            </a:endParaRPr>
          </a:p>
          <a:p>
            <a:pPr algn="ctr" eaLnBrk="1" hangingPunct="1">
              <a:lnSpc>
                <a:spcPct val="110000"/>
              </a:lnSpc>
            </a:pPr>
            <a:r>
              <a:rPr lang="vi-VN" altLang="ko-KR" sz="1400" b="1" dirty="0">
                <a:latin typeface="Arial" pitchFamily="34" charset="0"/>
                <a:ea typeface="맑은 고딕" pitchFamily="50" charset="-127"/>
                <a:cs typeface="Arial" pitchFamily="34" charset="0"/>
              </a:rPr>
              <a:t> của khách hàng</a:t>
            </a:r>
            <a:r>
              <a:rPr lang="en-US" altLang="ko-KR" sz="1400" b="1" dirty="0">
                <a:latin typeface="Arial" pitchFamily="34" charset="0"/>
                <a:ea typeface="맑은 고딕" pitchFamily="50" charset="-127"/>
                <a:cs typeface="Arial" pitchFamily="34" charset="0"/>
              </a:rPr>
              <a:t>”</a:t>
            </a:r>
          </a:p>
        </p:txBody>
      </p:sp>
      <p:sp>
        <p:nvSpPr>
          <p:cNvPr id="9227" name="Text Box 100"/>
          <p:cNvSpPr txBox="1">
            <a:spLocks noChangeArrowheads="1"/>
          </p:cNvSpPr>
          <p:nvPr/>
        </p:nvSpPr>
        <p:spPr bwMode="auto">
          <a:xfrm>
            <a:off x="5522901" y="2265363"/>
            <a:ext cx="1439497" cy="473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400" b="1" dirty="0">
                <a:latin typeface="Arial" pitchFamily="34" charset="0"/>
                <a:ea typeface="맑은 고딕" pitchFamily="50" charset="-127"/>
                <a:cs typeface="Arial" pitchFamily="34" charset="0"/>
              </a:rPr>
              <a:t>“S</a:t>
            </a:r>
            <a:r>
              <a:rPr lang="vi-VN" altLang="ko-KR" sz="1400" b="1" dirty="0">
                <a:latin typeface="Arial" pitchFamily="34" charset="0"/>
                <a:ea typeface="맑은 고딕" pitchFamily="50" charset="-127"/>
                <a:cs typeface="Arial" pitchFamily="34" charset="0"/>
              </a:rPr>
              <a:t>ự hài lòng </a:t>
            </a:r>
            <a:endParaRPr lang="en-US" altLang="ko-KR" sz="1400" b="1" dirty="0">
              <a:latin typeface="Arial" pitchFamily="34" charset="0"/>
              <a:ea typeface="맑은 고딕" pitchFamily="50" charset="-127"/>
              <a:cs typeface="Arial" pitchFamily="34" charset="0"/>
            </a:endParaRPr>
          </a:p>
          <a:p>
            <a:pPr algn="ctr" eaLnBrk="1" hangingPunct="1">
              <a:lnSpc>
                <a:spcPct val="110000"/>
              </a:lnSpc>
            </a:pPr>
            <a:r>
              <a:rPr lang="vi-VN" altLang="ko-KR" sz="1400" b="1" dirty="0">
                <a:latin typeface="Arial" pitchFamily="34" charset="0"/>
                <a:ea typeface="맑은 고딕" pitchFamily="50" charset="-127"/>
                <a:cs typeface="Arial" pitchFamily="34" charset="0"/>
              </a:rPr>
              <a:t>của khách hàng</a:t>
            </a:r>
            <a:r>
              <a:rPr lang="en-US" altLang="ko-KR" sz="1400" b="1" dirty="0">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14</a:t>
            </a:fld>
            <a:endParaRPr lang="ko-KR" altLang="en-US" dirty="0">
              <a:latin typeface="Arial" pitchFamily="34" charset="0"/>
              <a:cs typeface="Arial" pitchFamily="34" charset="0"/>
            </a:endParaRPr>
          </a:p>
        </p:txBody>
      </p:sp>
      <p:sp>
        <p:nvSpPr>
          <p:cNvPr id="14" name="Rectangle 7"/>
          <p:cNvSpPr>
            <a:spLocks noChangeArrowheads="1"/>
          </p:cNvSpPr>
          <p:nvPr/>
        </p:nvSpPr>
        <p:spPr bwMode="auto">
          <a:xfrm>
            <a:off x="69850" y="185708"/>
            <a:ext cx="35429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Khái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niệm</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về</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chất</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lượng</a:t>
            </a:r>
            <a:endParaRPr lang="ko-KR" altLang="en-US" sz="2000" b="1" dirty="0">
              <a:latin typeface="Arial" pitchFamily="34" charset="0"/>
              <a:ea typeface="맑은 고딕" pitchFamily="50" charset="-127"/>
              <a:cs typeface="Arial" pitchFamily="34" charset="0"/>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7"/>
          <p:cNvSpPr>
            <a:spLocks noChangeArrowheads="1"/>
          </p:cNvSpPr>
          <p:nvPr/>
        </p:nvSpPr>
        <p:spPr bwMode="auto">
          <a:xfrm>
            <a:off x="69850" y="185708"/>
            <a:ext cx="41344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Định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nghĩa</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về</a:t>
            </a:r>
            <a:r>
              <a:rPr lang="en-US" altLang="ko-KR" sz="2000" b="1" dirty="0">
                <a:latin typeface="Arial" pitchFamily="34" charset="0"/>
                <a:ea typeface="맑은 고딕" pitchFamily="50" charset="-127"/>
                <a:cs typeface="Arial" pitchFamily="34" charset="0"/>
              </a:rPr>
              <a:t> 1 </a:t>
            </a:r>
            <a:r>
              <a:rPr lang="en-US" altLang="ko-KR" sz="2000" b="1" dirty="0" err="1">
                <a:latin typeface="Arial" pitchFamily="34" charset="0"/>
                <a:ea typeface="맑은 고딕" pitchFamily="50" charset="-127"/>
                <a:cs typeface="Arial" pitchFamily="34" charset="0"/>
              </a:rPr>
              <a:t>số</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thuật</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ngữ</a:t>
            </a:r>
            <a:endParaRPr lang="ko-KR" altLang="en-US" sz="2000" b="1" dirty="0">
              <a:latin typeface="Arial" pitchFamily="34" charset="0"/>
              <a:ea typeface="맑은 고딕" pitchFamily="50" charset="-127"/>
              <a:cs typeface="Arial" pitchFamily="34" charset="0"/>
            </a:endParaRPr>
          </a:p>
        </p:txBody>
      </p:sp>
      <p:grpSp>
        <p:nvGrpSpPr>
          <p:cNvPr id="10243" name="Group 44"/>
          <p:cNvGrpSpPr>
            <a:grpSpLocks/>
          </p:cNvGrpSpPr>
          <p:nvPr/>
        </p:nvGrpSpPr>
        <p:grpSpPr bwMode="auto">
          <a:xfrm>
            <a:off x="848106" y="1196975"/>
            <a:ext cx="5689219" cy="3140075"/>
            <a:chOff x="288" y="468"/>
            <a:chExt cx="4225" cy="2282"/>
          </a:xfrm>
        </p:grpSpPr>
        <p:sp>
          <p:nvSpPr>
            <p:cNvPr id="10248" name="Freeform 43"/>
            <p:cNvSpPr>
              <a:spLocks/>
            </p:cNvSpPr>
            <p:nvPr/>
          </p:nvSpPr>
          <p:spPr bwMode="auto">
            <a:xfrm>
              <a:off x="1621" y="1668"/>
              <a:ext cx="2358" cy="726"/>
            </a:xfrm>
            <a:custGeom>
              <a:avLst/>
              <a:gdLst>
                <a:gd name="T0" fmla="*/ 2358 w 2358"/>
                <a:gd name="T1" fmla="*/ 0 h 726"/>
                <a:gd name="T2" fmla="*/ 0 w 2358"/>
                <a:gd name="T3" fmla="*/ 726 h 726"/>
                <a:gd name="T4" fmla="*/ 1996 w 2358"/>
                <a:gd name="T5" fmla="*/ 726 h 726"/>
                <a:gd name="T6" fmla="*/ 2358 w 2358"/>
                <a:gd name="T7" fmla="*/ 0 h 726"/>
                <a:gd name="T8" fmla="*/ 0 60000 65536"/>
                <a:gd name="T9" fmla="*/ 0 60000 65536"/>
                <a:gd name="T10" fmla="*/ 0 60000 65536"/>
                <a:gd name="T11" fmla="*/ 0 60000 65536"/>
                <a:gd name="T12" fmla="*/ 0 w 2358"/>
                <a:gd name="T13" fmla="*/ 0 h 726"/>
                <a:gd name="T14" fmla="*/ 2358 w 2358"/>
                <a:gd name="T15" fmla="*/ 726 h 726"/>
              </a:gdLst>
              <a:ahLst/>
              <a:cxnLst>
                <a:cxn ang="T8">
                  <a:pos x="T0" y="T1"/>
                </a:cxn>
                <a:cxn ang="T9">
                  <a:pos x="T2" y="T3"/>
                </a:cxn>
                <a:cxn ang="T10">
                  <a:pos x="T4" y="T5"/>
                </a:cxn>
                <a:cxn ang="T11">
                  <a:pos x="T6" y="T7"/>
                </a:cxn>
              </a:cxnLst>
              <a:rect l="T12" t="T13" r="T14" b="T15"/>
              <a:pathLst>
                <a:path w="2358" h="726">
                  <a:moveTo>
                    <a:pt x="2358" y="0"/>
                  </a:moveTo>
                  <a:lnTo>
                    <a:pt x="0" y="726"/>
                  </a:lnTo>
                  <a:lnTo>
                    <a:pt x="1996" y="726"/>
                  </a:lnTo>
                  <a:lnTo>
                    <a:pt x="2358" y="0"/>
                  </a:lnTo>
                  <a:close/>
                </a:path>
              </a:pathLst>
            </a:custGeom>
            <a:gradFill rotWithShape="1">
              <a:gsLst>
                <a:gs pos="0">
                  <a:srgbClr val="66CCFF"/>
                </a:gs>
                <a:gs pos="100000">
                  <a:srgbClr val="2F5E76"/>
                </a:gs>
              </a:gsLst>
              <a:lin ang="0" scaled="1"/>
            </a:gradFill>
            <a:ln>
              <a:noFill/>
            </a:ln>
            <a:extLst>
              <a:ext uri="{91240B29-F687-4F45-9708-019B960494DF}">
                <a14:hiddenLine xmlns:a14="http://schemas.microsoft.com/office/drawing/2010/main" w="19050" cap="flat" cmpd="sng">
                  <a:solidFill>
                    <a:srgbClr val="000000"/>
                  </a:solidFill>
                  <a:prstDash val="solid"/>
                  <a:round/>
                  <a:headEnd type="none" w="med" len="med"/>
                  <a:tailEnd type="none" w="med" len="med"/>
                </a14:hiddenLine>
              </a:ext>
            </a:extLst>
          </p:spPr>
          <p:txBody>
            <a:bodyPr/>
            <a:lstStyle/>
            <a:p>
              <a:endParaRPr lang="ko-KR" altLang="en-US" dirty="0">
                <a:latin typeface="Arial" pitchFamily="34" charset="0"/>
                <a:cs typeface="Arial" pitchFamily="34" charset="0"/>
              </a:endParaRPr>
            </a:p>
          </p:txBody>
        </p:sp>
        <p:sp>
          <p:nvSpPr>
            <p:cNvPr id="10249" name="Rectangle 6"/>
            <p:cNvSpPr>
              <a:spLocks noChangeArrowheads="1"/>
            </p:cNvSpPr>
            <p:nvPr/>
          </p:nvSpPr>
          <p:spPr bwMode="auto">
            <a:xfrm>
              <a:off x="1397" y="1020"/>
              <a:ext cx="1587" cy="306"/>
            </a:xfrm>
            <a:prstGeom prst="rect">
              <a:avLst/>
            </a:prstGeom>
            <a:solidFill>
              <a:schemeClr val="accent2"/>
            </a:solidFill>
            <a:ln>
              <a:noFill/>
            </a:ln>
            <a:extLst>
              <a:ext uri="{91240B29-F687-4F45-9708-019B960494DF}">
                <a14:hiddenLine xmlns:a14="http://schemas.microsoft.com/office/drawing/2010/main" w="12700" cap="rnd" algn="ctr">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a:solidFill>
                    <a:schemeClr val="bg1"/>
                  </a:solidFill>
                  <a:latin typeface="Arial" pitchFamily="34" charset="0"/>
                  <a:ea typeface="맑은 고딕" pitchFamily="50" charset="-127"/>
                  <a:cs typeface="Arial" pitchFamily="34" charset="0"/>
                </a:rPr>
                <a:t>Process/System </a:t>
              </a:r>
            </a:p>
          </p:txBody>
        </p:sp>
        <p:sp>
          <p:nvSpPr>
            <p:cNvPr id="10250" name="Line 7"/>
            <p:cNvSpPr>
              <a:spLocks noChangeShapeType="1"/>
            </p:cNvSpPr>
            <p:nvPr/>
          </p:nvSpPr>
          <p:spPr bwMode="auto">
            <a:xfrm>
              <a:off x="915" y="1177"/>
              <a:ext cx="408" cy="0"/>
            </a:xfrm>
            <a:prstGeom prst="line">
              <a:avLst/>
            </a:prstGeom>
            <a:noFill/>
            <a:ln w="28575">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51" name="Line 8"/>
            <p:cNvSpPr>
              <a:spLocks noChangeShapeType="1"/>
            </p:cNvSpPr>
            <p:nvPr/>
          </p:nvSpPr>
          <p:spPr bwMode="auto">
            <a:xfrm>
              <a:off x="3069" y="1191"/>
              <a:ext cx="408" cy="0"/>
            </a:xfrm>
            <a:prstGeom prst="line">
              <a:avLst/>
            </a:prstGeom>
            <a:noFill/>
            <a:ln w="28575">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grpSp>
          <p:nvGrpSpPr>
            <p:cNvPr id="10252" name="Group 15"/>
            <p:cNvGrpSpPr>
              <a:grpSpLocks/>
            </p:cNvGrpSpPr>
            <p:nvPr/>
          </p:nvGrpSpPr>
          <p:grpSpPr bwMode="auto">
            <a:xfrm>
              <a:off x="2015" y="1365"/>
              <a:ext cx="363" cy="218"/>
              <a:chOff x="2427" y="1398"/>
              <a:chExt cx="363" cy="408"/>
            </a:xfrm>
          </p:grpSpPr>
          <p:sp>
            <p:nvSpPr>
              <p:cNvPr id="10274" name="Line 16"/>
              <p:cNvSpPr>
                <a:spLocks noChangeShapeType="1"/>
              </p:cNvSpPr>
              <p:nvPr/>
            </p:nvSpPr>
            <p:spPr bwMode="auto">
              <a:xfrm>
                <a:off x="2427" y="1398"/>
                <a:ext cx="0" cy="408"/>
              </a:xfrm>
              <a:prstGeom prst="line">
                <a:avLst/>
              </a:prstGeom>
              <a:noFill/>
              <a:ln w="57150" cap="rnd">
                <a:solidFill>
                  <a:schemeClr val="accent2"/>
                </a:solidFill>
                <a:round/>
                <a:headEnd type="triangle" w="med" len="me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75" name="Line 17"/>
              <p:cNvSpPr>
                <a:spLocks noChangeShapeType="1"/>
              </p:cNvSpPr>
              <p:nvPr/>
            </p:nvSpPr>
            <p:spPr bwMode="auto">
              <a:xfrm>
                <a:off x="2608" y="1398"/>
                <a:ext cx="0" cy="408"/>
              </a:xfrm>
              <a:prstGeom prst="line">
                <a:avLst/>
              </a:prstGeom>
              <a:noFill/>
              <a:ln w="57150" cap="rnd">
                <a:solidFill>
                  <a:schemeClr val="accent2"/>
                </a:solidFill>
                <a:round/>
                <a:headEnd type="triangle" w="med" len="me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76" name="Line 18"/>
              <p:cNvSpPr>
                <a:spLocks noChangeShapeType="1"/>
              </p:cNvSpPr>
              <p:nvPr/>
            </p:nvSpPr>
            <p:spPr bwMode="auto">
              <a:xfrm>
                <a:off x="2790" y="1398"/>
                <a:ext cx="0" cy="408"/>
              </a:xfrm>
              <a:prstGeom prst="line">
                <a:avLst/>
              </a:prstGeom>
              <a:noFill/>
              <a:ln w="57150" cap="rnd">
                <a:solidFill>
                  <a:schemeClr val="accent2"/>
                </a:solidFill>
                <a:round/>
                <a:headEnd type="triangle" w="med" len="me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grpSp>
        <p:sp>
          <p:nvSpPr>
            <p:cNvPr id="10253" name="Text Box 19"/>
            <p:cNvSpPr txBox="1">
              <a:spLocks noChangeArrowheads="1"/>
            </p:cNvSpPr>
            <p:nvPr/>
          </p:nvSpPr>
          <p:spPr bwMode="auto">
            <a:xfrm>
              <a:off x="288" y="1073"/>
              <a:ext cx="742" cy="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400" b="1" dirty="0" err="1">
                  <a:latin typeface="Arial" pitchFamily="34" charset="0"/>
                  <a:ea typeface="맑은 고딕" pitchFamily="50" charset="-127"/>
                  <a:cs typeface="Arial" pitchFamily="34" charset="0"/>
                </a:rPr>
                <a:t>Đầu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vào</a:t>
              </a:r>
              <a:endParaRPr lang="en-US" altLang="ko-KR" sz="1400" b="1" dirty="0">
                <a:latin typeface="Arial" pitchFamily="34" charset="0"/>
                <a:ea typeface="맑은 고딕" pitchFamily="50" charset="-127"/>
                <a:cs typeface="Arial" pitchFamily="34" charset="0"/>
              </a:endParaRPr>
            </a:p>
          </p:txBody>
        </p:sp>
        <p:sp>
          <p:nvSpPr>
            <p:cNvPr id="10254" name="Text Box 20"/>
            <p:cNvSpPr txBox="1">
              <a:spLocks noChangeArrowheads="1"/>
            </p:cNvSpPr>
            <p:nvPr/>
          </p:nvSpPr>
          <p:spPr bwMode="auto">
            <a:xfrm>
              <a:off x="3470" y="1092"/>
              <a:ext cx="1043" cy="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400" b="1" dirty="0" err="1">
                  <a:latin typeface="Arial" pitchFamily="34" charset="0"/>
                  <a:ea typeface="맑은 고딕" pitchFamily="50" charset="-127"/>
                  <a:cs typeface="Arial" pitchFamily="34" charset="0"/>
                </a:rPr>
                <a:t>Đầu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ra</a:t>
              </a:r>
              <a:r>
                <a:rPr lang="en-US" altLang="ko-KR" sz="1400" b="1" dirty="0">
                  <a:latin typeface="Arial" pitchFamily="34" charset="0"/>
                  <a:ea typeface="맑은 고딕" pitchFamily="50" charset="-127"/>
                  <a:cs typeface="Arial" pitchFamily="34" charset="0"/>
                </a:rPr>
                <a:t> (Y)</a:t>
              </a:r>
            </a:p>
          </p:txBody>
        </p:sp>
        <p:sp>
          <p:nvSpPr>
            <p:cNvPr id="10255" name="Text Box 21"/>
            <p:cNvSpPr txBox="1">
              <a:spLocks noChangeArrowheads="1"/>
            </p:cNvSpPr>
            <p:nvPr/>
          </p:nvSpPr>
          <p:spPr bwMode="auto">
            <a:xfrm>
              <a:off x="1567" y="1600"/>
              <a:ext cx="1181"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400" b="1" dirty="0">
                  <a:solidFill>
                    <a:srgbClr val="0000FF"/>
                  </a:solidFill>
                  <a:latin typeface="Arial" pitchFamily="34" charset="0"/>
                  <a:ea typeface="맑은 고딕" pitchFamily="50" charset="-127"/>
                  <a:cs typeface="Arial" pitchFamily="34" charset="0"/>
                </a:rPr>
                <a:t>X’s : Vital Few</a:t>
              </a:r>
              <a:br>
                <a:rPr lang="en-US" altLang="ko-KR" sz="1400" b="1" dirty="0">
                  <a:solidFill>
                    <a:srgbClr val="0000FF"/>
                  </a:solidFill>
                  <a:latin typeface="Arial" pitchFamily="34" charset="0"/>
                  <a:ea typeface="맑은 고딕" pitchFamily="50" charset="-127"/>
                  <a:cs typeface="Arial" pitchFamily="34" charset="0"/>
                </a:rPr>
              </a:br>
              <a:r>
                <a:rPr lang="en-US" altLang="ko-KR" sz="1400" b="1" dirty="0">
                  <a:solidFill>
                    <a:srgbClr val="0000FF"/>
                  </a:solidFill>
                  <a:latin typeface="Arial" pitchFamily="34" charset="0"/>
                  <a:ea typeface="맑은 고딕" pitchFamily="50" charset="-127"/>
                  <a:cs typeface="Arial" pitchFamily="34" charset="0"/>
                </a:rPr>
                <a:t>(</a:t>
              </a:r>
              <a:r>
                <a:rPr lang="en-US" altLang="ko-KR" sz="1400" b="1" dirty="0" err="1">
                  <a:solidFill>
                    <a:srgbClr val="0000FF"/>
                  </a:solidFill>
                  <a:latin typeface="Arial" pitchFamily="34" charset="0"/>
                  <a:ea typeface="맑은 고딕" pitchFamily="50" charset="-127"/>
                  <a:cs typeface="Arial" pitchFamily="34" charset="0"/>
                </a:rPr>
                <a:t>số</a:t>
              </a:r>
              <a:r>
                <a:rPr lang="en-US" altLang="ko-KR" sz="1400" b="1" dirty="0">
                  <a:solidFill>
                    <a:srgbClr val="0000FF"/>
                  </a:solidFill>
                  <a:latin typeface="Arial" pitchFamily="34" charset="0"/>
                  <a:ea typeface="맑은 고딕" pitchFamily="50" charset="-127"/>
                  <a:cs typeface="Arial" pitchFamily="34" charset="0"/>
                </a:rPr>
                <a:t> </a:t>
              </a:r>
              <a:r>
                <a:rPr lang="en-US" altLang="ko-KR" sz="1400" b="1" dirty="0" err="1">
                  <a:solidFill>
                    <a:srgbClr val="0000FF"/>
                  </a:solidFill>
                  <a:latin typeface="Arial" pitchFamily="34" charset="0"/>
                  <a:ea typeface="맑은 고딕" pitchFamily="50" charset="-127"/>
                  <a:cs typeface="Arial" pitchFamily="34" charset="0"/>
                </a:rPr>
                <a:t>ít</a:t>
              </a:r>
              <a:r>
                <a:rPr lang="en-US" altLang="ko-KR" sz="1400" b="1" dirty="0">
                  <a:solidFill>
                    <a:srgbClr val="0000FF"/>
                  </a:solidFill>
                  <a:latin typeface="Arial" pitchFamily="34" charset="0"/>
                  <a:ea typeface="맑은 고딕" pitchFamily="50" charset="-127"/>
                  <a:cs typeface="Arial" pitchFamily="34" charset="0"/>
                </a:rPr>
                <a:t> </a:t>
              </a:r>
              <a:r>
                <a:rPr lang="en-US" altLang="ko-KR" sz="1400" b="1" dirty="0" err="1">
                  <a:solidFill>
                    <a:srgbClr val="0000FF"/>
                  </a:solidFill>
                  <a:latin typeface="Arial" pitchFamily="34" charset="0"/>
                  <a:ea typeface="맑은 고딕" pitchFamily="50" charset="-127"/>
                  <a:cs typeface="Arial" pitchFamily="34" charset="0"/>
                </a:rPr>
                <a:t>trọng</a:t>
              </a:r>
              <a:r>
                <a:rPr lang="en-US" altLang="ko-KR" sz="1400" b="1" dirty="0">
                  <a:solidFill>
                    <a:srgbClr val="0000FF"/>
                  </a:solidFill>
                  <a:latin typeface="Arial" pitchFamily="34" charset="0"/>
                  <a:ea typeface="맑은 고딕" pitchFamily="50" charset="-127"/>
                  <a:cs typeface="Arial" pitchFamily="34" charset="0"/>
                </a:rPr>
                <a:t> </a:t>
              </a:r>
              <a:r>
                <a:rPr lang="en-US" altLang="ko-KR" sz="1400" b="1" dirty="0" err="1">
                  <a:solidFill>
                    <a:srgbClr val="0000FF"/>
                  </a:solidFill>
                  <a:latin typeface="Arial" pitchFamily="34" charset="0"/>
                  <a:ea typeface="맑은 고딕" pitchFamily="50" charset="-127"/>
                  <a:cs typeface="Arial" pitchFamily="34" charset="0"/>
                </a:rPr>
                <a:t>yếu</a:t>
              </a:r>
              <a:r>
                <a:rPr lang="en-US" altLang="ko-KR" sz="1400" b="1" dirty="0">
                  <a:solidFill>
                    <a:srgbClr val="0000FF"/>
                  </a:solidFill>
                  <a:latin typeface="Arial" pitchFamily="34" charset="0"/>
                  <a:ea typeface="맑은 고딕" pitchFamily="50" charset="-127"/>
                  <a:cs typeface="Arial" pitchFamily="34" charset="0"/>
                </a:rPr>
                <a:t>)</a:t>
              </a:r>
            </a:p>
          </p:txBody>
        </p:sp>
        <p:sp>
          <p:nvSpPr>
            <p:cNvPr id="10256" name="Text Box 22"/>
            <p:cNvSpPr txBox="1">
              <a:spLocks noChangeArrowheads="1"/>
            </p:cNvSpPr>
            <p:nvPr/>
          </p:nvSpPr>
          <p:spPr bwMode="auto">
            <a:xfrm>
              <a:off x="1410" y="468"/>
              <a:ext cx="2408" cy="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400" b="1" dirty="0">
                  <a:solidFill>
                    <a:srgbClr val="FF0000"/>
                  </a:solidFill>
                  <a:latin typeface="Arial" pitchFamily="34" charset="0"/>
                  <a:ea typeface="맑은 고딕" pitchFamily="50" charset="-127"/>
                  <a:cs typeface="Arial" pitchFamily="34" charset="0"/>
                </a:rPr>
                <a:t>N’s : Trivial many (</a:t>
              </a:r>
              <a:r>
                <a:rPr lang="en-US" altLang="ko-KR" sz="1400" b="1" dirty="0" err="1">
                  <a:solidFill>
                    <a:srgbClr val="FF0000"/>
                  </a:solidFill>
                  <a:latin typeface="Arial" pitchFamily="34" charset="0"/>
                  <a:ea typeface="맑은 고딕" pitchFamily="50" charset="-127"/>
                  <a:cs typeface="Arial" pitchFamily="34" charset="0"/>
                </a:rPr>
                <a:t>số</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nhiều</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thứ</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yếu</a:t>
              </a:r>
              <a:r>
                <a:rPr lang="en-US" altLang="ko-KR" sz="1400" b="1" dirty="0">
                  <a:solidFill>
                    <a:srgbClr val="FF0000"/>
                  </a:solidFill>
                  <a:latin typeface="Arial" pitchFamily="34" charset="0"/>
                  <a:ea typeface="맑은 고딕" pitchFamily="50" charset="-127"/>
                  <a:cs typeface="Arial" pitchFamily="34" charset="0"/>
                </a:rPr>
                <a:t>)</a:t>
              </a:r>
            </a:p>
          </p:txBody>
        </p:sp>
        <p:sp>
          <p:nvSpPr>
            <p:cNvPr id="10257" name="Text Box 25"/>
            <p:cNvSpPr txBox="1">
              <a:spLocks noChangeArrowheads="1"/>
            </p:cNvSpPr>
            <p:nvPr/>
          </p:nvSpPr>
          <p:spPr bwMode="auto">
            <a:xfrm>
              <a:off x="3309" y="2024"/>
              <a:ext cx="104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endParaRPr lang="ko-KR" altLang="ko-KR" sz="2400" b="1" dirty="0">
                <a:solidFill>
                  <a:srgbClr val="FF0000"/>
                </a:solidFill>
                <a:latin typeface="Arial" pitchFamily="34" charset="0"/>
                <a:ea typeface="맑은 고딕" pitchFamily="50" charset="-127"/>
                <a:cs typeface="Arial" pitchFamily="34" charset="0"/>
              </a:endParaRPr>
            </a:p>
          </p:txBody>
        </p:sp>
        <p:cxnSp>
          <p:nvCxnSpPr>
            <p:cNvPr id="10258" name="AutoShape 33"/>
            <p:cNvCxnSpPr>
              <a:cxnSpLocks noChangeShapeType="1"/>
              <a:stCxn id="10255" idx="3"/>
              <a:endCxn id="10254" idx="2"/>
            </p:cNvCxnSpPr>
            <p:nvPr/>
          </p:nvCxnSpPr>
          <p:spPr bwMode="auto">
            <a:xfrm flipV="1">
              <a:off x="2748" y="1316"/>
              <a:ext cx="1243" cy="474"/>
            </a:xfrm>
            <a:prstGeom prst="bentConnector2">
              <a:avLst/>
            </a:prstGeom>
            <a:noFill/>
            <a:ln w="28575">
              <a:solidFill>
                <a:srgbClr val="0000FF"/>
              </a:solidFill>
              <a:miter lim="800000"/>
              <a:headEnd/>
              <a:tailEnd/>
            </a:ln>
            <a:extLst>
              <a:ext uri="{909E8E84-426E-40DD-AFC4-6F175D3DCCD1}">
                <a14:hiddenFill xmlns:a14="http://schemas.microsoft.com/office/drawing/2010/main">
                  <a:noFill/>
                </a14:hiddenFill>
              </a:ext>
            </a:extLst>
          </p:spPr>
        </p:cxnSp>
        <p:sp>
          <p:nvSpPr>
            <p:cNvPr id="10259" name="Oval 34"/>
            <p:cNvSpPr>
              <a:spLocks noChangeArrowheads="1"/>
            </p:cNvSpPr>
            <p:nvPr/>
          </p:nvSpPr>
          <p:spPr bwMode="auto">
            <a:xfrm>
              <a:off x="3883" y="1602"/>
              <a:ext cx="149" cy="149"/>
            </a:xfrm>
            <a:prstGeom prst="ellipse">
              <a:avLst/>
            </a:prstGeom>
            <a:solidFill>
              <a:srgbClr val="0000FF"/>
            </a:solidFill>
            <a:ln w="19050"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grpSp>
          <p:nvGrpSpPr>
            <p:cNvPr id="10260" name="Group 40"/>
            <p:cNvGrpSpPr>
              <a:grpSpLocks/>
            </p:cNvGrpSpPr>
            <p:nvPr/>
          </p:nvGrpSpPr>
          <p:grpSpPr bwMode="auto">
            <a:xfrm>
              <a:off x="1564" y="681"/>
              <a:ext cx="1245" cy="289"/>
              <a:chOff x="1564" y="681"/>
              <a:chExt cx="1245" cy="289"/>
            </a:xfrm>
          </p:grpSpPr>
          <p:sp>
            <p:nvSpPr>
              <p:cNvPr id="10264" name="Line 10"/>
              <p:cNvSpPr>
                <a:spLocks noChangeShapeType="1"/>
              </p:cNvSpPr>
              <p:nvPr/>
            </p:nvSpPr>
            <p:spPr bwMode="auto">
              <a:xfrm>
                <a:off x="1564"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65" name="Line 11"/>
              <p:cNvSpPr>
                <a:spLocks noChangeShapeType="1"/>
              </p:cNvSpPr>
              <p:nvPr/>
            </p:nvSpPr>
            <p:spPr bwMode="auto">
              <a:xfrm>
                <a:off x="1702"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66" name="Line 12"/>
              <p:cNvSpPr>
                <a:spLocks noChangeShapeType="1"/>
              </p:cNvSpPr>
              <p:nvPr/>
            </p:nvSpPr>
            <p:spPr bwMode="auto">
              <a:xfrm>
                <a:off x="1840"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67" name="Line 13"/>
              <p:cNvSpPr>
                <a:spLocks noChangeShapeType="1"/>
              </p:cNvSpPr>
              <p:nvPr/>
            </p:nvSpPr>
            <p:spPr bwMode="auto">
              <a:xfrm>
                <a:off x="1979"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68" name="Line 14"/>
              <p:cNvSpPr>
                <a:spLocks noChangeShapeType="1"/>
              </p:cNvSpPr>
              <p:nvPr/>
            </p:nvSpPr>
            <p:spPr bwMode="auto">
              <a:xfrm>
                <a:off x="2117"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69" name="Line 35"/>
              <p:cNvSpPr>
                <a:spLocks noChangeShapeType="1"/>
              </p:cNvSpPr>
              <p:nvPr/>
            </p:nvSpPr>
            <p:spPr bwMode="auto">
              <a:xfrm>
                <a:off x="2255"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70" name="Line 36"/>
              <p:cNvSpPr>
                <a:spLocks noChangeShapeType="1"/>
              </p:cNvSpPr>
              <p:nvPr/>
            </p:nvSpPr>
            <p:spPr bwMode="auto">
              <a:xfrm>
                <a:off x="2394"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71" name="Line 37"/>
              <p:cNvSpPr>
                <a:spLocks noChangeShapeType="1"/>
              </p:cNvSpPr>
              <p:nvPr/>
            </p:nvSpPr>
            <p:spPr bwMode="auto">
              <a:xfrm>
                <a:off x="2532"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72" name="Line 38"/>
              <p:cNvSpPr>
                <a:spLocks noChangeShapeType="1"/>
              </p:cNvSpPr>
              <p:nvPr/>
            </p:nvSpPr>
            <p:spPr bwMode="auto">
              <a:xfrm>
                <a:off x="2670"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0273" name="Line 39"/>
              <p:cNvSpPr>
                <a:spLocks noChangeShapeType="1"/>
              </p:cNvSpPr>
              <p:nvPr/>
            </p:nvSpPr>
            <p:spPr bwMode="auto">
              <a:xfrm>
                <a:off x="2809" y="681"/>
                <a:ext cx="0" cy="289"/>
              </a:xfrm>
              <a:prstGeom prst="line">
                <a:avLst/>
              </a:prstGeom>
              <a:noFill/>
              <a:ln w="12700" cap="rnd">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grpSp>
        <p:cxnSp>
          <p:nvCxnSpPr>
            <p:cNvPr id="10261" name="AutoShape 41"/>
            <p:cNvCxnSpPr>
              <a:cxnSpLocks noChangeShapeType="1"/>
              <a:stCxn id="10253" idx="0"/>
              <a:endCxn id="10256" idx="1"/>
            </p:cNvCxnSpPr>
            <p:nvPr/>
          </p:nvCxnSpPr>
          <p:spPr bwMode="auto">
            <a:xfrm rot="5400000" flipH="1" flipV="1">
              <a:off x="788" y="451"/>
              <a:ext cx="493" cy="751"/>
            </a:xfrm>
            <a:prstGeom prst="curvedConnector2">
              <a:avLst/>
            </a:prstGeom>
            <a:noFill/>
            <a:ln w="19050">
              <a:solidFill>
                <a:srgbClr val="0000FF"/>
              </a:solidFill>
              <a:prstDash val="sysDot"/>
              <a:round/>
              <a:headEnd/>
              <a:tailEnd type="triangle" w="med" len="med"/>
            </a:ln>
            <a:extLst>
              <a:ext uri="{909E8E84-426E-40DD-AFC4-6F175D3DCCD1}">
                <a14:hiddenFill xmlns:a14="http://schemas.microsoft.com/office/drawing/2010/main">
                  <a:noFill/>
                </a14:hiddenFill>
              </a:ext>
            </a:extLst>
          </p:spPr>
        </p:cxnSp>
        <p:cxnSp>
          <p:nvCxnSpPr>
            <p:cNvPr id="10262" name="AutoShape 42"/>
            <p:cNvCxnSpPr>
              <a:cxnSpLocks noChangeShapeType="1"/>
              <a:stCxn id="10253" idx="2"/>
              <a:endCxn id="10255" idx="1"/>
            </p:cNvCxnSpPr>
            <p:nvPr/>
          </p:nvCxnSpPr>
          <p:spPr bwMode="auto">
            <a:xfrm rot="16200000" flipH="1">
              <a:off x="866" y="1089"/>
              <a:ext cx="493" cy="908"/>
            </a:xfrm>
            <a:prstGeom prst="curvedConnector2">
              <a:avLst/>
            </a:prstGeom>
            <a:noFill/>
            <a:ln w="19050">
              <a:solidFill>
                <a:srgbClr val="0000FF"/>
              </a:solidFill>
              <a:prstDash val="sysDot"/>
              <a:round/>
              <a:headEnd/>
              <a:tailEnd type="triangle" w="med" len="med"/>
            </a:ln>
            <a:extLst>
              <a:ext uri="{909E8E84-426E-40DD-AFC4-6F175D3DCCD1}">
                <a14:hiddenFill xmlns:a14="http://schemas.microsoft.com/office/drawing/2010/main">
                  <a:noFill/>
                </a14:hiddenFill>
              </a:ext>
            </a:extLst>
          </p:spPr>
        </p:cxnSp>
        <p:sp>
          <p:nvSpPr>
            <p:cNvPr id="10263" name="Oval 27"/>
            <p:cNvSpPr>
              <a:spLocks noChangeArrowheads="1"/>
            </p:cNvSpPr>
            <p:nvPr/>
          </p:nvSpPr>
          <p:spPr bwMode="auto">
            <a:xfrm>
              <a:off x="1442" y="2073"/>
              <a:ext cx="2162" cy="677"/>
            </a:xfrm>
            <a:prstGeom prst="ellipse">
              <a:avLst/>
            </a:prstGeom>
            <a:solidFill>
              <a:srgbClr val="CCFFFF"/>
            </a:solidFill>
            <a:ln w="12700" cap="rnd"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3600" b="1" dirty="0">
                  <a:solidFill>
                    <a:srgbClr val="553ABA"/>
                  </a:solidFill>
                  <a:latin typeface="Arial" pitchFamily="34" charset="0"/>
                  <a:ea typeface="맑은 고딕" pitchFamily="50" charset="-127"/>
                  <a:cs typeface="Arial" pitchFamily="34" charset="0"/>
                </a:rPr>
                <a:t>Y = f(X’s)</a:t>
              </a:r>
            </a:p>
          </p:txBody>
        </p:sp>
      </p:grpSp>
      <p:sp>
        <p:nvSpPr>
          <p:cNvPr id="10244" name="Text Box 45"/>
          <p:cNvSpPr txBox="1">
            <a:spLocks noChangeArrowheads="1"/>
          </p:cNvSpPr>
          <p:nvPr/>
        </p:nvSpPr>
        <p:spPr bwMode="auto">
          <a:xfrm>
            <a:off x="2228850" y="4325938"/>
            <a:ext cx="1776413"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latin typeface="Arial" pitchFamily="34" charset="0"/>
                <a:ea typeface="맑은 고딕" pitchFamily="50" charset="-127"/>
                <a:cs typeface="Arial" pitchFamily="34" charset="0"/>
              </a:rPr>
              <a:t>-  Y</a:t>
            </a:r>
          </a:p>
          <a:p>
            <a:pPr eaLnBrk="1" hangingPunct="1">
              <a:spcBef>
                <a:spcPct val="50000"/>
              </a:spcBef>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Đầu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ra</a:t>
            </a:r>
            <a:r>
              <a:rPr lang="en-US" altLang="ko-KR" sz="1200" b="1" dirty="0">
                <a:latin typeface="Arial" pitchFamily="34" charset="0"/>
                <a:ea typeface="맑은 고딕" pitchFamily="50" charset="-127"/>
                <a:cs typeface="Arial" pitchFamily="34" charset="0"/>
              </a:rPr>
              <a:t> (customer)</a:t>
            </a:r>
          </a:p>
          <a:p>
            <a:pPr eaLnBrk="1" hangingPunct="1">
              <a:spcBef>
                <a:spcPct val="50000"/>
              </a:spcBef>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Biến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phụ</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thuộc</a:t>
            </a:r>
            <a:endParaRPr lang="ko-KR" altLang="en-US" sz="1200" b="1" dirty="0">
              <a:latin typeface="Arial" pitchFamily="34" charset="0"/>
              <a:ea typeface="맑은 고딕" pitchFamily="50" charset="-127"/>
              <a:cs typeface="Arial" pitchFamily="34" charset="0"/>
            </a:endParaRPr>
          </a:p>
          <a:p>
            <a:pPr eaLnBrk="1" hangingPunct="1">
              <a:spcBef>
                <a:spcPct val="50000"/>
              </a:spcBef>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Các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biểu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hiện</a:t>
            </a:r>
            <a:endParaRPr lang="ko-KR" altLang="en-US" sz="1200" b="1" dirty="0">
              <a:latin typeface="Arial" pitchFamily="34" charset="0"/>
              <a:ea typeface="맑은 고딕" pitchFamily="50" charset="-127"/>
              <a:cs typeface="Arial" pitchFamily="34" charset="0"/>
            </a:endParaRPr>
          </a:p>
          <a:p>
            <a:pPr eaLnBrk="1" hangingPunct="1">
              <a:spcBef>
                <a:spcPct val="50000"/>
              </a:spcBef>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Chủ</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đề</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việc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kiểm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soát</a:t>
            </a:r>
            <a:r>
              <a:rPr lang="en-US" altLang="ko-KR" sz="1200" b="1" dirty="0">
                <a:latin typeface="Arial" pitchFamily="34" charset="0"/>
                <a:ea typeface="맑은 고딕" pitchFamily="50" charset="-127"/>
                <a:cs typeface="Arial" pitchFamily="34" charset="0"/>
              </a:rPr>
              <a:t>/</a:t>
            </a:r>
            <a:r>
              <a:rPr lang="en-US" altLang="ko-KR" sz="1200" b="1" dirty="0" err="1">
                <a:latin typeface="Arial" pitchFamily="34" charset="0"/>
                <a:ea typeface="맑은 고딕" pitchFamily="50" charset="-127"/>
                <a:cs typeface="Arial" pitchFamily="34" charset="0"/>
              </a:rPr>
              <a:t>quan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sát</a:t>
            </a:r>
            <a:endParaRPr lang="ko-KR" altLang="en-US" sz="1200" b="1" dirty="0">
              <a:latin typeface="Arial" pitchFamily="34" charset="0"/>
              <a:ea typeface="맑은 고딕" pitchFamily="50" charset="-127"/>
              <a:cs typeface="Arial" pitchFamily="34" charset="0"/>
            </a:endParaRPr>
          </a:p>
          <a:p>
            <a:pPr eaLnBrk="1" hangingPunct="1">
              <a:spcBef>
                <a:spcPct val="50000"/>
              </a:spcBef>
            </a:pPr>
            <a:endParaRPr lang="en-US" altLang="ko-KR" sz="1200" b="1" dirty="0">
              <a:latin typeface="Arial" pitchFamily="34" charset="0"/>
              <a:ea typeface="맑은 고딕" pitchFamily="50" charset="-127"/>
              <a:cs typeface="Arial" pitchFamily="34" charset="0"/>
            </a:endParaRPr>
          </a:p>
        </p:txBody>
      </p:sp>
      <p:sp>
        <p:nvSpPr>
          <p:cNvPr id="10245" name="Text Box 46"/>
          <p:cNvSpPr txBox="1">
            <a:spLocks noChangeArrowheads="1"/>
          </p:cNvSpPr>
          <p:nvPr/>
        </p:nvSpPr>
        <p:spPr bwMode="auto">
          <a:xfrm>
            <a:off x="3992562" y="4333875"/>
            <a:ext cx="1746256"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latin typeface="Arial" pitchFamily="34" charset="0"/>
                <a:ea typeface="맑은 고딕" pitchFamily="50" charset="-127"/>
                <a:cs typeface="Arial" pitchFamily="34" charset="0"/>
              </a:rPr>
              <a:t>-  X</a:t>
            </a:r>
            <a:r>
              <a:rPr lang="en-US" altLang="ko-KR" sz="1200" b="1" baseline="-25000" dirty="0">
                <a:latin typeface="Arial" pitchFamily="34" charset="0"/>
                <a:ea typeface="맑은 고딕" pitchFamily="50" charset="-127"/>
                <a:cs typeface="Arial" pitchFamily="34" charset="0"/>
              </a:rPr>
              <a:t>1</a:t>
            </a:r>
            <a:r>
              <a:rPr lang="en-US" altLang="ko-KR" sz="1200" b="1" dirty="0">
                <a:latin typeface="Arial" pitchFamily="34" charset="0"/>
                <a:ea typeface="맑은 고딕" pitchFamily="50" charset="-127"/>
                <a:cs typeface="Arial" pitchFamily="34" charset="0"/>
              </a:rPr>
              <a:t>, X</a:t>
            </a:r>
            <a:r>
              <a:rPr lang="en-US" altLang="ko-KR" sz="1200" b="1" baseline="-25000" dirty="0">
                <a:latin typeface="Arial" pitchFamily="34" charset="0"/>
                <a:ea typeface="맑은 고딕" pitchFamily="50" charset="-127"/>
                <a:cs typeface="Arial" pitchFamily="34" charset="0"/>
              </a:rPr>
              <a:t>2</a:t>
            </a:r>
            <a:r>
              <a:rPr lang="en-US" altLang="ko-KR" sz="1200" b="1" dirty="0">
                <a:latin typeface="Arial" pitchFamily="34" charset="0"/>
                <a:ea typeface="맑은 고딕" pitchFamily="50" charset="-127"/>
                <a:cs typeface="Arial" pitchFamily="34" charset="0"/>
              </a:rPr>
              <a:t>, …, X</a:t>
            </a:r>
            <a:r>
              <a:rPr lang="en-US" altLang="ko-KR" sz="1200" b="1" baseline="-25000" dirty="0">
                <a:latin typeface="Arial" pitchFamily="34" charset="0"/>
                <a:ea typeface="맑은 고딕" pitchFamily="50" charset="-127"/>
                <a:cs typeface="Arial" pitchFamily="34" charset="0"/>
              </a:rPr>
              <a:t>n</a:t>
            </a:r>
          </a:p>
          <a:p>
            <a:pPr eaLnBrk="1" hangingPunct="1">
              <a:spcBef>
                <a:spcPct val="50000"/>
              </a:spcBef>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Đầu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vào</a:t>
            </a:r>
            <a:r>
              <a:rPr lang="en-US" altLang="ko-KR" sz="1200" b="1" dirty="0">
                <a:latin typeface="Arial" pitchFamily="34" charset="0"/>
                <a:ea typeface="맑은 고딕" pitchFamily="50" charset="-127"/>
                <a:cs typeface="Arial" pitchFamily="34" charset="0"/>
              </a:rPr>
              <a:t> (process)</a:t>
            </a:r>
          </a:p>
          <a:p>
            <a:pPr eaLnBrk="1" hangingPunct="1">
              <a:spcBef>
                <a:spcPct val="50000"/>
              </a:spcBef>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Biến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độc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lập</a:t>
            </a:r>
            <a:endParaRPr lang="ko-KR" altLang="en-US" sz="1200" b="1" dirty="0">
              <a:latin typeface="Arial" pitchFamily="34" charset="0"/>
              <a:ea typeface="맑은 고딕" pitchFamily="50" charset="-127"/>
              <a:cs typeface="Arial" pitchFamily="34" charset="0"/>
            </a:endParaRPr>
          </a:p>
          <a:p>
            <a:pPr eaLnBrk="1" hangingPunct="1">
              <a:spcBef>
                <a:spcPct val="50000"/>
              </a:spcBef>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Nguyên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nhân</a:t>
            </a:r>
            <a:endParaRPr lang="ko-KR" altLang="en-US" sz="1200" b="1" dirty="0">
              <a:latin typeface="Arial" pitchFamily="34" charset="0"/>
              <a:ea typeface="맑은 고딕" pitchFamily="50" charset="-127"/>
              <a:cs typeface="Arial" pitchFamily="34" charset="0"/>
            </a:endParaRPr>
          </a:p>
          <a:p>
            <a:pPr eaLnBrk="1" hangingPunct="1">
              <a:spcBef>
                <a:spcPct val="50000"/>
              </a:spcBef>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Chủ</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đề</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việc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kiểm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soát</a:t>
            </a:r>
            <a:endParaRPr lang="ko-KR" altLang="en-US" sz="1200" b="1" dirty="0">
              <a:latin typeface="Arial" pitchFamily="34" charset="0"/>
              <a:ea typeface="맑은 고딕" pitchFamily="50" charset="-127"/>
              <a:cs typeface="Arial" pitchFamily="34" charset="0"/>
            </a:endParaRPr>
          </a:p>
        </p:txBody>
      </p:sp>
      <p:sp>
        <p:nvSpPr>
          <p:cNvPr id="10246" name="Text Box 48"/>
          <p:cNvSpPr txBox="1">
            <a:spLocks noChangeArrowheads="1"/>
          </p:cNvSpPr>
          <p:nvPr/>
        </p:nvSpPr>
        <p:spPr bwMode="auto">
          <a:xfrm>
            <a:off x="6321152" y="3267075"/>
            <a:ext cx="2879725"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endParaRPr lang="en-US" altLang="ko-KR" sz="1600" dirty="0">
              <a:latin typeface="Arial" pitchFamily="34" charset="0"/>
              <a:ea typeface="맑은 고딕" pitchFamily="50" charset="-127"/>
              <a:cs typeface="Arial" pitchFamily="34" charset="0"/>
            </a:endParaRPr>
          </a:p>
          <a:p>
            <a:pPr eaLnBrk="1" hangingPunct="1">
              <a:spcBef>
                <a:spcPct val="50000"/>
              </a:spcBef>
            </a:pPr>
            <a:r>
              <a:rPr lang="en-US" altLang="ko-KR" sz="1600" dirty="0" err="1">
                <a:latin typeface="Arial" pitchFamily="34" charset="0"/>
                <a:ea typeface="맑은 고딕" pitchFamily="50" charset="-127"/>
                <a:cs typeface="Arial" pitchFamily="34" charset="0"/>
              </a:rPr>
              <a:t>Quản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lý</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nguyên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(X’s) </a:t>
            </a:r>
            <a:r>
              <a:rPr lang="en-US" altLang="ko-KR" sz="1600" dirty="0" err="1">
                <a:latin typeface="Arial" pitchFamily="34" charset="0"/>
                <a:ea typeface="맑은 고딕" pitchFamily="50" charset="-127"/>
                <a:cs typeface="Arial" pitchFamily="34" charset="0"/>
              </a:rPr>
              <a:t>để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duy</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trì</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kết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quả</a:t>
            </a:r>
            <a:r>
              <a:rPr lang="en-US" altLang="ko-KR" sz="1600" dirty="0">
                <a:latin typeface="Arial" pitchFamily="34" charset="0"/>
                <a:ea typeface="맑은 고딕" pitchFamily="50" charset="-127"/>
                <a:cs typeface="Arial" pitchFamily="34" charset="0"/>
              </a:rPr>
              <a:t> (Y)</a:t>
            </a:r>
          </a:p>
          <a:p>
            <a:pPr eaLnBrk="1" hangingPunct="1">
              <a:spcBef>
                <a:spcPct val="50000"/>
              </a:spcBef>
            </a:pPr>
            <a:endParaRPr lang="en-US" altLang="ko-KR" sz="1600" dirty="0">
              <a:latin typeface="Arial" pitchFamily="34" charset="0"/>
              <a:ea typeface="맑은 고딕" pitchFamily="50" charset="-127"/>
              <a:cs typeface="Arial" pitchFamily="34" charset="0"/>
            </a:endParaRPr>
          </a:p>
          <a:p>
            <a:pPr eaLnBrk="1" hangingPunct="1">
              <a:spcBef>
                <a:spcPct val="50000"/>
              </a:spcBef>
            </a:pPr>
            <a:r>
              <a:rPr lang="en-US" altLang="ko-KR" sz="1600" dirty="0" err="1">
                <a:latin typeface="Arial" pitchFamily="34" charset="0"/>
                <a:ea typeface="맑은 고딕" pitchFamily="50" charset="-127"/>
                <a:cs typeface="Arial" pitchFamily="34" charset="0"/>
              </a:rPr>
              <a:t>Khắc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phục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nguyên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(X’s) </a:t>
            </a:r>
            <a:r>
              <a:rPr lang="en-US" altLang="ko-KR" sz="1600" dirty="0" err="1">
                <a:latin typeface="Arial" pitchFamily="34" charset="0"/>
                <a:ea typeface="맑은 고딕" pitchFamily="50" charset="-127"/>
                <a:cs typeface="Arial" pitchFamily="34" charset="0"/>
              </a:rPr>
              <a:t>để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cải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thiện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kết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quả</a:t>
            </a:r>
            <a:r>
              <a:rPr lang="en-US" altLang="ko-KR" sz="1600" dirty="0">
                <a:latin typeface="Arial" pitchFamily="34" charset="0"/>
                <a:ea typeface="맑은 고딕" pitchFamily="50" charset="-127"/>
                <a:cs typeface="Arial" pitchFamily="34" charset="0"/>
              </a:rPr>
              <a:t> (Y) </a:t>
            </a:r>
          </a:p>
        </p:txBody>
      </p:sp>
      <p:sp>
        <p:nvSpPr>
          <p:cNvPr id="10247" name="Text Box 48"/>
          <p:cNvSpPr txBox="1">
            <a:spLocks noChangeArrowheads="1"/>
          </p:cNvSpPr>
          <p:nvPr/>
        </p:nvSpPr>
        <p:spPr bwMode="auto">
          <a:xfrm>
            <a:off x="6321152" y="1556792"/>
            <a:ext cx="338437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600" b="1" dirty="0" err="1">
                <a:latin typeface="Arial" pitchFamily="34" charset="0"/>
                <a:ea typeface="맑은 고딕" pitchFamily="50" charset="-127"/>
                <a:cs typeface="Arial" pitchFamily="34" charset="0"/>
              </a:rPr>
              <a:t>Nguyên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lý</a:t>
            </a:r>
            <a:r>
              <a:rPr lang="en-US" altLang="ko-KR" sz="1600" b="1" dirty="0">
                <a:latin typeface="Arial" pitchFamily="34" charset="0"/>
                <a:ea typeface="맑은 고딕" pitchFamily="50" charset="-127"/>
                <a:cs typeface="Arial" pitchFamily="34" charset="0"/>
              </a:rPr>
              <a:t> Pareto</a:t>
            </a:r>
            <a:r>
              <a:rPr lang="en-US" altLang="ko-KR" sz="1600" dirty="0">
                <a:latin typeface="Arial" pitchFamily="34" charset="0"/>
                <a:ea typeface="맑은 고딕" pitchFamily="50" charset="-127"/>
                <a:cs typeface="Arial" pitchFamily="34" charset="0"/>
              </a:rPr>
              <a:t>:</a:t>
            </a:r>
            <a:br>
              <a:rPr lang="en-US" altLang="ko-KR" sz="1600" dirty="0">
                <a:latin typeface="Arial" pitchFamily="34" charset="0"/>
                <a:ea typeface="맑은 고딕" pitchFamily="50" charset="-127"/>
                <a:cs typeface="Arial" pitchFamily="34" charset="0"/>
              </a:rPr>
            </a:br>
            <a:r>
              <a:rPr lang="en-US" altLang="ko-KR" sz="1400" dirty="0">
                <a:latin typeface="Arial" pitchFamily="34" charset="0"/>
                <a:ea typeface="맑은 고딕" pitchFamily="50" charset="-127"/>
                <a:cs typeface="Arial" pitchFamily="34" charset="0"/>
              </a:rPr>
              <a:t>20% </a:t>
            </a:r>
            <a:r>
              <a:rPr lang="en-US" altLang="ko-KR" sz="1400" dirty="0" err="1">
                <a:latin typeface="Arial" pitchFamily="34" charset="0"/>
                <a:ea typeface="맑은 고딕" pitchFamily="50" charset="-127"/>
                <a:cs typeface="Arial" pitchFamily="34" charset="0"/>
              </a:rPr>
              <a:t>nguyên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nhân</a:t>
            </a:r>
            <a:r>
              <a:rPr lang="en-US" altLang="ko-KR" sz="1400" dirty="0">
                <a:latin typeface="Arial" pitchFamily="34" charset="0"/>
                <a:ea typeface="맑은 고딕" pitchFamily="50" charset="-127"/>
                <a:cs typeface="Arial" pitchFamily="34" charset="0"/>
              </a:rPr>
              <a:t> (vital few) </a:t>
            </a:r>
            <a:r>
              <a:rPr lang="en-US" altLang="ko-KR" sz="1400" dirty="0" err="1">
                <a:latin typeface="Arial" pitchFamily="34" charset="0"/>
                <a:ea typeface="맑은 고딕" pitchFamily="50" charset="-127"/>
                <a:cs typeface="Arial" pitchFamily="34" charset="0"/>
              </a:rPr>
              <a:t>xác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định</a:t>
            </a:r>
            <a:r>
              <a:rPr lang="en-US" altLang="ko-KR" sz="1400" dirty="0">
                <a:latin typeface="Arial" pitchFamily="34" charset="0"/>
                <a:ea typeface="맑은 고딕" pitchFamily="50" charset="-127"/>
                <a:cs typeface="Arial" pitchFamily="34" charset="0"/>
              </a:rPr>
              <a:t> 80% </a:t>
            </a:r>
            <a:r>
              <a:rPr lang="en-US" altLang="ko-KR" sz="1400" dirty="0" err="1">
                <a:latin typeface="Arial" pitchFamily="34" charset="0"/>
                <a:ea typeface="맑은 고딕" pitchFamily="50" charset="-127"/>
                <a:cs typeface="Arial" pitchFamily="34" charset="0"/>
              </a:rPr>
              <a:t>kết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quả</a:t>
            </a:r>
            <a:endParaRPr lang="en-US" altLang="ko-KR" sz="1400"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15</a:t>
            </a:fld>
            <a:endParaRPr lang="ko-KR" altLang="en-US" dirty="0">
              <a:latin typeface="Arial" pitchFamily="34" charset="0"/>
              <a:cs typeface="Arial" pitchFamily="34" charset="0"/>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7" name="Rectangle 17"/>
          <p:cNvSpPr>
            <a:spLocks noChangeArrowheads="1"/>
          </p:cNvSpPr>
          <p:nvPr/>
        </p:nvSpPr>
        <p:spPr bwMode="auto">
          <a:xfrm>
            <a:off x="2286785" y="1196975"/>
            <a:ext cx="23743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66"/>
                </a:solidFill>
                <a:latin typeface="Arial" pitchFamily="34" charset="0"/>
                <a:ea typeface="+mn-ea"/>
                <a:cs typeface="Arial" pitchFamily="34" charset="0"/>
              </a:rPr>
              <a:t>[</a:t>
            </a:r>
            <a:r>
              <a:rPr lang="en-US" altLang="ko-KR" sz="1200" dirty="0" err="1">
                <a:solidFill>
                  <a:srgbClr val="000066"/>
                </a:solidFill>
                <a:latin typeface="Arial" pitchFamily="34" charset="0"/>
                <a:ea typeface="+mn-ea"/>
                <a:cs typeface="Arial" pitchFamily="34" charset="0"/>
              </a:rPr>
              <a:t>Khái</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niệm</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về</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giới</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hạn</a:t>
            </a:r>
            <a:r>
              <a:rPr lang="en-US" altLang="ko-KR" sz="1200" dirty="0">
                <a:solidFill>
                  <a:srgbClr val="000066"/>
                </a:solidFill>
                <a:latin typeface="Arial" pitchFamily="34" charset="0"/>
                <a:ea typeface="+mn-ea"/>
                <a:cs typeface="Arial" pitchFamily="34" charset="0"/>
              </a:rPr>
              <a:t> dung </a:t>
            </a:r>
            <a:r>
              <a:rPr lang="en-US" altLang="ko-KR" sz="1200" dirty="0" err="1">
                <a:solidFill>
                  <a:srgbClr val="000066"/>
                </a:solidFill>
                <a:latin typeface="Arial" pitchFamily="34" charset="0"/>
                <a:ea typeface="+mn-ea"/>
                <a:cs typeface="Arial" pitchFamily="34" charset="0"/>
              </a:rPr>
              <a:t>sai</a:t>
            </a:r>
            <a:r>
              <a:rPr lang="en-US" altLang="ko-KR" sz="1200" dirty="0">
                <a:solidFill>
                  <a:srgbClr val="000066"/>
                </a:solidFill>
                <a:latin typeface="Arial" pitchFamily="34" charset="0"/>
                <a:ea typeface="+mn-ea"/>
                <a:cs typeface="Arial" pitchFamily="34" charset="0"/>
              </a:rPr>
              <a:t>]</a:t>
            </a:r>
          </a:p>
        </p:txBody>
      </p:sp>
      <p:sp>
        <p:nvSpPr>
          <p:cNvPr id="11268" name="Rectangle 66"/>
          <p:cNvSpPr>
            <a:spLocks noChangeArrowheads="1"/>
          </p:cNvSpPr>
          <p:nvPr/>
        </p:nvSpPr>
        <p:spPr bwMode="auto">
          <a:xfrm>
            <a:off x="6834541" y="2458189"/>
            <a:ext cx="2865437"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20000"/>
              </a:lnSpc>
            </a:pPr>
            <a:r>
              <a:rPr lang="en-US" altLang="ko-KR" sz="1000" dirty="0">
                <a:solidFill>
                  <a:srgbClr val="CC0000"/>
                </a:solidFill>
                <a:latin typeface="Arial" pitchFamily="34" charset="0"/>
                <a:ea typeface="+mn-ea"/>
                <a:cs typeface="Arial" pitchFamily="34" charset="0"/>
              </a:rPr>
              <a:t>■ </a:t>
            </a:r>
            <a:r>
              <a:rPr lang="en-US" altLang="ko-KR" sz="1000" dirty="0">
                <a:latin typeface="Arial" pitchFamily="34" charset="0"/>
                <a:ea typeface="+mn-ea"/>
                <a:cs typeface="Arial" pitchFamily="34" charset="0"/>
              </a:rPr>
              <a:t>Failure Limit: </a:t>
            </a:r>
            <a:r>
              <a:rPr lang="vi-VN" altLang="ko-KR" sz="1000" dirty="0">
                <a:latin typeface="Arial" pitchFamily="34" charset="0"/>
                <a:cs typeface="Arial" pitchFamily="34" charset="0"/>
              </a:rPr>
              <a:t>nếu giới hạn này bị vượt quá</a:t>
            </a:r>
            <a:r>
              <a:rPr lang="en-US" altLang="ko-KR" sz="1000" dirty="0">
                <a:latin typeface="Arial" pitchFamily="34" charset="0"/>
                <a:cs typeface="Arial" pitchFamily="34" charset="0"/>
              </a:rPr>
              <a:t>, </a:t>
            </a:r>
            <a:r>
              <a:rPr lang="en-US" altLang="ko-KR" sz="1000" dirty="0" err="1">
                <a:latin typeface="Arial" pitchFamily="34" charset="0"/>
                <a:ea typeface="+mn-ea"/>
                <a:cs typeface="Arial" pitchFamily="34" charset="0"/>
              </a:rPr>
              <a:t>lỗi</a:t>
            </a:r>
            <a:r>
              <a:rPr lang="en-US" altLang="ko-KR" sz="1000" dirty="0">
                <a:latin typeface="Arial" pitchFamily="34" charset="0"/>
                <a:ea typeface="+mn-ea"/>
                <a:cs typeface="Arial" pitchFamily="34" charset="0"/>
              </a:rPr>
              <a:t> </a:t>
            </a:r>
            <a:r>
              <a:rPr lang="en-US" altLang="ko-KR" sz="1000" dirty="0" err="1">
                <a:latin typeface="Arial" pitchFamily="34" charset="0"/>
                <a:ea typeface="+mn-ea"/>
                <a:cs typeface="Arial" pitchFamily="34" charset="0"/>
              </a:rPr>
              <a:t>nghiêm</a:t>
            </a:r>
            <a:r>
              <a:rPr lang="en-US" altLang="ko-KR" sz="1000" dirty="0">
                <a:latin typeface="Arial" pitchFamily="34" charset="0"/>
                <a:ea typeface="+mn-ea"/>
                <a:cs typeface="Arial" pitchFamily="34" charset="0"/>
              </a:rPr>
              <a:t> </a:t>
            </a:r>
            <a:r>
              <a:rPr lang="en-US" altLang="ko-KR" sz="1000" dirty="0" err="1">
                <a:latin typeface="Arial" pitchFamily="34" charset="0"/>
                <a:ea typeface="+mn-ea"/>
                <a:cs typeface="Arial" pitchFamily="34" charset="0"/>
              </a:rPr>
              <a:t>trọng</a:t>
            </a:r>
            <a:r>
              <a:rPr lang="en-US" altLang="ko-KR" sz="1000" dirty="0">
                <a:latin typeface="Arial" pitchFamily="34" charset="0"/>
                <a:ea typeface="+mn-ea"/>
                <a:cs typeface="Arial" pitchFamily="34" charset="0"/>
              </a:rPr>
              <a:t> </a:t>
            </a:r>
            <a:r>
              <a:rPr lang="vi-VN" altLang="ko-KR" sz="1000" dirty="0">
                <a:latin typeface="Arial" pitchFamily="34" charset="0"/>
                <a:ea typeface="+mn-ea"/>
                <a:cs typeface="Arial" pitchFamily="34" charset="0"/>
              </a:rPr>
              <a:t>có thể</a:t>
            </a:r>
            <a:r>
              <a:rPr lang="en-US" altLang="ko-KR" sz="1000" dirty="0">
                <a:latin typeface="Arial" pitchFamily="34" charset="0"/>
                <a:ea typeface="+mn-ea"/>
                <a:cs typeface="Arial" pitchFamily="34" charset="0"/>
              </a:rPr>
              <a:t> </a:t>
            </a:r>
            <a:r>
              <a:rPr lang="en-US" altLang="ko-KR" sz="1000" dirty="0" err="1">
                <a:latin typeface="Arial" pitchFamily="34" charset="0"/>
                <a:ea typeface="+mn-ea"/>
                <a:cs typeface="Arial" pitchFamily="34" charset="0"/>
              </a:rPr>
              <a:t>xảy</a:t>
            </a:r>
            <a:r>
              <a:rPr lang="en-US" altLang="ko-KR" sz="1000" dirty="0">
                <a:latin typeface="Arial" pitchFamily="34" charset="0"/>
                <a:ea typeface="+mn-ea"/>
                <a:cs typeface="Arial" pitchFamily="34" charset="0"/>
              </a:rPr>
              <a:t> </a:t>
            </a:r>
            <a:r>
              <a:rPr lang="en-US" altLang="ko-KR" sz="1000" dirty="0" err="1">
                <a:latin typeface="Arial" pitchFamily="34" charset="0"/>
                <a:ea typeface="+mn-ea"/>
                <a:cs typeface="Arial" pitchFamily="34" charset="0"/>
              </a:rPr>
              <a:t>ra</a:t>
            </a:r>
            <a:endParaRPr lang="ko-KR" altLang="en-US" sz="1000" dirty="0">
              <a:latin typeface="Arial" pitchFamily="34" charset="0"/>
              <a:ea typeface="+mn-ea"/>
              <a:cs typeface="Arial" pitchFamily="34" charset="0"/>
            </a:endParaRPr>
          </a:p>
          <a:p>
            <a:pPr algn="just" eaLnBrk="1" hangingPunct="1">
              <a:lnSpc>
                <a:spcPct val="120000"/>
              </a:lnSpc>
            </a:pPr>
            <a:r>
              <a:rPr lang="ko-KR" altLang="en-US" sz="1000" dirty="0">
                <a:solidFill>
                  <a:srgbClr val="CC0000"/>
                </a:solidFill>
                <a:latin typeface="Arial" pitchFamily="34" charset="0"/>
                <a:ea typeface="+mn-ea"/>
                <a:cs typeface="Arial" pitchFamily="34" charset="0"/>
              </a:rPr>
              <a:t>■ </a:t>
            </a:r>
            <a:r>
              <a:rPr lang="en-US" altLang="ko-KR" sz="1000" dirty="0">
                <a:latin typeface="Arial" pitchFamily="34" charset="0"/>
                <a:ea typeface="+mn-ea"/>
                <a:cs typeface="Arial" pitchFamily="34" charset="0"/>
              </a:rPr>
              <a:t>Operating Limit: </a:t>
            </a:r>
            <a:r>
              <a:rPr lang="vi-VN" altLang="ko-KR" sz="1000" dirty="0">
                <a:latin typeface="Arial" pitchFamily="34" charset="0"/>
                <a:ea typeface="+mn-ea"/>
                <a:cs typeface="Arial" pitchFamily="34" charset="0"/>
              </a:rPr>
              <a:t>khiếm khuyết lớn có thể xảy ra nếu như giới hạn này bị vượt quá</a:t>
            </a:r>
            <a:endParaRPr lang="ko-KR" altLang="en-US" sz="1000" dirty="0">
              <a:latin typeface="Arial" pitchFamily="34" charset="0"/>
              <a:ea typeface="+mn-ea"/>
              <a:cs typeface="Arial" pitchFamily="34" charset="0"/>
            </a:endParaRPr>
          </a:p>
          <a:p>
            <a:pPr algn="just" eaLnBrk="1" hangingPunct="1">
              <a:lnSpc>
                <a:spcPct val="120000"/>
              </a:lnSpc>
            </a:pPr>
            <a:r>
              <a:rPr lang="ko-KR" altLang="en-US" sz="1000" dirty="0">
                <a:solidFill>
                  <a:srgbClr val="CC0000"/>
                </a:solidFill>
                <a:latin typeface="Arial" pitchFamily="34" charset="0"/>
                <a:ea typeface="+mn-ea"/>
                <a:cs typeface="Arial" pitchFamily="34" charset="0"/>
              </a:rPr>
              <a:t>■ </a:t>
            </a:r>
            <a:r>
              <a:rPr lang="en-US" altLang="ko-KR" sz="1000" dirty="0">
                <a:latin typeface="Arial" pitchFamily="34" charset="0"/>
                <a:ea typeface="+mn-ea"/>
                <a:cs typeface="Arial" pitchFamily="34" charset="0"/>
              </a:rPr>
              <a:t>Standard Limit: </a:t>
            </a:r>
            <a:r>
              <a:rPr lang="vi-VN" altLang="ko-KR" sz="1000" dirty="0">
                <a:latin typeface="Arial" pitchFamily="34" charset="0"/>
                <a:ea typeface="+mn-ea"/>
                <a:cs typeface="Arial" pitchFamily="34" charset="0"/>
              </a:rPr>
              <a:t>vấn đề </a:t>
            </a:r>
            <a:r>
              <a:rPr lang="en-US" altLang="ko-KR" sz="1000" dirty="0">
                <a:latin typeface="Arial" pitchFamily="34" charset="0"/>
                <a:ea typeface="+mn-ea"/>
                <a:cs typeface="Arial" pitchFamily="34" charset="0"/>
              </a:rPr>
              <a:t>SCV </a:t>
            </a:r>
            <a:r>
              <a:rPr lang="vi-VN" altLang="ko-KR" sz="1000" dirty="0">
                <a:latin typeface="Arial" pitchFamily="34" charset="0"/>
                <a:ea typeface="+mn-ea"/>
                <a:cs typeface="Arial" pitchFamily="34" charset="0"/>
              </a:rPr>
              <a:t>có thể xảy </a:t>
            </a:r>
            <a:endParaRPr lang="en-US" altLang="ko-KR" sz="1000" dirty="0">
              <a:latin typeface="Arial" pitchFamily="34" charset="0"/>
              <a:ea typeface="+mn-ea"/>
              <a:cs typeface="Arial" pitchFamily="34" charset="0"/>
            </a:endParaRPr>
          </a:p>
          <a:p>
            <a:pPr algn="just" eaLnBrk="1" hangingPunct="1">
              <a:lnSpc>
                <a:spcPct val="120000"/>
              </a:lnSpc>
            </a:pPr>
            <a:r>
              <a:rPr lang="vi-VN" altLang="ko-KR" sz="1000" dirty="0">
                <a:latin typeface="Arial" pitchFamily="34" charset="0"/>
                <a:ea typeface="+mn-ea"/>
                <a:cs typeface="Arial" pitchFamily="34" charset="0"/>
              </a:rPr>
              <a:t>ra nếu như giới hạn này bị vượt quá</a:t>
            </a:r>
            <a:endParaRPr lang="ko-KR" altLang="en-US" sz="1000" dirty="0">
              <a:latin typeface="Arial" pitchFamily="34" charset="0"/>
              <a:ea typeface="+mn-ea"/>
              <a:cs typeface="Arial" pitchFamily="34" charset="0"/>
            </a:endParaRPr>
          </a:p>
          <a:p>
            <a:pPr algn="just" eaLnBrk="1" hangingPunct="1">
              <a:lnSpc>
                <a:spcPct val="120000"/>
              </a:lnSpc>
            </a:pPr>
            <a:r>
              <a:rPr lang="ko-KR" altLang="en-US" sz="1000" dirty="0">
                <a:solidFill>
                  <a:srgbClr val="CC0000"/>
                </a:solidFill>
                <a:latin typeface="Arial" pitchFamily="34" charset="0"/>
                <a:ea typeface="+mn-ea"/>
                <a:cs typeface="Arial" pitchFamily="34" charset="0"/>
              </a:rPr>
              <a:t>■ </a:t>
            </a:r>
            <a:r>
              <a:rPr lang="en-US" altLang="ko-KR" sz="1000" dirty="0">
                <a:latin typeface="Arial" pitchFamily="34" charset="0"/>
                <a:ea typeface="+mn-ea"/>
                <a:cs typeface="Arial" pitchFamily="34" charset="0"/>
              </a:rPr>
              <a:t>Spec</a:t>
            </a:r>
            <a:r>
              <a:rPr lang="ko-KR" altLang="en-US" sz="1000" dirty="0">
                <a:latin typeface="Arial" pitchFamily="34" charset="0"/>
                <a:ea typeface="+mn-ea"/>
                <a:cs typeface="Arial" pitchFamily="34" charset="0"/>
              </a:rPr>
              <a:t> </a:t>
            </a:r>
            <a:r>
              <a:rPr lang="en-US" altLang="ko-KR" sz="1000" dirty="0">
                <a:latin typeface="Arial" pitchFamily="34" charset="0"/>
                <a:ea typeface="+mn-ea"/>
                <a:cs typeface="Arial" pitchFamily="34" charset="0"/>
              </a:rPr>
              <a:t>Limit: </a:t>
            </a:r>
            <a:r>
              <a:rPr lang="vi-VN" altLang="ko-KR" sz="1000" dirty="0">
                <a:latin typeface="Arial" pitchFamily="34" charset="0"/>
                <a:cs typeface="Arial" pitchFamily="34" charset="0"/>
              </a:rPr>
              <a:t>vấn đề </a:t>
            </a:r>
            <a:r>
              <a:rPr lang="en-US" altLang="ko-KR" sz="1000" dirty="0">
                <a:latin typeface="Arial" pitchFamily="34" charset="0"/>
                <a:cs typeface="Arial" pitchFamily="34" charset="0"/>
              </a:rPr>
              <a:t>ILO </a:t>
            </a:r>
            <a:r>
              <a:rPr lang="vi-VN" altLang="ko-KR" sz="1000" dirty="0">
                <a:latin typeface="Arial" pitchFamily="34" charset="0"/>
                <a:cs typeface="Arial" pitchFamily="34" charset="0"/>
              </a:rPr>
              <a:t>có thể xảy </a:t>
            </a:r>
            <a:endParaRPr lang="en-US" altLang="ko-KR" sz="1000" dirty="0">
              <a:latin typeface="Arial" pitchFamily="34" charset="0"/>
              <a:cs typeface="Arial" pitchFamily="34" charset="0"/>
            </a:endParaRPr>
          </a:p>
          <a:p>
            <a:pPr algn="just" eaLnBrk="1" hangingPunct="1">
              <a:lnSpc>
                <a:spcPct val="120000"/>
              </a:lnSpc>
            </a:pPr>
            <a:r>
              <a:rPr lang="vi-VN" altLang="ko-KR" sz="1000" dirty="0">
                <a:latin typeface="Arial" pitchFamily="34" charset="0"/>
                <a:cs typeface="Arial" pitchFamily="34" charset="0"/>
              </a:rPr>
              <a:t>ra nếu như giới hạn này bị vượt quá</a:t>
            </a:r>
            <a:endParaRPr lang="ko-KR" altLang="en-US" sz="1000" dirty="0">
              <a:latin typeface="Arial" pitchFamily="34" charset="0"/>
              <a:ea typeface="+mn-ea"/>
              <a:cs typeface="Arial" pitchFamily="34" charset="0"/>
            </a:endParaRPr>
          </a:p>
          <a:p>
            <a:pPr algn="just" eaLnBrk="1" hangingPunct="1">
              <a:lnSpc>
                <a:spcPct val="120000"/>
              </a:lnSpc>
            </a:pPr>
            <a:r>
              <a:rPr lang="ko-KR" altLang="en-US" sz="1000" dirty="0">
                <a:solidFill>
                  <a:srgbClr val="CC0000"/>
                </a:solidFill>
                <a:latin typeface="Arial" pitchFamily="34" charset="0"/>
                <a:ea typeface="+mn-ea"/>
                <a:cs typeface="Arial" pitchFamily="34" charset="0"/>
              </a:rPr>
              <a:t>■ </a:t>
            </a:r>
            <a:r>
              <a:rPr lang="en-US" altLang="ko-KR" sz="1000" dirty="0">
                <a:latin typeface="Arial" pitchFamily="34" charset="0"/>
                <a:ea typeface="+mn-ea"/>
                <a:cs typeface="Arial" pitchFamily="34" charset="0"/>
              </a:rPr>
              <a:t>Management Limit: </a:t>
            </a:r>
            <a:r>
              <a:rPr lang="vi-VN" altLang="ko-KR" sz="1000" dirty="0">
                <a:latin typeface="Arial" pitchFamily="34" charset="0"/>
                <a:cs typeface="Arial" pitchFamily="34" charset="0"/>
              </a:rPr>
              <a:t>vấn đề </a:t>
            </a:r>
            <a:r>
              <a:rPr lang="en-US" altLang="ko-KR" sz="1000" dirty="0" err="1">
                <a:latin typeface="Arial" pitchFamily="34" charset="0"/>
                <a:cs typeface="Arial" pitchFamily="34" charset="0"/>
              </a:rPr>
              <a:t>năng</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lực</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quy</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trình</a:t>
            </a:r>
            <a:r>
              <a:rPr lang="vi-VN" altLang="ko-KR" sz="1000" dirty="0">
                <a:latin typeface="Arial" pitchFamily="34" charset="0"/>
                <a:cs typeface="Arial" pitchFamily="34" charset="0"/>
              </a:rPr>
              <a:t> có thể</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xảy</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ra</a:t>
            </a:r>
            <a:r>
              <a:rPr lang="vi-VN" altLang="ko-KR" sz="1000" dirty="0">
                <a:latin typeface="Arial" pitchFamily="34" charset="0"/>
                <a:cs typeface="Arial" pitchFamily="34" charset="0"/>
              </a:rPr>
              <a:t> nếu giới hạn này bị vượt quá</a:t>
            </a:r>
            <a:endParaRPr lang="ko-KR" altLang="en-US" sz="1000" dirty="0">
              <a:latin typeface="Arial" pitchFamily="34" charset="0"/>
              <a:cs typeface="Arial" pitchFamily="34" charset="0"/>
            </a:endParaRPr>
          </a:p>
        </p:txBody>
      </p:sp>
      <p:sp>
        <p:nvSpPr>
          <p:cNvPr id="11269" name="Line 69"/>
          <p:cNvSpPr>
            <a:spLocks noChangeShapeType="1"/>
          </p:cNvSpPr>
          <p:nvPr/>
        </p:nvSpPr>
        <p:spPr bwMode="auto">
          <a:xfrm>
            <a:off x="428625" y="3559175"/>
            <a:ext cx="61055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70" name="Line 70"/>
          <p:cNvSpPr>
            <a:spLocks noChangeShapeType="1"/>
          </p:cNvSpPr>
          <p:nvPr/>
        </p:nvSpPr>
        <p:spPr bwMode="auto">
          <a:xfrm>
            <a:off x="2682875" y="2755900"/>
            <a:ext cx="0" cy="1443038"/>
          </a:xfrm>
          <a:prstGeom prst="line">
            <a:avLst/>
          </a:prstGeom>
          <a:noFill/>
          <a:ln w="38100">
            <a:solidFill>
              <a:srgbClr val="0066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71" name="Line 71"/>
          <p:cNvSpPr>
            <a:spLocks noChangeShapeType="1"/>
          </p:cNvSpPr>
          <p:nvPr/>
        </p:nvSpPr>
        <p:spPr bwMode="auto">
          <a:xfrm>
            <a:off x="4246563" y="2754313"/>
            <a:ext cx="0" cy="1392237"/>
          </a:xfrm>
          <a:prstGeom prst="line">
            <a:avLst/>
          </a:prstGeom>
          <a:noFill/>
          <a:ln w="38100">
            <a:solidFill>
              <a:srgbClr val="0066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72" name="Rectangle 72"/>
          <p:cNvSpPr>
            <a:spLocks noChangeArrowheads="1"/>
          </p:cNvSpPr>
          <p:nvPr/>
        </p:nvSpPr>
        <p:spPr bwMode="auto">
          <a:xfrm>
            <a:off x="2468563" y="4148138"/>
            <a:ext cx="4571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66"/>
                </a:solidFill>
                <a:latin typeface="Arial" pitchFamily="34" charset="0"/>
                <a:ea typeface="+mn-ea"/>
                <a:cs typeface="Arial" pitchFamily="34" charset="0"/>
              </a:rPr>
              <a:t>LSL</a:t>
            </a:r>
          </a:p>
        </p:txBody>
      </p:sp>
      <p:sp>
        <p:nvSpPr>
          <p:cNvPr id="11273" name="Rectangle 73"/>
          <p:cNvSpPr>
            <a:spLocks noChangeArrowheads="1"/>
          </p:cNvSpPr>
          <p:nvPr/>
        </p:nvSpPr>
        <p:spPr bwMode="auto">
          <a:xfrm>
            <a:off x="4044950" y="4148138"/>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66"/>
                </a:solidFill>
                <a:latin typeface="Arial" pitchFamily="34" charset="0"/>
                <a:ea typeface="+mn-ea"/>
                <a:cs typeface="Arial" pitchFamily="34" charset="0"/>
              </a:rPr>
              <a:t>USL</a:t>
            </a:r>
          </a:p>
        </p:txBody>
      </p:sp>
      <p:sp>
        <p:nvSpPr>
          <p:cNvPr id="11274" name="Line 74"/>
          <p:cNvSpPr>
            <a:spLocks noChangeShapeType="1"/>
          </p:cNvSpPr>
          <p:nvPr/>
        </p:nvSpPr>
        <p:spPr bwMode="auto">
          <a:xfrm>
            <a:off x="2971800" y="3167063"/>
            <a:ext cx="0" cy="6080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75" name="Line 75"/>
          <p:cNvSpPr>
            <a:spLocks noChangeShapeType="1"/>
          </p:cNvSpPr>
          <p:nvPr/>
        </p:nvSpPr>
        <p:spPr bwMode="auto">
          <a:xfrm>
            <a:off x="3969085" y="3178175"/>
            <a:ext cx="0" cy="596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76" name="Rectangle 76"/>
          <p:cNvSpPr>
            <a:spLocks noChangeArrowheads="1"/>
          </p:cNvSpPr>
          <p:nvPr/>
        </p:nvSpPr>
        <p:spPr bwMode="auto">
          <a:xfrm>
            <a:off x="2747963" y="3846513"/>
            <a:ext cx="4651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66"/>
                </a:solidFill>
                <a:latin typeface="Arial" pitchFamily="34" charset="0"/>
                <a:ea typeface="+mn-ea"/>
                <a:cs typeface="Arial" pitchFamily="34" charset="0"/>
              </a:rPr>
              <a:t>LCL</a:t>
            </a:r>
          </a:p>
        </p:txBody>
      </p:sp>
      <p:sp>
        <p:nvSpPr>
          <p:cNvPr id="11277" name="Rectangle 77"/>
          <p:cNvSpPr>
            <a:spLocks noChangeArrowheads="1"/>
          </p:cNvSpPr>
          <p:nvPr/>
        </p:nvSpPr>
        <p:spPr bwMode="auto">
          <a:xfrm>
            <a:off x="3716338" y="3846513"/>
            <a:ext cx="4908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66"/>
                </a:solidFill>
                <a:latin typeface="Arial" pitchFamily="34" charset="0"/>
                <a:ea typeface="+mn-ea"/>
                <a:cs typeface="Arial" pitchFamily="34" charset="0"/>
              </a:rPr>
              <a:t>UCL</a:t>
            </a:r>
          </a:p>
        </p:txBody>
      </p:sp>
      <p:sp>
        <p:nvSpPr>
          <p:cNvPr id="11278" name="Line 78"/>
          <p:cNvSpPr>
            <a:spLocks noChangeShapeType="1"/>
          </p:cNvSpPr>
          <p:nvPr/>
        </p:nvSpPr>
        <p:spPr bwMode="auto">
          <a:xfrm>
            <a:off x="2189163" y="2424113"/>
            <a:ext cx="0" cy="2008187"/>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79" name="Rectangle 79"/>
          <p:cNvSpPr>
            <a:spLocks noChangeArrowheads="1"/>
          </p:cNvSpPr>
          <p:nvPr/>
        </p:nvSpPr>
        <p:spPr bwMode="auto">
          <a:xfrm>
            <a:off x="1712913" y="4422775"/>
            <a:ext cx="15462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err="1">
                <a:solidFill>
                  <a:srgbClr val="000066"/>
                </a:solidFill>
                <a:latin typeface="Arial" pitchFamily="34" charset="0"/>
                <a:ea typeface="+mn-ea"/>
                <a:cs typeface="Arial" pitchFamily="34" charset="0"/>
              </a:rPr>
              <a:t>Giới</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hạn</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dưới</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của</a:t>
            </a:r>
            <a:endParaRPr lang="en-US" altLang="ko-KR" sz="1200" dirty="0">
              <a:solidFill>
                <a:srgbClr val="000066"/>
              </a:solidFill>
              <a:latin typeface="Arial" pitchFamily="34" charset="0"/>
              <a:ea typeface="+mn-ea"/>
              <a:cs typeface="Arial" pitchFamily="34" charset="0"/>
            </a:endParaRPr>
          </a:p>
          <a:p>
            <a:pPr eaLnBrk="1" hangingPunct="1"/>
            <a:r>
              <a:rPr lang="en-US" altLang="ko-KR" sz="1200" dirty="0">
                <a:solidFill>
                  <a:srgbClr val="000066"/>
                </a:solidFill>
                <a:latin typeface="Arial" pitchFamily="34" charset="0"/>
                <a:ea typeface="+mn-ea"/>
                <a:cs typeface="Arial" pitchFamily="34" charset="0"/>
              </a:rPr>
              <a:t>VOC, </a:t>
            </a:r>
            <a:r>
              <a:rPr lang="en-US" altLang="ko-KR" sz="1200" dirty="0" err="1">
                <a:solidFill>
                  <a:srgbClr val="000066"/>
                </a:solidFill>
                <a:latin typeface="Arial" pitchFamily="34" charset="0"/>
                <a:ea typeface="+mn-ea"/>
                <a:cs typeface="Arial" pitchFamily="34" charset="0"/>
              </a:rPr>
              <a:t>sự</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điều</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chỉnh</a:t>
            </a:r>
            <a:endParaRPr lang="en-US" altLang="ko-KR" sz="1200" dirty="0">
              <a:solidFill>
                <a:srgbClr val="000066"/>
              </a:solidFill>
              <a:latin typeface="Arial" pitchFamily="34" charset="0"/>
              <a:ea typeface="+mn-ea"/>
              <a:cs typeface="Arial" pitchFamily="34" charset="0"/>
            </a:endParaRPr>
          </a:p>
        </p:txBody>
      </p:sp>
      <p:sp>
        <p:nvSpPr>
          <p:cNvPr id="11280" name="Line 80"/>
          <p:cNvSpPr>
            <a:spLocks noChangeShapeType="1"/>
          </p:cNvSpPr>
          <p:nvPr/>
        </p:nvSpPr>
        <p:spPr bwMode="auto">
          <a:xfrm>
            <a:off x="4721225" y="2424113"/>
            <a:ext cx="0" cy="1993900"/>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81" name="Line 82"/>
          <p:cNvSpPr>
            <a:spLocks noChangeShapeType="1"/>
          </p:cNvSpPr>
          <p:nvPr/>
        </p:nvSpPr>
        <p:spPr bwMode="auto">
          <a:xfrm>
            <a:off x="1408113" y="2014538"/>
            <a:ext cx="0" cy="2895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82" name="Rectangle 83"/>
          <p:cNvSpPr>
            <a:spLocks noChangeArrowheads="1"/>
          </p:cNvSpPr>
          <p:nvPr/>
        </p:nvSpPr>
        <p:spPr bwMode="auto">
          <a:xfrm>
            <a:off x="1191934" y="4926013"/>
            <a:ext cx="4748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solidFill>
                  <a:srgbClr val="000066"/>
                </a:solidFill>
                <a:latin typeface="Arial" pitchFamily="34" charset="0"/>
                <a:ea typeface="+mn-ea"/>
                <a:cs typeface="Arial" pitchFamily="34" charset="0"/>
              </a:rPr>
              <a:t>LOL</a:t>
            </a:r>
          </a:p>
        </p:txBody>
      </p:sp>
      <p:sp>
        <p:nvSpPr>
          <p:cNvPr id="11283" name="Line 84"/>
          <p:cNvSpPr>
            <a:spLocks noChangeShapeType="1"/>
          </p:cNvSpPr>
          <p:nvPr/>
        </p:nvSpPr>
        <p:spPr bwMode="auto">
          <a:xfrm>
            <a:off x="5502275" y="2055813"/>
            <a:ext cx="0" cy="28543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84" name="Line 86"/>
          <p:cNvSpPr>
            <a:spLocks noChangeShapeType="1"/>
          </p:cNvSpPr>
          <p:nvPr/>
        </p:nvSpPr>
        <p:spPr bwMode="auto">
          <a:xfrm>
            <a:off x="627063" y="1651000"/>
            <a:ext cx="0" cy="35448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85" name="Rectangle 87"/>
          <p:cNvSpPr>
            <a:spLocks noChangeArrowheads="1"/>
          </p:cNvSpPr>
          <p:nvPr/>
        </p:nvSpPr>
        <p:spPr bwMode="auto">
          <a:xfrm>
            <a:off x="57150" y="5229225"/>
            <a:ext cx="14995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66"/>
                </a:solidFill>
                <a:latin typeface="Arial" pitchFamily="34" charset="0"/>
                <a:ea typeface="+mn-ea"/>
                <a:cs typeface="Arial" pitchFamily="34" charset="0"/>
              </a:rPr>
              <a:t>Failure Lower Limit</a:t>
            </a:r>
            <a:endParaRPr lang="ko-KR" altLang="en-US" sz="1200" dirty="0">
              <a:solidFill>
                <a:srgbClr val="000066"/>
              </a:solidFill>
              <a:latin typeface="Arial" pitchFamily="34" charset="0"/>
              <a:ea typeface="+mn-ea"/>
              <a:cs typeface="Arial" pitchFamily="34" charset="0"/>
            </a:endParaRPr>
          </a:p>
        </p:txBody>
      </p:sp>
      <p:sp>
        <p:nvSpPr>
          <p:cNvPr id="11286" name="Rectangle 88"/>
          <p:cNvSpPr>
            <a:spLocks noChangeArrowheads="1"/>
          </p:cNvSpPr>
          <p:nvPr/>
        </p:nvSpPr>
        <p:spPr bwMode="auto">
          <a:xfrm>
            <a:off x="5232400" y="4926013"/>
            <a:ext cx="4968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solidFill>
                  <a:srgbClr val="000066"/>
                </a:solidFill>
                <a:latin typeface="Arial" pitchFamily="34" charset="0"/>
                <a:ea typeface="+mn-ea"/>
                <a:cs typeface="Arial" pitchFamily="34" charset="0"/>
              </a:rPr>
              <a:t>UOL</a:t>
            </a:r>
          </a:p>
        </p:txBody>
      </p:sp>
      <p:sp>
        <p:nvSpPr>
          <p:cNvPr id="11287" name="Line 89"/>
          <p:cNvSpPr>
            <a:spLocks noChangeShapeType="1"/>
          </p:cNvSpPr>
          <p:nvPr/>
        </p:nvSpPr>
        <p:spPr bwMode="auto">
          <a:xfrm>
            <a:off x="6299200" y="1624013"/>
            <a:ext cx="0" cy="3505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88" name="Rectangle 90"/>
          <p:cNvSpPr>
            <a:spLocks noChangeArrowheads="1"/>
          </p:cNvSpPr>
          <p:nvPr/>
        </p:nvSpPr>
        <p:spPr bwMode="auto">
          <a:xfrm>
            <a:off x="5729288" y="5229225"/>
            <a:ext cx="1513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66"/>
                </a:solidFill>
                <a:latin typeface="Arial" pitchFamily="34" charset="0"/>
                <a:ea typeface="+mn-ea"/>
                <a:cs typeface="Arial" pitchFamily="34" charset="0"/>
              </a:rPr>
              <a:t>Failure Upper Limit</a:t>
            </a:r>
            <a:endParaRPr lang="ko-KR" altLang="en-US" sz="1200" dirty="0">
              <a:solidFill>
                <a:srgbClr val="000066"/>
              </a:solidFill>
              <a:latin typeface="Arial" pitchFamily="34" charset="0"/>
              <a:ea typeface="+mn-ea"/>
              <a:cs typeface="Arial" pitchFamily="34" charset="0"/>
            </a:endParaRPr>
          </a:p>
        </p:txBody>
      </p:sp>
      <p:sp>
        <p:nvSpPr>
          <p:cNvPr id="11289" name="Rectangle 92"/>
          <p:cNvSpPr>
            <a:spLocks noChangeArrowheads="1"/>
          </p:cNvSpPr>
          <p:nvPr/>
        </p:nvSpPr>
        <p:spPr bwMode="auto">
          <a:xfrm>
            <a:off x="2976878" y="2924175"/>
            <a:ext cx="99418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solidFill>
                  <a:srgbClr val="000066"/>
                </a:solidFill>
                <a:latin typeface="Arial" pitchFamily="34" charset="0"/>
                <a:ea typeface="+mn-ea"/>
                <a:cs typeface="Arial" pitchFamily="34" charset="0"/>
              </a:rPr>
              <a:t>Control limit</a:t>
            </a:r>
          </a:p>
        </p:txBody>
      </p:sp>
      <p:sp>
        <p:nvSpPr>
          <p:cNvPr id="11290" name="Rectangle 95"/>
          <p:cNvSpPr>
            <a:spLocks noChangeArrowheads="1"/>
          </p:cNvSpPr>
          <p:nvPr/>
        </p:nvSpPr>
        <p:spPr bwMode="auto">
          <a:xfrm>
            <a:off x="3023365" y="2622550"/>
            <a:ext cx="9012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solidFill>
                  <a:srgbClr val="000066"/>
                </a:solidFill>
                <a:latin typeface="Arial" pitchFamily="34" charset="0"/>
                <a:ea typeface="+mn-ea"/>
                <a:cs typeface="Arial" pitchFamily="34" charset="0"/>
              </a:rPr>
              <a:t>Spec Limit</a:t>
            </a:r>
          </a:p>
        </p:txBody>
      </p:sp>
      <p:sp>
        <p:nvSpPr>
          <p:cNvPr id="11291" name="Line 96"/>
          <p:cNvSpPr>
            <a:spLocks noChangeShapeType="1"/>
          </p:cNvSpPr>
          <p:nvPr/>
        </p:nvSpPr>
        <p:spPr bwMode="auto">
          <a:xfrm>
            <a:off x="2696888" y="2886075"/>
            <a:ext cx="1554163"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92" name="Line 97"/>
          <p:cNvSpPr>
            <a:spLocks noChangeShapeType="1"/>
          </p:cNvSpPr>
          <p:nvPr/>
        </p:nvSpPr>
        <p:spPr bwMode="auto">
          <a:xfrm>
            <a:off x="2961207" y="3281363"/>
            <a:ext cx="102552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93" name="Rectangle 99"/>
          <p:cNvSpPr>
            <a:spLocks noChangeArrowheads="1"/>
          </p:cNvSpPr>
          <p:nvPr/>
        </p:nvSpPr>
        <p:spPr bwMode="auto">
          <a:xfrm>
            <a:off x="2893265" y="2276475"/>
            <a:ext cx="1161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solidFill>
                  <a:srgbClr val="000066"/>
                </a:solidFill>
                <a:latin typeface="Arial" pitchFamily="34" charset="0"/>
                <a:ea typeface="+mn-ea"/>
                <a:cs typeface="Arial" pitchFamily="34" charset="0"/>
              </a:rPr>
              <a:t>Standard limit</a:t>
            </a:r>
          </a:p>
        </p:txBody>
      </p:sp>
      <p:sp>
        <p:nvSpPr>
          <p:cNvPr id="11294" name="Line 100"/>
          <p:cNvSpPr>
            <a:spLocks noChangeShapeType="1"/>
          </p:cNvSpPr>
          <p:nvPr/>
        </p:nvSpPr>
        <p:spPr bwMode="auto">
          <a:xfrm>
            <a:off x="2207144" y="2540000"/>
            <a:ext cx="2533650"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95" name="Rectangle 101"/>
          <p:cNvSpPr>
            <a:spLocks noChangeArrowheads="1"/>
          </p:cNvSpPr>
          <p:nvPr/>
        </p:nvSpPr>
        <p:spPr bwMode="auto">
          <a:xfrm>
            <a:off x="2887110" y="1916113"/>
            <a:ext cx="11737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solidFill>
                  <a:srgbClr val="000066"/>
                </a:solidFill>
                <a:latin typeface="Arial" pitchFamily="34" charset="0"/>
                <a:ea typeface="+mn-ea"/>
                <a:cs typeface="Arial" pitchFamily="34" charset="0"/>
              </a:rPr>
              <a:t>Operating limit</a:t>
            </a:r>
            <a:endParaRPr lang="ko-KR" altLang="en-US" sz="1200" dirty="0">
              <a:solidFill>
                <a:srgbClr val="000066"/>
              </a:solidFill>
              <a:latin typeface="Arial" pitchFamily="34" charset="0"/>
              <a:ea typeface="+mn-ea"/>
              <a:cs typeface="Arial" pitchFamily="34" charset="0"/>
            </a:endParaRPr>
          </a:p>
        </p:txBody>
      </p:sp>
      <p:sp>
        <p:nvSpPr>
          <p:cNvPr id="11296" name="Line 102"/>
          <p:cNvSpPr>
            <a:spLocks noChangeShapeType="1"/>
          </p:cNvSpPr>
          <p:nvPr/>
        </p:nvSpPr>
        <p:spPr bwMode="auto">
          <a:xfrm>
            <a:off x="1411288" y="2179638"/>
            <a:ext cx="4095750"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11297" name="Rectangle 103"/>
          <p:cNvSpPr>
            <a:spLocks noChangeArrowheads="1"/>
          </p:cNvSpPr>
          <p:nvPr/>
        </p:nvSpPr>
        <p:spPr bwMode="auto">
          <a:xfrm>
            <a:off x="2977038" y="1544638"/>
            <a:ext cx="993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solidFill>
                  <a:srgbClr val="000066"/>
                </a:solidFill>
                <a:latin typeface="Arial" pitchFamily="34" charset="0"/>
                <a:ea typeface="+mn-ea"/>
                <a:cs typeface="Arial" pitchFamily="34" charset="0"/>
              </a:rPr>
              <a:t>Failure limit</a:t>
            </a:r>
            <a:endParaRPr lang="ko-KR" altLang="en-US" sz="1200" dirty="0">
              <a:solidFill>
                <a:srgbClr val="000066"/>
              </a:solidFill>
              <a:latin typeface="Arial" pitchFamily="34" charset="0"/>
              <a:ea typeface="+mn-ea"/>
              <a:cs typeface="Arial" pitchFamily="34" charset="0"/>
            </a:endParaRPr>
          </a:p>
        </p:txBody>
      </p:sp>
      <p:sp>
        <p:nvSpPr>
          <p:cNvPr id="11298" name="Line 104"/>
          <p:cNvSpPr>
            <a:spLocks noChangeShapeType="1"/>
          </p:cNvSpPr>
          <p:nvPr/>
        </p:nvSpPr>
        <p:spPr bwMode="auto">
          <a:xfrm>
            <a:off x="628650" y="1808163"/>
            <a:ext cx="566102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mn-ea"/>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16</a:t>
            </a:fld>
            <a:endParaRPr lang="ko-KR" altLang="en-US" dirty="0">
              <a:latin typeface="Arial" pitchFamily="34" charset="0"/>
              <a:cs typeface="Arial" pitchFamily="34" charset="0"/>
            </a:endParaRPr>
          </a:p>
        </p:txBody>
      </p:sp>
      <p:sp>
        <p:nvSpPr>
          <p:cNvPr id="37" name="Rectangle 79"/>
          <p:cNvSpPr>
            <a:spLocks noChangeArrowheads="1"/>
          </p:cNvSpPr>
          <p:nvPr/>
        </p:nvSpPr>
        <p:spPr bwMode="auto">
          <a:xfrm>
            <a:off x="4020969" y="4401492"/>
            <a:ext cx="15462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err="1">
                <a:solidFill>
                  <a:srgbClr val="000066"/>
                </a:solidFill>
                <a:latin typeface="Arial" pitchFamily="34" charset="0"/>
                <a:ea typeface="+mn-ea"/>
                <a:cs typeface="Arial" pitchFamily="34" charset="0"/>
              </a:rPr>
              <a:t>Giới</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hạn</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trên</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của</a:t>
            </a:r>
            <a:endParaRPr lang="en-US" altLang="ko-KR" sz="1200" dirty="0">
              <a:solidFill>
                <a:srgbClr val="000066"/>
              </a:solidFill>
              <a:latin typeface="Arial" pitchFamily="34" charset="0"/>
              <a:ea typeface="+mn-ea"/>
              <a:cs typeface="Arial" pitchFamily="34" charset="0"/>
            </a:endParaRPr>
          </a:p>
          <a:p>
            <a:pPr eaLnBrk="1" hangingPunct="1"/>
            <a:r>
              <a:rPr lang="en-US" altLang="ko-KR" sz="1200" dirty="0">
                <a:solidFill>
                  <a:srgbClr val="000066"/>
                </a:solidFill>
                <a:latin typeface="Arial" pitchFamily="34" charset="0"/>
                <a:ea typeface="+mn-ea"/>
                <a:cs typeface="Arial" pitchFamily="34" charset="0"/>
              </a:rPr>
              <a:t>VOC, </a:t>
            </a:r>
            <a:r>
              <a:rPr lang="en-US" altLang="ko-KR" sz="1200" dirty="0" err="1">
                <a:solidFill>
                  <a:srgbClr val="000066"/>
                </a:solidFill>
                <a:latin typeface="Arial" pitchFamily="34" charset="0"/>
                <a:ea typeface="+mn-ea"/>
                <a:cs typeface="Arial" pitchFamily="34" charset="0"/>
              </a:rPr>
              <a:t>sự</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điều</a:t>
            </a:r>
            <a:r>
              <a:rPr lang="en-US" altLang="ko-KR" sz="1200" dirty="0">
                <a:solidFill>
                  <a:srgbClr val="000066"/>
                </a:solidFill>
                <a:latin typeface="Arial" pitchFamily="34" charset="0"/>
                <a:ea typeface="+mn-ea"/>
                <a:cs typeface="Arial" pitchFamily="34" charset="0"/>
              </a:rPr>
              <a:t> </a:t>
            </a:r>
            <a:r>
              <a:rPr lang="en-US" altLang="ko-KR" sz="1200" dirty="0" err="1">
                <a:solidFill>
                  <a:srgbClr val="000066"/>
                </a:solidFill>
                <a:latin typeface="Arial" pitchFamily="34" charset="0"/>
                <a:ea typeface="+mn-ea"/>
                <a:cs typeface="Arial" pitchFamily="34" charset="0"/>
              </a:rPr>
              <a:t>chỉnh</a:t>
            </a:r>
            <a:endParaRPr lang="en-US" altLang="ko-KR" sz="1200" dirty="0">
              <a:solidFill>
                <a:srgbClr val="000066"/>
              </a:solidFill>
              <a:latin typeface="Arial" pitchFamily="34" charset="0"/>
              <a:ea typeface="+mn-ea"/>
              <a:cs typeface="Arial" pitchFamily="34" charset="0"/>
            </a:endParaRPr>
          </a:p>
        </p:txBody>
      </p:sp>
      <p:sp>
        <p:nvSpPr>
          <p:cNvPr id="38" name="Rectangle 7"/>
          <p:cNvSpPr>
            <a:spLocks noChangeArrowheads="1"/>
          </p:cNvSpPr>
          <p:nvPr/>
        </p:nvSpPr>
        <p:spPr bwMode="auto">
          <a:xfrm>
            <a:off x="69850" y="185708"/>
            <a:ext cx="41344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Định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nghĩa</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về</a:t>
            </a:r>
            <a:r>
              <a:rPr lang="en-US" altLang="ko-KR" sz="2000" b="1" dirty="0">
                <a:latin typeface="Arial" pitchFamily="34" charset="0"/>
                <a:ea typeface="맑은 고딕" pitchFamily="50" charset="-127"/>
                <a:cs typeface="Arial" pitchFamily="34" charset="0"/>
              </a:rPr>
              <a:t> 1 </a:t>
            </a:r>
            <a:r>
              <a:rPr lang="en-US" altLang="ko-KR" sz="2000" b="1" dirty="0" err="1">
                <a:latin typeface="Arial" pitchFamily="34" charset="0"/>
                <a:ea typeface="맑은 고딕" pitchFamily="50" charset="-127"/>
                <a:cs typeface="Arial" pitchFamily="34" charset="0"/>
              </a:rPr>
              <a:t>số</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thuật</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ngữ</a:t>
            </a:r>
            <a:endParaRPr lang="ko-KR" altLang="en-US" sz="2000" b="1" dirty="0">
              <a:latin typeface="Arial" pitchFamily="34" charset="0"/>
              <a:ea typeface="맑은 고딕" pitchFamily="50" charset="-127"/>
              <a:cs typeface="Arial" pitchFamily="34" charset="0"/>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TextBox 16"/>
          <p:cNvSpPr txBox="1">
            <a:spLocks noChangeArrowheads="1"/>
          </p:cNvSpPr>
          <p:nvPr/>
        </p:nvSpPr>
        <p:spPr bwMode="auto">
          <a:xfrm>
            <a:off x="415925" y="1379278"/>
            <a:ext cx="6251587" cy="744819"/>
          </a:xfrm>
          <a:prstGeom prst="rect">
            <a:avLst/>
          </a:prstGeom>
          <a:noFill/>
          <a:ln w="9525">
            <a:noFill/>
            <a:miter lim="800000"/>
            <a:headEnd/>
            <a:tailEnd/>
          </a:ln>
        </p:spPr>
        <p:txBody>
          <a:bodyPr wrap="square">
            <a:spAutoFit/>
          </a:bodyPr>
          <a:lstStyle/>
          <a:p>
            <a:pPr latinLnBrk="0">
              <a:spcBef>
                <a:spcPct val="20000"/>
              </a:spcBef>
              <a:buFont typeface="Wingdings" pitchFamily="2" charset="2"/>
              <a:buChar char="u"/>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a:latin typeface="Arial" pitchFamily="34" charset="0"/>
                <a:ea typeface="맑은 고딕" panose="020B0503020000020004" pitchFamily="50" charset="-127"/>
                <a:cs typeface="Arial" pitchFamily="34" charset="0"/>
              </a:rPr>
              <a:t>Quality Inspection/</a:t>
            </a:r>
            <a:r>
              <a:rPr lang="en-US" altLang="ko-KR" sz="1600" b="1" dirty="0" err="1">
                <a:latin typeface="Arial" pitchFamily="34" charset="0"/>
                <a:ea typeface="맑은 고딕" panose="020B0503020000020004" pitchFamily="50" charset="-127"/>
                <a:cs typeface="Arial" pitchFamily="34" charset="0"/>
              </a:rPr>
              <a:t>Kiểm</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tra</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chất</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lượng</a:t>
            </a:r>
            <a:endParaRPr lang="en-US" altLang="ko-KR" sz="1600" b="1" dirty="0">
              <a:latin typeface="Arial" pitchFamily="34" charset="0"/>
              <a:ea typeface="맑은 고딕" panose="020B0503020000020004" pitchFamily="50" charset="-127"/>
              <a:cs typeface="Arial" pitchFamily="34" charset="0"/>
            </a:endParaRPr>
          </a:p>
          <a:p>
            <a:pPr marL="285750" indent="-285750" latinLnBrk="0">
              <a:spcBef>
                <a:spcPct val="20000"/>
              </a:spcBef>
              <a:defRPr/>
            </a:pPr>
            <a:r>
              <a:rPr lang="en-US" altLang="ko-KR" sz="1200" b="1" dirty="0">
                <a:latin typeface="Arial" pitchFamily="34" charset="0"/>
                <a:ea typeface="맑은 고딕" panose="020B0503020000020004" pitchFamily="50" charset="-127"/>
                <a:cs typeface="Arial" pitchFamily="34" charset="0"/>
              </a:rPr>
              <a:t>    : </a:t>
            </a:r>
            <a:r>
              <a:rPr lang="vi-VN" altLang="ko-KR" sz="1200" b="1" dirty="0">
                <a:latin typeface="Arial" pitchFamily="34" charset="0"/>
                <a:ea typeface="맑은 고딕" panose="020B0503020000020004" pitchFamily="50" charset="-127"/>
                <a:cs typeface="Arial" pitchFamily="34" charset="0"/>
              </a:rPr>
              <a:t>Quá trình so sánh các kết quả đo lường sản phẩm / thành phần </a:t>
            </a:r>
            <a:r>
              <a:rPr lang="en-US" altLang="ko-KR" sz="1200" b="1" dirty="0" err="1">
                <a:latin typeface="Arial" pitchFamily="34" charset="0"/>
                <a:ea typeface="맑은 고딕" panose="020B0503020000020004" pitchFamily="50" charset="-127"/>
                <a:cs typeface="Arial" pitchFamily="34" charset="0"/>
              </a:rPr>
              <a:t>với</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các</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tiêu</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chí</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kiểm</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tra</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và</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đưa</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ra</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quyết</a:t>
            </a:r>
            <a:r>
              <a:rPr lang="en-US" altLang="ko-KR" sz="1200" b="1" dirty="0">
                <a:latin typeface="Arial" pitchFamily="34" charset="0"/>
                <a:ea typeface="맑은 고딕" panose="020B0503020000020004" pitchFamily="50" charset="-127"/>
                <a:cs typeface="Arial" pitchFamily="34" charset="0"/>
              </a:rPr>
              <a:t> </a:t>
            </a:r>
            <a:r>
              <a:rPr lang="vi-VN" altLang="ko-KR" sz="1200" b="1" dirty="0">
                <a:latin typeface="Arial" pitchFamily="34" charset="0"/>
                <a:ea typeface="맑은 고딕" panose="020B0503020000020004" pitchFamily="50" charset="-127"/>
                <a:cs typeface="Arial" pitchFamily="34" charset="0"/>
              </a:rPr>
              <a:t>định </a:t>
            </a:r>
            <a:r>
              <a:rPr lang="en-US" altLang="ko-KR" sz="1200" b="1" dirty="0">
                <a:latin typeface="Arial" pitchFamily="34" charset="0"/>
                <a:ea typeface="맑은 고딕" panose="020B0503020000020004" pitchFamily="50" charset="-127"/>
                <a:cs typeface="Arial" pitchFamily="34" charset="0"/>
              </a:rPr>
              <a:t>Pass/Fail </a:t>
            </a:r>
            <a:r>
              <a:rPr lang="vi-VN" altLang="ko-KR" sz="1200" b="1" dirty="0">
                <a:latin typeface="Arial" pitchFamily="34" charset="0"/>
                <a:ea typeface="맑은 고딕" panose="020B0503020000020004" pitchFamily="50" charset="-127"/>
                <a:cs typeface="Arial" pitchFamily="34" charset="0"/>
              </a:rPr>
              <a:t>cho từng sản phẩm / thành phần</a:t>
            </a:r>
            <a:endParaRPr lang="ko-KR" altLang="en-US" sz="1200" b="1" dirty="0">
              <a:latin typeface="Arial" pitchFamily="34" charset="0"/>
              <a:ea typeface="맑은 고딕" panose="020B0503020000020004" pitchFamily="50" charset="-127"/>
              <a:cs typeface="Arial" pitchFamily="34" charset="0"/>
            </a:endParaRPr>
          </a:p>
        </p:txBody>
      </p:sp>
      <p:sp>
        <p:nvSpPr>
          <p:cNvPr id="20484" name="TextBox 17"/>
          <p:cNvSpPr txBox="1">
            <a:spLocks noChangeArrowheads="1"/>
          </p:cNvSpPr>
          <p:nvPr/>
        </p:nvSpPr>
        <p:spPr bwMode="auto">
          <a:xfrm>
            <a:off x="415925" y="2565400"/>
            <a:ext cx="5965835" cy="560153"/>
          </a:xfrm>
          <a:prstGeom prst="rect">
            <a:avLst/>
          </a:prstGeom>
          <a:noFill/>
          <a:ln w="9525">
            <a:noFill/>
            <a:miter lim="800000"/>
            <a:headEnd/>
            <a:tailEnd/>
          </a:ln>
        </p:spPr>
        <p:txBody>
          <a:bodyPr wrap="square">
            <a:spAutoFit/>
          </a:bodyPr>
          <a:lstStyle/>
          <a:p>
            <a:pPr latinLnBrk="0">
              <a:spcBef>
                <a:spcPct val="20000"/>
              </a:spcBef>
              <a:buFont typeface="Wingdings" pitchFamily="2" charset="2"/>
              <a:buChar char="u"/>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a:latin typeface="Arial" pitchFamily="34" charset="0"/>
                <a:ea typeface="맑은 고딕" panose="020B0503020000020004" pitchFamily="50" charset="-127"/>
                <a:cs typeface="Arial" pitchFamily="34" charset="0"/>
              </a:rPr>
              <a:t>Quality Test/</a:t>
            </a:r>
            <a:r>
              <a:rPr lang="en-US" altLang="ko-KR" sz="1600" b="1" dirty="0" err="1">
                <a:latin typeface="Arial" pitchFamily="34" charset="0"/>
                <a:ea typeface="맑은 고딕" panose="020B0503020000020004" pitchFamily="50" charset="-127"/>
                <a:cs typeface="Arial" pitchFamily="34" charset="0"/>
              </a:rPr>
              <a:t>Đánh</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giá</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chất</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lượng</a:t>
            </a:r>
            <a:endParaRPr lang="en-US" altLang="ko-KR" sz="1600" b="1" dirty="0">
              <a:latin typeface="Arial" pitchFamily="34" charset="0"/>
              <a:ea typeface="맑은 고딕" panose="020B0503020000020004" pitchFamily="50" charset="-127"/>
              <a:cs typeface="Arial" pitchFamily="34" charset="0"/>
            </a:endParaRPr>
          </a:p>
          <a:p>
            <a:pPr marL="342900" indent="-342900" latinLnBrk="0">
              <a:spcBef>
                <a:spcPct val="20000"/>
              </a:spcBef>
              <a:defRPr/>
            </a:pPr>
            <a:r>
              <a:rPr lang="en-US" altLang="ko-KR" sz="1200" b="1" dirty="0">
                <a:latin typeface="Arial" pitchFamily="34" charset="0"/>
                <a:ea typeface="맑은 고딕" panose="020B0503020000020004" pitchFamily="50" charset="-127"/>
                <a:cs typeface="Arial" pitchFamily="34" charset="0"/>
              </a:rPr>
              <a:t>    : </a:t>
            </a:r>
            <a:r>
              <a:rPr lang="vi-VN" altLang="ko-KR" sz="1200" b="1" dirty="0">
                <a:latin typeface="Arial" pitchFamily="34" charset="0"/>
                <a:ea typeface="맑은 고딕" panose="020B0503020000020004" pitchFamily="50" charset="-127"/>
                <a:cs typeface="Arial" pitchFamily="34" charset="0"/>
              </a:rPr>
              <a:t>Quy trình đánh giá sự phù hợp với các yêu cầu của quy định và sản xuất</a:t>
            </a:r>
            <a:endParaRPr lang="ko-KR" altLang="en-US" sz="1200" b="1" dirty="0">
              <a:latin typeface="Arial" pitchFamily="34" charset="0"/>
              <a:ea typeface="맑은 고딕" panose="020B0503020000020004" pitchFamily="50" charset="-127"/>
              <a:cs typeface="Arial" pitchFamily="34" charset="0"/>
            </a:endParaRPr>
          </a:p>
        </p:txBody>
      </p:sp>
      <p:sp>
        <p:nvSpPr>
          <p:cNvPr id="12293" name="TextBox 18"/>
          <p:cNvSpPr txBox="1">
            <a:spLocks noChangeArrowheads="1"/>
          </p:cNvSpPr>
          <p:nvPr/>
        </p:nvSpPr>
        <p:spPr bwMode="auto">
          <a:xfrm>
            <a:off x="415925" y="3376613"/>
            <a:ext cx="5903913" cy="1785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buFont typeface="Wingdings" pitchFamily="2" charset="2"/>
              <a:buChar char="u"/>
            </a:pPr>
            <a:r>
              <a:rPr lang="ko-KR" altLang="en-US" sz="1600" b="1" dirty="0">
                <a:latin typeface="Arial" pitchFamily="34" charset="0"/>
                <a:ea typeface="맑은 고딕" panose="020B0503020000020004" pitchFamily="50" charset="-127"/>
                <a:cs typeface="Arial" pitchFamily="34" charset="0"/>
              </a:rPr>
              <a:t> </a:t>
            </a:r>
            <a:r>
              <a:rPr lang="en-US" altLang="ko-KR" sz="1600" b="1" dirty="0">
                <a:latin typeface="Arial" pitchFamily="34" charset="0"/>
                <a:ea typeface="맑은 고딕" panose="020B0503020000020004" pitchFamily="50" charset="-127"/>
                <a:cs typeface="Arial" pitchFamily="34" charset="0"/>
              </a:rPr>
              <a:t>Quality Control/</a:t>
            </a:r>
            <a:r>
              <a:rPr lang="en-US" altLang="ko-KR" sz="1600" b="1" dirty="0" err="1">
                <a:latin typeface="Arial" pitchFamily="34" charset="0"/>
                <a:ea typeface="맑은 고딕" panose="020B0503020000020004" pitchFamily="50" charset="-127"/>
                <a:cs typeface="Arial" pitchFamily="34" charset="0"/>
              </a:rPr>
              <a:t>Quản</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lý</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chất</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lượng</a:t>
            </a:r>
            <a:endParaRPr lang="en-US" altLang="ko-KR" sz="1600" b="1" dirty="0">
              <a:latin typeface="Arial" pitchFamily="34" charset="0"/>
              <a:ea typeface="맑은 고딕" panose="020B0503020000020004" pitchFamily="50" charset="-127"/>
              <a:cs typeface="Arial" pitchFamily="34" charset="0"/>
            </a:endParaRPr>
          </a:p>
          <a:p>
            <a:pPr marL="182563" indent="-182563" eaLnBrk="1" hangingPunct="1">
              <a:buClr>
                <a:srgbClr val="C5003D"/>
              </a:buClr>
            </a:pPr>
            <a:r>
              <a:rPr lang="en-US" altLang="ko-KR" sz="1600" b="1" dirty="0">
                <a:latin typeface="Arial" pitchFamily="34" charset="0"/>
                <a:ea typeface="맑은 고딕" panose="020B0503020000020004" pitchFamily="50" charset="-127"/>
                <a:cs typeface="Arial" pitchFamily="34" charset="0"/>
              </a:rPr>
              <a:t>  </a:t>
            </a:r>
            <a:r>
              <a:rPr lang="en-US" altLang="ko-KR" sz="1200" b="1" dirty="0">
                <a:latin typeface="Arial" pitchFamily="34" charset="0"/>
                <a:ea typeface="맑은 고딕" panose="020B0503020000020004" pitchFamily="50" charset="-127"/>
                <a:cs typeface="Arial" pitchFamily="34" charset="0"/>
              </a:rPr>
              <a:t>: </a:t>
            </a:r>
            <a:r>
              <a:rPr lang="vi-VN" altLang="ko-KR" sz="1200" b="1" dirty="0">
                <a:latin typeface="Arial" pitchFamily="34" charset="0"/>
                <a:ea typeface="맑은 고딕" panose="020B0503020000020004" pitchFamily="50" charset="-127"/>
                <a:cs typeface="Arial" pitchFamily="34" charset="0"/>
              </a:rPr>
              <a:t>Tất cả các hệ thống </a:t>
            </a:r>
            <a:r>
              <a:rPr lang="en-US" altLang="ko-KR" sz="1200" b="1" dirty="0" err="1">
                <a:latin typeface="Arial" pitchFamily="34" charset="0"/>
                <a:ea typeface="맑은 고딕" panose="020B0503020000020004" pitchFamily="50" charset="-127"/>
                <a:cs typeface="Arial" pitchFamily="34" charset="0"/>
              </a:rPr>
              <a:t>trong</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nền</a:t>
            </a:r>
            <a:r>
              <a:rPr lang="vi-VN" altLang="ko-KR" sz="1200" b="1" dirty="0">
                <a:latin typeface="Arial" pitchFamily="34" charset="0"/>
                <a:ea typeface="맑은 고딕" panose="020B0503020000020004" pitchFamily="50" charset="-127"/>
                <a:cs typeface="Arial" pitchFamily="34" charset="0"/>
              </a:rPr>
              <a:t> kinh tế sản xuất hàng hóa</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nhằm</a:t>
            </a:r>
            <a:r>
              <a:rPr lang="vi-VN" altLang="ko-KR" sz="1200" b="1" dirty="0">
                <a:latin typeface="Arial" pitchFamily="34" charset="0"/>
                <a:ea typeface="맑은 고딕" panose="020B0503020000020004" pitchFamily="50" charset="-127"/>
                <a:cs typeface="Arial" pitchFamily="34" charset="0"/>
              </a:rPr>
              <a:t> đáp ứng các yêu cầu của khách hàng. </a:t>
            </a:r>
            <a:r>
              <a:rPr lang="en-US" altLang="ko-KR" sz="1200" b="1" dirty="0">
                <a:latin typeface="Arial" pitchFamily="34" charset="0"/>
                <a:ea typeface="맑은 고딕" panose="020B0503020000020004" pitchFamily="50" charset="-127"/>
                <a:cs typeface="Arial" pitchFamily="34" charset="0"/>
              </a:rPr>
              <a:t>K</a:t>
            </a:r>
            <a:r>
              <a:rPr lang="vi-VN" altLang="ko-KR" sz="1200" b="1" dirty="0">
                <a:latin typeface="Arial" pitchFamily="34" charset="0"/>
                <a:ea typeface="맑은 고딕" panose="020B0503020000020004" pitchFamily="50" charset="-127"/>
                <a:cs typeface="Arial" pitchFamily="34" charset="0"/>
              </a:rPr>
              <a:t>iểm soát chất lượng hiện đại sử dụng thống kê và vì thế thường được gọi là </a:t>
            </a:r>
            <a:r>
              <a:rPr lang="en-US" altLang="ko-KR" sz="1200" b="1" dirty="0" err="1">
                <a:latin typeface="Arial" pitchFamily="34" charset="0"/>
                <a:ea typeface="맑은 고딕" panose="020B0503020000020004" pitchFamily="50" charset="-127"/>
                <a:cs typeface="Arial" pitchFamily="34" charset="0"/>
              </a:rPr>
              <a:t>Kiểm</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soát</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chất</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lượng</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thống</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kê</a:t>
            </a:r>
            <a:r>
              <a:rPr lang="vi-VN" altLang="ko-KR" sz="1200" b="1" dirty="0">
                <a:latin typeface="Arial" pitchFamily="34" charset="0"/>
                <a:ea typeface="맑은 고딕" panose="020B0503020000020004" pitchFamily="50" charset="-127"/>
                <a:cs typeface="Arial" pitchFamily="34" charset="0"/>
              </a:rPr>
              <a:t>.(KS)</a:t>
            </a:r>
            <a:endParaRPr lang="ko-KR" altLang="en-US" sz="1200" b="1" dirty="0">
              <a:latin typeface="Arial" pitchFamily="34" charset="0"/>
              <a:ea typeface="맑은 고딕" panose="020B0503020000020004" pitchFamily="50" charset="-127"/>
              <a:cs typeface="Arial" pitchFamily="34" charset="0"/>
            </a:endParaRPr>
          </a:p>
          <a:p>
            <a:pPr eaLnBrk="1" hangingPunct="1">
              <a:buClr>
                <a:srgbClr val="C5003D"/>
              </a:buClr>
            </a:pPr>
            <a:endParaRPr lang="en-US" altLang="ko-KR" sz="600" dirty="0">
              <a:latin typeface="Arial" pitchFamily="34" charset="0"/>
              <a:ea typeface="맑은 고딕" panose="020B0503020000020004" pitchFamily="50" charset="-127"/>
              <a:cs typeface="Arial" pitchFamily="34" charset="0"/>
            </a:endParaRPr>
          </a:p>
          <a:p>
            <a:pPr marL="182563" indent="-182563" eaLnBrk="1" hangingPunct="1">
              <a:buClr>
                <a:srgbClr val="C5003D"/>
              </a:buClr>
            </a:pPr>
            <a:r>
              <a:rPr lang="en-US" altLang="ko-KR" sz="1200" b="1" dirty="0">
                <a:latin typeface="Arial" pitchFamily="34" charset="0"/>
                <a:ea typeface="맑은 고딕" panose="020B0503020000020004" pitchFamily="50" charset="-127"/>
                <a:cs typeface="Arial" pitchFamily="34" charset="0"/>
              </a:rPr>
              <a:t>   : </a:t>
            </a:r>
            <a:r>
              <a:rPr lang="vi-VN" altLang="ko-KR" sz="1200" b="1" dirty="0">
                <a:latin typeface="Arial" pitchFamily="34" charset="0"/>
                <a:ea typeface="맑은 고딕" panose="020B0503020000020004" pitchFamily="50" charset="-127"/>
                <a:cs typeface="Arial" pitchFamily="34" charset="0"/>
              </a:rPr>
              <a:t>Quá trình trong đó sản phẩm được kiểm tra thực tế và đánh giá phù hợp với yêu cầu của khách hàng. Vấn đề</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về</a:t>
            </a:r>
            <a:r>
              <a:rPr lang="vi-VN" altLang="ko-KR" sz="1200" b="1" dirty="0">
                <a:latin typeface="Arial" pitchFamily="34" charset="0"/>
                <a:ea typeface="맑은 고딕" panose="020B0503020000020004" pitchFamily="50" charset="-127"/>
                <a:cs typeface="Arial" pitchFamily="34" charset="0"/>
              </a:rPr>
              <a:t> chất lượng </a:t>
            </a:r>
            <a:r>
              <a:rPr lang="en-US" altLang="ko-KR" sz="1200" b="1" dirty="0" err="1">
                <a:latin typeface="Arial" pitchFamily="34" charset="0"/>
                <a:ea typeface="맑은 고딕" panose="020B0503020000020004" pitchFamily="50" charset="-127"/>
                <a:cs typeface="Arial" pitchFamily="34" charset="0"/>
              </a:rPr>
              <a:t>được</a:t>
            </a:r>
            <a:r>
              <a:rPr lang="en-US" altLang="ko-KR" sz="1200" b="1" dirty="0">
                <a:latin typeface="Arial" pitchFamily="34" charset="0"/>
                <a:ea typeface="맑은 고딕" panose="020B0503020000020004" pitchFamily="50" charset="-127"/>
                <a:cs typeface="Arial" pitchFamily="34" charset="0"/>
              </a:rPr>
              <a:t> </a:t>
            </a:r>
            <a:r>
              <a:rPr lang="vi-VN" altLang="ko-KR" sz="1200" b="1" dirty="0">
                <a:latin typeface="Arial" pitchFamily="34" charset="0"/>
                <a:ea typeface="맑은 고딕" panose="020B0503020000020004" pitchFamily="50" charset="-127"/>
                <a:cs typeface="Arial" pitchFamily="34" charset="0"/>
              </a:rPr>
              <a:t>phát hiện</a:t>
            </a:r>
            <a:r>
              <a:rPr lang="en-US" altLang="ko-KR" sz="1200" b="1" dirty="0">
                <a:latin typeface="Arial" pitchFamily="34" charset="0"/>
                <a:ea typeface="맑은 고딕" panose="020B0503020000020004" pitchFamily="50" charset="-127"/>
                <a:cs typeface="Arial" pitchFamily="34" charset="0"/>
              </a:rPr>
              <a:t> </a:t>
            </a:r>
            <a:r>
              <a:rPr lang="en-US" altLang="ko-KR" sz="1200" b="1" dirty="0" err="1">
                <a:latin typeface="Arial" pitchFamily="34" charset="0"/>
                <a:ea typeface="맑은 고딕" panose="020B0503020000020004" pitchFamily="50" charset="-127"/>
                <a:cs typeface="Arial" pitchFamily="34" charset="0"/>
              </a:rPr>
              <a:t>và</a:t>
            </a:r>
            <a:r>
              <a:rPr lang="en-US" altLang="ko-KR" sz="1200" b="1" dirty="0">
                <a:latin typeface="Arial" pitchFamily="34" charset="0"/>
                <a:ea typeface="맑은 고딕" panose="020B0503020000020004" pitchFamily="50" charset="-127"/>
                <a:cs typeface="Arial" pitchFamily="34" charset="0"/>
              </a:rPr>
              <a:t> </a:t>
            </a:r>
            <a:r>
              <a:rPr lang="vi-VN" altLang="ko-KR" sz="1200" b="1" dirty="0">
                <a:latin typeface="Arial" pitchFamily="34" charset="0"/>
                <a:ea typeface="맑은 고딕" panose="020B0503020000020004" pitchFamily="50" charset="-127"/>
                <a:cs typeface="Arial" pitchFamily="34" charset="0"/>
              </a:rPr>
              <a:t>giải quyết trong quá trình này. (Juran)</a:t>
            </a:r>
            <a:endParaRPr lang="en-US" altLang="ko-KR" sz="1200" b="1" dirty="0">
              <a:latin typeface="Arial" pitchFamily="34" charset="0"/>
              <a:ea typeface="맑은 고딕" panose="020B0503020000020004" pitchFamily="50" charset="-127"/>
              <a:cs typeface="Arial" pitchFamily="34" charset="0"/>
            </a:endParaRPr>
          </a:p>
          <a:p>
            <a:pPr eaLnBrk="1" hangingPunct="1">
              <a:buClr>
                <a:srgbClr val="C5003D"/>
              </a:buClr>
            </a:pPr>
            <a:endParaRPr lang="en-US" altLang="ko-KR" sz="1200" b="1" dirty="0">
              <a:latin typeface="Arial" pitchFamily="34" charset="0"/>
              <a:ea typeface="맑은 고딕" panose="020B0503020000020004" pitchFamily="50" charset="-127"/>
              <a:cs typeface="Arial" pitchFamily="34" charset="0"/>
            </a:endParaRPr>
          </a:p>
        </p:txBody>
      </p:sp>
      <p:sp>
        <p:nvSpPr>
          <p:cNvPr id="12294" name="TextBox 19"/>
          <p:cNvSpPr txBox="1">
            <a:spLocks noChangeArrowheads="1"/>
          </p:cNvSpPr>
          <p:nvPr/>
        </p:nvSpPr>
        <p:spPr bwMode="auto">
          <a:xfrm>
            <a:off x="450471" y="5013176"/>
            <a:ext cx="607416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buFont typeface="Wingdings" pitchFamily="2" charset="2"/>
              <a:buChar char="u"/>
            </a:pPr>
            <a:r>
              <a:rPr lang="ko-KR" altLang="en-US" sz="1600" b="1" dirty="0">
                <a:latin typeface="Arial" pitchFamily="34" charset="0"/>
                <a:ea typeface="맑은 고딕" panose="020B0503020000020004" pitchFamily="50" charset="-127"/>
                <a:cs typeface="Arial" pitchFamily="34" charset="0"/>
              </a:rPr>
              <a:t> </a:t>
            </a:r>
            <a:r>
              <a:rPr lang="en-US" altLang="ko-KR" sz="1600" b="1" dirty="0">
                <a:latin typeface="Arial" pitchFamily="34" charset="0"/>
                <a:ea typeface="맑은 고딕" panose="020B0503020000020004" pitchFamily="50" charset="-127"/>
                <a:cs typeface="Arial" pitchFamily="34" charset="0"/>
              </a:rPr>
              <a:t>Quality Improvement/</a:t>
            </a:r>
            <a:r>
              <a:rPr lang="en-US" altLang="ko-KR" sz="1600" b="1" dirty="0" err="1">
                <a:latin typeface="Arial" pitchFamily="34" charset="0"/>
                <a:ea typeface="맑은 고딕" panose="020B0503020000020004" pitchFamily="50" charset="-127"/>
                <a:cs typeface="Arial" pitchFamily="34" charset="0"/>
              </a:rPr>
              <a:t>Cải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tiến</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chất</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lượng</a:t>
            </a:r>
            <a:endParaRPr lang="en-US" altLang="ko-KR" sz="1600" b="1" dirty="0">
              <a:latin typeface="Arial" pitchFamily="34" charset="0"/>
              <a:ea typeface="맑은 고딕" panose="020B0503020000020004" pitchFamily="50" charset="-127"/>
              <a:cs typeface="Arial" pitchFamily="34" charset="0"/>
            </a:endParaRPr>
          </a:p>
          <a:p>
            <a:pPr eaLnBrk="1" hangingPunct="1">
              <a:buClr>
                <a:srgbClr val="C5003D"/>
              </a:buClr>
            </a:pPr>
            <a:r>
              <a:rPr lang="en-US" altLang="ko-KR" sz="1600" b="1" dirty="0">
                <a:latin typeface="Arial" pitchFamily="34" charset="0"/>
                <a:ea typeface="맑은 고딕" panose="020B0503020000020004" pitchFamily="50" charset="-127"/>
                <a:cs typeface="Arial" pitchFamily="34" charset="0"/>
              </a:rPr>
              <a:t>  </a:t>
            </a:r>
            <a:r>
              <a:rPr lang="en-US" altLang="ko-KR" sz="1200" b="1" dirty="0">
                <a:latin typeface="Arial" pitchFamily="34" charset="0"/>
                <a:ea typeface="맑은 고딕" panose="020B0503020000020004" pitchFamily="50" charset="-127"/>
                <a:cs typeface="Arial" pitchFamily="34" charset="0"/>
              </a:rPr>
              <a:t>: N</a:t>
            </a:r>
            <a:r>
              <a:rPr lang="vi-VN" altLang="ko-KR" sz="1200" b="1" dirty="0">
                <a:latin typeface="Arial" pitchFamily="34" charset="0"/>
                <a:ea typeface="맑은 고딕" panose="020B0503020000020004" pitchFamily="50" charset="-127"/>
                <a:cs typeface="Arial" pitchFamily="34" charset="0"/>
              </a:rPr>
              <a:t>ỗ lực để nâng cao chất lượng </a:t>
            </a:r>
            <a:r>
              <a:rPr lang="en-US" altLang="ko-KR" sz="1200" b="1" dirty="0" err="1">
                <a:latin typeface="Arial" pitchFamily="34" charset="0"/>
                <a:ea typeface="맑은 고딕" panose="020B0503020000020004" pitchFamily="50" charset="-127"/>
                <a:cs typeface="Arial" pitchFamily="34" charset="0"/>
              </a:rPr>
              <a:t>tới</a:t>
            </a:r>
            <a:r>
              <a:rPr lang="vi-VN" altLang="ko-KR" sz="1200" b="1" dirty="0">
                <a:latin typeface="Arial" pitchFamily="34" charset="0"/>
                <a:ea typeface="맑은 고딕" panose="020B0503020000020004" pitchFamily="50" charset="-127"/>
                <a:cs typeface="Arial" pitchFamily="34" charset="0"/>
              </a:rPr>
              <a:t> một mức độ vượt </a:t>
            </a:r>
            <a:r>
              <a:rPr lang="en-US" altLang="ko-KR" sz="1200" b="1" dirty="0">
                <a:latin typeface="Arial" pitchFamily="34" charset="0"/>
                <a:ea typeface="맑은 고딕" panose="020B0503020000020004" pitchFamily="50" charset="-127"/>
                <a:cs typeface="Arial" pitchFamily="34" charset="0"/>
              </a:rPr>
              <a:t>qua “learning curve” </a:t>
            </a:r>
            <a:r>
              <a:rPr lang="vi-VN" altLang="ko-KR" sz="1200" b="1" dirty="0">
                <a:latin typeface="Arial" pitchFamily="34" charset="0"/>
                <a:ea typeface="맑은 고딕" panose="020B0503020000020004" pitchFamily="50" charset="-127"/>
                <a:cs typeface="Arial" pitchFamily="34" charset="0"/>
              </a:rPr>
              <a:t>trong một khoảng thời gian ngắn</a:t>
            </a:r>
            <a:endParaRPr lang="ko-KR" altLang="en-US" sz="1200" b="1" dirty="0">
              <a:latin typeface="Arial" pitchFamily="34" charset="0"/>
              <a:ea typeface="맑은 고딕" panose="020B0503020000020004" pitchFamily="50" charset="-127"/>
              <a:cs typeface="Arial" pitchFamily="34" charset="0"/>
            </a:endParaRPr>
          </a:p>
        </p:txBody>
      </p:sp>
      <p:sp>
        <p:nvSpPr>
          <p:cNvPr id="12295" name="직사각형 6"/>
          <p:cNvSpPr>
            <a:spLocks noChangeArrowheads="1"/>
          </p:cNvSpPr>
          <p:nvPr/>
        </p:nvSpPr>
        <p:spPr bwMode="auto">
          <a:xfrm>
            <a:off x="7401272" y="840165"/>
            <a:ext cx="236061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b="1" dirty="0">
                <a:latin typeface="Arial" pitchFamily="34" charset="0"/>
                <a:ea typeface="맑은 고딕" panose="020B0503020000020004" pitchFamily="50" charset="-127"/>
                <a:cs typeface="Arial" pitchFamily="34" charset="0"/>
              </a:rPr>
              <a:t>Learning Curve</a:t>
            </a:r>
          </a:p>
          <a:p>
            <a:pPr marL="57150" algn="just" eaLnBrk="1" hangingPunct="1">
              <a:defRPr/>
            </a:pPr>
            <a:r>
              <a:rPr lang="en-US" altLang="ko-KR" sz="1200" dirty="0">
                <a:latin typeface="Arial" pitchFamily="34" charset="0"/>
                <a:ea typeface="맑은 고딕" panose="020B0503020000020004" pitchFamily="50" charset="-127"/>
                <a:cs typeface="Arial" pitchFamily="34" charset="0"/>
              </a:rPr>
              <a:t>C</a:t>
            </a:r>
            <a:r>
              <a:rPr lang="vi-VN" altLang="ko-KR" sz="1200" dirty="0">
                <a:latin typeface="Arial" pitchFamily="34" charset="0"/>
                <a:ea typeface="맑은 고딕" panose="020B0503020000020004" pitchFamily="50" charset="-127"/>
                <a:cs typeface="Arial" pitchFamily="34" charset="0"/>
              </a:rPr>
              <a:t>hi phí đơn vị sản phẩm giảm khi kinh nghiệm tích lũy (sản xuất, bán hàng tích lũy) tăng. Khi tích lũy kinh nghiệm tăng gấp đôi, chi phí thường giảm đi khoảng 20%.</a:t>
            </a:r>
            <a:endParaRPr lang="ko-KR" altLang="en-US" sz="1200" dirty="0">
              <a:latin typeface="Arial" pitchFamily="34" charset="0"/>
              <a:ea typeface="맑은 고딕" panose="020B0503020000020004" pitchFamily="50" charset="-127"/>
              <a:cs typeface="Arial" pitchFamily="34" charset="0"/>
            </a:endParaRPr>
          </a:p>
        </p:txBody>
      </p:sp>
      <p:sp>
        <p:nvSpPr>
          <p:cNvPr id="8" name="직사각형 7"/>
          <p:cNvSpPr/>
          <p:nvPr/>
        </p:nvSpPr>
        <p:spPr>
          <a:xfrm>
            <a:off x="7473950" y="5478463"/>
            <a:ext cx="2360613" cy="1015663"/>
          </a:xfrm>
          <a:prstGeom prst="rect">
            <a:avLst/>
          </a:prstGeom>
        </p:spPr>
        <p:txBody>
          <a:bodyPr>
            <a:spAutoFit/>
          </a:bodyPr>
          <a:lstStyle/>
          <a:p>
            <a:pPr>
              <a:defRPr/>
            </a:pPr>
            <a:r>
              <a:rPr lang="en-US" altLang="ko-KR" sz="1200" b="1" dirty="0">
                <a:latin typeface="Arial" pitchFamily="34" charset="0"/>
                <a:ea typeface="맑은 고딕" panose="020B0503020000020004" pitchFamily="50" charset="-127"/>
                <a:cs typeface="Arial" pitchFamily="34" charset="0"/>
              </a:rPr>
              <a:t>Project</a:t>
            </a:r>
          </a:p>
          <a:p>
            <a:pPr marL="95250" indent="-95250">
              <a:buFontTx/>
              <a:buAutoNum type="arabicPeriod"/>
              <a:defRPr/>
            </a:pPr>
            <a:r>
              <a:rPr lang="en-US" altLang="ko-KR" sz="1200" dirty="0" err="1">
                <a:latin typeface="Arial" pitchFamily="34" charset="0"/>
                <a:ea typeface="맑은 고딕" panose="020B0503020000020004" pitchFamily="50" charset="-127"/>
                <a:cs typeface="Arial" pitchFamily="34" charset="0"/>
              </a:rPr>
              <a:t>Mục</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tiêu</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cụ</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thể</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theo</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yêu</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cầu</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của</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khách</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hàng</a:t>
            </a:r>
            <a:endParaRPr lang="en-US" altLang="ko-KR" sz="1200" dirty="0">
              <a:latin typeface="Arial" pitchFamily="34" charset="0"/>
              <a:ea typeface="맑은 고딕" panose="020B0503020000020004" pitchFamily="50" charset="-127"/>
              <a:cs typeface="Arial" pitchFamily="34" charset="0"/>
            </a:endParaRPr>
          </a:p>
          <a:p>
            <a:pPr>
              <a:buFontTx/>
              <a:buAutoNum type="arabicPeriod"/>
              <a:defRPr/>
            </a:pPr>
            <a:r>
              <a:rPr lang="en-US" altLang="ko-KR" sz="1200" dirty="0" err="1">
                <a:latin typeface="Arial" pitchFamily="34" charset="0"/>
                <a:ea typeface="맑은 고딕" panose="020B0503020000020004" pitchFamily="50" charset="-127"/>
                <a:cs typeface="Arial" pitchFamily="34" charset="0"/>
              </a:rPr>
              <a:t>Điểm</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bắt</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đầu</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và</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kết</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thúc</a:t>
            </a:r>
            <a:endParaRPr lang="en-US" altLang="ko-KR" sz="1200" dirty="0">
              <a:latin typeface="Arial" pitchFamily="34" charset="0"/>
              <a:ea typeface="맑은 고딕" panose="020B0503020000020004" pitchFamily="50" charset="-127"/>
              <a:cs typeface="Arial" pitchFamily="34" charset="0"/>
            </a:endParaRPr>
          </a:p>
          <a:p>
            <a:pPr marL="95250" indent="-95250">
              <a:buFontTx/>
              <a:buAutoNum type="arabicPeriod"/>
              <a:defRPr/>
            </a:pPr>
            <a:r>
              <a:rPr lang="en-US" altLang="ko-KR" sz="1200" dirty="0" err="1">
                <a:latin typeface="Arial" pitchFamily="34" charset="0"/>
                <a:ea typeface="맑은 고딕" panose="020B0503020000020004" pitchFamily="50" charset="-127"/>
                <a:cs typeface="Arial" pitchFamily="34" charset="0"/>
              </a:rPr>
              <a:t>Nguồn</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lực</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có</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hạn</a:t>
            </a:r>
            <a:endParaRPr lang="ko-KR" altLang="en-US" sz="1200" dirty="0">
              <a:latin typeface="Arial" pitchFamily="34" charset="0"/>
              <a:ea typeface="맑은 고딕" panose="020B0503020000020004" pitchFamily="50" charset="-127"/>
              <a:cs typeface="Arial" pitchFamily="34" charset="0"/>
            </a:endParaRPr>
          </a:p>
        </p:txBody>
      </p:sp>
      <p:sp>
        <p:nvSpPr>
          <p:cNvPr id="10" name="직사각형 9"/>
          <p:cNvSpPr/>
          <p:nvPr/>
        </p:nvSpPr>
        <p:spPr>
          <a:xfrm>
            <a:off x="7473950" y="2176425"/>
            <a:ext cx="2360613" cy="276999"/>
          </a:xfrm>
          <a:prstGeom prst="rect">
            <a:avLst/>
          </a:prstGeom>
        </p:spPr>
        <p:txBody>
          <a:bodyPr>
            <a:spAutoFit/>
          </a:bodyPr>
          <a:lstStyle/>
          <a:p>
            <a:pPr>
              <a:defRPr/>
            </a:pPr>
            <a:r>
              <a:rPr lang="en-US" altLang="ko-KR" sz="1200" b="1" dirty="0">
                <a:latin typeface="Arial" pitchFamily="34" charset="0"/>
                <a:ea typeface="맑은 고딕" panose="020B0503020000020004" pitchFamily="50" charset="-127"/>
                <a:cs typeface="Arial" pitchFamily="34" charset="0"/>
              </a:rPr>
              <a:t>Quality Trilogy (</a:t>
            </a:r>
            <a:r>
              <a:rPr lang="en-US" altLang="ko-KR" sz="1200" b="1" dirty="0" err="1">
                <a:latin typeface="Arial" pitchFamily="34" charset="0"/>
                <a:ea typeface="맑은 고딕" panose="020B0503020000020004" pitchFamily="50" charset="-127"/>
                <a:cs typeface="Arial" pitchFamily="34" charset="0"/>
              </a:rPr>
              <a:t>Juran</a:t>
            </a:r>
            <a:r>
              <a:rPr lang="en-US" altLang="ko-KR" sz="1200" b="1" dirty="0">
                <a:latin typeface="Arial" pitchFamily="34" charset="0"/>
                <a:ea typeface="맑은 고딕" panose="020B0503020000020004"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17</a:t>
            </a:fld>
            <a:endParaRPr lang="ko-KR" altLang="en-US" dirty="0">
              <a:latin typeface="Arial" pitchFamily="34" charset="0"/>
              <a:cs typeface="Arial" pitchFamily="34" charset="0"/>
            </a:endParaRPr>
          </a:p>
        </p:txBody>
      </p:sp>
      <p:sp>
        <p:nvSpPr>
          <p:cNvPr id="20" name="Rectangle 7"/>
          <p:cNvSpPr>
            <a:spLocks noChangeArrowheads="1"/>
          </p:cNvSpPr>
          <p:nvPr/>
        </p:nvSpPr>
        <p:spPr bwMode="auto">
          <a:xfrm>
            <a:off x="69850" y="185708"/>
            <a:ext cx="41344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Định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nghĩa</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về</a:t>
            </a:r>
            <a:r>
              <a:rPr lang="en-US" altLang="ko-KR" sz="2000" b="1" dirty="0">
                <a:latin typeface="Arial" pitchFamily="34" charset="0"/>
                <a:ea typeface="맑은 고딕" pitchFamily="50" charset="-127"/>
                <a:cs typeface="Arial" pitchFamily="34" charset="0"/>
              </a:rPr>
              <a:t> 1 </a:t>
            </a:r>
            <a:r>
              <a:rPr lang="en-US" altLang="ko-KR" sz="2000" b="1" dirty="0" err="1">
                <a:latin typeface="Arial" pitchFamily="34" charset="0"/>
                <a:ea typeface="맑은 고딕" pitchFamily="50" charset="-127"/>
                <a:cs typeface="Arial" pitchFamily="34" charset="0"/>
              </a:rPr>
              <a:t>số</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thuật</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ngữ</a:t>
            </a:r>
            <a:endParaRPr lang="ko-KR" altLang="en-US" sz="2000" b="1" dirty="0">
              <a:latin typeface="Arial" pitchFamily="34" charset="0"/>
              <a:ea typeface="맑은 고딕" pitchFamily="50" charset="-127"/>
              <a:cs typeface="Arial" pitchFamily="34" charset="0"/>
            </a:endParaRPr>
          </a:p>
        </p:txBody>
      </p:sp>
      <p:pic>
        <p:nvPicPr>
          <p:cNvPr id="21" name="Picture 20" descr="2.png"/>
          <p:cNvPicPr>
            <a:picLocks noChangeAspect="1"/>
          </p:cNvPicPr>
          <p:nvPr/>
        </p:nvPicPr>
        <p:blipFill>
          <a:blip r:embed="rId3" cstate="print"/>
          <a:stretch>
            <a:fillRect/>
          </a:stretch>
        </p:blipFill>
        <p:spPr>
          <a:xfrm>
            <a:off x="7257256" y="3753282"/>
            <a:ext cx="2387073" cy="1696078"/>
          </a:xfrm>
          <a:prstGeom prst="rect">
            <a:avLst/>
          </a:prstGeom>
        </p:spPr>
      </p:pic>
      <p:pic>
        <p:nvPicPr>
          <p:cNvPr id="22" name="Picture 21" descr="3.png"/>
          <p:cNvPicPr>
            <a:picLocks noChangeAspect="1"/>
          </p:cNvPicPr>
          <p:nvPr/>
        </p:nvPicPr>
        <p:blipFill>
          <a:blip r:embed="rId4" cstate="print"/>
          <a:stretch>
            <a:fillRect/>
          </a:stretch>
        </p:blipFill>
        <p:spPr>
          <a:xfrm>
            <a:off x="7761312" y="2427316"/>
            <a:ext cx="1224136" cy="1224136"/>
          </a:xfrm>
          <a:prstGeom prst="rect">
            <a:avLst/>
          </a:prstGeom>
        </p:spPr>
      </p:pic>
    </p:spTree>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7"/>
          <p:cNvSpPr>
            <a:spLocks noChangeArrowheads="1"/>
          </p:cNvSpPr>
          <p:nvPr/>
        </p:nvSpPr>
        <p:spPr bwMode="auto">
          <a:xfrm>
            <a:off x="69850" y="185708"/>
            <a:ext cx="56364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Tổng</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kết</a:t>
            </a:r>
            <a:r>
              <a:rPr lang="ko-KR" altLang="en-US" sz="2000" b="1" dirty="0">
                <a:latin typeface="Arial" pitchFamily="34" charset="0"/>
                <a:ea typeface="맑은 고딕" panose="020B0503020000020004" pitchFamily="50" charset="-127"/>
                <a:cs typeface="Arial" pitchFamily="34" charset="0"/>
              </a:rPr>
              <a:t> </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Kiểm</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soát</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và</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cải</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tiến</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chất</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lượng</a:t>
            </a:r>
            <a:endParaRPr lang="ko-KR" altLang="en-US" sz="2000" b="1" dirty="0">
              <a:latin typeface="Arial" pitchFamily="34" charset="0"/>
              <a:ea typeface="맑은 고딕" panose="020B0503020000020004" pitchFamily="50" charset="-127"/>
              <a:cs typeface="Arial" pitchFamily="34" charset="0"/>
            </a:endParaRPr>
          </a:p>
        </p:txBody>
      </p:sp>
      <p:sp>
        <p:nvSpPr>
          <p:cNvPr id="21507" name="Text Box 30"/>
          <p:cNvSpPr txBox="1">
            <a:spLocks noChangeArrowheads="1"/>
          </p:cNvSpPr>
          <p:nvPr/>
        </p:nvSpPr>
        <p:spPr bwMode="auto">
          <a:xfrm>
            <a:off x="83152" y="880031"/>
            <a:ext cx="8659807" cy="400110"/>
          </a:xfrm>
          <a:prstGeom prst="rect">
            <a:avLst/>
          </a:prstGeom>
          <a:solidFill>
            <a:srgbClr val="FFCC66">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u="sng" dirty="0" err="1">
                <a:solidFill>
                  <a:srgbClr val="FF3300"/>
                </a:solidFill>
                <a:latin typeface="Arial" pitchFamily="34" charset="0"/>
                <a:ea typeface="맑은 고딕" panose="020B0503020000020004" pitchFamily="50" charset="-127"/>
                <a:cs typeface="Arial" pitchFamily="34" charset="0"/>
              </a:rPr>
              <a:t>Kiểm</a:t>
            </a:r>
            <a:r>
              <a:rPr lang="en-US" altLang="ko-KR" sz="2000" b="1" u="sng" dirty="0">
                <a:solidFill>
                  <a:srgbClr val="FF3300"/>
                </a:solidFill>
                <a:latin typeface="Arial" pitchFamily="34" charset="0"/>
                <a:ea typeface="맑은 고딕" panose="020B0503020000020004" pitchFamily="50" charset="-127"/>
                <a:cs typeface="Arial" pitchFamily="34" charset="0"/>
              </a:rPr>
              <a:t> </a:t>
            </a:r>
            <a:r>
              <a:rPr lang="en-US" altLang="ko-KR" sz="2000" b="1" u="sng" dirty="0" err="1">
                <a:solidFill>
                  <a:srgbClr val="FF3300"/>
                </a:solidFill>
                <a:latin typeface="Arial" pitchFamily="34" charset="0"/>
                <a:ea typeface="맑은 고딕" panose="020B0503020000020004" pitchFamily="50" charset="-127"/>
                <a:cs typeface="Arial" pitchFamily="34" charset="0"/>
              </a:rPr>
              <a:t>soát</a:t>
            </a:r>
            <a:r>
              <a:rPr lang="en-US" altLang="ko-KR" sz="1600"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là</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duy</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trì</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được</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nguyên</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trạng</a:t>
            </a:r>
            <a:r>
              <a:rPr lang="en-US" altLang="ko-KR" b="1" u="sng" dirty="0">
                <a:latin typeface="Arial" pitchFamily="34" charset="0"/>
                <a:ea typeface="맑은 고딕" panose="020B0503020000020004" pitchFamily="50" charset="-127"/>
                <a:cs typeface="Arial" pitchFamily="34" charset="0"/>
              </a:rPr>
              <a:t>. </a:t>
            </a:r>
            <a:r>
              <a:rPr lang="en-US" altLang="ko-KR" sz="2000" b="1" u="sng" dirty="0" err="1">
                <a:solidFill>
                  <a:schemeClr val="accent2"/>
                </a:solidFill>
                <a:latin typeface="Arial" pitchFamily="34" charset="0"/>
                <a:ea typeface="맑은 고딕" panose="020B0503020000020004" pitchFamily="50" charset="-127"/>
                <a:cs typeface="Arial" pitchFamily="34" charset="0"/>
              </a:rPr>
              <a:t>Cải</a:t>
            </a:r>
            <a:r>
              <a:rPr lang="en-US" altLang="ko-KR" sz="2000" b="1" u="sng" dirty="0">
                <a:solidFill>
                  <a:schemeClr val="accent2"/>
                </a:solidFill>
                <a:latin typeface="Arial" pitchFamily="34" charset="0"/>
                <a:ea typeface="맑은 고딕" panose="020B0503020000020004" pitchFamily="50" charset="-127"/>
                <a:cs typeface="Arial" pitchFamily="34" charset="0"/>
              </a:rPr>
              <a:t> </a:t>
            </a:r>
            <a:r>
              <a:rPr lang="en-US" altLang="ko-KR" sz="2000" b="1" u="sng" dirty="0" err="1">
                <a:solidFill>
                  <a:schemeClr val="accent2"/>
                </a:solidFill>
                <a:latin typeface="Arial" pitchFamily="34" charset="0"/>
                <a:ea typeface="맑은 고딕" panose="020B0503020000020004" pitchFamily="50" charset="-127"/>
                <a:cs typeface="Arial" pitchFamily="34" charset="0"/>
              </a:rPr>
              <a:t>tiến</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là</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làm</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tốt</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hơn</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trước</a:t>
            </a:r>
            <a:r>
              <a:rPr lang="en-US" altLang="ko-KR" b="1" u="sng" dirty="0">
                <a:latin typeface="Arial" pitchFamily="34" charset="0"/>
                <a:ea typeface="맑은 고딕" panose="020B0503020000020004" pitchFamily="50" charset="-127"/>
                <a:cs typeface="Arial" pitchFamily="34" charset="0"/>
              </a:rPr>
              <a:t> </a:t>
            </a:r>
            <a:r>
              <a:rPr lang="en-US" altLang="ko-KR" b="1" u="sng" dirty="0" err="1">
                <a:latin typeface="Arial" pitchFamily="34" charset="0"/>
                <a:ea typeface="맑은 고딕" panose="020B0503020000020004" pitchFamily="50" charset="-127"/>
                <a:cs typeface="Arial" pitchFamily="34" charset="0"/>
              </a:rPr>
              <a:t>đây</a:t>
            </a:r>
            <a:endParaRPr lang="en-US" altLang="ko-KR" b="1" u="sng" dirty="0">
              <a:latin typeface="Arial" pitchFamily="34" charset="0"/>
              <a:ea typeface="맑은 고딕" panose="020B0503020000020004" pitchFamily="50" charset="-127"/>
              <a:cs typeface="Arial" pitchFamily="34" charset="0"/>
            </a:endParaRPr>
          </a:p>
        </p:txBody>
      </p:sp>
      <p:sp>
        <p:nvSpPr>
          <p:cNvPr id="5" name="Rectangle 18"/>
          <p:cNvSpPr>
            <a:spLocks noChangeArrowheads="1"/>
          </p:cNvSpPr>
          <p:nvPr/>
        </p:nvSpPr>
        <p:spPr bwMode="auto">
          <a:xfrm rot="5400000">
            <a:off x="928532" y="2213382"/>
            <a:ext cx="1319528" cy="276999"/>
          </a:xfrm>
          <a:prstGeom prst="rect">
            <a:avLst/>
          </a:prstGeom>
          <a:noFill/>
          <a:ln>
            <a:noFill/>
          </a:ln>
          <a:effectLst>
            <a:prstShdw prst="shdw17" dist="17961" dir="2700000">
              <a:schemeClr val="accent1">
                <a:gamma/>
                <a:shade val="60000"/>
                <a:invGamma/>
              </a:schemeClr>
            </a:prstShdw>
          </a:effectLst>
        </p:spPr>
        <p:txBody>
          <a:bodyPr wrap="none">
            <a:spAutoFit/>
          </a:bodyPr>
          <a:lstStyle/>
          <a:p>
            <a:pPr>
              <a:defRPr/>
            </a:pPr>
            <a:r>
              <a:rPr lang="en-US" altLang="ko-KR" sz="1200" b="1" dirty="0">
                <a:solidFill>
                  <a:srgbClr val="000000"/>
                </a:solidFill>
                <a:latin typeface="Arial" pitchFamily="34" charset="0"/>
                <a:ea typeface="맑은 고딕" panose="020B0503020000020004" pitchFamily="50" charset="-127"/>
                <a:cs typeface="Arial" pitchFamily="34" charset="0"/>
              </a:rPr>
              <a:t>Rate of Defects</a:t>
            </a:r>
            <a:endParaRPr lang="ko-KR" altLang="en-US" sz="1200" b="1" dirty="0">
              <a:solidFill>
                <a:srgbClr val="000000"/>
              </a:solidFill>
              <a:latin typeface="Arial" pitchFamily="34" charset="0"/>
              <a:ea typeface="맑은 고딕" panose="020B0503020000020004" pitchFamily="50" charset="-127"/>
              <a:cs typeface="Arial" pitchFamily="34" charset="0"/>
            </a:endParaRPr>
          </a:p>
        </p:txBody>
      </p:sp>
      <p:sp>
        <p:nvSpPr>
          <p:cNvPr id="21509" name="Freeform 2"/>
          <p:cNvSpPr>
            <a:spLocks/>
          </p:cNvSpPr>
          <p:nvPr/>
        </p:nvSpPr>
        <p:spPr bwMode="auto">
          <a:xfrm>
            <a:off x="1824038" y="2143125"/>
            <a:ext cx="6526212" cy="4013200"/>
          </a:xfrm>
          <a:custGeom>
            <a:avLst/>
            <a:gdLst>
              <a:gd name="T0" fmla="*/ 0 w 3175"/>
              <a:gd name="T1" fmla="*/ 0 h 2177"/>
              <a:gd name="T2" fmla="*/ 0 w 3175"/>
              <a:gd name="T3" fmla="*/ 2147483647 h 2177"/>
              <a:gd name="T4" fmla="*/ 2147483647 w 3175"/>
              <a:gd name="T5" fmla="*/ 2147483647 h 2177"/>
              <a:gd name="T6" fmla="*/ 0 60000 65536"/>
              <a:gd name="T7" fmla="*/ 0 60000 65536"/>
              <a:gd name="T8" fmla="*/ 0 60000 65536"/>
              <a:gd name="T9" fmla="*/ 0 w 3175"/>
              <a:gd name="T10" fmla="*/ 0 h 2177"/>
              <a:gd name="T11" fmla="*/ 3175 w 3175"/>
              <a:gd name="T12" fmla="*/ 2177 h 2177"/>
            </a:gdLst>
            <a:ahLst/>
            <a:cxnLst>
              <a:cxn ang="T6">
                <a:pos x="T0" y="T1"/>
              </a:cxn>
              <a:cxn ang="T7">
                <a:pos x="T2" y="T3"/>
              </a:cxn>
              <a:cxn ang="T8">
                <a:pos x="T4" y="T5"/>
              </a:cxn>
            </a:cxnLst>
            <a:rect l="T9" t="T10" r="T11" b="T12"/>
            <a:pathLst>
              <a:path w="3175" h="2177">
                <a:moveTo>
                  <a:pt x="0" y="0"/>
                </a:moveTo>
                <a:lnTo>
                  <a:pt x="0" y="2177"/>
                </a:lnTo>
                <a:lnTo>
                  <a:pt x="3175" y="2177"/>
                </a:lnTo>
              </a:path>
            </a:pathLst>
          </a:custGeom>
          <a:noFill/>
          <a:ln w="9525">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dirty="0">
              <a:latin typeface="Arial" pitchFamily="34" charset="0"/>
              <a:ea typeface="맑은 고딕" panose="020B0503020000020004" pitchFamily="50" charset="-127"/>
              <a:cs typeface="Arial" pitchFamily="34" charset="0"/>
            </a:endParaRPr>
          </a:p>
        </p:txBody>
      </p:sp>
      <p:sp>
        <p:nvSpPr>
          <p:cNvPr id="21510" name="Line 3"/>
          <p:cNvSpPr>
            <a:spLocks noChangeShapeType="1"/>
          </p:cNvSpPr>
          <p:nvPr/>
        </p:nvSpPr>
        <p:spPr bwMode="auto">
          <a:xfrm>
            <a:off x="1901825" y="3133725"/>
            <a:ext cx="4379913" cy="885825"/>
          </a:xfrm>
          <a:prstGeom prst="line">
            <a:avLst/>
          </a:prstGeom>
          <a:noFill/>
          <a:ln w="28575">
            <a:solidFill>
              <a:srgbClr val="FF3300"/>
            </a:solidFill>
            <a:prstDash val="dash"/>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맑은 고딕" panose="020B0503020000020004" pitchFamily="50" charset="-127"/>
              <a:cs typeface="Arial" pitchFamily="34" charset="0"/>
            </a:endParaRPr>
          </a:p>
        </p:txBody>
      </p:sp>
      <p:sp>
        <p:nvSpPr>
          <p:cNvPr id="21511" name="Line 4"/>
          <p:cNvSpPr>
            <a:spLocks noChangeShapeType="1"/>
          </p:cNvSpPr>
          <p:nvPr/>
        </p:nvSpPr>
        <p:spPr bwMode="auto">
          <a:xfrm>
            <a:off x="6281738" y="5365750"/>
            <a:ext cx="1703387" cy="317500"/>
          </a:xfrm>
          <a:prstGeom prst="line">
            <a:avLst/>
          </a:prstGeom>
          <a:noFill/>
          <a:ln w="28575">
            <a:solidFill>
              <a:srgbClr val="FF3300"/>
            </a:solidFill>
            <a:prstDash val="dash"/>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맑은 고딕" panose="020B0503020000020004" pitchFamily="50" charset="-127"/>
              <a:cs typeface="Arial" pitchFamily="34" charset="0"/>
            </a:endParaRPr>
          </a:p>
        </p:txBody>
      </p:sp>
      <p:sp>
        <p:nvSpPr>
          <p:cNvPr id="21512" name="Freeform 5"/>
          <p:cNvSpPr>
            <a:spLocks/>
          </p:cNvSpPr>
          <p:nvPr/>
        </p:nvSpPr>
        <p:spPr bwMode="auto">
          <a:xfrm flipV="1">
            <a:off x="2022475" y="2473325"/>
            <a:ext cx="5270500" cy="3273425"/>
          </a:xfrm>
          <a:custGeom>
            <a:avLst/>
            <a:gdLst>
              <a:gd name="T0" fmla="*/ 0 w 2948"/>
              <a:gd name="T1" fmla="*/ 2147483647 h 2041"/>
              <a:gd name="T2" fmla="*/ 2147483647 w 2948"/>
              <a:gd name="T3" fmla="*/ 2147483647 h 2041"/>
              <a:gd name="T4" fmla="*/ 2147483647 w 2948"/>
              <a:gd name="T5" fmla="*/ 2147483647 h 2041"/>
              <a:gd name="T6" fmla="*/ 2147483647 w 2948"/>
              <a:gd name="T7" fmla="*/ 2147483647 h 2041"/>
              <a:gd name="T8" fmla="*/ 2147483647 w 2948"/>
              <a:gd name="T9" fmla="*/ 2147483647 h 2041"/>
              <a:gd name="T10" fmla="*/ 2147483647 w 2948"/>
              <a:gd name="T11" fmla="*/ 2147483647 h 2041"/>
              <a:gd name="T12" fmla="*/ 2147483647 w 2948"/>
              <a:gd name="T13" fmla="*/ 2147483647 h 2041"/>
              <a:gd name="T14" fmla="*/ 2147483647 w 2948"/>
              <a:gd name="T15" fmla="*/ 2147483647 h 2041"/>
              <a:gd name="T16" fmla="*/ 2147483647 w 2948"/>
              <a:gd name="T17" fmla="*/ 2147483647 h 2041"/>
              <a:gd name="T18" fmla="*/ 2147483647 w 2948"/>
              <a:gd name="T19" fmla="*/ 2147483647 h 2041"/>
              <a:gd name="T20" fmla="*/ 2147483647 w 2948"/>
              <a:gd name="T21" fmla="*/ 2147483647 h 2041"/>
              <a:gd name="T22" fmla="*/ 2147483647 w 2948"/>
              <a:gd name="T23" fmla="*/ 2147483647 h 2041"/>
              <a:gd name="T24" fmla="*/ 2147483647 w 2948"/>
              <a:gd name="T25" fmla="*/ 2147483647 h 2041"/>
              <a:gd name="T26" fmla="*/ 2147483647 w 2948"/>
              <a:gd name="T27" fmla="*/ 2147483647 h 2041"/>
              <a:gd name="T28" fmla="*/ 2147483647 w 2948"/>
              <a:gd name="T29" fmla="*/ 2147483647 h 2041"/>
              <a:gd name="T30" fmla="*/ 2147483647 w 2948"/>
              <a:gd name="T31" fmla="*/ 2147483647 h 2041"/>
              <a:gd name="T32" fmla="*/ 2147483647 w 2948"/>
              <a:gd name="T33" fmla="*/ 2147483647 h 2041"/>
              <a:gd name="T34" fmla="*/ 2147483647 w 2948"/>
              <a:gd name="T35" fmla="*/ 2147483647 h 2041"/>
              <a:gd name="T36" fmla="*/ 2147483647 w 2948"/>
              <a:gd name="T37" fmla="*/ 2147483647 h 2041"/>
              <a:gd name="T38" fmla="*/ 2147483647 w 2948"/>
              <a:gd name="T39" fmla="*/ 2147483647 h 2041"/>
              <a:gd name="T40" fmla="*/ 2147483647 w 2948"/>
              <a:gd name="T41" fmla="*/ 2147483647 h 2041"/>
              <a:gd name="T42" fmla="*/ 2147483647 w 2948"/>
              <a:gd name="T43" fmla="*/ 0 h 20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48"/>
              <a:gd name="T67" fmla="*/ 0 h 2041"/>
              <a:gd name="T68" fmla="*/ 2948 w 2948"/>
              <a:gd name="T69" fmla="*/ 2041 h 204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48" h="2041">
                <a:moveTo>
                  <a:pt x="0" y="1633"/>
                </a:moveTo>
                <a:lnTo>
                  <a:pt x="136" y="1361"/>
                </a:lnTo>
                <a:lnTo>
                  <a:pt x="408" y="1588"/>
                </a:lnTo>
                <a:lnTo>
                  <a:pt x="499" y="1225"/>
                </a:lnTo>
                <a:lnTo>
                  <a:pt x="680" y="1542"/>
                </a:lnTo>
                <a:lnTo>
                  <a:pt x="771" y="1179"/>
                </a:lnTo>
                <a:lnTo>
                  <a:pt x="953" y="2041"/>
                </a:lnTo>
                <a:lnTo>
                  <a:pt x="1089" y="1769"/>
                </a:lnTo>
                <a:lnTo>
                  <a:pt x="1270" y="1996"/>
                </a:lnTo>
                <a:lnTo>
                  <a:pt x="1361" y="1724"/>
                </a:lnTo>
                <a:lnTo>
                  <a:pt x="1497" y="1950"/>
                </a:lnTo>
                <a:lnTo>
                  <a:pt x="1588" y="1134"/>
                </a:lnTo>
                <a:lnTo>
                  <a:pt x="1769" y="1270"/>
                </a:lnTo>
                <a:lnTo>
                  <a:pt x="1814" y="998"/>
                </a:lnTo>
                <a:lnTo>
                  <a:pt x="2041" y="1179"/>
                </a:lnTo>
                <a:lnTo>
                  <a:pt x="2087" y="952"/>
                </a:lnTo>
                <a:lnTo>
                  <a:pt x="2313" y="1134"/>
                </a:lnTo>
                <a:lnTo>
                  <a:pt x="2449" y="136"/>
                </a:lnTo>
                <a:lnTo>
                  <a:pt x="2631" y="317"/>
                </a:lnTo>
                <a:lnTo>
                  <a:pt x="2676" y="91"/>
                </a:lnTo>
                <a:lnTo>
                  <a:pt x="2858" y="272"/>
                </a:lnTo>
                <a:lnTo>
                  <a:pt x="2948"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latin typeface="Arial" pitchFamily="34" charset="0"/>
              <a:ea typeface="맑은 고딕" panose="020B0503020000020004" pitchFamily="50" charset="-127"/>
              <a:cs typeface="Arial" pitchFamily="34" charset="0"/>
            </a:endParaRPr>
          </a:p>
        </p:txBody>
      </p:sp>
      <p:sp>
        <p:nvSpPr>
          <p:cNvPr id="21513" name="AutoShape 6"/>
          <p:cNvSpPr>
            <a:spLocks noChangeArrowheads="1"/>
          </p:cNvSpPr>
          <p:nvPr/>
        </p:nvSpPr>
        <p:spPr bwMode="auto">
          <a:xfrm flipV="1">
            <a:off x="5603875" y="4052888"/>
            <a:ext cx="969963" cy="1247775"/>
          </a:xfrm>
          <a:prstGeom prst="upArrow">
            <a:avLst>
              <a:gd name="adj1" fmla="val 50000"/>
              <a:gd name="adj2" fmla="val 43893"/>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600" b="1" dirty="0">
              <a:latin typeface="Arial" pitchFamily="34" charset="0"/>
              <a:ea typeface="맑은 고딕" panose="020B0503020000020004" pitchFamily="50" charset="-127"/>
              <a:cs typeface="Arial" pitchFamily="34" charset="0"/>
            </a:endParaRPr>
          </a:p>
        </p:txBody>
      </p:sp>
      <p:sp>
        <p:nvSpPr>
          <p:cNvPr id="21514" name="Text Box 7"/>
          <p:cNvSpPr txBox="1">
            <a:spLocks noChangeArrowheads="1"/>
          </p:cNvSpPr>
          <p:nvPr/>
        </p:nvSpPr>
        <p:spPr bwMode="auto">
          <a:xfrm>
            <a:off x="5603875" y="4381500"/>
            <a:ext cx="9699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nchor="ctr" anchorCtr="1"/>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000" b="1" dirty="0">
                <a:solidFill>
                  <a:srgbClr val="000000"/>
                </a:solidFill>
                <a:latin typeface="Arial" pitchFamily="34" charset="0"/>
                <a:ea typeface="맑은 고딕" panose="020B0503020000020004" pitchFamily="50" charset="-127"/>
                <a:cs typeface="Arial" pitchFamily="34" charset="0"/>
              </a:rPr>
              <a:t>Improvement</a:t>
            </a:r>
            <a:endParaRPr lang="ko-KR" altLang="en-US" sz="1000" b="1" dirty="0">
              <a:latin typeface="Arial" pitchFamily="34" charset="0"/>
              <a:ea typeface="맑은 고딕" panose="020B0503020000020004" pitchFamily="50" charset="-127"/>
              <a:cs typeface="Arial" pitchFamily="34" charset="0"/>
            </a:endParaRPr>
          </a:p>
        </p:txBody>
      </p:sp>
      <p:sp>
        <p:nvSpPr>
          <p:cNvPr id="21515" name="Text Box 8"/>
          <p:cNvSpPr txBox="1">
            <a:spLocks noChangeArrowheads="1"/>
          </p:cNvSpPr>
          <p:nvPr/>
        </p:nvSpPr>
        <p:spPr bwMode="auto">
          <a:xfrm>
            <a:off x="2262188" y="3830638"/>
            <a:ext cx="2044700" cy="395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600" dirty="0">
                <a:solidFill>
                  <a:srgbClr val="000000"/>
                </a:solidFill>
                <a:latin typeface="Arial" pitchFamily="34" charset="0"/>
                <a:ea typeface="맑은 고딕" panose="020B0503020000020004" pitchFamily="50" charset="-127"/>
                <a:cs typeface="Arial" pitchFamily="34" charset="0"/>
              </a:rPr>
              <a:t>Control Status</a:t>
            </a:r>
            <a:endParaRPr lang="ko-KR" altLang="en-US" sz="2800" dirty="0">
              <a:latin typeface="Arial" pitchFamily="34" charset="0"/>
              <a:ea typeface="맑은 고딕" panose="020B0503020000020004" pitchFamily="50" charset="-127"/>
              <a:cs typeface="Arial" pitchFamily="34" charset="0"/>
            </a:endParaRPr>
          </a:p>
        </p:txBody>
      </p:sp>
      <p:sp>
        <p:nvSpPr>
          <p:cNvPr id="21516" name="Text Box 9"/>
          <p:cNvSpPr txBox="1">
            <a:spLocks noChangeArrowheads="1"/>
          </p:cNvSpPr>
          <p:nvPr/>
        </p:nvSpPr>
        <p:spPr bwMode="auto">
          <a:xfrm>
            <a:off x="3433763" y="2078038"/>
            <a:ext cx="27559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a:solidFill>
                  <a:srgbClr val="000000"/>
                </a:solidFill>
                <a:latin typeface="Arial" pitchFamily="34" charset="0"/>
                <a:ea typeface="맑은 고딕" panose="020B0503020000020004" pitchFamily="50" charset="-127"/>
                <a:cs typeface="Arial" pitchFamily="34" charset="0"/>
              </a:rPr>
              <a:t>Abnormal</a:t>
            </a:r>
            <a:endParaRPr lang="en-US" altLang="ko-KR" sz="1200" dirty="0">
              <a:latin typeface="Arial" pitchFamily="34" charset="0"/>
              <a:ea typeface="맑은 고딕" panose="020B0503020000020004" pitchFamily="50" charset="-127"/>
              <a:cs typeface="Arial" pitchFamily="34" charset="0"/>
            </a:endParaRPr>
          </a:p>
        </p:txBody>
      </p:sp>
      <p:sp>
        <p:nvSpPr>
          <p:cNvPr id="21517" name="AutoShape 10"/>
          <p:cNvSpPr>
            <a:spLocks noChangeArrowheads="1"/>
          </p:cNvSpPr>
          <p:nvPr/>
        </p:nvSpPr>
        <p:spPr bwMode="auto">
          <a:xfrm flipV="1">
            <a:off x="3771900" y="2933700"/>
            <a:ext cx="958850" cy="723900"/>
          </a:xfrm>
          <a:prstGeom prst="upArrow">
            <a:avLst>
              <a:gd name="adj1" fmla="val 50000"/>
              <a:gd name="adj2" fmla="val 25722"/>
            </a:avLst>
          </a:prstGeom>
          <a:solidFill>
            <a:srgbClr val="C0C0C0"/>
          </a:solidFill>
          <a:ln w="9525">
            <a:solidFill>
              <a:srgbClr val="808080"/>
            </a:solidFill>
            <a:miter lim="800000"/>
            <a:headEnd/>
            <a:tailEnd/>
          </a:ln>
        </p:spPr>
        <p:txBody>
          <a:bodyPr rot="10800000" vert="eaVert"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600" b="1" dirty="0">
              <a:latin typeface="Arial" pitchFamily="34" charset="0"/>
              <a:ea typeface="맑은 고딕" panose="020B0503020000020004" pitchFamily="50" charset="-127"/>
              <a:cs typeface="Arial" pitchFamily="34" charset="0"/>
            </a:endParaRPr>
          </a:p>
        </p:txBody>
      </p:sp>
      <p:sp>
        <p:nvSpPr>
          <p:cNvPr id="21518" name="Text Box 11"/>
          <p:cNvSpPr txBox="1">
            <a:spLocks noChangeArrowheads="1"/>
          </p:cNvSpPr>
          <p:nvPr/>
        </p:nvSpPr>
        <p:spPr bwMode="auto">
          <a:xfrm>
            <a:off x="3977357" y="3072499"/>
            <a:ext cx="886074"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000" dirty="0">
                <a:solidFill>
                  <a:srgbClr val="000000"/>
                </a:solidFill>
                <a:latin typeface="Arial" pitchFamily="34" charset="0"/>
                <a:ea typeface="맑은 고딕" panose="020B0503020000020004" pitchFamily="50" charset="-127"/>
                <a:cs typeface="Arial" pitchFamily="34" charset="0"/>
              </a:rPr>
              <a:t>Control</a:t>
            </a:r>
            <a:endParaRPr lang="ko-KR" altLang="en-US" sz="1000" dirty="0">
              <a:latin typeface="Arial" pitchFamily="34" charset="0"/>
              <a:ea typeface="맑은 고딕" panose="020B0503020000020004" pitchFamily="50" charset="-127"/>
              <a:cs typeface="Arial" pitchFamily="34" charset="0"/>
            </a:endParaRPr>
          </a:p>
        </p:txBody>
      </p:sp>
      <p:sp>
        <p:nvSpPr>
          <p:cNvPr id="21519" name="Text Box 12"/>
          <p:cNvSpPr txBox="1">
            <a:spLocks noChangeArrowheads="1"/>
          </p:cNvSpPr>
          <p:nvPr/>
        </p:nvSpPr>
        <p:spPr bwMode="auto">
          <a:xfrm>
            <a:off x="2003425" y="1844675"/>
            <a:ext cx="2303463"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FF3300"/>
                </a:solidFill>
                <a:latin typeface="Arial" pitchFamily="34" charset="0"/>
                <a:ea typeface="맑은 고딕" panose="020B0503020000020004" pitchFamily="50" charset="-127"/>
                <a:cs typeface="Arial" pitchFamily="34" charset="0"/>
              </a:rPr>
              <a:t>Experience Curve</a:t>
            </a:r>
          </a:p>
          <a:p>
            <a:pPr eaLnBrk="1" hangingPunct="1"/>
            <a:r>
              <a:rPr lang="en-US" altLang="ko-KR" sz="1200" dirty="0">
                <a:solidFill>
                  <a:srgbClr val="FF3300"/>
                </a:solidFill>
                <a:latin typeface="Arial" pitchFamily="34" charset="0"/>
                <a:ea typeface="맑은 고딕" panose="020B0503020000020004" pitchFamily="50" charset="-127"/>
                <a:cs typeface="Arial" pitchFamily="34" charset="0"/>
              </a:rPr>
              <a:t>Learning Effect</a:t>
            </a:r>
            <a:endParaRPr lang="ko-KR" altLang="en-US" sz="1200" dirty="0">
              <a:solidFill>
                <a:srgbClr val="FF3300"/>
              </a:solidFill>
              <a:latin typeface="Arial" pitchFamily="34" charset="0"/>
              <a:ea typeface="맑은 고딕" panose="020B0503020000020004" pitchFamily="50" charset="-127"/>
              <a:cs typeface="Arial" pitchFamily="34" charset="0"/>
            </a:endParaRPr>
          </a:p>
        </p:txBody>
      </p:sp>
      <p:sp>
        <p:nvSpPr>
          <p:cNvPr id="21520" name="Line 13"/>
          <p:cNvSpPr>
            <a:spLocks noChangeShapeType="1"/>
          </p:cNvSpPr>
          <p:nvPr/>
        </p:nvSpPr>
        <p:spPr bwMode="auto">
          <a:xfrm>
            <a:off x="4316413" y="2406650"/>
            <a:ext cx="3179762" cy="0"/>
          </a:xfrm>
          <a:prstGeom prst="line">
            <a:avLst/>
          </a:prstGeom>
          <a:noFill/>
          <a:ln w="3175">
            <a:solidFill>
              <a:srgbClr val="6600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ea typeface="맑은 고딕" panose="020B0503020000020004" pitchFamily="50" charset="-127"/>
              <a:cs typeface="Arial" pitchFamily="34" charset="0"/>
            </a:endParaRPr>
          </a:p>
        </p:txBody>
      </p:sp>
      <p:sp>
        <p:nvSpPr>
          <p:cNvPr id="21521" name="Text Box 14"/>
          <p:cNvSpPr txBox="1">
            <a:spLocks noChangeArrowheads="1"/>
          </p:cNvSpPr>
          <p:nvPr/>
        </p:nvSpPr>
        <p:spPr bwMode="auto">
          <a:xfrm>
            <a:off x="7796213" y="6156325"/>
            <a:ext cx="901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b="1" dirty="0">
                <a:solidFill>
                  <a:srgbClr val="000000"/>
                </a:solidFill>
                <a:latin typeface="Arial" pitchFamily="34" charset="0"/>
                <a:ea typeface="맑은 고딕" panose="020B0503020000020004" pitchFamily="50" charset="-127"/>
                <a:cs typeface="Arial" pitchFamily="34" charset="0"/>
              </a:rPr>
              <a:t>Time </a:t>
            </a:r>
            <a:endParaRPr lang="en-US" altLang="ko-KR" sz="1200" dirty="0">
              <a:latin typeface="Arial" pitchFamily="34" charset="0"/>
              <a:ea typeface="맑은 고딕" panose="020B0503020000020004" pitchFamily="50" charset="-127"/>
              <a:cs typeface="Arial" pitchFamily="34" charset="0"/>
            </a:endParaRPr>
          </a:p>
        </p:txBody>
      </p:sp>
      <p:sp>
        <p:nvSpPr>
          <p:cNvPr id="21522" name="Line 15"/>
          <p:cNvSpPr>
            <a:spLocks noChangeShapeType="1"/>
          </p:cNvSpPr>
          <p:nvPr/>
        </p:nvSpPr>
        <p:spPr bwMode="auto">
          <a:xfrm flipH="1">
            <a:off x="2557462" y="2309813"/>
            <a:ext cx="1587" cy="820737"/>
          </a:xfrm>
          <a:prstGeom prst="line">
            <a:avLst/>
          </a:prstGeom>
          <a:noFill/>
          <a:ln w="3175">
            <a:solidFill>
              <a:srgbClr val="FF3300"/>
            </a:solidFill>
            <a:round/>
            <a:headEnd type="diamond" w="med" len="med"/>
            <a:tailEnd type="triangle" w="med" len="med"/>
          </a:ln>
          <a:extLst>
            <a:ext uri="{909E8E84-426E-40DD-AFC4-6F175D3DCCD1}">
              <a14:hiddenFill xmlns:a14="http://schemas.microsoft.com/office/drawing/2010/main">
                <a:noFill/>
              </a14:hiddenFill>
            </a:ext>
          </a:extLst>
        </p:spPr>
        <p:txBody>
          <a:bodyPr wrap="none" lIns="90000" tIns="46800" rIns="90000" bIns="46800" anchor="ctr"/>
          <a:lstStyle/>
          <a:p>
            <a:endParaRPr lang="ko-KR" altLang="en-US" dirty="0">
              <a:latin typeface="Arial" pitchFamily="34" charset="0"/>
              <a:ea typeface="맑은 고딕" panose="020B0503020000020004" pitchFamily="50" charset="-127"/>
              <a:cs typeface="Arial" pitchFamily="34" charset="0"/>
            </a:endParaRPr>
          </a:p>
        </p:txBody>
      </p:sp>
      <p:sp>
        <p:nvSpPr>
          <p:cNvPr id="21523" name="AutoShape 16"/>
          <p:cNvSpPr>
            <a:spLocks noChangeArrowheads="1"/>
          </p:cNvSpPr>
          <p:nvPr/>
        </p:nvSpPr>
        <p:spPr bwMode="auto">
          <a:xfrm flipV="1">
            <a:off x="6818313" y="2406650"/>
            <a:ext cx="1154112" cy="3617913"/>
          </a:xfrm>
          <a:prstGeom prst="upArrow">
            <a:avLst>
              <a:gd name="adj1" fmla="val 47944"/>
              <a:gd name="adj2" fmla="val 55091"/>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600" b="1" dirty="0">
              <a:latin typeface="Arial" pitchFamily="34" charset="0"/>
              <a:ea typeface="맑은 고딕" panose="020B0503020000020004" pitchFamily="50" charset="-127"/>
              <a:cs typeface="Arial" pitchFamily="34" charset="0"/>
            </a:endParaRPr>
          </a:p>
        </p:txBody>
      </p:sp>
      <p:sp>
        <p:nvSpPr>
          <p:cNvPr id="21524" name="Text Box 17"/>
          <p:cNvSpPr txBox="1">
            <a:spLocks noChangeArrowheads="1"/>
          </p:cNvSpPr>
          <p:nvPr/>
        </p:nvSpPr>
        <p:spPr bwMode="auto">
          <a:xfrm>
            <a:off x="6831013" y="3305175"/>
            <a:ext cx="112236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nchor="ctr" anchorCtr="1"/>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2800" b="1" dirty="0">
                <a:solidFill>
                  <a:schemeClr val="bg1"/>
                </a:solidFill>
                <a:latin typeface="Arial" pitchFamily="34" charset="0"/>
                <a:ea typeface="맑은 고딕" panose="020B0503020000020004" pitchFamily="50" charset="-127"/>
                <a:cs typeface="Arial" pitchFamily="34" charset="0"/>
              </a:rPr>
              <a:t>6σ</a:t>
            </a:r>
          </a:p>
        </p:txBody>
      </p:sp>
      <p:sp>
        <p:nvSpPr>
          <p:cNvPr id="22" name="Oval 19"/>
          <p:cNvSpPr>
            <a:spLocks noChangeArrowheads="1"/>
          </p:cNvSpPr>
          <p:nvPr/>
        </p:nvSpPr>
        <p:spPr bwMode="auto">
          <a:xfrm>
            <a:off x="7159625" y="5892800"/>
            <a:ext cx="469900" cy="460375"/>
          </a:xfrm>
          <a:prstGeom prst="ellipse">
            <a:avLst/>
          </a:prstGeom>
          <a:solidFill>
            <a:srgbClr val="5F5F5F"/>
          </a:solidFill>
          <a:ln w="9525">
            <a:solidFill>
              <a:schemeClr val="bg1"/>
            </a:solidFill>
            <a:round/>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2800" b="1" dirty="0">
                <a:solidFill>
                  <a:schemeClr val="bg1"/>
                </a:solidFill>
                <a:effectLst>
                  <a:outerShdw blurRad="38100" dist="38100" dir="2700000" algn="tl">
                    <a:srgbClr val="000000"/>
                  </a:outerShdw>
                </a:effectLst>
                <a:latin typeface="Arial" pitchFamily="34" charset="0"/>
                <a:ea typeface="맑은 고딕" panose="020B0503020000020004" pitchFamily="50" charset="-127"/>
                <a:cs typeface="Arial" pitchFamily="34" charset="0"/>
              </a:rPr>
              <a:t>0</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18</a:t>
            </a:fld>
            <a:endParaRPr lang="ko-KR" altLang="en-US" dirty="0">
              <a:latin typeface="Arial" pitchFamily="34" charset="0"/>
              <a:cs typeface="Arial" pitchFamily="34" charset="0"/>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7"/>
          <p:cNvSpPr>
            <a:spLocks noChangeArrowheads="1"/>
          </p:cNvSpPr>
          <p:nvPr/>
        </p:nvSpPr>
        <p:spPr bwMode="auto">
          <a:xfrm>
            <a:off x="69850" y="185708"/>
            <a:ext cx="71881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anose="020B0503020000020004" pitchFamily="50" charset="-127"/>
                <a:cs typeface="Arial" pitchFamily="34" charset="0"/>
              </a:rPr>
              <a:t>3. </a:t>
            </a:r>
            <a:r>
              <a:rPr lang="en-US" altLang="ko-KR" sz="2000" b="1" dirty="0" err="1">
                <a:latin typeface="Arial" pitchFamily="34" charset="0"/>
                <a:ea typeface="맑은 고딕" panose="020B0503020000020004" pitchFamily="50" charset="-127"/>
                <a:cs typeface="Arial" pitchFamily="34" charset="0"/>
              </a:rPr>
              <a:t>Phương</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sai</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nhân</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tố</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gây</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ra</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các</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vấn</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đề</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về</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chất</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lượng</a:t>
            </a:r>
            <a:endParaRPr lang="ko-KR" altLang="en-US" sz="2000" b="1" dirty="0">
              <a:latin typeface="Arial" pitchFamily="34" charset="0"/>
              <a:ea typeface="맑은 고딕" panose="020B0503020000020004" pitchFamily="50" charset="-127"/>
              <a:cs typeface="Arial" pitchFamily="34" charset="0"/>
            </a:endParaRPr>
          </a:p>
        </p:txBody>
      </p:sp>
      <p:sp>
        <p:nvSpPr>
          <p:cNvPr id="13315" name="Oval 2"/>
          <p:cNvSpPr>
            <a:spLocks noChangeArrowheads="1"/>
          </p:cNvSpPr>
          <p:nvPr/>
        </p:nvSpPr>
        <p:spPr bwMode="auto">
          <a:xfrm>
            <a:off x="2057400" y="41699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16" name="Oval 3"/>
          <p:cNvSpPr>
            <a:spLocks noChangeArrowheads="1"/>
          </p:cNvSpPr>
          <p:nvPr/>
        </p:nvSpPr>
        <p:spPr bwMode="auto">
          <a:xfrm>
            <a:off x="3276600" y="39413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17" name="Oval 4"/>
          <p:cNvSpPr>
            <a:spLocks noChangeArrowheads="1"/>
          </p:cNvSpPr>
          <p:nvPr/>
        </p:nvSpPr>
        <p:spPr bwMode="auto">
          <a:xfrm>
            <a:off x="2667000" y="43985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18" name="Oval 5"/>
          <p:cNvSpPr>
            <a:spLocks noChangeArrowheads="1"/>
          </p:cNvSpPr>
          <p:nvPr/>
        </p:nvSpPr>
        <p:spPr bwMode="auto">
          <a:xfrm>
            <a:off x="3962400" y="43985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19" name="Oval 6"/>
          <p:cNvSpPr>
            <a:spLocks noChangeArrowheads="1"/>
          </p:cNvSpPr>
          <p:nvPr/>
        </p:nvSpPr>
        <p:spPr bwMode="auto">
          <a:xfrm>
            <a:off x="4419600" y="38651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20" name="Oval 7"/>
          <p:cNvSpPr>
            <a:spLocks noChangeArrowheads="1"/>
          </p:cNvSpPr>
          <p:nvPr/>
        </p:nvSpPr>
        <p:spPr bwMode="auto">
          <a:xfrm>
            <a:off x="5029200" y="44747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21" name="Oval 8"/>
          <p:cNvSpPr>
            <a:spLocks noChangeArrowheads="1"/>
          </p:cNvSpPr>
          <p:nvPr/>
        </p:nvSpPr>
        <p:spPr bwMode="auto">
          <a:xfrm>
            <a:off x="5715000" y="23411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22" name="Oval 9"/>
          <p:cNvSpPr>
            <a:spLocks noChangeArrowheads="1"/>
          </p:cNvSpPr>
          <p:nvPr/>
        </p:nvSpPr>
        <p:spPr bwMode="auto">
          <a:xfrm>
            <a:off x="6400800" y="37889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cxnSp>
        <p:nvCxnSpPr>
          <p:cNvPr id="13323" name="AutoShape 10"/>
          <p:cNvCxnSpPr>
            <a:cxnSpLocks noChangeShapeType="1"/>
            <a:stCxn id="13315" idx="5"/>
            <a:endCxn id="13317" idx="2"/>
          </p:cNvCxnSpPr>
          <p:nvPr/>
        </p:nvCxnSpPr>
        <p:spPr bwMode="auto">
          <a:xfrm>
            <a:off x="2187575" y="4314420"/>
            <a:ext cx="465138" cy="160338"/>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3324" name="AutoShape 11"/>
          <p:cNvCxnSpPr>
            <a:cxnSpLocks noChangeShapeType="1"/>
            <a:stCxn id="13317" idx="7"/>
            <a:endCxn id="13316" idx="3"/>
          </p:cNvCxnSpPr>
          <p:nvPr/>
        </p:nvCxnSpPr>
        <p:spPr bwMode="auto">
          <a:xfrm flipV="1">
            <a:off x="2797175" y="4085820"/>
            <a:ext cx="501650" cy="320675"/>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3325" name="AutoShape 12"/>
          <p:cNvCxnSpPr>
            <a:cxnSpLocks noChangeShapeType="1"/>
            <a:stCxn id="13316" idx="5"/>
            <a:endCxn id="13318" idx="1"/>
          </p:cNvCxnSpPr>
          <p:nvPr/>
        </p:nvCxnSpPr>
        <p:spPr bwMode="auto">
          <a:xfrm>
            <a:off x="3406775" y="4085820"/>
            <a:ext cx="577850" cy="320675"/>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3326" name="AutoShape 13"/>
          <p:cNvCxnSpPr>
            <a:cxnSpLocks noChangeShapeType="1"/>
            <a:stCxn id="13318" idx="7"/>
            <a:endCxn id="13319" idx="3"/>
          </p:cNvCxnSpPr>
          <p:nvPr/>
        </p:nvCxnSpPr>
        <p:spPr bwMode="auto">
          <a:xfrm flipV="1">
            <a:off x="4092575" y="4009620"/>
            <a:ext cx="349250" cy="396875"/>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3327" name="AutoShape 14"/>
          <p:cNvCxnSpPr>
            <a:cxnSpLocks noChangeShapeType="1"/>
            <a:stCxn id="13319" idx="5"/>
            <a:endCxn id="13320" idx="1"/>
          </p:cNvCxnSpPr>
          <p:nvPr/>
        </p:nvCxnSpPr>
        <p:spPr bwMode="auto">
          <a:xfrm>
            <a:off x="4549775" y="4009620"/>
            <a:ext cx="501650" cy="473075"/>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3328" name="AutoShape 15"/>
          <p:cNvCxnSpPr>
            <a:cxnSpLocks noChangeShapeType="1"/>
            <a:stCxn id="13320" idx="7"/>
            <a:endCxn id="13321" idx="3"/>
          </p:cNvCxnSpPr>
          <p:nvPr/>
        </p:nvCxnSpPr>
        <p:spPr bwMode="auto">
          <a:xfrm flipV="1">
            <a:off x="5159375" y="2485620"/>
            <a:ext cx="577850" cy="1997075"/>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3329" name="AutoShape 16"/>
          <p:cNvCxnSpPr>
            <a:cxnSpLocks noChangeShapeType="1"/>
            <a:stCxn id="13321" idx="5"/>
            <a:endCxn id="13322" idx="1"/>
          </p:cNvCxnSpPr>
          <p:nvPr/>
        </p:nvCxnSpPr>
        <p:spPr bwMode="auto">
          <a:xfrm>
            <a:off x="5845175" y="2485620"/>
            <a:ext cx="577850" cy="1311275"/>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sp>
        <p:nvSpPr>
          <p:cNvPr id="13330" name="Oval 17"/>
          <p:cNvSpPr>
            <a:spLocks noChangeArrowheads="1"/>
          </p:cNvSpPr>
          <p:nvPr/>
        </p:nvSpPr>
        <p:spPr bwMode="auto">
          <a:xfrm>
            <a:off x="7010400" y="43985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31" name="Oval 18"/>
          <p:cNvSpPr>
            <a:spLocks noChangeArrowheads="1"/>
          </p:cNvSpPr>
          <p:nvPr/>
        </p:nvSpPr>
        <p:spPr bwMode="auto">
          <a:xfrm>
            <a:off x="7543800" y="3636558"/>
            <a:ext cx="152400" cy="152400"/>
          </a:xfrm>
          <a:prstGeom prst="ellipse">
            <a:avLst/>
          </a:prstGeom>
          <a:solidFill>
            <a:schemeClr val="tx1"/>
          </a:solidFill>
          <a:ln w="2857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cxnSp>
        <p:nvCxnSpPr>
          <p:cNvPr id="13332" name="AutoShape 19"/>
          <p:cNvCxnSpPr>
            <a:cxnSpLocks noChangeShapeType="1"/>
            <a:stCxn id="13322" idx="5"/>
            <a:endCxn id="13330" idx="1"/>
          </p:cNvCxnSpPr>
          <p:nvPr/>
        </p:nvCxnSpPr>
        <p:spPr bwMode="auto">
          <a:xfrm>
            <a:off x="6530975" y="3933420"/>
            <a:ext cx="501650" cy="473075"/>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3333" name="AutoShape 20"/>
          <p:cNvCxnSpPr>
            <a:cxnSpLocks noChangeShapeType="1"/>
            <a:stCxn id="13330" idx="7"/>
            <a:endCxn id="13331" idx="3"/>
          </p:cNvCxnSpPr>
          <p:nvPr/>
        </p:nvCxnSpPr>
        <p:spPr bwMode="auto">
          <a:xfrm flipV="1">
            <a:off x="7140575" y="3781020"/>
            <a:ext cx="425450" cy="625475"/>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sp>
        <p:nvSpPr>
          <p:cNvPr id="13334" name="Oval 21"/>
          <p:cNvSpPr>
            <a:spLocks noChangeArrowheads="1"/>
          </p:cNvSpPr>
          <p:nvPr/>
        </p:nvSpPr>
        <p:spPr bwMode="auto">
          <a:xfrm>
            <a:off x="1447800" y="3407958"/>
            <a:ext cx="7010400" cy="1295400"/>
          </a:xfrm>
          <a:prstGeom prst="ellipse">
            <a:avLst/>
          </a:prstGeom>
          <a:noFill/>
          <a:ln w="9525">
            <a:solidFill>
              <a:srgbClr val="FF33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35" name="Text Box 22"/>
          <p:cNvSpPr txBox="1">
            <a:spLocks noChangeArrowheads="1"/>
          </p:cNvSpPr>
          <p:nvPr/>
        </p:nvSpPr>
        <p:spPr bwMode="auto">
          <a:xfrm>
            <a:off x="1832306" y="4665258"/>
            <a:ext cx="62413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600" b="1" dirty="0">
                <a:latin typeface="Arial" pitchFamily="34" charset="0"/>
                <a:ea typeface="맑은 고딕" panose="020B0503020000020004" pitchFamily="50" charset="-127"/>
                <a:cs typeface="Arial" pitchFamily="34" charset="0"/>
              </a:rPr>
              <a:t>Variance within distribution </a:t>
            </a:r>
            <a:r>
              <a:rPr lang="ko-KR" altLang="en-US" sz="1600" b="1" dirty="0">
                <a:latin typeface="Arial" pitchFamily="34" charset="0"/>
                <a:ea typeface="맑은 고딕" panose="020B0503020000020004" pitchFamily="50" charset="-127"/>
                <a:cs typeface="Arial" pitchFamily="34" charset="0"/>
              </a:rPr>
              <a:t>  </a:t>
            </a:r>
            <a:r>
              <a:rPr lang="en-US" altLang="ko-KR" sz="1600" b="1" dirty="0">
                <a:latin typeface="Arial" pitchFamily="34" charset="0"/>
                <a:ea typeface="맑은 고딕" panose="020B0503020000020004" pitchFamily="50" charset="-127"/>
                <a:cs typeface="Arial" pitchFamily="34" charset="0"/>
              </a:rPr>
              <a:t>=  Chance Variance</a:t>
            </a:r>
          </a:p>
          <a:p>
            <a:pPr eaLnBrk="1" hangingPunct="1"/>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Phương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sai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nằm</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trong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sự</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phân</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bổ</a:t>
            </a:r>
            <a:r>
              <a:rPr lang="en-US" altLang="ko-KR" sz="1600" b="1" dirty="0">
                <a:latin typeface="Arial" pitchFamily="34" charset="0"/>
                <a:ea typeface="맑은 고딕" panose="020B0503020000020004" pitchFamily="50" charset="-127"/>
                <a:cs typeface="Arial" pitchFamily="34" charset="0"/>
              </a:rPr>
              <a:t>  =  </a:t>
            </a:r>
            <a:r>
              <a:rPr lang="en-US" altLang="ko-KR" sz="1600" b="1" dirty="0" err="1">
                <a:latin typeface="Arial" pitchFamily="34" charset="0"/>
                <a:ea typeface="맑은 고딕" panose="020B0503020000020004" pitchFamily="50" charset="-127"/>
                <a:cs typeface="Arial" pitchFamily="34" charset="0"/>
              </a:rPr>
              <a:t>Phương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sai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ngẫu</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nhiên</a:t>
            </a:r>
            <a:endParaRPr lang="ko-KR" altLang="en-US" sz="1600" b="1" dirty="0">
              <a:latin typeface="Arial" pitchFamily="34" charset="0"/>
              <a:ea typeface="맑은 고딕" panose="020B0503020000020004" pitchFamily="50" charset="-127"/>
              <a:cs typeface="Arial" pitchFamily="34" charset="0"/>
            </a:endParaRPr>
          </a:p>
        </p:txBody>
      </p:sp>
      <p:sp>
        <p:nvSpPr>
          <p:cNvPr id="13336" name="Oval 24"/>
          <p:cNvSpPr>
            <a:spLocks noChangeArrowheads="1"/>
          </p:cNvSpPr>
          <p:nvPr/>
        </p:nvSpPr>
        <p:spPr bwMode="auto">
          <a:xfrm>
            <a:off x="5181600" y="2036358"/>
            <a:ext cx="1066800" cy="838200"/>
          </a:xfrm>
          <a:prstGeom prst="ellipse">
            <a:avLst/>
          </a:prstGeom>
          <a:noFill/>
          <a:ln w="9525">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13338" name="Text Box 26"/>
          <p:cNvSpPr txBox="1">
            <a:spLocks noChangeArrowheads="1"/>
          </p:cNvSpPr>
          <p:nvPr/>
        </p:nvSpPr>
        <p:spPr bwMode="auto">
          <a:xfrm>
            <a:off x="977682" y="2122876"/>
            <a:ext cx="418169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vi-VN" altLang="ko-KR" sz="1600" dirty="0">
                <a:latin typeface="Arial" pitchFamily="34" charset="0"/>
                <a:ea typeface="맑은 고딕" pitchFamily="50" charset="-127"/>
                <a:cs typeface="Arial" pitchFamily="34" charset="0"/>
              </a:rPr>
              <a:t>Phương sai xảy ra vì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vi-VN" altLang="ko-KR" sz="1600" dirty="0">
                <a:latin typeface="Arial" pitchFamily="34" charset="0"/>
                <a:ea typeface="맑은 고딕" pitchFamily="50" charset="-127"/>
                <a:cs typeface="Arial" pitchFamily="34" charset="0"/>
              </a:rPr>
              <a:t>vấn đề đặc biệt</a:t>
            </a:r>
            <a:r>
              <a:rPr lang="en-US" altLang="ko-KR" sz="1600" dirty="0">
                <a:latin typeface="Arial" pitchFamily="34" charset="0"/>
                <a:ea typeface="맑은 고딕" pitchFamily="50" charset="-127"/>
                <a:cs typeface="Arial" pitchFamily="34" charset="0"/>
              </a:rPr>
              <a:t> (special cause)</a:t>
            </a:r>
            <a:r>
              <a:rPr lang="vi-VN" altLang="ko-KR" sz="1600" dirty="0">
                <a:latin typeface="Arial" pitchFamily="34" charset="0"/>
                <a:ea typeface="맑은 고딕" pitchFamily="50" charset="-127"/>
                <a:cs typeface="Arial" pitchFamily="34" charset="0"/>
              </a:rPr>
              <a:t>trong quá trình</a:t>
            </a:r>
            <a:r>
              <a:rPr lang="en-US" altLang="ko-KR" sz="1600" dirty="0">
                <a:latin typeface="Arial" pitchFamily="34" charset="0"/>
                <a:ea typeface="맑은 고딕" pitchFamily="50" charset="-127"/>
                <a:cs typeface="Arial" pitchFamily="34" charset="0"/>
              </a:rPr>
              <a:t>.</a:t>
            </a:r>
            <a:br>
              <a:rPr lang="vi-VN" altLang="ko-KR" sz="1600" dirty="0">
                <a:latin typeface="Arial" pitchFamily="34" charset="0"/>
                <a:ea typeface="맑은 고딕" pitchFamily="50" charset="-127"/>
                <a:cs typeface="Arial" pitchFamily="34" charset="0"/>
              </a:rPr>
            </a:br>
            <a:r>
              <a:rPr lang="vi-VN" altLang="ko-KR" sz="1600" dirty="0">
                <a:solidFill>
                  <a:srgbClr val="FF0000"/>
                </a:solidFill>
                <a:latin typeface="Arial" pitchFamily="34" charset="0"/>
                <a:ea typeface="맑은 고딕" pitchFamily="50" charset="-127"/>
                <a:cs typeface="Arial" pitchFamily="34" charset="0"/>
              </a:rPr>
              <a:t>Kiểm soát quá trình</a:t>
            </a:r>
            <a:r>
              <a:rPr lang="en-US" altLang="ko-KR" sz="1600" dirty="0">
                <a:solidFill>
                  <a:srgbClr val="FF0000"/>
                </a:solidFill>
                <a:latin typeface="Arial" pitchFamily="34" charset="0"/>
                <a:ea typeface="맑은 고딕" pitchFamily="50" charset="-127"/>
                <a:cs typeface="Arial" pitchFamily="34" charset="0"/>
              </a:rPr>
              <a:t> </a:t>
            </a:r>
            <a:r>
              <a:rPr lang="en-US" altLang="ko-KR" sz="1600" dirty="0" err="1">
                <a:solidFill>
                  <a:srgbClr val="FF0000"/>
                </a:solidFill>
                <a:latin typeface="Arial" pitchFamily="34" charset="0"/>
                <a:ea typeface="맑은 고딕" pitchFamily="50" charset="-127"/>
                <a:cs typeface="Arial" pitchFamily="34" charset="0"/>
              </a:rPr>
              <a:t>theo</a:t>
            </a:r>
            <a:r>
              <a:rPr lang="vi-VN" altLang="ko-KR" sz="1600" dirty="0">
                <a:solidFill>
                  <a:srgbClr val="FF0000"/>
                </a:solidFill>
                <a:latin typeface="Arial" pitchFamily="34" charset="0"/>
                <a:ea typeface="맑은 고딕" pitchFamily="50" charset="-127"/>
                <a:cs typeface="Arial" pitchFamily="34" charset="0"/>
              </a:rPr>
              <a:t> 5M** là cần thiết để xoá bỏ các phương sai</a:t>
            </a:r>
            <a:r>
              <a:rPr lang="en-US" altLang="ko-KR" sz="1600" dirty="0">
                <a:solidFill>
                  <a:srgbClr val="FF0000"/>
                </a:solidFill>
                <a:latin typeface="Arial" pitchFamily="34" charset="0"/>
                <a:ea typeface="맑은 고딕" pitchFamily="50" charset="-127"/>
                <a:cs typeface="Arial" pitchFamily="34" charset="0"/>
              </a:rPr>
              <a:t> </a:t>
            </a:r>
            <a:r>
              <a:rPr lang="en-US" altLang="ko-KR" sz="1600" dirty="0" err="1">
                <a:solidFill>
                  <a:srgbClr val="FF0000"/>
                </a:solidFill>
                <a:latin typeface="Arial" pitchFamily="34" charset="0"/>
                <a:ea typeface="맑은 고딕" pitchFamily="50" charset="-127"/>
                <a:cs typeface="Arial" pitchFamily="34" charset="0"/>
              </a:rPr>
              <a:t>chỉ</a:t>
            </a:r>
            <a:r>
              <a:rPr lang="en-US" altLang="ko-KR" sz="1600" dirty="0">
                <a:solidFill>
                  <a:srgbClr val="FF0000"/>
                </a:solidFill>
                <a:latin typeface="Arial" pitchFamily="34" charset="0"/>
                <a:ea typeface="맑은 고딕" pitchFamily="50" charset="-127"/>
                <a:cs typeface="Arial" pitchFamily="34" charset="0"/>
              </a:rPr>
              <a:t> </a:t>
            </a:r>
            <a:r>
              <a:rPr lang="en-US" altLang="ko-KR" sz="1600" dirty="0" err="1">
                <a:solidFill>
                  <a:srgbClr val="FF0000"/>
                </a:solidFill>
                <a:latin typeface="Arial" pitchFamily="34" charset="0"/>
                <a:ea typeface="맑은 고딕" pitchFamily="50" charset="-127"/>
                <a:cs typeface="Arial" pitchFamily="34" charset="0"/>
              </a:rPr>
              <a:t>định</a:t>
            </a:r>
            <a:r>
              <a:rPr lang="vi-VN" altLang="ko-KR" sz="1600" dirty="0">
                <a:solidFill>
                  <a:srgbClr val="FF0000"/>
                </a:solidFill>
                <a:latin typeface="Arial" pitchFamily="34" charset="0"/>
                <a:ea typeface="맑은 고딕" pitchFamily="50" charset="-127"/>
                <a:cs typeface="Arial" pitchFamily="34" charset="0"/>
              </a:rPr>
              <a:t>.</a:t>
            </a:r>
            <a:endParaRPr lang="ko-KR" altLang="en-US" sz="1600" dirty="0">
              <a:solidFill>
                <a:srgbClr val="FF0000"/>
              </a:solidFill>
              <a:latin typeface="Arial" pitchFamily="34" charset="0"/>
              <a:ea typeface="맑은 고딕" pitchFamily="50" charset="-127"/>
              <a:cs typeface="Arial" pitchFamily="34" charset="0"/>
            </a:endParaRPr>
          </a:p>
        </p:txBody>
      </p:sp>
      <p:sp>
        <p:nvSpPr>
          <p:cNvPr id="13339" name="Text Box 27"/>
          <p:cNvSpPr txBox="1">
            <a:spLocks noChangeArrowheads="1"/>
          </p:cNvSpPr>
          <p:nvPr/>
        </p:nvSpPr>
        <p:spPr bwMode="auto">
          <a:xfrm>
            <a:off x="533400" y="5919663"/>
            <a:ext cx="467467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Phương</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sai</a:t>
            </a:r>
            <a:r>
              <a:rPr lang="en-US" altLang="ko-KR" sz="1200" dirty="0">
                <a:latin typeface="Arial" pitchFamily="34" charset="0"/>
                <a:ea typeface="맑은 고딕" panose="020B0503020000020004" pitchFamily="50" charset="-127"/>
                <a:cs typeface="Arial" pitchFamily="34" charset="0"/>
              </a:rPr>
              <a:t> </a:t>
            </a:r>
            <a:r>
              <a:rPr lang="vi-VN" altLang="ko-KR" sz="1200" dirty="0">
                <a:latin typeface="Arial" pitchFamily="34" charset="0"/>
                <a:ea typeface="맑은 고딕" panose="020B0503020000020004" pitchFamily="50" charset="-127"/>
                <a:cs typeface="Arial" pitchFamily="34" charset="0"/>
              </a:rPr>
              <a:t>là sự khác biệt </a:t>
            </a:r>
            <a:r>
              <a:rPr lang="en-US" altLang="ko-KR" sz="1200" dirty="0" err="1">
                <a:latin typeface="Arial" pitchFamily="34" charset="0"/>
                <a:ea typeface="맑은 고딕" panose="020B0503020000020004" pitchFamily="50" charset="-127"/>
                <a:cs typeface="Arial" pitchFamily="34" charset="0"/>
              </a:rPr>
              <a:t>định</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lượng</a:t>
            </a:r>
            <a:r>
              <a:rPr lang="en-US" altLang="ko-KR" sz="1200" dirty="0">
                <a:latin typeface="Arial" pitchFamily="34" charset="0"/>
                <a:ea typeface="맑은 고딕" panose="020B0503020000020004" pitchFamily="50" charset="-127"/>
                <a:cs typeface="Arial" pitchFamily="34" charset="0"/>
              </a:rPr>
              <a:t> </a:t>
            </a:r>
            <a:r>
              <a:rPr lang="vi-VN" altLang="ko-KR" sz="1200" dirty="0">
                <a:latin typeface="Arial" pitchFamily="34" charset="0"/>
                <a:ea typeface="맑은 고딕" panose="020B0503020000020004" pitchFamily="50" charset="-127"/>
                <a:cs typeface="Arial" pitchFamily="34" charset="0"/>
              </a:rPr>
              <a:t>giữa các dữ liệu đo lường</a:t>
            </a:r>
            <a:endParaRPr lang="en-US" altLang="ko-KR" sz="1200" dirty="0">
              <a:latin typeface="Arial" pitchFamily="34" charset="0"/>
              <a:ea typeface="맑은 고딕" panose="020B0503020000020004" pitchFamily="50" charset="-127"/>
              <a:cs typeface="Arial" pitchFamily="34" charset="0"/>
            </a:endParaRPr>
          </a:p>
          <a:p>
            <a:pPr eaLnBrk="1" hangingPunct="1"/>
            <a:r>
              <a:rPr lang="en-US" altLang="ko-KR" sz="1200" dirty="0">
                <a:latin typeface="Arial" pitchFamily="34" charset="0"/>
                <a:ea typeface="맑은 고딕" panose="020B0503020000020004" pitchFamily="50" charset="-127"/>
                <a:cs typeface="Arial" pitchFamily="34" charset="0"/>
              </a:rPr>
              <a:t>** 5M : Man, Machine, Material, Method, Measurement</a:t>
            </a:r>
          </a:p>
        </p:txBody>
      </p:sp>
      <p:sp>
        <p:nvSpPr>
          <p:cNvPr id="13340" name="Text Box 32"/>
          <p:cNvSpPr txBox="1">
            <a:spLocks noChangeArrowheads="1"/>
          </p:cNvSpPr>
          <p:nvPr/>
        </p:nvSpPr>
        <p:spPr bwMode="auto">
          <a:xfrm>
            <a:off x="1054339" y="747612"/>
            <a:ext cx="779732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2000" u="sng" dirty="0" err="1">
                <a:solidFill>
                  <a:srgbClr val="FF3300"/>
                </a:solidFill>
                <a:latin typeface="Arial" pitchFamily="34" charset="0"/>
                <a:ea typeface="맑은 고딕" panose="020B0503020000020004" pitchFamily="50" charset="-127"/>
                <a:cs typeface="Arial" pitchFamily="34" charset="0"/>
              </a:rPr>
              <a:t>Phương</a:t>
            </a:r>
            <a:r>
              <a:rPr lang="en-US" altLang="ko-KR" sz="2000" u="sng" dirty="0">
                <a:solidFill>
                  <a:srgbClr val="FF3300"/>
                </a:solidFill>
                <a:latin typeface="Arial" pitchFamily="34" charset="0"/>
                <a:ea typeface="맑은 고딕" panose="020B0503020000020004" pitchFamily="50" charset="-127"/>
                <a:cs typeface="Arial" pitchFamily="34" charset="0"/>
              </a:rPr>
              <a:t> </a:t>
            </a:r>
            <a:r>
              <a:rPr lang="en-US" altLang="ko-KR" sz="2000" u="sng" dirty="0" err="1">
                <a:solidFill>
                  <a:srgbClr val="FF3300"/>
                </a:solidFill>
                <a:latin typeface="Arial" pitchFamily="34" charset="0"/>
                <a:ea typeface="맑은 고딕" panose="020B0503020000020004" pitchFamily="50" charset="-127"/>
                <a:cs typeface="Arial" pitchFamily="34" charset="0"/>
              </a:rPr>
              <a:t>sai</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chính</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là</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đối</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tượng</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để</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quản</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lý</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và</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cải</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tiến</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chất</a:t>
            </a:r>
            <a:r>
              <a:rPr lang="en-US" altLang="ko-KR" sz="2000" dirty="0">
                <a:latin typeface="Arial" pitchFamily="34" charset="0"/>
                <a:ea typeface="맑은 고딕" panose="020B0503020000020004" pitchFamily="50" charset="-127"/>
                <a:cs typeface="Arial" pitchFamily="34" charset="0"/>
              </a:rPr>
              <a:t> </a:t>
            </a:r>
            <a:r>
              <a:rPr lang="en-US" altLang="ko-KR" sz="2000" dirty="0" err="1">
                <a:latin typeface="Arial" pitchFamily="34" charset="0"/>
                <a:ea typeface="맑은 고딕" panose="020B0503020000020004" pitchFamily="50" charset="-127"/>
                <a:cs typeface="Arial" pitchFamily="34" charset="0"/>
              </a:rPr>
              <a:t>lượng</a:t>
            </a:r>
            <a:r>
              <a:rPr lang="en-US" altLang="ko-KR" sz="2000" dirty="0">
                <a:latin typeface="Arial" pitchFamily="34" charset="0"/>
                <a:ea typeface="맑은 고딕" panose="020B0503020000020004" pitchFamily="50" charset="-127"/>
                <a:cs typeface="Arial" pitchFamily="34" charset="0"/>
              </a:rPr>
              <a:t>!!!</a:t>
            </a:r>
          </a:p>
          <a:p>
            <a:pPr eaLnBrk="1" hangingPunct="1"/>
            <a:endParaRPr lang="en-US" altLang="ko-KR" sz="2000" dirty="0">
              <a:latin typeface="Arial" pitchFamily="34" charset="0"/>
              <a:ea typeface="맑은 고딕" panose="020B0503020000020004" pitchFamily="50" charset="-127"/>
              <a:cs typeface="Arial" pitchFamily="34" charset="0"/>
            </a:endParaRPr>
          </a:p>
        </p:txBody>
      </p:sp>
      <p:sp>
        <p:nvSpPr>
          <p:cNvPr id="13341" name="Text Box 23"/>
          <p:cNvSpPr txBox="1">
            <a:spLocks noChangeArrowheads="1"/>
          </p:cNvSpPr>
          <p:nvPr/>
        </p:nvSpPr>
        <p:spPr bwMode="auto">
          <a:xfrm>
            <a:off x="1568624" y="5276944"/>
            <a:ext cx="777686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vi-VN" altLang="ko-KR" sz="1600" dirty="0">
                <a:latin typeface="Arial" pitchFamily="34" charset="0"/>
                <a:ea typeface="맑은 고딕" pitchFamily="50" charset="-127"/>
                <a:cs typeface="Arial" pitchFamily="34" charset="0"/>
              </a:rPr>
              <a:t>Phương sai có thể xảy ra một cách </a:t>
            </a:r>
            <a:r>
              <a:rPr lang="en-US" altLang="ko-KR" sz="1600" dirty="0" err="1">
                <a:latin typeface="Arial" pitchFamily="34" charset="0"/>
                <a:ea typeface="맑은 고딕" pitchFamily="50" charset="-127"/>
                <a:cs typeface="Arial" pitchFamily="34" charset="0"/>
              </a:rPr>
              <a:t>ngẫu</a:t>
            </a:r>
            <a:r>
              <a:rPr lang="vi-VN" altLang="ko-KR" sz="1600" dirty="0">
                <a:latin typeface="Arial" pitchFamily="34" charset="0"/>
                <a:ea typeface="맑은 고딕" pitchFamily="50" charset="-127"/>
                <a:cs typeface="Arial" pitchFamily="34" charset="0"/>
              </a:rPr>
              <a:t> nhiên </a:t>
            </a:r>
            <a:r>
              <a:rPr lang="en-US" altLang="ko-KR" sz="1600" dirty="0">
                <a:latin typeface="Arial" pitchFamily="34" charset="0"/>
                <a:ea typeface="맑은 고딕" pitchFamily="50" charset="-127"/>
                <a:cs typeface="Arial" pitchFamily="34" charset="0"/>
              </a:rPr>
              <a:t>(random cause) </a:t>
            </a:r>
            <a:r>
              <a:rPr lang="vi-VN" altLang="ko-KR" sz="1600" dirty="0">
                <a:latin typeface="Arial" pitchFamily="34" charset="0"/>
                <a:ea typeface="맑은 고딕" pitchFamily="50" charset="-127"/>
                <a:cs typeface="Arial" pitchFamily="34" charset="0"/>
              </a:rPr>
              <a:t>trong một quá trình. </a:t>
            </a:r>
            <a:endParaRPr lang="en-US" altLang="ko-KR" sz="1600" dirty="0">
              <a:latin typeface="Arial" pitchFamily="34" charset="0"/>
              <a:ea typeface="맑은 고딕" pitchFamily="50" charset="-127"/>
              <a:cs typeface="Arial" pitchFamily="34" charset="0"/>
            </a:endParaRPr>
          </a:p>
          <a:p>
            <a:pPr eaLnBrk="1" hangingPunct="1"/>
            <a:r>
              <a:rPr lang="en-US" altLang="ko-KR" sz="1600" dirty="0">
                <a:solidFill>
                  <a:srgbClr val="FF0000"/>
                </a:solidFill>
                <a:latin typeface="Arial" pitchFamily="34" charset="0"/>
                <a:ea typeface="맑은 고딕" pitchFamily="50" charset="-127"/>
                <a:cs typeface="Arial" pitchFamily="34" charset="0"/>
              </a:rPr>
              <a:t>C</a:t>
            </a:r>
            <a:r>
              <a:rPr lang="vi-VN" altLang="ko-KR" sz="1600" dirty="0">
                <a:solidFill>
                  <a:srgbClr val="FF0000"/>
                </a:solidFill>
                <a:latin typeface="Arial" pitchFamily="34" charset="0"/>
                <a:ea typeface="맑은 고딕" pitchFamily="50" charset="-127"/>
                <a:cs typeface="Arial" pitchFamily="34" charset="0"/>
              </a:rPr>
              <a:t>ải tiến kỹ thuật</a:t>
            </a:r>
            <a:r>
              <a:rPr lang="en-US" altLang="ko-KR" sz="1600" dirty="0">
                <a:solidFill>
                  <a:srgbClr val="FF0000"/>
                </a:solidFill>
                <a:latin typeface="Arial" pitchFamily="34" charset="0"/>
                <a:ea typeface="맑은 고딕" pitchFamily="50" charset="-127"/>
                <a:cs typeface="Arial" pitchFamily="34" charset="0"/>
              </a:rPr>
              <a:t> </a:t>
            </a:r>
            <a:r>
              <a:rPr lang="en-US" altLang="ko-KR" sz="1600" dirty="0" err="1">
                <a:solidFill>
                  <a:srgbClr val="FF0000"/>
                </a:solidFill>
                <a:latin typeface="Arial" pitchFamily="34" charset="0"/>
                <a:ea typeface="맑은 고딕" pitchFamily="50" charset="-127"/>
                <a:cs typeface="Arial" pitchFamily="34" charset="0"/>
              </a:rPr>
              <a:t>là</a:t>
            </a:r>
            <a:r>
              <a:rPr lang="en-US" altLang="ko-KR" sz="1600" dirty="0">
                <a:solidFill>
                  <a:srgbClr val="FF0000"/>
                </a:solidFill>
                <a:latin typeface="Arial" pitchFamily="34" charset="0"/>
                <a:ea typeface="맑은 고딕" pitchFamily="50" charset="-127"/>
                <a:cs typeface="Arial" pitchFamily="34" charset="0"/>
              </a:rPr>
              <a:t> </a:t>
            </a:r>
            <a:r>
              <a:rPr lang="vi-VN" altLang="ko-KR" sz="1600" dirty="0">
                <a:solidFill>
                  <a:srgbClr val="FF0000"/>
                </a:solidFill>
                <a:latin typeface="Arial" pitchFamily="34" charset="0"/>
                <a:ea typeface="맑은 고딕" pitchFamily="50" charset="-127"/>
                <a:cs typeface="Arial" pitchFamily="34" charset="0"/>
              </a:rPr>
              <a:t>cần thiết để loại trừ phương sai ngẫu nhiên.</a:t>
            </a:r>
            <a:endParaRPr lang="ko-KR" altLang="en-US" sz="1600" dirty="0">
              <a:solidFill>
                <a:srgbClr val="FF0000"/>
              </a:solidFill>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a:t>
            </a:fld>
            <a:endParaRPr lang="ko-KR" altLang="en-US" dirty="0">
              <a:latin typeface="Arial" pitchFamily="34" charset="0"/>
              <a:cs typeface="Arial" pitchFamily="34" charset="0"/>
            </a:endParaRPr>
          </a:p>
        </p:txBody>
      </p:sp>
      <p:graphicFrame>
        <p:nvGraphicFramePr>
          <p:cNvPr id="31" name="Table 30"/>
          <p:cNvGraphicFramePr>
            <a:graphicFrameLocks noGrp="1"/>
          </p:cNvGraphicFramePr>
          <p:nvPr>
            <p:extLst>
              <p:ext uri="{D42A27DB-BD31-4B8C-83A1-F6EECF244321}">
                <p14:modId xmlns:p14="http://schemas.microsoft.com/office/powerpoint/2010/main" val="1008434826"/>
              </p:ext>
            </p:extLst>
          </p:nvPr>
        </p:nvGraphicFramePr>
        <p:xfrm>
          <a:off x="1105757" y="1264566"/>
          <a:ext cx="7694487" cy="685800"/>
        </p:xfrm>
        <a:graphic>
          <a:graphicData uri="http://schemas.openxmlformats.org/drawingml/2006/table">
            <a:tbl>
              <a:tblPr bandRow="1">
                <a:tableStyleId>{2D5ABB26-0587-4C30-8999-92F81FD0307C}</a:tableStyleId>
              </a:tblPr>
              <a:tblGrid>
                <a:gridCol w="3744416">
                  <a:extLst>
                    <a:ext uri="{9D8B030D-6E8A-4147-A177-3AD203B41FA5}">
                      <a16:colId xmlns:a16="http://schemas.microsoft.com/office/drawing/2014/main" val="20000"/>
                    </a:ext>
                  </a:extLst>
                </a:gridCol>
                <a:gridCol w="216024">
                  <a:extLst>
                    <a:ext uri="{9D8B030D-6E8A-4147-A177-3AD203B41FA5}">
                      <a16:colId xmlns:a16="http://schemas.microsoft.com/office/drawing/2014/main" val="20001"/>
                    </a:ext>
                  </a:extLst>
                </a:gridCol>
                <a:gridCol w="3734047">
                  <a:extLst>
                    <a:ext uri="{9D8B030D-6E8A-4147-A177-3AD203B41FA5}">
                      <a16:colId xmlns:a16="http://schemas.microsoft.com/office/drawing/2014/main" val="20002"/>
                    </a:ext>
                  </a:extLst>
                </a:gridCol>
              </a:tblGrid>
              <a:tr h="284036">
                <a:tc>
                  <a:txBody>
                    <a:bodyPr/>
                    <a:lstStyle/>
                    <a:p>
                      <a:pPr algn="r"/>
                      <a:r>
                        <a:rPr lang="en-US" altLang="ko-KR" sz="1800" b="1" dirty="0">
                          <a:latin typeface="Arial" pitchFamily="34" charset="0"/>
                          <a:cs typeface="Arial" pitchFamily="34" charset="0"/>
                        </a:rPr>
                        <a:t>Variance outside distribution</a:t>
                      </a:r>
                      <a:endParaRPr lang="en-US" sz="1800" b="1" dirty="0">
                        <a:latin typeface="Arial" pitchFamily="34" charset="0"/>
                        <a:cs typeface="Arial" pitchFamily="34" charset="0"/>
                      </a:endParaRPr>
                    </a:p>
                  </a:txBody>
                  <a:tcPr/>
                </a:tc>
                <a:tc>
                  <a:txBody>
                    <a:bodyPr/>
                    <a:lstStyle/>
                    <a:p>
                      <a:pPr algn="ctr"/>
                      <a:r>
                        <a:rPr lang="en-US" altLang="ko-KR" sz="1800" b="1" dirty="0">
                          <a:latin typeface="Arial" pitchFamily="34" charset="0"/>
                          <a:cs typeface="Arial" pitchFamily="34" charset="0"/>
                        </a:rPr>
                        <a:t>=</a:t>
                      </a:r>
                      <a:endParaRPr lang="en-US" sz="1800" b="1" dirty="0">
                        <a:latin typeface="Arial" pitchFamily="34" charset="0"/>
                        <a:cs typeface="Arial" pitchFamily="34" charset="0"/>
                      </a:endParaRPr>
                    </a:p>
                  </a:txBody>
                  <a:tcPr/>
                </a:tc>
                <a:tc>
                  <a:txBody>
                    <a:bodyPr/>
                    <a:lstStyle/>
                    <a:p>
                      <a:pPr algn="l"/>
                      <a:r>
                        <a:rPr lang="en-US" altLang="ko-KR" sz="1800" b="1" dirty="0">
                          <a:latin typeface="Arial" pitchFamily="34" charset="0"/>
                          <a:cs typeface="Arial" pitchFamily="34" charset="0"/>
                        </a:rPr>
                        <a:t>Assignable Variance</a:t>
                      </a:r>
                      <a:endParaRPr lang="en-US" sz="1800" b="1" dirty="0">
                        <a:latin typeface="Arial" pitchFamily="34" charset="0"/>
                        <a:cs typeface="Arial" pitchFamily="34" charset="0"/>
                      </a:endParaRPr>
                    </a:p>
                  </a:txBody>
                  <a:tcPr/>
                </a:tc>
                <a:extLst>
                  <a:ext uri="{0D108BD9-81ED-4DB2-BD59-A6C34878D82A}">
                    <a16:rowId xmlns:a16="http://schemas.microsoft.com/office/drawing/2014/main" val="10000"/>
                  </a:ext>
                </a:extLst>
              </a:tr>
              <a:tr h="284036">
                <a:tc>
                  <a:txBody>
                    <a:bodyPr/>
                    <a:lstStyle/>
                    <a:p>
                      <a:pPr algn="r"/>
                      <a:r>
                        <a:rPr lang="en-US" sz="1500" b="1" i="1" dirty="0">
                          <a:latin typeface="Arial" pitchFamily="34" charset="0"/>
                          <a:cs typeface="Arial" pitchFamily="34" charset="0"/>
                        </a:rPr>
                        <a:t>( </a:t>
                      </a:r>
                      <a:r>
                        <a:rPr lang="en-US" sz="1500" b="1" i="1" dirty="0" err="1">
                          <a:latin typeface="Arial" pitchFamily="34" charset="0"/>
                          <a:cs typeface="Arial" pitchFamily="34" charset="0"/>
                        </a:rPr>
                        <a:t>Phương</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sai</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nằm</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ngoài</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sự</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phân</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bổ</a:t>
                      </a:r>
                      <a:endParaRPr lang="en-US" sz="1500" b="1" i="1" dirty="0">
                        <a:latin typeface="Arial" pitchFamily="34" charset="0"/>
                        <a:cs typeface="Arial" pitchFamily="34" charset="0"/>
                      </a:endParaRPr>
                    </a:p>
                  </a:txBody>
                  <a:tcPr/>
                </a:tc>
                <a:tc>
                  <a:txBody>
                    <a:bodyPr/>
                    <a:lstStyle/>
                    <a:p>
                      <a:pPr algn="ctr"/>
                      <a:r>
                        <a:rPr lang="en-US" sz="1500" b="1" i="1" dirty="0">
                          <a:latin typeface="Arial" pitchFamily="34" charset="0"/>
                          <a:cs typeface="Arial" pitchFamily="34" charset="0"/>
                        </a:rPr>
                        <a:t>=</a:t>
                      </a:r>
                    </a:p>
                  </a:txBody>
                  <a:tcPr/>
                </a:tc>
                <a:tc>
                  <a:txBody>
                    <a:bodyPr/>
                    <a:lstStyle/>
                    <a:p>
                      <a:pPr algn="l"/>
                      <a:r>
                        <a:rPr lang="en-US" sz="1500" b="1" i="1" dirty="0" err="1">
                          <a:latin typeface="Arial" pitchFamily="34" charset="0"/>
                          <a:cs typeface="Arial" pitchFamily="34" charset="0"/>
                        </a:rPr>
                        <a:t>Phương</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sai</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chỉ</a:t>
                      </a:r>
                      <a:r>
                        <a:rPr lang="en-US" sz="1500" b="1" i="1" baseline="0" dirty="0">
                          <a:latin typeface="Arial" pitchFamily="34" charset="0"/>
                          <a:cs typeface="Arial" pitchFamily="34" charset="0"/>
                        </a:rPr>
                        <a:t> </a:t>
                      </a:r>
                      <a:r>
                        <a:rPr lang="en-US" sz="1500" b="1" i="1" baseline="0" dirty="0" err="1">
                          <a:latin typeface="Arial" pitchFamily="34" charset="0"/>
                          <a:cs typeface="Arial" pitchFamily="34" charset="0"/>
                        </a:rPr>
                        <a:t>định</a:t>
                      </a:r>
                      <a:r>
                        <a:rPr lang="en-US" sz="1500" b="1" i="1" baseline="0" dirty="0">
                          <a:latin typeface="Arial" pitchFamily="34" charset="0"/>
                          <a:cs typeface="Arial" pitchFamily="34" charset="0"/>
                        </a:rPr>
                        <a:t> )</a:t>
                      </a:r>
                      <a:endParaRPr lang="en-US" sz="1500" b="1" i="1" dirty="0">
                        <a:latin typeface="Arial" pitchFamily="34" charset="0"/>
                        <a:cs typeface="Arial" pitchFamily="34" charset="0"/>
                      </a:endParaRPr>
                    </a:p>
                  </a:txBody>
                  <a:tcPr/>
                </a:tc>
                <a:extLst>
                  <a:ext uri="{0D108BD9-81ED-4DB2-BD59-A6C34878D82A}">
                    <a16:rowId xmlns:a16="http://schemas.microsoft.com/office/drawing/2014/main" val="10001"/>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p:cNvSpPr>
            <a:spLocks noChangeArrowheads="1"/>
          </p:cNvSpPr>
          <p:nvPr/>
        </p:nvSpPr>
        <p:spPr bwMode="auto">
          <a:xfrm>
            <a:off x="69850" y="185708"/>
            <a:ext cx="39581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anose="020B0503020000020004" pitchFamily="50" charset="-127"/>
                <a:cs typeface="Arial" pitchFamily="34" charset="0"/>
              </a:rPr>
              <a:t>4. </a:t>
            </a:r>
            <a:r>
              <a:rPr lang="en-US" altLang="ko-KR" sz="2000" b="1" dirty="0" err="1">
                <a:latin typeface="Arial" pitchFamily="34" charset="0"/>
                <a:ea typeface="맑은 고딕" panose="020B0503020000020004" pitchFamily="50" charset="-127"/>
                <a:cs typeface="Arial" pitchFamily="34" charset="0"/>
              </a:rPr>
              <a:t>Phương</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sai</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và</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nguyên</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nhân</a:t>
            </a:r>
            <a:endParaRPr lang="ko-KR" altLang="en-US" sz="2000" b="1" dirty="0">
              <a:latin typeface="Arial" pitchFamily="34" charset="0"/>
              <a:ea typeface="맑은 고딕" panose="020B0503020000020004" pitchFamily="50" charset="-127"/>
              <a:cs typeface="Arial" pitchFamily="34" charset="0"/>
            </a:endParaRPr>
          </a:p>
        </p:txBody>
      </p:sp>
      <p:graphicFrame>
        <p:nvGraphicFramePr>
          <p:cNvPr id="10" name="표 9"/>
          <p:cNvGraphicFramePr>
            <a:graphicFrameLocks noGrp="1"/>
          </p:cNvGraphicFramePr>
          <p:nvPr>
            <p:extLst>
              <p:ext uri="{D42A27DB-BD31-4B8C-83A1-F6EECF244321}">
                <p14:modId xmlns:p14="http://schemas.microsoft.com/office/powerpoint/2010/main" val="2853409428"/>
              </p:ext>
            </p:extLst>
          </p:nvPr>
        </p:nvGraphicFramePr>
        <p:xfrm>
          <a:off x="179388" y="908720"/>
          <a:ext cx="7561262" cy="5455567"/>
        </p:xfrm>
        <a:graphic>
          <a:graphicData uri="http://schemas.openxmlformats.org/drawingml/2006/table">
            <a:tbl>
              <a:tblPr>
                <a:tableStyleId>{5940675A-B579-460E-94D1-54222C63F5DA}</a:tableStyleId>
              </a:tblPr>
              <a:tblGrid>
                <a:gridCol w="1134187">
                  <a:extLst>
                    <a:ext uri="{9D8B030D-6E8A-4147-A177-3AD203B41FA5}">
                      <a16:colId xmlns:a16="http://schemas.microsoft.com/office/drawing/2014/main" val="20000"/>
                    </a:ext>
                  </a:extLst>
                </a:gridCol>
                <a:gridCol w="3024503">
                  <a:extLst>
                    <a:ext uri="{9D8B030D-6E8A-4147-A177-3AD203B41FA5}">
                      <a16:colId xmlns:a16="http://schemas.microsoft.com/office/drawing/2014/main" val="20001"/>
                    </a:ext>
                  </a:extLst>
                </a:gridCol>
                <a:gridCol w="3402572">
                  <a:extLst>
                    <a:ext uri="{9D8B030D-6E8A-4147-A177-3AD203B41FA5}">
                      <a16:colId xmlns:a16="http://schemas.microsoft.com/office/drawing/2014/main" val="20002"/>
                    </a:ext>
                  </a:extLst>
                </a:gridCol>
              </a:tblGrid>
              <a:tr h="299973">
                <a:tc>
                  <a:txBody>
                    <a:bodyPr/>
                    <a:lstStyle/>
                    <a:p>
                      <a:pPr algn="ctr"/>
                      <a:r>
                        <a:rPr lang="en-US" altLang="ko-KR" sz="1200" b="1" dirty="0" err="1">
                          <a:latin typeface="Arial" pitchFamily="34" charset="0"/>
                          <a:ea typeface="맑은 고딕" panose="020B0503020000020004" pitchFamily="50" charset="-127"/>
                          <a:cs typeface="Arial" pitchFamily="34" charset="0"/>
                        </a:rPr>
                        <a:t>Phân</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loại</a:t>
                      </a:r>
                      <a:endParaRPr lang="ko-KR" altLang="en-US" sz="1200" b="1" dirty="0">
                        <a:solidFill>
                          <a:schemeClr val="bg1"/>
                        </a:solidFill>
                        <a:latin typeface="Arial" pitchFamily="34" charset="0"/>
                        <a:ea typeface="맑은 고딕" panose="020B0503020000020004" pitchFamily="50" charset="-127"/>
                        <a:cs typeface="Arial" pitchFamily="34" charset="0"/>
                      </a:endParaRPr>
                    </a:p>
                  </a:txBody>
                  <a:tcPr marL="16187" marR="16187" marT="8095" marB="8095" anchor="ctr">
                    <a:solidFill>
                      <a:schemeClr val="bg1">
                        <a:lumMod val="95000"/>
                      </a:schemeClr>
                    </a:solidFill>
                  </a:tcPr>
                </a:tc>
                <a:tc>
                  <a:txBody>
                    <a:bodyPr/>
                    <a:lstStyle/>
                    <a:p>
                      <a:pPr algn="ctr"/>
                      <a:r>
                        <a:rPr lang="en-US" altLang="ko-KR" sz="1200" b="1" dirty="0" err="1">
                          <a:latin typeface="Arial" pitchFamily="34" charset="0"/>
                          <a:ea typeface="맑은 고딕" panose="020B0503020000020004" pitchFamily="50" charset="-127"/>
                          <a:cs typeface="Arial" pitchFamily="34" charset="0"/>
                        </a:rPr>
                        <a:t>Nguyên</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nhân</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ngẫu</a:t>
                      </a:r>
                      <a:r>
                        <a:rPr lang="en-US" altLang="ko-KR" sz="1200" b="1" baseline="0" dirty="0">
                          <a:latin typeface="Arial" pitchFamily="34" charset="0"/>
                          <a:ea typeface="맑은 고딕" panose="020B0503020000020004" pitchFamily="50" charset="-127"/>
                          <a:cs typeface="Arial" pitchFamily="34" charset="0"/>
                        </a:rPr>
                        <a:t> </a:t>
                      </a:r>
                      <a:r>
                        <a:rPr lang="en-US" altLang="ko-KR" sz="1200" b="1" baseline="0" dirty="0" err="1">
                          <a:latin typeface="Arial" pitchFamily="34" charset="0"/>
                          <a:ea typeface="맑은 고딕" panose="020B0503020000020004" pitchFamily="50" charset="-127"/>
                          <a:cs typeface="Arial" pitchFamily="34" charset="0"/>
                        </a:rPr>
                        <a:t>nhiên</a:t>
                      </a:r>
                      <a:endParaRPr lang="en-US" sz="1200" b="1" dirty="0">
                        <a:solidFill>
                          <a:schemeClr val="bg1"/>
                        </a:solidFill>
                        <a:latin typeface="Arial" pitchFamily="34" charset="0"/>
                        <a:ea typeface="맑은 고딕" panose="020B0503020000020004" pitchFamily="50" charset="-127"/>
                        <a:cs typeface="Arial" pitchFamily="34" charset="0"/>
                      </a:endParaRPr>
                    </a:p>
                  </a:txBody>
                  <a:tcPr marL="16187" marR="16187" marT="8095" marB="8095" anchor="ctr">
                    <a:solidFill>
                      <a:schemeClr val="bg1">
                        <a:lumMod val="95000"/>
                      </a:schemeClr>
                    </a:solidFill>
                  </a:tcPr>
                </a:tc>
                <a:tc>
                  <a:txBody>
                    <a:bodyPr/>
                    <a:lstStyle/>
                    <a:p>
                      <a:pPr algn="ctr"/>
                      <a:r>
                        <a:rPr lang="en-US" sz="1200" b="1" dirty="0" err="1">
                          <a:latin typeface="Arial" pitchFamily="34" charset="0"/>
                          <a:ea typeface="맑은 고딕" panose="020B0503020000020004" pitchFamily="50" charset="-127"/>
                          <a:cs typeface="Arial" pitchFamily="34" charset="0"/>
                        </a:rPr>
                        <a:t>Nguyên</a:t>
                      </a:r>
                      <a:r>
                        <a:rPr lang="en-US" sz="1200" b="1" baseline="0" dirty="0">
                          <a:latin typeface="Arial" pitchFamily="34" charset="0"/>
                          <a:ea typeface="맑은 고딕" panose="020B0503020000020004" pitchFamily="50" charset="-127"/>
                          <a:cs typeface="Arial" pitchFamily="34" charset="0"/>
                        </a:rPr>
                        <a:t> </a:t>
                      </a:r>
                      <a:r>
                        <a:rPr lang="en-US" sz="1200" b="1" baseline="0" dirty="0" err="1">
                          <a:latin typeface="Arial" pitchFamily="34" charset="0"/>
                          <a:ea typeface="맑은 고딕" panose="020B0503020000020004" pitchFamily="50" charset="-127"/>
                          <a:cs typeface="Arial" pitchFamily="34" charset="0"/>
                        </a:rPr>
                        <a:t>nhân</a:t>
                      </a:r>
                      <a:r>
                        <a:rPr lang="en-US" sz="1200" b="1" baseline="0" dirty="0">
                          <a:latin typeface="Arial" pitchFamily="34" charset="0"/>
                          <a:ea typeface="맑은 고딕" panose="020B0503020000020004" pitchFamily="50" charset="-127"/>
                          <a:cs typeface="Arial" pitchFamily="34" charset="0"/>
                        </a:rPr>
                        <a:t> </a:t>
                      </a:r>
                      <a:r>
                        <a:rPr lang="en-US" sz="1200" b="1" baseline="0" dirty="0" err="1">
                          <a:latin typeface="Arial" pitchFamily="34" charset="0"/>
                          <a:ea typeface="맑은 고딕" panose="020B0503020000020004" pitchFamily="50" charset="-127"/>
                          <a:cs typeface="Arial" pitchFamily="34" charset="0"/>
                        </a:rPr>
                        <a:t>không</a:t>
                      </a:r>
                      <a:r>
                        <a:rPr lang="en-US" sz="1200" b="1" baseline="0" dirty="0">
                          <a:latin typeface="Arial" pitchFamily="34" charset="0"/>
                          <a:ea typeface="맑은 고딕" panose="020B0503020000020004" pitchFamily="50" charset="-127"/>
                          <a:cs typeface="Arial" pitchFamily="34" charset="0"/>
                        </a:rPr>
                        <a:t> </a:t>
                      </a:r>
                      <a:r>
                        <a:rPr lang="en-US" sz="1200" b="1" baseline="0" dirty="0" err="1">
                          <a:latin typeface="Arial" pitchFamily="34" charset="0"/>
                          <a:ea typeface="맑은 고딕" panose="020B0503020000020004" pitchFamily="50" charset="-127"/>
                          <a:cs typeface="Arial" pitchFamily="34" charset="0"/>
                        </a:rPr>
                        <a:t>ngẫu</a:t>
                      </a:r>
                      <a:r>
                        <a:rPr lang="en-US" sz="1200" b="1" baseline="0" dirty="0">
                          <a:latin typeface="Arial" pitchFamily="34" charset="0"/>
                          <a:ea typeface="맑은 고딕" panose="020B0503020000020004" pitchFamily="50" charset="-127"/>
                          <a:cs typeface="Arial" pitchFamily="34" charset="0"/>
                        </a:rPr>
                        <a:t> </a:t>
                      </a:r>
                      <a:r>
                        <a:rPr lang="en-US" sz="1200" b="1" baseline="0" dirty="0" err="1">
                          <a:latin typeface="Arial" pitchFamily="34" charset="0"/>
                          <a:ea typeface="맑은 고딕" panose="020B0503020000020004" pitchFamily="50" charset="-127"/>
                          <a:cs typeface="Arial" pitchFamily="34" charset="0"/>
                        </a:rPr>
                        <a:t>nhiên</a:t>
                      </a:r>
                      <a:endParaRPr lang="en-US" sz="1200" b="1" dirty="0">
                        <a:solidFill>
                          <a:schemeClr val="bg1"/>
                        </a:solidFill>
                        <a:latin typeface="Arial" pitchFamily="34" charset="0"/>
                        <a:ea typeface="맑은 고딕" panose="020B0503020000020004" pitchFamily="50" charset="-127"/>
                        <a:cs typeface="Arial" pitchFamily="34" charset="0"/>
                      </a:endParaRPr>
                    </a:p>
                  </a:txBody>
                  <a:tcPr marL="16187" marR="16187" marT="8095" marB="8095" anchor="ctr">
                    <a:solidFill>
                      <a:schemeClr val="bg1">
                        <a:lumMod val="95000"/>
                      </a:schemeClr>
                    </a:solidFill>
                  </a:tcPr>
                </a:tc>
                <a:extLst>
                  <a:ext uri="{0D108BD9-81ED-4DB2-BD59-A6C34878D82A}">
                    <a16:rowId xmlns:a16="http://schemas.microsoft.com/office/drawing/2014/main" val="10000"/>
                  </a:ext>
                </a:extLst>
              </a:tr>
              <a:tr h="716811">
                <a:tc>
                  <a:txBody>
                    <a:bodyPr/>
                    <a:lstStyle/>
                    <a:p>
                      <a:pPr algn="ctr"/>
                      <a:r>
                        <a:rPr lang="en-US" altLang="ko-KR" sz="1100" dirty="0" err="1">
                          <a:latin typeface="Arial" pitchFamily="34" charset="0"/>
                          <a:ea typeface="맑은 고딕" panose="020B0503020000020004" pitchFamily="50" charset="-127"/>
                          <a:cs typeface="Arial" pitchFamily="34" charset="0"/>
                        </a:rPr>
                        <a:t>Các</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biểu</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thức</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thay</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thế</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tc>
                  <a:txBody>
                    <a:bodyPr/>
                    <a:lstStyle/>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không</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thể</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tránh</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khỏi</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chắc</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chắn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xảy</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ra</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tc>
                  <a:txBody>
                    <a:bodyPr/>
                    <a:lstStyle/>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Các</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không</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thể</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bỏ</a:t>
                      </a:r>
                      <a:r>
                        <a:rPr lang="en-US" altLang="ko-KR" sz="1100" baseline="0" dirty="0">
                          <a:latin typeface="Arial" pitchFamily="34" charset="0"/>
                          <a:ea typeface="맑은 고딕" panose="020B0503020000020004" pitchFamily="50" charset="-127"/>
                          <a:cs typeface="Arial" pitchFamily="34" charset="0"/>
                        </a:rPr>
                        <a:t> qua </a:t>
                      </a:r>
                      <a:r>
                        <a:rPr lang="en-US" altLang="ko-KR" sz="1100" baseline="0" dirty="0" err="1">
                          <a:latin typeface="Arial" pitchFamily="34" charset="0"/>
                          <a:ea typeface="맑은 고딕" panose="020B0503020000020004" pitchFamily="50" charset="-127"/>
                          <a:cs typeface="Arial" pitchFamily="34" charset="0"/>
                        </a:rPr>
                        <a:t>được</a:t>
                      </a:r>
                      <a:endParaRPr lang="ko-KR" altLang="en-US" sz="1100" dirty="0">
                        <a:latin typeface="Arial" pitchFamily="34" charset="0"/>
                        <a:ea typeface="맑은 고딕" panose="020B0503020000020004" pitchFamily="50" charset="-127"/>
                        <a:cs typeface="Arial" pitchFamily="34" charset="0"/>
                      </a:endParaRPr>
                    </a:p>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có</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thể</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tránh</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được</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có</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lý</a:t>
                      </a:r>
                      <a:r>
                        <a:rPr lang="en-US" altLang="ko-KR" sz="1100" baseline="0" dirty="0">
                          <a:latin typeface="Arial" pitchFamily="34" charset="0"/>
                          <a:ea typeface="맑은 고딕" panose="020B0503020000020004" pitchFamily="50" charset="-127"/>
                          <a:cs typeface="Arial" pitchFamily="34" charset="0"/>
                        </a:rPr>
                        <a:t> do, </a:t>
                      </a:r>
                      <a:r>
                        <a:rPr lang="en-US" altLang="ko-KR" sz="1100" baseline="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không</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thể</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bỏ</a:t>
                      </a:r>
                      <a:r>
                        <a:rPr lang="en-US" altLang="ko-KR" sz="1100" baseline="0" dirty="0">
                          <a:latin typeface="Arial" pitchFamily="34" charset="0"/>
                          <a:ea typeface="맑은 고딕" panose="020B0503020000020004" pitchFamily="50" charset="-127"/>
                          <a:cs typeface="Arial" pitchFamily="34" charset="0"/>
                        </a:rPr>
                        <a:t> qua</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extLst>
                  <a:ext uri="{0D108BD9-81ED-4DB2-BD59-A6C34878D82A}">
                    <a16:rowId xmlns:a16="http://schemas.microsoft.com/office/drawing/2014/main" val="10001"/>
                  </a:ext>
                </a:extLst>
              </a:tr>
              <a:tr h="484721">
                <a:tc>
                  <a:txBody>
                    <a:bodyPr/>
                    <a:lstStyle/>
                    <a:p>
                      <a:pPr algn="ctr"/>
                      <a:r>
                        <a:rPr lang="en-US" altLang="ko-KR" sz="1100" dirty="0" err="1">
                          <a:latin typeface="Arial" pitchFamily="34" charset="0"/>
                          <a:ea typeface="맑은 고딕" panose="020B0503020000020004" pitchFamily="50" charset="-127"/>
                          <a:cs typeface="Arial" pitchFamily="34" charset="0"/>
                        </a:rPr>
                        <a:t>Loại</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kết</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quả</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tc>
                  <a:txBody>
                    <a:bodyPr/>
                    <a:lstStyle/>
                    <a:p>
                      <a:pPr algn="ctr"/>
                      <a:r>
                        <a:rPr lang="en-US" altLang="ko-KR" sz="1100" kern="1200" dirty="0" err="1">
                          <a:solidFill>
                            <a:schemeClr val="tx1"/>
                          </a:solidFill>
                          <a:latin typeface="Arial" pitchFamily="34" charset="0"/>
                          <a:ea typeface="맑은 고딕" panose="020B0503020000020004" pitchFamily="50" charset="-127"/>
                          <a:cs typeface="Arial" pitchFamily="34" charset="0"/>
                        </a:rPr>
                        <a:t>Lỗi</a:t>
                      </a:r>
                      <a:r>
                        <a:rPr lang="en-US" altLang="ko-KR" sz="1100" kern="1200" baseline="0" dirty="0">
                          <a:solidFill>
                            <a:schemeClr val="tx1"/>
                          </a:solidFill>
                          <a:latin typeface="Arial" pitchFamily="34" charset="0"/>
                          <a:ea typeface="맑은 고딕" panose="020B0503020000020004" pitchFamily="50" charset="-127"/>
                          <a:cs typeface="Arial" pitchFamily="34" charset="0"/>
                        </a:rPr>
                        <a:t> </a:t>
                      </a:r>
                      <a:r>
                        <a:rPr lang="en-US" altLang="ko-KR" sz="1100" kern="1200" baseline="0" dirty="0" err="1">
                          <a:solidFill>
                            <a:schemeClr val="tx1"/>
                          </a:solidFill>
                          <a:latin typeface="Arial" pitchFamily="34" charset="0"/>
                          <a:ea typeface="맑은 고딕" panose="020B0503020000020004" pitchFamily="50" charset="-127"/>
                          <a:cs typeface="Arial" pitchFamily="34" charset="0"/>
                        </a:rPr>
                        <a:t>thường</a:t>
                      </a:r>
                      <a:r>
                        <a:rPr lang="en-US" altLang="ko-KR" sz="1100" kern="1200" baseline="0" dirty="0">
                          <a:solidFill>
                            <a:schemeClr val="tx1"/>
                          </a:solidFill>
                          <a:latin typeface="Arial" pitchFamily="34" charset="0"/>
                          <a:ea typeface="맑은 고딕" panose="020B0503020000020004" pitchFamily="50" charset="-127"/>
                          <a:cs typeface="Arial" pitchFamily="34" charset="0"/>
                        </a:rPr>
                        <a:t> </a:t>
                      </a:r>
                      <a:r>
                        <a:rPr lang="en-US" altLang="ko-KR" sz="1100" kern="1200" baseline="0" dirty="0" err="1">
                          <a:solidFill>
                            <a:schemeClr val="tx1"/>
                          </a:solidFill>
                          <a:latin typeface="Arial" pitchFamily="34" charset="0"/>
                          <a:ea typeface="맑은 고딕" panose="020B0503020000020004" pitchFamily="50" charset="-127"/>
                          <a:cs typeface="Arial" pitchFamily="34" charset="0"/>
                        </a:rPr>
                        <a:t>xuyên</a:t>
                      </a:r>
                      <a:endParaRPr lang="ko-KR" altLang="en-US" sz="1100" kern="1200" dirty="0">
                        <a:solidFill>
                          <a:schemeClr val="tx1"/>
                        </a:solidFill>
                        <a:latin typeface="Arial" pitchFamily="34" charset="0"/>
                        <a:ea typeface="맑은 고딕" panose="020B0503020000020004" pitchFamily="50" charset="-127"/>
                        <a:cs typeface="Arial" pitchFamily="34" charset="0"/>
                      </a:endParaRPr>
                    </a:p>
                  </a:txBody>
                  <a:tcPr marL="16187" marR="16187" marT="8095" marB="8095" anchor="ctr"/>
                </a:tc>
                <a:tc>
                  <a:txBody>
                    <a:bodyPr/>
                    <a:lstStyle/>
                    <a:p>
                      <a:pPr algn="ctr"/>
                      <a:r>
                        <a:rPr lang="en-US" altLang="ko-KR" sz="1100" dirty="0" err="1">
                          <a:latin typeface="Arial" pitchFamily="34" charset="0"/>
                          <a:ea typeface="맑은 고딕" panose="020B0503020000020004" pitchFamily="50" charset="-127"/>
                          <a:cs typeface="Arial" pitchFamily="34" charset="0"/>
                        </a:rPr>
                        <a:t>Lỗi</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bất</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thường</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extLst>
                  <a:ext uri="{0D108BD9-81ED-4DB2-BD59-A6C34878D82A}">
                    <a16:rowId xmlns:a16="http://schemas.microsoft.com/office/drawing/2014/main" val="10002"/>
                  </a:ext>
                </a:extLst>
              </a:tr>
              <a:tr h="1667530">
                <a:tc>
                  <a:txBody>
                    <a:bodyPr/>
                    <a:lstStyle/>
                    <a:p>
                      <a:pPr algn="ctr"/>
                      <a:r>
                        <a:rPr lang="en-US" altLang="ko-KR" sz="1100" dirty="0" err="1">
                          <a:latin typeface="Arial" pitchFamily="34" charset="0"/>
                          <a:ea typeface="맑은 고딕" panose="020B0503020000020004" pitchFamily="50" charset="-127"/>
                          <a:cs typeface="Arial" pitchFamily="34" charset="0"/>
                        </a:rPr>
                        <a:t>Khái</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niệm</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tc>
                  <a:txBody>
                    <a:bodyPr/>
                    <a:lstStyle/>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vi-VN" sz="1100" dirty="0">
                          <a:latin typeface="Arial" pitchFamily="34" charset="0"/>
                          <a:cs typeface="Arial" pitchFamily="34" charset="0"/>
                        </a:rPr>
                        <a:t>Nguyên nhân cho thấy sự phân tán trong chất lượng sản phẩm mặc dù thực tế </a:t>
                      </a:r>
                      <a:r>
                        <a:rPr lang="en-US" sz="1100" dirty="0" err="1">
                          <a:latin typeface="Arial" pitchFamily="34" charset="0"/>
                          <a:cs typeface="Arial" pitchFamily="34" charset="0"/>
                        </a:rPr>
                        <a:t>là</a:t>
                      </a:r>
                      <a:r>
                        <a:rPr lang="en-US" sz="1100" baseline="0" dirty="0">
                          <a:latin typeface="Arial" pitchFamily="34" charset="0"/>
                          <a:cs typeface="Arial" pitchFamily="34" charset="0"/>
                        </a:rPr>
                        <a:t> </a:t>
                      </a:r>
                      <a:r>
                        <a:rPr lang="vi-VN" sz="1100" dirty="0">
                          <a:latin typeface="Arial" pitchFamily="34" charset="0"/>
                          <a:cs typeface="Arial" pitchFamily="34" charset="0"/>
                        </a:rPr>
                        <a:t>các tiêu </a:t>
                      </a:r>
                      <a:endParaRPr lang="en-US" sz="1100" dirty="0">
                        <a:latin typeface="Arial" pitchFamily="34" charset="0"/>
                        <a:cs typeface="Arial" pitchFamily="34" charset="0"/>
                      </a:endParaRPr>
                    </a:p>
                    <a:p>
                      <a:pPr>
                        <a:buFont typeface="Arial"/>
                        <a:buNone/>
                      </a:pPr>
                      <a:r>
                        <a:rPr lang="vi-VN" sz="1100" dirty="0">
                          <a:latin typeface="Arial" pitchFamily="34" charset="0"/>
                          <a:cs typeface="Arial" pitchFamily="34" charset="0"/>
                        </a:rPr>
                        <a:t>chuẩn sản xuất đã được tuân thủ </a:t>
                      </a:r>
                      <a:r>
                        <a:rPr lang="en-US" sz="1100" dirty="0">
                          <a:latin typeface="Arial" pitchFamily="34" charset="0"/>
                          <a:cs typeface="Arial" pitchFamily="34" charset="0"/>
                        </a:rPr>
                        <a:t> </a:t>
                      </a:r>
                      <a:r>
                        <a:rPr lang="en-US" sz="1100" dirty="0" err="1">
                          <a:latin typeface="Arial" pitchFamily="34" charset="0"/>
                          <a:cs typeface="Arial" pitchFamily="34" charset="0"/>
                        </a:rPr>
                        <a:t>trong</a:t>
                      </a:r>
                      <a:r>
                        <a:rPr lang="en-US" sz="1100" dirty="0">
                          <a:latin typeface="Arial" pitchFamily="34" charset="0"/>
                          <a:cs typeface="Arial" pitchFamily="34" charset="0"/>
                        </a:rPr>
                        <a:t> </a:t>
                      </a:r>
                      <a:r>
                        <a:rPr lang="vi-VN" sz="1100" dirty="0">
                          <a:latin typeface="Arial" pitchFamily="34" charset="0"/>
                          <a:cs typeface="Arial" pitchFamily="34" charset="0"/>
                        </a:rPr>
                        <a:t>quá </a:t>
                      </a:r>
                      <a:endParaRPr lang="en-US" sz="1100" dirty="0">
                        <a:latin typeface="Arial" pitchFamily="34" charset="0"/>
                        <a:cs typeface="Arial" pitchFamily="34" charset="0"/>
                      </a:endParaRPr>
                    </a:p>
                    <a:p>
                      <a:pPr>
                        <a:buFont typeface="Arial"/>
                        <a:buNone/>
                      </a:pPr>
                      <a:r>
                        <a:rPr lang="vi-VN" sz="1100" dirty="0">
                          <a:latin typeface="Arial" pitchFamily="34" charset="0"/>
                          <a:cs typeface="Arial" pitchFamily="34" charset="0"/>
                        </a:rPr>
                        <a:t>trình sản xuất và không có thiết bị</a:t>
                      </a:r>
                      <a:r>
                        <a:rPr lang="en-US" sz="1100" dirty="0">
                          <a:latin typeface="Arial" pitchFamily="34" charset="0"/>
                          <a:cs typeface="Arial" pitchFamily="34" charset="0"/>
                        </a:rPr>
                        <a:t> </a:t>
                      </a:r>
                      <a:r>
                        <a:rPr lang="en-US" sz="1100" dirty="0" err="1">
                          <a:latin typeface="Arial" pitchFamily="34" charset="0"/>
                          <a:cs typeface="Arial" pitchFamily="34" charset="0"/>
                        </a:rPr>
                        <a:t>nào</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sai</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cả</a:t>
                      </a:r>
                      <a:r>
                        <a:rPr lang="vi-VN" sz="1100" dirty="0">
                          <a:latin typeface="Arial" pitchFamily="34" charset="0"/>
                          <a:cs typeface="Arial" pitchFamily="34" charset="0"/>
                        </a:rPr>
                        <a:t> .</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en-US" altLang="ko-KR" sz="1100" baseline="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rất</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khó</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loại</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bỏ</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luôn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luôn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hiện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diện</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tc>
                  <a:txBody>
                    <a:bodyPr/>
                    <a:lstStyle/>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gây</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ra</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các</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vấn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đề</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bất</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thường</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cho</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sản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phẩm</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vì</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các</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vấn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đề</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trong</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quá</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trình</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sản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xuất</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Nguyên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nhân</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có</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thể</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được</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loại</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bỏ</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sau</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quá</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trình</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điều</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tra</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vi-VN" sz="1100" dirty="0">
                          <a:latin typeface="Arial" pitchFamily="34" charset="0"/>
                          <a:cs typeface="Arial" pitchFamily="34" charset="0"/>
                        </a:rPr>
                        <a:t>Những nguyên nhân không phải là </a:t>
                      </a:r>
                      <a:r>
                        <a:rPr lang="en-US" sz="1100" dirty="0" err="1">
                          <a:latin typeface="Arial" pitchFamily="34" charset="0"/>
                          <a:cs typeface="Arial" pitchFamily="34" charset="0"/>
                        </a:rPr>
                        <a:t>lâu</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dài</a:t>
                      </a:r>
                      <a:r>
                        <a:rPr lang="en-US" sz="1100" baseline="0" dirty="0">
                          <a:latin typeface="Arial" pitchFamily="34" charset="0"/>
                          <a:cs typeface="Arial" pitchFamily="34" charset="0"/>
                        </a:rPr>
                        <a:t> </a:t>
                      </a:r>
                      <a:r>
                        <a:rPr lang="vi-VN" sz="1100" dirty="0">
                          <a:latin typeface="Arial" pitchFamily="34" charset="0"/>
                          <a:cs typeface="Arial" pitchFamily="34" charset="0"/>
                        </a:rPr>
                        <a:t>nhưng </a:t>
                      </a:r>
                      <a:endParaRPr lang="en-US" sz="1100" dirty="0">
                        <a:latin typeface="Arial" pitchFamily="34" charset="0"/>
                        <a:cs typeface="Arial" pitchFamily="34" charset="0"/>
                      </a:endParaRPr>
                    </a:p>
                    <a:p>
                      <a:pPr>
                        <a:buFont typeface="Arial"/>
                        <a:buNone/>
                      </a:pPr>
                      <a:r>
                        <a:rPr lang="vi-VN" sz="1100" dirty="0">
                          <a:latin typeface="Arial" pitchFamily="34" charset="0"/>
                          <a:cs typeface="Arial" pitchFamily="34" charset="0"/>
                        </a:rPr>
                        <a:t>không thường xuyên và dẫn đến chênh lệch về chất</a:t>
                      </a:r>
                      <a:br>
                        <a:rPr lang="en-US" sz="1100" baseline="0" dirty="0">
                          <a:latin typeface="Arial" pitchFamily="34" charset="0"/>
                          <a:cs typeface="Arial" pitchFamily="34" charset="0"/>
                        </a:rPr>
                      </a:br>
                      <a:r>
                        <a:rPr lang="vi-VN" sz="1100" dirty="0">
                          <a:latin typeface="Arial" pitchFamily="34" charset="0"/>
                          <a:cs typeface="Arial" pitchFamily="34" charset="0"/>
                        </a:rPr>
                        <a:t>lượng.</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extLst>
                  <a:ext uri="{0D108BD9-81ED-4DB2-BD59-A6C34878D82A}">
                    <a16:rowId xmlns:a16="http://schemas.microsoft.com/office/drawing/2014/main" val="10003"/>
                  </a:ext>
                </a:extLst>
              </a:tr>
              <a:tr h="2286532">
                <a:tc>
                  <a:txBody>
                    <a:bodyPr/>
                    <a:lstStyle/>
                    <a:p>
                      <a:pPr algn="ctr"/>
                      <a:r>
                        <a:rPr lang="en-US" altLang="ko-KR" sz="1100" dirty="0" err="1">
                          <a:latin typeface="Arial" pitchFamily="34" charset="0"/>
                          <a:ea typeface="맑은 고딕" panose="020B0503020000020004" pitchFamily="50" charset="-127"/>
                          <a:cs typeface="Arial" pitchFamily="34" charset="0"/>
                        </a:rPr>
                        <a:t>Ví</a:t>
                      </a:r>
                      <a:r>
                        <a:rPr lang="en-US" altLang="ko-KR" sz="1100" baseline="0" dirty="0">
                          <a:latin typeface="Arial" pitchFamily="34" charset="0"/>
                          <a:ea typeface="맑은 고딕" panose="020B0503020000020004" pitchFamily="50" charset="-127"/>
                          <a:cs typeface="Arial" pitchFamily="34" charset="0"/>
                        </a:rPr>
                        <a:t> </a:t>
                      </a:r>
                      <a:r>
                        <a:rPr lang="en-US" altLang="ko-KR" sz="1100" baseline="0" dirty="0" err="1">
                          <a:latin typeface="Arial" pitchFamily="34" charset="0"/>
                          <a:ea typeface="맑은 고딕" panose="020B0503020000020004" pitchFamily="50" charset="-127"/>
                          <a:cs typeface="Arial" pitchFamily="34" charset="0"/>
                        </a:rPr>
                        <a:t>dụ</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tc>
                  <a:txBody>
                    <a:bodyPr/>
                    <a:lstStyle/>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vi-VN" sz="1100" dirty="0">
                          <a:latin typeface="Arial" pitchFamily="34" charset="0"/>
                          <a:cs typeface="Arial" pitchFamily="34" charset="0"/>
                        </a:rPr>
                        <a:t>Sự khác biệt về kỹ năng lao động</a:t>
                      </a:r>
                      <a:br>
                        <a:rPr lang="vi-VN" sz="1100" dirty="0">
                          <a:latin typeface="Arial" pitchFamily="34" charset="0"/>
                          <a:cs typeface="Arial" pitchFamily="34" charset="0"/>
                        </a:rPr>
                      </a:br>
                      <a:r>
                        <a:rPr lang="vi-VN" sz="1100" dirty="0">
                          <a:latin typeface="Arial" pitchFamily="34" charset="0"/>
                          <a:cs typeface="Arial" pitchFamily="34" charset="0"/>
                        </a:rPr>
                        <a:t>   Ngay cả khi người lao động được đào tạo tốt, có thể có sự khác biệt tinh tế giữa các cá </a:t>
                      </a:r>
                      <a:endParaRPr lang="en-US" sz="1100" dirty="0">
                        <a:latin typeface="Arial" pitchFamily="34" charset="0"/>
                        <a:cs typeface="Arial" pitchFamily="34" charset="0"/>
                      </a:endParaRPr>
                    </a:p>
                    <a:p>
                      <a:pPr>
                        <a:buFont typeface="Arial"/>
                        <a:buNone/>
                      </a:pPr>
                      <a:r>
                        <a:rPr lang="vi-VN" sz="1100" dirty="0">
                          <a:latin typeface="Arial" pitchFamily="34" charset="0"/>
                          <a:cs typeface="Arial" pitchFamily="34" charset="0"/>
                        </a:rPr>
                        <a:t>nhân</a:t>
                      </a:r>
                      <a:r>
                        <a:rPr lang="en-US" sz="1100" baseline="0" dirty="0">
                          <a:latin typeface="Arial" pitchFamily="34" charset="0"/>
                          <a:cs typeface="Arial" pitchFamily="34" charset="0"/>
                        </a:rPr>
                        <a:t> </a:t>
                      </a:r>
                      <a:r>
                        <a:rPr lang="vi-VN" sz="1100" dirty="0">
                          <a:latin typeface="Arial" pitchFamily="34" charset="0"/>
                          <a:cs typeface="Arial" pitchFamily="34" charset="0"/>
                        </a:rPr>
                        <a:t>người lao động.</a:t>
                      </a:r>
                      <a:r>
                        <a:rPr lang="en-US" altLang="ko-KR" sz="1100" baseline="0" dirty="0">
                          <a:latin typeface="Arial" pitchFamily="34" charset="0"/>
                          <a:ea typeface="맑은 고딕" panose="020B0503020000020004" pitchFamily="50" charset="-127"/>
                          <a:cs typeface="Arial" pitchFamily="34" charset="0"/>
                        </a:rPr>
                        <a:t>.</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vi-VN" sz="1100" dirty="0">
                          <a:latin typeface="Arial" pitchFamily="34" charset="0"/>
                          <a:cs typeface="Arial" pitchFamily="34" charset="0"/>
                        </a:rPr>
                        <a:t>Những thay đổi trong môi trường làm việc</a:t>
                      </a:r>
                      <a:br>
                        <a:rPr lang="vi-VN" sz="1100" dirty="0">
                          <a:latin typeface="Arial" pitchFamily="34" charset="0"/>
                          <a:cs typeface="Arial" pitchFamily="34" charset="0"/>
                        </a:rPr>
                      </a:br>
                      <a:r>
                        <a:rPr lang="vi-VN" sz="1100" dirty="0">
                          <a:latin typeface="Arial" pitchFamily="34" charset="0"/>
                          <a:cs typeface="Arial" pitchFamily="34" charset="0"/>
                        </a:rPr>
                        <a:t>    </a:t>
                      </a:r>
                      <a:r>
                        <a:rPr lang="en-US" sz="1100" dirty="0">
                          <a:latin typeface="Arial" pitchFamily="34" charset="0"/>
                          <a:cs typeface="Arial" pitchFamily="34" charset="0"/>
                        </a:rPr>
                        <a:t>(</a:t>
                      </a:r>
                      <a:r>
                        <a:rPr lang="en-US" sz="1100" dirty="0" err="1">
                          <a:latin typeface="Arial" pitchFamily="34" charset="0"/>
                          <a:cs typeface="Arial" pitchFamily="34" charset="0"/>
                        </a:rPr>
                        <a:t>Sự</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khác</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biệt</a:t>
                      </a:r>
                      <a:r>
                        <a:rPr lang="en-US" sz="1100" baseline="0" dirty="0">
                          <a:latin typeface="Arial" pitchFamily="34" charset="0"/>
                          <a:cs typeface="Arial" pitchFamily="34" charset="0"/>
                        </a:rPr>
                        <a:t> do </a:t>
                      </a:r>
                      <a:r>
                        <a:rPr lang="vi-VN" sz="1100" dirty="0">
                          <a:latin typeface="Arial" pitchFamily="34" charset="0"/>
                          <a:cs typeface="Arial" pitchFamily="34" charset="0"/>
                        </a:rPr>
                        <a:t>kết quả từ nhiệt độ</a:t>
                      </a:r>
                      <a:br>
                        <a:rPr lang="vi-VN" sz="1100" dirty="0">
                          <a:latin typeface="Arial" pitchFamily="34" charset="0"/>
                          <a:cs typeface="Arial" pitchFamily="34" charset="0"/>
                        </a:rPr>
                      </a:br>
                      <a:r>
                        <a:rPr lang="vi-VN" sz="1100" dirty="0">
                          <a:latin typeface="Arial" pitchFamily="34" charset="0"/>
                          <a:cs typeface="Arial" pitchFamily="34" charset="0"/>
                        </a:rPr>
                        <a:t>    và sự khác biệt độ ẩm)</a:t>
                      </a:r>
                      <a:r>
                        <a:rPr lang="ko-KR" altLang="en-US" sz="1100" dirty="0">
                          <a:latin typeface="Arial" pitchFamily="34" charset="0"/>
                          <a:ea typeface="맑은 고딕" panose="020B0503020000020004" pitchFamily="50" charset="-127"/>
                          <a:cs typeface="Arial" pitchFamily="34" charset="0"/>
                        </a:rPr>
                        <a:t> </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vi-VN" sz="1100" dirty="0">
                          <a:latin typeface="Arial" pitchFamily="34" charset="0"/>
                          <a:cs typeface="Arial" pitchFamily="34" charset="0"/>
                        </a:rPr>
                        <a:t>Sự khác biệt do không xác định vốn có</a:t>
                      </a:r>
                      <a:br>
                        <a:rPr lang="vi-VN" sz="1100" dirty="0">
                          <a:latin typeface="Arial" pitchFamily="34" charset="0"/>
                          <a:cs typeface="Arial" pitchFamily="34" charset="0"/>
                        </a:rPr>
                      </a:br>
                      <a:r>
                        <a:rPr lang="vi-VN" sz="1100" dirty="0">
                          <a:latin typeface="Arial" pitchFamily="34" charset="0"/>
                          <a:cs typeface="Arial" pitchFamily="34" charset="0"/>
                        </a:rPr>
                        <a:t>   đặc trưng của các nguyên liệu thô hoặc</a:t>
                      </a:r>
                      <a:br>
                        <a:rPr lang="vi-VN" sz="1100" dirty="0">
                          <a:latin typeface="Arial" pitchFamily="34" charset="0"/>
                          <a:cs typeface="Arial" pitchFamily="34" charset="0"/>
                        </a:rPr>
                      </a:br>
                      <a:r>
                        <a:rPr lang="vi-VN" sz="1100" dirty="0">
                          <a:latin typeface="Arial" pitchFamily="34" charset="0"/>
                          <a:cs typeface="Arial" pitchFamily="34" charset="0"/>
                        </a:rPr>
                        <a:t>   thiết bị sản xuất.</a:t>
                      </a:r>
                      <a:endParaRPr lang="en-US" sz="1100" dirty="0">
                        <a:latin typeface="Arial" pitchFamily="34" charset="0"/>
                        <a:cs typeface="Arial" pitchFamily="34" charset="0"/>
                      </a:endParaRPr>
                    </a:p>
                    <a:p>
                      <a:pPr>
                        <a:buFont typeface="Arial"/>
                        <a:buChar char="•"/>
                      </a:pPr>
                      <a:r>
                        <a:rPr lang="en-US" altLang="ko-KR" sz="1100" baseline="0" dirty="0">
                          <a:latin typeface="Arial" pitchFamily="34" charset="0"/>
                          <a:ea typeface="맑은 고딕" panose="020B0503020000020004" pitchFamily="50" charset="-127"/>
                          <a:cs typeface="Arial" pitchFamily="34" charset="0"/>
                        </a:rPr>
                        <a:t> Y</a:t>
                      </a:r>
                      <a:r>
                        <a:rPr lang="vi-VN" sz="1100" dirty="0">
                          <a:latin typeface="Arial" pitchFamily="34" charset="0"/>
                          <a:cs typeface="Arial" pitchFamily="34" charset="0"/>
                        </a:rPr>
                        <a:t>ếu tố xã hội và kỹ thuật như</a:t>
                      </a:r>
                      <a:br>
                        <a:rPr lang="vi-VN" sz="1100" dirty="0">
                          <a:latin typeface="Arial" pitchFamily="34" charset="0"/>
                          <a:cs typeface="Arial" pitchFamily="34" charset="0"/>
                        </a:rPr>
                      </a:br>
                      <a:r>
                        <a:rPr lang="vi-VN" sz="1100" dirty="0">
                          <a:latin typeface="Arial" pitchFamily="34" charset="0"/>
                          <a:cs typeface="Arial" pitchFamily="34" charset="0"/>
                        </a:rPr>
                        <a:t>   tinh thần nhân viên</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tc>
                  <a:txBody>
                    <a:bodyPr/>
                    <a:lstStyle/>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vi-VN" sz="1100" dirty="0">
                          <a:latin typeface="Arial" pitchFamily="34" charset="0"/>
                          <a:cs typeface="Arial" pitchFamily="34" charset="0"/>
                        </a:rPr>
                        <a:t>Công nhân bất cẩn</a:t>
                      </a:r>
                      <a:br>
                        <a:rPr lang="vi-VN" sz="1100" dirty="0">
                          <a:latin typeface="Arial" pitchFamily="34" charset="0"/>
                          <a:cs typeface="Arial" pitchFamily="34" charset="0"/>
                        </a:rPr>
                      </a:br>
                      <a:r>
                        <a:rPr lang="vi-VN" sz="1100" dirty="0">
                          <a:latin typeface="Arial" pitchFamily="34" charset="0"/>
                          <a:cs typeface="Arial" pitchFamily="34" charset="0"/>
                        </a:rPr>
                        <a:t>   (</a:t>
                      </a:r>
                      <a:r>
                        <a:rPr lang="en-US" sz="1100" dirty="0" err="1">
                          <a:latin typeface="Arial" pitchFamily="34" charset="0"/>
                          <a:cs typeface="Arial" pitchFamily="34" charset="0"/>
                        </a:rPr>
                        <a:t>Lỗi</a:t>
                      </a:r>
                      <a:r>
                        <a:rPr lang="en-US" sz="1100" baseline="0" dirty="0">
                          <a:latin typeface="Arial" pitchFamily="34" charset="0"/>
                          <a:cs typeface="Arial" pitchFamily="34" charset="0"/>
                        </a:rPr>
                        <a:t> do </a:t>
                      </a:r>
                      <a:r>
                        <a:rPr lang="en-US" sz="1100" baseline="0" dirty="0" err="1">
                          <a:latin typeface="Arial" pitchFamily="34" charset="0"/>
                          <a:cs typeface="Arial" pitchFamily="34" charset="0"/>
                        </a:rPr>
                        <a:t>sự</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bất</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cẩn</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của</a:t>
                      </a:r>
                      <a:r>
                        <a:rPr lang="en-US" sz="1100" baseline="0" dirty="0">
                          <a:latin typeface="Arial" pitchFamily="34" charset="0"/>
                          <a:cs typeface="Arial" pitchFamily="34" charset="0"/>
                        </a:rPr>
                        <a:t> c</a:t>
                      </a:r>
                      <a:r>
                        <a:rPr lang="vi-VN" sz="1100" dirty="0">
                          <a:latin typeface="Arial" pitchFamily="34" charset="0"/>
                          <a:cs typeface="Arial" pitchFamily="34" charset="0"/>
                        </a:rPr>
                        <a:t>ông nhân, không </a:t>
                      </a:r>
                      <a:r>
                        <a:rPr lang="en-US" sz="1100" dirty="0" err="1">
                          <a:latin typeface="Arial" pitchFamily="34" charset="0"/>
                          <a:cs typeface="Arial" pitchFamily="34" charset="0"/>
                        </a:rPr>
                        <a:t>tuân</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thủ</a:t>
                      </a:r>
                      <a:br>
                        <a:rPr lang="en-US" sz="1100" baseline="0" dirty="0">
                          <a:latin typeface="Arial" pitchFamily="34" charset="0"/>
                          <a:cs typeface="Arial" pitchFamily="34" charset="0"/>
                        </a:rPr>
                      </a:br>
                      <a:r>
                        <a:rPr lang="vi-VN" sz="1100" dirty="0">
                          <a:latin typeface="Arial" pitchFamily="34" charset="0"/>
                          <a:cs typeface="Arial" pitchFamily="34" charset="0"/>
                        </a:rPr>
                        <a:t>các</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quy</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định</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làm</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việc</a:t>
                      </a:r>
                      <a:r>
                        <a:rPr lang="vi-VN" sz="1100" dirty="0">
                          <a:latin typeface="Arial" pitchFamily="34" charset="0"/>
                          <a:cs typeface="Arial" pitchFamily="34" charset="0"/>
                        </a:rPr>
                        <a:t>, vv)</a:t>
                      </a:r>
                      <a:r>
                        <a:rPr lang="en-US" altLang="ko-KR" sz="1100" baseline="0" dirty="0">
                          <a:latin typeface="Arial" pitchFamily="34" charset="0"/>
                          <a:ea typeface="맑은 고딕" panose="020B0503020000020004" pitchFamily="50" charset="-127"/>
                          <a:cs typeface="Arial" pitchFamily="34" charset="0"/>
                        </a:rPr>
                        <a:t> </a:t>
                      </a:r>
                    </a:p>
                    <a:p>
                      <a:pPr>
                        <a:buFont typeface="Arial" pitchFamily="34" charset="0"/>
                        <a:buChar char="•"/>
                      </a:pPr>
                      <a:r>
                        <a:rPr lang="en-US" altLang="ko-KR" sz="1100" baseline="0" dirty="0">
                          <a:latin typeface="Arial" pitchFamily="34" charset="0"/>
                          <a:ea typeface="맑은 고딕" panose="020B0503020000020004" pitchFamily="50" charset="-127"/>
                          <a:cs typeface="Arial" pitchFamily="34" charset="0"/>
                        </a:rPr>
                        <a:t> </a:t>
                      </a:r>
                      <a:r>
                        <a:rPr lang="vi-VN" sz="1100" dirty="0">
                          <a:latin typeface="Arial" pitchFamily="34" charset="0"/>
                          <a:cs typeface="Arial" pitchFamily="34" charset="0"/>
                        </a:rPr>
                        <a:t>Sử dụng vật liệu kém</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en-US" altLang="ko-KR" sz="1100" baseline="0" dirty="0">
                          <a:latin typeface="Arial" pitchFamily="34" charset="0"/>
                          <a:ea typeface="맑은 고딕" panose="020B0503020000020004" pitchFamily="50" charset="-127"/>
                          <a:cs typeface="Arial" pitchFamily="34" charset="0"/>
                        </a:rPr>
                        <a:t> </a:t>
                      </a:r>
                      <a:r>
                        <a:rPr lang="vi-VN" sz="1100" dirty="0">
                          <a:latin typeface="Arial" pitchFamily="34" charset="0"/>
                          <a:cs typeface="Arial" pitchFamily="34" charset="0"/>
                        </a:rPr>
                        <a:t>Thay đổi trong vật liệu</a:t>
                      </a:r>
                      <a:endParaRPr lang="en-US" altLang="ko-KR" sz="1100" dirty="0">
                        <a:latin typeface="Arial" pitchFamily="34" charset="0"/>
                        <a:ea typeface="맑은 고딕" panose="020B0503020000020004" pitchFamily="50" charset="-127"/>
                        <a:cs typeface="Arial" pitchFamily="34" charset="0"/>
                      </a:endParaRPr>
                    </a:p>
                    <a:p>
                      <a:pPr>
                        <a:buFont typeface="Arial"/>
                        <a:buChar char="•"/>
                      </a:pPr>
                      <a:r>
                        <a:rPr lang="ko-KR" altLang="en-US" sz="1100" dirty="0">
                          <a:latin typeface="Arial" pitchFamily="34" charset="0"/>
                          <a:ea typeface="맑은 고딕" panose="020B0503020000020004" pitchFamily="50" charset="-127"/>
                          <a:cs typeface="Arial" pitchFamily="34" charset="0"/>
                        </a:rPr>
                        <a:t> </a:t>
                      </a:r>
                      <a:r>
                        <a:rPr lang="vi-VN" sz="1100" dirty="0">
                          <a:latin typeface="Arial" pitchFamily="34" charset="0"/>
                          <a:cs typeface="Arial" pitchFamily="34" charset="0"/>
                        </a:rPr>
                        <a:t>Vấn đề với các thiết bị sản xuất</a:t>
                      </a:r>
                      <a:br>
                        <a:rPr lang="vi-VN" sz="1100" dirty="0">
                          <a:latin typeface="Arial" pitchFamily="34" charset="0"/>
                          <a:cs typeface="Arial" pitchFamily="34" charset="0"/>
                        </a:rPr>
                      </a:br>
                      <a:r>
                        <a:rPr lang="vi-VN" sz="1100" dirty="0">
                          <a:latin typeface="Arial" pitchFamily="34" charset="0"/>
                          <a:cs typeface="Arial" pitchFamily="34" charset="0"/>
                        </a:rPr>
                        <a:t>   (Hiệu suất suy </a:t>
                      </a:r>
                      <a:r>
                        <a:rPr lang="en-US" sz="1100" dirty="0" err="1">
                          <a:latin typeface="Arial" pitchFamily="34" charset="0"/>
                          <a:cs typeface="Arial" pitchFamily="34" charset="0"/>
                        </a:rPr>
                        <a:t>giảm</a:t>
                      </a:r>
                      <a:r>
                        <a:rPr lang="vi-VN" sz="1100" dirty="0">
                          <a:latin typeface="Arial" pitchFamily="34" charset="0"/>
                          <a:cs typeface="Arial" pitchFamily="34" charset="0"/>
                        </a:rPr>
                        <a:t>, vv)</a:t>
                      </a:r>
                      <a:endParaRPr lang="en-US" sz="1100" dirty="0">
                        <a:latin typeface="Arial" pitchFamily="34" charset="0"/>
                        <a:cs typeface="Arial" pitchFamily="34" charset="0"/>
                      </a:endParaRPr>
                    </a:p>
                    <a:p>
                      <a:pPr>
                        <a:buFont typeface="Arial"/>
                        <a:buChar char="•"/>
                      </a:pPr>
                      <a:r>
                        <a:rPr lang="en-US" altLang="ko-KR" sz="1100" baseline="0" dirty="0">
                          <a:latin typeface="Arial" pitchFamily="34" charset="0"/>
                          <a:ea typeface="맑은 고딕" panose="020B0503020000020004" pitchFamily="50" charset="-127"/>
                          <a:cs typeface="Arial" pitchFamily="34" charset="0"/>
                        </a:rPr>
                        <a:t> T</a:t>
                      </a:r>
                      <a:r>
                        <a:rPr lang="vi-VN" sz="1100" dirty="0">
                          <a:latin typeface="Arial" pitchFamily="34" charset="0"/>
                          <a:cs typeface="Arial" pitchFamily="34" charset="0"/>
                        </a:rPr>
                        <a:t>hay đổi đột ngột </a:t>
                      </a:r>
                      <a:r>
                        <a:rPr lang="en-US" sz="1100" dirty="0">
                          <a:latin typeface="Arial" pitchFamily="34" charset="0"/>
                          <a:cs typeface="Arial" pitchFamily="34" charset="0"/>
                        </a:rPr>
                        <a:t> </a:t>
                      </a:r>
                      <a:r>
                        <a:rPr lang="vi-VN" sz="1100" dirty="0">
                          <a:latin typeface="Arial" pitchFamily="34" charset="0"/>
                          <a:cs typeface="Arial" pitchFamily="34" charset="0"/>
                        </a:rPr>
                        <a:t>trong </a:t>
                      </a:r>
                      <a:r>
                        <a:rPr lang="en-US" sz="1100" dirty="0" err="1">
                          <a:latin typeface="Arial" pitchFamily="34" charset="0"/>
                          <a:cs typeface="Arial" pitchFamily="34" charset="0"/>
                        </a:rPr>
                        <a:t>yêu</a:t>
                      </a:r>
                      <a:r>
                        <a:rPr lang="en-US" sz="1100" baseline="0" dirty="0">
                          <a:latin typeface="Arial" pitchFamily="34" charset="0"/>
                          <a:cs typeface="Arial" pitchFamily="34" charset="0"/>
                        </a:rPr>
                        <a:t> </a:t>
                      </a:r>
                      <a:r>
                        <a:rPr lang="en-US" sz="1100" baseline="0" dirty="0" err="1">
                          <a:latin typeface="Arial" pitchFamily="34" charset="0"/>
                          <a:cs typeface="Arial" pitchFamily="34" charset="0"/>
                        </a:rPr>
                        <a:t>cầu</a:t>
                      </a:r>
                      <a:r>
                        <a:rPr lang="en-US" sz="1100" baseline="0" dirty="0">
                          <a:latin typeface="Arial" pitchFamily="34" charset="0"/>
                          <a:cs typeface="Arial" pitchFamily="34" charset="0"/>
                        </a:rPr>
                        <a:t> </a:t>
                      </a:r>
                      <a:r>
                        <a:rPr lang="vi-VN" sz="1100" dirty="0">
                          <a:latin typeface="Arial" pitchFamily="34" charset="0"/>
                          <a:cs typeface="Arial" pitchFamily="34" charset="0"/>
                        </a:rPr>
                        <a:t>sản xuất</a:t>
                      </a:r>
                      <a:r>
                        <a:rPr lang="en-US" sz="1100" baseline="0" dirty="0">
                          <a:latin typeface="Arial" pitchFamily="34" charset="0"/>
                          <a:cs typeface="Arial" pitchFamily="34" charset="0"/>
                        </a:rPr>
                        <a:t> </a:t>
                      </a:r>
                      <a:r>
                        <a:rPr lang="vi-VN" sz="1100" dirty="0">
                          <a:latin typeface="Arial" pitchFamily="34" charset="0"/>
                          <a:cs typeface="Arial" pitchFamily="34" charset="0"/>
                        </a:rPr>
                        <a:t>và các vấn đề khá</a:t>
                      </a:r>
                      <a:r>
                        <a:rPr lang="en-US" sz="1100" dirty="0">
                          <a:latin typeface="Arial" pitchFamily="34" charset="0"/>
                          <a:cs typeface="Arial" pitchFamily="34" charset="0"/>
                        </a:rPr>
                        <a:t>c</a:t>
                      </a:r>
                      <a:r>
                        <a:rPr lang="vi-VN" sz="1100" dirty="0">
                          <a:latin typeface="Arial" pitchFamily="34" charset="0"/>
                          <a:cs typeface="Arial" pitchFamily="34" charset="0"/>
                        </a:rPr>
                        <a:t> không được bỏ qua.</a:t>
                      </a:r>
                      <a:endParaRPr lang="ko-KR" altLang="en-US" sz="1100" dirty="0">
                        <a:latin typeface="Arial" pitchFamily="34" charset="0"/>
                        <a:ea typeface="맑은 고딕" panose="020B0503020000020004" pitchFamily="50" charset="-127"/>
                        <a:cs typeface="Arial" pitchFamily="34" charset="0"/>
                      </a:endParaRPr>
                    </a:p>
                  </a:txBody>
                  <a:tcPr marL="16187" marR="16187" marT="8095" marB="8095" anchor="ctr"/>
                </a:tc>
                <a:extLst>
                  <a:ext uri="{0D108BD9-81ED-4DB2-BD59-A6C34878D82A}">
                    <a16:rowId xmlns:a16="http://schemas.microsoft.com/office/drawing/2014/main" val="10004"/>
                  </a:ext>
                </a:extLst>
              </a:tr>
            </a:tbl>
          </a:graphicData>
        </a:graphic>
      </p:graphicFrame>
      <p:sp>
        <p:nvSpPr>
          <p:cNvPr id="14369" name="TextBox 10"/>
          <p:cNvSpPr txBox="1">
            <a:spLocks noChangeArrowheads="1"/>
          </p:cNvSpPr>
          <p:nvPr/>
        </p:nvSpPr>
        <p:spPr bwMode="auto">
          <a:xfrm>
            <a:off x="8048625" y="1743075"/>
            <a:ext cx="320922"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a:latin typeface="Arial" pitchFamily="34" charset="0"/>
                <a:ea typeface="맑은 고딕" pitchFamily="50" charset="-127"/>
                <a:cs typeface="Arial" pitchFamily="34" charset="0"/>
              </a:rPr>
              <a:t>Y</a:t>
            </a:r>
            <a:endParaRPr lang="ko-KR" altLang="en-US" sz="1600" b="1" dirty="0">
              <a:latin typeface="Arial" pitchFamily="34" charset="0"/>
              <a:ea typeface="맑은 고딕" pitchFamily="50" charset="-127"/>
              <a:cs typeface="Arial" pitchFamily="34" charset="0"/>
            </a:endParaRPr>
          </a:p>
        </p:txBody>
      </p:sp>
      <p:cxnSp>
        <p:nvCxnSpPr>
          <p:cNvPr id="15" name="직선 연결선 14"/>
          <p:cNvCxnSpPr/>
          <p:nvPr/>
        </p:nvCxnSpPr>
        <p:spPr>
          <a:xfrm>
            <a:off x="8985250" y="2103438"/>
            <a:ext cx="503238" cy="0"/>
          </a:xfrm>
          <a:prstGeom prst="line">
            <a:avLst/>
          </a:prstGeom>
        </p:spPr>
        <p:style>
          <a:lnRef idx="1">
            <a:schemeClr val="accent1"/>
          </a:lnRef>
          <a:fillRef idx="0">
            <a:schemeClr val="accent1"/>
          </a:fillRef>
          <a:effectRef idx="0">
            <a:schemeClr val="accent1"/>
          </a:effectRef>
          <a:fontRef idx="minor">
            <a:schemeClr val="tx1"/>
          </a:fontRef>
        </p:style>
      </p:cxnSp>
      <p:sp>
        <p:nvSpPr>
          <p:cNvPr id="14371" name="TextBox 15"/>
          <p:cNvSpPr txBox="1">
            <a:spLocks noChangeArrowheads="1"/>
          </p:cNvSpPr>
          <p:nvPr/>
        </p:nvSpPr>
        <p:spPr bwMode="auto">
          <a:xfrm>
            <a:off x="8645525" y="2103438"/>
            <a:ext cx="12604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buFont typeface="Arial" pitchFamily="34" charset="0"/>
              <a:buChar char="•"/>
            </a:pPr>
            <a:r>
              <a:rPr lang="en-US" altLang="ko-KR" sz="1000" dirty="0">
                <a:latin typeface="Arial" pitchFamily="34" charset="0"/>
                <a:ea typeface="맑은 고딕" pitchFamily="50" charset="-127"/>
                <a:cs typeface="Arial" pitchFamily="34" charset="0"/>
              </a:rPr>
              <a:t>Random Cause</a:t>
            </a:r>
          </a:p>
          <a:p>
            <a:pPr eaLnBrk="1" hangingPunct="1">
              <a:buClr>
                <a:srgbClr val="C5003D"/>
              </a:buClr>
              <a:buFont typeface="Arial" pitchFamily="34" charset="0"/>
              <a:buChar char="•"/>
            </a:pPr>
            <a:r>
              <a:rPr lang="en-US" altLang="ko-KR" sz="1000" dirty="0">
                <a:latin typeface="Arial" pitchFamily="34" charset="0"/>
                <a:ea typeface="맑은 고딕" pitchFamily="50" charset="-127"/>
                <a:cs typeface="Arial" pitchFamily="34" charset="0"/>
              </a:rPr>
              <a:t>Abnormal Cause</a:t>
            </a:r>
            <a:endParaRPr lang="ko-KR" altLang="en-US" sz="1000" dirty="0">
              <a:latin typeface="Arial" pitchFamily="34" charset="0"/>
              <a:ea typeface="맑은 고딕" pitchFamily="50" charset="-127"/>
              <a:cs typeface="Arial" pitchFamily="34" charset="0"/>
            </a:endParaRPr>
          </a:p>
        </p:txBody>
      </p:sp>
      <p:sp>
        <p:nvSpPr>
          <p:cNvPr id="14372" name="TextBox 16"/>
          <p:cNvSpPr txBox="1">
            <a:spLocks noChangeArrowheads="1"/>
          </p:cNvSpPr>
          <p:nvPr/>
        </p:nvSpPr>
        <p:spPr bwMode="auto">
          <a:xfrm>
            <a:off x="8337550" y="1743075"/>
            <a:ext cx="1158074"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a:latin typeface="Arial" pitchFamily="34" charset="0"/>
                <a:ea typeface="맑은 고딕" pitchFamily="50" charset="-127"/>
                <a:cs typeface="Arial" pitchFamily="34" charset="0"/>
              </a:rPr>
              <a:t>=   f   (X’s)</a:t>
            </a:r>
            <a:endParaRPr lang="ko-KR" altLang="en-US" sz="1600" b="1" dirty="0">
              <a:latin typeface="Arial" pitchFamily="34" charset="0"/>
              <a:ea typeface="맑은 고딕" pitchFamily="50" charset="-127"/>
              <a:cs typeface="Arial" pitchFamily="34" charset="0"/>
            </a:endParaRPr>
          </a:p>
        </p:txBody>
      </p:sp>
      <p:cxnSp>
        <p:nvCxnSpPr>
          <p:cNvPr id="19" name="Shape 18"/>
          <p:cNvCxnSpPr>
            <a:stCxn id="14371" idx="1"/>
            <a:endCxn id="14369" idx="2"/>
          </p:cNvCxnSpPr>
          <p:nvPr/>
        </p:nvCxnSpPr>
        <p:spPr>
          <a:xfrm rot="10800000">
            <a:off x="8209087" y="2122153"/>
            <a:ext cx="436439" cy="181340"/>
          </a:xfrm>
          <a:prstGeom prst="bentConnector2">
            <a:avLst/>
          </a:prstGeom>
          <a:ln>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14374" name="TextBox 20"/>
          <p:cNvSpPr txBox="1">
            <a:spLocks noChangeArrowheads="1"/>
          </p:cNvSpPr>
          <p:nvPr/>
        </p:nvSpPr>
        <p:spPr bwMode="auto">
          <a:xfrm>
            <a:off x="7761288" y="1538288"/>
            <a:ext cx="14490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pPr>
            <a:r>
              <a:rPr lang="en-US" altLang="ko-KR" sz="1200" dirty="0">
                <a:latin typeface="Arial" pitchFamily="34" charset="0"/>
                <a:ea typeface="맑은 고딕" panose="020B0503020000020004" pitchFamily="50" charset="-127"/>
                <a:cs typeface="Arial" pitchFamily="34" charset="0"/>
              </a:rPr>
              <a:t>Outcome variance</a:t>
            </a:r>
            <a:endParaRPr lang="ko-KR" altLang="en-US" sz="1200" dirty="0">
              <a:latin typeface="Arial" pitchFamily="34" charset="0"/>
              <a:ea typeface="맑은 고딕" panose="020B0503020000020004" pitchFamily="50" charset="-127"/>
              <a:cs typeface="Arial" pitchFamily="34" charset="0"/>
            </a:endParaRPr>
          </a:p>
        </p:txBody>
      </p:sp>
      <p:sp>
        <p:nvSpPr>
          <p:cNvPr id="14375" name="TextBox 21"/>
          <p:cNvSpPr txBox="1">
            <a:spLocks noChangeArrowheads="1"/>
          </p:cNvSpPr>
          <p:nvPr/>
        </p:nvSpPr>
        <p:spPr bwMode="auto">
          <a:xfrm>
            <a:off x="7761288" y="2927350"/>
            <a:ext cx="2058987" cy="93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buFont typeface="Arial"/>
            </a:pPr>
            <a:r>
              <a:rPr lang="vi-VN" sz="1100" dirty="0">
                <a:latin typeface="Arial" pitchFamily="34" charset="0"/>
                <a:ea typeface="+mn-ea"/>
                <a:cs typeface="Arial" pitchFamily="34" charset="0"/>
              </a:rPr>
              <a:t>Các hoạt động chính trong </a:t>
            </a:r>
            <a:endParaRPr lang="en-US" sz="1100" dirty="0">
              <a:latin typeface="Arial" pitchFamily="34" charset="0"/>
              <a:ea typeface="+mn-ea"/>
              <a:cs typeface="Arial" pitchFamily="34" charset="0"/>
            </a:endParaRPr>
          </a:p>
          <a:p>
            <a:pPr eaLnBrk="1" hangingPunct="1">
              <a:buClr>
                <a:srgbClr val="C5003D"/>
              </a:buClr>
              <a:buFont typeface="Arial"/>
            </a:pPr>
            <a:r>
              <a:rPr lang="vi-VN" sz="1100" dirty="0">
                <a:latin typeface="Arial" pitchFamily="34" charset="0"/>
                <a:ea typeface="+mn-ea"/>
                <a:cs typeface="Arial" pitchFamily="34" charset="0"/>
              </a:rPr>
              <a:t>kiểm soát và cải tiến </a:t>
            </a:r>
            <a:r>
              <a:rPr lang="en-US" sz="1100" dirty="0" err="1">
                <a:latin typeface="Arial" pitchFamily="34" charset="0"/>
                <a:ea typeface="+mn-ea"/>
                <a:cs typeface="Arial" pitchFamily="34" charset="0"/>
              </a:rPr>
              <a:t>chất</a:t>
            </a:r>
            <a:r>
              <a:rPr lang="en-US" sz="1100" dirty="0">
                <a:latin typeface="Arial" pitchFamily="34" charset="0"/>
                <a:ea typeface="+mn-ea"/>
                <a:cs typeface="Arial" pitchFamily="34" charset="0"/>
              </a:rPr>
              <a:t> </a:t>
            </a:r>
          </a:p>
          <a:p>
            <a:pPr eaLnBrk="1" hangingPunct="1">
              <a:buClr>
                <a:srgbClr val="C5003D"/>
              </a:buClr>
              <a:buFont typeface="Arial"/>
            </a:pPr>
            <a:r>
              <a:rPr lang="en-US" sz="1100" dirty="0" err="1">
                <a:latin typeface="Arial" pitchFamily="34" charset="0"/>
                <a:ea typeface="+mn-ea"/>
                <a:cs typeface="Arial" pitchFamily="34" charset="0"/>
              </a:rPr>
              <a:t>lượng</a:t>
            </a:r>
            <a:r>
              <a:rPr lang="en-US" sz="1100" dirty="0">
                <a:latin typeface="Arial" pitchFamily="34" charset="0"/>
                <a:ea typeface="+mn-ea"/>
                <a:cs typeface="Arial" pitchFamily="34" charset="0"/>
              </a:rPr>
              <a:t> </a:t>
            </a:r>
            <a:r>
              <a:rPr lang="vi-VN" sz="1100" dirty="0">
                <a:latin typeface="Arial" pitchFamily="34" charset="0"/>
                <a:ea typeface="+mn-ea"/>
                <a:cs typeface="Arial" pitchFamily="34" charset="0"/>
              </a:rPr>
              <a:t>là phát hiện ra những</a:t>
            </a:r>
            <a:br>
              <a:rPr lang="en-US" sz="1100" dirty="0">
                <a:latin typeface="Arial" pitchFamily="34" charset="0"/>
                <a:ea typeface="+mn-ea"/>
                <a:cs typeface="Arial" pitchFamily="34" charset="0"/>
              </a:rPr>
            </a:br>
            <a:r>
              <a:rPr lang="vi-VN" sz="1100" dirty="0">
                <a:latin typeface="Arial" pitchFamily="34" charset="0"/>
                <a:ea typeface="+mn-ea"/>
                <a:cs typeface="Arial" pitchFamily="34" charset="0"/>
              </a:rPr>
              <a:t>nguyên nhân ngẫu nhiên và  nguyên nhân bất thường</a:t>
            </a:r>
            <a:endParaRPr lang="en-US" altLang="ko-KR" sz="1100" dirty="0">
              <a:latin typeface="Arial" pitchFamily="34" charset="0"/>
              <a:ea typeface="+mn-ea"/>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a:t>
            </a:fld>
            <a:endParaRPr lang="ko-KR" altLang="en-US" dirty="0">
              <a:latin typeface="Arial" pitchFamily="34" charset="0"/>
              <a:cs typeface="Arial" pitchFamily="34" charset="0"/>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7"/>
          <p:cNvSpPr>
            <a:spLocks noChangeArrowheads="1"/>
          </p:cNvSpPr>
          <p:nvPr/>
        </p:nvSpPr>
        <p:spPr bwMode="auto">
          <a:xfrm>
            <a:off x="69850" y="185708"/>
            <a:ext cx="6958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anose="020B0503020000020004" pitchFamily="50" charset="-127"/>
                <a:cs typeface="Arial" pitchFamily="34" charset="0"/>
              </a:rPr>
              <a:t>4. </a:t>
            </a:r>
            <a:r>
              <a:rPr lang="en-US" altLang="ko-KR" sz="2000" b="1" dirty="0" err="1">
                <a:latin typeface="Arial" pitchFamily="34" charset="0"/>
                <a:ea typeface="맑은 고딕" panose="020B0503020000020004" pitchFamily="50" charset="-127"/>
                <a:cs typeface="Arial" pitchFamily="34" charset="0"/>
              </a:rPr>
              <a:t>Khái</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niệm</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cơ</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bản</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về</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kiểm</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soát</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chất</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lượng</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thống</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kê</a:t>
            </a:r>
            <a:endParaRPr lang="ko-KR" altLang="en-US" sz="2000" b="1" dirty="0">
              <a:latin typeface="Arial" pitchFamily="34" charset="0"/>
              <a:ea typeface="맑은 고딕" panose="020B0503020000020004" pitchFamily="50" charset="-127"/>
              <a:cs typeface="Arial" pitchFamily="34" charset="0"/>
            </a:endParaRPr>
          </a:p>
        </p:txBody>
      </p:sp>
      <p:sp>
        <p:nvSpPr>
          <p:cNvPr id="15364" name="Rectangle 3"/>
          <p:cNvSpPr>
            <a:spLocks noChangeArrowheads="1"/>
          </p:cNvSpPr>
          <p:nvPr/>
        </p:nvSpPr>
        <p:spPr bwMode="auto">
          <a:xfrm>
            <a:off x="4664967" y="1920875"/>
            <a:ext cx="5111496" cy="739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latinLnBrk="0" hangingPunct="1"/>
            <a:r>
              <a:rPr lang="vi-VN" altLang="ko-KR" sz="1400" b="1" dirty="0">
                <a:latin typeface="Arial" pitchFamily="34" charset="0"/>
                <a:ea typeface="맑은 고딕" panose="020B0503020000020004" pitchFamily="50" charset="-127"/>
                <a:cs typeface="Arial" pitchFamily="34" charset="0"/>
              </a:rPr>
              <a:t>Quy tắc 1</a:t>
            </a:r>
            <a:r>
              <a:rPr lang="vi-VN" altLang="ko-KR" sz="1400" dirty="0">
                <a:latin typeface="Arial" pitchFamily="34" charset="0"/>
                <a:ea typeface="맑은 고딕" panose="020B0503020000020004" pitchFamily="50" charset="-127"/>
                <a:cs typeface="Arial" pitchFamily="34" charset="0"/>
              </a:rPr>
              <a:t>: Nếu </a:t>
            </a:r>
            <a:r>
              <a:rPr lang="en-US" altLang="ko-KR" sz="1400" dirty="0" err="1">
                <a:latin typeface="Arial" pitchFamily="34" charset="0"/>
                <a:ea typeface="맑은 고딕" panose="020B0503020000020004" pitchFamily="50" charset="-127"/>
                <a:cs typeface="Arial" pitchFamily="34" charset="0"/>
              </a:rPr>
              <a:t>dữ</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liệu</a:t>
            </a:r>
            <a:r>
              <a:rPr lang="en-US" altLang="ko-KR" sz="1400" dirty="0">
                <a:latin typeface="Arial" pitchFamily="34" charset="0"/>
                <a:ea typeface="맑은 고딕" panose="020B0503020000020004" pitchFamily="50" charset="-127"/>
                <a:cs typeface="Arial" pitchFamily="34" charset="0"/>
              </a:rPr>
              <a:t> </a:t>
            </a:r>
            <a:r>
              <a:rPr lang="vi-VN" altLang="ko-KR" sz="1400" dirty="0">
                <a:latin typeface="Arial" pitchFamily="34" charset="0"/>
                <a:ea typeface="맑은 고딕" panose="020B0503020000020004" pitchFamily="50" charset="-127"/>
                <a:cs typeface="Arial" pitchFamily="34" charset="0"/>
              </a:rPr>
              <a:t>đo lường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lần</a:t>
            </a:r>
            <a:r>
              <a:rPr lang="en-US" altLang="ko-KR" sz="1400" dirty="0">
                <a:latin typeface="Arial" pitchFamily="34" charset="0"/>
                <a:ea typeface="맑은 고딕" panose="020B0503020000020004" pitchFamily="50" charset="-127"/>
                <a:cs typeface="Arial" pitchFamily="34" charset="0"/>
              </a:rPr>
              <a:t> 1</a:t>
            </a:r>
            <a:r>
              <a:rPr lang="vi-VN"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nằm</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trong</a:t>
            </a:r>
            <a:r>
              <a:rPr lang="vi-VN"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vùng</a:t>
            </a:r>
            <a:r>
              <a:rPr lang="en-US" altLang="ko-KR" sz="1400" dirty="0">
                <a:latin typeface="Arial" pitchFamily="34" charset="0"/>
                <a:ea typeface="맑은 고딕" panose="020B0503020000020004" pitchFamily="50" charset="-127"/>
                <a:cs typeface="Arial" pitchFamily="34" charset="0"/>
              </a:rPr>
              <a:t> </a:t>
            </a:r>
            <a:r>
              <a:rPr lang="vi-VN" altLang="ko-KR" sz="1400" dirty="0">
                <a:latin typeface="Arial" pitchFamily="34" charset="0"/>
                <a:ea typeface="맑은 고딕" panose="020B0503020000020004" pitchFamily="50" charset="-127"/>
                <a:cs typeface="Arial" pitchFamily="34" charset="0"/>
              </a:rPr>
              <a:t>màu xanh</a:t>
            </a:r>
            <a:r>
              <a:rPr lang="en-US" altLang="ko-KR" sz="1400" dirty="0">
                <a:latin typeface="Arial" pitchFamily="34" charset="0"/>
                <a:ea typeface="맑은 고딕" panose="020B0503020000020004" pitchFamily="50" charset="-127"/>
                <a:cs typeface="Arial" pitchFamily="34" charset="0"/>
              </a:rPr>
              <a:t> </a:t>
            </a:r>
            <a:r>
              <a:rPr lang="vi-VN" altLang="ko-KR" sz="1400" dirty="0">
                <a:latin typeface="Arial" pitchFamily="34" charset="0"/>
                <a:ea typeface="맑은 고딕" panose="020B0503020000020004" pitchFamily="50" charset="-127"/>
                <a:cs typeface="Arial" pitchFamily="34" charset="0"/>
              </a:rPr>
              <a:t>lá cây</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thì</a:t>
            </a:r>
            <a:r>
              <a:rPr lang="en-US" altLang="ko-KR" sz="1400" dirty="0">
                <a:latin typeface="Arial" pitchFamily="34" charset="0"/>
                <a:ea typeface="맑은 고딕" panose="020B0503020000020004" pitchFamily="50" charset="-127"/>
                <a:cs typeface="Arial" pitchFamily="34" charset="0"/>
              </a:rPr>
              <a:t> </a:t>
            </a:r>
            <a:r>
              <a:rPr lang="vi-VN" altLang="ko-KR" sz="1400" dirty="0">
                <a:latin typeface="Arial" pitchFamily="34" charset="0"/>
                <a:ea typeface="맑은 고딕" panose="020B0503020000020004" pitchFamily="50" charset="-127"/>
                <a:cs typeface="Arial" pitchFamily="34" charset="0"/>
              </a:rPr>
              <a:t>không </a:t>
            </a:r>
            <a:r>
              <a:rPr lang="en-US" altLang="ko-KR" sz="1400" dirty="0" err="1">
                <a:latin typeface="Arial" pitchFamily="34" charset="0"/>
                <a:ea typeface="맑은 고딕" panose="020B0503020000020004" pitchFamily="50" charset="-127"/>
                <a:cs typeface="Arial" pitchFamily="34" charset="0"/>
              </a:rPr>
              <a:t>cần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thiết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phải</a:t>
            </a:r>
            <a:r>
              <a:rPr lang="en-US" altLang="ko-KR" sz="1400" dirty="0">
                <a:latin typeface="Arial" pitchFamily="34" charset="0"/>
                <a:ea typeface="맑은 고딕" panose="020B0503020000020004" pitchFamily="50" charset="-127"/>
                <a:cs typeface="Arial" pitchFamily="34" charset="0"/>
              </a:rPr>
              <a:t> </a:t>
            </a:r>
            <a:r>
              <a:rPr lang="vi-VN" altLang="ko-KR" sz="1400" dirty="0">
                <a:latin typeface="Arial" pitchFamily="34" charset="0"/>
                <a:ea typeface="맑은 고딕" panose="020B0503020000020004" pitchFamily="50" charset="-127"/>
                <a:cs typeface="Arial" pitchFamily="34" charset="0"/>
              </a:rPr>
              <a:t>có </a:t>
            </a:r>
            <a:r>
              <a:rPr lang="en-US" altLang="ko-KR" sz="1400" dirty="0" err="1">
                <a:latin typeface="Arial" pitchFamily="34" charset="0"/>
                <a:ea typeface="맑은 고딕" panose="020B0503020000020004" pitchFamily="50" charset="-127"/>
                <a:cs typeface="Arial" pitchFamily="34" charset="0"/>
              </a:rPr>
              <a:t>bất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cứ</a:t>
            </a:r>
            <a:r>
              <a:rPr lang="en-US" altLang="ko-KR" sz="1400" dirty="0">
                <a:latin typeface="Arial" pitchFamily="34" charset="0"/>
                <a:ea typeface="맑은 고딕" panose="020B0503020000020004" pitchFamily="50" charset="-127"/>
                <a:cs typeface="Arial" pitchFamily="34" charset="0"/>
              </a:rPr>
              <a:t> </a:t>
            </a:r>
            <a:r>
              <a:rPr lang="vi-VN" altLang="ko-KR" sz="1400" dirty="0">
                <a:latin typeface="Arial" pitchFamily="34" charset="0"/>
                <a:ea typeface="맑은 고딕" panose="020B0503020000020004" pitchFamily="50" charset="-127"/>
                <a:cs typeface="Arial" pitchFamily="34" charset="0"/>
              </a:rPr>
              <a:t>hành động </a:t>
            </a:r>
            <a:r>
              <a:rPr lang="en-US" altLang="ko-KR" sz="1400" dirty="0" err="1">
                <a:latin typeface="Arial" pitchFamily="34" charset="0"/>
                <a:ea typeface="맑은 고딕" panose="020B0503020000020004" pitchFamily="50" charset="-127"/>
                <a:cs typeface="Arial" pitchFamily="34" charset="0"/>
              </a:rPr>
              <a:t>nào</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khác</a:t>
            </a:r>
            <a:r>
              <a:rPr lang="en-US" altLang="ko-KR" sz="1400" dirty="0">
                <a:latin typeface="Arial" pitchFamily="34" charset="0"/>
                <a:ea typeface="맑은 고딕" panose="020B0503020000020004" pitchFamily="50" charset="-127"/>
                <a:cs typeface="Arial" pitchFamily="34" charset="0"/>
              </a:rPr>
              <a:t> </a:t>
            </a:r>
            <a:r>
              <a:rPr lang="vi-VN" altLang="ko-KR" sz="1400" dirty="0">
                <a:latin typeface="Arial" pitchFamily="34" charset="0"/>
                <a:ea typeface="맑은 고딕" panose="020B0503020000020004" pitchFamily="50" charset="-127"/>
                <a:cs typeface="Arial" pitchFamily="34" charset="0"/>
              </a:rPr>
              <a:t>(sản xuất có thể tiếp tục)</a:t>
            </a:r>
            <a:endParaRPr lang="en-US" altLang="ko-KR" sz="1400" dirty="0">
              <a:latin typeface="Arial" pitchFamily="34" charset="0"/>
              <a:ea typeface="맑은 고딕" panose="020B0503020000020004" pitchFamily="50" charset="-127"/>
              <a:cs typeface="Arial" pitchFamily="34" charset="0"/>
            </a:endParaRPr>
          </a:p>
        </p:txBody>
      </p:sp>
      <p:sp>
        <p:nvSpPr>
          <p:cNvPr id="15365" name="Rectangle 4"/>
          <p:cNvSpPr>
            <a:spLocks noChangeArrowheads="1"/>
          </p:cNvSpPr>
          <p:nvPr/>
        </p:nvSpPr>
        <p:spPr bwMode="auto">
          <a:xfrm>
            <a:off x="4664968" y="3108146"/>
            <a:ext cx="5112568" cy="1601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latinLnBrk="0" hangingPunct="1"/>
            <a:r>
              <a:rPr lang="en-US" altLang="ko-KR" sz="1400" b="1" dirty="0" err="1">
                <a:latin typeface="Arial" pitchFamily="34" charset="0"/>
                <a:ea typeface="맑은 고딕" panose="020B0503020000020004" pitchFamily="50" charset="-127"/>
                <a:cs typeface="Arial" pitchFamily="34" charset="0"/>
              </a:rPr>
              <a:t>Quy</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tắc</a:t>
            </a:r>
            <a:r>
              <a:rPr lang="en-US" altLang="ko-KR" sz="1400" b="1" dirty="0">
                <a:latin typeface="Arial" pitchFamily="34" charset="0"/>
                <a:ea typeface="맑은 고딕" panose="020B0503020000020004" pitchFamily="50" charset="-127"/>
                <a:cs typeface="Arial" pitchFamily="34" charset="0"/>
              </a:rPr>
              <a:t> 2</a:t>
            </a:r>
            <a:r>
              <a:rPr lang="en-US" altLang="ko-KR" sz="1400" dirty="0">
                <a:latin typeface="Arial" pitchFamily="34" charset="0"/>
                <a:ea typeface="맑은 고딕" panose="020B0503020000020004" pitchFamily="50" charset="-127"/>
                <a:cs typeface="Arial" pitchFamily="34" charset="0"/>
              </a:rPr>
              <a:t> : </a:t>
            </a:r>
            <a:r>
              <a:rPr lang="en-US" altLang="ko-KR" sz="1400" dirty="0" err="1">
                <a:latin typeface="Arial" pitchFamily="34" charset="0"/>
                <a:ea typeface="맑은 고딕" panose="020B0503020000020004" pitchFamily="50" charset="-127"/>
                <a:cs typeface="Arial" pitchFamily="34" charset="0"/>
              </a:rPr>
              <a:t>Nếu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phương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pháp</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đo</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lường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lần</a:t>
            </a:r>
            <a:r>
              <a:rPr lang="en-US" altLang="ko-KR" sz="1400" dirty="0">
                <a:latin typeface="Arial" pitchFamily="34" charset="0"/>
                <a:ea typeface="맑은 고딕" panose="020B0503020000020004" pitchFamily="50" charset="-127"/>
                <a:cs typeface="Arial" pitchFamily="34" charset="0"/>
              </a:rPr>
              <a:t> 1 </a:t>
            </a:r>
            <a:r>
              <a:rPr lang="en-US" altLang="ko-KR" sz="1400" dirty="0" err="1">
                <a:latin typeface="Arial" pitchFamily="34" charset="0"/>
                <a:ea typeface="맑은 고딕" panose="020B0503020000020004" pitchFamily="50" charset="-127"/>
                <a:cs typeface="Arial" pitchFamily="34" charset="0"/>
              </a:rPr>
              <a:t>nằm</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trong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vùng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màu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vàng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còn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thứ</a:t>
            </a:r>
            <a:r>
              <a:rPr lang="en-US" altLang="ko-KR" sz="1400" dirty="0">
                <a:latin typeface="Arial" pitchFamily="34" charset="0"/>
                <a:ea typeface="맑은 고딕" panose="020B0503020000020004" pitchFamily="50" charset="-127"/>
                <a:cs typeface="Arial" pitchFamily="34" charset="0"/>
              </a:rPr>
              <a:t> 2 </a:t>
            </a:r>
            <a:r>
              <a:rPr lang="en-US" altLang="ko-KR" sz="1400" dirty="0" err="1">
                <a:latin typeface="Arial" pitchFamily="34" charset="0"/>
                <a:ea typeface="맑은 고딕" panose="020B0503020000020004" pitchFamily="50" charset="-127"/>
                <a:cs typeface="Arial" pitchFamily="34" charset="0"/>
              </a:rPr>
              <a:t>nằm</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trong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vùng</a:t>
            </a:r>
            <a:r>
              <a:rPr lang="en-US" altLang="ko-KR" sz="1400" dirty="0">
                <a:latin typeface="Arial" pitchFamily="34" charset="0"/>
                <a:ea typeface="맑은 고딕" panose="020B0503020000020004" pitchFamily="50" charset="-127"/>
                <a:cs typeface="Arial" pitchFamily="34" charset="0"/>
              </a:rPr>
              <a:t>:</a:t>
            </a:r>
          </a:p>
          <a:p>
            <a:pPr marL="342900" indent="-342900" algn="just" eaLnBrk="1" latinLnBrk="0" hangingPunct="1">
              <a:buAutoNum type="arabicParenR"/>
            </a:pPr>
            <a:r>
              <a:rPr lang="en-US" altLang="ko-KR" sz="1400" dirty="0" err="1">
                <a:latin typeface="Arial" pitchFamily="34" charset="0"/>
                <a:ea typeface="맑은 고딕" panose="020B0503020000020004" pitchFamily="50" charset="-127"/>
                <a:cs typeface="Arial" pitchFamily="34" charset="0"/>
              </a:rPr>
              <a:t>Xanh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không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có</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vấn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đề</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gì</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cả</a:t>
            </a:r>
            <a:r>
              <a:rPr lang="en-US" altLang="ko-KR" sz="1400" dirty="0">
                <a:latin typeface="Arial" pitchFamily="34" charset="0"/>
                <a:ea typeface="맑은 고딕" panose="020B0503020000020004" pitchFamily="50" charset="-127"/>
                <a:cs typeface="Arial" pitchFamily="34" charset="0"/>
              </a:rPr>
              <a:t>.</a:t>
            </a:r>
          </a:p>
          <a:p>
            <a:pPr marL="342900" indent="-342900" algn="just" eaLnBrk="1" latinLnBrk="0" hangingPunct="1">
              <a:buAutoNum type="arabicParenR"/>
            </a:pPr>
            <a:r>
              <a:rPr lang="en-US" altLang="ko-KR" sz="1400" dirty="0" err="1">
                <a:latin typeface="Arial" pitchFamily="34" charset="0"/>
                <a:ea typeface="맑은 고딕" panose="020B0503020000020004" pitchFamily="50" charset="-127"/>
                <a:cs typeface="Arial" pitchFamily="34" charset="0"/>
              </a:rPr>
              <a:t>Vàng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nếu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vùng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màu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vàng</a:t>
            </a:r>
            <a:r>
              <a:rPr lang="en-US" altLang="ko-KR" sz="1400" dirty="0">
                <a:latin typeface="Arial" pitchFamily="34" charset="0"/>
                <a:ea typeface="맑은 고딕" panose="020B0503020000020004" pitchFamily="50" charset="-127"/>
                <a:cs typeface="Arial" pitchFamily="34" charset="0"/>
              </a:rPr>
              <a:t> ở </a:t>
            </a:r>
            <a:r>
              <a:rPr lang="en-US" altLang="ko-KR" sz="1400" dirty="0" err="1">
                <a:latin typeface="Arial" pitchFamily="34" charset="0"/>
                <a:ea typeface="맑은 고딕" panose="020B0503020000020004" pitchFamily="50" charset="-127"/>
                <a:cs typeface="Arial" pitchFamily="34" charset="0"/>
              </a:rPr>
              <a:t>cùng</a:t>
            </a:r>
            <a:r>
              <a:rPr lang="en-US" altLang="ko-KR" sz="1400" dirty="0">
                <a:latin typeface="Arial" pitchFamily="34" charset="0"/>
                <a:ea typeface="맑은 고딕" panose="020B0503020000020004" pitchFamily="50" charset="-127"/>
                <a:cs typeface="Arial" pitchFamily="34" charset="0"/>
              </a:rPr>
              <a:t> 1 </a:t>
            </a:r>
            <a:r>
              <a:rPr lang="en-US" altLang="ko-KR" sz="1400" dirty="0" err="1">
                <a:latin typeface="Arial" pitchFamily="34" charset="0"/>
                <a:ea typeface="맑은 고딕" panose="020B0503020000020004" pitchFamily="50" charset="-127"/>
                <a:cs typeface="Arial" pitchFamily="34" charset="0"/>
              </a:rPr>
              <a:t>bên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với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dữ</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liệu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lần</a:t>
            </a:r>
            <a:r>
              <a:rPr lang="en-US" altLang="ko-KR" sz="1400" dirty="0">
                <a:latin typeface="Arial" pitchFamily="34" charset="0"/>
                <a:ea typeface="맑은 고딕" panose="020B0503020000020004" pitchFamily="50" charset="-127"/>
                <a:cs typeface="Arial" pitchFamily="34" charset="0"/>
              </a:rPr>
              <a:t> 1 </a:t>
            </a:r>
            <a:r>
              <a:rPr lang="en-US" altLang="ko-KR" sz="1400" dirty="0" err="1">
                <a:latin typeface="Arial" pitchFamily="34" charset="0"/>
                <a:ea typeface="맑은 고딕" panose="020B0503020000020004" pitchFamily="50" charset="-127"/>
                <a:cs typeface="Arial" pitchFamily="34" charset="0"/>
              </a:rPr>
              <a:t>thì</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có</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sự</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đánh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giá</a:t>
            </a:r>
            <a:r>
              <a:rPr lang="en-US" altLang="ko-KR" sz="1400" dirty="0">
                <a:latin typeface="Arial" pitchFamily="34" charset="0"/>
                <a:ea typeface="맑은 고딕" panose="020B0503020000020004" pitchFamily="50" charset="-127"/>
                <a:cs typeface="Arial" pitchFamily="34" charset="0"/>
              </a:rPr>
              <a:t>.</a:t>
            </a:r>
          </a:p>
          <a:p>
            <a:pPr marL="342900" indent="-342900" algn="just" eaLnBrk="1" latinLnBrk="0" hangingPunct="1">
              <a:buAutoNum type="arabicParenR" startAt="3"/>
            </a:pPr>
            <a:r>
              <a:rPr lang="en-US" altLang="ko-KR" sz="1400" dirty="0" err="1">
                <a:latin typeface="Arial" pitchFamily="34" charset="0"/>
                <a:ea typeface="맑은 고딕" panose="020B0503020000020004" pitchFamily="50" charset="-127"/>
                <a:cs typeface="Arial" pitchFamily="34" charset="0"/>
              </a:rPr>
              <a:t>Vàng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nếu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vùng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màu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vàng</a:t>
            </a:r>
            <a:r>
              <a:rPr lang="en-US" altLang="ko-KR" sz="1400" dirty="0">
                <a:latin typeface="Arial" pitchFamily="34" charset="0"/>
                <a:ea typeface="맑은 고딕" panose="020B0503020000020004" pitchFamily="50" charset="-127"/>
                <a:cs typeface="Arial" pitchFamily="34" charset="0"/>
              </a:rPr>
              <a:t> ở </a:t>
            </a:r>
            <a:r>
              <a:rPr lang="en-US" altLang="ko-KR" sz="1400" dirty="0" err="1">
                <a:latin typeface="Arial" pitchFamily="34" charset="0"/>
                <a:ea typeface="맑은 고딕" panose="020B0503020000020004" pitchFamily="50" charset="-127"/>
                <a:cs typeface="Arial" pitchFamily="34" charset="0"/>
              </a:rPr>
              <a:t>phía</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đối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diện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nó</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sẽ</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được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coi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là</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bất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thường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và</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có</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hành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động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ngay</a:t>
            </a:r>
            <a:r>
              <a:rPr lang="en-US" altLang="ko-KR" sz="1400" dirty="0">
                <a:latin typeface="Arial" pitchFamily="34" charset="0"/>
                <a:ea typeface="맑은 고딕" panose="020B0503020000020004" pitchFamily="50" charset="-127"/>
                <a:cs typeface="Arial" pitchFamily="34" charset="0"/>
              </a:rPr>
              <a:t>.</a:t>
            </a:r>
          </a:p>
        </p:txBody>
      </p:sp>
      <p:sp>
        <p:nvSpPr>
          <p:cNvPr id="15366" name="Rectangle 5"/>
          <p:cNvSpPr>
            <a:spLocks noChangeArrowheads="1"/>
          </p:cNvSpPr>
          <p:nvPr/>
        </p:nvSpPr>
        <p:spPr bwMode="auto">
          <a:xfrm>
            <a:off x="4664968" y="5157192"/>
            <a:ext cx="5111496" cy="5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latinLnBrk="0" hangingPunct="1"/>
            <a:r>
              <a:rPr lang="en-US" altLang="ko-KR" sz="1400" b="1" dirty="0" err="1">
                <a:latin typeface="Arial" pitchFamily="34" charset="0"/>
                <a:ea typeface="맑은 고딕" panose="020B0503020000020004" pitchFamily="50" charset="-127"/>
                <a:cs typeface="Arial" pitchFamily="34" charset="0"/>
              </a:rPr>
              <a:t>Quy</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tắc</a:t>
            </a:r>
            <a:r>
              <a:rPr lang="en-US" altLang="ko-KR" sz="1400" b="1" dirty="0">
                <a:latin typeface="Arial" pitchFamily="34" charset="0"/>
                <a:ea typeface="맑은 고딕" panose="020B0503020000020004" pitchFamily="50" charset="-127"/>
                <a:cs typeface="Arial" pitchFamily="34" charset="0"/>
              </a:rPr>
              <a:t> 3 </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Dừng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sản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xuất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nếu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dữ</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liệu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nằm</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trong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vùng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màu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đỏ</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và</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tìm</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nguyên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nhân</a:t>
            </a:r>
            <a:r>
              <a:rPr lang="en-US" altLang="ko-KR" sz="1400" dirty="0">
                <a:latin typeface="Arial" pitchFamily="34" charset="0"/>
                <a:ea typeface="맑은 고딕" panose="020B0503020000020004" pitchFamily="50" charset="-127"/>
                <a:cs typeface="Arial" pitchFamily="34" charset="0"/>
              </a:rPr>
              <a:t>.</a:t>
            </a:r>
            <a:endParaRPr lang="ko-KR" altLang="en-US" sz="1400" dirty="0">
              <a:latin typeface="Arial" pitchFamily="34" charset="0"/>
              <a:ea typeface="맑은 고딕" panose="020B0503020000020004"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21</a:t>
            </a:fld>
            <a:endParaRPr lang="ko-KR" altLang="en-US" dirty="0">
              <a:latin typeface="Arial" pitchFamily="34" charset="0"/>
              <a:cs typeface="Arial" pitchFamily="34" charset="0"/>
            </a:endParaRPr>
          </a:p>
        </p:txBody>
      </p:sp>
      <p:pic>
        <p:nvPicPr>
          <p:cNvPr id="39937" name="Picture 2" descr="image00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72480" y="2132856"/>
            <a:ext cx="4203711" cy="2880320"/>
          </a:xfrm>
          <a:prstGeom prst="rect">
            <a:avLst/>
          </a:prstGeom>
          <a:noFill/>
          <a:ln w="9525">
            <a:noFill/>
            <a:miter lim="800000"/>
            <a:headEnd/>
            <a:tailEnd/>
          </a:ln>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7" name="Freeform 37"/>
          <p:cNvSpPr>
            <a:spLocks/>
          </p:cNvSpPr>
          <p:nvPr/>
        </p:nvSpPr>
        <p:spPr bwMode="auto">
          <a:xfrm>
            <a:off x="1784350" y="2852738"/>
            <a:ext cx="2260600" cy="2087562"/>
          </a:xfrm>
          <a:custGeom>
            <a:avLst/>
            <a:gdLst>
              <a:gd name="T0" fmla="*/ 0 w 1315"/>
              <a:gd name="T1" fmla="*/ 0 h 1315"/>
              <a:gd name="T2" fmla="*/ 2147483647 w 1315"/>
              <a:gd name="T3" fmla="*/ 0 h 1315"/>
              <a:gd name="T4" fmla="*/ 2147483647 w 1315"/>
              <a:gd name="T5" fmla="*/ 2147483647 h 1315"/>
              <a:gd name="T6" fmla="*/ 2147483647 w 1315"/>
              <a:gd name="T7" fmla="*/ 2147483647 h 1315"/>
              <a:gd name="T8" fmla="*/ 2147483647 w 1315"/>
              <a:gd name="T9" fmla="*/ 2147483647 h 1315"/>
              <a:gd name="T10" fmla="*/ 0 w 1315"/>
              <a:gd name="T11" fmla="*/ 2147483647 h 1315"/>
              <a:gd name="T12" fmla="*/ 0 w 1315"/>
              <a:gd name="T13" fmla="*/ 0 h 1315"/>
              <a:gd name="T14" fmla="*/ 0 60000 65536"/>
              <a:gd name="T15" fmla="*/ 0 60000 65536"/>
              <a:gd name="T16" fmla="*/ 0 60000 65536"/>
              <a:gd name="T17" fmla="*/ 0 60000 65536"/>
              <a:gd name="T18" fmla="*/ 0 60000 65536"/>
              <a:gd name="T19" fmla="*/ 0 60000 65536"/>
              <a:gd name="T20" fmla="*/ 0 60000 65536"/>
              <a:gd name="T21" fmla="*/ 0 w 1315"/>
              <a:gd name="T22" fmla="*/ 0 h 1315"/>
              <a:gd name="T23" fmla="*/ 1315 w 1315"/>
              <a:gd name="T24" fmla="*/ 1315 h 13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5" h="1315">
                <a:moveTo>
                  <a:pt x="0" y="0"/>
                </a:moveTo>
                <a:lnTo>
                  <a:pt x="1315" y="0"/>
                </a:lnTo>
                <a:lnTo>
                  <a:pt x="1315" y="1315"/>
                </a:lnTo>
                <a:lnTo>
                  <a:pt x="453" y="1315"/>
                </a:lnTo>
                <a:lnTo>
                  <a:pt x="453" y="499"/>
                </a:lnTo>
                <a:lnTo>
                  <a:pt x="0" y="499"/>
                </a:lnTo>
                <a:lnTo>
                  <a:pt x="0" y="0"/>
                </a:lnTo>
                <a:close/>
              </a:path>
            </a:pathLst>
          </a:custGeom>
          <a:solidFill>
            <a:srgbClr val="CCFFCC"/>
          </a:solidFill>
          <a:ln w="3175" cap="flat" cmpd="sng">
            <a:solidFill>
              <a:srgbClr val="004A48"/>
            </a:solidFill>
            <a:prstDash val="solid"/>
            <a:round/>
            <a:headEnd/>
            <a:tailEnd/>
          </a:ln>
        </p:spPr>
        <p:txBody>
          <a:bodyPr wrap="none" lIns="90000" tIns="46800" rIns="90000" bIns="46800" anchor="ctr"/>
          <a:lstStyle/>
          <a:p>
            <a:endParaRPr lang="ko-KR" altLang="en-US">
              <a:latin typeface="Arial" pitchFamily="34" charset="0"/>
              <a:ea typeface="맑은 고딕" panose="020B0503020000020004" pitchFamily="50" charset="-127"/>
              <a:cs typeface="Arial" pitchFamily="34" charset="0"/>
            </a:endParaRPr>
          </a:p>
        </p:txBody>
      </p:sp>
      <p:sp>
        <p:nvSpPr>
          <p:cNvPr id="16386" name="Rectangle 7"/>
          <p:cNvSpPr>
            <a:spLocks noChangeArrowheads="1"/>
          </p:cNvSpPr>
          <p:nvPr/>
        </p:nvSpPr>
        <p:spPr bwMode="auto">
          <a:xfrm>
            <a:off x="69850" y="185708"/>
            <a:ext cx="4527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anose="020B0503020000020004" pitchFamily="50" charset="-127"/>
                <a:cs typeface="Arial" pitchFamily="34" charset="0"/>
              </a:rPr>
              <a:t>5. </a:t>
            </a:r>
            <a:r>
              <a:rPr lang="en-US" altLang="ko-KR" sz="2000" b="1" dirty="0" err="1">
                <a:latin typeface="Arial" pitchFamily="34" charset="0"/>
                <a:ea typeface="맑은 고딕" panose="020B0503020000020004" pitchFamily="50" charset="-127"/>
                <a:cs typeface="Arial" pitchFamily="34" charset="0"/>
              </a:rPr>
              <a:t>Khái</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niệm</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về</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cải</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tiến</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chất</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lượng</a:t>
            </a:r>
            <a:endParaRPr lang="ko-KR" altLang="en-US" sz="2000" b="1" dirty="0">
              <a:latin typeface="Arial" pitchFamily="34" charset="0"/>
              <a:ea typeface="맑은 고딕" panose="020B0503020000020004" pitchFamily="50" charset="-127"/>
              <a:cs typeface="Arial" pitchFamily="34" charset="0"/>
            </a:endParaRPr>
          </a:p>
        </p:txBody>
      </p:sp>
      <p:sp>
        <p:nvSpPr>
          <p:cNvPr id="16387" name="Text Box 2483"/>
          <p:cNvSpPr txBox="1">
            <a:spLocks noChangeArrowheads="1"/>
          </p:cNvSpPr>
          <p:nvPr/>
        </p:nvSpPr>
        <p:spPr bwMode="auto">
          <a:xfrm>
            <a:off x="6414203" y="1219113"/>
            <a:ext cx="260609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buFont typeface="Arial" pitchFamily="34" charset="0"/>
              <a:buChar char="•"/>
            </a:pPr>
            <a:r>
              <a:rPr lang="en-US" altLang="ko-KR" sz="1200" dirty="0">
                <a:latin typeface="Arial" pitchFamily="34" charset="0"/>
                <a:ea typeface="맑은 고딕" panose="020B0503020000020004" pitchFamily="50" charset="-127"/>
                <a:cs typeface="Arial" pitchFamily="34" charset="0"/>
              </a:rPr>
              <a:t> </a:t>
            </a:r>
            <a:r>
              <a:rPr lang="vi-VN" sz="1200" dirty="0">
                <a:latin typeface="Arial" pitchFamily="34" charset="0"/>
                <a:cs typeface="Arial" pitchFamily="34" charset="0"/>
              </a:rPr>
              <a:t>Tăng cường khả năng xử lý của Y</a:t>
            </a:r>
            <a:br>
              <a:rPr lang="vi-VN" sz="1200" dirty="0">
                <a:latin typeface="Arial" pitchFamily="34" charset="0"/>
                <a:cs typeface="Arial" pitchFamily="34" charset="0"/>
              </a:rPr>
            </a:br>
            <a:r>
              <a:rPr lang="vi-VN" sz="1200" dirty="0">
                <a:latin typeface="Arial" pitchFamily="34" charset="0"/>
                <a:cs typeface="Arial" pitchFamily="34" charset="0"/>
              </a:rPr>
              <a:t>thông qua các cải tiến cho X</a:t>
            </a:r>
            <a:endParaRPr lang="ko-KR" altLang="en-US" sz="1200" dirty="0">
              <a:latin typeface="Arial" pitchFamily="34" charset="0"/>
              <a:ea typeface="맑은 고딕" panose="020B0503020000020004" pitchFamily="50" charset="-127"/>
              <a:cs typeface="Arial" pitchFamily="34" charset="0"/>
            </a:endParaRPr>
          </a:p>
        </p:txBody>
      </p:sp>
      <p:grpSp>
        <p:nvGrpSpPr>
          <p:cNvPr id="16388" name="Group 3318"/>
          <p:cNvGrpSpPr>
            <a:grpSpLocks/>
          </p:cNvGrpSpPr>
          <p:nvPr/>
        </p:nvGrpSpPr>
        <p:grpSpPr bwMode="auto">
          <a:xfrm rot="16200000" flipH="1">
            <a:off x="5952331" y="2787685"/>
            <a:ext cx="1362075" cy="239712"/>
            <a:chOff x="1249" y="1728"/>
            <a:chExt cx="1825" cy="961"/>
          </a:xfrm>
        </p:grpSpPr>
        <p:sp>
          <p:nvSpPr>
            <p:cNvPr id="19899" name="Line 3319"/>
            <p:cNvSpPr>
              <a:spLocks noChangeShapeType="1"/>
            </p:cNvSpPr>
            <p:nvPr/>
          </p:nvSpPr>
          <p:spPr bwMode="auto">
            <a:xfrm>
              <a:off x="3031"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0" name="Freeform 3320"/>
            <p:cNvSpPr>
              <a:spLocks/>
            </p:cNvSpPr>
            <p:nvPr/>
          </p:nvSpPr>
          <p:spPr bwMode="auto">
            <a:xfrm>
              <a:off x="3031" y="2661"/>
              <a:ext cx="43" cy="28"/>
            </a:xfrm>
            <a:custGeom>
              <a:avLst/>
              <a:gdLst>
                <a:gd name="T0" fmla="*/ 0 w 43"/>
                <a:gd name="T1" fmla="*/ 27 h 28"/>
                <a:gd name="T2" fmla="*/ 42 w 43"/>
                <a:gd name="T3" fmla="*/ 0 h 28"/>
                <a:gd name="T4" fmla="*/ 42 w 43"/>
                <a:gd name="T5" fmla="*/ 27 h 28"/>
                <a:gd name="T6" fmla="*/ 0 w 43"/>
                <a:gd name="T7" fmla="*/ 27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27"/>
                  </a:moveTo>
                  <a:lnTo>
                    <a:pt x="42" y="0"/>
                  </a:lnTo>
                  <a:lnTo>
                    <a:pt x="42"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1" name="Freeform 3321"/>
            <p:cNvSpPr>
              <a:spLocks/>
            </p:cNvSpPr>
            <p:nvPr/>
          </p:nvSpPr>
          <p:spPr bwMode="auto">
            <a:xfrm>
              <a:off x="3031" y="2661"/>
              <a:ext cx="43" cy="28"/>
            </a:xfrm>
            <a:custGeom>
              <a:avLst/>
              <a:gdLst>
                <a:gd name="T0" fmla="*/ 0 w 43"/>
                <a:gd name="T1" fmla="*/ 0 h 28"/>
                <a:gd name="T2" fmla="*/ 42 w 43"/>
                <a:gd name="T3" fmla="*/ 0 h 28"/>
                <a:gd name="T4" fmla="*/ 0 w 43"/>
                <a:gd name="T5" fmla="*/ 27 h 28"/>
                <a:gd name="T6" fmla="*/ 0 w 43"/>
                <a:gd name="T7" fmla="*/ 0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0"/>
                  </a:moveTo>
                  <a:lnTo>
                    <a:pt x="42"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2" name="Freeform 3322"/>
            <p:cNvSpPr>
              <a:spLocks/>
            </p:cNvSpPr>
            <p:nvPr/>
          </p:nvSpPr>
          <p:spPr bwMode="auto">
            <a:xfrm>
              <a:off x="3031" y="2661"/>
              <a:ext cx="43" cy="28"/>
            </a:xfrm>
            <a:custGeom>
              <a:avLst/>
              <a:gdLst>
                <a:gd name="T0" fmla="*/ 0 w 43"/>
                <a:gd name="T1" fmla="*/ 27 h 28"/>
                <a:gd name="T2" fmla="*/ 42 w 43"/>
                <a:gd name="T3" fmla="*/ 27 h 28"/>
                <a:gd name="T4" fmla="*/ 42 w 43"/>
                <a:gd name="T5" fmla="*/ 0 h 28"/>
                <a:gd name="T6" fmla="*/ 0 w 43"/>
                <a:gd name="T7" fmla="*/ 0 h 28"/>
                <a:gd name="T8" fmla="*/ 0 w 43"/>
                <a:gd name="T9" fmla="*/ 27 h 28"/>
                <a:gd name="T10" fmla="*/ 0 w 43"/>
                <a:gd name="T11" fmla="*/ 27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0" y="27"/>
                  </a:moveTo>
                  <a:lnTo>
                    <a:pt x="42" y="27"/>
                  </a:lnTo>
                  <a:lnTo>
                    <a:pt x="42"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3" name="Line 3323"/>
            <p:cNvSpPr>
              <a:spLocks noChangeShapeType="1"/>
            </p:cNvSpPr>
            <p:nvPr/>
          </p:nvSpPr>
          <p:spPr bwMode="auto">
            <a:xfrm>
              <a:off x="2993"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4" name="Freeform 3324"/>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5" name="Line 3325"/>
            <p:cNvSpPr>
              <a:spLocks noChangeShapeType="1"/>
            </p:cNvSpPr>
            <p:nvPr/>
          </p:nvSpPr>
          <p:spPr bwMode="auto">
            <a:xfrm>
              <a:off x="2993"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6" name="Freeform 3326"/>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7" name="Line 3327"/>
            <p:cNvSpPr>
              <a:spLocks noChangeShapeType="1"/>
            </p:cNvSpPr>
            <p:nvPr/>
          </p:nvSpPr>
          <p:spPr bwMode="auto">
            <a:xfrm>
              <a:off x="2949" y="2669"/>
              <a:ext cx="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8" name="Freeform 3328"/>
            <p:cNvSpPr>
              <a:spLocks/>
            </p:cNvSpPr>
            <p:nvPr/>
          </p:nvSpPr>
          <p:spPr bwMode="auto">
            <a:xfrm>
              <a:off x="2949" y="2661"/>
              <a:ext cx="45" cy="28"/>
            </a:xfrm>
            <a:custGeom>
              <a:avLst/>
              <a:gdLst>
                <a:gd name="T0" fmla="*/ 0 w 45"/>
                <a:gd name="T1" fmla="*/ 27 h 28"/>
                <a:gd name="T2" fmla="*/ 44 w 45"/>
                <a:gd name="T3" fmla="*/ 0 h 28"/>
                <a:gd name="T4" fmla="*/ 44 w 45"/>
                <a:gd name="T5" fmla="*/ 27 h 28"/>
                <a:gd name="T6" fmla="*/ 0 w 45"/>
                <a:gd name="T7" fmla="*/ 27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27"/>
                  </a:moveTo>
                  <a:lnTo>
                    <a:pt x="44" y="0"/>
                  </a:lnTo>
                  <a:lnTo>
                    <a:pt x="44"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09" name="Freeform 3329"/>
            <p:cNvSpPr>
              <a:spLocks/>
            </p:cNvSpPr>
            <p:nvPr/>
          </p:nvSpPr>
          <p:spPr bwMode="auto">
            <a:xfrm>
              <a:off x="2949" y="2661"/>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0" name="Freeform 3330"/>
            <p:cNvSpPr>
              <a:spLocks/>
            </p:cNvSpPr>
            <p:nvPr/>
          </p:nvSpPr>
          <p:spPr bwMode="auto">
            <a:xfrm>
              <a:off x="2949" y="2661"/>
              <a:ext cx="45" cy="28"/>
            </a:xfrm>
            <a:custGeom>
              <a:avLst/>
              <a:gdLst>
                <a:gd name="T0" fmla="*/ 0 w 45"/>
                <a:gd name="T1" fmla="*/ 27 h 28"/>
                <a:gd name="T2" fmla="*/ 44 w 45"/>
                <a:gd name="T3" fmla="*/ 27 h 28"/>
                <a:gd name="T4" fmla="*/ 44 w 45"/>
                <a:gd name="T5" fmla="*/ 0 h 28"/>
                <a:gd name="T6" fmla="*/ 0 w 45"/>
                <a:gd name="T7" fmla="*/ 0 h 28"/>
                <a:gd name="T8" fmla="*/ 0 w 45"/>
                <a:gd name="T9" fmla="*/ 27 h 28"/>
                <a:gd name="T10" fmla="*/ 0 w 45"/>
                <a:gd name="T11" fmla="*/ 27 h 28"/>
                <a:gd name="T12" fmla="*/ 0 60000 65536"/>
                <a:gd name="T13" fmla="*/ 0 60000 65536"/>
                <a:gd name="T14" fmla="*/ 0 60000 65536"/>
                <a:gd name="T15" fmla="*/ 0 60000 65536"/>
                <a:gd name="T16" fmla="*/ 0 60000 65536"/>
                <a:gd name="T17" fmla="*/ 0 60000 65536"/>
                <a:gd name="T18" fmla="*/ 0 w 45"/>
                <a:gd name="T19" fmla="*/ 0 h 28"/>
                <a:gd name="T20" fmla="*/ 45 w 4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5" h="28">
                  <a:moveTo>
                    <a:pt x="0" y="27"/>
                  </a:moveTo>
                  <a:lnTo>
                    <a:pt x="44" y="27"/>
                  </a:lnTo>
                  <a:lnTo>
                    <a:pt x="44"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1" name="Line 3331"/>
            <p:cNvSpPr>
              <a:spLocks noChangeShapeType="1"/>
            </p:cNvSpPr>
            <p:nvPr/>
          </p:nvSpPr>
          <p:spPr bwMode="auto">
            <a:xfrm>
              <a:off x="2910" y="2669"/>
              <a:ext cx="3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2" name="Freeform 3332"/>
            <p:cNvSpPr>
              <a:spLocks/>
            </p:cNvSpPr>
            <p:nvPr/>
          </p:nvSpPr>
          <p:spPr bwMode="auto">
            <a:xfrm>
              <a:off x="2910" y="2661"/>
              <a:ext cx="40" cy="28"/>
            </a:xfrm>
            <a:custGeom>
              <a:avLst/>
              <a:gdLst>
                <a:gd name="T0" fmla="*/ 0 w 40"/>
                <a:gd name="T1" fmla="*/ 27 h 28"/>
                <a:gd name="T2" fmla="*/ 39 w 40"/>
                <a:gd name="T3" fmla="*/ 0 h 28"/>
                <a:gd name="T4" fmla="*/ 39 w 40"/>
                <a:gd name="T5" fmla="*/ 27 h 28"/>
                <a:gd name="T6" fmla="*/ 0 w 40"/>
                <a:gd name="T7" fmla="*/ 27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27"/>
                  </a:moveTo>
                  <a:lnTo>
                    <a:pt x="39" y="0"/>
                  </a:lnTo>
                  <a:lnTo>
                    <a:pt x="39"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3" name="Freeform 3333"/>
            <p:cNvSpPr>
              <a:spLocks/>
            </p:cNvSpPr>
            <p:nvPr/>
          </p:nvSpPr>
          <p:spPr bwMode="auto">
            <a:xfrm>
              <a:off x="2910" y="2661"/>
              <a:ext cx="40" cy="28"/>
            </a:xfrm>
            <a:custGeom>
              <a:avLst/>
              <a:gdLst>
                <a:gd name="T0" fmla="*/ 0 w 40"/>
                <a:gd name="T1" fmla="*/ 0 h 28"/>
                <a:gd name="T2" fmla="*/ 39 w 40"/>
                <a:gd name="T3" fmla="*/ 0 h 28"/>
                <a:gd name="T4" fmla="*/ 0 w 40"/>
                <a:gd name="T5" fmla="*/ 27 h 28"/>
                <a:gd name="T6" fmla="*/ 0 w 40"/>
                <a:gd name="T7" fmla="*/ 0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0"/>
                  </a:moveTo>
                  <a:lnTo>
                    <a:pt x="39"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4" name="Freeform 3334"/>
            <p:cNvSpPr>
              <a:spLocks/>
            </p:cNvSpPr>
            <p:nvPr/>
          </p:nvSpPr>
          <p:spPr bwMode="auto">
            <a:xfrm>
              <a:off x="2910" y="2661"/>
              <a:ext cx="40" cy="28"/>
            </a:xfrm>
            <a:custGeom>
              <a:avLst/>
              <a:gdLst>
                <a:gd name="T0" fmla="*/ 0 w 40"/>
                <a:gd name="T1" fmla="*/ 27 h 28"/>
                <a:gd name="T2" fmla="*/ 39 w 40"/>
                <a:gd name="T3" fmla="*/ 27 h 28"/>
                <a:gd name="T4" fmla="*/ 39 w 40"/>
                <a:gd name="T5" fmla="*/ 0 h 28"/>
                <a:gd name="T6" fmla="*/ 0 w 40"/>
                <a:gd name="T7" fmla="*/ 0 h 28"/>
                <a:gd name="T8" fmla="*/ 0 w 40"/>
                <a:gd name="T9" fmla="*/ 27 h 28"/>
                <a:gd name="T10" fmla="*/ 0 w 40"/>
                <a:gd name="T11" fmla="*/ 27 h 28"/>
                <a:gd name="T12" fmla="*/ 0 60000 65536"/>
                <a:gd name="T13" fmla="*/ 0 60000 65536"/>
                <a:gd name="T14" fmla="*/ 0 60000 65536"/>
                <a:gd name="T15" fmla="*/ 0 60000 65536"/>
                <a:gd name="T16" fmla="*/ 0 60000 65536"/>
                <a:gd name="T17" fmla="*/ 0 60000 65536"/>
                <a:gd name="T18" fmla="*/ 0 w 40"/>
                <a:gd name="T19" fmla="*/ 0 h 28"/>
                <a:gd name="T20" fmla="*/ 40 w 4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0" h="28">
                  <a:moveTo>
                    <a:pt x="0" y="27"/>
                  </a:moveTo>
                  <a:lnTo>
                    <a:pt x="39" y="27"/>
                  </a:lnTo>
                  <a:lnTo>
                    <a:pt x="39"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5" name="Line 3335"/>
            <p:cNvSpPr>
              <a:spLocks noChangeShapeType="1"/>
            </p:cNvSpPr>
            <p:nvPr/>
          </p:nvSpPr>
          <p:spPr bwMode="auto">
            <a:xfrm>
              <a:off x="2869"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6" name="Freeform 3336"/>
            <p:cNvSpPr>
              <a:spLocks/>
            </p:cNvSpPr>
            <p:nvPr/>
          </p:nvSpPr>
          <p:spPr bwMode="auto">
            <a:xfrm>
              <a:off x="2869"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7" name="Freeform 3337"/>
            <p:cNvSpPr>
              <a:spLocks/>
            </p:cNvSpPr>
            <p:nvPr/>
          </p:nvSpPr>
          <p:spPr bwMode="auto">
            <a:xfrm>
              <a:off x="2869"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8" name="Freeform 3338"/>
            <p:cNvSpPr>
              <a:spLocks/>
            </p:cNvSpPr>
            <p:nvPr/>
          </p:nvSpPr>
          <p:spPr bwMode="auto">
            <a:xfrm>
              <a:off x="2869"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19" name="Line 3339"/>
            <p:cNvSpPr>
              <a:spLocks noChangeShapeType="1"/>
            </p:cNvSpPr>
            <p:nvPr/>
          </p:nvSpPr>
          <p:spPr bwMode="auto">
            <a:xfrm>
              <a:off x="2832"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0" name="Freeform 3340"/>
            <p:cNvSpPr>
              <a:spLocks/>
            </p:cNvSpPr>
            <p:nvPr/>
          </p:nvSpPr>
          <p:spPr bwMode="auto">
            <a:xfrm>
              <a:off x="2832" y="2653"/>
              <a:ext cx="38" cy="28"/>
            </a:xfrm>
            <a:custGeom>
              <a:avLst/>
              <a:gdLst>
                <a:gd name="T0" fmla="*/ 0 w 38"/>
                <a:gd name="T1" fmla="*/ 27 h 28"/>
                <a:gd name="T2" fmla="*/ 37 w 38"/>
                <a:gd name="T3" fmla="*/ 0 h 28"/>
                <a:gd name="T4" fmla="*/ 37 w 38"/>
                <a:gd name="T5" fmla="*/ 27 h 28"/>
                <a:gd name="T6" fmla="*/ 0 w 38"/>
                <a:gd name="T7" fmla="*/ 27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27"/>
                  </a:moveTo>
                  <a:lnTo>
                    <a:pt x="37" y="0"/>
                  </a:lnTo>
                  <a:lnTo>
                    <a:pt x="37"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1" name="Freeform 3341"/>
            <p:cNvSpPr>
              <a:spLocks/>
            </p:cNvSpPr>
            <p:nvPr/>
          </p:nvSpPr>
          <p:spPr bwMode="auto">
            <a:xfrm>
              <a:off x="2832" y="2653"/>
              <a:ext cx="38" cy="28"/>
            </a:xfrm>
            <a:custGeom>
              <a:avLst/>
              <a:gdLst>
                <a:gd name="T0" fmla="*/ 0 w 38"/>
                <a:gd name="T1" fmla="*/ 0 h 28"/>
                <a:gd name="T2" fmla="*/ 37 w 38"/>
                <a:gd name="T3" fmla="*/ 0 h 28"/>
                <a:gd name="T4" fmla="*/ 0 w 38"/>
                <a:gd name="T5" fmla="*/ 27 h 28"/>
                <a:gd name="T6" fmla="*/ 0 w 38"/>
                <a:gd name="T7" fmla="*/ 0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0"/>
                  </a:moveTo>
                  <a:lnTo>
                    <a:pt x="37"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2" name="Freeform 3342"/>
            <p:cNvSpPr>
              <a:spLocks/>
            </p:cNvSpPr>
            <p:nvPr/>
          </p:nvSpPr>
          <p:spPr bwMode="auto">
            <a:xfrm>
              <a:off x="2832" y="2653"/>
              <a:ext cx="38" cy="28"/>
            </a:xfrm>
            <a:custGeom>
              <a:avLst/>
              <a:gdLst>
                <a:gd name="T0" fmla="*/ 0 w 38"/>
                <a:gd name="T1" fmla="*/ 27 h 28"/>
                <a:gd name="T2" fmla="*/ 37 w 38"/>
                <a:gd name="T3" fmla="*/ 27 h 28"/>
                <a:gd name="T4" fmla="*/ 37 w 38"/>
                <a:gd name="T5" fmla="*/ 0 h 28"/>
                <a:gd name="T6" fmla="*/ 0 w 38"/>
                <a:gd name="T7" fmla="*/ 0 h 28"/>
                <a:gd name="T8" fmla="*/ 0 w 38"/>
                <a:gd name="T9" fmla="*/ 27 h 28"/>
                <a:gd name="T10" fmla="*/ 0 w 38"/>
                <a:gd name="T11" fmla="*/ 27 h 28"/>
                <a:gd name="T12" fmla="*/ 0 60000 65536"/>
                <a:gd name="T13" fmla="*/ 0 60000 65536"/>
                <a:gd name="T14" fmla="*/ 0 60000 65536"/>
                <a:gd name="T15" fmla="*/ 0 60000 65536"/>
                <a:gd name="T16" fmla="*/ 0 60000 65536"/>
                <a:gd name="T17" fmla="*/ 0 60000 65536"/>
                <a:gd name="T18" fmla="*/ 0 w 38"/>
                <a:gd name="T19" fmla="*/ 0 h 28"/>
                <a:gd name="T20" fmla="*/ 38 w 3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8" h="28">
                  <a:moveTo>
                    <a:pt x="0" y="27"/>
                  </a:moveTo>
                  <a:lnTo>
                    <a:pt x="37" y="27"/>
                  </a:lnTo>
                  <a:lnTo>
                    <a:pt x="37"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3" name="Line 3343"/>
            <p:cNvSpPr>
              <a:spLocks noChangeShapeType="1"/>
            </p:cNvSpPr>
            <p:nvPr/>
          </p:nvSpPr>
          <p:spPr bwMode="auto">
            <a:xfrm>
              <a:off x="2786"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4" name="Freeform 3344"/>
            <p:cNvSpPr>
              <a:spLocks/>
            </p:cNvSpPr>
            <p:nvPr/>
          </p:nvSpPr>
          <p:spPr bwMode="auto">
            <a:xfrm>
              <a:off x="2786" y="2647"/>
              <a:ext cx="47" cy="28"/>
            </a:xfrm>
            <a:custGeom>
              <a:avLst/>
              <a:gdLst>
                <a:gd name="T0" fmla="*/ 0 w 47"/>
                <a:gd name="T1" fmla="*/ 27 h 28"/>
                <a:gd name="T2" fmla="*/ 46 w 47"/>
                <a:gd name="T3" fmla="*/ 0 h 28"/>
                <a:gd name="T4" fmla="*/ 46 w 47"/>
                <a:gd name="T5" fmla="*/ 27 h 28"/>
                <a:gd name="T6" fmla="*/ 0 w 47"/>
                <a:gd name="T7" fmla="*/ 27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27"/>
                  </a:moveTo>
                  <a:lnTo>
                    <a:pt x="46" y="0"/>
                  </a:lnTo>
                  <a:lnTo>
                    <a:pt x="46"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5" name="Freeform 3345"/>
            <p:cNvSpPr>
              <a:spLocks/>
            </p:cNvSpPr>
            <p:nvPr/>
          </p:nvSpPr>
          <p:spPr bwMode="auto">
            <a:xfrm>
              <a:off x="2786" y="2647"/>
              <a:ext cx="47" cy="28"/>
            </a:xfrm>
            <a:custGeom>
              <a:avLst/>
              <a:gdLst>
                <a:gd name="T0" fmla="*/ 0 w 47"/>
                <a:gd name="T1" fmla="*/ 0 h 28"/>
                <a:gd name="T2" fmla="*/ 46 w 47"/>
                <a:gd name="T3" fmla="*/ 0 h 28"/>
                <a:gd name="T4" fmla="*/ 0 w 47"/>
                <a:gd name="T5" fmla="*/ 27 h 28"/>
                <a:gd name="T6" fmla="*/ 0 w 47"/>
                <a:gd name="T7" fmla="*/ 0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0"/>
                  </a:moveTo>
                  <a:lnTo>
                    <a:pt x="46"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6" name="Freeform 3346"/>
            <p:cNvSpPr>
              <a:spLocks/>
            </p:cNvSpPr>
            <p:nvPr/>
          </p:nvSpPr>
          <p:spPr bwMode="auto">
            <a:xfrm>
              <a:off x="2786" y="2647"/>
              <a:ext cx="47" cy="28"/>
            </a:xfrm>
            <a:custGeom>
              <a:avLst/>
              <a:gdLst>
                <a:gd name="T0" fmla="*/ 0 w 47"/>
                <a:gd name="T1" fmla="*/ 27 h 28"/>
                <a:gd name="T2" fmla="*/ 46 w 47"/>
                <a:gd name="T3" fmla="*/ 27 h 28"/>
                <a:gd name="T4" fmla="*/ 46 w 47"/>
                <a:gd name="T5" fmla="*/ 0 h 28"/>
                <a:gd name="T6" fmla="*/ 0 w 47"/>
                <a:gd name="T7" fmla="*/ 0 h 28"/>
                <a:gd name="T8" fmla="*/ 0 w 47"/>
                <a:gd name="T9" fmla="*/ 27 h 28"/>
                <a:gd name="T10" fmla="*/ 0 w 47"/>
                <a:gd name="T11" fmla="*/ 27 h 28"/>
                <a:gd name="T12" fmla="*/ 0 60000 65536"/>
                <a:gd name="T13" fmla="*/ 0 60000 65536"/>
                <a:gd name="T14" fmla="*/ 0 60000 65536"/>
                <a:gd name="T15" fmla="*/ 0 60000 65536"/>
                <a:gd name="T16" fmla="*/ 0 60000 65536"/>
                <a:gd name="T17" fmla="*/ 0 60000 65536"/>
                <a:gd name="T18" fmla="*/ 0 w 47"/>
                <a:gd name="T19" fmla="*/ 0 h 28"/>
                <a:gd name="T20" fmla="*/ 47 w 4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7" h="28">
                  <a:moveTo>
                    <a:pt x="0" y="27"/>
                  </a:moveTo>
                  <a:lnTo>
                    <a:pt x="46" y="27"/>
                  </a:lnTo>
                  <a:lnTo>
                    <a:pt x="46"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7" name="Line 3347"/>
            <p:cNvSpPr>
              <a:spLocks noChangeShapeType="1"/>
            </p:cNvSpPr>
            <p:nvPr/>
          </p:nvSpPr>
          <p:spPr bwMode="auto">
            <a:xfrm>
              <a:off x="2752" y="2669"/>
              <a:ext cx="3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8" name="Freeform 3348"/>
            <p:cNvSpPr>
              <a:spLocks/>
            </p:cNvSpPr>
            <p:nvPr/>
          </p:nvSpPr>
          <p:spPr bwMode="auto">
            <a:xfrm>
              <a:off x="2752" y="2632"/>
              <a:ext cx="35" cy="38"/>
            </a:xfrm>
            <a:custGeom>
              <a:avLst/>
              <a:gdLst>
                <a:gd name="T0" fmla="*/ 0 w 35"/>
                <a:gd name="T1" fmla="*/ 37 h 38"/>
                <a:gd name="T2" fmla="*/ 34 w 35"/>
                <a:gd name="T3" fmla="*/ 0 h 38"/>
                <a:gd name="T4" fmla="*/ 34 w 35"/>
                <a:gd name="T5" fmla="*/ 37 h 38"/>
                <a:gd name="T6" fmla="*/ 0 w 35"/>
                <a:gd name="T7" fmla="*/ 37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37"/>
                  </a:moveTo>
                  <a:lnTo>
                    <a:pt x="34" y="0"/>
                  </a:lnTo>
                  <a:lnTo>
                    <a:pt x="34" y="37"/>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29" name="Freeform 3349"/>
            <p:cNvSpPr>
              <a:spLocks/>
            </p:cNvSpPr>
            <p:nvPr/>
          </p:nvSpPr>
          <p:spPr bwMode="auto">
            <a:xfrm>
              <a:off x="2752" y="2632"/>
              <a:ext cx="35" cy="38"/>
            </a:xfrm>
            <a:custGeom>
              <a:avLst/>
              <a:gdLst>
                <a:gd name="T0" fmla="*/ 0 w 35"/>
                <a:gd name="T1" fmla="*/ 0 h 38"/>
                <a:gd name="T2" fmla="*/ 34 w 35"/>
                <a:gd name="T3" fmla="*/ 0 h 38"/>
                <a:gd name="T4" fmla="*/ 0 w 35"/>
                <a:gd name="T5" fmla="*/ 37 h 38"/>
                <a:gd name="T6" fmla="*/ 0 w 35"/>
                <a:gd name="T7" fmla="*/ 0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0"/>
                  </a:moveTo>
                  <a:lnTo>
                    <a:pt x="34" y="0"/>
                  </a:lnTo>
                  <a:lnTo>
                    <a:pt x="0" y="3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0" name="Freeform 3350"/>
            <p:cNvSpPr>
              <a:spLocks/>
            </p:cNvSpPr>
            <p:nvPr/>
          </p:nvSpPr>
          <p:spPr bwMode="auto">
            <a:xfrm>
              <a:off x="2752" y="2632"/>
              <a:ext cx="35" cy="38"/>
            </a:xfrm>
            <a:custGeom>
              <a:avLst/>
              <a:gdLst>
                <a:gd name="T0" fmla="*/ 0 w 35"/>
                <a:gd name="T1" fmla="*/ 37 h 38"/>
                <a:gd name="T2" fmla="*/ 34 w 35"/>
                <a:gd name="T3" fmla="*/ 37 h 38"/>
                <a:gd name="T4" fmla="*/ 34 w 35"/>
                <a:gd name="T5" fmla="*/ 0 h 38"/>
                <a:gd name="T6" fmla="*/ 0 w 35"/>
                <a:gd name="T7" fmla="*/ 0 h 38"/>
                <a:gd name="T8" fmla="*/ 0 w 35"/>
                <a:gd name="T9" fmla="*/ 37 h 38"/>
                <a:gd name="T10" fmla="*/ 0 w 35"/>
                <a:gd name="T11" fmla="*/ 37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0" y="37"/>
                  </a:moveTo>
                  <a:lnTo>
                    <a:pt x="34" y="37"/>
                  </a:lnTo>
                  <a:lnTo>
                    <a:pt x="34" y="0"/>
                  </a:lnTo>
                  <a:lnTo>
                    <a:pt x="0" y="0"/>
                  </a:lnTo>
                  <a:lnTo>
                    <a:pt x="0" y="3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1" name="Line 3351"/>
            <p:cNvSpPr>
              <a:spLocks noChangeShapeType="1"/>
            </p:cNvSpPr>
            <p:nvPr/>
          </p:nvSpPr>
          <p:spPr bwMode="auto">
            <a:xfrm>
              <a:off x="2707"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2" name="Line 3352"/>
            <p:cNvSpPr>
              <a:spLocks noChangeShapeType="1"/>
            </p:cNvSpPr>
            <p:nvPr/>
          </p:nvSpPr>
          <p:spPr bwMode="auto">
            <a:xfrm>
              <a:off x="2628"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3" name="Line 3353"/>
            <p:cNvSpPr>
              <a:spLocks noChangeShapeType="1"/>
            </p:cNvSpPr>
            <p:nvPr/>
          </p:nvSpPr>
          <p:spPr bwMode="auto">
            <a:xfrm>
              <a:off x="2583"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4" name="Line 3354"/>
            <p:cNvSpPr>
              <a:spLocks noChangeShapeType="1"/>
            </p:cNvSpPr>
            <p:nvPr/>
          </p:nvSpPr>
          <p:spPr bwMode="auto">
            <a:xfrm>
              <a:off x="2503"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5" name="Line 3355"/>
            <p:cNvSpPr>
              <a:spLocks noChangeShapeType="1"/>
            </p:cNvSpPr>
            <p:nvPr/>
          </p:nvSpPr>
          <p:spPr bwMode="auto">
            <a:xfrm>
              <a:off x="2469" y="2669"/>
              <a:ext cx="3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6" name="Line 3356"/>
            <p:cNvSpPr>
              <a:spLocks noChangeShapeType="1"/>
            </p:cNvSpPr>
            <p:nvPr/>
          </p:nvSpPr>
          <p:spPr bwMode="auto">
            <a:xfrm>
              <a:off x="2423"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7" name="Line 3357"/>
            <p:cNvSpPr>
              <a:spLocks noChangeShapeType="1"/>
            </p:cNvSpPr>
            <p:nvPr/>
          </p:nvSpPr>
          <p:spPr bwMode="auto">
            <a:xfrm>
              <a:off x="2378"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8" name="Line 3358"/>
            <p:cNvSpPr>
              <a:spLocks noChangeShapeType="1"/>
            </p:cNvSpPr>
            <p:nvPr/>
          </p:nvSpPr>
          <p:spPr bwMode="auto">
            <a:xfrm>
              <a:off x="2341"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39" name="Line 3359"/>
            <p:cNvSpPr>
              <a:spLocks noChangeShapeType="1"/>
            </p:cNvSpPr>
            <p:nvPr/>
          </p:nvSpPr>
          <p:spPr bwMode="auto">
            <a:xfrm>
              <a:off x="2299"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0" name="Line 3360"/>
            <p:cNvSpPr>
              <a:spLocks noChangeShapeType="1"/>
            </p:cNvSpPr>
            <p:nvPr/>
          </p:nvSpPr>
          <p:spPr bwMode="auto">
            <a:xfrm>
              <a:off x="2262"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1" name="Line 3361"/>
            <p:cNvSpPr>
              <a:spLocks noChangeShapeType="1"/>
            </p:cNvSpPr>
            <p:nvPr/>
          </p:nvSpPr>
          <p:spPr bwMode="auto">
            <a:xfrm>
              <a:off x="2216"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2" name="Line 3362"/>
            <p:cNvSpPr>
              <a:spLocks noChangeShapeType="1"/>
            </p:cNvSpPr>
            <p:nvPr/>
          </p:nvSpPr>
          <p:spPr bwMode="auto">
            <a:xfrm>
              <a:off x="2184" y="2669"/>
              <a:ext cx="3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3" name="Line 3363"/>
            <p:cNvSpPr>
              <a:spLocks noChangeShapeType="1"/>
            </p:cNvSpPr>
            <p:nvPr/>
          </p:nvSpPr>
          <p:spPr bwMode="auto">
            <a:xfrm>
              <a:off x="2137" y="2669"/>
              <a:ext cx="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4" name="Line 3364"/>
            <p:cNvSpPr>
              <a:spLocks noChangeShapeType="1"/>
            </p:cNvSpPr>
            <p:nvPr/>
          </p:nvSpPr>
          <p:spPr bwMode="auto">
            <a:xfrm>
              <a:off x="209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5" name="Line 3365"/>
            <p:cNvSpPr>
              <a:spLocks noChangeShapeType="1"/>
            </p:cNvSpPr>
            <p:nvPr/>
          </p:nvSpPr>
          <p:spPr bwMode="auto">
            <a:xfrm>
              <a:off x="2058"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6" name="Line 3366"/>
            <p:cNvSpPr>
              <a:spLocks noChangeShapeType="1"/>
            </p:cNvSpPr>
            <p:nvPr/>
          </p:nvSpPr>
          <p:spPr bwMode="auto">
            <a:xfrm>
              <a:off x="2013"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7" name="Line 3367"/>
            <p:cNvSpPr>
              <a:spLocks noChangeShapeType="1"/>
            </p:cNvSpPr>
            <p:nvPr/>
          </p:nvSpPr>
          <p:spPr bwMode="auto">
            <a:xfrm>
              <a:off x="1978" y="2669"/>
              <a:ext cx="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8" name="Line 3368"/>
            <p:cNvSpPr>
              <a:spLocks noChangeShapeType="1"/>
            </p:cNvSpPr>
            <p:nvPr/>
          </p:nvSpPr>
          <p:spPr bwMode="auto">
            <a:xfrm>
              <a:off x="1937"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49" name="Line 3369"/>
            <p:cNvSpPr>
              <a:spLocks noChangeShapeType="1"/>
            </p:cNvSpPr>
            <p:nvPr/>
          </p:nvSpPr>
          <p:spPr bwMode="auto">
            <a:xfrm>
              <a:off x="189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0" name="Line 3370"/>
            <p:cNvSpPr>
              <a:spLocks noChangeShapeType="1"/>
            </p:cNvSpPr>
            <p:nvPr/>
          </p:nvSpPr>
          <p:spPr bwMode="auto">
            <a:xfrm>
              <a:off x="1853"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1" name="Line 3371"/>
            <p:cNvSpPr>
              <a:spLocks noChangeShapeType="1"/>
            </p:cNvSpPr>
            <p:nvPr/>
          </p:nvSpPr>
          <p:spPr bwMode="auto">
            <a:xfrm>
              <a:off x="1815"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2" name="Line 3372"/>
            <p:cNvSpPr>
              <a:spLocks noChangeShapeType="1"/>
            </p:cNvSpPr>
            <p:nvPr/>
          </p:nvSpPr>
          <p:spPr bwMode="auto">
            <a:xfrm>
              <a:off x="1774"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3" name="Line 3373"/>
            <p:cNvSpPr>
              <a:spLocks noChangeShapeType="1"/>
            </p:cNvSpPr>
            <p:nvPr/>
          </p:nvSpPr>
          <p:spPr bwMode="auto">
            <a:xfrm>
              <a:off x="1736"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4" name="Line 3374"/>
            <p:cNvSpPr>
              <a:spLocks noChangeShapeType="1"/>
            </p:cNvSpPr>
            <p:nvPr/>
          </p:nvSpPr>
          <p:spPr bwMode="auto">
            <a:xfrm>
              <a:off x="1692" y="2669"/>
              <a:ext cx="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5" name="Freeform 3375"/>
            <p:cNvSpPr>
              <a:spLocks/>
            </p:cNvSpPr>
            <p:nvPr/>
          </p:nvSpPr>
          <p:spPr bwMode="auto">
            <a:xfrm>
              <a:off x="1692" y="2653"/>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6" name="Line 3376"/>
            <p:cNvSpPr>
              <a:spLocks noChangeShapeType="1"/>
            </p:cNvSpPr>
            <p:nvPr/>
          </p:nvSpPr>
          <p:spPr bwMode="auto">
            <a:xfrm>
              <a:off x="1651"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7" name="Freeform 3377"/>
            <p:cNvSpPr>
              <a:spLocks/>
            </p:cNvSpPr>
            <p:nvPr/>
          </p:nvSpPr>
          <p:spPr bwMode="auto">
            <a:xfrm>
              <a:off x="1651"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8" name="Freeform 3378"/>
            <p:cNvSpPr>
              <a:spLocks/>
            </p:cNvSpPr>
            <p:nvPr/>
          </p:nvSpPr>
          <p:spPr bwMode="auto">
            <a:xfrm>
              <a:off x="1651"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59" name="Freeform 3379"/>
            <p:cNvSpPr>
              <a:spLocks/>
            </p:cNvSpPr>
            <p:nvPr/>
          </p:nvSpPr>
          <p:spPr bwMode="auto">
            <a:xfrm>
              <a:off x="1651"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0" name="Line 3380"/>
            <p:cNvSpPr>
              <a:spLocks noChangeShapeType="1"/>
            </p:cNvSpPr>
            <p:nvPr/>
          </p:nvSpPr>
          <p:spPr bwMode="auto">
            <a:xfrm>
              <a:off x="1615" y="2669"/>
              <a:ext cx="3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1" name="Freeform 3381"/>
            <p:cNvSpPr>
              <a:spLocks/>
            </p:cNvSpPr>
            <p:nvPr/>
          </p:nvSpPr>
          <p:spPr bwMode="auto">
            <a:xfrm>
              <a:off x="1615" y="2661"/>
              <a:ext cx="37" cy="28"/>
            </a:xfrm>
            <a:custGeom>
              <a:avLst/>
              <a:gdLst>
                <a:gd name="T0" fmla="*/ 0 w 37"/>
                <a:gd name="T1" fmla="*/ 27 h 28"/>
                <a:gd name="T2" fmla="*/ 36 w 37"/>
                <a:gd name="T3" fmla="*/ 0 h 28"/>
                <a:gd name="T4" fmla="*/ 36 w 37"/>
                <a:gd name="T5" fmla="*/ 27 h 28"/>
                <a:gd name="T6" fmla="*/ 0 w 37"/>
                <a:gd name="T7" fmla="*/ 27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27"/>
                  </a:moveTo>
                  <a:lnTo>
                    <a:pt x="36" y="0"/>
                  </a:lnTo>
                  <a:lnTo>
                    <a:pt x="36"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2" name="Freeform 3382"/>
            <p:cNvSpPr>
              <a:spLocks/>
            </p:cNvSpPr>
            <p:nvPr/>
          </p:nvSpPr>
          <p:spPr bwMode="auto">
            <a:xfrm>
              <a:off x="1615" y="2661"/>
              <a:ext cx="37" cy="28"/>
            </a:xfrm>
            <a:custGeom>
              <a:avLst/>
              <a:gdLst>
                <a:gd name="T0" fmla="*/ 0 w 37"/>
                <a:gd name="T1" fmla="*/ 0 h 28"/>
                <a:gd name="T2" fmla="*/ 36 w 37"/>
                <a:gd name="T3" fmla="*/ 0 h 28"/>
                <a:gd name="T4" fmla="*/ 0 w 37"/>
                <a:gd name="T5" fmla="*/ 27 h 28"/>
                <a:gd name="T6" fmla="*/ 0 w 37"/>
                <a:gd name="T7" fmla="*/ 0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0"/>
                  </a:moveTo>
                  <a:lnTo>
                    <a:pt x="36"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3" name="Freeform 3383"/>
            <p:cNvSpPr>
              <a:spLocks/>
            </p:cNvSpPr>
            <p:nvPr/>
          </p:nvSpPr>
          <p:spPr bwMode="auto">
            <a:xfrm>
              <a:off x="1615" y="2661"/>
              <a:ext cx="37" cy="28"/>
            </a:xfrm>
            <a:custGeom>
              <a:avLst/>
              <a:gdLst>
                <a:gd name="T0" fmla="*/ 0 w 37"/>
                <a:gd name="T1" fmla="*/ 27 h 28"/>
                <a:gd name="T2" fmla="*/ 36 w 37"/>
                <a:gd name="T3" fmla="*/ 27 h 28"/>
                <a:gd name="T4" fmla="*/ 36 w 37"/>
                <a:gd name="T5" fmla="*/ 0 h 28"/>
                <a:gd name="T6" fmla="*/ 0 w 37"/>
                <a:gd name="T7" fmla="*/ 0 h 28"/>
                <a:gd name="T8" fmla="*/ 0 w 37"/>
                <a:gd name="T9" fmla="*/ 27 h 28"/>
                <a:gd name="T10" fmla="*/ 0 w 37"/>
                <a:gd name="T11" fmla="*/ 27 h 28"/>
                <a:gd name="T12" fmla="*/ 0 60000 65536"/>
                <a:gd name="T13" fmla="*/ 0 60000 65536"/>
                <a:gd name="T14" fmla="*/ 0 60000 65536"/>
                <a:gd name="T15" fmla="*/ 0 60000 65536"/>
                <a:gd name="T16" fmla="*/ 0 60000 65536"/>
                <a:gd name="T17" fmla="*/ 0 60000 65536"/>
                <a:gd name="T18" fmla="*/ 0 w 37"/>
                <a:gd name="T19" fmla="*/ 0 h 28"/>
                <a:gd name="T20" fmla="*/ 37 w 3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7" h="28">
                  <a:moveTo>
                    <a:pt x="0" y="27"/>
                  </a:moveTo>
                  <a:lnTo>
                    <a:pt x="36" y="27"/>
                  </a:lnTo>
                  <a:lnTo>
                    <a:pt x="36"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4" name="Line 3384"/>
            <p:cNvSpPr>
              <a:spLocks noChangeShapeType="1"/>
            </p:cNvSpPr>
            <p:nvPr/>
          </p:nvSpPr>
          <p:spPr bwMode="auto">
            <a:xfrm>
              <a:off x="1568" y="2669"/>
              <a:ext cx="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5" name="Freeform 3385"/>
            <p:cNvSpPr>
              <a:spLocks/>
            </p:cNvSpPr>
            <p:nvPr/>
          </p:nvSpPr>
          <p:spPr bwMode="auto">
            <a:xfrm>
              <a:off x="1568" y="2661"/>
              <a:ext cx="48" cy="28"/>
            </a:xfrm>
            <a:custGeom>
              <a:avLst/>
              <a:gdLst>
                <a:gd name="T0" fmla="*/ 0 w 48"/>
                <a:gd name="T1" fmla="*/ 27 h 28"/>
                <a:gd name="T2" fmla="*/ 47 w 48"/>
                <a:gd name="T3" fmla="*/ 0 h 28"/>
                <a:gd name="T4" fmla="*/ 47 w 48"/>
                <a:gd name="T5" fmla="*/ 27 h 28"/>
                <a:gd name="T6" fmla="*/ 0 w 48"/>
                <a:gd name="T7" fmla="*/ 27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27"/>
                  </a:moveTo>
                  <a:lnTo>
                    <a:pt x="47" y="0"/>
                  </a:lnTo>
                  <a:lnTo>
                    <a:pt x="47"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6" name="Freeform 3386"/>
            <p:cNvSpPr>
              <a:spLocks/>
            </p:cNvSpPr>
            <p:nvPr/>
          </p:nvSpPr>
          <p:spPr bwMode="auto">
            <a:xfrm>
              <a:off x="1568" y="2661"/>
              <a:ext cx="48" cy="28"/>
            </a:xfrm>
            <a:custGeom>
              <a:avLst/>
              <a:gdLst>
                <a:gd name="T0" fmla="*/ 0 w 48"/>
                <a:gd name="T1" fmla="*/ 0 h 28"/>
                <a:gd name="T2" fmla="*/ 47 w 48"/>
                <a:gd name="T3" fmla="*/ 0 h 28"/>
                <a:gd name="T4" fmla="*/ 0 w 48"/>
                <a:gd name="T5" fmla="*/ 27 h 28"/>
                <a:gd name="T6" fmla="*/ 0 w 48"/>
                <a:gd name="T7" fmla="*/ 0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0"/>
                  </a:moveTo>
                  <a:lnTo>
                    <a:pt x="47"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7" name="Freeform 3387"/>
            <p:cNvSpPr>
              <a:spLocks/>
            </p:cNvSpPr>
            <p:nvPr/>
          </p:nvSpPr>
          <p:spPr bwMode="auto">
            <a:xfrm>
              <a:off x="1568" y="2661"/>
              <a:ext cx="48" cy="28"/>
            </a:xfrm>
            <a:custGeom>
              <a:avLst/>
              <a:gdLst>
                <a:gd name="T0" fmla="*/ 0 w 48"/>
                <a:gd name="T1" fmla="*/ 27 h 28"/>
                <a:gd name="T2" fmla="*/ 47 w 48"/>
                <a:gd name="T3" fmla="*/ 27 h 28"/>
                <a:gd name="T4" fmla="*/ 47 w 48"/>
                <a:gd name="T5" fmla="*/ 0 h 28"/>
                <a:gd name="T6" fmla="*/ 0 w 48"/>
                <a:gd name="T7" fmla="*/ 0 h 28"/>
                <a:gd name="T8" fmla="*/ 0 w 48"/>
                <a:gd name="T9" fmla="*/ 27 h 28"/>
                <a:gd name="T10" fmla="*/ 0 w 48"/>
                <a:gd name="T11" fmla="*/ 27 h 28"/>
                <a:gd name="T12" fmla="*/ 0 60000 65536"/>
                <a:gd name="T13" fmla="*/ 0 60000 65536"/>
                <a:gd name="T14" fmla="*/ 0 60000 65536"/>
                <a:gd name="T15" fmla="*/ 0 60000 65536"/>
                <a:gd name="T16" fmla="*/ 0 60000 65536"/>
                <a:gd name="T17" fmla="*/ 0 60000 65536"/>
                <a:gd name="T18" fmla="*/ 0 w 48"/>
                <a:gd name="T19" fmla="*/ 0 h 28"/>
                <a:gd name="T20" fmla="*/ 48 w 4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8" h="28">
                  <a:moveTo>
                    <a:pt x="0" y="27"/>
                  </a:moveTo>
                  <a:lnTo>
                    <a:pt x="47" y="27"/>
                  </a:lnTo>
                  <a:lnTo>
                    <a:pt x="47"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8" name="Line 3388"/>
            <p:cNvSpPr>
              <a:spLocks noChangeShapeType="1"/>
            </p:cNvSpPr>
            <p:nvPr/>
          </p:nvSpPr>
          <p:spPr bwMode="auto">
            <a:xfrm>
              <a:off x="1530"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69" name="Freeform 3389"/>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0" name="Line 3390"/>
            <p:cNvSpPr>
              <a:spLocks noChangeShapeType="1"/>
            </p:cNvSpPr>
            <p:nvPr/>
          </p:nvSpPr>
          <p:spPr bwMode="auto">
            <a:xfrm>
              <a:off x="1530"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1" name="Freeform 3391"/>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2" name="Line 3392"/>
            <p:cNvSpPr>
              <a:spLocks noChangeShapeType="1"/>
            </p:cNvSpPr>
            <p:nvPr/>
          </p:nvSpPr>
          <p:spPr bwMode="auto">
            <a:xfrm>
              <a:off x="149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3" name="Freeform 3393"/>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4" name="Line 3394"/>
            <p:cNvSpPr>
              <a:spLocks noChangeShapeType="1"/>
            </p:cNvSpPr>
            <p:nvPr/>
          </p:nvSpPr>
          <p:spPr bwMode="auto">
            <a:xfrm>
              <a:off x="149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5" name="Freeform 3395"/>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6" name="Line 3396"/>
            <p:cNvSpPr>
              <a:spLocks noChangeShapeType="1"/>
            </p:cNvSpPr>
            <p:nvPr/>
          </p:nvSpPr>
          <p:spPr bwMode="auto">
            <a:xfrm>
              <a:off x="145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7" name="Freeform 3397"/>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8" name="Line 3398"/>
            <p:cNvSpPr>
              <a:spLocks noChangeShapeType="1"/>
            </p:cNvSpPr>
            <p:nvPr/>
          </p:nvSpPr>
          <p:spPr bwMode="auto">
            <a:xfrm>
              <a:off x="145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79" name="Freeform 3399"/>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0" name="Line 3400"/>
            <p:cNvSpPr>
              <a:spLocks noChangeShapeType="1"/>
            </p:cNvSpPr>
            <p:nvPr/>
          </p:nvSpPr>
          <p:spPr bwMode="auto">
            <a:xfrm>
              <a:off x="1409"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1" name="Freeform 3401"/>
            <p:cNvSpPr>
              <a:spLocks/>
            </p:cNvSpPr>
            <p:nvPr/>
          </p:nvSpPr>
          <p:spPr bwMode="auto">
            <a:xfrm>
              <a:off x="1409" y="2661"/>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2" name="Freeform 3402"/>
            <p:cNvSpPr>
              <a:spLocks/>
            </p:cNvSpPr>
            <p:nvPr/>
          </p:nvSpPr>
          <p:spPr bwMode="auto">
            <a:xfrm>
              <a:off x="1409" y="2661"/>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3" name="Freeform 3403"/>
            <p:cNvSpPr>
              <a:spLocks/>
            </p:cNvSpPr>
            <p:nvPr/>
          </p:nvSpPr>
          <p:spPr bwMode="auto">
            <a:xfrm>
              <a:off x="1409" y="2661"/>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4" name="Line 3404"/>
            <p:cNvSpPr>
              <a:spLocks noChangeShapeType="1"/>
            </p:cNvSpPr>
            <p:nvPr/>
          </p:nvSpPr>
          <p:spPr bwMode="auto">
            <a:xfrm>
              <a:off x="1367"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5" name="Freeform 3405"/>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60000 65536"/>
                <a:gd name="T9" fmla="*/ 0 60000 65536"/>
                <a:gd name="T10" fmla="*/ 0 60000 65536"/>
                <a:gd name="T11" fmla="*/ 0 60000 65536"/>
                <a:gd name="T12" fmla="*/ 0 w 43"/>
                <a:gd name="T13" fmla="*/ 0 h 1"/>
                <a:gd name="T14" fmla="*/ 43 w 43"/>
                <a:gd name="T15" fmla="*/ 1 h 1"/>
              </a:gdLst>
              <a:ahLst/>
              <a:cxnLst>
                <a:cxn ang="T8">
                  <a:pos x="T0" y="T1"/>
                </a:cxn>
                <a:cxn ang="T9">
                  <a:pos x="T2" y="T3"/>
                </a:cxn>
                <a:cxn ang="T10">
                  <a:pos x="T4" y="T5"/>
                </a:cxn>
                <a:cxn ang="T11">
                  <a:pos x="T6" y="T7"/>
                </a:cxn>
              </a:cxnLst>
              <a:rect l="T12" t="T13" r="T14" b="T15"/>
              <a:pathLst>
                <a:path w="43" h="1">
                  <a:moveTo>
                    <a:pt x="0" y="0"/>
                  </a:moveTo>
                  <a:lnTo>
                    <a:pt x="42"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6" name="Line 3406"/>
            <p:cNvSpPr>
              <a:spLocks noChangeShapeType="1"/>
            </p:cNvSpPr>
            <p:nvPr/>
          </p:nvSpPr>
          <p:spPr bwMode="auto">
            <a:xfrm>
              <a:off x="1367"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7" name="Freeform 3407"/>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w 43"/>
                <a:gd name="T9" fmla="*/ 0 h 1"/>
                <a:gd name="T10" fmla="*/ 0 w 43"/>
                <a:gd name="T11" fmla="*/ 0 h 1"/>
                <a:gd name="T12" fmla="*/ 0 60000 65536"/>
                <a:gd name="T13" fmla="*/ 0 60000 65536"/>
                <a:gd name="T14" fmla="*/ 0 60000 65536"/>
                <a:gd name="T15" fmla="*/ 0 60000 65536"/>
                <a:gd name="T16" fmla="*/ 0 60000 65536"/>
                <a:gd name="T17" fmla="*/ 0 60000 65536"/>
                <a:gd name="T18" fmla="*/ 0 w 43"/>
                <a:gd name="T19" fmla="*/ 0 h 1"/>
                <a:gd name="T20" fmla="*/ 43 w 43"/>
                <a:gd name="T21" fmla="*/ 1 h 1"/>
              </a:gdLst>
              <a:ahLst/>
              <a:cxnLst>
                <a:cxn ang="T12">
                  <a:pos x="T0" y="T1"/>
                </a:cxn>
                <a:cxn ang="T13">
                  <a:pos x="T2" y="T3"/>
                </a:cxn>
                <a:cxn ang="T14">
                  <a:pos x="T4" y="T5"/>
                </a:cxn>
                <a:cxn ang="T15">
                  <a:pos x="T6" y="T7"/>
                </a:cxn>
                <a:cxn ang="T16">
                  <a:pos x="T8" y="T9"/>
                </a:cxn>
                <a:cxn ang="T17">
                  <a:pos x="T10" y="T11"/>
                </a:cxn>
              </a:cxnLst>
              <a:rect l="T18" t="T19" r="T20" b="T21"/>
              <a:pathLst>
                <a:path w="43" h="1">
                  <a:moveTo>
                    <a:pt x="0" y="0"/>
                  </a:moveTo>
                  <a:lnTo>
                    <a:pt x="42"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8" name="Line 3408"/>
            <p:cNvSpPr>
              <a:spLocks noChangeShapeType="1"/>
            </p:cNvSpPr>
            <p:nvPr/>
          </p:nvSpPr>
          <p:spPr bwMode="auto">
            <a:xfrm>
              <a:off x="132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89" name="Freeform 3409"/>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0" name="Line 3410"/>
            <p:cNvSpPr>
              <a:spLocks noChangeShapeType="1"/>
            </p:cNvSpPr>
            <p:nvPr/>
          </p:nvSpPr>
          <p:spPr bwMode="auto">
            <a:xfrm>
              <a:off x="132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1" name="Freeform 3411"/>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2" name="Line 3412"/>
            <p:cNvSpPr>
              <a:spLocks noChangeShapeType="1"/>
            </p:cNvSpPr>
            <p:nvPr/>
          </p:nvSpPr>
          <p:spPr bwMode="auto">
            <a:xfrm>
              <a:off x="1286" y="2669"/>
              <a:ext cx="4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3" name="Freeform 3413"/>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60000 65536"/>
                <a:gd name="T9" fmla="*/ 0 60000 65536"/>
                <a:gd name="T10" fmla="*/ 0 60000 65536"/>
                <a:gd name="T11" fmla="*/ 0 60000 65536"/>
                <a:gd name="T12" fmla="*/ 0 w 44"/>
                <a:gd name="T13" fmla="*/ 0 h 1"/>
                <a:gd name="T14" fmla="*/ 44 w 44"/>
                <a:gd name="T15" fmla="*/ 1 h 1"/>
              </a:gdLst>
              <a:ahLst/>
              <a:cxnLst>
                <a:cxn ang="T8">
                  <a:pos x="T0" y="T1"/>
                </a:cxn>
                <a:cxn ang="T9">
                  <a:pos x="T2" y="T3"/>
                </a:cxn>
                <a:cxn ang="T10">
                  <a:pos x="T4" y="T5"/>
                </a:cxn>
                <a:cxn ang="T11">
                  <a:pos x="T6" y="T7"/>
                </a:cxn>
              </a:cxnLst>
              <a:rect l="T12" t="T13" r="T14" b="T15"/>
              <a:pathLst>
                <a:path w="44" h="1">
                  <a:moveTo>
                    <a:pt x="0" y="0"/>
                  </a:moveTo>
                  <a:lnTo>
                    <a:pt x="4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4" name="Line 3414"/>
            <p:cNvSpPr>
              <a:spLocks noChangeShapeType="1"/>
            </p:cNvSpPr>
            <p:nvPr/>
          </p:nvSpPr>
          <p:spPr bwMode="auto">
            <a:xfrm>
              <a:off x="1286" y="2669"/>
              <a:ext cx="4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5" name="Freeform 3415"/>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w 44"/>
                <a:gd name="T9" fmla="*/ 0 h 1"/>
                <a:gd name="T10" fmla="*/ 0 w 44"/>
                <a:gd name="T11" fmla="*/ 0 h 1"/>
                <a:gd name="T12" fmla="*/ 0 60000 65536"/>
                <a:gd name="T13" fmla="*/ 0 60000 65536"/>
                <a:gd name="T14" fmla="*/ 0 60000 65536"/>
                <a:gd name="T15" fmla="*/ 0 60000 65536"/>
                <a:gd name="T16" fmla="*/ 0 60000 65536"/>
                <a:gd name="T17" fmla="*/ 0 60000 65536"/>
                <a:gd name="T18" fmla="*/ 0 w 44"/>
                <a:gd name="T19" fmla="*/ 0 h 1"/>
                <a:gd name="T20" fmla="*/ 44 w 4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4" h="1">
                  <a:moveTo>
                    <a:pt x="0" y="0"/>
                  </a:moveTo>
                  <a:lnTo>
                    <a:pt x="43"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6" name="Line 3416"/>
            <p:cNvSpPr>
              <a:spLocks noChangeShapeType="1"/>
            </p:cNvSpPr>
            <p:nvPr/>
          </p:nvSpPr>
          <p:spPr bwMode="auto">
            <a:xfrm>
              <a:off x="1249"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7" name="Freeform 3417"/>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60000 65536"/>
                <a:gd name="T9" fmla="*/ 0 60000 65536"/>
                <a:gd name="T10" fmla="*/ 0 60000 65536"/>
                <a:gd name="T11" fmla="*/ 0 60000 65536"/>
                <a:gd name="T12" fmla="*/ 0 w 38"/>
                <a:gd name="T13" fmla="*/ 0 h 1"/>
                <a:gd name="T14" fmla="*/ 38 w 38"/>
                <a:gd name="T15" fmla="*/ 1 h 1"/>
              </a:gdLst>
              <a:ahLst/>
              <a:cxnLst>
                <a:cxn ang="T8">
                  <a:pos x="T0" y="T1"/>
                </a:cxn>
                <a:cxn ang="T9">
                  <a:pos x="T2" y="T3"/>
                </a:cxn>
                <a:cxn ang="T10">
                  <a:pos x="T4" y="T5"/>
                </a:cxn>
                <a:cxn ang="T11">
                  <a:pos x="T6" y="T7"/>
                </a:cxn>
              </a:cxnLst>
              <a:rect l="T12" t="T13" r="T14" b="T15"/>
              <a:pathLst>
                <a:path w="38" h="1">
                  <a:moveTo>
                    <a:pt x="0" y="0"/>
                  </a:moveTo>
                  <a:lnTo>
                    <a:pt x="3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8" name="Line 3418"/>
            <p:cNvSpPr>
              <a:spLocks noChangeShapeType="1"/>
            </p:cNvSpPr>
            <p:nvPr/>
          </p:nvSpPr>
          <p:spPr bwMode="auto">
            <a:xfrm>
              <a:off x="1249"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999" name="Freeform 3419"/>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w 38"/>
                <a:gd name="T9" fmla="*/ 0 h 1"/>
                <a:gd name="T10" fmla="*/ 0 w 38"/>
                <a:gd name="T11" fmla="*/ 0 h 1"/>
                <a:gd name="T12" fmla="*/ 0 60000 65536"/>
                <a:gd name="T13" fmla="*/ 0 60000 65536"/>
                <a:gd name="T14" fmla="*/ 0 60000 65536"/>
                <a:gd name="T15" fmla="*/ 0 60000 65536"/>
                <a:gd name="T16" fmla="*/ 0 60000 65536"/>
                <a:gd name="T17" fmla="*/ 0 60000 65536"/>
                <a:gd name="T18" fmla="*/ 0 w 38"/>
                <a:gd name="T19" fmla="*/ 0 h 1"/>
                <a:gd name="T20" fmla="*/ 38 w 38"/>
                <a:gd name="T21" fmla="*/ 1 h 1"/>
              </a:gdLst>
              <a:ahLst/>
              <a:cxnLst>
                <a:cxn ang="T12">
                  <a:pos x="T0" y="T1"/>
                </a:cxn>
                <a:cxn ang="T13">
                  <a:pos x="T2" y="T3"/>
                </a:cxn>
                <a:cxn ang="T14">
                  <a:pos x="T4" y="T5"/>
                </a:cxn>
                <a:cxn ang="T15">
                  <a:pos x="T6" y="T7"/>
                </a:cxn>
                <a:cxn ang="T16">
                  <a:pos x="T8" y="T9"/>
                </a:cxn>
                <a:cxn ang="T17">
                  <a:pos x="T10" y="T11"/>
                </a:cxn>
              </a:cxnLst>
              <a:rect l="T18" t="T19" r="T20" b="T21"/>
              <a:pathLst>
                <a:path w="38" h="1">
                  <a:moveTo>
                    <a:pt x="0" y="0"/>
                  </a:moveTo>
                  <a:lnTo>
                    <a:pt x="37"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0" name="Freeform 3420"/>
            <p:cNvSpPr>
              <a:spLocks/>
            </p:cNvSpPr>
            <p:nvPr/>
          </p:nvSpPr>
          <p:spPr bwMode="auto">
            <a:xfrm>
              <a:off x="1651" y="2653"/>
              <a:ext cx="26" cy="28"/>
            </a:xfrm>
            <a:custGeom>
              <a:avLst/>
              <a:gdLst>
                <a:gd name="T0" fmla="*/ 25 w 26"/>
                <a:gd name="T1" fmla="*/ 15 h 28"/>
                <a:gd name="T2" fmla="*/ 0 w 26"/>
                <a:gd name="T3" fmla="*/ 0 h 28"/>
                <a:gd name="T4" fmla="*/ 0 w 26"/>
                <a:gd name="T5" fmla="*/ 27 h 28"/>
                <a:gd name="T6" fmla="*/ 25 w 26"/>
                <a:gd name="T7" fmla="*/ 15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5"/>
                  </a:moveTo>
                  <a:lnTo>
                    <a:pt x="0" y="0"/>
                  </a:lnTo>
                  <a:lnTo>
                    <a:pt x="0" y="27"/>
                  </a:lnTo>
                  <a:lnTo>
                    <a:pt x="25"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1" name="Freeform 3421"/>
            <p:cNvSpPr>
              <a:spLocks/>
            </p:cNvSpPr>
            <p:nvPr/>
          </p:nvSpPr>
          <p:spPr bwMode="auto">
            <a:xfrm>
              <a:off x="1651" y="2647"/>
              <a:ext cx="26" cy="28"/>
            </a:xfrm>
            <a:custGeom>
              <a:avLst/>
              <a:gdLst>
                <a:gd name="T0" fmla="*/ 25 w 26"/>
                <a:gd name="T1" fmla="*/ 27 h 28"/>
                <a:gd name="T2" fmla="*/ 25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12"/>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2" name="Freeform 3422"/>
            <p:cNvSpPr>
              <a:spLocks/>
            </p:cNvSpPr>
            <p:nvPr/>
          </p:nvSpPr>
          <p:spPr bwMode="auto">
            <a:xfrm>
              <a:off x="1663" y="2653"/>
              <a:ext cx="27" cy="28"/>
            </a:xfrm>
            <a:custGeom>
              <a:avLst/>
              <a:gdLst>
                <a:gd name="T0" fmla="*/ 0 w 27"/>
                <a:gd name="T1" fmla="*/ 27 h 28"/>
                <a:gd name="T2" fmla="*/ 0 w 27"/>
                <a:gd name="T3" fmla="*/ 27 h 28"/>
                <a:gd name="T4" fmla="*/ 26 w 27"/>
                <a:gd name="T5" fmla="*/ 0 h 28"/>
                <a:gd name="T6" fmla="*/ 0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27"/>
                  </a:moveTo>
                  <a:lnTo>
                    <a:pt x="0" y="27"/>
                  </a:lnTo>
                  <a:lnTo>
                    <a:pt x="26"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3" name="Line 3423"/>
            <p:cNvSpPr>
              <a:spLocks noChangeShapeType="1"/>
            </p:cNvSpPr>
            <p:nvPr/>
          </p:nvSpPr>
          <p:spPr bwMode="auto">
            <a:xfrm>
              <a:off x="1663" y="2661"/>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4" name="Freeform 3424"/>
            <p:cNvSpPr>
              <a:spLocks/>
            </p:cNvSpPr>
            <p:nvPr/>
          </p:nvSpPr>
          <p:spPr bwMode="auto">
            <a:xfrm>
              <a:off x="1663" y="2647"/>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5" name="Freeform 3425"/>
            <p:cNvSpPr>
              <a:spLocks/>
            </p:cNvSpPr>
            <p:nvPr/>
          </p:nvSpPr>
          <p:spPr bwMode="auto">
            <a:xfrm>
              <a:off x="1663" y="2647"/>
              <a:ext cx="27" cy="28"/>
            </a:xfrm>
            <a:custGeom>
              <a:avLst/>
              <a:gdLst>
                <a:gd name="T0" fmla="*/ 26 w 27"/>
                <a:gd name="T1" fmla="*/ 27 h 28"/>
                <a:gd name="T2" fmla="*/ 26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0"/>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6" name="Freeform 3426"/>
            <p:cNvSpPr>
              <a:spLocks/>
            </p:cNvSpPr>
            <p:nvPr/>
          </p:nvSpPr>
          <p:spPr bwMode="auto">
            <a:xfrm>
              <a:off x="1676"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7" name="Line 3427"/>
            <p:cNvSpPr>
              <a:spLocks noChangeShapeType="1"/>
            </p:cNvSpPr>
            <p:nvPr/>
          </p:nvSpPr>
          <p:spPr bwMode="auto">
            <a:xfrm>
              <a:off x="1676" y="266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8" name="Freeform 3428"/>
            <p:cNvSpPr>
              <a:spLocks/>
            </p:cNvSpPr>
            <p:nvPr/>
          </p:nvSpPr>
          <p:spPr bwMode="auto">
            <a:xfrm>
              <a:off x="1676" y="2647"/>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09" name="Freeform 3429"/>
            <p:cNvSpPr>
              <a:spLocks/>
            </p:cNvSpPr>
            <p:nvPr/>
          </p:nvSpPr>
          <p:spPr bwMode="auto">
            <a:xfrm>
              <a:off x="1676" y="2647"/>
              <a:ext cx="26" cy="28"/>
            </a:xfrm>
            <a:custGeom>
              <a:avLst/>
              <a:gdLst>
                <a:gd name="T0" fmla="*/ 25 w 26"/>
                <a:gd name="T1" fmla="*/ 27 h 28"/>
                <a:gd name="T2" fmla="*/ 25 w 26"/>
                <a:gd name="T3" fmla="*/ 0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0"/>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0" name="Freeform 3430"/>
            <p:cNvSpPr>
              <a:spLocks/>
            </p:cNvSpPr>
            <p:nvPr/>
          </p:nvSpPr>
          <p:spPr bwMode="auto">
            <a:xfrm>
              <a:off x="1689"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1" name="Line 3431"/>
            <p:cNvSpPr>
              <a:spLocks noChangeShapeType="1"/>
            </p:cNvSpPr>
            <p:nvPr/>
          </p:nvSpPr>
          <p:spPr bwMode="auto">
            <a:xfrm>
              <a:off x="1689" y="2661"/>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2" name="Freeform 3432"/>
            <p:cNvSpPr>
              <a:spLocks/>
            </p:cNvSpPr>
            <p:nvPr/>
          </p:nvSpPr>
          <p:spPr bwMode="auto">
            <a:xfrm>
              <a:off x="1689" y="2647"/>
              <a:ext cx="24" cy="28"/>
            </a:xfrm>
            <a:custGeom>
              <a:avLst/>
              <a:gdLst>
                <a:gd name="T0" fmla="*/ 23 w 24"/>
                <a:gd name="T1" fmla="*/ 12 h 28"/>
                <a:gd name="T2" fmla="*/ 0 w 24"/>
                <a:gd name="T3" fmla="*/ 0 h 28"/>
                <a:gd name="T4" fmla="*/ 0 w 24"/>
                <a:gd name="T5" fmla="*/ 27 h 28"/>
                <a:gd name="T6" fmla="*/ 23 w 24"/>
                <a:gd name="T7" fmla="*/ 12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2"/>
                  </a:moveTo>
                  <a:lnTo>
                    <a:pt x="0" y="0"/>
                  </a:lnTo>
                  <a:lnTo>
                    <a:pt x="0" y="27"/>
                  </a:lnTo>
                  <a:lnTo>
                    <a:pt x="23"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3" name="Freeform 3433"/>
            <p:cNvSpPr>
              <a:spLocks/>
            </p:cNvSpPr>
            <p:nvPr/>
          </p:nvSpPr>
          <p:spPr bwMode="auto">
            <a:xfrm>
              <a:off x="1689" y="2640"/>
              <a:ext cx="24" cy="28"/>
            </a:xfrm>
            <a:custGeom>
              <a:avLst/>
              <a:gdLst>
                <a:gd name="T0" fmla="*/ 23 w 24"/>
                <a:gd name="T1" fmla="*/ 27 h 28"/>
                <a:gd name="T2" fmla="*/ 23 w 24"/>
                <a:gd name="T3" fmla="*/ 0 h 28"/>
                <a:gd name="T4" fmla="*/ 0 w 24"/>
                <a:gd name="T5" fmla="*/ 13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13"/>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4" name="Freeform 3434"/>
            <p:cNvSpPr>
              <a:spLocks/>
            </p:cNvSpPr>
            <p:nvPr/>
          </p:nvSpPr>
          <p:spPr bwMode="auto">
            <a:xfrm>
              <a:off x="1701"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5" name="Line 3435"/>
            <p:cNvSpPr>
              <a:spLocks noChangeShapeType="1"/>
            </p:cNvSpPr>
            <p:nvPr/>
          </p:nvSpPr>
          <p:spPr bwMode="auto">
            <a:xfrm>
              <a:off x="1701" y="2653"/>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6" name="Freeform 3436"/>
            <p:cNvSpPr>
              <a:spLocks/>
            </p:cNvSpPr>
            <p:nvPr/>
          </p:nvSpPr>
          <p:spPr bwMode="auto">
            <a:xfrm>
              <a:off x="1701" y="2640"/>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7" name="Freeform 3437"/>
            <p:cNvSpPr>
              <a:spLocks/>
            </p:cNvSpPr>
            <p:nvPr/>
          </p:nvSpPr>
          <p:spPr bwMode="auto">
            <a:xfrm>
              <a:off x="1701" y="2640"/>
              <a:ext cx="27" cy="28"/>
            </a:xfrm>
            <a:custGeom>
              <a:avLst/>
              <a:gdLst>
                <a:gd name="T0" fmla="*/ 26 w 27"/>
                <a:gd name="T1" fmla="*/ 27 h 28"/>
                <a:gd name="T2" fmla="*/ 11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1" y="0"/>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8" name="Freeform 3438"/>
            <p:cNvSpPr>
              <a:spLocks/>
            </p:cNvSpPr>
            <p:nvPr/>
          </p:nvSpPr>
          <p:spPr bwMode="auto">
            <a:xfrm>
              <a:off x="1712"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19" name="Line 3439"/>
            <p:cNvSpPr>
              <a:spLocks noChangeShapeType="1"/>
            </p:cNvSpPr>
            <p:nvPr/>
          </p:nvSpPr>
          <p:spPr bwMode="auto">
            <a:xfrm>
              <a:off x="1712" y="265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0" name="Freeform 3440"/>
            <p:cNvSpPr>
              <a:spLocks/>
            </p:cNvSpPr>
            <p:nvPr/>
          </p:nvSpPr>
          <p:spPr bwMode="auto">
            <a:xfrm>
              <a:off x="1705" y="2640"/>
              <a:ext cx="25" cy="28"/>
            </a:xfrm>
            <a:custGeom>
              <a:avLst/>
              <a:gdLst>
                <a:gd name="T0" fmla="*/ 24 w 25"/>
                <a:gd name="T1" fmla="*/ 13 h 28"/>
                <a:gd name="T2" fmla="*/ 0 w 25"/>
                <a:gd name="T3" fmla="*/ 0 h 28"/>
                <a:gd name="T4" fmla="*/ 9 w 25"/>
                <a:gd name="T5" fmla="*/ 27 h 28"/>
                <a:gd name="T6" fmla="*/ 24 w 25"/>
                <a:gd name="T7" fmla="*/ 13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13"/>
                  </a:moveTo>
                  <a:lnTo>
                    <a:pt x="0" y="0"/>
                  </a:lnTo>
                  <a:lnTo>
                    <a:pt x="9" y="27"/>
                  </a:lnTo>
                  <a:lnTo>
                    <a:pt x="24"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1" name="Freeform 3441"/>
            <p:cNvSpPr>
              <a:spLocks/>
            </p:cNvSpPr>
            <p:nvPr/>
          </p:nvSpPr>
          <p:spPr bwMode="auto">
            <a:xfrm>
              <a:off x="1705" y="2632"/>
              <a:ext cx="25" cy="27"/>
            </a:xfrm>
            <a:custGeom>
              <a:avLst/>
              <a:gdLst>
                <a:gd name="T0" fmla="*/ 24 w 25"/>
                <a:gd name="T1" fmla="*/ 26 h 27"/>
                <a:gd name="T2" fmla="*/ 16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6" y="0"/>
                  </a:lnTo>
                  <a:lnTo>
                    <a:pt x="0" y="14"/>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2" name="Freeform 3442"/>
            <p:cNvSpPr>
              <a:spLocks/>
            </p:cNvSpPr>
            <p:nvPr/>
          </p:nvSpPr>
          <p:spPr bwMode="auto">
            <a:xfrm>
              <a:off x="1722" y="2640"/>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3" name="Line 3443"/>
            <p:cNvSpPr>
              <a:spLocks noChangeShapeType="1"/>
            </p:cNvSpPr>
            <p:nvPr/>
          </p:nvSpPr>
          <p:spPr bwMode="auto">
            <a:xfrm>
              <a:off x="1722" y="264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4" name="Freeform 3444"/>
            <p:cNvSpPr>
              <a:spLocks/>
            </p:cNvSpPr>
            <p:nvPr/>
          </p:nvSpPr>
          <p:spPr bwMode="auto">
            <a:xfrm>
              <a:off x="1718" y="2632"/>
              <a:ext cx="27" cy="27"/>
            </a:xfrm>
            <a:custGeom>
              <a:avLst/>
              <a:gdLst>
                <a:gd name="T0" fmla="*/ 26 w 27"/>
                <a:gd name="T1" fmla="*/ 14 h 27"/>
                <a:gd name="T2" fmla="*/ 0 w 27"/>
                <a:gd name="T3" fmla="*/ 0 h 27"/>
                <a:gd name="T4" fmla="*/ 8 w 27"/>
                <a:gd name="T5" fmla="*/ 26 h 27"/>
                <a:gd name="T6" fmla="*/ 26 w 27"/>
                <a:gd name="T7" fmla="*/ 14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4"/>
                  </a:moveTo>
                  <a:lnTo>
                    <a:pt x="0" y="0"/>
                  </a:lnTo>
                  <a:lnTo>
                    <a:pt x="8" y="26"/>
                  </a:lnTo>
                  <a:lnTo>
                    <a:pt x="26"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5" name="Freeform 3445"/>
            <p:cNvSpPr>
              <a:spLocks/>
            </p:cNvSpPr>
            <p:nvPr/>
          </p:nvSpPr>
          <p:spPr bwMode="auto">
            <a:xfrm>
              <a:off x="1718" y="2632"/>
              <a:ext cx="27" cy="27"/>
            </a:xfrm>
            <a:custGeom>
              <a:avLst/>
              <a:gdLst>
                <a:gd name="T0" fmla="*/ 26 w 27"/>
                <a:gd name="T1" fmla="*/ 26 h 27"/>
                <a:gd name="T2" fmla="*/ 18 w 27"/>
                <a:gd name="T3" fmla="*/ 0 h 27"/>
                <a:gd name="T4" fmla="*/ 0 w 27"/>
                <a:gd name="T5" fmla="*/ 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0"/>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6" name="Freeform 3446"/>
            <p:cNvSpPr>
              <a:spLocks/>
            </p:cNvSpPr>
            <p:nvPr/>
          </p:nvSpPr>
          <p:spPr bwMode="auto">
            <a:xfrm>
              <a:off x="1736" y="263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7" name="Line 3447"/>
            <p:cNvSpPr>
              <a:spLocks noChangeShapeType="1"/>
            </p:cNvSpPr>
            <p:nvPr/>
          </p:nvSpPr>
          <p:spPr bwMode="auto">
            <a:xfrm>
              <a:off x="1736" y="2640"/>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8" name="Freeform 3448"/>
            <p:cNvSpPr>
              <a:spLocks/>
            </p:cNvSpPr>
            <p:nvPr/>
          </p:nvSpPr>
          <p:spPr bwMode="auto">
            <a:xfrm>
              <a:off x="1731" y="2632"/>
              <a:ext cx="26" cy="27"/>
            </a:xfrm>
            <a:custGeom>
              <a:avLst/>
              <a:gdLst>
                <a:gd name="T0" fmla="*/ 25 w 26"/>
                <a:gd name="T1" fmla="*/ 26 h 27"/>
                <a:gd name="T2" fmla="*/ 0 w 26"/>
                <a:gd name="T3" fmla="*/ 0 h 27"/>
                <a:gd name="T4" fmla="*/ 7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0" y="0"/>
                  </a:lnTo>
                  <a:lnTo>
                    <a:pt x="7" y="26"/>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29" name="Freeform 3449"/>
            <p:cNvSpPr>
              <a:spLocks/>
            </p:cNvSpPr>
            <p:nvPr/>
          </p:nvSpPr>
          <p:spPr bwMode="auto">
            <a:xfrm>
              <a:off x="1731" y="2626"/>
              <a:ext cx="26" cy="27"/>
            </a:xfrm>
            <a:custGeom>
              <a:avLst/>
              <a:gdLst>
                <a:gd name="T0" fmla="*/ 25 w 26"/>
                <a:gd name="T1" fmla="*/ 26 h 27"/>
                <a:gd name="T2" fmla="*/ 15 w 26"/>
                <a:gd name="T3" fmla="*/ 0 h 27"/>
                <a:gd name="T4" fmla="*/ 0 w 26"/>
                <a:gd name="T5" fmla="*/ 11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11"/>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0" name="Freeform 3450"/>
            <p:cNvSpPr>
              <a:spLocks/>
            </p:cNvSpPr>
            <p:nvPr/>
          </p:nvSpPr>
          <p:spPr bwMode="auto">
            <a:xfrm>
              <a:off x="1750"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1" name="Line 3451"/>
            <p:cNvSpPr>
              <a:spLocks noChangeShapeType="1"/>
            </p:cNvSpPr>
            <p:nvPr/>
          </p:nvSpPr>
          <p:spPr bwMode="auto">
            <a:xfrm>
              <a:off x="1750" y="2640"/>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2" name="Freeform 3452"/>
            <p:cNvSpPr>
              <a:spLocks/>
            </p:cNvSpPr>
            <p:nvPr/>
          </p:nvSpPr>
          <p:spPr bwMode="auto">
            <a:xfrm>
              <a:off x="1742" y="2626"/>
              <a:ext cx="26" cy="27"/>
            </a:xfrm>
            <a:custGeom>
              <a:avLst/>
              <a:gdLst>
                <a:gd name="T0" fmla="*/ 25 w 26"/>
                <a:gd name="T1" fmla="*/ 11 h 27"/>
                <a:gd name="T2" fmla="*/ 0 w 26"/>
                <a:gd name="T3" fmla="*/ 0 h 27"/>
                <a:gd name="T4" fmla="*/ 9 w 26"/>
                <a:gd name="T5" fmla="*/ 26 h 27"/>
                <a:gd name="T6" fmla="*/ 25 w 26"/>
                <a:gd name="T7" fmla="*/ 11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1"/>
                  </a:moveTo>
                  <a:lnTo>
                    <a:pt x="0" y="0"/>
                  </a:lnTo>
                  <a:lnTo>
                    <a:pt x="9" y="26"/>
                  </a:lnTo>
                  <a:lnTo>
                    <a:pt x="25"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3" name="Freeform 3453"/>
            <p:cNvSpPr>
              <a:spLocks/>
            </p:cNvSpPr>
            <p:nvPr/>
          </p:nvSpPr>
          <p:spPr bwMode="auto">
            <a:xfrm>
              <a:off x="1742" y="2619"/>
              <a:ext cx="26" cy="27"/>
            </a:xfrm>
            <a:custGeom>
              <a:avLst/>
              <a:gdLst>
                <a:gd name="T0" fmla="*/ 25 w 26"/>
                <a:gd name="T1" fmla="*/ 26 h 27"/>
                <a:gd name="T2" fmla="*/ 17 w 26"/>
                <a:gd name="T3" fmla="*/ 0 h 27"/>
                <a:gd name="T4" fmla="*/ 0 w 26"/>
                <a:gd name="T5" fmla="*/ 13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7" y="0"/>
                  </a:lnTo>
                  <a:lnTo>
                    <a:pt x="0" y="13"/>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4" name="Freeform 3454"/>
            <p:cNvSpPr>
              <a:spLocks/>
            </p:cNvSpPr>
            <p:nvPr/>
          </p:nvSpPr>
          <p:spPr bwMode="auto">
            <a:xfrm>
              <a:off x="1759"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5" name="Line 3455"/>
            <p:cNvSpPr>
              <a:spLocks noChangeShapeType="1"/>
            </p:cNvSpPr>
            <p:nvPr/>
          </p:nvSpPr>
          <p:spPr bwMode="auto">
            <a:xfrm>
              <a:off x="1759" y="2632"/>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6" name="Freeform 3456"/>
            <p:cNvSpPr>
              <a:spLocks/>
            </p:cNvSpPr>
            <p:nvPr/>
          </p:nvSpPr>
          <p:spPr bwMode="auto">
            <a:xfrm>
              <a:off x="1754" y="2619"/>
              <a:ext cx="27" cy="27"/>
            </a:xfrm>
            <a:custGeom>
              <a:avLst/>
              <a:gdLst>
                <a:gd name="T0" fmla="*/ 26 w 27"/>
                <a:gd name="T1" fmla="*/ 13 h 27"/>
                <a:gd name="T2" fmla="*/ 0 w 27"/>
                <a:gd name="T3" fmla="*/ 0 h 27"/>
                <a:gd name="T4" fmla="*/ 8 w 27"/>
                <a:gd name="T5" fmla="*/ 26 h 27"/>
                <a:gd name="T6" fmla="*/ 26 w 27"/>
                <a:gd name="T7" fmla="*/ 13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3"/>
                  </a:moveTo>
                  <a:lnTo>
                    <a:pt x="0" y="0"/>
                  </a:lnTo>
                  <a:lnTo>
                    <a:pt x="8" y="26"/>
                  </a:lnTo>
                  <a:lnTo>
                    <a:pt x="26"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7" name="Freeform 3457"/>
            <p:cNvSpPr>
              <a:spLocks/>
            </p:cNvSpPr>
            <p:nvPr/>
          </p:nvSpPr>
          <p:spPr bwMode="auto">
            <a:xfrm>
              <a:off x="1754" y="2611"/>
              <a:ext cx="27" cy="27"/>
            </a:xfrm>
            <a:custGeom>
              <a:avLst/>
              <a:gdLst>
                <a:gd name="T0" fmla="*/ 26 w 27"/>
                <a:gd name="T1" fmla="*/ 26 h 27"/>
                <a:gd name="T2" fmla="*/ 18 w 27"/>
                <a:gd name="T3" fmla="*/ 0 h 27"/>
                <a:gd name="T4" fmla="*/ 0 w 27"/>
                <a:gd name="T5" fmla="*/ 14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14"/>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8" name="Freeform 3458"/>
            <p:cNvSpPr>
              <a:spLocks/>
            </p:cNvSpPr>
            <p:nvPr/>
          </p:nvSpPr>
          <p:spPr bwMode="auto">
            <a:xfrm>
              <a:off x="1774" y="2619"/>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39" name="Line 3459"/>
            <p:cNvSpPr>
              <a:spLocks noChangeShapeType="1"/>
            </p:cNvSpPr>
            <p:nvPr/>
          </p:nvSpPr>
          <p:spPr bwMode="auto">
            <a:xfrm>
              <a:off x="1774" y="2626"/>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0" name="Freeform 3460"/>
            <p:cNvSpPr>
              <a:spLocks/>
            </p:cNvSpPr>
            <p:nvPr/>
          </p:nvSpPr>
          <p:spPr bwMode="auto">
            <a:xfrm>
              <a:off x="1767" y="2611"/>
              <a:ext cx="26" cy="27"/>
            </a:xfrm>
            <a:custGeom>
              <a:avLst/>
              <a:gdLst>
                <a:gd name="T0" fmla="*/ 25 w 26"/>
                <a:gd name="T1" fmla="*/ 14 h 27"/>
                <a:gd name="T2" fmla="*/ 0 w 26"/>
                <a:gd name="T3" fmla="*/ 0 h 27"/>
                <a:gd name="T4" fmla="*/ 7 w 26"/>
                <a:gd name="T5" fmla="*/ 26 h 27"/>
                <a:gd name="T6" fmla="*/ 25 w 26"/>
                <a:gd name="T7" fmla="*/ 14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4"/>
                  </a:moveTo>
                  <a:lnTo>
                    <a:pt x="0" y="0"/>
                  </a:lnTo>
                  <a:lnTo>
                    <a:pt x="7" y="26"/>
                  </a:lnTo>
                  <a:lnTo>
                    <a:pt x="25"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1" name="Freeform 3461"/>
            <p:cNvSpPr>
              <a:spLocks/>
            </p:cNvSpPr>
            <p:nvPr/>
          </p:nvSpPr>
          <p:spPr bwMode="auto">
            <a:xfrm>
              <a:off x="1767" y="2604"/>
              <a:ext cx="26" cy="28"/>
            </a:xfrm>
            <a:custGeom>
              <a:avLst/>
              <a:gdLst>
                <a:gd name="T0" fmla="*/ 25 w 26"/>
                <a:gd name="T1" fmla="*/ 27 h 28"/>
                <a:gd name="T2" fmla="*/ 17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17" y="0"/>
                  </a:lnTo>
                  <a:lnTo>
                    <a:pt x="0" y="12"/>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2" name="Freeform 3462"/>
            <p:cNvSpPr>
              <a:spLocks/>
            </p:cNvSpPr>
            <p:nvPr/>
          </p:nvSpPr>
          <p:spPr bwMode="auto">
            <a:xfrm>
              <a:off x="1785" y="2604"/>
              <a:ext cx="1" cy="28"/>
            </a:xfrm>
            <a:custGeom>
              <a:avLst/>
              <a:gdLst>
                <a:gd name="T0" fmla="*/ 0 w 1"/>
                <a:gd name="T1" fmla="*/ 12 h 28"/>
                <a:gd name="T2" fmla="*/ 0 w 1"/>
                <a:gd name="T3" fmla="*/ 27 h 28"/>
                <a:gd name="T4" fmla="*/ 0 w 1"/>
                <a:gd name="T5" fmla="*/ 0 h 28"/>
                <a:gd name="T6" fmla="*/ 0 w 1"/>
                <a:gd name="T7" fmla="*/ 12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12"/>
                  </a:moveTo>
                  <a:lnTo>
                    <a:pt x="0" y="27"/>
                  </a:lnTo>
                  <a:lnTo>
                    <a:pt x="0" y="0"/>
                  </a:lnTo>
                  <a:lnTo>
                    <a:pt x="0"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3" name="Freeform 3463"/>
            <p:cNvSpPr>
              <a:spLocks/>
            </p:cNvSpPr>
            <p:nvPr/>
          </p:nvSpPr>
          <p:spPr bwMode="auto">
            <a:xfrm>
              <a:off x="1785" y="2611"/>
              <a:ext cx="1" cy="27"/>
            </a:xfrm>
            <a:custGeom>
              <a:avLst/>
              <a:gdLst>
                <a:gd name="T0" fmla="*/ 0 w 1"/>
                <a:gd name="T1" fmla="*/ 0 h 27"/>
                <a:gd name="T2" fmla="*/ 0 w 1"/>
                <a:gd name="T3" fmla="*/ 26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4" name="Freeform 3464"/>
            <p:cNvSpPr>
              <a:spLocks/>
            </p:cNvSpPr>
            <p:nvPr/>
          </p:nvSpPr>
          <p:spPr bwMode="auto">
            <a:xfrm>
              <a:off x="1781" y="2604"/>
              <a:ext cx="26" cy="28"/>
            </a:xfrm>
            <a:custGeom>
              <a:avLst/>
              <a:gdLst>
                <a:gd name="T0" fmla="*/ 25 w 26"/>
                <a:gd name="T1" fmla="*/ 0 h 28"/>
                <a:gd name="T2" fmla="*/ 0 w 26"/>
                <a:gd name="T3" fmla="*/ 0 h 28"/>
                <a:gd name="T4" fmla="*/ 7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7"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5" name="Freeform 3465"/>
            <p:cNvSpPr>
              <a:spLocks/>
            </p:cNvSpPr>
            <p:nvPr/>
          </p:nvSpPr>
          <p:spPr bwMode="auto">
            <a:xfrm>
              <a:off x="1781" y="2598"/>
              <a:ext cx="26" cy="27"/>
            </a:xfrm>
            <a:custGeom>
              <a:avLst/>
              <a:gdLst>
                <a:gd name="T0" fmla="*/ 25 w 26"/>
                <a:gd name="T1" fmla="*/ 26 h 27"/>
                <a:gd name="T2" fmla="*/ 15 w 26"/>
                <a:gd name="T3" fmla="*/ 0 h 27"/>
                <a:gd name="T4" fmla="*/ 0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26"/>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6" name="Freeform 3466"/>
            <p:cNvSpPr>
              <a:spLocks/>
            </p:cNvSpPr>
            <p:nvPr/>
          </p:nvSpPr>
          <p:spPr bwMode="auto">
            <a:xfrm>
              <a:off x="1797" y="25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7" name="Line 3467"/>
            <p:cNvSpPr>
              <a:spLocks noChangeShapeType="1"/>
            </p:cNvSpPr>
            <p:nvPr/>
          </p:nvSpPr>
          <p:spPr bwMode="auto">
            <a:xfrm>
              <a:off x="1797" y="2604"/>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8" name="Freeform 3468"/>
            <p:cNvSpPr>
              <a:spLocks/>
            </p:cNvSpPr>
            <p:nvPr/>
          </p:nvSpPr>
          <p:spPr bwMode="auto">
            <a:xfrm>
              <a:off x="1792" y="2598"/>
              <a:ext cx="24" cy="27"/>
            </a:xfrm>
            <a:custGeom>
              <a:avLst/>
              <a:gdLst>
                <a:gd name="T0" fmla="*/ 23 w 24"/>
                <a:gd name="T1" fmla="*/ 0 h 27"/>
                <a:gd name="T2" fmla="*/ 0 w 24"/>
                <a:gd name="T3" fmla="*/ 0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0"/>
                  </a:lnTo>
                  <a:lnTo>
                    <a:pt x="8"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49" name="Freeform 3469"/>
            <p:cNvSpPr>
              <a:spLocks/>
            </p:cNvSpPr>
            <p:nvPr/>
          </p:nvSpPr>
          <p:spPr bwMode="auto">
            <a:xfrm>
              <a:off x="1792" y="2584"/>
              <a:ext cx="24" cy="26"/>
            </a:xfrm>
            <a:custGeom>
              <a:avLst/>
              <a:gdLst>
                <a:gd name="T0" fmla="*/ 23 w 24"/>
                <a:gd name="T1" fmla="*/ 25 h 26"/>
                <a:gd name="T2" fmla="*/ 8 w 24"/>
                <a:gd name="T3" fmla="*/ 0 h 26"/>
                <a:gd name="T4" fmla="*/ 0 w 24"/>
                <a:gd name="T5" fmla="*/ 25 h 26"/>
                <a:gd name="T6" fmla="*/ 23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25"/>
                  </a:moveTo>
                  <a:lnTo>
                    <a:pt x="8" y="0"/>
                  </a:lnTo>
                  <a:lnTo>
                    <a:pt x="0" y="25"/>
                  </a:lnTo>
                  <a:lnTo>
                    <a:pt x="23"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0" name="Freeform 3470"/>
            <p:cNvSpPr>
              <a:spLocks/>
            </p:cNvSpPr>
            <p:nvPr/>
          </p:nvSpPr>
          <p:spPr bwMode="auto">
            <a:xfrm>
              <a:off x="1805" y="2589"/>
              <a:ext cx="26" cy="28"/>
            </a:xfrm>
            <a:custGeom>
              <a:avLst/>
              <a:gdLst>
                <a:gd name="T0" fmla="*/ 25 w 26"/>
                <a:gd name="T1" fmla="*/ 27 h 28"/>
                <a:gd name="T2" fmla="*/ 25 w 26"/>
                <a:gd name="T3" fmla="*/ 27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27"/>
                  </a:lnTo>
                  <a:lnTo>
                    <a:pt x="0" y="0"/>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1" name="Line 3471"/>
            <p:cNvSpPr>
              <a:spLocks noChangeShapeType="1"/>
            </p:cNvSpPr>
            <p:nvPr/>
          </p:nvSpPr>
          <p:spPr bwMode="auto">
            <a:xfrm>
              <a:off x="1809" y="2598"/>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2" name="Freeform 3472"/>
            <p:cNvSpPr>
              <a:spLocks/>
            </p:cNvSpPr>
            <p:nvPr/>
          </p:nvSpPr>
          <p:spPr bwMode="auto">
            <a:xfrm>
              <a:off x="1797" y="2584"/>
              <a:ext cx="27" cy="26"/>
            </a:xfrm>
            <a:custGeom>
              <a:avLst/>
              <a:gdLst>
                <a:gd name="T0" fmla="*/ 26 w 27"/>
                <a:gd name="T1" fmla="*/ 0 h 26"/>
                <a:gd name="T2" fmla="*/ 0 w 27"/>
                <a:gd name="T3" fmla="*/ 0 h 26"/>
                <a:gd name="T4" fmla="*/ 12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0"/>
                  </a:lnTo>
                  <a:lnTo>
                    <a:pt x="12" y="2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3" name="Freeform 3473"/>
            <p:cNvSpPr>
              <a:spLocks/>
            </p:cNvSpPr>
            <p:nvPr/>
          </p:nvSpPr>
          <p:spPr bwMode="auto">
            <a:xfrm>
              <a:off x="1797" y="2576"/>
              <a:ext cx="27" cy="28"/>
            </a:xfrm>
            <a:custGeom>
              <a:avLst/>
              <a:gdLst>
                <a:gd name="T0" fmla="*/ 26 w 27"/>
                <a:gd name="T1" fmla="*/ 27 h 28"/>
                <a:gd name="T2" fmla="*/ 12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2"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4" name="Freeform 3474"/>
            <p:cNvSpPr>
              <a:spLocks/>
            </p:cNvSpPr>
            <p:nvPr/>
          </p:nvSpPr>
          <p:spPr bwMode="auto">
            <a:xfrm>
              <a:off x="1815" y="2576"/>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5" name="Line 3475"/>
            <p:cNvSpPr>
              <a:spLocks noChangeShapeType="1"/>
            </p:cNvSpPr>
            <p:nvPr/>
          </p:nvSpPr>
          <p:spPr bwMode="auto">
            <a:xfrm>
              <a:off x="1823" y="2584"/>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6" name="Freeform 3476"/>
            <p:cNvSpPr>
              <a:spLocks/>
            </p:cNvSpPr>
            <p:nvPr/>
          </p:nvSpPr>
          <p:spPr bwMode="auto">
            <a:xfrm>
              <a:off x="1809" y="2568"/>
              <a:ext cx="27" cy="28"/>
            </a:xfrm>
            <a:custGeom>
              <a:avLst/>
              <a:gdLst>
                <a:gd name="T0" fmla="*/ 26 w 27"/>
                <a:gd name="T1" fmla="*/ 0 h 28"/>
                <a:gd name="T2" fmla="*/ 0 w 27"/>
                <a:gd name="T3" fmla="*/ 15 h 28"/>
                <a:gd name="T4" fmla="*/ 13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3"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7" name="Freeform 3477"/>
            <p:cNvSpPr>
              <a:spLocks/>
            </p:cNvSpPr>
            <p:nvPr/>
          </p:nvSpPr>
          <p:spPr bwMode="auto">
            <a:xfrm>
              <a:off x="1809" y="2562"/>
              <a:ext cx="27" cy="27"/>
            </a:xfrm>
            <a:custGeom>
              <a:avLst/>
              <a:gdLst>
                <a:gd name="T0" fmla="*/ 26 w 27"/>
                <a:gd name="T1" fmla="*/ 11 h 27"/>
                <a:gd name="T2" fmla="*/ 13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3" y="0"/>
                  </a:lnTo>
                  <a:lnTo>
                    <a:pt x="0" y="26"/>
                  </a:lnTo>
                  <a:lnTo>
                    <a:pt x="26"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8" name="Freeform 3478"/>
            <p:cNvSpPr>
              <a:spLocks/>
            </p:cNvSpPr>
            <p:nvPr/>
          </p:nvSpPr>
          <p:spPr bwMode="auto">
            <a:xfrm>
              <a:off x="1828" y="2562"/>
              <a:ext cx="26" cy="27"/>
            </a:xfrm>
            <a:custGeom>
              <a:avLst/>
              <a:gdLst>
                <a:gd name="T0" fmla="*/ 25 w 26"/>
                <a:gd name="T1" fmla="*/ 26 h 27"/>
                <a:gd name="T2" fmla="*/ 25 w 26"/>
                <a:gd name="T3" fmla="*/ 26 h 27"/>
                <a:gd name="T4" fmla="*/ 0 w 26"/>
                <a:gd name="T5" fmla="*/ 0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26"/>
                  </a:lnTo>
                  <a:lnTo>
                    <a:pt x="0" y="0"/>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59" name="Line 3479"/>
            <p:cNvSpPr>
              <a:spLocks noChangeShapeType="1"/>
            </p:cNvSpPr>
            <p:nvPr/>
          </p:nvSpPr>
          <p:spPr bwMode="auto">
            <a:xfrm>
              <a:off x="1835" y="25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0" name="Freeform 3480"/>
            <p:cNvSpPr>
              <a:spLocks/>
            </p:cNvSpPr>
            <p:nvPr/>
          </p:nvSpPr>
          <p:spPr bwMode="auto">
            <a:xfrm>
              <a:off x="1823" y="2556"/>
              <a:ext cx="25" cy="26"/>
            </a:xfrm>
            <a:custGeom>
              <a:avLst/>
              <a:gdLst>
                <a:gd name="T0" fmla="*/ 24 w 25"/>
                <a:gd name="T1" fmla="*/ 0 h 26"/>
                <a:gd name="T2" fmla="*/ 0 w 25"/>
                <a:gd name="T3" fmla="*/ 12 h 26"/>
                <a:gd name="T4" fmla="*/ 12 w 25"/>
                <a:gd name="T5" fmla="*/ 25 h 26"/>
                <a:gd name="T6" fmla="*/ 24 w 25"/>
                <a:gd name="T7" fmla="*/ 0 h 26"/>
                <a:gd name="T8" fmla="*/ 0 60000 65536"/>
                <a:gd name="T9" fmla="*/ 0 60000 65536"/>
                <a:gd name="T10" fmla="*/ 0 60000 65536"/>
                <a:gd name="T11" fmla="*/ 0 60000 65536"/>
                <a:gd name="T12" fmla="*/ 0 w 25"/>
                <a:gd name="T13" fmla="*/ 0 h 26"/>
                <a:gd name="T14" fmla="*/ 25 w 25"/>
                <a:gd name="T15" fmla="*/ 26 h 26"/>
              </a:gdLst>
              <a:ahLst/>
              <a:cxnLst>
                <a:cxn ang="T8">
                  <a:pos x="T0" y="T1"/>
                </a:cxn>
                <a:cxn ang="T9">
                  <a:pos x="T2" y="T3"/>
                </a:cxn>
                <a:cxn ang="T10">
                  <a:pos x="T4" y="T5"/>
                </a:cxn>
                <a:cxn ang="T11">
                  <a:pos x="T6" y="T7"/>
                </a:cxn>
              </a:cxnLst>
              <a:rect l="T12" t="T13" r="T14" b="T15"/>
              <a:pathLst>
                <a:path w="25" h="26">
                  <a:moveTo>
                    <a:pt x="24" y="0"/>
                  </a:moveTo>
                  <a:lnTo>
                    <a:pt x="0" y="12"/>
                  </a:lnTo>
                  <a:lnTo>
                    <a:pt x="12" y="25"/>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1" name="Freeform 3481"/>
            <p:cNvSpPr>
              <a:spLocks/>
            </p:cNvSpPr>
            <p:nvPr/>
          </p:nvSpPr>
          <p:spPr bwMode="auto">
            <a:xfrm>
              <a:off x="1823" y="2547"/>
              <a:ext cx="25" cy="27"/>
            </a:xfrm>
            <a:custGeom>
              <a:avLst/>
              <a:gdLst>
                <a:gd name="T0" fmla="*/ 24 w 25"/>
                <a:gd name="T1" fmla="*/ 14 h 27"/>
                <a:gd name="T2" fmla="*/ 12 w 25"/>
                <a:gd name="T3" fmla="*/ 0 h 27"/>
                <a:gd name="T4" fmla="*/ 0 w 25"/>
                <a:gd name="T5" fmla="*/ 26 h 27"/>
                <a:gd name="T6" fmla="*/ 24 w 25"/>
                <a:gd name="T7" fmla="*/ 14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14"/>
                  </a:moveTo>
                  <a:lnTo>
                    <a:pt x="12" y="0"/>
                  </a:lnTo>
                  <a:lnTo>
                    <a:pt x="0" y="26"/>
                  </a:lnTo>
                  <a:lnTo>
                    <a:pt x="24"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2" name="Freeform 3482"/>
            <p:cNvSpPr>
              <a:spLocks/>
            </p:cNvSpPr>
            <p:nvPr/>
          </p:nvSpPr>
          <p:spPr bwMode="auto">
            <a:xfrm>
              <a:off x="1842" y="2547"/>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3" name="Line 3483"/>
            <p:cNvSpPr>
              <a:spLocks noChangeShapeType="1"/>
            </p:cNvSpPr>
            <p:nvPr/>
          </p:nvSpPr>
          <p:spPr bwMode="auto">
            <a:xfrm>
              <a:off x="1846" y="2556"/>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4" name="Freeform 3484"/>
            <p:cNvSpPr>
              <a:spLocks/>
            </p:cNvSpPr>
            <p:nvPr/>
          </p:nvSpPr>
          <p:spPr bwMode="auto">
            <a:xfrm>
              <a:off x="1835" y="2541"/>
              <a:ext cx="27" cy="27"/>
            </a:xfrm>
            <a:custGeom>
              <a:avLst/>
              <a:gdLst>
                <a:gd name="T0" fmla="*/ 26 w 27"/>
                <a:gd name="T1" fmla="*/ 0 h 27"/>
                <a:gd name="T2" fmla="*/ 0 w 27"/>
                <a:gd name="T3" fmla="*/ 11 h 27"/>
                <a:gd name="T4" fmla="*/ 12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0" y="11"/>
                  </a:lnTo>
                  <a:lnTo>
                    <a:pt x="12" y="26"/>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5" name="Freeform 3485"/>
            <p:cNvSpPr>
              <a:spLocks/>
            </p:cNvSpPr>
            <p:nvPr/>
          </p:nvSpPr>
          <p:spPr bwMode="auto">
            <a:xfrm>
              <a:off x="1835" y="2532"/>
              <a:ext cx="27" cy="28"/>
            </a:xfrm>
            <a:custGeom>
              <a:avLst/>
              <a:gdLst>
                <a:gd name="T0" fmla="*/ 26 w 27"/>
                <a:gd name="T1" fmla="*/ 15 h 28"/>
                <a:gd name="T2" fmla="*/ 12 w 27"/>
                <a:gd name="T3" fmla="*/ 0 h 28"/>
                <a:gd name="T4" fmla="*/ 0 w 27"/>
                <a:gd name="T5" fmla="*/ 27 h 28"/>
                <a:gd name="T6" fmla="*/ 26 w 27"/>
                <a:gd name="T7" fmla="*/ 15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5"/>
                  </a:moveTo>
                  <a:lnTo>
                    <a:pt x="12" y="0"/>
                  </a:lnTo>
                  <a:lnTo>
                    <a:pt x="0" y="27"/>
                  </a:lnTo>
                  <a:lnTo>
                    <a:pt x="26"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6" name="Freeform 3486"/>
            <p:cNvSpPr>
              <a:spLocks/>
            </p:cNvSpPr>
            <p:nvPr/>
          </p:nvSpPr>
          <p:spPr bwMode="auto">
            <a:xfrm>
              <a:off x="1853" y="2532"/>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7" name="Line 3487"/>
            <p:cNvSpPr>
              <a:spLocks noChangeShapeType="1"/>
            </p:cNvSpPr>
            <p:nvPr/>
          </p:nvSpPr>
          <p:spPr bwMode="auto">
            <a:xfrm>
              <a:off x="1861" y="25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8" name="Freeform 3488"/>
            <p:cNvSpPr>
              <a:spLocks/>
            </p:cNvSpPr>
            <p:nvPr/>
          </p:nvSpPr>
          <p:spPr bwMode="auto">
            <a:xfrm>
              <a:off x="1846" y="2527"/>
              <a:ext cx="27" cy="26"/>
            </a:xfrm>
            <a:custGeom>
              <a:avLst/>
              <a:gdLst>
                <a:gd name="T0" fmla="*/ 26 w 27"/>
                <a:gd name="T1" fmla="*/ 0 h 26"/>
                <a:gd name="T2" fmla="*/ 0 w 27"/>
                <a:gd name="T3" fmla="*/ 11 h 26"/>
                <a:gd name="T4" fmla="*/ 16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11"/>
                  </a:lnTo>
                  <a:lnTo>
                    <a:pt x="16" y="2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69" name="Freeform 3489"/>
            <p:cNvSpPr>
              <a:spLocks/>
            </p:cNvSpPr>
            <p:nvPr/>
          </p:nvSpPr>
          <p:spPr bwMode="auto">
            <a:xfrm>
              <a:off x="1846" y="2519"/>
              <a:ext cx="27" cy="28"/>
            </a:xfrm>
            <a:custGeom>
              <a:avLst/>
              <a:gdLst>
                <a:gd name="T0" fmla="*/ 26 w 27"/>
                <a:gd name="T1" fmla="*/ 13 h 28"/>
                <a:gd name="T2" fmla="*/ 16 w 27"/>
                <a:gd name="T3" fmla="*/ 0 h 28"/>
                <a:gd name="T4" fmla="*/ 0 w 27"/>
                <a:gd name="T5" fmla="*/ 27 h 28"/>
                <a:gd name="T6" fmla="*/ 26 w 27"/>
                <a:gd name="T7" fmla="*/ 13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3"/>
                  </a:moveTo>
                  <a:lnTo>
                    <a:pt x="16" y="0"/>
                  </a:lnTo>
                  <a:lnTo>
                    <a:pt x="0" y="27"/>
                  </a:lnTo>
                  <a:lnTo>
                    <a:pt x="26"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0" name="Freeform 3490"/>
            <p:cNvSpPr>
              <a:spLocks/>
            </p:cNvSpPr>
            <p:nvPr/>
          </p:nvSpPr>
          <p:spPr bwMode="auto">
            <a:xfrm>
              <a:off x="1868" y="251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1" name="Line 3491"/>
            <p:cNvSpPr>
              <a:spLocks noChangeShapeType="1"/>
            </p:cNvSpPr>
            <p:nvPr/>
          </p:nvSpPr>
          <p:spPr bwMode="auto">
            <a:xfrm>
              <a:off x="1868" y="252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2" name="Freeform 3492"/>
            <p:cNvSpPr>
              <a:spLocks/>
            </p:cNvSpPr>
            <p:nvPr/>
          </p:nvSpPr>
          <p:spPr bwMode="auto">
            <a:xfrm>
              <a:off x="1861" y="2505"/>
              <a:ext cx="24" cy="26"/>
            </a:xfrm>
            <a:custGeom>
              <a:avLst/>
              <a:gdLst>
                <a:gd name="T0" fmla="*/ 23 w 24"/>
                <a:gd name="T1" fmla="*/ 0 h 26"/>
                <a:gd name="T2" fmla="*/ 0 w 24"/>
                <a:gd name="T3" fmla="*/ 17 h 26"/>
                <a:gd name="T4" fmla="*/ 8 w 24"/>
                <a:gd name="T5" fmla="*/ 25 h 26"/>
                <a:gd name="T6" fmla="*/ 23 w 24"/>
                <a:gd name="T7" fmla="*/ 0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0"/>
                  </a:moveTo>
                  <a:lnTo>
                    <a:pt x="0" y="17"/>
                  </a:lnTo>
                  <a:lnTo>
                    <a:pt x="8" y="25"/>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3" name="Freeform 3493"/>
            <p:cNvSpPr>
              <a:spLocks/>
            </p:cNvSpPr>
            <p:nvPr/>
          </p:nvSpPr>
          <p:spPr bwMode="auto">
            <a:xfrm>
              <a:off x="1861" y="2498"/>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4" name="Freeform 3494"/>
            <p:cNvSpPr>
              <a:spLocks/>
            </p:cNvSpPr>
            <p:nvPr/>
          </p:nvSpPr>
          <p:spPr bwMode="auto">
            <a:xfrm>
              <a:off x="1880" y="24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5" name="Line 3495"/>
            <p:cNvSpPr>
              <a:spLocks noChangeShapeType="1"/>
            </p:cNvSpPr>
            <p:nvPr/>
          </p:nvSpPr>
          <p:spPr bwMode="auto">
            <a:xfrm>
              <a:off x="1880" y="2505"/>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6" name="Freeform 3496"/>
            <p:cNvSpPr>
              <a:spLocks/>
            </p:cNvSpPr>
            <p:nvPr/>
          </p:nvSpPr>
          <p:spPr bwMode="auto">
            <a:xfrm>
              <a:off x="1872" y="2489"/>
              <a:ext cx="28" cy="28"/>
            </a:xfrm>
            <a:custGeom>
              <a:avLst/>
              <a:gdLst>
                <a:gd name="T0" fmla="*/ 27 w 28"/>
                <a:gd name="T1" fmla="*/ 0 h 28"/>
                <a:gd name="T2" fmla="*/ 0 w 28"/>
                <a:gd name="T3" fmla="*/ 15 h 28"/>
                <a:gd name="T4" fmla="*/ 8 w 28"/>
                <a:gd name="T5" fmla="*/ 27 h 28"/>
                <a:gd name="T6" fmla="*/ 27 w 28"/>
                <a:gd name="T7" fmla="*/ 0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0"/>
                  </a:moveTo>
                  <a:lnTo>
                    <a:pt x="0" y="15"/>
                  </a:lnTo>
                  <a:lnTo>
                    <a:pt x="8" y="27"/>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7" name="Freeform 3497"/>
            <p:cNvSpPr>
              <a:spLocks/>
            </p:cNvSpPr>
            <p:nvPr/>
          </p:nvSpPr>
          <p:spPr bwMode="auto">
            <a:xfrm>
              <a:off x="1872" y="2484"/>
              <a:ext cx="28" cy="26"/>
            </a:xfrm>
            <a:custGeom>
              <a:avLst/>
              <a:gdLst>
                <a:gd name="T0" fmla="*/ 27 w 28"/>
                <a:gd name="T1" fmla="*/ 11 h 26"/>
                <a:gd name="T2" fmla="*/ 18 w 28"/>
                <a:gd name="T3" fmla="*/ 0 h 26"/>
                <a:gd name="T4" fmla="*/ 0 w 28"/>
                <a:gd name="T5" fmla="*/ 25 h 26"/>
                <a:gd name="T6" fmla="*/ 27 w 28"/>
                <a:gd name="T7" fmla="*/ 11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11"/>
                  </a:moveTo>
                  <a:lnTo>
                    <a:pt x="18" y="0"/>
                  </a:lnTo>
                  <a:lnTo>
                    <a:pt x="0" y="25"/>
                  </a:lnTo>
                  <a:lnTo>
                    <a:pt x="27"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8" name="Freeform 3498"/>
            <p:cNvSpPr>
              <a:spLocks/>
            </p:cNvSpPr>
            <p:nvPr/>
          </p:nvSpPr>
          <p:spPr bwMode="auto">
            <a:xfrm>
              <a:off x="1891" y="2484"/>
              <a:ext cx="1" cy="26"/>
            </a:xfrm>
            <a:custGeom>
              <a:avLst/>
              <a:gdLst>
                <a:gd name="T0" fmla="*/ 0 w 1"/>
                <a:gd name="T1" fmla="*/ 25 h 26"/>
                <a:gd name="T2" fmla="*/ 0 w 1"/>
                <a:gd name="T3" fmla="*/ 25 h 26"/>
                <a:gd name="T4" fmla="*/ 0 w 1"/>
                <a:gd name="T5" fmla="*/ 0 h 26"/>
                <a:gd name="T6" fmla="*/ 0 w 1"/>
                <a:gd name="T7" fmla="*/ 25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25"/>
                  </a:moveTo>
                  <a:lnTo>
                    <a:pt x="0" y="25"/>
                  </a:lnTo>
                  <a:lnTo>
                    <a:pt x="0" y="0"/>
                  </a:lnTo>
                  <a:lnTo>
                    <a:pt x="0"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79" name="Freeform 3499"/>
            <p:cNvSpPr>
              <a:spLocks/>
            </p:cNvSpPr>
            <p:nvPr/>
          </p:nvSpPr>
          <p:spPr bwMode="auto">
            <a:xfrm>
              <a:off x="1885" y="2468"/>
              <a:ext cx="25" cy="28"/>
            </a:xfrm>
            <a:custGeom>
              <a:avLst/>
              <a:gdLst>
                <a:gd name="T0" fmla="*/ 24 w 25"/>
                <a:gd name="T1" fmla="*/ 0 h 28"/>
                <a:gd name="T2" fmla="*/ 0 w 25"/>
                <a:gd name="T3" fmla="*/ 18 h 28"/>
                <a:gd name="T4" fmla="*/ 7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18"/>
                  </a:lnTo>
                  <a:lnTo>
                    <a:pt x="7" y="27"/>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0" name="Freeform 3500"/>
            <p:cNvSpPr>
              <a:spLocks/>
            </p:cNvSpPr>
            <p:nvPr/>
          </p:nvSpPr>
          <p:spPr bwMode="auto">
            <a:xfrm>
              <a:off x="1885" y="2462"/>
              <a:ext cx="25" cy="27"/>
            </a:xfrm>
            <a:custGeom>
              <a:avLst/>
              <a:gdLst>
                <a:gd name="T0" fmla="*/ 24 w 25"/>
                <a:gd name="T1" fmla="*/ 8 h 27"/>
                <a:gd name="T2" fmla="*/ 14 w 25"/>
                <a:gd name="T3" fmla="*/ 0 h 27"/>
                <a:gd name="T4" fmla="*/ 0 w 25"/>
                <a:gd name="T5" fmla="*/ 26 h 27"/>
                <a:gd name="T6" fmla="*/ 24 w 25"/>
                <a:gd name="T7" fmla="*/ 8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8"/>
                  </a:moveTo>
                  <a:lnTo>
                    <a:pt x="14" y="0"/>
                  </a:lnTo>
                  <a:lnTo>
                    <a:pt x="0" y="26"/>
                  </a:lnTo>
                  <a:lnTo>
                    <a:pt x="24"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1" name="Freeform 3501"/>
            <p:cNvSpPr>
              <a:spLocks/>
            </p:cNvSpPr>
            <p:nvPr/>
          </p:nvSpPr>
          <p:spPr bwMode="auto">
            <a:xfrm>
              <a:off x="1904" y="246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2" name="Line 3502"/>
            <p:cNvSpPr>
              <a:spLocks noChangeShapeType="1"/>
            </p:cNvSpPr>
            <p:nvPr/>
          </p:nvSpPr>
          <p:spPr bwMode="auto">
            <a:xfrm>
              <a:off x="1904" y="246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3" name="Freeform 3503"/>
            <p:cNvSpPr>
              <a:spLocks/>
            </p:cNvSpPr>
            <p:nvPr/>
          </p:nvSpPr>
          <p:spPr bwMode="auto">
            <a:xfrm>
              <a:off x="1899" y="2447"/>
              <a:ext cx="24" cy="27"/>
            </a:xfrm>
            <a:custGeom>
              <a:avLst/>
              <a:gdLst>
                <a:gd name="T0" fmla="*/ 23 w 24"/>
                <a:gd name="T1" fmla="*/ 0 h 27"/>
                <a:gd name="T2" fmla="*/ 0 w 24"/>
                <a:gd name="T3" fmla="*/ 18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8"/>
                  </a:lnTo>
                  <a:lnTo>
                    <a:pt x="8"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4" name="Freeform 3504"/>
            <p:cNvSpPr>
              <a:spLocks/>
            </p:cNvSpPr>
            <p:nvPr/>
          </p:nvSpPr>
          <p:spPr bwMode="auto">
            <a:xfrm>
              <a:off x="1899" y="2441"/>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5" name="Freeform 3505"/>
            <p:cNvSpPr>
              <a:spLocks/>
            </p:cNvSpPr>
            <p:nvPr/>
          </p:nvSpPr>
          <p:spPr bwMode="auto">
            <a:xfrm>
              <a:off x="1917" y="244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6" name="Line 3506"/>
            <p:cNvSpPr>
              <a:spLocks noChangeShapeType="1"/>
            </p:cNvSpPr>
            <p:nvPr/>
          </p:nvSpPr>
          <p:spPr bwMode="auto">
            <a:xfrm>
              <a:off x="1917" y="244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7" name="Freeform 3507"/>
            <p:cNvSpPr>
              <a:spLocks/>
            </p:cNvSpPr>
            <p:nvPr/>
          </p:nvSpPr>
          <p:spPr bwMode="auto">
            <a:xfrm>
              <a:off x="1909" y="2420"/>
              <a:ext cx="29" cy="28"/>
            </a:xfrm>
            <a:custGeom>
              <a:avLst/>
              <a:gdLst>
                <a:gd name="T0" fmla="*/ 28 w 29"/>
                <a:gd name="T1" fmla="*/ 0 h 28"/>
                <a:gd name="T2" fmla="*/ 0 w 29"/>
                <a:gd name="T3" fmla="*/ 20 h 28"/>
                <a:gd name="T4" fmla="*/ 8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0" y="20"/>
                  </a:lnTo>
                  <a:lnTo>
                    <a:pt x="8" y="27"/>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8" name="Freeform 3508"/>
            <p:cNvSpPr>
              <a:spLocks/>
            </p:cNvSpPr>
            <p:nvPr/>
          </p:nvSpPr>
          <p:spPr bwMode="auto">
            <a:xfrm>
              <a:off x="1909" y="2412"/>
              <a:ext cx="29" cy="30"/>
            </a:xfrm>
            <a:custGeom>
              <a:avLst/>
              <a:gdLst>
                <a:gd name="T0" fmla="*/ 28 w 29"/>
                <a:gd name="T1" fmla="*/ 6 h 30"/>
                <a:gd name="T2" fmla="*/ 8 w 29"/>
                <a:gd name="T3" fmla="*/ 0 h 30"/>
                <a:gd name="T4" fmla="*/ 0 w 29"/>
                <a:gd name="T5" fmla="*/ 29 h 30"/>
                <a:gd name="T6" fmla="*/ 28 w 29"/>
                <a:gd name="T7" fmla="*/ 6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28" y="6"/>
                  </a:moveTo>
                  <a:lnTo>
                    <a:pt x="8" y="0"/>
                  </a:lnTo>
                  <a:lnTo>
                    <a:pt x="0" y="29"/>
                  </a:lnTo>
                  <a:lnTo>
                    <a:pt x="28"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89" name="Freeform 3509"/>
            <p:cNvSpPr>
              <a:spLocks/>
            </p:cNvSpPr>
            <p:nvPr/>
          </p:nvSpPr>
          <p:spPr bwMode="auto">
            <a:xfrm>
              <a:off x="1929" y="2412"/>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0" name="Line 3510"/>
            <p:cNvSpPr>
              <a:spLocks noChangeShapeType="1"/>
            </p:cNvSpPr>
            <p:nvPr/>
          </p:nvSpPr>
          <p:spPr bwMode="auto">
            <a:xfrm>
              <a:off x="1929" y="2420"/>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1" name="Freeform 3511"/>
            <p:cNvSpPr>
              <a:spLocks/>
            </p:cNvSpPr>
            <p:nvPr/>
          </p:nvSpPr>
          <p:spPr bwMode="auto">
            <a:xfrm>
              <a:off x="1917" y="2398"/>
              <a:ext cx="25" cy="27"/>
            </a:xfrm>
            <a:custGeom>
              <a:avLst/>
              <a:gdLst>
                <a:gd name="T0" fmla="*/ 24 w 25"/>
                <a:gd name="T1" fmla="*/ 0 h 27"/>
                <a:gd name="T2" fmla="*/ 0 w 25"/>
                <a:gd name="T3" fmla="*/ 18 h 27"/>
                <a:gd name="T4" fmla="*/ 12 w 25"/>
                <a:gd name="T5" fmla="*/ 26 h 27"/>
                <a:gd name="T6" fmla="*/ 24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0"/>
                  </a:moveTo>
                  <a:lnTo>
                    <a:pt x="0" y="18"/>
                  </a:lnTo>
                  <a:lnTo>
                    <a:pt x="12" y="26"/>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2" name="Freeform 3512"/>
            <p:cNvSpPr>
              <a:spLocks/>
            </p:cNvSpPr>
            <p:nvPr/>
          </p:nvSpPr>
          <p:spPr bwMode="auto">
            <a:xfrm>
              <a:off x="1917" y="2390"/>
              <a:ext cx="25" cy="27"/>
            </a:xfrm>
            <a:custGeom>
              <a:avLst/>
              <a:gdLst>
                <a:gd name="T0" fmla="*/ 24 w 25"/>
                <a:gd name="T1" fmla="*/ 9 h 27"/>
                <a:gd name="T2" fmla="*/ 12 w 25"/>
                <a:gd name="T3" fmla="*/ 0 h 27"/>
                <a:gd name="T4" fmla="*/ 0 w 25"/>
                <a:gd name="T5" fmla="*/ 26 h 27"/>
                <a:gd name="T6" fmla="*/ 24 w 25"/>
                <a:gd name="T7" fmla="*/ 9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9"/>
                  </a:moveTo>
                  <a:lnTo>
                    <a:pt x="12" y="0"/>
                  </a:lnTo>
                  <a:lnTo>
                    <a:pt x="0" y="26"/>
                  </a:lnTo>
                  <a:lnTo>
                    <a:pt x="24" y="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3" name="Freeform 3513"/>
            <p:cNvSpPr>
              <a:spLocks/>
            </p:cNvSpPr>
            <p:nvPr/>
          </p:nvSpPr>
          <p:spPr bwMode="auto">
            <a:xfrm>
              <a:off x="1937" y="2390"/>
              <a:ext cx="23" cy="27"/>
            </a:xfrm>
            <a:custGeom>
              <a:avLst/>
              <a:gdLst>
                <a:gd name="T0" fmla="*/ 22 w 23"/>
                <a:gd name="T1" fmla="*/ 26 h 27"/>
                <a:gd name="T2" fmla="*/ 22 w 23"/>
                <a:gd name="T3" fmla="*/ 26 h 27"/>
                <a:gd name="T4" fmla="*/ 0 w 23"/>
                <a:gd name="T5" fmla="*/ 0 h 27"/>
                <a:gd name="T6" fmla="*/ 22 w 23"/>
                <a:gd name="T7" fmla="*/ 26 h 27"/>
                <a:gd name="T8" fmla="*/ 0 60000 65536"/>
                <a:gd name="T9" fmla="*/ 0 60000 65536"/>
                <a:gd name="T10" fmla="*/ 0 60000 65536"/>
                <a:gd name="T11" fmla="*/ 0 60000 65536"/>
                <a:gd name="T12" fmla="*/ 0 w 23"/>
                <a:gd name="T13" fmla="*/ 0 h 27"/>
                <a:gd name="T14" fmla="*/ 23 w 23"/>
                <a:gd name="T15" fmla="*/ 27 h 27"/>
              </a:gdLst>
              <a:ahLst/>
              <a:cxnLst>
                <a:cxn ang="T8">
                  <a:pos x="T0" y="T1"/>
                </a:cxn>
                <a:cxn ang="T9">
                  <a:pos x="T2" y="T3"/>
                </a:cxn>
                <a:cxn ang="T10">
                  <a:pos x="T4" y="T5"/>
                </a:cxn>
                <a:cxn ang="T11">
                  <a:pos x="T6" y="T7"/>
                </a:cxn>
              </a:cxnLst>
              <a:rect l="T12" t="T13" r="T14" b="T15"/>
              <a:pathLst>
                <a:path w="23" h="27">
                  <a:moveTo>
                    <a:pt x="22" y="26"/>
                  </a:moveTo>
                  <a:lnTo>
                    <a:pt x="22" y="26"/>
                  </a:lnTo>
                  <a:lnTo>
                    <a:pt x="0" y="0"/>
                  </a:lnTo>
                  <a:lnTo>
                    <a:pt x="22"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4" name="Line 3514"/>
            <p:cNvSpPr>
              <a:spLocks noChangeShapeType="1"/>
            </p:cNvSpPr>
            <p:nvPr/>
          </p:nvSpPr>
          <p:spPr bwMode="auto">
            <a:xfrm>
              <a:off x="1941" y="239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5" name="Freeform 3515"/>
            <p:cNvSpPr>
              <a:spLocks/>
            </p:cNvSpPr>
            <p:nvPr/>
          </p:nvSpPr>
          <p:spPr bwMode="auto">
            <a:xfrm>
              <a:off x="1929" y="2369"/>
              <a:ext cx="27" cy="30"/>
            </a:xfrm>
            <a:custGeom>
              <a:avLst/>
              <a:gdLst>
                <a:gd name="T0" fmla="*/ 26 w 27"/>
                <a:gd name="T1" fmla="*/ 0 h 30"/>
                <a:gd name="T2" fmla="*/ 0 w 27"/>
                <a:gd name="T3" fmla="*/ 20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0"/>
                  </a:lnTo>
                  <a:lnTo>
                    <a:pt x="13" y="29"/>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6" name="Freeform 3516"/>
            <p:cNvSpPr>
              <a:spLocks/>
            </p:cNvSpPr>
            <p:nvPr/>
          </p:nvSpPr>
          <p:spPr bwMode="auto">
            <a:xfrm>
              <a:off x="1929" y="2361"/>
              <a:ext cx="27" cy="30"/>
            </a:xfrm>
            <a:custGeom>
              <a:avLst/>
              <a:gdLst>
                <a:gd name="T0" fmla="*/ 26 w 27"/>
                <a:gd name="T1" fmla="*/ 6 h 30"/>
                <a:gd name="T2" fmla="*/ 13 w 27"/>
                <a:gd name="T3" fmla="*/ 0 h 30"/>
                <a:gd name="T4" fmla="*/ 0 w 27"/>
                <a:gd name="T5" fmla="*/ 29 h 30"/>
                <a:gd name="T6" fmla="*/ 26 w 27"/>
                <a:gd name="T7" fmla="*/ 6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6"/>
                  </a:moveTo>
                  <a:lnTo>
                    <a:pt x="13" y="0"/>
                  </a:lnTo>
                  <a:lnTo>
                    <a:pt x="0" y="29"/>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7" name="Freeform 3517"/>
            <p:cNvSpPr>
              <a:spLocks/>
            </p:cNvSpPr>
            <p:nvPr/>
          </p:nvSpPr>
          <p:spPr bwMode="auto">
            <a:xfrm>
              <a:off x="1946" y="2361"/>
              <a:ext cx="25" cy="28"/>
            </a:xfrm>
            <a:custGeom>
              <a:avLst/>
              <a:gdLst>
                <a:gd name="T0" fmla="*/ 24 w 25"/>
                <a:gd name="T1" fmla="*/ 27 h 28"/>
                <a:gd name="T2" fmla="*/ 24 w 25"/>
                <a:gd name="T3" fmla="*/ 27 h 28"/>
                <a:gd name="T4" fmla="*/ 0 w 25"/>
                <a:gd name="T5" fmla="*/ 0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27"/>
                  </a:lnTo>
                  <a:lnTo>
                    <a:pt x="0" y="0"/>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8" name="Line 3518"/>
            <p:cNvSpPr>
              <a:spLocks noChangeShapeType="1"/>
            </p:cNvSpPr>
            <p:nvPr/>
          </p:nvSpPr>
          <p:spPr bwMode="auto">
            <a:xfrm>
              <a:off x="1955" y="2369"/>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099" name="Freeform 3519"/>
            <p:cNvSpPr>
              <a:spLocks/>
            </p:cNvSpPr>
            <p:nvPr/>
          </p:nvSpPr>
          <p:spPr bwMode="auto">
            <a:xfrm>
              <a:off x="1941" y="2340"/>
              <a:ext cx="27" cy="30"/>
            </a:xfrm>
            <a:custGeom>
              <a:avLst/>
              <a:gdLst>
                <a:gd name="T0" fmla="*/ 26 w 27"/>
                <a:gd name="T1" fmla="*/ 0 h 30"/>
                <a:gd name="T2" fmla="*/ 0 w 27"/>
                <a:gd name="T3" fmla="*/ 22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2"/>
                  </a:lnTo>
                  <a:lnTo>
                    <a:pt x="13" y="29"/>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0" name="Freeform 3520"/>
            <p:cNvSpPr>
              <a:spLocks/>
            </p:cNvSpPr>
            <p:nvPr/>
          </p:nvSpPr>
          <p:spPr bwMode="auto">
            <a:xfrm>
              <a:off x="1941" y="2334"/>
              <a:ext cx="27" cy="28"/>
            </a:xfrm>
            <a:custGeom>
              <a:avLst/>
              <a:gdLst>
                <a:gd name="T0" fmla="*/ 26 w 27"/>
                <a:gd name="T1" fmla="*/ 6 h 28"/>
                <a:gd name="T2" fmla="*/ 13 w 27"/>
                <a:gd name="T3" fmla="*/ 0 h 28"/>
                <a:gd name="T4" fmla="*/ 0 w 27"/>
                <a:gd name="T5" fmla="*/ 27 h 28"/>
                <a:gd name="T6" fmla="*/ 26 w 27"/>
                <a:gd name="T7" fmla="*/ 6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6"/>
                  </a:moveTo>
                  <a:lnTo>
                    <a:pt x="13" y="0"/>
                  </a:lnTo>
                  <a:lnTo>
                    <a:pt x="0" y="27"/>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1" name="Freeform 3521"/>
            <p:cNvSpPr>
              <a:spLocks/>
            </p:cNvSpPr>
            <p:nvPr/>
          </p:nvSpPr>
          <p:spPr bwMode="auto">
            <a:xfrm>
              <a:off x="1959" y="2334"/>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2" name="Line 3522"/>
            <p:cNvSpPr>
              <a:spLocks noChangeShapeType="1"/>
            </p:cNvSpPr>
            <p:nvPr/>
          </p:nvSpPr>
          <p:spPr bwMode="auto">
            <a:xfrm>
              <a:off x="1964" y="2340"/>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3" name="Freeform 3523"/>
            <p:cNvSpPr>
              <a:spLocks/>
            </p:cNvSpPr>
            <p:nvPr/>
          </p:nvSpPr>
          <p:spPr bwMode="auto">
            <a:xfrm>
              <a:off x="1955" y="2312"/>
              <a:ext cx="25" cy="29"/>
            </a:xfrm>
            <a:custGeom>
              <a:avLst/>
              <a:gdLst>
                <a:gd name="T0" fmla="*/ 24 w 25"/>
                <a:gd name="T1" fmla="*/ 0 h 29"/>
                <a:gd name="T2" fmla="*/ 0 w 25"/>
                <a:gd name="T3" fmla="*/ 21 h 29"/>
                <a:gd name="T4" fmla="*/ 11 w 25"/>
                <a:gd name="T5" fmla="*/ 28 h 29"/>
                <a:gd name="T6" fmla="*/ 24 w 25"/>
                <a:gd name="T7" fmla="*/ 0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0"/>
                  </a:moveTo>
                  <a:lnTo>
                    <a:pt x="0" y="21"/>
                  </a:lnTo>
                  <a:lnTo>
                    <a:pt x="11" y="28"/>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4" name="Freeform 3524"/>
            <p:cNvSpPr>
              <a:spLocks/>
            </p:cNvSpPr>
            <p:nvPr/>
          </p:nvSpPr>
          <p:spPr bwMode="auto">
            <a:xfrm>
              <a:off x="1955" y="2304"/>
              <a:ext cx="25" cy="31"/>
            </a:xfrm>
            <a:custGeom>
              <a:avLst/>
              <a:gdLst>
                <a:gd name="T0" fmla="*/ 24 w 25"/>
                <a:gd name="T1" fmla="*/ 8 h 31"/>
                <a:gd name="T2" fmla="*/ 11 w 25"/>
                <a:gd name="T3" fmla="*/ 0 h 31"/>
                <a:gd name="T4" fmla="*/ 0 w 25"/>
                <a:gd name="T5" fmla="*/ 30 h 31"/>
                <a:gd name="T6" fmla="*/ 24 w 25"/>
                <a:gd name="T7" fmla="*/ 8 h 31"/>
                <a:gd name="T8" fmla="*/ 0 60000 65536"/>
                <a:gd name="T9" fmla="*/ 0 60000 65536"/>
                <a:gd name="T10" fmla="*/ 0 60000 65536"/>
                <a:gd name="T11" fmla="*/ 0 60000 65536"/>
                <a:gd name="T12" fmla="*/ 0 w 25"/>
                <a:gd name="T13" fmla="*/ 0 h 31"/>
                <a:gd name="T14" fmla="*/ 25 w 25"/>
                <a:gd name="T15" fmla="*/ 31 h 31"/>
              </a:gdLst>
              <a:ahLst/>
              <a:cxnLst>
                <a:cxn ang="T8">
                  <a:pos x="T0" y="T1"/>
                </a:cxn>
                <a:cxn ang="T9">
                  <a:pos x="T2" y="T3"/>
                </a:cxn>
                <a:cxn ang="T10">
                  <a:pos x="T4" y="T5"/>
                </a:cxn>
                <a:cxn ang="T11">
                  <a:pos x="T6" y="T7"/>
                </a:cxn>
              </a:cxnLst>
              <a:rect l="T12" t="T13" r="T14" b="T15"/>
              <a:pathLst>
                <a:path w="25" h="31">
                  <a:moveTo>
                    <a:pt x="24" y="8"/>
                  </a:moveTo>
                  <a:lnTo>
                    <a:pt x="11" y="0"/>
                  </a:lnTo>
                  <a:lnTo>
                    <a:pt x="0" y="30"/>
                  </a:lnTo>
                  <a:lnTo>
                    <a:pt x="24"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5" name="Freeform 3525"/>
            <p:cNvSpPr>
              <a:spLocks/>
            </p:cNvSpPr>
            <p:nvPr/>
          </p:nvSpPr>
          <p:spPr bwMode="auto">
            <a:xfrm>
              <a:off x="1975" y="2304"/>
              <a:ext cx="23" cy="28"/>
            </a:xfrm>
            <a:custGeom>
              <a:avLst/>
              <a:gdLst>
                <a:gd name="T0" fmla="*/ 22 w 23"/>
                <a:gd name="T1" fmla="*/ 27 h 28"/>
                <a:gd name="T2" fmla="*/ 22 w 23"/>
                <a:gd name="T3" fmla="*/ 27 h 28"/>
                <a:gd name="T4" fmla="*/ 0 w 23"/>
                <a:gd name="T5" fmla="*/ 0 h 28"/>
                <a:gd name="T6" fmla="*/ 22 w 23"/>
                <a:gd name="T7" fmla="*/ 27 h 28"/>
                <a:gd name="T8" fmla="*/ 0 60000 65536"/>
                <a:gd name="T9" fmla="*/ 0 60000 65536"/>
                <a:gd name="T10" fmla="*/ 0 60000 65536"/>
                <a:gd name="T11" fmla="*/ 0 60000 65536"/>
                <a:gd name="T12" fmla="*/ 0 w 23"/>
                <a:gd name="T13" fmla="*/ 0 h 28"/>
                <a:gd name="T14" fmla="*/ 23 w 23"/>
                <a:gd name="T15" fmla="*/ 28 h 28"/>
              </a:gdLst>
              <a:ahLst/>
              <a:cxnLst>
                <a:cxn ang="T8">
                  <a:pos x="T0" y="T1"/>
                </a:cxn>
                <a:cxn ang="T9">
                  <a:pos x="T2" y="T3"/>
                </a:cxn>
                <a:cxn ang="T10">
                  <a:pos x="T4" y="T5"/>
                </a:cxn>
                <a:cxn ang="T11">
                  <a:pos x="T6" y="T7"/>
                </a:cxn>
              </a:cxnLst>
              <a:rect l="T12" t="T13" r="T14" b="T15"/>
              <a:pathLst>
                <a:path w="23" h="28">
                  <a:moveTo>
                    <a:pt x="22" y="27"/>
                  </a:moveTo>
                  <a:lnTo>
                    <a:pt x="22" y="27"/>
                  </a:lnTo>
                  <a:lnTo>
                    <a:pt x="0" y="0"/>
                  </a:lnTo>
                  <a:lnTo>
                    <a:pt x="22"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6" name="Line 3526"/>
            <p:cNvSpPr>
              <a:spLocks noChangeShapeType="1"/>
            </p:cNvSpPr>
            <p:nvPr/>
          </p:nvSpPr>
          <p:spPr bwMode="auto">
            <a:xfrm>
              <a:off x="1978" y="2312"/>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7" name="Freeform 3527"/>
            <p:cNvSpPr>
              <a:spLocks/>
            </p:cNvSpPr>
            <p:nvPr/>
          </p:nvSpPr>
          <p:spPr bwMode="auto">
            <a:xfrm>
              <a:off x="1964" y="2277"/>
              <a:ext cx="29" cy="36"/>
            </a:xfrm>
            <a:custGeom>
              <a:avLst/>
              <a:gdLst>
                <a:gd name="T0" fmla="*/ 28 w 29"/>
                <a:gd name="T1" fmla="*/ 0 h 36"/>
                <a:gd name="T2" fmla="*/ 0 w 29"/>
                <a:gd name="T3" fmla="*/ 27 h 36"/>
                <a:gd name="T4" fmla="*/ 14 w 29"/>
                <a:gd name="T5" fmla="*/ 35 h 36"/>
                <a:gd name="T6" fmla="*/ 28 w 29"/>
                <a:gd name="T7" fmla="*/ 0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28" y="0"/>
                  </a:moveTo>
                  <a:lnTo>
                    <a:pt x="0" y="27"/>
                  </a:lnTo>
                  <a:lnTo>
                    <a:pt x="14" y="35"/>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8" name="Freeform 3528"/>
            <p:cNvSpPr>
              <a:spLocks/>
            </p:cNvSpPr>
            <p:nvPr/>
          </p:nvSpPr>
          <p:spPr bwMode="auto">
            <a:xfrm>
              <a:off x="1964" y="2277"/>
              <a:ext cx="29" cy="28"/>
            </a:xfrm>
            <a:custGeom>
              <a:avLst/>
              <a:gdLst>
                <a:gd name="T0" fmla="*/ 28 w 29"/>
                <a:gd name="T1" fmla="*/ 0 h 28"/>
                <a:gd name="T2" fmla="*/ 14 w 29"/>
                <a:gd name="T3" fmla="*/ 0 h 28"/>
                <a:gd name="T4" fmla="*/ 0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14" y="0"/>
                  </a:lnTo>
                  <a:lnTo>
                    <a:pt x="0" y="27"/>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09" name="Freeform 3529"/>
            <p:cNvSpPr>
              <a:spLocks/>
            </p:cNvSpPr>
            <p:nvPr/>
          </p:nvSpPr>
          <p:spPr bwMode="auto">
            <a:xfrm>
              <a:off x="1984" y="2277"/>
              <a:ext cx="25" cy="1"/>
            </a:xfrm>
            <a:custGeom>
              <a:avLst/>
              <a:gdLst>
                <a:gd name="T0" fmla="*/ 24 w 25"/>
                <a:gd name="T1" fmla="*/ 0 h 1"/>
                <a:gd name="T2" fmla="*/ 24 w 25"/>
                <a:gd name="T3" fmla="*/ 0 h 1"/>
                <a:gd name="T4" fmla="*/ 0 w 25"/>
                <a:gd name="T5" fmla="*/ 0 h 1"/>
                <a:gd name="T6" fmla="*/ 24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24" y="0"/>
                  </a:moveTo>
                  <a:lnTo>
                    <a:pt x="24" y="0"/>
                  </a:lnTo>
                  <a:lnTo>
                    <a:pt x="0" y="0"/>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0" name="Line 3530"/>
            <p:cNvSpPr>
              <a:spLocks noChangeShapeType="1"/>
            </p:cNvSpPr>
            <p:nvPr/>
          </p:nvSpPr>
          <p:spPr bwMode="auto">
            <a:xfrm>
              <a:off x="1992" y="227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1" name="Freeform 3531"/>
            <p:cNvSpPr>
              <a:spLocks/>
            </p:cNvSpPr>
            <p:nvPr/>
          </p:nvSpPr>
          <p:spPr bwMode="auto">
            <a:xfrm>
              <a:off x="1978" y="2248"/>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2" name="Freeform 3532"/>
            <p:cNvSpPr>
              <a:spLocks/>
            </p:cNvSpPr>
            <p:nvPr/>
          </p:nvSpPr>
          <p:spPr bwMode="auto">
            <a:xfrm>
              <a:off x="1978" y="2241"/>
              <a:ext cx="25" cy="37"/>
            </a:xfrm>
            <a:custGeom>
              <a:avLst/>
              <a:gdLst>
                <a:gd name="T0" fmla="*/ 24 w 25"/>
                <a:gd name="T1" fmla="*/ 6 h 37"/>
                <a:gd name="T2" fmla="*/ 12 w 25"/>
                <a:gd name="T3" fmla="*/ 0 h 37"/>
                <a:gd name="T4" fmla="*/ 0 w 25"/>
                <a:gd name="T5" fmla="*/ 36 h 37"/>
                <a:gd name="T6" fmla="*/ 24 w 25"/>
                <a:gd name="T7" fmla="*/ 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24" y="6"/>
                  </a:moveTo>
                  <a:lnTo>
                    <a:pt x="12" y="0"/>
                  </a:lnTo>
                  <a:lnTo>
                    <a:pt x="0" y="36"/>
                  </a:lnTo>
                  <a:lnTo>
                    <a:pt x="24"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3" name="Freeform 3533"/>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4" name="Freeform 3534"/>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5" name="Freeform 3535"/>
            <p:cNvSpPr>
              <a:spLocks/>
            </p:cNvSpPr>
            <p:nvPr/>
          </p:nvSpPr>
          <p:spPr bwMode="auto">
            <a:xfrm>
              <a:off x="1992" y="2213"/>
              <a:ext cx="26" cy="36"/>
            </a:xfrm>
            <a:custGeom>
              <a:avLst/>
              <a:gdLst>
                <a:gd name="T0" fmla="*/ 25 w 26"/>
                <a:gd name="T1" fmla="*/ 0 h 36"/>
                <a:gd name="T2" fmla="*/ 0 w 26"/>
                <a:gd name="T3" fmla="*/ 28 h 36"/>
                <a:gd name="T4" fmla="*/ 11 w 26"/>
                <a:gd name="T5" fmla="*/ 35 h 36"/>
                <a:gd name="T6" fmla="*/ 25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0"/>
                  </a:moveTo>
                  <a:lnTo>
                    <a:pt x="0" y="28"/>
                  </a:lnTo>
                  <a:lnTo>
                    <a:pt x="11" y="35"/>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6" name="Freeform 3536"/>
            <p:cNvSpPr>
              <a:spLocks/>
            </p:cNvSpPr>
            <p:nvPr/>
          </p:nvSpPr>
          <p:spPr bwMode="auto">
            <a:xfrm>
              <a:off x="1992" y="2213"/>
              <a:ext cx="26" cy="29"/>
            </a:xfrm>
            <a:custGeom>
              <a:avLst/>
              <a:gdLst>
                <a:gd name="T0" fmla="*/ 25 w 26"/>
                <a:gd name="T1" fmla="*/ 0 h 29"/>
                <a:gd name="T2" fmla="*/ 11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1" y="0"/>
                  </a:lnTo>
                  <a:lnTo>
                    <a:pt x="0" y="28"/>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7" name="Freeform 3537"/>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8" name="Freeform 3538"/>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19" name="Freeform 3539"/>
            <p:cNvSpPr>
              <a:spLocks/>
            </p:cNvSpPr>
            <p:nvPr/>
          </p:nvSpPr>
          <p:spPr bwMode="auto">
            <a:xfrm>
              <a:off x="2002" y="2184"/>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0" name="Freeform 3540"/>
            <p:cNvSpPr>
              <a:spLocks/>
            </p:cNvSpPr>
            <p:nvPr/>
          </p:nvSpPr>
          <p:spPr bwMode="auto">
            <a:xfrm>
              <a:off x="2002" y="2176"/>
              <a:ext cx="25" cy="38"/>
            </a:xfrm>
            <a:custGeom>
              <a:avLst/>
              <a:gdLst>
                <a:gd name="T0" fmla="*/ 24 w 25"/>
                <a:gd name="T1" fmla="*/ 6 h 38"/>
                <a:gd name="T2" fmla="*/ 12 w 25"/>
                <a:gd name="T3" fmla="*/ 0 h 38"/>
                <a:gd name="T4" fmla="*/ 0 w 25"/>
                <a:gd name="T5" fmla="*/ 37 h 38"/>
                <a:gd name="T6" fmla="*/ 24 w 25"/>
                <a:gd name="T7" fmla="*/ 6 h 38"/>
                <a:gd name="T8" fmla="*/ 0 60000 65536"/>
                <a:gd name="T9" fmla="*/ 0 60000 65536"/>
                <a:gd name="T10" fmla="*/ 0 60000 65536"/>
                <a:gd name="T11" fmla="*/ 0 60000 65536"/>
                <a:gd name="T12" fmla="*/ 0 w 25"/>
                <a:gd name="T13" fmla="*/ 0 h 38"/>
                <a:gd name="T14" fmla="*/ 25 w 25"/>
                <a:gd name="T15" fmla="*/ 38 h 38"/>
              </a:gdLst>
              <a:ahLst/>
              <a:cxnLst>
                <a:cxn ang="T8">
                  <a:pos x="T0" y="T1"/>
                </a:cxn>
                <a:cxn ang="T9">
                  <a:pos x="T2" y="T3"/>
                </a:cxn>
                <a:cxn ang="T10">
                  <a:pos x="T4" y="T5"/>
                </a:cxn>
                <a:cxn ang="T11">
                  <a:pos x="T6" y="T7"/>
                </a:cxn>
              </a:cxnLst>
              <a:rect l="T12" t="T13" r="T14" b="T15"/>
              <a:pathLst>
                <a:path w="25" h="38">
                  <a:moveTo>
                    <a:pt x="24" y="6"/>
                  </a:moveTo>
                  <a:lnTo>
                    <a:pt x="12" y="0"/>
                  </a:lnTo>
                  <a:lnTo>
                    <a:pt x="0" y="37"/>
                  </a:lnTo>
                  <a:lnTo>
                    <a:pt x="24"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1" name="Freeform 3541"/>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2" name="Freeform 3542"/>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3" name="Freeform 3543"/>
            <p:cNvSpPr>
              <a:spLocks/>
            </p:cNvSpPr>
            <p:nvPr/>
          </p:nvSpPr>
          <p:spPr bwMode="auto">
            <a:xfrm>
              <a:off x="2013" y="2149"/>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4" name="Freeform 3544"/>
            <p:cNvSpPr>
              <a:spLocks/>
            </p:cNvSpPr>
            <p:nvPr/>
          </p:nvSpPr>
          <p:spPr bwMode="auto">
            <a:xfrm>
              <a:off x="2013" y="2141"/>
              <a:ext cx="27" cy="36"/>
            </a:xfrm>
            <a:custGeom>
              <a:avLst/>
              <a:gdLst>
                <a:gd name="T0" fmla="*/ 26 w 27"/>
                <a:gd name="T1" fmla="*/ 7 h 36"/>
                <a:gd name="T2" fmla="*/ 13 w 27"/>
                <a:gd name="T3" fmla="*/ 0 h 36"/>
                <a:gd name="T4" fmla="*/ 0 w 27"/>
                <a:gd name="T5" fmla="*/ 35 h 36"/>
                <a:gd name="T6" fmla="*/ 26 w 27"/>
                <a:gd name="T7" fmla="*/ 7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7"/>
                  </a:moveTo>
                  <a:lnTo>
                    <a:pt x="13" y="0"/>
                  </a:lnTo>
                  <a:lnTo>
                    <a:pt x="0" y="35"/>
                  </a:lnTo>
                  <a:lnTo>
                    <a:pt x="26" y="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5" name="Freeform 3545"/>
            <p:cNvSpPr>
              <a:spLocks/>
            </p:cNvSpPr>
            <p:nvPr/>
          </p:nvSpPr>
          <p:spPr bwMode="auto">
            <a:xfrm>
              <a:off x="2034" y="21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6" name="Freeform 3546"/>
            <p:cNvSpPr>
              <a:spLocks/>
            </p:cNvSpPr>
            <p:nvPr/>
          </p:nvSpPr>
          <p:spPr bwMode="auto">
            <a:xfrm>
              <a:off x="2034" y="2141"/>
              <a:ext cx="25" cy="27"/>
            </a:xfrm>
            <a:custGeom>
              <a:avLst/>
              <a:gdLst>
                <a:gd name="T0" fmla="*/ 0 w 25"/>
                <a:gd name="T1" fmla="*/ 0 h 27"/>
                <a:gd name="T2" fmla="*/ 24 w 25"/>
                <a:gd name="T3" fmla="*/ 26 h 27"/>
                <a:gd name="T4" fmla="*/ 24 w 25"/>
                <a:gd name="T5" fmla="*/ 26 h 27"/>
                <a:gd name="T6" fmla="*/ 0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0"/>
                  </a:moveTo>
                  <a:lnTo>
                    <a:pt x="24"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7" name="Freeform 3547"/>
            <p:cNvSpPr>
              <a:spLocks/>
            </p:cNvSpPr>
            <p:nvPr/>
          </p:nvSpPr>
          <p:spPr bwMode="auto">
            <a:xfrm>
              <a:off x="2026" y="2113"/>
              <a:ext cx="26" cy="37"/>
            </a:xfrm>
            <a:custGeom>
              <a:avLst/>
              <a:gdLst>
                <a:gd name="T0" fmla="*/ 25 w 26"/>
                <a:gd name="T1" fmla="*/ 0 h 37"/>
                <a:gd name="T2" fmla="*/ 0 w 26"/>
                <a:gd name="T3" fmla="*/ 27 h 37"/>
                <a:gd name="T4" fmla="*/ 17 w 26"/>
                <a:gd name="T5" fmla="*/ 36 h 37"/>
                <a:gd name="T6" fmla="*/ 25 w 26"/>
                <a:gd name="T7" fmla="*/ 0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0"/>
                  </a:moveTo>
                  <a:lnTo>
                    <a:pt x="0" y="27"/>
                  </a:lnTo>
                  <a:lnTo>
                    <a:pt x="17" y="36"/>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8" name="Freeform 3548"/>
            <p:cNvSpPr>
              <a:spLocks/>
            </p:cNvSpPr>
            <p:nvPr/>
          </p:nvSpPr>
          <p:spPr bwMode="auto">
            <a:xfrm>
              <a:off x="2026" y="2113"/>
              <a:ext cx="26" cy="29"/>
            </a:xfrm>
            <a:custGeom>
              <a:avLst/>
              <a:gdLst>
                <a:gd name="T0" fmla="*/ 25 w 26"/>
                <a:gd name="T1" fmla="*/ 0 h 29"/>
                <a:gd name="T2" fmla="*/ 17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7" y="0"/>
                  </a:lnTo>
                  <a:lnTo>
                    <a:pt x="0" y="28"/>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29" name="Freeform 3549"/>
            <p:cNvSpPr>
              <a:spLocks/>
            </p:cNvSpPr>
            <p:nvPr/>
          </p:nvSpPr>
          <p:spPr bwMode="auto">
            <a:xfrm>
              <a:off x="2046" y="2105"/>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0" name="Line 3550"/>
            <p:cNvSpPr>
              <a:spLocks noChangeShapeType="1"/>
            </p:cNvSpPr>
            <p:nvPr/>
          </p:nvSpPr>
          <p:spPr bwMode="auto">
            <a:xfrm>
              <a:off x="2046" y="211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1" name="Freeform 3551"/>
            <p:cNvSpPr>
              <a:spLocks/>
            </p:cNvSpPr>
            <p:nvPr/>
          </p:nvSpPr>
          <p:spPr bwMode="auto">
            <a:xfrm>
              <a:off x="2039" y="2084"/>
              <a:ext cx="26" cy="30"/>
            </a:xfrm>
            <a:custGeom>
              <a:avLst/>
              <a:gdLst>
                <a:gd name="T0" fmla="*/ 25 w 26"/>
                <a:gd name="T1" fmla="*/ 0 h 30"/>
                <a:gd name="T2" fmla="*/ 0 w 26"/>
                <a:gd name="T3" fmla="*/ 29 h 30"/>
                <a:gd name="T4" fmla="*/ 7 w 26"/>
                <a:gd name="T5" fmla="*/ 29 h 30"/>
                <a:gd name="T6" fmla="*/ 25 w 26"/>
                <a:gd name="T7" fmla="*/ 0 h 30"/>
                <a:gd name="T8" fmla="*/ 0 60000 65536"/>
                <a:gd name="T9" fmla="*/ 0 60000 65536"/>
                <a:gd name="T10" fmla="*/ 0 60000 65536"/>
                <a:gd name="T11" fmla="*/ 0 60000 65536"/>
                <a:gd name="T12" fmla="*/ 0 w 26"/>
                <a:gd name="T13" fmla="*/ 0 h 30"/>
                <a:gd name="T14" fmla="*/ 26 w 26"/>
                <a:gd name="T15" fmla="*/ 30 h 30"/>
              </a:gdLst>
              <a:ahLst/>
              <a:cxnLst>
                <a:cxn ang="T8">
                  <a:pos x="T0" y="T1"/>
                </a:cxn>
                <a:cxn ang="T9">
                  <a:pos x="T2" y="T3"/>
                </a:cxn>
                <a:cxn ang="T10">
                  <a:pos x="T4" y="T5"/>
                </a:cxn>
                <a:cxn ang="T11">
                  <a:pos x="T6" y="T7"/>
                </a:cxn>
              </a:cxnLst>
              <a:rect l="T12" t="T13" r="T14" b="T15"/>
              <a:pathLst>
                <a:path w="26" h="30">
                  <a:moveTo>
                    <a:pt x="25" y="0"/>
                  </a:moveTo>
                  <a:lnTo>
                    <a:pt x="0" y="29"/>
                  </a:lnTo>
                  <a:lnTo>
                    <a:pt x="7" y="29"/>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2" name="Freeform 3552"/>
            <p:cNvSpPr>
              <a:spLocks/>
            </p:cNvSpPr>
            <p:nvPr/>
          </p:nvSpPr>
          <p:spPr bwMode="auto">
            <a:xfrm>
              <a:off x="2039" y="2077"/>
              <a:ext cx="26" cy="37"/>
            </a:xfrm>
            <a:custGeom>
              <a:avLst/>
              <a:gdLst>
                <a:gd name="T0" fmla="*/ 25 w 26"/>
                <a:gd name="T1" fmla="*/ 6 h 37"/>
                <a:gd name="T2" fmla="*/ 15 w 26"/>
                <a:gd name="T3" fmla="*/ 0 h 37"/>
                <a:gd name="T4" fmla="*/ 0 w 26"/>
                <a:gd name="T5" fmla="*/ 36 h 37"/>
                <a:gd name="T6" fmla="*/ 25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6"/>
                  </a:moveTo>
                  <a:lnTo>
                    <a:pt x="15" y="0"/>
                  </a:lnTo>
                  <a:lnTo>
                    <a:pt x="0" y="36"/>
                  </a:lnTo>
                  <a:lnTo>
                    <a:pt x="25"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3" name="Freeform 3553"/>
            <p:cNvSpPr>
              <a:spLocks/>
            </p:cNvSpPr>
            <p:nvPr/>
          </p:nvSpPr>
          <p:spPr bwMode="auto">
            <a:xfrm>
              <a:off x="2051" y="207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4" name="Line 3554"/>
            <p:cNvSpPr>
              <a:spLocks noChangeShapeType="1"/>
            </p:cNvSpPr>
            <p:nvPr/>
          </p:nvSpPr>
          <p:spPr bwMode="auto">
            <a:xfrm>
              <a:off x="2051" y="2077"/>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5" name="Freeform 3555"/>
            <p:cNvSpPr>
              <a:spLocks/>
            </p:cNvSpPr>
            <p:nvPr/>
          </p:nvSpPr>
          <p:spPr bwMode="auto">
            <a:xfrm>
              <a:off x="2051" y="2049"/>
              <a:ext cx="27" cy="36"/>
            </a:xfrm>
            <a:custGeom>
              <a:avLst/>
              <a:gdLst>
                <a:gd name="T0" fmla="*/ 26 w 27"/>
                <a:gd name="T1" fmla="*/ 0 h 36"/>
                <a:gd name="T2" fmla="*/ 0 w 27"/>
                <a:gd name="T3" fmla="*/ 28 h 36"/>
                <a:gd name="T4" fmla="*/ 10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0"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6" name="Freeform 3556"/>
            <p:cNvSpPr>
              <a:spLocks/>
            </p:cNvSpPr>
            <p:nvPr/>
          </p:nvSpPr>
          <p:spPr bwMode="auto">
            <a:xfrm>
              <a:off x="2051" y="2041"/>
              <a:ext cx="27" cy="37"/>
            </a:xfrm>
            <a:custGeom>
              <a:avLst/>
              <a:gdLst>
                <a:gd name="T0" fmla="*/ 26 w 27"/>
                <a:gd name="T1" fmla="*/ 8 h 37"/>
                <a:gd name="T2" fmla="*/ 10 w 27"/>
                <a:gd name="T3" fmla="*/ 0 h 37"/>
                <a:gd name="T4" fmla="*/ 0 w 27"/>
                <a:gd name="T5" fmla="*/ 36 h 37"/>
                <a:gd name="T6" fmla="*/ 26 w 27"/>
                <a:gd name="T7" fmla="*/ 8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26" y="8"/>
                  </a:moveTo>
                  <a:lnTo>
                    <a:pt x="10" y="0"/>
                  </a:lnTo>
                  <a:lnTo>
                    <a:pt x="0" y="36"/>
                  </a:lnTo>
                  <a:lnTo>
                    <a:pt x="26"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7" name="Freeform 3557"/>
            <p:cNvSpPr>
              <a:spLocks/>
            </p:cNvSpPr>
            <p:nvPr/>
          </p:nvSpPr>
          <p:spPr bwMode="auto">
            <a:xfrm>
              <a:off x="2058" y="204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8" name="Line 3558"/>
            <p:cNvSpPr>
              <a:spLocks noChangeShapeType="1"/>
            </p:cNvSpPr>
            <p:nvPr/>
          </p:nvSpPr>
          <p:spPr bwMode="auto">
            <a:xfrm>
              <a:off x="2058" y="20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39" name="Freeform 3559"/>
            <p:cNvSpPr>
              <a:spLocks/>
            </p:cNvSpPr>
            <p:nvPr/>
          </p:nvSpPr>
          <p:spPr bwMode="auto">
            <a:xfrm>
              <a:off x="2058" y="2012"/>
              <a:ext cx="27" cy="38"/>
            </a:xfrm>
            <a:custGeom>
              <a:avLst/>
              <a:gdLst>
                <a:gd name="T0" fmla="*/ 26 w 27"/>
                <a:gd name="T1" fmla="*/ 0 h 38"/>
                <a:gd name="T2" fmla="*/ 0 w 27"/>
                <a:gd name="T3" fmla="*/ 28 h 38"/>
                <a:gd name="T4" fmla="*/ 12 w 27"/>
                <a:gd name="T5" fmla="*/ 37 h 38"/>
                <a:gd name="T6" fmla="*/ 26 w 27"/>
                <a:gd name="T7" fmla="*/ 0 h 38"/>
                <a:gd name="T8" fmla="*/ 0 60000 65536"/>
                <a:gd name="T9" fmla="*/ 0 60000 65536"/>
                <a:gd name="T10" fmla="*/ 0 60000 65536"/>
                <a:gd name="T11" fmla="*/ 0 60000 65536"/>
                <a:gd name="T12" fmla="*/ 0 w 27"/>
                <a:gd name="T13" fmla="*/ 0 h 38"/>
                <a:gd name="T14" fmla="*/ 27 w 27"/>
                <a:gd name="T15" fmla="*/ 38 h 38"/>
              </a:gdLst>
              <a:ahLst/>
              <a:cxnLst>
                <a:cxn ang="T8">
                  <a:pos x="T0" y="T1"/>
                </a:cxn>
                <a:cxn ang="T9">
                  <a:pos x="T2" y="T3"/>
                </a:cxn>
                <a:cxn ang="T10">
                  <a:pos x="T4" y="T5"/>
                </a:cxn>
                <a:cxn ang="T11">
                  <a:pos x="T6" y="T7"/>
                </a:cxn>
              </a:cxnLst>
              <a:rect l="T12" t="T13" r="T14" b="T15"/>
              <a:pathLst>
                <a:path w="27" h="38">
                  <a:moveTo>
                    <a:pt x="26" y="0"/>
                  </a:moveTo>
                  <a:lnTo>
                    <a:pt x="0" y="28"/>
                  </a:lnTo>
                  <a:lnTo>
                    <a:pt x="12" y="3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0" name="Freeform 3560"/>
            <p:cNvSpPr>
              <a:spLocks/>
            </p:cNvSpPr>
            <p:nvPr/>
          </p:nvSpPr>
          <p:spPr bwMode="auto">
            <a:xfrm>
              <a:off x="2058" y="2007"/>
              <a:ext cx="27" cy="35"/>
            </a:xfrm>
            <a:custGeom>
              <a:avLst/>
              <a:gdLst>
                <a:gd name="T0" fmla="*/ 26 w 27"/>
                <a:gd name="T1" fmla="*/ 6 h 35"/>
                <a:gd name="T2" fmla="*/ 12 w 27"/>
                <a:gd name="T3" fmla="*/ 0 h 35"/>
                <a:gd name="T4" fmla="*/ 0 w 27"/>
                <a:gd name="T5" fmla="*/ 34 h 35"/>
                <a:gd name="T6" fmla="*/ 26 w 27"/>
                <a:gd name="T7" fmla="*/ 6 h 35"/>
                <a:gd name="T8" fmla="*/ 0 60000 65536"/>
                <a:gd name="T9" fmla="*/ 0 60000 65536"/>
                <a:gd name="T10" fmla="*/ 0 60000 65536"/>
                <a:gd name="T11" fmla="*/ 0 60000 65536"/>
                <a:gd name="T12" fmla="*/ 0 w 27"/>
                <a:gd name="T13" fmla="*/ 0 h 35"/>
                <a:gd name="T14" fmla="*/ 27 w 27"/>
                <a:gd name="T15" fmla="*/ 35 h 35"/>
              </a:gdLst>
              <a:ahLst/>
              <a:cxnLst>
                <a:cxn ang="T8">
                  <a:pos x="T0" y="T1"/>
                </a:cxn>
                <a:cxn ang="T9">
                  <a:pos x="T2" y="T3"/>
                </a:cxn>
                <a:cxn ang="T10">
                  <a:pos x="T4" y="T5"/>
                </a:cxn>
                <a:cxn ang="T11">
                  <a:pos x="T6" y="T7"/>
                </a:cxn>
              </a:cxnLst>
              <a:rect l="T12" t="T13" r="T14" b="T15"/>
              <a:pathLst>
                <a:path w="27" h="35">
                  <a:moveTo>
                    <a:pt x="26" y="6"/>
                  </a:moveTo>
                  <a:lnTo>
                    <a:pt x="12" y="0"/>
                  </a:lnTo>
                  <a:lnTo>
                    <a:pt x="0" y="34"/>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1" name="Freeform 3561"/>
            <p:cNvSpPr>
              <a:spLocks/>
            </p:cNvSpPr>
            <p:nvPr/>
          </p:nvSpPr>
          <p:spPr bwMode="auto">
            <a:xfrm>
              <a:off x="2070" y="200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2" name="Line 3562"/>
            <p:cNvSpPr>
              <a:spLocks noChangeShapeType="1"/>
            </p:cNvSpPr>
            <p:nvPr/>
          </p:nvSpPr>
          <p:spPr bwMode="auto">
            <a:xfrm>
              <a:off x="2070" y="2007"/>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3" name="Freeform 3563"/>
            <p:cNvSpPr>
              <a:spLocks/>
            </p:cNvSpPr>
            <p:nvPr/>
          </p:nvSpPr>
          <p:spPr bwMode="auto">
            <a:xfrm>
              <a:off x="2070" y="1977"/>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4" name="Freeform 3564"/>
            <p:cNvSpPr>
              <a:spLocks/>
            </p:cNvSpPr>
            <p:nvPr/>
          </p:nvSpPr>
          <p:spPr bwMode="auto">
            <a:xfrm>
              <a:off x="2070" y="1977"/>
              <a:ext cx="27" cy="31"/>
            </a:xfrm>
            <a:custGeom>
              <a:avLst/>
              <a:gdLst>
                <a:gd name="T0" fmla="*/ 26 w 27"/>
                <a:gd name="T1" fmla="*/ 0 h 31"/>
                <a:gd name="T2" fmla="*/ 13 w 27"/>
                <a:gd name="T3" fmla="*/ 0 h 31"/>
                <a:gd name="T4" fmla="*/ 0 w 27"/>
                <a:gd name="T5" fmla="*/ 30 h 31"/>
                <a:gd name="T6" fmla="*/ 26 w 27"/>
                <a:gd name="T7" fmla="*/ 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26" y="0"/>
                  </a:moveTo>
                  <a:lnTo>
                    <a:pt x="13" y="0"/>
                  </a:lnTo>
                  <a:lnTo>
                    <a:pt x="0" y="3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5" name="Freeform 3565"/>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6" name="Freeform 3566"/>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7" name="Freeform 3567"/>
            <p:cNvSpPr>
              <a:spLocks/>
            </p:cNvSpPr>
            <p:nvPr/>
          </p:nvSpPr>
          <p:spPr bwMode="auto">
            <a:xfrm>
              <a:off x="2081" y="1949"/>
              <a:ext cx="29" cy="29"/>
            </a:xfrm>
            <a:custGeom>
              <a:avLst/>
              <a:gdLst>
                <a:gd name="T0" fmla="*/ 28 w 29"/>
                <a:gd name="T1" fmla="*/ 0 h 29"/>
                <a:gd name="T2" fmla="*/ 0 w 29"/>
                <a:gd name="T3" fmla="*/ 28 h 29"/>
                <a:gd name="T4" fmla="*/ 14 w 29"/>
                <a:gd name="T5" fmla="*/ 28 h 29"/>
                <a:gd name="T6" fmla="*/ 28 w 29"/>
                <a:gd name="T7" fmla="*/ 0 h 29"/>
                <a:gd name="T8" fmla="*/ 0 60000 65536"/>
                <a:gd name="T9" fmla="*/ 0 60000 65536"/>
                <a:gd name="T10" fmla="*/ 0 60000 65536"/>
                <a:gd name="T11" fmla="*/ 0 60000 65536"/>
                <a:gd name="T12" fmla="*/ 0 w 29"/>
                <a:gd name="T13" fmla="*/ 0 h 29"/>
                <a:gd name="T14" fmla="*/ 29 w 29"/>
                <a:gd name="T15" fmla="*/ 29 h 29"/>
              </a:gdLst>
              <a:ahLst/>
              <a:cxnLst>
                <a:cxn ang="T8">
                  <a:pos x="T0" y="T1"/>
                </a:cxn>
                <a:cxn ang="T9">
                  <a:pos x="T2" y="T3"/>
                </a:cxn>
                <a:cxn ang="T10">
                  <a:pos x="T4" y="T5"/>
                </a:cxn>
                <a:cxn ang="T11">
                  <a:pos x="T6" y="T7"/>
                </a:cxn>
              </a:cxnLst>
              <a:rect l="T12" t="T13" r="T14" b="T15"/>
              <a:pathLst>
                <a:path w="29" h="29">
                  <a:moveTo>
                    <a:pt x="28" y="0"/>
                  </a:moveTo>
                  <a:lnTo>
                    <a:pt x="0" y="28"/>
                  </a:lnTo>
                  <a:lnTo>
                    <a:pt x="14" y="28"/>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8" name="Freeform 3568"/>
            <p:cNvSpPr>
              <a:spLocks/>
            </p:cNvSpPr>
            <p:nvPr/>
          </p:nvSpPr>
          <p:spPr bwMode="auto">
            <a:xfrm>
              <a:off x="2081" y="1941"/>
              <a:ext cx="29" cy="37"/>
            </a:xfrm>
            <a:custGeom>
              <a:avLst/>
              <a:gdLst>
                <a:gd name="T0" fmla="*/ 28 w 29"/>
                <a:gd name="T1" fmla="*/ 8 h 37"/>
                <a:gd name="T2" fmla="*/ 14 w 29"/>
                <a:gd name="T3" fmla="*/ 0 h 37"/>
                <a:gd name="T4" fmla="*/ 0 w 29"/>
                <a:gd name="T5" fmla="*/ 36 h 37"/>
                <a:gd name="T6" fmla="*/ 28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28" y="8"/>
                  </a:moveTo>
                  <a:lnTo>
                    <a:pt x="14" y="0"/>
                  </a:lnTo>
                  <a:lnTo>
                    <a:pt x="0" y="36"/>
                  </a:lnTo>
                  <a:lnTo>
                    <a:pt x="28"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49" name="Freeform 3569"/>
            <p:cNvSpPr>
              <a:spLocks/>
            </p:cNvSpPr>
            <p:nvPr/>
          </p:nvSpPr>
          <p:spPr bwMode="auto">
            <a:xfrm>
              <a:off x="2096" y="194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0" name="Line 3570"/>
            <p:cNvSpPr>
              <a:spLocks noChangeShapeType="1"/>
            </p:cNvSpPr>
            <p:nvPr/>
          </p:nvSpPr>
          <p:spPr bwMode="auto">
            <a:xfrm>
              <a:off x="2096" y="19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1" name="Freeform 3571"/>
            <p:cNvSpPr>
              <a:spLocks/>
            </p:cNvSpPr>
            <p:nvPr/>
          </p:nvSpPr>
          <p:spPr bwMode="auto">
            <a:xfrm>
              <a:off x="2096" y="1919"/>
              <a:ext cx="24" cy="31"/>
            </a:xfrm>
            <a:custGeom>
              <a:avLst/>
              <a:gdLst>
                <a:gd name="T0" fmla="*/ 23 w 24"/>
                <a:gd name="T1" fmla="*/ 0 h 31"/>
                <a:gd name="T2" fmla="*/ 0 w 24"/>
                <a:gd name="T3" fmla="*/ 21 h 31"/>
                <a:gd name="T4" fmla="*/ 12 w 24"/>
                <a:gd name="T5" fmla="*/ 30 h 31"/>
                <a:gd name="T6" fmla="*/ 23 w 24"/>
                <a:gd name="T7" fmla="*/ 0 h 31"/>
                <a:gd name="T8" fmla="*/ 0 60000 65536"/>
                <a:gd name="T9" fmla="*/ 0 60000 65536"/>
                <a:gd name="T10" fmla="*/ 0 60000 65536"/>
                <a:gd name="T11" fmla="*/ 0 60000 65536"/>
                <a:gd name="T12" fmla="*/ 0 w 24"/>
                <a:gd name="T13" fmla="*/ 0 h 31"/>
                <a:gd name="T14" fmla="*/ 24 w 24"/>
                <a:gd name="T15" fmla="*/ 31 h 31"/>
              </a:gdLst>
              <a:ahLst/>
              <a:cxnLst>
                <a:cxn ang="T8">
                  <a:pos x="T0" y="T1"/>
                </a:cxn>
                <a:cxn ang="T9">
                  <a:pos x="T2" y="T3"/>
                </a:cxn>
                <a:cxn ang="T10">
                  <a:pos x="T4" y="T5"/>
                </a:cxn>
                <a:cxn ang="T11">
                  <a:pos x="T6" y="T7"/>
                </a:cxn>
              </a:cxnLst>
              <a:rect l="T12" t="T13" r="T14" b="T15"/>
              <a:pathLst>
                <a:path w="24" h="31">
                  <a:moveTo>
                    <a:pt x="23" y="0"/>
                  </a:moveTo>
                  <a:lnTo>
                    <a:pt x="0" y="21"/>
                  </a:lnTo>
                  <a:lnTo>
                    <a:pt x="12" y="30"/>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2" name="Freeform 3572"/>
            <p:cNvSpPr>
              <a:spLocks/>
            </p:cNvSpPr>
            <p:nvPr/>
          </p:nvSpPr>
          <p:spPr bwMode="auto">
            <a:xfrm>
              <a:off x="2096" y="1913"/>
              <a:ext cx="24" cy="29"/>
            </a:xfrm>
            <a:custGeom>
              <a:avLst/>
              <a:gdLst>
                <a:gd name="T0" fmla="*/ 23 w 24"/>
                <a:gd name="T1" fmla="*/ 6 h 29"/>
                <a:gd name="T2" fmla="*/ 12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2" y="0"/>
                  </a:lnTo>
                  <a:lnTo>
                    <a:pt x="0" y="28"/>
                  </a:lnTo>
                  <a:lnTo>
                    <a:pt x="23"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3" name="Freeform 3573"/>
            <p:cNvSpPr>
              <a:spLocks/>
            </p:cNvSpPr>
            <p:nvPr/>
          </p:nvSpPr>
          <p:spPr bwMode="auto">
            <a:xfrm>
              <a:off x="2109" y="1913"/>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4" name="Line 3574"/>
            <p:cNvSpPr>
              <a:spLocks noChangeShapeType="1"/>
            </p:cNvSpPr>
            <p:nvPr/>
          </p:nvSpPr>
          <p:spPr bwMode="auto">
            <a:xfrm>
              <a:off x="2109" y="1913"/>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5" name="Freeform 3575"/>
            <p:cNvSpPr>
              <a:spLocks/>
            </p:cNvSpPr>
            <p:nvPr/>
          </p:nvSpPr>
          <p:spPr bwMode="auto">
            <a:xfrm>
              <a:off x="2109" y="1892"/>
              <a:ext cx="26" cy="28"/>
            </a:xfrm>
            <a:custGeom>
              <a:avLst/>
              <a:gdLst>
                <a:gd name="T0" fmla="*/ 25 w 26"/>
                <a:gd name="T1" fmla="*/ 0 h 28"/>
                <a:gd name="T2" fmla="*/ 0 w 26"/>
                <a:gd name="T3" fmla="*/ 20 h 28"/>
                <a:gd name="T4" fmla="*/ 11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20"/>
                  </a:lnTo>
                  <a:lnTo>
                    <a:pt x="11"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6" name="Freeform 3576"/>
            <p:cNvSpPr>
              <a:spLocks/>
            </p:cNvSpPr>
            <p:nvPr/>
          </p:nvSpPr>
          <p:spPr bwMode="auto">
            <a:xfrm>
              <a:off x="2109" y="1886"/>
              <a:ext cx="26" cy="28"/>
            </a:xfrm>
            <a:custGeom>
              <a:avLst/>
              <a:gdLst>
                <a:gd name="T0" fmla="*/ 25 w 26"/>
                <a:gd name="T1" fmla="*/ 6 h 28"/>
                <a:gd name="T2" fmla="*/ 11 w 26"/>
                <a:gd name="T3" fmla="*/ 0 h 28"/>
                <a:gd name="T4" fmla="*/ 0 w 26"/>
                <a:gd name="T5" fmla="*/ 27 h 28"/>
                <a:gd name="T6" fmla="*/ 25 w 26"/>
                <a:gd name="T7" fmla="*/ 6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6"/>
                  </a:moveTo>
                  <a:lnTo>
                    <a:pt x="11" y="0"/>
                  </a:lnTo>
                  <a:lnTo>
                    <a:pt x="0" y="27"/>
                  </a:lnTo>
                  <a:lnTo>
                    <a:pt x="25"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7" name="Freeform 3577"/>
            <p:cNvSpPr>
              <a:spLocks/>
            </p:cNvSpPr>
            <p:nvPr/>
          </p:nvSpPr>
          <p:spPr bwMode="auto">
            <a:xfrm>
              <a:off x="2119" y="1886"/>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8" name="Line 3578"/>
            <p:cNvSpPr>
              <a:spLocks noChangeShapeType="1"/>
            </p:cNvSpPr>
            <p:nvPr/>
          </p:nvSpPr>
          <p:spPr bwMode="auto">
            <a:xfrm>
              <a:off x="2119" y="1886"/>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59" name="Freeform 3579"/>
            <p:cNvSpPr>
              <a:spLocks/>
            </p:cNvSpPr>
            <p:nvPr/>
          </p:nvSpPr>
          <p:spPr bwMode="auto">
            <a:xfrm>
              <a:off x="2119" y="1864"/>
              <a:ext cx="28" cy="29"/>
            </a:xfrm>
            <a:custGeom>
              <a:avLst/>
              <a:gdLst>
                <a:gd name="T0" fmla="*/ 27 w 28"/>
                <a:gd name="T1" fmla="*/ 0 h 29"/>
                <a:gd name="T2" fmla="*/ 0 w 28"/>
                <a:gd name="T3" fmla="*/ 21 h 29"/>
                <a:gd name="T4" fmla="*/ 13 w 28"/>
                <a:gd name="T5" fmla="*/ 28 h 29"/>
                <a:gd name="T6" fmla="*/ 27 w 28"/>
                <a:gd name="T7" fmla="*/ 0 h 29"/>
                <a:gd name="T8" fmla="*/ 0 60000 65536"/>
                <a:gd name="T9" fmla="*/ 0 60000 65536"/>
                <a:gd name="T10" fmla="*/ 0 60000 65536"/>
                <a:gd name="T11" fmla="*/ 0 60000 65536"/>
                <a:gd name="T12" fmla="*/ 0 w 28"/>
                <a:gd name="T13" fmla="*/ 0 h 29"/>
                <a:gd name="T14" fmla="*/ 28 w 28"/>
                <a:gd name="T15" fmla="*/ 29 h 29"/>
              </a:gdLst>
              <a:ahLst/>
              <a:cxnLst>
                <a:cxn ang="T8">
                  <a:pos x="T0" y="T1"/>
                </a:cxn>
                <a:cxn ang="T9">
                  <a:pos x="T2" y="T3"/>
                </a:cxn>
                <a:cxn ang="T10">
                  <a:pos x="T4" y="T5"/>
                </a:cxn>
                <a:cxn ang="T11">
                  <a:pos x="T6" y="T7"/>
                </a:cxn>
              </a:cxnLst>
              <a:rect l="T12" t="T13" r="T14" b="T15"/>
              <a:pathLst>
                <a:path w="28" h="29">
                  <a:moveTo>
                    <a:pt x="27" y="0"/>
                  </a:moveTo>
                  <a:lnTo>
                    <a:pt x="0" y="21"/>
                  </a:lnTo>
                  <a:lnTo>
                    <a:pt x="13" y="28"/>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0" name="Freeform 3580"/>
            <p:cNvSpPr>
              <a:spLocks/>
            </p:cNvSpPr>
            <p:nvPr/>
          </p:nvSpPr>
          <p:spPr bwMode="auto">
            <a:xfrm>
              <a:off x="2119" y="1856"/>
              <a:ext cx="28" cy="31"/>
            </a:xfrm>
            <a:custGeom>
              <a:avLst/>
              <a:gdLst>
                <a:gd name="T0" fmla="*/ 27 w 28"/>
                <a:gd name="T1" fmla="*/ 8 h 31"/>
                <a:gd name="T2" fmla="*/ 13 w 28"/>
                <a:gd name="T3" fmla="*/ 0 h 31"/>
                <a:gd name="T4" fmla="*/ 0 w 28"/>
                <a:gd name="T5" fmla="*/ 30 h 31"/>
                <a:gd name="T6" fmla="*/ 27 w 28"/>
                <a:gd name="T7" fmla="*/ 8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8"/>
                  </a:moveTo>
                  <a:lnTo>
                    <a:pt x="13" y="0"/>
                  </a:lnTo>
                  <a:lnTo>
                    <a:pt x="0" y="30"/>
                  </a:lnTo>
                  <a:lnTo>
                    <a:pt x="27"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1" name="Freeform 3581"/>
            <p:cNvSpPr>
              <a:spLocks/>
            </p:cNvSpPr>
            <p:nvPr/>
          </p:nvSpPr>
          <p:spPr bwMode="auto">
            <a:xfrm>
              <a:off x="2134" y="1856"/>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2" name="Line 3582"/>
            <p:cNvSpPr>
              <a:spLocks noChangeShapeType="1"/>
            </p:cNvSpPr>
            <p:nvPr/>
          </p:nvSpPr>
          <p:spPr bwMode="auto">
            <a:xfrm>
              <a:off x="2134" y="1856"/>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3" name="Freeform 3583"/>
            <p:cNvSpPr>
              <a:spLocks/>
            </p:cNvSpPr>
            <p:nvPr/>
          </p:nvSpPr>
          <p:spPr bwMode="auto">
            <a:xfrm>
              <a:off x="2134" y="1835"/>
              <a:ext cx="24" cy="30"/>
            </a:xfrm>
            <a:custGeom>
              <a:avLst/>
              <a:gdLst>
                <a:gd name="T0" fmla="*/ 23 w 24"/>
                <a:gd name="T1" fmla="*/ 0 h 30"/>
                <a:gd name="T2" fmla="*/ 0 w 24"/>
                <a:gd name="T3" fmla="*/ 20 h 30"/>
                <a:gd name="T4" fmla="*/ 11 w 24"/>
                <a:gd name="T5" fmla="*/ 29 h 30"/>
                <a:gd name="T6" fmla="*/ 23 w 24"/>
                <a:gd name="T7" fmla="*/ 0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0"/>
                  </a:moveTo>
                  <a:lnTo>
                    <a:pt x="0" y="20"/>
                  </a:lnTo>
                  <a:lnTo>
                    <a:pt x="11" y="29"/>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4" name="Freeform 3584"/>
            <p:cNvSpPr>
              <a:spLocks/>
            </p:cNvSpPr>
            <p:nvPr/>
          </p:nvSpPr>
          <p:spPr bwMode="auto">
            <a:xfrm>
              <a:off x="2134" y="1828"/>
              <a:ext cx="24" cy="29"/>
            </a:xfrm>
            <a:custGeom>
              <a:avLst/>
              <a:gdLst>
                <a:gd name="T0" fmla="*/ 23 w 24"/>
                <a:gd name="T1" fmla="*/ 6 h 29"/>
                <a:gd name="T2" fmla="*/ 11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1" y="0"/>
                  </a:lnTo>
                  <a:lnTo>
                    <a:pt x="0" y="28"/>
                  </a:lnTo>
                  <a:lnTo>
                    <a:pt x="23"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5" name="Freeform 3585"/>
            <p:cNvSpPr>
              <a:spLocks/>
            </p:cNvSpPr>
            <p:nvPr/>
          </p:nvSpPr>
          <p:spPr bwMode="auto">
            <a:xfrm>
              <a:off x="2146" y="182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6" name="Line 3586"/>
            <p:cNvSpPr>
              <a:spLocks noChangeShapeType="1"/>
            </p:cNvSpPr>
            <p:nvPr/>
          </p:nvSpPr>
          <p:spPr bwMode="auto">
            <a:xfrm>
              <a:off x="2146" y="182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7" name="Freeform 3587"/>
            <p:cNvSpPr>
              <a:spLocks/>
            </p:cNvSpPr>
            <p:nvPr/>
          </p:nvSpPr>
          <p:spPr bwMode="auto">
            <a:xfrm>
              <a:off x="2146" y="1813"/>
              <a:ext cx="24" cy="28"/>
            </a:xfrm>
            <a:custGeom>
              <a:avLst/>
              <a:gdLst>
                <a:gd name="T0" fmla="*/ 23 w 24"/>
                <a:gd name="T1" fmla="*/ 0 h 28"/>
                <a:gd name="T2" fmla="*/ 0 w 24"/>
                <a:gd name="T3" fmla="*/ 18 h 28"/>
                <a:gd name="T4" fmla="*/ 12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18"/>
                  </a:lnTo>
                  <a:lnTo>
                    <a:pt x="12" y="27"/>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8" name="Freeform 3588"/>
            <p:cNvSpPr>
              <a:spLocks/>
            </p:cNvSpPr>
            <p:nvPr/>
          </p:nvSpPr>
          <p:spPr bwMode="auto">
            <a:xfrm>
              <a:off x="2146" y="1807"/>
              <a:ext cx="24" cy="26"/>
            </a:xfrm>
            <a:custGeom>
              <a:avLst/>
              <a:gdLst>
                <a:gd name="T0" fmla="*/ 23 w 24"/>
                <a:gd name="T1" fmla="*/ 7 h 26"/>
                <a:gd name="T2" fmla="*/ 12 w 24"/>
                <a:gd name="T3" fmla="*/ 0 h 26"/>
                <a:gd name="T4" fmla="*/ 0 w 24"/>
                <a:gd name="T5" fmla="*/ 25 h 26"/>
                <a:gd name="T6" fmla="*/ 23 w 24"/>
                <a:gd name="T7" fmla="*/ 7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7"/>
                  </a:moveTo>
                  <a:lnTo>
                    <a:pt x="12" y="0"/>
                  </a:lnTo>
                  <a:lnTo>
                    <a:pt x="0" y="25"/>
                  </a:lnTo>
                  <a:lnTo>
                    <a:pt x="23" y="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69" name="Freeform 3589"/>
            <p:cNvSpPr>
              <a:spLocks/>
            </p:cNvSpPr>
            <p:nvPr/>
          </p:nvSpPr>
          <p:spPr bwMode="auto">
            <a:xfrm>
              <a:off x="2157" y="180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0" name="Line 3590"/>
            <p:cNvSpPr>
              <a:spLocks noChangeShapeType="1"/>
            </p:cNvSpPr>
            <p:nvPr/>
          </p:nvSpPr>
          <p:spPr bwMode="auto">
            <a:xfrm>
              <a:off x="2157" y="180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1" name="Freeform 3591"/>
            <p:cNvSpPr>
              <a:spLocks/>
            </p:cNvSpPr>
            <p:nvPr/>
          </p:nvSpPr>
          <p:spPr bwMode="auto">
            <a:xfrm>
              <a:off x="2157" y="1792"/>
              <a:ext cx="28" cy="27"/>
            </a:xfrm>
            <a:custGeom>
              <a:avLst/>
              <a:gdLst>
                <a:gd name="T0" fmla="*/ 27 w 28"/>
                <a:gd name="T1" fmla="*/ 0 h 27"/>
                <a:gd name="T2" fmla="*/ 0 w 28"/>
                <a:gd name="T3" fmla="*/ 18 h 27"/>
                <a:gd name="T4" fmla="*/ 16 w 28"/>
                <a:gd name="T5" fmla="*/ 26 h 27"/>
                <a:gd name="T6" fmla="*/ 27 w 28"/>
                <a:gd name="T7" fmla="*/ 0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0"/>
                  </a:moveTo>
                  <a:lnTo>
                    <a:pt x="0" y="18"/>
                  </a:lnTo>
                  <a:lnTo>
                    <a:pt x="16" y="26"/>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2" name="Freeform 3592"/>
            <p:cNvSpPr>
              <a:spLocks/>
            </p:cNvSpPr>
            <p:nvPr/>
          </p:nvSpPr>
          <p:spPr bwMode="auto">
            <a:xfrm>
              <a:off x="2157" y="1785"/>
              <a:ext cx="28" cy="28"/>
            </a:xfrm>
            <a:custGeom>
              <a:avLst/>
              <a:gdLst>
                <a:gd name="T0" fmla="*/ 27 w 28"/>
                <a:gd name="T1" fmla="*/ 8 h 28"/>
                <a:gd name="T2" fmla="*/ 16 w 28"/>
                <a:gd name="T3" fmla="*/ 0 h 28"/>
                <a:gd name="T4" fmla="*/ 0 w 28"/>
                <a:gd name="T5" fmla="*/ 27 h 28"/>
                <a:gd name="T6" fmla="*/ 27 w 28"/>
                <a:gd name="T7" fmla="*/ 8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8"/>
                  </a:moveTo>
                  <a:lnTo>
                    <a:pt x="16" y="0"/>
                  </a:lnTo>
                  <a:lnTo>
                    <a:pt x="0" y="27"/>
                  </a:lnTo>
                  <a:lnTo>
                    <a:pt x="27"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3" name="Freeform 3593"/>
            <p:cNvSpPr>
              <a:spLocks/>
            </p:cNvSpPr>
            <p:nvPr/>
          </p:nvSpPr>
          <p:spPr bwMode="auto">
            <a:xfrm>
              <a:off x="2169" y="1785"/>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4" name="Line 3594"/>
            <p:cNvSpPr>
              <a:spLocks noChangeShapeType="1"/>
            </p:cNvSpPr>
            <p:nvPr/>
          </p:nvSpPr>
          <p:spPr bwMode="auto">
            <a:xfrm>
              <a:off x="2169" y="1785"/>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5" name="Freeform 3595"/>
            <p:cNvSpPr>
              <a:spLocks/>
            </p:cNvSpPr>
            <p:nvPr/>
          </p:nvSpPr>
          <p:spPr bwMode="auto">
            <a:xfrm>
              <a:off x="2169" y="1777"/>
              <a:ext cx="27" cy="28"/>
            </a:xfrm>
            <a:custGeom>
              <a:avLst/>
              <a:gdLst>
                <a:gd name="T0" fmla="*/ 26 w 27"/>
                <a:gd name="T1" fmla="*/ 0 h 28"/>
                <a:gd name="T2" fmla="*/ 0 w 27"/>
                <a:gd name="T3" fmla="*/ 15 h 28"/>
                <a:gd name="T4" fmla="*/ 1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0"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6" name="Freeform 3596"/>
            <p:cNvSpPr>
              <a:spLocks/>
            </p:cNvSpPr>
            <p:nvPr/>
          </p:nvSpPr>
          <p:spPr bwMode="auto">
            <a:xfrm>
              <a:off x="2169" y="1771"/>
              <a:ext cx="27" cy="27"/>
            </a:xfrm>
            <a:custGeom>
              <a:avLst/>
              <a:gdLst>
                <a:gd name="T0" fmla="*/ 26 w 27"/>
                <a:gd name="T1" fmla="*/ 11 h 27"/>
                <a:gd name="T2" fmla="*/ 18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8" y="0"/>
                  </a:lnTo>
                  <a:lnTo>
                    <a:pt x="0" y="26"/>
                  </a:lnTo>
                  <a:lnTo>
                    <a:pt x="26"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7" name="Freeform 3597"/>
            <p:cNvSpPr>
              <a:spLocks/>
            </p:cNvSpPr>
            <p:nvPr/>
          </p:nvSpPr>
          <p:spPr bwMode="auto">
            <a:xfrm>
              <a:off x="2184" y="177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8" name="Line 3598"/>
            <p:cNvSpPr>
              <a:spLocks noChangeShapeType="1"/>
            </p:cNvSpPr>
            <p:nvPr/>
          </p:nvSpPr>
          <p:spPr bwMode="auto">
            <a:xfrm>
              <a:off x="2184" y="1771"/>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79" name="Freeform 3599"/>
            <p:cNvSpPr>
              <a:spLocks/>
            </p:cNvSpPr>
            <p:nvPr/>
          </p:nvSpPr>
          <p:spPr bwMode="auto">
            <a:xfrm>
              <a:off x="2184" y="1764"/>
              <a:ext cx="24" cy="27"/>
            </a:xfrm>
            <a:custGeom>
              <a:avLst/>
              <a:gdLst>
                <a:gd name="T0" fmla="*/ 23 w 24"/>
                <a:gd name="T1" fmla="*/ 0 h 27"/>
                <a:gd name="T2" fmla="*/ 0 w 24"/>
                <a:gd name="T3" fmla="*/ 13 h 27"/>
                <a:gd name="T4" fmla="*/ 7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3"/>
                  </a:lnTo>
                  <a:lnTo>
                    <a:pt x="7"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0" name="Freeform 3600"/>
            <p:cNvSpPr>
              <a:spLocks/>
            </p:cNvSpPr>
            <p:nvPr/>
          </p:nvSpPr>
          <p:spPr bwMode="auto">
            <a:xfrm>
              <a:off x="2184" y="1755"/>
              <a:ext cx="24" cy="28"/>
            </a:xfrm>
            <a:custGeom>
              <a:avLst/>
              <a:gdLst>
                <a:gd name="T0" fmla="*/ 23 w 24"/>
                <a:gd name="T1" fmla="*/ 15 h 28"/>
                <a:gd name="T2" fmla="*/ 15 w 24"/>
                <a:gd name="T3" fmla="*/ 0 h 28"/>
                <a:gd name="T4" fmla="*/ 0 w 24"/>
                <a:gd name="T5" fmla="*/ 27 h 28"/>
                <a:gd name="T6" fmla="*/ 23 w 24"/>
                <a:gd name="T7" fmla="*/ 15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5"/>
                  </a:moveTo>
                  <a:lnTo>
                    <a:pt x="15" y="0"/>
                  </a:lnTo>
                  <a:lnTo>
                    <a:pt x="0" y="27"/>
                  </a:lnTo>
                  <a:lnTo>
                    <a:pt x="23"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1" name="Freeform 3601"/>
            <p:cNvSpPr>
              <a:spLocks/>
            </p:cNvSpPr>
            <p:nvPr/>
          </p:nvSpPr>
          <p:spPr bwMode="auto">
            <a:xfrm>
              <a:off x="2195" y="1749"/>
              <a:ext cx="27" cy="28"/>
            </a:xfrm>
            <a:custGeom>
              <a:avLst/>
              <a:gdLst>
                <a:gd name="T0" fmla="*/ 0 w 27"/>
                <a:gd name="T1" fmla="*/ 0 h 28"/>
                <a:gd name="T2" fmla="*/ 0 w 27"/>
                <a:gd name="T3" fmla="*/ 27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27"/>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2" name="Freeform 3602"/>
            <p:cNvSpPr>
              <a:spLocks/>
            </p:cNvSpPr>
            <p:nvPr/>
          </p:nvSpPr>
          <p:spPr bwMode="auto">
            <a:xfrm>
              <a:off x="2195" y="1749"/>
              <a:ext cx="1" cy="28"/>
            </a:xfrm>
            <a:custGeom>
              <a:avLst/>
              <a:gdLst>
                <a:gd name="T0" fmla="*/ 0 w 1"/>
                <a:gd name="T1" fmla="*/ 0 h 28"/>
                <a:gd name="T2" fmla="*/ 0 w 1"/>
                <a:gd name="T3" fmla="*/ 27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3" name="Freeform 3603"/>
            <p:cNvSpPr>
              <a:spLocks/>
            </p:cNvSpPr>
            <p:nvPr/>
          </p:nvSpPr>
          <p:spPr bwMode="auto">
            <a:xfrm>
              <a:off x="2195" y="1749"/>
              <a:ext cx="27" cy="28"/>
            </a:xfrm>
            <a:custGeom>
              <a:avLst/>
              <a:gdLst>
                <a:gd name="T0" fmla="*/ 26 w 27"/>
                <a:gd name="T1" fmla="*/ 0 h 28"/>
                <a:gd name="T2" fmla="*/ 0 w 27"/>
                <a:gd name="T3" fmla="*/ 0 h 28"/>
                <a:gd name="T4" fmla="*/ 8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8"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4" name="Freeform 3604"/>
            <p:cNvSpPr>
              <a:spLocks/>
            </p:cNvSpPr>
            <p:nvPr/>
          </p:nvSpPr>
          <p:spPr bwMode="auto">
            <a:xfrm>
              <a:off x="2195" y="1742"/>
              <a:ext cx="27" cy="28"/>
            </a:xfrm>
            <a:custGeom>
              <a:avLst/>
              <a:gdLst>
                <a:gd name="T0" fmla="*/ 26 w 27"/>
                <a:gd name="T1" fmla="*/ 27 h 28"/>
                <a:gd name="T2" fmla="*/ 16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6"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5" name="Freeform 3605"/>
            <p:cNvSpPr>
              <a:spLocks/>
            </p:cNvSpPr>
            <p:nvPr/>
          </p:nvSpPr>
          <p:spPr bwMode="auto">
            <a:xfrm>
              <a:off x="2206" y="1742"/>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6" name="Line 3606"/>
            <p:cNvSpPr>
              <a:spLocks noChangeShapeType="1"/>
            </p:cNvSpPr>
            <p:nvPr/>
          </p:nvSpPr>
          <p:spPr bwMode="auto">
            <a:xfrm>
              <a:off x="2206" y="1742"/>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7" name="Freeform 3607"/>
            <p:cNvSpPr>
              <a:spLocks/>
            </p:cNvSpPr>
            <p:nvPr/>
          </p:nvSpPr>
          <p:spPr bwMode="auto">
            <a:xfrm>
              <a:off x="2206" y="1742"/>
              <a:ext cx="25" cy="28"/>
            </a:xfrm>
            <a:custGeom>
              <a:avLst/>
              <a:gdLst>
                <a:gd name="T0" fmla="*/ 24 w 25"/>
                <a:gd name="T1" fmla="*/ 0 h 28"/>
                <a:gd name="T2" fmla="*/ 0 w 25"/>
                <a:gd name="T3" fmla="*/ 0 h 28"/>
                <a:gd name="T4" fmla="*/ 9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0"/>
                  </a:lnTo>
                  <a:lnTo>
                    <a:pt x="9" y="27"/>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8" name="Freeform 3608"/>
            <p:cNvSpPr>
              <a:spLocks/>
            </p:cNvSpPr>
            <p:nvPr/>
          </p:nvSpPr>
          <p:spPr bwMode="auto">
            <a:xfrm>
              <a:off x="2206" y="1734"/>
              <a:ext cx="25" cy="28"/>
            </a:xfrm>
            <a:custGeom>
              <a:avLst/>
              <a:gdLst>
                <a:gd name="T0" fmla="*/ 24 w 25"/>
                <a:gd name="T1" fmla="*/ 27 h 28"/>
                <a:gd name="T2" fmla="*/ 16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6"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89" name="Freeform 3609"/>
            <p:cNvSpPr>
              <a:spLocks/>
            </p:cNvSpPr>
            <p:nvPr/>
          </p:nvSpPr>
          <p:spPr bwMode="auto">
            <a:xfrm>
              <a:off x="2216" y="1734"/>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0" name="Line 3610"/>
            <p:cNvSpPr>
              <a:spLocks noChangeShapeType="1"/>
            </p:cNvSpPr>
            <p:nvPr/>
          </p:nvSpPr>
          <p:spPr bwMode="auto">
            <a:xfrm>
              <a:off x="2216" y="1734"/>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1" name="Freeform 3611"/>
            <p:cNvSpPr>
              <a:spLocks/>
            </p:cNvSpPr>
            <p:nvPr/>
          </p:nvSpPr>
          <p:spPr bwMode="auto">
            <a:xfrm>
              <a:off x="2216" y="1734"/>
              <a:ext cx="29" cy="28"/>
            </a:xfrm>
            <a:custGeom>
              <a:avLst/>
              <a:gdLst>
                <a:gd name="T0" fmla="*/ 28 w 29"/>
                <a:gd name="T1" fmla="*/ 27 h 28"/>
                <a:gd name="T2" fmla="*/ 0 w 29"/>
                <a:gd name="T3" fmla="*/ 0 h 28"/>
                <a:gd name="T4" fmla="*/ 8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8" y="27"/>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2" name="Freeform 3612"/>
            <p:cNvSpPr>
              <a:spLocks/>
            </p:cNvSpPr>
            <p:nvPr/>
          </p:nvSpPr>
          <p:spPr bwMode="auto">
            <a:xfrm>
              <a:off x="2216" y="1728"/>
              <a:ext cx="29" cy="28"/>
            </a:xfrm>
            <a:custGeom>
              <a:avLst/>
              <a:gdLst>
                <a:gd name="T0" fmla="*/ 28 w 29"/>
                <a:gd name="T1" fmla="*/ 27 h 28"/>
                <a:gd name="T2" fmla="*/ 19 w 29"/>
                <a:gd name="T3" fmla="*/ 0 h 28"/>
                <a:gd name="T4" fmla="*/ 0 w 29"/>
                <a:gd name="T5" fmla="*/ 12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9" y="0"/>
                  </a:lnTo>
                  <a:lnTo>
                    <a:pt x="0" y="12"/>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3" name="Freeform 3613"/>
            <p:cNvSpPr>
              <a:spLocks/>
            </p:cNvSpPr>
            <p:nvPr/>
          </p:nvSpPr>
          <p:spPr bwMode="auto">
            <a:xfrm>
              <a:off x="2233" y="1728"/>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4" name="Line 3614"/>
            <p:cNvSpPr>
              <a:spLocks noChangeShapeType="1"/>
            </p:cNvSpPr>
            <p:nvPr/>
          </p:nvSpPr>
          <p:spPr bwMode="auto">
            <a:xfrm>
              <a:off x="2233" y="1728"/>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5" name="Freeform 3615"/>
            <p:cNvSpPr>
              <a:spLocks/>
            </p:cNvSpPr>
            <p:nvPr/>
          </p:nvSpPr>
          <p:spPr bwMode="auto">
            <a:xfrm>
              <a:off x="2233" y="1728"/>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6" name="Freeform 3616"/>
            <p:cNvSpPr>
              <a:spLocks/>
            </p:cNvSpPr>
            <p:nvPr/>
          </p:nvSpPr>
          <p:spPr bwMode="auto">
            <a:xfrm>
              <a:off x="2233" y="1728"/>
              <a:ext cx="26" cy="28"/>
            </a:xfrm>
            <a:custGeom>
              <a:avLst/>
              <a:gdLst>
                <a:gd name="T0" fmla="*/ 0 w 26"/>
                <a:gd name="T1" fmla="*/ 0 h 28"/>
                <a:gd name="T2" fmla="*/ 25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25"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7" name="Freeform 3617"/>
            <p:cNvSpPr>
              <a:spLocks/>
            </p:cNvSpPr>
            <p:nvPr/>
          </p:nvSpPr>
          <p:spPr bwMode="auto">
            <a:xfrm>
              <a:off x="2245" y="1728"/>
              <a:ext cx="27" cy="28"/>
            </a:xfrm>
            <a:custGeom>
              <a:avLst/>
              <a:gdLst>
                <a:gd name="T0" fmla="*/ 0 w 27"/>
                <a:gd name="T1" fmla="*/ 0 h 28"/>
                <a:gd name="T2" fmla="*/ 0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0"/>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8" name="Line 3618"/>
            <p:cNvSpPr>
              <a:spLocks noChangeShapeType="1"/>
            </p:cNvSpPr>
            <p:nvPr/>
          </p:nvSpPr>
          <p:spPr bwMode="auto">
            <a:xfrm>
              <a:off x="2245" y="1728"/>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99" name="Freeform 3619"/>
            <p:cNvSpPr>
              <a:spLocks/>
            </p:cNvSpPr>
            <p:nvPr/>
          </p:nvSpPr>
          <p:spPr bwMode="auto">
            <a:xfrm>
              <a:off x="2245" y="1728"/>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0" name="Freeform 3620"/>
            <p:cNvSpPr>
              <a:spLocks/>
            </p:cNvSpPr>
            <p:nvPr/>
          </p:nvSpPr>
          <p:spPr bwMode="auto">
            <a:xfrm>
              <a:off x="2245" y="1728"/>
              <a:ext cx="27" cy="28"/>
            </a:xfrm>
            <a:custGeom>
              <a:avLst/>
              <a:gdLst>
                <a:gd name="T0" fmla="*/ 0 w 27"/>
                <a:gd name="T1" fmla="*/ 0 h 28"/>
                <a:gd name="T2" fmla="*/ 26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26" y="0"/>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1" name="Freeform 3621"/>
            <p:cNvSpPr>
              <a:spLocks/>
            </p:cNvSpPr>
            <p:nvPr/>
          </p:nvSpPr>
          <p:spPr bwMode="auto">
            <a:xfrm>
              <a:off x="2254" y="1728"/>
              <a:ext cx="29" cy="28"/>
            </a:xfrm>
            <a:custGeom>
              <a:avLst/>
              <a:gdLst>
                <a:gd name="T0" fmla="*/ 0 w 29"/>
                <a:gd name="T1" fmla="*/ 0 h 28"/>
                <a:gd name="T2" fmla="*/ 0 w 29"/>
                <a:gd name="T3" fmla="*/ 0 h 28"/>
                <a:gd name="T4" fmla="*/ 28 w 29"/>
                <a:gd name="T5" fmla="*/ 27 h 28"/>
                <a:gd name="T6" fmla="*/ 0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0"/>
                  </a:moveTo>
                  <a:lnTo>
                    <a:pt x="0" y="0"/>
                  </a:lnTo>
                  <a:lnTo>
                    <a:pt x="28"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2" name="Line 3622"/>
            <p:cNvSpPr>
              <a:spLocks noChangeShapeType="1"/>
            </p:cNvSpPr>
            <p:nvPr/>
          </p:nvSpPr>
          <p:spPr bwMode="auto">
            <a:xfrm>
              <a:off x="2254" y="1728"/>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3" name="Freeform 3623"/>
            <p:cNvSpPr>
              <a:spLocks/>
            </p:cNvSpPr>
            <p:nvPr/>
          </p:nvSpPr>
          <p:spPr bwMode="auto">
            <a:xfrm>
              <a:off x="2254" y="1728"/>
              <a:ext cx="29" cy="28"/>
            </a:xfrm>
            <a:custGeom>
              <a:avLst/>
              <a:gdLst>
                <a:gd name="T0" fmla="*/ 28 w 29"/>
                <a:gd name="T1" fmla="*/ 27 h 28"/>
                <a:gd name="T2" fmla="*/ 0 w 29"/>
                <a:gd name="T3" fmla="*/ 0 h 28"/>
                <a:gd name="T4" fmla="*/ 0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0" y="27"/>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4" name="Freeform 3624"/>
            <p:cNvSpPr>
              <a:spLocks/>
            </p:cNvSpPr>
            <p:nvPr/>
          </p:nvSpPr>
          <p:spPr bwMode="auto">
            <a:xfrm>
              <a:off x="2254" y="1728"/>
              <a:ext cx="29" cy="28"/>
            </a:xfrm>
            <a:custGeom>
              <a:avLst/>
              <a:gdLst>
                <a:gd name="T0" fmla="*/ 28 w 29"/>
                <a:gd name="T1" fmla="*/ 27 h 28"/>
                <a:gd name="T2" fmla="*/ 28 w 29"/>
                <a:gd name="T3" fmla="*/ 12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12"/>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5" name="Freeform 3625"/>
            <p:cNvSpPr>
              <a:spLocks/>
            </p:cNvSpPr>
            <p:nvPr/>
          </p:nvSpPr>
          <p:spPr bwMode="auto">
            <a:xfrm>
              <a:off x="2267" y="1734"/>
              <a:ext cx="26" cy="28"/>
            </a:xfrm>
            <a:custGeom>
              <a:avLst/>
              <a:gdLst>
                <a:gd name="T0" fmla="*/ 25 w 26"/>
                <a:gd name="T1" fmla="*/ 0 h 28"/>
                <a:gd name="T2" fmla="*/ 0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0"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6" name="Freeform 3626"/>
            <p:cNvSpPr>
              <a:spLocks/>
            </p:cNvSpPr>
            <p:nvPr/>
          </p:nvSpPr>
          <p:spPr bwMode="auto">
            <a:xfrm>
              <a:off x="2267" y="1734"/>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7" name="Freeform 3627"/>
            <p:cNvSpPr>
              <a:spLocks/>
            </p:cNvSpPr>
            <p:nvPr/>
          </p:nvSpPr>
          <p:spPr bwMode="auto">
            <a:xfrm>
              <a:off x="2262" y="1734"/>
              <a:ext cx="25" cy="28"/>
            </a:xfrm>
            <a:custGeom>
              <a:avLst/>
              <a:gdLst>
                <a:gd name="T0" fmla="*/ 24 w 25"/>
                <a:gd name="T1" fmla="*/ 27 h 28"/>
                <a:gd name="T2" fmla="*/ 24 w 25"/>
                <a:gd name="T3" fmla="*/ 0 h 28"/>
                <a:gd name="T4" fmla="*/ 0 w 25"/>
                <a:gd name="T5" fmla="*/ 15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15"/>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8" name="Freeform 3628"/>
            <p:cNvSpPr>
              <a:spLocks/>
            </p:cNvSpPr>
            <p:nvPr/>
          </p:nvSpPr>
          <p:spPr bwMode="auto">
            <a:xfrm>
              <a:off x="2275" y="1734"/>
              <a:ext cx="25" cy="28"/>
            </a:xfrm>
            <a:custGeom>
              <a:avLst/>
              <a:gdLst>
                <a:gd name="T0" fmla="*/ 0 w 25"/>
                <a:gd name="T1" fmla="*/ 27 h 28"/>
                <a:gd name="T2" fmla="*/ 24 w 25"/>
                <a:gd name="T3" fmla="*/ 15 h 28"/>
                <a:gd name="T4" fmla="*/ 0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24" y="15"/>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09" name="Freeform 3629"/>
            <p:cNvSpPr>
              <a:spLocks/>
            </p:cNvSpPr>
            <p:nvPr/>
          </p:nvSpPr>
          <p:spPr bwMode="auto">
            <a:xfrm>
              <a:off x="2282" y="1742"/>
              <a:ext cx="24" cy="28"/>
            </a:xfrm>
            <a:custGeom>
              <a:avLst/>
              <a:gdLst>
                <a:gd name="T0" fmla="*/ 23 w 24"/>
                <a:gd name="T1" fmla="*/ 0 h 28"/>
                <a:gd name="T2" fmla="*/ 0 w 24"/>
                <a:gd name="T3" fmla="*/ 0 h 28"/>
                <a:gd name="T4" fmla="*/ 0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0"/>
                  </a:lnTo>
                  <a:lnTo>
                    <a:pt x="0" y="27"/>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0" name="Freeform 3630"/>
            <p:cNvSpPr>
              <a:spLocks/>
            </p:cNvSpPr>
            <p:nvPr/>
          </p:nvSpPr>
          <p:spPr bwMode="auto">
            <a:xfrm>
              <a:off x="2282" y="1742"/>
              <a:ext cx="24" cy="1"/>
            </a:xfrm>
            <a:custGeom>
              <a:avLst/>
              <a:gdLst>
                <a:gd name="T0" fmla="*/ 23 w 24"/>
                <a:gd name="T1" fmla="*/ 0 h 1"/>
                <a:gd name="T2" fmla="*/ 23 w 24"/>
                <a:gd name="T3" fmla="*/ 0 h 1"/>
                <a:gd name="T4" fmla="*/ 0 w 24"/>
                <a:gd name="T5" fmla="*/ 0 h 1"/>
                <a:gd name="T6" fmla="*/ 23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23" y="0"/>
                  </a:moveTo>
                  <a:lnTo>
                    <a:pt x="23" y="0"/>
                  </a:lnTo>
                  <a:lnTo>
                    <a:pt x="0" y="0"/>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1" name="Freeform 3631"/>
            <p:cNvSpPr>
              <a:spLocks/>
            </p:cNvSpPr>
            <p:nvPr/>
          </p:nvSpPr>
          <p:spPr bwMode="auto">
            <a:xfrm>
              <a:off x="2275" y="1742"/>
              <a:ext cx="25" cy="28"/>
            </a:xfrm>
            <a:custGeom>
              <a:avLst/>
              <a:gdLst>
                <a:gd name="T0" fmla="*/ 24 w 25"/>
                <a:gd name="T1" fmla="*/ 27 h 28"/>
                <a:gd name="T2" fmla="*/ 24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8"/>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2" name="Freeform 3632"/>
            <p:cNvSpPr>
              <a:spLocks/>
            </p:cNvSpPr>
            <p:nvPr/>
          </p:nvSpPr>
          <p:spPr bwMode="auto">
            <a:xfrm>
              <a:off x="2286" y="1742"/>
              <a:ext cx="28" cy="28"/>
            </a:xfrm>
            <a:custGeom>
              <a:avLst/>
              <a:gdLst>
                <a:gd name="T0" fmla="*/ 0 w 28"/>
                <a:gd name="T1" fmla="*/ 27 h 28"/>
                <a:gd name="T2" fmla="*/ 27 w 28"/>
                <a:gd name="T3" fmla="*/ 8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8"/>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3" name="Freeform 3633"/>
            <p:cNvSpPr>
              <a:spLocks/>
            </p:cNvSpPr>
            <p:nvPr/>
          </p:nvSpPr>
          <p:spPr bwMode="auto">
            <a:xfrm>
              <a:off x="2292" y="1749"/>
              <a:ext cx="26" cy="28"/>
            </a:xfrm>
            <a:custGeom>
              <a:avLst/>
              <a:gdLst>
                <a:gd name="T0" fmla="*/ 25 w 26"/>
                <a:gd name="T1" fmla="*/ 12 h 28"/>
                <a:gd name="T2" fmla="*/ 25 w 26"/>
                <a:gd name="T3" fmla="*/ 0 h 28"/>
                <a:gd name="T4" fmla="*/ 0 w 26"/>
                <a:gd name="T5" fmla="*/ 27 h 28"/>
                <a:gd name="T6" fmla="*/ 25 w 26"/>
                <a:gd name="T7" fmla="*/ 12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2"/>
                  </a:moveTo>
                  <a:lnTo>
                    <a:pt x="25" y="0"/>
                  </a:lnTo>
                  <a:lnTo>
                    <a:pt x="0" y="27"/>
                  </a:lnTo>
                  <a:lnTo>
                    <a:pt x="25"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4" name="Freeform 3634"/>
            <p:cNvSpPr>
              <a:spLocks/>
            </p:cNvSpPr>
            <p:nvPr/>
          </p:nvSpPr>
          <p:spPr bwMode="auto">
            <a:xfrm>
              <a:off x="2299" y="174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5" name="Freeform 3635"/>
            <p:cNvSpPr>
              <a:spLocks/>
            </p:cNvSpPr>
            <p:nvPr/>
          </p:nvSpPr>
          <p:spPr bwMode="auto">
            <a:xfrm>
              <a:off x="2286" y="1755"/>
              <a:ext cx="28" cy="28"/>
            </a:xfrm>
            <a:custGeom>
              <a:avLst/>
              <a:gdLst>
                <a:gd name="T0" fmla="*/ 27 w 28"/>
                <a:gd name="T1" fmla="*/ 27 h 28"/>
                <a:gd name="T2" fmla="*/ 27 w 28"/>
                <a:gd name="T3" fmla="*/ 0 h 28"/>
                <a:gd name="T4" fmla="*/ 0 w 28"/>
                <a:gd name="T5" fmla="*/ 10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27" y="0"/>
                  </a:lnTo>
                  <a:lnTo>
                    <a:pt x="0" y="10"/>
                  </a:lnTo>
                  <a:lnTo>
                    <a:pt x="27"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6" name="Freeform 3636"/>
            <p:cNvSpPr>
              <a:spLocks/>
            </p:cNvSpPr>
            <p:nvPr/>
          </p:nvSpPr>
          <p:spPr bwMode="auto">
            <a:xfrm>
              <a:off x="2299" y="1755"/>
              <a:ext cx="26" cy="28"/>
            </a:xfrm>
            <a:custGeom>
              <a:avLst/>
              <a:gdLst>
                <a:gd name="T0" fmla="*/ 0 w 26"/>
                <a:gd name="T1" fmla="*/ 27 h 28"/>
                <a:gd name="T2" fmla="*/ 25 w 26"/>
                <a:gd name="T3" fmla="*/ 18 h 28"/>
                <a:gd name="T4" fmla="*/ 0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18"/>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7" name="Freeform 3637"/>
            <p:cNvSpPr>
              <a:spLocks/>
            </p:cNvSpPr>
            <p:nvPr/>
          </p:nvSpPr>
          <p:spPr bwMode="auto">
            <a:xfrm>
              <a:off x="2305" y="1771"/>
              <a:ext cx="26" cy="27"/>
            </a:xfrm>
            <a:custGeom>
              <a:avLst/>
              <a:gdLst>
                <a:gd name="T0" fmla="*/ 25 w 26"/>
                <a:gd name="T1" fmla="*/ 0 h 27"/>
                <a:gd name="T2" fmla="*/ 25 w 26"/>
                <a:gd name="T3" fmla="*/ 0 h 27"/>
                <a:gd name="T4" fmla="*/ 0 w 26"/>
                <a:gd name="T5" fmla="*/ 26 h 27"/>
                <a:gd name="T6" fmla="*/ 25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0"/>
                  </a:moveTo>
                  <a:lnTo>
                    <a:pt x="25" y="0"/>
                  </a:lnTo>
                  <a:lnTo>
                    <a:pt x="0" y="26"/>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8" name="Line 3638"/>
            <p:cNvSpPr>
              <a:spLocks noChangeShapeType="1"/>
            </p:cNvSpPr>
            <p:nvPr/>
          </p:nvSpPr>
          <p:spPr bwMode="auto">
            <a:xfrm>
              <a:off x="2313" y="1771"/>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19" name="Freeform 3639"/>
            <p:cNvSpPr>
              <a:spLocks/>
            </p:cNvSpPr>
            <p:nvPr/>
          </p:nvSpPr>
          <p:spPr bwMode="auto">
            <a:xfrm>
              <a:off x="2299" y="1771"/>
              <a:ext cx="26" cy="27"/>
            </a:xfrm>
            <a:custGeom>
              <a:avLst/>
              <a:gdLst>
                <a:gd name="T0" fmla="*/ 25 w 26"/>
                <a:gd name="T1" fmla="*/ 26 h 27"/>
                <a:gd name="T2" fmla="*/ 25 w 26"/>
                <a:gd name="T3" fmla="*/ 0 h 27"/>
                <a:gd name="T4" fmla="*/ 0 w 26"/>
                <a:gd name="T5" fmla="*/ 8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0"/>
                  </a:lnTo>
                  <a:lnTo>
                    <a:pt x="0" y="8"/>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0" name="Freeform 3640"/>
            <p:cNvSpPr>
              <a:spLocks/>
            </p:cNvSpPr>
            <p:nvPr/>
          </p:nvSpPr>
          <p:spPr bwMode="auto">
            <a:xfrm>
              <a:off x="2313" y="1771"/>
              <a:ext cx="25" cy="27"/>
            </a:xfrm>
            <a:custGeom>
              <a:avLst/>
              <a:gdLst>
                <a:gd name="T0" fmla="*/ 0 w 25"/>
                <a:gd name="T1" fmla="*/ 26 h 27"/>
                <a:gd name="T2" fmla="*/ 24 w 25"/>
                <a:gd name="T3" fmla="*/ 18 h 27"/>
                <a:gd name="T4" fmla="*/ 0 w 25"/>
                <a:gd name="T5" fmla="*/ 0 h 27"/>
                <a:gd name="T6" fmla="*/ 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26"/>
                  </a:moveTo>
                  <a:lnTo>
                    <a:pt x="24" y="18"/>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1" name="Freeform 3641"/>
            <p:cNvSpPr>
              <a:spLocks/>
            </p:cNvSpPr>
            <p:nvPr/>
          </p:nvSpPr>
          <p:spPr bwMode="auto">
            <a:xfrm>
              <a:off x="2317" y="1785"/>
              <a:ext cx="27" cy="28"/>
            </a:xfrm>
            <a:custGeom>
              <a:avLst/>
              <a:gdLst>
                <a:gd name="T0" fmla="*/ 26 w 27"/>
                <a:gd name="T1" fmla="*/ 0 h 28"/>
                <a:gd name="T2" fmla="*/ 0 w 27"/>
                <a:gd name="T3" fmla="*/ 0 h 28"/>
                <a:gd name="T4" fmla="*/ 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0"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2" name="Freeform 3642"/>
            <p:cNvSpPr>
              <a:spLocks/>
            </p:cNvSpPr>
            <p:nvPr/>
          </p:nvSpPr>
          <p:spPr bwMode="auto">
            <a:xfrm>
              <a:off x="2317" y="1785"/>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3" name="Freeform 3643"/>
            <p:cNvSpPr>
              <a:spLocks/>
            </p:cNvSpPr>
            <p:nvPr/>
          </p:nvSpPr>
          <p:spPr bwMode="auto">
            <a:xfrm>
              <a:off x="2313" y="1785"/>
              <a:ext cx="25" cy="29"/>
            </a:xfrm>
            <a:custGeom>
              <a:avLst/>
              <a:gdLst>
                <a:gd name="T0" fmla="*/ 24 w 25"/>
                <a:gd name="T1" fmla="*/ 28 h 29"/>
                <a:gd name="T2" fmla="*/ 24 w 25"/>
                <a:gd name="T3" fmla="*/ 0 h 29"/>
                <a:gd name="T4" fmla="*/ 0 w 25"/>
                <a:gd name="T5" fmla="*/ 6 h 29"/>
                <a:gd name="T6" fmla="*/ 24 w 25"/>
                <a:gd name="T7" fmla="*/ 28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28"/>
                  </a:moveTo>
                  <a:lnTo>
                    <a:pt x="24" y="0"/>
                  </a:lnTo>
                  <a:lnTo>
                    <a:pt x="0" y="6"/>
                  </a:lnTo>
                  <a:lnTo>
                    <a:pt x="24"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4" name="Freeform 3644"/>
            <p:cNvSpPr>
              <a:spLocks/>
            </p:cNvSpPr>
            <p:nvPr/>
          </p:nvSpPr>
          <p:spPr bwMode="auto">
            <a:xfrm>
              <a:off x="2324" y="1785"/>
              <a:ext cx="24" cy="29"/>
            </a:xfrm>
            <a:custGeom>
              <a:avLst/>
              <a:gdLst>
                <a:gd name="T0" fmla="*/ 0 w 24"/>
                <a:gd name="T1" fmla="*/ 28 h 29"/>
                <a:gd name="T2" fmla="*/ 23 w 24"/>
                <a:gd name="T3" fmla="*/ 21 h 29"/>
                <a:gd name="T4" fmla="*/ 0 w 24"/>
                <a:gd name="T5" fmla="*/ 0 h 29"/>
                <a:gd name="T6" fmla="*/ 0 w 24"/>
                <a:gd name="T7" fmla="*/ 28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28"/>
                  </a:moveTo>
                  <a:lnTo>
                    <a:pt x="23" y="21"/>
                  </a:lnTo>
                  <a:lnTo>
                    <a:pt x="0" y="0"/>
                  </a:lnTo>
                  <a:lnTo>
                    <a:pt x="0"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5" name="Freeform 3645"/>
            <p:cNvSpPr>
              <a:spLocks/>
            </p:cNvSpPr>
            <p:nvPr/>
          </p:nvSpPr>
          <p:spPr bwMode="auto">
            <a:xfrm>
              <a:off x="2330" y="1807"/>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6" name="Line 3646"/>
            <p:cNvSpPr>
              <a:spLocks noChangeShapeType="1"/>
            </p:cNvSpPr>
            <p:nvPr/>
          </p:nvSpPr>
          <p:spPr bwMode="auto">
            <a:xfrm>
              <a:off x="2330" y="180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7" name="Freeform 3647"/>
            <p:cNvSpPr>
              <a:spLocks/>
            </p:cNvSpPr>
            <p:nvPr/>
          </p:nvSpPr>
          <p:spPr bwMode="auto">
            <a:xfrm>
              <a:off x="2324" y="1807"/>
              <a:ext cx="24" cy="29"/>
            </a:xfrm>
            <a:custGeom>
              <a:avLst/>
              <a:gdLst>
                <a:gd name="T0" fmla="*/ 0 w 24"/>
                <a:gd name="T1" fmla="*/ 6 h 29"/>
                <a:gd name="T2" fmla="*/ 12 w 24"/>
                <a:gd name="T3" fmla="*/ 0 h 29"/>
                <a:gd name="T4" fmla="*/ 23 w 24"/>
                <a:gd name="T5" fmla="*/ 28 h 29"/>
                <a:gd name="T6" fmla="*/ 0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6"/>
                  </a:moveTo>
                  <a:lnTo>
                    <a:pt x="12" y="0"/>
                  </a:lnTo>
                  <a:lnTo>
                    <a:pt x="23" y="28"/>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8" name="Freeform 3648"/>
            <p:cNvSpPr>
              <a:spLocks/>
            </p:cNvSpPr>
            <p:nvPr/>
          </p:nvSpPr>
          <p:spPr bwMode="auto">
            <a:xfrm>
              <a:off x="2330" y="1807"/>
              <a:ext cx="26" cy="29"/>
            </a:xfrm>
            <a:custGeom>
              <a:avLst/>
              <a:gdLst>
                <a:gd name="T0" fmla="*/ 12 w 26"/>
                <a:gd name="T1" fmla="*/ 28 h 29"/>
                <a:gd name="T2" fmla="*/ 25 w 26"/>
                <a:gd name="T3" fmla="*/ 21 h 29"/>
                <a:gd name="T4" fmla="*/ 0 w 26"/>
                <a:gd name="T5" fmla="*/ 0 h 29"/>
                <a:gd name="T6" fmla="*/ 12 w 26"/>
                <a:gd name="T7" fmla="*/ 28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12" y="28"/>
                  </a:moveTo>
                  <a:lnTo>
                    <a:pt x="25" y="21"/>
                  </a:lnTo>
                  <a:lnTo>
                    <a:pt x="0" y="0"/>
                  </a:lnTo>
                  <a:lnTo>
                    <a:pt x="12"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29" name="Freeform 3649"/>
            <p:cNvSpPr>
              <a:spLocks/>
            </p:cNvSpPr>
            <p:nvPr/>
          </p:nvSpPr>
          <p:spPr bwMode="auto">
            <a:xfrm>
              <a:off x="2341" y="1828"/>
              <a:ext cx="1" cy="27"/>
            </a:xfrm>
            <a:custGeom>
              <a:avLst/>
              <a:gdLst>
                <a:gd name="T0" fmla="*/ 0 w 1"/>
                <a:gd name="T1" fmla="*/ 0 h 27"/>
                <a:gd name="T2" fmla="*/ 0 w 1"/>
                <a:gd name="T3" fmla="*/ 0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0"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0" name="Line 3650"/>
            <p:cNvSpPr>
              <a:spLocks noChangeShapeType="1"/>
            </p:cNvSpPr>
            <p:nvPr/>
          </p:nvSpPr>
          <p:spPr bwMode="auto">
            <a:xfrm>
              <a:off x="2341" y="1828"/>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1" name="Freeform 3651"/>
            <p:cNvSpPr>
              <a:spLocks/>
            </p:cNvSpPr>
            <p:nvPr/>
          </p:nvSpPr>
          <p:spPr bwMode="auto">
            <a:xfrm>
              <a:off x="2337" y="1828"/>
              <a:ext cx="26" cy="37"/>
            </a:xfrm>
            <a:custGeom>
              <a:avLst/>
              <a:gdLst>
                <a:gd name="T0" fmla="*/ 0 w 26"/>
                <a:gd name="T1" fmla="*/ 6 h 37"/>
                <a:gd name="T2" fmla="*/ 11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11" y="0"/>
                  </a:lnTo>
                  <a:lnTo>
                    <a:pt x="25"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2" name="Freeform 3652"/>
            <p:cNvSpPr>
              <a:spLocks/>
            </p:cNvSpPr>
            <p:nvPr/>
          </p:nvSpPr>
          <p:spPr bwMode="auto">
            <a:xfrm>
              <a:off x="2341" y="1828"/>
              <a:ext cx="25" cy="37"/>
            </a:xfrm>
            <a:custGeom>
              <a:avLst/>
              <a:gdLst>
                <a:gd name="T0" fmla="*/ 13 w 25"/>
                <a:gd name="T1" fmla="*/ 36 h 37"/>
                <a:gd name="T2" fmla="*/ 24 w 25"/>
                <a:gd name="T3" fmla="*/ 27 h 37"/>
                <a:gd name="T4" fmla="*/ 0 w 25"/>
                <a:gd name="T5" fmla="*/ 0 h 37"/>
                <a:gd name="T6" fmla="*/ 13 w 25"/>
                <a:gd name="T7" fmla="*/ 3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13" y="36"/>
                  </a:moveTo>
                  <a:lnTo>
                    <a:pt x="24" y="27"/>
                  </a:lnTo>
                  <a:lnTo>
                    <a:pt x="0" y="0"/>
                  </a:lnTo>
                  <a:lnTo>
                    <a:pt x="13"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3" name="Freeform 3653"/>
            <p:cNvSpPr>
              <a:spLocks/>
            </p:cNvSpPr>
            <p:nvPr/>
          </p:nvSpPr>
          <p:spPr bwMode="auto">
            <a:xfrm>
              <a:off x="2355" y="185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4" name="Line 3654"/>
            <p:cNvSpPr>
              <a:spLocks noChangeShapeType="1"/>
            </p:cNvSpPr>
            <p:nvPr/>
          </p:nvSpPr>
          <p:spPr bwMode="auto">
            <a:xfrm>
              <a:off x="2355" y="1856"/>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5" name="Freeform 3655"/>
            <p:cNvSpPr>
              <a:spLocks/>
            </p:cNvSpPr>
            <p:nvPr/>
          </p:nvSpPr>
          <p:spPr bwMode="auto">
            <a:xfrm>
              <a:off x="2347" y="1856"/>
              <a:ext cx="29" cy="37"/>
            </a:xfrm>
            <a:custGeom>
              <a:avLst/>
              <a:gdLst>
                <a:gd name="T0" fmla="*/ 0 w 29"/>
                <a:gd name="T1" fmla="*/ 8 h 37"/>
                <a:gd name="T2" fmla="*/ 28 w 29"/>
                <a:gd name="T3" fmla="*/ 0 h 37"/>
                <a:gd name="T4" fmla="*/ 28 w 29"/>
                <a:gd name="T5" fmla="*/ 36 h 37"/>
                <a:gd name="T6" fmla="*/ 0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8"/>
                  </a:moveTo>
                  <a:lnTo>
                    <a:pt x="28" y="0"/>
                  </a:lnTo>
                  <a:lnTo>
                    <a:pt x="28" y="36"/>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6" name="Freeform 3656"/>
            <p:cNvSpPr>
              <a:spLocks/>
            </p:cNvSpPr>
            <p:nvPr/>
          </p:nvSpPr>
          <p:spPr bwMode="auto">
            <a:xfrm>
              <a:off x="2355" y="1856"/>
              <a:ext cx="24" cy="37"/>
            </a:xfrm>
            <a:custGeom>
              <a:avLst/>
              <a:gdLst>
                <a:gd name="T0" fmla="*/ 0 w 24"/>
                <a:gd name="T1" fmla="*/ 36 h 37"/>
                <a:gd name="T2" fmla="*/ 23 w 24"/>
                <a:gd name="T3" fmla="*/ 29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29"/>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7" name="Freeform 3657"/>
            <p:cNvSpPr>
              <a:spLocks/>
            </p:cNvSpPr>
            <p:nvPr/>
          </p:nvSpPr>
          <p:spPr bwMode="auto">
            <a:xfrm>
              <a:off x="2367" y="188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8" name="Line 3658"/>
            <p:cNvSpPr>
              <a:spLocks noChangeShapeType="1"/>
            </p:cNvSpPr>
            <p:nvPr/>
          </p:nvSpPr>
          <p:spPr bwMode="auto">
            <a:xfrm>
              <a:off x="2367" y="1886"/>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39" name="Freeform 3659"/>
            <p:cNvSpPr>
              <a:spLocks/>
            </p:cNvSpPr>
            <p:nvPr/>
          </p:nvSpPr>
          <p:spPr bwMode="auto">
            <a:xfrm>
              <a:off x="2355" y="1886"/>
              <a:ext cx="24" cy="34"/>
            </a:xfrm>
            <a:custGeom>
              <a:avLst/>
              <a:gdLst>
                <a:gd name="T0" fmla="*/ 0 w 24"/>
                <a:gd name="T1" fmla="*/ 6 h 34"/>
                <a:gd name="T2" fmla="*/ 23 w 24"/>
                <a:gd name="T3" fmla="*/ 0 h 34"/>
                <a:gd name="T4" fmla="*/ 23 w 24"/>
                <a:gd name="T5" fmla="*/ 33 h 34"/>
                <a:gd name="T6" fmla="*/ 0 w 24"/>
                <a:gd name="T7" fmla="*/ 6 h 34"/>
                <a:gd name="T8" fmla="*/ 0 60000 65536"/>
                <a:gd name="T9" fmla="*/ 0 60000 65536"/>
                <a:gd name="T10" fmla="*/ 0 60000 65536"/>
                <a:gd name="T11" fmla="*/ 0 60000 65536"/>
                <a:gd name="T12" fmla="*/ 0 w 24"/>
                <a:gd name="T13" fmla="*/ 0 h 34"/>
                <a:gd name="T14" fmla="*/ 24 w 24"/>
                <a:gd name="T15" fmla="*/ 34 h 34"/>
              </a:gdLst>
              <a:ahLst/>
              <a:cxnLst>
                <a:cxn ang="T8">
                  <a:pos x="T0" y="T1"/>
                </a:cxn>
                <a:cxn ang="T9">
                  <a:pos x="T2" y="T3"/>
                </a:cxn>
                <a:cxn ang="T10">
                  <a:pos x="T4" y="T5"/>
                </a:cxn>
                <a:cxn ang="T11">
                  <a:pos x="T6" y="T7"/>
                </a:cxn>
              </a:cxnLst>
              <a:rect l="T12" t="T13" r="T14" b="T15"/>
              <a:pathLst>
                <a:path w="24" h="34">
                  <a:moveTo>
                    <a:pt x="0" y="6"/>
                  </a:moveTo>
                  <a:lnTo>
                    <a:pt x="23" y="0"/>
                  </a:lnTo>
                  <a:lnTo>
                    <a:pt x="23" y="33"/>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0" name="Freeform 3660"/>
            <p:cNvSpPr>
              <a:spLocks/>
            </p:cNvSpPr>
            <p:nvPr/>
          </p:nvSpPr>
          <p:spPr bwMode="auto">
            <a:xfrm>
              <a:off x="2367" y="1886"/>
              <a:ext cx="27" cy="34"/>
            </a:xfrm>
            <a:custGeom>
              <a:avLst/>
              <a:gdLst>
                <a:gd name="T0" fmla="*/ 0 w 27"/>
                <a:gd name="T1" fmla="*/ 33 h 34"/>
                <a:gd name="T2" fmla="*/ 26 w 27"/>
                <a:gd name="T3" fmla="*/ 26 h 34"/>
                <a:gd name="T4" fmla="*/ 0 w 27"/>
                <a:gd name="T5" fmla="*/ 0 h 34"/>
                <a:gd name="T6" fmla="*/ 0 w 27"/>
                <a:gd name="T7" fmla="*/ 33 h 34"/>
                <a:gd name="T8" fmla="*/ 0 60000 65536"/>
                <a:gd name="T9" fmla="*/ 0 60000 65536"/>
                <a:gd name="T10" fmla="*/ 0 60000 65536"/>
                <a:gd name="T11" fmla="*/ 0 60000 65536"/>
                <a:gd name="T12" fmla="*/ 0 w 27"/>
                <a:gd name="T13" fmla="*/ 0 h 34"/>
                <a:gd name="T14" fmla="*/ 27 w 27"/>
                <a:gd name="T15" fmla="*/ 34 h 34"/>
              </a:gdLst>
              <a:ahLst/>
              <a:cxnLst>
                <a:cxn ang="T8">
                  <a:pos x="T0" y="T1"/>
                </a:cxn>
                <a:cxn ang="T9">
                  <a:pos x="T2" y="T3"/>
                </a:cxn>
                <a:cxn ang="T10">
                  <a:pos x="T4" y="T5"/>
                </a:cxn>
                <a:cxn ang="T11">
                  <a:pos x="T6" y="T7"/>
                </a:cxn>
              </a:cxnLst>
              <a:rect l="T12" t="T13" r="T14" b="T15"/>
              <a:pathLst>
                <a:path w="27" h="34">
                  <a:moveTo>
                    <a:pt x="0" y="33"/>
                  </a:moveTo>
                  <a:lnTo>
                    <a:pt x="26" y="26"/>
                  </a:lnTo>
                  <a:lnTo>
                    <a:pt x="0" y="0"/>
                  </a:lnTo>
                  <a:lnTo>
                    <a:pt x="0" y="3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1" name="Freeform 3661"/>
            <p:cNvSpPr>
              <a:spLocks/>
            </p:cNvSpPr>
            <p:nvPr/>
          </p:nvSpPr>
          <p:spPr bwMode="auto">
            <a:xfrm>
              <a:off x="2378" y="1913"/>
              <a:ext cx="1" cy="28"/>
            </a:xfrm>
            <a:custGeom>
              <a:avLst/>
              <a:gdLst>
                <a:gd name="T0" fmla="*/ 0 w 1"/>
                <a:gd name="T1" fmla="*/ 0 h 28"/>
                <a:gd name="T2" fmla="*/ 0 w 1"/>
                <a:gd name="T3" fmla="*/ 0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2" name="Line 3662"/>
            <p:cNvSpPr>
              <a:spLocks noChangeShapeType="1"/>
            </p:cNvSpPr>
            <p:nvPr/>
          </p:nvSpPr>
          <p:spPr bwMode="auto">
            <a:xfrm>
              <a:off x="2378" y="191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3" name="Freeform 3663"/>
            <p:cNvSpPr>
              <a:spLocks/>
            </p:cNvSpPr>
            <p:nvPr/>
          </p:nvSpPr>
          <p:spPr bwMode="auto">
            <a:xfrm>
              <a:off x="2367" y="1913"/>
              <a:ext cx="27" cy="37"/>
            </a:xfrm>
            <a:custGeom>
              <a:avLst/>
              <a:gdLst>
                <a:gd name="T0" fmla="*/ 0 w 27"/>
                <a:gd name="T1" fmla="*/ 6 h 37"/>
                <a:gd name="T2" fmla="*/ 26 w 27"/>
                <a:gd name="T3" fmla="*/ 0 h 37"/>
                <a:gd name="T4" fmla="*/ 26 w 27"/>
                <a:gd name="T5" fmla="*/ 36 h 37"/>
                <a:gd name="T6" fmla="*/ 0 w 27"/>
                <a:gd name="T7" fmla="*/ 6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0" y="6"/>
                  </a:moveTo>
                  <a:lnTo>
                    <a:pt x="26" y="0"/>
                  </a:lnTo>
                  <a:lnTo>
                    <a:pt x="26"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4" name="Freeform 3664"/>
            <p:cNvSpPr>
              <a:spLocks/>
            </p:cNvSpPr>
            <p:nvPr/>
          </p:nvSpPr>
          <p:spPr bwMode="auto">
            <a:xfrm>
              <a:off x="2378" y="19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5" name="Freeform 3665"/>
            <p:cNvSpPr>
              <a:spLocks/>
            </p:cNvSpPr>
            <p:nvPr/>
          </p:nvSpPr>
          <p:spPr bwMode="auto">
            <a:xfrm>
              <a:off x="2385" y="1941"/>
              <a:ext cx="29" cy="27"/>
            </a:xfrm>
            <a:custGeom>
              <a:avLst/>
              <a:gdLst>
                <a:gd name="T0" fmla="*/ 28 w 29"/>
                <a:gd name="T1" fmla="*/ 0 h 27"/>
                <a:gd name="T2" fmla="*/ 28 w 29"/>
                <a:gd name="T3" fmla="*/ 0 h 27"/>
                <a:gd name="T4" fmla="*/ 0 w 29"/>
                <a:gd name="T5" fmla="*/ 26 h 27"/>
                <a:gd name="T6" fmla="*/ 28 w 29"/>
                <a:gd name="T7" fmla="*/ 0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28" y="0"/>
                  </a:moveTo>
                  <a:lnTo>
                    <a:pt x="28" y="0"/>
                  </a:lnTo>
                  <a:lnTo>
                    <a:pt x="0" y="26"/>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6" name="Line 3666"/>
            <p:cNvSpPr>
              <a:spLocks noChangeShapeType="1"/>
            </p:cNvSpPr>
            <p:nvPr/>
          </p:nvSpPr>
          <p:spPr bwMode="auto">
            <a:xfrm>
              <a:off x="2393" y="194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7" name="Freeform 3667"/>
            <p:cNvSpPr>
              <a:spLocks/>
            </p:cNvSpPr>
            <p:nvPr/>
          </p:nvSpPr>
          <p:spPr bwMode="auto">
            <a:xfrm>
              <a:off x="2378" y="1941"/>
              <a:ext cx="26" cy="37"/>
            </a:xfrm>
            <a:custGeom>
              <a:avLst/>
              <a:gdLst>
                <a:gd name="T0" fmla="*/ 0 w 26"/>
                <a:gd name="T1" fmla="*/ 8 h 37"/>
                <a:gd name="T2" fmla="*/ 25 w 26"/>
                <a:gd name="T3" fmla="*/ 0 h 37"/>
                <a:gd name="T4" fmla="*/ 25 w 26"/>
                <a:gd name="T5" fmla="*/ 36 h 37"/>
                <a:gd name="T6" fmla="*/ 0 w 26"/>
                <a:gd name="T7" fmla="*/ 8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8"/>
                  </a:moveTo>
                  <a:lnTo>
                    <a:pt x="25" y="0"/>
                  </a:lnTo>
                  <a:lnTo>
                    <a:pt x="25" y="36"/>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8" name="Freeform 3668"/>
            <p:cNvSpPr>
              <a:spLocks/>
            </p:cNvSpPr>
            <p:nvPr/>
          </p:nvSpPr>
          <p:spPr bwMode="auto">
            <a:xfrm>
              <a:off x="2393" y="1941"/>
              <a:ext cx="24" cy="37"/>
            </a:xfrm>
            <a:custGeom>
              <a:avLst/>
              <a:gdLst>
                <a:gd name="T0" fmla="*/ 0 w 24"/>
                <a:gd name="T1" fmla="*/ 36 h 37"/>
                <a:gd name="T2" fmla="*/ 23 w 24"/>
                <a:gd name="T3" fmla="*/ 36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36"/>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49" name="Freeform 3669"/>
            <p:cNvSpPr>
              <a:spLocks/>
            </p:cNvSpPr>
            <p:nvPr/>
          </p:nvSpPr>
          <p:spPr bwMode="auto">
            <a:xfrm>
              <a:off x="2398" y="1977"/>
              <a:ext cx="26" cy="28"/>
            </a:xfrm>
            <a:custGeom>
              <a:avLst/>
              <a:gdLst>
                <a:gd name="T0" fmla="*/ 25 w 26"/>
                <a:gd name="T1" fmla="*/ 0 h 28"/>
                <a:gd name="T2" fmla="*/ 25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25" y="0"/>
                  </a:lnTo>
                  <a:lnTo>
                    <a:pt x="0"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0" name="Line 3670"/>
            <p:cNvSpPr>
              <a:spLocks noChangeShapeType="1"/>
            </p:cNvSpPr>
            <p:nvPr/>
          </p:nvSpPr>
          <p:spPr bwMode="auto">
            <a:xfrm>
              <a:off x="2403" y="197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1" name="Freeform 3671"/>
            <p:cNvSpPr>
              <a:spLocks/>
            </p:cNvSpPr>
            <p:nvPr/>
          </p:nvSpPr>
          <p:spPr bwMode="auto">
            <a:xfrm>
              <a:off x="2393" y="1977"/>
              <a:ext cx="24" cy="36"/>
            </a:xfrm>
            <a:custGeom>
              <a:avLst/>
              <a:gdLst>
                <a:gd name="T0" fmla="*/ 0 w 24"/>
                <a:gd name="T1" fmla="*/ 0 h 36"/>
                <a:gd name="T2" fmla="*/ 23 w 24"/>
                <a:gd name="T3" fmla="*/ 0 h 36"/>
                <a:gd name="T4" fmla="*/ 23 w 24"/>
                <a:gd name="T5" fmla="*/ 35 h 36"/>
                <a:gd name="T6" fmla="*/ 0 w 24"/>
                <a:gd name="T7" fmla="*/ 0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0"/>
                  </a:moveTo>
                  <a:lnTo>
                    <a:pt x="23" y="0"/>
                  </a:lnTo>
                  <a:lnTo>
                    <a:pt x="23" y="3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2" name="Freeform 3672"/>
            <p:cNvSpPr>
              <a:spLocks/>
            </p:cNvSpPr>
            <p:nvPr/>
          </p:nvSpPr>
          <p:spPr bwMode="auto">
            <a:xfrm>
              <a:off x="2403" y="1977"/>
              <a:ext cx="29" cy="36"/>
            </a:xfrm>
            <a:custGeom>
              <a:avLst/>
              <a:gdLst>
                <a:gd name="T0" fmla="*/ 0 w 29"/>
                <a:gd name="T1" fmla="*/ 35 h 36"/>
                <a:gd name="T2" fmla="*/ 28 w 29"/>
                <a:gd name="T3" fmla="*/ 28 h 36"/>
                <a:gd name="T4" fmla="*/ 0 w 29"/>
                <a:gd name="T5" fmla="*/ 0 h 36"/>
                <a:gd name="T6" fmla="*/ 0 w 29"/>
                <a:gd name="T7" fmla="*/ 35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0" y="35"/>
                  </a:moveTo>
                  <a:lnTo>
                    <a:pt x="28"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3" name="Freeform 3673"/>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4" name="Freeform 3674"/>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5" name="Freeform 3675"/>
            <p:cNvSpPr>
              <a:spLocks/>
            </p:cNvSpPr>
            <p:nvPr/>
          </p:nvSpPr>
          <p:spPr bwMode="auto">
            <a:xfrm>
              <a:off x="2403" y="2007"/>
              <a:ext cx="29" cy="43"/>
            </a:xfrm>
            <a:custGeom>
              <a:avLst/>
              <a:gdLst>
                <a:gd name="T0" fmla="*/ 0 w 29"/>
                <a:gd name="T1" fmla="*/ 6 h 43"/>
                <a:gd name="T2" fmla="*/ 28 w 29"/>
                <a:gd name="T3" fmla="*/ 0 h 43"/>
                <a:gd name="T4" fmla="*/ 28 w 29"/>
                <a:gd name="T5" fmla="*/ 42 h 43"/>
                <a:gd name="T6" fmla="*/ 0 w 29"/>
                <a:gd name="T7" fmla="*/ 6 h 43"/>
                <a:gd name="T8" fmla="*/ 0 60000 65536"/>
                <a:gd name="T9" fmla="*/ 0 60000 65536"/>
                <a:gd name="T10" fmla="*/ 0 60000 65536"/>
                <a:gd name="T11" fmla="*/ 0 60000 65536"/>
                <a:gd name="T12" fmla="*/ 0 w 29"/>
                <a:gd name="T13" fmla="*/ 0 h 43"/>
                <a:gd name="T14" fmla="*/ 29 w 29"/>
                <a:gd name="T15" fmla="*/ 43 h 43"/>
              </a:gdLst>
              <a:ahLst/>
              <a:cxnLst>
                <a:cxn ang="T8">
                  <a:pos x="T0" y="T1"/>
                </a:cxn>
                <a:cxn ang="T9">
                  <a:pos x="T2" y="T3"/>
                </a:cxn>
                <a:cxn ang="T10">
                  <a:pos x="T4" y="T5"/>
                </a:cxn>
                <a:cxn ang="T11">
                  <a:pos x="T6" y="T7"/>
                </a:cxn>
              </a:cxnLst>
              <a:rect l="T12" t="T13" r="T14" b="T15"/>
              <a:pathLst>
                <a:path w="29" h="43">
                  <a:moveTo>
                    <a:pt x="0" y="6"/>
                  </a:moveTo>
                  <a:lnTo>
                    <a:pt x="28" y="0"/>
                  </a:lnTo>
                  <a:lnTo>
                    <a:pt x="28" y="42"/>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6" name="Freeform 3676"/>
            <p:cNvSpPr>
              <a:spLocks/>
            </p:cNvSpPr>
            <p:nvPr/>
          </p:nvSpPr>
          <p:spPr bwMode="auto">
            <a:xfrm>
              <a:off x="2416" y="2007"/>
              <a:ext cx="26" cy="43"/>
            </a:xfrm>
            <a:custGeom>
              <a:avLst/>
              <a:gdLst>
                <a:gd name="T0" fmla="*/ 0 w 26"/>
                <a:gd name="T1" fmla="*/ 42 h 43"/>
                <a:gd name="T2" fmla="*/ 25 w 26"/>
                <a:gd name="T3" fmla="*/ 33 h 43"/>
                <a:gd name="T4" fmla="*/ 0 w 26"/>
                <a:gd name="T5" fmla="*/ 0 h 43"/>
                <a:gd name="T6" fmla="*/ 0 w 26"/>
                <a:gd name="T7" fmla="*/ 42 h 43"/>
                <a:gd name="T8" fmla="*/ 0 60000 65536"/>
                <a:gd name="T9" fmla="*/ 0 60000 65536"/>
                <a:gd name="T10" fmla="*/ 0 60000 65536"/>
                <a:gd name="T11" fmla="*/ 0 60000 65536"/>
                <a:gd name="T12" fmla="*/ 0 w 26"/>
                <a:gd name="T13" fmla="*/ 0 h 43"/>
                <a:gd name="T14" fmla="*/ 26 w 26"/>
                <a:gd name="T15" fmla="*/ 43 h 43"/>
              </a:gdLst>
              <a:ahLst/>
              <a:cxnLst>
                <a:cxn ang="T8">
                  <a:pos x="T0" y="T1"/>
                </a:cxn>
                <a:cxn ang="T9">
                  <a:pos x="T2" y="T3"/>
                </a:cxn>
                <a:cxn ang="T10">
                  <a:pos x="T4" y="T5"/>
                </a:cxn>
                <a:cxn ang="T11">
                  <a:pos x="T6" y="T7"/>
                </a:cxn>
              </a:cxnLst>
              <a:rect l="T12" t="T13" r="T14" b="T15"/>
              <a:pathLst>
                <a:path w="26" h="43">
                  <a:moveTo>
                    <a:pt x="0" y="42"/>
                  </a:moveTo>
                  <a:lnTo>
                    <a:pt x="25" y="33"/>
                  </a:lnTo>
                  <a:lnTo>
                    <a:pt x="0" y="0"/>
                  </a:lnTo>
                  <a:lnTo>
                    <a:pt x="0" y="4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7" name="Freeform 3677"/>
            <p:cNvSpPr>
              <a:spLocks/>
            </p:cNvSpPr>
            <p:nvPr/>
          </p:nvSpPr>
          <p:spPr bwMode="auto">
            <a:xfrm>
              <a:off x="2423" y="2041"/>
              <a:ext cx="27" cy="27"/>
            </a:xfrm>
            <a:custGeom>
              <a:avLst/>
              <a:gdLst>
                <a:gd name="T0" fmla="*/ 26 w 27"/>
                <a:gd name="T1" fmla="*/ 0 h 27"/>
                <a:gd name="T2" fmla="*/ 26 w 27"/>
                <a:gd name="T3" fmla="*/ 0 h 27"/>
                <a:gd name="T4" fmla="*/ 0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26" y="0"/>
                  </a:lnTo>
                  <a:lnTo>
                    <a:pt x="0" y="26"/>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8" name="Line 3678"/>
            <p:cNvSpPr>
              <a:spLocks noChangeShapeType="1"/>
            </p:cNvSpPr>
            <p:nvPr/>
          </p:nvSpPr>
          <p:spPr bwMode="auto">
            <a:xfrm>
              <a:off x="2428" y="2041"/>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59" name="Freeform 3679"/>
            <p:cNvSpPr>
              <a:spLocks/>
            </p:cNvSpPr>
            <p:nvPr/>
          </p:nvSpPr>
          <p:spPr bwMode="auto">
            <a:xfrm>
              <a:off x="2416" y="20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0" name="Freeform 3680"/>
            <p:cNvSpPr>
              <a:spLocks/>
            </p:cNvSpPr>
            <p:nvPr/>
          </p:nvSpPr>
          <p:spPr bwMode="auto">
            <a:xfrm>
              <a:off x="2428" y="2041"/>
              <a:ext cx="26" cy="44"/>
            </a:xfrm>
            <a:custGeom>
              <a:avLst/>
              <a:gdLst>
                <a:gd name="T0" fmla="*/ 0 w 26"/>
                <a:gd name="T1" fmla="*/ 43 h 44"/>
                <a:gd name="T2" fmla="*/ 25 w 26"/>
                <a:gd name="T3" fmla="*/ 36 h 44"/>
                <a:gd name="T4" fmla="*/ 0 w 26"/>
                <a:gd name="T5" fmla="*/ 0 h 44"/>
                <a:gd name="T6" fmla="*/ 0 w 26"/>
                <a:gd name="T7" fmla="*/ 43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43"/>
                  </a:moveTo>
                  <a:lnTo>
                    <a:pt x="25" y="36"/>
                  </a:lnTo>
                  <a:lnTo>
                    <a:pt x="0" y="0"/>
                  </a:lnTo>
                  <a:lnTo>
                    <a:pt x="0" y="4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1" name="Freeform 3681"/>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2" name="Freeform 3682"/>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3" name="Freeform 3683"/>
            <p:cNvSpPr>
              <a:spLocks/>
            </p:cNvSpPr>
            <p:nvPr/>
          </p:nvSpPr>
          <p:spPr bwMode="auto">
            <a:xfrm>
              <a:off x="2428" y="2077"/>
              <a:ext cx="26" cy="37"/>
            </a:xfrm>
            <a:custGeom>
              <a:avLst/>
              <a:gdLst>
                <a:gd name="T0" fmla="*/ 0 w 26"/>
                <a:gd name="T1" fmla="*/ 6 h 37"/>
                <a:gd name="T2" fmla="*/ 25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25" y="0"/>
                  </a:lnTo>
                  <a:lnTo>
                    <a:pt x="25"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4" name="Freeform 3684"/>
            <p:cNvSpPr>
              <a:spLocks/>
            </p:cNvSpPr>
            <p:nvPr/>
          </p:nvSpPr>
          <p:spPr bwMode="auto">
            <a:xfrm>
              <a:off x="2441" y="2077"/>
              <a:ext cx="29" cy="37"/>
            </a:xfrm>
            <a:custGeom>
              <a:avLst/>
              <a:gdLst>
                <a:gd name="T0" fmla="*/ 0 w 29"/>
                <a:gd name="T1" fmla="*/ 36 h 37"/>
                <a:gd name="T2" fmla="*/ 28 w 29"/>
                <a:gd name="T3" fmla="*/ 36 h 37"/>
                <a:gd name="T4" fmla="*/ 0 w 29"/>
                <a:gd name="T5" fmla="*/ 0 h 37"/>
                <a:gd name="T6" fmla="*/ 0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36"/>
                  </a:moveTo>
                  <a:lnTo>
                    <a:pt x="28" y="36"/>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5" name="Freeform 3685"/>
            <p:cNvSpPr>
              <a:spLocks/>
            </p:cNvSpPr>
            <p:nvPr/>
          </p:nvSpPr>
          <p:spPr bwMode="auto">
            <a:xfrm>
              <a:off x="2441" y="2113"/>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6" name="Line 3686"/>
            <p:cNvSpPr>
              <a:spLocks noChangeShapeType="1"/>
            </p:cNvSpPr>
            <p:nvPr/>
          </p:nvSpPr>
          <p:spPr bwMode="auto">
            <a:xfrm>
              <a:off x="2441" y="211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7" name="Freeform 3687"/>
            <p:cNvSpPr>
              <a:spLocks/>
            </p:cNvSpPr>
            <p:nvPr/>
          </p:nvSpPr>
          <p:spPr bwMode="auto">
            <a:xfrm>
              <a:off x="2441" y="2113"/>
              <a:ext cx="29" cy="37"/>
            </a:xfrm>
            <a:custGeom>
              <a:avLst/>
              <a:gdLst>
                <a:gd name="T0" fmla="*/ 0 w 29"/>
                <a:gd name="T1" fmla="*/ 0 h 37"/>
                <a:gd name="T2" fmla="*/ 28 w 29"/>
                <a:gd name="T3" fmla="*/ 0 h 37"/>
                <a:gd name="T4" fmla="*/ 28 w 29"/>
                <a:gd name="T5" fmla="*/ 36 h 37"/>
                <a:gd name="T6" fmla="*/ 0 w 29"/>
                <a:gd name="T7" fmla="*/ 0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8" y="0"/>
                  </a:lnTo>
                  <a:lnTo>
                    <a:pt x="28" y="3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8" name="Freeform 3688"/>
            <p:cNvSpPr>
              <a:spLocks/>
            </p:cNvSpPr>
            <p:nvPr/>
          </p:nvSpPr>
          <p:spPr bwMode="auto">
            <a:xfrm>
              <a:off x="2454" y="21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69" name="Freeform 3689"/>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0" name="Freeform 3690"/>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1" name="Freeform 3691"/>
            <p:cNvSpPr>
              <a:spLocks/>
            </p:cNvSpPr>
            <p:nvPr/>
          </p:nvSpPr>
          <p:spPr bwMode="auto">
            <a:xfrm>
              <a:off x="2454" y="21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2" name="Freeform 3692"/>
            <p:cNvSpPr>
              <a:spLocks/>
            </p:cNvSpPr>
            <p:nvPr/>
          </p:nvSpPr>
          <p:spPr bwMode="auto">
            <a:xfrm>
              <a:off x="2469" y="2141"/>
              <a:ext cx="24" cy="44"/>
            </a:xfrm>
            <a:custGeom>
              <a:avLst/>
              <a:gdLst>
                <a:gd name="T0" fmla="*/ 0 w 24"/>
                <a:gd name="T1" fmla="*/ 43 h 44"/>
                <a:gd name="T2" fmla="*/ 23 w 24"/>
                <a:gd name="T3" fmla="*/ 36 h 44"/>
                <a:gd name="T4" fmla="*/ 0 w 24"/>
                <a:gd name="T5" fmla="*/ 0 h 44"/>
                <a:gd name="T6" fmla="*/ 0 w 24"/>
                <a:gd name="T7" fmla="*/ 43 h 44"/>
                <a:gd name="T8" fmla="*/ 0 60000 65536"/>
                <a:gd name="T9" fmla="*/ 0 60000 65536"/>
                <a:gd name="T10" fmla="*/ 0 60000 65536"/>
                <a:gd name="T11" fmla="*/ 0 60000 65536"/>
                <a:gd name="T12" fmla="*/ 0 w 24"/>
                <a:gd name="T13" fmla="*/ 0 h 44"/>
                <a:gd name="T14" fmla="*/ 24 w 24"/>
                <a:gd name="T15" fmla="*/ 44 h 44"/>
              </a:gdLst>
              <a:ahLst/>
              <a:cxnLst>
                <a:cxn ang="T8">
                  <a:pos x="T0" y="T1"/>
                </a:cxn>
                <a:cxn ang="T9">
                  <a:pos x="T2" y="T3"/>
                </a:cxn>
                <a:cxn ang="T10">
                  <a:pos x="T4" y="T5"/>
                </a:cxn>
                <a:cxn ang="T11">
                  <a:pos x="T6" y="T7"/>
                </a:cxn>
              </a:cxnLst>
              <a:rect l="T12" t="T13" r="T14" b="T15"/>
              <a:pathLst>
                <a:path w="24" h="44">
                  <a:moveTo>
                    <a:pt x="0" y="43"/>
                  </a:moveTo>
                  <a:lnTo>
                    <a:pt x="23" y="36"/>
                  </a:lnTo>
                  <a:lnTo>
                    <a:pt x="0" y="0"/>
                  </a:lnTo>
                  <a:lnTo>
                    <a:pt x="0" y="4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3" name="Freeform 3693"/>
            <p:cNvSpPr>
              <a:spLocks/>
            </p:cNvSpPr>
            <p:nvPr/>
          </p:nvSpPr>
          <p:spPr bwMode="auto">
            <a:xfrm>
              <a:off x="2469" y="218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4" name="Line 3694"/>
            <p:cNvSpPr>
              <a:spLocks noChangeShapeType="1"/>
            </p:cNvSpPr>
            <p:nvPr/>
          </p:nvSpPr>
          <p:spPr bwMode="auto">
            <a:xfrm>
              <a:off x="2469" y="2184"/>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5" name="Freeform 3695"/>
            <p:cNvSpPr>
              <a:spLocks/>
            </p:cNvSpPr>
            <p:nvPr/>
          </p:nvSpPr>
          <p:spPr bwMode="auto">
            <a:xfrm>
              <a:off x="2469" y="2176"/>
              <a:ext cx="24" cy="38"/>
            </a:xfrm>
            <a:custGeom>
              <a:avLst/>
              <a:gdLst>
                <a:gd name="T0" fmla="*/ 0 w 24"/>
                <a:gd name="T1" fmla="*/ 6 h 38"/>
                <a:gd name="T2" fmla="*/ 23 w 24"/>
                <a:gd name="T3" fmla="*/ 0 h 38"/>
                <a:gd name="T4" fmla="*/ 23 w 24"/>
                <a:gd name="T5" fmla="*/ 37 h 38"/>
                <a:gd name="T6" fmla="*/ 0 w 24"/>
                <a:gd name="T7" fmla="*/ 6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0" y="6"/>
                  </a:moveTo>
                  <a:lnTo>
                    <a:pt x="23" y="0"/>
                  </a:lnTo>
                  <a:lnTo>
                    <a:pt x="23" y="37"/>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6" name="Freeform 3696"/>
            <p:cNvSpPr>
              <a:spLocks/>
            </p:cNvSpPr>
            <p:nvPr/>
          </p:nvSpPr>
          <p:spPr bwMode="auto">
            <a:xfrm>
              <a:off x="2478" y="2176"/>
              <a:ext cx="26" cy="38"/>
            </a:xfrm>
            <a:custGeom>
              <a:avLst/>
              <a:gdLst>
                <a:gd name="T0" fmla="*/ 0 w 26"/>
                <a:gd name="T1" fmla="*/ 37 h 38"/>
                <a:gd name="T2" fmla="*/ 25 w 26"/>
                <a:gd name="T3" fmla="*/ 37 h 38"/>
                <a:gd name="T4" fmla="*/ 0 w 26"/>
                <a:gd name="T5" fmla="*/ 0 h 38"/>
                <a:gd name="T6" fmla="*/ 0 w 26"/>
                <a:gd name="T7" fmla="*/ 37 h 38"/>
                <a:gd name="T8" fmla="*/ 0 60000 65536"/>
                <a:gd name="T9" fmla="*/ 0 60000 65536"/>
                <a:gd name="T10" fmla="*/ 0 60000 65536"/>
                <a:gd name="T11" fmla="*/ 0 60000 65536"/>
                <a:gd name="T12" fmla="*/ 0 w 26"/>
                <a:gd name="T13" fmla="*/ 0 h 38"/>
                <a:gd name="T14" fmla="*/ 26 w 26"/>
                <a:gd name="T15" fmla="*/ 38 h 38"/>
              </a:gdLst>
              <a:ahLst/>
              <a:cxnLst>
                <a:cxn ang="T8">
                  <a:pos x="T0" y="T1"/>
                </a:cxn>
                <a:cxn ang="T9">
                  <a:pos x="T2" y="T3"/>
                </a:cxn>
                <a:cxn ang="T10">
                  <a:pos x="T4" y="T5"/>
                </a:cxn>
                <a:cxn ang="T11">
                  <a:pos x="T6" y="T7"/>
                </a:cxn>
              </a:cxnLst>
              <a:rect l="T12" t="T13" r="T14" b="T15"/>
              <a:pathLst>
                <a:path w="26" h="38">
                  <a:moveTo>
                    <a:pt x="0" y="37"/>
                  </a:moveTo>
                  <a:lnTo>
                    <a:pt x="25" y="37"/>
                  </a:lnTo>
                  <a:lnTo>
                    <a:pt x="0" y="0"/>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7" name="Freeform 3697"/>
            <p:cNvSpPr>
              <a:spLocks/>
            </p:cNvSpPr>
            <p:nvPr/>
          </p:nvSpPr>
          <p:spPr bwMode="auto">
            <a:xfrm>
              <a:off x="2478" y="2213"/>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8" name="Line 3698"/>
            <p:cNvSpPr>
              <a:spLocks noChangeShapeType="1"/>
            </p:cNvSpPr>
            <p:nvPr/>
          </p:nvSpPr>
          <p:spPr bwMode="auto">
            <a:xfrm>
              <a:off x="2478" y="221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79" name="Freeform 3699"/>
            <p:cNvSpPr>
              <a:spLocks/>
            </p:cNvSpPr>
            <p:nvPr/>
          </p:nvSpPr>
          <p:spPr bwMode="auto">
            <a:xfrm>
              <a:off x="2478" y="2213"/>
              <a:ext cx="26" cy="36"/>
            </a:xfrm>
            <a:custGeom>
              <a:avLst/>
              <a:gdLst>
                <a:gd name="T0" fmla="*/ 0 w 26"/>
                <a:gd name="T1" fmla="*/ 0 h 36"/>
                <a:gd name="T2" fmla="*/ 25 w 26"/>
                <a:gd name="T3" fmla="*/ 0 h 36"/>
                <a:gd name="T4" fmla="*/ 25 w 26"/>
                <a:gd name="T5" fmla="*/ 35 h 36"/>
                <a:gd name="T6" fmla="*/ 0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0"/>
                  </a:moveTo>
                  <a:lnTo>
                    <a:pt x="25" y="0"/>
                  </a:lnTo>
                  <a:lnTo>
                    <a:pt x="25" y="3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0" name="Freeform 3700"/>
            <p:cNvSpPr>
              <a:spLocks/>
            </p:cNvSpPr>
            <p:nvPr/>
          </p:nvSpPr>
          <p:spPr bwMode="auto">
            <a:xfrm>
              <a:off x="2491" y="2213"/>
              <a:ext cx="26" cy="36"/>
            </a:xfrm>
            <a:custGeom>
              <a:avLst/>
              <a:gdLst>
                <a:gd name="T0" fmla="*/ 0 w 26"/>
                <a:gd name="T1" fmla="*/ 35 h 36"/>
                <a:gd name="T2" fmla="*/ 25 w 26"/>
                <a:gd name="T3" fmla="*/ 28 h 36"/>
                <a:gd name="T4" fmla="*/ 0 w 26"/>
                <a:gd name="T5" fmla="*/ 0 h 36"/>
                <a:gd name="T6" fmla="*/ 0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35"/>
                  </a:moveTo>
                  <a:lnTo>
                    <a:pt x="25"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1" name="Freeform 3701"/>
            <p:cNvSpPr>
              <a:spLocks/>
            </p:cNvSpPr>
            <p:nvPr/>
          </p:nvSpPr>
          <p:spPr bwMode="auto">
            <a:xfrm>
              <a:off x="2491" y="2248"/>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2" name="Line 3702"/>
            <p:cNvSpPr>
              <a:spLocks noChangeShapeType="1"/>
            </p:cNvSpPr>
            <p:nvPr/>
          </p:nvSpPr>
          <p:spPr bwMode="auto">
            <a:xfrm>
              <a:off x="2491" y="224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3" name="Freeform 3703"/>
            <p:cNvSpPr>
              <a:spLocks/>
            </p:cNvSpPr>
            <p:nvPr/>
          </p:nvSpPr>
          <p:spPr bwMode="auto">
            <a:xfrm>
              <a:off x="2491" y="2241"/>
              <a:ext cx="26" cy="37"/>
            </a:xfrm>
            <a:custGeom>
              <a:avLst/>
              <a:gdLst>
                <a:gd name="T0" fmla="*/ 25 w 26"/>
                <a:gd name="T1" fmla="*/ 36 h 37"/>
                <a:gd name="T2" fmla="*/ 11 w 26"/>
                <a:gd name="T3" fmla="*/ 0 h 37"/>
                <a:gd name="T4" fmla="*/ 0 w 26"/>
                <a:gd name="T5" fmla="*/ 6 h 37"/>
                <a:gd name="T6" fmla="*/ 25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36"/>
                  </a:moveTo>
                  <a:lnTo>
                    <a:pt x="11" y="0"/>
                  </a:lnTo>
                  <a:lnTo>
                    <a:pt x="0" y="6"/>
                  </a:lnTo>
                  <a:lnTo>
                    <a:pt x="25"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4" name="Freeform 3704"/>
            <p:cNvSpPr>
              <a:spLocks/>
            </p:cNvSpPr>
            <p:nvPr/>
          </p:nvSpPr>
          <p:spPr bwMode="auto">
            <a:xfrm>
              <a:off x="2496" y="2241"/>
              <a:ext cx="29" cy="37"/>
            </a:xfrm>
            <a:custGeom>
              <a:avLst/>
              <a:gdLst>
                <a:gd name="T0" fmla="*/ 15 w 29"/>
                <a:gd name="T1" fmla="*/ 36 h 37"/>
                <a:gd name="T2" fmla="*/ 28 w 29"/>
                <a:gd name="T3" fmla="*/ 36 h 37"/>
                <a:gd name="T4" fmla="*/ 0 w 29"/>
                <a:gd name="T5" fmla="*/ 0 h 37"/>
                <a:gd name="T6" fmla="*/ 15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15" y="36"/>
                  </a:moveTo>
                  <a:lnTo>
                    <a:pt x="28" y="36"/>
                  </a:lnTo>
                  <a:lnTo>
                    <a:pt x="0" y="0"/>
                  </a:lnTo>
                  <a:lnTo>
                    <a:pt x="15"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5" name="Freeform 3705"/>
            <p:cNvSpPr>
              <a:spLocks/>
            </p:cNvSpPr>
            <p:nvPr/>
          </p:nvSpPr>
          <p:spPr bwMode="auto">
            <a:xfrm>
              <a:off x="2503" y="2277"/>
              <a:ext cx="26" cy="27"/>
            </a:xfrm>
            <a:custGeom>
              <a:avLst/>
              <a:gdLst>
                <a:gd name="T0" fmla="*/ 0 w 26"/>
                <a:gd name="T1" fmla="*/ 0 h 27"/>
                <a:gd name="T2" fmla="*/ 0 w 26"/>
                <a:gd name="T3" fmla="*/ 0 h 27"/>
                <a:gd name="T4" fmla="*/ 25 w 26"/>
                <a:gd name="T5" fmla="*/ 26 h 27"/>
                <a:gd name="T6" fmla="*/ 0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0"/>
                  </a:moveTo>
                  <a:lnTo>
                    <a:pt x="0" y="0"/>
                  </a:lnTo>
                  <a:lnTo>
                    <a:pt x="25"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6" name="Line 3706"/>
            <p:cNvSpPr>
              <a:spLocks noChangeShapeType="1"/>
            </p:cNvSpPr>
            <p:nvPr/>
          </p:nvSpPr>
          <p:spPr bwMode="auto">
            <a:xfrm>
              <a:off x="2503" y="2277"/>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7" name="Freeform 3707"/>
            <p:cNvSpPr>
              <a:spLocks/>
            </p:cNvSpPr>
            <p:nvPr/>
          </p:nvSpPr>
          <p:spPr bwMode="auto">
            <a:xfrm>
              <a:off x="2503" y="2277"/>
              <a:ext cx="26" cy="36"/>
            </a:xfrm>
            <a:custGeom>
              <a:avLst/>
              <a:gdLst>
                <a:gd name="T0" fmla="*/ 25 w 26"/>
                <a:gd name="T1" fmla="*/ 35 h 36"/>
                <a:gd name="T2" fmla="*/ 25 w 26"/>
                <a:gd name="T3" fmla="*/ 0 h 36"/>
                <a:gd name="T4" fmla="*/ 0 w 26"/>
                <a:gd name="T5" fmla="*/ 0 h 36"/>
                <a:gd name="T6" fmla="*/ 25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35"/>
                  </a:moveTo>
                  <a:lnTo>
                    <a:pt x="25" y="0"/>
                  </a:lnTo>
                  <a:lnTo>
                    <a:pt x="0" y="0"/>
                  </a:lnTo>
                  <a:lnTo>
                    <a:pt x="25"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8" name="Freeform 3708"/>
            <p:cNvSpPr>
              <a:spLocks/>
            </p:cNvSpPr>
            <p:nvPr/>
          </p:nvSpPr>
          <p:spPr bwMode="auto">
            <a:xfrm>
              <a:off x="2507" y="2277"/>
              <a:ext cx="28" cy="36"/>
            </a:xfrm>
            <a:custGeom>
              <a:avLst/>
              <a:gdLst>
                <a:gd name="T0" fmla="*/ 0 w 28"/>
                <a:gd name="T1" fmla="*/ 35 h 36"/>
                <a:gd name="T2" fmla="*/ 27 w 28"/>
                <a:gd name="T3" fmla="*/ 27 h 36"/>
                <a:gd name="T4" fmla="*/ 0 w 28"/>
                <a:gd name="T5" fmla="*/ 0 h 36"/>
                <a:gd name="T6" fmla="*/ 0 w 28"/>
                <a:gd name="T7" fmla="*/ 35 h 36"/>
                <a:gd name="T8" fmla="*/ 0 60000 65536"/>
                <a:gd name="T9" fmla="*/ 0 60000 65536"/>
                <a:gd name="T10" fmla="*/ 0 60000 65536"/>
                <a:gd name="T11" fmla="*/ 0 60000 65536"/>
                <a:gd name="T12" fmla="*/ 0 w 28"/>
                <a:gd name="T13" fmla="*/ 0 h 36"/>
                <a:gd name="T14" fmla="*/ 28 w 28"/>
                <a:gd name="T15" fmla="*/ 36 h 36"/>
              </a:gdLst>
              <a:ahLst/>
              <a:cxnLst>
                <a:cxn ang="T8">
                  <a:pos x="T0" y="T1"/>
                </a:cxn>
                <a:cxn ang="T9">
                  <a:pos x="T2" y="T3"/>
                </a:cxn>
                <a:cxn ang="T10">
                  <a:pos x="T4" y="T5"/>
                </a:cxn>
                <a:cxn ang="T11">
                  <a:pos x="T6" y="T7"/>
                </a:cxn>
              </a:cxnLst>
              <a:rect l="T12" t="T13" r="T14" b="T15"/>
              <a:pathLst>
                <a:path w="28" h="36">
                  <a:moveTo>
                    <a:pt x="0" y="35"/>
                  </a:moveTo>
                  <a:lnTo>
                    <a:pt x="27" y="27"/>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89" name="Freeform 3709"/>
            <p:cNvSpPr>
              <a:spLocks/>
            </p:cNvSpPr>
            <p:nvPr/>
          </p:nvSpPr>
          <p:spPr bwMode="auto">
            <a:xfrm>
              <a:off x="2507" y="2312"/>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0" name="Line 3710"/>
            <p:cNvSpPr>
              <a:spLocks noChangeShapeType="1"/>
            </p:cNvSpPr>
            <p:nvPr/>
          </p:nvSpPr>
          <p:spPr bwMode="auto">
            <a:xfrm>
              <a:off x="2507" y="2312"/>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1" name="Freeform 3711"/>
            <p:cNvSpPr>
              <a:spLocks/>
            </p:cNvSpPr>
            <p:nvPr/>
          </p:nvSpPr>
          <p:spPr bwMode="auto">
            <a:xfrm>
              <a:off x="2507" y="2304"/>
              <a:ext cx="28" cy="37"/>
            </a:xfrm>
            <a:custGeom>
              <a:avLst/>
              <a:gdLst>
                <a:gd name="T0" fmla="*/ 27 w 28"/>
                <a:gd name="T1" fmla="*/ 36 h 37"/>
                <a:gd name="T2" fmla="*/ 27 w 28"/>
                <a:gd name="T3" fmla="*/ 0 h 37"/>
                <a:gd name="T4" fmla="*/ 0 w 28"/>
                <a:gd name="T5" fmla="*/ 8 h 37"/>
                <a:gd name="T6" fmla="*/ 27 w 28"/>
                <a:gd name="T7" fmla="*/ 36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27" y="36"/>
                  </a:moveTo>
                  <a:lnTo>
                    <a:pt x="27" y="0"/>
                  </a:lnTo>
                  <a:lnTo>
                    <a:pt x="0" y="8"/>
                  </a:lnTo>
                  <a:lnTo>
                    <a:pt x="27"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2" name="Freeform 3712"/>
            <p:cNvSpPr>
              <a:spLocks/>
            </p:cNvSpPr>
            <p:nvPr/>
          </p:nvSpPr>
          <p:spPr bwMode="auto">
            <a:xfrm>
              <a:off x="2524" y="2304"/>
              <a:ext cx="22" cy="37"/>
            </a:xfrm>
            <a:custGeom>
              <a:avLst/>
              <a:gdLst>
                <a:gd name="T0" fmla="*/ 0 w 22"/>
                <a:gd name="T1" fmla="*/ 36 h 37"/>
                <a:gd name="T2" fmla="*/ 21 w 22"/>
                <a:gd name="T3" fmla="*/ 29 h 37"/>
                <a:gd name="T4" fmla="*/ 0 w 22"/>
                <a:gd name="T5" fmla="*/ 0 h 37"/>
                <a:gd name="T6" fmla="*/ 0 w 22"/>
                <a:gd name="T7" fmla="*/ 36 h 37"/>
                <a:gd name="T8" fmla="*/ 0 60000 65536"/>
                <a:gd name="T9" fmla="*/ 0 60000 65536"/>
                <a:gd name="T10" fmla="*/ 0 60000 65536"/>
                <a:gd name="T11" fmla="*/ 0 60000 65536"/>
                <a:gd name="T12" fmla="*/ 0 w 22"/>
                <a:gd name="T13" fmla="*/ 0 h 37"/>
                <a:gd name="T14" fmla="*/ 22 w 22"/>
                <a:gd name="T15" fmla="*/ 37 h 37"/>
              </a:gdLst>
              <a:ahLst/>
              <a:cxnLst>
                <a:cxn ang="T8">
                  <a:pos x="T0" y="T1"/>
                </a:cxn>
                <a:cxn ang="T9">
                  <a:pos x="T2" y="T3"/>
                </a:cxn>
                <a:cxn ang="T10">
                  <a:pos x="T4" y="T5"/>
                </a:cxn>
                <a:cxn ang="T11">
                  <a:pos x="T6" y="T7"/>
                </a:cxn>
              </a:cxnLst>
              <a:rect l="T12" t="T13" r="T14" b="T15"/>
              <a:pathLst>
                <a:path w="22" h="37">
                  <a:moveTo>
                    <a:pt x="0" y="36"/>
                  </a:moveTo>
                  <a:lnTo>
                    <a:pt x="21" y="29"/>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3" name="Freeform 3713"/>
            <p:cNvSpPr>
              <a:spLocks/>
            </p:cNvSpPr>
            <p:nvPr/>
          </p:nvSpPr>
          <p:spPr bwMode="auto">
            <a:xfrm>
              <a:off x="2524" y="2340"/>
              <a:ext cx="22" cy="1"/>
            </a:xfrm>
            <a:custGeom>
              <a:avLst/>
              <a:gdLst>
                <a:gd name="T0" fmla="*/ 0 w 22"/>
                <a:gd name="T1" fmla="*/ 0 h 1"/>
                <a:gd name="T2" fmla="*/ 0 w 22"/>
                <a:gd name="T3" fmla="*/ 0 h 1"/>
                <a:gd name="T4" fmla="*/ 21 w 22"/>
                <a:gd name="T5" fmla="*/ 0 h 1"/>
                <a:gd name="T6" fmla="*/ 0 w 22"/>
                <a:gd name="T7" fmla="*/ 0 h 1"/>
                <a:gd name="T8" fmla="*/ 0 60000 65536"/>
                <a:gd name="T9" fmla="*/ 0 60000 65536"/>
                <a:gd name="T10" fmla="*/ 0 60000 65536"/>
                <a:gd name="T11" fmla="*/ 0 60000 65536"/>
                <a:gd name="T12" fmla="*/ 0 w 22"/>
                <a:gd name="T13" fmla="*/ 0 h 1"/>
                <a:gd name="T14" fmla="*/ 22 w 22"/>
                <a:gd name="T15" fmla="*/ 1 h 1"/>
              </a:gdLst>
              <a:ahLst/>
              <a:cxnLst>
                <a:cxn ang="T8">
                  <a:pos x="T0" y="T1"/>
                </a:cxn>
                <a:cxn ang="T9">
                  <a:pos x="T2" y="T3"/>
                </a:cxn>
                <a:cxn ang="T10">
                  <a:pos x="T4" y="T5"/>
                </a:cxn>
                <a:cxn ang="T11">
                  <a:pos x="T6" y="T7"/>
                </a:cxn>
              </a:cxnLst>
              <a:rect l="T12" t="T13" r="T14" b="T15"/>
              <a:pathLst>
                <a:path w="22" h="1">
                  <a:moveTo>
                    <a:pt x="0" y="0"/>
                  </a:moveTo>
                  <a:lnTo>
                    <a:pt x="0" y="0"/>
                  </a:lnTo>
                  <a:lnTo>
                    <a:pt x="21"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4" name="Line 3714"/>
            <p:cNvSpPr>
              <a:spLocks noChangeShapeType="1"/>
            </p:cNvSpPr>
            <p:nvPr/>
          </p:nvSpPr>
          <p:spPr bwMode="auto">
            <a:xfrm>
              <a:off x="2524" y="2340"/>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5" name="Freeform 3715"/>
            <p:cNvSpPr>
              <a:spLocks/>
            </p:cNvSpPr>
            <p:nvPr/>
          </p:nvSpPr>
          <p:spPr bwMode="auto">
            <a:xfrm>
              <a:off x="2524" y="2334"/>
              <a:ext cx="22" cy="36"/>
            </a:xfrm>
            <a:custGeom>
              <a:avLst/>
              <a:gdLst>
                <a:gd name="T0" fmla="*/ 21 w 22"/>
                <a:gd name="T1" fmla="*/ 35 h 36"/>
                <a:gd name="T2" fmla="*/ 21 w 22"/>
                <a:gd name="T3" fmla="*/ 0 h 36"/>
                <a:gd name="T4" fmla="*/ 0 w 22"/>
                <a:gd name="T5" fmla="*/ 6 h 36"/>
                <a:gd name="T6" fmla="*/ 21 w 22"/>
                <a:gd name="T7" fmla="*/ 35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1" y="35"/>
                  </a:moveTo>
                  <a:lnTo>
                    <a:pt x="21" y="0"/>
                  </a:lnTo>
                  <a:lnTo>
                    <a:pt x="0" y="6"/>
                  </a:lnTo>
                  <a:lnTo>
                    <a:pt x="21"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6" name="Freeform 3716"/>
            <p:cNvSpPr>
              <a:spLocks/>
            </p:cNvSpPr>
            <p:nvPr/>
          </p:nvSpPr>
          <p:spPr bwMode="auto">
            <a:xfrm>
              <a:off x="2533" y="2334"/>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7" name="Freeform 3717"/>
            <p:cNvSpPr>
              <a:spLocks/>
            </p:cNvSpPr>
            <p:nvPr/>
          </p:nvSpPr>
          <p:spPr bwMode="auto">
            <a:xfrm>
              <a:off x="2533" y="2369"/>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8" name="Line 3718"/>
            <p:cNvSpPr>
              <a:spLocks noChangeShapeType="1"/>
            </p:cNvSpPr>
            <p:nvPr/>
          </p:nvSpPr>
          <p:spPr bwMode="auto">
            <a:xfrm>
              <a:off x="2533" y="2369"/>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99" name="Freeform 3719"/>
            <p:cNvSpPr>
              <a:spLocks/>
            </p:cNvSpPr>
            <p:nvPr/>
          </p:nvSpPr>
          <p:spPr bwMode="auto">
            <a:xfrm>
              <a:off x="2533" y="2361"/>
              <a:ext cx="24" cy="38"/>
            </a:xfrm>
            <a:custGeom>
              <a:avLst/>
              <a:gdLst>
                <a:gd name="T0" fmla="*/ 23 w 24"/>
                <a:gd name="T1" fmla="*/ 37 h 38"/>
                <a:gd name="T2" fmla="*/ 23 w 24"/>
                <a:gd name="T3" fmla="*/ 0 h 38"/>
                <a:gd name="T4" fmla="*/ 0 w 24"/>
                <a:gd name="T5" fmla="*/ 6 h 38"/>
                <a:gd name="T6" fmla="*/ 23 w 24"/>
                <a:gd name="T7" fmla="*/ 37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23" y="37"/>
                  </a:moveTo>
                  <a:lnTo>
                    <a:pt x="23" y="0"/>
                  </a:lnTo>
                  <a:lnTo>
                    <a:pt x="0" y="6"/>
                  </a:lnTo>
                  <a:lnTo>
                    <a:pt x="23"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0" name="Freeform 3720"/>
            <p:cNvSpPr>
              <a:spLocks/>
            </p:cNvSpPr>
            <p:nvPr/>
          </p:nvSpPr>
          <p:spPr bwMode="auto">
            <a:xfrm>
              <a:off x="2545" y="2361"/>
              <a:ext cx="28" cy="38"/>
            </a:xfrm>
            <a:custGeom>
              <a:avLst/>
              <a:gdLst>
                <a:gd name="T0" fmla="*/ 0 w 28"/>
                <a:gd name="T1" fmla="*/ 37 h 38"/>
                <a:gd name="T2" fmla="*/ 27 w 28"/>
                <a:gd name="T3" fmla="*/ 28 h 38"/>
                <a:gd name="T4" fmla="*/ 0 w 28"/>
                <a:gd name="T5" fmla="*/ 0 h 38"/>
                <a:gd name="T6" fmla="*/ 0 w 28"/>
                <a:gd name="T7" fmla="*/ 37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7"/>
                  </a:moveTo>
                  <a:lnTo>
                    <a:pt x="27" y="28"/>
                  </a:lnTo>
                  <a:lnTo>
                    <a:pt x="0" y="0"/>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1" name="Freeform 3721"/>
            <p:cNvSpPr>
              <a:spLocks/>
            </p:cNvSpPr>
            <p:nvPr/>
          </p:nvSpPr>
          <p:spPr bwMode="auto">
            <a:xfrm>
              <a:off x="2545" y="2398"/>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2" name="Line 3722"/>
            <p:cNvSpPr>
              <a:spLocks noChangeShapeType="1"/>
            </p:cNvSpPr>
            <p:nvPr/>
          </p:nvSpPr>
          <p:spPr bwMode="auto">
            <a:xfrm>
              <a:off x="2545" y="239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3" name="Freeform 3723"/>
            <p:cNvSpPr>
              <a:spLocks/>
            </p:cNvSpPr>
            <p:nvPr/>
          </p:nvSpPr>
          <p:spPr bwMode="auto">
            <a:xfrm>
              <a:off x="2545" y="2390"/>
              <a:ext cx="28" cy="31"/>
            </a:xfrm>
            <a:custGeom>
              <a:avLst/>
              <a:gdLst>
                <a:gd name="T0" fmla="*/ 27 w 28"/>
                <a:gd name="T1" fmla="*/ 30 h 31"/>
                <a:gd name="T2" fmla="*/ 27 w 28"/>
                <a:gd name="T3" fmla="*/ 0 h 31"/>
                <a:gd name="T4" fmla="*/ 0 w 28"/>
                <a:gd name="T5" fmla="*/ 8 h 31"/>
                <a:gd name="T6" fmla="*/ 27 w 28"/>
                <a:gd name="T7" fmla="*/ 30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30"/>
                  </a:moveTo>
                  <a:lnTo>
                    <a:pt x="27" y="0"/>
                  </a:lnTo>
                  <a:lnTo>
                    <a:pt x="0" y="8"/>
                  </a:lnTo>
                  <a:lnTo>
                    <a:pt x="27" y="3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4" name="Freeform 3724"/>
            <p:cNvSpPr>
              <a:spLocks/>
            </p:cNvSpPr>
            <p:nvPr/>
          </p:nvSpPr>
          <p:spPr bwMode="auto">
            <a:xfrm>
              <a:off x="2557" y="2390"/>
              <a:ext cx="27" cy="31"/>
            </a:xfrm>
            <a:custGeom>
              <a:avLst/>
              <a:gdLst>
                <a:gd name="T0" fmla="*/ 0 w 27"/>
                <a:gd name="T1" fmla="*/ 30 h 31"/>
                <a:gd name="T2" fmla="*/ 26 w 27"/>
                <a:gd name="T3" fmla="*/ 23 h 31"/>
                <a:gd name="T4" fmla="*/ 0 w 27"/>
                <a:gd name="T5" fmla="*/ 0 h 31"/>
                <a:gd name="T6" fmla="*/ 0 w 27"/>
                <a:gd name="T7" fmla="*/ 3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0" y="30"/>
                  </a:moveTo>
                  <a:lnTo>
                    <a:pt x="26" y="23"/>
                  </a:lnTo>
                  <a:lnTo>
                    <a:pt x="0" y="0"/>
                  </a:lnTo>
                  <a:lnTo>
                    <a:pt x="0" y="3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5" name="Freeform 3725"/>
            <p:cNvSpPr>
              <a:spLocks/>
            </p:cNvSpPr>
            <p:nvPr/>
          </p:nvSpPr>
          <p:spPr bwMode="auto">
            <a:xfrm>
              <a:off x="2557" y="2420"/>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6" name="Line 3726"/>
            <p:cNvSpPr>
              <a:spLocks noChangeShapeType="1"/>
            </p:cNvSpPr>
            <p:nvPr/>
          </p:nvSpPr>
          <p:spPr bwMode="auto">
            <a:xfrm>
              <a:off x="2557" y="2420"/>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7" name="Freeform 3727"/>
            <p:cNvSpPr>
              <a:spLocks/>
            </p:cNvSpPr>
            <p:nvPr/>
          </p:nvSpPr>
          <p:spPr bwMode="auto">
            <a:xfrm>
              <a:off x="2557" y="2412"/>
              <a:ext cx="27" cy="36"/>
            </a:xfrm>
            <a:custGeom>
              <a:avLst/>
              <a:gdLst>
                <a:gd name="T0" fmla="*/ 26 w 27"/>
                <a:gd name="T1" fmla="*/ 35 h 36"/>
                <a:gd name="T2" fmla="*/ 26 w 27"/>
                <a:gd name="T3" fmla="*/ 0 h 36"/>
                <a:gd name="T4" fmla="*/ 0 w 27"/>
                <a:gd name="T5" fmla="*/ 6 h 36"/>
                <a:gd name="T6" fmla="*/ 26 w 27"/>
                <a:gd name="T7" fmla="*/ 35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35"/>
                  </a:moveTo>
                  <a:lnTo>
                    <a:pt x="26" y="0"/>
                  </a:lnTo>
                  <a:lnTo>
                    <a:pt x="0" y="6"/>
                  </a:lnTo>
                  <a:lnTo>
                    <a:pt x="26"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8" name="Freeform 3728"/>
            <p:cNvSpPr>
              <a:spLocks/>
            </p:cNvSpPr>
            <p:nvPr/>
          </p:nvSpPr>
          <p:spPr bwMode="auto">
            <a:xfrm>
              <a:off x="2572" y="2412"/>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09" name="Freeform 3729"/>
            <p:cNvSpPr>
              <a:spLocks/>
            </p:cNvSpPr>
            <p:nvPr/>
          </p:nvSpPr>
          <p:spPr bwMode="auto">
            <a:xfrm>
              <a:off x="2572" y="2447"/>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0" name="Line 3730"/>
            <p:cNvSpPr>
              <a:spLocks noChangeShapeType="1"/>
            </p:cNvSpPr>
            <p:nvPr/>
          </p:nvSpPr>
          <p:spPr bwMode="auto">
            <a:xfrm>
              <a:off x="2572" y="244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1" name="Freeform 3731"/>
            <p:cNvSpPr>
              <a:spLocks/>
            </p:cNvSpPr>
            <p:nvPr/>
          </p:nvSpPr>
          <p:spPr bwMode="auto">
            <a:xfrm>
              <a:off x="2572" y="2441"/>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2" name="Freeform 3732"/>
            <p:cNvSpPr>
              <a:spLocks/>
            </p:cNvSpPr>
            <p:nvPr/>
          </p:nvSpPr>
          <p:spPr bwMode="auto">
            <a:xfrm>
              <a:off x="2583" y="2441"/>
              <a:ext cx="24" cy="28"/>
            </a:xfrm>
            <a:custGeom>
              <a:avLst/>
              <a:gdLst>
                <a:gd name="T0" fmla="*/ 0 w 24"/>
                <a:gd name="T1" fmla="*/ 27 h 28"/>
                <a:gd name="T2" fmla="*/ 23 w 24"/>
                <a:gd name="T3" fmla="*/ 20 h 28"/>
                <a:gd name="T4" fmla="*/ 0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23" y="20"/>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3" name="Freeform 3733"/>
            <p:cNvSpPr>
              <a:spLocks/>
            </p:cNvSpPr>
            <p:nvPr/>
          </p:nvSpPr>
          <p:spPr bwMode="auto">
            <a:xfrm>
              <a:off x="2583" y="24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4" name="Line 3734"/>
            <p:cNvSpPr>
              <a:spLocks noChangeShapeType="1"/>
            </p:cNvSpPr>
            <p:nvPr/>
          </p:nvSpPr>
          <p:spPr bwMode="auto">
            <a:xfrm>
              <a:off x="2583" y="24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5" name="Freeform 3735"/>
            <p:cNvSpPr>
              <a:spLocks/>
            </p:cNvSpPr>
            <p:nvPr/>
          </p:nvSpPr>
          <p:spPr bwMode="auto">
            <a:xfrm>
              <a:off x="2583" y="2462"/>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6" name="Freeform 3736"/>
            <p:cNvSpPr>
              <a:spLocks/>
            </p:cNvSpPr>
            <p:nvPr/>
          </p:nvSpPr>
          <p:spPr bwMode="auto">
            <a:xfrm>
              <a:off x="2594" y="2462"/>
              <a:ext cx="28" cy="28"/>
            </a:xfrm>
            <a:custGeom>
              <a:avLst/>
              <a:gdLst>
                <a:gd name="T0" fmla="*/ 0 w 28"/>
                <a:gd name="T1" fmla="*/ 27 h 28"/>
                <a:gd name="T2" fmla="*/ 27 w 28"/>
                <a:gd name="T3" fmla="*/ 20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20"/>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7" name="Freeform 3737"/>
            <p:cNvSpPr>
              <a:spLocks/>
            </p:cNvSpPr>
            <p:nvPr/>
          </p:nvSpPr>
          <p:spPr bwMode="auto">
            <a:xfrm>
              <a:off x="2594" y="2489"/>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8" name="Line 3738"/>
            <p:cNvSpPr>
              <a:spLocks noChangeShapeType="1"/>
            </p:cNvSpPr>
            <p:nvPr/>
          </p:nvSpPr>
          <p:spPr bwMode="auto">
            <a:xfrm>
              <a:off x="2594" y="2489"/>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19" name="Freeform 3739"/>
            <p:cNvSpPr>
              <a:spLocks/>
            </p:cNvSpPr>
            <p:nvPr/>
          </p:nvSpPr>
          <p:spPr bwMode="auto">
            <a:xfrm>
              <a:off x="2594" y="2484"/>
              <a:ext cx="28" cy="26"/>
            </a:xfrm>
            <a:custGeom>
              <a:avLst/>
              <a:gdLst>
                <a:gd name="T0" fmla="*/ 27 w 28"/>
                <a:gd name="T1" fmla="*/ 25 h 26"/>
                <a:gd name="T2" fmla="*/ 27 w 28"/>
                <a:gd name="T3" fmla="*/ 0 h 26"/>
                <a:gd name="T4" fmla="*/ 0 w 28"/>
                <a:gd name="T5" fmla="*/ 7 h 26"/>
                <a:gd name="T6" fmla="*/ 27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25"/>
                  </a:moveTo>
                  <a:lnTo>
                    <a:pt x="27" y="0"/>
                  </a:lnTo>
                  <a:lnTo>
                    <a:pt x="0" y="7"/>
                  </a:lnTo>
                  <a:lnTo>
                    <a:pt x="27"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0" name="Freeform 3740"/>
            <p:cNvSpPr>
              <a:spLocks/>
            </p:cNvSpPr>
            <p:nvPr/>
          </p:nvSpPr>
          <p:spPr bwMode="auto">
            <a:xfrm>
              <a:off x="2610" y="2484"/>
              <a:ext cx="24" cy="26"/>
            </a:xfrm>
            <a:custGeom>
              <a:avLst/>
              <a:gdLst>
                <a:gd name="T0" fmla="*/ 0 w 24"/>
                <a:gd name="T1" fmla="*/ 25 h 26"/>
                <a:gd name="T2" fmla="*/ 23 w 24"/>
                <a:gd name="T3" fmla="*/ 17 h 26"/>
                <a:gd name="T4" fmla="*/ 0 w 24"/>
                <a:gd name="T5" fmla="*/ 0 h 26"/>
                <a:gd name="T6" fmla="*/ 0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0" y="25"/>
                  </a:moveTo>
                  <a:lnTo>
                    <a:pt x="23" y="17"/>
                  </a:lnTo>
                  <a:lnTo>
                    <a:pt x="0" y="0"/>
                  </a:lnTo>
                  <a:lnTo>
                    <a:pt x="0"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1" name="Freeform 3741"/>
            <p:cNvSpPr>
              <a:spLocks/>
            </p:cNvSpPr>
            <p:nvPr/>
          </p:nvSpPr>
          <p:spPr bwMode="auto">
            <a:xfrm>
              <a:off x="2610" y="2505"/>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2" name="Line 3742"/>
            <p:cNvSpPr>
              <a:spLocks noChangeShapeType="1"/>
            </p:cNvSpPr>
            <p:nvPr/>
          </p:nvSpPr>
          <p:spPr bwMode="auto">
            <a:xfrm>
              <a:off x="2610" y="2505"/>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3" name="Freeform 3743"/>
            <p:cNvSpPr>
              <a:spLocks/>
            </p:cNvSpPr>
            <p:nvPr/>
          </p:nvSpPr>
          <p:spPr bwMode="auto">
            <a:xfrm>
              <a:off x="2610" y="2498"/>
              <a:ext cx="24" cy="30"/>
            </a:xfrm>
            <a:custGeom>
              <a:avLst/>
              <a:gdLst>
                <a:gd name="T0" fmla="*/ 23 w 24"/>
                <a:gd name="T1" fmla="*/ 29 h 30"/>
                <a:gd name="T2" fmla="*/ 23 w 24"/>
                <a:gd name="T3" fmla="*/ 0 h 30"/>
                <a:gd name="T4" fmla="*/ 0 w 24"/>
                <a:gd name="T5" fmla="*/ 6 h 30"/>
                <a:gd name="T6" fmla="*/ 23 w 24"/>
                <a:gd name="T7" fmla="*/ 29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29"/>
                  </a:moveTo>
                  <a:lnTo>
                    <a:pt x="23" y="0"/>
                  </a:lnTo>
                  <a:lnTo>
                    <a:pt x="0" y="6"/>
                  </a:lnTo>
                  <a:lnTo>
                    <a:pt x="23" y="2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4" name="Freeform 3744"/>
            <p:cNvSpPr>
              <a:spLocks/>
            </p:cNvSpPr>
            <p:nvPr/>
          </p:nvSpPr>
          <p:spPr bwMode="auto">
            <a:xfrm>
              <a:off x="2621" y="2498"/>
              <a:ext cx="25" cy="30"/>
            </a:xfrm>
            <a:custGeom>
              <a:avLst/>
              <a:gdLst>
                <a:gd name="T0" fmla="*/ 0 w 25"/>
                <a:gd name="T1" fmla="*/ 29 h 30"/>
                <a:gd name="T2" fmla="*/ 24 w 25"/>
                <a:gd name="T3" fmla="*/ 22 h 30"/>
                <a:gd name="T4" fmla="*/ 0 w 25"/>
                <a:gd name="T5" fmla="*/ 0 h 30"/>
                <a:gd name="T6" fmla="*/ 0 w 25"/>
                <a:gd name="T7" fmla="*/ 29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0" y="29"/>
                  </a:moveTo>
                  <a:lnTo>
                    <a:pt x="24" y="22"/>
                  </a:lnTo>
                  <a:lnTo>
                    <a:pt x="0" y="0"/>
                  </a:lnTo>
                  <a:lnTo>
                    <a:pt x="0" y="2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5" name="Freeform 3745"/>
            <p:cNvSpPr>
              <a:spLocks/>
            </p:cNvSpPr>
            <p:nvPr/>
          </p:nvSpPr>
          <p:spPr bwMode="auto">
            <a:xfrm>
              <a:off x="2621" y="2527"/>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6" name="Line 3746"/>
            <p:cNvSpPr>
              <a:spLocks noChangeShapeType="1"/>
            </p:cNvSpPr>
            <p:nvPr/>
          </p:nvSpPr>
          <p:spPr bwMode="auto">
            <a:xfrm>
              <a:off x="2621" y="2527"/>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7" name="Freeform 3747"/>
            <p:cNvSpPr>
              <a:spLocks/>
            </p:cNvSpPr>
            <p:nvPr/>
          </p:nvSpPr>
          <p:spPr bwMode="auto">
            <a:xfrm>
              <a:off x="2621" y="2519"/>
              <a:ext cx="25" cy="28"/>
            </a:xfrm>
            <a:custGeom>
              <a:avLst/>
              <a:gdLst>
                <a:gd name="T0" fmla="*/ 24 w 25"/>
                <a:gd name="T1" fmla="*/ 27 h 28"/>
                <a:gd name="T2" fmla="*/ 12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8"/>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8" name="Freeform 3748"/>
            <p:cNvSpPr>
              <a:spLocks/>
            </p:cNvSpPr>
            <p:nvPr/>
          </p:nvSpPr>
          <p:spPr bwMode="auto">
            <a:xfrm>
              <a:off x="2628" y="2519"/>
              <a:ext cx="24" cy="28"/>
            </a:xfrm>
            <a:custGeom>
              <a:avLst/>
              <a:gdLst>
                <a:gd name="T0" fmla="*/ 10 w 24"/>
                <a:gd name="T1" fmla="*/ 27 h 28"/>
                <a:gd name="T2" fmla="*/ 23 w 24"/>
                <a:gd name="T3" fmla="*/ 16 h 28"/>
                <a:gd name="T4" fmla="*/ 0 w 24"/>
                <a:gd name="T5" fmla="*/ 0 h 28"/>
                <a:gd name="T6" fmla="*/ 1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10" y="27"/>
                  </a:moveTo>
                  <a:lnTo>
                    <a:pt x="23" y="16"/>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29" name="Freeform 3749"/>
            <p:cNvSpPr>
              <a:spLocks/>
            </p:cNvSpPr>
            <p:nvPr/>
          </p:nvSpPr>
          <p:spPr bwMode="auto">
            <a:xfrm>
              <a:off x="2632" y="2541"/>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0" name="Line 3750"/>
            <p:cNvSpPr>
              <a:spLocks noChangeShapeType="1"/>
            </p:cNvSpPr>
            <p:nvPr/>
          </p:nvSpPr>
          <p:spPr bwMode="auto">
            <a:xfrm>
              <a:off x="2632" y="25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1" name="Freeform 3751"/>
            <p:cNvSpPr>
              <a:spLocks/>
            </p:cNvSpPr>
            <p:nvPr/>
          </p:nvSpPr>
          <p:spPr bwMode="auto">
            <a:xfrm>
              <a:off x="2632" y="2532"/>
              <a:ext cx="28" cy="28"/>
            </a:xfrm>
            <a:custGeom>
              <a:avLst/>
              <a:gdLst>
                <a:gd name="T0" fmla="*/ 27 w 28"/>
                <a:gd name="T1" fmla="*/ 27 h 28"/>
                <a:gd name="T2" fmla="*/ 15 w 28"/>
                <a:gd name="T3" fmla="*/ 0 h 28"/>
                <a:gd name="T4" fmla="*/ 0 w 28"/>
                <a:gd name="T5" fmla="*/ 9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15" y="0"/>
                  </a:lnTo>
                  <a:lnTo>
                    <a:pt x="0" y="9"/>
                  </a:lnTo>
                  <a:lnTo>
                    <a:pt x="27"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2" name="Freeform 3752"/>
            <p:cNvSpPr>
              <a:spLocks/>
            </p:cNvSpPr>
            <p:nvPr/>
          </p:nvSpPr>
          <p:spPr bwMode="auto">
            <a:xfrm>
              <a:off x="2640" y="2532"/>
              <a:ext cx="27" cy="28"/>
            </a:xfrm>
            <a:custGeom>
              <a:avLst/>
              <a:gdLst>
                <a:gd name="T0" fmla="*/ 13 w 27"/>
                <a:gd name="T1" fmla="*/ 27 h 28"/>
                <a:gd name="T2" fmla="*/ 26 w 27"/>
                <a:gd name="T3" fmla="*/ 17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17"/>
                  </a:lnTo>
                  <a:lnTo>
                    <a:pt x="0" y="0"/>
                  </a:lnTo>
                  <a:lnTo>
                    <a:pt x="1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3" name="Freeform 3753"/>
            <p:cNvSpPr>
              <a:spLocks/>
            </p:cNvSpPr>
            <p:nvPr/>
          </p:nvSpPr>
          <p:spPr bwMode="auto">
            <a:xfrm>
              <a:off x="2644" y="2556"/>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4" name="Line 3754"/>
            <p:cNvSpPr>
              <a:spLocks noChangeShapeType="1"/>
            </p:cNvSpPr>
            <p:nvPr/>
          </p:nvSpPr>
          <p:spPr bwMode="auto">
            <a:xfrm>
              <a:off x="2644" y="2556"/>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5" name="Freeform 3755"/>
            <p:cNvSpPr>
              <a:spLocks/>
            </p:cNvSpPr>
            <p:nvPr/>
          </p:nvSpPr>
          <p:spPr bwMode="auto">
            <a:xfrm>
              <a:off x="2644" y="2547"/>
              <a:ext cx="27" cy="27"/>
            </a:xfrm>
            <a:custGeom>
              <a:avLst/>
              <a:gdLst>
                <a:gd name="T0" fmla="*/ 26 w 27"/>
                <a:gd name="T1" fmla="*/ 26 h 27"/>
                <a:gd name="T2" fmla="*/ 11 w 27"/>
                <a:gd name="T3" fmla="*/ 0 h 27"/>
                <a:gd name="T4" fmla="*/ 0 w 27"/>
                <a:gd name="T5" fmla="*/ 1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1" y="0"/>
                  </a:lnTo>
                  <a:lnTo>
                    <a:pt x="0" y="10"/>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6" name="Freeform 3756"/>
            <p:cNvSpPr>
              <a:spLocks/>
            </p:cNvSpPr>
            <p:nvPr/>
          </p:nvSpPr>
          <p:spPr bwMode="auto">
            <a:xfrm>
              <a:off x="2651" y="2547"/>
              <a:ext cx="28" cy="27"/>
            </a:xfrm>
            <a:custGeom>
              <a:avLst/>
              <a:gdLst>
                <a:gd name="T0" fmla="*/ 15 w 28"/>
                <a:gd name="T1" fmla="*/ 26 h 27"/>
                <a:gd name="T2" fmla="*/ 27 w 28"/>
                <a:gd name="T3" fmla="*/ 18 h 27"/>
                <a:gd name="T4" fmla="*/ 0 w 28"/>
                <a:gd name="T5" fmla="*/ 0 h 27"/>
                <a:gd name="T6" fmla="*/ 15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15" y="26"/>
                  </a:moveTo>
                  <a:lnTo>
                    <a:pt x="27" y="18"/>
                  </a:lnTo>
                  <a:lnTo>
                    <a:pt x="0" y="0"/>
                  </a:lnTo>
                  <a:lnTo>
                    <a:pt x="1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7" name="Freeform 3757"/>
            <p:cNvSpPr>
              <a:spLocks/>
            </p:cNvSpPr>
            <p:nvPr/>
          </p:nvSpPr>
          <p:spPr bwMode="auto">
            <a:xfrm>
              <a:off x="2659" y="25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8" name="Line 3758"/>
            <p:cNvSpPr>
              <a:spLocks noChangeShapeType="1"/>
            </p:cNvSpPr>
            <p:nvPr/>
          </p:nvSpPr>
          <p:spPr bwMode="auto">
            <a:xfrm>
              <a:off x="2659" y="25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39" name="Freeform 3759"/>
            <p:cNvSpPr>
              <a:spLocks/>
            </p:cNvSpPr>
            <p:nvPr/>
          </p:nvSpPr>
          <p:spPr bwMode="auto">
            <a:xfrm>
              <a:off x="2659" y="2562"/>
              <a:ext cx="24" cy="27"/>
            </a:xfrm>
            <a:custGeom>
              <a:avLst/>
              <a:gdLst>
                <a:gd name="T0" fmla="*/ 23 w 24"/>
                <a:gd name="T1" fmla="*/ 26 h 27"/>
                <a:gd name="T2" fmla="*/ 11 w 24"/>
                <a:gd name="T3" fmla="*/ 0 h 27"/>
                <a:gd name="T4" fmla="*/ 0 w 24"/>
                <a:gd name="T5" fmla="*/ 8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1" y="0"/>
                  </a:lnTo>
                  <a:lnTo>
                    <a:pt x="0" y="8"/>
                  </a:lnTo>
                  <a:lnTo>
                    <a:pt x="2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0" name="Freeform 3760"/>
            <p:cNvSpPr>
              <a:spLocks/>
            </p:cNvSpPr>
            <p:nvPr/>
          </p:nvSpPr>
          <p:spPr bwMode="auto">
            <a:xfrm>
              <a:off x="2666" y="2562"/>
              <a:ext cx="24" cy="27"/>
            </a:xfrm>
            <a:custGeom>
              <a:avLst/>
              <a:gdLst>
                <a:gd name="T0" fmla="*/ 10 w 24"/>
                <a:gd name="T1" fmla="*/ 26 h 27"/>
                <a:gd name="T2" fmla="*/ 23 w 24"/>
                <a:gd name="T3" fmla="*/ 18 h 27"/>
                <a:gd name="T4" fmla="*/ 0 w 24"/>
                <a:gd name="T5" fmla="*/ 0 h 27"/>
                <a:gd name="T6" fmla="*/ 1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10" y="26"/>
                  </a:moveTo>
                  <a:lnTo>
                    <a:pt x="23" y="18"/>
                  </a:lnTo>
                  <a:lnTo>
                    <a:pt x="0" y="0"/>
                  </a:lnTo>
                  <a:lnTo>
                    <a:pt x="1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1" name="Freeform 3761"/>
            <p:cNvSpPr>
              <a:spLocks/>
            </p:cNvSpPr>
            <p:nvPr/>
          </p:nvSpPr>
          <p:spPr bwMode="auto">
            <a:xfrm>
              <a:off x="2668" y="2584"/>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2" name="Line 3762"/>
            <p:cNvSpPr>
              <a:spLocks noChangeShapeType="1"/>
            </p:cNvSpPr>
            <p:nvPr/>
          </p:nvSpPr>
          <p:spPr bwMode="auto">
            <a:xfrm>
              <a:off x="2668" y="2584"/>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3" name="Freeform 3763"/>
            <p:cNvSpPr>
              <a:spLocks/>
            </p:cNvSpPr>
            <p:nvPr/>
          </p:nvSpPr>
          <p:spPr bwMode="auto">
            <a:xfrm>
              <a:off x="2668" y="2576"/>
              <a:ext cx="27" cy="28"/>
            </a:xfrm>
            <a:custGeom>
              <a:avLst/>
              <a:gdLst>
                <a:gd name="T0" fmla="*/ 26 w 27"/>
                <a:gd name="T1" fmla="*/ 27 h 28"/>
                <a:gd name="T2" fmla="*/ 14 w 27"/>
                <a:gd name="T3" fmla="*/ 0 h 28"/>
                <a:gd name="T4" fmla="*/ 0 w 27"/>
                <a:gd name="T5" fmla="*/ 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4" y="0"/>
                  </a:lnTo>
                  <a:lnTo>
                    <a:pt x="0" y="8"/>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4" name="Freeform 3764"/>
            <p:cNvSpPr>
              <a:spLocks/>
            </p:cNvSpPr>
            <p:nvPr/>
          </p:nvSpPr>
          <p:spPr bwMode="auto">
            <a:xfrm>
              <a:off x="2678" y="2576"/>
              <a:ext cx="27" cy="28"/>
            </a:xfrm>
            <a:custGeom>
              <a:avLst/>
              <a:gdLst>
                <a:gd name="T0" fmla="*/ 11 w 27"/>
                <a:gd name="T1" fmla="*/ 27 h 28"/>
                <a:gd name="T2" fmla="*/ 26 w 27"/>
                <a:gd name="T3" fmla="*/ 8 h 28"/>
                <a:gd name="T4" fmla="*/ 0 w 27"/>
                <a:gd name="T5" fmla="*/ 0 h 28"/>
                <a:gd name="T6" fmla="*/ 11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1" y="27"/>
                  </a:moveTo>
                  <a:lnTo>
                    <a:pt x="26" y="8"/>
                  </a:lnTo>
                  <a:lnTo>
                    <a:pt x="0" y="0"/>
                  </a:lnTo>
                  <a:lnTo>
                    <a:pt x="11"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5" name="Freeform 3765"/>
            <p:cNvSpPr>
              <a:spLocks/>
            </p:cNvSpPr>
            <p:nvPr/>
          </p:nvSpPr>
          <p:spPr bwMode="auto">
            <a:xfrm>
              <a:off x="2682" y="2589"/>
              <a:ext cx="26" cy="28"/>
            </a:xfrm>
            <a:custGeom>
              <a:avLst/>
              <a:gdLst>
                <a:gd name="T0" fmla="*/ 0 w 26"/>
                <a:gd name="T1" fmla="*/ 27 h 28"/>
                <a:gd name="T2" fmla="*/ 0 w 26"/>
                <a:gd name="T3" fmla="*/ 27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0" y="27"/>
                  </a:ln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6" name="Line 3766"/>
            <p:cNvSpPr>
              <a:spLocks noChangeShapeType="1"/>
            </p:cNvSpPr>
            <p:nvPr/>
          </p:nvSpPr>
          <p:spPr bwMode="auto">
            <a:xfrm>
              <a:off x="2682" y="259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7" name="Freeform 3767"/>
            <p:cNvSpPr>
              <a:spLocks/>
            </p:cNvSpPr>
            <p:nvPr/>
          </p:nvSpPr>
          <p:spPr bwMode="auto">
            <a:xfrm>
              <a:off x="2682" y="2584"/>
              <a:ext cx="26" cy="26"/>
            </a:xfrm>
            <a:custGeom>
              <a:avLst/>
              <a:gdLst>
                <a:gd name="T0" fmla="*/ 25 w 26"/>
                <a:gd name="T1" fmla="*/ 25 h 26"/>
                <a:gd name="T2" fmla="*/ 13 w 26"/>
                <a:gd name="T3" fmla="*/ 0 h 26"/>
                <a:gd name="T4" fmla="*/ 0 w 26"/>
                <a:gd name="T5" fmla="*/ 17 h 26"/>
                <a:gd name="T6" fmla="*/ 25 w 26"/>
                <a:gd name="T7" fmla="*/ 25 h 26"/>
                <a:gd name="T8" fmla="*/ 0 60000 65536"/>
                <a:gd name="T9" fmla="*/ 0 60000 65536"/>
                <a:gd name="T10" fmla="*/ 0 60000 65536"/>
                <a:gd name="T11" fmla="*/ 0 60000 65536"/>
                <a:gd name="T12" fmla="*/ 0 w 26"/>
                <a:gd name="T13" fmla="*/ 0 h 26"/>
                <a:gd name="T14" fmla="*/ 26 w 26"/>
                <a:gd name="T15" fmla="*/ 26 h 26"/>
              </a:gdLst>
              <a:ahLst/>
              <a:cxnLst>
                <a:cxn ang="T8">
                  <a:pos x="T0" y="T1"/>
                </a:cxn>
                <a:cxn ang="T9">
                  <a:pos x="T2" y="T3"/>
                </a:cxn>
                <a:cxn ang="T10">
                  <a:pos x="T4" y="T5"/>
                </a:cxn>
                <a:cxn ang="T11">
                  <a:pos x="T6" y="T7"/>
                </a:cxn>
              </a:cxnLst>
              <a:rect l="T12" t="T13" r="T14" b="T15"/>
              <a:pathLst>
                <a:path w="26" h="26">
                  <a:moveTo>
                    <a:pt x="25" y="25"/>
                  </a:moveTo>
                  <a:lnTo>
                    <a:pt x="13" y="0"/>
                  </a:lnTo>
                  <a:lnTo>
                    <a:pt x="0" y="17"/>
                  </a:lnTo>
                  <a:lnTo>
                    <a:pt x="25"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8" name="Freeform 3768"/>
            <p:cNvSpPr>
              <a:spLocks/>
            </p:cNvSpPr>
            <p:nvPr/>
          </p:nvSpPr>
          <p:spPr bwMode="auto">
            <a:xfrm>
              <a:off x="2689" y="2584"/>
              <a:ext cx="28" cy="26"/>
            </a:xfrm>
            <a:custGeom>
              <a:avLst/>
              <a:gdLst>
                <a:gd name="T0" fmla="*/ 13 w 28"/>
                <a:gd name="T1" fmla="*/ 25 h 26"/>
                <a:gd name="T2" fmla="*/ 27 w 28"/>
                <a:gd name="T3" fmla="*/ 17 h 26"/>
                <a:gd name="T4" fmla="*/ 0 w 28"/>
                <a:gd name="T5" fmla="*/ 0 h 26"/>
                <a:gd name="T6" fmla="*/ 13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13" y="25"/>
                  </a:moveTo>
                  <a:lnTo>
                    <a:pt x="27" y="17"/>
                  </a:lnTo>
                  <a:lnTo>
                    <a:pt x="0" y="0"/>
                  </a:lnTo>
                  <a:lnTo>
                    <a:pt x="13"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49" name="Freeform 3769"/>
            <p:cNvSpPr>
              <a:spLocks/>
            </p:cNvSpPr>
            <p:nvPr/>
          </p:nvSpPr>
          <p:spPr bwMode="auto">
            <a:xfrm>
              <a:off x="2697" y="260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0" name="Line 3770"/>
            <p:cNvSpPr>
              <a:spLocks noChangeShapeType="1"/>
            </p:cNvSpPr>
            <p:nvPr/>
          </p:nvSpPr>
          <p:spPr bwMode="auto">
            <a:xfrm>
              <a:off x="2697" y="2604"/>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1" name="Freeform 3771"/>
            <p:cNvSpPr>
              <a:spLocks/>
            </p:cNvSpPr>
            <p:nvPr/>
          </p:nvSpPr>
          <p:spPr bwMode="auto">
            <a:xfrm>
              <a:off x="2697" y="2598"/>
              <a:ext cx="24" cy="27"/>
            </a:xfrm>
            <a:custGeom>
              <a:avLst/>
              <a:gdLst>
                <a:gd name="T0" fmla="*/ 23 w 24"/>
                <a:gd name="T1" fmla="*/ 26 h 27"/>
                <a:gd name="T2" fmla="*/ 10 w 24"/>
                <a:gd name="T3" fmla="*/ 0 h 27"/>
                <a:gd name="T4" fmla="*/ 0 w 24"/>
                <a:gd name="T5" fmla="*/ 13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0" y="0"/>
                  </a:lnTo>
                  <a:lnTo>
                    <a:pt x="0" y="13"/>
                  </a:lnTo>
                  <a:lnTo>
                    <a:pt x="2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2" name="Freeform 3772"/>
            <p:cNvSpPr>
              <a:spLocks/>
            </p:cNvSpPr>
            <p:nvPr/>
          </p:nvSpPr>
          <p:spPr bwMode="auto">
            <a:xfrm>
              <a:off x="2701" y="2598"/>
              <a:ext cx="27" cy="27"/>
            </a:xfrm>
            <a:custGeom>
              <a:avLst/>
              <a:gdLst>
                <a:gd name="T0" fmla="*/ 14 w 27"/>
                <a:gd name="T1" fmla="*/ 26 h 27"/>
                <a:gd name="T2" fmla="*/ 26 w 27"/>
                <a:gd name="T3" fmla="*/ 13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13"/>
                  </a:lnTo>
                  <a:lnTo>
                    <a:pt x="0" y="0"/>
                  </a:lnTo>
                  <a:lnTo>
                    <a:pt x="1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3" name="Freeform 3773"/>
            <p:cNvSpPr>
              <a:spLocks/>
            </p:cNvSpPr>
            <p:nvPr/>
          </p:nvSpPr>
          <p:spPr bwMode="auto">
            <a:xfrm>
              <a:off x="2707" y="2611"/>
              <a:ext cx="29" cy="27"/>
            </a:xfrm>
            <a:custGeom>
              <a:avLst/>
              <a:gdLst>
                <a:gd name="T0" fmla="*/ 0 w 29"/>
                <a:gd name="T1" fmla="*/ 26 h 27"/>
                <a:gd name="T2" fmla="*/ 0 w 29"/>
                <a:gd name="T3" fmla="*/ 0 h 27"/>
                <a:gd name="T4" fmla="*/ 28 w 29"/>
                <a:gd name="T5" fmla="*/ 0 h 27"/>
                <a:gd name="T6" fmla="*/ 0 w 29"/>
                <a:gd name="T7" fmla="*/ 26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0" y="26"/>
                  </a:moveTo>
                  <a:lnTo>
                    <a:pt x="0" y="0"/>
                  </a:lnTo>
                  <a:lnTo>
                    <a:pt x="28"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4" name="Freeform 3774"/>
            <p:cNvSpPr>
              <a:spLocks/>
            </p:cNvSpPr>
            <p:nvPr/>
          </p:nvSpPr>
          <p:spPr bwMode="auto">
            <a:xfrm>
              <a:off x="2707" y="261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5" name="Freeform 3775"/>
            <p:cNvSpPr>
              <a:spLocks/>
            </p:cNvSpPr>
            <p:nvPr/>
          </p:nvSpPr>
          <p:spPr bwMode="auto">
            <a:xfrm>
              <a:off x="2707" y="2604"/>
              <a:ext cx="29" cy="28"/>
            </a:xfrm>
            <a:custGeom>
              <a:avLst/>
              <a:gdLst>
                <a:gd name="T0" fmla="*/ 28 w 29"/>
                <a:gd name="T1" fmla="*/ 27 h 28"/>
                <a:gd name="T2" fmla="*/ 14 w 29"/>
                <a:gd name="T3" fmla="*/ 0 h 28"/>
                <a:gd name="T4" fmla="*/ 0 w 29"/>
                <a:gd name="T5" fmla="*/ 18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4" y="0"/>
                  </a:lnTo>
                  <a:lnTo>
                    <a:pt x="0" y="18"/>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6" name="Freeform 3776"/>
            <p:cNvSpPr>
              <a:spLocks/>
            </p:cNvSpPr>
            <p:nvPr/>
          </p:nvSpPr>
          <p:spPr bwMode="auto">
            <a:xfrm>
              <a:off x="2716" y="2604"/>
              <a:ext cx="25" cy="28"/>
            </a:xfrm>
            <a:custGeom>
              <a:avLst/>
              <a:gdLst>
                <a:gd name="T0" fmla="*/ 10 w 25"/>
                <a:gd name="T1" fmla="*/ 27 h 28"/>
                <a:gd name="T2" fmla="*/ 24 w 25"/>
                <a:gd name="T3" fmla="*/ 8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8"/>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7" name="Freeform 3777"/>
            <p:cNvSpPr>
              <a:spLocks/>
            </p:cNvSpPr>
            <p:nvPr/>
          </p:nvSpPr>
          <p:spPr bwMode="auto">
            <a:xfrm>
              <a:off x="2727" y="2611"/>
              <a:ext cx="28" cy="27"/>
            </a:xfrm>
            <a:custGeom>
              <a:avLst/>
              <a:gdLst>
                <a:gd name="T0" fmla="*/ 0 w 28"/>
                <a:gd name="T1" fmla="*/ 26 h 27"/>
                <a:gd name="T2" fmla="*/ 27 w 28"/>
                <a:gd name="T3" fmla="*/ 10 h 27"/>
                <a:gd name="T4" fmla="*/ 0 w 28"/>
                <a:gd name="T5" fmla="*/ 0 h 27"/>
                <a:gd name="T6" fmla="*/ 0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0" y="26"/>
                  </a:moveTo>
                  <a:lnTo>
                    <a:pt x="27" y="10"/>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8" name="Freeform 3778"/>
            <p:cNvSpPr>
              <a:spLocks/>
            </p:cNvSpPr>
            <p:nvPr/>
          </p:nvSpPr>
          <p:spPr bwMode="auto">
            <a:xfrm>
              <a:off x="2727" y="2632"/>
              <a:ext cx="28" cy="1"/>
            </a:xfrm>
            <a:custGeom>
              <a:avLst/>
              <a:gdLst>
                <a:gd name="T0" fmla="*/ 27 w 28"/>
                <a:gd name="T1" fmla="*/ 0 h 1"/>
                <a:gd name="T2" fmla="*/ 27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27" y="0"/>
                  </a:lnTo>
                  <a:lnTo>
                    <a:pt x="0" y="0"/>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59" name="Freeform 3779"/>
            <p:cNvSpPr>
              <a:spLocks/>
            </p:cNvSpPr>
            <p:nvPr/>
          </p:nvSpPr>
          <p:spPr bwMode="auto">
            <a:xfrm>
              <a:off x="2732" y="2619"/>
              <a:ext cx="25" cy="27"/>
            </a:xfrm>
            <a:custGeom>
              <a:avLst/>
              <a:gdLst>
                <a:gd name="T0" fmla="*/ 24 w 25"/>
                <a:gd name="T1" fmla="*/ 26 h 27"/>
                <a:gd name="T2" fmla="*/ 0 w 25"/>
                <a:gd name="T3" fmla="*/ 0 h 27"/>
                <a:gd name="T4" fmla="*/ 0 w 25"/>
                <a:gd name="T5" fmla="*/ 16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0" y="0"/>
                  </a:lnTo>
                  <a:lnTo>
                    <a:pt x="0" y="16"/>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0" name="Freeform 3780"/>
            <p:cNvSpPr>
              <a:spLocks/>
            </p:cNvSpPr>
            <p:nvPr/>
          </p:nvSpPr>
          <p:spPr bwMode="auto">
            <a:xfrm>
              <a:off x="2732" y="2619"/>
              <a:ext cx="25" cy="27"/>
            </a:xfrm>
            <a:custGeom>
              <a:avLst/>
              <a:gdLst>
                <a:gd name="T0" fmla="*/ 10 w 25"/>
                <a:gd name="T1" fmla="*/ 26 h 27"/>
                <a:gd name="T2" fmla="*/ 24 w 25"/>
                <a:gd name="T3" fmla="*/ 8 h 27"/>
                <a:gd name="T4" fmla="*/ 0 w 25"/>
                <a:gd name="T5" fmla="*/ 0 h 27"/>
                <a:gd name="T6" fmla="*/ 1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0" y="26"/>
                  </a:moveTo>
                  <a:lnTo>
                    <a:pt x="24" y="8"/>
                  </a:lnTo>
                  <a:lnTo>
                    <a:pt x="0" y="0"/>
                  </a:lnTo>
                  <a:lnTo>
                    <a:pt x="1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1" name="Freeform 3781"/>
            <p:cNvSpPr>
              <a:spLocks/>
            </p:cNvSpPr>
            <p:nvPr/>
          </p:nvSpPr>
          <p:spPr bwMode="auto">
            <a:xfrm>
              <a:off x="2738" y="2632"/>
              <a:ext cx="28" cy="27"/>
            </a:xfrm>
            <a:custGeom>
              <a:avLst/>
              <a:gdLst>
                <a:gd name="T0" fmla="*/ 27 w 28"/>
                <a:gd name="T1" fmla="*/ 26 h 27"/>
                <a:gd name="T2" fmla="*/ 0 w 28"/>
                <a:gd name="T3" fmla="*/ 26 h 27"/>
                <a:gd name="T4" fmla="*/ 27 w 28"/>
                <a:gd name="T5" fmla="*/ 0 h 27"/>
                <a:gd name="T6" fmla="*/ 27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26"/>
                  </a:moveTo>
                  <a:lnTo>
                    <a:pt x="0" y="26"/>
                  </a:lnTo>
                  <a:lnTo>
                    <a:pt x="27" y="0"/>
                  </a:lnTo>
                  <a:lnTo>
                    <a:pt x="27"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2" name="Freeform 3782"/>
            <p:cNvSpPr>
              <a:spLocks/>
            </p:cNvSpPr>
            <p:nvPr/>
          </p:nvSpPr>
          <p:spPr bwMode="auto">
            <a:xfrm>
              <a:off x="2738" y="2640"/>
              <a:ext cx="28" cy="1"/>
            </a:xfrm>
            <a:custGeom>
              <a:avLst/>
              <a:gdLst>
                <a:gd name="T0" fmla="*/ 27 w 28"/>
                <a:gd name="T1" fmla="*/ 0 h 1"/>
                <a:gd name="T2" fmla="*/ 0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0" y="0"/>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3" name="Freeform 3783"/>
            <p:cNvSpPr>
              <a:spLocks/>
            </p:cNvSpPr>
            <p:nvPr/>
          </p:nvSpPr>
          <p:spPr bwMode="auto">
            <a:xfrm>
              <a:off x="2744" y="2626"/>
              <a:ext cx="27" cy="27"/>
            </a:xfrm>
            <a:custGeom>
              <a:avLst/>
              <a:gdLst>
                <a:gd name="T0" fmla="*/ 26 w 27"/>
                <a:gd name="T1" fmla="*/ 26 h 27"/>
                <a:gd name="T2" fmla="*/ 0 w 27"/>
                <a:gd name="T3" fmla="*/ 0 h 27"/>
                <a:gd name="T4" fmla="*/ 0 w 27"/>
                <a:gd name="T5" fmla="*/ 26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0" y="0"/>
                  </a:lnTo>
                  <a:lnTo>
                    <a:pt x="0" y="26"/>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4" name="Freeform 3784"/>
            <p:cNvSpPr>
              <a:spLocks/>
            </p:cNvSpPr>
            <p:nvPr/>
          </p:nvSpPr>
          <p:spPr bwMode="auto">
            <a:xfrm>
              <a:off x="2744" y="2626"/>
              <a:ext cx="27" cy="27"/>
            </a:xfrm>
            <a:custGeom>
              <a:avLst/>
              <a:gdLst>
                <a:gd name="T0" fmla="*/ 13 w 27"/>
                <a:gd name="T1" fmla="*/ 26 h 27"/>
                <a:gd name="T2" fmla="*/ 26 w 27"/>
                <a:gd name="T3" fmla="*/ 11 h 27"/>
                <a:gd name="T4" fmla="*/ 0 w 27"/>
                <a:gd name="T5" fmla="*/ 0 h 27"/>
                <a:gd name="T6" fmla="*/ 13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3" y="26"/>
                  </a:moveTo>
                  <a:lnTo>
                    <a:pt x="26" y="11"/>
                  </a:lnTo>
                  <a:lnTo>
                    <a:pt x="0" y="0"/>
                  </a:lnTo>
                  <a:lnTo>
                    <a:pt x="1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5" name="Freeform 3785"/>
            <p:cNvSpPr>
              <a:spLocks/>
            </p:cNvSpPr>
            <p:nvPr/>
          </p:nvSpPr>
          <p:spPr bwMode="auto">
            <a:xfrm>
              <a:off x="2752" y="2640"/>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6" name="Line 3786"/>
            <p:cNvSpPr>
              <a:spLocks noChangeShapeType="1"/>
            </p:cNvSpPr>
            <p:nvPr/>
          </p:nvSpPr>
          <p:spPr bwMode="auto">
            <a:xfrm>
              <a:off x="2752" y="2640"/>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7" name="Freeform 3787"/>
            <p:cNvSpPr>
              <a:spLocks/>
            </p:cNvSpPr>
            <p:nvPr/>
          </p:nvSpPr>
          <p:spPr bwMode="auto">
            <a:xfrm>
              <a:off x="2752" y="2632"/>
              <a:ext cx="25" cy="27"/>
            </a:xfrm>
            <a:custGeom>
              <a:avLst/>
              <a:gdLst>
                <a:gd name="T0" fmla="*/ 24 w 25"/>
                <a:gd name="T1" fmla="*/ 26 h 27"/>
                <a:gd name="T2" fmla="*/ 10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0" y="0"/>
                  </a:lnTo>
                  <a:lnTo>
                    <a:pt x="0" y="14"/>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8" name="Freeform 3788"/>
            <p:cNvSpPr>
              <a:spLocks/>
            </p:cNvSpPr>
            <p:nvPr/>
          </p:nvSpPr>
          <p:spPr bwMode="auto">
            <a:xfrm>
              <a:off x="2756" y="2632"/>
              <a:ext cx="27" cy="27"/>
            </a:xfrm>
            <a:custGeom>
              <a:avLst/>
              <a:gdLst>
                <a:gd name="T0" fmla="*/ 14 w 27"/>
                <a:gd name="T1" fmla="*/ 26 h 27"/>
                <a:gd name="T2" fmla="*/ 26 w 27"/>
                <a:gd name="T3" fmla="*/ 0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0"/>
                  </a:lnTo>
                  <a:lnTo>
                    <a:pt x="0" y="0"/>
                  </a:lnTo>
                  <a:lnTo>
                    <a:pt x="1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69" name="Freeform 3789"/>
            <p:cNvSpPr>
              <a:spLocks/>
            </p:cNvSpPr>
            <p:nvPr/>
          </p:nvSpPr>
          <p:spPr bwMode="auto">
            <a:xfrm>
              <a:off x="2765" y="2640"/>
              <a:ext cx="22" cy="28"/>
            </a:xfrm>
            <a:custGeom>
              <a:avLst/>
              <a:gdLst>
                <a:gd name="T0" fmla="*/ 0 w 22"/>
                <a:gd name="T1" fmla="*/ 27 h 28"/>
                <a:gd name="T2" fmla="*/ 0 w 22"/>
                <a:gd name="T3" fmla="*/ 27 h 28"/>
                <a:gd name="T4" fmla="*/ 21 w 22"/>
                <a:gd name="T5" fmla="*/ 0 h 28"/>
                <a:gd name="T6" fmla="*/ 0 w 22"/>
                <a:gd name="T7" fmla="*/ 27 h 28"/>
                <a:gd name="T8" fmla="*/ 0 60000 65536"/>
                <a:gd name="T9" fmla="*/ 0 60000 65536"/>
                <a:gd name="T10" fmla="*/ 0 60000 65536"/>
                <a:gd name="T11" fmla="*/ 0 60000 65536"/>
                <a:gd name="T12" fmla="*/ 0 w 22"/>
                <a:gd name="T13" fmla="*/ 0 h 28"/>
                <a:gd name="T14" fmla="*/ 22 w 22"/>
                <a:gd name="T15" fmla="*/ 28 h 28"/>
              </a:gdLst>
              <a:ahLst/>
              <a:cxnLst>
                <a:cxn ang="T8">
                  <a:pos x="T0" y="T1"/>
                </a:cxn>
                <a:cxn ang="T9">
                  <a:pos x="T2" y="T3"/>
                </a:cxn>
                <a:cxn ang="T10">
                  <a:pos x="T4" y="T5"/>
                </a:cxn>
                <a:cxn ang="T11">
                  <a:pos x="T6" y="T7"/>
                </a:cxn>
              </a:cxnLst>
              <a:rect l="T12" t="T13" r="T14" b="T15"/>
              <a:pathLst>
                <a:path w="22" h="28">
                  <a:moveTo>
                    <a:pt x="0" y="27"/>
                  </a:moveTo>
                  <a:lnTo>
                    <a:pt x="0" y="27"/>
                  </a:lnTo>
                  <a:lnTo>
                    <a:pt x="21"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0" name="Line 3790"/>
            <p:cNvSpPr>
              <a:spLocks noChangeShapeType="1"/>
            </p:cNvSpPr>
            <p:nvPr/>
          </p:nvSpPr>
          <p:spPr bwMode="auto">
            <a:xfrm>
              <a:off x="2765" y="264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1" name="Freeform 3791"/>
            <p:cNvSpPr>
              <a:spLocks/>
            </p:cNvSpPr>
            <p:nvPr/>
          </p:nvSpPr>
          <p:spPr bwMode="auto">
            <a:xfrm>
              <a:off x="2765" y="2632"/>
              <a:ext cx="22" cy="27"/>
            </a:xfrm>
            <a:custGeom>
              <a:avLst/>
              <a:gdLst>
                <a:gd name="T0" fmla="*/ 21 w 22"/>
                <a:gd name="T1" fmla="*/ 26 h 27"/>
                <a:gd name="T2" fmla="*/ 9 w 22"/>
                <a:gd name="T3" fmla="*/ 0 h 27"/>
                <a:gd name="T4" fmla="*/ 0 w 22"/>
                <a:gd name="T5" fmla="*/ 18 h 27"/>
                <a:gd name="T6" fmla="*/ 21 w 22"/>
                <a:gd name="T7" fmla="*/ 26 h 27"/>
                <a:gd name="T8" fmla="*/ 0 60000 65536"/>
                <a:gd name="T9" fmla="*/ 0 60000 65536"/>
                <a:gd name="T10" fmla="*/ 0 60000 65536"/>
                <a:gd name="T11" fmla="*/ 0 60000 65536"/>
                <a:gd name="T12" fmla="*/ 0 w 22"/>
                <a:gd name="T13" fmla="*/ 0 h 27"/>
                <a:gd name="T14" fmla="*/ 22 w 22"/>
                <a:gd name="T15" fmla="*/ 27 h 27"/>
              </a:gdLst>
              <a:ahLst/>
              <a:cxnLst>
                <a:cxn ang="T8">
                  <a:pos x="T0" y="T1"/>
                </a:cxn>
                <a:cxn ang="T9">
                  <a:pos x="T2" y="T3"/>
                </a:cxn>
                <a:cxn ang="T10">
                  <a:pos x="T4" y="T5"/>
                </a:cxn>
                <a:cxn ang="T11">
                  <a:pos x="T6" y="T7"/>
                </a:cxn>
              </a:cxnLst>
              <a:rect l="T12" t="T13" r="T14" b="T15"/>
              <a:pathLst>
                <a:path w="22" h="27">
                  <a:moveTo>
                    <a:pt x="21" y="26"/>
                  </a:moveTo>
                  <a:lnTo>
                    <a:pt x="9" y="0"/>
                  </a:lnTo>
                  <a:lnTo>
                    <a:pt x="0" y="18"/>
                  </a:lnTo>
                  <a:lnTo>
                    <a:pt x="21"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2" name="Freeform 3792"/>
            <p:cNvSpPr>
              <a:spLocks/>
            </p:cNvSpPr>
            <p:nvPr/>
          </p:nvSpPr>
          <p:spPr bwMode="auto">
            <a:xfrm>
              <a:off x="2770" y="2632"/>
              <a:ext cx="25" cy="27"/>
            </a:xfrm>
            <a:custGeom>
              <a:avLst/>
              <a:gdLst>
                <a:gd name="T0" fmla="*/ 13 w 25"/>
                <a:gd name="T1" fmla="*/ 26 h 27"/>
                <a:gd name="T2" fmla="*/ 24 w 25"/>
                <a:gd name="T3" fmla="*/ 10 h 27"/>
                <a:gd name="T4" fmla="*/ 0 w 25"/>
                <a:gd name="T5" fmla="*/ 0 h 27"/>
                <a:gd name="T6" fmla="*/ 13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3" y="26"/>
                  </a:moveTo>
                  <a:lnTo>
                    <a:pt x="24" y="10"/>
                  </a:lnTo>
                  <a:lnTo>
                    <a:pt x="0" y="0"/>
                  </a:lnTo>
                  <a:lnTo>
                    <a:pt x="1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3" name="Freeform 3793"/>
            <p:cNvSpPr>
              <a:spLocks/>
            </p:cNvSpPr>
            <p:nvPr/>
          </p:nvSpPr>
          <p:spPr bwMode="auto">
            <a:xfrm>
              <a:off x="2776" y="2647"/>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4" name="Line 3794"/>
            <p:cNvSpPr>
              <a:spLocks noChangeShapeType="1"/>
            </p:cNvSpPr>
            <p:nvPr/>
          </p:nvSpPr>
          <p:spPr bwMode="auto">
            <a:xfrm>
              <a:off x="2776" y="265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5" name="Freeform 3795"/>
            <p:cNvSpPr>
              <a:spLocks/>
            </p:cNvSpPr>
            <p:nvPr/>
          </p:nvSpPr>
          <p:spPr bwMode="auto">
            <a:xfrm>
              <a:off x="2776" y="2640"/>
              <a:ext cx="25" cy="28"/>
            </a:xfrm>
            <a:custGeom>
              <a:avLst/>
              <a:gdLst>
                <a:gd name="T0" fmla="*/ 24 w 25"/>
                <a:gd name="T1" fmla="*/ 27 h 28"/>
                <a:gd name="T2" fmla="*/ 12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6" name="Freeform 3796"/>
            <p:cNvSpPr>
              <a:spLocks/>
            </p:cNvSpPr>
            <p:nvPr/>
          </p:nvSpPr>
          <p:spPr bwMode="auto">
            <a:xfrm>
              <a:off x="2782" y="2640"/>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7" name="Freeform 3797"/>
            <p:cNvSpPr>
              <a:spLocks/>
            </p:cNvSpPr>
            <p:nvPr/>
          </p:nvSpPr>
          <p:spPr bwMode="auto">
            <a:xfrm>
              <a:off x="2786" y="2647"/>
              <a:ext cx="29" cy="28"/>
            </a:xfrm>
            <a:custGeom>
              <a:avLst/>
              <a:gdLst>
                <a:gd name="T0" fmla="*/ 0 w 29"/>
                <a:gd name="T1" fmla="*/ 27 h 28"/>
                <a:gd name="T2" fmla="*/ 0 w 29"/>
                <a:gd name="T3" fmla="*/ 27 h 28"/>
                <a:gd name="T4" fmla="*/ 28 w 29"/>
                <a:gd name="T5" fmla="*/ 0 h 28"/>
                <a:gd name="T6" fmla="*/ 0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27"/>
                  </a:moveTo>
                  <a:lnTo>
                    <a:pt x="0" y="27"/>
                  </a:lnTo>
                  <a:lnTo>
                    <a:pt x="28"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8" name="Line 3798"/>
            <p:cNvSpPr>
              <a:spLocks noChangeShapeType="1"/>
            </p:cNvSpPr>
            <p:nvPr/>
          </p:nvSpPr>
          <p:spPr bwMode="auto">
            <a:xfrm>
              <a:off x="2786" y="2653"/>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79" name="Freeform 3799"/>
            <p:cNvSpPr>
              <a:spLocks/>
            </p:cNvSpPr>
            <p:nvPr/>
          </p:nvSpPr>
          <p:spPr bwMode="auto">
            <a:xfrm>
              <a:off x="2786" y="2640"/>
              <a:ext cx="29" cy="28"/>
            </a:xfrm>
            <a:custGeom>
              <a:avLst/>
              <a:gdLst>
                <a:gd name="T0" fmla="*/ 28 w 29"/>
                <a:gd name="T1" fmla="*/ 27 h 28"/>
                <a:gd name="T2" fmla="*/ 15 w 29"/>
                <a:gd name="T3" fmla="*/ 0 h 28"/>
                <a:gd name="T4" fmla="*/ 0 w 29"/>
                <a:gd name="T5" fmla="*/ 16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5" y="0"/>
                  </a:lnTo>
                  <a:lnTo>
                    <a:pt x="0" y="16"/>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0" name="Freeform 3800"/>
            <p:cNvSpPr>
              <a:spLocks/>
            </p:cNvSpPr>
            <p:nvPr/>
          </p:nvSpPr>
          <p:spPr bwMode="auto">
            <a:xfrm>
              <a:off x="2794" y="2640"/>
              <a:ext cx="27" cy="28"/>
            </a:xfrm>
            <a:custGeom>
              <a:avLst/>
              <a:gdLst>
                <a:gd name="T0" fmla="*/ 13 w 27"/>
                <a:gd name="T1" fmla="*/ 27 h 28"/>
                <a:gd name="T2" fmla="*/ 26 w 27"/>
                <a:gd name="T3" fmla="*/ 8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8"/>
                  </a:lnTo>
                  <a:lnTo>
                    <a:pt x="0" y="0"/>
                  </a:lnTo>
                  <a:lnTo>
                    <a:pt x="1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1" name="Freeform 3801"/>
            <p:cNvSpPr>
              <a:spLocks/>
            </p:cNvSpPr>
            <p:nvPr/>
          </p:nvSpPr>
          <p:spPr bwMode="auto">
            <a:xfrm>
              <a:off x="2800" y="2653"/>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2" name="Line 3802"/>
            <p:cNvSpPr>
              <a:spLocks noChangeShapeType="1"/>
            </p:cNvSpPr>
            <p:nvPr/>
          </p:nvSpPr>
          <p:spPr bwMode="auto">
            <a:xfrm>
              <a:off x="2800" y="266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3" name="Freeform 3803"/>
            <p:cNvSpPr>
              <a:spLocks/>
            </p:cNvSpPr>
            <p:nvPr/>
          </p:nvSpPr>
          <p:spPr bwMode="auto">
            <a:xfrm>
              <a:off x="2800" y="2647"/>
              <a:ext cx="25" cy="28"/>
            </a:xfrm>
            <a:custGeom>
              <a:avLst/>
              <a:gdLst>
                <a:gd name="T0" fmla="*/ 24 w 25"/>
                <a:gd name="T1" fmla="*/ 27 h 28"/>
                <a:gd name="T2" fmla="*/ 10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0"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4" name="Freeform 3804"/>
            <p:cNvSpPr>
              <a:spLocks/>
            </p:cNvSpPr>
            <p:nvPr/>
          </p:nvSpPr>
          <p:spPr bwMode="auto">
            <a:xfrm>
              <a:off x="2803" y="2647"/>
              <a:ext cx="29" cy="28"/>
            </a:xfrm>
            <a:custGeom>
              <a:avLst/>
              <a:gdLst>
                <a:gd name="T0" fmla="*/ 15 w 29"/>
                <a:gd name="T1" fmla="*/ 27 h 28"/>
                <a:gd name="T2" fmla="*/ 28 w 29"/>
                <a:gd name="T3" fmla="*/ 0 h 28"/>
                <a:gd name="T4" fmla="*/ 0 w 29"/>
                <a:gd name="T5" fmla="*/ 0 h 28"/>
                <a:gd name="T6" fmla="*/ 15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15" y="27"/>
                  </a:moveTo>
                  <a:lnTo>
                    <a:pt x="28" y="0"/>
                  </a:lnTo>
                  <a:lnTo>
                    <a:pt x="0" y="0"/>
                  </a:lnTo>
                  <a:lnTo>
                    <a:pt x="1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5" name="Freeform 3805"/>
            <p:cNvSpPr>
              <a:spLocks/>
            </p:cNvSpPr>
            <p:nvPr/>
          </p:nvSpPr>
          <p:spPr bwMode="auto">
            <a:xfrm>
              <a:off x="2814" y="2653"/>
              <a:ext cx="24" cy="28"/>
            </a:xfrm>
            <a:custGeom>
              <a:avLst/>
              <a:gdLst>
                <a:gd name="T0" fmla="*/ 0 w 24"/>
                <a:gd name="T1" fmla="*/ 27 h 28"/>
                <a:gd name="T2" fmla="*/ 0 w 24"/>
                <a:gd name="T3" fmla="*/ 27 h 28"/>
                <a:gd name="T4" fmla="*/ 23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0" y="27"/>
                  </a:lnTo>
                  <a:lnTo>
                    <a:pt x="23"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6" name="Line 3806"/>
            <p:cNvSpPr>
              <a:spLocks noChangeShapeType="1"/>
            </p:cNvSpPr>
            <p:nvPr/>
          </p:nvSpPr>
          <p:spPr bwMode="auto">
            <a:xfrm>
              <a:off x="2814" y="2661"/>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7" name="Freeform 3807"/>
            <p:cNvSpPr>
              <a:spLocks/>
            </p:cNvSpPr>
            <p:nvPr/>
          </p:nvSpPr>
          <p:spPr bwMode="auto">
            <a:xfrm>
              <a:off x="2814" y="2647"/>
              <a:ext cx="24" cy="28"/>
            </a:xfrm>
            <a:custGeom>
              <a:avLst/>
              <a:gdLst>
                <a:gd name="T0" fmla="*/ 23 w 24"/>
                <a:gd name="T1" fmla="*/ 27 h 28"/>
                <a:gd name="T2" fmla="*/ 11 w 24"/>
                <a:gd name="T3" fmla="*/ 0 h 28"/>
                <a:gd name="T4" fmla="*/ 0 w 24"/>
                <a:gd name="T5" fmla="*/ 27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11" y="0"/>
                  </a:lnTo>
                  <a:lnTo>
                    <a:pt x="0" y="27"/>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8" name="Freeform 3808"/>
            <p:cNvSpPr>
              <a:spLocks/>
            </p:cNvSpPr>
            <p:nvPr/>
          </p:nvSpPr>
          <p:spPr bwMode="auto">
            <a:xfrm>
              <a:off x="2820" y="2647"/>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89" name="Freeform 3809"/>
            <p:cNvSpPr>
              <a:spLocks/>
            </p:cNvSpPr>
            <p:nvPr/>
          </p:nvSpPr>
          <p:spPr bwMode="auto">
            <a:xfrm>
              <a:off x="2823" y="266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90" name="Line 3810"/>
            <p:cNvSpPr>
              <a:spLocks noChangeShapeType="1"/>
            </p:cNvSpPr>
            <p:nvPr/>
          </p:nvSpPr>
          <p:spPr bwMode="auto">
            <a:xfrm>
              <a:off x="2823" y="2661"/>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91" name="Freeform 3811"/>
            <p:cNvSpPr>
              <a:spLocks/>
            </p:cNvSpPr>
            <p:nvPr/>
          </p:nvSpPr>
          <p:spPr bwMode="auto">
            <a:xfrm>
              <a:off x="2823" y="2647"/>
              <a:ext cx="27" cy="28"/>
            </a:xfrm>
            <a:custGeom>
              <a:avLst/>
              <a:gdLst>
                <a:gd name="T0" fmla="*/ 26 w 27"/>
                <a:gd name="T1" fmla="*/ 27 h 28"/>
                <a:gd name="T2" fmla="*/ 0 w 27"/>
                <a:gd name="T3" fmla="*/ 0 h 28"/>
                <a:gd name="T4" fmla="*/ 0 w 27"/>
                <a:gd name="T5" fmla="*/ 1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18"/>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92" name="Freeform 3812"/>
            <p:cNvSpPr>
              <a:spLocks/>
            </p:cNvSpPr>
            <p:nvPr/>
          </p:nvSpPr>
          <p:spPr bwMode="auto">
            <a:xfrm>
              <a:off x="2823" y="2647"/>
              <a:ext cx="27" cy="28"/>
            </a:xfrm>
            <a:custGeom>
              <a:avLst/>
              <a:gdLst>
                <a:gd name="T0" fmla="*/ 26 w 27"/>
                <a:gd name="T1" fmla="*/ 27 h 28"/>
                <a:gd name="T2" fmla="*/ 26 w 27"/>
                <a:gd name="T3" fmla="*/ 8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8"/>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grpSp>
      <p:grpSp>
        <p:nvGrpSpPr>
          <p:cNvPr id="16389" name="Group 3813"/>
          <p:cNvGrpSpPr>
            <a:grpSpLocks/>
          </p:cNvGrpSpPr>
          <p:nvPr/>
        </p:nvGrpSpPr>
        <p:grpSpPr bwMode="auto">
          <a:xfrm>
            <a:off x="6537325" y="3494915"/>
            <a:ext cx="1436688" cy="234950"/>
            <a:chOff x="1249" y="1728"/>
            <a:chExt cx="1825" cy="961"/>
          </a:xfrm>
        </p:grpSpPr>
        <p:sp>
          <p:nvSpPr>
            <p:cNvPr id="19405" name="Line 3814"/>
            <p:cNvSpPr>
              <a:spLocks noChangeShapeType="1"/>
            </p:cNvSpPr>
            <p:nvPr/>
          </p:nvSpPr>
          <p:spPr bwMode="auto">
            <a:xfrm>
              <a:off x="3031"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6" name="Freeform 3815"/>
            <p:cNvSpPr>
              <a:spLocks/>
            </p:cNvSpPr>
            <p:nvPr/>
          </p:nvSpPr>
          <p:spPr bwMode="auto">
            <a:xfrm>
              <a:off x="3031" y="2661"/>
              <a:ext cx="43" cy="28"/>
            </a:xfrm>
            <a:custGeom>
              <a:avLst/>
              <a:gdLst>
                <a:gd name="T0" fmla="*/ 0 w 43"/>
                <a:gd name="T1" fmla="*/ 27 h 28"/>
                <a:gd name="T2" fmla="*/ 42 w 43"/>
                <a:gd name="T3" fmla="*/ 0 h 28"/>
                <a:gd name="T4" fmla="*/ 42 w 43"/>
                <a:gd name="T5" fmla="*/ 27 h 28"/>
                <a:gd name="T6" fmla="*/ 0 w 43"/>
                <a:gd name="T7" fmla="*/ 27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27"/>
                  </a:moveTo>
                  <a:lnTo>
                    <a:pt x="42" y="0"/>
                  </a:lnTo>
                  <a:lnTo>
                    <a:pt x="42"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7" name="Freeform 3816"/>
            <p:cNvSpPr>
              <a:spLocks/>
            </p:cNvSpPr>
            <p:nvPr/>
          </p:nvSpPr>
          <p:spPr bwMode="auto">
            <a:xfrm>
              <a:off x="3031" y="2661"/>
              <a:ext cx="43" cy="28"/>
            </a:xfrm>
            <a:custGeom>
              <a:avLst/>
              <a:gdLst>
                <a:gd name="T0" fmla="*/ 0 w 43"/>
                <a:gd name="T1" fmla="*/ 0 h 28"/>
                <a:gd name="T2" fmla="*/ 42 w 43"/>
                <a:gd name="T3" fmla="*/ 0 h 28"/>
                <a:gd name="T4" fmla="*/ 0 w 43"/>
                <a:gd name="T5" fmla="*/ 27 h 28"/>
                <a:gd name="T6" fmla="*/ 0 w 43"/>
                <a:gd name="T7" fmla="*/ 0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0"/>
                  </a:moveTo>
                  <a:lnTo>
                    <a:pt x="42"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8" name="Freeform 3817"/>
            <p:cNvSpPr>
              <a:spLocks/>
            </p:cNvSpPr>
            <p:nvPr/>
          </p:nvSpPr>
          <p:spPr bwMode="auto">
            <a:xfrm>
              <a:off x="3031" y="2661"/>
              <a:ext cx="43" cy="28"/>
            </a:xfrm>
            <a:custGeom>
              <a:avLst/>
              <a:gdLst>
                <a:gd name="T0" fmla="*/ 0 w 43"/>
                <a:gd name="T1" fmla="*/ 27 h 28"/>
                <a:gd name="T2" fmla="*/ 42 w 43"/>
                <a:gd name="T3" fmla="*/ 27 h 28"/>
                <a:gd name="T4" fmla="*/ 42 w 43"/>
                <a:gd name="T5" fmla="*/ 0 h 28"/>
                <a:gd name="T6" fmla="*/ 0 w 43"/>
                <a:gd name="T7" fmla="*/ 0 h 28"/>
                <a:gd name="T8" fmla="*/ 0 w 43"/>
                <a:gd name="T9" fmla="*/ 27 h 28"/>
                <a:gd name="T10" fmla="*/ 0 w 43"/>
                <a:gd name="T11" fmla="*/ 27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0" y="27"/>
                  </a:moveTo>
                  <a:lnTo>
                    <a:pt x="42" y="27"/>
                  </a:lnTo>
                  <a:lnTo>
                    <a:pt x="42"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9" name="Line 3818"/>
            <p:cNvSpPr>
              <a:spLocks noChangeShapeType="1"/>
            </p:cNvSpPr>
            <p:nvPr/>
          </p:nvSpPr>
          <p:spPr bwMode="auto">
            <a:xfrm>
              <a:off x="2993"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0" name="Freeform 3819"/>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1" name="Line 3820"/>
            <p:cNvSpPr>
              <a:spLocks noChangeShapeType="1"/>
            </p:cNvSpPr>
            <p:nvPr/>
          </p:nvSpPr>
          <p:spPr bwMode="auto">
            <a:xfrm>
              <a:off x="2993"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2" name="Freeform 3821"/>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3" name="Line 3822"/>
            <p:cNvSpPr>
              <a:spLocks noChangeShapeType="1"/>
            </p:cNvSpPr>
            <p:nvPr/>
          </p:nvSpPr>
          <p:spPr bwMode="auto">
            <a:xfrm>
              <a:off x="2949" y="2669"/>
              <a:ext cx="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4" name="Freeform 3823"/>
            <p:cNvSpPr>
              <a:spLocks/>
            </p:cNvSpPr>
            <p:nvPr/>
          </p:nvSpPr>
          <p:spPr bwMode="auto">
            <a:xfrm>
              <a:off x="2949" y="2661"/>
              <a:ext cx="45" cy="28"/>
            </a:xfrm>
            <a:custGeom>
              <a:avLst/>
              <a:gdLst>
                <a:gd name="T0" fmla="*/ 0 w 45"/>
                <a:gd name="T1" fmla="*/ 27 h 28"/>
                <a:gd name="T2" fmla="*/ 44 w 45"/>
                <a:gd name="T3" fmla="*/ 0 h 28"/>
                <a:gd name="T4" fmla="*/ 44 w 45"/>
                <a:gd name="T5" fmla="*/ 27 h 28"/>
                <a:gd name="T6" fmla="*/ 0 w 45"/>
                <a:gd name="T7" fmla="*/ 27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27"/>
                  </a:moveTo>
                  <a:lnTo>
                    <a:pt x="44" y="0"/>
                  </a:lnTo>
                  <a:lnTo>
                    <a:pt x="44"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5" name="Freeform 3824"/>
            <p:cNvSpPr>
              <a:spLocks/>
            </p:cNvSpPr>
            <p:nvPr/>
          </p:nvSpPr>
          <p:spPr bwMode="auto">
            <a:xfrm>
              <a:off x="2949" y="2661"/>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6" name="Freeform 3825"/>
            <p:cNvSpPr>
              <a:spLocks/>
            </p:cNvSpPr>
            <p:nvPr/>
          </p:nvSpPr>
          <p:spPr bwMode="auto">
            <a:xfrm>
              <a:off x="2949" y="2661"/>
              <a:ext cx="45" cy="28"/>
            </a:xfrm>
            <a:custGeom>
              <a:avLst/>
              <a:gdLst>
                <a:gd name="T0" fmla="*/ 0 w 45"/>
                <a:gd name="T1" fmla="*/ 27 h 28"/>
                <a:gd name="T2" fmla="*/ 44 w 45"/>
                <a:gd name="T3" fmla="*/ 27 h 28"/>
                <a:gd name="T4" fmla="*/ 44 w 45"/>
                <a:gd name="T5" fmla="*/ 0 h 28"/>
                <a:gd name="T6" fmla="*/ 0 w 45"/>
                <a:gd name="T7" fmla="*/ 0 h 28"/>
                <a:gd name="T8" fmla="*/ 0 w 45"/>
                <a:gd name="T9" fmla="*/ 27 h 28"/>
                <a:gd name="T10" fmla="*/ 0 w 45"/>
                <a:gd name="T11" fmla="*/ 27 h 28"/>
                <a:gd name="T12" fmla="*/ 0 60000 65536"/>
                <a:gd name="T13" fmla="*/ 0 60000 65536"/>
                <a:gd name="T14" fmla="*/ 0 60000 65536"/>
                <a:gd name="T15" fmla="*/ 0 60000 65536"/>
                <a:gd name="T16" fmla="*/ 0 60000 65536"/>
                <a:gd name="T17" fmla="*/ 0 60000 65536"/>
                <a:gd name="T18" fmla="*/ 0 w 45"/>
                <a:gd name="T19" fmla="*/ 0 h 28"/>
                <a:gd name="T20" fmla="*/ 45 w 4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5" h="28">
                  <a:moveTo>
                    <a:pt x="0" y="27"/>
                  </a:moveTo>
                  <a:lnTo>
                    <a:pt x="44" y="27"/>
                  </a:lnTo>
                  <a:lnTo>
                    <a:pt x="44"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7" name="Line 3826"/>
            <p:cNvSpPr>
              <a:spLocks noChangeShapeType="1"/>
            </p:cNvSpPr>
            <p:nvPr/>
          </p:nvSpPr>
          <p:spPr bwMode="auto">
            <a:xfrm>
              <a:off x="2910" y="2669"/>
              <a:ext cx="3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8" name="Freeform 3827"/>
            <p:cNvSpPr>
              <a:spLocks/>
            </p:cNvSpPr>
            <p:nvPr/>
          </p:nvSpPr>
          <p:spPr bwMode="auto">
            <a:xfrm>
              <a:off x="2910" y="2661"/>
              <a:ext cx="40" cy="28"/>
            </a:xfrm>
            <a:custGeom>
              <a:avLst/>
              <a:gdLst>
                <a:gd name="T0" fmla="*/ 0 w 40"/>
                <a:gd name="T1" fmla="*/ 27 h 28"/>
                <a:gd name="T2" fmla="*/ 39 w 40"/>
                <a:gd name="T3" fmla="*/ 0 h 28"/>
                <a:gd name="T4" fmla="*/ 39 w 40"/>
                <a:gd name="T5" fmla="*/ 27 h 28"/>
                <a:gd name="T6" fmla="*/ 0 w 40"/>
                <a:gd name="T7" fmla="*/ 27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27"/>
                  </a:moveTo>
                  <a:lnTo>
                    <a:pt x="39" y="0"/>
                  </a:lnTo>
                  <a:lnTo>
                    <a:pt x="39"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19" name="Freeform 3828"/>
            <p:cNvSpPr>
              <a:spLocks/>
            </p:cNvSpPr>
            <p:nvPr/>
          </p:nvSpPr>
          <p:spPr bwMode="auto">
            <a:xfrm>
              <a:off x="2910" y="2661"/>
              <a:ext cx="40" cy="28"/>
            </a:xfrm>
            <a:custGeom>
              <a:avLst/>
              <a:gdLst>
                <a:gd name="T0" fmla="*/ 0 w 40"/>
                <a:gd name="T1" fmla="*/ 0 h 28"/>
                <a:gd name="T2" fmla="*/ 39 w 40"/>
                <a:gd name="T3" fmla="*/ 0 h 28"/>
                <a:gd name="T4" fmla="*/ 0 w 40"/>
                <a:gd name="T5" fmla="*/ 27 h 28"/>
                <a:gd name="T6" fmla="*/ 0 w 40"/>
                <a:gd name="T7" fmla="*/ 0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0"/>
                  </a:moveTo>
                  <a:lnTo>
                    <a:pt x="39"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0" name="Freeform 3829"/>
            <p:cNvSpPr>
              <a:spLocks/>
            </p:cNvSpPr>
            <p:nvPr/>
          </p:nvSpPr>
          <p:spPr bwMode="auto">
            <a:xfrm>
              <a:off x="2910" y="2661"/>
              <a:ext cx="40" cy="28"/>
            </a:xfrm>
            <a:custGeom>
              <a:avLst/>
              <a:gdLst>
                <a:gd name="T0" fmla="*/ 0 w 40"/>
                <a:gd name="T1" fmla="*/ 27 h 28"/>
                <a:gd name="T2" fmla="*/ 39 w 40"/>
                <a:gd name="T3" fmla="*/ 27 h 28"/>
                <a:gd name="T4" fmla="*/ 39 w 40"/>
                <a:gd name="T5" fmla="*/ 0 h 28"/>
                <a:gd name="T6" fmla="*/ 0 w 40"/>
                <a:gd name="T7" fmla="*/ 0 h 28"/>
                <a:gd name="T8" fmla="*/ 0 w 40"/>
                <a:gd name="T9" fmla="*/ 27 h 28"/>
                <a:gd name="T10" fmla="*/ 0 w 40"/>
                <a:gd name="T11" fmla="*/ 27 h 28"/>
                <a:gd name="T12" fmla="*/ 0 60000 65536"/>
                <a:gd name="T13" fmla="*/ 0 60000 65536"/>
                <a:gd name="T14" fmla="*/ 0 60000 65536"/>
                <a:gd name="T15" fmla="*/ 0 60000 65536"/>
                <a:gd name="T16" fmla="*/ 0 60000 65536"/>
                <a:gd name="T17" fmla="*/ 0 60000 65536"/>
                <a:gd name="T18" fmla="*/ 0 w 40"/>
                <a:gd name="T19" fmla="*/ 0 h 28"/>
                <a:gd name="T20" fmla="*/ 40 w 4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0" h="28">
                  <a:moveTo>
                    <a:pt x="0" y="27"/>
                  </a:moveTo>
                  <a:lnTo>
                    <a:pt x="39" y="27"/>
                  </a:lnTo>
                  <a:lnTo>
                    <a:pt x="39"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1" name="Line 3830"/>
            <p:cNvSpPr>
              <a:spLocks noChangeShapeType="1"/>
            </p:cNvSpPr>
            <p:nvPr/>
          </p:nvSpPr>
          <p:spPr bwMode="auto">
            <a:xfrm>
              <a:off x="2869"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2" name="Freeform 3831"/>
            <p:cNvSpPr>
              <a:spLocks/>
            </p:cNvSpPr>
            <p:nvPr/>
          </p:nvSpPr>
          <p:spPr bwMode="auto">
            <a:xfrm>
              <a:off x="2869"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3" name="Freeform 3832"/>
            <p:cNvSpPr>
              <a:spLocks/>
            </p:cNvSpPr>
            <p:nvPr/>
          </p:nvSpPr>
          <p:spPr bwMode="auto">
            <a:xfrm>
              <a:off x="2869"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4" name="Freeform 3833"/>
            <p:cNvSpPr>
              <a:spLocks/>
            </p:cNvSpPr>
            <p:nvPr/>
          </p:nvSpPr>
          <p:spPr bwMode="auto">
            <a:xfrm>
              <a:off x="2869"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5" name="Line 3834"/>
            <p:cNvSpPr>
              <a:spLocks noChangeShapeType="1"/>
            </p:cNvSpPr>
            <p:nvPr/>
          </p:nvSpPr>
          <p:spPr bwMode="auto">
            <a:xfrm>
              <a:off x="2832"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6" name="Freeform 3835"/>
            <p:cNvSpPr>
              <a:spLocks/>
            </p:cNvSpPr>
            <p:nvPr/>
          </p:nvSpPr>
          <p:spPr bwMode="auto">
            <a:xfrm>
              <a:off x="2832" y="2653"/>
              <a:ext cx="38" cy="28"/>
            </a:xfrm>
            <a:custGeom>
              <a:avLst/>
              <a:gdLst>
                <a:gd name="T0" fmla="*/ 0 w 38"/>
                <a:gd name="T1" fmla="*/ 27 h 28"/>
                <a:gd name="T2" fmla="*/ 37 w 38"/>
                <a:gd name="T3" fmla="*/ 0 h 28"/>
                <a:gd name="T4" fmla="*/ 37 w 38"/>
                <a:gd name="T5" fmla="*/ 27 h 28"/>
                <a:gd name="T6" fmla="*/ 0 w 38"/>
                <a:gd name="T7" fmla="*/ 27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27"/>
                  </a:moveTo>
                  <a:lnTo>
                    <a:pt x="37" y="0"/>
                  </a:lnTo>
                  <a:lnTo>
                    <a:pt x="37"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7" name="Freeform 3836"/>
            <p:cNvSpPr>
              <a:spLocks/>
            </p:cNvSpPr>
            <p:nvPr/>
          </p:nvSpPr>
          <p:spPr bwMode="auto">
            <a:xfrm>
              <a:off x="2832" y="2653"/>
              <a:ext cx="38" cy="28"/>
            </a:xfrm>
            <a:custGeom>
              <a:avLst/>
              <a:gdLst>
                <a:gd name="T0" fmla="*/ 0 w 38"/>
                <a:gd name="T1" fmla="*/ 0 h 28"/>
                <a:gd name="T2" fmla="*/ 37 w 38"/>
                <a:gd name="T3" fmla="*/ 0 h 28"/>
                <a:gd name="T4" fmla="*/ 0 w 38"/>
                <a:gd name="T5" fmla="*/ 27 h 28"/>
                <a:gd name="T6" fmla="*/ 0 w 38"/>
                <a:gd name="T7" fmla="*/ 0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0"/>
                  </a:moveTo>
                  <a:lnTo>
                    <a:pt x="37"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8" name="Freeform 3837"/>
            <p:cNvSpPr>
              <a:spLocks/>
            </p:cNvSpPr>
            <p:nvPr/>
          </p:nvSpPr>
          <p:spPr bwMode="auto">
            <a:xfrm>
              <a:off x="2832" y="2653"/>
              <a:ext cx="38" cy="28"/>
            </a:xfrm>
            <a:custGeom>
              <a:avLst/>
              <a:gdLst>
                <a:gd name="T0" fmla="*/ 0 w 38"/>
                <a:gd name="T1" fmla="*/ 27 h 28"/>
                <a:gd name="T2" fmla="*/ 37 w 38"/>
                <a:gd name="T3" fmla="*/ 27 h 28"/>
                <a:gd name="T4" fmla="*/ 37 w 38"/>
                <a:gd name="T5" fmla="*/ 0 h 28"/>
                <a:gd name="T6" fmla="*/ 0 w 38"/>
                <a:gd name="T7" fmla="*/ 0 h 28"/>
                <a:gd name="T8" fmla="*/ 0 w 38"/>
                <a:gd name="T9" fmla="*/ 27 h 28"/>
                <a:gd name="T10" fmla="*/ 0 w 38"/>
                <a:gd name="T11" fmla="*/ 27 h 28"/>
                <a:gd name="T12" fmla="*/ 0 60000 65536"/>
                <a:gd name="T13" fmla="*/ 0 60000 65536"/>
                <a:gd name="T14" fmla="*/ 0 60000 65536"/>
                <a:gd name="T15" fmla="*/ 0 60000 65536"/>
                <a:gd name="T16" fmla="*/ 0 60000 65536"/>
                <a:gd name="T17" fmla="*/ 0 60000 65536"/>
                <a:gd name="T18" fmla="*/ 0 w 38"/>
                <a:gd name="T19" fmla="*/ 0 h 28"/>
                <a:gd name="T20" fmla="*/ 38 w 3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8" h="28">
                  <a:moveTo>
                    <a:pt x="0" y="27"/>
                  </a:moveTo>
                  <a:lnTo>
                    <a:pt x="37" y="27"/>
                  </a:lnTo>
                  <a:lnTo>
                    <a:pt x="37"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29" name="Line 3838"/>
            <p:cNvSpPr>
              <a:spLocks noChangeShapeType="1"/>
            </p:cNvSpPr>
            <p:nvPr/>
          </p:nvSpPr>
          <p:spPr bwMode="auto">
            <a:xfrm>
              <a:off x="2786"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0" name="Freeform 3839"/>
            <p:cNvSpPr>
              <a:spLocks/>
            </p:cNvSpPr>
            <p:nvPr/>
          </p:nvSpPr>
          <p:spPr bwMode="auto">
            <a:xfrm>
              <a:off x="2786" y="2647"/>
              <a:ext cx="47" cy="28"/>
            </a:xfrm>
            <a:custGeom>
              <a:avLst/>
              <a:gdLst>
                <a:gd name="T0" fmla="*/ 0 w 47"/>
                <a:gd name="T1" fmla="*/ 27 h 28"/>
                <a:gd name="T2" fmla="*/ 46 w 47"/>
                <a:gd name="T3" fmla="*/ 0 h 28"/>
                <a:gd name="T4" fmla="*/ 46 w 47"/>
                <a:gd name="T5" fmla="*/ 27 h 28"/>
                <a:gd name="T6" fmla="*/ 0 w 47"/>
                <a:gd name="T7" fmla="*/ 27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27"/>
                  </a:moveTo>
                  <a:lnTo>
                    <a:pt x="46" y="0"/>
                  </a:lnTo>
                  <a:lnTo>
                    <a:pt x="46"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1" name="Freeform 3840"/>
            <p:cNvSpPr>
              <a:spLocks/>
            </p:cNvSpPr>
            <p:nvPr/>
          </p:nvSpPr>
          <p:spPr bwMode="auto">
            <a:xfrm>
              <a:off x="2786" y="2647"/>
              <a:ext cx="47" cy="28"/>
            </a:xfrm>
            <a:custGeom>
              <a:avLst/>
              <a:gdLst>
                <a:gd name="T0" fmla="*/ 0 w 47"/>
                <a:gd name="T1" fmla="*/ 0 h 28"/>
                <a:gd name="T2" fmla="*/ 46 w 47"/>
                <a:gd name="T3" fmla="*/ 0 h 28"/>
                <a:gd name="T4" fmla="*/ 0 w 47"/>
                <a:gd name="T5" fmla="*/ 27 h 28"/>
                <a:gd name="T6" fmla="*/ 0 w 47"/>
                <a:gd name="T7" fmla="*/ 0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0"/>
                  </a:moveTo>
                  <a:lnTo>
                    <a:pt x="46"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2" name="Freeform 3841"/>
            <p:cNvSpPr>
              <a:spLocks/>
            </p:cNvSpPr>
            <p:nvPr/>
          </p:nvSpPr>
          <p:spPr bwMode="auto">
            <a:xfrm>
              <a:off x="2786" y="2647"/>
              <a:ext cx="47" cy="28"/>
            </a:xfrm>
            <a:custGeom>
              <a:avLst/>
              <a:gdLst>
                <a:gd name="T0" fmla="*/ 0 w 47"/>
                <a:gd name="T1" fmla="*/ 27 h 28"/>
                <a:gd name="T2" fmla="*/ 46 w 47"/>
                <a:gd name="T3" fmla="*/ 27 h 28"/>
                <a:gd name="T4" fmla="*/ 46 w 47"/>
                <a:gd name="T5" fmla="*/ 0 h 28"/>
                <a:gd name="T6" fmla="*/ 0 w 47"/>
                <a:gd name="T7" fmla="*/ 0 h 28"/>
                <a:gd name="T8" fmla="*/ 0 w 47"/>
                <a:gd name="T9" fmla="*/ 27 h 28"/>
                <a:gd name="T10" fmla="*/ 0 w 47"/>
                <a:gd name="T11" fmla="*/ 27 h 28"/>
                <a:gd name="T12" fmla="*/ 0 60000 65536"/>
                <a:gd name="T13" fmla="*/ 0 60000 65536"/>
                <a:gd name="T14" fmla="*/ 0 60000 65536"/>
                <a:gd name="T15" fmla="*/ 0 60000 65536"/>
                <a:gd name="T16" fmla="*/ 0 60000 65536"/>
                <a:gd name="T17" fmla="*/ 0 60000 65536"/>
                <a:gd name="T18" fmla="*/ 0 w 47"/>
                <a:gd name="T19" fmla="*/ 0 h 28"/>
                <a:gd name="T20" fmla="*/ 47 w 4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7" h="28">
                  <a:moveTo>
                    <a:pt x="0" y="27"/>
                  </a:moveTo>
                  <a:lnTo>
                    <a:pt x="46" y="27"/>
                  </a:lnTo>
                  <a:lnTo>
                    <a:pt x="46"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3" name="Line 3842"/>
            <p:cNvSpPr>
              <a:spLocks noChangeShapeType="1"/>
            </p:cNvSpPr>
            <p:nvPr/>
          </p:nvSpPr>
          <p:spPr bwMode="auto">
            <a:xfrm>
              <a:off x="2752" y="2669"/>
              <a:ext cx="3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4" name="Freeform 3843"/>
            <p:cNvSpPr>
              <a:spLocks/>
            </p:cNvSpPr>
            <p:nvPr/>
          </p:nvSpPr>
          <p:spPr bwMode="auto">
            <a:xfrm>
              <a:off x="2752" y="2632"/>
              <a:ext cx="35" cy="38"/>
            </a:xfrm>
            <a:custGeom>
              <a:avLst/>
              <a:gdLst>
                <a:gd name="T0" fmla="*/ 0 w 35"/>
                <a:gd name="T1" fmla="*/ 37 h 38"/>
                <a:gd name="T2" fmla="*/ 34 w 35"/>
                <a:gd name="T3" fmla="*/ 0 h 38"/>
                <a:gd name="T4" fmla="*/ 34 w 35"/>
                <a:gd name="T5" fmla="*/ 37 h 38"/>
                <a:gd name="T6" fmla="*/ 0 w 35"/>
                <a:gd name="T7" fmla="*/ 37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37"/>
                  </a:moveTo>
                  <a:lnTo>
                    <a:pt x="34" y="0"/>
                  </a:lnTo>
                  <a:lnTo>
                    <a:pt x="34" y="37"/>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5" name="Freeform 3844"/>
            <p:cNvSpPr>
              <a:spLocks/>
            </p:cNvSpPr>
            <p:nvPr/>
          </p:nvSpPr>
          <p:spPr bwMode="auto">
            <a:xfrm>
              <a:off x="2752" y="2632"/>
              <a:ext cx="35" cy="38"/>
            </a:xfrm>
            <a:custGeom>
              <a:avLst/>
              <a:gdLst>
                <a:gd name="T0" fmla="*/ 0 w 35"/>
                <a:gd name="T1" fmla="*/ 0 h 38"/>
                <a:gd name="T2" fmla="*/ 34 w 35"/>
                <a:gd name="T3" fmla="*/ 0 h 38"/>
                <a:gd name="T4" fmla="*/ 0 w 35"/>
                <a:gd name="T5" fmla="*/ 37 h 38"/>
                <a:gd name="T6" fmla="*/ 0 w 35"/>
                <a:gd name="T7" fmla="*/ 0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0"/>
                  </a:moveTo>
                  <a:lnTo>
                    <a:pt x="34" y="0"/>
                  </a:lnTo>
                  <a:lnTo>
                    <a:pt x="0" y="3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6" name="Freeform 3845"/>
            <p:cNvSpPr>
              <a:spLocks/>
            </p:cNvSpPr>
            <p:nvPr/>
          </p:nvSpPr>
          <p:spPr bwMode="auto">
            <a:xfrm>
              <a:off x="2752" y="2632"/>
              <a:ext cx="35" cy="38"/>
            </a:xfrm>
            <a:custGeom>
              <a:avLst/>
              <a:gdLst>
                <a:gd name="T0" fmla="*/ 0 w 35"/>
                <a:gd name="T1" fmla="*/ 37 h 38"/>
                <a:gd name="T2" fmla="*/ 34 w 35"/>
                <a:gd name="T3" fmla="*/ 37 h 38"/>
                <a:gd name="T4" fmla="*/ 34 w 35"/>
                <a:gd name="T5" fmla="*/ 0 h 38"/>
                <a:gd name="T6" fmla="*/ 0 w 35"/>
                <a:gd name="T7" fmla="*/ 0 h 38"/>
                <a:gd name="T8" fmla="*/ 0 w 35"/>
                <a:gd name="T9" fmla="*/ 37 h 38"/>
                <a:gd name="T10" fmla="*/ 0 w 35"/>
                <a:gd name="T11" fmla="*/ 37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0" y="37"/>
                  </a:moveTo>
                  <a:lnTo>
                    <a:pt x="34" y="37"/>
                  </a:lnTo>
                  <a:lnTo>
                    <a:pt x="34" y="0"/>
                  </a:lnTo>
                  <a:lnTo>
                    <a:pt x="0" y="0"/>
                  </a:lnTo>
                  <a:lnTo>
                    <a:pt x="0" y="3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7" name="Line 3846"/>
            <p:cNvSpPr>
              <a:spLocks noChangeShapeType="1"/>
            </p:cNvSpPr>
            <p:nvPr/>
          </p:nvSpPr>
          <p:spPr bwMode="auto">
            <a:xfrm>
              <a:off x="2707"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8" name="Line 3847"/>
            <p:cNvSpPr>
              <a:spLocks noChangeShapeType="1"/>
            </p:cNvSpPr>
            <p:nvPr/>
          </p:nvSpPr>
          <p:spPr bwMode="auto">
            <a:xfrm>
              <a:off x="2628"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39" name="Line 3848"/>
            <p:cNvSpPr>
              <a:spLocks noChangeShapeType="1"/>
            </p:cNvSpPr>
            <p:nvPr/>
          </p:nvSpPr>
          <p:spPr bwMode="auto">
            <a:xfrm>
              <a:off x="2583"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0" name="Line 3849"/>
            <p:cNvSpPr>
              <a:spLocks noChangeShapeType="1"/>
            </p:cNvSpPr>
            <p:nvPr/>
          </p:nvSpPr>
          <p:spPr bwMode="auto">
            <a:xfrm>
              <a:off x="2503"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1" name="Line 3850"/>
            <p:cNvSpPr>
              <a:spLocks noChangeShapeType="1"/>
            </p:cNvSpPr>
            <p:nvPr/>
          </p:nvSpPr>
          <p:spPr bwMode="auto">
            <a:xfrm>
              <a:off x="2469" y="2669"/>
              <a:ext cx="3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2" name="Line 3851"/>
            <p:cNvSpPr>
              <a:spLocks noChangeShapeType="1"/>
            </p:cNvSpPr>
            <p:nvPr/>
          </p:nvSpPr>
          <p:spPr bwMode="auto">
            <a:xfrm>
              <a:off x="2423"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3" name="Line 3852"/>
            <p:cNvSpPr>
              <a:spLocks noChangeShapeType="1"/>
            </p:cNvSpPr>
            <p:nvPr/>
          </p:nvSpPr>
          <p:spPr bwMode="auto">
            <a:xfrm>
              <a:off x="2378"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4" name="Line 3853"/>
            <p:cNvSpPr>
              <a:spLocks noChangeShapeType="1"/>
            </p:cNvSpPr>
            <p:nvPr/>
          </p:nvSpPr>
          <p:spPr bwMode="auto">
            <a:xfrm>
              <a:off x="2341"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5" name="Line 3854"/>
            <p:cNvSpPr>
              <a:spLocks noChangeShapeType="1"/>
            </p:cNvSpPr>
            <p:nvPr/>
          </p:nvSpPr>
          <p:spPr bwMode="auto">
            <a:xfrm>
              <a:off x="2299"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6" name="Line 3855"/>
            <p:cNvSpPr>
              <a:spLocks noChangeShapeType="1"/>
            </p:cNvSpPr>
            <p:nvPr/>
          </p:nvSpPr>
          <p:spPr bwMode="auto">
            <a:xfrm>
              <a:off x="2262"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7" name="Line 3856"/>
            <p:cNvSpPr>
              <a:spLocks noChangeShapeType="1"/>
            </p:cNvSpPr>
            <p:nvPr/>
          </p:nvSpPr>
          <p:spPr bwMode="auto">
            <a:xfrm>
              <a:off x="2216"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8" name="Line 3857"/>
            <p:cNvSpPr>
              <a:spLocks noChangeShapeType="1"/>
            </p:cNvSpPr>
            <p:nvPr/>
          </p:nvSpPr>
          <p:spPr bwMode="auto">
            <a:xfrm>
              <a:off x="2184" y="2669"/>
              <a:ext cx="3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49" name="Line 3858"/>
            <p:cNvSpPr>
              <a:spLocks noChangeShapeType="1"/>
            </p:cNvSpPr>
            <p:nvPr/>
          </p:nvSpPr>
          <p:spPr bwMode="auto">
            <a:xfrm>
              <a:off x="2137" y="2669"/>
              <a:ext cx="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0" name="Line 3859"/>
            <p:cNvSpPr>
              <a:spLocks noChangeShapeType="1"/>
            </p:cNvSpPr>
            <p:nvPr/>
          </p:nvSpPr>
          <p:spPr bwMode="auto">
            <a:xfrm>
              <a:off x="209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1" name="Line 3860"/>
            <p:cNvSpPr>
              <a:spLocks noChangeShapeType="1"/>
            </p:cNvSpPr>
            <p:nvPr/>
          </p:nvSpPr>
          <p:spPr bwMode="auto">
            <a:xfrm>
              <a:off x="2058"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2" name="Line 3861"/>
            <p:cNvSpPr>
              <a:spLocks noChangeShapeType="1"/>
            </p:cNvSpPr>
            <p:nvPr/>
          </p:nvSpPr>
          <p:spPr bwMode="auto">
            <a:xfrm>
              <a:off x="2013"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3" name="Line 3862"/>
            <p:cNvSpPr>
              <a:spLocks noChangeShapeType="1"/>
            </p:cNvSpPr>
            <p:nvPr/>
          </p:nvSpPr>
          <p:spPr bwMode="auto">
            <a:xfrm>
              <a:off x="1978" y="2669"/>
              <a:ext cx="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4" name="Line 3863"/>
            <p:cNvSpPr>
              <a:spLocks noChangeShapeType="1"/>
            </p:cNvSpPr>
            <p:nvPr/>
          </p:nvSpPr>
          <p:spPr bwMode="auto">
            <a:xfrm>
              <a:off x="1937"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5" name="Line 3864"/>
            <p:cNvSpPr>
              <a:spLocks noChangeShapeType="1"/>
            </p:cNvSpPr>
            <p:nvPr/>
          </p:nvSpPr>
          <p:spPr bwMode="auto">
            <a:xfrm>
              <a:off x="189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6" name="Line 3865"/>
            <p:cNvSpPr>
              <a:spLocks noChangeShapeType="1"/>
            </p:cNvSpPr>
            <p:nvPr/>
          </p:nvSpPr>
          <p:spPr bwMode="auto">
            <a:xfrm>
              <a:off x="1853"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7" name="Line 3866"/>
            <p:cNvSpPr>
              <a:spLocks noChangeShapeType="1"/>
            </p:cNvSpPr>
            <p:nvPr/>
          </p:nvSpPr>
          <p:spPr bwMode="auto">
            <a:xfrm>
              <a:off x="1815"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8" name="Line 3867"/>
            <p:cNvSpPr>
              <a:spLocks noChangeShapeType="1"/>
            </p:cNvSpPr>
            <p:nvPr/>
          </p:nvSpPr>
          <p:spPr bwMode="auto">
            <a:xfrm>
              <a:off x="1774"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59" name="Line 3868"/>
            <p:cNvSpPr>
              <a:spLocks noChangeShapeType="1"/>
            </p:cNvSpPr>
            <p:nvPr/>
          </p:nvSpPr>
          <p:spPr bwMode="auto">
            <a:xfrm>
              <a:off x="1736"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0" name="Line 3869"/>
            <p:cNvSpPr>
              <a:spLocks noChangeShapeType="1"/>
            </p:cNvSpPr>
            <p:nvPr/>
          </p:nvSpPr>
          <p:spPr bwMode="auto">
            <a:xfrm>
              <a:off x="1692" y="2669"/>
              <a:ext cx="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1" name="Freeform 3870"/>
            <p:cNvSpPr>
              <a:spLocks/>
            </p:cNvSpPr>
            <p:nvPr/>
          </p:nvSpPr>
          <p:spPr bwMode="auto">
            <a:xfrm>
              <a:off x="1692" y="2653"/>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2" name="Line 3871"/>
            <p:cNvSpPr>
              <a:spLocks noChangeShapeType="1"/>
            </p:cNvSpPr>
            <p:nvPr/>
          </p:nvSpPr>
          <p:spPr bwMode="auto">
            <a:xfrm>
              <a:off x="1651"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3" name="Freeform 3872"/>
            <p:cNvSpPr>
              <a:spLocks/>
            </p:cNvSpPr>
            <p:nvPr/>
          </p:nvSpPr>
          <p:spPr bwMode="auto">
            <a:xfrm>
              <a:off x="1651"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4" name="Freeform 3873"/>
            <p:cNvSpPr>
              <a:spLocks/>
            </p:cNvSpPr>
            <p:nvPr/>
          </p:nvSpPr>
          <p:spPr bwMode="auto">
            <a:xfrm>
              <a:off x="1651"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5" name="Freeform 3874"/>
            <p:cNvSpPr>
              <a:spLocks/>
            </p:cNvSpPr>
            <p:nvPr/>
          </p:nvSpPr>
          <p:spPr bwMode="auto">
            <a:xfrm>
              <a:off x="1651"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6" name="Line 3875"/>
            <p:cNvSpPr>
              <a:spLocks noChangeShapeType="1"/>
            </p:cNvSpPr>
            <p:nvPr/>
          </p:nvSpPr>
          <p:spPr bwMode="auto">
            <a:xfrm>
              <a:off x="1615" y="2669"/>
              <a:ext cx="3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7" name="Freeform 3876"/>
            <p:cNvSpPr>
              <a:spLocks/>
            </p:cNvSpPr>
            <p:nvPr/>
          </p:nvSpPr>
          <p:spPr bwMode="auto">
            <a:xfrm>
              <a:off x="1615" y="2661"/>
              <a:ext cx="37" cy="28"/>
            </a:xfrm>
            <a:custGeom>
              <a:avLst/>
              <a:gdLst>
                <a:gd name="T0" fmla="*/ 0 w 37"/>
                <a:gd name="T1" fmla="*/ 27 h 28"/>
                <a:gd name="T2" fmla="*/ 36 w 37"/>
                <a:gd name="T3" fmla="*/ 0 h 28"/>
                <a:gd name="T4" fmla="*/ 36 w 37"/>
                <a:gd name="T5" fmla="*/ 27 h 28"/>
                <a:gd name="T6" fmla="*/ 0 w 37"/>
                <a:gd name="T7" fmla="*/ 27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27"/>
                  </a:moveTo>
                  <a:lnTo>
                    <a:pt x="36" y="0"/>
                  </a:lnTo>
                  <a:lnTo>
                    <a:pt x="36"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8" name="Freeform 3877"/>
            <p:cNvSpPr>
              <a:spLocks/>
            </p:cNvSpPr>
            <p:nvPr/>
          </p:nvSpPr>
          <p:spPr bwMode="auto">
            <a:xfrm>
              <a:off x="1615" y="2661"/>
              <a:ext cx="37" cy="28"/>
            </a:xfrm>
            <a:custGeom>
              <a:avLst/>
              <a:gdLst>
                <a:gd name="T0" fmla="*/ 0 w 37"/>
                <a:gd name="T1" fmla="*/ 0 h 28"/>
                <a:gd name="T2" fmla="*/ 36 w 37"/>
                <a:gd name="T3" fmla="*/ 0 h 28"/>
                <a:gd name="T4" fmla="*/ 0 w 37"/>
                <a:gd name="T5" fmla="*/ 27 h 28"/>
                <a:gd name="T6" fmla="*/ 0 w 37"/>
                <a:gd name="T7" fmla="*/ 0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0"/>
                  </a:moveTo>
                  <a:lnTo>
                    <a:pt x="36"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69" name="Freeform 3878"/>
            <p:cNvSpPr>
              <a:spLocks/>
            </p:cNvSpPr>
            <p:nvPr/>
          </p:nvSpPr>
          <p:spPr bwMode="auto">
            <a:xfrm>
              <a:off x="1615" y="2661"/>
              <a:ext cx="37" cy="28"/>
            </a:xfrm>
            <a:custGeom>
              <a:avLst/>
              <a:gdLst>
                <a:gd name="T0" fmla="*/ 0 w 37"/>
                <a:gd name="T1" fmla="*/ 27 h 28"/>
                <a:gd name="T2" fmla="*/ 36 w 37"/>
                <a:gd name="T3" fmla="*/ 27 h 28"/>
                <a:gd name="T4" fmla="*/ 36 w 37"/>
                <a:gd name="T5" fmla="*/ 0 h 28"/>
                <a:gd name="T6" fmla="*/ 0 w 37"/>
                <a:gd name="T7" fmla="*/ 0 h 28"/>
                <a:gd name="T8" fmla="*/ 0 w 37"/>
                <a:gd name="T9" fmla="*/ 27 h 28"/>
                <a:gd name="T10" fmla="*/ 0 w 37"/>
                <a:gd name="T11" fmla="*/ 27 h 28"/>
                <a:gd name="T12" fmla="*/ 0 60000 65536"/>
                <a:gd name="T13" fmla="*/ 0 60000 65536"/>
                <a:gd name="T14" fmla="*/ 0 60000 65536"/>
                <a:gd name="T15" fmla="*/ 0 60000 65536"/>
                <a:gd name="T16" fmla="*/ 0 60000 65536"/>
                <a:gd name="T17" fmla="*/ 0 60000 65536"/>
                <a:gd name="T18" fmla="*/ 0 w 37"/>
                <a:gd name="T19" fmla="*/ 0 h 28"/>
                <a:gd name="T20" fmla="*/ 37 w 3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7" h="28">
                  <a:moveTo>
                    <a:pt x="0" y="27"/>
                  </a:moveTo>
                  <a:lnTo>
                    <a:pt x="36" y="27"/>
                  </a:lnTo>
                  <a:lnTo>
                    <a:pt x="36"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0" name="Line 3879"/>
            <p:cNvSpPr>
              <a:spLocks noChangeShapeType="1"/>
            </p:cNvSpPr>
            <p:nvPr/>
          </p:nvSpPr>
          <p:spPr bwMode="auto">
            <a:xfrm>
              <a:off x="1568" y="2669"/>
              <a:ext cx="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1" name="Freeform 3880"/>
            <p:cNvSpPr>
              <a:spLocks/>
            </p:cNvSpPr>
            <p:nvPr/>
          </p:nvSpPr>
          <p:spPr bwMode="auto">
            <a:xfrm>
              <a:off x="1568" y="2661"/>
              <a:ext cx="48" cy="28"/>
            </a:xfrm>
            <a:custGeom>
              <a:avLst/>
              <a:gdLst>
                <a:gd name="T0" fmla="*/ 0 w 48"/>
                <a:gd name="T1" fmla="*/ 27 h 28"/>
                <a:gd name="T2" fmla="*/ 47 w 48"/>
                <a:gd name="T3" fmla="*/ 0 h 28"/>
                <a:gd name="T4" fmla="*/ 47 w 48"/>
                <a:gd name="T5" fmla="*/ 27 h 28"/>
                <a:gd name="T6" fmla="*/ 0 w 48"/>
                <a:gd name="T7" fmla="*/ 27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27"/>
                  </a:moveTo>
                  <a:lnTo>
                    <a:pt x="47" y="0"/>
                  </a:lnTo>
                  <a:lnTo>
                    <a:pt x="47"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2" name="Freeform 3881"/>
            <p:cNvSpPr>
              <a:spLocks/>
            </p:cNvSpPr>
            <p:nvPr/>
          </p:nvSpPr>
          <p:spPr bwMode="auto">
            <a:xfrm>
              <a:off x="1568" y="2661"/>
              <a:ext cx="48" cy="28"/>
            </a:xfrm>
            <a:custGeom>
              <a:avLst/>
              <a:gdLst>
                <a:gd name="T0" fmla="*/ 0 w 48"/>
                <a:gd name="T1" fmla="*/ 0 h 28"/>
                <a:gd name="T2" fmla="*/ 47 w 48"/>
                <a:gd name="T3" fmla="*/ 0 h 28"/>
                <a:gd name="T4" fmla="*/ 0 w 48"/>
                <a:gd name="T5" fmla="*/ 27 h 28"/>
                <a:gd name="T6" fmla="*/ 0 w 48"/>
                <a:gd name="T7" fmla="*/ 0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0"/>
                  </a:moveTo>
                  <a:lnTo>
                    <a:pt x="47"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3" name="Freeform 3882"/>
            <p:cNvSpPr>
              <a:spLocks/>
            </p:cNvSpPr>
            <p:nvPr/>
          </p:nvSpPr>
          <p:spPr bwMode="auto">
            <a:xfrm>
              <a:off x="1568" y="2661"/>
              <a:ext cx="48" cy="28"/>
            </a:xfrm>
            <a:custGeom>
              <a:avLst/>
              <a:gdLst>
                <a:gd name="T0" fmla="*/ 0 w 48"/>
                <a:gd name="T1" fmla="*/ 27 h 28"/>
                <a:gd name="T2" fmla="*/ 47 w 48"/>
                <a:gd name="T3" fmla="*/ 27 h 28"/>
                <a:gd name="T4" fmla="*/ 47 w 48"/>
                <a:gd name="T5" fmla="*/ 0 h 28"/>
                <a:gd name="T6" fmla="*/ 0 w 48"/>
                <a:gd name="T7" fmla="*/ 0 h 28"/>
                <a:gd name="T8" fmla="*/ 0 w 48"/>
                <a:gd name="T9" fmla="*/ 27 h 28"/>
                <a:gd name="T10" fmla="*/ 0 w 48"/>
                <a:gd name="T11" fmla="*/ 27 h 28"/>
                <a:gd name="T12" fmla="*/ 0 60000 65536"/>
                <a:gd name="T13" fmla="*/ 0 60000 65536"/>
                <a:gd name="T14" fmla="*/ 0 60000 65536"/>
                <a:gd name="T15" fmla="*/ 0 60000 65536"/>
                <a:gd name="T16" fmla="*/ 0 60000 65536"/>
                <a:gd name="T17" fmla="*/ 0 60000 65536"/>
                <a:gd name="T18" fmla="*/ 0 w 48"/>
                <a:gd name="T19" fmla="*/ 0 h 28"/>
                <a:gd name="T20" fmla="*/ 48 w 4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8" h="28">
                  <a:moveTo>
                    <a:pt x="0" y="27"/>
                  </a:moveTo>
                  <a:lnTo>
                    <a:pt x="47" y="27"/>
                  </a:lnTo>
                  <a:lnTo>
                    <a:pt x="47"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4" name="Line 3883"/>
            <p:cNvSpPr>
              <a:spLocks noChangeShapeType="1"/>
            </p:cNvSpPr>
            <p:nvPr/>
          </p:nvSpPr>
          <p:spPr bwMode="auto">
            <a:xfrm>
              <a:off x="1530"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5" name="Freeform 3884"/>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6" name="Line 3885"/>
            <p:cNvSpPr>
              <a:spLocks noChangeShapeType="1"/>
            </p:cNvSpPr>
            <p:nvPr/>
          </p:nvSpPr>
          <p:spPr bwMode="auto">
            <a:xfrm>
              <a:off x="1530"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7" name="Freeform 3886"/>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8" name="Line 3887"/>
            <p:cNvSpPr>
              <a:spLocks noChangeShapeType="1"/>
            </p:cNvSpPr>
            <p:nvPr/>
          </p:nvSpPr>
          <p:spPr bwMode="auto">
            <a:xfrm>
              <a:off x="149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79" name="Freeform 3888"/>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0" name="Line 3889"/>
            <p:cNvSpPr>
              <a:spLocks noChangeShapeType="1"/>
            </p:cNvSpPr>
            <p:nvPr/>
          </p:nvSpPr>
          <p:spPr bwMode="auto">
            <a:xfrm>
              <a:off x="149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1" name="Freeform 3890"/>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2" name="Line 3891"/>
            <p:cNvSpPr>
              <a:spLocks noChangeShapeType="1"/>
            </p:cNvSpPr>
            <p:nvPr/>
          </p:nvSpPr>
          <p:spPr bwMode="auto">
            <a:xfrm>
              <a:off x="145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3" name="Freeform 3892"/>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4" name="Line 3893"/>
            <p:cNvSpPr>
              <a:spLocks noChangeShapeType="1"/>
            </p:cNvSpPr>
            <p:nvPr/>
          </p:nvSpPr>
          <p:spPr bwMode="auto">
            <a:xfrm>
              <a:off x="145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5" name="Freeform 3894"/>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6" name="Line 3895"/>
            <p:cNvSpPr>
              <a:spLocks noChangeShapeType="1"/>
            </p:cNvSpPr>
            <p:nvPr/>
          </p:nvSpPr>
          <p:spPr bwMode="auto">
            <a:xfrm>
              <a:off x="1409"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7" name="Freeform 3896"/>
            <p:cNvSpPr>
              <a:spLocks/>
            </p:cNvSpPr>
            <p:nvPr/>
          </p:nvSpPr>
          <p:spPr bwMode="auto">
            <a:xfrm>
              <a:off x="1409" y="2661"/>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8" name="Freeform 3897"/>
            <p:cNvSpPr>
              <a:spLocks/>
            </p:cNvSpPr>
            <p:nvPr/>
          </p:nvSpPr>
          <p:spPr bwMode="auto">
            <a:xfrm>
              <a:off x="1409" y="2661"/>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89" name="Freeform 3898"/>
            <p:cNvSpPr>
              <a:spLocks/>
            </p:cNvSpPr>
            <p:nvPr/>
          </p:nvSpPr>
          <p:spPr bwMode="auto">
            <a:xfrm>
              <a:off x="1409" y="2661"/>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0" name="Line 3899"/>
            <p:cNvSpPr>
              <a:spLocks noChangeShapeType="1"/>
            </p:cNvSpPr>
            <p:nvPr/>
          </p:nvSpPr>
          <p:spPr bwMode="auto">
            <a:xfrm>
              <a:off x="1367"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1" name="Freeform 3900"/>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60000 65536"/>
                <a:gd name="T9" fmla="*/ 0 60000 65536"/>
                <a:gd name="T10" fmla="*/ 0 60000 65536"/>
                <a:gd name="T11" fmla="*/ 0 60000 65536"/>
                <a:gd name="T12" fmla="*/ 0 w 43"/>
                <a:gd name="T13" fmla="*/ 0 h 1"/>
                <a:gd name="T14" fmla="*/ 43 w 43"/>
                <a:gd name="T15" fmla="*/ 1 h 1"/>
              </a:gdLst>
              <a:ahLst/>
              <a:cxnLst>
                <a:cxn ang="T8">
                  <a:pos x="T0" y="T1"/>
                </a:cxn>
                <a:cxn ang="T9">
                  <a:pos x="T2" y="T3"/>
                </a:cxn>
                <a:cxn ang="T10">
                  <a:pos x="T4" y="T5"/>
                </a:cxn>
                <a:cxn ang="T11">
                  <a:pos x="T6" y="T7"/>
                </a:cxn>
              </a:cxnLst>
              <a:rect l="T12" t="T13" r="T14" b="T15"/>
              <a:pathLst>
                <a:path w="43" h="1">
                  <a:moveTo>
                    <a:pt x="0" y="0"/>
                  </a:moveTo>
                  <a:lnTo>
                    <a:pt x="42"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2" name="Line 3901"/>
            <p:cNvSpPr>
              <a:spLocks noChangeShapeType="1"/>
            </p:cNvSpPr>
            <p:nvPr/>
          </p:nvSpPr>
          <p:spPr bwMode="auto">
            <a:xfrm>
              <a:off x="1367"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3" name="Freeform 3902"/>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w 43"/>
                <a:gd name="T9" fmla="*/ 0 h 1"/>
                <a:gd name="T10" fmla="*/ 0 w 43"/>
                <a:gd name="T11" fmla="*/ 0 h 1"/>
                <a:gd name="T12" fmla="*/ 0 60000 65536"/>
                <a:gd name="T13" fmla="*/ 0 60000 65536"/>
                <a:gd name="T14" fmla="*/ 0 60000 65536"/>
                <a:gd name="T15" fmla="*/ 0 60000 65536"/>
                <a:gd name="T16" fmla="*/ 0 60000 65536"/>
                <a:gd name="T17" fmla="*/ 0 60000 65536"/>
                <a:gd name="T18" fmla="*/ 0 w 43"/>
                <a:gd name="T19" fmla="*/ 0 h 1"/>
                <a:gd name="T20" fmla="*/ 43 w 43"/>
                <a:gd name="T21" fmla="*/ 1 h 1"/>
              </a:gdLst>
              <a:ahLst/>
              <a:cxnLst>
                <a:cxn ang="T12">
                  <a:pos x="T0" y="T1"/>
                </a:cxn>
                <a:cxn ang="T13">
                  <a:pos x="T2" y="T3"/>
                </a:cxn>
                <a:cxn ang="T14">
                  <a:pos x="T4" y="T5"/>
                </a:cxn>
                <a:cxn ang="T15">
                  <a:pos x="T6" y="T7"/>
                </a:cxn>
                <a:cxn ang="T16">
                  <a:pos x="T8" y="T9"/>
                </a:cxn>
                <a:cxn ang="T17">
                  <a:pos x="T10" y="T11"/>
                </a:cxn>
              </a:cxnLst>
              <a:rect l="T18" t="T19" r="T20" b="T21"/>
              <a:pathLst>
                <a:path w="43" h="1">
                  <a:moveTo>
                    <a:pt x="0" y="0"/>
                  </a:moveTo>
                  <a:lnTo>
                    <a:pt x="42"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4" name="Line 3903"/>
            <p:cNvSpPr>
              <a:spLocks noChangeShapeType="1"/>
            </p:cNvSpPr>
            <p:nvPr/>
          </p:nvSpPr>
          <p:spPr bwMode="auto">
            <a:xfrm>
              <a:off x="132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5" name="Freeform 3904"/>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6" name="Line 3905"/>
            <p:cNvSpPr>
              <a:spLocks noChangeShapeType="1"/>
            </p:cNvSpPr>
            <p:nvPr/>
          </p:nvSpPr>
          <p:spPr bwMode="auto">
            <a:xfrm>
              <a:off x="132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7" name="Freeform 3906"/>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8" name="Line 3907"/>
            <p:cNvSpPr>
              <a:spLocks noChangeShapeType="1"/>
            </p:cNvSpPr>
            <p:nvPr/>
          </p:nvSpPr>
          <p:spPr bwMode="auto">
            <a:xfrm>
              <a:off x="1286" y="2669"/>
              <a:ext cx="4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99" name="Freeform 3908"/>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60000 65536"/>
                <a:gd name="T9" fmla="*/ 0 60000 65536"/>
                <a:gd name="T10" fmla="*/ 0 60000 65536"/>
                <a:gd name="T11" fmla="*/ 0 60000 65536"/>
                <a:gd name="T12" fmla="*/ 0 w 44"/>
                <a:gd name="T13" fmla="*/ 0 h 1"/>
                <a:gd name="T14" fmla="*/ 44 w 44"/>
                <a:gd name="T15" fmla="*/ 1 h 1"/>
              </a:gdLst>
              <a:ahLst/>
              <a:cxnLst>
                <a:cxn ang="T8">
                  <a:pos x="T0" y="T1"/>
                </a:cxn>
                <a:cxn ang="T9">
                  <a:pos x="T2" y="T3"/>
                </a:cxn>
                <a:cxn ang="T10">
                  <a:pos x="T4" y="T5"/>
                </a:cxn>
                <a:cxn ang="T11">
                  <a:pos x="T6" y="T7"/>
                </a:cxn>
              </a:cxnLst>
              <a:rect l="T12" t="T13" r="T14" b="T15"/>
              <a:pathLst>
                <a:path w="44" h="1">
                  <a:moveTo>
                    <a:pt x="0" y="0"/>
                  </a:moveTo>
                  <a:lnTo>
                    <a:pt x="4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0" name="Line 3909"/>
            <p:cNvSpPr>
              <a:spLocks noChangeShapeType="1"/>
            </p:cNvSpPr>
            <p:nvPr/>
          </p:nvSpPr>
          <p:spPr bwMode="auto">
            <a:xfrm>
              <a:off x="1286" y="2669"/>
              <a:ext cx="4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1" name="Freeform 3910"/>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w 44"/>
                <a:gd name="T9" fmla="*/ 0 h 1"/>
                <a:gd name="T10" fmla="*/ 0 w 44"/>
                <a:gd name="T11" fmla="*/ 0 h 1"/>
                <a:gd name="T12" fmla="*/ 0 60000 65536"/>
                <a:gd name="T13" fmla="*/ 0 60000 65536"/>
                <a:gd name="T14" fmla="*/ 0 60000 65536"/>
                <a:gd name="T15" fmla="*/ 0 60000 65536"/>
                <a:gd name="T16" fmla="*/ 0 60000 65536"/>
                <a:gd name="T17" fmla="*/ 0 60000 65536"/>
                <a:gd name="T18" fmla="*/ 0 w 44"/>
                <a:gd name="T19" fmla="*/ 0 h 1"/>
                <a:gd name="T20" fmla="*/ 44 w 4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4" h="1">
                  <a:moveTo>
                    <a:pt x="0" y="0"/>
                  </a:moveTo>
                  <a:lnTo>
                    <a:pt x="43"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2" name="Line 3911"/>
            <p:cNvSpPr>
              <a:spLocks noChangeShapeType="1"/>
            </p:cNvSpPr>
            <p:nvPr/>
          </p:nvSpPr>
          <p:spPr bwMode="auto">
            <a:xfrm>
              <a:off x="1249"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3" name="Freeform 3912"/>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60000 65536"/>
                <a:gd name="T9" fmla="*/ 0 60000 65536"/>
                <a:gd name="T10" fmla="*/ 0 60000 65536"/>
                <a:gd name="T11" fmla="*/ 0 60000 65536"/>
                <a:gd name="T12" fmla="*/ 0 w 38"/>
                <a:gd name="T13" fmla="*/ 0 h 1"/>
                <a:gd name="T14" fmla="*/ 38 w 38"/>
                <a:gd name="T15" fmla="*/ 1 h 1"/>
              </a:gdLst>
              <a:ahLst/>
              <a:cxnLst>
                <a:cxn ang="T8">
                  <a:pos x="T0" y="T1"/>
                </a:cxn>
                <a:cxn ang="T9">
                  <a:pos x="T2" y="T3"/>
                </a:cxn>
                <a:cxn ang="T10">
                  <a:pos x="T4" y="T5"/>
                </a:cxn>
                <a:cxn ang="T11">
                  <a:pos x="T6" y="T7"/>
                </a:cxn>
              </a:cxnLst>
              <a:rect l="T12" t="T13" r="T14" b="T15"/>
              <a:pathLst>
                <a:path w="38" h="1">
                  <a:moveTo>
                    <a:pt x="0" y="0"/>
                  </a:moveTo>
                  <a:lnTo>
                    <a:pt x="3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4" name="Line 3913"/>
            <p:cNvSpPr>
              <a:spLocks noChangeShapeType="1"/>
            </p:cNvSpPr>
            <p:nvPr/>
          </p:nvSpPr>
          <p:spPr bwMode="auto">
            <a:xfrm>
              <a:off x="1249"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5" name="Freeform 3914"/>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w 38"/>
                <a:gd name="T9" fmla="*/ 0 h 1"/>
                <a:gd name="T10" fmla="*/ 0 w 38"/>
                <a:gd name="T11" fmla="*/ 0 h 1"/>
                <a:gd name="T12" fmla="*/ 0 60000 65536"/>
                <a:gd name="T13" fmla="*/ 0 60000 65536"/>
                <a:gd name="T14" fmla="*/ 0 60000 65536"/>
                <a:gd name="T15" fmla="*/ 0 60000 65536"/>
                <a:gd name="T16" fmla="*/ 0 60000 65536"/>
                <a:gd name="T17" fmla="*/ 0 60000 65536"/>
                <a:gd name="T18" fmla="*/ 0 w 38"/>
                <a:gd name="T19" fmla="*/ 0 h 1"/>
                <a:gd name="T20" fmla="*/ 38 w 38"/>
                <a:gd name="T21" fmla="*/ 1 h 1"/>
              </a:gdLst>
              <a:ahLst/>
              <a:cxnLst>
                <a:cxn ang="T12">
                  <a:pos x="T0" y="T1"/>
                </a:cxn>
                <a:cxn ang="T13">
                  <a:pos x="T2" y="T3"/>
                </a:cxn>
                <a:cxn ang="T14">
                  <a:pos x="T4" y="T5"/>
                </a:cxn>
                <a:cxn ang="T15">
                  <a:pos x="T6" y="T7"/>
                </a:cxn>
                <a:cxn ang="T16">
                  <a:pos x="T8" y="T9"/>
                </a:cxn>
                <a:cxn ang="T17">
                  <a:pos x="T10" y="T11"/>
                </a:cxn>
              </a:cxnLst>
              <a:rect l="T18" t="T19" r="T20" b="T21"/>
              <a:pathLst>
                <a:path w="38" h="1">
                  <a:moveTo>
                    <a:pt x="0" y="0"/>
                  </a:moveTo>
                  <a:lnTo>
                    <a:pt x="37"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6" name="Freeform 3915"/>
            <p:cNvSpPr>
              <a:spLocks/>
            </p:cNvSpPr>
            <p:nvPr/>
          </p:nvSpPr>
          <p:spPr bwMode="auto">
            <a:xfrm>
              <a:off x="1651" y="2653"/>
              <a:ext cx="26" cy="28"/>
            </a:xfrm>
            <a:custGeom>
              <a:avLst/>
              <a:gdLst>
                <a:gd name="T0" fmla="*/ 25 w 26"/>
                <a:gd name="T1" fmla="*/ 15 h 28"/>
                <a:gd name="T2" fmla="*/ 0 w 26"/>
                <a:gd name="T3" fmla="*/ 0 h 28"/>
                <a:gd name="T4" fmla="*/ 0 w 26"/>
                <a:gd name="T5" fmla="*/ 27 h 28"/>
                <a:gd name="T6" fmla="*/ 25 w 26"/>
                <a:gd name="T7" fmla="*/ 15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5"/>
                  </a:moveTo>
                  <a:lnTo>
                    <a:pt x="0" y="0"/>
                  </a:lnTo>
                  <a:lnTo>
                    <a:pt x="0" y="27"/>
                  </a:lnTo>
                  <a:lnTo>
                    <a:pt x="25"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7" name="Freeform 3916"/>
            <p:cNvSpPr>
              <a:spLocks/>
            </p:cNvSpPr>
            <p:nvPr/>
          </p:nvSpPr>
          <p:spPr bwMode="auto">
            <a:xfrm>
              <a:off x="1651" y="2647"/>
              <a:ext cx="26" cy="28"/>
            </a:xfrm>
            <a:custGeom>
              <a:avLst/>
              <a:gdLst>
                <a:gd name="T0" fmla="*/ 25 w 26"/>
                <a:gd name="T1" fmla="*/ 27 h 28"/>
                <a:gd name="T2" fmla="*/ 25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12"/>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8" name="Freeform 3917"/>
            <p:cNvSpPr>
              <a:spLocks/>
            </p:cNvSpPr>
            <p:nvPr/>
          </p:nvSpPr>
          <p:spPr bwMode="auto">
            <a:xfrm>
              <a:off x="1663" y="2653"/>
              <a:ext cx="27" cy="28"/>
            </a:xfrm>
            <a:custGeom>
              <a:avLst/>
              <a:gdLst>
                <a:gd name="T0" fmla="*/ 0 w 27"/>
                <a:gd name="T1" fmla="*/ 27 h 28"/>
                <a:gd name="T2" fmla="*/ 0 w 27"/>
                <a:gd name="T3" fmla="*/ 27 h 28"/>
                <a:gd name="T4" fmla="*/ 26 w 27"/>
                <a:gd name="T5" fmla="*/ 0 h 28"/>
                <a:gd name="T6" fmla="*/ 0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27"/>
                  </a:moveTo>
                  <a:lnTo>
                    <a:pt x="0" y="27"/>
                  </a:lnTo>
                  <a:lnTo>
                    <a:pt x="26"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09" name="Line 3918"/>
            <p:cNvSpPr>
              <a:spLocks noChangeShapeType="1"/>
            </p:cNvSpPr>
            <p:nvPr/>
          </p:nvSpPr>
          <p:spPr bwMode="auto">
            <a:xfrm>
              <a:off x="1663" y="2661"/>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0" name="Freeform 3919"/>
            <p:cNvSpPr>
              <a:spLocks/>
            </p:cNvSpPr>
            <p:nvPr/>
          </p:nvSpPr>
          <p:spPr bwMode="auto">
            <a:xfrm>
              <a:off x="1663" y="2647"/>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1" name="Freeform 3920"/>
            <p:cNvSpPr>
              <a:spLocks/>
            </p:cNvSpPr>
            <p:nvPr/>
          </p:nvSpPr>
          <p:spPr bwMode="auto">
            <a:xfrm>
              <a:off x="1663" y="2647"/>
              <a:ext cx="27" cy="28"/>
            </a:xfrm>
            <a:custGeom>
              <a:avLst/>
              <a:gdLst>
                <a:gd name="T0" fmla="*/ 26 w 27"/>
                <a:gd name="T1" fmla="*/ 27 h 28"/>
                <a:gd name="T2" fmla="*/ 26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0"/>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2" name="Freeform 3921"/>
            <p:cNvSpPr>
              <a:spLocks/>
            </p:cNvSpPr>
            <p:nvPr/>
          </p:nvSpPr>
          <p:spPr bwMode="auto">
            <a:xfrm>
              <a:off x="1676"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3" name="Line 3922"/>
            <p:cNvSpPr>
              <a:spLocks noChangeShapeType="1"/>
            </p:cNvSpPr>
            <p:nvPr/>
          </p:nvSpPr>
          <p:spPr bwMode="auto">
            <a:xfrm>
              <a:off x="1676" y="266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4" name="Freeform 3923"/>
            <p:cNvSpPr>
              <a:spLocks/>
            </p:cNvSpPr>
            <p:nvPr/>
          </p:nvSpPr>
          <p:spPr bwMode="auto">
            <a:xfrm>
              <a:off x="1676" y="2647"/>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5" name="Freeform 3924"/>
            <p:cNvSpPr>
              <a:spLocks/>
            </p:cNvSpPr>
            <p:nvPr/>
          </p:nvSpPr>
          <p:spPr bwMode="auto">
            <a:xfrm>
              <a:off x="1676" y="2647"/>
              <a:ext cx="26" cy="28"/>
            </a:xfrm>
            <a:custGeom>
              <a:avLst/>
              <a:gdLst>
                <a:gd name="T0" fmla="*/ 25 w 26"/>
                <a:gd name="T1" fmla="*/ 27 h 28"/>
                <a:gd name="T2" fmla="*/ 25 w 26"/>
                <a:gd name="T3" fmla="*/ 0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0"/>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6" name="Freeform 3925"/>
            <p:cNvSpPr>
              <a:spLocks/>
            </p:cNvSpPr>
            <p:nvPr/>
          </p:nvSpPr>
          <p:spPr bwMode="auto">
            <a:xfrm>
              <a:off x="1689"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7" name="Line 3926"/>
            <p:cNvSpPr>
              <a:spLocks noChangeShapeType="1"/>
            </p:cNvSpPr>
            <p:nvPr/>
          </p:nvSpPr>
          <p:spPr bwMode="auto">
            <a:xfrm>
              <a:off x="1689" y="2661"/>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8" name="Freeform 3927"/>
            <p:cNvSpPr>
              <a:spLocks/>
            </p:cNvSpPr>
            <p:nvPr/>
          </p:nvSpPr>
          <p:spPr bwMode="auto">
            <a:xfrm>
              <a:off x="1689" y="2647"/>
              <a:ext cx="24" cy="28"/>
            </a:xfrm>
            <a:custGeom>
              <a:avLst/>
              <a:gdLst>
                <a:gd name="T0" fmla="*/ 23 w 24"/>
                <a:gd name="T1" fmla="*/ 12 h 28"/>
                <a:gd name="T2" fmla="*/ 0 w 24"/>
                <a:gd name="T3" fmla="*/ 0 h 28"/>
                <a:gd name="T4" fmla="*/ 0 w 24"/>
                <a:gd name="T5" fmla="*/ 27 h 28"/>
                <a:gd name="T6" fmla="*/ 23 w 24"/>
                <a:gd name="T7" fmla="*/ 12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2"/>
                  </a:moveTo>
                  <a:lnTo>
                    <a:pt x="0" y="0"/>
                  </a:lnTo>
                  <a:lnTo>
                    <a:pt x="0" y="27"/>
                  </a:lnTo>
                  <a:lnTo>
                    <a:pt x="23"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19" name="Freeform 3928"/>
            <p:cNvSpPr>
              <a:spLocks/>
            </p:cNvSpPr>
            <p:nvPr/>
          </p:nvSpPr>
          <p:spPr bwMode="auto">
            <a:xfrm>
              <a:off x="1689" y="2640"/>
              <a:ext cx="24" cy="28"/>
            </a:xfrm>
            <a:custGeom>
              <a:avLst/>
              <a:gdLst>
                <a:gd name="T0" fmla="*/ 23 w 24"/>
                <a:gd name="T1" fmla="*/ 27 h 28"/>
                <a:gd name="T2" fmla="*/ 23 w 24"/>
                <a:gd name="T3" fmla="*/ 0 h 28"/>
                <a:gd name="T4" fmla="*/ 0 w 24"/>
                <a:gd name="T5" fmla="*/ 13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13"/>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0" name="Freeform 3929"/>
            <p:cNvSpPr>
              <a:spLocks/>
            </p:cNvSpPr>
            <p:nvPr/>
          </p:nvSpPr>
          <p:spPr bwMode="auto">
            <a:xfrm>
              <a:off x="1701"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1" name="Line 3930"/>
            <p:cNvSpPr>
              <a:spLocks noChangeShapeType="1"/>
            </p:cNvSpPr>
            <p:nvPr/>
          </p:nvSpPr>
          <p:spPr bwMode="auto">
            <a:xfrm>
              <a:off x="1701" y="2653"/>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2" name="Freeform 3931"/>
            <p:cNvSpPr>
              <a:spLocks/>
            </p:cNvSpPr>
            <p:nvPr/>
          </p:nvSpPr>
          <p:spPr bwMode="auto">
            <a:xfrm>
              <a:off x="1701" y="2640"/>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3" name="Freeform 3932"/>
            <p:cNvSpPr>
              <a:spLocks/>
            </p:cNvSpPr>
            <p:nvPr/>
          </p:nvSpPr>
          <p:spPr bwMode="auto">
            <a:xfrm>
              <a:off x="1701" y="2640"/>
              <a:ext cx="27" cy="28"/>
            </a:xfrm>
            <a:custGeom>
              <a:avLst/>
              <a:gdLst>
                <a:gd name="T0" fmla="*/ 26 w 27"/>
                <a:gd name="T1" fmla="*/ 27 h 28"/>
                <a:gd name="T2" fmla="*/ 11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1" y="0"/>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4" name="Freeform 3933"/>
            <p:cNvSpPr>
              <a:spLocks/>
            </p:cNvSpPr>
            <p:nvPr/>
          </p:nvSpPr>
          <p:spPr bwMode="auto">
            <a:xfrm>
              <a:off x="1712"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5" name="Line 3934"/>
            <p:cNvSpPr>
              <a:spLocks noChangeShapeType="1"/>
            </p:cNvSpPr>
            <p:nvPr/>
          </p:nvSpPr>
          <p:spPr bwMode="auto">
            <a:xfrm>
              <a:off x="1712" y="265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6" name="Freeform 3935"/>
            <p:cNvSpPr>
              <a:spLocks/>
            </p:cNvSpPr>
            <p:nvPr/>
          </p:nvSpPr>
          <p:spPr bwMode="auto">
            <a:xfrm>
              <a:off x="1705" y="2640"/>
              <a:ext cx="25" cy="28"/>
            </a:xfrm>
            <a:custGeom>
              <a:avLst/>
              <a:gdLst>
                <a:gd name="T0" fmla="*/ 24 w 25"/>
                <a:gd name="T1" fmla="*/ 13 h 28"/>
                <a:gd name="T2" fmla="*/ 0 w 25"/>
                <a:gd name="T3" fmla="*/ 0 h 28"/>
                <a:gd name="T4" fmla="*/ 9 w 25"/>
                <a:gd name="T5" fmla="*/ 27 h 28"/>
                <a:gd name="T6" fmla="*/ 24 w 25"/>
                <a:gd name="T7" fmla="*/ 13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13"/>
                  </a:moveTo>
                  <a:lnTo>
                    <a:pt x="0" y="0"/>
                  </a:lnTo>
                  <a:lnTo>
                    <a:pt x="9" y="27"/>
                  </a:lnTo>
                  <a:lnTo>
                    <a:pt x="24"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7" name="Freeform 3936"/>
            <p:cNvSpPr>
              <a:spLocks/>
            </p:cNvSpPr>
            <p:nvPr/>
          </p:nvSpPr>
          <p:spPr bwMode="auto">
            <a:xfrm>
              <a:off x="1705" y="2632"/>
              <a:ext cx="25" cy="27"/>
            </a:xfrm>
            <a:custGeom>
              <a:avLst/>
              <a:gdLst>
                <a:gd name="T0" fmla="*/ 24 w 25"/>
                <a:gd name="T1" fmla="*/ 26 h 27"/>
                <a:gd name="T2" fmla="*/ 16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6" y="0"/>
                  </a:lnTo>
                  <a:lnTo>
                    <a:pt x="0" y="14"/>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8" name="Freeform 3937"/>
            <p:cNvSpPr>
              <a:spLocks/>
            </p:cNvSpPr>
            <p:nvPr/>
          </p:nvSpPr>
          <p:spPr bwMode="auto">
            <a:xfrm>
              <a:off x="1722" y="2640"/>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29" name="Line 3938"/>
            <p:cNvSpPr>
              <a:spLocks noChangeShapeType="1"/>
            </p:cNvSpPr>
            <p:nvPr/>
          </p:nvSpPr>
          <p:spPr bwMode="auto">
            <a:xfrm>
              <a:off x="1722" y="264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0" name="Freeform 3939"/>
            <p:cNvSpPr>
              <a:spLocks/>
            </p:cNvSpPr>
            <p:nvPr/>
          </p:nvSpPr>
          <p:spPr bwMode="auto">
            <a:xfrm>
              <a:off x="1718" y="2632"/>
              <a:ext cx="27" cy="27"/>
            </a:xfrm>
            <a:custGeom>
              <a:avLst/>
              <a:gdLst>
                <a:gd name="T0" fmla="*/ 26 w 27"/>
                <a:gd name="T1" fmla="*/ 14 h 27"/>
                <a:gd name="T2" fmla="*/ 0 w 27"/>
                <a:gd name="T3" fmla="*/ 0 h 27"/>
                <a:gd name="T4" fmla="*/ 8 w 27"/>
                <a:gd name="T5" fmla="*/ 26 h 27"/>
                <a:gd name="T6" fmla="*/ 26 w 27"/>
                <a:gd name="T7" fmla="*/ 14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4"/>
                  </a:moveTo>
                  <a:lnTo>
                    <a:pt x="0" y="0"/>
                  </a:lnTo>
                  <a:lnTo>
                    <a:pt x="8" y="26"/>
                  </a:lnTo>
                  <a:lnTo>
                    <a:pt x="26"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1" name="Freeform 3940"/>
            <p:cNvSpPr>
              <a:spLocks/>
            </p:cNvSpPr>
            <p:nvPr/>
          </p:nvSpPr>
          <p:spPr bwMode="auto">
            <a:xfrm>
              <a:off x="1718" y="2632"/>
              <a:ext cx="27" cy="27"/>
            </a:xfrm>
            <a:custGeom>
              <a:avLst/>
              <a:gdLst>
                <a:gd name="T0" fmla="*/ 26 w 27"/>
                <a:gd name="T1" fmla="*/ 26 h 27"/>
                <a:gd name="T2" fmla="*/ 18 w 27"/>
                <a:gd name="T3" fmla="*/ 0 h 27"/>
                <a:gd name="T4" fmla="*/ 0 w 27"/>
                <a:gd name="T5" fmla="*/ 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0"/>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2" name="Freeform 3941"/>
            <p:cNvSpPr>
              <a:spLocks/>
            </p:cNvSpPr>
            <p:nvPr/>
          </p:nvSpPr>
          <p:spPr bwMode="auto">
            <a:xfrm>
              <a:off x="1736" y="263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3" name="Line 3942"/>
            <p:cNvSpPr>
              <a:spLocks noChangeShapeType="1"/>
            </p:cNvSpPr>
            <p:nvPr/>
          </p:nvSpPr>
          <p:spPr bwMode="auto">
            <a:xfrm>
              <a:off x="1736" y="2640"/>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4" name="Freeform 3943"/>
            <p:cNvSpPr>
              <a:spLocks/>
            </p:cNvSpPr>
            <p:nvPr/>
          </p:nvSpPr>
          <p:spPr bwMode="auto">
            <a:xfrm>
              <a:off x="1731" y="2632"/>
              <a:ext cx="26" cy="27"/>
            </a:xfrm>
            <a:custGeom>
              <a:avLst/>
              <a:gdLst>
                <a:gd name="T0" fmla="*/ 25 w 26"/>
                <a:gd name="T1" fmla="*/ 26 h 27"/>
                <a:gd name="T2" fmla="*/ 0 w 26"/>
                <a:gd name="T3" fmla="*/ 0 h 27"/>
                <a:gd name="T4" fmla="*/ 7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0" y="0"/>
                  </a:lnTo>
                  <a:lnTo>
                    <a:pt x="7" y="26"/>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5" name="Freeform 3944"/>
            <p:cNvSpPr>
              <a:spLocks/>
            </p:cNvSpPr>
            <p:nvPr/>
          </p:nvSpPr>
          <p:spPr bwMode="auto">
            <a:xfrm>
              <a:off x="1731" y="2626"/>
              <a:ext cx="26" cy="27"/>
            </a:xfrm>
            <a:custGeom>
              <a:avLst/>
              <a:gdLst>
                <a:gd name="T0" fmla="*/ 25 w 26"/>
                <a:gd name="T1" fmla="*/ 26 h 27"/>
                <a:gd name="T2" fmla="*/ 15 w 26"/>
                <a:gd name="T3" fmla="*/ 0 h 27"/>
                <a:gd name="T4" fmla="*/ 0 w 26"/>
                <a:gd name="T5" fmla="*/ 11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11"/>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6" name="Freeform 3945"/>
            <p:cNvSpPr>
              <a:spLocks/>
            </p:cNvSpPr>
            <p:nvPr/>
          </p:nvSpPr>
          <p:spPr bwMode="auto">
            <a:xfrm>
              <a:off x="1750"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7" name="Line 3946"/>
            <p:cNvSpPr>
              <a:spLocks noChangeShapeType="1"/>
            </p:cNvSpPr>
            <p:nvPr/>
          </p:nvSpPr>
          <p:spPr bwMode="auto">
            <a:xfrm>
              <a:off x="1750" y="2640"/>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8" name="Freeform 3947"/>
            <p:cNvSpPr>
              <a:spLocks/>
            </p:cNvSpPr>
            <p:nvPr/>
          </p:nvSpPr>
          <p:spPr bwMode="auto">
            <a:xfrm>
              <a:off x="1742" y="2626"/>
              <a:ext cx="26" cy="27"/>
            </a:xfrm>
            <a:custGeom>
              <a:avLst/>
              <a:gdLst>
                <a:gd name="T0" fmla="*/ 25 w 26"/>
                <a:gd name="T1" fmla="*/ 11 h 27"/>
                <a:gd name="T2" fmla="*/ 0 w 26"/>
                <a:gd name="T3" fmla="*/ 0 h 27"/>
                <a:gd name="T4" fmla="*/ 9 w 26"/>
                <a:gd name="T5" fmla="*/ 26 h 27"/>
                <a:gd name="T6" fmla="*/ 25 w 26"/>
                <a:gd name="T7" fmla="*/ 11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1"/>
                  </a:moveTo>
                  <a:lnTo>
                    <a:pt x="0" y="0"/>
                  </a:lnTo>
                  <a:lnTo>
                    <a:pt x="9" y="26"/>
                  </a:lnTo>
                  <a:lnTo>
                    <a:pt x="25"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39" name="Freeform 3948"/>
            <p:cNvSpPr>
              <a:spLocks/>
            </p:cNvSpPr>
            <p:nvPr/>
          </p:nvSpPr>
          <p:spPr bwMode="auto">
            <a:xfrm>
              <a:off x="1742" y="2619"/>
              <a:ext cx="26" cy="27"/>
            </a:xfrm>
            <a:custGeom>
              <a:avLst/>
              <a:gdLst>
                <a:gd name="T0" fmla="*/ 25 w 26"/>
                <a:gd name="T1" fmla="*/ 26 h 27"/>
                <a:gd name="T2" fmla="*/ 17 w 26"/>
                <a:gd name="T3" fmla="*/ 0 h 27"/>
                <a:gd name="T4" fmla="*/ 0 w 26"/>
                <a:gd name="T5" fmla="*/ 13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7" y="0"/>
                  </a:lnTo>
                  <a:lnTo>
                    <a:pt x="0" y="13"/>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0" name="Freeform 3949"/>
            <p:cNvSpPr>
              <a:spLocks/>
            </p:cNvSpPr>
            <p:nvPr/>
          </p:nvSpPr>
          <p:spPr bwMode="auto">
            <a:xfrm>
              <a:off x="1759"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1" name="Line 3950"/>
            <p:cNvSpPr>
              <a:spLocks noChangeShapeType="1"/>
            </p:cNvSpPr>
            <p:nvPr/>
          </p:nvSpPr>
          <p:spPr bwMode="auto">
            <a:xfrm>
              <a:off x="1759" y="2632"/>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2" name="Freeform 3951"/>
            <p:cNvSpPr>
              <a:spLocks/>
            </p:cNvSpPr>
            <p:nvPr/>
          </p:nvSpPr>
          <p:spPr bwMode="auto">
            <a:xfrm>
              <a:off x="1754" y="2619"/>
              <a:ext cx="27" cy="27"/>
            </a:xfrm>
            <a:custGeom>
              <a:avLst/>
              <a:gdLst>
                <a:gd name="T0" fmla="*/ 26 w 27"/>
                <a:gd name="T1" fmla="*/ 13 h 27"/>
                <a:gd name="T2" fmla="*/ 0 w 27"/>
                <a:gd name="T3" fmla="*/ 0 h 27"/>
                <a:gd name="T4" fmla="*/ 8 w 27"/>
                <a:gd name="T5" fmla="*/ 26 h 27"/>
                <a:gd name="T6" fmla="*/ 26 w 27"/>
                <a:gd name="T7" fmla="*/ 13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3"/>
                  </a:moveTo>
                  <a:lnTo>
                    <a:pt x="0" y="0"/>
                  </a:lnTo>
                  <a:lnTo>
                    <a:pt x="8" y="26"/>
                  </a:lnTo>
                  <a:lnTo>
                    <a:pt x="26"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3" name="Freeform 3952"/>
            <p:cNvSpPr>
              <a:spLocks/>
            </p:cNvSpPr>
            <p:nvPr/>
          </p:nvSpPr>
          <p:spPr bwMode="auto">
            <a:xfrm>
              <a:off x="1754" y="2611"/>
              <a:ext cx="27" cy="27"/>
            </a:xfrm>
            <a:custGeom>
              <a:avLst/>
              <a:gdLst>
                <a:gd name="T0" fmla="*/ 26 w 27"/>
                <a:gd name="T1" fmla="*/ 26 h 27"/>
                <a:gd name="T2" fmla="*/ 18 w 27"/>
                <a:gd name="T3" fmla="*/ 0 h 27"/>
                <a:gd name="T4" fmla="*/ 0 w 27"/>
                <a:gd name="T5" fmla="*/ 14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14"/>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4" name="Freeform 3953"/>
            <p:cNvSpPr>
              <a:spLocks/>
            </p:cNvSpPr>
            <p:nvPr/>
          </p:nvSpPr>
          <p:spPr bwMode="auto">
            <a:xfrm>
              <a:off x="1774" y="2619"/>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5" name="Line 3954"/>
            <p:cNvSpPr>
              <a:spLocks noChangeShapeType="1"/>
            </p:cNvSpPr>
            <p:nvPr/>
          </p:nvSpPr>
          <p:spPr bwMode="auto">
            <a:xfrm>
              <a:off x="1774" y="2626"/>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6" name="Freeform 3955"/>
            <p:cNvSpPr>
              <a:spLocks/>
            </p:cNvSpPr>
            <p:nvPr/>
          </p:nvSpPr>
          <p:spPr bwMode="auto">
            <a:xfrm>
              <a:off x="1767" y="2611"/>
              <a:ext cx="26" cy="27"/>
            </a:xfrm>
            <a:custGeom>
              <a:avLst/>
              <a:gdLst>
                <a:gd name="T0" fmla="*/ 25 w 26"/>
                <a:gd name="T1" fmla="*/ 14 h 27"/>
                <a:gd name="T2" fmla="*/ 0 w 26"/>
                <a:gd name="T3" fmla="*/ 0 h 27"/>
                <a:gd name="T4" fmla="*/ 7 w 26"/>
                <a:gd name="T5" fmla="*/ 26 h 27"/>
                <a:gd name="T6" fmla="*/ 25 w 26"/>
                <a:gd name="T7" fmla="*/ 14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4"/>
                  </a:moveTo>
                  <a:lnTo>
                    <a:pt x="0" y="0"/>
                  </a:lnTo>
                  <a:lnTo>
                    <a:pt x="7" y="26"/>
                  </a:lnTo>
                  <a:lnTo>
                    <a:pt x="25"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7" name="Freeform 3956"/>
            <p:cNvSpPr>
              <a:spLocks/>
            </p:cNvSpPr>
            <p:nvPr/>
          </p:nvSpPr>
          <p:spPr bwMode="auto">
            <a:xfrm>
              <a:off x="1767" y="2604"/>
              <a:ext cx="26" cy="28"/>
            </a:xfrm>
            <a:custGeom>
              <a:avLst/>
              <a:gdLst>
                <a:gd name="T0" fmla="*/ 25 w 26"/>
                <a:gd name="T1" fmla="*/ 27 h 28"/>
                <a:gd name="T2" fmla="*/ 17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17" y="0"/>
                  </a:lnTo>
                  <a:lnTo>
                    <a:pt x="0" y="12"/>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8" name="Freeform 3957"/>
            <p:cNvSpPr>
              <a:spLocks/>
            </p:cNvSpPr>
            <p:nvPr/>
          </p:nvSpPr>
          <p:spPr bwMode="auto">
            <a:xfrm>
              <a:off x="1785" y="2604"/>
              <a:ext cx="1" cy="28"/>
            </a:xfrm>
            <a:custGeom>
              <a:avLst/>
              <a:gdLst>
                <a:gd name="T0" fmla="*/ 0 w 1"/>
                <a:gd name="T1" fmla="*/ 12 h 28"/>
                <a:gd name="T2" fmla="*/ 0 w 1"/>
                <a:gd name="T3" fmla="*/ 27 h 28"/>
                <a:gd name="T4" fmla="*/ 0 w 1"/>
                <a:gd name="T5" fmla="*/ 0 h 28"/>
                <a:gd name="T6" fmla="*/ 0 w 1"/>
                <a:gd name="T7" fmla="*/ 12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12"/>
                  </a:moveTo>
                  <a:lnTo>
                    <a:pt x="0" y="27"/>
                  </a:lnTo>
                  <a:lnTo>
                    <a:pt x="0" y="0"/>
                  </a:lnTo>
                  <a:lnTo>
                    <a:pt x="0"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49" name="Freeform 3958"/>
            <p:cNvSpPr>
              <a:spLocks/>
            </p:cNvSpPr>
            <p:nvPr/>
          </p:nvSpPr>
          <p:spPr bwMode="auto">
            <a:xfrm>
              <a:off x="1785" y="2611"/>
              <a:ext cx="1" cy="27"/>
            </a:xfrm>
            <a:custGeom>
              <a:avLst/>
              <a:gdLst>
                <a:gd name="T0" fmla="*/ 0 w 1"/>
                <a:gd name="T1" fmla="*/ 0 h 27"/>
                <a:gd name="T2" fmla="*/ 0 w 1"/>
                <a:gd name="T3" fmla="*/ 26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0" name="Freeform 3959"/>
            <p:cNvSpPr>
              <a:spLocks/>
            </p:cNvSpPr>
            <p:nvPr/>
          </p:nvSpPr>
          <p:spPr bwMode="auto">
            <a:xfrm>
              <a:off x="1781" y="2604"/>
              <a:ext cx="26" cy="28"/>
            </a:xfrm>
            <a:custGeom>
              <a:avLst/>
              <a:gdLst>
                <a:gd name="T0" fmla="*/ 25 w 26"/>
                <a:gd name="T1" fmla="*/ 0 h 28"/>
                <a:gd name="T2" fmla="*/ 0 w 26"/>
                <a:gd name="T3" fmla="*/ 0 h 28"/>
                <a:gd name="T4" fmla="*/ 7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7"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1" name="Freeform 3960"/>
            <p:cNvSpPr>
              <a:spLocks/>
            </p:cNvSpPr>
            <p:nvPr/>
          </p:nvSpPr>
          <p:spPr bwMode="auto">
            <a:xfrm>
              <a:off x="1781" y="2598"/>
              <a:ext cx="26" cy="27"/>
            </a:xfrm>
            <a:custGeom>
              <a:avLst/>
              <a:gdLst>
                <a:gd name="T0" fmla="*/ 25 w 26"/>
                <a:gd name="T1" fmla="*/ 26 h 27"/>
                <a:gd name="T2" fmla="*/ 15 w 26"/>
                <a:gd name="T3" fmla="*/ 0 h 27"/>
                <a:gd name="T4" fmla="*/ 0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26"/>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2" name="Freeform 3961"/>
            <p:cNvSpPr>
              <a:spLocks/>
            </p:cNvSpPr>
            <p:nvPr/>
          </p:nvSpPr>
          <p:spPr bwMode="auto">
            <a:xfrm>
              <a:off x="1797" y="25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3" name="Line 3962"/>
            <p:cNvSpPr>
              <a:spLocks noChangeShapeType="1"/>
            </p:cNvSpPr>
            <p:nvPr/>
          </p:nvSpPr>
          <p:spPr bwMode="auto">
            <a:xfrm>
              <a:off x="1797" y="2604"/>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4" name="Freeform 3963"/>
            <p:cNvSpPr>
              <a:spLocks/>
            </p:cNvSpPr>
            <p:nvPr/>
          </p:nvSpPr>
          <p:spPr bwMode="auto">
            <a:xfrm>
              <a:off x="1792" y="2598"/>
              <a:ext cx="24" cy="27"/>
            </a:xfrm>
            <a:custGeom>
              <a:avLst/>
              <a:gdLst>
                <a:gd name="T0" fmla="*/ 23 w 24"/>
                <a:gd name="T1" fmla="*/ 0 h 27"/>
                <a:gd name="T2" fmla="*/ 0 w 24"/>
                <a:gd name="T3" fmla="*/ 0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0"/>
                  </a:lnTo>
                  <a:lnTo>
                    <a:pt x="8"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5" name="Freeform 3964"/>
            <p:cNvSpPr>
              <a:spLocks/>
            </p:cNvSpPr>
            <p:nvPr/>
          </p:nvSpPr>
          <p:spPr bwMode="auto">
            <a:xfrm>
              <a:off x="1792" y="2584"/>
              <a:ext cx="24" cy="26"/>
            </a:xfrm>
            <a:custGeom>
              <a:avLst/>
              <a:gdLst>
                <a:gd name="T0" fmla="*/ 23 w 24"/>
                <a:gd name="T1" fmla="*/ 25 h 26"/>
                <a:gd name="T2" fmla="*/ 8 w 24"/>
                <a:gd name="T3" fmla="*/ 0 h 26"/>
                <a:gd name="T4" fmla="*/ 0 w 24"/>
                <a:gd name="T5" fmla="*/ 25 h 26"/>
                <a:gd name="T6" fmla="*/ 23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25"/>
                  </a:moveTo>
                  <a:lnTo>
                    <a:pt x="8" y="0"/>
                  </a:lnTo>
                  <a:lnTo>
                    <a:pt x="0" y="25"/>
                  </a:lnTo>
                  <a:lnTo>
                    <a:pt x="23"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6" name="Freeform 3965"/>
            <p:cNvSpPr>
              <a:spLocks/>
            </p:cNvSpPr>
            <p:nvPr/>
          </p:nvSpPr>
          <p:spPr bwMode="auto">
            <a:xfrm>
              <a:off x="1805" y="2589"/>
              <a:ext cx="26" cy="28"/>
            </a:xfrm>
            <a:custGeom>
              <a:avLst/>
              <a:gdLst>
                <a:gd name="T0" fmla="*/ 25 w 26"/>
                <a:gd name="T1" fmla="*/ 27 h 28"/>
                <a:gd name="T2" fmla="*/ 25 w 26"/>
                <a:gd name="T3" fmla="*/ 27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27"/>
                  </a:lnTo>
                  <a:lnTo>
                    <a:pt x="0" y="0"/>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7" name="Line 3966"/>
            <p:cNvSpPr>
              <a:spLocks noChangeShapeType="1"/>
            </p:cNvSpPr>
            <p:nvPr/>
          </p:nvSpPr>
          <p:spPr bwMode="auto">
            <a:xfrm>
              <a:off x="1809" y="2598"/>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8" name="Freeform 3967"/>
            <p:cNvSpPr>
              <a:spLocks/>
            </p:cNvSpPr>
            <p:nvPr/>
          </p:nvSpPr>
          <p:spPr bwMode="auto">
            <a:xfrm>
              <a:off x="1797" y="2584"/>
              <a:ext cx="27" cy="26"/>
            </a:xfrm>
            <a:custGeom>
              <a:avLst/>
              <a:gdLst>
                <a:gd name="T0" fmla="*/ 26 w 27"/>
                <a:gd name="T1" fmla="*/ 0 h 26"/>
                <a:gd name="T2" fmla="*/ 0 w 27"/>
                <a:gd name="T3" fmla="*/ 0 h 26"/>
                <a:gd name="T4" fmla="*/ 12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0"/>
                  </a:lnTo>
                  <a:lnTo>
                    <a:pt x="12" y="2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59" name="Freeform 3968"/>
            <p:cNvSpPr>
              <a:spLocks/>
            </p:cNvSpPr>
            <p:nvPr/>
          </p:nvSpPr>
          <p:spPr bwMode="auto">
            <a:xfrm>
              <a:off x="1797" y="2576"/>
              <a:ext cx="27" cy="28"/>
            </a:xfrm>
            <a:custGeom>
              <a:avLst/>
              <a:gdLst>
                <a:gd name="T0" fmla="*/ 26 w 27"/>
                <a:gd name="T1" fmla="*/ 27 h 28"/>
                <a:gd name="T2" fmla="*/ 12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2"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0" name="Freeform 3969"/>
            <p:cNvSpPr>
              <a:spLocks/>
            </p:cNvSpPr>
            <p:nvPr/>
          </p:nvSpPr>
          <p:spPr bwMode="auto">
            <a:xfrm>
              <a:off x="1815" y="2576"/>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1" name="Line 3970"/>
            <p:cNvSpPr>
              <a:spLocks noChangeShapeType="1"/>
            </p:cNvSpPr>
            <p:nvPr/>
          </p:nvSpPr>
          <p:spPr bwMode="auto">
            <a:xfrm>
              <a:off x="1823" y="2584"/>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2" name="Freeform 3971"/>
            <p:cNvSpPr>
              <a:spLocks/>
            </p:cNvSpPr>
            <p:nvPr/>
          </p:nvSpPr>
          <p:spPr bwMode="auto">
            <a:xfrm>
              <a:off x="1809" y="2568"/>
              <a:ext cx="27" cy="28"/>
            </a:xfrm>
            <a:custGeom>
              <a:avLst/>
              <a:gdLst>
                <a:gd name="T0" fmla="*/ 26 w 27"/>
                <a:gd name="T1" fmla="*/ 0 h 28"/>
                <a:gd name="T2" fmla="*/ 0 w 27"/>
                <a:gd name="T3" fmla="*/ 15 h 28"/>
                <a:gd name="T4" fmla="*/ 13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3"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3" name="Freeform 3972"/>
            <p:cNvSpPr>
              <a:spLocks/>
            </p:cNvSpPr>
            <p:nvPr/>
          </p:nvSpPr>
          <p:spPr bwMode="auto">
            <a:xfrm>
              <a:off x="1809" y="2562"/>
              <a:ext cx="27" cy="27"/>
            </a:xfrm>
            <a:custGeom>
              <a:avLst/>
              <a:gdLst>
                <a:gd name="T0" fmla="*/ 26 w 27"/>
                <a:gd name="T1" fmla="*/ 11 h 27"/>
                <a:gd name="T2" fmla="*/ 13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3" y="0"/>
                  </a:lnTo>
                  <a:lnTo>
                    <a:pt x="0" y="26"/>
                  </a:lnTo>
                  <a:lnTo>
                    <a:pt x="26"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4" name="Freeform 3973"/>
            <p:cNvSpPr>
              <a:spLocks/>
            </p:cNvSpPr>
            <p:nvPr/>
          </p:nvSpPr>
          <p:spPr bwMode="auto">
            <a:xfrm>
              <a:off x="1828" y="2562"/>
              <a:ext cx="26" cy="27"/>
            </a:xfrm>
            <a:custGeom>
              <a:avLst/>
              <a:gdLst>
                <a:gd name="T0" fmla="*/ 25 w 26"/>
                <a:gd name="T1" fmla="*/ 26 h 27"/>
                <a:gd name="T2" fmla="*/ 25 w 26"/>
                <a:gd name="T3" fmla="*/ 26 h 27"/>
                <a:gd name="T4" fmla="*/ 0 w 26"/>
                <a:gd name="T5" fmla="*/ 0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26"/>
                  </a:lnTo>
                  <a:lnTo>
                    <a:pt x="0" y="0"/>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5" name="Line 3974"/>
            <p:cNvSpPr>
              <a:spLocks noChangeShapeType="1"/>
            </p:cNvSpPr>
            <p:nvPr/>
          </p:nvSpPr>
          <p:spPr bwMode="auto">
            <a:xfrm>
              <a:off x="1835" y="25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6" name="Freeform 3975"/>
            <p:cNvSpPr>
              <a:spLocks/>
            </p:cNvSpPr>
            <p:nvPr/>
          </p:nvSpPr>
          <p:spPr bwMode="auto">
            <a:xfrm>
              <a:off x="1823" y="2556"/>
              <a:ext cx="25" cy="26"/>
            </a:xfrm>
            <a:custGeom>
              <a:avLst/>
              <a:gdLst>
                <a:gd name="T0" fmla="*/ 24 w 25"/>
                <a:gd name="T1" fmla="*/ 0 h 26"/>
                <a:gd name="T2" fmla="*/ 0 w 25"/>
                <a:gd name="T3" fmla="*/ 12 h 26"/>
                <a:gd name="T4" fmla="*/ 12 w 25"/>
                <a:gd name="T5" fmla="*/ 25 h 26"/>
                <a:gd name="T6" fmla="*/ 24 w 25"/>
                <a:gd name="T7" fmla="*/ 0 h 26"/>
                <a:gd name="T8" fmla="*/ 0 60000 65536"/>
                <a:gd name="T9" fmla="*/ 0 60000 65536"/>
                <a:gd name="T10" fmla="*/ 0 60000 65536"/>
                <a:gd name="T11" fmla="*/ 0 60000 65536"/>
                <a:gd name="T12" fmla="*/ 0 w 25"/>
                <a:gd name="T13" fmla="*/ 0 h 26"/>
                <a:gd name="T14" fmla="*/ 25 w 25"/>
                <a:gd name="T15" fmla="*/ 26 h 26"/>
              </a:gdLst>
              <a:ahLst/>
              <a:cxnLst>
                <a:cxn ang="T8">
                  <a:pos x="T0" y="T1"/>
                </a:cxn>
                <a:cxn ang="T9">
                  <a:pos x="T2" y="T3"/>
                </a:cxn>
                <a:cxn ang="T10">
                  <a:pos x="T4" y="T5"/>
                </a:cxn>
                <a:cxn ang="T11">
                  <a:pos x="T6" y="T7"/>
                </a:cxn>
              </a:cxnLst>
              <a:rect l="T12" t="T13" r="T14" b="T15"/>
              <a:pathLst>
                <a:path w="25" h="26">
                  <a:moveTo>
                    <a:pt x="24" y="0"/>
                  </a:moveTo>
                  <a:lnTo>
                    <a:pt x="0" y="12"/>
                  </a:lnTo>
                  <a:lnTo>
                    <a:pt x="12" y="25"/>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7" name="Freeform 3976"/>
            <p:cNvSpPr>
              <a:spLocks/>
            </p:cNvSpPr>
            <p:nvPr/>
          </p:nvSpPr>
          <p:spPr bwMode="auto">
            <a:xfrm>
              <a:off x="1823" y="2547"/>
              <a:ext cx="25" cy="27"/>
            </a:xfrm>
            <a:custGeom>
              <a:avLst/>
              <a:gdLst>
                <a:gd name="T0" fmla="*/ 24 w 25"/>
                <a:gd name="T1" fmla="*/ 14 h 27"/>
                <a:gd name="T2" fmla="*/ 12 w 25"/>
                <a:gd name="T3" fmla="*/ 0 h 27"/>
                <a:gd name="T4" fmla="*/ 0 w 25"/>
                <a:gd name="T5" fmla="*/ 26 h 27"/>
                <a:gd name="T6" fmla="*/ 24 w 25"/>
                <a:gd name="T7" fmla="*/ 14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14"/>
                  </a:moveTo>
                  <a:lnTo>
                    <a:pt x="12" y="0"/>
                  </a:lnTo>
                  <a:lnTo>
                    <a:pt x="0" y="26"/>
                  </a:lnTo>
                  <a:lnTo>
                    <a:pt x="24"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8" name="Freeform 3977"/>
            <p:cNvSpPr>
              <a:spLocks/>
            </p:cNvSpPr>
            <p:nvPr/>
          </p:nvSpPr>
          <p:spPr bwMode="auto">
            <a:xfrm>
              <a:off x="1842" y="2547"/>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69" name="Line 3978"/>
            <p:cNvSpPr>
              <a:spLocks noChangeShapeType="1"/>
            </p:cNvSpPr>
            <p:nvPr/>
          </p:nvSpPr>
          <p:spPr bwMode="auto">
            <a:xfrm>
              <a:off x="1846" y="2556"/>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0" name="Freeform 3979"/>
            <p:cNvSpPr>
              <a:spLocks/>
            </p:cNvSpPr>
            <p:nvPr/>
          </p:nvSpPr>
          <p:spPr bwMode="auto">
            <a:xfrm>
              <a:off x="1835" y="2541"/>
              <a:ext cx="27" cy="27"/>
            </a:xfrm>
            <a:custGeom>
              <a:avLst/>
              <a:gdLst>
                <a:gd name="T0" fmla="*/ 26 w 27"/>
                <a:gd name="T1" fmla="*/ 0 h 27"/>
                <a:gd name="T2" fmla="*/ 0 w 27"/>
                <a:gd name="T3" fmla="*/ 11 h 27"/>
                <a:gd name="T4" fmla="*/ 12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0" y="11"/>
                  </a:lnTo>
                  <a:lnTo>
                    <a:pt x="12" y="26"/>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1" name="Freeform 3980"/>
            <p:cNvSpPr>
              <a:spLocks/>
            </p:cNvSpPr>
            <p:nvPr/>
          </p:nvSpPr>
          <p:spPr bwMode="auto">
            <a:xfrm>
              <a:off x="1835" y="2532"/>
              <a:ext cx="27" cy="28"/>
            </a:xfrm>
            <a:custGeom>
              <a:avLst/>
              <a:gdLst>
                <a:gd name="T0" fmla="*/ 26 w 27"/>
                <a:gd name="T1" fmla="*/ 15 h 28"/>
                <a:gd name="T2" fmla="*/ 12 w 27"/>
                <a:gd name="T3" fmla="*/ 0 h 28"/>
                <a:gd name="T4" fmla="*/ 0 w 27"/>
                <a:gd name="T5" fmla="*/ 27 h 28"/>
                <a:gd name="T6" fmla="*/ 26 w 27"/>
                <a:gd name="T7" fmla="*/ 15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5"/>
                  </a:moveTo>
                  <a:lnTo>
                    <a:pt x="12" y="0"/>
                  </a:lnTo>
                  <a:lnTo>
                    <a:pt x="0" y="27"/>
                  </a:lnTo>
                  <a:lnTo>
                    <a:pt x="26"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2" name="Freeform 3981"/>
            <p:cNvSpPr>
              <a:spLocks/>
            </p:cNvSpPr>
            <p:nvPr/>
          </p:nvSpPr>
          <p:spPr bwMode="auto">
            <a:xfrm>
              <a:off x="1853" y="2532"/>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3" name="Line 3982"/>
            <p:cNvSpPr>
              <a:spLocks noChangeShapeType="1"/>
            </p:cNvSpPr>
            <p:nvPr/>
          </p:nvSpPr>
          <p:spPr bwMode="auto">
            <a:xfrm>
              <a:off x="1861" y="25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4" name="Freeform 3983"/>
            <p:cNvSpPr>
              <a:spLocks/>
            </p:cNvSpPr>
            <p:nvPr/>
          </p:nvSpPr>
          <p:spPr bwMode="auto">
            <a:xfrm>
              <a:off x="1846" y="2527"/>
              <a:ext cx="27" cy="26"/>
            </a:xfrm>
            <a:custGeom>
              <a:avLst/>
              <a:gdLst>
                <a:gd name="T0" fmla="*/ 26 w 27"/>
                <a:gd name="T1" fmla="*/ 0 h 26"/>
                <a:gd name="T2" fmla="*/ 0 w 27"/>
                <a:gd name="T3" fmla="*/ 11 h 26"/>
                <a:gd name="T4" fmla="*/ 16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11"/>
                  </a:lnTo>
                  <a:lnTo>
                    <a:pt x="16" y="2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5" name="Freeform 3984"/>
            <p:cNvSpPr>
              <a:spLocks/>
            </p:cNvSpPr>
            <p:nvPr/>
          </p:nvSpPr>
          <p:spPr bwMode="auto">
            <a:xfrm>
              <a:off x="1846" y="2519"/>
              <a:ext cx="27" cy="28"/>
            </a:xfrm>
            <a:custGeom>
              <a:avLst/>
              <a:gdLst>
                <a:gd name="T0" fmla="*/ 26 w 27"/>
                <a:gd name="T1" fmla="*/ 13 h 28"/>
                <a:gd name="T2" fmla="*/ 16 w 27"/>
                <a:gd name="T3" fmla="*/ 0 h 28"/>
                <a:gd name="T4" fmla="*/ 0 w 27"/>
                <a:gd name="T5" fmla="*/ 27 h 28"/>
                <a:gd name="T6" fmla="*/ 26 w 27"/>
                <a:gd name="T7" fmla="*/ 13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3"/>
                  </a:moveTo>
                  <a:lnTo>
                    <a:pt x="16" y="0"/>
                  </a:lnTo>
                  <a:lnTo>
                    <a:pt x="0" y="27"/>
                  </a:lnTo>
                  <a:lnTo>
                    <a:pt x="26"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6" name="Freeform 3985"/>
            <p:cNvSpPr>
              <a:spLocks/>
            </p:cNvSpPr>
            <p:nvPr/>
          </p:nvSpPr>
          <p:spPr bwMode="auto">
            <a:xfrm>
              <a:off x="1868" y="251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7" name="Line 3986"/>
            <p:cNvSpPr>
              <a:spLocks noChangeShapeType="1"/>
            </p:cNvSpPr>
            <p:nvPr/>
          </p:nvSpPr>
          <p:spPr bwMode="auto">
            <a:xfrm>
              <a:off x="1868" y="252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8" name="Freeform 3987"/>
            <p:cNvSpPr>
              <a:spLocks/>
            </p:cNvSpPr>
            <p:nvPr/>
          </p:nvSpPr>
          <p:spPr bwMode="auto">
            <a:xfrm>
              <a:off x="1861" y="2505"/>
              <a:ext cx="24" cy="26"/>
            </a:xfrm>
            <a:custGeom>
              <a:avLst/>
              <a:gdLst>
                <a:gd name="T0" fmla="*/ 23 w 24"/>
                <a:gd name="T1" fmla="*/ 0 h 26"/>
                <a:gd name="T2" fmla="*/ 0 w 24"/>
                <a:gd name="T3" fmla="*/ 17 h 26"/>
                <a:gd name="T4" fmla="*/ 8 w 24"/>
                <a:gd name="T5" fmla="*/ 25 h 26"/>
                <a:gd name="T6" fmla="*/ 23 w 24"/>
                <a:gd name="T7" fmla="*/ 0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0"/>
                  </a:moveTo>
                  <a:lnTo>
                    <a:pt x="0" y="17"/>
                  </a:lnTo>
                  <a:lnTo>
                    <a:pt x="8" y="25"/>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79" name="Freeform 3988"/>
            <p:cNvSpPr>
              <a:spLocks/>
            </p:cNvSpPr>
            <p:nvPr/>
          </p:nvSpPr>
          <p:spPr bwMode="auto">
            <a:xfrm>
              <a:off x="1861" y="2498"/>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0" name="Freeform 3989"/>
            <p:cNvSpPr>
              <a:spLocks/>
            </p:cNvSpPr>
            <p:nvPr/>
          </p:nvSpPr>
          <p:spPr bwMode="auto">
            <a:xfrm>
              <a:off x="1880" y="24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1" name="Line 3990"/>
            <p:cNvSpPr>
              <a:spLocks noChangeShapeType="1"/>
            </p:cNvSpPr>
            <p:nvPr/>
          </p:nvSpPr>
          <p:spPr bwMode="auto">
            <a:xfrm>
              <a:off x="1880" y="2505"/>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2" name="Freeform 3991"/>
            <p:cNvSpPr>
              <a:spLocks/>
            </p:cNvSpPr>
            <p:nvPr/>
          </p:nvSpPr>
          <p:spPr bwMode="auto">
            <a:xfrm>
              <a:off x="1872" y="2489"/>
              <a:ext cx="28" cy="28"/>
            </a:xfrm>
            <a:custGeom>
              <a:avLst/>
              <a:gdLst>
                <a:gd name="T0" fmla="*/ 27 w 28"/>
                <a:gd name="T1" fmla="*/ 0 h 28"/>
                <a:gd name="T2" fmla="*/ 0 w 28"/>
                <a:gd name="T3" fmla="*/ 15 h 28"/>
                <a:gd name="T4" fmla="*/ 8 w 28"/>
                <a:gd name="T5" fmla="*/ 27 h 28"/>
                <a:gd name="T6" fmla="*/ 27 w 28"/>
                <a:gd name="T7" fmla="*/ 0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0"/>
                  </a:moveTo>
                  <a:lnTo>
                    <a:pt x="0" y="15"/>
                  </a:lnTo>
                  <a:lnTo>
                    <a:pt x="8" y="27"/>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3" name="Freeform 3992"/>
            <p:cNvSpPr>
              <a:spLocks/>
            </p:cNvSpPr>
            <p:nvPr/>
          </p:nvSpPr>
          <p:spPr bwMode="auto">
            <a:xfrm>
              <a:off x="1872" y="2484"/>
              <a:ext cx="28" cy="26"/>
            </a:xfrm>
            <a:custGeom>
              <a:avLst/>
              <a:gdLst>
                <a:gd name="T0" fmla="*/ 27 w 28"/>
                <a:gd name="T1" fmla="*/ 11 h 26"/>
                <a:gd name="T2" fmla="*/ 18 w 28"/>
                <a:gd name="T3" fmla="*/ 0 h 26"/>
                <a:gd name="T4" fmla="*/ 0 w 28"/>
                <a:gd name="T5" fmla="*/ 25 h 26"/>
                <a:gd name="T6" fmla="*/ 27 w 28"/>
                <a:gd name="T7" fmla="*/ 11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11"/>
                  </a:moveTo>
                  <a:lnTo>
                    <a:pt x="18" y="0"/>
                  </a:lnTo>
                  <a:lnTo>
                    <a:pt x="0" y="25"/>
                  </a:lnTo>
                  <a:lnTo>
                    <a:pt x="27"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4" name="Freeform 3993"/>
            <p:cNvSpPr>
              <a:spLocks/>
            </p:cNvSpPr>
            <p:nvPr/>
          </p:nvSpPr>
          <p:spPr bwMode="auto">
            <a:xfrm>
              <a:off x="1891" y="2484"/>
              <a:ext cx="1" cy="26"/>
            </a:xfrm>
            <a:custGeom>
              <a:avLst/>
              <a:gdLst>
                <a:gd name="T0" fmla="*/ 0 w 1"/>
                <a:gd name="T1" fmla="*/ 25 h 26"/>
                <a:gd name="T2" fmla="*/ 0 w 1"/>
                <a:gd name="T3" fmla="*/ 25 h 26"/>
                <a:gd name="T4" fmla="*/ 0 w 1"/>
                <a:gd name="T5" fmla="*/ 0 h 26"/>
                <a:gd name="T6" fmla="*/ 0 w 1"/>
                <a:gd name="T7" fmla="*/ 25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25"/>
                  </a:moveTo>
                  <a:lnTo>
                    <a:pt x="0" y="25"/>
                  </a:lnTo>
                  <a:lnTo>
                    <a:pt x="0" y="0"/>
                  </a:lnTo>
                  <a:lnTo>
                    <a:pt x="0"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5" name="Freeform 3994"/>
            <p:cNvSpPr>
              <a:spLocks/>
            </p:cNvSpPr>
            <p:nvPr/>
          </p:nvSpPr>
          <p:spPr bwMode="auto">
            <a:xfrm>
              <a:off x="1885" y="2468"/>
              <a:ext cx="25" cy="28"/>
            </a:xfrm>
            <a:custGeom>
              <a:avLst/>
              <a:gdLst>
                <a:gd name="T0" fmla="*/ 24 w 25"/>
                <a:gd name="T1" fmla="*/ 0 h 28"/>
                <a:gd name="T2" fmla="*/ 0 w 25"/>
                <a:gd name="T3" fmla="*/ 18 h 28"/>
                <a:gd name="T4" fmla="*/ 7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18"/>
                  </a:lnTo>
                  <a:lnTo>
                    <a:pt x="7" y="27"/>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6" name="Freeform 3995"/>
            <p:cNvSpPr>
              <a:spLocks/>
            </p:cNvSpPr>
            <p:nvPr/>
          </p:nvSpPr>
          <p:spPr bwMode="auto">
            <a:xfrm>
              <a:off x="1885" y="2462"/>
              <a:ext cx="25" cy="27"/>
            </a:xfrm>
            <a:custGeom>
              <a:avLst/>
              <a:gdLst>
                <a:gd name="T0" fmla="*/ 24 w 25"/>
                <a:gd name="T1" fmla="*/ 8 h 27"/>
                <a:gd name="T2" fmla="*/ 14 w 25"/>
                <a:gd name="T3" fmla="*/ 0 h 27"/>
                <a:gd name="T4" fmla="*/ 0 w 25"/>
                <a:gd name="T5" fmla="*/ 26 h 27"/>
                <a:gd name="T6" fmla="*/ 24 w 25"/>
                <a:gd name="T7" fmla="*/ 8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8"/>
                  </a:moveTo>
                  <a:lnTo>
                    <a:pt x="14" y="0"/>
                  </a:lnTo>
                  <a:lnTo>
                    <a:pt x="0" y="26"/>
                  </a:lnTo>
                  <a:lnTo>
                    <a:pt x="24"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7" name="Freeform 3996"/>
            <p:cNvSpPr>
              <a:spLocks/>
            </p:cNvSpPr>
            <p:nvPr/>
          </p:nvSpPr>
          <p:spPr bwMode="auto">
            <a:xfrm>
              <a:off x="1904" y="246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8" name="Line 3997"/>
            <p:cNvSpPr>
              <a:spLocks noChangeShapeType="1"/>
            </p:cNvSpPr>
            <p:nvPr/>
          </p:nvSpPr>
          <p:spPr bwMode="auto">
            <a:xfrm>
              <a:off x="1904" y="246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89" name="Freeform 3998"/>
            <p:cNvSpPr>
              <a:spLocks/>
            </p:cNvSpPr>
            <p:nvPr/>
          </p:nvSpPr>
          <p:spPr bwMode="auto">
            <a:xfrm>
              <a:off x="1899" y="2447"/>
              <a:ext cx="24" cy="27"/>
            </a:xfrm>
            <a:custGeom>
              <a:avLst/>
              <a:gdLst>
                <a:gd name="T0" fmla="*/ 23 w 24"/>
                <a:gd name="T1" fmla="*/ 0 h 27"/>
                <a:gd name="T2" fmla="*/ 0 w 24"/>
                <a:gd name="T3" fmla="*/ 18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8"/>
                  </a:lnTo>
                  <a:lnTo>
                    <a:pt x="8"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0" name="Freeform 3999"/>
            <p:cNvSpPr>
              <a:spLocks/>
            </p:cNvSpPr>
            <p:nvPr/>
          </p:nvSpPr>
          <p:spPr bwMode="auto">
            <a:xfrm>
              <a:off x="1899" y="2441"/>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1" name="Freeform 4000"/>
            <p:cNvSpPr>
              <a:spLocks/>
            </p:cNvSpPr>
            <p:nvPr/>
          </p:nvSpPr>
          <p:spPr bwMode="auto">
            <a:xfrm>
              <a:off x="1917" y="244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2" name="Line 4001"/>
            <p:cNvSpPr>
              <a:spLocks noChangeShapeType="1"/>
            </p:cNvSpPr>
            <p:nvPr/>
          </p:nvSpPr>
          <p:spPr bwMode="auto">
            <a:xfrm>
              <a:off x="1917" y="244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3" name="Freeform 4002"/>
            <p:cNvSpPr>
              <a:spLocks/>
            </p:cNvSpPr>
            <p:nvPr/>
          </p:nvSpPr>
          <p:spPr bwMode="auto">
            <a:xfrm>
              <a:off x="1909" y="2420"/>
              <a:ext cx="29" cy="28"/>
            </a:xfrm>
            <a:custGeom>
              <a:avLst/>
              <a:gdLst>
                <a:gd name="T0" fmla="*/ 28 w 29"/>
                <a:gd name="T1" fmla="*/ 0 h 28"/>
                <a:gd name="T2" fmla="*/ 0 w 29"/>
                <a:gd name="T3" fmla="*/ 20 h 28"/>
                <a:gd name="T4" fmla="*/ 8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0" y="20"/>
                  </a:lnTo>
                  <a:lnTo>
                    <a:pt x="8" y="27"/>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4" name="Freeform 4003"/>
            <p:cNvSpPr>
              <a:spLocks/>
            </p:cNvSpPr>
            <p:nvPr/>
          </p:nvSpPr>
          <p:spPr bwMode="auto">
            <a:xfrm>
              <a:off x="1909" y="2412"/>
              <a:ext cx="29" cy="30"/>
            </a:xfrm>
            <a:custGeom>
              <a:avLst/>
              <a:gdLst>
                <a:gd name="T0" fmla="*/ 28 w 29"/>
                <a:gd name="T1" fmla="*/ 6 h 30"/>
                <a:gd name="T2" fmla="*/ 8 w 29"/>
                <a:gd name="T3" fmla="*/ 0 h 30"/>
                <a:gd name="T4" fmla="*/ 0 w 29"/>
                <a:gd name="T5" fmla="*/ 29 h 30"/>
                <a:gd name="T6" fmla="*/ 28 w 29"/>
                <a:gd name="T7" fmla="*/ 6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28" y="6"/>
                  </a:moveTo>
                  <a:lnTo>
                    <a:pt x="8" y="0"/>
                  </a:lnTo>
                  <a:lnTo>
                    <a:pt x="0" y="29"/>
                  </a:lnTo>
                  <a:lnTo>
                    <a:pt x="28"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5" name="Freeform 4004"/>
            <p:cNvSpPr>
              <a:spLocks/>
            </p:cNvSpPr>
            <p:nvPr/>
          </p:nvSpPr>
          <p:spPr bwMode="auto">
            <a:xfrm>
              <a:off x="1929" y="2412"/>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6" name="Line 4005"/>
            <p:cNvSpPr>
              <a:spLocks noChangeShapeType="1"/>
            </p:cNvSpPr>
            <p:nvPr/>
          </p:nvSpPr>
          <p:spPr bwMode="auto">
            <a:xfrm>
              <a:off x="1929" y="2420"/>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7" name="Freeform 4006"/>
            <p:cNvSpPr>
              <a:spLocks/>
            </p:cNvSpPr>
            <p:nvPr/>
          </p:nvSpPr>
          <p:spPr bwMode="auto">
            <a:xfrm>
              <a:off x="1917" y="2398"/>
              <a:ext cx="25" cy="27"/>
            </a:xfrm>
            <a:custGeom>
              <a:avLst/>
              <a:gdLst>
                <a:gd name="T0" fmla="*/ 24 w 25"/>
                <a:gd name="T1" fmla="*/ 0 h 27"/>
                <a:gd name="T2" fmla="*/ 0 w 25"/>
                <a:gd name="T3" fmla="*/ 18 h 27"/>
                <a:gd name="T4" fmla="*/ 12 w 25"/>
                <a:gd name="T5" fmla="*/ 26 h 27"/>
                <a:gd name="T6" fmla="*/ 24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0"/>
                  </a:moveTo>
                  <a:lnTo>
                    <a:pt x="0" y="18"/>
                  </a:lnTo>
                  <a:lnTo>
                    <a:pt x="12" y="26"/>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8" name="Freeform 4007"/>
            <p:cNvSpPr>
              <a:spLocks/>
            </p:cNvSpPr>
            <p:nvPr/>
          </p:nvSpPr>
          <p:spPr bwMode="auto">
            <a:xfrm>
              <a:off x="1917" y="2390"/>
              <a:ext cx="25" cy="27"/>
            </a:xfrm>
            <a:custGeom>
              <a:avLst/>
              <a:gdLst>
                <a:gd name="T0" fmla="*/ 24 w 25"/>
                <a:gd name="T1" fmla="*/ 9 h 27"/>
                <a:gd name="T2" fmla="*/ 12 w 25"/>
                <a:gd name="T3" fmla="*/ 0 h 27"/>
                <a:gd name="T4" fmla="*/ 0 w 25"/>
                <a:gd name="T5" fmla="*/ 26 h 27"/>
                <a:gd name="T6" fmla="*/ 24 w 25"/>
                <a:gd name="T7" fmla="*/ 9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9"/>
                  </a:moveTo>
                  <a:lnTo>
                    <a:pt x="12" y="0"/>
                  </a:lnTo>
                  <a:lnTo>
                    <a:pt x="0" y="26"/>
                  </a:lnTo>
                  <a:lnTo>
                    <a:pt x="24" y="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599" name="Freeform 4008"/>
            <p:cNvSpPr>
              <a:spLocks/>
            </p:cNvSpPr>
            <p:nvPr/>
          </p:nvSpPr>
          <p:spPr bwMode="auto">
            <a:xfrm>
              <a:off x="1937" y="2390"/>
              <a:ext cx="23" cy="27"/>
            </a:xfrm>
            <a:custGeom>
              <a:avLst/>
              <a:gdLst>
                <a:gd name="T0" fmla="*/ 22 w 23"/>
                <a:gd name="T1" fmla="*/ 26 h 27"/>
                <a:gd name="T2" fmla="*/ 22 w 23"/>
                <a:gd name="T3" fmla="*/ 26 h 27"/>
                <a:gd name="T4" fmla="*/ 0 w 23"/>
                <a:gd name="T5" fmla="*/ 0 h 27"/>
                <a:gd name="T6" fmla="*/ 22 w 23"/>
                <a:gd name="T7" fmla="*/ 26 h 27"/>
                <a:gd name="T8" fmla="*/ 0 60000 65536"/>
                <a:gd name="T9" fmla="*/ 0 60000 65536"/>
                <a:gd name="T10" fmla="*/ 0 60000 65536"/>
                <a:gd name="T11" fmla="*/ 0 60000 65536"/>
                <a:gd name="T12" fmla="*/ 0 w 23"/>
                <a:gd name="T13" fmla="*/ 0 h 27"/>
                <a:gd name="T14" fmla="*/ 23 w 23"/>
                <a:gd name="T15" fmla="*/ 27 h 27"/>
              </a:gdLst>
              <a:ahLst/>
              <a:cxnLst>
                <a:cxn ang="T8">
                  <a:pos x="T0" y="T1"/>
                </a:cxn>
                <a:cxn ang="T9">
                  <a:pos x="T2" y="T3"/>
                </a:cxn>
                <a:cxn ang="T10">
                  <a:pos x="T4" y="T5"/>
                </a:cxn>
                <a:cxn ang="T11">
                  <a:pos x="T6" y="T7"/>
                </a:cxn>
              </a:cxnLst>
              <a:rect l="T12" t="T13" r="T14" b="T15"/>
              <a:pathLst>
                <a:path w="23" h="27">
                  <a:moveTo>
                    <a:pt x="22" y="26"/>
                  </a:moveTo>
                  <a:lnTo>
                    <a:pt x="22" y="26"/>
                  </a:lnTo>
                  <a:lnTo>
                    <a:pt x="0" y="0"/>
                  </a:lnTo>
                  <a:lnTo>
                    <a:pt x="22"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0" name="Line 4009"/>
            <p:cNvSpPr>
              <a:spLocks noChangeShapeType="1"/>
            </p:cNvSpPr>
            <p:nvPr/>
          </p:nvSpPr>
          <p:spPr bwMode="auto">
            <a:xfrm>
              <a:off x="1941" y="239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1" name="Freeform 4010"/>
            <p:cNvSpPr>
              <a:spLocks/>
            </p:cNvSpPr>
            <p:nvPr/>
          </p:nvSpPr>
          <p:spPr bwMode="auto">
            <a:xfrm>
              <a:off x="1929" y="2369"/>
              <a:ext cx="27" cy="30"/>
            </a:xfrm>
            <a:custGeom>
              <a:avLst/>
              <a:gdLst>
                <a:gd name="T0" fmla="*/ 26 w 27"/>
                <a:gd name="T1" fmla="*/ 0 h 30"/>
                <a:gd name="T2" fmla="*/ 0 w 27"/>
                <a:gd name="T3" fmla="*/ 20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0"/>
                  </a:lnTo>
                  <a:lnTo>
                    <a:pt x="13" y="29"/>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2" name="Freeform 4011"/>
            <p:cNvSpPr>
              <a:spLocks/>
            </p:cNvSpPr>
            <p:nvPr/>
          </p:nvSpPr>
          <p:spPr bwMode="auto">
            <a:xfrm>
              <a:off x="1929" y="2361"/>
              <a:ext cx="27" cy="30"/>
            </a:xfrm>
            <a:custGeom>
              <a:avLst/>
              <a:gdLst>
                <a:gd name="T0" fmla="*/ 26 w 27"/>
                <a:gd name="T1" fmla="*/ 6 h 30"/>
                <a:gd name="T2" fmla="*/ 13 w 27"/>
                <a:gd name="T3" fmla="*/ 0 h 30"/>
                <a:gd name="T4" fmla="*/ 0 w 27"/>
                <a:gd name="T5" fmla="*/ 29 h 30"/>
                <a:gd name="T6" fmla="*/ 26 w 27"/>
                <a:gd name="T7" fmla="*/ 6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6"/>
                  </a:moveTo>
                  <a:lnTo>
                    <a:pt x="13" y="0"/>
                  </a:lnTo>
                  <a:lnTo>
                    <a:pt x="0" y="29"/>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3" name="Freeform 4012"/>
            <p:cNvSpPr>
              <a:spLocks/>
            </p:cNvSpPr>
            <p:nvPr/>
          </p:nvSpPr>
          <p:spPr bwMode="auto">
            <a:xfrm>
              <a:off x="1946" y="2361"/>
              <a:ext cx="25" cy="28"/>
            </a:xfrm>
            <a:custGeom>
              <a:avLst/>
              <a:gdLst>
                <a:gd name="T0" fmla="*/ 24 w 25"/>
                <a:gd name="T1" fmla="*/ 27 h 28"/>
                <a:gd name="T2" fmla="*/ 24 w 25"/>
                <a:gd name="T3" fmla="*/ 27 h 28"/>
                <a:gd name="T4" fmla="*/ 0 w 25"/>
                <a:gd name="T5" fmla="*/ 0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27"/>
                  </a:lnTo>
                  <a:lnTo>
                    <a:pt x="0" y="0"/>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4" name="Line 4013"/>
            <p:cNvSpPr>
              <a:spLocks noChangeShapeType="1"/>
            </p:cNvSpPr>
            <p:nvPr/>
          </p:nvSpPr>
          <p:spPr bwMode="auto">
            <a:xfrm>
              <a:off x="1955" y="2369"/>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5" name="Freeform 4014"/>
            <p:cNvSpPr>
              <a:spLocks/>
            </p:cNvSpPr>
            <p:nvPr/>
          </p:nvSpPr>
          <p:spPr bwMode="auto">
            <a:xfrm>
              <a:off x="1941" y="2340"/>
              <a:ext cx="27" cy="30"/>
            </a:xfrm>
            <a:custGeom>
              <a:avLst/>
              <a:gdLst>
                <a:gd name="T0" fmla="*/ 26 w 27"/>
                <a:gd name="T1" fmla="*/ 0 h 30"/>
                <a:gd name="T2" fmla="*/ 0 w 27"/>
                <a:gd name="T3" fmla="*/ 22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2"/>
                  </a:lnTo>
                  <a:lnTo>
                    <a:pt x="13" y="29"/>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6" name="Freeform 4015"/>
            <p:cNvSpPr>
              <a:spLocks/>
            </p:cNvSpPr>
            <p:nvPr/>
          </p:nvSpPr>
          <p:spPr bwMode="auto">
            <a:xfrm>
              <a:off x="1941" y="2334"/>
              <a:ext cx="27" cy="28"/>
            </a:xfrm>
            <a:custGeom>
              <a:avLst/>
              <a:gdLst>
                <a:gd name="T0" fmla="*/ 26 w 27"/>
                <a:gd name="T1" fmla="*/ 6 h 28"/>
                <a:gd name="T2" fmla="*/ 13 w 27"/>
                <a:gd name="T3" fmla="*/ 0 h 28"/>
                <a:gd name="T4" fmla="*/ 0 w 27"/>
                <a:gd name="T5" fmla="*/ 27 h 28"/>
                <a:gd name="T6" fmla="*/ 26 w 27"/>
                <a:gd name="T7" fmla="*/ 6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6"/>
                  </a:moveTo>
                  <a:lnTo>
                    <a:pt x="13" y="0"/>
                  </a:lnTo>
                  <a:lnTo>
                    <a:pt x="0" y="27"/>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7" name="Freeform 4016"/>
            <p:cNvSpPr>
              <a:spLocks/>
            </p:cNvSpPr>
            <p:nvPr/>
          </p:nvSpPr>
          <p:spPr bwMode="auto">
            <a:xfrm>
              <a:off x="1959" y="2334"/>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8" name="Line 4017"/>
            <p:cNvSpPr>
              <a:spLocks noChangeShapeType="1"/>
            </p:cNvSpPr>
            <p:nvPr/>
          </p:nvSpPr>
          <p:spPr bwMode="auto">
            <a:xfrm>
              <a:off x="1964" y="2340"/>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09" name="Freeform 4018"/>
            <p:cNvSpPr>
              <a:spLocks/>
            </p:cNvSpPr>
            <p:nvPr/>
          </p:nvSpPr>
          <p:spPr bwMode="auto">
            <a:xfrm>
              <a:off x="1955" y="2312"/>
              <a:ext cx="25" cy="29"/>
            </a:xfrm>
            <a:custGeom>
              <a:avLst/>
              <a:gdLst>
                <a:gd name="T0" fmla="*/ 24 w 25"/>
                <a:gd name="T1" fmla="*/ 0 h 29"/>
                <a:gd name="T2" fmla="*/ 0 w 25"/>
                <a:gd name="T3" fmla="*/ 21 h 29"/>
                <a:gd name="T4" fmla="*/ 11 w 25"/>
                <a:gd name="T5" fmla="*/ 28 h 29"/>
                <a:gd name="T6" fmla="*/ 24 w 25"/>
                <a:gd name="T7" fmla="*/ 0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0"/>
                  </a:moveTo>
                  <a:lnTo>
                    <a:pt x="0" y="21"/>
                  </a:lnTo>
                  <a:lnTo>
                    <a:pt x="11" y="28"/>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0" name="Freeform 4019"/>
            <p:cNvSpPr>
              <a:spLocks/>
            </p:cNvSpPr>
            <p:nvPr/>
          </p:nvSpPr>
          <p:spPr bwMode="auto">
            <a:xfrm>
              <a:off x="1955" y="2304"/>
              <a:ext cx="25" cy="31"/>
            </a:xfrm>
            <a:custGeom>
              <a:avLst/>
              <a:gdLst>
                <a:gd name="T0" fmla="*/ 24 w 25"/>
                <a:gd name="T1" fmla="*/ 8 h 31"/>
                <a:gd name="T2" fmla="*/ 11 w 25"/>
                <a:gd name="T3" fmla="*/ 0 h 31"/>
                <a:gd name="T4" fmla="*/ 0 w 25"/>
                <a:gd name="T5" fmla="*/ 30 h 31"/>
                <a:gd name="T6" fmla="*/ 24 w 25"/>
                <a:gd name="T7" fmla="*/ 8 h 31"/>
                <a:gd name="T8" fmla="*/ 0 60000 65536"/>
                <a:gd name="T9" fmla="*/ 0 60000 65536"/>
                <a:gd name="T10" fmla="*/ 0 60000 65536"/>
                <a:gd name="T11" fmla="*/ 0 60000 65536"/>
                <a:gd name="T12" fmla="*/ 0 w 25"/>
                <a:gd name="T13" fmla="*/ 0 h 31"/>
                <a:gd name="T14" fmla="*/ 25 w 25"/>
                <a:gd name="T15" fmla="*/ 31 h 31"/>
              </a:gdLst>
              <a:ahLst/>
              <a:cxnLst>
                <a:cxn ang="T8">
                  <a:pos x="T0" y="T1"/>
                </a:cxn>
                <a:cxn ang="T9">
                  <a:pos x="T2" y="T3"/>
                </a:cxn>
                <a:cxn ang="T10">
                  <a:pos x="T4" y="T5"/>
                </a:cxn>
                <a:cxn ang="T11">
                  <a:pos x="T6" y="T7"/>
                </a:cxn>
              </a:cxnLst>
              <a:rect l="T12" t="T13" r="T14" b="T15"/>
              <a:pathLst>
                <a:path w="25" h="31">
                  <a:moveTo>
                    <a:pt x="24" y="8"/>
                  </a:moveTo>
                  <a:lnTo>
                    <a:pt x="11" y="0"/>
                  </a:lnTo>
                  <a:lnTo>
                    <a:pt x="0" y="30"/>
                  </a:lnTo>
                  <a:lnTo>
                    <a:pt x="24"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1" name="Freeform 4020"/>
            <p:cNvSpPr>
              <a:spLocks/>
            </p:cNvSpPr>
            <p:nvPr/>
          </p:nvSpPr>
          <p:spPr bwMode="auto">
            <a:xfrm>
              <a:off x="1975" y="2304"/>
              <a:ext cx="23" cy="28"/>
            </a:xfrm>
            <a:custGeom>
              <a:avLst/>
              <a:gdLst>
                <a:gd name="T0" fmla="*/ 22 w 23"/>
                <a:gd name="T1" fmla="*/ 27 h 28"/>
                <a:gd name="T2" fmla="*/ 22 w 23"/>
                <a:gd name="T3" fmla="*/ 27 h 28"/>
                <a:gd name="T4" fmla="*/ 0 w 23"/>
                <a:gd name="T5" fmla="*/ 0 h 28"/>
                <a:gd name="T6" fmla="*/ 22 w 23"/>
                <a:gd name="T7" fmla="*/ 27 h 28"/>
                <a:gd name="T8" fmla="*/ 0 60000 65536"/>
                <a:gd name="T9" fmla="*/ 0 60000 65536"/>
                <a:gd name="T10" fmla="*/ 0 60000 65536"/>
                <a:gd name="T11" fmla="*/ 0 60000 65536"/>
                <a:gd name="T12" fmla="*/ 0 w 23"/>
                <a:gd name="T13" fmla="*/ 0 h 28"/>
                <a:gd name="T14" fmla="*/ 23 w 23"/>
                <a:gd name="T15" fmla="*/ 28 h 28"/>
              </a:gdLst>
              <a:ahLst/>
              <a:cxnLst>
                <a:cxn ang="T8">
                  <a:pos x="T0" y="T1"/>
                </a:cxn>
                <a:cxn ang="T9">
                  <a:pos x="T2" y="T3"/>
                </a:cxn>
                <a:cxn ang="T10">
                  <a:pos x="T4" y="T5"/>
                </a:cxn>
                <a:cxn ang="T11">
                  <a:pos x="T6" y="T7"/>
                </a:cxn>
              </a:cxnLst>
              <a:rect l="T12" t="T13" r="T14" b="T15"/>
              <a:pathLst>
                <a:path w="23" h="28">
                  <a:moveTo>
                    <a:pt x="22" y="27"/>
                  </a:moveTo>
                  <a:lnTo>
                    <a:pt x="22" y="27"/>
                  </a:lnTo>
                  <a:lnTo>
                    <a:pt x="0" y="0"/>
                  </a:lnTo>
                  <a:lnTo>
                    <a:pt x="22"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2" name="Line 4021"/>
            <p:cNvSpPr>
              <a:spLocks noChangeShapeType="1"/>
            </p:cNvSpPr>
            <p:nvPr/>
          </p:nvSpPr>
          <p:spPr bwMode="auto">
            <a:xfrm>
              <a:off x="1978" y="2312"/>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3" name="Freeform 4022"/>
            <p:cNvSpPr>
              <a:spLocks/>
            </p:cNvSpPr>
            <p:nvPr/>
          </p:nvSpPr>
          <p:spPr bwMode="auto">
            <a:xfrm>
              <a:off x="1964" y="2277"/>
              <a:ext cx="29" cy="36"/>
            </a:xfrm>
            <a:custGeom>
              <a:avLst/>
              <a:gdLst>
                <a:gd name="T0" fmla="*/ 28 w 29"/>
                <a:gd name="T1" fmla="*/ 0 h 36"/>
                <a:gd name="T2" fmla="*/ 0 w 29"/>
                <a:gd name="T3" fmla="*/ 27 h 36"/>
                <a:gd name="T4" fmla="*/ 14 w 29"/>
                <a:gd name="T5" fmla="*/ 35 h 36"/>
                <a:gd name="T6" fmla="*/ 28 w 29"/>
                <a:gd name="T7" fmla="*/ 0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28" y="0"/>
                  </a:moveTo>
                  <a:lnTo>
                    <a:pt x="0" y="27"/>
                  </a:lnTo>
                  <a:lnTo>
                    <a:pt x="14" y="35"/>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4" name="Freeform 4023"/>
            <p:cNvSpPr>
              <a:spLocks/>
            </p:cNvSpPr>
            <p:nvPr/>
          </p:nvSpPr>
          <p:spPr bwMode="auto">
            <a:xfrm>
              <a:off x="1964" y="2277"/>
              <a:ext cx="29" cy="28"/>
            </a:xfrm>
            <a:custGeom>
              <a:avLst/>
              <a:gdLst>
                <a:gd name="T0" fmla="*/ 28 w 29"/>
                <a:gd name="T1" fmla="*/ 0 h 28"/>
                <a:gd name="T2" fmla="*/ 14 w 29"/>
                <a:gd name="T3" fmla="*/ 0 h 28"/>
                <a:gd name="T4" fmla="*/ 0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14" y="0"/>
                  </a:lnTo>
                  <a:lnTo>
                    <a:pt x="0" y="27"/>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5" name="Freeform 4024"/>
            <p:cNvSpPr>
              <a:spLocks/>
            </p:cNvSpPr>
            <p:nvPr/>
          </p:nvSpPr>
          <p:spPr bwMode="auto">
            <a:xfrm>
              <a:off x="1984" y="2277"/>
              <a:ext cx="25" cy="1"/>
            </a:xfrm>
            <a:custGeom>
              <a:avLst/>
              <a:gdLst>
                <a:gd name="T0" fmla="*/ 24 w 25"/>
                <a:gd name="T1" fmla="*/ 0 h 1"/>
                <a:gd name="T2" fmla="*/ 24 w 25"/>
                <a:gd name="T3" fmla="*/ 0 h 1"/>
                <a:gd name="T4" fmla="*/ 0 w 25"/>
                <a:gd name="T5" fmla="*/ 0 h 1"/>
                <a:gd name="T6" fmla="*/ 24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24" y="0"/>
                  </a:moveTo>
                  <a:lnTo>
                    <a:pt x="24" y="0"/>
                  </a:lnTo>
                  <a:lnTo>
                    <a:pt x="0" y="0"/>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6" name="Line 4025"/>
            <p:cNvSpPr>
              <a:spLocks noChangeShapeType="1"/>
            </p:cNvSpPr>
            <p:nvPr/>
          </p:nvSpPr>
          <p:spPr bwMode="auto">
            <a:xfrm>
              <a:off x="1992" y="227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7" name="Freeform 4026"/>
            <p:cNvSpPr>
              <a:spLocks/>
            </p:cNvSpPr>
            <p:nvPr/>
          </p:nvSpPr>
          <p:spPr bwMode="auto">
            <a:xfrm>
              <a:off x="1978" y="2248"/>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8" name="Freeform 4027"/>
            <p:cNvSpPr>
              <a:spLocks/>
            </p:cNvSpPr>
            <p:nvPr/>
          </p:nvSpPr>
          <p:spPr bwMode="auto">
            <a:xfrm>
              <a:off x="1978" y="2241"/>
              <a:ext cx="25" cy="37"/>
            </a:xfrm>
            <a:custGeom>
              <a:avLst/>
              <a:gdLst>
                <a:gd name="T0" fmla="*/ 24 w 25"/>
                <a:gd name="T1" fmla="*/ 6 h 37"/>
                <a:gd name="T2" fmla="*/ 12 w 25"/>
                <a:gd name="T3" fmla="*/ 0 h 37"/>
                <a:gd name="T4" fmla="*/ 0 w 25"/>
                <a:gd name="T5" fmla="*/ 36 h 37"/>
                <a:gd name="T6" fmla="*/ 24 w 25"/>
                <a:gd name="T7" fmla="*/ 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24" y="6"/>
                  </a:moveTo>
                  <a:lnTo>
                    <a:pt x="12" y="0"/>
                  </a:lnTo>
                  <a:lnTo>
                    <a:pt x="0" y="36"/>
                  </a:lnTo>
                  <a:lnTo>
                    <a:pt x="24"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19" name="Freeform 4028"/>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0" name="Freeform 4029"/>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1" name="Freeform 4030"/>
            <p:cNvSpPr>
              <a:spLocks/>
            </p:cNvSpPr>
            <p:nvPr/>
          </p:nvSpPr>
          <p:spPr bwMode="auto">
            <a:xfrm>
              <a:off x="1992" y="2213"/>
              <a:ext cx="26" cy="36"/>
            </a:xfrm>
            <a:custGeom>
              <a:avLst/>
              <a:gdLst>
                <a:gd name="T0" fmla="*/ 25 w 26"/>
                <a:gd name="T1" fmla="*/ 0 h 36"/>
                <a:gd name="T2" fmla="*/ 0 w 26"/>
                <a:gd name="T3" fmla="*/ 28 h 36"/>
                <a:gd name="T4" fmla="*/ 11 w 26"/>
                <a:gd name="T5" fmla="*/ 35 h 36"/>
                <a:gd name="T6" fmla="*/ 25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0"/>
                  </a:moveTo>
                  <a:lnTo>
                    <a:pt x="0" y="28"/>
                  </a:lnTo>
                  <a:lnTo>
                    <a:pt x="11" y="35"/>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2" name="Freeform 4031"/>
            <p:cNvSpPr>
              <a:spLocks/>
            </p:cNvSpPr>
            <p:nvPr/>
          </p:nvSpPr>
          <p:spPr bwMode="auto">
            <a:xfrm>
              <a:off x="1992" y="2213"/>
              <a:ext cx="26" cy="29"/>
            </a:xfrm>
            <a:custGeom>
              <a:avLst/>
              <a:gdLst>
                <a:gd name="T0" fmla="*/ 25 w 26"/>
                <a:gd name="T1" fmla="*/ 0 h 29"/>
                <a:gd name="T2" fmla="*/ 11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1" y="0"/>
                  </a:lnTo>
                  <a:lnTo>
                    <a:pt x="0" y="28"/>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3" name="Freeform 4032"/>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4" name="Freeform 4033"/>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5" name="Freeform 4034"/>
            <p:cNvSpPr>
              <a:spLocks/>
            </p:cNvSpPr>
            <p:nvPr/>
          </p:nvSpPr>
          <p:spPr bwMode="auto">
            <a:xfrm>
              <a:off x="2002" y="2184"/>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6" name="Freeform 4035"/>
            <p:cNvSpPr>
              <a:spLocks/>
            </p:cNvSpPr>
            <p:nvPr/>
          </p:nvSpPr>
          <p:spPr bwMode="auto">
            <a:xfrm>
              <a:off x="2002" y="2176"/>
              <a:ext cx="25" cy="38"/>
            </a:xfrm>
            <a:custGeom>
              <a:avLst/>
              <a:gdLst>
                <a:gd name="T0" fmla="*/ 24 w 25"/>
                <a:gd name="T1" fmla="*/ 6 h 38"/>
                <a:gd name="T2" fmla="*/ 12 w 25"/>
                <a:gd name="T3" fmla="*/ 0 h 38"/>
                <a:gd name="T4" fmla="*/ 0 w 25"/>
                <a:gd name="T5" fmla="*/ 37 h 38"/>
                <a:gd name="T6" fmla="*/ 24 w 25"/>
                <a:gd name="T7" fmla="*/ 6 h 38"/>
                <a:gd name="T8" fmla="*/ 0 60000 65536"/>
                <a:gd name="T9" fmla="*/ 0 60000 65536"/>
                <a:gd name="T10" fmla="*/ 0 60000 65536"/>
                <a:gd name="T11" fmla="*/ 0 60000 65536"/>
                <a:gd name="T12" fmla="*/ 0 w 25"/>
                <a:gd name="T13" fmla="*/ 0 h 38"/>
                <a:gd name="T14" fmla="*/ 25 w 25"/>
                <a:gd name="T15" fmla="*/ 38 h 38"/>
              </a:gdLst>
              <a:ahLst/>
              <a:cxnLst>
                <a:cxn ang="T8">
                  <a:pos x="T0" y="T1"/>
                </a:cxn>
                <a:cxn ang="T9">
                  <a:pos x="T2" y="T3"/>
                </a:cxn>
                <a:cxn ang="T10">
                  <a:pos x="T4" y="T5"/>
                </a:cxn>
                <a:cxn ang="T11">
                  <a:pos x="T6" y="T7"/>
                </a:cxn>
              </a:cxnLst>
              <a:rect l="T12" t="T13" r="T14" b="T15"/>
              <a:pathLst>
                <a:path w="25" h="38">
                  <a:moveTo>
                    <a:pt x="24" y="6"/>
                  </a:moveTo>
                  <a:lnTo>
                    <a:pt x="12" y="0"/>
                  </a:lnTo>
                  <a:lnTo>
                    <a:pt x="0" y="37"/>
                  </a:lnTo>
                  <a:lnTo>
                    <a:pt x="24"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7" name="Freeform 4036"/>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8" name="Freeform 4037"/>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29" name="Freeform 4038"/>
            <p:cNvSpPr>
              <a:spLocks/>
            </p:cNvSpPr>
            <p:nvPr/>
          </p:nvSpPr>
          <p:spPr bwMode="auto">
            <a:xfrm>
              <a:off x="2013" y="2149"/>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0" name="Freeform 4039"/>
            <p:cNvSpPr>
              <a:spLocks/>
            </p:cNvSpPr>
            <p:nvPr/>
          </p:nvSpPr>
          <p:spPr bwMode="auto">
            <a:xfrm>
              <a:off x="2013" y="2141"/>
              <a:ext cx="27" cy="36"/>
            </a:xfrm>
            <a:custGeom>
              <a:avLst/>
              <a:gdLst>
                <a:gd name="T0" fmla="*/ 26 w 27"/>
                <a:gd name="T1" fmla="*/ 7 h 36"/>
                <a:gd name="T2" fmla="*/ 13 w 27"/>
                <a:gd name="T3" fmla="*/ 0 h 36"/>
                <a:gd name="T4" fmla="*/ 0 w 27"/>
                <a:gd name="T5" fmla="*/ 35 h 36"/>
                <a:gd name="T6" fmla="*/ 26 w 27"/>
                <a:gd name="T7" fmla="*/ 7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7"/>
                  </a:moveTo>
                  <a:lnTo>
                    <a:pt x="13" y="0"/>
                  </a:lnTo>
                  <a:lnTo>
                    <a:pt x="0" y="35"/>
                  </a:lnTo>
                  <a:lnTo>
                    <a:pt x="26" y="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1" name="Freeform 4040"/>
            <p:cNvSpPr>
              <a:spLocks/>
            </p:cNvSpPr>
            <p:nvPr/>
          </p:nvSpPr>
          <p:spPr bwMode="auto">
            <a:xfrm>
              <a:off x="2034" y="21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2" name="Freeform 4041"/>
            <p:cNvSpPr>
              <a:spLocks/>
            </p:cNvSpPr>
            <p:nvPr/>
          </p:nvSpPr>
          <p:spPr bwMode="auto">
            <a:xfrm>
              <a:off x="2034" y="2141"/>
              <a:ext cx="25" cy="27"/>
            </a:xfrm>
            <a:custGeom>
              <a:avLst/>
              <a:gdLst>
                <a:gd name="T0" fmla="*/ 0 w 25"/>
                <a:gd name="T1" fmla="*/ 0 h 27"/>
                <a:gd name="T2" fmla="*/ 24 w 25"/>
                <a:gd name="T3" fmla="*/ 26 h 27"/>
                <a:gd name="T4" fmla="*/ 24 w 25"/>
                <a:gd name="T5" fmla="*/ 26 h 27"/>
                <a:gd name="T6" fmla="*/ 0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0"/>
                  </a:moveTo>
                  <a:lnTo>
                    <a:pt x="24"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3" name="Freeform 4042"/>
            <p:cNvSpPr>
              <a:spLocks/>
            </p:cNvSpPr>
            <p:nvPr/>
          </p:nvSpPr>
          <p:spPr bwMode="auto">
            <a:xfrm>
              <a:off x="2026" y="2113"/>
              <a:ext cx="26" cy="37"/>
            </a:xfrm>
            <a:custGeom>
              <a:avLst/>
              <a:gdLst>
                <a:gd name="T0" fmla="*/ 25 w 26"/>
                <a:gd name="T1" fmla="*/ 0 h 37"/>
                <a:gd name="T2" fmla="*/ 0 w 26"/>
                <a:gd name="T3" fmla="*/ 27 h 37"/>
                <a:gd name="T4" fmla="*/ 17 w 26"/>
                <a:gd name="T5" fmla="*/ 36 h 37"/>
                <a:gd name="T6" fmla="*/ 25 w 26"/>
                <a:gd name="T7" fmla="*/ 0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0"/>
                  </a:moveTo>
                  <a:lnTo>
                    <a:pt x="0" y="27"/>
                  </a:lnTo>
                  <a:lnTo>
                    <a:pt x="17" y="36"/>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4" name="Freeform 4043"/>
            <p:cNvSpPr>
              <a:spLocks/>
            </p:cNvSpPr>
            <p:nvPr/>
          </p:nvSpPr>
          <p:spPr bwMode="auto">
            <a:xfrm>
              <a:off x="2026" y="2113"/>
              <a:ext cx="26" cy="29"/>
            </a:xfrm>
            <a:custGeom>
              <a:avLst/>
              <a:gdLst>
                <a:gd name="T0" fmla="*/ 25 w 26"/>
                <a:gd name="T1" fmla="*/ 0 h 29"/>
                <a:gd name="T2" fmla="*/ 17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7" y="0"/>
                  </a:lnTo>
                  <a:lnTo>
                    <a:pt x="0" y="28"/>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5" name="Freeform 4044"/>
            <p:cNvSpPr>
              <a:spLocks/>
            </p:cNvSpPr>
            <p:nvPr/>
          </p:nvSpPr>
          <p:spPr bwMode="auto">
            <a:xfrm>
              <a:off x="2046" y="2105"/>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6" name="Line 4045"/>
            <p:cNvSpPr>
              <a:spLocks noChangeShapeType="1"/>
            </p:cNvSpPr>
            <p:nvPr/>
          </p:nvSpPr>
          <p:spPr bwMode="auto">
            <a:xfrm>
              <a:off x="2046" y="211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7" name="Freeform 4046"/>
            <p:cNvSpPr>
              <a:spLocks/>
            </p:cNvSpPr>
            <p:nvPr/>
          </p:nvSpPr>
          <p:spPr bwMode="auto">
            <a:xfrm>
              <a:off x="2039" y="2084"/>
              <a:ext cx="26" cy="30"/>
            </a:xfrm>
            <a:custGeom>
              <a:avLst/>
              <a:gdLst>
                <a:gd name="T0" fmla="*/ 25 w 26"/>
                <a:gd name="T1" fmla="*/ 0 h 30"/>
                <a:gd name="T2" fmla="*/ 0 w 26"/>
                <a:gd name="T3" fmla="*/ 29 h 30"/>
                <a:gd name="T4" fmla="*/ 7 w 26"/>
                <a:gd name="T5" fmla="*/ 29 h 30"/>
                <a:gd name="T6" fmla="*/ 25 w 26"/>
                <a:gd name="T7" fmla="*/ 0 h 30"/>
                <a:gd name="T8" fmla="*/ 0 60000 65536"/>
                <a:gd name="T9" fmla="*/ 0 60000 65536"/>
                <a:gd name="T10" fmla="*/ 0 60000 65536"/>
                <a:gd name="T11" fmla="*/ 0 60000 65536"/>
                <a:gd name="T12" fmla="*/ 0 w 26"/>
                <a:gd name="T13" fmla="*/ 0 h 30"/>
                <a:gd name="T14" fmla="*/ 26 w 26"/>
                <a:gd name="T15" fmla="*/ 30 h 30"/>
              </a:gdLst>
              <a:ahLst/>
              <a:cxnLst>
                <a:cxn ang="T8">
                  <a:pos x="T0" y="T1"/>
                </a:cxn>
                <a:cxn ang="T9">
                  <a:pos x="T2" y="T3"/>
                </a:cxn>
                <a:cxn ang="T10">
                  <a:pos x="T4" y="T5"/>
                </a:cxn>
                <a:cxn ang="T11">
                  <a:pos x="T6" y="T7"/>
                </a:cxn>
              </a:cxnLst>
              <a:rect l="T12" t="T13" r="T14" b="T15"/>
              <a:pathLst>
                <a:path w="26" h="30">
                  <a:moveTo>
                    <a:pt x="25" y="0"/>
                  </a:moveTo>
                  <a:lnTo>
                    <a:pt x="0" y="29"/>
                  </a:lnTo>
                  <a:lnTo>
                    <a:pt x="7" y="29"/>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8" name="Freeform 4047"/>
            <p:cNvSpPr>
              <a:spLocks/>
            </p:cNvSpPr>
            <p:nvPr/>
          </p:nvSpPr>
          <p:spPr bwMode="auto">
            <a:xfrm>
              <a:off x="2039" y="2077"/>
              <a:ext cx="26" cy="37"/>
            </a:xfrm>
            <a:custGeom>
              <a:avLst/>
              <a:gdLst>
                <a:gd name="T0" fmla="*/ 25 w 26"/>
                <a:gd name="T1" fmla="*/ 6 h 37"/>
                <a:gd name="T2" fmla="*/ 15 w 26"/>
                <a:gd name="T3" fmla="*/ 0 h 37"/>
                <a:gd name="T4" fmla="*/ 0 w 26"/>
                <a:gd name="T5" fmla="*/ 36 h 37"/>
                <a:gd name="T6" fmla="*/ 25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6"/>
                  </a:moveTo>
                  <a:lnTo>
                    <a:pt x="15" y="0"/>
                  </a:lnTo>
                  <a:lnTo>
                    <a:pt x="0" y="36"/>
                  </a:lnTo>
                  <a:lnTo>
                    <a:pt x="25"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39" name="Freeform 4048"/>
            <p:cNvSpPr>
              <a:spLocks/>
            </p:cNvSpPr>
            <p:nvPr/>
          </p:nvSpPr>
          <p:spPr bwMode="auto">
            <a:xfrm>
              <a:off x="2051" y="207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0" name="Line 4049"/>
            <p:cNvSpPr>
              <a:spLocks noChangeShapeType="1"/>
            </p:cNvSpPr>
            <p:nvPr/>
          </p:nvSpPr>
          <p:spPr bwMode="auto">
            <a:xfrm>
              <a:off x="2051" y="2077"/>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1" name="Freeform 4050"/>
            <p:cNvSpPr>
              <a:spLocks/>
            </p:cNvSpPr>
            <p:nvPr/>
          </p:nvSpPr>
          <p:spPr bwMode="auto">
            <a:xfrm>
              <a:off x="2051" y="2049"/>
              <a:ext cx="27" cy="36"/>
            </a:xfrm>
            <a:custGeom>
              <a:avLst/>
              <a:gdLst>
                <a:gd name="T0" fmla="*/ 26 w 27"/>
                <a:gd name="T1" fmla="*/ 0 h 36"/>
                <a:gd name="T2" fmla="*/ 0 w 27"/>
                <a:gd name="T3" fmla="*/ 28 h 36"/>
                <a:gd name="T4" fmla="*/ 10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0"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2" name="Freeform 4051"/>
            <p:cNvSpPr>
              <a:spLocks/>
            </p:cNvSpPr>
            <p:nvPr/>
          </p:nvSpPr>
          <p:spPr bwMode="auto">
            <a:xfrm>
              <a:off x="2051" y="2041"/>
              <a:ext cx="27" cy="37"/>
            </a:xfrm>
            <a:custGeom>
              <a:avLst/>
              <a:gdLst>
                <a:gd name="T0" fmla="*/ 26 w 27"/>
                <a:gd name="T1" fmla="*/ 8 h 37"/>
                <a:gd name="T2" fmla="*/ 10 w 27"/>
                <a:gd name="T3" fmla="*/ 0 h 37"/>
                <a:gd name="T4" fmla="*/ 0 w 27"/>
                <a:gd name="T5" fmla="*/ 36 h 37"/>
                <a:gd name="T6" fmla="*/ 26 w 27"/>
                <a:gd name="T7" fmla="*/ 8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26" y="8"/>
                  </a:moveTo>
                  <a:lnTo>
                    <a:pt x="10" y="0"/>
                  </a:lnTo>
                  <a:lnTo>
                    <a:pt x="0" y="36"/>
                  </a:lnTo>
                  <a:lnTo>
                    <a:pt x="26"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3" name="Freeform 4052"/>
            <p:cNvSpPr>
              <a:spLocks/>
            </p:cNvSpPr>
            <p:nvPr/>
          </p:nvSpPr>
          <p:spPr bwMode="auto">
            <a:xfrm>
              <a:off x="2058" y="204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4" name="Line 4053"/>
            <p:cNvSpPr>
              <a:spLocks noChangeShapeType="1"/>
            </p:cNvSpPr>
            <p:nvPr/>
          </p:nvSpPr>
          <p:spPr bwMode="auto">
            <a:xfrm>
              <a:off x="2058" y="20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5" name="Freeform 4054"/>
            <p:cNvSpPr>
              <a:spLocks/>
            </p:cNvSpPr>
            <p:nvPr/>
          </p:nvSpPr>
          <p:spPr bwMode="auto">
            <a:xfrm>
              <a:off x="2058" y="2012"/>
              <a:ext cx="27" cy="38"/>
            </a:xfrm>
            <a:custGeom>
              <a:avLst/>
              <a:gdLst>
                <a:gd name="T0" fmla="*/ 26 w 27"/>
                <a:gd name="T1" fmla="*/ 0 h 38"/>
                <a:gd name="T2" fmla="*/ 0 w 27"/>
                <a:gd name="T3" fmla="*/ 28 h 38"/>
                <a:gd name="T4" fmla="*/ 12 w 27"/>
                <a:gd name="T5" fmla="*/ 37 h 38"/>
                <a:gd name="T6" fmla="*/ 26 w 27"/>
                <a:gd name="T7" fmla="*/ 0 h 38"/>
                <a:gd name="T8" fmla="*/ 0 60000 65536"/>
                <a:gd name="T9" fmla="*/ 0 60000 65536"/>
                <a:gd name="T10" fmla="*/ 0 60000 65536"/>
                <a:gd name="T11" fmla="*/ 0 60000 65536"/>
                <a:gd name="T12" fmla="*/ 0 w 27"/>
                <a:gd name="T13" fmla="*/ 0 h 38"/>
                <a:gd name="T14" fmla="*/ 27 w 27"/>
                <a:gd name="T15" fmla="*/ 38 h 38"/>
              </a:gdLst>
              <a:ahLst/>
              <a:cxnLst>
                <a:cxn ang="T8">
                  <a:pos x="T0" y="T1"/>
                </a:cxn>
                <a:cxn ang="T9">
                  <a:pos x="T2" y="T3"/>
                </a:cxn>
                <a:cxn ang="T10">
                  <a:pos x="T4" y="T5"/>
                </a:cxn>
                <a:cxn ang="T11">
                  <a:pos x="T6" y="T7"/>
                </a:cxn>
              </a:cxnLst>
              <a:rect l="T12" t="T13" r="T14" b="T15"/>
              <a:pathLst>
                <a:path w="27" h="38">
                  <a:moveTo>
                    <a:pt x="26" y="0"/>
                  </a:moveTo>
                  <a:lnTo>
                    <a:pt x="0" y="28"/>
                  </a:lnTo>
                  <a:lnTo>
                    <a:pt x="12" y="3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6" name="Freeform 4055"/>
            <p:cNvSpPr>
              <a:spLocks/>
            </p:cNvSpPr>
            <p:nvPr/>
          </p:nvSpPr>
          <p:spPr bwMode="auto">
            <a:xfrm>
              <a:off x="2058" y="2007"/>
              <a:ext cx="27" cy="35"/>
            </a:xfrm>
            <a:custGeom>
              <a:avLst/>
              <a:gdLst>
                <a:gd name="T0" fmla="*/ 26 w 27"/>
                <a:gd name="T1" fmla="*/ 6 h 35"/>
                <a:gd name="T2" fmla="*/ 12 w 27"/>
                <a:gd name="T3" fmla="*/ 0 h 35"/>
                <a:gd name="T4" fmla="*/ 0 w 27"/>
                <a:gd name="T5" fmla="*/ 34 h 35"/>
                <a:gd name="T6" fmla="*/ 26 w 27"/>
                <a:gd name="T7" fmla="*/ 6 h 35"/>
                <a:gd name="T8" fmla="*/ 0 60000 65536"/>
                <a:gd name="T9" fmla="*/ 0 60000 65536"/>
                <a:gd name="T10" fmla="*/ 0 60000 65536"/>
                <a:gd name="T11" fmla="*/ 0 60000 65536"/>
                <a:gd name="T12" fmla="*/ 0 w 27"/>
                <a:gd name="T13" fmla="*/ 0 h 35"/>
                <a:gd name="T14" fmla="*/ 27 w 27"/>
                <a:gd name="T15" fmla="*/ 35 h 35"/>
              </a:gdLst>
              <a:ahLst/>
              <a:cxnLst>
                <a:cxn ang="T8">
                  <a:pos x="T0" y="T1"/>
                </a:cxn>
                <a:cxn ang="T9">
                  <a:pos x="T2" y="T3"/>
                </a:cxn>
                <a:cxn ang="T10">
                  <a:pos x="T4" y="T5"/>
                </a:cxn>
                <a:cxn ang="T11">
                  <a:pos x="T6" y="T7"/>
                </a:cxn>
              </a:cxnLst>
              <a:rect l="T12" t="T13" r="T14" b="T15"/>
              <a:pathLst>
                <a:path w="27" h="35">
                  <a:moveTo>
                    <a:pt x="26" y="6"/>
                  </a:moveTo>
                  <a:lnTo>
                    <a:pt x="12" y="0"/>
                  </a:lnTo>
                  <a:lnTo>
                    <a:pt x="0" y="34"/>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7" name="Freeform 4056"/>
            <p:cNvSpPr>
              <a:spLocks/>
            </p:cNvSpPr>
            <p:nvPr/>
          </p:nvSpPr>
          <p:spPr bwMode="auto">
            <a:xfrm>
              <a:off x="2070" y="200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8" name="Line 4057"/>
            <p:cNvSpPr>
              <a:spLocks noChangeShapeType="1"/>
            </p:cNvSpPr>
            <p:nvPr/>
          </p:nvSpPr>
          <p:spPr bwMode="auto">
            <a:xfrm>
              <a:off x="2070" y="2007"/>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49" name="Freeform 4058"/>
            <p:cNvSpPr>
              <a:spLocks/>
            </p:cNvSpPr>
            <p:nvPr/>
          </p:nvSpPr>
          <p:spPr bwMode="auto">
            <a:xfrm>
              <a:off x="2070" y="1977"/>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0" name="Freeform 4059"/>
            <p:cNvSpPr>
              <a:spLocks/>
            </p:cNvSpPr>
            <p:nvPr/>
          </p:nvSpPr>
          <p:spPr bwMode="auto">
            <a:xfrm>
              <a:off x="2070" y="1977"/>
              <a:ext cx="27" cy="31"/>
            </a:xfrm>
            <a:custGeom>
              <a:avLst/>
              <a:gdLst>
                <a:gd name="T0" fmla="*/ 26 w 27"/>
                <a:gd name="T1" fmla="*/ 0 h 31"/>
                <a:gd name="T2" fmla="*/ 13 w 27"/>
                <a:gd name="T3" fmla="*/ 0 h 31"/>
                <a:gd name="T4" fmla="*/ 0 w 27"/>
                <a:gd name="T5" fmla="*/ 30 h 31"/>
                <a:gd name="T6" fmla="*/ 26 w 27"/>
                <a:gd name="T7" fmla="*/ 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26" y="0"/>
                  </a:moveTo>
                  <a:lnTo>
                    <a:pt x="13" y="0"/>
                  </a:lnTo>
                  <a:lnTo>
                    <a:pt x="0" y="3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1" name="Freeform 4060"/>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2" name="Freeform 4061"/>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3" name="Freeform 4062"/>
            <p:cNvSpPr>
              <a:spLocks/>
            </p:cNvSpPr>
            <p:nvPr/>
          </p:nvSpPr>
          <p:spPr bwMode="auto">
            <a:xfrm>
              <a:off x="2081" y="1949"/>
              <a:ext cx="29" cy="29"/>
            </a:xfrm>
            <a:custGeom>
              <a:avLst/>
              <a:gdLst>
                <a:gd name="T0" fmla="*/ 28 w 29"/>
                <a:gd name="T1" fmla="*/ 0 h 29"/>
                <a:gd name="T2" fmla="*/ 0 w 29"/>
                <a:gd name="T3" fmla="*/ 28 h 29"/>
                <a:gd name="T4" fmla="*/ 14 w 29"/>
                <a:gd name="T5" fmla="*/ 28 h 29"/>
                <a:gd name="T6" fmla="*/ 28 w 29"/>
                <a:gd name="T7" fmla="*/ 0 h 29"/>
                <a:gd name="T8" fmla="*/ 0 60000 65536"/>
                <a:gd name="T9" fmla="*/ 0 60000 65536"/>
                <a:gd name="T10" fmla="*/ 0 60000 65536"/>
                <a:gd name="T11" fmla="*/ 0 60000 65536"/>
                <a:gd name="T12" fmla="*/ 0 w 29"/>
                <a:gd name="T13" fmla="*/ 0 h 29"/>
                <a:gd name="T14" fmla="*/ 29 w 29"/>
                <a:gd name="T15" fmla="*/ 29 h 29"/>
              </a:gdLst>
              <a:ahLst/>
              <a:cxnLst>
                <a:cxn ang="T8">
                  <a:pos x="T0" y="T1"/>
                </a:cxn>
                <a:cxn ang="T9">
                  <a:pos x="T2" y="T3"/>
                </a:cxn>
                <a:cxn ang="T10">
                  <a:pos x="T4" y="T5"/>
                </a:cxn>
                <a:cxn ang="T11">
                  <a:pos x="T6" y="T7"/>
                </a:cxn>
              </a:cxnLst>
              <a:rect l="T12" t="T13" r="T14" b="T15"/>
              <a:pathLst>
                <a:path w="29" h="29">
                  <a:moveTo>
                    <a:pt x="28" y="0"/>
                  </a:moveTo>
                  <a:lnTo>
                    <a:pt x="0" y="28"/>
                  </a:lnTo>
                  <a:lnTo>
                    <a:pt x="14" y="28"/>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4" name="Freeform 4063"/>
            <p:cNvSpPr>
              <a:spLocks/>
            </p:cNvSpPr>
            <p:nvPr/>
          </p:nvSpPr>
          <p:spPr bwMode="auto">
            <a:xfrm>
              <a:off x="2081" y="1941"/>
              <a:ext cx="29" cy="37"/>
            </a:xfrm>
            <a:custGeom>
              <a:avLst/>
              <a:gdLst>
                <a:gd name="T0" fmla="*/ 28 w 29"/>
                <a:gd name="T1" fmla="*/ 8 h 37"/>
                <a:gd name="T2" fmla="*/ 14 w 29"/>
                <a:gd name="T3" fmla="*/ 0 h 37"/>
                <a:gd name="T4" fmla="*/ 0 w 29"/>
                <a:gd name="T5" fmla="*/ 36 h 37"/>
                <a:gd name="T6" fmla="*/ 28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28" y="8"/>
                  </a:moveTo>
                  <a:lnTo>
                    <a:pt x="14" y="0"/>
                  </a:lnTo>
                  <a:lnTo>
                    <a:pt x="0" y="36"/>
                  </a:lnTo>
                  <a:lnTo>
                    <a:pt x="28"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5" name="Freeform 4064"/>
            <p:cNvSpPr>
              <a:spLocks/>
            </p:cNvSpPr>
            <p:nvPr/>
          </p:nvSpPr>
          <p:spPr bwMode="auto">
            <a:xfrm>
              <a:off x="2096" y="194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6" name="Line 4065"/>
            <p:cNvSpPr>
              <a:spLocks noChangeShapeType="1"/>
            </p:cNvSpPr>
            <p:nvPr/>
          </p:nvSpPr>
          <p:spPr bwMode="auto">
            <a:xfrm>
              <a:off x="2096" y="19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7" name="Freeform 4066"/>
            <p:cNvSpPr>
              <a:spLocks/>
            </p:cNvSpPr>
            <p:nvPr/>
          </p:nvSpPr>
          <p:spPr bwMode="auto">
            <a:xfrm>
              <a:off x="2096" y="1919"/>
              <a:ext cx="24" cy="31"/>
            </a:xfrm>
            <a:custGeom>
              <a:avLst/>
              <a:gdLst>
                <a:gd name="T0" fmla="*/ 23 w 24"/>
                <a:gd name="T1" fmla="*/ 0 h 31"/>
                <a:gd name="T2" fmla="*/ 0 w 24"/>
                <a:gd name="T3" fmla="*/ 21 h 31"/>
                <a:gd name="T4" fmla="*/ 12 w 24"/>
                <a:gd name="T5" fmla="*/ 30 h 31"/>
                <a:gd name="T6" fmla="*/ 23 w 24"/>
                <a:gd name="T7" fmla="*/ 0 h 31"/>
                <a:gd name="T8" fmla="*/ 0 60000 65536"/>
                <a:gd name="T9" fmla="*/ 0 60000 65536"/>
                <a:gd name="T10" fmla="*/ 0 60000 65536"/>
                <a:gd name="T11" fmla="*/ 0 60000 65536"/>
                <a:gd name="T12" fmla="*/ 0 w 24"/>
                <a:gd name="T13" fmla="*/ 0 h 31"/>
                <a:gd name="T14" fmla="*/ 24 w 24"/>
                <a:gd name="T15" fmla="*/ 31 h 31"/>
              </a:gdLst>
              <a:ahLst/>
              <a:cxnLst>
                <a:cxn ang="T8">
                  <a:pos x="T0" y="T1"/>
                </a:cxn>
                <a:cxn ang="T9">
                  <a:pos x="T2" y="T3"/>
                </a:cxn>
                <a:cxn ang="T10">
                  <a:pos x="T4" y="T5"/>
                </a:cxn>
                <a:cxn ang="T11">
                  <a:pos x="T6" y="T7"/>
                </a:cxn>
              </a:cxnLst>
              <a:rect l="T12" t="T13" r="T14" b="T15"/>
              <a:pathLst>
                <a:path w="24" h="31">
                  <a:moveTo>
                    <a:pt x="23" y="0"/>
                  </a:moveTo>
                  <a:lnTo>
                    <a:pt x="0" y="21"/>
                  </a:lnTo>
                  <a:lnTo>
                    <a:pt x="12" y="30"/>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8" name="Freeform 4067"/>
            <p:cNvSpPr>
              <a:spLocks/>
            </p:cNvSpPr>
            <p:nvPr/>
          </p:nvSpPr>
          <p:spPr bwMode="auto">
            <a:xfrm>
              <a:off x="2096" y="1913"/>
              <a:ext cx="24" cy="29"/>
            </a:xfrm>
            <a:custGeom>
              <a:avLst/>
              <a:gdLst>
                <a:gd name="T0" fmla="*/ 23 w 24"/>
                <a:gd name="T1" fmla="*/ 6 h 29"/>
                <a:gd name="T2" fmla="*/ 12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2" y="0"/>
                  </a:lnTo>
                  <a:lnTo>
                    <a:pt x="0" y="28"/>
                  </a:lnTo>
                  <a:lnTo>
                    <a:pt x="23"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59" name="Freeform 4068"/>
            <p:cNvSpPr>
              <a:spLocks/>
            </p:cNvSpPr>
            <p:nvPr/>
          </p:nvSpPr>
          <p:spPr bwMode="auto">
            <a:xfrm>
              <a:off x="2109" y="1913"/>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0" name="Line 4069"/>
            <p:cNvSpPr>
              <a:spLocks noChangeShapeType="1"/>
            </p:cNvSpPr>
            <p:nvPr/>
          </p:nvSpPr>
          <p:spPr bwMode="auto">
            <a:xfrm>
              <a:off x="2109" y="1913"/>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1" name="Freeform 4070"/>
            <p:cNvSpPr>
              <a:spLocks/>
            </p:cNvSpPr>
            <p:nvPr/>
          </p:nvSpPr>
          <p:spPr bwMode="auto">
            <a:xfrm>
              <a:off x="2109" y="1892"/>
              <a:ext cx="26" cy="28"/>
            </a:xfrm>
            <a:custGeom>
              <a:avLst/>
              <a:gdLst>
                <a:gd name="T0" fmla="*/ 25 w 26"/>
                <a:gd name="T1" fmla="*/ 0 h 28"/>
                <a:gd name="T2" fmla="*/ 0 w 26"/>
                <a:gd name="T3" fmla="*/ 20 h 28"/>
                <a:gd name="T4" fmla="*/ 11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20"/>
                  </a:lnTo>
                  <a:lnTo>
                    <a:pt x="11"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2" name="Freeform 4071"/>
            <p:cNvSpPr>
              <a:spLocks/>
            </p:cNvSpPr>
            <p:nvPr/>
          </p:nvSpPr>
          <p:spPr bwMode="auto">
            <a:xfrm>
              <a:off x="2109" y="1886"/>
              <a:ext cx="26" cy="28"/>
            </a:xfrm>
            <a:custGeom>
              <a:avLst/>
              <a:gdLst>
                <a:gd name="T0" fmla="*/ 25 w 26"/>
                <a:gd name="T1" fmla="*/ 6 h 28"/>
                <a:gd name="T2" fmla="*/ 11 w 26"/>
                <a:gd name="T3" fmla="*/ 0 h 28"/>
                <a:gd name="T4" fmla="*/ 0 w 26"/>
                <a:gd name="T5" fmla="*/ 27 h 28"/>
                <a:gd name="T6" fmla="*/ 25 w 26"/>
                <a:gd name="T7" fmla="*/ 6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6"/>
                  </a:moveTo>
                  <a:lnTo>
                    <a:pt x="11" y="0"/>
                  </a:lnTo>
                  <a:lnTo>
                    <a:pt x="0" y="27"/>
                  </a:lnTo>
                  <a:lnTo>
                    <a:pt x="25"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3" name="Freeform 4072"/>
            <p:cNvSpPr>
              <a:spLocks/>
            </p:cNvSpPr>
            <p:nvPr/>
          </p:nvSpPr>
          <p:spPr bwMode="auto">
            <a:xfrm>
              <a:off x="2119" y="1886"/>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4" name="Line 4073"/>
            <p:cNvSpPr>
              <a:spLocks noChangeShapeType="1"/>
            </p:cNvSpPr>
            <p:nvPr/>
          </p:nvSpPr>
          <p:spPr bwMode="auto">
            <a:xfrm>
              <a:off x="2119" y="1886"/>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5" name="Freeform 4074"/>
            <p:cNvSpPr>
              <a:spLocks/>
            </p:cNvSpPr>
            <p:nvPr/>
          </p:nvSpPr>
          <p:spPr bwMode="auto">
            <a:xfrm>
              <a:off x="2119" y="1864"/>
              <a:ext cx="28" cy="29"/>
            </a:xfrm>
            <a:custGeom>
              <a:avLst/>
              <a:gdLst>
                <a:gd name="T0" fmla="*/ 27 w 28"/>
                <a:gd name="T1" fmla="*/ 0 h 29"/>
                <a:gd name="T2" fmla="*/ 0 w 28"/>
                <a:gd name="T3" fmla="*/ 21 h 29"/>
                <a:gd name="T4" fmla="*/ 13 w 28"/>
                <a:gd name="T5" fmla="*/ 28 h 29"/>
                <a:gd name="T6" fmla="*/ 27 w 28"/>
                <a:gd name="T7" fmla="*/ 0 h 29"/>
                <a:gd name="T8" fmla="*/ 0 60000 65536"/>
                <a:gd name="T9" fmla="*/ 0 60000 65536"/>
                <a:gd name="T10" fmla="*/ 0 60000 65536"/>
                <a:gd name="T11" fmla="*/ 0 60000 65536"/>
                <a:gd name="T12" fmla="*/ 0 w 28"/>
                <a:gd name="T13" fmla="*/ 0 h 29"/>
                <a:gd name="T14" fmla="*/ 28 w 28"/>
                <a:gd name="T15" fmla="*/ 29 h 29"/>
              </a:gdLst>
              <a:ahLst/>
              <a:cxnLst>
                <a:cxn ang="T8">
                  <a:pos x="T0" y="T1"/>
                </a:cxn>
                <a:cxn ang="T9">
                  <a:pos x="T2" y="T3"/>
                </a:cxn>
                <a:cxn ang="T10">
                  <a:pos x="T4" y="T5"/>
                </a:cxn>
                <a:cxn ang="T11">
                  <a:pos x="T6" y="T7"/>
                </a:cxn>
              </a:cxnLst>
              <a:rect l="T12" t="T13" r="T14" b="T15"/>
              <a:pathLst>
                <a:path w="28" h="29">
                  <a:moveTo>
                    <a:pt x="27" y="0"/>
                  </a:moveTo>
                  <a:lnTo>
                    <a:pt x="0" y="21"/>
                  </a:lnTo>
                  <a:lnTo>
                    <a:pt x="13" y="28"/>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6" name="Freeform 4075"/>
            <p:cNvSpPr>
              <a:spLocks/>
            </p:cNvSpPr>
            <p:nvPr/>
          </p:nvSpPr>
          <p:spPr bwMode="auto">
            <a:xfrm>
              <a:off x="2119" y="1856"/>
              <a:ext cx="28" cy="31"/>
            </a:xfrm>
            <a:custGeom>
              <a:avLst/>
              <a:gdLst>
                <a:gd name="T0" fmla="*/ 27 w 28"/>
                <a:gd name="T1" fmla="*/ 8 h 31"/>
                <a:gd name="T2" fmla="*/ 13 w 28"/>
                <a:gd name="T3" fmla="*/ 0 h 31"/>
                <a:gd name="T4" fmla="*/ 0 w 28"/>
                <a:gd name="T5" fmla="*/ 30 h 31"/>
                <a:gd name="T6" fmla="*/ 27 w 28"/>
                <a:gd name="T7" fmla="*/ 8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8"/>
                  </a:moveTo>
                  <a:lnTo>
                    <a:pt x="13" y="0"/>
                  </a:lnTo>
                  <a:lnTo>
                    <a:pt x="0" y="30"/>
                  </a:lnTo>
                  <a:lnTo>
                    <a:pt x="27"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7" name="Freeform 4076"/>
            <p:cNvSpPr>
              <a:spLocks/>
            </p:cNvSpPr>
            <p:nvPr/>
          </p:nvSpPr>
          <p:spPr bwMode="auto">
            <a:xfrm>
              <a:off x="2134" y="1856"/>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8" name="Line 4077"/>
            <p:cNvSpPr>
              <a:spLocks noChangeShapeType="1"/>
            </p:cNvSpPr>
            <p:nvPr/>
          </p:nvSpPr>
          <p:spPr bwMode="auto">
            <a:xfrm>
              <a:off x="2134" y="1856"/>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69" name="Freeform 4078"/>
            <p:cNvSpPr>
              <a:spLocks/>
            </p:cNvSpPr>
            <p:nvPr/>
          </p:nvSpPr>
          <p:spPr bwMode="auto">
            <a:xfrm>
              <a:off x="2134" y="1835"/>
              <a:ext cx="24" cy="30"/>
            </a:xfrm>
            <a:custGeom>
              <a:avLst/>
              <a:gdLst>
                <a:gd name="T0" fmla="*/ 23 w 24"/>
                <a:gd name="T1" fmla="*/ 0 h 30"/>
                <a:gd name="T2" fmla="*/ 0 w 24"/>
                <a:gd name="T3" fmla="*/ 20 h 30"/>
                <a:gd name="T4" fmla="*/ 11 w 24"/>
                <a:gd name="T5" fmla="*/ 29 h 30"/>
                <a:gd name="T6" fmla="*/ 23 w 24"/>
                <a:gd name="T7" fmla="*/ 0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0"/>
                  </a:moveTo>
                  <a:lnTo>
                    <a:pt x="0" y="20"/>
                  </a:lnTo>
                  <a:lnTo>
                    <a:pt x="11" y="29"/>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0" name="Freeform 4079"/>
            <p:cNvSpPr>
              <a:spLocks/>
            </p:cNvSpPr>
            <p:nvPr/>
          </p:nvSpPr>
          <p:spPr bwMode="auto">
            <a:xfrm>
              <a:off x="2134" y="1828"/>
              <a:ext cx="24" cy="29"/>
            </a:xfrm>
            <a:custGeom>
              <a:avLst/>
              <a:gdLst>
                <a:gd name="T0" fmla="*/ 23 w 24"/>
                <a:gd name="T1" fmla="*/ 6 h 29"/>
                <a:gd name="T2" fmla="*/ 11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1" y="0"/>
                  </a:lnTo>
                  <a:lnTo>
                    <a:pt x="0" y="28"/>
                  </a:lnTo>
                  <a:lnTo>
                    <a:pt x="23"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1" name="Freeform 4080"/>
            <p:cNvSpPr>
              <a:spLocks/>
            </p:cNvSpPr>
            <p:nvPr/>
          </p:nvSpPr>
          <p:spPr bwMode="auto">
            <a:xfrm>
              <a:off x="2146" y="182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2" name="Line 4081"/>
            <p:cNvSpPr>
              <a:spLocks noChangeShapeType="1"/>
            </p:cNvSpPr>
            <p:nvPr/>
          </p:nvSpPr>
          <p:spPr bwMode="auto">
            <a:xfrm>
              <a:off x="2146" y="182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3" name="Freeform 4082"/>
            <p:cNvSpPr>
              <a:spLocks/>
            </p:cNvSpPr>
            <p:nvPr/>
          </p:nvSpPr>
          <p:spPr bwMode="auto">
            <a:xfrm>
              <a:off x="2146" y="1813"/>
              <a:ext cx="24" cy="28"/>
            </a:xfrm>
            <a:custGeom>
              <a:avLst/>
              <a:gdLst>
                <a:gd name="T0" fmla="*/ 23 w 24"/>
                <a:gd name="T1" fmla="*/ 0 h 28"/>
                <a:gd name="T2" fmla="*/ 0 w 24"/>
                <a:gd name="T3" fmla="*/ 18 h 28"/>
                <a:gd name="T4" fmla="*/ 12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18"/>
                  </a:lnTo>
                  <a:lnTo>
                    <a:pt x="12" y="27"/>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4" name="Freeform 4083"/>
            <p:cNvSpPr>
              <a:spLocks/>
            </p:cNvSpPr>
            <p:nvPr/>
          </p:nvSpPr>
          <p:spPr bwMode="auto">
            <a:xfrm>
              <a:off x="2146" y="1807"/>
              <a:ext cx="24" cy="26"/>
            </a:xfrm>
            <a:custGeom>
              <a:avLst/>
              <a:gdLst>
                <a:gd name="T0" fmla="*/ 23 w 24"/>
                <a:gd name="T1" fmla="*/ 7 h 26"/>
                <a:gd name="T2" fmla="*/ 12 w 24"/>
                <a:gd name="T3" fmla="*/ 0 h 26"/>
                <a:gd name="T4" fmla="*/ 0 w 24"/>
                <a:gd name="T5" fmla="*/ 25 h 26"/>
                <a:gd name="T6" fmla="*/ 23 w 24"/>
                <a:gd name="T7" fmla="*/ 7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7"/>
                  </a:moveTo>
                  <a:lnTo>
                    <a:pt x="12" y="0"/>
                  </a:lnTo>
                  <a:lnTo>
                    <a:pt x="0" y="25"/>
                  </a:lnTo>
                  <a:lnTo>
                    <a:pt x="23" y="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5" name="Freeform 4084"/>
            <p:cNvSpPr>
              <a:spLocks/>
            </p:cNvSpPr>
            <p:nvPr/>
          </p:nvSpPr>
          <p:spPr bwMode="auto">
            <a:xfrm>
              <a:off x="2157" y="180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6" name="Line 4085"/>
            <p:cNvSpPr>
              <a:spLocks noChangeShapeType="1"/>
            </p:cNvSpPr>
            <p:nvPr/>
          </p:nvSpPr>
          <p:spPr bwMode="auto">
            <a:xfrm>
              <a:off x="2157" y="180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7" name="Freeform 4086"/>
            <p:cNvSpPr>
              <a:spLocks/>
            </p:cNvSpPr>
            <p:nvPr/>
          </p:nvSpPr>
          <p:spPr bwMode="auto">
            <a:xfrm>
              <a:off x="2157" y="1792"/>
              <a:ext cx="28" cy="27"/>
            </a:xfrm>
            <a:custGeom>
              <a:avLst/>
              <a:gdLst>
                <a:gd name="T0" fmla="*/ 27 w 28"/>
                <a:gd name="T1" fmla="*/ 0 h 27"/>
                <a:gd name="T2" fmla="*/ 0 w 28"/>
                <a:gd name="T3" fmla="*/ 18 h 27"/>
                <a:gd name="T4" fmla="*/ 16 w 28"/>
                <a:gd name="T5" fmla="*/ 26 h 27"/>
                <a:gd name="T6" fmla="*/ 27 w 28"/>
                <a:gd name="T7" fmla="*/ 0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0"/>
                  </a:moveTo>
                  <a:lnTo>
                    <a:pt x="0" y="18"/>
                  </a:lnTo>
                  <a:lnTo>
                    <a:pt x="16" y="26"/>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8" name="Freeform 4087"/>
            <p:cNvSpPr>
              <a:spLocks/>
            </p:cNvSpPr>
            <p:nvPr/>
          </p:nvSpPr>
          <p:spPr bwMode="auto">
            <a:xfrm>
              <a:off x="2157" y="1785"/>
              <a:ext cx="28" cy="28"/>
            </a:xfrm>
            <a:custGeom>
              <a:avLst/>
              <a:gdLst>
                <a:gd name="T0" fmla="*/ 27 w 28"/>
                <a:gd name="T1" fmla="*/ 8 h 28"/>
                <a:gd name="T2" fmla="*/ 16 w 28"/>
                <a:gd name="T3" fmla="*/ 0 h 28"/>
                <a:gd name="T4" fmla="*/ 0 w 28"/>
                <a:gd name="T5" fmla="*/ 27 h 28"/>
                <a:gd name="T6" fmla="*/ 27 w 28"/>
                <a:gd name="T7" fmla="*/ 8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8"/>
                  </a:moveTo>
                  <a:lnTo>
                    <a:pt x="16" y="0"/>
                  </a:lnTo>
                  <a:lnTo>
                    <a:pt x="0" y="27"/>
                  </a:lnTo>
                  <a:lnTo>
                    <a:pt x="27"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79" name="Freeform 4088"/>
            <p:cNvSpPr>
              <a:spLocks/>
            </p:cNvSpPr>
            <p:nvPr/>
          </p:nvSpPr>
          <p:spPr bwMode="auto">
            <a:xfrm>
              <a:off x="2169" y="1785"/>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0" name="Line 4089"/>
            <p:cNvSpPr>
              <a:spLocks noChangeShapeType="1"/>
            </p:cNvSpPr>
            <p:nvPr/>
          </p:nvSpPr>
          <p:spPr bwMode="auto">
            <a:xfrm>
              <a:off x="2169" y="1785"/>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1" name="Freeform 4090"/>
            <p:cNvSpPr>
              <a:spLocks/>
            </p:cNvSpPr>
            <p:nvPr/>
          </p:nvSpPr>
          <p:spPr bwMode="auto">
            <a:xfrm>
              <a:off x="2169" y="1777"/>
              <a:ext cx="27" cy="28"/>
            </a:xfrm>
            <a:custGeom>
              <a:avLst/>
              <a:gdLst>
                <a:gd name="T0" fmla="*/ 26 w 27"/>
                <a:gd name="T1" fmla="*/ 0 h 28"/>
                <a:gd name="T2" fmla="*/ 0 w 27"/>
                <a:gd name="T3" fmla="*/ 15 h 28"/>
                <a:gd name="T4" fmla="*/ 1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0"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2" name="Freeform 4091"/>
            <p:cNvSpPr>
              <a:spLocks/>
            </p:cNvSpPr>
            <p:nvPr/>
          </p:nvSpPr>
          <p:spPr bwMode="auto">
            <a:xfrm>
              <a:off x="2169" y="1771"/>
              <a:ext cx="27" cy="27"/>
            </a:xfrm>
            <a:custGeom>
              <a:avLst/>
              <a:gdLst>
                <a:gd name="T0" fmla="*/ 26 w 27"/>
                <a:gd name="T1" fmla="*/ 11 h 27"/>
                <a:gd name="T2" fmla="*/ 18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8" y="0"/>
                  </a:lnTo>
                  <a:lnTo>
                    <a:pt x="0" y="26"/>
                  </a:lnTo>
                  <a:lnTo>
                    <a:pt x="26"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3" name="Freeform 4092"/>
            <p:cNvSpPr>
              <a:spLocks/>
            </p:cNvSpPr>
            <p:nvPr/>
          </p:nvSpPr>
          <p:spPr bwMode="auto">
            <a:xfrm>
              <a:off x="2184" y="177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4" name="Line 4093"/>
            <p:cNvSpPr>
              <a:spLocks noChangeShapeType="1"/>
            </p:cNvSpPr>
            <p:nvPr/>
          </p:nvSpPr>
          <p:spPr bwMode="auto">
            <a:xfrm>
              <a:off x="2184" y="1771"/>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5" name="Freeform 4094"/>
            <p:cNvSpPr>
              <a:spLocks/>
            </p:cNvSpPr>
            <p:nvPr/>
          </p:nvSpPr>
          <p:spPr bwMode="auto">
            <a:xfrm>
              <a:off x="2184" y="1764"/>
              <a:ext cx="24" cy="27"/>
            </a:xfrm>
            <a:custGeom>
              <a:avLst/>
              <a:gdLst>
                <a:gd name="T0" fmla="*/ 23 w 24"/>
                <a:gd name="T1" fmla="*/ 0 h 27"/>
                <a:gd name="T2" fmla="*/ 0 w 24"/>
                <a:gd name="T3" fmla="*/ 13 h 27"/>
                <a:gd name="T4" fmla="*/ 7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3"/>
                  </a:lnTo>
                  <a:lnTo>
                    <a:pt x="7"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6" name="Freeform 4095"/>
            <p:cNvSpPr>
              <a:spLocks/>
            </p:cNvSpPr>
            <p:nvPr/>
          </p:nvSpPr>
          <p:spPr bwMode="auto">
            <a:xfrm>
              <a:off x="2184" y="1755"/>
              <a:ext cx="24" cy="28"/>
            </a:xfrm>
            <a:custGeom>
              <a:avLst/>
              <a:gdLst>
                <a:gd name="T0" fmla="*/ 23 w 24"/>
                <a:gd name="T1" fmla="*/ 15 h 28"/>
                <a:gd name="T2" fmla="*/ 15 w 24"/>
                <a:gd name="T3" fmla="*/ 0 h 28"/>
                <a:gd name="T4" fmla="*/ 0 w 24"/>
                <a:gd name="T5" fmla="*/ 27 h 28"/>
                <a:gd name="T6" fmla="*/ 23 w 24"/>
                <a:gd name="T7" fmla="*/ 15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5"/>
                  </a:moveTo>
                  <a:lnTo>
                    <a:pt x="15" y="0"/>
                  </a:lnTo>
                  <a:lnTo>
                    <a:pt x="0" y="27"/>
                  </a:lnTo>
                  <a:lnTo>
                    <a:pt x="23"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7" name="Freeform 4096"/>
            <p:cNvSpPr>
              <a:spLocks/>
            </p:cNvSpPr>
            <p:nvPr/>
          </p:nvSpPr>
          <p:spPr bwMode="auto">
            <a:xfrm>
              <a:off x="2195" y="1749"/>
              <a:ext cx="27" cy="28"/>
            </a:xfrm>
            <a:custGeom>
              <a:avLst/>
              <a:gdLst>
                <a:gd name="T0" fmla="*/ 0 w 27"/>
                <a:gd name="T1" fmla="*/ 0 h 28"/>
                <a:gd name="T2" fmla="*/ 0 w 27"/>
                <a:gd name="T3" fmla="*/ 27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27"/>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8" name="Freeform 4097"/>
            <p:cNvSpPr>
              <a:spLocks/>
            </p:cNvSpPr>
            <p:nvPr/>
          </p:nvSpPr>
          <p:spPr bwMode="auto">
            <a:xfrm>
              <a:off x="2195" y="1749"/>
              <a:ext cx="1" cy="28"/>
            </a:xfrm>
            <a:custGeom>
              <a:avLst/>
              <a:gdLst>
                <a:gd name="T0" fmla="*/ 0 w 1"/>
                <a:gd name="T1" fmla="*/ 0 h 28"/>
                <a:gd name="T2" fmla="*/ 0 w 1"/>
                <a:gd name="T3" fmla="*/ 27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89" name="Freeform 4098"/>
            <p:cNvSpPr>
              <a:spLocks/>
            </p:cNvSpPr>
            <p:nvPr/>
          </p:nvSpPr>
          <p:spPr bwMode="auto">
            <a:xfrm>
              <a:off x="2195" y="1749"/>
              <a:ext cx="27" cy="28"/>
            </a:xfrm>
            <a:custGeom>
              <a:avLst/>
              <a:gdLst>
                <a:gd name="T0" fmla="*/ 26 w 27"/>
                <a:gd name="T1" fmla="*/ 0 h 28"/>
                <a:gd name="T2" fmla="*/ 0 w 27"/>
                <a:gd name="T3" fmla="*/ 0 h 28"/>
                <a:gd name="T4" fmla="*/ 8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8"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0" name="Freeform 4099"/>
            <p:cNvSpPr>
              <a:spLocks/>
            </p:cNvSpPr>
            <p:nvPr/>
          </p:nvSpPr>
          <p:spPr bwMode="auto">
            <a:xfrm>
              <a:off x="2195" y="1742"/>
              <a:ext cx="27" cy="28"/>
            </a:xfrm>
            <a:custGeom>
              <a:avLst/>
              <a:gdLst>
                <a:gd name="T0" fmla="*/ 26 w 27"/>
                <a:gd name="T1" fmla="*/ 27 h 28"/>
                <a:gd name="T2" fmla="*/ 16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6"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1" name="Freeform 4100"/>
            <p:cNvSpPr>
              <a:spLocks/>
            </p:cNvSpPr>
            <p:nvPr/>
          </p:nvSpPr>
          <p:spPr bwMode="auto">
            <a:xfrm>
              <a:off x="2206" y="1742"/>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2" name="Line 4101"/>
            <p:cNvSpPr>
              <a:spLocks noChangeShapeType="1"/>
            </p:cNvSpPr>
            <p:nvPr/>
          </p:nvSpPr>
          <p:spPr bwMode="auto">
            <a:xfrm>
              <a:off x="2206" y="1742"/>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3" name="Freeform 4102"/>
            <p:cNvSpPr>
              <a:spLocks/>
            </p:cNvSpPr>
            <p:nvPr/>
          </p:nvSpPr>
          <p:spPr bwMode="auto">
            <a:xfrm>
              <a:off x="2206" y="1742"/>
              <a:ext cx="25" cy="28"/>
            </a:xfrm>
            <a:custGeom>
              <a:avLst/>
              <a:gdLst>
                <a:gd name="T0" fmla="*/ 24 w 25"/>
                <a:gd name="T1" fmla="*/ 0 h 28"/>
                <a:gd name="T2" fmla="*/ 0 w 25"/>
                <a:gd name="T3" fmla="*/ 0 h 28"/>
                <a:gd name="T4" fmla="*/ 9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0"/>
                  </a:lnTo>
                  <a:lnTo>
                    <a:pt x="9" y="27"/>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4" name="Freeform 4103"/>
            <p:cNvSpPr>
              <a:spLocks/>
            </p:cNvSpPr>
            <p:nvPr/>
          </p:nvSpPr>
          <p:spPr bwMode="auto">
            <a:xfrm>
              <a:off x="2206" y="1734"/>
              <a:ext cx="25" cy="28"/>
            </a:xfrm>
            <a:custGeom>
              <a:avLst/>
              <a:gdLst>
                <a:gd name="T0" fmla="*/ 24 w 25"/>
                <a:gd name="T1" fmla="*/ 27 h 28"/>
                <a:gd name="T2" fmla="*/ 16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6"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5" name="Freeform 4104"/>
            <p:cNvSpPr>
              <a:spLocks/>
            </p:cNvSpPr>
            <p:nvPr/>
          </p:nvSpPr>
          <p:spPr bwMode="auto">
            <a:xfrm>
              <a:off x="2216" y="1734"/>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6" name="Line 4105"/>
            <p:cNvSpPr>
              <a:spLocks noChangeShapeType="1"/>
            </p:cNvSpPr>
            <p:nvPr/>
          </p:nvSpPr>
          <p:spPr bwMode="auto">
            <a:xfrm>
              <a:off x="2216" y="1734"/>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7" name="Freeform 4106"/>
            <p:cNvSpPr>
              <a:spLocks/>
            </p:cNvSpPr>
            <p:nvPr/>
          </p:nvSpPr>
          <p:spPr bwMode="auto">
            <a:xfrm>
              <a:off x="2216" y="1734"/>
              <a:ext cx="29" cy="28"/>
            </a:xfrm>
            <a:custGeom>
              <a:avLst/>
              <a:gdLst>
                <a:gd name="T0" fmla="*/ 28 w 29"/>
                <a:gd name="T1" fmla="*/ 27 h 28"/>
                <a:gd name="T2" fmla="*/ 0 w 29"/>
                <a:gd name="T3" fmla="*/ 0 h 28"/>
                <a:gd name="T4" fmla="*/ 8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8" y="27"/>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8" name="Freeform 4107"/>
            <p:cNvSpPr>
              <a:spLocks/>
            </p:cNvSpPr>
            <p:nvPr/>
          </p:nvSpPr>
          <p:spPr bwMode="auto">
            <a:xfrm>
              <a:off x="2216" y="1728"/>
              <a:ext cx="29" cy="28"/>
            </a:xfrm>
            <a:custGeom>
              <a:avLst/>
              <a:gdLst>
                <a:gd name="T0" fmla="*/ 28 w 29"/>
                <a:gd name="T1" fmla="*/ 27 h 28"/>
                <a:gd name="T2" fmla="*/ 19 w 29"/>
                <a:gd name="T3" fmla="*/ 0 h 28"/>
                <a:gd name="T4" fmla="*/ 0 w 29"/>
                <a:gd name="T5" fmla="*/ 12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9" y="0"/>
                  </a:lnTo>
                  <a:lnTo>
                    <a:pt x="0" y="12"/>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699" name="Freeform 4108"/>
            <p:cNvSpPr>
              <a:spLocks/>
            </p:cNvSpPr>
            <p:nvPr/>
          </p:nvSpPr>
          <p:spPr bwMode="auto">
            <a:xfrm>
              <a:off x="2233" y="1728"/>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0" name="Line 4109"/>
            <p:cNvSpPr>
              <a:spLocks noChangeShapeType="1"/>
            </p:cNvSpPr>
            <p:nvPr/>
          </p:nvSpPr>
          <p:spPr bwMode="auto">
            <a:xfrm>
              <a:off x="2233" y="1728"/>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1" name="Freeform 4110"/>
            <p:cNvSpPr>
              <a:spLocks/>
            </p:cNvSpPr>
            <p:nvPr/>
          </p:nvSpPr>
          <p:spPr bwMode="auto">
            <a:xfrm>
              <a:off x="2233" y="1728"/>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2" name="Freeform 4111"/>
            <p:cNvSpPr>
              <a:spLocks/>
            </p:cNvSpPr>
            <p:nvPr/>
          </p:nvSpPr>
          <p:spPr bwMode="auto">
            <a:xfrm>
              <a:off x="2233" y="1728"/>
              <a:ext cx="26" cy="28"/>
            </a:xfrm>
            <a:custGeom>
              <a:avLst/>
              <a:gdLst>
                <a:gd name="T0" fmla="*/ 0 w 26"/>
                <a:gd name="T1" fmla="*/ 0 h 28"/>
                <a:gd name="T2" fmla="*/ 25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25"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3" name="Freeform 4112"/>
            <p:cNvSpPr>
              <a:spLocks/>
            </p:cNvSpPr>
            <p:nvPr/>
          </p:nvSpPr>
          <p:spPr bwMode="auto">
            <a:xfrm>
              <a:off x="2245" y="1728"/>
              <a:ext cx="27" cy="28"/>
            </a:xfrm>
            <a:custGeom>
              <a:avLst/>
              <a:gdLst>
                <a:gd name="T0" fmla="*/ 0 w 27"/>
                <a:gd name="T1" fmla="*/ 0 h 28"/>
                <a:gd name="T2" fmla="*/ 0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0"/>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4" name="Line 4113"/>
            <p:cNvSpPr>
              <a:spLocks noChangeShapeType="1"/>
            </p:cNvSpPr>
            <p:nvPr/>
          </p:nvSpPr>
          <p:spPr bwMode="auto">
            <a:xfrm>
              <a:off x="2245" y="1728"/>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5" name="Freeform 4114"/>
            <p:cNvSpPr>
              <a:spLocks/>
            </p:cNvSpPr>
            <p:nvPr/>
          </p:nvSpPr>
          <p:spPr bwMode="auto">
            <a:xfrm>
              <a:off x="2245" y="1728"/>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6" name="Freeform 4115"/>
            <p:cNvSpPr>
              <a:spLocks/>
            </p:cNvSpPr>
            <p:nvPr/>
          </p:nvSpPr>
          <p:spPr bwMode="auto">
            <a:xfrm>
              <a:off x="2245" y="1728"/>
              <a:ext cx="27" cy="28"/>
            </a:xfrm>
            <a:custGeom>
              <a:avLst/>
              <a:gdLst>
                <a:gd name="T0" fmla="*/ 0 w 27"/>
                <a:gd name="T1" fmla="*/ 0 h 28"/>
                <a:gd name="T2" fmla="*/ 26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26" y="0"/>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7" name="Freeform 4116"/>
            <p:cNvSpPr>
              <a:spLocks/>
            </p:cNvSpPr>
            <p:nvPr/>
          </p:nvSpPr>
          <p:spPr bwMode="auto">
            <a:xfrm>
              <a:off x="2254" y="1728"/>
              <a:ext cx="29" cy="28"/>
            </a:xfrm>
            <a:custGeom>
              <a:avLst/>
              <a:gdLst>
                <a:gd name="T0" fmla="*/ 0 w 29"/>
                <a:gd name="T1" fmla="*/ 0 h 28"/>
                <a:gd name="T2" fmla="*/ 0 w 29"/>
                <a:gd name="T3" fmla="*/ 0 h 28"/>
                <a:gd name="T4" fmla="*/ 28 w 29"/>
                <a:gd name="T5" fmla="*/ 27 h 28"/>
                <a:gd name="T6" fmla="*/ 0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0"/>
                  </a:moveTo>
                  <a:lnTo>
                    <a:pt x="0" y="0"/>
                  </a:lnTo>
                  <a:lnTo>
                    <a:pt x="28"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8" name="Line 4117"/>
            <p:cNvSpPr>
              <a:spLocks noChangeShapeType="1"/>
            </p:cNvSpPr>
            <p:nvPr/>
          </p:nvSpPr>
          <p:spPr bwMode="auto">
            <a:xfrm>
              <a:off x="2254" y="1728"/>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09" name="Freeform 4118"/>
            <p:cNvSpPr>
              <a:spLocks/>
            </p:cNvSpPr>
            <p:nvPr/>
          </p:nvSpPr>
          <p:spPr bwMode="auto">
            <a:xfrm>
              <a:off x="2254" y="1728"/>
              <a:ext cx="29" cy="28"/>
            </a:xfrm>
            <a:custGeom>
              <a:avLst/>
              <a:gdLst>
                <a:gd name="T0" fmla="*/ 28 w 29"/>
                <a:gd name="T1" fmla="*/ 27 h 28"/>
                <a:gd name="T2" fmla="*/ 0 w 29"/>
                <a:gd name="T3" fmla="*/ 0 h 28"/>
                <a:gd name="T4" fmla="*/ 0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0" y="27"/>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0" name="Freeform 4119"/>
            <p:cNvSpPr>
              <a:spLocks/>
            </p:cNvSpPr>
            <p:nvPr/>
          </p:nvSpPr>
          <p:spPr bwMode="auto">
            <a:xfrm>
              <a:off x="2254" y="1728"/>
              <a:ext cx="29" cy="28"/>
            </a:xfrm>
            <a:custGeom>
              <a:avLst/>
              <a:gdLst>
                <a:gd name="T0" fmla="*/ 28 w 29"/>
                <a:gd name="T1" fmla="*/ 27 h 28"/>
                <a:gd name="T2" fmla="*/ 28 w 29"/>
                <a:gd name="T3" fmla="*/ 12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12"/>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1" name="Freeform 4120"/>
            <p:cNvSpPr>
              <a:spLocks/>
            </p:cNvSpPr>
            <p:nvPr/>
          </p:nvSpPr>
          <p:spPr bwMode="auto">
            <a:xfrm>
              <a:off x="2267" y="1734"/>
              <a:ext cx="26" cy="28"/>
            </a:xfrm>
            <a:custGeom>
              <a:avLst/>
              <a:gdLst>
                <a:gd name="T0" fmla="*/ 25 w 26"/>
                <a:gd name="T1" fmla="*/ 0 h 28"/>
                <a:gd name="T2" fmla="*/ 0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0"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2" name="Freeform 4121"/>
            <p:cNvSpPr>
              <a:spLocks/>
            </p:cNvSpPr>
            <p:nvPr/>
          </p:nvSpPr>
          <p:spPr bwMode="auto">
            <a:xfrm>
              <a:off x="2267" y="1734"/>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3" name="Freeform 4122"/>
            <p:cNvSpPr>
              <a:spLocks/>
            </p:cNvSpPr>
            <p:nvPr/>
          </p:nvSpPr>
          <p:spPr bwMode="auto">
            <a:xfrm>
              <a:off x="2262" y="1734"/>
              <a:ext cx="25" cy="28"/>
            </a:xfrm>
            <a:custGeom>
              <a:avLst/>
              <a:gdLst>
                <a:gd name="T0" fmla="*/ 24 w 25"/>
                <a:gd name="T1" fmla="*/ 27 h 28"/>
                <a:gd name="T2" fmla="*/ 24 w 25"/>
                <a:gd name="T3" fmla="*/ 0 h 28"/>
                <a:gd name="T4" fmla="*/ 0 w 25"/>
                <a:gd name="T5" fmla="*/ 15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15"/>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4" name="Freeform 4123"/>
            <p:cNvSpPr>
              <a:spLocks/>
            </p:cNvSpPr>
            <p:nvPr/>
          </p:nvSpPr>
          <p:spPr bwMode="auto">
            <a:xfrm>
              <a:off x="2275" y="1734"/>
              <a:ext cx="25" cy="28"/>
            </a:xfrm>
            <a:custGeom>
              <a:avLst/>
              <a:gdLst>
                <a:gd name="T0" fmla="*/ 0 w 25"/>
                <a:gd name="T1" fmla="*/ 27 h 28"/>
                <a:gd name="T2" fmla="*/ 24 w 25"/>
                <a:gd name="T3" fmla="*/ 15 h 28"/>
                <a:gd name="T4" fmla="*/ 0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24" y="15"/>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5" name="Freeform 4124"/>
            <p:cNvSpPr>
              <a:spLocks/>
            </p:cNvSpPr>
            <p:nvPr/>
          </p:nvSpPr>
          <p:spPr bwMode="auto">
            <a:xfrm>
              <a:off x="2282" y="1742"/>
              <a:ext cx="24" cy="28"/>
            </a:xfrm>
            <a:custGeom>
              <a:avLst/>
              <a:gdLst>
                <a:gd name="T0" fmla="*/ 23 w 24"/>
                <a:gd name="T1" fmla="*/ 0 h 28"/>
                <a:gd name="T2" fmla="*/ 0 w 24"/>
                <a:gd name="T3" fmla="*/ 0 h 28"/>
                <a:gd name="T4" fmla="*/ 0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0"/>
                  </a:lnTo>
                  <a:lnTo>
                    <a:pt x="0" y="27"/>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6" name="Freeform 4125"/>
            <p:cNvSpPr>
              <a:spLocks/>
            </p:cNvSpPr>
            <p:nvPr/>
          </p:nvSpPr>
          <p:spPr bwMode="auto">
            <a:xfrm>
              <a:off x="2282" y="1742"/>
              <a:ext cx="24" cy="1"/>
            </a:xfrm>
            <a:custGeom>
              <a:avLst/>
              <a:gdLst>
                <a:gd name="T0" fmla="*/ 23 w 24"/>
                <a:gd name="T1" fmla="*/ 0 h 1"/>
                <a:gd name="T2" fmla="*/ 23 w 24"/>
                <a:gd name="T3" fmla="*/ 0 h 1"/>
                <a:gd name="T4" fmla="*/ 0 w 24"/>
                <a:gd name="T5" fmla="*/ 0 h 1"/>
                <a:gd name="T6" fmla="*/ 23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23" y="0"/>
                  </a:moveTo>
                  <a:lnTo>
                    <a:pt x="23" y="0"/>
                  </a:lnTo>
                  <a:lnTo>
                    <a:pt x="0" y="0"/>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7" name="Freeform 4126"/>
            <p:cNvSpPr>
              <a:spLocks/>
            </p:cNvSpPr>
            <p:nvPr/>
          </p:nvSpPr>
          <p:spPr bwMode="auto">
            <a:xfrm>
              <a:off x="2275" y="1742"/>
              <a:ext cx="25" cy="28"/>
            </a:xfrm>
            <a:custGeom>
              <a:avLst/>
              <a:gdLst>
                <a:gd name="T0" fmla="*/ 24 w 25"/>
                <a:gd name="T1" fmla="*/ 27 h 28"/>
                <a:gd name="T2" fmla="*/ 24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8"/>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8" name="Freeform 4127"/>
            <p:cNvSpPr>
              <a:spLocks/>
            </p:cNvSpPr>
            <p:nvPr/>
          </p:nvSpPr>
          <p:spPr bwMode="auto">
            <a:xfrm>
              <a:off x="2286" y="1742"/>
              <a:ext cx="28" cy="28"/>
            </a:xfrm>
            <a:custGeom>
              <a:avLst/>
              <a:gdLst>
                <a:gd name="T0" fmla="*/ 0 w 28"/>
                <a:gd name="T1" fmla="*/ 27 h 28"/>
                <a:gd name="T2" fmla="*/ 27 w 28"/>
                <a:gd name="T3" fmla="*/ 8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8"/>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19" name="Freeform 4128"/>
            <p:cNvSpPr>
              <a:spLocks/>
            </p:cNvSpPr>
            <p:nvPr/>
          </p:nvSpPr>
          <p:spPr bwMode="auto">
            <a:xfrm>
              <a:off x="2292" y="1749"/>
              <a:ext cx="26" cy="28"/>
            </a:xfrm>
            <a:custGeom>
              <a:avLst/>
              <a:gdLst>
                <a:gd name="T0" fmla="*/ 25 w 26"/>
                <a:gd name="T1" fmla="*/ 12 h 28"/>
                <a:gd name="T2" fmla="*/ 25 w 26"/>
                <a:gd name="T3" fmla="*/ 0 h 28"/>
                <a:gd name="T4" fmla="*/ 0 w 26"/>
                <a:gd name="T5" fmla="*/ 27 h 28"/>
                <a:gd name="T6" fmla="*/ 25 w 26"/>
                <a:gd name="T7" fmla="*/ 12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2"/>
                  </a:moveTo>
                  <a:lnTo>
                    <a:pt x="25" y="0"/>
                  </a:lnTo>
                  <a:lnTo>
                    <a:pt x="0" y="27"/>
                  </a:lnTo>
                  <a:lnTo>
                    <a:pt x="25"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0" name="Freeform 4129"/>
            <p:cNvSpPr>
              <a:spLocks/>
            </p:cNvSpPr>
            <p:nvPr/>
          </p:nvSpPr>
          <p:spPr bwMode="auto">
            <a:xfrm>
              <a:off x="2299" y="174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1" name="Freeform 4130"/>
            <p:cNvSpPr>
              <a:spLocks/>
            </p:cNvSpPr>
            <p:nvPr/>
          </p:nvSpPr>
          <p:spPr bwMode="auto">
            <a:xfrm>
              <a:off x="2286" y="1755"/>
              <a:ext cx="28" cy="28"/>
            </a:xfrm>
            <a:custGeom>
              <a:avLst/>
              <a:gdLst>
                <a:gd name="T0" fmla="*/ 27 w 28"/>
                <a:gd name="T1" fmla="*/ 27 h 28"/>
                <a:gd name="T2" fmla="*/ 27 w 28"/>
                <a:gd name="T3" fmla="*/ 0 h 28"/>
                <a:gd name="T4" fmla="*/ 0 w 28"/>
                <a:gd name="T5" fmla="*/ 10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27" y="0"/>
                  </a:lnTo>
                  <a:lnTo>
                    <a:pt x="0" y="10"/>
                  </a:lnTo>
                  <a:lnTo>
                    <a:pt x="27"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2" name="Freeform 4131"/>
            <p:cNvSpPr>
              <a:spLocks/>
            </p:cNvSpPr>
            <p:nvPr/>
          </p:nvSpPr>
          <p:spPr bwMode="auto">
            <a:xfrm>
              <a:off x="2299" y="1755"/>
              <a:ext cx="26" cy="28"/>
            </a:xfrm>
            <a:custGeom>
              <a:avLst/>
              <a:gdLst>
                <a:gd name="T0" fmla="*/ 0 w 26"/>
                <a:gd name="T1" fmla="*/ 27 h 28"/>
                <a:gd name="T2" fmla="*/ 25 w 26"/>
                <a:gd name="T3" fmla="*/ 18 h 28"/>
                <a:gd name="T4" fmla="*/ 0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18"/>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3" name="Freeform 4132"/>
            <p:cNvSpPr>
              <a:spLocks/>
            </p:cNvSpPr>
            <p:nvPr/>
          </p:nvSpPr>
          <p:spPr bwMode="auto">
            <a:xfrm>
              <a:off x="2305" y="1771"/>
              <a:ext cx="26" cy="27"/>
            </a:xfrm>
            <a:custGeom>
              <a:avLst/>
              <a:gdLst>
                <a:gd name="T0" fmla="*/ 25 w 26"/>
                <a:gd name="T1" fmla="*/ 0 h 27"/>
                <a:gd name="T2" fmla="*/ 25 w 26"/>
                <a:gd name="T3" fmla="*/ 0 h 27"/>
                <a:gd name="T4" fmla="*/ 0 w 26"/>
                <a:gd name="T5" fmla="*/ 26 h 27"/>
                <a:gd name="T6" fmla="*/ 25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0"/>
                  </a:moveTo>
                  <a:lnTo>
                    <a:pt x="25" y="0"/>
                  </a:lnTo>
                  <a:lnTo>
                    <a:pt x="0" y="26"/>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4" name="Line 4133"/>
            <p:cNvSpPr>
              <a:spLocks noChangeShapeType="1"/>
            </p:cNvSpPr>
            <p:nvPr/>
          </p:nvSpPr>
          <p:spPr bwMode="auto">
            <a:xfrm>
              <a:off x="2313" y="1771"/>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5" name="Freeform 4134"/>
            <p:cNvSpPr>
              <a:spLocks/>
            </p:cNvSpPr>
            <p:nvPr/>
          </p:nvSpPr>
          <p:spPr bwMode="auto">
            <a:xfrm>
              <a:off x="2299" y="1771"/>
              <a:ext cx="26" cy="27"/>
            </a:xfrm>
            <a:custGeom>
              <a:avLst/>
              <a:gdLst>
                <a:gd name="T0" fmla="*/ 25 w 26"/>
                <a:gd name="T1" fmla="*/ 26 h 27"/>
                <a:gd name="T2" fmla="*/ 25 w 26"/>
                <a:gd name="T3" fmla="*/ 0 h 27"/>
                <a:gd name="T4" fmla="*/ 0 w 26"/>
                <a:gd name="T5" fmla="*/ 8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0"/>
                  </a:lnTo>
                  <a:lnTo>
                    <a:pt x="0" y="8"/>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6" name="Freeform 4135"/>
            <p:cNvSpPr>
              <a:spLocks/>
            </p:cNvSpPr>
            <p:nvPr/>
          </p:nvSpPr>
          <p:spPr bwMode="auto">
            <a:xfrm>
              <a:off x="2313" y="1771"/>
              <a:ext cx="25" cy="27"/>
            </a:xfrm>
            <a:custGeom>
              <a:avLst/>
              <a:gdLst>
                <a:gd name="T0" fmla="*/ 0 w 25"/>
                <a:gd name="T1" fmla="*/ 26 h 27"/>
                <a:gd name="T2" fmla="*/ 24 w 25"/>
                <a:gd name="T3" fmla="*/ 18 h 27"/>
                <a:gd name="T4" fmla="*/ 0 w 25"/>
                <a:gd name="T5" fmla="*/ 0 h 27"/>
                <a:gd name="T6" fmla="*/ 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26"/>
                  </a:moveTo>
                  <a:lnTo>
                    <a:pt x="24" y="18"/>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7" name="Freeform 4136"/>
            <p:cNvSpPr>
              <a:spLocks/>
            </p:cNvSpPr>
            <p:nvPr/>
          </p:nvSpPr>
          <p:spPr bwMode="auto">
            <a:xfrm>
              <a:off x="2317" y="1785"/>
              <a:ext cx="27" cy="28"/>
            </a:xfrm>
            <a:custGeom>
              <a:avLst/>
              <a:gdLst>
                <a:gd name="T0" fmla="*/ 26 w 27"/>
                <a:gd name="T1" fmla="*/ 0 h 28"/>
                <a:gd name="T2" fmla="*/ 0 w 27"/>
                <a:gd name="T3" fmla="*/ 0 h 28"/>
                <a:gd name="T4" fmla="*/ 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0"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8" name="Freeform 4137"/>
            <p:cNvSpPr>
              <a:spLocks/>
            </p:cNvSpPr>
            <p:nvPr/>
          </p:nvSpPr>
          <p:spPr bwMode="auto">
            <a:xfrm>
              <a:off x="2317" y="1785"/>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29" name="Freeform 4138"/>
            <p:cNvSpPr>
              <a:spLocks/>
            </p:cNvSpPr>
            <p:nvPr/>
          </p:nvSpPr>
          <p:spPr bwMode="auto">
            <a:xfrm>
              <a:off x="2313" y="1785"/>
              <a:ext cx="25" cy="29"/>
            </a:xfrm>
            <a:custGeom>
              <a:avLst/>
              <a:gdLst>
                <a:gd name="T0" fmla="*/ 24 w 25"/>
                <a:gd name="T1" fmla="*/ 28 h 29"/>
                <a:gd name="T2" fmla="*/ 24 w 25"/>
                <a:gd name="T3" fmla="*/ 0 h 29"/>
                <a:gd name="T4" fmla="*/ 0 w 25"/>
                <a:gd name="T5" fmla="*/ 6 h 29"/>
                <a:gd name="T6" fmla="*/ 24 w 25"/>
                <a:gd name="T7" fmla="*/ 28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28"/>
                  </a:moveTo>
                  <a:lnTo>
                    <a:pt x="24" y="0"/>
                  </a:lnTo>
                  <a:lnTo>
                    <a:pt x="0" y="6"/>
                  </a:lnTo>
                  <a:lnTo>
                    <a:pt x="24"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0" name="Freeform 4139"/>
            <p:cNvSpPr>
              <a:spLocks/>
            </p:cNvSpPr>
            <p:nvPr/>
          </p:nvSpPr>
          <p:spPr bwMode="auto">
            <a:xfrm>
              <a:off x="2324" y="1785"/>
              <a:ext cx="24" cy="29"/>
            </a:xfrm>
            <a:custGeom>
              <a:avLst/>
              <a:gdLst>
                <a:gd name="T0" fmla="*/ 0 w 24"/>
                <a:gd name="T1" fmla="*/ 28 h 29"/>
                <a:gd name="T2" fmla="*/ 23 w 24"/>
                <a:gd name="T3" fmla="*/ 21 h 29"/>
                <a:gd name="T4" fmla="*/ 0 w 24"/>
                <a:gd name="T5" fmla="*/ 0 h 29"/>
                <a:gd name="T6" fmla="*/ 0 w 24"/>
                <a:gd name="T7" fmla="*/ 28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28"/>
                  </a:moveTo>
                  <a:lnTo>
                    <a:pt x="23" y="21"/>
                  </a:lnTo>
                  <a:lnTo>
                    <a:pt x="0" y="0"/>
                  </a:lnTo>
                  <a:lnTo>
                    <a:pt x="0"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1" name="Freeform 4140"/>
            <p:cNvSpPr>
              <a:spLocks/>
            </p:cNvSpPr>
            <p:nvPr/>
          </p:nvSpPr>
          <p:spPr bwMode="auto">
            <a:xfrm>
              <a:off x="2330" y="1807"/>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2" name="Line 4141"/>
            <p:cNvSpPr>
              <a:spLocks noChangeShapeType="1"/>
            </p:cNvSpPr>
            <p:nvPr/>
          </p:nvSpPr>
          <p:spPr bwMode="auto">
            <a:xfrm>
              <a:off x="2330" y="180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3" name="Freeform 4142"/>
            <p:cNvSpPr>
              <a:spLocks/>
            </p:cNvSpPr>
            <p:nvPr/>
          </p:nvSpPr>
          <p:spPr bwMode="auto">
            <a:xfrm>
              <a:off x="2324" y="1807"/>
              <a:ext cx="24" cy="29"/>
            </a:xfrm>
            <a:custGeom>
              <a:avLst/>
              <a:gdLst>
                <a:gd name="T0" fmla="*/ 0 w 24"/>
                <a:gd name="T1" fmla="*/ 6 h 29"/>
                <a:gd name="T2" fmla="*/ 12 w 24"/>
                <a:gd name="T3" fmla="*/ 0 h 29"/>
                <a:gd name="T4" fmla="*/ 23 w 24"/>
                <a:gd name="T5" fmla="*/ 28 h 29"/>
                <a:gd name="T6" fmla="*/ 0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6"/>
                  </a:moveTo>
                  <a:lnTo>
                    <a:pt x="12" y="0"/>
                  </a:lnTo>
                  <a:lnTo>
                    <a:pt x="23" y="28"/>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4" name="Freeform 4143"/>
            <p:cNvSpPr>
              <a:spLocks/>
            </p:cNvSpPr>
            <p:nvPr/>
          </p:nvSpPr>
          <p:spPr bwMode="auto">
            <a:xfrm>
              <a:off x="2330" y="1807"/>
              <a:ext cx="26" cy="29"/>
            </a:xfrm>
            <a:custGeom>
              <a:avLst/>
              <a:gdLst>
                <a:gd name="T0" fmla="*/ 12 w 26"/>
                <a:gd name="T1" fmla="*/ 28 h 29"/>
                <a:gd name="T2" fmla="*/ 25 w 26"/>
                <a:gd name="T3" fmla="*/ 21 h 29"/>
                <a:gd name="T4" fmla="*/ 0 w 26"/>
                <a:gd name="T5" fmla="*/ 0 h 29"/>
                <a:gd name="T6" fmla="*/ 12 w 26"/>
                <a:gd name="T7" fmla="*/ 28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12" y="28"/>
                  </a:moveTo>
                  <a:lnTo>
                    <a:pt x="25" y="21"/>
                  </a:lnTo>
                  <a:lnTo>
                    <a:pt x="0" y="0"/>
                  </a:lnTo>
                  <a:lnTo>
                    <a:pt x="12"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5" name="Freeform 4144"/>
            <p:cNvSpPr>
              <a:spLocks/>
            </p:cNvSpPr>
            <p:nvPr/>
          </p:nvSpPr>
          <p:spPr bwMode="auto">
            <a:xfrm>
              <a:off x="2341" y="1828"/>
              <a:ext cx="1" cy="27"/>
            </a:xfrm>
            <a:custGeom>
              <a:avLst/>
              <a:gdLst>
                <a:gd name="T0" fmla="*/ 0 w 1"/>
                <a:gd name="T1" fmla="*/ 0 h 27"/>
                <a:gd name="T2" fmla="*/ 0 w 1"/>
                <a:gd name="T3" fmla="*/ 0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0"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6" name="Line 4145"/>
            <p:cNvSpPr>
              <a:spLocks noChangeShapeType="1"/>
            </p:cNvSpPr>
            <p:nvPr/>
          </p:nvSpPr>
          <p:spPr bwMode="auto">
            <a:xfrm>
              <a:off x="2341" y="1828"/>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7" name="Freeform 4146"/>
            <p:cNvSpPr>
              <a:spLocks/>
            </p:cNvSpPr>
            <p:nvPr/>
          </p:nvSpPr>
          <p:spPr bwMode="auto">
            <a:xfrm>
              <a:off x="2337" y="1828"/>
              <a:ext cx="26" cy="37"/>
            </a:xfrm>
            <a:custGeom>
              <a:avLst/>
              <a:gdLst>
                <a:gd name="T0" fmla="*/ 0 w 26"/>
                <a:gd name="T1" fmla="*/ 6 h 37"/>
                <a:gd name="T2" fmla="*/ 11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11" y="0"/>
                  </a:lnTo>
                  <a:lnTo>
                    <a:pt x="25"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8" name="Freeform 4147"/>
            <p:cNvSpPr>
              <a:spLocks/>
            </p:cNvSpPr>
            <p:nvPr/>
          </p:nvSpPr>
          <p:spPr bwMode="auto">
            <a:xfrm>
              <a:off x="2341" y="1828"/>
              <a:ext cx="25" cy="37"/>
            </a:xfrm>
            <a:custGeom>
              <a:avLst/>
              <a:gdLst>
                <a:gd name="T0" fmla="*/ 13 w 25"/>
                <a:gd name="T1" fmla="*/ 36 h 37"/>
                <a:gd name="T2" fmla="*/ 24 w 25"/>
                <a:gd name="T3" fmla="*/ 27 h 37"/>
                <a:gd name="T4" fmla="*/ 0 w 25"/>
                <a:gd name="T5" fmla="*/ 0 h 37"/>
                <a:gd name="T6" fmla="*/ 13 w 25"/>
                <a:gd name="T7" fmla="*/ 3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13" y="36"/>
                  </a:moveTo>
                  <a:lnTo>
                    <a:pt x="24" y="27"/>
                  </a:lnTo>
                  <a:lnTo>
                    <a:pt x="0" y="0"/>
                  </a:lnTo>
                  <a:lnTo>
                    <a:pt x="13"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39" name="Freeform 4148"/>
            <p:cNvSpPr>
              <a:spLocks/>
            </p:cNvSpPr>
            <p:nvPr/>
          </p:nvSpPr>
          <p:spPr bwMode="auto">
            <a:xfrm>
              <a:off x="2355" y="185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0" name="Line 4149"/>
            <p:cNvSpPr>
              <a:spLocks noChangeShapeType="1"/>
            </p:cNvSpPr>
            <p:nvPr/>
          </p:nvSpPr>
          <p:spPr bwMode="auto">
            <a:xfrm>
              <a:off x="2355" y="1856"/>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1" name="Freeform 4150"/>
            <p:cNvSpPr>
              <a:spLocks/>
            </p:cNvSpPr>
            <p:nvPr/>
          </p:nvSpPr>
          <p:spPr bwMode="auto">
            <a:xfrm>
              <a:off x="2347" y="1856"/>
              <a:ext cx="29" cy="37"/>
            </a:xfrm>
            <a:custGeom>
              <a:avLst/>
              <a:gdLst>
                <a:gd name="T0" fmla="*/ 0 w 29"/>
                <a:gd name="T1" fmla="*/ 8 h 37"/>
                <a:gd name="T2" fmla="*/ 28 w 29"/>
                <a:gd name="T3" fmla="*/ 0 h 37"/>
                <a:gd name="T4" fmla="*/ 28 w 29"/>
                <a:gd name="T5" fmla="*/ 36 h 37"/>
                <a:gd name="T6" fmla="*/ 0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8"/>
                  </a:moveTo>
                  <a:lnTo>
                    <a:pt x="28" y="0"/>
                  </a:lnTo>
                  <a:lnTo>
                    <a:pt x="28" y="36"/>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2" name="Freeform 4151"/>
            <p:cNvSpPr>
              <a:spLocks/>
            </p:cNvSpPr>
            <p:nvPr/>
          </p:nvSpPr>
          <p:spPr bwMode="auto">
            <a:xfrm>
              <a:off x="2355" y="1856"/>
              <a:ext cx="24" cy="37"/>
            </a:xfrm>
            <a:custGeom>
              <a:avLst/>
              <a:gdLst>
                <a:gd name="T0" fmla="*/ 0 w 24"/>
                <a:gd name="T1" fmla="*/ 36 h 37"/>
                <a:gd name="T2" fmla="*/ 23 w 24"/>
                <a:gd name="T3" fmla="*/ 29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29"/>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3" name="Freeform 4152"/>
            <p:cNvSpPr>
              <a:spLocks/>
            </p:cNvSpPr>
            <p:nvPr/>
          </p:nvSpPr>
          <p:spPr bwMode="auto">
            <a:xfrm>
              <a:off x="2367" y="188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4" name="Line 4153"/>
            <p:cNvSpPr>
              <a:spLocks noChangeShapeType="1"/>
            </p:cNvSpPr>
            <p:nvPr/>
          </p:nvSpPr>
          <p:spPr bwMode="auto">
            <a:xfrm>
              <a:off x="2367" y="1886"/>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5" name="Freeform 4154"/>
            <p:cNvSpPr>
              <a:spLocks/>
            </p:cNvSpPr>
            <p:nvPr/>
          </p:nvSpPr>
          <p:spPr bwMode="auto">
            <a:xfrm>
              <a:off x="2355" y="1886"/>
              <a:ext cx="24" cy="34"/>
            </a:xfrm>
            <a:custGeom>
              <a:avLst/>
              <a:gdLst>
                <a:gd name="T0" fmla="*/ 0 w 24"/>
                <a:gd name="T1" fmla="*/ 6 h 34"/>
                <a:gd name="T2" fmla="*/ 23 w 24"/>
                <a:gd name="T3" fmla="*/ 0 h 34"/>
                <a:gd name="T4" fmla="*/ 23 w 24"/>
                <a:gd name="T5" fmla="*/ 33 h 34"/>
                <a:gd name="T6" fmla="*/ 0 w 24"/>
                <a:gd name="T7" fmla="*/ 6 h 34"/>
                <a:gd name="T8" fmla="*/ 0 60000 65536"/>
                <a:gd name="T9" fmla="*/ 0 60000 65536"/>
                <a:gd name="T10" fmla="*/ 0 60000 65536"/>
                <a:gd name="T11" fmla="*/ 0 60000 65536"/>
                <a:gd name="T12" fmla="*/ 0 w 24"/>
                <a:gd name="T13" fmla="*/ 0 h 34"/>
                <a:gd name="T14" fmla="*/ 24 w 24"/>
                <a:gd name="T15" fmla="*/ 34 h 34"/>
              </a:gdLst>
              <a:ahLst/>
              <a:cxnLst>
                <a:cxn ang="T8">
                  <a:pos x="T0" y="T1"/>
                </a:cxn>
                <a:cxn ang="T9">
                  <a:pos x="T2" y="T3"/>
                </a:cxn>
                <a:cxn ang="T10">
                  <a:pos x="T4" y="T5"/>
                </a:cxn>
                <a:cxn ang="T11">
                  <a:pos x="T6" y="T7"/>
                </a:cxn>
              </a:cxnLst>
              <a:rect l="T12" t="T13" r="T14" b="T15"/>
              <a:pathLst>
                <a:path w="24" h="34">
                  <a:moveTo>
                    <a:pt x="0" y="6"/>
                  </a:moveTo>
                  <a:lnTo>
                    <a:pt x="23" y="0"/>
                  </a:lnTo>
                  <a:lnTo>
                    <a:pt x="23" y="33"/>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6" name="Freeform 4155"/>
            <p:cNvSpPr>
              <a:spLocks/>
            </p:cNvSpPr>
            <p:nvPr/>
          </p:nvSpPr>
          <p:spPr bwMode="auto">
            <a:xfrm>
              <a:off x="2367" y="1886"/>
              <a:ext cx="27" cy="34"/>
            </a:xfrm>
            <a:custGeom>
              <a:avLst/>
              <a:gdLst>
                <a:gd name="T0" fmla="*/ 0 w 27"/>
                <a:gd name="T1" fmla="*/ 33 h 34"/>
                <a:gd name="T2" fmla="*/ 26 w 27"/>
                <a:gd name="T3" fmla="*/ 26 h 34"/>
                <a:gd name="T4" fmla="*/ 0 w 27"/>
                <a:gd name="T5" fmla="*/ 0 h 34"/>
                <a:gd name="T6" fmla="*/ 0 w 27"/>
                <a:gd name="T7" fmla="*/ 33 h 34"/>
                <a:gd name="T8" fmla="*/ 0 60000 65536"/>
                <a:gd name="T9" fmla="*/ 0 60000 65536"/>
                <a:gd name="T10" fmla="*/ 0 60000 65536"/>
                <a:gd name="T11" fmla="*/ 0 60000 65536"/>
                <a:gd name="T12" fmla="*/ 0 w 27"/>
                <a:gd name="T13" fmla="*/ 0 h 34"/>
                <a:gd name="T14" fmla="*/ 27 w 27"/>
                <a:gd name="T15" fmla="*/ 34 h 34"/>
              </a:gdLst>
              <a:ahLst/>
              <a:cxnLst>
                <a:cxn ang="T8">
                  <a:pos x="T0" y="T1"/>
                </a:cxn>
                <a:cxn ang="T9">
                  <a:pos x="T2" y="T3"/>
                </a:cxn>
                <a:cxn ang="T10">
                  <a:pos x="T4" y="T5"/>
                </a:cxn>
                <a:cxn ang="T11">
                  <a:pos x="T6" y="T7"/>
                </a:cxn>
              </a:cxnLst>
              <a:rect l="T12" t="T13" r="T14" b="T15"/>
              <a:pathLst>
                <a:path w="27" h="34">
                  <a:moveTo>
                    <a:pt x="0" y="33"/>
                  </a:moveTo>
                  <a:lnTo>
                    <a:pt x="26" y="26"/>
                  </a:lnTo>
                  <a:lnTo>
                    <a:pt x="0" y="0"/>
                  </a:lnTo>
                  <a:lnTo>
                    <a:pt x="0" y="3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7" name="Freeform 4156"/>
            <p:cNvSpPr>
              <a:spLocks/>
            </p:cNvSpPr>
            <p:nvPr/>
          </p:nvSpPr>
          <p:spPr bwMode="auto">
            <a:xfrm>
              <a:off x="2378" y="1913"/>
              <a:ext cx="1" cy="28"/>
            </a:xfrm>
            <a:custGeom>
              <a:avLst/>
              <a:gdLst>
                <a:gd name="T0" fmla="*/ 0 w 1"/>
                <a:gd name="T1" fmla="*/ 0 h 28"/>
                <a:gd name="T2" fmla="*/ 0 w 1"/>
                <a:gd name="T3" fmla="*/ 0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8" name="Line 4157"/>
            <p:cNvSpPr>
              <a:spLocks noChangeShapeType="1"/>
            </p:cNvSpPr>
            <p:nvPr/>
          </p:nvSpPr>
          <p:spPr bwMode="auto">
            <a:xfrm>
              <a:off x="2378" y="191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49" name="Freeform 4158"/>
            <p:cNvSpPr>
              <a:spLocks/>
            </p:cNvSpPr>
            <p:nvPr/>
          </p:nvSpPr>
          <p:spPr bwMode="auto">
            <a:xfrm>
              <a:off x="2367" y="1913"/>
              <a:ext cx="27" cy="37"/>
            </a:xfrm>
            <a:custGeom>
              <a:avLst/>
              <a:gdLst>
                <a:gd name="T0" fmla="*/ 0 w 27"/>
                <a:gd name="T1" fmla="*/ 6 h 37"/>
                <a:gd name="T2" fmla="*/ 26 w 27"/>
                <a:gd name="T3" fmla="*/ 0 h 37"/>
                <a:gd name="T4" fmla="*/ 26 w 27"/>
                <a:gd name="T5" fmla="*/ 36 h 37"/>
                <a:gd name="T6" fmla="*/ 0 w 27"/>
                <a:gd name="T7" fmla="*/ 6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0" y="6"/>
                  </a:moveTo>
                  <a:lnTo>
                    <a:pt x="26" y="0"/>
                  </a:lnTo>
                  <a:lnTo>
                    <a:pt x="26"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0" name="Freeform 4159"/>
            <p:cNvSpPr>
              <a:spLocks/>
            </p:cNvSpPr>
            <p:nvPr/>
          </p:nvSpPr>
          <p:spPr bwMode="auto">
            <a:xfrm>
              <a:off x="2378" y="19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1" name="Freeform 4160"/>
            <p:cNvSpPr>
              <a:spLocks/>
            </p:cNvSpPr>
            <p:nvPr/>
          </p:nvSpPr>
          <p:spPr bwMode="auto">
            <a:xfrm>
              <a:off x="2385" y="1941"/>
              <a:ext cx="29" cy="27"/>
            </a:xfrm>
            <a:custGeom>
              <a:avLst/>
              <a:gdLst>
                <a:gd name="T0" fmla="*/ 28 w 29"/>
                <a:gd name="T1" fmla="*/ 0 h 27"/>
                <a:gd name="T2" fmla="*/ 28 w 29"/>
                <a:gd name="T3" fmla="*/ 0 h 27"/>
                <a:gd name="T4" fmla="*/ 0 w 29"/>
                <a:gd name="T5" fmla="*/ 26 h 27"/>
                <a:gd name="T6" fmla="*/ 28 w 29"/>
                <a:gd name="T7" fmla="*/ 0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28" y="0"/>
                  </a:moveTo>
                  <a:lnTo>
                    <a:pt x="28" y="0"/>
                  </a:lnTo>
                  <a:lnTo>
                    <a:pt x="0" y="26"/>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2" name="Line 4161"/>
            <p:cNvSpPr>
              <a:spLocks noChangeShapeType="1"/>
            </p:cNvSpPr>
            <p:nvPr/>
          </p:nvSpPr>
          <p:spPr bwMode="auto">
            <a:xfrm>
              <a:off x="2393" y="194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3" name="Freeform 4162"/>
            <p:cNvSpPr>
              <a:spLocks/>
            </p:cNvSpPr>
            <p:nvPr/>
          </p:nvSpPr>
          <p:spPr bwMode="auto">
            <a:xfrm>
              <a:off x="2378" y="1941"/>
              <a:ext cx="26" cy="37"/>
            </a:xfrm>
            <a:custGeom>
              <a:avLst/>
              <a:gdLst>
                <a:gd name="T0" fmla="*/ 0 w 26"/>
                <a:gd name="T1" fmla="*/ 8 h 37"/>
                <a:gd name="T2" fmla="*/ 25 w 26"/>
                <a:gd name="T3" fmla="*/ 0 h 37"/>
                <a:gd name="T4" fmla="*/ 25 w 26"/>
                <a:gd name="T5" fmla="*/ 36 h 37"/>
                <a:gd name="T6" fmla="*/ 0 w 26"/>
                <a:gd name="T7" fmla="*/ 8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8"/>
                  </a:moveTo>
                  <a:lnTo>
                    <a:pt x="25" y="0"/>
                  </a:lnTo>
                  <a:lnTo>
                    <a:pt x="25" y="36"/>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4" name="Freeform 4163"/>
            <p:cNvSpPr>
              <a:spLocks/>
            </p:cNvSpPr>
            <p:nvPr/>
          </p:nvSpPr>
          <p:spPr bwMode="auto">
            <a:xfrm>
              <a:off x="2393" y="1941"/>
              <a:ext cx="24" cy="37"/>
            </a:xfrm>
            <a:custGeom>
              <a:avLst/>
              <a:gdLst>
                <a:gd name="T0" fmla="*/ 0 w 24"/>
                <a:gd name="T1" fmla="*/ 36 h 37"/>
                <a:gd name="T2" fmla="*/ 23 w 24"/>
                <a:gd name="T3" fmla="*/ 36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36"/>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5" name="Freeform 4164"/>
            <p:cNvSpPr>
              <a:spLocks/>
            </p:cNvSpPr>
            <p:nvPr/>
          </p:nvSpPr>
          <p:spPr bwMode="auto">
            <a:xfrm>
              <a:off x="2398" y="1977"/>
              <a:ext cx="26" cy="28"/>
            </a:xfrm>
            <a:custGeom>
              <a:avLst/>
              <a:gdLst>
                <a:gd name="T0" fmla="*/ 25 w 26"/>
                <a:gd name="T1" fmla="*/ 0 h 28"/>
                <a:gd name="T2" fmla="*/ 25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25" y="0"/>
                  </a:lnTo>
                  <a:lnTo>
                    <a:pt x="0"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6" name="Line 4165"/>
            <p:cNvSpPr>
              <a:spLocks noChangeShapeType="1"/>
            </p:cNvSpPr>
            <p:nvPr/>
          </p:nvSpPr>
          <p:spPr bwMode="auto">
            <a:xfrm>
              <a:off x="2403" y="197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7" name="Freeform 4166"/>
            <p:cNvSpPr>
              <a:spLocks/>
            </p:cNvSpPr>
            <p:nvPr/>
          </p:nvSpPr>
          <p:spPr bwMode="auto">
            <a:xfrm>
              <a:off x="2393" y="1977"/>
              <a:ext cx="24" cy="36"/>
            </a:xfrm>
            <a:custGeom>
              <a:avLst/>
              <a:gdLst>
                <a:gd name="T0" fmla="*/ 0 w 24"/>
                <a:gd name="T1" fmla="*/ 0 h 36"/>
                <a:gd name="T2" fmla="*/ 23 w 24"/>
                <a:gd name="T3" fmla="*/ 0 h 36"/>
                <a:gd name="T4" fmla="*/ 23 w 24"/>
                <a:gd name="T5" fmla="*/ 35 h 36"/>
                <a:gd name="T6" fmla="*/ 0 w 24"/>
                <a:gd name="T7" fmla="*/ 0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0"/>
                  </a:moveTo>
                  <a:lnTo>
                    <a:pt x="23" y="0"/>
                  </a:lnTo>
                  <a:lnTo>
                    <a:pt x="23" y="3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8" name="Freeform 4167"/>
            <p:cNvSpPr>
              <a:spLocks/>
            </p:cNvSpPr>
            <p:nvPr/>
          </p:nvSpPr>
          <p:spPr bwMode="auto">
            <a:xfrm>
              <a:off x="2403" y="1977"/>
              <a:ext cx="29" cy="36"/>
            </a:xfrm>
            <a:custGeom>
              <a:avLst/>
              <a:gdLst>
                <a:gd name="T0" fmla="*/ 0 w 29"/>
                <a:gd name="T1" fmla="*/ 35 h 36"/>
                <a:gd name="T2" fmla="*/ 28 w 29"/>
                <a:gd name="T3" fmla="*/ 28 h 36"/>
                <a:gd name="T4" fmla="*/ 0 w 29"/>
                <a:gd name="T5" fmla="*/ 0 h 36"/>
                <a:gd name="T6" fmla="*/ 0 w 29"/>
                <a:gd name="T7" fmla="*/ 35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0" y="35"/>
                  </a:moveTo>
                  <a:lnTo>
                    <a:pt x="28"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59" name="Freeform 4168"/>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0" name="Freeform 4169"/>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1" name="Freeform 4170"/>
            <p:cNvSpPr>
              <a:spLocks/>
            </p:cNvSpPr>
            <p:nvPr/>
          </p:nvSpPr>
          <p:spPr bwMode="auto">
            <a:xfrm>
              <a:off x="2403" y="2007"/>
              <a:ext cx="29" cy="43"/>
            </a:xfrm>
            <a:custGeom>
              <a:avLst/>
              <a:gdLst>
                <a:gd name="T0" fmla="*/ 0 w 29"/>
                <a:gd name="T1" fmla="*/ 6 h 43"/>
                <a:gd name="T2" fmla="*/ 28 w 29"/>
                <a:gd name="T3" fmla="*/ 0 h 43"/>
                <a:gd name="T4" fmla="*/ 28 w 29"/>
                <a:gd name="T5" fmla="*/ 42 h 43"/>
                <a:gd name="T6" fmla="*/ 0 w 29"/>
                <a:gd name="T7" fmla="*/ 6 h 43"/>
                <a:gd name="T8" fmla="*/ 0 60000 65536"/>
                <a:gd name="T9" fmla="*/ 0 60000 65536"/>
                <a:gd name="T10" fmla="*/ 0 60000 65536"/>
                <a:gd name="T11" fmla="*/ 0 60000 65536"/>
                <a:gd name="T12" fmla="*/ 0 w 29"/>
                <a:gd name="T13" fmla="*/ 0 h 43"/>
                <a:gd name="T14" fmla="*/ 29 w 29"/>
                <a:gd name="T15" fmla="*/ 43 h 43"/>
              </a:gdLst>
              <a:ahLst/>
              <a:cxnLst>
                <a:cxn ang="T8">
                  <a:pos x="T0" y="T1"/>
                </a:cxn>
                <a:cxn ang="T9">
                  <a:pos x="T2" y="T3"/>
                </a:cxn>
                <a:cxn ang="T10">
                  <a:pos x="T4" y="T5"/>
                </a:cxn>
                <a:cxn ang="T11">
                  <a:pos x="T6" y="T7"/>
                </a:cxn>
              </a:cxnLst>
              <a:rect l="T12" t="T13" r="T14" b="T15"/>
              <a:pathLst>
                <a:path w="29" h="43">
                  <a:moveTo>
                    <a:pt x="0" y="6"/>
                  </a:moveTo>
                  <a:lnTo>
                    <a:pt x="28" y="0"/>
                  </a:lnTo>
                  <a:lnTo>
                    <a:pt x="28" y="42"/>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2" name="Freeform 4171"/>
            <p:cNvSpPr>
              <a:spLocks/>
            </p:cNvSpPr>
            <p:nvPr/>
          </p:nvSpPr>
          <p:spPr bwMode="auto">
            <a:xfrm>
              <a:off x="2416" y="2007"/>
              <a:ext cx="26" cy="43"/>
            </a:xfrm>
            <a:custGeom>
              <a:avLst/>
              <a:gdLst>
                <a:gd name="T0" fmla="*/ 0 w 26"/>
                <a:gd name="T1" fmla="*/ 42 h 43"/>
                <a:gd name="T2" fmla="*/ 25 w 26"/>
                <a:gd name="T3" fmla="*/ 33 h 43"/>
                <a:gd name="T4" fmla="*/ 0 w 26"/>
                <a:gd name="T5" fmla="*/ 0 h 43"/>
                <a:gd name="T6" fmla="*/ 0 w 26"/>
                <a:gd name="T7" fmla="*/ 42 h 43"/>
                <a:gd name="T8" fmla="*/ 0 60000 65536"/>
                <a:gd name="T9" fmla="*/ 0 60000 65536"/>
                <a:gd name="T10" fmla="*/ 0 60000 65536"/>
                <a:gd name="T11" fmla="*/ 0 60000 65536"/>
                <a:gd name="T12" fmla="*/ 0 w 26"/>
                <a:gd name="T13" fmla="*/ 0 h 43"/>
                <a:gd name="T14" fmla="*/ 26 w 26"/>
                <a:gd name="T15" fmla="*/ 43 h 43"/>
              </a:gdLst>
              <a:ahLst/>
              <a:cxnLst>
                <a:cxn ang="T8">
                  <a:pos x="T0" y="T1"/>
                </a:cxn>
                <a:cxn ang="T9">
                  <a:pos x="T2" y="T3"/>
                </a:cxn>
                <a:cxn ang="T10">
                  <a:pos x="T4" y="T5"/>
                </a:cxn>
                <a:cxn ang="T11">
                  <a:pos x="T6" y="T7"/>
                </a:cxn>
              </a:cxnLst>
              <a:rect l="T12" t="T13" r="T14" b="T15"/>
              <a:pathLst>
                <a:path w="26" h="43">
                  <a:moveTo>
                    <a:pt x="0" y="42"/>
                  </a:moveTo>
                  <a:lnTo>
                    <a:pt x="25" y="33"/>
                  </a:lnTo>
                  <a:lnTo>
                    <a:pt x="0" y="0"/>
                  </a:lnTo>
                  <a:lnTo>
                    <a:pt x="0" y="4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3" name="Freeform 4172"/>
            <p:cNvSpPr>
              <a:spLocks/>
            </p:cNvSpPr>
            <p:nvPr/>
          </p:nvSpPr>
          <p:spPr bwMode="auto">
            <a:xfrm>
              <a:off x="2423" y="2041"/>
              <a:ext cx="27" cy="27"/>
            </a:xfrm>
            <a:custGeom>
              <a:avLst/>
              <a:gdLst>
                <a:gd name="T0" fmla="*/ 26 w 27"/>
                <a:gd name="T1" fmla="*/ 0 h 27"/>
                <a:gd name="T2" fmla="*/ 26 w 27"/>
                <a:gd name="T3" fmla="*/ 0 h 27"/>
                <a:gd name="T4" fmla="*/ 0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26" y="0"/>
                  </a:lnTo>
                  <a:lnTo>
                    <a:pt x="0" y="26"/>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4" name="Line 4173"/>
            <p:cNvSpPr>
              <a:spLocks noChangeShapeType="1"/>
            </p:cNvSpPr>
            <p:nvPr/>
          </p:nvSpPr>
          <p:spPr bwMode="auto">
            <a:xfrm>
              <a:off x="2428" y="2041"/>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5" name="Freeform 4174"/>
            <p:cNvSpPr>
              <a:spLocks/>
            </p:cNvSpPr>
            <p:nvPr/>
          </p:nvSpPr>
          <p:spPr bwMode="auto">
            <a:xfrm>
              <a:off x="2416" y="20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6" name="Freeform 4175"/>
            <p:cNvSpPr>
              <a:spLocks/>
            </p:cNvSpPr>
            <p:nvPr/>
          </p:nvSpPr>
          <p:spPr bwMode="auto">
            <a:xfrm>
              <a:off x="2428" y="2041"/>
              <a:ext cx="26" cy="44"/>
            </a:xfrm>
            <a:custGeom>
              <a:avLst/>
              <a:gdLst>
                <a:gd name="T0" fmla="*/ 0 w 26"/>
                <a:gd name="T1" fmla="*/ 43 h 44"/>
                <a:gd name="T2" fmla="*/ 25 w 26"/>
                <a:gd name="T3" fmla="*/ 36 h 44"/>
                <a:gd name="T4" fmla="*/ 0 w 26"/>
                <a:gd name="T5" fmla="*/ 0 h 44"/>
                <a:gd name="T6" fmla="*/ 0 w 26"/>
                <a:gd name="T7" fmla="*/ 43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43"/>
                  </a:moveTo>
                  <a:lnTo>
                    <a:pt x="25" y="36"/>
                  </a:lnTo>
                  <a:lnTo>
                    <a:pt x="0" y="0"/>
                  </a:lnTo>
                  <a:lnTo>
                    <a:pt x="0" y="4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7" name="Freeform 4176"/>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8" name="Freeform 4177"/>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69" name="Freeform 4178"/>
            <p:cNvSpPr>
              <a:spLocks/>
            </p:cNvSpPr>
            <p:nvPr/>
          </p:nvSpPr>
          <p:spPr bwMode="auto">
            <a:xfrm>
              <a:off x="2428" y="2077"/>
              <a:ext cx="26" cy="37"/>
            </a:xfrm>
            <a:custGeom>
              <a:avLst/>
              <a:gdLst>
                <a:gd name="T0" fmla="*/ 0 w 26"/>
                <a:gd name="T1" fmla="*/ 6 h 37"/>
                <a:gd name="T2" fmla="*/ 25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25" y="0"/>
                  </a:lnTo>
                  <a:lnTo>
                    <a:pt x="25"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0" name="Freeform 4179"/>
            <p:cNvSpPr>
              <a:spLocks/>
            </p:cNvSpPr>
            <p:nvPr/>
          </p:nvSpPr>
          <p:spPr bwMode="auto">
            <a:xfrm>
              <a:off x="2441" y="2077"/>
              <a:ext cx="29" cy="37"/>
            </a:xfrm>
            <a:custGeom>
              <a:avLst/>
              <a:gdLst>
                <a:gd name="T0" fmla="*/ 0 w 29"/>
                <a:gd name="T1" fmla="*/ 36 h 37"/>
                <a:gd name="T2" fmla="*/ 28 w 29"/>
                <a:gd name="T3" fmla="*/ 36 h 37"/>
                <a:gd name="T4" fmla="*/ 0 w 29"/>
                <a:gd name="T5" fmla="*/ 0 h 37"/>
                <a:gd name="T6" fmla="*/ 0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36"/>
                  </a:moveTo>
                  <a:lnTo>
                    <a:pt x="28" y="36"/>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1" name="Freeform 4180"/>
            <p:cNvSpPr>
              <a:spLocks/>
            </p:cNvSpPr>
            <p:nvPr/>
          </p:nvSpPr>
          <p:spPr bwMode="auto">
            <a:xfrm>
              <a:off x="2441" y="2113"/>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2" name="Line 4181"/>
            <p:cNvSpPr>
              <a:spLocks noChangeShapeType="1"/>
            </p:cNvSpPr>
            <p:nvPr/>
          </p:nvSpPr>
          <p:spPr bwMode="auto">
            <a:xfrm>
              <a:off x="2441" y="211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3" name="Freeform 4182"/>
            <p:cNvSpPr>
              <a:spLocks/>
            </p:cNvSpPr>
            <p:nvPr/>
          </p:nvSpPr>
          <p:spPr bwMode="auto">
            <a:xfrm>
              <a:off x="2441" y="2113"/>
              <a:ext cx="29" cy="37"/>
            </a:xfrm>
            <a:custGeom>
              <a:avLst/>
              <a:gdLst>
                <a:gd name="T0" fmla="*/ 0 w 29"/>
                <a:gd name="T1" fmla="*/ 0 h 37"/>
                <a:gd name="T2" fmla="*/ 28 w 29"/>
                <a:gd name="T3" fmla="*/ 0 h 37"/>
                <a:gd name="T4" fmla="*/ 28 w 29"/>
                <a:gd name="T5" fmla="*/ 36 h 37"/>
                <a:gd name="T6" fmla="*/ 0 w 29"/>
                <a:gd name="T7" fmla="*/ 0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8" y="0"/>
                  </a:lnTo>
                  <a:lnTo>
                    <a:pt x="28" y="3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4" name="Freeform 4183"/>
            <p:cNvSpPr>
              <a:spLocks/>
            </p:cNvSpPr>
            <p:nvPr/>
          </p:nvSpPr>
          <p:spPr bwMode="auto">
            <a:xfrm>
              <a:off x="2454" y="21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5" name="Freeform 4184"/>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6" name="Freeform 4185"/>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7" name="Freeform 4186"/>
            <p:cNvSpPr>
              <a:spLocks/>
            </p:cNvSpPr>
            <p:nvPr/>
          </p:nvSpPr>
          <p:spPr bwMode="auto">
            <a:xfrm>
              <a:off x="2454" y="21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8" name="Freeform 4187"/>
            <p:cNvSpPr>
              <a:spLocks/>
            </p:cNvSpPr>
            <p:nvPr/>
          </p:nvSpPr>
          <p:spPr bwMode="auto">
            <a:xfrm>
              <a:off x="2469" y="2141"/>
              <a:ext cx="24" cy="44"/>
            </a:xfrm>
            <a:custGeom>
              <a:avLst/>
              <a:gdLst>
                <a:gd name="T0" fmla="*/ 0 w 24"/>
                <a:gd name="T1" fmla="*/ 43 h 44"/>
                <a:gd name="T2" fmla="*/ 23 w 24"/>
                <a:gd name="T3" fmla="*/ 36 h 44"/>
                <a:gd name="T4" fmla="*/ 0 w 24"/>
                <a:gd name="T5" fmla="*/ 0 h 44"/>
                <a:gd name="T6" fmla="*/ 0 w 24"/>
                <a:gd name="T7" fmla="*/ 43 h 44"/>
                <a:gd name="T8" fmla="*/ 0 60000 65536"/>
                <a:gd name="T9" fmla="*/ 0 60000 65536"/>
                <a:gd name="T10" fmla="*/ 0 60000 65536"/>
                <a:gd name="T11" fmla="*/ 0 60000 65536"/>
                <a:gd name="T12" fmla="*/ 0 w 24"/>
                <a:gd name="T13" fmla="*/ 0 h 44"/>
                <a:gd name="T14" fmla="*/ 24 w 24"/>
                <a:gd name="T15" fmla="*/ 44 h 44"/>
              </a:gdLst>
              <a:ahLst/>
              <a:cxnLst>
                <a:cxn ang="T8">
                  <a:pos x="T0" y="T1"/>
                </a:cxn>
                <a:cxn ang="T9">
                  <a:pos x="T2" y="T3"/>
                </a:cxn>
                <a:cxn ang="T10">
                  <a:pos x="T4" y="T5"/>
                </a:cxn>
                <a:cxn ang="T11">
                  <a:pos x="T6" y="T7"/>
                </a:cxn>
              </a:cxnLst>
              <a:rect l="T12" t="T13" r="T14" b="T15"/>
              <a:pathLst>
                <a:path w="24" h="44">
                  <a:moveTo>
                    <a:pt x="0" y="43"/>
                  </a:moveTo>
                  <a:lnTo>
                    <a:pt x="23" y="36"/>
                  </a:lnTo>
                  <a:lnTo>
                    <a:pt x="0" y="0"/>
                  </a:lnTo>
                  <a:lnTo>
                    <a:pt x="0" y="4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79" name="Freeform 4188"/>
            <p:cNvSpPr>
              <a:spLocks/>
            </p:cNvSpPr>
            <p:nvPr/>
          </p:nvSpPr>
          <p:spPr bwMode="auto">
            <a:xfrm>
              <a:off x="2469" y="218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0" name="Line 4189"/>
            <p:cNvSpPr>
              <a:spLocks noChangeShapeType="1"/>
            </p:cNvSpPr>
            <p:nvPr/>
          </p:nvSpPr>
          <p:spPr bwMode="auto">
            <a:xfrm>
              <a:off x="2469" y="2184"/>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1" name="Freeform 4190"/>
            <p:cNvSpPr>
              <a:spLocks/>
            </p:cNvSpPr>
            <p:nvPr/>
          </p:nvSpPr>
          <p:spPr bwMode="auto">
            <a:xfrm>
              <a:off x="2469" y="2176"/>
              <a:ext cx="24" cy="38"/>
            </a:xfrm>
            <a:custGeom>
              <a:avLst/>
              <a:gdLst>
                <a:gd name="T0" fmla="*/ 0 w 24"/>
                <a:gd name="T1" fmla="*/ 6 h 38"/>
                <a:gd name="T2" fmla="*/ 23 w 24"/>
                <a:gd name="T3" fmla="*/ 0 h 38"/>
                <a:gd name="T4" fmla="*/ 23 w 24"/>
                <a:gd name="T5" fmla="*/ 37 h 38"/>
                <a:gd name="T6" fmla="*/ 0 w 24"/>
                <a:gd name="T7" fmla="*/ 6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0" y="6"/>
                  </a:moveTo>
                  <a:lnTo>
                    <a:pt x="23" y="0"/>
                  </a:lnTo>
                  <a:lnTo>
                    <a:pt x="23" y="37"/>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2" name="Freeform 4191"/>
            <p:cNvSpPr>
              <a:spLocks/>
            </p:cNvSpPr>
            <p:nvPr/>
          </p:nvSpPr>
          <p:spPr bwMode="auto">
            <a:xfrm>
              <a:off x="2478" y="2176"/>
              <a:ext cx="26" cy="38"/>
            </a:xfrm>
            <a:custGeom>
              <a:avLst/>
              <a:gdLst>
                <a:gd name="T0" fmla="*/ 0 w 26"/>
                <a:gd name="T1" fmla="*/ 37 h 38"/>
                <a:gd name="T2" fmla="*/ 25 w 26"/>
                <a:gd name="T3" fmla="*/ 37 h 38"/>
                <a:gd name="T4" fmla="*/ 0 w 26"/>
                <a:gd name="T5" fmla="*/ 0 h 38"/>
                <a:gd name="T6" fmla="*/ 0 w 26"/>
                <a:gd name="T7" fmla="*/ 37 h 38"/>
                <a:gd name="T8" fmla="*/ 0 60000 65536"/>
                <a:gd name="T9" fmla="*/ 0 60000 65536"/>
                <a:gd name="T10" fmla="*/ 0 60000 65536"/>
                <a:gd name="T11" fmla="*/ 0 60000 65536"/>
                <a:gd name="T12" fmla="*/ 0 w 26"/>
                <a:gd name="T13" fmla="*/ 0 h 38"/>
                <a:gd name="T14" fmla="*/ 26 w 26"/>
                <a:gd name="T15" fmla="*/ 38 h 38"/>
              </a:gdLst>
              <a:ahLst/>
              <a:cxnLst>
                <a:cxn ang="T8">
                  <a:pos x="T0" y="T1"/>
                </a:cxn>
                <a:cxn ang="T9">
                  <a:pos x="T2" y="T3"/>
                </a:cxn>
                <a:cxn ang="T10">
                  <a:pos x="T4" y="T5"/>
                </a:cxn>
                <a:cxn ang="T11">
                  <a:pos x="T6" y="T7"/>
                </a:cxn>
              </a:cxnLst>
              <a:rect l="T12" t="T13" r="T14" b="T15"/>
              <a:pathLst>
                <a:path w="26" h="38">
                  <a:moveTo>
                    <a:pt x="0" y="37"/>
                  </a:moveTo>
                  <a:lnTo>
                    <a:pt x="25" y="37"/>
                  </a:lnTo>
                  <a:lnTo>
                    <a:pt x="0" y="0"/>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3" name="Freeform 4192"/>
            <p:cNvSpPr>
              <a:spLocks/>
            </p:cNvSpPr>
            <p:nvPr/>
          </p:nvSpPr>
          <p:spPr bwMode="auto">
            <a:xfrm>
              <a:off x="2478" y="2213"/>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4" name="Line 4193"/>
            <p:cNvSpPr>
              <a:spLocks noChangeShapeType="1"/>
            </p:cNvSpPr>
            <p:nvPr/>
          </p:nvSpPr>
          <p:spPr bwMode="auto">
            <a:xfrm>
              <a:off x="2478" y="221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5" name="Freeform 4194"/>
            <p:cNvSpPr>
              <a:spLocks/>
            </p:cNvSpPr>
            <p:nvPr/>
          </p:nvSpPr>
          <p:spPr bwMode="auto">
            <a:xfrm>
              <a:off x="2478" y="2213"/>
              <a:ext cx="26" cy="36"/>
            </a:xfrm>
            <a:custGeom>
              <a:avLst/>
              <a:gdLst>
                <a:gd name="T0" fmla="*/ 0 w 26"/>
                <a:gd name="T1" fmla="*/ 0 h 36"/>
                <a:gd name="T2" fmla="*/ 25 w 26"/>
                <a:gd name="T3" fmla="*/ 0 h 36"/>
                <a:gd name="T4" fmla="*/ 25 w 26"/>
                <a:gd name="T5" fmla="*/ 35 h 36"/>
                <a:gd name="T6" fmla="*/ 0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0"/>
                  </a:moveTo>
                  <a:lnTo>
                    <a:pt x="25" y="0"/>
                  </a:lnTo>
                  <a:lnTo>
                    <a:pt x="25" y="3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6" name="Freeform 4195"/>
            <p:cNvSpPr>
              <a:spLocks/>
            </p:cNvSpPr>
            <p:nvPr/>
          </p:nvSpPr>
          <p:spPr bwMode="auto">
            <a:xfrm>
              <a:off x="2491" y="2213"/>
              <a:ext cx="26" cy="36"/>
            </a:xfrm>
            <a:custGeom>
              <a:avLst/>
              <a:gdLst>
                <a:gd name="T0" fmla="*/ 0 w 26"/>
                <a:gd name="T1" fmla="*/ 35 h 36"/>
                <a:gd name="T2" fmla="*/ 25 w 26"/>
                <a:gd name="T3" fmla="*/ 28 h 36"/>
                <a:gd name="T4" fmla="*/ 0 w 26"/>
                <a:gd name="T5" fmla="*/ 0 h 36"/>
                <a:gd name="T6" fmla="*/ 0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35"/>
                  </a:moveTo>
                  <a:lnTo>
                    <a:pt x="25"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7" name="Freeform 4196"/>
            <p:cNvSpPr>
              <a:spLocks/>
            </p:cNvSpPr>
            <p:nvPr/>
          </p:nvSpPr>
          <p:spPr bwMode="auto">
            <a:xfrm>
              <a:off x="2491" y="2248"/>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8" name="Line 4197"/>
            <p:cNvSpPr>
              <a:spLocks noChangeShapeType="1"/>
            </p:cNvSpPr>
            <p:nvPr/>
          </p:nvSpPr>
          <p:spPr bwMode="auto">
            <a:xfrm>
              <a:off x="2491" y="224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89" name="Freeform 4198"/>
            <p:cNvSpPr>
              <a:spLocks/>
            </p:cNvSpPr>
            <p:nvPr/>
          </p:nvSpPr>
          <p:spPr bwMode="auto">
            <a:xfrm>
              <a:off x="2491" y="2241"/>
              <a:ext cx="26" cy="37"/>
            </a:xfrm>
            <a:custGeom>
              <a:avLst/>
              <a:gdLst>
                <a:gd name="T0" fmla="*/ 25 w 26"/>
                <a:gd name="T1" fmla="*/ 36 h 37"/>
                <a:gd name="T2" fmla="*/ 11 w 26"/>
                <a:gd name="T3" fmla="*/ 0 h 37"/>
                <a:gd name="T4" fmla="*/ 0 w 26"/>
                <a:gd name="T5" fmla="*/ 6 h 37"/>
                <a:gd name="T6" fmla="*/ 25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36"/>
                  </a:moveTo>
                  <a:lnTo>
                    <a:pt x="11" y="0"/>
                  </a:lnTo>
                  <a:lnTo>
                    <a:pt x="0" y="6"/>
                  </a:lnTo>
                  <a:lnTo>
                    <a:pt x="25"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0" name="Freeform 4199"/>
            <p:cNvSpPr>
              <a:spLocks/>
            </p:cNvSpPr>
            <p:nvPr/>
          </p:nvSpPr>
          <p:spPr bwMode="auto">
            <a:xfrm>
              <a:off x="2496" y="2241"/>
              <a:ext cx="29" cy="37"/>
            </a:xfrm>
            <a:custGeom>
              <a:avLst/>
              <a:gdLst>
                <a:gd name="T0" fmla="*/ 15 w 29"/>
                <a:gd name="T1" fmla="*/ 36 h 37"/>
                <a:gd name="T2" fmla="*/ 28 w 29"/>
                <a:gd name="T3" fmla="*/ 36 h 37"/>
                <a:gd name="T4" fmla="*/ 0 w 29"/>
                <a:gd name="T5" fmla="*/ 0 h 37"/>
                <a:gd name="T6" fmla="*/ 15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15" y="36"/>
                  </a:moveTo>
                  <a:lnTo>
                    <a:pt x="28" y="36"/>
                  </a:lnTo>
                  <a:lnTo>
                    <a:pt x="0" y="0"/>
                  </a:lnTo>
                  <a:lnTo>
                    <a:pt x="15"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1" name="Freeform 4200"/>
            <p:cNvSpPr>
              <a:spLocks/>
            </p:cNvSpPr>
            <p:nvPr/>
          </p:nvSpPr>
          <p:spPr bwMode="auto">
            <a:xfrm>
              <a:off x="2503" y="2277"/>
              <a:ext cx="26" cy="27"/>
            </a:xfrm>
            <a:custGeom>
              <a:avLst/>
              <a:gdLst>
                <a:gd name="T0" fmla="*/ 0 w 26"/>
                <a:gd name="T1" fmla="*/ 0 h 27"/>
                <a:gd name="T2" fmla="*/ 0 w 26"/>
                <a:gd name="T3" fmla="*/ 0 h 27"/>
                <a:gd name="T4" fmla="*/ 25 w 26"/>
                <a:gd name="T5" fmla="*/ 26 h 27"/>
                <a:gd name="T6" fmla="*/ 0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0"/>
                  </a:moveTo>
                  <a:lnTo>
                    <a:pt x="0" y="0"/>
                  </a:lnTo>
                  <a:lnTo>
                    <a:pt x="25"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2" name="Line 4201"/>
            <p:cNvSpPr>
              <a:spLocks noChangeShapeType="1"/>
            </p:cNvSpPr>
            <p:nvPr/>
          </p:nvSpPr>
          <p:spPr bwMode="auto">
            <a:xfrm>
              <a:off x="2503" y="2277"/>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3" name="Freeform 4202"/>
            <p:cNvSpPr>
              <a:spLocks/>
            </p:cNvSpPr>
            <p:nvPr/>
          </p:nvSpPr>
          <p:spPr bwMode="auto">
            <a:xfrm>
              <a:off x="2503" y="2277"/>
              <a:ext cx="26" cy="36"/>
            </a:xfrm>
            <a:custGeom>
              <a:avLst/>
              <a:gdLst>
                <a:gd name="T0" fmla="*/ 25 w 26"/>
                <a:gd name="T1" fmla="*/ 35 h 36"/>
                <a:gd name="T2" fmla="*/ 25 w 26"/>
                <a:gd name="T3" fmla="*/ 0 h 36"/>
                <a:gd name="T4" fmla="*/ 0 w 26"/>
                <a:gd name="T5" fmla="*/ 0 h 36"/>
                <a:gd name="T6" fmla="*/ 25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35"/>
                  </a:moveTo>
                  <a:lnTo>
                    <a:pt x="25" y="0"/>
                  </a:lnTo>
                  <a:lnTo>
                    <a:pt x="0" y="0"/>
                  </a:lnTo>
                  <a:lnTo>
                    <a:pt x="25"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4" name="Freeform 4203"/>
            <p:cNvSpPr>
              <a:spLocks/>
            </p:cNvSpPr>
            <p:nvPr/>
          </p:nvSpPr>
          <p:spPr bwMode="auto">
            <a:xfrm>
              <a:off x="2507" y="2277"/>
              <a:ext cx="28" cy="36"/>
            </a:xfrm>
            <a:custGeom>
              <a:avLst/>
              <a:gdLst>
                <a:gd name="T0" fmla="*/ 0 w 28"/>
                <a:gd name="T1" fmla="*/ 35 h 36"/>
                <a:gd name="T2" fmla="*/ 27 w 28"/>
                <a:gd name="T3" fmla="*/ 27 h 36"/>
                <a:gd name="T4" fmla="*/ 0 w 28"/>
                <a:gd name="T5" fmla="*/ 0 h 36"/>
                <a:gd name="T6" fmla="*/ 0 w 28"/>
                <a:gd name="T7" fmla="*/ 35 h 36"/>
                <a:gd name="T8" fmla="*/ 0 60000 65536"/>
                <a:gd name="T9" fmla="*/ 0 60000 65536"/>
                <a:gd name="T10" fmla="*/ 0 60000 65536"/>
                <a:gd name="T11" fmla="*/ 0 60000 65536"/>
                <a:gd name="T12" fmla="*/ 0 w 28"/>
                <a:gd name="T13" fmla="*/ 0 h 36"/>
                <a:gd name="T14" fmla="*/ 28 w 28"/>
                <a:gd name="T15" fmla="*/ 36 h 36"/>
              </a:gdLst>
              <a:ahLst/>
              <a:cxnLst>
                <a:cxn ang="T8">
                  <a:pos x="T0" y="T1"/>
                </a:cxn>
                <a:cxn ang="T9">
                  <a:pos x="T2" y="T3"/>
                </a:cxn>
                <a:cxn ang="T10">
                  <a:pos x="T4" y="T5"/>
                </a:cxn>
                <a:cxn ang="T11">
                  <a:pos x="T6" y="T7"/>
                </a:cxn>
              </a:cxnLst>
              <a:rect l="T12" t="T13" r="T14" b="T15"/>
              <a:pathLst>
                <a:path w="28" h="36">
                  <a:moveTo>
                    <a:pt x="0" y="35"/>
                  </a:moveTo>
                  <a:lnTo>
                    <a:pt x="27" y="27"/>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5" name="Freeform 4204"/>
            <p:cNvSpPr>
              <a:spLocks/>
            </p:cNvSpPr>
            <p:nvPr/>
          </p:nvSpPr>
          <p:spPr bwMode="auto">
            <a:xfrm>
              <a:off x="2507" y="2312"/>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6" name="Line 4205"/>
            <p:cNvSpPr>
              <a:spLocks noChangeShapeType="1"/>
            </p:cNvSpPr>
            <p:nvPr/>
          </p:nvSpPr>
          <p:spPr bwMode="auto">
            <a:xfrm>
              <a:off x="2507" y="2312"/>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7" name="Freeform 4206"/>
            <p:cNvSpPr>
              <a:spLocks/>
            </p:cNvSpPr>
            <p:nvPr/>
          </p:nvSpPr>
          <p:spPr bwMode="auto">
            <a:xfrm>
              <a:off x="2507" y="2304"/>
              <a:ext cx="28" cy="37"/>
            </a:xfrm>
            <a:custGeom>
              <a:avLst/>
              <a:gdLst>
                <a:gd name="T0" fmla="*/ 27 w 28"/>
                <a:gd name="T1" fmla="*/ 36 h 37"/>
                <a:gd name="T2" fmla="*/ 27 w 28"/>
                <a:gd name="T3" fmla="*/ 0 h 37"/>
                <a:gd name="T4" fmla="*/ 0 w 28"/>
                <a:gd name="T5" fmla="*/ 8 h 37"/>
                <a:gd name="T6" fmla="*/ 27 w 28"/>
                <a:gd name="T7" fmla="*/ 36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27" y="36"/>
                  </a:moveTo>
                  <a:lnTo>
                    <a:pt x="27" y="0"/>
                  </a:lnTo>
                  <a:lnTo>
                    <a:pt x="0" y="8"/>
                  </a:lnTo>
                  <a:lnTo>
                    <a:pt x="27"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8" name="Freeform 4207"/>
            <p:cNvSpPr>
              <a:spLocks/>
            </p:cNvSpPr>
            <p:nvPr/>
          </p:nvSpPr>
          <p:spPr bwMode="auto">
            <a:xfrm>
              <a:off x="2524" y="2304"/>
              <a:ext cx="22" cy="37"/>
            </a:xfrm>
            <a:custGeom>
              <a:avLst/>
              <a:gdLst>
                <a:gd name="T0" fmla="*/ 0 w 22"/>
                <a:gd name="T1" fmla="*/ 36 h 37"/>
                <a:gd name="T2" fmla="*/ 21 w 22"/>
                <a:gd name="T3" fmla="*/ 29 h 37"/>
                <a:gd name="T4" fmla="*/ 0 w 22"/>
                <a:gd name="T5" fmla="*/ 0 h 37"/>
                <a:gd name="T6" fmla="*/ 0 w 22"/>
                <a:gd name="T7" fmla="*/ 36 h 37"/>
                <a:gd name="T8" fmla="*/ 0 60000 65536"/>
                <a:gd name="T9" fmla="*/ 0 60000 65536"/>
                <a:gd name="T10" fmla="*/ 0 60000 65536"/>
                <a:gd name="T11" fmla="*/ 0 60000 65536"/>
                <a:gd name="T12" fmla="*/ 0 w 22"/>
                <a:gd name="T13" fmla="*/ 0 h 37"/>
                <a:gd name="T14" fmla="*/ 22 w 22"/>
                <a:gd name="T15" fmla="*/ 37 h 37"/>
              </a:gdLst>
              <a:ahLst/>
              <a:cxnLst>
                <a:cxn ang="T8">
                  <a:pos x="T0" y="T1"/>
                </a:cxn>
                <a:cxn ang="T9">
                  <a:pos x="T2" y="T3"/>
                </a:cxn>
                <a:cxn ang="T10">
                  <a:pos x="T4" y="T5"/>
                </a:cxn>
                <a:cxn ang="T11">
                  <a:pos x="T6" y="T7"/>
                </a:cxn>
              </a:cxnLst>
              <a:rect l="T12" t="T13" r="T14" b="T15"/>
              <a:pathLst>
                <a:path w="22" h="37">
                  <a:moveTo>
                    <a:pt x="0" y="36"/>
                  </a:moveTo>
                  <a:lnTo>
                    <a:pt x="21" y="29"/>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799" name="Freeform 4208"/>
            <p:cNvSpPr>
              <a:spLocks/>
            </p:cNvSpPr>
            <p:nvPr/>
          </p:nvSpPr>
          <p:spPr bwMode="auto">
            <a:xfrm>
              <a:off x="2524" y="2340"/>
              <a:ext cx="22" cy="1"/>
            </a:xfrm>
            <a:custGeom>
              <a:avLst/>
              <a:gdLst>
                <a:gd name="T0" fmla="*/ 0 w 22"/>
                <a:gd name="T1" fmla="*/ 0 h 1"/>
                <a:gd name="T2" fmla="*/ 0 w 22"/>
                <a:gd name="T3" fmla="*/ 0 h 1"/>
                <a:gd name="T4" fmla="*/ 21 w 22"/>
                <a:gd name="T5" fmla="*/ 0 h 1"/>
                <a:gd name="T6" fmla="*/ 0 w 22"/>
                <a:gd name="T7" fmla="*/ 0 h 1"/>
                <a:gd name="T8" fmla="*/ 0 60000 65536"/>
                <a:gd name="T9" fmla="*/ 0 60000 65536"/>
                <a:gd name="T10" fmla="*/ 0 60000 65536"/>
                <a:gd name="T11" fmla="*/ 0 60000 65536"/>
                <a:gd name="T12" fmla="*/ 0 w 22"/>
                <a:gd name="T13" fmla="*/ 0 h 1"/>
                <a:gd name="T14" fmla="*/ 22 w 22"/>
                <a:gd name="T15" fmla="*/ 1 h 1"/>
              </a:gdLst>
              <a:ahLst/>
              <a:cxnLst>
                <a:cxn ang="T8">
                  <a:pos x="T0" y="T1"/>
                </a:cxn>
                <a:cxn ang="T9">
                  <a:pos x="T2" y="T3"/>
                </a:cxn>
                <a:cxn ang="T10">
                  <a:pos x="T4" y="T5"/>
                </a:cxn>
                <a:cxn ang="T11">
                  <a:pos x="T6" y="T7"/>
                </a:cxn>
              </a:cxnLst>
              <a:rect l="T12" t="T13" r="T14" b="T15"/>
              <a:pathLst>
                <a:path w="22" h="1">
                  <a:moveTo>
                    <a:pt x="0" y="0"/>
                  </a:moveTo>
                  <a:lnTo>
                    <a:pt x="0" y="0"/>
                  </a:lnTo>
                  <a:lnTo>
                    <a:pt x="21"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0" name="Line 4209"/>
            <p:cNvSpPr>
              <a:spLocks noChangeShapeType="1"/>
            </p:cNvSpPr>
            <p:nvPr/>
          </p:nvSpPr>
          <p:spPr bwMode="auto">
            <a:xfrm>
              <a:off x="2524" y="2340"/>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1" name="Freeform 4210"/>
            <p:cNvSpPr>
              <a:spLocks/>
            </p:cNvSpPr>
            <p:nvPr/>
          </p:nvSpPr>
          <p:spPr bwMode="auto">
            <a:xfrm>
              <a:off x="2524" y="2334"/>
              <a:ext cx="22" cy="36"/>
            </a:xfrm>
            <a:custGeom>
              <a:avLst/>
              <a:gdLst>
                <a:gd name="T0" fmla="*/ 21 w 22"/>
                <a:gd name="T1" fmla="*/ 35 h 36"/>
                <a:gd name="T2" fmla="*/ 21 w 22"/>
                <a:gd name="T3" fmla="*/ 0 h 36"/>
                <a:gd name="T4" fmla="*/ 0 w 22"/>
                <a:gd name="T5" fmla="*/ 6 h 36"/>
                <a:gd name="T6" fmla="*/ 21 w 22"/>
                <a:gd name="T7" fmla="*/ 35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1" y="35"/>
                  </a:moveTo>
                  <a:lnTo>
                    <a:pt x="21" y="0"/>
                  </a:lnTo>
                  <a:lnTo>
                    <a:pt x="0" y="6"/>
                  </a:lnTo>
                  <a:lnTo>
                    <a:pt x="21"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2" name="Freeform 4211"/>
            <p:cNvSpPr>
              <a:spLocks/>
            </p:cNvSpPr>
            <p:nvPr/>
          </p:nvSpPr>
          <p:spPr bwMode="auto">
            <a:xfrm>
              <a:off x="2533" y="2334"/>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3" name="Freeform 4212"/>
            <p:cNvSpPr>
              <a:spLocks/>
            </p:cNvSpPr>
            <p:nvPr/>
          </p:nvSpPr>
          <p:spPr bwMode="auto">
            <a:xfrm>
              <a:off x="2533" y="2369"/>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4" name="Line 4213"/>
            <p:cNvSpPr>
              <a:spLocks noChangeShapeType="1"/>
            </p:cNvSpPr>
            <p:nvPr/>
          </p:nvSpPr>
          <p:spPr bwMode="auto">
            <a:xfrm>
              <a:off x="2533" y="2369"/>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5" name="Freeform 4214"/>
            <p:cNvSpPr>
              <a:spLocks/>
            </p:cNvSpPr>
            <p:nvPr/>
          </p:nvSpPr>
          <p:spPr bwMode="auto">
            <a:xfrm>
              <a:off x="2533" y="2361"/>
              <a:ext cx="24" cy="38"/>
            </a:xfrm>
            <a:custGeom>
              <a:avLst/>
              <a:gdLst>
                <a:gd name="T0" fmla="*/ 23 w 24"/>
                <a:gd name="T1" fmla="*/ 37 h 38"/>
                <a:gd name="T2" fmla="*/ 23 w 24"/>
                <a:gd name="T3" fmla="*/ 0 h 38"/>
                <a:gd name="T4" fmla="*/ 0 w 24"/>
                <a:gd name="T5" fmla="*/ 6 h 38"/>
                <a:gd name="T6" fmla="*/ 23 w 24"/>
                <a:gd name="T7" fmla="*/ 37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23" y="37"/>
                  </a:moveTo>
                  <a:lnTo>
                    <a:pt x="23" y="0"/>
                  </a:lnTo>
                  <a:lnTo>
                    <a:pt x="0" y="6"/>
                  </a:lnTo>
                  <a:lnTo>
                    <a:pt x="23"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6" name="Freeform 4215"/>
            <p:cNvSpPr>
              <a:spLocks/>
            </p:cNvSpPr>
            <p:nvPr/>
          </p:nvSpPr>
          <p:spPr bwMode="auto">
            <a:xfrm>
              <a:off x="2545" y="2361"/>
              <a:ext cx="28" cy="38"/>
            </a:xfrm>
            <a:custGeom>
              <a:avLst/>
              <a:gdLst>
                <a:gd name="T0" fmla="*/ 0 w 28"/>
                <a:gd name="T1" fmla="*/ 37 h 38"/>
                <a:gd name="T2" fmla="*/ 27 w 28"/>
                <a:gd name="T3" fmla="*/ 28 h 38"/>
                <a:gd name="T4" fmla="*/ 0 w 28"/>
                <a:gd name="T5" fmla="*/ 0 h 38"/>
                <a:gd name="T6" fmla="*/ 0 w 28"/>
                <a:gd name="T7" fmla="*/ 37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7"/>
                  </a:moveTo>
                  <a:lnTo>
                    <a:pt x="27" y="28"/>
                  </a:lnTo>
                  <a:lnTo>
                    <a:pt x="0" y="0"/>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7" name="Freeform 4216"/>
            <p:cNvSpPr>
              <a:spLocks/>
            </p:cNvSpPr>
            <p:nvPr/>
          </p:nvSpPr>
          <p:spPr bwMode="auto">
            <a:xfrm>
              <a:off x="2545" y="2398"/>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8" name="Line 4217"/>
            <p:cNvSpPr>
              <a:spLocks noChangeShapeType="1"/>
            </p:cNvSpPr>
            <p:nvPr/>
          </p:nvSpPr>
          <p:spPr bwMode="auto">
            <a:xfrm>
              <a:off x="2545" y="239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09" name="Freeform 4218"/>
            <p:cNvSpPr>
              <a:spLocks/>
            </p:cNvSpPr>
            <p:nvPr/>
          </p:nvSpPr>
          <p:spPr bwMode="auto">
            <a:xfrm>
              <a:off x="2545" y="2390"/>
              <a:ext cx="28" cy="31"/>
            </a:xfrm>
            <a:custGeom>
              <a:avLst/>
              <a:gdLst>
                <a:gd name="T0" fmla="*/ 27 w 28"/>
                <a:gd name="T1" fmla="*/ 30 h 31"/>
                <a:gd name="T2" fmla="*/ 27 w 28"/>
                <a:gd name="T3" fmla="*/ 0 h 31"/>
                <a:gd name="T4" fmla="*/ 0 w 28"/>
                <a:gd name="T5" fmla="*/ 8 h 31"/>
                <a:gd name="T6" fmla="*/ 27 w 28"/>
                <a:gd name="T7" fmla="*/ 30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30"/>
                  </a:moveTo>
                  <a:lnTo>
                    <a:pt x="27" y="0"/>
                  </a:lnTo>
                  <a:lnTo>
                    <a:pt x="0" y="8"/>
                  </a:lnTo>
                  <a:lnTo>
                    <a:pt x="27" y="3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0" name="Freeform 4219"/>
            <p:cNvSpPr>
              <a:spLocks/>
            </p:cNvSpPr>
            <p:nvPr/>
          </p:nvSpPr>
          <p:spPr bwMode="auto">
            <a:xfrm>
              <a:off x="2557" y="2390"/>
              <a:ext cx="27" cy="31"/>
            </a:xfrm>
            <a:custGeom>
              <a:avLst/>
              <a:gdLst>
                <a:gd name="T0" fmla="*/ 0 w 27"/>
                <a:gd name="T1" fmla="*/ 30 h 31"/>
                <a:gd name="T2" fmla="*/ 26 w 27"/>
                <a:gd name="T3" fmla="*/ 23 h 31"/>
                <a:gd name="T4" fmla="*/ 0 w 27"/>
                <a:gd name="T5" fmla="*/ 0 h 31"/>
                <a:gd name="T6" fmla="*/ 0 w 27"/>
                <a:gd name="T7" fmla="*/ 3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0" y="30"/>
                  </a:moveTo>
                  <a:lnTo>
                    <a:pt x="26" y="23"/>
                  </a:lnTo>
                  <a:lnTo>
                    <a:pt x="0" y="0"/>
                  </a:lnTo>
                  <a:lnTo>
                    <a:pt x="0" y="3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1" name="Freeform 4220"/>
            <p:cNvSpPr>
              <a:spLocks/>
            </p:cNvSpPr>
            <p:nvPr/>
          </p:nvSpPr>
          <p:spPr bwMode="auto">
            <a:xfrm>
              <a:off x="2557" y="2420"/>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2" name="Line 4221"/>
            <p:cNvSpPr>
              <a:spLocks noChangeShapeType="1"/>
            </p:cNvSpPr>
            <p:nvPr/>
          </p:nvSpPr>
          <p:spPr bwMode="auto">
            <a:xfrm>
              <a:off x="2557" y="2420"/>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3" name="Freeform 4222"/>
            <p:cNvSpPr>
              <a:spLocks/>
            </p:cNvSpPr>
            <p:nvPr/>
          </p:nvSpPr>
          <p:spPr bwMode="auto">
            <a:xfrm>
              <a:off x="2557" y="2412"/>
              <a:ext cx="27" cy="36"/>
            </a:xfrm>
            <a:custGeom>
              <a:avLst/>
              <a:gdLst>
                <a:gd name="T0" fmla="*/ 26 w 27"/>
                <a:gd name="T1" fmla="*/ 35 h 36"/>
                <a:gd name="T2" fmla="*/ 26 w 27"/>
                <a:gd name="T3" fmla="*/ 0 h 36"/>
                <a:gd name="T4" fmla="*/ 0 w 27"/>
                <a:gd name="T5" fmla="*/ 6 h 36"/>
                <a:gd name="T6" fmla="*/ 26 w 27"/>
                <a:gd name="T7" fmla="*/ 35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35"/>
                  </a:moveTo>
                  <a:lnTo>
                    <a:pt x="26" y="0"/>
                  </a:lnTo>
                  <a:lnTo>
                    <a:pt x="0" y="6"/>
                  </a:lnTo>
                  <a:lnTo>
                    <a:pt x="26"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4" name="Freeform 4223"/>
            <p:cNvSpPr>
              <a:spLocks/>
            </p:cNvSpPr>
            <p:nvPr/>
          </p:nvSpPr>
          <p:spPr bwMode="auto">
            <a:xfrm>
              <a:off x="2572" y="2412"/>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5" name="Freeform 4224"/>
            <p:cNvSpPr>
              <a:spLocks/>
            </p:cNvSpPr>
            <p:nvPr/>
          </p:nvSpPr>
          <p:spPr bwMode="auto">
            <a:xfrm>
              <a:off x="2572" y="2447"/>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6" name="Line 4225"/>
            <p:cNvSpPr>
              <a:spLocks noChangeShapeType="1"/>
            </p:cNvSpPr>
            <p:nvPr/>
          </p:nvSpPr>
          <p:spPr bwMode="auto">
            <a:xfrm>
              <a:off x="2572" y="244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7" name="Freeform 4226"/>
            <p:cNvSpPr>
              <a:spLocks/>
            </p:cNvSpPr>
            <p:nvPr/>
          </p:nvSpPr>
          <p:spPr bwMode="auto">
            <a:xfrm>
              <a:off x="2572" y="2441"/>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8" name="Freeform 4227"/>
            <p:cNvSpPr>
              <a:spLocks/>
            </p:cNvSpPr>
            <p:nvPr/>
          </p:nvSpPr>
          <p:spPr bwMode="auto">
            <a:xfrm>
              <a:off x="2583" y="2441"/>
              <a:ext cx="24" cy="28"/>
            </a:xfrm>
            <a:custGeom>
              <a:avLst/>
              <a:gdLst>
                <a:gd name="T0" fmla="*/ 0 w 24"/>
                <a:gd name="T1" fmla="*/ 27 h 28"/>
                <a:gd name="T2" fmla="*/ 23 w 24"/>
                <a:gd name="T3" fmla="*/ 20 h 28"/>
                <a:gd name="T4" fmla="*/ 0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23" y="20"/>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19" name="Freeform 4228"/>
            <p:cNvSpPr>
              <a:spLocks/>
            </p:cNvSpPr>
            <p:nvPr/>
          </p:nvSpPr>
          <p:spPr bwMode="auto">
            <a:xfrm>
              <a:off x="2583" y="24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0" name="Line 4229"/>
            <p:cNvSpPr>
              <a:spLocks noChangeShapeType="1"/>
            </p:cNvSpPr>
            <p:nvPr/>
          </p:nvSpPr>
          <p:spPr bwMode="auto">
            <a:xfrm>
              <a:off x="2583" y="24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1" name="Freeform 4230"/>
            <p:cNvSpPr>
              <a:spLocks/>
            </p:cNvSpPr>
            <p:nvPr/>
          </p:nvSpPr>
          <p:spPr bwMode="auto">
            <a:xfrm>
              <a:off x="2583" y="2462"/>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2" name="Freeform 4231"/>
            <p:cNvSpPr>
              <a:spLocks/>
            </p:cNvSpPr>
            <p:nvPr/>
          </p:nvSpPr>
          <p:spPr bwMode="auto">
            <a:xfrm>
              <a:off x="2594" y="2462"/>
              <a:ext cx="28" cy="28"/>
            </a:xfrm>
            <a:custGeom>
              <a:avLst/>
              <a:gdLst>
                <a:gd name="T0" fmla="*/ 0 w 28"/>
                <a:gd name="T1" fmla="*/ 27 h 28"/>
                <a:gd name="T2" fmla="*/ 27 w 28"/>
                <a:gd name="T3" fmla="*/ 20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20"/>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3" name="Freeform 4232"/>
            <p:cNvSpPr>
              <a:spLocks/>
            </p:cNvSpPr>
            <p:nvPr/>
          </p:nvSpPr>
          <p:spPr bwMode="auto">
            <a:xfrm>
              <a:off x="2594" y="2489"/>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4" name="Line 4233"/>
            <p:cNvSpPr>
              <a:spLocks noChangeShapeType="1"/>
            </p:cNvSpPr>
            <p:nvPr/>
          </p:nvSpPr>
          <p:spPr bwMode="auto">
            <a:xfrm>
              <a:off x="2594" y="2489"/>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5" name="Freeform 4234"/>
            <p:cNvSpPr>
              <a:spLocks/>
            </p:cNvSpPr>
            <p:nvPr/>
          </p:nvSpPr>
          <p:spPr bwMode="auto">
            <a:xfrm>
              <a:off x="2594" y="2484"/>
              <a:ext cx="28" cy="26"/>
            </a:xfrm>
            <a:custGeom>
              <a:avLst/>
              <a:gdLst>
                <a:gd name="T0" fmla="*/ 27 w 28"/>
                <a:gd name="T1" fmla="*/ 25 h 26"/>
                <a:gd name="T2" fmla="*/ 27 w 28"/>
                <a:gd name="T3" fmla="*/ 0 h 26"/>
                <a:gd name="T4" fmla="*/ 0 w 28"/>
                <a:gd name="T5" fmla="*/ 7 h 26"/>
                <a:gd name="T6" fmla="*/ 27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25"/>
                  </a:moveTo>
                  <a:lnTo>
                    <a:pt x="27" y="0"/>
                  </a:lnTo>
                  <a:lnTo>
                    <a:pt x="0" y="7"/>
                  </a:lnTo>
                  <a:lnTo>
                    <a:pt x="27"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6" name="Freeform 4235"/>
            <p:cNvSpPr>
              <a:spLocks/>
            </p:cNvSpPr>
            <p:nvPr/>
          </p:nvSpPr>
          <p:spPr bwMode="auto">
            <a:xfrm>
              <a:off x="2610" y="2484"/>
              <a:ext cx="24" cy="26"/>
            </a:xfrm>
            <a:custGeom>
              <a:avLst/>
              <a:gdLst>
                <a:gd name="T0" fmla="*/ 0 w 24"/>
                <a:gd name="T1" fmla="*/ 25 h 26"/>
                <a:gd name="T2" fmla="*/ 23 w 24"/>
                <a:gd name="T3" fmla="*/ 17 h 26"/>
                <a:gd name="T4" fmla="*/ 0 w 24"/>
                <a:gd name="T5" fmla="*/ 0 h 26"/>
                <a:gd name="T6" fmla="*/ 0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0" y="25"/>
                  </a:moveTo>
                  <a:lnTo>
                    <a:pt x="23" y="17"/>
                  </a:lnTo>
                  <a:lnTo>
                    <a:pt x="0" y="0"/>
                  </a:lnTo>
                  <a:lnTo>
                    <a:pt x="0"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7" name="Freeform 4236"/>
            <p:cNvSpPr>
              <a:spLocks/>
            </p:cNvSpPr>
            <p:nvPr/>
          </p:nvSpPr>
          <p:spPr bwMode="auto">
            <a:xfrm>
              <a:off x="2610" y="2505"/>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8" name="Line 4237"/>
            <p:cNvSpPr>
              <a:spLocks noChangeShapeType="1"/>
            </p:cNvSpPr>
            <p:nvPr/>
          </p:nvSpPr>
          <p:spPr bwMode="auto">
            <a:xfrm>
              <a:off x="2610" y="2505"/>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29" name="Freeform 4238"/>
            <p:cNvSpPr>
              <a:spLocks/>
            </p:cNvSpPr>
            <p:nvPr/>
          </p:nvSpPr>
          <p:spPr bwMode="auto">
            <a:xfrm>
              <a:off x="2610" y="2498"/>
              <a:ext cx="24" cy="30"/>
            </a:xfrm>
            <a:custGeom>
              <a:avLst/>
              <a:gdLst>
                <a:gd name="T0" fmla="*/ 23 w 24"/>
                <a:gd name="T1" fmla="*/ 29 h 30"/>
                <a:gd name="T2" fmla="*/ 23 w 24"/>
                <a:gd name="T3" fmla="*/ 0 h 30"/>
                <a:gd name="T4" fmla="*/ 0 w 24"/>
                <a:gd name="T5" fmla="*/ 6 h 30"/>
                <a:gd name="T6" fmla="*/ 23 w 24"/>
                <a:gd name="T7" fmla="*/ 29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29"/>
                  </a:moveTo>
                  <a:lnTo>
                    <a:pt x="23" y="0"/>
                  </a:lnTo>
                  <a:lnTo>
                    <a:pt x="0" y="6"/>
                  </a:lnTo>
                  <a:lnTo>
                    <a:pt x="23" y="2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0" name="Freeform 4239"/>
            <p:cNvSpPr>
              <a:spLocks/>
            </p:cNvSpPr>
            <p:nvPr/>
          </p:nvSpPr>
          <p:spPr bwMode="auto">
            <a:xfrm>
              <a:off x="2621" y="2498"/>
              <a:ext cx="25" cy="30"/>
            </a:xfrm>
            <a:custGeom>
              <a:avLst/>
              <a:gdLst>
                <a:gd name="T0" fmla="*/ 0 w 25"/>
                <a:gd name="T1" fmla="*/ 29 h 30"/>
                <a:gd name="T2" fmla="*/ 24 w 25"/>
                <a:gd name="T3" fmla="*/ 22 h 30"/>
                <a:gd name="T4" fmla="*/ 0 w 25"/>
                <a:gd name="T5" fmla="*/ 0 h 30"/>
                <a:gd name="T6" fmla="*/ 0 w 25"/>
                <a:gd name="T7" fmla="*/ 29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0" y="29"/>
                  </a:moveTo>
                  <a:lnTo>
                    <a:pt x="24" y="22"/>
                  </a:lnTo>
                  <a:lnTo>
                    <a:pt x="0" y="0"/>
                  </a:lnTo>
                  <a:lnTo>
                    <a:pt x="0" y="2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1" name="Freeform 4240"/>
            <p:cNvSpPr>
              <a:spLocks/>
            </p:cNvSpPr>
            <p:nvPr/>
          </p:nvSpPr>
          <p:spPr bwMode="auto">
            <a:xfrm>
              <a:off x="2621" y="2527"/>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2" name="Line 4241"/>
            <p:cNvSpPr>
              <a:spLocks noChangeShapeType="1"/>
            </p:cNvSpPr>
            <p:nvPr/>
          </p:nvSpPr>
          <p:spPr bwMode="auto">
            <a:xfrm>
              <a:off x="2621" y="2527"/>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3" name="Freeform 4242"/>
            <p:cNvSpPr>
              <a:spLocks/>
            </p:cNvSpPr>
            <p:nvPr/>
          </p:nvSpPr>
          <p:spPr bwMode="auto">
            <a:xfrm>
              <a:off x="2621" y="2519"/>
              <a:ext cx="25" cy="28"/>
            </a:xfrm>
            <a:custGeom>
              <a:avLst/>
              <a:gdLst>
                <a:gd name="T0" fmla="*/ 24 w 25"/>
                <a:gd name="T1" fmla="*/ 27 h 28"/>
                <a:gd name="T2" fmla="*/ 12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8"/>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4" name="Freeform 4243"/>
            <p:cNvSpPr>
              <a:spLocks/>
            </p:cNvSpPr>
            <p:nvPr/>
          </p:nvSpPr>
          <p:spPr bwMode="auto">
            <a:xfrm>
              <a:off x="2628" y="2519"/>
              <a:ext cx="24" cy="28"/>
            </a:xfrm>
            <a:custGeom>
              <a:avLst/>
              <a:gdLst>
                <a:gd name="T0" fmla="*/ 10 w 24"/>
                <a:gd name="T1" fmla="*/ 27 h 28"/>
                <a:gd name="T2" fmla="*/ 23 w 24"/>
                <a:gd name="T3" fmla="*/ 16 h 28"/>
                <a:gd name="T4" fmla="*/ 0 w 24"/>
                <a:gd name="T5" fmla="*/ 0 h 28"/>
                <a:gd name="T6" fmla="*/ 1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10" y="27"/>
                  </a:moveTo>
                  <a:lnTo>
                    <a:pt x="23" y="16"/>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5" name="Freeform 4244"/>
            <p:cNvSpPr>
              <a:spLocks/>
            </p:cNvSpPr>
            <p:nvPr/>
          </p:nvSpPr>
          <p:spPr bwMode="auto">
            <a:xfrm>
              <a:off x="2632" y="2541"/>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6" name="Line 4245"/>
            <p:cNvSpPr>
              <a:spLocks noChangeShapeType="1"/>
            </p:cNvSpPr>
            <p:nvPr/>
          </p:nvSpPr>
          <p:spPr bwMode="auto">
            <a:xfrm>
              <a:off x="2632" y="25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7" name="Freeform 4246"/>
            <p:cNvSpPr>
              <a:spLocks/>
            </p:cNvSpPr>
            <p:nvPr/>
          </p:nvSpPr>
          <p:spPr bwMode="auto">
            <a:xfrm>
              <a:off x="2632" y="2532"/>
              <a:ext cx="28" cy="28"/>
            </a:xfrm>
            <a:custGeom>
              <a:avLst/>
              <a:gdLst>
                <a:gd name="T0" fmla="*/ 27 w 28"/>
                <a:gd name="T1" fmla="*/ 27 h 28"/>
                <a:gd name="T2" fmla="*/ 15 w 28"/>
                <a:gd name="T3" fmla="*/ 0 h 28"/>
                <a:gd name="T4" fmla="*/ 0 w 28"/>
                <a:gd name="T5" fmla="*/ 9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15" y="0"/>
                  </a:lnTo>
                  <a:lnTo>
                    <a:pt x="0" y="9"/>
                  </a:lnTo>
                  <a:lnTo>
                    <a:pt x="27"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8" name="Freeform 4247"/>
            <p:cNvSpPr>
              <a:spLocks/>
            </p:cNvSpPr>
            <p:nvPr/>
          </p:nvSpPr>
          <p:spPr bwMode="auto">
            <a:xfrm>
              <a:off x="2640" y="2532"/>
              <a:ext cx="27" cy="28"/>
            </a:xfrm>
            <a:custGeom>
              <a:avLst/>
              <a:gdLst>
                <a:gd name="T0" fmla="*/ 13 w 27"/>
                <a:gd name="T1" fmla="*/ 27 h 28"/>
                <a:gd name="T2" fmla="*/ 26 w 27"/>
                <a:gd name="T3" fmla="*/ 17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17"/>
                  </a:lnTo>
                  <a:lnTo>
                    <a:pt x="0" y="0"/>
                  </a:lnTo>
                  <a:lnTo>
                    <a:pt x="1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39" name="Freeform 4248"/>
            <p:cNvSpPr>
              <a:spLocks/>
            </p:cNvSpPr>
            <p:nvPr/>
          </p:nvSpPr>
          <p:spPr bwMode="auto">
            <a:xfrm>
              <a:off x="2644" y="2556"/>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0" name="Line 4249"/>
            <p:cNvSpPr>
              <a:spLocks noChangeShapeType="1"/>
            </p:cNvSpPr>
            <p:nvPr/>
          </p:nvSpPr>
          <p:spPr bwMode="auto">
            <a:xfrm>
              <a:off x="2644" y="2556"/>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1" name="Freeform 4250"/>
            <p:cNvSpPr>
              <a:spLocks/>
            </p:cNvSpPr>
            <p:nvPr/>
          </p:nvSpPr>
          <p:spPr bwMode="auto">
            <a:xfrm>
              <a:off x="2644" y="2547"/>
              <a:ext cx="27" cy="27"/>
            </a:xfrm>
            <a:custGeom>
              <a:avLst/>
              <a:gdLst>
                <a:gd name="T0" fmla="*/ 26 w 27"/>
                <a:gd name="T1" fmla="*/ 26 h 27"/>
                <a:gd name="T2" fmla="*/ 11 w 27"/>
                <a:gd name="T3" fmla="*/ 0 h 27"/>
                <a:gd name="T4" fmla="*/ 0 w 27"/>
                <a:gd name="T5" fmla="*/ 1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1" y="0"/>
                  </a:lnTo>
                  <a:lnTo>
                    <a:pt x="0" y="10"/>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2" name="Freeform 4251"/>
            <p:cNvSpPr>
              <a:spLocks/>
            </p:cNvSpPr>
            <p:nvPr/>
          </p:nvSpPr>
          <p:spPr bwMode="auto">
            <a:xfrm>
              <a:off x="2651" y="2547"/>
              <a:ext cx="28" cy="27"/>
            </a:xfrm>
            <a:custGeom>
              <a:avLst/>
              <a:gdLst>
                <a:gd name="T0" fmla="*/ 15 w 28"/>
                <a:gd name="T1" fmla="*/ 26 h 27"/>
                <a:gd name="T2" fmla="*/ 27 w 28"/>
                <a:gd name="T3" fmla="*/ 18 h 27"/>
                <a:gd name="T4" fmla="*/ 0 w 28"/>
                <a:gd name="T5" fmla="*/ 0 h 27"/>
                <a:gd name="T6" fmla="*/ 15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15" y="26"/>
                  </a:moveTo>
                  <a:lnTo>
                    <a:pt x="27" y="18"/>
                  </a:lnTo>
                  <a:lnTo>
                    <a:pt x="0" y="0"/>
                  </a:lnTo>
                  <a:lnTo>
                    <a:pt x="1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3" name="Freeform 4252"/>
            <p:cNvSpPr>
              <a:spLocks/>
            </p:cNvSpPr>
            <p:nvPr/>
          </p:nvSpPr>
          <p:spPr bwMode="auto">
            <a:xfrm>
              <a:off x="2659" y="25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4" name="Line 4253"/>
            <p:cNvSpPr>
              <a:spLocks noChangeShapeType="1"/>
            </p:cNvSpPr>
            <p:nvPr/>
          </p:nvSpPr>
          <p:spPr bwMode="auto">
            <a:xfrm>
              <a:off x="2659" y="25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5" name="Freeform 4254"/>
            <p:cNvSpPr>
              <a:spLocks/>
            </p:cNvSpPr>
            <p:nvPr/>
          </p:nvSpPr>
          <p:spPr bwMode="auto">
            <a:xfrm>
              <a:off x="2659" y="2562"/>
              <a:ext cx="24" cy="27"/>
            </a:xfrm>
            <a:custGeom>
              <a:avLst/>
              <a:gdLst>
                <a:gd name="T0" fmla="*/ 23 w 24"/>
                <a:gd name="T1" fmla="*/ 26 h 27"/>
                <a:gd name="T2" fmla="*/ 11 w 24"/>
                <a:gd name="T3" fmla="*/ 0 h 27"/>
                <a:gd name="T4" fmla="*/ 0 w 24"/>
                <a:gd name="T5" fmla="*/ 8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1" y="0"/>
                  </a:lnTo>
                  <a:lnTo>
                    <a:pt x="0" y="8"/>
                  </a:lnTo>
                  <a:lnTo>
                    <a:pt x="2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6" name="Freeform 4255"/>
            <p:cNvSpPr>
              <a:spLocks/>
            </p:cNvSpPr>
            <p:nvPr/>
          </p:nvSpPr>
          <p:spPr bwMode="auto">
            <a:xfrm>
              <a:off x="2666" y="2562"/>
              <a:ext cx="24" cy="27"/>
            </a:xfrm>
            <a:custGeom>
              <a:avLst/>
              <a:gdLst>
                <a:gd name="T0" fmla="*/ 10 w 24"/>
                <a:gd name="T1" fmla="*/ 26 h 27"/>
                <a:gd name="T2" fmla="*/ 23 w 24"/>
                <a:gd name="T3" fmla="*/ 18 h 27"/>
                <a:gd name="T4" fmla="*/ 0 w 24"/>
                <a:gd name="T5" fmla="*/ 0 h 27"/>
                <a:gd name="T6" fmla="*/ 1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10" y="26"/>
                  </a:moveTo>
                  <a:lnTo>
                    <a:pt x="23" y="18"/>
                  </a:lnTo>
                  <a:lnTo>
                    <a:pt x="0" y="0"/>
                  </a:lnTo>
                  <a:lnTo>
                    <a:pt x="1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7" name="Freeform 4256"/>
            <p:cNvSpPr>
              <a:spLocks/>
            </p:cNvSpPr>
            <p:nvPr/>
          </p:nvSpPr>
          <p:spPr bwMode="auto">
            <a:xfrm>
              <a:off x="2668" y="2584"/>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8" name="Line 4257"/>
            <p:cNvSpPr>
              <a:spLocks noChangeShapeType="1"/>
            </p:cNvSpPr>
            <p:nvPr/>
          </p:nvSpPr>
          <p:spPr bwMode="auto">
            <a:xfrm>
              <a:off x="2668" y="2584"/>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49" name="Freeform 4258"/>
            <p:cNvSpPr>
              <a:spLocks/>
            </p:cNvSpPr>
            <p:nvPr/>
          </p:nvSpPr>
          <p:spPr bwMode="auto">
            <a:xfrm>
              <a:off x="2668" y="2576"/>
              <a:ext cx="27" cy="28"/>
            </a:xfrm>
            <a:custGeom>
              <a:avLst/>
              <a:gdLst>
                <a:gd name="T0" fmla="*/ 26 w 27"/>
                <a:gd name="T1" fmla="*/ 27 h 28"/>
                <a:gd name="T2" fmla="*/ 14 w 27"/>
                <a:gd name="T3" fmla="*/ 0 h 28"/>
                <a:gd name="T4" fmla="*/ 0 w 27"/>
                <a:gd name="T5" fmla="*/ 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4" y="0"/>
                  </a:lnTo>
                  <a:lnTo>
                    <a:pt x="0" y="8"/>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0" name="Freeform 4259"/>
            <p:cNvSpPr>
              <a:spLocks/>
            </p:cNvSpPr>
            <p:nvPr/>
          </p:nvSpPr>
          <p:spPr bwMode="auto">
            <a:xfrm>
              <a:off x="2678" y="2576"/>
              <a:ext cx="27" cy="28"/>
            </a:xfrm>
            <a:custGeom>
              <a:avLst/>
              <a:gdLst>
                <a:gd name="T0" fmla="*/ 11 w 27"/>
                <a:gd name="T1" fmla="*/ 27 h 28"/>
                <a:gd name="T2" fmla="*/ 26 w 27"/>
                <a:gd name="T3" fmla="*/ 8 h 28"/>
                <a:gd name="T4" fmla="*/ 0 w 27"/>
                <a:gd name="T5" fmla="*/ 0 h 28"/>
                <a:gd name="T6" fmla="*/ 11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1" y="27"/>
                  </a:moveTo>
                  <a:lnTo>
                    <a:pt x="26" y="8"/>
                  </a:lnTo>
                  <a:lnTo>
                    <a:pt x="0" y="0"/>
                  </a:lnTo>
                  <a:lnTo>
                    <a:pt x="11"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1" name="Freeform 4260"/>
            <p:cNvSpPr>
              <a:spLocks/>
            </p:cNvSpPr>
            <p:nvPr/>
          </p:nvSpPr>
          <p:spPr bwMode="auto">
            <a:xfrm>
              <a:off x="2682" y="2589"/>
              <a:ext cx="26" cy="28"/>
            </a:xfrm>
            <a:custGeom>
              <a:avLst/>
              <a:gdLst>
                <a:gd name="T0" fmla="*/ 0 w 26"/>
                <a:gd name="T1" fmla="*/ 27 h 28"/>
                <a:gd name="T2" fmla="*/ 0 w 26"/>
                <a:gd name="T3" fmla="*/ 27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0" y="27"/>
                  </a:ln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2" name="Line 4261"/>
            <p:cNvSpPr>
              <a:spLocks noChangeShapeType="1"/>
            </p:cNvSpPr>
            <p:nvPr/>
          </p:nvSpPr>
          <p:spPr bwMode="auto">
            <a:xfrm>
              <a:off x="2682" y="259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3" name="Freeform 4262"/>
            <p:cNvSpPr>
              <a:spLocks/>
            </p:cNvSpPr>
            <p:nvPr/>
          </p:nvSpPr>
          <p:spPr bwMode="auto">
            <a:xfrm>
              <a:off x="2682" y="2584"/>
              <a:ext cx="26" cy="26"/>
            </a:xfrm>
            <a:custGeom>
              <a:avLst/>
              <a:gdLst>
                <a:gd name="T0" fmla="*/ 25 w 26"/>
                <a:gd name="T1" fmla="*/ 25 h 26"/>
                <a:gd name="T2" fmla="*/ 13 w 26"/>
                <a:gd name="T3" fmla="*/ 0 h 26"/>
                <a:gd name="T4" fmla="*/ 0 w 26"/>
                <a:gd name="T5" fmla="*/ 17 h 26"/>
                <a:gd name="T6" fmla="*/ 25 w 26"/>
                <a:gd name="T7" fmla="*/ 25 h 26"/>
                <a:gd name="T8" fmla="*/ 0 60000 65536"/>
                <a:gd name="T9" fmla="*/ 0 60000 65536"/>
                <a:gd name="T10" fmla="*/ 0 60000 65536"/>
                <a:gd name="T11" fmla="*/ 0 60000 65536"/>
                <a:gd name="T12" fmla="*/ 0 w 26"/>
                <a:gd name="T13" fmla="*/ 0 h 26"/>
                <a:gd name="T14" fmla="*/ 26 w 26"/>
                <a:gd name="T15" fmla="*/ 26 h 26"/>
              </a:gdLst>
              <a:ahLst/>
              <a:cxnLst>
                <a:cxn ang="T8">
                  <a:pos x="T0" y="T1"/>
                </a:cxn>
                <a:cxn ang="T9">
                  <a:pos x="T2" y="T3"/>
                </a:cxn>
                <a:cxn ang="T10">
                  <a:pos x="T4" y="T5"/>
                </a:cxn>
                <a:cxn ang="T11">
                  <a:pos x="T6" y="T7"/>
                </a:cxn>
              </a:cxnLst>
              <a:rect l="T12" t="T13" r="T14" b="T15"/>
              <a:pathLst>
                <a:path w="26" h="26">
                  <a:moveTo>
                    <a:pt x="25" y="25"/>
                  </a:moveTo>
                  <a:lnTo>
                    <a:pt x="13" y="0"/>
                  </a:lnTo>
                  <a:lnTo>
                    <a:pt x="0" y="17"/>
                  </a:lnTo>
                  <a:lnTo>
                    <a:pt x="25"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4" name="Freeform 4263"/>
            <p:cNvSpPr>
              <a:spLocks/>
            </p:cNvSpPr>
            <p:nvPr/>
          </p:nvSpPr>
          <p:spPr bwMode="auto">
            <a:xfrm>
              <a:off x="2689" y="2584"/>
              <a:ext cx="28" cy="26"/>
            </a:xfrm>
            <a:custGeom>
              <a:avLst/>
              <a:gdLst>
                <a:gd name="T0" fmla="*/ 13 w 28"/>
                <a:gd name="T1" fmla="*/ 25 h 26"/>
                <a:gd name="T2" fmla="*/ 27 w 28"/>
                <a:gd name="T3" fmla="*/ 17 h 26"/>
                <a:gd name="T4" fmla="*/ 0 w 28"/>
                <a:gd name="T5" fmla="*/ 0 h 26"/>
                <a:gd name="T6" fmla="*/ 13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13" y="25"/>
                  </a:moveTo>
                  <a:lnTo>
                    <a:pt x="27" y="17"/>
                  </a:lnTo>
                  <a:lnTo>
                    <a:pt x="0" y="0"/>
                  </a:lnTo>
                  <a:lnTo>
                    <a:pt x="13"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5" name="Freeform 4264"/>
            <p:cNvSpPr>
              <a:spLocks/>
            </p:cNvSpPr>
            <p:nvPr/>
          </p:nvSpPr>
          <p:spPr bwMode="auto">
            <a:xfrm>
              <a:off x="2697" y="260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6" name="Line 4265"/>
            <p:cNvSpPr>
              <a:spLocks noChangeShapeType="1"/>
            </p:cNvSpPr>
            <p:nvPr/>
          </p:nvSpPr>
          <p:spPr bwMode="auto">
            <a:xfrm>
              <a:off x="2697" y="2604"/>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7" name="Freeform 4266"/>
            <p:cNvSpPr>
              <a:spLocks/>
            </p:cNvSpPr>
            <p:nvPr/>
          </p:nvSpPr>
          <p:spPr bwMode="auto">
            <a:xfrm>
              <a:off x="2697" y="2598"/>
              <a:ext cx="24" cy="27"/>
            </a:xfrm>
            <a:custGeom>
              <a:avLst/>
              <a:gdLst>
                <a:gd name="T0" fmla="*/ 23 w 24"/>
                <a:gd name="T1" fmla="*/ 26 h 27"/>
                <a:gd name="T2" fmla="*/ 10 w 24"/>
                <a:gd name="T3" fmla="*/ 0 h 27"/>
                <a:gd name="T4" fmla="*/ 0 w 24"/>
                <a:gd name="T5" fmla="*/ 13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0" y="0"/>
                  </a:lnTo>
                  <a:lnTo>
                    <a:pt x="0" y="13"/>
                  </a:lnTo>
                  <a:lnTo>
                    <a:pt x="2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8" name="Freeform 4267"/>
            <p:cNvSpPr>
              <a:spLocks/>
            </p:cNvSpPr>
            <p:nvPr/>
          </p:nvSpPr>
          <p:spPr bwMode="auto">
            <a:xfrm>
              <a:off x="2701" y="2598"/>
              <a:ext cx="27" cy="27"/>
            </a:xfrm>
            <a:custGeom>
              <a:avLst/>
              <a:gdLst>
                <a:gd name="T0" fmla="*/ 14 w 27"/>
                <a:gd name="T1" fmla="*/ 26 h 27"/>
                <a:gd name="T2" fmla="*/ 26 w 27"/>
                <a:gd name="T3" fmla="*/ 13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13"/>
                  </a:lnTo>
                  <a:lnTo>
                    <a:pt x="0" y="0"/>
                  </a:lnTo>
                  <a:lnTo>
                    <a:pt x="1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59" name="Freeform 4268"/>
            <p:cNvSpPr>
              <a:spLocks/>
            </p:cNvSpPr>
            <p:nvPr/>
          </p:nvSpPr>
          <p:spPr bwMode="auto">
            <a:xfrm>
              <a:off x="2707" y="2611"/>
              <a:ext cx="29" cy="27"/>
            </a:xfrm>
            <a:custGeom>
              <a:avLst/>
              <a:gdLst>
                <a:gd name="T0" fmla="*/ 0 w 29"/>
                <a:gd name="T1" fmla="*/ 26 h 27"/>
                <a:gd name="T2" fmla="*/ 0 w 29"/>
                <a:gd name="T3" fmla="*/ 0 h 27"/>
                <a:gd name="T4" fmla="*/ 28 w 29"/>
                <a:gd name="T5" fmla="*/ 0 h 27"/>
                <a:gd name="T6" fmla="*/ 0 w 29"/>
                <a:gd name="T7" fmla="*/ 26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0" y="26"/>
                  </a:moveTo>
                  <a:lnTo>
                    <a:pt x="0" y="0"/>
                  </a:lnTo>
                  <a:lnTo>
                    <a:pt x="28"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0" name="Freeform 4269"/>
            <p:cNvSpPr>
              <a:spLocks/>
            </p:cNvSpPr>
            <p:nvPr/>
          </p:nvSpPr>
          <p:spPr bwMode="auto">
            <a:xfrm>
              <a:off x="2707" y="261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1" name="Freeform 4270"/>
            <p:cNvSpPr>
              <a:spLocks/>
            </p:cNvSpPr>
            <p:nvPr/>
          </p:nvSpPr>
          <p:spPr bwMode="auto">
            <a:xfrm>
              <a:off x="2707" y="2604"/>
              <a:ext cx="29" cy="28"/>
            </a:xfrm>
            <a:custGeom>
              <a:avLst/>
              <a:gdLst>
                <a:gd name="T0" fmla="*/ 28 w 29"/>
                <a:gd name="T1" fmla="*/ 27 h 28"/>
                <a:gd name="T2" fmla="*/ 14 w 29"/>
                <a:gd name="T3" fmla="*/ 0 h 28"/>
                <a:gd name="T4" fmla="*/ 0 w 29"/>
                <a:gd name="T5" fmla="*/ 18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4" y="0"/>
                  </a:lnTo>
                  <a:lnTo>
                    <a:pt x="0" y="18"/>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2" name="Freeform 4271"/>
            <p:cNvSpPr>
              <a:spLocks/>
            </p:cNvSpPr>
            <p:nvPr/>
          </p:nvSpPr>
          <p:spPr bwMode="auto">
            <a:xfrm>
              <a:off x="2716" y="2604"/>
              <a:ext cx="25" cy="28"/>
            </a:xfrm>
            <a:custGeom>
              <a:avLst/>
              <a:gdLst>
                <a:gd name="T0" fmla="*/ 10 w 25"/>
                <a:gd name="T1" fmla="*/ 27 h 28"/>
                <a:gd name="T2" fmla="*/ 24 w 25"/>
                <a:gd name="T3" fmla="*/ 8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8"/>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3" name="Freeform 4272"/>
            <p:cNvSpPr>
              <a:spLocks/>
            </p:cNvSpPr>
            <p:nvPr/>
          </p:nvSpPr>
          <p:spPr bwMode="auto">
            <a:xfrm>
              <a:off x="2727" y="2611"/>
              <a:ext cx="28" cy="27"/>
            </a:xfrm>
            <a:custGeom>
              <a:avLst/>
              <a:gdLst>
                <a:gd name="T0" fmla="*/ 0 w 28"/>
                <a:gd name="T1" fmla="*/ 26 h 27"/>
                <a:gd name="T2" fmla="*/ 27 w 28"/>
                <a:gd name="T3" fmla="*/ 10 h 27"/>
                <a:gd name="T4" fmla="*/ 0 w 28"/>
                <a:gd name="T5" fmla="*/ 0 h 27"/>
                <a:gd name="T6" fmla="*/ 0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0" y="26"/>
                  </a:moveTo>
                  <a:lnTo>
                    <a:pt x="27" y="10"/>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4" name="Freeform 4273"/>
            <p:cNvSpPr>
              <a:spLocks/>
            </p:cNvSpPr>
            <p:nvPr/>
          </p:nvSpPr>
          <p:spPr bwMode="auto">
            <a:xfrm>
              <a:off x="2727" y="2632"/>
              <a:ext cx="28" cy="1"/>
            </a:xfrm>
            <a:custGeom>
              <a:avLst/>
              <a:gdLst>
                <a:gd name="T0" fmla="*/ 27 w 28"/>
                <a:gd name="T1" fmla="*/ 0 h 1"/>
                <a:gd name="T2" fmla="*/ 27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27" y="0"/>
                  </a:lnTo>
                  <a:lnTo>
                    <a:pt x="0" y="0"/>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5" name="Freeform 4274"/>
            <p:cNvSpPr>
              <a:spLocks/>
            </p:cNvSpPr>
            <p:nvPr/>
          </p:nvSpPr>
          <p:spPr bwMode="auto">
            <a:xfrm>
              <a:off x="2732" y="2619"/>
              <a:ext cx="25" cy="27"/>
            </a:xfrm>
            <a:custGeom>
              <a:avLst/>
              <a:gdLst>
                <a:gd name="T0" fmla="*/ 24 w 25"/>
                <a:gd name="T1" fmla="*/ 26 h 27"/>
                <a:gd name="T2" fmla="*/ 0 w 25"/>
                <a:gd name="T3" fmla="*/ 0 h 27"/>
                <a:gd name="T4" fmla="*/ 0 w 25"/>
                <a:gd name="T5" fmla="*/ 16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0" y="0"/>
                  </a:lnTo>
                  <a:lnTo>
                    <a:pt x="0" y="16"/>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6" name="Freeform 4275"/>
            <p:cNvSpPr>
              <a:spLocks/>
            </p:cNvSpPr>
            <p:nvPr/>
          </p:nvSpPr>
          <p:spPr bwMode="auto">
            <a:xfrm>
              <a:off x="2732" y="2619"/>
              <a:ext cx="25" cy="27"/>
            </a:xfrm>
            <a:custGeom>
              <a:avLst/>
              <a:gdLst>
                <a:gd name="T0" fmla="*/ 10 w 25"/>
                <a:gd name="T1" fmla="*/ 26 h 27"/>
                <a:gd name="T2" fmla="*/ 24 w 25"/>
                <a:gd name="T3" fmla="*/ 8 h 27"/>
                <a:gd name="T4" fmla="*/ 0 w 25"/>
                <a:gd name="T5" fmla="*/ 0 h 27"/>
                <a:gd name="T6" fmla="*/ 1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0" y="26"/>
                  </a:moveTo>
                  <a:lnTo>
                    <a:pt x="24" y="8"/>
                  </a:lnTo>
                  <a:lnTo>
                    <a:pt x="0" y="0"/>
                  </a:lnTo>
                  <a:lnTo>
                    <a:pt x="1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7" name="Freeform 4276"/>
            <p:cNvSpPr>
              <a:spLocks/>
            </p:cNvSpPr>
            <p:nvPr/>
          </p:nvSpPr>
          <p:spPr bwMode="auto">
            <a:xfrm>
              <a:off x="2738" y="2632"/>
              <a:ext cx="28" cy="27"/>
            </a:xfrm>
            <a:custGeom>
              <a:avLst/>
              <a:gdLst>
                <a:gd name="T0" fmla="*/ 27 w 28"/>
                <a:gd name="T1" fmla="*/ 26 h 27"/>
                <a:gd name="T2" fmla="*/ 0 w 28"/>
                <a:gd name="T3" fmla="*/ 26 h 27"/>
                <a:gd name="T4" fmla="*/ 27 w 28"/>
                <a:gd name="T5" fmla="*/ 0 h 27"/>
                <a:gd name="T6" fmla="*/ 27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26"/>
                  </a:moveTo>
                  <a:lnTo>
                    <a:pt x="0" y="26"/>
                  </a:lnTo>
                  <a:lnTo>
                    <a:pt x="27" y="0"/>
                  </a:lnTo>
                  <a:lnTo>
                    <a:pt x="27"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8" name="Freeform 4277"/>
            <p:cNvSpPr>
              <a:spLocks/>
            </p:cNvSpPr>
            <p:nvPr/>
          </p:nvSpPr>
          <p:spPr bwMode="auto">
            <a:xfrm>
              <a:off x="2738" y="2640"/>
              <a:ext cx="28" cy="1"/>
            </a:xfrm>
            <a:custGeom>
              <a:avLst/>
              <a:gdLst>
                <a:gd name="T0" fmla="*/ 27 w 28"/>
                <a:gd name="T1" fmla="*/ 0 h 1"/>
                <a:gd name="T2" fmla="*/ 0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0" y="0"/>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69" name="Freeform 4278"/>
            <p:cNvSpPr>
              <a:spLocks/>
            </p:cNvSpPr>
            <p:nvPr/>
          </p:nvSpPr>
          <p:spPr bwMode="auto">
            <a:xfrm>
              <a:off x="2744" y="2626"/>
              <a:ext cx="27" cy="27"/>
            </a:xfrm>
            <a:custGeom>
              <a:avLst/>
              <a:gdLst>
                <a:gd name="T0" fmla="*/ 26 w 27"/>
                <a:gd name="T1" fmla="*/ 26 h 27"/>
                <a:gd name="T2" fmla="*/ 0 w 27"/>
                <a:gd name="T3" fmla="*/ 0 h 27"/>
                <a:gd name="T4" fmla="*/ 0 w 27"/>
                <a:gd name="T5" fmla="*/ 26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0" y="0"/>
                  </a:lnTo>
                  <a:lnTo>
                    <a:pt x="0" y="26"/>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0" name="Freeform 4279"/>
            <p:cNvSpPr>
              <a:spLocks/>
            </p:cNvSpPr>
            <p:nvPr/>
          </p:nvSpPr>
          <p:spPr bwMode="auto">
            <a:xfrm>
              <a:off x="2744" y="2626"/>
              <a:ext cx="27" cy="27"/>
            </a:xfrm>
            <a:custGeom>
              <a:avLst/>
              <a:gdLst>
                <a:gd name="T0" fmla="*/ 13 w 27"/>
                <a:gd name="T1" fmla="*/ 26 h 27"/>
                <a:gd name="T2" fmla="*/ 26 w 27"/>
                <a:gd name="T3" fmla="*/ 11 h 27"/>
                <a:gd name="T4" fmla="*/ 0 w 27"/>
                <a:gd name="T5" fmla="*/ 0 h 27"/>
                <a:gd name="T6" fmla="*/ 13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3" y="26"/>
                  </a:moveTo>
                  <a:lnTo>
                    <a:pt x="26" y="11"/>
                  </a:lnTo>
                  <a:lnTo>
                    <a:pt x="0" y="0"/>
                  </a:lnTo>
                  <a:lnTo>
                    <a:pt x="1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1" name="Freeform 4280"/>
            <p:cNvSpPr>
              <a:spLocks/>
            </p:cNvSpPr>
            <p:nvPr/>
          </p:nvSpPr>
          <p:spPr bwMode="auto">
            <a:xfrm>
              <a:off x="2752" y="2640"/>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2" name="Line 4281"/>
            <p:cNvSpPr>
              <a:spLocks noChangeShapeType="1"/>
            </p:cNvSpPr>
            <p:nvPr/>
          </p:nvSpPr>
          <p:spPr bwMode="auto">
            <a:xfrm>
              <a:off x="2752" y="2640"/>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3" name="Freeform 4282"/>
            <p:cNvSpPr>
              <a:spLocks/>
            </p:cNvSpPr>
            <p:nvPr/>
          </p:nvSpPr>
          <p:spPr bwMode="auto">
            <a:xfrm>
              <a:off x="2752" y="2632"/>
              <a:ext cx="25" cy="27"/>
            </a:xfrm>
            <a:custGeom>
              <a:avLst/>
              <a:gdLst>
                <a:gd name="T0" fmla="*/ 24 w 25"/>
                <a:gd name="T1" fmla="*/ 26 h 27"/>
                <a:gd name="T2" fmla="*/ 10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0" y="0"/>
                  </a:lnTo>
                  <a:lnTo>
                    <a:pt x="0" y="14"/>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4" name="Freeform 4283"/>
            <p:cNvSpPr>
              <a:spLocks/>
            </p:cNvSpPr>
            <p:nvPr/>
          </p:nvSpPr>
          <p:spPr bwMode="auto">
            <a:xfrm>
              <a:off x="2756" y="2632"/>
              <a:ext cx="27" cy="27"/>
            </a:xfrm>
            <a:custGeom>
              <a:avLst/>
              <a:gdLst>
                <a:gd name="T0" fmla="*/ 14 w 27"/>
                <a:gd name="T1" fmla="*/ 26 h 27"/>
                <a:gd name="T2" fmla="*/ 26 w 27"/>
                <a:gd name="T3" fmla="*/ 0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0"/>
                  </a:lnTo>
                  <a:lnTo>
                    <a:pt x="0" y="0"/>
                  </a:lnTo>
                  <a:lnTo>
                    <a:pt x="1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5" name="Freeform 4284"/>
            <p:cNvSpPr>
              <a:spLocks/>
            </p:cNvSpPr>
            <p:nvPr/>
          </p:nvSpPr>
          <p:spPr bwMode="auto">
            <a:xfrm>
              <a:off x="2765" y="2640"/>
              <a:ext cx="22" cy="28"/>
            </a:xfrm>
            <a:custGeom>
              <a:avLst/>
              <a:gdLst>
                <a:gd name="T0" fmla="*/ 0 w 22"/>
                <a:gd name="T1" fmla="*/ 27 h 28"/>
                <a:gd name="T2" fmla="*/ 0 w 22"/>
                <a:gd name="T3" fmla="*/ 27 h 28"/>
                <a:gd name="T4" fmla="*/ 21 w 22"/>
                <a:gd name="T5" fmla="*/ 0 h 28"/>
                <a:gd name="T6" fmla="*/ 0 w 22"/>
                <a:gd name="T7" fmla="*/ 27 h 28"/>
                <a:gd name="T8" fmla="*/ 0 60000 65536"/>
                <a:gd name="T9" fmla="*/ 0 60000 65536"/>
                <a:gd name="T10" fmla="*/ 0 60000 65536"/>
                <a:gd name="T11" fmla="*/ 0 60000 65536"/>
                <a:gd name="T12" fmla="*/ 0 w 22"/>
                <a:gd name="T13" fmla="*/ 0 h 28"/>
                <a:gd name="T14" fmla="*/ 22 w 22"/>
                <a:gd name="T15" fmla="*/ 28 h 28"/>
              </a:gdLst>
              <a:ahLst/>
              <a:cxnLst>
                <a:cxn ang="T8">
                  <a:pos x="T0" y="T1"/>
                </a:cxn>
                <a:cxn ang="T9">
                  <a:pos x="T2" y="T3"/>
                </a:cxn>
                <a:cxn ang="T10">
                  <a:pos x="T4" y="T5"/>
                </a:cxn>
                <a:cxn ang="T11">
                  <a:pos x="T6" y="T7"/>
                </a:cxn>
              </a:cxnLst>
              <a:rect l="T12" t="T13" r="T14" b="T15"/>
              <a:pathLst>
                <a:path w="22" h="28">
                  <a:moveTo>
                    <a:pt x="0" y="27"/>
                  </a:moveTo>
                  <a:lnTo>
                    <a:pt x="0" y="27"/>
                  </a:lnTo>
                  <a:lnTo>
                    <a:pt x="21"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6" name="Line 4285"/>
            <p:cNvSpPr>
              <a:spLocks noChangeShapeType="1"/>
            </p:cNvSpPr>
            <p:nvPr/>
          </p:nvSpPr>
          <p:spPr bwMode="auto">
            <a:xfrm>
              <a:off x="2765" y="264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7" name="Freeform 4286"/>
            <p:cNvSpPr>
              <a:spLocks/>
            </p:cNvSpPr>
            <p:nvPr/>
          </p:nvSpPr>
          <p:spPr bwMode="auto">
            <a:xfrm>
              <a:off x="2765" y="2632"/>
              <a:ext cx="22" cy="27"/>
            </a:xfrm>
            <a:custGeom>
              <a:avLst/>
              <a:gdLst>
                <a:gd name="T0" fmla="*/ 21 w 22"/>
                <a:gd name="T1" fmla="*/ 26 h 27"/>
                <a:gd name="T2" fmla="*/ 9 w 22"/>
                <a:gd name="T3" fmla="*/ 0 h 27"/>
                <a:gd name="T4" fmla="*/ 0 w 22"/>
                <a:gd name="T5" fmla="*/ 18 h 27"/>
                <a:gd name="T6" fmla="*/ 21 w 22"/>
                <a:gd name="T7" fmla="*/ 26 h 27"/>
                <a:gd name="T8" fmla="*/ 0 60000 65536"/>
                <a:gd name="T9" fmla="*/ 0 60000 65536"/>
                <a:gd name="T10" fmla="*/ 0 60000 65536"/>
                <a:gd name="T11" fmla="*/ 0 60000 65536"/>
                <a:gd name="T12" fmla="*/ 0 w 22"/>
                <a:gd name="T13" fmla="*/ 0 h 27"/>
                <a:gd name="T14" fmla="*/ 22 w 22"/>
                <a:gd name="T15" fmla="*/ 27 h 27"/>
              </a:gdLst>
              <a:ahLst/>
              <a:cxnLst>
                <a:cxn ang="T8">
                  <a:pos x="T0" y="T1"/>
                </a:cxn>
                <a:cxn ang="T9">
                  <a:pos x="T2" y="T3"/>
                </a:cxn>
                <a:cxn ang="T10">
                  <a:pos x="T4" y="T5"/>
                </a:cxn>
                <a:cxn ang="T11">
                  <a:pos x="T6" y="T7"/>
                </a:cxn>
              </a:cxnLst>
              <a:rect l="T12" t="T13" r="T14" b="T15"/>
              <a:pathLst>
                <a:path w="22" h="27">
                  <a:moveTo>
                    <a:pt x="21" y="26"/>
                  </a:moveTo>
                  <a:lnTo>
                    <a:pt x="9" y="0"/>
                  </a:lnTo>
                  <a:lnTo>
                    <a:pt x="0" y="18"/>
                  </a:lnTo>
                  <a:lnTo>
                    <a:pt x="21"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8" name="Freeform 4287"/>
            <p:cNvSpPr>
              <a:spLocks/>
            </p:cNvSpPr>
            <p:nvPr/>
          </p:nvSpPr>
          <p:spPr bwMode="auto">
            <a:xfrm>
              <a:off x="2770" y="2632"/>
              <a:ext cx="25" cy="27"/>
            </a:xfrm>
            <a:custGeom>
              <a:avLst/>
              <a:gdLst>
                <a:gd name="T0" fmla="*/ 13 w 25"/>
                <a:gd name="T1" fmla="*/ 26 h 27"/>
                <a:gd name="T2" fmla="*/ 24 w 25"/>
                <a:gd name="T3" fmla="*/ 10 h 27"/>
                <a:gd name="T4" fmla="*/ 0 w 25"/>
                <a:gd name="T5" fmla="*/ 0 h 27"/>
                <a:gd name="T6" fmla="*/ 13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3" y="26"/>
                  </a:moveTo>
                  <a:lnTo>
                    <a:pt x="24" y="10"/>
                  </a:lnTo>
                  <a:lnTo>
                    <a:pt x="0" y="0"/>
                  </a:lnTo>
                  <a:lnTo>
                    <a:pt x="1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79" name="Freeform 4288"/>
            <p:cNvSpPr>
              <a:spLocks/>
            </p:cNvSpPr>
            <p:nvPr/>
          </p:nvSpPr>
          <p:spPr bwMode="auto">
            <a:xfrm>
              <a:off x="2776" y="2647"/>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0" name="Line 4289"/>
            <p:cNvSpPr>
              <a:spLocks noChangeShapeType="1"/>
            </p:cNvSpPr>
            <p:nvPr/>
          </p:nvSpPr>
          <p:spPr bwMode="auto">
            <a:xfrm>
              <a:off x="2776" y="265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1" name="Freeform 4290"/>
            <p:cNvSpPr>
              <a:spLocks/>
            </p:cNvSpPr>
            <p:nvPr/>
          </p:nvSpPr>
          <p:spPr bwMode="auto">
            <a:xfrm>
              <a:off x="2776" y="2640"/>
              <a:ext cx="25" cy="28"/>
            </a:xfrm>
            <a:custGeom>
              <a:avLst/>
              <a:gdLst>
                <a:gd name="T0" fmla="*/ 24 w 25"/>
                <a:gd name="T1" fmla="*/ 27 h 28"/>
                <a:gd name="T2" fmla="*/ 12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2" name="Freeform 4291"/>
            <p:cNvSpPr>
              <a:spLocks/>
            </p:cNvSpPr>
            <p:nvPr/>
          </p:nvSpPr>
          <p:spPr bwMode="auto">
            <a:xfrm>
              <a:off x="2782" y="2640"/>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3" name="Freeform 4292"/>
            <p:cNvSpPr>
              <a:spLocks/>
            </p:cNvSpPr>
            <p:nvPr/>
          </p:nvSpPr>
          <p:spPr bwMode="auto">
            <a:xfrm>
              <a:off x="2786" y="2647"/>
              <a:ext cx="29" cy="28"/>
            </a:xfrm>
            <a:custGeom>
              <a:avLst/>
              <a:gdLst>
                <a:gd name="T0" fmla="*/ 0 w 29"/>
                <a:gd name="T1" fmla="*/ 27 h 28"/>
                <a:gd name="T2" fmla="*/ 0 w 29"/>
                <a:gd name="T3" fmla="*/ 27 h 28"/>
                <a:gd name="T4" fmla="*/ 28 w 29"/>
                <a:gd name="T5" fmla="*/ 0 h 28"/>
                <a:gd name="T6" fmla="*/ 0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27"/>
                  </a:moveTo>
                  <a:lnTo>
                    <a:pt x="0" y="27"/>
                  </a:lnTo>
                  <a:lnTo>
                    <a:pt x="28"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4" name="Line 4293"/>
            <p:cNvSpPr>
              <a:spLocks noChangeShapeType="1"/>
            </p:cNvSpPr>
            <p:nvPr/>
          </p:nvSpPr>
          <p:spPr bwMode="auto">
            <a:xfrm>
              <a:off x="2786" y="2653"/>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5" name="Freeform 4294"/>
            <p:cNvSpPr>
              <a:spLocks/>
            </p:cNvSpPr>
            <p:nvPr/>
          </p:nvSpPr>
          <p:spPr bwMode="auto">
            <a:xfrm>
              <a:off x="2786" y="2640"/>
              <a:ext cx="29" cy="28"/>
            </a:xfrm>
            <a:custGeom>
              <a:avLst/>
              <a:gdLst>
                <a:gd name="T0" fmla="*/ 28 w 29"/>
                <a:gd name="T1" fmla="*/ 27 h 28"/>
                <a:gd name="T2" fmla="*/ 15 w 29"/>
                <a:gd name="T3" fmla="*/ 0 h 28"/>
                <a:gd name="T4" fmla="*/ 0 w 29"/>
                <a:gd name="T5" fmla="*/ 16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5" y="0"/>
                  </a:lnTo>
                  <a:lnTo>
                    <a:pt x="0" y="16"/>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6" name="Freeform 4295"/>
            <p:cNvSpPr>
              <a:spLocks/>
            </p:cNvSpPr>
            <p:nvPr/>
          </p:nvSpPr>
          <p:spPr bwMode="auto">
            <a:xfrm>
              <a:off x="2794" y="2640"/>
              <a:ext cx="27" cy="28"/>
            </a:xfrm>
            <a:custGeom>
              <a:avLst/>
              <a:gdLst>
                <a:gd name="T0" fmla="*/ 13 w 27"/>
                <a:gd name="T1" fmla="*/ 27 h 28"/>
                <a:gd name="T2" fmla="*/ 26 w 27"/>
                <a:gd name="T3" fmla="*/ 8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8"/>
                  </a:lnTo>
                  <a:lnTo>
                    <a:pt x="0" y="0"/>
                  </a:lnTo>
                  <a:lnTo>
                    <a:pt x="1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7" name="Freeform 4296"/>
            <p:cNvSpPr>
              <a:spLocks/>
            </p:cNvSpPr>
            <p:nvPr/>
          </p:nvSpPr>
          <p:spPr bwMode="auto">
            <a:xfrm>
              <a:off x="2800" y="2653"/>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8" name="Line 4297"/>
            <p:cNvSpPr>
              <a:spLocks noChangeShapeType="1"/>
            </p:cNvSpPr>
            <p:nvPr/>
          </p:nvSpPr>
          <p:spPr bwMode="auto">
            <a:xfrm>
              <a:off x="2800" y="266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89" name="Freeform 4298"/>
            <p:cNvSpPr>
              <a:spLocks/>
            </p:cNvSpPr>
            <p:nvPr/>
          </p:nvSpPr>
          <p:spPr bwMode="auto">
            <a:xfrm>
              <a:off x="2800" y="2647"/>
              <a:ext cx="25" cy="28"/>
            </a:xfrm>
            <a:custGeom>
              <a:avLst/>
              <a:gdLst>
                <a:gd name="T0" fmla="*/ 24 w 25"/>
                <a:gd name="T1" fmla="*/ 27 h 28"/>
                <a:gd name="T2" fmla="*/ 10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0"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0" name="Freeform 4299"/>
            <p:cNvSpPr>
              <a:spLocks/>
            </p:cNvSpPr>
            <p:nvPr/>
          </p:nvSpPr>
          <p:spPr bwMode="auto">
            <a:xfrm>
              <a:off x="2803" y="2647"/>
              <a:ext cx="29" cy="28"/>
            </a:xfrm>
            <a:custGeom>
              <a:avLst/>
              <a:gdLst>
                <a:gd name="T0" fmla="*/ 15 w 29"/>
                <a:gd name="T1" fmla="*/ 27 h 28"/>
                <a:gd name="T2" fmla="*/ 28 w 29"/>
                <a:gd name="T3" fmla="*/ 0 h 28"/>
                <a:gd name="T4" fmla="*/ 0 w 29"/>
                <a:gd name="T5" fmla="*/ 0 h 28"/>
                <a:gd name="T6" fmla="*/ 15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15" y="27"/>
                  </a:moveTo>
                  <a:lnTo>
                    <a:pt x="28" y="0"/>
                  </a:lnTo>
                  <a:lnTo>
                    <a:pt x="0" y="0"/>
                  </a:lnTo>
                  <a:lnTo>
                    <a:pt x="1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1" name="Freeform 4300"/>
            <p:cNvSpPr>
              <a:spLocks/>
            </p:cNvSpPr>
            <p:nvPr/>
          </p:nvSpPr>
          <p:spPr bwMode="auto">
            <a:xfrm>
              <a:off x="2814" y="2653"/>
              <a:ext cx="24" cy="28"/>
            </a:xfrm>
            <a:custGeom>
              <a:avLst/>
              <a:gdLst>
                <a:gd name="T0" fmla="*/ 0 w 24"/>
                <a:gd name="T1" fmla="*/ 27 h 28"/>
                <a:gd name="T2" fmla="*/ 0 w 24"/>
                <a:gd name="T3" fmla="*/ 27 h 28"/>
                <a:gd name="T4" fmla="*/ 23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0" y="27"/>
                  </a:lnTo>
                  <a:lnTo>
                    <a:pt x="23"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2" name="Line 4301"/>
            <p:cNvSpPr>
              <a:spLocks noChangeShapeType="1"/>
            </p:cNvSpPr>
            <p:nvPr/>
          </p:nvSpPr>
          <p:spPr bwMode="auto">
            <a:xfrm>
              <a:off x="2814" y="2661"/>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3" name="Freeform 4302"/>
            <p:cNvSpPr>
              <a:spLocks/>
            </p:cNvSpPr>
            <p:nvPr/>
          </p:nvSpPr>
          <p:spPr bwMode="auto">
            <a:xfrm>
              <a:off x="2814" y="2647"/>
              <a:ext cx="24" cy="28"/>
            </a:xfrm>
            <a:custGeom>
              <a:avLst/>
              <a:gdLst>
                <a:gd name="T0" fmla="*/ 23 w 24"/>
                <a:gd name="T1" fmla="*/ 27 h 28"/>
                <a:gd name="T2" fmla="*/ 11 w 24"/>
                <a:gd name="T3" fmla="*/ 0 h 28"/>
                <a:gd name="T4" fmla="*/ 0 w 24"/>
                <a:gd name="T5" fmla="*/ 27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11" y="0"/>
                  </a:lnTo>
                  <a:lnTo>
                    <a:pt x="0" y="27"/>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4" name="Freeform 4303"/>
            <p:cNvSpPr>
              <a:spLocks/>
            </p:cNvSpPr>
            <p:nvPr/>
          </p:nvSpPr>
          <p:spPr bwMode="auto">
            <a:xfrm>
              <a:off x="2820" y="2647"/>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5" name="Freeform 4304"/>
            <p:cNvSpPr>
              <a:spLocks/>
            </p:cNvSpPr>
            <p:nvPr/>
          </p:nvSpPr>
          <p:spPr bwMode="auto">
            <a:xfrm>
              <a:off x="2823" y="266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6" name="Line 4305"/>
            <p:cNvSpPr>
              <a:spLocks noChangeShapeType="1"/>
            </p:cNvSpPr>
            <p:nvPr/>
          </p:nvSpPr>
          <p:spPr bwMode="auto">
            <a:xfrm>
              <a:off x="2823" y="2661"/>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7" name="Freeform 4306"/>
            <p:cNvSpPr>
              <a:spLocks/>
            </p:cNvSpPr>
            <p:nvPr/>
          </p:nvSpPr>
          <p:spPr bwMode="auto">
            <a:xfrm>
              <a:off x="2823" y="2647"/>
              <a:ext cx="27" cy="28"/>
            </a:xfrm>
            <a:custGeom>
              <a:avLst/>
              <a:gdLst>
                <a:gd name="T0" fmla="*/ 26 w 27"/>
                <a:gd name="T1" fmla="*/ 27 h 28"/>
                <a:gd name="T2" fmla="*/ 0 w 27"/>
                <a:gd name="T3" fmla="*/ 0 h 28"/>
                <a:gd name="T4" fmla="*/ 0 w 27"/>
                <a:gd name="T5" fmla="*/ 1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18"/>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98" name="Freeform 4307"/>
            <p:cNvSpPr>
              <a:spLocks/>
            </p:cNvSpPr>
            <p:nvPr/>
          </p:nvSpPr>
          <p:spPr bwMode="auto">
            <a:xfrm>
              <a:off x="2823" y="2647"/>
              <a:ext cx="27" cy="28"/>
            </a:xfrm>
            <a:custGeom>
              <a:avLst/>
              <a:gdLst>
                <a:gd name="T0" fmla="*/ 26 w 27"/>
                <a:gd name="T1" fmla="*/ 27 h 28"/>
                <a:gd name="T2" fmla="*/ 26 w 27"/>
                <a:gd name="T3" fmla="*/ 8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8"/>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grpSp>
      <p:sp>
        <p:nvSpPr>
          <p:cNvPr id="16390" name="Freeform 4308"/>
          <p:cNvSpPr>
            <a:spLocks/>
          </p:cNvSpPr>
          <p:nvPr/>
        </p:nvSpPr>
        <p:spPr bwMode="auto">
          <a:xfrm>
            <a:off x="6753225" y="1991553"/>
            <a:ext cx="2201863" cy="1738312"/>
          </a:xfrm>
          <a:custGeom>
            <a:avLst/>
            <a:gdLst>
              <a:gd name="T0" fmla="*/ 0 w 2640"/>
              <a:gd name="T1" fmla="*/ 0 h 2112"/>
              <a:gd name="T2" fmla="*/ 0 w 2640"/>
              <a:gd name="T3" fmla="*/ 2147483647 h 2112"/>
              <a:gd name="T4" fmla="*/ 2147483647 w 2640"/>
              <a:gd name="T5" fmla="*/ 2147483647 h 2112"/>
              <a:gd name="T6" fmla="*/ 0 60000 65536"/>
              <a:gd name="T7" fmla="*/ 0 60000 65536"/>
              <a:gd name="T8" fmla="*/ 0 60000 65536"/>
              <a:gd name="T9" fmla="*/ 0 w 2640"/>
              <a:gd name="T10" fmla="*/ 0 h 2112"/>
              <a:gd name="T11" fmla="*/ 2640 w 2640"/>
              <a:gd name="T12" fmla="*/ 2112 h 2112"/>
            </a:gdLst>
            <a:ahLst/>
            <a:cxnLst>
              <a:cxn ang="T6">
                <a:pos x="T0" y="T1"/>
              </a:cxn>
              <a:cxn ang="T7">
                <a:pos x="T2" y="T3"/>
              </a:cxn>
              <a:cxn ang="T8">
                <a:pos x="T4" y="T5"/>
              </a:cxn>
            </a:cxnLst>
            <a:rect l="T9" t="T10" r="T11" b="T12"/>
            <a:pathLst>
              <a:path w="2640" h="2112">
                <a:moveTo>
                  <a:pt x="0" y="0"/>
                </a:moveTo>
                <a:lnTo>
                  <a:pt x="0" y="2112"/>
                </a:lnTo>
                <a:lnTo>
                  <a:pt x="2640" y="2112"/>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391" name="Freeform 4309"/>
          <p:cNvSpPr>
            <a:spLocks/>
          </p:cNvSpPr>
          <p:nvPr/>
        </p:nvSpPr>
        <p:spPr bwMode="auto">
          <a:xfrm>
            <a:off x="6800850" y="2131253"/>
            <a:ext cx="1914525" cy="1411287"/>
          </a:xfrm>
          <a:custGeom>
            <a:avLst/>
            <a:gdLst>
              <a:gd name="T0" fmla="*/ 2147483647 w 1200"/>
              <a:gd name="T1" fmla="*/ 0 h 768"/>
              <a:gd name="T2" fmla="*/ 2147483647 w 1200"/>
              <a:gd name="T3" fmla="*/ 2147483647 h 768"/>
              <a:gd name="T4" fmla="*/ 0 w 1200"/>
              <a:gd name="T5" fmla="*/ 2147483647 h 768"/>
              <a:gd name="T6" fmla="*/ 0 60000 65536"/>
              <a:gd name="T7" fmla="*/ 0 60000 65536"/>
              <a:gd name="T8" fmla="*/ 0 60000 65536"/>
              <a:gd name="T9" fmla="*/ 0 w 1200"/>
              <a:gd name="T10" fmla="*/ 0 h 768"/>
              <a:gd name="T11" fmla="*/ 1200 w 1200"/>
              <a:gd name="T12" fmla="*/ 768 h 768"/>
            </a:gdLst>
            <a:ahLst/>
            <a:cxnLst>
              <a:cxn ang="T6">
                <a:pos x="T0" y="T1"/>
              </a:cxn>
              <a:cxn ang="T7">
                <a:pos x="T2" y="T3"/>
              </a:cxn>
              <a:cxn ang="T8">
                <a:pos x="T4" y="T5"/>
              </a:cxn>
            </a:cxnLst>
            <a:rect l="T9" t="T10" r="T11" b="T12"/>
            <a:pathLst>
              <a:path w="1200" h="768">
                <a:moveTo>
                  <a:pt x="1200" y="0"/>
                </a:moveTo>
                <a:cubicBezTo>
                  <a:pt x="844" y="128"/>
                  <a:pt x="488" y="256"/>
                  <a:pt x="288" y="384"/>
                </a:cubicBezTo>
                <a:cubicBezTo>
                  <a:pt x="88" y="512"/>
                  <a:pt x="44" y="640"/>
                  <a:pt x="0" y="768"/>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392" name="Freeform 4310"/>
          <p:cNvSpPr>
            <a:spLocks/>
          </p:cNvSpPr>
          <p:nvPr/>
        </p:nvSpPr>
        <p:spPr bwMode="auto">
          <a:xfrm>
            <a:off x="6761163" y="2531303"/>
            <a:ext cx="1020762" cy="1198562"/>
          </a:xfrm>
          <a:custGeom>
            <a:avLst/>
            <a:gdLst>
              <a:gd name="T0" fmla="*/ 2147483647 w 576"/>
              <a:gd name="T1" fmla="*/ 2147483647 h 864"/>
              <a:gd name="T2" fmla="*/ 2147483647 w 576"/>
              <a:gd name="T3" fmla="*/ 0 h 864"/>
              <a:gd name="T4" fmla="*/ 0 w 576"/>
              <a:gd name="T5" fmla="*/ 0 h 864"/>
              <a:gd name="T6" fmla="*/ 0 60000 65536"/>
              <a:gd name="T7" fmla="*/ 0 60000 65536"/>
              <a:gd name="T8" fmla="*/ 0 60000 65536"/>
              <a:gd name="T9" fmla="*/ 0 w 576"/>
              <a:gd name="T10" fmla="*/ 0 h 864"/>
              <a:gd name="T11" fmla="*/ 576 w 576"/>
              <a:gd name="T12" fmla="*/ 864 h 864"/>
            </a:gdLst>
            <a:ahLst/>
            <a:cxnLst>
              <a:cxn ang="T6">
                <a:pos x="T0" y="T1"/>
              </a:cxn>
              <a:cxn ang="T7">
                <a:pos x="T2" y="T3"/>
              </a:cxn>
              <a:cxn ang="T8">
                <a:pos x="T4" y="T5"/>
              </a:cxn>
            </a:cxnLst>
            <a:rect l="T9" t="T10" r="T11" b="T12"/>
            <a:pathLst>
              <a:path w="576" h="864">
                <a:moveTo>
                  <a:pt x="576" y="864"/>
                </a:moveTo>
                <a:lnTo>
                  <a:pt x="576" y="0"/>
                </a:lnTo>
                <a:lnTo>
                  <a:pt x="0" y="0"/>
                </a:lnTo>
              </a:path>
            </a:pathLst>
          </a:custGeom>
          <a:noFill/>
          <a:ln w="9525">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393" name="Freeform 4311"/>
          <p:cNvSpPr>
            <a:spLocks/>
          </p:cNvSpPr>
          <p:nvPr/>
        </p:nvSpPr>
        <p:spPr bwMode="auto">
          <a:xfrm>
            <a:off x="6753225" y="3401253"/>
            <a:ext cx="95250" cy="328612"/>
          </a:xfrm>
          <a:custGeom>
            <a:avLst/>
            <a:gdLst>
              <a:gd name="T0" fmla="*/ 2147483647 w 576"/>
              <a:gd name="T1" fmla="*/ 2147483647 h 864"/>
              <a:gd name="T2" fmla="*/ 2147483647 w 576"/>
              <a:gd name="T3" fmla="*/ 0 h 864"/>
              <a:gd name="T4" fmla="*/ 0 w 576"/>
              <a:gd name="T5" fmla="*/ 0 h 864"/>
              <a:gd name="T6" fmla="*/ 0 60000 65536"/>
              <a:gd name="T7" fmla="*/ 0 60000 65536"/>
              <a:gd name="T8" fmla="*/ 0 60000 65536"/>
              <a:gd name="T9" fmla="*/ 0 w 576"/>
              <a:gd name="T10" fmla="*/ 0 h 864"/>
              <a:gd name="T11" fmla="*/ 576 w 576"/>
              <a:gd name="T12" fmla="*/ 864 h 864"/>
            </a:gdLst>
            <a:ahLst/>
            <a:cxnLst>
              <a:cxn ang="T6">
                <a:pos x="T0" y="T1"/>
              </a:cxn>
              <a:cxn ang="T7">
                <a:pos x="T2" y="T3"/>
              </a:cxn>
              <a:cxn ang="T8">
                <a:pos x="T4" y="T5"/>
              </a:cxn>
            </a:cxnLst>
            <a:rect l="T9" t="T10" r="T11" b="T12"/>
            <a:pathLst>
              <a:path w="576" h="864">
                <a:moveTo>
                  <a:pt x="576" y="864"/>
                </a:moveTo>
                <a:lnTo>
                  <a:pt x="576" y="0"/>
                </a:lnTo>
                <a:lnTo>
                  <a:pt x="0" y="0"/>
                </a:lnTo>
              </a:path>
            </a:pathLst>
          </a:custGeom>
          <a:noFill/>
          <a:ln w="9525">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grpSp>
        <p:nvGrpSpPr>
          <p:cNvPr id="16394" name="Group 4312"/>
          <p:cNvGrpSpPr>
            <a:grpSpLocks/>
          </p:cNvGrpSpPr>
          <p:nvPr/>
        </p:nvGrpSpPr>
        <p:grpSpPr bwMode="auto">
          <a:xfrm>
            <a:off x="6840538" y="3259965"/>
            <a:ext cx="766762" cy="469900"/>
            <a:chOff x="1249" y="1728"/>
            <a:chExt cx="1825" cy="961"/>
          </a:xfrm>
        </p:grpSpPr>
        <p:sp>
          <p:nvSpPr>
            <p:cNvPr id="18911" name="Line 4313"/>
            <p:cNvSpPr>
              <a:spLocks noChangeShapeType="1"/>
            </p:cNvSpPr>
            <p:nvPr/>
          </p:nvSpPr>
          <p:spPr bwMode="auto">
            <a:xfrm>
              <a:off x="3031"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2" name="Freeform 4314"/>
            <p:cNvSpPr>
              <a:spLocks/>
            </p:cNvSpPr>
            <p:nvPr/>
          </p:nvSpPr>
          <p:spPr bwMode="auto">
            <a:xfrm>
              <a:off x="3031" y="2661"/>
              <a:ext cx="43" cy="28"/>
            </a:xfrm>
            <a:custGeom>
              <a:avLst/>
              <a:gdLst>
                <a:gd name="T0" fmla="*/ 0 w 43"/>
                <a:gd name="T1" fmla="*/ 27 h 28"/>
                <a:gd name="T2" fmla="*/ 42 w 43"/>
                <a:gd name="T3" fmla="*/ 0 h 28"/>
                <a:gd name="T4" fmla="*/ 42 w 43"/>
                <a:gd name="T5" fmla="*/ 27 h 28"/>
                <a:gd name="T6" fmla="*/ 0 w 43"/>
                <a:gd name="T7" fmla="*/ 27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27"/>
                  </a:moveTo>
                  <a:lnTo>
                    <a:pt x="42" y="0"/>
                  </a:lnTo>
                  <a:lnTo>
                    <a:pt x="42"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3" name="Freeform 4315"/>
            <p:cNvSpPr>
              <a:spLocks/>
            </p:cNvSpPr>
            <p:nvPr/>
          </p:nvSpPr>
          <p:spPr bwMode="auto">
            <a:xfrm>
              <a:off x="3031" y="2661"/>
              <a:ext cx="43" cy="28"/>
            </a:xfrm>
            <a:custGeom>
              <a:avLst/>
              <a:gdLst>
                <a:gd name="T0" fmla="*/ 0 w 43"/>
                <a:gd name="T1" fmla="*/ 0 h 28"/>
                <a:gd name="T2" fmla="*/ 42 w 43"/>
                <a:gd name="T3" fmla="*/ 0 h 28"/>
                <a:gd name="T4" fmla="*/ 0 w 43"/>
                <a:gd name="T5" fmla="*/ 27 h 28"/>
                <a:gd name="T6" fmla="*/ 0 w 43"/>
                <a:gd name="T7" fmla="*/ 0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0"/>
                  </a:moveTo>
                  <a:lnTo>
                    <a:pt x="42"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4" name="Freeform 4316"/>
            <p:cNvSpPr>
              <a:spLocks/>
            </p:cNvSpPr>
            <p:nvPr/>
          </p:nvSpPr>
          <p:spPr bwMode="auto">
            <a:xfrm>
              <a:off x="3031" y="2661"/>
              <a:ext cx="43" cy="28"/>
            </a:xfrm>
            <a:custGeom>
              <a:avLst/>
              <a:gdLst>
                <a:gd name="T0" fmla="*/ 0 w 43"/>
                <a:gd name="T1" fmla="*/ 27 h 28"/>
                <a:gd name="T2" fmla="*/ 42 w 43"/>
                <a:gd name="T3" fmla="*/ 27 h 28"/>
                <a:gd name="T4" fmla="*/ 42 w 43"/>
                <a:gd name="T5" fmla="*/ 0 h 28"/>
                <a:gd name="T6" fmla="*/ 0 w 43"/>
                <a:gd name="T7" fmla="*/ 0 h 28"/>
                <a:gd name="T8" fmla="*/ 0 w 43"/>
                <a:gd name="T9" fmla="*/ 27 h 28"/>
                <a:gd name="T10" fmla="*/ 0 w 43"/>
                <a:gd name="T11" fmla="*/ 27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0" y="27"/>
                  </a:moveTo>
                  <a:lnTo>
                    <a:pt x="42" y="27"/>
                  </a:lnTo>
                  <a:lnTo>
                    <a:pt x="42"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5" name="Line 4317"/>
            <p:cNvSpPr>
              <a:spLocks noChangeShapeType="1"/>
            </p:cNvSpPr>
            <p:nvPr/>
          </p:nvSpPr>
          <p:spPr bwMode="auto">
            <a:xfrm>
              <a:off x="2993"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6" name="Freeform 4318"/>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7" name="Line 4319"/>
            <p:cNvSpPr>
              <a:spLocks noChangeShapeType="1"/>
            </p:cNvSpPr>
            <p:nvPr/>
          </p:nvSpPr>
          <p:spPr bwMode="auto">
            <a:xfrm>
              <a:off x="2993"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8" name="Freeform 4320"/>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9" name="Line 4321"/>
            <p:cNvSpPr>
              <a:spLocks noChangeShapeType="1"/>
            </p:cNvSpPr>
            <p:nvPr/>
          </p:nvSpPr>
          <p:spPr bwMode="auto">
            <a:xfrm>
              <a:off x="2949" y="2669"/>
              <a:ext cx="4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0" name="Freeform 4322"/>
            <p:cNvSpPr>
              <a:spLocks/>
            </p:cNvSpPr>
            <p:nvPr/>
          </p:nvSpPr>
          <p:spPr bwMode="auto">
            <a:xfrm>
              <a:off x="2949" y="2661"/>
              <a:ext cx="45" cy="28"/>
            </a:xfrm>
            <a:custGeom>
              <a:avLst/>
              <a:gdLst>
                <a:gd name="T0" fmla="*/ 0 w 45"/>
                <a:gd name="T1" fmla="*/ 27 h 28"/>
                <a:gd name="T2" fmla="*/ 44 w 45"/>
                <a:gd name="T3" fmla="*/ 0 h 28"/>
                <a:gd name="T4" fmla="*/ 44 w 45"/>
                <a:gd name="T5" fmla="*/ 27 h 28"/>
                <a:gd name="T6" fmla="*/ 0 w 45"/>
                <a:gd name="T7" fmla="*/ 27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27"/>
                  </a:moveTo>
                  <a:lnTo>
                    <a:pt x="44" y="0"/>
                  </a:lnTo>
                  <a:lnTo>
                    <a:pt x="44"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1" name="Freeform 4323"/>
            <p:cNvSpPr>
              <a:spLocks/>
            </p:cNvSpPr>
            <p:nvPr/>
          </p:nvSpPr>
          <p:spPr bwMode="auto">
            <a:xfrm>
              <a:off x="2949" y="2661"/>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2" name="Freeform 4324"/>
            <p:cNvSpPr>
              <a:spLocks/>
            </p:cNvSpPr>
            <p:nvPr/>
          </p:nvSpPr>
          <p:spPr bwMode="auto">
            <a:xfrm>
              <a:off x="2949" y="2661"/>
              <a:ext cx="45" cy="28"/>
            </a:xfrm>
            <a:custGeom>
              <a:avLst/>
              <a:gdLst>
                <a:gd name="T0" fmla="*/ 0 w 45"/>
                <a:gd name="T1" fmla="*/ 27 h 28"/>
                <a:gd name="T2" fmla="*/ 44 w 45"/>
                <a:gd name="T3" fmla="*/ 27 h 28"/>
                <a:gd name="T4" fmla="*/ 44 w 45"/>
                <a:gd name="T5" fmla="*/ 0 h 28"/>
                <a:gd name="T6" fmla="*/ 0 w 45"/>
                <a:gd name="T7" fmla="*/ 0 h 28"/>
                <a:gd name="T8" fmla="*/ 0 w 45"/>
                <a:gd name="T9" fmla="*/ 27 h 28"/>
                <a:gd name="T10" fmla="*/ 0 w 45"/>
                <a:gd name="T11" fmla="*/ 27 h 28"/>
                <a:gd name="T12" fmla="*/ 0 60000 65536"/>
                <a:gd name="T13" fmla="*/ 0 60000 65536"/>
                <a:gd name="T14" fmla="*/ 0 60000 65536"/>
                <a:gd name="T15" fmla="*/ 0 60000 65536"/>
                <a:gd name="T16" fmla="*/ 0 60000 65536"/>
                <a:gd name="T17" fmla="*/ 0 60000 65536"/>
                <a:gd name="T18" fmla="*/ 0 w 45"/>
                <a:gd name="T19" fmla="*/ 0 h 28"/>
                <a:gd name="T20" fmla="*/ 45 w 4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5" h="28">
                  <a:moveTo>
                    <a:pt x="0" y="27"/>
                  </a:moveTo>
                  <a:lnTo>
                    <a:pt x="44" y="27"/>
                  </a:lnTo>
                  <a:lnTo>
                    <a:pt x="44"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3" name="Line 4325"/>
            <p:cNvSpPr>
              <a:spLocks noChangeShapeType="1"/>
            </p:cNvSpPr>
            <p:nvPr/>
          </p:nvSpPr>
          <p:spPr bwMode="auto">
            <a:xfrm>
              <a:off x="2910" y="2669"/>
              <a:ext cx="3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4" name="Freeform 4326"/>
            <p:cNvSpPr>
              <a:spLocks/>
            </p:cNvSpPr>
            <p:nvPr/>
          </p:nvSpPr>
          <p:spPr bwMode="auto">
            <a:xfrm>
              <a:off x="2910" y="2661"/>
              <a:ext cx="40" cy="28"/>
            </a:xfrm>
            <a:custGeom>
              <a:avLst/>
              <a:gdLst>
                <a:gd name="T0" fmla="*/ 0 w 40"/>
                <a:gd name="T1" fmla="*/ 27 h 28"/>
                <a:gd name="T2" fmla="*/ 39 w 40"/>
                <a:gd name="T3" fmla="*/ 0 h 28"/>
                <a:gd name="T4" fmla="*/ 39 w 40"/>
                <a:gd name="T5" fmla="*/ 27 h 28"/>
                <a:gd name="T6" fmla="*/ 0 w 40"/>
                <a:gd name="T7" fmla="*/ 27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27"/>
                  </a:moveTo>
                  <a:lnTo>
                    <a:pt x="39" y="0"/>
                  </a:lnTo>
                  <a:lnTo>
                    <a:pt x="39"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5" name="Freeform 4327"/>
            <p:cNvSpPr>
              <a:spLocks/>
            </p:cNvSpPr>
            <p:nvPr/>
          </p:nvSpPr>
          <p:spPr bwMode="auto">
            <a:xfrm>
              <a:off x="2910" y="2661"/>
              <a:ext cx="40" cy="28"/>
            </a:xfrm>
            <a:custGeom>
              <a:avLst/>
              <a:gdLst>
                <a:gd name="T0" fmla="*/ 0 w 40"/>
                <a:gd name="T1" fmla="*/ 0 h 28"/>
                <a:gd name="T2" fmla="*/ 39 w 40"/>
                <a:gd name="T3" fmla="*/ 0 h 28"/>
                <a:gd name="T4" fmla="*/ 0 w 40"/>
                <a:gd name="T5" fmla="*/ 27 h 28"/>
                <a:gd name="T6" fmla="*/ 0 w 40"/>
                <a:gd name="T7" fmla="*/ 0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0"/>
                  </a:moveTo>
                  <a:lnTo>
                    <a:pt x="39"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6" name="Freeform 4328"/>
            <p:cNvSpPr>
              <a:spLocks/>
            </p:cNvSpPr>
            <p:nvPr/>
          </p:nvSpPr>
          <p:spPr bwMode="auto">
            <a:xfrm>
              <a:off x="2910" y="2661"/>
              <a:ext cx="40" cy="28"/>
            </a:xfrm>
            <a:custGeom>
              <a:avLst/>
              <a:gdLst>
                <a:gd name="T0" fmla="*/ 0 w 40"/>
                <a:gd name="T1" fmla="*/ 27 h 28"/>
                <a:gd name="T2" fmla="*/ 39 w 40"/>
                <a:gd name="T3" fmla="*/ 27 h 28"/>
                <a:gd name="T4" fmla="*/ 39 w 40"/>
                <a:gd name="T5" fmla="*/ 0 h 28"/>
                <a:gd name="T6" fmla="*/ 0 w 40"/>
                <a:gd name="T7" fmla="*/ 0 h 28"/>
                <a:gd name="T8" fmla="*/ 0 w 40"/>
                <a:gd name="T9" fmla="*/ 27 h 28"/>
                <a:gd name="T10" fmla="*/ 0 w 40"/>
                <a:gd name="T11" fmla="*/ 27 h 28"/>
                <a:gd name="T12" fmla="*/ 0 60000 65536"/>
                <a:gd name="T13" fmla="*/ 0 60000 65536"/>
                <a:gd name="T14" fmla="*/ 0 60000 65536"/>
                <a:gd name="T15" fmla="*/ 0 60000 65536"/>
                <a:gd name="T16" fmla="*/ 0 60000 65536"/>
                <a:gd name="T17" fmla="*/ 0 60000 65536"/>
                <a:gd name="T18" fmla="*/ 0 w 40"/>
                <a:gd name="T19" fmla="*/ 0 h 28"/>
                <a:gd name="T20" fmla="*/ 40 w 4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0" h="28">
                  <a:moveTo>
                    <a:pt x="0" y="27"/>
                  </a:moveTo>
                  <a:lnTo>
                    <a:pt x="39" y="27"/>
                  </a:lnTo>
                  <a:lnTo>
                    <a:pt x="39"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7" name="Line 4329"/>
            <p:cNvSpPr>
              <a:spLocks noChangeShapeType="1"/>
            </p:cNvSpPr>
            <p:nvPr/>
          </p:nvSpPr>
          <p:spPr bwMode="auto">
            <a:xfrm>
              <a:off x="2869"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8" name="Freeform 4330"/>
            <p:cNvSpPr>
              <a:spLocks/>
            </p:cNvSpPr>
            <p:nvPr/>
          </p:nvSpPr>
          <p:spPr bwMode="auto">
            <a:xfrm>
              <a:off x="2869"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29" name="Freeform 4331"/>
            <p:cNvSpPr>
              <a:spLocks/>
            </p:cNvSpPr>
            <p:nvPr/>
          </p:nvSpPr>
          <p:spPr bwMode="auto">
            <a:xfrm>
              <a:off x="2869"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0" name="Freeform 4332"/>
            <p:cNvSpPr>
              <a:spLocks/>
            </p:cNvSpPr>
            <p:nvPr/>
          </p:nvSpPr>
          <p:spPr bwMode="auto">
            <a:xfrm>
              <a:off x="2869"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1" name="Line 4333"/>
            <p:cNvSpPr>
              <a:spLocks noChangeShapeType="1"/>
            </p:cNvSpPr>
            <p:nvPr/>
          </p:nvSpPr>
          <p:spPr bwMode="auto">
            <a:xfrm>
              <a:off x="2832"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2" name="Freeform 4334"/>
            <p:cNvSpPr>
              <a:spLocks/>
            </p:cNvSpPr>
            <p:nvPr/>
          </p:nvSpPr>
          <p:spPr bwMode="auto">
            <a:xfrm>
              <a:off x="2832" y="2653"/>
              <a:ext cx="38" cy="28"/>
            </a:xfrm>
            <a:custGeom>
              <a:avLst/>
              <a:gdLst>
                <a:gd name="T0" fmla="*/ 0 w 38"/>
                <a:gd name="T1" fmla="*/ 27 h 28"/>
                <a:gd name="T2" fmla="*/ 37 w 38"/>
                <a:gd name="T3" fmla="*/ 0 h 28"/>
                <a:gd name="T4" fmla="*/ 37 w 38"/>
                <a:gd name="T5" fmla="*/ 27 h 28"/>
                <a:gd name="T6" fmla="*/ 0 w 38"/>
                <a:gd name="T7" fmla="*/ 27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27"/>
                  </a:moveTo>
                  <a:lnTo>
                    <a:pt x="37" y="0"/>
                  </a:lnTo>
                  <a:lnTo>
                    <a:pt x="37"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3" name="Freeform 4335"/>
            <p:cNvSpPr>
              <a:spLocks/>
            </p:cNvSpPr>
            <p:nvPr/>
          </p:nvSpPr>
          <p:spPr bwMode="auto">
            <a:xfrm>
              <a:off x="2832" y="2653"/>
              <a:ext cx="38" cy="28"/>
            </a:xfrm>
            <a:custGeom>
              <a:avLst/>
              <a:gdLst>
                <a:gd name="T0" fmla="*/ 0 w 38"/>
                <a:gd name="T1" fmla="*/ 0 h 28"/>
                <a:gd name="T2" fmla="*/ 37 w 38"/>
                <a:gd name="T3" fmla="*/ 0 h 28"/>
                <a:gd name="T4" fmla="*/ 0 w 38"/>
                <a:gd name="T5" fmla="*/ 27 h 28"/>
                <a:gd name="T6" fmla="*/ 0 w 38"/>
                <a:gd name="T7" fmla="*/ 0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0"/>
                  </a:moveTo>
                  <a:lnTo>
                    <a:pt x="37"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4" name="Freeform 4336"/>
            <p:cNvSpPr>
              <a:spLocks/>
            </p:cNvSpPr>
            <p:nvPr/>
          </p:nvSpPr>
          <p:spPr bwMode="auto">
            <a:xfrm>
              <a:off x="2832" y="2653"/>
              <a:ext cx="38" cy="28"/>
            </a:xfrm>
            <a:custGeom>
              <a:avLst/>
              <a:gdLst>
                <a:gd name="T0" fmla="*/ 0 w 38"/>
                <a:gd name="T1" fmla="*/ 27 h 28"/>
                <a:gd name="T2" fmla="*/ 37 w 38"/>
                <a:gd name="T3" fmla="*/ 27 h 28"/>
                <a:gd name="T4" fmla="*/ 37 w 38"/>
                <a:gd name="T5" fmla="*/ 0 h 28"/>
                <a:gd name="T6" fmla="*/ 0 w 38"/>
                <a:gd name="T7" fmla="*/ 0 h 28"/>
                <a:gd name="T8" fmla="*/ 0 w 38"/>
                <a:gd name="T9" fmla="*/ 27 h 28"/>
                <a:gd name="T10" fmla="*/ 0 w 38"/>
                <a:gd name="T11" fmla="*/ 27 h 28"/>
                <a:gd name="T12" fmla="*/ 0 60000 65536"/>
                <a:gd name="T13" fmla="*/ 0 60000 65536"/>
                <a:gd name="T14" fmla="*/ 0 60000 65536"/>
                <a:gd name="T15" fmla="*/ 0 60000 65536"/>
                <a:gd name="T16" fmla="*/ 0 60000 65536"/>
                <a:gd name="T17" fmla="*/ 0 60000 65536"/>
                <a:gd name="T18" fmla="*/ 0 w 38"/>
                <a:gd name="T19" fmla="*/ 0 h 28"/>
                <a:gd name="T20" fmla="*/ 38 w 3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8" h="28">
                  <a:moveTo>
                    <a:pt x="0" y="27"/>
                  </a:moveTo>
                  <a:lnTo>
                    <a:pt x="37" y="27"/>
                  </a:lnTo>
                  <a:lnTo>
                    <a:pt x="37"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5" name="Line 4337"/>
            <p:cNvSpPr>
              <a:spLocks noChangeShapeType="1"/>
            </p:cNvSpPr>
            <p:nvPr/>
          </p:nvSpPr>
          <p:spPr bwMode="auto">
            <a:xfrm>
              <a:off x="2786"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6" name="Freeform 4338"/>
            <p:cNvSpPr>
              <a:spLocks/>
            </p:cNvSpPr>
            <p:nvPr/>
          </p:nvSpPr>
          <p:spPr bwMode="auto">
            <a:xfrm>
              <a:off x="2786" y="2647"/>
              <a:ext cx="47" cy="28"/>
            </a:xfrm>
            <a:custGeom>
              <a:avLst/>
              <a:gdLst>
                <a:gd name="T0" fmla="*/ 0 w 47"/>
                <a:gd name="T1" fmla="*/ 27 h 28"/>
                <a:gd name="T2" fmla="*/ 46 w 47"/>
                <a:gd name="T3" fmla="*/ 0 h 28"/>
                <a:gd name="T4" fmla="*/ 46 w 47"/>
                <a:gd name="T5" fmla="*/ 27 h 28"/>
                <a:gd name="T6" fmla="*/ 0 w 47"/>
                <a:gd name="T7" fmla="*/ 27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27"/>
                  </a:moveTo>
                  <a:lnTo>
                    <a:pt x="46" y="0"/>
                  </a:lnTo>
                  <a:lnTo>
                    <a:pt x="46"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7" name="Freeform 4339"/>
            <p:cNvSpPr>
              <a:spLocks/>
            </p:cNvSpPr>
            <p:nvPr/>
          </p:nvSpPr>
          <p:spPr bwMode="auto">
            <a:xfrm>
              <a:off x="2786" y="2647"/>
              <a:ext cx="47" cy="28"/>
            </a:xfrm>
            <a:custGeom>
              <a:avLst/>
              <a:gdLst>
                <a:gd name="T0" fmla="*/ 0 w 47"/>
                <a:gd name="T1" fmla="*/ 0 h 28"/>
                <a:gd name="T2" fmla="*/ 46 w 47"/>
                <a:gd name="T3" fmla="*/ 0 h 28"/>
                <a:gd name="T4" fmla="*/ 0 w 47"/>
                <a:gd name="T5" fmla="*/ 27 h 28"/>
                <a:gd name="T6" fmla="*/ 0 w 47"/>
                <a:gd name="T7" fmla="*/ 0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0"/>
                  </a:moveTo>
                  <a:lnTo>
                    <a:pt x="46"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8" name="Freeform 4340"/>
            <p:cNvSpPr>
              <a:spLocks/>
            </p:cNvSpPr>
            <p:nvPr/>
          </p:nvSpPr>
          <p:spPr bwMode="auto">
            <a:xfrm>
              <a:off x="2786" y="2647"/>
              <a:ext cx="47" cy="28"/>
            </a:xfrm>
            <a:custGeom>
              <a:avLst/>
              <a:gdLst>
                <a:gd name="T0" fmla="*/ 0 w 47"/>
                <a:gd name="T1" fmla="*/ 27 h 28"/>
                <a:gd name="T2" fmla="*/ 46 w 47"/>
                <a:gd name="T3" fmla="*/ 27 h 28"/>
                <a:gd name="T4" fmla="*/ 46 w 47"/>
                <a:gd name="T5" fmla="*/ 0 h 28"/>
                <a:gd name="T6" fmla="*/ 0 w 47"/>
                <a:gd name="T7" fmla="*/ 0 h 28"/>
                <a:gd name="T8" fmla="*/ 0 w 47"/>
                <a:gd name="T9" fmla="*/ 27 h 28"/>
                <a:gd name="T10" fmla="*/ 0 w 47"/>
                <a:gd name="T11" fmla="*/ 27 h 28"/>
                <a:gd name="T12" fmla="*/ 0 60000 65536"/>
                <a:gd name="T13" fmla="*/ 0 60000 65536"/>
                <a:gd name="T14" fmla="*/ 0 60000 65536"/>
                <a:gd name="T15" fmla="*/ 0 60000 65536"/>
                <a:gd name="T16" fmla="*/ 0 60000 65536"/>
                <a:gd name="T17" fmla="*/ 0 60000 65536"/>
                <a:gd name="T18" fmla="*/ 0 w 47"/>
                <a:gd name="T19" fmla="*/ 0 h 28"/>
                <a:gd name="T20" fmla="*/ 47 w 4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7" h="28">
                  <a:moveTo>
                    <a:pt x="0" y="27"/>
                  </a:moveTo>
                  <a:lnTo>
                    <a:pt x="46" y="27"/>
                  </a:lnTo>
                  <a:lnTo>
                    <a:pt x="46"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39" name="Line 4341"/>
            <p:cNvSpPr>
              <a:spLocks noChangeShapeType="1"/>
            </p:cNvSpPr>
            <p:nvPr/>
          </p:nvSpPr>
          <p:spPr bwMode="auto">
            <a:xfrm>
              <a:off x="2752" y="2669"/>
              <a:ext cx="3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0" name="Freeform 4342"/>
            <p:cNvSpPr>
              <a:spLocks/>
            </p:cNvSpPr>
            <p:nvPr/>
          </p:nvSpPr>
          <p:spPr bwMode="auto">
            <a:xfrm>
              <a:off x="2752" y="2632"/>
              <a:ext cx="35" cy="38"/>
            </a:xfrm>
            <a:custGeom>
              <a:avLst/>
              <a:gdLst>
                <a:gd name="T0" fmla="*/ 0 w 35"/>
                <a:gd name="T1" fmla="*/ 37 h 38"/>
                <a:gd name="T2" fmla="*/ 34 w 35"/>
                <a:gd name="T3" fmla="*/ 0 h 38"/>
                <a:gd name="T4" fmla="*/ 34 w 35"/>
                <a:gd name="T5" fmla="*/ 37 h 38"/>
                <a:gd name="T6" fmla="*/ 0 w 35"/>
                <a:gd name="T7" fmla="*/ 37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37"/>
                  </a:moveTo>
                  <a:lnTo>
                    <a:pt x="34" y="0"/>
                  </a:lnTo>
                  <a:lnTo>
                    <a:pt x="34" y="37"/>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1" name="Freeform 4343"/>
            <p:cNvSpPr>
              <a:spLocks/>
            </p:cNvSpPr>
            <p:nvPr/>
          </p:nvSpPr>
          <p:spPr bwMode="auto">
            <a:xfrm>
              <a:off x="2752" y="2632"/>
              <a:ext cx="35" cy="38"/>
            </a:xfrm>
            <a:custGeom>
              <a:avLst/>
              <a:gdLst>
                <a:gd name="T0" fmla="*/ 0 w 35"/>
                <a:gd name="T1" fmla="*/ 0 h 38"/>
                <a:gd name="T2" fmla="*/ 34 w 35"/>
                <a:gd name="T3" fmla="*/ 0 h 38"/>
                <a:gd name="T4" fmla="*/ 0 w 35"/>
                <a:gd name="T5" fmla="*/ 37 h 38"/>
                <a:gd name="T6" fmla="*/ 0 w 35"/>
                <a:gd name="T7" fmla="*/ 0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0"/>
                  </a:moveTo>
                  <a:lnTo>
                    <a:pt x="34" y="0"/>
                  </a:lnTo>
                  <a:lnTo>
                    <a:pt x="0" y="3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2" name="Freeform 4344"/>
            <p:cNvSpPr>
              <a:spLocks/>
            </p:cNvSpPr>
            <p:nvPr/>
          </p:nvSpPr>
          <p:spPr bwMode="auto">
            <a:xfrm>
              <a:off x="2752" y="2632"/>
              <a:ext cx="35" cy="38"/>
            </a:xfrm>
            <a:custGeom>
              <a:avLst/>
              <a:gdLst>
                <a:gd name="T0" fmla="*/ 0 w 35"/>
                <a:gd name="T1" fmla="*/ 37 h 38"/>
                <a:gd name="T2" fmla="*/ 34 w 35"/>
                <a:gd name="T3" fmla="*/ 37 h 38"/>
                <a:gd name="T4" fmla="*/ 34 w 35"/>
                <a:gd name="T5" fmla="*/ 0 h 38"/>
                <a:gd name="T6" fmla="*/ 0 w 35"/>
                <a:gd name="T7" fmla="*/ 0 h 38"/>
                <a:gd name="T8" fmla="*/ 0 w 35"/>
                <a:gd name="T9" fmla="*/ 37 h 38"/>
                <a:gd name="T10" fmla="*/ 0 w 35"/>
                <a:gd name="T11" fmla="*/ 37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0" y="37"/>
                  </a:moveTo>
                  <a:lnTo>
                    <a:pt x="34" y="37"/>
                  </a:lnTo>
                  <a:lnTo>
                    <a:pt x="34" y="0"/>
                  </a:lnTo>
                  <a:lnTo>
                    <a:pt x="0" y="0"/>
                  </a:lnTo>
                  <a:lnTo>
                    <a:pt x="0" y="3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3" name="Line 4345"/>
            <p:cNvSpPr>
              <a:spLocks noChangeShapeType="1"/>
            </p:cNvSpPr>
            <p:nvPr/>
          </p:nvSpPr>
          <p:spPr bwMode="auto">
            <a:xfrm>
              <a:off x="2707"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4" name="Line 4346"/>
            <p:cNvSpPr>
              <a:spLocks noChangeShapeType="1"/>
            </p:cNvSpPr>
            <p:nvPr/>
          </p:nvSpPr>
          <p:spPr bwMode="auto">
            <a:xfrm>
              <a:off x="2628"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5" name="Line 4347"/>
            <p:cNvSpPr>
              <a:spLocks noChangeShapeType="1"/>
            </p:cNvSpPr>
            <p:nvPr/>
          </p:nvSpPr>
          <p:spPr bwMode="auto">
            <a:xfrm>
              <a:off x="2583"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6" name="Line 4348"/>
            <p:cNvSpPr>
              <a:spLocks noChangeShapeType="1"/>
            </p:cNvSpPr>
            <p:nvPr/>
          </p:nvSpPr>
          <p:spPr bwMode="auto">
            <a:xfrm>
              <a:off x="2503"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7" name="Line 4349"/>
            <p:cNvSpPr>
              <a:spLocks noChangeShapeType="1"/>
            </p:cNvSpPr>
            <p:nvPr/>
          </p:nvSpPr>
          <p:spPr bwMode="auto">
            <a:xfrm>
              <a:off x="2469" y="2669"/>
              <a:ext cx="3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8" name="Line 4350"/>
            <p:cNvSpPr>
              <a:spLocks noChangeShapeType="1"/>
            </p:cNvSpPr>
            <p:nvPr/>
          </p:nvSpPr>
          <p:spPr bwMode="auto">
            <a:xfrm>
              <a:off x="2423"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49" name="Line 4351"/>
            <p:cNvSpPr>
              <a:spLocks noChangeShapeType="1"/>
            </p:cNvSpPr>
            <p:nvPr/>
          </p:nvSpPr>
          <p:spPr bwMode="auto">
            <a:xfrm>
              <a:off x="2378"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0" name="Line 4352"/>
            <p:cNvSpPr>
              <a:spLocks noChangeShapeType="1"/>
            </p:cNvSpPr>
            <p:nvPr/>
          </p:nvSpPr>
          <p:spPr bwMode="auto">
            <a:xfrm>
              <a:off x="2341"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1" name="Line 4353"/>
            <p:cNvSpPr>
              <a:spLocks noChangeShapeType="1"/>
            </p:cNvSpPr>
            <p:nvPr/>
          </p:nvSpPr>
          <p:spPr bwMode="auto">
            <a:xfrm>
              <a:off x="2299"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2" name="Line 4354"/>
            <p:cNvSpPr>
              <a:spLocks noChangeShapeType="1"/>
            </p:cNvSpPr>
            <p:nvPr/>
          </p:nvSpPr>
          <p:spPr bwMode="auto">
            <a:xfrm>
              <a:off x="2262"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3" name="Line 4355"/>
            <p:cNvSpPr>
              <a:spLocks noChangeShapeType="1"/>
            </p:cNvSpPr>
            <p:nvPr/>
          </p:nvSpPr>
          <p:spPr bwMode="auto">
            <a:xfrm>
              <a:off x="2216"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4" name="Line 4356"/>
            <p:cNvSpPr>
              <a:spLocks noChangeShapeType="1"/>
            </p:cNvSpPr>
            <p:nvPr/>
          </p:nvSpPr>
          <p:spPr bwMode="auto">
            <a:xfrm>
              <a:off x="2184" y="2669"/>
              <a:ext cx="3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5" name="Line 4357"/>
            <p:cNvSpPr>
              <a:spLocks noChangeShapeType="1"/>
            </p:cNvSpPr>
            <p:nvPr/>
          </p:nvSpPr>
          <p:spPr bwMode="auto">
            <a:xfrm>
              <a:off x="2137" y="2669"/>
              <a:ext cx="4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6" name="Line 4358"/>
            <p:cNvSpPr>
              <a:spLocks noChangeShapeType="1"/>
            </p:cNvSpPr>
            <p:nvPr/>
          </p:nvSpPr>
          <p:spPr bwMode="auto">
            <a:xfrm>
              <a:off x="209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7" name="Line 4359"/>
            <p:cNvSpPr>
              <a:spLocks noChangeShapeType="1"/>
            </p:cNvSpPr>
            <p:nvPr/>
          </p:nvSpPr>
          <p:spPr bwMode="auto">
            <a:xfrm>
              <a:off x="2058"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8" name="Line 4360"/>
            <p:cNvSpPr>
              <a:spLocks noChangeShapeType="1"/>
            </p:cNvSpPr>
            <p:nvPr/>
          </p:nvSpPr>
          <p:spPr bwMode="auto">
            <a:xfrm>
              <a:off x="2013"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59" name="Line 4361"/>
            <p:cNvSpPr>
              <a:spLocks noChangeShapeType="1"/>
            </p:cNvSpPr>
            <p:nvPr/>
          </p:nvSpPr>
          <p:spPr bwMode="auto">
            <a:xfrm>
              <a:off x="1978" y="2669"/>
              <a:ext cx="3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0" name="Line 4362"/>
            <p:cNvSpPr>
              <a:spLocks noChangeShapeType="1"/>
            </p:cNvSpPr>
            <p:nvPr/>
          </p:nvSpPr>
          <p:spPr bwMode="auto">
            <a:xfrm>
              <a:off x="1937"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1" name="Line 4363"/>
            <p:cNvSpPr>
              <a:spLocks noChangeShapeType="1"/>
            </p:cNvSpPr>
            <p:nvPr/>
          </p:nvSpPr>
          <p:spPr bwMode="auto">
            <a:xfrm>
              <a:off x="189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2" name="Line 4364"/>
            <p:cNvSpPr>
              <a:spLocks noChangeShapeType="1"/>
            </p:cNvSpPr>
            <p:nvPr/>
          </p:nvSpPr>
          <p:spPr bwMode="auto">
            <a:xfrm>
              <a:off x="1853"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3" name="Line 4365"/>
            <p:cNvSpPr>
              <a:spLocks noChangeShapeType="1"/>
            </p:cNvSpPr>
            <p:nvPr/>
          </p:nvSpPr>
          <p:spPr bwMode="auto">
            <a:xfrm>
              <a:off x="1815"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4" name="Line 4366"/>
            <p:cNvSpPr>
              <a:spLocks noChangeShapeType="1"/>
            </p:cNvSpPr>
            <p:nvPr/>
          </p:nvSpPr>
          <p:spPr bwMode="auto">
            <a:xfrm>
              <a:off x="1774"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5" name="Line 4367"/>
            <p:cNvSpPr>
              <a:spLocks noChangeShapeType="1"/>
            </p:cNvSpPr>
            <p:nvPr/>
          </p:nvSpPr>
          <p:spPr bwMode="auto">
            <a:xfrm>
              <a:off x="1736"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6" name="Line 4368"/>
            <p:cNvSpPr>
              <a:spLocks noChangeShapeType="1"/>
            </p:cNvSpPr>
            <p:nvPr/>
          </p:nvSpPr>
          <p:spPr bwMode="auto">
            <a:xfrm>
              <a:off x="1692" y="2669"/>
              <a:ext cx="4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7" name="Freeform 4369"/>
            <p:cNvSpPr>
              <a:spLocks/>
            </p:cNvSpPr>
            <p:nvPr/>
          </p:nvSpPr>
          <p:spPr bwMode="auto">
            <a:xfrm>
              <a:off x="1692" y="2653"/>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8" name="Line 4370"/>
            <p:cNvSpPr>
              <a:spLocks noChangeShapeType="1"/>
            </p:cNvSpPr>
            <p:nvPr/>
          </p:nvSpPr>
          <p:spPr bwMode="auto">
            <a:xfrm>
              <a:off x="1651"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69" name="Freeform 4371"/>
            <p:cNvSpPr>
              <a:spLocks/>
            </p:cNvSpPr>
            <p:nvPr/>
          </p:nvSpPr>
          <p:spPr bwMode="auto">
            <a:xfrm>
              <a:off x="1651"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0" name="Freeform 4372"/>
            <p:cNvSpPr>
              <a:spLocks/>
            </p:cNvSpPr>
            <p:nvPr/>
          </p:nvSpPr>
          <p:spPr bwMode="auto">
            <a:xfrm>
              <a:off x="1651"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1" name="Freeform 4373"/>
            <p:cNvSpPr>
              <a:spLocks/>
            </p:cNvSpPr>
            <p:nvPr/>
          </p:nvSpPr>
          <p:spPr bwMode="auto">
            <a:xfrm>
              <a:off x="1651"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2" name="Line 4374"/>
            <p:cNvSpPr>
              <a:spLocks noChangeShapeType="1"/>
            </p:cNvSpPr>
            <p:nvPr/>
          </p:nvSpPr>
          <p:spPr bwMode="auto">
            <a:xfrm>
              <a:off x="1615" y="2669"/>
              <a:ext cx="3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3" name="Freeform 4375"/>
            <p:cNvSpPr>
              <a:spLocks/>
            </p:cNvSpPr>
            <p:nvPr/>
          </p:nvSpPr>
          <p:spPr bwMode="auto">
            <a:xfrm>
              <a:off x="1615" y="2661"/>
              <a:ext cx="37" cy="28"/>
            </a:xfrm>
            <a:custGeom>
              <a:avLst/>
              <a:gdLst>
                <a:gd name="T0" fmla="*/ 0 w 37"/>
                <a:gd name="T1" fmla="*/ 27 h 28"/>
                <a:gd name="T2" fmla="*/ 36 w 37"/>
                <a:gd name="T3" fmla="*/ 0 h 28"/>
                <a:gd name="T4" fmla="*/ 36 w 37"/>
                <a:gd name="T5" fmla="*/ 27 h 28"/>
                <a:gd name="T6" fmla="*/ 0 w 37"/>
                <a:gd name="T7" fmla="*/ 27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27"/>
                  </a:moveTo>
                  <a:lnTo>
                    <a:pt x="36" y="0"/>
                  </a:lnTo>
                  <a:lnTo>
                    <a:pt x="36"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4" name="Freeform 4376"/>
            <p:cNvSpPr>
              <a:spLocks/>
            </p:cNvSpPr>
            <p:nvPr/>
          </p:nvSpPr>
          <p:spPr bwMode="auto">
            <a:xfrm>
              <a:off x="1615" y="2661"/>
              <a:ext cx="37" cy="28"/>
            </a:xfrm>
            <a:custGeom>
              <a:avLst/>
              <a:gdLst>
                <a:gd name="T0" fmla="*/ 0 w 37"/>
                <a:gd name="T1" fmla="*/ 0 h 28"/>
                <a:gd name="T2" fmla="*/ 36 w 37"/>
                <a:gd name="T3" fmla="*/ 0 h 28"/>
                <a:gd name="T4" fmla="*/ 0 w 37"/>
                <a:gd name="T5" fmla="*/ 27 h 28"/>
                <a:gd name="T6" fmla="*/ 0 w 37"/>
                <a:gd name="T7" fmla="*/ 0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0"/>
                  </a:moveTo>
                  <a:lnTo>
                    <a:pt x="36"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5" name="Freeform 4377"/>
            <p:cNvSpPr>
              <a:spLocks/>
            </p:cNvSpPr>
            <p:nvPr/>
          </p:nvSpPr>
          <p:spPr bwMode="auto">
            <a:xfrm>
              <a:off x="1615" y="2661"/>
              <a:ext cx="37" cy="28"/>
            </a:xfrm>
            <a:custGeom>
              <a:avLst/>
              <a:gdLst>
                <a:gd name="T0" fmla="*/ 0 w 37"/>
                <a:gd name="T1" fmla="*/ 27 h 28"/>
                <a:gd name="T2" fmla="*/ 36 w 37"/>
                <a:gd name="T3" fmla="*/ 27 h 28"/>
                <a:gd name="T4" fmla="*/ 36 w 37"/>
                <a:gd name="T5" fmla="*/ 0 h 28"/>
                <a:gd name="T6" fmla="*/ 0 w 37"/>
                <a:gd name="T7" fmla="*/ 0 h 28"/>
                <a:gd name="T8" fmla="*/ 0 w 37"/>
                <a:gd name="T9" fmla="*/ 27 h 28"/>
                <a:gd name="T10" fmla="*/ 0 w 37"/>
                <a:gd name="T11" fmla="*/ 27 h 28"/>
                <a:gd name="T12" fmla="*/ 0 60000 65536"/>
                <a:gd name="T13" fmla="*/ 0 60000 65536"/>
                <a:gd name="T14" fmla="*/ 0 60000 65536"/>
                <a:gd name="T15" fmla="*/ 0 60000 65536"/>
                <a:gd name="T16" fmla="*/ 0 60000 65536"/>
                <a:gd name="T17" fmla="*/ 0 60000 65536"/>
                <a:gd name="T18" fmla="*/ 0 w 37"/>
                <a:gd name="T19" fmla="*/ 0 h 28"/>
                <a:gd name="T20" fmla="*/ 37 w 3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7" h="28">
                  <a:moveTo>
                    <a:pt x="0" y="27"/>
                  </a:moveTo>
                  <a:lnTo>
                    <a:pt x="36" y="27"/>
                  </a:lnTo>
                  <a:lnTo>
                    <a:pt x="36"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6" name="Line 4378"/>
            <p:cNvSpPr>
              <a:spLocks noChangeShapeType="1"/>
            </p:cNvSpPr>
            <p:nvPr/>
          </p:nvSpPr>
          <p:spPr bwMode="auto">
            <a:xfrm>
              <a:off x="1568" y="2669"/>
              <a:ext cx="4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7" name="Freeform 4379"/>
            <p:cNvSpPr>
              <a:spLocks/>
            </p:cNvSpPr>
            <p:nvPr/>
          </p:nvSpPr>
          <p:spPr bwMode="auto">
            <a:xfrm>
              <a:off x="1568" y="2661"/>
              <a:ext cx="48" cy="28"/>
            </a:xfrm>
            <a:custGeom>
              <a:avLst/>
              <a:gdLst>
                <a:gd name="T0" fmla="*/ 0 w 48"/>
                <a:gd name="T1" fmla="*/ 27 h 28"/>
                <a:gd name="T2" fmla="*/ 47 w 48"/>
                <a:gd name="T3" fmla="*/ 0 h 28"/>
                <a:gd name="T4" fmla="*/ 47 w 48"/>
                <a:gd name="T5" fmla="*/ 27 h 28"/>
                <a:gd name="T6" fmla="*/ 0 w 48"/>
                <a:gd name="T7" fmla="*/ 27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27"/>
                  </a:moveTo>
                  <a:lnTo>
                    <a:pt x="47" y="0"/>
                  </a:lnTo>
                  <a:lnTo>
                    <a:pt x="47"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8" name="Freeform 4380"/>
            <p:cNvSpPr>
              <a:spLocks/>
            </p:cNvSpPr>
            <p:nvPr/>
          </p:nvSpPr>
          <p:spPr bwMode="auto">
            <a:xfrm>
              <a:off x="1568" y="2661"/>
              <a:ext cx="48" cy="28"/>
            </a:xfrm>
            <a:custGeom>
              <a:avLst/>
              <a:gdLst>
                <a:gd name="T0" fmla="*/ 0 w 48"/>
                <a:gd name="T1" fmla="*/ 0 h 28"/>
                <a:gd name="T2" fmla="*/ 47 w 48"/>
                <a:gd name="T3" fmla="*/ 0 h 28"/>
                <a:gd name="T4" fmla="*/ 0 w 48"/>
                <a:gd name="T5" fmla="*/ 27 h 28"/>
                <a:gd name="T6" fmla="*/ 0 w 48"/>
                <a:gd name="T7" fmla="*/ 0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0"/>
                  </a:moveTo>
                  <a:lnTo>
                    <a:pt x="47"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79" name="Freeform 4381"/>
            <p:cNvSpPr>
              <a:spLocks/>
            </p:cNvSpPr>
            <p:nvPr/>
          </p:nvSpPr>
          <p:spPr bwMode="auto">
            <a:xfrm>
              <a:off x="1568" y="2661"/>
              <a:ext cx="48" cy="28"/>
            </a:xfrm>
            <a:custGeom>
              <a:avLst/>
              <a:gdLst>
                <a:gd name="T0" fmla="*/ 0 w 48"/>
                <a:gd name="T1" fmla="*/ 27 h 28"/>
                <a:gd name="T2" fmla="*/ 47 w 48"/>
                <a:gd name="T3" fmla="*/ 27 h 28"/>
                <a:gd name="T4" fmla="*/ 47 w 48"/>
                <a:gd name="T5" fmla="*/ 0 h 28"/>
                <a:gd name="T6" fmla="*/ 0 w 48"/>
                <a:gd name="T7" fmla="*/ 0 h 28"/>
                <a:gd name="T8" fmla="*/ 0 w 48"/>
                <a:gd name="T9" fmla="*/ 27 h 28"/>
                <a:gd name="T10" fmla="*/ 0 w 48"/>
                <a:gd name="T11" fmla="*/ 27 h 28"/>
                <a:gd name="T12" fmla="*/ 0 60000 65536"/>
                <a:gd name="T13" fmla="*/ 0 60000 65536"/>
                <a:gd name="T14" fmla="*/ 0 60000 65536"/>
                <a:gd name="T15" fmla="*/ 0 60000 65536"/>
                <a:gd name="T16" fmla="*/ 0 60000 65536"/>
                <a:gd name="T17" fmla="*/ 0 60000 65536"/>
                <a:gd name="T18" fmla="*/ 0 w 48"/>
                <a:gd name="T19" fmla="*/ 0 h 28"/>
                <a:gd name="T20" fmla="*/ 48 w 4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8" h="28">
                  <a:moveTo>
                    <a:pt x="0" y="27"/>
                  </a:moveTo>
                  <a:lnTo>
                    <a:pt x="47" y="27"/>
                  </a:lnTo>
                  <a:lnTo>
                    <a:pt x="47"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0" name="Line 4382"/>
            <p:cNvSpPr>
              <a:spLocks noChangeShapeType="1"/>
            </p:cNvSpPr>
            <p:nvPr/>
          </p:nvSpPr>
          <p:spPr bwMode="auto">
            <a:xfrm>
              <a:off x="1530"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1" name="Freeform 4383"/>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2" name="Line 4384"/>
            <p:cNvSpPr>
              <a:spLocks noChangeShapeType="1"/>
            </p:cNvSpPr>
            <p:nvPr/>
          </p:nvSpPr>
          <p:spPr bwMode="auto">
            <a:xfrm>
              <a:off x="1530"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3" name="Freeform 4385"/>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4" name="Line 4386"/>
            <p:cNvSpPr>
              <a:spLocks noChangeShapeType="1"/>
            </p:cNvSpPr>
            <p:nvPr/>
          </p:nvSpPr>
          <p:spPr bwMode="auto">
            <a:xfrm>
              <a:off x="149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5" name="Freeform 4387"/>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6" name="Line 4388"/>
            <p:cNvSpPr>
              <a:spLocks noChangeShapeType="1"/>
            </p:cNvSpPr>
            <p:nvPr/>
          </p:nvSpPr>
          <p:spPr bwMode="auto">
            <a:xfrm>
              <a:off x="149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7" name="Freeform 4389"/>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8" name="Line 4390"/>
            <p:cNvSpPr>
              <a:spLocks noChangeShapeType="1"/>
            </p:cNvSpPr>
            <p:nvPr/>
          </p:nvSpPr>
          <p:spPr bwMode="auto">
            <a:xfrm>
              <a:off x="145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89" name="Freeform 4391"/>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0" name="Line 4392"/>
            <p:cNvSpPr>
              <a:spLocks noChangeShapeType="1"/>
            </p:cNvSpPr>
            <p:nvPr/>
          </p:nvSpPr>
          <p:spPr bwMode="auto">
            <a:xfrm>
              <a:off x="145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1" name="Freeform 4393"/>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2" name="Line 4394"/>
            <p:cNvSpPr>
              <a:spLocks noChangeShapeType="1"/>
            </p:cNvSpPr>
            <p:nvPr/>
          </p:nvSpPr>
          <p:spPr bwMode="auto">
            <a:xfrm>
              <a:off x="1409"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3" name="Freeform 4395"/>
            <p:cNvSpPr>
              <a:spLocks/>
            </p:cNvSpPr>
            <p:nvPr/>
          </p:nvSpPr>
          <p:spPr bwMode="auto">
            <a:xfrm>
              <a:off x="1409" y="2661"/>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4" name="Freeform 4396"/>
            <p:cNvSpPr>
              <a:spLocks/>
            </p:cNvSpPr>
            <p:nvPr/>
          </p:nvSpPr>
          <p:spPr bwMode="auto">
            <a:xfrm>
              <a:off x="1409" y="2661"/>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5" name="Freeform 4397"/>
            <p:cNvSpPr>
              <a:spLocks/>
            </p:cNvSpPr>
            <p:nvPr/>
          </p:nvSpPr>
          <p:spPr bwMode="auto">
            <a:xfrm>
              <a:off x="1409" y="2661"/>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6" name="Line 4398"/>
            <p:cNvSpPr>
              <a:spLocks noChangeShapeType="1"/>
            </p:cNvSpPr>
            <p:nvPr/>
          </p:nvSpPr>
          <p:spPr bwMode="auto">
            <a:xfrm>
              <a:off x="1367"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7" name="Freeform 4399"/>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60000 65536"/>
                <a:gd name="T9" fmla="*/ 0 60000 65536"/>
                <a:gd name="T10" fmla="*/ 0 60000 65536"/>
                <a:gd name="T11" fmla="*/ 0 60000 65536"/>
                <a:gd name="T12" fmla="*/ 0 w 43"/>
                <a:gd name="T13" fmla="*/ 0 h 1"/>
                <a:gd name="T14" fmla="*/ 43 w 43"/>
                <a:gd name="T15" fmla="*/ 1 h 1"/>
              </a:gdLst>
              <a:ahLst/>
              <a:cxnLst>
                <a:cxn ang="T8">
                  <a:pos x="T0" y="T1"/>
                </a:cxn>
                <a:cxn ang="T9">
                  <a:pos x="T2" y="T3"/>
                </a:cxn>
                <a:cxn ang="T10">
                  <a:pos x="T4" y="T5"/>
                </a:cxn>
                <a:cxn ang="T11">
                  <a:pos x="T6" y="T7"/>
                </a:cxn>
              </a:cxnLst>
              <a:rect l="T12" t="T13" r="T14" b="T15"/>
              <a:pathLst>
                <a:path w="43" h="1">
                  <a:moveTo>
                    <a:pt x="0" y="0"/>
                  </a:moveTo>
                  <a:lnTo>
                    <a:pt x="42"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8" name="Line 4400"/>
            <p:cNvSpPr>
              <a:spLocks noChangeShapeType="1"/>
            </p:cNvSpPr>
            <p:nvPr/>
          </p:nvSpPr>
          <p:spPr bwMode="auto">
            <a:xfrm>
              <a:off x="1367"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99" name="Freeform 4401"/>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w 43"/>
                <a:gd name="T9" fmla="*/ 0 h 1"/>
                <a:gd name="T10" fmla="*/ 0 w 43"/>
                <a:gd name="T11" fmla="*/ 0 h 1"/>
                <a:gd name="T12" fmla="*/ 0 60000 65536"/>
                <a:gd name="T13" fmla="*/ 0 60000 65536"/>
                <a:gd name="T14" fmla="*/ 0 60000 65536"/>
                <a:gd name="T15" fmla="*/ 0 60000 65536"/>
                <a:gd name="T16" fmla="*/ 0 60000 65536"/>
                <a:gd name="T17" fmla="*/ 0 60000 65536"/>
                <a:gd name="T18" fmla="*/ 0 w 43"/>
                <a:gd name="T19" fmla="*/ 0 h 1"/>
                <a:gd name="T20" fmla="*/ 43 w 43"/>
                <a:gd name="T21" fmla="*/ 1 h 1"/>
              </a:gdLst>
              <a:ahLst/>
              <a:cxnLst>
                <a:cxn ang="T12">
                  <a:pos x="T0" y="T1"/>
                </a:cxn>
                <a:cxn ang="T13">
                  <a:pos x="T2" y="T3"/>
                </a:cxn>
                <a:cxn ang="T14">
                  <a:pos x="T4" y="T5"/>
                </a:cxn>
                <a:cxn ang="T15">
                  <a:pos x="T6" y="T7"/>
                </a:cxn>
                <a:cxn ang="T16">
                  <a:pos x="T8" y="T9"/>
                </a:cxn>
                <a:cxn ang="T17">
                  <a:pos x="T10" y="T11"/>
                </a:cxn>
              </a:cxnLst>
              <a:rect l="T18" t="T19" r="T20" b="T21"/>
              <a:pathLst>
                <a:path w="43" h="1">
                  <a:moveTo>
                    <a:pt x="0" y="0"/>
                  </a:moveTo>
                  <a:lnTo>
                    <a:pt x="42"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0" name="Line 4402"/>
            <p:cNvSpPr>
              <a:spLocks noChangeShapeType="1"/>
            </p:cNvSpPr>
            <p:nvPr/>
          </p:nvSpPr>
          <p:spPr bwMode="auto">
            <a:xfrm>
              <a:off x="132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1" name="Freeform 4403"/>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2" name="Line 4404"/>
            <p:cNvSpPr>
              <a:spLocks noChangeShapeType="1"/>
            </p:cNvSpPr>
            <p:nvPr/>
          </p:nvSpPr>
          <p:spPr bwMode="auto">
            <a:xfrm>
              <a:off x="132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3" name="Freeform 4405"/>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4" name="Line 4406"/>
            <p:cNvSpPr>
              <a:spLocks noChangeShapeType="1"/>
            </p:cNvSpPr>
            <p:nvPr/>
          </p:nvSpPr>
          <p:spPr bwMode="auto">
            <a:xfrm>
              <a:off x="1286" y="2669"/>
              <a:ext cx="4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5" name="Freeform 4407"/>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60000 65536"/>
                <a:gd name="T9" fmla="*/ 0 60000 65536"/>
                <a:gd name="T10" fmla="*/ 0 60000 65536"/>
                <a:gd name="T11" fmla="*/ 0 60000 65536"/>
                <a:gd name="T12" fmla="*/ 0 w 44"/>
                <a:gd name="T13" fmla="*/ 0 h 1"/>
                <a:gd name="T14" fmla="*/ 44 w 44"/>
                <a:gd name="T15" fmla="*/ 1 h 1"/>
              </a:gdLst>
              <a:ahLst/>
              <a:cxnLst>
                <a:cxn ang="T8">
                  <a:pos x="T0" y="T1"/>
                </a:cxn>
                <a:cxn ang="T9">
                  <a:pos x="T2" y="T3"/>
                </a:cxn>
                <a:cxn ang="T10">
                  <a:pos x="T4" y="T5"/>
                </a:cxn>
                <a:cxn ang="T11">
                  <a:pos x="T6" y="T7"/>
                </a:cxn>
              </a:cxnLst>
              <a:rect l="T12" t="T13" r="T14" b="T15"/>
              <a:pathLst>
                <a:path w="44" h="1">
                  <a:moveTo>
                    <a:pt x="0" y="0"/>
                  </a:moveTo>
                  <a:lnTo>
                    <a:pt x="4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6" name="Line 4408"/>
            <p:cNvSpPr>
              <a:spLocks noChangeShapeType="1"/>
            </p:cNvSpPr>
            <p:nvPr/>
          </p:nvSpPr>
          <p:spPr bwMode="auto">
            <a:xfrm>
              <a:off x="1286" y="2669"/>
              <a:ext cx="4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7" name="Freeform 4409"/>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w 44"/>
                <a:gd name="T9" fmla="*/ 0 h 1"/>
                <a:gd name="T10" fmla="*/ 0 w 44"/>
                <a:gd name="T11" fmla="*/ 0 h 1"/>
                <a:gd name="T12" fmla="*/ 0 60000 65536"/>
                <a:gd name="T13" fmla="*/ 0 60000 65536"/>
                <a:gd name="T14" fmla="*/ 0 60000 65536"/>
                <a:gd name="T15" fmla="*/ 0 60000 65536"/>
                <a:gd name="T16" fmla="*/ 0 60000 65536"/>
                <a:gd name="T17" fmla="*/ 0 60000 65536"/>
                <a:gd name="T18" fmla="*/ 0 w 44"/>
                <a:gd name="T19" fmla="*/ 0 h 1"/>
                <a:gd name="T20" fmla="*/ 44 w 4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4" h="1">
                  <a:moveTo>
                    <a:pt x="0" y="0"/>
                  </a:moveTo>
                  <a:lnTo>
                    <a:pt x="43"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8" name="Line 4410"/>
            <p:cNvSpPr>
              <a:spLocks noChangeShapeType="1"/>
            </p:cNvSpPr>
            <p:nvPr/>
          </p:nvSpPr>
          <p:spPr bwMode="auto">
            <a:xfrm>
              <a:off x="1249"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09" name="Freeform 4411"/>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60000 65536"/>
                <a:gd name="T9" fmla="*/ 0 60000 65536"/>
                <a:gd name="T10" fmla="*/ 0 60000 65536"/>
                <a:gd name="T11" fmla="*/ 0 60000 65536"/>
                <a:gd name="T12" fmla="*/ 0 w 38"/>
                <a:gd name="T13" fmla="*/ 0 h 1"/>
                <a:gd name="T14" fmla="*/ 38 w 38"/>
                <a:gd name="T15" fmla="*/ 1 h 1"/>
              </a:gdLst>
              <a:ahLst/>
              <a:cxnLst>
                <a:cxn ang="T8">
                  <a:pos x="T0" y="T1"/>
                </a:cxn>
                <a:cxn ang="T9">
                  <a:pos x="T2" y="T3"/>
                </a:cxn>
                <a:cxn ang="T10">
                  <a:pos x="T4" y="T5"/>
                </a:cxn>
                <a:cxn ang="T11">
                  <a:pos x="T6" y="T7"/>
                </a:cxn>
              </a:cxnLst>
              <a:rect l="T12" t="T13" r="T14" b="T15"/>
              <a:pathLst>
                <a:path w="38" h="1">
                  <a:moveTo>
                    <a:pt x="0" y="0"/>
                  </a:moveTo>
                  <a:lnTo>
                    <a:pt x="3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0" name="Line 4412"/>
            <p:cNvSpPr>
              <a:spLocks noChangeShapeType="1"/>
            </p:cNvSpPr>
            <p:nvPr/>
          </p:nvSpPr>
          <p:spPr bwMode="auto">
            <a:xfrm>
              <a:off x="1249"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1" name="Freeform 4413"/>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w 38"/>
                <a:gd name="T9" fmla="*/ 0 h 1"/>
                <a:gd name="T10" fmla="*/ 0 w 38"/>
                <a:gd name="T11" fmla="*/ 0 h 1"/>
                <a:gd name="T12" fmla="*/ 0 60000 65536"/>
                <a:gd name="T13" fmla="*/ 0 60000 65536"/>
                <a:gd name="T14" fmla="*/ 0 60000 65536"/>
                <a:gd name="T15" fmla="*/ 0 60000 65536"/>
                <a:gd name="T16" fmla="*/ 0 60000 65536"/>
                <a:gd name="T17" fmla="*/ 0 60000 65536"/>
                <a:gd name="T18" fmla="*/ 0 w 38"/>
                <a:gd name="T19" fmla="*/ 0 h 1"/>
                <a:gd name="T20" fmla="*/ 38 w 38"/>
                <a:gd name="T21" fmla="*/ 1 h 1"/>
              </a:gdLst>
              <a:ahLst/>
              <a:cxnLst>
                <a:cxn ang="T12">
                  <a:pos x="T0" y="T1"/>
                </a:cxn>
                <a:cxn ang="T13">
                  <a:pos x="T2" y="T3"/>
                </a:cxn>
                <a:cxn ang="T14">
                  <a:pos x="T4" y="T5"/>
                </a:cxn>
                <a:cxn ang="T15">
                  <a:pos x="T6" y="T7"/>
                </a:cxn>
                <a:cxn ang="T16">
                  <a:pos x="T8" y="T9"/>
                </a:cxn>
                <a:cxn ang="T17">
                  <a:pos x="T10" y="T11"/>
                </a:cxn>
              </a:cxnLst>
              <a:rect l="T18" t="T19" r="T20" b="T21"/>
              <a:pathLst>
                <a:path w="38" h="1">
                  <a:moveTo>
                    <a:pt x="0" y="0"/>
                  </a:moveTo>
                  <a:lnTo>
                    <a:pt x="37"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2" name="Freeform 4414"/>
            <p:cNvSpPr>
              <a:spLocks/>
            </p:cNvSpPr>
            <p:nvPr/>
          </p:nvSpPr>
          <p:spPr bwMode="auto">
            <a:xfrm>
              <a:off x="1651" y="2653"/>
              <a:ext cx="26" cy="28"/>
            </a:xfrm>
            <a:custGeom>
              <a:avLst/>
              <a:gdLst>
                <a:gd name="T0" fmla="*/ 25 w 26"/>
                <a:gd name="T1" fmla="*/ 15 h 28"/>
                <a:gd name="T2" fmla="*/ 0 w 26"/>
                <a:gd name="T3" fmla="*/ 0 h 28"/>
                <a:gd name="T4" fmla="*/ 0 w 26"/>
                <a:gd name="T5" fmla="*/ 27 h 28"/>
                <a:gd name="T6" fmla="*/ 25 w 26"/>
                <a:gd name="T7" fmla="*/ 15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5"/>
                  </a:moveTo>
                  <a:lnTo>
                    <a:pt x="0" y="0"/>
                  </a:lnTo>
                  <a:lnTo>
                    <a:pt x="0" y="27"/>
                  </a:lnTo>
                  <a:lnTo>
                    <a:pt x="25"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3" name="Freeform 4415"/>
            <p:cNvSpPr>
              <a:spLocks/>
            </p:cNvSpPr>
            <p:nvPr/>
          </p:nvSpPr>
          <p:spPr bwMode="auto">
            <a:xfrm>
              <a:off x="1651" y="2647"/>
              <a:ext cx="26" cy="28"/>
            </a:xfrm>
            <a:custGeom>
              <a:avLst/>
              <a:gdLst>
                <a:gd name="T0" fmla="*/ 25 w 26"/>
                <a:gd name="T1" fmla="*/ 27 h 28"/>
                <a:gd name="T2" fmla="*/ 25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12"/>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4" name="Freeform 4416"/>
            <p:cNvSpPr>
              <a:spLocks/>
            </p:cNvSpPr>
            <p:nvPr/>
          </p:nvSpPr>
          <p:spPr bwMode="auto">
            <a:xfrm>
              <a:off x="1663" y="2653"/>
              <a:ext cx="27" cy="28"/>
            </a:xfrm>
            <a:custGeom>
              <a:avLst/>
              <a:gdLst>
                <a:gd name="T0" fmla="*/ 0 w 27"/>
                <a:gd name="T1" fmla="*/ 27 h 28"/>
                <a:gd name="T2" fmla="*/ 0 w 27"/>
                <a:gd name="T3" fmla="*/ 27 h 28"/>
                <a:gd name="T4" fmla="*/ 26 w 27"/>
                <a:gd name="T5" fmla="*/ 0 h 28"/>
                <a:gd name="T6" fmla="*/ 0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27"/>
                  </a:moveTo>
                  <a:lnTo>
                    <a:pt x="0" y="27"/>
                  </a:lnTo>
                  <a:lnTo>
                    <a:pt x="26"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5" name="Line 4417"/>
            <p:cNvSpPr>
              <a:spLocks noChangeShapeType="1"/>
            </p:cNvSpPr>
            <p:nvPr/>
          </p:nvSpPr>
          <p:spPr bwMode="auto">
            <a:xfrm>
              <a:off x="1663" y="2661"/>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6" name="Freeform 4418"/>
            <p:cNvSpPr>
              <a:spLocks/>
            </p:cNvSpPr>
            <p:nvPr/>
          </p:nvSpPr>
          <p:spPr bwMode="auto">
            <a:xfrm>
              <a:off x="1663" y="2647"/>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7" name="Freeform 4419"/>
            <p:cNvSpPr>
              <a:spLocks/>
            </p:cNvSpPr>
            <p:nvPr/>
          </p:nvSpPr>
          <p:spPr bwMode="auto">
            <a:xfrm>
              <a:off x="1663" y="2647"/>
              <a:ext cx="27" cy="28"/>
            </a:xfrm>
            <a:custGeom>
              <a:avLst/>
              <a:gdLst>
                <a:gd name="T0" fmla="*/ 26 w 27"/>
                <a:gd name="T1" fmla="*/ 27 h 28"/>
                <a:gd name="T2" fmla="*/ 26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0"/>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8" name="Freeform 4420"/>
            <p:cNvSpPr>
              <a:spLocks/>
            </p:cNvSpPr>
            <p:nvPr/>
          </p:nvSpPr>
          <p:spPr bwMode="auto">
            <a:xfrm>
              <a:off x="1676"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19" name="Line 4421"/>
            <p:cNvSpPr>
              <a:spLocks noChangeShapeType="1"/>
            </p:cNvSpPr>
            <p:nvPr/>
          </p:nvSpPr>
          <p:spPr bwMode="auto">
            <a:xfrm>
              <a:off x="1676" y="266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0" name="Freeform 4422"/>
            <p:cNvSpPr>
              <a:spLocks/>
            </p:cNvSpPr>
            <p:nvPr/>
          </p:nvSpPr>
          <p:spPr bwMode="auto">
            <a:xfrm>
              <a:off x="1676" y="2647"/>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1" name="Freeform 4423"/>
            <p:cNvSpPr>
              <a:spLocks/>
            </p:cNvSpPr>
            <p:nvPr/>
          </p:nvSpPr>
          <p:spPr bwMode="auto">
            <a:xfrm>
              <a:off x="1676" y="2647"/>
              <a:ext cx="26" cy="28"/>
            </a:xfrm>
            <a:custGeom>
              <a:avLst/>
              <a:gdLst>
                <a:gd name="T0" fmla="*/ 25 w 26"/>
                <a:gd name="T1" fmla="*/ 27 h 28"/>
                <a:gd name="T2" fmla="*/ 25 w 26"/>
                <a:gd name="T3" fmla="*/ 0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0"/>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2" name="Freeform 4424"/>
            <p:cNvSpPr>
              <a:spLocks/>
            </p:cNvSpPr>
            <p:nvPr/>
          </p:nvSpPr>
          <p:spPr bwMode="auto">
            <a:xfrm>
              <a:off x="1689"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3" name="Line 4425"/>
            <p:cNvSpPr>
              <a:spLocks noChangeShapeType="1"/>
            </p:cNvSpPr>
            <p:nvPr/>
          </p:nvSpPr>
          <p:spPr bwMode="auto">
            <a:xfrm>
              <a:off x="1689" y="2661"/>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4" name="Freeform 4426"/>
            <p:cNvSpPr>
              <a:spLocks/>
            </p:cNvSpPr>
            <p:nvPr/>
          </p:nvSpPr>
          <p:spPr bwMode="auto">
            <a:xfrm>
              <a:off x="1689" y="2647"/>
              <a:ext cx="24" cy="28"/>
            </a:xfrm>
            <a:custGeom>
              <a:avLst/>
              <a:gdLst>
                <a:gd name="T0" fmla="*/ 23 w 24"/>
                <a:gd name="T1" fmla="*/ 12 h 28"/>
                <a:gd name="T2" fmla="*/ 0 w 24"/>
                <a:gd name="T3" fmla="*/ 0 h 28"/>
                <a:gd name="T4" fmla="*/ 0 w 24"/>
                <a:gd name="T5" fmla="*/ 27 h 28"/>
                <a:gd name="T6" fmla="*/ 23 w 24"/>
                <a:gd name="T7" fmla="*/ 12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2"/>
                  </a:moveTo>
                  <a:lnTo>
                    <a:pt x="0" y="0"/>
                  </a:lnTo>
                  <a:lnTo>
                    <a:pt x="0" y="27"/>
                  </a:lnTo>
                  <a:lnTo>
                    <a:pt x="23"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5" name="Freeform 4427"/>
            <p:cNvSpPr>
              <a:spLocks/>
            </p:cNvSpPr>
            <p:nvPr/>
          </p:nvSpPr>
          <p:spPr bwMode="auto">
            <a:xfrm>
              <a:off x="1689" y="2640"/>
              <a:ext cx="24" cy="28"/>
            </a:xfrm>
            <a:custGeom>
              <a:avLst/>
              <a:gdLst>
                <a:gd name="T0" fmla="*/ 23 w 24"/>
                <a:gd name="T1" fmla="*/ 27 h 28"/>
                <a:gd name="T2" fmla="*/ 23 w 24"/>
                <a:gd name="T3" fmla="*/ 0 h 28"/>
                <a:gd name="T4" fmla="*/ 0 w 24"/>
                <a:gd name="T5" fmla="*/ 13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13"/>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6" name="Freeform 4428"/>
            <p:cNvSpPr>
              <a:spLocks/>
            </p:cNvSpPr>
            <p:nvPr/>
          </p:nvSpPr>
          <p:spPr bwMode="auto">
            <a:xfrm>
              <a:off x="1701"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7" name="Line 4429"/>
            <p:cNvSpPr>
              <a:spLocks noChangeShapeType="1"/>
            </p:cNvSpPr>
            <p:nvPr/>
          </p:nvSpPr>
          <p:spPr bwMode="auto">
            <a:xfrm>
              <a:off x="1701" y="2653"/>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8" name="Freeform 4430"/>
            <p:cNvSpPr>
              <a:spLocks/>
            </p:cNvSpPr>
            <p:nvPr/>
          </p:nvSpPr>
          <p:spPr bwMode="auto">
            <a:xfrm>
              <a:off x="1701" y="2640"/>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29" name="Freeform 4431"/>
            <p:cNvSpPr>
              <a:spLocks/>
            </p:cNvSpPr>
            <p:nvPr/>
          </p:nvSpPr>
          <p:spPr bwMode="auto">
            <a:xfrm>
              <a:off x="1701" y="2640"/>
              <a:ext cx="27" cy="28"/>
            </a:xfrm>
            <a:custGeom>
              <a:avLst/>
              <a:gdLst>
                <a:gd name="T0" fmla="*/ 26 w 27"/>
                <a:gd name="T1" fmla="*/ 27 h 28"/>
                <a:gd name="T2" fmla="*/ 11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1" y="0"/>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0" name="Freeform 4432"/>
            <p:cNvSpPr>
              <a:spLocks/>
            </p:cNvSpPr>
            <p:nvPr/>
          </p:nvSpPr>
          <p:spPr bwMode="auto">
            <a:xfrm>
              <a:off x="1712"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1" name="Line 4433"/>
            <p:cNvSpPr>
              <a:spLocks noChangeShapeType="1"/>
            </p:cNvSpPr>
            <p:nvPr/>
          </p:nvSpPr>
          <p:spPr bwMode="auto">
            <a:xfrm>
              <a:off x="1712" y="265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2" name="Freeform 4434"/>
            <p:cNvSpPr>
              <a:spLocks/>
            </p:cNvSpPr>
            <p:nvPr/>
          </p:nvSpPr>
          <p:spPr bwMode="auto">
            <a:xfrm>
              <a:off x="1705" y="2640"/>
              <a:ext cx="25" cy="28"/>
            </a:xfrm>
            <a:custGeom>
              <a:avLst/>
              <a:gdLst>
                <a:gd name="T0" fmla="*/ 24 w 25"/>
                <a:gd name="T1" fmla="*/ 13 h 28"/>
                <a:gd name="T2" fmla="*/ 0 w 25"/>
                <a:gd name="T3" fmla="*/ 0 h 28"/>
                <a:gd name="T4" fmla="*/ 9 w 25"/>
                <a:gd name="T5" fmla="*/ 27 h 28"/>
                <a:gd name="T6" fmla="*/ 24 w 25"/>
                <a:gd name="T7" fmla="*/ 13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13"/>
                  </a:moveTo>
                  <a:lnTo>
                    <a:pt x="0" y="0"/>
                  </a:lnTo>
                  <a:lnTo>
                    <a:pt x="9" y="27"/>
                  </a:lnTo>
                  <a:lnTo>
                    <a:pt x="24"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3" name="Freeform 4435"/>
            <p:cNvSpPr>
              <a:spLocks/>
            </p:cNvSpPr>
            <p:nvPr/>
          </p:nvSpPr>
          <p:spPr bwMode="auto">
            <a:xfrm>
              <a:off x="1705" y="2632"/>
              <a:ext cx="25" cy="27"/>
            </a:xfrm>
            <a:custGeom>
              <a:avLst/>
              <a:gdLst>
                <a:gd name="T0" fmla="*/ 24 w 25"/>
                <a:gd name="T1" fmla="*/ 26 h 27"/>
                <a:gd name="T2" fmla="*/ 16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6" y="0"/>
                  </a:lnTo>
                  <a:lnTo>
                    <a:pt x="0" y="14"/>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4" name="Freeform 4436"/>
            <p:cNvSpPr>
              <a:spLocks/>
            </p:cNvSpPr>
            <p:nvPr/>
          </p:nvSpPr>
          <p:spPr bwMode="auto">
            <a:xfrm>
              <a:off x="1722" y="2640"/>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5" name="Line 4437"/>
            <p:cNvSpPr>
              <a:spLocks noChangeShapeType="1"/>
            </p:cNvSpPr>
            <p:nvPr/>
          </p:nvSpPr>
          <p:spPr bwMode="auto">
            <a:xfrm>
              <a:off x="1722" y="264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6" name="Freeform 4438"/>
            <p:cNvSpPr>
              <a:spLocks/>
            </p:cNvSpPr>
            <p:nvPr/>
          </p:nvSpPr>
          <p:spPr bwMode="auto">
            <a:xfrm>
              <a:off x="1718" y="2632"/>
              <a:ext cx="27" cy="27"/>
            </a:xfrm>
            <a:custGeom>
              <a:avLst/>
              <a:gdLst>
                <a:gd name="T0" fmla="*/ 26 w 27"/>
                <a:gd name="T1" fmla="*/ 14 h 27"/>
                <a:gd name="T2" fmla="*/ 0 w 27"/>
                <a:gd name="T3" fmla="*/ 0 h 27"/>
                <a:gd name="T4" fmla="*/ 8 w 27"/>
                <a:gd name="T5" fmla="*/ 26 h 27"/>
                <a:gd name="T6" fmla="*/ 26 w 27"/>
                <a:gd name="T7" fmla="*/ 14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4"/>
                  </a:moveTo>
                  <a:lnTo>
                    <a:pt x="0" y="0"/>
                  </a:lnTo>
                  <a:lnTo>
                    <a:pt x="8" y="26"/>
                  </a:lnTo>
                  <a:lnTo>
                    <a:pt x="26"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7" name="Freeform 4439"/>
            <p:cNvSpPr>
              <a:spLocks/>
            </p:cNvSpPr>
            <p:nvPr/>
          </p:nvSpPr>
          <p:spPr bwMode="auto">
            <a:xfrm>
              <a:off x="1718" y="2632"/>
              <a:ext cx="27" cy="27"/>
            </a:xfrm>
            <a:custGeom>
              <a:avLst/>
              <a:gdLst>
                <a:gd name="T0" fmla="*/ 26 w 27"/>
                <a:gd name="T1" fmla="*/ 26 h 27"/>
                <a:gd name="T2" fmla="*/ 18 w 27"/>
                <a:gd name="T3" fmla="*/ 0 h 27"/>
                <a:gd name="T4" fmla="*/ 0 w 27"/>
                <a:gd name="T5" fmla="*/ 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0"/>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8" name="Freeform 4440"/>
            <p:cNvSpPr>
              <a:spLocks/>
            </p:cNvSpPr>
            <p:nvPr/>
          </p:nvSpPr>
          <p:spPr bwMode="auto">
            <a:xfrm>
              <a:off x="1736" y="263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39" name="Line 4441"/>
            <p:cNvSpPr>
              <a:spLocks noChangeShapeType="1"/>
            </p:cNvSpPr>
            <p:nvPr/>
          </p:nvSpPr>
          <p:spPr bwMode="auto">
            <a:xfrm>
              <a:off x="1736" y="2640"/>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0" name="Freeform 4442"/>
            <p:cNvSpPr>
              <a:spLocks/>
            </p:cNvSpPr>
            <p:nvPr/>
          </p:nvSpPr>
          <p:spPr bwMode="auto">
            <a:xfrm>
              <a:off x="1731" y="2632"/>
              <a:ext cx="26" cy="27"/>
            </a:xfrm>
            <a:custGeom>
              <a:avLst/>
              <a:gdLst>
                <a:gd name="T0" fmla="*/ 25 w 26"/>
                <a:gd name="T1" fmla="*/ 26 h 27"/>
                <a:gd name="T2" fmla="*/ 0 w 26"/>
                <a:gd name="T3" fmla="*/ 0 h 27"/>
                <a:gd name="T4" fmla="*/ 7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0" y="0"/>
                  </a:lnTo>
                  <a:lnTo>
                    <a:pt x="7" y="26"/>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1" name="Freeform 4443"/>
            <p:cNvSpPr>
              <a:spLocks/>
            </p:cNvSpPr>
            <p:nvPr/>
          </p:nvSpPr>
          <p:spPr bwMode="auto">
            <a:xfrm>
              <a:off x="1731" y="2626"/>
              <a:ext cx="26" cy="27"/>
            </a:xfrm>
            <a:custGeom>
              <a:avLst/>
              <a:gdLst>
                <a:gd name="T0" fmla="*/ 25 w 26"/>
                <a:gd name="T1" fmla="*/ 26 h 27"/>
                <a:gd name="T2" fmla="*/ 15 w 26"/>
                <a:gd name="T3" fmla="*/ 0 h 27"/>
                <a:gd name="T4" fmla="*/ 0 w 26"/>
                <a:gd name="T5" fmla="*/ 11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11"/>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2" name="Freeform 4444"/>
            <p:cNvSpPr>
              <a:spLocks/>
            </p:cNvSpPr>
            <p:nvPr/>
          </p:nvSpPr>
          <p:spPr bwMode="auto">
            <a:xfrm>
              <a:off x="1750"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3" name="Line 4445"/>
            <p:cNvSpPr>
              <a:spLocks noChangeShapeType="1"/>
            </p:cNvSpPr>
            <p:nvPr/>
          </p:nvSpPr>
          <p:spPr bwMode="auto">
            <a:xfrm>
              <a:off x="1750" y="2640"/>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4" name="Freeform 4446"/>
            <p:cNvSpPr>
              <a:spLocks/>
            </p:cNvSpPr>
            <p:nvPr/>
          </p:nvSpPr>
          <p:spPr bwMode="auto">
            <a:xfrm>
              <a:off x="1742" y="2626"/>
              <a:ext cx="26" cy="27"/>
            </a:xfrm>
            <a:custGeom>
              <a:avLst/>
              <a:gdLst>
                <a:gd name="T0" fmla="*/ 25 w 26"/>
                <a:gd name="T1" fmla="*/ 11 h 27"/>
                <a:gd name="T2" fmla="*/ 0 w 26"/>
                <a:gd name="T3" fmla="*/ 0 h 27"/>
                <a:gd name="T4" fmla="*/ 9 w 26"/>
                <a:gd name="T5" fmla="*/ 26 h 27"/>
                <a:gd name="T6" fmla="*/ 25 w 26"/>
                <a:gd name="T7" fmla="*/ 11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1"/>
                  </a:moveTo>
                  <a:lnTo>
                    <a:pt x="0" y="0"/>
                  </a:lnTo>
                  <a:lnTo>
                    <a:pt x="9" y="26"/>
                  </a:lnTo>
                  <a:lnTo>
                    <a:pt x="25"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5" name="Freeform 4447"/>
            <p:cNvSpPr>
              <a:spLocks/>
            </p:cNvSpPr>
            <p:nvPr/>
          </p:nvSpPr>
          <p:spPr bwMode="auto">
            <a:xfrm>
              <a:off x="1742" y="2619"/>
              <a:ext cx="26" cy="27"/>
            </a:xfrm>
            <a:custGeom>
              <a:avLst/>
              <a:gdLst>
                <a:gd name="T0" fmla="*/ 25 w 26"/>
                <a:gd name="T1" fmla="*/ 26 h 27"/>
                <a:gd name="T2" fmla="*/ 17 w 26"/>
                <a:gd name="T3" fmla="*/ 0 h 27"/>
                <a:gd name="T4" fmla="*/ 0 w 26"/>
                <a:gd name="T5" fmla="*/ 13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7" y="0"/>
                  </a:lnTo>
                  <a:lnTo>
                    <a:pt x="0" y="13"/>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6" name="Freeform 4448"/>
            <p:cNvSpPr>
              <a:spLocks/>
            </p:cNvSpPr>
            <p:nvPr/>
          </p:nvSpPr>
          <p:spPr bwMode="auto">
            <a:xfrm>
              <a:off x="1759"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7" name="Line 4449"/>
            <p:cNvSpPr>
              <a:spLocks noChangeShapeType="1"/>
            </p:cNvSpPr>
            <p:nvPr/>
          </p:nvSpPr>
          <p:spPr bwMode="auto">
            <a:xfrm>
              <a:off x="1759" y="2632"/>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8" name="Freeform 4450"/>
            <p:cNvSpPr>
              <a:spLocks/>
            </p:cNvSpPr>
            <p:nvPr/>
          </p:nvSpPr>
          <p:spPr bwMode="auto">
            <a:xfrm>
              <a:off x="1754" y="2619"/>
              <a:ext cx="27" cy="27"/>
            </a:xfrm>
            <a:custGeom>
              <a:avLst/>
              <a:gdLst>
                <a:gd name="T0" fmla="*/ 26 w 27"/>
                <a:gd name="T1" fmla="*/ 13 h 27"/>
                <a:gd name="T2" fmla="*/ 0 w 27"/>
                <a:gd name="T3" fmla="*/ 0 h 27"/>
                <a:gd name="T4" fmla="*/ 8 w 27"/>
                <a:gd name="T5" fmla="*/ 26 h 27"/>
                <a:gd name="T6" fmla="*/ 26 w 27"/>
                <a:gd name="T7" fmla="*/ 13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3"/>
                  </a:moveTo>
                  <a:lnTo>
                    <a:pt x="0" y="0"/>
                  </a:lnTo>
                  <a:lnTo>
                    <a:pt x="8" y="26"/>
                  </a:lnTo>
                  <a:lnTo>
                    <a:pt x="26"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49" name="Freeform 4451"/>
            <p:cNvSpPr>
              <a:spLocks/>
            </p:cNvSpPr>
            <p:nvPr/>
          </p:nvSpPr>
          <p:spPr bwMode="auto">
            <a:xfrm>
              <a:off x="1754" y="2611"/>
              <a:ext cx="27" cy="27"/>
            </a:xfrm>
            <a:custGeom>
              <a:avLst/>
              <a:gdLst>
                <a:gd name="T0" fmla="*/ 26 w 27"/>
                <a:gd name="T1" fmla="*/ 26 h 27"/>
                <a:gd name="T2" fmla="*/ 18 w 27"/>
                <a:gd name="T3" fmla="*/ 0 h 27"/>
                <a:gd name="T4" fmla="*/ 0 w 27"/>
                <a:gd name="T5" fmla="*/ 14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14"/>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0" name="Freeform 4452"/>
            <p:cNvSpPr>
              <a:spLocks/>
            </p:cNvSpPr>
            <p:nvPr/>
          </p:nvSpPr>
          <p:spPr bwMode="auto">
            <a:xfrm>
              <a:off x="1774" y="2619"/>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1" name="Line 4453"/>
            <p:cNvSpPr>
              <a:spLocks noChangeShapeType="1"/>
            </p:cNvSpPr>
            <p:nvPr/>
          </p:nvSpPr>
          <p:spPr bwMode="auto">
            <a:xfrm>
              <a:off x="1774" y="2626"/>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2" name="Freeform 4454"/>
            <p:cNvSpPr>
              <a:spLocks/>
            </p:cNvSpPr>
            <p:nvPr/>
          </p:nvSpPr>
          <p:spPr bwMode="auto">
            <a:xfrm>
              <a:off x="1767" y="2611"/>
              <a:ext cx="26" cy="27"/>
            </a:xfrm>
            <a:custGeom>
              <a:avLst/>
              <a:gdLst>
                <a:gd name="T0" fmla="*/ 25 w 26"/>
                <a:gd name="T1" fmla="*/ 14 h 27"/>
                <a:gd name="T2" fmla="*/ 0 w 26"/>
                <a:gd name="T3" fmla="*/ 0 h 27"/>
                <a:gd name="T4" fmla="*/ 7 w 26"/>
                <a:gd name="T5" fmla="*/ 26 h 27"/>
                <a:gd name="T6" fmla="*/ 25 w 26"/>
                <a:gd name="T7" fmla="*/ 14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4"/>
                  </a:moveTo>
                  <a:lnTo>
                    <a:pt x="0" y="0"/>
                  </a:lnTo>
                  <a:lnTo>
                    <a:pt x="7" y="26"/>
                  </a:lnTo>
                  <a:lnTo>
                    <a:pt x="25"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3" name="Freeform 4455"/>
            <p:cNvSpPr>
              <a:spLocks/>
            </p:cNvSpPr>
            <p:nvPr/>
          </p:nvSpPr>
          <p:spPr bwMode="auto">
            <a:xfrm>
              <a:off x="1767" y="2604"/>
              <a:ext cx="26" cy="28"/>
            </a:xfrm>
            <a:custGeom>
              <a:avLst/>
              <a:gdLst>
                <a:gd name="T0" fmla="*/ 25 w 26"/>
                <a:gd name="T1" fmla="*/ 27 h 28"/>
                <a:gd name="T2" fmla="*/ 17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17" y="0"/>
                  </a:lnTo>
                  <a:lnTo>
                    <a:pt x="0" y="12"/>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4" name="Freeform 4456"/>
            <p:cNvSpPr>
              <a:spLocks/>
            </p:cNvSpPr>
            <p:nvPr/>
          </p:nvSpPr>
          <p:spPr bwMode="auto">
            <a:xfrm>
              <a:off x="1785" y="2604"/>
              <a:ext cx="1" cy="28"/>
            </a:xfrm>
            <a:custGeom>
              <a:avLst/>
              <a:gdLst>
                <a:gd name="T0" fmla="*/ 0 w 1"/>
                <a:gd name="T1" fmla="*/ 12 h 28"/>
                <a:gd name="T2" fmla="*/ 0 w 1"/>
                <a:gd name="T3" fmla="*/ 27 h 28"/>
                <a:gd name="T4" fmla="*/ 0 w 1"/>
                <a:gd name="T5" fmla="*/ 0 h 28"/>
                <a:gd name="T6" fmla="*/ 0 w 1"/>
                <a:gd name="T7" fmla="*/ 12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12"/>
                  </a:moveTo>
                  <a:lnTo>
                    <a:pt x="0" y="27"/>
                  </a:lnTo>
                  <a:lnTo>
                    <a:pt x="0" y="0"/>
                  </a:lnTo>
                  <a:lnTo>
                    <a:pt x="0"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5" name="Freeform 4457"/>
            <p:cNvSpPr>
              <a:spLocks/>
            </p:cNvSpPr>
            <p:nvPr/>
          </p:nvSpPr>
          <p:spPr bwMode="auto">
            <a:xfrm>
              <a:off x="1785" y="2611"/>
              <a:ext cx="1" cy="27"/>
            </a:xfrm>
            <a:custGeom>
              <a:avLst/>
              <a:gdLst>
                <a:gd name="T0" fmla="*/ 0 w 1"/>
                <a:gd name="T1" fmla="*/ 0 h 27"/>
                <a:gd name="T2" fmla="*/ 0 w 1"/>
                <a:gd name="T3" fmla="*/ 26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6" name="Freeform 4458"/>
            <p:cNvSpPr>
              <a:spLocks/>
            </p:cNvSpPr>
            <p:nvPr/>
          </p:nvSpPr>
          <p:spPr bwMode="auto">
            <a:xfrm>
              <a:off x="1781" y="2604"/>
              <a:ext cx="26" cy="28"/>
            </a:xfrm>
            <a:custGeom>
              <a:avLst/>
              <a:gdLst>
                <a:gd name="T0" fmla="*/ 25 w 26"/>
                <a:gd name="T1" fmla="*/ 0 h 28"/>
                <a:gd name="T2" fmla="*/ 0 w 26"/>
                <a:gd name="T3" fmla="*/ 0 h 28"/>
                <a:gd name="T4" fmla="*/ 7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7"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7" name="Freeform 4459"/>
            <p:cNvSpPr>
              <a:spLocks/>
            </p:cNvSpPr>
            <p:nvPr/>
          </p:nvSpPr>
          <p:spPr bwMode="auto">
            <a:xfrm>
              <a:off x="1781" y="2598"/>
              <a:ext cx="26" cy="27"/>
            </a:xfrm>
            <a:custGeom>
              <a:avLst/>
              <a:gdLst>
                <a:gd name="T0" fmla="*/ 25 w 26"/>
                <a:gd name="T1" fmla="*/ 26 h 27"/>
                <a:gd name="T2" fmla="*/ 15 w 26"/>
                <a:gd name="T3" fmla="*/ 0 h 27"/>
                <a:gd name="T4" fmla="*/ 0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26"/>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8" name="Freeform 4460"/>
            <p:cNvSpPr>
              <a:spLocks/>
            </p:cNvSpPr>
            <p:nvPr/>
          </p:nvSpPr>
          <p:spPr bwMode="auto">
            <a:xfrm>
              <a:off x="1797" y="25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59" name="Line 4461"/>
            <p:cNvSpPr>
              <a:spLocks noChangeShapeType="1"/>
            </p:cNvSpPr>
            <p:nvPr/>
          </p:nvSpPr>
          <p:spPr bwMode="auto">
            <a:xfrm>
              <a:off x="1797" y="2604"/>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0" name="Freeform 4462"/>
            <p:cNvSpPr>
              <a:spLocks/>
            </p:cNvSpPr>
            <p:nvPr/>
          </p:nvSpPr>
          <p:spPr bwMode="auto">
            <a:xfrm>
              <a:off x="1792" y="2598"/>
              <a:ext cx="24" cy="27"/>
            </a:xfrm>
            <a:custGeom>
              <a:avLst/>
              <a:gdLst>
                <a:gd name="T0" fmla="*/ 23 w 24"/>
                <a:gd name="T1" fmla="*/ 0 h 27"/>
                <a:gd name="T2" fmla="*/ 0 w 24"/>
                <a:gd name="T3" fmla="*/ 0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0"/>
                  </a:lnTo>
                  <a:lnTo>
                    <a:pt x="8"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1" name="Freeform 4463"/>
            <p:cNvSpPr>
              <a:spLocks/>
            </p:cNvSpPr>
            <p:nvPr/>
          </p:nvSpPr>
          <p:spPr bwMode="auto">
            <a:xfrm>
              <a:off x="1792" y="2584"/>
              <a:ext cx="24" cy="26"/>
            </a:xfrm>
            <a:custGeom>
              <a:avLst/>
              <a:gdLst>
                <a:gd name="T0" fmla="*/ 23 w 24"/>
                <a:gd name="T1" fmla="*/ 25 h 26"/>
                <a:gd name="T2" fmla="*/ 8 w 24"/>
                <a:gd name="T3" fmla="*/ 0 h 26"/>
                <a:gd name="T4" fmla="*/ 0 w 24"/>
                <a:gd name="T5" fmla="*/ 25 h 26"/>
                <a:gd name="T6" fmla="*/ 23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25"/>
                  </a:moveTo>
                  <a:lnTo>
                    <a:pt x="8" y="0"/>
                  </a:lnTo>
                  <a:lnTo>
                    <a:pt x="0" y="25"/>
                  </a:lnTo>
                  <a:lnTo>
                    <a:pt x="23"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2" name="Freeform 4464"/>
            <p:cNvSpPr>
              <a:spLocks/>
            </p:cNvSpPr>
            <p:nvPr/>
          </p:nvSpPr>
          <p:spPr bwMode="auto">
            <a:xfrm>
              <a:off x="1805" y="2589"/>
              <a:ext cx="26" cy="28"/>
            </a:xfrm>
            <a:custGeom>
              <a:avLst/>
              <a:gdLst>
                <a:gd name="T0" fmla="*/ 25 w 26"/>
                <a:gd name="T1" fmla="*/ 27 h 28"/>
                <a:gd name="T2" fmla="*/ 25 w 26"/>
                <a:gd name="T3" fmla="*/ 27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27"/>
                  </a:lnTo>
                  <a:lnTo>
                    <a:pt x="0" y="0"/>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3" name="Line 4465"/>
            <p:cNvSpPr>
              <a:spLocks noChangeShapeType="1"/>
            </p:cNvSpPr>
            <p:nvPr/>
          </p:nvSpPr>
          <p:spPr bwMode="auto">
            <a:xfrm>
              <a:off x="1809" y="2598"/>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4" name="Freeform 4466"/>
            <p:cNvSpPr>
              <a:spLocks/>
            </p:cNvSpPr>
            <p:nvPr/>
          </p:nvSpPr>
          <p:spPr bwMode="auto">
            <a:xfrm>
              <a:off x="1797" y="2584"/>
              <a:ext cx="27" cy="26"/>
            </a:xfrm>
            <a:custGeom>
              <a:avLst/>
              <a:gdLst>
                <a:gd name="T0" fmla="*/ 26 w 27"/>
                <a:gd name="T1" fmla="*/ 0 h 26"/>
                <a:gd name="T2" fmla="*/ 0 w 27"/>
                <a:gd name="T3" fmla="*/ 0 h 26"/>
                <a:gd name="T4" fmla="*/ 12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0"/>
                  </a:lnTo>
                  <a:lnTo>
                    <a:pt x="12" y="2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5" name="Freeform 4467"/>
            <p:cNvSpPr>
              <a:spLocks/>
            </p:cNvSpPr>
            <p:nvPr/>
          </p:nvSpPr>
          <p:spPr bwMode="auto">
            <a:xfrm>
              <a:off x="1797" y="2576"/>
              <a:ext cx="27" cy="28"/>
            </a:xfrm>
            <a:custGeom>
              <a:avLst/>
              <a:gdLst>
                <a:gd name="T0" fmla="*/ 26 w 27"/>
                <a:gd name="T1" fmla="*/ 27 h 28"/>
                <a:gd name="T2" fmla="*/ 12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2"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6" name="Freeform 4468"/>
            <p:cNvSpPr>
              <a:spLocks/>
            </p:cNvSpPr>
            <p:nvPr/>
          </p:nvSpPr>
          <p:spPr bwMode="auto">
            <a:xfrm>
              <a:off x="1815" y="2576"/>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7" name="Line 4469"/>
            <p:cNvSpPr>
              <a:spLocks noChangeShapeType="1"/>
            </p:cNvSpPr>
            <p:nvPr/>
          </p:nvSpPr>
          <p:spPr bwMode="auto">
            <a:xfrm>
              <a:off x="1823" y="2584"/>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8" name="Freeform 4470"/>
            <p:cNvSpPr>
              <a:spLocks/>
            </p:cNvSpPr>
            <p:nvPr/>
          </p:nvSpPr>
          <p:spPr bwMode="auto">
            <a:xfrm>
              <a:off x="1809" y="2568"/>
              <a:ext cx="27" cy="28"/>
            </a:xfrm>
            <a:custGeom>
              <a:avLst/>
              <a:gdLst>
                <a:gd name="T0" fmla="*/ 26 w 27"/>
                <a:gd name="T1" fmla="*/ 0 h 28"/>
                <a:gd name="T2" fmla="*/ 0 w 27"/>
                <a:gd name="T3" fmla="*/ 15 h 28"/>
                <a:gd name="T4" fmla="*/ 13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3"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69" name="Freeform 4471"/>
            <p:cNvSpPr>
              <a:spLocks/>
            </p:cNvSpPr>
            <p:nvPr/>
          </p:nvSpPr>
          <p:spPr bwMode="auto">
            <a:xfrm>
              <a:off x="1809" y="2562"/>
              <a:ext cx="27" cy="27"/>
            </a:xfrm>
            <a:custGeom>
              <a:avLst/>
              <a:gdLst>
                <a:gd name="T0" fmla="*/ 26 w 27"/>
                <a:gd name="T1" fmla="*/ 11 h 27"/>
                <a:gd name="T2" fmla="*/ 13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3" y="0"/>
                  </a:lnTo>
                  <a:lnTo>
                    <a:pt x="0" y="26"/>
                  </a:lnTo>
                  <a:lnTo>
                    <a:pt x="26"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0" name="Freeform 4472"/>
            <p:cNvSpPr>
              <a:spLocks/>
            </p:cNvSpPr>
            <p:nvPr/>
          </p:nvSpPr>
          <p:spPr bwMode="auto">
            <a:xfrm>
              <a:off x="1828" y="2562"/>
              <a:ext cx="26" cy="27"/>
            </a:xfrm>
            <a:custGeom>
              <a:avLst/>
              <a:gdLst>
                <a:gd name="T0" fmla="*/ 25 w 26"/>
                <a:gd name="T1" fmla="*/ 26 h 27"/>
                <a:gd name="T2" fmla="*/ 25 w 26"/>
                <a:gd name="T3" fmla="*/ 26 h 27"/>
                <a:gd name="T4" fmla="*/ 0 w 26"/>
                <a:gd name="T5" fmla="*/ 0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26"/>
                  </a:lnTo>
                  <a:lnTo>
                    <a:pt x="0" y="0"/>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1" name="Line 4473"/>
            <p:cNvSpPr>
              <a:spLocks noChangeShapeType="1"/>
            </p:cNvSpPr>
            <p:nvPr/>
          </p:nvSpPr>
          <p:spPr bwMode="auto">
            <a:xfrm>
              <a:off x="1835" y="25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2" name="Freeform 4474"/>
            <p:cNvSpPr>
              <a:spLocks/>
            </p:cNvSpPr>
            <p:nvPr/>
          </p:nvSpPr>
          <p:spPr bwMode="auto">
            <a:xfrm>
              <a:off x="1823" y="2556"/>
              <a:ext cx="25" cy="26"/>
            </a:xfrm>
            <a:custGeom>
              <a:avLst/>
              <a:gdLst>
                <a:gd name="T0" fmla="*/ 24 w 25"/>
                <a:gd name="T1" fmla="*/ 0 h 26"/>
                <a:gd name="T2" fmla="*/ 0 w 25"/>
                <a:gd name="T3" fmla="*/ 12 h 26"/>
                <a:gd name="T4" fmla="*/ 12 w 25"/>
                <a:gd name="T5" fmla="*/ 25 h 26"/>
                <a:gd name="T6" fmla="*/ 24 w 25"/>
                <a:gd name="T7" fmla="*/ 0 h 26"/>
                <a:gd name="T8" fmla="*/ 0 60000 65536"/>
                <a:gd name="T9" fmla="*/ 0 60000 65536"/>
                <a:gd name="T10" fmla="*/ 0 60000 65536"/>
                <a:gd name="T11" fmla="*/ 0 60000 65536"/>
                <a:gd name="T12" fmla="*/ 0 w 25"/>
                <a:gd name="T13" fmla="*/ 0 h 26"/>
                <a:gd name="T14" fmla="*/ 25 w 25"/>
                <a:gd name="T15" fmla="*/ 26 h 26"/>
              </a:gdLst>
              <a:ahLst/>
              <a:cxnLst>
                <a:cxn ang="T8">
                  <a:pos x="T0" y="T1"/>
                </a:cxn>
                <a:cxn ang="T9">
                  <a:pos x="T2" y="T3"/>
                </a:cxn>
                <a:cxn ang="T10">
                  <a:pos x="T4" y="T5"/>
                </a:cxn>
                <a:cxn ang="T11">
                  <a:pos x="T6" y="T7"/>
                </a:cxn>
              </a:cxnLst>
              <a:rect l="T12" t="T13" r="T14" b="T15"/>
              <a:pathLst>
                <a:path w="25" h="26">
                  <a:moveTo>
                    <a:pt x="24" y="0"/>
                  </a:moveTo>
                  <a:lnTo>
                    <a:pt x="0" y="12"/>
                  </a:lnTo>
                  <a:lnTo>
                    <a:pt x="12" y="25"/>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3" name="Freeform 4475"/>
            <p:cNvSpPr>
              <a:spLocks/>
            </p:cNvSpPr>
            <p:nvPr/>
          </p:nvSpPr>
          <p:spPr bwMode="auto">
            <a:xfrm>
              <a:off x="1823" y="2547"/>
              <a:ext cx="25" cy="27"/>
            </a:xfrm>
            <a:custGeom>
              <a:avLst/>
              <a:gdLst>
                <a:gd name="T0" fmla="*/ 24 w 25"/>
                <a:gd name="T1" fmla="*/ 14 h 27"/>
                <a:gd name="T2" fmla="*/ 12 w 25"/>
                <a:gd name="T3" fmla="*/ 0 h 27"/>
                <a:gd name="T4" fmla="*/ 0 w 25"/>
                <a:gd name="T5" fmla="*/ 26 h 27"/>
                <a:gd name="T6" fmla="*/ 24 w 25"/>
                <a:gd name="T7" fmla="*/ 14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14"/>
                  </a:moveTo>
                  <a:lnTo>
                    <a:pt x="12" y="0"/>
                  </a:lnTo>
                  <a:lnTo>
                    <a:pt x="0" y="26"/>
                  </a:lnTo>
                  <a:lnTo>
                    <a:pt x="24"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4" name="Freeform 4476"/>
            <p:cNvSpPr>
              <a:spLocks/>
            </p:cNvSpPr>
            <p:nvPr/>
          </p:nvSpPr>
          <p:spPr bwMode="auto">
            <a:xfrm>
              <a:off x="1842" y="2547"/>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5" name="Line 4477"/>
            <p:cNvSpPr>
              <a:spLocks noChangeShapeType="1"/>
            </p:cNvSpPr>
            <p:nvPr/>
          </p:nvSpPr>
          <p:spPr bwMode="auto">
            <a:xfrm>
              <a:off x="1846" y="2556"/>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6" name="Freeform 4478"/>
            <p:cNvSpPr>
              <a:spLocks/>
            </p:cNvSpPr>
            <p:nvPr/>
          </p:nvSpPr>
          <p:spPr bwMode="auto">
            <a:xfrm>
              <a:off x="1835" y="2541"/>
              <a:ext cx="27" cy="27"/>
            </a:xfrm>
            <a:custGeom>
              <a:avLst/>
              <a:gdLst>
                <a:gd name="T0" fmla="*/ 26 w 27"/>
                <a:gd name="T1" fmla="*/ 0 h 27"/>
                <a:gd name="T2" fmla="*/ 0 w 27"/>
                <a:gd name="T3" fmla="*/ 11 h 27"/>
                <a:gd name="T4" fmla="*/ 12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0" y="11"/>
                  </a:lnTo>
                  <a:lnTo>
                    <a:pt x="12" y="26"/>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7" name="Freeform 4479"/>
            <p:cNvSpPr>
              <a:spLocks/>
            </p:cNvSpPr>
            <p:nvPr/>
          </p:nvSpPr>
          <p:spPr bwMode="auto">
            <a:xfrm>
              <a:off x="1835" y="2532"/>
              <a:ext cx="27" cy="28"/>
            </a:xfrm>
            <a:custGeom>
              <a:avLst/>
              <a:gdLst>
                <a:gd name="T0" fmla="*/ 26 w 27"/>
                <a:gd name="T1" fmla="*/ 15 h 28"/>
                <a:gd name="T2" fmla="*/ 12 w 27"/>
                <a:gd name="T3" fmla="*/ 0 h 28"/>
                <a:gd name="T4" fmla="*/ 0 w 27"/>
                <a:gd name="T5" fmla="*/ 27 h 28"/>
                <a:gd name="T6" fmla="*/ 26 w 27"/>
                <a:gd name="T7" fmla="*/ 15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5"/>
                  </a:moveTo>
                  <a:lnTo>
                    <a:pt x="12" y="0"/>
                  </a:lnTo>
                  <a:lnTo>
                    <a:pt x="0" y="27"/>
                  </a:lnTo>
                  <a:lnTo>
                    <a:pt x="26"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8" name="Freeform 4480"/>
            <p:cNvSpPr>
              <a:spLocks/>
            </p:cNvSpPr>
            <p:nvPr/>
          </p:nvSpPr>
          <p:spPr bwMode="auto">
            <a:xfrm>
              <a:off x="1853" y="2532"/>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79" name="Line 4481"/>
            <p:cNvSpPr>
              <a:spLocks noChangeShapeType="1"/>
            </p:cNvSpPr>
            <p:nvPr/>
          </p:nvSpPr>
          <p:spPr bwMode="auto">
            <a:xfrm>
              <a:off x="1861" y="25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0" name="Freeform 4482"/>
            <p:cNvSpPr>
              <a:spLocks/>
            </p:cNvSpPr>
            <p:nvPr/>
          </p:nvSpPr>
          <p:spPr bwMode="auto">
            <a:xfrm>
              <a:off x="1846" y="2527"/>
              <a:ext cx="27" cy="26"/>
            </a:xfrm>
            <a:custGeom>
              <a:avLst/>
              <a:gdLst>
                <a:gd name="T0" fmla="*/ 26 w 27"/>
                <a:gd name="T1" fmla="*/ 0 h 26"/>
                <a:gd name="T2" fmla="*/ 0 w 27"/>
                <a:gd name="T3" fmla="*/ 11 h 26"/>
                <a:gd name="T4" fmla="*/ 16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11"/>
                  </a:lnTo>
                  <a:lnTo>
                    <a:pt x="16" y="2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1" name="Freeform 4483"/>
            <p:cNvSpPr>
              <a:spLocks/>
            </p:cNvSpPr>
            <p:nvPr/>
          </p:nvSpPr>
          <p:spPr bwMode="auto">
            <a:xfrm>
              <a:off x="1846" y="2519"/>
              <a:ext cx="27" cy="28"/>
            </a:xfrm>
            <a:custGeom>
              <a:avLst/>
              <a:gdLst>
                <a:gd name="T0" fmla="*/ 26 w 27"/>
                <a:gd name="T1" fmla="*/ 13 h 28"/>
                <a:gd name="T2" fmla="*/ 16 w 27"/>
                <a:gd name="T3" fmla="*/ 0 h 28"/>
                <a:gd name="T4" fmla="*/ 0 w 27"/>
                <a:gd name="T5" fmla="*/ 27 h 28"/>
                <a:gd name="T6" fmla="*/ 26 w 27"/>
                <a:gd name="T7" fmla="*/ 13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3"/>
                  </a:moveTo>
                  <a:lnTo>
                    <a:pt x="16" y="0"/>
                  </a:lnTo>
                  <a:lnTo>
                    <a:pt x="0" y="27"/>
                  </a:lnTo>
                  <a:lnTo>
                    <a:pt x="26"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2" name="Freeform 4484"/>
            <p:cNvSpPr>
              <a:spLocks/>
            </p:cNvSpPr>
            <p:nvPr/>
          </p:nvSpPr>
          <p:spPr bwMode="auto">
            <a:xfrm>
              <a:off x="1868" y="251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3" name="Line 4485"/>
            <p:cNvSpPr>
              <a:spLocks noChangeShapeType="1"/>
            </p:cNvSpPr>
            <p:nvPr/>
          </p:nvSpPr>
          <p:spPr bwMode="auto">
            <a:xfrm>
              <a:off x="1868" y="252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4" name="Freeform 4486"/>
            <p:cNvSpPr>
              <a:spLocks/>
            </p:cNvSpPr>
            <p:nvPr/>
          </p:nvSpPr>
          <p:spPr bwMode="auto">
            <a:xfrm>
              <a:off x="1861" y="2505"/>
              <a:ext cx="24" cy="26"/>
            </a:xfrm>
            <a:custGeom>
              <a:avLst/>
              <a:gdLst>
                <a:gd name="T0" fmla="*/ 23 w 24"/>
                <a:gd name="T1" fmla="*/ 0 h 26"/>
                <a:gd name="T2" fmla="*/ 0 w 24"/>
                <a:gd name="T3" fmla="*/ 17 h 26"/>
                <a:gd name="T4" fmla="*/ 8 w 24"/>
                <a:gd name="T5" fmla="*/ 25 h 26"/>
                <a:gd name="T6" fmla="*/ 23 w 24"/>
                <a:gd name="T7" fmla="*/ 0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0"/>
                  </a:moveTo>
                  <a:lnTo>
                    <a:pt x="0" y="17"/>
                  </a:lnTo>
                  <a:lnTo>
                    <a:pt x="8" y="25"/>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5" name="Freeform 4487"/>
            <p:cNvSpPr>
              <a:spLocks/>
            </p:cNvSpPr>
            <p:nvPr/>
          </p:nvSpPr>
          <p:spPr bwMode="auto">
            <a:xfrm>
              <a:off x="1861" y="2498"/>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6" name="Freeform 4488"/>
            <p:cNvSpPr>
              <a:spLocks/>
            </p:cNvSpPr>
            <p:nvPr/>
          </p:nvSpPr>
          <p:spPr bwMode="auto">
            <a:xfrm>
              <a:off x="1880" y="24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7" name="Line 4489"/>
            <p:cNvSpPr>
              <a:spLocks noChangeShapeType="1"/>
            </p:cNvSpPr>
            <p:nvPr/>
          </p:nvSpPr>
          <p:spPr bwMode="auto">
            <a:xfrm>
              <a:off x="1880" y="2505"/>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8" name="Freeform 4490"/>
            <p:cNvSpPr>
              <a:spLocks/>
            </p:cNvSpPr>
            <p:nvPr/>
          </p:nvSpPr>
          <p:spPr bwMode="auto">
            <a:xfrm>
              <a:off x="1872" y="2489"/>
              <a:ext cx="28" cy="28"/>
            </a:xfrm>
            <a:custGeom>
              <a:avLst/>
              <a:gdLst>
                <a:gd name="T0" fmla="*/ 27 w 28"/>
                <a:gd name="T1" fmla="*/ 0 h 28"/>
                <a:gd name="T2" fmla="*/ 0 w 28"/>
                <a:gd name="T3" fmla="*/ 15 h 28"/>
                <a:gd name="T4" fmla="*/ 8 w 28"/>
                <a:gd name="T5" fmla="*/ 27 h 28"/>
                <a:gd name="T6" fmla="*/ 27 w 28"/>
                <a:gd name="T7" fmla="*/ 0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0"/>
                  </a:moveTo>
                  <a:lnTo>
                    <a:pt x="0" y="15"/>
                  </a:lnTo>
                  <a:lnTo>
                    <a:pt x="8" y="27"/>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89" name="Freeform 4491"/>
            <p:cNvSpPr>
              <a:spLocks/>
            </p:cNvSpPr>
            <p:nvPr/>
          </p:nvSpPr>
          <p:spPr bwMode="auto">
            <a:xfrm>
              <a:off x="1872" y="2484"/>
              <a:ext cx="28" cy="26"/>
            </a:xfrm>
            <a:custGeom>
              <a:avLst/>
              <a:gdLst>
                <a:gd name="T0" fmla="*/ 27 w 28"/>
                <a:gd name="T1" fmla="*/ 11 h 26"/>
                <a:gd name="T2" fmla="*/ 18 w 28"/>
                <a:gd name="T3" fmla="*/ 0 h 26"/>
                <a:gd name="T4" fmla="*/ 0 w 28"/>
                <a:gd name="T5" fmla="*/ 25 h 26"/>
                <a:gd name="T6" fmla="*/ 27 w 28"/>
                <a:gd name="T7" fmla="*/ 11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11"/>
                  </a:moveTo>
                  <a:lnTo>
                    <a:pt x="18" y="0"/>
                  </a:lnTo>
                  <a:lnTo>
                    <a:pt x="0" y="25"/>
                  </a:lnTo>
                  <a:lnTo>
                    <a:pt x="27"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0" name="Freeform 4492"/>
            <p:cNvSpPr>
              <a:spLocks/>
            </p:cNvSpPr>
            <p:nvPr/>
          </p:nvSpPr>
          <p:spPr bwMode="auto">
            <a:xfrm>
              <a:off x="1891" y="2484"/>
              <a:ext cx="1" cy="26"/>
            </a:xfrm>
            <a:custGeom>
              <a:avLst/>
              <a:gdLst>
                <a:gd name="T0" fmla="*/ 0 w 1"/>
                <a:gd name="T1" fmla="*/ 25 h 26"/>
                <a:gd name="T2" fmla="*/ 0 w 1"/>
                <a:gd name="T3" fmla="*/ 25 h 26"/>
                <a:gd name="T4" fmla="*/ 0 w 1"/>
                <a:gd name="T5" fmla="*/ 0 h 26"/>
                <a:gd name="T6" fmla="*/ 0 w 1"/>
                <a:gd name="T7" fmla="*/ 25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25"/>
                  </a:moveTo>
                  <a:lnTo>
                    <a:pt x="0" y="25"/>
                  </a:lnTo>
                  <a:lnTo>
                    <a:pt x="0" y="0"/>
                  </a:lnTo>
                  <a:lnTo>
                    <a:pt x="0"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1" name="Freeform 4493"/>
            <p:cNvSpPr>
              <a:spLocks/>
            </p:cNvSpPr>
            <p:nvPr/>
          </p:nvSpPr>
          <p:spPr bwMode="auto">
            <a:xfrm>
              <a:off x="1885" y="2468"/>
              <a:ext cx="25" cy="28"/>
            </a:xfrm>
            <a:custGeom>
              <a:avLst/>
              <a:gdLst>
                <a:gd name="T0" fmla="*/ 24 w 25"/>
                <a:gd name="T1" fmla="*/ 0 h 28"/>
                <a:gd name="T2" fmla="*/ 0 w 25"/>
                <a:gd name="T3" fmla="*/ 18 h 28"/>
                <a:gd name="T4" fmla="*/ 7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18"/>
                  </a:lnTo>
                  <a:lnTo>
                    <a:pt x="7" y="27"/>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2" name="Freeform 4494"/>
            <p:cNvSpPr>
              <a:spLocks/>
            </p:cNvSpPr>
            <p:nvPr/>
          </p:nvSpPr>
          <p:spPr bwMode="auto">
            <a:xfrm>
              <a:off x="1885" y="2462"/>
              <a:ext cx="25" cy="27"/>
            </a:xfrm>
            <a:custGeom>
              <a:avLst/>
              <a:gdLst>
                <a:gd name="T0" fmla="*/ 24 w 25"/>
                <a:gd name="T1" fmla="*/ 8 h 27"/>
                <a:gd name="T2" fmla="*/ 14 w 25"/>
                <a:gd name="T3" fmla="*/ 0 h 27"/>
                <a:gd name="T4" fmla="*/ 0 w 25"/>
                <a:gd name="T5" fmla="*/ 26 h 27"/>
                <a:gd name="T6" fmla="*/ 24 w 25"/>
                <a:gd name="T7" fmla="*/ 8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8"/>
                  </a:moveTo>
                  <a:lnTo>
                    <a:pt x="14" y="0"/>
                  </a:lnTo>
                  <a:lnTo>
                    <a:pt x="0" y="26"/>
                  </a:lnTo>
                  <a:lnTo>
                    <a:pt x="24"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3" name="Freeform 4495"/>
            <p:cNvSpPr>
              <a:spLocks/>
            </p:cNvSpPr>
            <p:nvPr/>
          </p:nvSpPr>
          <p:spPr bwMode="auto">
            <a:xfrm>
              <a:off x="1904" y="246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4" name="Line 4496"/>
            <p:cNvSpPr>
              <a:spLocks noChangeShapeType="1"/>
            </p:cNvSpPr>
            <p:nvPr/>
          </p:nvSpPr>
          <p:spPr bwMode="auto">
            <a:xfrm>
              <a:off x="1904" y="246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5" name="Freeform 4497"/>
            <p:cNvSpPr>
              <a:spLocks/>
            </p:cNvSpPr>
            <p:nvPr/>
          </p:nvSpPr>
          <p:spPr bwMode="auto">
            <a:xfrm>
              <a:off x="1899" y="2447"/>
              <a:ext cx="24" cy="27"/>
            </a:xfrm>
            <a:custGeom>
              <a:avLst/>
              <a:gdLst>
                <a:gd name="T0" fmla="*/ 23 w 24"/>
                <a:gd name="T1" fmla="*/ 0 h 27"/>
                <a:gd name="T2" fmla="*/ 0 w 24"/>
                <a:gd name="T3" fmla="*/ 18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8"/>
                  </a:lnTo>
                  <a:lnTo>
                    <a:pt x="8"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6" name="Freeform 4498"/>
            <p:cNvSpPr>
              <a:spLocks/>
            </p:cNvSpPr>
            <p:nvPr/>
          </p:nvSpPr>
          <p:spPr bwMode="auto">
            <a:xfrm>
              <a:off x="1899" y="2441"/>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7" name="Freeform 4499"/>
            <p:cNvSpPr>
              <a:spLocks/>
            </p:cNvSpPr>
            <p:nvPr/>
          </p:nvSpPr>
          <p:spPr bwMode="auto">
            <a:xfrm>
              <a:off x="1917" y="244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8" name="Line 4500"/>
            <p:cNvSpPr>
              <a:spLocks noChangeShapeType="1"/>
            </p:cNvSpPr>
            <p:nvPr/>
          </p:nvSpPr>
          <p:spPr bwMode="auto">
            <a:xfrm>
              <a:off x="1917" y="244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099" name="Freeform 4501"/>
            <p:cNvSpPr>
              <a:spLocks/>
            </p:cNvSpPr>
            <p:nvPr/>
          </p:nvSpPr>
          <p:spPr bwMode="auto">
            <a:xfrm>
              <a:off x="1909" y="2420"/>
              <a:ext cx="29" cy="28"/>
            </a:xfrm>
            <a:custGeom>
              <a:avLst/>
              <a:gdLst>
                <a:gd name="T0" fmla="*/ 28 w 29"/>
                <a:gd name="T1" fmla="*/ 0 h 28"/>
                <a:gd name="T2" fmla="*/ 0 w 29"/>
                <a:gd name="T3" fmla="*/ 20 h 28"/>
                <a:gd name="T4" fmla="*/ 8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0" y="20"/>
                  </a:lnTo>
                  <a:lnTo>
                    <a:pt x="8" y="27"/>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0" name="Freeform 4502"/>
            <p:cNvSpPr>
              <a:spLocks/>
            </p:cNvSpPr>
            <p:nvPr/>
          </p:nvSpPr>
          <p:spPr bwMode="auto">
            <a:xfrm>
              <a:off x="1909" y="2412"/>
              <a:ext cx="29" cy="30"/>
            </a:xfrm>
            <a:custGeom>
              <a:avLst/>
              <a:gdLst>
                <a:gd name="T0" fmla="*/ 28 w 29"/>
                <a:gd name="T1" fmla="*/ 6 h 30"/>
                <a:gd name="T2" fmla="*/ 8 w 29"/>
                <a:gd name="T3" fmla="*/ 0 h 30"/>
                <a:gd name="T4" fmla="*/ 0 w 29"/>
                <a:gd name="T5" fmla="*/ 29 h 30"/>
                <a:gd name="T6" fmla="*/ 28 w 29"/>
                <a:gd name="T7" fmla="*/ 6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28" y="6"/>
                  </a:moveTo>
                  <a:lnTo>
                    <a:pt x="8" y="0"/>
                  </a:lnTo>
                  <a:lnTo>
                    <a:pt x="0" y="29"/>
                  </a:lnTo>
                  <a:lnTo>
                    <a:pt x="28"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1" name="Freeform 4503"/>
            <p:cNvSpPr>
              <a:spLocks/>
            </p:cNvSpPr>
            <p:nvPr/>
          </p:nvSpPr>
          <p:spPr bwMode="auto">
            <a:xfrm>
              <a:off x="1929" y="2412"/>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2" name="Line 4504"/>
            <p:cNvSpPr>
              <a:spLocks noChangeShapeType="1"/>
            </p:cNvSpPr>
            <p:nvPr/>
          </p:nvSpPr>
          <p:spPr bwMode="auto">
            <a:xfrm>
              <a:off x="1929" y="2420"/>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3" name="Freeform 4505"/>
            <p:cNvSpPr>
              <a:spLocks/>
            </p:cNvSpPr>
            <p:nvPr/>
          </p:nvSpPr>
          <p:spPr bwMode="auto">
            <a:xfrm>
              <a:off x="1917" y="2398"/>
              <a:ext cx="25" cy="27"/>
            </a:xfrm>
            <a:custGeom>
              <a:avLst/>
              <a:gdLst>
                <a:gd name="T0" fmla="*/ 24 w 25"/>
                <a:gd name="T1" fmla="*/ 0 h 27"/>
                <a:gd name="T2" fmla="*/ 0 w 25"/>
                <a:gd name="T3" fmla="*/ 18 h 27"/>
                <a:gd name="T4" fmla="*/ 12 w 25"/>
                <a:gd name="T5" fmla="*/ 26 h 27"/>
                <a:gd name="T6" fmla="*/ 24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0"/>
                  </a:moveTo>
                  <a:lnTo>
                    <a:pt x="0" y="18"/>
                  </a:lnTo>
                  <a:lnTo>
                    <a:pt x="12" y="26"/>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4" name="Freeform 4506"/>
            <p:cNvSpPr>
              <a:spLocks/>
            </p:cNvSpPr>
            <p:nvPr/>
          </p:nvSpPr>
          <p:spPr bwMode="auto">
            <a:xfrm>
              <a:off x="1917" y="2390"/>
              <a:ext cx="25" cy="27"/>
            </a:xfrm>
            <a:custGeom>
              <a:avLst/>
              <a:gdLst>
                <a:gd name="T0" fmla="*/ 24 w 25"/>
                <a:gd name="T1" fmla="*/ 9 h 27"/>
                <a:gd name="T2" fmla="*/ 12 w 25"/>
                <a:gd name="T3" fmla="*/ 0 h 27"/>
                <a:gd name="T4" fmla="*/ 0 w 25"/>
                <a:gd name="T5" fmla="*/ 26 h 27"/>
                <a:gd name="T6" fmla="*/ 24 w 25"/>
                <a:gd name="T7" fmla="*/ 9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9"/>
                  </a:moveTo>
                  <a:lnTo>
                    <a:pt x="12" y="0"/>
                  </a:lnTo>
                  <a:lnTo>
                    <a:pt x="0" y="26"/>
                  </a:lnTo>
                  <a:lnTo>
                    <a:pt x="24" y="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5" name="Freeform 4507"/>
            <p:cNvSpPr>
              <a:spLocks/>
            </p:cNvSpPr>
            <p:nvPr/>
          </p:nvSpPr>
          <p:spPr bwMode="auto">
            <a:xfrm>
              <a:off x="1937" y="2390"/>
              <a:ext cx="23" cy="27"/>
            </a:xfrm>
            <a:custGeom>
              <a:avLst/>
              <a:gdLst>
                <a:gd name="T0" fmla="*/ 22 w 23"/>
                <a:gd name="T1" fmla="*/ 26 h 27"/>
                <a:gd name="T2" fmla="*/ 22 w 23"/>
                <a:gd name="T3" fmla="*/ 26 h 27"/>
                <a:gd name="T4" fmla="*/ 0 w 23"/>
                <a:gd name="T5" fmla="*/ 0 h 27"/>
                <a:gd name="T6" fmla="*/ 22 w 23"/>
                <a:gd name="T7" fmla="*/ 26 h 27"/>
                <a:gd name="T8" fmla="*/ 0 60000 65536"/>
                <a:gd name="T9" fmla="*/ 0 60000 65536"/>
                <a:gd name="T10" fmla="*/ 0 60000 65536"/>
                <a:gd name="T11" fmla="*/ 0 60000 65536"/>
                <a:gd name="T12" fmla="*/ 0 w 23"/>
                <a:gd name="T13" fmla="*/ 0 h 27"/>
                <a:gd name="T14" fmla="*/ 23 w 23"/>
                <a:gd name="T15" fmla="*/ 27 h 27"/>
              </a:gdLst>
              <a:ahLst/>
              <a:cxnLst>
                <a:cxn ang="T8">
                  <a:pos x="T0" y="T1"/>
                </a:cxn>
                <a:cxn ang="T9">
                  <a:pos x="T2" y="T3"/>
                </a:cxn>
                <a:cxn ang="T10">
                  <a:pos x="T4" y="T5"/>
                </a:cxn>
                <a:cxn ang="T11">
                  <a:pos x="T6" y="T7"/>
                </a:cxn>
              </a:cxnLst>
              <a:rect l="T12" t="T13" r="T14" b="T15"/>
              <a:pathLst>
                <a:path w="23" h="27">
                  <a:moveTo>
                    <a:pt x="22" y="26"/>
                  </a:moveTo>
                  <a:lnTo>
                    <a:pt x="22" y="26"/>
                  </a:lnTo>
                  <a:lnTo>
                    <a:pt x="0" y="0"/>
                  </a:lnTo>
                  <a:lnTo>
                    <a:pt x="22"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6" name="Line 4508"/>
            <p:cNvSpPr>
              <a:spLocks noChangeShapeType="1"/>
            </p:cNvSpPr>
            <p:nvPr/>
          </p:nvSpPr>
          <p:spPr bwMode="auto">
            <a:xfrm>
              <a:off x="1941" y="239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7" name="Freeform 4509"/>
            <p:cNvSpPr>
              <a:spLocks/>
            </p:cNvSpPr>
            <p:nvPr/>
          </p:nvSpPr>
          <p:spPr bwMode="auto">
            <a:xfrm>
              <a:off x="1929" y="2369"/>
              <a:ext cx="27" cy="30"/>
            </a:xfrm>
            <a:custGeom>
              <a:avLst/>
              <a:gdLst>
                <a:gd name="T0" fmla="*/ 26 w 27"/>
                <a:gd name="T1" fmla="*/ 0 h 30"/>
                <a:gd name="T2" fmla="*/ 0 w 27"/>
                <a:gd name="T3" fmla="*/ 20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0"/>
                  </a:lnTo>
                  <a:lnTo>
                    <a:pt x="13" y="29"/>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8" name="Freeform 4510"/>
            <p:cNvSpPr>
              <a:spLocks/>
            </p:cNvSpPr>
            <p:nvPr/>
          </p:nvSpPr>
          <p:spPr bwMode="auto">
            <a:xfrm>
              <a:off x="1929" y="2361"/>
              <a:ext cx="27" cy="30"/>
            </a:xfrm>
            <a:custGeom>
              <a:avLst/>
              <a:gdLst>
                <a:gd name="T0" fmla="*/ 26 w 27"/>
                <a:gd name="T1" fmla="*/ 6 h 30"/>
                <a:gd name="T2" fmla="*/ 13 w 27"/>
                <a:gd name="T3" fmla="*/ 0 h 30"/>
                <a:gd name="T4" fmla="*/ 0 w 27"/>
                <a:gd name="T5" fmla="*/ 29 h 30"/>
                <a:gd name="T6" fmla="*/ 26 w 27"/>
                <a:gd name="T7" fmla="*/ 6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6"/>
                  </a:moveTo>
                  <a:lnTo>
                    <a:pt x="13" y="0"/>
                  </a:lnTo>
                  <a:lnTo>
                    <a:pt x="0" y="29"/>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09" name="Freeform 4511"/>
            <p:cNvSpPr>
              <a:spLocks/>
            </p:cNvSpPr>
            <p:nvPr/>
          </p:nvSpPr>
          <p:spPr bwMode="auto">
            <a:xfrm>
              <a:off x="1946" y="2361"/>
              <a:ext cx="25" cy="28"/>
            </a:xfrm>
            <a:custGeom>
              <a:avLst/>
              <a:gdLst>
                <a:gd name="T0" fmla="*/ 24 w 25"/>
                <a:gd name="T1" fmla="*/ 27 h 28"/>
                <a:gd name="T2" fmla="*/ 24 w 25"/>
                <a:gd name="T3" fmla="*/ 27 h 28"/>
                <a:gd name="T4" fmla="*/ 0 w 25"/>
                <a:gd name="T5" fmla="*/ 0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27"/>
                  </a:lnTo>
                  <a:lnTo>
                    <a:pt x="0" y="0"/>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0" name="Line 4512"/>
            <p:cNvSpPr>
              <a:spLocks noChangeShapeType="1"/>
            </p:cNvSpPr>
            <p:nvPr/>
          </p:nvSpPr>
          <p:spPr bwMode="auto">
            <a:xfrm>
              <a:off x="1955" y="2369"/>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1" name="Freeform 4513"/>
            <p:cNvSpPr>
              <a:spLocks/>
            </p:cNvSpPr>
            <p:nvPr/>
          </p:nvSpPr>
          <p:spPr bwMode="auto">
            <a:xfrm>
              <a:off x="1941" y="2340"/>
              <a:ext cx="27" cy="30"/>
            </a:xfrm>
            <a:custGeom>
              <a:avLst/>
              <a:gdLst>
                <a:gd name="T0" fmla="*/ 26 w 27"/>
                <a:gd name="T1" fmla="*/ 0 h 30"/>
                <a:gd name="T2" fmla="*/ 0 w 27"/>
                <a:gd name="T3" fmla="*/ 22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2"/>
                  </a:lnTo>
                  <a:lnTo>
                    <a:pt x="13" y="29"/>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2" name="Freeform 4514"/>
            <p:cNvSpPr>
              <a:spLocks/>
            </p:cNvSpPr>
            <p:nvPr/>
          </p:nvSpPr>
          <p:spPr bwMode="auto">
            <a:xfrm>
              <a:off x="1941" y="2334"/>
              <a:ext cx="27" cy="28"/>
            </a:xfrm>
            <a:custGeom>
              <a:avLst/>
              <a:gdLst>
                <a:gd name="T0" fmla="*/ 26 w 27"/>
                <a:gd name="T1" fmla="*/ 6 h 28"/>
                <a:gd name="T2" fmla="*/ 13 w 27"/>
                <a:gd name="T3" fmla="*/ 0 h 28"/>
                <a:gd name="T4" fmla="*/ 0 w 27"/>
                <a:gd name="T5" fmla="*/ 27 h 28"/>
                <a:gd name="T6" fmla="*/ 26 w 27"/>
                <a:gd name="T7" fmla="*/ 6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6"/>
                  </a:moveTo>
                  <a:lnTo>
                    <a:pt x="13" y="0"/>
                  </a:lnTo>
                  <a:lnTo>
                    <a:pt x="0" y="27"/>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3" name="Freeform 4515"/>
            <p:cNvSpPr>
              <a:spLocks/>
            </p:cNvSpPr>
            <p:nvPr/>
          </p:nvSpPr>
          <p:spPr bwMode="auto">
            <a:xfrm>
              <a:off x="1959" y="2334"/>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4" name="Line 4516"/>
            <p:cNvSpPr>
              <a:spLocks noChangeShapeType="1"/>
            </p:cNvSpPr>
            <p:nvPr/>
          </p:nvSpPr>
          <p:spPr bwMode="auto">
            <a:xfrm>
              <a:off x="1964" y="2340"/>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5" name="Freeform 4517"/>
            <p:cNvSpPr>
              <a:spLocks/>
            </p:cNvSpPr>
            <p:nvPr/>
          </p:nvSpPr>
          <p:spPr bwMode="auto">
            <a:xfrm>
              <a:off x="1955" y="2312"/>
              <a:ext cx="25" cy="29"/>
            </a:xfrm>
            <a:custGeom>
              <a:avLst/>
              <a:gdLst>
                <a:gd name="T0" fmla="*/ 24 w 25"/>
                <a:gd name="T1" fmla="*/ 0 h 29"/>
                <a:gd name="T2" fmla="*/ 0 w 25"/>
                <a:gd name="T3" fmla="*/ 21 h 29"/>
                <a:gd name="T4" fmla="*/ 11 w 25"/>
                <a:gd name="T5" fmla="*/ 28 h 29"/>
                <a:gd name="T6" fmla="*/ 24 w 25"/>
                <a:gd name="T7" fmla="*/ 0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0"/>
                  </a:moveTo>
                  <a:lnTo>
                    <a:pt x="0" y="21"/>
                  </a:lnTo>
                  <a:lnTo>
                    <a:pt x="11" y="28"/>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6" name="Freeform 4518"/>
            <p:cNvSpPr>
              <a:spLocks/>
            </p:cNvSpPr>
            <p:nvPr/>
          </p:nvSpPr>
          <p:spPr bwMode="auto">
            <a:xfrm>
              <a:off x="1955" y="2304"/>
              <a:ext cx="25" cy="31"/>
            </a:xfrm>
            <a:custGeom>
              <a:avLst/>
              <a:gdLst>
                <a:gd name="T0" fmla="*/ 24 w 25"/>
                <a:gd name="T1" fmla="*/ 8 h 31"/>
                <a:gd name="T2" fmla="*/ 11 w 25"/>
                <a:gd name="T3" fmla="*/ 0 h 31"/>
                <a:gd name="T4" fmla="*/ 0 w 25"/>
                <a:gd name="T5" fmla="*/ 30 h 31"/>
                <a:gd name="T6" fmla="*/ 24 w 25"/>
                <a:gd name="T7" fmla="*/ 8 h 31"/>
                <a:gd name="T8" fmla="*/ 0 60000 65536"/>
                <a:gd name="T9" fmla="*/ 0 60000 65536"/>
                <a:gd name="T10" fmla="*/ 0 60000 65536"/>
                <a:gd name="T11" fmla="*/ 0 60000 65536"/>
                <a:gd name="T12" fmla="*/ 0 w 25"/>
                <a:gd name="T13" fmla="*/ 0 h 31"/>
                <a:gd name="T14" fmla="*/ 25 w 25"/>
                <a:gd name="T15" fmla="*/ 31 h 31"/>
              </a:gdLst>
              <a:ahLst/>
              <a:cxnLst>
                <a:cxn ang="T8">
                  <a:pos x="T0" y="T1"/>
                </a:cxn>
                <a:cxn ang="T9">
                  <a:pos x="T2" y="T3"/>
                </a:cxn>
                <a:cxn ang="T10">
                  <a:pos x="T4" y="T5"/>
                </a:cxn>
                <a:cxn ang="T11">
                  <a:pos x="T6" y="T7"/>
                </a:cxn>
              </a:cxnLst>
              <a:rect l="T12" t="T13" r="T14" b="T15"/>
              <a:pathLst>
                <a:path w="25" h="31">
                  <a:moveTo>
                    <a:pt x="24" y="8"/>
                  </a:moveTo>
                  <a:lnTo>
                    <a:pt x="11" y="0"/>
                  </a:lnTo>
                  <a:lnTo>
                    <a:pt x="0" y="30"/>
                  </a:lnTo>
                  <a:lnTo>
                    <a:pt x="24"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7" name="Freeform 4519"/>
            <p:cNvSpPr>
              <a:spLocks/>
            </p:cNvSpPr>
            <p:nvPr/>
          </p:nvSpPr>
          <p:spPr bwMode="auto">
            <a:xfrm>
              <a:off x="1975" y="2304"/>
              <a:ext cx="23" cy="28"/>
            </a:xfrm>
            <a:custGeom>
              <a:avLst/>
              <a:gdLst>
                <a:gd name="T0" fmla="*/ 22 w 23"/>
                <a:gd name="T1" fmla="*/ 27 h 28"/>
                <a:gd name="T2" fmla="*/ 22 w 23"/>
                <a:gd name="T3" fmla="*/ 27 h 28"/>
                <a:gd name="T4" fmla="*/ 0 w 23"/>
                <a:gd name="T5" fmla="*/ 0 h 28"/>
                <a:gd name="T6" fmla="*/ 22 w 23"/>
                <a:gd name="T7" fmla="*/ 27 h 28"/>
                <a:gd name="T8" fmla="*/ 0 60000 65536"/>
                <a:gd name="T9" fmla="*/ 0 60000 65536"/>
                <a:gd name="T10" fmla="*/ 0 60000 65536"/>
                <a:gd name="T11" fmla="*/ 0 60000 65536"/>
                <a:gd name="T12" fmla="*/ 0 w 23"/>
                <a:gd name="T13" fmla="*/ 0 h 28"/>
                <a:gd name="T14" fmla="*/ 23 w 23"/>
                <a:gd name="T15" fmla="*/ 28 h 28"/>
              </a:gdLst>
              <a:ahLst/>
              <a:cxnLst>
                <a:cxn ang="T8">
                  <a:pos x="T0" y="T1"/>
                </a:cxn>
                <a:cxn ang="T9">
                  <a:pos x="T2" y="T3"/>
                </a:cxn>
                <a:cxn ang="T10">
                  <a:pos x="T4" y="T5"/>
                </a:cxn>
                <a:cxn ang="T11">
                  <a:pos x="T6" y="T7"/>
                </a:cxn>
              </a:cxnLst>
              <a:rect l="T12" t="T13" r="T14" b="T15"/>
              <a:pathLst>
                <a:path w="23" h="28">
                  <a:moveTo>
                    <a:pt x="22" y="27"/>
                  </a:moveTo>
                  <a:lnTo>
                    <a:pt x="22" y="27"/>
                  </a:lnTo>
                  <a:lnTo>
                    <a:pt x="0" y="0"/>
                  </a:lnTo>
                  <a:lnTo>
                    <a:pt x="22"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8" name="Line 4520"/>
            <p:cNvSpPr>
              <a:spLocks noChangeShapeType="1"/>
            </p:cNvSpPr>
            <p:nvPr/>
          </p:nvSpPr>
          <p:spPr bwMode="auto">
            <a:xfrm>
              <a:off x="1978" y="2312"/>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19" name="Freeform 4521"/>
            <p:cNvSpPr>
              <a:spLocks/>
            </p:cNvSpPr>
            <p:nvPr/>
          </p:nvSpPr>
          <p:spPr bwMode="auto">
            <a:xfrm>
              <a:off x="1964" y="2277"/>
              <a:ext cx="29" cy="36"/>
            </a:xfrm>
            <a:custGeom>
              <a:avLst/>
              <a:gdLst>
                <a:gd name="T0" fmla="*/ 28 w 29"/>
                <a:gd name="T1" fmla="*/ 0 h 36"/>
                <a:gd name="T2" fmla="*/ 0 w 29"/>
                <a:gd name="T3" fmla="*/ 27 h 36"/>
                <a:gd name="T4" fmla="*/ 14 w 29"/>
                <a:gd name="T5" fmla="*/ 35 h 36"/>
                <a:gd name="T6" fmla="*/ 28 w 29"/>
                <a:gd name="T7" fmla="*/ 0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28" y="0"/>
                  </a:moveTo>
                  <a:lnTo>
                    <a:pt x="0" y="27"/>
                  </a:lnTo>
                  <a:lnTo>
                    <a:pt x="14" y="35"/>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0" name="Freeform 4522"/>
            <p:cNvSpPr>
              <a:spLocks/>
            </p:cNvSpPr>
            <p:nvPr/>
          </p:nvSpPr>
          <p:spPr bwMode="auto">
            <a:xfrm>
              <a:off x="1964" y="2277"/>
              <a:ext cx="29" cy="28"/>
            </a:xfrm>
            <a:custGeom>
              <a:avLst/>
              <a:gdLst>
                <a:gd name="T0" fmla="*/ 28 w 29"/>
                <a:gd name="T1" fmla="*/ 0 h 28"/>
                <a:gd name="T2" fmla="*/ 14 w 29"/>
                <a:gd name="T3" fmla="*/ 0 h 28"/>
                <a:gd name="T4" fmla="*/ 0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14" y="0"/>
                  </a:lnTo>
                  <a:lnTo>
                    <a:pt x="0" y="27"/>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1" name="Freeform 4523"/>
            <p:cNvSpPr>
              <a:spLocks/>
            </p:cNvSpPr>
            <p:nvPr/>
          </p:nvSpPr>
          <p:spPr bwMode="auto">
            <a:xfrm>
              <a:off x="1984" y="2277"/>
              <a:ext cx="25" cy="1"/>
            </a:xfrm>
            <a:custGeom>
              <a:avLst/>
              <a:gdLst>
                <a:gd name="T0" fmla="*/ 24 w 25"/>
                <a:gd name="T1" fmla="*/ 0 h 1"/>
                <a:gd name="T2" fmla="*/ 24 w 25"/>
                <a:gd name="T3" fmla="*/ 0 h 1"/>
                <a:gd name="T4" fmla="*/ 0 w 25"/>
                <a:gd name="T5" fmla="*/ 0 h 1"/>
                <a:gd name="T6" fmla="*/ 24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24" y="0"/>
                  </a:moveTo>
                  <a:lnTo>
                    <a:pt x="24" y="0"/>
                  </a:lnTo>
                  <a:lnTo>
                    <a:pt x="0" y="0"/>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2" name="Line 4524"/>
            <p:cNvSpPr>
              <a:spLocks noChangeShapeType="1"/>
            </p:cNvSpPr>
            <p:nvPr/>
          </p:nvSpPr>
          <p:spPr bwMode="auto">
            <a:xfrm>
              <a:off x="1992" y="227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3" name="Freeform 4525"/>
            <p:cNvSpPr>
              <a:spLocks/>
            </p:cNvSpPr>
            <p:nvPr/>
          </p:nvSpPr>
          <p:spPr bwMode="auto">
            <a:xfrm>
              <a:off x="1978" y="2248"/>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4" name="Freeform 4526"/>
            <p:cNvSpPr>
              <a:spLocks/>
            </p:cNvSpPr>
            <p:nvPr/>
          </p:nvSpPr>
          <p:spPr bwMode="auto">
            <a:xfrm>
              <a:off x="1978" y="2241"/>
              <a:ext cx="25" cy="37"/>
            </a:xfrm>
            <a:custGeom>
              <a:avLst/>
              <a:gdLst>
                <a:gd name="T0" fmla="*/ 24 w 25"/>
                <a:gd name="T1" fmla="*/ 6 h 37"/>
                <a:gd name="T2" fmla="*/ 12 w 25"/>
                <a:gd name="T3" fmla="*/ 0 h 37"/>
                <a:gd name="T4" fmla="*/ 0 w 25"/>
                <a:gd name="T5" fmla="*/ 36 h 37"/>
                <a:gd name="T6" fmla="*/ 24 w 25"/>
                <a:gd name="T7" fmla="*/ 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24" y="6"/>
                  </a:moveTo>
                  <a:lnTo>
                    <a:pt x="12" y="0"/>
                  </a:lnTo>
                  <a:lnTo>
                    <a:pt x="0" y="36"/>
                  </a:lnTo>
                  <a:lnTo>
                    <a:pt x="24"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5" name="Freeform 4527"/>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6" name="Freeform 4528"/>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7" name="Freeform 4529"/>
            <p:cNvSpPr>
              <a:spLocks/>
            </p:cNvSpPr>
            <p:nvPr/>
          </p:nvSpPr>
          <p:spPr bwMode="auto">
            <a:xfrm>
              <a:off x="1992" y="2213"/>
              <a:ext cx="26" cy="36"/>
            </a:xfrm>
            <a:custGeom>
              <a:avLst/>
              <a:gdLst>
                <a:gd name="T0" fmla="*/ 25 w 26"/>
                <a:gd name="T1" fmla="*/ 0 h 36"/>
                <a:gd name="T2" fmla="*/ 0 w 26"/>
                <a:gd name="T3" fmla="*/ 28 h 36"/>
                <a:gd name="T4" fmla="*/ 11 w 26"/>
                <a:gd name="T5" fmla="*/ 35 h 36"/>
                <a:gd name="T6" fmla="*/ 25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0"/>
                  </a:moveTo>
                  <a:lnTo>
                    <a:pt x="0" y="28"/>
                  </a:lnTo>
                  <a:lnTo>
                    <a:pt x="11" y="35"/>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8" name="Freeform 4530"/>
            <p:cNvSpPr>
              <a:spLocks/>
            </p:cNvSpPr>
            <p:nvPr/>
          </p:nvSpPr>
          <p:spPr bwMode="auto">
            <a:xfrm>
              <a:off x="1992" y="2213"/>
              <a:ext cx="26" cy="29"/>
            </a:xfrm>
            <a:custGeom>
              <a:avLst/>
              <a:gdLst>
                <a:gd name="T0" fmla="*/ 25 w 26"/>
                <a:gd name="T1" fmla="*/ 0 h 29"/>
                <a:gd name="T2" fmla="*/ 11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1" y="0"/>
                  </a:lnTo>
                  <a:lnTo>
                    <a:pt x="0" y="28"/>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29" name="Freeform 4531"/>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0" name="Freeform 4532"/>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1" name="Freeform 4533"/>
            <p:cNvSpPr>
              <a:spLocks/>
            </p:cNvSpPr>
            <p:nvPr/>
          </p:nvSpPr>
          <p:spPr bwMode="auto">
            <a:xfrm>
              <a:off x="2002" y="2184"/>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2" name="Freeform 4534"/>
            <p:cNvSpPr>
              <a:spLocks/>
            </p:cNvSpPr>
            <p:nvPr/>
          </p:nvSpPr>
          <p:spPr bwMode="auto">
            <a:xfrm>
              <a:off x="2002" y="2176"/>
              <a:ext cx="25" cy="38"/>
            </a:xfrm>
            <a:custGeom>
              <a:avLst/>
              <a:gdLst>
                <a:gd name="T0" fmla="*/ 24 w 25"/>
                <a:gd name="T1" fmla="*/ 6 h 38"/>
                <a:gd name="T2" fmla="*/ 12 w 25"/>
                <a:gd name="T3" fmla="*/ 0 h 38"/>
                <a:gd name="T4" fmla="*/ 0 w 25"/>
                <a:gd name="T5" fmla="*/ 37 h 38"/>
                <a:gd name="T6" fmla="*/ 24 w 25"/>
                <a:gd name="T7" fmla="*/ 6 h 38"/>
                <a:gd name="T8" fmla="*/ 0 60000 65536"/>
                <a:gd name="T9" fmla="*/ 0 60000 65536"/>
                <a:gd name="T10" fmla="*/ 0 60000 65536"/>
                <a:gd name="T11" fmla="*/ 0 60000 65536"/>
                <a:gd name="T12" fmla="*/ 0 w 25"/>
                <a:gd name="T13" fmla="*/ 0 h 38"/>
                <a:gd name="T14" fmla="*/ 25 w 25"/>
                <a:gd name="T15" fmla="*/ 38 h 38"/>
              </a:gdLst>
              <a:ahLst/>
              <a:cxnLst>
                <a:cxn ang="T8">
                  <a:pos x="T0" y="T1"/>
                </a:cxn>
                <a:cxn ang="T9">
                  <a:pos x="T2" y="T3"/>
                </a:cxn>
                <a:cxn ang="T10">
                  <a:pos x="T4" y="T5"/>
                </a:cxn>
                <a:cxn ang="T11">
                  <a:pos x="T6" y="T7"/>
                </a:cxn>
              </a:cxnLst>
              <a:rect l="T12" t="T13" r="T14" b="T15"/>
              <a:pathLst>
                <a:path w="25" h="38">
                  <a:moveTo>
                    <a:pt x="24" y="6"/>
                  </a:moveTo>
                  <a:lnTo>
                    <a:pt x="12" y="0"/>
                  </a:lnTo>
                  <a:lnTo>
                    <a:pt x="0" y="37"/>
                  </a:lnTo>
                  <a:lnTo>
                    <a:pt x="24"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3" name="Freeform 4535"/>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4" name="Freeform 4536"/>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5" name="Freeform 4537"/>
            <p:cNvSpPr>
              <a:spLocks/>
            </p:cNvSpPr>
            <p:nvPr/>
          </p:nvSpPr>
          <p:spPr bwMode="auto">
            <a:xfrm>
              <a:off x="2013" y="2149"/>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6" name="Freeform 4538"/>
            <p:cNvSpPr>
              <a:spLocks/>
            </p:cNvSpPr>
            <p:nvPr/>
          </p:nvSpPr>
          <p:spPr bwMode="auto">
            <a:xfrm>
              <a:off x="2013" y="2141"/>
              <a:ext cx="27" cy="36"/>
            </a:xfrm>
            <a:custGeom>
              <a:avLst/>
              <a:gdLst>
                <a:gd name="T0" fmla="*/ 26 w 27"/>
                <a:gd name="T1" fmla="*/ 7 h 36"/>
                <a:gd name="T2" fmla="*/ 13 w 27"/>
                <a:gd name="T3" fmla="*/ 0 h 36"/>
                <a:gd name="T4" fmla="*/ 0 w 27"/>
                <a:gd name="T5" fmla="*/ 35 h 36"/>
                <a:gd name="T6" fmla="*/ 26 w 27"/>
                <a:gd name="T7" fmla="*/ 7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7"/>
                  </a:moveTo>
                  <a:lnTo>
                    <a:pt x="13" y="0"/>
                  </a:lnTo>
                  <a:lnTo>
                    <a:pt x="0" y="35"/>
                  </a:lnTo>
                  <a:lnTo>
                    <a:pt x="26" y="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7" name="Freeform 4539"/>
            <p:cNvSpPr>
              <a:spLocks/>
            </p:cNvSpPr>
            <p:nvPr/>
          </p:nvSpPr>
          <p:spPr bwMode="auto">
            <a:xfrm>
              <a:off x="2034" y="21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8" name="Freeform 4540"/>
            <p:cNvSpPr>
              <a:spLocks/>
            </p:cNvSpPr>
            <p:nvPr/>
          </p:nvSpPr>
          <p:spPr bwMode="auto">
            <a:xfrm>
              <a:off x="2034" y="2141"/>
              <a:ext cx="25" cy="27"/>
            </a:xfrm>
            <a:custGeom>
              <a:avLst/>
              <a:gdLst>
                <a:gd name="T0" fmla="*/ 0 w 25"/>
                <a:gd name="T1" fmla="*/ 0 h 27"/>
                <a:gd name="T2" fmla="*/ 24 w 25"/>
                <a:gd name="T3" fmla="*/ 26 h 27"/>
                <a:gd name="T4" fmla="*/ 24 w 25"/>
                <a:gd name="T5" fmla="*/ 26 h 27"/>
                <a:gd name="T6" fmla="*/ 0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0"/>
                  </a:moveTo>
                  <a:lnTo>
                    <a:pt x="24"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39" name="Freeform 4541"/>
            <p:cNvSpPr>
              <a:spLocks/>
            </p:cNvSpPr>
            <p:nvPr/>
          </p:nvSpPr>
          <p:spPr bwMode="auto">
            <a:xfrm>
              <a:off x="2026" y="2113"/>
              <a:ext cx="26" cy="37"/>
            </a:xfrm>
            <a:custGeom>
              <a:avLst/>
              <a:gdLst>
                <a:gd name="T0" fmla="*/ 25 w 26"/>
                <a:gd name="T1" fmla="*/ 0 h 37"/>
                <a:gd name="T2" fmla="*/ 0 w 26"/>
                <a:gd name="T3" fmla="*/ 27 h 37"/>
                <a:gd name="T4" fmla="*/ 17 w 26"/>
                <a:gd name="T5" fmla="*/ 36 h 37"/>
                <a:gd name="T6" fmla="*/ 25 w 26"/>
                <a:gd name="T7" fmla="*/ 0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0"/>
                  </a:moveTo>
                  <a:lnTo>
                    <a:pt x="0" y="27"/>
                  </a:lnTo>
                  <a:lnTo>
                    <a:pt x="17" y="36"/>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0" name="Freeform 4542"/>
            <p:cNvSpPr>
              <a:spLocks/>
            </p:cNvSpPr>
            <p:nvPr/>
          </p:nvSpPr>
          <p:spPr bwMode="auto">
            <a:xfrm>
              <a:off x="2026" y="2113"/>
              <a:ext cx="26" cy="29"/>
            </a:xfrm>
            <a:custGeom>
              <a:avLst/>
              <a:gdLst>
                <a:gd name="T0" fmla="*/ 25 w 26"/>
                <a:gd name="T1" fmla="*/ 0 h 29"/>
                <a:gd name="T2" fmla="*/ 17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7" y="0"/>
                  </a:lnTo>
                  <a:lnTo>
                    <a:pt x="0" y="28"/>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1" name="Freeform 4543"/>
            <p:cNvSpPr>
              <a:spLocks/>
            </p:cNvSpPr>
            <p:nvPr/>
          </p:nvSpPr>
          <p:spPr bwMode="auto">
            <a:xfrm>
              <a:off x="2046" y="2105"/>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2" name="Line 4544"/>
            <p:cNvSpPr>
              <a:spLocks noChangeShapeType="1"/>
            </p:cNvSpPr>
            <p:nvPr/>
          </p:nvSpPr>
          <p:spPr bwMode="auto">
            <a:xfrm>
              <a:off x="2046" y="211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3" name="Freeform 4545"/>
            <p:cNvSpPr>
              <a:spLocks/>
            </p:cNvSpPr>
            <p:nvPr/>
          </p:nvSpPr>
          <p:spPr bwMode="auto">
            <a:xfrm>
              <a:off x="2039" y="2084"/>
              <a:ext cx="26" cy="30"/>
            </a:xfrm>
            <a:custGeom>
              <a:avLst/>
              <a:gdLst>
                <a:gd name="T0" fmla="*/ 25 w 26"/>
                <a:gd name="T1" fmla="*/ 0 h 30"/>
                <a:gd name="T2" fmla="*/ 0 w 26"/>
                <a:gd name="T3" fmla="*/ 29 h 30"/>
                <a:gd name="T4" fmla="*/ 7 w 26"/>
                <a:gd name="T5" fmla="*/ 29 h 30"/>
                <a:gd name="T6" fmla="*/ 25 w 26"/>
                <a:gd name="T7" fmla="*/ 0 h 30"/>
                <a:gd name="T8" fmla="*/ 0 60000 65536"/>
                <a:gd name="T9" fmla="*/ 0 60000 65536"/>
                <a:gd name="T10" fmla="*/ 0 60000 65536"/>
                <a:gd name="T11" fmla="*/ 0 60000 65536"/>
                <a:gd name="T12" fmla="*/ 0 w 26"/>
                <a:gd name="T13" fmla="*/ 0 h 30"/>
                <a:gd name="T14" fmla="*/ 26 w 26"/>
                <a:gd name="T15" fmla="*/ 30 h 30"/>
              </a:gdLst>
              <a:ahLst/>
              <a:cxnLst>
                <a:cxn ang="T8">
                  <a:pos x="T0" y="T1"/>
                </a:cxn>
                <a:cxn ang="T9">
                  <a:pos x="T2" y="T3"/>
                </a:cxn>
                <a:cxn ang="T10">
                  <a:pos x="T4" y="T5"/>
                </a:cxn>
                <a:cxn ang="T11">
                  <a:pos x="T6" y="T7"/>
                </a:cxn>
              </a:cxnLst>
              <a:rect l="T12" t="T13" r="T14" b="T15"/>
              <a:pathLst>
                <a:path w="26" h="30">
                  <a:moveTo>
                    <a:pt x="25" y="0"/>
                  </a:moveTo>
                  <a:lnTo>
                    <a:pt x="0" y="29"/>
                  </a:lnTo>
                  <a:lnTo>
                    <a:pt x="7" y="29"/>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4" name="Freeform 4546"/>
            <p:cNvSpPr>
              <a:spLocks/>
            </p:cNvSpPr>
            <p:nvPr/>
          </p:nvSpPr>
          <p:spPr bwMode="auto">
            <a:xfrm>
              <a:off x="2039" y="2077"/>
              <a:ext cx="26" cy="37"/>
            </a:xfrm>
            <a:custGeom>
              <a:avLst/>
              <a:gdLst>
                <a:gd name="T0" fmla="*/ 25 w 26"/>
                <a:gd name="T1" fmla="*/ 6 h 37"/>
                <a:gd name="T2" fmla="*/ 15 w 26"/>
                <a:gd name="T3" fmla="*/ 0 h 37"/>
                <a:gd name="T4" fmla="*/ 0 w 26"/>
                <a:gd name="T5" fmla="*/ 36 h 37"/>
                <a:gd name="T6" fmla="*/ 25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6"/>
                  </a:moveTo>
                  <a:lnTo>
                    <a:pt x="15" y="0"/>
                  </a:lnTo>
                  <a:lnTo>
                    <a:pt x="0" y="36"/>
                  </a:lnTo>
                  <a:lnTo>
                    <a:pt x="25"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5" name="Freeform 4547"/>
            <p:cNvSpPr>
              <a:spLocks/>
            </p:cNvSpPr>
            <p:nvPr/>
          </p:nvSpPr>
          <p:spPr bwMode="auto">
            <a:xfrm>
              <a:off x="2051" y="207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6" name="Line 4548"/>
            <p:cNvSpPr>
              <a:spLocks noChangeShapeType="1"/>
            </p:cNvSpPr>
            <p:nvPr/>
          </p:nvSpPr>
          <p:spPr bwMode="auto">
            <a:xfrm>
              <a:off x="2051" y="2077"/>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7" name="Freeform 4549"/>
            <p:cNvSpPr>
              <a:spLocks/>
            </p:cNvSpPr>
            <p:nvPr/>
          </p:nvSpPr>
          <p:spPr bwMode="auto">
            <a:xfrm>
              <a:off x="2051" y="2049"/>
              <a:ext cx="27" cy="36"/>
            </a:xfrm>
            <a:custGeom>
              <a:avLst/>
              <a:gdLst>
                <a:gd name="T0" fmla="*/ 26 w 27"/>
                <a:gd name="T1" fmla="*/ 0 h 36"/>
                <a:gd name="T2" fmla="*/ 0 w 27"/>
                <a:gd name="T3" fmla="*/ 28 h 36"/>
                <a:gd name="T4" fmla="*/ 10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0"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8" name="Freeform 4550"/>
            <p:cNvSpPr>
              <a:spLocks/>
            </p:cNvSpPr>
            <p:nvPr/>
          </p:nvSpPr>
          <p:spPr bwMode="auto">
            <a:xfrm>
              <a:off x="2051" y="2041"/>
              <a:ext cx="27" cy="37"/>
            </a:xfrm>
            <a:custGeom>
              <a:avLst/>
              <a:gdLst>
                <a:gd name="T0" fmla="*/ 26 w 27"/>
                <a:gd name="T1" fmla="*/ 8 h 37"/>
                <a:gd name="T2" fmla="*/ 10 w 27"/>
                <a:gd name="T3" fmla="*/ 0 h 37"/>
                <a:gd name="T4" fmla="*/ 0 w 27"/>
                <a:gd name="T5" fmla="*/ 36 h 37"/>
                <a:gd name="T6" fmla="*/ 26 w 27"/>
                <a:gd name="T7" fmla="*/ 8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26" y="8"/>
                  </a:moveTo>
                  <a:lnTo>
                    <a:pt x="10" y="0"/>
                  </a:lnTo>
                  <a:lnTo>
                    <a:pt x="0" y="36"/>
                  </a:lnTo>
                  <a:lnTo>
                    <a:pt x="26"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49" name="Freeform 4551"/>
            <p:cNvSpPr>
              <a:spLocks/>
            </p:cNvSpPr>
            <p:nvPr/>
          </p:nvSpPr>
          <p:spPr bwMode="auto">
            <a:xfrm>
              <a:off x="2058" y="204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0" name="Line 4552"/>
            <p:cNvSpPr>
              <a:spLocks noChangeShapeType="1"/>
            </p:cNvSpPr>
            <p:nvPr/>
          </p:nvSpPr>
          <p:spPr bwMode="auto">
            <a:xfrm>
              <a:off x="2058" y="20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1" name="Freeform 4553"/>
            <p:cNvSpPr>
              <a:spLocks/>
            </p:cNvSpPr>
            <p:nvPr/>
          </p:nvSpPr>
          <p:spPr bwMode="auto">
            <a:xfrm>
              <a:off x="2058" y="2012"/>
              <a:ext cx="27" cy="38"/>
            </a:xfrm>
            <a:custGeom>
              <a:avLst/>
              <a:gdLst>
                <a:gd name="T0" fmla="*/ 26 w 27"/>
                <a:gd name="T1" fmla="*/ 0 h 38"/>
                <a:gd name="T2" fmla="*/ 0 w 27"/>
                <a:gd name="T3" fmla="*/ 28 h 38"/>
                <a:gd name="T4" fmla="*/ 12 w 27"/>
                <a:gd name="T5" fmla="*/ 37 h 38"/>
                <a:gd name="T6" fmla="*/ 26 w 27"/>
                <a:gd name="T7" fmla="*/ 0 h 38"/>
                <a:gd name="T8" fmla="*/ 0 60000 65536"/>
                <a:gd name="T9" fmla="*/ 0 60000 65536"/>
                <a:gd name="T10" fmla="*/ 0 60000 65536"/>
                <a:gd name="T11" fmla="*/ 0 60000 65536"/>
                <a:gd name="T12" fmla="*/ 0 w 27"/>
                <a:gd name="T13" fmla="*/ 0 h 38"/>
                <a:gd name="T14" fmla="*/ 27 w 27"/>
                <a:gd name="T15" fmla="*/ 38 h 38"/>
              </a:gdLst>
              <a:ahLst/>
              <a:cxnLst>
                <a:cxn ang="T8">
                  <a:pos x="T0" y="T1"/>
                </a:cxn>
                <a:cxn ang="T9">
                  <a:pos x="T2" y="T3"/>
                </a:cxn>
                <a:cxn ang="T10">
                  <a:pos x="T4" y="T5"/>
                </a:cxn>
                <a:cxn ang="T11">
                  <a:pos x="T6" y="T7"/>
                </a:cxn>
              </a:cxnLst>
              <a:rect l="T12" t="T13" r="T14" b="T15"/>
              <a:pathLst>
                <a:path w="27" h="38">
                  <a:moveTo>
                    <a:pt x="26" y="0"/>
                  </a:moveTo>
                  <a:lnTo>
                    <a:pt x="0" y="28"/>
                  </a:lnTo>
                  <a:lnTo>
                    <a:pt x="12" y="3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2" name="Freeform 4554"/>
            <p:cNvSpPr>
              <a:spLocks/>
            </p:cNvSpPr>
            <p:nvPr/>
          </p:nvSpPr>
          <p:spPr bwMode="auto">
            <a:xfrm>
              <a:off x="2058" y="2007"/>
              <a:ext cx="27" cy="35"/>
            </a:xfrm>
            <a:custGeom>
              <a:avLst/>
              <a:gdLst>
                <a:gd name="T0" fmla="*/ 26 w 27"/>
                <a:gd name="T1" fmla="*/ 6 h 35"/>
                <a:gd name="T2" fmla="*/ 12 w 27"/>
                <a:gd name="T3" fmla="*/ 0 h 35"/>
                <a:gd name="T4" fmla="*/ 0 w 27"/>
                <a:gd name="T5" fmla="*/ 34 h 35"/>
                <a:gd name="T6" fmla="*/ 26 w 27"/>
                <a:gd name="T7" fmla="*/ 6 h 35"/>
                <a:gd name="T8" fmla="*/ 0 60000 65536"/>
                <a:gd name="T9" fmla="*/ 0 60000 65536"/>
                <a:gd name="T10" fmla="*/ 0 60000 65536"/>
                <a:gd name="T11" fmla="*/ 0 60000 65536"/>
                <a:gd name="T12" fmla="*/ 0 w 27"/>
                <a:gd name="T13" fmla="*/ 0 h 35"/>
                <a:gd name="T14" fmla="*/ 27 w 27"/>
                <a:gd name="T15" fmla="*/ 35 h 35"/>
              </a:gdLst>
              <a:ahLst/>
              <a:cxnLst>
                <a:cxn ang="T8">
                  <a:pos x="T0" y="T1"/>
                </a:cxn>
                <a:cxn ang="T9">
                  <a:pos x="T2" y="T3"/>
                </a:cxn>
                <a:cxn ang="T10">
                  <a:pos x="T4" y="T5"/>
                </a:cxn>
                <a:cxn ang="T11">
                  <a:pos x="T6" y="T7"/>
                </a:cxn>
              </a:cxnLst>
              <a:rect l="T12" t="T13" r="T14" b="T15"/>
              <a:pathLst>
                <a:path w="27" h="35">
                  <a:moveTo>
                    <a:pt x="26" y="6"/>
                  </a:moveTo>
                  <a:lnTo>
                    <a:pt x="12" y="0"/>
                  </a:lnTo>
                  <a:lnTo>
                    <a:pt x="0" y="34"/>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3" name="Freeform 4555"/>
            <p:cNvSpPr>
              <a:spLocks/>
            </p:cNvSpPr>
            <p:nvPr/>
          </p:nvSpPr>
          <p:spPr bwMode="auto">
            <a:xfrm>
              <a:off x="2070" y="200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4" name="Line 4556"/>
            <p:cNvSpPr>
              <a:spLocks noChangeShapeType="1"/>
            </p:cNvSpPr>
            <p:nvPr/>
          </p:nvSpPr>
          <p:spPr bwMode="auto">
            <a:xfrm>
              <a:off x="2070" y="2007"/>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5" name="Freeform 4557"/>
            <p:cNvSpPr>
              <a:spLocks/>
            </p:cNvSpPr>
            <p:nvPr/>
          </p:nvSpPr>
          <p:spPr bwMode="auto">
            <a:xfrm>
              <a:off x="2070" y="1977"/>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6" name="Freeform 4558"/>
            <p:cNvSpPr>
              <a:spLocks/>
            </p:cNvSpPr>
            <p:nvPr/>
          </p:nvSpPr>
          <p:spPr bwMode="auto">
            <a:xfrm>
              <a:off x="2070" y="1977"/>
              <a:ext cx="27" cy="31"/>
            </a:xfrm>
            <a:custGeom>
              <a:avLst/>
              <a:gdLst>
                <a:gd name="T0" fmla="*/ 26 w 27"/>
                <a:gd name="T1" fmla="*/ 0 h 31"/>
                <a:gd name="T2" fmla="*/ 13 w 27"/>
                <a:gd name="T3" fmla="*/ 0 h 31"/>
                <a:gd name="T4" fmla="*/ 0 w 27"/>
                <a:gd name="T5" fmla="*/ 30 h 31"/>
                <a:gd name="T6" fmla="*/ 26 w 27"/>
                <a:gd name="T7" fmla="*/ 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26" y="0"/>
                  </a:moveTo>
                  <a:lnTo>
                    <a:pt x="13" y="0"/>
                  </a:lnTo>
                  <a:lnTo>
                    <a:pt x="0" y="3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7" name="Freeform 4559"/>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8" name="Freeform 4560"/>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59" name="Freeform 4561"/>
            <p:cNvSpPr>
              <a:spLocks/>
            </p:cNvSpPr>
            <p:nvPr/>
          </p:nvSpPr>
          <p:spPr bwMode="auto">
            <a:xfrm>
              <a:off x="2081" y="1949"/>
              <a:ext cx="29" cy="29"/>
            </a:xfrm>
            <a:custGeom>
              <a:avLst/>
              <a:gdLst>
                <a:gd name="T0" fmla="*/ 28 w 29"/>
                <a:gd name="T1" fmla="*/ 0 h 29"/>
                <a:gd name="T2" fmla="*/ 0 w 29"/>
                <a:gd name="T3" fmla="*/ 28 h 29"/>
                <a:gd name="T4" fmla="*/ 14 w 29"/>
                <a:gd name="T5" fmla="*/ 28 h 29"/>
                <a:gd name="T6" fmla="*/ 28 w 29"/>
                <a:gd name="T7" fmla="*/ 0 h 29"/>
                <a:gd name="T8" fmla="*/ 0 60000 65536"/>
                <a:gd name="T9" fmla="*/ 0 60000 65536"/>
                <a:gd name="T10" fmla="*/ 0 60000 65536"/>
                <a:gd name="T11" fmla="*/ 0 60000 65536"/>
                <a:gd name="T12" fmla="*/ 0 w 29"/>
                <a:gd name="T13" fmla="*/ 0 h 29"/>
                <a:gd name="T14" fmla="*/ 29 w 29"/>
                <a:gd name="T15" fmla="*/ 29 h 29"/>
              </a:gdLst>
              <a:ahLst/>
              <a:cxnLst>
                <a:cxn ang="T8">
                  <a:pos x="T0" y="T1"/>
                </a:cxn>
                <a:cxn ang="T9">
                  <a:pos x="T2" y="T3"/>
                </a:cxn>
                <a:cxn ang="T10">
                  <a:pos x="T4" y="T5"/>
                </a:cxn>
                <a:cxn ang="T11">
                  <a:pos x="T6" y="T7"/>
                </a:cxn>
              </a:cxnLst>
              <a:rect l="T12" t="T13" r="T14" b="T15"/>
              <a:pathLst>
                <a:path w="29" h="29">
                  <a:moveTo>
                    <a:pt x="28" y="0"/>
                  </a:moveTo>
                  <a:lnTo>
                    <a:pt x="0" y="28"/>
                  </a:lnTo>
                  <a:lnTo>
                    <a:pt x="14" y="28"/>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0" name="Freeform 4562"/>
            <p:cNvSpPr>
              <a:spLocks/>
            </p:cNvSpPr>
            <p:nvPr/>
          </p:nvSpPr>
          <p:spPr bwMode="auto">
            <a:xfrm>
              <a:off x="2081" y="1941"/>
              <a:ext cx="29" cy="37"/>
            </a:xfrm>
            <a:custGeom>
              <a:avLst/>
              <a:gdLst>
                <a:gd name="T0" fmla="*/ 28 w 29"/>
                <a:gd name="T1" fmla="*/ 8 h 37"/>
                <a:gd name="T2" fmla="*/ 14 w 29"/>
                <a:gd name="T3" fmla="*/ 0 h 37"/>
                <a:gd name="T4" fmla="*/ 0 w 29"/>
                <a:gd name="T5" fmla="*/ 36 h 37"/>
                <a:gd name="T6" fmla="*/ 28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28" y="8"/>
                  </a:moveTo>
                  <a:lnTo>
                    <a:pt x="14" y="0"/>
                  </a:lnTo>
                  <a:lnTo>
                    <a:pt x="0" y="36"/>
                  </a:lnTo>
                  <a:lnTo>
                    <a:pt x="28"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1" name="Freeform 4563"/>
            <p:cNvSpPr>
              <a:spLocks/>
            </p:cNvSpPr>
            <p:nvPr/>
          </p:nvSpPr>
          <p:spPr bwMode="auto">
            <a:xfrm>
              <a:off x="2096" y="194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2" name="Line 4564"/>
            <p:cNvSpPr>
              <a:spLocks noChangeShapeType="1"/>
            </p:cNvSpPr>
            <p:nvPr/>
          </p:nvSpPr>
          <p:spPr bwMode="auto">
            <a:xfrm>
              <a:off x="2096" y="19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3" name="Freeform 4565"/>
            <p:cNvSpPr>
              <a:spLocks/>
            </p:cNvSpPr>
            <p:nvPr/>
          </p:nvSpPr>
          <p:spPr bwMode="auto">
            <a:xfrm>
              <a:off x="2096" y="1919"/>
              <a:ext cx="24" cy="31"/>
            </a:xfrm>
            <a:custGeom>
              <a:avLst/>
              <a:gdLst>
                <a:gd name="T0" fmla="*/ 23 w 24"/>
                <a:gd name="T1" fmla="*/ 0 h 31"/>
                <a:gd name="T2" fmla="*/ 0 w 24"/>
                <a:gd name="T3" fmla="*/ 21 h 31"/>
                <a:gd name="T4" fmla="*/ 12 w 24"/>
                <a:gd name="T5" fmla="*/ 30 h 31"/>
                <a:gd name="T6" fmla="*/ 23 w 24"/>
                <a:gd name="T7" fmla="*/ 0 h 31"/>
                <a:gd name="T8" fmla="*/ 0 60000 65536"/>
                <a:gd name="T9" fmla="*/ 0 60000 65536"/>
                <a:gd name="T10" fmla="*/ 0 60000 65536"/>
                <a:gd name="T11" fmla="*/ 0 60000 65536"/>
                <a:gd name="T12" fmla="*/ 0 w 24"/>
                <a:gd name="T13" fmla="*/ 0 h 31"/>
                <a:gd name="T14" fmla="*/ 24 w 24"/>
                <a:gd name="T15" fmla="*/ 31 h 31"/>
              </a:gdLst>
              <a:ahLst/>
              <a:cxnLst>
                <a:cxn ang="T8">
                  <a:pos x="T0" y="T1"/>
                </a:cxn>
                <a:cxn ang="T9">
                  <a:pos x="T2" y="T3"/>
                </a:cxn>
                <a:cxn ang="T10">
                  <a:pos x="T4" y="T5"/>
                </a:cxn>
                <a:cxn ang="T11">
                  <a:pos x="T6" y="T7"/>
                </a:cxn>
              </a:cxnLst>
              <a:rect l="T12" t="T13" r="T14" b="T15"/>
              <a:pathLst>
                <a:path w="24" h="31">
                  <a:moveTo>
                    <a:pt x="23" y="0"/>
                  </a:moveTo>
                  <a:lnTo>
                    <a:pt x="0" y="21"/>
                  </a:lnTo>
                  <a:lnTo>
                    <a:pt x="12" y="30"/>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4" name="Freeform 4566"/>
            <p:cNvSpPr>
              <a:spLocks/>
            </p:cNvSpPr>
            <p:nvPr/>
          </p:nvSpPr>
          <p:spPr bwMode="auto">
            <a:xfrm>
              <a:off x="2096" y="1913"/>
              <a:ext cx="24" cy="29"/>
            </a:xfrm>
            <a:custGeom>
              <a:avLst/>
              <a:gdLst>
                <a:gd name="T0" fmla="*/ 23 w 24"/>
                <a:gd name="T1" fmla="*/ 6 h 29"/>
                <a:gd name="T2" fmla="*/ 12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2" y="0"/>
                  </a:lnTo>
                  <a:lnTo>
                    <a:pt x="0" y="28"/>
                  </a:lnTo>
                  <a:lnTo>
                    <a:pt x="23"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5" name="Freeform 4567"/>
            <p:cNvSpPr>
              <a:spLocks/>
            </p:cNvSpPr>
            <p:nvPr/>
          </p:nvSpPr>
          <p:spPr bwMode="auto">
            <a:xfrm>
              <a:off x="2109" y="1913"/>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6" name="Line 4568"/>
            <p:cNvSpPr>
              <a:spLocks noChangeShapeType="1"/>
            </p:cNvSpPr>
            <p:nvPr/>
          </p:nvSpPr>
          <p:spPr bwMode="auto">
            <a:xfrm>
              <a:off x="2109" y="1913"/>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7" name="Freeform 4569"/>
            <p:cNvSpPr>
              <a:spLocks/>
            </p:cNvSpPr>
            <p:nvPr/>
          </p:nvSpPr>
          <p:spPr bwMode="auto">
            <a:xfrm>
              <a:off x="2109" y="1892"/>
              <a:ext cx="26" cy="28"/>
            </a:xfrm>
            <a:custGeom>
              <a:avLst/>
              <a:gdLst>
                <a:gd name="T0" fmla="*/ 25 w 26"/>
                <a:gd name="T1" fmla="*/ 0 h 28"/>
                <a:gd name="T2" fmla="*/ 0 w 26"/>
                <a:gd name="T3" fmla="*/ 20 h 28"/>
                <a:gd name="T4" fmla="*/ 11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20"/>
                  </a:lnTo>
                  <a:lnTo>
                    <a:pt x="11"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8" name="Freeform 4570"/>
            <p:cNvSpPr>
              <a:spLocks/>
            </p:cNvSpPr>
            <p:nvPr/>
          </p:nvSpPr>
          <p:spPr bwMode="auto">
            <a:xfrm>
              <a:off x="2109" y="1886"/>
              <a:ext cx="26" cy="28"/>
            </a:xfrm>
            <a:custGeom>
              <a:avLst/>
              <a:gdLst>
                <a:gd name="T0" fmla="*/ 25 w 26"/>
                <a:gd name="T1" fmla="*/ 6 h 28"/>
                <a:gd name="T2" fmla="*/ 11 w 26"/>
                <a:gd name="T3" fmla="*/ 0 h 28"/>
                <a:gd name="T4" fmla="*/ 0 w 26"/>
                <a:gd name="T5" fmla="*/ 27 h 28"/>
                <a:gd name="T6" fmla="*/ 25 w 26"/>
                <a:gd name="T7" fmla="*/ 6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6"/>
                  </a:moveTo>
                  <a:lnTo>
                    <a:pt x="11" y="0"/>
                  </a:lnTo>
                  <a:lnTo>
                    <a:pt x="0" y="27"/>
                  </a:lnTo>
                  <a:lnTo>
                    <a:pt x="25"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69" name="Freeform 4571"/>
            <p:cNvSpPr>
              <a:spLocks/>
            </p:cNvSpPr>
            <p:nvPr/>
          </p:nvSpPr>
          <p:spPr bwMode="auto">
            <a:xfrm>
              <a:off x="2119" y="1886"/>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0" name="Line 4572"/>
            <p:cNvSpPr>
              <a:spLocks noChangeShapeType="1"/>
            </p:cNvSpPr>
            <p:nvPr/>
          </p:nvSpPr>
          <p:spPr bwMode="auto">
            <a:xfrm>
              <a:off x="2119" y="1886"/>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1" name="Freeform 4573"/>
            <p:cNvSpPr>
              <a:spLocks/>
            </p:cNvSpPr>
            <p:nvPr/>
          </p:nvSpPr>
          <p:spPr bwMode="auto">
            <a:xfrm>
              <a:off x="2119" y="1864"/>
              <a:ext cx="28" cy="29"/>
            </a:xfrm>
            <a:custGeom>
              <a:avLst/>
              <a:gdLst>
                <a:gd name="T0" fmla="*/ 27 w 28"/>
                <a:gd name="T1" fmla="*/ 0 h 29"/>
                <a:gd name="T2" fmla="*/ 0 w 28"/>
                <a:gd name="T3" fmla="*/ 21 h 29"/>
                <a:gd name="T4" fmla="*/ 13 w 28"/>
                <a:gd name="T5" fmla="*/ 28 h 29"/>
                <a:gd name="T6" fmla="*/ 27 w 28"/>
                <a:gd name="T7" fmla="*/ 0 h 29"/>
                <a:gd name="T8" fmla="*/ 0 60000 65536"/>
                <a:gd name="T9" fmla="*/ 0 60000 65536"/>
                <a:gd name="T10" fmla="*/ 0 60000 65536"/>
                <a:gd name="T11" fmla="*/ 0 60000 65536"/>
                <a:gd name="T12" fmla="*/ 0 w 28"/>
                <a:gd name="T13" fmla="*/ 0 h 29"/>
                <a:gd name="T14" fmla="*/ 28 w 28"/>
                <a:gd name="T15" fmla="*/ 29 h 29"/>
              </a:gdLst>
              <a:ahLst/>
              <a:cxnLst>
                <a:cxn ang="T8">
                  <a:pos x="T0" y="T1"/>
                </a:cxn>
                <a:cxn ang="T9">
                  <a:pos x="T2" y="T3"/>
                </a:cxn>
                <a:cxn ang="T10">
                  <a:pos x="T4" y="T5"/>
                </a:cxn>
                <a:cxn ang="T11">
                  <a:pos x="T6" y="T7"/>
                </a:cxn>
              </a:cxnLst>
              <a:rect l="T12" t="T13" r="T14" b="T15"/>
              <a:pathLst>
                <a:path w="28" h="29">
                  <a:moveTo>
                    <a:pt x="27" y="0"/>
                  </a:moveTo>
                  <a:lnTo>
                    <a:pt x="0" y="21"/>
                  </a:lnTo>
                  <a:lnTo>
                    <a:pt x="13" y="28"/>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2" name="Freeform 4574"/>
            <p:cNvSpPr>
              <a:spLocks/>
            </p:cNvSpPr>
            <p:nvPr/>
          </p:nvSpPr>
          <p:spPr bwMode="auto">
            <a:xfrm>
              <a:off x="2119" y="1856"/>
              <a:ext cx="28" cy="31"/>
            </a:xfrm>
            <a:custGeom>
              <a:avLst/>
              <a:gdLst>
                <a:gd name="T0" fmla="*/ 27 w 28"/>
                <a:gd name="T1" fmla="*/ 8 h 31"/>
                <a:gd name="T2" fmla="*/ 13 w 28"/>
                <a:gd name="T3" fmla="*/ 0 h 31"/>
                <a:gd name="T4" fmla="*/ 0 w 28"/>
                <a:gd name="T5" fmla="*/ 30 h 31"/>
                <a:gd name="T6" fmla="*/ 27 w 28"/>
                <a:gd name="T7" fmla="*/ 8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8"/>
                  </a:moveTo>
                  <a:lnTo>
                    <a:pt x="13" y="0"/>
                  </a:lnTo>
                  <a:lnTo>
                    <a:pt x="0" y="30"/>
                  </a:lnTo>
                  <a:lnTo>
                    <a:pt x="27"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3" name="Freeform 4575"/>
            <p:cNvSpPr>
              <a:spLocks/>
            </p:cNvSpPr>
            <p:nvPr/>
          </p:nvSpPr>
          <p:spPr bwMode="auto">
            <a:xfrm>
              <a:off x="2134" y="1856"/>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4" name="Line 4576"/>
            <p:cNvSpPr>
              <a:spLocks noChangeShapeType="1"/>
            </p:cNvSpPr>
            <p:nvPr/>
          </p:nvSpPr>
          <p:spPr bwMode="auto">
            <a:xfrm>
              <a:off x="2134" y="1856"/>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5" name="Freeform 4577"/>
            <p:cNvSpPr>
              <a:spLocks/>
            </p:cNvSpPr>
            <p:nvPr/>
          </p:nvSpPr>
          <p:spPr bwMode="auto">
            <a:xfrm>
              <a:off x="2134" y="1835"/>
              <a:ext cx="24" cy="30"/>
            </a:xfrm>
            <a:custGeom>
              <a:avLst/>
              <a:gdLst>
                <a:gd name="T0" fmla="*/ 23 w 24"/>
                <a:gd name="T1" fmla="*/ 0 h 30"/>
                <a:gd name="T2" fmla="*/ 0 w 24"/>
                <a:gd name="T3" fmla="*/ 20 h 30"/>
                <a:gd name="T4" fmla="*/ 11 w 24"/>
                <a:gd name="T5" fmla="*/ 29 h 30"/>
                <a:gd name="T6" fmla="*/ 23 w 24"/>
                <a:gd name="T7" fmla="*/ 0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0"/>
                  </a:moveTo>
                  <a:lnTo>
                    <a:pt x="0" y="20"/>
                  </a:lnTo>
                  <a:lnTo>
                    <a:pt x="11" y="29"/>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6" name="Freeform 4578"/>
            <p:cNvSpPr>
              <a:spLocks/>
            </p:cNvSpPr>
            <p:nvPr/>
          </p:nvSpPr>
          <p:spPr bwMode="auto">
            <a:xfrm>
              <a:off x="2134" y="1828"/>
              <a:ext cx="24" cy="29"/>
            </a:xfrm>
            <a:custGeom>
              <a:avLst/>
              <a:gdLst>
                <a:gd name="T0" fmla="*/ 23 w 24"/>
                <a:gd name="T1" fmla="*/ 6 h 29"/>
                <a:gd name="T2" fmla="*/ 11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1" y="0"/>
                  </a:lnTo>
                  <a:lnTo>
                    <a:pt x="0" y="28"/>
                  </a:lnTo>
                  <a:lnTo>
                    <a:pt x="23"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7" name="Freeform 4579"/>
            <p:cNvSpPr>
              <a:spLocks/>
            </p:cNvSpPr>
            <p:nvPr/>
          </p:nvSpPr>
          <p:spPr bwMode="auto">
            <a:xfrm>
              <a:off x="2146" y="182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8" name="Line 4580"/>
            <p:cNvSpPr>
              <a:spLocks noChangeShapeType="1"/>
            </p:cNvSpPr>
            <p:nvPr/>
          </p:nvSpPr>
          <p:spPr bwMode="auto">
            <a:xfrm>
              <a:off x="2146" y="182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79" name="Freeform 4581"/>
            <p:cNvSpPr>
              <a:spLocks/>
            </p:cNvSpPr>
            <p:nvPr/>
          </p:nvSpPr>
          <p:spPr bwMode="auto">
            <a:xfrm>
              <a:off x="2146" y="1813"/>
              <a:ext cx="24" cy="28"/>
            </a:xfrm>
            <a:custGeom>
              <a:avLst/>
              <a:gdLst>
                <a:gd name="T0" fmla="*/ 23 w 24"/>
                <a:gd name="T1" fmla="*/ 0 h 28"/>
                <a:gd name="T2" fmla="*/ 0 w 24"/>
                <a:gd name="T3" fmla="*/ 18 h 28"/>
                <a:gd name="T4" fmla="*/ 12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18"/>
                  </a:lnTo>
                  <a:lnTo>
                    <a:pt x="12" y="27"/>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0" name="Freeform 4582"/>
            <p:cNvSpPr>
              <a:spLocks/>
            </p:cNvSpPr>
            <p:nvPr/>
          </p:nvSpPr>
          <p:spPr bwMode="auto">
            <a:xfrm>
              <a:off x="2146" y="1807"/>
              <a:ext cx="24" cy="26"/>
            </a:xfrm>
            <a:custGeom>
              <a:avLst/>
              <a:gdLst>
                <a:gd name="T0" fmla="*/ 23 w 24"/>
                <a:gd name="T1" fmla="*/ 7 h 26"/>
                <a:gd name="T2" fmla="*/ 12 w 24"/>
                <a:gd name="T3" fmla="*/ 0 h 26"/>
                <a:gd name="T4" fmla="*/ 0 w 24"/>
                <a:gd name="T5" fmla="*/ 25 h 26"/>
                <a:gd name="T6" fmla="*/ 23 w 24"/>
                <a:gd name="T7" fmla="*/ 7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7"/>
                  </a:moveTo>
                  <a:lnTo>
                    <a:pt x="12" y="0"/>
                  </a:lnTo>
                  <a:lnTo>
                    <a:pt x="0" y="25"/>
                  </a:lnTo>
                  <a:lnTo>
                    <a:pt x="23" y="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1" name="Freeform 4583"/>
            <p:cNvSpPr>
              <a:spLocks/>
            </p:cNvSpPr>
            <p:nvPr/>
          </p:nvSpPr>
          <p:spPr bwMode="auto">
            <a:xfrm>
              <a:off x="2157" y="180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2" name="Line 4584"/>
            <p:cNvSpPr>
              <a:spLocks noChangeShapeType="1"/>
            </p:cNvSpPr>
            <p:nvPr/>
          </p:nvSpPr>
          <p:spPr bwMode="auto">
            <a:xfrm>
              <a:off x="2157" y="180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3" name="Freeform 4585"/>
            <p:cNvSpPr>
              <a:spLocks/>
            </p:cNvSpPr>
            <p:nvPr/>
          </p:nvSpPr>
          <p:spPr bwMode="auto">
            <a:xfrm>
              <a:off x="2157" y="1792"/>
              <a:ext cx="28" cy="27"/>
            </a:xfrm>
            <a:custGeom>
              <a:avLst/>
              <a:gdLst>
                <a:gd name="T0" fmla="*/ 27 w 28"/>
                <a:gd name="T1" fmla="*/ 0 h 27"/>
                <a:gd name="T2" fmla="*/ 0 w 28"/>
                <a:gd name="T3" fmla="*/ 18 h 27"/>
                <a:gd name="T4" fmla="*/ 16 w 28"/>
                <a:gd name="T5" fmla="*/ 26 h 27"/>
                <a:gd name="T6" fmla="*/ 27 w 28"/>
                <a:gd name="T7" fmla="*/ 0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0"/>
                  </a:moveTo>
                  <a:lnTo>
                    <a:pt x="0" y="18"/>
                  </a:lnTo>
                  <a:lnTo>
                    <a:pt x="16" y="26"/>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4" name="Freeform 4586"/>
            <p:cNvSpPr>
              <a:spLocks/>
            </p:cNvSpPr>
            <p:nvPr/>
          </p:nvSpPr>
          <p:spPr bwMode="auto">
            <a:xfrm>
              <a:off x="2157" y="1785"/>
              <a:ext cx="28" cy="28"/>
            </a:xfrm>
            <a:custGeom>
              <a:avLst/>
              <a:gdLst>
                <a:gd name="T0" fmla="*/ 27 w 28"/>
                <a:gd name="T1" fmla="*/ 8 h 28"/>
                <a:gd name="T2" fmla="*/ 16 w 28"/>
                <a:gd name="T3" fmla="*/ 0 h 28"/>
                <a:gd name="T4" fmla="*/ 0 w 28"/>
                <a:gd name="T5" fmla="*/ 27 h 28"/>
                <a:gd name="T6" fmla="*/ 27 w 28"/>
                <a:gd name="T7" fmla="*/ 8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8"/>
                  </a:moveTo>
                  <a:lnTo>
                    <a:pt x="16" y="0"/>
                  </a:lnTo>
                  <a:lnTo>
                    <a:pt x="0" y="27"/>
                  </a:lnTo>
                  <a:lnTo>
                    <a:pt x="27"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5" name="Freeform 4587"/>
            <p:cNvSpPr>
              <a:spLocks/>
            </p:cNvSpPr>
            <p:nvPr/>
          </p:nvSpPr>
          <p:spPr bwMode="auto">
            <a:xfrm>
              <a:off x="2169" y="1785"/>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6" name="Line 4588"/>
            <p:cNvSpPr>
              <a:spLocks noChangeShapeType="1"/>
            </p:cNvSpPr>
            <p:nvPr/>
          </p:nvSpPr>
          <p:spPr bwMode="auto">
            <a:xfrm>
              <a:off x="2169" y="1785"/>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7" name="Freeform 4589"/>
            <p:cNvSpPr>
              <a:spLocks/>
            </p:cNvSpPr>
            <p:nvPr/>
          </p:nvSpPr>
          <p:spPr bwMode="auto">
            <a:xfrm>
              <a:off x="2169" y="1777"/>
              <a:ext cx="27" cy="28"/>
            </a:xfrm>
            <a:custGeom>
              <a:avLst/>
              <a:gdLst>
                <a:gd name="T0" fmla="*/ 26 w 27"/>
                <a:gd name="T1" fmla="*/ 0 h 28"/>
                <a:gd name="T2" fmla="*/ 0 w 27"/>
                <a:gd name="T3" fmla="*/ 15 h 28"/>
                <a:gd name="T4" fmla="*/ 1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0"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8" name="Freeform 4590"/>
            <p:cNvSpPr>
              <a:spLocks/>
            </p:cNvSpPr>
            <p:nvPr/>
          </p:nvSpPr>
          <p:spPr bwMode="auto">
            <a:xfrm>
              <a:off x="2169" y="1771"/>
              <a:ext cx="27" cy="27"/>
            </a:xfrm>
            <a:custGeom>
              <a:avLst/>
              <a:gdLst>
                <a:gd name="T0" fmla="*/ 26 w 27"/>
                <a:gd name="T1" fmla="*/ 11 h 27"/>
                <a:gd name="T2" fmla="*/ 18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8" y="0"/>
                  </a:lnTo>
                  <a:lnTo>
                    <a:pt x="0" y="26"/>
                  </a:lnTo>
                  <a:lnTo>
                    <a:pt x="26"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89" name="Freeform 4591"/>
            <p:cNvSpPr>
              <a:spLocks/>
            </p:cNvSpPr>
            <p:nvPr/>
          </p:nvSpPr>
          <p:spPr bwMode="auto">
            <a:xfrm>
              <a:off x="2184" y="177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0" name="Line 4592"/>
            <p:cNvSpPr>
              <a:spLocks noChangeShapeType="1"/>
            </p:cNvSpPr>
            <p:nvPr/>
          </p:nvSpPr>
          <p:spPr bwMode="auto">
            <a:xfrm>
              <a:off x="2184" y="1771"/>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1" name="Freeform 4593"/>
            <p:cNvSpPr>
              <a:spLocks/>
            </p:cNvSpPr>
            <p:nvPr/>
          </p:nvSpPr>
          <p:spPr bwMode="auto">
            <a:xfrm>
              <a:off x="2184" y="1764"/>
              <a:ext cx="24" cy="27"/>
            </a:xfrm>
            <a:custGeom>
              <a:avLst/>
              <a:gdLst>
                <a:gd name="T0" fmla="*/ 23 w 24"/>
                <a:gd name="T1" fmla="*/ 0 h 27"/>
                <a:gd name="T2" fmla="*/ 0 w 24"/>
                <a:gd name="T3" fmla="*/ 13 h 27"/>
                <a:gd name="T4" fmla="*/ 7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3"/>
                  </a:lnTo>
                  <a:lnTo>
                    <a:pt x="7"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2" name="Freeform 4594"/>
            <p:cNvSpPr>
              <a:spLocks/>
            </p:cNvSpPr>
            <p:nvPr/>
          </p:nvSpPr>
          <p:spPr bwMode="auto">
            <a:xfrm>
              <a:off x="2184" y="1755"/>
              <a:ext cx="24" cy="28"/>
            </a:xfrm>
            <a:custGeom>
              <a:avLst/>
              <a:gdLst>
                <a:gd name="T0" fmla="*/ 23 w 24"/>
                <a:gd name="T1" fmla="*/ 15 h 28"/>
                <a:gd name="T2" fmla="*/ 15 w 24"/>
                <a:gd name="T3" fmla="*/ 0 h 28"/>
                <a:gd name="T4" fmla="*/ 0 w 24"/>
                <a:gd name="T5" fmla="*/ 27 h 28"/>
                <a:gd name="T6" fmla="*/ 23 w 24"/>
                <a:gd name="T7" fmla="*/ 15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5"/>
                  </a:moveTo>
                  <a:lnTo>
                    <a:pt x="15" y="0"/>
                  </a:lnTo>
                  <a:lnTo>
                    <a:pt x="0" y="27"/>
                  </a:lnTo>
                  <a:lnTo>
                    <a:pt x="23"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3" name="Freeform 4595"/>
            <p:cNvSpPr>
              <a:spLocks/>
            </p:cNvSpPr>
            <p:nvPr/>
          </p:nvSpPr>
          <p:spPr bwMode="auto">
            <a:xfrm>
              <a:off x="2195" y="1749"/>
              <a:ext cx="27" cy="28"/>
            </a:xfrm>
            <a:custGeom>
              <a:avLst/>
              <a:gdLst>
                <a:gd name="T0" fmla="*/ 0 w 27"/>
                <a:gd name="T1" fmla="*/ 0 h 28"/>
                <a:gd name="T2" fmla="*/ 0 w 27"/>
                <a:gd name="T3" fmla="*/ 27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27"/>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4" name="Freeform 4596"/>
            <p:cNvSpPr>
              <a:spLocks/>
            </p:cNvSpPr>
            <p:nvPr/>
          </p:nvSpPr>
          <p:spPr bwMode="auto">
            <a:xfrm>
              <a:off x="2195" y="1749"/>
              <a:ext cx="1" cy="28"/>
            </a:xfrm>
            <a:custGeom>
              <a:avLst/>
              <a:gdLst>
                <a:gd name="T0" fmla="*/ 0 w 1"/>
                <a:gd name="T1" fmla="*/ 0 h 28"/>
                <a:gd name="T2" fmla="*/ 0 w 1"/>
                <a:gd name="T3" fmla="*/ 27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5" name="Freeform 4597"/>
            <p:cNvSpPr>
              <a:spLocks/>
            </p:cNvSpPr>
            <p:nvPr/>
          </p:nvSpPr>
          <p:spPr bwMode="auto">
            <a:xfrm>
              <a:off x="2195" y="1749"/>
              <a:ext cx="27" cy="28"/>
            </a:xfrm>
            <a:custGeom>
              <a:avLst/>
              <a:gdLst>
                <a:gd name="T0" fmla="*/ 26 w 27"/>
                <a:gd name="T1" fmla="*/ 0 h 28"/>
                <a:gd name="T2" fmla="*/ 0 w 27"/>
                <a:gd name="T3" fmla="*/ 0 h 28"/>
                <a:gd name="T4" fmla="*/ 8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8"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6" name="Freeform 4598"/>
            <p:cNvSpPr>
              <a:spLocks/>
            </p:cNvSpPr>
            <p:nvPr/>
          </p:nvSpPr>
          <p:spPr bwMode="auto">
            <a:xfrm>
              <a:off x="2195" y="1742"/>
              <a:ext cx="27" cy="28"/>
            </a:xfrm>
            <a:custGeom>
              <a:avLst/>
              <a:gdLst>
                <a:gd name="T0" fmla="*/ 26 w 27"/>
                <a:gd name="T1" fmla="*/ 27 h 28"/>
                <a:gd name="T2" fmla="*/ 16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6"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7" name="Freeform 4599"/>
            <p:cNvSpPr>
              <a:spLocks/>
            </p:cNvSpPr>
            <p:nvPr/>
          </p:nvSpPr>
          <p:spPr bwMode="auto">
            <a:xfrm>
              <a:off x="2206" y="1742"/>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8" name="Line 4600"/>
            <p:cNvSpPr>
              <a:spLocks noChangeShapeType="1"/>
            </p:cNvSpPr>
            <p:nvPr/>
          </p:nvSpPr>
          <p:spPr bwMode="auto">
            <a:xfrm>
              <a:off x="2206" y="1742"/>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199" name="Freeform 4601"/>
            <p:cNvSpPr>
              <a:spLocks/>
            </p:cNvSpPr>
            <p:nvPr/>
          </p:nvSpPr>
          <p:spPr bwMode="auto">
            <a:xfrm>
              <a:off x="2206" y="1742"/>
              <a:ext cx="25" cy="28"/>
            </a:xfrm>
            <a:custGeom>
              <a:avLst/>
              <a:gdLst>
                <a:gd name="T0" fmla="*/ 24 w 25"/>
                <a:gd name="T1" fmla="*/ 0 h 28"/>
                <a:gd name="T2" fmla="*/ 0 w 25"/>
                <a:gd name="T3" fmla="*/ 0 h 28"/>
                <a:gd name="T4" fmla="*/ 9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0"/>
                  </a:lnTo>
                  <a:lnTo>
                    <a:pt x="9" y="27"/>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0" name="Freeform 4602"/>
            <p:cNvSpPr>
              <a:spLocks/>
            </p:cNvSpPr>
            <p:nvPr/>
          </p:nvSpPr>
          <p:spPr bwMode="auto">
            <a:xfrm>
              <a:off x="2206" y="1734"/>
              <a:ext cx="25" cy="28"/>
            </a:xfrm>
            <a:custGeom>
              <a:avLst/>
              <a:gdLst>
                <a:gd name="T0" fmla="*/ 24 w 25"/>
                <a:gd name="T1" fmla="*/ 27 h 28"/>
                <a:gd name="T2" fmla="*/ 16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6"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1" name="Freeform 4603"/>
            <p:cNvSpPr>
              <a:spLocks/>
            </p:cNvSpPr>
            <p:nvPr/>
          </p:nvSpPr>
          <p:spPr bwMode="auto">
            <a:xfrm>
              <a:off x="2216" y="1734"/>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2" name="Line 4604"/>
            <p:cNvSpPr>
              <a:spLocks noChangeShapeType="1"/>
            </p:cNvSpPr>
            <p:nvPr/>
          </p:nvSpPr>
          <p:spPr bwMode="auto">
            <a:xfrm>
              <a:off x="2216" y="1734"/>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3" name="Freeform 4605"/>
            <p:cNvSpPr>
              <a:spLocks/>
            </p:cNvSpPr>
            <p:nvPr/>
          </p:nvSpPr>
          <p:spPr bwMode="auto">
            <a:xfrm>
              <a:off x="2216" y="1734"/>
              <a:ext cx="29" cy="28"/>
            </a:xfrm>
            <a:custGeom>
              <a:avLst/>
              <a:gdLst>
                <a:gd name="T0" fmla="*/ 28 w 29"/>
                <a:gd name="T1" fmla="*/ 27 h 28"/>
                <a:gd name="T2" fmla="*/ 0 w 29"/>
                <a:gd name="T3" fmla="*/ 0 h 28"/>
                <a:gd name="T4" fmla="*/ 8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8" y="27"/>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4" name="Freeform 4606"/>
            <p:cNvSpPr>
              <a:spLocks/>
            </p:cNvSpPr>
            <p:nvPr/>
          </p:nvSpPr>
          <p:spPr bwMode="auto">
            <a:xfrm>
              <a:off x="2216" y="1728"/>
              <a:ext cx="29" cy="28"/>
            </a:xfrm>
            <a:custGeom>
              <a:avLst/>
              <a:gdLst>
                <a:gd name="T0" fmla="*/ 28 w 29"/>
                <a:gd name="T1" fmla="*/ 27 h 28"/>
                <a:gd name="T2" fmla="*/ 19 w 29"/>
                <a:gd name="T3" fmla="*/ 0 h 28"/>
                <a:gd name="T4" fmla="*/ 0 w 29"/>
                <a:gd name="T5" fmla="*/ 12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9" y="0"/>
                  </a:lnTo>
                  <a:lnTo>
                    <a:pt x="0" y="12"/>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5" name="Freeform 4607"/>
            <p:cNvSpPr>
              <a:spLocks/>
            </p:cNvSpPr>
            <p:nvPr/>
          </p:nvSpPr>
          <p:spPr bwMode="auto">
            <a:xfrm>
              <a:off x="2233" y="1728"/>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6" name="Line 4608"/>
            <p:cNvSpPr>
              <a:spLocks noChangeShapeType="1"/>
            </p:cNvSpPr>
            <p:nvPr/>
          </p:nvSpPr>
          <p:spPr bwMode="auto">
            <a:xfrm>
              <a:off x="2233" y="1728"/>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7" name="Freeform 4609"/>
            <p:cNvSpPr>
              <a:spLocks/>
            </p:cNvSpPr>
            <p:nvPr/>
          </p:nvSpPr>
          <p:spPr bwMode="auto">
            <a:xfrm>
              <a:off x="2233" y="1728"/>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8" name="Freeform 4610"/>
            <p:cNvSpPr>
              <a:spLocks/>
            </p:cNvSpPr>
            <p:nvPr/>
          </p:nvSpPr>
          <p:spPr bwMode="auto">
            <a:xfrm>
              <a:off x="2233" y="1728"/>
              <a:ext cx="26" cy="28"/>
            </a:xfrm>
            <a:custGeom>
              <a:avLst/>
              <a:gdLst>
                <a:gd name="T0" fmla="*/ 0 w 26"/>
                <a:gd name="T1" fmla="*/ 0 h 28"/>
                <a:gd name="T2" fmla="*/ 25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25"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09" name="Freeform 4611"/>
            <p:cNvSpPr>
              <a:spLocks/>
            </p:cNvSpPr>
            <p:nvPr/>
          </p:nvSpPr>
          <p:spPr bwMode="auto">
            <a:xfrm>
              <a:off x="2245" y="1728"/>
              <a:ext cx="27" cy="28"/>
            </a:xfrm>
            <a:custGeom>
              <a:avLst/>
              <a:gdLst>
                <a:gd name="T0" fmla="*/ 0 w 27"/>
                <a:gd name="T1" fmla="*/ 0 h 28"/>
                <a:gd name="T2" fmla="*/ 0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0"/>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0" name="Line 4612"/>
            <p:cNvSpPr>
              <a:spLocks noChangeShapeType="1"/>
            </p:cNvSpPr>
            <p:nvPr/>
          </p:nvSpPr>
          <p:spPr bwMode="auto">
            <a:xfrm>
              <a:off x="2245" y="1728"/>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1" name="Freeform 4613"/>
            <p:cNvSpPr>
              <a:spLocks/>
            </p:cNvSpPr>
            <p:nvPr/>
          </p:nvSpPr>
          <p:spPr bwMode="auto">
            <a:xfrm>
              <a:off x="2245" y="1728"/>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2" name="Freeform 4614"/>
            <p:cNvSpPr>
              <a:spLocks/>
            </p:cNvSpPr>
            <p:nvPr/>
          </p:nvSpPr>
          <p:spPr bwMode="auto">
            <a:xfrm>
              <a:off x="2245" y="1728"/>
              <a:ext cx="27" cy="28"/>
            </a:xfrm>
            <a:custGeom>
              <a:avLst/>
              <a:gdLst>
                <a:gd name="T0" fmla="*/ 0 w 27"/>
                <a:gd name="T1" fmla="*/ 0 h 28"/>
                <a:gd name="T2" fmla="*/ 26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26" y="0"/>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3" name="Freeform 4615"/>
            <p:cNvSpPr>
              <a:spLocks/>
            </p:cNvSpPr>
            <p:nvPr/>
          </p:nvSpPr>
          <p:spPr bwMode="auto">
            <a:xfrm>
              <a:off x="2254" y="1728"/>
              <a:ext cx="29" cy="28"/>
            </a:xfrm>
            <a:custGeom>
              <a:avLst/>
              <a:gdLst>
                <a:gd name="T0" fmla="*/ 0 w 29"/>
                <a:gd name="T1" fmla="*/ 0 h 28"/>
                <a:gd name="T2" fmla="*/ 0 w 29"/>
                <a:gd name="T3" fmla="*/ 0 h 28"/>
                <a:gd name="T4" fmla="*/ 28 w 29"/>
                <a:gd name="T5" fmla="*/ 27 h 28"/>
                <a:gd name="T6" fmla="*/ 0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0"/>
                  </a:moveTo>
                  <a:lnTo>
                    <a:pt x="0" y="0"/>
                  </a:lnTo>
                  <a:lnTo>
                    <a:pt x="28"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4" name="Line 4616"/>
            <p:cNvSpPr>
              <a:spLocks noChangeShapeType="1"/>
            </p:cNvSpPr>
            <p:nvPr/>
          </p:nvSpPr>
          <p:spPr bwMode="auto">
            <a:xfrm>
              <a:off x="2254" y="1728"/>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5" name="Freeform 4617"/>
            <p:cNvSpPr>
              <a:spLocks/>
            </p:cNvSpPr>
            <p:nvPr/>
          </p:nvSpPr>
          <p:spPr bwMode="auto">
            <a:xfrm>
              <a:off x="2254" y="1728"/>
              <a:ext cx="29" cy="28"/>
            </a:xfrm>
            <a:custGeom>
              <a:avLst/>
              <a:gdLst>
                <a:gd name="T0" fmla="*/ 28 w 29"/>
                <a:gd name="T1" fmla="*/ 27 h 28"/>
                <a:gd name="T2" fmla="*/ 0 w 29"/>
                <a:gd name="T3" fmla="*/ 0 h 28"/>
                <a:gd name="T4" fmla="*/ 0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0" y="27"/>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6" name="Freeform 4618"/>
            <p:cNvSpPr>
              <a:spLocks/>
            </p:cNvSpPr>
            <p:nvPr/>
          </p:nvSpPr>
          <p:spPr bwMode="auto">
            <a:xfrm>
              <a:off x="2254" y="1728"/>
              <a:ext cx="29" cy="28"/>
            </a:xfrm>
            <a:custGeom>
              <a:avLst/>
              <a:gdLst>
                <a:gd name="T0" fmla="*/ 28 w 29"/>
                <a:gd name="T1" fmla="*/ 27 h 28"/>
                <a:gd name="T2" fmla="*/ 28 w 29"/>
                <a:gd name="T3" fmla="*/ 12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12"/>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7" name="Freeform 4619"/>
            <p:cNvSpPr>
              <a:spLocks/>
            </p:cNvSpPr>
            <p:nvPr/>
          </p:nvSpPr>
          <p:spPr bwMode="auto">
            <a:xfrm>
              <a:off x="2267" y="1734"/>
              <a:ext cx="26" cy="28"/>
            </a:xfrm>
            <a:custGeom>
              <a:avLst/>
              <a:gdLst>
                <a:gd name="T0" fmla="*/ 25 w 26"/>
                <a:gd name="T1" fmla="*/ 0 h 28"/>
                <a:gd name="T2" fmla="*/ 0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0"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8" name="Freeform 4620"/>
            <p:cNvSpPr>
              <a:spLocks/>
            </p:cNvSpPr>
            <p:nvPr/>
          </p:nvSpPr>
          <p:spPr bwMode="auto">
            <a:xfrm>
              <a:off x="2267" y="1734"/>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19" name="Freeform 4621"/>
            <p:cNvSpPr>
              <a:spLocks/>
            </p:cNvSpPr>
            <p:nvPr/>
          </p:nvSpPr>
          <p:spPr bwMode="auto">
            <a:xfrm>
              <a:off x="2262" y="1734"/>
              <a:ext cx="25" cy="28"/>
            </a:xfrm>
            <a:custGeom>
              <a:avLst/>
              <a:gdLst>
                <a:gd name="T0" fmla="*/ 24 w 25"/>
                <a:gd name="T1" fmla="*/ 27 h 28"/>
                <a:gd name="T2" fmla="*/ 24 w 25"/>
                <a:gd name="T3" fmla="*/ 0 h 28"/>
                <a:gd name="T4" fmla="*/ 0 w 25"/>
                <a:gd name="T5" fmla="*/ 15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15"/>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0" name="Freeform 4622"/>
            <p:cNvSpPr>
              <a:spLocks/>
            </p:cNvSpPr>
            <p:nvPr/>
          </p:nvSpPr>
          <p:spPr bwMode="auto">
            <a:xfrm>
              <a:off x="2275" y="1734"/>
              <a:ext cx="25" cy="28"/>
            </a:xfrm>
            <a:custGeom>
              <a:avLst/>
              <a:gdLst>
                <a:gd name="T0" fmla="*/ 0 w 25"/>
                <a:gd name="T1" fmla="*/ 27 h 28"/>
                <a:gd name="T2" fmla="*/ 24 w 25"/>
                <a:gd name="T3" fmla="*/ 15 h 28"/>
                <a:gd name="T4" fmla="*/ 0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24" y="15"/>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1" name="Freeform 4623"/>
            <p:cNvSpPr>
              <a:spLocks/>
            </p:cNvSpPr>
            <p:nvPr/>
          </p:nvSpPr>
          <p:spPr bwMode="auto">
            <a:xfrm>
              <a:off x="2282" y="1742"/>
              <a:ext cx="24" cy="28"/>
            </a:xfrm>
            <a:custGeom>
              <a:avLst/>
              <a:gdLst>
                <a:gd name="T0" fmla="*/ 23 w 24"/>
                <a:gd name="T1" fmla="*/ 0 h 28"/>
                <a:gd name="T2" fmla="*/ 0 w 24"/>
                <a:gd name="T3" fmla="*/ 0 h 28"/>
                <a:gd name="T4" fmla="*/ 0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0"/>
                  </a:lnTo>
                  <a:lnTo>
                    <a:pt x="0" y="27"/>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2" name="Freeform 4624"/>
            <p:cNvSpPr>
              <a:spLocks/>
            </p:cNvSpPr>
            <p:nvPr/>
          </p:nvSpPr>
          <p:spPr bwMode="auto">
            <a:xfrm>
              <a:off x="2282" y="1742"/>
              <a:ext cx="24" cy="1"/>
            </a:xfrm>
            <a:custGeom>
              <a:avLst/>
              <a:gdLst>
                <a:gd name="T0" fmla="*/ 23 w 24"/>
                <a:gd name="T1" fmla="*/ 0 h 1"/>
                <a:gd name="T2" fmla="*/ 23 w 24"/>
                <a:gd name="T3" fmla="*/ 0 h 1"/>
                <a:gd name="T4" fmla="*/ 0 w 24"/>
                <a:gd name="T5" fmla="*/ 0 h 1"/>
                <a:gd name="T6" fmla="*/ 23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23" y="0"/>
                  </a:moveTo>
                  <a:lnTo>
                    <a:pt x="23" y="0"/>
                  </a:lnTo>
                  <a:lnTo>
                    <a:pt x="0" y="0"/>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3" name="Freeform 4625"/>
            <p:cNvSpPr>
              <a:spLocks/>
            </p:cNvSpPr>
            <p:nvPr/>
          </p:nvSpPr>
          <p:spPr bwMode="auto">
            <a:xfrm>
              <a:off x="2275" y="1742"/>
              <a:ext cx="25" cy="28"/>
            </a:xfrm>
            <a:custGeom>
              <a:avLst/>
              <a:gdLst>
                <a:gd name="T0" fmla="*/ 24 w 25"/>
                <a:gd name="T1" fmla="*/ 27 h 28"/>
                <a:gd name="T2" fmla="*/ 24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8"/>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4" name="Freeform 4626"/>
            <p:cNvSpPr>
              <a:spLocks/>
            </p:cNvSpPr>
            <p:nvPr/>
          </p:nvSpPr>
          <p:spPr bwMode="auto">
            <a:xfrm>
              <a:off x="2286" y="1742"/>
              <a:ext cx="28" cy="28"/>
            </a:xfrm>
            <a:custGeom>
              <a:avLst/>
              <a:gdLst>
                <a:gd name="T0" fmla="*/ 0 w 28"/>
                <a:gd name="T1" fmla="*/ 27 h 28"/>
                <a:gd name="T2" fmla="*/ 27 w 28"/>
                <a:gd name="T3" fmla="*/ 8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8"/>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5" name="Freeform 4627"/>
            <p:cNvSpPr>
              <a:spLocks/>
            </p:cNvSpPr>
            <p:nvPr/>
          </p:nvSpPr>
          <p:spPr bwMode="auto">
            <a:xfrm>
              <a:off x="2292" y="1749"/>
              <a:ext cx="26" cy="28"/>
            </a:xfrm>
            <a:custGeom>
              <a:avLst/>
              <a:gdLst>
                <a:gd name="T0" fmla="*/ 25 w 26"/>
                <a:gd name="T1" fmla="*/ 12 h 28"/>
                <a:gd name="T2" fmla="*/ 25 w 26"/>
                <a:gd name="T3" fmla="*/ 0 h 28"/>
                <a:gd name="T4" fmla="*/ 0 w 26"/>
                <a:gd name="T5" fmla="*/ 27 h 28"/>
                <a:gd name="T6" fmla="*/ 25 w 26"/>
                <a:gd name="T7" fmla="*/ 12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2"/>
                  </a:moveTo>
                  <a:lnTo>
                    <a:pt x="25" y="0"/>
                  </a:lnTo>
                  <a:lnTo>
                    <a:pt x="0" y="27"/>
                  </a:lnTo>
                  <a:lnTo>
                    <a:pt x="25"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6" name="Freeform 4628"/>
            <p:cNvSpPr>
              <a:spLocks/>
            </p:cNvSpPr>
            <p:nvPr/>
          </p:nvSpPr>
          <p:spPr bwMode="auto">
            <a:xfrm>
              <a:off x="2299" y="174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7" name="Freeform 4629"/>
            <p:cNvSpPr>
              <a:spLocks/>
            </p:cNvSpPr>
            <p:nvPr/>
          </p:nvSpPr>
          <p:spPr bwMode="auto">
            <a:xfrm>
              <a:off x="2286" y="1755"/>
              <a:ext cx="28" cy="28"/>
            </a:xfrm>
            <a:custGeom>
              <a:avLst/>
              <a:gdLst>
                <a:gd name="T0" fmla="*/ 27 w 28"/>
                <a:gd name="T1" fmla="*/ 27 h 28"/>
                <a:gd name="T2" fmla="*/ 27 w 28"/>
                <a:gd name="T3" fmla="*/ 0 h 28"/>
                <a:gd name="T4" fmla="*/ 0 w 28"/>
                <a:gd name="T5" fmla="*/ 10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27" y="0"/>
                  </a:lnTo>
                  <a:lnTo>
                    <a:pt x="0" y="10"/>
                  </a:lnTo>
                  <a:lnTo>
                    <a:pt x="27"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8" name="Freeform 4630"/>
            <p:cNvSpPr>
              <a:spLocks/>
            </p:cNvSpPr>
            <p:nvPr/>
          </p:nvSpPr>
          <p:spPr bwMode="auto">
            <a:xfrm>
              <a:off x="2299" y="1755"/>
              <a:ext cx="26" cy="28"/>
            </a:xfrm>
            <a:custGeom>
              <a:avLst/>
              <a:gdLst>
                <a:gd name="T0" fmla="*/ 0 w 26"/>
                <a:gd name="T1" fmla="*/ 27 h 28"/>
                <a:gd name="T2" fmla="*/ 25 w 26"/>
                <a:gd name="T3" fmla="*/ 18 h 28"/>
                <a:gd name="T4" fmla="*/ 0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18"/>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29" name="Freeform 4631"/>
            <p:cNvSpPr>
              <a:spLocks/>
            </p:cNvSpPr>
            <p:nvPr/>
          </p:nvSpPr>
          <p:spPr bwMode="auto">
            <a:xfrm>
              <a:off x="2305" y="1771"/>
              <a:ext cx="26" cy="27"/>
            </a:xfrm>
            <a:custGeom>
              <a:avLst/>
              <a:gdLst>
                <a:gd name="T0" fmla="*/ 25 w 26"/>
                <a:gd name="T1" fmla="*/ 0 h 27"/>
                <a:gd name="T2" fmla="*/ 25 w 26"/>
                <a:gd name="T3" fmla="*/ 0 h 27"/>
                <a:gd name="T4" fmla="*/ 0 w 26"/>
                <a:gd name="T5" fmla="*/ 26 h 27"/>
                <a:gd name="T6" fmla="*/ 25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0"/>
                  </a:moveTo>
                  <a:lnTo>
                    <a:pt x="25" y="0"/>
                  </a:lnTo>
                  <a:lnTo>
                    <a:pt x="0" y="26"/>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0" name="Line 4632"/>
            <p:cNvSpPr>
              <a:spLocks noChangeShapeType="1"/>
            </p:cNvSpPr>
            <p:nvPr/>
          </p:nvSpPr>
          <p:spPr bwMode="auto">
            <a:xfrm>
              <a:off x="2313" y="1771"/>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1" name="Freeform 4633"/>
            <p:cNvSpPr>
              <a:spLocks/>
            </p:cNvSpPr>
            <p:nvPr/>
          </p:nvSpPr>
          <p:spPr bwMode="auto">
            <a:xfrm>
              <a:off x="2299" y="1771"/>
              <a:ext cx="26" cy="27"/>
            </a:xfrm>
            <a:custGeom>
              <a:avLst/>
              <a:gdLst>
                <a:gd name="T0" fmla="*/ 25 w 26"/>
                <a:gd name="T1" fmla="*/ 26 h 27"/>
                <a:gd name="T2" fmla="*/ 25 w 26"/>
                <a:gd name="T3" fmla="*/ 0 h 27"/>
                <a:gd name="T4" fmla="*/ 0 w 26"/>
                <a:gd name="T5" fmla="*/ 8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0"/>
                  </a:lnTo>
                  <a:lnTo>
                    <a:pt x="0" y="8"/>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2" name="Freeform 4634"/>
            <p:cNvSpPr>
              <a:spLocks/>
            </p:cNvSpPr>
            <p:nvPr/>
          </p:nvSpPr>
          <p:spPr bwMode="auto">
            <a:xfrm>
              <a:off x="2313" y="1771"/>
              <a:ext cx="25" cy="27"/>
            </a:xfrm>
            <a:custGeom>
              <a:avLst/>
              <a:gdLst>
                <a:gd name="T0" fmla="*/ 0 w 25"/>
                <a:gd name="T1" fmla="*/ 26 h 27"/>
                <a:gd name="T2" fmla="*/ 24 w 25"/>
                <a:gd name="T3" fmla="*/ 18 h 27"/>
                <a:gd name="T4" fmla="*/ 0 w 25"/>
                <a:gd name="T5" fmla="*/ 0 h 27"/>
                <a:gd name="T6" fmla="*/ 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26"/>
                  </a:moveTo>
                  <a:lnTo>
                    <a:pt x="24" y="18"/>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3" name="Freeform 4635"/>
            <p:cNvSpPr>
              <a:spLocks/>
            </p:cNvSpPr>
            <p:nvPr/>
          </p:nvSpPr>
          <p:spPr bwMode="auto">
            <a:xfrm>
              <a:off x="2317" y="1785"/>
              <a:ext cx="27" cy="28"/>
            </a:xfrm>
            <a:custGeom>
              <a:avLst/>
              <a:gdLst>
                <a:gd name="T0" fmla="*/ 26 w 27"/>
                <a:gd name="T1" fmla="*/ 0 h 28"/>
                <a:gd name="T2" fmla="*/ 0 w 27"/>
                <a:gd name="T3" fmla="*/ 0 h 28"/>
                <a:gd name="T4" fmla="*/ 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0"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4" name="Freeform 4636"/>
            <p:cNvSpPr>
              <a:spLocks/>
            </p:cNvSpPr>
            <p:nvPr/>
          </p:nvSpPr>
          <p:spPr bwMode="auto">
            <a:xfrm>
              <a:off x="2317" y="1785"/>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5" name="Freeform 4637"/>
            <p:cNvSpPr>
              <a:spLocks/>
            </p:cNvSpPr>
            <p:nvPr/>
          </p:nvSpPr>
          <p:spPr bwMode="auto">
            <a:xfrm>
              <a:off x="2313" y="1785"/>
              <a:ext cx="25" cy="29"/>
            </a:xfrm>
            <a:custGeom>
              <a:avLst/>
              <a:gdLst>
                <a:gd name="T0" fmla="*/ 24 w 25"/>
                <a:gd name="T1" fmla="*/ 28 h 29"/>
                <a:gd name="T2" fmla="*/ 24 w 25"/>
                <a:gd name="T3" fmla="*/ 0 h 29"/>
                <a:gd name="T4" fmla="*/ 0 w 25"/>
                <a:gd name="T5" fmla="*/ 6 h 29"/>
                <a:gd name="T6" fmla="*/ 24 w 25"/>
                <a:gd name="T7" fmla="*/ 28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28"/>
                  </a:moveTo>
                  <a:lnTo>
                    <a:pt x="24" y="0"/>
                  </a:lnTo>
                  <a:lnTo>
                    <a:pt x="0" y="6"/>
                  </a:lnTo>
                  <a:lnTo>
                    <a:pt x="24"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6" name="Freeform 4638"/>
            <p:cNvSpPr>
              <a:spLocks/>
            </p:cNvSpPr>
            <p:nvPr/>
          </p:nvSpPr>
          <p:spPr bwMode="auto">
            <a:xfrm>
              <a:off x="2324" y="1785"/>
              <a:ext cx="24" cy="29"/>
            </a:xfrm>
            <a:custGeom>
              <a:avLst/>
              <a:gdLst>
                <a:gd name="T0" fmla="*/ 0 w 24"/>
                <a:gd name="T1" fmla="*/ 28 h 29"/>
                <a:gd name="T2" fmla="*/ 23 w 24"/>
                <a:gd name="T3" fmla="*/ 21 h 29"/>
                <a:gd name="T4" fmla="*/ 0 w 24"/>
                <a:gd name="T5" fmla="*/ 0 h 29"/>
                <a:gd name="T6" fmla="*/ 0 w 24"/>
                <a:gd name="T7" fmla="*/ 28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28"/>
                  </a:moveTo>
                  <a:lnTo>
                    <a:pt x="23" y="21"/>
                  </a:lnTo>
                  <a:lnTo>
                    <a:pt x="0" y="0"/>
                  </a:lnTo>
                  <a:lnTo>
                    <a:pt x="0"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7" name="Freeform 4639"/>
            <p:cNvSpPr>
              <a:spLocks/>
            </p:cNvSpPr>
            <p:nvPr/>
          </p:nvSpPr>
          <p:spPr bwMode="auto">
            <a:xfrm>
              <a:off x="2330" y="1807"/>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8" name="Line 4640"/>
            <p:cNvSpPr>
              <a:spLocks noChangeShapeType="1"/>
            </p:cNvSpPr>
            <p:nvPr/>
          </p:nvSpPr>
          <p:spPr bwMode="auto">
            <a:xfrm>
              <a:off x="2330" y="180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39" name="Freeform 4641"/>
            <p:cNvSpPr>
              <a:spLocks/>
            </p:cNvSpPr>
            <p:nvPr/>
          </p:nvSpPr>
          <p:spPr bwMode="auto">
            <a:xfrm>
              <a:off x="2324" y="1807"/>
              <a:ext cx="24" cy="29"/>
            </a:xfrm>
            <a:custGeom>
              <a:avLst/>
              <a:gdLst>
                <a:gd name="T0" fmla="*/ 0 w 24"/>
                <a:gd name="T1" fmla="*/ 6 h 29"/>
                <a:gd name="T2" fmla="*/ 12 w 24"/>
                <a:gd name="T3" fmla="*/ 0 h 29"/>
                <a:gd name="T4" fmla="*/ 23 w 24"/>
                <a:gd name="T5" fmla="*/ 28 h 29"/>
                <a:gd name="T6" fmla="*/ 0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6"/>
                  </a:moveTo>
                  <a:lnTo>
                    <a:pt x="12" y="0"/>
                  </a:lnTo>
                  <a:lnTo>
                    <a:pt x="23" y="28"/>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0" name="Freeform 4642"/>
            <p:cNvSpPr>
              <a:spLocks/>
            </p:cNvSpPr>
            <p:nvPr/>
          </p:nvSpPr>
          <p:spPr bwMode="auto">
            <a:xfrm>
              <a:off x="2330" y="1807"/>
              <a:ext cx="26" cy="29"/>
            </a:xfrm>
            <a:custGeom>
              <a:avLst/>
              <a:gdLst>
                <a:gd name="T0" fmla="*/ 12 w 26"/>
                <a:gd name="T1" fmla="*/ 28 h 29"/>
                <a:gd name="T2" fmla="*/ 25 w 26"/>
                <a:gd name="T3" fmla="*/ 21 h 29"/>
                <a:gd name="T4" fmla="*/ 0 w 26"/>
                <a:gd name="T5" fmla="*/ 0 h 29"/>
                <a:gd name="T6" fmla="*/ 12 w 26"/>
                <a:gd name="T7" fmla="*/ 28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12" y="28"/>
                  </a:moveTo>
                  <a:lnTo>
                    <a:pt x="25" y="21"/>
                  </a:lnTo>
                  <a:lnTo>
                    <a:pt x="0" y="0"/>
                  </a:lnTo>
                  <a:lnTo>
                    <a:pt x="12"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1" name="Freeform 4643"/>
            <p:cNvSpPr>
              <a:spLocks/>
            </p:cNvSpPr>
            <p:nvPr/>
          </p:nvSpPr>
          <p:spPr bwMode="auto">
            <a:xfrm>
              <a:off x="2341" y="1828"/>
              <a:ext cx="1" cy="27"/>
            </a:xfrm>
            <a:custGeom>
              <a:avLst/>
              <a:gdLst>
                <a:gd name="T0" fmla="*/ 0 w 1"/>
                <a:gd name="T1" fmla="*/ 0 h 27"/>
                <a:gd name="T2" fmla="*/ 0 w 1"/>
                <a:gd name="T3" fmla="*/ 0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0"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2" name="Line 4644"/>
            <p:cNvSpPr>
              <a:spLocks noChangeShapeType="1"/>
            </p:cNvSpPr>
            <p:nvPr/>
          </p:nvSpPr>
          <p:spPr bwMode="auto">
            <a:xfrm>
              <a:off x="2341" y="1828"/>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3" name="Freeform 4645"/>
            <p:cNvSpPr>
              <a:spLocks/>
            </p:cNvSpPr>
            <p:nvPr/>
          </p:nvSpPr>
          <p:spPr bwMode="auto">
            <a:xfrm>
              <a:off x="2337" y="1828"/>
              <a:ext cx="26" cy="37"/>
            </a:xfrm>
            <a:custGeom>
              <a:avLst/>
              <a:gdLst>
                <a:gd name="T0" fmla="*/ 0 w 26"/>
                <a:gd name="T1" fmla="*/ 6 h 37"/>
                <a:gd name="T2" fmla="*/ 11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11" y="0"/>
                  </a:lnTo>
                  <a:lnTo>
                    <a:pt x="25"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4" name="Freeform 4646"/>
            <p:cNvSpPr>
              <a:spLocks/>
            </p:cNvSpPr>
            <p:nvPr/>
          </p:nvSpPr>
          <p:spPr bwMode="auto">
            <a:xfrm>
              <a:off x="2341" y="1828"/>
              <a:ext cx="25" cy="37"/>
            </a:xfrm>
            <a:custGeom>
              <a:avLst/>
              <a:gdLst>
                <a:gd name="T0" fmla="*/ 13 w 25"/>
                <a:gd name="T1" fmla="*/ 36 h 37"/>
                <a:gd name="T2" fmla="*/ 24 w 25"/>
                <a:gd name="T3" fmla="*/ 27 h 37"/>
                <a:gd name="T4" fmla="*/ 0 w 25"/>
                <a:gd name="T5" fmla="*/ 0 h 37"/>
                <a:gd name="T6" fmla="*/ 13 w 25"/>
                <a:gd name="T7" fmla="*/ 3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13" y="36"/>
                  </a:moveTo>
                  <a:lnTo>
                    <a:pt x="24" y="27"/>
                  </a:lnTo>
                  <a:lnTo>
                    <a:pt x="0" y="0"/>
                  </a:lnTo>
                  <a:lnTo>
                    <a:pt x="13"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5" name="Freeform 4647"/>
            <p:cNvSpPr>
              <a:spLocks/>
            </p:cNvSpPr>
            <p:nvPr/>
          </p:nvSpPr>
          <p:spPr bwMode="auto">
            <a:xfrm>
              <a:off x="2355" y="185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6" name="Line 4648"/>
            <p:cNvSpPr>
              <a:spLocks noChangeShapeType="1"/>
            </p:cNvSpPr>
            <p:nvPr/>
          </p:nvSpPr>
          <p:spPr bwMode="auto">
            <a:xfrm>
              <a:off x="2355" y="1856"/>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7" name="Freeform 4649"/>
            <p:cNvSpPr>
              <a:spLocks/>
            </p:cNvSpPr>
            <p:nvPr/>
          </p:nvSpPr>
          <p:spPr bwMode="auto">
            <a:xfrm>
              <a:off x="2347" y="1856"/>
              <a:ext cx="29" cy="37"/>
            </a:xfrm>
            <a:custGeom>
              <a:avLst/>
              <a:gdLst>
                <a:gd name="T0" fmla="*/ 0 w 29"/>
                <a:gd name="T1" fmla="*/ 8 h 37"/>
                <a:gd name="T2" fmla="*/ 28 w 29"/>
                <a:gd name="T3" fmla="*/ 0 h 37"/>
                <a:gd name="T4" fmla="*/ 28 w 29"/>
                <a:gd name="T5" fmla="*/ 36 h 37"/>
                <a:gd name="T6" fmla="*/ 0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8"/>
                  </a:moveTo>
                  <a:lnTo>
                    <a:pt x="28" y="0"/>
                  </a:lnTo>
                  <a:lnTo>
                    <a:pt x="28" y="36"/>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8" name="Freeform 4650"/>
            <p:cNvSpPr>
              <a:spLocks/>
            </p:cNvSpPr>
            <p:nvPr/>
          </p:nvSpPr>
          <p:spPr bwMode="auto">
            <a:xfrm>
              <a:off x="2355" y="1856"/>
              <a:ext cx="24" cy="37"/>
            </a:xfrm>
            <a:custGeom>
              <a:avLst/>
              <a:gdLst>
                <a:gd name="T0" fmla="*/ 0 w 24"/>
                <a:gd name="T1" fmla="*/ 36 h 37"/>
                <a:gd name="T2" fmla="*/ 23 w 24"/>
                <a:gd name="T3" fmla="*/ 29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29"/>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49" name="Freeform 4651"/>
            <p:cNvSpPr>
              <a:spLocks/>
            </p:cNvSpPr>
            <p:nvPr/>
          </p:nvSpPr>
          <p:spPr bwMode="auto">
            <a:xfrm>
              <a:off x="2367" y="188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0" name="Line 4652"/>
            <p:cNvSpPr>
              <a:spLocks noChangeShapeType="1"/>
            </p:cNvSpPr>
            <p:nvPr/>
          </p:nvSpPr>
          <p:spPr bwMode="auto">
            <a:xfrm>
              <a:off x="2367" y="1886"/>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1" name="Freeform 4653"/>
            <p:cNvSpPr>
              <a:spLocks/>
            </p:cNvSpPr>
            <p:nvPr/>
          </p:nvSpPr>
          <p:spPr bwMode="auto">
            <a:xfrm>
              <a:off x="2355" y="1886"/>
              <a:ext cx="24" cy="34"/>
            </a:xfrm>
            <a:custGeom>
              <a:avLst/>
              <a:gdLst>
                <a:gd name="T0" fmla="*/ 0 w 24"/>
                <a:gd name="T1" fmla="*/ 6 h 34"/>
                <a:gd name="T2" fmla="*/ 23 w 24"/>
                <a:gd name="T3" fmla="*/ 0 h 34"/>
                <a:gd name="T4" fmla="*/ 23 w 24"/>
                <a:gd name="T5" fmla="*/ 33 h 34"/>
                <a:gd name="T6" fmla="*/ 0 w 24"/>
                <a:gd name="T7" fmla="*/ 6 h 34"/>
                <a:gd name="T8" fmla="*/ 0 60000 65536"/>
                <a:gd name="T9" fmla="*/ 0 60000 65536"/>
                <a:gd name="T10" fmla="*/ 0 60000 65536"/>
                <a:gd name="T11" fmla="*/ 0 60000 65536"/>
                <a:gd name="T12" fmla="*/ 0 w 24"/>
                <a:gd name="T13" fmla="*/ 0 h 34"/>
                <a:gd name="T14" fmla="*/ 24 w 24"/>
                <a:gd name="T15" fmla="*/ 34 h 34"/>
              </a:gdLst>
              <a:ahLst/>
              <a:cxnLst>
                <a:cxn ang="T8">
                  <a:pos x="T0" y="T1"/>
                </a:cxn>
                <a:cxn ang="T9">
                  <a:pos x="T2" y="T3"/>
                </a:cxn>
                <a:cxn ang="T10">
                  <a:pos x="T4" y="T5"/>
                </a:cxn>
                <a:cxn ang="T11">
                  <a:pos x="T6" y="T7"/>
                </a:cxn>
              </a:cxnLst>
              <a:rect l="T12" t="T13" r="T14" b="T15"/>
              <a:pathLst>
                <a:path w="24" h="34">
                  <a:moveTo>
                    <a:pt x="0" y="6"/>
                  </a:moveTo>
                  <a:lnTo>
                    <a:pt x="23" y="0"/>
                  </a:lnTo>
                  <a:lnTo>
                    <a:pt x="23" y="33"/>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2" name="Freeform 4654"/>
            <p:cNvSpPr>
              <a:spLocks/>
            </p:cNvSpPr>
            <p:nvPr/>
          </p:nvSpPr>
          <p:spPr bwMode="auto">
            <a:xfrm>
              <a:off x="2367" y="1886"/>
              <a:ext cx="27" cy="34"/>
            </a:xfrm>
            <a:custGeom>
              <a:avLst/>
              <a:gdLst>
                <a:gd name="T0" fmla="*/ 0 w 27"/>
                <a:gd name="T1" fmla="*/ 33 h 34"/>
                <a:gd name="T2" fmla="*/ 26 w 27"/>
                <a:gd name="T3" fmla="*/ 26 h 34"/>
                <a:gd name="T4" fmla="*/ 0 w 27"/>
                <a:gd name="T5" fmla="*/ 0 h 34"/>
                <a:gd name="T6" fmla="*/ 0 w 27"/>
                <a:gd name="T7" fmla="*/ 33 h 34"/>
                <a:gd name="T8" fmla="*/ 0 60000 65536"/>
                <a:gd name="T9" fmla="*/ 0 60000 65536"/>
                <a:gd name="T10" fmla="*/ 0 60000 65536"/>
                <a:gd name="T11" fmla="*/ 0 60000 65536"/>
                <a:gd name="T12" fmla="*/ 0 w 27"/>
                <a:gd name="T13" fmla="*/ 0 h 34"/>
                <a:gd name="T14" fmla="*/ 27 w 27"/>
                <a:gd name="T15" fmla="*/ 34 h 34"/>
              </a:gdLst>
              <a:ahLst/>
              <a:cxnLst>
                <a:cxn ang="T8">
                  <a:pos x="T0" y="T1"/>
                </a:cxn>
                <a:cxn ang="T9">
                  <a:pos x="T2" y="T3"/>
                </a:cxn>
                <a:cxn ang="T10">
                  <a:pos x="T4" y="T5"/>
                </a:cxn>
                <a:cxn ang="T11">
                  <a:pos x="T6" y="T7"/>
                </a:cxn>
              </a:cxnLst>
              <a:rect l="T12" t="T13" r="T14" b="T15"/>
              <a:pathLst>
                <a:path w="27" h="34">
                  <a:moveTo>
                    <a:pt x="0" y="33"/>
                  </a:moveTo>
                  <a:lnTo>
                    <a:pt x="26" y="26"/>
                  </a:lnTo>
                  <a:lnTo>
                    <a:pt x="0" y="0"/>
                  </a:lnTo>
                  <a:lnTo>
                    <a:pt x="0" y="3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3" name="Freeform 4655"/>
            <p:cNvSpPr>
              <a:spLocks/>
            </p:cNvSpPr>
            <p:nvPr/>
          </p:nvSpPr>
          <p:spPr bwMode="auto">
            <a:xfrm>
              <a:off x="2378" y="1913"/>
              <a:ext cx="1" cy="28"/>
            </a:xfrm>
            <a:custGeom>
              <a:avLst/>
              <a:gdLst>
                <a:gd name="T0" fmla="*/ 0 w 1"/>
                <a:gd name="T1" fmla="*/ 0 h 28"/>
                <a:gd name="T2" fmla="*/ 0 w 1"/>
                <a:gd name="T3" fmla="*/ 0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4" name="Line 4656"/>
            <p:cNvSpPr>
              <a:spLocks noChangeShapeType="1"/>
            </p:cNvSpPr>
            <p:nvPr/>
          </p:nvSpPr>
          <p:spPr bwMode="auto">
            <a:xfrm>
              <a:off x="2378" y="191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5" name="Freeform 4657"/>
            <p:cNvSpPr>
              <a:spLocks/>
            </p:cNvSpPr>
            <p:nvPr/>
          </p:nvSpPr>
          <p:spPr bwMode="auto">
            <a:xfrm>
              <a:off x="2367" y="1913"/>
              <a:ext cx="27" cy="37"/>
            </a:xfrm>
            <a:custGeom>
              <a:avLst/>
              <a:gdLst>
                <a:gd name="T0" fmla="*/ 0 w 27"/>
                <a:gd name="T1" fmla="*/ 6 h 37"/>
                <a:gd name="T2" fmla="*/ 26 w 27"/>
                <a:gd name="T3" fmla="*/ 0 h 37"/>
                <a:gd name="T4" fmla="*/ 26 w 27"/>
                <a:gd name="T5" fmla="*/ 36 h 37"/>
                <a:gd name="T6" fmla="*/ 0 w 27"/>
                <a:gd name="T7" fmla="*/ 6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0" y="6"/>
                  </a:moveTo>
                  <a:lnTo>
                    <a:pt x="26" y="0"/>
                  </a:lnTo>
                  <a:lnTo>
                    <a:pt x="26"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6" name="Freeform 4658"/>
            <p:cNvSpPr>
              <a:spLocks/>
            </p:cNvSpPr>
            <p:nvPr/>
          </p:nvSpPr>
          <p:spPr bwMode="auto">
            <a:xfrm>
              <a:off x="2378" y="19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7" name="Freeform 4659"/>
            <p:cNvSpPr>
              <a:spLocks/>
            </p:cNvSpPr>
            <p:nvPr/>
          </p:nvSpPr>
          <p:spPr bwMode="auto">
            <a:xfrm>
              <a:off x="2385" y="1941"/>
              <a:ext cx="29" cy="27"/>
            </a:xfrm>
            <a:custGeom>
              <a:avLst/>
              <a:gdLst>
                <a:gd name="T0" fmla="*/ 28 w 29"/>
                <a:gd name="T1" fmla="*/ 0 h 27"/>
                <a:gd name="T2" fmla="*/ 28 w 29"/>
                <a:gd name="T3" fmla="*/ 0 h 27"/>
                <a:gd name="T4" fmla="*/ 0 w 29"/>
                <a:gd name="T5" fmla="*/ 26 h 27"/>
                <a:gd name="T6" fmla="*/ 28 w 29"/>
                <a:gd name="T7" fmla="*/ 0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28" y="0"/>
                  </a:moveTo>
                  <a:lnTo>
                    <a:pt x="28" y="0"/>
                  </a:lnTo>
                  <a:lnTo>
                    <a:pt x="0" y="26"/>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8" name="Line 4660"/>
            <p:cNvSpPr>
              <a:spLocks noChangeShapeType="1"/>
            </p:cNvSpPr>
            <p:nvPr/>
          </p:nvSpPr>
          <p:spPr bwMode="auto">
            <a:xfrm>
              <a:off x="2393" y="194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59" name="Freeform 4661"/>
            <p:cNvSpPr>
              <a:spLocks/>
            </p:cNvSpPr>
            <p:nvPr/>
          </p:nvSpPr>
          <p:spPr bwMode="auto">
            <a:xfrm>
              <a:off x="2378" y="1941"/>
              <a:ext cx="26" cy="37"/>
            </a:xfrm>
            <a:custGeom>
              <a:avLst/>
              <a:gdLst>
                <a:gd name="T0" fmla="*/ 0 w 26"/>
                <a:gd name="T1" fmla="*/ 8 h 37"/>
                <a:gd name="T2" fmla="*/ 25 w 26"/>
                <a:gd name="T3" fmla="*/ 0 h 37"/>
                <a:gd name="T4" fmla="*/ 25 w 26"/>
                <a:gd name="T5" fmla="*/ 36 h 37"/>
                <a:gd name="T6" fmla="*/ 0 w 26"/>
                <a:gd name="T7" fmla="*/ 8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8"/>
                  </a:moveTo>
                  <a:lnTo>
                    <a:pt x="25" y="0"/>
                  </a:lnTo>
                  <a:lnTo>
                    <a:pt x="25" y="36"/>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0" name="Freeform 4662"/>
            <p:cNvSpPr>
              <a:spLocks/>
            </p:cNvSpPr>
            <p:nvPr/>
          </p:nvSpPr>
          <p:spPr bwMode="auto">
            <a:xfrm>
              <a:off x="2393" y="1941"/>
              <a:ext cx="24" cy="37"/>
            </a:xfrm>
            <a:custGeom>
              <a:avLst/>
              <a:gdLst>
                <a:gd name="T0" fmla="*/ 0 w 24"/>
                <a:gd name="T1" fmla="*/ 36 h 37"/>
                <a:gd name="T2" fmla="*/ 23 w 24"/>
                <a:gd name="T3" fmla="*/ 36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36"/>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1" name="Freeform 4663"/>
            <p:cNvSpPr>
              <a:spLocks/>
            </p:cNvSpPr>
            <p:nvPr/>
          </p:nvSpPr>
          <p:spPr bwMode="auto">
            <a:xfrm>
              <a:off x="2398" y="1977"/>
              <a:ext cx="26" cy="28"/>
            </a:xfrm>
            <a:custGeom>
              <a:avLst/>
              <a:gdLst>
                <a:gd name="T0" fmla="*/ 25 w 26"/>
                <a:gd name="T1" fmla="*/ 0 h 28"/>
                <a:gd name="T2" fmla="*/ 25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25" y="0"/>
                  </a:lnTo>
                  <a:lnTo>
                    <a:pt x="0"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2" name="Line 4664"/>
            <p:cNvSpPr>
              <a:spLocks noChangeShapeType="1"/>
            </p:cNvSpPr>
            <p:nvPr/>
          </p:nvSpPr>
          <p:spPr bwMode="auto">
            <a:xfrm>
              <a:off x="2403" y="197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3" name="Freeform 4665"/>
            <p:cNvSpPr>
              <a:spLocks/>
            </p:cNvSpPr>
            <p:nvPr/>
          </p:nvSpPr>
          <p:spPr bwMode="auto">
            <a:xfrm>
              <a:off x="2393" y="1977"/>
              <a:ext cx="24" cy="36"/>
            </a:xfrm>
            <a:custGeom>
              <a:avLst/>
              <a:gdLst>
                <a:gd name="T0" fmla="*/ 0 w 24"/>
                <a:gd name="T1" fmla="*/ 0 h 36"/>
                <a:gd name="T2" fmla="*/ 23 w 24"/>
                <a:gd name="T3" fmla="*/ 0 h 36"/>
                <a:gd name="T4" fmla="*/ 23 w 24"/>
                <a:gd name="T5" fmla="*/ 35 h 36"/>
                <a:gd name="T6" fmla="*/ 0 w 24"/>
                <a:gd name="T7" fmla="*/ 0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0"/>
                  </a:moveTo>
                  <a:lnTo>
                    <a:pt x="23" y="0"/>
                  </a:lnTo>
                  <a:lnTo>
                    <a:pt x="23" y="3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4" name="Freeform 4666"/>
            <p:cNvSpPr>
              <a:spLocks/>
            </p:cNvSpPr>
            <p:nvPr/>
          </p:nvSpPr>
          <p:spPr bwMode="auto">
            <a:xfrm>
              <a:off x="2403" y="1977"/>
              <a:ext cx="29" cy="36"/>
            </a:xfrm>
            <a:custGeom>
              <a:avLst/>
              <a:gdLst>
                <a:gd name="T0" fmla="*/ 0 w 29"/>
                <a:gd name="T1" fmla="*/ 35 h 36"/>
                <a:gd name="T2" fmla="*/ 28 w 29"/>
                <a:gd name="T3" fmla="*/ 28 h 36"/>
                <a:gd name="T4" fmla="*/ 0 w 29"/>
                <a:gd name="T5" fmla="*/ 0 h 36"/>
                <a:gd name="T6" fmla="*/ 0 w 29"/>
                <a:gd name="T7" fmla="*/ 35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0" y="35"/>
                  </a:moveTo>
                  <a:lnTo>
                    <a:pt x="28"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5" name="Freeform 4667"/>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6" name="Freeform 4668"/>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7" name="Freeform 4669"/>
            <p:cNvSpPr>
              <a:spLocks/>
            </p:cNvSpPr>
            <p:nvPr/>
          </p:nvSpPr>
          <p:spPr bwMode="auto">
            <a:xfrm>
              <a:off x="2403" y="2007"/>
              <a:ext cx="29" cy="43"/>
            </a:xfrm>
            <a:custGeom>
              <a:avLst/>
              <a:gdLst>
                <a:gd name="T0" fmla="*/ 0 w 29"/>
                <a:gd name="T1" fmla="*/ 6 h 43"/>
                <a:gd name="T2" fmla="*/ 28 w 29"/>
                <a:gd name="T3" fmla="*/ 0 h 43"/>
                <a:gd name="T4" fmla="*/ 28 w 29"/>
                <a:gd name="T5" fmla="*/ 42 h 43"/>
                <a:gd name="T6" fmla="*/ 0 w 29"/>
                <a:gd name="T7" fmla="*/ 6 h 43"/>
                <a:gd name="T8" fmla="*/ 0 60000 65536"/>
                <a:gd name="T9" fmla="*/ 0 60000 65536"/>
                <a:gd name="T10" fmla="*/ 0 60000 65536"/>
                <a:gd name="T11" fmla="*/ 0 60000 65536"/>
                <a:gd name="T12" fmla="*/ 0 w 29"/>
                <a:gd name="T13" fmla="*/ 0 h 43"/>
                <a:gd name="T14" fmla="*/ 29 w 29"/>
                <a:gd name="T15" fmla="*/ 43 h 43"/>
              </a:gdLst>
              <a:ahLst/>
              <a:cxnLst>
                <a:cxn ang="T8">
                  <a:pos x="T0" y="T1"/>
                </a:cxn>
                <a:cxn ang="T9">
                  <a:pos x="T2" y="T3"/>
                </a:cxn>
                <a:cxn ang="T10">
                  <a:pos x="T4" y="T5"/>
                </a:cxn>
                <a:cxn ang="T11">
                  <a:pos x="T6" y="T7"/>
                </a:cxn>
              </a:cxnLst>
              <a:rect l="T12" t="T13" r="T14" b="T15"/>
              <a:pathLst>
                <a:path w="29" h="43">
                  <a:moveTo>
                    <a:pt x="0" y="6"/>
                  </a:moveTo>
                  <a:lnTo>
                    <a:pt x="28" y="0"/>
                  </a:lnTo>
                  <a:lnTo>
                    <a:pt x="28" y="42"/>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8" name="Freeform 4670"/>
            <p:cNvSpPr>
              <a:spLocks/>
            </p:cNvSpPr>
            <p:nvPr/>
          </p:nvSpPr>
          <p:spPr bwMode="auto">
            <a:xfrm>
              <a:off x="2416" y="2007"/>
              <a:ext cx="26" cy="43"/>
            </a:xfrm>
            <a:custGeom>
              <a:avLst/>
              <a:gdLst>
                <a:gd name="T0" fmla="*/ 0 w 26"/>
                <a:gd name="T1" fmla="*/ 42 h 43"/>
                <a:gd name="T2" fmla="*/ 25 w 26"/>
                <a:gd name="T3" fmla="*/ 33 h 43"/>
                <a:gd name="T4" fmla="*/ 0 w 26"/>
                <a:gd name="T5" fmla="*/ 0 h 43"/>
                <a:gd name="T6" fmla="*/ 0 w 26"/>
                <a:gd name="T7" fmla="*/ 42 h 43"/>
                <a:gd name="T8" fmla="*/ 0 60000 65536"/>
                <a:gd name="T9" fmla="*/ 0 60000 65536"/>
                <a:gd name="T10" fmla="*/ 0 60000 65536"/>
                <a:gd name="T11" fmla="*/ 0 60000 65536"/>
                <a:gd name="T12" fmla="*/ 0 w 26"/>
                <a:gd name="T13" fmla="*/ 0 h 43"/>
                <a:gd name="T14" fmla="*/ 26 w 26"/>
                <a:gd name="T15" fmla="*/ 43 h 43"/>
              </a:gdLst>
              <a:ahLst/>
              <a:cxnLst>
                <a:cxn ang="T8">
                  <a:pos x="T0" y="T1"/>
                </a:cxn>
                <a:cxn ang="T9">
                  <a:pos x="T2" y="T3"/>
                </a:cxn>
                <a:cxn ang="T10">
                  <a:pos x="T4" y="T5"/>
                </a:cxn>
                <a:cxn ang="T11">
                  <a:pos x="T6" y="T7"/>
                </a:cxn>
              </a:cxnLst>
              <a:rect l="T12" t="T13" r="T14" b="T15"/>
              <a:pathLst>
                <a:path w="26" h="43">
                  <a:moveTo>
                    <a:pt x="0" y="42"/>
                  </a:moveTo>
                  <a:lnTo>
                    <a:pt x="25" y="33"/>
                  </a:lnTo>
                  <a:lnTo>
                    <a:pt x="0" y="0"/>
                  </a:lnTo>
                  <a:lnTo>
                    <a:pt x="0" y="4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69" name="Freeform 4671"/>
            <p:cNvSpPr>
              <a:spLocks/>
            </p:cNvSpPr>
            <p:nvPr/>
          </p:nvSpPr>
          <p:spPr bwMode="auto">
            <a:xfrm>
              <a:off x="2423" y="2041"/>
              <a:ext cx="27" cy="27"/>
            </a:xfrm>
            <a:custGeom>
              <a:avLst/>
              <a:gdLst>
                <a:gd name="T0" fmla="*/ 26 w 27"/>
                <a:gd name="T1" fmla="*/ 0 h 27"/>
                <a:gd name="T2" fmla="*/ 26 w 27"/>
                <a:gd name="T3" fmla="*/ 0 h 27"/>
                <a:gd name="T4" fmla="*/ 0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26" y="0"/>
                  </a:lnTo>
                  <a:lnTo>
                    <a:pt x="0" y="26"/>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0" name="Line 4672"/>
            <p:cNvSpPr>
              <a:spLocks noChangeShapeType="1"/>
            </p:cNvSpPr>
            <p:nvPr/>
          </p:nvSpPr>
          <p:spPr bwMode="auto">
            <a:xfrm>
              <a:off x="2428" y="2041"/>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1" name="Freeform 4673"/>
            <p:cNvSpPr>
              <a:spLocks/>
            </p:cNvSpPr>
            <p:nvPr/>
          </p:nvSpPr>
          <p:spPr bwMode="auto">
            <a:xfrm>
              <a:off x="2416" y="20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2" name="Freeform 4674"/>
            <p:cNvSpPr>
              <a:spLocks/>
            </p:cNvSpPr>
            <p:nvPr/>
          </p:nvSpPr>
          <p:spPr bwMode="auto">
            <a:xfrm>
              <a:off x="2428" y="2041"/>
              <a:ext cx="26" cy="44"/>
            </a:xfrm>
            <a:custGeom>
              <a:avLst/>
              <a:gdLst>
                <a:gd name="T0" fmla="*/ 0 w 26"/>
                <a:gd name="T1" fmla="*/ 43 h 44"/>
                <a:gd name="T2" fmla="*/ 25 w 26"/>
                <a:gd name="T3" fmla="*/ 36 h 44"/>
                <a:gd name="T4" fmla="*/ 0 w 26"/>
                <a:gd name="T5" fmla="*/ 0 h 44"/>
                <a:gd name="T6" fmla="*/ 0 w 26"/>
                <a:gd name="T7" fmla="*/ 43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43"/>
                  </a:moveTo>
                  <a:lnTo>
                    <a:pt x="25" y="36"/>
                  </a:lnTo>
                  <a:lnTo>
                    <a:pt x="0" y="0"/>
                  </a:lnTo>
                  <a:lnTo>
                    <a:pt x="0" y="4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3" name="Freeform 4675"/>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4" name="Freeform 4676"/>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5" name="Freeform 4677"/>
            <p:cNvSpPr>
              <a:spLocks/>
            </p:cNvSpPr>
            <p:nvPr/>
          </p:nvSpPr>
          <p:spPr bwMode="auto">
            <a:xfrm>
              <a:off x="2428" y="2077"/>
              <a:ext cx="26" cy="37"/>
            </a:xfrm>
            <a:custGeom>
              <a:avLst/>
              <a:gdLst>
                <a:gd name="T0" fmla="*/ 0 w 26"/>
                <a:gd name="T1" fmla="*/ 6 h 37"/>
                <a:gd name="T2" fmla="*/ 25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25" y="0"/>
                  </a:lnTo>
                  <a:lnTo>
                    <a:pt x="25"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6" name="Freeform 4678"/>
            <p:cNvSpPr>
              <a:spLocks/>
            </p:cNvSpPr>
            <p:nvPr/>
          </p:nvSpPr>
          <p:spPr bwMode="auto">
            <a:xfrm>
              <a:off x="2441" y="2077"/>
              <a:ext cx="29" cy="37"/>
            </a:xfrm>
            <a:custGeom>
              <a:avLst/>
              <a:gdLst>
                <a:gd name="T0" fmla="*/ 0 w 29"/>
                <a:gd name="T1" fmla="*/ 36 h 37"/>
                <a:gd name="T2" fmla="*/ 28 w 29"/>
                <a:gd name="T3" fmla="*/ 36 h 37"/>
                <a:gd name="T4" fmla="*/ 0 w 29"/>
                <a:gd name="T5" fmla="*/ 0 h 37"/>
                <a:gd name="T6" fmla="*/ 0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36"/>
                  </a:moveTo>
                  <a:lnTo>
                    <a:pt x="28" y="36"/>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7" name="Freeform 4679"/>
            <p:cNvSpPr>
              <a:spLocks/>
            </p:cNvSpPr>
            <p:nvPr/>
          </p:nvSpPr>
          <p:spPr bwMode="auto">
            <a:xfrm>
              <a:off x="2441" y="2113"/>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8" name="Line 4680"/>
            <p:cNvSpPr>
              <a:spLocks noChangeShapeType="1"/>
            </p:cNvSpPr>
            <p:nvPr/>
          </p:nvSpPr>
          <p:spPr bwMode="auto">
            <a:xfrm>
              <a:off x="2441" y="211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79" name="Freeform 4681"/>
            <p:cNvSpPr>
              <a:spLocks/>
            </p:cNvSpPr>
            <p:nvPr/>
          </p:nvSpPr>
          <p:spPr bwMode="auto">
            <a:xfrm>
              <a:off x="2441" y="2113"/>
              <a:ext cx="29" cy="37"/>
            </a:xfrm>
            <a:custGeom>
              <a:avLst/>
              <a:gdLst>
                <a:gd name="T0" fmla="*/ 0 w 29"/>
                <a:gd name="T1" fmla="*/ 0 h 37"/>
                <a:gd name="T2" fmla="*/ 28 w 29"/>
                <a:gd name="T3" fmla="*/ 0 h 37"/>
                <a:gd name="T4" fmla="*/ 28 w 29"/>
                <a:gd name="T5" fmla="*/ 36 h 37"/>
                <a:gd name="T6" fmla="*/ 0 w 29"/>
                <a:gd name="T7" fmla="*/ 0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8" y="0"/>
                  </a:lnTo>
                  <a:lnTo>
                    <a:pt x="28" y="3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0" name="Freeform 4682"/>
            <p:cNvSpPr>
              <a:spLocks/>
            </p:cNvSpPr>
            <p:nvPr/>
          </p:nvSpPr>
          <p:spPr bwMode="auto">
            <a:xfrm>
              <a:off x="2454" y="21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1" name="Freeform 4683"/>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2" name="Freeform 4684"/>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3" name="Freeform 4685"/>
            <p:cNvSpPr>
              <a:spLocks/>
            </p:cNvSpPr>
            <p:nvPr/>
          </p:nvSpPr>
          <p:spPr bwMode="auto">
            <a:xfrm>
              <a:off x="2454" y="21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4" name="Freeform 4686"/>
            <p:cNvSpPr>
              <a:spLocks/>
            </p:cNvSpPr>
            <p:nvPr/>
          </p:nvSpPr>
          <p:spPr bwMode="auto">
            <a:xfrm>
              <a:off x="2469" y="2141"/>
              <a:ext cx="24" cy="44"/>
            </a:xfrm>
            <a:custGeom>
              <a:avLst/>
              <a:gdLst>
                <a:gd name="T0" fmla="*/ 0 w 24"/>
                <a:gd name="T1" fmla="*/ 43 h 44"/>
                <a:gd name="T2" fmla="*/ 23 w 24"/>
                <a:gd name="T3" fmla="*/ 36 h 44"/>
                <a:gd name="T4" fmla="*/ 0 w 24"/>
                <a:gd name="T5" fmla="*/ 0 h 44"/>
                <a:gd name="T6" fmla="*/ 0 w 24"/>
                <a:gd name="T7" fmla="*/ 43 h 44"/>
                <a:gd name="T8" fmla="*/ 0 60000 65536"/>
                <a:gd name="T9" fmla="*/ 0 60000 65536"/>
                <a:gd name="T10" fmla="*/ 0 60000 65536"/>
                <a:gd name="T11" fmla="*/ 0 60000 65536"/>
                <a:gd name="T12" fmla="*/ 0 w 24"/>
                <a:gd name="T13" fmla="*/ 0 h 44"/>
                <a:gd name="T14" fmla="*/ 24 w 24"/>
                <a:gd name="T15" fmla="*/ 44 h 44"/>
              </a:gdLst>
              <a:ahLst/>
              <a:cxnLst>
                <a:cxn ang="T8">
                  <a:pos x="T0" y="T1"/>
                </a:cxn>
                <a:cxn ang="T9">
                  <a:pos x="T2" y="T3"/>
                </a:cxn>
                <a:cxn ang="T10">
                  <a:pos x="T4" y="T5"/>
                </a:cxn>
                <a:cxn ang="T11">
                  <a:pos x="T6" y="T7"/>
                </a:cxn>
              </a:cxnLst>
              <a:rect l="T12" t="T13" r="T14" b="T15"/>
              <a:pathLst>
                <a:path w="24" h="44">
                  <a:moveTo>
                    <a:pt x="0" y="43"/>
                  </a:moveTo>
                  <a:lnTo>
                    <a:pt x="23" y="36"/>
                  </a:lnTo>
                  <a:lnTo>
                    <a:pt x="0" y="0"/>
                  </a:lnTo>
                  <a:lnTo>
                    <a:pt x="0" y="4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5" name="Freeform 4687"/>
            <p:cNvSpPr>
              <a:spLocks/>
            </p:cNvSpPr>
            <p:nvPr/>
          </p:nvSpPr>
          <p:spPr bwMode="auto">
            <a:xfrm>
              <a:off x="2469" y="218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6" name="Line 4688"/>
            <p:cNvSpPr>
              <a:spLocks noChangeShapeType="1"/>
            </p:cNvSpPr>
            <p:nvPr/>
          </p:nvSpPr>
          <p:spPr bwMode="auto">
            <a:xfrm>
              <a:off x="2469" y="2184"/>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7" name="Freeform 4689"/>
            <p:cNvSpPr>
              <a:spLocks/>
            </p:cNvSpPr>
            <p:nvPr/>
          </p:nvSpPr>
          <p:spPr bwMode="auto">
            <a:xfrm>
              <a:off x="2469" y="2176"/>
              <a:ext cx="24" cy="38"/>
            </a:xfrm>
            <a:custGeom>
              <a:avLst/>
              <a:gdLst>
                <a:gd name="T0" fmla="*/ 0 w 24"/>
                <a:gd name="T1" fmla="*/ 6 h 38"/>
                <a:gd name="T2" fmla="*/ 23 w 24"/>
                <a:gd name="T3" fmla="*/ 0 h 38"/>
                <a:gd name="T4" fmla="*/ 23 w 24"/>
                <a:gd name="T5" fmla="*/ 37 h 38"/>
                <a:gd name="T6" fmla="*/ 0 w 24"/>
                <a:gd name="T7" fmla="*/ 6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0" y="6"/>
                  </a:moveTo>
                  <a:lnTo>
                    <a:pt x="23" y="0"/>
                  </a:lnTo>
                  <a:lnTo>
                    <a:pt x="23" y="37"/>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8" name="Freeform 4690"/>
            <p:cNvSpPr>
              <a:spLocks/>
            </p:cNvSpPr>
            <p:nvPr/>
          </p:nvSpPr>
          <p:spPr bwMode="auto">
            <a:xfrm>
              <a:off x="2478" y="2176"/>
              <a:ext cx="26" cy="38"/>
            </a:xfrm>
            <a:custGeom>
              <a:avLst/>
              <a:gdLst>
                <a:gd name="T0" fmla="*/ 0 w 26"/>
                <a:gd name="T1" fmla="*/ 37 h 38"/>
                <a:gd name="T2" fmla="*/ 25 w 26"/>
                <a:gd name="T3" fmla="*/ 37 h 38"/>
                <a:gd name="T4" fmla="*/ 0 w 26"/>
                <a:gd name="T5" fmla="*/ 0 h 38"/>
                <a:gd name="T6" fmla="*/ 0 w 26"/>
                <a:gd name="T7" fmla="*/ 37 h 38"/>
                <a:gd name="T8" fmla="*/ 0 60000 65536"/>
                <a:gd name="T9" fmla="*/ 0 60000 65536"/>
                <a:gd name="T10" fmla="*/ 0 60000 65536"/>
                <a:gd name="T11" fmla="*/ 0 60000 65536"/>
                <a:gd name="T12" fmla="*/ 0 w 26"/>
                <a:gd name="T13" fmla="*/ 0 h 38"/>
                <a:gd name="T14" fmla="*/ 26 w 26"/>
                <a:gd name="T15" fmla="*/ 38 h 38"/>
              </a:gdLst>
              <a:ahLst/>
              <a:cxnLst>
                <a:cxn ang="T8">
                  <a:pos x="T0" y="T1"/>
                </a:cxn>
                <a:cxn ang="T9">
                  <a:pos x="T2" y="T3"/>
                </a:cxn>
                <a:cxn ang="T10">
                  <a:pos x="T4" y="T5"/>
                </a:cxn>
                <a:cxn ang="T11">
                  <a:pos x="T6" y="T7"/>
                </a:cxn>
              </a:cxnLst>
              <a:rect l="T12" t="T13" r="T14" b="T15"/>
              <a:pathLst>
                <a:path w="26" h="38">
                  <a:moveTo>
                    <a:pt x="0" y="37"/>
                  </a:moveTo>
                  <a:lnTo>
                    <a:pt x="25" y="37"/>
                  </a:lnTo>
                  <a:lnTo>
                    <a:pt x="0" y="0"/>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89" name="Freeform 4691"/>
            <p:cNvSpPr>
              <a:spLocks/>
            </p:cNvSpPr>
            <p:nvPr/>
          </p:nvSpPr>
          <p:spPr bwMode="auto">
            <a:xfrm>
              <a:off x="2478" y="2213"/>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0" name="Line 4692"/>
            <p:cNvSpPr>
              <a:spLocks noChangeShapeType="1"/>
            </p:cNvSpPr>
            <p:nvPr/>
          </p:nvSpPr>
          <p:spPr bwMode="auto">
            <a:xfrm>
              <a:off x="2478" y="221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1" name="Freeform 4693"/>
            <p:cNvSpPr>
              <a:spLocks/>
            </p:cNvSpPr>
            <p:nvPr/>
          </p:nvSpPr>
          <p:spPr bwMode="auto">
            <a:xfrm>
              <a:off x="2478" y="2213"/>
              <a:ext cx="26" cy="36"/>
            </a:xfrm>
            <a:custGeom>
              <a:avLst/>
              <a:gdLst>
                <a:gd name="T0" fmla="*/ 0 w 26"/>
                <a:gd name="T1" fmla="*/ 0 h 36"/>
                <a:gd name="T2" fmla="*/ 25 w 26"/>
                <a:gd name="T3" fmla="*/ 0 h 36"/>
                <a:gd name="T4" fmla="*/ 25 w 26"/>
                <a:gd name="T5" fmla="*/ 35 h 36"/>
                <a:gd name="T6" fmla="*/ 0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0"/>
                  </a:moveTo>
                  <a:lnTo>
                    <a:pt x="25" y="0"/>
                  </a:lnTo>
                  <a:lnTo>
                    <a:pt x="25" y="3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2" name="Freeform 4694"/>
            <p:cNvSpPr>
              <a:spLocks/>
            </p:cNvSpPr>
            <p:nvPr/>
          </p:nvSpPr>
          <p:spPr bwMode="auto">
            <a:xfrm>
              <a:off x="2491" y="2213"/>
              <a:ext cx="26" cy="36"/>
            </a:xfrm>
            <a:custGeom>
              <a:avLst/>
              <a:gdLst>
                <a:gd name="T0" fmla="*/ 0 w 26"/>
                <a:gd name="T1" fmla="*/ 35 h 36"/>
                <a:gd name="T2" fmla="*/ 25 w 26"/>
                <a:gd name="T3" fmla="*/ 28 h 36"/>
                <a:gd name="T4" fmla="*/ 0 w 26"/>
                <a:gd name="T5" fmla="*/ 0 h 36"/>
                <a:gd name="T6" fmla="*/ 0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35"/>
                  </a:moveTo>
                  <a:lnTo>
                    <a:pt x="25"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3" name="Freeform 4695"/>
            <p:cNvSpPr>
              <a:spLocks/>
            </p:cNvSpPr>
            <p:nvPr/>
          </p:nvSpPr>
          <p:spPr bwMode="auto">
            <a:xfrm>
              <a:off x="2491" y="2248"/>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4" name="Line 4696"/>
            <p:cNvSpPr>
              <a:spLocks noChangeShapeType="1"/>
            </p:cNvSpPr>
            <p:nvPr/>
          </p:nvSpPr>
          <p:spPr bwMode="auto">
            <a:xfrm>
              <a:off x="2491" y="224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5" name="Freeform 4697"/>
            <p:cNvSpPr>
              <a:spLocks/>
            </p:cNvSpPr>
            <p:nvPr/>
          </p:nvSpPr>
          <p:spPr bwMode="auto">
            <a:xfrm>
              <a:off x="2491" y="2241"/>
              <a:ext cx="26" cy="37"/>
            </a:xfrm>
            <a:custGeom>
              <a:avLst/>
              <a:gdLst>
                <a:gd name="T0" fmla="*/ 25 w 26"/>
                <a:gd name="T1" fmla="*/ 36 h 37"/>
                <a:gd name="T2" fmla="*/ 11 w 26"/>
                <a:gd name="T3" fmla="*/ 0 h 37"/>
                <a:gd name="T4" fmla="*/ 0 w 26"/>
                <a:gd name="T5" fmla="*/ 6 h 37"/>
                <a:gd name="T6" fmla="*/ 25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36"/>
                  </a:moveTo>
                  <a:lnTo>
                    <a:pt x="11" y="0"/>
                  </a:lnTo>
                  <a:lnTo>
                    <a:pt x="0" y="6"/>
                  </a:lnTo>
                  <a:lnTo>
                    <a:pt x="25"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6" name="Freeform 4698"/>
            <p:cNvSpPr>
              <a:spLocks/>
            </p:cNvSpPr>
            <p:nvPr/>
          </p:nvSpPr>
          <p:spPr bwMode="auto">
            <a:xfrm>
              <a:off x="2496" y="2241"/>
              <a:ext cx="29" cy="37"/>
            </a:xfrm>
            <a:custGeom>
              <a:avLst/>
              <a:gdLst>
                <a:gd name="T0" fmla="*/ 15 w 29"/>
                <a:gd name="T1" fmla="*/ 36 h 37"/>
                <a:gd name="T2" fmla="*/ 28 w 29"/>
                <a:gd name="T3" fmla="*/ 36 h 37"/>
                <a:gd name="T4" fmla="*/ 0 w 29"/>
                <a:gd name="T5" fmla="*/ 0 h 37"/>
                <a:gd name="T6" fmla="*/ 15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15" y="36"/>
                  </a:moveTo>
                  <a:lnTo>
                    <a:pt x="28" y="36"/>
                  </a:lnTo>
                  <a:lnTo>
                    <a:pt x="0" y="0"/>
                  </a:lnTo>
                  <a:lnTo>
                    <a:pt x="15"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7" name="Freeform 4699"/>
            <p:cNvSpPr>
              <a:spLocks/>
            </p:cNvSpPr>
            <p:nvPr/>
          </p:nvSpPr>
          <p:spPr bwMode="auto">
            <a:xfrm>
              <a:off x="2503" y="2277"/>
              <a:ext cx="26" cy="27"/>
            </a:xfrm>
            <a:custGeom>
              <a:avLst/>
              <a:gdLst>
                <a:gd name="T0" fmla="*/ 0 w 26"/>
                <a:gd name="T1" fmla="*/ 0 h 27"/>
                <a:gd name="T2" fmla="*/ 0 w 26"/>
                <a:gd name="T3" fmla="*/ 0 h 27"/>
                <a:gd name="T4" fmla="*/ 25 w 26"/>
                <a:gd name="T5" fmla="*/ 26 h 27"/>
                <a:gd name="T6" fmla="*/ 0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0"/>
                  </a:moveTo>
                  <a:lnTo>
                    <a:pt x="0" y="0"/>
                  </a:lnTo>
                  <a:lnTo>
                    <a:pt x="25"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8" name="Line 4700"/>
            <p:cNvSpPr>
              <a:spLocks noChangeShapeType="1"/>
            </p:cNvSpPr>
            <p:nvPr/>
          </p:nvSpPr>
          <p:spPr bwMode="auto">
            <a:xfrm>
              <a:off x="2503" y="2277"/>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299" name="Freeform 4701"/>
            <p:cNvSpPr>
              <a:spLocks/>
            </p:cNvSpPr>
            <p:nvPr/>
          </p:nvSpPr>
          <p:spPr bwMode="auto">
            <a:xfrm>
              <a:off x="2503" y="2277"/>
              <a:ext cx="26" cy="36"/>
            </a:xfrm>
            <a:custGeom>
              <a:avLst/>
              <a:gdLst>
                <a:gd name="T0" fmla="*/ 25 w 26"/>
                <a:gd name="T1" fmla="*/ 35 h 36"/>
                <a:gd name="T2" fmla="*/ 25 w 26"/>
                <a:gd name="T3" fmla="*/ 0 h 36"/>
                <a:gd name="T4" fmla="*/ 0 w 26"/>
                <a:gd name="T5" fmla="*/ 0 h 36"/>
                <a:gd name="T6" fmla="*/ 25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35"/>
                  </a:moveTo>
                  <a:lnTo>
                    <a:pt x="25" y="0"/>
                  </a:lnTo>
                  <a:lnTo>
                    <a:pt x="0" y="0"/>
                  </a:lnTo>
                  <a:lnTo>
                    <a:pt x="25"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0" name="Freeform 4702"/>
            <p:cNvSpPr>
              <a:spLocks/>
            </p:cNvSpPr>
            <p:nvPr/>
          </p:nvSpPr>
          <p:spPr bwMode="auto">
            <a:xfrm>
              <a:off x="2507" y="2277"/>
              <a:ext cx="28" cy="36"/>
            </a:xfrm>
            <a:custGeom>
              <a:avLst/>
              <a:gdLst>
                <a:gd name="T0" fmla="*/ 0 w 28"/>
                <a:gd name="T1" fmla="*/ 35 h 36"/>
                <a:gd name="T2" fmla="*/ 27 w 28"/>
                <a:gd name="T3" fmla="*/ 27 h 36"/>
                <a:gd name="T4" fmla="*/ 0 w 28"/>
                <a:gd name="T5" fmla="*/ 0 h 36"/>
                <a:gd name="T6" fmla="*/ 0 w 28"/>
                <a:gd name="T7" fmla="*/ 35 h 36"/>
                <a:gd name="T8" fmla="*/ 0 60000 65536"/>
                <a:gd name="T9" fmla="*/ 0 60000 65536"/>
                <a:gd name="T10" fmla="*/ 0 60000 65536"/>
                <a:gd name="T11" fmla="*/ 0 60000 65536"/>
                <a:gd name="T12" fmla="*/ 0 w 28"/>
                <a:gd name="T13" fmla="*/ 0 h 36"/>
                <a:gd name="T14" fmla="*/ 28 w 28"/>
                <a:gd name="T15" fmla="*/ 36 h 36"/>
              </a:gdLst>
              <a:ahLst/>
              <a:cxnLst>
                <a:cxn ang="T8">
                  <a:pos x="T0" y="T1"/>
                </a:cxn>
                <a:cxn ang="T9">
                  <a:pos x="T2" y="T3"/>
                </a:cxn>
                <a:cxn ang="T10">
                  <a:pos x="T4" y="T5"/>
                </a:cxn>
                <a:cxn ang="T11">
                  <a:pos x="T6" y="T7"/>
                </a:cxn>
              </a:cxnLst>
              <a:rect l="T12" t="T13" r="T14" b="T15"/>
              <a:pathLst>
                <a:path w="28" h="36">
                  <a:moveTo>
                    <a:pt x="0" y="35"/>
                  </a:moveTo>
                  <a:lnTo>
                    <a:pt x="27" y="27"/>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1" name="Freeform 4703"/>
            <p:cNvSpPr>
              <a:spLocks/>
            </p:cNvSpPr>
            <p:nvPr/>
          </p:nvSpPr>
          <p:spPr bwMode="auto">
            <a:xfrm>
              <a:off x="2507" y="2312"/>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2" name="Line 4704"/>
            <p:cNvSpPr>
              <a:spLocks noChangeShapeType="1"/>
            </p:cNvSpPr>
            <p:nvPr/>
          </p:nvSpPr>
          <p:spPr bwMode="auto">
            <a:xfrm>
              <a:off x="2507" y="2312"/>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3" name="Freeform 4705"/>
            <p:cNvSpPr>
              <a:spLocks/>
            </p:cNvSpPr>
            <p:nvPr/>
          </p:nvSpPr>
          <p:spPr bwMode="auto">
            <a:xfrm>
              <a:off x="2507" y="2304"/>
              <a:ext cx="28" cy="37"/>
            </a:xfrm>
            <a:custGeom>
              <a:avLst/>
              <a:gdLst>
                <a:gd name="T0" fmla="*/ 27 w 28"/>
                <a:gd name="T1" fmla="*/ 36 h 37"/>
                <a:gd name="T2" fmla="*/ 27 w 28"/>
                <a:gd name="T3" fmla="*/ 0 h 37"/>
                <a:gd name="T4" fmla="*/ 0 w 28"/>
                <a:gd name="T5" fmla="*/ 8 h 37"/>
                <a:gd name="T6" fmla="*/ 27 w 28"/>
                <a:gd name="T7" fmla="*/ 36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27" y="36"/>
                  </a:moveTo>
                  <a:lnTo>
                    <a:pt x="27" y="0"/>
                  </a:lnTo>
                  <a:lnTo>
                    <a:pt x="0" y="8"/>
                  </a:lnTo>
                  <a:lnTo>
                    <a:pt x="27"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4" name="Freeform 4706"/>
            <p:cNvSpPr>
              <a:spLocks/>
            </p:cNvSpPr>
            <p:nvPr/>
          </p:nvSpPr>
          <p:spPr bwMode="auto">
            <a:xfrm>
              <a:off x="2524" y="2304"/>
              <a:ext cx="22" cy="37"/>
            </a:xfrm>
            <a:custGeom>
              <a:avLst/>
              <a:gdLst>
                <a:gd name="T0" fmla="*/ 0 w 22"/>
                <a:gd name="T1" fmla="*/ 36 h 37"/>
                <a:gd name="T2" fmla="*/ 21 w 22"/>
                <a:gd name="T3" fmla="*/ 29 h 37"/>
                <a:gd name="T4" fmla="*/ 0 w 22"/>
                <a:gd name="T5" fmla="*/ 0 h 37"/>
                <a:gd name="T6" fmla="*/ 0 w 22"/>
                <a:gd name="T7" fmla="*/ 36 h 37"/>
                <a:gd name="T8" fmla="*/ 0 60000 65536"/>
                <a:gd name="T9" fmla="*/ 0 60000 65536"/>
                <a:gd name="T10" fmla="*/ 0 60000 65536"/>
                <a:gd name="T11" fmla="*/ 0 60000 65536"/>
                <a:gd name="T12" fmla="*/ 0 w 22"/>
                <a:gd name="T13" fmla="*/ 0 h 37"/>
                <a:gd name="T14" fmla="*/ 22 w 22"/>
                <a:gd name="T15" fmla="*/ 37 h 37"/>
              </a:gdLst>
              <a:ahLst/>
              <a:cxnLst>
                <a:cxn ang="T8">
                  <a:pos x="T0" y="T1"/>
                </a:cxn>
                <a:cxn ang="T9">
                  <a:pos x="T2" y="T3"/>
                </a:cxn>
                <a:cxn ang="T10">
                  <a:pos x="T4" y="T5"/>
                </a:cxn>
                <a:cxn ang="T11">
                  <a:pos x="T6" y="T7"/>
                </a:cxn>
              </a:cxnLst>
              <a:rect l="T12" t="T13" r="T14" b="T15"/>
              <a:pathLst>
                <a:path w="22" h="37">
                  <a:moveTo>
                    <a:pt x="0" y="36"/>
                  </a:moveTo>
                  <a:lnTo>
                    <a:pt x="21" y="29"/>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5" name="Freeform 4707"/>
            <p:cNvSpPr>
              <a:spLocks/>
            </p:cNvSpPr>
            <p:nvPr/>
          </p:nvSpPr>
          <p:spPr bwMode="auto">
            <a:xfrm>
              <a:off x="2524" y="2340"/>
              <a:ext cx="22" cy="1"/>
            </a:xfrm>
            <a:custGeom>
              <a:avLst/>
              <a:gdLst>
                <a:gd name="T0" fmla="*/ 0 w 22"/>
                <a:gd name="T1" fmla="*/ 0 h 1"/>
                <a:gd name="T2" fmla="*/ 0 w 22"/>
                <a:gd name="T3" fmla="*/ 0 h 1"/>
                <a:gd name="T4" fmla="*/ 21 w 22"/>
                <a:gd name="T5" fmla="*/ 0 h 1"/>
                <a:gd name="T6" fmla="*/ 0 w 22"/>
                <a:gd name="T7" fmla="*/ 0 h 1"/>
                <a:gd name="T8" fmla="*/ 0 60000 65536"/>
                <a:gd name="T9" fmla="*/ 0 60000 65536"/>
                <a:gd name="T10" fmla="*/ 0 60000 65536"/>
                <a:gd name="T11" fmla="*/ 0 60000 65536"/>
                <a:gd name="T12" fmla="*/ 0 w 22"/>
                <a:gd name="T13" fmla="*/ 0 h 1"/>
                <a:gd name="T14" fmla="*/ 22 w 22"/>
                <a:gd name="T15" fmla="*/ 1 h 1"/>
              </a:gdLst>
              <a:ahLst/>
              <a:cxnLst>
                <a:cxn ang="T8">
                  <a:pos x="T0" y="T1"/>
                </a:cxn>
                <a:cxn ang="T9">
                  <a:pos x="T2" y="T3"/>
                </a:cxn>
                <a:cxn ang="T10">
                  <a:pos x="T4" y="T5"/>
                </a:cxn>
                <a:cxn ang="T11">
                  <a:pos x="T6" y="T7"/>
                </a:cxn>
              </a:cxnLst>
              <a:rect l="T12" t="T13" r="T14" b="T15"/>
              <a:pathLst>
                <a:path w="22" h="1">
                  <a:moveTo>
                    <a:pt x="0" y="0"/>
                  </a:moveTo>
                  <a:lnTo>
                    <a:pt x="0" y="0"/>
                  </a:lnTo>
                  <a:lnTo>
                    <a:pt x="21"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6" name="Line 4708"/>
            <p:cNvSpPr>
              <a:spLocks noChangeShapeType="1"/>
            </p:cNvSpPr>
            <p:nvPr/>
          </p:nvSpPr>
          <p:spPr bwMode="auto">
            <a:xfrm>
              <a:off x="2524" y="2340"/>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7" name="Freeform 4709"/>
            <p:cNvSpPr>
              <a:spLocks/>
            </p:cNvSpPr>
            <p:nvPr/>
          </p:nvSpPr>
          <p:spPr bwMode="auto">
            <a:xfrm>
              <a:off x="2524" y="2334"/>
              <a:ext cx="22" cy="36"/>
            </a:xfrm>
            <a:custGeom>
              <a:avLst/>
              <a:gdLst>
                <a:gd name="T0" fmla="*/ 21 w 22"/>
                <a:gd name="T1" fmla="*/ 35 h 36"/>
                <a:gd name="T2" fmla="*/ 21 w 22"/>
                <a:gd name="T3" fmla="*/ 0 h 36"/>
                <a:gd name="T4" fmla="*/ 0 w 22"/>
                <a:gd name="T5" fmla="*/ 6 h 36"/>
                <a:gd name="T6" fmla="*/ 21 w 22"/>
                <a:gd name="T7" fmla="*/ 35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1" y="35"/>
                  </a:moveTo>
                  <a:lnTo>
                    <a:pt x="21" y="0"/>
                  </a:lnTo>
                  <a:lnTo>
                    <a:pt x="0" y="6"/>
                  </a:lnTo>
                  <a:lnTo>
                    <a:pt x="21"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8" name="Freeform 4710"/>
            <p:cNvSpPr>
              <a:spLocks/>
            </p:cNvSpPr>
            <p:nvPr/>
          </p:nvSpPr>
          <p:spPr bwMode="auto">
            <a:xfrm>
              <a:off x="2533" y="2334"/>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09" name="Freeform 4711"/>
            <p:cNvSpPr>
              <a:spLocks/>
            </p:cNvSpPr>
            <p:nvPr/>
          </p:nvSpPr>
          <p:spPr bwMode="auto">
            <a:xfrm>
              <a:off x="2533" y="2369"/>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0" name="Line 4712"/>
            <p:cNvSpPr>
              <a:spLocks noChangeShapeType="1"/>
            </p:cNvSpPr>
            <p:nvPr/>
          </p:nvSpPr>
          <p:spPr bwMode="auto">
            <a:xfrm>
              <a:off x="2533" y="2369"/>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1" name="Freeform 4713"/>
            <p:cNvSpPr>
              <a:spLocks/>
            </p:cNvSpPr>
            <p:nvPr/>
          </p:nvSpPr>
          <p:spPr bwMode="auto">
            <a:xfrm>
              <a:off x="2533" y="2361"/>
              <a:ext cx="24" cy="38"/>
            </a:xfrm>
            <a:custGeom>
              <a:avLst/>
              <a:gdLst>
                <a:gd name="T0" fmla="*/ 23 w 24"/>
                <a:gd name="T1" fmla="*/ 37 h 38"/>
                <a:gd name="T2" fmla="*/ 23 w 24"/>
                <a:gd name="T3" fmla="*/ 0 h 38"/>
                <a:gd name="T4" fmla="*/ 0 w 24"/>
                <a:gd name="T5" fmla="*/ 6 h 38"/>
                <a:gd name="T6" fmla="*/ 23 w 24"/>
                <a:gd name="T7" fmla="*/ 37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23" y="37"/>
                  </a:moveTo>
                  <a:lnTo>
                    <a:pt x="23" y="0"/>
                  </a:lnTo>
                  <a:lnTo>
                    <a:pt x="0" y="6"/>
                  </a:lnTo>
                  <a:lnTo>
                    <a:pt x="23"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2" name="Freeform 4714"/>
            <p:cNvSpPr>
              <a:spLocks/>
            </p:cNvSpPr>
            <p:nvPr/>
          </p:nvSpPr>
          <p:spPr bwMode="auto">
            <a:xfrm>
              <a:off x="2545" y="2361"/>
              <a:ext cx="28" cy="38"/>
            </a:xfrm>
            <a:custGeom>
              <a:avLst/>
              <a:gdLst>
                <a:gd name="T0" fmla="*/ 0 w 28"/>
                <a:gd name="T1" fmla="*/ 37 h 38"/>
                <a:gd name="T2" fmla="*/ 27 w 28"/>
                <a:gd name="T3" fmla="*/ 28 h 38"/>
                <a:gd name="T4" fmla="*/ 0 w 28"/>
                <a:gd name="T5" fmla="*/ 0 h 38"/>
                <a:gd name="T6" fmla="*/ 0 w 28"/>
                <a:gd name="T7" fmla="*/ 37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7"/>
                  </a:moveTo>
                  <a:lnTo>
                    <a:pt x="27" y="28"/>
                  </a:lnTo>
                  <a:lnTo>
                    <a:pt x="0" y="0"/>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3" name="Freeform 4715"/>
            <p:cNvSpPr>
              <a:spLocks/>
            </p:cNvSpPr>
            <p:nvPr/>
          </p:nvSpPr>
          <p:spPr bwMode="auto">
            <a:xfrm>
              <a:off x="2545" y="2398"/>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4" name="Line 4716"/>
            <p:cNvSpPr>
              <a:spLocks noChangeShapeType="1"/>
            </p:cNvSpPr>
            <p:nvPr/>
          </p:nvSpPr>
          <p:spPr bwMode="auto">
            <a:xfrm>
              <a:off x="2545" y="239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5" name="Freeform 4717"/>
            <p:cNvSpPr>
              <a:spLocks/>
            </p:cNvSpPr>
            <p:nvPr/>
          </p:nvSpPr>
          <p:spPr bwMode="auto">
            <a:xfrm>
              <a:off x="2545" y="2390"/>
              <a:ext cx="28" cy="31"/>
            </a:xfrm>
            <a:custGeom>
              <a:avLst/>
              <a:gdLst>
                <a:gd name="T0" fmla="*/ 27 w 28"/>
                <a:gd name="T1" fmla="*/ 30 h 31"/>
                <a:gd name="T2" fmla="*/ 27 w 28"/>
                <a:gd name="T3" fmla="*/ 0 h 31"/>
                <a:gd name="T4" fmla="*/ 0 w 28"/>
                <a:gd name="T5" fmla="*/ 8 h 31"/>
                <a:gd name="T6" fmla="*/ 27 w 28"/>
                <a:gd name="T7" fmla="*/ 30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30"/>
                  </a:moveTo>
                  <a:lnTo>
                    <a:pt x="27" y="0"/>
                  </a:lnTo>
                  <a:lnTo>
                    <a:pt x="0" y="8"/>
                  </a:lnTo>
                  <a:lnTo>
                    <a:pt x="27" y="3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6" name="Freeform 4718"/>
            <p:cNvSpPr>
              <a:spLocks/>
            </p:cNvSpPr>
            <p:nvPr/>
          </p:nvSpPr>
          <p:spPr bwMode="auto">
            <a:xfrm>
              <a:off x="2557" y="2390"/>
              <a:ext cx="27" cy="31"/>
            </a:xfrm>
            <a:custGeom>
              <a:avLst/>
              <a:gdLst>
                <a:gd name="T0" fmla="*/ 0 w 27"/>
                <a:gd name="T1" fmla="*/ 30 h 31"/>
                <a:gd name="T2" fmla="*/ 26 w 27"/>
                <a:gd name="T3" fmla="*/ 23 h 31"/>
                <a:gd name="T4" fmla="*/ 0 w 27"/>
                <a:gd name="T5" fmla="*/ 0 h 31"/>
                <a:gd name="T6" fmla="*/ 0 w 27"/>
                <a:gd name="T7" fmla="*/ 3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0" y="30"/>
                  </a:moveTo>
                  <a:lnTo>
                    <a:pt x="26" y="23"/>
                  </a:lnTo>
                  <a:lnTo>
                    <a:pt x="0" y="0"/>
                  </a:lnTo>
                  <a:lnTo>
                    <a:pt x="0" y="3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7" name="Freeform 4719"/>
            <p:cNvSpPr>
              <a:spLocks/>
            </p:cNvSpPr>
            <p:nvPr/>
          </p:nvSpPr>
          <p:spPr bwMode="auto">
            <a:xfrm>
              <a:off x="2557" y="2420"/>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8" name="Line 4720"/>
            <p:cNvSpPr>
              <a:spLocks noChangeShapeType="1"/>
            </p:cNvSpPr>
            <p:nvPr/>
          </p:nvSpPr>
          <p:spPr bwMode="auto">
            <a:xfrm>
              <a:off x="2557" y="2420"/>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19" name="Freeform 4721"/>
            <p:cNvSpPr>
              <a:spLocks/>
            </p:cNvSpPr>
            <p:nvPr/>
          </p:nvSpPr>
          <p:spPr bwMode="auto">
            <a:xfrm>
              <a:off x="2557" y="2412"/>
              <a:ext cx="27" cy="36"/>
            </a:xfrm>
            <a:custGeom>
              <a:avLst/>
              <a:gdLst>
                <a:gd name="T0" fmla="*/ 26 w 27"/>
                <a:gd name="T1" fmla="*/ 35 h 36"/>
                <a:gd name="T2" fmla="*/ 26 w 27"/>
                <a:gd name="T3" fmla="*/ 0 h 36"/>
                <a:gd name="T4" fmla="*/ 0 w 27"/>
                <a:gd name="T5" fmla="*/ 6 h 36"/>
                <a:gd name="T6" fmla="*/ 26 w 27"/>
                <a:gd name="T7" fmla="*/ 35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35"/>
                  </a:moveTo>
                  <a:lnTo>
                    <a:pt x="26" y="0"/>
                  </a:lnTo>
                  <a:lnTo>
                    <a:pt x="0" y="6"/>
                  </a:lnTo>
                  <a:lnTo>
                    <a:pt x="26"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0" name="Freeform 4722"/>
            <p:cNvSpPr>
              <a:spLocks/>
            </p:cNvSpPr>
            <p:nvPr/>
          </p:nvSpPr>
          <p:spPr bwMode="auto">
            <a:xfrm>
              <a:off x="2572" y="2412"/>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1" name="Freeform 4723"/>
            <p:cNvSpPr>
              <a:spLocks/>
            </p:cNvSpPr>
            <p:nvPr/>
          </p:nvSpPr>
          <p:spPr bwMode="auto">
            <a:xfrm>
              <a:off x="2572" y="2447"/>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2" name="Line 4724"/>
            <p:cNvSpPr>
              <a:spLocks noChangeShapeType="1"/>
            </p:cNvSpPr>
            <p:nvPr/>
          </p:nvSpPr>
          <p:spPr bwMode="auto">
            <a:xfrm>
              <a:off x="2572" y="244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3" name="Freeform 4725"/>
            <p:cNvSpPr>
              <a:spLocks/>
            </p:cNvSpPr>
            <p:nvPr/>
          </p:nvSpPr>
          <p:spPr bwMode="auto">
            <a:xfrm>
              <a:off x="2572" y="2441"/>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4" name="Freeform 4726"/>
            <p:cNvSpPr>
              <a:spLocks/>
            </p:cNvSpPr>
            <p:nvPr/>
          </p:nvSpPr>
          <p:spPr bwMode="auto">
            <a:xfrm>
              <a:off x="2583" y="2441"/>
              <a:ext cx="24" cy="28"/>
            </a:xfrm>
            <a:custGeom>
              <a:avLst/>
              <a:gdLst>
                <a:gd name="T0" fmla="*/ 0 w 24"/>
                <a:gd name="T1" fmla="*/ 27 h 28"/>
                <a:gd name="T2" fmla="*/ 23 w 24"/>
                <a:gd name="T3" fmla="*/ 20 h 28"/>
                <a:gd name="T4" fmla="*/ 0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23" y="20"/>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5" name="Freeform 4727"/>
            <p:cNvSpPr>
              <a:spLocks/>
            </p:cNvSpPr>
            <p:nvPr/>
          </p:nvSpPr>
          <p:spPr bwMode="auto">
            <a:xfrm>
              <a:off x="2583" y="24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6" name="Line 4728"/>
            <p:cNvSpPr>
              <a:spLocks noChangeShapeType="1"/>
            </p:cNvSpPr>
            <p:nvPr/>
          </p:nvSpPr>
          <p:spPr bwMode="auto">
            <a:xfrm>
              <a:off x="2583" y="24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7" name="Freeform 4729"/>
            <p:cNvSpPr>
              <a:spLocks/>
            </p:cNvSpPr>
            <p:nvPr/>
          </p:nvSpPr>
          <p:spPr bwMode="auto">
            <a:xfrm>
              <a:off x="2583" y="2462"/>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8" name="Freeform 4730"/>
            <p:cNvSpPr>
              <a:spLocks/>
            </p:cNvSpPr>
            <p:nvPr/>
          </p:nvSpPr>
          <p:spPr bwMode="auto">
            <a:xfrm>
              <a:off x="2594" y="2462"/>
              <a:ext cx="28" cy="28"/>
            </a:xfrm>
            <a:custGeom>
              <a:avLst/>
              <a:gdLst>
                <a:gd name="T0" fmla="*/ 0 w 28"/>
                <a:gd name="T1" fmla="*/ 27 h 28"/>
                <a:gd name="T2" fmla="*/ 27 w 28"/>
                <a:gd name="T3" fmla="*/ 20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20"/>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29" name="Freeform 4731"/>
            <p:cNvSpPr>
              <a:spLocks/>
            </p:cNvSpPr>
            <p:nvPr/>
          </p:nvSpPr>
          <p:spPr bwMode="auto">
            <a:xfrm>
              <a:off x="2594" y="2489"/>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0" name="Line 4732"/>
            <p:cNvSpPr>
              <a:spLocks noChangeShapeType="1"/>
            </p:cNvSpPr>
            <p:nvPr/>
          </p:nvSpPr>
          <p:spPr bwMode="auto">
            <a:xfrm>
              <a:off x="2594" y="2489"/>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1" name="Freeform 4733"/>
            <p:cNvSpPr>
              <a:spLocks/>
            </p:cNvSpPr>
            <p:nvPr/>
          </p:nvSpPr>
          <p:spPr bwMode="auto">
            <a:xfrm>
              <a:off x="2594" y="2484"/>
              <a:ext cx="28" cy="26"/>
            </a:xfrm>
            <a:custGeom>
              <a:avLst/>
              <a:gdLst>
                <a:gd name="T0" fmla="*/ 27 w 28"/>
                <a:gd name="T1" fmla="*/ 25 h 26"/>
                <a:gd name="T2" fmla="*/ 27 w 28"/>
                <a:gd name="T3" fmla="*/ 0 h 26"/>
                <a:gd name="T4" fmla="*/ 0 w 28"/>
                <a:gd name="T5" fmla="*/ 7 h 26"/>
                <a:gd name="T6" fmla="*/ 27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25"/>
                  </a:moveTo>
                  <a:lnTo>
                    <a:pt x="27" y="0"/>
                  </a:lnTo>
                  <a:lnTo>
                    <a:pt x="0" y="7"/>
                  </a:lnTo>
                  <a:lnTo>
                    <a:pt x="27"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2" name="Freeform 4734"/>
            <p:cNvSpPr>
              <a:spLocks/>
            </p:cNvSpPr>
            <p:nvPr/>
          </p:nvSpPr>
          <p:spPr bwMode="auto">
            <a:xfrm>
              <a:off x="2610" y="2484"/>
              <a:ext cx="24" cy="26"/>
            </a:xfrm>
            <a:custGeom>
              <a:avLst/>
              <a:gdLst>
                <a:gd name="T0" fmla="*/ 0 w 24"/>
                <a:gd name="T1" fmla="*/ 25 h 26"/>
                <a:gd name="T2" fmla="*/ 23 w 24"/>
                <a:gd name="T3" fmla="*/ 17 h 26"/>
                <a:gd name="T4" fmla="*/ 0 w 24"/>
                <a:gd name="T5" fmla="*/ 0 h 26"/>
                <a:gd name="T6" fmla="*/ 0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0" y="25"/>
                  </a:moveTo>
                  <a:lnTo>
                    <a:pt x="23" y="17"/>
                  </a:lnTo>
                  <a:lnTo>
                    <a:pt x="0" y="0"/>
                  </a:lnTo>
                  <a:lnTo>
                    <a:pt x="0"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3" name="Freeform 4735"/>
            <p:cNvSpPr>
              <a:spLocks/>
            </p:cNvSpPr>
            <p:nvPr/>
          </p:nvSpPr>
          <p:spPr bwMode="auto">
            <a:xfrm>
              <a:off x="2610" y="2505"/>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4" name="Line 4736"/>
            <p:cNvSpPr>
              <a:spLocks noChangeShapeType="1"/>
            </p:cNvSpPr>
            <p:nvPr/>
          </p:nvSpPr>
          <p:spPr bwMode="auto">
            <a:xfrm>
              <a:off x="2610" y="2505"/>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5" name="Freeform 4737"/>
            <p:cNvSpPr>
              <a:spLocks/>
            </p:cNvSpPr>
            <p:nvPr/>
          </p:nvSpPr>
          <p:spPr bwMode="auto">
            <a:xfrm>
              <a:off x="2610" y="2498"/>
              <a:ext cx="24" cy="30"/>
            </a:xfrm>
            <a:custGeom>
              <a:avLst/>
              <a:gdLst>
                <a:gd name="T0" fmla="*/ 23 w 24"/>
                <a:gd name="T1" fmla="*/ 29 h 30"/>
                <a:gd name="T2" fmla="*/ 23 w 24"/>
                <a:gd name="T3" fmla="*/ 0 h 30"/>
                <a:gd name="T4" fmla="*/ 0 w 24"/>
                <a:gd name="T5" fmla="*/ 6 h 30"/>
                <a:gd name="T6" fmla="*/ 23 w 24"/>
                <a:gd name="T7" fmla="*/ 29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29"/>
                  </a:moveTo>
                  <a:lnTo>
                    <a:pt x="23" y="0"/>
                  </a:lnTo>
                  <a:lnTo>
                    <a:pt x="0" y="6"/>
                  </a:lnTo>
                  <a:lnTo>
                    <a:pt x="23" y="2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6" name="Freeform 4738"/>
            <p:cNvSpPr>
              <a:spLocks/>
            </p:cNvSpPr>
            <p:nvPr/>
          </p:nvSpPr>
          <p:spPr bwMode="auto">
            <a:xfrm>
              <a:off x="2621" y="2498"/>
              <a:ext cx="25" cy="30"/>
            </a:xfrm>
            <a:custGeom>
              <a:avLst/>
              <a:gdLst>
                <a:gd name="T0" fmla="*/ 0 w 25"/>
                <a:gd name="T1" fmla="*/ 29 h 30"/>
                <a:gd name="T2" fmla="*/ 24 w 25"/>
                <a:gd name="T3" fmla="*/ 22 h 30"/>
                <a:gd name="T4" fmla="*/ 0 w 25"/>
                <a:gd name="T5" fmla="*/ 0 h 30"/>
                <a:gd name="T6" fmla="*/ 0 w 25"/>
                <a:gd name="T7" fmla="*/ 29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0" y="29"/>
                  </a:moveTo>
                  <a:lnTo>
                    <a:pt x="24" y="22"/>
                  </a:lnTo>
                  <a:lnTo>
                    <a:pt x="0" y="0"/>
                  </a:lnTo>
                  <a:lnTo>
                    <a:pt x="0" y="2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7" name="Freeform 4739"/>
            <p:cNvSpPr>
              <a:spLocks/>
            </p:cNvSpPr>
            <p:nvPr/>
          </p:nvSpPr>
          <p:spPr bwMode="auto">
            <a:xfrm>
              <a:off x="2621" y="2527"/>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8" name="Line 4740"/>
            <p:cNvSpPr>
              <a:spLocks noChangeShapeType="1"/>
            </p:cNvSpPr>
            <p:nvPr/>
          </p:nvSpPr>
          <p:spPr bwMode="auto">
            <a:xfrm>
              <a:off x="2621" y="2527"/>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39" name="Freeform 4741"/>
            <p:cNvSpPr>
              <a:spLocks/>
            </p:cNvSpPr>
            <p:nvPr/>
          </p:nvSpPr>
          <p:spPr bwMode="auto">
            <a:xfrm>
              <a:off x="2621" y="2519"/>
              <a:ext cx="25" cy="28"/>
            </a:xfrm>
            <a:custGeom>
              <a:avLst/>
              <a:gdLst>
                <a:gd name="T0" fmla="*/ 24 w 25"/>
                <a:gd name="T1" fmla="*/ 27 h 28"/>
                <a:gd name="T2" fmla="*/ 12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8"/>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0" name="Freeform 4742"/>
            <p:cNvSpPr>
              <a:spLocks/>
            </p:cNvSpPr>
            <p:nvPr/>
          </p:nvSpPr>
          <p:spPr bwMode="auto">
            <a:xfrm>
              <a:off x="2628" y="2519"/>
              <a:ext cx="24" cy="28"/>
            </a:xfrm>
            <a:custGeom>
              <a:avLst/>
              <a:gdLst>
                <a:gd name="T0" fmla="*/ 10 w 24"/>
                <a:gd name="T1" fmla="*/ 27 h 28"/>
                <a:gd name="T2" fmla="*/ 23 w 24"/>
                <a:gd name="T3" fmla="*/ 16 h 28"/>
                <a:gd name="T4" fmla="*/ 0 w 24"/>
                <a:gd name="T5" fmla="*/ 0 h 28"/>
                <a:gd name="T6" fmla="*/ 1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10" y="27"/>
                  </a:moveTo>
                  <a:lnTo>
                    <a:pt x="23" y="16"/>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1" name="Freeform 4743"/>
            <p:cNvSpPr>
              <a:spLocks/>
            </p:cNvSpPr>
            <p:nvPr/>
          </p:nvSpPr>
          <p:spPr bwMode="auto">
            <a:xfrm>
              <a:off x="2632" y="2541"/>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2" name="Line 4744"/>
            <p:cNvSpPr>
              <a:spLocks noChangeShapeType="1"/>
            </p:cNvSpPr>
            <p:nvPr/>
          </p:nvSpPr>
          <p:spPr bwMode="auto">
            <a:xfrm>
              <a:off x="2632" y="25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3" name="Freeform 4745"/>
            <p:cNvSpPr>
              <a:spLocks/>
            </p:cNvSpPr>
            <p:nvPr/>
          </p:nvSpPr>
          <p:spPr bwMode="auto">
            <a:xfrm>
              <a:off x="2632" y="2532"/>
              <a:ext cx="28" cy="28"/>
            </a:xfrm>
            <a:custGeom>
              <a:avLst/>
              <a:gdLst>
                <a:gd name="T0" fmla="*/ 27 w 28"/>
                <a:gd name="T1" fmla="*/ 27 h 28"/>
                <a:gd name="T2" fmla="*/ 15 w 28"/>
                <a:gd name="T3" fmla="*/ 0 h 28"/>
                <a:gd name="T4" fmla="*/ 0 w 28"/>
                <a:gd name="T5" fmla="*/ 9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15" y="0"/>
                  </a:lnTo>
                  <a:lnTo>
                    <a:pt x="0" y="9"/>
                  </a:lnTo>
                  <a:lnTo>
                    <a:pt x="27"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4" name="Freeform 4746"/>
            <p:cNvSpPr>
              <a:spLocks/>
            </p:cNvSpPr>
            <p:nvPr/>
          </p:nvSpPr>
          <p:spPr bwMode="auto">
            <a:xfrm>
              <a:off x="2640" y="2532"/>
              <a:ext cx="27" cy="28"/>
            </a:xfrm>
            <a:custGeom>
              <a:avLst/>
              <a:gdLst>
                <a:gd name="T0" fmla="*/ 13 w 27"/>
                <a:gd name="T1" fmla="*/ 27 h 28"/>
                <a:gd name="T2" fmla="*/ 26 w 27"/>
                <a:gd name="T3" fmla="*/ 17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17"/>
                  </a:lnTo>
                  <a:lnTo>
                    <a:pt x="0" y="0"/>
                  </a:lnTo>
                  <a:lnTo>
                    <a:pt x="1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5" name="Freeform 4747"/>
            <p:cNvSpPr>
              <a:spLocks/>
            </p:cNvSpPr>
            <p:nvPr/>
          </p:nvSpPr>
          <p:spPr bwMode="auto">
            <a:xfrm>
              <a:off x="2644" y="2556"/>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6" name="Line 4748"/>
            <p:cNvSpPr>
              <a:spLocks noChangeShapeType="1"/>
            </p:cNvSpPr>
            <p:nvPr/>
          </p:nvSpPr>
          <p:spPr bwMode="auto">
            <a:xfrm>
              <a:off x="2644" y="2556"/>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7" name="Freeform 4749"/>
            <p:cNvSpPr>
              <a:spLocks/>
            </p:cNvSpPr>
            <p:nvPr/>
          </p:nvSpPr>
          <p:spPr bwMode="auto">
            <a:xfrm>
              <a:off x="2644" y="2547"/>
              <a:ext cx="27" cy="27"/>
            </a:xfrm>
            <a:custGeom>
              <a:avLst/>
              <a:gdLst>
                <a:gd name="T0" fmla="*/ 26 w 27"/>
                <a:gd name="T1" fmla="*/ 26 h 27"/>
                <a:gd name="T2" fmla="*/ 11 w 27"/>
                <a:gd name="T3" fmla="*/ 0 h 27"/>
                <a:gd name="T4" fmla="*/ 0 w 27"/>
                <a:gd name="T5" fmla="*/ 1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1" y="0"/>
                  </a:lnTo>
                  <a:lnTo>
                    <a:pt x="0" y="10"/>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8" name="Freeform 4750"/>
            <p:cNvSpPr>
              <a:spLocks/>
            </p:cNvSpPr>
            <p:nvPr/>
          </p:nvSpPr>
          <p:spPr bwMode="auto">
            <a:xfrm>
              <a:off x="2651" y="2547"/>
              <a:ext cx="28" cy="27"/>
            </a:xfrm>
            <a:custGeom>
              <a:avLst/>
              <a:gdLst>
                <a:gd name="T0" fmla="*/ 15 w 28"/>
                <a:gd name="T1" fmla="*/ 26 h 27"/>
                <a:gd name="T2" fmla="*/ 27 w 28"/>
                <a:gd name="T3" fmla="*/ 18 h 27"/>
                <a:gd name="T4" fmla="*/ 0 w 28"/>
                <a:gd name="T5" fmla="*/ 0 h 27"/>
                <a:gd name="T6" fmla="*/ 15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15" y="26"/>
                  </a:moveTo>
                  <a:lnTo>
                    <a:pt x="27" y="18"/>
                  </a:lnTo>
                  <a:lnTo>
                    <a:pt x="0" y="0"/>
                  </a:lnTo>
                  <a:lnTo>
                    <a:pt x="1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49" name="Freeform 4751"/>
            <p:cNvSpPr>
              <a:spLocks/>
            </p:cNvSpPr>
            <p:nvPr/>
          </p:nvSpPr>
          <p:spPr bwMode="auto">
            <a:xfrm>
              <a:off x="2659" y="25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0" name="Line 4752"/>
            <p:cNvSpPr>
              <a:spLocks noChangeShapeType="1"/>
            </p:cNvSpPr>
            <p:nvPr/>
          </p:nvSpPr>
          <p:spPr bwMode="auto">
            <a:xfrm>
              <a:off x="2659" y="25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1" name="Freeform 4753"/>
            <p:cNvSpPr>
              <a:spLocks/>
            </p:cNvSpPr>
            <p:nvPr/>
          </p:nvSpPr>
          <p:spPr bwMode="auto">
            <a:xfrm>
              <a:off x="2659" y="2562"/>
              <a:ext cx="24" cy="27"/>
            </a:xfrm>
            <a:custGeom>
              <a:avLst/>
              <a:gdLst>
                <a:gd name="T0" fmla="*/ 23 w 24"/>
                <a:gd name="T1" fmla="*/ 26 h 27"/>
                <a:gd name="T2" fmla="*/ 11 w 24"/>
                <a:gd name="T3" fmla="*/ 0 h 27"/>
                <a:gd name="T4" fmla="*/ 0 w 24"/>
                <a:gd name="T5" fmla="*/ 8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1" y="0"/>
                  </a:lnTo>
                  <a:lnTo>
                    <a:pt x="0" y="8"/>
                  </a:lnTo>
                  <a:lnTo>
                    <a:pt x="2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2" name="Freeform 4754"/>
            <p:cNvSpPr>
              <a:spLocks/>
            </p:cNvSpPr>
            <p:nvPr/>
          </p:nvSpPr>
          <p:spPr bwMode="auto">
            <a:xfrm>
              <a:off x="2666" y="2562"/>
              <a:ext cx="24" cy="27"/>
            </a:xfrm>
            <a:custGeom>
              <a:avLst/>
              <a:gdLst>
                <a:gd name="T0" fmla="*/ 10 w 24"/>
                <a:gd name="T1" fmla="*/ 26 h 27"/>
                <a:gd name="T2" fmla="*/ 23 w 24"/>
                <a:gd name="T3" fmla="*/ 18 h 27"/>
                <a:gd name="T4" fmla="*/ 0 w 24"/>
                <a:gd name="T5" fmla="*/ 0 h 27"/>
                <a:gd name="T6" fmla="*/ 1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10" y="26"/>
                  </a:moveTo>
                  <a:lnTo>
                    <a:pt x="23" y="18"/>
                  </a:lnTo>
                  <a:lnTo>
                    <a:pt x="0" y="0"/>
                  </a:lnTo>
                  <a:lnTo>
                    <a:pt x="1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3" name="Freeform 4755"/>
            <p:cNvSpPr>
              <a:spLocks/>
            </p:cNvSpPr>
            <p:nvPr/>
          </p:nvSpPr>
          <p:spPr bwMode="auto">
            <a:xfrm>
              <a:off x="2668" y="2584"/>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4" name="Line 4756"/>
            <p:cNvSpPr>
              <a:spLocks noChangeShapeType="1"/>
            </p:cNvSpPr>
            <p:nvPr/>
          </p:nvSpPr>
          <p:spPr bwMode="auto">
            <a:xfrm>
              <a:off x="2668" y="2584"/>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5" name="Freeform 4757"/>
            <p:cNvSpPr>
              <a:spLocks/>
            </p:cNvSpPr>
            <p:nvPr/>
          </p:nvSpPr>
          <p:spPr bwMode="auto">
            <a:xfrm>
              <a:off x="2668" y="2576"/>
              <a:ext cx="27" cy="28"/>
            </a:xfrm>
            <a:custGeom>
              <a:avLst/>
              <a:gdLst>
                <a:gd name="T0" fmla="*/ 26 w 27"/>
                <a:gd name="T1" fmla="*/ 27 h 28"/>
                <a:gd name="T2" fmla="*/ 14 w 27"/>
                <a:gd name="T3" fmla="*/ 0 h 28"/>
                <a:gd name="T4" fmla="*/ 0 w 27"/>
                <a:gd name="T5" fmla="*/ 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4" y="0"/>
                  </a:lnTo>
                  <a:lnTo>
                    <a:pt x="0" y="8"/>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6" name="Freeform 4758"/>
            <p:cNvSpPr>
              <a:spLocks/>
            </p:cNvSpPr>
            <p:nvPr/>
          </p:nvSpPr>
          <p:spPr bwMode="auto">
            <a:xfrm>
              <a:off x="2678" y="2576"/>
              <a:ext cx="27" cy="28"/>
            </a:xfrm>
            <a:custGeom>
              <a:avLst/>
              <a:gdLst>
                <a:gd name="T0" fmla="*/ 11 w 27"/>
                <a:gd name="T1" fmla="*/ 27 h 28"/>
                <a:gd name="T2" fmla="*/ 26 w 27"/>
                <a:gd name="T3" fmla="*/ 8 h 28"/>
                <a:gd name="T4" fmla="*/ 0 w 27"/>
                <a:gd name="T5" fmla="*/ 0 h 28"/>
                <a:gd name="T6" fmla="*/ 11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1" y="27"/>
                  </a:moveTo>
                  <a:lnTo>
                    <a:pt x="26" y="8"/>
                  </a:lnTo>
                  <a:lnTo>
                    <a:pt x="0" y="0"/>
                  </a:lnTo>
                  <a:lnTo>
                    <a:pt x="11"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7" name="Freeform 4759"/>
            <p:cNvSpPr>
              <a:spLocks/>
            </p:cNvSpPr>
            <p:nvPr/>
          </p:nvSpPr>
          <p:spPr bwMode="auto">
            <a:xfrm>
              <a:off x="2682" y="2589"/>
              <a:ext cx="26" cy="28"/>
            </a:xfrm>
            <a:custGeom>
              <a:avLst/>
              <a:gdLst>
                <a:gd name="T0" fmla="*/ 0 w 26"/>
                <a:gd name="T1" fmla="*/ 27 h 28"/>
                <a:gd name="T2" fmla="*/ 0 w 26"/>
                <a:gd name="T3" fmla="*/ 27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0" y="27"/>
                  </a:ln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8" name="Line 4760"/>
            <p:cNvSpPr>
              <a:spLocks noChangeShapeType="1"/>
            </p:cNvSpPr>
            <p:nvPr/>
          </p:nvSpPr>
          <p:spPr bwMode="auto">
            <a:xfrm>
              <a:off x="2682" y="259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59" name="Freeform 4761"/>
            <p:cNvSpPr>
              <a:spLocks/>
            </p:cNvSpPr>
            <p:nvPr/>
          </p:nvSpPr>
          <p:spPr bwMode="auto">
            <a:xfrm>
              <a:off x="2682" y="2584"/>
              <a:ext cx="26" cy="26"/>
            </a:xfrm>
            <a:custGeom>
              <a:avLst/>
              <a:gdLst>
                <a:gd name="T0" fmla="*/ 25 w 26"/>
                <a:gd name="T1" fmla="*/ 25 h 26"/>
                <a:gd name="T2" fmla="*/ 13 w 26"/>
                <a:gd name="T3" fmla="*/ 0 h 26"/>
                <a:gd name="T4" fmla="*/ 0 w 26"/>
                <a:gd name="T5" fmla="*/ 17 h 26"/>
                <a:gd name="T6" fmla="*/ 25 w 26"/>
                <a:gd name="T7" fmla="*/ 25 h 26"/>
                <a:gd name="T8" fmla="*/ 0 60000 65536"/>
                <a:gd name="T9" fmla="*/ 0 60000 65536"/>
                <a:gd name="T10" fmla="*/ 0 60000 65536"/>
                <a:gd name="T11" fmla="*/ 0 60000 65536"/>
                <a:gd name="T12" fmla="*/ 0 w 26"/>
                <a:gd name="T13" fmla="*/ 0 h 26"/>
                <a:gd name="T14" fmla="*/ 26 w 26"/>
                <a:gd name="T15" fmla="*/ 26 h 26"/>
              </a:gdLst>
              <a:ahLst/>
              <a:cxnLst>
                <a:cxn ang="T8">
                  <a:pos x="T0" y="T1"/>
                </a:cxn>
                <a:cxn ang="T9">
                  <a:pos x="T2" y="T3"/>
                </a:cxn>
                <a:cxn ang="T10">
                  <a:pos x="T4" y="T5"/>
                </a:cxn>
                <a:cxn ang="T11">
                  <a:pos x="T6" y="T7"/>
                </a:cxn>
              </a:cxnLst>
              <a:rect l="T12" t="T13" r="T14" b="T15"/>
              <a:pathLst>
                <a:path w="26" h="26">
                  <a:moveTo>
                    <a:pt x="25" y="25"/>
                  </a:moveTo>
                  <a:lnTo>
                    <a:pt x="13" y="0"/>
                  </a:lnTo>
                  <a:lnTo>
                    <a:pt x="0" y="17"/>
                  </a:lnTo>
                  <a:lnTo>
                    <a:pt x="25"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0" name="Freeform 4762"/>
            <p:cNvSpPr>
              <a:spLocks/>
            </p:cNvSpPr>
            <p:nvPr/>
          </p:nvSpPr>
          <p:spPr bwMode="auto">
            <a:xfrm>
              <a:off x="2689" y="2584"/>
              <a:ext cx="28" cy="26"/>
            </a:xfrm>
            <a:custGeom>
              <a:avLst/>
              <a:gdLst>
                <a:gd name="T0" fmla="*/ 13 w 28"/>
                <a:gd name="T1" fmla="*/ 25 h 26"/>
                <a:gd name="T2" fmla="*/ 27 w 28"/>
                <a:gd name="T3" fmla="*/ 17 h 26"/>
                <a:gd name="T4" fmla="*/ 0 w 28"/>
                <a:gd name="T5" fmla="*/ 0 h 26"/>
                <a:gd name="T6" fmla="*/ 13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13" y="25"/>
                  </a:moveTo>
                  <a:lnTo>
                    <a:pt x="27" y="17"/>
                  </a:lnTo>
                  <a:lnTo>
                    <a:pt x="0" y="0"/>
                  </a:lnTo>
                  <a:lnTo>
                    <a:pt x="13"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1" name="Freeform 4763"/>
            <p:cNvSpPr>
              <a:spLocks/>
            </p:cNvSpPr>
            <p:nvPr/>
          </p:nvSpPr>
          <p:spPr bwMode="auto">
            <a:xfrm>
              <a:off x="2697" y="260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2" name="Line 4764"/>
            <p:cNvSpPr>
              <a:spLocks noChangeShapeType="1"/>
            </p:cNvSpPr>
            <p:nvPr/>
          </p:nvSpPr>
          <p:spPr bwMode="auto">
            <a:xfrm>
              <a:off x="2697" y="2604"/>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3" name="Freeform 4765"/>
            <p:cNvSpPr>
              <a:spLocks/>
            </p:cNvSpPr>
            <p:nvPr/>
          </p:nvSpPr>
          <p:spPr bwMode="auto">
            <a:xfrm>
              <a:off x="2697" y="2598"/>
              <a:ext cx="24" cy="27"/>
            </a:xfrm>
            <a:custGeom>
              <a:avLst/>
              <a:gdLst>
                <a:gd name="T0" fmla="*/ 23 w 24"/>
                <a:gd name="T1" fmla="*/ 26 h 27"/>
                <a:gd name="T2" fmla="*/ 10 w 24"/>
                <a:gd name="T3" fmla="*/ 0 h 27"/>
                <a:gd name="T4" fmla="*/ 0 w 24"/>
                <a:gd name="T5" fmla="*/ 13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0" y="0"/>
                  </a:lnTo>
                  <a:lnTo>
                    <a:pt x="0" y="13"/>
                  </a:lnTo>
                  <a:lnTo>
                    <a:pt x="2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4" name="Freeform 4766"/>
            <p:cNvSpPr>
              <a:spLocks/>
            </p:cNvSpPr>
            <p:nvPr/>
          </p:nvSpPr>
          <p:spPr bwMode="auto">
            <a:xfrm>
              <a:off x="2701" y="2598"/>
              <a:ext cx="27" cy="27"/>
            </a:xfrm>
            <a:custGeom>
              <a:avLst/>
              <a:gdLst>
                <a:gd name="T0" fmla="*/ 14 w 27"/>
                <a:gd name="T1" fmla="*/ 26 h 27"/>
                <a:gd name="T2" fmla="*/ 26 w 27"/>
                <a:gd name="T3" fmla="*/ 13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13"/>
                  </a:lnTo>
                  <a:lnTo>
                    <a:pt x="0" y="0"/>
                  </a:lnTo>
                  <a:lnTo>
                    <a:pt x="1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5" name="Freeform 4767"/>
            <p:cNvSpPr>
              <a:spLocks/>
            </p:cNvSpPr>
            <p:nvPr/>
          </p:nvSpPr>
          <p:spPr bwMode="auto">
            <a:xfrm>
              <a:off x="2707" y="2611"/>
              <a:ext cx="29" cy="27"/>
            </a:xfrm>
            <a:custGeom>
              <a:avLst/>
              <a:gdLst>
                <a:gd name="T0" fmla="*/ 0 w 29"/>
                <a:gd name="T1" fmla="*/ 26 h 27"/>
                <a:gd name="T2" fmla="*/ 0 w 29"/>
                <a:gd name="T3" fmla="*/ 0 h 27"/>
                <a:gd name="T4" fmla="*/ 28 w 29"/>
                <a:gd name="T5" fmla="*/ 0 h 27"/>
                <a:gd name="T6" fmla="*/ 0 w 29"/>
                <a:gd name="T7" fmla="*/ 26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0" y="26"/>
                  </a:moveTo>
                  <a:lnTo>
                    <a:pt x="0" y="0"/>
                  </a:lnTo>
                  <a:lnTo>
                    <a:pt x="28"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6" name="Freeform 4768"/>
            <p:cNvSpPr>
              <a:spLocks/>
            </p:cNvSpPr>
            <p:nvPr/>
          </p:nvSpPr>
          <p:spPr bwMode="auto">
            <a:xfrm>
              <a:off x="2707" y="261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7" name="Freeform 4769"/>
            <p:cNvSpPr>
              <a:spLocks/>
            </p:cNvSpPr>
            <p:nvPr/>
          </p:nvSpPr>
          <p:spPr bwMode="auto">
            <a:xfrm>
              <a:off x="2707" y="2604"/>
              <a:ext cx="29" cy="28"/>
            </a:xfrm>
            <a:custGeom>
              <a:avLst/>
              <a:gdLst>
                <a:gd name="T0" fmla="*/ 28 w 29"/>
                <a:gd name="T1" fmla="*/ 27 h 28"/>
                <a:gd name="T2" fmla="*/ 14 w 29"/>
                <a:gd name="T3" fmla="*/ 0 h 28"/>
                <a:gd name="T4" fmla="*/ 0 w 29"/>
                <a:gd name="T5" fmla="*/ 18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4" y="0"/>
                  </a:lnTo>
                  <a:lnTo>
                    <a:pt x="0" y="18"/>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8" name="Freeform 4770"/>
            <p:cNvSpPr>
              <a:spLocks/>
            </p:cNvSpPr>
            <p:nvPr/>
          </p:nvSpPr>
          <p:spPr bwMode="auto">
            <a:xfrm>
              <a:off x="2716" y="2604"/>
              <a:ext cx="25" cy="28"/>
            </a:xfrm>
            <a:custGeom>
              <a:avLst/>
              <a:gdLst>
                <a:gd name="T0" fmla="*/ 10 w 25"/>
                <a:gd name="T1" fmla="*/ 27 h 28"/>
                <a:gd name="T2" fmla="*/ 24 w 25"/>
                <a:gd name="T3" fmla="*/ 8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8"/>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69" name="Freeform 4771"/>
            <p:cNvSpPr>
              <a:spLocks/>
            </p:cNvSpPr>
            <p:nvPr/>
          </p:nvSpPr>
          <p:spPr bwMode="auto">
            <a:xfrm>
              <a:off x="2727" y="2611"/>
              <a:ext cx="28" cy="27"/>
            </a:xfrm>
            <a:custGeom>
              <a:avLst/>
              <a:gdLst>
                <a:gd name="T0" fmla="*/ 0 w 28"/>
                <a:gd name="T1" fmla="*/ 26 h 27"/>
                <a:gd name="T2" fmla="*/ 27 w 28"/>
                <a:gd name="T3" fmla="*/ 10 h 27"/>
                <a:gd name="T4" fmla="*/ 0 w 28"/>
                <a:gd name="T5" fmla="*/ 0 h 27"/>
                <a:gd name="T6" fmla="*/ 0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0" y="26"/>
                  </a:moveTo>
                  <a:lnTo>
                    <a:pt x="27" y="10"/>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0" name="Freeform 4772"/>
            <p:cNvSpPr>
              <a:spLocks/>
            </p:cNvSpPr>
            <p:nvPr/>
          </p:nvSpPr>
          <p:spPr bwMode="auto">
            <a:xfrm>
              <a:off x="2727" y="2632"/>
              <a:ext cx="28" cy="1"/>
            </a:xfrm>
            <a:custGeom>
              <a:avLst/>
              <a:gdLst>
                <a:gd name="T0" fmla="*/ 27 w 28"/>
                <a:gd name="T1" fmla="*/ 0 h 1"/>
                <a:gd name="T2" fmla="*/ 27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27" y="0"/>
                  </a:lnTo>
                  <a:lnTo>
                    <a:pt x="0" y="0"/>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1" name="Freeform 4773"/>
            <p:cNvSpPr>
              <a:spLocks/>
            </p:cNvSpPr>
            <p:nvPr/>
          </p:nvSpPr>
          <p:spPr bwMode="auto">
            <a:xfrm>
              <a:off x="2732" y="2619"/>
              <a:ext cx="25" cy="27"/>
            </a:xfrm>
            <a:custGeom>
              <a:avLst/>
              <a:gdLst>
                <a:gd name="T0" fmla="*/ 24 w 25"/>
                <a:gd name="T1" fmla="*/ 26 h 27"/>
                <a:gd name="T2" fmla="*/ 0 w 25"/>
                <a:gd name="T3" fmla="*/ 0 h 27"/>
                <a:gd name="T4" fmla="*/ 0 w 25"/>
                <a:gd name="T5" fmla="*/ 16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0" y="0"/>
                  </a:lnTo>
                  <a:lnTo>
                    <a:pt x="0" y="16"/>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2" name="Freeform 4774"/>
            <p:cNvSpPr>
              <a:spLocks/>
            </p:cNvSpPr>
            <p:nvPr/>
          </p:nvSpPr>
          <p:spPr bwMode="auto">
            <a:xfrm>
              <a:off x="2732" y="2619"/>
              <a:ext cx="25" cy="27"/>
            </a:xfrm>
            <a:custGeom>
              <a:avLst/>
              <a:gdLst>
                <a:gd name="T0" fmla="*/ 10 w 25"/>
                <a:gd name="T1" fmla="*/ 26 h 27"/>
                <a:gd name="T2" fmla="*/ 24 w 25"/>
                <a:gd name="T3" fmla="*/ 8 h 27"/>
                <a:gd name="T4" fmla="*/ 0 w 25"/>
                <a:gd name="T5" fmla="*/ 0 h 27"/>
                <a:gd name="T6" fmla="*/ 1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0" y="26"/>
                  </a:moveTo>
                  <a:lnTo>
                    <a:pt x="24" y="8"/>
                  </a:lnTo>
                  <a:lnTo>
                    <a:pt x="0" y="0"/>
                  </a:lnTo>
                  <a:lnTo>
                    <a:pt x="1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3" name="Freeform 4775"/>
            <p:cNvSpPr>
              <a:spLocks/>
            </p:cNvSpPr>
            <p:nvPr/>
          </p:nvSpPr>
          <p:spPr bwMode="auto">
            <a:xfrm>
              <a:off x="2738" y="2632"/>
              <a:ext cx="28" cy="27"/>
            </a:xfrm>
            <a:custGeom>
              <a:avLst/>
              <a:gdLst>
                <a:gd name="T0" fmla="*/ 27 w 28"/>
                <a:gd name="T1" fmla="*/ 26 h 27"/>
                <a:gd name="T2" fmla="*/ 0 w 28"/>
                <a:gd name="T3" fmla="*/ 26 h 27"/>
                <a:gd name="T4" fmla="*/ 27 w 28"/>
                <a:gd name="T5" fmla="*/ 0 h 27"/>
                <a:gd name="T6" fmla="*/ 27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26"/>
                  </a:moveTo>
                  <a:lnTo>
                    <a:pt x="0" y="26"/>
                  </a:lnTo>
                  <a:lnTo>
                    <a:pt x="27" y="0"/>
                  </a:lnTo>
                  <a:lnTo>
                    <a:pt x="27"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4" name="Freeform 4776"/>
            <p:cNvSpPr>
              <a:spLocks/>
            </p:cNvSpPr>
            <p:nvPr/>
          </p:nvSpPr>
          <p:spPr bwMode="auto">
            <a:xfrm>
              <a:off x="2738" y="2640"/>
              <a:ext cx="28" cy="1"/>
            </a:xfrm>
            <a:custGeom>
              <a:avLst/>
              <a:gdLst>
                <a:gd name="T0" fmla="*/ 27 w 28"/>
                <a:gd name="T1" fmla="*/ 0 h 1"/>
                <a:gd name="T2" fmla="*/ 0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0" y="0"/>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5" name="Freeform 4777"/>
            <p:cNvSpPr>
              <a:spLocks/>
            </p:cNvSpPr>
            <p:nvPr/>
          </p:nvSpPr>
          <p:spPr bwMode="auto">
            <a:xfrm>
              <a:off x="2744" y="2626"/>
              <a:ext cx="27" cy="27"/>
            </a:xfrm>
            <a:custGeom>
              <a:avLst/>
              <a:gdLst>
                <a:gd name="T0" fmla="*/ 26 w 27"/>
                <a:gd name="T1" fmla="*/ 26 h 27"/>
                <a:gd name="T2" fmla="*/ 0 w 27"/>
                <a:gd name="T3" fmla="*/ 0 h 27"/>
                <a:gd name="T4" fmla="*/ 0 w 27"/>
                <a:gd name="T5" fmla="*/ 26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0" y="0"/>
                  </a:lnTo>
                  <a:lnTo>
                    <a:pt x="0" y="26"/>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6" name="Freeform 4778"/>
            <p:cNvSpPr>
              <a:spLocks/>
            </p:cNvSpPr>
            <p:nvPr/>
          </p:nvSpPr>
          <p:spPr bwMode="auto">
            <a:xfrm>
              <a:off x="2744" y="2626"/>
              <a:ext cx="27" cy="27"/>
            </a:xfrm>
            <a:custGeom>
              <a:avLst/>
              <a:gdLst>
                <a:gd name="T0" fmla="*/ 13 w 27"/>
                <a:gd name="T1" fmla="*/ 26 h 27"/>
                <a:gd name="T2" fmla="*/ 26 w 27"/>
                <a:gd name="T3" fmla="*/ 11 h 27"/>
                <a:gd name="T4" fmla="*/ 0 w 27"/>
                <a:gd name="T5" fmla="*/ 0 h 27"/>
                <a:gd name="T6" fmla="*/ 13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3" y="26"/>
                  </a:moveTo>
                  <a:lnTo>
                    <a:pt x="26" y="11"/>
                  </a:lnTo>
                  <a:lnTo>
                    <a:pt x="0" y="0"/>
                  </a:lnTo>
                  <a:lnTo>
                    <a:pt x="1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7" name="Freeform 4779"/>
            <p:cNvSpPr>
              <a:spLocks/>
            </p:cNvSpPr>
            <p:nvPr/>
          </p:nvSpPr>
          <p:spPr bwMode="auto">
            <a:xfrm>
              <a:off x="2752" y="2640"/>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8" name="Line 4780"/>
            <p:cNvSpPr>
              <a:spLocks noChangeShapeType="1"/>
            </p:cNvSpPr>
            <p:nvPr/>
          </p:nvSpPr>
          <p:spPr bwMode="auto">
            <a:xfrm>
              <a:off x="2752" y="2640"/>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79" name="Freeform 4781"/>
            <p:cNvSpPr>
              <a:spLocks/>
            </p:cNvSpPr>
            <p:nvPr/>
          </p:nvSpPr>
          <p:spPr bwMode="auto">
            <a:xfrm>
              <a:off x="2752" y="2632"/>
              <a:ext cx="25" cy="27"/>
            </a:xfrm>
            <a:custGeom>
              <a:avLst/>
              <a:gdLst>
                <a:gd name="T0" fmla="*/ 24 w 25"/>
                <a:gd name="T1" fmla="*/ 26 h 27"/>
                <a:gd name="T2" fmla="*/ 10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0" y="0"/>
                  </a:lnTo>
                  <a:lnTo>
                    <a:pt x="0" y="14"/>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0" name="Freeform 4782"/>
            <p:cNvSpPr>
              <a:spLocks/>
            </p:cNvSpPr>
            <p:nvPr/>
          </p:nvSpPr>
          <p:spPr bwMode="auto">
            <a:xfrm>
              <a:off x="2756" y="2632"/>
              <a:ext cx="27" cy="27"/>
            </a:xfrm>
            <a:custGeom>
              <a:avLst/>
              <a:gdLst>
                <a:gd name="T0" fmla="*/ 14 w 27"/>
                <a:gd name="T1" fmla="*/ 26 h 27"/>
                <a:gd name="T2" fmla="*/ 26 w 27"/>
                <a:gd name="T3" fmla="*/ 0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0"/>
                  </a:lnTo>
                  <a:lnTo>
                    <a:pt x="0" y="0"/>
                  </a:lnTo>
                  <a:lnTo>
                    <a:pt x="1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1" name="Freeform 4783"/>
            <p:cNvSpPr>
              <a:spLocks/>
            </p:cNvSpPr>
            <p:nvPr/>
          </p:nvSpPr>
          <p:spPr bwMode="auto">
            <a:xfrm>
              <a:off x="2765" y="2640"/>
              <a:ext cx="22" cy="28"/>
            </a:xfrm>
            <a:custGeom>
              <a:avLst/>
              <a:gdLst>
                <a:gd name="T0" fmla="*/ 0 w 22"/>
                <a:gd name="T1" fmla="*/ 27 h 28"/>
                <a:gd name="T2" fmla="*/ 0 w 22"/>
                <a:gd name="T3" fmla="*/ 27 h 28"/>
                <a:gd name="T4" fmla="*/ 21 w 22"/>
                <a:gd name="T5" fmla="*/ 0 h 28"/>
                <a:gd name="T6" fmla="*/ 0 w 22"/>
                <a:gd name="T7" fmla="*/ 27 h 28"/>
                <a:gd name="T8" fmla="*/ 0 60000 65536"/>
                <a:gd name="T9" fmla="*/ 0 60000 65536"/>
                <a:gd name="T10" fmla="*/ 0 60000 65536"/>
                <a:gd name="T11" fmla="*/ 0 60000 65536"/>
                <a:gd name="T12" fmla="*/ 0 w 22"/>
                <a:gd name="T13" fmla="*/ 0 h 28"/>
                <a:gd name="T14" fmla="*/ 22 w 22"/>
                <a:gd name="T15" fmla="*/ 28 h 28"/>
              </a:gdLst>
              <a:ahLst/>
              <a:cxnLst>
                <a:cxn ang="T8">
                  <a:pos x="T0" y="T1"/>
                </a:cxn>
                <a:cxn ang="T9">
                  <a:pos x="T2" y="T3"/>
                </a:cxn>
                <a:cxn ang="T10">
                  <a:pos x="T4" y="T5"/>
                </a:cxn>
                <a:cxn ang="T11">
                  <a:pos x="T6" y="T7"/>
                </a:cxn>
              </a:cxnLst>
              <a:rect l="T12" t="T13" r="T14" b="T15"/>
              <a:pathLst>
                <a:path w="22" h="28">
                  <a:moveTo>
                    <a:pt x="0" y="27"/>
                  </a:moveTo>
                  <a:lnTo>
                    <a:pt x="0" y="27"/>
                  </a:lnTo>
                  <a:lnTo>
                    <a:pt x="21"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2" name="Line 4784"/>
            <p:cNvSpPr>
              <a:spLocks noChangeShapeType="1"/>
            </p:cNvSpPr>
            <p:nvPr/>
          </p:nvSpPr>
          <p:spPr bwMode="auto">
            <a:xfrm>
              <a:off x="2765" y="264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3" name="Freeform 4785"/>
            <p:cNvSpPr>
              <a:spLocks/>
            </p:cNvSpPr>
            <p:nvPr/>
          </p:nvSpPr>
          <p:spPr bwMode="auto">
            <a:xfrm>
              <a:off x="2765" y="2632"/>
              <a:ext cx="22" cy="27"/>
            </a:xfrm>
            <a:custGeom>
              <a:avLst/>
              <a:gdLst>
                <a:gd name="T0" fmla="*/ 21 w 22"/>
                <a:gd name="T1" fmla="*/ 26 h 27"/>
                <a:gd name="T2" fmla="*/ 9 w 22"/>
                <a:gd name="T3" fmla="*/ 0 h 27"/>
                <a:gd name="T4" fmla="*/ 0 w 22"/>
                <a:gd name="T5" fmla="*/ 18 h 27"/>
                <a:gd name="T6" fmla="*/ 21 w 22"/>
                <a:gd name="T7" fmla="*/ 26 h 27"/>
                <a:gd name="T8" fmla="*/ 0 60000 65536"/>
                <a:gd name="T9" fmla="*/ 0 60000 65536"/>
                <a:gd name="T10" fmla="*/ 0 60000 65536"/>
                <a:gd name="T11" fmla="*/ 0 60000 65536"/>
                <a:gd name="T12" fmla="*/ 0 w 22"/>
                <a:gd name="T13" fmla="*/ 0 h 27"/>
                <a:gd name="T14" fmla="*/ 22 w 22"/>
                <a:gd name="T15" fmla="*/ 27 h 27"/>
              </a:gdLst>
              <a:ahLst/>
              <a:cxnLst>
                <a:cxn ang="T8">
                  <a:pos x="T0" y="T1"/>
                </a:cxn>
                <a:cxn ang="T9">
                  <a:pos x="T2" y="T3"/>
                </a:cxn>
                <a:cxn ang="T10">
                  <a:pos x="T4" y="T5"/>
                </a:cxn>
                <a:cxn ang="T11">
                  <a:pos x="T6" y="T7"/>
                </a:cxn>
              </a:cxnLst>
              <a:rect l="T12" t="T13" r="T14" b="T15"/>
              <a:pathLst>
                <a:path w="22" h="27">
                  <a:moveTo>
                    <a:pt x="21" y="26"/>
                  </a:moveTo>
                  <a:lnTo>
                    <a:pt x="9" y="0"/>
                  </a:lnTo>
                  <a:lnTo>
                    <a:pt x="0" y="18"/>
                  </a:lnTo>
                  <a:lnTo>
                    <a:pt x="21"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4" name="Freeform 4786"/>
            <p:cNvSpPr>
              <a:spLocks/>
            </p:cNvSpPr>
            <p:nvPr/>
          </p:nvSpPr>
          <p:spPr bwMode="auto">
            <a:xfrm>
              <a:off x="2770" y="2632"/>
              <a:ext cx="25" cy="27"/>
            </a:xfrm>
            <a:custGeom>
              <a:avLst/>
              <a:gdLst>
                <a:gd name="T0" fmla="*/ 13 w 25"/>
                <a:gd name="T1" fmla="*/ 26 h 27"/>
                <a:gd name="T2" fmla="*/ 24 w 25"/>
                <a:gd name="T3" fmla="*/ 10 h 27"/>
                <a:gd name="T4" fmla="*/ 0 w 25"/>
                <a:gd name="T5" fmla="*/ 0 h 27"/>
                <a:gd name="T6" fmla="*/ 13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3" y="26"/>
                  </a:moveTo>
                  <a:lnTo>
                    <a:pt x="24" y="10"/>
                  </a:lnTo>
                  <a:lnTo>
                    <a:pt x="0" y="0"/>
                  </a:lnTo>
                  <a:lnTo>
                    <a:pt x="1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5" name="Freeform 4787"/>
            <p:cNvSpPr>
              <a:spLocks/>
            </p:cNvSpPr>
            <p:nvPr/>
          </p:nvSpPr>
          <p:spPr bwMode="auto">
            <a:xfrm>
              <a:off x="2776" y="2647"/>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6" name="Line 4788"/>
            <p:cNvSpPr>
              <a:spLocks noChangeShapeType="1"/>
            </p:cNvSpPr>
            <p:nvPr/>
          </p:nvSpPr>
          <p:spPr bwMode="auto">
            <a:xfrm>
              <a:off x="2776" y="265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7" name="Freeform 4789"/>
            <p:cNvSpPr>
              <a:spLocks/>
            </p:cNvSpPr>
            <p:nvPr/>
          </p:nvSpPr>
          <p:spPr bwMode="auto">
            <a:xfrm>
              <a:off x="2776" y="2640"/>
              <a:ext cx="25" cy="28"/>
            </a:xfrm>
            <a:custGeom>
              <a:avLst/>
              <a:gdLst>
                <a:gd name="T0" fmla="*/ 24 w 25"/>
                <a:gd name="T1" fmla="*/ 27 h 28"/>
                <a:gd name="T2" fmla="*/ 12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8" name="Freeform 4790"/>
            <p:cNvSpPr>
              <a:spLocks/>
            </p:cNvSpPr>
            <p:nvPr/>
          </p:nvSpPr>
          <p:spPr bwMode="auto">
            <a:xfrm>
              <a:off x="2782" y="2640"/>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89" name="Freeform 4791"/>
            <p:cNvSpPr>
              <a:spLocks/>
            </p:cNvSpPr>
            <p:nvPr/>
          </p:nvSpPr>
          <p:spPr bwMode="auto">
            <a:xfrm>
              <a:off x="2786" y="2647"/>
              <a:ext cx="29" cy="28"/>
            </a:xfrm>
            <a:custGeom>
              <a:avLst/>
              <a:gdLst>
                <a:gd name="T0" fmla="*/ 0 w 29"/>
                <a:gd name="T1" fmla="*/ 27 h 28"/>
                <a:gd name="T2" fmla="*/ 0 w 29"/>
                <a:gd name="T3" fmla="*/ 27 h 28"/>
                <a:gd name="T4" fmla="*/ 28 w 29"/>
                <a:gd name="T5" fmla="*/ 0 h 28"/>
                <a:gd name="T6" fmla="*/ 0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27"/>
                  </a:moveTo>
                  <a:lnTo>
                    <a:pt x="0" y="27"/>
                  </a:lnTo>
                  <a:lnTo>
                    <a:pt x="28"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0" name="Line 4792"/>
            <p:cNvSpPr>
              <a:spLocks noChangeShapeType="1"/>
            </p:cNvSpPr>
            <p:nvPr/>
          </p:nvSpPr>
          <p:spPr bwMode="auto">
            <a:xfrm>
              <a:off x="2786" y="2653"/>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1" name="Freeform 4793"/>
            <p:cNvSpPr>
              <a:spLocks/>
            </p:cNvSpPr>
            <p:nvPr/>
          </p:nvSpPr>
          <p:spPr bwMode="auto">
            <a:xfrm>
              <a:off x="2786" y="2640"/>
              <a:ext cx="29" cy="28"/>
            </a:xfrm>
            <a:custGeom>
              <a:avLst/>
              <a:gdLst>
                <a:gd name="T0" fmla="*/ 28 w 29"/>
                <a:gd name="T1" fmla="*/ 27 h 28"/>
                <a:gd name="T2" fmla="*/ 15 w 29"/>
                <a:gd name="T3" fmla="*/ 0 h 28"/>
                <a:gd name="T4" fmla="*/ 0 w 29"/>
                <a:gd name="T5" fmla="*/ 16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5" y="0"/>
                  </a:lnTo>
                  <a:lnTo>
                    <a:pt x="0" y="16"/>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2" name="Freeform 4794"/>
            <p:cNvSpPr>
              <a:spLocks/>
            </p:cNvSpPr>
            <p:nvPr/>
          </p:nvSpPr>
          <p:spPr bwMode="auto">
            <a:xfrm>
              <a:off x="2794" y="2640"/>
              <a:ext cx="27" cy="28"/>
            </a:xfrm>
            <a:custGeom>
              <a:avLst/>
              <a:gdLst>
                <a:gd name="T0" fmla="*/ 13 w 27"/>
                <a:gd name="T1" fmla="*/ 27 h 28"/>
                <a:gd name="T2" fmla="*/ 26 w 27"/>
                <a:gd name="T3" fmla="*/ 8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8"/>
                  </a:lnTo>
                  <a:lnTo>
                    <a:pt x="0" y="0"/>
                  </a:lnTo>
                  <a:lnTo>
                    <a:pt x="1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3" name="Freeform 4795"/>
            <p:cNvSpPr>
              <a:spLocks/>
            </p:cNvSpPr>
            <p:nvPr/>
          </p:nvSpPr>
          <p:spPr bwMode="auto">
            <a:xfrm>
              <a:off x="2800" y="2653"/>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4" name="Line 4796"/>
            <p:cNvSpPr>
              <a:spLocks noChangeShapeType="1"/>
            </p:cNvSpPr>
            <p:nvPr/>
          </p:nvSpPr>
          <p:spPr bwMode="auto">
            <a:xfrm>
              <a:off x="2800" y="266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5" name="Freeform 4797"/>
            <p:cNvSpPr>
              <a:spLocks/>
            </p:cNvSpPr>
            <p:nvPr/>
          </p:nvSpPr>
          <p:spPr bwMode="auto">
            <a:xfrm>
              <a:off x="2800" y="2647"/>
              <a:ext cx="25" cy="28"/>
            </a:xfrm>
            <a:custGeom>
              <a:avLst/>
              <a:gdLst>
                <a:gd name="T0" fmla="*/ 24 w 25"/>
                <a:gd name="T1" fmla="*/ 27 h 28"/>
                <a:gd name="T2" fmla="*/ 10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0"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6" name="Freeform 4798"/>
            <p:cNvSpPr>
              <a:spLocks/>
            </p:cNvSpPr>
            <p:nvPr/>
          </p:nvSpPr>
          <p:spPr bwMode="auto">
            <a:xfrm>
              <a:off x="2803" y="2647"/>
              <a:ext cx="29" cy="28"/>
            </a:xfrm>
            <a:custGeom>
              <a:avLst/>
              <a:gdLst>
                <a:gd name="T0" fmla="*/ 15 w 29"/>
                <a:gd name="T1" fmla="*/ 27 h 28"/>
                <a:gd name="T2" fmla="*/ 28 w 29"/>
                <a:gd name="T3" fmla="*/ 0 h 28"/>
                <a:gd name="T4" fmla="*/ 0 w 29"/>
                <a:gd name="T5" fmla="*/ 0 h 28"/>
                <a:gd name="T6" fmla="*/ 15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15" y="27"/>
                  </a:moveTo>
                  <a:lnTo>
                    <a:pt x="28" y="0"/>
                  </a:lnTo>
                  <a:lnTo>
                    <a:pt x="0" y="0"/>
                  </a:lnTo>
                  <a:lnTo>
                    <a:pt x="1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7" name="Freeform 4799"/>
            <p:cNvSpPr>
              <a:spLocks/>
            </p:cNvSpPr>
            <p:nvPr/>
          </p:nvSpPr>
          <p:spPr bwMode="auto">
            <a:xfrm>
              <a:off x="2814" y="2653"/>
              <a:ext cx="24" cy="28"/>
            </a:xfrm>
            <a:custGeom>
              <a:avLst/>
              <a:gdLst>
                <a:gd name="T0" fmla="*/ 0 w 24"/>
                <a:gd name="T1" fmla="*/ 27 h 28"/>
                <a:gd name="T2" fmla="*/ 0 w 24"/>
                <a:gd name="T3" fmla="*/ 27 h 28"/>
                <a:gd name="T4" fmla="*/ 23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0" y="27"/>
                  </a:lnTo>
                  <a:lnTo>
                    <a:pt x="23"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8" name="Line 4800"/>
            <p:cNvSpPr>
              <a:spLocks noChangeShapeType="1"/>
            </p:cNvSpPr>
            <p:nvPr/>
          </p:nvSpPr>
          <p:spPr bwMode="auto">
            <a:xfrm>
              <a:off x="2814" y="2661"/>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399" name="Freeform 4801"/>
            <p:cNvSpPr>
              <a:spLocks/>
            </p:cNvSpPr>
            <p:nvPr/>
          </p:nvSpPr>
          <p:spPr bwMode="auto">
            <a:xfrm>
              <a:off x="2814" y="2647"/>
              <a:ext cx="24" cy="28"/>
            </a:xfrm>
            <a:custGeom>
              <a:avLst/>
              <a:gdLst>
                <a:gd name="T0" fmla="*/ 23 w 24"/>
                <a:gd name="T1" fmla="*/ 27 h 28"/>
                <a:gd name="T2" fmla="*/ 11 w 24"/>
                <a:gd name="T3" fmla="*/ 0 h 28"/>
                <a:gd name="T4" fmla="*/ 0 w 24"/>
                <a:gd name="T5" fmla="*/ 27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11" y="0"/>
                  </a:lnTo>
                  <a:lnTo>
                    <a:pt x="0" y="27"/>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0" name="Freeform 4802"/>
            <p:cNvSpPr>
              <a:spLocks/>
            </p:cNvSpPr>
            <p:nvPr/>
          </p:nvSpPr>
          <p:spPr bwMode="auto">
            <a:xfrm>
              <a:off x="2820" y="2647"/>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1" name="Freeform 4803"/>
            <p:cNvSpPr>
              <a:spLocks/>
            </p:cNvSpPr>
            <p:nvPr/>
          </p:nvSpPr>
          <p:spPr bwMode="auto">
            <a:xfrm>
              <a:off x="2823" y="266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2" name="Line 4804"/>
            <p:cNvSpPr>
              <a:spLocks noChangeShapeType="1"/>
            </p:cNvSpPr>
            <p:nvPr/>
          </p:nvSpPr>
          <p:spPr bwMode="auto">
            <a:xfrm>
              <a:off x="2823" y="2661"/>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3" name="Freeform 4805"/>
            <p:cNvSpPr>
              <a:spLocks/>
            </p:cNvSpPr>
            <p:nvPr/>
          </p:nvSpPr>
          <p:spPr bwMode="auto">
            <a:xfrm>
              <a:off x="2823" y="2647"/>
              <a:ext cx="27" cy="28"/>
            </a:xfrm>
            <a:custGeom>
              <a:avLst/>
              <a:gdLst>
                <a:gd name="T0" fmla="*/ 26 w 27"/>
                <a:gd name="T1" fmla="*/ 27 h 28"/>
                <a:gd name="T2" fmla="*/ 0 w 27"/>
                <a:gd name="T3" fmla="*/ 0 h 28"/>
                <a:gd name="T4" fmla="*/ 0 w 27"/>
                <a:gd name="T5" fmla="*/ 1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18"/>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404" name="Freeform 4806"/>
            <p:cNvSpPr>
              <a:spLocks/>
            </p:cNvSpPr>
            <p:nvPr/>
          </p:nvSpPr>
          <p:spPr bwMode="auto">
            <a:xfrm>
              <a:off x="2823" y="2647"/>
              <a:ext cx="27" cy="28"/>
            </a:xfrm>
            <a:custGeom>
              <a:avLst/>
              <a:gdLst>
                <a:gd name="T0" fmla="*/ 26 w 27"/>
                <a:gd name="T1" fmla="*/ 27 h 28"/>
                <a:gd name="T2" fmla="*/ 26 w 27"/>
                <a:gd name="T3" fmla="*/ 8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8"/>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grpSp>
      <p:sp>
        <p:nvSpPr>
          <p:cNvPr id="16395" name="Freeform 4807"/>
          <p:cNvSpPr>
            <a:spLocks/>
          </p:cNvSpPr>
          <p:nvPr/>
        </p:nvSpPr>
        <p:spPr bwMode="auto">
          <a:xfrm>
            <a:off x="6753225" y="3118678"/>
            <a:ext cx="239713" cy="611187"/>
          </a:xfrm>
          <a:custGeom>
            <a:avLst/>
            <a:gdLst>
              <a:gd name="T0" fmla="*/ 2147483647 w 576"/>
              <a:gd name="T1" fmla="*/ 2147483647 h 864"/>
              <a:gd name="T2" fmla="*/ 2147483647 w 576"/>
              <a:gd name="T3" fmla="*/ 0 h 864"/>
              <a:gd name="T4" fmla="*/ 0 w 576"/>
              <a:gd name="T5" fmla="*/ 0 h 864"/>
              <a:gd name="T6" fmla="*/ 0 60000 65536"/>
              <a:gd name="T7" fmla="*/ 0 60000 65536"/>
              <a:gd name="T8" fmla="*/ 0 60000 65536"/>
              <a:gd name="T9" fmla="*/ 0 w 576"/>
              <a:gd name="T10" fmla="*/ 0 h 864"/>
              <a:gd name="T11" fmla="*/ 576 w 576"/>
              <a:gd name="T12" fmla="*/ 864 h 864"/>
            </a:gdLst>
            <a:ahLst/>
            <a:cxnLst>
              <a:cxn ang="T6">
                <a:pos x="T0" y="T1"/>
              </a:cxn>
              <a:cxn ang="T7">
                <a:pos x="T2" y="T3"/>
              </a:cxn>
              <a:cxn ang="T8">
                <a:pos x="T4" y="T5"/>
              </a:cxn>
            </a:cxnLst>
            <a:rect l="T9" t="T10" r="T11" b="T12"/>
            <a:pathLst>
              <a:path w="576" h="864">
                <a:moveTo>
                  <a:pt x="576" y="864"/>
                </a:moveTo>
                <a:lnTo>
                  <a:pt x="576" y="0"/>
                </a:lnTo>
                <a:lnTo>
                  <a:pt x="0" y="0"/>
                </a:lnTo>
              </a:path>
            </a:pathLst>
          </a:cu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396" name="Freeform 4808"/>
          <p:cNvSpPr>
            <a:spLocks/>
          </p:cNvSpPr>
          <p:nvPr/>
        </p:nvSpPr>
        <p:spPr bwMode="auto">
          <a:xfrm>
            <a:off x="6753225" y="2742440"/>
            <a:ext cx="717550" cy="987425"/>
          </a:xfrm>
          <a:custGeom>
            <a:avLst/>
            <a:gdLst>
              <a:gd name="T0" fmla="*/ 2147483647 w 576"/>
              <a:gd name="T1" fmla="*/ 2147483647 h 864"/>
              <a:gd name="T2" fmla="*/ 2147483647 w 576"/>
              <a:gd name="T3" fmla="*/ 0 h 864"/>
              <a:gd name="T4" fmla="*/ 0 w 576"/>
              <a:gd name="T5" fmla="*/ 0 h 864"/>
              <a:gd name="T6" fmla="*/ 0 60000 65536"/>
              <a:gd name="T7" fmla="*/ 0 60000 65536"/>
              <a:gd name="T8" fmla="*/ 0 60000 65536"/>
              <a:gd name="T9" fmla="*/ 0 w 576"/>
              <a:gd name="T10" fmla="*/ 0 h 864"/>
              <a:gd name="T11" fmla="*/ 576 w 576"/>
              <a:gd name="T12" fmla="*/ 864 h 864"/>
            </a:gdLst>
            <a:ahLst/>
            <a:cxnLst>
              <a:cxn ang="T6">
                <a:pos x="T0" y="T1"/>
              </a:cxn>
              <a:cxn ang="T7">
                <a:pos x="T2" y="T3"/>
              </a:cxn>
              <a:cxn ang="T8">
                <a:pos x="T4" y="T5"/>
              </a:cxn>
            </a:cxnLst>
            <a:rect l="T9" t="T10" r="T11" b="T12"/>
            <a:pathLst>
              <a:path w="576" h="864">
                <a:moveTo>
                  <a:pt x="576" y="864"/>
                </a:moveTo>
                <a:lnTo>
                  <a:pt x="576" y="0"/>
                </a:lnTo>
                <a:lnTo>
                  <a:pt x="0" y="0"/>
                </a:lnTo>
              </a:path>
            </a:pathLst>
          </a:cu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grpSp>
        <p:nvGrpSpPr>
          <p:cNvPr id="16397" name="Group 4809"/>
          <p:cNvGrpSpPr>
            <a:grpSpLocks/>
          </p:cNvGrpSpPr>
          <p:nvPr/>
        </p:nvGrpSpPr>
        <p:grpSpPr bwMode="auto">
          <a:xfrm rot="16200000" flipH="1">
            <a:off x="6231732" y="2690846"/>
            <a:ext cx="563562" cy="479425"/>
            <a:chOff x="1249" y="1728"/>
            <a:chExt cx="1825" cy="961"/>
          </a:xfrm>
        </p:grpSpPr>
        <p:sp>
          <p:nvSpPr>
            <p:cNvPr id="18417" name="Line 4810"/>
            <p:cNvSpPr>
              <a:spLocks noChangeShapeType="1"/>
            </p:cNvSpPr>
            <p:nvPr/>
          </p:nvSpPr>
          <p:spPr bwMode="auto">
            <a:xfrm>
              <a:off x="3031"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8" name="Freeform 4811"/>
            <p:cNvSpPr>
              <a:spLocks/>
            </p:cNvSpPr>
            <p:nvPr/>
          </p:nvSpPr>
          <p:spPr bwMode="auto">
            <a:xfrm>
              <a:off x="3031" y="2661"/>
              <a:ext cx="43" cy="28"/>
            </a:xfrm>
            <a:custGeom>
              <a:avLst/>
              <a:gdLst>
                <a:gd name="T0" fmla="*/ 0 w 43"/>
                <a:gd name="T1" fmla="*/ 27 h 28"/>
                <a:gd name="T2" fmla="*/ 42 w 43"/>
                <a:gd name="T3" fmla="*/ 0 h 28"/>
                <a:gd name="T4" fmla="*/ 42 w 43"/>
                <a:gd name="T5" fmla="*/ 27 h 28"/>
                <a:gd name="T6" fmla="*/ 0 w 43"/>
                <a:gd name="T7" fmla="*/ 27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27"/>
                  </a:moveTo>
                  <a:lnTo>
                    <a:pt x="42" y="0"/>
                  </a:lnTo>
                  <a:lnTo>
                    <a:pt x="42"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9" name="Freeform 4812"/>
            <p:cNvSpPr>
              <a:spLocks/>
            </p:cNvSpPr>
            <p:nvPr/>
          </p:nvSpPr>
          <p:spPr bwMode="auto">
            <a:xfrm>
              <a:off x="3031" y="2661"/>
              <a:ext cx="43" cy="28"/>
            </a:xfrm>
            <a:custGeom>
              <a:avLst/>
              <a:gdLst>
                <a:gd name="T0" fmla="*/ 0 w 43"/>
                <a:gd name="T1" fmla="*/ 0 h 28"/>
                <a:gd name="T2" fmla="*/ 42 w 43"/>
                <a:gd name="T3" fmla="*/ 0 h 28"/>
                <a:gd name="T4" fmla="*/ 0 w 43"/>
                <a:gd name="T5" fmla="*/ 27 h 28"/>
                <a:gd name="T6" fmla="*/ 0 w 43"/>
                <a:gd name="T7" fmla="*/ 0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0"/>
                  </a:moveTo>
                  <a:lnTo>
                    <a:pt x="42"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0" name="Freeform 4813"/>
            <p:cNvSpPr>
              <a:spLocks/>
            </p:cNvSpPr>
            <p:nvPr/>
          </p:nvSpPr>
          <p:spPr bwMode="auto">
            <a:xfrm>
              <a:off x="3031" y="2661"/>
              <a:ext cx="43" cy="28"/>
            </a:xfrm>
            <a:custGeom>
              <a:avLst/>
              <a:gdLst>
                <a:gd name="T0" fmla="*/ 0 w 43"/>
                <a:gd name="T1" fmla="*/ 27 h 28"/>
                <a:gd name="T2" fmla="*/ 42 w 43"/>
                <a:gd name="T3" fmla="*/ 27 h 28"/>
                <a:gd name="T4" fmla="*/ 42 w 43"/>
                <a:gd name="T5" fmla="*/ 0 h 28"/>
                <a:gd name="T6" fmla="*/ 0 w 43"/>
                <a:gd name="T7" fmla="*/ 0 h 28"/>
                <a:gd name="T8" fmla="*/ 0 w 43"/>
                <a:gd name="T9" fmla="*/ 27 h 28"/>
                <a:gd name="T10" fmla="*/ 0 w 43"/>
                <a:gd name="T11" fmla="*/ 27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0" y="27"/>
                  </a:moveTo>
                  <a:lnTo>
                    <a:pt x="42" y="27"/>
                  </a:lnTo>
                  <a:lnTo>
                    <a:pt x="42"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1" name="Line 4814"/>
            <p:cNvSpPr>
              <a:spLocks noChangeShapeType="1"/>
            </p:cNvSpPr>
            <p:nvPr/>
          </p:nvSpPr>
          <p:spPr bwMode="auto">
            <a:xfrm>
              <a:off x="2993"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2" name="Freeform 4815"/>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3" name="Line 4816"/>
            <p:cNvSpPr>
              <a:spLocks noChangeShapeType="1"/>
            </p:cNvSpPr>
            <p:nvPr/>
          </p:nvSpPr>
          <p:spPr bwMode="auto">
            <a:xfrm>
              <a:off x="2993"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4" name="Freeform 4817"/>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5" name="Line 4818"/>
            <p:cNvSpPr>
              <a:spLocks noChangeShapeType="1"/>
            </p:cNvSpPr>
            <p:nvPr/>
          </p:nvSpPr>
          <p:spPr bwMode="auto">
            <a:xfrm>
              <a:off x="2949" y="2669"/>
              <a:ext cx="4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6" name="Freeform 4819"/>
            <p:cNvSpPr>
              <a:spLocks/>
            </p:cNvSpPr>
            <p:nvPr/>
          </p:nvSpPr>
          <p:spPr bwMode="auto">
            <a:xfrm>
              <a:off x="2949" y="2661"/>
              <a:ext cx="45" cy="28"/>
            </a:xfrm>
            <a:custGeom>
              <a:avLst/>
              <a:gdLst>
                <a:gd name="T0" fmla="*/ 0 w 45"/>
                <a:gd name="T1" fmla="*/ 27 h 28"/>
                <a:gd name="T2" fmla="*/ 44 w 45"/>
                <a:gd name="T3" fmla="*/ 0 h 28"/>
                <a:gd name="T4" fmla="*/ 44 w 45"/>
                <a:gd name="T5" fmla="*/ 27 h 28"/>
                <a:gd name="T6" fmla="*/ 0 w 45"/>
                <a:gd name="T7" fmla="*/ 27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27"/>
                  </a:moveTo>
                  <a:lnTo>
                    <a:pt x="44" y="0"/>
                  </a:lnTo>
                  <a:lnTo>
                    <a:pt x="44"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7" name="Freeform 4820"/>
            <p:cNvSpPr>
              <a:spLocks/>
            </p:cNvSpPr>
            <p:nvPr/>
          </p:nvSpPr>
          <p:spPr bwMode="auto">
            <a:xfrm>
              <a:off x="2949" y="2661"/>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8" name="Freeform 4821"/>
            <p:cNvSpPr>
              <a:spLocks/>
            </p:cNvSpPr>
            <p:nvPr/>
          </p:nvSpPr>
          <p:spPr bwMode="auto">
            <a:xfrm>
              <a:off x="2949" y="2661"/>
              <a:ext cx="45" cy="28"/>
            </a:xfrm>
            <a:custGeom>
              <a:avLst/>
              <a:gdLst>
                <a:gd name="T0" fmla="*/ 0 w 45"/>
                <a:gd name="T1" fmla="*/ 27 h 28"/>
                <a:gd name="T2" fmla="*/ 44 w 45"/>
                <a:gd name="T3" fmla="*/ 27 h 28"/>
                <a:gd name="T4" fmla="*/ 44 w 45"/>
                <a:gd name="T5" fmla="*/ 0 h 28"/>
                <a:gd name="T6" fmla="*/ 0 w 45"/>
                <a:gd name="T7" fmla="*/ 0 h 28"/>
                <a:gd name="T8" fmla="*/ 0 w 45"/>
                <a:gd name="T9" fmla="*/ 27 h 28"/>
                <a:gd name="T10" fmla="*/ 0 w 45"/>
                <a:gd name="T11" fmla="*/ 27 h 28"/>
                <a:gd name="T12" fmla="*/ 0 60000 65536"/>
                <a:gd name="T13" fmla="*/ 0 60000 65536"/>
                <a:gd name="T14" fmla="*/ 0 60000 65536"/>
                <a:gd name="T15" fmla="*/ 0 60000 65536"/>
                <a:gd name="T16" fmla="*/ 0 60000 65536"/>
                <a:gd name="T17" fmla="*/ 0 60000 65536"/>
                <a:gd name="T18" fmla="*/ 0 w 45"/>
                <a:gd name="T19" fmla="*/ 0 h 28"/>
                <a:gd name="T20" fmla="*/ 45 w 4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5" h="28">
                  <a:moveTo>
                    <a:pt x="0" y="27"/>
                  </a:moveTo>
                  <a:lnTo>
                    <a:pt x="44" y="27"/>
                  </a:lnTo>
                  <a:lnTo>
                    <a:pt x="44"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29" name="Line 4822"/>
            <p:cNvSpPr>
              <a:spLocks noChangeShapeType="1"/>
            </p:cNvSpPr>
            <p:nvPr/>
          </p:nvSpPr>
          <p:spPr bwMode="auto">
            <a:xfrm>
              <a:off x="2910" y="2669"/>
              <a:ext cx="3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0" name="Freeform 4823"/>
            <p:cNvSpPr>
              <a:spLocks/>
            </p:cNvSpPr>
            <p:nvPr/>
          </p:nvSpPr>
          <p:spPr bwMode="auto">
            <a:xfrm>
              <a:off x="2910" y="2661"/>
              <a:ext cx="40" cy="28"/>
            </a:xfrm>
            <a:custGeom>
              <a:avLst/>
              <a:gdLst>
                <a:gd name="T0" fmla="*/ 0 w 40"/>
                <a:gd name="T1" fmla="*/ 27 h 28"/>
                <a:gd name="T2" fmla="*/ 39 w 40"/>
                <a:gd name="T3" fmla="*/ 0 h 28"/>
                <a:gd name="T4" fmla="*/ 39 w 40"/>
                <a:gd name="T5" fmla="*/ 27 h 28"/>
                <a:gd name="T6" fmla="*/ 0 w 40"/>
                <a:gd name="T7" fmla="*/ 27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27"/>
                  </a:moveTo>
                  <a:lnTo>
                    <a:pt x="39" y="0"/>
                  </a:lnTo>
                  <a:lnTo>
                    <a:pt x="39"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1" name="Freeform 4824"/>
            <p:cNvSpPr>
              <a:spLocks/>
            </p:cNvSpPr>
            <p:nvPr/>
          </p:nvSpPr>
          <p:spPr bwMode="auto">
            <a:xfrm>
              <a:off x="2910" y="2661"/>
              <a:ext cx="40" cy="28"/>
            </a:xfrm>
            <a:custGeom>
              <a:avLst/>
              <a:gdLst>
                <a:gd name="T0" fmla="*/ 0 w 40"/>
                <a:gd name="T1" fmla="*/ 0 h 28"/>
                <a:gd name="T2" fmla="*/ 39 w 40"/>
                <a:gd name="T3" fmla="*/ 0 h 28"/>
                <a:gd name="T4" fmla="*/ 0 w 40"/>
                <a:gd name="T5" fmla="*/ 27 h 28"/>
                <a:gd name="T6" fmla="*/ 0 w 40"/>
                <a:gd name="T7" fmla="*/ 0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0"/>
                  </a:moveTo>
                  <a:lnTo>
                    <a:pt x="39"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2" name="Freeform 4825"/>
            <p:cNvSpPr>
              <a:spLocks/>
            </p:cNvSpPr>
            <p:nvPr/>
          </p:nvSpPr>
          <p:spPr bwMode="auto">
            <a:xfrm>
              <a:off x="2910" y="2661"/>
              <a:ext cx="40" cy="28"/>
            </a:xfrm>
            <a:custGeom>
              <a:avLst/>
              <a:gdLst>
                <a:gd name="T0" fmla="*/ 0 w 40"/>
                <a:gd name="T1" fmla="*/ 27 h 28"/>
                <a:gd name="T2" fmla="*/ 39 w 40"/>
                <a:gd name="T3" fmla="*/ 27 h 28"/>
                <a:gd name="T4" fmla="*/ 39 w 40"/>
                <a:gd name="T5" fmla="*/ 0 h 28"/>
                <a:gd name="T6" fmla="*/ 0 w 40"/>
                <a:gd name="T7" fmla="*/ 0 h 28"/>
                <a:gd name="T8" fmla="*/ 0 w 40"/>
                <a:gd name="T9" fmla="*/ 27 h 28"/>
                <a:gd name="T10" fmla="*/ 0 w 40"/>
                <a:gd name="T11" fmla="*/ 27 h 28"/>
                <a:gd name="T12" fmla="*/ 0 60000 65536"/>
                <a:gd name="T13" fmla="*/ 0 60000 65536"/>
                <a:gd name="T14" fmla="*/ 0 60000 65536"/>
                <a:gd name="T15" fmla="*/ 0 60000 65536"/>
                <a:gd name="T16" fmla="*/ 0 60000 65536"/>
                <a:gd name="T17" fmla="*/ 0 60000 65536"/>
                <a:gd name="T18" fmla="*/ 0 w 40"/>
                <a:gd name="T19" fmla="*/ 0 h 28"/>
                <a:gd name="T20" fmla="*/ 40 w 4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0" h="28">
                  <a:moveTo>
                    <a:pt x="0" y="27"/>
                  </a:moveTo>
                  <a:lnTo>
                    <a:pt x="39" y="27"/>
                  </a:lnTo>
                  <a:lnTo>
                    <a:pt x="39"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3" name="Line 4826"/>
            <p:cNvSpPr>
              <a:spLocks noChangeShapeType="1"/>
            </p:cNvSpPr>
            <p:nvPr/>
          </p:nvSpPr>
          <p:spPr bwMode="auto">
            <a:xfrm>
              <a:off x="2869"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4" name="Freeform 4827"/>
            <p:cNvSpPr>
              <a:spLocks/>
            </p:cNvSpPr>
            <p:nvPr/>
          </p:nvSpPr>
          <p:spPr bwMode="auto">
            <a:xfrm>
              <a:off x="2869"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5" name="Freeform 4828"/>
            <p:cNvSpPr>
              <a:spLocks/>
            </p:cNvSpPr>
            <p:nvPr/>
          </p:nvSpPr>
          <p:spPr bwMode="auto">
            <a:xfrm>
              <a:off x="2869"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6" name="Freeform 4829"/>
            <p:cNvSpPr>
              <a:spLocks/>
            </p:cNvSpPr>
            <p:nvPr/>
          </p:nvSpPr>
          <p:spPr bwMode="auto">
            <a:xfrm>
              <a:off x="2869"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7" name="Line 4830"/>
            <p:cNvSpPr>
              <a:spLocks noChangeShapeType="1"/>
            </p:cNvSpPr>
            <p:nvPr/>
          </p:nvSpPr>
          <p:spPr bwMode="auto">
            <a:xfrm>
              <a:off x="2832"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8" name="Freeform 4831"/>
            <p:cNvSpPr>
              <a:spLocks/>
            </p:cNvSpPr>
            <p:nvPr/>
          </p:nvSpPr>
          <p:spPr bwMode="auto">
            <a:xfrm>
              <a:off x="2832" y="2653"/>
              <a:ext cx="38" cy="28"/>
            </a:xfrm>
            <a:custGeom>
              <a:avLst/>
              <a:gdLst>
                <a:gd name="T0" fmla="*/ 0 w 38"/>
                <a:gd name="T1" fmla="*/ 27 h 28"/>
                <a:gd name="T2" fmla="*/ 37 w 38"/>
                <a:gd name="T3" fmla="*/ 0 h 28"/>
                <a:gd name="T4" fmla="*/ 37 w 38"/>
                <a:gd name="T5" fmla="*/ 27 h 28"/>
                <a:gd name="T6" fmla="*/ 0 w 38"/>
                <a:gd name="T7" fmla="*/ 27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27"/>
                  </a:moveTo>
                  <a:lnTo>
                    <a:pt x="37" y="0"/>
                  </a:lnTo>
                  <a:lnTo>
                    <a:pt x="37"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39" name="Freeform 4832"/>
            <p:cNvSpPr>
              <a:spLocks/>
            </p:cNvSpPr>
            <p:nvPr/>
          </p:nvSpPr>
          <p:spPr bwMode="auto">
            <a:xfrm>
              <a:off x="2832" y="2653"/>
              <a:ext cx="38" cy="28"/>
            </a:xfrm>
            <a:custGeom>
              <a:avLst/>
              <a:gdLst>
                <a:gd name="T0" fmla="*/ 0 w 38"/>
                <a:gd name="T1" fmla="*/ 0 h 28"/>
                <a:gd name="T2" fmla="*/ 37 w 38"/>
                <a:gd name="T3" fmla="*/ 0 h 28"/>
                <a:gd name="T4" fmla="*/ 0 w 38"/>
                <a:gd name="T5" fmla="*/ 27 h 28"/>
                <a:gd name="T6" fmla="*/ 0 w 38"/>
                <a:gd name="T7" fmla="*/ 0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0"/>
                  </a:moveTo>
                  <a:lnTo>
                    <a:pt x="37"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0" name="Freeform 4833"/>
            <p:cNvSpPr>
              <a:spLocks/>
            </p:cNvSpPr>
            <p:nvPr/>
          </p:nvSpPr>
          <p:spPr bwMode="auto">
            <a:xfrm>
              <a:off x="2832" y="2653"/>
              <a:ext cx="38" cy="28"/>
            </a:xfrm>
            <a:custGeom>
              <a:avLst/>
              <a:gdLst>
                <a:gd name="T0" fmla="*/ 0 w 38"/>
                <a:gd name="T1" fmla="*/ 27 h 28"/>
                <a:gd name="T2" fmla="*/ 37 w 38"/>
                <a:gd name="T3" fmla="*/ 27 h 28"/>
                <a:gd name="T4" fmla="*/ 37 w 38"/>
                <a:gd name="T5" fmla="*/ 0 h 28"/>
                <a:gd name="T6" fmla="*/ 0 w 38"/>
                <a:gd name="T7" fmla="*/ 0 h 28"/>
                <a:gd name="T8" fmla="*/ 0 w 38"/>
                <a:gd name="T9" fmla="*/ 27 h 28"/>
                <a:gd name="T10" fmla="*/ 0 w 38"/>
                <a:gd name="T11" fmla="*/ 27 h 28"/>
                <a:gd name="T12" fmla="*/ 0 60000 65536"/>
                <a:gd name="T13" fmla="*/ 0 60000 65536"/>
                <a:gd name="T14" fmla="*/ 0 60000 65536"/>
                <a:gd name="T15" fmla="*/ 0 60000 65536"/>
                <a:gd name="T16" fmla="*/ 0 60000 65536"/>
                <a:gd name="T17" fmla="*/ 0 60000 65536"/>
                <a:gd name="T18" fmla="*/ 0 w 38"/>
                <a:gd name="T19" fmla="*/ 0 h 28"/>
                <a:gd name="T20" fmla="*/ 38 w 3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8" h="28">
                  <a:moveTo>
                    <a:pt x="0" y="27"/>
                  </a:moveTo>
                  <a:lnTo>
                    <a:pt x="37" y="27"/>
                  </a:lnTo>
                  <a:lnTo>
                    <a:pt x="37"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1" name="Line 4834"/>
            <p:cNvSpPr>
              <a:spLocks noChangeShapeType="1"/>
            </p:cNvSpPr>
            <p:nvPr/>
          </p:nvSpPr>
          <p:spPr bwMode="auto">
            <a:xfrm>
              <a:off x="2786"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2" name="Freeform 4835"/>
            <p:cNvSpPr>
              <a:spLocks/>
            </p:cNvSpPr>
            <p:nvPr/>
          </p:nvSpPr>
          <p:spPr bwMode="auto">
            <a:xfrm>
              <a:off x="2786" y="2647"/>
              <a:ext cx="47" cy="28"/>
            </a:xfrm>
            <a:custGeom>
              <a:avLst/>
              <a:gdLst>
                <a:gd name="T0" fmla="*/ 0 w 47"/>
                <a:gd name="T1" fmla="*/ 27 h 28"/>
                <a:gd name="T2" fmla="*/ 46 w 47"/>
                <a:gd name="T3" fmla="*/ 0 h 28"/>
                <a:gd name="T4" fmla="*/ 46 w 47"/>
                <a:gd name="T5" fmla="*/ 27 h 28"/>
                <a:gd name="T6" fmla="*/ 0 w 47"/>
                <a:gd name="T7" fmla="*/ 27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27"/>
                  </a:moveTo>
                  <a:lnTo>
                    <a:pt x="46" y="0"/>
                  </a:lnTo>
                  <a:lnTo>
                    <a:pt x="46"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3" name="Freeform 4836"/>
            <p:cNvSpPr>
              <a:spLocks/>
            </p:cNvSpPr>
            <p:nvPr/>
          </p:nvSpPr>
          <p:spPr bwMode="auto">
            <a:xfrm>
              <a:off x="2786" y="2647"/>
              <a:ext cx="47" cy="28"/>
            </a:xfrm>
            <a:custGeom>
              <a:avLst/>
              <a:gdLst>
                <a:gd name="T0" fmla="*/ 0 w 47"/>
                <a:gd name="T1" fmla="*/ 0 h 28"/>
                <a:gd name="T2" fmla="*/ 46 w 47"/>
                <a:gd name="T3" fmla="*/ 0 h 28"/>
                <a:gd name="T4" fmla="*/ 0 w 47"/>
                <a:gd name="T5" fmla="*/ 27 h 28"/>
                <a:gd name="T6" fmla="*/ 0 w 47"/>
                <a:gd name="T7" fmla="*/ 0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0"/>
                  </a:moveTo>
                  <a:lnTo>
                    <a:pt x="46"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4" name="Freeform 4837"/>
            <p:cNvSpPr>
              <a:spLocks/>
            </p:cNvSpPr>
            <p:nvPr/>
          </p:nvSpPr>
          <p:spPr bwMode="auto">
            <a:xfrm>
              <a:off x="2786" y="2647"/>
              <a:ext cx="47" cy="28"/>
            </a:xfrm>
            <a:custGeom>
              <a:avLst/>
              <a:gdLst>
                <a:gd name="T0" fmla="*/ 0 w 47"/>
                <a:gd name="T1" fmla="*/ 27 h 28"/>
                <a:gd name="T2" fmla="*/ 46 w 47"/>
                <a:gd name="T3" fmla="*/ 27 h 28"/>
                <a:gd name="T4" fmla="*/ 46 w 47"/>
                <a:gd name="T5" fmla="*/ 0 h 28"/>
                <a:gd name="T6" fmla="*/ 0 w 47"/>
                <a:gd name="T7" fmla="*/ 0 h 28"/>
                <a:gd name="T8" fmla="*/ 0 w 47"/>
                <a:gd name="T9" fmla="*/ 27 h 28"/>
                <a:gd name="T10" fmla="*/ 0 w 47"/>
                <a:gd name="T11" fmla="*/ 27 h 28"/>
                <a:gd name="T12" fmla="*/ 0 60000 65536"/>
                <a:gd name="T13" fmla="*/ 0 60000 65536"/>
                <a:gd name="T14" fmla="*/ 0 60000 65536"/>
                <a:gd name="T15" fmla="*/ 0 60000 65536"/>
                <a:gd name="T16" fmla="*/ 0 60000 65536"/>
                <a:gd name="T17" fmla="*/ 0 60000 65536"/>
                <a:gd name="T18" fmla="*/ 0 w 47"/>
                <a:gd name="T19" fmla="*/ 0 h 28"/>
                <a:gd name="T20" fmla="*/ 47 w 4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7" h="28">
                  <a:moveTo>
                    <a:pt x="0" y="27"/>
                  </a:moveTo>
                  <a:lnTo>
                    <a:pt x="46" y="27"/>
                  </a:lnTo>
                  <a:lnTo>
                    <a:pt x="46"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5" name="Line 4838"/>
            <p:cNvSpPr>
              <a:spLocks noChangeShapeType="1"/>
            </p:cNvSpPr>
            <p:nvPr/>
          </p:nvSpPr>
          <p:spPr bwMode="auto">
            <a:xfrm>
              <a:off x="2752" y="2669"/>
              <a:ext cx="3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6" name="Freeform 4839"/>
            <p:cNvSpPr>
              <a:spLocks/>
            </p:cNvSpPr>
            <p:nvPr/>
          </p:nvSpPr>
          <p:spPr bwMode="auto">
            <a:xfrm>
              <a:off x="2752" y="2632"/>
              <a:ext cx="35" cy="38"/>
            </a:xfrm>
            <a:custGeom>
              <a:avLst/>
              <a:gdLst>
                <a:gd name="T0" fmla="*/ 0 w 35"/>
                <a:gd name="T1" fmla="*/ 37 h 38"/>
                <a:gd name="T2" fmla="*/ 34 w 35"/>
                <a:gd name="T3" fmla="*/ 0 h 38"/>
                <a:gd name="T4" fmla="*/ 34 w 35"/>
                <a:gd name="T5" fmla="*/ 37 h 38"/>
                <a:gd name="T6" fmla="*/ 0 w 35"/>
                <a:gd name="T7" fmla="*/ 37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37"/>
                  </a:moveTo>
                  <a:lnTo>
                    <a:pt x="34" y="0"/>
                  </a:lnTo>
                  <a:lnTo>
                    <a:pt x="34" y="37"/>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7" name="Freeform 4840"/>
            <p:cNvSpPr>
              <a:spLocks/>
            </p:cNvSpPr>
            <p:nvPr/>
          </p:nvSpPr>
          <p:spPr bwMode="auto">
            <a:xfrm>
              <a:off x="2752" y="2632"/>
              <a:ext cx="35" cy="38"/>
            </a:xfrm>
            <a:custGeom>
              <a:avLst/>
              <a:gdLst>
                <a:gd name="T0" fmla="*/ 0 w 35"/>
                <a:gd name="T1" fmla="*/ 0 h 38"/>
                <a:gd name="T2" fmla="*/ 34 w 35"/>
                <a:gd name="T3" fmla="*/ 0 h 38"/>
                <a:gd name="T4" fmla="*/ 0 w 35"/>
                <a:gd name="T5" fmla="*/ 37 h 38"/>
                <a:gd name="T6" fmla="*/ 0 w 35"/>
                <a:gd name="T7" fmla="*/ 0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0"/>
                  </a:moveTo>
                  <a:lnTo>
                    <a:pt x="34" y="0"/>
                  </a:lnTo>
                  <a:lnTo>
                    <a:pt x="0" y="3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8" name="Freeform 4841"/>
            <p:cNvSpPr>
              <a:spLocks/>
            </p:cNvSpPr>
            <p:nvPr/>
          </p:nvSpPr>
          <p:spPr bwMode="auto">
            <a:xfrm>
              <a:off x="2752" y="2632"/>
              <a:ext cx="35" cy="38"/>
            </a:xfrm>
            <a:custGeom>
              <a:avLst/>
              <a:gdLst>
                <a:gd name="T0" fmla="*/ 0 w 35"/>
                <a:gd name="T1" fmla="*/ 37 h 38"/>
                <a:gd name="T2" fmla="*/ 34 w 35"/>
                <a:gd name="T3" fmla="*/ 37 h 38"/>
                <a:gd name="T4" fmla="*/ 34 w 35"/>
                <a:gd name="T5" fmla="*/ 0 h 38"/>
                <a:gd name="T6" fmla="*/ 0 w 35"/>
                <a:gd name="T7" fmla="*/ 0 h 38"/>
                <a:gd name="T8" fmla="*/ 0 w 35"/>
                <a:gd name="T9" fmla="*/ 37 h 38"/>
                <a:gd name="T10" fmla="*/ 0 w 35"/>
                <a:gd name="T11" fmla="*/ 37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0" y="37"/>
                  </a:moveTo>
                  <a:lnTo>
                    <a:pt x="34" y="37"/>
                  </a:lnTo>
                  <a:lnTo>
                    <a:pt x="34" y="0"/>
                  </a:lnTo>
                  <a:lnTo>
                    <a:pt x="0" y="0"/>
                  </a:lnTo>
                  <a:lnTo>
                    <a:pt x="0" y="3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49" name="Line 4842"/>
            <p:cNvSpPr>
              <a:spLocks noChangeShapeType="1"/>
            </p:cNvSpPr>
            <p:nvPr/>
          </p:nvSpPr>
          <p:spPr bwMode="auto">
            <a:xfrm>
              <a:off x="2707"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0" name="Line 4843"/>
            <p:cNvSpPr>
              <a:spLocks noChangeShapeType="1"/>
            </p:cNvSpPr>
            <p:nvPr/>
          </p:nvSpPr>
          <p:spPr bwMode="auto">
            <a:xfrm>
              <a:off x="2628"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1" name="Line 4844"/>
            <p:cNvSpPr>
              <a:spLocks noChangeShapeType="1"/>
            </p:cNvSpPr>
            <p:nvPr/>
          </p:nvSpPr>
          <p:spPr bwMode="auto">
            <a:xfrm>
              <a:off x="2583"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2" name="Line 4845"/>
            <p:cNvSpPr>
              <a:spLocks noChangeShapeType="1"/>
            </p:cNvSpPr>
            <p:nvPr/>
          </p:nvSpPr>
          <p:spPr bwMode="auto">
            <a:xfrm>
              <a:off x="2503"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3" name="Line 4846"/>
            <p:cNvSpPr>
              <a:spLocks noChangeShapeType="1"/>
            </p:cNvSpPr>
            <p:nvPr/>
          </p:nvSpPr>
          <p:spPr bwMode="auto">
            <a:xfrm>
              <a:off x="2469" y="2669"/>
              <a:ext cx="3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4" name="Line 4847"/>
            <p:cNvSpPr>
              <a:spLocks noChangeShapeType="1"/>
            </p:cNvSpPr>
            <p:nvPr/>
          </p:nvSpPr>
          <p:spPr bwMode="auto">
            <a:xfrm>
              <a:off x="2423"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5" name="Line 4848"/>
            <p:cNvSpPr>
              <a:spLocks noChangeShapeType="1"/>
            </p:cNvSpPr>
            <p:nvPr/>
          </p:nvSpPr>
          <p:spPr bwMode="auto">
            <a:xfrm>
              <a:off x="2378"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6" name="Line 4849"/>
            <p:cNvSpPr>
              <a:spLocks noChangeShapeType="1"/>
            </p:cNvSpPr>
            <p:nvPr/>
          </p:nvSpPr>
          <p:spPr bwMode="auto">
            <a:xfrm>
              <a:off x="2341"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7" name="Line 4850"/>
            <p:cNvSpPr>
              <a:spLocks noChangeShapeType="1"/>
            </p:cNvSpPr>
            <p:nvPr/>
          </p:nvSpPr>
          <p:spPr bwMode="auto">
            <a:xfrm>
              <a:off x="2299"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8" name="Line 4851"/>
            <p:cNvSpPr>
              <a:spLocks noChangeShapeType="1"/>
            </p:cNvSpPr>
            <p:nvPr/>
          </p:nvSpPr>
          <p:spPr bwMode="auto">
            <a:xfrm>
              <a:off x="2262"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59" name="Line 4852"/>
            <p:cNvSpPr>
              <a:spLocks noChangeShapeType="1"/>
            </p:cNvSpPr>
            <p:nvPr/>
          </p:nvSpPr>
          <p:spPr bwMode="auto">
            <a:xfrm>
              <a:off x="2216"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0" name="Line 4853"/>
            <p:cNvSpPr>
              <a:spLocks noChangeShapeType="1"/>
            </p:cNvSpPr>
            <p:nvPr/>
          </p:nvSpPr>
          <p:spPr bwMode="auto">
            <a:xfrm>
              <a:off x="2184" y="2669"/>
              <a:ext cx="3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1" name="Line 4854"/>
            <p:cNvSpPr>
              <a:spLocks noChangeShapeType="1"/>
            </p:cNvSpPr>
            <p:nvPr/>
          </p:nvSpPr>
          <p:spPr bwMode="auto">
            <a:xfrm>
              <a:off x="2137" y="2669"/>
              <a:ext cx="4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2" name="Line 4855"/>
            <p:cNvSpPr>
              <a:spLocks noChangeShapeType="1"/>
            </p:cNvSpPr>
            <p:nvPr/>
          </p:nvSpPr>
          <p:spPr bwMode="auto">
            <a:xfrm>
              <a:off x="209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3" name="Line 4856"/>
            <p:cNvSpPr>
              <a:spLocks noChangeShapeType="1"/>
            </p:cNvSpPr>
            <p:nvPr/>
          </p:nvSpPr>
          <p:spPr bwMode="auto">
            <a:xfrm>
              <a:off x="2058"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4" name="Line 4857"/>
            <p:cNvSpPr>
              <a:spLocks noChangeShapeType="1"/>
            </p:cNvSpPr>
            <p:nvPr/>
          </p:nvSpPr>
          <p:spPr bwMode="auto">
            <a:xfrm>
              <a:off x="2013"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5" name="Line 4858"/>
            <p:cNvSpPr>
              <a:spLocks noChangeShapeType="1"/>
            </p:cNvSpPr>
            <p:nvPr/>
          </p:nvSpPr>
          <p:spPr bwMode="auto">
            <a:xfrm>
              <a:off x="1978" y="2669"/>
              <a:ext cx="3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6" name="Line 4859"/>
            <p:cNvSpPr>
              <a:spLocks noChangeShapeType="1"/>
            </p:cNvSpPr>
            <p:nvPr/>
          </p:nvSpPr>
          <p:spPr bwMode="auto">
            <a:xfrm>
              <a:off x="1937"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7" name="Line 4860"/>
            <p:cNvSpPr>
              <a:spLocks noChangeShapeType="1"/>
            </p:cNvSpPr>
            <p:nvPr/>
          </p:nvSpPr>
          <p:spPr bwMode="auto">
            <a:xfrm>
              <a:off x="189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8" name="Line 4861"/>
            <p:cNvSpPr>
              <a:spLocks noChangeShapeType="1"/>
            </p:cNvSpPr>
            <p:nvPr/>
          </p:nvSpPr>
          <p:spPr bwMode="auto">
            <a:xfrm>
              <a:off x="1853"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69" name="Line 4862"/>
            <p:cNvSpPr>
              <a:spLocks noChangeShapeType="1"/>
            </p:cNvSpPr>
            <p:nvPr/>
          </p:nvSpPr>
          <p:spPr bwMode="auto">
            <a:xfrm>
              <a:off x="1815"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0" name="Line 4863"/>
            <p:cNvSpPr>
              <a:spLocks noChangeShapeType="1"/>
            </p:cNvSpPr>
            <p:nvPr/>
          </p:nvSpPr>
          <p:spPr bwMode="auto">
            <a:xfrm>
              <a:off x="1774"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1" name="Line 4864"/>
            <p:cNvSpPr>
              <a:spLocks noChangeShapeType="1"/>
            </p:cNvSpPr>
            <p:nvPr/>
          </p:nvSpPr>
          <p:spPr bwMode="auto">
            <a:xfrm>
              <a:off x="1736"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2" name="Line 4865"/>
            <p:cNvSpPr>
              <a:spLocks noChangeShapeType="1"/>
            </p:cNvSpPr>
            <p:nvPr/>
          </p:nvSpPr>
          <p:spPr bwMode="auto">
            <a:xfrm>
              <a:off x="1692" y="2669"/>
              <a:ext cx="4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3" name="Freeform 4866"/>
            <p:cNvSpPr>
              <a:spLocks/>
            </p:cNvSpPr>
            <p:nvPr/>
          </p:nvSpPr>
          <p:spPr bwMode="auto">
            <a:xfrm>
              <a:off x="1692" y="2653"/>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4" name="Line 4867"/>
            <p:cNvSpPr>
              <a:spLocks noChangeShapeType="1"/>
            </p:cNvSpPr>
            <p:nvPr/>
          </p:nvSpPr>
          <p:spPr bwMode="auto">
            <a:xfrm>
              <a:off x="1651"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5" name="Freeform 4868"/>
            <p:cNvSpPr>
              <a:spLocks/>
            </p:cNvSpPr>
            <p:nvPr/>
          </p:nvSpPr>
          <p:spPr bwMode="auto">
            <a:xfrm>
              <a:off x="1651"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6" name="Freeform 4869"/>
            <p:cNvSpPr>
              <a:spLocks/>
            </p:cNvSpPr>
            <p:nvPr/>
          </p:nvSpPr>
          <p:spPr bwMode="auto">
            <a:xfrm>
              <a:off x="1651"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7" name="Freeform 4870"/>
            <p:cNvSpPr>
              <a:spLocks/>
            </p:cNvSpPr>
            <p:nvPr/>
          </p:nvSpPr>
          <p:spPr bwMode="auto">
            <a:xfrm>
              <a:off x="1651"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8" name="Line 4871"/>
            <p:cNvSpPr>
              <a:spLocks noChangeShapeType="1"/>
            </p:cNvSpPr>
            <p:nvPr/>
          </p:nvSpPr>
          <p:spPr bwMode="auto">
            <a:xfrm>
              <a:off x="1615" y="2669"/>
              <a:ext cx="3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79" name="Freeform 4872"/>
            <p:cNvSpPr>
              <a:spLocks/>
            </p:cNvSpPr>
            <p:nvPr/>
          </p:nvSpPr>
          <p:spPr bwMode="auto">
            <a:xfrm>
              <a:off x="1615" y="2661"/>
              <a:ext cx="37" cy="28"/>
            </a:xfrm>
            <a:custGeom>
              <a:avLst/>
              <a:gdLst>
                <a:gd name="T0" fmla="*/ 0 w 37"/>
                <a:gd name="T1" fmla="*/ 27 h 28"/>
                <a:gd name="T2" fmla="*/ 36 w 37"/>
                <a:gd name="T3" fmla="*/ 0 h 28"/>
                <a:gd name="T4" fmla="*/ 36 w 37"/>
                <a:gd name="T5" fmla="*/ 27 h 28"/>
                <a:gd name="T6" fmla="*/ 0 w 37"/>
                <a:gd name="T7" fmla="*/ 27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27"/>
                  </a:moveTo>
                  <a:lnTo>
                    <a:pt x="36" y="0"/>
                  </a:lnTo>
                  <a:lnTo>
                    <a:pt x="36"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0" name="Freeform 4873"/>
            <p:cNvSpPr>
              <a:spLocks/>
            </p:cNvSpPr>
            <p:nvPr/>
          </p:nvSpPr>
          <p:spPr bwMode="auto">
            <a:xfrm>
              <a:off x="1615" y="2661"/>
              <a:ext cx="37" cy="28"/>
            </a:xfrm>
            <a:custGeom>
              <a:avLst/>
              <a:gdLst>
                <a:gd name="T0" fmla="*/ 0 w 37"/>
                <a:gd name="T1" fmla="*/ 0 h 28"/>
                <a:gd name="T2" fmla="*/ 36 w 37"/>
                <a:gd name="T3" fmla="*/ 0 h 28"/>
                <a:gd name="T4" fmla="*/ 0 w 37"/>
                <a:gd name="T5" fmla="*/ 27 h 28"/>
                <a:gd name="T6" fmla="*/ 0 w 37"/>
                <a:gd name="T7" fmla="*/ 0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0"/>
                  </a:moveTo>
                  <a:lnTo>
                    <a:pt x="36"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1" name="Freeform 4874"/>
            <p:cNvSpPr>
              <a:spLocks/>
            </p:cNvSpPr>
            <p:nvPr/>
          </p:nvSpPr>
          <p:spPr bwMode="auto">
            <a:xfrm>
              <a:off x="1615" y="2661"/>
              <a:ext cx="37" cy="28"/>
            </a:xfrm>
            <a:custGeom>
              <a:avLst/>
              <a:gdLst>
                <a:gd name="T0" fmla="*/ 0 w 37"/>
                <a:gd name="T1" fmla="*/ 27 h 28"/>
                <a:gd name="T2" fmla="*/ 36 w 37"/>
                <a:gd name="T3" fmla="*/ 27 h 28"/>
                <a:gd name="T4" fmla="*/ 36 w 37"/>
                <a:gd name="T5" fmla="*/ 0 h 28"/>
                <a:gd name="T6" fmla="*/ 0 w 37"/>
                <a:gd name="T7" fmla="*/ 0 h 28"/>
                <a:gd name="T8" fmla="*/ 0 w 37"/>
                <a:gd name="T9" fmla="*/ 27 h 28"/>
                <a:gd name="T10" fmla="*/ 0 w 37"/>
                <a:gd name="T11" fmla="*/ 27 h 28"/>
                <a:gd name="T12" fmla="*/ 0 60000 65536"/>
                <a:gd name="T13" fmla="*/ 0 60000 65536"/>
                <a:gd name="T14" fmla="*/ 0 60000 65536"/>
                <a:gd name="T15" fmla="*/ 0 60000 65536"/>
                <a:gd name="T16" fmla="*/ 0 60000 65536"/>
                <a:gd name="T17" fmla="*/ 0 60000 65536"/>
                <a:gd name="T18" fmla="*/ 0 w 37"/>
                <a:gd name="T19" fmla="*/ 0 h 28"/>
                <a:gd name="T20" fmla="*/ 37 w 3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7" h="28">
                  <a:moveTo>
                    <a:pt x="0" y="27"/>
                  </a:moveTo>
                  <a:lnTo>
                    <a:pt x="36" y="27"/>
                  </a:lnTo>
                  <a:lnTo>
                    <a:pt x="36"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2" name="Line 4875"/>
            <p:cNvSpPr>
              <a:spLocks noChangeShapeType="1"/>
            </p:cNvSpPr>
            <p:nvPr/>
          </p:nvSpPr>
          <p:spPr bwMode="auto">
            <a:xfrm>
              <a:off x="1568" y="2669"/>
              <a:ext cx="4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3" name="Freeform 4876"/>
            <p:cNvSpPr>
              <a:spLocks/>
            </p:cNvSpPr>
            <p:nvPr/>
          </p:nvSpPr>
          <p:spPr bwMode="auto">
            <a:xfrm>
              <a:off x="1568" y="2661"/>
              <a:ext cx="48" cy="28"/>
            </a:xfrm>
            <a:custGeom>
              <a:avLst/>
              <a:gdLst>
                <a:gd name="T0" fmla="*/ 0 w 48"/>
                <a:gd name="T1" fmla="*/ 27 h 28"/>
                <a:gd name="T2" fmla="*/ 47 w 48"/>
                <a:gd name="T3" fmla="*/ 0 h 28"/>
                <a:gd name="T4" fmla="*/ 47 w 48"/>
                <a:gd name="T5" fmla="*/ 27 h 28"/>
                <a:gd name="T6" fmla="*/ 0 w 48"/>
                <a:gd name="T7" fmla="*/ 27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27"/>
                  </a:moveTo>
                  <a:lnTo>
                    <a:pt x="47" y="0"/>
                  </a:lnTo>
                  <a:lnTo>
                    <a:pt x="47"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4" name="Freeform 4877"/>
            <p:cNvSpPr>
              <a:spLocks/>
            </p:cNvSpPr>
            <p:nvPr/>
          </p:nvSpPr>
          <p:spPr bwMode="auto">
            <a:xfrm>
              <a:off x="1568" y="2661"/>
              <a:ext cx="48" cy="28"/>
            </a:xfrm>
            <a:custGeom>
              <a:avLst/>
              <a:gdLst>
                <a:gd name="T0" fmla="*/ 0 w 48"/>
                <a:gd name="T1" fmla="*/ 0 h 28"/>
                <a:gd name="T2" fmla="*/ 47 w 48"/>
                <a:gd name="T3" fmla="*/ 0 h 28"/>
                <a:gd name="T4" fmla="*/ 0 w 48"/>
                <a:gd name="T5" fmla="*/ 27 h 28"/>
                <a:gd name="T6" fmla="*/ 0 w 48"/>
                <a:gd name="T7" fmla="*/ 0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0"/>
                  </a:moveTo>
                  <a:lnTo>
                    <a:pt x="47"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5" name="Freeform 4878"/>
            <p:cNvSpPr>
              <a:spLocks/>
            </p:cNvSpPr>
            <p:nvPr/>
          </p:nvSpPr>
          <p:spPr bwMode="auto">
            <a:xfrm>
              <a:off x="1568" y="2661"/>
              <a:ext cx="48" cy="28"/>
            </a:xfrm>
            <a:custGeom>
              <a:avLst/>
              <a:gdLst>
                <a:gd name="T0" fmla="*/ 0 w 48"/>
                <a:gd name="T1" fmla="*/ 27 h 28"/>
                <a:gd name="T2" fmla="*/ 47 w 48"/>
                <a:gd name="T3" fmla="*/ 27 h 28"/>
                <a:gd name="T4" fmla="*/ 47 w 48"/>
                <a:gd name="T5" fmla="*/ 0 h 28"/>
                <a:gd name="T6" fmla="*/ 0 w 48"/>
                <a:gd name="T7" fmla="*/ 0 h 28"/>
                <a:gd name="T8" fmla="*/ 0 w 48"/>
                <a:gd name="T9" fmla="*/ 27 h 28"/>
                <a:gd name="T10" fmla="*/ 0 w 48"/>
                <a:gd name="T11" fmla="*/ 27 h 28"/>
                <a:gd name="T12" fmla="*/ 0 60000 65536"/>
                <a:gd name="T13" fmla="*/ 0 60000 65536"/>
                <a:gd name="T14" fmla="*/ 0 60000 65536"/>
                <a:gd name="T15" fmla="*/ 0 60000 65536"/>
                <a:gd name="T16" fmla="*/ 0 60000 65536"/>
                <a:gd name="T17" fmla="*/ 0 60000 65536"/>
                <a:gd name="T18" fmla="*/ 0 w 48"/>
                <a:gd name="T19" fmla="*/ 0 h 28"/>
                <a:gd name="T20" fmla="*/ 48 w 4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8" h="28">
                  <a:moveTo>
                    <a:pt x="0" y="27"/>
                  </a:moveTo>
                  <a:lnTo>
                    <a:pt x="47" y="27"/>
                  </a:lnTo>
                  <a:lnTo>
                    <a:pt x="47"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6" name="Line 4879"/>
            <p:cNvSpPr>
              <a:spLocks noChangeShapeType="1"/>
            </p:cNvSpPr>
            <p:nvPr/>
          </p:nvSpPr>
          <p:spPr bwMode="auto">
            <a:xfrm>
              <a:off x="1530"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7" name="Freeform 4880"/>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8" name="Line 4881"/>
            <p:cNvSpPr>
              <a:spLocks noChangeShapeType="1"/>
            </p:cNvSpPr>
            <p:nvPr/>
          </p:nvSpPr>
          <p:spPr bwMode="auto">
            <a:xfrm>
              <a:off x="1530"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89" name="Freeform 4882"/>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0" name="Line 4883"/>
            <p:cNvSpPr>
              <a:spLocks noChangeShapeType="1"/>
            </p:cNvSpPr>
            <p:nvPr/>
          </p:nvSpPr>
          <p:spPr bwMode="auto">
            <a:xfrm>
              <a:off x="149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1" name="Freeform 4884"/>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2" name="Line 4885"/>
            <p:cNvSpPr>
              <a:spLocks noChangeShapeType="1"/>
            </p:cNvSpPr>
            <p:nvPr/>
          </p:nvSpPr>
          <p:spPr bwMode="auto">
            <a:xfrm>
              <a:off x="149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3" name="Freeform 4886"/>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4" name="Line 4887"/>
            <p:cNvSpPr>
              <a:spLocks noChangeShapeType="1"/>
            </p:cNvSpPr>
            <p:nvPr/>
          </p:nvSpPr>
          <p:spPr bwMode="auto">
            <a:xfrm>
              <a:off x="145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5" name="Freeform 4888"/>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6" name="Line 4889"/>
            <p:cNvSpPr>
              <a:spLocks noChangeShapeType="1"/>
            </p:cNvSpPr>
            <p:nvPr/>
          </p:nvSpPr>
          <p:spPr bwMode="auto">
            <a:xfrm>
              <a:off x="145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7" name="Freeform 4890"/>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8" name="Line 4891"/>
            <p:cNvSpPr>
              <a:spLocks noChangeShapeType="1"/>
            </p:cNvSpPr>
            <p:nvPr/>
          </p:nvSpPr>
          <p:spPr bwMode="auto">
            <a:xfrm>
              <a:off x="1409"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99" name="Freeform 4892"/>
            <p:cNvSpPr>
              <a:spLocks/>
            </p:cNvSpPr>
            <p:nvPr/>
          </p:nvSpPr>
          <p:spPr bwMode="auto">
            <a:xfrm>
              <a:off x="1409" y="2661"/>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0" name="Freeform 4893"/>
            <p:cNvSpPr>
              <a:spLocks/>
            </p:cNvSpPr>
            <p:nvPr/>
          </p:nvSpPr>
          <p:spPr bwMode="auto">
            <a:xfrm>
              <a:off x="1409" y="2661"/>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1" name="Freeform 4894"/>
            <p:cNvSpPr>
              <a:spLocks/>
            </p:cNvSpPr>
            <p:nvPr/>
          </p:nvSpPr>
          <p:spPr bwMode="auto">
            <a:xfrm>
              <a:off x="1409" y="2661"/>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2" name="Line 4895"/>
            <p:cNvSpPr>
              <a:spLocks noChangeShapeType="1"/>
            </p:cNvSpPr>
            <p:nvPr/>
          </p:nvSpPr>
          <p:spPr bwMode="auto">
            <a:xfrm>
              <a:off x="1367"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3" name="Freeform 4896"/>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60000 65536"/>
                <a:gd name="T9" fmla="*/ 0 60000 65536"/>
                <a:gd name="T10" fmla="*/ 0 60000 65536"/>
                <a:gd name="T11" fmla="*/ 0 60000 65536"/>
                <a:gd name="T12" fmla="*/ 0 w 43"/>
                <a:gd name="T13" fmla="*/ 0 h 1"/>
                <a:gd name="T14" fmla="*/ 43 w 43"/>
                <a:gd name="T15" fmla="*/ 1 h 1"/>
              </a:gdLst>
              <a:ahLst/>
              <a:cxnLst>
                <a:cxn ang="T8">
                  <a:pos x="T0" y="T1"/>
                </a:cxn>
                <a:cxn ang="T9">
                  <a:pos x="T2" y="T3"/>
                </a:cxn>
                <a:cxn ang="T10">
                  <a:pos x="T4" y="T5"/>
                </a:cxn>
                <a:cxn ang="T11">
                  <a:pos x="T6" y="T7"/>
                </a:cxn>
              </a:cxnLst>
              <a:rect l="T12" t="T13" r="T14" b="T15"/>
              <a:pathLst>
                <a:path w="43" h="1">
                  <a:moveTo>
                    <a:pt x="0" y="0"/>
                  </a:moveTo>
                  <a:lnTo>
                    <a:pt x="42"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4" name="Line 4897"/>
            <p:cNvSpPr>
              <a:spLocks noChangeShapeType="1"/>
            </p:cNvSpPr>
            <p:nvPr/>
          </p:nvSpPr>
          <p:spPr bwMode="auto">
            <a:xfrm>
              <a:off x="1367"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5" name="Freeform 4898"/>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w 43"/>
                <a:gd name="T9" fmla="*/ 0 h 1"/>
                <a:gd name="T10" fmla="*/ 0 w 43"/>
                <a:gd name="T11" fmla="*/ 0 h 1"/>
                <a:gd name="T12" fmla="*/ 0 60000 65536"/>
                <a:gd name="T13" fmla="*/ 0 60000 65536"/>
                <a:gd name="T14" fmla="*/ 0 60000 65536"/>
                <a:gd name="T15" fmla="*/ 0 60000 65536"/>
                <a:gd name="T16" fmla="*/ 0 60000 65536"/>
                <a:gd name="T17" fmla="*/ 0 60000 65536"/>
                <a:gd name="T18" fmla="*/ 0 w 43"/>
                <a:gd name="T19" fmla="*/ 0 h 1"/>
                <a:gd name="T20" fmla="*/ 43 w 43"/>
                <a:gd name="T21" fmla="*/ 1 h 1"/>
              </a:gdLst>
              <a:ahLst/>
              <a:cxnLst>
                <a:cxn ang="T12">
                  <a:pos x="T0" y="T1"/>
                </a:cxn>
                <a:cxn ang="T13">
                  <a:pos x="T2" y="T3"/>
                </a:cxn>
                <a:cxn ang="T14">
                  <a:pos x="T4" y="T5"/>
                </a:cxn>
                <a:cxn ang="T15">
                  <a:pos x="T6" y="T7"/>
                </a:cxn>
                <a:cxn ang="T16">
                  <a:pos x="T8" y="T9"/>
                </a:cxn>
                <a:cxn ang="T17">
                  <a:pos x="T10" y="T11"/>
                </a:cxn>
              </a:cxnLst>
              <a:rect l="T18" t="T19" r="T20" b="T21"/>
              <a:pathLst>
                <a:path w="43" h="1">
                  <a:moveTo>
                    <a:pt x="0" y="0"/>
                  </a:moveTo>
                  <a:lnTo>
                    <a:pt x="42"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6" name="Line 4899"/>
            <p:cNvSpPr>
              <a:spLocks noChangeShapeType="1"/>
            </p:cNvSpPr>
            <p:nvPr/>
          </p:nvSpPr>
          <p:spPr bwMode="auto">
            <a:xfrm>
              <a:off x="132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7" name="Freeform 4900"/>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8" name="Line 4901"/>
            <p:cNvSpPr>
              <a:spLocks noChangeShapeType="1"/>
            </p:cNvSpPr>
            <p:nvPr/>
          </p:nvSpPr>
          <p:spPr bwMode="auto">
            <a:xfrm>
              <a:off x="132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09" name="Freeform 4902"/>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0" name="Line 4903"/>
            <p:cNvSpPr>
              <a:spLocks noChangeShapeType="1"/>
            </p:cNvSpPr>
            <p:nvPr/>
          </p:nvSpPr>
          <p:spPr bwMode="auto">
            <a:xfrm>
              <a:off x="1286" y="2669"/>
              <a:ext cx="4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1" name="Freeform 4904"/>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60000 65536"/>
                <a:gd name="T9" fmla="*/ 0 60000 65536"/>
                <a:gd name="T10" fmla="*/ 0 60000 65536"/>
                <a:gd name="T11" fmla="*/ 0 60000 65536"/>
                <a:gd name="T12" fmla="*/ 0 w 44"/>
                <a:gd name="T13" fmla="*/ 0 h 1"/>
                <a:gd name="T14" fmla="*/ 44 w 44"/>
                <a:gd name="T15" fmla="*/ 1 h 1"/>
              </a:gdLst>
              <a:ahLst/>
              <a:cxnLst>
                <a:cxn ang="T8">
                  <a:pos x="T0" y="T1"/>
                </a:cxn>
                <a:cxn ang="T9">
                  <a:pos x="T2" y="T3"/>
                </a:cxn>
                <a:cxn ang="T10">
                  <a:pos x="T4" y="T5"/>
                </a:cxn>
                <a:cxn ang="T11">
                  <a:pos x="T6" y="T7"/>
                </a:cxn>
              </a:cxnLst>
              <a:rect l="T12" t="T13" r="T14" b="T15"/>
              <a:pathLst>
                <a:path w="44" h="1">
                  <a:moveTo>
                    <a:pt x="0" y="0"/>
                  </a:moveTo>
                  <a:lnTo>
                    <a:pt x="4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2" name="Line 4905"/>
            <p:cNvSpPr>
              <a:spLocks noChangeShapeType="1"/>
            </p:cNvSpPr>
            <p:nvPr/>
          </p:nvSpPr>
          <p:spPr bwMode="auto">
            <a:xfrm>
              <a:off x="1286" y="2669"/>
              <a:ext cx="4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3" name="Freeform 4906"/>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w 44"/>
                <a:gd name="T9" fmla="*/ 0 h 1"/>
                <a:gd name="T10" fmla="*/ 0 w 44"/>
                <a:gd name="T11" fmla="*/ 0 h 1"/>
                <a:gd name="T12" fmla="*/ 0 60000 65536"/>
                <a:gd name="T13" fmla="*/ 0 60000 65536"/>
                <a:gd name="T14" fmla="*/ 0 60000 65536"/>
                <a:gd name="T15" fmla="*/ 0 60000 65536"/>
                <a:gd name="T16" fmla="*/ 0 60000 65536"/>
                <a:gd name="T17" fmla="*/ 0 60000 65536"/>
                <a:gd name="T18" fmla="*/ 0 w 44"/>
                <a:gd name="T19" fmla="*/ 0 h 1"/>
                <a:gd name="T20" fmla="*/ 44 w 4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4" h="1">
                  <a:moveTo>
                    <a:pt x="0" y="0"/>
                  </a:moveTo>
                  <a:lnTo>
                    <a:pt x="43"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4" name="Line 4907"/>
            <p:cNvSpPr>
              <a:spLocks noChangeShapeType="1"/>
            </p:cNvSpPr>
            <p:nvPr/>
          </p:nvSpPr>
          <p:spPr bwMode="auto">
            <a:xfrm>
              <a:off x="1249"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5" name="Freeform 4908"/>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60000 65536"/>
                <a:gd name="T9" fmla="*/ 0 60000 65536"/>
                <a:gd name="T10" fmla="*/ 0 60000 65536"/>
                <a:gd name="T11" fmla="*/ 0 60000 65536"/>
                <a:gd name="T12" fmla="*/ 0 w 38"/>
                <a:gd name="T13" fmla="*/ 0 h 1"/>
                <a:gd name="T14" fmla="*/ 38 w 38"/>
                <a:gd name="T15" fmla="*/ 1 h 1"/>
              </a:gdLst>
              <a:ahLst/>
              <a:cxnLst>
                <a:cxn ang="T8">
                  <a:pos x="T0" y="T1"/>
                </a:cxn>
                <a:cxn ang="T9">
                  <a:pos x="T2" y="T3"/>
                </a:cxn>
                <a:cxn ang="T10">
                  <a:pos x="T4" y="T5"/>
                </a:cxn>
                <a:cxn ang="T11">
                  <a:pos x="T6" y="T7"/>
                </a:cxn>
              </a:cxnLst>
              <a:rect l="T12" t="T13" r="T14" b="T15"/>
              <a:pathLst>
                <a:path w="38" h="1">
                  <a:moveTo>
                    <a:pt x="0" y="0"/>
                  </a:moveTo>
                  <a:lnTo>
                    <a:pt x="3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6" name="Line 4909"/>
            <p:cNvSpPr>
              <a:spLocks noChangeShapeType="1"/>
            </p:cNvSpPr>
            <p:nvPr/>
          </p:nvSpPr>
          <p:spPr bwMode="auto">
            <a:xfrm>
              <a:off x="1249"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7" name="Freeform 4910"/>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w 38"/>
                <a:gd name="T9" fmla="*/ 0 h 1"/>
                <a:gd name="T10" fmla="*/ 0 w 38"/>
                <a:gd name="T11" fmla="*/ 0 h 1"/>
                <a:gd name="T12" fmla="*/ 0 60000 65536"/>
                <a:gd name="T13" fmla="*/ 0 60000 65536"/>
                <a:gd name="T14" fmla="*/ 0 60000 65536"/>
                <a:gd name="T15" fmla="*/ 0 60000 65536"/>
                <a:gd name="T16" fmla="*/ 0 60000 65536"/>
                <a:gd name="T17" fmla="*/ 0 60000 65536"/>
                <a:gd name="T18" fmla="*/ 0 w 38"/>
                <a:gd name="T19" fmla="*/ 0 h 1"/>
                <a:gd name="T20" fmla="*/ 38 w 38"/>
                <a:gd name="T21" fmla="*/ 1 h 1"/>
              </a:gdLst>
              <a:ahLst/>
              <a:cxnLst>
                <a:cxn ang="T12">
                  <a:pos x="T0" y="T1"/>
                </a:cxn>
                <a:cxn ang="T13">
                  <a:pos x="T2" y="T3"/>
                </a:cxn>
                <a:cxn ang="T14">
                  <a:pos x="T4" y="T5"/>
                </a:cxn>
                <a:cxn ang="T15">
                  <a:pos x="T6" y="T7"/>
                </a:cxn>
                <a:cxn ang="T16">
                  <a:pos x="T8" y="T9"/>
                </a:cxn>
                <a:cxn ang="T17">
                  <a:pos x="T10" y="T11"/>
                </a:cxn>
              </a:cxnLst>
              <a:rect l="T18" t="T19" r="T20" b="T21"/>
              <a:pathLst>
                <a:path w="38" h="1">
                  <a:moveTo>
                    <a:pt x="0" y="0"/>
                  </a:moveTo>
                  <a:lnTo>
                    <a:pt x="37"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8" name="Freeform 4911"/>
            <p:cNvSpPr>
              <a:spLocks/>
            </p:cNvSpPr>
            <p:nvPr/>
          </p:nvSpPr>
          <p:spPr bwMode="auto">
            <a:xfrm>
              <a:off x="1651" y="2653"/>
              <a:ext cx="26" cy="28"/>
            </a:xfrm>
            <a:custGeom>
              <a:avLst/>
              <a:gdLst>
                <a:gd name="T0" fmla="*/ 25 w 26"/>
                <a:gd name="T1" fmla="*/ 15 h 28"/>
                <a:gd name="T2" fmla="*/ 0 w 26"/>
                <a:gd name="T3" fmla="*/ 0 h 28"/>
                <a:gd name="T4" fmla="*/ 0 w 26"/>
                <a:gd name="T5" fmla="*/ 27 h 28"/>
                <a:gd name="T6" fmla="*/ 25 w 26"/>
                <a:gd name="T7" fmla="*/ 15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5"/>
                  </a:moveTo>
                  <a:lnTo>
                    <a:pt x="0" y="0"/>
                  </a:lnTo>
                  <a:lnTo>
                    <a:pt x="0" y="27"/>
                  </a:lnTo>
                  <a:lnTo>
                    <a:pt x="25"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19" name="Freeform 4912"/>
            <p:cNvSpPr>
              <a:spLocks/>
            </p:cNvSpPr>
            <p:nvPr/>
          </p:nvSpPr>
          <p:spPr bwMode="auto">
            <a:xfrm>
              <a:off x="1651" y="2647"/>
              <a:ext cx="26" cy="28"/>
            </a:xfrm>
            <a:custGeom>
              <a:avLst/>
              <a:gdLst>
                <a:gd name="T0" fmla="*/ 25 w 26"/>
                <a:gd name="T1" fmla="*/ 27 h 28"/>
                <a:gd name="T2" fmla="*/ 25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12"/>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0" name="Freeform 4913"/>
            <p:cNvSpPr>
              <a:spLocks/>
            </p:cNvSpPr>
            <p:nvPr/>
          </p:nvSpPr>
          <p:spPr bwMode="auto">
            <a:xfrm>
              <a:off x="1663" y="2653"/>
              <a:ext cx="27" cy="28"/>
            </a:xfrm>
            <a:custGeom>
              <a:avLst/>
              <a:gdLst>
                <a:gd name="T0" fmla="*/ 0 w 27"/>
                <a:gd name="T1" fmla="*/ 27 h 28"/>
                <a:gd name="T2" fmla="*/ 0 w 27"/>
                <a:gd name="T3" fmla="*/ 27 h 28"/>
                <a:gd name="T4" fmla="*/ 26 w 27"/>
                <a:gd name="T5" fmla="*/ 0 h 28"/>
                <a:gd name="T6" fmla="*/ 0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27"/>
                  </a:moveTo>
                  <a:lnTo>
                    <a:pt x="0" y="27"/>
                  </a:lnTo>
                  <a:lnTo>
                    <a:pt x="26"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1" name="Line 4914"/>
            <p:cNvSpPr>
              <a:spLocks noChangeShapeType="1"/>
            </p:cNvSpPr>
            <p:nvPr/>
          </p:nvSpPr>
          <p:spPr bwMode="auto">
            <a:xfrm>
              <a:off x="1663" y="2661"/>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2" name="Freeform 4915"/>
            <p:cNvSpPr>
              <a:spLocks/>
            </p:cNvSpPr>
            <p:nvPr/>
          </p:nvSpPr>
          <p:spPr bwMode="auto">
            <a:xfrm>
              <a:off x="1663" y="2647"/>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3" name="Freeform 4916"/>
            <p:cNvSpPr>
              <a:spLocks/>
            </p:cNvSpPr>
            <p:nvPr/>
          </p:nvSpPr>
          <p:spPr bwMode="auto">
            <a:xfrm>
              <a:off x="1663" y="2647"/>
              <a:ext cx="27" cy="28"/>
            </a:xfrm>
            <a:custGeom>
              <a:avLst/>
              <a:gdLst>
                <a:gd name="T0" fmla="*/ 26 w 27"/>
                <a:gd name="T1" fmla="*/ 27 h 28"/>
                <a:gd name="T2" fmla="*/ 26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0"/>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4" name="Freeform 4917"/>
            <p:cNvSpPr>
              <a:spLocks/>
            </p:cNvSpPr>
            <p:nvPr/>
          </p:nvSpPr>
          <p:spPr bwMode="auto">
            <a:xfrm>
              <a:off x="1676"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5" name="Line 4918"/>
            <p:cNvSpPr>
              <a:spLocks noChangeShapeType="1"/>
            </p:cNvSpPr>
            <p:nvPr/>
          </p:nvSpPr>
          <p:spPr bwMode="auto">
            <a:xfrm>
              <a:off x="1676" y="266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6" name="Freeform 4919"/>
            <p:cNvSpPr>
              <a:spLocks/>
            </p:cNvSpPr>
            <p:nvPr/>
          </p:nvSpPr>
          <p:spPr bwMode="auto">
            <a:xfrm>
              <a:off x="1676" y="2647"/>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7" name="Freeform 4920"/>
            <p:cNvSpPr>
              <a:spLocks/>
            </p:cNvSpPr>
            <p:nvPr/>
          </p:nvSpPr>
          <p:spPr bwMode="auto">
            <a:xfrm>
              <a:off x="1676" y="2647"/>
              <a:ext cx="26" cy="28"/>
            </a:xfrm>
            <a:custGeom>
              <a:avLst/>
              <a:gdLst>
                <a:gd name="T0" fmla="*/ 25 w 26"/>
                <a:gd name="T1" fmla="*/ 27 h 28"/>
                <a:gd name="T2" fmla="*/ 25 w 26"/>
                <a:gd name="T3" fmla="*/ 0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0"/>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8" name="Freeform 4921"/>
            <p:cNvSpPr>
              <a:spLocks/>
            </p:cNvSpPr>
            <p:nvPr/>
          </p:nvSpPr>
          <p:spPr bwMode="auto">
            <a:xfrm>
              <a:off x="1689"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29" name="Line 4922"/>
            <p:cNvSpPr>
              <a:spLocks noChangeShapeType="1"/>
            </p:cNvSpPr>
            <p:nvPr/>
          </p:nvSpPr>
          <p:spPr bwMode="auto">
            <a:xfrm>
              <a:off x="1689" y="2661"/>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0" name="Freeform 4923"/>
            <p:cNvSpPr>
              <a:spLocks/>
            </p:cNvSpPr>
            <p:nvPr/>
          </p:nvSpPr>
          <p:spPr bwMode="auto">
            <a:xfrm>
              <a:off x="1689" y="2647"/>
              <a:ext cx="24" cy="28"/>
            </a:xfrm>
            <a:custGeom>
              <a:avLst/>
              <a:gdLst>
                <a:gd name="T0" fmla="*/ 23 w 24"/>
                <a:gd name="T1" fmla="*/ 12 h 28"/>
                <a:gd name="T2" fmla="*/ 0 w 24"/>
                <a:gd name="T3" fmla="*/ 0 h 28"/>
                <a:gd name="T4" fmla="*/ 0 w 24"/>
                <a:gd name="T5" fmla="*/ 27 h 28"/>
                <a:gd name="T6" fmla="*/ 23 w 24"/>
                <a:gd name="T7" fmla="*/ 12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2"/>
                  </a:moveTo>
                  <a:lnTo>
                    <a:pt x="0" y="0"/>
                  </a:lnTo>
                  <a:lnTo>
                    <a:pt x="0" y="27"/>
                  </a:lnTo>
                  <a:lnTo>
                    <a:pt x="23"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1" name="Freeform 4924"/>
            <p:cNvSpPr>
              <a:spLocks/>
            </p:cNvSpPr>
            <p:nvPr/>
          </p:nvSpPr>
          <p:spPr bwMode="auto">
            <a:xfrm>
              <a:off x="1689" y="2640"/>
              <a:ext cx="24" cy="28"/>
            </a:xfrm>
            <a:custGeom>
              <a:avLst/>
              <a:gdLst>
                <a:gd name="T0" fmla="*/ 23 w 24"/>
                <a:gd name="T1" fmla="*/ 27 h 28"/>
                <a:gd name="T2" fmla="*/ 23 w 24"/>
                <a:gd name="T3" fmla="*/ 0 h 28"/>
                <a:gd name="T4" fmla="*/ 0 w 24"/>
                <a:gd name="T5" fmla="*/ 13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13"/>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2" name="Freeform 4925"/>
            <p:cNvSpPr>
              <a:spLocks/>
            </p:cNvSpPr>
            <p:nvPr/>
          </p:nvSpPr>
          <p:spPr bwMode="auto">
            <a:xfrm>
              <a:off x="1701"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3" name="Line 4926"/>
            <p:cNvSpPr>
              <a:spLocks noChangeShapeType="1"/>
            </p:cNvSpPr>
            <p:nvPr/>
          </p:nvSpPr>
          <p:spPr bwMode="auto">
            <a:xfrm>
              <a:off x="1701" y="2653"/>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4" name="Freeform 4927"/>
            <p:cNvSpPr>
              <a:spLocks/>
            </p:cNvSpPr>
            <p:nvPr/>
          </p:nvSpPr>
          <p:spPr bwMode="auto">
            <a:xfrm>
              <a:off x="1701" y="2640"/>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5" name="Freeform 4928"/>
            <p:cNvSpPr>
              <a:spLocks/>
            </p:cNvSpPr>
            <p:nvPr/>
          </p:nvSpPr>
          <p:spPr bwMode="auto">
            <a:xfrm>
              <a:off x="1701" y="2640"/>
              <a:ext cx="27" cy="28"/>
            </a:xfrm>
            <a:custGeom>
              <a:avLst/>
              <a:gdLst>
                <a:gd name="T0" fmla="*/ 26 w 27"/>
                <a:gd name="T1" fmla="*/ 27 h 28"/>
                <a:gd name="T2" fmla="*/ 11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1" y="0"/>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6" name="Freeform 4929"/>
            <p:cNvSpPr>
              <a:spLocks/>
            </p:cNvSpPr>
            <p:nvPr/>
          </p:nvSpPr>
          <p:spPr bwMode="auto">
            <a:xfrm>
              <a:off x="1712"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7" name="Line 4930"/>
            <p:cNvSpPr>
              <a:spLocks noChangeShapeType="1"/>
            </p:cNvSpPr>
            <p:nvPr/>
          </p:nvSpPr>
          <p:spPr bwMode="auto">
            <a:xfrm>
              <a:off x="1712" y="265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8" name="Freeform 4931"/>
            <p:cNvSpPr>
              <a:spLocks/>
            </p:cNvSpPr>
            <p:nvPr/>
          </p:nvSpPr>
          <p:spPr bwMode="auto">
            <a:xfrm>
              <a:off x="1705" y="2640"/>
              <a:ext cx="25" cy="28"/>
            </a:xfrm>
            <a:custGeom>
              <a:avLst/>
              <a:gdLst>
                <a:gd name="T0" fmla="*/ 24 w 25"/>
                <a:gd name="T1" fmla="*/ 13 h 28"/>
                <a:gd name="T2" fmla="*/ 0 w 25"/>
                <a:gd name="T3" fmla="*/ 0 h 28"/>
                <a:gd name="T4" fmla="*/ 9 w 25"/>
                <a:gd name="T5" fmla="*/ 27 h 28"/>
                <a:gd name="T6" fmla="*/ 24 w 25"/>
                <a:gd name="T7" fmla="*/ 13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13"/>
                  </a:moveTo>
                  <a:lnTo>
                    <a:pt x="0" y="0"/>
                  </a:lnTo>
                  <a:lnTo>
                    <a:pt x="9" y="27"/>
                  </a:lnTo>
                  <a:lnTo>
                    <a:pt x="24"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39" name="Freeform 4932"/>
            <p:cNvSpPr>
              <a:spLocks/>
            </p:cNvSpPr>
            <p:nvPr/>
          </p:nvSpPr>
          <p:spPr bwMode="auto">
            <a:xfrm>
              <a:off x="1705" y="2632"/>
              <a:ext cx="25" cy="27"/>
            </a:xfrm>
            <a:custGeom>
              <a:avLst/>
              <a:gdLst>
                <a:gd name="T0" fmla="*/ 24 w 25"/>
                <a:gd name="T1" fmla="*/ 26 h 27"/>
                <a:gd name="T2" fmla="*/ 16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6" y="0"/>
                  </a:lnTo>
                  <a:lnTo>
                    <a:pt x="0" y="14"/>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0" name="Freeform 4933"/>
            <p:cNvSpPr>
              <a:spLocks/>
            </p:cNvSpPr>
            <p:nvPr/>
          </p:nvSpPr>
          <p:spPr bwMode="auto">
            <a:xfrm>
              <a:off x="1722" y="2640"/>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1" name="Line 4934"/>
            <p:cNvSpPr>
              <a:spLocks noChangeShapeType="1"/>
            </p:cNvSpPr>
            <p:nvPr/>
          </p:nvSpPr>
          <p:spPr bwMode="auto">
            <a:xfrm>
              <a:off x="1722" y="264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2" name="Freeform 4935"/>
            <p:cNvSpPr>
              <a:spLocks/>
            </p:cNvSpPr>
            <p:nvPr/>
          </p:nvSpPr>
          <p:spPr bwMode="auto">
            <a:xfrm>
              <a:off x="1718" y="2632"/>
              <a:ext cx="27" cy="27"/>
            </a:xfrm>
            <a:custGeom>
              <a:avLst/>
              <a:gdLst>
                <a:gd name="T0" fmla="*/ 26 w 27"/>
                <a:gd name="T1" fmla="*/ 14 h 27"/>
                <a:gd name="T2" fmla="*/ 0 w 27"/>
                <a:gd name="T3" fmla="*/ 0 h 27"/>
                <a:gd name="T4" fmla="*/ 8 w 27"/>
                <a:gd name="T5" fmla="*/ 26 h 27"/>
                <a:gd name="T6" fmla="*/ 26 w 27"/>
                <a:gd name="T7" fmla="*/ 14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4"/>
                  </a:moveTo>
                  <a:lnTo>
                    <a:pt x="0" y="0"/>
                  </a:lnTo>
                  <a:lnTo>
                    <a:pt x="8" y="26"/>
                  </a:lnTo>
                  <a:lnTo>
                    <a:pt x="26"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3" name="Freeform 4936"/>
            <p:cNvSpPr>
              <a:spLocks/>
            </p:cNvSpPr>
            <p:nvPr/>
          </p:nvSpPr>
          <p:spPr bwMode="auto">
            <a:xfrm>
              <a:off x="1718" y="2632"/>
              <a:ext cx="27" cy="27"/>
            </a:xfrm>
            <a:custGeom>
              <a:avLst/>
              <a:gdLst>
                <a:gd name="T0" fmla="*/ 26 w 27"/>
                <a:gd name="T1" fmla="*/ 26 h 27"/>
                <a:gd name="T2" fmla="*/ 18 w 27"/>
                <a:gd name="T3" fmla="*/ 0 h 27"/>
                <a:gd name="T4" fmla="*/ 0 w 27"/>
                <a:gd name="T5" fmla="*/ 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0"/>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4" name="Freeform 4937"/>
            <p:cNvSpPr>
              <a:spLocks/>
            </p:cNvSpPr>
            <p:nvPr/>
          </p:nvSpPr>
          <p:spPr bwMode="auto">
            <a:xfrm>
              <a:off x="1736" y="263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5" name="Line 4938"/>
            <p:cNvSpPr>
              <a:spLocks noChangeShapeType="1"/>
            </p:cNvSpPr>
            <p:nvPr/>
          </p:nvSpPr>
          <p:spPr bwMode="auto">
            <a:xfrm>
              <a:off x="1736" y="2640"/>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6" name="Freeform 4939"/>
            <p:cNvSpPr>
              <a:spLocks/>
            </p:cNvSpPr>
            <p:nvPr/>
          </p:nvSpPr>
          <p:spPr bwMode="auto">
            <a:xfrm>
              <a:off x="1731" y="2632"/>
              <a:ext cx="26" cy="27"/>
            </a:xfrm>
            <a:custGeom>
              <a:avLst/>
              <a:gdLst>
                <a:gd name="T0" fmla="*/ 25 w 26"/>
                <a:gd name="T1" fmla="*/ 26 h 27"/>
                <a:gd name="T2" fmla="*/ 0 w 26"/>
                <a:gd name="T3" fmla="*/ 0 h 27"/>
                <a:gd name="T4" fmla="*/ 7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0" y="0"/>
                  </a:lnTo>
                  <a:lnTo>
                    <a:pt x="7" y="26"/>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7" name="Freeform 4940"/>
            <p:cNvSpPr>
              <a:spLocks/>
            </p:cNvSpPr>
            <p:nvPr/>
          </p:nvSpPr>
          <p:spPr bwMode="auto">
            <a:xfrm>
              <a:off x="1731" y="2626"/>
              <a:ext cx="26" cy="27"/>
            </a:xfrm>
            <a:custGeom>
              <a:avLst/>
              <a:gdLst>
                <a:gd name="T0" fmla="*/ 25 w 26"/>
                <a:gd name="T1" fmla="*/ 26 h 27"/>
                <a:gd name="T2" fmla="*/ 15 w 26"/>
                <a:gd name="T3" fmla="*/ 0 h 27"/>
                <a:gd name="T4" fmla="*/ 0 w 26"/>
                <a:gd name="T5" fmla="*/ 11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11"/>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8" name="Freeform 4941"/>
            <p:cNvSpPr>
              <a:spLocks/>
            </p:cNvSpPr>
            <p:nvPr/>
          </p:nvSpPr>
          <p:spPr bwMode="auto">
            <a:xfrm>
              <a:off x="1750"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49" name="Line 4942"/>
            <p:cNvSpPr>
              <a:spLocks noChangeShapeType="1"/>
            </p:cNvSpPr>
            <p:nvPr/>
          </p:nvSpPr>
          <p:spPr bwMode="auto">
            <a:xfrm>
              <a:off x="1750" y="2640"/>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0" name="Freeform 4943"/>
            <p:cNvSpPr>
              <a:spLocks/>
            </p:cNvSpPr>
            <p:nvPr/>
          </p:nvSpPr>
          <p:spPr bwMode="auto">
            <a:xfrm>
              <a:off x="1742" y="2626"/>
              <a:ext cx="26" cy="27"/>
            </a:xfrm>
            <a:custGeom>
              <a:avLst/>
              <a:gdLst>
                <a:gd name="T0" fmla="*/ 25 w 26"/>
                <a:gd name="T1" fmla="*/ 11 h 27"/>
                <a:gd name="T2" fmla="*/ 0 w 26"/>
                <a:gd name="T3" fmla="*/ 0 h 27"/>
                <a:gd name="T4" fmla="*/ 9 w 26"/>
                <a:gd name="T5" fmla="*/ 26 h 27"/>
                <a:gd name="T6" fmla="*/ 25 w 26"/>
                <a:gd name="T7" fmla="*/ 11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1"/>
                  </a:moveTo>
                  <a:lnTo>
                    <a:pt x="0" y="0"/>
                  </a:lnTo>
                  <a:lnTo>
                    <a:pt x="9" y="26"/>
                  </a:lnTo>
                  <a:lnTo>
                    <a:pt x="25"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1" name="Freeform 4944"/>
            <p:cNvSpPr>
              <a:spLocks/>
            </p:cNvSpPr>
            <p:nvPr/>
          </p:nvSpPr>
          <p:spPr bwMode="auto">
            <a:xfrm>
              <a:off x="1742" y="2619"/>
              <a:ext cx="26" cy="27"/>
            </a:xfrm>
            <a:custGeom>
              <a:avLst/>
              <a:gdLst>
                <a:gd name="T0" fmla="*/ 25 w 26"/>
                <a:gd name="T1" fmla="*/ 26 h 27"/>
                <a:gd name="T2" fmla="*/ 17 w 26"/>
                <a:gd name="T3" fmla="*/ 0 h 27"/>
                <a:gd name="T4" fmla="*/ 0 w 26"/>
                <a:gd name="T5" fmla="*/ 13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7" y="0"/>
                  </a:lnTo>
                  <a:lnTo>
                    <a:pt x="0" y="13"/>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2" name="Freeform 4945"/>
            <p:cNvSpPr>
              <a:spLocks/>
            </p:cNvSpPr>
            <p:nvPr/>
          </p:nvSpPr>
          <p:spPr bwMode="auto">
            <a:xfrm>
              <a:off x="1759"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3" name="Line 4946"/>
            <p:cNvSpPr>
              <a:spLocks noChangeShapeType="1"/>
            </p:cNvSpPr>
            <p:nvPr/>
          </p:nvSpPr>
          <p:spPr bwMode="auto">
            <a:xfrm>
              <a:off x="1759" y="2632"/>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4" name="Freeform 4947"/>
            <p:cNvSpPr>
              <a:spLocks/>
            </p:cNvSpPr>
            <p:nvPr/>
          </p:nvSpPr>
          <p:spPr bwMode="auto">
            <a:xfrm>
              <a:off x="1754" y="2619"/>
              <a:ext cx="27" cy="27"/>
            </a:xfrm>
            <a:custGeom>
              <a:avLst/>
              <a:gdLst>
                <a:gd name="T0" fmla="*/ 26 w 27"/>
                <a:gd name="T1" fmla="*/ 13 h 27"/>
                <a:gd name="T2" fmla="*/ 0 w 27"/>
                <a:gd name="T3" fmla="*/ 0 h 27"/>
                <a:gd name="T4" fmla="*/ 8 w 27"/>
                <a:gd name="T5" fmla="*/ 26 h 27"/>
                <a:gd name="T6" fmla="*/ 26 w 27"/>
                <a:gd name="T7" fmla="*/ 13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3"/>
                  </a:moveTo>
                  <a:lnTo>
                    <a:pt x="0" y="0"/>
                  </a:lnTo>
                  <a:lnTo>
                    <a:pt x="8" y="26"/>
                  </a:lnTo>
                  <a:lnTo>
                    <a:pt x="26"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5" name="Freeform 4948"/>
            <p:cNvSpPr>
              <a:spLocks/>
            </p:cNvSpPr>
            <p:nvPr/>
          </p:nvSpPr>
          <p:spPr bwMode="auto">
            <a:xfrm>
              <a:off x="1754" y="2611"/>
              <a:ext cx="27" cy="27"/>
            </a:xfrm>
            <a:custGeom>
              <a:avLst/>
              <a:gdLst>
                <a:gd name="T0" fmla="*/ 26 w 27"/>
                <a:gd name="T1" fmla="*/ 26 h 27"/>
                <a:gd name="T2" fmla="*/ 18 w 27"/>
                <a:gd name="T3" fmla="*/ 0 h 27"/>
                <a:gd name="T4" fmla="*/ 0 w 27"/>
                <a:gd name="T5" fmla="*/ 14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14"/>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6" name="Freeform 4949"/>
            <p:cNvSpPr>
              <a:spLocks/>
            </p:cNvSpPr>
            <p:nvPr/>
          </p:nvSpPr>
          <p:spPr bwMode="auto">
            <a:xfrm>
              <a:off x="1774" y="2619"/>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7" name="Line 4950"/>
            <p:cNvSpPr>
              <a:spLocks noChangeShapeType="1"/>
            </p:cNvSpPr>
            <p:nvPr/>
          </p:nvSpPr>
          <p:spPr bwMode="auto">
            <a:xfrm>
              <a:off x="1774" y="2626"/>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8" name="Freeform 4951"/>
            <p:cNvSpPr>
              <a:spLocks/>
            </p:cNvSpPr>
            <p:nvPr/>
          </p:nvSpPr>
          <p:spPr bwMode="auto">
            <a:xfrm>
              <a:off x="1767" y="2611"/>
              <a:ext cx="26" cy="27"/>
            </a:xfrm>
            <a:custGeom>
              <a:avLst/>
              <a:gdLst>
                <a:gd name="T0" fmla="*/ 25 w 26"/>
                <a:gd name="T1" fmla="*/ 14 h 27"/>
                <a:gd name="T2" fmla="*/ 0 w 26"/>
                <a:gd name="T3" fmla="*/ 0 h 27"/>
                <a:gd name="T4" fmla="*/ 7 w 26"/>
                <a:gd name="T5" fmla="*/ 26 h 27"/>
                <a:gd name="T6" fmla="*/ 25 w 26"/>
                <a:gd name="T7" fmla="*/ 14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4"/>
                  </a:moveTo>
                  <a:lnTo>
                    <a:pt x="0" y="0"/>
                  </a:lnTo>
                  <a:lnTo>
                    <a:pt x="7" y="26"/>
                  </a:lnTo>
                  <a:lnTo>
                    <a:pt x="25"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59" name="Freeform 4952"/>
            <p:cNvSpPr>
              <a:spLocks/>
            </p:cNvSpPr>
            <p:nvPr/>
          </p:nvSpPr>
          <p:spPr bwMode="auto">
            <a:xfrm>
              <a:off x="1767" y="2604"/>
              <a:ext cx="26" cy="28"/>
            </a:xfrm>
            <a:custGeom>
              <a:avLst/>
              <a:gdLst>
                <a:gd name="T0" fmla="*/ 25 w 26"/>
                <a:gd name="T1" fmla="*/ 27 h 28"/>
                <a:gd name="T2" fmla="*/ 17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17" y="0"/>
                  </a:lnTo>
                  <a:lnTo>
                    <a:pt x="0" y="12"/>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0" name="Freeform 4953"/>
            <p:cNvSpPr>
              <a:spLocks/>
            </p:cNvSpPr>
            <p:nvPr/>
          </p:nvSpPr>
          <p:spPr bwMode="auto">
            <a:xfrm>
              <a:off x="1785" y="2604"/>
              <a:ext cx="1" cy="28"/>
            </a:xfrm>
            <a:custGeom>
              <a:avLst/>
              <a:gdLst>
                <a:gd name="T0" fmla="*/ 0 w 1"/>
                <a:gd name="T1" fmla="*/ 12 h 28"/>
                <a:gd name="T2" fmla="*/ 0 w 1"/>
                <a:gd name="T3" fmla="*/ 27 h 28"/>
                <a:gd name="T4" fmla="*/ 0 w 1"/>
                <a:gd name="T5" fmla="*/ 0 h 28"/>
                <a:gd name="T6" fmla="*/ 0 w 1"/>
                <a:gd name="T7" fmla="*/ 12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12"/>
                  </a:moveTo>
                  <a:lnTo>
                    <a:pt x="0" y="27"/>
                  </a:lnTo>
                  <a:lnTo>
                    <a:pt x="0" y="0"/>
                  </a:lnTo>
                  <a:lnTo>
                    <a:pt x="0"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1" name="Freeform 4954"/>
            <p:cNvSpPr>
              <a:spLocks/>
            </p:cNvSpPr>
            <p:nvPr/>
          </p:nvSpPr>
          <p:spPr bwMode="auto">
            <a:xfrm>
              <a:off x="1785" y="2611"/>
              <a:ext cx="1" cy="27"/>
            </a:xfrm>
            <a:custGeom>
              <a:avLst/>
              <a:gdLst>
                <a:gd name="T0" fmla="*/ 0 w 1"/>
                <a:gd name="T1" fmla="*/ 0 h 27"/>
                <a:gd name="T2" fmla="*/ 0 w 1"/>
                <a:gd name="T3" fmla="*/ 26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2" name="Freeform 4955"/>
            <p:cNvSpPr>
              <a:spLocks/>
            </p:cNvSpPr>
            <p:nvPr/>
          </p:nvSpPr>
          <p:spPr bwMode="auto">
            <a:xfrm>
              <a:off x="1781" y="2604"/>
              <a:ext cx="26" cy="28"/>
            </a:xfrm>
            <a:custGeom>
              <a:avLst/>
              <a:gdLst>
                <a:gd name="T0" fmla="*/ 25 w 26"/>
                <a:gd name="T1" fmla="*/ 0 h 28"/>
                <a:gd name="T2" fmla="*/ 0 w 26"/>
                <a:gd name="T3" fmla="*/ 0 h 28"/>
                <a:gd name="T4" fmla="*/ 7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7"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3" name="Freeform 4956"/>
            <p:cNvSpPr>
              <a:spLocks/>
            </p:cNvSpPr>
            <p:nvPr/>
          </p:nvSpPr>
          <p:spPr bwMode="auto">
            <a:xfrm>
              <a:off x="1781" y="2598"/>
              <a:ext cx="26" cy="27"/>
            </a:xfrm>
            <a:custGeom>
              <a:avLst/>
              <a:gdLst>
                <a:gd name="T0" fmla="*/ 25 w 26"/>
                <a:gd name="T1" fmla="*/ 26 h 27"/>
                <a:gd name="T2" fmla="*/ 15 w 26"/>
                <a:gd name="T3" fmla="*/ 0 h 27"/>
                <a:gd name="T4" fmla="*/ 0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26"/>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4" name="Freeform 4957"/>
            <p:cNvSpPr>
              <a:spLocks/>
            </p:cNvSpPr>
            <p:nvPr/>
          </p:nvSpPr>
          <p:spPr bwMode="auto">
            <a:xfrm>
              <a:off x="1797" y="25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5" name="Line 4958"/>
            <p:cNvSpPr>
              <a:spLocks noChangeShapeType="1"/>
            </p:cNvSpPr>
            <p:nvPr/>
          </p:nvSpPr>
          <p:spPr bwMode="auto">
            <a:xfrm>
              <a:off x="1797" y="2604"/>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6" name="Freeform 4959"/>
            <p:cNvSpPr>
              <a:spLocks/>
            </p:cNvSpPr>
            <p:nvPr/>
          </p:nvSpPr>
          <p:spPr bwMode="auto">
            <a:xfrm>
              <a:off x="1792" y="2598"/>
              <a:ext cx="24" cy="27"/>
            </a:xfrm>
            <a:custGeom>
              <a:avLst/>
              <a:gdLst>
                <a:gd name="T0" fmla="*/ 23 w 24"/>
                <a:gd name="T1" fmla="*/ 0 h 27"/>
                <a:gd name="T2" fmla="*/ 0 w 24"/>
                <a:gd name="T3" fmla="*/ 0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0"/>
                  </a:lnTo>
                  <a:lnTo>
                    <a:pt x="8"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7" name="Freeform 4960"/>
            <p:cNvSpPr>
              <a:spLocks/>
            </p:cNvSpPr>
            <p:nvPr/>
          </p:nvSpPr>
          <p:spPr bwMode="auto">
            <a:xfrm>
              <a:off x="1792" y="2584"/>
              <a:ext cx="24" cy="26"/>
            </a:xfrm>
            <a:custGeom>
              <a:avLst/>
              <a:gdLst>
                <a:gd name="T0" fmla="*/ 23 w 24"/>
                <a:gd name="T1" fmla="*/ 25 h 26"/>
                <a:gd name="T2" fmla="*/ 8 w 24"/>
                <a:gd name="T3" fmla="*/ 0 h 26"/>
                <a:gd name="T4" fmla="*/ 0 w 24"/>
                <a:gd name="T5" fmla="*/ 25 h 26"/>
                <a:gd name="T6" fmla="*/ 23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25"/>
                  </a:moveTo>
                  <a:lnTo>
                    <a:pt x="8" y="0"/>
                  </a:lnTo>
                  <a:lnTo>
                    <a:pt x="0" y="25"/>
                  </a:lnTo>
                  <a:lnTo>
                    <a:pt x="23"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8" name="Freeform 4961"/>
            <p:cNvSpPr>
              <a:spLocks/>
            </p:cNvSpPr>
            <p:nvPr/>
          </p:nvSpPr>
          <p:spPr bwMode="auto">
            <a:xfrm>
              <a:off x="1805" y="2589"/>
              <a:ext cx="26" cy="28"/>
            </a:xfrm>
            <a:custGeom>
              <a:avLst/>
              <a:gdLst>
                <a:gd name="T0" fmla="*/ 25 w 26"/>
                <a:gd name="T1" fmla="*/ 27 h 28"/>
                <a:gd name="T2" fmla="*/ 25 w 26"/>
                <a:gd name="T3" fmla="*/ 27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27"/>
                  </a:lnTo>
                  <a:lnTo>
                    <a:pt x="0" y="0"/>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69" name="Line 4962"/>
            <p:cNvSpPr>
              <a:spLocks noChangeShapeType="1"/>
            </p:cNvSpPr>
            <p:nvPr/>
          </p:nvSpPr>
          <p:spPr bwMode="auto">
            <a:xfrm>
              <a:off x="1809" y="2598"/>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0" name="Freeform 4963"/>
            <p:cNvSpPr>
              <a:spLocks/>
            </p:cNvSpPr>
            <p:nvPr/>
          </p:nvSpPr>
          <p:spPr bwMode="auto">
            <a:xfrm>
              <a:off x="1797" y="2584"/>
              <a:ext cx="27" cy="26"/>
            </a:xfrm>
            <a:custGeom>
              <a:avLst/>
              <a:gdLst>
                <a:gd name="T0" fmla="*/ 26 w 27"/>
                <a:gd name="T1" fmla="*/ 0 h 26"/>
                <a:gd name="T2" fmla="*/ 0 w 27"/>
                <a:gd name="T3" fmla="*/ 0 h 26"/>
                <a:gd name="T4" fmla="*/ 12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0"/>
                  </a:lnTo>
                  <a:lnTo>
                    <a:pt x="12" y="2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1" name="Freeform 4964"/>
            <p:cNvSpPr>
              <a:spLocks/>
            </p:cNvSpPr>
            <p:nvPr/>
          </p:nvSpPr>
          <p:spPr bwMode="auto">
            <a:xfrm>
              <a:off x="1797" y="2576"/>
              <a:ext cx="27" cy="28"/>
            </a:xfrm>
            <a:custGeom>
              <a:avLst/>
              <a:gdLst>
                <a:gd name="T0" fmla="*/ 26 w 27"/>
                <a:gd name="T1" fmla="*/ 27 h 28"/>
                <a:gd name="T2" fmla="*/ 12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2"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2" name="Freeform 4965"/>
            <p:cNvSpPr>
              <a:spLocks/>
            </p:cNvSpPr>
            <p:nvPr/>
          </p:nvSpPr>
          <p:spPr bwMode="auto">
            <a:xfrm>
              <a:off x="1815" y="2576"/>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3" name="Line 4966"/>
            <p:cNvSpPr>
              <a:spLocks noChangeShapeType="1"/>
            </p:cNvSpPr>
            <p:nvPr/>
          </p:nvSpPr>
          <p:spPr bwMode="auto">
            <a:xfrm>
              <a:off x="1823" y="2584"/>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4" name="Freeform 4967"/>
            <p:cNvSpPr>
              <a:spLocks/>
            </p:cNvSpPr>
            <p:nvPr/>
          </p:nvSpPr>
          <p:spPr bwMode="auto">
            <a:xfrm>
              <a:off x="1809" y="2568"/>
              <a:ext cx="27" cy="28"/>
            </a:xfrm>
            <a:custGeom>
              <a:avLst/>
              <a:gdLst>
                <a:gd name="T0" fmla="*/ 26 w 27"/>
                <a:gd name="T1" fmla="*/ 0 h 28"/>
                <a:gd name="T2" fmla="*/ 0 w 27"/>
                <a:gd name="T3" fmla="*/ 15 h 28"/>
                <a:gd name="T4" fmla="*/ 13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3"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5" name="Freeform 4968"/>
            <p:cNvSpPr>
              <a:spLocks/>
            </p:cNvSpPr>
            <p:nvPr/>
          </p:nvSpPr>
          <p:spPr bwMode="auto">
            <a:xfrm>
              <a:off x="1809" y="2562"/>
              <a:ext cx="27" cy="27"/>
            </a:xfrm>
            <a:custGeom>
              <a:avLst/>
              <a:gdLst>
                <a:gd name="T0" fmla="*/ 26 w 27"/>
                <a:gd name="T1" fmla="*/ 11 h 27"/>
                <a:gd name="T2" fmla="*/ 13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3" y="0"/>
                  </a:lnTo>
                  <a:lnTo>
                    <a:pt x="0" y="26"/>
                  </a:lnTo>
                  <a:lnTo>
                    <a:pt x="26"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6" name="Freeform 4969"/>
            <p:cNvSpPr>
              <a:spLocks/>
            </p:cNvSpPr>
            <p:nvPr/>
          </p:nvSpPr>
          <p:spPr bwMode="auto">
            <a:xfrm>
              <a:off x="1828" y="2562"/>
              <a:ext cx="26" cy="27"/>
            </a:xfrm>
            <a:custGeom>
              <a:avLst/>
              <a:gdLst>
                <a:gd name="T0" fmla="*/ 25 w 26"/>
                <a:gd name="T1" fmla="*/ 26 h 27"/>
                <a:gd name="T2" fmla="*/ 25 w 26"/>
                <a:gd name="T3" fmla="*/ 26 h 27"/>
                <a:gd name="T4" fmla="*/ 0 w 26"/>
                <a:gd name="T5" fmla="*/ 0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26"/>
                  </a:lnTo>
                  <a:lnTo>
                    <a:pt x="0" y="0"/>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7" name="Line 4970"/>
            <p:cNvSpPr>
              <a:spLocks noChangeShapeType="1"/>
            </p:cNvSpPr>
            <p:nvPr/>
          </p:nvSpPr>
          <p:spPr bwMode="auto">
            <a:xfrm>
              <a:off x="1835" y="25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8" name="Freeform 4971"/>
            <p:cNvSpPr>
              <a:spLocks/>
            </p:cNvSpPr>
            <p:nvPr/>
          </p:nvSpPr>
          <p:spPr bwMode="auto">
            <a:xfrm>
              <a:off x="1823" y="2556"/>
              <a:ext cx="25" cy="26"/>
            </a:xfrm>
            <a:custGeom>
              <a:avLst/>
              <a:gdLst>
                <a:gd name="T0" fmla="*/ 24 w 25"/>
                <a:gd name="T1" fmla="*/ 0 h 26"/>
                <a:gd name="T2" fmla="*/ 0 w 25"/>
                <a:gd name="T3" fmla="*/ 12 h 26"/>
                <a:gd name="T4" fmla="*/ 12 w 25"/>
                <a:gd name="T5" fmla="*/ 25 h 26"/>
                <a:gd name="T6" fmla="*/ 24 w 25"/>
                <a:gd name="T7" fmla="*/ 0 h 26"/>
                <a:gd name="T8" fmla="*/ 0 60000 65536"/>
                <a:gd name="T9" fmla="*/ 0 60000 65536"/>
                <a:gd name="T10" fmla="*/ 0 60000 65536"/>
                <a:gd name="T11" fmla="*/ 0 60000 65536"/>
                <a:gd name="T12" fmla="*/ 0 w 25"/>
                <a:gd name="T13" fmla="*/ 0 h 26"/>
                <a:gd name="T14" fmla="*/ 25 w 25"/>
                <a:gd name="T15" fmla="*/ 26 h 26"/>
              </a:gdLst>
              <a:ahLst/>
              <a:cxnLst>
                <a:cxn ang="T8">
                  <a:pos x="T0" y="T1"/>
                </a:cxn>
                <a:cxn ang="T9">
                  <a:pos x="T2" y="T3"/>
                </a:cxn>
                <a:cxn ang="T10">
                  <a:pos x="T4" y="T5"/>
                </a:cxn>
                <a:cxn ang="T11">
                  <a:pos x="T6" y="T7"/>
                </a:cxn>
              </a:cxnLst>
              <a:rect l="T12" t="T13" r="T14" b="T15"/>
              <a:pathLst>
                <a:path w="25" h="26">
                  <a:moveTo>
                    <a:pt x="24" y="0"/>
                  </a:moveTo>
                  <a:lnTo>
                    <a:pt x="0" y="12"/>
                  </a:lnTo>
                  <a:lnTo>
                    <a:pt x="12" y="25"/>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79" name="Freeform 4972"/>
            <p:cNvSpPr>
              <a:spLocks/>
            </p:cNvSpPr>
            <p:nvPr/>
          </p:nvSpPr>
          <p:spPr bwMode="auto">
            <a:xfrm>
              <a:off x="1823" y="2547"/>
              <a:ext cx="25" cy="27"/>
            </a:xfrm>
            <a:custGeom>
              <a:avLst/>
              <a:gdLst>
                <a:gd name="T0" fmla="*/ 24 w 25"/>
                <a:gd name="T1" fmla="*/ 14 h 27"/>
                <a:gd name="T2" fmla="*/ 12 w 25"/>
                <a:gd name="T3" fmla="*/ 0 h 27"/>
                <a:gd name="T4" fmla="*/ 0 w 25"/>
                <a:gd name="T5" fmla="*/ 26 h 27"/>
                <a:gd name="T6" fmla="*/ 24 w 25"/>
                <a:gd name="T7" fmla="*/ 14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14"/>
                  </a:moveTo>
                  <a:lnTo>
                    <a:pt x="12" y="0"/>
                  </a:lnTo>
                  <a:lnTo>
                    <a:pt x="0" y="26"/>
                  </a:lnTo>
                  <a:lnTo>
                    <a:pt x="24"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0" name="Freeform 4973"/>
            <p:cNvSpPr>
              <a:spLocks/>
            </p:cNvSpPr>
            <p:nvPr/>
          </p:nvSpPr>
          <p:spPr bwMode="auto">
            <a:xfrm>
              <a:off x="1842" y="2547"/>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1" name="Line 4974"/>
            <p:cNvSpPr>
              <a:spLocks noChangeShapeType="1"/>
            </p:cNvSpPr>
            <p:nvPr/>
          </p:nvSpPr>
          <p:spPr bwMode="auto">
            <a:xfrm>
              <a:off x="1846" y="2556"/>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2" name="Freeform 4975"/>
            <p:cNvSpPr>
              <a:spLocks/>
            </p:cNvSpPr>
            <p:nvPr/>
          </p:nvSpPr>
          <p:spPr bwMode="auto">
            <a:xfrm>
              <a:off x="1835" y="2541"/>
              <a:ext cx="27" cy="27"/>
            </a:xfrm>
            <a:custGeom>
              <a:avLst/>
              <a:gdLst>
                <a:gd name="T0" fmla="*/ 26 w 27"/>
                <a:gd name="T1" fmla="*/ 0 h 27"/>
                <a:gd name="T2" fmla="*/ 0 w 27"/>
                <a:gd name="T3" fmla="*/ 11 h 27"/>
                <a:gd name="T4" fmla="*/ 12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0" y="11"/>
                  </a:lnTo>
                  <a:lnTo>
                    <a:pt x="12" y="26"/>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3" name="Freeform 4976"/>
            <p:cNvSpPr>
              <a:spLocks/>
            </p:cNvSpPr>
            <p:nvPr/>
          </p:nvSpPr>
          <p:spPr bwMode="auto">
            <a:xfrm>
              <a:off x="1835" y="2532"/>
              <a:ext cx="27" cy="28"/>
            </a:xfrm>
            <a:custGeom>
              <a:avLst/>
              <a:gdLst>
                <a:gd name="T0" fmla="*/ 26 w 27"/>
                <a:gd name="T1" fmla="*/ 15 h 28"/>
                <a:gd name="T2" fmla="*/ 12 w 27"/>
                <a:gd name="T3" fmla="*/ 0 h 28"/>
                <a:gd name="T4" fmla="*/ 0 w 27"/>
                <a:gd name="T5" fmla="*/ 27 h 28"/>
                <a:gd name="T6" fmla="*/ 26 w 27"/>
                <a:gd name="T7" fmla="*/ 15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5"/>
                  </a:moveTo>
                  <a:lnTo>
                    <a:pt x="12" y="0"/>
                  </a:lnTo>
                  <a:lnTo>
                    <a:pt x="0" y="27"/>
                  </a:lnTo>
                  <a:lnTo>
                    <a:pt x="26"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4" name="Freeform 4977"/>
            <p:cNvSpPr>
              <a:spLocks/>
            </p:cNvSpPr>
            <p:nvPr/>
          </p:nvSpPr>
          <p:spPr bwMode="auto">
            <a:xfrm>
              <a:off x="1853" y="2532"/>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5" name="Line 4978"/>
            <p:cNvSpPr>
              <a:spLocks noChangeShapeType="1"/>
            </p:cNvSpPr>
            <p:nvPr/>
          </p:nvSpPr>
          <p:spPr bwMode="auto">
            <a:xfrm>
              <a:off x="1861" y="25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6" name="Freeform 4979"/>
            <p:cNvSpPr>
              <a:spLocks/>
            </p:cNvSpPr>
            <p:nvPr/>
          </p:nvSpPr>
          <p:spPr bwMode="auto">
            <a:xfrm>
              <a:off x="1846" y="2527"/>
              <a:ext cx="27" cy="26"/>
            </a:xfrm>
            <a:custGeom>
              <a:avLst/>
              <a:gdLst>
                <a:gd name="T0" fmla="*/ 26 w 27"/>
                <a:gd name="T1" fmla="*/ 0 h 26"/>
                <a:gd name="T2" fmla="*/ 0 w 27"/>
                <a:gd name="T3" fmla="*/ 11 h 26"/>
                <a:gd name="T4" fmla="*/ 16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11"/>
                  </a:lnTo>
                  <a:lnTo>
                    <a:pt x="16" y="2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7" name="Freeform 4980"/>
            <p:cNvSpPr>
              <a:spLocks/>
            </p:cNvSpPr>
            <p:nvPr/>
          </p:nvSpPr>
          <p:spPr bwMode="auto">
            <a:xfrm>
              <a:off x="1846" y="2519"/>
              <a:ext cx="27" cy="28"/>
            </a:xfrm>
            <a:custGeom>
              <a:avLst/>
              <a:gdLst>
                <a:gd name="T0" fmla="*/ 26 w 27"/>
                <a:gd name="T1" fmla="*/ 13 h 28"/>
                <a:gd name="T2" fmla="*/ 16 w 27"/>
                <a:gd name="T3" fmla="*/ 0 h 28"/>
                <a:gd name="T4" fmla="*/ 0 w 27"/>
                <a:gd name="T5" fmla="*/ 27 h 28"/>
                <a:gd name="T6" fmla="*/ 26 w 27"/>
                <a:gd name="T7" fmla="*/ 13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3"/>
                  </a:moveTo>
                  <a:lnTo>
                    <a:pt x="16" y="0"/>
                  </a:lnTo>
                  <a:lnTo>
                    <a:pt x="0" y="27"/>
                  </a:lnTo>
                  <a:lnTo>
                    <a:pt x="26"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8" name="Freeform 4981"/>
            <p:cNvSpPr>
              <a:spLocks/>
            </p:cNvSpPr>
            <p:nvPr/>
          </p:nvSpPr>
          <p:spPr bwMode="auto">
            <a:xfrm>
              <a:off x="1868" y="251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89" name="Line 4982"/>
            <p:cNvSpPr>
              <a:spLocks noChangeShapeType="1"/>
            </p:cNvSpPr>
            <p:nvPr/>
          </p:nvSpPr>
          <p:spPr bwMode="auto">
            <a:xfrm>
              <a:off x="1868" y="252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0" name="Freeform 4983"/>
            <p:cNvSpPr>
              <a:spLocks/>
            </p:cNvSpPr>
            <p:nvPr/>
          </p:nvSpPr>
          <p:spPr bwMode="auto">
            <a:xfrm>
              <a:off x="1861" y="2505"/>
              <a:ext cx="24" cy="26"/>
            </a:xfrm>
            <a:custGeom>
              <a:avLst/>
              <a:gdLst>
                <a:gd name="T0" fmla="*/ 23 w 24"/>
                <a:gd name="T1" fmla="*/ 0 h 26"/>
                <a:gd name="T2" fmla="*/ 0 w 24"/>
                <a:gd name="T3" fmla="*/ 17 h 26"/>
                <a:gd name="T4" fmla="*/ 8 w 24"/>
                <a:gd name="T5" fmla="*/ 25 h 26"/>
                <a:gd name="T6" fmla="*/ 23 w 24"/>
                <a:gd name="T7" fmla="*/ 0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0"/>
                  </a:moveTo>
                  <a:lnTo>
                    <a:pt x="0" y="17"/>
                  </a:lnTo>
                  <a:lnTo>
                    <a:pt x="8" y="25"/>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1" name="Freeform 4984"/>
            <p:cNvSpPr>
              <a:spLocks/>
            </p:cNvSpPr>
            <p:nvPr/>
          </p:nvSpPr>
          <p:spPr bwMode="auto">
            <a:xfrm>
              <a:off x="1861" y="2498"/>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2" name="Freeform 4985"/>
            <p:cNvSpPr>
              <a:spLocks/>
            </p:cNvSpPr>
            <p:nvPr/>
          </p:nvSpPr>
          <p:spPr bwMode="auto">
            <a:xfrm>
              <a:off x="1880" y="24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3" name="Line 4986"/>
            <p:cNvSpPr>
              <a:spLocks noChangeShapeType="1"/>
            </p:cNvSpPr>
            <p:nvPr/>
          </p:nvSpPr>
          <p:spPr bwMode="auto">
            <a:xfrm>
              <a:off x="1880" y="2505"/>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4" name="Freeform 4987"/>
            <p:cNvSpPr>
              <a:spLocks/>
            </p:cNvSpPr>
            <p:nvPr/>
          </p:nvSpPr>
          <p:spPr bwMode="auto">
            <a:xfrm>
              <a:off x="1872" y="2489"/>
              <a:ext cx="28" cy="28"/>
            </a:xfrm>
            <a:custGeom>
              <a:avLst/>
              <a:gdLst>
                <a:gd name="T0" fmla="*/ 27 w 28"/>
                <a:gd name="T1" fmla="*/ 0 h 28"/>
                <a:gd name="T2" fmla="*/ 0 w 28"/>
                <a:gd name="T3" fmla="*/ 15 h 28"/>
                <a:gd name="T4" fmla="*/ 8 w 28"/>
                <a:gd name="T5" fmla="*/ 27 h 28"/>
                <a:gd name="T6" fmla="*/ 27 w 28"/>
                <a:gd name="T7" fmla="*/ 0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0"/>
                  </a:moveTo>
                  <a:lnTo>
                    <a:pt x="0" y="15"/>
                  </a:lnTo>
                  <a:lnTo>
                    <a:pt x="8" y="27"/>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5" name="Freeform 4988"/>
            <p:cNvSpPr>
              <a:spLocks/>
            </p:cNvSpPr>
            <p:nvPr/>
          </p:nvSpPr>
          <p:spPr bwMode="auto">
            <a:xfrm>
              <a:off x="1872" y="2484"/>
              <a:ext cx="28" cy="26"/>
            </a:xfrm>
            <a:custGeom>
              <a:avLst/>
              <a:gdLst>
                <a:gd name="T0" fmla="*/ 27 w 28"/>
                <a:gd name="T1" fmla="*/ 11 h 26"/>
                <a:gd name="T2" fmla="*/ 18 w 28"/>
                <a:gd name="T3" fmla="*/ 0 h 26"/>
                <a:gd name="T4" fmla="*/ 0 w 28"/>
                <a:gd name="T5" fmla="*/ 25 h 26"/>
                <a:gd name="T6" fmla="*/ 27 w 28"/>
                <a:gd name="T7" fmla="*/ 11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11"/>
                  </a:moveTo>
                  <a:lnTo>
                    <a:pt x="18" y="0"/>
                  </a:lnTo>
                  <a:lnTo>
                    <a:pt x="0" y="25"/>
                  </a:lnTo>
                  <a:lnTo>
                    <a:pt x="27"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6" name="Freeform 4989"/>
            <p:cNvSpPr>
              <a:spLocks/>
            </p:cNvSpPr>
            <p:nvPr/>
          </p:nvSpPr>
          <p:spPr bwMode="auto">
            <a:xfrm>
              <a:off x="1891" y="2484"/>
              <a:ext cx="1" cy="26"/>
            </a:xfrm>
            <a:custGeom>
              <a:avLst/>
              <a:gdLst>
                <a:gd name="T0" fmla="*/ 0 w 1"/>
                <a:gd name="T1" fmla="*/ 25 h 26"/>
                <a:gd name="T2" fmla="*/ 0 w 1"/>
                <a:gd name="T3" fmla="*/ 25 h 26"/>
                <a:gd name="T4" fmla="*/ 0 w 1"/>
                <a:gd name="T5" fmla="*/ 0 h 26"/>
                <a:gd name="T6" fmla="*/ 0 w 1"/>
                <a:gd name="T7" fmla="*/ 25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25"/>
                  </a:moveTo>
                  <a:lnTo>
                    <a:pt x="0" y="25"/>
                  </a:lnTo>
                  <a:lnTo>
                    <a:pt x="0" y="0"/>
                  </a:lnTo>
                  <a:lnTo>
                    <a:pt x="0"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7" name="Freeform 4990"/>
            <p:cNvSpPr>
              <a:spLocks/>
            </p:cNvSpPr>
            <p:nvPr/>
          </p:nvSpPr>
          <p:spPr bwMode="auto">
            <a:xfrm>
              <a:off x="1885" y="2468"/>
              <a:ext cx="25" cy="28"/>
            </a:xfrm>
            <a:custGeom>
              <a:avLst/>
              <a:gdLst>
                <a:gd name="T0" fmla="*/ 24 w 25"/>
                <a:gd name="T1" fmla="*/ 0 h 28"/>
                <a:gd name="T2" fmla="*/ 0 w 25"/>
                <a:gd name="T3" fmla="*/ 18 h 28"/>
                <a:gd name="T4" fmla="*/ 7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18"/>
                  </a:lnTo>
                  <a:lnTo>
                    <a:pt x="7" y="27"/>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8" name="Freeform 4991"/>
            <p:cNvSpPr>
              <a:spLocks/>
            </p:cNvSpPr>
            <p:nvPr/>
          </p:nvSpPr>
          <p:spPr bwMode="auto">
            <a:xfrm>
              <a:off x="1885" y="2462"/>
              <a:ext cx="25" cy="27"/>
            </a:xfrm>
            <a:custGeom>
              <a:avLst/>
              <a:gdLst>
                <a:gd name="T0" fmla="*/ 24 w 25"/>
                <a:gd name="T1" fmla="*/ 8 h 27"/>
                <a:gd name="T2" fmla="*/ 14 w 25"/>
                <a:gd name="T3" fmla="*/ 0 h 27"/>
                <a:gd name="T4" fmla="*/ 0 w 25"/>
                <a:gd name="T5" fmla="*/ 26 h 27"/>
                <a:gd name="T6" fmla="*/ 24 w 25"/>
                <a:gd name="T7" fmla="*/ 8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8"/>
                  </a:moveTo>
                  <a:lnTo>
                    <a:pt x="14" y="0"/>
                  </a:lnTo>
                  <a:lnTo>
                    <a:pt x="0" y="26"/>
                  </a:lnTo>
                  <a:lnTo>
                    <a:pt x="24"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99" name="Freeform 4992"/>
            <p:cNvSpPr>
              <a:spLocks/>
            </p:cNvSpPr>
            <p:nvPr/>
          </p:nvSpPr>
          <p:spPr bwMode="auto">
            <a:xfrm>
              <a:off x="1904" y="246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0" name="Line 4993"/>
            <p:cNvSpPr>
              <a:spLocks noChangeShapeType="1"/>
            </p:cNvSpPr>
            <p:nvPr/>
          </p:nvSpPr>
          <p:spPr bwMode="auto">
            <a:xfrm>
              <a:off x="1904" y="246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1" name="Freeform 4994"/>
            <p:cNvSpPr>
              <a:spLocks/>
            </p:cNvSpPr>
            <p:nvPr/>
          </p:nvSpPr>
          <p:spPr bwMode="auto">
            <a:xfrm>
              <a:off x="1899" y="2447"/>
              <a:ext cx="24" cy="27"/>
            </a:xfrm>
            <a:custGeom>
              <a:avLst/>
              <a:gdLst>
                <a:gd name="T0" fmla="*/ 23 w 24"/>
                <a:gd name="T1" fmla="*/ 0 h 27"/>
                <a:gd name="T2" fmla="*/ 0 w 24"/>
                <a:gd name="T3" fmla="*/ 18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8"/>
                  </a:lnTo>
                  <a:lnTo>
                    <a:pt x="8"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2" name="Freeform 4995"/>
            <p:cNvSpPr>
              <a:spLocks/>
            </p:cNvSpPr>
            <p:nvPr/>
          </p:nvSpPr>
          <p:spPr bwMode="auto">
            <a:xfrm>
              <a:off x="1899" y="2441"/>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3" name="Freeform 4996"/>
            <p:cNvSpPr>
              <a:spLocks/>
            </p:cNvSpPr>
            <p:nvPr/>
          </p:nvSpPr>
          <p:spPr bwMode="auto">
            <a:xfrm>
              <a:off x="1917" y="244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4" name="Line 4997"/>
            <p:cNvSpPr>
              <a:spLocks noChangeShapeType="1"/>
            </p:cNvSpPr>
            <p:nvPr/>
          </p:nvSpPr>
          <p:spPr bwMode="auto">
            <a:xfrm>
              <a:off x="1917" y="244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5" name="Freeform 4998"/>
            <p:cNvSpPr>
              <a:spLocks/>
            </p:cNvSpPr>
            <p:nvPr/>
          </p:nvSpPr>
          <p:spPr bwMode="auto">
            <a:xfrm>
              <a:off x="1909" y="2420"/>
              <a:ext cx="29" cy="28"/>
            </a:xfrm>
            <a:custGeom>
              <a:avLst/>
              <a:gdLst>
                <a:gd name="T0" fmla="*/ 28 w 29"/>
                <a:gd name="T1" fmla="*/ 0 h 28"/>
                <a:gd name="T2" fmla="*/ 0 w 29"/>
                <a:gd name="T3" fmla="*/ 20 h 28"/>
                <a:gd name="T4" fmla="*/ 8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0" y="20"/>
                  </a:lnTo>
                  <a:lnTo>
                    <a:pt x="8" y="27"/>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6" name="Freeform 4999"/>
            <p:cNvSpPr>
              <a:spLocks/>
            </p:cNvSpPr>
            <p:nvPr/>
          </p:nvSpPr>
          <p:spPr bwMode="auto">
            <a:xfrm>
              <a:off x="1909" y="2412"/>
              <a:ext cx="29" cy="30"/>
            </a:xfrm>
            <a:custGeom>
              <a:avLst/>
              <a:gdLst>
                <a:gd name="T0" fmla="*/ 28 w 29"/>
                <a:gd name="T1" fmla="*/ 6 h 30"/>
                <a:gd name="T2" fmla="*/ 8 w 29"/>
                <a:gd name="T3" fmla="*/ 0 h 30"/>
                <a:gd name="T4" fmla="*/ 0 w 29"/>
                <a:gd name="T5" fmla="*/ 29 h 30"/>
                <a:gd name="T6" fmla="*/ 28 w 29"/>
                <a:gd name="T7" fmla="*/ 6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28" y="6"/>
                  </a:moveTo>
                  <a:lnTo>
                    <a:pt x="8" y="0"/>
                  </a:lnTo>
                  <a:lnTo>
                    <a:pt x="0" y="29"/>
                  </a:lnTo>
                  <a:lnTo>
                    <a:pt x="28"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7" name="Freeform 5000"/>
            <p:cNvSpPr>
              <a:spLocks/>
            </p:cNvSpPr>
            <p:nvPr/>
          </p:nvSpPr>
          <p:spPr bwMode="auto">
            <a:xfrm>
              <a:off x="1929" y="2412"/>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8" name="Line 5001"/>
            <p:cNvSpPr>
              <a:spLocks noChangeShapeType="1"/>
            </p:cNvSpPr>
            <p:nvPr/>
          </p:nvSpPr>
          <p:spPr bwMode="auto">
            <a:xfrm>
              <a:off x="1929" y="2420"/>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09" name="Freeform 5002"/>
            <p:cNvSpPr>
              <a:spLocks/>
            </p:cNvSpPr>
            <p:nvPr/>
          </p:nvSpPr>
          <p:spPr bwMode="auto">
            <a:xfrm>
              <a:off x="1917" y="2398"/>
              <a:ext cx="25" cy="27"/>
            </a:xfrm>
            <a:custGeom>
              <a:avLst/>
              <a:gdLst>
                <a:gd name="T0" fmla="*/ 24 w 25"/>
                <a:gd name="T1" fmla="*/ 0 h 27"/>
                <a:gd name="T2" fmla="*/ 0 w 25"/>
                <a:gd name="T3" fmla="*/ 18 h 27"/>
                <a:gd name="T4" fmla="*/ 12 w 25"/>
                <a:gd name="T5" fmla="*/ 26 h 27"/>
                <a:gd name="T6" fmla="*/ 24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0"/>
                  </a:moveTo>
                  <a:lnTo>
                    <a:pt x="0" y="18"/>
                  </a:lnTo>
                  <a:lnTo>
                    <a:pt x="12" y="26"/>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0" name="Freeform 5003"/>
            <p:cNvSpPr>
              <a:spLocks/>
            </p:cNvSpPr>
            <p:nvPr/>
          </p:nvSpPr>
          <p:spPr bwMode="auto">
            <a:xfrm>
              <a:off x="1917" y="2390"/>
              <a:ext cx="25" cy="27"/>
            </a:xfrm>
            <a:custGeom>
              <a:avLst/>
              <a:gdLst>
                <a:gd name="T0" fmla="*/ 24 w 25"/>
                <a:gd name="T1" fmla="*/ 9 h 27"/>
                <a:gd name="T2" fmla="*/ 12 w 25"/>
                <a:gd name="T3" fmla="*/ 0 h 27"/>
                <a:gd name="T4" fmla="*/ 0 w 25"/>
                <a:gd name="T5" fmla="*/ 26 h 27"/>
                <a:gd name="T6" fmla="*/ 24 w 25"/>
                <a:gd name="T7" fmla="*/ 9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9"/>
                  </a:moveTo>
                  <a:lnTo>
                    <a:pt x="12" y="0"/>
                  </a:lnTo>
                  <a:lnTo>
                    <a:pt x="0" y="26"/>
                  </a:lnTo>
                  <a:lnTo>
                    <a:pt x="24" y="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1" name="Freeform 5004"/>
            <p:cNvSpPr>
              <a:spLocks/>
            </p:cNvSpPr>
            <p:nvPr/>
          </p:nvSpPr>
          <p:spPr bwMode="auto">
            <a:xfrm>
              <a:off x="1937" y="2390"/>
              <a:ext cx="23" cy="27"/>
            </a:xfrm>
            <a:custGeom>
              <a:avLst/>
              <a:gdLst>
                <a:gd name="T0" fmla="*/ 22 w 23"/>
                <a:gd name="T1" fmla="*/ 26 h 27"/>
                <a:gd name="T2" fmla="*/ 22 w 23"/>
                <a:gd name="T3" fmla="*/ 26 h 27"/>
                <a:gd name="T4" fmla="*/ 0 w 23"/>
                <a:gd name="T5" fmla="*/ 0 h 27"/>
                <a:gd name="T6" fmla="*/ 22 w 23"/>
                <a:gd name="T7" fmla="*/ 26 h 27"/>
                <a:gd name="T8" fmla="*/ 0 60000 65536"/>
                <a:gd name="T9" fmla="*/ 0 60000 65536"/>
                <a:gd name="T10" fmla="*/ 0 60000 65536"/>
                <a:gd name="T11" fmla="*/ 0 60000 65536"/>
                <a:gd name="T12" fmla="*/ 0 w 23"/>
                <a:gd name="T13" fmla="*/ 0 h 27"/>
                <a:gd name="T14" fmla="*/ 23 w 23"/>
                <a:gd name="T15" fmla="*/ 27 h 27"/>
              </a:gdLst>
              <a:ahLst/>
              <a:cxnLst>
                <a:cxn ang="T8">
                  <a:pos x="T0" y="T1"/>
                </a:cxn>
                <a:cxn ang="T9">
                  <a:pos x="T2" y="T3"/>
                </a:cxn>
                <a:cxn ang="T10">
                  <a:pos x="T4" y="T5"/>
                </a:cxn>
                <a:cxn ang="T11">
                  <a:pos x="T6" y="T7"/>
                </a:cxn>
              </a:cxnLst>
              <a:rect l="T12" t="T13" r="T14" b="T15"/>
              <a:pathLst>
                <a:path w="23" h="27">
                  <a:moveTo>
                    <a:pt x="22" y="26"/>
                  </a:moveTo>
                  <a:lnTo>
                    <a:pt x="22" y="26"/>
                  </a:lnTo>
                  <a:lnTo>
                    <a:pt x="0" y="0"/>
                  </a:lnTo>
                  <a:lnTo>
                    <a:pt x="22"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2" name="Line 5005"/>
            <p:cNvSpPr>
              <a:spLocks noChangeShapeType="1"/>
            </p:cNvSpPr>
            <p:nvPr/>
          </p:nvSpPr>
          <p:spPr bwMode="auto">
            <a:xfrm>
              <a:off x="1941" y="239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3" name="Freeform 5006"/>
            <p:cNvSpPr>
              <a:spLocks/>
            </p:cNvSpPr>
            <p:nvPr/>
          </p:nvSpPr>
          <p:spPr bwMode="auto">
            <a:xfrm>
              <a:off x="1929" y="2369"/>
              <a:ext cx="27" cy="30"/>
            </a:xfrm>
            <a:custGeom>
              <a:avLst/>
              <a:gdLst>
                <a:gd name="T0" fmla="*/ 26 w 27"/>
                <a:gd name="T1" fmla="*/ 0 h 30"/>
                <a:gd name="T2" fmla="*/ 0 w 27"/>
                <a:gd name="T3" fmla="*/ 20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0"/>
                  </a:lnTo>
                  <a:lnTo>
                    <a:pt x="13" y="29"/>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4" name="Freeform 5007"/>
            <p:cNvSpPr>
              <a:spLocks/>
            </p:cNvSpPr>
            <p:nvPr/>
          </p:nvSpPr>
          <p:spPr bwMode="auto">
            <a:xfrm>
              <a:off x="1929" y="2361"/>
              <a:ext cx="27" cy="30"/>
            </a:xfrm>
            <a:custGeom>
              <a:avLst/>
              <a:gdLst>
                <a:gd name="T0" fmla="*/ 26 w 27"/>
                <a:gd name="T1" fmla="*/ 6 h 30"/>
                <a:gd name="T2" fmla="*/ 13 w 27"/>
                <a:gd name="T3" fmla="*/ 0 h 30"/>
                <a:gd name="T4" fmla="*/ 0 w 27"/>
                <a:gd name="T5" fmla="*/ 29 h 30"/>
                <a:gd name="T6" fmla="*/ 26 w 27"/>
                <a:gd name="T7" fmla="*/ 6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6"/>
                  </a:moveTo>
                  <a:lnTo>
                    <a:pt x="13" y="0"/>
                  </a:lnTo>
                  <a:lnTo>
                    <a:pt x="0" y="29"/>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5" name="Freeform 5008"/>
            <p:cNvSpPr>
              <a:spLocks/>
            </p:cNvSpPr>
            <p:nvPr/>
          </p:nvSpPr>
          <p:spPr bwMode="auto">
            <a:xfrm>
              <a:off x="1946" y="2361"/>
              <a:ext cx="25" cy="28"/>
            </a:xfrm>
            <a:custGeom>
              <a:avLst/>
              <a:gdLst>
                <a:gd name="T0" fmla="*/ 24 w 25"/>
                <a:gd name="T1" fmla="*/ 27 h 28"/>
                <a:gd name="T2" fmla="*/ 24 w 25"/>
                <a:gd name="T3" fmla="*/ 27 h 28"/>
                <a:gd name="T4" fmla="*/ 0 w 25"/>
                <a:gd name="T5" fmla="*/ 0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27"/>
                  </a:lnTo>
                  <a:lnTo>
                    <a:pt x="0" y="0"/>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6" name="Line 5009"/>
            <p:cNvSpPr>
              <a:spLocks noChangeShapeType="1"/>
            </p:cNvSpPr>
            <p:nvPr/>
          </p:nvSpPr>
          <p:spPr bwMode="auto">
            <a:xfrm>
              <a:off x="1955" y="2369"/>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7" name="Freeform 5010"/>
            <p:cNvSpPr>
              <a:spLocks/>
            </p:cNvSpPr>
            <p:nvPr/>
          </p:nvSpPr>
          <p:spPr bwMode="auto">
            <a:xfrm>
              <a:off x="1941" y="2340"/>
              <a:ext cx="27" cy="30"/>
            </a:xfrm>
            <a:custGeom>
              <a:avLst/>
              <a:gdLst>
                <a:gd name="T0" fmla="*/ 26 w 27"/>
                <a:gd name="T1" fmla="*/ 0 h 30"/>
                <a:gd name="T2" fmla="*/ 0 w 27"/>
                <a:gd name="T3" fmla="*/ 22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2"/>
                  </a:lnTo>
                  <a:lnTo>
                    <a:pt x="13" y="29"/>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8" name="Freeform 5011"/>
            <p:cNvSpPr>
              <a:spLocks/>
            </p:cNvSpPr>
            <p:nvPr/>
          </p:nvSpPr>
          <p:spPr bwMode="auto">
            <a:xfrm>
              <a:off x="1941" y="2334"/>
              <a:ext cx="27" cy="28"/>
            </a:xfrm>
            <a:custGeom>
              <a:avLst/>
              <a:gdLst>
                <a:gd name="T0" fmla="*/ 26 w 27"/>
                <a:gd name="T1" fmla="*/ 6 h 28"/>
                <a:gd name="T2" fmla="*/ 13 w 27"/>
                <a:gd name="T3" fmla="*/ 0 h 28"/>
                <a:gd name="T4" fmla="*/ 0 w 27"/>
                <a:gd name="T5" fmla="*/ 27 h 28"/>
                <a:gd name="T6" fmla="*/ 26 w 27"/>
                <a:gd name="T7" fmla="*/ 6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6"/>
                  </a:moveTo>
                  <a:lnTo>
                    <a:pt x="13" y="0"/>
                  </a:lnTo>
                  <a:lnTo>
                    <a:pt x="0" y="27"/>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19" name="Freeform 5012"/>
            <p:cNvSpPr>
              <a:spLocks/>
            </p:cNvSpPr>
            <p:nvPr/>
          </p:nvSpPr>
          <p:spPr bwMode="auto">
            <a:xfrm>
              <a:off x="1959" y="2334"/>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0" name="Line 5013"/>
            <p:cNvSpPr>
              <a:spLocks noChangeShapeType="1"/>
            </p:cNvSpPr>
            <p:nvPr/>
          </p:nvSpPr>
          <p:spPr bwMode="auto">
            <a:xfrm>
              <a:off x="1964" y="2340"/>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1" name="Freeform 5014"/>
            <p:cNvSpPr>
              <a:spLocks/>
            </p:cNvSpPr>
            <p:nvPr/>
          </p:nvSpPr>
          <p:spPr bwMode="auto">
            <a:xfrm>
              <a:off x="1955" y="2312"/>
              <a:ext cx="25" cy="29"/>
            </a:xfrm>
            <a:custGeom>
              <a:avLst/>
              <a:gdLst>
                <a:gd name="T0" fmla="*/ 24 w 25"/>
                <a:gd name="T1" fmla="*/ 0 h 29"/>
                <a:gd name="T2" fmla="*/ 0 w 25"/>
                <a:gd name="T3" fmla="*/ 21 h 29"/>
                <a:gd name="T4" fmla="*/ 11 w 25"/>
                <a:gd name="T5" fmla="*/ 28 h 29"/>
                <a:gd name="T6" fmla="*/ 24 w 25"/>
                <a:gd name="T7" fmla="*/ 0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0"/>
                  </a:moveTo>
                  <a:lnTo>
                    <a:pt x="0" y="21"/>
                  </a:lnTo>
                  <a:lnTo>
                    <a:pt x="11" y="28"/>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2" name="Freeform 5015"/>
            <p:cNvSpPr>
              <a:spLocks/>
            </p:cNvSpPr>
            <p:nvPr/>
          </p:nvSpPr>
          <p:spPr bwMode="auto">
            <a:xfrm>
              <a:off x="1955" y="2304"/>
              <a:ext cx="25" cy="31"/>
            </a:xfrm>
            <a:custGeom>
              <a:avLst/>
              <a:gdLst>
                <a:gd name="T0" fmla="*/ 24 w 25"/>
                <a:gd name="T1" fmla="*/ 8 h 31"/>
                <a:gd name="T2" fmla="*/ 11 w 25"/>
                <a:gd name="T3" fmla="*/ 0 h 31"/>
                <a:gd name="T4" fmla="*/ 0 w 25"/>
                <a:gd name="T5" fmla="*/ 30 h 31"/>
                <a:gd name="T6" fmla="*/ 24 w 25"/>
                <a:gd name="T7" fmla="*/ 8 h 31"/>
                <a:gd name="T8" fmla="*/ 0 60000 65536"/>
                <a:gd name="T9" fmla="*/ 0 60000 65536"/>
                <a:gd name="T10" fmla="*/ 0 60000 65536"/>
                <a:gd name="T11" fmla="*/ 0 60000 65536"/>
                <a:gd name="T12" fmla="*/ 0 w 25"/>
                <a:gd name="T13" fmla="*/ 0 h 31"/>
                <a:gd name="T14" fmla="*/ 25 w 25"/>
                <a:gd name="T15" fmla="*/ 31 h 31"/>
              </a:gdLst>
              <a:ahLst/>
              <a:cxnLst>
                <a:cxn ang="T8">
                  <a:pos x="T0" y="T1"/>
                </a:cxn>
                <a:cxn ang="T9">
                  <a:pos x="T2" y="T3"/>
                </a:cxn>
                <a:cxn ang="T10">
                  <a:pos x="T4" y="T5"/>
                </a:cxn>
                <a:cxn ang="T11">
                  <a:pos x="T6" y="T7"/>
                </a:cxn>
              </a:cxnLst>
              <a:rect l="T12" t="T13" r="T14" b="T15"/>
              <a:pathLst>
                <a:path w="25" h="31">
                  <a:moveTo>
                    <a:pt x="24" y="8"/>
                  </a:moveTo>
                  <a:lnTo>
                    <a:pt x="11" y="0"/>
                  </a:lnTo>
                  <a:lnTo>
                    <a:pt x="0" y="30"/>
                  </a:lnTo>
                  <a:lnTo>
                    <a:pt x="24"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3" name="Freeform 5016"/>
            <p:cNvSpPr>
              <a:spLocks/>
            </p:cNvSpPr>
            <p:nvPr/>
          </p:nvSpPr>
          <p:spPr bwMode="auto">
            <a:xfrm>
              <a:off x="1975" y="2304"/>
              <a:ext cx="23" cy="28"/>
            </a:xfrm>
            <a:custGeom>
              <a:avLst/>
              <a:gdLst>
                <a:gd name="T0" fmla="*/ 22 w 23"/>
                <a:gd name="T1" fmla="*/ 27 h 28"/>
                <a:gd name="T2" fmla="*/ 22 w 23"/>
                <a:gd name="T3" fmla="*/ 27 h 28"/>
                <a:gd name="T4" fmla="*/ 0 w 23"/>
                <a:gd name="T5" fmla="*/ 0 h 28"/>
                <a:gd name="T6" fmla="*/ 22 w 23"/>
                <a:gd name="T7" fmla="*/ 27 h 28"/>
                <a:gd name="T8" fmla="*/ 0 60000 65536"/>
                <a:gd name="T9" fmla="*/ 0 60000 65536"/>
                <a:gd name="T10" fmla="*/ 0 60000 65536"/>
                <a:gd name="T11" fmla="*/ 0 60000 65536"/>
                <a:gd name="T12" fmla="*/ 0 w 23"/>
                <a:gd name="T13" fmla="*/ 0 h 28"/>
                <a:gd name="T14" fmla="*/ 23 w 23"/>
                <a:gd name="T15" fmla="*/ 28 h 28"/>
              </a:gdLst>
              <a:ahLst/>
              <a:cxnLst>
                <a:cxn ang="T8">
                  <a:pos x="T0" y="T1"/>
                </a:cxn>
                <a:cxn ang="T9">
                  <a:pos x="T2" y="T3"/>
                </a:cxn>
                <a:cxn ang="T10">
                  <a:pos x="T4" y="T5"/>
                </a:cxn>
                <a:cxn ang="T11">
                  <a:pos x="T6" y="T7"/>
                </a:cxn>
              </a:cxnLst>
              <a:rect l="T12" t="T13" r="T14" b="T15"/>
              <a:pathLst>
                <a:path w="23" h="28">
                  <a:moveTo>
                    <a:pt x="22" y="27"/>
                  </a:moveTo>
                  <a:lnTo>
                    <a:pt x="22" y="27"/>
                  </a:lnTo>
                  <a:lnTo>
                    <a:pt x="0" y="0"/>
                  </a:lnTo>
                  <a:lnTo>
                    <a:pt x="22"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4" name="Line 5017"/>
            <p:cNvSpPr>
              <a:spLocks noChangeShapeType="1"/>
            </p:cNvSpPr>
            <p:nvPr/>
          </p:nvSpPr>
          <p:spPr bwMode="auto">
            <a:xfrm>
              <a:off x="1978" y="2312"/>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5" name="Freeform 5018"/>
            <p:cNvSpPr>
              <a:spLocks/>
            </p:cNvSpPr>
            <p:nvPr/>
          </p:nvSpPr>
          <p:spPr bwMode="auto">
            <a:xfrm>
              <a:off x="1964" y="2277"/>
              <a:ext cx="29" cy="36"/>
            </a:xfrm>
            <a:custGeom>
              <a:avLst/>
              <a:gdLst>
                <a:gd name="T0" fmla="*/ 28 w 29"/>
                <a:gd name="T1" fmla="*/ 0 h 36"/>
                <a:gd name="T2" fmla="*/ 0 w 29"/>
                <a:gd name="T3" fmla="*/ 27 h 36"/>
                <a:gd name="T4" fmla="*/ 14 w 29"/>
                <a:gd name="T5" fmla="*/ 35 h 36"/>
                <a:gd name="T6" fmla="*/ 28 w 29"/>
                <a:gd name="T7" fmla="*/ 0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28" y="0"/>
                  </a:moveTo>
                  <a:lnTo>
                    <a:pt x="0" y="27"/>
                  </a:lnTo>
                  <a:lnTo>
                    <a:pt x="14" y="35"/>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6" name="Freeform 5019"/>
            <p:cNvSpPr>
              <a:spLocks/>
            </p:cNvSpPr>
            <p:nvPr/>
          </p:nvSpPr>
          <p:spPr bwMode="auto">
            <a:xfrm>
              <a:off x="1964" y="2277"/>
              <a:ext cx="29" cy="28"/>
            </a:xfrm>
            <a:custGeom>
              <a:avLst/>
              <a:gdLst>
                <a:gd name="T0" fmla="*/ 28 w 29"/>
                <a:gd name="T1" fmla="*/ 0 h 28"/>
                <a:gd name="T2" fmla="*/ 14 w 29"/>
                <a:gd name="T3" fmla="*/ 0 h 28"/>
                <a:gd name="T4" fmla="*/ 0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14" y="0"/>
                  </a:lnTo>
                  <a:lnTo>
                    <a:pt x="0" y="27"/>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7" name="Freeform 5020"/>
            <p:cNvSpPr>
              <a:spLocks/>
            </p:cNvSpPr>
            <p:nvPr/>
          </p:nvSpPr>
          <p:spPr bwMode="auto">
            <a:xfrm>
              <a:off x="1984" y="2277"/>
              <a:ext cx="25" cy="1"/>
            </a:xfrm>
            <a:custGeom>
              <a:avLst/>
              <a:gdLst>
                <a:gd name="T0" fmla="*/ 24 w 25"/>
                <a:gd name="T1" fmla="*/ 0 h 1"/>
                <a:gd name="T2" fmla="*/ 24 w 25"/>
                <a:gd name="T3" fmla="*/ 0 h 1"/>
                <a:gd name="T4" fmla="*/ 0 w 25"/>
                <a:gd name="T5" fmla="*/ 0 h 1"/>
                <a:gd name="T6" fmla="*/ 24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24" y="0"/>
                  </a:moveTo>
                  <a:lnTo>
                    <a:pt x="24" y="0"/>
                  </a:lnTo>
                  <a:lnTo>
                    <a:pt x="0" y="0"/>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8" name="Line 5021"/>
            <p:cNvSpPr>
              <a:spLocks noChangeShapeType="1"/>
            </p:cNvSpPr>
            <p:nvPr/>
          </p:nvSpPr>
          <p:spPr bwMode="auto">
            <a:xfrm>
              <a:off x="1992" y="227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29" name="Freeform 5022"/>
            <p:cNvSpPr>
              <a:spLocks/>
            </p:cNvSpPr>
            <p:nvPr/>
          </p:nvSpPr>
          <p:spPr bwMode="auto">
            <a:xfrm>
              <a:off x="1978" y="2248"/>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0" name="Freeform 5023"/>
            <p:cNvSpPr>
              <a:spLocks/>
            </p:cNvSpPr>
            <p:nvPr/>
          </p:nvSpPr>
          <p:spPr bwMode="auto">
            <a:xfrm>
              <a:off x="1978" y="2241"/>
              <a:ext cx="25" cy="37"/>
            </a:xfrm>
            <a:custGeom>
              <a:avLst/>
              <a:gdLst>
                <a:gd name="T0" fmla="*/ 24 w 25"/>
                <a:gd name="T1" fmla="*/ 6 h 37"/>
                <a:gd name="T2" fmla="*/ 12 w 25"/>
                <a:gd name="T3" fmla="*/ 0 h 37"/>
                <a:gd name="T4" fmla="*/ 0 w 25"/>
                <a:gd name="T5" fmla="*/ 36 h 37"/>
                <a:gd name="T6" fmla="*/ 24 w 25"/>
                <a:gd name="T7" fmla="*/ 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24" y="6"/>
                  </a:moveTo>
                  <a:lnTo>
                    <a:pt x="12" y="0"/>
                  </a:lnTo>
                  <a:lnTo>
                    <a:pt x="0" y="36"/>
                  </a:lnTo>
                  <a:lnTo>
                    <a:pt x="24"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1" name="Freeform 5024"/>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2" name="Freeform 5025"/>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3" name="Freeform 5026"/>
            <p:cNvSpPr>
              <a:spLocks/>
            </p:cNvSpPr>
            <p:nvPr/>
          </p:nvSpPr>
          <p:spPr bwMode="auto">
            <a:xfrm>
              <a:off x="1992" y="2213"/>
              <a:ext cx="26" cy="36"/>
            </a:xfrm>
            <a:custGeom>
              <a:avLst/>
              <a:gdLst>
                <a:gd name="T0" fmla="*/ 25 w 26"/>
                <a:gd name="T1" fmla="*/ 0 h 36"/>
                <a:gd name="T2" fmla="*/ 0 w 26"/>
                <a:gd name="T3" fmla="*/ 28 h 36"/>
                <a:gd name="T4" fmla="*/ 11 w 26"/>
                <a:gd name="T5" fmla="*/ 35 h 36"/>
                <a:gd name="T6" fmla="*/ 25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0"/>
                  </a:moveTo>
                  <a:lnTo>
                    <a:pt x="0" y="28"/>
                  </a:lnTo>
                  <a:lnTo>
                    <a:pt x="11" y="35"/>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4" name="Freeform 5027"/>
            <p:cNvSpPr>
              <a:spLocks/>
            </p:cNvSpPr>
            <p:nvPr/>
          </p:nvSpPr>
          <p:spPr bwMode="auto">
            <a:xfrm>
              <a:off x="1992" y="2213"/>
              <a:ext cx="26" cy="29"/>
            </a:xfrm>
            <a:custGeom>
              <a:avLst/>
              <a:gdLst>
                <a:gd name="T0" fmla="*/ 25 w 26"/>
                <a:gd name="T1" fmla="*/ 0 h 29"/>
                <a:gd name="T2" fmla="*/ 11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1" y="0"/>
                  </a:lnTo>
                  <a:lnTo>
                    <a:pt x="0" y="28"/>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5" name="Freeform 5028"/>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6" name="Freeform 5029"/>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7" name="Freeform 5030"/>
            <p:cNvSpPr>
              <a:spLocks/>
            </p:cNvSpPr>
            <p:nvPr/>
          </p:nvSpPr>
          <p:spPr bwMode="auto">
            <a:xfrm>
              <a:off x="2002" y="2184"/>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8" name="Freeform 5031"/>
            <p:cNvSpPr>
              <a:spLocks/>
            </p:cNvSpPr>
            <p:nvPr/>
          </p:nvSpPr>
          <p:spPr bwMode="auto">
            <a:xfrm>
              <a:off x="2002" y="2176"/>
              <a:ext cx="25" cy="38"/>
            </a:xfrm>
            <a:custGeom>
              <a:avLst/>
              <a:gdLst>
                <a:gd name="T0" fmla="*/ 24 w 25"/>
                <a:gd name="T1" fmla="*/ 6 h 38"/>
                <a:gd name="T2" fmla="*/ 12 w 25"/>
                <a:gd name="T3" fmla="*/ 0 h 38"/>
                <a:gd name="T4" fmla="*/ 0 w 25"/>
                <a:gd name="T5" fmla="*/ 37 h 38"/>
                <a:gd name="T6" fmla="*/ 24 w 25"/>
                <a:gd name="T7" fmla="*/ 6 h 38"/>
                <a:gd name="T8" fmla="*/ 0 60000 65536"/>
                <a:gd name="T9" fmla="*/ 0 60000 65536"/>
                <a:gd name="T10" fmla="*/ 0 60000 65536"/>
                <a:gd name="T11" fmla="*/ 0 60000 65536"/>
                <a:gd name="T12" fmla="*/ 0 w 25"/>
                <a:gd name="T13" fmla="*/ 0 h 38"/>
                <a:gd name="T14" fmla="*/ 25 w 25"/>
                <a:gd name="T15" fmla="*/ 38 h 38"/>
              </a:gdLst>
              <a:ahLst/>
              <a:cxnLst>
                <a:cxn ang="T8">
                  <a:pos x="T0" y="T1"/>
                </a:cxn>
                <a:cxn ang="T9">
                  <a:pos x="T2" y="T3"/>
                </a:cxn>
                <a:cxn ang="T10">
                  <a:pos x="T4" y="T5"/>
                </a:cxn>
                <a:cxn ang="T11">
                  <a:pos x="T6" y="T7"/>
                </a:cxn>
              </a:cxnLst>
              <a:rect l="T12" t="T13" r="T14" b="T15"/>
              <a:pathLst>
                <a:path w="25" h="38">
                  <a:moveTo>
                    <a:pt x="24" y="6"/>
                  </a:moveTo>
                  <a:lnTo>
                    <a:pt x="12" y="0"/>
                  </a:lnTo>
                  <a:lnTo>
                    <a:pt x="0" y="37"/>
                  </a:lnTo>
                  <a:lnTo>
                    <a:pt x="24"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39" name="Freeform 5032"/>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0" name="Freeform 5033"/>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1" name="Freeform 5034"/>
            <p:cNvSpPr>
              <a:spLocks/>
            </p:cNvSpPr>
            <p:nvPr/>
          </p:nvSpPr>
          <p:spPr bwMode="auto">
            <a:xfrm>
              <a:off x="2013" y="2149"/>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2" name="Freeform 5035"/>
            <p:cNvSpPr>
              <a:spLocks/>
            </p:cNvSpPr>
            <p:nvPr/>
          </p:nvSpPr>
          <p:spPr bwMode="auto">
            <a:xfrm>
              <a:off x="2013" y="2141"/>
              <a:ext cx="27" cy="36"/>
            </a:xfrm>
            <a:custGeom>
              <a:avLst/>
              <a:gdLst>
                <a:gd name="T0" fmla="*/ 26 w 27"/>
                <a:gd name="T1" fmla="*/ 7 h 36"/>
                <a:gd name="T2" fmla="*/ 13 w 27"/>
                <a:gd name="T3" fmla="*/ 0 h 36"/>
                <a:gd name="T4" fmla="*/ 0 w 27"/>
                <a:gd name="T5" fmla="*/ 35 h 36"/>
                <a:gd name="T6" fmla="*/ 26 w 27"/>
                <a:gd name="T7" fmla="*/ 7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7"/>
                  </a:moveTo>
                  <a:lnTo>
                    <a:pt x="13" y="0"/>
                  </a:lnTo>
                  <a:lnTo>
                    <a:pt x="0" y="35"/>
                  </a:lnTo>
                  <a:lnTo>
                    <a:pt x="26" y="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3" name="Freeform 5036"/>
            <p:cNvSpPr>
              <a:spLocks/>
            </p:cNvSpPr>
            <p:nvPr/>
          </p:nvSpPr>
          <p:spPr bwMode="auto">
            <a:xfrm>
              <a:off x="2034" y="21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4" name="Freeform 5037"/>
            <p:cNvSpPr>
              <a:spLocks/>
            </p:cNvSpPr>
            <p:nvPr/>
          </p:nvSpPr>
          <p:spPr bwMode="auto">
            <a:xfrm>
              <a:off x="2034" y="2141"/>
              <a:ext cx="25" cy="27"/>
            </a:xfrm>
            <a:custGeom>
              <a:avLst/>
              <a:gdLst>
                <a:gd name="T0" fmla="*/ 0 w 25"/>
                <a:gd name="T1" fmla="*/ 0 h 27"/>
                <a:gd name="T2" fmla="*/ 24 w 25"/>
                <a:gd name="T3" fmla="*/ 26 h 27"/>
                <a:gd name="T4" fmla="*/ 24 w 25"/>
                <a:gd name="T5" fmla="*/ 26 h 27"/>
                <a:gd name="T6" fmla="*/ 0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0"/>
                  </a:moveTo>
                  <a:lnTo>
                    <a:pt x="24"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5" name="Freeform 5038"/>
            <p:cNvSpPr>
              <a:spLocks/>
            </p:cNvSpPr>
            <p:nvPr/>
          </p:nvSpPr>
          <p:spPr bwMode="auto">
            <a:xfrm>
              <a:off x="2026" y="2113"/>
              <a:ext cx="26" cy="37"/>
            </a:xfrm>
            <a:custGeom>
              <a:avLst/>
              <a:gdLst>
                <a:gd name="T0" fmla="*/ 25 w 26"/>
                <a:gd name="T1" fmla="*/ 0 h 37"/>
                <a:gd name="T2" fmla="*/ 0 w 26"/>
                <a:gd name="T3" fmla="*/ 27 h 37"/>
                <a:gd name="T4" fmla="*/ 17 w 26"/>
                <a:gd name="T5" fmla="*/ 36 h 37"/>
                <a:gd name="T6" fmla="*/ 25 w 26"/>
                <a:gd name="T7" fmla="*/ 0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0"/>
                  </a:moveTo>
                  <a:lnTo>
                    <a:pt x="0" y="27"/>
                  </a:lnTo>
                  <a:lnTo>
                    <a:pt x="17" y="36"/>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6" name="Freeform 5039"/>
            <p:cNvSpPr>
              <a:spLocks/>
            </p:cNvSpPr>
            <p:nvPr/>
          </p:nvSpPr>
          <p:spPr bwMode="auto">
            <a:xfrm>
              <a:off x="2026" y="2113"/>
              <a:ext cx="26" cy="29"/>
            </a:xfrm>
            <a:custGeom>
              <a:avLst/>
              <a:gdLst>
                <a:gd name="T0" fmla="*/ 25 w 26"/>
                <a:gd name="T1" fmla="*/ 0 h 29"/>
                <a:gd name="T2" fmla="*/ 17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7" y="0"/>
                  </a:lnTo>
                  <a:lnTo>
                    <a:pt x="0" y="28"/>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7" name="Freeform 5040"/>
            <p:cNvSpPr>
              <a:spLocks/>
            </p:cNvSpPr>
            <p:nvPr/>
          </p:nvSpPr>
          <p:spPr bwMode="auto">
            <a:xfrm>
              <a:off x="2046" y="2105"/>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8" name="Line 5041"/>
            <p:cNvSpPr>
              <a:spLocks noChangeShapeType="1"/>
            </p:cNvSpPr>
            <p:nvPr/>
          </p:nvSpPr>
          <p:spPr bwMode="auto">
            <a:xfrm>
              <a:off x="2046" y="211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49" name="Freeform 5042"/>
            <p:cNvSpPr>
              <a:spLocks/>
            </p:cNvSpPr>
            <p:nvPr/>
          </p:nvSpPr>
          <p:spPr bwMode="auto">
            <a:xfrm>
              <a:off x="2039" y="2084"/>
              <a:ext cx="26" cy="30"/>
            </a:xfrm>
            <a:custGeom>
              <a:avLst/>
              <a:gdLst>
                <a:gd name="T0" fmla="*/ 25 w 26"/>
                <a:gd name="T1" fmla="*/ 0 h 30"/>
                <a:gd name="T2" fmla="*/ 0 w 26"/>
                <a:gd name="T3" fmla="*/ 29 h 30"/>
                <a:gd name="T4" fmla="*/ 7 w 26"/>
                <a:gd name="T5" fmla="*/ 29 h 30"/>
                <a:gd name="T6" fmla="*/ 25 w 26"/>
                <a:gd name="T7" fmla="*/ 0 h 30"/>
                <a:gd name="T8" fmla="*/ 0 60000 65536"/>
                <a:gd name="T9" fmla="*/ 0 60000 65536"/>
                <a:gd name="T10" fmla="*/ 0 60000 65536"/>
                <a:gd name="T11" fmla="*/ 0 60000 65536"/>
                <a:gd name="T12" fmla="*/ 0 w 26"/>
                <a:gd name="T13" fmla="*/ 0 h 30"/>
                <a:gd name="T14" fmla="*/ 26 w 26"/>
                <a:gd name="T15" fmla="*/ 30 h 30"/>
              </a:gdLst>
              <a:ahLst/>
              <a:cxnLst>
                <a:cxn ang="T8">
                  <a:pos x="T0" y="T1"/>
                </a:cxn>
                <a:cxn ang="T9">
                  <a:pos x="T2" y="T3"/>
                </a:cxn>
                <a:cxn ang="T10">
                  <a:pos x="T4" y="T5"/>
                </a:cxn>
                <a:cxn ang="T11">
                  <a:pos x="T6" y="T7"/>
                </a:cxn>
              </a:cxnLst>
              <a:rect l="T12" t="T13" r="T14" b="T15"/>
              <a:pathLst>
                <a:path w="26" h="30">
                  <a:moveTo>
                    <a:pt x="25" y="0"/>
                  </a:moveTo>
                  <a:lnTo>
                    <a:pt x="0" y="29"/>
                  </a:lnTo>
                  <a:lnTo>
                    <a:pt x="7" y="29"/>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0" name="Freeform 5043"/>
            <p:cNvSpPr>
              <a:spLocks/>
            </p:cNvSpPr>
            <p:nvPr/>
          </p:nvSpPr>
          <p:spPr bwMode="auto">
            <a:xfrm>
              <a:off x="2039" y="2077"/>
              <a:ext cx="26" cy="37"/>
            </a:xfrm>
            <a:custGeom>
              <a:avLst/>
              <a:gdLst>
                <a:gd name="T0" fmla="*/ 25 w 26"/>
                <a:gd name="T1" fmla="*/ 6 h 37"/>
                <a:gd name="T2" fmla="*/ 15 w 26"/>
                <a:gd name="T3" fmla="*/ 0 h 37"/>
                <a:gd name="T4" fmla="*/ 0 w 26"/>
                <a:gd name="T5" fmla="*/ 36 h 37"/>
                <a:gd name="T6" fmla="*/ 25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6"/>
                  </a:moveTo>
                  <a:lnTo>
                    <a:pt x="15" y="0"/>
                  </a:lnTo>
                  <a:lnTo>
                    <a:pt x="0" y="36"/>
                  </a:lnTo>
                  <a:lnTo>
                    <a:pt x="25"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1" name="Freeform 5044"/>
            <p:cNvSpPr>
              <a:spLocks/>
            </p:cNvSpPr>
            <p:nvPr/>
          </p:nvSpPr>
          <p:spPr bwMode="auto">
            <a:xfrm>
              <a:off x="2051" y="207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2" name="Line 5045"/>
            <p:cNvSpPr>
              <a:spLocks noChangeShapeType="1"/>
            </p:cNvSpPr>
            <p:nvPr/>
          </p:nvSpPr>
          <p:spPr bwMode="auto">
            <a:xfrm>
              <a:off x="2051" y="2077"/>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3" name="Freeform 5046"/>
            <p:cNvSpPr>
              <a:spLocks/>
            </p:cNvSpPr>
            <p:nvPr/>
          </p:nvSpPr>
          <p:spPr bwMode="auto">
            <a:xfrm>
              <a:off x="2051" y="2049"/>
              <a:ext cx="27" cy="36"/>
            </a:xfrm>
            <a:custGeom>
              <a:avLst/>
              <a:gdLst>
                <a:gd name="T0" fmla="*/ 26 w 27"/>
                <a:gd name="T1" fmla="*/ 0 h 36"/>
                <a:gd name="T2" fmla="*/ 0 w 27"/>
                <a:gd name="T3" fmla="*/ 28 h 36"/>
                <a:gd name="T4" fmla="*/ 10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0"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4" name="Freeform 5047"/>
            <p:cNvSpPr>
              <a:spLocks/>
            </p:cNvSpPr>
            <p:nvPr/>
          </p:nvSpPr>
          <p:spPr bwMode="auto">
            <a:xfrm>
              <a:off x="2051" y="2041"/>
              <a:ext cx="27" cy="37"/>
            </a:xfrm>
            <a:custGeom>
              <a:avLst/>
              <a:gdLst>
                <a:gd name="T0" fmla="*/ 26 w 27"/>
                <a:gd name="T1" fmla="*/ 8 h 37"/>
                <a:gd name="T2" fmla="*/ 10 w 27"/>
                <a:gd name="T3" fmla="*/ 0 h 37"/>
                <a:gd name="T4" fmla="*/ 0 w 27"/>
                <a:gd name="T5" fmla="*/ 36 h 37"/>
                <a:gd name="T6" fmla="*/ 26 w 27"/>
                <a:gd name="T7" fmla="*/ 8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26" y="8"/>
                  </a:moveTo>
                  <a:lnTo>
                    <a:pt x="10" y="0"/>
                  </a:lnTo>
                  <a:lnTo>
                    <a:pt x="0" y="36"/>
                  </a:lnTo>
                  <a:lnTo>
                    <a:pt x="26"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5" name="Freeform 5048"/>
            <p:cNvSpPr>
              <a:spLocks/>
            </p:cNvSpPr>
            <p:nvPr/>
          </p:nvSpPr>
          <p:spPr bwMode="auto">
            <a:xfrm>
              <a:off x="2058" y="204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6" name="Line 5049"/>
            <p:cNvSpPr>
              <a:spLocks noChangeShapeType="1"/>
            </p:cNvSpPr>
            <p:nvPr/>
          </p:nvSpPr>
          <p:spPr bwMode="auto">
            <a:xfrm>
              <a:off x="2058" y="20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7" name="Freeform 5050"/>
            <p:cNvSpPr>
              <a:spLocks/>
            </p:cNvSpPr>
            <p:nvPr/>
          </p:nvSpPr>
          <p:spPr bwMode="auto">
            <a:xfrm>
              <a:off x="2058" y="2012"/>
              <a:ext cx="27" cy="38"/>
            </a:xfrm>
            <a:custGeom>
              <a:avLst/>
              <a:gdLst>
                <a:gd name="T0" fmla="*/ 26 w 27"/>
                <a:gd name="T1" fmla="*/ 0 h 38"/>
                <a:gd name="T2" fmla="*/ 0 w 27"/>
                <a:gd name="T3" fmla="*/ 28 h 38"/>
                <a:gd name="T4" fmla="*/ 12 w 27"/>
                <a:gd name="T5" fmla="*/ 37 h 38"/>
                <a:gd name="T6" fmla="*/ 26 w 27"/>
                <a:gd name="T7" fmla="*/ 0 h 38"/>
                <a:gd name="T8" fmla="*/ 0 60000 65536"/>
                <a:gd name="T9" fmla="*/ 0 60000 65536"/>
                <a:gd name="T10" fmla="*/ 0 60000 65536"/>
                <a:gd name="T11" fmla="*/ 0 60000 65536"/>
                <a:gd name="T12" fmla="*/ 0 w 27"/>
                <a:gd name="T13" fmla="*/ 0 h 38"/>
                <a:gd name="T14" fmla="*/ 27 w 27"/>
                <a:gd name="T15" fmla="*/ 38 h 38"/>
              </a:gdLst>
              <a:ahLst/>
              <a:cxnLst>
                <a:cxn ang="T8">
                  <a:pos x="T0" y="T1"/>
                </a:cxn>
                <a:cxn ang="T9">
                  <a:pos x="T2" y="T3"/>
                </a:cxn>
                <a:cxn ang="T10">
                  <a:pos x="T4" y="T5"/>
                </a:cxn>
                <a:cxn ang="T11">
                  <a:pos x="T6" y="T7"/>
                </a:cxn>
              </a:cxnLst>
              <a:rect l="T12" t="T13" r="T14" b="T15"/>
              <a:pathLst>
                <a:path w="27" h="38">
                  <a:moveTo>
                    <a:pt x="26" y="0"/>
                  </a:moveTo>
                  <a:lnTo>
                    <a:pt x="0" y="28"/>
                  </a:lnTo>
                  <a:lnTo>
                    <a:pt x="12" y="3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8" name="Freeform 5051"/>
            <p:cNvSpPr>
              <a:spLocks/>
            </p:cNvSpPr>
            <p:nvPr/>
          </p:nvSpPr>
          <p:spPr bwMode="auto">
            <a:xfrm>
              <a:off x="2058" y="2007"/>
              <a:ext cx="27" cy="35"/>
            </a:xfrm>
            <a:custGeom>
              <a:avLst/>
              <a:gdLst>
                <a:gd name="T0" fmla="*/ 26 w 27"/>
                <a:gd name="T1" fmla="*/ 6 h 35"/>
                <a:gd name="T2" fmla="*/ 12 w 27"/>
                <a:gd name="T3" fmla="*/ 0 h 35"/>
                <a:gd name="T4" fmla="*/ 0 w 27"/>
                <a:gd name="T5" fmla="*/ 34 h 35"/>
                <a:gd name="T6" fmla="*/ 26 w 27"/>
                <a:gd name="T7" fmla="*/ 6 h 35"/>
                <a:gd name="T8" fmla="*/ 0 60000 65536"/>
                <a:gd name="T9" fmla="*/ 0 60000 65536"/>
                <a:gd name="T10" fmla="*/ 0 60000 65536"/>
                <a:gd name="T11" fmla="*/ 0 60000 65536"/>
                <a:gd name="T12" fmla="*/ 0 w 27"/>
                <a:gd name="T13" fmla="*/ 0 h 35"/>
                <a:gd name="T14" fmla="*/ 27 w 27"/>
                <a:gd name="T15" fmla="*/ 35 h 35"/>
              </a:gdLst>
              <a:ahLst/>
              <a:cxnLst>
                <a:cxn ang="T8">
                  <a:pos x="T0" y="T1"/>
                </a:cxn>
                <a:cxn ang="T9">
                  <a:pos x="T2" y="T3"/>
                </a:cxn>
                <a:cxn ang="T10">
                  <a:pos x="T4" y="T5"/>
                </a:cxn>
                <a:cxn ang="T11">
                  <a:pos x="T6" y="T7"/>
                </a:cxn>
              </a:cxnLst>
              <a:rect l="T12" t="T13" r="T14" b="T15"/>
              <a:pathLst>
                <a:path w="27" h="35">
                  <a:moveTo>
                    <a:pt x="26" y="6"/>
                  </a:moveTo>
                  <a:lnTo>
                    <a:pt x="12" y="0"/>
                  </a:lnTo>
                  <a:lnTo>
                    <a:pt x="0" y="34"/>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59" name="Freeform 5052"/>
            <p:cNvSpPr>
              <a:spLocks/>
            </p:cNvSpPr>
            <p:nvPr/>
          </p:nvSpPr>
          <p:spPr bwMode="auto">
            <a:xfrm>
              <a:off x="2070" y="200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0" name="Line 5053"/>
            <p:cNvSpPr>
              <a:spLocks noChangeShapeType="1"/>
            </p:cNvSpPr>
            <p:nvPr/>
          </p:nvSpPr>
          <p:spPr bwMode="auto">
            <a:xfrm>
              <a:off x="2070" y="2007"/>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1" name="Freeform 5054"/>
            <p:cNvSpPr>
              <a:spLocks/>
            </p:cNvSpPr>
            <p:nvPr/>
          </p:nvSpPr>
          <p:spPr bwMode="auto">
            <a:xfrm>
              <a:off x="2070" y="1977"/>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2" name="Freeform 5055"/>
            <p:cNvSpPr>
              <a:spLocks/>
            </p:cNvSpPr>
            <p:nvPr/>
          </p:nvSpPr>
          <p:spPr bwMode="auto">
            <a:xfrm>
              <a:off x="2070" y="1977"/>
              <a:ext cx="27" cy="31"/>
            </a:xfrm>
            <a:custGeom>
              <a:avLst/>
              <a:gdLst>
                <a:gd name="T0" fmla="*/ 26 w 27"/>
                <a:gd name="T1" fmla="*/ 0 h 31"/>
                <a:gd name="T2" fmla="*/ 13 w 27"/>
                <a:gd name="T3" fmla="*/ 0 h 31"/>
                <a:gd name="T4" fmla="*/ 0 w 27"/>
                <a:gd name="T5" fmla="*/ 30 h 31"/>
                <a:gd name="T6" fmla="*/ 26 w 27"/>
                <a:gd name="T7" fmla="*/ 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26" y="0"/>
                  </a:moveTo>
                  <a:lnTo>
                    <a:pt x="13" y="0"/>
                  </a:lnTo>
                  <a:lnTo>
                    <a:pt x="0" y="3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3" name="Freeform 5056"/>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4" name="Freeform 5057"/>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5" name="Freeform 5058"/>
            <p:cNvSpPr>
              <a:spLocks/>
            </p:cNvSpPr>
            <p:nvPr/>
          </p:nvSpPr>
          <p:spPr bwMode="auto">
            <a:xfrm>
              <a:off x="2081" y="1949"/>
              <a:ext cx="29" cy="29"/>
            </a:xfrm>
            <a:custGeom>
              <a:avLst/>
              <a:gdLst>
                <a:gd name="T0" fmla="*/ 28 w 29"/>
                <a:gd name="T1" fmla="*/ 0 h 29"/>
                <a:gd name="T2" fmla="*/ 0 w 29"/>
                <a:gd name="T3" fmla="*/ 28 h 29"/>
                <a:gd name="T4" fmla="*/ 14 w 29"/>
                <a:gd name="T5" fmla="*/ 28 h 29"/>
                <a:gd name="T6" fmla="*/ 28 w 29"/>
                <a:gd name="T7" fmla="*/ 0 h 29"/>
                <a:gd name="T8" fmla="*/ 0 60000 65536"/>
                <a:gd name="T9" fmla="*/ 0 60000 65536"/>
                <a:gd name="T10" fmla="*/ 0 60000 65536"/>
                <a:gd name="T11" fmla="*/ 0 60000 65536"/>
                <a:gd name="T12" fmla="*/ 0 w 29"/>
                <a:gd name="T13" fmla="*/ 0 h 29"/>
                <a:gd name="T14" fmla="*/ 29 w 29"/>
                <a:gd name="T15" fmla="*/ 29 h 29"/>
              </a:gdLst>
              <a:ahLst/>
              <a:cxnLst>
                <a:cxn ang="T8">
                  <a:pos x="T0" y="T1"/>
                </a:cxn>
                <a:cxn ang="T9">
                  <a:pos x="T2" y="T3"/>
                </a:cxn>
                <a:cxn ang="T10">
                  <a:pos x="T4" y="T5"/>
                </a:cxn>
                <a:cxn ang="T11">
                  <a:pos x="T6" y="T7"/>
                </a:cxn>
              </a:cxnLst>
              <a:rect l="T12" t="T13" r="T14" b="T15"/>
              <a:pathLst>
                <a:path w="29" h="29">
                  <a:moveTo>
                    <a:pt x="28" y="0"/>
                  </a:moveTo>
                  <a:lnTo>
                    <a:pt x="0" y="28"/>
                  </a:lnTo>
                  <a:lnTo>
                    <a:pt x="14" y="28"/>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6" name="Freeform 5059"/>
            <p:cNvSpPr>
              <a:spLocks/>
            </p:cNvSpPr>
            <p:nvPr/>
          </p:nvSpPr>
          <p:spPr bwMode="auto">
            <a:xfrm>
              <a:off x="2081" y="1941"/>
              <a:ext cx="29" cy="37"/>
            </a:xfrm>
            <a:custGeom>
              <a:avLst/>
              <a:gdLst>
                <a:gd name="T0" fmla="*/ 28 w 29"/>
                <a:gd name="T1" fmla="*/ 8 h 37"/>
                <a:gd name="T2" fmla="*/ 14 w 29"/>
                <a:gd name="T3" fmla="*/ 0 h 37"/>
                <a:gd name="T4" fmla="*/ 0 w 29"/>
                <a:gd name="T5" fmla="*/ 36 h 37"/>
                <a:gd name="T6" fmla="*/ 28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28" y="8"/>
                  </a:moveTo>
                  <a:lnTo>
                    <a:pt x="14" y="0"/>
                  </a:lnTo>
                  <a:lnTo>
                    <a:pt x="0" y="36"/>
                  </a:lnTo>
                  <a:lnTo>
                    <a:pt x="28"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7" name="Freeform 5060"/>
            <p:cNvSpPr>
              <a:spLocks/>
            </p:cNvSpPr>
            <p:nvPr/>
          </p:nvSpPr>
          <p:spPr bwMode="auto">
            <a:xfrm>
              <a:off x="2096" y="194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8" name="Line 5061"/>
            <p:cNvSpPr>
              <a:spLocks noChangeShapeType="1"/>
            </p:cNvSpPr>
            <p:nvPr/>
          </p:nvSpPr>
          <p:spPr bwMode="auto">
            <a:xfrm>
              <a:off x="2096" y="19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69" name="Freeform 5062"/>
            <p:cNvSpPr>
              <a:spLocks/>
            </p:cNvSpPr>
            <p:nvPr/>
          </p:nvSpPr>
          <p:spPr bwMode="auto">
            <a:xfrm>
              <a:off x="2096" y="1919"/>
              <a:ext cx="24" cy="31"/>
            </a:xfrm>
            <a:custGeom>
              <a:avLst/>
              <a:gdLst>
                <a:gd name="T0" fmla="*/ 23 w 24"/>
                <a:gd name="T1" fmla="*/ 0 h 31"/>
                <a:gd name="T2" fmla="*/ 0 w 24"/>
                <a:gd name="T3" fmla="*/ 21 h 31"/>
                <a:gd name="T4" fmla="*/ 12 w 24"/>
                <a:gd name="T5" fmla="*/ 30 h 31"/>
                <a:gd name="T6" fmla="*/ 23 w 24"/>
                <a:gd name="T7" fmla="*/ 0 h 31"/>
                <a:gd name="T8" fmla="*/ 0 60000 65536"/>
                <a:gd name="T9" fmla="*/ 0 60000 65536"/>
                <a:gd name="T10" fmla="*/ 0 60000 65536"/>
                <a:gd name="T11" fmla="*/ 0 60000 65536"/>
                <a:gd name="T12" fmla="*/ 0 w 24"/>
                <a:gd name="T13" fmla="*/ 0 h 31"/>
                <a:gd name="T14" fmla="*/ 24 w 24"/>
                <a:gd name="T15" fmla="*/ 31 h 31"/>
              </a:gdLst>
              <a:ahLst/>
              <a:cxnLst>
                <a:cxn ang="T8">
                  <a:pos x="T0" y="T1"/>
                </a:cxn>
                <a:cxn ang="T9">
                  <a:pos x="T2" y="T3"/>
                </a:cxn>
                <a:cxn ang="T10">
                  <a:pos x="T4" y="T5"/>
                </a:cxn>
                <a:cxn ang="T11">
                  <a:pos x="T6" y="T7"/>
                </a:cxn>
              </a:cxnLst>
              <a:rect l="T12" t="T13" r="T14" b="T15"/>
              <a:pathLst>
                <a:path w="24" h="31">
                  <a:moveTo>
                    <a:pt x="23" y="0"/>
                  </a:moveTo>
                  <a:lnTo>
                    <a:pt x="0" y="21"/>
                  </a:lnTo>
                  <a:lnTo>
                    <a:pt x="12" y="30"/>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0" name="Freeform 5063"/>
            <p:cNvSpPr>
              <a:spLocks/>
            </p:cNvSpPr>
            <p:nvPr/>
          </p:nvSpPr>
          <p:spPr bwMode="auto">
            <a:xfrm>
              <a:off x="2096" y="1913"/>
              <a:ext cx="24" cy="29"/>
            </a:xfrm>
            <a:custGeom>
              <a:avLst/>
              <a:gdLst>
                <a:gd name="T0" fmla="*/ 23 w 24"/>
                <a:gd name="T1" fmla="*/ 6 h 29"/>
                <a:gd name="T2" fmla="*/ 12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2" y="0"/>
                  </a:lnTo>
                  <a:lnTo>
                    <a:pt x="0" y="28"/>
                  </a:lnTo>
                  <a:lnTo>
                    <a:pt x="23"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1" name="Freeform 5064"/>
            <p:cNvSpPr>
              <a:spLocks/>
            </p:cNvSpPr>
            <p:nvPr/>
          </p:nvSpPr>
          <p:spPr bwMode="auto">
            <a:xfrm>
              <a:off x="2109" y="1913"/>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2" name="Line 5065"/>
            <p:cNvSpPr>
              <a:spLocks noChangeShapeType="1"/>
            </p:cNvSpPr>
            <p:nvPr/>
          </p:nvSpPr>
          <p:spPr bwMode="auto">
            <a:xfrm>
              <a:off x="2109" y="1913"/>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3" name="Freeform 5066"/>
            <p:cNvSpPr>
              <a:spLocks/>
            </p:cNvSpPr>
            <p:nvPr/>
          </p:nvSpPr>
          <p:spPr bwMode="auto">
            <a:xfrm>
              <a:off x="2109" y="1892"/>
              <a:ext cx="26" cy="28"/>
            </a:xfrm>
            <a:custGeom>
              <a:avLst/>
              <a:gdLst>
                <a:gd name="T0" fmla="*/ 25 w 26"/>
                <a:gd name="T1" fmla="*/ 0 h 28"/>
                <a:gd name="T2" fmla="*/ 0 w 26"/>
                <a:gd name="T3" fmla="*/ 20 h 28"/>
                <a:gd name="T4" fmla="*/ 11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20"/>
                  </a:lnTo>
                  <a:lnTo>
                    <a:pt x="11"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4" name="Freeform 5067"/>
            <p:cNvSpPr>
              <a:spLocks/>
            </p:cNvSpPr>
            <p:nvPr/>
          </p:nvSpPr>
          <p:spPr bwMode="auto">
            <a:xfrm>
              <a:off x="2109" y="1886"/>
              <a:ext cx="26" cy="28"/>
            </a:xfrm>
            <a:custGeom>
              <a:avLst/>
              <a:gdLst>
                <a:gd name="T0" fmla="*/ 25 w 26"/>
                <a:gd name="T1" fmla="*/ 6 h 28"/>
                <a:gd name="T2" fmla="*/ 11 w 26"/>
                <a:gd name="T3" fmla="*/ 0 h 28"/>
                <a:gd name="T4" fmla="*/ 0 w 26"/>
                <a:gd name="T5" fmla="*/ 27 h 28"/>
                <a:gd name="T6" fmla="*/ 25 w 26"/>
                <a:gd name="T7" fmla="*/ 6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6"/>
                  </a:moveTo>
                  <a:lnTo>
                    <a:pt x="11" y="0"/>
                  </a:lnTo>
                  <a:lnTo>
                    <a:pt x="0" y="27"/>
                  </a:lnTo>
                  <a:lnTo>
                    <a:pt x="25"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5" name="Freeform 5068"/>
            <p:cNvSpPr>
              <a:spLocks/>
            </p:cNvSpPr>
            <p:nvPr/>
          </p:nvSpPr>
          <p:spPr bwMode="auto">
            <a:xfrm>
              <a:off x="2119" y="1886"/>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6" name="Line 5069"/>
            <p:cNvSpPr>
              <a:spLocks noChangeShapeType="1"/>
            </p:cNvSpPr>
            <p:nvPr/>
          </p:nvSpPr>
          <p:spPr bwMode="auto">
            <a:xfrm>
              <a:off x="2119" y="1886"/>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7" name="Freeform 5070"/>
            <p:cNvSpPr>
              <a:spLocks/>
            </p:cNvSpPr>
            <p:nvPr/>
          </p:nvSpPr>
          <p:spPr bwMode="auto">
            <a:xfrm>
              <a:off x="2119" y="1864"/>
              <a:ext cx="28" cy="29"/>
            </a:xfrm>
            <a:custGeom>
              <a:avLst/>
              <a:gdLst>
                <a:gd name="T0" fmla="*/ 27 w 28"/>
                <a:gd name="T1" fmla="*/ 0 h 29"/>
                <a:gd name="T2" fmla="*/ 0 w 28"/>
                <a:gd name="T3" fmla="*/ 21 h 29"/>
                <a:gd name="T4" fmla="*/ 13 w 28"/>
                <a:gd name="T5" fmla="*/ 28 h 29"/>
                <a:gd name="T6" fmla="*/ 27 w 28"/>
                <a:gd name="T7" fmla="*/ 0 h 29"/>
                <a:gd name="T8" fmla="*/ 0 60000 65536"/>
                <a:gd name="T9" fmla="*/ 0 60000 65536"/>
                <a:gd name="T10" fmla="*/ 0 60000 65536"/>
                <a:gd name="T11" fmla="*/ 0 60000 65536"/>
                <a:gd name="T12" fmla="*/ 0 w 28"/>
                <a:gd name="T13" fmla="*/ 0 h 29"/>
                <a:gd name="T14" fmla="*/ 28 w 28"/>
                <a:gd name="T15" fmla="*/ 29 h 29"/>
              </a:gdLst>
              <a:ahLst/>
              <a:cxnLst>
                <a:cxn ang="T8">
                  <a:pos x="T0" y="T1"/>
                </a:cxn>
                <a:cxn ang="T9">
                  <a:pos x="T2" y="T3"/>
                </a:cxn>
                <a:cxn ang="T10">
                  <a:pos x="T4" y="T5"/>
                </a:cxn>
                <a:cxn ang="T11">
                  <a:pos x="T6" y="T7"/>
                </a:cxn>
              </a:cxnLst>
              <a:rect l="T12" t="T13" r="T14" b="T15"/>
              <a:pathLst>
                <a:path w="28" h="29">
                  <a:moveTo>
                    <a:pt x="27" y="0"/>
                  </a:moveTo>
                  <a:lnTo>
                    <a:pt x="0" y="21"/>
                  </a:lnTo>
                  <a:lnTo>
                    <a:pt x="13" y="28"/>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8" name="Freeform 5071"/>
            <p:cNvSpPr>
              <a:spLocks/>
            </p:cNvSpPr>
            <p:nvPr/>
          </p:nvSpPr>
          <p:spPr bwMode="auto">
            <a:xfrm>
              <a:off x="2119" y="1856"/>
              <a:ext cx="28" cy="31"/>
            </a:xfrm>
            <a:custGeom>
              <a:avLst/>
              <a:gdLst>
                <a:gd name="T0" fmla="*/ 27 w 28"/>
                <a:gd name="T1" fmla="*/ 8 h 31"/>
                <a:gd name="T2" fmla="*/ 13 w 28"/>
                <a:gd name="T3" fmla="*/ 0 h 31"/>
                <a:gd name="T4" fmla="*/ 0 w 28"/>
                <a:gd name="T5" fmla="*/ 30 h 31"/>
                <a:gd name="T6" fmla="*/ 27 w 28"/>
                <a:gd name="T7" fmla="*/ 8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8"/>
                  </a:moveTo>
                  <a:lnTo>
                    <a:pt x="13" y="0"/>
                  </a:lnTo>
                  <a:lnTo>
                    <a:pt x="0" y="30"/>
                  </a:lnTo>
                  <a:lnTo>
                    <a:pt x="27"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79" name="Freeform 5072"/>
            <p:cNvSpPr>
              <a:spLocks/>
            </p:cNvSpPr>
            <p:nvPr/>
          </p:nvSpPr>
          <p:spPr bwMode="auto">
            <a:xfrm>
              <a:off x="2134" y="1856"/>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0" name="Line 5073"/>
            <p:cNvSpPr>
              <a:spLocks noChangeShapeType="1"/>
            </p:cNvSpPr>
            <p:nvPr/>
          </p:nvSpPr>
          <p:spPr bwMode="auto">
            <a:xfrm>
              <a:off x="2134" y="1856"/>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1" name="Freeform 5074"/>
            <p:cNvSpPr>
              <a:spLocks/>
            </p:cNvSpPr>
            <p:nvPr/>
          </p:nvSpPr>
          <p:spPr bwMode="auto">
            <a:xfrm>
              <a:off x="2134" y="1835"/>
              <a:ext cx="24" cy="30"/>
            </a:xfrm>
            <a:custGeom>
              <a:avLst/>
              <a:gdLst>
                <a:gd name="T0" fmla="*/ 23 w 24"/>
                <a:gd name="T1" fmla="*/ 0 h 30"/>
                <a:gd name="T2" fmla="*/ 0 w 24"/>
                <a:gd name="T3" fmla="*/ 20 h 30"/>
                <a:gd name="T4" fmla="*/ 11 w 24"/>
                <a:gd name="T5" fmla="*/ 29 h 30"/>
                <a:gd name="T6" fmla="*/ 23 w 24"/>
                <a:gd name="T7" fmla="*/ 0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0"/>
                  </a:moveTo>
                  <a:lnTo>
                    <a:pt x="0" y="20"/>
                  </a:lnTo>
                  <a:lnTo>
                    <a:pt x="11" y="29"/>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2" name="Freeform 5075"/>
            <p:cNvSpPr>
              <a:spLocks/>
            </p:cNvSpPr>
            <p:nvPr/>
          </p:nvSpPr>
          <p:spPr bwMode="auto">
            <a:xfrm>
              <a:off x="2134" y="1828"/>
              <a:ext cx="24" cy="29"/>
            </a:xfrm>
            <a:custGeom>
              <a:avLst/>
              <a:gdLst>
                <a:gd name="T0" fmla="*/ 23 w 24"/>
                <a:gd name="T1" fmla="*/ 6 h 29"/>
                <a:gd name="T2" fmla="*/ 11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1" y="0"/>
                  </a:lnTo>
                  <a:lnTo>
                    <a:pt x="0" y="28"/>
                  </a:lnTo>
                  <a:lnTo>
                    <a:pt x="23"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3" name="Freeform 5076"/>
            <p:cNvSpPr>
              <a:spLocks/>
            </p:cNvSpPr>
            <p:nvPr/>
          </p:nvSpPr>
          <p:spPr bwMode="auto">
            <a:xfrm>
              <a:off x="2146" y="182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4" name="Line 5077"/>
            <p:cNvSpPr>
              <a:spLocks noChangeShapeType="1"/>
            </p:cNvSpPr>
            <p:nvPr/>
          </p:nvSpPr>
          <p:spPr bwMode="auto">
            <a:xfrm>
              <a:off x="2146" y="182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5" name="Freeform 5078"/>
            <p:cNvSpPr>
              <a:spLocks/>
            </p:cNvSpPr>
            <p:nvPr/>
          </p:nvSpPr>
          <p:spPr bwMode="auto">
            <a:xfrm>
              <a:off x="2146" y="1813"/>
              <a:ext cx="24" cy="28"/>
            </a:xfrm>
            <a:custGeom>
              <a:avLst/>
              <a:gdLst>
                <a:gd name="T0" fmla="*/ 23 w 24"/>
                <a:gd name="T1" fmla="*/ 0 h 28"/>
                <a:gd name="T2" fmla="*/ 0 w 24"/>
                <a:gd name="T3" fmla="*/ 18 h 28"/>
                <a:gd name="T4" fmla="*/ 12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18"/>
                  </a:lnTo>
                  <a:lnTo>
                    <a:pt x="12" y="27"/>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6" name="Freeform 5079"/>
            <p:cNvSpPr>
              <a:spLocks/>
            </p:cNvSpPr>
            <p:nvPr/>
          </p:nvSpPr>
          <p:spPr bwMode="auto">
            <a:xfrm>
              <a:off x="2146" y="1807"/>
              <a:ext cx="24" cy="26"/>
            </a:xfrm>
            <a:custGeom>
              <a:avLst/>
              <a:gdLst>
                <a:gd name="T0" fmla="*/ 23 w 24"/>
                <a:gd name="T1" fmla="*/ 7 h 26"/>
                <a:gd name="T2" fmla="*/ 12 w 24"/>
                <a:gd name="T3" fmla="*/ 0 h 26"/>
                <a:gd name="T4" fmla="*/ 0 w 24"/>
                <a:gd name="T5" fmla="*/ 25 h 26"/>
                <a:gd name="T6" fmla="*/ 23 w 24"/>
                <a:gd name="T7" fmla="*/ 7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7"/>
                  </a:moveTo>
                  <a:lnTo>
                    <a:pt x="12" y="0"/>
                  </a:lnTo>
                  <a:lnTo>
                    <a:pt x="0" y="25"/>
                  </a:lnTo>
                  <a:lnTo>
                    <a:pt x="23" y="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7" name="Freeform 5080"/>
            <p:cNvSpPr>
              <a:spLocks/>
            </p:cNvSpPr>
            <p:nvPr/>
          </p:nvSpPr>
          <p:spPr bwMode="auto">
            <a:xfrm>
              <a:off x="2157" y="180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8" name="Line 5081"/>
            <p:cNvSpPr>
              <a:spLocks noChangeShapeType="1"/>
            </p:cNvSpPr>
            <p:nvPr/>
          </p:nvSpPr>
          <p:spPr bwMode="auto">
            <a:xfrm>
              <a:off x="2157" y="180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89" name="Freeform 5082"/>
            <p:cNvSpPr>
              <a:spLocks/>
            </p:cNvSpPr>
            <p:nvPr/>
          </p:nvSpPr>
          <p:spPr bwMode="auto">
            <a:xfrm>
              <a:off x="2157" y="1792"/>
              <a:ext cx="28" cy="27"/>
            </a:xfrm>
            <a:custGeom>
              <a:avLst/>
              <a:gdLst>
                <a:gd name="T0" fmla="*/ 27 w 28"/>
                <a:gd name="T1" fmla="*/ 0 h 27"/>
                <a:gd name="T2" fmla="*/ 0 w 28"/>
                <a:gd name="T3" fmla="*/ 18 h 27"/>
                <a:gd name="T4" fmla="*/ 16 w 28"/>
                <a:gd name="T5" fmla="*/ 26 h 27"/>
                <a:gd name="T6" fmla="*/ 27 w 28"/>
                <a:gd name="T7" fmla="*/ 0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0"/>
                  </a:moveTo>
                  <a:lnTo>
                    <a:pt x="0" y="18"/>
                  </a:lnTo>
                  <a:lnTo>
                    <a:pt x="16" y="26"/>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0" name="Freeform 5083"/>
            <p:cNvSpPr>
              <a:spLocks/>
            </p:cNvSpPr>
            <p:nvPr/>
          </p:nvSpPr>
          <p:spPr bwMode="auto">
            <a:xfrm>
              <a:off x="2157" y="1785"/>
              <a:ext cx="28" cy="28"/>
            </a:xfrm>
            <a:custGeom>
              <a:avLst/>
              <a:gdLst>
                <a:gd name="T0" fmla="*/ 27 w 28"/>
                <a:gd name="T1" fmla="*/ 8 h 28"/>
                <a:gd name="T2" fmla="*/ 16 w 28"/>
                <a:gd name="T3" fmla="*/ 0 h 28"/>
                <a:gd name="T4" fmla="*/ 0 w 28"/>
                <a:gd name="T5" fmla="*/ 27 h 28"/>
                <a:gd name="T6" fmla="*/ 27 w 28"/>
                <a:gd name="T7" fmla="*/ 8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8"/>
                  </a:moveTo>
                  <a:lnTo>
                    <a:pt x="16" y="0"/>
                  </a:lnTo>
                  <a:lnTo>
                    <a:pt x="0" y="27"/>
                  </a:lnTo>
                  <a:lnTo>
                    <a:pt x="27"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1" name="Freeform 5084"/>
            <p:cNvSpPr>
              <a:spLocks/>
            </p:cNvSpPr>
            <p:nvPr/>
          </p:nvSpPr>
          <p:spPr bwMode="auto">
            <a:xfrm>
              <a:off x="2169" y="1785"/>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2" name="Line 5085"/>
            <p:cNvSpPr>
              <a:spLocks noChangeShapeType="1"/>
            </p:cNvSpPr>
            <p:nvPr/>
          </p:nvSpPr>
          <p:spPr bwMode="auto">
            <a:xfrm>
              <a:off x="2169" y="1785"/>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3" name="Freeform 5086"/>
            <p:cNvSpPr>
              <a:spLocks/>
            </p:cNvSpPr>
            <p:nvPr/>
          </p:nvSpPr>
          <p:spPr bwMode="auto">
            <a:xfrm>
              <a:off x="2169" y="1777"/>
              <a:ext cx="27" cy="28"/>
            </a:xfrm>
            <a:custGeom>
              <a:avLst/>
              <a:gdLst>
                <a:gd name="T0" fmla="*/ 26 w 27"/>
                <a:gd name="T1" fmla="*/ 0 h 28"/>
                <a:gd name="T2" fmla="*/ 0 w 27"/>
                <a:gd name="T3" fmla="*/ 15 h 28"/>
                <a:gd name="T4" fmla="*/ 1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0"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4" name="Freeform 5087"/>
            <p:cNvSpPr>
              <a:spLocks/>
            </p:cNvSpPr>
            <p:nvPr/>
          </p:nvSpPr>
          <p:spPr bwMode="auto">
            <a:xfrm>
              <a:off x="2169" y="1771"/>
              <a:ext cx="27" cy="27"/>
            </a:xfrm>
            <a:custGeom>
              <a:avLst/>
              <a:gdLst>
                <a:gd name="T0" fmla="*/ 26 w 27"/>
                <a:gd name="T1" fmla="*/ 11 h 27"/>
                <a:gd name="T2" fmla="*/ 18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8" y="0"/>
                  </a:lnTo>
                  <a:lnTo>
                    <a:pt x="0" y="26"/>
                  </a:lnTo>
                  <a:lnTo>
                    <a:pt x="26"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5" name="Freeform 5088"/>
            <p:cNvSpPr>
              <a:spLocks/>
            </p:cNvSpPr>
            <p:nvPr/>
          </p:nvSpPr>
          <p:spPr bwMode="auto">
            <a:xfrm>
              <a:off x="2184" y="177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6" name="Line 5089"/>
            <p:cNvSpPr>
              <a:spLocks noChangeShapeType="1"/>
            </p:cNvSpPr>
            <p:nvPr/>
          </p:nvSpPr>
          <p:spPr bwMode="auto">
            <a:xfrm>
              <a:off x="2184" y="1771"/>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7" name="Freeform 5090"/>
            <p:cNvSpPr>
              <a:spLocks/>
            </p:cNvSpPr>
            <p:nvPr/>
          </p:nvSpPr>
          <p:spPr bwMode="auto">
            <a:xfrm>
              <a:off x="2184" y="1764"/>
              <a:ext cx="24" cy="27"/>
            </a:xfrm>
            <a:custGeom>
              <a:avLst/>
              <a:gdLst>
                <a:gd name="T0" fmla="*/ 23 w 24"/>
                <a:gd name="T1" fmla="*/ 0 h 27"/>
                <a:gd name="T2" fmla="*/ 0 w 24"/>
                <a:gd name="T3" fmla="*/ 13 h 27"/>
                <a:gd name="T4" fmla="*/ 7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3"/>
                  </a:lnTo>
                  <a:lnTo>
                    <a:pt x="7"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8" name="Freeform 5091"/>
            <p:cNvSpPr>
              <a:spLocks/>
            </p:cNvSpPr>
            <p:nvPr/>
          </p:nvSpPr>
          <p:spPr bwMode="auto">
            <a:xfrm>
              <a:off x="2184" y="1755"/>
              <a:ext cx="24" cy="28"/>
            </a:xfrm>
            <a:custGeom>
              <a:avLst/>
              <a:gdLst>
                <a:gd name="T0" fmla="*/ 23 w 24"/>
                <a:gd name="T1" fmla="*/ 15 h 28"/>
                <a:gd name="T2" fmla="*/ 15 w 24"/>
                <a:gd name="T3" fmla="*/ 0 h 28"/>
                <a:gd name="T4" fmla="*/ 0 w 24"/>
                <a:gd name="T5" fmla="*/ 27 h 28"/>
                <a:gd name="T6" fmla="*/ 23 w 24"/>
                <a:gd name="T7" fmla="*/ 15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5"/>
                  </a:moveTo>
                  <a:lnTo>
                    <a:pt x="15" y="0"/>
                  </a:lnTo>
                  <a:lnTo>
                    <a:pt x="0" y="27"/>
                  </a:lnTo>
                  <a:lnTo>
                    <a:pt x="23"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99" name="Freeform 5092"/>
            <p:cNvSpPr>
              <a:spLocks/>
            </p:cNvSpPr>
            <p:nvPr/>
          </p:nvSpPr>
          <p:spPr bwMode="auto">
            <a:xfrm>
              <a:off x="2195" y="1749"/>
              <a:ext cx="27" cy="28"/>
            </a:xfrm>
            <a:custGeom>
              <a:avLst/>
              <a:gdLst>
                <a:gd name="T0" fmla="*/ 0 w 27"/>
                <a:gd name="T1" fmla="*/ 0 h 28"/>
                <a:gd name="T2" fmla="*/ 0 w 27"/>
                <a:gd name="T3" fmla="*/ 27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27"/>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0" name="Freeform 5093"/>
            <p:cNvSpPr>
              <a:spLocks/>
            </p:cNvSpPr>
            <p:nvPr/>
          </p:nvSpPr>
          <p:spPr bwMode="auto">
            <a:xfrm>
              <a:off x="2195" y="1749"/>
              <a:ext cx="1" cy="28"/>
            </a:xfrm>
            <a:custGeom>
              <a:avLst/>
              <a:gdLst>
                <a:gd name="T0" fmla="*/ 0 w 1"/>
                <a:gd name="T1" fmla="*/ 0 h 28"/>
                <a:gd name="T2" fmla="*/ 0 w 1"/>
                <a:gd name="T3" fmla="*/ 27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1" name="Freeform 5094"/>
            <p:cNvSpPr>
              <a:spLocks/>
            </p:cNvSpPr>
            <p:nvPr/>
          </p:nvSpPr>
          <p:spPr bwMode="auto">
            <a:xfrm>
              <a:off x="2195" y="1749"/>
              <a:ext cx="27" cy="28"/>
            </a:xfrm>
            <a:custGeom>
              <a:avLst/>
              <a:gdLst>
                <a:gd name="T0" fmla="*/ 26 w 27"/>
                <a:gd name="T1" fmla="*/ 0 h 28"/>
                <a:gd name="T2" fmla="*/ 0 w 27"/>
                <a:gd name="T3" fmla="*/ 0 h 28"/>
                <a:gd name="T4" fmla="*/ 8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8"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2" name="Freeform 5095"/>
            <p:cNvSpPr>
              <a:spLocks/>
            </p:cNvSpPr>
            <p:nvPr/>
          </p:nvSpPr>
          <p:spPr bwMode="auto">
            <a:xfrm>
              <a:off x="2195" y="1742"/>
              <a:ext cx="27" cy="28"/>
            </a:xfrm>
            <a:custGeom>
              <a:avLst/>
              <a:gdLst>
                <a:gd name="T0" fmla="*/ 26 w 27"/>
                <a:gd name="T1" fmla="*/ 27 h 28"/>
                <a:gd name="T2" fmla="*/ 16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6"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3" name="Freeform 5096"/>
            <p:cNvSpPr>
              <a:spLocks/>
            </p:cNvSpPr>
            <p:nvPr/>
          </p:nvSpPr>
          <p:spPr bwMode="auto">
            <a:xfrm>
              <a:off x="2206" y="1742"/>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4" name="Line 5097"/>
            <p:cNvSpPr>
              <a:spLocks noChangeShapeType="1"/>
            </p:cNvSpPr>
            <p:nvPr/>
          </p:nvSpPr>
          <p:spPr bwMode="auto">
            <a:xfrm>
              <a:off x="2206" y="1742"/>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5" name="Freeform 5098"/>
            <p:cNvSpPr>
              <a:spLocks/>
            </p:cNvSpPr>
            <p:nvPr/>
          </p:nvSpPr>
          <p:spPr bwMode="auto">
            <a:xfrm>
              <a:off x="2206" y="1742"/>
              <a:ext cx="25" cy="28"/>
            </a:xfrm>
            <a:custGeom>
              <a:avLst/>
              <a:gdLst>
                <a:gd name="T0" fmla="*/ 24 w 25"/>
                <a:gd name="T1" fmla="*/ 0 h 28"/>
                <a:gd name="T2" fmla="*/ 0 w 25"/>
                <a:gd name="T3" fmla="*/ 0 h 28"/>
                <a:gd name="T4" fmla="*/ 9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0"/>
                  </a:lnTo>
                  <a:lnTo>
                    <a:pt x="9" y="27"/>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6" name="Freeform 5099"/>
            <p:cNvSpPr>
              <a:spLocks/>
            </p:cNvSpPr>
            <p:nvPr/>
          </p:nvSpPr>
          <p:spPr bwMode="auto">
            <a:xfrm>
              <a:off x="2206" y="1734"/>
              <a:ext cx="25" cy="28"/>
            </a:xfrm>
            <a:custGeom>
              <a:avLst/>
              <a:gdLst>
                <a:gd name="T0" fmla="*/ 24 w 25"/>
                <a:gd name="T1" fmla="*/ 27 h 28"/>
                <a:gd name="T2" fmla="*/ 16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6"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7" name="Freeform 5100"/>
            <p:cNvSpPr>
              <a:spLocks/>
            </p:cNvSpPr>
            <p:nvPr/>
          </p:nvSpPr>
          <p:spPr bwMode="auto">
            <a:xfrm>
              <a:off x="2216" y="1734"/>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8" name="Line 5101"/>
            <p:cNvSpPr>
              <a:spLocks noChangeShapeType="1"/>
            </p:cNvSpPr>
            <p:nvPr/>
          </p:nvSpPr>
          <p:spPr bwMode="auto">
            <a:xfrm>
              <a:off x="2216" y="1734"/>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09" name="Freeform 5102"/>
            <p:cNvSpPr>
              <a:spLocks/>
            </p:cNvSpPr>
            <p:nvPr/>
          </p:nvSpPr>
          <p:spPr bwMode="auto">
            <a:xfrm>
              <a:off x="2216" y="1734"/>
              <a:ext cx="29" cy="28"/>
            </a:xfrm>
            <a:custGeom>
              <a:avLst/>
              <a:gdLst>
                <a:gd name="T0" fmla="*/ 28 w 29"/>
                <a:gd name="T1" fmla="*/ 27 h 28"/>
                <a:gd name="T2" fmla="*/ 0 w 29"/>
                <a:gd name="T3" fmla="*/ 0 h 28"/>
                <a:gd name="T4" fmla="*/ 8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8" y="27"/>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0" name="Freeform 5103"/>
            <p:cNvSpPr>
              <a:spLocks/>
            </p:cNvSpPr>
            <p:nvPr/>
          </p:nvSpPr>
          <p:spPr bwMode="auto">
            <a:xfrm>
              <a:off x="2216" y="1728"/>
              <a:ext cx="29" cy="28"/>
            </a:xfrm>
            <a:custGeom>
              <a:avLst/>
              <a:gdLst>
                <a:gd name="T0" fmla="*/ 28 w 29"/>
                <a:gd name="T1" fmla="*/ 27 h 28"/>
                <a:gd name="T2" fmla="*/ 19 w 29"/>
                <a:gd name="T3" fmla="*/ 0 h 28"/>
                <a:gd name="T4" fmla="*/ 0 w 29"/>
                <a:gd name="T5" fmla="*/ 12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9" y="0"/>
                  </a:lnTo>
                  <a:lnTo>
                    <a:pt x="0" y="12"/>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1" name="Freeform 5104"/>
            <p:cNvSpPr>
              <a:spLocks/>
            </p:cNvSpPr>
            <p:nvPr/>
          </p:nvSpPr>
          <p:spPr bwMode="auto">
            <a:xfrm>
              <a:off x="2233" y="1728"/>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2" name="Line 5105"/>
            <p:cNvSpPr>
              <a:spLocks noChangeShapeType="1"/>
            </p:cNvSpPr>
            <p:nvPr/>
          </p:nvSpPr>
          <p:spPr bwMode="auto">
            <a:xfrm>
              <a:off x="2233" y="1728"/>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3" name="Freeform 5106"/>
            <p:cNvSpPr>
              <a:spLocks/>
            </p:cNvSpPr>
            <p:nvPr/>
          </p:nvSpPr>
          <p:spPr bwMode="auto">
            <a:xfrm>
              <a:off x="2233" y="1728"/>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4" name="Freeform 5107"/>
            <p:cNvSpPr>
              <a:spLocks/>
            </p:cNvSpPr>
            <p:nvPr/>
          </p:nvSpPr>
          <p:spPr bwMode="auto">
            <a:xfrm>
              <a:off x="2233" y="1728"/>
              <a:ext cx="26" cy="28"/>
            </a:xfrm>
            <a:custGeom>
              <a:avLst/>
              <a:gdLst>
                <a:gd name="T0" fmla="*/ 0 w 26"/>
                <a:gd name="T1" fmla="*/ 0 h 28"/>
                <a:gd name="T2" fmla="*/ 25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25"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5" name="Freeform 5108"/>
            <p:cNvSpPr>
              <a:spLocks/>
            </p:cNvSpPr>
            <p:nvPr/>
          </p:nvSpPr>
          <p:spPr bwMode="auto">
            <a:xfrm>
              <a:off x="2245" y="1728"/>
              <a:ext cx="27" cy="28"/>
            </a:xfrm>
            <a:custGeom>
              <a:avLst/>
              <a:gdLst>
                <a:gd name="T0" fmla="*/ 0 w 27"/>
                <a:gd name="T1" fmla="*/ 0 h 28"/>
                <a:gd name="T2" fmla="*/ 0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0"/>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6" name="Line 5109"/>
            <p:cNvSpPr>
              <a:spLocks noChangeShapeType="1"/>
            </p:cNvSpPr>
            <p:nvPr/>
          </p:nvSpPr>
          <p:spPr bwMode="auto">
            <a:xfrm>
              <a:off x="2245" y="1728"/>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7" name="Freeform 5110"/>
            <p:cNvSpPr>
              <a:spLocks/>
            </p:cNvSpPr>
            <p:nvPr/>
          </p:nvSpPr>
          <p:spPr bwMode="auto">
            <a:xfrm>
              <a:off x="2245" y="1728"/>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8" name="Freeform 5111"/>
            <p:cNvSpPr>
              <a:spLocks/>
            </p:cNvSpPr>
            <p:nvPr/>
          </p:nvSpPr>
          <p:spPr bwMode="auto">
            <a:xfrm>
              <a:off x="2245" y="1728"/>
              <a:ext cx="27" cy="28"/>
            </a:xfrm>
            <a:custGeom>
              <a:avLst/>
              <a:gdLst>
                <a:gd name="T0" fmla="*/ 0 w 27"/>
                <a:gd name="T1" fmla="*/ 0 h 28"/>
                <a:gd name="T2" fmla="*/ 26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26" y="0"/>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19" name="Freeform 5112"/>
            <p:cNvSpPr>
              <a:spLocks/>
            </p:cNvSpPr>
            <p:nvPr/>
          </p:nvSpPr>
          <p:spPr bwMode="auto">
            <a:xfrm>
              <a:off x="2254" y="1728"/>
              <a:ext cx="29" cy="28"/>
            </a:xfrm>
            <a:custGeom>
              <a:avLst/>
              <a:gdLst>
                <a:gd name="T0" fmla="*/ 0 w 29"/>
                <a:gd name="T1" fmla="*/ 0 h 28"/>
                <a:gd name="T2" fmla="*/ 0 w 29"/>
                <a:gd name="T3" fmla="*/ 0 h 28"/>
                <a:gd name="T4" fmla="*/ 28 w 29"/>
                <a:gd name="T5" fmla="*/ 27 h 28"/>
                <a:gd name="T6" fmla="*/ 0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0"/>
                  </a:moveTo>
                  <a:lnTo>
                    <a:pt x="0" y="0"/>
                  </a:lnTo>
                  <a:lnTo>
                    <a:pt x="28"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0" name="Line 5113"/>
            <p:cNvSpPr>
              <a:spLocks noChangeShapeType="1"/>
            </p:cNvSpPr>
            <p:nvPr/>
          </p:nvSpPr>
          <p:spPr bwMode="auto">
            <a:xfrm>
              <a:off x="2254" y="1728"/>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1" name="Freeform 5114"/>
            <p:cNvSpPr>
              <a:spLocks/>
            </p:cNvSpPr>
            <p:nvPr/>
          </p:nvSpPr>
          <p:spPr bwMode="auto">
            <a:xfrm>
              <a:off x="2254" y="1728"/>
              <a:ext cx="29" cy="28"/>
            </a:xfrm>
            <a:custGeom>
              <a:avLst/>
              <a:gdLst>
                <a:gd name="T0" fmla="*/ 28 w 29"/>
                <a:gd name="T1" fmla="*/ 27 h 28"/>
                <a:gd name="T2" fmla="*/ 0 w 29"/>
                <a:gd name="T3" fmla="*/ 0 h 28"/>
                <a:gd name="T4" fmla="*/ 0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0" y="27"/>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2" name="Freeform 5115"/>
            <p:cNvSpPr>
              <a:spLocks/>
            </p:cNvSpPr>
            <p:nvPr/>
          </p:nvSpPr>
          <p:spPr bwMode="auto">
            <a:xfrm>
              <a:off x="2254" y="1728"/>
              <a:ext cx="29" cy="28"/>
            </a:xfrm>
            <a:custGeom>
              <a:avLst/>
              <a:gdLst>
                <a:gd name="T0" fmla="*/ 28 w 29"/>
                <a:gd name="T1" fmla="*/ 27 h 28"/>
                <a:gd name="T2" fmla="*/ 28 w 29"/>
                <a:gd name="T3" fmla="*/ 12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12"/>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3" name="Freeform 5116"/>
            <p:cNvSpPr>
              <a:spLocks/>
            </p:cNvSpPr>
            <p:nvPr/>
          </p:nvSpPr>
          <p:spPr bwMode="auto">
            <a:xfrm>
              <a:off x="2267" y="1734"/>
              <a:ext cx="26" cy="28"/>
            </a:xfrm>
            <a:custGeom>
              <a:avLst/>
              <a:gdLst>
                <a:gd name="T0" fmla="*/ 25 w 26"/>
                <a:gd name="T1" fmla="*/ 0 h 28"/>
                <a:gd name="T2" fmla="*/ 0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0"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4" name="Freeform 5117"/>
            <p:cNvSpPr>
              <a:spLocks/>
            </p:cNvSpPr>
            <p:nvPr/>
          </p:nvSpPr>
          <p:spPr bwMode="auto">
            <a:xfrm>
              <a:off x="2267" y="1734"/>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5" name="Freeform 5118"/>
            <p:cNvSpPr>
              <a:spLocks/>
            </p:cNvSpPr>
            <p:nvPr/>
          </p:nvSpPr>
          <p:spPr bwMode="auto">
            <a:xfrm>
              <a:off x="2262" y="1734"/>
              <a:ext cx="25" cy="28"/>
            </a:xfrm>
            <a:custGeom>
              <a:avLst/>
              <a:gdLst>
                <a:gd name="T0" fmla="*/ 24 w 25"/>
                <a:gd name="T1" fmla="*/ 27 h 28"/>
                <a:gd name="T2" fmla="*/ 24 w 25"/>
                <a:gd name="T3" fmla="*/ 0 h 28"/>
                <a:gd name="T4" fmla="*/ 0 w 25"/>
                <a:gd name="T5" fmla="*/ 15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15"/>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6" name="Freeform 5119"/>
            <p:cNvSpPr>
              <a:spLocks/>
            </p:cNvSpPr>
            <p:nvPr/>
          </p:nvSpPr>
          <p:spPr bwMode="auto">
            <a:xfrm>
              <a:off x="2275" y="1734"/>
              <a:ext cx="25" cy="28"/>
            </a:xfrm>
            <a:custGeom>
              <a:avLst/>
              <a:gdLst>
                <a:gd name="T0" fmla="*/ 0 w 25"/>
                <a:gd name="T1" fmla="*/ 27 h 28"/>
                <a:gd name="T2" fmla="*/ 24 w 25"/>
                <a:gd name="T3" fmla="*/ 15 h 28"/>
                <a:gd name="T4" fmla="*/ 0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24" y="15"/>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7" name="Freeform 5120"/>
            <p:cNvSpPr>
              <a:spLocks/>
            </p:cNvSpPr>
            <p:nvPr/>
          </p:nvSpPr>
          <p:spPr bwMode="auto">
            <a:xfrm>
              <a:off x="2282" y="1742"/>
              <a:ext cx="24" cy="28"/>
            </a:xfrm>
            <a:custGeom>
              <a:avLst/>
              <a:gdLst>
                <a:gd name="T0" fmla="*/ 23 w 24"/>
                <a:gd name="T1" fmla="*/ 0 h 28"/>
                <a:gd name="T2" fmla="*/ 0 w 24"/>
                <a:gd name="T3" fmla="*/ 0 h 28"/>
                <a:gd name="T4" fmla="*/ 0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0"/>
                  </a:lnTo>
                  <a:lnTo>
                    <a:pt x="0" y="27"/>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8" name="Freeform 5121"/>
            <p:cNvSpPr>
              <a:spLocks/>
            </p:cNvSpPr>
            <p:nvPr/>
          </p:nvSpPr>
          <p:spPr bwMode="auto">
            <a:xfrm>
              <a:off x="2282" y="1742"/>
              <a:ext cx="24" cy="1"/>
            </a:xfrm>
            <a:custGeom>
              <a:avLst/>
              <a:gdLst>
                <a:gd name="T0" fmla="*/ 23 w 24"/>
                <a:gd name="T1" fmla="*/ 0 h 1"/>
                <a:gd name="T2" fmla="*/ 23 w 24"/>
                <a:gd name="T3" fmla="*/ 0 h 1"/>
                <a:gd name="T4" fmla="*/ 0 w 24"/>
                <a:gd name="T5" fmla="*/ 0 h 1"/>
                <a:gd name="T6" fmla="*/ 23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23" y="0"/>
                  </a:moveTo>
                  <a:lnTo>
                    <a:pt x="23" y="0"/>
                  </a:lnTo>
                  <a:lnTo>
                    <a:pt x="0" y="0"/>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29" name="Freeform 5122"/>
            <p:cNvSpPr>
              <a:spLocks/>
            </p:cNvSpPr>
            <p:nvPr/>
          </p:nvSpPr>
          <p:spPr bwMode="auto">
            <a:xfrm>
              <a:off x="2275" y="1742"/>
              <a:ext cx="25" cy="28"/>
            </a:xfrm>
            <a:custGeom>
              <a:avLst/>
              <a:gdLst>
                <a:gd name="T0" fmla="*/ 24 w 25"/>
                <a:gd name="T1" fmla="*/ 27 h 28"/>
                <a:gd name="T2" fmla="*/ 24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8"/>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0" name="Freeform 5123"/>
            <p:cNvSpPr>
              <a:spLocks/>
            </p:cNvSpPr>
            <p:nvPr/>
          </p:nvSpPr>
          <p:spPr bwMode="auto">
            <a:xfrm>
              <a:off x="2286" y="1742"/>
              <a:ext cx="28" cy="28"/>
            </a:xfrm>
            <a:custGeom>
              <a:avLst/>
              <a:gdLst>
                <a:gd name="T0" fmla="*/ 0 w 28"/>
                <a:gd name="T1" fmla="*/ 27 h 28"/>
                <a:gd name="T2" fmla="*/ 27 w 28"/>
                <a:gd name="T3" fmla="*/ 8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8"/>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1" name="Freeform 5124"/>
            <p:cNvSpPr>
              <a:spLocks/>
            </p:cNvSpPr>
            <p:nvPr/>
          </p:nvSpPr>
          <p:spPr bwMode="auto">
            <a:xfrm>
              <a:off x="2292" y="1749"/>
              <a:ext cx="26" cy="28"/>
            </a:xfrm>
            <a:custGeom>
              <a:avLst/>
              <a:gdLst>
                <a:gd name="T0" fmla="*/ 25 w 26"/>
                <a:gd name="T1" fmla="*/ 12 h 28"/>
                <a:gd name="T2" fmla="*/ 25 w 26"/>
                <a:gd name="T3" fmla="*/ 0 h 28"/>
                <a:gd name="T4" fmla="*/ 0 w 26"/>
                <a:gd name="T5" fmla="*/ 27 h 28"/>
                <a:gd name="T6" fmla="*/ 25 w 26"/>
                <a:gd name="T7" fmla="*/ 12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2"/>
                  </a:moveTo>
                  <a:lnTo>
                    <a:pt x="25" y="0"/>
                  </a:lnTo>
                  <a:lnTo>
                    <a:pt x="0" y="27"/>
                  </a:lnTo>
                  <a:lnTo>
                    <a:pt x="25"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2" name="Freeform 5125"/>
            <p:cNvSpPr>
              <a:spLocks/>
            </p:cNvSpPr>
            <p:nvPr/>
          </p:nvSpPr>
          <p:spPr bwMode="auto">
            <a:xfrm>
              <a:off x="2299" y="174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3" name="Freeform 5126"/>
            <p:cNvSpPr>
              <a:spLocks/>
            </p:cNvSpPr>
            <p:nvPr/>
          </p:nvSpPr>
          <p:spPr bwMode="auto">
            <a:xfrm>
              <a:off x="2286" y="1755"/>
              <a:ext cx="28" cy="28"/>
            </a:xfrm>
            <a:custGeom>
              <a:avLst/>
              <a:gdLst>
                <a:gd name="T0" fmla="*/ 27 w 28"/>
                <a:gd name="T1" fmla="*/ 27 h 28"/>
                <a:gd name="T2" fmla="*/ 27 w 28"/>
                <a:gd name="T3" fmla="*/ 0 h 28"/>
                <a:gd name="T4" fmla="*/ 0 w 28"/>
                <a:gd name="T5" fmla="*/ 10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27" y="0"/>
                  </a:lnTo>
                  <a:lnTo>
                    <a:pt x="0" y="10"/>
                  </a:lnTo>
                  <a:lnTo>
                    <a:pt x="27"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4" name="Freeform 5127"/>
            <p:cNvSpPr>
              <a:spLocks/>
            </p:cNvSpPr>
            <p:nvPr/>
          </p:nvSpPr>
          <p:spPr bwMode="auto">
            <a:xfrm>
              <a:off x="2299" y="1755"/>
              <a:ext cx="26" cy="28"/>
            </a:xfrm>
            <a:custGeom>
              <a:avLst/>
              <a:gdLst>
                <a:gd name="T0" fmla="*/ 0 w 26"/>
                <a:gd name="T1" fmla="*/ 27 h 28"/>
                <a:gd name="T2" fmla="*/ 25 w 26"/>
                <a:gd name="T3" fmla="*/ 18 h 28"/>
                <a:gd name="T4" fmla="*/ 0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18"/>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5" name="Freeform 5128"/>
            <p:cNvSpPr>
              <a:spLocks/>
            </p:cNvSpPr>
            <p:nvPr/>
          </p:nvSpPr>
          <p:spPr bwMode="auto">
            <a:xfrm>
              <a:off x="2305" y="1771"/>
              <a:ext cx="26" cy="27"/>
            </a:xfrm>
            <a:custGeom>
              <a:avLst/>
              <a:gdLst>
                <a:gd name="T0" fmla="*/ 25 w 26"/>
                <a:gd name="T1" fmla="*/ 0 h 27"/>
                <a:gd name="T2" fmla="*/ 25 w 26"/>
                <a:gd name="T3" fmla="*/ 0 h 27"/>
                <a:gd name="T4" fmla="*/ 0 w 26"/>
                <a:gd name="T5" fmla="*/ 26 h 27"/>
                <a:gd name="T6" fmla="*/ 25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0"/>
                  </a:moveTo>
                  <a:lnTo>
                    <a:pt x="25" y="0"/>
                  </a:lnTo>
                  <a:lnTo>
                    <a:pt x="0" y="26"/>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6" name="Line 5129"/>
            <p:cNvSpPr>
              <a:spLocks noChangeShapeType="1"/>
            </p:cNvSpPr>
            <p:nvPr/>
          </p:nvSpPr>
          <p:spPr bwMode="auto">
            <a:xfrm>
              <a:off x="2313" y="1771"/>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7" name="Freeform 5130"/>
            <p:cNvSpPr>
              <a:spLocks/>
            </p:cNvSpPr>
            <p:nvPr/>
          </p:nvSpPr>
          <p:spPr bwMode="auto">
            <a:xfrm>
              <a:off x="2299" y="1771"/>
              <a:ext cx="26" cy="27"/>
            </a:xfrm>
            <a:custGeom>
              <a:avLst/>
              <a:gdLst>
                <a:gd name="T0" fmla="*/ 25 w 26"/>
                <a:gd name="T1" fmla="*/ 26 h 27"/>
                <a:gd name="T2" fmla="*/ 25 w 26"/>
                <a:gd name="T3" fmla="*/ 0 h 27"/>
                <a:gd name="T4" fmla="*/ 0 w 26"/>
                <a:gd name="T5" fmla="*/ 8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0"/>
                  </a:lnTo>
                  <a:lnTo>
                    <a:pt x="0" y="8"/>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8" name="Freeform 5131"/>
            <p:cNvSpPr>
              <a:spLocks/>
            </p:cNvSpPr>
            <p:nvPr/>
          </p:nvSpPr>
          <p:spPr bwMode="auto">
            <a:xfrm>
              <a:off x="2313" y="1771"/>
              <a:ext cx="25" cy="27"/>
            </a:xfrm>
            <a:custGeom>
              <a:avLst/>
              <a:gdLst>
                <a:gd name="T0" fmla="*/ 0 w 25"/>
                <a:gd name="T1" fmla="*/ 26 h 27"/>
                <a:gd name="T2" fmla="*/ 24 w 25"/>
                <a:gd name="T3" fmla="*/ 18 h 27"/>
                <a:gd name="T4" fmla="*/ 0 w 25"/>
                <a:gd name="T5" fmla="*/ 0 h 27"/>
                <a:gd name="T6" fmla="*/ 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26"/>
                  </a:moveTo>
                  <a:lnTo>
                    <a:pt x="24" y="18"/>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39" name="Freeform 5132"/>
            <p:cNvSpPr>
              <a:spLocks/>
            </p:cNvSpPr>
            <p:nvPr/>
          </p:nvSpPr>
          <p:spPr bwMode="auto">
            <a:xfrm>
              <a:off x="2317" y="1785"/>
              <a:ext cx="27" cy="28"/>
            </a:xfrm>
            <a:custGeom>
              <a:avLst/>
              <a:gdLst>
                <a:gd name="T0" fmla="*/ 26 w 27"/>
                <a:gd name="T1" fmla="*/ 0 h 28"/>
                <a:gd name="T2" fmla="*/ 0 w 27"/>
                <a:gd name="T3" fmla="*/ 0 h 28"/>
                <a:gd name="T4" fmla="*/ 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0"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0" name="Freeform 5133"/>
            <p:cNvSpPr>
              <a:spLocks/>
            </p:cNvSpPr>
            <p:nvPr/>
          </p:nvSpPr>
          <p:spPr bwMode="auto">
            <a:xfrm>
              <a:off x="2317" y="1785"/>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1" name="Freeform 5134"/>
            <p:cNvSpPr>
              <a:spLocks/>
            </p:cNvSpPr>
            <p:nvPr/>
          </p:nvSpPr>
          <p:spPr bwMode="auto">
            <a:xfrm>
              <a:off x="2313" y="1785"/>
              <a:ext cx="25" cy="29"/>
            </a:xfrm>
            <a:custGeom>
              <a:avLst/>
              <a:gdLst>
                <a:gd name="T0" fmla="*/ 24 w 25"/>
                <a:gd name="T1" fmla="*/ 28 h 29"/>
                <a:gd name="T2" fmla="*/ 24 w 25"/>
                <a:gd name="T3" fmla="*/ 0 h 29"/>
                <a:gd name="T4" fmla="*/ 0 w 25"/>
                <a:gd name="T5" fmla="*/ 6 h 29"/>
                <a:gd name="T6" fmla="*/ 24 w 25"/>
                <a:gd name="T7" fmla="*/ 28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28"/>
                  </a:moveTo>
                  <a:lnTo>
                    <a:pt x="24" y="0"/>
                  </a:lnTo>
                  <a:lnTo>
                    <a:pt x="0" y="6"/>
                  </a:lnTo>
                  <a:lnTo>
                    <a:pt x="24"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2" name="Freeform 5135"/>
            <p:cNvSpPr>
              <a:spLocks/>
            </p:cNvSpPr>
            <p:nvPr/>
          </p:nvSpPr>
          <p:spPr bwMode="auto">
            <a:xfrm>
              <a:off x="2324" y="1785"/>
              <a:ext cx="24" cy="29"/>
            </a:xfrm>
            <a:custGeom>
              <a:avLst/>
              <a:gdLst>
                <a:gd name="T0" fmla="*/ 0 w 24"/>
                <a:gd name="T1" fmla="*/ 28 h 29"/>
                <a:gd name="T2" fmla="*/ 23 w 24"/>
                <a:gd name="T3" fmla="*/ 21 h 29"/>
                <a:gd name="T4" fmla="*/ 0 w 24"/>
                <a:gd name="T5" fmla="*/ 0 h 29"/>
                <a:gd name="T6" fmla="*/ 0 w 24"/>
                <a:gd name="T7" fmla="*/ 28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28"/>
                  </a:moveTo>
                  <a:lnTo>
                    <a:pt x="23" y="21"/>
                  </a:lnTo>
                  <a:lnTo>
                    <a:pt x="0" y="0"/>
                  </a:lnTo>
                  <a:lnTo>
                    <a:pt x="0"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3" name="Freeform 5136"/>
            <p:cNvSpPr>
              <a:spLocks/>
            </p:cNvSpPr>
            <p:nvPr/>
          </p:nvSpPr>
          <p:spPr bwMode="auto">
            <a:xfrm>
              <a:off x="2330" y="1807"/>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4" name="Line 5137"/>
            <p:cNvSpPr>
              <a:spLocks noChangeShapeType="1"/>
            </p:cNvSpPr>
            <p:nvPr/>
          </p:nvSpPr>
          <p:spPr bwMode="auto">
            <a:xfrm>
              <a:off x="2330" y="180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5" name="Freeform 5138"/>
            <p:cNvSpPr>
              <a:spLocks/>
            </p:cNvSpPr>
            <p:nvPr/>
          </p:nvSpPr>
          <p:spPr bwMode="auto">
            <a:xfrm>
              <a:off x="2324" y="1807"/>
              <a:ext cx="24" cy="29"/>
            </a:xfrm>
            <a:custGeom>
              <a:avLst/>
              <a:gdLst>
                <a:gd name="T0" fmla="*/ 0 w 24"/>
                <a:gd name="T1" fmla="*/ 6 h 29"/>
                <a:gd name="T2" fmla="*/ 12 w 24"/>
                <a:gd name="T3" fmla="*/ 0 h 29"/>
                <a:gd name="T4" fmla="*/ 23 w 24"/>
                <a:gd name="T5" fmla="*/ 28 h 29"/>
                <a:gd name="T6" fmla="*/ 0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6"/>
                  </a:moveTo>
                  <a:lnTo>
                    <a:pt x="12" y="0"/>
                  </a:lnTo>
                  <a:lnTo>
                    <a:pt x="23" y="28"/>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6" name="Freeform 5139"/>
            <p:cNvSpPr>
              <a:spLocks/>
            </p:cNvSpPr>
            <p:nvPr/>
          </p:nvSpPr>
          <p:spPr bwMode="auto">
            <a:xfrm>
              <a:off x="2330" y="1807"/>
              <a:ext cx="26" cy="29"/>
            </a:xfrm>
            <a:custGeom>
              <a:avLst/>
              <a:gdLst>
                <a:gd name="T0" fmla="*/ 12 w 26"/>
                <a:gd name="T1" fmla="*/ 28 h 29"/>
                <a:gd name="T2" fmla="*/ 25 w 26"/>
                <a:gd name="T3" fmla="*/ 21 h 29"/>
                <a:gd name="T4" fmla="*/ 0 w 26"/>
                <a:gd name="T5" fmla="*/ 0 h 29"/>
                <a:gd name="T6" fmla="*/ 12 w 26"/>
                <a:gd name="T7" fmla="*/ 28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12" y="28"/>
                  </a:moveTo>
                  <a:lnTo>
                    <a:pt x="25" y="21"/>
                  </a:lnTo>
                  <a:lnTo>
                    <a:pt x="0" y="0"/>
                  </a:lnTo>
                  <a:lnTo>
                    <a:pt x="12"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7" name="Freeform 5140"/>
            <p:cNvSpPr>
              <a:spLocks/>
            </p:cNvSpPr>
            <p:nvPr/>
          </p:nvSpPr>
          <p:spPr bwMode="auto">
            <a:xfrm>
              <a:off x="2341" y="1828"/>
              <a:ext cx="1" cy="27"/>
            </a:xfrm>
            <a:custGeom>
              <a:avLst/>
              <a:gdLst>
                <a:gd name="T0" fmla="*/ 0 w 1"/>
                <a:gd name="T1" fmla="*/ 0 h 27"/>
                <a:gd name="T2" fmla="*/ 0 w 1"/>
                <a:gd name="T3" fmla="*/ 0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0"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8" name="Line 5141"/>
            <p:cNvSpPr>
              <a:spLocks noChangeShapeType="1"/>
            </p:cNvSpPr>
            <p:nvPr/>
          </p:nvSpPr>
          <p:spPr bwMode="auto">
            <a:xfrm>
              <a:off x="2341" y="1828"/>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49" name="Freeform 5142"/>
            <p:cNvSpPr>
              <a:spLocks/>
            </p:cNvSpPr>
            <p:nvPr/>
          </p:nvSpPr>
          <p:spPr bwMode="auto">
            <a:xfrm>
              <a:off x="2337" y="1828"/>
              <a:ext cx="26" cy="37"/>
            </a:xfrm>
            <a:custGeom>
              <a:avLst/>
              <a:gdLst>
                <a:gd name="T0" fmla="*/ 0 w 26"/>
                <a:gd name="T1" fmla="*/ 6 h 37"/>
                <a:gd name="T2" fmla="*/ 11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11" y="0"/>
                  </a:lnTo>
                  <a:lnTo>
                    <a:pt x="25"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0" name="Freeform 5143"/>
            <p:cNvSpPr>
              <a:spLocks/>
            </p:cNvSpPr>
            <p:nvPr/>
          </p:nvSpPr>
          <p:spPr bwMode="auto">
            <a:xfrm>
              <a:off x="2341" y="1828"/>
              <a:ext cx="25" cy="37"/>
            </a:xfrm>
            <a:custGeom>
              <a:avLst/>
              <a:gdLst>
                <a:gd name="T0" fmla="*/ 13 w 25"/>
                <a:gd name="T1" fmla="*/ 36 h 37"/>
                <a:gd name="T2" fmla="*/ 24 w 25"/>
                <a:gd name="T3" fmla="*/ 27 h 37"/>
                <a:gd name="T4" fmla="*/ 0 w 25"/>
                <a:gd name="T5" fmla="*/ 0 h 37"/>
                <a:gd name="T6" fmla="*/ 13 w 25"/>
                <a:gd name="T7" fmla="*/ 3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13" y="36"/>
                  </a:moveTo>
                  <a:lnTo>
                    <a:pt x="24" y="27"/>
                  </a:lnTo>
                  <a:lnTo>
                    <a:pt x="0" y="0"/>
                  </a:lnTo>
                  <a:lnTo>
                    <a:pt x="13"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1" name="Freeform 5144"/>
            <p:cNvSpPr>
              <a:spLocks/>
            </p:cNvSpPr>
            <p:nvPr/>
          </p:nvSpPr>
          <p:spPr bwMode="auto">
            <a:xfrm>
              <a:off x="2355" y="185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2" name="Line 5145"/>
            <p:cNvSpPr>
              <a:spLocks noChangeShapeType="1"/>
            </p:cNvSpPr>
            <p:nvPr/>
          </p:nvSpPr>
          <p:spPr bwMode="auto">
            <a:xfrm>
              <a:off x="2355" y="1856"/>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3" name="Freeform 5146"/>
            <p:cNvSpPr>
              <a:spLocks/>
            </p:cNvSpPr>
            <p:nvPr/>
          </p:nvSpPr>
          <p:spPr bwMode="auto">
            <a:xfrm>
              <a:off x="2347" y="1856"/>
              <a:ext cx="29" cy="37"/>
            </a:xfrm>
            <a:custGeom>
              <a:avLst/>
              <a:gdLst>
                <a:gd name="T0" fmla="*/ 0 w 29"/>
                <a:gd name="T1" fmla="*/ 8 h 37"/>
                <a:gd name="T2" fmla="*/ 28 w 29"/>
                <a:gd name="T3" fmla="*/ 0 h 37"/>
                <a:gd name="T4" fmla="*/ 28 w 29"/>
                <a:gd name="T5" fmla="*/ 36 h 37"/>
                <a:gd name="T6" fmla="*/ 0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8"/>
                  </a:moveTo>
                  <a:lnTo>
                    <a:pt x="28" y="0"/>
                  </a:lnTo>
                  <a:lnTo>
                    <a:pt x="28" y="36"/>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4" name="Freeform 5147"/>
            <p:cNvSpPr>
              <a:spLocks/>
            </p:cNvSpPr>
            <p:nvPr/>
          </p:nvSpPr>
          <p:spPr bwMode="auto">
            <a:xfrm>
              <a:off x="2355" y="1856"/>
              <a:ext cx="24" cy="37"/>
            </a:xfrm>
            <a:custGeom>
              <a:avLst/>
              <a:gdLst>
                <a:gd name="T0" fmla="*/ 0 w 24"/>
                <a:gd name="T1" fmla="*/ 36 h 37"/>
                <a:gd name="T2" fmla="*/ 23 w 24"/>
                <a:gd name="T3" fmla="*/ 29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29"/>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5" name="Freeform 5148"/>
            <p:cNvSpPr>
              <a:spLocks/>
            </p:cNvSpPr>
            <p:nvPr/>
          </p:nvSpPr>
          <p:spPr bwMode="auto">
            <a:xfrm>
              <a:off x="2367" y="188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6" name="Line 5149"/>
            <p:cNvSpPr>
              <a:spLocks noChangeShapeType="1"/>
            </p:cNvSpPr>
            <p:nvPr/>
          </p:nvSpPr>
          <p:spPr bwMode="auto">
            <a:xfrm>
              <a:off x="2367" y="1886"/>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7" name="Freeform 5150"/>
            <p:cNvSpPr>
              <a:spLocks/>
            </p:cNvSpPr>
            <p:nvPr/>
          </p:nvSpPr>
          <p:spPr bwMode="auto">
            <a:xfrm>
              <a:off x="2355" y="1886"/>
              <a:ext cx="24" cy="34"/>
            </a:xfrm>
            <a:custGeom>
              <a:avLst/>
              <a:gdLst>
                <a:gd name="T0" fmla="*/ 0 w 24"/>
                <a:gd name="T1" fmla="*/ 6 h 34"/>
                <a:gd name="T2" fmla="*/ 23 w 24"/>
                <a:gd name="T3" fmla="*/ 0 h 34"/>
                <a:gd name="T4" fmla="*/ 23 w 24"/>
                <a:gd name="T5" fmla="*/ 33 h 34"/>
                <a:gd name="T6" fmla="*/ 0 w 24"/>
                <a:gd name="T7" fmla="*/ 6 h 34"/>
                <a:gd name="T8" fmla="*/ 0 60000 65536"/>
                <a:gd name="T9" fmla="*/ 0 60000 65536"/>
                <a:gd name="T10" fmla="*/ 0 60000 65536"/>
                <a:gd name="T11" fmla="*/ 0 60000 65536"/>
                <a:gd name="T12" fmla="*/ 0 w 24"/>
                <a:gd name="T13" fmla="*/ 0 h 34"/>
                <a:gd name="T14" fmla="*/ 24 w 24"/>
                <a:gd name="T15" fmla="*/ 34 h 34"/>
              </a:gdLst>
              <a:ahLst/>
              <a:cxnLst>
                <a:cxn ang="T8">
                  <a:pos x="T0" y="T1"/>
                </a:cxn>
                <a:cxn ang="T9">
                  <a:pos x="T2" y="T3"/>
                </a:cxn>
                <a:cxn ang="T10">
                  <a:pos x="T4" y="T5"/>
                </a:cxn>
                <a:cxn ang="T11">
                  <a:pos x="T6" y="T7"/>
                </a:cxn>
              </a:cxnLst>
              <a:rect l="T12" t="T13" r="T14" b="T15"/>
              <a:pathLst>
                <a:path w="24" h="34">
                  <a:moveTo>
                    <a:pt x="0" y="6"/>
                  </a:moveTo>
                  <a:lnTo>
                    <a:pt x="23" y="0"/>
                  </a:lnTo>
                  <a:lnTo>
                    <a:pt x="23" y="33"/>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8" name="Freeform 5151"/>
            <p:cNvSpPr>
              <a:spLocks/>
            </p:cNvSpPr>
            <p:nvPr/>
          </p:nvSpPr>
          <p:spPr bwMode="auto">
            <a:xfrm>
              <a:off x="2367" y="1886"/>
              <a:ext cx="27" cy="34"/>
            </a:xfrm>
            <a:custGeom>
              <a:avLst/>
              <a:gdLst>
                <a:gd name="T0" fmla="*/ 0 w 27"/>
                <a:gd name="T1" fmla="*/ 33 h 34"/>
                <a:gd name="T2" fmla="*/ 26 w 27"/>
                <a:gd name="T3" fmla="*/ 26 h 34"/>
                <a:gd name="T4" fmla="*/ 0 w 27"/>
                <a:gd name="T5" fmla="*/ 0 h 34"/>
                <a:gd name="T6" fmla="*/ 0 w 27"/>
                <a:gd name="T7" fmla="*/ 33 h 34"/>
                <a:gd name="T8" fmla="*/ 0 60000 65536"/>
                <a:gd name="T9" fmla="*/ 0 60000 65536"/>
                <a:gd name="T10" fmla="*/ 0 60000 65536"/>
                <a:gd name="T11" fmla="*/ 0 60000 65536"/>
                <a:gd name="T12" fmla="*/ 0 w 27"/>
                <a:gd name="T13" fmla="*/ 0 h 34"/>
                <a:gd name="T14" fmla="*/ 27 w 27"/>
                <a:gd name="T15" fmla="*/ 34 h 34"/>
              </a:gdLst>
              <a:ahLst/>
              <a:cxnLst>
                <a:cxn ang="T8">
                  <a:pos x="T0" y="T1"/>
                </a:cxn>
                <a:cxn ang="T9">
                  <a:pos x="T2" y="T3"/>
                </a:cxn>
                <a:cxn ang="T10">
                  <a:pos x="T4" y="T5"/>
                </a:cxn>
                <a:cxn ang="T11">
                  <a:pos x="T6" y="T7"/>
                </a:cxn>
              </a:cxnLst>
              <a:rect l="T12" t="T13" r="T14" b="T15"/>
              <a:pathLst>
                <a:path w="27" h="34">
                  <a:moveTo>
                    <a:pt x="0" y="33"/>
                  </a:moveTo>
                  <a:lnTo>
                    <a:pt x="26" y="26"/>
                  </a:lnTo>
                  <a:lnTo>
                    <a:pt x="0" y="0"/>
                  </a:lnTo>
                  <a:lnTo>
                    <a:pt x="0" y="3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59" name="Freeform 5152"/>
            <p:cNvSpPr>
              <a:spLocks/>
            </p:cNvSpPr>
            <p:nvPr/>
          </p:nvSpPr>
          <p:spPr bwMode="auto">
            <a:xfrm>
              <a:off x="2378" y="1913"/>
              <a:ext cx="1" cy="28"/>
            </a:xfrm>
            <a:custGeom>
              <a:avLst/>
              <a:gdLst>
                <a:gd name="T0" fmla="*/ 0 w 1"/>
                <a:gd name="T1" fmla="*/ 0 h 28"/>
                <a:gd name="T2" fmla="*/ 0 w 1"/>
                <a:gd name="T3" fmla="*/ 0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0" name="Line 5153"/>
            <p:cNvSpPr>
              <a:spLocks noChangeShapeType="1"/>
            </p:cNvSpPr>
            <p:nvPr/>
          </p:nvSpPr>
          <p:spPr bwMode="auto">
            <a:xfrm>
              <a:off x="2378" y="191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1" name="Freeform 5154"/>
            <p:cNvSpPr>
              <a:spLocks/>
            </p:cNvSpPr>
            <p:nvPr/>
          </p:nvSpPr>
          <p:spPr bwMode="auto">
            <a:xfrm>
              <a:off x="2367" y="1913"/>
              <a:ext cx="27" cy="37"/>
            </a:xfrm>
            <a:custGeom>
              <a:avLst/>
              <a:gdLst>
                <a:gd name="T0" fmla="*/ 0 w 27"/>
                <a:gd name="T1" fmla="*/ 6 h 37"/>
                <a:gd name="T2" fmla="*/ 26 w 27"/>
                <a:gd name="T3" fmla="*/ 0 h 37"/>
                <a:gd name="T4" fmla="*/ 26 w 27"/>
                <a:gd name="T5" fmla="*/ 36 h 37"/>
                <a:gd name="T6" fmla="*/ 0 w 27"/>
                <a:gd name="T7" fmla="*/ 6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0" y="6"/>
                  </a:moveTo>
                  <a:lnTo>
                    <a:pt x="26" y="0"/>
                  </a:lnTo>
                  <a:lnTo>
                    <a:pt x="26"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2" name="Freeform 5155"/>
            <p:cNvSpPr>
              <a:spLocks/>
            </p:cNvSpPr>
            <p:nvPr/>
          </p:nvSpPr>
          <p:spPr bwMode="auto">
            <a:xfrm>
              <a:off x="2378" y="19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3" name="Freeform 5156"/>
            <p:cNvSpPr>
              <a:spLocks/>
            </p:cNvSpPr>
            <p:nvPr/>
          </p:nvSpPr>
          <p:spPr bwMode="auto">
            <a:xfrm>
              <a:off x="2385" y="1941"/>
              <a:ext cx="29" cy="27"/>
            </a:xfrm>
            <a:custGeom>
              <a:avLst/>
              <a:gdLst>
                <a:gd name="T0" fmla="*/ 28 w 29"/>
                <a:gd name="T1" fmla="*/ 0 h 27"/>
                <a:gd name="T2" fmla="*/ 28 w 29"/>
                <a:gd name="T3" fmla="*/ 0 h 27"/>
                <a:gd name="T4" fmla="*/ 0 w 29"/>
                <a:gd name="T5" fmla="*/ 26 h 27"/>
                <a:gd name="T6" fmla="*/ 28 w 29"/>
                <a:gd name="T7" fmla="*/ 0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28" y="0"/>
                  </a:moveTo>
                  <a:lnTo>
                    <a:pt x="28" y="0"/>
                  </a:lnTo>
                  <a:lnTo>
                    <a:pt x="0" y="26"/>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4" name="Line 5157"/>
            <p:cNvSpPr>
              <a:spLocks noChangeShapeType="1"/>
            </p:cNvSpPr>
            <p:nvPr/>
          </p:nvSpPr>
          <p:spPr bwMode="auto">
            <a:xfrm>
              <a:off x="2393" y="194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5" name="Freeform 5158"/>
            <p:cNvSpPr>
              <a:spLocks/>
            </p:cNvSpPr>
            <p:nvPr/>
          </p:nvSpPr>
          <p:spPr bwMode="auto">
            <a:xfrm>
              <a:off x="2378" y="1941"/>
              <a:ext cx="26" cy="37"/>
            </a:xfrm>
            <a:custGeom>
              <a:avLst/>
              <a:gdLst>
                <a:gd name="T0" fmla="*/ 0 w 26"/>
                <a:gd name="T1" fmla="*/ 8 h 37"/>
                <a:gd name="T2" fmla="*/ 25 w 26"/>
                <a:gd name="T3" fmla="*/ 0 h 37"/>
                <a:gd name="T4" fmla="*/ 25 w 26"/>
                <a:gd name="T5" fmla="*/ 36 h 37"/>
                <a:gd name="T6" fmla="*/ 0 w 26"/>
                <a:gd name="T7" fmla="*/ 8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8"/>
                  </a:moveTo>
                  <a:lnTo>
                    <a:pt x="25" y="0"/>
                  </a:lnTo>
                  <a:lnTo>
                    <a:pt x="25" y="36"/>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6" name="Freeform 5159"/>
            <p:cNvSpPr>
              <a:spLocks/>
            </p:cNvSpPr>
            <p:nvPr/>
          </p:nvSpPr>
          <p:spPr bwMode="auto">
            <a:xfrm>
              <a:off x="2393" y="1941"/>
              <a:ext cx="24" cy="37"/>
            </a:xfrm>
            <a:custGeom>
              <a:avLst/>
              <a:gdLst>
                <a:gd name="T0" fmla="*/ 0 w 24"/>
                <a:gd name="T1" fmla="*/ 36 h 37"/>
                <a:gd name="T2" fmla="*/ 23 w 24"/>
                <a:gd name="T3" fmla="*/ 36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36"/>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7" name="Freeform 5160"/>
            <p:cNvSpPr>
              <a:spLocks/>
            </p:cNvSpPr>
            <p:nvPr/>
          </p:nvSpPr>
          <p:spPr bwMode="auto">
            <a:xfrm>
              <a:off x="2398" y="1977"/>
              <a:ext cx="26" cy="28"/>
            </a:xfrm>
            <a:custGeom>
              <a:avLst/>
              <a:gdLst>
                <a:gd name="T0" fmla="*/ 25 w 26"/>
                <a:gd name="T1" fmla="*/ 0 h 28"/>
                <a:gd name="T2" fmla="*/ 25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25" y="0"/>
                  </a:lnTo>
                  <a:lnTo>
                    <a:pt x="0"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8" name="Line 5161"/>
            <p:cNvSpPr>
              <a:spLocks noChangeShapeType="1"/>
            </p:cNvSpPr>
            <p:nvPr/>
          </p:nvSpPr>
          <p:spPr bwMode="auto">
            <a:xfrm>
              <a:off x="2403" y="197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69" name="Freeform 5162"/>
            <p:cNvSpPr>
              <a:spLocks/>
            </p:cNvSpPr>
            <p:nvPr/>
          </p:nvSpPr>
          <p:spPr bwMode="auto">
            <a:xfrm>
              <a:off x="2393" y="1977"/>
              <a:ext cx="24" cy="36"/>
            </a:xfrm>
            <a:custGeom>
              <a:avLst/>
              <a:gdLst>
                <a:gd name="T0" fmla="*/ 0 w 24"/>
                <a:gd name="T1" fmla="*/ 0 h 36"/>
                <a:gd name="T2" fmla="*/ 23 w 24"/>
                <a:gd name="T3" fmla="*/ 0 h 36"/>
                <a:gd name="T4" fmla="*/ 23 w 24"/>
                <a:gd name="T5" fmla="*/ 35 h 36"/>
                <a:gd name="T6" fmla="*/ 0 w 24"/>
                <a:gd name="T7" fmla="*/ 0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0"/>
                  </a:moveTo>
                  <a:lnTo>
                    <a:pt x="23" y="0"/>
                  </a:lnTo>
                  <a:lnTo>
                    <a:pt x="23" y="3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0" name="Freeform 5163"/>
            <p:cNvSpPr>
              <a:spLocks/>
            </p:cNvSpPr>
            <p:nvPr/>
          </p:nvSpPr>
          <p:spPr bwMode="auto">
            <a:xfrm>
              <a:off x="2403" y="1977"/>
              <a:ext cx="29" cy="36"/>
            </a:xfrm>
            <a:custGeom>
              <a:avLst/>
              <a:gdLst>
                <a:gd name="T0" fmla="*/ 0 w 29"/>
                <a:gd name="T1" fmla="*/ 35 h 36"/>
                <a:gd name="T2" fmla="*/ 28 w 29"/>
                <a:gd name="T3" fmla="*/ 28 h 36"/>
                <a:gd name="T4" fmla="*/ 0 w 29"/>
                <a:gd name="T5" fmla="*/ 0 h 36"/>
                <a:gd name="T6" fmla="*/ 0 w 29"/>
                <a:gd name="T7" fmla="*/ 35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0" y="35"/>
                  </a:moveTo>
                  <a:lnTo>
                    <a:pt x="28"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1" name="Freeform 5164"/>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2" name="Freeform 5165"/>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3" name="Freeform 5166"/>
            <p:cNvSpPr>
              <a:spLocks/>
            </p:cNvSpPr>
            <p:nvPr/>
          </p:nvSpPr>
          <p:spPr bwMode="auto">
            <a:xfrm>
              <a:off x="2403" y="2007"/>
              <a:ext cx="29" cy="43"/>
            </a:xfrm>
            <a:custGeom>
              <a:avLst/>
              <a:gdLst>
                <a:gd name="T0" fmla="*/ 0 w 29"/>
                <a:gd name="T1" fmla="*/ 6 h 43"/>
                <a:gd name="T2" fmla="*/ 28 w 29"/>
                <a:gd name="T3" fmla="*/ 0 h 43"/>
                <a:gd name="T4" fmla="*/ 28 w 29"/>
                <a:gd name="T5" fmla="*/ 42 h 43"/>
                <a:gd name="T6" fmla="*/ 0 w 29"/>
                <a:gd name="T7" fmla="*/ 6 h 43"/>
                <a:gd name="T8" fmla="*/ 0 60000 65536"/>
                <a:gd name="T9" fmla="*/ 0 60000 65536"/>
                <a:gd name="T10" fmla="*/ 0 60000 65536"/>
                <a:gd name="T11" fmla="*/ 0 60000 65536"/>
                <a:gd name="T12" fmla="*/ 0 w 29"/>
                <a:gd name="T13" fmla="*/ 0 h 43"/>
                <a:gd name="T14" fmla="*/ 29 w 29"/>
                <a:gd name="T15" fmla="*/ 43 h 43"/>
              </a:gdLst>
              <a:ahLst/>
              <a:cxnLst>
                <a:cxn ang="T8">
                  <a:pos x="T0" y="T1"/>
                </a:cxn>
                <a:cxn ang="T9">
                  <a:pos x="T2" y="T3"/>
                </a:cxn>
                <a:cxn ang="T10">
                  <a:pos x="T4" y="T5"/>
                </a:cxn>
                <a:cxn ang="T11">
                  <a:pos x="T6" y="T7"/>
                </a:cxn>
              </a:cxnLst>
              <a:rect l="T12" t="T13" r="T14" b="T15"/>
              <a:pathLst>
                <a:path w="29" h="43">
                  <a:moveTo>
                    <a:pt x="0" y="6"/>
                  </a:moveTo>
                  <a:lnTo>
                    <a:pt x="28" y="0"/>
                  </a:lnTo>
                  <a:lnTo>
                    <a:pt x="28" y="42"/>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4" name="Freeform 5167"/>
            <p:cNvSpPr>
              <a:spLocks/>
            </p:cNvSpPr>
            <p:nvPr/>
          </p:nvSpPr>
          <p:spPr bwMode="auto">
            <a:xfrm>
              <a:off x="2416" y="2007"/>
              <a:ext cx="26" cy="43"/>
            </a:xfrm>
            <a:custGeom>
              <a:avLst/>
              <a:gdLst>
                <a:gd name="T0" fmla="*/ 0 w 26"/>
                <a:gd name="T1" fmla="*/ 42 h 43"/>
                <a:gd name="T2" fmla="*/ 25 w 26"/>
                <a:gd name="T3" fmla="*/ 33 h 43"/>
                <a:gd name="T4" fmla="*/ 0 w 26"/>
                <a:gd name="T5" fmla="*/ 0 h 43"/>
                <a:gd name="T6" fmla="*/ 0 w 26"/>
                <a:gd name="T7" fmla="*/ 42 h 43"/>
                <a:gd name="T8" fmla="*/ 0 60000 65536"/>
                <a:gd name="T9" fmla="*/ 0 60000 65536"/>
                <a:gd name="T10" fmla="*/ 0 60000 65536"/>
                <a:gd name="T11" fmla="*/ 0 60000 65536"/>
                <a:gd name="T12" fmla="*/ 0 w 26"/>
                <a:gd name="T13" fmla="*/ 0 h 43"/>
                <a:gd name="T14" fmla="*/ 26 w 26"/>
                <a:gd name="T15" fmla="*/ 43 h 43"/>
              </a:gdLst>
              <a:ahLst/>
              <a:cxnLst>
                <a:cxn ang="T8">
                  <a:pos x="T0" y="T1"/>
                </a:cxn>
                <a:cxn ang="T9">
                  <a:pos x="T2" y="T3"/>
                </a:cxn>
                <a:cxn ang="T10">
                  <a:pos x="T4" y="T5"/>
                </a:cxn>
                <a:cxn ang="T11">
                  <a:pos x="T6" y="T7"/>
                </a:cxn>
              </a:cxnLst>
              <a:rect l="T12" t="T13" r="T14" b="T15"/>
              <a:pathLst>
                <a:path w="26" h="43">
                  <a:moveTo>
                    <a:pt x="0" y="42"/>
                  </a:moveTo>
                  <a:lnTo>
                    <a:pt x="25" y="33"/>
                  </a:lnTo>
                  <a:lnTo>
                    <a:pt x="0" y="0"/>
                  </a:lnTo>
                  <a:lnTo>
                    <a:pt x="0" y="4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5" name="Freeform 5168"/>
            <p:cNvSpPr>
              <a:spLocks/>
            </p:cNvSpPr>
            <p:nvPr/>
          </p:nvSpPr>
          <p:spPr bwMode="auto">
            <a:xfrm>
              <a:off x="2423" y="2041"/>
              <a:ext cx="27" cy="27"/>
            </a:xfrm>
            <a:custGeom>
              <a:avLst/>
              <a:gdLst>
                <a:gd name="T0" fmla="*/ 26 w 27"/>
                <a:gd name="T1" fmla="*/ 0 h 27"/>
                <a:gd name="T2" fmla="*/ 26 w 27"/>
                <a:gd name="T3" fmla="*/ 0 h 27"/>
                <a:gd name="T4" fmla="*/ 0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26" y="0"/>
                  </a:lnTo>
                  <a:lnTo>
                    <a:pt x="0" y="26"/>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6" name="Line 5169"/>
            <p:cNvSpPr>
              <a:spLocks noChangeShapeType="1"/>
            </p:cNvSpPr>
            <p:nvPr/>
          </p:nvSpPr>
          <p:spPr bwMode="auto">
            <a:xfrm>
              <a:off x="2428" y="2041"/>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7" name="Freeform 5170"/>
            <p:cNvSpPr>
              <a:spLocks/>
            </p:cNvSpPr>
            <p:nvPr/>
          </p:nvSpPr>
          <p:spPr bwMode="auto">
            <a:xfrm>
              <a:off x="2416" y="20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8" name="Freeform 5171"/>
            <p:cNvSpPr>
              <a:spLocks/>
            </p:cNvSpPr>
            <p:nvPr/>
          </p:nvSpPr>
          <p:spPr bwMode="auto">
            <a:xfrm>
              <a:off x="2428" y="2041"/>
              <a:ext cx="26" cy="44"/>
            </a:xfrm>
            <a:custGeom>
              <a:avLst/>
              <a:gdLst>
                <a:gd name="T0" fmla="*/ 0 w 26"/>
                <a:gd name="T1" fmla="*/ 43 h 44"/>
                <a:gd name="T2" fmla="*/ 25 w 26"/>
                <a:gd name="T3" fmla="*/ 36 h 44"/>
                <a:gd name="T4" fmla="*/ 0 w 26"/>
                <a:gd name="T5" fmla="*/ 0 h 44"/>
                <a:gd name="T6" fmla="*/ 0 w 26"/>
                <a:gd name="T7" fmla="*/ 43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43"/>
                  </a:moveTo>
                  <a:lnTo>
                    <a:pt x="25" y="36"/>
                  </a:lnTo>
                  <a:lnTo>
                    <a:pt x="0" y="0"/>
                  </a:lnTo>
                  <a:lnTo>
                    <a:pt x="0" y="4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79" name="Freeform 5172"/>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0" name="Freeform 5173"/>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1" name="Freeform 5174"/>
            <p:cNvSpPr>
              <a:spLocks/>
            </p:cNvSpPr>
            <p:nvPr/>
          </p:nvSpPr>
          <p:spPr bwMode="auto">
            <a:xfrm>
              <a:off x="2428" y="2077"/>
              <a:ext cx="26" cy="37"/>
            </a:xfrm>
            <a:custGeom>
              <a:avLst/>
              <a:gdLst>
                <a:gd name="T0" fmla="*/ 0 w 26"/>
                <a:gd name="T1" fmla="*/ 6 h 37"/>
                <a:gd name="T2" fmla="*/ 25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25" y="0"/>
                  </a:lnTo>
                  <a:lnTo>
                    <a:pt x="25"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2" name="Freeform 5175"/>
            <p:cNvSpPr>
              <a:spLocks/>
            </p:cNvSpPr>
            <p:nvPr/>
          </p:nvSpPr>
          <p:spPr bwMode="auto">
            <a:xfrm>
              <a:off x="2441" y="2077"/>
              <a:ext cx="29" cy="37"/>
            </a:xfrm>
            <a:custGeom>
              <a:avLst/>
              <a:gdLst>
                <a:gd name="T0" fmla="*/ 0 w 29"/>
                <a:gd name="T1" fmla="*/ 36 h 37"/>
                <a:gd name="T2" fmla="*/ 28 w 29"/>
                <a:gd name="T3" fmla="*/ 36 h 37"/>
                <a:gd name="T4" fmla="*/ 0 w 29"/>
                <a:gd name="T5" fmla="*/ 0 h 37"/>
                <a:gd name="T6" fmla="*/ 0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36"/>
                  </a:moveTo>
                  <a:lnTo>
                    <a:pt x="28" y="36"/>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3" name="Freeform 5176"/>
            <p:cNvSpPr>
              <a:spLocks/>
            </p:cNvSpPr>
            <p:nvPr/>
          </p:nvSpPr>
          <p:spPr bwMode="auto">
            <a:xfrm>
              <a:off x="2441" y="2113"/>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4" name="Line 5177"/>
            <p:cNvSpPr>
              <a:spLocks noChangeShapeType="1"/>
            </p:cNvSpPr>
            <p:nvPr/>
          </p:nvSpPr>
          <p:spPr bwMode="auto">
            <a:xfrm>
              <a:off x="2441" y="211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5" name="Freeform 5178"/>
            <p:cNvSpPr>
              <a:spLocks/>
            </p:cNvSpPr>
            <p:nvPr/>
          </p:nvSpPr>
          <p:spPr bwMode="auto">
            <a:xfrm>
              <a:off x="2441" y="2113"/>
              <a:ext cx="29" cy="37"/>
            </a:xfrm>
            <a:custGeom>
              <a:avLst/>
              <a:gdLst>
                <a:gd name="T0" fmla="*/ 0 w 29"/>
                <a:gd name="T1" fmla="*/ 0 h 37"/>
                <a:gd name="T2" fmla="*/ 28 w 29"/>
                <a:gd name="T3" fmla="*/ 0 h 37"/>
                <a:gd name="T4" fmla="*/ 28 w 29"/>
                <a:gd name="T5" fmla="*/ 36 h 37"/>
                <a:gd name="T6" fmla="*/ 0 w 29"/>
                <a:gd name="T7" fmla="*/ 0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8" y="0"/>
                  </a:lnTo>
                  <a:lnTo>
                    <a:pt x="28" y="3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6" name="Freeform 5179"/>
            <p:cNvSpPr>
              <a:spLocks/>
            </p:cNvSpPr>
            <p:nvPr/>
          </p:nvSpPr>
          <p:spPr bwMode="auto">
            <a:xfrm>
              <a:off x="2454" y="21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7" name="Freeform 5180"/>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8" name="Freeform 5181"/>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89" name="Freeform 5182"/>
            <p:cNvSpPr>
              <a:spLocks/>
            </p:cNvSpPr>
            <p:nvPr/>
          </p:nvSpPr>
          <p:spPr bwMode="auto">
            <a:xfrm>
              <a:off x="2454" y="21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0" name="Freeform 5183"/>
            <p:cNvSpPr>
              <a:spLocks/>
            </p:cNvSpPr>
            <p:nvPr/>
          </p:nvSpPr>
          <p:spPr bwMode="auto">
            <a:xfrm>
              <a:off x="2469" y="2141"/>
              <a:ext cx="24" cy="44"/>
            </a:xfrm>
            <a:custGeom>
              <a:avLst/>
              <a:gdLst>
                <a:gd name="T0" fmla="*/ 0 w 24"/>
                <a:gd name="T1" fmla="*/ 43 h 44"/>
                <a:gd name="T2" fmla="*/ 23 w 24"/>
                <a:gd name="T3" fmla="*/ 36 h 44"/>
                <a:gd name="T4" fmla="*/ 0 w 24"/>
                <a:gd name="T5" fmla="*/ 0 h 44"/>
                <a:gd name="T6" fmla="*/ 0 w 24"/>
                <a:gd name="T7" fmla="*/ 43 h 44"/>
                <a:gd name="T8" fmla="*/ 0 60000 65536"/>
                <a:gd name="T9" fmla="*/ 0 60000 65536"/>
                <a:gd name="T10" fmla="*/ 0 60000 65536"/>
                <a:gd name="T11" fmla="*/ 0 60000 65536"/>
                <a:gd name="T12" fmla="*/ 0 w 24"/>
                <a:gd name="T13" fmla="*/ 0 h 44"/>
                <a:gd name="T14" fmla="*/ 24 w 24"/>
                <a:gd name="T15" fmla="*/ 44 h 44"/>
              </a:gdLst>
              <a:ahLst/>
              <a:cxnLst>
                <a:cxn ang="T8">
                  <a:pos x="T0" y="T1"/>
                </a:cxn>
                <a:cxn ang="T9">
                  <a:pos x="T2" y="T3"/>
                </a:cxn>
                <a:cxn ang="T10">
                  <a:pos x="T4" y="T5"/>
                </a:cxn>
                <a:cxn ang="T11">
                  <a:pos x="T6" y="T7"/>
                </a:cxn>
              </a:cxnLst>
              <a:rect l="T12" t="T13" r="T14" b="T15"/>
              <a:pathLst>
                <a:path w="24" h="44">
                  <a:moveTo>
                    <a:pt x="0" y="43"/>
                  </a:moveTo>
                  <a:lnTo>
                    <a:pt x="23" y="36"/>
                  </a:lnTo>
                  <a:lnTo>
                    <a:pt x="0" y="0"/>
                  </a:lnTo>
                  <a:lnTo>
                    <a:pt x="0" y="4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1" name="Freeform 5184"/>
            <p:cNvSpPr>
              <a:spLocks/>
            </p:cNvSpPr>
            <p:nvPr/>
          </p:nvSpPr>
          <p:spPr bwMode="auto">
            <a:xfrm>
              <a:off x="2469" y="218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2" name="Line 5185"/>
            <p:cNvSpPr>
              <a:spLocks noChangeShapeType="1"/>
            </p:cNvSpPr>
            <p:nvPr/>
          </p:nvSpPr>
          <p:spPr bwMode="auto">
            <a:xfrm>
              <a:off x="2469" y="2184"/>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3" name="Freeform 5186"/>
            <p:cNvSpPr>
              <a:spLocks/>
            </p:cNvSpPr>
            <p:nvPr/>
          </p:nvSpPr>
          <p:spPr bwMode="auto">
            <a:xfrm>
              <a:off x="2469" y="2176"/>
              <a:ext cx="24" cy="38"/>
            </a:xfrm>
            <a:custGeom>
              <a:avLst/>
              <a:gdLst>
                <a:gd name="T0" fmla="*/ 0 w 24"/>
                <a:gd name="T1" fmla="*/ 6 h 38"/>
                <a:gd name="T2" fmla="*/ 23 w 24"/>
                <a:gd name="T3" fmla="*/ 0 h 38"/>
                <a:gd name="T4" fmla="*/ 23 w 24"/>
                <a:gd name="T5" fmla="*/ 37 h 38"/>
                <a:gd name="T6" fmla="*/ 0 w 24"/>
                <a:gd name="T7" fmla="*/ 6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0" y="6"/>
                  </a:moveTo>
                  <a:lnTo>
                    <a:pt x="23" y="0"/>
                  </a:lnTo>
                  <a:lnTo>
                    <a:pt x="23" y="37"/>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4" name="Freeform 5187"/>
            <p:cNvSpPr>
              <a:spLocks/>
            </p:cNvSpPr>
            <p:nvPr/>
          </p:nvSpPr>
          <p:spPr bwMode="auto">
            <a:xfrm>
              <a:off x="2478" y="2176"/>
              <a:ext cx="26" cy="38"/>
            </a:xfrm>
            <a:custGeom>
              <a:avLst/>
              <a:gdLst>
                <a:gd name="T0" fmla="*/ 0 w 26"/>
                <a:gd name="T1" fmla="*/ 37 h 38"/>
                <a:gd name="T2" fmla="*/ 25 w 26"/>
                <a:gd name="T3" fmla="*/ 37 h 38"/>
                <a:gd name="T4" fmla="*/ 0 w 26"/>
                <a:gd name="T5" fmla="*/ 0 h 38"/>
                <a:gd name="T6" fmla="*/ 0 w 26"/>
                <a:gd name="T7" fmla="*/ 37 h 38"/>
                <a:gd name="T8" fmla="*/ 0 60000 65536"/>
                <a:gd name="T9" fmla="*/ 0 60000 65536"/>
                <a:gd name="T10" fmla="*/ 0 60000 65536"/>
                <a:gd name="T11" fmla="*/ 0 60000 65536"/>
                <a:gd name="T12" fmla="*/ 0 w 26"/>
                <a:gd name="T13" fmla="*/ 0 h 38"/>
                <a:gd name="T14" fmla="*/ 26 w 26"/>
                <a:gd name="T15" fmla="*/ 38 h 38"/>
              </a:gdLst>
              <a:ahLst/>
              <a:cxnLst>
                <a:cxn ang="T8">
                  <a:pos x="T0" y="T1"/>
                </a:cxn>
                <a:cxn ang="T9">
                  <a:pos x="T2" y="T3"/>
                </a:cxn>
                <a:cxn ang="T10">
                  <a:pos x="T4" y="T5"/>
                </a:cxn>
                <a:cxn ang="T11">
                  <a:pos x="T6" y="T7"/>
                </a:cxn>
              </a:cxnLst>
              <a:rect l="T12" t="T13" r="T14" b="T15"/>
              <a:pathLst>
                <a:path w="26" h="38">
                  <a:moveTo>
                    <a:pt x="0" y="37"/>
                  </a:moveTo>
                  <a:lnTo>
                    <a:pt x="25" y="37"/>
                  </a:lnTo>
                  <a:lnTo>
                    <a:pt x="0" y="0"/>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5" name="Freeform 5188"/>
            <p:cNvSpPr>
              <a:spLocks/>
            </p:cNvSpPr>
            <p:nvPr/>
          </p:nvSpPr>
          <p:spPr bwMode="auto">
            <a:xfrm>
              <a:off x="2478" y="2213"/>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6" name="Line 5189"/>
            <p:cNvSpPr>
              <a:spLocks noChangeShapeType="1"/>
            </p:cNvSpPr>
            <p:nvPr/>
          </p:nvSpPr>
          <p:spPr bwMode="auto">
            <a:xfrm>
              <a:off x="2478" y="221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7" name="Freeform 5190"/>
            <p:cNvSpPr>
              <a:spLocks/>
            </p:cNvSpPr>
            <p:nvPr/>
          </p:nvSpPr>
          <p:spPr bwMode="auto">
            <a:xfrm>
              <a:off x="2478" y="2213"/>
              <a:ext cx="26" cy="36"/>
            </a:xfrm>
            <a:custGeom>
              <a:avLst/>
              <a:gdLst>
                <a:gd name="T0" fmla="*/ 0 w 26"/>
                <a:gd name="T1" fmla="*/ 0 h 36"/>
                <a:gd name="T2" fmla="*/ 25 w 26"/>
                <a:gd name="T3" fmla="*/ 0 h 36"/>
                <a:gd name="T4" fmla="*/ 25 w 26"/>
                <a:gd name="T5" fmla="*/ 35 h 36"/>
                <a:gd name="T6" fmla="*/ 0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0"/>
                  </a:moveTo>
                  <a:lnTo>
                    <a:pt x="25" y="0"/>
                  </a:lnTo>
                  <a:lnTo>
                    <a:pt x="25" y="3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8" name="Freeform 5191"/>
            <p:cNvSpPr>
              <a:spLocks/>
            </p:cNvSpPr>
            <p:nvPr/>
          </p:nvSpPr>
          <p:spPr bwMode="auto">
            <a:xfrm>
              <a:off x="2491" y="2213"/>
              <a:ext cx="26" cy="36"/>
            </a:xfrm>
            <a:custGeom>
              <a:avLst/>
              <a:gdLst>
                <a:gd name="T0" fmla="*/ 0 w 26"/>
                <a:gd name="T1" fmla="*/ 35 h 36"/>
                <a:gd name="T2" fmla="*/ 25 w 26"/>
                <a:gd name="T3" fmla="*/ 28 h 36"/>
                <a:gd name="T4" fmla="*/ 0 w 26"/>
                <a:gd name="T5" fmla="*/ 0 h 36"/>
                <a:gd name="T6" fmla="*/ 0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35"/>
                  </a:moveTo>
                  <a:lnTo>
                    <a:pt x="25"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99" name="Freeform 5192"/>
            <p:cNvSpPr>
              <a:spLocks/>
            </p:cNvSpPr>
            <p:nvPr/>
          </p:nvSpPr>
          <p:spPr bwMode="auto">
            <a:xfrm>
              <a:off x="2491" y="2248"/>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0" name="Line 5193"/>
            <p:cNvSpPr>
              <a:spLocks noChangeShapeType="1"/>
            </p:cNvSpPr>
            <p:nvPr/>
          </p:nvSpPr>
          <p:spPr bwMode="auto">
            <a:xfrm>
              <a:off x="2491" y="224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1" name="Freeform 5194"/>
            <p:cNvSpPr>
              <a:spLocks/>
            </p:cNvSpPr>
            <p:nvPr/>
          </p:nvSpPr>
          <p:spPr bwMode="auto">
            <a:xfrm>
              <a:off x="2491" y="2241"/>
              <a:ext cx="26" cy="37"/>
            </a:xfrm>
            <a:custGeom>
              <a:avLst/>
              <a:gdLst>
                <a:gd name="T0" fmla="*/ 25 w 26"/>
                <a:gd name="T1" fmla="*/ 36 h 37"/>
                <a:gd name="T2" fmla="*/ 11 w 26"/>
                <a:gd name="T3" fmla="*/ 0 h 37"/>
                <a:gd name="T4" fmla="*/ 0 w 26"/>
                <a:gd name="T5" fmla="*/ 6 h 37"/>
                <a:gd name="T6" fmla="*/ 25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36"/>
                  </a:moveTo>
                  <a:lnTo>
                    <a:pt x="11" y="0"/>
                  </a:lnTo>
                  <a:lnTo>
                    <a:pt x="0" y="6"/>
                  </a:lnTo>
                  <a:lnTo>
                    <a:pt x="25"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2" name="Freeform 5195"/>
            <p:cNvSpPr>
              <a:spLocks/>
            </p:cNvSpPr>
            <p:nvPr/>
          </p:nvSpPr>
          <p:spPr bwMode="auto">
            <a:xfrm>
              <a:off x="2496" y="2241"/>
              <a:ext cx="29" cy="37"/>
            </a:xfrm>
            <a:custGeom>
              <a:avLst/>
              <a:gdLst>
                <a:gd name="T0" fmla="*/ 15 w 29"/>
                <a:gd name="T1" fmla="*/ 36 h 37"/>
                <a:gd name="T2" fmla="*/ 28 w 29"/>
                <a:gd name="T3" fmla="*/ 36 h 37"/>
                <a:gd name="T4" fmla="*/ 0 w 29"/>
                <a:gd name="T5" fmla="*/ 0 h 37"/>
                <a:gd name="T6" fmla="*/ 15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15" y="36"/>
                  </a:moveTo>
                  <a:lnTo>
                    <a:pt x="28" y="36"/>
                  </a:lnTo>
                  <a:lnTo>
                    <a:pt x="0" y="0"/>
                  </a:lnTo>
                  <a:lnTo>
                    <a:pt x="15"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3" name="Freeform 5196"/>
            <p:cNvSpPr>
              <a:spLocks/>
            </p:cNvSpPr>
            <p:nvPr/>
          </p:nvSpPr>
          <p:spPr bwMode="auto">
            <a:xfrm>
              <a:off x="2503" y="2277"/>
              <a:ext cx="26" cy="27"/>
            </a:xfrm>
            <a:custGeom>
              <a:avLst/>
              <a:gdLst>
                <a:gd name="T0" fmla="*/ 0 w 26"/>
                <a:gd name="T1" fmla="*/ 0 h 27"/>
                <a:gd name="T2" fmla="*/ 0 w 26"/>
                <a:gd name="T3" fmla="*/ 0 h 27"/>
                <a:gd name="T4" fmla="*/ 25 w 26"/>
                <a:gd name="T5" fmla="*/ 26 h 27"/>
                <a:gd name="T6" fmla="*/ 0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0"/>
                  </a:moveTo>
                  <a:lnTo>
                    <a:pt x="0" y="0"/>
                  </a:lnTo>
                  <a:lnTo>
                    <a:pt x="25"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4" name="Line 5197"/>
            <p:cNvSpPr>
              <a:spLocks noChangeShapeType="1"/>
            </p:cNvSpPr>
            <p:nvPr/>
          </p:nvSpPr>
          <p:spPr bwMode="auto">
            <a:xfrm>
              <a:off x="2503" y="2277"/>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5" name="Freeform 5198"/>
            <p:cNvSpPr>
              <a:spLocks/>
            </p:cNvSpPr>
            <p:nvPr/>
          </p:nvSpPr>
          <p:spPr bwMode="auto">
            <a:xfrm>
              <a:off x="2503" y="2277"/>
              <a:ext cx="26" cy="36"/>
            </a:xfrm>
            <a:custGeom>
              <a:avLst/>
              <a:gdLst>
                <a:gd name="T0" fmla="*/ 25 w 26"/>
                <a:gd name="T1" fmla="*/ 35 h 36"/>
                <a:gd name="T2" fmla="*/ 25 w 26"/>
                <a:gd name="T3" fmla="*/ 0 h 36"/>
                <a:gd name="T4" fmla="*/ 0 w 26"/>
                <a:gd name="T5" fmla="*/ 0 h 36"/>
                <a:gd name="T6" fmla="*/ 25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35"/>
                  </a:moveTo>
                  <a:lnTo>
                    <a:pt x="25" y="0"/>
                  </a:lnTo>
                  <a:lnTo>
                    <a:pt x="0" y="0"/>
                  </a:lnTo>
                  <a:lnTo>
                    <a:pt x="25"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6" name="Freeform 5199"/>
            <p:cNvSpPr>
              <a:spLocks/>
            </p:cNvSpPr>
            <p:nvPr/>
          </p:nvSpPr>
          <p:spPr bwMode="auto">
            <a:xfrm>
              <a:off x="2507" y="2277"/>
              <a:ext cx="28" cy="36"/>
            </a:xfrm>
            <a:custGeom>
              <a:avLst/>
              <a:gdLst>
                <a:gd name="T0" fmla="*/ 0 w 28"/>
                <a:gd name="T1" fmla="*/ 35 h 36"/>
                <a:gd name="T2" fmla="*/ 27 w 28"/>
                <a:gd name="T3" fmla="*/ 27 h 36"/>
                <a:gd name="T4" fmla="*/ 0 w 28"/>
                <a:gd name="T5" fmla="*/ 0 h 36"/>
                <a:gd name="T6" fmla="*/ 0 w 28"/>
                <a:gd name="T7" fmla="*/ 35 h 36"/>
                <a:gd name="T8" fmla="*/ 0 60000 65536"/>
                <a:gd name="T9" fmla="*/ 0 60000 65536"/>
                <a:gd name="T10" fmla="*/ 0 60000 65536"/>
                <a:gd name="T11" fmla="*/ 0 60000 65536"/>
                <a:gd name="T12" fmla="*/ 0 w 28"/>
                <a:gd name="T13" fmla="*/ 0 h 36"/>
                <a:gd name="T14" fmla="*/ 28 w 28"/>
                <a:gd name="T15" fmla="*/ 36 h 36"/>
              </a:gdLst>
              <a:ahLst/>
              <a:cxnLst>
                <a:cxn ang="T8">
                  <a:pos x="T0" y="T1"/>
                </a:cxn>
                <a:cxn ang="T9">
                  <a:pos x="T2" y="T3"/>
                </a:cxn>
                <a:cxn ang="T10">
                  <a:pos x="T4" y="T5"/>
                </a:cxn>
                <a:cxn ang="T11">
                  <a:pos x="T6" y="T7"/>
                </a:cxn>
              </a:cxnLst>
              <a:rect l="T12" t="T13" r="T14" b="T15"/>
              <a:pathLst>
                <a:path w="28" h="36">
                  <a:moveTo>
                    <a:pt x="0" y="35"/>
                  </a:moveTo>
                  <a:lnTo>
                    <a:pt x="27" y="27"/>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7" name="Freeform 5200"/>
            <p:cNvSpPr>
              <a:spLocks/>
            </p:cNvSpPr>
            <p:nvPr/>
          </p:nvSpPr>
          <p:spPr bwMode="auto">
            <a:xfrm>
              <a:off x="2507" y="2312"/>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8" name="Line 5201"/>
            <p:cNvSpPr>
              <a:spLocks noChangeShapeType="1"/>
            </p:cNvSpPr>
            <p:nvPr/>
          </p:nvSpPr>
          <p:spPr bwMode="auto">
            <a:xfrm>
              <a:off x="2507" y="2312"/>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09" name="Freeform 5202"/>
            <p:cNvSpPr>
              <a:spLocks/>
            </p:cNvSpPr>
            <p:nvPr/>
          </p:nvSpPr>
          <p:spPr bwMode="auto">
            <a:xfrm>
              <a:off x="2507" y="2304"/>
              <a:ext cx="28" cy="37"/>
            </a:xfrm>
            <a:custGeom>
              <a:avLst/>
              <a:gdLst>
                <a:gd name="T0" fmla="*/ 27 w 28"/>
                <a:gd name="T1" fmla="*/ 36 h 37"/>
                <a:gd name="T2" fmla="*/ 27 w 28"/>
                <a:gd name="T3" fmla="*/ 0 h 37"/>
                <a:gd name="T4" fmla="*/ 0 w 28"/>
                <a:gd name="T5" fmla="*/ 8 h 37"/>
                <a:gd name="T6" fmla="*/ 27 w 28"/>
                <a:gd name="T7" fmla="*/ 36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27" y="36"/>
                  </a:moveTo>
                  <a:lnTo>
                    <a:pt x="27" y="0"/>
                  </a:lnTo>
                  <a:lnTo>
                    <a:pt x="0" y="8"/>
                  </a:lnTo>
                  <a:lnTo>
                    <a:pt x="27"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0" name="Freeform 5203"/>
            <p:cNvSpPr>
              <a:spLocks/>
            </p:cNvSpPr>
            <p:nvPr/>
          </p:nvSpPr>
          <p:spPr bwMode="auto">
            <a:xfrm>
              <a:off x="2524" y="2304"/>
              <a:ext cx="22" cy="37"/>
            </a:xfrm>
            <a:custGeom>
              <a:avLst/>
              <a:gdLst>
                <a:gd name="T0" fmla="*/ 0 w 22"/>
                <a:gd name="T1" fmla="*/ 36 h 37"/>
                <a:gd name="T2" fmla="*/ 21 w 22"/>
                <a:gd name="T3" fmla="*/ 29 h 37"/>
                <a:gd name="T4" fmla="*/ 0 w 22"/>
                <a:gd name="T5" fmla="*/ 0 h 37"/>
                <a:gd name="T6" fmla="*/ 0 w 22"/>
                <a:gd name="T7" fmla="*/ 36 h 37"/>
                <a:gd name="T8" fmla="*/ 0 60000 65536"/>
                <a:gd name="T9" fmla="*/ 0 60000 65536"/>
                <a:gd name="T10" fmla="*/ 0 60000 65536"/>
                <a:gd name="T11" fmla="*/ 0 60000 65536"/>
                <a:gd name="T12" fmla="*/ 0 w 22"/>
                <a:gd name="T13" fmla="*/ 0 h 37"/>
                <a:gd name="T14" fmla="*/ 22 w 22"/>
                <a:gd name="T15" fmla="*/ 37 h 37"/>
              </a:gdLst>
              <a:ahLst/>
              <a:cxnLst>
                <a:cxn ang="T8">
                  <a:pos x="T0" y="T1"/>
                </a:cxn>
                <a:cxn ang="T9">
                  <a:pos x="T2" y="T3"/>
                </a:cxn>
                <a:cxn ang="T10">
                  <a:pos x="T4" y="T5"/>
                </a:cxn>
                <a:cxn ang="T11">
                  <a:pos x="T6" y="T7"/>
                </a:cxn>
              </a:cxnLst>
              <a:rect l="T12" t="T13" r="T14" b="T15"/>
              <a:pathLst>
                <a:path w="22" h="37">
                  <a:moveTo>
                    <a:pt x="0" y="36"/>
                  </a:moveTo>
                  <a:lnTo>
                    <a:pt x="21" y="29"/>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1" name="Freeform 5204"/>
            <p:cNvSpPr>
              <a:spLocks/>
            </p:cNvSpPr>
            <p:nvPr/>
          </p:nvSpPr>
          <p:spPr bwMode="auto">
            <a:xfrm>
              <a:off x="2524" y="2340"/>
              <a:ext cx="22" cy="1"/>
            </a:xfrm>
            <a:custGeom>
              <a:avLst/>
              <a:gdLst>
                <a:gd name="T0" fmla="*/ 0 w 22"/>
                <a:gd name="T1" fmla="*/ 0 h 1"/>
                <a:gd name="T2" fmla="*/ 0 w 22"/>
                <a:gd name="T3" fmla="*/ 0 h 1"/>
                <a:gd name="T4" fmla="*/ 21 w 22"/>
                <a:gd name="T5" fmla="*/ 0 h 1"/>
                <a:gd name="T6" fmla="*/ 0 w 22"/>
                <a:gd name="T7" fmla="*/ 0 h 1"/>
                <a:gd name="T8" fmla="*/ 0 60000 65536"/>
                <a:gd name="T9" fmla="*/ 0 60000 65536"/>
                <a:gd name="T10" fmla="*/ 0 60000 65536"/>
                <a:gd name="T11" fmla="*/ 0 60000 65536"/>
                <a:gd name="T12" fmla="*/ 0 w 22"/>
                <a:gd name="T13" fmla="*/ 0 h 1"/>
                <a:gd name="T14" fmla="*/ 22 w 22"/>
                <a:gd name="T15" fmla="*/ 1 h 1"/>
              </a:gdLst>
              <a:ahLst/>
              <a:cxnLst>
                <a:cxn ang="T8">
                  <a:pos x="T0" y="T1"/>
                </a:cxn>
                <a:cxn ang="T9">
                  <a:pos x="T2" y="T3"/>
                </a:cxn>
                <a:cxn ang="T10">
                  <a:pos x="T4" y="T5"/>
                </a:cxn>
                <a:cxn ang="T11">
                  <a:pos x="T6" y="T7"/>
                </a:cxn>
              </a:cxnLst>
              <a:rect l="T12" t="T13" r="T14" b="T15"/>
              <a:pathLst>
                <a:path w="22" h="1">
                  <a:moveTo>
                    <a:pt x="0" y="0"/>
                  </a:moveTo>
                  <a:lnTo>
                    <a:pt x="0" y="0"/>
                  </a:lnTo>
                  <a:lnTo>
                    <a:pt x="21"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2" name="Line 5205"/>
            <p:cNvSpPr>
              <a:spLocks noChangeShapeType="1"/>
            </p:cNvSpPr>
            <p:nvPr/>
          </p:nvSpPr>
          <p:spPr bwMode="auto">
            <a:xfrm>
              <a:off x="2524" y="2340"/>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3" name="Freeform 5206"/>
            <p:cNvSpPr>
              <a:spLocks/>
            </p:cNvSpPr>
            <p:nvPr/>
          </p:nvSpPr>
          <p:spPr bwMode="auto">
            <a:xfrm>
              <a:off x="2524" y="2334"/>
              <a:ext cx="22" cy="36"/>
            </a:xfrm>
            <a:custGeom>
              <a:avLst/>
              <a:gdLst>
                <a:gd name="T0" fmla="*/ 21 w 22"/>
                <a:gd name="T1" fmla="*/ 35 h 36"/>
                <a:gd name="T2" fmla="*/ 21 w 22"/>
                <a:gd name="T3" fmla="*/ 0 h 36"/>
                <a:gd name="T4" fmla="*/ 0 w 22"/>
                <a:gd name="T5" fmla="*/ 6 h 36"/>
                <a:gd name="T6" fmla="*/ 21 w 22"/>
                <a:gd name="T7" fmla="*/ 35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1" y="35"/>
                  </a:moveTo>
                  <a:lnTo>
                    <a:pt x="21" y="0"/>
                  </a:lnTo>
                  <a:lnTo>
                    <a:pt x="0" y="6"/>
                  </a:lnTo>
                  <a:lnTo>
                    <a:pt x="21"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4" name="Freeform 5207"/>
            <p:cNvSpPr>
              <a:spLocks/>
            </p:cNvSpPr>
            <p:nvPr/>
          </p:nvSpPr>
          <p:spPr bwMode="auto">
            <a:xfrm>
              <a:off x="2533" y="2334"/>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5" name="Freeform 5208"/>
            <p:cNvSpPr>
              <a:spLocks/>
            </p:cNvSpPr>
            <p:nvPr/>
          </p:nvSpPr>
          <p:spPr bwMode="auto">
            <a:xfrm>
              <a:off x="2533" y="2369"/>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6" name="Line 5209"/>
            <p:cNvSpPr>
              <a:spLocks noChangeShapeType="1"/>
            </p:cNvSpPr>
            <p:nvPr/>
          </p:nvSpPr>
          <p:spPr bwMode="auto">
            <a:xfrm>
              <a:off x="2533" y="2369"/>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7" name="Freeform 5210"/>
            <p:cNvSpPr>
              <a:spLocks/>
            </p:cNvSpPr>
            <p:nvPr/>
          </p:nvSpPr>
          <p:spPr bwMode="auto">
            <a:xfrm>
              <a:off x="2533" y="2361"/>
              <a:ext cx="24" cy="38"/>
            </a:xfrm>
            <a:custGeom>
              <a:avLst/>
              <a:gdLst>
                <a:gd name="T0" fmla="*/ 23 w 24"/>
                <a:gd name="T1" fmla="*/ 37 h 38"/>
                <a:gd name="T2" fmla="*/ 23 w 24"/>
                <a:gd name="T3" fmla="*/ 0 h 38"/>
                <a:gd name="T4" fmla="*/ 0 w 24"/>
                <a:gd name="T5" fmla="*/ 6 h 38"/>
                <a:gd name="T6" fmla="*/ 23 w 24"/>
                <a:gd name="T7" fmla="*/ 37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23" y="37"/>
                  </a:moveTo>
                  <a:lnTo>
                    <a:pt x="23" y="0"/>
                  </a:lnTo>
                  <a:lnTo>
                    <a:pt x="0" y="6"/>
                  </a:lnTo>
                  <a:lnTo>
                    <a:pt x="23"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8" name="Freeform 5211"/>
            <p:cNvSpPr>
              <a:spLocks/>
            </p:cNvSpPr>
            <p:nvPr/>
          </p:nvSpPr>
          <p:spPr bwMode="auto">
            <a:xfrm>
              <a:off x="2545" y="2361"/>
              <a:ext cx="28" cy="38"/>
            </a:xfrm>
            <a:custGeom>
              <a:avLst/>
              <a:gdLst>
                <a:gd name="T0" fmla="*/ 0 w 28"/>
                <a:gd name="T1" fmla="*/ 37 h 38"/>
                <a:gd name="T2" fmla="*/ 27 w 28"/>
                <a:gd name="T3" fmla="*/ 28 h 38"/>
                <a:gd name="T4" fmla="*/ 0 w 28"/>
                <a:gd name="T5" fmla="*/ 0 h 38"/>
                <a:gd name="T6" fmla="*/ 0 w 28"/>
                <a:gd name="T7" fmla="*/ 37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7"/>
                  </a:moveTo>
                  <a:lnTo>
                    <a:pt x="27" y="28"/>
                  </a:lnTo>
                  <a:lnTo>
                    <a:pt x="0" y="0"/>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19" name="Freeform 5212"/>
            <p:cNvSpPr>
              <a:spLocks/>
            </p:cNvSpPr>
            <p:nvPr/>
          </p:nvSpPr>
          <p:spPr bwMode="auto">
            <a:xfrm>
              <a:off x="2545" y="2398"/>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0" name="Line 5213"/>
            <p:cNvSpPr>
              <a:spLocks noChangeShapeType="1"/>
            </p:cNvSpPr>
            <p:nvPr/>
          </p:nvSpPr>
          <p:spPr bwMode="auto">
            <a:xfrm>
              <a:off x="2545" y="239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1" name="Freeform 5214"/>
            <p:cNvSpPr>
              <a:spLocks/>
            </p:cNvSpPr>
            <p:nvPr/>
          </p:nvSpPr>
          <p:spPr bwMode="auto">
            <a:xfrm>
              <a:off x="2545" y="2390"/>
              <a:ext cx="28" cy="31"/>
            </a:xfrm>
            <a:custGeom>
              <a:avLst/>
              <a:gdLst>
                <a:gd name="T0" fmla="*/ 27 w 28"/>
                <a:gd name="T1" fmla="*/ 30 h 31"/>
                <a:gd name="T2" fmla="*/ 27 w 28"/>
                <a:gd name="T3" fmla="*/ 0 h 31"/>
                <a:gd name="T4" fmla="*/ 0 w 28"/>
                <a:gd name="T5" fmla="*/ 8 h 31"/>
                <a:gd name="T6" fmla="*/ 27 w 28"/>
                <a:gd name="T7" fmla="*/ 30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30"/>
                  </a:moveTo>
                  <a:lnTo>
                    <a:pt x="27" y="0"/>
                  </a:lnTo>
                  <a:lnTo>
                    <a:pt x="0" y="8"/>
                  </a:lnTo>
                  <a:lnTo>
                    <a:pt x="27" y="3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2" name="Freeform 5215"/>
            <p:cNvSpPr>
              <a:spLocks/>
            </p:cNvSpPr>
            <p:nvPr/>
          </p:nvSpPr>
          <p:spPr bwMode="auto">
            <a:xfrm>
              <a:off x="2557" y="2390"/>
              <a:ext cx="27" cy="31"/>
            </a:xfrm>
            <a:custGeom>
              <a:avLst/>
              <a:gdLst>
                <a:gd name="T0" fmla="*/ 0 w 27"/>
                <a:gd name="T1" fmla="*/ 30 h 31"/>
                <a:gd name="T2" fmla="*/ 26 w 27"/>
                <a:gd name="T3" fmla="*/ 23 h 31"/>
                <a:gd name="T4" fmla="*/ 0 w 27"/>
                <a:gd name="T5" fmla="*/ 0 h 31"/>
                <a:gd name="T6" fmla="*/ 0 w 27"/>
                <a:gd name="T7" fmla="*/ 3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0" y="30"/>
                  </a:moveTo>
                  <a:lnTo>
                    <a:pt x="26" y="23"/>
                  </a:lnTo>
                  <a:lnTo>
                    <a:pt x="0" y="0"/>
                  </a:lnTo>
                  <a:lnTo>
                    <a:pt x="0" y="3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3" name="Freeform 5216"/>
            <p:cNvSpPr>
              <a:spLocks/>
            </p:cNvSpPr>
            <p:nvPr/>
          </p:nvSpPr>
          <p:spPr bwMode="auto">
            <a:xfrm>
              <a:off x="2557" y="2420"/>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4" name="Line 5217"/>
            <p:cNvSpPr>
              <a:spLocks noChangeShapeType="1"/>
            </p:cNvSpPr>
            <p:nvPr/>
          </p:nvSpPr>
          <p:spPr bwMode="auto">
            <a:xfrm>
              <a:off x="2557" y="2420"/>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5" name="Freeform 5218"/>
            <p:cNvSpPr>
              <a:spLocks/>
            </p:cNvSpPr>
            <p:nvPr/>
          </p:nvSpPr>
          <p:spPr bwMode="auto">
            <a:xfrm>
              <a:off x="2557" y="2412"/>
              <a:ext cx="27" cy="36"/>
            </a:xfrm>
            <a:custGeom>
              <a:avLst/>
              <a:gdLst>
                <a:gd name="T0" fmla="*/ 26 w 27"/>
                <a:gd name="T1" fmla="*/ 35 h 36"/>
                <a:gd name="T2" fmla="*/ 26 w 27"/>
                <a:gd name="T3" fmla="*/ 0 h 36"/>
                <a:gd name="T4" fmla="*/ 0 w 27"/>
                <a:gd name="T5" fmla="*/ 6 h 36"/>
                <a:gd name="T6" fmla="*/ 26 w 27"/>
                <a:gd name="T7" fmla="*/ 35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35"/>
                  </a:moveTo>
                  <a:lnTo>
                    <a:pt x="26" y="0"/>
                  </a:lnTo>
                  <a:lnTo>
                    <a:pt x="0" y="6"/>
                  </a:lnTo>
                  <a:lnTo>
                    <a:pt x="26"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6" name="Freeform 5219"/>
            <p:cNvSpPr>
              <a:spLocks/>
            </p:cNvSpPr>
            <p:nvPr/>
          </p:nvSpPr>
          <p:spPr bwMode="auto">
            <a:xfrm>
              <a:off x="2572" y="2412"/>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7" name="Freeform 5220"/>
            <p:cNvSpPr>
              <a:spLocks/>
            </p:cNvSpPr>
            <p:nvPr/>
          </p:nvSpPr>
          <p:spPr bwMode="auto">
            <a:xfrm>
              <a:off x="2572" y="2447"/>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8" name="Line 5221"/>
            <p:cNvSpPr>
              <a:spLocks noChangeShapeType="1"/>
            </p:cNvSpPr>
            <p:nvPr/>
          </p:nvSpPr>
          <p:spPr bwMode="auto">
            <a:xfrm>
              <a:off x="2572" y="244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29" name="Freeform 5222"/>
            <p:cNvSpPr>
              <a:spLocks/>
            </p:cNvSpPr>
            <p:nvPr/>
          </p:nvSpPr>
          <p:spPr bwMode="auto">
            <a:xfrm>
              <a:off x="2572" y="2441"/>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0" name="Freeform 5223"/>
            <p:cNvSpPr>
              <a:spLocks/>
            </p:cNvSpPr>
            <p:nvPr/>
          </p:nvSpPr>
          <p:spPr bwMode="auto">
            <a:xfrm>
              <a:off x="2583" y="2441"/>
              <a:ext cx="24" cy="28"/>
            </a:xfrm>
            <a:custGeom>
              <a:avLst/>
              <a:gdLst>
                <a:gd name="T0" fmla="*/ 0 w 24"/>
                <a:gd name="T1" fmla="*/ 27 h 28"/>
                <a:gd name="T2" fmla="*/ 23 w 24"/>
                <a:gd name="T3" fmla="*/ 20 h 28"/>
                <a:gd name="T4" fmla="*/ 0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23" y="20"/>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1" name="Freeform 5224"/>
            <p:cNvSpPr>
              <a:spLocks/>
            </p:cNvSpPr>
            <p:nvPr/>
          </p:nvSpPr>
          <p:spPr bwMode="auto">
            <a:xfrm>
              <a:off x="2583" y="24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2" name="Line 5225"/>
            <p:cNvSpPr>
              <a:spLocks noChangeShapeType="1"/>
            </p:cNvSpPr>
            <p:nvPr/>
          </p:nvSpPr>
          <p:spPr bwMode="auto">
            <a:xfrm>
              <a:off x="2583" y="24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3" name="Freeform 5226"/>
            <p:cNvSpPr>
              <a:spLocks/>
            </p:cNvSpPr>
            <p:nvPr/>
          </p:nvSpPr>
          <p:spPr bwMode="auto">
            <a:xfrm>
              <a:off x="2583" y="2462"/>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4" name="Freeform 5227"/>
            <p:cNvSpPr>
              <a:spLocks/>
            </p:cNvSpPr>
            <p:nvPr/>
          </p:nvSpPr>
          <p:spPr bwMode="auto">
            <a:xfrm>
              <a:off x="2594" y="2462"/>
              <a:ext cx="28" cy="28"/>
            </a:xfrm>
            <a:custGeom>
              <a:avLst/>
              <a:gdLst>
                <a:gd name="T0" fmla="*/ 0 w 28"/>
                <a:gd name="T1" fmla="*/ 27 h 28"/>
                <a:gd name="T2" fmla="*/ 27 w 28"/>
                <a:gd name="T3" fmla="*/ 20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20"/>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5" name="Freeform 5228"/>
            <p:cNvSpPr>
              <a:spLocks/>
            </p:cNvSpPr>
            <p:nvPr/>
          </p:nvSpPr>
          <p:spPr bwMode="auto">
            <a:xfrm>
              <a:off x="2594" y="2489"/>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6" name="Line 5229"/>
            <p:cNvSpPr>
              <a:spLocks noChangeShapeType="1"/>
            </p:cNvSpPr>
            <p:nvPr/>
          </p:nvSpPr>
          <p:spPr bwMode="auto">
            <a:xfrm>
              <a:off x="2594" y="2489"/>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7" name="Freeform 5230"/>
            <p:cNvSpPr>
              <a:spLocks/>
            </p:cNvSpPr>
            <p:nvPr/>
          </p:nvSpPr>
          <p:spPr bwMode="auto">
            <a:xfrm>
              <a:off x="2594" y="2484"/>
              <a:ext cx="28" cy="26"/>
            </a:xfrm>
            <a:custGeom>
              <a:avLst/>
              <a:gdLst>
                <a:gd name="T0" fmla="*/ 27 w 28"/>
                <a:gd name="T1" fmla="*/ 25 h 26"/>
                <a:gd name="T2" fmla="*/ 27 w 28"/>
                <a:gd name="T3" fmla="*/ 0 h 26"/>
                <a:gd name="T4" fmla="*/ 0 w 28"/>
                <a:gd name="T5" fmla="*/ 7 h 26"/>
                <a:gd name="T6" fmla="*/ 27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25"/>
                  </a:moveTo>
                  <a:lnTo>
                    <a:pt x="27" y="0"/>
                  </a:lnTo>
                  <a:lnTo>
                    <a:pt x="0" y="7"/>
                  </a:lnTo>
                  <a:lnTo>
                    <a:pt x="27"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8" name="Freeform 5231"/>
            <p:cNvSpPr>
              <a:spLocks/>
            </p:cNvSpPr>
            <p:nvPr/>
          </p:nvSpPr>
          <p:spPr bwMode="auto">
            <a:xfrm>
              <a:off x="2610" y="2484"/>
              <a:ext cx="24" cy="26"/>
            </a:xfrm>
            <a:custGeom>
              <a:avLst/>
              <a:gdLst>
                <a:gd name="T0" fmla="*/ 0 w 24"/>
                <a:gd name="T1" fmla="*/ 25 h 26"/>
                <a:gd name="T2" fmla="*/ 23 w 24"/>
                <a:gd name="T3" fmla="*/ 17 h 26"/>
                <a:gd name="T4" fmla="*/ 0 w 24"/>
                <a:gd name="T5" fmla="*/ 0 h 26"/>
                <a:gd name="T6" fmla="*/ 0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0" y="25"/>
                  </a:moveTo>
                  <a:lnTo>
                    <a:pt x="23" y="17"/>
                  </a:lnTo>
                  <a:lnTo>
                    <a:pt x="0" y="0"/>
                  </a:lnTo>
                  <a:lnTo>
                    <a:pt x="0"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39" name="Freeform 5232"/>
            <p:cNvSpPr>
              <a:spLocks/>
            </p:cNvSpPr>
            <p:nvPr/>
          </p:nvSpPr>
          <p:spPr bwMode="auto">
            <a:xfrm>
              <a:off x="2610" y="2505"/>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0" name="Line 5233"/>
            <p:cNvSpPr>
              <a:spLocks noChangeShapeType="1"/>
            </p:cNvSpPr>
            <p:nvPr/>
          </p:nvSpPr>
          <p:spPr bwMode="auto">
            <a:xfrm>
              <a:off x="2610" y="2505"/>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1" name="Freeform 5234"/>
            <p:cNvSpPr>
              <a:spLocks/>
            </p:cNvSpPr>
            <p:nvPr/>
          </p:nvSpPr>
          <p:spPr bwMode="auto">
            <a:xfrm>
              <a:off x="2610" y="2498"/>
              <a:ext cx="24" cy="30"/>
            </a:xfrm>
            <a:custGeom>
              <a:avLst/>
              <a:gdLst>
                <a:gd name="T0" fmla="*/ 23 w 24"/>
                <a:gd name="T1" fmla="*/ 29 h 30"/>
                <a:gd name="T2" fmla="*/ 23 w 24"/>
                <a:gd name="T3" fmla="*/ 0 h 30"/>
                <a:gd name="T4" fmla="*/ 0 w 24"/>
                <a:gd name="T5" fmla="*/ 6 h 30"/>
                <a:gd name="T6" fmla="*/ 23 w 24"/>
                <a:gd name="T7" fmla="*/ 29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29"/>
                  </a:moveTo>
                  <a:lnTo>
                    <a:pt x="23" y="0"/>
                  </a:lnTo>
                  <a:lnTo>
                    <a:pt x="0" y="6"/>
                  </a:lnTo>
                  <a:lnTo>
                    <a:pt x="23" y="2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2" name="Freeform 5235"/>
            <p:cNvSpPr>
              <a:spLocks/>
            </p:cNvSpPr>
            <p:nvPr/>
          </p:nvSpPr>
          <p:spPr bwMode="auto">
            <a:xfrm>
              <a:off x="2621" y="2498"/>
              <a:ext cx="25" cy="30"/>
            </a:xfrm>
            <a:custGeom>
              <a:avLst/>
              <a:gdLst>
                <a:gd name="T0" fmla="*/ 0 w 25"/>
                <a:gd name="T1" fmla="*/ 29 h 30"/>
                <a:gd name="T2" fmla="*/ 24 w 25"/>
                <a:gd name="T3" fmla="*/ 22 h 30"/>
                <a:gd name="T4" fmla="*/ 0 w 25"/>
                <a:gd name="T5" fmla="*/ 0 h 30"/>
                <a:gd name="T6" fmla="*/ 0 w 25"/>
                <a:gd name="T7" fmla="*/ 29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0" y="29"/>
                  </a:moveTo>
                  <a:lnTo>
                    <a:pt x="24" y="22"/>
                  </a:lnTo>
                  <a:lnTo>
                    <a:pt x="0" y="0"/>
                  </a:lnTo>
                  <a:lnTo>
                    <a:pt x="0" y="2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3" name="Freeform 5236"/>
            <p:cNvSpPr>
              <a:spLocks/>
            </p:cNvSpPr>
            <p:nvPr/>
          </p:nvSpPr>
          <p:spPr bwMode="auto">
            <a:xfrm>
              <a:off x="2621" y="2527"/>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4" name="Line 5237"/>
            <p:cNvSpPr>
              <a:spLocks noChangeShapeType="1"/>
            </p:cNvSpPr>
            <p:nvPr/>
          </p:nvSpPr>
          <p:spPr bwMode="auto">
            <a:xfrm>
              <a:off x="2621" y="2527"/>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5" name="Freeform 5238"/>
            <p:cNvSpPr>
              <a:spLocks/>
            </p:cNvSpPr>
            <p:nvPr/>
          </p:nvSpPr>
          <p:spPr bwMode="auto">
            <a:xfrm>
              <a:off x="2621" y="2519"/>
              <a:ext cx="25" cy="28"/>
            </a:xfrm>
            <a:custGeom>
              <a:avLst/>
              <a:gdLst>
                <a:gd name="T0" fmla="*/ 24 w 25"/>
                <a:gd name="T1" fmla="*/ 27 h 28"/>
                <a:gd name="T2" fmla="*/ 12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8"/>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6" name="Freeform 5239"/>
            <p:cNvSpPr>
              <a:spLocks/>
            </p:cNvSpPr>
            <p:nvPr/>
          </p:nvSpPr>
          <p:spPr bwMode="auto">
            <a:xfrm>
              <a:off x="2628" y="2519"/>
              <a:ext cx="24" cy="28"/>
            </a:xfrm>
            <a:custGeom>
              <a:avLst/>
              <a:gdLst>
                <a:gd name="T0" fmla="*/ 10 w 24"/>
                <a:gd name="T1" fmla="*/ 27 h 28"/>
                <a:gd name="T2" fmla="*/ 23 w 24"/>
                <a:gd name="T3" fmla="*/ 16 h 28"/>
                <a:gd name="T4" fmla="*/ 0 w 24"/>
                <a:gd name="T5" fmla="*/ 0 h 28"/>
                <a:gd name="T6" fmla="*/ 1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10" y="27"/>
                  </a:moveTo>
                  <a:lnTo>
                    <a:pt x="23" y="16"/>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7" name="Freeform 5240"/>
            <p:cNvSpPr>
              <a:spLocks/>
            </p:cNvSpPr>
            <p:nvPr/>
          </p:nvSpPr>
          <p:spPr bwMode="auto">
            <a:xfrm>
              <a:off x="2632" y="2541"/>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8" name="Line 5241"/>
            <p:cNvSpPr>
              <a:spLocks noChangeShapeType="1"/>
            </p:cNvSpPr>
            <p:nvPr/>
          </p:nvSpPr>
          <p:spPr bwMode="auto">
            <a:xfrm>
              <a:off x="2632" y="25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49" name="Freeform 5242"/>
            <p:cNvSpPr>
              <a:spLocks/>
            </p:cNvSpPr>
            <p:nvPr/>
          </p:nvSpPr>
          <p:spPr bwMode="auto">
            <a:xfrm>
              <a:off x="2632" y="2532"/>
              <a:ext cx="28" cy="28"/>
            </a:xfrm>
            <a:custGeom>
              <a:avLst/>
              <a:gdLst>
                <a:gd name="T0" fmla="*/ 27 w 28"/>
                <a:gd name="T1" fmla="*/ 27 h 28"/>
                <a:gd name="T2" fmla="*/ 15 w 28"/>
                <a:gd name="T3" fmla="*/ 0 h 28"/>
                <a:gd name="T4" fmla="*/ 0 w 28"/>
                <a:gd name="T5" fmla="*/ 9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15" y="0"/>
                  </a:lnTo>
                  <a:lnTo>
                    <a:pt x="0" y="9"/>
                  </a:lnTo>
                  <a:lnTo>
                    <a:pt x="27"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0" name="Freeform 5243"/>
            <p:cNvSpPr>
              <a:spLocks/>
            </p:cNvSpPr>
            <p:nvPr/>
          </p:nvSpPr>
          <p:spPr bwMode="auto">
            <a:xfrm>
              <a:off x="2640" y="2532"/>
              <a:ext cx="27" cy="28"/>
            </a:xfrm>
            <a:custGeom>
              <a:avLst/>
              <a:gdLst>
                <a:gd name="T0" fmla="*/ 13 w 27"/>
                <a:gd name="T1" fmla="*/ 27 h 28"/>
                <a:gd name="T2" fmla="*/ 26 w 27"/>
                <a:gd name="T3" fmla="*/ 17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17"/>
                  </a:lnTo>
                  <a:lnTo>
                    <a:pt x="0" y="0"/>
                  </a:lnTo>
                  <a:lnTo>
                    <a:pt x="1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1" name="Freeform 5244"/>
            <p:cNvSpPr>
              <a:spLocks/>
            </p:cNvSpPr>
            <p:nvPr/>
          </p:nvSpPr>
          <p:spPr bwMode="auto">
            <a:xfrm>
              <a:off x="2644" y="2556"/>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2" name="Line 5245"/>
            <p:cNvSpPr>
              <a:spLocks noChangeShapeType="1"/>
            </p:cNvSpPr>
            <p:nvPr/>
          </p:nvSpPr>
          <p:spPr bwMode="auto">
            <a:xfrm>
              <a:off x="2644" y="2556"/>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3" name="Freeform 5246"/>
            <p:cNvSpPr>
              <a:spLocks/>
            </p:cNvSpPr>
            <p:nvPr/>
          </p:nvSpPr>
          <p:spPr bwMode="auto">
            <a:xfrm>
              <a:off x="2644" y="2547"/>
              <a:ext cx="27" cy="27"/>
            </a:xfrm>
            <a:custGeom>
              <a:avLst/>
              <a:gdLst>
                <a:gd name="T0" fmla="*/ 26 w 27"/>
                <a:gd name="T1" fmla="*/ 26 h 27"/>
                <a:gd name="T2" fmla="*/ 11 w 27"/>
                <a:gd name="T3" fmla="*/ 0 h 27"/>
                <a:gd name="T4" fmla="*/ 0 w 27"/>
                <a:gd name="T5" fmla="*/ 1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1" y="0"/>
                  </a:lnTo>
                  <a:lnTo>
                    <a:pt x="0" y="10"/>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4" name="Freeform 5247"/>
            <p:cNvSpPr>
              <a:spLocks/>
            </p:cNvSpPr>
            <p:nvPr/>
          </p:nvSpPr>
          <p:spPr bwMode="auto">
            <a:xfrm>
              <a:off x="2651" y="2547"/>
              <a:ext cx="28" cy="27"/>
            </a:xfrm>
            <a:custGeom>
              <a:avLst/>
              <a:gdLst>
                <a:gd name="T0" fmla="*/ 15 w 28"/>
                <a:gd name="T1" fmla="*/ 26 h 27"/>
                <a:gd name="T2" fmla="*/ 27 w 28"/>
                <a:gd name="T3" fmla="*/ 18 h 27"/>
                <a:gd name="T4" fmla="*/ 0 w 28"/>
                <a:gd name="T5" fmla="*/ 0 h 27"/>
                <a:gd name="T6" fmla="*/ 15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15" y="26"/>
                  </a:moveTo>
                  <a:lnTo>
                    <a:pt x="27" y="18"/>
                  </a:lnTo>
                  <a:lnTo>
                    <a:pt x="0" y="0"/>
                  </a:lnTo>
                  <a:lnTo>
                    <a:pt x="1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5" name="Freeform 5248"/>
            <p:cNvSpPr>
              <a:spLocks/>
            </p:cNvSpPr>
            <p:nvPr/>
          </p:nvSpPr>
          <p:spPr bwMode="auto">
            <a:xfrm>
              <a:off x="2659" y="25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6" name="Line 5249"/>
            <p:cNvSpPr>
              <a:spLocks noChangeShapeType="1"/>
            </p:cNvSpPr>
            <p:nvPr/>
          </p:nvSpPr>
          <p:spPr bwMode="auto">
            <a:xfrm>
              <a:off x="2659" y="25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7" name="Freeform 5250"/>
            <p:cNvSpPr>
              <a:spLocks/>
            </p:cNvSpPr>
            <p:nvPr/>
          </p:nvSpPr>
          <p:spPr bwMode="auto">
            <a:xfrm>
              <a:off x="2659" y="2562"/>
              <a:ext cx="24" cy="27"/>
            </a:xfrm>
            <a:custGeom>
              <a:avLst/>
              <a:gdLst>
                <a:gd name="T0" fmla="*/ 23 w 24"/>
                <a:gd name="T1" fmla="*/ 26 h 27"/>
                <a:gd name="T2" fmla="*/ 11 w 24"/>
                <a:gd name="T3" fmla="*/ 0 h 27"/>
                <a:gd name="T4" fmla="*/ 0 w 24"/>
                <a:gd name="T5" fmla="*/ 8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1" y="0"/>
                  </a:lnTo>
                  <a:lnTo>
                    <a:pt x="0" y="8"/>
                  </a:lnTo>
                  <a:lnTo>
                    <a:pt x="2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8" name="Freeform 5251"/>
            <p:cNvSpPr>
              <a:spLocks/>
            </p:cNvSpPr>
            <p:nvPr/>
          </p:nvSpPr>
          <p:spPr bwMode="auto">
            <a:xfrm>
              <a:off x="2666" y="2562"/>
              <a:ext cx="24" cy="27"/>
            </a:xfrm>
            <a:custGeom>
              <a:avLst/>
              <a:gdLst>
                <a:gd name="T0" fmla="*/ 10 w 24"/>
                <a:gd name="T1" fmla="*/ 26 h 27"/>
                <a:gd name="T2" fmla="*/ 23 w 24"/>
                <a:gd name="T3" fmla="*/ 18 h 27"/>
                <a:gd name="T4" fmla="*/ 0 w 24"/>
                <a:gd name="T5" fmla="*/ 0 h 27"/>
                <a:gd name="T6" fmla="*/ 1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10" y="26"/>
                  </a:moveTo>
                  <a:lnTo>
                    <a:pt x="23" y="18"/>
                  </a:lnTo>
                  <a:lnTo>
                    <a:pt x="0" y="0"/>
                  </a:lnTo>
                  <a:lnTo>
                    <a:pt x="1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59" name="Freeform 5252"/>
            <p:cNvSpPr>
              <a:spLocks/>
            </p:cNvSpPr>
            <p:nvPr/>
          </p:nvSpPr>
          <p:spPr bwMode="auto">
            <a:xfrm>
              <a:off x="2668" y="2584"/>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0" name="Line 5253"/>
            <p:cNvSpPr>
              <a:spLocks noChangeShapeType="1"/>
            </p:cNvSpPr>
            <p:nvPr/>
          </p:nvSpPr>
          <p:spPr bwMode="auto">
            <a:xfrm>
              <a:off x="2668" y="2584"/>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1" name="Freeform 5254"/>
            <p:cNvSpPr>
              <a:spLocks/>
            </p:cNvSpPr>
            <p:nvPr/>
          </p:nvSpPr>
          <p:spPr bwMode="auto">
            <a:xfrm>
              <a:off x="2668" y="2576"/>
              <a:ext cx="27" cy="28"/>
            </a:xfrm>
            <a:custGeom>
              <a:avLst/>
              <a:gdLst>
                <a:gd name="T0" fmla="*/ 26 w 27"/>
                <a:gd name="T1" fmla="*/ 27 h 28"/>
                <a:gd name="T2" fmla="*/ 14 w 27"/>
                <a:gd name="T3" fmla="*/ 0 h 28"/>
                <a:gd name="T4" fmla="*/ 0 w 27"/>
                <a:gd name="T5" fmla="*/ 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4" y="0"/>
                  </a:lnTo>
                  <a:lnTo>
                    <a:pt x="0" y="8"/>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2" name="Freeform 5255"/>
            <p:cNvSpPr>
              <a:spLocks/>
            </p:cNvSpPr>
            <p:nvPr/>
          </p:nvSpPr>
          <p:spPr bwMode="auto">
            <a:xfrm>
              <a:off x="2678" y="2576"/>
              <a:ext cx="27" cy="28"/>
            </a:xfrm>
            <a:custGeom>
              <a:avLst/>
              <a:gdLst>
                <a:gd name="T0" fmla="*/ 11 w 27"/>
                <a:gd name="T1" fmla="*/ 27 h 28"/>
                <a:gd name="T2" fmla="*/ 26 w 27"/>
                <a:gd name="T3" fmla="*/ 8 h 28"/>
                <a:gd name="T4" fmla="*/ 0 w 27"/>
                <a:gd name="T5" fmla="*/ 0 h 28"/>
                <a:gd name="T6" fmla="*/ 11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1" y="27"/>
                  </a:moveTo>
                  <a:lnTo>
                    <a:pt x="26" y="8"/>
                  </a:lnTo>
                  <a:lnTo>
                    <a:pt x="0" y="0"/>
                  </a:lnTo>
                  <a:lnTo>
                    <a:pt x="11"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3" name="Freeform 5256"/>
            <p:cNvSpPr>
              <a:spLocks/>
            </p:cNvSpPr>
            <p:nvPr/>
          </p:nvSpPr>
          <p:spPr bwMode="auto">
            <a:xfrm>
              <a:off x="2682" y="2589"/>
              <a:ext cx="26" cy="28"/>
            </a:xfrm>
            <a:custGeom>
              <a:avLst/>
              <a:gdLst>
                <a:gd name="T0" fmla="*/ 0 w 26"/>
                <a:gd name="T1" fmla="*/ 27 h 28"/>
                <a:gd name="T2" fmla="*/ 0 w 26"/>
                <a:gd name="T3" fmla="*/ 27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0" y="27"/>
                  </a:ln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4" name="Line 5257"/>
            <p:cNvSpPr>
              <a:spLocks noChangeShapeType="1"/>
            </p:cNvSpPr>
            <p:nvPr/>
          </p:nvSpPr>
          <p:spPr bwMode="auto">
            <a:xfrm>
              <a:off x="2682" y="259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5" name="Freeform 5258"/>
            <p:cNvSpPr>
              <a:spLocks/>
            </p:cNvSpPr>
            <p:nvPr/>
          </p:nvSpPr>
          <p:spPr bwMode="auto">
            <a:xfrm>
              <a:off x="2682" y="2584"/>
              <a:ext cx="26" cy="26"/>
            </a:xfrm>
            <a:custGeom>
              <a:avLst/>
              <a:gdLst>
                <a:gd name="T0" fmla="*/ 25 w 26"/>
                <a:gd name="T1" fmla="*/ 25 h 26"/>
                <a:gd name="T2" fmla="*/ 13 w 26"/>
                <a:gd name="T3" fmla="*/ 0 h 26"/>
                <a:gd name="T4" fmla="*/ 0 w 26"/>
                <a:gd name="T5" fmla="*/ 17 h 26"/>
                <a:gd name="T6" fmla="*/ 25 w 26"/>
                <a:gd name="T7" fmla="*/ 25 h 26"/>
                <a:gd name="T8" fmla="*/ 0 60000 65536"/>
                <a:gd name="T9" fmla="*/ 0 60000 65536"/>
                <a:gd name="T10" fmla="*/ 0 60000 65536"/>
                <a:gd name="T11" fmla="*/ 0 60000 65536"/>
                <a:gd name="T12" fmla="*/ 0 w 26"/>
                <a:gd name="T13" fmla="*/ 0 h 26"/>
                <a:gd name="T14" fmla="*/ 26 w 26"/>
                <a:gd name="T15" fmla="*/ 26 h 26"/>
              </a:gdLst>
              <a:ahLst/>
              <a:cxnLst>
                <a:cxn ang="T8">
                  <a:pos x="T0" y="T1"/>
                </a:cxn>
                <a:cxn ang="T9">
                  <a:pos x="T2" y="T3"/>
                </a:cxn>
                <a:cxn ang="T10">
                  <a:pos x="T4" y="T5"/>
                </a:cxn>
                <a:cxn ang="T11">
                  <a:pos x="T6" y="T7"/>
                </a:cxn>
              </a:cxnLst>
              <a:rect l="T12" t="T13" r="T14" b="T15"/>
              <a:pathLst>
                <a:path w="26" h="26">
                  <a:moveTo>
                    <a:pt x="25" y="25"/>
                  </a:moveTo>
                  <a:lnTo>
                    <a:pt x="13" y="0"/>
                  </a:lnTo>
                  <a:lnTo>
                    <a:pt x="0" y="17"/>
                  </a:lnTo>
                  <a:lnTo>
                    <a:pt x="25"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6" name="Freeform 5259"/>
            <p:cNvSpPr>
              <a:spLocks/>
            </p:cNvSpPr>
            <p:nvPr/>
          </p:nvSpPr>
          <p:spPr bwMode="auto">
            <a:xfrm>
              <a:off x="2689" y="2584"/>
              <a:ext cx="28" cy="26"/>
            </a:xfrm>
            <a:custGeom>
              <a:avLst/>
              <a:gdLst>
                <a:gd name="T0" fmla="*/ 13 w 28"/>
                <a:gd name="T1" fmla="*/ 25 h 26"/>
                <a:gd name="T2" fmla="*/ 27 w 28"/>
                <a:gd name="T3" fmla="*/ 17 h 26"/>
                <a:gd name="T4" fmla="*/ 0 w 28"/>
                <a:gd name="T5" fmla="*/ 0 h 26"/>
                <a:gd name="T6" fmla="*/ 13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13" y="25"/>
                  </a:moveTo>
                  <a:lnTo>
                    <a:pt x="27" y="17"/>
                  </a:lnTo>
                  <a:lnTo>
                    <a:pt x="0" y="0"/>
                  </a:lnTo>
                  <a:lnTo>
                    <a:pt x="13"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7" name="Freeform 5260"/>
            <p:cNvSpPr>
              <a:spLocks/>
            </p:cNvSpPr>
            <p:nvPr/>
          </p:nvSpPr>
          <p:spPr bwMode="auto">
            <a:xfrm>
              <a:off x="2697" y="260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8" name="Line 5261"/>
            <p:cNvSpPr>
              <a:spLocks noChangeShapeType="1"/>
            </p:cNvSpPr>
            <p:nvPr/>
          </p:nvSpPr>
          <p:spPr bwMode="auto">
            <a:xfrm>
              <a:off x="2697" y="2604"/>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69" name="Freeform 5262"/>
            <p:cNvSpPr>
              <a:spLocks/>
            </p:cNvSpPr>
            <p:nvPr/>
          </p:nvSpPr>
          <p:spPr bwMode="auto">
            <a:xfrm>
              <a:off x="2697" y="2598"/>
              <a:ext cx="24" cy="27"/>
            </a:xfrm>
            <a:custGeom>
              <a:avLst/>
              <a:gdLst>
                <a:gd name="T0" fmla="*/ 23 w 24"/>
                <a:gd name="T1" fmla="*/ 26 h 27"/>
                <a:gd name="T2" fmla="*/ 10 w 24"/>
                <a:gd name="T3" fmla="*/ 0 h 27"/>
                <a:gd name="T4" fmla="*/ 0 w 24"/>
                <a:gd name="T5" fmla="*/ 13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0" y="0"/>
                  </a:lnTo>
                  <a:lnTo>
                    <a:pt x="0" y="13"/>
                  </a:lnTo>
                  <a:lnTo>
                    <a:pt x="2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0" name="Freeform 5263"/>
            <p:cNvSpPr>
              <a:spLocks/>
            </p:cNvSpPr>
            <p:nvPr/>
          </p:nvSpPr>
          <p:spPr bwMode="auto">
            <a:xfrm>
              <a:off x="2701" y="2598"/>
              <a:ext cx="27" cy="27"/>
            </a:xfrm>
            <a:custGeom>
              <a:avLst/>
              <a:gdLst>
                <a:gd name="T0" fmla="*/ 14 w 27"/>
                <a:gd name="T1" fmla="*/ 26 h 27"/>
                <a:gd name="T2" fmla="*/ 26 w 27"/>
                <a:gd name="T3" fmla="*/ 13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13"/>
                  </a:lnTo>
                  <a:lnTo>
                    <a:pt x="0" y="0"/>
                  </a:lnTo>
                  <a:lnTo>
                    <a:pt x="1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1" name="Freeform 5264"/>
            <p:cNvSpPr>
              <a:spLocks/>
            </p:cNvSpPr>
            <p:nvPr/>
          </p:nvSpPr>
          <p:spPr bwMode="auto">
            <a:xfrm>
              <a:off x="2707" y="2611"/>
              <a:ext cx="29" cy="27"/>
            </a:xfrm>
            <a:custGeom>
              <a:avLst/>
              <a:gdLst>
                <a:gd name="T0" fmla="*/ 0 w 29"/>
                <a:gd name="T1" fmla="*/ 26 h 27"/>
                <a:gd name="T2" fmla="*/ 0 w 29"/>
                <a:gd name="T3" fmla="*/ 0 h 27"/>
                <a:gd name="T4" fmla="*/ 28 w 29"/>
                <a:gd name="T5" fmla="*/ 0 h 27"/>
                <a:gd name="T6" fmla="*/ 0 w 29"/>
                <a:gd name="T7" fmla="*/ 26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0" y="26"/>
                  </a:moveTo>
                  <a:lnTo>
                    <a:pt x="0" y="0"/>
                  </a:lnTo>
                  <a:lnTo>
                    <a:pt x="28"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2" name="Freeform 5265"/>
            <p:cNvSpPr>
              <a:spLocks/>
            </p:cNvSpPr>
            <p:nvPr/>
          </p:nvSpPr>
          <p:spPr bwMode="auto">
            <a:xfrm>
              <a:off x="2707" y="261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3" name="Freeform 5266"/>
            <p:cNvSpPr>
              <a:spLocks/>
            </p:cNvSpPr>
            <p:nvPr/>
          </p:nvSpPr>
          <p:spPr bwMode="auto">
            <a:xfrm>
              <a:off x="2707" y="2604"/>
              <a:ext cx="29" cy="28"/>
            </a:xfrm>
            <a:custGeom>
              <a:avLst/>
              <a:gdLst>
                <a:gd name="T0" fmla="*/ 28 w 29"/>
                <a:gd name="T1" fmla="*/ 27 h 28"/>
                <a:gd name="T2" fmla="*/ 14 w 29"/>
                <a:gd name="T3" fmla="*/ 0 h 28"/>
                <a:gd name="T4" fmla="*/ 0 w 29"/>
                <a:gd name="T5" fmla="*/ 18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4" y="0"/>
                  </a:lnTo>
                  <a:lnTo>
                    <a:pt x="0" y="18"/>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4" name="Freeform 5267"/>
            <p:cNvSpPr>
              <a:spLocks/>
            </p:cNvSpPr>
            <p:nvPr/>
          </p:nvSpPr>
          <p:spPr bwMode="auto">
            <a:xfrm>
              <a:off x="2716" y="2604"/>
              <a:ext cx="25" cy="28"/>
            </a:xfrm>
            <a:custGeom>
              <a:avLst/>
              <a:gdLst>
                <a:gd name="T0" fmla="*/ 10 w 25"/>
                <a:gd name="T1" fmla="*/ 27 h 28"/>
                <a:gd name="T2" fmla="*/ 24 w 25"/>
                <a:gd name="T3" fmla="*/ 8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8"/>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5" name="Freeform 5268"/>
            <p:cNvSpPr>
              <a:spLocks/>
            </p:cNvSpPr>
            <p:nvPr/>
          </p:nvSpPr>
          <p:spPr bwMode="auto">
            <a:xfrm>
              <a:off x="2727" y="2611"/>
              <a:ext cx="28" cy="27"/>
            </a:xfrm>
            <a:custGeom>
              <a:avLst/>
              <a:gdLst>
                <a:gd name="T0" fmla="*/ 0 w 28"/>
                <a:gd name="T1" fmla="*/ 26 h 27"/>
                <a:gd name="T2" fmla="*/ 27 w 28"/>
                <a:gd name="T3" fmla="*/ 10 h 27"/>
                <a:gd name="T4" fmla="*/ 0 w 28"/>
                <a:gd name="T5" fmla="*/ 0 h 27"/>
                <a:gd name="T6" fmla="*/ 0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0" y="26"/>
                  </a:moveTo>
                  <a:lnTo>
                    <a:pt x="27" y="10"/>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6" name="Freeform 5269"/>
            <p:cNvSpPr>
              <a:spLocks/>
            </p:cNvSpPr>
            <p:nvPr/>
          </p:nvSpPr>
          <p:spPr bwMode="auto">
            <a:xfrm>
              <a:off x="2727" y="2632"/>
              <a:ext cx="28" cy="1"/>
            </a:xfrm>
            <a:custGeom>
              <a:avLst/>
              <a:gdLst>
                <a:gd name="T0" fmla="*/ 27 w 28"/>
                <a:gd name="T1" fmla="*/ 0 h 1"/>
                <a:gd name="T2" fmla="*/ 27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27" y="0"/>
                  </a:lnTo>
                  <a:lnTo>
                    <a:pt x="0" y="0"/>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7" name="Freeform 5270"/>
            <p:cNvSpPr>
              <a:spLocks/>
            </p:cNvSpPr>
            <p:nvPr/>
          </p:nvSpPr>
          <p:spPr bwMode="auto">
            <a:xfrm>
              <a:off x="2732" y="2619"/>
              <a:ext cx="25" cy="27"/>
            </a:xfrm>
            <a:custGeom>
              <a:avLst/>
              <a:gdLst>
                <a:gd name="T0" fmla="*/ 24 w 25"/>
                <a:gd name="T1" fmla="*/ 26 h 27"/>
                <a:gd name="T2" fmla="*/ 0 w 25"/>
                <a:gd name="T3" fmla="*/ 0 h 27"/>
                <a:gd name="T4" fmla="*/ 0 w 25"/>
                <a:gd name="T5" fmla="*/ 16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0" y="0"/>
                  </a:lnTo>
                  <a:lnTo>
                    <a:pt x="0" y="16"/>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8" name="Freeform 5271"/>
            <p:cNvSpPr>
              <a:spLocks/>
            </p:cNvSpPr>
            <p:nvPr/>
          </p:nvSpPr>
          <p:spPr bwMode="auto">
            <a:xfrm>
              <a:off x="2732" y="2619"/>
              <a:ext cx="25" cy="27"/>
            </a:xfrm>
            <a:custGeom>
              <a:avLst/>
              <a:gdLst>
                <a:gd name="T0" fmla="*/ 10 w 25"/>
                <a:gd name="T1" fmla="*/ 26 h 27"/>
                <a:gd name="T2" fmla="*/ 24 w 25"/>
                <a:gd name="T3" fmla="*/ 8 h 27"/>
                <a:gd name="T4" fmla="*/ 0 w 25"/>
                <a:gd name="T5" fmla="*/ 0 h 27"/>
                <a:gd name="T6" fmla="*/ 1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0" y="26"/>
                  </a:moveTo>
                  <a:lnTo>
                    <a:pt x="24" y="8"/>
                  </a:lnTo>
                  <a:lnTo>
                    <a:pt x="0" y="0"/>
                  </a:lnTo>
                  <a:lnTo>
                    <a:pt x="1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79" name="Freeform 5272"/>
            <p:cNvSpPr>
              <a:spLocks/>
            </p:cNvSpPr>
            <p:nvPr/>
          </p:nvSpPr>
          <p:spPr bwMode="auto">
            <a:xfrm>
              <a:off x="2738" y="2632"/>
              <a:ext cx="28" cy="27"/>
            </a:xfrm>
            <a:custGeom>
              <a:avLst/>
              <a:gdLst>
                <a:gd name="T0" fmla="*/ 27 w 28"/>
                <a:gd name="T1" fmla="*/ 26 h 27"/>
                <a:gd name="T2" fmla="*/ 0 w 28"/>
                <a:gd name="T3" fmla="*/ 26 h 27"/>
                <a:gd name="T4" fmla="*/ 27 w 28"/>
                <a:gd name="T5" fmla="*/ 0 h 27"/>
                <a:gd name="T6" fmla="*/ 27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26"/>
                  </a:moveTo>
                  <a:lnTo>
                    <a:pt x="0" y="26"/>
                  </a:lnTo>
                  <a:lnTo>
                    <a:pt x="27" y="0"/>
                  </a:lnTo>
                  <a:lnTo>
                    <a:pt x="27"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0" name="Freeform 5273"/>
            <p:cNvSpPr>
              <a:spLocks/>
            </p:cNvSpPr>
            <p:nvPr/>
          </p:nvSpPr>
          <p:spPr bwMode="auto">
            <a:xfrm>
              <a:off x="2738" y="2640"/>
              <a:ext cx="28" cy="1"/>
            </a:xfrm>
            <a:custGeom>
              <a:avLst/>
              <a:gdLst>
                <a:gd name="T0" fmla="*/ 27 w 28"/>
                <a:gd name="T1" fmla="*/ 0 h 1"/>
                <a:gd name="T2" fmla="*/ 0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0" y="0"/>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1" name="Freeform 5274"/>
            <p:cNvSpPr>
              <a:spLocks/>
            </p:cNvSpPr>
            <p:nvPr/>
          </p:nvSpPr>
          <p:spPr bwMode="auto">
            <a:xfrm>
              <a:off x="2744" y="2626"/>
              <a:ext cx="27" cy="27"/>
            </a:xfrm>
            <a:custGeom>
              <a:avLst/>
              <a:gdLst>
                <a:gd name="T0" fmla="*/ 26 w 27"/>
                <a:gd name="T1" fmla="*/ 26 h 27"/>
                <a:gd name="T2" fmla="*/ 0 w 27"/>
                <a:gd name="T3" fmla="*/ 0 h 27"/>
                <a:gd name="T4" fmla="*/ 0 w 27"/>
                <a:gd name="T5" fmla="*/ 26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0" y="0"/>
                  </a:lnTo>
                  <a:lnTo>
                    <a:pt x="0" y="26"/>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2" name="Freeform 5275"/>
            <p:cNvSpPr>
              <a:spLocks/>
            </p:cNvSpPr>
            <p:nvPr/>
          </p:nvSpPr>
          <p:spPr bwMode="auto">
            <a:xfrm>
              <a:off x="2744" y="2626"/>
              <a:ext cx="27" cy="27"/>
            </a:xfrm>
            <a:custGeom>
              <a:avLst/>
              <a:gdLst>
                <a:gd name="T0" fmla="*/ 13 w 27"/>
                <a:gd name="T1" fmla="*/ 26 h 27"/>
                <a:gd name="T2" fmla="*/ 26 w 27"/>
                <a:gd name="T3" fmla="*/ 11 h 27"/>
                <a:gd name="T4" fmla="*/ 0 w 27"/>
                <a:gd name="T5" fmla="*/ 0 h 27"/>
                <a:gd name="T6" fmla="*/ 13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3" y="26"/>
                  </a:moveTo>
                  <a:lnTo>
                    <a:pt x="26" y="11"/>
                  </a:lnTo>
                  <a:lnTo>
                    <a:pt x="0" y="0"/>
                  </a:lnTo>
                  <a:lnTo>
                    <a:pt x="1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3" name="Freeform 5276"/>
            <p:cNvSpPr>
              <a:spLocks/>
            </p:cNvSpPr>
            <p:nvPr/>
          </p:nvSpPr>
          <p:spPr bwMode="auto">
            <a:xfrm>
              <a:off x="2752" y="2640"/>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4" name="Line 5277"/>
            <p:cNvSpPr>
              <a:spLocks noChangeShapeType="1"/>
            </p:cNvSpPr>
            <p:nvPr/>
          </p:nvSpPr>
          <p:spPr bwMode="auto">
            <a:xfrm>
              <a:off x="2752" y="2640"/>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5" name="Freeform 5278"/>
            <p:cNvSpPr>
              <a:spLocks/>
            </p:cNvSpPr>
            <p:nvPr/>
          </p:nvSpPr>
          <p:spPr bwMode="auto">
            <a:xfrm>
              <a:off x="2752" y="2632"/>
              <a:ext cx="25" cy="27"/>
            </a:xfrm>
            <a:custGeom>
              <a:avLst/>
              <a:gdLst>
                <a:gd name="T0" fmla="*/ 24 w 25"/>
                <a:gd name="T1" fmla="*/ 26 h 27"/>
                <a:gd name="T2" fmla="*/ 10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0" y="0"/>
                  </a:lnTo>
                  <a:lnTo>
                    <a:pt x="0" y="14"/>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6" name="Freeform 5279"/>
            <p:cNvSpPr>
              <a:spLocks/>
            </p:cNvSpPr>
            <p:nvPr/>
          </p:nvSpPr>
          <p:spPr bwMode="auto">
            <a:xfrm>
              <a:off x="2756" y="2632"/>
              <a:ext cx="27" cy="27"/>
            </a:xfrm>
            <a:custGeom>
              <a:avLst/>
              <a:gdLst>
                <a:gd name="T0" fmla="*/ 14 w 27"/>
                <a:gd name="T1" fmla="*/ 26 h 27"/>
                <a:gd name="T2" fmla="*/ 26 w 27"/>
                <a:gd name="T3" fmla="*/ 0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0"/>
                  </a:lnTo>
                  <a:lnTo>
                    <a:pt x="0" y="0"/>
                  </a:lnTo>
                  <a:lnTo>
                    <a:pt x="1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7" name="Freeform 5280"/>
            <p:cNvSpPr>
              <a:spLocks/>
            </p:cNvSpPr>
            <p:nvPr/>
          </p:nvSpPr>
          <p:spPr bwMode="auto">
            <a:xfrm>
              <a:off x="2765" y="2640"/>
              <a:ext cx="22" cy="28"/>
            </a:xfrm>
            <a:custGeom>
              <a:avLst/>
              <a:gdLst>
                <a:gd name="T0" fmla="*/ 0 w 22"/>
                <a:gd name="T1" fmla="*/ 27 h 28"/>
                <a:gd name="T2" fmla="*/ 0 w 22"/>
                <a:gd name="T3" fmla="*/ 27 h 28"/>
                <a:gd name="T4" fmla="*/ 21 w 22"/>
                <a:gd name="T5" fmla="*/ 0 h 28"/>
                <a:gd name="T6" fmla="*/ 0 w 22"/>
                <a:gd name="T7" fmla="*/ 27 h 28"/>
                <a:gd name="T8" fmla="*/ 0 60000 65536"/>
                <a:gd name="T9" fmla="*/ 0 60000 65536"/>
                <a:gd name="T10" fmla="*/ 0 60000 65536"/>
                <a:gd name="T11" fmla="*/ 0 60000 65536"/>
                <a:gd name="T12" fmla="*/ 0 w 22"/>
                <a:gd name="T13" fmla="*/ 0 h 28"/>
                <a:gd name="T14" fmla="*/ 22 w 22"/>
                <a:gd name="T15" fmla="*/ 28 h 28"/>
              </a:gdLst>
              <a:ahLst/>
              <a:cxnLst>
                <a:cxn ang="T8">
                  <a:pos x="T0" y="T1"/>
                </a:cxn>
                <a:cxn ang="T9">
                  <a:pos x="T2" y="T3"/>
                </a:cxn>
                <a:cxn ang="T10">
                  <a:pos x="T4" y="T5"/>
                </a:cxn>
                <a:cxn ang="T11">
                  <a:pos x="T6" y="T7"/>
                </a:cxn>
              </a:cxnLst>
              <a:rect l="T12" t="T13" r="T14" b="T15"/>
              <a:pathLst>
                <a:path w="22" h="28">
                  <a:moveTo>
                    <a:pt x="0" y="27"/>
                  </a:moveTo>
                  <a:lnTo>
                    <a:pt x="0" y="27"/>
                  </a:lnTo>
                  <a:lnTo>
                    <a:pt x="21"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8" name="Line 5281"/>
            <p:cNvSpPr>
              <a:spLocks noChangeShapeType="1"/>
            </p:cNvSpPr>
            <p:nvPr/>
          </p:nvSpPr>
          <p:spPr bwMode="auto">
            <a:xfrm>
              <a:off x="2765" y="264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89" name="Freeform 5282"/>
            <p:cNvSpPr>
              <a:spLocks/>
            </p:cNvSpPr>
            <p:nvPr/>
          </p:nvSpPr>
          <p:spPr bwMode="auto">
            <a:xfrm>
              <a:off x="2765" y="2632"/>
              <a:ext cx="22" cy="27"/>
            </a:xfrm>
            <a:custGeom>
              <a:avLst/>
              <a:gdLst>
                <a:gd name="T0" fmla="*/ 21 w 22"/>
                <a:gd name="T1" fmla="*/ 26 h 27"/>
                <a:gd name="T2" fmla="*/ 9 w 22"/>
                <a:gd name="T3" fmla="*/ 0 h 27"/>
                <a:gd name="T4" fmla="*/ 0 w 22"/>
                <a:gd name="T5" fmla="*/ 18 h 27"/>
                <a:gd name="T6" fmla="*/ 21 w 22"/>
                <a:gd name="T7" fmla="*/ 26 h 27"/>
                <a:gd name="T8" fmla="*/ 0 60000 65536"/>
                <a:gd name="T9" fmla="*/ 0 60000 65536"/>
                <a:gd name="T10" fmla="*/ 0 60000 65536"/>
                <a:gd name="T11" fmla="*/ 0 60000 65536"/>
                <a:gd name="T12" fmla="*/ 0 w 22"/>
                <a:gd name="T13" fmla="*/ 0 h 27"/>
                <a:gd name="T14" fmla="*/ 22 w 22"/>
                <a:gd name="T15" fmla="*/ 27 h 27"/>
              </a:gdLst>
              <a:ahLst/>
              <a:cxnLst>
                <a:cxn ang="T8">
                  <a:pos x="T0" y="T1"/>
                </a:cxn>
                <a:cxn ang="T9">
                  <a:pos x="T2" y="T3"/>
                </a:cxn>
                <a:cxn ang="T10">
                  <a:pos x="T4" y="T5"/>
                </a:cxn>
                <a:cxn ang="T11">
                  <a:pos x="T6" y="T7"/>
                </a:cxn>
              </a:cxnLst>
              <a:rect l="T12" t="T13" r="T14" b="T15"/>
              <a:pathLst>
                <a:path w="22" h="27">
                  <a:moveTo>
                    <a:pt x="21" y="26"/>
                  </a:moveTo>
                  <a:lnTo>
                    <a:pt x="9" y="0"/>
                  </a:lnTo>
                  <a:lnTo>
                    <a:pt x="0" y="18"/>
                  </a:lnTo>
                  <a:lnTo>
                    <a:pt x="21"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0" name="Freeform 5283"/>
            <p:cNvSpPr>
              <a:spLocks/>
            </p:cNvSpPr>
            <p:nvPr/>
          </p:nvSpPr>
          <p:spPr bwMode="auto">
            <a:xfrm>
              <a:off x="2770" y="2632"/>
              <a:ext cx="25" cy="27"/>
            </a:xfrm>
            <a:custGeom>
              <a:avLst/>
              <a:gdLst>
                <a:gd name="T0" fmla="*/ 13 w 25"/>
                <a:gd name="T1" fmla="*/ 26 h 27"/>
                <a:gd name="T2" fmla="*/ 24 w 25"/>
                <a:gd name="T3" fmla="*/ 10 h 27"/>
                <a:gd name="T4" fmla="*/ 0 w 25"/>
                <a:gd name="T5" fmla="*/ 0 h 27"/>
                <a:gd name="T6" fmla="*/ 13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3" y="26"/>
                  </a:moveTo>
                  <a:lnTo>
                    <a:pt x="24" y="10"/>
                  </a:lnTo>
                  <a:lnTo>
                    <a:pt x="0" y="0"/>
                  </a:lnTo>
                  <a:lnTo>
                    <a:pt x="1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1" name="Freeform 5284"/>
            <p:cNvSpPr>
              <a:spLocks/>
            </p:cNvSpPr>
            <p:nvPr/>
          </p:nvSpPr>
          <p:spPr bwMode="auto">
            <a:xfrm>
              <a:off x="2776" y="2647"/>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2" name="Line 5285"/>
            <p:cNvSpPr>
              <a:spLocks noChangeShapeType="1"/>
            </p:cNvSpPr>
            <p:nvPr/>
          </p:nvSpPr>
          <p:spPr bwMode="auto">
            <a:xfrm>
              <a:off x="2776" y="265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3" name="Freeform 5286"/>
            <p:cNvSpPr>
              <a:spLocks/>
            </p:cNvSpPr>
            <p:nvPr/>
          </p:nvSpPr>
          <p:spPr bwMode="auto">
            <a:xfrm>
              <a:off x="2776" y="2640"/>
              <a:ext cx="25" cy="28"/>
            </a:xfrm>
            <a:custGeom>
              <a:avLst/>
              <a:gdLst>
                <a:gd name="T0" fmla="*/ 24 w 25"/>
                <a:gd name="T1" fmla="*/ 27 h 28"/>
                <a:gd name="T2" fmla="*/ 12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4" name="Freeform 5287"/>
            <p:cNvSpPr>
              <a:spLocks/>
            </p:cNvSpPr>
            <p:nvPr/>
          </p:nvSpPr>
          <p:spPr bwMode="auto">
            <a:xfrm>
              <a:off x="2782" y="2640"/>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5" name="Freeform 5288"/>
            <p:cNvSpPr>
              <a:spLocks/>
            </p:cNvSpPr>
            <p:nvPr/>
          </p:nvSpPr>
          <p:spPr bwMode="auto">
            <a:xfrm>
              <a:off x="2786" y="2647"/>
              <a:ext cx="29" cy="28"/>
            </a:xfrm>
            <a:custGeom>
              <a:avLst/>
              <a:gdLst>
                <a:gd name="T0" fmla="*/ 0 w 29"/>
                <a:gd name="T1" fmla="*/ 27 h 28"/>
                <a:gd name="T2" fmla="*/ 0 w 29"/>
                <a:gd name="T3" fmla="*/ 27 h 28"/>
                <a:gd name="T4" fmla="*/ 28 w 29"/>
                <a:gd name="T5" fmla="*/ 0 h 28"/>
                <a:gd name="T6" fmla="*/ 0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27"/>
                  </a:moveTo>
                  <a:lnTo>
                    <a:pt x="0" y="27"/>
                  </a:lnTo>
                  <a:lnTo>
                    <a:pt x="28"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6" name="Line 5289"/>
            <p:cNvSpPr>
              <a:spLocks noChangeShapeType="1"/>
            </p:cNvSpPr>
            <p:nvPr/>
          </p:nvSpPr>
          <p:spPr bwMode="auto">
            <a:xfrm>
              <a:off x="2786" y="2653"/>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7" name="Freeform 5290"/>
            <p:cNvSpPr>
              <a:spLocks/>
            </p:cNvSpPr>
            <p:nvPr/>
          </p:nvSpPr>
          <p:spPr bwMode="auto">
            <a:xfrm>
              <a:off x="2786" y="2640"/>
              <a:ext cx="29" cy="28"/>
            </a:xfrm>
            <a:custGeom>
              <a:avLst/>
              <a:gdLst>
                <a:gd name="T0" fmla="*/ 28 w 29"/>
                <a:gd name="T1" fmla="*/ 27 h 28"/>
                <a:gd name="T2" fmla="*/ 15 w 29"/>
                <a:gd name="T3" fmla="*/ 0 h 28"/>
                <a:gd name="T4" fmla="*/ 0 w 29"/>
                <a:gd name="T5" fmla="*/ 16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5" y="0"/>
                  </a:lnTo>
                  <a:lnTo>
                    <a:pt x="0" y="16"/>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8" name="Freeform 5291"/>
            <p:cNvSpPr>
              <a:spLocks/>
            </p:cNvSpPr>
            <p:nvPr/>
          </p:nvSpPr>
          <p:spPr bwMode="auto">
            <a:xfrm>
              <a:off x="2794" y="2640"/>
              <a:ext cx="27" cy="28"/>
            </a:xfrm>
            <a:custGeom>
              <a:avLst/>
              <a:gdLst>
                <a:gd name="T0" fmla="*/ 13 w 27"/>
                <a:gd name="T1" fmla="*/ 27 h 28"/>
                <a:gd name="T2" fmla="*/ 26 w 27"/>
                <a:gd name="T3" fmla="*/ 8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8"/>
                  </a:lnTo>
                  <a:lnTo>
                    <a:pt x="0" y="0"/>
                  </a:lnTo>
                  <a:lnTo>
                    <a:pt x="1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99" name="Freeform 5292"/>
            <p:cNvSpPr>
              <a:spLocks/>
            </p:cNvSpPr>
            <p:nvPr/>
          </p:nvSpPr>
          <p:spPr bwMode="auto">
            <a:xfrm>
              <a:off x="2800" y="2653"/>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0" name="Line 5293"/>
            <p:cNvSpPr>
              <a:spLocks noChangeShapeType="1"/>
            </p:cNvSpPr>
            <p:nvPr/>
          </p:nvSpPr>
          <p:spPr bwMode="auto">
            <a:xfrm>
              <a:off x="2800" y="266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1" name="Freeform 5294"/>
            <p:cNvSpPr>
              <a:spLocks/>
            </p:cNvSpPr>
            <p:nvPr/>
          </p:nvSpPr>
          <p:spPr bwMode="auto">
            <a:xfrm>
              <a:off x="2800" y="2647"/>
              <a:ext cx="25" cy="28"/>
            </a:xfrm>
            <a:custGeom>
              <a:avLst/>
              <a:gdLst>
                <a:gd name="T0" fmla="*/ 24 w 25"/>
                <a:gd name="T1" fmla="*/ 27 h 28"/>
                <a:gd name="T2" fmla="*/ 10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0"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2" name="Freeform 5295"/>
            <p:cNvSpPr>
              <a:spLocks/>
            </p:cNvSpPr>
            <p:nvPr/>
          </p:nvSpPr>
          <p:spPr bwMode="auto">
            <a:xfrm>
              <a:off x="2803" y="2647"/>
              <a:ext cx="29" cy="28"/>
            </a:xfrm>
            <a:custGeom>
              <a:avLst/>
              <a:gdLst>
                <a:gd name="T0" fmla="*/ 15 w 29"/>
                <a:gd name="T1" fmla="*/ 27 h 28"/>
                <a:gd name="T2" fmla="*/ 28 w 29"/>
                <a:gd name="T3" fmla="*/ 0 h 28"/>
                <a:gd name="T4" fmla="*/ 0 w 29"/>
                <a:gd name="T5" fmla="*/ 0 h 28"/>
                <a:gd name="T6" fmla="*/ 15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15" y="27"/>
                  </a:moveTo>
                  <a:lnTo>
                    <a:pt x="28" y="0"/>
                  </a:lnTo>
                  <a:lnTo>
                    <a:pt x="0" y="0"/>
                  </a:lnTo>
                  <a:lnTo>
                    <a:pt x="1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3" name="Freeform 5296"/>
            <p:cNvSpPr>
              <a:spLocks/>
            </p:cNvSpPr>
            <p:nvPr/>
          </p:nvSpPr>
          <p:spPr bwMode="auto">
            <a:xfrm>
              <a:off x="2814" y="2653"/>
              <a:ext cx="24" cy="28"/>
            </a:xfrm>
            <a:custGeom>
              <a:avLst/>
              <a:gdLst>
                <a:gd name="T0" fmla="*/ 0 w 24"/>
                <a:gd name="T1" fmla="*/ 27 h 28"/>
                <a:gd name="T2" fmla="*/ 0 w 24"/>
                <a:gd name="T3" fmla="*/ 27 h 28"/>
                <a:gd name="T4" fmla="*/ 23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0" y="27"/>
                  </a:lnTo>
                  <a:lnTo>
                    <a:pt x="23"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4" name="Line 5297"/>
            <p:cNvSpPr>
              <a:spLocks noChangeShapeType="1"/>
            </p:cNvSpPr>
            <p:nvPr/>
          </p:nvSpPr>
          <p:spPr bwMode="auto">
            <a:xfrm>
              <a:off x="2814" y="2661"/>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5" name="Freeform 5298"/>
            <p:cNvSpPr>
              <a:spLocks/>
            </p:cNvSpPr>
            <p:nvPr/>
          </p:nvSpPr>
          <p:spPr bwMode="auto">
            <a:xfrm>
              <a:off x="2814" y="2647"/>
              <a:ext cx="24" cy="28"/>
            </a:xfrm>
            <a:custGeom>
              <a:avLst/>
              <a:gdLst>
                <a:gd name="T0" fmla="*/ 23 w 24"/>
                <a:gd name="T1" fmla="*/ 27 h 28"/>
                <a:gd name="T2" fmla="*/ 11 w 24"/>
                <a:gd name="T3" fmla="*/ 0 h 28"/>
                <a:gd name="T4" fmla="*/ 0 w 24"/>
                <a:gd name="T5" fmla="*/ 27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11" y="0"/>
                  </a:lnTo>
                  <a:lnTo>
                    <a:pt x="0" y="27"/>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6" name="Freeform 5299"/>
            <p:cNvSpPr>
              <a:spLocks/>
            </p:cNvSpPr>
            <p:nvPr/>
          </p:nvSpPr>
          <p:spPr bwMode="auto">
            <a:xfrm>
              <a:off x="2820" y="2647"/>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7" name="Freeform 5300"/>
            <p:cNvSpPr>
              <a:spLocks/>
            </p:cNvSpPr>
            <p:nvPr/>
          </p:nvSpPr>
          <p:spPr bwMode="auto">
            <a:xfrm>
              <a:off x="2823" y="266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8" name="Line 5301"/>
            <p:cNvSpPr>
              <a:spLocks noChangeShapeType="1"/>
            </p:cNvSpPr>
            <p:nvPr/>
          </p:nvSpPr>
          <p:spPr bwMode="auto">
            <a:xfrm>
              <a:off x="2823" y="2661"/>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09" name="Freeform 5302"/>
            <p:cNvSpPr>
              <a:spLocks/>
            </p:cNvSpPr>
            <p:nvPr/>
          </p:nvSpPr>
          <p:spPr bwMode="auto">
            <a:xfrm>
              <a:off x="2823" y="2647"/>
              <a:ext cx="27" cy="28"/>
            </a:xfrm>
            <a:custGeom>
              <a:avLst/>
              <a:gdLst>
                <a:gd name="T0" fmla="*/ 26 w 27"/>
                <a:gd name="T1" fmla="*/ 27 h 28"/>
                <a:gd name="T2" fmla="*/ 0 w 27"/>
                <a:gd name="T3" fmla="*/ 0 h 28"/>
                <a:gd name="T4" fmla="*/ 0 w 27"/>
                <a:gd name="T5" fmla="*/ 1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18"/>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910" name="Freeform 5303"/>
            <p:cNvSpPr>
              <a:spLocks/>
            </p:cNvSpPr>
            <p:nvPr/>
          </p:nvSpPr>
          <p:spPr bwMode="auto">
            <a:xfrm>
              <a:off x="2823" y="2647"/>
              <a:ext cx="27" cy="28"/>
            </a:xfrm>
            <a:custGeom>
              <a:avLst/>
              <a:gdLst>
                <a:gd name="T0" fmla="*/ 26 w 27"/>
                <a:gd name="T1" fmla="*/ 27 h 28"/>
                <a:gd name="T2" fmla="*/ 26 w 27"/>
                <a:gd name="T3" fmla="*/ 8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8"/>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grpSp>
      <p:grpSp>
        <p:nvGrpSpPr>
          <p:cNvPr id="16398" name="Group 5304"/>
          <p:cNvGrpSpPr>
            <a:grpSpLocks/>
          </p:cNvGrpSpPr>
          <p:nvPr/>
        </p:nvGrpSpPr>
        <p:grpSpPr bwMode="auto">
          <a:xfrm rot="16200000" flipH="1">
            <a:off x="5918200" y="5539615"/>
            <a:ext cx="1363663" cy="239713"/>
            <a:chOff x="1249" y="1728"/>
            <a:chExt cx="1825" cy="961"/>
          </a:xfrm>
        </p:grpSpPr>
        <p:sp>
          <p:nvSpPr>
            <p:cNvPr id="17923" name="Line 5305"/>
            <p:cNvSpPr>
              <a:spLocks noChangeShapeType="1"/>
            </p:cNvSpPr>
            <p:nvPr/>
          </p:nvSpPr>
          <p:spPr bwMode="auto">
            <a:xfrm>
              <a:off x="3031"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4" name="Freeform 5306"/>
            <p:cNvSpPr>
              <a:spLocks/>
            </p:cNvSpPr>
            <p:nvPr/>
          </p:nvSpPr>
          <p:spPr bwMode="auto">
            <a:xfrm>
              <a:off x="3031" y="2661"/>
              <a:ext cx="43" cy="28"/>
            </a:xfrm>
            <a:custGeom>
              <a:avLst/>
              <a:gdLst>
                <a:gd name="T0" fmla="*/ 0 w 43"/>
                <a:gd name="T1" fmla="*/ 27 h 28"/>
                <a:gd name="T2" fmla="*/ 42 w 43"/>
                <a:gd name="T3" fmla="*/ 0 h 28"/>
                <a:gd name="T4" fmla="*/ 42 w 43"/>
                <a:gd name="T5" fmla="*/ 27 h 28"/>
                <a:gd name="T6" fmla="*/ 0 w 43"/>
                <a:gd name="T7" fmla="*/ 27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27"/>
                  </a:moveTo>
                  <a:lnTo>
                    <a:pt x="42" y="0"/>
                  </a:lnTo>
                  <a:lnTo>
                    <a:pt x="42"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5" name="Freeform 5307"/>
            <p:cNvSpPr>
              <a:spLocks/>
            </p:cNvSpPr>
            <p:nvPr/>
          </p:nvSpPr>
          <p:spPr bwMode="auto">
            <a:xfrm>
              <a:off x="3031" y="2661"/>
              <a:ext cx="43" cy="28"/>
            </a:xfrm>
            <a:custGeom>
              <a:avLst/>
              <a:gdLst>
                <a:gd name="T0" fmla="*/ 0 w 43"/>
                <a:gd name="T1" fmla="*/ 0 h 28"/>
                <a:gd name="T2" fmla="*/ 42 w 43"/>
                <a:gd name="T3" fmla="*/ 0 h 28"/>
                <a:gd name="T4" fmla="*/ 0 w 43"/>
                <a:gd name="T5" fmla="*/ 27 h 28"/>
                <a:gd name="T6" fmla="*/ 0 w 43"/>
                <a:gd name="T7" fmla="*/ 0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0"/>
                  </a:moveTo>
                  <a:lnTo>
                    <a:pt x="42"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6" name="Freeform 5308"/>
            <p:cNvSpPr>
              <a:spLocks/>
            </p:cNvSpPr>
            <p:nvPr/>
          </p:nvSpPr>
          <p:spPr bwMode="auto">
            <a:xfrm>
              <a:off x="3031" y="2661"/>
              <a:ext cx="43" cy="28"/>
            </a:xfrm>
            <a:custGeom>
              <a:avLst/>
              <a:gdLst>
                <a:gd name="T0" fmla="*/ 0 w 43"/>
                <a:gd name="T1" fmla="*/ 27 h 28"/>
                <a:gd name="T2" fmla="*/ 42 w 43"/>
                <a:gd name="T3" fmla="*/ 27 h 28"/>
                <a:gd name="T4" fmla="*/ 42 w 43"/>
                <a:gd name="T5" fmla="*/ 0 h 28"/>
                <a:gd name="T6" fmla="*/ 0 w 43"/>
                <a:gd name="T7" fmla="*/ 0 h 28"/>
                <a:gd name="T8" fmla="*/ 0 w 43"/>
                <a:gd name="T9" fmla="*/ 27 h 28"/>
                <a:gd name="T10" fmla="*/ 0 w 43"/>
                <a:gd name="T11" fmla="*/ 27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0" y="27"/>
                  </a:moveTo>
                  <a:lnTo>
                    <a:pt x="42" y="27"/>
                  </a:lnTo>
                  <a:lnTo>
                    <a:pt x="42"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7" name="Line 5309"/>
            <p:cNvSpPr>
              <a:spLocks noChangeShapeType="1"/>
            </p:cNvSpPr>
            <p:nvPr/>
          </p:nvSpPr>
          <p:spPr bwMode="auto">
            <a:xfrm>
              <a:off x="2993"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8" name="Freeform 5310"/>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9" name="Line 5311"/>
            <p:cNvSpPr>
              <a:spLocks noChangeShapeType="1"/>
            </p:cNvSpPr>
            <p:nvPr/>
          </p:nvSpPr>
          <p:spPr bwMode="auto">
            <a:xfrm>
              <a:off x="2993"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0" name="Freeform 5312"/>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1" name="Line 5313"/>
            <p:cNvSpPr>
              <a:spLocks noChangeShapeType="1"/>
            </p:cNvSpPr>
            <p:nvPr/>
          </p:nvSpPr>
          <p:spPr bwMode="auto">
            <a:xfrm>
              <a:off x="2949" y="2669"/>
              <a:ext cx="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2" name="Freeform 5314"/>
            <p:cNvSpPr>
              <a:spLocks/>
            </p:cNvSpPr>
            <p:nvPr/>
          </p:nvSpPr>
          <p:spPr bwMode="auto">
            <a:xfrm>
              <a:off x="2949" y="2661"/>
              <a:ext cx="45" cy="28"/>
            </a:xfrm>
            <a:custGeom>
              <a:avLst/>
              <a:gdLst>
                <a:gd name="T0" fmla="*/ 0 w 45"/>
                <a:gd name="T1" fmla="*/ 27 h 28"/>
                <a:gd name="T2" fmla="*/ 44 w 45"/>
                <a:gd name="T3" fmla="*/ 0 h 28"/>
                <a:gd name="T4" fmla="*/ 44 w 45"/>
                <a:gd name="T5" fmla="*/ 27 h 28"/>
                <a:gd name="T6" fmla="*/ 0 w 45"/>
                <a:gd name="T7" fmla="*/ 27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27"/>
                  </a:moveTo>
                  <a:lnTo>
                    <a:pt x="44" y="0"/>
                  </a:lnTo>
                  <a:lnTo>
                    <a:pt x="44"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3" name="Freeform 5315"/>
            <p:cNvSpPr>
              <a:spLocks/>
            </p:cNvSpPr>
            <p:nvPr/>
          </p:nvSpPr>
          <p:spPr bwMode="auto">
            <a:xfrm>
              <a:off x="2949" y="2661"/>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4" name="Freeform 5316"/>
            <p:cNvSpPr>
              <a:spLocks/>
            </p:cNvSpPr>
            <p:nvPr/>
          </p:nvSpPr>
          <p:spPr bwMode="auto">
            <a:xfrm>
              <a:off x="2949" y="2661"/>
              <a:ext cx="45" cy="28"/>
            </a:xfrm>
            <a:custGeom>
              <a:avLst/>
              <a:gdLst>
                <a:gd name="T0" fmla="*/ 0 w 45"/>
                <a:gd name="T1" fmla="*/ 27 h 28"/>
                <a:gd name="T2" fmla="*/ 44 w 45"/>
                <a:gd name="T3" fmla="*/ 27 h 28"/>
                <a:gd name="T4" fmla="*/ 44 w 45"/>
                <a:gd name="T5" fmla="*/ 0 h 28"/>
                <a:gd name="T6" fmla="*/ 0 w 45"/>
                <a:gd name="T7" fmla="*/ 0 h 28"/>
                <a:gd name="T8" fmla="*/ 0 w 45"/>
                <a:gd name="T9" fmla="*/ 27 h 28"/>
                <a:gd name="T10" fmla="*/ 0 w 45"/>
                <a:gd name="T11" fmla="*/ 27 h 28"/>
                <a:gd name="T12" fmla="*/ 0 60000 65536"/>
                <a:gd name="T13" fmla="*/ 0 60000 65536"/>
                <a:gd name="T14" fmla="*/ 0 60000 65536"/>
                <a:gd name="T15" fmla="*/ 0 60000 65536"/>
                <a:gd name="T16" fmla="*/ 0 60000 65536"/>
                <a:gd name="T17" fmla="*/ 0 60000 65536"/>
                <a:gd name="T18" fmla="*/ 0 w 45"/>
                <a:gd name="T19" fmla="*/ 0 h 28"/>
                <a:gd name="T20" fmla="*/ 45 w 4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5" h="28">
                  <a:moveTo>
                    <a:pt x="0" y="27"/>
                  </a:moveTo>
                  <a:lnTo>
                    <a:pt x="44" y="27"/>
                  </a:lnTo>
                  <a:lnTo>
                    <a:pt x="44"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5" name="Line 5317"/>
            <p:cNvSpPr>
              <a:spLocks noChangeShapeType="1"/>
            </p:cNvSpPr>
            <p:nvPr/>
          </p:nvSpPr>
          <p:spPr bwMode="auto">
            <a:xfrm>
              <a:off x="2910" y="2669"/>
              <a:ext cx="3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6" name="Freeform 5318"/>
            <p:cNvSpPr>
              <a:spLocks/>
            </p:cNvSpPr>
            <p:nvPr/>
          </p:nvSpPr>
          <p:spPr bwMode="auto">
            <a:xfrm>
              <a:off x="2910" y="2661"/>
              <a:ext cx="40" cy="28"/>
            </a:xfrm>
            <a:custGeom>
              <a:avLst/>
              <a:gdLst>
                <a:gd name="T0" fmla="*/ 0 w 40"/>
                <a:gd name="T1" fmla="*/ 27 h 28"/>
                <a:gd name="T2" fmla="*/ 39 w 40"/>
                <a:gd name="T3" fmla="*/ 0 h 28"/>
                <a:gd name="T4" fmla="*/ 39 w 40"/>
                <a:gd name="T5" fmla="*/ 27 h 28"/>
                <a:gd name="T6" fmla="*/ 0 w 40"/>
                <a:gd name="T7" fmla="*/ 27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27"/>
                  </a:moveTo>
                  <a:lnTo>
                    <a:pt x="39" y="0"/>
                  </a:lnTo>
                  <a:lnTo>
                    <a:pt x="39"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7" name="Freeform 5319"/>
            <p:cNvSpPr>
              <a:spLocks/>
            </p:cNvSpPr>
            <p:nvPr/>
          </p:nvSpPr>
          <p:spPr bwMode="auto">
            <a:xfrm>
              <a:off x="2910" y="2661"/>
              <a:ext cx="40" cy="28"/>
            </a:xfrm>
            <a:custGeom>
              <a:avLst/>
              <a:gdLst>
                <a:gd name="T0" fmla="*/ 0 w 40"/>
                <a:gd name="T1" fmla="*/ 0 h 28"/>
                <a:gd name="T2" fmla="*/ 39 w 40"/>
                <a:gd name="T3" fmla="*/ 0 h 28"/>
                <a:gd name="T4" fmla="*/ 0 w 40"/>
                <a:gd name="T5" fmla="*/ 27 h 28"/>
                <a:gd name="T6" fmla="*/ 0 w 40"/>
                <a:gd name="T7" fmla="*/ 0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0"/>
                  </a:moveTo>
                  <a:lnTo>
                    <a:pt x="39"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8" name="Freeform 5320"/>
            <p:cNvSpPr>
              <a:spLocks/>
            </p:cNvSpPr>
            <p:nvPr/>
          </p:nvSpPr>
          <p:spPr bwMode="auto">
            <a:xfrm>
              <a:off x="2910" y="2661"/>
              <a:ext cx="40" cy="28"/>
            </a:xfrm>
            <a:custGeom>
              <a:avLst/>
              <a:gdLst>
                <a:gd name="T0" fmla="*/ 0 w 40"/>
                <a:gd name="T1" fmla="*/ 27 h 28"/>
                <a:gd name="T2" fmla="*/ 39 w 40"/>
                <a:gd name="T3" fmla="*/ 27 h 28"/>
                <a:gd name="T4" fmla="*/ 39 w 40"/>
                <a:gd name="T5" fmla="*/ 0 h 28"/>
                <a:gd name="T6" fmla="*/ 0 w 40"/>
                <a:gd name="T7" fmla="*/ 0 h 28"/>
                <a:gd name="T8" fmla="*/ 0 w 40"/>
                <a:gd name="T9" fmla="*/ 27 h 28"/>
                <a:gd name="T10" fmla="*/ 0 w 40"/>
                <a:gd name="T11" fmla="*/ 27 h 28"/>
                <a:gd name="T12" fmla="*/ 0 60000 65536"/>
                <a:gd name="T13" fmla="*/ 0 60000 65536"/>
                <a:gd name="T14" fmla="*/ 0 60000 65536"/>
                <a:gd name="T15" fmla="*/ 0 60000 65536"/>
                <a:gd name="T16" fmla="*/ 0 60000 65536"/>
                <a:gd name="T17" fmla="*/ 0 60000 65536"/>
                <a:gd name="T18" fmla="*/ 0 w 40"/>
                <a:gd name="T19" fmla="*/ 0 h 28"/>
                <a:gd name="T20" fmla="*/ 40 w 4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0" h="28">
                  <a:moveTo>
                    <a:pt x="0" y="27"/>
                  </a:moveTo>
                  <a:lnTo>
                    <a:pt x="39" y="27"/>
                  </a:lnTo>
                  <a:lnTo>
                    <a:pt x="39"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39" name="Line 5321"/>
            <p:cNvSpPr>
              <a:spLocks noChangeShapeType="1"/>
            </p:cNvSpPr>
            <p:nvPr/>
          </p:nvSpPr>
          <p:spPr bwMode="auto">
            <a:xfrm>
              <a:off x="2869"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0" name="Freeform 5322"/>
            <p:cNvSpPr>
              <a:spLocks/>
            </p:cNvSpPr>
            <p:nvPr/>
          </p:nvSpPr>
          <p:spPr bwMode="auto">
            <a:xfrm>
              <a:off x="2869"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1" name="Freeform 5323"/>
            <p:cNvSpPr>
              <a:spLocks/>
            </p:cNvSpPr>
            <p:nvPr/>
          </p:nvSpPr>
          <p:spPr bwMode="auto">
            <a:xfrm>
              <a:off x="2869"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2" name="Freeform 5324"/>
            <p:cNvSpPr>
              <a:spLocks/>
            </p:cNvSpPr>
            <p:nvPr/>
          </p:nvSpPr>
          <p:spPr bwMode="auto">
            <a:xfrm>
              <a:off x="2869"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3" name="Line 5325"/>
            <p:cNvSpPr>
              <a:spLocks noChangeShapeType="1"/>
            </p:cNvSpPr>
            <p:nvPr/>
          </p:nvSpPr>
          <p:spPr bwMode="auto">
            <a:xfrm>
              <a:off x="2832"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4" name="Freeform 5326"/>
            <p:cNvSpPr>
              <a:spLocks/>
            </p:cNvSpPr>
            <p:nvPr/>
          </p:nvSpPr>
          <p:spPr bwMode="auto">
            <a:xfrm>
              <a:off x="2832" y="2653"/>
              <a:ext cx="38" cy="28"/>
            </a:xfrm>
            <a:custGeom>
              <a:avLst/>
              <a:gdLst>
                <a:gd name="T0" fmla="*/ 0 w 38"/>
                <a:gd name="T1" fmla="*/ 27 h 28"/>
                <a:gd name="T2" fmla="*/ 37 w 38"/>
                <a:gd name="T3" fmla="*/ 0 h 28"/>
                <a:gd name="T4" fmla="*/ 37 w 38"/>
                <a:gd name="T5" fmla="*/ 27 h 28"/>
                <a:gd name="T6" fmla="*/ 0 w 38"/>
                <a:gd name="T7" fmla="*/ 27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27"/>
                  </a:moveTo>
                  <a:lnTo>
                    <a:pt x="37" y="0"/>
                  </a:lnTo>
                  <a:lnTo>
                    <a:pt x="37"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5" name="Freeform 5327"/>
            <p:cNvSpPr>
              <a:spLocks/>
            </p:cNvSpPr>
            <p:nvPr/>
          </p:nvSpPr>
          <p:spPr bwMode="auto">
            <a:xfrm>
              <a:off x="2832" y="2653"/>
              <a:ext cx="38" cy="28"/>
            </a:xfrm>
            <a:custGeom>
              <a:avLst/>
              <a:gdLst>
                <a:gd name="T0" fmla="*/ 0 w 38"/>
                <a:gd name="T1" fmla="*/ 0 h 28"/>
                <a:gd name="T2" fmla="*/ 37 w 38"/>
                <a:gd name="T3" fmla="*/ 0 h 28"/>
                <a:gd name="T4" fmla="*/ 0 w 38"/>
                <a:gd name="T5" fmla="*/ 27 h 28"/>
                <a:gd name="T6" fmla="*/ 0 w 38"/>
                <a:gd name="T7" fmla="*/ 0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0"/>
                  </a:moveTo>
                  <a:lnTo>
                    <a:pt x="37"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6" name="Freeform 5328"/>
            <p:cNvSpPr>
              <a:spLocks/>
            </p:cNvSpPr>
            <p:nvPr/>
          </p:nvSpPr>
          <p:spPr bwMode="auto">
            <a:xfrm>
              <a:off x="2832" y="2653"/>
              <a:ext cx="38" cy="28"/>
            </a:xfrm>
            <a:custGeom>
              <a:avLst/>
              <a:gdLst>
                <a:gd name="T0" fmla="*/ 0 w 38"/>
                <a:gd name="T1" fmla="*/ 27 h 28"/>
                <a:gd name="T2" fmla="*/ 37 w 38"/>
                <a:gd name="T3" fmla="*/ 27 h 28"/>
                <a:gd name="T4" fmla="*/ 37 w 38"/>
                <a:gd name="T5" fmla="*/ 0 h 28"/>
                <a:gd name="T6" fmla="*/ 0 w 38"/>
                <a:gd name="T7" fmla="*/ 0 h 28"/>
                <a:gd name="T8" fmla="*/ 0 w 38"/>
                <a:gd name="T9" fmla="*/ 27 h 28"/>
                <a:gd name="T10" fmla="*/ 0 w 38"/>
                <a:gd name="T11" fmla="*/ 27 h 28"/>
                <a:gd name="T12" fmla="*/ 0 60000 65536"/>
                <a:gd name="T13" fmla="*/ 0 60000 65536"/>
                <a:gd name="T14" fmla="*/ 0 60000 65536"/>
                <a:gd name="T15" fmla="*/ 0 60000 65536"/>
                <a:gd name="T16" fmla="*/ 0 60000 65536"/>
                <a:gd name="T17" fmla="*/ 0 60000 65536"/>
                <a:gd name="T18" fmla="*/ 0 w 38"/>
                <a:gd name="T19" fmla="*/ 0 h 28"/>
                <a:gd name="T20" fmla="*/ 38 w 3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8" h="28">
                  <a:moveTo>
                    <a:pt x="0" y="27"/>
                  </a:moveTo>
                  <a:lnTo>
                    <a:pt x="37" y="27"/>
                  </a:lnTo>
                  <a:lnTo>
                    <a:pt x="37"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7" name="Line 5329"/>
            <p:cNvSpPr>
              <a:spLocks noChangeShapeType="1"/>
            </p:cNvSpPr>
            <p:nvPr/>
          </p:nvSpPr>
          <p:spPr bwMode="auto">
            <a:xfrm>
              <a:off x="2786"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8" name="Freeform 5330"/>
            <p:cNvSpPr>
              <a:spLocks/>
            </p:cNvSpPr>
            <p:nvPr/>
          </p:nvSpPr>
          <p:spPr bwMode="auto">
            <a:xfrm>
              <a:off x="2786" y="2647"/>
              <a:ext cx="47" cy="28"/>
            </a:xfrm>
            <a:custGeom>
              <a:avLst/>
              <a:gdLst>
                <a:gd name="T0" fmla="*/ 0 w 47"/>
                <a:gd name="T1" fmla="*/ 27 h 28"/>
                <a:gd name="T2" fmla="*/ 46 w 47"/>
                <a:gd name="T3" fmla="*/ 0 h 28"/>
                <a:gd name="T4" fmla="*/ 46 w 47"/>
                <a:gd name="T5" fmla="*/ 27 h 28"/>
                <a:gd name="T6" fmla="*/ 0 w 47"/>
                <a:gd name="T7" fmla="*/ 27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27"/>
                  </a:moveTo>
                  <a:lnTo>
                    <a:pt x="46" y="0"/>
                  </a:lnTo>
                  <a:lnTo>
                    <a:pt x="46"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49" name="Freeform 5331"/>
            <p:cNvSpPr>
              <a:spLocks/>
            </p:cNvSpPr>
            <p:nvPr/>
          </p:nvSpPr>
          <p:spPr bwMode="auto">
            <a:xfrm>
              <a:off x="2786" y="2647"/>
              <a:ext cx="47" cy="28"/>
            </a:xfrm>
            <a:custGeom>
              <a:avLst/>
              <a:gdLst>
                <a:gd name="T0" fmla="*/ 0 w 47"/>
                <a:gd name="T1" fmla="*/ 0 h 28"/>
                <a:gd name="T2" fmla="*/ 46 w 47"/>
                <a:gd name="T3" fmla="*/ 0 h 28"/>
                <a:gd name="T4" fmla="*/ 0 w 47"/>
                <a:gd name="T5" fmla="*/ 27 h 28"/>
                <a:gd name="T6" fmla="*/ 0 w 47"/>
                <a:gd name="T7" fmla="*/ 0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0"/>
                  </a:moveTo>
                  <a:lnTo>
                    <a:pt x="46"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0" name="Freeform 5332"/>
            <p:cNvSpPr>
              <a:spLocks/>
            </p:cNvSpPr>
            <p:nvPr/>
          </p:nvSpPr>
          <p:spPr bwMode="auto">
            <a:xfrm>
              <a:off x="2786" y="2647"/>
              <a:ext cx="47" cy="28"/>
            </a:xfrm>
            <a:custGeom>
              <a:avLst/>
              <a:gdLst>
                <a:gd name="T0" fmla="*/ 0 w 47"/>
                <a:gd name="T1" fmla="*/ 27 h 28"/>
                <a:gd name="T2" fmla="*/ 46 w 47"/>
                <a:gd name="T3" fmla="*/ 27 h 28"/>
                <a:gd name="T4" fmla="*/ 46 w 47"/>
                <a:gd name="T5" fmla="*/ 0 h 28"/>
                <a:gd name="T6" fmla="*/ 0 w 47"/>
                <a:gd name="T7" fmla="*/ 0 h 28"/>
                <a:gd name="T8" fmla="*/ 0 w 47"/>
                <a:gd name="T9" fmla="*/ 27 h 28"/>
                <a:gd name="T10" fmla="*/ 0 w 47"/>
                <a:gd name="T11" fmla="*/ 27 h 28"/>
                <a:gd name="T12" fmla="*/ 0 60000 65536"/>
                <a:gd name="T13" fmla="*/ 0 60000 65536"/>
                <a:gd name="T14" fmla="*/ 0 60000 65536"/>
                <a:gd name="T15" fmla="*/ 0 60000 65536"/>
                <a:gd name="T16" fmla="*/ 0 60000 65536"/>
                <a:gd name="T17" fmla="*/ 0 60000 65536"/>
                <a:gd name="T18" fmla="*/ 0 w 47"/>
                <a:gd name="T19" fmla="*/ 0 h 28"/>
                <a:gd name="T20" fmla="*/ 47 w 4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7" h="28">
                  <a:moveTo>
                    <a:pt x="0" y="27"/>
                  </a:moveTo>
                  <a:lnTo>
                    <a:pt x="46" y="27"/>
                  </a:lnTo>
                  <a:lnTo>
                    <a:pt x="46"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1" name="Line 5333"/>
            <p:cNvSpPr>
              <a:spLocks noChangeShapeType="1"/>
            </p:cNvSpPr>
            <p:nvPr/>
          </p:nvSpPr>
          <p:spPr bwMode="auto">
            <a:xfrm>
              <a:off x="2752" y="2669"/>
              <a:ext cx="3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2" name="Freeform 5334"/>
            <p:cNvSpPr>
              <a:spLocks/>
            </p:cNvSpPr>
            <p:nvPr/>
          </p:nvSpPr>
          <p:spPr bwMode="auto">
            <a:xfrm>
              <a:off x="2752" y="2632"/>
              <a:ext cx="35" cy="38"/>
            </a:xfrm>
            <a:custGeom>
              <a:avLst/>
              <a:gdLst>
                <a:gd name="T0" fmla="*/ 0 w 35"/>
                <a:gd name="T1" fmla="*/ 37 h 38"/>
                <a:gd name="T2" fmla="*/ 34 w 35"/>
                <a:gd name="T3" fmla="*/ 0 h 38"/>
                <a:gd name="T4" fmla="*/ 34 w 35"/>
                <a:gd name="T5" fmla="*/ 37 h 38"/>
                <a:gd name="T6" fmla="*/ 0 w 35"/>
                <a:gd name="T7" fmla="*/ 37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37"/>
                  </a:moveTo>
                  <a:lnTo>
                    <a:pt x="34" y="0"/>
                  </a:lnTo>
                  <a:lnTo>
                    <a:pt x="34" y="37"/>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3" name="Freeform 5335"/>
            <p:cNvSpPr>
              <a:spLocks/>
            </p:cNvSpPr>
            <p:nvPr/>
          </p:nvSpPr>
          <p:spPr bwMode="auto">
            <a:xfrm>
              <a:off x="2752" y="2632"/>
              <a:ext cx="35" cy="38"/>
            </a:xfrm>
            <a:custGeom>
              <a:avLst/>
              <a:gdLst>
                <a:gd name="T0" fmla="*/ 0 w 35"/>
                <a:gd name="T1" fmla="*/ 0 h 38"/>
                <a:gd name="T2" fmla="*/ 34 w 35"/>
                <a:gd name="T3" fmla="*/ 0 h 38"/>
                <a:gd name="T4" fmla="*/ 0 w 35"/>
                <a:gd name="T5" fmla="*/ 37 h 38"/>
                <a:gd name="T6" fmla="*/ 0 w 35"/>
                <a:gd name="T7" fmla="*/ 0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0"/>
                  </a:moveTo>
                  <a:lnTo>
                    <a:pt x="34" y="0"/>
                  </a:lnTo>
                  <a:lnTo>
                    <a:pt x="0" y="3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4" name="Freeform 5336"/>
            <p:cNvSpPr>
              <a:spLocks/>
            </p:cNvSpPr>
            <p:nvPr/>
          </p:nvSpPr>
          <p:spPr bwMode="auto">
            <a:xfrm>
              <a:off x="2752" y="2632"/>
              <a:ext cx="35" cy="38"/>
            </a:xfrm>
            <a:custGeom>
              <a:avLst/>
              <a:gdLst>
                <a:gd name="T0" fmla="*/ 0 w 35"/>
                <a:gd name="T1" fmla="*/ 37 h 38"/>
                <a:gd name="T2" fmla="*/ 34 w 35"/>
                <a:gd name="T3" fmla="*/ 37 h 38"/>
                <a:gd name="T4" fmla="*/ 34 w 35"/>
                <a:gd name="T5" fmla="*/ 0 h 38"/>
                <a:gd name="T6" fmla="*/ 0 w 35"/>
                <a:gd name="T7" fmla="*/ 0 h 38"/>
                <a:gd name="T8" fmla="*/ 0 w 35"/>
                <a:gd name="T9" fmla="*/ 37 h 38"/>
                <a:gd name="T10" fmla="*/ 0 w 35"/>
                <a:gd name="T11" fmla="*/ 37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0" y="37"/>
                  </a:moveTo>
                  <a:lnTo>
                    <a:pt x="34" y="37"/>
                  </a:lnTo>
                  <a:lnTo>
                    <a:pt x="34" y="0"/>
                  </a:lnTo>
                  <a:lnTo>
                    <a:pt x="0" y="0"/>
                  </a:lnTo>
                  <a:lnTo>
                    <a:pt x="0" y="3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5" name="Line 5337"/>
            <p:cNvSpPr>
              <a:spLocks noChangeShapeType="1"/>
            </p:cNvSpPr>
            <p:nvPr/>
          </p:nvSpPr>
          <p:spPr bwMode="auto">
            <a:xfrm>
              <a:off x="2707"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6" name="Line 5338"/>
            <p:cNvSpPr>
              <a:spLocks noChangeShapeType="1"/>
            </p:cNvSpPr>
            <p:nvPr/>
          </p:nvSpPr>
          <p:spPr bwMode="auto">
            <a:xfrm>
              <a:off x="2628"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7" name="Line 5339"/>
            <p:cNvSpPr>
              <a:spLocks noChangeShapeType="1"/>
            </p:cNvSpPr>
            <p:nvPr/>
          </p:nvSpPr>
          <p:spPr bwMode="auto">
            <a:xfrm>
              <a:off x="2583"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8" name="Line 5340"/>
            <p:cNvSpPr>
              <a:spLocks noChangeShapeType="1"/>
            </p:cNvSpPr>
            <p:nvPr/>
          </p:nvSpPr>
          <p:spPr bwMode="auto">
            <a:xfrm>
              <a:off x="2503"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59" name="Line 5341"/>
            <p:cNvSpPr>
              <a:spLocks noChangeShapeType="1"/>
            </p:cNvSpPr>
            <p:nvPr/>
          </p:nvSpPr>
          <p:spPr bwMode="auto">
            <a:xfrm>
              <a:off x="2469" y="2669"/>
              <a:ext cx="3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0" name="Line 5342"/>
            <p:cNvSpPr>
              <a:spLocks noChangeShapeType="1"/>
            </p:cNvSpPr>
            <p:nvPr/>
          </p:nvSpPr>
          <p:spPr bwMode="auto">
            <a:xfrm>
              <a:off x="2423"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1" name="Line 5343"/>
            <p:cNvSpPr>
              <a:spLocks noChangeShapeType="1"/>
            </p:cNvSpPr>
            <p:nvPr/>
          </p:nvSpPr>
          <p:spPr bwMode="auto">
            <a:xfrm>
              <a:off x="2378"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2" name="Line 5344"/>
            <p:cNvSpPr>
              <a:spLocks noChangeShapeType="1"/>
            </p:cNvSpPr>
            <p:nvPr/>
          </p:nvSpPr>
          <p:spPr bwMode="auto">
            <a:xfrm>
              <a:off x="2341"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3" name="Line 5345"/>
            <p:cNvSpPr>
              <a:spLocks noChangeShapeType="1"/>
            </p:cNvSpPr>
            <p:nvPr/>
          </p:nvSpPr>
          <p:spPr bwMode="auto">
            <a:xfrm>
              <a:off x="2299"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4" name="Line 5346"/>
            <p:cNvSpPr>
              <a:spLocks noChangeShapeType="1"/>
            </p:cNvSpPr>
            <p:nvPr/>
          </p:nvSpPr>
          <p:spPr bwMode="auto">
            <a:xfrm>
              <a:off x="2262"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5" name="Line 5347"/>
            <p:cNvSpPr>
              <a:spLocks noChangeShapeType="1"/>
            </p:cNvSpPr>
            <p:nvPr/>
          </p:nvSpPr>
          <p:spPr bwMode="auto">
            <a:xfrm>
              <a:off x="2216"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6" name="Line 5348"/>
            <p:cNvSpPr>
              <a:spLocks noChangeShapeType="1"/>
            </p:cNvSpPr>
            <p:nvPr/>
          </p:nvSpPr>
          <p:spPr bwMode="auto">
            <a:xfrm>
              <a:off x="2184" y="2669"/>
              <a:ext cx="3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7" name="Line 5349"/>
            <p:cNvSpPr>
              <a:spLocks noChangeShapeType="1"/>
            </p:cNvSpPr>
            <p:nvPr/>
          </p:nvSpPr>
          <p:spPr bwMode="auto">
            <a:xfrm>
              <a:off x="2137" y="2669"/>
              <a:ext cx="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8" name="Line 5350"/>
            <p:cNvSpPr>
              <a:spLocks noChangeShapeType="1"/>
            </p:cNvSpPr>
            <p:nvPr/>
          </p:nvSpPr>
          <p:spPr bwMode="auto">
            <a:xfrm>
              <a:off x="209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69" name="Line 5351"/>
            <p:cNvSpPr>
              <a:spLocks noChangeShapeType="1"/>
            </p:cNvSpPr>
            <p:nvPr/>
          </p:nvSpPr>
          <p:spPr bwMode="auto">
            <a:xfrm>
              <a:off x="2058"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0" name="Line 5352"/>
            <p:cNvSpPr>
              <a:spLocks noChangeShapeType="1"/>
            </p:cNvSpPr>
            <p:nvPr/>
          </p:nvSpPr>
          <p:spPr bwMode="auto">
            <a:xfrm>
              <a:off x="2013"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1" name="Line 5353"/>
            <p:cNvSpPr>
              <a:spLocks noChangeShapeType="1"/>
            </p:cNvSpPr>
            <p:nvPr/>
          </p:nvSpPr>
          <p:spPr bwMode="auto">
            <a:xfrm>
              <a:off x="1978" y="2669"/>
              <a:ext cx="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2" name="Line 5354"/>
            <p:cNvSpPr>
              <a:spLocks noChangeShapeType="1"/>
            </p:cNvSpPr>
            <p:nvPr/>
          </p:nvSpPr>
          <p:spPr bwMode="auto">
            <a:xfrm>
              <a:off x="1937"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3" name="Line 5355"/>
            <p:cNvSpPr>
              <a:spLocks noChangeShapeType="1"/>
            </p:cNvSpPr>
            <p:nvPr/>
          </p:nvSpPr>
          <p:spPr bwMode="auto">
            <a:xfrm>
              <a:off x="189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4" name="Line 5356"/>
            <p:cNvSpPr>
              <a:spLocks noChangeShapeType="1"/>
            </p:cNvSpPr>
            <p:nvPr/>
          </p:nvSpPr>
          <p:spPr bwMode="auto">
            <a:xfrm>
              <a:off x="1853"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5" name="Line 5357"/>
            <p:cNvSpPr>
              <a:spLocks noChangeShapeType="1"/>
            </p:cNvSpPr>
            <p:nvPr/>
          </p:nvSpPr>
          <p:spPr bwMode="auto">
            <a:xfrm>
              <a:off x="1815"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6" name="Line 5358"/>
            <p:cNvSpPr>
              <a:spLocks noChangeShapeType="1"/>
            </p:cNvSpPr>
            <p:nvPr/>
          </p:nvSpPr>
          <p:spPr bwMode="auto">
            <a:xfrm>
              <a:off x="1774"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7" name="Line 5359"/>
            <p:cNvSpPr>
              <a:spLocks noChangeShapeType="1"/>
            </p:cNvSpPr>
            <p:nvPr/>
          </p:nvSpPr>
          <p:spPr bwMode="auto">
            <a:xfrm>
              <a:off x="1736"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8" name="Line 5360"/>
            <p:cNvSpPr>
              <a:spLocks noChangeShapeType="1"/>
            </p:cNvSpPr>
            <p:nvPr/>
          </p:nvSpPr>
          <p:spPr bwMode="auto">
            <a:xfrm>
              <a:off x="1692" y="2669"/>
              <a:ext cx="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79" name="Freeform 5361"/>
            <p:cNvSpPr>
              <a:spLocks/>
            </p:cNvSpPr>
            <p:nvPr/>
          </p:nvSpPr>
          <p:spPr bwMode="auto">
            <a:xfrm>
              <a:off x="1692" y="2653"/>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0" name="Line 5362"/>
            <p:cNvSpPr>
              <a:spLocks noChangeShapeType="1"/>
            </p:cNvSpPr>
            <p:nvPr/>
          </p:nvSpPr>
          <p:spPr bwMode="auto">
            <a:xfrm>
              <a:off x="1651"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1" name="Freeform 5363"/>
            <p:cNvSpPr>
              <a:spLocks/>
            </p:cNvSpPr>
            <p:nvPr/>
          </p:nvSpPr>
          <p:spPr bwMode="auto">
            <a:xfrm>
              <a:off x="1651"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2" name="Freeform 5364"/>
            <p:cNvSpPr>
              <a:spLocks/>
            </p:cNvSpPr>
            <p:nvPr/>
          </p:nvSpPr>
          <p:spPr bwMode="auto">
            <a:xfrm>
              <a:off x="1651"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3" name="Freeform 5365"/>
            <p:cNvSpPr>
              <a:spLocks/>
            </p:cNvSpPr>
            <p:nvPr/>
          </p:nvSpPr>
          <p:spPr bwMode="auto">
            <a:xfrm>
              <a:off x="1651"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4" name="Line 5366"/>
            <p:cNvSpPr>
              <a:spLocks noChangeShapeType="1"/>
            </p:cNvSpPr>
            <p:nvPr/>
          </p:nvSpPr>
          <p:spPr bwMode="auto">
            <a:xfrm>
              <a:off x="1615" y="2669"/>
              <a:ext cx="3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5" name="Freeform 5367"/>
            <p:cNvSpPr>
              <a:spLocks/>
            </p:cNvSpPr>
            <p:nvPr/>
          </p:nvSpPr>
          <p:spPr bwMode="auto">
            <a:xfrm>
              <a:off x="1615" y="2661"/>
              <a:ext cx="37" cy="28"/>
            </a:xfrm>
            <a:custGeom>
              <a:avLst/>
              <a:gdLst>
                <a:gd name="T0" fmla="*/ 0 w 37"/>
                <a:gd name="T1" fmla="*/ 27 h 28"/>
                <a:gd name="T2" fmla="*/ 36 w 37"/>
                <a:gd name="T3" fmla="*/ 0 h 28"/>
                <a:gd name="T4" fmla="*/ 36 w 37"/>
                <a:gd name="T5" fmla="*/ 27 h 28"/>
                <a:gd name="T6" fmla="*/ 0 w 37"/>
                <a:gd name="T7" fmla="*/ 27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27"/>
                  </a:moveTo>
                  <a:lnTo>
                    <a:pt x="36" y="0"/>
                  </a:lnTo>
                  <a:lnTo>
                    <a:pt x="36"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6" name="Freeform 5368"/>
            <p:cNvSpPr>
              <a:spLocks/>
            </p:cNvSpPr>
            <p:nvPr/>
          </p:nvSpPr>
          <p:spPr bwMode="auto">
            <a:xfrm>
              <a:off x="1615" y="2661"/>
              <a:ext cx="37" cy="28"/>
            </a:xfrm>
            <a:custGeom>
              <a:avLst/>
              <a:gdLst>
                <a:gd name="T0" fmla="*/ 0 w 37"/>
                <a:gd name="T1" fmla="*/ 0 h 28"/>
                <a:gd name="T2" fmla="*/ 36 w 37"/>
                <a:gd name="T3" fmla="*/ 0 h 28"/>
                <a:gd name="T4" fmla="*/ 0 w 37"/>
                <a:gd name="T5" fmla="*/ 27 h 28"/>
                <a:gd name="T6" fmla="*/ 0 w 37"/>
                <a:gd name="T7" fmla="*/ 0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0"/>
                  </a:moveTo>
                  <a:lnTo>
                    <a:pt x="36"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7" name="Freeform 5369"/>
            <p:cNvSpPr>
              <a:spLocks/>
            </p:cNvSpPr>
            <p:nvPr/>
          </p:nvSpPr>
          <p:spPr bwMode="auto">
            <a:xfrm>
              <a:off x="1615" y="2661"/>
              <a:ext cx="37" cy="28"/>
            </a:xfrm>
            <a:custGeom>
              <a:avLst/>
              <a:gdLst>
                <a:gd name="T0" fmla="*/ 0 w 37"/>
                <a:gd name="T1" fmla="*/ 27 h 28"/>
                <a:gd name="T2" fmla="*/ 36 w 37"/>
                <a:gd name="T3" fmla="*/ 27 h 28"/>
                <a:gd name="T4" fmla="*/ 36 w 37"/>
                <a:gd name="T5" fmla="*/ 0 h 28"/>
                <a:gd name="T6" fmla="*/ 0 w 37"/>
                <a:gd name="T7" fmla="*/ 0 h 28"/>
                <a:gd name="T8" fmla="*/ 0 w 37"/>
                <a:gd name="T9" fmla="*/ 27 h 28"/>
                <a:gd name="T10" fmla="*/ 0 w 37"/>
                <a:gd name="T11" fmla="*/ 27 h 28"/>
                <a:gd name="T12" fmla="*/ 0 60000 65536"/>
                <a:gd name="T13" fmla="*/ 0 60000 65536"/>
                <a:gd name="T14" fmla="*/ 0 60000 65536"/>
                <a:gd name="T15" fmla="*/ 0 60000 65536"/>
                <a:gd name="T16" fmla="*/ 0 60000 65536"/>
                <a:gd name="T17" fmla="*/ 0 60000 65536"/>
                <a:gd name="T18" fmla="*/ 0 w 37"/>
                <a:gd name="T19" fmla="*/ 0 h 28"/>
                <a:gd name="T20" fmla="*/ 37 w 3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7" h="28">
                  <a:moveTo>
                    <a:pt x="0" y="27"/>
                  </a:moveTo>
                  <a:lnTo>
                    <a:pt x="36" y="27"/>
                  </a:lnTo>
                  <a:lnTo>
                    <a:pt x="36"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8" name="Line 5370"/>
            <p:cNvSpPr>
              <a:spLocks noChangeShapeType="1"/>
            </p:cNvSpPr>
            <p:nvPr/>
          </p:nvSpPr>
          <p:spPr bwMode="auto">
            <a:xfrm>
              <a:off x="1568" y="2669"/>
              <a:ext cx="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89" name="Freeform 5371"/>
            <p:cNvSpPr>
              <a:spLocks/>
            </p:cNvSpPr>
            <p:nvPr/>
          </p:nvSpPr>
          <p:spPr bwMode="auto">
            <a:xfrm>
              <a:off x="1568" y="2661"/>
              <a:ext cx="48" cy="28"/>
            </a:xfrm>
            <a:custGeom>
              <a:avLst/>
              <a:gdLst>
                <a:gd name="T0" fmla="*/ 0 w 48"/>
                <a:gd name="T1" fmla="*/ 27 h 28"/>
                <a:gd name="T2" fmla="*/ 47 w 48"/>
                <a:gd name="T3" fmla="*/ 0 h 28"/>
                <a:gd name="T4" fmla="*/ 47 w 48"/>
                <a:gd name="T5" fmla="*/ 27 h 28"/>
                <a:gd name="T6" fmla="*/ 0 w 48"/>
                <a:gd name="T7" fmla="*/ 27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27"/>
                  </a:moveTo>
                  <a:lnTo>
                    <a:pt x="47" y="0"/>
                  </a:lnTo>
                  <a:lnTo>
                    <a:pt x="47"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0" name="Freeform 5372"/>
            <p:cNvSpPr>
              <a:spLocks/>
            </p:cNvSpPr>
            <p:nvPr/>
          </p:nvSpPr>
          <p:spPr bwMode="auto">
            <a:xfrm>
              <a:off x="1568" y="2661"/>
              <a:ext cx="48" cy="28"/>
            </a:xfrm>
            <a:custGeom>
              <a:avLst/>
              <a:gdLst>
                <a:gd name="T0" fmla="*/ 0 w 48"/>
                <a:gd name="T1" fmla="*/ 0 h 28"/>
                <a:gd name="T2" fmla="*/ 47 w 48"/>
                <a:gd name="T3" fmla="*/ 0 h 28"/>
                <a:gd name="T4" fmla="*/ 0 w 48"/>
                <a:gd name="T5" fmla="*/ 27 h 28"/>
                <a:gd name="T6" fmla="*/ 0 w 48"/>
                <a:gd name="T7" fmla="*/ 0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0"/>
                  </a:moveTo>
                  <a:lnTo>
                    <a:pt x="47"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1" name="Freeform 5373"/>
            <p:cNvSpPr>
              <a:spLocks/>
            </p:cNvSpPr>
            <p:nvPr/>
          </p:nvSpPr>
          <p:spPr bwMode="auto">
            <a:xfrm>
              <a:off x="1568" y="2661"/>
              <a:ext cx="48" cy="28"/>
            </a:xfrm>
            <a:custGeom>
              <a:avLst/>
              <a:gdLst>
                <a:gd name="T0" fmla="*/ 0 w 48"/>
                <a:gd name="T1" fmla="*/ 27 h 28"/>
                <a:gd name="T2" fmla="*/ 47 w 48"/>
                <a:gd name="T3" fmla="*/ 27 h 28"/>
                <a:gd name="T4" fmla="*/ 47 w 48"/>
                <a:gd name="T5" fmla="*/ 0 h 28"/>
                <a:gd name="T6" fmla="*/ 0 w 48"/>
                <a:gd name="T7" fmla="*/ 0 h 28"/>
                <a:gd name="T8" fmla="*/ 0 w 48"/>
                <a:gd name="T9" fmla="*/ 27 h 28"/>
                <a:gd name="T10" fmla="*/ 0 w 48"/>
                <a:gd name="T11" fmla="*/ 27 h 28"/>
                <a:gd name="T12" fmla="*/ 0 60000 65536"/>
                <a:gd name="T13" fmla="*/ 0 60000 65536"/>
                <a:gd name="T14" fmla="*/ 0 60000 65536"/>
                <a:gd name="T15" fmla="*/ 0 60000 65536"/>
                <a:gd name="T16" fmla="*/ 0 60000 65536"/>
                <a:gd name="T17" fmla="*/ 0 60000 65536"/>
                <a:gd name="T18" fmla="*/ 0 w 48"/>
                <a:gd name="T19" fmla="*/ 0 h 28"/>
                <a:gd name="T20" fmla="*/ 48 w 4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8" h="28">
                  <a:moveTo>
                    <a:pt x="0" y="27"/>
                  </a:moveTo>
                  <a:lnTo>
                    <a:pt x="47" y="27"/>
                  </a:lnTo>
                  <a:lnTo>
                    <a:pt x="47"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2" name="Line 5374"/>
            <p:cNvSpPr>
              <a:spLocks noChangeShapeType="1"/>
            </p:cNvSpPr>
            <p:nvPr/>
          </p:nvSpPr>
          <p:spPr bwMode="auto">
            <a:xfrm>
              <a:off x="1530"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3" name="Freeform 5375"/>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4" name="Line 5376"/>
            <p:cNvSpPr>
              <a:spLocks noChangeShapeType="1"/>
            </p:cNvSpPr>
            <p:nvPr/>
          </p:nvSpPr>
          <p:spPr bwMode="auto">
            <a:xfrm>
              <a:off x="1530"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5" name="Freeform 5377"/>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6" name="Line 5378"/>
            <p:cNvSpPr>
              <a:spLocks noChangeShapeType="1"/>
            </p:cNvSpPr>
            <p:nvPr/>
          </p:nvSpPr>
          <p:spPr bwMode="auto">
            <a:xfrm>
              <a:off x="149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7" name="Freeform 5379"/>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8" name="Line 5380"/>
            <p:cNvSpPr>
              <a:spLocks noChangeShapeType="1"/>
            </p:cNvSpPr>
            <p:nvPr/>
          </p:nvSpPr>
          <p:spPr bwMode="auto">
            <a:xfrm>
              <a:off x="149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99" name="Freeform 5381"/>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0" name="Line 5382"/>
            <p:cNvSpPr>
              <a:spLocks noChangeShapeType="1"/>
            </p:cNvSpPr>
            <p:nvPr/>
          </p:nvSpPr>
          <p:spPr bwMode="auto">
            <a:xfrm>
              <a:off x="145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1" name="Freeform 5383"/>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2" name="Line 5384"/>
            <p:cNvSpPr>
              <a:spLocks noChangeShapeType="1"/>
            </p:cNvSpPr>
            <p:nvPr/>
          </p:nvSpPr>
          <p:spPr bwMode="auto">
            <a:xfrm>
              <a:off x="145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3" name="Freeform 5385"/>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4" name="Line 5386"/>
            <p:cNvSpPr>
              <a:spLocks noChangeShapeType="1"/>
            </p:cNvSpPr>
            <p:nvPr/>
          </p:nvSpPr>
          <p:spPr bwMode="auto">
            <a:xfrm>
              <a:off x="1409"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5" name="Freeform 5387"/>
            <p:cNvSpPr>
              <a:spLocks/>
            </p:cNvSpPr>
            <p:nvPr/>
          </p:nvSpPr>
          <p:spPr bwMode="auto">
            <a:xfrm>
              <a:off x="1409" y="2661"/>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6" name="Freeform 5388"/>
            <p:cNvSpPr>
              <a:spLocks/>
            </p:cNvSpPr>
            <p:nvPr/>
          </p:nvSpPr>
          <p:spPr bwMode="auto">
            <a:xfrm>
              <a:off x="1409" y="2661"/>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7" name="Freeform 5389"/>
            <p:cNvSpPr>
              <a:spLocks/>
            </p:cNvSpPr>
            <p:nvPr/>
          </p:nvSpPr>
          <p:spPr bwMode="auto">
            <a:xfrm>
              <a:off x="1409" y="2661"/>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8" name="Line 5390"/>
            <p:cNvSpPr>
              <a:spLocks noChangeShapeType="1"/>
            </p:cNvSpPr>
            <p:nvPr/>
          </p:nvSpPr>
          <p:spPr bwMode="auto">
            <a:xfrm>
              <a:off x="1367"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09" name="Freeform 5391"/>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60000 65536"/>
                <a:gd name="T9" fmla="*/ 0 60000 65536"/>
                <a:gd name="T10" fmla="*/ 0 60000 65536"/>
                <a:gd name="T11" fmla="*/ 0 60000 65536"/>
                <a:gd name="T12" fmla="*/ 0 w 43"/>
                <a:gd name="T13" fmla="*/ 0 h 1"/>
                <a:gd name="T14" fmla="*/ 43 w 43"/>
                <a:gd name="T15" fmla="*/ 1 h 1"/>
              </a:gdLst>
              <a:ahLst/>
              <a:cxnLst>
                <a:cxn ang="T8">
                  <a:pos x="T0" y="T1"/>
                </a:cxn>
                <a:cxn ang="T9">
                  <a:pos x="T2" y="T3"/>
                </a:cxn>
                <a:cxn ang="T10">
                  <a:pos x="T4" y="T5"/>
                </a:cxn>
                <a:cxn ang="T11">
                  <a:pos x="T6" y="T7"/>
                </a:cxn>
              </a:cxnLst>
              <a:rect l="T12" t="T13" r="T14" b="T15"/>
              <a:pathLst>
                <a:path w="43" h="1">
                  <a:moveTo>
                    <a:pt x="0" y="0"/>
                  </a:moveTo>
                  <a:lnTo>
                    <a:pt x="42"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0" name="Line 5392"/>
            <p:cNvSpPr>
              <a:spLocks noChangeShapeType="1"/>
            </p:cNvSpPr>
            <p:nvPr/>
          </p:nvSpPr>
          <p:spPr bwMode="auto">
            <a:xfrm>
              <a:off x="1367"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1" name="Freeform 5393"/>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w 43"/>
                <a:gd name="T9" fmla="*/ 0 h 1"/>
                <a:gd name="T10" fmla="*/ 0 w 43"/>
                <a:gd name="T11" fmla="*/ 0 h 1"/>
                <a:gd name="T12" fmla="*/ 0 60000 65536"/>
                <a:gd name="T13" fmla="*/ 0 60000 65536"/>
                <a:gd name="T14" fmla="*/ 0 60000 65536"/>
                <a:gd name="T15" fmla="*/ 0 60000 65536"/>
                <a:gd name="T16" fmla="*/ 0 60000 65536"/>
                <a:gd name="T17" fmla="*/ 0 60000 65536"/>
                <a:gd name="T18" fmla="*/ 0 w 43"/>
                <a:gd name="T19" fmla="*/ 0 h 1"/>
                <a:gd name="T20" fmla="*/ 43 w 43"/>
                <a:gd name="T21" fmla="*/ 1 h 1"/>
              </a:gdLst>
              <a:ahLst/>
              <a:cxnLst>
                <a:cxn ang="T12">
                  <a:pos x="T0" y="T1"/>
                </a:cxn>
                <a:cxn ang="T13">
                  <a:pos x="T2" y="T3"/>
                </a:cxn>
                <a:cxn ang="T14">
                  <a:pos x="T4" y="T5"/>
                </a:cxn>
                <a:cxn ang="T15">
                  <a:pos x="T6" y="T7"/>
                </a:cxn>
                <a:cxn ang="T16">
                  <a:pos x="T8" y="T9"/>
                </a:cxn>
                <a:cxn ang="T17">
                  <a:pos x="T10" y="T11"/>
                </a:cxn>
              </a:cxnLst>
              <a:rect l="T18" t="T19" r="T20" b="T21"/>
              <a:pathLst>
                <a:path w="43" h="1">
                  <a:moveTo>
                    <a:pt x="0" y="0"/>
                  </a:moveTo>
                  <a:lnTo>
                    <a:pt x="42"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2" name="Line 5394"/>
            <p:cNvSpPr>
              <a:spLocks noChangeShapeType="1"/>
            </p:cNvSpPr>
            <p:nvPr/>
          </p:nvSpPr>
          <p:spPr bwMode="auto">
            <a:xfrm>
              <a:off x="132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3" name="Freeform 5395"/>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4" name="Line 5396"/>
            <p:cNvSpPr>
              <a:spLocks noChangeShapeType="1"/>
            </p:cNvSpPr>
            <p:nvPr/>
          </p:nvSpPr>
          <p:spPr bwMode="auto">
            <a:xfrm>
              <a:off x="132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5" name="Freeform 5397"/>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6" name="Line 5398"/>
            <p:cNvSpPr>
              <a:spLocks noChangeShapeType="1"/>
            </p:cNvSpPr>
            <p:nvPr/>
          </p:nvSpPr>
          <p:spPr bwMode="auto">
            <a:xfrm>
              <a:off x="1286" y="2669"/>
              <a:ext cx="4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7" name="Freeform 5399"/>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60000 65536"/>
                <a:gd name="T9" fmla="*/ 0 60000 65536"/>
                <a:gd name="T10" fmla="*/ 0 60000 65536"/>
                <a:gd name="T11" fmla="*/ 0 60000 65536"/>
                <a:gd name="T12" fmla="*/ 0 w 44"/>
                <a:gd name="T13" fmla="*/ 0 h 1"/>
                <a:gd name="T14" fmla="*/ 44 w 44"/>
                <a:gd name="T15" fmla="*/ 1 h 1"/>
              </a:gdLst>
              <a:ahLst/>
              <a:cxnLst>
                <a:cxn ang="T8">
                  <a:pos x="T0" y="T1"/>
                </a:cxn>
                <a:cxn ang="T9">
                  <a:pos x="T2" y="T3"/>
                </a:cxn>
                <a:cxn ang="T10">
                  <a:pos x="T4" y="T5"/>
                </a:cxn>
                <a:cxn ang="T11">
                  <a:pos x="T6" y="T7"/>
                </a:cxn>
              </a:cxnLst>
              <a:rect l="T12" t="T13" r="T14" b="T15"/>
              <a:pathLst>
                <a:path w="44" h="1">
                  <a:moveTo>
                    <a:pt x="0" y="0"/>
                  </a:moveTo>
                  <a:lnTo>
                    <a:pt x="4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8" name="Line 5400"/>
            <p:cNvSpPr>
              <a:spLocks noChangeShapeType="1"/>
            </p:cNvSpPr>
            <p:nvPr/>
          </p:nvSpPr>
          <p:spPr bwMode="auto">
            <a:xfrm>
              <a:off x="1286" y="2669"/>
              <a:ext cx="4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19" name="Freeform 5401"/>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w 44"/>
                <a:gd name="T9" fmla="*/ 0 h 1"/>
                <a:gd name="T10" fmla="*/ 0 w 44"/>
                <a:gd name="T11" fmla="*/ 0 h 1"/>
                <a:gd name="T12" fmla="*/ 0 60000 65536"/>
                <a:gd name="T13" fmla="*/ 0 60000 65536"/>
                <a:gd name="T14" fmla="*/ 0 60000 65536"/>
                <a:gd name="T15" fmla="*/ 0 60000 65536"/>
                <a:gd name="T16" fmla="*/ 0 60000 65536"/>
                <a:gd name="T17" fmla="*/ 0 60000 65536"/>
                <a:gd name="T18" fmla="*/ 0 w 44"/>
                <a:gd name="T19" fmla="*/ 0 h 1"/>
                <a:gd name="T20" fmla="*/ 44 w 4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4" h="1">
                  <a:moveTo>
                    <a:pt x="0" y="0"/>
                  </a:moveTo>
                  <a:lnTo>
                    <a:pt x="43"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0" name="Line 5402"/>
            <p:cNvSpPr>
              <a:spLocks noChangeShapeType="1"/>
            </p:cNvSpPr>
            <p:nvPr/>
          </p:nvSpPr>
          <p:spPr bwMode="auto">
            <a:xfrm>
              <a:off x="1249"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1" name="Freeform 5403"/>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60000 65536"/>
                <a:gd name="T9" fmla="*/ 0 60000 65536"/>
                <a:gd name="T10" fmla="*/ 0 60000 65536"/>
                <a:gd name="T11" fmla="*/ 0 60000 65536"/>
                <a:gd name="T12" fmla="*/ 0 w 38"/>
                <a:gd name="T13" fmla="*/ 0 h 1"/>
                <a:gd name="T14" fmla="*/ 38 w 38"/>
                <a:gd name="T15" fmla="*/ 1 h 1"/>
              </a:gdLst>
              <a:ahLst/>
              <a:cxnLst>
                <a:cxn ang="T8">
                  <a:pos x="T0" y="T1"/>
                </a:cxn>
                <a:cxn ang="T9">
                  <a:pos x="T2" y="T3"/>
                </a:cxn>
                <a:cxn ang="T10">
                  <a:pos x="T4" y="T5"/>
                </a:cxn>
                <a:cxn ang="T11">
                  <a:pos x="T6" y="T7"/>
                </a:cxn>
              </a:cxnLst>
              <a:rect l="T12" t="T13" r="T14" b="T15"/>
              <a:pathLst>
                <a:path w="38" h="1">
                  <a:moveTo>
                    <a:pt x="0" y="0"/>
                  </a:moveTo>
                  <a:lnTo>
                    <a:pt x="3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2" name="Line 5404"/>
            <p:cNvSpPr>
              <a:spLocks noChangeShapeType="1"/>
            </p:cNvSpPr>
            <p:nvPr/>
          </p:nvSpPr>
          <p:spPr bwMode="auto">
            <a:xfrm>
              <a:off x="1249"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3" name="Freeform 5405"/>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w 38"/>
                <a:gd name="T9" fmla="*/ 0 h 1"/>
                <a:gd name="T10" fmla="*/ 0 w 38"/>
                <a:gd name="T11" fmla="*/ 0 h 1"/>
                <a:gd name="T12" fmla="*/ 0 60000 65536"/>
                <a:gd name="T13" fmla="*/ 0 60000 65536"/>
                <a:gd name="T14" fmla="*/ 0 60000 65536"/>
                <a:gd name="T15" fmla="*/ 0 60000 65536"/>
                <a:gd name="T16" fmla="*/ 0 60000 65536"/>
                <a:gd name="T17" fmla="*/ 0 60000 65536"/>
                <a:gd name="T18" fmla="*/ 0 w 38"/>
                <a:gd name="T19" fmla="*/ 0 h 1"/>
                <a:gd name="T20" fmla="*/ 38 w 38"/>
                <a:gd name="T21" fmla="*/ 1 h 1"/>
              </a:gdLst>
              <a:ahLst/>
              <a:cxnLst>
                <a:cxn ang="T12">
                  <a:pos x="T0" y="T1"/>
                </a:cxn>
                <a:cxn ang="T13">
                  <a:pos x="T2" y="T3"/>
                </a:cxn>
                <a:cxn ang="T14">
                  <a:pos x="T4" y="T5"/>
                </a:cxn>
                <a:cxn ang="T15">
                  <a:pos x="T6" y="T7"/>
                </a:cxn>
                <a:cxn ang="T16">
                  <a:pos x="T8" y="T9"/>
                </a:cxn>
                <a:cxn ang="T17">
                  <a:pos x="T10" y="T11"/>
                </a:cxn>
              </a:cxnLst>
              <a:rect l="T18" t="T19" r="T20" b="T21"/>
              <a:pathLst>
                <a:path w="38" h="1">
                  <a:moveTo>
                    <a:pt x="0" y="0"/>
                  </a:moveTo>
                  <a:lnTo>
                    <a:pt x="37"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4" name="Freeform 5406"/>
            <p:cNvSpPr>
              <a:spLocks/>
            </p:cNvSpPr>
            <p:nvPr/>
          </p:nvSpPr>
          <p:spPr bwMode="auto">
            <a:xfrm>
              <a:off x="1651" y="2653"/>
              <a:ext cx="26" cy="28"/>
            </a:xfrm>
            <a:custGeom>
              <a:avLst/>
              <a:gdLst>
                <a:gd name="T0" fmla="*/ 25 w 26"/>
                <a:gd name="T1" fmla="*/ 15 h 28"/>
                <a:gd name="T2" fmla="*/ 0 w 26"/>
                <a:gd name="T3" fmla="*/ 0 h 28"/>
                <a:gd name="T4" fmla="*/ 0 w 26"/>
                <a:gd name="T5" fmla="*/ 27 h 28"/>
                <a:gd name="T6" fmla="*/ 25 w 26"/>
                <a:gd name="T7" fmla="*/ 15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5"/>
                  </a:moveTo>
                  <a:lnTo>
                    <a:pt x="0" y="0"/>
                  </a:lnTo>
                  <a:lnTo>
                    <a:pt x="0" y="27"/>
                  </a:lnTo>
                  <a:lnTo>
                    <a:pt x="25"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5" name="Freeform 5407"/>
            <p:cNvSpPr>
              <a:spLocks/>
            </p:cNvSpPr>
            <p:nvPr/>
          </p:nvSpPr>
          <p:spPr bwMode="auto">
            <a:xfrm>
              <a:off x="1651" y="2647"/>
              <a:ext cx="26" cy="28"/>
            </a:xfrm>
            <a:custGeom>
              <a:avLst/>
              <a:gdLst>
                <a:gd name="T0" fmla="*/ 25 w 26"/>
                <a:gd name="T1" fmla="*/ 27 h 28"/>
                <a:gd name="T2" fmla="*/ 25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12"/>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6" name="Freeform 5408"/>
            <p:cNvSpPr>
              <a:spLocks/>
            </p:cNvSpPr>
            <p:nvPr/>
          </p:nvSpPr>
          <p:spPr bwMode="auto">
            <a:xfrm>
              <a:off x="1663" y="2653"/>
              <a:ext cx="27" cy="28"/>
            </a:xfrm>
            <a:custGeom>
              <a:avLst/>
              <a:gdLst>
                <a:gd name="T0" fmla="*/ 0 w 27"/>
                <a:gd name="T1" fmla="*/ 27 h 28"/>
                <a:gd name="T2" fmla="*/ 0 w 27"/>
                <a:gd name="T3" fmla="*/ 27 h 28"/>
                <a:gd name="T4" fmla="*/ 26 w 27"/>
                <a:gd name="T5" fmla="*/ 0 h 28"/>
                <a:gd name="T6" fmla="*/ 0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27"/>
                  </a:moveTo>
                  <a:lnTo>
                    <a:pt x="0" y="27"/>
                  </a:lnTo>
                  <a:lnTo>
                    <a:pt x="26"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7" name="Line 5409"/>
            <p:cNvSpPr>
              <a:spLocks noChangeShapeType="1"/>
            </p:cNvSpPr>
            <p:nvPr/>
          </p:nvSpPr>
          <p:spPr bwMode="auto">
            <a:xfrm>
              <a:off x="1663" y="2661"/>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8" name="Freeform 5410"/>
            <p:cNvSpPr>
              <a:spLocks/>
            </p:cNvSpPr>
            <p:nvPr/>
          </p:nvSpPr>
          <p:spPr bwMode="auto">
            <a:xfrm>
              <a:off x="1663" y="2647"/>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29" name="Freeform 5411"/>
            <p:cNvSpPr>
              <a:spLocks/>
            </p:cNvSpPr>
            <p:nvPr/>
          </p:nvSpPr>
          <p:spPr bwMode="auto">
            <a:xfrm>
              <a:off x="1663" y="2647"/>
              <a:ext cx="27" cy="28"/>
            </a:xfrm>
            <a:custGeom>
              <a:avLst/>
              <a:gdLst>
                <a:gd name="T0" fmla="*/ 26 w 27"/>
                <a:gd name="T1" fmla="*/ 27 h 28"/>
                <a:gd name="T2" fmla="*/ 26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0"/>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0" name="Freeform 5412"/>
            <p:cNvSpPr>
              <a:spLocks/>
            </p:cNvSpPr>
            <p:nvPr/>
          </p:nvSpPr>
          <p:spPr bwMode="auto">
            <a:xfrm>
              <a:off x="1676"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1" name="Line 5413"/>
            <p:cNvSpPr>
              <a:spLocks noChangeShapeType="1"/>
            </p:cNvSpPr>
            <p:nvPr/>
          </p:nvSpPr>
          <p:spPr bwMode="auto">
            <a:xfrm>
              <a:off x="1676" y="266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2" name="Freeform 5414"/>
            <p:cNvSpPr>
              <a:spLocks/>
            </p:cNvSpPr>
            <p:nvPr/>
          </p:nvSpPr>
          <p:spPr bwMode="auto">
            <a:xfrm>
              <a:off x="1676" y="2647"/>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3" name="Freeform 5415"/>
            <p:cNvSpPr>
              <a:spLocks/>
            </p:cNvSpPr>
            <p:nvPr/>
          </p:nvSpPr>
          <p:spPr bwMode="auto">
            <a:xfrm>
              <a:off x="1676" y="2647"/>
              <a:ext cx="26" cy="28"/>
            </a:xfrm>
            <a:custGeom>
              <a:avLst/>
              <a:gdLst>
                <a:gd name="T0" fmla="*/ 25 w 26"/>
                <a:gd name="T1" fmla="*/ 27 h 28"/>
                <a:gd name="T2" fmla="*/ 25 w 26"/>
                <a:gd name="T3" fmla="*/ 0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0"/>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4" name="Freeform 5416"/>
            <p:cNvSpPr>
              <a:spLocks/>
            </p:cNvSpPr>
            <p:nvPr/>
          </p:nvSpPr>
          <p:spPr bwMode="auto">
            <a:xfrm>
              <a:off x="1689"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5" name="Line 5417"/>
            <p:cNvSpPr>
              <a:spLocks noChangeShapeType="1"/>
            </p:cNvSpPr>
            <p:nvPr/>
          </p:nvSpPr>
          <p:spPr bwMode="auto">
            <a:xfrm>
              <a:off x="1689" y="2661"/>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6" name="Freeform 5418"/>
            <p:cNvSpPr>
              <a:spLocks/>
            </p:cNvSpPr>
            <p:nvPr/>
          </p:nvSpPr>
          <p:spPr bwMode="auto">
            <a:xfrm>
              <a:off x="1689" y="2647"/>
              <a:ext cx="24" cy="28"/>
            </a:xfrm>
            <a:custGeom>
              <a:avLst/>
              <a:gdLst>
                <a:gd name="T0" fmla="*/ 23 w 24"/>
                <a:gd name="T1" fmla="*/ 12 h 28"/>
                <a:gd name="T2" fmla="*/ 0 w 24"/>
                <a:gd name="T3" fmla="*/ 0 h 28"/>
                <a:gd name="T4" fmla="*/ 0 w 24"/>
                <a:gd name="T5" fmla="*/ 27 h 28"/>
                <a:gd name="T6" fmla="*/ 23 w 24"/>
                <a:gd name="T7" fmla="*/ 12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2"/>
                  </a:moveTo>
                  <a:lnTo>
                    <a:pt x="0" y="0"/>
                  </a:lnTo>
                  <a:lnTo>
                    <a:pt x="0" y="27"/>
                  </a:lnTo>
                  <a:lnTo>
                    <a:pt x="23"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7" name="Freeform 5419"/>
            <p:cNvSpPr>
              <a:spLocks/>
            </p:cNvSpPr>
            <p:nvPr/>
          </p:nvSpPr>
          <p:spPr bwMode="auto">
            <a:xfrm>
              <a:off x="1689" y="2640"/>
              <a:ext cx="24" cy="28"/>
            </a:xfrm>
            <a:custGeom>
              <a:avLst/>
              <a:gdLst>
                <a:gd name="T0" fmla="*/ 23 w 24"/>
                <a:gd name="T1" fmla="*/ 27 h 28"/>
                <a:gd name="T2" fmla="*/ 23 w 24"/>
                <a:gd name="T3" fmla="*/ 0 h 28"/>
                <a:gd name="T4" fmla="*/ 0 w 24"/>
                <a:gd name="T5" fmla="*/ 13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13"/>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8" name="Freeform 5420"/>
            <p:cNvSpPr>
              <a:spLocks/>
            </p:cNvSpPr>
            <p:nvPr/>
          </p:nvSpPr>
          <p:spPr bwMode="auto">
            <a:xfrm>
              <a:off x="1701"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39" name="Line 5421"/>
            <p:cNvSpPr>
              <a:spLocks noChangeShapeType="1"/>
            </p:cNvSpPr>
            <p:nvPr/>
          </p:nvSpPr>
          <p:spPr bwMode="auto">
            <a:xfrm>
              <a:off x="1701" y="2653"/>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0" name="Freeform 5422"/>
            <p:cNvSpPr>
              <a:spLocks/>
            </p:cNvSpPr>
            <p:nvPr/>
          </p:nvSpPr>
          <p:spPr bwMode="auto">
            <a:xfrm>
              <a:off x="1701" y="2640"/>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1" name="Freeform 5423"/>
            <p:cNvSpPr>
              <a:spLocks/>
            </p:cNvSpPr>
            <p:nvPr/>
          </p:nvSpPr>
          <p:spPr bwMode="auto">
            <a:xfrm>
              <a:off x="1701" y="2640"/>
              <a:ext cx="27" cy="28"/>
            </a:xfrm>
            <a:custGeom>
              <a:avLst/>
              <a:gdLst>
                <a:gd name="T0" fmla="*/ 26 w 27"/>
                <a:gd name="T1" fmla="*/ 27 h 28"/>
                <a:gd name="T2" fmla="*/ 11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1" y="0"/>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2" name="Freeform 5424"/>
            <p:cNvSpPr>
              <a:spLocks/>
            </p:cNvSpPr>
            <p:nvPr/>
          </p:nvSpPr>
          <p:spPr bwMode="auto">
            <a:xfrm>
              <a:off x="1712"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3" name="Line 5425"/>
            <p:cNvSpPr>
              <a:spLocks noChangeShapeType="1"/>
            </p:cNvSpPr>
            <p:nvPr/>
          </p:nvSpPr>
          <p:spPr bwMode="auto">
            <a:xfrm>
              <a:off x="1712" y="265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4" name="Freeform 5426"/>
            <p:cNvSpPr>
              <a:spLocks/>
            </p:cNvSpPr>
            <p:nvPr/>
          </p:nvSpPr>
          <p:spPr bwMode="auto">
            <a:xfrm>
              <a:off x="1705" y="2640"/>
              <a:ext cx="25" cy="28"/>
            </a:xfrm>
            <a:custGeom>
              <a:avLst/>
              <a:gdLst>
                <a:gd name="T0" fmla="*/ 24 w 25"/>
                <a:gd name="T1" fmla="*/ 13 h 28"/>
                <a:gd name="T2" fmla="*/ 0 w 25"/>
                <a:gd name="T3" fmla="*/ 0 h 28"/>
                <a:gd name="T4" fmla="*/ 9 w 25"/>
                <a:gd name="T5" fmla="*/ 27 h 28"/>
                <a:gd name="T6" fmla="*/ 24 w 25"/>
                <a:gd name="T7" fmla="*/ 13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13"/>
                  </a:moveTo>
                  <a:lnTo>
                    <a:pt x="0" y="0"/>
                  </a:lnTo>
                  <a:lnTo>
                    <a:pt x="9" y="27"/>
                  </a:lnTo>
                  <a:lnTo>
                    <a:pt x="24"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5" name="Freeform 5427"/>
            <p:cNvSpPr>
              <a:spLocks/>
            </p:cNvSpPr>
            <p:nvPr/>
          </p:nvSpPr>
          <p:spPr bwMode="auto">
            <a:xfrm>
              <a:off x="1705" y="2632"/>
              <a:ext cx="25" cy="27"/>
            </a:xfrm>
            <a:custGeom>
              <a:avLst/>
              <a:gdLst>
                <a:gd name="T0" fmla="*/ 24 w 25"/>
                <a:gd name="T1" fmla="*/ 26 h 27"/>
                <a:gd name="T2" fmla="*/ 16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6" y="0"/>
                  </a:lnTo>
                  <a:lnTo>
                    <a:pt x="0" y="14"/>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6" name="Freeform 5428"/>
            <p:cNvSpPr>
              <a:spLocks/>
            </p:cNvSpPr>
            <p:nvPr/>
          </p:nvSpPr>
          <p:spPr bwMode="auto">
            <a:xfrm>
              <a:off x="1722" y="2640"/>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7" name="Line 5429"/>
            <p:cNvSpPr>
              <a:spLocks noChangeShapeType="1"/>
            </p:cNvSpPr>
            <p:nvPr/>
          </p:nvSpPr>
          <p:spPr bwMode="auto">
            <a:xfrm>
              <a:off x="1722" y="264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8" name="Freeform 5430"/>
            <p:cNvSpPr>
              <a:spLocks/>
            </p:cNvSpPr>
            <p:nvPr/>
          </p:nvSpPr>
          <p:spPr bwMode="auto">
            <a:xfrm>
              <a:off x="1718" y="2632"/>
              <a:ext cx="27" cy="27"/>
            </a:xfrm>
            <a:custGeom>
              <a:avLst/>
              <a:gdLst>
                <a:gd name="T0" fmla="*/ 26 w 27"/>
                <a:gd name="T1" fmla="*/ 14 h 27"/>
                <a:gd name="T2" fmla="*/ 0 w 27"/>
                <a:gd name="T3" fmla="*/ 0 h 27"/>
                <a:gd name="T4" fmla="*/ 8 w 27"/>
                <a:gd name="T5" fmla="*/ 26 h 27"/>
                <a:gd name="T6" fmla="*/ 26 w 27"/>
                <a:gd name="T7" fmla="*/ 14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4"/>
                  </a:moveTo>
                  <a:lnTo>
                    <a:pt x="0" y="0"/>
                  </a:lnTo>
                  <a:lnTo>
                    <a:pt x="8" y="26"/>
                  </a:lnTo>
                  <a:lnTo>
                    <a:pt x="26"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49" name="Freeform 5431"/>
            <p:cNvSpPr>
              <a:spLocks/>
            </p:cNvSpPr>
            <p:nvPr/>
          </p:nvSpPr>
          <p:spPr bwMode="auto">
            <a:xfrm>
              <a:off x="1718" y="2632"/>
              <a:ext cx="27" cy="27"/>
            </a:xfrm>
            <a:custGeom>
              <a:avLst/>
              <a:gdLst>
                <a:gd name="T0" fmla="*/ 26 w 27"/>
                <a:gd name="T1" fmla="*/ 26 h 27"/>
                <a:gd name="T2" fmla="*/ 18 w 27"/>
                <a:gd name="T3" fmla="*/ 0 h 27"/>
                <a:gd name="T4" fmla="*/ 0 w 27"/>
                <a:gd name="T5" fmla="*/ 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0"/>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0" name="Freeform 5432"/>
            <p:cNvSpPr>
              <a:spLocks/>
            </p:cNvSpPr>
            <p:nvPr/>
          </p:nvSpPr>
          <p:spPr bwMode="auto">
            <a:xfrm>
              <a:off x="1736" y="263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1" name="Line 5433"/>
            <p:cNvSpPr>
              <a:spLocks noChangeShapeType="1"/>
            </p:cNvSpPr>
            <p:nvPr/>
          </p:nvSpPr>
          <p:spPr bwMode="auto">
            <a:xfrm>
              <a:off x="1736" y="2640"/>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2" name="Freeform 5434"/>
            <p:cNvSpPr>
              <a:spLocks/>
            </p:cNvSpPr>
            <p:nvPr/>
          </p:nvSpPr>
          <p:spPr bwMode="auto">
            <a:xfrm>
              <a:off x="1731" y="2632"/>
              <a:ext cx="26" cy="27"/>
            </a:xfrm>
            <a:custGeom>
              <a:avLst/>
              <a:gdLst>
                <a:gd name="T0" fmla="*/ 25 w 26"/>
                <a:gd name="T1" fmla="*/ 26 h 27"/>
                <a:gd name="T2" fmla="*/ 0 w 26"/>
                <a:gd name="T3" fmla="*/ 0 h 27"/>
                <a:gd name="T4" fmla="*/ 7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0" y="0"/>
                  </a:lnTo>
                  <a:lnTo>
                    <a:pt x="7" y="26"/>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3" name="Freeform 5435"/>
            <p:cNvSpPr>
              <a:spLocks/>
            </p:cNvSpPr>
            <p:nvPr/>
          </p:nvSpPr>
          <p:spPr bwMode="auto">
            <a:xfrm>
              <a:off x="1731" y="2626"/>
              <a:ext cx="26" cy="27"/>
            </a:xfrm>
            <a:custGeom>
              <a:avLst/>
              <a:gdLst>
                <a:gd name="T0" fmla="*/ 25 w 26"/>
                <a:gd name="T1" fmla="*/ 26 h 27"/>
                <a:gd name="T2" fmla="*/ 15 w 26"/>
                <a:gd name="T3" fmla="*/ 0 h 27"/>
                <a:gd name="T4" fmla="*/ 0 w 26"/>
                <a:gd name="T5" fmla="*/ 11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11"/>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4" name="Freeform 5436"/>
            <p:cNvSpPr>
              <a:spLocks/>
            </p:cNvSpPr>
            <p:nvPr/>
          </p:nvSpPr>
          <p:spPr bwMode="auto">
            <a:xfrm>
              <a:off x="1750"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5" name="Line 5437"/>
            <p:cNvSpPr>
              <a:spLocks noChangeShapeType="1"/>
            </p:cNvSpPr>
            <p:nvPr/>
          </p:nvSpPr>
          <p:spPr bwMode="auto">
            <a:xfrm>
              <a:off x="1750" y="2640"/>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6" name="Freeform 5438"/>
            <p:cNvSpPr>
              <a:spLocks/>
            </p:cNvSpPr>
            <p:nvPr/>
          </p:nvSpPr>
          <p:spPr bwMode="auto">
            <a:xfrm>
              <a:off x="1742" y="2626"/>
              <a:ext cx="26" cy="27"/>
            </a:xfrm>
            <a:custGeom>
              <a:avLst/>
              <a:gdLst>
                <a:gd name="T0" fmla="*/ 25 w 26"/>
                <a:gd name="T1" fmla="*/ 11 h 27"/>
                <a:gd name="T2" fmla="*/ 0 w 26"/>
                <a:gd name="T3" fmla="*/ 0 h 27"/>
                <a:gd name="T4" fmla="*/ 9 w 26"/>
                <a:gd name="T5" fmla="*/ 26 h 27"/>
                <a:gd name="T6" fmla="*/ 25 w 26"/>
                <a:gd name="T7" fmla="*/ 11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1"/>
                  </a:moveTo>
                  <a:lnTo>
                    <a:pt x="0" y="0"/>
                  </a:lnTo>
                  <a:lnTo>
                    <a:pt x="9" y="26"/>
                  </a:lnTo>
                  <a:lnTo>
                    <a:pt x="25"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7" name="Freeform 5439"/>
            <p:cNvSpPr>
              <a:spLocks/>
            </p:cNvSpPr>
            <p:nvPr/>
          </p:nvSpPr>
          <p:spPr bwMode="auto">
            <a:xfrm>
              <a:off x="1742" y="2619"/>
              <a:ext cx="26" cy="27"/>
            </a:xfrm>
            <a:custGeom>
              <a:avLst/>
              <a:gdLst>
                <a:gd name="T0" fmla="*/ 25 w 26"/>
                <a:gd name="T1" fmla="*/ 26 h 27"/>
                <a:gd name="T2" fmla="*/ 17 w 26"/>
                <a:gd name="T3" fmla="*/ 0 h 27"/>
                <a:gd name="T4" fmla="*/ 0 w 26"/>
                <a:gd name="T5" fmla="*/ 13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7" y="0"/>
                  </a:lnTo>
                  <a:lnTo>
                    <a:pt x="0" y="13"/>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8" name="Freeform 5440"/>
            <p:cNvSpPr>
              <a:spLocks/>
            </p:cNvSpPr>
            <p:nvPr/>
          </p:nvSpPr>
          <p:spPr bwMode="auto">
            <a:xfrm>
              <a:off x="1759"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59" name="Line 5441"/>
            <p:cNvSpPr>
              <a:spLocks noChangeShapeType="1"/>
            </p:cNvSpPr>
            <p:nvPr/>
          </p:nvSpPr>
          <p:spPr bwMode="auto">
            <a:xfrm>
              <a:off x="1759" y="2632"/>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0" name="Freeform 5442"/>
            <p:cNvSpPr>
              <a:spLocks/>
            </p:cNvSpPr>
            <p:nvPr/>
          </p:nvSpPr>
          <p:spPr bwMode="auto">
            <a:xfrm>
              <a:off x="1754" y="2619"/>
              <a:ext cx="27" cy="27"/>
            </a:xfrm>
            <a:custGeom>
              <a:avLst/>
              <a:gdLst>
                <a:gd name="T0" fmla="*/ 26 w 27"/>
                <a:gd name="T1" fmla="*/ 13 h 27"/>
                <a:gd name="T2" fmla="*/ 0 w 27"/>
                <a:gd name="T3" fmla="*/ 0 h 27"/>
                <a:gd name="T4" fmla="*/ 8 w 27"/>
                <a:gd name="T5" fmla="*/ 26 h 27"/>
                <a:gd name="T6" fmla="*/ 26 w 27"/>
                <a:gd name="T7" fmla="*/ 13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3"/>
                  </a:moveTo>
                  <a:lnTo>
                    <a:pt x="0" y="0"/>
                  </a:lnTo>
                  <a:lnTo>
                    <a:pt x="8" y="26"/>
                  </a:lnTo>
                  <a:lnTo>
                    <a:pt x="26"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1" name="Freeform 5443"/>
            <p:cNvSpPr>
              <a:spLocks/>
            </p:cNvSpPr>
            <p:nvPr/>
          </p:nvSpPr>
          <p:spPr bwMode="auto">
            <a:xfrm>
              <a:off x="1754" y="2611"/>
              <a:ext cx="27" cy="27"/>
            </a:xfrm>
            <a:custGeom>
              <a:avLst/>
              <a:gdLst>
                <a:gd name="T0" fmla="*/ 26 w 27"/>
                <a:gd name="T1" fmla="*/ 26 h 27"/>
                <a:gd name="T2" fmla="*/ 18 w 27"/>
                <a:gd name="T3" fmla="*/ 0 h 27"/>
                <a:gd name="T4" fmla="*/ 0 w 27"/>
                <a:gd name="T5" fmla="*/ 14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14"/>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2" name="Freeform 5444"/>
            <p:cNvSpPr>
              <a:spLocks/>
            </p:cNvSpPr>
            <p:nvPr/>
          </p:nvSpPr>
          <p:spPr bwMode="auto">
            <a:xfrm>
              <a:off x="1774" y="2619"/>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3" name="Line 5445"/>
            <p:cNvSpPr>
              <a:spLocks noChangeShapeType="1"/>
            </p:cNvSpPr>
            <p:nvPr/>
          </p:nvSpPr>
          <p:spPr bwMode="auto">
            <a:xfrm>
              <a:off x="1774" y="2626"/>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4" name="Freeform 5446"/>
            <p:cNvSpPr>
              <a:spLocks/>
            </p:cNvSpPr>
            <p:nvPr/>
          </p:nvSpPr>
          <p:spPr bwMode="auto">
            <a:xfrm>
              <a:off x="1767" y="2611"/>
              <a:ext cx="26" cy="27"/>
            </a:xfrm>
            <a:custGeom>
              <a:avLst/>
              <a:gdLst>
                <a:gd name="T0" fmla="*/ 25 w 26"/>
                <a:gd name="T1" fmla="*/ 14 h 27"/>
                <a:gd name="T2" fmla="*/ 0 w 26"/>
                <a:gd name="T3" fmla="*/ 0 h 27"/>
                <a:gd name="T4" fmla="*/ 7 w 26"/>
                <a:gd name="T5" fmla="*/ 26 h 27"/>
                <a:gd name="T6" fmla="*/ 25 w 26"/>
                <a:gd name="T7" fmla="*/ 14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4"/>
                  </a:moveTo>
                  <a:lnTo>
                    <a:pt x="0" y="0"/>
                  </a:lnTo>
                  <a:lnTo>
                    <a:pt x="7" y="26"/>
                  </a:lnTo>
                  <a:lnTo>
                    <a:pt x="25"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5" name="Freeform 5447"/>
            <p:cNvSpPr>
              <a:spLocks/>
            </p:cNvSpPr>
            <p:nvPr/>
          </p:nvSpPr>
          <p:spPr bwMode="auto">
            <a:xfrm>
              <a:off x="1767" y="2604"/>
              <a:ext cx="26" cy="28"/>
            </a:xfrm>
            <a:custGeom>
              <a:avLst/>
              <a:gdLst>
                <a:gd name="T0" fmla="*/ 25 w 26"/>
                <a:gd name="T1" fmla="*/ 27 h 28"/>
                <a:gd name="T2" fmla="*/ 17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17" y="0"/>
                  </a:lnTo>
                  <a:lnTo>
                    <a:pt x="0" y="12"/>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6" name="Freeform 5448"/>
            <p:cNvSpPr>
              <a:spLocks/>
            </p:cNvSpPr>
            <p:nvPr/>
          </p:nvSpPr>
          <p:spPr bwMode="auto">
            <a:xfrm>
              <a:off x="1785" y="2604"/>
              <a:ext cx="1" cy="28"/>
            </a:xfrm>
            <a:custGeom>
              <a:avLst/>
              <a:gdLst>
                <a:gd name="T0" fmla="*/ 0 w 1"/>
                <a:gd name="T1" fmla="*/ 12 h 28"/>
                <a:gd name="T2" fmla="*/ 0 w 1"/>
                <a:gd name="T3" fmla="*/ 27 h 28"/>
                <a:gd name="T4" fmla="*/ 0 w 1"/>
                <a:gd name="T5" fmla="*/ 0 h 28"/>
                <a:gd name="T6" fmla="*/ 0 w 1"/>
                <a:gd name="T7" fmla="*/ 12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12"/>
                  </a:moveTo>
                  <a:lnTo>
                    <a:pt x="0" y="27"/>
                  </a:lnTo>
                  <a:lnTo>
                    <a:pt x="0" y="0"/>
                  </a:lnTo>
                  <a:lnTo>
                    <a:pt x="0"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7" name="Freeform 5449"/>
            <p:cNvSpPr>
              <a:spLocks/>
            </p:cNvSpPr>
            <p:nvPr/>
          </p:nvSpPr>
          <p:spPr bwMode="auto">
            <a:xfrm>
              <a:off x="1785" y="2611"/>
              <a:ext cx="1" cy="27"/>
            </a:xfrm>
            <a:custGeom>
              <a:avLst/>
              <a:gdLst>
                <a:gd name="T0" fmla="*/ 0 w 1"/>
                <a:gd name="T1" fmla="*/ 0 h 27"/>
                <a:gd name="T2" fmla="*/ 0 w 1"/>
                <a:gd name="T3" fmla="*/ 26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8" name="Freeform 5450"/>
            <p:cNvSpPr>
              <a:spLocks/>
            </p:cNvSpPr>
            <p:nvPr/>
          </p:nvSpPr>
          <p:spPr bwMode="auto">
            <a:xfrm>
              <a:off x="1781" y="2604"/>
              <a:ext cx="26" cy="28"/>
            </a:xfrm>
            <a:custGeom>
              <a:avLst/>
              <a:gdLst>
                <a:gd name="T0" fmla="*/ 25 w 26"/>
                <a:gd name="T1" fmla="*/ 0 h 28"/>
                <a:gd name="T2" fmla="*/ 0 w 26"/>
                <a:gd name="T3" fmla="*/ 0 h 28"/>
                <a:gd name="T4" fmla="*/ 7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7"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69" name="Freeform 5451"/>
            <p:cNvSpPr>
              <a:spLocks/>
            </p:cNvSpPr>
            <p:nvPr/>
          </p:nvSpPr>
          <p:spPr bwMode="auto">
            <a:xfrm>
              <a:off x="1781" y="2598"/>
              <a:ext cx="26" cy="27"/>
            </a:xfrm>
            <a:custGeom>
              <a:avLst/>
              <a:gdLst>
                <a:gd name="T0" fmla="*/ 25 w 26"/>
                <a:gd name="T1" fmla="*/ 26 h 27"/>
                <a:gd name="T2" fmla="*/ 15 w 26"/>
                <a:gd name="T3" fmla="*/ 0 h 27"/>
                <a:gd name="T4" fmla="*/ 0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26"/>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0" name="Freeform 5452"/>
            <p:cNvSpPr>
              <a:spLocks/>
            </p:cNvSpPr>
            <p:nvPr/>
          </p:nvSpPr>
          <p:spPr bwMode="auto">
            <a:xfrm>
              <a:off x="1797" y="25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1" name="Line 5453"/>
            <p:cNvSpPr>
              <a:spLocks noChangeShapeType="1"/>
            </p:cNvSpPr>
            <p:nvPr/>
          </p:nvSpPr>
          <p:spPr bwMode="auto">
            <a:xfrm>
              <a:off x="1797" y="2604"/>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2" name="Freeform 5454"/>
            <p:cNvSpPr>
              <a:spLocks/>
            </p:cNvSpPr>
            <p:nvPr/>
          </p:nvSpPr>
          <p:spPr bwMode="auto">
            <a:xfrm>
              <a:off x="1792" y="2598"/>
              <a:ext cx="24" cy="27"/>
            </a:xfrm>
            <a:custGeom>
              <a:avLst/>
              <a:gdLst>
                <a:gd name="T0" fmla="*/ 23 w 24"/>
                <a:gd name="T1" fmla="*/ 0 h 27"/>
                <a:gd name="T2" fmla="*/ 0 w 24"/>
                <a:gd name="T3" fmla="*/ 0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0"/>
                  </a:lnTo>
                  <a:lnTo>
                    <a:pt x="8"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3" name="Freeform 5455"/>
            <p:cNvSpPr>
              <a:spLocks/>
            </p:cNvSpPr>
            <p:nvPr/>
          </p:nvSpPr>
          <p:spPr bwMode="auto">
            <a:xfrm>
              <a:off x="1792" y="2584"/>
              <a:ext cx="24" cy="26"/>
            </a:xfrm>
            <a:custGeom>
              <a:avLst/>
              <a:gdLst>
                <a:gd name="T0" fmla="*/ 23 w 24"/>
                <a:gd name="T1" fmla="*/ 25 h 26"/>
                <a:gd name="T2" fmla="*/ 8 w 24"/>
                <a:gd name="T3" fmla="*/ 0 h 26"/>
                <a:gd name="T4" fmla="*/ 0 w 24"/>
                <a:gd name="T5" fmla="*/ 25 h 26"/>
                <a:gd name="T6" fmla="*/ 23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25"/>
                  </a:moveTo>
                  <a:lnTo>
                    <a:pt x="8" y="0"/>
                  </a:lnTo>
                  <a:lnTo>
                    <a:pt x="0" y="25"/>
                  </a:lnTo>
                  <a:lnTo>
                    <a:pt x="23"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4" name="Freeform 5456"/>
            <p:cNvSpPr>
              <a:spLocks/>
            </p:cNvSpPr>
            <p:nvPr/>
          </p:nvSpPr>
          <p:spPr bwMode="auto">
            <a:xfrm>
              <a:off x="1805" y="2589"/>
              <a:ext cx="26" cy="28"/>
            </a:xfrm>
            <a:custGeom>
              <a:avLst/>
              <a:gdLst>
                <a:gd name="T0" fmla="*/ 25 w 26"/>
                <a:gd name="T1" fmla="*/ 27 h 28"/>
                <a:gd name="T2" fmla="*/ 25 w 26"/>
                <a:gd name="T3" fmla="*/ 27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27"/>
                  </a:lnTo>
                  <a:lnTo>
                    <a:pt x="0" y="0"/>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5" name="Line 5457"/>
            <p:cNvSpPr>
              <a:spLocks noChangeShapeType="1"/>
            </p:cNvSpPr>
            <p:nvPr/>
          </p:nvSpPr>
          <p:spPr bwMode="auto">
            <a:xfrm>
              <a:off x="1809" y="2598"/>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6" name="Freeform 5458"/>
            <p:cNvSpPr>
              <a:spLocks/>
            </p:cNvSpPr>
            <p:nvPr/>
          </p:nvSpPr>
          <p:spPr bwMode="auto">
            <a:xfrm>
              <a:off x="1797" y="2584"/>
              <a:ext cx="27" cy="26"/>
            </a:xfrm>
            <a:custGeom>
              <a:avLst/>
              <a:gdLst>
                <a:gd name="T0" fmla="*/ 26 w 27"/>
                <a:gd name="T1" fmla="*/ 0 h 26"/>
                <a:gd name="T2" fmla="*/ 0 w 27"/>
                <a:gd name="T3" fmla="*/ 0 h 26"/>
                <a:gd name="T4" fmla="*/ 12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0"/>
                  </a:lnTo>
                  <a:lnTo>
                    <a:pt x="12" y="2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7" name="Freeform 5459"/>
            <p:cNvSpPr>
              <a:spLocks/>
            </p:cNvSpPr>
            <p:nvPr/>
          </p:nvSpPr>
          <p:spPr bwMode="auto">
            <a:xfrm>
              <a:off x="1797" y="2576"/>
              <a:ext cx="27" cy="28"/>
            </a:xfrm>
            <a:custGeom>
              <a:avLst/>
              <a:gdLst>
                <a:gd name="T0" fmla="*/ 26 w 27"/>
                <a:gd name="T1" fmla="*/ 27 h 28"/>
                <a:gd name="T2" fmla="*/ 12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2"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8" name="Freeform 5460"/>
            <p:cNvSpPr>
              <a:spLocks/>
            </p:cNvSpPr>
            <p:nvPr/>
          </p:nvSpPr>
          <p:spPr bwMode="auto">
            <a:xfrm>
              <a:off x="1815" y="2576"/>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79" name="Line 5461"/>
            <p:cNvSpPr>
              <a:spLocks noChangeShapeType="1"/>
            </p:cNvSpPr>
            <p:nvPr/>
          </p:nvSpPr>
          <p:spPr bwMode="auto">
            <a:xfrm>
              <a:off x="1823" y="2584"/>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0" name="Freeform 5462"/>
            <p:cNvSpPr>
              <a:spLocks/>
            </p:cNvSpPr>
            <p:nvPr/>
          </p:nvSpPr>
          <p:spPr bwMode="auto">
            <a:xfrm>
              <a:off x="1809" y="2568"/>
              <a:ext cx="27" cy="28"/>
            </a:xfrm>
            <a:custGeom>
              <a:avLst/>
              <a:gdLst>
                <a:gd name="T0" fmla="*/ 26 w 27"/>
                <a:gd name="T1" fmla="*/ 0 h 28"/>
                <a:gd name="T2" fmla="*/ 0 w 27"/>
                <a:gd name="T3" fmla="*/ 15 h 28"/>
                <a:gd name="T4" fmla="*/ 13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3"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1" name="Freeform 5463"/>
            <p:cNvSpPr>
              <a:spLocks/>
            </p:cNvSpPr>
            <p:nvPr/>
          </p:nvSpPr>
          <p:spPr bwMode="auto">
            <a:xfrm>
              <a:off x="1809" y="2562"/>
              <a:ext cx="27" cy="27"/>
            </a:xfrm>
            <a:custGeom>
              <a:avLst/>
              <a:gdLst>
                <a:gd name="T0" fmla="*/ 26 w 27"/>
                <a:gd name="T1" fmla="*/ 11 h 27"/>
                <a:gd name="T2" fmla="*/ 13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3" y="0"/>
                  </a:lnTo>
                  <a:lnTo>
                    <a:pt x="0" y="26"/>
                  </a:lnTo>
                  <a:lnTo>
                    <a:pt x="26"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2" name="Freeform 5464"/>
            <p:cNvSpPr>
              <a:spLocks/>
            </p:cNvSpPr>
            <p:nvPr/>
          </p:nvSpPr>
          <p:spPr bwMode="auto">
            <a:xfrm>
              <a:off x="1828" y="2562"/>
              <a:ext cx="26" cy="27"/>
            </a:xfrm>
            <a:custGeom>
              <a:avLst/>
              <a:gdLst>
                <a:gd name="T0" fmla="*/ 25 w 26"/>
                <a:gd name="T1" fmla="*/ 26 h 27"/>
                <a:gd name="T2" fmla="*/ 25 w 26"/>
                <a:gd name="T3" fmla="*/ 26 h 27"/>
                <a:gd name="T4" fmla="*/ 0 w 26"/>
                <a:gd name="T5" fmla="*/ 0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26"/>
                  </a:lnTo>
                  <a:lnTo>
                    <a:pt x="0" y="0"/>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3" name="Line 5465"/>
            <p:cNvSpPr>
              <a:spLocks noChangeShapeType="1"/>
            </p:cNvSpPr>
            <p:nvPr/>
          </p:nvSpPr>
          <p:spPr bwMode="auto">
            <a:xfrm>
              <a:off x="1835" y="25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4" name="Freeform 5466"/>
            <p:cNvSpPr>
              <a:spLocks/>
            </p:cNvSpPr>
            <p:nvPr/>
          </p:nvSpPr>
          <p:spPr bwMode="auto">
            <a:xfrm>
              <a:off x="1823" y="2556"/>
              <a:ext cx="25" cy="26"/>
            </a:xfrm>
            <a:custGeom>
              <a:avLst/>
              <a:gdLst>
                <a:gd name="T0" fmla="*/ 24 w 25"/>
                <a:gd name="T1" fmla="*/ 0 h 26"/>
                <a:gd name="T2" fmla="*/ 0 w 25"/>
                <a:gd name="T3" fmla="*/ 12 h 26"/>
                <a:gd name="T4" fmla="*/ 12 w 25"/>
                <a:gd name="T5" fmla="*/ 25 h 26"/>
                <a:gd name="T6" fmla="*/ 24 w 25"/>
                <a:gd name="T7" fmla="*/ 0 h 26"/>
                <a:gd name="T8" fmla="*/ 0 60000 65536"/>
                <a:gd name="T9" fmla="*/ 0 60000 65536"/>
                <a:gd name="T10" fmla="*/ 0 60000 65536"/>
                <a:gd name="T11" fmla="*/ 0 60000 65536"/>
                <a:gd name="T12" fmla="*/ 0 w 25"/>
                <a:gd name="T13" fmla="*/ 0 h 26"/>
                <a:gd name="T14" fmla="*/ 25 w 25"/>
                <a:gd name="T15" fmla="*/ 26 h 26"/>
              </a:gdLst>
              <a:ahLst/>
              <a:cxnLst>
                <a:cxn ang="T8">
                  <a:pos x="T0" y="T1"/>
                </a:cxn>
                <a:cxn ang="T9">
                  <a:pos x="T2" y="T3"/>
                </a:cxn>
                <a:cxn ang="T10">
                  <a:pos x="T4" y="T5"/>
                </a:cxn>
                <a:cxn ang="T11">
                  <a:pos x="T6" y="T7"/>
                </a:cxn>
              </a:cxnLst>
              <a:rect l="T12" t="T13" r="T14" b="T15"/>
              <a:pathLst>
                <a:path w="25" h="26">
                  <a:moveTo>
                    <a:pt x="24" y="0"/>
                  </a:moveTo>
                  <a:lnTo>
                    <a:pt x="0" y="12"/>
                  </a:lnTo>
                  <a:lnTo>
                    <a:pt x="12" y="25"/>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5" name="Freeform 5467"/>
            <p:cNvSpPr>
              <a:spLocks/>
            </p:cNvSpPr>
            <p:nvPr/>
          </p:nvSpPr>
          <p:spPr bwMode="auto">
            <a:xfrm>
              <a:off x="1823" y="2547"/>
              <a:ext cx="25" cy="27"/>
            </a:xfrm>
            <a:custGeom>
              <a:avLst/>
              <a:gdLst>
                <a:gd name="T0" fmla="*/ 24 w 25"/>
                <a:gd name="T1" fmla="*/ 14 h 27"/>
                <a:gd name="T2" fmla="*/ 12 w 25"/>
                <a:gd name="T3" fmla="*/ 0 h 27"/>
                <a:gd name="T4" fmla="*/ 0 w 25"/>
                <a:gd name="T5" fmla="*/ 26 h 27"/>
                <a:gd name="T6" fmla="*/ 24 w 25"/>
                <a:gd name="T7" fmla="*/ 14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14"/>
                  </a:moveTo>
                  <a:lnTo>
                    <a:pt x="12" y="0"/>
                  </a:lnTo>
                  <a:lnTo>
                    <a:pt x="0" y="26"/>
                  </a:lnTo>
                  <a:lnTo>
                    <a:pt x="24"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6" name="Freeform 5468"/>
            <p:cNvSpPr>
              <a:spLocks/>
            </p:cNvSpPr>
            <p:nvPr/>
          </p:nvSpPr>
          <p:spPr bwMode="auto">
            <a:xfrm>
              <a:off x="1842" y="2547"/>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7" name="Line 5469"/>
            <p:cNvSpPr>
              <a:spLocks noChangeShapeType="1"/>
            </p:cNvSpPr>
            <p:nvPr/>
          </p:nvSpPr>
          <p:spPr bwMode="auto">
            <a:xfrm>
              <a:off x="1846" y="2556"/>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8" name="Freeform 5470"/>
            <p:cNvSpPr>
              <a:spLocks/>
            </p:cNvSpPr>
            <p:nvPr/>
          </p:nvSpPr>
          <p:spPr bwMode="auto">
            <a:xfrm>
              <a:off x="1835" y="2541"/>
              <a:ext cx="27" cy="27"/>
            </a:xfrm>
            <a:custGeom>
              <a:avLst/>
              <a:gdLst>
                <a:gd name="T0" fmla="*/ 26 w 27"/>
                <a:gd name="T1" fmla="*/ 0 h 27"/>
                <a:gd name="T2" fmla="*/ 0 w 27"/>
                <a:gd name="T3" fmla="*/ 11 h 27"/>
                <a:gd name="T4" fmla="*/ 12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0" y="11"/>
                  </a:lnTo>
                  <a:lnTo>
                    <a:pt x="12" y="26"/>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89" name="Freeform 5471"/>
            <p:cNvSpPr>
              <a:spLocks/>
            </p:cNvSpPr>
            <p:nvPr/>
          </p:nvSpPr>
          <p:spPr bwMode="auto">
            <a:xfrm>
              <a:off x="1835" y="2532"/>
              <a:ext cx="27" cy="28"/>
            </a:xfrm>
            <a:custGeom>
              <a:avLst/>
              <a:gdLst>
                <a:gd name="T0" fmla="*/ 26 w 27"/>
                <a:gd name="T1" fmla="*/ 15 h 28"/>
                <a:gd name="T2" fmla="*/ 12 w 27"/>
                <a:gd name="T3" fmla="*/ 0 h 28"/>
                <a:gd name="T4" fmla="*/ 0 w 27"/>
                <a:gd name="T5" fmla="*/ 27 h 28"/>
                <a:gd name="T6" fmla="*/ 26 w 27"/>
                <a:gd name="T7" fmla="*/ 15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5"/>
                  </a:moveTo>
                  <a:lnTo>
                    <a:pt x="12" y="0"/>
                  </a:lnTo>
                  <a:lnTo>
                    <a:pt x="0" y="27"/>
                  </a:lnTo>
                  <a:lnTo>
                    <a:pt x="26"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0" name="Freeform 5472"/>
            <p:cNvSpPr>
              <a:spLocks/>
            </p:cNvSpPr>
            <p:nvPr/>
          </p:nvSpPr>
          <p:spPr bwMode="auto">
            <a:xfrm>
              <a:off x="1853" y="2532"/>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1" name="Line 5473"/>
            <p:cNvSpPr>
              <a:spLocks noChangeShapeType="1"/>
            </p:cNvSpPr>
            <p:nvPr/>
          </p:nvSpPr>
          <p:spPr bwMode="auto">
            <a:xfrm>
              <a:off x="1861" y="25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2" name="Freeform 5474"/>
            <p:cNvSpPr>
              <a:spLocks/>
            </p:cNvSpPr>
            <p:nvPr/>
          </p:nvSpPr>
          <p:spPr bwMode="auto">
            <a:xfrm>
              <a:off x="1846" y="2527"/>
              <a:ext cx="27" cy="26"/>
            </a:xfrm>
            <a:custGeom>
              <a:avLst/>
              <a:gdLst>
                <a:gd name="T0" fmla="*/ 26 w 27"/>
                <a:gd name="T1" fmla="*/ 0 h 26"/>
                <a:gd name="T2" fmla="*/ 0 w 27"/>
                <a:gd name="T3" fmla="*/ 11 h 26"/>
                <a:gd name="T4" fmla="*/ 16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11"/>
                  </a:lnTo>
                  <a:lnTo>
                    <a:pt x="16" y="2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3" name="Freeform 5475"/>
            <p:cNvSpPr>
              <a:spLocks/>
            </p:cNvSpPr>
            <p:nvPr/>
          </p:nvSpPr>
          <p:spPr bwMode="auto">
            <a:xfrm>
              <a:off x="1846" y="2519"/>
              <a:ext cx="27" cy="28"/>
            </a:xfrm>
            <a:custGeom>
              <a:avLst/>
              <a:gdLst>
                <a:gd name="T0" fmla="*/ 26 w 27"/>
                <a:gd name="T1" fmla="*/ 13 h 28"/>
                <a:gd name="T2" fmla="*/ 16 w 27"/>
                <a:gd name="T3" fmla="*/ 0 h 28"/>
                <a:gd name="T4" fmla="*/ 0 w 27"/>
                <a:gd name="T5" fmla="*/ 27 h 28"/>
                <a:gd name="T6" fmla="*/ 26 w 27"/>
                <a:gd name="T7" fmla="*/ 13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3"/>
                  </a:moveTo>
                  <a:lnTo>
                    <a:pt x="16" y="0"/>
                  </a:lnTo>
                  <a:lnTo>
                    <a:pt x="0" y="27"/>
                  </a:lnTo>
                  <a:lnTo>
                    <a:pt x="26"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4" name="Freeform 5476"/>
            <p:cNvSpPr>
              <a:spLocks/>
            </p:cNvSpPr>
            <p:nvPr/>
          </p:nvSpPr>
          <p:spPr bwMode="auto">
            <a:xfrm>
              <a:off x="1868" y="251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5" name="Line 5477"/>
            <p:cNvSpPr>
              <a:spLocks noChangeShapeType="1"/>
            </p:cNvSpPr>
            <p:nvPr/>
          </p:nvSpPr>
          <p:spPr bwMode="auto">
            <a:xfrm>
              <a:off x="1868" y="252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6" name="Freeform 5478"/>
            <p:cNvSpPr>
              <a:spLocks/>
            </p:cNvSpPr>
            <p:nvPr/>
          </p:nvSpPr>
          <p:spPr bwMode="auto">
            <a:xfrm>
              <a:off x="1861" y="2505"/>
              <a:ext cx="24" cy="26"/>
            </a:xfrm>
            <a:custGeom>
              <a:avLst/>
              <a:gdLst>
                <a:gd name="T0" fmla="*/ 23 w 24"/>
                <a:gd name="T1" fmla="*/ 0 h 26"/>
                <a:gd name="T2" fmla="*/ 0 w 24"/>
                <a:gd name="T3" fmla="*/ 17 h 26"/>
                <a:gd name="T4" fmla="*/ 8 w 24"/>
                <a:gd name="T5" fmla="*/ 25 h 26"/>
                <a:gd name="T6" fmla="*/ 23 w 24"/>
                <a:gd name="T7" fmla="*/ 0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0"/>
                  </a:moveTo>
                  <a:lnTo>
                    <a:pt x="0" y="17"/>
                  </a:lnTo>
                  <a:lnTo>
                    <a:pt x="8" y="25"/>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7" name="Freeform 5479"/>
            <p:cNvSpPr>
              <a:spLocks/>
            </p:cNvSpPr>
            <p:nvPr/>
          </p:nvSpPr>
          <p:spPr bwMode="auto">
            <a:xfrm>
              <a:off x="1861" y="2498"/>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8" name="Freeform 5480"/>
            <p:cNvSpPr>
              <a:spLocks/>
            </p:cNvSpPr>
            <p:nvPr/>
          </p:nvSpPr>
          <p:spPr bwMode="auto">
            <a:xfrm>
              <a:off x="1880" y="24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099" name="Line 5481"/>
            <p:cNvSpPr>
              <a:spLocks noChangeShapeType="1"/>
            </p:cNvSpPr>
            <p:nvPr/>
          </p:nvSpPr>
          <p:spPr bwMode="auto">
            <a:xfrm>
              <a:off x="1880" y="2505"/>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0" name="Freeform 5482"/>
            <p:cNvSpPr>
              <a:spLocks/>
            </p:cNvSpPr>
            <p:nvPr/>
          </p:nvSpPr>
          <p:spPr bwMode="auto">
            <a:xfrm>
              <a:off x="1872" y="2489"/>
              <a:ext cx="28" cy="28"/>
            </a:xfrm>
            <a:custGeom>
              <a:avLst/>
              <a:gdLst>
                <a:gd name="T0" fmla="*/ 27 w 28"/>
                <a:gd name="T1" fmla="*/ 0 h 28"/>
                <a:gd name="T2" fmla="*/ 0 w 28"/>
                <a:gd name="T3" fmla="*/ 15 h 28"/>
                <a:gd name="T4" fmla="*/ 8 w 28"/>
                <a:gd name="T5" fmla="*/ 27 h 28"/>
                <a:gd name="T6" fmla="*/ 27 w 28"/>
                <a:gd name="T7" fmla="*/ 0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0"/>
                  </a:moveTo>
                  <a:lnTo>
                    <a:pt x="0" y="15"/>
                  </a:lnTo>
                  <a:lnTo>
                    <a:pt x="8" y="27"/>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1" name="Freeform 5483"/>
            <p:cNvSpPr>
              <a:spLocks/>
            </p:cNvSpPr>
            <p:nvPr/>
          </p:nvSpPr>
          <p:spPr bwMode="auto">
            <a:xfrm>
              <a:off x="1872" y="2484"/>
              <a:ext cx="28" cy="26"/>
            </a:xfrm>
            <a:custGeom>
              <a:avLst/>
              <a:gdLst>
                <a:gd name="T0" fmla="*/ 27 w 28"/>
                <a:gd name="T1" fmla="*/ 11 h 26"/>
                <a:gd name="T2" fmla="*/ 18 w 28"/>
                <a:gd name="T3" fmla="*/ 0 h 26"/>
                <a:gd name="T4" fmla="*/ 0 w 28"/>
                <a:gd name="T5" fmla="*/ 25 h 26"/>
                <a:gd name="T6" fmla="*/ 27 w 28"/>
                <a:gd name="T7" fmla="*/ 11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11"/>
                  </a:moveTo>
                  <a:lnTo>
                    <a:pt x="18" y="0"/>
                  </a:lnTo>
                  <a:lnTo>
                    <a:pt x="0" y="25"/>
                  </a:lnTo>
                  <a:lnTo>
                    <a:pt x="27"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2" name="Freeform 5484"/>
            <p:cNvSpPr>
              <a:spLocks/>
            </p:cNvSpPr>
            <p:nvPr/>
          </p:nvSpPr>
          <p:spPr bwMode="auto">
            <a:xfrm>
              <a:off x="1891" y="2484"/>
              <a:ext cx="1" cy="26"/>
            </a:xfrm>
            <a:custGeom>
              <a:avLst/>
              <a:gdLst>
                <a:gd name="T0" fmla="*/ 0 w 1"/>
                <a:gd name="T1" fmla="*/ 25 h 26"/>
                <a:gd name="T2" fmla="*/ 0 w 1"/>
                <a:gd name="T3" fmla="*/ 25 h 26"/>
                <a:gd name="T4" fmla="*/ 0 w 1"/>
                <a:gd name="T5" fmla="*/ 0 h 26"/>
                <a:gd name="T6" fmla="*/ 0 w 1"/>
                <a:gd name="T7" fmla="*/ 25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25"/>
                  </a:moveTo>
                  <a:lnTo>
                    <a:pt x="0" y="25"/>
                  </a:lnTo>
                  <a:lnTo>
                    <a:pt x="0" y="0"/>
                  </a:lnTo>
                  <a:lnTo>
                    <a:pt x="0"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3" name="Freeform 5485"/>
            <p:cNvSpPr>
              <a:spLocks/>
            </p:cNvSpPr>
            <p:nvPr/>
          </p:nvSpPr>
          <p:spPr bwMode="auto">
            <a:xfrm>
              <a:off x="1885" y="2468"/>
              <a:ext cx="25" cy="28"/>
            </a:xfrm>
            <a:custGeom>
              <a:avLst/>
              <a:gdLst>
                <a:gd name="T0" fmla="*/ 24 w 25"/>
                <a:gd name="T1" fmla="*/ 0 h 28"/>
                <a:gd name="T2" fmla="*/ 0 w 25"/>
                <a:gd name="T3" fmla="*/ 18 h 28"/>
                <a:gd name="T4" fmla="*/ 7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18"/>
                  </a:lnTo>
                  <a:lnTo>
                    <a:pt x="7" y="27"/>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4" name="Freeform 5486"/>
            <p:cNvSpPr>
              <a:spLocks/>
            </p:cNvSpPr>
            <p:nvPr/>
          </p:nvSpPr>
          <p:spPr bwMode="auto">
            <a:xfrm>
              <a:off x="1885" y="2462"/>
              <a:ext cx="25" cy="27"/>
            </a:xfrm>
            <a:custGeom>
              <a:avLst/>
              <a:gdLst>
                <a:gd name="T0" fmla="*/ 24 w 25"/>
                <a:gd name="T1" fmla="*/ 8 h 27"/>
                <a:gd name="T2" fmla="*/ 14 w 25"/>
                <a:gd name="T3" fmla="*/ 0 h 27"/>
                <a:gd name="T4" fmla="*/ 0 w 25"/>
                <a:gd name="T5" fmla="*/ 26 h 27"/>
                <a:gd name="T6" fmla="*/ 24 w 25"/>
                <a:gd name="T7" fmla="*/ 8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8"/>
                  </a:moveTo>
                  <a:lnTo>
                    <a:pt x="14" y="0"/>
                  </a:lnTo>
                  <a:lnTo>
                    <a:pt x="0" y="26"/>
                  </a:lnTo>
                  <a:lnTo>
                    <a:pt x="24"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5" name="Freeform 5487"/>
            <p:cNvSpPr>
              <a:spLocks/>
            </p:cNvSpPr>
            <p:nvPr/>
          </p:nvSpPr>
          <p:spPr bwMode="auto">
            <a:xfrm>
              <a:off x="1904" y="246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6" name="Line 5488"/>
            <p:cNvSpPr>
              <a:spLocks noChangeShapeType="1"/>
            </p:cNvSpPr>
            <p:nvPr/>
          </p:nvSpPr>
          <p:spPr bwMode="auto">
            <a:xfrm>
              <a:off x="1904" y="246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7" name="Freeform 5489"/>
            <p:cNvSpPr>
              <a:spLocks/>
            </p:cNvSpPr>
            <p:nvPr/>
          </p:nvSpPr>
          <p:spPr bwMode="auto">
            <a:xfrm>
              <a:off x="1899" y="2447"/>
              <a:ext cx="24" cy="27"/>
            </a:xfrm>
            <a:custGeom>
              <a:avLst/>
              <a:gdLst>
                <a:gd name="T0" fmla="*/ 23 w 24"/>
                <a:gd name="T1" fmla="*/ 0 h 27"/>
                <a:gd name="T2" fmla="*/ 0 w 24"/>
                <a:gd name="T3" fmla="*/ 18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8"/>
                  </a:lnTo>
                  <a:lnTo>
                    <a:pt x="8"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8" name="Freeform 5490"/>
            <p:cNvSpPr>
              <a:spLocks/>
            </p:cNvSpPr>
            <p:nvPr/>
          </p:nvSpPr>
          <p:spPr bwMode="auto">
            <a:xfrm>
              <a:off x="1899" y="2441"/>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09" name="Freeform 5491"/>
            <p:cNvSpPr>
              <a:spLocks/>
            </p:cNvSpPr>
            <p:nvPr/>
          </p:nvSpPr>
          <p:spPr bwMode="auto">
            <a:xfrm>
              <a:off x="1917" y="244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0" name="Line 5492"/>
            <p:cNvSpPr>
              <a:spLocks noChangeShapeType="1"/>
            </p:cNvSpPr>
            <p:nvPr/>
          </p:nvSpPr>
          <p:spPr bwMode="auto">
            <a:xfrm>
              <a:off x="1917" y="244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1" name="Freeform 5493"/>
            <p:cNvSpPr>
              <a:spLocks/>
            </p:cNvSpPr>
            <p:nvPr/>
          </p:nvSpPr>
          <p:spPr bwMode="auto">
            <a:xfrm>
              <a:off x="1909" y="2420"/>
              <a:ext cx="29" cy="28"/>
            </a:xfrm>
            <a:custGeom>
              <a:avLst/>
              <a:gdLst>
                <a:gd name="T0" fmla="*/ 28 w 29"/>
                <a:gd name="T1" fmla="*/ 0 h 28"/>
                <a:gd name="T2" fmla="*/ 0 w 29"/>
                <a:gd name="T3" fmla="*/ 20 h 28"/>
                <a:gd name="T4" fmla="*/ 8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0" y="20"/>
                  </a:lnTo>
                  <a:lnTo>
                    <a:pt x="8" y="27"/>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2" name="Freeform 5494"/>
            <p:cNvSpPr>
              <a:spLocks/>
            </p:cNvSpPr>
            <p:nvPr/>
          </p:nvSpPr>
          <p:spPr bwMode="auto">
            <a:xfrm>
              <a:off x="1909" y="2412"/>
              <a:ext cx="29" cy="30"/>
            </a:xfrm>
            <a:custGeom>
              <a:avLst/>
              <a:gdLst>
                <a:gd name="T0" fmla="*/ 28 w 29"/>
                <a:gd name="T1" fmla="*/ 6 h 30"/>
                <a:gd name="T2" fmla="*/ 8 w 29"/>
                <a:gd name="T3" fmla="*/ 0 h 30"/>
                <a:gd name="T4" fmla="*/ 0 w 29"/>
                <a:gd name="T5" fmla="*/ 29 h 30"/>
                <a:gd name="T6" fmla="*/ 28 w 29"/>
                <a:gd name="T7" fmla="*/ 6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28" y="6"/>
                  </a:moveTo>
                  <a:lnTo>
                    <a:pt x="8" y="0"/>
                  </a:lnTo>
                  <a:lnTo>
                    <a:pt x="0" y="29"/>
                  </a:lnTo>
                  <a:lnTo>
                    <a:pt x="28"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3" name="Freeform 5495"/>
            <p:cNvSpPr>
              <a:spLocks/>
            </p:cNvSpPr>
            <p:nvPr/>
          </p:nvSpPr>
          <p:spPr bwMode="auto">
            <a:xfrm>
              <a:off x="1929" y="2412"/>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4" name="Line 5496"/>
            <p:cNvSpPr>
              <a:spLocks noChangeShapeType="1"/>
            </p:cNvSpPr>
            <p:nvPr/>
          </p:nvSpPr>
          <p:spPr bwMode="auto">
            <a:xfrm>
              <a:off x="1929" y="2420"/>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5" name="Freeform 5497"/>
            <p:cNvSpPr>
              <a:spLocks/>
            </p:cNvSpPr>
            <p:nvPr/>
          </p:nvSpPr>
          <p:spPr bwMode="auto">
            <a:xfrm>
              <a:off x="1917" y="2398"/>
              <a:ext cx="25" cy="27"/>
            </a:xfrm>
            <a:custGeom>
              <a:avLst/>
              <a:gdLst>
                <a:gd name="T0" fmla="*/ 24 w 25"/>
                <a:gd name="T1" fmla="*/ 0 h 27"/>
                <a:gd name="T2" fmla="*/ 0 w 25"/>
                <a:gd name="T3" fmla="*/ 18 h 27"/>
                <a:gd name="T4" fmla="*/ 12 w 25"/>
                <a:gd name="T5" fmla="*/ 26 h 27"/>
                <a:gd name="T6" fmla="*/ 24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0"/>
                  </a:moveTo>
                  <a:lnTo>
                    <a:pt x="0" y="18"/>
                  </a:lnTo>
                  <a:lnTo>
                    <a:pt x="12" y="26"/>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6" name="Freeform 5498"/>
            <p:cNvSpPr>
              <a:spLocks/>
            </p:cNvSpPr>
            <p:nvPr/>
          </p:nvSpPr>
          <p:spPr bwMode="auto">
            <a:xfrm>
              <a:off x="1917" y="2390"/>
              <a:ext cx="25" cy="27"/>
            </a:xfrm>
            <a:custGeom>
              <a:avLst/>
              <a:gdLst>
                <a:gd name="T0" fmla="*/ 24 w 25"/>
                <a:gd name="T1" fmla="*/ 9 h 27"/>
                <a:gd name="T2" fmla="*/ 12 w 25"/>
                <a:gd name="T3" fmla="*/ 0 h 27"/>
                <a:gd name="T4" fmla="*/ 0 w 25"/>
                <a:gd name="T5" fmla="*/ 26 h 27"/>
                <a:gd name="T6" fmla="*/ 24 w 25"/>
                <a:gd name="T7" fmla="*/ 9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9"/>
                  </a:moveTo>
                  <a:lnTo>
                    <a:pt x="12" y="0"/>
                  </a:lnTo>
                  <a:lnTo>
                    <a:pt x="0" y="26"/>
                  </a:lnTo>
                  <a:lnTo>
                    <a:pt x="24" y="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7" name="Freeform 5499"/>
            <p:cNvSpPr>
              <a:spLocks/>
            </p:cNvSpPr>
            <p:nvPr/>
          </p:nvSpPr>
          <p:spPr bwMode="auto">
            <a:xfrm>
              <a:off x="1937" y="2390"/>
              <a:ext cx="23" cy="27"/>
            </a:xfrm>
            <a:custGeom>
              <a:avLst/>
              <a:gdLst>
                <a:gd name="T0" fmla="*/ 22 w 23"/>
                <a:gd name="T1" fmla="*/ 26 h 27"/>
                <a:gd name="T2" fmla="*/ 22 w 23"/>
                <a:gd name="T3" fmla="*/ 26 h 27"/>
                <a:gd name="T4" fmla="*/ 0 w 23"/>
                <a:gd name="T5" fmla="*/ 0 h 27"/>
                <a:gd name="T6" fmla="*/ 22 w 23"/>
                <a:gd name="T7" fmla="*/ 26 h 27"/>
                <a:gd name="T8" fmla="*/ 0 60000 65536"/>
                <a:gd name="T9" fmla="*/ 0 60000 65536"/>
                <a:gd name="T10" fmla="*/ 0 60000 65536"/>
                <a:gd name="T11" fmla="*/ 0 60000 65536"/>
                <a:gd name="T12" fmla="*/ 0 w 23"/>
                <a:gd name="T13" fmla="*/ 0 h 27"/>
                <a:gd name="T14" fmla="*/ 23 w 23"/>
                <a:gd name="T15" fmla="*/ 27 h 27"/>
              </a:gdLst>
              <a:ahLst/>
              <a:cxnLst>
                <a:cxn ang="T8">
                  <a:pos x="T0" y="T1"/>
                </a:cxn>
                <a:cxn ang="T9">
                  <a:pos x="T2" y="T3"/>
                </a:cxn>
                <a:cxn ang="T10">
                  <a:pos x="T4" y="T5"/>
                </a:cxn>
                <a:cxn ang="T11">
                  <a:pos x="T6" y="T7"/>
                </a:cxn>
              </a:cxnLst>
              <a:rect l="T12" t="T13" r="T14" b="T15"/>
              <a:pathLst>
                <a:path w="23" h="27">
                  <a:moveTo>
                    <a:pt x="22" y="26"/>
                  </a:moveTo>
                  <a:lnTo>
                    <a:pt x="22" y="26"/>
                  </a:lnTo>
                  <a:lnTo>
                    <a:pt x="0" y="0"/>
                  </a:lnTo>
                  <a:lnTo>
                    <a:pt x="22"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8" name="Line 5500"/>
            <p:cNvSpPr>
              <a:spLocks noChangeShapeType="1"/>
            </p:cNvSpPr>
            <p:nvPr/>
          </p:nvSpPr>
          <p:spPr bwMode="auto">
            <a:xfrm>
              <a:off x="1941" y="239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19" name="Freeform 5501"/>
            <p:cNvSpPr>
              <a:spLocks/>
            </p:cNvSpPr>
            <p:nvPr/>
          </p:nvSpPr>
          <p:spPr bwMode="auto">
            <a:xfrm>
              <a:off x="1929" y="2369"/>
              <a:ext cx="27" cy="30"/>
            </a:xfrm>
            <a:custGeom>
              <a:avLst/>
              <a:gdLst>
                <a:gd name="T0" fmla="*/ 26 w 27"/>
                <a:gd name="T1" fmla="*/ 0 h 30"/>
                <a:gd name="T2" fmla="*/ 0 w 27"/>
                <a:gd name="T3" fmla="*/ 20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0"/>
                  </a:lnTo>
                  <a:lnTo>
                    <a:pt x="13" y="29"/>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0" name="Freeform 5502"/>
            <p:cNvSpPr>
              <a:spLocks/>
            </p:cNvSpPr>
            <p:nvPr/>
          </p:nvSpPr>
          <p:spPr bwMode="auto">
            <a:xfrm>
              <a:off x="1929" y="2361"/>
              <a:ext cx="27" cy="30"/>
            </a:xfrm>
            <a:custGeom>
              <a:avLst/>
              <a:gdLst>
                <a:gd name="T0" fmla="*/ 26 w 27"/>
                <a:gd name="T1" fmla="*/ 6 h 30"/>
                <a:gd name="T2" fmla="*/ 13 w 27"/>
                <a:gd name="T3" fmla="*/ 0 h 30"/>
                <a:gd name="T4" fmla="*/ 0 w 27"/>
                <a:gd name="T5" fmla="*/ 29 h 30"/>
                <a:gd name="T6" fmla="*/ 26 w 27"/>
                <a:gd name="T7" fmla="*/ 6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6"/>
                  </a:moveTo>
                  <a:lnTo>
                    <a:pt x="13" y="0"/>
                  </a:lnTo>
                  <a:lnTo>
                    <a:pt x="0" y="29"/>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1" name="Freeform 5503"/>
            <p:cNvSpPr>
              <a:spLocks/>
            </p:cNvSpPr>
            <p:nvPr/>
          </p:nvSpPr>
          <p:spPr bwMode="auto">
            <a:xfrm>
              <a:off x="1946" y="2361"/>
              <a:ext cx="25" cy="28"/>
            </a:xfrm>
            <a:custGeom>
              <a:avLst/>
              <a:gdLst>
                <a:gd name="T0" fmla="*/ 24 w 25"/>
                <a:gd name="T1" fmla="*/ 27 h 28"/>
                <a:gd name="T2" fmla="*/ 24 w 25"/>
                <a:gd name="T3" fmla="*/ 27 h 28"/>
                <a:gd name="T4" fmla="*/ 0 w 25"/>
                <a:gd name="T5" fmla="*/ 0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27"/>
                  </a:lnTo>
                  <a:lnTo>
                    <a:pt x="0" y="0"/>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2" name="Line 5504"/>
            <p:cNvSpPr>
              <a:spLocks noChangeShapeType="1"/>
            </p:cNvSpPr>
            <p:nvPr/>
          </p:nvSpPr>
          <p:spPr bwMode="auto">
            <a:xfrm>
              <a:off x="1955" y="2369"/>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3" name="Freeform 5505"/>
            <p:cNvSpPr>
              <a:spLocks/>
            </p:cNvSpPr>
            <p:nvPr/>
          </p:nvSpPr>
          <p:spPr bwMode="auto">
            <a:xfrm>
              <a:off x="1941" y="2340"/>
              <a:ext cx="27" cy="30"/>
            </a:xfrm>
            <a:custGeom>
              <a:avLst/>
              <a:gdLst>
                <a:gd name="T0" fmla="*/ 26 w 27"/>
                <a:gd name="T1" fmla="*/ 0 h 30"/>
                <a:gd name="T2" fmla="*/ 0 w 27"/>
                <a:gd name="T3" fmla="*/ 22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2"/>
                  </a:lnTo>
                  <a:lnTo>
                    <a:pt x="13" y="29"/>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4" name="Freeform 5506"/>
            <p:cNvSpPr>
              <a:spLocks/>
            </p:cNvSpPr>
            <p:nvPr/>
          </p:nvSpPr>
          <p:spPr bwMode="auto">
            <a:xfrm>
              <a:off x="1941" y="2334"/>
              <a:ext cx="27" cy="28"/>
            </a:xfrm>
            <a:custGeom>
              <a:avLst/>
              <a:gdLst>
                <a:gd name="T0" fmla="*/ 26 w 27"/>
                <a:gd name="T1" fmla="*/ 6 h 28"/>
                <a:gd name="T2" fmla="*/ 13 w 27"/>
                <a:gd name="T3" fmla="*/ 0 h 28"/>
                <a:gd name="T4" fmla="*/ 0 w 27"/>
                <a:gd name="T5" fmla="*/ 27 h 28"/>
                <a:gd name="T6" fmla="*/ 26 w 27"/>
                <a:gd name="T7" fmla="*/ 6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6"/>
                  </a:moveTo>
                  <a:lnTo>
                    <a:pt x="13" y="0"/>
                  </a:lnTo>
                  <a:lnTo>
                    <a:pt x="0" y="27"/>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5" name="Freeform 5507"/>
            <p:cNvSpPr>
              <a:spLocks/>
            </p:cNvSpPr>
            <p:nvPr/>
          </p:nvSpPr>
          <p:spPr bwMode="auto">
            <a:xfrm>
              <a:off x="1959" y="2334"/>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6" name="Line 5508"/>
            <p:cNvSpPr>
              <a:spLocks noChangeShapeType="1"/>
            </p:cNvSpPr>
            <p:nvPr/>
          </p:nvSpPr>
          <p:spPr bwMode="auto">
            <a:xfrm>
              <a:off x="1964" y="2340"/>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7" name="Freeform 5509"/>
            <p:cNvSpPr>
              <a:spLocks/>
            </p:cNvSpPr>
            <p:nvPr/>
          </p:nvSpPr>
          <p:spPr bwMode="auto">
            <a:xfrm>
              <a:off x="1955" y="2312"/>
              <a:ext cx="25" cy="29"/>
            </a:xfrm>
            <a:custGeom>
              <a:avLst/>
              <a:gdLst>
                <a:gd name="T0" fmla="*/ 24 w 25"/>
                <a:gd name="T1" fmla="*/ 0 h 29"/>
                <a:gd name="T2" fmla="*/ 0 w 25"/>
                <a:gd name="T3" fmla="*/ 21 h 29"/>
                <a:gd name="T4" fmla="*/ 11 w 25"/>
                <a:gd name="T5" fmla="*/ 28 h 29"/>
                <a:gd name="T6" fmla="*/ 24 w 25"/>
                <a:gd name="T7" fmla="*/ 0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0"/>
                  </a:moveTo>
                  <a:lnTo>
                    <a:pt x="0" y="21"/>
                  </a:lnTo>
                  <a:lnTo>
                    <a:pt x="11" y="28"/>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8" name="Freeform 5510"/>
            <p:cNvSpPr>
              <a:spLocks/>
            </p:cNvSpPr>
            <p:nvPr/>
          </p:nvSpPr>
          <p:spPr bwMode="auto">
            <a:xfrm>
              <a:off x="1955" y="2304"/>
              <a:ext cx="25" cy="31"/>
            </a:xfrm>
            <a:custGeom>
              <a:avLst/>
              <a:gdLst>
                <a:gd name="T0" fmla="*/ 24 w 25"/>
                <a:gd name="T1" fmla="*/ 8 h 31"/>
                <a:gd name="T2" fmla="*/ 11 w 25"/>
                <a:gd name="T3" fmla="*/ 0 h 31"/>
                <a:gd name="T4" fmla="*/ 0 w 25"/>
                <a:gd name="T5" fmla="*/ 30 h 31"/>
                <a:gd name="T6" fmla="*/ 24 w 25"/>
                <a:gd name="T7" fmla="*/ 8 h 31"/>
                <a:gd name="T8" fmla="*/ 0 60000 65536"/>
                <a:gd name="T9" fmla="*/ 0 60000 65536"/>
                <a:gd name="T10" fmla="*/ 0 60000 65536"/>
                <a:gd name="T11" fmla="*/ 0 60000 65536"/>
                <a:gd name="T12" fmla="*/ 0 w 25"/>
                <a:gd name="T13" fmla="*/ 0 h 31"/>
                <a:gd name="T14" fmla="*/ 25 w 25"/>
                <a:gd name="T15" fmla="*/ 31 h 31"/>
              </a:gdLst>
              <a:ahLst/>
              <a:cxnLst>
                <a:cxn ang="T8">
                  <a:pos x="T0" y="T1"/>
                </a:cxn>
                <a:cxn ang="T9">
                  <a:pos x="T2" y="T3"/>
                </a:cxn>
                <a:cxn ang="T10">
                  <a:pos x="T4" y="T5"/>
                </a:cxn>
                <a:cxn ang="T11">
                  <a:pos x="T6" y="T7"/>
                </a:cxn>
              </a:cxnLst>
              <a:rect l="T12" t="T13" r="T14" b="T15"/>
              <a:pathLst>
                <a:path w="25" h="31">
                  <a:moveTo>
                    <a:pt x="24" y="8"/>
                  </a:moveTo>
                  <a:lnTo>
                    <a:pt x="11" y="0"/>
                  </a:lnTo>
                  <a:lnTo>
                    <a:pt x="0" y="30"/>
                  </a:lnTo>
                  <a:lnTo>
                    <a:pt x="24"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29" name="Freeform 5511"/>
            <p:cNvSpPr>
              <a:spLocks/>
            </p:cNvSpPr>
            <p:nvPr/>
          </p:nvSpPr>
          <p:spPr bwMode="auto">
            <a:xfrm>
              <a:off x="1975" y="2304"/>
              <a:ext cx="23" cy="28"/>
            </a:xfrm>
            <a:custGeom>
              <a:avLst/>
              <a:gdLst>
                <a:gd name="T0" fmla="*/ 22 w 23"/>
                <a:gd name="T1" fmla="*/ 27 h 28"/>
                <a:gd name="T2" fmla="*/ 22 w 23"/>
                <a:gd name="T3" fmla="*/ 27 h 28"/>
                <a:gd name="T4" fmla="*/ 0 w 23"/>
                <a:gd name="T5" fmla="*/ 0 h 28"/>
                <a:gd name="T6" fmla="*/ 22 w 23"/>
                <a:gd name="T7" fmla="*/ 27 h 28"/>
                <a:gd name="T8" fmla="*/ 0 60000 65536"/>
                <a:gd name="T9" fmla="*/ 0 60000 65536"/>
                <a:gd name="T10" fmla="*/ 0 60000 65536"/>
                <a:gd name="T11" fmla="*/ 0 60000 65536"/>
                <a:gd name="T12" fmla="*/ 0 w 23"/>
                <a:gd name="T13" fmla="*/ 0 h 28"/>
                <a:gd name="T14" fmla="*/ 23 w 23"/>
                <a:gd name="T15" fmla="*/ 28 h 28"/>
              </a:gdLst>
              <a:ahLst/>
              <a:cxnLst>
                <a:cxn ang="T8">
                  <a:pos x="T0" y="T1"/>
                </a:cxn>
                <a:cxn ang="T9">
                  <a:pos x="T2" y="T3"/>
                </a:cxn>
                <a:cxn ang="T10">
                  <a:pos x="T4" y="T5"/>
                </a:cxn>
                <a:cxn ang="T11">
                  <a:pos x="T6" y="T7"/>
                </a:cxn>
              </a:cxnLst>
              <a:rect l="T12" t="T13" r="T14" b="T15"/>
              <a:pathLst>
                <a:path w="23" h="28">
                  <a:moveTo>
                    <a:pt x="22" y="27"/>
                  </a:moveTo>
                  <a:lnTo>
                    <a:pt x="22" y="27"/>
                  </a:lnTo>
                  <a:lnTo>
                    <a:pt x="0" y="0"/>
                  </a:lnTo>
                  <a:lnTo>
                    <a:pt x="22"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0" name="Line 5512"/>
            <p:cNvSpPr>
              <a:spLocks noChangeShapeType="1"/>
            </p:cNvSpPr>
            <p:nvPr/>
          </p:nvSpPr>
          <p:spPr bwMode="auto">
            <a:xfrm>
              <a:off x="1978" y="2312"/>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1" name="Freeform 5513"/>
            <p:cNvSpPr>
              <a:spLocks/>
            </p:cNvSpPr>
            <p:nvPr/>
          </p:nvSpPr>
          <p:spPr bwMode="auto">
            <a:xfrm>
              <a:off x="1964" y="2277"/>
              <a:ext cx="29" cy="36"/>
            </a:xfrm>
            <a:custGeom>
              <a:avLst/>
              <a:gdLst>
                <a:gd name="T0" fmla="*/ 28 w 29"/>
                <a:gd name="T1" fmla="*/ 0 h 36"/>
                <a:gd name="T2" fmla="*/ 0 w 29"/>
                <a:gd name="T3" fmla="*/ 27 h 36"/>
                <a:gd name="T4" fmla="*/ 14 w 29"/>
                <a:gd name="T5" fmla="*/ 35 h 36"/>
                <a:gd name="T6" fmla="*/ 28 w 29"/>
                <a:gd name="T7" fmla="*/ 0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28" y="0"/>
                  </a:moveTo>
                  <a:lnTo>
                    <a:pt x="0" y="27"/>
                  </a:lnTo>
                  <a:lnTo>
                    <a:pt x="14" y="35"/>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2" name="Freeform 5514"/>
            <p:cNvSpPr>
              <a:spLocks/>
            </p:cNvSpPr>
            <p:nvPr/>
          </p:nvSpPr>
          <p:spPr bwMode="auto">
            <a:xfrm>
              <a:off x="1964" y="2277"/>
              <a:ext cx="29" cy="28"/>
            </a:xfrm>
            <a:custGeom>
              <a:avLst/>
              <a:gdLst>
                <a:gd name="T0" fmla="*/ 28 w 29"/>
                <a:gd name="T1" fmla="*/ 0 h 28"/>
                <a:gd name="T2" fmla="*/ 14 w 29"/>
                <a:gd name="T3" fmla="*/ 0 h 28"/>
                <a:gd name="T4" fmla="*/ 0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14" y="0"/>
                  </a:lnTo>
                  <a:lnTo>
                    <a:pt x="0" y="27"/>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3" name="Freeform 5515"/>
            <p:cNvSpPr>
              <a:spLocks/>
            </p:cNvSpPr>
            <p:nvPr/>
          </p:nvSpPr>
          <p:spPr bwMode="auto">
            <a:xfrm>
              <a:off x="1984" y="2277"/>
              <a:ext cx="25" cy="1"/>
            </a:xfrm>
            <a:custGeom>
              <a:avLst/>
              <a:gdLst>
                <a:gd name="T0" fmla="*/ 24 w 25"/>
                <a:gd name="T1" fmla="*/ 0 h 1"/>
                <a:gd name="T2" fmla="*/ 24 w 25"/>
                <a:gd name="T3" fmla="*/ 0 h 1"/>
                <a:gd name="T4" fmla="*/ 0 w 25"/>
                <a:gd name="T5" fmla="*/ 0 h 1"/>
                <a:gd name="T6" fmla="*/ 24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24" y="0"/>
                  </a:moveTo>
                  <a:lnTo>
                    <a:pt x="24" y="0"/>
                  </a:lnTo>
                  <a:lnTo>
                    <a:pt x="0" y="0"/>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4" name="Line 5516"/>
            <p:cNvSpPr>
              <a:spLocks noChangeShapeType="1"/>
            </p:cNvSpPr>
            <p:nvPr/>
          </p:nvSpPr>
          <p:spPr bwMode="auto">
            <a:xfrm>
              <a:off x="1992" y="227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5" name="Freeform 5517"/>
            <p:cNvSpPr>
              <a:spLocks/>
            </p:cNvSpPr>
            <p:nvPr/>
          </p:nvSpPr>
          <p:spPr bwMode="auto">
            <a:xfrm>
              <a:off x="1978" y="2248"/>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6" name="Freeform 5518"/>
            <p:cNvSpPr>
              <a:spLocks/>
            </p:cNvSpPr>
            <p:nvPr/>
          </p:nvSpPr>
          <p:spPr bwMode="auto">
            <a:xfrm>
              <a:off x="1978" y="2241"/>
              <a:ext cx="25" cy="37"/>
            </a:xfrm>
            <a:custGeom>
              <a:avLst/>
              <a:gdLst>
                <a:gd name="T0" fmla="*/ 24 w 25"/>
                <a:gd name="T1" fmla="*/ 6 h 37"/>
                <a:gd name="T2" fmla="*/ 12 w 25"/>
                <a:gd name="T3" fmla="*/ 0 h 37"/>
                <a:gd name="T4" fmla="*/ 0 w 25"/>
                <a:gd name="T5" fmla="*/ 36 h 37"/>
                <a:gd name="T6" fmla="*/ 24 w 25"/>
                <a:gd name="T7" fmla="*/ 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24" y="6"/>
                  </a:moveTo>
                  <a:lnTo>
                    <a:pt x="12" y="0"/>
                  </a:lnTo>
                  <a:lnTo>
                    <a:pt x="0" y="36"/>
                  </a:lnTo>
                  <a:lnTo>
                    <a:pt x="24"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7" name="Freeform 5519"/>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8" name="Freeform 5520"/>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39" name="Freeform 5521"/>
            <p:cNvSpPr>
              <a:spLocks/>
            </p:cNvSpPr>
            <p:nvPr/>
          </p:nvSpPr>
          <p:spPr bwMode="auto">
            <a:xfrm>
              <a:off x="1992" y="2213"/>
              <a:ext cx="26" cy="36"/>
            </a:xfrm>
            <a:custGeom>
              <a:avLst/>
              <a:gdLst>
                <a:gd name="T0" fmla="*/ 25 w 26"/>
                <a:gd name="T1" fmla="*/ 0 h 36"/>
                <a:gd name="T2" fmla="*/ 0 w 26"/>
                <a:gd name="T3" fmla="*/ 28 h 36"/>
                <a:gd name="T4" fmla="*/ 11 w 26"/>
                <a:gd name="T5" fmla="*/ 35 h 36"/>
                <a:gd name="T6" fmla="*/ 25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0"/>
                  </a:moveTo>
                  <a:lnTo>
                    <a:pt x="0" y="28"/>
                  </a:lnTo>
                  <a:lnTo>
                    <a:pt x="11" y="35"/>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0" name="Freeform 5522"/>
            <p:cNvSpPr>
              <a:spLocks/>
            </p:cNvSpPr>
            <p:nvPr/>
          </p:nvSpPr>
          <p:spPr bwMode="auto">
            <a:xfrm>
              <a:off x="1992" y="2213"/>
              <a:ext cx="26" cy="29"/>
            </a:xfrm>
            <a:custGeom>
              <a:avLst/>
              <a:gdLst>
                <a:gd name="T0" fmla="*/ 25 w 26"/>
                <a:gd name="T1" fmla="*/ 0 h 29"/>
                <a:gd name="T2" fmla="*/ 11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1" y="0"/>
                  </a:lnTo>
                  <a:lnTo>
                    <a:pt x="0" y="28"/>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1" name="Freeform 5523"/>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2" name="Freeform 5524"/>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3" name="Freeform 5525"/>
            <p:cNvSpPr>
              <a:spLocks/>
            </p:cNvSpPr>
            <p:nvPr/>
          </p:nvSpPr>
          <p:spPr bwMode="auto">
            <a:xfrm>
              <a:off x="2002" y="2184"/>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4" name="Freeform 5526"/>
            <p:cNvSpPr>
              <a:spLocks/>
            </p:cNvSpPr>
            <p:nvPr/>
          </p:nvSpPr>
          <p:spPr bwMode="auto">
            <a:xfrm>
              <a:off x="2002" y="2176"/>
              <a:ext cx="25" cy="38"/>
            </a:xfrm>
            <a:custGeom>
              <a:avLst/>
              <a:gdLst>
                <a:gd name="T0" fmla="*/ 24 w 25"/>
                <a:gd name="T1" fmla="*/ 6 h 38"/>
                <a:gd name="T2" fmla="*/ 12 w 25"/>
                <a:gd name="T3" fmla="*/ 0 h 38"/>
                <a:gd name="T4" fmla="*/ 0 w 25"/>
                <a:gd name="T5" fmla="*/ 37 h 38"/>
                <a:gd name="T6" fmla="*/ 24 w 25"/>
                <a:gd name="T7" fmla="*/ 6 h 38"/>
                <a:gd name="T8" fmla="*/ 0 60000 65536"/>
                <a:gd name="T9" fmla="*/ 0 60000 65536"/>
                <a:gd name="T10" fmla="*/ 0 60000 65536"/>
                <a:gd name="T11" fmla="*/ 0 60000 65536"/>
                <a:gd name="T12" fmla="*/ 0 w 25"/>
                <a:gd name="T13" fmla="*/ 0 h 38"/>
                <a:gd name="T14" fmla="*/ 25 w 25"/>
                <a:gd name="T15" fmla="*/ 38 h 38"/>
              </a:gdLst>
              <a:ahLst/>
              <a:cxnLst>
                <a:cxn ang="T8">
                  <a:pos x="T0" y="T1"/>
                </a:cxn>
                <a:cxn ang="T9">
                  <a:pos x="T2" y="T3"/>
                </a:cxn>
                <a:cxn ang="T10">
                  <a:pos x="T4" y="T5"/>
                </a:cxn>
                <a:cxn ang="T11">
                  <a:pos x="T6" y="T7"/>
                </a:cxn>
              </a:cxnLst>
              <a:rect l="T12" t="T13" r="T14" b="T15"/>
              <a:pathLst>
                <a:path w="25" h="38">
                  <a:moveTo>
                    <a:pt x="24" y="6"/>
                  </a:moveTo>
                  <a:lnTo>
                    <a:pt x="12" y="0"/>
                  </a:lnTo>
                  <a:lnTo>
                    <a:pt x="0" y="37"/>
                  </a:lnTo>
                  <a:lnTo>
                    <a:pt x="24"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5" name="Freeform 5527"/>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6" name="Freeform 5528"/>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7" name="Freeform 5529"/>
            <p:cNvSpPr>
              <a:spLocks/>
            </p:cNvSpPr>
            <p:nvPr/>
          </p:nvSpPr>
          <p:spPr bwMode="auto">
            <a:xfrm>
              <a:off x="2013" y="2149"/>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8" name="Freeform 5530"/>
            <p:cNvSpPr>
              <a:spLocks/>
            </p:cNvSpPr>
            <p:nvPr/>
          </p:nvSpPr>
          <p:spPr bwMode="auto">
            <a:xfrm>
              <a:off x="2013" y="2141"/>
              <a:ext cx="27" cy="36"/>
            </a:xfrm>
            <a:custGeom>
              <a:avLst/>
              <a:gdLst>
                <a:gd name="T0" fmla="*/ 26 w 27"/>
                <a:gd name="T1" fmla="*/ 7 h 36"/>
                <a:gd name="T2" fmla="*/ 13 w 27"/>
                <a:gd name="T3" fmla="*/ 0 h 36"/>
                <a:gd name="T4" fmla="*/ 0 w 27"/>
                <a:gd name="T5" fmla="*/ 35 h 36"/>
                <a:gd name="T6" fmla="*/ 26 w 27"/>
                <a:gd name="T7" fmla="*/ 7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7"/>
                  </a:moveTo>
                  <a:lnTo>
                    <a:pt x="13" y="0"/>
                  </a:lnTo>
                  <a:lnTo>
                    <a:pt x="0" y="35"/>
                  </a:lnTo>
                  <a:lnTo>
                    <a:pt x="26" y="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49" name="Freeform 5531"/>
            <p:cNvSpPr>
              <a:spLocks/>
            </p:cNvSpPr>
            <p:nvPr/>
          </p:nvSpPr>
          <p:spPr bwMode="auto">
            <a:xfrm>
              <a:off x="2034" y="21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0" name="Freeform 5532"/>
            <p:cNvSpPr>
              <a:spLocks/>
            </p:cNvSpPr>
            <p:nvPr/>
          </p:nvSpPr>
          <p:spPr bwMode="auto">
            <a:xfrm>
              <a:off x="2034" y="2141"/>
              <a:ext cx="25" cy="27"/>
            </a:xfrm>
            <a:custGeom>
              <a:avLst/>
              <a:gdLst>
                <a:gd name="T0" fmla="*/ 0 w 25"/>
                <a:gd name="T1" fmla="*/ 0 h 27"/>
                <a:gd name="T2" fmla="*/ 24 w 25"/>
                <a:gd name="T3" fmla="*/ 26 h 27"/>
                <a:gd name="T4" fmla="*/ 24 w 25"/>
                <a:gd name="T5" fmla="*/ 26 h 27"/>
                <a:gd name="T6" fmla="*/ 0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0"/>
                  </a:moveTo>
                  <a:lnTo>
                    <a:pt x="24"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1" name="Freeform 5533"/>
            <p:cNvSpPr>
              <a:spLocks/>
            </p:cNvSpPr>
            <p:nvPr/>
          </p:nvSpPr>
          <p:spPr bwMode="auto">
            <a:xfrm>
              <a:off x="2026" y="2113"/>
              <a:ext cx="26" cy="37"/>
            </a:xfrm>
            <a:custGeom>
              <a:avLst/>
              <a:gdLst>
                <a:gd name="T0" fmla="*/ 25 w 26"/>
                <a:gd name="T1" fmla="*/ 0 h 37"/>
                <a:gd name="T2" fmla="*/ 0 w 26"/>
                <a:gd name="T3" fmla="*/ 27 h 37"/>
                <a:gd name="T4" fmla="*/ 17 w 26"/>
                <a:gd name="T5" fmla="*/ 36 h 37"/>
                <a:gd name="T6" fmla="*/ 25 w 26"/>
                <a:gd name="T7" fmla="*/ 0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0"/>
                  </a:moveTo>
                  <a:lnTo>
                    <a:pt x="0" y="27"/>
                  </a:lnTo>
                  <a:lnTo>
                    <a:pt x="17" y="36"/>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2" name="Freeform 5534"/>
            <p:cNvSpPr>
              <a:spLocks/>
            </p:cNvSpPr>
            <p:nvPr/>
          </p:nvSpPr>
          <p:spPr bwMode="auto">
            <a:xfrm>
              <a:off x="2026" y="2113"/>
              <a:ext cx="26" cy="29"/>
            </a:xfrm>
            <a:custGeom>
              <a:avLst/>
              <a:gdLst>
                <a:gd name="T0" fmla="*/ 25 w 26"/>
                <a:gd name="T1" fmla="*/ 0 h 29"/>
                <a:gd name="T2" fmla="*/ 17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7" y="0"/>
                  </a:lnTo>
                  <a:lnTo>
                    <a:pt x="0" y="28"/>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3" name="Freeform 5535"/>
            <p:cNvSpPr>
              <a:spLocks/>
            </p:cNvSpPr>
            <p:nvPr/>
          </p:nvSpPr>
          <p:spPr bwMode="auto">
            <a:xfrm>
              <a:off x="2046" y="2105"/>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4" name="Line 5536"/>
            <p:cNvSpPr>
              <a:spLocks noChangeShapeType="1"/>
            </p:cNvSpPr>
            <p:nvPr/>
          </p:nvSpPr>
          <p:spPr bwMode="auto">
            <a:xfrm>
              <a:off x="2046" y="211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5" name="Freeform 5537"/>
            <p:cNvSpPr>
              <a:spLocks/>
            </p:cNvSpPr>
            <p:nvPr/>
          </p:nvSpPr>
          <p:spPr bwMode="auto">
            <a:xfrm>
              <a:off x="2039" y="2084"/>
              <a:ext cx="26" cy="30"/>
            </a:xfrm>
            <a:custGeom>
              <a:avLst/>
              <a:gdLst>
                <a:gd name="T0" fmla="*/ 25 w 26"/>
                <a:gd name="T1" fmla="*/ 0 h 30"/>
                <a:gd name="T2" fmla="*/ 0 w 26"/>
                <a:gd name="T3" fmla="*/ 29 h 30"/>
                <a:gd name="T4" fmla="*/ 7 w 26"/>
                <a:gd name="T5" fmla="*/ 29 h 30"/>
                <a:gd name="T6" fmla="*/ 25 w 26"/>
                <a:gd name="T7" fmla="*/ 0 h 30"/>
                <a:gd name="T8" fmla="*/ 0 60000 65536"/>
                <a:gd name="T9" fmla="*/ 0 60000 65536"/>
                <a:gd name="T10" fmla="*/ 0 60000 65536"/>
                <a:gd name="T11" fmla="*/ 0 60000 65536"/>
                <a:gd name="T12" fmla="*/ 0 w 26"/>
                <a:gd name="T13" fmla="*/ 0 h 30"/>
                <a:gd name="T14" fmla="*/ 26 w 26"/>
                <a:gd name="T15" fmla="*/ 30 h 30"/>
              </a:gdLst>
              <a:ahLst/>
              <a:cxnLst>
                <a:cxn ang="T8">
                  <a:pos x="T0" y="T1"/>
                </a:cxn>
                <a:cxn ang="T9">
                  <a:pos x="T2" y="T3"/>
                </a:cxn>
                <a:cxn ang="T10">
                  <a:pos x="T4" y="T5"/>
                </a:cxn>
                <a:cxn ang="T11">
                  <a:pos x="T6" y="T7"/>
                </a:cxn>
              </a:cxnLst>
              <a:rect l="T12" t="T13" r="T14" b="T15"/>
              <a:pathLst>
                <a:path w="26" h="30">
                  <a:moveTo>
                    <a:pt x="25" y="0"/>
                  </a:moveTo>
                  <a:lnTo>
                    <a:pt x="0" y="29"/>
                  </a:lnTo>
                  <a:lnTo>
                    <a:pt x="7" y="29"/>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6" name="Freeform 5538"/>
            <p:cNvSpPr>
              <a:spLocks/>
            </p:cNvSpPr>
            <p:nvPr/>
          </p:nvSpPr>
          <p:spPr bwMode="auto">
            <a:xfrm>
              <a:off x="2039" y="2077"/>
              <a:ext cx="26" cy="37"/>
            </a:xfrm>
            <a:custGeom>
              <a:avLst/>
              <a:gdLst>
                <a:gd name="T0" fmla="*/ 25 w 26"/>
                <a:gd name="T1" fmla="*/ 6 h 37"/>
                <a:gd name="T2" fmla="*/ 15 w 26"/>
                <a:gd name="T3" fmla="*/ 0 h 37"/>
                <a:gd name="T4" fmla="*/ 0 w 26"/>
                <a:gd name="T5" fmla="*/ 36 h 37"/>
                <a:gd name="T6" fmla="*/ 25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6"/>
                  </a:moveTo>
                  <a:lnTo>
                    <a:pt x="15" y="0"/>
                  </a:lnTo>
                  <a:lnTo>
                    <a:pt x="0" y="36"/>
                  </a:lnTo>
                  <a:lnTo>
                    <a:pt x="25"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7" name="Freeform 5539"/>
            <p:cNvSpPr>
              <a:spLocks/>
            </p:cNvSpPr>
            <p:nvPr/>
          </p:nvSpPr>
          <p:spPr bwMode="auto">
            <a:xfrm>
              <a:off x="2051" y="207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8" name="Line 5540"/>
            <p:cNvSpPr>
              <a:spLocks noChangeShapeType="1"/>
            </p:cNvSpPr>
            <p:nvPr/>
          </p:nvSpPr>
          <p:spPr bwMode="auto">
            <a:xfrm>
              <a:off x="2051" y="2077"/>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59" name="Freeform 5541"/>
            <p:cNvSpPr>
              <a:spLocks/>
            </p:cNvSpPr>
            <p:nvPr/>
          </p:nvSpPr>
          <p:spPr bwMode="auto">
            <a:xfrm>
              <a:off x="2051" y="2049"/>
              <a:ext cx="27" cy="36"/>
            </a:xfrm>
            <a:custGeom>
              <a:avLst/>
              <a:gdLst>
                <a:gd name="T0" fmla="*/ 26 w 27"/>
                <a:gd name="T1" fmla="*/ 0 h 36"/>
                <a:gd name="T2" fmla="*/ 0 w 27"/>
                <a:gd name="T3" fmla="*/ 28 h 36"/>
                <a:gd name="T4" fmla="*/ 10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0"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0" name="Freeform 5542"/>
            <p:cNvSpPr>
              <a:spLocks/>
            </p:cNvSpPr>
            <p:nvPr/>
          </p:nvSpPr>
          <p:spPr bwMode="auto">
            <a:xfrm>
              <a:off x="2051" y="2041"/>
              <a:ext cx="27" cy="37"/>
            </a:xfrm>
            <a:custGeom>
              <a:avLst/>
              <a:gdLst>
                <a:gd name="T0" fmla="*/ 26 w 27"/>
                <a:gd name="T1" fmla="*/ 8 h 37"/>
                <a:gd name="T2" fmla="*/ 10 w 27"/>
                <a:gd name="T3" fmla="*/ 0 h 37"/>
                <a:gd name="T4" fmla="*/ 0 w 27"/>
                <a:gd name="T5" fmla="*/ 36 h 37"/>
                <a:gd name="T6" fmla="*/ 26 w 27"/>
                <a:gd name="T7" fmla="*/ 8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26" y="8"/>
                  </a:moveTo>
                  <a:lnTo>
                    <a:pt x="10" y="0"/>
                  </a:lnTo>
                  <a:lnTo>
                    <a:pt x="0" y="36"/>
                  </a:lnTo>
                  <a:lnTo>
                    <a:pt x="26"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1" name="Freeform 5543"/>
            <p:cNvSpPr>
              <a:spLocks/>
            </p:cNvSpPr>
            <p:nvPr/>
          </p:nvSpPr>
          <p:spPr bwMode="auto">
            <a:xfrm>
              <a:off x="2058" y="204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2" name="Line 5544"/>
            <p:cNvSpPr>
              <a:spLocks noChangeShapeType="1"/>
            </p:cNvSpPr>
            <p:nvPr/>
          </p:nvSpPr>
          <p:spPr bwMode="auto">
            <a:xfrm>
              <a:off x="2058" y="20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3" name="Freeform 5545"/>
            <p:cNvSpPr>
              <a:spLocks/>
            </p:cNvSpPr>
            <p:nvPr/>
          </p:nvSpPr>
          <p:spPr bwMode="auto">
            <a:xfrm>
              <a:off x="2058" y="2012"/>
              <a:ext cx="27" cy="38"/>
            </a:xfrm>
            <a:custGeom>
              <a:avLst/>
              <a:gdLst>
                <a:gd name="T0" fmla="*/ 26 w 27"/>
                <a:gd name="T1" fmla="*/ 0 h 38"/>
                <a:gd name="T2" fmla="*/ 0 w 27"/>
                <a:gd name="T3" fmla="*/ 28 h 38"/>
                <a:gd name="T4" fmla="*/ 12 w 27"/>
                <a:gd name="T5" fmla="*/ 37 h 38"/>
                <a:gd name="T6" fmla="*/ 26 w 27"/>
                <a:gd name="T7" fmla="*/ 0 h 38"/>
                <a:gd name="T8" fmla="*/ 0 60000 65536"/>
                <a:gd name="T9" fmla="*/ 0 60000 65536"/>
                <a:gd name="T10" fmla="*/ 0 60000 65536"/>
                <a:gd name="T11" fmla="*/ 0 60000 65536"/>
                <a:gd name="T12" fmla="*/ 0 w 27"/>
                <a:gd name="T13" fmla="*/ 0 h 38"/>
                <a:gd name="T14" fmla="*/ 27 w 27"/>
                <a:gd name="T15" fmla="*/ 38 h 38"/>
              </a:gdLst>
              <a:ahLst/>
              <a:cxnLst>
                <a:cxn ang="T8">
                  <a:pos x="T0" y="T1"/>
                </a:cxn>
                <a:cxn ang="T9">
                  <a:pos x="T2" y="T3"/>
                </a:cxn>
                <a:cxn ang="T10">
                  <a:pos x="T4" y="T5"/>
                </a:cxn>
                <a:cxn ang="T11">
                  <a:pos x="T6" y="T7"/>
                </a:cxn>
              </a:cxnLst>
              <a:rect l="T12" t="T13" r="T14" b="T15"/>
              <a:pathLst>
                <a:path w="27" h="38">
                  <a:moveTo>
                    <a:pt x="26" y="0"/>
                  </a:moveTo>
                  <a:lnTo>
                    <a:pt x="0" y="28"/>
                  </a:lnTo>
                  <a:lnTo>
                    <a:pt x="12" y="3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4" name="Freeform 5546"/>
            <p:cNvSpPr>
              <a:spLocks/>
            </p:cNvSpPr>
            <p:nvPr/>
          </p:nvSpPr>
          <p:spPr bwMode="auto">
            <a:xfrm>
              <a:off x="2058" y="2007"/>
              <a:ext cx="27" cy="35"/>
            </a:xfrm>
            <a:custGeom>
              <a:avLst/>
              <a:gdLst>
                <a:gd name="T0" fmla="*/ 26 w 27"/>
                <a:gd name="T1" fmla="*/ 6 h 35"/>
                <a:gd name="T2" fmla="*/ 12 w 27"/>
                <a:gd name="T3" fmla="*/ 0 h 35"/>
                <a:gd name="T4" fmla="*/ 0 w 27"/>
                <a:gd name="T5" fmla="*/ 34 h 35"/>
                <a:gd name="T6" fmla="*/ 26 w 27"/>
                <a:gd name="T7" fmla="*/ 6 h 35"/>
                <a:gd name="T8" fmla="*/ 0 60000 65536"/>
                <a:gd name="T9" fmla="*/ 0 60000 65536"/>
                <a:gd name="T10" fmla="*/ 0 60000 65536"/>
                <a:gd name="T11" fmla="*/ 0 60000 65536"/>
                <a:gd name="T12" fmla="*/ 0 w 27"/>
                <a:gd name="T13" fmla="*/ 0 h 35"/>
                <a:gd name="T14" fmla="*/ 27 w 27"/>
                <a:gd name="T15" fmla="*/ 35 h 35"/>
              </a:gdLst>
              <a:ahLst/>
              <a:cxnLst>
                <a:cxn ang="T8">
                  <a:pos x="T0" y="T1"/>
                </a:cxn>
                <a:cxn ang="T9">
                  <a:pos x="T2" y="T3"/>
                </a:cxn>
                <a:cxn ang="T10">
                  <a:pos x="T4" y="T5"/>
                </a:cxn>
                <a:cxn ang="T11">
                  <a:pos x="T6" y="T7"/>
                </a:cxn>
              </a:cxnLst>
              <a:rect l="T12" t="T13" r="T14" b="T15"/>
              <a:pathLst>
                <a:path w="27" h="35">
                  <a:moveTo>
                    <a:pt x="26" y="6"/>
                  </a:moveTo>
                  <a:lnTo>
                    <a:pt x="12" y="0"/>
                  </a:lnTo>
                  <a:lnTo>
                    <a:pt x="0" y="34"/>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5" name="Freeform 5547"/>
            <p:cNvSpPr>
              <a:spLocks/>
            </p:cNvSpPr>
            <p:nvPr/>
          </p:nvSpPr>
          <p:spPr bwMode="auto">
            <a:xfrm>
              <a:off x="2070" y="200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6" name="Line 5548"/>
            <p:cNvSpPr>
              <a:spLocks noChangeShapeType="1"/>
            </p:cNvSpPr>
            <p:nvPr/>
          </p:nvSpPr>
          <p:spPr bwMode="auto">
            <a:xfrm>
              <a:off x="2070" y="2007"/>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7" name="Freeform 5549"/>
            <p:cNvSpPr>
              <a:spLocks/>
            </p:cNvSpPr>
            <p:nvPr/>
          </p:nvSpPr>
          <p:spPr bwMode="auto">
            <a:xfrm>
              <a:off x="2070" y="1977"/>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8" name="Freeform 5550"/>
            <p:cNvSpPr>
              <a:spLocks/>
            </p:cNvSpPr>
            <p:nvPr/>
          </p:nvSpPr>
          <p:spPr bwMode="auto">
            <a:xfrm>
              <a:off x="2070" y="1977"/>
              <a:ext cx="27" cy="31"/>
            </a:xfrm>
            <a:custGeom>
              <a:avLst/>
              <a:gdLst>
                <a:gd name="T0" fmla="*/ 26 w 27"/>
                <a:gd name="T1" fmla="*/ 0 h 31"/>
                <a:gd name="T2" fmla="*/ 13 w 27"/>
                <a:gd name="T3" fmla="*/ 0 h 31"/>
                <a:gd name="T4" fmla="*/ 0 w 27"/>
                <a:gd name="T5" fmla="*/ 30 h 31"/>
                <a:gd name="T6" fmla="*/ 26 w 27"/>
                <a:gd name="T7" fmla="*/ 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26" y="0"/>
                  </a:moveTo>
                  <a:lnTo>
                    <a:pt x="13" y="0"/>
                  </a:lnTo>
                  <a:lnTo>
                    <a:pt x="0" y="3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69" name="Freeform 5551"/>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0" name="Freeform 5552"/>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1" name="Freeform 5553"/>
            <p:cNvSpPr>
              <a:spLocks/>
            </p:cNvSpPr>
            <p:nvPr/>
          </p:nvSpPr>
          <p:spPr bwMode="auto">
            <a:xfrm>
              <a:off x="2081" y="1949"/>
              <a:ext cx="29" cy="29"/>
            </a:xfrm>
            <a:custGeom>
              <a:avLst/>
              <a:gdLst>
                <a:gd name="T0" fmla="*/ 28 w 29"/>
                <a:gd name="T1" fmla="*/ 0 h 29"/>
                <a:gd name="T2" fmla="*/ 0 w 29"/>
                <a:gd name="T3" fmla="*/ 28 h 29"/>
                <a:gd name="T4" fmla="*/ 14 w 29"/>
                <a:gd name="T5" fmla="*/ 28 h 29"/>
                <a:gd name="T6" fmla="*/ 28 w 29"/>
                <a:gd name="T7" fmla="*/ 0 h 29"/>
                <a:gd name="T8" fmla="*/ 0 60000 65536"/>
                <a:gd name="T9" fmla="*/ 0 60000 65536"/>
                <a:gd name="T10" fmla="*/ 0 60000 65536"/>
                <a:gd name="T11" fmla="*/ 0 60000 65536"/>
                <a:gd name="T12" fmla="*/ 0 w 29"/>
                <a:gd name="T13" fmla="*/ 0 h 29"/>
                <a:gd name="T14" fmla="*/ 29 w 29"/>
                <a:gd name="T15" fmla="*/ 29 h 29"/>
              </a:gdLst>
              <a:ahLst/>
              <a:cxnLst>
                <a:cxn ang="T8">
                  <a:pos x="T0" y="T1"/>
                </a:cxn>
                <a:cxn ang="T9">
                  <a:pos x="T2" y="T3"/>
                </a:cxn>
                <a:cxn ang="T10">
                  <a:pos x="T4" y="T5"/>
                </a:cxn>
                <a:cxn ang="T11">
                  <a:pos x="T6" y="T7"/>
                </a:cxn>
              </a:cxnLst>
              <a:rect l="T12" t="T13" r="T14" b="T15"/>
              <a:pathLst>
                <a:path w="29" h="29">
                  <a:moveTo>
                    <a:pt x="28" y="0"/>
                  </a:moveTo>
                  <a:lnTo>
                    <a:pt x="0" y="28"/>
                  </a:lnTo>
                  <a:lnTo>
                    <a:pt x="14" y="28"/>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2" name="Freeform 5554"/>
            <p:cNvSpPr>
              <a:spLocks/>
            </p:cNvSpPr>
            <p:nvPr/>
          </p:nvSpPr>
          <p:spPr bwMode="auto">
            <a:xfrm>
              <a:off x="2081" y="1941"/>
              <a:ext cx="29" cy="37"/>
            </a:xfrm>
            <a:custGeom>
              <a:avLst/>
              <a:gdLst>
                <a:gd name="T0" fmla="*/ 28 w 29"/>
                <a:gd name="T1" fmla="*/ 8 h 37"/>
                <a:gd name="T2" fmla="*/ 14 w 29"/>
                <a:gd name="T3" fmla="*/ 0 h 37"/>
                <a:gd name="T4" fmla="*/ 0 w 29"/>
                <a:gd name="T5" fmla="*/ 36 h 37"/>
                <a:gd name="T6" fmla="*/ 28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28" y="8"/>
                  </a:moveTo>
                  <a:lnTo>
                    <a:pt x="14" y="0"/>
                  </a:lnTo>
                  <a:lnTo>
                    <a:pt x="0" y="36"/>
                  </a:lnTo>
                  <a:lnTo>
                    <a:pt x="28"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3" name="Freeform 5555"/>
            <p:cNvSpPr>
              <a:spLocks/>
            </p:cNvSpPr>
            <p:nvPr/>
          </p:nvSpPr>
          <p:spPr bwMode="auto">
            <a:xfrm>
              <a:off x="2096" y="194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4" name="Line 5556"/>
            <p:cNvSpPr>
              <a:spLocks noChangeShapeType="1"/>
            </p:cNvSpPr>
            <p:nvPr/>
          </p:nvSpPr>
          <p:spPr bwMode="auto">
            <a:xfrm>
              <a:off x="2096" y="19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5" name="Freeform 5557"/>
            <p:cNvSpPr>
              <a:spLocks/>
            </p:cNvSpPr>
            <p:nvPr/>
          </p:nvSpPr>
          <p:spPr bwMode="auto">
            <a:xfrm>
              <a:off x="2096" y="1919"/>
              <a:ext cx="24" cy="31"/>
            </a:xfrm>
            <a:custGeom>
              <a:avLst/>
              <a:gdLst>
                <a:gd name="T0" fmla="*/ 23 w 24"/>
                <a:gd name="T1" fmla="*/ 0 h 31"/>
                <a:gd name="T2" fmla="*/ 0 w 24"/>
                <a:gd name="T3" fmla="*/ 21 h 31"/>
                <a:gd name="T4" fmla="*/ 12 w 24"/>
                <a:gd name="T5" fmla="*/ 30 h 31"/>
                <a:gd name="T6" fmla="*/ 23 w 24"/>
                <a:gd name="T7" fmla="*/ 0 h 31"/>
                <a:gd name="T8" fmla="*/ 0 60000 65536"/>
                <a:gd name="T9" fmla="*/ 0 60000 65536"/>
                <a:gd name="T10" fmla="*/ 0 60000 65536"/>
                <a:gd name="T11" fmla="*/ 0 60000 65536"/>
                <a:gd name="T12" fmla="*/ 0 w 24"/>
                <a:gd name="T13" fmla="*/ 0 h 31"/>
                <a:gd name="T14" fmla="*/ 24 w 24"/>
                <a:gd name="T15" fmla="*/ 31 h 31"/>
              </a:gdLst>
              <a:ahLst/>
              <a:cxnLst>
                <a:cxn ang="T8">
                  <a:pos x="T0" y="T1"/>
                </a:cxn>
                <a:cxn ang="T9">
                  <a:pos x="T2" y="T3"/>
                </a:cxn>
                <a:cxn ang="T10">
                  <a:pos x="T4" y="T5"/>
                </a:cxn>
                <a:cxn ang="T11">
                  <a:pos x="T6" y="T7"/>
                </a:cxn>
              </a:cxnLst>
              <a:rect l="T12" t="T13" r="T14" b="T15"/>
              <a:pathLst>
                <a:path w="24" h="31">
                  <a:moveTo>
                    <a:pt x="23" y="0"/>
                  </a:moveTo>
                  <a:lnTo>
                    <a:pt x="0" y="21"/>
                  </a:lnTo>
                  <a:lnTo>
                    <a:pt x="12" y="30"/>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6" name="Freeform 5558"/>
            <p:cNvSpPr>
              <a:spLocks/>
            </p:cNvSpPr>
            <p:nvPr/>
          </p:nvSpPr>
          <p:spPr bwMode="auto">
            <a:xfrm>
              <a:off x="2096" y="1913"/>
              <a:ext cx="24" cy="29"/>
            </a:xfrm>
            <a:custGeom>
              <a:avLst/>
              <a:gdLst>
                <a:gd name="T0" fmla="*/ 23 w 24"/>
                <a:gd name="T1" fmla="*/ 6 h 29"/>
                <a:gd name="T2" fmla="*/ 12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2" y="0"/>
                  </a:lnTo>
                  <a:lnTo>
                    <a:pt x="0" y="28"/>
                  </a:lnTo>
                  <a:lnTo>
                    <a:pt x="23"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7" name="Freeform 5559"/>
            <p:cNvSpPr>
              <a:spLocks/>
            </p:cNvSpPr>
            <p:nvPr/>
          </p:nvSpPr>
          <p:spPr bwMode="auto">
            <a:xfrm>
              <a:off x="2109" y="1913"/>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8" name="Line 5560"/>
            <p:cNvSpPr>
              <a:spLocks noChangeShapeType="1"/>
            </p:cNvSpPr>
            <p:nvPr/>
          </p:nvSpPr>
          <p:spPr bwMode="auto">
            <a:xfrm>
              <a:off x="2109" y="1913"/>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79" name="Freeform 5561"/>
            <p:cNvSpPr>
              <a:spLocks/>
            </p:cNvSpPr>
            <p:nvPr/>
          </p:nvSpPr>
          <p:spPr bwMode="auto">
            <a:xfrm>
              <a:off x="2109" y="1892"/>
              <a:ext cx="26" cy="28"/>
            </a:xfrm>
            <a:custGeom>
              <a:avLst/>
              <a:gdLst>
                <a:gd name="T0" fmla="*/ 25 w 26"/>
                <a:gd name="T1" fmla="*/ 0 h 28"/>
                <a:gd name="T2" fmla="*/ 0 w 26"/>
                <a:gd name="T3" fmla="*/ 20 h 28"/>
                <a:gd name="T4" fmla="*/ 11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20"/>
                  </a:lnTo>
                  <a:lnTo>
                    <a:pt x="11"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0" name="Freeform 5562"/>
            <p:cNvSpPr>
              <a:spLocks/>
            </p:cNvSpPr>
            <p:nvPr/>
          </p:nvSpPr>
          <p:spPr bwMode="auto">
            <a:xfrm>
              <a:off x="2109" y="1886"/>
              <a:ext cx="26" cy="28"/>
            </a:xfrm>
            <a:custGeom>
              <a:avLst/>
              <a:gdLst>
                <a:gd name="T0" fmla="*/ 25 w 26"/>
                <a:gd name="T1" fmla="*/ 6 h 28"/>
                <a:gd name="T2" fmla="*/ 11 w 26"/>
                <a:gd name="T3" fmla="*/ 0 h 28"/>
                <a:gd name="T4" fmla="*/ 0 w 26"/>
                <a:gd name="T5" fmla="*/ 27 h 28"/>
                <a:gd name="T6" fmla="*/ 25 w 26"/>
                <a:gd name="T7" fmla="*/ 6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6"/>
                  </a:moveTo>
                  <a:lnTo>
                    <a:pt x="11" y="0"/>
                  </a:lnTo>
                  <a:lnTo>
                    <a:pt x="0" y="27"/>
                  </a:lnTo>
                  <a:lnTo>
                    <a:pt x="25"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1" name="Freeform 5563"/>
            <p:cNvSpPr>
              <a:spLocks/>
            </p:cNvSpPr>
            <p:nvPr/>
          </p:nvSpPr>
          <p:spPr bwMode="auto">
            <a:xfrm>
              <a:off x="2119" y="1886"/>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2" name="Line 5564"/>
            <p:cNvSpPr>
              <a:spLocks noChangeShapeType="1"/>
            </p:cNvSpPr>
            <p:nvPr/>
          </p:nvSpPr>
          <p:spPr bwMode="auto">
            <a:xfrm>
              <a:off x="2119" y="1886"/>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3" name="Freeform 5565"/>
            <p:cNvSpPr>
              <a:spLocks/>
            </p:cNvSpPr>
            <p:nvPr/>
          </p:nvSpPr>
          <p:spPr bwMode="auto">
            <a:xfrm>
              <a:off x="2119" y="1864"/>
              <a:ext cx="28" cy="29"/>
            </a:xfrm>
            <a:custGeom>
              <a:avLst/>
              <a:gdLst>
                <a:gd name="T0" fmla="*/ 27 w 28"/>
                <a:gd name="T1" fmla="*/ 0 h 29"/>
                <a:gd name="T2" fmla="*/ 0 w 28"/>
                <a:gd name="T3" fmla="*/ 21 h 29"/>
                <a:gd name="T4" fmla="*/ 13 w 28"/>
                <a:gd name="T5" fmla="*/ 28 h 29"/>
                <a:gd name="T6" fmla="*/ 27 w 28"/>
                <a:gd name="T7" fmla="*/ 0 h 29"/>
                <a:gd name="T8" fmla="*/ 0 60000 65536"/>
                <a:gd name="T9" fmla="*/ 0 60000 65536"/>
                <a:gd name="T10" fmla="*/ 0 60000 65536"/>
                <a:gd name="T11" fmla="*/ 0 60000 65536"/>
                <a:gd name="T12" fmla="*/ 0 w 28"/>
                <a:gd name="T13" fmla="*/ 0 h 29"/>
                <a:gd name="T14" fmla="*/ 28 w 28"/>
                <a:gd name="T15" fmla="*/ 29 h 29"/>
              </a:gdLst>
              <a:ahLst/>
              <a:cxnLst>
                <a:cxn ang="T8">
                  <a:pos x="T0" y="T1"/>
                </a:cxn>
                <a:cxn ang="T9">
                  <a:pos x="T2" y="T3"/>
                </a:cxn>
                <a:cxn ang="T10">
                  <a:pos x="T4" y="T5"/>
                </a:cxn>
                <a:cxn ang="T11">
                  <a:pos x="T6" y="T7"/>
                </a:cxn>
              </a:cxnLst>
              <a:rect l="T12" t="T13" r="T14" b="T15"/>
              <a:pathLst>
                <a:path w="28" h="29">
                  <a:moveTo>
                    <a:pt x="27" y="0"/>
                  </a:moveTo>
                  <a:lnTo>
                    <a:pt x="0" y="21"/>
                  </a:lnTo>
                  <a:lnTo>
                    <a:pt x="13" y="28"/>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4" name="Freeform 5566"/>
            <p:cNvSpPr>
              <a:spLocks/>
            </p:cNvSpPr>
            <p:nvPr/>
          </p:nvSpPr>
          <p:spPr bwMode="auto">
            <a:xfrm>
              <a:off x="2119" y="1856"/>
              <a:ext cx="28" cy="31"/>
            </a:xfrm>
            <a:custGeom>
              <a:avLst/>
              <a:gdLst>
                <a:gd name="T0" fmla="*/ 27 w 28"/>
                <a:gd name="T1" fmla="*/ 8 h 31"/>
                <a:gd name="T2" fmla="*/ 13 w 28"/>
                <a:gd name="T3" fmla="*/ 0 h 31"/>
                <a:gd name="T4" fmla="*/ 0 w 28"/>
                <a:gd name="T5" fmla="*/ 30 h 31"/>
                <a:gd name="T6" fmla="*/ 27 w 28"/>
                <a:gd name="T7" fmla="*/ 8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8"/>
                  </a:moveTo>
                  <a:lnTo>
                    <a:pt x="13" y="0"/>
                  </a:lnTo>
                  <a:lnTo>
                    <a:pt x="0" y="30"/>
                  </a:lnTo>
                  <a:lnTo>
                    <a:pt x="27"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5" name="Freeform 5567"/>
            <p:cNvSpPr>
              <a:spLocks/>
            </p:cNvSpPr>
            <p:nvPr/>
          </p:nvSpPr>
          <p:spPr bwMode="auto">
            <a:xfrm>
              <a:off x="2134" y="1856"/>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6" name="Line 5568"/>
            <p:cNvSpPr>
              <a:spLocks noChangeShapeType="1"/>
            </p:cNvSpPr>
            <p:nvPr/>
          </p:nvSpPr>
          <p:spPr bwMode="auto">
            <a:xfrm>
              <a:off x="2134" y="1856"/>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7" name="Freeform 5569"/>
            <p:cNvSpPr>
              <a:spLocks/>
            </p:cNvSpPr>
            <p:nvPr/>
          </p:nvSpPr>
          <p:spPr bwMode="auto">
            <a:xfrm>
              <a:off x="2134" y="1835"/>
              <a:ext cx="24" cy="30"/>
            </a:xfrm>
            <a:custGeom>
              <a:avLst/>
              <a:gdLst>
                <a:gd name="T0" fmla="*/ 23 w 24"/>
                <a:gd name="T1" fmla="*/ 0 h 30"/>
                <a:gd name="T2" fmla="*/ 0 w 24"/>
                <a:gd name="T3" fmla="*/ 20 h 30"/>
                <a:gd name="T4" fmla="*/ 11 w 24"/>
                <a:gd name="T5" fmla="*/ 29 h 30"/>
                <a:gd name="T6" fmla="*/ 23 w 24"/>
                <a:gd name="T7" fmla="*/ 0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0"/>
                  </a:moveTo>
                  <a:lnTo>
                    <a:pt x="0" y="20"/>
                  </a:lnTo>
                  <a:lnTo>
                    <a:pt x="11" y="29"/>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8" name="Freeform 5570"/>
            <p:cNvSpPr>
              <a:spLocks/>
            </p:cNvSpPr>
            <p:nvPr/>
          </p:nvSpPr>
          <p:spPr bwMode="auto">
            <a:xfrm>
              <a:off x="2134" y="1828"/>
              <a:ext cx="24" cy="29"/>
            </a:xfrm>
            <a:custGeom>
              <a:avLst/>
              <a:gdLst>
                <a:gd name="T0" fmla="*/ 23 w 24"/>
                <a:gd name="T1" fmla="*/ 6 h 29"/>
                <a:gd name="T2" fmla="*/ 11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1" y="0"/>
                  </a:lnTo>
                  <a:lnTo>
                    <a:pt x="0" y="28"/>
                  </a:lnTo>
                  <a:lnTo>
                    <a:pt x="23"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89" name="Freeform 5571"/>
            <p:cNvSpPr>
              <a:spLocks/>
            </p:cNvSpPr>
            <p:nvPr/>
          </p:nvSpPr>
          <p:spPr bwMode="auto">
            <a:xfrm>
              <a:off x="2146" y="182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0" name="Line 5572"/>
            <p:cNvSpPr>
              <a:spLocks noChangeShapeType="1"/>
            </p:cNvSpPr>
            <p:nvPr/>
          </p:nvSpPr>
          <p:spPr bwMode="auto">
            <a:xfrm>
              <a:off x="2146" y="182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1" name="Freeform 5573"/>
            <p:cNvSpPr>
              <a:spLocks/>
            </p:cNvSpPr>
            <p:nvPr/>
          </p:nvSpPr>
          <p:spPr bwMode="auto">
            <a:xfrm>
              <a:off x="2146" y="1813"/>
              <a:ext cx="24" cy="28"/>
            </a:xfrm>
            <a:custGeom>
              <a:avLst/>
              <a:gdLst>
                <a:gd name="T0" fmla="*/ 23 w 24"/>
                <a:gd name="T1" fmla="*/ 0 h 28"/>
                <a:gd name="T2" fmla="*/ 0 w 24"/>
                <a:gd name="T3" fmla="*/ 18 h 28"/>
                <a:gd name="T4" fmla="*/ 12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18"/>
                  </a:lnTo>
                  <a:lnTo>
                    <a:pt x="12" y="27"/>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2" name="Freeform 5574"/>
            <p:cNvSpPr>
              <a:spLocks/>
            </p:cNvSpPr>
            <p:nvPr/>
          </p:nvSpPr>
          <p:spPr bwMode="auto">
            <a:xfrm>
              <a:off x="2146" y="1807"/>
              <a:ext cx="24" cy="26"/>
            </a:xfrm>
            <a:custGeom>
              <a:avLst/>
              <a:gdLst>
                <a:gd name="T0" fmla="*/ 23 w 24"/>
                <a:gd name="T1" fmla="*/ 7 h 26"/>
                <a:gd name="T2" fmla="*/ 12 w 24"/>
                <a:gd name="T3" fmla="*/ 0 h 26"/>
                <a:gd name="T4" fmla="*/ 0 w 24"/>
                <a:gd name="T5" fmla="*/ 25 h 26"/>
                <a:gd name="T6" fmla="*/ 23 w 24"/>
                <a:gd name="T7" fmla="*/ 7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7"/>
                  </a:moveTo>
                  <a:lnTo>
                    <a:pt x="12" y="0"/>
                  </a:lnTo>
                  <a:lnTo>
                    <a:pt x="0" y="25"/>
                  </a:lnTo>
                  <a:lnTo>
                    <a:pt x="23" y="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3" name="Freeform 5575"/>
            <p:cNvSpPr>
              <a:spLocks/>
            </p:cNvSpPr>
            <p:nvPr/>
          </p:nvSpPr>
          <p:spPr bwMode="auto">
            <a:xfrm>
              <a:off x="2157" y="180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4" name="Line 5576"/>
            <p:cNvSpPr>
              <a:spLocks noChangeShapeType="1"/>
            </p:cNvSpPr>
            <p:nvPr/>
          </p:nvSpPr>
          <p:spPr bwMode="auto">
            <a:xfrm>
              <a:off x="2157" y="180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5" name="Freeform 5577"/>
            <p:cNvSpPr>
              <a:spLocks/>
            </p:cNvSpPr>
            <p:nvPr/>
          </p:nvSpPr>
          <p:spPr bwMode="auto">
            <a:xfrm>
              <a:off x="2157" y="1792"/>
              <a:ext cx="28" cy="27"/>
            </a:xfrm>
            <a:custGeom>
              <a:avLst/>
              <a:gdLst>
                <a:gd name="T0" fmla="*/ 27 w 28"/>
                <a:gd name="T1" fmla="*/ 0 h 27"/>
                <a:gd name="T2" fmla="*/ 0 w 28"/>
                <a:gd name="T3" fmla="*/ 18 h 27"/>
                <a:gd name="T4" fmla="*/ 16 w 28"/>
                <a:gd name="T5" fmla="*/ 26 h 27"/>
                <a:gd name="T6" fmla="*/ 27 w 28"/>
                <a:gd name="T7" fmla="*/ 0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0"/>
                  </a:moveTo>
                  <a:lnTo>
                    <a:pt x="0" y="18"/>
                  </a:lnTo>
                  <a:lnTo>
                    <a:pt x="16" y="26"/>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6" name="Freeform 5578"/>
            <p:cNvSpPr>
              <a:spLocks/>
            </p:cNvSpPr>
            <p:nvPr/>
          </p:nvSpPr>
          <p:spPr bwMode="auto">
            <a:xfrm>
              <a:off x="2157" y="1785"/>
              <a:ext cx="28" cy="28"/>
            </a:xfrm>
            <a:custGeom>
              <a:avLst/>
              <a:gdLst>
                <a:gd name="T0" fmla="*/ 27 w 28"/>
                <a:gd name="T1" fmla="*/ 8 h 28"/>
                <a:gd name="T2" fmla="*/ 16 w 28"/>
                <a:gd name="T3" fmla="*/ 0 h 28"/>
                <a:gd name="T4" fmla="*/ 0 w 28"/>
                <a:gd name="T5" fmla="*/ 27 h 28"/>
                <a:gd name="T6" fmla="*/ 27 w 28"/>
                <a:gd name="T7" fmla="*/ 8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8"/>
                  </a:moveTo>
                  <a:lnTo>
                    <a:pt x="16" y="0"/>
                  </a:lnTo>
                  <a:lnTo>
                    <a:pt x="0" y="27"/>
                  </a:lnTo>
                  <a:lnTo>
                    <a:pt x="27"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7" name="Freeform 5579"/>
            <p:cNvSpPr>
              <a:spLocks/>
            </p:cNvSpPr>
            <p:nvPr/>
          </p:nvSpPr>
          <p:spPr bwMode="auto">
            <a:xfrm>
              <a:off x="2169" y="1785"/>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8" name="Line 5580"/>
            <p:cNvSpPr>
              <a:spLocks noChangeShapeType="1"/>
            </p:cNvSpPr>
            <p:nvPr/>
          </p:nvSpPr>
          <p:spPr bwMode="auto">
            <a:xfrm>
              <a:off x="2169" y="1785"/>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199" name="Freeform 5581"/>
            <p:cNvSpPr>
              <a:spLocks/>
            </p:cNvSpPr>
            <p:nvPr/>
          </p:nvSpPr>
          <p:spPr bwMode="auto">
            <a:xfrm>
              <a:off x="2169" y="1777"/>
              <a:ext cx="27" cy="28"/>
            </a:xfrm>
            <a:custGeom>
              <a:avLst/>
              <a:gdLst>
                <a:gd name="T0" fmla="*/ 26 w 27"/>
                <a:gd name="T1" fmla="*/ 0 h 28"/>
                <a:gd name="T2" fmla="*/ 0 w 27"/>
                <a:gd name="T3" fmla="*/ 15 h 28"/>
                <a:gd name="T4" fmla="*/ 1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0"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0" name="Freeform 5582"/>
            <p:cNvSpPr>
              <a:spLocks/>
            </p:cNvSpPr>
            <p:nvPr/>
          </p:nvSpPr>
          <p:spPr bwMode="auto">
            <a:xfrm>
              <a:off x="2169" y="1771"/>
              <a:ext cx="27" cy="27"/>
            </a:xfrm>
            <a:custGeom>
              <a:avLst/>
              <a:gdLst>
                <a:gd name="T0" fmla="*/ 26 w 27"/>
                <a:gd name="T1" fmla="*/ 11 h 27"/>
                <a:gd name="T2" fmla="*/ 18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8" y="0"/>
                  </a:lnTo>
                  <a:lnTo>
                    <a:pt x="0" y="26"/>
                  </a:lnTo>
                  <a:lnTo>
                    <a:pt x="26"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1" name="Freeform 5583"/>
            <p:cNvSpPr>
              <a:spLocks/>
            </p:cNvSpPr>
            <p:nvPr/>
          </p:nvSpPr>
          <p:spPr bwMode="auto">
            <a:xfrm>
              <a:off x="2184" y="177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2" name="Line 5584"/>
            <p:cNvSpPr>
              <a:spLocks noChangeShapeType="1"/>
            </p:cNvSpPr>
            <p:nvPr/>
          </p:nvSpPr>
          <p:spPr bwMode="auto">
            <a:xfrm>
              <a:off x="2184" y="1771"/>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3" name="Freeform 5585"/>
            <p:cNvSpPr>
              <a:spLocks/>
            </p:cNvSpPr>
            <p:nvPr/>
          </p:nvSpPr>
          <p:spPr bwMode="auto">
            <a:xfrm>
              <a:off x="2184" y="1764"/>
              <a:ext cx="24" cy="27"/>
            </a:xfrm>
            <a:custGeom>
              <a:avLst/>
              <a:gdLst>
                <a:gd name="T0" fmla="*/ 23 w 24"/>
                <a:gd name="T1" fmla="*/ 0 h 27"/>
                <a:gd name="T2" fmla="*/ 0 w 24"/>
                <a:gd name="T3" fmla="*/ 13 h 27"/>
                <a:gd name="T4" fmla="*/ 7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3"/>
                  </a:lnTo>
                  <a:lnTo>
                    <a:pt x="7"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4" name="Freeform 5586"/>
            <p:cNvSpPr>
              <a:spLocks/>
            </p:cNvSpPr>
            <p:nvPr/>
          </p:nvSpPr>
          <p:spPr bwMode="auto">
            <a:xfrm>
              <a:off x="2184" y="1755"/>
              <a:ext cx="24" cy="28"/>
            </a:xfrm>
            <a:custGeom>
              <a:avLst/>
              <a:gdLst>
                <a:gd name="T0" fmla="*/ 23 w 24"/>
                <a:gd name="T1" fmla="*/ 15 h 28"/>
                <a:gd name="T2" fmla="*/ 15 w 24"/>
                <a:gd name="T3" fmla="*/ 0 h 28"/>
                <a:gd name="T4" fmla="*/ 0 w 24"/>
                <a:gd name="T5" fmla="*/ 27 h 28"/>
                <a:gd name="T6" fmla="*/ 23 w 24"/>
                <a:gd name="T7" fmla="*/ 15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5"/>
                  </a:moveTo>
                  <a:lnTo>
                    <a:pt x="15" y="0"/>
                  </a:lnTo>
                  <a:lnTo>
                    <a:pt x="0" y="27"/>
                  </a:lnTo>
                  <a:lnTo>
                    <a:pt x="23"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5" name="Freeform 5587"/>
            <p:cNvSpPr>
              <a:spLocks/>
            </p:cNvSpPr>
            <p:nvPr/>
          </p:nvSpPr>
          <p:spPr bwMode="auto">
            <a:xfrm>
              <a:off x="2195" y="1749"/>
              <a:ext cx="27" cy="28"/>
            </a:xfrm>
            <a:custGeom>
              <a:avLst/>
              <a:gdLst>
                <a:gd name="T0" fmla="*/ 0 w 27"/>
                <a:gd name="T1" fmla="*/ 0 h 28"/>
                <a:gd name="T2" fmla="*/ 0 w 27"/>
                <a:gd name="T3" fmla="*/ 27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27"/>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6" name="Freeform 5588"/>
            <p:cNvSpPr>
              <a:spLocks/>
            </p:cNvSpPr>
            <p:nvPr/>
          </p:nvSpPr>
          <p:spPr bwMode="auto">
            <a:xfrm>
              <a:off x="2195" y="1749"/>
              <a:ext cx="1" cy="28"/>
            </a:xfrm>
            <a:custGeom>
              <a:avLst/>
              <a:gdLst>
                <a:gd name="T0" fmla="*/ 0 w 1"/>
                <a:gd name="T1" fmla="*/ 0 h 28"/>
                <a:gd name="T2" fmla="*/ 0 w 1"/>
                <a:gd name="T3" fmla="*/ 27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7" name="Freeform 5589"/>
            <p:cNvSpPr>
              <a:spLocks/>
            </p:cNvSpPr>
            <p:nvPr/>
          </p:nvSpPr>
          <p:spPr bwMode="auto">
            <a:xfrm>
              <a:off x="2195" y="1749"/>
              <a:ext cx="27" cy="28"/>
            </a:xfrm>
            <a:custGeom>
              <a:avLst/>
              <a:gdLst>
                <a:gd name="T0" fmla="*/ 26 w 27"/>
                <a:gd name="T1" fmla="*/ 0 h 28"/>
                <a:gd name="T2" fmla="*/ 0 w 27"/>
                <a:gd name="T3" fmla="*/ 0 h 28"/>
                <a:gd name="T4" fmla="*/ 8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8"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8" name="Freeform 5590"/>
            <p:cNvSpPr>
              <a:spLocks/>
            </p:cNvSpPr>
            <p:nvPr/>
          </p:nvSpPr>
          <p:spPr bwMode="auto">
            <a:xfrm>
              <a:off x="2195" y="1742"/>
              <a:ext cx="27" cy="28"/>
            </a:xfrm>
            <a:custGeom>
              <a:avLst/>
              <a:gdLst>
                <a:gd name="T0" fmla="*/ 26 w 27"/>
                <a:gd name="T1" fmla="*/ 27 h 28"/>
                <a:gd name="T2" fmla="*/ 16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6"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09" name="Freeform 5591"/>
            <p:cNvSpPr>
              <a:spLocks/>
            </p:cNvSpPr>
            <p:nvPr/>
          </p:nvSpPr>
          <p:spPr bwMode="auto">
            <a:xfrm>
              <a:off x="2206" y="1742"/>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0" name="Line 5592"/>
            <p:cNvSpPr>
              <a:spLocks noChangeShapeType="1"/>
            </p:cNvSpPr>
            <p:nvPr/>
          </p:nvSpPr>
          <p:spPr bwMode="auto">
            <a:xfrm>
              <a:off x="2206" y="1742"/>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1" name="Freeform 5593"/>
            <p:cNvSpPr>
              <a:spLocks/>
            </p:cNvSpPr>
            <p:nvPr/>
          </p:nvSpPr>
          <p:spPr bwMode="auto">
            <a:xfrm>
              <a:off x="2206" y="1742"/>
              <a:ext cx="25" cy="28"/>
            </a:xfrm>
            <a:custGeom>
              <a:avLst/>
              <a:gdLst>
                <a:gd name="T0" fmla="*/ 24 w 25"/>
                <a:gd name="T1" fmla="*/ 0 h 28"/>
                <a:gd name="T2" fmla="*/ 0 w 25"/>
                <a:gd name="T3" fmla="*/ 0 h 28"/>
                <a:gd name="T4" fmla="*/ 9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0"/>
                  </a:lnTo>
                  <a:lnTo>
                    <a:pt x="9" y="27"/>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2" name="Freeform 5594"/>
            <p:cNvSpPr>
              <a:spLocks/>
            </p:cNvSpPr>
            <p:nvPr/>
          </p:nvSpPr>
          <p:spPr bwMode="auto">
            <a:xfrm>
              <a:off x="2206" y="1734"/>
              <a:ext cx="25" cy="28"/>
            </a:xfrm>
            <a:custGeom>
              <a:avLst/>
              <a:gdLst>
                <a:gd name="T0" fmla="*/ 24 w 25"/>
                <a:gd name="T1" fmla="*/ 27 h 28"/>
                <a:gd name="T2" fmla="*/ 16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6"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3" name="Freeform 5595"/>
            <p:cNvSpPr>
              <a:spLocks/>
            </p:cNvSpPr>
            <p:nvPr/>
          </p:nvSpPr>
          <p:spPr bwMode="auto">
            <a:xfrm>
              <a:off x="2216" y="1734"/>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4" name="Line 5596"/>
            <p:cNvSpPr>
              <a:spLocks noChangeShapeType="1"/>
            </p:cNvSpPr>
            <p:nvPr/>
          </p:nvSpPr>
          <p:spPr bwMode="auto">
            <a:xfrm>
              <a:off x="2216" y="1734"/>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5" name="Freeform 5597"/>
            <p:cNvSpPr>
              <a:spLocks/>
            </p:cNvSpPr>
            <p:nvPr/>
          </p:nvSpPr>
          <p:spPr bwMode="auto">
            <a:xfrm>
              <a:off x="2216" y="1734"/>
              <a:ext cx="29" cy="28"/>
            </a:xfrm>
            <a:custGeom>
              <a:avLst/>
              <a:gdLst>
                <a:gd name="T0" fmla="*/ 28 w 29"/>
                <a:gd name="T1" fmla="*/ 27 h 28"/>
                <a:gd name="T2" fmla="*/ 0 w 29"/>
                <a:gd name="T3" fmla="*/ 0 h 28"/>
                <a:gd name="T4" fmla="*/ 8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8" y="27"/>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6" name="Freeform 5598"/>
            <p:cNvSpPr>
              <a:spLocks/>
            </p:cNvSpPr>
            <p:nvPr/>
          </p:nvSpPr>
          <p:spPr bwMode="auto">
            <a:xfrm>
              <a:off x="2216" y="1728"/>
              <a:ext cx="29" cy="28"/>
            </a:xfrm>
            <a:custGeom>
              <a:avLst/>
              <a:gdLst>
                <a:gd name="T0" fmla="*/ 28 w 29"/>
                <a:gd name="T1" fmla="*/ 27 h 28"/>
                <a:gd name="T2" fmla="*/ 19 w 29"/>
                <a:gd name="T3" fmla="*/ 0 h 28"/>
                <a:gd name="T4" fmla="*/ 0 w 29"/>
                <a:gd name="T5" fmla="*/ 12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9" y="0"/>
                  </a:lnTo>
                  <a:lnTo>
                    <a:pt x="0" y="12"/>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7" name="Freeform 5599"/>
            <p:cNvSpPr>
              <a:spLocks/>
            </p:cNvSpPr>
            <p:nvPr/>
          </p:nvSpPr>
          <p:spPr bwMode="auto">
            <a:xfrm>
              <a:off x="2233" y="1728"/>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8" name="Line 5600"/>
            <p:cNvSpPr>
              <a:spLocks noChangeShapeType="1"/>
            </p:cNvSpPr>
            <p:nvPr/>
          </p:nvSpPr>
          <p:spPr bwMode="auto">
            <a:xfrm>
              <a:off x="2233" y="1728"/>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19" name="Freeform 5601"/>
            <p:cNvSpPr>
              <a:spLocks/>
            </p:cNvSpPr>
            <p:nvPr/>
          </p:nvSpPr>
          <p:spPr bwMode="auto">
            <a:xfrm>
              <a:off x="2233" y="1728"/>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0" name="Freeform 5602"/>
            <p:cNvSpPr>
              <a:spLocks/>
            </p:cNvSpPr>
            <p:nvPr/>
          </p:nvSpPr>
          <p:spPr bwMode="auto">
            <a:xfrm>
              <a:off x="2233" y="1728"/>
              <a:ext cx="26" cy="28"/>
            </a:xfrm>
            <a:custGeom>
              <a:avLst/>
              <a:gdLst>
                <a:gd name="T0" fmla="*/ 0 w 26"/>
                <a:gd name="T1" fmla="*/ 0 h 28"/>
                <a:gd name="T2" fmla="*/ 25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25"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1" name="Freeform 5603"/>
            <p:cNvSpPr>
              <a:spLocks/>
            </p:cNvSpPr>
            <p:nvPr/>
          </p:nvSpPr>
          <p:spPr bwMode="auto">
            <a:xfrm>
              <a:off x="2245" y="1728"/>
              <a:ext cx="27" cy="28"/>
            </a:xfrm>
            <a:custGeom>
              <a:avLst/>
              <a:gdLst>
                <a:gd name="T0" fmla="*/ 0 w 27"/>
                <a:gd name="T1" fmla="*/ 0 h 28"/>
                <a:gd name="T2" fmla="*/ 0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0"/>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2" name="Line 5604"/>
            <p:cNvSpPr>
              <a:spLocks noChangeShapeType="1"/>
            </p:cNvSpPr>
            <p:nvPr/>
          </p:nvSpPr>
          <p:spPr bwMode="auto">
            <a:xfrm>
              <a:off x="2245" y="1728"/>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3" name="Freeform 5605"/>
            <p:cNvSpPr>
              <a:spLocks/>
            </p:cNvSpPr>
            <p:nvPr/>
          </p:nvSpPr>
          <p:spPr bwMode="auto">
            <a:xfrm>
              <a:off x="2245" y="1728"/>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4" name="Freeform 5606"/>
            <p:cNvSpPr>
              <a:spLocks/>
            </p:cNvSpPr>
            <p:nvPr/>
          </p:nvSpPr>
          <p:spPr bwMode="auto">
            <a:xfrm>
              <a:off x="2245" y="1728"/>
              <a:ext cx="27" cy="28"/>
            </a:xfrm>
            <a:custGeom>
              <a:avLst/>
              <a:gdLst>
                <a:gd name="T0" fmla="*/ 0 w 27"/>
                <a:gd name="T1" fmla="*/ 0 h 28"/>
                <a:gd name="T2" fmla="*/ 26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26" y="0"/>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5" name="Freeform 5607"/>
            <p:cNvSpPr>
              <a:spLocks/>
            </p:cNvSpPr>
            <p:nvPr/>
          </p:nvSpPr>
          <p:spPr bwMode="auto">
            <a:xfrm>
              <a:off x="2254" y="1728"/>
              <a:ext cx="29" cy="28"/>
            </a:xfrm>
            <a:custGeom>
              <a:avLst/>
              <a:gdLst>
                <a:gd name="T0" fmla="*/ 0 w 29"/>
                <a:gd name="T1" fmla="*/ 0 h 28"/>
                <a:gd name="T2" fmla="*/ 0 w 29"/>
                <a:gd name="T3" fmla="*/ 0 h 28"/>
                <a:gd name="T4" fmla="*/ 28 w 29"/>
                <a:gd name="T5" fmla="*/ 27 h 28"/>
                <a:gd name="T6" fmla="*/ 0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0"/>
                  </a:moveTo>
                  <a:lnTo>
                    <a:pt x="0" y="0"/>
                  </a:lnTo>
                  <a:lnTo>
                    <a:pt x="28"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6" name="Line 5608"/>
            <p:cNvSpPr>
              <a:spLocks noChangeShapeType="1"/>
            </p:cNvSpPr>
            <p:nvPr/>
          </p:nvSpPr>
          <p:spPr bwMode="auto">
            <a:xfrm>
              <a:off x="2254" y="1728"/>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7" name="Freeform 5609"/>
            <p:cNvSpPr>
              <a:spLocks/>
            </p:cNvSpPr>
            <p:nvPr/>
          </p:nvSpPr>
          <p:spPr bwMode="auto">
            <a:xfrm>
              <a:off x="2254" y="1728"/>
              <a:ext cx="29" cy="28"/>
            </a:xfrm>
            <a:custGeom>
              <a:avLst/>
              <a:gdLst>
                <a:gd name="T0" fmla="*/ 28 w 29"/>
                <a:gd name="T1" fmla="*/ 27 h 28"/>
                <a:gd name="T2" fmla="*/ 0 w 29"/>
                <a:gd name="T3" fmla="*/ 0 h 28"/>
                <a:gd name="T4" fmla="*/ 0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0" y="27"/>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8" name="Freeform 5610"/>
            <p:cNvSpPr>
              <a:spLocks/>
            </p:cNvSpPr>
            <p:nvPr/>
          </p:nvSpPr>
          <p:spPr bwMode="auto">
            <a:xfrm>
              <a:off x="2254" y="1728"/>
              <a:ext cx="29" cy="28"/>
            </a:xfrm>
            <a:custGeom>
              <a:avLst/>
              <a:gdLst>
                <a:gd name="T0" fmla="*/ 28 w 29"/>
                <a:gd name="T1" fmla="*/ 27 h 28"/>
                <a:gd name="T2" fmla="*/ 28 w 29"/>
                <a:gd name="T3" fmla="*/ 12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12"/>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29" name="Freeform 5611"/>
            <p:cNvSpPr>
              <a:spLocks/>
            </p:cNvSpPr>
            <p:nvPr/>
          </p:nvSpPr>
          <p:spPr bwMode="auto">
            <a:xfrm>
              <a:off x="2267" y="1734"/>
              <a:ext cx="26" cy="28"/>
            </a:xfrm>
            <a:custGeom>
              <a:avLst/>
              <a:gdLst>
                <a:gd name="T0" fmla="*/ 25 w 26"/>
                <a:gd name="T1" fmla="*/ 0 h 28"/>
                <a:gd name="T2" fmla="*/ 0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0"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0" name="Freeform 5612"/>
            <p:cNvSpPr>
              <a:spLocks/>
            </p:cNvSpPr>
            <p:nvPr/>
          </p:nvSpPr>
          <p:spPr bwMode="auto">
            <a:xfrm>
              <a:off x="2267" y="1734"/>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1" name="Freeform 5613"/>
            <p:cNvSpPr>
              <a:spLocks/>
            </p:cNvSpPr>
            <p:nvPr/>
          </p:nvSpPr>
          <p:spPr bwMode="auto">
            <a:xfrm>
              <a:off x="2262" y="1734"/>
              <a:ext cx="25" cy="28"/>
            </a:xfrm>
            <a:custGeom>
              <a:avLst/>
              <a:gdLst>
                <a:gd name="T0" fmla="*/ 24 w 25"/>
                <a:gd name="T1" fmla="*/ 27 h 28"/>
                <a:gd name="T2" fmla="*/ 24 w 25"/>
                <a:gd name="T3" fmla="*/ 0 h 28"/>
                <a:gd name="T4" fmla="*/ 0 w 25"/>
                <a:gd name="T5" fmla="*/ 15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15"/>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2" name="Freeform 5614"/>
            <p:cNvSpPr>
              <a:spLocks/>
            </p:cNvSpPr>
            <p:nvPr/>
          </p:nvSpPr>
          <p:spPr bwMode="auto">
            <a:xfrm>
              <a:off x="2275" y="1734"/>
              <a:ext cx="25" cy="28"/>
            </a:xfrm>
            <a:custGeom>
              <a:avLst/>
              <a:gdLst>
                <a:gd name="T0" fmla="*/ 0 w 25"/>
                <a:gd name="T1" fmla="*/ 27 h 28"/>
                <a:gd name="T2" fmla="*/ 24 w 25"/>
                <a:gd name="T3" fmla="*/ 15 h 28"/>
                <a:gd name="T4" fmla="*/ 0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24" y="15"/>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3" name="Freeform 5615"/>
            <p:cNvSpPr>
              <a:spLocks/>
            </p:cNvSpPr>
            <p:nvPr/>
          </p:nvSpPr>
          <p:spPr bwMode="auto">
            <a:xfrm>
              <a:off x="2282" y="1742"/>
              <a:ext cx="24" cy="28"/>
            </a:xfrm>
            <a:custGeom>
              <a:avLst/>
              <a:gdLst>
                <a:gd name="T0" fmla="*/ 23 w 24"/>
                <a:gd name="T1" fmla="*/ 0 h 28"/>
                <a:gd name="T2" fmla="*/ 0 w 24"/>
                <a:gd name="T3" fmla="*/ 0 h 28"/>
                <a:gd name="T4" fmla="*/ 0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0"/>
                  </a:lnTo>
                  <a:lnTo>
                    <a:pt x="0" y="27"/>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4" name="Freeform 5616"/>
            <p:cNvSpPr>
              <a:spLocks/>
            </p:cNvSpPr>
            <p:nvPr/>
          </p:nvSpPr>
          <p:spPr bwMode="auto">
            <a:xfrm>
              <a:off x="2282" y="1742"/>
              <a:ext cx="24" cy="1"/>
            </a:xfrm>
            <a:custGeom>
              <a:avLst/>
              <a:gdLst>
                <a:gd name="T0" fmla="*/ 23 w 24"/>
                <a:gd name="T1" fmla="*/ 0 h 1"/>
                <a:gd name="T2" fmla="*/ 23 w 24"/>
                <a:gd name="T3" fmla="*/ 0 h 1"/>
                <a:gd name="T4" fmla="*/ 0 w 24"/>
                <a:gd name="T5" fmla="*/ 0 h 1"/>
                <a:gd name="T6" fmla="*/ 23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23" y="0"/>
                  </a:moveTo>
                  <a:lnTo>
                    <a:pt x="23" y="0"/>
                  </a:lnTo>
                  <a:lnTo>
                    <a:pt x="0" y="0"/>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5" name="Freeform 5617"/>
            <p:cNvSpPr>
              <a:spLocks/>
            </p:cNvSpPr>
            <p:nvPr/>
          </p:nvSpPr>
          <p:spPr bwMode="auto">
            <a:xfrm>
              <a:off x="2275" y="1742"/>
              <a:ext cx="25" cy="28"/>
            </a:xfrm>
            <a:custGeom>
              <a:avLst/>
              <a:gdLst>
                <a:gd name="T0" fmla="*/ 24 w 25"/>
                <a:gd name="T1" fmla="*/ 27 h 28"/>
                <a:gd name="T2" fmla="*/ 24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8"/>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6" name="Freeform 5618"/>
            <p:cNvSpPr>
              <a:spLocks/>
            </p:cNvSpPr>
            <p:nvPr/>
          </p:nvSpPr>
          <p:spPr bwMode="auto">
            <a:xfrm>
              <a:off x="2286" y="1742"/>
              <a:ext cx="28" cy="28"/>
            </a:xfrm>
            <a:custGeom>
              <a:avLst/>
              <a:gdLst>
                <a:gd name="T0" fmla="*/ 0 w 28"/>
                <a:gd name="T1" fmla="*/ 27 h 28"/>
                <a:gd name="T2" fmla="*/ 27 w 28"/>
                <a:gd name="T3" fmla="*/ 8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8"/>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7" name="Freeform 5619"/>
            <p:cNvSpPr>
              <a:spLocks/>
            </p:cNvSpPr>
            <p:nvPr/>
          </p:nvSpPr>
          <p:spPr bwMode="auto">
            <a:xfrm>
              <a:off x="2292" y="1749"/>
              <a:ext cx="26" cy="28"/>
            </a:xfrm>
            <a:custGeom>
              <a:avLst/>
              <a:gdLst>
                <a:gd name="T0" fmla="*/ 25 w 26"/>
                <a:gd name="T1" fmla="*/ 12 h 28"/>
                <a:gd name="T2" fmla="*/ 25 w 26"/>
                <a:gd name="T3" fmla="*/ 0 h 28"/>
                <a:gd name="T4" fmla="*/ 0 w 26"/>
                <a:gd name="T5" fmla="*/ 27 h 28"/>
                <a:gd name="T6" fmla="*/ 25 w 26"/>
                <a:gd name="T7" fmla="*/ 12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2"/>
                  </a:moveTo>
                  <a:lnTo>
                    <a:pt x="25" y="0"/>
                  </a:lnTo>
                  <a:lnTo>
                    <a:pt x="0" y="27"/>
                  </a:lnTo>
                  <a:lnTo>
                    <a:pt x="25"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8" name="Freeform 5620"/>
            <p:cNvSpPr>
              <a:spLocks/>
            </p:cNvSpPr>
            <p:nvPr/>
          </p:nvSpPr>
          <p:spPr bwMode="auto">
            <a:xfrm>
              <a:off x="2299" y="174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39" name="Freeform 5621"/>
            <p:cNvSpPr>
              <a:spLocks/>
            </p:cNvSpPr>
            <p:nvPr/>
          </p:nvSpPr>
          <p:spPr bwMode="auto">
            <a:xfrm>
              <a:off x="2286" y="1755"/>
              <a:ext cx="28" cy="28"/>
            </a:xfrm>
            <a:custGeom>
              <a:avLst/>
              <a:gdLst>
                <a:gd name="T0" fmla="*/ 27 w 28"/>
                <a:gd name="T1" fmla="*/ 27 h 28"/>
                <a:gd name="T2" fmla="*/ 27 w 28"/>
                <a:gd name="T3" fmla="*/ 0 h 28"/>
                <a:gd name="T4" fmla="*/ 0 w 28"/>
                <a:gd name="T5" fmla="*/ 10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27" y="0"/>
                  </a:lnTo>
                  <a:lnTo>
                    <a:pt x="0" y="10"/>
                  </a:lnTo>
                  <a:lnTo>
                    <a:pt x="27"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0" name="Freeform 5622"/>
            <p:cNvSpPr>
              <a:spLocks/>
            </p:cNvSpPr>
            <p:nvPr/>
          </p:nvSpPr>
          <p:spPr bwMode="auto">
            <a:xfrm>
              <a:off x="2299" y="1755"/>
              <a:ext cx="26" cy="28"/>
            </a:xfrm>
            <a:custGeom>
              <a:avLst/>
              <a:gdLst>
                <a:gd name="T0" fmla="*/ 0 w 26"/>
                <a:gd name="T1" fmla="*/ 27 h 28"/>
                <a:gd name="T2" fmla="*/ 25 w 26"/>
                <a:gd name="T3" fmla="*/ 18 h 28"/>
                <a:gd name="T4" fmla="*/ 0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18"/>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1" name="Freeform 5623"/>
            <p:cNvSpPr>
              <a:spLocks/>
            </p:cNvSpPr>
            <p:nvPr/>
          </p:nvSpPr>
          <p:spPr bwMode="auto">
            <a:xfrm>
              <a:off x="2305" y="1771"/>
              <a:ext cx="26" cy="27"/>
            </a:xfrm>
            <a:custGeom>
              <a:avLst/>
              <a:gdLst>
                <a:gd name="T0" fmla="*/ 25 w 26"/>
                <a:gd name="T1" fmla="*/ 0 h 27"/>
                <a:gd name="T2" fmla="*/ 25 w 26"/>
                <a:gd name="T3" fmla="*/ 0 h 27"/>
                <a:gd name="T4" fmla="*/ 0 w 26"/>
                <a:gd name="T5" fmla="*/ 26 h 27"/>
                <a:gd name="T6" fmla="*/ 25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0"/>
                  </a:moveTo>
                  <a:lnTo>
                    <a:pt x="25" y="0"/>
                  </a:lnTo>
                  <a:lnTo>
                    <a:pt x="0" y="26"/>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2" name="Line 5624"/>
            <p:cNvSpPr>
              <a:spLocks noChangeShapeType="1"/>
            </p:cNvSpPr>
            <p:nvPr/>
          </p:nvSpPr>
          <p:spPr bwMode="auto">
            <a:xfrm>
              <a:off x="2313" y="1771"/>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3" name="Freeform 5625"/>
            <p:cNvSpPr>
              <a:spLocks/>
            </p:cNvSpPr>
            <p:nvPr/>
          </p:nvSpPr>
          <p:spPr bwMode="auto">
            <a:xfrm>
              <a:off x="2299" y="1771"/>
              <a:ext cx="26" cy="27"/>
            </a:xfrm>
            <a:custGeom>
              <a:avLst/>
              <a:gdLst>
                <a:gd name="T0" fmla="*/ 25 w 26"/>
                <a:gd name="T1" fmla="*/ 26 h 27"/>
                <a:gd name="T2" fmla="*/ 25 w 26"/>
                <a:gd name="T3" fmla="*/ 0 h 27"/>
                <a:gd name="T4" fmla="*/ 0 w 26"/>
                <a:gd name="T5" fmla="*/ 8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0"/>
                  </a:lnTo>
                  <a:lnTo>
                    <a:pt x="0" y="8"/>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4" name="Freeform 5626"/>
            <p:cNvSpPr>
              <a:spLocks/>
            </p:cNvSpPr>
            <p:nvPr/>
          </p:nvSpPr>
          <p:spPr bwMode="auto">
            <a:xfrm>
              <a:off x="2313" y="1771"/>
              <a:ext cx="25" cy="27"/>
            </a:xfrm>
            <a:custGeom>
              <a:avLst/>
              <a:gdLst>
                <a:gd name="T0" fmla="*/ 0 w 25"/>
                <a:gd name="T1" fmla="*/ 26 h 27"/>
                <a:gd name="T2" fmla="*/ 24 w 25"/>
                <a:gd name="T3" fmla="*/ 18 h 27"/>
                <a:gd name="T4" fmla="*/ 0 w 25"/>
                <a:gd name="T5" fmla="*/ 0 h 27"/>
                <a:gd name="T6" fmla="*/ 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26"/>
                  </a:moveTo>
                  <a:lnTo>
                    <a:pt x="24" y="18"/>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5" name="Freeform 5627"/>
            <p:cNvSpPr>
              <a:spLocks/>
            </p:cNvSpPr>
            <p:nvPr/>
          </p:nvSpPr>
          <p:spPr bwMode="auto">
            <a:xfrm>
              <a:off x="2317" y="1785"/>
              <a:ext cx="27" cy="28"/>
            </a:xfrm>
            <a:custGeom>
              <a:avLst/>
              <a:gdLst>
                <a:gd name="T0" fmla="*/ 26 w 27"/>
                <a:gd name="T1" fmla="*/ 0 h 28"/>
                <a:gd name="T2" fmla="*/ 0 w 27"/>
                <a:gd name="T3" fmla="*/ 0 h 28"/>
                <a:gd name="T4" fmla="*/ 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0"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6" name="Freeform 5628"/>
            <p:cNvSpPr>
              <a:spLocks/>
            </p:cNvSpPr>
            <p:nvPr/>
          </p:nvSpPr>
          <p:spPr bwMode="auto">
            <a:xfrm>
              <a:off x="2317" y="1785"/>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7" name="Freeform 5629"/>
            <p:cNvSpPr>
              <a:spLocks/>
            </p:cNvSpPr>
            <p:nvPr/>
          </p:nvSpPr>
          <p:spPr bwMode="auto">
            <a:xfrm>
              <a:off x="2313" y="1785"/>
              <a:ext cx="25" cy="29"/>
            </a:xfrm>
            <a:custGeom>
              <a:avLst/>
              <a:gdLst>
                <a:gd name="T0" fmla="*/ 24 w 25"/>
                <a:gd name="T1" fmla="*/ 28 h 29"/>
                <a:gd name="T2" fmla="*/ 24 w 25"/>
                <a:gd name="T3" fmla="*/ 0 h 29"/>
                <a:gd name="T4" fmla="*/ 0 w 25"/>
                <a:gd name="T5" fmla="*/ 6 h 29"/>
                <a:gd name="T6" fmla="*/ 24 w 25"/>
                <a:gd name="T7" fmla="*/ 28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28"/>
                  </a:moveTo>
                  <a:lnTo>
                    <a:pt x="24" y="0"/>
                  </a:lnTo>
                  <a:lnTo>
                    <a:pt x="0" y="6"/>
                  </a:lnTo>
                  <a:lnTo>
                    <a:pt x="24"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8" name="Freeform 5630"/>
            <p:cNvSpPr>
              <a:spLocks/>
            </p:cNvSpPr>
            <p:nvPr/>
          </p:nvSpPr>
          <p:spPr bwMode="auto">
            <a:xfrm>
              <a:off x="2324" y="1785"/>
              <a:ext cx="24" cy="29"/>
            </a:xfrm>
            <a:custGeom>
              <a:avLst/>
              <a:gdLst>
                <a:gd name="T0" fmla="*/ 0 w 24"/>
                <a:gd name="T1" fmla="*/ 28 h 29"/>
                <a:gd name="T2" fmla="*/ 23 w 24"/>
                <a:gd name="T3" fmla="*/ 21 h 29"/>
                <a:gd name="T4" fmla="*/ 0 w 24"/>
                <a:gd name="T5" fmla="*/ 0 h 29"/>
                <a:gd name="T6" fmla="*/ 0 w 24"/>
                <a:gd name="T7" fmla="*/ 28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28"/>
                  </a:moveTo>
                  <a:lnTo>
                    <a:pt x="23" y="21"/>
                  </a:lnTo>
                  <a:lnTo>
                    <a:pt x="0" y="0"/>
                  </a:lnTo>
                  <a:lnTo>
                    <a:pt x="0"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49" name="Freeform 5631"/>
            <p:cNvSpPr>
              <a:spLocks/>
            </p:cNvSpPr>
            <p:nvPr/>
          </p:nvSpPr>
          <p:spPr bwMode="auto">
            <a:xfrm>
              <a:off x="2330" y="1807"/>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0" name="Line 5632"/>
            <p:cNvSpPr>
              <a:spLocks noChangeShapeType="1"/>
            </p:cNvSpPr>
            <p:nvPr/>
          </p:nvSpPr>
          <p:spPr bwMode="auto">
            <a:xfrm>
              <a:off x="2330" y="180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1" name="Freeform 5633"/>
            <p:cNvSpPr>
              <a:spLocks/>
            </p:cNvSpPr>
            <p:nvPr/>
          </p:nvSpPr>
          <p:spPr bwMode="auto">
            <a:xfrm>
              <a:off x="2324" y="1807"/>
              <a:ext cx="24" cy="29"/>
            </a:xfrm>
            <a:custGeom>
              <a:avLst/>
              <a:gdLst>
                <a:gd name="T0" fmla="*/ 0 w 24"/>
                <a:gd name="T1" fmla="*/ 6 h 29"/>
                <a:gd name="T2" fmla="*/ 12 w 24"/>
                <a:gd name="T3" fmla="*/ 0 h 29"/>
                <a:gd name="T4" fmla="*/ 23 w 24"/>
                <a:gd name="T5" fmla="*/ 28 h 29"/>
                <a:gd name="T6" fmla="*/ 0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6"/>
                  </a:moveTo>
                  <a:lnTo>
                    <a:pt x="12" y="0"/>
                  </a:lnTo>
                  <a:lnTo>
                    <a:pt x="23" y="28"/>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2" name="Freeform 5634"/>
            <p:cNvSpPr>
              <a:spLocks/>
            </p:cNvSpPr>
            <p:nvPr/>
          </p:nvSpPr>
          <p:spPr bwMode="auto">
            <a:xfrm>
              <a:off x="2330" y="1807"/>
              <a:ext cx="26" cy="29"/>
            </a:xfrm>
            <a:custGeom>
              <a:avLst/>
              <a:gdLst>
                <a:gd name="T0" fmla="*/ 12 w 26"/>
                <a:gd name="T1" fmla="*/ 28 h 29"/>
                <a:gd name="T2" fmla="*/ 25 w 26"/>
                <a:gd name="T3" fmla="*/ 21 h 29"/>
                <a:gd name="T4" fmla="*/ 0 w 26"/>
                <a:gd name="T5" fmla="*/ 0 h 29"/>
                <a:gd name="T6" fmla="*/ 12 w 26"/>
                <a:gd name="T7" fmla="*/ 28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12" y="28"/>
                  </a:moveTo>
                  <a:lnTo>
                    <a:pt x="25" y="21"/>
                  </a:lnTo>
                  <a:lnTo>
                    <a:pt x="0" y="0"/>
                  </a:lnTo>
                  <a:lnTo>
                    <a:pt x="12"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3" name="Freeform 5635"/>
            <p:cNvSpPr>
              <a:spLocks/>
            </p:cNvSpPr>
            <p:nvPr/>
          </p:nvSpPr>
          <p:spPr bwMode="auto">
            <a:xfrm>
              <a:off x="2341" y="1828"/>
              <a:ext cx="1" cy="27"/>
            </a:xfrm>
            <a:custGeom>
              <a:avLst/>
              <a:gdLst>
                <a:gd name="T0" fmla="*/ 0 w 1"/>
                <a:gd name="T1" fmla="*/ 0 h 27"/>
                <a:gd name="T2" fmla="*/ 0 w 1"/>
                <a:gd name="T3" fmla="*/ 0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0"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4" name="Line 5636"/>
            <p:cNvSpPr>
              <a:spLocks noChangeShapeType="1"/>
            </p:cNvSpPr>
            <p:nvPr/>
          </p:nvSpPr>
          <p:spPr bwMode="auto">
            <a:xfrm>
              <a:off x="2341" y="1828"/>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5" name="Freeform 5637"/>
            <p:cNvSpPr>
              <a:spLocks/>
            </p:cNvSpPr>
            <p:nvPr/>
          </p:nvSpPr>
          <p:spPr bwMode="auto">
            <a:xfrm>
              <a:off x="2337" y="1828"/>
              <a:ext cx="26" cy="37"/>
            </a:xfrm>
            <a:custGeom>
              <a:avLst/>
              <a:gdLst>
                <a:gd name="T0" fmla="*/ 0 w 26"/>
                <a:gd name="T1" fmla="*/ 6 h 37"/>
                <a:gd name="T2" fmla="*/ 11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11" y="0"/>
                  </a:lnTo>
                  <a:lnTo>
                    <a:pt x="25"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6" name="Freeform 5638"/>
            <p:cNvSpPr>
              <a:spLocks/>
            </p:cNvSpPr>
            <p:nvPr/>
          </p:nvSpPr>
          <p:spPr bwMode="auto">
            <a:xfrm>
              <a:off x="2341" y="1828"/>
              <a:ext cx="25" cy="37"/>
            </a:xfrm>
            <a:custGeom>
              <a:avLst/>
              <a:gdLst>
                <a:gd name="T0" fmla="*/ 13 w 25"/>
                <a:gd name="T1" fmla="*/ 36 h 37"/>
                <a:gd name="T2" fmla="*/ 24 w 25"/>
                <a:gd name="T3" fmla="*/ 27 h 37"/>
                <a:gd name="T4" fmla="*/ 0 w 25"/>
                <a:gd name="T5" fmla="*/ 0 h 37"/>
                <a:gd name="T6" fmla="*/ 13 w 25"/>
                <a:gd name="T7" fmla="*/ 3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13" y="36"/>
                  </a:moveTo>
                  <a:lnTo>
                    <a:pt x="24" y="27"/>
                  </a:lnTo>
                  <a:lnTo>
                    <a:pt x="0" y="0"/>
                  </a:lnTo>
                  <a:lnTo>
                    <a:pt x="13"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7" name="Freeform 5639"/>
            <p:cNvSpPr>
              <a:spLocks/>
            </p:cNvSpPr>
            <p:nvPr/>
          </p:nvSpPr>
          <p:spPr bwMode="auto">
            <a:xfrm>
              <a:off x="2355" y="185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8" name="Line 5640"/>
            <p:cNvSpPr>
              <a:spLocks noChangeShapeType="1"/>
            </p:cNvSpPr>
            <p:nvPr/>
          </p:nvSpPr>
          <p:spPr bwMode="auto">
            <a:xfrm>
              <a:off x="2355" y="1856"/>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59" name="Freeform 5641"/>
            <p:cNvSpPr>
              <a:spLocks/>
            </p:cNvSpPr>
            <p:nvPr/>
          </p:nvSpPr>
          <p:spPr bwMode="auto">
            <a:xfrm>
              <a:off x="2347" y="1856"/>
              <a:ext cx="29" cy="37"/>
            </a:xfrm>
            <a:custGeom>
              <a:avLst/>
              <a:gdLst>
                <a:gd name="T0" fmla="*/ 0 w 29"/>
                <a:gd name="T1" fmla="*/ 8 h 37"/>
                <a:gd name="T2" fmla="*/ 28 w 29"/>
                <a:gd name="T3" fmla="*/ 0 h 37"/>
                <a:gd name="T4" fmla="*/ 28 w 29"/>
                <a:gd name="T5" fmla="*/ 36 h 37"/>
                <a:gd name="T6" fmla="*/ 0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8"/>
                  </a:moveTo>
                  <a:lnTo>
                    <a:pt x="28" y="0"/>
                  </a:lnTo>
                  <a:lnTo>
                    <a:pt x="28" y="36"/>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0" name="Freeform 5642"/>
            <p:cNvSpPr>
              <a:spLocks/>
            </p:cNvSpPr>
            <p:nvPr/>
          </p:nvSpPr>
          <p:spPr bwMode="auto">
            <a:xfrm>
              <a:off x="2355" y="1856"/>
              <a:ext cx="24" cy="37"/>
            </a:xfrm>
            <a:custGeom>
              <a:avLst/>
              <a:gdLst>
                <a:gd name="T0" fmla="*/ 0 w 24"/>
                <a:gd name="T1" fmla="*/ 36 h 37"/>
                <a:gd name="T2" fmla="*/ 23 w 24"/>
                <a:gd name="T3" fmla="*/ 29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29"/>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1" name="Freeform 5643"/>
            <p:cNvSpPr>
              <a:spLocks/>
            </p:cNvSpPr>
            <p:nvPr/>
          </p:nvSpPr>
          <p:spPr bwMode="auto">
            <a:xfrm>
              <a:off x="2367" y="188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2" name="Line 5644"/>
            <p:cNvSpPr>
              <a:spLocks noChangeShapeType="1"/>
            </p:cNvSpPr>
            <p:nvPr/>
          </p:nvSpPr>
          <p:spPr bwMode="auto">
            <a:xfrm>
              <a:off x="2367" y="1886"/>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3" name="Freeform 5645"/>
            <p:cNvSpPr>
              <a:spLocks/>
            </p:cNvSpPr>
            <p:nvPr/>
          </p:nvSpPr>
          <p:spPr bwMode="auto">
            <a:xfrm>
              <a:off x="2355" y="1886"/>
              <a:ext cx="24" cy="34"/>
            </a:xfrm>
            <a:custGeom>
              <a:avLst/>
              <a:gdLst>
                <a:gd name="T0" fmla="*/ 0 w 24"/>
                <a:gd name="T1" fmla="*/ 6 h 34"/>
                <a:gd name="T2" fmla="*/ 23 w 24"/>
                <a:gd name="T3" fmla="*/ 0 h 34"/>
                <a:gd name="T4" fmla="*/ 23 w 24"/>
                <a:gd name="T5" fmla="*/ 33 h 34"/>
                <a:gd name="T6" fmla="*/ 0 w 24"/>
                <a:gd name="T7" fmla="*/ 6 h 34"/>
                <a:gd name="T8" fmla="*/ 0 60000 65536"/>
                <a:gd name="T9" fmla="*/ 0 60000 65536"/>
                <a:gd name="T10" fmla="*/ 0 60000 65536"/>
                <a:gd name="T11" fmla="*/ 0 60000 65536"/>
                <a:gd name="T12" fmla="*/ 0 w 24"/>
                <a:gd name="T13" fmla="*/ 0 h 34"/>
                <a:gd name="T14" fmla="*/ 24 w 24"/>
                <a:gd name="T15" fmla="*/ 34 h 34"/>
              </a:gdLst>
              <a:ahLst/>
              <a:cxnLst>
                <a:cxn ang="T8">
                  <a:pos x="T0" y="T1"/>
                </a:cxn>
                <a:cxn ang="T9">
                  <a:pos x="T2" y="T3"/>
                </a:cxn>
                <a:cxn ang="T10">
                  <a:pos x="T4" y="T5"/>
                </a:cxn>
                <a:cxn ang="T11">
                  <a:pos x="T6" y="T7"/>
                </a:cxn>
              </a:cxnLst>
              <a:rect l="T12" t="T13" r="T14" b="T15"/>
              <a:pathLst>
                <a:path w="24" h="34">
                  <a:moveTo>
                    <a:pt x="0" y="6"/>
                  </a:moveTo>
                  <a:lnTo>
                    <a:pt x="23" y="0"/>
                  </a:lnTo>
                  <a:lnTo>
                    <a:pt x="23" y="33"/>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4" name="Freeform 5646"/>
            <p:cNvSpPr>
              <a:spLocks/>
            </p:cNvSpPr>
            <p:nvPr/>
          </p:nvSpPr>
          <p:spPr bwMode="auto">
            <a:xfrm>
              <a:off x="2367" y="1886"/>
              <a:ext cx="27" cy="34"/>
            </a:xfrm>
            <a:custGeom>
              <a:avLst/>
              <a:gdLst>
                <a:gd name="T0" fmla="*/ 0 w 27"/>
                <a:gd name="T1" fmla="*/ 33 h 34"/>
                <a:gd name="T2" fmla="*/ 26 w 27"/>
                <a:gd name="T3" fmla="*/ 26 h 34"/>
                <a:gd name="T4" fmla="*/ 0 w 27"/>
                <a:gd name="T5" fmla="*/ 0 h 34"/>
                <a:gd name="T6" fmla="*/ 0 w 27"/>
                <a:gd name="T7" fmla="*/ 33 h 34"/>
                <a:gd name="T8" fmla="*/ 0 60000 65536"/>
                <a:gd name="T9" fmla="*/ 0 60000 65536"/>
                <a:gd name="T10" fmla="*/ 0 60000 65536"/>
                <a:gd name="T11" fmla="*/ 0 60000 65536"/>
                <a:gd name="T12" fmla="*/ 0 w 27"/>
                <a:gd name="T13" fmla="*/ 0 h 34"/>
                <a:gd name="T14" fmla="*/ 27 w 27"/>
                <a:gd name="T15" fmla="*/ 34 h 34"/>
              </a:gdLst>
              <a:ahLst/>
              <a:cxnLst>
                <a:cxn ang="T8">
                  <a:pos x="T0" y="T1"/>
                </a:cxn>
                <a:cxn ang="T9">
                  <a:pos x="T2" y="T3"/>
                </a:cxn>
                <a:cxn ang="T10">
                  <a:pos x="T4" y="T5"/>
                </a:cxn>
                <a:cxn ang="T11">
                  <a:pos x="T6" y="T7"/>
                </a:cxn>
              </a:cxnLst>
              <a:rect l="T12" t="T13" r="T14" b="T15"/>
              <a:pathLst>
                <a:path w="27" h="34">
                  <a:moveTo>
                    <a:pt x="0" y="33"/>
                  </a:moveTo>
                  <a:lnTo>
                    <a:pt x="26" y="26"/>
                  </a:lnTo>
                  <a:lnTo>
                    <a:pt x="0" y="0"/>
                  </a:lnTo>
                  <a:lnTo>
                    <a:pt x="0" y="3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5" name="Freeform 5647"/>
            <p:cNvSpPr>
              <a:spLocks/>
            </p:cNvSpPr>
            <p:nvPr/>
          </p:nvSpPr>
          <p:spPr bwMode="auto">
            <a:xfrm>
              <a:off x="2378" y="1913"/>
              <a:ext cx="1" cy="28"/>
            </a:xfrm>
            <a:custGeom>
              <a:avLst/>
              <a:gdLst>
                <a:gd name="T0" fmla="*/ 0 w 1"/>
                <a:gd name="T1" fmla="*/ 0 h 28"/>
                <a:gd name="T2" fmla="*/ 0 w 1"/>
                <a:gd name="T3" fmla="*/ 0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6" name="Line 5648"/>
            <p:cNvSpPr>
              <a:spLocks noChangeShapeType="1"/>
            </p:cNvSpPr>
            <p:nvPr/>
          </p:nvSpPr>
          <p:spPr bwMode="auto">
            <a:xfrm>
              <a:off x="2378" y="191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7" name="Freeform 5649"/>
            <p:cNvSpPr>
              <a:spLocks/>
            </p:cNvSpPr>
            <p:nvPr/>
          </p:nvSpPr>
          <p:spPr bwMode="auto">
            <a:xfrm>
              <a:off x="2367" y="1913"/>
              <a:ext cx="27" cy="37"/>
            </a:xfrm>
            <a:custGeom>
              <a:avLst/>
              <a:gdLst>
                <a:gd name="T0" fmla="*/ 0 w 27"/>
                <a:gd name="T1" fmla="*/ 6 h 37"/>
                <a:gd name="T2" fmla="*/ 26 w 27"/>
                <a:gd name="T3" fmla="*/ 0 h 37"/>
                <a:gd name="T4" fmla="*/ 26 w 27"/>
                <a:gd name="T5" fmla="*/ 36 h 37"/>
                <a:gd name="T6" fmla="*/ 0 w 27"/>
                <a:gd name="T7" fmla="*/ 6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0" y="6"/>
                  </a:moveTo>
                  <a:lnTo>
                    <a:pt x="26" y="0"/>
                  </a:lnTo>
                  <a:lnTo>
                    <a:pt x="26"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8" name="Freeform 5650"/>
            <p:cNvSpPr>
              <a:spLocks/>
            </p:cNvSpPr>
            <p:nvPr/>
          </p:nvSpPr>
          <p:spPr bwMode="auto">
            <a:xfrm>
              <a:off x="2378" y="19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69" name="Freeform 5651"/>
            <p:cNvSpPr>
              <a:spLocks/>
            </p:cNvSpPr>
            <p:nvPr/>
          </p:nvSpPr>
          <p:spPr bwMode="auto">
            <a:xfrm>
              <a:off x="2385" y="1941"/>
              <a:ext cx="29" cy="27"/>
            </a:xfrm>
            <a:custGeom>
              <a:avLst/>
              <a:gdLst>
                <a:gd name="T0" fmla="*/ 28 w 29"/>
                <a:gd name="T1" fmla="*/ 0 h 27"/>
                <a:gd name="T2" fmla="*/ 28 w 29"/>
                <a:gd name="T3" fmla="*/ 0 h 27"/>
                <a:gd name="T4" fmla="*/ 0 w 29"/>
                <a:gd name="T5" fmla="*/ 26 h 27"/>
                <a:gd name="T6" fmla="*/ 28 w 29"/>
                <a:gd name="T7" fmla="*/ 0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28" y="0"/>
                  </a:moveTo>
                  <a:lnTo>
                    <a:pt x="28" y="0"/>
                  </a:lnTo>
                  <a:lnTo>
                    <a:pt x="0" y="26"/>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0" name="Line 5652"/>
            <p:cNvSpPr>
              <a:spLocks noChangeShapeType="1"/>
            </p:cNvSpPr>
            <p:nvPr/>
          </p:nvSpPr>
          <p:spPr bwMode="auto">
            <a:xfrm>
              <a:off x="2393" y="194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1" name="Freeform 5653"/>
            <p:cNvSpPr>
              <a:spLocks/>
            </p:cNvSpPr>
            <p:nvPr/>
          </p:nvSpPr>
          <p:spPr bwMode="auto">
            <a:xfrm>
              <a:off x="2378" y="1941"/>
              <a:ext cx="26" cy="37"/>
            </a:xfrm>
            <a:custGeom>
              <a:avLst/>
              <a:gdLst>
                <a:gd name="T0" fmla="*/ 0 w 26"/>
                <a:gd name="T1" fmla="*/ 8 h 37"/>
                <a:gd name="T2" fmla="*/ 25 w 26"/>
                <a:gd name="T3" fmla="*/ 0 h 37"/>
                <a:gd name="T4" fmla="*/ 25 w 26"/>
                <a:gd name="T5" fmla="*/ 36 h 37"/>
                <a:gd name="T6" fmla="*/ 0 w 26"/>
                <a:gd name="T7" fmla="*/ 8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8"/>
                  </a:moveTo>
                  <a:lnTo>
                    <a:pt x="25" y="0"/>
                  </a:lnTo>
                  <a:lnTo>
                    <a:pt x="25" y="36"/>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2" name="Freeform 5654"/>
            <p:cNvSpPr>
              <a:spLocks/>
            </p:cNvSpPr>
            <p:nvPr/>
          </p:nvSpPr>
          <p:spPr bwMode="auto">
            <a:xfrm>
              <a:off x="2393" y="1941"/>
              <a:ext cx="24" cy="37"/>
            </a:xfrm>
            <a:custGeom>
              <a:avLst/>
              <a:gdLst>
                <a:gd name="T0" fmla="*/ 0 w 24"/>
                <a:gd name="T1" fmla="*/ 36 h 37"/>
                <a:gd name="T2" fmla="*/ 23 w 24"/>
                <a:gd name="T3" fmla="*/ 36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36"/>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3" name="Freeform 5655"/>
            <p:cNvSpPr>
              <a:spLocks/>
            </p:cNvSpPr>
            <p:nvPr/>
          </p:nvSpPr>
          <p:spPr bwMode="auto">
            <a:xfrm>
              <a:off x="2398" y="1977"/>
              <a:ext cx="26" cy="28"/>
            </a:xfrm>
            <a:custGeom>
              <a:avLst/>
              <a:gdLst>
                <a:gd name="T0" fmla="*/ 25 w 26"/>
                <a:gd name="T1" fmla="*/ 0 h 28"/>
                <a:gd name="T2" fmla="*/ 25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25" y="0"/>
                  </a:lnTo>
                  <a:lnTo>
                    <a:pt x="0"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4" name="Line 5656"/>
            <p:cNvSpPr>
              <a:spLocks noChangeShapeType="1"/>
            </p:cNvSpPr>
            <p:nvPr/>
          </p:nvSpPr>
          <p:spPr bwMode="auto">
            <a:xfrm>
              <a:off x="2403" y="197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5" name="Freeform 5657"/>
            <p:cNvSpPr>
              <a:spLocks/>
            </p:cNvSpPr>
            <p:nvPr/>
          </p:nvSpPr>
          <p:spPr bwMode="auto">
            <a:xfrm>
              <a:off x="2393" y="1977"/>
              <a:ext cx="24" cy="36"/>
            </a:xfrm>
            <a:custGeom>
              <a:avLst/>
              <a:gdLst>
                <a:gd name="T0" fmla="*/ 0 w 24"/>
                <a:gd name="T1" fmla="*/ 0 h 36"/>
                <a:gd name="T2" fmla="*/ 23 w 24"/>
                <a:gd name="T3" fmla="*/ 0 h 36"/>
                <a:gd name="T4" fmla="*/ 23 w 24"/>
                <a:gd name="T5" fmla="*/ 35 h 36"/>
                <a:gd name="T6" fmla="*/ 0 w 24"/>
                <a:gd name="T7" fmla="*/ 0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0"/>
                  </a:moveTo>
                  <a:lnTo>
                    <a:pt x="23" y="0"/>
                  </a:lnTo>
                  <a:lnTo>
                    <a:pt x="23" y="3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6" name="Freeform 5658"/>
            <p:cNvSpPr>
              <a:spLocks/>
            </p:cNvSpPr>
            <p:nvPr/>
          </p:nvSpPr>
          <p:spPr bwMode="auto">
            <a:xfrm>
              <a:off x="2403" y="1977"/>
              <a:ext cx="29" cy="36"/>
            </a:xfrm>
            <a:custGeom>
              <a:avLst/>
              <a:gdLst>
                <a:gd name="T0" fmla="*/ 0 w 29"/>
                <a:gd name="T1" fmla="*/ 35 h 36"/>
                <a:gd name="T2" fmla="*/ 28 w 29"/>
                <a:gd name="T3" fmla="*/ 28 h 36"/>
                <a:gd name="T4" fmla="*/ 0 w 29"/>
                <a:gd name="T5" fmla="*/ 0 h 36"/>
                <a:gd name="T6" fmla="*/ 0 w 29"/>
                <a:gd name="T7" fmla="*/ 35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0" y="35"/>
                  </a:moveTo>
                  <a:lnTo>
                    <a:pt x="28"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7" name="Freeform 5659"/>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8" name="Freeform 5660"/>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79" name="Freeform 5661"/>
            <p:cNvSpPr>
              <a:spLocks/>
            </p:cNvSpPr>
            <p:nvPr/>
          </p:nvSpPr>
          <p:spPr bwMode="auto">
            <a:xfrm>
              <a:off x="2403" y="2007"/>
              <a:ext cx="29" cy="43"/>
            </a:xfrm>
            <a:custGeom>
              <a:avLst/>
              <a:gdLst>
                <a:gd name="T0" fmla="*/ 0 w 29"/>
                <a:gd name="T1" fmla="*/ 6 h 43"/>
                <a:gd name="T2" fmla="*/ 28 w 29"/>
                <a:gd name="T3" fmla="*/ 0 h 43"/>
                <a:gd name="T4" fmla="*/ 28 w 29"/>
                <a:gd name="T5" fmla="*/ 42 h 43"/>
                <a:gd name="T6" fmla="*/ 0 w 29"/>
                <a:gd name="T7" fmla="*/ 6 h 43"/>
                <a:gd name="T8" fmla="*/ 0 60000 65536"/>
                <a:gd name="T9" fmla="*/ 0 60000 65536"/>
                <a:gd name="T10" fmla="*/ 0 60000 65536"/>
                <a:gd name="T11" fmla="*/ 0 60000 65536"/>
                <a:gd name="T12" fmla="*/ 0 w 29"/>
                <a:gd name="T13" fmla="*/ 0 h 43"/>
                <a:gd name="T14" fmla="*/ 29 w 29"/>
                <a:gd name="T15" fmla="*/ 43 h 43"/>
              </a:gdLst>
              <a:ahLst/>
              <a:cxnLst>
                <a:cxn ang="T8">
                  <a:pos x="T0" y="T1"/>
                </a:cxn>
                <a:cxn ang="T9">
                  <a:pos x="T2" y="T3"/>
                </a:cxn>
                <a:cxn ang="T10">
                  <a:pos x="T4" y="T5"/>
                </a:cxn>
                <a:cxn ang="T11">
                  <a:pos x="T6" y="T7"/>
                </a:cxn>
              </a:cxnLst>
              <a:rect l="T12" t="T13" r="T14" b="T15"/>
              <a:pathLst>
                <a:path w="29" h="43">
                  <a:moveTo>
                    <a:pt x="0" y="6"/>
                  </a:moveTo>
                  <a:lnTo>
                    <a:pt x="28" y="0"/>
                  </a:lnTo>
                  <a:lnTo>
                    <a:pt x="28" y="42"/>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0" name="Freeform 5662"/>
            <p:cNvSpPr>
              <a:spLocks/>
            </p:cNvSpPr>
            <p:nvPr/>
          </p:nvSpPr>
          <p:spPr bwMode="auto">
            <a:xfrm>
              <a:off x="2416" y="2007"/>
              <a:ext cx="26" cy="43"/>
            </a:xfrm>
            <a:custGeom>
              <a:avLst/>
              <a:gdLst>
                <a:gd name="T0" fmla="*/ 0 w 26"/>
                <a:gd name="T1" fmla="*/ 42 h 43"/>
                <a:gd name="T2" fmla="*/ 25 w 26"/>
                <a:gd name="T3" fmla="*/ 33 h 43"/>
                <a:gd name="T4" fmla="*/ 0 w 26"/>
                <a:gd name="T5" fmla="*/ 0 h 43"/>
                <a:gd name="T6" fmla="*/ 0 w 26"/>
                <a:gd name="T7" fmla="*/ 42 h 43"/>
                <a:gd name="T8" fmla="*/ 0 60000 65536"/>
                <a:gd name="T9" fmla="*/ 0 60000 65536"/>
                <a:gd name="T10" fmla="*/ 0 60000 65536"/>
                <a:gd name="T11" fmla="*/ 0 60000 65536"/>
                <a:gd name="T12" fmla="*/ 0 w 26"/>
                <a:gd name="T13" fmla="*/ 0 h 43"/>
                <a:gd name="T14" fmla="*/ 26 w 26"/>
                <a:gd name="T15" fmla="*/ 43 h 43"/>
              </a:gdLst>
              <a:ahLst/>
              <a:cxnLst>
                <a:cxn ang="T8">
                  <a:pos x="T0" y="T1"/>
                </a:cxn>
                <a:cxn ang="T9">
                  <a:pos x="T2" y="T3"/>
                </a:cxn>
                <a:cxn ang="T10">
                  <a:pos x="T4" y="T5"/>
                </a:cxn>
                <a:cxn ang="T11">
                  <a:pos x="T6" y="T7"/>
                </a:cxn>
              </a:cxnLst>
              <a:rect l="T12" t="T13" r="T14" b="T15"/>
              <a:pathLst>
                <a:path w="26" h="43">
                  <a:moveTo>
                    <a:pt x="0" y="42"/>
                  </a:moveTo>
                  <a:lnTo>
                    <a:pt x="25" y="33"/>
                  </a:lnTo>
                  <a:lnTo>
                    <a:pt x="0" y="0"/>
                  </a:lnTo>
                  <a:lnTo>
                    <a:pt x="0" y="4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1" name="Freeform 5663"/>
            <p:cNvSpPr>
              <a:spLocks/>
            </p:cNvSpPr>
            <p:nvPr/>
          </p:nvSpPr>
          <p:spPr bwMode="auto">
            <a:xfrm>
              <a:off x="2423" y="2041"/>
              <a:ext cx="27" cy="27"/>
            </a:xfrm>
            <a:custGeom>
              <a:avLst/>
              <a:gdLst>
                <a:gd name="T0" fmla="*/ 26 w 27"/>
                <a:gd name="T1" fmla="*/ 0 h 27"/>
                <a:gd name="T2" fmla="*/ 26 w 27"/>
                <a:gd name="T3" fmla="*/ 0 h 27"/>
                <a:gd name="T4" fmla="*/ 0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26" y="0"/>
                  </a:lnTo>
                  <a:lnTo>
                    <a:pt x="0" y="26"/>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2" name="Line 5664"/>
            <p:cNvSpPr>
              <a:spLocks noChangeShapeType="1"/>
            </p:cNvSpPr>
            <p:nvPr/>
          </p:nvSpPr>
          <p:spPr bwMode="auto">
            <a:xfrm>
              <a:off x="2428" y="2041"/>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3" name="Freeform 5665"/>
            <p:cNvSpPr>
              <a:spLocks/>
            </p:cNvSpPr>
            <p:nvPr/>
          </p:nvSpPr>
          <p:spPr bwMode="auto">
            <a:xfrm>
              <a:off x="2416" y="20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4" name="Freeform 5666"/>
            <p:cNvSpPr>
              <a:spLocks/>
            </p:cNvSpPr>
            <p:nvPr/>
          </p:nvSpPr>
          <p:spPr bwMode="auto">
            <a:xfrm>
              <a:off x="2428" y="2041"/>
              <a:ext cx="26" cy="44"/>
            </a:xfrm>
            <a:custGeom>
              <a:avLst/>
              <a:gdLst>
                <a:gd name="T0" fmla="*/ 0 w 26"/>
                <a:gd name="T1" fmla="*/ 43 h 44"/>
                <a:gd name="T2" fmla="*/ 25 w 26"/>
                <a:gd name="T3" fmla="*/ 36 h 44"/>
                <a:gd name="T4" fmla="*/ 0 w 26"/>
                <a:gd name="T5" fmla="*/ 0 h 44"/>
                <a:gd name="T6" fmla="*/ 0 w 26"/>
                <a:gd name="T7" fmla="*/ 43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43"/>
                  </a:moveTo>
                  <a:lnTo>
                    <a:pt x="25" y="36"/>
                  </a:lnTo>
                  <a:lnTo>
                    <a:pt x="0" y="0"/>
                  </a:lnTo>
                  <a:lnTo>
                    <a:pt x="0" y="4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5" name="Freeform 5667"/>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6" name="Freeform 5668"/>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7" name="Freeform 5669"/>
            <p:cNvSpPr>
              <a:spLocks/>
            </p:cNvSpPr>
            <p:nvPr/>
          </p:nvSpPr>
          <p:spPr bwMode="auto">
            <a:xfrm>
              <a:off x="2428" y="2077"/>
              <a:ext cx="26" cy="37"/>
            </a:xfrm>
            <a:custGeom>
              <a:avLst/>
              <a:gdLst>
                <a:gd name="T0" fmla="*/ 0 w 26"/>
                <a:gd name="T1" fmla="*/ 6 h 37"/>
                <a:gd name="T2" fmla="*/ 25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25" y="0"/>
                  </a:lnTo>
                  <a:lnTo>
                    <a:pt x="25"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8" name="Freeform 5670"/>
            <p:cNvSpPr>
              <a:spLocks/>
            </p:cNvSpPr>
            <p:nvPr/>
          </p:nvSpPr>
          <p:spPr bwMode="auto">
            <a:xfrm>
              <a:off x="2441" y="2077"/>
              <a:ext cx="29" cy="37"/>
            </a:xfrm>
            <a:custGeom>
              <a:avLst/>
              <a:gdLst>
                <a:gd name="T0" fmla="*/ 0 w 29"/>
                <a:gd name="T1" fmla="*/ 36 h 37"/>
                <a:gd name="T2" fmla="*/ 28 w 29"/>
                <a:gd name="T3" fmla="*/ 36 h 37"/>
                <a:gd name="T4" fmla="*/ 0 w 29"/>
                <a:gd name="T5" fmla="*/ 0 h 37"/>
                <a:gd name="T6" fmla="*/ 0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36"/>
                  </a:moveTo>
                  <a:lnTo>
                    <a:pt x="28" y="36"/>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89" name="Freeform 5671"/>
            <p:cNvSpPr>
              <a:spLocks/>
            </p:cNvSpPr>
            <p:nvPr/>
          </p:nvSpPr>
          <p:spPr bwMode="auto">
            <a:xfrm>
              <a:off x="2441" y="2113"/>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0" name="Line 5672"/>
            <p:cNvSpPr>
              <a:spLocks noChangeShapeType="1"/>
            </p:cNvSpPr>
            <p:nvPr/>
          </p:nvSpPr>
          <p:spPr bwMode="auto">
            <a:xfrm>
              <a:off x="2441" y="211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1" name="Freeform 5673"/>
            <p:cNvSpPr>
              <a:spLocks/>
            </p:cNvSpPr>
            <p:nvPr/>
          </p:nvSpPr>
          <p:spPr bwMode="auto">
            <a:xfrm>
              <a:off x="2441" y="2113"/>
              <a:ext cx="29" cy="37"/>
            </a:xfrm>
            <a:custGeom>
              <a:avLst/>
              <a:gdLst>
                <a:gd name="T0" fmla="*/ 0 w 29"/>
                <a:gd name="T1" fmla="*/ 0 h 37"/>
                <a:gd name="T2" fmla="*/ 28 w 29"/>
                <a:gd name="T3" fmla="*/ 0 h 37"/>
                <a:gd name="T4" fmla="*/ 28 w 29"/>
                <a:gd name="T5" fmla="*/ 36 h 37"/>
                <a:gd name="T6" fmla="*/ 0 w 29"/>
                <a:gd name="T7" fmla="*/ 0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8" y="0"/>
                  </a:lnTo>
                  <a:lnTo>
                    <a:pt x="28" y="3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2" name="Freeform 5674"/>
            <p:cNvSpPr>
              <a:spLocks/>
            </p:cNvSpPr>
            <p:nvPr/>
          </p:nvSpPr>
          <p:spPr bwMode="auto">
            <a:xfrm>
              <a:off x="2454" y="21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3" name="Freeform 5675"/>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4" name="Freeform 5676"/>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5" name="Freeform 5677"/>
            <p:cNvSpPr>
              <a:spLocks/>
            </p:cNvSpPr>
            <p:nvPr/>
          </p:nvSpPr>
          <p:spPr bwMode="auto">
            <a:xfrm>
              <a:off x="2454" y="21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6" name="Freeform 5678"/>
            <p:cNvSpPr>
              <a:spLocks/>
            </p:cNvSpPr>
            <p:nvPr/>
          </p:nvSpPr>
          <p:spPr bwMode="auto">
            <a:xfrm>
              <a:off x="2469" y="2141"/>
              <a:ext cx="24" cy="44"/>
            </a:xfrm>
            <a:custGeom>
              <a:avLst/>
              <a:gdLst>
                <a:gd name="T0" fmla="*/ 0 w 24"/>
                <a:gd name="T1" fmla="*/ 43 h 44"/>
                <a:gd name="T2" fmla="*/ 23 w 24"/>
                <a:gd name="T3" fmla="*/ 36 h 44"/>
                <a:gd name="T4" fmla="*/ 0 w 24"/>
                <a:gd name="T5" fmla="*/ 0 h 44"/>
                <a:gd name="T6" fmla="*/ 0 w 24"/>
                <a:gd name="T7" fmla="*/ 43 h 44"/>
                <a:gd name="T8" fmla="*/ 0 60000 65536"/>
                <a:gd name="T9" fmla="*/ 0 60000 65536"/>
                <a:gd name="T10" fmla="*/ 0 60000 65536"/>
                <a:gd name="T11" fmla="*/ 0 60000 65536"/>
                <a:gd name="T12" fmla="*/ 0 w 24"/>
                <a:gd name="T13" fmla="*/ 0 h 44"/>
                <a:gd name="T14" fmla="*/ 24 w 24"/>
                <a:gd name="T15" fmla="*/ 44 h 44"/>
              </a:gdLst>
              <a:ahLst/>
              <a:cxnLst>
                <a:cxn ang="T8">
                  <a:pos x="T0" y="T1"/>
                </a:cxn>
                <a:cxn ang="T9">
                  <a:pos x="T2" y="T3"/>
                </a:cxn>
                <a:cxn ang="T10">
                  <a:pos x="T4" y="T5"/>
                </a:cxn>
                <a:cxn ang="T11">
                  <a:pos x="T6" y="T7"/>
                </a:cxn>
              </a:cxnLst>
              <a:rect l="T12" t="T13" r="T14" b="T15"/>
              <a:pathLst>
                <a:path w="24" h="44">
                  <a:moveTo>
                    <a:pt x="0" y="43"/>
                  </a:moveTo>
                  <a:lnTo>
                    <a:pt x="23" y="36"/>
                  </a:lnTo>
                  <a:lnTo>
                    <a:pt x="0" y="0"/>
                  </a:lnTo>
                  <a:lnTo>
                    <a:pt x="0" y="4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7" name="Freeform 5679"/>
            <p:cNvSpPr>
              <a:spLocks/>
            </p:cNvSpPr>
            <p:nvPr/>
          </p:nvSpPr>
          <p:spPr bwMode="auto">
            <a:xfrm>
              <a:off x="2469" y="218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8" name="Line 5680"/>
            <p:cNvSpPr>
              <a:spLocks noChangeShapeType="1"/>
            </p:cNvSpPr>
            <p:nvPr/>
          </p:nvSpPr>
          <p:spPr bwMode="auto">
            <a:xfrm>
              <a:off x="2469" y="2184"/>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99" name="Freeform 5681"/>
            <p:cNvSpPr>
              <a:spLocks/>
            </p:cNvSpPr>
            <p:nvPr/>
          </p:nvSpPr>
          <p:spPr bwMode="auto">
            <a:xfrm>
              <a:off x="2469" y="2176"/>
              <a:ext cx="24" cy="38"/>
            </a:xfrm>
            <a:custGeom>
              <a:avLst/>
              <a:gdLst>
                <a:gd name="T0" fmla="*/ 0 w 24"/>
                <a:gd name="T1" fmla="*/ 6 h 38"/>
                <a:gd name="T2" fmla="*/ 23 w 24"/>
                <a:gd name="T3" fmla="*/ 0 h 38"/>
                <a:gd name="T4" fmla="*/ 23 w 24"/>
                <a:gd name="T5" fmla="*/ 37 h 38"/>
                <a:gd name="T6" fmla="*/ 0 w 24"/>
                <a:gd name="T7" fmla="*/ 6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0" y="6"/>
                  </a:moveTo>
                  <a:lnTo>
                    <a:pt x="23" y="0"/>
                  </a:lnTo>
                  <a:lnTo>
                    <a:pt x="23" y="37"/>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0" name="Freeform 5682"/>
            <p:cNvSpPr>
              <a:spLocks/>
            </p:cNvSpPr>
            <p:nvPr/>
          </p:nvSpPr>
          <p:spPr bwMode="auto">
            <a:xfrm>
              <a:off x="2478" y="2176"/>
              <a:ext cx="26" cy="38"/>
            </a:xfrm>
            <a:custGeom>
              <a:avLst/>
              <a:gdLst>
                <a:gd name="T0" fmla="*/ 0 w 26"/>
                <a:gd name="T1" fmla="*/ 37 h 38"/>
                <a:gd name="T2" fmla="*/ 25 w 26"/>
                <a:gd name="T3" fmla="*/ 37 h 38"/>
                <a:gd name="T4" fmla="*/ 0 w 26"/>
                <a:gd name="T5" fmla="*/ 0 h 38"/>
                <a:gd name="T6" fmla="*/ 0 w 26"/>
                <a:gd name="T7" fmla="*/ 37 h 38"/>
                <a:gd name="T8" fmla="*/ 0 60000 65536"/>
                <a:gd name="T9" fmla="*/ 0 60000 65536"/>
                <a:gd name="T10" fmla="*/ 0 60000 65536"/>
                <a:gd name="T11" fmla="*/ 0 60000 65536"/>
                <a:gd name="T12" fmla="*/ 0 w 26"/>
                <a:gd name="T13" fmla="*/ 0 h 38"/>
                <a:gd name="T14" fmla="*/ 26 w 26"/>
                <a:gd name="T15" fmla="*/ 38 h 38"/>
              </a:gdLst>
              <a:ahLst/>
              <a:cxnLst>
                <a:cxn ang="T8">
                  <a:pos x="T0" y="T1"/>
                </a:cxn>
                <a:cxn ang="T9">
                  <a:pos x="T2" y="T3"/>
                </a:cxn>
                <a:cxn ang="T10">
                  <a:pos x="T4" y="T5"/>
                </a:cxn>
                <a:cxn ang="T11">
                  <a:pos x="T6" y="T7"/>
                </a:cxn>
              </a:cxnLst>
              <a:rect l="T12" t="T13" r="T14" b="T15"/>
              <a:pathLst>
                <a:path w="26" h="38">
                  <a:moveTo>
                    <a:pt x="0" y="37"/>
                  </a:moveTo>
                  <a:lnTo>
                    <a:pt x="25" y="37"/>
                  </a:lnTo>
                  <a:lnTo>
                    <a:pt x="0" y="0"/>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1" name="Freeform 5683"/>
            <p:cNvSpPr>
              <a:spLocks/>
            </p:cNvSpPr>
            <p:nvPr/>
          </p:nvSpPr>
          <p:spPr bwMode="auto">
            <a:xfrm>
              <a:off x="2478" y="2213"/>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2" name="Line 5684"/>
            <p:cNvSpPr>
              <a:spLocks noChangeShapeType="1"/>
            </p:cNvSpPr>
            <p:nvPr/>
          </p:nvSpPr>
          <p:spPr bwMode="auto">
            <a:xfrm>
              <a:off x="2478" y="221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3" name="Freeform 5685"/>
            <p:cNvSpPr>
              <a:spLocks/>
            </p:cNvSpPr>
            <p:nvPr/>
          </p:nvSpPr>
          <p:spPr bwMode="auto">
            <a:xfrm>
              <a:off x="2478" y="2213"/>
              <a:ext cx="26" cy="36"/>
            </a:xfrm>
            <a:custGeom>
              <a:avLst/>
              <a:gdLst>
                <a:gd name="T0" fmla="*/ 0 w 26"/>
                <a:gd name="T1" fmla="*/ 0 h 36"/>
                <a:gd name="T2" fmla="*/ 25 w 26"/>
                <a:gd name="T3" fmla="*/ 0 h 36"/>
                <a:gd name="T4" fmla="*/ 25 w 26"/>
                <a:gd name="T5" fmla="*/ 35 h 36"/>
                <a:gd name="T6" fmla="*/ 0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0"/>
                  </a:moveTo>
                  <a:lnTo>
                    <a:pt x="25" y="0"/>
                  </a:lnTo>
                  <a:lnTo>
                    <a:pt x="25" y="3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4" name="Freeform 5686"/>
            <p:cNvSpPr>
              <a:spLocks/>
            </p:cNvSpPr>
            <p:nvPr/>
          </p:nvSpPr>
          <p:spPr bwMode="auto">
            <a:xfrm>
              <a:off x="2491" y="2213"/>
              <a:ext cx="26" cy="36"/>
            </a:xfrm>
            <a:custGeom>
              <a:avLst/>
              <a:gdLst>
                <a:gd name="T0" fmla="*/ 0 w 26"/>
                <a:gd name="T1" fmla="*/ 35 h 36"/>
                <a:gd name="T2" fmla="*/ 25 w 26"/>
                <a:gd name="T3" fmla="*/ 28 h 36"/>
                <a:gd name="T4" fmla="*/ 0 w 26"/>
                <a:gd name="T5" fmla="*/ 0 h 36"/>
                <a:gd name="T6" fmla="*/ 0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35"/>
                  </a:moveTo>
                  <a:lnTo>
                    <a:pt x="25"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5" name="Freeform 5687"/>
            <p:cNvSpPr>
              <a:spLocks/>
            </p:cNvSpPr>
            <p:nvPr/>
          </p:nvSpPr>
          <p:spPr bwMode="auto">
            <a:xfrm>
              <a:off x="2491" y="2248"/>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6" name="Line 5688"/>
            <p:cNvSpPr>
              <a:spLocks noChangeShapeType="1"/>
            </p:cNvSpPr>
            <p:nvPr/>
          </p:nvSpPr>
          <p:spPr bwMode="auto">
            <a:xfrm>
              <a:off x="2491" y="224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7" name="Freeform 5689"/>
            <p:cNvSpPr>
              <a:spLocks/>
            </p:cNvSpPr>
            <p:nvPr/>
          </p:nvSpPr>
          <p:spPr bwMode="auto">
            <a:xfrm>
              <a:off x="2491" y="2241"/>
              <a:ext cx="26" cy="37"/>
            </a:xfrm>
            <a:custGeom>
              <a:avLst/>
              <a:gdLst>
                <a:gd name="T0" fmla="*/ 25 w 26"/>
                <a:gd name="T1" fmla="*/ 36 h 37"/>
                <a:gd name="T2" fmla="*/ 11 w 26"/>
                <a:gd name="T3" fmla="*/ 0 h 37"/>
                <a:gd name="T4" fmla="*/ 0 w 26"/>
                <a:gd name="T5" fmla="*/ 6 h 37"/>
                <a:gd name="T6" fmla="*/ 25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36"/>
                  </a:moveTo>
                  <a:lnTo>
                    <a:pt x="11" y="0"/>
                  </a:lnTo>
                  <a:lnTo>
                    <a:pt x="0" y="6"/>
                  </a:lnTo>
                  <a:lnTo>
                    <a:pt x="25"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8" name="Freeform 5690"/>
            <p:cNvSpPr>
              <a:spLocks/>
            </p:cNvSpPr>
            <p:nvPr/>
          </p:nvSpPr>
          <p:spPr bwMode="auto">
            <a:xfrm>
              <a:off x="2496" y="2241"/>
              <a:ext cx="29" cy="37"/>
            </a:xfrm>
            <a:custGeom>
              <a:avLst/>
              <a:gdLst>
                <a:gd name="T0" fmla="*/ 15 w 29"/>
                <a:gd name="T1" fmla="*/ 36 h 37"/>
                <a:gd name="T2" fmla="*/ 28 w 29"/>
                <a:gd name="T3" fmla="*/ 36 h 37"/>
                <a:gd name="T4" fmla="*/ 0 w 29"/>
                <a:gd name="T5" fmla="*/ 0 h 37"/>
                <a:gd name="T6" fmla="*/ 15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15" y="36"/>
                  </a:moveTo>
                  <a:lnTo>
                    <a:pt x="28" y="36"/>
                  </a:lnTo>
                  <a:lnTo>
                    <a:pt x="0" y="0"/>
                  </a:lnTo>
                  <a:lnTo>
                    <a:pt x="15"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09" name="Freeform 5691"/>
            <p:cNvSpPr>
              <a:spLocks/>
            </p:cNvSpPr>
            <p:nvPr/>
          </p:nvSpPr>
          <p:spPr bwMode="auto">
            <a:xfrm>
              <a:off x="2503" y="2277"/>
              <a:ext cx="26" cy="27"/>
            </a:xfrm>
            <a:custGeom>
              <a:avLst/>
              <a:gdLst>
                <a:gd name="T0" fmla="*/ 0 w 26"/>
                <a:gd name="T1" fmla="*/ 0 h 27"/>
                <a:gd name="T2" fmla="*/ 0 w 26"/>
                <a:gd name="T3" fmla="*/ 0 h 27"/>
                <a:gd name="T4" fmla="*/ 25 w 26"/>
                <a:gd name="T5" fmla="*/ 26 h 27"/>
                <a:gd name="T6" fmla="*/ 0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0"/>
                  </a:moveTo>
                  <a:lnTo>
                    <a:pt x="0" y="0"/>
                  </a:lnTo>
                  <a:lnTo>
                    <a:pt x="25"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0" name="Line 5692"/>
            <p:cNvSpPr>
              <a:spLocks noChangeShapeType="1"/>
            </p:cNvSpPr>
            <p:nvPr/>
          </p:nvSpPr>
          <p:spPr bwMode="auto">
            <a:xfrm>
              <a:off x="2503" y="2277"/>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1" name="Freeform 5693"/>
            <p:cNvSpPr>
              <a:spLocks/>
            </p:cNvSpPr>
            <p:nvPr/>
          </p:nvSpPr>
          <p:spPr bwMode="auto">
            <a:xfrm>
              <a:off x="2503" y="2277"/>
              <a:ext cx="26" cy="36"/>
            </a:xfrm>
            <a:custGeom>
              <a:avLst/>
              <a:gdLst>
                <a:gd name="T0" fmla="*/ 25 w 26"/>
                <a:gd name="T1" fmla="*/ 35 h 36"/>
                <a:gd name="T2" fmla="*/ 25 w 26"/>
                <a:gd name="T3" fmla="*/ 0 h 36"/>
                <a:gd name="T4" fmla="*/ 0 w 26"/>
                <a:gd name="T5" fmla="*/ 0 h 36"/>
                <a:gd name="T6" fmla="*/ 25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35"/>
                  </a:moveTo>
                  <a:lnTo>
                    <a:pt x="25" y="0"/>
                  </a:lnTo>
                  <a:lnTo>
                    <a:pt x="0" y="0"/>
                  </a:lnTo>
                  <a:lnTo>
                    <a:pt x="25"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2" name="Freeform 5694"/>
            <p:cNvSpPr>
              <a:spLocks/>
            </p:cNvSpPr>
            <p:nvPr/>
          </p:nvSpPr>
          <p:spPr bwMode="auto">
            <a:xfrm>
              <a:off x="2507" y="2277"/>
              <a:ext cx="28" cy="36"/>
            </a:xfrm>
            <a:custGeom>
              <a:avLst/>
              <a:gdLst>
                <a:gd name="T0" fmla="*/ 0 w 28"/>
                <a:gd name="T1" fmla="*/ 35 h 36"/>
                <a:gd name="T2" fmla="*/ 27 w 28"/>
                <a:gd name="T3" fmla="*/ 27 h 36"/>
                <a:gd name="T4" fmla="*/ 0 w 28"/>
                <a:gd name="T5" fmla="*/ 0 h 36"/>
                <a:gd name="T6" fmla="*/ 0 w 28"/>
                <a:gd name="T7" fmla="*/ 35 h 36"/>
                <a:gd name="T8" fmla="*/ 0 60000 65536"/>
                <a:gd name="T9" fmla="*/ 0 60000 65536"/>
                <a:gd name="T10" fmla="*/ 0 60000 65536"/>
                <a:gd name="T11" fmla="*/ 0 60000 65536"/>
                <a:gd name="T12" fmla="*/ 0 w 28"/>
                <a:gd name="T13" fmla="*/ 0 h 36"/>
                <a:gd name="T14" fmla="*/ 28 w 28"/>
                <a:gd name="T15" fmla="*/ 36 h 36"/>
              </a:gdLst>
              <a:ahLst/>
              <a:cxnLst>
                <a:cxn ang="T8">
                  <a:pos x="T0" y="T1"/>
                </a:cxn>
                <a:cxn ang="T9">
                  <a:pos x="T2" y="T3"/>
                </a:cxn>
                <a:cxn ang="T10">
                  <a:pos x="T4" y="T5"/>
                </a:cxn>
                <a:cxn ang="T11">
                  <a:pos x="T6" y="T7"/>
                </a:cxn>
              </a:cxnLst>
              <a:rect l="T12" t="T13" r="T14" b="T15"/>
              <a:pathLst>
                <a:path w="28" h="36">
                  <a:moveTo>
                    <a:pt x="0" y="35"/>
                  </a:moveTo>
                  <a:lnTo>
                    <a:pt x="27" y="27"/>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3" name="Freeform 5695"/>
            <p:cNvSpPr>
              <a:spLocks/>
            </p:cNvSpPr>
            <p:nvPr/>
          </p:nvSpPr>
          <p:spPr bwMode="auto">
            <a:xfrm>
              <a:off x="2507" y="2312"/>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4" name="Line 5696"/>
            <p:cNvSpPr>
              <a:spLocks noChangeShapeType="1"/>
            </p:cNvSpPr>
            <p:nvPr/>
          </p:nvSpPr>
          <p:spPr bwMode="auto">
            <a:xfrm>
              <a:off x="2507" y="2312"/>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5" name="Freeform 5697"/>
            <p:cNvSpPr>
              <a:spLocks/>
            </p:cNvSpPr>
            <p:nvPr/>
          </p:nvSpPr>
          <p:spPr bwMode="auto">
            <a:xfrm>
              <a:off x="2507" y="2304"/>
              <a:ext cx="28" cy="37"/>
            </a:xfrm>
            <a:custGeom>
              <a:avLst/>
              <a:gdLst>
                <a:gd name="T0" fmla="*/ 27 w 28"/>
                <a:gd name="T1" fmla="*/ 36 h 37"/>
                <a:gd name="T2" fmla="*/ 27 w 28"/>
                <a:gd name="T3" fmla="*/ 0 h 37"/>
                <a:gd name="T4" fmla="*/ 0 w 28"/>
                <a:gd name="T5" fmla="*/ 8 h 37"/>
                <a:gd name="T6" fmla="*/ 27 w 28"/>
                <a:gd name="T7" fmla="*/ 36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27" y="36"/>
                  </a:moveTo>
                  <a:lnTo>
                    <a:pt x="27" y="0"/>
                  </a:lnTo>
                  <a:lnTo>
                    <a:pt x="0" y="8"/>
                  </a:lnTo>
                  <a:lnTo>
                    <a:pt x="27"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6" name="Freeform 5698"/>
            <p:cNvSpPr>
              <a:spLocks/>
            </p:cNvSpPr>
            <p:nvPr/>
          </p:nvSpPr>
          <p:spPr bwMode="auto">
            <a:xfrm>
              <a:off x="2524" y="2304"/>
              <a:ext cx="22" cy="37"/>
            </a:xfrm>
            <a:custGeom>
              <a:avLst/>
              <a:gdLst>
                <a:gd name="T0" fmla="*/ 0 w 22"/>
                <a:gd name="T1" fmla="*/ 36 h 37"/>
                <a:gd name="T2" fmla="*/ 21 w 22"/>
                <a:gd name="T3" fmla="*/ 29 h 37"/>
                <a:gd name="T4" fmla="*/ 0 w 22"/>
                <a:gd name="T5" fmla="*/ 0 h 37"/>
                <a:gd name="T6" fmla="*/ 0 w 22"/>
                <a:gd name="T7" fmla="*/ 36 h 37"/>
                <a:gd name="T8" fmla="*/ 0 60000 65536"/>
                <a:gd name="T9" fmla="*/ 0 60000 65536"/>
                <a:gd name="T10" fmla="*/ 0 60000 65536"/>
                <a:gd name="T11" fmla="*/ 0 60000 65536"/>
                <a:gd name="T12" fmla="*/ 0 w 22"/>
                <a:gd name="T13" fmla="*/ 0 h 37"/>
                <a:gd name="T14" fmla="*/ 22 w 22"/>
                <a:gd name="T15" fmla="*/ 37 h 37"/>
              </a:gdLst>
              <a:ahLst/>
              <a:cxnLst>
                <a:cxn ang="T8">
                  <a:pos x="T0" y="T1"/>
                </a:cxn>
                <a:cxn ang="T9">
                  <a:pos x="T2" y="T3"/>
                </a:cxn>
                <a:cxn ang="T10">
                  <a:pos x="T4" y="T5"/>
                </a:cxn>
                <a:cxn ang="T11">
                  <a:pos x="T6" y="T7"/>
                </a:cxn>
              </a:cxnLst>
              <a:rect l="T12" t="T13" r="T14" b="T15"/>
              <a:pathLst>
                <a:path w="22" h="37">
                  <a:moveTo>
                    <a:pt x="0" y="36"/>
                  </a:moveTo>
                  <a:lnTo>
                    <a:pt x="21" y="29"/>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7" name="Freeform 5699"/>
            <p:cNvSpPr>
              <a:spLocks/>
            </p:cNvSpPr>
            <p:nvPr/>
          </p:nvSpPr>
          <p:spPr bwMode="auto">
            <a:xfrm>
              <a:off x="2524" y="2340"/>
              <a:ext cx="22" cy="1"/>
            </a:xfrm>
            <a:custGeom>
              <a:avLst/>
              <a:gdLst>
                <a:gd name="T0" fmla="*/ 0 w 22"/>
                <a:gd name="T1" fmla="*/ 0 h 1"/>
                <a:gd name="T2" fmla="*/ 0 w 22"/>
                <a:gd name="T3" fmla="*/ 0 h 1"/>
                <a:gd name="T4" fmla="*/ 21 w 22"/>
                <a:gd name="T5" fmla="*/ 0 h 1"/>
                <a:gd name="T6" fmla="*/ 0 w 22"/>
                <a:gd name="T7" fmla="*/ 0 h 1"/>
                <a:gd name="T8" fmla="*/ 0 60000 65536"/>
                <a:gd name="T9" fmla="*/ 0 60000 65536"/>
                <a:gd name="T10" fmla="*/ 0 60000 65536"/>
                <a:gd name="T11" fmla="*/ 0 60000 65536"/>
                <a:gd name="T12" fmla="*/ 0 w 22"/>
                <a:gd name="T13" fmla="*/ 0 h 1"/>
                <a:gd name="T14" fmla="*/ 22 w 22"/>
                <a:gd name="T15" fmla="*/ 1 h 1"/>
              </a:gdLst>
              <a:ahLst/>
              <a:cxnLst>
                <a:cxn ang="T8">
                  <a:pos x="T0" y="T1"/>
                </a:cxn>
                <a:cxn ang="T9">
                  <a:pos x="T2" y="T3"/>
                </a:cxn>
                <a:cxn ang="T10">
                  <a:pos x="T4" y="T5"/>
                </a:cxn>
                <a:cxn ang="T11">
                  <a:pos x="T6" y="T7"/>
                </a:cxn>
              </a:cxnLst>
              <a:rect l="T12" t="T13" r="T14" b="T15"/>
              <a:pathLst>
                <a:path w="22" h="1">
                  <a:moveTo>
                    <a:pt x="0" y="0"/>
                  </a:moveTo>
                  <a:lnTo>
                    <a:pt x="0" y="0"/>
                  </a:lnTo>
                  <a:lnTo>
                    <a:pt x="21"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8" name="Line 5700"/>
            <p:cNvSpPr>
              <a:spLocks noChangeShapeType="1"/>
            </p:cNvSpPr>
            <p:nvPr/>
          </p:nvSpPr>
          <p:spPr bwMode="auto">
            <a:xfrm>
              <a:off x="2524" y="2340"/>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19" name="Freeform 5701"/>
            <p:cNvSpPr>
              <a:spLocks/>
            </p:cNvSpPr>
            <p:nvPr/>
          </p:nvSpPr>
          <p:spPr bwMode="auto">
            <a:xfrm>
              <a:off x="2524" y="2334"/>
              <a:ext cx="22" cy="36"/>
            </a:xfrm>
            <a:custGeom>
              <a:avLst/>
              <a:gdLst>
                <a:gd name="T0" fmla="*/ 21 w 22"/>
                <a:gd name="T1" fmla="*/ 35 h 36"/>
                <a:gd name="T2" fmla="*/ 21 w 22"/>
                <a:gd name="T3" fmla="*/ 0 h 36"/>
                <a:gd name="T4" fmla="*/ 0 w 22"/>
                <a:gd name="T5" fmla="*/ 6 h 36"/>
                <a:gd name="T6" fmla="*/ 21 w 22"/>
                <a:gd name="T7" fmla="*/ 35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1" y="35"/>
                  </a:moveTo>
                  <a:lnTo>
                    <a:pt x="21" y="0"/>
                  </a:lnTo>
                  <a:lnTo>
                    <a:pt x="0" y="6"/>
                  </a:lnTo>
                  <a:lnTo>
                    <a:pt x="21"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0" name="Freeform 5702"/>
            <p:cNvSpPr>
              <a:spLocks/>
            </p:cNvSpPr>
            <p:nvPr/>
          </p:nvSpPr>
          <p:spPr bwMode="auto">
            <a:xfrm>
              <a:off x="2533" y="2334"/>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1" name="Freeform 5703"/>
            <p:cNvSpPr>
              <a:spLocks/>
            </p:cNvSpPr>
            <p:nvPr/>
          </p:nvSpPr>
          <p:spPr bwMode="auto">
            <a:xfrm>
              <a:off x="2533" y="2369"/>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2" name="Line 5704"/>
            <p:cNvSpPr>
              <a:spLocks noChangeShapeType="1"/>
            </p:cNvSpPr>
            <p:nvPr/>
          </p:nvSpPr>
          <p:spPr bwMode="auto">
            <a:xfrm>
              <a:off x="2533" y="2369"/>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3" name="Freeform 5705"/>
            <p:cNvSpPr>
              <a:spLocks/>
            </p:cNvSpPr>
            <p:nvPr/>
          </p:nvSpPr>
          <p:spPr bwMode="auto">
            <a:xfrm>
              <a:off x="2533" y="2361"/>
              <a:ext cx="24" cy="38"/>
            </a:xfrm>
            <a:custGeom>
              <a:avLst/>
              <a:gdLst>
                <a:gd name="T0" fmla="*/ 23 w 24"/>
                <a:gd name="T1" fmla="*/ 37 h 38"/>
                <a:gd name="T2" fmla="*/ 23 w 24"/>
                <a:gd name="T3" fmla="*/ 0 h 38"/>
                <a:gd name="T4" fmla="*/ 0 w 24"/>
                <a:gd name="T5" fmla="*/ 6 h 38"/>
                <a:gd name="T6" fmla="*/ 23 w 24"/>
                <a:gd name="T7" fmla="*/ 37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23" y="37"/>
                  </a:moveTo>
                  <a:lnTo>
                    <a:pt x="23" y="0"/>
                  </a:lnTo>
                  <a:lnTo>
                    <a:pt x="0" y="6"/>
                  </a:lnTo>
                  <a:lnTo>
                    <a:pt x="23"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4" name="Freeform 5706"/>
            <p:cNvSpPr>
              <a:spLocks/>
            </p:cNvSpPr>
            <p:nvPr/>
          </p:nvSpPr>
          <p:spPr bwMode="auto">
            <a:xfrm>
              <a:off x="2545" y="2361"/>
              <a:ext cx="28" cy="38"/>
            </a:xfrm>
            <a:custGeom>
              <a:avLst/>
              <a:gdLst>
                <a:gd name="T0" fmla="*/ 0 w 28"/>
                <a:gd name="T1" fmla="*/ 37 h 38"/>
                <a:gd name="T2" fmla="*/ 27 w 28"/>
                <a:gd name="T3" fmla="*/ 28 h 38"/>
                <a:gd name="T4" fmla="*/ 0 w 28"/>
                <a:gd name="T5" fmla="*/ 0 h 38"/>
                <a:gd name="T6" fmla="*/ 0 w 28"/>
                <a:gd name="T7" fmla="*/ 37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7"/>
                  </a:moveTo>
                  <a:lnTo>
                    <a:pt x="27" y="28"/>
                  </a:lnTo>
                  <a:lnTo>
                    <a:pt x="0" y="0"/>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5" name="Freeform 5707"/>
            <p:cNvSpPr>
              <a:spLocks/>
            </p:cNvSpPr>
            <p:nvPr/>
          </p:nvSpPr>
          <p:spPr bwMode="auto">
            <a:xfrm>
              <a:off x="2545" y="2398"/>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6" name="Line 5708"/>
            <p:cNvSpPr>
              <a:spLocks noChangeShapeType="1"/>
            </p:cNvSpPr>
            <p:nvPr/>
          </p:nvSpPr>
          <p:spPr bwMode="auto">
            <a:xfrm>
              <a:off x="2545" y="239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7" name="Freeform 5709"/>
            <p:cNvSpPr>
              <a:spLocks/>
            </p:cNvSpPr>
            <p:nvPr/>
          </p:nvSpPr>
          <p:spPr bwMode="auto">
            <a:xfrm>
              <a:off x="2545" y="2390"/>
              <a:ext cx="28" cy="31"/>
            </a:xfrm>
            <a:custGeom>
              <a:avLst/>
              <a:gdLst>
                <a:gd name="T0" fmla="*/ 27 w 28"/>
                <a:gd name="T1" fmla="*/ 30 h 31"/>
                <a:gd name="T2" fmla="*/ 27 w 28"/>
                <a:gd name="T3" fmla="*/ 0 h 31"/>
                <a:gd name="T4" fmla="*/ 0 w 28"/>
                <a:gd name="T5" fmla="*/ 8 h 31"/>
                <a:gd name="T6" fmla="*/ 27 w 28"/>
                <a:gd name="T7" fmla="*/ 30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30"/>
                  </a:moveTo>
                  <a:lnTo>
                    <a:pt x="27" y="0"/>
                  </a:lnTo>
                  <a:lnTo>
                    <a:pt x="0" y="8"/>
                  </a:lnTo>
                  <a:lnTo>
                    <a:pt x="27" y="3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8" name="Freeform 5710"/>
            <p:cNvSpPr>
              <a:spLocks/>
            </p:cNvSpPr>
            <p:nvPr/>
          </p:nvSpPr>
          <p:spPr bwMode="auto">
            <a:xfrm>
              <a:off x="2557" y="2390"/>
              <a:ext cx="27" cy="31"/>
            </a:xfrm>
            <a:custGeom>
              <a:avLst/>
              <a:gdLst>
                <a:gd name="T0" fmla="*/ 0 w 27"/>
                <a:gd name="T1" fmla="*/ 30 h 31"/>
                <a:gd name="T2" fmla="*/ 26 w 27"/>
                <a:gd name="T3" fmla="*/ 23 h 31"/>
                <a:gd name="T4" fmla="*/ 0 w 27"/>
                <a:gd name="T5" fmla="*/ 0 h 31"/>
                <a:gd name="T6" fmla="*/ 0 w 27"/>
                <a:gd name="T7" fmla="*/ 3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0" y="30"/>
                  </a:moveTo>
                  <a:lnTo>
                    <a:pt x="26" y="23"/>
                  </a:lnTo>
                  <a:lnTo>
                    <a:pt x="0" y="0"/>
                  </a:lnTo>
                  <a:lnTo>
                    <a:pt x="0" y="3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29" name="Freeform 5711"/>
            <p:cNvSpPr>
              <a:spLocks/>
            </p:cNvSpPr>
            <p:nvPr/>
          </p:nvSpPr>
          <p:spPr bwMode="auto">
            <a:xfrm>
              <a:off x="2557" y="2420"/>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0" name="Line 5712"/>
            <p:cNvSpPr>
              <a:spLocks noChangeShapeType="1"/>
            </p:cNvSpPr>
            <p:nvPr/>
          </p:nvSpPr>
          <p:spPr bwMode="auto">
            <a:xfrm>
              <a:off x="2557" y="2420"/>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1" name="Freeform 5713"/>
            <p:cNvSpPr>
              <a:spLocks/>
            </p:cNvSpPr>
            <p:nvPr/>
          </p:nvSpPr>
          <p:spPr bwMode="auto">
            <a:xfrm>
              <a:off x="2557" y="2412"/>
              <a:ext cx="27" cy="36"/>
            </a:xfrm>
            <a:custGeom>
              <a:avLst/>
              <a:gdLst>
                <a:gd name="T0" fmla="*/ 26 w 27"/>
                <a:gd name="T1" fmla="*/ 35 h 36"/>
                <a:gd name="T2" fmla="*/ 26 w 27"/>
                <a:gd name="T3" fmla="*/ 0 h 36"/>
                <a:gd name="T4" fmla="*/ 0 w 27"/>
                <a:gd name="T5" fmla="*/ 6 h 36"/>
                <a:gd name="T6" fmla="*/ 26 w 27"/>
                <a:gd name="T7" fmla="*/ 35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35"/>
                  </a:moveTo>
                  <a:lnTo>
                    <a:pt x="26" y="0"/>
                  </a:lnTo>
                  <a:lnTo>
                    <a:pt x="0" y="6"/>
                  </a:lnTo>
                  <a:lnTo>
                    <a:pt x="26"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2" name="Freeform 5714"/>
            <p:cNvSpPr>
              <a:spLocks/>
            </p:cNvSpPr>
            <p:nvPr/>
          </p:nvSpPr>
          <p:spPr bwMode="auto">
            <a:xfrm>
              <a:off x="2572" y="2412"/>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3" name="Freeform 5715"/>
            <p:cNvSpPr>
              <a:spLocks/>
            </p:cNvSpPr>
            <p:nvPr/>
          </p:nvSpPr>
          <p:spPr bwMode="auto">
            <a:xfrm>
              <a:off x="2572" y="2447"/>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4" name="Line 5716"/>
            <p:cNvSpPr>
              <a:spLocks noChangeShapeType="1"/>
            </p:cNvSpPr>
            <p:nvPr/>
          </p:nvSpPr>
          <p:spPr bwMode="auto">
            <a:xfrm>
              <a:off x="2572" y="244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5" name="Freeform 5717"/>
            <p:cNvSpPr>
              <a:spLocks/>
            </p:cNvSpPr>
            <p:nvPr/>
          </p:nvSpPr>
          <p:spPr bwMode="auto">
            <a:xfrm>
              <a:off x="2572" y="2441"/>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6" name="Freeform 5718"/>
            <p:cNvSpPr>
              <a:spLocks/>
            </p:cNvSpPr>
            <p:nvPr/>
          </p:nvSpPr>
          <p:spPr bwMode="auto">
            <a:xfrm>
              <a:off x="2583" y="2441"/>
              <a:ext cx="24" cy="28"/>
            </a:xfrm>
            <a:custGeom>
              <a:avLst/>
              <a:gdLst>
                <a:gd name="T0" fmla="*/ 0 w 24"/>
                <a:gd name="T1" fmla="*/ 27 h 28"/>
                <a:gd name="T2" fmla="*/ 23 w 24"/>
                <a:gd name="T3" fmla="*/ 20 h 28"/>
                <a:gd name="T4" fmla="*/ 0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23" y="20"/>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7" name="Freeform 5719"/>
            <p:cNvSpPr>
              <a:spLocks/>
            </p:cNvSpPr>
            <p:nvPr/>
          </p:nvSpPr>
          <p:spPr bwMode="auto">
            <a:xfrm>
              <a:off x="2583" y="24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8" name="Line 5720"/>
            <p:cNvSpPr>
              <a:spLocks noChangeShapeType="1"/>
            </p:cNvSpPr>
            <p:nvPr/>
          </p:nvSpPr>
          <p:spPr bwMode="auto">
            <a:xfrm>
              <a:off x="2583" y="24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39" name="Freeform 5721"/>
            <p:cNvSpPr>
              <a:spLocks/>
            </p:cNvSpPr>
            <p:nvPr/>
          </p:nvSpPr>
          <p:spPr bwMode="auto">
            <a:xfrm>
              <a:off x="2583" y="2462"/>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0" name="Freeform 5722"/>
            <p:cNvSpPr>
              <a:spLocks/>
            </p:cNvSpPr>
            <p:nvPr/>
          </p:nvSpPr>
          <p:spPr bwMode="auto">
            <a:xfrm>
              <a:off x="2594" y="2462"/>
              <a:ext cx="28" cy="28"/>
            </a:xfrm>
            <a:custGeom>
              <a:avLst/>
              <a:gdLst>
                <a:gd name="T0" fmla="*/ 0 w 28"/>
                <a:gd name="T1" fmla="*/ 27 h 28"/>
                <a:gd name="T2" fmla="*/ 27 w 28"/>
                <a:gd name="T3" fmla="*/ 20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20"/>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1" name="Freeform 5723"/>
            <p:cNvSpPr>
              <a:spLocks/>
            </p:cNvSpPr>
            <p:nvPr/>
          </p:nvSpPr>
          <p:spPr bwMode="auto">
            <a:xfrm>
              <a:off x="2594" y="2489"/>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2" name="Line 5724"/>
            <p:cNvSpPr>
              <a:spLocks noChangeShapeType="1"/>
            </p:cNvSpPr>
            <p:nvPr/>
          </p:nvSpPr>
          <p:spPr bwMode="auto">
            <a:xfrm>
              <a:off x="2594" y="2489"/>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3" name="Freeform 5725"/>
            <p:cNvSpPr>
              <a:spLocks/>
            </p:cNvSpPr>
            <p:nvPr/>
          </p:nvSpPr>
          <p:spPr bwMode="auto">
            <a:xfrm>
              <a:off x="2594" y="2484"/>
              <a:ext cx="28" cy="26"/>
            </a:xfrm>
            <a:custGeom>
              <a:avLst/>
              <a:gdLst>
                <a:gd name="T0" fmla="*/ 27 w 28"/>
                <a:gd name="T1" fmla="*/ 25 h 26"/>
                <a:gd name="T2" fmla="*/ 27 w 28"/>
                <a:gd name="T3" fmla="*/ 0 h 26"/>
                <a:gd name="T4" fmla="*/ 0 w 28"/>
                <a:gd name="T5" fmla="*/ 7 h 26"/>
                <a:gd name="T6" fmla="*/ 27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25"/>
                  </a:moveTo>
                  <a:lnTo>
                    <a:pt x="27" y="0"/>
                  </a:lnTo>
                  <a:lnTo>
                    <a:pt x="0" y="7"/>
                  </a:lnTo>
                  <a:lnTo>
                    <a:pt x="27"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4" name="Freeform 5726"/>
            <p:cNvSpPr>
              <a:spLocks/>
            </p:cNvSpPr>
            <p:nvPr/>
          </p:nvSpPr>
          <p:spPr bwMode="auto">
            <a:xfrm>
              <a:off x="2610" y="2484"/>
              <a:ext cx="24" cy="26"/>
            </a:xfrm>
            <a:custGeom>
              <a:avLst/>
              <a:gdLst>
                <a:gd name="T0" fmla="*/ 0 w 24"/>
                <a:gd name="T1" fmla="*/ 25 h 26"/>
                <a:gd name="T2" fmla="*/ 23 w 24"/>
                <a:gd name="T3" fmla="*/ 17 h 26"/>
                <a:gd name="T4" fmla="*/ 0 w 24"/>
                <a:gd name="T5" fmla="*/ 0 h 26"/>
                <a:gd name="T6" fmla="*/ 0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0" y="25"/>
                  </a:moveTo>
                  <a:lnTo>
                    <a:pt x="23" y="17"/>
                  </a:lnTo>
                  <a:lnTo>
                    <a:pt x="0" y="0"/>
                  </a:lnTo>
                  <a:lnTo>
                    <a:pt x="0"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5" name="Freeform 5727"/>
            <p:cNvSpPr>
              <a:spLocks/>
            </p:cNvSpPr>
            <p:nvPr/>
          </p:nvSpPr>
          <p:spPr bwMode="auto">
            <a:xfrm>
              <a:off x="2610" y="2505"/>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6" name="Line 5728"/>
            <p:cNvSpPr>
              <a:spLocks noChangeShapeType="1"/>
            </p:cNvSpPr>
            <p:nvPr/>
          </p:nvSpPr>
          <p:spPr bwMode="auto">
            <a:xfrm>
              <a:off x="2610" y="2505"/>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7" name="Freeform 5729"/>
            <p:cNvSpPr>
              <a:spLocks/>
            </p:cNvSpPr>
            <p:nvPr/>
          </p:nvSpPr>
          <p:spPr bwMode="auto">
            <a:xfrm>
              <a:off x="2610" y="2498"/>
              <a:ext cx="24" cy="30"/>
            </a:xfrm>
            <a:custGeom>
              <a:avLst/>
              <a:gdLst>
                <a:gd name="T0" fmla="*/ 23 w 24"/>
                <a:gd name="T1" fmla="*/ 29 h 30"/>
                <a:gd name="T2" fmla="*/ 23 w 24"/>
                <a:gd name="T3" fmla="*/ 0 h 30"/>
                <a:gd name="T4" fmla="*/ 0 w 24"/>
                <a:gd name="T5" fmla="*/ 6 h 30"/>
                <a:gd name="T6" fmla="*/ 23 w 24"/>
                <a:gd name="T7" fmla="*/ 29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29"/>
                  </a:moveTo>
                  <a:lnTo>
                    <a:pt x="23" y="0"/>
                  </a:lnTo>
                  <a:lnTo>
                    <a:pt x="0" y="6"/>
                  </a:lnTo>
                  <a:lnTo>
                    <a:pt x="23" y="2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8" name="Freeform 5730"/>
            <p:cNvSpPr>
              <a:spLocks/>
            </p:cNvSpPr>
            <p:nvPr/>
          </p:nvSpPr>
          <p:spPr bwMode="auto">
            <a:xfrm>
              <a:off x="2621" y="2498"/>
              <a:ext cx="25" cy="30"/>
            </a:xfrm>
            <a:custGeom>
              <a:avLst/>
              <a:gdLst>
                <a:gd name="T0" fmla="*/ 0 w 25"/>
                <a:gd name="T1" fmla="*/ 29 h 30"/>
                <a:gd name="T2" fmla="*/ 24 w 25"/>
                <a:gd name="T3" fmla="*/ 22 h 30"/>
                <a:gd name="T4" fmla="*/ 0 w 25"/>
                <a:gd name="T5" fmla="*/ 0 h 30"/>
                <a:gd name="T6" fmla="*/ 0 w 25"/>
                <a:gd name="T7" fmla="*/ 29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0" y="29"/>
                  </a:moveTo>
                  <a:lnTo>
                    <a:pt x="24" y="22"/>
                  </a:lnTo>
                  <a:lnTo>
                    <a:pt x="0" y="0"/>
                  </a:lnTo>
                  <a:lnTo>
                    <a:pt x="0" y="2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49" name="Freeform 5731"/>
            <p:cNvSpPr>
              <a:spLocks/>
            </p:cNvSpPr>
            <p:nvPr/>
          </p:nvSpPr>
          <p:spPr bwMode="auto">
            <a:xfrm>
              <a:off x="2621" y="2527"/>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0" name="Line 5732"/>
            <p:cNvSpPr>
              <a:spLocks noChangeShapeType="1"/>
            </p:cNvSpPr>
            <p:nvPr/>
          </p:nvSpPr>
          <p:spPr bwMode="auto">
            <a:xfrm>
              <a:off x="2621" y="2527"/>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1" name="Freeform 5733"/>
            <p:cNvSpPr>
              <a:spLocks/>
            </p:cNvSpPr>
            <p:nvPr/>
          </p:nvSpPr>
          <p:spPr bwMode="auto">
            <a:xfrm>
              <a:off x="2621" y="2519"/>
              <a:ext cx="25" cy="28"/>
            </a:xfrm>
            <a:custGeom>
              <a:avLst/>
              <a:gdLst>
                <a:gd name="T0" fmla="*/ 24 w 25"/>
                <a:gd name="T1" fmla="*/ 27 h 28"/>
                <a:gd name="T2" fmla="*/ 12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8"/>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2" name="Freeform 5734"/>
            <p:cNvSpPr>
              <a:spLocks/>
            </p:cNvSpPr>
            <p:nvPr/>
          </p:nvSpPr>
          <p:spPr bwMode="auto">
            <a:xfrm>
              <a:off x="2628" y="2519"/>
              <a:ext cx="24" cy="28"/>
            </a:xfrm>
            <a:custGeom>
              <a:avLst/>
              <a:gdLst>
                <a:gd name="T0" fmla="*/ 10 w 24"/>
                <a:gd name="T1" fmla="*/ 27 h 28"/>
                <a:gd name="T2" fmla="*/ 23 w 24"/>
                <a:gd name="T3" fmla="*/ 16 h 28"/>
                <a:gd name="T4" fmla="*/ 0 w 24"/>
                <a:gd name="T5" fmla="*/ 0 h 28"/>
                <a:gd name="T6" fmla="*/ 1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10" y="27"/>
                  </a:moveTo>
                  <a:lnTo>
                    <a:pt x="23" y="16"/>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3" name="Freeform 5735"/>
            <p:cNvSpPr>
              <a:spLocks/>
            </p:cNvSpPr>
            <p:nvPr/>
          </p:nvSpPr>
          <p:spPr bwMode="auto">
            <a:xfrm>
              <a:off x="2632" y="2541"/>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4" name="Line 5736"/>
            <p:cNvSpPr>
              <a:spLocks noChangeShapeType="1"/>
            </p:cNvSpPr>
            <p:nvPr/>
          </p:nvSpPr>
          <p:spPr bwMode="auto">
            <a:xfrm>
              <a:off x="2632" y="25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5" name="Freeform 5737"/>
            <p:cNvSpPr>
              <a:spLocks/>
            </p:cNvSpPr>
            <p:nvPr/>
          </p:nvSpPr>
          <p:spPr bwMode="auto">
            <a:xfrm>
              <a:off x="2632" y="2532"/>
              <a:ext cx="28" cy="28"/>
            </a:xfrm>
            <a:custGeom>
              <a:avLst/>
              <a:gdLst>
                <a:gd name="T0" fmla="*/ 27 w 28"/>
                <a:gd name="T1" fmla="*/ 27 h 28"/>
                <a:gd name="T2" fmla="*/ 15 w 28"/>
                <a:gd name="T3" fmla="*/ 0 h 28"/>
                <a:gd name="T4" fmla="*/ 0 w 28"/>
                <a:gd name="T5" fmla="*/ 9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15" y="0"/>
                  </a:lnTo>
                  <a:lnTo>
                    <a:pt x="0" y="9"/>
                  </a:lnTo>
                  <a:lnTo>
                    <a:pt x="27"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6" name="Freeform 5738"/>
            <p:cNvSpPr>
              <a:spLocks/>
            </p:cNvSpPr>
            <p:nvPr/>
          </p:nvSpPr>
          <p:spPr bwMode="auto">
            <a:xfrm>
              <a:off x="2640" y="2532"/>
              <a:ext cx="27" cy="28"/>
            </a:xfrm>
            <a:custGeom>
              <a:avLst/>
              <a:gdLst>
                <a:gd name="T0" fmla="*/ 13 w 27"/>
                <a:gd name="T1" fmla="*/ 27 h 28"/>
                <a:gd name="T2" fmla="*/ 26 w 27"/>
                <a:gd name="T3" fmla="*/ 17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17"/>
                  </a:lnTo>
                  <a:lnTo>
                    <a:pt x="0" y="0"/>
                  </a:lnTo>
                  <a:lnTo>
                    <a:pt x="1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7" name="Freeform 5739"/>
            <p:cNvSpPr>
              <a:spLocks/>
            </p:cNvSpPr>
            <p:nvPr/>
          </p:nvSpPr>
          <p:spPr bwMode="auto">
            <a:xfrm>
              <a:off x="2644" y="2556"/>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8" name="Line 5740"/>
            <p:cNvSpPr>
              <a:spLocks noChangeShapeType="1"/>
            </p:cNvSpPr>
            <p:nvPr/>
          </p:nvSpPr>
          <p:spPr bwMode="auto">
            <a:xfrm>
              <a:off x="2644" y="2556"/>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59" name="Freeform 5741"/>
            <p:cNvSpPr>
              <a:spLocks/>
            </p:cNvSpPr>
            <p:nvPr/>
          </p:nvSpPr>
          <p:spPr bwMode="auto">
            <a:xfrm>
              <a:off x="2644" y="2547"/>
              <a:ext cx="27" cy="27"/>
            </a:xfrm>
            <a:custGeom>
              <a:avLst/>
              <a:gdLst>
                <a:gd name="T0" fmla="*/ 26 w 27"/>
                <a:gd name="T1" fmla="*/ 26 h 27"/>
                <a:gd name="T2" fmla="*/ 11 w 27"/>
                <a:gd name="T3" fmla="*/ 0 h 27"/>
                <a:gd name="T4" fmla="*/ 0 w 27"/>
                <a:gd name="T5" fmla="*/ 1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1" y="0"/>
                  </a:lnTo>
                  <a:lnTo>
                    <a:pt x="0" y="10"/>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0" name="Freeform 5742"/>
            <p:cNvSpPr>
              <a:spLocks/>
            </p:cNvSpPr>
            <p:nvPr/>
          </p:nvSpPr>
          <p:spPr bwMode="auto">
            <a:xfrm>
              <a:off x="2651" y="2547"/>
              <a:ext cx="28" cy="27"/>
            </a:xfrm>
            <a:custGeom>
              <a:avLst/>
              <a:gdLst>
                <a:gd name="T0" fmla="*/ 15 w 28"/>
                <a:gd name="T1" fmla="*/ 26 h 27"/>
                <a:gd name="T2" fmla="*/ 27 w 28"/>
                <a:gd name="T3" fmla="*/ 18 h 27"/>
                <a:gd name="T4" fmla="*/ 0 w 28"/>
                <a:gd name="T5" fmla="*/ 0 h 27"/>
                <a:gd name="T6" fmla="*/ 15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15" y="26"/>
                  </a:moveTo>
                  <a:lnTo>
                    <a:pt x="27" y="18"/>
                  </a:lnTo>
                  <a:lnTo>
                    <a:pt x="0" y="0"/>
                  </a:lnTo>
                  <a:lnTo>
                    <a:pt x="1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1" name="Freeform 5743"/>
            <p:cNvSpPr>
              <a:spLocks/>
            </p:cNvSpPr>
            <p:nvPr/>
          </p:nvSpPr>
          <p:spPr bwMode="auto">
            <a:xfrm>
              <a:off x="2659" y="25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2" name="Line 5744"/>
            <p:cNvSpPr>
              <a:spLocks noChangeShapeType="1"/>
            </p:cNvSpPr>
            <p:nvPr/>
          </p:nvSpPr>
          <p:spPr bwMode="auto">
            <a:xfrm>
              <a:off x="2659" y="25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3" name="Freeform 5745"/>
            <p:cNvSpPr>
              <a:spLocks/>
            </p:cNvSpPr>
            <p:nvPr/>
          </p:nvSpPr>
          <p:spPr bwMode="auto">
            <a:xfrm>
              <a:off x="2659" y="2562"/>
              <a:ext cx="24" cy="27"/>
            </a:xfrm>
            <a:custGeom>
              <a:avLst/>
              <a:gdLst>
                <a:gd name="T0" fmla="*/ 23 w 24"/>
                <a:gd name="T1" fmla="*/ 26 h 27"/>
                <a:gd name="T2" fmla="*/ 11 w 24"/>
                <a:gd name="T3" fmla="*/ 0 h 27"/>
                <a:gd name="T4" fmla="*/ 0 w 24"/>
                <a:gd name="T5" fmla="*/ 8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1" y="0"/>
                  </a:lnTo>
                  <a:lnTo>
                    <a:pt x="0" y="8"/>
                  </a:lnTo>
                  <a:lnTo>
                    <a:pt x="2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4" name="Freeform 5746"/>
            <p:cNvSpPr>
              <a:spLocks/>
            </p:cNvSpPr>
            <p:nvPr/>
          </p:nvSpPr>
          <p:spPr bwMode="auto">
            <a:xfrm>
              <a:off x="2666" y="2562"/>
              <a:ext cx="24" cy="27"/>
            </a:xfrm>
            <a:custGeom>
              <a:avLst/>
              <a:gdLst>
                <a:gd name="T0" fmla="*/ 10 w 24"/>
                <a:gd name="T1" fmla="*/ 26 h 27"/>
                <a:gd name="T2" fmla="*/ 23 w 24"/>
                <a:gd name="T3" fmla="*/ 18 h 27"/>
                <a:gd name="T4" fmla="*/ 0 w 24"/>
                <a:gd name="T5" fmla="*/ 0 h 27"/>
                <a:gd name="T6" fmla="*/ 1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10" y="26"/>
                  </a:moveTo>
                  <a:lnTo>
                    <a:pt x="23" y="18"/>
                  </a:lnTo>
                  <a:lnTo>
                    <a:pt x="0" y="0"/>
                  </a:lnTo>
                  <a:lnTo>
                    <a:pt x="1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5" name="Freeform 5747"/>
            <p:cNvSpPr>
              <a:spLocks/>
            </p:cNvSpPr>
            <p:nvPr/>
          </p:nvSpPr>
          <p:spPr bwMode="auto">
            <a:xfrm>
              <a:off x="2668" y="2584"/>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6" name="Line 5748"/>
            <p:cNvSpPr>
              <a:spLocks noChangeShapeType="1"/>
            </p:cNvSpPr>
            <p:nvPr/>
          </p:nvSpPr>
          <p:spPr bwMode="auto">
            <a:xfrm>
              <a:off x="2668" y="2584"/>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7" name="Freeform 5749"/>
            <p:cNvSpPr>
              <a:spLocks/>
            </p:cNvSpPr>
            <p:nvPr/>
          </p:nvSpPr>
          <p:spPr bwMode="auto">
            <a:xfrm>
              <a:off x="2668" y="2576"/>
              <a:ext cx="27" cy="28"/>
            </a:xfrm>
            <a:custGeom>
              <a:avLst/>
              <a:gdLst>
                <a:gd name="T0" fmla="*/ 26 w 27"/>
                <a:gd name="T1" fmla="*/ 27 h 28"/>
                <a:gd name="T2" fmla="*/ 14 w 27"/>
                <a:gd name="T3" fmla="*/ 0 h 28"/>
                <a:gd name="T4" fmla="*/ 0 w 27"/>
                <a:gd name="T5" fmla="*/ 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4" y="0"/>
                  </a:lnTo>
                  <a:lnTo>
                    <a:pt x="0" y="8"/>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8" name="Freeform 5750"/>
            <p:cNvSpPr>
              <a:spLocks/>
            </p:cNvSpPr>
            <p:nvPr/>
          </p:nvSpPr>
          <p:spPr bwMode="auto">
            <a:xfrm>
              <a:off x="2678" y="2576"/>
              <a:ext cx="27" cy="28"/>
            </a:xfrm>
            <a:custGeom>
              <a:avLst/>
              <a:gdLst>
                <a:gd name="T0" fmla="*/ 11 w 27"/>
                <a:gd name="T1" fmla="*/ 27 h 28"/>
                <a:gd name="T2" fmla="*/ 26 w 27"/>
                <a:gd name="T3" fmla="*/ 8 h 28"/>
                <a:gd name="T4" fmla="*/ 0 w 27"/>
                <a:gd name="T5" fmla="*/ 0 h 28"/>
                <a:gd name="T6" fmla="*/ 11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1" y="27"/>
                  </a:moveTo>
                  <a:lnTo>
                    <a:pt x="26" y="8"/>
                  </a:lnTo>
                  <a:lnTo>
                    <a:pt x="0" y="0"/>
                  </a:lnTo>
                  <a:lnTo>
                    <a:pt x="11"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69" name="Freeform 5751"/>
            <p:cNvSpPr>
              <a:spLocks/>
            </p:cNvSpPr>
            <p:nvPr/>
          </p:nvSpPr>
          <p:spPr bwMode="auto">
            <a:xfrm>
              <a:off x="2682" y="2589"/>
              <a:ext cx="26" cy="28"/>
            </a:xfrm>
            <a:custGeom>
              <a:avLst/>
              <a:gdLst>
                <a:gd name="T0" fmla="*/ 0 w 26"/>
                <a:gd name="T1" fmla="*/ 27 h 28"/>
                <a:gd name="T2" fmla="*/ 0 w 26"/>
                <a:gd name="T3" fmla="*/ 27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0" y="27"/>
                  </a:ln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0" name="Line 5752"/>
            <p:cNvSpPr>
              <a:spLocks noChangeShapeType="1"/>
            </p:cNvSpPr>
            <p:nvPr/>
          </p:nvSpPr>
          <p:spPr bwMode="auto">
            <a:xfrm>
              <a:off x="2682" y="259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1" name="Freeform 5753"/>
            <p:cNvSpPr>
              <a:spLocks/>
            </p:cNvSpPr>
            <p:nvPr/>
          </p:nvSpPr>
          <p:spPr bwMode="auto">
            <a:xfrm>
              <a:off x="2682" y="2584"/>
              <a:ext cx="26" cy="26"/>
            </a:xfrm>
            <a:custGeom>
              <a:avLst/>
              <a:gdLst>
                <a:gd name="T0" fmla="*/ 25 w 26"/>
                <a:gd name="T1" fmla="*/ 25 h 26"/>
                <a:gd name="T2" fmla="*/ 13 w 26"/>
                <a:gd name="T3" fmla="*/ 0 h 26"/>
                <a:gd name="T4" fmla="*/ 0 w 26"/>
                <a:gd name="T5" fmla="*/ 17 h 26"/>
                <a:gd name="T6" fmla="*/ 25 w 26"/>
                <a:gd name="T7" fmla="*/ 25 h 26"/>
                <a:gd name="T8" fmla="*/ 0 60000 65536"/>
                <a:gd name="T9" fmla="*/ 0 60000 65536"/>
                <a:gd name="T10" fmla="*/ 0 60000 65536"/>
                <a:gd name="T11" fmla="*/ 0 60000 65536"/>
                <a:gd name="T12" fmla="*/ 0 w 26"/>
                <a:gd name="T13" fmla="*/ 0 h 26"/>
                <a:gd name="T14" fmla="*/ 26 w 26"/>
                <a:gd name="T15" fmla="*/ 26 h 26"/>
              </a:gdLst>
              <a:ahLst/>
              <a:cxnLst>
                <a:cxn ang="T8">
                  <a:pos x="T0" y="T1"/>
                </a:cxn>
                <a:cxn ang="T9">
                  <a:pos x="T2" y="T3"/>
                </a:cxn>
                <a:cxn ang="T10">
                  <a:pos x="T4" y="T5"/>
                </a:cxn>
                <a:cxn ang="T11">
                  <a:pos x="T6" y="T7"/>
                </a:cxn>
              </a:cxnLst>
              <a:rect l="T12" t="T13" r="T14" b="T15"/>
              <a:pathLst>
                <a:path w="26" h="26">
                  <a:moveTo>
                    <a:pt x="25" y="25"/>
                  </a:moveTo>
                  <a:lnTo>
                    <a:pt x="13" y="0"/>
                  </a:lnTo>
                  <a:lnTo>
                    <a:pt x="0" y="17"/>
                  </a:lnTo>
                  <a:lnTo>
                    <a:pt x="25"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2" name="Freeform 5754"/>
            <p:cNvSpPr>
              <a:spLocks/>
            </p:cNvSpPr>
            <p:nvPr/>
          </p:nvSpPr>
          <p:spPr bwMode="auto">
            <a:xfrm>
              <a:off x="2689" y="2584"/>
              <a:ext cx="28" cy="26"/>
            </a:xfrm>
            <a:custGeom>
              <a:avLst/>
              <a:gdLst>
                <a:gd name="T0" fmla="*/ 13 w 28"/>
                <a:gd name="T1" fmla="*/ 25 h 26"/>
                <a:gd name="T2" fmla="*/ 27 w 28"/>
                <a:gd name="T3" fmla="*/ 17 h 26"/>
                <a:gd name="T4" fmla="*/ 0 w 28"/>
                <a:gd name="T5" fmla="*/ 0 h 26"/>
                <a:gd name="T6" fmla="*/ 13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13" y="25"/>
                  </a:moveTo>
                  <a:lnTo>
                    <a:pt x="27" y="17"/>
                  </a:lnTo>
                  <a:lnTo>
                    <a:pt x="0" y="0"/>
                  </a:lnTo>
                  <a:lnTo>
                    <a:pt x="13"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3" name="Freeform 5755"/>
            <p:cNvSpPr>
              <a:spLocks/>
            </p:cNvSpPr>
            <p:nvPr/>
          </p:nvSpPr>
          <p:spPr bwMode="auto">
            <a:xfrm>
              <a:off x="2697" y="260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4" name="Line 5756"/>
            <p:cNvSpPr>
              <a:spLocks noChangeShapeType="1"/>
            </p:cNvSpPr>
            <p:nvPr/>
          </p:nvSpPr>
          <p:spPr bwMode="auto">
            <a:xfrm>
              <a:off x="2697" y="2604"/>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5" name="Freeform 5757"/>
            <p:cNvSpPr>
              <a:spLocks/>
            </p:cNvSpPr>
            <p:nvPr/>
          </p:nvSpPr>
          <p:spPr bwMode="auto">
            <a:xfrm>
              <a:off x="2697" y="2598"/>
              <a:ext cx="24" cy="27"/>
            </a:xfrm>
            <a:custGeom>
              <a:avLst/>
              <a:gdLst>
                <a:gd name="T0" fmla="*/ 23 w 24"/>
                <a:gd name="T1" fmla="*/ 26 h 27"/>
                <a:gd name="T2" fmla="*/ 10 w 24"/>
                <a:gd name="T3" fmla="*/ 0 h 27"/>
                <a:gd name="T4" fmla="*/ 0 w 24"/>
                <a:gd name="T5" fmla="*/ 13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0" y="0"/>
                  </a:lnTo>
                  <a:lnTo>
                    <a:pt x="0" y="13"/>
                  </a:lnTo>
                  <a:lnTo>
                    <a:pt x="2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6" name="Freeform 5758"/>
            <p:cNvSpPr>
              <a:spLocks/>
            </p:cNvSpPr>
            <p:nvPr/>
          </p:nvSpPr>
          <p:spPr bwMode="auto">
            <a:xfrm>
              <a:off x="2701" y="2598"/>
              <a:ext cx="27" cy="27"/>
            </a:xfrm>
            <a:custGeom>
              <a:avLst/>
              <a:gdLst>
                <a:gd name="T0" fmla="*/ 14 w 27"/>
                <a:gd name="T1" fmla="*/ 26 h 27"/>
                <a:gd name="T2" fmla="*/ 26 w 27"/>
                <a:gd name="T3" fmla="*/ 13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13"/>
                  </a:lnTo>
                  <a:lnTo>
                    <a:pt x="0" y="0"/>
                  </a:lnTo>
                  <a:lnTo>
                    <a:pt x="1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7" name="Freeform 5759"/>
            <p:cNvSpPr>
              <a:spLocks/>
            </p:cNvSpPr>
            <p:nvPr/>
          </p:nvSpPr>
          <p:spPr bwMode="auto">
            <a:xfrm>
              <a:off x="2707" y="2611"/>
              <a:ext cx="29" cy="27"/>
            </a:xfrm>
            <a:custGeom>
              <a:avLst/>
              <a:gdLst>
                <a:gd name="T0" fmla="*/ 0 w 29"/>
                <a:gd name="T1" fmla="*/ 26 h 27"/>
                <a:gd name="T2" fmla="*/ 0 w 29"/>
                <a:gd name="T3" fmla="*/ 0 h 27"/>
                <a:gd name="T4" fmla="*/ 28 w 29"/>
                <a:gd name="T5" fmla="*/ 0 h 27"/>
                <a:gd name="T6" fmla="*/ 0 w 29"/>
                <a:gd name="T7" fmla="*/ 26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0" y="26"/>
                  </a:moveTo>
                  <a:lnTo>
                    <a:pt x="0" y="0"/>
                  </a:lnTo>
                  <a:lnTo>
                    <a:pt x="28"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8" name="Freeform 5760"/>
            <p:cNvSpPr>
              <a:spLocks/>
            </p:cNvSpPr>
            <p:nvPr/>
          </p:nvSpPr>
          <p:spPr bwMode="auto">
            <a:xfrm>
              <a:off x="2707" y="261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79" name="Freeform 5761"/>
            <p:cNvSpPr>
              <a:spLocks/>
            </p:cNvSpPr>
            <p:nvPr/>
          </p:nvSpPr>
          <p:spPr bwMode="auto">
            <a:xfrm>
              <a:off x="2707" y="2604"/>
              <a:ext cx="29" cy="28"/>
            </a:xfrm>
            <a:custGeom>
              <a:avLst/>
              <a:gdLst>
                <a:gd name="T0" fmla="*/ 28 w 29"/>
                <a:gd name="T1" fmla="*/ 27 h 28"/>
                <a:gd name="T2" fmla="*/ 14 w 29"/>
                <a:gd name="T3" fmla="*/ 0 h 28"/>
                <a:gd name="T4" fmla="*/ 0 w 29"/>
                <a:gd name="T5" fmla="*/ 18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4" y="0"/>
                  </a:lnTo>
                  <a:lnTo>
                    <a:pt x="0" y="18"/>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0" name="Freeform 5762"/>
            <p:cNvSpPr>
              <a:spLocks/>
            </p:cNvSpPr>
            <p:nvPr/>
          </p:nvSpPr>
          <p:spPr bwMode="auto">
            <a:xfrm>
              <a:off x="2716" y="2604"/>
              <a:ext cx="25" cy="28"/>
            </a:xfrm>
            <a:custGeom>
              <a:avLst/>
              <a:gdLst>
                <a:gd name="T0" fmla="*/ 10 w 25"/>
                <a:gd name="T1" fmla="*/ 27 h 28"/>
                <a:gd name="T2" fmla="*/ 24 w 25"/>
                <a:gd name="T3" fmla="*/ 8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8"/>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1" name="Freeform 5763"/>
            <p:cNvSpPr>
              <a:spLocks/>
            </p:cNvSpPr>
            <p:nvPr/>
          </p:nvSpPr>
          <p:spPr bwMode="auto">
            <a:xfrm>
              <a:off x="2727" y="2611"/>
              <a:ext cx="28" cy="27"/>
            </a:xfrm>
            <a:custGeom>
              <a:avLst/>
              <a:gdLst>
                <a:gd name="T0" fmla="*/ 0 w 28"/>
                <a:gd name="T1" fmla="*/ 26 h 27"/>
                <a:gd name="T2" fmla="*/ 27 w 28"/>
                <a:gd name="T3" fmla="*/ 10 h 27"/>
                <a:gd name="T4" fmla="*/ 0 w 28"/>
                <a:gd name="T5" fmla="*/ 0 h 27"/>
                <a:gd name="T6" fmla="*/ 0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0" y="26"/>
                  </a:moveTo>
                  <a:lnTo>
                    <a:pt x="27" y="10"/>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2" name="Freeform 5764"/>
            <p:cNvSpPr>
              <a:spLocks/>
            </p:cNvSpPr>
            <p:nvPr/>
          </p:nvSpPr>
          <p:spPr bwMode="auto">
            <a:xfrm>
              <a:off x="2727" y="2632"/>
              <a:ext cx="28" cy="1"/>
            </a:xfrm>
            <a:custGeom>
              <a:avLst/>
              <a:gdLst>
                <a:gd name="T0" fmla="*/ 27 w 28"/>
                <a:gd name="T1" fmla="*/ 0 h 1"/>
                <a:gd name="T2" fmla="*/ 27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27" y="0"/>
                  </a:lnTo>
                  <a:lnTo>
                    <a:pt x="0" y="0"/>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3" name="Freeform 5765"/>
            <p:cNvSpPr>
              <a:spLocks/>
            </p:cNvSpPr>
            <p:nvPr/>
          </p:nvSpPr>
          <p:spPr bwMode="auto">
            <a:xfrm>
              <a:off x="2732" y="2619"/>
              <a:ext cx="25" cy="27"/>
            </a:xfrm>
            <a:custGeom>
              <a:avLst/>
              <a:gdLst>
                <a:gd name="T0" fmla="*/ 24 w 25"/>
                <a:gd name="T1" fmla="*/ 26 h 27"/>
                <a:gd name="T2" fmla="*/ 0 w 25"/>
                <a:gd name="T3" fmla="*/ 0 h 27"/>
                <a:gd name="T4" fmla="*/ 0 w 25"/>
                <a:gd name="T5" fmla="*/ 16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0" y="0"/>
                  </a:lnTo>
                  <a:lnTo>
                    <a:pt x="0" y="16"/>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4" name="Freeform 5766"/>
            <p:cNvSpPr>
              <a:spLocks/>
            </p:cNvSpPr>
            <p:nvPr/>
          </p:nvSpPr>
          <p:spPr bwMode="auto">
            <a:xfrm>
              <a:off x="2732" y="2619"/>
              <a:ext cx="25" cy="27"/>
            </a:xfrm>
            <a:custGeom>
              <a:avLst/>
              <a:gdLst>
                <a:gd name="T0" fmla="*/ 10 w 25"/>
                <a:gd name="T1" fmla="*/ 26 h 27"/>
                <a:gd name="T2" fmla="*/ 24 w 25"/>
                <a:gd name="T3" fmla="*/ 8 h 27"/>
                <a:gd name="T4" fmla="*/ 0 w 25"/>
                <a:gd name="T5" fmla="*/ 0 h 27"/>
                <a:gd name="T6" fmla="*/ 1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0" y="26"/>
                  </a:moveTo>
                  <a:lnTo>
                    <a:pt x="24" y="8"/>
                  </a:lnTo>
                  <a:lnTo>
                    <a:pt x="0" y="0"/>
                  </a:lnTo>
                  <a:lnTo>
                    <a:pt x="1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5" name="Freeform 5767"/>
            <p:cNvSpPr>
              <a:spLocks/>
            </p:cNvSpPr>
            <p:nvPr/>
          </p:nvSpPr>
          <p:spPr bwMode="auto">
            <a:xfrm>
              <a:off x="2738" y="2632"/>
              <a:ext cx="28" cy="27"/>
            </a:xfrm>
            <a:custGeom>
              <a:avLst/>
              <a:gdLst>
                <a:gd name="T0" fmla="*/ 27 w 28"/>
                <a:gd name="T1" fmla="*/ 26 h 27"/>
                <a:gd name="T2" fmla="*/ 0 w 28"/>
                <a:gd name="T3" fmla="*/ 26 h 27"/>
                <a:gd name="T4" fmla="*/ 27 w 28"/>
                <a:gd name="T5" fmla="*/ 0 h 27"/>
                <a:gd name="T6" fmla="*/ 27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26"/>
                  </a:moveTo>
                  <a:lnTo>
                    <a:pt x="0" y="26"/>
                  </a:lnTo>
                  <a:lnTo>
                    <a:pt x="27" y="0"/>
                  </a:lnTo>
                  <a:lnTo>
                    <a:pt x="27"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6" name="Freeform 5768"/>
            <p:cNvSpPr>
              <a:spLocks/>
            </p:cNvSpPr>
            <p:nvPr/>
          </p:nvSpPr>
          <p:spPr bwMode="auto">
            <a:xfrm>
              <a:off x="2738" y="2640"/>
              <a:ext cx="28" cy="1"/>
            </a:xfrm>
            <a:custGeom>
              <a:avLst/>
              <a:gdLst>
                <a:gd name="T0" fmla="*/ 27 w 28"/>
                <a:gd name="T1" fmla="*/ 0 h 1"/>
                <a:gd name="T2" fmla="*/ 0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0" y="0"/>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7" name="Freeform 5769"/>
            <p:cNvSpPr>
              <a:spLocks/>
            </p:cNvSpPr>
            <p:nvPr/>
          </p:nvSpPr>
          <p:spPr bwMode="auto">
            <a:xfrm>
              <a:off x="2744" y="2626"/>
              <a:ext cx="27" cy="27"/>
            </a:xfrm>
            <a:custGeom>
              <a:avLst/>
              <a:gdLst>
                <a:gd name="T0" fmla="*/ 26 w 27"/>
                <a:gd name="T1" fmla="*/ 26 h 27"/>
                <a:gd name="T2" fmla="*/ 0 w 27"/>
                <a:gd name="T3" fmla="*/ 0 h 27"/>
                <a:gd name="T4" fmla="*/ 0 w 27"/>
                <a:gd name="T5" fmla="*/ 26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0" y="0"/>
                  </a:lnTo>
                  <a:lnTo>
                    <a:pt x="0" y="26"/>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8" name="Freeform 5770"/>
            <p:cNvSpPr>
              <a:spLocks/>
            </p:cNvSpPr>
            <p:nvPr/>
          </p:nvSpPr>
          <p:spPr bwMode="auto">
            <a:xfrm>
              <a:off x="2744" y="2626"/>
              <a:ext cx="27" cy="27"/>
            </a:xfrm>
            <a:custGeom>
              <a:avLst/>
              <a:gdLst>
                <a:gd name="T0" fmla="*/ 13 w 27"/>
                <a:gd name="T1" fmla="*/ 26 h 27"/>
                <a:gd name="T2" fmla="*/ 26 w 27"/>
                <a:gd name="T3" fmla="*/ 11 h 27"/>
                <a:gd name="T4" fmla="*/ 0 w 27"/>
                <a:gd name="T5" fmla="*/ 0 h 27"/>
                <a:gd name="T6" fmla="*/ 13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3" y="26"/>
                  </a:moveTo>
                  <a:lnTo>
                    <a:pt x="26" y="11"/>
                  </a:lnTo>
                  <a:lnTo>
                    <a:pt x="0" y="0"/>
                  </a:lnTo>
                  <a:lnTo>
                    <a:pt x="1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89" name="Freeform 5771"/>
            <p:cNvSpPr>
              <a:spLocks/>
            </p:cNvSpPr>
            <p:nvPr/>
          </p:nvSpPr>
          <p:spPr bwMode="auto">
            <a:xfrm>
              <a:off x="2752" y="2640"/>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0" name="Line 5772"/>
            <p:cNvSpPr>
              <a:spLocks noChangeShapeType="1"/>
            </p:cNvSpPr>
            <p:nvPr/>
          </p:nvSpPr>
          <p:spPr bwMode="auto">
            <a:xfrm>
              <a:off x="2752" y="2640"/>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1" name="Freeform 5773"/>
            <p:cNvSpPr>
              <a:spLocks/>
            </p:cNvSpPr>
            <p:nvPr/>
          </p:nvSpPr>
          <p:spPr bwMode="auto">
            <a:xfrm>
              <a:off x="2752" y="2632"/>
              <a:ext cx="25" cy="27"/>
            </a:xfrm>
            <a:custGeom>
              <a:avLst/>
              <a:gdLst>
                <a:gd name="T0" fmla="*/ 24 w 25"/>
                <a:gd name="T1" fmla="*/ 26 h 27"/>
                <a:gd name="T2" fmla="*/ 10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0" y="0"/>
                  </a:lnTo>
                  <a:lnTo>
                    <a:pt x="0" y="14"/>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2" name="Freeform 5774"/>
            <p:cNvSpPr>
              <a:spLocks/>
            </p:cNvSpPr>
            <p:nvPr/>
          </p:nvSpPr>
          <p:spPr bwMode="auto">
            <a:xfrm>
              <a:off x="2756" y="2632"/>
              <a:ext cx="27" cy="27"/>
            </a:xfrm>
            <a:custGeom>
              <a:avLst/>
              <a:gdLst>
                <a:gd name="T0" fmla="*/ 14 w 27"/>
                <a:gd name="T1" fmla="*/ 26 h 27"/>
                <a:gd name="T2" fmla="*/ 26 w 27"/>
                <a:gd name="T3" fmla="*/ 0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0"/>
                  </a:lnTo>
                  <a:lnTo>
                    <a:pt x="0" y="0"/>
                  </a:lnTo>
                  <a:lnTo>
                    <a:pt x="1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3" name="Freeform 5775"/>
            <p:cNvSpPr>
              <a:spLocks/>
            </p:cNvSpPr>
            <p:nvPr/>
          </p:nvSpPr>
          <p:spPr bwMode="auto">
            <a:xfrm>
              <a:off x="2765" y="2640"/>
              <a:ext cx="22" cy="28"/>
            </a:xfrm>
            <a:custGeom>
              <a:avLst/>
              <a:gdLst>
                <a:gd name="T0" fmla="*/ 0 w 22"/>
                <a:gd name="T1" fmla="*/ 27 h 28"/>
                <a:gd name="T2" fmla="*/ 0 w 22"/>
                <a:gd name="T3" fmla="*/ 27 h 28"/>
                <a:gd name="T4" fmla="*/ 21 w 22"/>
                <a:gd name="T5" fmla="*/ 0 h 28"/>
                <a:gd name="T6" fmla="*/ 0 w 22"/>
                <a:gd name="T7" fmla="*/ 27 h 28"/>
                <a:gd name="T8" fmla="*/ 0 60000 65536"/>
                <a:gd name="T9" fmla="*/ 0 60000 65536"/>
                <a:gd name="T10" fmla="*/ 0 60000 65536"/>
                <a:gd name="T11" fmla="*/ 0 60000 65536"/>
                <a:gd name="T12" fmla="*/ 0 w 22"/>
                <a:gd name="T13" fmla="*/ 0 h 28"/>
                <a:gd name="T14" fmla="*/ 22 w 22"/>
                <a:gd name="T15" fmla="*/ 28 h 28"/>
              </a:gdLst>
              <a:ahLst/>
              <a:cxnLst>
                <a:cxn ang="T8">
                  <a:pos x="T0" y="T1"/>
                </a:cxn>
                <a:cxn ang="T9">
                  <a:pos x="T2" y="T3"/>
                </a:cxn>
                <a:cxn ang="T10">
                  <a:pos x="T4" y="T5"/>
                </a:cxn>
                <a:cxn ang="T11">
                  <a:pos x="T6" y="T7"/>
                </a:cxn>
              </a:cxnLst>
              <a:rect l="T12" t="T13" r="T14" b="T15"/>
              <a:pathLst>
                <a:path w="22" h="28">
                  <a:moveTo>
                    <a:pt x="0" y="27"/>
                  </a:moveTo>
                  <a:lnTo>
                    <a:pt x="0" y="27"/>
                  </a:lnTo>
                  <a:lnTo>
                    <a:pt x="21"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4" name="Line 5776"/>
            <p:cNvSpPr>
              <a:spLocks noChangeShapeType="1"/>
            </p:cNvSpPr>
            <p:nvPr/>
          </p:nvSpPr>
          <p:spPr bwMode="auto">
            <a:xfrm>
              <a:off x="2765" y="264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5" name="Freeform 5777"/>
            <p:cNvSpPr>
              <a:spLocks/>
            </p:cNvSpPr>
            <p:nvPr/>
          </p:nvSpPr>
          <p:spPr bwMode="auto">
            <a:xfrm>
              <a:off x="2765" y="2632"/>
              <a:ext cx="22" cy="27"/>
            </a:xfrm>
            <a:custGeom>
              <a:avLst/>
              <a:gdLst>
                <a:gd name="T0" fmla="*/ 21 w 22"/>
                <a:gd name="T1" fmla="*/ 26 h 27"/>
                <a:gd name="T2" fmla="*/ 9 w 22"/>
                <a:gd name="T3" fmla="*/ 0 h 27"/>
                <a:gd name="T4" fmla="*/ 0 w 22"/>
                <a:gd name="T5" fmla="*/ 18 h 27"/>
                <a:gd name="T6" fmla="*/ 21 w 22"/>
                <a:gd name="T7" fmla="*/ 26 h 27"/>
                <a:gd name="T8" fmla="*/ 0 60000 65536"/>
                <a:gd name="T9" fmla="*/ 0 60000 65536"/>
                <a:gd name="T10" fmla="*/ 0 60000 65536"/>
                <a:gd name="T11" fmla="*/ 0 60000 65536"/>
                <a:gd name="T12" fmla="*/ 0 w 22"/>
                <a:gd name="T13" fmla="*/ 0 h 27"/>
                <a:gd name="T14" fmla="*/ 22 w 22"/>
                <a:gd name="T15" fmla="*/ 27 h 27"/>
              </a:gdLst>
              <a:ahLst/>
              <a:cxnLst>
                <a:cxn ang="T8">
                  <a:pos x="T0" y="T1"/>
                </a:cxn>
                <a:cxn ang="T9">
                  <a:pos x="T2" y="T3"/>
                </a:cxn>
                <a:cxn ang="T10">
                  <a:pos x="T4" y="T5"/>
                </a:cxn>
                <a:cxn ang="T11">
                  <a:pos x="T6" y="T7"/>
                </a:cxn>
              </a:cxnLst>
              <a:rect l="T12" t="T13" r="T14" b="T15"/>
              <a:pathLst>
                <a:path w="22" h="27">
                  <a:moveTo>
                    <a:pt x="21" y="26"/>
                  </a:moveTo>
                  <a:lnTo>
                    <a:pt x="9" y="0"/>
                  </a:lnTo>
                  <a:lnTo>
                    <a:pt x="0" y="18"/>
                  </a:lnTo>
                  <a:lnTo>
                    <a:pt x="21"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6" name="Freeform 5778"/>
            <p:cNvSpPr>
              <a:spLocks/>
            </p:cNvSpPr>
            <p:nvPr/>
          </p:nvSpPr>
          <p:spPr bwMode="auto">
            <a:xfrm>
              <a:off x="2770" y="2632"/>
              <a:ext cx="25" cy="27"/>
            </a:xfrm>
            <a:custGeom>
              <a:avLst/>
              <a:gdLst>
                <a:gd name="T0" fmla="*/ 13 w 25"/>
                <a:gd name="T1" fmla="*/ 26 h 27"/>
                <a:gd name="T2" fmla="*/ 24 w 25"/>
                <a:gd name="T3" fmla="*/ 10 h 27"/>
                <a:gd name="T4" fmla="*/ 0 w 25"/>
                <a:gd name="T5" fmla="*/ 0 h 27"/>
                <a:gd name="T6" fmla="*/ 13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3" y="26"/>
                  </a:moveTo>
                  <a:lnTo>
                    <a:pt x="24" y="10"/>
                  </a:lnTo>
                  <a:lnTo>
                    <a:pt x="0" y="0"/>
                  </a:lnTo>
                  <a:lnTo>
                    <a:pt x="1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7" name="Freeform 5779"/>
            <p:cNvSpPr>
              <a:spLocks/>
            </p:cNvSpPr>
            <p:nvPr/>
          </p:nvSpPr>
          <p:spPr bwMode="auto">
            <a:xfrm>
              <a:off x="2776" y="2647"/>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8" name="Line 5780"/>
            <p:cNvSpPr>
              <a:spLocks noChangeShapeType="1"/>
            </p:cNvSpPr>
            <p:nvPr/>
          </p:nvSpPr>
          <p:spPr bwMode="auto">
            <a:xfrm>
              <a:off x="2776" y="265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399" name="Freeform 5781"/>
            <p:cNvSpPr>
              <a:spLocks/>
            </p:cNvSpPr>
            <p:nvPr/>
          </p:nvSpPr>
          <p:spPr bwMode="auto">
            <a:xfrm>
              <a:off x="2776" y="2640"/>
              <a:ext cx="25" cy="28"/>
            </a:xfrm>
            <a:custGeom>
              <a:avLst/>
              <a:gdLst>
                <a:gd name="T0" fmla="*/ 24 w 25"/>
                <a:gd name="T1" fmla="*/ 27 h 28"/>
                <a:gd name="T2" fmla="*/ 12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0" name="Freeform 5782"/>
            <p:cNvSpPr>
              <a:spLocks/>
            </p:cNvSpPr>
            <p:nvPr/>
          </p:nvSpPr>
          <p:spPr bwMode="auto">
            <a:xfrm>
              <a:off x="2782" y="2640"/>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1" name="Freeform 5783"/>
            <p:cNvSpPr>
              <a:spLocks/>
            </p:cNvSpPr>
            <p:nvPr/>
          </p:nvSpPr>
          <p:spPr bwMode="auto">
            <a:xfrm>
              <a:off x="2786" y="2647"/>
              <a:ext cx="29" cy="28"/>
            </a:xfrm>
            <a:custGeom>
              <a:avLst/>
              <a:gdLst>
                <a:gd name="T0" fmla="*/ 0 w 29"/>
                <a:gd name="T1" fmla="*/ 27 h 28"/>
                <a:gd name="T2" fmla="*/ 0 w 29"/>
                <a:gd name="T3" fmla="*/ 27 h 28"/>
                <a:gd name="T4" fmla="*/ 28 w 29"/>
                <a:gd name="T5" fmla="*/ 0 h 28"/>
                <a:gd name="T6" fmla="*/ 0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27"/>
                  </a:moveTo>
                  <a:lnTo>
                    <a:pt x="0" y="27"/>
                  </a:lnTo>
                  <a:lnTo>
                    <a:pt x="28"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2" name="Line 5784"/>
            <p:cNvSpPr>
              <a:spLocks noChangeShapeType="1"/>
            </p:cNvSpPr>
            <p:nvPr/>
          </p:nvSpPr>
          <p:spPr bwMode="auto">
            <a:xfrm>
              <a:off x="2786" y="2653"/>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3" name="Freeform 5785"/>
            <p:cNvSpPr>
              <a:spLocks/>
            </p:cNvSpPr>
            <p:nvPr/>
          </p:nvSpPr>
          <p:spPr bwMode="auto">
            <a:xfrm>
              <a:off x="2786" y="2640"/>
              <a:ext cx="29" cy="28"/>
            </a:xfrm>
            <a:custGeom>
              <a:avLst/>
              <a:gdLst>
                <a:gd name="T0" fmla="*/ 28 w 29"/>
                <a:gd name="T1" fmla="*/ 27 h 28"/>
                <a:gd name="T2" fmla="*/ 15 w 29"/>
                <a:gd name="T3" fmla="*/ 0 h 28"/>
                <a:gd name="T4" fmla="*/ 0 w 29"/>
                <a:gd name="T5" fmla="*/ 16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5" y="0"/>
                  </a:lnTo>
                  <a:lnTo>
                    <a:pt x="0" y="16"/>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4" name="Freeform 5786"/>
            <p:cNvSpPr>
              <a:spLocks/>
            </p:cNvSpPr>
            <p:nvPr/>
          </p:nvSpPr>
          <p:spPr bwMode="auto">
            <a:xfrm>
              <a:off x="2794" y="2640"/>
              <a:ext cx="27" cy="28"/>
            </a:xfrm>
            <a:custGeom>
              <a:avLst/>
              <a:gdLst>
                <a:gd name="T0" fmla="*/ 13 w 27"/>
                <a:gd name="T1" fmla="*/ 27 h 28"/>
                <a:gd name="T2" fmla="*/ 26 w 27"/>
                <a:gd name="T3" fmla="*/ 8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8"/>
                  </a:lnTo>
                  <a:lnTo>
                    <a:pt x="0" y="0"/>
                  </a:lnTo>
                  <a:lnTo>
                    <a:pt x="1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5" name="Freeform 5787"/>
            <p:cNvSpPr>
              <a:spLocks/>
            </p:cNvSpPr>
            <p:nvPr/>
          </p:nvSpPr>
          <p:spPr bwMode="auto">
            <a:xfrm>
              <a:off x="2800" y="2653"/>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6" name="Line 5788"/>
            <p:cNvSpPr>
              <a:spLocks noChangeShapeType="1"/>
            </p:cNvSpPr>
            <p:nvPr/>
          </p:nvSpPr>
          <p:spPr bwMode="auto">
            <a:xfrm>
              <a:off x="2800" y="266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7" name="Freeform 5789"/>
            <p:cNvSpPr>
              <a:spLocks/>
            </p:cNvSpPr>
            <p:nvPr/>
          </p:nvSpPr>
          <p:spPr bwMode="auto">
            <a:xfrm>
              <a:off x="2800" y="2647"/>
              <a:ext cx="25" cy="28"/>
            </a:xfrm>
            <a:custGeom>
              <a:avLst/>
              <a:gdLst>
                <a:gd name="T0" fmla="*/ 24 w 25"/>
                <a:gd name="T1" fmla="*/ 27 h 28"/>
                <a:gd name="T2" fmla="*/ 10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0"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8" name="Freeform 5790"/>
            <p:cNvSpPr>
              <a:spLocks/>
            </p:cNvSpPr>
            <p:nvPr/>
          </p:nvSpPr>
          <p:spPr bwMode="auto">
            <a:xfrm>
              <a:off x="2803" y="2647"/>
              <a:ext cx="29" cy="28"/>
            </a:xfrm>
            <a:custGeom>
              <a:avLst/>
              <a:gdLst>
                <a:gd name="T0" fmla="*/ 15 w 29"/>
                <a:gd name="T1" fmla="*/ 27 h 28"/>
                <a:gd name="T2" fmla="*/ 28 w 29"/>
                <a:gd name="T3" fmla="*/ 0 h 28"/>
                <a:gd name="T4" fmla="*/ 0 w 29"/>
                <a:gd name="T5" fmla="*/ 0 h 28"/>
                <a:gd name="T6" fmla="*/ 15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15" y="27"/>
                  </a:moveTo>
                  <a:lnTo>
                    <a:pt x="28" y="0"/>
                  </a:lnTo>
                  <a:lnTo>
                    <a:pt x="0" y="0"/>
                  </a:lnTo>
                  <a:lnTo>
                    <a:pt x="1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09" name="Freeform 5791"/>
            <p:cNvSpPr>
              <a:spLocks/>
            </p:cNvSpPr>
            <p:nvPr/>
          </p:nvSpPr>
          <p:spPr bwMode="auto">
            <a:xfrm>
              <a:off x="2814" y="2653"/>
              <a:ext cx="24" cy="28"/>
            </a:xfrm>
            <a:custGeom>
              <a:avLst/>
              <a:gdLst>
                <a:gd name="T0" fmla="*/ 0 w 24"/>
                <a:gd name="T1" fmla="*/ 27 h 28"/>
                <a:gd name="T2" fmla="*/ 0 w 24"/>
                <a:gd name="T3" fmla="*/ 27 h 28"/>
                <a:gd name="T4" fmla="*/ 23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0" y="27"/>
                  </a:lnTo>
                  <a:lnTo>
                    <a:pt x="23"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0" name="Line 5792"/>
            <p:cNvSpPr>
              <a:spLocks noChangeShapeType="1"/>
            </p:cNvSpPr>
            <p:nvPr/>
          </p:nvSpPr>
          <p:spPr bwMode="auto">
            <a:xfrm>
              <a:off x="2814" y="2661"/>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1" name="Freeform 5793"/>
            <p:cNvSpPr>
              <a:spLocks/>
            </p:cNvSpPr>
            <p:nvPr/>
          </p:nvSpPr>
          <p:spPr bwMode="auto">
            <a:xfrm>
              <a:off x="2814" y="2647"/>
              <a:ext cx="24" cy="28"/>
            </a:xfrm>
            <a:custGeom>
              <a:avLst/>
              <a:gdLst>
                <a:gd name="T0" fmla="*/ 23 w 24"/>
                <a:gd name="T1" fmla="*/ 27 h 28"/>
                <a:gd name="T2" fmla="*/ 11 w 24"/>
                <a:gd name="T3" fmla="*/ 0 h 28"/>
                <a:gd name="T4" fmla="*/ 0 w 24"/>
                <a:gd name="T5" fmla="*/ 27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11" y="0"/>
                  </a:lnTo>
                  <a:lnTo>
                    <a:pt x="0" y="27"/>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2" name="Freeform 5794"/>
            <p:cNvSpPr>
              <a:spLocks/>
            </p:cNvSpPr>
            <p:nvPr/>
          </p:nvSpPr>
          <p:spPr bwMode="auto">
            <a:xfrm>
              <a:off x="2820" y="2647"/>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3" name="Freeform 5795"/>
            <p:cNvSpPr>
              <a:spLocks/>
            </p:cNvSpPr>
            <p:nvPr/>
          </p:nvSpPr>
          <p:spPr bwMode="auto">
            <a:xfrm>
              <a:off x="2823" y="266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4" name="Line 5796"/>
            <p:cNvSpPr>
              <a:spLocks noChangeShapeType="1"/>
            </p:cNvSpPr>
            <p:nvPr/>
          </p:nvSpPr>
          <p:spPr bwMode="auto">
            <a:xfrm>
              <a:off x="2823" y="2661"/>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5" name="Freeform 5797"/>
            <p:cNvSpPr>
              <a:spLocks/>
            </p:cNvSpPr>
            <p:nvPr/>
          </p:nvSpPr>
          <p:spPr bwMode="auto">
            <a:xfrm>
              <a:off x="2823" y="2647"/>
              <a:ext cx="27" cy="28"/>
            </a:xfrm>
            <a:custGeom>
              <a:avLst/>
              <a:gdLst>
                <a:gd name="T0" fmla="*/ 26 w 27"/>
                <a:gd name="T1" fmla="*/ 27 h 28"/>
                <a:gd name="T2" fmla="*/ 0 w 27"/>
                <a:gd name="T3" fmla="*/ 0 h 28"/>
                <a:gd name="T4" fmla="*/ 0 w 27"/>
                <a:gd name="T5" fmla="*/ 1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18"/>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416" name="Freeform 5798"/>
            <p:cNvSpPr>
              <a:spLocks/>
            </p:cNvSpPr>
            <p:nvPr/>
          </p:nvSpPr>
          <p:spPr bwMode="auto">
            <a:xfrm>
              <a:off x="2823" y="2647"/>
              <a:ext cx="27" cy="28"/>
            </a:xfrm>
            <a:custGeom>
              <a:avLst/>
              <a:gdLst>
                <a:gd name="T0" fmla="*/ 26 w 27"/>
                <a:gd name="T1" fmla="*/ 27 h 28"/>
                <a:gd name="T2" fmla="*/ 26 w 27"/>
                <a:gd name="T3" fmla="*/ 8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8"/>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grpSp>
      <p:grpSp>
        <p:nvGrpSpPr>
          <p:cNvPr id="16399" name="Group 5799"/>
          <p:cNvGrpSpPr>
            <a:grpSpLocks/>
          </p:cNvGrpSpPr>
          <p:nvPr/>
        </p:nvGrpSpPr>
        <p:grpSpPr bwMode="auto">
          <a:xfrm>
            <a:off x="6503988" y="6247640"/>
            <a:ext cx="1435100" cy="234950"/>
            <a:chOff x="1249" y="1728"/>
            <a:chExt cx="1825" cy="961"/>
          </a:xfrm>
        </p:grpSpPr>
        <p:sp>
          <p:nvSpPr>
            <p:cNvPr id="17429" name="Line 5800"/>
            <p:cNvSpPr>
              <a:spLocks noChangeShapeType="1"/>
            </p:cNvSpPr>
            <p:nvPr/>
          </p:nvSpPr>
          <p:spPr bwMode="auto">
            <a:xfrm>
              <a:off x="3031"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0" name="Freeform 5801"/>
            <p:cNvSpPr>
              <a:spLocks/>
            </p:cNvSpPr>
            <p:nvPr/>
          </p:nvSpPr>
          <p:spPr bwMode="auto">
            <a:xfrm>
              <a:off x="3031" y="2661"/>
              <a:ext cx="43" cy="28"/>
            </a:xfrm>
            <a:custGeom>
              <a:avLst/>
              <a:gdLst>
                <a:gd name="T0" fmla="*/ 0 w 43"/>
                <a:gd name="T1" fmla="*/ 27 h 28"/>
                <a:gd name="T2" fmla="*/ 42 w 43"/>
                <a:gd name="T3" fmla="*/ 0 h 28"/>
                <a:gd name="T4" fmla="*/ 42 w 43"/>
                <a:gd name="T5" fmla="*/ 27 h 28"/>
                <a:gd name="T6" fmla="*/ 0 w 43"/>
                <a:gd name="T7" fmla="*/ 27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27"/>
                  </a:moveTo>
                  <a:lnTo>
                    <a:pt x="42" y="0"/>
                  </a:lnTo>
                  <a:lnTo>
                    <a:pt x="42"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1" name="Freeform 5802"/>
            <p:cNvSpPr>
              <a:spLocks/>
            </p:cNvSpPr>
            <p:nvPr/>
          </p:nvSpPr>
          <p:spPr bwMode="auto">
            <a:xfrm>
              <a:off x="3031" y="2661"/>
              <a:ext cx="43" cy="28"/>
            </a:xfrm>
            <a:custGeom>
              <a:avLst/>
              <a:gdLst>
                <a:gd name="T0" fmla="*/ 0 w 43"/>
                <a:gd name="T1" fmla="*/ 0 h 28"/>
                <a:gd name="T2" fmla="*/ 42 w 43"/>
                <a:gd name="T3" fmla="*/ 0 h 28"/>
                <a:gd name="T4" fmla="*/ 0 w 43"/>
                <a:gd name="T5" fmla="*/ 27 h 28"/>
                <a:gd name="T6" fmla="*/ 0 w 43"/>
                <a:gd name="T7" fmla="*/ 0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0"/>
                  </a:moveTo>
                  <a:lnTo>
                    <a:pt x="42"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2" name="Freeform 5803"/>
            <p:cNvSpPr>
              <a:spLocks/>
            </p:cNvSpPr>
            <p:nvPr/>
          </p:nvSpPr>
          <p:spPr bwMode="auto">
            <a:xfrm>
              <a:off x="3031" y="2661"/>
              <a:ext cx="43" cy="28"/>
            </a:xfrm>
            <a:custGeom>
              <a:avLst/>
              <a:gdLst>
                <a:gd name="T0" fmla="*/ 0 w 43"/>
                <a:gd name="T1" fmla="*/ 27 h 28"/>
                <a:gd name="T2" fmla="*/ 42 w 43"/>
                <a:gd name="T3" fmla="*/ 27 h 28"/>
                <a:gd name="T4" fmla="*/ 42 w 43"/>
                <a:gd name="T5" fmla="*/ 0 h 28"/>
                <a:gd name="T6" fmla="*/ 0 w 43"/>
                <a:gd name="T7" fmla="*/ 0 h 28"/>
                <a:gd name="T8" fmla="*/ 0 w 43"/>
                <a:gd name="T9" fmla="*/ 27 h 28"/>
                <a:gd name="T10" fmla="*/ 0 w 43"/>
                <a:gd name="T11" fmla="*/ 27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0" y="27"/>
                  </a:moveTo>
                  <a:lnTo>
                    <a:pt x="42" y="27"/>
                  </a:lnTo>
                  <a:lnTo>
                    <a:pt x="42"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3" name="Line 5804"/>
            <p:cNvSpPr>
              <a:spLocks noChangeShapeType="1"/>
            </p:cNvSpPr>
            <p:nvPr/>
          </p:nvSpPr>
          <p:spPr bwMode="auto">
            <a:xfrm>
              <a:off x="2993"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4" name="Freeform 5805"/>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5" name="Line 5806"/>
            <p:cNvSpPr>
              <a:spLocks noChangeShapeType="1"/>
            </p:cNvSpPr>
            <p:nvPr/>
          </p:nvSpPr>
          <p:spPr bwMode="auto">
            <a:xfrm>
              <a:off x="2993"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6" name="Freeform 5807"/>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7" name="Line 5808"/>
            <p:cNvSpPr>
              <a:spLocks noChangeShapeType="1"/>
            </p:cNvSpPr>
            <p:nvPr/>
          </p:nvSpPr>
          <p:spPr bwMode="auto">
            <a:xfrm>
              <a:off x="2949" y="2669"/>
              <a:ext cx="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8" name="Freeform 5809"/>
            <p:cNvSpPr>
              <a:spLocks/>
            </p:cNvSpPr>
            <p:nvPr/>
          </p:nvSpPr>
          <p:spPr bwMode="auto">
            <a:xfrm>
              <a:off x="2949" y="2661"/>
              <a:ext cx="45" cy="28"/>
            </a:xfrm>
            <a:custGeom>
              <a:avLst/>
              <a:gdLst>
                <a:gd name="T0" fmla="*/ 0 w 45"/>
                <a:gd name="T1" fmla="*/ 27 h 28"/>
                <a:gd name="T2" fmla="*/ 44 w 45"/>
                <a:gd name="T3" fmla="*/ 0 h 28"/>
                <a:gd name="T4" fmla="*/ 44 w 45"/>
                <a:gd name="T5" fmla="*/ 27 h 28"/>
                <a:gd name="T6" fmla="*/ 0 w 45"/>
                <a:gd name="T7" fmla="*/ 27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27"/>
                  </a:moveTo>
                  <a:lnTo>
                    <a:pt x="44" y="0"/>
                  </a:lnTo>
                  <a:lnTo>
                    <a:pt x="44"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39" name="Freeform 5810"/>
            <p:cNvSpPr>
              <a:spLocks/>
            </p:cNvSpPr>
            <p:nvPr/>
          </p:nvSpPr>
          <p:spPr bwMode="auto">
            <a:xfrm>
              <a:off x="2949" y="2661"/>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0" name="Freeform 5811"/>
            <p:cNvSpPr>
              <a:spLocks/>
            </p:cNvSpPr>
            <p:nvPr/>
          </p:nvSpPr>
          <p:spPr bwMode="auto">
            <a:xfrm>
              <a:off x="2949" y="2661"/>
              <a:ext cx="45" cy="28"/>
            </a:xfrm>
            <a:custGeom>
              <a:avLst/>
              <a:gdLst>
                <a:gd name="T0" fmla="*/ 0 w 45"/>
                <a:gd name="T1" fmla="*/ 27 h 28"/>
                <a:gd name="T2" fmla="*/ 44 w 45"/>
                <a:gd name="T3" fmla="*/ 27 h 28"/>
                <a:gd name="T4" fmla="*/ 44 w 45"/>
                <a:gd name="T5" fmla="*/ 0 h 28"/>
                <a:gd name="T6" fmla="*/ 0 w 45"/>
                <a:gd name="T7" fmla="*/ 0 h 28"/>
                <a:gd name="T8" fmla="*/ 0 w 45"/>
                <a:gd name="T9" fmla="*/ 27 h 28"/>
                <a:gd name="T10" fmla="*/ 0 w 45"/>
                <a:gd name="T11" fmla="*/ 27 h 28"/>
                <a:gd name="T12" fmla="*/ 0 60000 65536"/>
                <a:gd name="T13" fmla="*/ 0 60000 65536"/>
                <a:gd name="T14" fmla="*/ 0 60000 65536"/>
                <a:gd name="T15" fmla="*/ 0 60000 65536"/>
                <a:gd name="T16" fmla="*/ 0 60000 65536"/>
                <a:gd name="T17" fmla="*/ 0 60000 65536"/>
                <a:gd name="T18" fmla="*/ 0 w 45"/>
                <a:gd name="T19" fmla="*/ 0 h 28"/>
                <a:gd name="T20" fmla="*/ 45 w 4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5" h="28">
                  <a:moveTo>
                    <a:pt x="0" y="27"/>
                  </a:moveTo>
                  <a:lnTo>
                    <a:pt x="44" y="27"/>
                  </a:lnTo>
                  <a:lnTo>
                    <a:pt x="44"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1" name="Line 5812"/>
            <p:cNvSpPr>
              <a:spLocks noChangeShapeType="1"/>
            </p:cNvSpPr>
            <p:nvPr/>
          </p:nvSpPr>
          <p:spPr bwMode="auto">
            <a:xfrm>
              <a:off x="2910" y="2669"/>
              <a:ext cx="3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2" name="Freeform 5813"/>
            <p:cNvSpPr>
              <a:spLocks/>
            </p:cNvSpPr>
            <p:nvPr/>
          </p:nvSpPr>
          <p:spPr bwMode="auto">
            <a:xfrm>
              <a:off x="2910" y="2661"/>
              <a:ext cx="40" cy="28"/>
            </a:xfrm>
            <a:custGeom>
              <a:avLst/>
              <a:gdLst>
                <a:gd name="T0" fmla="*/ 0 w 40"/>
                <a:gd name="T1" fmla="*/ 27 h 28"/>
                <a:gd name="T2" fmla="*/ 39 w 40"/>
                <a:gd name="T3" fmla="*/ 0 h 28"/>
                <a:gd name="T4" fmla="*/ 39 w 40"/>
                <a:gd name="T5" fmla="*/ 27 h 28"/>
                <a:gd name="T6" fmla="*/ 0 w 40"/>
                <a:gd name="T7" fmla="*/ 27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27"/>
                  </a:moveTo>
                  <a:lnTo>
                    <a:pt x="39" y="0"/>
                  </a:lnTo>
                  <a:lnTo>
                    <a:pt x="39"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3" name="Freeform 5814"/>
            <p:cNvSpPr>
              <a:spLocks/>
            </p:cNvSpPr>
            <p:nvPr/>
          </p:nvSpPr>
          <p:spPr bwMode="auto">
            <a:xfrm>
              <a:off x="2910" y="2661"/>
              <a:ext cx="40" cy="28"/>
            </a:xfrm>
            <a:custGeom>
              <a:avLst/>
              <a:gdLst>
                <a:gd name="T0" fmla="*/ 0 w 40"/>
                <a:gd name="T1" fmla="*/ 0 h 28"/>
                <a:gd name="T2" fmla="*/ 39 w 40"/>
                <a:gd name="T3" fmla="*/ 0 h 28"/>
                <a:gd name="T4" fmla="*/ 0 w 40"/>
                <a:gd name="T5" fmla="*/ 27 h 28"/>
                <a:gd name="T6" fmla="*/ 0 w 40"/>
                <a:gd name="T7" fmla="*/ 0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0"/>
                  </a:moveTo>
                  <a:lnTo>
                    <a:pt x="39"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4" name="Freeform 5815"/>
            <p:cNvSpPr>
              <a:spLocks/>
            </p:cNvSpPr>
            <p:nvPr/>
          </p:nvSpPr>
          <p:spPr bwMode="auto">
            <a:xfrm>
              <a:off x="2910" y="2661"/>
              <a:ext cx="40" cy="28"/>
            </a:xfrm>
            <a:custGeom>
              <a:avLst/>
              <a:gdLst>
                <a:gd name="T0" fmla="*/ 0 w 40"/>
                <a:gd name="T1" fmla="*/ 27 h 28"/>
                <a:gd name="T2" fmla="*/ 39 w 40"/>
                <a:gd name="T3" fmla="*/ 27 h 28"/>
                <a:gd name="T4" fmla="*/ 39 w 40"/>
                <a:gd name="T5" fmla="*/ 0 h 28"/>
                <a:gd name="T6" fmla="*/ 0 w 40"/>
                <a:gd name="T7" fmla="*/ 0 h 28"/>
                <a:gd name="T8" fmla="*/ 0 w 40"/>
                <a:gd name="T9" fmla="*/ 27 h 28"/>
                <a:gd name="T10" fmla="*/ 0 w 40"/>
                <a:gd name="T11" fmla="*/ 27 h 28"/>
                <a:gd name="T12" fmla="*/ 0 60000 65536"/>
                <a:gd name="T13" fmla="*/ 0 60000 65536"/>
                <a:gd name="T14" fmla="*/ 0 60000 65536"/>
                <a:gd name="T15" fmla="*/ 0 60000 65536"/>
                <a:gd name="T16" fmla="*/ 0 60000 65536"/>
                <a:gd name="T17" fmla="*/ 0 60000 65536"/>
                <a:gd name="T18" fmla="*/ 0 w 40"/>
                <a:gd name="T19" fmla="*/ 0 h 28"/>
                <a:gd name="T20" fmla="*/ 40 w 4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0" h="28">
                  <a:moveTo>
                    <a:pt x="0" y="27"/>
                  </a:moveTo>
                  <a:lnTo>
                    <a:pt x="39" y="27"/>
                  </a:lnTo>
                  <a:lnTo>
                    <a:pt x="39"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5" name="Line 5816"/>
            <p:cNvSpPr>
              <a:spLocks noChangeShapeType="1"/>
            </p:cNvSpPr>
            <p:nvPr/>
          </p:nvSpPr>
          <p:spPr bwMode="auto">
            <a:xfrm>
              <a:off x="2869"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6" name="Freeform 5817"/>
            <p:cNvSpPr>
              <a:spLocks/>
            </p:cNvSpPr>
            <p:nvPr/>
          </p:nvSpPr>
          <p:spPr bwMode="auto">
            <a:xfrm>
              <a:off x="2869"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7" name="Freeform 5818"/>
            <p:cNvSpPr>
              <a:spLocks/>
            </p:cNvSpPr>
            <p:nvPr/>
          </p:nvSpPr>
          <p:spPr bwMode="auto">
            <a:xfrm>
              <a:off x="2869"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8" name="Freeform 5819"/>
            <p:cNvSpPr>
              <a:spLocks/>
            </p:cNvSpPr>
            <p:nvPr/>
          </p:nvSpPr>
          <p:spPr bwMode="auto">
            <a:xfrm>
              <a:off x="2869"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49" name="Line 5820"/>
            <p:cNvSpPr>
              <a:spLocks noChangeShapeType="1"/>
            </p:cNvSpPr>
            <p:nvPr/>
          </p:nvSpPr>
          <p:spPr bwMode="auto">
            <a:xfrm>
              <a:off x="2832"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0" name="Freeform 5821"/>
            <p:cNvSpPr>
              <a:spLocks/>
            </p:cNvSpPr>
            <p:nvPr/>
          </p:nvSpPr>
          <p:spPr bwMode="auto">
            <a:xfrm>
              <a:off x="2832" y="2653"/>
              <a:ext cx="38" cy="28"/>
            </a:xfrm>
            <a:custGeom>
              <a:avLst/>
              <a:gdLst>
                <a:gd name="T0" fmla="*/ 0 w 38"/>
                <a:gd name="T1" fmla="*/ 27 h 28"/>
                <a:gd name="T2" fmla="*/ 37 w 38"/>
                <a:gd name="T3" fmla="*/ 0 h 28"/>
                <a:gd name="T4" fmla="*/ 37 w 38"/>
                <a:gd name="T5" fmla="*/ 27 h 28"/>
                <a:gd name="T6" fmla="*/ 0 w 38"/>
                <a:gd name="T7" fmla="*/ 27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27"/>
                  </a:moveTo>
                  <a:lnTo>
                    <a:pt x="37" y="0"/>
                  </a:lnTo>
                  <a:lnTo>
                    <a:pt x="37"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1" name="Freeform 5822"/>
            <p:cNvSpPr>
              <a:spLocks/>
            </p:cNvSpPr>
            <p:nvPr/>
          </p:nvSpPr>
          <p:spPr bwMode="auto">
            <a:xfrm>
              <a:off x="2832" y="2653"/>
              <a:ext cx="38" cy="28"/>
            </a:xfrm>
            <a:custGeom>
              <a:avLst/>
              <a:gdLst>
                <a:gd name="T0" fmla="*/ 0 w 38"/>
                <a:gd name="T1" fmla="*/ 0 h 28"/>
                <a:gd name="T2" fmla="*/ 37 w 38"/>
                <a:gd name="T3" fmla="*/ 0 h 28"/>
                <a:gd name="T4" fmla="*/ 0 w 38"/>
                <a:gd name="T5" fmla="*/ 27 h 28"/>
                <a:gd name="T6" fmla="*/ 0 w 38"/>
                <a:gd name="T7" fmla="*/ 0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0"/>
                  </a:moveTo>
                  <a:lnTo>
                    <a:pt x="37"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2" name="Freeform 5823"/>
            <p:cNvSpPr>
              <a:spLocks/>
            </p:cNvSpPr>
            <p:nvPr/>
          </p:nvSpPr>
          <p:spPr bwMode="auto">
            <a:xfrm>
              <a:off x="2832" y="2653"/>
              <a:ext cx="38" cy="28"/>
            </a:xfrm>
            <a:custGeom>
              <a:avLst/>
              <a:gdLst>
                <a:gd name="T0" fmla="*/ 0 w 38"/>
                <a:gd name="T1" fmla="*/ 27 h 28"/>
                <a:gd name="T2" fmla="*/ 37 w 38"/>
                <a:gd name="T3" fmla="*/ 27 h 28"/>
                <a:gd name="T4" fmla="*/ 37 w 38"/>
                <a:gd name="T5" fmla="*/ 0 h 28"/>
                <a:gd name="T6" fmla="*/ 0 w 38"/>
                <a:gd name="T7" fmla="*/ 0 h 28"/>
                <a:gd name="T8" fmla="*/ 0 w 38"/>
                <a:gd name="T9" fmla="*/ 27 h 28"/>
                <a:gd name="T10" fmla="*/ 0 w 38"/>
                <a:gd name="T11" fmla="*/ 27 h 28"/>
                <a:gd name="T12" fmla="*/ 0 60000 65536"/>
                <a:gd name="T13" fmla="*/ 0 60000 65536"/>
                <a:gd name="T14" fmla="*/ 0 60000 65536"/>
                <a:gd name="T15" fmla="*/ 0 60000 65536"/>
                <a:gd name="T16" fmla="*/ 0 60000 65536"/>
                <a:gd name="T17" fmla="*/ 0 60000 65536"/>
                <a:gd name="T18" fmla="*/ 0 w 38"/>
                <a:gd name="T19" fmla="*/ 0 h 28"/>
                <a:gd name="T20" fmla="*/ 38 w 3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8" h="28">
                  <a:moveTo>
                    <a:pt x="0" y="27"/>
                  </a:moveTo>
                  <a:lnTo>
                    <a:pt x="37" y="27"/>
                  </a:lnTo>
                  <a:lnTo>
                    <a:pt x="37"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3" name="Line 5824"/>
            <p:cNvSpPr>
              <a:spLocks noChangeShapeType="1"/>
            </p:cNvSpPr>
            <p:nvPr/>
          </p:nvSpPr>
          <p:spPr bwMode="auto">
            <a:xfrm>
              <a:off x="2786"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4" name="Freeform 5825"/>
            <p:cNvSpPr>
              <a:spLocks/>
            </p:cNvSpPr>
            <p:nvPr/>
          </p:nvSpPr>
          <p:spPr bwMode="auto">
            <a:xfrm>
              <a:off x="2786" y="2647"/>
              <a:ext cx="47" cy="28"/>
            </a:xfrm>
            <a:custGeom>
              <a:avLst/>
              <a:gdLst>
                <a:gd name="T0" fmla="*/ 0 w 47"/>
                <a:gd name="T1" fmla="*/ 27 h 28"/>
                <a:gd name="T2" fmla="*/ 46 w 47"/>
                <a:gd name="T3" fmla="*/ 0 h 28"/>
                <a:gd name="T4" fmla="*/ 46 w 47"/>
                <a:gd name="T5" fmla="*/ 27 h 28"/>
                <a:gd name="T6" fmla="*/ 0 w 47"/>
                <a:gd name="T7" fmla="*/ 27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27"/>
                  </a:moveTo>
                  <a:lnTo>
                    <a:pt x="46" y="0"/>
                  </a:lnTo>
                  <a:lnTo>
                    <a:pt x="46"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5" name="Freeform 5826"/>
            <p:cNvSpPr>
              <a:spLocks/>
            </p:cNvSpPr>
            <p:nvPr/>
          </p:nvSpPr>
          <p:spPr bwMode="auto">
            <a:xfrm>
              <a:off x="2786" y="2647"/>
              <a:ext cx="47" cy="28"/>
            </a:xfrm>
            <a:custGeom>
              <a:avLst/>
              <a:gdLst>
                <a:gd name="T0" fmla="*/ 0 w 47"/>
                <a:gd name="T1" fmla="*/ 0 h 28"/>
                <a:gd name="T2" fmla="*/ 46 w 47"/>
                <a:gd name="T3" fmla="*/ 0 h 28"/>
                <a:gd name="T4" fmla="*/ 0 w 47"/>
                <a:gd name="T5" fmla="*/ 27 h 28"/>
                <a:gd name="T6" fmla="*/ 0 w 47"/>
                <a:gd name="T7" fmla="*/ 0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0"/>
                  </a:moveTo>
                  <a:lnTo>
                    <a:pt x="46"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6" name="Freeform 5827"/>
            <p:cNvSpPr>
              <a:spLocks/>
            </p:cNvSpPr>
            <p:nvPr/>
          </p:nvSpPr>
          <p:spPr bwMode="auto">
            <a:xfrm>
              <a:off x="2786" y="2647"/>
              <a:ext cx="47" cy="28"/>
            </a:xfrm>
            <a:custGeom>
              <a:avLst/>
              <a:gdLst>
                <a:gd name="T0" fmla="*/ 0 w 47"/>
                <a:gd name="T1" fmla="*/ 27 h 28"/>
                <a:gd name="T2" fmla="*/ 46 w 47"/>
                <a:gd name="T3" fmla="*/ 27 h 28"/>
                <a:gd name="T4" fmla="*/ 46 w 47"/>
                <a:gd name="T5" fmla="*/ 0 h 28"/>
                <a:gd name="T6" fmla="*/ 0 w 47"/>
                <a:gd name="T7" fmla="*/ 0 h 28"/>
                <a:gd name="T8" fmla="*/ 0 w 47"/>
                <a:gd name="T9" fmla="*/ 27 h 28"/>
                <a:gd name="T10" fmla="*/ 0 w 47"/>
                <a:gd name="T11" fmla="*/ 27 h 28"/>
                <a:gd name="T12" fmla="*/ 0 60000 65536"/>
                <a:gd name="T13" fmla="*/ 0 60000 65536"/>
                <a:gd name="T14" fmla="*/ 0 60000 65536"/>
                <a:gd name="T15" fmla="*/ 0 60000 65536"/>
                <a:gd name="T16" fmla="*/ 0 60000 65536"/>
                <a:gd name="T17" fmla="*/ 0 60000 65536"/>
                <a:gd name="T18" fmla="*/ 0 w 47"/>
                <a:gd name="T19" fmla="*/ 0 h 28"/>
                <a:gd name="T20" fmla="*/ 47 w 4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7" h="28">
                  <a:moveTo>
                    <a:pt x="0" y="27"/>
                  </a:moveTo>
                  <a:lnTo>
                    <a:pt x="46" y="27"/>
                  </a:lnTo>
                  <a:lnTo>
                    <a:pt x="46"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7" name="Line 5828"/>
            <p:cNvSpPr>
              <a:spLocks noChangeShapeType="1"/>
            </p:cNvSpPr>
            <p:nvPr/>
          </p:nvSpPr>
          <p:spPr bwMode="auto">
            <a:xfrm>
              <a:off x="2752" y="2669"/>
              <a:ext cx="3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8" name="Freeform 5829"/>
            <p:cNvSpPr>
              <a:spLocks/>
            </p:cNvSpPr>
            <p:nvPr/>
          </p:nvSpPr>
          <p:spPr bwMode="auto">
            <a:xfrm>
              <a:off x="2752" y="2632"/>
              <a:ext cx="35" cy="38"/>
            </a:xfrm>
            <a:custGeom>
              <a:avLst/>
              <a:gdLst>
                <a:gd name="T0" fmla="*/ 0 w 35"/>
                <a:gd name="T1" fmla="*/ 37 h 38"/>
                <a:gd name="T2" fmla="*/ 34 w 35"/>
                <a:gd name="T3" fmla="*/ 0 h 38"/>
                <a:gd name="T4" fmla="*/ 34 w 35"/>
                <a:gd name="T5" fmla="*/ 37 h 38"/>
                <a:gd name="T6" fmla="*/ 0 w 35"/>
                <a:gd name="T7" fmla="*/ 37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37"/>
                  </a:moveTo>
                  <a:lnTo>
                    <a:pt x="34" y="0"/>
                  </a:lnTo>
                  <a:lnTo>
                    <a:pt x="34" y="37"/>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59" name="Freeform 5830"/>
            <p:cNvSpPr>
              <a:spLocks/>
            </p:cNvSpPr>
            <p:nvPr/>
          </p:nvSpPr>
          <p:spPr bwMode="auto">
            <a:xfrm>
              <a:off x="2752" y="2632"/>
              <a:ext cx="35" cy="38"/>
            </a:xfrm>
            <a:custGeom>
              <a:avLst/>
              <a:gdLst>
                <a:gd name="T0" fmla="*/ 0 w 35"/>
                <a:gd name="T1" fmla="*/ 0 h 38"/>
                <a:gd name="T2" fmla="*/ 34 w 35"/>
                <a:gd name="T3" fmla="*/ 0 h 38"/>
                <a:gd name="T4" fmla="*/ 0 w 35"/>
                <a:gd name="T5" fmla="*/ 37 h 38"/>
                <a:gd name="T6" fmla="*/ 0 w 35"/>
                <a:gd name="T7" fmla="*/ 0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0"/>
                  </a:moveTo>
                  <a:lnTo>
                    <a:pt x="34" y="0"/>
                  </a:lnTo>
                  <a:lnTo>
                    <a:pt x="0" y="3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0" name="Freeform 5831"/>
            <p:cNvSpPr>
              <a:spLocks/>
            </p:cNvSpPr>
            <p:nvPr/>
          </p:nvSpPr>
          <p:spPr bwMode="auto">
            <a:xfrm>
              <a:off x="2752" y="2632"/>
              <a:ext cx="35" cy="38"/>
            </a:xfrm>
            <a:custGeom>
              <a:avLst/>
              <a:gdLst>
                <a:gd name="T0" fmla="*/ 0 w 35"/>
                <a:gd name="T1" fmla="*/ 37 h 38"/>
                <a:gd name="T2" fmla="*/ 34 w 35"/>
                <a:gd name="T3" fmla="*/ 37 h 38"/>
                <a:gd name="T4" fmla="*/ 34 w 35"/>
                <a:gd name="T5" fmla="*/ 0 h 38"/>
                <a:gd name="T6" fmla="*/ 0 w 35"/>
                <a:gd name="T7" fmla="*/ 0 h 38"/>
                <a:gd name="T8" fmla="*/ 0 w 35"/>
                <a:gd name="T9" fmla="*/ 37 h 38"/>
                <a:gd name="T10" fmla="*/ 0 w 35"/>
                <a:gd name="T11" fmla="*/ 37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0" y="37"/>
                  </a:moveTo>
                  <a:lnTo>
                    <a:pt x="34" y="37"/>
                  </a:lnTo>
                  <a:lnTo>
                    <a:pt x="34" y="0"/>
                  </a:lnTo>
                  <a:lnTo>
                    <a:pt x="0" y="0"/>
                  </a:lnTo>
                  <a:lnTo>
                    <a:pt x="0" y="3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1" name="Line 5832"/>
            <p:cNvSpPr>
              <a:spLocks noChangeShapeType="1"/>
            </p:cNvSpPr>
            <p:nvPr/>
          </p:nvSpPr>
          <p:spPr bwMode="auto">
            <a:xfrm>
              <a:off x="2707"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2" name="Line 5833"/>
            <p:cNvSpPr>
              <a:spLocks noChangeShapeType="1"/>
            </p:cNvSpPr>
            <p:nvPr/>
          </p:nvSpPr>
          <p:spPr bwMode="auto">
            <a:xfrm>
              <a:off x="2628"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3" name="Line 5834"/>
            <p:cNvSpPr>
              <a:spLocks noChangeShapeType="1"/>
            </p:cNvSpPr>
            <p:nvPr/>
          </p:nvSpPr>
          <p:spPr bwMode="auto">
            <a:xfrm>
              <a:off x="2583"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4" name="Line 5835"/>
            <p:cNvSpPr>
              <a:spLocks noChangeShapeType="1"/>
            </p:cNvSpPr>
            <p:nvPr/>
          </p:nvSpPr>
          <p:spPr bwMode="auto">
            <a:xfrm>
              <a:off x="2503"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5" name="Line 5836"/>
            <p:cNvSpPr>
              <a:spLocks noChangeShapeType="1"/>
            </p:cNvSpPr>
            <p:nvPr/>
          </p:nvSpPr>
          <p:spPr bwMode="auto">
            <a:xfrm>
              <a:off x="2469" y="2669"/>
              <a:ext cx="3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6" name="Line 5837"/>
            <p:cNvSpPr>
              <a:spLocks noChangeShapeType="1"/>
            </p:cNvSpPr>
            <p:nvPr/>
          </p:nvSpPr>
          <p:spPr bwMode="auto">
            <a:xfrm>
              <a:off x="2423"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7" name="Line 5838"/>
            <p:cNvSpPr>
              <a:spLocks noChangeShapeType="1"/>
            </p:cNvSpPr>
            <p:nvPr/>
          </p:nvSpPr>
          <p:spPr bwMode="auto">
            <a:xfrm>
              <a:off x="2378"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8" name="Line 5839"/>
            <p:cNvSpPr>
              <a:spLocks noChangeShapeType="1"/>
            </p:cNvSpPr>
            <p:nvPr/>
          </p:nvSpPr>
          <p:spPr bwMode="auto">
            <a:xfrm>
              <a:off x="2341"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69" name="Line 5840"/>
            <p:cNvSpPr>
              <a:spLocks noChangeShapeType="1"/>
            </p:cNvSpPr>
            <p:nvPr/>
          </p:nvSpPr>
          <p:spPr bwMode="auto">
            <a:xfrm>
              <a:off x="2299"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0" name="Line 5841"/>
            <p:cNvSpPr>
              <a:spLocks noChangeShapeType="1"/>
            </p:cNvSpPr>
            <p:nvPr/>
          </p:nvSpPr>
          <p:spPr bwMode="auto">
            <a:xfrm>
              <a:off x="2262"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1" name="Line 5842"/>
            <p:cNvSpPr>
              <a:spLocks noChangeShapeType="1"/>
            </p:cNvSpPr>
            <p:nvPr/>
          </p:nvSpPr>
          <p:spPr bwMode="auto">
            <a:xfrm>
              <a:off x="2216"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2" name="Line 5843"/>
            <p:cNvSpPr>
              <a:spLocks noChangeShapeType="1"/>
            </p:cNvSpPr>
            <p:nvPr/>
          </p:nvSpPr>
          <p:spPr bwMode="auto">
            <a:xfrm>
              <a:off x="2184" y="2669"/>
              <a:ext cx="3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3" name="Line 5844"/>
            <p:cNvSpPr>
              <a:spLocks noChangeShapeType="1"/>
            </p:cNvSpPr>
            <p:nvPr/>
          </p:nvSpPr>
          <p:spPr bwMode="auto">
            <a:xfrm>
              <a:off x="2137" y="2669"/>
              <a:ext cx="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4" name="Line 5845"/>
            <p:cNvSpPr>
              <a:spLocks noChangeShapeType="1"/>
            </p:cNvSpPr>
            <p:nvPr/>
          </p:nvSpPr>
          <p:spPr bwMode="auto">
            <a:xfrm>
              <a:off x="209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5" name="Line 5846"/>
            <p:cNvSpPr>
              <a:spLocks noChangeShapeType="1"/>
            </p:cNvSpPr>
            <p:nvPr/>
          </p:nvSpPr>
          <p:spPr bwMode="auto">
            <a:xfrm>
              <a:off x="2058"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6" name="Line 5847"/>
            <p:cNvSpPr>
              <a:spLocks noChangeShapeType="1"/>
            </p:cNvSpPr>
            <p:nvPr/>
          </p:nvSpPr>
          <p:spPr bwMode="auto">
            <a:xfrm>
              <a:off x="2013" y="2669"/>
              <a:ext cx="4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7" name="Line 5848"/>
            <p:cNvSpPr>
              <a:spLocks noChangeShapeType="1"/>
            </p:cNvSpPr>
            <p:nvPr/>
          </p:nvSpPr>
          <p:spPr bwMode="auto">
            <a:xfrm>
              <a:off x="1978" y="2669"/>
              <a:ext cx="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8" name="Line 5849"/>
            <p:cNvSpPr>
              <a:spLocks noChangeShapeType="1"/>
            </p:cNvSpPr>
            <p:nvPr/>
          </p:nvSpPr>
          <p:spPr bwMode="auto">
            <a:xfrm>
              <a:off x="1937"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79" name="Line 5850"/>
            <p:cNvSpPr>
              <a:spLocks noChangeShapeType="1"/>
            </p:cNvSpPr>
            <p:nvPr/>
          </p:nvSpPr>
          <p:spPr bwMode="auto">
            <a:xfrm>
              <a:off x="189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0" name="Line 5851"/>
            <p:cNvSpPr>
              <a:spLocks noChangeShapeType="1"/>
            </p:cNvSpPr>
            <p:nvPr/>
          </p:nvSpPr>
          <p:spPr bwMode="auto">
            <a:xfrm>
              <a:off x="1853" y="2669"/>
              <a:ext cx="4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1" name="Line 5852"/>
            <p:cNvSpPr>
              <a:spLocks noChangeShapeType="1"/>
            </p:cNvSpPr>
            <p:nvPr/>
          </p:nvSpPr>
          <p:spPr bwMode="auto">
            <a:xfrm>
              <a:off x="1815"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2" name="Line 5853"/>
            <p:cNvSpPr>
              <a:spLocks noChangeShapeType="1"/>
            </p:cNvSpPr>
            <p:nvPr/>
          </p:nvSpPr>
          <p:spPr bwMode="auto">
            <a:xfrm>
              <a:off x="1774"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3" name="Line 5854"/>
            <p:cNvSpPr>
              <a:spLocks noChangeShapeType="1"/>
            </p:cNvSpPr>
            <p:nvPr/>
          </p:nvSpPr>
          <p:spPr bwMode="auto">
            <a:xfrm>
              <a:off x="1736"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4" name="Line 5855"/>
            <p:cNvSpPr>
              <a:spLocks noChangeShapeType="1"/>
            </p:cNvSpPr>
            <p:nvPr/>
          </p:nvSpPr>
          <p:spPr bwMode="auto">
            <a:xfrm>
              <a:off x="1692" y="2669"/>
              <a:ext cx="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5" name="Freeform 5856"/>
            <p:cNvSpPr>
              <a:spLocks/>
            </p:cNvSpPr>
            <p:nvPr/>
          </p:nvSpPr>
          <p:spPr bwMode="auto">
            <a:xfrm>
              <a:off x="1692" y="2653"/>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6" name="Line 5857"/>
            <p:cNvSpPr>
              <a:spLocks noChangeShapeType="1"/>
            </p:cNvSpPr>
            <p:nvPr/>
          </p:nvSpPr>
          <p:spPr bwMode="auto">
            <a:xfrm>
              <a:off x="1651"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7" name="Freeform 5858"/>
            <p:cNvSpPr>
              <a:spLocks/>
            </p:cNvSpPr>
            <p:nvPr/>
          </p:nvSpPr>
          <p:spPr bwMode="auto">
            <a:xfrm>
              <a:off x="1651"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8" name="Freeform 5859"/>
            <p:cNvSpPr>
              <a:spLocks/>
            </p:cNvSpPr>
            <p:nvPr/>
          </p:nvSpPr>
          <p:spPr bwMode="auto">
            <a:xfrm>
              <a:off x="1651"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89" name="Freeform 5860"/>
            <p:cNvSpPr>
              <a:spLocks/>
            </p:cNvSpPr>
            <p:nvPr/>
          </p:nvSpPr>
          <p:spPr bwMode="auto">
            <a:xfrm>
              <a:off x="1651"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0" name="Line 5861"/>
            <p:cNvSpPr>
              <a:spLocks noChangeShapeType="1"/>
            </p:cNvSpPr>
            <p:nvPr/>
          </p:nvSpPr>
          <p:spPr bwMode="auto">
            <a:xfrm>
              <a:off x="1615" y="2669"/>
              <a:ext cx="3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1" name="Freeform 5862"/>
            <p:cNvSpPr>
              <a:spLocks/>
            </p:cNvSpPr>
            <p:nvPr/>
          </p:nvSpPr>
          <p:spPr bwMode="auto">
            <a:xfrm>
              <a:off x="1615" y="2661"/>
              <a:ext cx="37" cy="28"/>
            </a:xfrm>
            <a:custGeom>
              <a:avLst/>
              <a:gdLst>
                <a:gd name="T0" fmla="*/ 0 w 37"/>
                <a:gd name="T1" fmla="*/ 27 h 28"/>
                <a:gd name="T2" fmla="*/ 36 w 37"/>
                <a:gd name="T3" fmla="*/ 0 h 28"/>
                <a:gd name="T4" fmla="*/ 36 w 37"/>
                <a:gd name="T5" fmla="*/ 27 h 28"/>
                <a:gd name="T6" fmla="*/ 0 w 37"/>
                <a:gd name="T7" fmla="*/ 27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27"/>
                  </a:moveTo>
                  <a:lnTo>
                    <a:pt x="36" y="0"/>
                  </a:lnTo>
                  <a:lnTo>
                    <a:pt x="36"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2" name="Freeform 5863"/>
            <p:cNvSpPr>
              <a:spLocks/>
            </p:cNvSpPr>
            <p:nvPr/>
          </p:nvSpPr>
          <p:spPr bwMode="auto">
            <a:xfrm>
              <a:off x="1615" y="2661"/>
              <a:ext cx="37" cy="28"/>
            </a:xfrm>
            <a:custGeom>
              <a:avLst/>
              <a:gdLst>
                <a:gd name="T0" fmla="*/ 0 w 37"/>
                <a:gd name="T1" fmla="*/ 0 h 28"/>
                <a:gd name="T2" fmla="*/ 36 w 37"/>
                <a:gd name="T3" fmla="*/ 0 h 28"/>
                <a:gd name="T4" fmla="*/ 0 w 37"/>
                <a:gd name="T5" fmla="*/ 27 h 28"/>
                <a:gd name="T6" fmla="*/ 0 w 37"/>
                <a:gd name="T7" fmla="*/ 0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0"/>
                  </a:moveTo>
                  <a:lnTo>
                    <a:pt x="36"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3" name="Freeform 5864"/>
            <p:cNvSpPr>
              <a:spLocks/>
            </p:cNvSpPr>
            <p:nvPr/>
          </p:nvSpPr>
          <p:spPr bwMode="auto">
            <a:xfrm>
              <a:off x="1615" y="2661"/>
              <a:ext cx="37" cy="28"/>
            </a:xfrm>
            <a:custGeom>
              <a:avLst/>
              <a:gdLst>
                <a:gd name="T0" fmla="*/ 0 w 37"/>
                <a:gd name="T1" fmla="*/ 27 h 28"/>
                <a:gd name="T2" fmla="*/ 36 w 37"/>
                <a:gd name="T3" fmla="*/ 27 h 28"/>
                <a:gd name="T4" fmla="*/ 36 w 37"/>
                <a:gd name="T5" fmla="*/ 0 h 28"/>
                <a:gd name="T6" fmla="*/ 0 w 37"/>
                <a:gd name="T7" fmla="*/ 0 h 28"/>
                <a:gd name="T8" fmla="*/ 0 w 37"/>
                <a:gd name="T9" fmla="*/ 27 h 28"/>
                <a:gd name="T10" fmla="*/ 0 w 37"/>
                <a:gd name="T11" fmla="*/ 27 h 28"/>
                <a:gd name="T12" fmla="*/ 0 60000 65536"/>
                <a:gd name="T13" fmla="*/ 0 60000 65536"/>
                <a:gd name="T14" fmla="*/ 0 60000 65536"/>
                <a:gd name="T15" fmla="*/ 0 60000 65536"/>
                <a:gd name="T16" fmla="*/ 0 60000 65536"/>
                <a:gd name="T17" fmla="*/ 0 60000 65536"/>
                <a:gd name="T18" fmla="*/ 0 w 37"/>
                <a:gd name="T19" fmla="*/ 0 h 28"/>
                <a:gd name="T20" fmla="*/ 37 w 3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7" h="28">
                  <a:moveTo>
                    <a:pt x="0" y="27"/>
                  </a:moveTo>
                  <a:lnTo>
                    <a:pt x="36" y="27"/>
                  </a:lnTo>
                  <a:lnTo>
                    <a:pt x="36"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4" name="Line 5865"/>
            <p:cNvSpPr>
              <a:spLocks noChangeShapeType="1"/>
            </p:cNvSpPr>
            <p:nvPr/>
          </p:nvSpPr>
          <p:spPr bwMode="auto">
            <a:xfrm>
              <a:off x="1568" y="2669"/>
              <a:ext cx="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5" name="Freeform 5866"/>
            <p:cNvSpPr>
              <a:spLocks/>
            </p:cNvSpPr>
            <p:nvPr/>
          </p:nvSpPr>
          <p:spPr bwMode="auto">
            <a:xfrm>
              <a:off x="1568" y="2661"/>
              <a:ext cx="48" cy="28"/>
            </a:xfrm>
            <a:custGeom>
              <a:avLst/>
              <a:gdLst>
                <a:gd name="T0" fmla="*/ 0 w 48"/>
                <a:gd name="T1" fmla="*/ 27 h 28"/>
                <a:gd name="T2" fmla="*/ 47 w 48"/>
                <a:gd name="T3" fmla="*/ 0 h 28"/>
                <a:gd name="T4" fmla="*/ 47 w 48"/>
                <a:gd name="T5" fmla="*/ 27 h 28"/>
                <a:gd name="T6" fmla="*/ 0 w 48"/>
                <a:gd name="T7" fmla="*/ 27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27"/>
                  </a:moveTo>
                  <a:lnTo>
                    <a:pt x="47" y="0"/>
                  </a:lnTo>
                  <a:lnTo>
                    <a:pt x="47"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6" name="Freeform 5867"/>
            <p:cNvSpPr>
              <a:spLocks/>
            </p:cNvSpPr>
            <p:nvPr/>
          </p:nvSpPr>
          <p:spPr bwMode="auto">
            <a:xfrm>
              <a:off x="1568" y="2661"/>
              <a:ext cx="48" cy="28"/>
            </a:xfrm>
            <a:custGeom>
              <a:avLst/>
              <a:gdLst>
                <a:gd name="T0" fmla="*/ 0 w 48"/>
                <a:gd name="T1" fmla="*/ 0 h 28"/>
                <a:gd name="T2" fmla="*/ 47 w 48"/>
                <a:gd name="T3" fmla="*/ 0 h 28"/>
                <a:gd name="T4" fmla="*/ 0 w 48"/>
                <a:gd name="T5" fmla="*/ 27 h 28"/>
                <a:gd name="T6" fmla="*/ 0 w 48"/>
                <a:gd name="T7" fmla="*/ 0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0"/>
                  </a:moveTo>
                  <a:lnTo>
                    <a:pt x="47"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7" name="Freeform 5868"/>
            <p:cNvSpPr>
              <a:spLocks/>
            </p:cNvSpPr>
            <p:nvPr/>
          </p:nvSpPr>
          <p:spPr bwMode="auto">
            <a:xfrm>
              <a:off x="1568" y="2661"/>
              <a:ext cx="48" cy="28"/>
            </a:xfrm>
            <a:custGeom>
              <a:avLst/>
              <a:gdLst>
                <a:gd name="T0" fmla="*/ 0 w 48"/>
                <a:gd name="T1" fmla="*/ 27 h 28"/>
                <a:gd name="T2" fmla="*/ 47 w 48"/>
                <a:gd name="T3" fmla="*/ 27 h 28"/>
                <a:gd name="T4" fmla="*/ 47 w 48"/>
                <a:gd name="T5" fmla="*/ 0 h 28"/>
                <a:gd name="T6" fmla="*/ 0 w 48"/>
                <a:gd name="T7" fmla="*/ 0 h 28"/>
                <a:gd name="T8" fmla="*/ 0 w 48"/>
                <a:gd name="T9" fmla="*/ 27 h 28"/>
                <a:gd name="T10" fmla="*/ 0 w 48"/>
                <a:gd name="T11" fmla="*/ 27 h 28"/>
                <a:gd name="T12" fmla="*/ 0 60000 65536"/>
                <a:gd name="T13" fmla="*/ 0 60000 65536"/>
                <a:gd name="T14" fmla="*/ 0 60000 65536"/>
                <a:gd name="T15" fmla="*/ 0 60000 65536"/>
                <a:gd name="T16" fmla="*/ 0 60000 65536"/>
                <a:gd name="T17" fmla="*/ 0 60000 65536"/>
                <a:gd name="T18" fmla="*/ 0 w 48"/>
                <a:gd name="T19" fmla="*/ 0 h 28"/>
                <a:gd name="T20" fmla="*/ 48 w 4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8" h="28">
                  <a:moveTo>
                    <a:pt x="0" y="27"/>
                  </a:moveTo>
                  <a:lnTo>
                    <a:pt x="47" y="27"/>
                  </a:lnTo>
                  <a:lnTo>
                    <a:pt x="47"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8" name="Line 5869"/>
            <p:cNvSpPr>
              <a:spLocks noChangeShapeType="1"/>
            </p:cNvSpPr>
            <p:nvPr/>
          </p:nvSpPr>
          <p:spPr bwMode="auto">
            <a:xfrm>
              <a:off x="1530"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99" name="Freeform 5870"/>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0" name="Line 5871"/>
            <p:cNvSpPr>
              <a:spLocks noChangeShapeType="1"/>
            </p:cNvSpPr>
            <p:nvPr/>
          </p:nvSpPr>
          <p:spPr bwMode="auto">
            <a:xfrm>
              <a:off x="1530"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1" name="Freeform 5872"/>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2" name="Line 5873"/>
            <p:cNvSpPr>
              <a:spLocks noChangeShapeType="1"/>
            </p:cNvSpPr>
            <p:nvPr/>
          </p:nvSpPr>
          <p:spPr bwMode="auto">
            <a:xfrm>
              <a:off x="149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3" name="Freeform 5874"/>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4" name="Line 5875"/>
            <p:cNvSpPr>
              <a:spLocks noChangeShapeType="1"/>
            </p:cNvSpPr>
            <p:nvPr/>
          </p:nvSpPr>
          <p:spPr bwMode="auto">
            <a:xfrm>
              <a:off x="149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5" name="Freeform 5876"/>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6" name="Line 5877"/>
            <p:cNvSpPr>
              <a:spLocks noChangeShapeType="1"/>
            </p:cNvSpPr>
            <p:nvPr/>
          </p:nvSpPr>
          <p:spPr bwMode="auto">
            <a:xfrm>
              <a:off x="145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7" name="Freeform 5878"/>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8" name="Line 5879"/>
            <p:cNvSpPr>
              <a:spLocks noChangeShapeType="1"/>
            </p:cNvSpPr>
            <p:nvPr/>
          </p:nvSpPr>
          <p:spPr bwMode="auto">
            <a:xfrm>
              <a:off x="1450" y="2669"/>
              <a:ext cx="4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09" name="Freeform 5880"/>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0" name="Line 5881"/>
            <p:cNvSpPr>
              <a:spLocks noChangeShapeType="1"/>
            </p:cNvSpPr>
            <p:nvPr/>
          </p:nvSpPr>
          <p:spPr bwMode="auto">
            <a:xfrm>
              <a:off x="1409" y="2669"/>
              <a:ext cx="4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1" name="Freeform 5882"/>
            <p:cNvSpPr>
              <a:spLocks/>
            </p:cNvSpPr>
            <p:nvPr/>
          </p:nvSpPr>
          <p:spPr bwMode="auto">
            <a:xfrm>
              <a:off x="1409" y="2661"/>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2" name="Freeform 5883"/>
            <p:cNvSpPr>
              <a:spLocks/>
            </p:cNvSpPr>
            <p:nvPr/>
          </p:nvSpPr>
          <p:spPr bwMode="auto">
            <a:xfrm>
              <a:off x="1409" y="2661"/>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3" name="Freeform 5884"/>
            <p:cNvSpPr>
              <a:spLocks/>
            </p:cNvSpPr>
            <p:nvPr/>
          </p:nvSpPr>
          <p:spPr bwMode="auto">
            <a:xfrm>
              <a:off x="1409" y="2661"/>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4" name="Line 5885"/>
            <p:cNvSpPr>
              <a:spLocks noChangeShapeType="1"/>
            </p:cNvSpPr>
            <p:nvPr/>
          </p:nvSpPr>
          <p:spPr bwMode="auto">
            <a:xfrm>
              <a:off x="1367"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5" name="Freeform 5886"/>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60000 65536"/>
                <a:gd name="T9" fmla="*/ 0 60000 65536"/>
                <a:gd name="T10" fmla="*/ 0 60000 65536"/>
                <a:gd name="T11" fmla="*/ 0 60000 65536"/>
                <a:gd name="T12" fmla="*/ 0 w 43"/>
                <a:gd name="T13" fmla="*/ 0 h 1"/>
                <a:gd name="T14" fmla="*/ 43 w 43"/>
                <a:gd name="T15" fmla="*/ 1 h 1"/>
              </a:gdLst>
              <a:ahLst/>
              <a:cxnLst>
                <a:cxn ang="T8">
                  <a:pos x="T0" y="T1"/>
                </a:cxn>
                <a:cxn ang="T9">
                  <a:pos x="T2" y="T3"/>
                </a:cxn>
                <a:cxn ang="T10">
                  <a:pos x="T4" y="T5"/>
                </a:cxn>
                <a:cxn ang="T11">
                  <a:pos x="T6" y="T7"/>
                </a:cxn>
              </a:cxnLst>
              <a:rect l="T12" t="T13" r="T14" b="T15"/>
              <a:pathLst>
                <a:path w="43" h="1">
                  <a:moveTo>
                    <a:pt x="0" y="0"/>
                  </a:moveTo>
                  <a:lnTo>
                    <a:pt x="42"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6" name="Line 5887"/>
            <p:cNvSpPr>
              <a:spLocks noChangeShapeType="1"/>
            </p:cNvSpPr>
            <p:nvPr/>
          </p:nvSpPr>
          <p:spPr bwMode="auto">
            <a:xfrm>
              <a:off x="1367" y="2669"/>
              <a:ext cx="4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7" name="Freeform 5888"/>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w 43"/>
                <a:gd name="T9" fmla="*/ 0 h 1"/>
                <a:gd name="T10" fmla="*/ 0 w 43"/>
                <a:gd name="T11" fmla="*/ 0 h 1"/>
                <a:gd name="T12" fmla="*/ 0 60000 65536"/>
                <a:gd name="T13" fmla="*/ 0 60000 65536"/>
                <a:gd name="T14" fmla="*/ 0 60000 65536"/>
                <a:gd name="T15" fmla="*/ 0 60000 65536"/>
                <a:gd name="T16" fmla="*/ 0 60000 65536"/>
                <a:gd name="T17" fmla="*/ 0 60000 65536"/>
                <a:gd name="T18" fmla="*/ 0 w 43"/>
                <a:gd name="T19" fmla="*/ 0 h 1"/>
                <a:gd name="T20" fmla="*/ 43 w 43"/>
                <a:gd name="T21" fmla="*/ 1 h 1"/>
              </a:gdLst>
              <a:ahLst/>
              <a:cxnLst>
                <a:cxn ang="T12">
                  <a:pos x="T0" y="T1"/>
                </a:cxn>
                <a:cxn ang="T13">
                  <a:pos x="T2" y="T3"/>
                </a:cxn>
                <a:cxn ang="T14">
                  <a:pos x="T4" y="T5"/>
                </a:cxn>
                <a:cxn ang="T15">
                  <a:pos x="T6" y="T7"/>
                </a:cxn>
                <a:cxn ang="T16">
                  <a:pos x="T8" y="T9"/>
                </a:cxn>
                <a:cxn ang="T17">
                  <a:pos x="T10" y="T11"/>
                </a:cxn>
              </a:cxnLst>
              <a:rect l="T18" t="T19" r="T20" b="T21"/>
              <a:pathLst>
                <a:path w="43" h="1">
                  <a:moveTo>
                    <a:pt x="0" y="0"/>
                  </a:moveTo>
                  <a:lnTo>
                    <a:pt x="42"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8" name="Line 5889"/>
            <p:cNvSpPr>
              <a:spLocks noChangeShapeType="1"/>
            </p:cNvSpPr>
            <p:nvPr/>
          </p:nvSpPr>
          <p:spPr bwMode="auto">
            <a:xfrm>
              <a:off x="132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19" name="Freeform 5890"/>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0" name="Line 5891"/>
            <p:cNvSpPr>
              <a:spLocks noChangeShapeType="1"/>
            </p:cNvSpPr>
            <p:nvPr/>
          </p:nvSpPr>
          <p:spPr bwMode="auto">
            <a:xfrm>
              <a:off x="1329" y="2669"/>
              <a:ext cx="38"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1" name="Freeform 5892"/>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2" name="Line 5893"/>
            <p:cNvSpPr>
              <a:spLocks noChangeShapeType="1"/>
            </p:cNvSpPr>
            <p:nvPr/>
          </p:nvSpPr>
          <p:spPr bwMode="auto">
            <a:xfrm>
              <a:off x="1286" y="2669"/>
              <a:ext cx="4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3" name="Freeform 5894"/>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60000 65536"/>
                <a:gd name="T9" fmla="*/ 0 60000 65536"/>
                <a:gd name="T10" fmla="*/ 0 60000 65536"/>
                <a:gd name="T11" fmla="*/ 0 60000 65536"/>
                <a:gd name="T12" fmla="*/ 0 w 44"/>
                <a:gd name="T13" fmla="*/ 0 h 1"/>
                <a:gd name="T14" fmla="*/ 44 w 44"/>
                <a:gd name="T15" fmla="*/ 1 h 1"/>
              </a:gdLst>
              <a:ahLst/>
              <a:cxnLst>
                <a:cxn ang="T8">
                  <a:pos x="T0" y="T1"/>
                </a:cxn>
                <a:cxn ang="T9">
                  <a:pos x="T2" y="T3"/>
                </a:cxn>
                <a:cxn ang="T10">
                  <a:pos x="T4" y="T5"/>
                </a:cxn>
                <a:cxn ang="T11">
                  <a:pos x="T6" y="T7"/>
                </a:cxn>
              </a:cxnLst>
              <a:rect l="T12" t="T13" r="T14" b="T15"/>
              <a:pathLst>
                <a:path w="44" h="1">
                  <a:moveTo>
                    <a:pt x="0" y="0"/>
                  </a:moveTo>
                  <a:lnTo>
                    <a:pt x="4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4" name="Line 5895"/>
            <p:cNvSpPr>
              <a:spLocks noChangeShapeType="1"/>
            </p:cNvSpPr>
            <p:nvPr/>
          </p:nvSpPr>
          <p:spPr bwMode="auto">
            <a:xfrm>
              <a:off x="1286" y="2669"/>
              <a:ext cx="4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5" name="Freeform 5896"/>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w 44"/>
                <a:gd name="T9" fmla="*/ 0 h 1"/>
                <a:gd name="T10" fmla="*/ 0 w 44"/>
                <a:gd name="T11" fmla="*/ 0 h 1"/>
                <a:gd name="T12" fmla="*/ 0 60000 65536"/>
                <a:gd name="T13" fmla="*/ 0 60000 65536"/>
                <a:gd name="T14" fmla="*/ 0 60000 65536"/>
                <a:gd name="T15" fmla="*/ 0 60000 65536"/>
                <a:gd name="T16" fmla="*/ 0 60000 65536"/>
                <a:gd name="T17" fmla="*/ 0 60000 65536"/>
                <a:gd name="T18" fmla="*/ 0 w 44"/>
                <a:gd name="T19" fmla="*/ 0 h 1"/>
                <a:gd name="T20" fmla="*/ 44 w 4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4" h="1">
                  <a:moveTo>
                    <a:pt x="0" y="0"/>
                  </a:moveTo>
                  <a:lnTo>
                    <a:pt x="43"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6" name="Line 5897"/>
            <p:cNvSpPr>
              <a:spLocks noChangeShapeType="1"/>
            </p:cNvSpPr>
            <p:nvPr/>
          </p:nvSpPr>
          <p:spPr bwMode="auto">
            <a:xfrm>
              <a:off x="1249"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7" name="Freeform 5898"/>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60000 65536"/>
                <a:gd name="T9" fmla="*/ 0 60000 65536"/>
                <a:gd name="T10" fmla="*/ 0 60000 65536"/>
                <a:gd name="T11" fmla="*/ 0 60000 65536"/>
                <a:gd name="T12" fmla="*/ 0 w 38"/>
                <a:gd name="T13" fmla="*/ 0 h 1"/>
                <a:gd name="T14" fmla="*/ 38 w 38"/>
                <a:gd name="T15" fmla="*/ 1 h 1"/>
              </a:gdLst>
              <a:ahLst/>
              <a:cxnLst>
                <a:cxn ang="T8">
                  <a:pos x="T0" y="T1"/>
                </a:cxn>
                <a:cxn ang="T9">
                  <a:pos x="T2" y="T3"/>
                </a:cxn>
                <a:cxn ang="T10">
                  <a:pos x="T4" y="T5"/>
                </a:cxn>
                <a:cxn ang="T11">
                  <a:pos x="T6" y="T7"/>
                </a:cxn>
              </a:cxnLst>
              <a:rect l="T12" t="T13" r="T14" b="T15"/>
              <a:pathLst>
                <a:path w="38" h="1">
                  <a:moveTo>
                    <a:pt x="0" y="0"/>
                  </a:moveTo>
                  <a:lnTo>
                    <a:pt x="3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8" name="Line 5899"/>
            <p:cNvSpPr>
              <a:spLocks noChangeShapeType="1"/>
            </p:cNvSpPr>
            <p:nvPr/>
          </p:nvSpPr>
          <p:spPr bwMode="auto">
            <a:xfrm>
              <a:off x="1249" y="2669"/>
              <a:ext cx="3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29" name="Freeform 5900"/>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w 38"/>
                <a:gd name="T9" fmla="*/ 0 h 1"/>
                <a:gd name="T10" fmla="*/ 0 w 38"/>
                <a:gd name="T11" fmla="*/ 0 h 1"/>
                <a:gd name="T12" fmla="*/ 0 60000 65536"/>
                <a:gd name="T13" fmla="*/ 0 60000 65536"/>
                <a:gd name="T14" fmla="*/ 0 60000 65536"/>
                <a:gd name="T15" fmla="*/ 0 60000 65536"/>
                <a:gd name="T16" fmla="*/ 0 60000 65536"/>
                <a:gd name="T17" fmla="*/ 0 60000 65536"/>
                <a:gd name="T18" fmla="*/ 0 w 38"/>
                <a:gd name="T19" fmla="*/ 0 h 1"/>
                <a:gd name="T20" fmla="*/ 38 w 38"/>
                <a:gd name="T21" fmla="*/ 1 h 1"/>
              </a:gdLst>
              <a:ahLst/>
              <a:cxnLst>
                <a:cxn ang="T12">
                  <a:pos x="T0" y="T1"/>
                </a:cxn>
                <a:cxn ang="T13">
                  <a:pos x="T2" y="T3"/>
                </a:cxn>
                <a:cxn ang="T14">
                  <a:pos x="T4" y="T5"/>
                </a:cxn>
                <a:cxn ang="T15">
                  <a:pos x="T6" y="T7"/>
                </a:cxn>
                <a:cxn ang="T16">
                  <a:pos x="T8" y="T9"/>
                </a:cxn>
                <a:cxn ang="T17">
                  <a:pos x="T10" y="T11"/>
                </a:cxn>
              </a:cxnLst>
              <a:rect l="T18" t="T19" r="T20" b="T21"/>
              <a:pathLst>
                <a:path w="38" h="1">
                  <a:moveTo>
                    <a:pt x="0" y="0"/>
                  </a:moveTo>
                  <a:lnTo>
                    <a:pt x="37" y="0"/>
                  </a:lnTo>
                  <a:lnTo>
                    <a:pt x="0" y="0"/>
                  </a:lnTo>
                </a:path>
              </a:pathLst>
            </a:custGeom>
            <a:solidFill>
              <a:srgbClr val="0000FF"/>
            </a:solidFill>
            <a:ln w="12700" cap="rnd" cmpd="sng">
              <a:solidFill>
                <a:srgbClr val="FFFFFF"/>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0" name="Freeform 5901"/>
            <p:cNvSpPr>
              <a:spLocks/>
            </p:cNvSpPr>
            <p:nvPr/>
          </p:nvSpPr>
          <p:spPr bwMode="auto">
            <a:xfrm>
              <a:off x="1651" y="2653"/>
              <a:ext cx="26" cy="28"/>
            </a:xfrm>
            <a:custGeom>
              <a:avLst/>
              <a:gdLst>
                <a:gd name="T0" fmla="*/ 25 w 26"/>
                <a:gd name="T1" fmla="*/ 15 h 28"/>
                <a:gd name="T2" fmla="*/ 0 w 26"/>
                <a:gd name="T3" fmla="*/ 0 h 28"/>
                <a:gd name="T4" fmla="*/ 0 w 26"/>
                <a:gd name="T5" fmla="*/ 27 h 28"/>
                <a:gd name="T6" fmla="*/ 25 w 26"/>
                <a:gd name="T7" fmla="*/ 15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5"/>
                  </a:moveTo>
                  <a:lnTo>
                    <a:pt x="0" y="0"/>
                  </a:lnTo>
                  <a:lnTo>
                    <a:pt x="0" y="27"/>
                  </a:lnTo>
                  <a:lnTo>
                    <a:pt x="25"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1" name="Freeform 5902"/>
            <p:cNvSpPr>
              <a:spLocks/>
            </p:cNvSpPr>
            <p:nvPr/>
          </p:nvSpPr>
          <p:spPr bwMode="auto">
            <a:xfrm>
              <a:off x="1651" y="2647"/>
              <a:ext cx="26" cy="28"/>
            </a:xfrm>
            <a:custGeom>
              <a:avLst/>
              <a:gdLst>
                <a:gd name="T0" fmla="*/ 25 w 26"/>
                <a:gd name="T1" fmla="*/ 27 h 28"/>
                <a:gd name="T2" fmla="*/ 25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12"/>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2" name="Freeform 5903"/>
            <p:cNvSpPr>
              <a:spLocks/>
            </p:cNvSpPr>
            <p:nvPr/>
          </p:nvSpPr>
          <p:spPr bwMode="auto">
            <a:xfrm>
              <a:off x="1663" y="2653"/>
              <a:ext cx="27" cy="28"/>
            </a:xfrm>
            <a:custGeom>
              <a:avLst/>
              <a:gdLst>
                <a:gd name="T0" fmla="*/ 0 w 27"/>
                <a:gd name="T1" fmla="*/ 27 h 28"/>
                <a:gd name="T2" fmla="*/ 0 w 27"/>
                <a:gd name="T3" fmla="*/ 27 h 28"/>
                <a:gd name="T4" fmla="*/ 26 w 27"/>
                <a:gd name="T5" fmla="*/ 0 h 28"/>
                <a:gd name="T6" fmla="*/ 0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27"/>
                  </a:moveTo>
                  <a:lnTo>
                    <a:pt x="0" y="27"/>
                  </a:lnTo>
                  <a:lnTo>
                    <a:pt x="26"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3" name="Line 5904"/>
            <p:cNvSpPr>
              <a:spLocks noChangeShapeType="1"/>
            </p:cNvSpPr>
            <p:nvPr/>
          </p:nvSpPr>
          <p:spPr bwMode="auto">
            <a:xfrm>
              <a:off x="1663" y="2661"/>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4" name="Freeform 5905"/>
            <p:cNvSpPr>
              <a:spLocks/>
            </p:cNvSpPr>
            <p:nvPr/>
          </p:nvSpPr>
          <p:spPr bwMode="auto">
            <a:xfrm>
              <a:off x="1663" y="2647"/>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5" name="Freeform 5906"/>
            <p:cNvSpPr>
              <a:spLocks/>
            </p:cNvSpPr>
            <p:nvPr/>
          </p:nvSpPr>
          <p:spPr bwMode="auto">
            <a:xfrm>
              <a:off x="1663" y="2647"/>
              <a:ext cx="27" cy="28"/>
            </a:xfrm>
            <a:custGeom>
              <a:avLst/>
              <a:gdLst>
                <a:gd name="T0" fmla="*/ 26 w 27"/>
                <a:gd name="T1" fmla="*/ 27 h 28"/>
                <a:gd name="T2" fmla="*/ 26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0"/>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6" name="Freeform 5907"/>
            <p:cNvSpPr>
              <a:spLocks/>
            </p:cNvSpPr>
            <p:nvPr/>
          </p:nvSpPr>
          <p:spPr bwMode="auto">
            <a:xfrm>
              <a:off x="1676"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7" name="Line 5908"/>
            <p:cNvSpPr>
              <a:spLocks noChangeShapeType="1"/>
            </p:cNvSpPr>
            <p:nvPr/>
          </p:nvSpPr>
          <p:spPr bwMode="auto">
            <a:xfrm>
              <a:off x="1676" y="266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8" name="Freeform 5909"/>
            <p:cNvSpPr>
              <a:spLocks/>
            </p:cNvSpPr>
            <p:nvPr/>
          </p:nvSpPr>
          <p:spPr bwMode="auto">
            <a:xfrm>
              <a:off x="1676" y="2647"/>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39" name="Freeform 5910"/>
            <p:cNvSpPr>
              <a:spLocks/>
            </p:cNvSpPr>
            <p:nvPr/>
          </p:nvSpPr>
          <p:spPr bwMode="auto">
            <a:xfrm>
              <a:off x="1676" y="2647"/>
              <a:ext cx="26" cy="28"/>
            </a:xfrm>
            <a:custGeom>
              <a:avLst/>
              <a:gdLst>
                <a:gd name="T0" fmla="*/ 25 w 26"/>
                <a:gd name="T1" fmla="*/ 27 h 28"/>
                <a:gd name="T2" fmla="*/ 25 w 26"/>
                <a:gd name="T3" fmla="*/ 0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0"/>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0" name="Freeform 5911"/>
            <p:cNvSpPr>
              <a:spLocks/>
            </p:cNvSpPr>
            <p:nvPr/>
          </p:nvSpPr>
          <p:spPr bwMode="auto">
            <a:xfrm>
              <a:off x="1689"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1" name="Line 5912"/>
            <p:cNvSpPr>
              <a:spLocks noChangeShapeType="1"/>
            </p:cNvSpPr>
            <p:nvPr/>
          </p:nvSpPr>
          <p:spPr bwMode="auto">
            <a:xfrm>
              <a:off x="1689" y="2661"/>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2" name="Freeform 5913"/>
            <p:cNvSpPr>
              <a:spLocks/>
            </p:cNvSpPr>
            <p:nvPr/>
          </p:nvSpPr>
          <p:spPr bwMode="auto">
            <a:xfrm>
              <a:off x="1689" y="2647"/>
              <a:ext cx="24" cy="28"/>
            </a:xfrm>
            <a:custGeom>
              <a:avLst/>
              <a:gdLst>
                <a:gd name="T0" fmla="*/ 23 w 24"/>
                <a:gd name="T1" fmla="*/ 12 h 28"/>
                <a:gd name="T2" fmla="*/ 0 w 24"/>
                <a:gd name="T3" fmla="*/ 0 h 28"/>
                <a:gd name="T4" fmla="*/ 0 w 24"/>
                <a:gd name="T5" fmla="*/ 27 h 28"/>
                <a:gd name="T6" fmla="*/ 23 w 24"/>
                <a:gd name="T7" fmla="*/ 12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2"/>
                  </a:moveTo>
                  <a:lnTo>
                    <a:pt x="0" y="0"/>
                  </a:lnTo>
                  <a:lnTo>
                    <a:pt x="0" y="27"/>
                  </a:lnTo>
                  <a:lnTo>
                    <a:pt x="23"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3" name="Freeform 5914"/>
            <p:cNvSpPr>
              <a:spLocks/>
            </p:cNvSpPr>
            <p:nvPr/>
          </p:nvSpPr>
          <p:spPr bwMode="auto">
            <a:xfrm>
              <a:off x="1689" y="2640"/>
              <a:ext cx="24" cy="28"/>
            </a:xfrm>
            <a:custGeom>
              <a:avLst/>
              <a:gdLst>
                <a:gd name="T0" fmla="*/ 23 w 24"/>
                <a:gd name="T1" fmla="*/ 27 h 28"/>
                <a:gd name="T2" fmla="*/ 23 w 24"/>
                <a:gd name="T3" fmla="*/ 0 h 28"/>
                <a:gd name="T4" fmla="*/ 0 w 24"/>
                <a:gd name="T5" fmla="*/ 13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13"/>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4" name="Freeform 5915"/>
            <p:cNvSpPr>
              <a:spLocks/>
            </p:cNvSpPr>
            <p:nvPr/>
          </p:nvSpPr>
          <p:spPr bwMode="auto">
            <a:xfrm>
              <a:off x="1701"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5" name="Line 5916"/>
            <p:cNvSpPr>
              <a:spLocks noChangeShapeType="1"/>
            </p:cNvSpPr>
            <p:nvPr/>
          </p:nvSpPr>
          <p:spPr bwMode="auto">
            <a:xfrm>
              <a:off x="1701" y="2653"/>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6" name="Freeform 5917"/>
            <p:cNvSpPr>
              <a:spLocks/>
            </p:cNvSpPr>
            <p:nvPr/>
          </p:nvSpPr>
          <p:spPr bwMode="auto">
            <a:xfrm>
              <a:off x="1701" y="2640"/>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7" name="Freeform 5918"/>
            <p:cNvSpPr>
              <a:spLocks/>
            </p:cNvSpPr>
            <p:nvPr/>
          </p:nvSpPr>
          <p:spPr bwMode="auto">
            <a:xfrm>
              <a:off x="1701" y="2640"/>
              <a:ext cx="27" cy="28"/>
            </a:xfrm>
            <a:custGeom>
              <a:avLst/>
              <a:gdLst>
                <a:gd name="T0" fmla="*/ 26 w 27"/>
                <a:gd name="T1" fmla="*/ 27 h 28"/>
                <a:gd name="T2" fmla="*/ 11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1" y="0"/>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8" name="Freeform 5919"/>
            <p:cNvSpPr>
              <a:spLocks/>
            </p:cNvSpPr>
            <p:nvPr/>
          </p:nvSpPr>
          <p:spPr bwMode="auto">
            <a:xfrm>
              <a:off x="1712"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49" name="Line 5920"/>
            <p:cNvSpPr>
              <a:spLocks noChangeShapeType="1"/>
            </p:cNvSpPr>
            <p:nvPr/>
          </p:nvSpPr>
          <p:spPr bwMode="auto">
            <a:xfrm>
              <a:off x="1712" y="265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0" name="Freeform 5921"/>
            <p:cNvSpPr>
              <a:spLocks/>
            </p:cNvSpPr>
            <p:nvPr/>
          </p:nvSpPr>
          <p:spPr bwMode="auto">
            <a:xfrm>
              <a:off x="1705" y="2640"/>
              <a:ext cx="25" cy="28"/>
            </a:xfrm>
            <a:custGeom>
              <a:avLst/>
              <a:gdLst>
                <a:gd name="T0" fmla="*/ 24 w 25"/>
                <a:gd name="T1" fmla="*/ 13 h 28"/>
                <a:gd name="T2" fmla="*/ 0 w 25"/>
                <a:gd name="T3" fmla="*/ 0 h 28"/>
                <a:gd name="T4" fmla="*/ 9 w 25"/>
                <a:gd name="T5" fmla="*/ 27 h 28"/>
                <a:gd name="T6" fmla="*/ 24 w 25"/>
                <a:gd name="T7" fmla="*/ 13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13"/>
                  </a:moveTo>
                  <a:lnTo>
                    <a:pt x="0" y="0"/>
                  </a:lnTo>
                  <a:lnTo>
                    <a:pt x="9" y="27"/>
                  </a:lnTo>
                  <a:lnTo>
                    <a:pt x="24"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1" name="Freeform 5922"/>
            <p:cNvSpPr>
              <a:spLocks/>
            </p:cNvSpPr>
            <p:nvPr/>
          </p:nvSpPr>
          <p:spPr bwMode="auto">
            <a:xfrm>
              <a:off x="1705" y="2632"/>
              <a:ext cx="25" cy="27"/>
            </a:xfrm>
            <a:custGeom>
              <a:avLst/>
              <a:gdLst>
                <a:gd name="T0" fmla="*/ 24 w 25"/>
                <a:gd name="T1" fmla="*/ 26 h 27"/>
                <a:gd name="T2" fmla="*/ 16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6" y="0"/>
                  </a:lnTo>
                  <a:lnTo>
                    <a:pt x="0" y="14"/>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2" name="Freeform 5923"/>
            <p:cNvSpPr>
              <a:spLocks/>
            </p:cNvSpPr>
            <p:nvPr/>
          </p:nvSpPr>
          <p:spPr bwMode="auto">
            <a:xfrm>
              <a:off x="1722" y="2640"/>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3" name="Line 5924"/>
            <p:cNvSpPr>
              <a:spLocks noChangeShapeType="1"/>
            </p:cNvSpPr>
            <p:nvPr/>
          </p:nvSpPr>
          <p:spPr bwMode="auto">
            <a:xfrm>
              <a:off x="1722" y="264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4" name="Freeform 5925"/>
            <p:cNvSpPr>
              <a:spLocks/>
            </p:cNvSpPr>
            <p:nvPr/>
          </p:nvSpPr>
          <p:spPr bwMode="auto">
            <a:xfrm>
              <a:off x="1718" y="2632"/>
              <a:ext cx="27" cy="27"/>
            </a:xfrm>
            <a:custGeom>
              <a:avLst/>
              <a:gdLst>
                <a:gd name="T0" fmla="*/ 26 w 27"/>
                <a:gd name="T1" fmla="*/ 14 h 27"/>
                <a:gd name="T2" fmla="*/ 0 w 27"/>
                <a:gd name="T3" fmla="*/ 0 h 27"/>
                <a:gd name="T4" fmla="*/ 8 w 27"/>
                <a:gd name="T5" fmla="*/ 26 h 27"/>
                <a:gd name="T6" fmla="*/ 26 w 27"/>
                <a:gd name="T7" fmla="*/ 14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4"/>
                  </a:moveTo>
                  <a:lnTo>
                    <a:pt x="0" y="0"/>
                  </a:lnTo>
                  <a:lnTo>
                    <a:pt x="8" y="26"/>
                  </a:lnTo>
                  <a:lnTo>
                    <a:pt x="26"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5" name="Freeform 5926"/>
            <p:cNvSpPr>
              <a:spLocks/>
            </p:cNvSpPr>
            <p:nvPr/>
          </p:nvSpPr>
          <p:spPr bwMode="auto">
            <a:xfrm>
              <a:off x="1718" y="2632"/>
              <a:ext cx="27" cy="27"/>
            </a:xfrm>
            <a:custGeom>
              <a:avLst/>
              <a:gdLst>
                <a:gd name="T0" fmla="*/ 26 w 27"/>
                <a:gd name="T1" fmla="*/ 26 h 27"/>
                <a:gd name="T2" fmla="*/ 18 w 27"/>
                <a:gd name="T3" fmla="*/ 0 h 27"/>
                <a:gd name="T4" fmla="*/ 0 w 27"/>
                <a:gd name="T5" fmla="*/ 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0"/>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6" name="Freeform 5927"/>
            <p:cNvSpPr>
              <a:spLocks/>
            </p:cNvSpPr>
            <p:nvPr/>
          </p:nvSpPr>
          <p:spPr bwMode="auto">
            <a:xfrm>
              <a:off x="1736" y="263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7" name="Line 5928"/>
            <p:cNvSpPr>
              <a:spLocks noChangeShapeType="1"/>
            </p:cNvSpPr>
            <p:nvPr/>
          </p:nvSpPr>
          <p:spPr bwMode="auto">
            <a:xfrm>
              <a:off x="1736" y="2640"/>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8" name="Freeform 5929"/>
            <p:cNvSpPr>
              <a:spLocks/>
            </p:cNvSpPr>
            <p:nvPr/>
          </p:nvSpPr>
          <p:spPr bwMode="auto">
            <a:xfrm>
              <a:off x="1731" y="2632"/>
              <a:ext cx="26" cy="27"/>
            </a:xfrm>
            <a:custGeom>
              <a:avLst/>
              <a:gdLst>
                <a:gd name="T0" fmla="*/ 25 w 26"/>
                <a:gd name="T1" fmla="*/ 26 h 27"/>
                <a:gd name="T2" fmla="*/ 0 w 26"/>
                <a:gd name="T3" fmla="*/ 0 h 27"/>
                <a:gd name="T4" fmla="*/ 7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0" y="0"/>
                  </a:lnTo>
                  <a:lnTo>
                    <a:pt x="7" y="26"/>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59" name="Freeform 5930"/>
            <p:cNvSpPr>
              <a:spLocks/>
            </p:cNvSpPr>
            <p:nvPr/>
          </p:nvSpPr>
          <p:spPr bwMode="auto">
            <a:xfrm>
              <a:off x="1731" y="2626"/>
              <a:ext cx="26" cy="27"/>
            </a:xfrm>
            <a:custGeom>
              <a:avLst/>
              <a:gdLst>
                <a:gd name="T0" fmla="*/ 25 w 26"/>
                <a:gd name="T1" fmla="*/ 26 h 27"/>
                <a:gd name="T2" fmla="*/ 15 w 26"/>
                <a:gd name="T3" fmla="*/ 0 h 27"/>
                <a:gd name="T4" fmla="*/ 0 w 26"/>
                <a:gd name="T5" fmla="*/ 11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11"/>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0" name="Freeform 5931"/>
            <p:cNvSpPr>
              <a:spLocks/>
            </p:cNvSpPr>
            <p:nvPr/>
          </p:nvSpPr>
          <p:spPr bwMode="auto">
            <a:xfrm>
              <a:off x="1750"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1" name="Line 5932"/>
            <p:cNvSpPr>
              <a:spLocks noChangeShapeType="1"/>
            </p:cNvSpPr>
            <p:nvPr/>
          </p:nvSpPr>
          <p:spPr bwMode="auto">
            <a:xfrm>
              <a:off x="1750" y="2640"/>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2" name="Freeform 5933"/>
            <p:cNvSpPr>
              <a:spLocks/>
            </p:cNvSpPr>
            <p:nvPr/>
          </p:nvSpPr>
          <p:spPr bwMode="auto">
            <a:xfrm>
              <a:off x="1742" y="2626"/>
              <a:ext cx="26" cy="27"/>
            </a:xfrm>
            <a:custGeom>
              <a:avLst/>
              <a:gdLst>
                <a:gd name="T0" fmla="*/ 25 w 26"/>
                <a:gd name="T1" fmla="*/ 11 h 27"/>
                <a:gd name="T2" fmla="*/ 0 w 26"/>
                <a:gd name="T3" fmla="*/ 0 h 27"/>
                <a:gd name="T4" fmla="*/ 9 w 26"/>
                <a:gd name="T5" fmla="*/ 26 h 27"/>
                <a:gd name="T6" fmla="*/ 25 w 26"/>
                <a:gd name="T7" fmla="*/ 11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1"/>
                  </a:moveTo>
                  <a:lnTo>
                    <a:pt x="0" y="0"/>
                  </a:lnTo>
                  <a:lnTo>
                    <a:pt x="9" y="26"/>
                  </a:lnTo>
                  <a:lnTo>
                    <a:pt x="25"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3" name="Freeform 5934"/>
            <p:cNvSpPr>
              <a:spLocks/>
            </p:cNvSpPr>
            <p:nvPr/>
          </p:nvSpPr>
          <p:spPr bwMode="auto">
            <a:xfrm>
              <a:off x="1742" y="2619"/>
              <a:ext cx="26" cy="27"/>
            </a:xfrm>
            <a:custGeom>
              <a:avLst/>
              <a:gdLst>
                <a:gd name="T0" fmla="*/ 25 w 26"/>
                <a:gd name="T1" fmla="*/ 26 h 27"/>
                <a:gd name="T2" fmla="*/ 17 w 26"/>
                <a:gd name="T3" fmla="*/ 0 h 27"/>
                <a:gd name="T4" fmla="*/ 0 w 26"/>
                <a:gd name="T5" fmla="*/ 13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7" y="0"/>
                  </a:lnTo>
                  <a:lnTo>
                    <a:pt x="0" y="13"/>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4" name="Freeform 5935"/>
            <p:cNvSpPr>
              <a:spLocks/>
            </p:cNvSpPr>
            <p:nvPr/>
          </p:nvSpPr>
          <p:spPr bwMode="auto">
            <a:xfrm>
              <a:off x="1759"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5" name="Line 5936"/>
            <p:cNvSpPr>
              <a:spLocks noChangeShapeType="1"/>
            </p:cNvSpPr>
            <p:nvPr/>
          </p:nvSpPr>
          <p:spPr bwMode="auto">
            <a:xfrm>
              <a:off x="1759" y="2632"/>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6" name="Freeform 5937"/>
            <p:cNvSpPr>
              <a:spLocks/>
            </p:cNvSpPr>
            <p:nvPr/>
          </p:nvSpPr>
          <p:spPr bwMode="auto">
            <a:xfrm>
              <a:off x="1754" y="2619"/>
              <a:ext cx="27" cy="27"/>
            </a:xfrm>
            <a:custGeom>
              <a:avLst/>
              <a:gdLst>
                <a:gd name="T0" fmla="*/ 26 w 27"/>
                <a:gd name="T1" fmla="*/ 13 h 27"/>
                <a:gd name="T2" fmla="*/ 0 w 27"/>
                <a:gd name="T3" fmla="*/ 0 h 27"/>
                <a:gd name="T4" fmla="*/ 8 w 27"/>
                <a:gd name="T5" fmla="*/ 26 h 27"/>
                <a:gd name="T6" fmla="*/ 26 w 27"/>
                <a:gd name="T7" fmla="*/ 13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3"/>
                  </a:moveTo>
                  <a:lnTo>
                    <a:pt x="0" y="0"/>
                  </a:lnTo>
                  <a:lnTo>
                    <a:pt x="8" y="26"/>
                  </a:lnTo>
                  <a:lnTo>
                    <a:pt x="26"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7" name="Freeform 5938"/>
            <p:cNvSpPr>
              <a:spLocks/>
            </p:cNvSpPr>
            <p:nvPr/>
          </p:nvSpPr>
          <p:spPr bwMode="auto">
            <a:xfrm>
              <a:off x="1754" y="2611"/>
              <a:ext cx="27" cy="27"/>
            </a:xfrm>
            <a:custGeom>
              <a:avLst/>
              <a:gdLst>
                <a:gd name="T0" fmla="*/ 26 w 27"/>
                <a:gd name="T1" fmla="*/ 26 h 27"/>
                <a:gd name="T2" fmla="*/ 18 w 27"/>
                <a:gd name="T3" fmla="*/ 0 h 27"/>
                <a:gd name="T4" fmla="*/ 0 w 27"/>
                <a:gd name="T5" fmla="*/ 14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14"/>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8" name="Freeform 5939"/>
            <p:cNvSpPr>
              <a:spLocks/>
            </p:cNvSpPr>
            <p:nvPr/>
          </p:nvSpPr>
          <p:spPr bwMode="auto">
            <a:xfrm>
              <a:off x="1774" y="2619"/>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69" name="Line 5940"/>
            <p:cNvSpPr>
              <a:spLocks noChangeShapeType="1"/>
            </p:cNvSpPr>
            <p:nvPr/>
          </p:nvSpPr>
          <p:spPr bwMode="auto">
            <a:xfrm>
              <a:off x="1774" y="2626"/>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0" name="Freeform 5941"/>
            <p:cNvSpPr>
              <a:spLocks/>
            </p:cNvSpPr>
            <p:nvPr/>
          </p:nvSpPr>
          <p:spPr bwMode="auto">
            <a:xfrm>
              <a:off x="1767" y="2611"/>
              <a:ext cx="26" cy="27"/>
            </a:xfrm>
            <a:custGeom>
              <a:avLst/>
              <a:gdLst>
                <a:gd name="T0" fmla="*/ 25 w 26"/>
                <a:gd name="T1" fmla="*/ 14 h 27"/>
                <a:gd name="T2" fmla="*/ 0 w 26"/>
                <a:gd name="T3" fmla="*/ 0 h 27"/>
                <a:gd name="T4" fmla="*/ 7 w 26"/>
                <a:gd name="T5" fmla="*/ 26 h 27"/>
                <a:gd name="T6" fmla="*/ 25 w 26"/>
                <a:gd name="T7" fmla="*/ 14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4"/>
                  </a:moveTo>
                  <a:lnTo>
                    <a:pt x="0" y="0"/>
                  </a:lnTo>
                  <a:lnTo>
                    <a:pt x="7" y="26"/>
                  </a:lnTo>
                  <a:lnTo>
                    <a:pt x="25"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1" name="Freeform 5942"/>
            <p:cNvSpPr>
              <a:spLocks/>
            </p:cNvSpPr>
            <p:nvPr/>
          </p:nvSpPr>
          <p:spPr bwMode="auto">
            <a:xfrm>
              <a:off x="1767" y="2604"/>
              <a:ext cx="26" cy="28"/>
            </a:xfrm>
            <a:custGeom>
              <a:avLst/>
              <a:gdLst>
                <a:gd name="T0" fmla="*/ 25 w 26"/>
                <a:gd name="T1" fmla="*/ 27 h 28"/>
                <a:gd name="T2" fmla="*/ 17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17" y="0"/>
                  </a:lnTo>
                  <a:lnTo>
                    <a:pt x="0" y="12"/>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2" name="Freeform 5943"/>
            <p:cNvSpPr>
              <a:spLocks/>
            </p:cNvSpPr>
            <p:nvPr/>
          </p:nvSpPr>
          <p:spPr bwMode="auto">
            <a:xfrm>
              <a:off x="1785" y="2604"/>
              <a:ext cx="1" cy="28"/>
            </a:xfrm>
            <a:custGeom>
              <a:avLst/>
              <a:gdLst>
                <a:gd name="T0" fmla="*/ 0 w 1"/>
                <a:gd name="T1" fmla="*/ 12 h 28"/>
                <a:gd name="T2" fmla="*/ 0 w 1"/>
                <a:gd name="T3" fmla="*/ 27 h 28"/>
                <a:gd name="T4" fmla="*/ 0 w 1"/>
                <a:gd name="T5" fmla="*/ 0 h 28"/>
                <a:gd name="T6" fmla="*/ 0 w 1"/>
                <a:gd name="T7" fmla="*/ 12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12"/>
                  </a:moveTo>
                  <a:lnTo>
                    <a:pt x="0" y="27"/>
                  </a:lnTo>
                  <a:lnTo>
                    <a:pt x="0" y="0"/>
                  </a:lnTo>
                  <a:lnTo>
                    <a:pt x="0"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3" name="Freeform 5944"/>
            <p:cNvSpPr>
              <a:spLocks/>
            </p:cNvSpPr>
            <p:nvPr/>
          </p:nvSpPr>
          <p:spPr bwMode="auto">
            <a:xfrm>
              <a:off x="1785" y="2611"/>
              <a:ext cx="1" cy="27"/>
            </a:xfrm>
            <a:custGeom>
              <a:avLst/>
              <a:gdLst>
                <a:gd name="T0" fmla="*/ 0 w 1"/>
                <a:gd name="T1" fmla="*/ 0 h 27"/>
                <a:gd name="T2" fmla="*/ 0 w 1"/>
                <a:gd name="T3" fmla="*/ 26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4" name="Freeform 5945"/>
            <p:cNvSpPr>
              <a:spLocks/>
            </p:cNvSpPr>
            <p:nvPr/>
          </p:nvSpPr>
          <p:spPr bwMode="auto">
            <a:xfrm>
              <a:off x="1781" y="2604"/>
              <a:ext cx="26" cy="28"/>
            </a:xfrm>
            <a:custGeom>
              <a:avLst/>
              <a:gdLst>
                <a:gd name="T0" fmla="*/ 25 w 26"/>
                <a:gd name="T1" fmla="*/ 0 h 28"/>
                <a:gd name="T2" fmla="*/ 0 w 26"/>
                <a:gd name="T3" fmla="*/ 0 h 28"/>
                <a:gd name="T4" fmla="*/ 7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7"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5" name="Freeform 5946"/>
            <p:cNvSpPr>
              <a:spLocks/>
            </p:cNvSpPr>
            <p:nvPr/>
          </p:nvSpPr>
          <p:spPr bwMode="auto">
            <a:xfrm>
              <a:off x="1781" y="2598"/>
              <a:ext cx="26" cy="27"/>
            </a:xfrm>
            <a:custGeom>
              <a:avLst/>
              <a:gdLst>
                <a:gd name="T0" fmla="*/ 25 w 26"/>
                <a:gd name="T1" fmla="*/ 26 h 27"/>
                <a:gd name="T2" fmla="*/ 15 w 26"/>
                <a:gd name="T3" fmla="*/ 0 h 27"/>
                <a:gd name="T4" fmla="*/ 0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26"/>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6" name="Freeform 5947"/>
            <p:cNvSpPr>
              <a:spLocks/>
            </p:cNvSpPr>
            <p:nvPr/>
          </p:nvSpPr>
          <p:spPr bwMode="auto">
            <a:xfrm>
              <a:off x="1797" y="25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7" name="Line 5948"/>
            <p:cNvSpPr>
              <a:spLocks noChangeShapeType="1"/>
            </p:cNvSpPr>
            <p:nvPr/>
          </p:nvSpPr>
          <p:spPr bwMode="auto">
            <a:xfrm>
              <a:off x="1797" y="2604"/>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8" name="Freeform 5949"/>
            <p:cNvSpPr>
              <a:spLocks/>
            </p:cNvSpPr>
            <p:nvPr/>
          </p:nvSpPr>
          <p:spPr bwMode="auto">
            <a:xfrm>
              <a:off x="1792" y="2598"/>
              <a:ext cx="24" cy="27"/>
            </a:xfrm>
            <a:custGeom>
              <a:avLst/>
              <a:gdLst>
                <a:gd name="T0" fmla="*/ 23 w 24"/>
                <a:gd name="T1" fmla="*/ 0 h 27"/>
                <a:gd name="T2" fmla="*/ 0 w 24"/>
                <a:gd name="T3" fmla="*/ 0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0"/>
                  </a:lnTo>
                  <a:lnTo>
                    <a:pt x="8"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79" name="Freeform 5950"/>
            <p:cNvSpPr>
              <a:spLocks/>
            </p:cNvSpPr>
            <p:nvPr/>
          </p:nvSpPr>
          <p:spPr bwMode="auto">
            <a:xfrm>
              <a:off x="1792" y="2584"/>
              <a:ext cx="24" cy="26"/>
            </a:xfrm>
            <a:custGeom>
              <a:avLst/>
              <a:gdLst>
                <a:gd name="T0" fmla="*/ 23 w 24"/>
                <a:gd name="T1" fmla="*/ 25 h 26"/>
                <a:gd name="T2" fmla="*/ 8 w 24"/>
                <a:gd name="T3" fmla="*/ 0 h 26"/>
                <a:gd name="T4" fmla="*/ 0 w 24"/>
                <a:gd name="T5" fmla="*/ 25 h 26"/>
                <a:gd name="T6" fmla="*/ 23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25"/>
                  </a:moveTo>
                  <a:lnTo>
                    <a:pt x="8" y="0"/>
                  </a:lnTo>
                  <a:lnTo>
                    <a:pt x="0" y="25"/>
                  </a:lnTo>
                  <a:lnTo>
                    <a:pt x="23"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0" name="Freeform 5951"/>
            <p:cNvSpPr>
              <a:spLocks/>
            </p:cNvSpPr>
            <p:nvPr/>
          </p:nvSpPr>
          <p:spPr bwMode="auto">
            <a:xfrm>
              <a:off x="1805" y="2589"/>
              <a:ext cx="26" cy="28"/>
            </a:xfrm>
            <a:custGeom>
              <a:avLst/>
              <a:gdLst>
                <a:gd name="T0" fmla="*/ 25 w 26"/>
                <a:gd name="T1" fmla="*/ 27 h 28"/>
                <a:gd name="T2" fmla="*/ 25 w 26"/>
                <a:gd name="T3" fmla="*/ 27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27"/>
                  </a:lnTo>
                  <a:lnTo>
                    <a:pt x="0" y="0"/>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1" name="Line 5952"/>
            <p:cNvSpPr>
              <a:spLocks noChangeShapeType="1"/>
            </p:cNvSpPr>
            <p:nvPr/>
          </p:nvSpPr>
          <p:spPr bwMode="auto">
            <a:xfrm>
              <a:off x="1809" y="2598"/>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2" name="Freeform 5953"/>
            <p:cNvSpPr>
              <a:spLocks/>
            </p:cNvSpPr>
            <p:nvPr/>
          </p:nvSpPr>
          <p:spPr bwMode="auto">
            <a:xfrm>
              <a:off x="1797" y="2584"/>
              <a:ext cx="27" cy="26"/>
            </a:xfrm>
            <a:custGeom>
              <a:avLst/>
              <a:gdLst>
                <a:gd name="T0" fmla="*/ 26 w 27"/>
                <a:gd name="T1" fmla="*/ 0 h 26"/>
                <a:gd name="T2" fmla="*/ 0 w 27"/>
                <a:gd name="T3" fmla="*/ 0 h 26"/>
                <a:gd name="T4" fmla="*/ 12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0"/>
                  </a:lnTo>
                  <a:lnTo>
                    <a:pt x="12" y="2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3" name="Freeform 5954"/>
            <p:cNvSpPr>
              <a:spLocks/>
            </p:cNvSpPr>
            <p:nvPr/>
          </p:nvSpPr>
          <p:spPr bwMode="auto">
            <a:xfrm>
              <a:off x="1797" y="2576"/>
              <a:ext cx="27" cy="28"/>
            </a:xfrm>
            <a:custGeom>
              <a:avLst/>
              <a:gdLst>
                <a:gd name="T0" fmla="*/ 26 w 27"/>
                <a:gd name="T1" fmla="*/ 27 h 28"/>
                <a:gd name="T2" fmla="*/ 12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2"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4" name="Freeform 5955"/>
            <p:cNvSpPr>
              <a:spLocks/>
            </p:cNvSpPr>
            <p:nvPr/>
          </p:nvSpPr>
          <p:spPr bwMode="auto">
            <a:xfrm>
              <a:off x="1815" y="2576"/>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5" name="Line 5956"/>
            <p:cNvSpPr>
              <a:spLocks noChangeShapeType="1"/>
            </p:cNvSpPr>
            <p:nvPr/>
          </p:nvSpPr>
          <p:spPr bwMode="auto">
            <a:xfrm>
              <a:off x="1823" y="2584"/>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6" name="Freeform 5957"/>
            <p:cNvSpPr>
              <a:spLocks/>
            </p:cNvSpPr>
            <p:nvPr/>
          </p:nvSpPr>
          <p:spPr bwMode="auto">
            <a:xfrm>
              <a:off x="1809" y="2568"/>
              <a:ext cx="27" cy="28"/>
            </a:xfrm>
            <a:custGeom>
              <a:avLst/>
              <a:gdLst>
                <a:gd name="T0" fmla="*/ 26 w 27"/>
                <a:gd name="T1" fmla="*/ 0 h 28"/>
                <a:gd name="T2" fmla="*/ 0 w 27"/>
                <a:gd name="T3" fmla="*/ 15 h 28"/>
                <a:gd name="T4" fmla="*/ 13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3"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7" name="Freeform 5958"/>
            <p:cNvSpPr>
              <a:spLocks/>
            </p:cNvSpPr>
            <p:nvPr/>
          </p:nvSpPr>
          <p:spPr bwMode="auto">
            <a:xfrm>
              <a:off x="1809" y="2562"/>
              <a:ext cx="27" cy="27"/>
            </a:xfrm>
            <a:custGeom>
              <a:avLst/>
              <a:gdLst>
                <a:gd name="T0" fmla="*/ 26 w 27"/>
                <a:gd name="T1" fmla="*/ 11 h 27"/>
                <a:gd name="T2" fmla="*/ 13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3" y="0"/>
                  </a:lnTo>
                  <a:lnTo>
                    <a:pt x="0" y="26"/>
                  </a:lnTo>
                  <a:lnTo>
                    <a:pt x="26"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8" name="Freeform 5959"/>
            <p:cNvSpPr>
              <a:spLocks/>
            </p:cNvSpPr>
            <p:nvPr/>
          </p:nvSpPr>
          <p:spPr bwMode="auto">
            <a:xfrm>
              <a:off x="1828" y="2562"/>
              <a:ext cx="26" cy="27"/>
            </a:xfrm>
            <a:custGeom>
              <a:avLst/>
              <a:gdLst>
                <a:gd name="T0" fmla="*/ 25 w 26"/>
                <a:gd name="T1" fmla="*/ 26 h 27"/>
                <a:gd name="T2" fmla="*/ 25 w 26"/>
                <a:gd name="T3" fmla="*/ 26 h 27"/>
                <a:gd name="T4" fmla="*/ 0 w 26"/>
                <a:gd name="T5" fmla="*/ 0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26"/>
                  </a:lnTo>
                  <a:lnTo>
                    <a:pt x="0" y="0"/>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89" name="Line 5960"/>
            <p:cNvSpPr>
              <a:spLocks noChangeShapeType="1"/>
            </p:cNvSpPr>
            <p:nvPr/>
          </p:nvSpPr>
          <p:spPr bwMode="auto">
            <a:xfrm>
              <a:off x="1835" y="25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0" name="Freeform 5961"/>
            <p:cNvSpPr>
              <a:spLocks/>
            </p:cNvSpPr>
            <p:nvPr/>
          </p:nvSpPr>
          <p:spPr bwMode="auto">
            <a:xfrm>
              <a:off x="1823" y="2556"/>
              <a:ext cx="25" cy="26"/>
            </a:xfrm>
            <a:custGeom>
              <a:avLst/>
              <a:gdLst>
                <a:gd name="T0" fmla="*/ 24 w 25"/>
                <a:gd name="T1" fmla="*/ 0 h 26"/>
                <a:gd name="T2" fmla="*/ 0 w 25"/>
                <a:gd name="T3" fmla="*/ 12 h 26"/>
                <a:gd name="T4" fmla="*/ 12 w 25"/>
                <a:gd name="T5" fmla="*/ 25 h 26"/>
                <a:gd name="T6" fmla="*/ 24 w 25"/>
                <a:gd name="T7" fmla="*/ 0 h 26"/>
                <a:gd name="T8" fmla="*/ 0 60000 65536"/>
                <a:gd name="T9" fmla="*/ 0 60000 65536"/>
                <a:gd name="T10" fmla="*/ 0 60000 65536"/>
                <a:gd name="T11" fmla="*/ 0 60000 65536"/>
                <a:gd name="T12" fmla="*/ 0 w 25"/>
                <a:gd name="T13" fmla="*/ 0 h 26"/>
                <a:gd name="T14" fmla="*/ 25 w 25"/>
                <a:gd name="T15" fmla="*/ 26 h 26"/>
              </a:gdLst>
              <a:ahLst/>
              <a:cxnLst>
                <a:cxn ang="T8">
                  <a:pos x="T0" y="T1"/>
                </a:cxn>
                <a:cxn ang="T9">
                  <a:pos x="T2" y="T3"/>
                </a:cxn>
                <a:cxn ang="T10">
                  <a:pos x="T4" y="T5"/>
                </a:cxn>
                <a:cxn ang="T11">
                  <a:pos x="T6" y="T7"/>
                </a:cxn>
              </a:cxnLst>
              <a:rect l="T12" t="T13" r="T14" b="T15"/>
              <a:pathLst>
                <a:path w="25" h="26">
                  <a:moveTo>
                    <a:pt x="24" y="0"/>
                  </a:moveTo>
                  <a:lnTo>
                    <a:pt x="0" y="12"/>
                  </a:lnTo>
                  <a:lnTo>
                    <a:pt x="12" y="25"/>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1" name="Freeform 5962"/>
            <p:cNvSpPr>
              <a:spLocks/>
            </p:cNvSpPr>
            <p:nvPr/>
          </p:nvSpPr>
          <p:spPr bwMode="auto">
            <a:xfrm>
              <a:off x="1823" y="2547"/>
              <a:ext cx="25" cy="27"/>
            </a:xfrm>
            <a:custGeom>
              <a:avLst/>
              <a:gdLst>
                <a:gd name="T0" fmla="*/ 24 w 25"/>
                <a:gd name="T1" fmla="*/ 14 h 27"/>
                <a:gd name="T2" fmla="*/ 12 w 25"/>
                <a:gd name="T3" fmla="*/ 0 h 27"/>
                <a:gd name="T4" fmla="*/ 0 w 25"/>
                <a:gd name="T5" fmla="*/ 26 h 27"/>
                <a:gd name="T6" fmla="*/ 24 w 25"/>
                <a:gd name="T7" fmla="*/ 14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14"/>
                  </a:moveTo>
                  <a:lnTo>
                    <a:pt x="12" y="0"/>
                  </a:lnTo>
                  <a:lnTo>
                    <a:pt x="0" y="26"/>
                  </a:lnTo>
                  <a:lnTo>
                    <a:pt x="24" y="14"/>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2" name="Freeform 5963"/>
            <p:cNvSpPr>
              <a:spLocks/>
            </p:cNvSpPr>
            <p:nvPr/>
          </p:nvSpPr>
          <p:spPr bwMode="auto">
            <a:xfrm>
              <a:off x="1842" y="2547"/>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3" name="Line 5964"/>
            <p:cNvSpPr>
              <a:spLocks noChangeShapeType="1"/>
            </p:cNvSpPr>
            <p:nvPr/>
          </p:nvSpPr>
          <p:spPr bwMode="auto">
            <a:xfrm>
              <a:off x="1846" y="2556"/>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4" name="Freeform 5965"/>
            <p:cNvSpPr>
              <a:spLocks/>
            </p:cNvSpPr>
            <p:nvPr/>
          </p:nvSpPr>
          <p:spPr bwMode="auto">
            <a:xfrm>
              <a:off x="1835" y="2541"/>
              <a:ext cx="27" cy="27"/>
            </a:xfrm>
            <a:custGeom>
              <a:avLst/>
              <a:gdLst>
                <a:gd name="T0" fmla="*/ 26 w 27"/>
                <a:gd name="T1" fmla="*/ 0 h 27"/>
                <a:gd name="T2" fmla="*/ 0 w 27"/>
                <a:gd name="T3" fmla="*/ 11 h 27"/>
                <a:gd name="T4" fmla="*/ 12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0" y="11"/>
                  </a:lnTo>
                  <a:lnTo>
                    <a:pt x="12" y="26"/>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5" name="Freeform 5966"/>
            <p:cNvSpPr>
              <a:spLocks/>
            </p:cNvSpPr>
            <p:nvPr/>
          </p:nvSpPr>
          <p:spPr bwMode="auto">
            <a:xfrm>
              <a:off x="1835" y="2532"/>
              <a:ext cx="27" cy="28"/>
            </a:xfrm>
            <a:custGeom>
              <a:avLst/>
              <a:gdLst>
                <a:gd name="T0" fmla="*/ 26 w 27"/>
                <a:gd name="T1" fmla="*/ 15 h 28"/>
                <a:gd name="T2" fmla="*/ 12 w 27"/>
                <a:gd name="T3" fmla="*/ 0 h 28"/>
                <a:gd name="T4" fmla="*/ 0 w 27"/>
                <a:gd name="T5" fmla="*/ 27 h 28"/>
                <a:gd name="T6" fmla="*/ 26 w 27"/>
                <a:gd name="T7" fmla="*/ 15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5"/>
                  </a:moveTo>
                  <a:lnTo>
                    <a:pt x="12" y="0"/>
                  </a:lnTo>
                  <a:lnTo>
                    <a:pt x="0" y="27"/>
                  </a:lnTo>
                  <a:lnTo>
                    <a:pt x="26"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6" name="Freeform 5967"/>
            <p:cNvSpPr>
              <a:spLocks/>
            </p:cNvSpPr>
            <p:nvPr/>
          </p:nvSpPr>
          <p:spPr bwMode="auto">
            <a:xfrm>
              <a:off x="1853" y="2532"/>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7" name="Line 5968"/>
            <p:cNvSpPr>
              <a:spLocks noChangeShapeType="1"/>
            </p:cNvSpPr>
            <p:nvPr/>
          </p:nvSpPr>
          <p:spPr bwMode="auto">
            <a:xfrm>
              <a:off x="1861" y="25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8" name="Freeform 5969"/>
            <p:cNvSpPr>
              <a:spLocks/>
            </p:cNvSpPr>
            <p:nvPr/>
          </p:nvSpPr>
          <p:spPr bwMode="auto">
            <a:xfrm>
              <a:off x="1846" y="2527"/>
              <a:ext cx="27" cy="26"/>
            </a:xfrm>
            <a:custGeom>
              <a:avLst/>
              <a:gdLst>
                <a:gd name="T0" fmla="*/ 26 w 27"/>
                <a:gd name="T1" fmla="*/ 0 h 26"/>
                <a:gd name="T2" fmla="*/ 0 w 27"/>
                <a:gd name="T3" fmla="*/ 11 h 26"/>
                <a:gd name="T4" fmla="*/ 16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11"/>
                  </a:lnTo>
                  <a:lnTo>
                    <a:pt x="16" y="2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599" name="Freeform 5970"/>
            <p:cNvSpPr>
              <a:spLocks/>
            </p:cNvSpPr>
            <p:nvPr/>
          </p:nvSpPr>
          <p:spPr bwMode="auto">
            <a:xfrm>
              <a:off x="1846" y="2519"/>
              <a:ext cx="27" cy="28"/>
            </a:xfrm>
            <a:custGeom>
              <a:avLst/>
              <a:gdLst>
                <a:gd name="T0" fmla="*/ 26 w 27"/>
                <a:gd name="T1" fmla="*/ 13 h 28"/>
                <a:gd name="T2" fmla="*/ 16 w 27"/>
                <a:gd name="T3" fmla="*/ 0 h 28"/>
                <a:gd name="T4" fmla="*/ 0 w 27"/>
                <a:gd name="T5" fmla="*/ 27 h 28"/>
                <a:gd name="T6" fmla="*/ 26 w 27"/>
                <a:gd name="T7" fmla="*/ 13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3"/>
                  </a:moveTo>
                  <a:lnTo>
                    <a:pt x="16" y="0"/>
                  </a:lnTo>
                  <a:lnTo>
                    <a:pt x="0" y="27"/>
                  </a:lnTo>
                  <a:lnTo>
                    <a:pt x="26" y="1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0" name="Freeform 5971"/>
            <p:cNvSpPr>
              <a:spLocks/>
            </p:cNvSpPr>
            <p:nvPr/>
          </p:nvSpPr>
          <p:spPr bwMode="auto">
            <a:xfrm>
              <a:off x="1868" y="251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1" name="Line 5972"/>
            <p:cNvSpPr>
              <a:spLocks noChangeShapeType="1"/>
            </p:cNvSpPr>
            <p:nvPr/>
          </p:nvSpPr>
          <p:spPr bwMode="auto">
            <a:xfrm>
              <a:off x="1868" y="252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2" name="Freeform 5973"/>
            <p:cNvSpPr>
              <a:spLocks/>
            </p:cNvSpPr>
            <p:nvPr/>
          </p:nvSpPr>
          <p:spPr bwMode="auto">
            <a:xfrm>
              <a:off x="1861" y="2505"/>
              <a:ext cx="24" cy="26"/>
            </a:xfrm>
            <a:custGeom>
              <a:avLst/>
              <a:gdLst>
                <a:gd name="T0" fmla="*/ 23 w 24"/>
                <a:gd name="T1" fmla="*/ 0 h 26"/>
                <a:gd name="T2" fmla="*/ 0 w 24"/>
                <a:gd name="T3" fmla="*/ 17 h 26"/>
                <a:gd name="T4" fmla="*/ 8 w 24"/>
                <a:gd name="T5" fmla="*/ 25 h 26"/>
                <a:gd name="T6" fmla="*/ 23 w 24"/>
                <a:gd name="T7" fmla="*/ 0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0"/>
                  </a:moveTo>
                  <a:lnTo>
                    <a:pt x="0" y="17"/>
                  </a:lnTo>
                  <a:lnTo>
                    <a:pt x="8" y="25"/>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3" name="Freeform 5974"/>
            <p:cNvSpPr>
              <a:spLocks/>
            </p:cNvSpPr>
            <p:nvPr/>
          </p:nvSpPr>
          <p:spPr bwMode="auto">
            <a:xfrm>
              <a:off x="1861" y="2498"/>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4" name="Freeform 5975"/>
            <p:cNvSpPr>
              <a:spLocks/>
            </p:cNvSpPr>
            <p:nvPr/>
          </p:nvSpPr>
          <p:spPr bwMode="auto">
            <a:xfrm>
              <a:off x="1880" y="24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5" name="Line 5976"/>
            <p:cNvSpPr>
              <a:spLocks noChangeShapeType="1"/>
            </p:cNvSpPr>
            <p:nvPr/>
          </p:nvSpPr>
          <p:spPr bwMode="auto">
            <a:xfrm>
              <a:off x="1880" y="2505"/>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6" name="Freeform 5977"/>
            <p:cNvSpPr>
              <a:spLocks/>
            </p:cNvSpPr>
            <p:nvPr/>
          </p:nvSpPr>
          <p:spPr bwMode="auto">
            <a:xfrm>
              <a:off x="1872" y="2489"/>
              <a:ext cx="28" cy="28"/>
            </a:xfrm>
            <a:custGeom>
              <a:avLst/>
              <a:gdLst>
                <a:gd name="T0" fmla="*/ 27 w 28"/>
                <a:gd name="T1" fmla="*/ 0 h 28"/>
                <a:gd name="T2" fmla="*/ 0 w 28"/>
                <a:gd name="T3" fmla="*/ 15 h 28"/>
                <a:gd name="T4" fmla="*/ 8 w 28"/>
                <a:gd name="T5" fmla="*/ 27 h 28"/>
                <a:gd name="T6" fmla="*/ 27 w 28"/>
                <a:gd name="T7" fmla="*/ 0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0"/>
                  </a:moveTo>
                  <a:lnTo>
                    <a:pt x="0" y="15"/>
                  </a:lnTo>
                  <a:lnTo>
                    <a:pt x="8" y="27"/>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7" name="Freeform 5978"/>
            <p:cNvSpPr>
              <a:spLocks/>
            </p:cNvSpPr>
            <p:nvPr/>
          </p:nvSpPr>
          <p:spPr bwMode="auto">
            <a:xfrm>
              <a:off x="1872" y="2484"/>
              <a:ext cx="28" cy="26"/>
            </a:xfrm>
            <a:custGeom>
              <a:avLst/>
              <a:gdLst>
                <a:gd name="T0" fmla="*/ 27 w 28"/>
                <a:gd name="T1" fmla="*/ 11 h 26"/>
                <a:gd name="T2" fmla="*/ 18 w 28"/>
                <a:gd name="T3" fmla="*/ 0 h 26"/>
                <a:gd name="T4" fmla="*/ 0 w 28"/>
                <a:gd name="T5" fmla="*/ 25 h 26"/>
                <a:gd name="T6" fmla="*/ 27 w 28"/>
                <a:gd name="T7" fmla="*/ 11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11"/>
                  </a:moveTo>
                  <a:lnTo>
                    <a:pt x="18" y="0"/>
                  </a:lnTo>
                  <a:lnTo>
                    <a:pt x="0" y="25"/>
                  </a:lnTo>
                  <a:lnTo>
                    <a:pt x="27"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8" name="Freeform 5979"/>
            <p:cNvSpPr>
              <a:spLocks/>
            </p:cNvSpPr>
            <p:nvPr/>
          </p:nvSpPr>
          <p:spPr bwMode="auto">
            <a:xfrm>
              <a:off x="1891" y="2484"/>
              <a:ext cx="1" cy="26"/>
            </a:xfrm>
            <a:custGeom>
              <a:avLst/>
              <a:gdLst>
                <a:gd name="T0" fmla="*/ 0 w 1"/>
                <a:gd name="T1" fmla="*/ 25 h 26"/>
                <a:gd name="T2" fmla="*/ 0 w 1"/>
                <a:gd name="T3" fmla="*/ 25 h 26"/>
                <a:gd name="T4" fmla="*/ 0 w 1"/>
                <a:gd name="T5" fmla="*/ 0 h 26"/>
                <a:gd name="T6" fmla="*/ 0 w 1"/>
                <a:gd name="T7" fmla="*/ 25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25"/>
                  </a:moveTo>
                  <a:lnTo>
                    <a:pt x="0" y="25"/>
                  </a:lnTo>
                  <a:lnTo>
                    <a:pt x="0" y="0"/>
                  </a:lnTo>
                  <a:lnTo>
                    <a:pt x="0"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09" name="Freeform 5980"/>
            <p:cNvSpPr>
              <a:spLocks/>
            </p:cNvSpPr>
            <p:nvPr/>
          </p:nvSpPr>
          <p:spPr bwMode="auto">
            <a:xfrm>
              <a:off x="1885" y="2468"/>
              <a:ext cx="25" cy="28"/>
            </a:xfrm>
            <a:custGeom>
              <a:avLst/>
              <a:gdLst>
                <a:gd name="T0" fmla="*/ 24 w 25"/>
                <a:gd name="T1" fmla="*/ 0 h 28"/>
                <a:gd name="T2" fmla="*/ 0 w 25"/>
                <a:gd name="T3" fmla="*/ 18 h 28"/>
                <a:gd name="T4" fmla="*/ 7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18"/>
                  </a:lnTo>
                  <a:lnTo>
                    <a:pt x="7" y="27"/>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0" name="Freeform 5981"/>
            <p:cNvSpPr>
              <a:spLocks/>
            </p:cNvSpPr>
            <p:nvPr/>
          </p:nvSpPr>
          <p:spPr bwMode="auto">
            <a:xfrm>
              <a:off x="1885" y="2462"/>
              <a:ext cx="25" cy="27"/>
            </a:xfrm>
            <a:custGeom>
              <a:avLst/>
              <a:gdLst>
                <a:gd name="T0" fmla="*/ 24 w 25"/>
                <a:gd name="T1" fmla="*/ 8 h 27"/>
                <a:gd name="T2" fmla="*/ 14 w 25"/>
                <a:gd name="T3" fmla="*/ 0 h 27"/>
                <a:gd name="T4" fmla="*/ 0 w 25"/>
                <a:gd name="T5" fmla="*/ 26 h 27"/>
                <a:gd name="T6" fmla="*/ 24 w 25"/>
                <a:gd name="T7" fmla="*/ 8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8"/>
                  </a:moveTo>
                  <a:lnTo>
                    <a:pt x="14" y="0"/>
                  </a:lnTo>
                  <a:lnTo>
                    <a:pt x="0" y="26"/>
                  </a:lnTo>
                  <a:lnTo>
                    <a:pt x="24"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1" name="Freeform 5982"/>
            <p:cNvSpPr>
              <a:spLocks/>
            </p:cNvSpPr>
            <p:nvPr/>
          </p:nvSpPr>
          <p:spPr bwMode="auto">
            <a:xfrm>
              <a:off x="1904" y="246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2" name="Line 5983"/>
            <p:cNvSpPr>
              <a:spLocks noChangeShapeType="1"/>
            </p:cNvSpPr>
            <p:nvPr/>
          </p:nvSpPr>
          <p:spPr bwMode="auto">
            <a:xfrm>
              <a:off x="1904" y="246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3" name="Freeform 5984"/>
            <p:cNvSpPr>
              <a:spLocks/>
            </p:cNvSpPr>
            <p:nvPr/>
          </p:nvSpPr>
          <p:spPr bwMode="auto">
            <a:xfrm>
              <a:off x="1899" y="2447"/>
              <a:ext cx="24" cy="27"/>
            </a:xfrm>
            <a:custGeom>
              <a:avLst/>
              <a:gdLst>
                <a:gd name="T0" fmla="*/ 23 w 24"/>
                <a:gd name="T1" fmla="*/ 0 h 27"/>
                <a:gd name="T2" fmla="*/ 0 w 24"/>
                <a:gd name="T3" fmla="*/ 18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8"/>
                  </a:lnTo>
                  <a:lnTo>
                    <a:pt x="8"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4" name="Freeform 5985"/>
            <p:cNvSpPr>
              <a:spLocks/>
            </p:cNvSpPr>
            <p:nvPr/>
          </p:nvSpPr>
          <p:spPr bwMode="auto">
            <a:xfrm>
              <a:off x="1899" y="2441"/>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5" name="Freeform 5986"/>
            <p:cNvSpPr>
              <a:spLocks/>
            </p:cNvSpPr>
            <p:nvPr/>
          </p:nvSpPr>
          <p:spPr bwMode="auto">
            <a:xfrm>
              <a:off x="1917" y="244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6" name="Line 5987"/>
            <p:cNvSpPr>
              <a:spLocks noChangeShapeType="1"/>
            </p:cNvSpPr>
            <p:nvPr/>
          </p:nvSpPr>
          <p:spPr bwMode="auto">
            <a:xfrm>
              <a:off x="1917" y="244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7" name="Freeform 5988"/>
            <p:cNvSpPr>
              <a:spLocks/>
            </p:cNvSpPr>
            <p:nvPr/>
          </p:nvSpPr>
          <p:spPr bwMode="auto">
            <a:xfrm>
              <a:off x="1909" y="2420"/>
              <a:ext cx="29" cy="28"/>
            </a:xfrm>
            <a:custGeom>
              <a:avLst/>
              <a:gdLst>
                <a:gd name="T0" fmla="*/ 28 w 29"/>
                <a:gd name="T1" fmla="*/ 0 h 28"/>
                <a:gd name="T2" fmla="*/ 0 w 29"/>
                <a:gd name="T3" fmla="*/ 20 h 28"/>
                <a:gd name="T4" fmla="*/ 8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0" y="20"/>
                  </a:lnTo>
                  <a:lnTo>
                    <a:pt x="8" y="27"/>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8" name="Freeform 5989"/>
            <p:cNvSpPr>
              <a:spLocks/>
            </p:cNvSpPr>
            <p:nvPr/>
          </p:nvSpPr>
          <p:spPr bwMode="auto">
            <a:xfrm>
              <a:off x="1909" y="2412"/>
              <a:ext cx="29" cy="30"/>
            </a:xfrm>
            <a:custGeom>
              <a:avLst/>
              <a:gdLst>
                <a:gd name="T0" fmla="*/ 28 w 29"/>
                <a:gd name="T1" fmla="*/ 6 h 30"/>
                <a:gd name="T2" fmla="*/ 8 w 29"/>
                <a:gd name="T3" fmla="*/ 0 h 30"/>
                <a:gd name="T4" fmla="*/ 0 w 29"/>
                <a:gd name="T5" fmla="*/ 29 h 30"/>
                <a:gd name="T6" fmla="*/ 28 w 29"/>
                <a:gd name="T7" fmla="*/ 6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28" y="6"/>
                  </a:moveTo>
                  <a:lnTo>
                    <a:pt x="8" y="0"/>
                  </a:lnTo>
                  <a:lnTo>
                    <a:pt x="0" y="29"/>
                  </a:lnTo>
                  <a:lnTo>
                    <a:pt x="28"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19" name="Freeform 5990"/>
            <p:cNvSpPr>
              <a:spLocks/>
            </p:cNvSpPr>
            <p:nvPr/>
          </p:nvSpPr>
          <p:spPr bwMode="auto">
            <a:xfrm>
              <a:off x="1929" y="2412"/>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0" name="Line 5991"/>
            <p:cNvSpPr>
              <a:spLocks noChangeShapeType="1"/>
            </p:cNvSpPr>
            <p:nvPr/>
          </p:nvSpPr>
          <p:spPr bwMode="auto">
            <a:xfrm>
              <a:off x="1929" y="2420"/>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1" name="Freeform 5992"/>
            <p:cNvSpPr>
              <a:spLocks/>
            </p:cNvSpPr>
            <p:nvPr/>
          </p:nvSpPr>
          <p:spPr bwMode="auto">
            <a:xfrm>
              <a:off x="1917" y="2398"/>
              <a:ext cx="25" cy="27"/>
            </a:xfrm>
            <a:custGeom>
              <a:avLst/>
              <a:gdLst>
                <a:gd name="T0" fmla="*/ 24 w 25"/>
                <a:gd name="T1" fmla="*/ 0 h 27"/>
                <a:gd name="T2" fmla="*/ 0 w 25"/>
                <a:gd name="T3" fmla="*/ 18 h 27"/>
                <a:gd name="T4" fmla="*/ 12 w 25"/>
                <a:gd name="T5" fmla="*/ 26 h 27"/>
                <a:gd name="T6" fmla="*/ 24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0"/>
                  </a:moveTo>
                  <a:lnTo>
                    <a:pt x="0" y="18"/>
                  </a:lnTo>
                  <a:lnTo>
                    <a:pt x="12" y="26"/>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2" name="Freeform 5993"/>
            <p:cNvSpPr>
              <a:spLocks/>
            </p:cNvSpPr>
            <p:nvPr/>
          </p:nvSpPr>
          <p:spPr bwMode="auto">
            <a:xfrm>
              <a:off x="1917" y="2390"/>
              <a:ext cx="25" cy="27"/>
            </a:xfrm>
            <a:custGeom>
              <a:avLst/>
              <a:gdLst>
                <a:gd name="T0" fmla="*/ 24 w 25"/>
                <a:gd name="T1" fmla="*/ 9 h 27"/>
                <a:gd name="T2" fmla="*/ 12 w 25"/>
                <a:gd name="T3" fmla="*/ 0 h 27"/>
                <a:gd name="T4" fmla="*/ 0 w 25"/>
                <a:gd name="T5" fmla="*/ 26 h 27"/>
                <a:gd name="T6" fmla="*/ 24 w 25"/>
                <a:gd name="T7" fmla="*/ 9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9"/>
                  </a:moveTo>
                  <a:lnTo>
                    <a:pt x="12" y="0"/>
                  </a:lnTo>
                  <a:lnTo>
                    <a:pt x="0" y="26"/>
                  </a:lnTo>
                  <a:lnTo>
                    <a:pt x="24" y="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3" name="Freeform 5994"/>
            <p:cNvSpPr>
              <a:spLocks/>
            </p:cNvSpPr>
            <p:nvPr/>
          </p:nvSpPr>
          <p:spPr bwMode="auto">
            <a:xfrm>
              <a:off x="1937" y="2390"/>
              <a:ext cx="23" cy="27"/>
            </a:xfrm>
            <a:custGeom>
              <a:avLst/>
              <a:gdLst>
                <a:gd name="T0" fmla="*/ 22 w 23"/>
                <a:gd name="T1" fmla="*/ 26 h 27"/>
                <a:gd name="T2" fmla="*/ 22 w 23"/>
                <a:gd name="T3" fmla="*/ 26 h 27"/>
                <a:gd name="T4" fmla="*/ 0 w 23"/>
                <a:gd name="T5" fmla="*/ 0 h 27"/>
                <a:gd name="T6" fmla="*/ 22 w 23"/>
                <a:gd name="T7" fmla="*/ 26 h 27"/>
                <a:gd name="T8" fmla="*/ 0 60000 65536"/>
                <a:gd name="T9" fmla="*/ 0 60000 65536"/>
                <a:gd name="T10" fmla="*/ 0 60000 65536"/>
                <a:gd name="T11" fmla="*/ 0 60000 65536"/>
                <a:gd name="T12" fmla="*/ 0 w 23"/>
                <a:gd name="T13" fmla="*/ 0 h 27"/>
                <a:gd name="T14" fmla="*/ 23 w 23"/>
                <a:gd name="T15" fmla="*/ 27 h 27"/>
              </a:gdLst>
              <a:ahLst/>
              <a:cxnLst>
                <a:cxn ang="T8">
                  <a:pos x="T0" y="T1"/>
                </a:cxn>
                <a:cxn ang="T9">
                  <a:pos x="T2" y="T3"/>
                </a:cxn>
                <a:cxn ang="T10">
                  <a:pos x="T4" y="T5"/>
                </a:cxn>
                <a:cxn ang="T11">
                  <a:pos x="T6" y="T7"/>
                </a:cxn>
              </a:cxnLst>
              <a:rect l="T12" t="T13" r="T14" b="T15"/>
              <a:pathLst>
                <a:path w="23" h="27">
                  <a:moveTo>
                    <a:pt x="22" y="26"/>
                  </a:moveTo>
                  <a:lnTo>
                    <a:pt x="22" y="26"/>
                  </a:lnTo>
                  <a:lnTo>
                    <a:pt x="0" y="0"/>
                  </a:lnTo>
                  <a:lnTo>
                    <a:pt x="22"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4" name="Line 5995"/>
            <p:cNvSpPr>
              <a:spLocks noChangeShapeType="1"/>
            </p:cNvSpPr>
            <p:nvPr/>
          </p:nvSpPr>
          <p:spPr bwMode="auto">
            <a:xfrm>
              <a:off x="1941" y="239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5" name="Freeform 5996"/>
            <p:cNvSpPr>
              <a:spLocks/>
            </p:cNvSpPr>
            <p:nvPr/>
          </p:nvSpPr>
          <p:spPr bwMode="auto">
            <a:xfrm>
              <a:off x="1929" y="2369"/>
              <a:ext cx="27" cy="30"/>
            </a:xfrm>
            <a:custGeom>
              <a:avLst/>
              <a:gdLst>
                <a:gd name="T0" fmla="*/ 26 w 27"/>
                <a:gd name="T1" fmla="*/ 0 h 30"/>
                <a:gd name="T2" fmla="*/ 0 w 27"/>
                <a:gd name="T3" fmla="*/ 20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0"/>
                  </a:lnTo>
                  <a:lnTo>
                    <a:pt x="13" y="29"/>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6" name="Freeform 5997"/>
            <p:cNvSpPr>
              <a:spLocks/>
            </p:cNvSpPr>
            <p:nvPr/>
          </p:nvSpPr>
          <p:spPr bwMode="auto">
            <a:xfrm>
              <a:off x="1929" y="2361"/>
              <a:ext cx="27" cy="30"/>
            </a:xfrm>
            <a:custGeom>
              <a:avLst/>
              <a:gdLst>
                <a:gd name="T0" fmla="*/ 26 w 27"/>
                <a:gd name="T1" fmla="*/ 6 h 30"/>
                <a:gd name="T2" fmla="*/ 13 w 27"/>
                <a:gd name="T3" fmla="*/ 0 h 30"/>
                <a:gd name="T4" fmla="*/ 0 w 27"/>
                <a:gd name="T5" fmla="*/ 29 h 30"/>
                <a:gd name="T6" fmla="*/ 26 w 27"/>
                <a:gd name="T7" fmla="*/ 6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6"/>
                  </a:moveTo>
                  <a:lnTo>
                    <a:pt x="13" y="0"/>
                  </a:lnTo>
                  <a:lnTo>
                    <a:pt x="0" y="29"/>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7" name="Freeform 5998"/>
            <p:cNvSpPr>
              <a:spLocks/>
            </p:cNvSpPr>
            <p:nvPr/>
          </p:nvSpPr>
          <p:spPr bwMode="auto">
            <a:xfrm>
              <a:off x="1946" y="2361"/>
              <a:ext cx="25" cy="28"/>
            </a:xfrm>
            <a:custGeom>
              <a:avLst/>
              <a:gdLst>
                <a:gd name="T0" fmla="*/ 24 w 25"/>
                <a:gd name="T1" fmla="*/ 27 h 28"/>
                <a:gd name="T2" fmla="*/ 24 w 25"/>
                <a:gd name="T3" fmla="*/ 27 h 28"/>
                <a:gd name="T4" fmla="*/ 0 w 25"/>
                <a:gd name="T5" fmla="*/ 0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27"/>
                  </a:lnTo>
                  <a:lnTo>
                    <a:pt x="0" y="0"/>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8" name="Line 5999"/>
            <p:cNvSpPr>
              <a:spLocks noChangeShapeType="1"/>
            </p:cNvSpPr>
            <p:nvPr/>
          </p:nvSpPr>
          <p:spPr bwMode="auto">
            <a:xfrm>
              <a:off x="1955" y="2369"/>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29" name="Freeform 6000"/>
            <p:cNvSpPr>
              <a:spLocks/>
            </p:cNvSpPr>
            <p:nvPr/>
          </p:nvSpPr>
          <p:spPr bwMode="auto">
            <a:xfrm>
              <a:off x="1941" y="2340"/>
              <a:ext cx="27" cy="30"/>
            </a:xfrm>
            <a:custGeom>
              <a:avLst/>
              <a:gdLst>
                <a:gd name="T0" fmla="*/ 26 w 27"/>
                <a:gd name="T1" fmla="*/ 0 h 30"/>
                <a:gd name="T2" fmla="*/ 0 w 27"/>
                <a:gd name="T3" fmla="*/ 22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2"/>
                  </a:lnTo>
                  <a:lnTo>
                    <a:pt x="13" y="29"/>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0" name="Freeform 6001"/>
            <p:cNvSpPr>
              <a:spLocks/>
            </p:cNvSpPr>
            <p:nvPr/>
          </p:nvSpPr>
          <p:spPr bwMode="auto">
            <a:xfrm>
              <a:off x="1941" y="2334"/>
              <a:ext cx="27" cy="28"/>
            </a:xfrm>
            <a:custGeom>
              <a:avLst/>
              <a:gdLst>
                <a:gd name="T0" fmla="*/ 26 w 27"/>
                <a:gd name="T1" fmla="*/ 6 h 28"/>
                <a:gd name="T2" fmla="*/ 13 w 27"/>
                <a:gd name="T3" fmla="*/ 0 h 28"/>
                <a:gd name="T4" fmla="*/ 0 w 27"/>
                <a:gd name="T5" fmla="*/ 27 h 28"/>
                <a:gd name="T6" fmla="*/ 26 w 27"/>
                <a:gd name="T7" fmla="*/ 6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6"/>
                  </a:moveTo>
                  <a:lnTo>
                    <a:pt x="13" y="0"/>
                  </a:lnTo>
                  <a:lnTo>
                    <a:pt x="0" y="27"/>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1" name="Freeform 6002"/>
            <p:cNvSpPr>
              <a:spLocks/>
            </p:cNvSpPr>
            <p:nvPr/>
          </p:nvSpPr>
          <p:spPr bwMode="auto">
            <a:xfrm>
              <a:off x="1959" y="2334"/>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2" name="Line 6003"/>
            <p:cNvSpPr>
              <a:spLocks noChangeShapeType="1"/>
            </p:cNvSpPr>
            <p:nvPr/>
          </p:nvSpPr>
          <p:spPr bwMode="auto">
            <a:xfrm>
              <a:off x="1964" y="2340"/>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3" name="Freeform 6004"/>
            <p:cNvSpPr>
              <a:spLocks/>
            </p:cNvSpPr>
            <p:nvPr/>
          </p:nvSpPr>
          <p:spPr bwMode="auto">
            <a:xfrm>
              <a:off x="1955" y="2312"/>
              <a:ext cx="25" cy="29"/>
            </a:xfrm>
            <a:custGeom>
              <a:avLst/>
              <a:gdLst>
                <a:gd name="T0" fmla="*/ 24 w 25"/>
                <a:gd name="T1" fmla="*/ 0 h 29"/>
                <a:gd name="T2" fmla="*/ 0 w 25"/>
                <a:gd name="T3" fmla="*/ 21 h 29"/>
                <a:gd name="T4" fmla="*/ 11 w 25"/>
                <a:gd name="T5" fmla="*/ 28 h 29"/>
                <a:gd name="T6" fmla="*/ 24 w 25"/>
                <a:gd name="T7" fmla="*/ 0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0"/>
                  </a:moveTo>
                  <a:lnTo>
                    <a:pt x="0" y="21"/>
                  </a:lnTo>
                  <a:lnTo>
                    <a:pt x="11" y="28"/>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4" name="Freeform 6005"/>
            <p:cNvSpPr>
              <a:spLocks/>
            </p:cNvSpPr>
            <p:nvPr/>
          </p:nvSpPr>
          <p:spPr bwMode="auto">
            <a:xfrm>
              <a:off x="1955" y="2304"/>
              <a:ext cx="25" cy="31"/>
            </a:xfrm>
            <a:custGeom>
              <a:avLst/>
              <a:gdLst>
                <a:gd name="T0" fmla="*/ 24 w 25"/>
                <a:gd name="T1" fmla="*/ 8 h 31"/>
                <a:gd name="T2" fmla="*/ 11 w 25"/>
                <a:gd name="T3" fmla="*/ 0 h 31"/>
                <a:gd name="T4" fmla="*/ 0 w 25"/>
                <a:gd name="T5" fmla="*/ 30 h 31"/>
                <a:gd name="T6" fmla="*/ 24 w 25"/>
                <a:gd name="T7" fmla="*/ 8 h 31"/>
                <a:gd name="T8" fmla="*/ 0 60000 65536"/>
                <a:gd name="T9" fmla="*/ 0 60000 65536"/>
                <a:gd name="T10" fmla="*/ 0 60000 65536"/>
                <a:gd name="T11" fmla="*/ 0 60000 65536"/>
                <a:gd name="T12" fmla="*/ 0 w 25"/>
                <a:gd name="T13" fmla="*/ 0 h 31"/>
                <a:gd name="T14" fmla="*/ 25 w 25"/>
                <a:gd name="T15" fmla="*/ 31 h 31"/>
              </a:gdLst>
              <a:ahLst/>
              <a:cxnLst>
                <a:cxn ang="T8">
                  <a:pos x="T0" y="T1"/>
                </a:cxn>
                <a:cxn ang="T9">
                  <a:pos x="T2" y="T3"/>
                </a:cxn>
                <a:cxn ang="T10">
                  <a:pos x="T4" y="T5"/>
                </a:cxn>
                <a:cxn ang="T11">
                  <a:pos x="T6" y="T7"/>
                </a:cxn>
              </a:cxnLst>
              <a:rect l="T12" t="T13" r="T14" b="T15"/>
              <a:pathLst>
                <a:path w="25" h="31">
                  <a:moveTo>
                    <a:pt x="24" y="8"/>
                  </a:moveTo>
                  <a:lnTo>
                    <a:pt x="11" y="0"/>
                  </a:lnTo>
                  <a:lnTo>
                    <a:pt x="0" y="30"/>
                  </a:lnTo>
                  <a:lnTo>
                    <a:pt x="24"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5" name="Freeform 6006"/>
            <p:cNvSpPr>
              <a:spLocks/>
            </p:cNvSpPr>
            <p:nvPr/>
          </p:nvSpPr>
          <p:spPr bwMode="auto">
            <a:xfrm>
              <a:off x="1975" y="2304"/>
              <a:ext cx="23" cy="28"/>
            </a:xfrm>
            <a:custGeom>
              <a:avLst/>
              <a:gdLst>
                <a:gd name="T0" fmla="*/ 22 w 23"/>
                <a:gd name="T1" fmla="*/ 27 h 28"/>
                <a:gd name="T2" fmla="*/ 22 w 23"/>
                <a:gd name="T3" fmla="*/ 27 h 28"/>
                <a:gd name="T4" fmla="*/ 0 w 23"/>
                <a:gd name="T5" fmla="*/ 0 h 28"/>
                <a:gd name="T6" fmla="*/ 22 w 23"/>
                <a:gd name="T7" fmla="*/ 27 h 28"/>
                <a:gd name="T8" fmla="*/ 0 60000 65536"/>
                <a:gd name="T9" fmla="*/ 0 60000 65536"/>
                <a:gd name="T10" fmla="*/ 0 60000 65536"/>
                <a:gd name="T11" fmla="*/ 0 60000 65536"/>
                <a:gd name="T12" fmla="*/ 0 w 23"/>
                <a:gd name="T13" fmla="*/ 0 h 28"/>
                <a:gd name="T14" fmla="*/ 23 w 23"/>
                <a:gd name="T15" fmla="*/ 28 h 28"/>
              </a:gdLst>
              <a:ahLst/>
              <a:cxnLst>
                <a:cxn ang="T8">
                  <a:pos x="T0" y="T1"/>
                </a:cxn>
                <a:cxn ang="T9">
                  <a:pos x="T2" y="T3"/>
                </a:cxn>
                <a:cxn ang="T10">
                  <a:pos x="T4" y="T5"/>
                </a:cxn>
                <a:cxn ang="T11">
                  <a:pos x="T6" y="T7"/>
                </a:cxn>
              </a:cxnLst>
              <a:rect l="T12" t="T13" r="T14" b="T15"/>
              <a:pathLst>
                <a:path w="23" h="28">
                  <a:moveTo>
                    <a:pt x="22" y="27"/>
                  </a:moveTo>
                  <a:lnTo>
                    <a:pt x="22" y="27"/>
                  </a:lnTo>
                  <a:lnTo>
                    <a:pt x="0" y="0"/>
                  </a:lnTo>
                  <a:lnTo>
                    <a:pt x="22"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6" name="Line 6007"/>
            <p:cNvSpPr>
              <a:spLocks noChangeShapeType="1"/>
            </p:cNvSpPr>
            <p:nvPr/>
          </p:nvSpPr>
          <p:spPr bwMode="auto">
            <a:xfrm>
              <a:off x="1978" y="2312"/>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7" name="Freeform 6008"/>
            <p:cNvSpPr>
              <a:spLocks/>
            </p:cNvSpPr>
            <p:nvPr/>
          </p:nvSpPr>
          <p:spPr bwMode="auto">
            <a:xfrm>
              <a:off x="1964" y="2277"/>
              <a:ext cx="29" cy="36"/>
            </a:xfrm>
            <a:custGeom>
              <a:avLst/>
              <a:gdLst>
                <a:gd name="T0" fmla="*/ 28 w 29"/>
                <a:gd name="T1" fmla="*/ 0 h 36"/>
                <a:gd name="T2" fmla="*/ 0 w 29"/>
                <a:gd name="T3" fmla="*/ 27 h 36"/>
                <a:gd name="T4" fmla="*/ 14 w 29"/>
                <a:gd name="T5" fmla="*/ 35 h 36"/>
                <a:gd name="T6" fmla="*/ 28 w 29"/>
                <a:gd name="T7" fmla="*/ 0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28" y="0"/>
                  </a:moveTo>
                  <a:lnTo>
                    <a:pt x="0" y="27"/>
                  </a:lnTo>
                  <a:lnTo>
                    <a:pt x="14" y="35"/>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8" name="Freeform 6009"/>
            <p:cNvSpPr>
              <a:spLocks/>
            </p:cNvSpPr>
            <p:nvPr/>
          </p:nvSpPr>
          <p:spPr bwMode="auto">
            <a:xfrm>
              <a:off x="1964" y="2277"/>
              <a:ext cx="29" cy="28"/>
            </a:xfrm>
            <a:custGeom>
              <a:avLst/>
              <a:gdLst>
                <a:gd name="T0" fmla="*/ 28 w 29"/>
                <a:gd name="T1" fmla="*/ 0 h 28"/>
                <a:gd name="T2" fmla="*/ 14 w 29"/>
                <a:gd name="T3" fmla="*/ 0 h 28"/>
                <a:gd name="T4" fmla="*/ 0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14" y="0"/>
                  </a:lnTo>
                  <a:lnTo>
                    <a:pt x="0" y="27"/>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39" name="Freeform 6010"/>
            <p:cNvSpPr>
              <a:spLocks/>
            </p:cNvSpPr>
            <p:nvPr/>
          </p:nvSpPr>
          <p:spPr bwMode="auto">
            <a:xfrm>
              <a:off x="1984" y="2277"/>
              <a:ext cx="25" cy="1"/>
            </a:xfrm>
            <a:custGeom>
              <a:avLst/>
              <a:gdLst>
                <a:gd name="T0" fmla="*/ 24 w 25"/>
                <a:gd name="T1" fmla="*/ 0 h 1"/>
                <a:gd name="T2" fmla="*/ 24 w 25"/>
                <a:gd name="T3" fmla="*/ 0 h 1"/>
                <a:gd name="T4" fmla="*/ 0 w 25"/>
                <a:gd name="T5" fmla="*/ 0 h 1"/>
                <a:gd name="T6" fmla="*/ 24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24" y="0"/>
                  </a:moveTo>
                  <a:lnTo>
                    <a:pt x="24" y="0"/>
                  </a:lnTo>
                  <a:lnTo>
                    <a:pt x="0" y="0"/>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0" name="Line 6011"/>
            <p:cNvSpPr>
              <a:spLocks noChangeShapeType="1"/>
            </p:cNvSpPr>
            <p:nvPr/>
          </p:nvSpPr>
          <p:spPr bwMode="auto">
            <a:xfrm>
              <a:off x="1992" y="227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1" name="Freeform 6012"/>
            <p:cNvSpPr>
              <a:spLocks/>
            </p:cNvSpPr>
            <p:nvPr/>
          </p:nvSpPr>
          <p:spPr bwMode="auto">
            <a:xfrm>
              <a:off x="1978" y="2248"/>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2" name="Freeform 6013"/>
            <p:cNvSpPr>
              <a:spLocks/>
            </p:cNvSpPr>
            <p:nvPr/>
          </p:nvSpPr>
          <p:spPr bwMode="auto">
            <a:xfrm>
              <a:off x="1978" y="2241"/>
              <a:ext cx="25" cy="37"/>
            </a:xfrm>
            <a:custGeom>
              <a:avLst/>
              <a:gdLst>
                <a:gd name="T0" fmla="*/ 24 w 25"/>
                <a:gd name="T1" fmla="*/ 6 h 37"/>
                <a:gd name="T2" fmla="*/ 12 w 25"/>
                <a:gd name="T3" fmla="*/ 0 h 37"/>
                <a:gd name="T4" fmla="*/ 0 w 25"/>
                <a:gd name="T5" fmla="*/ 36 h 37"/>
                <a:gd name="T6" fmla="*/ 24 w 25"/>
                <a:gd name="T7" fmla="*/ 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24" y="6"/>
                  </a:moveTo>
                  <a:lnTo>
                    <a:pt x="12" y="0"/>
                  </a:lnTo>
                  <a:lnTo>
                    <a:pt x="0" y="36"/>
                  </a:lnTo>
                  <a:lnTo>
                    <a:pt x="24"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3" name="Freeform 6014"/>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4" name="Freeform 6015"/>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5" name="Freeform 6016"/>
            <p:cNvSpPr>
              <a:spLocks/>
            </p:cNvSpPr>
            <p:nvPr/>
          </p:nvSpPr>
          <p:spPr bwMode="auto">
            <a:xfrm>
              <a:off x="1992" y="2213"/>
              <a:ext cx="26" cy="36"/>
            </a:xfrm>
            <a:custGeom>
              <a:avLst/>
              <a:gdLst>
                <a:gd name="T0" fmla="*/ 25 w 26"/>
                <a:gd name="T1" fmla="*/ 0 h 36"/>
                <a:gd name="T2" fmla="*/ 0 w 26"/>
                <a:gd name="T3" fmla="*/ 28 h 36"/>
                <a:gd name="T4" fmla="*/ 11 w 26"/>
                <a:gd name="T5" fmla="*/ 35 h 36"/>
                <a:gd name="T6" fmla="*/ 25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0"/>
                  </a:moveTo>
                  <a:lnTo>
                    <a:pt x="0" y="28"/>
                  </a:lnTo>
                  <a:lnTo>
                    <a:pt x="11" y="35"/>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6" name="Freeform 6017"/>
            <p:cNvSpPr>
              <a:spLocks/>
            </p:cNvSpPr>
            <p:nvPr/>
          </p:nvSpPr>
          <p:spPr bwMode="auto">
            <a:xfrm>
              <a:off x="1992" y="2213"/>
              <a:ext cx="26" cy="29"/>
            </a:xfrm>
            <a:custGeom>
              <a:avLst/>
              <a:gdLst>
                <a:gd name="T0" fmla="*/ 25 w 26"/>
                <a:gd name="T1" fmla="*/ 0 h 29"/>
                <a:gd name="T2" fmla="*/ 11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1" y="0"/>
                  </a:lnTo>
                  <a:lnTo>
                    <a:pt x="0" y="28"/>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7" name="Freeform 6018"/>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8" name="Freeform 6019"/>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49" name="Freeform 6020"/>
            <p:cNvSpPr>
              <a:spLocks/>
            </p:cNvSpPr>
            <p:nvPr/>
          </p:nvSpPr>
          <p:spPr bwMode="auto">
            <a:xfrm>
              <a:off x="2002" y="2184"/>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0" name="Freeform 6021"/>
            <p:cNvSpPr>
              <a:spLocks/>
            </p:cNvSpPr>
            <p:nvPr/>
          </p:nvSpPr>
          <p:spPr bwMode="auto">
            <a:xfrm>
              <a:off x="2002" y="2176"/>
              <a:ext cx="25" cy="38"/>
            </a:xfrm>
            <a:custGeom>
              <a:avLst/>
              <a:gdLst>
                <a:gd name="T0" fmla="*/ 24 w 25"/>
                <a:gd name="T1" fmla="*/ 6 h 38"/>
                <a:gd name="T2" fmla="*/ 12 w 25"/>
                <a:gd name="T3" fmla="*/ 0 h 38"/>
                <a:gd name="T4" fmla="*/ 0 w 25"/>
                <a:gd name="T5" fmla="*/ 37 h 38"/>
                <a:gd name="T6" fmla="*/ 24 w 25"/>
                <a:gd name="T7" fmla="*/ 6 h 38"/>
                <a:gd name="T8" fmla="*/ 0 60000 65536"/>
                <a:gd name="T9" fmla="*/ 0 60000 65536"/>
                <a:gd name="T10" fmla="*/ 0 60000 65536"/>
                <a:gd name="T11" fmla="*/ 0 60000 65536"/>
                <a:gd name="T12" fmla="*/ 0 w 25"/>
                <a:gd name="T13" fmla="*/ 0 h 38"/>
                <a:gd name="T14" fmla="*/ 25 w 25"/>
                <a:gd name="T15" fmla="*/ 38 h 38"/>
              </a:gdLst>
              <a:ahLst/>
              <a:cxnLst>
                <a:cxn ang="T8">
                  <a:pos x="T0" y="T1"/>
                </a:cxn>
                <a:cxn ang="T9">
                  <a:pos x="T2" y="T3"/>
                </a:cxn>
                <a:cxn ang="T10">
                  <a:pos x="T4" y="T5"/>
                </a:cxn>
                <a:cxn ang="T11">
                  <a:pos x="T6" y="T7"/>
                </a:cxn>
              </a:cxnLst>
              <a:rect l="T12" t="T13" r="T14" b="T15"/>
              <a:pathLst>
                <a:path w="25" h="38">
                  <a:moveTo>
                    <a:pt x="24" y="6"/>
                  </a:moveTo>
                  <a:lnTo>
                    <a:pt x="12" y="0"/>
                  </a:lnTo>
                  <a:lnTo>
                    <a:pt x="0" y="37"/>
                  </a:lnTo>
                  <a:lnTo>
                    <a:pt x="24"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1" name="Freeform 6022"/>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2" name="Freeform 6023"/>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3" name="Freeform 6024"/>
            <p:cNvSpPr>
              <a:spLocks/>
            </p:cNvSpPr>
            <p:nvPr/>
          </p:nvSpPr>
          <p:spPr bwMode="auto">
            <a:xfrm>
              <a:off x="2013" y="2149"/>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4" name="Freeform 6025"/>
            <p:cNvSpPr>
              <a:spLocks/>
            </p:cNvSpPr>
            <p:nvPr/>
          </p:nvSpPr>
          <p:spPr bwMode="auto">
            <a:xfrm>
              <a:off x="2013" y="2141"/>
              <a:ext cx="27" cy="36"/>
            </a:xfrm>
            <a:custGeom>
              <a:avLst/>
              <a:gdLst>
                <a:gd name="T0" fmla="*/ 26 w 27"/>
                <a:gd name="T1" fmla="*/ 7 h 36"/>
                <a:gd name="T2" fmla="*/ 13 w 27"/>
                <a:gd name="T3" fmla="*/ 0 h 36"/>
                <a:gd name="T4" fmla="*/ 0 w 27"/>
                <a:gd name="T5" fmla="*/ 35 h 36"/>
                <a:gd name="T6" fmla="*/ 26 w 27"/>
                <a:gd name="T7" fmla="*/ 7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7"/>
                  </a:moveTo>
                  <a:lnTo>
                    <a:pt x="13" y="0"/>
                  </a:lnTo>
                  <a:lnTo>
                    <a:pt x="0" y="35"/>
                  </a:lnTo>
                  <a:lnTo>
                    <a:pt x="26" y="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5" name="Freeform 6026"/>
            <p:cNvSpPr>
              <a:spLocks/>
            </p:cNvSpPr>
            <p:nvPr/>
          </p:nvSpPr>
          <p:spPr bwMode="auto">
            <a:xfrm>
              <a:off x="2034" y="21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6" name="Freeform 6027"/>
            <p:cNvSpPr>
              <a:spLocks/>
            </p:cNvSpPr>
            <p:nvPr/>
          </p:nvSpPr>
          <p:spPr bwMode="auto">
            <a:xfrm>
              <a:off x="2034" y="2141"/>
              <a:ext cx="25" cy="27"/>
            </a:xfrm>
            <a:custGeom>
              <a:avLst/>
              <a:gdLst>
                <a:gd name="T0" fmla="*/ 0 w 25"/>
                <a:gd name="T1" fmla="*/ 0 h 27"/>
                <a:gd name="T2" fmla="*/ 24 w 25"/>
                <a:gd name="T3" fmla="*/ 26 h 27"/>
                <a:gd name="T4" fmla="*/ 24 w 25"/>
                <a:gd name="T5" fmla="*/ 26 h 27"/>
                <a:gd name="T6" fmla="*/ 0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0"/>
                  </a:moveTo>
                  <a:lnTo>
                    <a:pt x="24"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7" name="Freeform 6028"/>
            <p:cNvSpPr>
              <a:spLocks/>
            </p:cNvSpPr>
            <p:nvPr/>
          </p:nvSpPr>
          <p:spPr bwMode="auto">
            <a:xfrm>
              <a:off x="2026" y="2113"/>
              <a:ext cx="26" cy="37"/>
            </a:xfrm>
            <a:custGeom>
              <a:avLst/>
              <a:gdLst>
                <a:gd name="T0" fmla="*/ 25 w 26"/>
                <a:gd name="T1" fmla="*/ 0 h 37"/>
                <a:gd name="T2" fmla="*/ 0 w 26"/>
                <a:gd name="T3" fmla="*/ 27 h 37"/>
                <a:gd name="T4" fmla="*/ 17 w 26"/>
                <a:gd name="T5" fmla="*/ 36 h 37"/>
                <a:gd name="T6" fmla="*/ 25 w 26"/>
                <a:gd name="T7" fmla="*/ 0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0"/>
                  </a:moveTo>
                  <a:lnTo>
                    <a:pt x="0" y="27"/>
                  </a:lnTo>
                  <a:lnTo>
                    <a:pt x="17" y="36"/>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8" name="Freeform 6029"/>
            <p:cNvSpPr>
              <a:spLocks/>
            </p:cNvSpPr>
            <p:nvPr/>
          </p:nvSpPr>
          <p:spPr bwMode="auto">
            <a:xfrm>
              <a:off x="2026" y="2113"/>
              <a:ext cx="26" cy="29"/>
            </a:xfrm>
            <a:custGeom>
              <a:avLst/>
              <a:gdLst>
                <a:gd name="T0" fmla="*/ 25 w 26"/>
                <a:gd name="T1" fmla="*/ 0 h 29"/>
                <a:gd name="T2" fmla="*/ 17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7" y="0"/>
                  </a:lnTo>
                  <a:lnTo>
                    <a:pt x="0" y="28"/>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59" name="Freeform 6030"/>
            <p:cNvSpPr>
              <a:spLocks/>
            </p:cNvSpPr>
            <p:nvPr/>
          </p:nvSpPr>
          <p:spPr bwMode="auto">
            <a:xfrm>
              <a:off x="2046" y="2105"/>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0" name="Line 6031"/>
            <p:cNvSpPr>
              <a:spLocks noChangeShapeType="1"/>
            </p:cNvSpPr>
            <p:nvPr/>
          </p:nvSpPr>
          <p:spPr bwMode="auto">
            <a:xfrm>
              <a:off x="2046" y="211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1" name="Freeform 6032"/>
            <p:cNvSpPr>
              <a:spLocks/>
            </p:cNvSpPr>
            <p:nvPr/>
          </p:nvSpPr>
          <p:spPr bwMode="auto">
            <a:xfrm>
              <a:off x="2039" y="2084"/>
              <a:ext cx="26" cy="30"/>
            </a:xfrm>
            <a:custGeom>
              <a:avLst/>
              <a:gdLst>
                <a:gd name="T0" fmla="*/ 25 w 26"/>
                <a:gd name="T1" fmla="*/ 0 h 30"/>
                <a:gd name="T2" fmla="*/ 0 w 26"/>
                <a:gd name="T3" fmla="*/ 29 h 30"/>
                <a:gd name="T4" fmla="*/ 7 w 26"/>
                <a:gd name="T5" fmla="*/ 29 h 30"/>
                <a:gd name="T6" fmla="*/ 25 w 26"/>
                <a:gd name="T7" fmla="*/ 0 h 30"/>
                <a:gd name="T8" fmla="*/ 0 60000 65536"/>
                <a:gd name="T9" fmla="*/ 0 60000 65536"/>
                <a:gd name="T10" fmla="*/ 0 60000 65536"/>
                <a:gd name="T11" fmla="*/ 0 60000 65536"/>
                <a:gd name="T12" fmla="*/ 0 w 26"/>
                <a:gd name="T13" fmla="*/ 0 h 30"/>
                <a:gd name="T14" fmla="*/ 26 w 26"/>
                <a:gd name="T15" fmla="*/ 30 h 30"/>
              </a:gdLst>
              <a:ahLst/>
              <a:cxnLst>
                <a:cxn ang="T8">
                  <a:pos x="T0" y="T1"/>
                </a:cxn>
                <a:cxn ang="T9">
                  <a:pos x="T2" y="T3"/>
                </a:cxn>
                <a:cxn ang="T10">
                  <a:pos x="T4" y="T5"/>
                </a:cxn>
                <a:cxn ang="T11">
                  <a:pos x="T6" y="T7"/>
                </a:cxn>
              </a:cxnLst>
              <a:rect l="T12" t="T13" r="T14" b="T15"/>
              <a:pathLst>
                <a:path w="26" h="30">
                  <a:moveTo>
                    <a:pt x="25" y="0"/>
                  </a:moveTo>
                  <a:lnTo>
                    <a:pt x="0" y="29"/>
                  </a:lnTo>
                  <a:lnTo>
                    <a:pt x="7" y="29"/>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2" name="Freeform 6033"/>
            <p:cNvSpPr>
              <a:spLocks/>
            </p:cNvSpPr>
            <p:nvPr/>
          </p:nvSpPr>
          <p:spPr bwMode="auto">
            <a:xfrm>
              <a:off x="2039" y="2077"/>
              <a:ext cx="26" cy="37"/>
            </a:xfrm>
            <a:custGeom>
              <a:avLst/>
              <a:gdLst>
                <a:gd name="T0" fmla="*/ 25 w 26"/>
                <a:gd name="T1" fmla="*/ 6 h 37"/>
                <a:gd name="T2" fmla="*/ 15 w 26"/>
                <a:gd name="T3" fmla="*/ 0 h 37"/>
                <a:gd name="T4" fmla="*/ 0 w 26"/>
                <a:gd name="T5" fmla="*/ 36 h 37"/>
                <a:gd name="T6" fmla="*/ 25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6"/>
                  </a:moveTo>
                  <a:lnTo>
                    <a:pt x="15" y="0"/>
                  </a:lnTo>
                  <a:lnTo>
                    <a:pt x="0" y="36"/>
                  </a:lnTo>
                  <a:lnTo>
                    <a:pt x="25"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3" name="Freeform 6034"/>
            <p:cNvSpPr>
              <a:spLocks/>
            </p:cNvSpPr>
            <p:nvPr/>
          </p:nvSpPr>
          <p:spPr bwMode="auto">
            <a:xfrm>
              <a:off x="2051" y="207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4" name="Line 6035"/>
            <p:cNvSpPr>
              <a:spLocks noChangeShapeType="1"/>
            </p:cNvSpPr>
            <p:nvPr/>
          </p:nvSpPr>
          <p:spPr bwMode="auto">
            <a:xfrm>
              <a:off x="2051" y="2077"/>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5" name="Freeform 6036"/>
            <p:cNvSpPr>
              <a:spLocks/>
            </p:cNvSpPr>
            <p:nvPr/>
          </p:nvSpPr>
          <p:spPr bwMode="auto">
            <a:xfrm>
              <a:off x="2051" y="2049"/>
              <a:ext cx="27" cy="36"/>
            </a:xfrm>
            <a:custGeom>
              <a:avLst/>
              <a:gdLst>
                <a:gd name="T0" fmla="*/ 26 w 27"/>
                <a:gd name="T1" fmla="*/ 0 h 36"/>
                <a:gd name="T2" fmla="*/ 0 w 27"/>
                <a:gd name="T3" fmla="*/ 28 h 36"/>
                <a:gd name="T4" fmla="*/ 10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0"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6" name="Freeform 6037"/>
            <p:cNvSpPr>
              <a:spLocks/>
            </p:cNvSpPr>
            <p:nvPr/>
          </p:nvSpPr>
          <p:spPr bwMode="auto">
            <a:xfrm>
              <a:off x="2051" y="2041"/>
              <a:ext cx="27" cy="37"/>
            </a:xfrm>
            <a:custGeom>
              <a:avLst/>
              <a:gdLst>
                <a:gd name="T0" fmla="*/ 26 w 27"/>
                <a:gd name="T1" fmla="*/ 8 h 37"/>
                <a:gd name="T2" fmla="*/ 10 w 27"/>
                <a:gd name="T3" fmla="*/ 0 h 37"/>
                <a:gd name="T4" fmla="*/ 0 w 27"/>
                <a:gd name="T5" fmla="*/ 36 h 37"/>
                <a:gd name="T6" fmla="*/ 26 w 27"/>
                <a:gd name="T7" fmla="*/ 8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26" y="8"/>
                  </a:moveTo>
                  <a:lnTo>
                    <a:pt x="10" y="0"/>
                  </a:lnTo>
                  <a:lnTo>
                    <a:pt x="0" y="36"/>
                  </a:lnTo>
                  <a:lnTo>
                    <a:pt x="26"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7" name="Freeform 6038"/>
            <p:cNvSpPr>
              <a:spLocks/>
            </p:cNvSpPr>
            <p:nvPr/>
          </p:nvSpPr>
          <p:spPr bwMode="auto">
            <a:xfrm>
              <a:off x="2058" y="204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8" name="Line 6039"/>
            <p:cNvSpPr>
              <a:spLocks noChangeShapeType="1"/>
            </p:cNvSpPr>
            <p:nvPr/>
          </p:nvSpPr>
          <p:spPr bwMode="auto">
            <a:xfrm>
              <a:off x="2058" y="20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69" name="Freeform 6040"/>
            <p:cNvSpPr>
              <a:spLocks/>
            </p:cNvSpPr>
            <p:nvPr/>
          </p:nvSpPr>
          <p:spPr bwMode="auto">
            <a:xfrm>
              <a:off x="2058" y="2012"/>
              <a:ext cx="27" cy="38"/>
            </a:xfrm>
            <a:custGeom>
              <a:avLst/>
              <a:gdLst>
                <a:gd name="T0" fmla="*/ 26 w 27"/>
                <a:gd name="T1" fmla="*/ 0 h 38"/>
                <a:gd name="T2" fmla="*/ 0 w 27"/>
                <a:gd name="T3" fmla="*/ 28 h 38"/>
                <a:gd name="T4" fmla="*/ 12 w 27"/>
                <a:gd name="T5" fmla="*/ 37 h 38"/>
                <a:gd name="T6" fmla="*/ 26 w 27"/>
                <a:gd name="T7" fmla="*/ 0 h 38"/>
                <a:gd name="T8" fmla="*/ 0 60000 65536"/>
                <a:gd name="T9" fmla="*/ 0 60000 65536"/>
                <a:gd name="T10" fmla="*/ 0 60000 65536"/>
                <a:gd name="T11" fmla="*/ 0 60000 65536"/>
                <a:gd name="T12" fmla="*/ 0 w 27"/>
                <a:gd name="T13" fmla="*/ 0 h 38"/>
                <a:gd name="T14" fmla="*/ 27 w 27"/>
                <a:gd name="T15" fmla="*/ 38 h 38"/>
              </a:gdLst>
              <a:ahLst/>
              <a:cxnLst>
                <a:cxn ang="T8">
                  <a:pos x="T0" y="T1"/>
                </a:cxn>
                <a:cxn ang="T9">
                  <a:pos x="T2" y="T3"/>
                </a:cxn>
                <a:cxn ang="T10">
                  <a:pos x="T4" y="T5"/>
                </a:cxn>
                <a:cxn ang="T11">
                  <a:pos x="T6" y="T7"/>
                </a:cxn>
              </a:cxnLst>
              <a:rect l="T12" t="T13" r="T14" b="T15"/>
              <a:pathLst>
                <a:path w="27" h="38">
                  <a:moveTo>
                    <a:pt x="26" y="0"/>
                  </a:moveTo>
                  <a:lnTo>
                    <a:pt x="0" y="28"/>
                  </a:lnTo>
                  <a:lnTo>
                    <a:pt x="12" y="3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0" name="Freeform 6041"/>
            <p:cNvSpPr>
              <a:spLocks/>
            </p:cNvSpPr>
            <p:nvPr/>
          </p:nvSpPr>
          <p:spPr bwMode="auto">
            <a:xfrm>
              <a:off x="2058" y="2007"/>
              <a:ext cx="27" cy="35"/>
            </a:xfrm>
            <a:custGeom>
              <a:avLst/>
              <a:gdLst>
                <a:gd name="T0" fmla="*/ 26 w 27"/>
                <a:gd name="T1" fmla="*/ 6 h 35"/>
                <a:gd name="T2" fmla="*/ 12 w 27"/>
                <a:gd name="T3" fmla="*/ 0 h 35"/>
                <a:gd name="T4" fmla="*/ 0 w 27"/>
                <a:gd name="T5" fmla="*/ 34 h 35"/>
                <a:gd name="T6" fmla="*/ 26 w 27"/>
                <a:gd name="T7" fmla="*/ 6 h 35"/>
                <a:gd name="T8" fmla="*/ 0 60000 65536"/>
                <a:gd name="T9" fmla="*/ 0 60000 65536"/>
                <a:gd name="T10" fmla="*/ 0 60000 65536"/>
                <a:gd name="T11" fmla="*/ 0 60000 65536"/>
                <a:gd name="T12" fmla="*/ 0 w 27"/>
                <a:gd name="T13" fmla="*/ 0 h 35"/>
                <a:gd name="T14" fmla="*/ 27 w 27"/>
                <a:gd name="T15" fmla="*/ 35 h 35"/>
              </a:gdLst>
              <a:ahLst/>
              <a:cxnLst>
                <a:cxn ang="T8">
                  <a:pos x="T0" y="T1"/>
                </a:cxn>
                <a:cxn ang="T9">
                  <a:pos x="T2" y="T3"/>
                </a:cxn>
                <a:cxn ang="T10">
                  <a:pos x="T4" y="T5"/>
                </a:cxn>
                <a:cxn ang="T11">
                  <a:pos x="T6" y="T7"/>
                </a:cxn>
              </a:cxnLst>
              <a:rect l="T12" t="T13" r="T14" b="T15"/>
              <a:pathLst>
                <a:path w="27" h="35">
                  <a:moveTo>
                    <a:pt x="26" y="6"/>
                  </a:moveTo>
                  <a:lnTo>
                    <a:pt x="12" y="0"/>
                  </a:lnTo>
                  <a:lnTo>
                    <a:pt x="0" y="34"/>
                  </a:lnTo>
                  <a:lnTo>
                    <a:pt x="26"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1" name="Freeform 6042"/>
            <p:cNvSpPr>
              <a:spLocks/>
            </p:cNvSpPr>
            <p:nvPr/>
          </p:nvSpPr>
          <p:spPr bwMode="auto">
            <a:xfrm>
              <a:off x="2070" y="200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2" name="Line 6043"/>
            <p:cNvSpPr>
              <a:spLocks noChangeShapeType="1"/>
            </p:cNvSpPr>
            <p:nvPr/>
          </p:nvSpPr>
          <p:spPr bwMode="auto">
            <a:xfrm>
              <a:off x="2070" y="2007"/>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3" name="Freeform 6044"/>
            <p:cNvSpPr>
              <a:spLocks/>
            </p:cNvSpPr>
            <p:nvPr/>
          </p:nvSpPr>
          <p:spPr bwMode="auto">
            <a:xfrm>
              <a:off x="2070" y="1977"/>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4" name="Freeform 6045"/>
            <p:cNvSpPr>
              <a:spLocks/>
            </p:cNvSpPr>
            <p:nvPr/>
          </p:nvSpPr>
          <p:spPr bwMode="auto">
            <a:xfrm>
              <a:off x="2070" y="1977"/>
              <a:ext cx="27" cy="31"/>
            </a:xfrm>
            <a:custGeom>
              <a:avLst/>
              <a:gdLst>
                <a:gd name="T0" fmla="*/ 26 w 27"/>
                <a:gd name="T1" fmla="*/ 0 h 31"/>
                <a:gd name="T2" fmla="*/ 13 w 27"/>
                <a:gd name="T3" fmla="*/ 0 h 31"/>
                <a:gd name="T4" fmla="*/ 0 w 27"/>
                <a:gd name="T5" fmla="*/ 30 h 31"/>
                <a:gd name="T6" fmla="*/ 26 w 27"/>
                <a:gd name="T7" fmla="*/ 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26" y="0"/>
                  </a:moveTo>
                  <a:lnTo>
                    <a:pt x="13" y="0"/>
                  </a:lnTo>
                  <a:lnTo>
                    <a:pt x="0" y="3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5" name="Freeform 6046"/>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6" name="Freeform 6047"/>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7" name="Freeform 6048"/>
            <p:cNvSpPr>
              <a:spLocks/>
            </p:cNvSpPr>
            <p:nvPr/>
          </p:nvSpPr>
          <p:spPr bwMode="auto">
            <a:xfrm>
              <a:off x="2081" y="1949"/>
              <a:ext cx="29" cy="29"/>
            </a:xfrm>
            <a:custGeom>
              <a:avLst/>
              <a:gdLst>
                <a:gd name="T0" fmla="*/ 28 w 29"/>
                <a:gd name="T1" fmla="*/ 0 h 29"/>
                <a:gd name="T2" fmla="*/ 0 w 29"/>
                <a:gd name="T3" fmla="*/ 28 h 29"/>
                <a:gd name="T4" fmla="*/ 14 w 29"/>
                <a:gd name="T5" fmla="*/ 28 h 29"/>
                <a:gd name="T6" fmla="*/ 28 w 29"/>
                <a:gd name="T7" fmla="*/ 0 h 29"/>
                <a:gd name="T8" fmla="*/ 0 60000 65536"/>
                <a:gd name="T9" fmla="*/ 0 60000 65536"/>
                <a:gd name="T10" fmla="*/ 0 60000 65536"/>
                <a:gd name="T11" fmla="*/ 0 60000 65536"/>
                <a:gd name="T12" fmla="*/ 0 w 29"/>
                <a:gd name="T13" fmla="*/ 0 h 29"/>
                <a:gd name="T14" fmla="*/ 29 w 29"/>
                <a:gd name="T15" fmla="*/ 29 h 29"/>
              </a:gdLst>
              <a:ahLst/>
              <a:cxnLst>
                <a:cxn ang="T8">
                  <a:pos x="T0" y="T1"/>
                </a:cxn>
                <a:cxn ang="T9">
                  <a:pos x="T2" y="T3"/>
                </a:cxn>
                <a:cxn ang="T10">
                  <a:pos x="T4" y="T5"/>
                </a:cxn>
                <a:cxn ang="T11">
                  <a:pos x="T6" y="T7"/>
                </a:cxn>
              </a:cxnLst>
              <a:rect l="T12" t="T13" r="T14" b="T15"/>
              <a:pathLst>
                <a:path w="29" h="29">
                  <a:moveTo>
                    <a:pt x="28" y="0"/>
                  </a:moveTo>
                  <a:lnTo>
                    <a:pt x="0" y="28"/>
                  </a:lnTo>
                  <a:lnTo>
                    <a:pt x="14" y="28"/>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8" name="Freeform 6049"/>
            <p:cNvSpPr>
              <a:spLocks/>
            </p:cNvSpPr>
            <p:nvPr/>
          </p:nvSpPr>
          <p:spPr bwMode="auto">
            <a:xfrm>
              <a:off x="2081" y="1941"/>
              <a:ext cx="29" cy="37"/>
            </a:xfrm>
            <a:custGeom>
              <a:avLst/>
              <a:gdLst>
                <a:gd name="T0" fmla="*/ 28 w 29"/>
                <a:gd name="T1" fmla="*/ 8 h 37"/>
                <a:gd name="T2" fmla="*/ 14 w 29"/>
                <a:gd name="T3" fmla="*/ 0 h 37"/>
                <a:gd name="T4" fmla="*/ 0 w 29"/>
                <a:gd name="T5" fmla="*/ 36 h 37"/>
                <a:gd name="T6" fmla="*/ 28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28" y="8"/>
                  </a:moveTo>
                  <a:lnTo>
                    <a:pt x="14" y="0"/>
                  </a:lnTo>
                  <a:lnTo>
                    <a:pt x="0" y="36"/>
                  </a:lnTo>
                  <a:lnTo>
                    <a:pt x="28"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79" name="Freeform 6050"/>
            <p:cNvSpPr>
              <a:spLocks/>
            </p:cNvSpPr>
            <p:nvPr/>
          </p:nvSpPr>
          <p:spPr bwMode="auto">
            <a:xfrm>
              <a:off x="2096" y="194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0" name="Line 6051"/>
            <p:cNvSpPr>
              <a:spLocks noChangeShapeType="1"/>
            </p:cNvSpPr>
            <p:nvPr/>
          </p:nvSpPr>
          <p:spPr bwMode="auto">
            <a:xfrm>
              <a:off x="2096" y="19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1" name="Freeform 6052"/>
            <p:cNvSpPr>
              <a:spLocks/>
            </p:cNvSpPr>
            <p:nvPr/>
          </p:nvSpPr>
          <p:spPr bwMode="auto">
            <a:xfrm>
              <a:off x="2096" y="1919"/>
              <a:ext cx="24" cy="31"/>
            </a:xfrm>
            <a:custGeom>
              <a:avLst/>
              <a:gdLst>
                <a:gd name="T0" fmla="*/ 23 w 24"/>
                <a:gd name="T1" fmla="*/ 0 h 31"/>
                <a:gd name="T2" fmla="*/ 0 w 24"/>
                <a:gd name="T3" fmla="*/ 21 h 31"/>
                <a:gd name="T4" fmla="*/ 12 w 24"/>
                <a:gd name="T5" fmla="*/ 30 h 31"/>
                <a:gd name="T6" fmla="*/ 23 w 24"/>
                <a:gd name="T7" fmla="*/ 0 h 31"/>
                <a:gd name="T8" fmla="*/ 0 60000 65536"/>
                <a:gd name="T9" fmla="*/ 0 60000 65536"/>
                <a:gd name="T10" fmla="*/ 0 60000 65536"/>
                <a:gd name="T11" fmla="*/ 0 60000 65536"/>
                <a:gd name="T12" fmla="*/ 0 w 24"/>
                <a:gd name="T13" fmla="*/ 0 h 31"/>
                <a:gd name="T14" fmla="*/ 24 w 24"/>
                <a:gd name="T15" fmla="*/ 31 h 31"/>
              </a:gdLst>
              <a:ahLst/>
              <a:cxnLst>
                <a:cxn ang="T8">
                  <a:pos x="T0" y="T1"/>
                </a:cxn>
                <a:cxn ang="T9">
                  <a:pos x="T2" y="T3"/>
                </a:cxn>
                <a:cxn ang="T10">
                  <a:pos x="T4" y="T5"/>
                </a:cxn>
                <a:cxn ang="T11">
                  <a:pos x="T6" y="T7"/>
                </a:cxn>
              </a:cxnLst>
              <a:rect l="T12" t="T13" r="T14" b="T15"/>
              <a:pathLst>
                <a:path w="24" h="31">
                  <a:moveTo>
                    <a:pt x="23" y="0"/>
                  </a:moveTo>
                  <a:lnTo>
                    <a:pt x="0" y="21"/>
                  </a:lnTo>
                  <a:lnTo>
                    <a:pt x="12" y="30"/>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2" name="Freeform 6053"/>
            <p:cNvSpPr>
              <a:spLocks/>
            </p:cNvSpPr>
            <p:nvPr/>
          </p:nvSpPr>
          <p:spPr bwMode="auto">
            <a:xfrm>
              <a:off x="2096" y="1913"/>
              <a:ext cx="24" cy="29"/>
            </a:xfrm>
            <a:custGeom>
              <a:avLst/>
              <a:gdLst>
                <a:gd name="T0" fmla="*/ 23 w 24"/>
                <a:gd name="T1" fmla="*/ 6 h 29"/>
                <a:gd name="T2" fmla="*/ 12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2" y="0"/>
                  </a:lnTo>
                  <a:lnTo>
                    <a:pt x="0" y="28"/>
                  </a:lnTo>
                  <a:lnTo>
                    <a:pt x="23"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3" name="Freeform 6054"/>
            <p:cNvSpPr>
              <a:spLocks/>
            </p:cNvSpPr>
            <p:nvPr/>
          </p:nvSpPr>
          <p:spPr bwMode="auto">
            <a:xfrm>
              <a:off x="2109" y="1913"/>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4" name="Line 6055"/>
            <p:cNvSpPr>
              <a:spLocks noChangeShapeType="1"/>
            </p:cNvSpPr>
            <p:nvPr/>
          </p:nvSpPr>
          <p:spPr bwMode="auto">
            <a:xfrm>
              <a:off x="2109" y="1913"/>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5" name="Freeform 6056"/>
            <p:cNvSpPr>
              <a:spLocks/>
            </p:cNvSpPr>
            <p:nvPr/>
          </p:nvSpPr>
          <p:spPr bwMode="auto">
            <a:xfrm>
              <a:off x="2109" y="1892"/>
              <a:ext cx="26" cy="28"/>
            </a:xfrm>
            <a:custGeom>
              <a:avLst/>
              <a:gdLst>
                <a:gd name="T0" fmla="*/ 25 w 26"/>
                <a:gd name="T1" fmla="*/ 0 h 28"/>
                <a:gd name="T2" fmla="*/ 0 w 26"/>
                <a:gd name="T3" fmla="*/ 20 h 28"/>
                <a:gd name="T4" fmla="*/ 11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20"/>
                  </a:lnTo>
                  <a:lnTo>
                    <a:pt x="11"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6" name="Freeform 6057"/>
            <p:cNvSpPr>
              <a:spLocks/>
            </p:cNvSpPr>
            <p:nvPr/>
          </p:nvSpPr>
          <p:spPr bwMode="auto">
            <a:xfrm>
              <a:off x="2109" y="1886"/>
              <a:ext cx="26" cy="28"/>
            </a:xfrm>
            <a:custGeom>
              <a:avLst/>
              <a:gdLst>
                <a:gd name="T0" fmla="*/ 25 w 26"/>
                <a:gd name="T1" fmla="*/ 6 h 28"/>
                <a:gd name="T2" fmla="*/ 11 w 26"/>
                <a:gd name="T3" fmla="*/ 0 h 28"/>
                <a:gd name="T4" fmla="*/ 0 w 26"/>
                <a:gd name="T5" fmla="*/ 27 h 28"/>
                <a:gd name="T6" fmla="*/ 25 w 26"/>
                <a:gd name="T7" fmla="*/ 6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6"/>
                  </a:moveTo>
                  <a:lnTo>
                    <a:pt x="11" y="0"/>
                  </a:lnTo>
                  <a:lnTo>
                    <a:pt x="0" y="27"/>
                  </a:lnTo>
                  <a:lnTo>
                    <a:pt x="25"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7" name="Freeform 6058"/>
            <p:cNvSpPr>
              <a:spLocks/>
            </p:cNvSpPr>
            <p:nvPr/>
          </p:nvSpPr>
          <p:spPr bwMode="auto">
            <a:xfrm>
              <a:off x="2119" y="1886"/>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8" name="Line 6059"/>
            <p:cNvSpPr>
              <a:spLocks noChangeShapeType="1"/>
            </p:cNvSpPr>
            <p:nvPr/>
          </p:nvSpPr>
          <p:spPr bwMode="auto">
            <a:xfrm>
              <a:off x="2119" y="1886"/>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89" name="Freeform 6060"/>
            <p:cNvSpPr>
              <a:spLocks/>
            </p:cNvSpPr>
            <p:nvPr/>
          </p:nvSpPr>
          <p:spPr bwMode="auto">
            <a:xfrm>
              <a:off x="2119" y="1864"/>
              <a:ext cx="28" cy="29"/>
            </a:xfrm>
            <a:custGeom>
              <a:avLst/>
              <a:gdLst>
                <a:gd name="T0" fmla="*/ 27 w 28"/>
                <a:gd name="T1" fmla="*/ 0 h 29"/>
                <a:gd name="T2" fmla="*/ 0 w 28"/>
                <a:gd name="T3" fmla="*/ 21 h 29"/>
                <a:gd name="T4" fmla="*/ 13 w 28"/>
                <a:gd name="T5" fmla="*/ 28 h 29"/>
                <a:gd name="T6" fmla="*/ 27 w 28"/>
                <a:gd name="T7" fmla="*/ 0 h 29"/>
                <a:gd name="T8" fmla="*/ 0 60000 65536"/>
                <a:gd name="T9" fmla="*/ 0 60000 65536"/>
                <a:gd name="T10" fmla="*/ 0 60000 65536"/>
                <a:gd name="T11" fmla="*/ 0 60000 65536"/>
                <a:gd name="T12" fmla="*/ 0 w 28"/>
                <a:gd name="T13" fmla="*/ 0 h 29"/>
                <a:gd name="T14" fmla="*/ 28 w 28"/>
                <a:gd name="T15" fmla="*/ 29 h 29"/>
              </a:gdLst>
              <a:ahLst/>
              <a:cxnLst>
                <a:cxn ang="T8">
                  <a:pos x="T0" y="T1"/>
                </a:cxn>
                <a:cxn ang="T9">
                  <a:pos x="T2" y="T3"/>
                </a:cxn>
                <a:cxn ang="T10">
                  <a:pos x="T4" y="T5"/>
                </a:cxn>
                <a:cxn ang="T11">
                  <a:pos x="T6" y="T7"/>
                </a:cxn>
              </a:cxnLst>
              <a:rect l="T12" t="T13" r="T14" b="T15"/>
              <a:pathLst>
                <a:path w="28" h="29">
                  <a:moveTo>
                    <a:pt x="27" y="0"/>
                  </a:moveTo>
                  <a:lnTo>
                    <a:pt x="0" y="21"/>
                  </a:lnTo>
                  <a:lnTo>
                    <a:pt x="13" y="28"/>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0" name="Freeform 6061"/>
            <p:cNvSpPr>
              <a:spLocks/>
            </p:cNvSpPr>
            <p:nvPr/>
          </p:nvSpPr>
          <p:spPr bwMode="auto">
            <a:xfrm>
              <a:off x="2119" y="1856"/>
              <a:ext cx="28" cy="31"/>
            </a:xfrm>
            <a:custGeom>
              <a:avLst/>
              <a:gdLst>
                <a:gd name="T0" fmla="*/ 27 w 28"/>
                <a:gd name="T1" fmla="*/ 8 h 31"/>
                <a:gd name="T2" fmla="*/ 13 w 28"/>
                <a:gd name="T3" fmla="*/ 0 h 31"/>
                <a:gd name="T4" fmla="*/ 0 w 28"/>
                <a:gd name="T5" fmla="*/ 30 h 31"/>
                <a:gd name="T6" fmla="*/ 27 w 28"/>
                <a:gd name="T7" fmla="*/ 8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8"/>
                  </a:moveTo>
                  <a:lnTo>
                    <a:pt x="13" y="0"/>
                  </a:lnTo>
                  <a:lnTo>
                    <a:pt x="0" y="30"/>
                  </a:lnTo>
                  <a:lnTo>
                    <a:pt x="27"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1" name="Freeform 6062"/>
            <p:cNvSpPr>
              <a:spLocks/>
            </p:cNvSpPr>
            <p:nvPr/>
          </p:nvSpPr>
          <p:spPr bwMode="auto">
            <a:xfrm>
              <a:off x="2134" y="1856"/>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2" name="Line 6063"/>
            <p:cNvSpPr>
              <a:spLocks noChangeShapeType="1"/>
            </p:cNvSpPr>
            <p:nvPr/>
          </p:nvSpPr>
          <p:spPr bwMode="auto">
            <a:xfrm>
              <a:off x="2134" y="1856"/>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3" name="Freeform 6064"/>
            <p:cNvSpPr>
              <a:spLocks/>
            </p:cNvSpPr>
            <p:nvPr/>
          </p:nvSpPr>
          <p:spPr bwMode="auto">
            <a:xfrm>
              <a:off x="2134" y="1835"/>
              <a:ext cx="24" cy="30"/>
            </a:xfrm>
            <a:custGeom>
              <a:avLst/>
              <a:gdLst>
                <a:gd name="T0" fmla="*/ 23 w 24"/>
                <a:gd name="T1" fmla="*/ 0 h 30"/>
                <a:gd name="T2" fmla="*/ 0 w 24"/>
                <a:gd name="T3" fmla="*/ 20 h 30"/>
                <a:gd name="T4" fmla="*/ 11 w 24"/>
                <a:gd name="T5" fmla="*/ 29 h 30"/>
                <a:gd name="T6" fmla="*/ 23 w 24"/>
                <a:gd name="T7" fmla="*/ 0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0"/>
                  </a:moveTo>
                  <a:lnTo>
                    <a:pt x="0" y="20"/>
                  </a:lnTo>
                  <a:lnTo>
                    <a:pt x="11" y="29"/>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4" name="Freeform 6065"/>
            <p:cNvSpPr>
              <a:spLocks/>
            </p:cNvSpPr>
            <p:nvPr/>
          </p:nvSpPr>
          <p:spPr bwMode="auto">
            <a:xfrm>
              <a:off x="2134" y="1828"/>
              <a:ext cx="24" cy="29"/>
            </a:xfrm>
            <a:custGeom>
              <a:avLst/>
              <a:gdLst>
                <a:gd name="T0" fmla="*/ 23 w 24"/>
                <a:gd name="T1" fmla="*/ 6 h 29"/>
                <a:gd name="T2" fmla="*/ 11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1" y="0"/>
                  </a:lnTo>
                  <a:lnTo>
                    <a:pt x="0" y="28"/>
                  </a:lnTo>
                  <a:lnTo>
                    <a:pt x="23"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5" name="Freeform 6066"/>
            <p:cNvSpPr>
              <a:spLocks/>
            </p:cNvSpPr>
            <p:nvPr/>
          </p:nvSpPr>
          <p:spPr bwMode="auto">
            <a:xfrm>
              <a:off x="2146" y="182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6" name="Line 6067"/>
            <p:cNvSpPr>
              <a:spLocks noChangeShapeType="1"/>
            </p:cNvSpPr>
            <p:nvPr/>
          </p:nvSpPr>
          <p:spPr bwMode="auto">
            <a:xfrm>
              <a:off x="2146" y="182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7" name="Freeform 6068"/>
            <p:cNvSpPr>
              <a:spLocks/>
            </p:cNvSpPr>
            <p:nvPr/>
          </p:nvSpPr>
          <p:spPr bwMode="auto">
            <a:xfrm>
              <a:off x="2146" y="1813"/>
              <a:ext cx="24" cy="28"/>
            </a:xfrm>
            <a:custGeom>
              <a:avLst/>
              <a:gdLst>
                <a:gd name="T0" fmla="*/ 23 w 24"/>
                <a:gd name="T1" fmla="*/ 0 h 28"/>
                <a:gd name="T2" fmla="*/ 0 w 24"/>
                <a:gd name="T3" fmla="*/ 18 h 28"/>
                <a:gd name="T4" fmla="*/ 12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18"/>
                  </a:lnTo>
                  <a:lnTo>
                    <a:pt x="12" y="27"/>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8" name="Freeform 6069"/>
            <p:cNvSpPr>
              <a:spLocks/>
            </p:cNvSpPr>
            <p:nvPr/>
          </p:nvSpPr>
          <p:spPr bwMode="auto">
            <a:xfrm>
              <a:off x="2146" y="1807"/>
              <a:ext cx="24" cy="26"/>
            </a:xfrm>
            <a:custGeom>
              <a:avLst/>
              <a:gdLst>
                <a:gd name="T0" fmla="*/ 23 w 24"/>
                <a:gd name="T1" fmla="*/ 7 h 26"/>
                <a:gd name="T2" fmla="*/ 12 w 24"/>
                <a:gd name="T3" fmla="*/ 0 h 26"/>
                <a:gd name="T4" fmla="*/ 0 w 24"/>
                <a:gd name="T5" fmla="*/ 25 h 26"/>
                <a:gd name="T6" fmla="*/ 23 w 24"/>
                <a:gd name="T7" fmla="*/ 7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7"/>
                  </a:moveTo>
                  <a:lnTo>
                    <a:pt x="12" y="0"/>
                  </a:lnTo>
                  <a:lnTo>
                    <a:pt x="0" y="25"/>
                  </a:lnTo>
                  <a:lnTo>
                    <a:pt x="23" y="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699" name="Freeform 6070"/>
            <p:cNvSpPr>
              <a:spLocks/>
            </p:cNvSpPr>
            <p:nvPr/>
          </p:nvSpPr>
          <p:spPr bwMode="auto">
            <a:xfrm>
              <a:off x="2157" y="180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0" name="Line 6071"/>
            <p:cNvSpPr>
              <a:spLocks noChangeShapeType="1"/>
            </p:cNvSpPr>
            <p:nvPr/>
          </p:nvSpPr>
          <p:spPr bwMode="auto">
            <a:xfrm>
              <a:off x="2157" y="180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1" name="Freeform 6072"/>
            <p:cNvSpPr>
              <a:spLocks/>
            </p:cNvSpPr>
            <p:nvPr/>
          </p:nvSpPr>
          <p:spPr bwMode="auto">
            <a:xfrm>
              <a:off x="2157" y="1792"/>
              <a:ext cx="28" cy="27"/>
            </a:xfrm>
            <a:custGeom>
              <a:avLst/>
              <a:gdLst>
                <a:gd name="T0" fmla="*/ 27 w 28"/>
                <a:gd name="T1" fmla="*/ 0 h 27"/>
                <a:gd name="T2" fmla="*/ 0 w 28"/>
                <a:gd name="T3" fmla="*/ 18 h 27"/>
                <a:gd name="T4" fmla="*/ 16 w 28"/>
                <a:gd name="T5" fmla="*/ 26 h 27"/>
                <a:gd name="T6" fmla="*/ 27 w 28"/>
                <a:gd name="T7" fmla="*/ 0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0"/>
                  </a:moveTo>
                  <a:lnTo>
                    <a:pt x="0" y="18"/>
                  </a:lnTo>
                  <a:lnTo>
                    <a:pt x="16" y="26"/>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2" name="Freeform 6073"/>
            <p:cNvSpPr>
              <a:spLocks/>
            </p:cNvSpPr>
            <p:nvPr/>
          </p:nvSpPr>
          <p:spPr bwMode="auto">
            <a:xfrm>
              <a:off x="2157" y="1785"/>
              <a:ext cx="28" cy="28"/>
            </a:xfrm>
            <a:custGeom>
              <a:avLst/>
              <a:gdLst>
                <a:gd name="T0" fmla="*/ 27 w 28"/>
                <a:gd name="T1" fmla="*/ 8 h 28"/>
                <a:gd name="T2" fmla="*/ 16 w 28"/>
                <a:gd name="T3" fmla="*/ 0 h 28"/>
                <a:gd name="T4" fmla="*/ 0 w 28"/>
                <a:gd name="T5" fmla="*/ 27 h 28"/>
                <a:gd name="T6" fmla="*/ 27 w 28"/>
                <a:gd name="T7" fmla="*/ 8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8"/>
                  </a:moveTo>
                  <a:lnTo>
                    <a:pt x="16" y="0"/>
                  </a:lnTo>
                  <a:lnTo>
                    <a:pt x="0" y="27"/>
                  </a:lnTo>
                  <a:lnTo>
                    <a:pt x="27"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3" name="Freeform 6074"/>
            <p:cNvSpPr>
              <a:spLocks/>
            </p:cNvSpPr>
            <p:nvPr/>
          </p:nvSpPr>
          <p:spPr bwMode="auto">
            <a:xfrm>
              <a:off x="2169" y="1785"/>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4" name="Line 6075"/>
            <p:cNvSpPr>
              <a:spLocks noChangeShapeType="1"/>
            </p:cNvSpPr>
            <p:nvPr/>
          </p:nvSpPr>
          <p:spPr bwMode="auto">
            <a:xfrm>
              <a:off x="2169" y="1785"/>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5" name="Freeform 6076"/>
            <p:cNvSpPr>
              <a:spLocks/>
            </p:cNvSpPr>
            <p:nvPr/>
          </p:nvSpPr>
          <p:spPr bwMode="auto">
            <a:xfrm>
              <a:off x="2169" y="1777"/>
              <a:ext cx="27" cy="28"/>
            </a:xfrm>
            <a:custGeom>
              <a:avLst/>
              <a:gdLst>
                <a:gd name="T0" fmla="*/ 26 w 27"/>
                <a:gd name="T1" fmla="*/ 0 h 28"/>
                <a:gd name="T2" fmla="*/ 0 w 27"/>
                <a:gd name="T3" fmla="*/ 15 h 28"/>
                <a:gd name="T4" fmla="*/ 1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0"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6" name="Freeform 6077"/>
            <p:cNvSpPr>
              <a:spLocks/>
            </p:cNvSpPr>
            <p:nvPr/>
          </p:nvSpPr>
          <p:spPr bwMode="auto">
            <a:xfrm>
              <a:off x="2169" y="1771"/>
              <a:ext cx="27" cy="27"/>
            </a:xfrm>
            <a:custGeom>
              <a:avLst/>
              <a:gdLst>
                <a:gd name="T0" fmla="*/ 26 w 27"/>
                <a:gd name="T1" fmla="*/ 11 h 27"/>
                <a:gd name="T2" fmla="*/ 18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8" y="0"/>
                  </a:lnTo>
                  <a:lnTo>
                    <a:pt x="0" y="26"/>
                  </a:lnTo>
                  <a:lnTo>
                    <a:pt x="26" y="11"/>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7" name="Freeform 6078"/>
            <p:cNvSpPr>
              <a:spLocks/>
            </p:cNvSpPr>
            <p:nvPr/>
          </p:nvSpPr>
          <p:spPr bwMode="auto">
            <a:xfrm>
              <a:off x="2184" y="177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8" name="Line 6079"/>
            <p:cNvSpPr>
              <a:spLocks noChangeShapeType="1"/>
            </p:cNvSpPr>
            <p:nvPr/>
          </p:nvSpPr>
          <p:spPr bwMode="auto">
            <a:xfrm>
              <a:off x="2184" y="1771"/>
              <a:ext cx="19"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09" name="Freeform 6080"/>
            <p:cNvSpPr>
              <a:spLocks/>
            </p:cNvSpPr>
            <p:nvPr/>
          </p:nvSpPr>
          <p:spPr bwMode="auto">
            <a:xfrm>
              <a:off x="2184" y="1764"/>
              <a:ext cx="24" cy="27"/>
            </a:xfrm>
            <a:custGeom>
              <a:avLst/>
              <a:gdLst>
                <a:gd name="T0" fmla="*/ 23 w 24"/>
                <a:gd name="T1" fmla="*/ 0 h 27"/>
                <a:gd name="T2" fmla="*/ 0 w 24"/>
                <a:gd name="T3" fmla="*/ 13 h 27"/>
                <a:gd name="T4" fmla="*/ 7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3"/>
                  </a:lnTo>
                  <a:lnTo>
                    <a:pt x="7" y="26"/>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0" name="Freeform 6081"/>
            <p:cNvSpPr>
              <a:spLocks/>
            </p:cNvSpPr>
            <p:nvPr/>
          </p:nvSpPr>
          <p:spPr bwMode="auto">
            <a:xfrm>
              <a:off x="2184" y="1755"/>
              <a:ext cx="24" cy="28"/>
            </a:xfrm>
            <a:custGeom>
              <a:avLst/>
              <a:gdLst>
                <a:gd name="T0" fmla="*/ 23 w 24"/>
                <a:gd name="T1" fmla="*/ 15 h 28"/>
                <a:gd name="T2" fmla="*/ 15 w 24"/>
                <a:gd name="T3" fmla="*/ 0 h 28"/>
                <a:gd name="T4" fmla="*/ 0 w 24"/>
                <a:gd name="T5" fmla="*/ 27 h 28"/>
                <a:gd name="T6" fmla="*/ 23 w 24"/>
                <a:gd name="T7" fmla="*/ 15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5"/>
                  </a:moveTo>
                  <a:lnTo>
                    <a:pt x="15" y="0"/>
                  </a:lnTo>
                  <a:lnTo>
                    <a:pt x="0" y="27"/>
                  </a:lnTo>
                  <a:lnTo>
                    <a:pt x="23" y="1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1" name="Freeform 6082"/>
            <p:cNvSpPr>
              <a:spLocks/>
            </p:cNvSpPr>
            <p:nvPr/>
          </p:nvSpPr>
          <p:spPr bwMode="auto">
            <a:xfrm>
              <a:off x="2195" y="1749"/>
              <a:ext cx="27" cy="28"/>
            </a:xfrm>
            <a:custGeom>
              <a:avLst/>
              <a:gdLst>
                <a:gd name="T0" fmla="*/ 0 w 27"/>
                <a:gd name="T1" fmla="*/ 0 h 28"/>
                <a:gd name="T2" fmla="*/ 0 w 27"/>
                <a:gd name="T3" fmla="*/ 27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27"/>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2" name="Freeform 6083"/>
            <p:cNvSpPr>
              <a:spLocks/>
            </p:cNvSpPr>
            <p:nvPr/>
          </p:nvSpPr>
          <p:spPr bwMode="auto">
            <a:xfrm>
              <a:off x="2195" y="1749"/>
              <a:ext cx="1" cy="28"/>
            </a:xfrm>
            <a:custGeom>
              <a:avLst/>
              <a:gdLst>
                <a:gd name="T0" fmla="*/ 0 w 1"/>
                <a:gd name="T1" fmla="*/ 0 h 28"/>
                <a:gd name="T2" fmla="*/ 0 w 1"/>
                <a:gd name="T3" fmla="*/ 27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3" name="Freeform 6084"/>
            <p:cNvSpPr>
              <a:spLocks/>
            </p:cNvSpPr>
            <p:nvPr/>
          </p:nvSpPr>
          <p:spPr bwMode="auto">
            <a:xfrm>
              <a:off x="2195" y="1749"/>
              <a:ext cx="27" cy="28"/>
            </a:xfrm>
            <a:custGeom>
              <a:avLst/>
              <a:gdLst>
                <a:gd name="T0" fmla="*/ 26 w 27"/>
                <a:gd name="T1" fmla="*/ 0 h 28"/>
                <a:gd name="T2" fmla="*/ 0 w 27"/>
                <a:gd name="T3" fmla="*/ 0 h 28"/>
                <a:gd name="T4" fmla="*/ 8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8"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4" name="Freeform 6085"/>
            <p:cNvSpPr>
              <a:spLocks/>
            </p:cNvSpPr>
            <p:nvPr/>
          </p:nvSpPr>
          <p:spPr bwMode="auto">
            <a:xfrm>
              <a:off x="2195" y="1742"/>
              <a:ext cx="27" cy="28"/>
            </a:xfrm>
            <a:custGeom>
              <a:avLst/>
              <a:gdLst>
                <a:gd name="T0" fmla="*/ 26 w 27"/>
                <a:gd name="T1" fmla="*/ 27 h 28"/>
                <a:gd name="T2" fmla="*/ 16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6"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5" name="Freeform 6086"/>
            <p:cNvSpPr>
              <a:spLocks/>
            </p:cNvSpPr>
            <p:nvPr/>
          </p:nvSpPr>
          <p:spPr bwMode="auto">
            <a:xfrm>
              <a:off x="2206" y="1742"/>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6" name="Line 6087"/>
            <p:cNvSpPr>
              <a:spLocks noChangeShapeType="1"/>
            </p:cNvSpPr>
            <p:nvPr/>
          </p:nvSpPr>
          <p:spPr bwMode="auto">
            <a:xfrm>
              <a:off x="2206" y="1742"/>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7" name="Freeform 6088"/>
            <p:cNvSpPr>
              <a:spLocks/>
            </p:cNvSpPr>
            <p:nvPr/>
          </p:nvSpPr>
          <p:spPr bwMode="auto">
            <a:xfrm>
              <a:off x="2206" y="1742"/>
              <a:ext cx="25" cy="28"/>
            </a:xfrm>
            <a:custGeom>
              <a:avLst/>
              <a:gdLst>
                <a:gd name="T0" fmla="*/ 24 w 25"/>
                <a:gd name="T1" fmla="*/ 0 h 28"/>
                <a:gd name="T2" fmla="*/ 0 w 25"/>
                <a:gd name="T3" fmla="*/ 0 h 28"/>
                <a:gd name="T4" fmla="*/ 9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0"/>
                  </a:lnTo>
                  <a:lnTo>
                    <a:pt x="9" y="27"/>
                  </a:lnTo>
                  <a:lnTo>
                    <a:pt x="24"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8" name="Freeform 6089"/>
            <p:cNvSpPr>
              <a:spLocks/>
            </p:cNvSpPr>
            <p:nvPr/>
          </p:nvSpPr>
          <p:spPr bwMode="auto">
            <a:xfrm>
              <a:off x="2206" y="1734"/>
              <a:ext cx="25" cy="28"/>
            </a:xfrm>
            <a:custGeom>
              <a:avLst/>
              <a:gdLst>
                <a:gd name="T0" fmla="*/ 24 w 25"/>
                <a:gd name="T1" fmla="*/ 27 h 28"/>
                <a:gd name="T2" fmla="*/ 16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6"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19" name="Freeform 6090"/>
            <p:cNvSpPr>
              <a:spLocks/>
            </p:cNvSpPr>
            <p:nvPr/>
          </p:nvSpPr>
          <p:spPr bwMode="auto">
            <a:xfrm>
              <a:off x="2216" y="1734"/>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0" name="Line 6091"/>
            <p:cNvSpPr>
              <a:spLocks noChangeShapeType="1"/>
            </p:cNvSpPr>
            <p:nvPr/>
          </p:nvSpPr>
          <p:spPr bwMode="auto">
            <a:xfrm>
              <a:off x="2216" y="1734"/>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1" name="Freeform 6092"/>
            <p:cNvSpPr>
              <a:spLocks/>
            </p:cNvSpPr>
            <p:nvPr/>
          </p:nvSpPr>
          <p:spPr bwMode="auto">
            <a:xfrm>
              <a:off x="2216" y="1734"/>
              <a:ext cx="29" cy="28"/>
            </a:xfrm>
            <a:custGeom>
              <a:avLst/>
              <a:gdLst>
                <a:gd name="T0" fmla="*/ 28 w 29"/>
                <a:gd name="T1" fmla="*/ 27 h 28"/>
                <a:gd name="T2" fmla="*/ 0 w 29"/>
                <a:gd name="T3" fmla="*/ 0 h 28"/>
                <a:gd name="T4" fmla="*/ 8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8" y="27"/>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2" name="Freeform 6093"/>
            <p:cNvSpPr>
              <a:spLocks/>
            </p:cNvSpPr>
            <p:nvPr/>
          </p:nvSpPr>
          <p:spPr bwMode="auto">
            <a:xfrm>
              <a:off x="2216" y="1728"/>
              <a:ext cx="29" cy="28"/>
            </a:xfrm>
            <a:custGeom>
              <a:avLst/>
              <a:gdLst>
                <a:gd name="T0" fmla="*/ 28 w 29"/>
                <a:gd name="T1" fmla="*/ 27 h 28"/>
                <a:gd name="T2" fmla="*/ 19 w 29"/>
                <a:gd name="T3" fmla="*/ 0 h 28"/>
                <a:gd name="T4" fmla="*/ 0 w 29"/>
                <a:gd name="T5" fmla="*/ 12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9" y="0"/>
                  </a:lnTo>
                  <a:lnTo>
                    <a:pt x="0" y="12"/>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3" name="Freeform 6094"/>
            <p:cNvSpPr>
              <a:spLocks/>
            </p:cNvSpPr>
            <p:nvPr/>
          </p:nvSpPr>
          <p:spPr bwMode="auto">
            <a:xfrm>
              <a:off x="2233" y="1728"/>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4" name="Line 6095"/>
            <p:cNvSpPr>
              <a:spLocks noChangeShapeType="1"/>
            </p:cNvSpPr>
            <p:nvPr/>
          </p:nvSpPr>
          <p:spPr bwMode="auto">
            <a:xfrm>
              <a:off x="2233" y="1728"/>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5" name="Freeform 6096"/>
            <p:cNvSpPr>
              <a:spLocks/>
            </p:cNvSpPr>
            <p:nvPr/>
          </p:nvSpPr>
          <p:spPr bwMode="auto">
            <a:xfrm>
              <a:off x="2233" y="1728"/>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6" name="Freeform 6097"/>
            <p:cNvSpPr>
              <a:spLocks/>
            </p:cNvSpPr>
            <p:nvPr/>
          </p:nvSpPr>
          <p:spPr bwMode="auto">
            <a:xfrm>
              <a:off x="2233" y="1728"/>
              <a:ext cx="26" cy="28"/>
            </a:xfrm>
            <a:custGeom>
              <a:avLst/>
              <a:gdLst>
                <a:gd name="T0" fmla="*/ 0 w 26"/>
                <a:gd name="T1" fmla="*/ 0 h 28"/>
                <a:gd name="T2" fmla="*/ 25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25"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7" name="Freeform 6098"/>
            <p:cNvSpPr>
              <a:spLocks/>
            </p:cNvSpPr>
            <p:nvPr/>
          </p:nvSpPr>
          <p:spPr bwMode="auto">
            <a:xfrm>
              <a:off x="2245" y="1728"/>
              <a:ext cx="27" cy="28"/>
            </a:xfrm>
            <a:custGeom>
              <a:avLst/>
              <a:gdLst>
                <a:gd name="T0" fmla="*/ 0 w 27"/>
                <a:gd name="T1" fmla="*/ 0 h 28"/>
                <a:gd name="T2" fmla="*/ 0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0"/>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8" name="Line 6099"/>
            <p:cNvSpPr>
              <a:spLocks noChangeShapeType="1"/>
            </p:cNvSpPr>
            <p:nvPr/>
          </p:nvSpPr>
          <p:spPr bwMode="auto">
            <a:xfrm>
              <a:off x="2245" y="1728"/>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29" name="Freeform 6100"/>
            <p:cNvSpPr>
              <a:spLocks/>
            </p:cNvSpPr>
            <p:nvPr/>
          </p:nvSpPr>
          <p:spPr bwMode="auto">
            <a:xfrm>
              <a:off x="2245" y="1728"/>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0" name="Freeform 6101"/>
            <p:cNvSpPr>
              <a:spLocks/>
            </p:cNvSpPr>
            <p:nvPr/>
          </p:nvSpPr>
          <p:spPr bwMode="auto">
            <a:xfrm>
              <a:off x="2245" y="1728"/>
              <a:ext cx="27" cy="28"/>
            </a:xfrm>
            <a:custGeom>
              <a:avLst/>
              <a:gdLst>
                <a:gd name="T0" fmla="*/ 0 w 27"/>
                <a:gd name="T1" fmla="*/ 0 h 28"/>
                <a:gd name="T2" fmla="*/ 26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26" y="0"/>
                  </a:lnTo>
                  <a:lnTo>
                    <a:pt x="26"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1" name="Freeform 6102"/>
            <p:cNvSpPr>
              <a:spLocks/>
            </p:cNvSpPr>
            <p:nvPr/>
          </p:nvSpPr>
          <p:spPr bwMode="auto">
            <a:xfrm>
              <a:off x="2254" y="1728"/>
              <a:ext cx="29" cy="28"/>
            </a:xfrm>
            <a:custGeom>
              <a:avLst/>
              <a:gdLst>
                <a:gd name="T0" fmla="*/ 0 w 29"/>
                <a:gd name="T1" fmla="*/ 0 h 28"/>
                <a:gd name="T2" fmla="*/ 0 w 29"/>
                <a:gd name="T3" fmla="*/ 0 h 28"/>
                <a:gd name="T4" fmla="*/ 28 w 29"/>
                <a:gd name="T5" fmla="*/ 27 h 28"/>
                <a:gd name="T6" fmla="*/ 0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0"/>
                  </a:moveTo>
                  <a:lnTo>
                    <a:pt x="0" y="0"/>
                  </a:lnTo>
                  <a:lnTo>
                    <a:pt x="28"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2" name="Line 6103"/>
            <p:cNvSpPr>
              <a:spLocks noChangeShapeType="1"/>
            </p:cNvSpPr>
            <p:nvPr/>
          </p:nvSpPr>
          <p:spPr bwMode="auto">
            <a:xfrm>
              <a:off x="2254" y="1728"/>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3" name="Freeform 6104"/>
            <p:cNvSpPr>
              <a:spLocks/>
            </p:cNvSpPr>
            <p:nvPr/>
          </p:nvSpPr>
          <p:spPr bwMode="auto">
            <a:xfrm>
              <a:off x="2254" y="1728"/>
              <a:ext cx="29" cy="28"/>
            </a:xfrm>
            <a:custGeom>
              <a:avLst/>
              <a:gdLst>
                <a:gd name="T0" fmla="*/ 28 w 29"/>
                <a:gd name="T1" fmla="*/ 27 h 28"/>
                <a:gd name="T2" fmla="*/ 0 w 29"/>
                <a:gd name="T3" fmla="*/ 0 h 28"/>
                <a:gd name="T4" fmla="*/ 0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0" y="27"/>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4" name="Freeform 6105"/>
            <p:cNvSpPr>
              <a:spLocks/>
            </p:cNvSpPr>
            <p:nvPr/>
          </p:nvSpPr>
          <p:spPr bwMode="auto">
            <a:xfrm>
              <a:off x="2254" y="1728"/>
              <a:ext cx="29" cy="28"/>
            </a:xfrm>
            <a:custGeom>
              <a:avLst/>
              <a:gdLst>
                <a:gd name="T0" fmla="*/ 28 w 29"/>
                <a:gd name="T1" fmla="*/ 27 h 28"/>
                <a:gd name="T2" fmla="*/ 28 w 29"/>
                <a:gd name="T3" fmla="*/ 12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12"/>
                  </a:lnTo>
                  <a:lnTo>
                    <a:pt x="0" y="0"/>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5" name="Freeform 6106"/>
            <p:cNvSpPr>
              <a:spLocks/>
            </p:cNvSpPr>
            <p:nvPr/>
          </p:nvSpPr>
          <p:spPr bwMode="auto">
            <a:xfrm>
              <a:off x="2267" y="1734"/>
              <a:ext cx="26" cy="28"/>
            </a:xfrm>
            <a:custGeom>
              <a:avLst/>
              <a:gdLst>
                <a:gd name="T0" fmla="*/ 25 w 26"/>
                <a:gd name="T1" fmla="*/ 0 h 28"/>
                <a:gd name="T2" fmla="*/ 0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0"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6" name="Freeform 6107"/>
            <p:cNvSpPr>
              <a:spLocks/>
            </p:cNvSpPr>
            <p:nvPr/>
          </p:nvSpPr>
          <p:spPr bwMode="auto">
            <a:xfrm>
              <a:off x="2267" y="1734"/>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7" name="Freeform 6108"/>
            <p:cNvSpPr>
              <a:spLocks/>
            </p:cNvSpPr>
            <p:nvPr/>
          </p:nvSpPr>
          <p:spPr bwMode="auto">
            <a:xfrm>
              <a:off x="2262" y="1734"/>
              <a:ext cx="25" cy="28"/>
            </a:xfrm>
            <a:custGeom>
              <a:avLst/>
              <a:gdLst>
                <a:gd name="T0" fmla="*/ 24 w 25"/>
                <a:gd name="T1" fmla="*/ 27 h 28"/>
                <a:gd name="T2" fmla="*/ 24 w 25"/>
                <a:gd name="T3" fmla="*/ 0 h 28"/>
                <a:gd name="T4" fmla="*/ 0 w 25"/>
                <a:gd name="T5" fmla="*/ 15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15"/>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8" name="Freeform 6109"/>
            <p:cNvSpPr>
              <a:spLocks/>
            </p:cNvSpPr>
            <p:nvPr/>
          </p:nvSpPr>
          <p:spPr bwMode="auto">
            <a:xfrm>
              <a:off x="2275" y="1734"/>
              <a:ext cx="25" cy="28"/>
            </a:xfrm>
            <a:custGeom>
              <a:avLst/>
              <a:gdLst>
                <a:gd name="T0" fmla="*/ 0 w 25"/>
                <a:gd name="T1" fmla="*/ 27 h 28"/>
                <a:gd name="T2" fmla="*/ 24 w 25"/>
                <a:gd name="T3" fmla="*/ 15 h 28"/>
                <a:gd name="T4" fmla="*/ 0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24" y="15"/>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39" name="Freeform 6110"/>
            <p:cNvSpPr>
              <a:spLocks/>
            </p:cNvSpPr>
            <p:nvPr/>
          </p:nvSpPr>
          <p:spPr bwMode="auto">
            <a:xfrm>
              <a:off x="2282" y="1742"/>
              <a:ext cx="24" cy="28"/>
            </a:xfrm>
            <a:custGeom>
              <a:avLst/>
              <a:gdLst>
                <a:gd name="T0" fmla="*/ 23 w 24"/>
                <a:gd name="T1" fmla="*/ 0 h 28"/>
                <a:gd name="T2" fmla="*/ 0 w 24"/>
                <a:gd name="T3" fmla="*/ 0 h 28"/>
                <a:gd name="T4" fmla="*/ 0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0"/>
                  </a:lnTo>
                  <a:lnTo>
                    <a:pt x="0" y="27"/>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0" name="Freeform 6111"/>
            <p:cNvSpPr>
              <a:spLocks/>
            </p:cNvSpPr>
            <p:nvPr/>
          </p:nvSpPr>
          <p:spPr bwMode="auto">
            <a:xfrm>
              <a:off x="2282" y="1742"/>
              <a:ext cx="24" cy="1"/>
            </a:xfrm>
            <a:custGeom>
              <a:avLst/>
              <a:gdLst>
                <a:gd name="T0" fmla="*/ 23 w 24"/>
                <a:gd name="T1" fmla="*/ 0 h 1"/>
                <a:gd name="T2" fmla="*/ 23 w 24"/>
                <a:gd name="T3" fmla="*/ 0 h 1"/>
                <a:gd name="T4" fmla="*/ 0 w 24"/>
                <a:gd name="T5" fmla="*/ 0 h 1"/>
                <a:gd name="T6" fmla="*/ 23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23" y="0"/>
                  </a:moveTo>
                  <a:lnTo>
                    <a:pt x="23" y="0"/>
                  </a:lnTo>
                  <a:lnTo>
                    <a:pt x="0" y="0"/>
                  </a:lnTo>
                  <a:lnTo>
                    <a:pt x="23"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1" name="Freeform 6112"/>
            <p:cNvSpPr>
              <a:spLocks/>
            </p:cNvSpPr>
            <p:nvPr/>
          </p:nvSpPr>
          <p:spPr bwMode="auto">
            <a:xfrm>
              <a:off x="2275" y="1742"/>
              <a:ext cx="25" cy="28"/>
            </a:xfrm>
            <a:custGeom>
              <a:avLst/>
              <a:gdLst>
                <a:gd name="T0" fmla="*/ 24 w 25"/>
                <a:gd name="T1" fmla="*/ 27 h 28"/>
                <a:gd name="T2" fmla="*/ 24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8"/>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2" name="Freeform 6113"/>
            <p:cNvSpPr>
              <a:spLocks/>
            </p:cNvSpPr>
            <p:nvPr/>
          </p:nvSpPr>
          <p:spPr bwMode="auto">
            <a:xfrm>
              <a:off x="2286" y="1742"/>
              <a:ext cx="28" cy="28"/>
            </a:xfrm>
            <a:custGeom>
              <a:avLst/>
              <a:gdLst>
                <a:gd name="T0" fmla="*/ 0 w 28"/>
                <a:gd name="T1" fmla="*/ 27 h 28"/>
                <a:gd name="T2" fmla="*/ 27 w 28"/>
                <a:gd name="T3" fmla="*/ 8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8"/>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3" name="Freeform 6114"/>
            <p:cNvSpPr>
              <a:spLocks/>
            </p:cNvSpPr>
            <p:nvPr/>
          </p:nvSpPr>
          <p:spPr bwMode="auto">
            <a:xfrm>
              <a:off x="2292" y="1749"/>
              <a:ext cx="26" cy="28"/>
            </a:xfrm>
            <a:custGeom>
              <a:avLst/>
              <a:gdLst>
                <a:gd name="T0" fmla="*/ 25 w 26"/>
                <a:gd name="T1" fmla="*/ 12 h 28"/>
                <a:gd name="T2" fmla="*/ 25 w 26"/>
                <a:gd name="T3" fmla="*/ 0 h 28"/>
                <a:gd name="T4" fmla="*/ 0 w 26"/>
                <a:gd name="T5" fmla="*/ 27 h 28"/>
                <a:gd name="T6" fmla="*/ 25 w 26"/>
                <a:gd name="T7" fmla="*/ 12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2"/>
                  </a:moveTo>
                  <a:lnTo>
                    <a:pt x="25" y="0"/>
                  </a:lnTo>
                  <a:lnTo>
                    <a:pt x="0" y="27"/>
                  </a:lnTo>
                  <a:lnTo>
                    <a:pt x="25" y="1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4" name="Freeform 6115"/>
            <p:cNvSpPr>
              <a:spLocks/>
            </p:cNvSpPr>
            <p:nvPr/>
          </p:nvSpPr>
          <p:spPr bwMode="auto">
            <a:xfrm>
              <a:off x="2299" y="174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5" name="Freeform 6116"/>
            <p:cNvSpPr>
              <a:spLocks/>
            </p:cNvSpPr>
            <p:nvPr/>
          </p:nvSpPr>
          <p:spPr bwMode="auto">
            <a:xfrm>
              <a:off x="2286" y="1755"/>
              <a:ext cx="28" cy="28"/>
            </a:xfrm>
            <a:custGeom>
              <a:avLst/>
              <a:gdLst>
                <a:gd name="T0" fmla="*/ 27 w 28"/>
                <a:gd name="T1" fmla="*/ 27 h 28"/>
                <a:gd name="T2" fmla="*/ 27 w 28"/>
                <a:gd name="T3" fmla="*/ 0 h 28"/>
                <a:gd name="T4" fmla="*/ 0 w 28"/>
                <a:gd name="T5" fmla="*/ 10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27" y="0"/>
                  </a:lnTo>
                  <a:lnTo>
                    <a:pt x="0" y="10"/>
                  </a:lnTo>
                  <a:lnTo>
                    <a:pt x="27"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6" name="Freeform 6117"/>
            <p:cNvSpPr>
              <a:spLocks/>
            </p:cNvSpPr>
            <p:nvPr/>
          </p:nvSpPr>
          <p:spPr bwMode="auto">
            <a:xfrm>
              <a:off x="2299" y="1755"/>
              <a:ext cx="26" cy="28"/>
            </a:xfrm>
            <a:custGeom>
              <a:avLst/>
              <a:gdLst>
                <a:gd name="T0" fmla="*/ 0 w 26"/>
                <a:gd name="T1" fmla="*/ 27 h 28"/>
                <a:gd name="T2" fmla="*/ 25 w 26"/>
                <a:gd name="T3" fmla="*/ 18 h 28"/>
                <a:gd name="T4" fmla="*/ 0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18"/>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7" name="Freeform 6118"/>
            <p:cNvSpPr>
              <a:spLocks/>
            </p:cNvSpPr>
            <p:nvPr/>
          </p:nvSpPr>
          <p:spPr bwMode="auto">
            <a:xfrm>
              <a:off x="2305" y="1771"/>
              <a:ext cx="26" cy="27"/>
            </a:xfrm>
            <a:custGeom>
              <a:avLst/>
              <a:gdLst>
                <a:gd name="T0" fmla="*/ 25 w 26"/>
                <a:gd name="T1" fmla="*/ 0 h 27"/>
                <a:gd name="T2" fmla="*/ 25 w 26"/>
                <a:gd name="T3" fmla="*/ 0 h 27"/>
                <a:gd name="T4" fmla="*/ 0 w 26"/>
                <a:gd name="T5" fmla="*/ 26 h 27"/>
                <a:gd name="T6" fmla="*/ 25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0"/>
                  </a:moveTo>
                  <a:lnTo>
                    <a:pt x="25" y="0"/>
                  </a:lnTo>
                  <a:lnTo>
                    <a:pt x="0" y="26"/>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8" name="Line 6119"/>
            <p:cNvSpPr>
              <a:spLocks noChangeShapeType="1"/>
            </p:cNvSpPr>
            <p:nvPr/>
          </p:nvSpPr>
          <p:spPr bwMode="auto">
            <a:xfrm>
              <a:off x="2313" y="1771"/>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49" name="Freeform 6120"/>
            <p:cNvSpPr>
              <a:spLocks/>
            </p:cNvSpPr>
            <p:nvPr/>
          </p:nvSpPr>
          <p:spPr bwMode="auto">
            <a:xfrm>
              <a:off x="2299" y="1771"/>
              <a:ext cx="26" cy="27"/>
            </a:xfrm>
            <a:custGeom>
              <a:avLst/>
              <a:gdLst>
                <a:gd name="T0" fmla="*/ 25 w 26"/>
                <a:gd name="T1" fmla="*/ 26 h 27"/>
                <a:gd name="T2" fmla="*/ 25 w 26"/>
                <a:gd name="T3" fmla="*/ 0 h 27"/>
                <a:gd name="T4" fmla="*/ 0 w 26"/>
                <a:gd name="T5" fmla="*/ 8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0"/>
                  </a:lnTo>
                  <a:lnTo>
                    <a:pt x="0" y="8"/>
                  </a:lnTo>
                  <a:lnTo>
                    <a:pt x="2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0" name="Freeform 6121"/>
            <p:cNvSpPr>
              <a:spLocks/>
            </p:cNvSpPr>
            <p:nvPr/>
          </p:nvSpPr>
          <p:spPr bwMode="auto">
            <a:xfrm>
              <a:off x="2313" y="1771"/>
              <a:ext cx="25" cy="27"/>
            </a:xfrm>
            <a:custGeom>
              <a:avLst/>
              <a:gdLst>
                <a:gd name="T0" fmla="*/ 0 w 25"/>
                <a:gd name="T1" fmla="*/ 26 h 27"/>
                <a:gd name="T2" fmla="*/ 24 w 25"/>
                <a:gd name="T3" fmla="*/ 18 h 27"/>
                <a:gd name="T4" fmla="*/ 0 w 25"/>
                <a:gd name="T5" fmla="*/ 0 h 27"/>
                <a:gd name="T6" fmla="*/ 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26"/>
                  </a:moveTo>
                  <a:lnTo>
                    <a:pt x="24" y="18"/>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1" name="Freeform 6122"/>
            <p:cNvSpPr>
              <a:spLocks/>
            </p:cNvSpPr>
            <p:nvPr/>
          </p:nvSpPr>
          <p:spPr bwMode="auto">
            <a:xfrm>
              <a:off x="2317" y="1785"/>
              <a:ext cx="27" cy="28"/>
            </a:xfrm>
            <a:custGeom>
              <a:avLst/>
              <a:gdLst>
                <a:gd name="T0" fmla="*/ 26 w 27"/>
                <a:gd name="T1" fmla="*/ 0 h 28"/>
                <a:gd name="T2" fmla="*/ 0 w 27"/>
                <a:gd name="T3" fmla="*/ 0 h 28"/>
                <a:gd name="T4" fmla="*/ 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0" y="27"/>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2" name="Freeform 6123"/>
            <p:cNvSpPr>
              <a:spLocks/>
            </p:cNvSpPr>
            <p:nvPr/>
          </p:nvSpPr>
          <p:spPr bwMode="auto">
            <a:xfrm>
              <a:off x="2317" y="1785"/>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3" name="Freeform 6124"/>
            <p:cNvSpPr>
              <a:spLocks/>
            </p:cNvSpPr>
            <p:nvPr/>
          </p:nvSpPr>
          <p:spPr bwMode="auto">
            <a:xfrm>
              <a:off x="2313" y="1785"/>
              <a:ext cx="25" cy="29"/>
            </a:xfrm>
            <a:custGeom>
              <a:avLst/>
              <a:gdLst>
                <a:gd name="T0" fmla="*/ 24 w 25"/>
                <a:gd name="T1" fmla="*/ 28 h 29"/>
                <a:gd name="T2" fmla="*/ 24 w 25"/>
                <a:gd name="T3" fmla="*/ 0 h 29"/>
                <a:gd name="T4" fmla="*/ 0 w 25"/>
                <a:gd name="T5" fmla="*/ 6 h 29"/>
                <a:gd name="T6" fmla="*/ 24 w 25"/>
                <a:gd name="T7" fmla="*/ 28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28"/>
                  </a:moveTo>
                  <a:lnTo>
                    <a:pt x="24" y="0"/>
                  </a:lnTo>
                  <a:lnTo>
                    <a:pt x="0" y="6"/>
                  </a:lnTo>
                  <a:lnTo>
                    <a:pt x="24"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4" name="Freeform 6125"/>
            <p:cNvSpPr>
              <a:spLocks/>
            </p:cNvSpPr>
            <p:nvPr/>
          </p:nvSpPr>
          <p:spPr bwMode="auto">
            <a:xfrm>
              <a:off x="2324" y="1785"/>
              <a:ext cx="24" cy="29"/>
            </a:xfrm>
            <a:custGeom>
              <a:avLst/>
              <a:gdLst>
                <a:gd name="T0" fmla="*/ 0 w 24"/>
                <a:gd name="T1" fmla="*/ 28 h 29"/>
                <a:gd name="T2" fmla="*/ 23 w 24"/>
                <a:gd name="T3" fmla="*/ 21 h 29"/>
                <a:gd name="T4" fmla="*/ 0 w 24"/>
                <a:gd name="T5" fmla="*/ 0 h 29"/>
                <a:gd name="T6" fmla="*/ 0 w 24"/>
                <a:gd name="T7" fmla="*/ 28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28"/>
                  </a:moveTo>
                  <a:lnTo>
                    <a:pt x="23" y="21"/>
                  </a:lnTo>
                  <a:lnTo>
                    <a:pt x="0" y="0"/>
                  </a:lnTo>
                  <a:lnTo>
                    <a:pt x="0"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5" name="Freeform 6126"/>
            <p:cNvSpPr>
              <a:spLocks/>
            </p:cNvSpPr>
            <p:nvPr/>
          </p:nvSpPr>
          <p:spPr bwMode="auto">
            <a:xfrm>
              <a:off x="2330" y="1807"/>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6" name="Line 6127"/>
            <p:cNvSpPr>
              <a:spLocks noChangeShapeType="1"/>
            </p:cNvSpPr>
            <p:nvPr/>
          </p:nvSpPr>
          <p:spPr bwMode="auto">
            <a:xfrm>
              <a:off x="2330" y="180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7" name="Freeform 6128"/>
            <p:cNvSpPr>
              <a:spLocks/>
            </p:cNvSpPr>
            <p:nvPr/>
          </p:nvSpPr>
          <p:spPr bwMode="auto">
            <a:xfrm>
              <a:off x="2324" y="1807"/>
              <a:ext cx="24" cy="29"/>
            </a:xfrm>
            <a:custGeom>
              <a:avLst/>
              <a:gdLst>
                <a:gd name="T0" fmla="*/ 0 w 24"/>
                <a:gd name="T1" fmla="*/ 6 h 29"/>
                <a:gd name="T2" fmla="*/ 12 w 24"/>
                <a:gd name="T3" fmla="*/ 0 h 29"/>
                <a:gd name="T4" fmla="*/ 23 w 24"/>
                <a:gd name="T5" fmla="*/ 28 h 29"/>
                <a:gd name="T6" fmla="*/ 0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6"/>
                  </a:moveTo>
                  <a:lnTo>
                    <a:pt x="12" y="0"/>
                  </a:lnTo>
                  <a:lnTo>
                    <a:pt x="23" y="28"/>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8" name="Freeform 6129"/>
            <p:cNvSpPr>
              <a:spLocks/>
            </p:cNvSpPr>
            <p:nvPr/>
          </p:nvSpPr>
          <p:spPr bwMode="auto">
            <a:xfrm>
              <a:off x="2330" y="1807"/>
              <a:ext cx="26" cy="29"/>
            </a:xfrm>
            <a:custGeom>
              <a:avLst/>
              <a:gdLst>
                <a:gd name="T0" fmla="*/ 12 w 26"/>
                <a:gd name="T1" fmla="*/ 28 h 29"/>
                <a:gd name="T2" fmla="*/ 25 w 26"/>
                <a:gd name="T3" fmla="*/ 21 h 29"/>
                <a:gd name="T4" fmla="*/ 0 w 26"/>
                <a:gd name="T5" fmla="*/ 0 h 29"/>
                <a:gd name="T6" fmla="*/ 12 w 26"/>
                <a:gd name="T7" fmla="*/ 28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12" y="28"/>
                  </a:moveTo>
                  <a:lnTo>
                    <a:pt x="25" y="21"/>
                  </a:lnTo>
                  <a:lnTo>
                    <a:pt x="0" y="0"/>
                  </a:lnTo>
                  <a:lnTo>
                    <a:pt x="12" y="2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59" name="Freeform 6130"/>
            <p:cNvSpPr>
              <a:spLocks/>
            </p:cNvSpPr>
            <p:nvPr/>
          </p:nvSpPr>
          <p:spPr bwMode="auto">
            <a:xfrm>
              <a:off x="2341" y="1828"/>
              <a:ext cx="1" cy="27"/>
            </a:xfrm>
            <a:custGeom>
              <a:avLst/>
              <a:gdLst>
                <a:gd name="T0" fmla="*/ 0 w 1"/>
                <a:gd name="T1" fmla="*/ 0 h 27"/>
                <a:gd name="T2" fmla="*/ 0 w 1"/>
                <a:gd name="T3" fmla="*/ 0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0"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0" name="Line 6131"/>
            <p:cNvSpPr>
              <a:spLocks noChangeShapeType="1"/>
            </p:cNvSpPr>
            <p:nvPr/>
          </p:nvSpPr>
          <p:spPr bwMode="auto">
            <a:xfrm>
              <a:off x="2341" y="1828"/>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1" name="Freeform 6132"/>
            <p:cNvSpPr>
              <a:spLocks/>
            </p:cNvSpPr>
            <p:nvPr/>
          </p:nvSpPr>
          <p:spPr bwMode="auto">
            <a:xfrm>
              <a:off x="2337" y="1828"/>
              <a:ext cx="26" cy="37"/>
            </a:xfrm>
            <a:custGeom>
              <a:avLst/>
              <a:gdLst>
                <a:gd name="T0" fmla="*/ 0 w 26"/>
                <a:gd name="T1" fmla="*/ 6 h 37"/>
                <a:gd name="T2" fmla="*/ 11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11" y="0"/>
                  </a:lnTo>
                  <a:lnTo>
                    <a:pt x="25"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2" name="Freeform 6133"/>
            <p:cNvSpPr>
              <a:spLocks/>
            </p:cNvSpPr>
            <p:nvPr/>
          </p:nvSpPr>
          <p:spPr bwMode="auto">
            <a:xfrm>
              <a:off x="2341" y="1828"/>
              <a:ext cx="25" cy="37"/>
            </a:xfrm>
            <a:custGeom>
              <a:avLst/>
              <a:gdLst>
                <a:gd name="T0" fmla="*/ 13 w 25"/>
                <a:gd name="T1" fmla="*/ 36 h 37"/>
                <a:gd name="T2" fmla="*/ 24 w 25"/>
                <a:gd name="T3" fmla="*/ 27 h 37"/>
                <a:gd name="T4" fmla="*/ 0 w 25"/>
                <a:gd name="T5" fmla="*/ 0 h 37"/>
                <a:gd name="T6" fmla="*/ 13 w 25"/>
                <a:gd name="T7" fmla="*/ 3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13" y="36"/>
                  </a:moveTo>
                  <a:lnTo>
                    <a:pt x="24" y="27"/>
                  </a:lnTo>
                  <a:lnTo>
                    <a:pt x="0" y="0"/>
                  </a:lnTo>
                  <a:lnTo>
                    <a:pt x="13"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3" name="Freeform 6134"/>
            <p:cNvSpPr>
              <a:spLocks/>
            </p:cNvSpPr>
            <p:nvPr/>
          </p:nvSpPr>
          <p:spPr bwMode="auto">
            <a:xfrm>
              <a:off x="2355" y="185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4" name="Line 6135"/>
            <p:cNvSpPr>
              <a:spLocks noChangeShapeType="1"/>
            </p:cNvSpPr>
            <p:nvPr/>
          </p:nvSpPr>
          <p:spPr bwMode="auto">
            <a:xfrm>
              <a:off x="2355" y="1856"/>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5" name="Freeform 6136"/>
            <p:cNvSpPr>
              <a:spLocks/>
            </p:cNvSpPr>
            <p:nvPr/>
          </p:nvSpPr>
          <p:spPr bwMode="auto">
            <a:xfrm>
              <a:off x="2347" y="1856"/>
              <a:ext cx="29" cy="37"/>
            </a:xfrm>
            <a:custGeom>
              <a:avLst/>
              <a:gdLst>
                <a:gd name="T0" fmla="*/ 0 w 29"/>
                <a:gd name="T1" fmla="*/ 8 h 37"/>
                <a:gd name="T2" fmla="*/ 28 w 29"/>
                <a:gd name="T3" fmla="*/ 0 h 37"/>
                <a:gd name="T4" fmla="*/ 28 w 29"/>
                <a:gd name="T5" fmla="*/ 36 h 37"/>
                <a:gd name="T6" fmla="*/ 0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8"/>
                  </a:moveTo>
                  <a:lnTo>
                    <a:pt x="28" y="0"/>
                  </a:lnTo>
                  <a:lnTo>
                    <a:pt x="28" y="36"/>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6" name="Freeform 6137"/>
            <p:cNvSpPr>
              <a:spLocks/>
            </p:cNvSpPr>
            <p:nvPr/>
          </p:nvSpPr>
          <p:spPr bwMode="auto">
            <a:xfrm>
              <a:off x="2355" y="1856"/>
              <a:ext cx="24" cy="37"/>
            </a:xfrm>
            <a:custGeom>
              <a:avLst/>
              <a:gdLst>
                <a:gd name="T0" fmla="*/ 0 w 24"/>
                <a:gd name="T1" fmla="*/ 36 h 37"/>
                <a:gd name="T2" fmla="*/ 23 w 24"/>
                <a:gd name="T3" fmla="*/ 29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29"/>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7" name="Freeform 6138"/>
            <p:cNvSpPr>
              <a:spLocks/>
            </p:cNvSpPr>
            <p:nvPr/>
          </p:nvSpPr>
          <p:spPr bwMode="auto">
            <a:xfrm>
              <a:off x="2367" y="188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8" name="Line 6139"/>
            <p:cNvSpPr>
              <a:spLocks noChangeShapeType="1"/>
            </p:cNvSpPr>
            <p:nvPr/>
          </p:nvSpPr>
          <p:spPr bwMode="auto">
            <a:xfrm>
              <a:off x="2367" y="1886"/>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69" name="Freeform 6140"/>
            <p:cNvSpPr>
              <a:spLocks/>
            </p:cNvSpPr>
            <p:nvPr/>
          </p:nvSpPr>
          <p:spPr bwMode="auto">
            <a:xfrm>
              <a:off x="2355" y="1886"/>
              <a:ext cx="24" cy="34"/>
            </a:xfrm>
            <a:custGeom>
              <a:avLst/>
              <a:gdLst>
                <a:gd name="T0" fmla="*/ 0 w 24"/>
                <a:gd name="T1" fmla="*/ 6 h 34"/>
                <a:gd name="T2" fmla="*/ 23 w 24"/>
                <a:gd name="T3" fmla="*/ 0 h 34"/>
                <a:gd name="T4" fmla="*/ 23 w 24"/>
                <a:gd name="T5" fmla="*/ 33 h 34"/>
                <a:gd name="T6" fmla="*/ 0 w 24"/>
                <a:gd name="T7" fmla="*/ 6 h 34"/>
                <a:gd name="T8" fmla="*/ 0 60000 65536"/>
                <a:gd name="T9" fmla="*/ 0 60000 65536"/>
                <a:gd name="T10" fmla="*/ 0 60000 65536"/>
                <a:gd name="T11" fmla="*/ 0 60000 65536"/>
                <a:gd name="T12" fmla="*/ 0 w 24"/>
                <a:gd name="T13" fmla="*/ 0 h 34"/>
                <a:gd name="T14" fmla="*/ 24 w 24"/>
                <a:gd name="T15" fmla="*/ 34 h 34"/>
              </a:gdLst>
              <a:ahLst/>
              <a:cxnLst>
                <a:cxn ang="T8">
                  <a:pos x="T0" y="T1"/>
                </a:cxn>
                <a:cxn ang="T9">
                  <a:pos x="T2" y="T3"/>
                </a:cxn>
                <a:cxn ang="T10">
                  <a:pos x="T4" y="T5"/>
                </a:cxn>
                <a:cxn ang="T11">
                  <a:pos x="T6" y="T7"/>
                </a:cxn>
              </a:cxnLst>
              <a:rect l="T12" t="T13" r="T14" b="T15"/>
              <a:pathLst>
                <a:path w="24" h="34">
                  <a:moveTo>
                    <a:pt x="0" y="6"/>
                  </a:moveTo>
                  <a:lnTo>
                    <a:pt x="23" y="0"/>
                  </a:lnTo>
                  <a:lnTo>
                    <a:pt x="23" y="33"/>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0" name="Freeform 6141"/>
            <p:cNvSpPr>
              <a:spLocks/>
            </p:cNvSpPr>
            <p:nvPr/>
          </p:nvSpPr>
          <p:spPr bwMode="auto">
            <a:xfrm>
              <a:off x="2367" y="1886"/>
              <a:ext cx="27" cy="34"/>
            </a:xfrm>
            <a:custGeom>
              <a:avLst/>
              <a:gdLst>
                <a:gd name="T0" fmla="*/ 0 w 27"/>
                <a:gd name="T1" fmla="*/ 33 h 34"/>
                <a:gd name="T2" fmla="*/ 26 w 27"/>
                <a:gd name="T3" fmla="*/ 26 h 34"/>
                <a:gd name="T4" fmla="*/ 0 w 27"/>
                <a:gd name="T5" fmla="*/ 0 h 34"/>
                <a:gd name="T6" fmla="*/ 0 w 27"/>
                <a:gd name="T7" fmla="*/ 33 h 34"/>
                <a:gd name="T8" fmla="*/ 0 60000 65536"/>
                <a:gd name="T9" fmla="*/ 0 60000 65536"/>
                <a:gd name="T10" fmla="*/ 0 60000 65536"/>
                <a:gd name="T11" fmla="*/ 0 60000 65536"/>
                <a:gd name="T12" fmla="*/ 0 w 27"/>
                <a:gd name="T13" fmla="*/ 0 h 34"/>
                <a:gd name="T14" fmla="*/ 27 w 27"/>
                <a:gd name="T15" fmla="*/ 34 h 34"/>
              </a:gdLst>
              <a:ahLst/>
              <a:cxnLst>
                <a:cxn ang="T8">
                  <a:pos x="T0" y="T1"/>
                </a:cxn>
                <a:cxn ang="T9">
                  <a:pos x="T2" y="T3"/>
                </a:cxn>
                <a:cxn ang="T10">
                  <a:pos x="T4" y="T5"/>
                </a:cxn>
                <a:cxn ang="T11">
                  <a:pos x="T6" y="T7"/>
                </a:cxn>
              </a:cxnLst>
              <a:rect l="T12" t="T13" r="T14" b="T15"/>
              <a:pathLst>
                <a:path w="27" h="34">
                  <a:moveTo>
                    <a:pt x="0" y="33"/>
                  </a:moveTo>
                  <a:lnTo>
                    <a:pt x="26" y="26"/>
                  </a:lnTo>
                  <a:lnTo>
                    <a:pt x="0" y="0"/>
                  </a:lnTo>
                  <a:lnTo>
                    <a:pt x="0" y="3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1" name="Freeform 6142"/>
            <p:cNvSpPr>
              <a:spLocks/>
            </p:cNvSpPr>
            <p:nvPr/>
          </p:nvSpPr>
          <p:spPr bwMode="auto">
            <a:xfrm>
              <a:off x="2378" y="1913"/>
              <a:ext cx="1" cy="28"/>
            </a:xfrm>
            <a:custGeom>
              <a:avLst/>
              <a:gdLst>
                <a:gd name="T0" fmla="*/ 0 w 1"/>
                <a:gd name="T1" fmla="*/ 0 h 28"/>
                <a:gd name="T2" fmla="*/ 0 w 1"/>
                <a:gd name="T3" fmla="*/ 0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0"/>
                  </a:lnTo>
                  <a:lnTo>
                    <a:pt x="0"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2" name="Line 6143"/>
            <p:cNvSpPr>
              <a:spLocks noChangeShapeType="1"/>
            </p:cNvSpPr>
            <p:nvPr/>
          </p:nvSpPr>
          <p:spPr bwMode="auto">
            <a:xfrm>
              <a:off x="2378" y="191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3" name="Freeform 6144"/>
            <p:cNvSpPr>
              <a:spLocks/>
            </p:cNvSpPr>
            <p:nvPr/>
          </p:nvSpPr>
          <p:spPr bwMode="auto">
            <a:xfrm>
              <a:off x="2367" y="1913"/>
              <a:ext cx="27" cy="37"/>
            </a:xfrm>
            <a:custGeom>
              <a:avLst/>
              <a:gdLst>
                <a:gd name="T0" fmla="*/ 0 w 27"/>
                <a:gd name="T1" fmla="*/ 6 h 37"/>
                <a:gd name="T2" fmla="*/ 26 w 27"/>
                <a:gd name="T3" fmla="*/ 0 h 37"/>
                <a:gd name="T4" fmla="*/ 26 w 27"/>
                <a:gd name="T5" fmla="*/ 36 h 37"/>
                <a:gd name="T6" fmla="*/ 0 w 27"/>
                <a:gd name="T7" fmla="*/ 6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0" y="6"/>
                  </a:moveTo>
                  <a:lnTo>
                    <a:pt x="26" y="0"/>
                  </a:lnTo>
                  <a:lnTo>
                    <a:pt x="26"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4" name="Freeform 6145"/>
            <p:cNvSpPr>
              <a:spLocks/>
            </p:cNvSpPr>
            <p:nvPr/>
          </p:nvSpPr>
          <p:spPr bwMode="auto">
            <a:xfrm>
              <a:off x="2378" y="19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5" name="Freeform 6146"/>
            <p:cNvSpPr>
              <a:spLocks/>
            </p:cNvSpPr>
            <p:nvPr/>
          </p:nvSpPr>
          <p:spPr bwMode="auto">
            <a:xfrm>
              <a:off x="2385" y="1941"/>
              <a:ext cx="29" cy="27"/>
            </a:xfrm>
            <a:custGeom>
              <a:avLst/>
              <a:gdLst>
                <a:gd name="T0" fmla="*/ 28 w 29"/>
                <a:gd name="T1" fmla="*/ 0 h 27"/>
                <a:gd name="T2" fmla="*/ 28 w 29"/>
                <a:gd name="T3" fmla="*/ 0 h 27"/>
                <a:gd name="T4" fmla="*/ 0 w 29"/>
                <a:gd name="T5" fmla="*/ 26 h 27"/>
                <a:gd name="T6" fmla="*/ 28 w 29"/>
                <a:gd name="T7" fmla="*/ 0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28" y="0"/>
                  </a:moveTo>
                  <a:lnTo>
                    <a:pt x="28" y="0"/>
                  </a:lnTo>
                  <a:lnTo>
                    <a:pt x="0" y="26"/>
                  </a:lnTo>
                  <a:lnTo>
                    <a:pt x="28"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6" name="Line 6147"/>
            <p:cNvSpPr>
              <a:spLocks noChangeShapeType="1"/>
            </p:cNvSpPr>
            <p:nvPr/>
          </p:nvSpPr>
          <p:spPr bwMode="auto">
            <a:xfrm>
              <a:off x="2393" y="194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7" name="Freeform 6148"/>
            <p:cNvSpPr>
              <a:spLocks/>
            </p:cNvSpPr>
            <p:nvPr/>
          </p:nvSpPr>
          <p:spPr bwMode="auto">
            <a:xfrm>
              <a:off x="2378" y="1941"/>
              <a:ext cx="26" cy="37"/>
            </a:xfrm>
            <a:custGeom>
              <a:avLst/>
              <a:gdLst>
                <a:gd name="T0" fmla="*/ 0 w 26"/>
                <a:gd name="T1" fmla="*/ 8 h 37"/>
                <a:gd name="T2" fmla="*/ 25 w 26"/>
                <a:gd name="T3" fmla="*/ 0 h 37"/>
                <a:gd name="T4" fmla="*/ 25 w 26"/>
                <a:gd name="T5" fmla="*/ 36 h 37"/>
                <a:gd name="T6" fmla="*/ 0 w 26"/>
                <a:gd name="T7" fmla="*/ 8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8"/>
                  </a:moveTo>
                  <a:lnTo>
                    <a:pt x="25" y="0"/>
                  </a:lnTo>
                  <a:lnTo>
                    <a:pt x="25" y="36"/>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8" name="Freeform 6149"/>
            <p:cNvSpPr>
              <a:spLocks/>
            </p:cNvSpPr>
            <p:nvPr/>
          </p:nvSpPr>
          <p:spPr bwMode="auto">
            <a:xfrm>
              <a:off x="2393" y="1941"/>
              <a:ext cx="24" cy="37"/>
            </a:xfrm>
            <a:custGeom>
              <a:avLst/>
              <a:gdLst>
                <a:gd name="T0" fmla="*/ 0 w 24"/>
                <a:gd name="T1" fmla="*/ 36 h 37"/>
                <a:gd name="T2" fmla="*/ 23 w 24"/>
                <a:gd name="T3" fmla="*/ 36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36"/>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79" name="Freeform 6150"/>
            <p:cNvSpPr>
              <a:spLocks/>
            </p:cNvSpPr>
            <p:nvPr/>
          </p:nvSpPr>
          <p:spPr bwMode="auto">
            <a:xfrm>
              <a:off x="2398" y="1977"/>
              <a:ext cx="26" cy="28"/>
            </a:xfrm>
            <a:custGeom>
              <a:avLst/>
              <a:gdLst>
                <a:gd name="T0" fmla="*/ 25 w 26"/>
                <a:gd name="T1" fmla="*/ 0 h 28"/>
                <a:gd name="T2" fmla="*/ 25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25" y="0"/>
                  </a:lnTo>
                  <a:lnTo>
                    <a:pt x="0" y="27"/>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0" name="Line 6151"/>
            <p:cNvSpPr>
              <a:spLocks noChangeShapeType="1"/>
            </p:cNvSpPr>
            <p:nvPr/>
          </p:nvSpPr>
          <p:spPr bwMode="auto">
            <a:xfrm>
              <a:off x="2403" y="1977"/>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1" name="Freeform 6152"/>
            <p:cNvSpPr>
              <a:spLocks/>
            </p:cNvSpPr>
            <p:nvPr/>
          </p:nvSpPr>
          <p:spPr bwMode="auto">
            <a:xfrm>
              <a:off x="2393" y="1977"/>
              <a:ext cx="24" cy="36"/>
            </a:xfrm>
            <a:custGeom>
              <a:avLst/>
              <a:gdLst>
                <a:gd name="T0" fmla="*/ 0 w 24"/>
                <a:gd name="T1" fmla="*/ 0 h 36"/>
                <a:gd name="T2" fmla="*/ 23 w 24"/>
                <a:gd name="T3" fmla="*/ 0 h 36"/>
                <a:gd name="T4" fmla="*/ 23 w 24"/>
                <a:gd name="T5" fmla="*/ 35 h 36"/>
                <a:gd name="T6" fmla="*/ 0 w 24"/>
                <a:gd name="T7" fmla="*/ 0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0"/>
                  </a:moveTo>
                  <a:lnTo>
                    <a:pt x="23" y="0"/>
                  </a:lnTo>
                  <a:lnTo>
                    <a:pt x="23" y="3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2" name="Freeform 6153"/>
            <p:cNvSpPr>
              <a:spLocks/>
            </p:cNvSpPr>
            <p:nvPr/>
          </p:nvSpPr>
          <p:spPr bwMode="auto">
            <a:xfrm>
              <a:off x="2403" y="1977"/>
              <a:ext cx="29" cy="36"/>
            </a:xfrm>
            <a:custGeom>
              <a:avLst/>
              <a:gdLst>
                <a:gd name="T0" fmla="*/ 0 w 29"/>
                <a:gd name="T1" fmla="*/ 35 h 36"/>
                <a:gd name="T2" fmla="*/ 28 w 29"/>
                <a:gd name="T3" fmla="*/ 28 h 36"/>
                <a:gd name="T4" fmla="*/ 0 w 29"/>
                <a:gd name="T5" fmla="*/ 0 h 36"/>
                <a:gd name="T6" fmla="*/ 0 w 29"/>
                <a:gd name="T7" fmla="*/ 35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0" y="35"/>
                  </a:moveTo>
                  <a:lnTo>
                    <a:pt x="28"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3" name="Freeform 6154"/>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4" name="Freeform 6155"/>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5" name="Freeform 6156"/>
            <p:cNvSpPr>
              <a:spLocks/>
            </p:cNvSpPr>
            <p:nvPr/>
          </p:nvSpPr>
          <p:spPr bwMode="auto">
            <a:xfrm>
              <a:off x="2403" y="2007"/>
              <a:ext cx="29" cy="43"/>
            </a:xfrm>
            <a:custGeom>
              <a:avLst/>
              <a:gdLst>
                <a:gd name="T0" fmla="*/ 0 w 29"/>
                <a:gd name="T1" fmla="*/ 6 h 43"/>
                <a:gd name="T2" fmla="*/ 28 w 29"/>
                <a:gd name="T3" fmla="*/ 0 h 43"/>
                <a:gd name="T4" fmla="*/ 28 w 29"/>
                <a:gd name="T5" fmla="*/ 42 h 43"/>
                <a:gd name="T6" fmla="*/ 0 w 29"/>
                <a:gd name="T7" fmla="*/ 6 h 43"/>
                <a:gd name="T8" fmla="*/ 0 60000 65536"/>
                <a:gd name="T9" fmla="*/ 0 60000 65536"/>
                <a:gd name="T10" fmla="*/ 0 60000 65536"/>
                <a:gd name="T11" fmla="*/ 0 60000 65536"/>
                <a:gd name="T12" fmla="*/ 0 w 29"/>
                <a:gd name="T13" fmla="*/ 0 h 43"/>
                <a:gd name="T14" fmla="*/ 29 w 29"/>
                <a:gd name="T15" fmla="*/ 43 h 43"/>
              </a:gdLst>
              <a:ahLst/>
              <a:cxnLst>
                <a:cxn ang="T8">
                  <a:pos x="T0" y="T1"/>
                </a:cxn>
                <a:cxn ang="T9">
                  <a:pos x="T2" y="T3"/>
                </a:cxn>
                <a:cxn ang="T10">
                  <a:pos x="T4" y="T5"/>
                </a:cxn>
                <a:cxn ang="T11">
                  <a:pos x="T6" y="T7"/>
                </a:cxn>
              </a:cxnLst>
              <a:rect l="T12" t="T13" r="T14" b="T15"/>
              <a:pathLst>
                <a:path w="29" h="43">
                  <a:moveTo>
                    <a:pt x="0" y="6"/>
                  </a:moveTo>
                  <a:lnTo>
                    <a:pt x="28" y="0"/>
                  </a:lnTo>
                  <a:lnTo>
                    <a:pt x="28" y="42"/>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6" name="Freeform 6157"/>
            <p:cNvSpPr>
              <a:spLocks/>
            </p:cNvSpPr>
            <p:nvPr/>
          </p:nvSpPr>
          <p:spPr bwMode="auto">
            <a:xfrm>
              <a:off x="2416" y="2007"/>
              <a:ext cx="26" cy="43"/>
            </a:xfrm>
            <a:custGeom>
              <a:avLst/>
              <a:gdLst>
                <a:gd name="T0" fmla="*/ 0 w 26"/>
                <a:gd name="T1" fmla="*/ 42 h 43"/>
                <a:gd name="T2" fmla="*/ 25 w 26"/>
                <a:gd name="T3" fmla="*/ 33 h 43"/>
                <a:gd name="T4" fmla="*/ 0 w 26"/>
                <a:gd name="T5" fmla="*/ 0 h 43"/>
                <a:gd name="T6" fmla="*/ 0 w 26"/>
                <a:gd name="T7" fmla="*/ 42 h 43"/>
                <a:gd name="T8" fmla="*/ 0 60000 65536"/>
                <a:gd name="T9" fmla="*/ 0 60000 65536"/>
                <a:gd name="T10" fmla="*/ 0 60000 65536"/>
                <a:gd name="T11" fmla="*/ 0 60000 65536"/>
                <a:gd name="T12" fmla="*/ 0 w 26"/>
                <a:gd name="T13" fmla="*/ 0 h 43"/>
                <a:gd name="T14" fmla="*/ 26 w 26"/>
                <a:gd name="T15" fmla="*/ 43 h 43"/>
              </a:gdLst>
              <a:ahLst/>
              <a:cxnLst>
                <a:cxn ang="T8">
                  <a:pos x="T0" y="T1"/>
                </a:cxn>
                <a:cxn ang="T9">
                  <a:pos x="T2" y="T3"/>
                </a:cxn>
                <a:cxn ang="T10">
                  <a:pos x="T4" y="T5"/>
                </a:cxn>
                <a:cxn ang="T11">
                  <a:pos x="T6" y="T7"/>
                </a:cxn>
              </a:cxnLst>
              <a:rect l="T12" t="T13" r="T14" b="T15"/>
              <a:pathLst>
                <a:path w="26" h="43">
                  <a:moveTo>
                    <a:pt x="0" y="42"/>
                  </a:moveTo>
                  <a:lnTo>
                    <a:pt x="25" y="33"/>
                  </a:lnTo>
                  <a:lnTo>
                    <a:pt x="0" y="0"/>
                  </a:lnTo>
                  <a:lnTo>
                    <a:pt x="0" y="42"/>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7" name="Freeform 6158"/>
            <p:cNvSpPr>
              <a:spLocks/>
            </p:cNvSpPr>
            <p:nvPr/>
          </p:nvSpPr>
          <p:spPr bwMode="auto">
            <a:xfrm>
              <a:off x="2423" y="2041"/>
              <a:ext cx="27" cy="27"/>
            </a:xfrm>
            <a:custGeom>
              <a:avLst/>
              <a:gdLst>
                <a:gd name="T0" fmla="*/ 26 w 27"/>
                <a:gd name="T1" fmla="*/ 0 h 27"/>
                <a:gd name="T2" fmla="*/ 26 w 27"/>
                <a:gd name="T3" fmla="*/ 0 h 27"/>
                <a:gd name="T4" fmla="*/ 0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26" y="0"/>
                  </a:lnTo>
                  <a:lnTo>
                    <a:pt x="0" y="26"/>
                  </a:lnTo>
                  <a:lnTo>
                    <a:pt x="26"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8" name="Line 6159"/>
            <p:cNvSpPr>
              <a:spLocks noChangeShapeType="1"/>
            </p:cNvSpPr>
            <p:nvPr/>
          </p:nvSpPr>
          <p:spPr bwMode="auto">
            <a:xfrm>
              <a:off x="2428" y="2041"/>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89" name="Freeform 6160"/>
            <p:cNvSpPr>
              <a:spLocks/>
            </p:cNvSpPr>
            <p:nvPr/>
          </p:nvSpPr>
          <p:spPr bwMode="auto">
            <a:xfrm>
              <a:off x="2416" y="20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0" name="Freeform 6161"/>
            <p:cNvSpPr>
              <a:spLocks/>
            </p:cNvSpPr>
            <p:nvPr/>
          </p:nvSpPr>
          <p:spPr bwMode="auto">
            <a:xfrm>
              <a:off x="2428" y="2041"/>
              <a:ext cx="26" cy="44"/>
            </a:xfrm>
            <a:custGeom>
              <a:avLst/>
              <a:gdLst>
                <a:gd name="T0" fmla="*/ 0 w 26"/>
                <a:gd name="T1" fmla="*/ 43 h 44"/>
                <a:gd name="T2" fmla="*/ 25 w 26"/>
                <a:gd name="T3" fmla="*/ 36 h 44"/>
                <a:gd name="T4" fmla="*/ 0 w 26"/>
                <a:gd name="T5" fmla="*/ 0 h 44"/>
                <a:gd name="T6" fmla="*/ 0 w 26"/>
                <a:gd name="T7" fmla="*/ 43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43"/>
                  </a:moveTo>
                  <a:lnTo>
                    <a:pt x="25" y="36"/>
                  </a:lnTo>
                  <a:lnTo>
                    <a:pt x="0" y="0"/>
                  </a:lnTo>
                  <a:lnTo>
                    <a:pt x="0" y="4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1" name="Freeform 6162"/>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2" name="Freeform 6163"/>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3" name="Freeform 6164"/>
            <p:cNvSpPr>
              <a:spLocks/>
            </p:cNvSpPr>
            <p:nvPr/>
          </p:nvSpPr>
          <p:spPr bwMode="auto">
            <a:xfrm>
              <a:off x="2428" y="2077"/>
              <a:ext cx="26" cy="37"/>
            </a:xfrm>
            <a:custGeom>
              <a:avLst/>
              <a:gdLst>
                <a:gd name="T0" fmla="*/ 0 w 26"/>
                <a:gd name="T1" fmla="*/ 6 h 37"/>
                <a:gd name="T2" fmla="*/ 25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25" y="0"/>
                  </a:lnTo>
                  <a:lnTo>
                    <a:pt x="25" y="36"/>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4" name="Freeform 6165"/>
            <p:cNvSpPr>
              <a:spLocks/>
            </p:cNvSpPr>
            <p:nvPr/>
          </p:nvSpPr>
          <p:spPr bwMode="auto">
            <a:xfrm>
              <a:off x="2441" y="2077"/>
              <a:ext cx="29" cy="37"/>
            </a:xfrm>
            <a:custGeom>
              <a:avLst/>
              <a:gdLst>
                <a:gd name="T0" fmla="*/ 0 w 29"/>
                <a:gd name="T1" fmla="*/ 36 h 37"/>
                <a:gd name="T2" fmla="*/ 28 w 29"/>
                <a:gd name="T3" fmla="*/ 36 h 37"/>
                <a:gd name="T4" fmla="*/ 0 w 29"/>
                <a:gd name="T5" fmla="*/ 0 h 37"/>
                <a:gd name="T6" fmla="*/ 0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36"/>
                  </a:moveTo>
                  <a:lnTo>
                    <a:pt x="28" y="36"/>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5" name="Freeform 6166"/>
            <p:cNvSpPr>
              <a:spLocks/>
            </p:cNvSpPr>
            <p:nvPr/>
          </p:nvSpPr>
          <p:spPr bwMode="auto">
            <a:xfrm>
              <a:off x="2441" y="2113"/>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6" name="Line 6167"/>
            <p:cNvSpPr>
              <a:spLocks noChangeShapeType="1"/>
            </p:cNvSpPr>
            <p:nvPr/>
          </p:nvSpPr>
          <p:spPr bwMode="auto">
            <a:xfrm>
              <a:off x="2441" y="211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7" name="Freeform 6168"/>
            <p:cNvSpPr>
              <a:spLocks/>
            </p:cNvSpPr>
            <p:nvPr/>
          </p:nvSpPr>
          <p:spPr bwMode="auto">
            <a:xfrm>
              <a:off x="2441" y="2113"/>
              <a:ext cx="29" cy="37"/>
            </a:xfrm>
            <a:custGeom>
              <a:avLst/>
              <a:gdLst>
                <a:gd name="T0" fmla="*/ 0 w 29"/>
                <a:gd name="T1" fmla="*/ 0 h 37"/>
                <a:gd name="T2" fmla="*/ 28 w 29"/>
                <a:gd name="T3" fmla="*/ 0 h 37"/>
                <a:gd name="T4" fmla="*/ 28 w 29"/>
                <a:gd name="T5" fmla="*/ 36 h 37"/>
                <a:gd name="T6" fmla="*/ 0 w 29"/>
                <a:gd name="T7" fmla="*/ 0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8" y="0"/>
                  </a:lnTo>
                  <a:lnTo>
                    <a:pt x="28" y="3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8" name="Freeform 6169"/>
            <p:cNvSpPr>
              <a:spLocks/>
            </p:cNvSpPr>
            <p:nvPr/>
          </p:nvSpPr>
          <p:spPr bwMode="auto">
            <a:xfrm>
              <a:off x="2454" y="21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799" name="Freeform 6170"/>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0" name="Freeform 6171"/>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1" name="Freeform 6172"/>
            <p:cNvSpPr>
              <a:spLocks/>
            </p:cNvSpPr>
            <p:nvPr/>
          </p:nvSpPr>
          <p:spPr bwMode="auto">
            <a:xfrm>
              <a:off x="2454" y="21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2" name="Freeform 6173"/>
            <p:cNvSpPr>
              <a:spLocks/>
            </p:cNvSpPr>
            <p:nvPr/>
          </p:nvSpPr>
          <p:spPr bwMode="auto">
            <a:xfrm>
              <a:off x="2469" y="2141"/>
              <a:ext cx="24" cy="44"/>
            </a:xfrm>
            <a:custGeom>
              <a:avLst/>
              <a:gdLst>
                <a:gd name="T0" fmla="*/ 0 w 24"/>
                <a:gd name="T1" fmla="*/ 43 h 44"/>
                <a:gd name="T2" fmla="*/ 23 w 24"/>
                <a:gd name="T3" fmla="*/ 36 h 44"/>
                <a:gd name="T4" fmla="*/ 0 w 24"/>
                <a:gd name="T5" fmla="*/ 0 h 44"/>
                <a:gd name="T6" fmla="*/ 0 w 24"/>
                <a:gd name="T7" fmla="*/ 43 h 44"/>
                <a:gd name="T8" fmla="*/ 0 60000 65536"/>
                <a:gd name="T9" fmla="*/ 0 60000 65536"/>
                <a:gd name="T10" fmla="*/ 0 60000 65536"/>
                <a:gd name="T11" fmla="*/ 0 60000 65536"/>
                <a:gd name="T12" fmla="*/ 0 w 24"/>
                <a:gd name="T13" fmla="*/ 0 h 44"/>
                <a:gd name="T14" fmla="*/ 24 w 24"/>
                <a:gd name="T15" fmla="*/ 44 h 44"/>
              </a:gdLst>
              <a:ahLst/>
              <a:cxnLst>
                <a:cxn ang="T8">
                  <a:pos x="T0" y="T1"/>
                </a:cxn>
                <a:cxn ang="T9">
                  <a:pos x="T2" y="T3"/>
                </a:cxn>
                <a:cxn ang="T10">
                  <a:pos x="T4" y="T5"/>
                </a:cxn>
                <a:cxn ang="T11">
                  <a:pos x="T6" y="T7"/>
                </a:cxn>
              </a:cxnLst>
              <a:rect l="T12" t="T13" r="T14" b="T15"/>
              <a:pathLst>
                <a:path w="24" h="44">
                  <a:moveTo>
                    <a:pt x="0" y="43"/>
                  </a:moveTo>
                  <a:lnTo>
                    <a:pt x="23" y="36"/>
                  </a:lnTo>
                  <a:lnTo>
                    <a:pt x="0" y="0"/>
                  </a:lnTo>
                  <a:lnTo>
                    <a:pt x="0" y="43"/>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3" name="Freeform 6174"/>
            <p:cNvSpPr>
              <a:spLocks/>
            </p:cNvSpPr>
            <p:nvPr/>
          </p:nvSpPr>
          <p:spPr bwMode="auto">
            <a:xfrm>
              <a:off x="2469" y="218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4" name="Line 6175"/>
            <p:cNvSpPr>
              <a:spLocks noChangeShapeType="1"/>
            </p:cNvSpPr>
            <p:nvPr/>
          </p:nvSpPr>
          <p:spPr bwMode="auto">
            <a:xfrm>
              <a:off x="2469" y="2184"/>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5" name="Freeform 6176"/>
            <p:cNvSpPr>
              <a:spLocks/>
            </p:cNvSpPr>
            <p:nvPr/>
          </p:nvSpPr>
          <p:spPr bwMode="auto">
            <a:xfrm>
              <a:off x="2469" y="2176"/>
              <a:ext cx="24" cy="38"/>
            </a:xfrm>
            <a:custGeom>
              <a:avLst/>
              <a:gdLst>
                <a:gd name="T0" fmla="*/ 0 w 24"/>
                <a:gd name="T1" fmla="*/ 6 h 38"/>
                <a:gd name="T2" fmla="*/ 23 w 24"/>
                <a:gd name="T3" fmla="*/ 0 h 38"/>
                <a:gd name="T4" fmla="*/ 23 w 24"/>
                <a:gd name="T5" fmla="*/ 37 h 38"/>
                <a:gd name="T6" fmla="*/ 0 w 24"/>
                <a:gd name="T7" fmla="*/ 6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0" y="6"/>
                  </a:moveTo>
                  <a:lnTo>
                    <a:pt x="23" y="0"/>
                  </a:lnTo>
                  <a:lnTo>
                    <a:pt x="23" y="37"/>
                  </a:lnTo>
                  <a:lnTo>
                    <a:pt x="0" y="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6" name="Freeform 6177"/>
            <p:cNvSpPr>
              <a:spLocks/>
            </p:cNvSpPr>
            <p:nvPr/>
          </p:nvSpPr>
          <p:spPr bwMode="auto">
            <a:xfrm>
              <a:off x="2478" y="2176"/>
              <a:ext cx="26" cy="38"/>
            </a:xfrm>
            <a:custGeom>
              <a:avLst/>
              <a:gdLst>
                <a:gd name="T0" fmla="*/ 0 w 26"/>
                <a:gd name="T1" fmla="*/ 37 h 38"/>
                <a:gd name="T2" fmla="*/ 25 w 26"/>
                <a:gd name="T3" fmla="*/ 37 h 38"/>
                <a:gd name="T4" fmla="*/ 0 w 26"/>
                <a:gd name="T5" fmla="*/ 0 h 38"/>
                <a:gd name="T6" fmla="*/ 0 w 26"/>
                <a:gd name="T7" fmla="*/ 37 h 38"/>
                <a:gd name="T8" fmla="*/ 0 60000 65536"/>
                <a:gd name="T9" fmla="*/ 0 60000 65536"/>
                <a:gd name="T10" fmla="*/ 0 60000 65536"/>
                <a:gd name="T11" fmla="*/ 0 60000 65536"/>
                <a:gd name="T12" fmla="*/ 0 w 26"/>
                <a:gd name="T13" fmla="*/ 0 h 38"/>
                <a:gd name="T14" fmla="*/ 26 w 26"/>
                <a:gd name="T15" fmla="*/ 38 h 38"/>
              </a:gdLst>
              <a:ahLst/>
              <a:cxnLst>
                <a:cxn ang="T8">
                  <a:pos x="T0" y="T1"/>
                </a:cxn>
                <a:cxn ang="T9">
                  <a:pos x="T2" y="T3"/>
                </a:cxn>
                <a:cxn ang="T10">
                  <a:pos x="T4" y="T5"/>
                </a:cxn>
                <a:cxn ang="T11">
                  <a:pos x="T6" y="T7"/>
                </a:cxn>
              </a:cxnLst>
              <a:rect l="T12" t="T13" r="T14" b="T15"/>
              <a:pathLst>
                <a:path w="26" h="38">
                  <a:moveTo>
                    <a:pt x="0" y="37"/>
                  </a:moveTo>
                  <a:lnTo>
                    <a:pt x="25" y="37"/>
                  </a:lnTo>
                  <a:lnTo>
                    <a:pt x="0" y="0"/>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7" name="Freeform 6178"/>
            <p:cNvSpPr>
              <a:spLocks/>
            </p:cNvSpPr>
            <p:nvPr/>
          </p:nvSpPr>
          <p:spPr bwMode="auto">
            <a:xfrm>
              <a:off x="2478" y="2213"/>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8" name="Line 6179"/>
            <p:cNvSpPr>
              <a:spLocks noChangeShapeType="1"/>
            </p:cNvSpPr>
            <p:nvPr/>
          </p:nvSpPr>
          <p:spPr bwMode="auto">
            <a:xfrm>
              <a:off x="2478" y="2213"/>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09" name="Freeform 6180"/>
            <p:cNvSpPr>
              <a:spLocks/>
            </p:cNvSpPr>
            <p:nvPr/>
          </p:nvSpPr>
          <p:spPr bwMode="auto">
            <a:xfrm>
              <a:off x="2478" y="2213"/>
              <a:ext cx="26" cy="36"/>
            </a:xfrm>
            <a:custGeom>
              <a:avLst/>
              <a:gdLst>
                <a:gd name="T0" fmla="*/ 0 w 26"/>
                <a:gd name="T1" fmla="*/ 0 h 36"/>
                <a:gd name="T2" fmla="*/ 25 w 26"/>
                <a:gd name="T3" fmla="*/ 0 h 36"/>
                <a:gd name="T4" fmla="*/ 25 w 26"/>
                <a:gd name="T5" fmla="*/ 35 h 36"/>
                <a:gd name="T6" fmla="*/ 0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0"/>
                  </a:moveTo>
                  <a:lnTo>
                    <a:pt x="25" y="0"/>
                  </a:lnTo>
                  <a:lnTo>
                    <a:pt x="25" y="35"/>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0" name="Freeform 6181"/>
            <p:cNvSpPr>
              <a:spLocks/>
            </p:cNvSpPr>
            <p:nvPr/>
          </p:nvSpPr>
          <p:spPr bwMode="auto">
            <a:xfrm>
              <a:off x="2491" y="2213"/>
              <a:ext cx="26" cy="36"/>
            </a:xfrm>
            <a:custGeom>
              <a:avLst/>
              <a:gdLst>
                <a:gd name="T0" fmla="*/ 0 w 26"/>
                <a:gd name="T1" fmla="*/ 35 h 36"/>
                <a:gd name="T2" fmla="*/ 25 w 26"/>
                <a:gd name="T3" fmla="*/ 28 h 36"/>
                <a:gd name="T4" fmla="*/ 0 w 26"/>
                <a:gd name="T5" fmla="*/ 0 h 36"/>
                <a:gd name="T6" fmla="*/ 0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35"/>
                  </a:moveTo>
                  <a:lnTo>
                    <a:pt x="25"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1" name="Freeform 6182"/>
            <p:cNvSpPr>
              <a:spLocks/>
            </p:cNvSpPr>
            <p:nvPr/>
          </p:nvSpPr>
          <p:spPr bwMode="auto">
            <a:xfrm>
              <a:off x="2491" y="2248"/>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2" name="Line 6183"/>
            <p:cNvSpPr>
              <a:spLocks noChangeShapeType="1"/>
            </p:cNvSpPr>
            <p:nvPr/>
          </p:nvSpPr>
          <p:spPr bwMode="auto">
            <a:xfrm>
              <a:off x="2491" y="224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3" name="Freeform 6184"/>
            <p:cNvSpPr>
              <a:spLocks/>
            </p:cNvSpPr>
            <p:nvPr/>
          </p:nvSpPr>
          <p:spPr bwMode="auto">
            <a:xfrm>
              <a:off x="2491" y="2241"/>
              <a:ext cx="26" cy="37"/>
            </a:xfrm>
            <a:custGeom>
              <a:avLst/>
              <a:gdLst>
                <a:gd name="T0" fmla="*/ 25 w 26"/>
                <a:gd name="T1" fmla="*/ 36 h 37"/>
                <a:gd name="T2" fmla="*/ 11 w 26"/>
                <a:gd name="T3" fmla="*/ 0 h 37"/>
                <a:gd name="T4" fmla="*/ 0 w 26"/>
                <a:gd name="T5" fmla="*/ 6 h 37"/>
                <a:gd name="T6" fmla="*/ 25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36"/>
                  </a:moveTo>
                  <a:lnTo>
                    <a:pt x="11" y="0"/>
                  </a:lnTo>
                  <a:lnTo>
                    <a:pt x="0" y="6"/>
                  </a:lnTo>
                  <a:lnTo>
                    <a:pt x="25"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4" name="Freeform 6185"/>
            <p:cNvSpPr>
              <a:spLocks/>
            </p:cNvSpPr>
            <p:nvPr/>
          </p:nvSpPr>
          <p:spPr bwMode="auto">
            <a:xfrm>
              <a:off x="2496" y="2241"/>
              <a:ext cx="29" cy="37"/>
            </a:xfrm>
            <a:custGeom>
              <a:avLst/>
              <a:gdLst>
                <a:gd name="T0" fmla="*/ 15 w 29"/>
                <a:gd name="T1" fmla="*/ 36 h 37"/>
                <a:gd name="T2" fmla="*/ 28 w 29"/>
                <a:gd name="T3" fmla="*/ 36 h 37"/>
                <a:gd name="T4" fmla="*/ 0 w 29"/>
                <a:gd name="T5" fmla="*/ 0 h 37"/>
                <a:gd name="T6" fmla="*/ 15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15" y="36"/>
                  </a:moveTo>
                  <a:lnTo>
                    <a:pt x="28" y="36"/>
                  </a:lnTo>
                  <a:lnTo>
                    <a:pt x="0" y="0"/>
                  </a:lnTo>
                  <a:lnTo>
                    <a:pt x="15"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5" name="Freeform 6186"/>
            <p:cNvSpPr>
              <a:spLocks/>
            </p:cNvSpPr>
            <p:nvPr/>
          </p:nvSpPr>
          <p:spPr bwMode="auto">
            <a:xfrm>
              <a:off x="2503" y="2277"/>
              <a:ext cx="26" cy="27"/>
            </a:xfrm>
            <a:custGeom>
              <a:avLst/>
              <a:gdLst>
                <a:gd name="T0" fmla="*/ 0 w 26"/>
                <a:gd name="T1" fmla="*/ 0 h 27"/>
                <a:gd name="T2" fmla="*/ 0 w 26"/>
                <a:gd name="T3" fmla="*/ 0 h 27"/>
                <a:gd name="T4" fmla="*/ 25 w 26"/>
                <a:gd name="T5" fmla="*/ 26 h 27"/>
                <a:gd name="T6" fmla="*/ 0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0"/>
                  </a:moveTo>
                  <a:lnTo>
                    <a:pt x="0" y="0"/>
                  </a:lnTo>
                  <a:lnTo>
                    <a:pt x="25" y="26"/>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6" name="Line 6187"/>
            <p:cNvSpPr>
              <a:spLocks noChangeShapeType="1"/>
            </p:cNvSpPr>
            <p:nvPr/>
          </p:nvSpPr>
          <p:spPr bwMode="auto">
            <a:xfrm>
              <a:off x="2503" y="2277"/>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7" name="Freeform 6188"/>
            <p:cNvSpPr>
              <a:spLocks/>
            </p:cNvSpPr>
            <p:nvPr/>
          </p:nvSpPr>
          <p:spPr bwMode="auto">
            <a:xfrm>
              <a:off x="2503" y="2277"/>
              <a:ext cx="26" cy="36"/>
            </a:xfrm>
            <a:custGeom>
              <a:avLst/>
              <a:gdLst>
                <a:gd name="T0" fmla="*/ 25 w 26"/>
                <a:gd name="T1" fmla="*/ 35 h 36"/>
                <a:gd name="T2" fmla="*/ 25 w 26"/>
                <a:gd name="T3" fmla="*/ 0 h 36"/>
                <a:gd name="T4" fmla="*/ 0 w 26"/>
                <a:gd name="T5" fmla="*/ 0 h 36"/>
                <a:gd name="T6" fmla="*/ 25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35"/>
                  </a:moveTo>
                  <a:lnTo>
                    <a:pt x="25" y="0"/>
                  </a:lnTo>
                  <a:lnTo>
                    <a:pt x="0" y="0"/>
                  </a:lnTo>
                  <a:lnTo>
                    <a:pt x="25"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8" name="Freeform 6189"/>
            <p:cNvSpPr>
              <a:spLocks/>
            </p:cNvSpPr>
            <p:nvPr/>
          </p:nvSpPr>
          <p:spPr bwMode="auto">
            <a:xfrm>
              <a:off x="2507" y="2277"/>
              <a:ext cx="28" cy="36"/>
            </a:xfrm>
            <a:custGeom>
              <a:avLst/>
              <a:gdLst>
                <a:gd name="T0" fmla="*/ 0 w 28"/>
                <a:gd name="T1" fmla="*/ 35 h 36"/>
                <a:gd name="T2" fmla="*/ 27 w 28"/>
                <a:gd name="T3" fmla="*/ 27 h 36"/>
                <a:gd name="T4" fmla="*/ 0 w 28"/>
                <a:gd name="T5" fmla="*/ 0 h 36"/>
                <a:gd name="T6" fmla="*/ 0 w 28"/>
                <a:gd name="T7" fmla="*/ 35 h 36"/>
                <a:gd name="T8" fmla="*/ 0 60000 65536"/>
                <a:gd name="T9" fmla="*/ 0 60000 65536"/>
                <a:gd name="T10" fmla="*/ 0 60000 65536"/>
                <a:gd name="T11" fmla="*/ 0 60000 65536"/>
                <a:gd name="T12" fmla="*/ 0 w 28"/>
                <a:gd name="T13" fmla="*/ 0 h 36"/>
                <a:gd name="T14" fmla="*/ 28 w 28"/>
                <a:gd name="T15" fmla="*/ 36 h 36"/>
              </a:gdLst>
              <a:ahLst/>
              <a:cxnLst>
                <a:cxn ang="T8">
                  <a:pos x="T0" y="T1"/>
                </a:cxn>
                <a:cxn ang="T9">
                  <a:pos x="T2" y="T3"/>
                </a:cxn>
                <a:cxn ang="T10">
                  <a:pos x="T4" y="T5"/>
                </a:cxn>
                <a:cxn ang="T11">
                  <a:pos x="T6" y="T7"/>
                </a:cxn>
              </a:cxnLst>
              <a:rect l="T12" t="T13" r="T14" b="T15"/>
              <a:pathLst>
                <a:path w="28" h="36">
                  <a:moveTo>
                    <a:pt x="0" y="35"/>
                  </a:moveTo>
                  <a:lnTo>
                    <a:pt x="27" y="27"/>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19" name="Freeform 6190"/>
            <p:cNvSpPr>
              <a:spLocks/>
            </p:cNvSpPr>
            <p:nvPr/>
          </p:nvSpPr>
          <p:spPr bwMode="auto">
            <a:xfrm>
              <a:off x="2507" y="2312"/>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0" name="Line 6191"/>
            <p:cNvSpPr>
              <a:spLocks noChangeShapeType="1"/>
            </p:cNvSpPr>
            <p:nvPr/>
          </p:nvSpPr>
          <p:spPr bwMode="auto">
            <a:xfrm>
              <a:off x="2507" y="2312"/>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1" name="Freeform 6192"/>
            <p:cNvSpPr>
              <a:spLocks/>
            </p:cNvSpPr>
            <p:nvPr/>
          </p:nvSpPr>
          <p:spPr bwMode="auto">
            <a:xfrm>
              <a:off x="2507" y="2304"/>
              <a:ext cx="28" cy="37"/>
            </a:xfrm>
            <a:custGeom>
              <a:avLst/>
              <a:gdLst>
                <a:gd name="T0" fmla="*/ 27 w 28"/>
                <a:gd name="T1" fmla="*/ 36 h 37"/>
                <a:gd name="T2" fmla="*/ 27 w 28"/>
                <a:gd name="T3" fmla="*/ 0 h 37"/>
                <a:gd name="T4" fmla="*/ 0 w 28"/>
                <a:gd name="T5" fmla="*/ 8 h 37"/>
                <a:gd name="T6" fmla="*/ 27 w 28"/>
                <a:gd name="T7" fmla="*/ 36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27" y="36"/>
                  </a:moveTo>
                  <a:lnTo>
                    <a:pt x="27" y="0"/>
                  </a:lnTo>
                  <a:lnTo>
                    <a:pt x="0" y="8"/>
                  </a:lnTo>
                  <a:lnTo>
                    <a:pt x="27"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2" name="Freeform 6193"/>
            <p:cNvSpPr>
              <a:spLocks/>
            </p:cNvSpPr>
            <p:nvPr/>
          </p:nvSpPr>
          <p:spPr bwMode="auto">
            <a:xfrm>
              <a:off x="2524" y="2304"/>
              <a:ext cx="22" cy="37"/>
            </a:xfrm>
            <a:custGeom>
              <a:avLst/>
              <a:gdLst>
                <a:gd name="T0" fmla="*/ 0 w 22"/>
                <a:gd name="T1" fmla="*/ 36 h 37"/>
                <a:gd name="T2" fmla="*/ 21 w 22"/>
                <a:gd name="T3" fmla="*/ 29 h 37"/>
                <a:gd name="T4" fmla="*/ 0 w 22"/>
                <a:gd name="T5" fmla="*/ 0 h 37"/>
                <a:gd name="T6" fmla="*/ 0 w 22"/>
                <a:gd name="T7" fmla="*/ 36 h 37"/>
                <a:gd name="T8" fmla="*/ 0 60000 65536"/>
                <a:gd name="T9" fmla="*/ 0 60000 65536"/>
                <a:gd name="T10" fmla="*/ 0 60000 65536"/>
                <a:gd name="T11" fmla="*/ 0 60000 65536"/>
                <a:gd name="T12" fmla="*/ 0 w 22"/>
                <a:gd name="T13" fmla="*/ 0 h 37"/>
                <a:gd name="T14" fmla="*/ 22 w 22"/>
                <a:gd name="T15" fmla="*/ 37 h 37"/>
              </a:gdLst>
              <a:ahLst/>
              <a:cxnLst>
                <a:cxn ang="T8">
                  <a:pos x="T0" y="T1"/>
                </a:cxn>
                <a:cxn ang="T9">
                  <a:pos x="T2" y="T3"/>
                </a:cxn>
                <a:cxn ang="T10">
                  <a:pos x="T4" y="T5"/>
                </a:cxn>
                <a:cxn ang="T11">
                  <a:pos x="T6" y="T7"/>
                </a:cxn>
              </a:cxnLst>
              <a:rect l="T12" t="T13" r="T14" b="T15"/>
              <a:pathLst>
                <a:path w="22" h="37">
                  <a:moveTo>
                    <a:pt x="0" y="36"/>
                  </a:moveTo>
                  <a:lnTo>
                    <a:pt x="21" y="29"/>
                  </a:lnTo>
                  <a:lnTo>
                    <a:pt x="0" y="0"/>
                  </a:lnTo>
                  <a:lnTo>
                    <a:pt x="0" y="3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3" name="Freeform 6194"/>
            <p:cNvSpPr>
              <a:spLocks/>
            </p:cNvSpPr>
            <p:nvPr/>
          </p:nvSpPr>
          <p:spPr bwMode="auto">
            <a:xfrm>
              <a:off x="2524" y="2340"/>
              <a:ext cx="22" cy="1"/>
            </a:xfrm>
            <a:custGeom>
              <a:avLst/>
              <a:gdLst>
                <a:gd name="T0" fmla="*/ 0 w 22"/>
                <a:gd name="T1" fmla="*/ 0 h 1"/>
                <a:gd name="T2" fmla="*/ 0 w 22"/>
                <a:gd name="T3" fmla="*/ 0 h 1"/>
                <a:gd name="T4" fmla="*/ 21 w 22"/>
                <a:gd name="T5" fmla="*/ 0 h 1"/>
                <a:gd name="T6" fmla="*/ 0 w 22"/>
                <a:gd name="T7" fmla="*/ 0 h 1"/>
                <a:gd name="T8" fmla="*/ 0 60000 65536"/>
                <a:gd name="T9" fmla="*/ 0 60000 65536"/>
                <a:gd name="T10" fmla="*/ 0 60000 65536"/>
                <a:gd name="T11" fmla="*/ 0 60000 65536"/>
                <a:gd name="T12" fmla="*/ 0 w 22"/>
                <a:gd name="T13" fmla="*/ 0 h 1"/>
                <a:gd name="T14" fmla="*/ 22 w 22"/>
                <a:gd name="T15" fmla="*/ 1 h 1"/>
              </a:gdLst>
              <a:ahLst/>
              <a:cxnLst>
                <a:cxn ang="T8">
                  <a:pos x="T0" y="T1"/>
                </a:cxn>
                <a:cxn ang="T9">
                  <a:pos x="T2" y="T3"/>
                </a:cxn>
                <a:cxn ang="T10">
                  <a:pos x="T4" y="T5"/>
                </a:cxn>
                <a:cxn ang="T11">
                  <a:pos x="T6" y="T7"/>
                </a:cxn>
              </a:cxnLst>
              <a:rect l="T12" t="T13" r="T14" b="T15"/>
              <a:pathLst>
                <a:path w="22" h="1">
                  <a:moveTo>
                    <a:pt x="0" y="0"/>
                  </a:moveTo>
                  <a:lnTo>
                    <a:pt x="0" y="0"/>
                  </a:lnTo>
                  <a:lnTo>
                    <a:pt x="21"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4" name="Line 6195"/>
            <p:cNvSpPr>
              <a:spLocks noChangeShapeType="1"/>
            </p:cNvSpPr>
            <p:nvPr/>
          </p:nvSpPr>
          <p:spPr bwMode="auto">
            <a:xfrm>
              <a:off x="2524" y="2340"/>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5" name="Freeform 6196"/>
            <p:cNvSpPr>
              <a:spLocks/>
            </p:cNvSpPr>
            <p:nvPr/>
          </p:nvSpPr>
          <p:spPr bwMode="auto">
            <a:xfrm>
              <a:off x="2524" y="2334"/>
              <a:ext cx="22" cy="36"/>
            </a:xfrm>
            <a:custGeom>
              <a:avLst/>
              <a:gdLst>
                <a:gd name="T0" fmla="*/ 21 w 22"/>
                <a:gd name="T1" fmla="*/ 35 h 36"/>
                <a:gd name="T2" fmla="*/ 21 w 22"/>
                <a:gd name="T3" fmla="*/ 0 h 36"/>
                <a:gd name="T4" fmla="*/ 0 w 22"/>
                <a:gd name="T5" fmla="*/ 6 h 36"/>
                <a:gd name="T6" fmla="*/ 21 w 22"/>
                <a:gd name="T7" fmla="*/ 35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1" y="35"/>
                  </a:moveTo>
                  <a:lnTo>
                    <a:pt x="21" y="0"/>
                  </a:lnTo>
                  <a:lnTo>
                    <a:pt x="0" y="6"/>
                  </a:lnTo>
                  <a:lnTo>
                    <a:pt x="21"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6" name="Freeform 6197"/>
            <p:cNvSpPr>
              <a:spLocks/>
            </p:cNvSpPr>
            <p:nvPr/>
          </p:nvSpPr>
          <p:spPr bwMode="auto">
            <a:xfrm>
              <a:off x="2533" y="2334"/>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7" name="Freeform 6198"/>
            <p:cNvSpPr>
              <a:spLocks/>
            </p:cNvSpPr>
            <p:nvPr/>
          </p:nvSpPr>
          <p:spPr bwMode="auto">
            <a:xfrm>
              <a:off x="2533" y="2369"/>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8" name="Line 6199"/>
            <p:cNvSpPr>
              <a:spLocks noChangeShapeType="1"/>
            </p:cNvSpPr>
            <p:nvPr/>
          </p:nvSpPr>
          <p:spPr bwMode="auto">
            <a:xfrm>
              <a:off x="2533" y="2369"/>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29" name="Freeform 6200"/>
            <p:cNvSpPr>
              <a:spLocks/>
            </p:cNvSpPr>
            <p:nvPr/>
          </p:nvSpPr>
          <p:spPr bwMode="auto">
            <a:xfrm>
              <a:off x="2533" y="2361"/>
              <a:ext cx="24" cy="38"/>
            </a:xfrm>
            <a:custGeom>
              <a:avLst/>
              <a:gdLst>
                <a:gd name="T0" fmla="*/ 23 w 24"/>
                <a:gd name="T1" fmla="*/ 37 h 38"/>
                <a:gd name="T2" fmla="*/ 23 w 24"/>
                <a:gd name="T3" fmla="*/ 0 h 38"/>
                <a:gd name="T4" fmla="*/ 0 w 24"/>
                <a:gd name="T5" fmla="*/ 6 h 38"/>
                <a:gd name="T6" fmla="*/ 23 w 24"/>
                <a:gd name="T7" fmla="*/ 37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23" y="37"/>
                  </a:moveTo>
                  <a:lnTo>
                    <a:pt x="23" y="0"/>
                  </a:lnTo>
                  <a:lnTo>
                    <a:pt x="0" y="6"/>
                  </a:lnTo>
                  <a:lnTo>
                    <a:pt x="23"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0" name="Freeform 6201"/>
            <p:cNvSpPr>
              <a:spLocks/>
            </p:cNvSpPr>
            <p:nvPr/>
          </p:nvSpPr>
          <p:spPr bwMode="auto">
            <a:xfrm>
              <a:off x="2545" y="2361"/>
              <a:ext cx="28" cy="38"/>
            </a:xfrm>
            <a:custGeom>
              <a:avLst/>
              <a:gdLst>
                <a:gd name="T0" fmla="*/ 0 w 28"/>
                <a:gd name="T1" fmla="*/ 37 h 38"/>
                <a:gd name="T2" fmla="*/ 27 w 28"/>
                <a:gd name="T3" fmla="*/ 28 h 38"/>
                <a:gd name="T4" fmla="*/ 0 w 28"/>
                <a:gd name="T5" fmla="*/ 0 h 38"/>
                <a:gd name="T6" fmla="*/ 0 w 28"/>
                <a:gd name="T7" fmla="*/ 37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7"/>
                  </a:moveTo>
                  <a:lnTo>
                    <a:pt x="27" y="28"/>
                  </a:lnTo>
                  <a:lnTo>
                    <a:pt x="0" y="0"/>
                  </a:lnTo>
                  <a:lnTo>
                    <a:pt x="0" y="3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1" name="Freeform 6202"/>
            <p:cNvSpPr>
              <a:spLocks/>
            </p:cNvSpPr>
            <p:nvPr/>
          </p:nvSpPr>
          <p:spPr bwMode="auto">
            <a:xfrm>
              <a:off x="2545" y="2398"/>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2" name="Line 6203"/>
            <p:cNvSpPr>
              <a:spLocks noChangeShapeType="1"/>
            </p:cNvSpPr>
            <p:nvPr/>
          </p:nvSpPr>
          <p:spPr bwMode="auto">
            <a:xfrm>
              <a:off x="2545" y="239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3" name="Freeform 6204"/>
            <p:cNvSpPr>
              <a:spLocks/>
            </p:cNvSpPr>
            <p:nvPr/>
          </p:nvSpPr>
          <p:spPr bwMode="auto">
            <a:xfrm>
              <a:off x="2545" y="2390"/>
              <a:ext cx="28" cy="31"/>
            </a:xfrm>
            <a:custGeom>
              <a:avLst/>
              <a:gdLst>
                <a:gd name="T0" fmla="*/ 27 w 28"/>
                <a:gd name="T1" fmla="*/ 30 h 31"/>
                <a:gd name="T2" fmla="*/ 27 w 28"/>
                <a:gd name="T3" fmla="*/ 0 h 31"/>
                <a:gd name="T4" fmla="*/ 0 w 28"/>
                <a:gd name="T5" fmla="*/ 8 h 31"/>
                <a:gd name="T6" fmla="*/ 27 w 28"/>
                <a:gd name="T7" fmla="*/ 30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30"/>
                  </a:moveTo>
                  <a:lnTo>
                    <a:pt x="27" y="0"/>
                  </a:lnTo>
                  <a:lnTo>
                    <a:pt x="0" y="8"/>
                  </a:lnTo>
                  <a:lnTo>
                    <a:pt x="27" y="3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4" name="Freeform 6205"/>
            <p:cNvSpPr>
              <a:spLocks/>
            </p:cNvSpPr>
            <p:nvPr/>
          </p:nvSpPr>
          <p:spPr bwMode="auto">
            <a:xfrm>
              <a:off x="2557" y="2390"/>
              <a:ext cx="27" cy="31"/>
            </a:xfrm>
            <a:custGeom>
              <a:avLst/>
              <a:gdLst>
                <a:gd name="T0" fmla="*/ 0 w 27"/>
                <a:gd name="T1" fmla="*/ 30 h 31"/>
                <a:gd name="T2" fmla="*/ 26 w 27"/>
                <a:gd name="T3" fmla="*/ 23 h 31"/>
                <a:gd name="T4" fmla="*/ 0 w 27"/>
                <a:gd name="T5" fmla="*/ 0 h 31"/>
                <a:gd name="T6" fmla="*/ 0 w 27"/>
                <a:gd name="T7" fmla="*/ 3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0" y="30"/>
                  </a:moveTo>
                  <a:lnTo>
                    <a:pt x="26" y="23"/>
                  </a:lnTo>
                  <a:lnTo>
                    <a:pt x="0" y="0"/>
                  </a:lnTo>
                  <a:lnTo>
                    <a:pt x="0" y="3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5" name="Freeform 6206"/>
            <p:cNvSpPr>
              <a:spLocks/>
            </p:cNvSpPr>
            <p:nvPr/>
          </p:nvSpPr>
          <p:spPr bwMode="auto">
            <a:xfrm>
              <a:off x="2557" y="2420"/>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6" name="Line 6207"/>
            <p:cNvSpPr>
              <a:spLocks noChangeShapeType="1"/>
            </p:cNvSpPr>
            <p:nvPr/>
          </p:nvSpPr>
          <p:spPr bwMode="auto">
            <a:xfrm>
              <a:off x="2557" y="2420"/>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7" name="Freeform 6208"/>
            <p:cNvSpPr>
              <a:spLocks/>
            </p:cNvSpPr>
            <p:nvPr/>
          </p:nvSpPr>
          <p:spPr bwMode="auto">
            <a:xfrm>
              <a:off x="2557" y="2412"/>
              <a:ext cx="27" cy="36"/>
            </a:xfrm>
            <a:custGeom>
              <a:avLst/>
              <a:gdLst>
                <a:gd name="T0" fmla="*/ 26 w 27"/>
                <a:gd name="T1" fmla="*/ 35 h 36"/>
                <a:gd name="T2" fmla="*/ 26 w 27"/>
                <a:gd name="T3" fmla="*/ 0 h 36"/>
                <a:gd name="T4" fmla="*/ 0 w 27"/>
                <a:gd name="T5" fmla="*/ 6 h 36"/>
                <a:gd name="T6" fmla="*/ 26 w 27"/>
                <a:gd name="T7" fmla="*/ 35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35"/>
                  </a:moveTo>
                  <a:lnTo>
                    <a:pt x="26" y="0"/>
                  </a:lnTo>
                  <a:lnTo>
                    <a:pt x="0" y="6"/>
                  </a:lnTo>
                  <a:lnTo>
                    <a:pt x="26"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8" name="Freeform 6209"/>
            <p:cNvSpPr>
              <a:spLocks/>
            </p:cNvSpPr>
            <p:nvPr/>
          </p:nvSpPr>
          <p:spPr bwMode="auto">
            <a:xfrm>
              <a:off x="2572" y="2412"/>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39" name="Freeform 6210"/>
            <p:cNvSpPr>
              <a:spLocks/>
            </p:cNvSpPr>
            <p:nvPr/>
          </p:nvSpPr>
          <p:spPr bwMode="auto">
            <a:xfrm>
              <a:off x="2572" y="2447"/>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0" name="Line 6211"/>
            <p:cNvSpPr>
              <a:spLocks noChangeShapeType="1"/>
            </p:cNvSpPr>
            <p:nvPr/>
          </p:nvSpPr>
          <p:spPr bwMode="auto">
            <a:xfrm>
              <a:off x="2572" y="2447"/>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1" name="Freeform 6212"/>
            <p:cNvSpPr>
              <a:spLocks/>
            </p:cNvSpPr>
            <p:nvPr/>
          </p:nvSpPr>
          <p:spPr bwMode="auto">
            <a:xfrm>
              <a:off x="2572" y="2441"/>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2" name="Freeform 6213"/>
            <p:cNvSpPr>
              <a:spLocks/>
            </p:cNvSpPr>
            <p:nvPr/>
          </p:nvSpPr>
          <p:spPr bwMode="auto">
            <a:xfrm>
              <a:off x="2583" y="2441"/>
              <a:ext cx="24" cy="28"/>
            </a:xfrm>
            <a:custGeom>
              <a:avLst/>
              <a:gdLst>
                <a:gd name="T0" fmla="*/ 0 w 24"/>
                <a:gd name="T1" fmla="*/ 27 h 28"/>
                <a:gd name="T2" fmla="*/ 23 w 24"/>
                <a:gd name="T3" fmla="*/ 20 h 28"/>
                <a:gd name="T4" fmla="*/ 0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23" y="20"/>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3" name="Freeform 6214"/>
            <p:cNvSpPr>
              <a:spLocks/>
            </p:cNvSpPr>
            <p:nvPr/>
          </p:nvSpPr>
          <p:spPr bwMode="auto">
            <a:xfrm>
              <a:off x="2583" y="24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4" name="Line 6215"/>
            <p:cNvSpPr>
              <a:spLocks noChangeShapeType="1"/>
            </p:cNvSpPr>
            <p:nvPr/>
          </p:nvSpPr>
          <p:spPr bwMode="auto">
            <a:xfrm>
              <a:off x="2583" y="24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5" name="Freeform 6216"/>
            <p:cNvSpPr>
              <a:spLocks/>
            </p:cNvSpPr>
            <p:nvPr/>
          </p:nvSpPr>
          <p:spPr bwMode="auto">
            <a:xfrm>
              <a:off x="2583" y="2462"/>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6" name="Freeform 6217"/>
            <p:cNvSpPr>
              <a:spLocks/>
            </p:cNvSpPr>
            <p:nvPr/>
          </p:nvSpPr>
          <p:spPr bwMode="auto">
            <a:xfrm>
              <a:off x="2594" y="2462"/>
              <a:ext cx="28" cy="28"/>
            </a:xfrm>
            <a:custGeom>
              <a:avLst/>
              <a:gdLst>
                <a:gd name="T0" fmla="*/ 0 w 28"/>
                <a:gd name="T1" fmla="*/ 27 h 28"/>
                <a:gd name="T2" fmla="*/ 27 w 28"/>
                <a:gd name="T3" fmla="*/ 20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20"/>
                  </a:lnTo>
                  <a:lnTo>
                    <a:pt x="0"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7" name="Freeform 6218"/>
            <p:cNvSpPr>
              <a:spLocks/>
            </p:cNvSpPr>
            <p:nvPr/>
          </p:nvSpPr>
          <p:spPr bwMode="auto">
            <a:xfrm>
              <a:off x="2594" y="2489"/>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8" name="Line 6219"/>
            <p:cNvSpPr>
              <a:spLocks noChangeShapeType="1"/>
            </p:cNvSpPr>
            <p:nvPr/>
          </p:nvSpPr>
          <p:spPr bwMode="auto">
            <a:xfrm>
              <a:off x="2594" y="2489"/>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49" name="Freeform 6220"/>
            <p:cNvSpPr>
              <a:spLocks/>
            </p:cNvSpPr>
            <p:nvPr/>
          </p:nvSpPr>
          <p:spPr bwMode="auto">
            <a:xfrm>
              <a:off x="2594" y="2484"/>
              <a:ext cx="28" cy="26"/>
            </a:xfrm>
            <a:custGeom>
              <a:avLst/>
              <a:gdLst>
                <a:gd name="T0" fmla="*/ 27 w 28"/>
                <a:gd name="T1" fmla="*/ 25 h 26"/>
                <a:gd name="T2" fmla="*/ 27 w 28"/>
                <a:gd name="T3" fmla="*/ 0 h 26"/>
                <a:gd name="T4" fmla="*/ 0 w 28"/>
                <a:gd name="T5" fmla="*/ 7 h 26"/>
                <a:gd name="T6" fmla="*/ 27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25"/>
                  </a:moveTo>
                  <a:lnTo>
                    <a:pt x="27" y="0"/>
                  </a:lnTo>
                  <a:lnTo>
                    <a:pt x="0" y="7"/>
                  </a:lnTo>
                  <a:lnTo>
                    <a:pt x="27"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0" name="Freeform 6221"/>
            <p:cNvSpPr>
              <a:spLocks/>
            </p:cNvSpPr>
            <p:nvPr/>
          </p:nvSpPr>
          <p:spPr bwMode="auto">
            <a:xfrm>
              <a:off x="2610" y="2484"/>
              <a:ext cx="24" cy="26"/>
            </a:xfrm>
            <a:custGeom>
              <a:avLst/>
              <a:gdLst>
                <a:gd name="T0" fmla="*/ 0 w 24"/>
                <a:gd name="T1" fmla="*/ 25 h 26"/>
                <a:gd name="T2" fmla="*/ 23 w 24"/>
                <a:gd name="T3" fmla="*/ 17 h 26"/>
                <a:gd name="T4" fmla="*/ 0 w 24"/>
                <a:gd name="T5" fmla="*/ 0 h 26"/>
                <a:gd name="T6" fmla="*/ 0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0" y="25"/>
                  </a:moveTo>
                  <a:lnTo>
                    <a:pt x="23" y="17"/>
                  </a:lnTo>
                  <a:lnTo>
                    <a:pt x="0" y="0"/>
                  </a:lnTo>
                  <a:lnTo>
                    <a:pt x="0"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1" name="Freeform 6222"/>
            <p:cNvSpPr>
              <a:spLocks/>
            </p:cNvSpPr>
            <p:nvPr/>
          </p:nvSpPr>
          <p:spPr bwMode="auto">
            <a:xfrm>
              <a:off x="2610" y="2505"/>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2" name="Line 6223"/>
            <p:cNvSpPr>
              <a:spLocks noChangeShapeType="1"/>
            </p:cNvSpPr>
            <p:nvPr/>
          </p:nvSpPr>
          <p:spPr bwMode="auto">
            <a:xfrm>
              <a:off x="2610" y="2505"/>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3" name="Freeform 6224"/>
            <p:cNvSpPr>
              <a:spLocks/>
            </p:cNvSpPr>
            <p:nvPr/>
          </p:nvSpPr>
          <p:spPr bwMode="auto">
            <a:xfrm>
              <a:off x="2610" y="2498"/>
              <a:ext cx="24" cy="30"/>
            </a:xfrm>
            <a:custGeom>
              <a:avLst/>
              <a:gdLst>
                <a:gd name="T0" fmla="*/ 23 w 24"/>
                <a:gd name="T1" fmla="*/ 29 h 30"/>
                <a:gd name="T2" fmla="*/ 23 w 24"/>
                <a:gd name="T3" fmla="*/ 0 h 30"/>
                <a:gd name="T4" fmla="*/ 0 w 24"/>
                <a:gd name="T5" fmla="*/ 6 h 30"/>
                <a:gd name="T6" fmla="*/ 23 w 24"/>
                <a:gd name="T7" fmla="*/ 29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29"/>
                  </a:moveTo>
                  <a:lnTo>
                    <a:pt x="23" y="0"/>
                  </a:lnTo>
                  <a:lnTo>
                    <a:pt x="0" y="6"/>
                  </a:lnTo>
                  <a:lnTo>
                    <a:pt x="23" y="2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4" name="Freeform 6225"/>
            <p:cNvSpPr>
              <a:spLocks/>
            </p:cNvSpPr>
            <p:nvPr/>
          </p:nvSpPr>
          <p:spPr bwMode="auto">
            <a:xfrm>
              <a:off x="2621" y="2498"/>
              <a:ext cx="25" cy="30"/>
            </a:xfrm>
            <a:custGeom>
              <a:avLst/>
              <a:gdLst>
                <a:gd name="T0" fmla="*/ 0 w 25"/>
                <a:gd name="T1" fmla="*/ 29 h 30"/>
                <a:gd name="T2" fmla="*/ 24 w 25"/>
                <a:gd name="T3" fmla="*/ 22 h 30"/>
                <a:gd name="T4" fmla="*/ 0 w 25"/>
                <a:gd name="T5" fmla="*/ 0 h 30"/>
                <a:gd name="T6" fmla="*/ 0 w 25"/>
                <a:gd name="T7" fmla="*/ 29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0" y="29"/>
                  </a:moveTo>
                  <a:lnTo>
                    <a:pt x="24" y="22"/>
                  </a:lnTo>
                  <a:lnTo>
                    <a:pt x="0" y="0"/>
                  </a:lnTo>
                  <a:lnTo>
                    <a:pt x="0" y="29"/>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5" name="Freeform 6226"/>
            <p:cNvSpPr>
              <a:spLocks/>
            </p:cNvSpPr>
            <p:nvPr/>
          </p:nvSpPr>
          <p:spPr bwMode="auto">
            <a:xfrm>
              <a:off x="2621" y="2527"/>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6" name="Line 6227"/>
            <p:cNvSpPr>
              <a:spLocks noChangeShapeType="1"/>
            </p:cNvSpPr>
            <p:nvPr/>
          </p:nvSpPr>
          <p:spPr bwMode="auto">
            <a:xfrm>
              <a:off x="2621" y="2527"/>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7" name="Freeform 6228"/>
            <p:cNvSpPr>
              <a:spLocks/>
            </p:cNvSpPr>
            <p:nvPr/>
          </p:nvSpPr>
          <p:spPr bwMode="auto">
            <a:xfrm>
              <a:off x="2621" y="2519"/>
              <a:ext cx="25" cy="28"/>
            </a:xfrm>
            <a:custGeom>
              <a:avLst/>
              <a:gdLst>
                <a:gd name="T0" fmla="*/ 24 w 25"/>
                <a:gd name="T1" fmla="*/ 27 h 28"/>
                <a:gd name="T2" fmla="*/ 12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8"/>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8" name="Freeform 6229"/>
            <p:cNvSpPr>
              <a:spLocks/>
            </p:cNvSpPr>
            <p:nvPr/>
          </p:nvSpPr>
          <p:spPr bwMode="auto">
            <a:xfrm>
              <a:off x="2628" y="2519"/>
              <a:ext cx="24" cy="28"/>
            </a:xfrm>
            <a:custGeom>
              <a:avLst/>
              <a:gdLst>
                <a:gd name="T0" fmla="*/ 10 w 24"/>
                <a:gd name="T1" fmla="*/ 27 h 28"/>
                <a:gd name="T2" fmla="*/ 23 w 24"/>
                <a:gd name="T3" fmla="*/ 16 h 28"/>
                <a:gd name="T4" fmla="*/ 0 w 24"/>
                <a:gd name="T5" fmla="*/ 0 h 28"/>
                <a:gd name="T6" fmla="*/ 1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10" y="27"/>
                  </a:moveTo>
                  <a:lnTo>
                    <a:pt x="23" y="16"/>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59" name="Freeform 6230"/>
            <p:cNvSpPr>
              <a:spLocks/>
            </p:cNvSpPr>
            <p:nvPr/>
          </p:nvSpPr>
          <p:spPr bwMode="auto">
            <a:xfrm>
              <a:off x="2632" y="2541"/>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0" name="Line 6231"/>
            <p:cNvSpPr>
              <a:spLocks noChangeShapeType="1"/>
            </p:cNvSpPr>
            <p:nvPr/>
          </p:nvSpPr>
          <p:spPr bwMode="auto">
            <a:xfrm>
              <a:off x="2632" y="2541"/>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1" name="Freeform 6232"/>
            <p:cNvSpPr>
              <a:spLocks/>
            </p:cNvSpPr>
            <p:nvPr/>
          </p:nvSpPr>
          <p:spPr bwMode="auto">
            <a:xfrm>
              <a:off x="2632" y="2532"/>
              <a:ext cx="28" cy="28"/>
            </a:xfrm>
            <a:custGeom>
              <a:avLst/>
              <a:gdLst>
                <a:gd name="T0" fmla="*/ 27 w 28"/>
                <a:gd name="T1" fmla="*/ 27 h 28"/>
                <a:gd name="T2" fmla="*/ 15 w 28"/>
                <a:gd name="T3" fmla="*/ 0 h 28"/>
                <a:gd name="T4" fmla="*/ 0 w 28"/>
                <a:gd name="T5" fmla="*/ 9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15" y="0"/>
                  </a:lnTo>
                  <a:lnTo>
                    <a:pt x="0" y="9"/>
                  </a:lnTo>
                  <a:lnTo>
                    <a:pt x="27"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2" name="Freeform 6233"/>
            <p:cNvSpPr>
              <a:spLocks/>
            </p:cNvSpPr>
            <p:nvPr/>
          </p:nvSpPr>
          <p:spPr bwMode="auto">
            <a:xfrm>
              <a:off x="2640" y="2532"/>
              <a:ext cx="27" cy="28"/>
            </a:xfrm>
            <a:custGeom>
              <a:avLst/>
              <a:gdLst>
                <a:gd name="T0" fmla="*/ 13 w 27"/>
                <a:gd name="T1" fmla="*/ 27 h 28"/>
                <a:gd name="T2" fmla="*/ 26 w 27"/>
                <a:gd name="T3" fmla="*/ 17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17"/>
                  </a:lnTo>
                  <a:lnTo>
                    <a:pt x="0" y="0"/>
                  </a:lnTo>
                  <a:lnTo>
                    <a:pt x="1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3" name="Freeform 6234"/>
            <p:cNvSpPr>
              <a:spLocks/>
            </p:cNvSpPr>
            <p:nvPr/>
          </p:nvSpPr>
          <p:spPr bwMode="auto">
            <a:xfrm>
              <a:off x="2644" y="2556"/>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4" name="Line 6235"/>
            <p:cNvSpPr>
              <a:spLocks noChangeShapeType="1"/>
            </p:cNvSpPr>
            <p:nvPr/>
          </p:nvSpPr>
          <p:spPr bwMode="auto">
            <a:xfrm>
              <a:off x="2644" y="2556"/>
              <a:ext cx="2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5" name="Freeform 6236"/>
            <p:cNvSpPr>
              <a:spLocks/>
            </p:cNvSpPr>
            <p:nvPr/>
          </p:nvSpPr>
          <p:spPr bwMode="auto">
            <a:xfrm>
              <a:off x="2644" y="2547"/>
              <a:ext cx="27" cy="27"/>
            </a:xfrm>
            <a:custGeom>
              <a:avLst/>
              <a:gdLst>
                <a:gd name="T0" fmla="*/ 26 w 27"/>
                <a:gd name="T1" fmla="*/ 26 h 27"/>
                <a:gd name="T2" fmla="*/ 11 w 27"/>
                <a:gd name="T3" fmla="*/ 0 h 27"/>
                <a:gd name="T4" fmla="*/ 0 w 27"/>
                <a:gd name="T5" fmla="*/ 1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1" y="0"/>
                  </a:lnTo>
                  <a:lnTo>
                    <a:pt x="0" y="10"/>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6" name="Freeform 6237"/>
            <p:cNvSpPr>
              <a:spLocks/>
            </p:cNvSpPr>
            <p:nvPr/>
          </p:nvSpPr>
          <p:spPr bwMode="auto">
            <a:xfrm>
              <a:off x="2651" y="2547"/>
              <a:ext cx="28" cy="27"/>
            </a:xfrm>
            <a:custGeom>
              <a:avLst/>
              <a:gdLst>
                <a:gd name="T0" fmla="*/ 15 w 28"/>
                <a:gd name="T1" fmla="*/ 26 h 27"/>
                <a:gd name="T2" fmla="*/ 27 w 28"/>
                <a:gd name="T3" fmla="*/ 18 h 27"/>
                <a:gd name="T4" fmla="*/ 0 w 28"/>
                <a:gd name="T5" fmla="*/ 0 h 27"/>
                <a:gd name="T6" fmla="*/ 15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15" y="26"/>
                  </a:moveTo>
                  <a:lnTo>
                    <a:pt x="27" y="18"/>
                  </a:lnTo>
                  <a:lnTo>
                    <a:pt x="0" y="0"/>
                  </a:lnTo>
                  <a:lnTo>
                    <a:pt x="15"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7" name="Freeform 6238"/>
            <p:cNvSpPr>
              <a:spLocks/>
            </p:cNvSpPr>
            <p:nvPr/>
          </p:nvSpPr>
          <p:spPr bwMode="auto">
            <a:xfrm>
              <a:off x="2659" y="25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8" name="Line 6239"/>
            <p:cNvSpPr>
              <a:spLocks noChangeShapeType="1"/>
            </p:cNvSpPr>
            <p:nvPr/>
          </p:nvSpPr>
          <p:spPr bwMode="auto">
            <a:xfrm>
              <a:off x="2659" y="2568"/>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69" name="Freeform 6240"/>
            <p:cNvSpPr>
              <a:spLocks/>
            </p:cNvSpPr>
            <p:nvPr/>
          </p:nvSpPr>
          <p:spPr bwMode="auto">
            <a:xfrm>
              <a:off x="2659" y="2562"/>
              <a:ext cx="24" cy="27"/>
            </a:xfrm>
            <a:custGeom>
              <a:avLst/>
              <a:gdLst>
                <a:gd name="T0" fmla="*/ 23 w 24"/>
                <a:gd name="T1" fmla="*/ 26 h 27"/>
                <a:gd name="T2" fmla="*/ 11 w 24"/>
                <a:gd name="T3" fmla="*/ 0 h 27"/>
                <a:gd name="T4" fmla="*/ 0 w 24"/>
                <a:gd name="T5" fmla="*/ 8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1" y="0"/>
                  </a:lnTo>
                  <a:lnTo>
                    <a:pt x="0" y="8"/>
                  </a:lnTo>
                  <a:lnTo>
                    <a:pt x="2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0" name="Freeform 6241"/>
            <p:cNvSpPr>
              <a:spLocks/>
            </p:cNvSpPr>
            <p:nvPr/>
          </p:nvSpPr>
          <p:spPr bwMode="auto">
            <a:xfrm>
              <a:off x="2666" y="2562"/>
              <a:ext cx="24" cy="27"/>
            </a:xfrm>
            <a:custGeom>
              <a:avLst/>
              <a:gdLst>
                <a:gd name="T0" fmla="*/ 10 w 24"/>
                <a:gd name="T1" fmla="*/ 26 h 27"/>
                <a:gd name="T2" fmla="*/ 23 w 24"/>
                <a:gd name="T3" fmla="*/ 18 h 27"/>
                <a:gd name="T4" fmla="*/ 0 w 24"/>
                <a:gd name="T5" fmla="*/ 0 h 27"/>
                <a:gd name="T6" fmla="*/ 1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10" y="26"/>
                  </a:moveTo>
                  <a:lnTo>
                    <a:pt x="23" y="18"/>
                  </a:lnTo>
                  <a:lnTo>
                    <a:pt x="0" y="0"/>
                  </a:lnTo>
                  <a:lnTo>
                    <a:pt x="1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1" name="Freeform 6242"/>
            <p:cNvSpPr>
              <a:spLocks/>
            </p:cNvSpPr>
            <p:nvPr/>
          </p:nvSpPr>
          <p:spPr bwMode="auto">
            <a:xfrm>
              <a:off x="2668" y="2584"/>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2" name="Line 6243"/>
            <p:cNvSpPr>
              <a:spLocks noChangeShapeType="1"/>
            </p:cNvSpPr>
            <p:nvPr/>
          </p:nvSpPr>
          <p:spPr bwMode="auto">
            <a:xfrm>
              <a:off x="2668" y="2584"/>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3" name="Freeform 6244"/>
            <p:cNvSpPr>
              <a:spLocks/>
            </p:cNvSpPr>
            <p:nvPr/>
          </p:nvSpPr>
          <p:spPr bwMode="auto">
            <a:xfrm>
              <a:off x="2668" y="2576"/>
              <a:ext cx="27" cy="28"/>
            </a:xfrm>
            <a:custGeom>
              <a:avLst/>
              <a:gdLst>
                <a:gd name="T0" fmla="*/ 26 w 27"/>
                <a:gd name="T1" fmla="*/ 27 h 28"/>
                <a:gd name="T2" fmla="*/ 14 w 27"/>
                <a:gd name="T3" fmla="*/ 0 h 28"/>
                <a:gd name="T4" fmla="*/ 0 w 27"/>
                <a:gd name="T5" fmla="*/ 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4" y="0"/>
                  </a:lnTo>
                  <a:lnTo>
                    <a:pt x="0" y="8"/>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4" name="Freeform 6245"/>
            <p:cNvSpPr>
              <a:spLocks/>
            </p:cNvSpPr>
            <p:nvPr/>
          </p:nvSpPr>
          <p:spPr bwMode="auto">
            <a:xfrm>
              <a:off x="2678" y="2576"/>
              <a:ext cx="27" cy="28"/>
            </a:xfrm>
            <a:custGeom>
              <a:avLst/>
              <a:gdLst>
                <a:gd name="T0" fmla="*/ 11 w 27"/>
                <a:gd name="T1" fmla="*/ 27 h 28"/>
                <a:gd name="T2" fmla="*/ 26 w 27"/>
                <a:gd name="T3" fmla="*/ 8 h 28"/>
                <a:gd name="T4" fmla="*/ 0 w 27"/>
                <a:gd name="T5" fmla="*/ 0 h 28"/>
                <a:gd name="T6" fmla="*/ 11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1" y="27"/>
                  </a:moveTo>
                  <a:lnTo>
                    <a:pt x="26" y="8"/>
                  </a:lnTo>
                  <a:lnTo>
                    <a:pt x="0" y="0"/>
                  </a:lnTo>
                  <a:lnTo>
                    <a:pt x="11"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5" name="Freeform 6246"/>
            <p:cNvSpPr>
              <a:spLocks/>
            </p:cNvSpPr>
            <p:nvPr/>
          </p:nvSpPr>
          <p:spPr bwMode="auto">
            <a:xfrm>
              <a:off x="2682" y="2589"/>
              <a:ext cx="26" cy="28"/>
            </a:xfrm>
            <a:custGeom>
              <a:avLst/>
              <a:gdLst>
                <a:gd name="T0" fmla="*/ 0 w 26"/>
                <a:gd name="T1" fmla="*/ 27 h 28"/>
                <a:gd name="T2" fmla="*/ 0 w 26"/>
                <a:gd name="T3" fmla="*/ 27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0" y="27"/>
                  </a:lnTo>
                  <a:lnTo>
                    <a:pt x="25"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6" name="Line 6247"/>
            <p:cNvSpPr>
              <a:spLocks noChangeShapeType="1"/>
            </p:cNvSpPr>
            <p:nvPr/>
          </p:nvSpPr>
          <p:spPr bwMode="auto">
            <a:xfrm>
              <a:off x="2682" y="2598"/>
              <a:ext cx="2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7" name="Freeform 6248"/>
            <p:cNvSpPr>
              <a:spLocks/>
            </p:cNvSpPr>
            <p:nvPr/>
          </p:nvSpPr>
          <p:spPr bwMode="auto">
            <a:xfrm>
              <a:off x="2682" y="2584"/>
              <a:ext cx="26" cy="26"/>
            </a:xfrm>
            <a:custGeom>
              <a:avLst/>
              <a:gdLst>
                <a:gd name="T0" fmla="*/ 25 w 26"/>
                <a:gd name="T1" fmla="*/ 25 h 26"/>
                <a:gd name="T2" fmla="*/ 13 w 26"/>
                <a:gd name="T3" fmla="*/ 0 h 26"/>
                <a:gd name="T4" fmla="*/ 0 w 26"/>
                <a:gd name="T5" fmla="*/ 17 h 26"/>
                <a:gd name="T6" fmla="*/ 25 w 26"/>
                <a:gd name="T7" fmla="*/ 25 h 26"/>
                <a:gd name="T8" fmla="*/ 0 60000 65536"/>
                <a:gd name="T9" fmla="*/ 0 60000 65536"/>
                <a:gd name="T10" fmla="*/ 0 60000 65536"/>
                <a:gd name="T11" fmla="*/ 0 60000 65536"/>
                <a:gd name="T12" fmla="*/ 0 w 26"/>
                <a:gd name="T13" fmla="*/ 0 h 26"/>
                <a:gd name="T14" fmla="*/ 26 w 26"/>
                <a:gd name="T15" fmla="*/ 26 h 26"/>
              </a:gdLst>
              <a:ahLst/>
              <a:cxnLst>
                <a:cxn ang="T8">
                  <a:pos x="T0" y="T1"/>
                </a:cxn>
                <a:cxn ang="T9">
                  <a:pos x="T2" y="T3"/>
                </a:cxn>
                <a:cxn ang="T10">
                  <a:pos x="T4" y="T5"/>
                </a:cxn>
                <a:cxn ang="T11">
                  <a:pos x="T6" y="T7"/>
                </a:cxn>
              </a:cxnLst>
              <a:rect l="T12" t="T13" r="T14" b="T15"/>
              <a:pathLst>
                <a:path w="26" h="26">
                  <a:moveTo>
                    <a:pt x="25" y="25"/>
                  </a:moveTo>
                  <a:lnTo>
                    <a:pt x="13" y="0"/>
                  </a:lnTo>
                  <a:lnTo>
                    <a:pt x="0" y="17"/>
                  </a:lnTo>
                  <a:lnTo>
                    <a:pt x="25"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8" name="Freeform 6249"/>
            <p:cNvSpPr>
              <a:spLocks/>
            </p:cNvSpPr>
            <p:nvPr/>
          </p:nvSpPr>
          <p:spPr bwMode="auto">
            <a:xfrm>
              <a:off x="2689" y="2584"/>
              <a:ext cx="28" cy="26"/>
            </a:xfrm>
            <a:custGeom>
              <a:avLst/>
              <a:gdLst>
                <a:gd name="T0" fmla="*/ 13 w 28"/>
                <a:gd name="T1" fmla="*/ 25 h 26"/>
                <a:gd name="T2" fmla="*/ 27 w 28"/>
                <a:gd name="T3" fmla="*/ 17 h 26"/>
                <a:gd name="T4" fmla="*/ 0 w 28"/>
                <a:gd name="T5" fmla="*/ 0 h 26"/>
                <a:gd name="T6" fmla="*/ 13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13" y="25"/>
                  </a:moveTo>
                  <a:lnTo>
                    <a:pt x="27" y="17"/>
                  </a:lnTo>
                  <a:lnTo>
                    <a:pt x="0" y="0"/>
                  </a:lnTo>
                  <a:lnTo>
                    <a:pt x="13" y="25"/>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79" name="Freeform 6250"/>
            <p:cNvSpPr>
              <a:spLocks/>
            </p:cNvSpPr>
            <p:nvPr/>
          </p:nvSpPr>
          <p:spPr bwMode="auto">
            <a:xfrm>
              <a:off x="2697" y="260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0" name="Line 6251"/>
            <p:cNvSpPr>
              <a:spLocks noChangeShapeType="1"/>
            </p:cNvSpPr>
            <p:nvPr/>
          </p:nvSpPr>
          <p:spPr bwMode="auto">
            <a:xfrm>
              <a:off x="2697" y="2604"/>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1" name="Freeform 6252"/>
            <p:cNvSpPr>
              <a:spLocks/>
            </p:cNvSpPr>
            <p:nvPr/>
          </p:nvSpPr>
          <p:spPr bwMode="auto">
            <a:xfrm>
              <a:off x="2697" y="2598"/>
              <a:ext cx="24" cy="27"/>
            </a:xfrm>
            <a:custGeom>
              <a:avLst/>
              <a:gdLst>
                <a:gd name="T0" fmla="*/ 23 w 24"/>
                <a:gd name="T1" fmla="*/ 26 h 27"/>
                <a:gd name="T2" fmla="*/ 10 w 24"/>
                <a:gd name="T3" fmla="*/ 0 h 27"/>
                <a:gd name="T4" fmla="*/ 0 w 24"/>
                <a:gd name="T5" fmla="*/ 13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0" y="0"/>
                  </a:lnTo>
                  <a:lnTo>
                    <a:pt x="0" y="13"/>
                  </a:lnTo>
                  <a:lnTo>
                    <a:pt x="2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2" name="Freeform 6253"/>
            <p:cNvSpPr>
              <a:spLocks/>
            </p:cNvSpPr>
            <p:nvPr/>
          </p:nvSpPr>
          <p:spPr bwMode="auto">
            <a:xfrm>
              <a:off x="2701" y="2598"/>
              <a:ext cx="27" cy="27"/>
            </a:xfrm>
            <a:custGeom>
              <a:avLst/>
              <a:gdLst>
                <a:gd name="T0" fmla="*/ 14 w 27"/>
                <a:gd name="T1" fmla="*/ 26 h 27"/>
                <a:gd name="T2" fmla="*/ 26 w 27"/>
                <a:gd name="T3" fmla="*/ 13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13"/>
                  </a:lnTo>
                  <a:lnTo>
                    <a:pt x="0" y="0"/>
                  </a:lnTo>
                  <a:lnTo>
                    <a:pt x="1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3" name="Freeform 6254"/>
            <p:cNvSpPr>
              <a:spLocks/>
            </p:cNvSpPr>
            <p:nvPr/>
          </p:nvSpPr>
          <p:spPr bwMode="auto">
            <a:xfrm>
              <a:off x="2707" y="2611"/>
              <a:ext cx="29" cy="27"/>
            </a:xfrm>
            <a:custGeom>
              <a:avLst/>
              <a:gdLst>
                <a:gd name="T0" fmla="*/ 0 w 29"/>
                <a:gd name="T1" fmla="*/ 26 h 27"/>
                <a:gd name="T2" fmla="*/ 0 w 29"/>
                <a:gd name="T3" fmla="*/ 0 h 27"/>
                <a:gd name="T4" fmla="*/ 28 w 29"/>
                <a:gd name="T5" fmla="*/ 0 h 27"/>
                <a:gd name="T6" fmla="*/ 0 w 29"/>
                <a:gd name="T7" fmla="*/ 26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0" y="26"/>
                  </a:moveTo>
                  <a:lnTo>
                    <a:pt x="0" y="0"/>
                  </a:lnTo>
                  <a:lnTo>
                    <a:pt x="28"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4" name="Freeform 6255"/>
            <p:cNvSpPr>
              <a:spLocks/>
            </p:cNvSpPr>
            <p:nvPr/>
          </p:nvSpPr>
          <p:spPr bwMode="auto">
            <a:xfrm>
              <a:off x="2707" y="261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5" name="Freeform 6256"/>
            <p:cNvSpPr>
              <a:spLocks/>
            </p:cNvSpPr>
            <p:nvPr/>
          </p:nvSpPr>
          <p:spPr bwMode="auto">
            <a:xfrm>
              <a:off x="2707" y="2604"/>
              <a:ext cx="29" cy="28"/>
            </a:xfrm>
            <a:custGeom>
              <a:avLst/>
              <a:gdLst>
                <a:gd name="T0" fmla="*/ 28 w 29"/>
                <a:gd name="T1" fmla="*/ 27 h 28"/>
                <a:gd name="T2" fmla="*/ 14 w 29"/>
                <a:gd name="T3" fmla="*/ 0 h 28"/>
                <a:gd name="T4" fmla="*/ 0 w 29"/>
                <a:gd name="T5" fmla="*/ 18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4" y="0"/>
                  </a:lnTo>
                  <a:lnTo>
                    <a:pt x="0" y="18"/>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6" name="Freeform 6257"/>
            <p:cNvSpPr>
              <a:spLocks/>
            </p:cNvSpPr>
            <p:nvPr/>
          </p:nvSpPr>
          <p:spPr bwMode="auto">
            <a:xfrm>
              <a:off x="2716" y="2604"/>
              <a:ext cx="25" cy="28"/>
            </a:xfrm>
            <a:custGeom>
              <a:avLst/>
              <a:gdLst>
                <a:gd name="T0" fmla="*/ 10 w 25"/>
                <a:gd name="T1" fmla="*/ 27 h 28"/>
                <a:gd name="T2" fmla="*/ 24 w 25"/>
                <a:gd name="T3" fmla="*/ 8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8"/>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7" name="Freeform 6258"/>
            <p:cNvSpPr>
              <a:spLocks/>
            </p:cNvSpPr>
            <p:nvPr/>
          </p:nvSpPr>
          <p:spPr bwMode="auto">
            <a:xfrm>
              <a:off x="2727" y="2611"/>
              <a:ext cx="28" cy="27"/>
            </a:xfrm>
            <a:custGeom>
              <a:avLst/>
              <a:gdLst>
                <a:gd name="T0" fmla="*/ 0 w 28"/>
                <a:gd name="T1" fmla="*/ 26 h 27"/>
                <a:gd name="T2" fmla="*/ 27 w 28"/>
                <a:gd name="T3" fmla="*/ 10 h 27"/>
                <a:gd name="T4" fmla="*/ 0 w 28"/>
                <a:gd name="T5" fmla="*/ 0 h 27"/>
                <a:gd name="T6" fmla="*/ 0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0" y="26"/>
                  </a:moveTo>
                  <a:lnTo>
                    <a:pt x="27" y="10"/>
                  </a:lnTo>
                  <a:lnTo>
                    <a:pt x="0" y="0"/>
                  </a:lnTo>
                  <a:lnTo>
                    <a:pt x="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8" name="Freeform 6259"/>
            <p:cNvSpPr>
              <a:spLocks/>
            </p:cNvSpPr>
            <p:nvPr/>
          </p:nvSpPr>
          <p:spPr bwMode="auto">
            <a:xfrm>
              <a:off x="2727" y="2632"/>
              <a:ext cx="28" cy="1"/>
            </a:xfrm>
            <a:custGeom>
              <a:avLst/>
              <a:gdLst>
                <a:gd name="T0" fmla="*/ 27 w 28"/>
                <a:gd name="T1" fmla="*/ 0 h 1"/>
                <a:gd name="T2" fmla="*/ 27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27" y="0"/>
                  </a:lnTo>
                  <a:lnTo>
                    <a:pt x="0" y="0"/>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89" name="Freeform 6260"/>
            <p:cNvSpPr>
              <a:spLocks/>
            </p:cNvSpPr>
            <p:nvPr/>
          </p:nvSpPr>
          <p:spPr bwMode="auto">
            <a:xfrm>
              <a:off x="2732" y="2619"/>
              <a:ext cx="25" cy="27"/>
            </a:xfrm>
            <a:custGeom>
              <a:avLst/>
              <a:gdLst>
                <a:gd name="T0" fmla="*/ 24 w 25"/>
                <a:gd name="T1" fmla="*/ 26 h 27"/>
                <a:gd name="T2" fmla="*/ 0 w 25"/>
                <a:gd name="T3" fmla="*/ 0 h 27"/>
                <a:gd name="T4" fmla="*/ 0 w 25"/>
                <a:gd name="T5" fmla="*/ 16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0" y="0"/>
                  </a:lnTo>
                  <a:lnTo>
                    <a:pt x="0" y="16"/>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0" name="Freeform 6261"/>
            <p:cNvSpPr>
              <a:spLocks/>
            </p:cNvSpPr>
            <p:nvPr/>
          </p:nvSpPr>
          <p:spPr bwMode="auto">
            <a:xfrm>
              <a:off x="2732" y="2619"/>
              <a:ext cx="25" cy="27"/>
            </a:xfrm>
            <a:custGeom>
              <a:avLst/>
              <a:gdLst>
                <a:gd name="T0" fmla="*/ 10 w 25"/>
                <a:gd name="T1" fmla="*/ 26 h 27"/>
                <a:gd name="T2" fmla="*/ 24 w 25"/>
                <a:gd name="T3" fmla="*/ 8 h 27"/>
                <a:gd name="T4" fmla="*/ 0 w 25"/>
                <a:gd name="T5" fmla="*/ 0 h 27"/>
                <a:gd name="T6" fmla="*/ 1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0" y="26"/>
                  </a:moveTo>
                  <a:lnTo>
                    <a:pt x="24" y="8"/>
                  </a:lnTo>
                  <a:lnTo>
                    <a:pt x="0" y="0"/>
                  </a:lnTo>
                  <a:lnTo>
                    <a:pt x="10"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1" name="Freeform 6262"/>
            <p:cNvSpPr>
              <a:spLocks/>
            </p:cNvSpPr>
            <p:nvPr/>
          </p:nvSpPr>
          <p:spPr bwMode="auto">
            <a:xfrm>
              <a:off x="2738" y="2632"/>
              <a:ext cx="28" cy="27"/>
            </a:xfrm>
            <a:custGeom>
              <a:avLst/>
              <a:gdLst>
                <a:gd name="T0" fmla="*/ 27 w 28"/>
                <a:gd name="T1" fmla="*/ 26 h 27"/>
                <a:gd name="T2" fmla="*/ 0 w 28"/>
                <a:gd name="T3" fmla="*/ 26 h 27"/>
                <a:gd name="T4" fmla="*/ 27 w 28"/>
                <a:gd name="T5" fmla="*/ 0 h 27"/>
                <a:gd name="T6" fmla="*/ 27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26"/>
                  </a:moveTo>
                  <a:lnTo>
                    <a:pt x="0" y="26"/>
                  </a:lnTo>
                  <a:lnTo>
                    <a:pt x="27" y="0"/>
                  </a:lnTo>
                  <a:lnTo>
                    <a:pt x="27"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2" name="Freeform 6263"/>
            <p:cNvSpPr>
              <a:spLocks/>
            </p:cNvSpPr>
            <p:nvPr/>
          </p:nvSpPr>
          <p:spPr bwMode="auto">
            <a:xfrm>
              <a:off x="2738" y="2640"/>
              <a:ext cx="28" cy="1"/>
            </a:xfrm>
            <a:custGeom>
              <a:avLst/>
              <a:gdLst>
                <a:gd name="T0" fmla="*/ 27 w 28"/>
                <a:gd name="T1" fmla="*/ 0 h 1"/>
                <a:gd name="T2" fmla="*/ 0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0" y="0"/>
                  </a:lnTo>
                  <a:lnTo>
                    <a:pt x="27"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3" name="Freeform 6264"/>
            <p:cNvSpPr>
              <a:spLocks/>
            </p:cNvSpPr>
            <p:nvPr/>
          </p:nvSpPr>
          <p:spPr bwMode="auto">
            <a:xfrm>
              <a:off x="2744" y="2626"/>
              <a:ext cx="27" cy="27"/>
            </a:xfrm>
            <a:custGeom>
              <a:avLst/>
              <a:gdLst>
                <a:gd name="T0" fmla="*/ 26 w 27"/>
                <a:gd name="T1" fmla="*/ 26 h 27"/>
                <a:gd name="T2" fmla="*/ 0 w 27"/>
                <a:gd name="T3" fmla="*/ 0 h 27"/>
                <a:gd name="T4" fmla="*/ 0 w 27"/>
                <a:gd name="T5" fmla="*/ 26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0" y="0"/>
                  </a:lnTo>
                  <a:lnTo>
                    <a:pt x="0" y="26"/>
                  </a:lnTo>
                  <a:lnTo>
                    <a:pt x="26"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4" name="Freeform 6265"/>
            <p:cNvSpPr>
              <a:spLocks/>
            </p:cNvSpPr>
            <p:nvPr/>
          </p:nvSpPr>
          <p:spPr bwMode="auto">
            <a:xfrm>
              <a:off x="2744" y="2626"/>
              <a:ext cx="27" cy="27"/>
            </a:xfrm>
            <a:custGeom>
              <a:avLst/>
              <a:gdLst>
                <a:gd name="T0" fmla="*/ 13 w 27"/>
                <a:gd name="T1" fmla="*/ 26 h 27"/>
                <a:gd name="T2" fmla="*/ 26 w 27"/>
                <a:gd name="T3" fmla="*/ 11 h 27"/>
                <a:gd name="T4" fmla="*/ 0 w 27"/>
                <a:gd name="T5" fmla="*/ 0 h 27"/>
                <a:gd name="T6" fmla="*/ 13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3" y="26"/>
                  </a:moveTo>
                  <a:lnTo>
                    <a:pt x="26" y="11"/>
                  </a:lnTo>
                  <a:lnTo>
                    <a:pt x="0" y="0"/>
                  </a:lnTo>
                  <a:lnTo>
                    <a:pt x="1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5" name="Freeform 6266"/>
            <p:cNvSpPr>
              <a:spLocks/>
            </p:cNvSpPr>
            <p:nvPr/>
          </p:nvSpPr>
          <p:spPr bwMode="auto">
            <a:xfrm>
              <a:off x="2752" y="2640"/>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6" name="Line 6267"/>
            <p:cNvSpPr>
              <a:spLocks noChangeShapeType="1"/>
            </p:cNvSpPr>
            <p:nvPr/>
          </p:nvSpPr>
          <p:spPr bwMode="auto">
            <a:xfrm>
              <a:off x="2752" y="2640"/>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7" name="Freeform 6268"/>
            <p:cNvSpPr>
              <a:spLocks/>
            </p:cNvSpPr>
            <p:nvPr/>
          </p:nvSpPr>
          <p:spPr bwMode="auto">
            <a:xfrm>
              <a:off x="2752" y="2632"/>
              <a:ext cx="25" cy="27"/>
            </a:xfrm>
            <a:custGeom>
              <a:avLst/>
              <a:gdLst>
                <a:gd name="T0" fmla="*/ 24 w 25"/>
                <a:gd name="T1" fmla="*/ 26 h 27"/>
                <a:gd name="T2" fmla="*/ 10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0" y="0"/>
                  </a:lnTo>
                  <a:lnTo>
                    <a:pt x="0" y="14"/>
                  </a:lnTo>
                  <a:lnTo>
                    <a:pt x="2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8" name="Freeform 6269"/>
            <p:cNvSpPr>
              <a:spLocks/>
            </p:cNvSpPr>
            <p:nvPr/>
          </p:nvSpPr>
          <p:spPr bwMode="auto">
            <a:xfrm>
              <a:off x="2756" y="2632"/>
              <a:ext cx="27" cy="27"/>
            </a:xfrm>
            <a:custGeom>
              <a:avLst/>
              <a:gdLst>
                <a:gd name="T0" fmla="*/ 14 w 27"/>
                <a:gd name="T1" fmla="*/ 26 h 27"/>
                <a:gd name="T2" fmla="*/ 26 w 27"/>
                <a:gd name="T3" fmla="*/ 0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0"/>
                  </a:lnTo>
                  <a:lnTo>
                    <a:pt x="0" y="0"/>
                  </a:lnTo>
                  <a:lnTo>
                    <a:pt x="14"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899" name="Freeform 6270"/>
            <p:cNvSpPr>
              <a:spLocks/>
            </p:cNvSpPr>
            <p:nvPr/>
          </p:nvSpPr>
          <p:spPr bwMode="auto">
            <a:xfrm>
              <a:off x="2765" y="2640"/>
              <a:ext cx="22" cy="28"/>
            </a:xfrm>
            <a:custGeom>
              <a:avLst/>
              <a:gdLst>
                <a:gd name="T0" fmla="*/ 0 w 22"/>
                <a:gd name="T1" fmla="*/ 27 h 28"/>
                <a:gd name="T2" fmla="*/ 0 w 22"/>
                <a:gd name="T3" fmla="*/ 27 h 28"/>
                <a:gd name="T4" fmla="*/ 21 w 22"/>
                <a:gd name="T5" fmla="*/ 0 h 28"/>
                <a:gd name="T6" fmla="*/ 0 w 22"/>
                <a:gd name="T7" fmla="*/ 27 h 28"/>
                <a:gd name="T8" fmla="*/ 0 60000 65536"/>
                <a:gd name="T9" fmla="*/ 0 60000 65536"/>
                <a:gd name="T10" fmla="*/ 0 60000 65536"/>
                <a:gd name="T11" fmla="*/ 0 60000 65536"/>
                <a:gd name="T12" fmla="*/ 0 w 22"/>
                <a:gd name="T13" fmla="*/ 0 h 28"/>
                <a:gd name="T14" fmla="*/ 22 w 22"/>
                <a:gd name="T15" fmla="*/ 28 h 28"/>
              </a:gdLst>
              <a:ahLst/>
              <a:cxnLst>
                <a:cxn ang="T8">
                  <a:pos x="T0" y="T1"/>
                </a:cxn>
                <a:cxn ang="T9">
                  <a:pos x="T2" y="T3"/>
                </a:cxn>
                <a:cxn ang="T10">
                  <a:pos x="T4" y="T5"/>
                </a:cxn>
                <a:cxn ang="T11">
                  <a:pos x="T6" y="T7"/>
                </a:cxn>
              </a:cxnLst>
              <a:rect l="T12" t="T13" r="T14" b="T15"/>
              <a:pathLst>
                <a:path w="22" h="28">
                  <a:moveTo>
                    <a:pt x="0" y="27"/>
                  </a:moveTo>
                  <a:lnTo>
                    <a:pt x="0" y="27"/>
                  </a:lnTo>
                  <a:lnTo>
                    <a:pt x="21"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0" name="Line 6271"/>
            <p:cNvSpPr>
              <a:spLocks noChangeShapeType="1"/>
            </p:cNvSpPr>
            <p:nvPr/>
          </p:nvSpPr>
          <p:spPr bwMode="auto">
            <a:xfrm>
              <a:off x="2765" y="2647"/>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1" name="Freeform 6272"/>
            <p:cNvSpPr>
              <a:spLocks/>
            </p:cNvSpPr>
            <p:nvPr/>
          </p:nvSpPr>
          <p:spPr bwMode="auto">
            <a:xfrm>
              <a:off x="2765" y="2632"/>
              <a:ext cx="22" cy="27"/>
            </a:xfrm>
            <a:custGeom>
              <a:avLst/>
              <a:gdLst>
                <a:gd name="T0" fmla="*/ 21 w 22"/>
                <a:gd name="T1" fmla="*/ 26 h 27"/>
                <a:gd name="T2" fmla="*/ 9 w 22"/>
                <a:gd name="T3" fmla="*/ 0 h 27"/>
                <a:gd name="T4" fmla="*/ 0 w 22"/>
                <a:gd name="T5" fmla="*/ 18 h 27"/>
                <a:gd name="T6" fmla="*/ 21 w 22"/>
                <a:gd name="T7" fmla="*/ 26 h 27"/>
                <a:gd name="T8" fmla="*/ 0 60000 65536"/>
                <a:gd name="T9" fmla="*/ 0 60000 65536"/>
                <a:gd name="T10" fmla="*/ 0 60000 65536"/>
                <a:gd name="T11" fmla="*/ 0 60000 65536"/>
                <a:gd name="T12" fmla="*/ 0 w 22"/>
                <a:gd name="T13" fmla="*/ 0 h 27"/>
                <a:gd name="T14" fmla="*/ 22 w 22"/>
                <a:gd name="T15" fmla="*/ 27 h 27"/>
              </a:gdLst>
              <a:ahLst/>
              <a:cxnLst>
                <a:cxn ang="T8">
                  <a:pos x="T0" y="T1"/>
                </a:cxn>
                <a:cxn ang="T9">
                  <a:pos x="T2" y="T3"/>
                </a:cxn>
                <a:cxn ang="T10">
                  <a:pos x="T4" y="T5"/>
                </a:cxn>
                <a:cxn ang="T11">
                  <a:pos x="T6" y="T7"/>
                </a:cxn>
              </a:cxnLst>
              <a:rect l="T12" t="T13" r="T14" b="T15"/>
              <a:pathLst>
                <a:path w="22" h="27">
                  <a:moveTo>
                    <a:pt x="21" y="26"/>
                  </a:moveTo>
                  <a:lnTo>
                    <a:pt x="9" y="0"/>
                  </a:lnTo>
                  <a:lnTo>
                    <a:pt x="0" y="18"/>
                  </a:lnTo>
                  <a:lnTo>
                    <a:pt x="21"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2" name="Freeform 6273"/>
            <p:cNvSpPr>
              <a:spLocks/>
            </p:cNvSpPr>
            <p:nvPr/>
          </p:nvSpPr>
          <p:spPr bwMode="auto">
            <a:xfrm>
              <a:off x="2770" y="2632"/>
              <a:ext cx="25" cy="27"/>
            </a:xfrm>
            <a:custGeom>
              <a:avLst/>
              <a:gdLst>
                <a:gd name="T0" fmla="*/ 13 w 25"/>
                <a:gd name="T1" fmla="*/ 26 h 27"/>
                <a:gd name="T2" fmla="*/ 24 w 25"/>
                <a:gd name="T3" fmla="*/ 10 h 27"/>
                <a:gd name="T4" fmla="*/ 0 w 25"/>
                <a:gd name="T5" fmla="*/ 0 h 27"/>
                <a:gd name="T6" fmla="*/ 13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3" y="26"/>
                  </a:moveTo>
                  <a:lnTo>
                    <a:pt x="24" y="10"/>
                  </a:lnTo>
                  <a:lnTo>
                    <a:pt x="0" y="0"/>
                  </a:lnTo>
                  <a:lnTo>
                    <a:pt x="13" y="26"/>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3" name="Freeform 6274"/>
            <p:cNvSpPr>
              <a:spLocks/>
            </p:cNvSpPr>
            <p:nvPr/>
          </p:nvSpPr>
          <p:spPr bwMode="auto">
            <a:xfrm>
              <a:off x="2776" y="2647"/>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4" name="Line 6275"/>
            <p:cNvSpPr>
              <a:spLocks noChangeShapeType="1"/>
            </p:cNvSpPr>
            <p:nvPr/>
          </p:nvSpPr>
          <p:spPr bwMode="auto">
            <a:xfrm>
              <a:off x="2776" y="2653"/>
              <a:ext cx="2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5" name="Freeform 6276"/>
            <p:cNvSpPr>
              <a:spLocks/>
            </p:cNvSpPr>
            <p:nvPr/>
          </p:nvSpPr>
          <p:spPr bwMode="auto">
            <a:xfrm>
              <a:off x="2776" y="2640"/>
              <a:ext cx="25" cy="28"/>
            </a:xfrm>
            <a:custGeom>
              <a:avLst/>
              <a:gdLst>
                <a:gd name="T0" fmla="*/ 24 w 25"/>
                <a:gd name="T1" fmla="*/ 27 h 28"/>
                <a:gd name="T2" fmla="*/ 12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6" name="Freeform 6277"/>
            <p:cNvSpPr>
              <a:spLocks/>
            </p:cNvSpPr>
            <p:nvPr/>
          </p:nvSpPr>
          <p:spPr bwMode="auto">
            <a:xfrm>
              <a:off x="2782" y="2640"/>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7" name="Freeform 6278"/>
            <p:cNvSpPr>
              <a:spLocks/>
            </p:cNvSpPr>
            <p:nvPr/>
          </p:nvSpPr>
          <p:spPr bwMode="auto">
            <a:xfrm>
              <a:off x="2786" y="2647"/>
              <a:ext cx="29" cy="28"/>
            </a:xfrm>
            <a:custGeom>
              <a:avLst/>
              <a:gdLst>
                <a:gd name="T0" fmla="*/ 0 w 29"/>
                <a:gd name="T1" fmla="*/ 27 h 28"/>
                <a:gd name="T2" fmla="*/ 0 w 29"/>
                <a:gd name="T3" fmla="*/ 27 h 28"/>
                <a:gd name="T4" fmla="*/ 28 w 29"/>
                <a:gd name="T5" fmla="*/ 0 h 28"/>
                <a:gd name="T6" fmla="*/ 0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27"/>
                  </a:moveTo>
                  <a:lnTo>
                    <a:pt x="0" y="27"/>
                  </a:lnTo>
                  <a:lnTo>
                    <a:pt x="28"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8" name="Line 6279"/>
            <p:cNvSpPr>
              <a:spLocks noChangeShapeType="1"/>
            </p:cNvSpPr>
            <p:nvPr/>
          </p:nvSpPr>
          <p:spPr bwMode="auto">
            <a:xfrm>
              <a:off x="2786" y="2653"/>
              <a:ext cx="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09" name="Freeform 6280"/>
            <p:cNvSpPr>
              <a:spLocks/>
            </p:cNvSpPr>
            <p:nvPr/>
          </p:nvSpPr>
          <p:spPr bwMode="auto">
            <a:xfrm>
              <a:off x="2786" y="2640"/>
              <a:ext cx="29" cy="28"/>
            </a:xfrm>
            <a:custGeom>
              <a:avLst/>
              <a:gdLst>
                <a:gd name="T0" fmla="*/ 28 w 29"/>
                <a:gd name="T1" fmla="*/ 27 h 28"/>
                <a:gd name="T2" fmla="*/ 15 w 29"/>
                <a:gd name="T3" fmla="*/ 0 h 28"/>
                <a:gd name="T4" fmla="*/ 0 w 29"/>
                <a:gd name="T5" fmla="*/ 16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5" y="0"/>
                  </a:lnTo>
                  <a:lnTo>
                    <a:pt x="0" y="16"/>
                  </a:lnTo>
                  <a:lnTo>
                    <a:pt x="28"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0" name="Freeform 6281"/>
            <p:cNvSpPr>
              <a:spLocks/>
            </p:cNvSpPr>
            <p:nvPr/>
          </p:nvSpPr>
          <p:spPr bwMode="auto">
            <a:xfrm>
              <a:off x="2794" y="2640"/>
              <a:ext cx="27" cy="28"/>
            </a:xfrm>
            <a:custGeom>
              <a:avLst/>
              <a:gdLst>
                <a:gd name="T0" fmla="*/ 13 w 27"/>
                <a:gd name="T1" fmla="*/ 27 h 28"/>
                <a:gd name="T2" fmla="*/ 26 w 27"/>
                <a:gd name="T3" fmla="*/ 8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8"/>
                  </a:lnTo>
                  <a:lnTo>
                    <a:pt x="0" y="0"/>
                  </a:lnTo>
                  <a:lnTo>
                    <a:pt x="1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1" name="Freeform 6282"/>
            <p:cNvSpPr>
              <a:spLocks/>
            </p:cNvSpPr>
            <p:nvPr/>
          </p:nvSpPr>
          <p:spPr bwMode="auto">
            <a:xfrm>
              <a:off x="2800" y="2653"/>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2" name="Line 6283"/>
            <p:cNvSpPr>
              <a:spLocks noChangeShapeType="1"/>
            </p:cNvSpPr>
            <p:nvPr/>
          </p:nvSpPr>
          <p:spPr bwMode="auto">
            <a:xfrm>
              <a:off x="2800" y="2661"/>
              <a:ext cx="21"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3" name="Freeform 6284"/>
            <p:cNvSpPr>
              <a:spLocks/>
            </p:cNvSpPr>
            <p:nvPr/>
          </p:nvSpPr>
          <p:spPr bwMode="auto">
            <a:xfrm>
              <a:off x="2800" y="2647"/>
              <a:ext cx="25" cy="28"/>
            </a:xfrm>
            <a:custGeom>
              <a:avLst/>
              <a:gdLst>
                <a:gd name="T0" fmla="*/ 24 w 25"/>
                <a:gd name="T1" fmla="*/ 27 h 28"/>
                <a:gd name="T2" fmla="*/ 10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0" y="0"/>
                  </a:lnTo>
                  <a:lnTo>
                    <a:pt x="0" y="27"/>
                  </a:lnTo>
                  <a:lnTo>
                    <a:pt x="24"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4" name="Freeform 6285"/>
            <p:cNvSpPr>
              <a:spLocks/>
            </p:cNvSpPr>
            <p:nvPr/>
          </p:nvSpPr>
          <p:spPr bwMode="auto">
            <a:xfrm>
              <a:off x="2803" y="2647"/>
              <a:ext cx="29" cy="28"/>
            </a:xfrm>
            <a:custGeom>
              <a:avLst/>
              <a:gdLst>
                <a:gd name="T0" fmla="*/ 15 w 29"/>
                <a:gd name="T1" fmla="*/ 27 h 28"/>
                <a:gd name="T2" fmla="*/ 28 w 29"/>
                <a:gd name="T3" fmla="*/ 0 h 28"/>
                <a:gd name="T4" fmla="*/ 0 w 29"/>
                <a:gd name="T5" fmla="*/ 0 h 28"/>
                <a:gd name="T6" fmla="*/ 15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15" y="27"/>
                  </a:moveTo>
                  <a:lnTo>
                    <a:pt x="28" y="0"/>
                  </a:lnTo>
                  <a:lnTo>
                    <a:pt x="0" y="0"/>
                  </a:lnTo>
                  <a:lnTo>
                    <a:pt x="15"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5" name="Freeform 6286"/>
            <p:cNvSpPr>
              <a:spLocks/>
            </p:cNvSpPr>
            <p:nvPr/>
          </p:nvSpPr>
          <p:spPr bwMode="auto">
            <a:xfrm>
              <a:off x="2814" y="2653"/>
              <a:ext cx="24" cy="28"/>
            </a:xfrm>
            <a:custGeom>
              <a:avLst/>
              <a:gdLst>
                <a:gd name="T0" fmla="*/ 0 w 24"/>
                <a:gd name="T1" fmla="*/ 27 h 28"/>
                <a:gd name="T2" fmla="*/ 0 w 24"/>
                <a:gd name="T3" fmla="*/ 27 h 28"/>
                <a:gd name="T4" fmla="*/ 23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0" y="27"/>
                  </a:lnTo>
                  <a:lnTo>
                    <a:pt x="23" y="0"/>
                  </a:lnTo>
                  <a:lnTo>
                    <a:pt x="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6" name="Line 6287"/>
            <p:cNvSpPr>
              <a:spLocks noChangeShapeType="1"/>
            </p:cNvSpPr>
            <p:nvPr/>
          </p:nvSpPr>
          <p:spPr bwMode="auto">
            <a:xfrm>
              <a:off x="2814" y="2661"/>
              <a:ext cx="2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7" name="Freeform 6288"/>
            <p:cNvSpPr>
              <a:spLocks/>
            </p:cNvSpPr>
            <p:nvPr/>
          </p:nvSpPr>
          <p:spPr bwMode="auto">
            <a:xfrm>
              <a:off x="2814" y="2647"/>
              <a:ext cx="24" cy="28"/>
            </a:xfrm>
            <a:custGeom>
              <a:avLst/>
              <a:gdLst>
                <a:gd name="T0" fmla="*/ 23 w 24"/>
                <a:gd name="T1" fmla="*/ 27 h 28"/>
                <a:gd name="T2" fmla="*/ 11 w 24"/>
                <a:gd name="T3" fmla="*/ 0 h 28"/>
                <a:gd name="T4" fmla="*/ 0 w 24"/>
                <a:gd name="T5" fmla="*/ 27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11" y="0"/>
                  </a:lnTo>
                  <a:lnTo>
                    <a:pt x="0" y="27"/>
                  </a:lnTo>
                  <a:lnTo>
                    <a:pt x="23"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8" name="Freeform 6289"/>
            <p:cNvSpPr>
              <a:spLocks/>
            </p:cNvSpPr>
            <p:nvPr/>
          </p:nvSpPr>
          <p:spPr bwMode="auto">
            <a:xfrm>
              <a:off x="2820" y="2647"/>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19" name="Freeform 6290"/>
            <p:cNvSpPr>
              <a:spLocks/>
            </p:cNvSpPr>
            <p:nvPr/>
          </p:nvSpPr>
          <p:spPr bwMode="auto">
            <a:xfrm>
              <a:off x="2823" y="266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0" name="Line 6291"/>
            <p:cNvSpPr>
              <a:spLocks noChangeShapeType="1"/>
            </p:cNvSpPr>
            <p:nvPr/>
          </p:nvSpPr>
          <p:spPr bwMode="auto">
            <a:xfrm>
              <a:off x="2823" y="2661"/>
              <a:ext cx="26"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type="none" w="sm" len="sm"/>
                  <a:tailEnd type="none" w="sm" len="sm"/>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1" name="Freeform 6292"/>
            <p:cNvSpPr>
              <a:spLocks/>
            </p:cNvSpPr>
            <p:nvPr/>
          </p:nvSpPr>
          <p:spPr bwMode="auto">
            <a:xfrm>
              <a:off x="2823" y="2647"/>
              <a:ext cx="27" cy="28"/>
            </a:xfrm>
            <a:custGeom>
              <a:avLst/>
              <a:gdLst>
                <a:gd name="T0" fmla="*/ 26 w 27"/>
                <a:gd name="T1" fmla="*/ 27 h 28"/>
                <a:gd name="T2" fmla="*/ 0 w 27"/>
                <a:gd name="T3" fmla="*/ 0 h 28"/>
                <a:gd name="T4" fmla="*/ 0 w 27"/>
                <a:gd name="T5" fmla="*/ 1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18"/>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922" name="Freeform 6293"/>
            <p:cNvSpPr>
              <a:spLocks/>
            </p:cNvSpPr>
            <p:nvPr/>
          </p:nvSpPr>
          <p:spPr bwMode="auto">
            <a:xfrm>
              <a:off x="2823" y="2647"/>
              <a:ext cx="27" cy="28"/>
            </a:xfrm>
            <a:custGeom>
              <a:avLst/>
              <a:gdLst>
                <a:gd name="T0" fmla="*/ 26 w 27"/>
                <a:gd name="T1" fmla="*/ 27 h 28"/>
                <a:gd name="T2" fmla="*/ 26 w 27"/>
                <a:gd name="T3" fmla="*/ 8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8"/>
                  </a:lnTo>
                  <a:lnTo>
                    <a:pt x="0" y="0"/>
                  </a:lnTo>
                  <a:lnTo>
                    <a:pt x="26" y="27"/>
                  </a:lnTo>
                </a:path>
              </a:pathLst>
            </a:custGeom>
            <a:solidFill>
              <a:srgbClr val="0000F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a:latin typeface="Arial" pitchFamily="34" charset="0"/>
                <a:ea typeface="맑은 고딕" panose="020B0503020000020004" pitchFamily="50" charset="-127"/>
                <a:cs typeface="Arial" pitchFamily="34" charset="0"/>
              </a:endParaRPr>
            </a:p>
          </p:txBody>
        </p:sp>
      </p:grpSp>
      <p:sp>
        <p:nvSpPr>
          <p:cNvPr id="16400" name="Freeform 6294"/>
          <p:cNvSpPr>
            <a:spLocks/>
          </p:cNvSpPr>
          <p:nvPr/>
        </p:nvSpPr>
        <p:spPr bwMode="auto">
          <a:xfrm>
            <a:off x="6719888" y="4742690"/>
            <a:ext cx="2201862" cy="1739900"/>
          </a:xfrm>
          <a:custGeom>
            <a:avLst/>
            <a:gdLst>
              <a:gd name="T0" fmla="*/ 0 w 2640"/>
              <a:gd name="T1" fmla="*/ 0 h 2112"/>
              <a:gd name="T2" fmla="*/ 0 w 2640"/>
              <a:gd name="T3" fmla="*/ 2147483647 h 2112"/>
              <a:gd name="T4" fmla="*/ 2147483647 w 2640"/>
              <a:gd name="T5" fmla="*/ 2147483647 h 2112"/>
              <a:gd name="T6" fmla="*/ 0 60000 65536"/>
              <a:gd name="T7" fmla="*/ 0 60000 65536"/>
              <a:gd name="T8" fmla="*/ 0 60000 65536"/>
              <a:gd name="T9" fmla="*/ 0 w 2640"/>
              <a:gd name="T10" fmla="*/ 0 h 2112"/>
              <a:gd name="T11" fmla="*/ 2640 w 2640"/>
              <a:gd name="T12" fmla="*/ 2112 h 2112"/>
            </a:gdLst>
            <a:ahLst/>
            <a:cxnLst>
              <a:cxn ang="T6">
                <a:pos x="T0" y="T1"/>
              </a:cxn>
              <a:cxn ang="T7">
                <a:pos x="T2" y="T3"/>
              </a:cxn>
              <a:cxn ang="T8">
                <a:pos x="T4" y="T5"/>
              </a:cxn>
            </a:cxnLst>
            <a:rect l="T9" t="T10" r="T11" b="T12"/>
            <a:pathLst>
              <a:path w="2640" h="2112">
                <a:moveTo>
                  <a:pt x="0" y="0"/>
                </a:moveTo>
                <a:lnTo>
                  <a:pt x="0" y="2112"/>
                </a:lnTo>
                <a:lnTo>
                  <a:pt x="2640" y="2112"/>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01" name="Freeform 6295"/>
          <p:cNvSpPr>
            <a:spLocks/>
          </p:cNvSpPr>
          <p:nvPr/>
        </p:nvSpPr>
        <p:spPr bwMode="auto">
          <a:xfrm>
            <a:off x="6767513" y="4837940"/>
            <a:ext cx="2009775" cy="1455738"/>
          </a:xfrm>
          <a:custGeom>
            <a:avLst/>
            <a:gdLst>
              <a:gd name="T0" fmla="*/ 2147483647 w 1200"/>
              <a:gd name="T1" fmla="*/ 0 h 768"/>
              <a:gd name="T2" fmla="*/ 2147483647 w 1200"/>
              <a:gd name="T3" fmla="*/ 2147483647 h 768"/>
              <a:gd name="T4" fmla="*/ 0 w 1200"/>
              <a:gd name="T5" fmla="*/ 2147483647 h 768"/>
              <a:gd name="T6" fmla="*/ 0 60000 65536"/>
              <a:gd name="T7" fmla="*/ 0 60000 65536"/>
              <a:gd name="T8" fmla="*/ 0 60000 65536"/>
              <a:gd name="T9" fmla="*/ 0 w 1200"/>
              <a:gd name="T10" fmla="*/ 0 h 768"/>
              <a:gd name="T11" fmla="*/ 1200 w 1200"/>
              <a:gd name="T12" fmla="*/ 768 h 768"/>
            </a:gdLst>
            <a:ahLst/>
            <a:cxnLst>
              <a:cxn ang="T6">
                <a:pos x="T0" y="T1"/>
              </a:cxn>
              <a:cxn ang="T7">
                <a:pos x="T2" y="T3"/>
              </a:cxn>
              <a:cxn ang="T8">
                <a:pos x="T4" y="T5"/>
              </a:cxn>
            </a:cxnLst>
            <a:rect l="T9" t="T10" r="T11" b="T12"/>
            <a:pathLst>
              <a:path w="1200" h="768">
                <a:moveTo>
                  <a:pt x="1200" y="0"/>
                </a:moveTo>
                <a:cubicBezTo>
                  <a:pt x="844" y="128"/>
                  <a:pt x="488" y="256"/>
                  <a:pt x="288" y="384"/>
                </a:cubicBezTo>
                <a:cubicBezTo>
                  <a:pt x="88" y="512"/>
                  <a:pt x="44" y="640"/>
                  <a:pt x="0" y="768"/>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02" name="Freeform 6296"/>
          <p:cNvSpPr>
            <a:spLocks/>
          </p:cNvSpPr>
          <p:nvPr/>
        </p:nvSpPr>
        <p:spPr bwMode="auto">
          <a:xfrm>
            <a:off x="6727825" y="5284028"/>
            <a:ext cx="1020763" cy="1198562"/>
          </a:xfrm>
          <a:custGeom>
            <a:avLst/>
            <a:gdLst>
              <a:gd name="T0" fmla="*/ 2147483647 w 576"/>
              <a:gd name="T1" fmla="*/ 2147483647 h 864"/>
              <a:gd name="T2" fmla="*/ 2147483647 w 576"/>
              <a:gd name="T3" fmla="*/ 0 h 864"/>
              <a:gd name="T4" fmla="*/ 0 w 576"/>
              <a:gd name="T5" fmla="*/ 0 h 864"/>
              <a:gd name="T6" fmla="*/ 0 60000 65536"/>
              <a:gd name="T7" fmla="*/ 0 60000 65536"/>
              <a:gd name="T8" fmla="*/ 0 60000 65536"/>
              <a:gd name="T9" fmla="*/ 0 w 576"/>
              <a:gd name="T10" fmla="*/ 0 h 864"/>
              <a:gd name="T11" fmla="*/ 576 w 576"/>
              <a:gd name="T12" fmla="*/ 864 h 864"/>
            </a:gdLst>
            <a:ahLst/>
            <a:cxnLst>
              <a:cxn ang="T6">
                <a:pos x="T0" y="T1"/>
              </a:cxn>
              <a:cxn ang="T7">
                <a:pos x="T2" y="T3"/>
              </a:cxn>
              <a:cxn ang="T8">
                <a:pos x="T4" y="T5"/>
              </a:cxn>
            </a:cxnLst>
            <a:rect l="T9" t="T10" r="T11" b="T12"/>
            <a:pathLst>
              <a:path w="576" h="864">
                <a:moveTo>
                  <a:pt x="576" y="864"/>
                </a:moveTo>
                <a:lnTo>
                  <a:pt x="576" y="0"/>
                </a:lnTo>
                <a:lnTo>
                  <a:pt x="0" y="0"/>
                </a:lnTo>
              </a:path>
            </a:pathLst>
          </a:custGeom>
          <a:noFill/>
          <a:ln w="9525">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03" name="Freeform 6297"/>
          <p:cNvSpPr>
            <a:spLocks/>
          </p:cNvSpPr>
          <p:nvPr/>
        </p:nvSpPr>
        <p:spPr bwMode="auto">
          <a:xfrm>
            <a:off x="6719888" y="6152390"/>
            <a:ext cx="95250" cy="330200"/>
          </a:xfrm>
          <a:custGeom>
            <a:avLst/>
            <a:gdLst>
              <a:gd name="T0" fmla="*/ 2147483647 w 576"/>
              <a:gd name="T1" fmla="*/ 2147483647 h 864"/>
              <a:gd name="T2" fmla="*/ 2147483647 w 576"/>
              <a:gd name="T3" fmla="*/ 0 h 864"/>
              <a:gd name="T4" fmla="*/ 0 w 576"/>
              <a:gd name="T5" fmla="*/ 0 h 864"/>
              <a:gd name="T6" fmla="*/ 0 60000 65536"/>
              <a:gd name="T7" fmla="*/ 0 60000 65536"/>
              <a:gd name="T8" fmla="*/ 0 60000 65536"/>
              <a:gd name="T9" fmla="*/ 0 w 576"/>
              <a:gd name="T10" fmla="*/ 0 h 864"/>
              <a:gd name="T11" fmla="*/ 576 w 576"/>
              <a:gd name="T12" fmla="*/ 864 h 864"/>
            </a:gdLst>
            <a:ahLst/>
            <a:cxnLst>
              <a:cxn ang="T6">
                <a:pos x="T0" y="T1"/>
              </a:cxn>
              <a:cxn ang="T7">
                <a:pos x="T2" y="T3"/>
              </a:cxn>
              <a:cxn ang="T8">
                <a:pos x="T4" y="T5"/>
              </a:cxn>
            </a:cxnLst>
            <a:rect l="T9" t="T10" r="T11" b="T12"/>
            <a:pathLst>
              <a:path w="576" h="864">
                <a:moveTo>
                  <a:pt x="576" y="864"/>
                </a:moveTo>
                <a:lnTo>
                  <a:pt x="576" y="0"/>
                </a:lnTo>
                <a:lnTo>
                  <a:pt x="0" y="0"/>
                </a:lnTo>
              </a:path>
            </a:pathLst>
          </a:custGeom>
          <a:noFill/>
          <a:ln w="9525">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grpSp>
        <p:nvGrpSpPr>
          <p:cNvPr id="16404" name="Group 6298"/>
          <p:cNvGrpSpPr>
            <a:grpSpLocks/>
          </p:cNvGrpSpPr>
          <p:nvPr/>
        </p:nvGrpSpPr>
        <p:grpSpPr bwMode="auto">
          <a:xfrm rot="16200000" flipH="1">
            <a:off x="6269038" y="4761740"/>
            <a:ext cx="422275" cy="479425"/>
            <a:chOff x="1249" y="1728"/>
            <a:chExt cx="1825" cy="961"/>
          </a:xfrm>
        </p:grpSpPr>
        <p:sp>
          <p:nvSpPr>
            <p:cNvPr id="16935" name="Line 6299"/>
            <p:cNvSpPr>
              <a:spLocks noChangeShapeType="1"/>
            </p:cNvSpPr>
            <p:nvPr/>
          </p:nvSpPr>
          <p:spPr bwMode="auto">
            <a:xfrm>
              <a:off x="3031"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6" name="Freeform 6300"/>
            <p:cNvSpPr>
              <a:spLocks/>
            </p:cNvSpPr>
            <p:nvPr/>
          </p:nvSpPr>
          <p:spPr bwMode="auto">
            <a:xfrm>
              <a:off x="3031" y="2661"/>
              <a:ext cx="43" cy="28"/>
            </a:xfrm>
            <a:custGeom>
              <a:avLst/>
              <a:gdLst>
                <a:gd name="T0" fmla="*/ 0 w 43"/>
                <a:gd name="T1" fmla="*/ 27 h 28"/>
                <a:gd name="T2" fmla="*/ 42 w 43"/>
                <a:gd name="T3" fmla="*/ 0 h 28"/>
                <a:gd name="T4" fmla="*/ 42 w 43"/>
                <a:gd name="T5" fmla="*/ 27 h 28"/>
                <a:gd name="T6" fmla="*/ 0 w 43"/>
                <a:gd name="T7" fmla="*/ 27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27"/>
                  </a:moveTo>
                  <a:lnTo>
                    <a:pt x="42" y="0"/>
                  </a:lnTo>
                  <a:lnTo>
                    <a:pt x="42"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7" name="Freeform 6301"/>
            <p:cNvSpPr>
              <a:spLocks/>
            </p:cNvSpPr>
            <p:nvPr/>
          </p:nvSpPr>
          <p:spPr bwMode="auto">
            <a:xfrm>
              <a:off x="3031" y="2661"/>
              <a:ext cx="43" cy="28"/>
            </a:xfrm>
            <a:custGeom>
              <a:avLst/>
              <a:gdLst>
                <a:gd name="T0" fmla="*/ 0 w 43"/>
                <a:gd name="T1" fmla="*/ 0 h 28"/>
                <a:gd name="T2" fmla="*/ 42 w 43"/>
                <a:gd name="T3" fmla="*/ 0 h 28"/>
                <a:gd name="T4" fmla="*/ 0 w 43"/>
                <a:gd name="T5" fmla="*/ 27 h 28"/>
                <a:gd name="T6" fmla="*/ 0 w 43"/>
                <a:gd name="T7" fmla="*/ 0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0"/>
                  </a:moveTo>
                  <a:lnTo>
                    <a:pt x="42"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8" name="Freeform 6302"/>
            <p:cNvSpPr>
              <a:spLocks/>
            </p:cNvSpPr>
            <p:nvPr/>
          </p:nvSpPr>
          <p:spPr bwMode="auto">
            <a:xfrm>
              <a:off x="3031" y="2661"/>
              <a:ext cx="43" cy="28"/>
            </a:xfrm>
            <a:custGeom>
              <a:avLst/>
              <a:gdLst>
                <a:gd name="T0" fmla="*/ 0 w 43"/>
                <a:gd name="T1" fmla="*/ 27 h 28"/>
                <a:gd name="T2" fmla="*/ 42 w 43"/>
                <a:gd name="T3" fmla="*/ 27 h 28"/>
                <a:gd name="T4" fmla="*/ 42 w 43"/>
                <a:gd name="T5" fmla="*/ 0 h 28"/>
                <a:gd name="T6" fmla="*/ 0 w 43"/>
                <a:gd name="T7" fmla="*/ 0 h 28"/>
                <a:gd name="T8" fmla="*/ 0 w 43"/>
                <a:gd name="T9" fmla="*/ 27 h 28"/>
                <a:gd name="T10" fmla="*/ 0 w 43"/>
                <a:gd name="T11" fmla="*/ 27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0" y="27"/>
                  </a:moveTo>
                  <a:lnTo>
                    <a:pt x="42" y="27"/>
                  </a:lnTo>
                  <a:lnTo>
                    <a:pt x="42"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9" name="Line 6303"/>
            <p:cNvSpPr>
              <a:spLocks noChangeShapeType="1"/>
            </p:cNvSpPr>
            <p:nvPr/>
          </p:nvSpPr>
          <p:spPr bwMode="auto">
            <a:xfrm>
              <a:off x="2993"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0" name="Freeform 6304"/>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1" name="Line 6305"/>
            <p:cNvSpPr>
              <a:spLocks noChangeShapeType="1"/>
            </p:cNvSpPr>
            <p:nvPr/>
          </p:nvSpPr>
          <p:spPr bwMode="auto">
            <a:xfrm>
              <a:off x="2993"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2" name="Freeform 6306"/>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3" name="Line 6307"/>
            <p:cNvSpPr>
              <a:spLocks noChangeShapeType="1"/>
            </p:cNvSpPr>
            <p:nvPr/>
          </p:nvSpPr>
          <p:spPr bwMode="auto">
            <a:xfrm>
              <a:off x="2949" y="2669"/>
              <a:ext cx="4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4" name="Freeform 6308"/>
            <p:cNvSpPr>
              <a:spLocks/>
            </p:cNvSpPr>
            <p:nvPr/>
          </p:nvSpPr>
          <p:spPr bwMode="auto">
            <a:xfrm>
              <a:off x="2949" y="2661"/>
              <a:ext cx="45" cy="28"/>
            </a:xfrm>
            <a:custGeom>
              <a:avLst/>
              <a:gdLst>
                <a:gd name="T0" fmla="*/ 0 w 45"/>
                <a:gd name="T1" fmla="*/ 27 h 28"/>
                <a:gd name="T2" fmla="*/ 44 w 45"/>
                <a:gd name="T3" fmla="*/ 0 h 28"/>
                <a:gd name="T4" fmla="*/ 44 w 45"/>
                <a:gd name="T5" fmla="*/ 27 h 28"/>
                <a:gd name="T6" fmla="*/ 0 w 45"/>
                <a:gd name="T7" fmla="*/ 27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27"/>
                  </a:moveTo>
                  <a:lnTo>
                    <a:pt x="44" y="0"/>
                  </a:lnTo>
                  <a:lnTo>
                    <a:pt x="44"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5" name="Freeform 6309"/>
            <p:cNvSpPr>
              <a:spLocks/>
            </p:cNvSpPr>
            <p:nvPr/>
          </p:nvSpPr>
          <p:spPr bwMode="auto">
            <a:xfrm>
              <a:off x="2949" y="2661"/>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6" name="Freeform 6310"/>
            <p:cNvSpPr>
              <a:spLocks/>
            </p:cNvSpPr>
            <p:nvPr/>
          </p:nvSpPr>
          <p:spPr bwMode="auto">
            <a:xfrm>
              <a:off x="2949" y="2661"/>
              <a:ext cx="45" cy="28"/>
            </a:xfrm>
            <a:custGeom>
              <a:avLst/>
              <a:gdLst>
                <a:gd name="T0" fmla="*/ 0 w 45"/>
                <a:gd name="T1" fmla="*/ 27 h 28"/>
                <a:gd name="T2" fmla="*/ 44 w 45"/>
                <a:gd name="T3" fmla="*/ 27 h 28"/>
                <a:gd name="T4" fmla="*/ 44 w 45"/>
                <a:gd name="T5" fmla="*/ 0 h 28"/>
                <a:gd name="T6" fmla="*/ 0 w 45"/>
                <a:gd name="T7" fmla="*/ 0 h 28"/>
                <a:gd name="T8" fmla="*/ 0 w 45"/>
                <a:gd name="T9" fmla="*/ 27 h 28"/>
                <a:gd name="T10" fmla="*/ 0 w 45"/>
                <a:gd name="T11" fmla="*/ 27 h 28"/>
                <a:gd name="T12" fmla="*/ 0 60000 65536"/>
                <a:gd name="T13" fmla="*/ 0 60000 65536"/>
                <a:gd name="T14" fmla="*/ 0 60000 65536"/>
                <a:gd name="T15" fmla="*/ 0 60000 65536"/>
                <a:gd name="T16" fmla="*/ 0 60000 65536"/>
                <a:gd name="T17" fmla="*/ 0 60000 65536"/>
                <a:gd name="T18" fmla="*/ 0 w 45"/>
                <a:gd name="T19" fmla="*/ 0 h 28"/>
                <a:gd name="T20" fmla="*/ 45 w 4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5" h="28">
                  <a:moveTo>
                    <a:pt x="0" y="27"/>
                  </a:moveTo>
                  <a:lnTo>
                    <a:pt x="44" y="27"/>
                  </a:lnTo>
                  <a:lnTo>
                    <a:pt x="44"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7" name="Line 6311"/>
            <p:cNvSpPr>
              <a:spLocks noChangeShapeType="1"/>
            </p:cNvSpPr>
            <p:nvPr/>
          </p:nvSpPr>
          <p:spPr bwMode="auto">
            <a:xfrm>
              <a:off x="2910" y="2669"/>
              <a:ext cx="3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8" name="Freeform 6312"/>
            <p:cNvSpPr>
              <a:spLocks/>
            </p:cNvSpPr>
            <p:nvPr/>
          </p:nvSpPr>
          <p:spPr bwMode="auto">
            <a:xfrm>
              <a:off x="2910" y="2661"/>
              <a:ext cx="40" cy="28"/>
            </a:xfrm>
            <a:custGeom>
              <a:avLst/>
              <a:gdLst>
                <a:gd name="T0" fmla="*/ 0 w 40"/>
                <a:gd name="T1" fmla="*/ 27 h 28"/>
                <a:gd name="T2" fmla="*/ 39 w 40"/>
                <a:gd name="T3" fmla="*/ 0 h 28"/>
                <a:gd name="T4" fmla="*/ 39 w 40"/>
                <a:gd name="T5" fmla="*/ 27 h 28"/>
                <a:gd name="T6" fmla="*/ 0 w 40"/>
                <a:gd name="T7" fmla="*/ 27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27"/>
                  </a:moveTo>
                  <a:lnTo>
                    <a:pt x="39" y="0"/>
                  </a:lnTo>
                  <a:lnTo>
                    <a:pt x="39"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49" name="Freeform 6313"/>
            <p:cNvSpPr>
              <a:spLocks/>
            </p:cNvSpPr>
            <p:nvPr/>
          </p:nvSpPr>
          <p:spPr bwMode="auto">
            <a:xfrm>
              <a:off x="2910" y="2661"/>
              <a:ext cx="40" cy="28"/>
            </a:xfrm>
            <a:custGeom>
              <a:avLst/>
              <a:gdLst>
                <a:gd name="T0" fmla="*/ 0 w 40"/>
                <a:gd name="T1" fmla="*/ 0 h 28"/>
                <a:gd name="T2" fmla="*/ 39 w 40"/>
                <a:gd name="T3" fmla="*/ 0 h 28"/>
                <a:gd name="T4" fmla="*/ 0 w 40"/>
                <a:gd name="T5" fmla="*/ 27 h 28"/>
                <a:gd name="T6" fmla="*/ 0 w 40"/>
                <a:gd name="T7" fmla="*/ 0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0"/>
                  </a:moveTo>
                  <a:lnTo>
                    <a:pt x="39"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0" name="Freeform 6314"/>
            <p:cNvSpPr>
              <a:spLocks/>
            </p:cNvSpPr>
            <p:nvPr/>
          </p:nvSpPr>
          <p:spPr bwMode="auto">
            <a:xfrm>
              <a:off x="2910" y="2661"/>
              <a:ext cx="40" cy="28"/>
            </a:xfrm>
            <a:custGeom>
              <a:avLst/>
              <a:gdLst>
                <a:gd name="T0" fmla="*/ 0 w 40"/>
                <a:gd name="T1" fmla="*/ 27 h 28"/>
                <a:gd name="T2" fmla="*/ 39 w 40"/>
                <a:gd name="T3" fmla="*/ 27 h 28"/>
                <a:gd name="T4" fmla="*/ 39 w 40"/>
                <a:gd name="T5" fmla="*/ 0 h 28"/>
                <a:gd name="T6" fmla="*/ 0 w 40"/>
                <a:gd name="T7" fmla="*/ 0 h 28"/>
                <a:gd name="T8" fmla="*/ 0 w 40"/>
                <a:gd name="T9" fmla="*/ 27 h 28"/>
                <a:gd name="T10" fmla="*/ 0 w 40"/>
                <a:gd name="T11" fmla="*/ 27 h 28"/>
                <a:gd name="T12" fmla="*/ 0 60000 65536"/>
                <a:gd name="T13" fmla="*/ 0 60000 65536"/>
                <a:gd name="T14" fmla="*/ 0 60000 65536"/>
                <a:gd name="T15" fmla="*/ 0 60000 65536"/>
                <a:gd name="T16" fmla="*/ 0 60000 65536"/>
                <a:gd name="T17" fmla="*/ 0 60000 65536"/>
                <a:gd name="T18" fmla="*/ 0 w 40"/>
                <a:gd name="T19" fmla="*/ 0 h 28"/>
                <a:gd name="T20" fmla="*/ 40 w 4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0" h="28">
                  <a:moveTo>
                    <a:pt x="0" y="27"/>
                  </a:moveTo>
                  <a:lnTo>
                    <a:pt x="39" y="27"/>
                  </a:lnTo>
                  <a:lnTo>
                    <a:pt x="39"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1" name="Line 6315"/>
            <p:cNvSpPr>
              <a:spLocks noChangeShapeType="1"/>
            </p:cNvSpPr>
            <p:nvPr/>
          </p:nvSpPr>
          <p:spPr bwMode="auto">
            <a:xfrm>
              <a:off x="2869"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2" name="Freeform 6316"/>
            <p:cNvSpPr>
              <a:spLocks/>
            </p:cNvSpPr>
            <p:nvPr/>
          </p:nvSpPr>
          <p:spPr bwMode="auto">
            <a:xfrm>
              <a:off x="2869"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3" name="Freeform 6317"/>
            <p:cNvSpPr>
              <a:spLocks/>
            </p:cNvSpPr>
            <p:nvPr/>
          </p:nvSpPr>
          <p:spPr bwMode="auto">
            <a:xfrm>
              <a:off x="2869"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4" name="Freeform 6318"/>
            <p:cNvSpPr>
              <a:spLocks/>
            </p:cNvSpPr>
            <p:nvPr/>
          </p:nvSpPr>
          <p:spPr bwMode="auto">
            <a:xfrm>
              <a:off x="2869"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5" name="Line 6319"/>
            <p:cNvSpPr>
              <a:spLocks noChangeShapeType="1"/>
            </p:cNvSpPr>
            <p:nvPr/>
          </p:nvSpPr>
          <p:spPr bwMode="auto">
            <a:xfrm>
              <a:off x="2832"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6" name="Freeform 6320"/>
            <p:cNvSpPr>
              <a:spLocks/>
            </p:cNvSpPr>
            <p:nvPr/>
          </p:nvSpPr>
          <p:spPr bwMode="auto">
            <a:xfrm>
              <a:off x="2832" y="2653"/>
              <a:ext cx="38" cy="28"/>
            </a:xfrm>
            <a:custGeom>
              <a:avLst/>
              <a:gdLst>
                <a:gd name="T0" fmla="*/ 0 w 38"/>
                <a:gd name="T1" fmla="*/ 27 h 28"/>
                <a:gd name="T2" fmla="*/ 37 w 38"/>
                <a:gd name="T3" fmla="*/ 0 h 28"/>
                <a:gd name="T4" fmla="*/ 37 w 38"/>
                <a:gd name="T5" fmla="*/ 27 h 28"/>
                <a:gd name="T6" fmla="*/ 0 w 38"/>
                <a:gd name="T7" fmla="*/ 27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27"/>
                  </a:moveTo>
                  <a:lnTo>
                    <a:pt x="37" y="0"/>
                  </a:lnTo>
                  <a:lnTo>
                    <a:pt x="37"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7" name="Freeform 6321"/>
            <p:cNvSpPr>
              <a:spLocks/>
            </p:cNvSpPr>
            <p:nvPr/>
          </p:nvSpPr>
          <p:spPr bwMode="auto">
            <a:xfrm>
              <a:off x="2832" y="2653"/>
              <a:ext cx="38" cy="28"/>
            </a:xfrm>
            <a:custGeom>
              <a:avLst/>
              <a:gdLst>
                <a:gd name="T0" fmla="*/ 0 w 38"/>
                <a:gd name="T1" fmla="*/ 0 h 28"/>
                <a:gd name="T2" fmla="*/ 37 w 38"/>
                <a:gd name="T3" fmla="*/ 0 h 28"/>
                <a:gd name="T4" fmla="*/ 0 w 38"/>
                <a:gd name="T5" fmla="*/ 27 h 28"/>
                <a:gd name="T6" fmla="*/ 0 w 38"/>
                <a:gd name="T7" fmla="*/ 0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0"/>
                  </a:moveTo>
                  <a:lnTo>
                    <a:pt x="37"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8" name="Freeform 6322"/>
            <p:cNvSpPr>
              <a:spLocks/>
            </p:cNvSpPr>
            <p:nvPr/>
          </p:nvSpPr>
          <p:spPr bwMode="auto">
            <a:xfrm>
              <a:off x="2832" y="2653"/>
              <a:ext cx="38" cy="28"/>
            </a:xfrm>
            <a:custGeom>
              <a:avLst/>
              <a:gdLst>
                <a:gd name="T0" fmla="*/ 0 w 38"/>
                <a:gd name="T1" fmla="*/ 27 h 28"/>
                <a:gd name="T2" fmla="*/ 37 w 38"/>
                <a:gd name="T3" fmla="*/ 27 h 28"/>
                <a:gd name="T4" fmla="*/ 37 w 38"/>
                <a:gd name="T5" fmla="*/ 0 h 28"/>
                <a:gd name="T6" fmla="*/ 0 w 38"/>
                <a:gd name="T7" fmla="*/ 0 h 28"/>
                <a:gd name="T8" fmla="*/ 0 w 38"/>
                <a:gd name="T9" fmla="*/ 27 h 28"/>
                <a:gd name="T10" fmla="*/ 0 w 38"/>
                <a:gd name="T11" fmla="*/ 27 h 28"/>
                <a:gd name="T12" fmla="*/ 0 60000 65536"/>
                <a:gd name="T13" fmla="*/ 0 60000 65536"/>
                <a:gd name="T14" fmla="*/ 0 60000 65536"/>
                <a:gd name="T15" fmla="*/ 0 60000 65536"/>
                <a:gd name="T16" fmla="*/ 0 60000 65536"/>
                <a:gd name="T17" fmla="*/ 0 60000 65536"/>
                <a:gd name="T18" fmla="*/ 0 w 38"/>
                <a:gd name="T19" fmla="*/ 0 h 28"/>
                <a:gd name="T20" fmla="*/ 38 w 3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8" h="28">
                  <a:moveTo>
                    <a:pt x="0" y="27"/>
                  </a:moveTo>
                  <a:lnTo>
                    <a:pt x="37" y="27"/>
                  </a:lnTo>
                  <a:lnTo>
                    <a:pt x="37"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59" name="Line 6323"/>
            <p:cNvSpPr>
              <a:spLocks noChangeShapeType="1"/>
            </p:cNvSpPr>
            <p:nvPr/>
          </p:nvSpPr>
          <p:spPr bwMode="auto">
            <a:xfrm>
              <a:off x="2786"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0" name="Freeform 6324"/>
            <p:cNvSpPr>
              <a:spLocks/>
            </p:cNvSpPr>
            <p:nvPr/>
          </p:nvSpPr>
          <p:spPr bwMode="auto">
            <a:xfrm>
              <a:off x="2786" y="2647"/>
              <a:ext cx="47" cy="28"/>
            </a:xfrm>
            <a:custGeom>
              <a:avLst/>
              <a:gdLst>
                <a:gd name="T0" fmla="*/ 0 w 47"/>
                <a:gd name="T1" fmla="*/ 27 h 28"/>
                <a:gd name="T2" fmla="*/ 46 w 47"/>
                <a:gd name="T3" fmla="*/ 0 h 28"/>
                <a:gd name="T4" fmla="*/ 46 w 47"/>
                <a:gd name="T5" fmla="*/ 27 h 28"/>
                <a:gd name="T6" fmla="*/ 0 w 47"/>
                <a:gd name="T7" fmla="*/ 27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27"/>
                  </a:moveTo>
                  <a:lnTo>
                    <a:pt x="46" y="0"/>
                  </a:lnTo>
                  <a:lnTo>
                    <a:pt x="46"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1" name="Freeform 6325"/>
            <p:cNvSpPr>
              <a:spLocks/>
            </p:cNvSpPr>
            <p:nvPr/>
          </p:nvSpPr>
          <p:spPr bwMode="auto">
            <a:xfrm>
              <a:off x="2786" y="2647"/>
              <a:ext cx="47" cy="28"/>
            </a:xfrm>
            <a:custGeom>
              <a:avLst/>
              <a:gdLst>
                <a:gd name="T0" fmla="*/ 0 w 47"/>
                <a:gd name="T1" fmla="*/ 0 h 28"/>
                <a:gd name="T2" fmla="*/ 46 w 47"/>
                <a:gd name="T3" fmla="*/ 0 h 28"/>
                <a:gd name="T4" fmla="*/ 0 w 47"/>
                <a:gd name="T5" fmla="*/ 27 h 28"/>
                <a:gd name="T6" fmla="*/ 0 w 47"/>
                <a:gd name="T7" fmla="*/ 0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0"/>
                  </a:moveTo>
                  <a:lnTo>
                    <a:pt x="46"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2" name="Freeform 6326"/>
            <p:cNvSpPr>
              <a:spLocks/>
            </p:cNvSpPr>
            <p:nvPr/>
          </p:nvSpPr>
          <p:spPr bwMode="auto">
            <a:xfrm>
              <a:off x="2786" y="2647"/>
              <a:ext cx="47" cy="28"/>
            </a:xfrm>
            <a:custGeom>
              <a:avLst/>
              <a:gdLst>
                <a:gd name="T0" fmla="*/ 0 w 47"/>
                <a:gd name="T1" fmla="*/ 27 h 28"/>
                <a:gd name="T2" fmla="*/ 46 w 47"/>
                <a:gd name="T3" fmla="*/ 27 h 28"/>
                <a:gd name="T4" fmla="*/ 46 w 47"/>
                <a:gd name="T5" fmla="*/ 0 h 28"/>
                <a:gd name="T6" fmla="*/ 0 w 47"/>
                <a:gd name="T7" fmla="*/ 0 h 28"/>
                <a:gd name="T8" fmla="*/ 0 w 47"/>
                <a:gd name="T9" fmla="*/ 27 h 28"/>
                <a:gd name="T10" fmla="*/ 0 w 47"/>
                <a:gd name="T11" fmla="*/ 27 h 28"/>
                <a:gd name="T12" fmla="*/ 0 60000 65536"/>
                <a:gd name="T13" fmla="*/ 0 60000 65536"/>
                <a:gd name="T14" fmla="*/ 0 60000 65536"/>
                <a:gd name="T15" fmla="*/ 0 60000 65536"/>
                <a:gd name="T16" fmla="*/ 0 60000 65536"/>
                <a:gd name="T17" fmla="*/ 0 60000 65536"/>
                <a:gd name="T18" fmla="*/ 0 w 47"/>
                <a:gd name="T19" fmla="*/ 0 h 28"/>
                <a:gd name="T20" fmla="*/ 47 w 4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7" h="28">
                  <a:moveTo>
                    <a:pt x="0" y="27"/>
                  </a:moveTo>
                  <a:lnTo>
                    <a:pt x="46" y="27"/>
                  </a:lnTo>
                  <a:lnTo>
                    <a:pt x="46"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3" name="Line 6327"/>
            <p:cNvSpPr>
              <a:spLocks noChangeShapeType="1"/>
            </p:cNvSpPr>
            <p:nvPr/>
          </p:nvSpPr>
          <p:spPr bwMode="auto">
            <a:xfrm>
              <a:off x="2752" y="2669"/>
              <a:ext cx="3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4" name="Freeform 6328"/>
            <p:cNvSpPr>
              <a:spLocks/>
            </p:cNvSpPr>
            <p:nvPr/>
          </p:nvSpPr>
          <p:spPr bwMode="auto">
            <a:xfrm>
              <a:off x="2752" y="2632"/>
              <a:ext cx="35" cy="38"/>
            </a:xfrm>
            <a:custGeom>
              <a:avLst/>
              <a:gdLst>
                <a:gd name="T0" fmla="*/ 0 w 35"/>
                <a:gd name="T1" fmla="*/ 37 h 38"/>
                <a:gd name="T2" fmla="*/ 34 w 35"/>
                <a:gd name="T3" fmla="*/ 0 h 38"/>
                <a:gd name="T4" fmla="*/ 34 w 35"/>
                <a:gd name="T5" fmla="*/ 37 h 38"/>
                <a:gd name="T6" fmla="*/ 0 w 35"/>
                <a:gd name="T7" fmla="*/ 37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37"/>
                  </a:moveTo>
                  <a:lnTo>
                    <a:pt x="34" y="0"/>
                  </a:lnTo>
                  <a:lnTo>
                    <a:pt x="34" y="37"/>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5" name="Freeform 6329"/>
            <p:cNvSpPr>
              <a:spLocks/>
            </p:cNvSpPr>
            <p:nvPr/>
          </p:nvSpPr>
          <p:spPr bwMode="auto">
            <a:xfrm>
              <a:off x="2752" y="2632"/>
              <a:ext cx="35" cy="38"/>
            </a:xfrm>
            <a:custGeom>
              <a:avLst/>
              <a:gdLst>
                <a:gd name="T0" fmla="*/ 0 w 35"/>
                <a:gd name="T1" fmla="*/ 0 h 38"/>
                <a:gd name="T2" fmla="*/ 34 w 35"/>
                <a:gd name="T3" fmla="*/ 0 h 38"/>
                <a:gd name="T4" fmla="*/ 0 w 35"/>
                <a:gd name="T5" fmla="*/ 37 h 38"/>
                <a:gd name="T6" fmla="*/ 0 w 35"/>
                <a:gd name="T7" fmla="*/ 0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0"/>
                  </a:moveTo>
                  <a:lnTo>
                    <a:pt x="34" y="0"/>
                  </a:lnTo>
                  <a:lnTo>
                    <a:pt x="0" y="3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6" name="Freeform 6330"/>
            <p:cNvSpPr>
              <a:spLocks/>
            </p:cNvSpPr>
            <p:nvPr/>
          </p:nvSpPr>
          <p:spPr bwMode="auto">
            <a:xfrm>
              <a:off x="2752" y="2632"/>
              <a:ext cx="35" cy="38"/>
            </a:xfrm>
            <a:custGeom>
              <a:avLst/>
              <a:gdLst>
                <a:gd name="T0" fmla="*/ 0 w 35"/>
                <a:gd name="T1" fmla="*/ 37 h 38"/>
                <a:gd name="T2" fmla="*/ 34 w 35"/>
                <a:gd name="T3" fmla="*/ 37 h 38"/>
                <a:gd name="T4" fmla="*/ 34 w 35"/>
                <a:gd name="T5" fmla="*/ 0 h 38"/>
                <a:gd name="T6" fmla="*/ 0 w 35"/>
                <a:gd name="T7" fmla="*/ 0 h 38"/>
                <a:gd name="T8" fmla="*/ 0 w 35"/>
                <a:gd name="T9" fmla="*/ 37 h 38"/>
                <a:gd name="T10" fmla="*/ 0 w 35"/>
                <a:gd name="T11" fmla="*/ 37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0" y="37"/>
                  </a:moveTo>
                  <a:lnTo>
                    <a:pt x="34" y="37"/>
                  </a:lnTo>
                  <a:lnTo>
                    <a:pt x="34" y="0"/>
                  </a:lnTo>
                  <a:lnTo>
                    <a:pt x="0" y="0"/>
                  </a:lnTo>
                  <a:lnTo>
                    <a:pt x="0" y="3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7" name="Line 6331"/>
            <p:cNvSpPr>
              <a:spLocks noChangeShapeType="1"/>
            </p:cNvSpPr>
            <p:nvPr/>
          </p:nvSpPr>
          <p:spPr bwMode="auto">
            <a:xfrm>
              <a:off x="2707"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8" name="Line 6332"/>
            <p:cNvSpPr>
              <a:spLocks noChangeShapeType="1"/>
            </p:cNvSpPr>
            <p:nvPr/>
          </p:nvSpPr>
          <p:spPr bwMode="auto">
            <a:xfrm>
              <a:off x="2628"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69" name="Line 6333"/>
            <p:cNvSpPr>
              <a:spLocks noChangeShapeType="1"/>
            </p:cNvSpPr>
            <p:nvPr/>
          </p:nvSpPr>
          <p:spPr bwMode="auto">
            <a:xfrm>
              <a:off x="2583"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0" name="Line 6334"/>
            <p:cNvSpPr>
              <a:spLocks noChangeShapeType="1"/>
            </p:cNvSpPr>
            <p:nvPr/>
          </p:nvSpPr>
          <p:spPr bwMode="auto">
            <a:xfrm>
              <a:off x="2503"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1" name="Line 6335"/>
            <p:cNvSpPr>
              <a:spLocks noChangeShapeType="1"/>
            </p:cNvSpPr>
            <p:nvPr/>
          </p:nvSpPr>
          <p:spPr bwMode="auto">
            <a:xfrm>
              <a:off x="2469" y="2669"/>
              <a:ext cx="3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2" name="Line 6336"/>
            <p:cNvSpPr>
              <a:spLocks noChangeShapeType="1"/>
            </p:cNvSpPr>
            <p:nvPr/>
          </p:nvSpPr>
          <p:spPr bwMode="auto">
            <a:xfrm>
              <a:off x="2423"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3" name="Line 6337"/>
            <p:cNvSpPr>
              <a:spLocks noChangeShapeType="1"/>
            </p:cNvSpPr>
            <p:nvPr/>
          </p:nvSpPr>
          <p:spPr bwMode="auto">
            <a:xfrm>
              <a:off x="2378"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4" name="Line 6338"/>
            <p:cNvSpPr>
              <a:spLocks noChangeShapeType="1"/>
            </p:cNvSpPr>
            <p:nvPr/>
          </p:nvSpPr>
          <p:spPr bwMode="auto">
            <a:xfrm>
              <a:off x="2341"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5" name="Line 6339"/>
            <p:cNvSpPr>
              <a:spLocks noChangeShapeType="1"/>
            </p:cNvSpPr>
            <p:nvPr/>
          </p:nvSpPr>
          <p:spPr bwMode="auto">
            <a:xfrm>
              <a:off x="2299"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6" name="Line 6340"/>
            <p:cNvSpPr>
              <a:spLocks noChangeShapeType="1"/>
            </p:cNvSpPr>
            <p:nvPr/>
          </p:nvSpPr>
          <p:spPr bwMode="auto">
            <a:xfrm>
              <a:off x="2262"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7" name="Line 6341"/>
            <p:cNvSpPr>
              <a:spLocks noChangeShapeType="1"/>
            </p:cNvSpPr>
            <p:nvPr/>
          </p:nvSpPr>
          <p:spPr bwMode="auto">
            <a:xfrm>
              <a:off x="2216"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8" name="Line 6342"/>
            <p:cNvSpPr>
              <a:spLocks noChangeShapeType="1"/>
            </p:cNvSpPr>
            <p:nvPr/>
          </p:nvSpPr>
          <p:spPr bwMode="auto">
            <a:xfrm>
              <a:off x="2184" y="2669"/>
              <a:ext cx="3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79" name="Line 6343"/>
            <p:cNvSpPr>
              <a:spLocks noChangeShapeType="1"/>
            </p:cNvSpPr>
            <p:nvPr/>
          </p:nvSpPr>
          <p:spPr bwMode="auto">
            <a:xfrm>
              <a:off x="2137" y="2669"/>
              <a:ext cx="4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0" name="Line 6344"/>
            <p:cNvSpPr>
              <a:spLocks noChangeShapeType="1"/>
            </p:cNvSpPr>
            <p:nvPr/>
          </p:nvSpPr>
          <p:spPr bwMode="auto">
            <a:xfrm>
              <a:off x="209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1" name="Line 6345"/>
            <p:cNvSpPr>
              <a:spLocks noChangeShapeType="1"/>
            </p:cNvSpPr>
            <p:nvPr/>
          </p:nvSpPr>
          <p:spPr bwMode="auto">
            <a:xfrm>
              <a:off x="2058"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2" name="Line 6346"/>
            <p:cNvSpPr>
              <a:spLocks noChangeShapeType="1"/>
            </p:cNvSpPr>
            <p:nvPr/>
          </p:nvSpPr>
          <p:spPr bwMode="auto">
            <a:xfrm>
              <a:off x="2013"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3" name="Line 6347"/>
            <p:cNvSpPr>
              <a:spLocks noChangeShapeType="1"/>
            </p:cNvSpPr>
            <p:nvPr/>
          </p:nvSpPr>
          <p:spPr bwMode="auto">
            <a:xfrm>
              <a:off x="1978" y="2669"/>
              <a:ext cx="3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4" name="Line 6348"/>
            <p:cNvSpPr>
              <a:spLocks noChangeShapeType="1"/>
            </p:cNvSpPr>
            <p:nvPr/>
          </p:nvSpPr>
          <p:spPr bwMode="auto">
            <a:xfrm>
              <a:off x="1937"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5" name="Line 6349"/>
            <p:cNvSpPr>
              <a:spLocks noChangeShapeType="1"/>
            </p:cNvSpPr>
            <p:nvPr/>
          </p:nvSpPr>
          <p:spPr bwMode="auto">
            <a:xfrm>
              <a:off x="189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6" name="Line 6350"/>
            <p:cNvSpPr>
              <a:spLocks noChangeShapeType="1"/>
            </p:cNvSpPr>
            <p:nvPr/>
          </p:nvSpPr>
          <p:spPr bwMode="auto">
            <a:xfrm>
              <a:off x="1853"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7" name="Line 6351"/>
            <p:cNvSpPr>
              <a:spLocks noChangeShapeType="1"/>
            </p:cNvSpPr>
            <p:nvPr/>
          </p:nvSpPr>
          <p:spPr bwMode="auto">
            <a:xfrm>
              <a:off x="1815"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8" name="Line 6352"/>
            <p:cNvSpPr>
              <a:spLocks noChangeShapeType="1"/>
            </p:cNvSpPr>
            <p:nvPr/>
          </p:nvSpPr>
          <p:spPr bwMode="auto">
            <a:xfrm>
              <a:off x="1774"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89" name="Line 6353"/>
            <p:cNvSpPr>
              <a:spLocks noChangeShapeType="1"/>
            </p:cNvSpPr>
            <p:nvPr/>
          </p:nvSpPr>
          <p:spPr bwMode="auto">
            <a:xfrm>
              <a:off x="1736"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0" name="Line 6354"/>
            <p:cNvSpPr>
              <a:spLocks noChangeShapeType="1"/>
            </p:cNvSpPr>
            <p:nvPr/>
          </p:nvSpPr>
          <p:spPr bwMode="auto">
            <a:xfrm>
              <a:off x="1692" y="2669"/>
              <a:ext cx="4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1" name="Freeform 6355"/>
            <p:cNvSpPr>
              <a:spLocks/>
            </p:cNvSpPr>
            <p:nvPr/>
          </p:nvSpPr>
          <p:spPr bwMode="auto">
            <a:xfrm>
              <a:off x="1692" y="2653"/>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2" name="Line 6356"/>
            <p:cNvSpPr>
              <a:spLocks noChangeShapeType="1"/>
            </p:cNvSpPr>
            <p:nvPr/>
          </p:nvSpPr>
          <p:spPr bwMode="auto">
            <a:xfrm>
              <a:off x="1651"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3" name="Freeform 6357"/>
            <p:cNvSpPr>
              <a:spLocks/>
            </p:cNvSpPr>
            <p:nvPr/>
          </p:nvSpPr>
          <p:spPr bwMode="auto">
            <a:xfrm>
              <a:off x="1651"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4" name="Freeform 6358"/>
            <p:cNvSpPr>
              <a:spLocks/>
            </p:cNvSpPr>
            <p:nvPr/>
          </p:nvSpPr>
          <p:spPr bwMode="auto">
            <a:xfrm>
              <a:off x="1651"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5" name="Freeform 6359"/>
            <p:cNvSpPr>
              <a:spLocks/>
            </p:cNvSpPr>
            <p:nvPr/>
          </p:nvSpPr>
          <p:spPr bwMode="auto">
            <a:xfrm>
              <a:off x="1651"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6" name="Line 6360"/>
            <p:cNvSpPr>
              <a:spLocks noChangeShapeType="1"/>
            </p:cNvSpPr>
            <p:nvPr/>
          </p:nvSpPr>
          <p:spPr bwMode="auto">
            <a:xfrm>
              <a:off x="1615" y="2669"/>
              <a:ext cx="3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7" name="Freeform 6361"/>
            <p:cNvSpPr>
              <a:spLocks/>
            </p:cNvSpPr>
            <p:nvPr/>
          </p:nvSpPr>
          <p:spPr bwMode="auto">
            <a:xfrm>
              <a:off x="1615" y="2661"/>
              <a:ext cx="37" cy="28"/>
            </a:xfrm>
            <a:custGeom>
              <a:avLst/>
              <a:gdLst>
                <a:gd name="T0" fmla="*/ 0 w 37"/>
                <a:gd name="T1" fmla="*/ 27 h 28"/>
                <a:gd name="T2" fmla="*/ 36 w 37"/>
                <a:gd name="T3" fmla="*/ 0 h 28"/>
                <a:gd name="T4" fmla="*/ 36 w 37"/>
                <a:gd name="T5" fmla="*/ 27 h 28"/>
                <a:gd name="T6" fmla="*/ 0 w 37"/>
                <a:gd name="T7" fmla="*/ 27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27"/>
                  </a:moveTo>
                  <a:lnTo>
                    <a:pt x="36" y="0"/>
                  </a:lnTo>
                  <a:lnTo>
                    <a:pt x="36"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8" name="Freeform 6362"/>
            <p:cNvSpPr>
              <a:spLocks/>
            </p:cNvSpPr>
            <p:nvPr/>
          </p:nvSpPr>
          <p:spPr bwMode="auto">
            <a:xfrm>
              <a:off x="1615" y="2661"/>
              <a:ext cx="37" cy="28"/>
            </a:xfrm>
            <a:custGeom>
              <a:avLst/>
              <a:gdLst>
                <a:gd name="T0" fmla="*/ 0 w 37"/>
                <a:gd name="T1" fmla="*/ 0 h 28"/>
                <a:gd name="T2" fmla="*/ 36 w 37"/>
                <a:gd name="T3" fmla="*/ 0 h 28"/>
                <a:gd name="T4" fmla="*/ 0 w 37"/>
                <a:gd name="T5" fmla="*/ 27 h 28"/>
                <a:gd name="T6" fmla="*/ 0 w 37"/>
                <a:gd name="T7" fmla="*/ 0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0"/>
                  </a:moveTo>
                  <a:lnTo>
                    <a:pt x="36"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99" name="Freeform 6363"/>
            <p:cNvSpPr>
              <a:spLocks/>
            </p:cNvSpPr>
            <p:nvPr/>
          </p:nvSpPr>
          <p:spPr bwMode="auto">
            <a:xfrm>
              <a:off x="1615" y="2661"/>
              <a:ext cx="37" cy="28"/>
            </a:xfrm>
            <a:custGeom>
              <a:avLst/>
              <a:gdLst>
                <a:gd name="T0" fmla="*/ 0 w 37"/>
                <a:gd name="T1" fmla="*/ 27 h 28"/>
                <a:gd name="T2" fmla="*/ 36 w 37"/>
                <a:gd name="T3" fmla="*/ 27 h 28"/>
                <a:gd name="T4" fmla="*/ 36 w 37"/>
                <a:gd name="T5" fmla="*/ 0 h 28"/>
                <a:gd name="T6" fmla="*/ 0 w 37"/>
                <a:gd name="T7" fmla="*/ 0 h 28"/>
                <a:gd name="T8" fmla="*/ 0 w 37"/>
                <a:gd name="T9" fmla="*/ 27 h 28"/>
                <a:gd name="T10" fmla="*/ 0 w 37"/>
                <a:gd name="T11" fmla="*/ 27 h 28"/>
                <a:gd name="T12" fmla="*/ 0 60000 65536"/>
                <a:gd name="T13" fmla="*/ 0 60000 65536"/>
                <a:gd name="T14" fmla="*/ 0 60000 65536"/>
                <a:gd name="T15" fmla="*/ 0 60000 65536"/>
                <a:gd name="T16" fmla="*/ 0 60000 65536"/>
                <a:gd name="T17" fmla="*/ 0 60000 65536"/>
                <a:gd name="T18" fmla="*/ 0 w 37"/>
                <a:gd name="T19" fmla="*/ 0 h 28"/>
                <a:gd name="T20" fmla="*/ 37 w 3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7" h="28">
                  <a:moveTo>
                    <a:pt x="0" y="27"/>
                  </a:moveTo>
                  <a:lnTo>
                    <a:pt x="36" y="27"/>
                  </a:lnTo>
                  <a:lnTo>
                    <a:pt x="36"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0" name="Line 6364"/>
            <p:cNvSpPr>
              <a:spLocks noChangeShapeType="1"/>
            </p:cNvSpPr>
            <p:nvPr/>
          </p:nvSpPr>
          <p:spPr bwMode="auto">
            <a:xfrm>
              <a:off x="1568" y="2669"/>
              <a:ext cx="4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1" name="Freeform 6365"/>
            <p:cNvSpPr>
              <a:spLocks/>
            </p:cNvSpPr>
            <p:nvPr/>
          </p:nvSpPr>
          <p:spPr bwMode="auto">
            <a:xfrm>
              <a:off x="1568" y="2661"/>
              <a:ext cx="48" cy="28"/>
            </a:xfrm>
            <a:custGeom>
              <a:avLst/>
              <a:gdLst>
                <a:gd name="T0" fmla="*/ 0 w 48"/>
                <a:gd name="T1" fmla="*/ 27 h 28"/>
                <a:gd name="T2" fmla="*/ 47 w 48"/>
                <a:gd name="T3" fmla="*/ 0 h 28"/>
                <a:gd name="T4" fmla="*/ 47 w 48"/>
                <a:gd name="T5" fmla="*/ 27 h 28"/>
                <a:gd name="T6" fmla="*/ 0 w 48"/>
                <a:gd name="T7" fmla="*/ 27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27"/>
                  </a:moveTo>
                  <a:lnTo>
                    <a:pt x="47" y="0"/>
                  </a:lnTo>
                  <a:lnTo>
                    <a:pt x="47"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2" name="Freeform 6366"/>
            <p:cNvSpPr>
              <a:spLocks/>
            </p:cNvSpPr>
            <p:nvPr/>
          </p:nvSpPr>
          <p:spPr bwMode="auto">
            <a:xfrm>
              <a:off x="1568" y="2661"/>
              <a:ext cx="48" cy="28"/>
            </a:xfrm>
            <a:custGeom>
              <a:avLst/>
              <a:gdLst>
                <a:gd name="T0" fmla="*/ 0 w 48"/>
                <a:gd name="T1" fmla="*/ 0 h 28"/>
                <a:gd name="T2" fmla="*/ 47 w 48"/>
                <a:gd name="T3" fmla="*/ 0 h 28"/>
                <a:gd name="T4" fmla="*/ 0 w 48"/>
                <a:gd name="T5" fmla="*/ 27 h 28"/>
                <a:gd name="T6" fmla="*/ 0 w 48"/>
                <a:gd name="T7" fmla="*/ 0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0"/>
                  </a:moveTo>
                  <a:lnTo>
                    <a:pt x="47"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3" name="Freeform 6367"/>
            <p:cNvSpPr>
              <a:spLocks/>
            </p:cNvSpPr>
            <p:nvPr/>
          </p:nvSpPr>
          <p:spPr bwMode="auto">
            <a:xfrm>
              <a:off x="1568" y="2661"/>
              <a:ext cx="48" cy="28"/>
            </a:xfrm>
            <a:custGeom>
              <a:avLst/>
              <a:gdLst>
                <a:gd name="T0" fmla="*/ 0 w 48"/>
                <a:gd name="T1" fmla="*/ 27 h 28"/>
                <a:gd name="T2" fmla="*/ 47 w 48"/>
                <a:gd name="T3" fmla="*/ 27 h 28"/>
                <a:gd name="T4" fmla="*/ 47 w 48"/>
                <a:gd name="T5" fmla="*/ 0 h 28"/>
                <a:gd name="T6" fmla="*/ 0 w 48"/>
                <a:gd name="T7" fmla="*/ 0 h 28"/>
                <a:gd name="T8" fmla="*/ 0 w 48"/>
                <a:gd name="T9" fmla="*/ 27 h 28"/>
                <a:gd name="T10" fmla="*/ 0 w 48"/>
                <a:gd name="T11" fmla="*/ 27 h 28"/>
                <a:gd name="T12" fmla="*/ 0 60000 65536"/>
                <a:gd name="T13" fmla="*/ 0 60000 65536"/>
                <a:gd name="T14" fmla="*/ 0 60000 65536"/>
                <a:gd name="T15" fmla="*/ 0 60000 65536"/>
                <a:gd name="T16" fmla="*/ 0 60000 65536"/>
                <a:gd name="T17" fmla="*/ 0 60000 65536"/>
                <a:gd name="T18" fmla="*/ 0 w 48"/>
                <a:gd name="T19" fmla="*/ 0 h 28"/>
                <a:gd name="T20" fmla="*/ 48 w 4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8" h="28">
                  <a:moveTo>
                    <a:pt x="0" y="27"/>
                  </a:moveTo>
                  <a:lnTo>
                    <a:pt x="47" y="27"/>
                  </a:lnTo>
                  <a:lnTo>
                    <a:pt x="47"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4" name="Line 6368"/>
            <p:cNvSpPr>
              <a:spLocks noChangeShapeType="1"/>
            </p:cNvSpPr>
            <p:nvPr/>
          </p:nvSpPr>
          <p:spPr bwMode="auto">
            <a:xfrm>
              <a:off x="1530"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5" name="Freeform 6369"/>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6" name="Line 6370"/>
            <p:cNvSpPr>
              <a:spLocks noChangeShapeType="1"/>
            </p:cNvSpPr>
            <p:nvPr/>
          </p:nvSpPr>
          <p:spPr bwMode="auto">
            <a:xfrm>
              <a:off x="1530"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7" name="Freeform 6371"/>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8" name="Line 6372"/>
            <p:cNvSpPr>
              <a:spLocks noChangeShapeType="1"/>
            </p:cNvSpPr>
            <p:nvPr/>
          </p:nvSpPr>
          <p:spPr bwMode="auto">
            <a:xfrm>
              <a:off x="149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09" name="Freeform 6373"/>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0" name="Line 6374"/>
            <p:cNvSpPr>
              <a:spLocks noChangeShapeType="1"/>
            </p:cNvSpPr>
            <p:nvPr/>
          </p:nvSpPr>
          <p:spPr bwMode="auto">
            <a:xfrm>
              <a:off x="149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1" name="Freeform 6375"/>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2" name="Line 6376"/>
            <p:cNvSpPr>
              <a:spLocks noChangeShapeType="1"/>
            </p:cNvSpPr>
            <p:nvPr/>
          </p:nvSpPr>
          <p:spPr bwMode="auto">
            <a:xfrm>
              <a:off x="145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3" name="Freeform 6377"/>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4" name="Line 6378"/>
            <p:cNvSpPr>
              <a:spLocks noChangeShapeType="1"/>
            </p:cNvSpPr>
            <p:nvPr/>
          </p:nvSpPr>
          <p:spPr bwMode="auto">
            <a:xfrm>
              <a:off x="145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5" name="Freeform 6379"/>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6" name="Line 6380"/>
            <p:cNvSpPr>
              <a:spLocks noChangeShapeType="1"/>
            </p:cNvSpPr>
            <p:nvPr/>
          </p:nvSpPr>
          <p:spPr bwMode="auto">
            <a:xfrm>
              <a:off x="1409"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7" name="Freeform 6381"/>
            <p:cNvSpPr>
              <a:spLocks/>
            </p:cNvSpPr>
            <p:nvPr/>
          </p:nvSpPr>
          <p:spPr bwMode="auto">
            <a:xfrm>
              <a:off x="1409" y="2661"/>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8" name="Freeform 6382"/>
            <p:cNvSpPr>
              <a:spLocks/>
            </p:cNvSpPr>
            <p:nvPr/>
          </p:nvSpPr>
          <p:spPr bwMode="auto">
            <a:xfrm>
              <a:off x="1409" y="2661"/>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19" name="Freeform 6383"/>
            <p:cNvSpPr>
              <a:spLocks/>
            </p:cNvSpPr>
            <p:nvPr/>
          </p:nvSpPr>
          <p:spPr bwMode="auto">
            <a:xfrm>
              <a:off x="1409" y="2661"/>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0" name="Line 6384"/>
            <p:cNvSpPr>
              <a:spLocks noChangeShapeType="1"/>
            </p:cNvSpPr>
            <p:nvPr/>
          </p:nvSpPr>
          <p:spPr bwMode="auto">
            <a:xfrm>
              <a:off x="1367"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1" name="Freeform 6385"/>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60000 65536"/>
                <a:gd name="T9" fmla="*/ 0 60000 65536"/>
                <a:gd name="T10" fmla="*/ 0 60000 65536"/>
                <a:gd name="T11" fmla="*/ 0 60000 65536"/>
                <a:gd name="T12" fmla="*/ 0 w 43"/>
                <a:gd name="T13" fmla="*/ 0 h 1"/>
                <a:gd name="T14" fmla="*/ 43 w 43"/>
                <a:gd name="T15" fmla="*/ 1 h 1"/>
              </a:gdLst>
              <a:ahLst/>
              <a:cxnLst>
                <a:cxn ang="T8">
                  <a:pos x="T0" y="T1"/>
                </a:cxn>
                <a:cxn ang="T9">
                  <a:pos x="T2" y="T3"/>
                </a:cxn>
                <a:cxn ang="T10">
                  <a:pos x="T4" y="T5"/>
                </a:cxn>
                <a:cxn ang="T11">
                  <a:pos x="T6" y="T7"/>
                </a:cxn>
              </a:cxnLst>
              <a:rect l="T12" t="T13" r="T14" b="T15"/>
              <a:pathLst>
                <a:path w="43" h="1">
                  <a:moveTo>
                    <a:pt x="0" y="0"/>
                  </a:moveTo>
                  <a:lnTo>
                    <a:pt x="42"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2" name="Line 6386"/>
            <p:cNvSpPr>
              <a:spLocks noChangeShapeType="1"/>
            </p:cNvSpPr>
            <p:nvPr/>
          </p:nvSpPr>
          <p:spPr bwMode="auto">
            <a:xfrm>
              <a:off x="1367"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3" name="Freeform 6387"/>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w 43"/>
                <a:gd name="T9" fmla="*/ 0 h 1"/>
                <a:gd name="T10" fmla="*/ 0 w 43"/>
                <a:gd name="T11" fmla="*/ 0 h 1"/>
                <a:gd name="T12" fmla="*/ 0 60000 65536"/>
                <a:gd name="T13" fmla="*/ 0 60000 65536"/>
                <a:gd name="T14" fmla="*/ 0 60000 65536"/>
                <a:gd name="T15" fmla="*/ 0 60000 65536"/>
                <a:gd name="T16" fmla="*/ 0 60000 65536"/>
                <a:gd name="T17" fmla="*/ 0 60000 65536"/>
                <a:gd name="T18" fmla="*/ 0 w 43"/>
                <a:gd name="T19" fmla="*/ 0 h 1"/>
                <a:gd name="T20" fmla="*/ 43 w 43"/>
                <a:gd name="T21" fmla="*/ 1 h 1"/>
              </a:gdLst>
              <a:ahLst/>
              <a:cxnLst>
                <a:cxn ang="T12">
                  <a:pos x="T0" y="T1"/>
                </a:cxn>
                <a:cxn ang="T13">
                  <a:pos x="T2" y="T3"/>
                </a:cxn>
                <a:cxn ang="T14">
                  <a:pos x="T4" y="T5"/>
                </a:cxn>
                <a:cxn ang="T15">
                  <a:pos x="T6" y="T7"/>
                </a:cxn>
                <a:cxn ang="T16">
                  <a:pos x="T8" y="T9"/>
                </a:cxn>
                <a:cxn ang="T17">
                  <a:pos x="T10" y="T11"/>
                </a:cxn>
              </a:cxnLst>
              <a:rect l="T18" t="T19" r="T20" b="T21"/>
              <a:pathLst>
                <a:path w="43" h="1">
                  <a:moveTo>
                    <a:pt x="0" y="0"/>
                  </a:moveTo>
                  <a:lnTo>
                    <a:pt x="42"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4" name="Line 6388"/>
            <p:cNvSpPr>
              <a:spLocks noChangeShapeType="1"/>
            </p:cNvSpPr>
            <p:nvPr/>
          </p:nvSpPr>
          <p:spPr bwMode="auto">
            <a:xfrm>
              <a:off x="132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5" name="Freeform 6389"/>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6" name="Line 6390"/>
            <p:cNvSpPr>
              <a:spLocks noChangeShapeType="1"/>
            </p:cNvSpPr>
            <p:nvPr/>
          </p:nvSpPr>
          <p:spPr bwMode="auto">
            <a:xfrm>
              <a:off x="132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7" name="Freeform 6391"/>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8" name="Line 6392"/>
            <p:cNvSpPr>
              <a:spLocks noChangeShapeType="1"/>
            </p:cNvSpPr>
            <p:nvPr/>
          </p:nvSpPr>
          <p:spPr bwMode="auto">
            <a:xfrm>
              <a:off x="1286" y="2669"/>
              <a:ext cx="4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29" name="Freeform 6393"/>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60000 65536"/>
                <a:gd name="T9" fmla="*/ 0 60000 65536"/>
                <a:gd name="T10" fmla="*/ 0 60000 65536"/>
                <a:gd name="T11" fmla="*/ 0 60000 65536"/>
                <a:gd name="T12" fmla="*/ 0 w 44"/>
                <a:gd name="T13" fmla="*/ 0 h 1"/>
                <a:gd name="T14" fmla="*/ 44 w 44"/>
                <a:gd name="T15" fmla="*/ 1 h 1"/>
              </a:gdLst>
              <a:ahLst/>
              <a:cxnLst>
                <a:cxn ang="T8">
                  <a:pos x="T0" y="T1"/>
                </a:cxn>
                <a:cxn ang="T9">
                  <a:pos x="T2" y="T3"/>
                </a:cxn>
                <a:cxn ang="T10">
                  <a:pos x="T4" y="T5"/>
                </a:cxn>
                <a:cxn ang="T11">
                  <a:pos x="T6" y="T7"/>
                </a:cxn>
              </a:cxnLst>
              <a:rect l="T12" t="T13" r="T14" b="T15"/>
              <a:pathLst>
                <a:path w="44" h="1">
                  <a:moveTo>
                    <a:pt x="0" y="0"/>
                  </a:moveTo>
                  <a:lnTo>
                    <a:pt x="4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0" name="Line 6394"/>
            <p:cNvSpPr>
              <a:spLocks noChangeShapeType="1"/>
            </p:cNvSpPr>
            <p:nvPr/>
          </p:nvSpPr>
          <p:spPr bwMode="auto">
            <a:xfrm>
              <a:off x="1286" y="2669"/>
              <a:ext cx="4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1" name="Freeform 6395"/>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w 44"/>
                <a:gd name="T9" fmla="*/ 0 h 1"/>
                <a:gd name="T10" fmla="*/ 0 w 44"/>
                <a:gd name="T11" fmla="*/ 0 h 1"/>
                <a:gd name="T12" fmla="*/ 0 60000 65536"/>
                <a:gd name="T13" fmla="*/ 0 60000 65536"/>
                <a:gd name="T14" fmla="*/ 0 60000 65536"/>
                <a:gd name="T15" fmla="*/ 0 60000 65536"/>
                <a:gd name="T16" fmla="*/ 0 60000 65536"/>
                <a:gd name="T17" fmla="*/ 0 60000 65536"/>
                <a:gd name="T18" fmla="*/ 0 w 44"/>
                <a:gd name="T19" fmla="*/ 0 h 1"/>
                <a:gd name="T20" fmla="*/ 44 w 4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4" h="1">
                  <a:moveTo>
                    <a:pt x="0" y="0"/>
                  </a:moveTo>
                  <a:lnTo>
                    <a:pt x="43"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2" name="Line 6396"/>
            <p:cNvSpPr>
              <a:spLocks noChangeShapeType="1"/>
            </p:cNvSpPr>
            <p:nvPr/>
          </p:nvSpPr>
          <p:spPr bwMode="auto">
            <a:xfrm>
              <a:off x="1249"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3" name="Freeform 6397"/>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60000 65536"/>
                <a:gd name="T9" fmla="*/ 0 60000 65536"/>
                <a:gd name="T10" fmla="*/ 0 60000 65536"/>
                <a:gd name="T11" fmla="*/ 0 60000 65536"/>
                <a:gd name="T12" fmla="*/ 0 w 38"/>
                <a:gd name="T13" fmla="*/ 0 h 1"/>
                <a:gd name="T14" fmla="*/ 38 w 38"/>
                <a:gd name="T15" fmla="*/ 1 h 1"/>
              </a:gdLst>
              <a:ahLst/>
              <a:cxnLst>
                <a:cxn ang="T8">
                  <a:pos x="T0" y="T1"/>
                </a:cxn>
                <a:cxn ang="T9">
                  <a:pos x="T2" y="T3"/>
                </a:cxn>
                <a:cxn ang="T10">
                  <a:pos x="T4" y="T5"/>
                </a:cxn>
                <a:cxn ang="T11">
                  <a:pos x="T6" y="T7"/>
                </a:cxn>
              </a:cxnLst>
              <a:rect l="T12" t="T13" r="T14" b="T15"/>
              <a:pathLst>
                <a:path w="38" h="1">
                  <a:moveTo>
                    <a:pt x="0" y="0"/>
                  </a:moveTo>
                  <a:lnTo>
                    <a:pt x="3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4" name="Line 6398"/>
            <p:cNvSpPr>
              <a:spLocks noChangeShapeType="1"/>
            </p:cNvSpPr>
            <p:nvPr/>
          </p:nvSpPr>
          <p:spPr bwMode="auto">
            <a:xfrm>
              <a:off x="1249"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5" name="Freeform 6399"/>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w 38"/>
                <a:gd name="T9" fmla="*/ 0 h 1"/>
                <a:gd name="T10" fmla="*/ 0 w 38"/>
                <a:gd name="T11" fmla="*/ 0 h 1"/>
                <a:gd name="T12" fmla="*/ 0 60000 65536"/>
                <a:gd name="T13" fmla="*/ 0 60000 65536"/>
                <a:gd name="T14" fmla="*/ 0 60000 65536"/>
                <a:gd name="T15" fmla="*/ 0 60000 65536"/>
                <a:gd name="T16" fmla="*/ 0 60000 65536"/>
                <a:gd name="T17" fmla="*/ 0 60000 65536"/>
                <a:gd name="T18" fmla="*/ 0 w 38"/>
                <a:gd name="T19" fmla="*/ 0 h 1"/>
                <a:gd name="T20" fmla="*/ 38 w 38"/>
                <a:gd name="T21" fmla="*/ 1 h 1"/>
              </a:gdLst>
              <a:ahLst/>
              <a:cxnLst>
                <a:cxn ang="T12">
                  <a:pos x="T0" y="T1"/>
                </a:cxn>
                <a:cxn ang="T13">
                  <a:pos x="T2" y="T3"/>
                </a:cxn>
                <a:cxn ang="T14">
                  <a:pos x="T4" y="T5"/>
                </a:cxn>
                <a:cxn ang="T15">
                  <a:pos x="T6" y="T7"/>
                </a:cxn>
                <a:cxn ang="T16">
                  <a:pos x="T8" y="T9"/>
                </a:cxn>
                <a:cxn ang="T17">
                  <a:pos x="T10" y="T11"/>
                </a:cxn>
              </a:cxnLst>
              <a:rect l="T18" t="T19" r="T20" b="T21"/>
              <a:pathLst>
                <a:path w="38" h="1">
                  <a:moveTo>
                    <a:pt x="0" y="0"/>
                  </a:moveTo>
                  <a:lnTo>
                    <a:pt x="37"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6" name="Freeform 6400"/>
            <p:cNvSpPr>
              <a:spLocks/>
            </p:cNvSpPr>
            <p:nvPr/>
          </p:nvSpPr>
          <p:spPr bwMode="auto">
            <a:xfrm>
              <a:off x="1651" y="2653"/>
              <a:ext cx="26" cy="28"/>
            </a:xfrm>
            <a:custGeom>
              <a:avLst/>
              <a:gdLst>
                <a:gd name="T0" fmla="*/ 25 w 26"/>
                <a:gd name="T1" fmla="*/ 15 h 28"/>
                <a:gd name="T2" fmla="*/ 0 w 26"/>
                <a:gd name="T3" fmla="*/ 0 h 28"/>
                <a:gd name="T4" fmla="*/ 0 w 26"/>
                <a:gd name="T5" fmla="*/ 27 h 28"/>
                <a:gd name="T6" fmla="*/ 25 w 26"/>
                <a:gd name="T7" fmla="*/ 15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5"/>
                  </a:moveTo>
                  <a:lnTo>
                    <a:pt x="0" y="0"/>
                  </a:lnTo>
                  <a:lnTo>
                    <a:pt x="0" y="27"/>
                  </a:lnTo>
                  <a:lnTo>
                    <a:pt x="25"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7" name="Freeform 6401"/>
            <p:cNvSpPr>
              <a:spLocks/>
            </p:cNvSpPr>
            <p:nvPr/>
          </p:nvSpPr>
          <p:spPr bwMode="auto">
            <a:xfrm>
              <a:off x="1651" y="2647"/>
              <a:ext cx="26" cy="28"/>
            </a:xfrm>
            <a:custGeom>
              <a:avLst/>
              <a:gdLst>
                <a:gd name="T0" fmla="*/ 25 w 26"/>
                <a:gd name="T1" fmla="*/ 27 h 28"/>
                <a:gd name="T2" fmla="*/ 25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12"/>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8" name="Freeform 6402"/>
            <p:cNvSpPr>
              <a:spLocks/>
            </p:cNvSpPr>
            <p:nvPr/>
          </p:nvSpPr>
          <p:spPr bwMode="auto">
            <a:xfrm>
              <a:off x="1663" y="2653"/>
              <a:ext cx="27" cy="28"/>
            </a:xfrm>
            <a:custGeom>
              <a:avLst/>
              <a:gdLst>
                <a:gd name="T0" fmla="*/ 0 w 27"/>
                <a:gd name="T1" fmla="*/ 27 h 28"/>
                <a:gd name="T2" fmla="*/ 0 w 27"/>
                <a:gd name="T3" fmla="*/ 27 h 28"/>
                <a:gd name="T4" fmla="*/ 26 w 27"/>
                <a:gd name="T5" fmla="*/ 0 h 28"/>
                <a:gd name="T6" fmla="*/ 0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27"/>
                  </a:moveTo>
                  <a:lnTo>
                    <a:pt x="0" y="27"/>
                  </a:lnTo>
                  <a:lnTo>
                    <a:pt x="26"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39" name="Line 6403"/>
            <p:cNvSpPr>
              <a:spLocks noChangeShapeType="1"/>
            </p:cNvSpPr>
            <p:nvPr/>
          </p:nvSpPr>
          <p:spPr bwMode="auto">
            <a:xfrm>
              <a:off x="1663" y="2661"/>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0" name="Freeform 6404"/>
            <p:cNvSpPr>
              <a:spLocks/>
            </p:cNvSpPr>
            <p:nvPr/>
          </p:nvSpPr>
          <p:spPr bwMode="auto">
            <a:xfrm>
              <a:off x="1663" y="2647"/>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1" name="Freeform 6405"/>
            <p:cNvSpPr>
              <a:spLocks/>
            </p:cNvSpPr>
            <p:nvPr/>
          </p:nvSpPr>
          <p:spPr bwMode="auto">
            <a:xfrm>
              <a:off x="1663" y="2647"/>
              <a:ext cx="27" cy="28"/>
            </a:xfrm>
            <a:custGeom>
              <a:avLst/>
              <a:gdLst>
                <a:gd name="T0" fmla="*/ 26 w 27"/>
                <a:gd name="T1" fmla="*/ 27 h 28"/>
                <a:gd name="T2" fmla="*/ 26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0"/>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2" name="Freeform 6406"/>
            <p:cNvSpPr>
              <a:spLocks/>
            </p:cNvSpPr>
            <p:nvPr/>
          </p:nvSpPr>
          <p:spPr bwMode="auto">
            <a:xfrm>
              <a:off x="1676"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3" name="Line 6407"/>
            <p:cNvSpPr>
              <a:spLocks noChangeShapeType="1"/>
            </p:cNvSpPr>
            <p:nvPr/>
          </p:nvSpPr>
          <p:spPr bwMode="auto">
            <a:xfrm>
              <a:off x="1676" y="266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4" name="Freeform 6408"/>
            <p:cNvSpPr>
              <a:spLocks/>
            </p:cNvSpPr>
            <p:nvPr/>
          </p:nvSpPr>
          <p:spPr bwMode="auto">
            <a:xfrm>
              <a:off x="1676" y="2647"/>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5" name="Freeform 6409"/>
            <p:cNvSpPr>
              <a:spLocks/>
            </p:cNvSpPr>
            <p:nvPr/>
          </p:nvSpPr>
          <p:spPr bwMode="auto">
            <a:xfrm>
              <a:off x="1676" y="2647"/>
              <a:ext cx="26" cy="28"/>
            </a:xfrm>
            <a:custGeom>
              <a:avLst/>
              <a:gdLst>
                <a:gd name="T0" fmla="*/ 25 w 26"/>
                <a:gd name="T1" fmla="*/ 27 h 28"/>
                <a:gd name="T2" fmla="*/ 25 w 26"/>
                <a:gd name="T3" fmla="*/ 0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0"/>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6" name="Freeform 6410"/>
            <p:cNvSpPr>
              <a:spLocks/>
            </p:cNvSpPr>
            <p:nvPr/>
          </p:nvSpPr>
          <p:spPr bwMode="auto">
            <a:xfrm>
              <a:off x="1689"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7" name="Line 6411"/>
            <p:cNvSpPr>
              <a:spLocks noChangeShapeType="1"/>
            </p:cNvSpPr>
            <p:nvPr/>
          </p:nvSpPr>
          <p:spPr bwMode="auto">
            <a:xfrm>
              <a:off x="1689" y="2661"/>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8" name="Freeform 6412"/>
            <p:cNvSpPr>
              <a:spLocks/>
            </p:cNvSpPr>
            <p:nvPr/>
          </p:nvSpPr>
          <p:spPr bwMode="auto">
            <a:xfrm>
              <a:off x="1689" y="2647"/>
              <a:ext cx="24" cy="28"/>
            </a:xfrm>
            <a:custGeom>
              <a:avLst/>
              <a:gdLst>
                <a:gd name="T0" fmla="*/ 23 w 24"/>
                <a:gd name="T1" fmla="*/ 12 h 28"/>
                <a:gd name="T2" fmla="*/ 0 w 24"/>
                <a:gd name="T3" fmla="*/ 0 h 28"/>
                <a:gd name="T4" fmla="*/ 0 w 24"/>
                <a:gd name="T5" fmla="*/ 27 h 28"/>
                <a:gd name="T6" fmla="*/ 23 w 24"/>
                <a:gd name="T7" fmla="*/ 12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2"/>
                  </a:moveTo>
                  <a:lnTo>
                    <a:pt x="0" y="0"/>
                  </a:lnTo>
                  <a:lnTo>
                    <a:pt x="0" y="27"/>
                  </a:lnTo>
                  <a:lnTo>
                    <a:pt x="23"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49" name="Freeform 6413"/>
            <p:cNvSpPr>
              <a:spLocks/>
            </p:cNvSpPr>
            <p:nvPr/>
          </p:nvSpPr>
          <p:spPr bwMode="auto">
            <a:xfrm>
              <a:off x="1689" y="2640"/>
              <a:ext cx="24" cy="28"/>
            </a:xfrm>
            <a:custGeom>
              <a:avLst/>
              <a:gdLst>
                <a:gd name="T0" fmla="*/ 23 w 24"/>
                <a:gd name="T1" fmla="*/ 27 h 28"/>
                <a:gd name="T2" fmla="*/ 23 w 24"/>
                <a:gd name="T3" fmla="*/ 0 h 28"/>
                <a:gd name="T4" fmla="*/ 0 w 24"/>
                <a:gd name="T5" fmla="*/ 13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13"/>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0" name="Freeform 6414"/>
            <p:cNvSpPr>
              <a:spLocks/>
            </p:cNvSpPr>
            <p:nvPr/>
          </p:nvSpPr>
          <p:spPr bwMode="auto">
            <a:xfrm>
              <a:off x="1701"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1" name="Line 6415"/>
            <p:cNvSpPr>
              <a:spLocks noChangeShapeType="1"/>
            </p:cNvSpPr>
            <p:nvPr/>
          </p:nvSpPr>
          <p:spPr bwMode="auto">
            <a:xfrm>
              <a:off x="1701" y="2653"/>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2" name="Freeform 6416"/>
            <p:cNvSpPr>
              <a:spLocks/>
            </p:cNvSpPr>
            <p:nvPr/>
          </p:nvSpPr>
          <p:spPr bwMode="auto">
            <a:xfrm>
              <a:off x="1701" y="2640"/>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3" name="Freeform 6417"/>
            <p:cNvSpPr>
              <a:spLocks/>
            </p:cNvSpPr>
            <p:nvPr/>
          </p:nvSpPr>
          <p:spPr bwMode="auto">
            <a:xfrm>
              <a:off x="1701" y="2640"/>
              <a:ext cx="27" cy="28"/>
            </a:xfrm>
            <a:custGeom>
              <a:avLst/>
              <a:gdLst>
                <a:gd name="T0" fmla="*/ 26 w 27"/>
                <a:gd name="T1" fmla="*/ 27 h 28"/>
                <a:gd name="T2" fmla="*/ 11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1" y="0"/>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4" name="Freeform 6418"/>
            <p:cNvSpPr>
              <a:spLocks/>
            </p:cNvSpPr>
            <p:nvPr/>
          </p:nvSpPr>
          <p:spPr bwMode="auto">
            <a:xfrm>
              <a:off x="1712"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5" name="Line 6419"/>
            <p:cNvSpPr>
              <a:spLocks noChangeShapeType="1"/>
            </p:cNvSpPr>
            <p:nvPr/>
          </p:nvSpPr>
          <p:spPr bwMode="auto">
            <a:xfrm>
              <a:off x="1712" y="265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6" name="Freeform 6420"/>
            <p:cNvSpPr>
              <a:spLocks/>
            </p:cNvSpPr>
            <p:nvPr/>
          </p:nvSpPr>
          <p:spPr bwMode="auto">
            <a:xfrm>
              <a:off x="1705" y="2640"/>
              <a:ext cx="25" cy="28"/>
            </a:xfrm>
            <a:custGeom>
              <a:avLst/>
              <a:gdLst>
                <a:gd name="T0" fmla="*/ 24 w 25"/>
                <a:gd name="T1" fmla="*/ 13 h 28"/>
                <a:gd name="T2" fmla="*/ 0 w 25"/>
                <a:gd name="T3" fmla="*/ 0 h 28"/>
                <a:gd name="T4" fmla="*/ 9 w 25"/>
                <a:gd name="T5" fmla="*/ 27 h 28"/>
                <a:gd name="T6" fmla="*/ 24 w 25"/>
                <a:gd name="T7" fmla="*/ 13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13"/>
                  </a:moveTo>
                  <a:lnTo>
                    <a:pt x="0" y="0"/>
                  </a:lnTo>
                  <a:lnTo>
                    <a:pt x="9" y="27"/>
                  </a:lnTo>
                  <a:lnTo>
                    <a:pt x="24"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7" name="Freeform 6421"/>
            <p:cNvSpPr>
              <a:spLocks/>
            </p:cNvSpPr>
            <p:nvPr/>
          </p:nvSpPr>
          <p:spPr bwMode="auto">
            <a:xfrm>
              <a:off x="1705" y="2632"/>
              <a:ext cx="25" cy="27"/>
            </a:xfrm>
            <a:custGeom>
              <a:avLst/>
              <a:gdLst>
                <a:gd name="T0" fmla="*/ 24 w 25"/>
                <a:gd name="T1" fmla="*/ 26 h 27"/>
                <a:gd name="T2" fmla="*/ 16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6" y="0"/>
                  </a:lnTo>
                  <a:lnTo>
                    <a:pt x="0" y="14"/>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8" name="Freeform 6422"/>
            <p:cNvSpPr>
              <a:spLocks/>
            </p:cNvSpPr>
            <p:nvPr/>
          </p:nvSpPr>
          <p:spPr bwMode="auto">
            <a:xfrm>
              <a:off x="1722" y="2640"/>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59" name="Line 6423"/>
            <p:cNvSpPr>
              <a:spLocks noChangeShapeType="1"/>
            </p:cNvSpPr>
            <p:nvPr/>
          </p:nvSpPr>
          <p:spPr bwMode="auto">
            <a:xfrm>
              <a:off x="1722" y="264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0" name="Freeform 6424"/>
            <p:cNvSpPr>
              <a:spLocks/>
            </p:cNvSpPr>
            <p:nvPr/>
          </p:nvSpPr>
          <p:spPr bwMode="auto">
            <a:xfrm>
              <a:off x="1718" y="2632"/>
              <a:ext cx="27" cy="27"/>
            </a:xfrm>
            <a:custGeom>
              <a:avLst/>
              <a:gdLst>
                <a:gd name="T0" fmla="*/ 26 w 27"/>
                <a:gd name="T1" fmla="*/ 14 h 27"/>
                <a:gd name="T2" fmla="*/ 0 w 27"/>
                <a:gd name="T3" fmla="*/ 0 h 27"/>
                <a:gd name="T4" fmla="*/ 8 w 27"/>
                <a:gd name="T5" fmla="*/ 26 h 27"/>
                <a:gd name="T6" fmla="*/ 26 w 27"/>
                <a:gd name="T7" fmla="*/ 14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4"/>
                  </a:moveTo>
                  <a:lnTo>
                    <a:pt x="0" y="0"/>
                  </a:lnTo>
                  <a:lnTo>
                    <a:pt x="8" y="26"/>
                  </a:lnTo>
                  <a:lnTo>
                    <a:pt x="26"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1" name="Freeform 6425"/>
            <p:cNvSpPr>
              <a:spLocks/>
            </p:cNvSpPr>
            <p:nvPr/>
          </p:nvSpPr>
          <p:spPr bwMode="auto">
            <a:xfrm>
              <a:off x="1718" y="2632"/>
              <a:ext cx="27" cy="27"/>
            </a:xfrm>
            <a:custGeom>
              <a:avLst/>
              <a:gdLst>
                <a:gd name="T0" fmla="*/ 26 w 27"/>
                <a:gd name="T1" fmla="*/ 26 h 27"/>
                <a:gd name="T2" fmla="*/ 18 w 27"/>
                <a:gd name="T3" fmla="*/ 0 h 27"/>
                <a:gd name="T4" fmla="*/ 0 w 27"/>
                <a:gd name="T5" fmla="*/ 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0"/>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2" name="Freeform 6426"/>
            <p:cNvSpPr>
              <a:spLocks/>
            </p:cNvSpPr>
            <p:nvPr/>
          </p:nvSpPr>
          <p:spPr bwMode="auto">
            <a:xfrm>
              <a:off x="1736" y="263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3" name="Line 6427"/>
            <p:cNvSpPr>
              <a:spLocks noChangeShapeType="1"/>
            </p:cNvSpPr>
            <p:nvPr/>
          </p:nvSpPr>
          <p:spPr bwMode="auto">
            <a:xfrm>
              <a:off x="1736" y="2640"/>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4" name="Freeform 6428"/>
            <p:cNvSpPr>
              <a:spLocks/>
            </p:cNvSpPr>
            <p:nvPr/>
          </p:nvSpPr>
          <p:spPr bwMode="auto">
            <a:xfrm>
              <a:off x="1731" y="2632"/>
              <a:ext cx="26" cy="27"/>
            </a:xfrm>
            <a:custGeom>
              <a:avLst/>
              <a:gdLst>
                <a:gd name="T0" fmla="*/ 25 w 26"/>
                <a:gd name="T1" fmla="*/ 26 h 27"/>
                <a:gd name="T2" fmla="*/ 0 w 26"/>
                <a:gd name="T3" fmla="*/ 0 h 27"/>
                <a:gd name="T4" fmla="*/ 7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0" y="0"/>
                  </a:lnTo>
                  <a:lnTo>
                    <a:pt x="7" y="26"/>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5" name="Freeform 6429"/>
            <p:cNvSpPr>
              <a:spLocks/>
            </p:cNvSpPr>
            <p:nvPr/>
          </p:nvSpPr>
          <p:spPr bwMode="auto">
            <a:xfrm>
              <a:off x="1731" y="2626"/>
              <a:ext cx="26" cy="27"/>
            </a:xfrm>
            <a:custGeom>
              <a:avLst/>
              <a:gdLst>
                <a:gd name="T0" fmla="*/ 25 w 26"/>
                <a:gd name="T1" fmla="*/ 26 h 27"/>
                <a:gd name="T2" fmla="*/ 15 w 26"/>
                <a:gd name="T3" fmla="*/ 0 h 27"/>
                <a:gd name="T4" fmla="*/ 0 w 26"/>
                <a:gd name="T5" fmla="*/ 11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11"/>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6" name="Freeform 6430"/>
            <p:cNvSpPr>
              <a:spLocks/>
            </p:cNvSpPr>
            <p:nvPr/>
          </p:nvSpPr>
          <p:spPr bwMode="auto">
            <a:xfrm>
              <a:off x="1750"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7" name="Line 6431"/>
            <p:cNvSpPr>
              <a:spLocks noChangeShapeType="1"/>
            </p:cNvSpPr>
            <p:nvPr/>
          </p:nvSpPr>
          <p:spPr bwMode="auto">
            <a:xfrm>
              <a:off x="1750" y="2640"/>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8" name="Freeform 6432"/>
            <p:cNvSpPr>
              <a:spLocks/>
            </p:cNvSpPr>
            <p:nvPr/>
          </p:nvSpPr>
          <p:spPr bwMode="auto">
            <a:xfrm>
              <a:off x="1742" y="2626"/>
              <a:ext cx="26" cy="27"/>
            </a:xfrm>
            <a:custGeom>
              <a:avLst/>
              <a:gdLst>
                <a:gd name="T0" fmla="*/ 25 w 26"/>
                <a:gd name="T1" fmla="*/ 11 h 27"/>
                <a:gd name="T2" fmla="*/ 0 w 26"/>
                <a:gd name="T3" fmla="*/ 0 h 27"/>
                <a:gd name="T4" fmla="*/ 9 w 26"/>
                <a:gd name="T5" fmla="*/ 26 h 27"/>
                <a:gd name="T6" fmla="*/ 25 w 26"/>
                <a:gd name="T7" fmla="*/ 11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1"/>
                  </a:moveTo>
                  <a:lnTo>
                    <a:pt x="0" y="0"/>
                  </a:lnTo>
                  <a:lnTo>
                    <a:pt x="9" y="26"/>
                  </a:lnTo>
                  <a:lnTo>
                    <a:pt x="25"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69" name="Freeform 6433"/>
            <p:cNvSpPr>
              <a:spLocks/>
            </p:cNvSpPr>
            <p:nvPr/>
          </p:nvSpPr>
          <p:spPr bwMode="auto">
            <a:xfrm>
              <a:off x="1742" y="2619"/>
              <a:ext cx="26" cy="27"/>
            </a:xfrm>
            <a:custGeom>
              <a:avLst/>
              <a:gdLst>
                <a:gd name="T0" fmla="*/ 25 w 26"/>
                <a:gd name="T1" fmla="*/ 26 h 27"/>
                <a:gd name="T2" fmla="*/ 17 w 26"/>
                <a:gd name="T3" fmla="*/ 0 h 27"/>
                <a:gd name="T4" fmla="*/ 0 w 26"/>
                <a:gd name="T5" fmla="*/ 13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7" y="0"/>
                  </a:lnTo>
                  <a:lnTo>
                    <a:pt x="0" y="13"/>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0" name="Freeform 6434"/>
            <p:cNvSpPr>
              <a:spLocks/>
            </p:cNvSpPr>
            <p:nvPr/>
          </p:nvSpPr>
          <p:spPr bwMode="auto">
            <a:xfrm>
              <a:off x="1759"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1" name="Line 6435"/>
            <p:cNvSpPr>
              <a:spLocks noChangeShapeType="1"/>
            </p:cNvSpPr>
            <p:nvPr/>
          </p:nvSpPr>
          <p:spPr bwMode="auto">
            <a:xfrm>
              <a:off x="1759" y="2632"/>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2" name="Freeform 6436"/>
            <p:cNvSpPr>
              <a:spLocks/>
            </p:cNvSpPr>
            <p:nvPr/>
          </p:nvSpPr>
          <p:spPr bwMode="auto">
            <a:xfrm>
              <a:off x="1754" y="2619"/>
              <a:ext cx="27" cy="27"/>
            </a:xfrm>
            <a:custGeom>
              <a:avLst/>
              <a:gdLst>
                <a:gd name="T0" fmla="*/ 26 w 27"/>
                <a:gd name="T1" fmla="*/ 13 h 27"/>
                <a:gd name="T2" fmla="*/ 0 w 27"/>
                <a:gd name="T3" fmla="*/ 0 h 27"/>
                <a:gd name="T4" fmla="*/ 8 w 27"/>
                <a:gd name="T5" fmla="*/ 26 h 27"/>
                <a:gd name="T6" fmla="*/ 26 w 27"/>
                <a:gd name="T7" fmla="*/ 13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3"/>
                  </a:moveTo>
                  <a:lnTo>
                    <a:pt x="0" y="0"/>
                  </a:lnTo>
                  <a:lnTo>
                    <a:pt x="8" y="26"/>
                  </a:lnTo>
                  <a:lnTo>
                    <a:pt x="26"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3" name="Freeform 6437"/>
            <p:cNvSpPr>
              <a:spLocks/>
            </p:cNvSpPr>
            <p:nvPr/>
          </p:nvSpPr>
          <p:spPr bwMode="auto">
            <a:xfrm>
              <a:off x="1754" y="2611"/>
              <a:ext cx="27" cy="27"/>
            </a:xfrm>
            <a:custGeom>
              <a:avLst/>
              <a:gdLst>
                <a:gd name="T0" fmla="*/ 26 w 27"/>
                <a:gd name="T1" fmla="*/ 26 h 27"/>
                <a:gd name="T2" fmla="*/ 18 w 27"/>
                <a:gd name="T3" fmla="*/ 0 h 27"/>
                <a:gd name="T4" fmla="*/ 0 w 27"/>
                <a:gd name="T5" fmla="*/ 14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14"/>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4" name="Freeform 6438"/>
            <p:cNvSpPr>
              <a:spLocks/>
            </p:cNvSpPr>
            <p:nvPr/>
          </p:nvSpPr>
          <p:spPr bwMode="auto">
            <a:xfrm>
              <a:off x="1774" y="2619"/>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5" name="Line 6439"/>
            <p:cNvSpPr>
              <a:spLocks noChangeShapeType="1"/>
            </p:cNvSpPr>
            <p:nvPr/>
          </p:nvSpPr>
          <p:spPr bwMode="auto">
            <a:xfrm>
              <a:off x="1774" y="2626"/>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6" name="Freeform 6440"/>
            <p:cNvSpPr>
              <a:spLocks/>
            </p:cNvSpPr>
            <p:nvPr/>
          </p:nvSpPr>
          <p:spPr bwMode="auto">
            <a:xfrm>
              <a:off x="1767" y="2611"/>
              <a:ext cx="26" cy="27"/>
            </a:xfrm>
            <a:custGeom>
              <a:avLst/>
              <a:gdLst>
                <a:gd name="T0" fmla="*/ 25 w 26"/>
                <a:gd name="T1" fmla="*/ 14 h 27"/>
                <a:gd name="T2" fmla="*/ 0 w 26"/>
                <a:gd name="T3" fmla="*/ 0 h 27"/>
                <a:gd name="T4" fmla="*/ 7 w 26"/>
                <a:gd name="T5" fmla="*/ 26 h 27"/>
                <a:gd name="T6" fmla="*/ 25 w 26"/>
                <a:gd name="T7" fmla="*/ 14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4"/>
                  </a:moveTo>
                  <a:lnTo>
                    <a:pt x="0" y="0"/>
                  </a:lnTo>
                  <a:lnTo>
                    <a:pt x="7" y="26"/>
                  </a:lnTo>
                  <a:lnTo>
                    <a:pt x="25"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7" name="Freeform 6441"/>
            <p:cNvSpPr>
              <a:spLocks/>
            </p:cNvSpPr>
            <p:nvPr/>
          </p:nvSpPr>
          <p:spPr bwMode="auto">
            <a:xfrm>
              <a:off x="1767" y="2604"/>
              <a:ext cx="26" cy="28"/>
            </a:xfrm>
            <a:custGeom>
              <a:avLst/>
              <a:gdLst>
                <a:gd name="T0" fmla="*/ 25 w 26"/>
                <a:gd name="T1" fmla="*/ 27 h 28"/>
                <a:gd name="T2" fmla="*/ 17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17" y="0"/>
                  </a:lnTo>
                  <a:lnTo>
                    <a:pt x="0" y="12"/>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8" name="Freeform 6442"/>
            <p:cNvSpPr>
              <a:spLocks/>
            </p:cNvSpPr>
            <p:nvPr/>
          </p:nvSpPr>
          <p:spPr bwMode="auto">
            <a:xfrm>
              <a:off x="1785" y="2604"/>
              <a:ext cx="1" cy="28"/>
            </a:xfrm>
            <a:custGeom>
              <a:avLst/>
              <a:gdLst>
                <a:gd name="T0" fmla="*/ 0 w 1"/>
                <a:gd name="T1" fmla="*/ 12 h 28"/>
                <a:gd name="T2" fmla="*/ 0 w 1"/>
                <a:gd name="T3" fmla="*/ 27 h 28"/>
                <a:gd name="T4" fmla="*/ 0 w 1"/>
                <a:gd name="T5" fmla="*/ 0 h 28"/>
                <a:gd name="T6" fmla="*/ 0 w 1"/>
                <a:gd name="T7" fmla="*/ 12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12"/>
                  </a:moveTo>
                  <a:lnTo>
                    <a:pt x="0" y="27"/>
                  </a:lnTo>
                  <a:lnTo>
                    <a:pt x="0" y="0"/>
                  </a:lnTo>
                  <a:lnTo>
                    <a:pt x="0"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79" name="Freeform 6443"/>
            <p:cNvSpPr>
              <a:spLocks/>
            </p:cNvSpPr>
            <p:nvPr/>
          </p:nvSpPr>
          <p:spPr bwMode="auto">
            <a:xfrm>
              <a:off x="1785" y="2611"/>
              <a:ext cx="1" cy="27"/>
            </a:xfrm>
            <a:custGeom>
              <a:avLst/>
              <a:gdLst>
                <a:gd name="T0" fmla="*/ 0 w 1"/>
                <a:gd name="T1" fmla="*/ 0 h 27"/>
                <a:gd name="T2" fmla="*/ 0 w 1"/>
                <a:gd name="T3" fmla="*/ 26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0" name="Freeform 6444"/>
            <p:cNvSpPr>
              <a:spLocks/>
            </p:cNvSpPr>
            <p:nvPr/>
          </p:nvSpPr>
          <p:spPr bwMode="auto">
            <a:xfrm>
              <a:off x="1781" y="2604"/>
              <a:ext cx="26" cy="28"/>
            </a:xfrm>
            <a:custGeom>
              <a:avLst/>
              <a:gdLst>
                <a:gd name="T0" fmla="*/ 25 w 26"/>
                <a:gd name="T1" fmla="*/ 0 h 28"/>
                <a:gd name="T2" fmla="*/ 0 w 26"/>
                <a:gd name="T3" fmla="*/ 0 h 28"/>
                <a:gd name="T4" fmla="*/ 7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7"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1" name="Freeform 6445"/>
            <p:cNvSpPr>
              <a:spLocks/>
            </p:cNvSpPr>
            <p:nvPr/>
          </p:nvSpPr>
          <p:spPr bwMode="auto">
            <a:xfrm>
              <a:off x="1781" y="2598"/>
              <a:ext cx="26" cy="27"/>
            </a:xfrm>
            <a:custGeom>
              <a:avLst/>
              <a:gdLst>
                <a:gd name="T0" fmla="*/ 25 w 26"/>
                <a:gd name="T1" fmla="*/ 26 h 27"/>
                <a:gd name="T2" fmla="*/ 15 w 26"/>
                <a:gd name="T3" fmla="*/ 0 h 27"/>
                <a:gd name="T4" fmla="*/ 0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26"/>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2" name="Freeform 6446"/>
            <p:cNvSpPr>
              <a:spLocks/>
            </p:cNvSpPr>
            <p:nvPr/>
          </p:nvSpPr>
          <p:spPr bwMode="auto">
            <a:xfrm>
              <a:off x="1797" y="25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3" name="Line 6447"/>
            <p:cNvSpPr>
              <a:spLocks noChangeShapeType="1"/>
            </p:cNvSpPr>
            <p:nvPr/>
          </p:nvSpPr>
          <p:spPr bwMode="auto">
            <a:xfrm>
              <a:off x="1797" y="2604"/>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4" name="Freeform 6448"/>
            <p:cNvSpPr>
              <a:spLocks/>
            </p:cNvSpPr>
            <p:nvPr/>
          </p:nvSpPr>
          <p:spPr bwMode="auto">
            <a:xfrm>
              <a:off x="1792" y="2598"/>
              <a:ext cx="24" cy="27"/>
            </a:xfrm>
            <a:custGeom>
              <a:avLst/>
              <a:gdLst>
                <a:gd name="T0" fmla="*/ 23 w 24"/>
                <a:gd name="T1" fmla="*/ 0 h 27"/>
                <a:gd name="T2" fmla="*/ 0 w 24"/>
                <a:gd name="T3" fmla="*/ 0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0"/>
                  </a:lnTo>
                  <a:lnTo>
                    <a:pt x="8"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5" name="Freeform 6449"/>
            <p:cNvSpPr>
              <a:spLocks/>
            </p:cNvSpPr>
            <p:nvPr/>
          </p:nvSpPr>
          <p:spPr bwMode="auto">
            <a:xfrm>
              <a:off x="1792" y="2584"/>
              <a:ext cx="24" cy="26"/>
            </a:xfrm>
            <a:custGeom>
              <a:avLst/>
              <a:gdLst>
                <a:gd name="T0" fmla="*/ 23 w 24"/>
                <a:gd name="T1" fmla="*/ 25 h 26"/>
                <a:gd name="T2" fmla="*/ 8 w 24"/>
                <a:gd name="T3" fmla="*/ 0 h 26"/>
                <a:gd name="T4" fmla="*/ 0 w 24"/>
                <a:gd name="T5" fmla="*/ 25 h 26"/>
                <a:gd name="T6" fmla="*/ 23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25"/>
                  </a:moveTo>
                  <a:lnTo>
                    <a:pt x="8" y="0"/>
                  </a:lnTo>
                  <a:lnTo>
                    <a:pt x="0" y="25"/>
                  </a:lnTo>
                  <a:lnTo>
                    <a:pt x="23"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6" name="Freeform 6450"/>
            <p:cNvSpPr>
              <a:spLocks/>
            </p:cNvSpPr>
            <p:nvPr/>
          </p:nvSpPr>
          <p:spPr bwMode="auto">
            <a:xfrm>
              <a:off x="1805" y="2589"/>
              <a:ext cx="26" cy="28"/>
            </a:xfrm>
            <a:custGeom>
              <a:avLst/>
              <a:gdLst>
                <a:gd name="T0" fmla="*/ 25 w 26"/>
                <a:gd name="T1" fmla="*/ 27 h 28"/>
                <a:gd name="T2" fmla="*/ 25 w 26"/>
                <a:gd name="T3" fmla="*/ 27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27"/>
                  </a:lnTo>
                  <a:lnTo>
                    <a:pt x="0" y="0"/>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7" name="Line 6451"/>
            <p:cNvSpPr>
              <a:spLocks noChangeShapeType="1"/>
            </p:cNvSpPr>
            <p:nvPr/>
          </p:nvSpPr>
          <p:spPr bwMode="auto">
            <a:xfrm>
              <a:off x="1809" y="2598"/>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8" name="Freeform 6452"/>
            <p:cNvSpPr>
              <a:spLocks/>
            </p:cNvSpPr>
            <p:nvPr/>
          </p:nvSpPr>
          <p:spPr bwMode="auto">
            <a:xfrm>
              <a:off x="1797" y="2584"/>
              <a:ext cx="27" cy="26"/>
            </a:xfrm>
            <a:custGeom>
              <a:avLst/>
              <a:gdLst>
                <a:gd name="T0" fmla="*/ 26 w 27"/>
                <a:gd name="T1" fmla="*/ 0 h 26"/>
                <a:gd name="T2" fmla="*/ 0 w 27"/>
                <a:gd name="T3" fmla="*/ 0 h 26"/>
                <a:gd name="T4" fmla="*/ 12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0"/>
                  </a:lnTo>
                  <a:lnTo>
                    <a:pt x="12" y="2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89" name="Freeform 6453"/>
            <p:cNvSpPr>
              <a:spLocks/>
            </p:cNvSpPr>
            <p:nvPr/>
          </p:nvSpPr>
          <p:spPr bwMode="auto">
            <a:xfrm>
              <a:off x="1797" y="2576"/>
              <a:ext cx="27" cy="28"/>
            </a:xfrm>
            <a:custGeom>
              <a:avLst/>
              <a:gdLst>
                <a:gd name="T0" fmla="*/ 26 w 27"/>
                <a:gd name="T1" fmla="*/ 27 h 28"/>
                <a:gd name="T2" fmla="*/ 12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2"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0" name="Freeform 6454"/>
            <p:cNvSpPr>
              <a:spLocks/>
            </p:cNvSpPr>
            <p:nvPr/>
          </p:nvSpPr>
          <p:spPr bwMode="auto">
            <a:xfrm>
              <a:off x="1815" y="2576"/>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1" name="Line 6455"/>
            <p:cNvSpPr>
              <a:spLocks noChangeShapeType="1"/>
            </p:cNvSpPr>
            <p:nvPr/>
          </p:nvSpPr>
          <p:spPr bwMode="auto">
            <a:xfrm>
              <a:off x="1823" y="2584"/>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2" name="Freeform 6456"/>
            <p:cNvSpPr>
              <a:spLocks/>
            </p:cNvSpPr>
            <p:nvPr/>
          </p:nvSpPr>
          <p:spPr bwMode="auto">
            <a:xfrm>
              <a:off x="1809" y="2568"/>
              <a:ext cx="27" cy="28"/>
            </a:xfrm>
            <a:custGeom>
              <a:avLst/>
              <a:gdLst>
                <a:gd name="T0" fmla="*/ 26 w 27"/>
                <a:gd name="T1" fmla="*/ 0 h 28"/>
                <a:gd name="T2" fmla="*/ 0 w 27"/>
                <a:gd name="T3" fmla="*/ 15 h 28"/>
                <a:gd name="T4" fmla="*/ 13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3"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3" name="Freeform 6457"/>
            <p:cNvSpPr>
              <a:spLocks/>
            </p:cNvSpPr>
            <p:nvPr/>
          </p:nvSpPr>
          <p:spPr bwMode="auto">
            <a:xfrm>
              <a:off x="1809" y="2562"/>
              <a:ext cx="27" cy="27"/>
            </a:xfrm>
            <a:custGeom>
              <a:avLst/>
              <a:gdLst>
                <a:gd name="T0" fmla="*/ 26 w 27"/>
                <a:gd name="T1" fmla="*/ 11 h 27"/>
                <a:gd name="T2" fmla="*/ 13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3" y="0"/>
                  </a:lnTo>
                  <a:lnTo>
                    <a:pt x="0" y="26"/>
                  </a:lnTo>
                  <a:lnTo>
                    <a:pt x="26"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4" name="Freeform 6458"/>
            <p:cNvSpPr>
              <a:spLocks/>
            </p:cNvSpPr>
            <p:nvPr/>
          </p:nvSpPr>
          <p:spPr bwMode="auto">
            <a:xfrm>
              <a:off x="1828" y="2562"/>
              <a:ext cx="26" cy="27"/>
            </a:xfrm>
            <a:custGeom>
              <a:avLst/>
              <a:gdLst>
                <a:gd name="T0" fmla="*/ 25 w 26"/>
                <a:gd name="T1" fmla="*/ 26 h 27"/>
                <a:gd name="T2" fmla="*/ 25 w 26"/>
                <a:gd name="T3" fmla="*/ 26 h 27"/>
                <a:gd name="T4" fmla="*/ 0 w 26"/>
                <a:gd name="T5" fmla="*/ 0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26"/>
                  </a:lnTo>
                  <a:lnTo>
                    <a:pt x="0" y="0"/>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5" name="Line 6459"/>
            <p:cNvSpPr>
              <a:spLocks noChangeShapeType="1"/>
            </p:cNvSpPr>
            <p:nvPr/>
          </p:nvSpPr>
          <p:spPr bwMode="auto">
            <a:xfrm>
              <a:off x="1835" y="25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6" name="Freeform 6460"/>
            <p:cNvSpPr>
              <a:spLocks/>
            </p:cNvSpPr>
            <p:nvPr/>
          </p:nvSpPr>
          <p:spPr bwMode="auto">
            <a:xfrm>
              <a:off x="1823" y="2556"/>
              <a:ext cx="25" cy="26"/>
            </a:xfrm>
            <a:custGeom>
              <a:avLst/>
              <a:gdLst>
                <a:gd name="T0" fmla="*/ 24 w 25"/>
                <a:gd name="T1" fmla="*/ 0 h 26"/>
                <a:gd name="T2" fmla="*/ 0 w 25"/>
                <a:gd name="T3" fmla="*/ 12 h 26"/>
                <a:gd name="T4" fmla="*/ 12 w 25"/>
                <a:gd name="T5" fmla="*/ 25 h 26"/>
                <a:gd name="T6" fmla="*/ 24 w 25"/>
                <a:gd name="T7" fmla="*/ 0 h 26"/>
                <a:gd name="T8" fmla="*/ 0 60000 65536"/>
                <a:gd name="T9" fmla="*/ 0 60000 65536"/>
                <a:gd name="T10" fmla="*/ 0 60000 65536"/>
                <a:gd name="T11" fmla="*/ 0 60000 65536"/>
                <a:gd name="T12" fmla="*/ 0 w 25"/>
                <a:gd name="T13" fmla="*/ 0 h 26"/>
                <a:gd name="T14" fmla="*/ 25 w 25"/>
                <a:gd name="T15" fmla="*/ 26 h 26"/>
              </a:gdLst>
              <a:ahLst/>
              <a:cxnLst>
                <a:cxn ang="T8">
                  <a:pos x="T0" y="T1"/>
                </a:cxn>
                <a:cxn ang="T9">
                  <a:pos x="T2" y="T3"/>
                </a:cxn>
                <a:cxn ang="T10">
                  <a:pos x="T4" y="T5"/>
                </a:cxn>
                <a:cxn ang="T11">
                  <a:pos x="T6" y="T7"/>
                </a:cxn>
              </a:cxnLst>
              <a:rect l="T12" t="T13" r="T14" b="T15"/>
              <a:pathLst>
                <a:path w="25" h="26">
                  <a:moveTo>
                    <a:pt x="24" y="0"/>
                  </a:moveTo>
                  <a:lnTo>
                    <a:pt x="0" y="12"/>
                  </a:lnTo>
                  <a:lnTo>
                    <a:pt x="12" y="25"/>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7" name="Freeform 6461"/>
            <p:cNvSpPr>
              <a:spLocks/>
            </p:cNvSpPr>
            <p:nvPr/>
          </p:nvSpPr>
          <p:spPr bwMode="auto">
            <a:xfrm>
              <a:off x="1823" y="2547"/>
              <a:ext cx="25" cy="27"/>
            </a:xfrm>
            <a:custGeom>
              <a:avLst/>
              <a:gdLst>
                <a:gd name="T0" fmla="*/ 24 w 25"/>
                <a:gd name="T1" fmla="*/ 14 h 27"/>
                <a:gd name="T2" fmla="*/ 12 w 25"/>
                <a:gd name="T3" fmla="*/ 0 h 27"/>
                <a:gd name="T4" fmla="*/ 0 w 25"/>
                <a:gd name="T5" fmla="*/ 26 h 27"/>
                <a:gd name="T6" fmla="*/ 24 w 25"/>
                <a:gd name="T7" fmla="*/ 14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14"/>
                  </a:moveTo>
                  <a:lnTo>
                    <a:pt x="12" y="0"/>
                  </a:lnTo>
                  <a:lnTo>
                    <a:pt x="0" y="26"/>
                  </a:lnTo>
                  <a:lnTo>
                    <a:pt x="24"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8" name="Freeform 6462"/>
            <p:cNvSpPr>
              <a:spLocks/>
            </p:cNvSpPr>
            <p:nvPr/>
          </p:nvSpPr>
          <p:spPr bwMode="auto">
            <a:xfrm>
              <a:off x="1842" y="2547"/>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99" name="Line 6463"/>
            <p:cNvSpPr>
              <a:spLocks noChangeShapeType="1"/>
            </p:cNvSpPr>
            <p:nvPr/>
          </p:nvSpPr>
          <p:spPr bwMode="auto">
            <a:xfrm>
              <a:off x="1846" y="2556"/>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0" name="Freeform 6464"/>
            <p:cNvSpPr>
              <a:spLocks/>
            </p:cNvSpPr>
            <p:nvPr/>
          </p:nvSpPr>
          <p:spPr bwMode="auto">
            <a:xfrm>
              <a:off x="1835" y="2541"/>
              <a:ext cx="27" cy="27"/>
            </a:xfrm>
            <a:custGeom>
              <a:avLst/>
              <a:gdLst>
                <a:gd name="T0" fmla="*/ 26 w 27"/>
                <a:gd name="T1" fmla="*/ 0 h 27"/>
                <a:gd name="T2" fmla="*/ 0 w 27"/>
                <a:gd name="T3" fmla="*/ 11 h 27"/>
                <a:gd name="T4" fmla="*/ 12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0" y="11"/>
                  </a:lnTo>
                  <a:lnTo>
                    <a:pt x="12" y="26"/>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1" name="Freeform 6465"/>
            <p:cNvSpPr>
              <a:spLocks/>
            </p:cNvSpPr>
            <p:nvPr/>
          </p:nvSpPr>
          <p:spPr bwMode="auto">
            <a:xfrm>
              <a:off x="1835" y="2532"/>
              <a:ext cx="27" cy="28"/>
            </a:xfrm>
            <a:custGeom>
              <a:avLst/>
              <a:gdLst>
                <a:gd name="T0" fmla="*/ 26 w 27"/>
                <a:gd name="T1" fmla="*/ 15 h 28"/>
                <a:gd name="T2" fmla="*/ 12 w 27"/>
                <a:gd name="T3" fmla="*/ 0 h 28"/>
                <a:gd name="T4" fmla="*/ 0 w 27"/>
                <a:gd name="T5" fmla="*/ 27 h 28"/>
                <a:gd name="T6" fmla="*/ 26 w 27"/>
                <a:gd name="T7" fmla="*/ 15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5"/>
                  </a:moveTo>
                  <a:lnTo>
                    <a:pt x="12" y="0"/>
                  </a:lnTo>
                  <a:lnTo>
                    <a:pt x="0" y="27"/>
                  </a:lnTo>
                  <a:lnTo>
                    <a:pt x="26"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2" name="Freeform 6466"/>
            <p:cNvSpPr>
              <a:spLocks/>
            </p:cNvSpPr>
            <p:nvPr/>
          </p:nvSpPr>
          <p:spPr bwMode="auto">
            <a:xfrm>
              <a:off x="1853" y="2532"/>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3" name="Line 6467"/>
            <p:cNvSpPr>
              <a:spLocks noChangeShapeType="1"/>
            </p:cNvSpPr>
            <p:nvPr/>
          </p:nvSpPr>
          <p:spPr bwMode="auto">
            <a:xfrm>
              <a:off x="1861" y="25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4" name="Freeform 6468"/>
            <p:cNvSpPr>
              <a:spLocks/>
            </p:cNvSpPr>
            <p:nvPr/>
          </p:nvSpPr>
          <p:spPr bwMode="auto">
            <a:xfrm>
              <a:off x="1846" y="2527"/>
              <a:ext cx="27" cy="26"/>
            </a:xfrm>
            <a:custGeom>
              <a:avLst/>
              <a:gdLst>
                <a:gd name="T0" fmla="*/ 26 w 27"/>
                <a:gd name="T1" fmla="*/ 0 h 26"/>
                <a:gd name="T2" fmla="*/ 0 w 27"/>
                <a:gd name="T3" fmla="*/ 11 h 26"/>
                <a:gd name="T4" fmla="*/ 16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11"/>
                  </a:lnTo>
                  <a:lnTo>
                    <a:pt x="16" y="2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5" name="Freeform 6469"/>
            <p:cNvSpPr>
              <a:spLocks/>
            </p:cNvSpPr>
            <p:nvPr/>
          </p:nvSpPr>
          <p:spPr bwMode="auto">
            <a:xfrm>
              <a:off x="1846" y="2519"/>
              <a:ext cx="27" cy="28"/>
            </a:xfrm>
            <a:custGeom>
              <a:avLst/>
              <a:gdLst>
                <a:gd name="T0" fmla="*/ 26 w 27"/>
                <a:gd name="T1" fmla="*/ 13 h 28"/>
                <a:gd name="T2" fmla="*/ 16 w 27"/>
                <a:gd name="T3" fmla="*/ 0 h 28"/>
                <a:gd name="T4" fmla="*/ 0 w 27"/>
                <a:gd name="T5" fmla="*/ 27 h 28"/>
                <a:gd name="T6" fmla="*/ 26 w 27"/>
                <a:gd name="T7" fmla="*/ 13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3"/>
                  </a:moveTo>
                  <a:lnTo>
                    <a:pt x="16" y="0"/>
                  </a:lnTo>
                  <a:lnTo>
                    <a:pt x="0" y="27"/>
                  </a:lnTo>
                  <a:lnTo>
                    <a:pt x="26"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6" name="Freeform 6470"/>
            <p:cNvSpPr>
              <a:spLocks/>
            </p:cNvSpPr>
            <p:nvPr/>
          </p:nvSpPr>
          <p:spPr bwMode="auto">
            <a:xfrm>
              <a:off x="1868" y="251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7" name="Line 6471"/>
            <p:cNvSpPr>
              <a:spLocks noChangeShapeType="1"/>
            </p:cNvSpPr>
            <p:nvPr/>
          </p:nvSpPr>
          <p:spPr bwMode="auto">
            <a:xfrm>
              <a:off x="1868" y="252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8" name="Freeform 6472"/>
            <p:cNvSpPr>
              <a:spLocks/>
            </p:cNvSpPr>
            <p:nvPr/>
          </p:nvSpPr>
          <p:spPr bwMode="auto">
            <a:xfrm>
              <a:off x="1861" y="2505"/>
              <a:ext cx="24" cy="26"/>
            </a:xfrm>
            <a:custGeom>
              <a:avLst/>
              <a:gdLst>
                <a:gd name="T0" fmla="*/ 23 w 24"/>
                <a:gd name="T1" fmla="*/ 0 h 26"/>
                <a:gd name="T2" fmla="*/ 0 w 24"/>
                <a:gd name="T3" fmla="*/ 17 h 26"/>
                <a:gd name="T4" fmla="*/ 8 w 24"/>
                <a:gd name="T5" fmla="*/ 25 h 26"/>
                <a:gd name="T6" fmla="*/ 23 w 24"/>
                <a:gd name="T7" fmla="*/ 0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0"/>
                  </a:moveTo>
                  <a:lnTo>
                    <a:pt x="0" y="17"/>
                  </a:lnTo>
                  <a:lnTo>
                    <a:pt x="8" y="25"/>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09" name="Freeform 6473"/>
            <p:cNvSpPr>
              <a:spLocks/>
            </p:cNvSpPr>
            <p:nvPr/>
          </p:nvSpPr>
          <p:spPr bwMode="auto">
            <a:xfrm>
              <a:off x="1861" y="2498"/>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0" name="Freeform 6474"/>
            <p:cNvSpPr>
              <a:spLocks/>
            </p:cNvSpPr>
            <p:nvPr/>
          </p:nvSpPr>
          <p:spPr bwMode="auto">
            <a:xfrm>
              <a:off x="1880" y="24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1" name="Line 6475"/>
            <p:cNvSpPr>
              <a:spLocks noChangeShapeType="1"/>
            </p:cNvSpPr>
            <p:nvPr/>
          </p:nvSpPr>
          <p:spPr bwMode="auto">
            <a:xfrm>
              <a:off x="1880" y="2505"/>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2" name="Freeform 6476"/>
            <p:cNvSpPr>
              <a:spLocks/>
            </p:cNvSpPr>
            <p:nvPr/>
          </p:nvSpPr>
          <p:spPr bwMode="auto">
            <a:xfrm>
              <a:off x="1872" y="2489"/>
              <a:ext cx="28" cy="28"/>
            </a:xfrm>
            <a:custGeom>
              <a:avLst/>
              <a:gdLst>
                <a:gd name="T0" fmla="*/ 27 w 28"/>
                <a:gd name="T1" fmla="*/ 0 h 28"/>
                <a:gd name="T2" fmla="*/ 0 w 28"/>
                <a:gd name="T3" fmla="*/ 15 h 28"/>
                <a:gd name="T4" fmla="*/ 8 w 28"/>
                <a:gd name="T5" fmla="*/ 27 h 28"/>
                <a:gd name="T6" fmla="*/ 27 w 28"/>
                <a:gd name="T7" fmla="*/ 0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0"/>
                  </a:moveTo>
                  <a:lnTo>
                    <a:pt x="0" y="15"/>
                  </a:lnTo>
                  <a:lnTo>
                    <a:pt x="8" y="27"/>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3" name="Freeform 6477"/>
            <p:cNvSpPr>
              <a:spLocks/>
            </p:cNvSpPr>
            <p:nvPr/>
          </p:nvSpPr>
          <p:spPr bwMode="auto">
            <a:xfrm>
              <a:off x="1872" y="2484"/>
              <a:ext cx="28" cy="26"/>
            </a:xfrm>
            <a:custGeom>
              <a:avLst/>
              <a:gdLst>
                <a:gd name="T0" fmla="*/ 27 w 28"/>
                <a:gd name="T1" fmla="*/ 11 h 26"/>
                <a:gd name="T2" fmla="*/ 18 w 28"/>
                <a:gd name="T3" fmla="*/ 0 h 26"/>
                <a:gd name="T4" fmla="*/ 0 w 28"/>
                <a:gd name="T5" fmla="*/ 25 h 26"/>
                <a:gd name="T6" fmla="*/ 27 w 28"/>
                <a:gd name="T7" fmla="*/ 11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11"/>
                  </a:moveTo>
                  <a:lnTo>
                    <a:pt x="18" y="0"/>
                  </a:lnTo>
                  <a:lnTo>
                    <a:pt x="0" y="25"/>
                  </a:lnTo>
                  <a:lnTo>
                    <a:pt x="27"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4" name="Freeform 6478"/>
            <p:cNvSpPr>
              <a:spLocks/>
            </p:cNvSpPr>
            <p:nvPr/>
          </p:nvSpPr>
          <p:spPr bwMode="auto">
            <a:xfrm>
              <a:off x="1891" y="2484"/>
              <a:ext cx="1" cy="26"/>
            </a:xfrm>
            <a:custGeom>
              <a:avLst/>
              <a:gdLst>
                <a:gd name="T0" fmla="*/ 0 w 1"/>
                <a:gd name="T1" fmla="*/ 25 h 26"/>
                <a:gd name="T2" fmla="*/ 0 w 1"/>
                <a:gd name="T3" fmla="*/ 25 h 26"/>
                <a:gd name="T4" fmla="*/ 0 w 1"/>
                <a:gd name="T5" fmla="*/ 0 h 26"/>
                <a:gd name="T6" fmla="*/ 0 w 1"/>
                <a:gd name="T7" fmla="*/ 25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25"/>
                  </a:moveTo>
                  <a:lnTo>
                    <a:pt x="0" y="25"/>
                  </a:lnTo>
                  <a:lnTo>
                    <a:pt x="0" y="0"/>
                  </a:lnTo>
                  <a:lnTo>
                    <a:pt x="0"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5" name="Freeform 6479"/>
            <p:cNvSpPr>
              <a:spLocks/>
            </p:cNvSpPr>
            <p:nvPr/>
          </p:nvSpPr>
          <p:spPr bwMode="auto">
            <a:xfrm>
              <a:off x="1885" y="2468"/>
              <a:ext cx="25" cy="28"/>
            </a:xfrm>
            <a:custGeom>
              <a:avLst/>
              <a:gdLst>
                <a:gd name="T0" fmla="*/ 24 w 25"/>
                <a:gd name="T1" fmla="*/ 0 h 28"/>
                <a:gd name="T2" fmla="*/ 0 w 25"/>
                <a:gd name="T3" fmla="*/ 18 h 28"/>
                <a:gd name="T4" fmla="*/ 7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18"/>
                  </a:lnTo>
                  <a:lnTo>
                    <a:pt x="7" y="27"/>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6" name="Freeform 6480"/>
            <p:cNvSpPr>
              <a:spLocks/>
            </p:cNvSpPr>
            <p:nvPr/>
          </p:nvSpPr>
          <p:spPr bwMode="auto">
            <a:xfrm>
              <a:off x="1885" y="2462"/>
              <a:ext cx="25" cy="27"/>
            </a:xfrm>
            <a:custGeom>
              <a:avLst/>
              <a:gdLst>
                <a:gd name="T0" fmla="*/ 24 w 25"/>
                <a:gd name="T1" fmla="*/ 8 h 27"/>
                <a:gd name="T2" fmla="*/ 14 w 25"/>
                <a:gd name="T3" fmla="*/ 0 h 27"/>
                <a:gd name="T4" fmla="*/ 0 w 25"/>
                <a:gd name="T5" fmla="*/ 26 h 27"/>
                <a:gd name="T6" fmla="*/ 24 w 25"/>
                <a:gd name="T7" fmla="*/ 8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8"/>
                  </a:moveTo>
                  <a:lnTo>
                    <a:pt x="14" y="0"/>
                  </a:lnTo>
                  <a:lnTo>
                    <a:pt x="0" y="26"/>
                  </a:lnTo>
                  <a:lnTo>
                    <a:pt x="24"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7" name="Freeform 6481"/>
            <p:cNvSpPr>
              <a:spLocks/>
            </p:cNvSpPr>
            <p:nvPr/>
          </p:nvSpPr>
          <p:spPr bwMode="auto">
            <a:xfrm>
              <a:off x="1904" y="246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8" name="Line 6482"/>
            <p:cNvSpPr>
              <a:spLocks noChangeShapeType="1"/>
            </p:cNvSpPr>
            <p:nvPr/>
          </p:nvSpPr>
          <p:spPr bwMode="auto">
            <a:xfrm>
              <a:off x="1904" y="246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19" name="Freeform 6483"/>
            <p:cNvSpPr>
              <a:spLocks/>
            </p:cNvSpPr>
            <p:nvPr/>
          </p:nvSpPr>
          <p:spPr bwMode="auto">
            <a:xfrm>
              <a:off x="1899" y="2447"/>
              <a:ext cx="24" cy="27"/>
            </a:xfrm>
            <a:custGeom>
              <a:avLst/>
              <a:gdLst>
                <a:gd name="T0" fmla="*/ 23 w 24"/>
                <a:gd name="T1" fmla="*/ 0 h 27"/>
                <a:gd name="T2" fmla="*/ 0 w 24"/>
                <a:gd name="T3" fmla="*/ 18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8"/>
                  </a:lnTo>
                  <a:lnTo>
                    <a:pt x="8"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0" name="Freeform 6484"/>
            <p:cNvSpPr>
              <a:spLocks/>
            </p:cNvSpPr>
            <p:nvPr/>
          </p:nvSpPr>
          <p:spPr bwMode="auto">
            <a:xfrm>
              <a:off x="1899" y="2441"/>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1" name="Freeform 6485"/>
            <p:cNvSpPr>
              <a:spLocks/>
            </p:cNvSpPr>
            <p:nvPr/>
          </p:nvSpPr>
          <p:spPr bwMode="auto">
            <a:xfrm>
              <a:off x="1917" y="244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2" name="Line 6486"/>
            <p:cNvSpPr>
              <a:spLocks noChangeShapeType="1"/>
            </p:cNvSpPr>
            <p:nvPr/>
          </p:nvSpPr>
          <p:spPr bwMode="auto">
            <a:xfrm>
              <a:off x="1917" y="244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3" name="Freeform 6487"/>
            <p:cNvSpPr>
              <a:spLocks/>
            </p:cNvSpPr>
            <p:nvPr/>
          </p:nvSpPr>
          <p:spPr bwMode="auto">
            <a:xfrm>
              <a:off x="1909" y="2420"/>
              <a:ext cx="29" cy="28"/>
            </a:xfrm>
            <a:custGeom>
              <a:avLst/>
              <a:gdLst>
                <a:gd name="T0" fmla="*/ 28 w 29"/>
                <a:gd name="T1" fmla="*/ 0 h 28"/>
                <a:gd name="T2" fmla="*/ 0 w 29"/>
                <a:gd name="T3" fmla="*/ 20 h 28"/>
                <a:gd name="T4" fmla="*/ 8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0" y="20"/>
                  </a:lnTo>
                  <a:lnTo>
                    <a:pt x="8" y="27"/>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4" name="Freeform 6488"/>
            <p:cNvSpPr>
              <a:spLocks/>
            </p:cNvSpPr>
            <p:nvPr/>
          </p:nvSpPr>
          <p:spPr bwMode="auto">
            <a:xfrm>
              <a:off x="1909" y="2412"/>
              <a:ext cx="29" cy="30"/>
            </a:xfrm>
            <a:custGeom>
              <a:avLst/>
              <a:gdLst>
                <a:gd name="T0" fmla="*/ 28 w 29"/>
                <a:gd name="T1" fmla="*/ 6 h 30"/>
                <a:gd name="T2" fmla="*/ 8 w 29"/>
                <a:gd name="T3" fmla="*/ 0 h 30"/>
                <a:gd name="T4" fmla="*/ 0 w 29"/>
                <a:gd name="T5" fmla="*/ 29 h 30"/>
                <a:gd name="T6" fmla="*/ 28 w 29"/>
                <a:gd name="T7" fmla="*/ 6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28" y="6"/>
                  </a:moveTo>
                  <a:lnTo>
                    <a:pt x="8" y="0"/>
                  </a:lnTo>
                  <a:lnTo>
                    <a:pt x="0" y="29"/>
                  </a:lnTo>
                  <a:lnTo>
                    <a:pt x="28"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5" name="Freeform 6489"/>
            <p:cNvSpPr>
              <a:spLocks/>
            </p:cNvSpPr>
            <p:nvPr/>
          </p:nvSpPr>
          <p:spPr bwMode="auto">
            <a:xfrm>
              <a:off x="1929" y="2412"/>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6" name="Line 6490"/>
            <p:cNvSpPr>
              <a:spLocks noChangeShapeType="1"/>
            </p:cNvSpPr>
            <p:nvPr/>
          </p:nvSpPr>
          <p:spPr bwMode="auto">
            <a:xfrm>
              <a:off x="1929" y="2420"/>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7" name="Freeform 6491"/>
            <p:cNvSpPr>
              <a:spLocks/>
            </p:cNvSpPr>
            <p:nvPr/>
          </p:nvSpPr>
          <p:spPr bwMode="auto">
            <a:xfrm>
              <a:off x="1917" y="2398"/>
              <a:ext cx="25" cy="27"/>
            </a:xfrm>
            <a:custGeom>
              <a:avLst/>
              <a:gdLst>
                <a:gd name="T0" fmla="*/ 24 w 25"/>
                <a:gd name="T1" fmla="*/ 0 h 27"/>
                <a:gd name="T2" fmla="*/ 0 w 25"/>
                <a:gd name="T3" fmla="*/ 18 h 27"/>
                <a:gd name="T4" fmla="*/ 12 w 25"/>
                <a:gd name="T5" fmla="*/ 26 h 27"/>
                <a:gd name="T6" fmla="*/ 24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0"/>
                  </a:moveTo>
                  <a:lnTo>
                    <a:pt x="0" y="18"/>
                  </a:lnTo>
                  <a:lnTo>
                    <a:pt x="12" y="26"/>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8" name="Freeform 6492"/>
            <p:cNvSpPr>
              <a:spLocks/>
            </p:cNvSpPr>
            <p:nvPr/>
          </p:nvSpPr>
          <p:spPr bwMode="auto">
            <a:xfrm>
              <a:off x="1917" y="2390"/>
              <a:ext cx="25" cy="27"/>
            </a:xfrm>
            <a:custGeom>
              <a:avLst/>
              <a:gdLst>
                <a:gd name="T0" fmla="*/ 24 w 25"/>
                <a:gd name="T1" fmla="*/ 9 h 27"/>
                <a:gd name="T2" fmla="*/ 12 w 25"/>
                <a:gd name="T3" fmla="*/ 0 h 27"/>
                <a:gd name="T4" fmla="*/ 0 w 25"/>
                <a:gd name="T5" fmla="*/ 26 h 27"/>
                <a:gd name="T6" fmla="*/ 24 w 25"/>
                <a:gd name="T7" fmla="*/ 9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9"/>
                  </a:moveTo>
                  <a:lnTo>
                    <a:pt x="12" y="0"/>
                  </a:lnTo>
                  <a:lnTo>
                    <a:pt x="0" y="26"/>
                  </a:lnTo>
                  <a:lnTo>
                    <a:pt x="24" y="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29" name="Freeform 6493"/>
            <p:cNvSpPr>
              <a:spLocks/>
            </p:cNvSpPr>
            <p:nvPr/>
          </p:nvSpPr>
          <p:spPr bwMode="auto">
            <a:xfrm>
              <a:off x="1937" y="2390"/>
              <a:ext cx="23" cy="27"/>
            </a:xfrm>
            <a:custGeom>
              <a:avLst/>
              <a:gdLst>
                <a:gd name="T0" fmla="*/ 22 w 23"/>
                <a:gd name="T1" fmla="*/ 26 h 27"/>
                <a:gd name="T2" fmla="*/ 22 w 23"/>
                <a:gd name="T3" fmla="*/ 26 h 27"/>
                <a:gd name="T4" fmla="*/ 0 w 23"/>
                <a:gd name="T5" fmla="*/ 0 h 27"/>
                <a:gd name="T6" fmla="*/ 22 w 23"/>
                <a:gd name="T7" fmla="*/ 26 h 27"/>
                <a:gd name="T8" fmla="*/ 0 60000 65536"/>
                <a:gd name="T9" fmla="*/ 0 60000 65536"/>
                <a:gd name="T10" fmla="*/ 0 60000 65536"/>
                <a:gd name="T11" fmla="*/ 0 60000 65536"/>
                <a:gd name="T12" fmla="*/ 0 w 23"/>
                <a:gd name="T13" fmla="*/ 0 h 27"/>
                <a:gd name="T14" fmla="*/ 23 w 23"/>
                <a:gd name="T15" fmla="*/ 27 h 27"/>
              </a:gdLst>
              <a:ahLst/>
              <a:cxnLst>
                <a:cxn ang="T8">
                  <a:pos x="T0" y="T1"/>
                </a:cxn>
                <a:cxn ang="T9">
                  <a:pos x="T2" y="T3"/>
                </a:cxn>
                <a:cxn ang="T10">
                  <a:pos x="T4" y="T5"/>
                </a:cxn>
                <a:cxn ang="T11">
                  <a:pos x="T6" y="T7"/>
                </a:cxn>
              </a:cxnLst>
              <a:rect l="T12" t="T13" r="T14" b="T15"/>
              <a:pathLst>
                <a:path w="23" h="27">
                  <a:moveTo>
                    <a:pt x="22" y="26"/>
                  </a:moveTo>
                  <a:lnTo>
                    <a:pt x="22" y="26"/>
                  </a:lnTo>
                  <a:lnTo>
                    <a:pt x="0" y="0"/>
                  </a:lnTo>
                  <a:lnTo>
                    <a:pt x="22"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0" name="Line 6494"/>
            <p:cNvSpPr>
              <a:spLocks noChangeShapeType="1"/>
            </p:cNvSpPr>
            <p:nvPr/>
          </p:nvSpPr>
          <p:spPr bwMode="auto">
            <a:xfrm>
              <a:off x="1941" y="239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1" name="Freeform 6495"/>
            <p:cNvSpPr>
              <a:spLocks/>
            </p:cNvSpPr>
            <p:nvPr/>
          </p:nvSpPr>
          <p:spPr bwMode="auto">
            <a:xfrm>
              <a:off x="1929" y="2369"/>
              <a:ext cx="27" cy="30"/>
            </a:xfrm>
            <a:custGeom>
              <a:avLst/>
              <a:gdLst>
                <a:gd name="T0" fmla="*/ 26 w 27"/>
                <a:gd name="T1" fmla="*/ 0 h 30"/>
                <a:gd name="T2" fmla="*/ 0 w 27"/>
                <a:gd name="T3" fmla="*/ 20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0"/>
                  </a:lnTo>
                  <a:lnTo>
                    <a:pt x="13" y="29"/>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2" name="Freeform 6496"/>
            <p:cNvSpPr>
              <a:spLocks/>
            </p:cNvSpPr>
            <p:nvPr/>
          </p:nvSpPr>
          <p:spPr bwMode="auto">
            <a:xfrm>
              <a:off x="1929" y="2361"/>
              <a:ext cx="27" cy="30"/>
            </a:xfrm>
            <a:custGeom>
              <a:avLst/>
              <a:gdLst>
                <a:gd name="T0" fmla="*/ 26 w 27"/>
                <a:gd name="T1" fmla="*/ 6 h 30"/>
                <a:gd name="T2" fmla="*/ 13 w 27"/>
                <a:gd name="T3" fmla="*/ 0 h 30"/>
                <a:gd name="T4" fmla="*/ 0 w 27"/>
                <a:gd name="T5" fmla="*/ 29 h 30"/>
                <a:gd name="T6" fmla="*/ 26 w 27"/>
                <a:gd name="T7" fmla="*/ 6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6"/>
                  </a:moveTo>
                  <a:lnTo>
                    <a:pt x="13" y="0"/>
                  </a:lnTo>
                  <a:lnTo>
                    <a:pt x="0" y="29"/>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3" name="Freeform 6497"/>
            <p:cNvSpPr>
              <a:spLocks/>
            </p:cNvSpPr>
            <p:nvPr/>
          </p:nvSpPr>
          <p:spPr bwMode="auto">
            <a:xfrm>
              <a:off x="1946" y="2361"/>
              <a:ext cx="25" cy="28"/>
            </a:xfrm>
            <a:custGeom>
              <a:avLst/>
              <a:gdLst>
                <a:gd name="T0" fmla="*/ 24 w 25"/>
                <a:gd name="T1" fmla="*/ 27 h 28"/>
                <a:gd name="T2" fmla="*/ 24 w 25"/>
                <a:gd name="T3" fmla="*/ 27 h 28"/>
                <a:gd name="T4" fmla="*/ 0 w 25"/>
                <a:gd name="T5" fmla="*/ 0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27"/>
                  </a:lnTo>
                  <a:lnTo>
                    <a:pt x="0" y="0"/>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4" name="Line 6498"/>
            <p:cNvSpPr>
              <a:spLocks noChangeShapeType="1"/>
            </p:cNvSpPr>
            <p:nvPr/>
          </p:nvSpPr>
          <p:spPr bwMode="auto">
            <a:xfrm>
              <a:off x="1955" y="2369"/>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5" name="Freeform 6499"/>
            <p:cNvSpPr>
              <a:spLocks/>
            </p:cNvSpPr>
            <p:nvPr/>
          </p:nvSpPr>
          <p:spPr bwMode="auto">
            <a:xfrm>
              <a:off x="1941" y="2340"/>
              <a:ext cx="27" cy="30"/>
            </a:xfrm>
            <a:custGeom>
              <a:avLst/>
              <a:gdLst>
                <a:gd name="T0" fmla="*/ 26 w 27"/>
                <a:gd name="T1" fmla="*/ 0 h 30"/>
                <a:gd name="T2" fmla="*/ 0 w 27"/>
                <a:gd name="T3" fmla="*/ 22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2"/>
                  </a:lnTo>
                  <a:lnTo>
                    <a:pt x="13" y="29"/>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6" name="Freeform 6500"/>
            <p:cNvSpPr>
              <a:spLocks/>
            </p:cNvSpPr>
            <p:nvPr/>
          </p:nvSpPr>
          <p:spPr bwMode="auto">
            <a:xfrm>
              <a:off x="1941" y="2334"/>
              <a:ext cx="27" cy="28"/>
            </a:xfrm>
            <a:custGeom>
              <a:avLst/>
              <a:gdLst>
                <a:gd name="T0" fmla="*/ 26 w 27"/>
                <a:gd name="T1" fmla="*/ 6 h 28"/>
                <a:gd name="T2" fmla="*/ 13 w 27"/>
                <a:gd name="T3" fmla="*/ 0 h 28"/>
                <a:gd name="T4" fmla="*/ 0 w 27"/>
                <a:gd name="T5" fmla="*/ 27 h 28"/>
                <a:gd name="T6" fmla="*/ 26 w 27"/>
                <a:gd name="T7" fmla="*/ 6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6"/>
                  </a:moveTo>
                  <a:lnTo>
                    <a:pt x="13" y="0"/>
                  </a:lnTo>
                  <a:lnTo>
                    <a:pt x="0" y="27"/>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7" name="Freeform 6501"/>
            <p:cNvSpPr>
              <a:spLocks/>
            </p:cNvSpPr>
            <p:nvPr/>
          </p:nvSpPr>
          <p:spPr bwMode="auto">
            <a:xfrm>
              <a:off x="1959" y="2334"/>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8" name="Line 6502"/>
            <p:cNvSpPr>
              <a:spLocks noChangeShapeType="1"/>
            </p:cNvSpPr>
            <p:nvPr/>
          </p:nvSpPr>
          <p:spPr bwMode="auto">
            <a:xfrm>
              <a:off x="1964" y="2340"/>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39" name="Freeform 6503"/>
            <p:cNvSpPr>
              <a:spLocks/>
            </p:cNvSpPr>
            <p:nvPr/>
          </p:nvSpPr>
          <p:spPr bwMode="auto">
            <a:xfrm>
              <a:off x="1955" y="2312"/>
              <a:ext cx="25" cy="29"/>
            </a:xfrm>
            <a:custGeom>
              <a:avLst/>
              <a:gdLst>
                <a:gd name="T0" fmla="*/ 24 w 25"/>
                <a:gd name="T1" fmla="*/ 0 h 29"/>
                <a:gd name="T2" fmla="*/ 0 w 25"/>
                <a:gd name="T3" fmla="*/ 21 h 29"/>
                <a:gd name="T4" fmla="*/ 11 w 25"/>
                <a:gd name="T5" fmla="*/ 28 h 29"/>
                <a:gd name="T6" fmla="*/ 24 w 25"/>
                <a:gd name="T7" fmla="*/ 0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0"/>
                  </a:moveTo>
                  <a:lnTo>
                    <a:pt x="0" y="21"/>
                  </a:lnTo>
                  <a:lnTo>
                    <a:pt x="11" y="28"/>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0" name="Freeform 6504"/>
            <p:cNvSpPr>
              <a:spLocks/>
            </p:cNvSpPr>
            <p:nvPr/>
          </p:nvSpPr>
          <p:spPr bwMode="auto">
            <a:xfrm>
              <a:off x="1955" y="2304"/>
              <a:ext cx="25" cy="31"/>
            </a:xfrm>
            <a:custGeom>
              <a:avLst/>
              <a:gdLst>
                <a:gd name="T0" fmla="*/ 24 w 25"/>
                <a:gd name="T1" fmla="*/ 8 h 31"/>
                <a:gd name="T2" fmla="*/ 11 w 25"/>
                <a:gd name="T3" fmla="*/ 0 h 31"/>
                <a:gd name="T4" fmla="*/ 0 w 25"/>
                <a:gd name="T5" fmla="*/ 30 h 31"/>
                <a:gd name="T6" fmla="*/ 24 w 25"/>
                <a:gd name="T7" fmla="*/ 8 h 31"/>
                <a:gd name="T8" fmla="*/ 0 60000 65536"/>
                <a:gd name="T9" fmla="*/ 0 60000 65536"/>
                <a:gd name="T10" fmla="*/ 0 60000 65536"/>
                <a:gd name="T11" fmla="*/ 0 60000 65536"/>
                <a:gd name="T12" fmla="*/ 0 w 25"/>
                <a:gd name="T13" fmla="*/ 0 h 31"/>
                <a:gd name="T14" fmla="*/ 25 w 25"/>
                <a:gd name="T15" fmla="*/ 31 h 31"/>
              </a:gdLst>
              <a:ahLst/>
              <a:cxnLst>
                <a:cxn ang="T8">
                  <a:pos x="T0" y="T1"/>
                </a:cxn>
                <a:cxn ang="T9">
                  <a:pos x="T2" y="T3"/>
                </a:cxn>
                <a:cxn ang="T10">
                  <a:pos x="T4" y="T5"/>
                </a:cxn>
                <a:cxn ang="T11">
                  <a:pos x="T6" y="T7"/>
                </a:cxn>
              </a:cxnLst>
              <a:rect l="T12" t="T13" r="T14" b="T15"/>
              <a:pathLst>
                <a:path w="25" h="31">
                  <a:moveTo>
                    <a:pt x="24" y="8"/>
                  </a:moveTo>
                  <a:lnTo>
                    <a:pt x="11" y="0"/>
                  </a:lnTo>
                  <a:lnTo>
                    <a:pt x="0" y="30"/>
                  </a:lnTo>
                  <a:lnTo>
                    <a:pt x="24"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1" name="Freeform 6505"/>
            <p:cNvSpPr>
              <a:spLocks/>
            </p:cNvSpPr>
            <p:nvPr/>
          </p:nvSpPr>
          <p:spPr bwMode="auto">
            <a:xfrm>
              <a:off x="1975" y="2304"/>
              <a:ext cx="23" cy="28"/>
            </a:xfrm>
            <a:custGeom>
              <a:avLst/>
              <a:gdLst>
                <a:gd name="T0" fmla="*/ 22 w 23"/>
                <a:gd name="T1" fmla="*/ 27 h 28"/>
                <a:gd name="T2" fmla="*/ 22 w 23"/>
                <a:gd name="T3" fmla="*/ 27 h 28"/>
                <a:gd name="T4" fmla="*/ 0 w 23"/>
                <a:gd name="T5" fmla="*/ 0 h 28"/>
                <a:gd name="T6" fmla="*/ 22 w 23"/>
                <a:gd name="T7" fmla="*/ 27 h 28"/>
                <a:gd name="T8" fmla="*/ 0 60000 65536"/>
                <a:gd name="T9" fmla="*/ 0 60000 65536"/>
                <a:gd name="T10" fmla="*/ 0 60000 65536"/>
                <a:gd name="T11" fmla="*/ 0 60000 65536"/>
                <a:gd name="T12" fmla="*/ 0 w 23"/>
                <a:gd name="T13" fmla="*/ 0 h 28"/>
                <a:gd name="T14" fmla="*/ 23 w 23"/>
                <a:gd name="T15" fmla="*/ 28 h 28"/>
              </a:gdLst>
              <a:ahLst/>
              <a:cxnLst>
                <a:cxn ang="T8">
                  <a:pos x="T0" y="T1"/>
                </a:cxn>
                <a:cxn ang="T9">
                  <a:pos x="T2" y="T3"/>
                </a:cxn>
                <a:cxn ang="T10">
                  <a:pos x="T4" y="T5"/>
                </a:cxn>
                <a:cxn ang="T11">
                  <a:pos x="T6" y="T7"/>
                </a:cxn>
              </a:cxnLst>
              <a:rect l="T12" t="T13" r="T14" b="T15"/>
              <a:pathLst>
                <a:path w="23" h="28">
                  <a:moveTo>
                    <a:pt x="22" y="27"/>
                  </a:moveTo>
                  <a:lnTo>
                    <a:pt x="22" y="27"/>
                  </a:lnTo>
                  <a:lnTo>
                    <a:pt x="0" y="0"/>
                  </a:lnTo>
                  <a:lnTo>
                    <a:pt x="22"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2" name="Line 6506"/>
            <p:cNvSpPr>
              <a:spLocks noChangeShapeType="1"/>
            </p:cNvSpPr>
            <p:nvPr/>
          </p:nvSpPr>
          <p:spPr bwMode="auto">
            <a:xfrm>
              <a:off x="1978" y="2312"/>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3" name="Freeform 6507"/>
            <p:cNvSpPr>
              <a:spLocks/>
            </p:cNvSpPr>
            <p:nvPr/>
          </p:nvSpPr>
          <p:spPr bwMode="auto">
            <a:xfrm>
              <a:off x="1964" y="2277"/>
              <a:ext cx="29" cy="36"/>
            </a:xfrm>
            <a:custGeom>
              <a:avLst/>
              <a:gdLst>
                <a:gd name="T0" fmla="*/ 28 w 29"/>
                <a:gd name="T1" fmla="*/ 0 h 36"/>
                <a:gd name="T2" fmla="*/ 0 w 29"/>
                <a:gd name="T3" fmla="*/ 27 h 36"/>
                <a:gd name="T4" fmla="*/ 14 w 29"/>
                <a:gd name="T5" fmla="*/ 35 h 36"/>
                <a:gd name="T6" fmla="*/ 28 w 29"/>
                <a:gd name="T7" fmla="*/ 0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28" y="0"/>
                  </a:moveTo>
                  <a:lnTo>
                    <a:pt x="0" y="27"/>
                  </a:lnTo>
                  <a:lnTo>
                    <a:pt x="14" y="35"/>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4" name="Freeform 6508"/>
            <p:cNvSpPr>
              <a:spLocks/>
            </p:cNvSpPr>
            <p:nvPr/>
          </p:nvSpPr>
          <p:spPr bwMode="auto">
            <a:xfrm>
              <a:off x="1964" y="2277"/>
              <a:ext cx="29" cy="28"/>
            </a:xfrm>
            <a:custGeom>
              <a:avLst/>
              <a:gdLst>
                <a:gd name="T0" fmla="*/ 28 w 29"/>
                <a:gd name="T1" fmla="*/ 0 h 28"/>
                <a:gd name="T2" fmla="*/ 14 w 29"/>
                <a:gd name="T3" fmla="*/ 0 h 28"/>
                <a:gd name="T4" fmla="*/ 0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14" y="0"/>
                  </a:lnTo>
                  <a:lnTo>
                    <a:pt x="0" y="27"/>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5" name="Freeform 6509"/>
            <p:cNvSpPr>
              <a:spLocks/>
            </p:cNvSpPr>
            <p:nvPr/>
          </p:nvSpPr>
          <p:spPr bwMode="auto">
            <a:xfrm>
              <a:off x="1984" y="2277"/>
              <a:ext cx="25" cy="1"/>
            </a:xfrm>
            <a:custGeom>
              <a:avLst/>
              <a:gdLst>
                <a:gd name="T0" fmla="*/ 24 w 25"/>
                <a:gd name="T1" fmla="*/ 0 h 1"/>
                <a:gd name="T2" fmla="*/ 24 w 25"/>
                <a:gd name="T3" fmla="*/ 0 h 1"/>
                <a:gd name="T4" fmla="*/ 0 w 25"/>
                <a:gd name="T5" fmla="*/ 0 h 1"/>
                <a:gd name="T6" fmla="*/ 24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24" y="0"/>
                  </a:moveTo>
                  <a:lnTo>
                    <a:pt x="24" y="0"/>
                  </a:lnTo>
                  <a:lnTo>
                    <a:pt x="0" y="0"/>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6" name="Line 6510"/>
            <p:cNvSpPr>
              <a:spLocks noChangeShapeType="1"/>
            </p:cNvSpPr>
            <p:nvPr/>
          </p:nvSpPr>
          <p:spPr bwMode="auto">
            <a:xfrm>
              <a:off x="1992" y="227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7" name="Freeform 6511"/>
            <p:cNvSpPr>
              <a:spLocks/>
            </p:cNvSpPr>
            <p:nvPr/>
          </p:nvSpPr>
          <p:spPr bwMode="auto">
            <a:xfrm>
              <a:off x="1978" y="2248"/>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8" name="Freeform 6512"/>
            <p:cNvSpPr>
              <a:spLocks/>
            </p:cNvSpPr>
            <p:nvPr/>
          </p:nvSpPr>
          <p:spPr bwMode="auto">
            <a:xfrm>
              <a:off x="1978" y="2241"/>
              <a:ext cx="25" cy="37"/>
            </a:xfrm>
            <a:custGeom>
              <a:avLst/>
              <a:gdLst>
                <a:gd name="T0" fmla="*/ 24 w 25"/>
                <a:gd name="T1" fmla="*/ 6 h 37"/>
                <a:gd name="T2" fmla="*/ 12 w 25"/>
                <a:gd name="T3" fmla="*/ 0 h 37"/>
                <a:gd name="T4" fmla="*/ 0 w 25"/>
                <a:gd name="T5" fmla="*/ 36 h 37"/>
                <a:gd name="T6" fmla="*/ 24 w 25"/>
                <a:gd name="T7" fmla="*/ 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24" y="6"/>
                  </a:moveTo>
                  <a:lnTo>
                    <a:pt x="12" y="0"/>
                  </a:lnTo>
                  <a:lnTo>
                    <a:pt x="0" y="36"/>
                  </a:lnTo>
                  <a:lnTo>
                    <a:pt x="24"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49" name="Freeform 6513"/>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0" name="Freeform 6514"/>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1" name="Freeform 6515"/>
            <p:cNvSpPr>
              <a:spLocks/>
            </p:cNvSpPr>
            <p:nvPr/>
          </p:nvSpPr>
          <p:spPr bwMode="auto">
            <a:xfrm>
              <a:off x="1992" y="2213"/>
              <a:ext cx="26" cy="36"/>
            </a:xfrm>
            <a:custGeom>
              <a:avLst/>
              <a:gdLst>
                <a:gd name="T0" fmla="*/ 25 w 26"/>
                <a:gd name="T1" fmla="*/ 0 h 36"/>
                <a:gd name="T2" fmla="*/ 0 w 26"/>
                <a:gd name="T3" fmla="*/ 28 h 36"/>
                <a:gd name="T4" fmla="*/ 11 w 26"/>
                <a:gd name="T5" fmla="*/ 35 h 36"/>
                <a:gd name="T6" fmla="*/ 25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0"/>
                  </a:moveTo>
                  <a:lnTo>
                    <a:pt x="0" y="28"/>
                  </a:lnTo>
                  <a:lnTo>
                    <a:pt x="11" y="35"/>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2" name="Freeform 6516"/>
            <p:cNvSpPr>
              <a:spLocks/>
            </p:cNvSpPr>
            <p:nvPr/>
          </p:nvSpPr>
          <p:spPr bwMode="auto">
            <a:xfrm>
              <a:off x="1992" y="2213"/>
              <a:ext cx="26" cy="29"/>
            </a:xfrm>
            <a:custGeom>
              <a:avLst/>
              <a:gdLst>
                <a:gd name="T0" fmla="*/ 25 w 26"/>
                <a:gd name="T1" fmla="*/ 0 h 29"/>
                <a:gd name="T2" fmla="*/ 11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1" y="0"/>
                  </a:lnTo>
                  <a:lnTo>
                    <a:pt x="0" y="28"/>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3" name="Freeform 6517"/>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4" name="Freeform 6518"/>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5" name="Freeform 6519"/>
            <p:cNvSpPr>
              <a:spLocks/>
            </p:cNvSpPr>
            <p:nvPr/>
          </p:nvSpPr>
          <p:spPr bwMode="auto">
            <a:xfrm>
              <a:off x="2002" y="2184"/>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6" name="Freeform 6520"/>
            <p:cNvSpPr>
              <a:spLocks/>
            </p:cNvSpPr>
            <p:nvPr/>
          </p:nvSpPr>
          <p:spPr bwMode="auto">
            <a:xfrm>
              <a:off x="2002" y="2176"/>
              <a:ext cx="25" cy="38"/>
            </a:xfrm>
            <a:custGeom>
              <a:avLst/>
              <a:gdLst>
                <a:gd name="T0" fmla="*/ 24 w 25"/>
                <a:gd name="T1" fmla="*/ 6 h 38"/>
                <a:gd name="T2" fmla="*/ 12 w 25"/>
                <a:gd name="T3" fmla="*/ 0 h 38"/>
                <a:gd name="T4" fmla="*/ 0 w 25"/>
                <a:gd name="T5" fmla="*/ 37 h 38"/>
                <a:gd name="T6" fmla="*/ 24 w 25"/>
                <a:gd name="T7" fmla="*/ 6 h 38"/>
                <a:gd name="T8" fmla="*/ 0 60000 65536"/>
                <a:gd name="T9" fmla="*/ 0 60000 65536"/>
                <a:gd name="T10" fmla="*/ 0 60000 65536"/>
                <a:gd name="T11" fmla="*/ 0 60000 65536"/>
                <a:gd name="T12" fmla="*/ 0 w 25"/>
                <a:gd name="T13" fmla="*/ 0 h 38"/>
                <a:gd name="T14" fmla="*/ 25 w 25"/>
                <a:gd name="T15" fmla="*/ 38 h 38"/>
              </a:gdLst>
              <a:ahLst/>
              <a:cxnLst>
                <a:cxn ang="T8">
                  <a:pos x="T0" y="T1"/>
                </a:cxn>
                <a:cxn ang="T9">
                  <a:pos x="T2" y="T3"/>
                </a:cxn>
                <a:cxn ang="T10">
                  <a:pos x="T4" y="T5"/>
                </a:cxn>
                <a:cxn ang="T11">
                  <a:pos x="T6" y="T7"/>
                </a:cxn>
              </a:cxnLst>
              <a:rect l="T12" t="T13" r="T14" b="T15"/>
              <a:pathLst>
                <a:path w="25" h="38">
                  <a:moveTo>
                    <a:pt x="24" y="6"/>
                  </a:moveTo>
                  <a:lnTo>
                    <a:pt x="12" y="0"/>
                  </a:lnTo>
                  <a:lnTo>
                    <a:pt x="0" y="37"/>
                  </a:lnTo>
                  <a:lnTo>
                    <a:pt x="24"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7" name="Freeform 6521"/>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8" name="Freeform 6522"/>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59" name="Freeform 6523"/>
            <p:cNvSpPr>
              <a:spLocks/>
            </p:cNvSpPr>
            <p:nvPr/>
          </p:nvSpPr>
          <p:spPr bwMode="auto">
            <a:xfrm>
              <a:off x="2013" y="2149"/>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0" name="Freeform 6524"/>
            <p:cNvSpPr>
              <a:spLocks/>
            </p:cNvSpPr>
            <p:nvPr/>
          </p:nvSpPr>
          <p:spPr bwMode="auto">
            <a:xfrm>
              <a:off x="2013" y="2141"/>
              <a:ext cx="27" cy="36"/>
            </a:xfrm>
            <a:custGeom>
              <a:avLst/>
              <a:gdLst>
                <a:gd name="T0" fmla="*/ 26 w 27"/>
                <a:gd name="T1" fmla="*/ 7 h 36"/>
                <a:gd name="T2" fmla="*/ 13 w 27"/>
                <a:gd name="T3" fmla="*/ 0 h 36"/>
                <a:gd name="T4" fmla="*/ 0 w 27"/>
                <a:gd name="T5" fmla="*/ 35 h 36"/>
                <a:gd name="T6" fmla="*/ 26 w 27"/>
                <a:gd name="T7" fmla="*/ 7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7"/>
                  </a:moveTo>
                  <a:lnTo>
                    <a:pt x="13" y="0"/>
                  </a:lnTo>
                  <a:lnTo>
                    <a:pt x="0" y="35"/>
                  </a:lnTo>
                  <a:lnTo>
                    <a:pt x="26" y="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1" name="Freeform 6525"/>
            <p:cNvSpPr>
              <a:spLocks/>
            </p:cNvSpPr>
            <p:nvPr/>
          </p:nvSpPr>
          <p:spPr bwMode="auto">
            <a:xfrm>
              <a:off x="2034" y="21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2" name="Freeform 6526"/>
            <p:cNvSpPr>
              <a:spLocks/>
            </p:cNvSpPr>
            <p:nvPr/>
          </p:nvSpPr>
          <p:spPr bwMode="auto">
            <a:xfrm>
              <a:off x="2034" y="2141"/>
              <a:ext cx="25" cy="27"/>
            </a:xfrm>
            <a:custGeom>
              <a:avLst/>
              <a:gdLst>
                <a:gd name="T0" fmla="*/ 0 w 25"/>
                <a:gd name="T1" fmla="*/ 0 h 27"/>
                <a:gd name="T2" fmla="*/ 24 w 25"/>
                <a:gd name="T3" fmla="*/ 26 h 27"/>
                <a:gd name="T4" fmla="*/ 24 w 25"/>
                <a:gd name="T5" fmla="*/ 26 h 27"/>
                <a:gd name="T6" fmla="*/ 0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0"/>
                  </a:moveTo>
                  <a:lnTo>
                    <a:pt x="24"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3" name="Freeform 6527"/>
            <p:cNvSpPr>
              <a:spLocks/>
            </p:cNvSpPr>
            <p:nvPr/>
          </p:nvSpPr>
          <p:spPr bwMode="auto">
            <a:xfrm>
              <a:off x="2026" y="2113"/>
              <a:ext cx="26" cy="37"/>
            </a:xfrm>
            <a:custGeom>
              <a:avLst/>
              <a:gdLst>
                <a:gd name="T0" fmla="*/ 25 w 26"/>
                <a:gd name="T1" fmla="*/ 0 h 37"/>
                <a:gd name="T2" fmla="*/ 0 w 26"/>
                <a:gd name="T3" fmla="*/ 27 h 37"/>
                <a:gd name="T4" fmla="*/ 17 w 26"/>
                <a:gd name="T5" fmla="*/ 36 h 37"/>
                <a:gd name="T6" fmla="*/ 25 w 26"/>
                <a:gd name="T7" fmla="*/ 0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0"/>
                  </a:moveTo>
                  <a:lnTo>
                    <a:pt x="0" y="27"/>
                  </a:lnTo>
                  <a:lnTo>
                    <a:pt x="17" y="36"/>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4" name="Freeform 6528"/>
            <p:cNvSpPr>
              <a:spLocks/>
            </p:cNvSpPr>
            <p:nvPr/>
          </p:nvSpPr>
          <p:spPr bwMode="auto">
            <a:xfrm>
              <a:off x="2026" y="2113"/>
              <a:ext cx="26" cy="29"/>
            </a:xfrm>
            <a:custGeom>
              <a:avLst/>
              <a:gdLst>
                <a:gd name="T0" fmla="*/ 25 w 26"/>
                <a:gd name="T1" fmla="*/ 0 h 29"/>
                <a:gd name="T2" fmla="*/ 17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7" y="0"/>
                  </a:lnTo>
                  <a:lnTo>
                    <a:pt x="0" y="28"/>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5" name="Freeform 6529"/>
            <p:cNvSpPr>
              <a:spLocks/>
            </p:cNvSpPr>
            <p:nvPr/>
          </p:nvSpPr>
          <p:spPr bwMode="auto">
            <a:xfrm>
              <a:off x="2046" y="2105"/>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6" name="Line 6530"/>
            <p:cNvSpPr>
              <a:spLocks noChangeShapeType="1"/>
            </p:cNvSpPr>
            <p:nvPr/>
          </p:nvSpPr>
          <p:spPr bwMode="auto">
            <a:xfrm>
              <a:off x="2046" y="211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7" name="Freeform 6531"/>
            <p:cNvSpPr>
              <a:spLocks/>
            </p:cNvSpPr>
            <p:nvPr/>
          </p:nvSpPr>
          <p:spPr bwMode="auto">
            <a:xfrm>
              <a:off x="2039" y="2084"/>
              <a:ext cx="26" cy="30"/>
            </a:xfrm>
            <a:custGeom>
              <a:avLst/>
              <a:gdLst>
                <a:gd name="T0" fmla="*/ 25 w 26"/>
                <a:gd name="T1" fmla="*/ 0 h 30"/>
                <a:gd name="T2" fmla="*/ 0 w 26"/>
                <a:gd name="T3" fmla="*/ 29 h 30"/>
                <a:gd name="T4" fmla="*/ 7 w 26"/>
                <a:gd name="T5" fmla="*/ 29 h 30"/>
                <a:gd name="T6" fmla="*/ 25 w 26"/>
                <a:gd name="T7" fmla="*/ 0 h 30"/>
                <a:gd name="T8" fmla="*/ 0 60000 65536"/>
                <a:gd name="T9" fmla="*/ 0 60000 65536"/>
                <a:gd name="T10" fmla="*/ 0 60000 65536"/>
                <a:gd name="T11" fmla="*/ 0 60000 65536"/>
                <a:gd name="T12" fmla="*/ 0 w 26"/>
                <a:gd name="T13" fmla="*/ 0 h 30"/>
                <a:gd name="T14" fmla="*/ 26 w 26"/>
                <a:gd name="T15" fmla="*/ 30 h 30"/>
              </a:gdLst>
              <a:ahLst/>
              <a:cxnLst>
                <a:cxn ang="T8">
                  <a:pos x="T0" y="T1"/>
                </a:cxn>
                <a:cxn ang="T9">
                  <a:pos x="T2" y="T3"/>
                </a:cxn>
                <a:cxn ang="T10">
                  <a:pos x="T4" y="T5"/>
                </a:cxn>
                <a:cxn ang="T11">
                  <a:pos x="T6" y="T7"/>
                </a:cxn>
              </a:cxnLst>
              <a:rect l="T12" t="T13" r="T14" b="T15"/>
              <a:pathLst>
                <a:path w="26" h="30">
                  <a:moveTo>
                    <a:pt x="25" y="0"/>
                  </a:moveTo>
                  <a:lnTo>
                    <a:pt x="0" y="29"/>
                  </a:lnTo>
                  <a:lnTo>
                    <a:pt x="7" y="29"/>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8" name="Freeform 6532"/>
            <p:cNvSpPr>
              <a:spLocks/>
            </p:cNvSpPr>
            <p:nvPr/>
          </p:nvSpPr>
          <p:spPr bwMode="auto">
            <a:xfrm>
              <a:off x="2039" y="2077"/>
              <a:ext cx="26" cy="37"/>
            </a:xfrm>
            <a:custGeom>
              <a:avLst/>
              <a:gdLst>
                <a:gd name="T0" fmla="*/ 25 w 26"/>
                <a:gd name="T1" fmla="*/ 6 h 37"/>
                <a:gd name="T2" fmla="*/ 15 w 26"/>
                <a:gd name="T3" fmla="*/ 0 h 37"/>
                <a:gd name="T4" fmla="*/ 0 w 26"/>
                <a:gd name="T5" fmla="*/ 36 h 37"/>
                <a:gd name="T6" fmla="*/ 25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6"/>
                  </a:moveTo>
                  <a:lnTo>
                    <a:pt x="15" y="0"/>
                  </a:lnTo>
                  <a:lnTo>
                    <a:pt x="0" y="36"/>
                  </a:lnTo>
                  <a:lnTo>
                    <a:pt x="25"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69" name="Freeform 6533"/>
            <p:cNvSpPr>
              <a:spLocks/>
            </p:cNvSpPr>
            <p:nvPr/>
          </p:nvSpPr>
          <p:spPr bwMode="auto">
            <a:xfrm>
              <a:off x="2051" y="207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0" name="Line 6534"/>
            <p:cNvSpPr>
              <a:spLocks noChangeShapeType="1"/>
            </p:cNvSpPr>
            <p:nvPr/>
          </p:nvSpPr>
          <p:spPr bwMode="auto">
            <a:xfrm>
              <a:off x="2051" y="2077"/>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1" name="Freeform 6535"/>
            <p:cNvSpPr>
              <a:spLocks/>
            </p:cNvSpPr>
            <p:nvPr/>
          </p:nvSpPr>
          <p:spPr bwMode="auto">
            <a:xfrm>
              <a:off x="2051" y="2049"/>
              <a:ext cx="27" cy="36"/>
            </a:xfrm>
            <a:custGeom>
              <a:avLst/>
              <a:gdLst>
                <a:gd name="T0" fmla="*/ 26 w 27"/>
                <a:gd name="T1" fmla="*/ 0 h 36"/>
                <a:gd name="T2" fmla="*/ 0 w 27"/>
                <a:gd name="T3" fmla="*/ 28 h 36"/>
                <a:gd name="T4" fmla="*/ 10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0"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2" name="Freeform 6536"/>
            <p:cNvSpPr>
              <a:spLocks/>
            </p:cNvSpPr>
            <p:nvPr/>
          </p:nvSpPr>
          <p:spPr bwMode="auto">
            <a:xfrm>
              <a:off x="2051" y="2041"/>
              <a:ext cx="27" cy="37"/>
            </a:xfrm>
            <a:custGeom>
              <a:avLst/>
              <a:gdLst>
                <a:gd name="T0" fmla="*/ 26 w 27"/>
                <a:gd name="T1" fmla="*/ 8 h 37"/>
                <a:gd name="T2" fmla="*/ 10 w 27"/>
                <a:gd name="T3" fmla="*/ 0 h 37"/>
                <a:gd name="T4" fmla="*/ 0 w 27"/>
                <a:gd name="T5" fmla="*/ 36 h 37"/>
                <a:gd name="T6" fmla="*/ 26 w 27"/>
                <a:gd name="T7" fmla="*/ 8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26" y="8"/>
                  </a:moveTo>
                  <a:lnTo>
                    <a:pt x="10" y="0"/>
                  </a:lnTo>
                  <a:lnTo>
                    <a:pt x="0" y="36"/>
                  </a:lnTo>
                  <a:lnTo>
                    <a:pt x="26"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3" name="Freeform 6537"/>
            <p:cNvSpPr>
              <a:spLocks/>
            </p:cNvSpPr>
            <p:nvPr/>
          </p:nvSpPr>
          <p:spPr bwMode="auto">
            <a:xfrm>
              <a:off x="2058" y="204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4" name="Line 6538"/>
            <p:cNvSpPr>
              <a:spLocks noChangeShapeType="1"/>
            </p:cNvSpPr>
            <p:nvPr/>
          </p:nvSpPr>
          <p:spPr bwMode="auto">
            <a:xfrm>
              <a:off x="2058" y="20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5" name="Freeform 6539"/>
            <p:cNvSpPr>
              <a:spLocks/>
            </p:cNvSpPr>
            <p:nvPr/>
          </p:nvSpPr>
          <p:spPr bwMode="auto">
            <a:xfrm>
              <a:off x="2058" y="2012"/>
              <a:ext cx="27" cy="38"/>
            </a:xfrm>
            <a:custGeom>
              <a:avLst/>
              <a:gdLst>
                <a:gd name="T0" fmla="*/ 26 w 27"/>
                <a:gd name="T1" fmla="*/ 0 h 38"/>
                <a:gd name="T2" fmla="*/ 0 w 27"/>
                <a:gd name="T3" fmla="*/ 28 h 38"/>
                <a:gd name="T4" fmla="*/ 12 w 27"/>
                <a:gd name="T5" fmla="*/ 37 h 38"/>
                <a:gd name="T6" fmla="*/ 26 w 27"/>
                <a:gd name="T7" fmla="*/ 0 h 38"/>
                <a:gd name="T8" fmla="*/ 0 60000 65536"/>
                <a:gd name="T9" fmla="*/ 0 60000 65536"/>
                <a:gd name="T10" fmla="*/ 0 60000 65536"/>
                <a:gd name="T11" fmla="*/ 0 60000 65536"/>
                <a:gd name="T12" fmla="*/ 0 w 27"/>
                <a:gd name="T13" fmla="*/ 0 h 38"/>
                <a:gd name="T14" fmla="*/ 27 w 27"/>
                <a:gd name="T15" fmla="*/ 38 h 38"/>
              </a:gdLst>
              <a:ahLst/>
              <a:cxnLst>
                <a:cxn ang="T8">
                  <a:pos x="T0" y="T1"/>
                </a:cxn>
                <a:cxn ang="T9">
                  <a:pos x="T2" y="T3"/>
                </a:cxn>
                <a:cxn ang="T10">
                  <a:pos x="T4" y="T5"/>
                </a:cxn>
                <a:cxn ang="T11">
                  <a:pos x="T6" y="T7"/>
                </a:cxn>
              </a:cxnLst>
              <a:rect l="T12" t="T13" r="T14" b="T15"/>
              <a:pathLst>
                <a:path w="27" h="38">
                  <a:moveTo>
                    <a:pt x="26" y="0"/>
                  </a:moveTo>
                  <a:lnTo>
                    <a:pt x="0" y="28"/>
                  </a:lnTo>
                  <a:lnTo>
                    <a:pt x="12" y="3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6" name="Freeform 6540"/>
            <p:cNvSpPr>
              <a:spLocks/>
            </p:cNvSpPr>
            <p:nvPr/>
          </p:nvSpPr>
          <p:spPr bwMode="auto">
            <a:xfrm>
              <a:off x="2058" y="2007"/>
              <a:ext cx="27" cy="35"/>
            </a:xfrm>
            <a:custGeom>
              <a:avLst/>
              <a:gdLst>
                <a:gd name="T0" fmla="*/ 26 w 27"/>
                <a:gd name="T1" fmla="*/ 6 h 35"/>
                <a:gd name="T2" fmla="*/ 12 w 27"/>
                <a:gd name="T3" fmla="*/ 0 h 35"/>
                <a:gd name="T4" fmla="*/ 0 w 27"/>
                <a:gd name="T5" fmla="*/ 34 h 35"/>
                <a:gd name="T6" fmla="*/ 26 w 27"/>
                <a:gd name="T7" fmla="*/ 6 h 35"/>
                <a:gd name="T8" fmla="*/ 0 60000 65536"/>
                <a:gd name="T9" fmla="*/ 0 60000 65536"/>
                <a:gd name="T10" fmla="*/ 0 60000 65536"/>
                <a:gd name="T11" fmla="*/ 0 60000 65536"/>
                <a:gd name="T12" fmla="*/ 0 w 27"/>
                <a:gd name="T13" fmla="*/ 0 h 35"/>
                <a:gd name="T14" fmla="*/ 27 w 27"/>
                <a:gd name="T15" fmla="*/ 35 h 35"/>
              </a:gdLst>
              <a:ahLst/>
              <a:cxnLst>
                <a:cxn ang="T8">
                  <a:pos x="T0" y="T1"/>
                </a:cxn>
                <a:cxn ang="T9">
                  <a:pos x="T2" y="T3"/>
                </a:cxn>
                <a:cxn ang="T10">
                  <a:pos x="T4" y="T5"/>
                </a:cxn>
                <a:cxn ang="T11">
                  <a:pos x="T6" y="T7"/>
                </a:cxn>
              </a:cxnLst>
              <a:rect l="T12" t="T13" r="T14" b="T15"/>
              <a:pathLst>
                <a:path w="27" h="35">
                  <a:moveTo>
                    <a:pt x="26" y="6"/>
                  </a:moveTo>
                  <a:lnTo>
                    <a:pt x="12" y="0"/>
                  </a:lnTo>
                  <a:lnTo>
                    <a:pt x="0" y="34"/>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7" name="Freeform 6541"/>
            <p:cNvSpPr>
              <a:spLocks/>
            </p:cNvSpPr>
            <p:nvPr/>
          </p:nvSpPr>
          <p:spPr bwMode="auto">
            <a:xfrm>
              <a:off x="2070" y="200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8" name="Line 6542"/>
            <p:cNvSpPr>
              <a:spLocks noChangeShapeType="1"/>
            </p:cNvSpPr>
            <p:nvPr/>
          </p:nvSpPr>
          <p:spPr bwMode="auto">
            <a:xfrm>
              <a:off x="2070" y="2007"/>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79" name="Freeform 6543"/>
            <p:cNvSpPr>
              <a:spLocks/>
            </p:cNvSpPr>
            <p:nvPr/>
          </p:nvSpPr>
          <p:spPr bwMode="auto">
            <a:xfrm>
              <a:off x="2070" y="1977"/>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0" name="Freeform 6544"/>
            <p:cNvSpPr>
              <a:spLocks/>
            </p:cNvSpPr>
            <p:nvPr/>
          </p:nvSpPr>
          <p:spPr bwMode="auto">
            <a:xfrm>
              <a:off x="2070" y="1977"/>
              <a:ext cx="27" cy="31"/>
            </a:xfrm>
            <a:custGeom>
              <a:avLst/>
              <a:gdLst>
                <a:gd name="T0" fmla="*/ 26 w 27"/>
                <a:gd name="T1" fmla="*/ 0 h 31"/>
                <a:gd name="T2" fmla="*/ 13 w 27"/>
                <a:gd name="T3" fmla="*/ 0 h 31"/>
                <a:gd name="T4" fmla="*/ 0 w 27"/>
                <a:gd name="T5" fmla="*/ 30 h 31"/>
                <a:gd name="T6" fmla="*/ 26 w 27"/>
                <a:gd name="T7" fmla="*/ 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26" y="0"/>
                  </a:moveTo>
                  <a:lnTo>
                    <a:pt x="13" y="0"/>
                  </a:lnTo>
                  <a:lnTo>
                    <a:pt x="0" y="3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1" name="Freeform 6545"/>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2" name="Freeform 6546"/>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3" name="Freeform 6547"/>
            <p:cNvSpPr>
              <a:spLocks/>
            </p:cNvSpPr>
            <p:nvPr/>
          </p:nvSpPr>
          <p:spPr bwMode="auto">
            <a:xfrm>
              <a:off x="2081" y="1949"/>
              <a:ext cx="29" cy="29"/>
            </a:xfrm>
            <a:custGeom>
              <a:avLst/>
              <a:gdLst>
                <a:gd name="T0" fmla="*/ 28 w 29"/>
                <a:gd name="T1" fmla="*/ 0 h 29"/>
                <a:gd name="T2" fmla="*/ 0 w 29"/>
                <a:gd name="T3" fmla="*/ 28 h 29"/>
                <a:gd name="T4" fmla="*/ 14 w 29"/>
                <a:gd name="T5" fmla="*/ 28 h 29"/>
                <a:gd name="T6" fmla="*/ 28 w 29"/>
                <a:gd name="T7" fmla="*/ 0 h 29"/>
                <a:gd name="T8" fmla="*/ 0 60000 65536"/>
                <a:gd name="T9" fmla="*/ 0 60000 65536"/>
                <a:gd name="T10" fmla="*/ 0 60000 65536"/>
                <a:gd name="T11" fmla="*/ 0 60000 65536"/>
                <a:gd name="T12" fmla="*/ 0 w 29"/>
                <a:gd name="T13" fmla="*/ 0 h 29"/>
                <a:gd name="T14" fmla="*/ 29 w 29"/>
                <a:gd name="T15" fmla="*/ 29 h 29"/>
              </a:gdLst>
              <a:ahLst/>
              <a:cxnLst>
                <a:cxn ang="T8">
                  <a:pos x="T0" y="T1"/>
                </a:cxn>
                <a:cxn ang="T9">
                  <a:pos x="T2" y="T3"/>
                </a:cxn>
                <a:cxn ang="T10">
                  <a:pos x="T4" y="T5"/>
                </a:cxn>
                <a:cxn ang="T11">
                  <a:pos x="T6" y="T7"/>
                </a:cxn>
              </a:cxnLst>
              <a:rect l="T12" t="T13" r="T14" b="T15"/>
              <a:pathLst>
                <a:path w="29" h="29">
                  <a:moveTo>
                    <a:pt x="28" y="0"/>
                  </a:moveTo>
                  <a:lnTo>
                    <a:pt x="0" y="28"/>
                  </a:lnTo>
                  <a:lnTo>
                    <a:pt x="14" y="28"/>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4" name="Freeform 6548"/>
            <p:cNvSpPr>
              <a:spLocks/>
            </p:cNvSpPr>
            <p:nvPr/>
          </p:nvSpPr>
          <p:spPr bwMode="auto">
            <a:xfrm>
              <a:off x="2081" y="1941"/>
              <a:ext cx="29" cy="37"/>
            </a:xfrm>
            <a:custGeom>
              <a:avLst/>
              <a:gdLst>
                <a:gd name="T0" fmla="*/ 28 w 29"/>
                <a:gd name="T1" fmla="*/ 8 h 37"/>
                <a:gd name="T2" fmla="*/ 14 w 29"/>
                <a:gd name="T3" fmla="*/ 0 h 37"/>
                <a:gd name="T4" fmla="*/ 0 w 29"/>
                <a:gd name="T5" fmla="*/ 36 h 37"/>
                <a:gd name="T6" fmla="*/ 28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28" y="8"/>
                  </a:moveTo>
                  <a:lnTo>
                    <a:pt x="14" y="0"/>
                  </a:lnTo>
                  <a:lnTo>
                    <a:pt x="0" y="36"/>
                  </a:lnTo>
                  <a:lnTo>
                    <a:pt x="28"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5" name="Freeform 6549"/>
            <p:cNvSpPr>
              <a:spLocks/>
            </p:cNvSpPr>
            <p:nvPr/>
          </p:nvSpPr>
          <p:spPr bwMode="auto">
            <a:xfrm>
              <a:off x="2096" y="194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6" name="Line 6550"/>
            <p:cNvSpPr>
              <a:spLocks noChangeShapeType="1"/>
            </p:cNvSpPr>
            <p:nvPr/>
          </p:nvSpPr>
          <p:spPr bwMode="auto">
            <a:xfrm>
              <a:off x="2096" y="19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7" name="Freeform 6551"/>
            <p:cNvSpPr>
              <a:spLocks/>
            </p:cNvSpPr>
            <p:nvPr/>
          </p:nvSpPr>
          <p:spPr bwMode="auto">
            <a:xfrm>
              <a:off x="2096" y="1919"/>
              <a:ext cx="24" cy="31"/>
            </a:xfrm>
            <a:custGeom>
              <a:avLst/>
              <a:gdLst>
                <a:gd name="T0" fmla="*/ 23 w 24"/>
                <a:gd name="T1" fmla="*/ 0 h 31"/>
                <a:gd name="T2" fmla="*/ 0 w 24"/>
                <a:gd name="T3" fmla="*/ 21 h 31"/>
                <a:gd name="T4" fmla="*/ 12 w 24"/>
                <a:gd name="T5" fmla="*/ 30 h 31"/>
                <a:gd name="T6" fmla="*/ 23 w 24"/>
                <a:gd name="T7" fmla="*/ 0 h 31"/>
                <a:gd name="T8" fmla="*/ 0 60000 65536"/>
                <a:gd name="T9" fmla="*/ 0 60000 65536"/>
                <a:gd name="T10" fmla="*/ 0 60000 65536"/>
                <a:gd name="T11" fmla="*/ 0 60000 65536"/>
                <a:gd name="T12" fmla="*/ 0 w 24"/>
                <a:gd name="T13" fmla="*/ 0 h 31"/>
                <a:gd name="T14" fmla="*/ 24 w 24"/>
                <a:gd name="T15" fmla="*/ 31 h 31"/>
              </a:gdLst>
              <a:ahLst/>
              <a:cxnLst>
                <a:cxn ang="T8">
                  <a:pos x="T0" y="T1"/>
                </a:cxn>
                <a:cxn ang="T9">
                  <a:pos x="T2" y="T3"/>
                </a:cxn>
                <a:cxn ang="T10">
                  <a:pos x="T4" y="T5"/>
                </a:cxn>
                <a:cxn ang="T11">
                  <a:pos x="T6" y="T7"/>
                </a:cxn>
              </a:cxnLst>
              <a:rect l="T12" t="T13" r="T14" b="T15"/>
              <a:pathLst>
                <a:path w="24" h="31">
                  <a:moveTo>
                    <a:pt x="23" y="0"/>
                  </a:moveTo>
                  <a:lnTo>
                    <a:pt x="0" y="21"/>
                  </a:lnTo>
                  <a:lnTo>
                    <a:pt x="12" y="30"/>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8" name="Freeform 6552"/>
            <p:cNvSpPr>
              <a:spLocks/>
            </p:cNvSpPr>
            <p:nvPr/>
          </p:nvSpPr>
          <p:spPr bwMode="auto">
            <a:xfrm>
              <a:off x="2096" y="1913"/>
              <a:ext cx="24" cy="29"/>
            </a:xfrm>
            <a:custGeom>
              <a:avLst/>
              <a:gdLst>
                <a:gd name="T0" fmla="*/ 23 w 24"/>
                <a:gd name="T1" fmla="*/ 6 h 29"/>
                <a:gd name="T2" fmla="*/ 12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2" y="0"/>
                  </a:lnTo>
                  <a:lnTo>
                    <a:pt x="0" y="28"/>
                  </a:lnTo>
                  <a:lnTo>
                    <a:pt x="23"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89" name="Freeform 6553"/>
            <p:cNvSpPr>
              <a:spLocks/>
            </p:cNvSpPr>
            <p:nvPr/>
          </p:nvSpPr>
          <p:spPr bwMode="auto">
            <a:xfrm>
              <a:off x="2109" y="1913"/>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0" name="Line 6554"/>
            <p:cNvSpPr>
              <a:spLocks noChangeShapeType="1"/>
            </p:cNvSpPr>
            <p:nvPr/>
          </p:nvSpPr>
          <p:spPr bwMode="auto">
            <a:xfrm>
              <a:off x="2109" y="1913"/>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1" name="Freeform 6555"/>
            <p:cNvSpPr>
              <a:spLocks/>
            </p:cNvSpPr>
            <p:nvPr/>
          </p:nvSpPr>
          <p:spPr bwMode="auto">
            <a:xfrm>
              <a:off x="2109" y="1892"/>
              <a:ext cx="26" cy="28"/>
            </a:xfrm>
            <a:custGeom>
              <a:avLst/>
              <a:gdLst>
                <a:gd name="T0" fmla="*/ 25 w 26"/>
                <a:gd name="T1" fmla="*/ 0 h 28"/>
                <a:gd name="T2" fmla="*/ 0 w 26"/>
                <a:gd name="T3" fmla="*/ 20 h 28"/>
                <a:gd name="T4" fmla="*/ 11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20"/>
                  </a:lnTo>
                  <a:lnTo>
                    <a:pt x="11"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2" name="Freeform 6556"/>
            <p:cNvSpPr>
              <a:spLocks/>
            </p:cNvSpPr>
            <p:nvPr/>
          </p:nvSpPr>
          <p:spPr bwMode="auto">
            <a:xfrm>
              <a:off x="2109" y="1886"/>
              <a:ext cx="26" cy="28"/>
            </a:xfrm>
            <a:custGeom>
              <a:avLst/>
              <a:gdLst>
                <a:gd name="T0" fmla="*/ 25 w 26"/>
                <a:gd name="T1" fmla="*/ 6 h 28"/>
                <a:gd name="T2" fmla="*/ 11 w 26"/>
                <a:gd name="T3" fmla="*/ 0 h 28"/>
                <a:gd name="T4" fmla="*/ 0 w 26"/>
                <a:gd name="T5" fmla="*/ 27 h 28"/>
                <a:gd name="T6" fmla="*/ 25 w 26"/>
                <a:gd name="T7" fmla="*/ 6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6"/>
                  </a:moveTo>
                  <a:lnTo>
                    <a:pt x="11" y="0"/>
                  </a:lnTo>
                  <a:lnTo>
                    <a:pt x="0" y="27"/>
                  </a:lnTo>
                  <a:lnTo>
                    <a:pt x="25"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3" name="Freeform 6557"/>
            <p:cNvSpPr>
              <a:spLocks/>
            </p:cNvSpPr>
            <p:nvPr/>
          </p:nvSpPr>
          <p:spPr bwMode="auto">
            <a:xfrm>
              <a:off x="2119" y="1886"/>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4" name="Line 6558"/>
            <p:cNvSpPr>
              <a:spLocks noChangeShapeType="1"/>
            </p:cNvSpPr>
            <p:nvPr/>
          </p:nvSpPr>
          <p:spPr bwMode="auto">
            <a:xfrm>
              <a:off x="2119" y="1886"/>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5" name="Freeform 6559"/>
            <p:cNvSpPr>
              <a:spLocks/>
            </p:cNvSpPr>
            <p:nvPr/>
          </p:nvSpPr>
          <p:spPr bwMode="auto">
            <a:xfrm>
              <a:off x="2119" y="1864"/>
              <a:ext cx="28" cy="29"/>
            </a:xfrm>
            <a:custGeom>
              <a:avLst/>
              <a:gdLst>
                <a:gd name="T0" fmla="*/ 27 w 28"/>
                <a:gd name="T1" fmla="*/ 0 h 29"/>
                <a:gd name="T2" fmla="*/ 0 w 28"/>
                <a:gd name="T3" fmla="*/ 21 h 29"/>
                <a:gd name="T4" fmla="*/ 13 w 28"/>
                <a:gd name="T5" fmla="*/ 28 h 29"/>
                <a:gd name="T6" fmla="*/ 27 w 28"/>
                <a:gd name="T7" fmla="*/ 0 h 29"/>
                <a:gd name="T8" fmla="*/ 0 60000 65536"/>
                <a:gd name="T9" fmla="*/ 0 60000 65536"/>
                <a:gd name="T10" fmla="*/ 0 60000 65536"/>
                <a:gd name="T11" fmla="*/ 0 60000 65536"/>
                <a:gd name="T12" fmla="*/ 0 w 28"/>
                <a:gd name="T13" fmla="*/ 0 h 29"/>
                <a:gd name="T14" fmla="*/ 28 w 28"/>
                <a:gd name="T15" fmla="*/ 29 h 29"/>
              </a:gdLst>
              <a:ahLst/>
              <a:cxnLst>
                <a:cxn ang="T8">
                  <a:pos x="T0" y="T1"/>
                </a:cxn>
                <a:cxn ang="T9">
                  <a:pos x="T2" y="T3"/>
                </a:cxn>
                <a:cxn ang="T10">
                  <a:pos x="T4" y="T5"/>
                </a:cxn>
                <a:cxn ang="T11">
                  <a:pos x="T6" y="T7"/>
                </a:cxn>
              </a:cxnLst>
              <a:rect l="T12" t="T13" r="T14" b="T15"/>
              <a:pathLst>
                <a:path w="28" h="29">
                  <a:moveTo>
                    <a:pt x="27" y="0"/>
                  </a:moveTo>
                  <a:lnTo>
                    <a:pt x="0" y="21"/>
                  </a:lnTo>
                  <a:lnTo>
                    <a:pt x="13" y="28"/>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6" name="Freeform 6560"/>
            <p:cNvSpPr>
              <a:spLocks/>
            </p:cNvSpPr>
            <p:nvPr/>
          </p:nvSpPr>
          <p:spPr bwMode="auto">
            <a:xfrm>
              <a:off x="2119" y="1856"/>
              <a:ext cx="28" cy="31"/>
            </a:xfrm>
            <a:custGeom>
              <a:avLst/>
              <a:gdLst>
                <a:gd name="T0" fmla="*/ 27 w 28"/>
                <a:gd name="T1" fmla="*/ 8 h 31"/>
                <a:gd name="T2" fmla="*/ 13 w 28"/>
                <a:gd name="T3" fmla="*/ 0 h 31"/>
                <a:gd name="T4" fmla="*/ 0 w 28"/>
                <a:gd name="T5" fmla="*/ 30 h 31"/>
                <a:gd name="T6" fmla="*/ 27 w 28"/>
                <a:gd name="T7" fmla="*/ 8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8"/>
                  </a:moveTo>
                  <a:lnTo>
                    <a:pt x="13" y="0"/>
                  </a:lnTo>
                  <a:lnTo>
                    <a:pt x="0" y="30"/>
                  </a:lnTo>
                  <a:lnTo>
                    <a:pt x="27"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7" name="Freeform 6561"/>
            <p:cNvSpPr>
              <a:spLocks/>
            </p:cNvSpPr>
            <p:nvPr/>
          </p:nvSpPr>
          <p:spPr bwMode="auto">
            <a:xfrm>
              <a:off x="2134" y="1856"/>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8" name="Line 6562"/>
            <p:cNvSpPr>
              <a:spLocks noChangeShapeType="1"/>
            </p:cNvSpPr>
            <p:nvPr/>
          </p:nvSpPr>
          <p:spPr bwMode="auto">
            <a:xfrm>
              <a:off x="2134" y="1856"/>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199" name="Freeform 6563"/>
            <p:cNvSpPr>
              <a:spLocks/>
            </p:cNvSpPr>
            <p:nvPr/>
          </p:nvSpPr>
          <p:spPr bwMode="auto">
            <a:xfrm>
              <a:off x="2134" y="1835"/>
              <a:ext cx="24" cy="30"/>
            </a:xfrm>
            <a:custGeom>
              <a:avLst/>
              <a:gdLst>
                <a:gd name="T0" fmla="*/ 23 w 24"/>
                <a:gd name="T1" fmla="*/ 0 h 30"/>
                <a:gd name="T2" fmla="*/ 0 w 24"/>
                <a:gd name="T3" fmla="*/ 20 h 30"/>
                <a:gd name="T4" fmla="*/ 11 w 24"/>
                <a:gd name="T5" fmla="*/ 29 h 30"/>
                <a:gd name="T6" fmla="*/ 23 w 24"/>
                <a:gd name="T7" fmla="*/ 0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0"/>
                  </a:moveTo>
                  <a:lnTo>
                    <a:pt x="0" y="20"/>
                  </a:lnTo>
                  <a:lnTo>
                    <a:pt x="11" y="29"/>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0" name="Freeform 6564"/>
            <p:cNvSpPr>
              <a:spLocks/>
            </p:cNvSpPr>
            <p:nvPr/>
          </p:nvSpPr>
          <p:spPr bwMode="auto">
            <a:xfrm>
              <a:off x="2134" y="1828"/>
              <a:ext cx="24" cy="29"/>
            </a:xfrm>
            <a:custGeom>
              <a:avLst/>
              <a:gdLst>
                <a:gd name="T0" fmla="*/ 23 w 24"/>
                <a:gd name="T1" fmla="*/ 6 h 29"/>
                <a:gd name="T2" fmla="*/ 11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1" y="0"/>
                  </a:lnTo>
                  <a:lnTo>
                    <a:pt x="0" y="28"/>
                  </a:lnTo>
                  <a:lnTo>
                    <a:pt x="23"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1" name="Freeform 6565"/>
            <p:cNvSpPr>
              <a:spLocks/>
            </p:cNvSpPr>
            <p:nvPr/>
          </p:nvSpPr>
          <p:spPr bwMode="auto">
            <a:xfrm>
              <a:off x="2146" y="182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2" name="Line 6566"/>
            <p:cNvSpPr>
              <a:spLocks noChangeShapeType="1"/>
            </p:cNvSpPr>
            <p:nvPr/>
          </p:nvSpPr>
          <p:spPr bwMode="auto">
            <a:xfrm>
              <a:off x="2146" y="182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3" name="Freeform 6567"/>
            <p:cNvSpPr>
              <a:spLocks/>
            </p:cNvSpPr>
            <p:nvPr/>
          </p:nvSpPr>
          <p:spPr bwMode="auto">
            <a:xfrm>
              <a:off x="2146" y="1813"/>
              <a:ext cx="24" cy="28"/>
            </a:xfrm>
            <a:custGeom>
              <a:avLst/>
              <a:gdLst>
                <a:gd name="T0" fmla="*/ 23 w 24"/>
                <a:gd name="T1" fmla="*/ 0 h 28"/>
                <a:gd name="T2" fmla="*/ 0 w 24"/>
                <a:gd name="T3" fmla="*/ 18 h 28"/>
                <a:gd name="T4" fmla="*/ 12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18"/>
                  </a:lnTo>
                  <a:lnTo>
                    <a:pt x="12" y="27"/>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4" name="Freeform 6568"/>
            <p:cNvSpPr>
              <a:spLocks/>
            </p:cNvSpPr>
            <p:nvPr/>
          </p:nvSpPr>
          <p:spPr bwMode="auto">
            <a:xfrm>
              <a:off x="2146" y="1807"/>
              <a:ext cx="24" cy="26"/>
            </a:xfrm>
            <a:custGeom>
              <a:avLst/>
              <a:gdLst>
                <a:gd name="T0" fmla="*/ 23 w 24"/>
                <a:gd name="T1" fmla="*/ 7 h 26"/>
                <a:gd name="T2" fmla="*/ 12 w 24"/>
                <a:gd name="T3" fmla="*/ 0 h 26"/>
                <a:gd name="T4" fmla="*/ 0 w 24"/>
                <a:gd name="T5" fmla="*/ 25 h 26"/>
                <a:gd name="T6" fmla="*/ 23 w 24"/>
                <a:gd name="T7" fmla="*/ 7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7"/>
                  </a:moveTo>
                  <a:lnTo>
                    <a:pt x="12" y="0"/>
                  </a:lnTo>
                  <a:lnTo>
                    <a:pt x="0" y="25"/>
                  </a:lnTo>
                  <a:lnTo>
                    <a:pt x="23" y="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5" name="Freeform 6569"/>
            <p:cNvSpPr>
              <a:spLocks/>
            </p:cNvSpPr>
            <p:nvPr/>
          </p:nvSpPr>
          <p:spPr bwMode="auto">
            <a:xfrm>
              <a:off x="2157" y="180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6" name="Line 6570"/>
            <p:cNvSpPr>
              <a:spLocks noChangeShapeType="1"/>
            </p:cNvSpPr>
            <p:nvPr/>
          </p:nvSpPr>
          <p:spPr bwMode="auto">
            <a:xfrm>
              <a:off x="2157" y="180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7" name="Freeform 6571"/>
            <p:cNvSpPr>
              <a:spLocks/>
            </p:cNvSpPr>
            <p:nvPr/>
          </p:nvSpPr>
          <p:spPr bwMode="auto">
            <a:xfrm>
              <a:off x="2157" y="1792"/>
              <a:ext cx="28" cy="27"/>
            </a:xfrm>
            <a:custGeom>
              <a:avLst/>
              <a:gdLst>
                <a:gd name="T0" fmla="*/ 27 w 28"/>
                <a:gd name="T1" fmla="*/ 0 h 27"/>
                <a:gd name="T2" fmla="*/ 0 w 28"/>
                <a:gd name="T3" fmla="*/ 18 h 27"/>
                <a:gd name="T4" fmla="*/ 16 w 28"/>
                <a:gd name="T5" fmla="*/ 26 h 27"/>
                <a:gd name="T6" fmla="*/ 27 w 28"/>
                <a:gd name="T7" fmla="*/ 0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0"/>
                  </a:moveTo>
                  <a:lnTo>
                    <a:pt x="0" y="18"/>
                  </a:lnTo>
                  <a:lnTo>
                    <a:pt x="16" y="26"/>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8" name="Freeform 6572"/>
            <p:cNvSpPr>
              <a:spLocks/>
            </p:cNvSpPr>
            <p:nvPr/>
          </p:nvSpPr>
          <p:spPr bwMode="auto">
            <a:xfrm>
              <a:off x="2157" y="1785"/>
              <a:ext cx="28" cy="28"/>
            </a:xfrm>
            <a:custGeom>
              <a:avLst/>
              <a:gdLst>
                <a:gd name="T0" fmla="*/ 27 w 28"/>
                <a:gd name="T1" fmla="*/ 8 h 28"/>
                <a:gd name="T2" fmla="*/ 16 w 28"/>
                <a:gd name="T3" fmla="*/ 0 h 28"/>
                <a:gd name="T4" fmla="*/ 0 w 28"/>
                <a:gd name="T5" fmla="*/ 27 h 28"/>
                <a:gd name="T6" fmla="*/ 27 w 28"/>
                <a:gd name="T7" fmla="*/ 8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8"/>
                  </a:moveTo>
                  <a:lnTo>
                    <a:pt x="16" y="0"/>
                  </a:lnTo>
                  <a:lnTo>
                    <a:pt x="0" y="27"/>
                  </a:lnTo>
                  <a:lnTo>
                    <a:pt x="27"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09" name="Freeform 6573"/>
            <p:cNvSpPr>
              <a:spLocks/>
            </p:cNvSpPr>
            <p:nvPr/>
          </p:nvSpPr>
          <p:spPr bwMode="auto">
            <a:xfrm>
              <a:off x="2169" y="1785"/>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0" name="Line 6574"/>
            <p:cNvSpPr>
              <a:spLocks noChangeShapeType="1"/>
            </p:cNvSpPr>
            <p:nvPr/>
          </p:nvSpPr>
          <p:spPr bwMode="auto">
            <a:xfrm>
              <a:off x="2169" y="1785"/>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1" name="Freeform 6575"/>
            <p:cNvSpPr>
              <a:spLocks/>
            </p:cNvSpPr>
            <p:nvPr/>
          </p:nvSpPr>
          <p:spPr bwMode="auto">
            <a:xfrm>
              <a:off x="2169" y="1777"/>
              <a:ext cx="27" cy="28"/>
            </a:xfrm>
            <a:custGeom>
              <a:avLst/>
              <a:gdLst>
                <a:gd name="T0" fmla="*/ 26 w 27"/>
                <a:gd name="T1" fmla="*/ 0 h 28"/>
                <a:gd name="T2" fmla="*/ 0 w 27"/>
                <a:gd name="T3" fmla="*/ 15 h 28"/>
                <a:gd name="T4" fmla="*/ 1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0"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2" name="Freeform 6576"/>
            <p:cNvSpPr>
              <a:spLocks/>
            </p:cNvSpPr>
            <p:nvPr/>
          </p:nvSpPr>
          <p:spPr bwMode="auto">
            <a:xfrm>
              <a:off x="2169" y="1771"/>
              <a:ext cx="27" cy="27"/>
            </a:xfrm>
            <a:custGeom>
              <a:avLst/>
              <a:gdLst>
                <a:gd name="T0" fmla="*/ 26 w 27"/>
                <a:gd name="T1" fmla="*/ 11 h 27"/>
                <a:gd name="T2" fmla="*/ 18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8" y="0"/>
                  </a:lnTo>
                  <a:lnTo>
                    <a:pt x="0" y="26"/>
                  </a:lnTo>
                  <a:lnTo>
                    <a:pt x="26"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3" name="Freeform 6577"/>
            <p:cNvSpPr>
              <a:spLocks/>
            </p:cNvSpPr>
            <p:nvPr/>
          </p:nvSpPr>
          <p:spPr bwMode="auto">
            <a:xfrm>
              <a:off x="2184" y="177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4" name="Line 6578"/>
            <p:cNvSpPr>
              <a:spLocks noChangeShapeType="1"/>
            </p:cNvSpPr>
            <p:nvPr/>
          </p:nvSpPr>
          <p:spPr bwMode="auto">
            <a:xfrm>
              <a:off x="2184" y="1771"/>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5" name="Freeform 6579"/>
            <p:cNvSpPr>
              <a:spLocks/>
            </p:cNvSpPr>
            <p:nvPr/>
          </p:nvSpPr>
          <p:spPr bwMode="auto">
            <a:xfrm>
              <a:off x="2184" y="1764"/>
              <a:ext cx="24" cy="27"/>
            </a:xfrm>
            <a:custGeom>
              <a:avLst/>
              <a:gdLst>
                <a:gd name="T0" fmla="*/ 23 w 24"/>
                <a:gd name="T1" fmla="*/ 0 h 27"/>
                <a:gd name="T2" fmla="*/ 0 w 24"/>
                <a:gd name="T3" fmla="*/ 13 h 27"/>
                <a:gd name="T4" fmla="*/ 7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3"/>
                  </a:lnTo>
                  <a:lnTo>
                    <a:pt x="7"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6" name="Freeform 6580"/>
            <p:cNvSpPr>
              <a:spLocks/>
            </p:cNvSpPr>
            <p:nvPr/>
          </p:nvSpPr>
          <p:spPr bwMode="auto">
            <a:xfrm>
              <a:off x="2184" y="1755"/>
              <a:ext cx="24" cy="28"/>
            </a:xfrm>
            <a:custGeom>
              <a:avLst/>
              <a:gdLst>
                <a:gd name="T0" fmla="*/ 23 w 24"/>
                <a:gd name="T1" fmla="*/ 15 h 28"/>
                <a:gd name="T2" fmla="*/ 15 w 24"/>
                <a:gd name="T3" fmla="*/ 0 h 28"/>
                <a:gd name="T4" fmla="*/ 0 w 24"/>
                <a:gd name="T5" fmla="*/ 27 h 28"/>
                <a:gd name="T6" fmla="*/ 23 w 24"/>
                <a:gd name="T7" fmla="*/ 15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5"/>
                  </a:moveTo>
                  <a:lnTo>
                    <a:pt x="15" y="0"/>
                  </a:lnTo>
                  <a:lnTo>
                    <a:pt x="0" y="27"/>
                  </a:lnTo>
                  <a:lnTo>
                    <a:pt x="23"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7" name="Freeform 6581"/>
            <p:cNvSpPr>
              <a:spLocks/>
            </p:cNvSpPr>
            <p:nvPr/>
          </p:nvSpPr>
          <p:spPr bwMode="auto">
            <a:xfrm>
              <a:off x="2195" y="1749"/>
              <a:ext cx="27" cy="28"/>
            </a:xfrm>
            <a:custGeom>
              <a:avLst/>
              <a:gdLst>
                <a:gd name="T0" fmla="*/ 0 w 27"/>
                <a:gd name="T1" fmla="*/ 0 h 28"/>
                <a:gd name="T2" fmla="*/ 0 w 27"/>
                <a:gd name="T3" fmla="*/ 27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27"/>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8" name="Freeform 6582"/>
            <p:cNvSpPr>
              <a:spLocks/>
            </p:cNvSpPr>
            <p:nvPr/>
          </p:nvSpPr>
          <p:spPr bwMode="auto">
            <a:xfrm>
              <a:off x="2195" y="1749"/>
              <a:ext cx="1" cy="28"/>
            </a:xfrm>
            <a:custGeom>
              <a:avLst/>
              <a:gdLst>
                <a:gd name="T0" fmla="*/ 0 w 1"/>
                <a:gd name="T1" fmla="*/ 0 h 28"/>
                <a:gd name="T2" fmla="*/ 0 w 1"/>
                <a:gd name="T3" fmla="*/ 27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19" name="Freeform 6583"/>
            <p:cNvSpPr>
              <a:spLocks/>
            </p:cNvSpPr>
            <p:nvPr/>
          </p:nvSpPr>
          <p:spPr bwMode="auto">
            <a:xfrm>
              <a:off x="2195" y="1749"/>
              <a:ext cx="27" cy="28"/>
            </a:xfrm>
            <a:custGeom>
              <a:avLst/>
              <a:gdLst>
                <a:gd name="T0" fmla="*/ 26 w 27"/>
                <a:gd name="T1" fmla="*/ 0 h 28"/>
                <a:gd name="T2" fmla="*/ 0 w 27"/>
                <a:gd name="T3" fmla="*/ 0 h 28"/>
                <a:gd name="T4" fmla="*/ 8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8"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0" name="Freeform 6584"/>
            <p:cNvSpPr>
              <a:spLocks/>
            </p:cNvSpPr>
            <p:nvPr/>
          </p:nvSpPr>
          <p:spPr bwMode="auto">
            <a:xfrm>
              <a:off x="2195" y="1742"/>
              <a:ext cx="27" cy="28"/>
            </a:xfrm>
            <a:custGeom>
              <a:avLst/>
              <a:gdLst>
                <a:gd name="T0" fmla="*/ 26 w 27"/>
                <a:gd name="T1" fmla="*/ 27 h 28"/>
                <a:gd name="T2" fmla="*/ 16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6"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1" name="Freeform 6585"/>
            <p:cNvSpPr>
              <a:spLocks/>
            </p:cNvSpPr>
            <p:nvPr/>
          </p:nvSpPr>
          <p:spPr bwMode="auto">
            <a:xfrm>
              <a:off x="2206" y="1742"/>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2" name="Line 6586"/>
            <p:cNvSpPr>
              <a:spLocks noChangeShapeType="1"/>
            </p:cNvSpPr>
            <p:nvPr/>
          </p:nvSpPr>
          <p:spPr bwMode="auto">
            <a:xfrm>
              <a:off x="2206" y="1742"/>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3" name="Freeform 6587"/>
            <p:cNvSpPr>
              <a:spLocks/>
            </p:cNvSpPr>
            <p:nvPr/>
          </p:nvSpPr>
          <p:spPr bwMode="auto">
            <a:xfrm>
              <a:off x="2206" y="1742"/>
              <a:ext cx="25" cy="28"/>
            </a:xfrm>
            <a:custGeom>
              <a:avLst/>
              <a:gdLst>
                <a:gd name="T0" fmla="*/ 24 w 25"/>
                <a:gd name="T1" fmla="*/ 0 h 28"/>
                <a:gd name="T2" fmla="*/ 0 w 25"/>
                <a:gd name="T3" fmla="*/ 0 h 28"/>
                <a:gd name="T4" fmla="*/ 9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0"/>
                  </a:lnTo>
                  <a:lnTo>
                    <a:pt x="9" y="27"/>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4" name="Freeform 6588"/>
            <p:cNvSpPr>
              <a:spLocks/>
            </p:cNvSpPr>
            <p:nvPr/>
          </p:nvSpPr>
          <p:spPr bwMode="auto">
            <a:xfrm>
              <a:off x="2206" y="1734"/>
              <a:ext cx="25" cy="28"/>
            </a:xfrm>
            <a:custGeom>
              <a:avLst/>
              <a:gdLst>
                <a:gd name="T0" fmla="*/ 24 w 25"/>
                <a:gd name="T1" fmla="*/ 27 h 28"/>
                <a:gd name="T2" fmla="*/ 16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6"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5" name="Freeform 6589"/>
            <p:cNvSpPr>
              <a:spLocks/>
            </p:cNvSpPr>
            <p:nvPr/>
          </p:nvSpPr>
          <p:spPr bwMode="auto">
            <a:xfrm>
              <a:off x="2216" y="1734"/>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6" name="Line 6590"/>
            <p:cNvSpPr>
              <a:spLocks noChangeShapeType="1"/>
            </p:cNvSpPr>
            <p:nvPr/>
          </p:nvSpPr>
          <p:spPr bwMode="auto">
            <a:xfrm>
              <a:off x="2216" y="1734"/>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7" name="Freeform 6591"/>
            <p:cNvSpPr>
              <a:spLocks/>
            </p:cNvSpPr>
            <p:nvPr/>
          </p:nvSpPr>
          <p:spPr bwMode="auto">
            <a:xfrm>
              <a:off x="2216" y="1734"/>
              <a:ext cx="29" cy="28"/>
            </a:xfrm>
            <a:custGeom>
              <a:avLst/>
              <a:gdLst>
                <a:gd name="T0" fmla="*/ 28 w 29"/>
                <a:gd name="T1" fmla="*/ 27 h 28"/>
                <a:gd name="T2" fmla="*/ 0 w 29"/>
                <a:gd name="T3" fmla="*/ 0 h 28"/>
                <a:gd name="T4" fmla="*/ 8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8" y="27"/>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8" name="Freeform 6592"/>
            <p:cNvSpPr>
              <a:spLocks/>
            </p:cNvSpPr>
            <p:nvPr/>
          </p:nvSpPr>
          <p:spPr bwMode="auto">
            <a:xfrm>
              <a:off x="2216" y="1728"/>
              <a:ext cx="29" cy="28"/>
            </a:xfrm>
            <a:custGeom>
              <a:avLst/>
              <a:gdLst>
                <a:gd name="T0" fmla="*/ 28 w 29"/>
                <a:gd name="T1" fmla="*/ 27 h 28"/>
                <a:gd name="T2" fmla="*/ 19 w 29"/>
                <a:gd name="T3" fmla="*/ 0 h 28"/>
                <a:gd name="T4" fmla="*/ 0 w 29"/>
                <a:gd name="T5" fmla="*/ 12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9" y="0"/>
                  </a:lnTo>
                  <a:lnTo>
                    <a:pt x="0" y="12"/>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29" name="Freeform 6593"/>
            <p:cNvSpPr>
              <a:spLocks/>
            </p:cNvSpPr>
            <p:nvPr/>
          </p:nvSpPr>
          <p:spPr bwMode="auto">
            <a:xfrm>
              <a:off x="2233" y="1728"/>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0" name="Line 6594"/>
            <p:cNvSpPr>
              <a:spLocks noChangeShapeType="1"/>
            </p:cNvSpPr>
            <p:nvPr/>
          </p:nvSpPr>
          <p:spPr bwMode="auto">
            <a:xfrm>
              <a:off x="2233" y="1728"/>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1" name="Freeform 6595"/>
            <p:cNvSpPr>
              <a:spLocks/>
            </p:cNvSpPr>
            <p:nvPr/>
          </p:nvSpPr>
          <p:spPr bwMode="auto">
            <a:xfrm>
              <a:off x="2233" y="1728"/>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2" name="Freeform 6596"/>
            <p:cNvSpPr>
              <a:spLocks/>
            </p:cNvSpPr>
            <p:nvPr/>
          </p:nvSpPr>
          <p:spPr bwMode="auto">
            <a:xfrm>
              <a:off x="2233" y="1728"/>
              <a:ext cx="26" cy="28"/>
            </a:xfrm>
            <a:custGeom>
              <a:avLst/>
              <a:gdLst>
                <a:gd name="T0" fmla="*/ 0 w 26"/>
                <a:gd name="T1" fmla="*/ 0 h 28"/>
                <a:gd name="T2" fmla="*/ 25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25"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3" name="Freeform 6597"/>
            <p:cNvSpPr>
              <a:spLocks/>
            </p:cNvSpPr>
            <p:nvPr/>
          </p:nvSpPr>
          <p:spPr bwMode="auto">
            <a:xfrm>
              <a:off x="2245" y="1728"/>
              <a:ext cx="27" cy="28"/>
            </a:xfrm>
            <a:custGeom>
              <a:avLst/>
              <a:gdLst>
                <a:gd name="T0" fmla="*/ 0 w 27"/>
                <a:gd name="T1" fmla="*/ 0 h 28"/>
                <a:gd name="T2" fmla="*/ 0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0"/>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4" name="Line 6598"/>
            <p:cNvSpPr>
              <a:spLocks noChangeShapeType="1"/>
            </p:cNvSpPr>
            <p:nvPr/>
          </p:nvSpPr>
          <p:spPr bwMode="auto">
            <a:xfrm>
              <a:off x="2245" y="1728"/>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5" name="Freeform 6599"/>
            <p:cNvSpPr>
              <a:spLocks/>
            </p:cNvSpPr>
            <p:nvPr/>
          </p:nvSpPr>
          <p:spPr bwMode="auto">
            <a:xfrm>
              <a:off x="2245" y="1728"/>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6" name="Freeform 6600"/>
            <p:cNvSpPr>
              <a:spLocks/>
            </p:cNvSpPr>
            <p:nvPr/>
          </p:nvSpPr>
          <p:spPr bwMode="auto">
            <a:xfrm>
              <a:off x="2245" y="1728"/>
              <a:ext cx="27" cy="28"/>
            </a:xfrm>
            <a:custGeom>
              <a:avLst/>
              <a:gdLst>
                <a:gd name="T0" fmla="*/ 0 w 27"/>
                <a:gd name="T1" fmla="*/ 0 h 28"/>
                <a:gd name="T2" fmla="*/ 26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26" y="0"/>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7" name="Freeform 6601"/>
            <p:cNvSpPr>
              <a:spLocks/>
            </p:cNvSpPr>
            <p:nvPr/>
          </p:nvSpPr>
          <p:spPr bwMode="auto">
            <a:xfrm>
              <a:off x="2254" y="1728"/>
              <a:ext cx="29" cy="28"/>
            </a:xfrm>
            <a:custGeom>
              <a:avLst/>
              <a:gdLst>
                <a:gd name="T0" fmla="*/ 0 w 29"/>
                <a:gd name="T1" fmla="*/ 0 h 28"/>
                <a:gd name="T2" fmla="*/ 0 w 29"/>
                <a:gd name="T3" fmla="*/ 0 h 28"/>
                <a:gd name="T4" fmla="*/ 28 w 29"/>
                <a:gd name="T5" fmla="*/ 27 h 28"/>
                <a:gd name="T6" fmla="*/ 0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0"/>
                  </a:moveTo>
                  <a:lnTo>
                    <a:pt x="0" y="0"/>
                  </a:lnTo>
                  <a:lnTo>
                    <a:pt x="28"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8" name="Line 6602"/>
            <p:cNvSpPr>
              <a:spLocks noChangeShapeType="1"/>
            </p:cNvSpPr>
            <p:nvPr/>
          </p:nvSpPr>
          <p:spPr bwMode="auto">
            <a:xfrm>
              <a:off x="2254" y="1728"/>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39" name="Freeform 6603"/>
            <p:cNvSpPr>
              <a:spLocks/>
            </p:cNvSpPr>
            <p:nvPr/>
          </p:nvSpPr>
          <p:spPr bwMode="auto">
            <a:xfrm>
              <a:off x="2254" y="1728"/>
              <a:ext cx="29" cy="28"/>
            </a:xfrm>
            <a:custGeom>
              <a:avLst/>
              <a:gdLst>
                <a:gd name="T0" fmla="*/ 28 w 29"/>
                <a:gd name="T1" fmla="*/ 27 h 28"/>
                <a:gd name="T2" fmla="*/ 0 w 29"/>
                <a:gd name="T3" fmla="*/ 0 h 28"/>
                <a:gd name="T4" fmla="*/ 0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0" y="27"/>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0" name="Freeform 6604"/>
            <p:cNvSpPr>
              <a:spLocks/>
            </p:cNvSpPr>
            <p:nvPr/>
          </p:nvSpPr>
          <p:spPr bwMode="auto">
            <a:xfrm>
              <a:off x="2254" y="1728"/>
              <a:ext cx="29" cy="28"/>
            </a:xfrm>
            <a:custGeom>
              <a:avLst/>
              <a:gdLst>
                <a:gd name="T0" fmla="*/ 28 w 29"/>
                <a:gd name="T1" fmla="*/ 27 h 28"/>
                <a:gd name="T2" fmla="*/ 28 w 29"/>
                <a:gd name="T3" fmla="*/ 12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12"/>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1" name="Freeform 6605"/>
            <p:cNvSpPr>
              <a:spLocks/>
            </p:cNvSpPr>
            <p:nvPr/>
          </p:nvSpPr>
          <p:spPr bwMode="auto">
            <a:xfrm>
              <a:off x="2267" y="1734"/>
              <a:ext cx="26" cy="28"/>
            </a:xfrm>
            <a:custGeom>
              <a:avLst/>
              <a:gdLst>
                <a:gd name="T0" fmla="*/ 25 w 26"/>
                <a:gd name="T1" fmla="*/ 0 h 28"/>
                <a:gd name="T2" fmla="*/ 0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0"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2" name="Freeform 6606"/>
            <p:cNvSpPr>
              <a:spLocks/>
            </p:cNvSpPr>
            <p:nvPr/>
          </p:nvSpPr>
          <p:spPr bwMode="auto">
            <a:xfrm>
              <a:off x="2267" y="1734"/>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3" name="Freeform 6607"/>
            <p:cNvSpPr>
              <a:spLocks/>
            </p:cNvSpPr>
            <p:nvPr/>
          </p:nvSpPr>
          <p:spPr bwMode="auto">
            <a:xfrm>
              <a:off x="2262" y="1734"/>
              <a:ext cx="25" cy="28"/>
            </a:xfrm>
            <a:custGeom>
              <a:avLst/>
              <a:gdLst>
                <a:gd name="T0" fmla="*/ 24 w 25"/>
                <a:gd name="T1" fmla="*/ 27 h 28"/>
                <a:gd name="T2" fmla="*/ 24 w 25"/>
                <a:gd name="T3" fmla="*/ 0 h 28"/>
                <a:gd name="T4" fmla="*/ 0 w 25"/>
                <a:gd name="T5" fmla="*/ 15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15"/>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4" name="Freeform 6608"/>
            <p:cNvSpPr>
              <a:spLocks/>
            </p:cNvSpPr>
            <p:nvPr/>
          </p:nvSpPr>
          <p:spPr bwMode="auto">
            <a:xfrm>
              <a:off x="2275" y="1734"/>
              <a:ext cx="25" cy="28"/>
            </a:xfrm>
            <a:custGeom>
              <a:avLst/>
              <a:gdLst>
                <a:gd name="T0" fmla="*/ 0 w 25"/>
                <a:gd name="T1" fmla="*/ 27 h 28"/>
                <a:gd name="T2" fmla="*/ 24 w 25"/>
                <a:gd name="T3" fmla="*/ 15 h 28"/>
                <a:gd name="T4" fmla="*/ 0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24" y="15"/>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5" name="Freeform 6609"/>
            <p:cNvSpPr>
              <a:spLocks/>
            </p:cNvSpPr>
            <p:nvPr/>
          </p:nvSpPr>
          <p:spPr bwMode="auto">
            <a:xfrm>
              <a:off x="2282" y="1742"/>
              <a:ext cx="24" cy="28"/>
            </a:xfrm>
            <a:custGeom>
              <a:avLst/>
              <a:gdLst>
                <a:gd name="T0" fmla="*/ 23 w 24"/>
                <a:gd name="T1" fmla="*/ 0 h 28"/>
                <a:gd name="T2" fmla="*/ 0 w 24"/>
                <a:gd name="T3" fmla="*/ 0 h 28"/>
                <a:gd name="T4" fmla="*/ 0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0"/>
                  </a:lnTo>
                  <a:lnTo>
                    <a:pt x="0" y="27"/>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6" name="Freeform 6610"/>
            <p:cNvSpPr>
              <a:spLocks/>
            </p:cNvSpPr>
            <p:nvPr/>
          </p:nvSpPr>
          <p:spPr bwMode="auto">
            <a:xfrm>
              <a:off x="2282" y="1742"/>
              <a:ext cx="24" cy="1"/>
            </a:xfrm>
            <a:custGeom>
              <a:avLst/>
              <a:gdLst>
                <a:gd name="T0" fmla="*/ 23 w 24"/>
                <a:gd name="T1" fmla="*/ 0 h 1"/>
                <a:gd name="T2" fmla="*/ 23 w 24"/>
                <a:gd name="T3" fmla="*/ 0 h 1"/>
                <a:gd name="T4" fmla="*/ 0 w 24"/>
                <a:gd name="T5" fmla="*/ 0 h 1"/>
                <a:gd name="T6" fmla="*/ 23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23" y="0"/>
                  </a:moveTo>
                  <a:lnTo>
                    <a:pt x="23" y="0"/>
                  </a:lnTo>
                  <a:lnTo>
                    <a:pt x="0" y="0"/>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7" name="Freeform 6611"/>
            <p:cNvSpPr>
              <a:spLocks/>
            </p:cNvSpPr>
            <p:nvPr/>
          </p:nvSpPr>
          <p:spPr bwMode="auto">
            <a:xfrm>
              <a:off x="2275" y="1742"/>
              <a:ext cx="25" cy="28"/>
            </a:xfrm>
            <a:custGeom>
              <a:avLst/>
              <a:gdLst>
                <a:gd name="T0" fmla="*/ 24 w 25"/>
                <a:gd name="T1" fmla="*/ 27 h 28"/>
                <a:gd name="T2" fmla="*/ 24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8"/>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8" name="Freeform 6612"/>
            <p:cNvSpPr>
              <a:spLocks/>
            </p:cNvSpPr>
            <p:nvPr/>
          </p:nvSpPr>
          <p:spPr bwMode="auto">
            <a:xfrm>
              <a:off x="2286" y="1742"/>
              <a:ext cx="28" cy="28"/>
            </a:xfrm>
            <a:custGeom>
              <a:avLst/>
              <a:gdLst>
                <a:gd name="T0" fmla="*/ 0 w 28"/>
                <a:gd name="T1" fmla="*/ 27 h 28"/>
                <a:gd name="T2" fmla="*/ 27 w 28"/>
                <a:gd name="T3" fmla="*/ 8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8"/>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49" name="Freeform 6613"/>
            <p:cNvSpPr>
              <a:spLocks/>
            </p:cNvSpPr>
            <p:nvPr/>
          </p:nvSpPr>
          <p:spPr bwMode="auto">
            <a:xfrm>
              <a:off x="2292" y="1749"/>
              <a:ext cx="26" cy="28"/>
            </a:xfrm>
            <a:custGeom>
              <a:avLst/>
              <a:gdLst>
                <a:gd name="T0" fmla="*/ 25 w 26"/>
                <a:gd name="T1" fmla="*/ 12 h 28"/>
                <a:gd name="T2" fmla="*/ 25 w 26"/>
                <a:gd name="T3" fmla="*/ 0 h 28"/>
                <a:gd name="T4" fmla="*/ 0 w 26"/>
                <a:gd name="T5" fmla="*/ 27 h 28"/>
                <a:gd name="T6" fmla="*/ 25 w 26"/>
                <a:gd name="T7" fmla="*/ 12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2"/>
                  </a:moveTo>
                  <a:lnTo>
                    <a:pt x="25" y="0"/>
                  </a:lnTo>
                  <a:lnTo>
                    <a:pt x="0" y="27"/>
                  </a:lnTo>
                  <a:lnTo>
                    <a:pt x="25"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0" name="Freeform 6614"/>
            <p:cNvSpPr>
              <a:spLocks/>
            </p:cNvSpPr>
            <p:nvPr/>
          </p:nvSpPr>
          <p:spPr bwMode="auto">
            <a:xfrm>
              <a:off x="2299" y="174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1" name="Freeform 6615"/>
            <p:cNvSpPr>
              <a:spLocks/>
            </p:cNvSpPr>
            <p:nvPr/>
          </p:nvSpPr>
          <p:spPr bwMode="auto">
            <a:xfrm>
              <a:off x="2286" y="1755"/>
              <a:ext cx="28" cy="28"/>
            </a:xfrm>
            <a:custGeom>
              <a:avLst/>
              <a:gdLst>
                <a:gd name="T0" fmla="*/ 27 w 28"/>
                <a:gd name="T1" fmla="*/ 27 h 28"/>
                <a:gd name="T2" fmla="*/ 27 w 28"/>
                <a:gd name="T3" fmla="*/ 0 h 28"/>
                <a:gd name="T4" fmla="*/ 0 w 28"/>
                <a:gd name="T5" fmla="*/ 10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27" y="0"/>
                  </a:lnTo>
                  <a:lnTo>
                    <a:pt x="0" y="10"/>
                  </a:lnTo>
                  <a:lnTo>
                    <a:pt x="27"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2" name="Freeform 6616"/>
            <p:cNvSpPr>
              <a:spLocks/>
            </p:cNvSpPr>
            <p:nvPr/>
          </p:nvSpPr>
          <p:spPr bwMode="auto">
            <a:xfrm>
              <a:off x="2299" y="1755"/>
              <a:ext cx="26" cy="28"/>
            </a:xfrm>
            <a:custGeom>
              <a:avLst/>
              <a:gdLst>
                <a:gd name="T0" fmla="*/ 0 w 26"/>
                <a:gd name="T1" fmla="*/ 27 h 28"/>
                <a:gd name="T2" fmla="*/ 25 w 26"/>
                <a:gd name="T3" fmla="*/ 18 h 28"/>
                <a:gd name="T4" fmla="*/ 0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18"/>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3" name="Freeform 6617"/>
            <p:cNvSpPr>
              <a:spLocks/>
            </p:cNvSpPr>
            <p:nvPr/>
          </p:nvSpPr>
          <p:spPr bwMode="auto">
            <a:xfrm>
              <a:off x="2305" y="1771"/>
              <a:ext cx="26" cy="27"/>
            </a:xfrm>
            <a:custGeom>
              <a:avLst/>
              <a:gdLst>
                <a:gd name="T0" fmla="*/ 25 w 26"/>
                <a:gd name="T1" fmla="*/ 0 h 27"/>
                <a:gd name="T2" fmla="*/ 25 w 26"/>
                <a:gd name="T3" fmla="*/ 0 h 27"/>
                <a:gd name="T4" fmla="*/ 0 w 26"/>
                <a:gd name="T5" fmla="*/ 26 h 27"/>
                <a:gd name="T6" fmla="*/ 25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0"/>
                  </a:moveTo>
                  <a:lnTo>
                    <a:pt x="25" y="0"/>
                  </a:lnTo>
                  <a:lnTo>
                    <a:pt x="0" y="26"/>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4" name="Line 6618"/>
            <p:cNvSpPr>
              <a:spLocks noChangeShapeType="1"/>
            </p:cNvSpPr>
            <p:nvPr/>
          </p:nvSpPr>
          <p:spPr bwMode="auto">
            <a:xfrm>
              <a:off x="2313" y="1771"/>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5" name="Freeform 6619"/>
            <p:cNvSpPr>
              <a:spLocks/>
            </p:cNvSpPr>
            <p:nvPr/>
          </p:nvSpPr>
          <p:spPr bwMode="auto">
            <a:xfrm>
              <a:off x="2299" y="1771"/>
              <a:ext cx="26" cy="27"/>
            </a:xfrm>
            <a:custGeom>
              <a:avLst/>
              <a:gdLst>
                <a:gd name="T0" fmla="*/ 25 w 26"/>
                <a:gd name="T1" fmla="*/ 26 h 27"/>
                <a:gd name="T2" fmla="*/ 25 w 26"/>
                <a:gd name="T3" fmla="*/ 0 h 27"/>
                <a:gd name="T4" fmla="*/ 0 w 26"/>
                <a:gd name="T5" fmla="*/ 8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0"/>
                  </a:lnTo>
                  <a:lnTo>
                    <a:pt x="0" y="8"/>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6" name="Freeform 6620"/>
            <p:cNvSpPr>
              <a:spLocks/>
            </p:cNvSpPr>
            <p:nvPr/>
          </p:nvSpPr>
          <p:spPr bwMode="auto">
            <a:xfrm>
              <a:off x="2313" y="1771"/>
              <a:ext cx="25" cy="27"/>
            </a:xfrm>
            <a:custGeom>
              <a:avLst/>
              <a:gdLst>
                <a:gd name="T0" fmla="*/ 0 w 25"/>
                <a:gd name="T1" fmla="*/ 26 h 27"/>
                <a:gd name="T2" fmla="*/ 24 w 25"/>
                <a:gd name="T3" fmla="*/ 18 h 27"/>
                <a:gd name="T4" fmla="*/ 0 w 25"/>
                <a:gd name="T5" fmla="*/ 0 h 27"/>
                <a:gd name="T6" fmla="*/ 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26"/>
                  </a:moveTo>
                  <a:lnTo>
                    <a:pt x="24" y="18"/>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7" name="Freeform 6621"/>
            <p:cNvSpPr>
              <a:spLocks/>
            </p:cNvSpPr>
            <p:nvPr/>
          </p:nvSpPr>
          <p:spPr bwMode="auto">
            <a:xfrm>
              <a:off x="2317" y="1785"/>
              <a:ext cx="27" cy="28"/>
            </a:xfrm>
            <a:custGeom>
              <a:avLst/>
              <a:gdLst>
                <a:gd name="T0" fmla="*/ 26 w 27"/>
                <a:gd name="T1" fmla="*/ 0 h 28"/>
                <a:gd name="T2" fmla="*/ 0 w 27"/>
                <a:gd name="T3" fmla="*/ 0 h 28"/>
                <a:gd name="T4" fmla="*/ 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0"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8" name="Freeform 6622"/>
            <p:cNvSpPr>
              <a:spLocks/>
            </p:cNvSpPr>
            <p:nvPr/>
          </p:nvSpPr>
          <p:spPr bwMode="auto">
            <a:xfrm>
              <a:off x="2317" y="1785"/>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59" name="Freeform 6623"/>
            <p:cNvSpPr>
              <a:spLocks/>
            </p:cNvSpPr>
            <p:nvPr/>
          </p:nvSpPr>
          <p:spPr bwMode="auto">
            <a:xfrm>
              <a:off x="2313" y="1785"/>
              <a:ext cx="25" cy="29"/>
            </a:xfrm>
            <a:custGeom>
              <a:avLst/>
              <a:gdLst>
                <a:gd name="T0" fmla="*/ 24 w 25"/>
                <a:gd name="T1" fmla="*/ 28 h 29"/>
                <a:gd name="T2" fmla="*/ 24 w 25"/>
                <a:gd name="T3" fmla="*/ 0 h 29"/>
                <a:gd name="T4" fmla="*/ 0 w 25"/>
                <a:gd name="T5" fmla="*/ 6 h 29"/>
                <a:gd name="T6" fmla="*/ 24 w 25"/>
                <a:gd name="T7" fmla="*/ 28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28"/>
                  </a:moveTo>
                  <a:lnTo>
                    <a:pt x="24" y="0"/>
                  </a:lnTo>
                  <a:lnTo>
                    <a:pt x="0" y="6"/>
                  </a:lnTo>
                  <a:lnTo>
                    <a:pt x="24"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0" name="Freeform 6624"/>
            <p:cNvSpPr>
              <a:spLocks/>
            </p:cNvSpPr>
            <p:nvPr/>
          </p:nvSpPr>
          <p:spPr bwMode="auto">
            <a:xfrm>
              <a:off x="2324" y="1785"/>
              <a:ext cx="24" cy="29"/>
            </a:xfrm>
            <a:custGeom>
              <a:avLst/>
              <a:gdLst>
                <a:gd name="T0" fmla="*/ 0 w 24"/>
                <a:gd name="T1" fmla="*/ 28 h 29"/>
                <a:gd name="T2" fmla="*/ 23 w 24"/>
                <a:gd name="T3" fmla="*/ 21 h 29"/>
                <a:gd name="T4" fmla="*/ 0 w 24"/>
                <a:gd name="T5" fmla="*/ 0 h 29"/>
                <a:gd name="T6" fmla="*/ 0 w 24"/>
                <a:gd name="T7" fmla="*/ 28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28"/>
                  </a:moveTo>
                  <a:lnTo>
                    <a:pt x="23" y="21"/>
                  </a:lnTo>
                  <a:lnTo>
                    <a:pt x="0" y="0"/>
                  </a:lnTo>
                  <a:lnTo>
                    <a:pt x="0"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1" name="Freeform 6625"/>
            <p:cNvSpPr>
              <a:spLocks/>
            </p:cNvSpPr>
            <p:nvPr/>
          </p:nvSpPr>
          <p:spPr bwMode="auto">
            <a:xfrm>
              <a:off x="2330" y="1807"/>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2" name="Line 6626"/>
            <p:cNvSpPr>
              <a:spLocks noChangeShapeType="1"/>
            </p:cNvSpPr>
            <p:nvPr/>
          </p:nvSpPr>
          <p:spPr bwMode="auto">
            <a:xfrm>
              <a:off x="2330" y="180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3" name="Freeform 6627"/>
            <p:cNvSpPr>
              <a:spLocks/>
            </p:cNvSpPr>
            <p:nvPr/>
          </p:nvSpPr>
          <p:spPr bwMode="auto">
            <a:xfrm>
              <a:off x="2324" y="1807"/>
              <a:ext cx="24" cy="29"/>
            </a:xfrm>
            <a:custGeom>
              <a:avLst/>
              <a:gdLst>
                <a:gd name="T0" fmla="*/ 0 w 24"/>
                <a:gd name="T1" fmla="*/ 6 h 29"/>
                <a:gd name="T2" fmla="*/ 12 w 24"/>
                <a:gd name="T3" fmla="*/ 0 h 29"/>
                <a:gd name="T4" fmla="*/ 23 w 24"/>
                <a:gd name="T5" fmla="*/ 28 h 29"/>
                <a:gd name="T6" fmla="*/ 0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6"/>
                  </a:moveTo>
                  <a:lnTo>
                    <a:pt x="12" y="0"/>
                  </a:lnTo>
                  <a:lnTo>
                    <a:pt x="23" y="28"/>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4" name="Freeform 6628"/>
            <p:cNvSpPr>
              <a:spLocks/>
            </p:cNvSpPr>
            <p:nvPr/>
          </p:nvSpPr>
          <p:spPr bwMode="auto">
            <a:xfrm>
              <a:off x="2330" y="1807"/>
              <a:ext cx="26" cy="29"/>
            </a:xfrm>
            <a:custGeom>
              <a:avLst/>
              <a:gdLst>
                <a:gd name="T0" fmla="*/ 12 w 26"/>
                <a:gd name="T1" fmla="*/ 28 h 29"/>
                <a:gd name="T2" fmla="*/ 25 w 26"/>
                <a:gd name="T3" fmla="*/ 21 h 29"/>
                <a:gd name="T4" fmla="*/ 0 w 26"/>
                <a:gd name="T5" fmla="*/ 0 h 29"/>
                <a:gd name="T6" fmla="*/ 12 w 26"/>
                <a:gd name="T7" fmla="*/ 28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12" y="28"/>
                  </a:moveTo>
                  <a:lnTo>
                    <a:pt x="25" y="21"/>
                  </a:lnTo>
                  <a:lnTo>
                    <a:pt x="0" y="0"/>
                  </a:lnTo>
                  <a:lnTo>
                    <a:pt x="12"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5" name="Freeform 6629"/>
            <p:cNvSpPr>
              <a:spLocks/>
            </p:cNvSpPr>
            <p:nvPr/>
          </p:nvSpPr>
          <p:spPr bwMode="auto">
            <a:xfrm>
              <a:off x="2341" y="1828"/>
              <a:ext cx="1" cy="27"/>
            </a:xfrm>
            <a:custGeom>
              <a:avLst/>
              <a:gdLst>
                <a:gd name="T0" fmla="*/ 0 w 1"/>
                <a:gd name="T1" fmla="*/ 0 h 27"/>
                <a:gd name="T2" fmla="*/ 0 w 1"/>
                <a:gd name="T3" fmla="*/ 0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0"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6" name="Line 6630"/>
            <p:cNvSpPr>
              <a:spLocks noChangeShapeType="1"/>
            </p:cNvSpPr>
            <p:nvPr/>
          </p:nvSpPr>
          <p:spPr bwMode="auto">
            <a:xfrm>
              <a:off x="2341" y="1828"/>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7" name="Freeform 6631"/>
            <p:cNvSpPr>
              <a:spLocks/>
            </p:cNvSpPr>
            <p:nvPr/>
          </p:nvSpPr>
          <p:spPr bwMode="auto">
            <a:xfrm>
              <a:off x="2337" y="1828"/>
              <a:ext cx="26" cy="37"/>
            </a:xfrm>
            <a:custGeom>
              <a:avLst/>
              <a:gdLst>
                <a:gd name="T0" fmla="*/ 0 w 26"/>
                <a:gd name="T1" fmla="*/ 6 h 37"/>
                <a:gd name="T2" fmla="*/ 11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11" y="0"/>
                  </a:lnTo>
                  <a:lnTo>
                    <a:pt x="25"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8" name="Freeform 6632"/>
            <p:cNvSpPr>
              <a:spLocks/>
            </p:cNvSpPr>
            <p:nvPr/>
          </p:nvSpPr>
          <p:spPr bwMode="auto">
            <a:xfrm>
              <a:off x="2341" y="1828"/>
              <a:ext cx="25" cy="37"/>
            </a:xfrm>
            <a:custGeom>
              <a:avLst/>
              <a:gdLst>
                <a:gd name="T0" fmla="*/ 13 w 25"/>
                <a:gd name="T1" fmla="*/ 36 h 37"/>
                <a:gd name="T2" fmla="*/ 24 w 25"/>
                <a:gd name="T3" fmla="*/ 27 h 37"/>
                <a:gd name="T4" fmla="*/ 0 w 25"/>
                <a:gd name="T5" fmla="*/ 0 h 37"/>
                <a:gd name="T6" fmla="*/ 13 w 25"/>
                <a:gd name="T7" fmla="*/ 3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13" y="36"/>
                  </a:moveTo>
                  <a:lnTo>
                    <a:pt x="24" y="27"/>
                  </a:lnTo>
                  <a:lnTo>
                    <a:pt x="0" y="0"/>
                  </a:lnTo>
                  <a:lnTo>
                    <a:pt x="13"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69" name="Freeform 6633"/>
            <p:cNvSpPr>
              <a:spLocks/>
            </p:cNvSpPr>
            <p:nvPr/>
          </p:nvSpPr>
          <p:spPr bwMode="auto">
            <a:xfrm>
              <a:off x="2355" y="185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0" name="Line 6634"/>
            <p:cNvSpPr>
              <a:spLocks noChangeShapeType="1"/>
            </p:cNvSpPr>
            <p:nvPr/>
          </p:nvSpPr>
          <p:spPr bwMode="auto">
            <a:xfrm>
              <a:off x="2355" y="1856"/>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1" name="Freeform 6635"/>
            <p:cNvSpPr>
              <a:spLocks/>
            </p:cNvSpPr>
            <p:nvPr/>
          </p:nvSpPr>
          <p:spPr bwMode="auto">
            <a:xfrm>
              <a:off x="2347" y="1856"/>
              <a:ext cx="29" cy="37"/>
            </a:xfrm>
            <a:custGeom>
              <a:avLst/>
              <a:gdLst>
                <a:gd name="T0" fmla="*/ 0 w 29"/>
                <a:gd name="T1" fmla="*/ 8 h 37"/>
                <a:gd name="T2" fmla="*/ 28 w 29"/>
                <a:gd name="T3" fmla="*/ 0 h 37"/>
                <a:gd name="T4" fmla="*/ 28 w 29"/>
                <a:gd name="T5" fmla="*/ 36 h 37"/>
                <a:gd name="T6" fmla="*/ 0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8"/>
                  </a:moveTo>
                  <a:lnTo>
                    <a:pt x="28" y="0"/>
                  </a:lnTo>
                  <a:lnTo>
                    <a:pt x="28" y="36"/>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2" name="Freeform 6636"/>
            <p:cNvSpPr>
              <a:spLocks/>
            </p:cNvSpPr>
            <p:nvPr/>
          </p:nvSpPr>
          <p:spPr bwMode="auto">
            <a:xfrm>
              <a:off x="2355" y="1856"/>
              <a:ext cx="24" cy="37"/>
            </a:xfrm>
            <a:custGeom>
              <a:avLst/>
              <a:gdLst>
                <a:gd name="T0" fmla="*/ 0 w 24"/>
                <a:gd name="T1" fmla="*/ 36 h 37"/>
                <a:gd name="T2" fmla="*/ 23 w 24"/>
                <a:gd name="T3" fmla="*/ 29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29"/>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3" name="Freeform 6637"/>
            <p:cNvSpPr>
              <a:spLocks/>
            </p:cNvSpPr>
            <p:nvPr/>
          </p:nvSpPr>
          <p:spPr bwMode="auto">
            <a:xfrm>
              <a:off x="2367" y="188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4" name="Line 6638"/>
            <p:cNvSpPr>
              <a:spLocks noChangeShapeType="1"/>
            </p:cNvSpPr>
            <p:nvPr/>
          </p:nvSpPr>
          <p:spPr bwMode="auto">
            <a:xfrm>
              <a:off x="2367" y="1886"/>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5" name="Freeform 6639"/>
            <p:cNvSpPr>
              <a:spLocks/>
            </p:cNvSpPr>
            <p:nvPr/>
          </p:nvSpPr>
          <p:spPr bwMode="auto">
            <a:xfrm>
              <a:off x="2355" y="1886"/>
              <a:ext cx="24" cy="34"/>
            </a:xfrm>
            <a:custGeom>
              <a:avLst/>
              <a:gdLst>
                <a:gd name="T0" fmla="*/ 0 w 24"/>
                <a:gd name="T1" fmla="*/ 6 h 34"/>
                <a:gd name="T2" fmla="*/ 23 w 24"/>
                <a:gd name="T3" fmla="*/ 0 h 34"/>
                <a:gd name="T4" fmla="*/ 23 w 24"/>
                <a:gd name="T5" fmla="*/ 33 h 34"/>
                <a:gd name="T6" fmla="*/ 0 w 24"/>
                <a:gd name="T7" fmla="*/ 6 h 34"/>
                <a:gd name="T8" fmla="*/ 0 60000 65536"/>
                <a:gd name="T9" fmla="*/ 0 60000 65536"/>
                <a:gd name="T10" fmla="*/ 0 60000 65536"/>
                <a:gd name="T11" fmla="*/ 0 60000 65536"/>
                <a:gd name="T12" fmla="*/ 0 w 24"/>
                <a:gd name="T13" fmla="*/ 0 h 34"/>
                <a:gd name="T14" fmla="*/ 24 w 24"/>
                <a:gd name="T15" fmla="*/ 34 h 34"/>
              </a:gdLst>
              <a:ahLst/>
              <a:cxnLst>
                <a:cxn ang="T8">
                  <a:pos x="T0" y="T1"/>
                </a:cxn>
                <a:cxn ang="T9">
                  <a:pos x="T2" y="T3"/>
                </a:cxn>
                <a:cxn ang="T10">
                  <a:pos x="T4" y="T5"/>
                </a:cxn>
                <a:cxn ang="T11">
                  <a:pos x="T6" y="T7"/>
                </a:cxn>
              </a:cxnLst>
              <a:rect l="T12" t="T13" r="T14" b="T15"/>
              <a:pathLst>
                <a:path w="24" h="34">
                  <a:moveTo>
                    <a:pt x="0" y="6"/>
                  </a:moveTo>
                  <a:lnTo>
                    <a:pt x="23" y="0"/>
                  </a:lnTo>
                  <a:lnTo>
                    <a:pt x="23" y="33"/>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6" name="Freeform 6640"/>
            <p:cNvSpPr>
              <a:spLocks/>
            </p:cNvSpPr>
            <p:nvPr/>
          </p:nvSpPr>
          <p:spPr bwMode="auto">
            <a:xfrm>
              <a:off x="2367" y="1886"/>
              <a:ext cx="27" cy="34"/>
            </a:xfrm>
            <a:custGeom>
              <a:avLst/>
              <a:gdLst>
                <a:gd name="T0" fmla="*/ 0 w 27"/>
                <a:gd name="T1" fmla="*/ 33 h 34"/>
                <a:gd name="T2" fmla="*/ 26 w 27"/>
                <a:gd name="T3" fmla="*/ 26 h 34"/>
                <a:gd name="T4" fmla="*/ 0 w 27"/>
                <a:gd name="T5" fmla="*/ 0 h 34"/>
                <a:gd name="T6" fmla="*/ 0 w 27"/>
                <a:gd name="T7" fmla="*/ 33 h 34"/>
                <a:gd name="T8" fmla="*/ 0 60000 65536"/>
                <a:gd name="T9" fmla="*/ 0 60000 65536"/>
                <a:gd name="T10" fmla="*/ 0 60000 65536"/>
                <a:gd name="T11" fmla="*/ 0 60000 65536"/>
                <a:gd name="T12" fmla="*/ 0 w 27"/>
                <a:gd name="T13" fmla="*/ 0 h 34"/>
                <a:gd name="T14" fmla="*/ 27 w 27"/>
                <a:gd name="T15" fmla="*/ 34 h 34"/>
              </a:gdLst>
              <a:ahLst/>
              <a:cxnLst>
                <a:cxn ang="T8">
                  <a:pos x="T0" y="T1"/>
                </a:cxn>
                <a:cxn ang="T9">
                  <a:pos x="T2" y="T3"/>
                </a:cxn>
                <a:cxn ang="T10">
                  <a:pos x="T4" y="T5"/>
                </a:cxn>
                <a:cxn ang="T11">
                  <a:pos x="T6" y="T7"/>
                </a:cxn>
              </a:cxnLst>
              <a:rect l="T12" t="T13" r="T14" b="T15"/>
              <a:pathLst>
                <a:path w="27" h="34">
                  <a:moveTo>
                    <a:pt x="0" y="33"/>
                  </a:moveTo>
                  <a:lnTo>
                    <a:pt x="26" y="26"/>
                  </a:lnTo>
                  <a:lnTo>
                    <a:pt x="0" y="0"/>
                  </a:lnTo>
                  <a:lnTo>
                    <a:pt x="0" y="3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7" name="Freeform 6641"/>
            <p:cNvSpPr>
              <a:spLocks/>
            </p:cNvSpPr>
            <p:nvPr/>
          </p:nvSpPr>
          <p:spPr bwMode="auto">
            <a:xfrm>
              <a:off x="2378" y="1913"/>
              <a:ext cx="1" cy="28"/>
            </a:xfrm>
            <a:custGeom>
              <a:avLst/>
              <a:gdLst>
                <a:gd name="T0" fmla="*/ 0 w 1"/>
                <a:gd name="T1" fmla="*/ 0 h 28"/>
                <a:gd name="T2" fmla="*/ 0 w 1"/>
                <a:gd name="T3" fmla="*/ 0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8" name="Line 6642"/>
            <p:cNvSpPr>
              <a:spLocks noChangeShapeType="1"/>
            </p:cNvSpPr>
            <p:nvPr/>
          </p:nvSpPr>
          <p:spPr bwMode="auto">
            <a:xfrm>
              <a:off x="2378" y="191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79" name="Freeform 6643"/>
            <p:cNvSpPr>
              <a:spLocks/>
            </p:cNvSpPr>
            <p:nvPr/>
          </p:nvSpPr>
          <p:spPr bwMode="auto">
            <a:xfrm>
              <a:off x="2367" y="1913"/>
              <a:ext cx="27" cy="37"/>
            </a:xfrm>
            <a:custGeom>
              <a:avLst/>
              <a:gdLst>
                <a:gd name="T0" fmla="*/ 0 w 27"/>
                <a:gd name="T1" fmla="*/ 6 h 37"/>
                <a:gd name="T2" fmla="*/ 26 w 27"/>
                <a:gd name="T3" fmla="*/ 0 h 37"/>
                <a:gd name="T4" fmla="*/ 26 w 27"/>
                <a:gd name="T5" fmla="*/ 36 h 37"/>
                <a:gd name="T6" fmla="*/ 0 w 27"/>
                <a:gd name="T7" fmla="*/ 6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0" y="6"/>
                  </a:moveTo>
                  <a:lnTo>
                    <a:pt x="26" y="0"/>
                  </a:lnTo>
                  <a:lnTo>
                    <a:pt x="26"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0" name="Freeform 6644"/>
            <p:cNvSpPr>
              <a:spLocks/>
            </p:cNvSpPr>
            <p:nvPr/>
          </p:nvSpPr>
          <p:spPr bwMode="auto">
            <a:xfrm>
              <a:off x="2378" y="19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1" name="Freeform 6645"/>
            <p:cNvSpPr>
              <a:spLocks/>
            </p:cNvSpPr>
            <p:nvPr/>
          </p:nvSpPr>
          <p:spPr bwMode="auto">
            <a:xfrm>
              <a:off x="2385" y="1941"/>
              <a:ext cx="29" cy="27"/>
            </a:xfrm>
            <a:custGeom>
              <a:avLst/>
              <a:gdLst>
                <a:gd name="T0" fmla="*/ 28 w 29"/>
                <a:gd name="T1" fmla="*/ 0 h 27"/>
                <a:gd name="T2" fmla="*/ 28 w 29"/>
                <a:gd name="T3" fmla="*/ 0 h 27"/>
                <a:gd name="T4" fmla="*/ 0 w 29"/>
                <a:gd name="T5" fmla="*/ 26 h 27"/>
                <a:gd name="T6" fmla="*/ 28 w 29"/>
                <a:gd name="T7" fmla="*/ 0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28" y="0"/>
                  </a:moveTo>
                  <a:lnTo>
                    <a:pt x="28" y="0"/>
                  </a:lnTo>
                  <a:lnTo>
                    <a:pt x="0" y="26"/>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2" name="Line 6646"/>
            <p:cNvSpPr>
              <a:spLocks noChangeShapeType="1"/>
            </p:cNvSpPr>
            <p:nvPr/>
          </p:nvSpPr>
          <p:spPr bwMode="auto">
            <a:xfrm>
              <a:off x="2393" y="194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3" name="Freeform 6647"/>
            <p:cNvSpPr>
              <a:spLocks/>
            </p:cNvSpPr>
            <p:nvPr/>
          </p:nvSpPr>
          <p:spPr bwMode="auto">
            <a:xfrm>
              <a:off x="2378" y="1941"/>
              <a:ext cx="26" cy="37"/>
            </a:xfrm>
            <a:custGeom>
              <a:avLst/>
              <a:gdLst>
                <a:gd name="T0" fmla="*/ 0 w 26"/>
                <a:gd name="T1" fmla="*/ 8 h 37"/>
                <a:gd name="T2" fmla="*/ 25 w 26"/>
                <a:gd name="T3" fmla="*/ 0 h 37"/>
                <a:gd name="T4" fmla="*/ 25 w 26"/>
                <a:gd name="T5" fmla="*/ 36 h 37"/>
                <a:gd name="T6" fmla="*/ 0 w 26"/>
                <a:gd name="T7" fmla="*/ 8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8"/>
                  </a:moveTo>
                  <a:lnTo>
                    <a:pt x="25" y="0"/>
                  </a:lnTo>
                  <a:lnTo>
                    <a:pt x="25" y="36"/>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4" name="Freeform 6648"/>
            <p:cNvSpPr>
              <a:spLocks/>
            </p:cNvSpPr>
            <p:nvPr/>
          </p:nvSpPr>
          <p:spPr bwMode="auto">
            <a:xfrm>
              <a:off x="2393" y="1941"/>
              <a:ext cx="24" cy="37"/>
            </a:xfrm>
            <a:custGeom>
              <a:avLst/>
              <a:gdLst>
                <a:gd name="T0" fmla="*/ 0 w 24"/>
                <a:gd name="T1" fmla="*/ 36 h 37"/>
                <a:gd name="T2" fmla="*/ 23 w 24"/>
                <a:gd name="T3" fmla="*/ 36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36"/>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5" name="Freeform 6649"/>
            <p:cNvSpPr>
              <a:spLocks/>
            </p:cNvSpPr>
            <p:nvPr/>
          </p:nvSpPr>
          <p:spPr bwMode="auto">
            <a:xfrm>
              <a:off x="2398" y="1977"/>
              <a:ext cx="26" cy="28"/>
            </a:xfrm>
            <a:custGeom>
              <a:avLst/>
              <a:gdLst>
                <a:gd name="T0" fmla="*/ 25 w 26"/>
                <a:gd name="T1" fmla="*/ 0 h 28"/>
                <a:gd name="T2" fmla="*/ 25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25" y="0"/>
                  </a:lnTo>
                  <a:lnTo>
                    <a:pt x="0"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6" name="Line 6650"/>
            <p:cNvSpPr>
              <a:spLocks noChangeShapeType="1"/>
            </p:cNvSpPr>
            <p:nvPr/>
          </p:nvSpPr>
          <p:spPr bwMode="auto">
            <a:xfrm>
              <a:off x="2403" y="197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7" name="Freeform 6651"/>
            <p:cNvSpPr>
              <a:spLocks/>
            </p:cNvSpPr>
            <p:nvPr/>
          </p:nvSpPr>
          <p:spPr bwMode="auto">
            <a:xfrm>
              <a:off x="2393" y="1977"/>
              <a:ext cx="24" cy="36"/>
            </a:xfrm>
            <a:custGeom>
              <a:avLst/>
              <a:gdLst>
                <a:gd name="T0" fmla="*/ 0 w 24"/>
                <a:gd name="T1" fmla="*/ 0 h 36"/>
                <a:gd name="T2" fmla="*/ 23 w 24"/>
                <a:gd name="T3" fmla="*/ 0 h 36"/>
                <a:gd name="T4" fmla="*/ 23 w 24"/>
                <a:gd name="T5" fmla="*/ 35 h 36"/>
                <a:gd name="T6" fmla="*/ 0 w 24"/>
                <a:gd name="T7" fmla="*/ 0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0"/>
                  </a:moveTo>
                  <a:lnTo>
                    <a:pt x="23" y="0"/>
                  </a:lnTo>
                  <a:lnTo>
                    <a:pt x="23" y="3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8" name="Freeform 6652"/>
            <p:cNvSpPr>
              <a:spLocks/>
            </p:cNvSpPr>
            <p:nvPr/>
          </p:nvSpPr>
          <p:spPr bwMode="auto">
            <a:xfrm>
              <a:off x="2403" y="1977"/>
              <a:ext cx="29" cy="36"/>
            </a:xfrm>
            <a:custGeom>
              <a:avLst/>
              <a:gdLst>
                <a:gd name="T0" fmla="*/ 0 w 29"/>
                <a:gd name="T1" fmla="*/ 35 h 36"/>
                <a:gd name="T2" fmla="*/ 28 w 29"/>
                <a:gd name="T3" fmla="*/ 28 h 36"/>
                <a:gd name="T4" fmla="*/ 0 w 29"/>
                <a:gd name="T5" fmla="*/ 0 h 36"/>
                <a:gd name="T6" fmla="*/ 0 w 29"/>
                <a:gd name="T7" fmla="*/ 35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0" y="35"/>
                  </a:moveTo>
                  <a:lnTo>
                    <a:pt x="28"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89" name="Freeform 6653"/>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0" name="Freeform 6654"/>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1" name="Freeform 6655"/>
            <p:cNvSpPr>
              <a:spLocks/>
            </p:cNvSpPr>
            <p:nvPr/>
          </p:nvSpPr>
          <p:spPr bwMode="auto">
            <a:xfrm>
              <a:off x="2403" y="2007"/>
              <a:ext cx="29" cy="43"/>
            </a:xfrm>
            <a:custGeom>
              <a:avLst/>
              <a:gdLst>
                <a:gd name="T0" fmla="*/ 0 w 29"/>
                <a:gd name="T1" fmla="*/ 6 h 43"/>
                <a:gd name="T2" fmla="*/ 28 w 29"/>
                <a:gd name="T3" fmla="*/ 0 h 43"/>
                <a:gd name="T4" fmla="*/ 28 w 29"/>
                <a:gd name="T5" fmla="*/ 42 h 43"/>
                <a:gd name="T6" fmla="*/ 0 w 29"/>
                <a:gd name="T7" fmla="*/ 6 h 43"/>
                <a:gd name="T8" fmla="*/ 0 60000 65536"/>
                <a:gd name="T9" fmla="*/ 0 60000 65536"/>
                <a:gd name="T10" fmla="*/ 0 60000 65536"/>
                <a:gd name="T11" fmla="*/ 0 60000 65536"/>
                <a:gd name="T12" fmla="*/ 0 w 29"/>
                <a:gd name="T13" fmla="*/ 0 h 43"/>
                <a:gd name="T14" fmla="*/ 29 w 29"/>
                <a:gd name="T15" fmla="*/ 43 h 43"/>
              </a:gdLst>
              <a:ahLst/>
              <a:cxnLst>
                <a:cxn ang="T8">
                  <a:pos x="T0" y="T1"/>
                </a:cxn>
                <a:cxn ang="T9">
                  <a:pos x="T2" y="T3"/>
                </a:cxn>
                <a:cxn ang="T10">
                  <a:pos x="T4" y="T5"/>
                </a:cxn>
                <a:cxn ang="T11">
                  <a:pos x="T6" y="T7"/>
                </a:cxn>
              </a:cxnLst>
              <a:rect l="T12" t="T13" r="T14" b="T15"/>
              <a:pathLst>
                <a:path w="29" h="43">
                  <a:moveTo>
                    <a:pt x="0" y="6"/>
                  </a:moveTo>
                  <a:lnTo>
                    <a:pt x="28" y="0"/>
                  </a:lnTo>
                  <a:lnTo>
                    <a:pt x="28" y="42"/>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2" name="Freeform 6656"/>
            <p:cNvSpPr>
              <a:spLocks/>
            </p:cNvSpPr>
            <p:nvPr/>
          </p:nvSpPr>
          <p:spPr bwMode="auto">
            <a:xfrm>
              <a:off x="2416" y="2007"/>
              <a:ext cx="26" cy="43"/>
            </a:xfrm>
            <a:custGeom>
              <a:avLst/>
              <a:gdLst>
                <a:gd name="T0" fmla="*/ 0 w 26"/>
                <a:gd name="T1" fmla="*/ 42 h 43"/>
                <a:gd name="T2" fmla="*/ 25 w 26"/>
                <a:gd name="T3" fmla="*/ 33 h 43"/>
                <a:gd name="T4" fmla="*/ 0 w 26"/>
                <a:gd name="T5" fmla="*/ 0 h 43"/>
                <a:gd name="T6" fmla="*/ 0 w 26"/>
                <a:gd name="T7" fmla="*/ 42 h 43"/>
                <a:gd name="T8" fmla="*/ 0 60000 65536"/>
                <a:gd name="T9" fmla="*/ 0 60000 65536"/>
                <a:gd name="T10" fmla="*/ 0 60000 65536"/>
                <a:gd name="T11" fmla="*/ 0 60000 65536"/>
                <a:gd name="T12" fmla="*/ 0 w 26"/>
                <a:gd name="T13" fmla="*/ 0 h 43"/>
                <a:gd name="T14" fmla="*/ 26 w 26"/>
                <a:gd name="T15" fmla="*/ 43 h 43"/>
              </a:gdLst>
              <a:ahLst/>
              <a:cxnLst>
                <a:cxn ang="T8">
                  <a:pos x="T0" y="T1"/>
                </a:cxn>
                <a:cxn ang="T9">
                  <a:pos x="T2" y="T3"/>
                </a:cxn>
                <a:cxn ang="T10">
                  <a:pos x="T4" y="T5"/>
                </a:cxn>
                <a:cxn ang="T11">
                  <a:pos x="T6" y="T7"/>
                </a:cxn>
              </a:cxnLst>
              <a:rect l="T12" t="T13" r="T14" b="T15"/>
              <a:pathLst>
                <a:path w="26" h="43">
                  <a:moveTo>
                    <a:pt x="0" y="42"/>
                  </a:moveTo>
                  <a:lnTo>
                    <a:pt x="25" y="33"/>
                  </a:lnTo>
                  <a:lnTo>
                    <a:pt x="0" y="0"/>
                  </a:lnTo>
                  <a:lnTo>
                    <a:pt x="0" y="4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3" name="Freeform 6657"/>
            <p:cNvSpPr>
              <a:spLocks/>
            </p:cNvSpPr>
            <p:nvPr/>
          </p:nvSpPr>
          <p:spPr bwMode="auto">
            <a:xfrm>
              <a:off x="2423" y="2041"/>
              <a:ext cx="27" cy="27"/>
            </a:xfrm>
            <a:custGeom>
              <a:avLst/>
              <a:gdLst>
                <a:gd name="T0" fmla="*/ 26 w 27"/>
                <a:gd name="T1" fmla="*/ 0 h 27"/>
                <a:gd name="T2" fmla="*/ 26 w 27"/>
                <a:gd name="T3" fmla="*/ 0 h 27"/>
                <a:gd name="T4" fmla="*/ 0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26" y="0"/>
                  </a:lnTo>
                  <a:lnTo>
                    <a:pt x="0" y="26"/>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4" name="Line 6658"/>
            <p:cNvSpPr>
              <a:spLocks noChangeShapeType="1"/>
            </p:cNvSpPr>
            <p:nvPr/>
          </p:nvSpPr>
          <p:spPr bwMode="auto">
            <a:xfrm>
              <a:off x="2428" y="2041"/>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5" name="Freeform 6659"/>
            <p:cNvSpPr>
              <a:spLocks/>
            </p:cNvSpPr>
            <p:nvPr/>
          </p:nvSpPr>
          <p:spPr bwMode="auto">
            <a:xfrm>
              <a:off x="2416" y="20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6" name="Freeform 6660"/>
            <p:cNvSpPr>
              <a:spLocks/>
            </p:cNvSpPr>
            <p:nvPr/>
          </p:nvSpPr>
          <p:spPr bwMode="auto">
            <a:xfrm>
              <a:off x="2428" y="2041"/>
              <a:ext cx="26" cy="44"/>
            </a:xfrm>
            <a:custGeom>
              <a:avLst/>
              <a:gdLst>
                <a:gd name="T0" fmla="*/ 0 w 26"/>
                <a:gd name="T1" fmla="*/ 43 h 44"/>
                <a:gd name="T2" fmla="*/ 25 w 26"/>
                <a:gd name="T3" fmla="*/ 36 h 44"/>
                <a:gd name="T4" fmla="*/ 0 w 26"/>
                <a:gd name="T5" fmla="*/ 0 h 44"/>
                <a:gd name="T6" fmla="*/ 0 w 26"/>
                <a:gd name="T7" fmla="*/ 43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43"/>
                  </a:moveTo>
                  <a:lnTo>
                    <a:pt x="25" y="36"/>
                  </a:lnTo>
                  <a:lnTo>
                    <a:pt x="0" y="0"/>
                  </a:lnTo>
                  <a:lnTo>
                    <a:pt x="0" y="4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7" name="Freeform 6661"/>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8" name="Freeform 6662"/>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299" name="Freeform 6663"/>
            <p:cNvSpPr>
              <a:spLocks/>
            </p:cNvSpPr>
            <p:nvPr/>
          </p:nvSpPr>
          <p:spPr bwMode="auto">
            <a:xfrm>
              <a:off x="2428" y="2077"/>
              <a:ext cx="26" cy="37"/>
            </a:xfrm>
            <a:custGeom>
              <a:avLst/>
              <a:gdLst>
                <a:gd name="T0" fmla="*/ 0 w 26"/>
                <a:gd name="T1" fmla="*/ 6 h 37"/>
                <a:gd name="T2" fmla="*/ 25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25" y="0"/>
                  </a:lnTo>
                  <a:lnTo>
                    <a:pt x="25"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0" name="Freeform 6664"/>
            <p:cNvSpPr>
              <a:spLocks/>
            </p:cNvSpPr>
            <p:nvPr/>
          </p:nvSpPr>
          <p:spPr bwMode="auto">
            <a:xfrm>
              <a:off x="2441" y="2077"/>
              <a:ext cx="29" cy="37"/>
            </a:xfrm>
            <a:custGeom>
              <a:avLst/>
              <a:gdLst>
                <a:gd name="T0" fmla="*/ 0 w 29"/>
                <a:gd name="T1" fmla="*/ 36 h 37"/>
                <a:gd name="T2" fmla="*/ 28 w 29"/>
                <a:gd name="T3" fmla="*/ 36 h 37"/>
                <a:gd name="T4" fmla="*/ 0 w 29"/>
                <a:gd name="T5" fmla="*/ 0 h 37"/>
                <a:gd name="T6" fmla="*/ 0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36"/>
                  </a:moveTo>
                  <a:lnTo>
                    <a:pt x="28" y="36"/>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1" name="Freeform 6665"/>
            <p:cNvSpPr>
              <a:spLocks/>
            </p:cNvSpPr>
            <p:nvPr/>
          </p:nvSpPr>
          <p:spPr bwMode="auto">
            <a:xfrm>
              <a:off x="2441" y="2113"/>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2" name="Line 6666"/>
            <p:cNvSpPr>
              <a:spLocks noChangeShapeType="1"/>
            </p:cNvSpPr>
            <p:nvPr/>
          </p:nvSpPr>
          <p:spPr bwMode="auto">
            <a:xfrm>
              <a:off x="2441" y="211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3" name="Freeform 6667"/>
            <p:cNvSpPr>
              <a:spLocks/>
            </p:cNvSpPr>
            <p:nvPr/>
          </p:nvSpPr>
          <p:spPr bwMode="auto">
            <a:xfrm>
              <a:off x="2441" y="2113"/>
              <a:ext cx="29" cy="37"/>
            </a:xfrm>
            <a:custGeom>
              <a:avLst/>
              <a:gdLst>
                <a:gd name="T0" fmla="*/ 0 w 29"/>
                <a:gd name="T1" fmla="*/ 0 h 37"/>
                <a:gd name="T2" fmla="*/ 28 w 29"/>
                <a:gd name="T3" fmla="*/ 0 h 37"/>
                <a:gd name="T4" fmla="*/ 28 w 29"/>
                <a:gd name="T5" fmla="*/ 36 h 37"/>
                <a:gd name="T6" fmla="*/ 0 w 29"/>
                <a:gd name="T7" fmla="*/ 0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8" y="0"/>
                  </a:lnTo>
                  <a:lnTo>
                    <a:pt x="28" y="3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4" name="Freeform 6668"/>
            <p:cNvSpPr>
              <a:spLocks/>
            </p:cNvSpPr>
            <p:nvPr/>
          </p:nvSpPr>
          <p:spPr bwMode="auto">
            <a:xfrm>
              <a:off x="2454" y="21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5" name="Freeform 6669"/>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6" name="Freeform 6670"/>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7" name="Freeform 6671"/>
            <p:cNvSpPr>
              <a:spLocks/>
            </p:cNvSpPr>
            <p:nvPr/>
          </p:nvSpPr>
          <p:spPr bwMode="auto">
            <a:xfrm>
              <a:off x="2454" y="21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8" name="Freeform 6672"/>
            <p:cNvSpPr>
              <a:spLocks/>
            </p:cNvSpPr>
            <p:nvPr/>
          </p:nvSpPr>
          <p:spPr bwMode="auto">
            <a:xfrm>
              <a:off x="2469" y="2141"/>
              <a:ext cx="24" cy="44"/>
            </a:xfrm>
            <a:custGeom>
              <a:avLst/>
              <a:gdLst>
                <a:gd name="T0" fmla="*/ 0 w 24"/>
                <a:gd name="T1" fmla="*/ 43 h 44"/>
                <a:gd name="T2" fmla="*/ 23 w 24"/>
                <a:gd name="T3" fmla="*/ 36 h 44"/>
                <a:gd name="T4" fmla="*/ 0 w 24"/>
                <a:gd name="T5" fmla="*/ 0 h 44"/>
                <a:gd name="T6" fmla="*/ 0 w 24"/>
                <a:gd name="T7" fmla="*/ 43 h 44"/>
                <a:gd name="T8" fmla="*/ 0 60000 65536"/>
                <a:gd name="T9" fmla="*/ 0 60000 65536"/>
                <a:gd name="T10" fmla="*/ 0 60000 65536"/>
                <a:gd name="T11" fmla="*/ 0 60000 65536"/>
                <a:gd name="T12" fmla="*/ 0 w 24"/>
                <a:gd name="T13" fmla="*/ 0 h 44"/>
                <a:gd name="T14" fmla="*/ 24 w 24"/>
                <a:gd name="T15" fmla="*/ 44 h 44"/>
              </a:gdLst>
              <a:ahLst/>
              <a:cxnLst>
                <a:cxn ang="T8">
                  <a:pos x="T0" y="T1"/>
                </a:cxn>
                <a:cxn ang="T9">
                  <a:pos x="T2" y="T3"/>
                </a:cxn>
                <a:cxn ang="T10">
                  <a:pos x="T4" y="T5"/>
                </a:cxn>
                <a:cxn ang="T11">
                  <a:pos x="T6" y="T7"/>
                </a:cxn>
              </a:cxnLst>
              <a:rect l="T12" t="T13" r="T14" b="T15"/>
              <a:pathLst>
                <a:path w="24" h="44">
                  <a:moveTo>
                    <a:pt x="0" y="43"/>
                  </a:moveTo>
                  <a:lnTo>
                    <a:pt x="23" y="36"/>
                  </a:lnTo>
                  <a:lnTo>
                    <a:pt x="0" y="0"/>
                  </a:lnTo>
                  <a:lnTo>
                    <a:pt x="0" y="4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09" name="Freeform 6673"/>
            <p:cNvSpPr>
              <a:spLocks/>
            </p:cNvSpPr>
            <p:nvPr/>
          </p:nvSpPr>
          <p:spPr bwMode="auto">
            <a:xfrm>
              <a:off x="2469" y="218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0" name="Line 6674"/>
            <p:cNvSpPr>
              <a:spLocks noChangeShapeType="1"/>
            </p:cNvSpPr>
            <p:nvPr/>
          </p:nvSpPr>
          <p:spPr bwMode="auto">
            <a:xfrm>
              <a:off x="2469" y="2184"/>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1" name="Freeform 6675"/>
            <p:cNvSpPr>
              <a:spLocks/>
            </p:cNvSpPr>
            <p:nvPr/>
          </p:nvSpPr>
          <p:spPr bwMode="auto">
            <a:xfrm>
              <a:off x="2469" y="2176"/>
              <a:ext cx="24" cy="38"/>
            </a:xfrm>
            <a:custGeom>
              <a:avLst/>
              <a:gdLst>
                <a:gd name="T0" fmla="*/ 0 w 24"/>
                <a:gd name="T1" fmla="*/ 6 h 38"/>
                <a:gd name="T2" fmla="*/ 23 w 24"/>
                <a:gd name="T3" fmla="*/ 0 h 38"/>
                <a:gd name="T4" fmla="*/ 23 w 24"/>
                <a:gd name="T5" fmla="*/ 37 h 38"/>
                <a:gd name="T6" fmla="*/ 0 w 24"/>
                <a:gd name="T7" fmla="*/ 6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0" y="6"/>
                  </a:moveTo>
                  <a:lnTo>
                    <a:pt x="23" y="0"/>
                  </a:lnTo>
                  <a:lnTo>
                    <a:pt x="23" y="37"/>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2" name="Freeform 6676"/>
            <p:cNvSpPr>
              <a:spLocks/>
            </p:cNvSpPr>
            <p:nvPr/>
          </p:nvSpPr>
          <p:spPr bwMode="auto">
            <a:xfrm>
              <a:off x="2478" y="2176"/>
              <a:ext cx="26" cy="38"/>
            </a:xfrm>
            <a:custGeom>
              <a:avLst/>
              <a:gdLst>
                <a:gd name="T0" fmla="*/ 0 w 26"/>
                <a:gd name="T1" fmla="*/ 37 h 38"/>
                <a:gd name="T2" fmla="*/ 25 w 26"/>
                <a:gd name="T3" fmla="*/ 37 h 38"/>
                <a:gd name="T4" fmla="*/ 0 w 26"/>
                <a:gd name="T5" fmla="*/ 0 h 38"/>
                <a:gd name="T6" fmla="*/ 0 w 26"/>
                <a:gd name="T7" fmla="*/ 37 h 38"/>
                <a:gd name="T8" fmla="*/ 0 60000 65536"/>
                <a:gd name="T9" fmla="*/ 0 60000 65536"/>
                <a:gd name="T10" fmla="*/ 0 60000 65536"/>
                <a:gd name="T11" fmla="*/ 0 60000 65536"/>
                <a:gd name="T12" fmla="*/ 0 w 26"/>
                <a:gd name="T13" fmla="*/ 0 h 38"/>
                <a:gd name="T14" fmla="*/ 26 w 26"/>
                <a:gd name="T15" fmla="*/ 38 h 38"/>
              </a:gdLst>
              <a:ahLst/>
              <a:cxnLst>
                <a:cxn ang="T8">
                  <a:pos x="T0" y="T1"/>
                </a:cxn>
                <a:cxn ang="T9">
                  <a:pos x="T2" y="T3"/>
                </a:cxn>
                <a:cxn ang="T10">
                  <a:pos x="T4" y="T5"/>
                </a:cxn>
                <a:cxn ang="T11">
                  <a:pos x="T6" y="T7"/>
                </a:cxn>
              </a:cxnLst>
              <a:rect l="T12" t="T13" r="T14" b="T15"/>
              <a:pathLst>
                <a:path w="26" h="38">
                  <a:moveTo>
                    <a:pt x="0" y="37"/>
                  </a:moveTo>
                  <a:lnTo>
                    <a:pt x="25" y="37"/>
                  </a:lnTo>
                  <a:lnTo>
                    <a:pt x="0" y="0"/>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3" name="Freeform 6677"/>
            <p:cNvSpPr>
              <a:spLocks/>
            </p:cNvSpPr>
            <p:nvPr/>
          </p:nvSpPr>
          <p:spPr bwMode="auto">
            <a:xfrm>
              <a:off x="2478" y="2213"/>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4" name="Line 6678"/>
            <p:cNvSpPr>
              <a:spLocks noChangeShapeType="1"/>
            </p:cNvSpPr>
            <p:nvPr/>
          </p:nvSpPr>
          <p:spPr bwMode="auto">
            <a:xfrm>
              <a:off x="2478" y="221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5" name="Freeform 6679"/>
            <p:cNvSpPr>
              <a:spLocks/>
            </p:cNvSpPr>
            <p:nvPr/>
          </p:nvSpPr>
          <p:spPr bwMode="auto">
            <a:xfrm>
              <a:off x="2478" y="2213"/>
              <a:ext cx="26" cy="36"/>
            </a:xfrm>
            <a:custGeom>
              <a:avLst/>
              <a:gdLst>
                <a:gd name="T0" fmla="*/ 0 w 26"/>
                <a:gd name="T1" fmla="*/ 0 h 36"/>
                <a:gd name="T2" fmla="*/ 25 w 26"/>
                <a:gd name="T3" fmla="*/ 0 h 36"/>
                <a:gd name="T4" fmla="*/ 25 w 26"/>
                <a:gd name="T5" fmla="*/ 35 h 36"/>
                <a:gd name="T6" fmla="*/ 0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0"/>
                  </a:moveTo>
                  <a:lnTo>
                    <a:pt x="25" y="0"/>
                  </a:lnTo>
                  <a:lnTo>
                    <a:pt x="25" y="3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6" name="Freeform 6680"/>
            <p:cNvSpPr>
              <a:spLocks/>
            </p:cNvSpPr>
            <p:nvPr/>
          </p:nvSpPr>
          <p:spPr bwMode="auto">
            <a:xfrm>
              <a:off x="2491" y="2213"/>
              <a:ext cx="26" cy="36"/>
            </a:xfrm>
            <a:custGeom>
              <a:avLst/>
              <a:gdLst>
                <a:gd name="T0" fmla="*/ 0 w 26"/>
                <a:gd name="T1" fmla="*/ 35 h 36"/>
                <a:gd name="T2" fmla="*/ 25 w 26"/>
                <a:gd name="T3" fmla="*/ 28 h 36"/>
                <a:gd name="T4" fmla="*/ 0 w 26"/>
                <a:gd name="T5" fmla="*/ 0 h 36"/>
                <a:gd name="T6" fmla="*/ 0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35"/>
                  </a:moveTo>
                  <a:lnTo>
                    <a:pt x="25"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7" name="Freeform 6681"/>
            <p:cNvSpPr>
              <a:spLocks/>
            </p:cNvSpPr>
            <p:nvPr/>
          </p:nvSpPr>
          <p:spPr bwMode="auto">
            <a:xfrm>
              <a:off x="2491" y="2248"/>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8" name="Line 6682"/>
            <p:cNvSpPr>
              <a:spLocks noChangeShapeType="1"/>
            </p:cNvSpPr>
            <p:nvPr/>
          </p:nvSpPr>
          <p:spPr bwMode="auto">
            <a:xfrm>
              <a:off x="2491" y="224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19" name="Freeform 6683"/>
            <p:cNvSpPr>
              <a:spLocks/>
            </p:cNvSpPr>
            <p:nvPr/>
          </p:nvSpPr>
          <p:spPr bwMode="auto">
            <a:xfrm>
              <a:off x="2491" y="2241"/>
              <a:ext cx="26" cy="37"/>
            </a:xfrm>
            <a:custGeom>
              <a:avLst/>
              <a:gdLst>
                <a:gd name="T0" fmla="*/ 25 w 26"/>
                <a:gd name="T1" fmla="*/ 36 h 37"/>
                <a:gd name="T2" fmla="*/ 11 w 26"/>
                <a:gd name="T3" fmla="*/ 0 h 37"/>
                <a:gd name="T4" fmla="*/ 0 w 26"/>
                <a:gd name="T5" fmla="*/ 6 h 37"/>
                <a:gd name="T6" fmla="*/ 25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36"/>
                  </a:moveTo>
                  <a:lnTo>
                    <a:pt x="11" y="0"/>
                  </a:lnTo>
                  <a:lnTo>
                    <a:pt x="0" y="6"/>
                  </a:lnTo>
                  <a:lnTo>
                    <a:pt x="25"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0" name="Freeform 6684"/>
            <p:cNvSpPr>
              <a:spLocks/>
            </p:cNvSpPr>
            <p:nvPr/>
          </p:nvSpPr>
          <p:spPr bwMode="auto">
            <a:xfrm>
              <a:off x="2496" y="2241"/>
              <a:ext cx="29" cy="37"/>
            </a:xfrm>
            <a:custGeom>
              <a:avLst/>
              <a:gdLst>
                <a:gd name="T0" fmla="*/ 15 w 29"/>
                <a:gd name="T1" fmla="*/ 36 h 37"/>
                <a:gd name="T2" fmla="*/ 28 w 29"/>
                <a:gd name="T3" fmla="*/ 36 h 37"/>
                <a:gd name="T4" fmla="*/ 0 w 29"/>
                <a:gd name="T5" fmla="*/ 0 h 37"/>
                <a:gd name="T6" fmla="*/ 15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15" y="36"/>
                  </a:moveTo>
                  <a:lnTo>
                    <a:pt x="28" y="36"/>
                  </a:lnTo>
                  <a:lnTo>
                    <a:pt x="0" y="0"/>
                  </a:lnTo>
                  <a:lnTo>
                    <a:pt x="15"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1" name="Freeform 6685"/>
            <p:cNvSpPr>
              <a:spLocks/>
            </p:cNvSpPr>
            <p:nvPr/>
          </p:nvSpPr>
          <p:spPr bwMode="auto">
            <a:xfrm>
              <a:off x="2503" y="2277"/>
              <a:ext cx="26" cy="27"/>
            </a:xfrm>
            <a:custGeom>
              <a:avLst/>
              <a:gdLst>
                <a:gd name="T0" fmla="*/ 0 w 26"/>
                <a:gd name="T1" fmla="*/ 0 h 27"/>
                <a:gd name="T2" fmla="*/ 0 w 26"/>
                <a:gd name="T3" fmla="*/ 0 h 27"/>
                <a:gd name="T4" fmla="*/ 25 w 26"/>
                <a:gd name="T5" fmla="*/ 26 h 27"/>
                <a:gd name="T6" fmla="*/ 0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0"/>
                  </a:moveTo>
                  <a:lnTo>
                    <a:pt x="0" y="0"/>
                  </a:lnTo>
                  <a:lnTo>
                    <a:pt x="25"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2" name="Line 6686"/>
            <p:cNvSpPr>
              <a:spLocks noChangeShapeType="1"/>
            </p:cNvSpPr>
            <p:nvPr/>
          </p:nvSpPr>
          <p:spPr bwMode="auto">
            <a:xfrm>
              <a:off x="2503" y="2277"/>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3" name="Freeform 6687"/>
            <p:cNvSpPr>
              <a:spLocks/>
            </p:cNvSpPr>
            <p:nvPr/>
          </p:nvSpPr>
          <p:spPr bwMode="auto">
            <a:xfrm>
              <a:off x="2503" y="2277"/>
              <a:ext cx="26" cy="36"/>
            </a:xfrm>
            <a:custGeom>
              <a:avLst/>
              <a:gdLst>
                <a:gd name="T0" fmla="*/ 25 w 26"/>
                <a:gd name="T1" fmla="*/ 35 h 36"/>
                <a:gd name="T2" fmla="*/ 25 w 26"/>
                <a:gd name="T3" fmla="*/ 0 h 36"/>
                <a:gd name="T4" fmla="*/ 0 w 26"/>
                <a:gd name="T5" fmla="*/ 0 h 36"/>
                <a:gd name="T6" fmla="*/ 25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35"/>
                  </a:moveTo>
                  <a:lnTo>
                    <a:pt x="25" y="0"/>
                  </a:lnTo>
                  <a:lnTo>
                    <a:pt x="0" y="0"/>
                  </a:lnTo>
                  <a:lnTo>
                    <a:pt x="25"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4" name="Freeform 6688"/>
            <p:cNvSpPr>
              <a:spLocks/>
            </p:cNvSpPr>
            <p:nvPr/>
          </p:nvSpPr>
          <p:spPr bwMode="auto">
            <a:xfrm>
              <a:off x="2507" y="2277"/>
              <a:ext cx="28" cy="36"/>
            </a:xfrm>
            <a:custGeom>
              <a:avLst/>
              <a:gdLst>
                <a:gd name="T0" fmla="*/ 0 w 28"/>
                <a:gd name="T1" fmla="*/ 35 h 36"/>
                <a:gd name="T2" fmla="*/ 27 w 28"/>
                <a:gd name="T3" fmla="*/ 27 h 36"/>
                <a:gd name="T4" fmla="*/ 0 w 28"/>
                <a:gd name="T5" fmla="*/ 0 h 36"/>
                <a:gd name="T6" fmla="*/ 0 w 28"/>
                <a:gd name="T7" fmla="*/ 35 h 36"/>
                <a:gd name="T8" fmla="*/ 0 60000 65536"/>
                <a:gd name="T9" fmla="*/ 0 60000 65536"/>
                <a:gd name="T10" fmla="*/ 0 60000 65536"/>
                <a:gd name="T11" fmla="*/ 0 60000 65536"/>
                <a:gd name="T12" fmla="*/ 0 w 28"/>
                <a:gd name="T13" fmla="*/ 0 h 36"/>
                <a:gd name="T14" fmla="*/ 28 w 28"/>
                <a:gd name="T15" fmla="*/ 36 h 36"/>
              </a:gdLst>
              <a:ahLst/>
              <a:cxnLst>
                <a:cxn ang="T8">
                  <a:pos x="T0" y="T1"/>
                </a:cxn>
                <a:cxn ang="T9">
                  <a:pos x="T2" y="T3"/>
                </a:cxn>
                <a:cxn ang="T10">
                  <a:pos x="T4" y="T5"/>
                </a:cxn>
                <a:cxn ang="T11">
                  <a:pos x="T6" y="T7"/>
                </a:cxn>
              </a:cxnLst>
              <a:rect l="T12" t="T13" r="T14" b="T15"/>
              <a:pathLst>
                <a:path w="28" h="36">
                  <a:moveTo>
                    <a:pt x="0" y="35"/>
                  </a:moveTo>
                  <a:lnTo>
                    <a:pt x="27" y="27"/>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5" name="Freeform 6689"/>
            <p:cNvSpPr>
              <a:spLocks/>
            </p:cNvSpPr>
            <p:nvPr/>
          </p:nvSpPr>
          <p:spPr bwMode="auto">
            <a:xfrm>
              <a:off x="2507" y="2312"/>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6" name="Line 6690"/>
            <p:cNvSpPr>
              <a:spLocks noChangeShapeType="1"/>
            </p:cNvSpPr>
            <p:nvPr/>
          </p:nvSpPr>
          <p:spPr bwMode="auto">
            <a:xfrm>
              <a:off x="2507" y="2312"/>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7" name="Freeform 6691"/>
            <p:cNvSpPr>
              <a:spLocks/>
            </p:cNvSpPr>
            <p:nvPr/>
          </p:nvSpPr>
          <p:spPr bwMode="auto">
            <a:xfrm>
              <a:off x="2507" y="2304"/>
              <a:ext cx="28" cy="37"/>
            </a:xfrm>
            <a:custGeom>
              <a:avLst/>
              <a:gdLst>
                <a:gd name="T0" fmla="*/ 27 w 28"/>
                <a:gd name="T1" fmla="*/ 36 h 37"/>
                <a:gd name="T2" fmla="*/ 27 w 28"/>
                <a:gd name="T3" fmla="*/ 0 h 37"/>
                <a:gd name="T4" fmla="*/ 0 w 28"/>
                <a:gd name="T5" fmla="*/ 8 h 37"/>
                <a:gd name="T6" fmla="*/ 27 w 28"/>
                <a:gd name="T7" fmla="*/ 36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27" y="36"/>
                  </a:moveTo>
                  <a:lnTo>
                    <a:pt x="27" y="0"/>
                  </a:lnTo>
                  <a:lnTo>
                    <a:pt x="0" y="8"/>
                  </a:lnTo>
                  <a:lnTo>
                    <a:pt x="27"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8" name="Freeform 6692"/>
            <p:cNvSpPr>
              <a:spLocks/>
            </p:cNvSpPr>
            <p:nvPr/>
          </p:nvSpPr>
          <p:spPr bwMode="auto">
            <a:xfrm>
              <a:off x="2524" y="2304"/>
              <a:ext cx="22" cy="37"/>
            </a:xfrm>
            <a:custGeom>
              <a:avLst/>
              <a:gdLst>
                <a:gd name="T0" fmla="*/ 0 w 22"/>
                <a:gd name="T1" fmla="*/ 36 h 37"/>
                <a:gd name="T2" fmla="*/ 21 w 22"/>
                <a:gd name="T3" fmla="*/ 29 h 37"/>
                <a:gd name="T4" fmla="*/ 0 w 22"/>
                <a:gd name="T5" fmla="*/ 0 h 37"/>
                <a:gd name="T6" fmla="*/ 0 w 22"/>
                <a:gd name="T7" fmla="*/ 36 h 37"/>
                <a:gd name="T8" fmla="*/ 0 60000 65536"/>
                <a:gd name="T9" fmla="*/ 0 60000 65536"/>
                <a:gd name="T10" fmla="*/ 0 60000 65536"/>
                <a:gd name="T11" fmla="*/ 0 60000 65536"/>
                <a:gd name="T12" fmla="*/ 0 w 22"/>
                <a:gd name="T13" fmla="*/ 0 h 37"/>
                <a:gd name="T14" fmla="*/ 22 w 22"/>
                <a:gd name="T15" fmla="*/ 37 h 37"/>
              </a:gdLst>
              <a:ahLst/>
              <a:cxnLst>
                <a:cxn ang="T8">
                  <a:pos x="T0" y="T1"/>
                </a:cxn>
                <a:cxn ang="T9">
                  <a:pos x="T2" y="T3"/>
                </a:cxn>
                <a:cxn ang="T10">
                  <a:pos x="T4" y="T5"/>
                </a:cxn>
                <a:cxn ang="T11">
                  <a:pos x="T6" y="T7"/>
                </a:cxn>
              </a:cxnLst>
              <a:rect l="T12" t="T13" r="T14" b="T15"/>
              <a:pathLst>
                <a:path w="22" h="37">
                  <a:moveTo>
                    <a:pt x="0" y="36"/>
                  </a:moveTo>
                  <a:lnTo>
                    <a:pt x="21" y="29"/>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29" name="Freeform 6693"/>
            <p:cNvSpPr>
              <a:spLocks/>
            </p:cNvSpPr>
            <p:nvPr/>
          </p:nvSpPr>
          <p:spPr bwMode="auto">
            <a:xfrm>
              <a:off x="2524" y="2340"/>
              <a:ext cx="22" cy="1"/>
            </a:xfrm>
            <a:custGeom>
              <a:avLst/>
              <a:gdLst>
                <a:gd name="T0" fmla="*/ 0 w 22"/>
                <a:gd name="T1" fmla="*/ 0 h 1"/>
                <a:gd name="T2" fmla="*/ 0 w 22"/>
                <a:gd name="T3" fmla="*/ 0 h 1"/>
                <a:gd name="T4" fmla="*/ 21 w 22"/>
                <a:gd name="T5" fmla="*/ 0 h 1"/>
                <a:gd name="T6" fmla="*/ 0 w 22"/>
                <a:gd name="T7" fmla="*/ 0 h 1"/>
                <a:gd name="T8" fmla="*/ 0 60000 65536"/>
                <a:gd name="T9" fmla="*/ 0 60000 65536"/>
                <a:gd name="T10" fmla="*/ 0 60000 65536"/>
                <a:gd name="T11" fmla="*/ 0 60000 65536"/>
                <a:gd name="T12" fmla="*/ 0 w 22"/>
                <a:gd name="T13" fmla="*/ 0 h 1"/>
                <a:gd name="T14" fmla="*/ 22 w 22"/>
                <a:gd name="T15" fmla="*/ 1 h 1"/>
              </a:gdLst>
              <a:ahLst/>
              <a:cxnLst>
                <a:cxn ang="T8">
                  <a:pos x="T0" y="T1"/>
                </a:cxn>
                <a:cxn ang="T9">
                  <a:pos x="T2" y="T3"/>
                </a:cxn>
                <a:cxn ang="T10">
                  <a:pos x="T4" y="T5"/>
                </a:cxn>
                <a:cxn ang="T11">
                  <a:pos x="T6" y="T7"/>
                </a:cxn>
              </a:cxnLst>
              <a:rect l="T12" t="T13" r="T14" b="T15"/>
              <a:pathLst>
                <a:path w="22" h="1">
                  <a:moveTo>
                    <a:pt x="0" y="0"/>
                  </a:moveTo>
                  <a:lnTo>
                    <a:pt x="0" y="0"/>
                  </a:lnTo>
                  <a:lnTo>
                    <a:pt x="21"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0" name="Line 6694"/>
            <p:cNvSpPr>
              <a:spLocks noChangeShapeType="1"/>
            </p:cNvSpPr>
            <p:nvPr/>
          </p:nvSpPr>
          <p:spPr bwMode="auto">
            <a:xfrm>
              <a:off x="2524" y="2340"/>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1" name="Freeform 6695"/>
            <p:cNvSpPr>
              <a:spLocks/>
            </p:cNvSpPr>
            <p:nvPr/>
          </p:nvSpPr>
          <p:spPr bwMode="auto">
            <a:xfrm>
              <a:off x="2524" y="2334"/>
              <a:ext cx="22" cy="36"/>
            </a:xfrm>
            <a:custGeom>
              <a:avLst/>
              <a:gdLst>
                <a:gd name="T0" fmla="*/ 21 w 22"/>
                <a:gd name="T1" fmla="*/ 35 h 36"/>
                <a:gd name="T2" fmla="*/ 21 w 22"/>
                <a:gd name="T3" fmla="*/ 0 h 36"/>
                <a:gd name="T4" fmla="*/ 0 w 22"/>
                <a:gd name="T5" fmla="*/ 6 h 36"/>
                <a:gd name="T6" fmla="*/ 21 w 22"/>
                <a:gd name="T7" fmla="*/ 35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1" y="35"/>
                  </a:moveTo>
                  <a:lnTo>
                    <a:pt x="21" y="0"/>
                  </a:lnTo>
                  <a:lnTo>
                    <a:pt x="0" y="6"/>
                  </a:lnTo>
                  <a:lnTo>
                    <a:pt x="21"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2" name="Freeform 6696"/>
            <p:cNvSpPr>
              <a:spLocks/>
            </p:cNvSpPr>
            <p:nvPr/>
          </p:nvSpPr>
          <p:spPr bwMode="auto">
            <a:xfrm>
              <a:off x="2533" y="2334"/>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3" name="Freeform 6697"/>
            <p:cNvSpPr>
              <a:spLocks/>
            </p:cNvSpPr>
            <p:nvPr/>
          </p:nvSpPr>
          <p:spPr bwMode="auto">
            <a:xfrm>
              <a:off x="2533" y="2369"/>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4" name="Line 6698"/>
            <p:cNvSpPr>
              <a:spLocks noChangeShapeType="1"/>
            </p:cNvSpPr>
            <p:nvPr/>
          </p:nvSpPr>
          <p:spPr bwMode="auto">
            <a:xfrm>
              <a:off x="2533" y="2369"/>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5" name="Freeform 6699"/>
            <p:cNvSpPr>
              <a:spLocks/>
            </p:cNvSpPr>
            <p:nvPr/>
          </p:nvSpPr>
          <p:spPr bwMode="auto">
            <a:xfrm>
              <a:off x="2533" y="2361"/>
              <a:ext cx="24" cy="38"/>
            </a:xfrm>
            <a:custGeom>
              <a:avLst/>
              <a:gdLst>
                <a:gd name="T0" fmla="*/ 23 w 24"/>
                <a:gd name="T1" fmla="*/ 37 h 38"/>
                <a:gd name="T2" fmla="*/ 23 w 24"/>
                <a:gd name="T3" fmla="*/ 0 h 38"/>
                <a:gd name="T4" fmla="*/ 0 w 24"/>
                <a:gd name="T5" fmla="*/ 6 h 38"/>
                <a:gd name="T6" fmla="*/ 23 w 24"/>
                <a:gd name="T7" fmla="*/ 37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23" y="37"/>
                  </a:moveTo>
                  <a:lnTo>
                    <a:pt x="23" y="0"/>
                  </a:lnTo>
                  <a:lnTo>
                    <a:pt x="0" y="6"/>
                  </a:lnTo>
                  <a:lnTo>
                    <a:pt x="23"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6" name="Freeform 6700"/>
            <p:cNvSpPr>
              <a:spLocks/>
            </p:cNvSpPr>
            <p:nvPr/>
          </p:nvSpPr>
          <p:spPr bwMode="auto">
            <a:xfrm>
              <a:off x="2545" y="2361"/>
              <a:ext cx="28" cy="38"/>
            </a:xfrm>
            <a:custGeom>
              <a:avLst/>
              <a:gdLst>
                <a:gd name="T0" fmla="*/ 0 w 28"/>
                <a:gd name="T1" fmla="*/ 37 h 38"/>
                <a:gd name="T2" fmla="*/ 27 w 28"/>
                <a:gd name="T3" fmla="*/ 28 h 38"/>
                <a:gd name="T4" fmla="*/ 0 w 28"/>
                <a:gd name="T5" fmla="*/ 0 h 38"/>
                <a:gd name="T6" fmla="*/ 0 w 28"/>
                <a:gd name="T7" fmla="*/ 37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7"/>
                  </a:moveTo>
                  <a:lnTo>
                    <a:pt x="27" y="28"/>
                  </a:lnTo>
                  <a:lnTo>
                    <a:pt x="0" y="0"/>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7" name="Freeform 6701"/>
            <p:cNvSpPr>
              <a:spLocks/>
            </p:cNvSpPr>
            <p:nvPr/>
          </p:nvSpPr>
          <p:spPr bwMode="auto">
            <a:xfrm>
              <a:off x="2545" y="2398"/>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8" name="Line 6702"/>
            <p:cNvSpPr>
              <a:spLocks noChangeShapeType="1"/>
            </p:cNvSpPr>
            <p:nvPr/>
          </p:nvSpPr>
          <p:spPr bwMode="auto">
            <a:xfrm>
              <a:off x="2545" y="239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39" name="Freeform 6703"/>
            <p:cNvSpPr>
              <a:spLocks/>
            </p:cNvSpPr>
            <p:nvPr/>
          </p:nvSpPr>
          <p:spPr bwMode="auto">
            <a:xfrm>
              <a:off x="2545" y="2390"/>
              <a:ext cx="28" cy="31"/>
            </a:xfrm>
            <a:custGeom>
              <a:avLst/>
              <a:gdLst>
                <a:gd name="T0" fmla="*/ 27 w 28"/>
                <a:gd name="T1" fmla="*/ 30 h 31"/>
                <a:gd name="T2" fmla="*/ 27 w 28"/>
                <a:gd name="T3" fmla="*/ 0 h 31"/>
                <a:gd name="T4" fmla="*/ 0 w 28"/>
                <a:gd name="T5" fmla="*/ 8 h 31"/>
                <a:gd name="T6" fmla="*/ 27 w 28"/>
                <a:gd name="T7" fmla="*/ 30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30"/>
                  </a:moveTo>
                  <a:lnTo>
                    <a:pt x="27" y="0"/>
                  </a:lnTo>
                  <a:lnTo>
                    <a:pt x="0" y="8"/>
                  </a:lnTo>
                  <a:lnTo>
                    <a:pt x="27" y="3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0" name="Freeform 6704"/>
            <p:cNvSpPr>
              <a:spLocks/>
            </p:cNvSpPr>
            <p:nvPr/>
          </p:nvSpPr>
          <p:spPr bwMode="auto">
            <a:xfrm>
              <a:off x="2557" y="2390"/>
              <a:ext cx="27" cy="31"/>
            </a:xfrm>
            <a:custGeom>
              <a:avLst/>
              <a:gdLst>
                <a:gd name="T0" fmla="*/ 0 w 27"/>
                <a:gd name="T1" fmla="*/ 30 h 31"/>
                <a:gd name="T2" fmla="*/ 26 w 27"/>
                <a:gd name="T3" fmla="*/ 23 h 31"/>
                <a:gd name="T4" fmla="*/ 0 w 27"/>
                <a:gd name="T5" fmla="*/ 0 h 31"/>
                <a:gd name="T6" fmla="*/ 0 w 27"/>
                <a:gd name="T7" fmla="*/ 3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0" y="30"/>
                  </a:moveTo>
                  <a:lnTo>
                    <a:pt x="26" y="23"/>
                  </a:lnTo>
                  <a:lnTo>
                    <a:pt x="0" y="0"/>
                  </a:lnTo>
                  <a:lnTo>
                    <a:pt x="0" y="3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1" name="Freeform 6705"/>
            <p:cNvSpPr>
              <a:spLocks/>
            </p:cNvSpPr>
            <p:nvPr/>
          </p:nvSpPr>
          <p:spPr bwMode="auto">
            <a:xfrm>
              <a:off x="2557" y="2420"/>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2" name="Line 6706"/>
            <p:cNvSpPr>
              <a:spLocks noChangeShapeType="1"/>
            </p:cNvSpPr>
            <p:nvPr/>
          </p:nvSpPr>
          <p:spPr bwMode="auto">
            <a:xfrm>
              <a:off x="2557" y="2420"/>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3" name="Freeform 6707"/>
            <p:cNvSpPr>
              <a:spLocks/>
            </p:cNvSpPr>
            <p:nvPr/>
          </p:nvSpPr>
          <p:spPr bwMode="auto">
            <a:xfrm>
              <a:off x="2557" y="2412"/>
              <a:ext cx="27" cy="36"/>
            </a:xfrm>
            <a:custGeom>
              <a:avLst/>
              <a:gdLst>
                <a:gd name="T0" fmla="*/ 26 w 27"/>
                <a:gd name="T1" fmla="*/ 35 h 36"/>
                <a:gd name="T2" fmla="*/ 26 w 27"/>
                <a:gd name="T3" fmla="*/ 0 h 36"/>
                <a:gd name="T4" fmla="*/ 0 w 27"/>
                <a:gd name="T5" fmla="*/ 6 h 36"/>
                <a:gd name="T6" fmla="*/ 26 w 27"/>
                <a:gd name="T7" fmla="*/ 35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35"/>
                  </a:moveTo>
                  <a:lnTo>
                    <a:pt x="26" y="0"/>
                  </a:lnTo>
                  <a:lnTo>
                    <a:pt x="0" y="6"/>
                  </a:lnTo>
                  <a:lnTo>
                    <a:pt x="26"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4" name="Freeform 6708"/>
            <p:cNvSpPr>
              <a:spLocks/>
            </p:cNvSpPr>
            <p:nvPr/>
          </p:nvSpPr>
          <p:spPr bwMode="auto">
            <a:xfrm>
              <a:off x="2572" y="2412"/>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5" name="Freeform 6709"/>
            <p:cNvSpPr>
              <a:spLocks/>
            </p:cNvSpPr>
            <p:nvPr/>
          </p:nvSpPr>
          <p:spPr bwMode="auto">
            <a:xfrm>
              <a:off x="2572" y="2447"/>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6" name="Line 6710"/>
            <p:cNvSpPr>
              <a:spLocks noChangeShapeType="1"/>
            </p:cNvSpPr>
            <p:nvPr/>
          </p:nvSpPr>
          <p:spPr bwMode="auto">
            <a:xfrm>
              <a:off x="2572" y="244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7" name="Freeform 6711"/>
            <p:cNvSpPr>
              <a:spLocks/>
            </p:cNvSpPr>
            <p:nvPr/>
          </p:nvSpPr>
          <p:spPr bwMode="auto">
            <a:xfrm>
              <a:off x="2572" y="2441"/>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8" name="Freeform 6712"/>
            <p:cNvSpPr>
              <a:spLocks/>
            </p:cNvSpPr>
            <p:nvPr/>
          </p:nvSpPr>
          <p:spPr bwMode="auto">
            <a:xfrm>
              <a:off x="2583" y="2441"/>
              <a:ext cx="24" cy="28"/>
            </a:xfrm>
            <a:custGeom>
              <a:avLst/>
              <a:gdLst>
                <a:gd name="T0" fmla="*/ 0 w 24"/>
                <a:gd name="T1" fmla="*/ 27 h 28"/>
                <a:gd name="T2" fmla="*/ 23 w 24"/>
                <a:gd name="T3" fmla="*/ 20 h 28"/>
                <a:gd name="T4" fmla="*/ 0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23" y="20"/>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49" name="Freeform 6713"/>
            <p:cNvSpPr>
              <a:spLocks/>
            </p:cNvSpPr>
            <p:nvPr/>
          </p:nvSpPr>
          <p:spPr bwMode="auto">
            <a:xfrm>
              <a:off x="2583" y="24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0" name="Line 6714"/>
            <p:cNvSpPr>
              <a:spLocks noChangeShapeType="1"/>
            </p:cNvSpPr>
            <p:nvPr/>
          </p:nvSpPr>
          <p:spPr bwMode="auto">
            <a:xfrm>
              <a:off x="2583" y="24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1" name="Freeform 6715"/>
            <p:cNvSpPr>
              <a:spLocks/>
            </p:cNvSpPr>
            <p:nvPr/>
          </p:nvSpPr>
          <p:spPr bwMode="auto">
            <a:xfrm>
              <a:off x="2583" y="2462"/>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2" name="Freeform 6716"/>
            <p:cNvSpPr>
              <a:spLocks/>
            </p:cNvSpPr>
            <p:nvPr/>
          </p:nvSpPr>
          <p:spPr bwMode="auto">
            <a:xfrm>
              <a:off x="2594" y="2462"/>
              <a:ext cx="28" cy="28"/>
            </a:xfrm>
            <a:custGeom>
              <a:avLst/>
              <a:gdLst>
                <a:gd name="T0" fmla="*/ 0 w 28"/>
                <a:gd name="T1" fmla="*/ 27 h 28"/>
                <a:gd name="T2" fmla="*/ 27 w 28"/>
                <a:gd name="T3" fmla="*/ 20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20"/>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3" name="Freeform 6717"/>
            <p:cNvSpPr>
              <a:spLocks/>
            </p:cNvSpPr>
            <p:nvPr/>
          </p:nvSpPr>
          <p:spPr bwMode="auto">
            <a:xfrm>
              <a:off x="2594" y="2489"/>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4" name="Line 6718"/>
            <p:cNvSpPr>
              <a:spLocks noChangeShapeType="1"/>
            </p:cNvSpPr>
            <p:nvPr/>
          </p:nvSpPr>
          <p:spPr bwMode="auto">
            <a:xfrm>
              <a:off x="2594" y="2489"/>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5" name="Freeform 6719"/>
            <p:cNvSpPr>
              <a:spLocks/>
            </p:cNvSpPr>
            <p:nvPr/>
          </p:nvSpPr>
          <p:spPr bwMode="auto">
            <a:xfrm>
              <a:off x="2594" y="2484"/>
              <a:ext cx="28" cy="26"/>
            </a:xfrm>
            <a:custGeom>
              <a:avLst/>
              <a:gdLst>
                <a:gd name="T0" fmla="*/ 27 w 28"/>
                <a:gd name="T1" fmla="*/ 25 h 26"/>
                <a:gd name="T2" fmla="*/ 27 w 28"/>
                <a:gd name="T3" fmla="*/ 0 h 26"/>
                <a:gd name="T4" fmla="*/ 0 w 28"/>
                <a:gd name="T5" fmla="*/ 7 h 26"/>
                <a:gd name="T6" fmla="*/ 27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25"/>
                  </a:moveTo>
                  <a:lnTo>
                    <a:pt x="27" y="0"/>
                  </a:lnTo>
                  <a:lnTo>
                    <a:pt x="0" y="7"/>
                  </a:lnTo>
                  <a:lnTo>
                    <a:pt x="27"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6" name="Freeform 6720"/>
            <p:cNvSpPr>
              <a:spLocks/>
            </p:cNvSpPr>
            <p:nvPr/>
          </p:nvSpPr>
          <p:spPr bwMode="auto">
            <a:xfrm>
              <a:off x="2610" y="2484"/>
              <a:ext cx="24" cy="26"/>
            </a:xfrm>
            <a:custGeom>
              <a:avLst/>
              <a:gdLst>
                <a:gd name="T0" fmla="*/ 0 w 24"/>
                <a:gd name="T1" fmla="*/ 25 h 26"/>
                <a:gd name="T2" fmla="*/ 23 w 24"/>
                <a:gd name="T3" fmla="*/ 17 h 26"/>
                <a:gd name="T4" fmla="*/ 0 w 24"/>
                <a:gd name="T5" fmla="*/ 0 h 26"/>
                <a:gd name="T6" fmla="*/ 0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0" y="25"/>
                  </a:moveTo>
                  <a:lnTo>
                    <a:pt x="23" y="17"/>
                  </a:lnTo>
                  <a:lnTo>
                    <a:pt x="0" y="0"/>
                  </a:lnTo>
                  <a:lnTo>
                    <a:pt x="0"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7" name="Freeform 6721"/>
            <p:cNvSpPr>
              <a:spLocks/>
            </p:cNvSpPr>
            <p:nvPr/>
          </p:nvSpPr>
          <p:spPr bwMode="auto">
            <a:xfrm>
              <a:off x="2610" y="2505"/>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8" name="Line 6722"/>
            <p:cNvSpPr>
              <a:spLocks noChangeShapeType="1"/>
            </p:cNvSpPr>
            <p:nvPr/>
          </p:nvSpPr>
          <p:spPr bwMode="auto">
            <a:xfrm>
              <a:off x="2610" y="2505"/>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59" name="Freeform 6723"/>
            <p:cNvSpPr>
              <a:spLocks/>
            </p:cNvSpPr>
            <p:nvPr/>
          </p:nvSpPr>
          <p:spPr bwMode="auto">
            <a:xfrm>
              <a:off x="2610" y="2498"/>
              <a:ext cx="24" cy="30"/>
            </a:xfrm>
            <a:custGeom>
              <a:avLst/>
              <a:gdLst>
                <a:gd name="T0" fmla="*/ 23 w 24"/>
                <a:gd name="T1" fmla="*/ 29 h 30"/>
                <a:gd name="T2" fmla="*/ 23 w 24"/>
                <a:gd name="T3" fmla="*/ 0 h 30"/>
                <a:gd name="T4" fmla="*/ 0 w 24"/>
                <a:gd name="T5" fmla="*/ 6 h 30"/>
                <a:gd name="T6" fmla="*/ 23 w 24"/>
                <a:gd name="T7" fmla="*/ 29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29"/>
                  </a:moveTo>
                  <a:lnTo>
                    <a:pt x="23" y="0"/>
                  </a:lnTo>
                  <a:lnTo>
                    <a:pt x="0" y="6"/>
                  </a:lnTo>
                  <a:lnTo>
                    <a:pt x="23" y="2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0" name="Freeform 6724"/>
            <p:cNvSpPr>
              <a:spLocks/>
            </p:cNvSpPr>
            <p:nvPr/>
          </p:nvSpPr>
          <p:spPr bwMode="auto">
            <a:xfrm>
              <a:off x="2621" y="2498"/>
              <a:ext cx="25" cy="30"/>
            </a:xfrm>
            <a:custGeom>
              <a:avLst/>
              <a:gdLst>
                <a:gd name="T0" fmla="*/ 0 w 25"/>
                <a:gd name="T1" fmla="*/ 29 h 30"/>
                <a:gd name="T2" fmla="*/ 24 w 25"/>
                <a:gd name="T3" fmla="*/ 22 h 30"/>
                <a:gd name="T4" fmla="*/ 0 w 25"/>
                <a:gd name="T5" fmla="*/ 0 h 30"/>
                <a:gd name="T6" fmla="*/ 0 w 25"/>
                <a:gd name="T7" fmla="*/ 29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0" y="29"/>
                  </a:moveTo>
                  <a:lnTo>
                    <a:pt x="24" y="22"/>
                  </a:lnTo>
                  <a:lnTo>
                    <a:pt x="0" y="0"/>
                  </a:lnTo>
                  <a:lnTo>
                    <a:pt x="0" y="2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1" name="Freeform 6725"/>
            <p:cNvSpPr>
              <a:spLocks/>
            </p:cNvSpPr>
            <p:nvPr/>
          </p:nvSpPr>
          <p:spPr bwMode="auto">
            <a:xfrm>
              <a:off x="2621" y="2527"/>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2" name="Line 6726"/>
            <p:cNvSpPr>
              <a:spLocks noChangeShapeType="1"/>
            </p:cNvSpPr>
            <p:nvPr/>
          </p:nvSpPr>
          <p:spPr bwMode="auto">
            <a:xfrm>
              <a:off x="2621" y="2527"/>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3" name="Freeform 6727"/>
            <p:cNvSpPr>
              <a:spLocks/>
            </p:cNvSpPr>
            <p:nvPr/>
          </p:nvSpPr>
          <p:spPr bwMode="auto">
            <a:xfrm>
              <a:off x="2621" y="2519"/>
              <a:ext cx="25" cy="28"/>
            </a:xfrm>
            <a:custGeom>
              <a:avLst/>
              <a:gdLst>
                <a:gd name="T0" fmla="*/ 24 w 25"/>
                <a:gd name="T1" fmla="*/ 27 h 28"/>
                <a:gd name="T2" fmla="*/ 12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8"/>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4" name="Freeform 6728"/>
            <p:cNvSpPr>
              <a:spLocks/>
            </p:cNvSpPr>
            <p:nvPr/>
          </p:nvSpPr>
          <p:spPr bwMode="auto">
            <a:xfrm>
              <a:off x="2628" y="2519"/>
              <a:ext cx="24" cy="28"/>
            </a:xfrm>
            <a:custGeom>
              <a:avLst/>
              <a:gdLst>
                <a:gd name="T0" fmla="*/ 10 w 24"/>
                <a:gd name="T1" fmla="*/ 27 h 28"/>
                <a:gd name="T2" fmla="*/ 23 w 24"/>
                <a:gd name="T3" fmla="*/ 16 h 28"/>
                <a:gd name="T4" fmla="*/ 0 w 24"/>
                <a:gd name="T5" fmla="*/ 0 h 28"/>
                <a:gd name="T6" fmla="*/ 1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10" y="27"/>
                  </a:moveTo>
                  <a:lnTo>
                    <a:pt x="23" y="16"/>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5" name="Freeform 6729"/>
            <p:cNvSpPr>
              <a:spLocks/>
            </p:cNvSpPr>
            <p:nvPr/>
          </p:nvSpPr>
          <p:spPr bwMode="auto">
            <a:xfrm>
              <a:off x="2632" y="2541"/>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6" name="Line 6730"/>
            <p:cNvSpPr>
              <a:spLocks noChangeShapeType="1"/>
            </p:cNvSpPr>
            <p:nvPr/>
          </p:nvSpPr>
          <p:spPr bwMode="auto">
            <a:xfrm>
              <a:off x="2632" y="25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7" name="Freeform 6731"/>
            <p:cNvSpPr>
              <a:spLocks/>
            </p:cNvSpPr>
            <p:nvPr/>
          </p:nvSpPr>
          <p:spPr bwMode="auto">
            <a:xfrm>
              <a:off x="2632" y="2532"/>
              <a:ext cx="28" cy="28"/>
            </a:xfrm>
            <a:custGeom>
              <a:avLst/>
              <a:gdLst>
                <a:gd name="T0" fmla="*/ 27 w 28"/>
                <a:gd name="T1" fmla="*/ 27 h 28"/>
                <a:gd name="T2" fmla="*/ 15 w 28"/>
                <a:gd name="T3" fmla="*/ 0 h 28"/>
                <a:gd name="T4" fmla="*/ 0 w 28"/>
                <a:gd name="T5" fmla="*/ 9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15" y="0"/>
                  </a:lnTo>
                  <a:lnTo>
                    <a:pt x="0" y="9"/>
                  </a:lnTo>
                  <a:lnTo>
                    <a:pt x="27"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8" name="Freeform 6732"/>
            <p:cNvSpPr>
              <a:spLocks/>
            </p:cNvSpPr>
            <p:nvPr/>
          </p:nvSpPr>
          <p:spPr bwMode="auto">
            <a:xfrm>
              <a:off x="2640" y="2532"/>
              <a:ext cx="27" cy="28"/>
            </a:xfrm>
            <a:custGeom>
              <a:avLst/>
              <a:gdLst>
                <a:gd name="T0" fmla="*/ 13 w 27"/>
                <a:gd name="T1" fmla="*/ 27 h 28"/>
                <a:gd name="T2" fmla="*/ 26 w 27"/>
                <a:gd name="T3" fmla="*/ 17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17"/>
                  </a:lnTo>
                  <a:lnTo>
                    <a:pt x="0" y="0"/>
                  </a:lnTo>
                  <a:lnTo>
                    <a:pt x="1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69" name="Freeform 6733"/>
            <p:cNvSpPr>
              <a:spLocks/>
            </p:cNvSpPr>
            <p:nvPr/>
          </p:nvSpPr>
          <p:spPr bwMode="auto">
            <a:xfrm>
              <a:off x="2644" y="2556"/>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0" name="Line 6734"/>
            <p:cNvSpPr>
              <a:spLocks noChangeShapeType="1"/>
            </p:cNvSpPr>
            <p:nvPr/>
          </p:nvSpPr>
          <p:spPr bwMode="auto">
            <a:xfrm>
              <a:off x="2644" y="2556"/>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1" name="Freeform 6735"/>
            <p:cNvSpPr>
              <a:spLocks/>
            </p:cNvSpPr>
            <p:nvPr/>
          </p:nvSpPr>
          <p:spPr bwMode="auto">
            <a:xfrm>
              <a:off x="2644" y="2547"/>
              <a:ext cx="27" cy="27"/>
            </a:xfrm>
            <a:custGeom>
              <a:avLst/>
              <a:gdLst>
                <a:gd name="T0" fmla="*/ 26 w 27"/>
                <a:gd name="T1" fmla="*/ 26 h 27"/>
                <a:gd name="T2" fmla="*/ 11 w 27"/>
                <a:gd name="T3" fmla="*/ 0 h 27"/>
                <a:gd name="T4" fmla="*/ 0 w 27"/>
                <a:gd name="T5" fmla="*/ 1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1" y="0"/>
                  </a:lnTo>
                  <a:lnTo>
                    <a:pt x="0" y="10"/>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2" name="Freeform 6736"/>
            <p:cNvSpPr>
              <a:spLocks/>
            </p:cNvSpPr>
            <p:nvPr/>
          </p:nvSpPr>
          <p:spPr bwMode="auto">
            <a:xfrm>
              <a:off x="2651" y="2547"/>
              <a:ext cx="28" cy="27"/>
            </a:xfrm>
            <a:custGeom>
              <a:avLst/>
              <a:gdLst>
                <a:gd name="T0" fmla="*/ 15 w 28"/>
                <a:gd name="T1" fmla="*/ 26 h 27"/>
                <a:gd name="T2" fmla="*/ 27 w 28"/>
                <a:gd name="T3" fmla="*/ 18 h 27"/>
                <a:gd name="T4" fmla="*/ 0 w 28"/>
                <a:gd name="T5" fmla="*/ 0 h 27"/>
                <a:gd name="T6" fmla="*/ 15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15" y="26"/>
                  </a:moveTo>
                  <a:lnTo>
                    <a:pt x="27" y="18"/>
                  </a:lnTo>
                  <a:lnTo>
                    <a:pt x="0" y="0"/>
                  </a:lnTo>
                  <a:lnTo>
                    <a:pt x="1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3" name="Freeform 6737"/>
            <p:cNvSpPr>
              <a:spLocks/>
            </p:cNvSpPr>
            <p:nvPr/>
          </p:nvSpPr>
          <p:spPr bwMode="auto">
            <a:xfrm>
              <a:off x="2659" y="25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4" name="Line 6738"/>
            <p:cNvSpPr>
              <a:spLocks noChangeShapeType="1"/>
            </p:cNvSpPr>
            <p:nvPr/>
          </p:nvSpPr>
          <p:spPr bwMode="auto">
            <a:xfrm>
              <a:off x="2659" y="25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5" name="Freeform 6739"/>
            <p:cNvSpPr>
              <a:spLocks/>
            </p:cNvSpPr>
            <p:nvPr/>
          </p:nvSpPr>
          <p:spPr bwMode="auto">
            <a:xfrm>
              <a:off x="2659" y="2562"/>
              <a:ext cx="24" cy="27"/>
            </a:xfrm>
            <a:custGeom>
              <a:avLst/>
              <a:gdLst>
                <a:gd name="T0" fmla="*/ 23 w 24"/>
                <a:gd name="T1" fmla="*/ 26 h 27"/>
                <a:gd name="T2" fmla="*/ 11 w 24"/>
                <a:gd name="T3" fmla="*/ 0 h 27"/>
                <a:gd name="T4" fmla="*/ 0 w 24"/>
                <a:gd name="T5" fmla="*/ 8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1" y="0"/>
                  </a:lnTo>
                  <a:lnTo>
                    <a:pt x="0" y="8"/>
                  </a:lnTo>
                  <a:lnTo>
                    <a:pt x="2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6" name="Freeform 6740"/>
            <p:cNvSpPr>
              <a:spLocks/>
            </p:cNvSpPr>
            <p:nvPr/>
          </p:nvSpPr>
          <p:spPr bwMode="auto">
            <a:xfrm>
              <a:off x="2666" y="2562"/>
              <a:ext cx="24" cy="27"/>
            </a:xfrm>
            <a:custGeom>
              <a:avLst/>
              <a:gdLst>
                <a:gd name="T0" fmla="*/ 10 w 24"/>
                <a:gd name="T1" fmla="*/ 26 h 27"/>
                <a:gd name="T2" fmla="*/ 23 w 24"/>
                <a:gd name="T3" fmla="*/ 18 h 27"/>
                <a:gd name="T4" fmla="*/ 0 w 24"/>
                <a:gd name="T5" fmla="*/ 0 h 27"/>
                <a:gd name="T6" fmla="*/ 1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10" y="26"/>
                  </a:moveTo>
                  <a:lnTo>
                    <a:pt x="23" y="18"/>
                  </a:lnTo>
                  <a:lnTo>
                    <a:pt x="0" y="0"/>
                  </a:lnTo>
                  <a:lnTo>
                    <a:pt x="1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7" name="Freeform 6741"/>
            <p:cNvSpPr>
              <a:spLocks/>
            </p:cNvSpPr>
            <p:nvPr/>
          </p:nvSpPr>
          <p:spPr bwMode="auto">
            <a:xfrm>
              <a:off x="2668" y="2584"/>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8" name="Line 6742"/>
            <p:cNvSpPr>
              <a:spLocks noChangeShapeType="1"/>
            </p:cNvSpPr>
            <p:nvPr/>
          </p:nvSpPr>
          <p:spPr bwMode="auto">
            <a:xfrm>
              <a:off x="2668" y="2584"/>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79" name="Freeform 6743"/>
            <p:cNvSpPr>
              <a:spLocks/>
            </p:cNvSpPr>
            <p:nvPr/>
          </p:nvSpPr>
          <p:spPr bwMode="auto">
            <a:xfrm>
              <a:off x="2668" y="2576"/>
              <a:ext cx="27" cy="28"/>
            </a:xfrm>
            <a:custGeom>
              <a:avLst/>
              <a:gdLst>
                <a:gd name="T0" fmla="*/ 26 w 27"/>
                <a:gd name="T1" fmla="*/ 27 h 28"/>
                <a:gd name="T2" fmla="*/ 14 w 27"/>
                <a:gd name="T3" fmla="*/ 0 h 28"/>
                <a:gd name="T4" fmla="*/ 0 w 27"/>
                <a:gd name="T5" fmla="*/ 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4" y="0"/>
                  </a:lnTo>
                  <a:lnTo>
                    <a:pt x="0" y="8"/>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0" name="Freeform 6744"/>
            <p:cNvSpPr>
              <a:spLocks/>
            </p:cNvSpPr>
            <p:nvPr/>
          </p:nvSpPr>
          <p:spPr bwMode="auto">
            <a:xfrm>
              <a:off x="2678" y="2576"/>
              <a:ext cx="27" cy="28"/>
            </a:xfrm>
            <a:custGeom>
              <a:avLst/>
              <a:gdLst>
                <a:gd name="T0" fmla="*/ 11 w 27"/>
                <a:gd name="T1" fmla="*/ 27 h 28"/>
                <a:gd name="T2" fmla="*/ 26 w 27"/>
                <a:gd name="T3" fmla="*/ 8 h 28"/>
                <a:gd name="T4" fmla="*/ 0 w 27"/>
                <a:gd name="T5" fmla="*/ 0 h 28"/>
                <a:gd name="T6" fmla="*/ 11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1" y="27"/>
                  </a:moveTo>
                  <a:lnTo>
                    <a:pt x="26" y="8"/>
                  </a:lnTo>
                  <a:lnTo>
                    <a:pt x="0" y="0"/>
                  </a:lnTo>
                  <a:lnTo>
                    <a:pt x="11"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1" name="Freeform 6745"/>
            <p:cNvSpPr>
              <a:spLocks/>
            </p:cNvSpPr>
            <p:nvPr/>
          </p:nvSpPr>
          <p:spPr bwMode="auto">
            <a:xfrm>
              <a:off x="2682" y="2589"/>
              <a:ext cx="26" cy="28"/>
            </a:xfrm>
            <a:custGeom>
              <a:avLst/>
              <a:gdLst>
                <a:gd name="T0" fmla="*/ 0 w 26"/>
                <a:gd name="T1" fmla="*/ 27 h 28"/>
                <a:gd name="T2" fmla="*/ 0 w 26"/>
                <a:gd name="T3" fmla="*/ 27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0" y="27"/>
                  </a:ln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2" name="Line 6746"/>
            <p:cNvSpPr>
              <a:spLocks noChangeShapeType="1"/>
            </p:cNvSpPr>
            <p:nvPr/>
          </p:nvSpPr>
          <p:spPr bwMode="auto">
            <a:xfrm>
              <a:off x="2682" y="259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3" name="Freeform 6747"/>
            <p:cNvSpPr>
              <a:spLocks/>
            </p:cNvSpPr>
            <p:nvPr/>
          </p:nvSpPr>
          <p:spPr bwMode="auto">
            <a:xfrm>
              <a:off x="2682" y="2584"/>
              <a:ext cx="26" cy="26"/>
            </a:xfrm>
            <a:custGeom>
              <a:avLst/>
              <a:gdLst>
                <a:gd name="T0" fmla="*/ 25 w 26"/>
                <a:gd name="T1" fmla="*/ 25 h 26"/>
                <a:gd name="T2" fmla="*/ 13 w 26"/>
                <a:gd name="T3" fmla="*/ 0 h 26"/>
                <a:gd name="T4" fmla="*/ 0 w 26"/>
                <a:gd name="T5" fmla="*/ 17 h 26"/>
                <a:gd name="T6" fmla="*/ 25 w 26"/>
                <a:gd name="T7" fmla="*/ 25 h 26"/>
                <a:gd name="T8" fmla="*/ 0 60000 65536"/>
                <a:gd name="T9" fmla="*/ 0 60000 65536"/>
                <a:gd name="T10" fmla="*/ 0 60000 65536"/>
                <a:gd name="T11" fmla="*/ 0 60000 65536"/>
                <a:gd name="T12" fmla="*/ 0 w 26"/>
                <a:gd name="T13" fmla="*/ 0 h 26"/>
                <a:gd name="T14" fmla="*/ 26 w 26"/>
                <a:gd name="T15" fmla="*/ 26 h 26"/>
              </a:gdLst>
              <a:ahLst/>
              <a:cxnLst>
                <a:cxn ang="T8">
                  <a:pos x="T0" y="T1"/>
                </a:cxn>
                <a:cxn ang="T9">
                  <a:pos x="T2" y="T3"/>
                </a:cxn>
                <a:cxn ang="T10">
                  <a:pos x="T4" y="T5"/>
                </a:cxn>
                <a:cxn ang="T11">
                  <a:pos x="T6" y="T7"/>
                </a:cxn>
              </a:cxnLst>
              <a:rect l="T12" t="T13" r="T14" b="T15"/>
              <a:pathLst>
                <a:path w="26" h="26">
                  <a:moveTo>
                    <a:pt x="25" y="25"/>
                  </a:moveTo>
                  <a:lnTo>
                    <a:pt x="13" y="0"/>
                  </a:lnTo>
                  <a:lnTo>
                    <a:pt x="0" y="17"/>
                  </a:lnTo>
                  <a:lnTo>
                    <a:pt x="25"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4" name="Freeform 6748"/>
            <p:cNvSpPr>
              <a:spLocks/>
            </p:cNvSpPr>
            <p:nvPr/>
          </p:nvSpPr>
          <p:spPr bwMode="auto">
            <a:xfrm>
              <a:off x="2689" y="2584"/>
              <a:ext cx="28" cy="26"/>
            </a:xfrm>
            <a:custGeom>
              <a:avLst/>
              <a:gdLst>
                <a:gd name="T0" fmla="*/ 13 w 28"/>
                <a:gd name="T1" fmla="*/ 25 h 26"/>
                <a:gd name="T2" fmla="*/ 27 w 28"/>
                <a:gd name="T3" fmla="*/ 17 h 26"/>
                <a:gd name="T4" fmla="*/ 0 w 28"/>
                <a:gd name="T5" fmla="*/ 0 h 26"/>
                <a:gd name="T6" fmla="*/ 13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13" y="25"/>
                  </a:moveTo>
                  <a:lnTo>
                    <a:pt x="27" y="17"/>
                  </a:lnTo>
                  <a:lnTo>
                    <a:pt x="0" y="0"/>
                  </a:lnTo>
                  <a:lnTo>
                    <a:pt x="13"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5" name="Freeform 6749"/>
            <p:cNvSpPr>
              <a:spLocks/>
            </p:cNvSpPr>
            <p:nvPr/>
          </p:nvSpPr>
          <p:spPr bwMode="auto">
            <a:xfrm>
              <a:off x="2697" y="260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6" name="Line 6750"/>
            <p:cNvSpPr>
              <a:spLocks noChangeShapeType="1"/>
            </p:cNvSpPr>
            <p:nvPr/>
          </p:nvSpPr>
          <p:spPr bwMode="auto">
            <a:xfrm>
              <a:off x="2697" y="2604"/>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7" name="Freeform 6751"/>
            <p:cNvSpPr>
              <a:spLocks/>
            </p:cNvSpPr>
            <p:nvPr/>
          </p:nvSpPr>
          <p:spPr bwMode="auto">
            <a:xfrm>
              <a:off x="2697" y="2598"/>
              <a:ext cx="24" cy="27"/>
            </a:xfrm>
            <a:custGeom>
              <a:avLst/>
              <a:gdLst>
                <a:gd name="T0" fmla="*/ 23 w 24"/>
                <a:gd name="T1" fmla="*/ 26 h 27"/>
                <a:gd name="T2" fmla="*/ 10 w 24"/>
                <a:gd name="T3" fmla="*/ 0 h 27"/>
                <a:gd name="T4" fmla="*/ 0 w 24"/>
                <a:gd name="T5" fmla="*/ 13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0" y="0"/>
                  </a:lnTo>
                  <a:lnTo>
                    <a:pt x="0" y="13"/>
                  </a:lnTo>
                  <a:lnTo>
                    <a:pt x="2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8" name="Freeform 6752"/>
            <p:cNvSpPr>
              <a:spLocks/>
            </p:cNvSpPr>
            <p:nvPr/>
          </p:nvSpPr>
          <p:spPr bwMode="auto">
            <a:xfrm>
              <a:off x="2701" y="2598"/>
              <a:ext cx="27" cy="27"/>
            </a:xfrm>
            <a:custGeom>
              <a:avLst/>
              <a:gdLst>
                <a:gd name="T0" fmla="*/ 14 w 27"/>
                <a:gd name="T1" fmla="*/ 26 h 27"/>
                <a:gd name="T2" fmla="*/ 26 w 27"/>
                <a:gd name="T3" fmla="*/ 13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13"/>
                  </a:lnTo>
                  <a:lnTo>
                    <a:pt x="0" y="0"/>
                  </a:lnTo>
                  <a:lnTo>
                    <a:pt x="1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89" name="Freeform 6753"/>
            <p:cNvSpPr>
              <a:spLocks/>
            </p:cNvSpPr>
            <p:nvPr/>
          </p:nvSpPr>
          <p:spPr bwMode="auto">
            <a:xfrm>
              <a:off x="2707" y="2611"/>
              <a:ext cx="29" cy="27"/>
            </a:xfrm>
            <a:custGeom>
              <a:avLst/>
              <a:gdLst>
                <a:gd name="T0" fmla="*/ 0 w 29"/>
                <a:gd name="T1" fmla="*/ 26 h 27"/>
                <a:gd name="T2" fmla="*/ 0 w 29"/>
                <a:gd name="T3" fmla="*/ 0 h 27"/>
                <a:gd name="T4" fmla="*/ 28 w 29"/>
                <a:gd name="T5" fmla="*/ 0 h 27"/>
                <a:gd name="T6" fmla="*/ 0 w 29"/>
                <a:gd name="T7" fmla="*/ 26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0" y="26"/>
                  </a:moveTo>
                  <a:lnTo>
                    <a:pt x="0" y="0"/>
                  </a:lnTo>
                  <a:lnTo>
                    <a:pt x="28"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0" name="Freeform 6754"/>
            <p:cNvSpPr>
              <a:spLocks/>
            </p:cNvSpPr>
            <p:nvPr/>
          </p:nvSpPr>
          <p:spPr bwMode="auto">
            <a:xfrm>
              <a:off x="2707" y="261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1" name="Freeform 6755"/>
            <p:cNvSpPr>
              <a:spLocks/>
            </p:cNvSpPr>
            <p:nvPr/>
          </p:nvSpPr>
          <p:spPr bwMode="auto">
            <a:xfrm>
              <a:off x="2707" y="2604"/>
              <a:ext cx="29" cy="28"/>
            </a:xfrm>
            <a:custGeom>
              <a:avLst/>
              <a:gdLst>
                <a:gd name="T0" fmla="*/ 28 w 29"/>
                <a:gd name="T1" fmla="*/ 27 h 28"/>
                <a:gd name="T2" fmla="*/ 14 w 29"/>
                <a:gd name="T3" fmla="*/ 0 h 28"/>
                <a:gd name="T4" fmla="*/ 0 w 29"/>
                <a:gd name="T5" fmla="*/ 18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4" y="0"/>
                  </a:lnTo>
                  <a:lnTo>
                    <a:pt x="0" y="18"/>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2" name="Freeform 6756"/>
            <p:cNvSpPr>
              <a:spLocks/>
            </p:cNvSpPr>
            <p:nvPr/>
          </p:nvSpPr>
          <p:spPr bwMode="auto">
            <a:xfrm>
              <a:off x="2716" y="2604"/>
              <a:ext cx="25" cy="28"/>
            </a:xfrm>
            <a:custGeom>
              <a:avLst/>
              <a:gdLst>
                <a:gd name="T0" fmla="*/ 10 w 25"/>
                <a:gd name="T1" fmla="*/ 27 h 28"/>
                <a:gd name="T2" fmla="*/ 24 w 25"/>
                <a:gd name="T3" fmla="*/ 8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8"/>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3" name="Freeform 6757"/>
            <p:cNvSpPr>
              <a:spLocks/>
            </p:cNvSpPr>
            <p:nvPr/>
          </p:nvSpPr>
          <p:spPr bwMode="auto">
            <a:xfrm>
              <a:off x="2727" y="2611"/>
              <a:ext cx="28" cy="27"/>
            </a:xfrm>
            <a:custGeom>
              <a:avLst/>
              <a:gdLst>
                <a:gd name="T0" fmla="*/ 0 w 28"/>
                <a:gd name="T1" fmla="*/ 26 h 27"/>
                <a:gd name="T2" fmla="*/ 27 w 28"/>
                <a:gd name="T3" fmla="*/ 10 h 27"/>
                <a:gd name="T4" fmla="*/ 0 w 28"/>
                <a:gd name="T5" fmla="*/ 0 h 27"/>
                <a:gd name="T6" fmla="*/ 0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0" y="26"/>
                  </a:moveTo>
                  <a:lnTo>
                    <a:pt x="27" y="10"/>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4" name="Freeform 6758"/>
            <p:cNvSpPr>
              <a:spLocks/>
            </p:cNvSpPr>
            <p:nvPr/>
          </p:nvSpPr>
          <p:spPr bwMode="auto">
            <a:xfrm>
              <a:off x="2727" y="2632"/>
              <a:ext cx="28" cy="1"/>
            </a:xfrm>
            <a:custGeom>
              <a:avLst/>
              <a:gdLst>
                <a:gd name="T0" fmla="*/ 27 w 28"/>
                <a:gd name="T1" fmla="*/ 0 h 1"/>
                <a:gd name="T2" fmla="*/ 27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27" y="0"/>
                  </a:lnTo>
                  <a:lnTo>
                    <a:pt x="0" y="0"/>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5" name="Freeform 6759"/>
            <p:cNvSpPr>
              <a:spLocks/>
            </p:cNvSpPr>
            <p:nvPr/>
          </p:nvSpPr>
          <p:spPr bwMode="auto">
            <a:xfrm>
              <a:off x="2732" y="2619"/>
              <a:ext cx="25" cy="27"/>
            </a:xfrm>
            <a:custGeom>
              <a:avLst/>
              <a:gdLst>
                <a:gd name="T0" fmla="*/ 24 w 25"/>
                <a:gd name="T1" fmla="*/ 26 h 27"/>
                <a:gd name="T2" fmla="*/ 0 w 25"/>
                <a:gd name="T3" fmla="*/ 0 h 27"/>
                <a:gd name="T4" fmla="*/ 0 w 25"/>
                <a:gd name="T5" fmla="*/ 16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0" y="0"/>
                  </a:lnTo>
                  <a:lnTo>
                    <a:pt x="0" y="16"/>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6" name="Freeform 6760"/>
            <p:cNvSpPr>
              <a:spLocks/>
            </p:cNvSpPr>
            <p:nvPr/>
          </p:nvSpPr>
          <p:spPr bwMode="auto">
            <a:xfrm>
              <a:off x="2732" y="2619"/>
              <a:ext cx="25" cy="27"/>
            </a:xfrm>
            <a:custGeom>
              <a:avLst/>
              <a:gdLst>
                <a:gd name="T0" fmla="*/ 10 w 25"/>
                <a:gd name="T1" fmla="*/ 26 h 27"/>
                <a:gd name="T2" fmla="*/ 24 w 25"/>
                <a:gd name="T3" fmla="*/ 8 h 27"/>
                <a:gd name="T4" fmla="*/ 0 w 25"/>
                <a:gd name="T5" fmla="*/ 0 h 27"/>
                <a:gd name="T6" fmla="*/ 1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0" y="26"/>
                  </a:moveTo>
                  <a:lnTo>
                    <a:pt x="24" y="8"/>
                  </a:lnTo>
                  <a:lnTo>
                    <a:pt x="0" y="0"/>
                  </a:lnTo>
                  <a:lnTo>
                    <a:pt x="1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7" name="Freeform 6761"/>
            <p:cNvSpPr>
              <a:spLocks/>
            </p:cNvSpPr>
            <p:nvPr/>
          </p:nvSpPr>
          <p:spPr bwMode="auto">
            <a:xfrm>
              <a:off x="2738" y="2632"/>
              <a:ext cx="28" cy="27"/>
            </a:xfrm>
            <a:custGeom>
              <a:avLst/>
              <a:gdLst>
                <a:gd name="T0" fmla="*/ 27 w 28"/>
                <a:gd name="T1" fmla="*/ 26 h 27"/>
                <a:gd name="T2" fmla="*/ 0 w 28"/>
                <a:gd name="T3" fmla="*/ 26 h 27"/>
                <a:gd name="T4" fmla="*/ 27 w 28"/>
                <a:gd name="T5" fmla="*/ 0 h 27"/>
                <a:gd name="T6" fmla="*/ 27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26"/>
                  </a:moveTo>
                  <a:lnTo>
                    <a:pt x="0" y="26"/>
                  </a:lnTo>
                  <a:lnTo>
                    <a:pt x="27" y="0"/>
                  </a:lnTo>
                  <a:lnTo>
                    <a:pt x="27"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8" name="Freeform 6762"/>
            <p:cNvSpPr>
              <a:spLocks/>
            </p:cNvSpPr>
            <p:nvPr/>
          </p:nvSpPr>
          <p:spPr bwMode="auto">
            <a:xfrm>
              <a:off x="2738" y="2640"/>
              <a:ext cx="28" cy="1"/>
            </a:xfrm>
            <a:custGeom>
              <a:avLst/>
              <a:gdLst>
                <a:gd name="T0" fmla="*/ 27 w 28"/>
                <a:gd name="T1" fmla="*/ 0 h 1"/>
                <a:gd name="T2" fmla="*/ 0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0" y="0"/>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399" name="Freeform 6763"/>
            <p:cNvSpPr>
              <a:spLocks/>
            </p:cNvSpPr>
            <p:nvPr/>
          </p:nvSpPr>
          <p:spPr bwMode="auto">
            <a:xfrm>
              <a:off x="2744" y="2626"/>
              <a:ext cx="27" cy="27"/>
            </a:xfrm>
            <a:custGeom>
              <a:avLst/>
              <a:gdLst>
                <a:gd name="T0" fmla="*/ 26 w 27"/>
                <a:gd name="T1" fmla="*/ 26 h 27"/>
                <a:gd name="T2" fmla="*/ 0 w 27"/>
                <a:gd name="T3" fmla="*/ 0 h 27"/>
                <a:gd name="T4" fmla="*/ 0 w 27"/>
                <a:gd name="T5" fmla="*/ 26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0" y="0"/>
                  </a:lnTo>
                  <a:lnTo>
                    <a:pt x="0" y="26"/>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0" name="Freeform 6764"/>
            <p:cNvSpPr>
              <a:spLocks/>
            </p:cNvSpPr>
            <p:nvPr/>
          </p:nvSpPr>
          <p:spPr bwMode="auto">
            <a:xfrm>
              <a:off x="2744" y="2626"/>
              <a:ext cx="27" cy="27"/>
            </a:xfrm>
            <a:custGeom>
              <a:avLst/>
              <a:gdLst>
                <a:gd name="T0" fmla="*/ 13 w 27"/>
                <a:gd name="T1" fmla="*/ 26 h 27"/>
                <a:gd name="T2" fmla="*/ 26 w 27"/>
                <a:gd name="T3" fmla="*/ 11 h 27"/>
                <a:gd name="T4" fmla="*/ 0 w 27"/>
                <a:gd name="T5" fmla="*/ 0 h 27"/>
                <a:gd name="T6" fmla="*/ 13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3" y="26"/>
                  </a:moveTo>
                  <a:lnTo>
                    <a:pt x="26" y="11"/>
                  </a:lnTo>
                  <a:lnTo>
                    <a:pt x="0" y="0"/>
                  </a:lnTo>
                  <a:lnTo>
                    <a:pt x="1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1" name="Freeform 6765"/>
            <p:cNvSpPr>
              <a:spLocks/>
            </p:cNvSpPr>
            <p:nvPr/>
          </p:nvSpPr>
          <p:spPr bwMode="auto">
            <a:xfrm>
              <a:off x="2752" y="2640"/>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2" name="Line 6766"/>
            <p:cNvSpPr>
              <a:spLocks noChangeShapeType="1"/>
            </p:cNvSpPr>
            <p:nvPr/>
          </p:nvSpPr>
          <p:spPr bwMode="auto">
            <a:xfrm>
              <a:off x="2752" y="2640"/>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3" name="Freeform 6767"/>
            <p:cNvSpPr>
              <a:spLocks/>
            </p:cNvSpPr>
            <p:nvPr/>
          </p:nvSpPr>
          <p:spPr bwMode="auto">
            <a:xfrm>
              <a:off x="2752" y="2632"/>
              <a:ext cx="25" cy="27"/>
            </a:xfrm>
            <a:custGeom>
              <a:avLst/>
              <a:gdLst>
                <a:gd name="T0" fmla="*/ 24 w 25"/>
                <a:gd name="T1" fmla="*/ 26 h 27"/>
                <a:gd name="T2" fmla="*/ 10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0" y="0"/>
                  </a:lnTo>
                  <a:lnTo>
                    <a:pt x="0" y="14"/>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4" name="Freeform 6768"/>
            <p:cNvSpPr>
              <a:spLocks/>
            </p:cNvSpPr>
            <p:nvPr/>
          </p:nvSpPr>
          <p:spPr bwMode="auto">
            <a:xfrm>
              <a:off x="2756" y="2632"/>
              <a:ext cx="27" cy="27"/>
            </a:xfrm>
            <a:custGeom>
              <a:avLst/>
              <a:gdLst>
                <a:gd name="T0" fmla="*/ 14 w 27"/>
                <a:gd name="T1" fmla="*/ 26 h 27"/>
                <a:gd name="T2" fmla="*/ 26 w 27"/>
                <a:gd name="T3" fmla="*/ 0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0"/>
                  </a:lnTo>
                  <a:lnTo>
                    <a:pt x="0" y="0"/>
                  </a:lnTo>
                  <a:lnTo>
                    <a:pt x="1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5" name="Freeform 6769"/>
            <p:cNvSpPr>
              <a:spLocks/>
            </p:cNvSpPr>
            <p:nvPr/>
          </p:nvSpPr>
          <p:spPr bwMode="auto">
            <a:xfrm>
              <a:off x="2765" y="2640"/>
              <a:ext cx="22" cy="28"/>
            </a:xfrm>
            <a:custGeom>
              <a:avLst/>
              <a:gdLst>
                <a:gd name="T0" fmla="*/ 0 w 22"/>
                <a:gd name="T1" fmla="*/ 27 h 28"/>
                <a:gd name="T2" fmla="*/ 0 w 22"/>
                <a:gd name="T3" fmla="*/ 27 h 28"/>
                <a:gd name="T4" fmla="*/ 21 w 22"/>
                <a:gd name="T5" fmla="*/ 0 h 28"/>
                <a:gd name="T6" fmla="*/ 0 w 22"/>
                <a:gd name="T7" fmla="*/ 27 h 28"/>
                <a:gd name="T8" fmla="*/ 0 60000 65536"/>
                <a:gd name="T9" fmla="*/ 0 60000 65536"/>
                <a:gd name="T10" fmla="*/ 0 60000 65536"/>
                <a:gd name="T11" fmla="*/ 0 60000 65536"/>
                <a:gd name="T12" fmla="*/ 0 w 22"/>
                <a:gd name="T13" fmla="*/ 0 h 28"/>
                <a:gd name="T14" fmla="*/ 22 w 22"/>
                <a:gd name="T15" fmla="*/ 28 h 28"/>
              </a:gdLst>
              <a:ahLst/>
              <a:cxnLst>
                <a:cxn ang="T8">
                  <a:pos x="T0" y="T1"/>
                </a:cxn>
                <a:cxn ang="T9">
                  <a:pos x="T2" y="T3"/>
                </a:cxn>
                <a:cxn ang="T10">
                  <a:pos x="T4" y="T5"/>
                </a:cxn>
                <a:cxn ang="T11">
                  <a:pos x="T6" y="T7"/>
                </a:cxn>
              </a:cxnLst>
              <a:rect l="T12" t="T13" r="T14" b="T15"/>
              <a:pathLst>
                <a:path w="22" h="28">
                  <a:moveTo>
                    <a:pt x="0" y="27"/>
                  </a:moveTo>
                  <a:lnTo>
                    <a:pt x="0" y="27"/>
                  </a:lnTo>
                  <a:lnTo>
                    <a:pt x="21"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6" name="Line 6770"/>
            <p:cNvSpPr>
              <a:spLocks noChangeShapeType="1"/>
            </p:cNvSpPr>
            <p:nvPr/>
          </p:nvSpPr>
          <p:spPr bwMode="auto">
            <a:xfrm>
              <a:off x="2765" y="264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7" name="Freeform 6771"/>
            <p:cNvSpPr>
              <a:spLocks/>
            </p:cNvSpPr>
            <p:nvPr/>
          </p:nvSpPr>
          <p:spPr bwMode="auto">
            <a:xfrm>
              <a:off x="2765" y="2632"/>
              <a:ext cx="22" cy="27"/>
            </a:xfrm>
            <a:custGeom>
              <a:avLst/>
              <a:gdLst>
                <a:gd name="T0" fmla="*/ 21 w 22"/>
                <a:gd name="T1" fmla="*/ 26 h 27"/>
                <a:gd name="T2" fmla="*/ 9 w 22"/>
                <a:gd name="T3" fmla="*/ 0 h 27"/>
                <a:gd name="T4" fmla="*/ 0 w 22"/>
                <a:gd name="T5" fmla="*/ 18 h 27"/>
                <a:gd name="T6" fmla="*/ 21 w 22"/>
                <a:gd name="T7" fmla="*/ 26 h 27"/>
                <a:gd name="T8" fmla="*/ 0 60000 65536"/>
                <a:gd name="T9" fmla="*/ 0 60000 65536"/>
                <a:gd name="T10" fmla="*/ 0 60000 65536"/>
                <a:gd name="T11" fmla="*/ 0 60000 65536"/>
                <a:gd name="T12" fmla="*/ 0 w 22"/>
                <a:gd name="T13" fmla="*/ 0 h 27"/>
                <a:gd name="T14" fmla="*/ 22 w 22"/>
                <a:gd name="T15" fmla="*/ 27 h 27"/>
              </a:gdLst>
              <a:ahLst/>
              <a:cxnLst>
                <a:cxn ang="T8">
                  <a:pos x="T0" y="T1"/>
                </a:cxn>
                <a:cxn ang="T9">
                  <a:pos x="T2" y="T3"/>
                </a:cxn>
                <a:cxn ang="T10">
                  <a:pos x="T4" y="T5"/>
                </a:cxn>
                <a:cxn ang="T11">
                  <a:pos x="T6" y="T7"/>
                </a:cxn>
              </a:cxnLst>
              <a:rect l="T12" t="T13" r="T14" b="T15"/>
              <a:pathLst>
                <a:path w="22" h="27">
                  <a:moveTo>
                    <a:pt x="21" y="26"/>
                  </a:moveTo>
                  <a:lnTo>
                    <a:pt x="9" y="0"/>
                  </a:lnTo>
                  <a:lnTo>
                    <a:pt x="0" y="18"/>
                  </a:lnTo>
                  <a:lnTo>
                    <a:pt x="21"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8" name="Freeform 6772"/>
            <p:cNvSpPr>
              <a:spLocks/>
            </p:cNvSpPr>
            <p:nvPr/>
          </p:nvSpPr>
          <p:spPr bwMode="auto">
            <a:xfrm>
              <a:off x="2770" y="2632"/>
              <a:ext cx="25" cy="27"/>
            </a:xfrm>
            <a:custGeom>
              <a:avLst/>
              <a:gdLst>
                <a:gd name="T0" fmla="*/ 13 w 25"/>
                <a:gd name="T1" fmla="*/ 26 h 27"/>
                <a:gd name="T2" fmla="*/ 24 w 25"/>
                <a:gd name="T3" fmla="*/ 10 h 27"/>
                <a:gd name="T4" fmla="*/ 0 w 25"/>
                <a:gd name="T5" fmla="*/ 0 h 27"/>
                <a:gd name="T6" fmla="*/ 13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3" y="26"/>
                  </a:moveTo>
                  <a:lnTo>
                    <a:pt x="24" y="10"/>
                  </a:lnTo>
                  <a:lnTo>
                    <a:pt x="0" y="0"/>
                  </a:lnTo>
                  <a:lnTo>
                    <a:pt x="1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09" name="Freeform 6773"/>
            <p:cNvSpPr>
              <a:spLocks/>
            </p:cNvSpPr>
            <p:nvPr/>
          </p:nvSpPr>
          <p:spPr bwMode="auto">
            <a:xfrm>
              <a:off x="2776" y="2647"/>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0" name="Line 6774"/>
            <p:cNvSpPr>
              <a:spLocks noChangeShapeType="1"/>
            </p:cNvSpPr>
            <p:nvPr/>
          </p:nvSpPr>
          <p:spPr bwMode="auto">
            <a:xfrm>
              <a:off x="2776" y="265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1" name="Freeform 6775"/>
            <p:cNvSpPr>
              <a:spLocks/>
            </p:cNvSpPr>
            <p:nvPr/>
          </p:nvSpPr>
          <p:spPr bwMode="auto">
            <a:xfrm>
              <a:off x="2776" y="2640"/>
              <a:ext cx="25" cy="28"/>
            </a:xfrm>
            <a:custGeom>
              <a:avLst/>
              <a:gdLst>
                <a:gd name="T0" fmla="*/ 24 w 25"/>
                <a:gd name="T1" fmla="*/ 27 h 28"/>
                <a:gd name="T2" fmla="*/ 12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2" name="Freeform 6776"/>
            <p:cNvSpPr>
              <a:spLocks/>
            </p:cNvSpPr>
            <p:nvPr/>
          </p:nvSpPr>
          <p:spPr bwMode="auto">
            <a:xfrm>
              <a:off x="2782" y="2640"/>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3" name="Freeform 6777"/>
            <p:cNvSpPr>
              <a:spLocks/>
            </p:cNvSpPr>
            <p:nvPr/>
          </p:nvSpPr>
          <p:spPr bwMode="auto">
            <a:xfrm>
              <a:off x="2786" y="2647"/>
              <a:ext cx="29" cy="28"/>
            </a:xfrm>
            <a:custGeom>
              <a:avLst/>
              <a:gdLst>
                <a:gd name="T0" fmla="*/ 0 w 29"/>
                <a:gd name="T1" fmla="*/ 27 h 28"/>
                <a:gd name="T2" fmla="*/ 0 w 29"/>
                <a:gd name="T3" fmla="*/ 27 h 28"/>
                <a:gd name="T4" fmla="*/ 28 w 29"/>
                <a:gd name="T5" fmla="*/ 0 h 28"/>
                <a:gd name="T6" fmla="*/ 0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27"/>
                  </a:moveTo>
                  <a:lnTo>
                    <a:pt x="0" y="27"/>
                  </a:lnTo>
                  <a:lnTo>
                    <a:pt x="28"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4" name="Line 6778"/>
            <p:cNvSpPr>
              <a:spLocks noChangeShapeType="1"/>
            </p:cNvSpPr>
            <p:nvPr/>
          </p:nvSpPr>
          <p:spPr bwMode="auto">
            <a:xfrm>
              <a:off x="2786" y="2653"/>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5" name="Freeform 6779"/>
            <p:cNvSpPr>
              <a:spLocks/>
            </p:cNvSpPr>
            <p:nvPr/>
          </p:nvSpPr>
          <p:spPr bwMode="auto">
            <a:xfrm>
              <a:off x="2786" y="2640"/>
              <a:ext cx="29" cy="28"/>
            </a:xfrm>
            <a:custGeom>
              <a:avLst/>
              <a:gdLst>
                <a:gd name="T0" fmla="*/ 28 w 29"/>
                <a:gd name="T1" fmla="*/ 27 h 28"/>
                <a:gd name="T2" fmla="*/ 15 w 29"/>
                <a:gd name="T3" fmla="*/ 0 h 28"/>
                <a:gd name="T4" fmla="*/ 0 w 29"/>
                <a:gd name="T5" fmla="*/ 16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5" y="0"/>
                  </a:lnTo>
                  <a:lnTo>
                    <a:pt x="0" y="16"/>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6" name="Freeform 6780"/>
            <p:cNvSpPr>
              <a:spLocks/>
            </p:cNvSpPr>
            <p:nvPr/>
          </p:nvSpPr>
          <p:spPr bwMode="auto">
            <a:xfrm>
              <a:off x="2794" y="2640"/>
              <a:ext cx="27" cy="28"/>
            </a:xfrm>
            <a:custGeom>
              <a:avLst/>
              <a:gdLst>
                <a:gd name="T0" fmla="*/ 13 w 27"/>
                <a:gd name="T1" fmla="*/ 27 h 28"/>
                <a:gd name="T2" fmla="*/ 26 w 27"/>
                <a:gd name="T3" fmla="*/ 8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8"/>
                  </a:lnTo>
                  <a:lnTo>
                    <a:pt x="0" y="0"/>
                  </a:lnTo>
                  <a:lnTo>
                    <a:pt x="1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7" name="Freeform 6781"/>
            <p:cNvSpPr>
              <a:spLocks/>
            </p:cNvSpPr>
            <p:nvPr/>
          </p:nvSpPr>
          <p:spPr bwMode="auto">
            <a:xfrm>
              <a:off x="2800" y="2653"/>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8" name="Line 6782"/>
            <p:cNvSpPr>
              <a:spLocks noChangeShapeType="1"/>
            </p:cNvSpPr>
            <p:nvPr/>
          </p:nvSpPr>
          <p:spPr bwMode="auto">
            <a:xfrm>
              <a:off x="2800" y="266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19" name="Freeform 6783"/>
            <p:cNvSpPr>
              <a:spLocks/>
            </p:cNvSpPr>
            <p:nvPr/>
          </p:nvSpPr>
          <p:spPr bwMode="auto">
            <a:xfrm>
              <a:off x="2800" y="2647"/>
              <a:ext cx="25" cy="28"/>
            </a:xfrm>
            <a:custGeom>
              <a:avLst/>
              <a:gdLst>
                <a:gd name="T0" fmla="*/ 24 w 25"/>
                <a:gd name="T1" fmla="*/ 27 h 28"/>
                <a:gd name="T2" fmla="*/ 10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0"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0" name="Freeform 6784"/>
            <p:cNvSpPr>
              <a:spLocks/>
            </p:cNvSpPr>
            <p:nvPr/>
          </p:nvSpPr>
          <p:spPr bwMode="auto">
            <a:xfrm>
              <a:off x="2803" y="2647"/>
              <a:ext cx="29" cy="28"/>
            </a:xfrm>
            <a:custGeom>
              <a:avLst/>
              <a:gdLst>
                <a:gd name="T0" fmla="*/ 15 w 29"/>
                <a:gd name="T1" fmla="*/ 27 h 28"/>
                <a:gd name="T2" fmla="*/ 28 w 29"/>
                <a:gd name="T3" fmla="*/ 0 h 28"/>
                <a:gd name="T4" fmla="*/ 0 w 29"/>
                <a:gd name="T5" fmla="*/ 0 h 28"/>
                <a:gd name="T6" fmla="*/ 15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15" y="27"/>
                  </a:moveTo>
                  <a:lnTo>
                    <a:pt x="28" y="0"/>
                  </a:lnTo>
                  <a:lnTo>
                    <a:pt x="0" y="0"/>
                  </a:lnTo>
                  <a:lnTo>
                    <a:pt x="1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1" name="Freeform 6785"/>
            <p:cNvSpPr>
              <a:spLocks/>
            </p:cNvSpPr>
            <p:nvPr/>
          </p:nvSpPr>
          <p:spPr bwMode="auto">
            <a:xfrm>
              <a:off x="2814" y="2653"/>
              <a:ext cx="24" cy="28"/>
            </a:xfrm>
            <a:custGeom>
              <a:avLst/>
              <a:gdLst>
                <a:gd name="T0" fmla="*/ 0 w 24"/>
                <a:gd name="T1" fmla="*/ 27 h 28"/>
                <a:gd name="T2" fmla="*/ 0 w 24"/>
                <a:gd name="T3" fmla="*/ 27 h 28"/>
                <a:gd name="T4" fmla="*/ 23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0" y="27"/>
                  </a:lnTo>
                  <a:lnTo>
                    <a:pt x="23"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2" name="Line 6786"/>
            <p:cNvSpPr>
              <a:spLocks noChangeShapeType="1"/>
            </p:cNvSpPr>
            <p:nvPr/>
          </p:nvSpPr>
          <p:spPr bwMode="auto">
            <a:xfrm>
              <a:off x="2814" y="2661"/>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3" name="Freeform 6787"/>
            <p:cNvSpPr>
              <a:spLocks/>
            </p:cNvSpPr>
            <p:nvPr/>
          </p:nvSpPr>
          <p:spPr bwMode="auto">
            <a:xfrm>
              <a:off x="2814" y="2647"/>
              <a:ext cx="24" cy="28"/>
            </a:xfrm>
            <a:custGeom>
              <a:avLst/>
              <a:gdLst>
                <a:gd name="T0" fmla="*/ 23 w 24"/>
                <a:gd name="T1" fmla="*/ 27 h 28"/>
                <a:gd name="T2" fmla="*/ 11 w 24"/>
                <a:gd name="T3" fmla="*/ 0 h 28"/>
                <a:gd name="T4" fmla="*/ 0 w 24"/>
                <a:gd name="T5" fmla="*/ 27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11" y="0"/>
                  </a:lnTo>
                  <a:lnTo>
                    <a:pt x="0" y="27"/>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4" name="Freeform 6788"/>
            <p:cNvSpPr>
              <a:spLocks/>
            </p:cNvSpPr>
            <p:nvPr/>
          </p:nvSpPr>
          <p:spPr bwMode="auto">
            <a:xfrm>
              <a:off x="2820" y="2647"/>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5" name="Freeform 6789"/>
            <p:cNvSpPr>
              <a:spLocks/>
            </p:cNvSpPr>
            <p:nvPr/>
          </p:nvSpPr>
          <p:spPr bwMode="auto">
            <a:xfrm>
              <a:off x="2823" y="266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6" name="Line 6790"/>
            <p:cNvSpPr>
              <a:spLocks noChangeShapeType="1"/>
            </p:cNvSpPr>
            <p:nvPr/>
          </p:nvSpPr>
          <p:spPr bwMode="auto">
            <a:xfrm>
              <a:off x="2823" y="2661"/>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7" name="Freeform 6791"/>
            <p:cNvSpPr>
              <a:spLocks/>
            </p:cNvSpPr>
            <p:nvPr/>
          </p:nvSpPr>
          <p:spPr bwMode="auto">
            <a:xfrm>
              <a:off x="2823" y="2647"/>
              <a:ext cx="27" cy="28"/>
            </a:xfrm>
            <a:custGeom>
              <a:avLst/>
              <a:gdLst>
                <a:gd name="T0" fmla="*/ 26 w 27"/>
                <a:gd name="T1" fmla="*/ 27 h 28"/>
                <a:gd name="T2" fmla="*/ 0 w 27"/>
                <a:gd name="T3" fmla="*/ 0 h 28"/>
                <a:gd name="T4" fmla="*/ 0 w 27"/>
                <a:gd name="T5" fmla="*/ 1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18"/>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428" name="Freeform 6792"/>
            <p:cNvSpPr>
              <a:spLocks/>
            </p:cNvSpPr>
            <p:nvPr/>
          </p:nvSpPr>
          <p:spPr bwMode="auto">
            <a:xfrm>
              <a:off x="2823" y="2647"/>
              <a:ext cx="27" cy="28"/>
            </a:xfrm>
            <a:custGeom>
              <a:avLst/>
              <a:gdLst>
                <a:gd name="T0" fmla="*/ 26 w 27"/>
                <a:gd name="T1" fmla="*/ 27 h 28"/>
                <a:gd name="T2" fmla="*/ 26 w 27"/>
                <a:gd name="T3" fmla="*/ 8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8"/>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grpSp>
      <p:grpSp>
        <p:nvGrpSpPr>
          <p:cNvPr id="16405" name="Group 6793"/>
          <p:cNvGrpSpPr>
            <a:grpSpLocks/>
          </p:cNvGrpSpPr>
          <p:nvPr/>
        </p:nvGrpSpPr>
        <p:grpSpPr bwMode="auto">
          <a:xfrm>
            <a:off x="7580313" y="6247640"/>
            <a:ext cx="1436687" cy="234950"/>
            <a:chOff x="1249" y="1728"/>
            <a:chExt cx="1825" cy="961"/>
          </a:xfrm>
        </p:grpSpPr>
        <p:sp>
          <p:nvSpPr>
            <p:cNvPr id="16441" name="Line 6794"/>
            <p:cNvSpPr>
              <a:spLocks noChangeShapeType="1"/>
            </p:cNvSpPr>
            <p:nvPr/>
          </p:nvSpPr>
          <p:spPr bwMode="auto">
            <a:xfrm>
              <a:off x="3031"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42" name="Freeform 6795"/>
            <p:cNvSpPr>
              <a:spLocks/>
            </p:cNvSpPr>
            <p:nvPr/>
          </p:nvSpPr>
          <p:spPr bwMode="auto">
            <a:xfrm>
              <a:off x="3031" y="2661"/>
              <a:ext cx="43" cy="28"/>
            </a:xfrm>
            <a:custGeom>
              <a:avLst/>
              <a:gdLst>
                <a:gd name="T0" fmla="*/ 0 w 43"/>
                <a:gd name="T1" fmla="*/ 27 h 28"/>
                <a:gd name="T2" fmla="*/ 42 w 43"/>
                <a:gd name="T3" fmla="*/ 0 h 28"/>
                <a:gd name="T4" fmla="*/ 42 w 43"/>
                <a:gd name="T5" fmla="*/ 27 h 28"/>
                <a:gd name="T6" fmla="*/ 0 w 43"/>
                <a:gd name="T7" fmla="*/ 27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27"/>
                  </a:moveTo>
                  <a:lnTo>
                    <a:pt x="42" y="0"/>
                  </a:lnTo>
                  <a:lnTo>
                    <a:pt x="42"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43" name="Freeform 6796"/>
            <p:cNvSpPr>
              <a:spLocks/>
            </p:cNvSpPr>
            <p:nvPr/>
          </p:nvSpPr>
          <p:spPr bwMode="auto">
            <a:xfrm>
              <a:off x="3031" y="2661"/>
              <a:ext cx="43" cy="28"/>
            </a:xfrm>
            <a:custGeom>
              <a:avLst/>
              <a:gdLst>
                <a:gd name="T0" fmla="*/ 0 w 43"/>
                <a:gd name="T1" fmla="*/ 0 h 28"/>
                <a:gd name="T2" fmla="*/ 42 w 43"/>
                <a:gd name="T3" fmla="*/ 0 h 28"/>
                <a:gd name="T4" fmla="*/ 0 w 43"/>
                <a:gd name="T5" fmla="*/ 27 h 28"/>
                <a:gd name="T6" fmla="*/ 0 w 43"/>
                <a:gd name="T7" fmla="*/ 0 h 28"/>
                <a:gd name="T8" fmla="*/ 0 60000 65536"/>
                <a:gd name="T9" fmla="*/ 0 60000 65536"/>
                <a:gd name="T10" fmla="*/ 0 60000 65536"/>
                <a:gd name="T11" fmla="*/ 0 60000 65536"/>
                <a:gd name="T12" fmla="*/ 0 w 43"/>
                <a:gd name="T13" fmla="*/ 0 h 28"/>
                <a:gd name="T14" fmla="*/ 43 w 43"/>
                <a:gd name="T15" fmla="*/ 28 h 28"/>
              </a:gdLst>
              <a:ahLst/>
              <a:cxnLst>
                <a:cxn ang="T8">
                  <a:pos x="T0" y="T1"/>
                </a:cxn>
                <a:cxn ang="T9">
                  <a:pos x="T2" y="T3"/>
                </a:cxn>
                <a:cxn ang="T10">
                  <a:pos x="T4" y="T5"/>
                </a:cxn>
                <a:cxn ang="T11">
                  <a:pos x="T6" y="T7"/>
                </a:cxn>
              </a:cxnLst>
              <a:rect l="T12" t="T13" r="T14" b="T15"/>
              <a:pathLst>
                <a:path w="43" h="28">
                  <a:moveTo>
                    <a:pt x="0" y="0"/>
                  </a:moveTo>
                  <a:lnTo>
                    <a:pt x="42"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44" name="Freeform 6797"/>
            <p:cNvSpPr>
              <a:spLocks/>
            </p:cNvSpPr>
            <p:nvPr/>
          </p:nvSpPr>
          <p:spPr bwMode="auto">
            <a:xfrm>
              <a:off x="3031" y="2661"/>
              <a:ext cx="43" cy="28"/>
            </a:xfrm>
            <a:custGeom>
              <a:avLst/>
              <a:gdLst>
                <a:gd name="T0" fmla="*/ 0 w 43"/>
                <a:gd name="T1" fmla="*/ 27 h 28"/>
                <a:gd name="T2" fmla="*/ 42 w 43"/>
                <a:gd name="T3" fmla="*/ 27 h 28"/>
                <a:gd name="T4" fmla="*/ 42 w 43"/>
                <a:gd name="T5" fmla="*/ 0 h 28"/>
                <a:gd name="T6" fmla="*/ 0 w 43"/>
                <a:gd name="T7" fmla="*/ 0 h 28"/>
                <a:gd name="T8" fmla="*/ 0 w 43"/>
                <a:gd name="T9" fmla="*/ 27 h 28"/>
                <a:gd name="T10" fmla="*/ 0 w 43"/>
                <a:gd name="T11" fmla="*/ 27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0" y="27"/>
                  </a:moveTo>
                  <a:lnTo>
                    <a:pt x="42" y="27"/>
                  </a:lnTo>
                  <a:lnTo>
                    <a:pt x="42"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45" name="Line 6798"/>
            <p:cNvSpPr>
              <a:spLocks noChangeShapeType="1"/>
            </p:cNvSpPr>
            <p:nvPr/>
          </p:nvSpPr>
          <p:spPr bwMode="auto">
            <a:xfrm>
              <a:off x="2993"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46" name="Freeform 6799"/>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47" name="Line 6800"/>
            <p:cNvSpPr>
              <a:spLocks noChangeShapeType="1"/>
            </p:cNvSpPr>
            <p:nvPr/>
          </p:nvSpPr>
          <p:spPr bwMode="auto">
            <a:xfrm>
              <a:off x="2993"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48" name="Freeform 6801"/>
            <p:cNvSpPr>
              <a:spLocks/>
            </p:cNvSpPr>
            <p:nvPr/>
          </p:nvSpPr>
          <p:spPr bwMode="auto">
            <a:xfrm>
              <a:off x="2993"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49" name="Line 6802"/>
            <p:cNvSpPr>
              <a:spLocks noChangeShapeType="1"/>
            </p:cNvSpPr>
            <p:nvPr/>
          </p:nvSpPr>
          <p:spPr bwMode="auto">
            <a:xfrm>
              <a:off x="2949" y="2669"/>
              <a:ext cx="4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0" name="Freeform 6803"/>
            <p:cNvSpPr>
              <a:spLocks/>
            </p:cNvSpPr>
            <p:nvPr/>
          </p:nvSpPr>
          <p:spPr bwMode="auto">
            <a:xfrm>
              <a:off x="2949" y="2661"/>
              <a:ext cx="45" cy="28"/>
            </a:xfrm>
            <a:custGeom>
              <a:avLst/>
              <a:gdLst>
                <a:gd name="T0" fmla="*/ 0 w 45"/>
                <a:gd name="T1" fmla="*/ 27 h 28"/>
                <a:gd name="T2" fmla="*/ 44 w 45"/>
                <a:gd name="T3" fmla="*/ 0 h 28"/>
                <a:gd name="T4" fmla="*/ 44 w 45"/>
                <a:gd name="T5" fmla="*/ 27 h 28"/>
                <a:gd name="T6" fmla="*/ 0 w 45"/>
                <a:gd name="T7" fmla="*/ 27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27"/>
                  </a:moveTo>
                  <a:lnTo>
                    <a:pt x="44" y="0"/>
                  </a:lnTo>
                  <a:lnTo>
                    <a:pt x="44"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1" name="Freeform 6804"/>
            <p:cNvSpPr>
              <a:spLocks/>
            </p:cNvSpPr>
            <p:nvPr/>
          </p:nvSpPr>
          <p:spPr bwMode="auto">
            <a:xfrm>
              <a:off x="2949" y="2661"/>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2" name="Freeform 6805"/>
            <p:cNvSpPr>
              <a:spLocks/>
            </p:cNvSpPr>
            <p:nvPr/>
          </p:nvSpPr>
          <p:spPr bwMode="auto">
            <a:xfrm>
              <a:off x="2949" y="2661"/>
              <a:ext cx="45" cy="28"/>
            </a:xfrm>
            <a:custGeom>
              <a:avLst/>
              <a:gdLst>
                <a:gd name="T0" fmla="*/ 0 w 45"/>
                <a:gd name="T1" fmla="*/ 27 h 28"/>
                <a:gd name="T2" fmla="*/ 44 w 45"/>
                <a:gd name="T3" fmla="*/ 27 h 28"/>
                <a:gd name="T4" fmla="*/ 44 w 45"/>
                <a:gd name="T5" fmla="*/ 0 h 28"/>
                <a:gd name="T6" fmla="*/ 0 w 45"/>
                <a:gd name="T7" fmla="*/ 0 h 28"/>
                <a:gd name="T8" fmla="*/ 0 w 45"/>
                <a:gd name="T9" fmla="*/ 27 h 28"/>
                <a:gd name="T10" fmla="*/ 0 w 45"/>
                <a:gd name="T11" fmla="*/ 27 h 28"/>
                <a:gd name="T12" fmla="*/ 0 60000 65536"/>
                <a:gd name="T13" fmla="*/ 0 60000 65536"/>
                <a:gd name="T14" fmla="*/ 0 60000 65536"/>
                <a:gd name="T15" fmla="*/ 0 60000 65536"/>
                <a:gd name="T16" fmla="*/ 0 60000 65536"/>
                <a:gd name="T17" fmla="*/ 0 60000 65536"/>
                <a:gd name="T18" fmla="*/ 0 w 45"/>
                <a:gd name="T19" fmla="*/ 0 h 28"/>
                <a:gd name="T20" fmla="*/ 45 w 4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5" h="28">
                  <a:moveTo>
                    <a:pt x="0" y="27"/>
                  </a:moveTo>
                  <a:lnTo>
                    <a:pt x="44" y="27"/>
                  </a:lnTo>
                  <a:lnTo>
                    <a:pt x="44"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3" name="Line 6806"/>
            <p:cNvSpPr>
              <a:spLocks noChangeShapeType="1"/>
            </p:cNvSpPr>
            <p:nvPr/>
          </p:nvSpPr>
          <p:spPr bwMode="auto">
            <a:xfrm>
              <a:off x="2910" y="2669"/>
              <a:ext cx="3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4" name="Freeform 6807"/>
            <p:cNvSpPr>
              <a:spLocks/>
            </p:cNvSpPr>
            <p:nvPr/>
          </p:nvSpPr>
          <p:spPr bwMode="auto">
            <a:xfrm>
              <a:off x="2910" y="2661"/>
              <a:ext cx="40" cy="28"/>
            </a:xfrm>
            <a:custGeom>
              <a:avLst/>
              <a:gdLst>
                <a:gd name="T0" fmla="*/ 0 w 40"/>
                <a:gd name="T1" fmla="*/ 27 h 28"/>
                <a:gd name="T2" fmla="*/ 39 w 40"/>
                <a:gd name="T3" fmla="*/ 0 h 28"/>
                <a:gd name="T4" fmla="*/ 39 w 40"/>
                <a:gd name="T5" fmla="*/ 27 h 28"/>
                <a:gd name="T6" fmla="*/ 0 w 40"/>
                <a:gd name="T7" fmla="*/ 27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27"/>
                  </a:moveTo>
                  <a:lnTo>
                    <a:pt x="39" y="0"/>
                  </a:lnTo>
                  <a:lnTo>
                    <a:pt x="39"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5" name="Freeform 6808"/>
            <p:cNvSpPr>
              <a:spLocks/>
            </p:cNvSpPr>
            <p:nvPr/>
          </p:nvSpPr>
          <p:spPr bwMode="auto">
            <a:xfrm>
              <a:off x="2910" y="2661"/>
              <a:ext cx="40" cy="28"/>
            </a:xfrm>
            <a:custGeom>
              <a:avLst/>
              <a:gdLst>
                <a:gd name="T0" fmla="*/ 0 w 40"/>
                <a:gd name="T1" fmla="*/ 0 h 28"/>
                <a:gd name="T2" fmla="*/ 39 w 40"/>
                <a:gd name="T3" fmla="*/ 0 h 28"/>
                <a:gd name="T4" fmla="*/ 0 w 40"/>
                <a:gd name="T5" fmla="*/ 27 h 28"/>
                <a:gd name="T6" fmla="*/ 0 w 40"/>
                <a:gd name="T7" fmla="*/ 0 h 28"/>
                <a:gd name="T8" fmla="*/ 0 60000 65536"/>
                <a:gd name="T9" fmla="*/ 0 60000 65536"/>
                <a:gd name="T10" fmla="*/ 0 60000 65536"/>
                <a:gd name="T11" fmla="*/ 0 60000 65536"/>
                <a:gd name="T12" fmla="*/ 0 w 40"/>
                <a:gd name="T13" fmla="*/ 0 h 28"/>
                <a:gd name="T14" fmla="*/ 40 w 40"/>
                <a:gd name="T15" fmla="*/ 28 h 28"/>
              </a:gdLst>
              <a:ahLst/>
              <a:cxnLst>
                <a:cxn ang="T8">
                  <a:pos x="T0" y="T1"/>
                </a:cxn>
                <a:cxn ang="T9">
                  <a:pos x="T2" y="T3"/>
                </a:cxn>
                <a:cxn ang="T10">
                  <a:pos x="T4" y="T5"/>
                </a:cxn>
                <a:cxn ang="T11">
                  <a:pos x="T6" y="T7"/>
                </a:cxn>
              </a:cxnLst>
              <a:rect l="T12" t="T13" r="T14" b="T15"/>
              <a:pathLst>
                <a:path w="40" h="28">
                  <a:moveTo>
                    <a:pt x="0" y="0"/>
                  </a:moveTo>
                  <a:lnTo>
                    <a:pt x="39"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6" name="Freeform 6809"/>
            <p:cNvSpPr>
              <a:spLocks/>
            </p:cNvSpPr>
            <p:nvPr/>
          </p:nvSpPr>
          <p:spPr bwMode="auto">
            <a:xfrm>
              <a:off x="2910" y="2661"/>
              <a:ext cx="40" cy="28"/>
            </a:xfrm>
            <a:custGeom>
              <a:avLst/>
              <a:gdLst>
                <a:gd name="T0" fmla="*/ 0 w 40"/>
                <a:gd name="T1" fmla="*/ 27 h 28"/>
                <a:gd name="T2" fmla="*/ 39 w 40"/>
                <a:gd name="T3" fmla="*/ 27 h 28"/>
                <a:gd name="T4" fmla="*/ 39 w 40"/>
                <a:gd name="T5" fmla="*/ 0 h 28"/>
                <a:gd name="T6" fmla="*/ 0 w 40"/>
                <a:gd name="T7" fmla="*/ 0 h 28"/>
                <a:gd name="T8" fmla="*/ 0 w 40"/>
                <a:gd name="T9" fmla="*/ 27 h 28"/>
                <a:gd name="T10" fmla="*/ 0 w 40"/>
                <a:gd name="T11" fmla="*/ 27 h 28"/>
                <a:gd name="T12" fmla="*/ 0 60000 65536"/>
                <a:gd name="T13" fmla="*/ 0 60000 65536"/>
                <a:gd name="T14" fmla="*/ 0 60000 65536"/>
                <a:gd name="T15" fmla="*/ 0 60000 65536"/>
                <a:gd name="T16" fmla="*/ 0 60000 65536"/>
                <a:gd name="T17" fmla="*/ 0 60000 65536"/>
                <a:gd name="T18" fmla="*/ 0 w 40"/>
                <a:gd name="T19" fmla="*/ 0 h 28"/>
                <a:gd name="T20" fmla="*/ 40 w 4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0" h="28">
                  <a:moveTo>
                    <a:pt x="0" y="27"/>
                  </a:moveTo>
                  <a:lnTo>
                    <a:pt x="39" y="27"/>
                  </a:lnTo>
                  <a:lnTo>
                    <a:pt x="39"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7" name="Line 6810"/>
            <p:cNvSpPr>
              <a:spLocks noChangeShapeType="1"/>
            </p:cNvSpPr>
            <p:nvPr/>
          </p:nvSpPr>
          <p:spPr bwMode="auto">
            <a:xfrm>
              <a:off x="2869"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8" name="Freeform 6811"/>
            <p:cNvSpPr>
              <a:spLocks/>
            </p:cNvSpPr>
            <p:nvPr/>
          </p:nvSpPr>
          <p:spPr bwMode="auto">
            <a:xfrm>
              <a:off x="2869"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59" name="Freeform 6812"/>
            <p:cNvSpPr>
              <a:spLocks/>
            </p:cNvSpPr>
            <p:nvPr/>
          </p:nvSpPr>
          <p:spPr bwMode="auto">
            <a:xfrm>
              <a:off x="2869"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0" name="Freeform 6813"/>
            <p:cNvSpPr>
              <a:spLocks/>
            </p:cNvSpPr>
            <p:nvPr/>
          </p:nvSpPr>
          <p:spPr bwMode="auto">
            <a:xfrm>
              <a:off x="2869"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1" name="Line 6814"/>
            <p:cNvSpPr>
              <a:spLocks noChangeShapeType="1"/>
            </p:cNvSpPr>
            <p:nvPr/>
          </p:nvSpPr>
          <p:spPr bwMode="auto">
            <a:xfrm>
              <a:off x="2832"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2" name="Freeform 6815"/>
            <p:cNvSpPr>
              <a:spLocks/>
            </p:cNvSpPr>
            <p:nvPr/>
          </p:nvSpPr>
          <p:spPr bwMode="auto">
            <a:xfrm>
              <a:off x="2832" y="2653"/>
              <a:ext cx="38" cy="28"/>
            </a:xfrm>
            <a:custGeom>
              <a:avLst/>
              <a:gdLst>
                <a:gd name="T0" fmla="*/ 0 w 38"/>
                <a:gd name="T1" fmla="*/ 27 h 28"/>
                <a:gd name="T2" fmla="*/ 37 w 38"/>
                <a:gd name="T3" fmla="*/ 0 h 28"/>
                <a:gd name="T4" fmla="*/ 37 w 38"/>
                <a:gd name="T5" fmla="*/ 27 h 28"/>
                <a:gd name="T6" fmla="*/ 0 w 38"/>
                <a:gd name="T7" fmla="*/ 27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27"/>
                  </a:moveTo>
                  <a:lnTo>
                    <a:pt x="37" y="0"/>
                  </a:lnTo>
                  <a:lnTo>
                    <a:pt x="37"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3" name="Freeform 6816"/>
            <p:cNvSpPr>
              <a:spLocks/>
            </p:cNvSpPr>
            <p:nvPr/>
          </p:nvSpPr>
          <p:spPr bwMode="auto">
            <a:xfrm>
              <a:off x="2832" y="2653"/>
              <a:ext cx="38" cy="28"/>
            </a:xfrm>
            <a:custGeom>
              <a:avLst/>
              <a:gdLst>
                <a:gd name="T0" fmla="*/ 0 w 38"/>
                <a:gd name="T1" fmla="*/ 0 h 28"/>
                <a:gd name="T2" fmla="*/ 37 w 38"/>
                <a:gd name="T3" fmla="*/ 0 h 28"/>
                <a:gd name="T4" fmla="*/ 0 w 38"/>
                <a:gd name="T5" fmla="*/ 27 h 28"/>
                <a:gd name="T6" fmla="*/ 0 w 38"/>
                <a:gd name="T7" fmla="*/ 0 h 28"/>
                <a:gd name="T8" fmla="*/ 0 60000 65536"/>
                <a:gd name="T9" fmla="*/ 0 60000 65536"/>
                <a:gd name="T10" fmla="*/ 0 60000 65536"/>
                <a:gd name="T11" fmla="*/ 0 60000 65536"/>
                <a:gd name="T12" fmla="*/ 0 w 38"/>
                <a:gd name="T13" fmla="*/ 0 h 28"/>
                <a:gd name="T14" fmla="*/ 38 w 38"/>
                <a:gd name="T15" fmla="*/ 28 h 28"/>
              </a:gdLst>
              <a:ahLst/>
              <a:cxnLst>
                <a:cxn ang="T8">
                  <a:pos x="T0" y="T1"/>
                </a:cxn>
                <a:cxn ang="T9">
                  <a:pos x="T2" y="T3"/>
                </a:cxn>
                <a:cxn ang="T10">
                  <a:pos x="T4" y="T5"/>
                </a:cxn>
                <a:cxn ang="T11">
                  <a:pos x="T6" y="T7"/>
                </a:cxn>
              </a:cxnLst>
              <a:rect l="T12" t="T13" r="T14" b="T15"/>
              <a:pathLst>
                <a:path w="38" h="28">
                  <a:moveTo>
                    <a:pt x="0" y="0"/>
                  </a:moveTo>
                  <a:lnTo>
                    <a:pt x="37"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4" name="Freeform 6817"/>
            <p:cNvSpPr>
              <a:spLocks/>
            </p:cNvSpPr>
            <p:nvPr/>
          </p:nvSpPr>
          <p:spPr bwMode="auto">
            <a:xfrm>
              <a:off x="2832" y="2653"/>
              <a:ext cx="38" cy="28"/>
            </a:xfrm>
            <a:custGeom>
              <a:avLst/>
              <a:gdLst>
                <a:gd name="T0" fmla="*/ 0 w 38"/>
                <a:gd name="T1" fmla="*/ 27 h 28"/>
                <a:gd name="T2" fmla="*/ 37 w 38"/>
                <a:gd name="T3" fmla="*/ 27 h 28"/>
                <a:gd name="T4" fmla="*/ 37 w 38"/>
                <a:gd name="T5" fmla="*/ 0 h 28"/>
                <a:gd name="T6" fmla="*/ 0 w 38"/>
                <a:gd name="T7" fmla="*/ 0 h 28"/>
                <a:gd name="T8" fmla="*/ 0 w 38"/>
                <a:gd name="T9" fmla="*/ 27 h 28"/>
                <a:gd name="T10" fmla="*/ 0 w 38"/>
                <a:gd name="T11" fmla="*/ 27 h 28"/>
                <a:gd name="T12" fmla="*/ 0 60000 65536"/>
                <a:gd name="T13" fmla="*/ 0 60000 65536"/>
                <a:gd name="T14" fmla="*/ 0 60000 65536"/>
                <a:gd name="T15" fmla="*/ 0 60000 65536"/>
                <a:gd name="T16" fmla="*/ 0 60000 65536"/>
                <a:gd name="T17" fmla="*/ 0 60000 65536"/>
                <a:gd name="T18" fmla="*/ 0 w 38"/>
                <a:gd name="T19" fmla="*/ 0 h 28"/>
                <a:gd name="T20" fmla="*/ 38 w 3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8" h="28">
                  <a:moveTo>
                    <a:pt x="0" y="27"/>
                  </a:moveTo>
                  <a:lnTo>
                    <a:pt x="37" y="27"/>
                  </a:lnTo>
                  <a:lnTo>
                    <a:pt x="37"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5" name="Line 6818"/>
            <p:cNvSpPr>
              <a:spLocks noChangeShapeType="1"/>
            </p:cNvSpPr>
            <p:nvPr/>
          </p:nvSpPr>
          <p:spPr bwMode="auto">
            <a:xfrm>
              <a:off x="2786"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6" name="Freeform 6819"/>
            <p:cNvSpPr>
              <a:spLocks/>
            </p:cNvSpPr>
            <p:nvPr/>
          </p:nvSpPr>
          <p:spPr bwMode="auto">
            <a:xfrm>
              <a:off x="2786" y="2647"/>
              <a:ext cx="47" cy="28"/>
            </a:xfrm>
            <a:custGeom>
              <a:avLst/>
              <a:gdLst>
                <a:gd name="T0" fmla="*/ 0 w 47"/>
                <a:gd name="T1" fmla="*/ 27 h 28"/>
                <a:gd name="T2" fmla="*/ 46 w 47"/>
                <a:gd name="T3" fmla="*/ 0 h 28"/>
                <a:gd name="T4" fmla="*/ 46 w 47"/>
                <a:gd name="T5" fmla="*/ 27 h 28"/>
                <a:gd name="T6" fmla="*/ 0 w 47"/>
                <a:gd name="T7" fmla="*/ 27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27"/>
                  </a:moveTo>
                  <a:lnTo>
                    <a:pt x="46" y="0"/>
                  </a:lnTo>
                  <a:lnTo>
                    <a:pt x="46"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7" name="Freeform 6820"/>
            <p:cNvSpPr>
              <a:spLocks/>
            </p:cNvSpPr>
            <p:nvPr/>
          </p:nvSpPr>
          <p:spPr bwMode="auto">
            <a:xfrm>
              <a:off x="2786" y="2647"/>
              <a:ext cx="47" cy="28"/>
            </a:xfrm>
            <a:custGeom>
              <a:avLst/>
              <a:gdLst>
                <a:gd name="T0" fmla="*/ 0 w 47"/>
                <a:gd name="T1" fmla="*/ 0 h 28"/>
                <a:gd name="T2" fmla="*/ 46 w 47"/>
                <a:gd name="T3" fmla="*/ 0 h 28"/>
                <a:gd name="T4" fmla="*/ 0 w 47"/>
                <a:gd name="T5" fmla="*/ 27 h 28"/>
                <a:gd name="T6" fmla="*/ 0 w 47"/>
                <a:gd name="T7" fmla="*/ 0 h 28"/>
                <a:gd name="T8" fmla="*/ 0 60000 65536"/>
                <a:gd name="T9" fmla="*/ 0 60000 65536"/>
                <a:gd name="T10" fmla="*/ 0 60000 65536"/>
                <a:gd name="T11" fmla="*/ 0 60000 65536"/>
                <a:gd name="T12" fmla="*/ 0 w 47"/>
                <a:gd name="T13" fmla="*/ 0 h 28"/>
                <a:gd name="T14" fmla="*/ 47 w 47"/>
                <a:gd name="T15" fmla="*/ 28 h 28"/>
              </a:gdLst>
              <a:ahLst/>
              <a:cxnLst>
                <a:cxn ang="T8">
                  <a:pos x="T0" y="T1"/>
                </a:cxn>
                <a:cxn ang="T9">
                  <a:pos x="T2" y="T3"/>
                </a:cxn>
                <a:cxn ang="T10">
                  <a:pos x="T4" y="T5"/>
                </a:cxn>
                <a:cxn ang="T11">
                  <a:pos x="T6" y="T7"/>
                </a:cxn>
              </a:cxnLst>
              <a:rect l="T12" t="T13" r="T14" b="T15"/>
              <a:pathLst>
                <a:path w="47" h="28">
                  <a:moveTo>
                    <a:pt x="0" y="0"/>
                  </a:moveTo>
                  <a:lnTo>
                    <a:pt x="46"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8" name="Freeform 6821"/>
            <p:cNvSpPr>
              <a:spLocks/>
            </p:cNvSpPr>
            <p:nvPr/>
          </p:nvSpPr>
          <p:spPr bwMode="auto">
            <a:xfrm>
              <a:off x="2786" y="2647"/>
              <a:ext cx="47" cy="28"/>
            </a:xfrm>
            <a:custGeom>
              <a:avLst/>
              <a:gdLst>
                <a:gd name="T0" fmla="*/ 0 w 47"/>
                <a:gd name="T1" fmla="*/ 27 h 28"/>
                <a:gd name="T2" fmla="*/ 46 w 47"/>
                <a:gd name="T3" fmla="*/ 27 h 28"/>
                <a:gd name="T4" fmla="*/ 46 w 47"/>
                <a:gd name="T5" fmla="*/ 0 h 28"/>
                <a:gd name="T6" fmla="*/ 0 w 47"/>
                <a:gd name="T7" fmla="*/ 0 h 28"/>
                <a:gd name="T8" fmla="*/ 0 w 47"/>
                <a:gd name="T9" fmla="*/ 27 h 28"/>
                <a:gd name="T10" fmla="*/ 0 w 47"/>
                <a:gd name="T11" fmla="*/ 27 h 28"/>
                <a:gd name="T12" fmla="*/ 0 60000 65536"/>
                <a:gd name="T13" fmla="*/ 0 60000 65536"/>
                <a:gd name="T14" fmla="*/ 0 60000 65536"/>
                <a:gd name="T15" fmla="*/ 0 60000 65536"/>
                <a:gd name="T16" fmla="*/ 0 60000 65536"/>
                <a:gd name="T17" fmla="*/ 0 60000 65536"/>
                <a:gd name="T18" fmla="*/ 0 w 47"/>
                <a:gd name="T19" fmla="*/ 0 h 28"/>
                <a:gd name="T20" fmla="*/ 47 w 4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7" h="28">
                  <a:moveTo>
                    <a:pt x="0" y="27"/>
                  </a:moveTo>
                  <a:lnTo>
                    <a:pt x="46" y="27"/>
                  </a:lnTo>
                  <a:lnTo>
                    <a:pt x="46"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69" name="Line 6822"/>
            <p:cNvSpPr>
              <a:spLocks noChangeShapeType="1"/>
            </p:cNvSpPr>
            <p:nvPr/>
          </p:nvSpPr>
          <p:spPr bwMode="auto">
            <a:xfrm>
              <a:off x="2752" y="2669"/>
              <a:ext cx="3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0" name="Freeform 6823"/>
            <p:cNvSpPr>
              <a:spLocks/>
            </p:cNvSpPr>
            <p:nvPr/>
          </p:nvSpPr>
          <p:spPr bwMode="auto">
            <a:xfrm>
              <a:off x="2752" y="2632"/>
              <a:ext cx="35" cy="38"/>
            </a:xfrm>
            <a:custGeom>
              <a:avLst/>
              <a:gdLst>
                <a:gd name="T0" fmla="*/ 0 w 35"/>
                <a:gd name="T1" fmla="*/ 37 h 38"/>
                <a:gd name="T2" fmla="*/ 34 w 35"/>
                <a:gd name="T3" fmla="*/ 0 h 38"/>
                <a:gd name="T4" fmla="*/ 34 w 35"/>
                <a:gd name="T5" fmla="*/ 37 h 38"/>
                <a:gd name="T6" fmla="*/ 0 w 35"/>
                <a:gd name="T7" fmla="*/ 37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37"/>
                  </a:moveTo>
                  <a:lnTo>
                    <a:pt x="34" y="0"/>
                  </a:lnTo>
                  <a:lnTo>
                    <a:pt x="34" y="37"/>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1" name="Freeform 6824"/>
            <p:cNvSpPr>
              <a:spLocks/>
            </p:cNvSpPr>
            <p:nvPr/>
          </p:nvSpPr>
          <p:spPr bwMode="auto">
            <a:xfrm>
              <a:off x="2752" y="2632"/>
              <a:ext cx="35" cy="38"/>
            </a:xfrm>
            <a:custGeom>
              <a:avLst/>
              <a:gdLst>
                <a:gd name="T0" fmla="*/ 0 w 35"/>
                <a:gd name="T1" fmla="*/ 0 h 38"/>
                <a:gd name="T2" fmla="*/ 34 w 35"/>
                <a:gd name="T3" fmla="*/ 0 h 38"/>
                <a:gd name="T4" fmla="*/ 0 w 35"/>
                <a:gd name="T5" fmla="*/ 37 h 38"/>
                <a:gd name="T6" fmla="*/ 0 w 35"/>
                <a:gd name="T7" fmla="*/ 0 h 38"/>
                <a:gd name="T8" fmla="*/ 0 60000 65536"/>
                <a:gd name="T9" fmla="*/ 0 60000 65536"/>
                <a:gd name="T10" fmla="*/ 0 60000 65536"/>
                <a:gd name="T11" fmla="*/ 0 60000 65536"/>
                <a:gd name="T12" fmla="*/ 0 w 35"/>
                <a:gd name="T13" fmla="*/ 0 h 38"/>
                <a:gd name="T14" fmla="*/ 35 w 35"/>
                <a:gd name="T15" fmla="*/ 38 h 38"/>
              </a:gdLst>
              <a:ahLst/>
              <a:cxnLst>
                <a:cxn ang="T8">
                  <a:pos x="T0" y="T1"/>
                </a:cxn>
                <a:cxn ang="T9">
                  <a:pos x="T2" y="T3"/>
                </a:cxn>
                <a:cxn ang="T10">
                  <a:pos x="T4" y="T5"/>
                </a:cxn>
                <a:cxn ang="T11">
                  <a:pos x="T6" y="T7"/>
                </a:cxn>
              </a:cxnLst>
              <a:rect l="T12" t="T13" r="T14" b="T15"/>
              <a:pathLst>
                <a:path w="35" h="38">
                  <a:moveTo>
                    <a:pt x="0" y="0"/>
                  </a:moveTo>
                  <a:lnTo>
                    <a:pt x="34" y="0"/>
                  </a:lnTo>
                  <a:lnTo>
                    <a:pt x="0" y="3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2" name="Freeform 6825"/>
            <p:cNvSpPr>
              <a:spLocks/>
            </p:cNvSpPr>
            <p:nvPr/>
          </p:nvSpPr>
          <p:spPr bwMode="auto">
            <a:xfrm>
              <a:off x="2752" y="2632"/>
              <a:ext cx="35" cy="38"/>
            </a:xfrm>
            <a:custGeom>
              <a:avLst/>
              <a:gdLst>
                <a:gd name="T0" fmla="*/ 0 w 35"/>
                <a:gd name="T1" fmla="*/ 37 h 38"/>
                <a:gd name="T2" fmla="*/ 34 w 35"/>
                <a:gd name="T3" fmla="*/ 37 h 38"/>
                <a:gd name="T4" fmla="*/ 34 w 35"/>
                <a:gd name="T5" fmla="*/ 0 h 38"/>
                <a:gd name="T6" fmla="*/ 0 w 35"/>
                <a:gd name="T7" fmla="*/ 0 h 38"/>
                <a:gd name="T8" fmla="*/ 0 w 35"/>
                <a:gd name="T9" fmla="*/ 37 h 38"/>
                <a:gd name="T10" fmla="*/ 0 w 35"/>
                <a:gd name="T11" fmla="*/ 37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0" y="37"/>
                  </a:moveTo>
                  <a:lnTo>
                    <a:pt x="34" y="37"/>
                  </a:lnTo>
                  <a:lnTo>
                    <a:pt x="34" y="0"/>
                  </a:lnTo>
                  <a:lnTo>
                    <a:pt x="0" y="0"/>
                  </a:lnTo>
                  <a:lnTo>
                    <a:pt x="0" y="3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3" name="Line 6826"/>
            <p:cNvSpPr>
              <a:spLocks noChangeShapeType="1"/>
            </p:cNvSpPr>
            <p:nvPr/>
          </p:nvSpPr>
          <p:spPr bwMode="auto">
            <a:xfrm>
              <a:off x="2707"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4" name="Line 6827"/>
            <p:cNvSpPr>
              <a:spLocks noChangeShapeType="1"/>
            </p:cNvSpPr>
            <p:nvPr/>
          </p:nvSpPr>
          <p:spPr bwMode="auto">
            <a:xfrm>
              <a:off x="2628"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5" name="Line 6828"/>
            <p:cNvSpPr>
              <a:spLocks noChangeShapeType="1"/>
            </p:cNvSpPr>
            <p:nvPr/>
          </p:nvSpPr>
          <p:spPr bwMode="auto">
            <a:xfrm>
              <a:off x="2583"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6" name="Line 6829"/>
            <p:cNvSpPr>
              <a:spLocks noChangeShapeType="1"/>
            </p:cNvSpPr>
            <p:nvPr/>
          </p:nvSpPr>
          <p:spPr bwMode="auto">
            <a:xfrm>
              <a:off x="2503"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7" name="Line 6830"/>
            <p:cNvSpPr>
              <a:spLocks noChangeShapeType="1"/>
            </p:cNvSpPr>
            <p:nvPr/>
          </p:nvSpPr>
          <p:spPr bwMode="auto">
            <a:xfrm>
              <a:off x="2469" y="2669"/>
              <a:ext cx="3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8" name="Line 6831"/>
            <p:cNvSpPr>
              <a:spLocks noChangeShapeType="1"/>
            </p:cNvSpPr>
            <p:nvPr/>
          </p:nvSpPr>
          <p:spPr bwMode="auto">
            <a:xfrm>
              <a:off x="2423"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79" name="Line 6832"/>
            <p:cNvSpPr>
              <a:spLocks noChangeShapeType="1"/>
            </p:cNvSpPr>
            <p:nvPr/>
          </p:nvSpPr>
          <p:spPr bwMode="auto">
            <a:xfrm>
              <a:off x="2378"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0" name="Line 6833"/>
            <p:cNvSpPr>
              <a:spLocks noChangeShapeType="1"/>
            </p:cNvSpPr>
            <p:nvPr/>
          </p:nvSpPr>
          <p:spPr bwMode="auto">
            <a:xfrm>
              <a:off x="2341"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1" name="Line 6834"/>
            <p:cNvSpPr>
              <a:spLocks noChangeShapeType="1"/>
            </p:cNvSpPr>
            <p:nvPr/>
          </p:nvSpPr>
          <p:spPr bwMode="auto">
            <a:xfrm>
              <a:off x="2299"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2" name="Line 6835"/>
            <p:cNvSpPr>
              <a:spLocks noChangeShapeType="1"/>
            </p:cNvSpPr>
            <p:nvPr/>
          </p:nvSpPr>
          <p:spPr bwMode="auto">
            <a:xfrm>
              <a:off x="2262"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3" name="Line 6836"/>
            <p:cNvSpPr>
              <a:spLocks noChangeShapeType="1"/>
            </p:cNvSpPr>
            <p:nvPr/>
          </p:nvSpPr>
          <p:spPr bwMode="auto">
            <a:xfrm>
              <a:off x="2216"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4" name="Line 6837"/>
            <p:cNvSpPr>
              <a:spLocks noChangeShapeType="1"/>
            </p:cNvSpPr>
            <p:nvPr/>
          </p:nvSpPr>
          <p:spPr bwMode="auto">
            <a:xfrm>
              <a:off x="2184" y="2669"/>
              <a:ext cx="3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5" name="Line 6838"/>
            <p:cNvSpPr>
              <a:spLocks noChangeShapeType="1"/>
            </p:cNvSpPr>
            <p:nvPr/>
          </p:nvSpPr>
          <p:spPr bwMode="auto">
            <a:xfrm>
              <a:off x="2137" y="2669"/>
              <a:ext cx="4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6" name="Line 6839"/>
            <p:cNvSpPr>
              <a:spLocks noChangeShapeType="1"/>
            </p:cNvSpPr>
            <p:nvPr/>
          </p:nvSpPr>
          <p:spPr bwMode="auto">
            <a:xfrm>
              <a:off x="209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7" name="Line 6840"/>
            <p:cNvSpPr>
              <a:spLocks noChangeShapeType="1"/>
            </p:cNvSpPr>
            <p:nvPr/>
          </p:nvSpPr>
          <p:spPr bwMode="auto">
            <a:xfrm>
              <a:off x="2058"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8" name="Line 6841"/>
            <p:cNvSpPr>
              <a:spLocks noChangeShapeType="1"/>
            </p:cNvSpPr>
            <p:nvPr/>
          </p:nvSpPr>
          <p:spPr bwMode="auto">
            <a:xfrm>
              <a:off x="2013" y="2669"/>
              <a:ext cx="4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89" name="Line 6842"/>
            <p:cNvSpPr>
              <a:spLocks noChangeShapeType="1"/>
            </p:cNvSpPr>
            <p:nvPr/>
          </p:nvSpPr>
          <p:spPr bwMode="auto">
            <a:xfrm>
              <a:off x="1978" y="2669"/>
              <a:ext cx="3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0" name="Line 6843"/>
            <p:cNvSpPr>
              <a:spLocks noChangeShapeType="1"/>
            </p:cNvSpPr>
            <p:nvPr/>
          </p:nvSpPr>
          <p:spPr bwMode="auto">
            <a:xfrm>
              <a:off x="1937"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1" name="Line 6844"/>
            <p:cNvSpPr>
              <a:spLocks noChangeShapeType="1"/>
            </p:cNvSpPr>
            <p:nvPr/>
          </p:nvSpPr>
          <p:spPr bwMode="auto">
            <a:xfrm>
              <a:off x="189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2" name="Line 6845"/>
            <p:cNvSpPr>
              <a:spLocks noChangeShapeType="1"/>
            </p:cNvSpPr>
            <p:nvPr/>
          </p:nvSpPr>
          <p:spPr bwMode="auto">
            <a:xfrm>
              <a:off x="1853" y="2669"/>
              <a:ext cx="4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3" name="Line 6846"/>
            <p:cNvSpPr>
              <a:spLocks noChangeShapeType="1"/>
            </p:cNvSpPr>
            <p:nvPr/>
          </p:nvSpPr>
          <p:spPr bwMode="auto">
            <a:xfrm>
              <a:off x="1815"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4" name="Line 6847"/>
            <p:cNvSpPr>
              <a:spLocks noChangeShapeType="1"/>
            </p:cNvSpPr>
            <p:nvPr/>
          </p:nvSpPr>
          <p:spPr bwMode="auto">
            <a:xfrm>
              <a:off x="1774"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5" name="Line 6848"/>
            <p:cNvSpPr>
              <a:spLocks noChangeShapeType="1"/>
            </p:cNvSpPr>
            <p:nvPr/>
          </p:nvSpPr>
          <p:spPr bwMode="auto">
            <a:xfrm>
              <a:off x="1736"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6" name="Line 6849"/>
            <p:cNvSpPr>
              <a:spLocks noChangeShapeType="1"/>
            </p:cNvSpPr>
            <p:nvPr/>
          </p:nvSpPr>
          <p:spPr bwMode="auto">
            <a:xfrm>
              <a:off x="1692" y="2669"/>
              <a:ext cx="4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7" name="Freeform 6850"/>
            <p:cNvSpPr>
              <a:spLocks/>
            </p:cNvSpPr>
            <p:nvPr/>
          </p:nvSpPr>
          <p:spPr bwMode="auto">
            <a:xfrm>
              <a:off x="1692" y="2653"/>
              <a:ext cx="45" cy="28"/>
            </a:xfrm>
            <a:custGeom>
              <a:avLst/>
              <a:gdLst>
                <a:gd name="T0" fmla="*/ 0 w 45"/>
                <a:gd name="T1" fmla="*/ 0 h 28"/>
                <a:gd name="T2" fmla="*/ 44 w 45"/>
                <a:gd name="T3" fmla="*/ 0 h 28"/>
                <a:gd name="T4" fmla="*/ 0 w 45"/>
                <a:gd name="T5" fmla="*/ 27 h 28"/>
                <a:gd name="T6" fmla="*/ 0 w 45"/>
                <a:gd name="T7" fmla="*/ 0 h 28"/>
                <a:gd name="T8" fmla="*/ 0 60000 65536"/>
                <a:gd name="T9" fmla="*/ 0 60000 65536"/>
                <a:gd name="T10" fmla="*/ 0 60000 65536"/>
                <a:gd name="T11" fmla="*/ 0 60000 65536"/>
                <a:gd name="T12" fmla="*/ 0 w 45"/>
                <a:gd name="T13" fmla="*/ 0 h 28"/>
                <a:gd name="T14" fmla="*/ 45 w 45"/>
                <a:gd name="T15" fmla="*/ 28 h 28"/>
              </a:gdLst>
              <a:ahLst/>
              <a:cxnLst>
                <a:cxn ang="T8">
                  <a:pos x="T0" y="T1"/>
                </a:cxn>
                <a:cxn ang="T9">
                  <a:pos x="T2" y="T3"/>
                </a:cxn>
                <a:cxn ang="T10">
                  <a:pos x="T4" y="T5"/>
                </a:cxn>
                <a:cxn ang="T11">
                  <a:pos x="T6" y="T7"/>
                </a:cxn>
              </a:cxnLst>
              <a:rect l="T12" t="T13" r="T14" b="T15"/>
              <a:pathLst>
                <a:path w="45" h="28">
                  <a:moveTo>
                    <a:pt x="0" y="0"/>
                  </a:moveTo>
                  <a:lnTo>
                    <a:pt x="44"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8" name="Line 6851"/>
            <p:cNvSpPr>
              <a:spLocks noChangeShapeType="1"/>
            </p:cNvSpPr>
            <p:nvPr/>
          </p:nvSpPr>
          <p:spPr bwMode="auto">
            <a:xfrm>
              <a:off x="1651"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99" name="Freeform 6852"/>
            <p:cNvSpPr>
              <a:spLocks/>
            </p:cNvSpPr>
            <p:nvPr/>
          </p:nvSpPr>
          <p:spPr bwMode="auto">
            <a:xfrm>
              <a:off x="1651" y="2653"/>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0" name="Freeform 6853"/>
            <p:cNvSpPr>
              <a:spLocks/>
            </p:cNvSpPr>
            <p:nvPr/>
          </p:nvSpPr>
          <p:spPr bwMode="auto">
            <a:xfrm>
              <a:off x="1651" y="2653"/>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1" name="Freeform 6854"/>
            <p:cNvSpPr>
              <a:spLocks/>
            </p:cNvSpPr>
            <p:nvPr/>
          </p:nvSpPr>
          <p:spPr bwMode="auto">
            <a:xfrm>
              <a:off x="1651" y="2653"/>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2" name="Line 6855"/>
            <p:cNvSpPr>
              <a:spLocks noChangeShapeType="1"/>
            </p:cNvSpPr>
            <p:nvPr/>
          </p:nvSpPr>
          <p:spPr bwMode="auto">
            <a:xfrm>
              <a:off x="1615" y="2669"/>
              <a:ext cx="3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3" name="Freeform 6856"/>
            <p:cNvSpPr>
              <a:spLocks/>
            </p:cNvSpPr>
            <p:nvPr/>
          </p:nvSpPr>
          <p:spPr bwMode="auto">
            <a:xfrm>
              <a:off x="1615" y="2661"/>
              <a:ext cx="37" cy="28"/>
            </a:xfrm>
            <a:custGeom>
              <a:avLst/>
              <a:gdLst>
                <a:gd name="T0" fmla="*/ 0 w 37"/>
                <a:gd name="T1" fmla="*/ 27 h 28"/>
                <a:gd name="T2" fmla="*/ 36 w 37"/>
                <a:gd name="T3" fmla="*/ 0 h 28"/>
                <a:gd name="T4" fmla="*/ 36 w 37"/>
                <a:gd name="T5" fmla="*/ 27 h 28"/>
                <a:gd name="T6" fmla="*/ 0 w 37"/>
                <a:gd name="T7" fmla="*/ 27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27"/>
                  </a:moveTo>
                  <a:lnTo>
                    <a:pt x="36" y="0"/>
                  </a:lnTo>
                  <a:lnTo>
                    <a:pt x="36"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4" name="Freeform 6857"/>
            <p:cNvSpPr>
              <a:spLocks/>
            </p:cNvSpPr>
            <p:nvPr/>
          </p:nvSpPr>
          <p:spPr bwMode="auto">
            <a:xfrm>
              <a:off x="1615" y="2661"/>
              <a:ext cx="37" cy="28"/>
            </a:xfrm>
            <a:custGeom>
              <a:avLst/>
              <a:gdLst>
                <a:gd name="T0" fmla="*/ 0 w 37"/>
                <a:gd name="T1" fmla="*/ 0 h 28"/>
                <a:gd name="T2" fmla="*/ 36 w 37"/>
                <a:gd name="T3" fmla="*/ 0 h 28"/>
                <a:gd name="T4" fmla="*/ 0 w 37"/>
                <a:gd name="T5" fmla="*/ 27 h 28"/>
                <a:gd name="T6" fmla="*/ 0 w 37"/>
                <a:gd name="T7" fmla="*/ 0 h 28"/>
                <a:gd name="T8" fmla="*/ 0 60000 65536"/>
                <a:gd name="T9" fmla="*/ 0 60000 65536"/>
                <a:gd name="T10" fmla="*/ 0 60000 65536"/>
                <a:gd name="T11" fmla="*/ 0 60000 65536"/>
                <a:gd name="T12" fmla="*/ 0 w 37"/>
                <a:gd name="T13" fmla="*/ 0 h 28"/>
                <a:gd name="T14" fmla="*/ 37 w 37"/>
                <a:gd name="T15" fmla="*/ 28 h 28"/>
              </a:gdLst>
              <a:ahLst/>
              <a:cxnLst>
                <a:cxn ang="T8">
                  <a:pos x="T0" y="T1"/>
                </a:cxn>
                <a:cxn ang="T9">
                  <a:pos x="T2" y="T3"/>
                </a:cxn>
                <a:cxn ang="T10">
                  <a:pos x="T4" y="T5"/>
                </a:cxn>
                <a:cxn ang="T11">
                  <a:pos x="T6" y="T7"/>
                </a:cxn>
              </a:cxnLst>
              <a:rect l="T12" t="T13" r="T14" b="T15"/>
              <a:pathLst>
                <a:path w="37" h="28">
                  <a:moveTo>
                    <a:pt x="0" y="0"/>
                  </a:moveTo>
                  <a:lnTo>
                    <a:pt x="36"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5" name="Freeform 6858"/>
            <p:cNvSpPr>
              <a:spLocks/>
            </p:cNvSpPr>
            <p:nvPr/>
          </p:nvSpPr>
          <p:spPr bwMode="auto">
            <a:xfrm>
              <a:off x="1615" y="2661"/>
              <a:ext cx="37" cy="28"/>
            </a:xfrm>
            <a:custGeom>
              <a:avLst/>
              <a:gdLst>
                <a:gd name="T0" fmla="*/ 0 w 37"/>
                <a:gd name="T1" fmla="*/ 27 h 28"/>
                <a:gd name="T2" fmla="*/ 36 w 37"/>
                <a:gd name="T3" fmla="*/ 27 h 28"/>
                <a:gd name="T4" fmla="*/ 36 w 37"/>
                <a:gd name="T5" fmla="*/ 0 h 28"/>
                <a:gd name="T6" fmla="*/ 0 w 37"/>
                <a:gd name="T7" fmla="*/ 0 h 28"/>
                <a:gd name="T8" fmla="*/ 0 w 37"/>
                <a:gd name="T9" fmla="*/ 27 h 28"/>
                <a:gd name="T10" fmla="*/ 0 w 37"/>
                <a:gd name="T11" fmla="*/ 27 h 28"/>
                <a:gd name="T12" fmla="*/ 0 60000 65536"/>
                <a:gd name="T13" fmla="*/ 0 60000 65536"/>
                <a:gd name="T14" fmla="*/ 0 60000 65536"/>
                <a:gd name="T15" fmla="*/ 0 60000 65536"/>
                <a:gd name="T16" fmla="*/ 0 60000 65536"/>
                <a:gd name="T17" fmla="*/ 0 60000 65536"/>
                <a:gd name="T18" fmla="*/ 0 w 37"/>
                <a:gd name="T19" fmla="*/ 0 h 28"/>
                <a:gd name="T20" fmla="*/ 37 w 3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7" h="28">
                  <a:moveTo>
                    <a:pt x="0" y="27"/>
                  </a:moveTo>
                  <a:lnTo>
                    <a:pt x="36" y="27"/>
                  </a:lnTo>
                  <a:lnTo>
                    <a:pt x="36"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6" name="Line 6859"/>
            <p:cNvSpPr>
              <a:spLocks noChangeShapeType="1"/>
            </p:cNvSpPr>
            <p:nvPr/>
          </p:nvSpPr>
          <p:spPr bwMode="auto">
            <a:xfrm>
              <a:off x="1568" y="2669"/>
              <a:ext cx="4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7" name="Freeform 6860"/>
            <p:cNvSpPr>
              <a:spLocks/>
            </p:cNvSpPr>
            <p:nvPr/>
          </p:nvSpPr>
          <p:spPr bwMode="auto">
            <a:xfrm>
              <a:off x="1568" y="2661"/>
              <a:ext cx="48" cy="28"/>
            </a:xfrm>
            <a:custGeom>
              <a:avLst/>
              <a:gdLst>
                <a:gd name="T0" fmla="*/ 0 w 48"/>
                <a:gd name="T1" fmla="*/ 27 h 28"/>
                <a:gd name="T2" fmla="*/ 47 w 48"/>
                <a:gd name="T3" fmla="*/ 0 h 28"/>
                <a:gd name="T4" fmla="*/ 47 w 48"/>
                <a:gd name="T5" fmla="*/ 27 h 28"/>
                <a:gd name="T6" fmla="*/ 0 w 48"/>
                <a:gd name="T7" fmla="*/ 27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27"/>
                  </a:moveTo>
                  <a:lnTo>
                    <a:pt x="47" y="0"/>
                  </a:lnTo>
                  <a:lnTo>
                    <a:pt x="47"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8" name="Freeform 6861"/>
            <p:cNvSpPr>
              <a:spLocks/>
            </p:cNvSpPr>
            <p:nvPr/>
          </p:nvSpPr>
          <p:spPr bwMode="auto">
            <a:xfrm>
              <a:off x="1568" y="2661"/>
              <a:ext cx="48" cy="28"/>
            </a:xfrm>
            <a:custGeom>
              <a:avLst/>
              <a:gdLst>
                <a:gd name="T0" fmla="*/ 0 w 48"/>
                <a:gd name="T1" fmla="*/ 0 h 28"/>
                <a:gd name="T2" fmla="*/ 47 w 48"/>
                <a:gd name="T3" fmla="*/ 0 h 28"/>
                <a:gd name="T4" fmla="*/ 0 w 48"/>
                <a:gd name="T5" fmla="*/ 27 h 28"/>
                <a:gd name="T6" fmla="*/ 0 w 48"/>
                <a:gd name="T7" fmla="*/ 0 h 28"/>
                <a:gd name="T8" fmla="*/ 0 60000 65536"/>
                <a:gd name="T9" fmla="*/ 0 60000 65536"/>
                <a:gd name="T10" fmla="*/ 0 60000 65536"/>
                <a:gd name="T11" fmla="*/ 0 60000 65536"/>
                <a:gd name="T12" fmla="*/ 0 w 48"/>
                <a:gd name="T13" fmla="*/ 0 h 28"/>
                <a:gd name="T14" fmla="*/ 48 w 48"/>
                <a:gd name="T15" fmla="*/ 28 h 28"/>
              </a:gdLst>
              <a:ahLst/>
              <a:cxnLst>
                <a:cxn ang="T8">
                  <a:pos x="T0" y="T1"/>
                </a:cxn>
                <a:cxn ang="T9">
                  <a:pos x="T2" y="T3"/>
                </a:cxn>
                <a:cxn ang="T10">
                  <a:pos x="T4" y="T5"/>
                </a:cxn>
                <a:cxn ang="T11">
                  <a:pos x="T6" y="T7"/>
                </a:cxn>
              </a:cxnLst>
              <a:rect l="T12" t="T13" r="T14" b="T15"/>
              <a:pathLst>
                <a:path w="48" h="28">
                  <a:moveTo>
                    <a:pt x="0" y="0"/>
                  </a:moveTo>
                  <a:lnTo>
                    <a:pt x="47"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09" name="Freeform 6862"/>
            <p:cNvSpPr>
              <a:spLocks/>
            </p:cNvSpPr>
            <p:nvPr/>
          </p:nvSpPr>
          <p:spPr bwMode="auto">
            <a:xfrm>
              <a:off x="1568" y="2661"/>
              <a:ext cx="48" cy="28"/>
            </a:xfrm>
            <a:custGeom>
              <a:avLst/>
              <a:gdLst>
                <a:gd name="T0" fmla="*/ 0 w 48"/>
                <a:gd name="T1" fmla="*/ 27 h 28"/>
                <a:gd name="T2" fmla="*/ 47 w 48"/>
                <a:gd name="T3" fmla="*/ 27 h 28"/>
                <a:gd name="T4" fmla="*/ 47 w 48"/>
                <a:gd name="T5" fmla="*/ 0 h 28"/>
                <a:gd name="T6" fmla="*/ 0 w 48"/>
                <a:gd name="T7" fmla="*/ 0 h 28"/>
                <a:gd name="T8" fmla="*/ 0 w 48"/>
                <a:gd name="T9" fmla="*/ 27 h 28"/>
                <a:gd name="T10" fmla="*/ 0 w 48"/>
                <a:gd name="T11" fmla="*/ 27 h 28"/>
                <a:gd name="T12" fmla="*/ 0 60000 65536"/>
                <a:gd name="T13" fmla="*/ 0 60000 65536"/>
                <a:gd name="T14" fmla="*/ 0 60000 65536"/>
                <a:gd name="T15" fmla="*/ 0 60000 65536"/>
                <a:gd name="T16" fmla="*/ 0 60000 65536"/>
                <a:gd name="T17" fmla="*/ 0 60000 65536"/>
                <a:gd name="T18" fmla="*/ 0 w 48"/>
                <a:gd name="T19" fmla="*/ 0 h 28"/>
                <a:gd name="T20" fmla="*/ 48 w 4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8" h="28">
                  <a:moveTo>
                    <a:pt x="0" y="27"/>
                  </a:moveTo>
                  <a:lnTo>
                    <a:pt x="47" y="27"/>
                  </a:lnTo>
                  <a:lnTo>
                    <a:pt x="47"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0" name="Line 6863"/>
            <p:cNvSpPr>
              <a:spLocks noChangeShapeType="1"/>
            </p:cNvSpPr>
            <p:nvPr/>
          </p:nvSpPr>
          <p:spPr bwMode="auto">
            <a:xfrm>
              <a:off x="1530"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1" name="Freeform 6864"/>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2" name="Line 6865"/>
            <p:cNvSpPr>
              <a:spLocks noChangeShapeType="1"/>
            </p:cNvSpPr>
            <p:nvPr/>
          </p:nvSpPr>
          <p:spPr bwMode="auto">
            <a:xfrm>
              <a:off x="1530"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3" name="Freeform 6866"/>
            <p:cNvSpPr>
              <a:spLocks/>
            </p:cNvSpPr>
            <p:nvPr/>
          </p:nvSpPr>
          <p:spPr bwMode="auto">
            <a:xfrm>
              <a:off x="1530"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4" name="Line 6867"/>
            <p:cNvSpPr>
              <a:spLocks noChangeShapeType="1"/>
            </p:cNvSpPr>
            <p:nvPr/>
          </p:nvSpPr>
          <p:spPr bwMode="auto">
            <a:xfrm>
              <a:off x="149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5" name="Freeform 6868"/>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6" name="Line 6869"/>
            <p:cNvSpPr>
              <a:spLocks noChangeShapeType="1"/>
            </p:cNvSpPr>
            <p:nvPr/>
          </p:nvSpPr>
          <p:spPr bwMode="auto">
            <a:xfrm>
              <a:off x="149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7" name="Freeform 6870"/>
            <p:cNvSpPr>
              <a:spLocks/>
            </p:cNvSpPr>
            <p:nvPr/>
          </p:nvSpPr>
          <p:spPr bwMode="auto">
            <a:xfrm>
              <a:off x="149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8" name="Line 6871"/>
            <p:cNvSpPr>
              <a:spLocks noChangeShapeType="1"/>
            </p:cNvSpPr>
            <p:nvPr/>
          </p:nvSpPr>
          <p:spPr bwMode="auto">
            <a:xfrm>
              <a:off x="145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19" name="Freeform 6872"/>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60000 65536"/>
                <a:gd name="T9" fmla="*/ 0 60000 65536"/>
                <a:gd name="T10" fmla="*/ 0 60000 65536"/>
                <a:gd name="T11" fmla="*/ 0 60000 65536"/>
                <a:gd name="T12" fmla="*/ 0 w 41"/>
                <a:gd name="T13" fmla="*/ 0 h 1"/>
                <a:gd name="T14" fmla="*/ 41 w 41"/>
                <a:gd name="T15" fmla="*/ 1 h 1"/>
              </a:gdLst>
              <a:ahLst/>
              <a:cxnLst>
                <a:cxn ang="T8">
                  <a:pos x="T0" y="T1"/>
                </a:cxn>
                <a:cxn ang="T9">
                  <a:pos x="T2" y="T3"/>
                </a:cxn>
                <a:cxn ang="T10">
                  <a:pos x="T4" y="T5"/>
                </a:cxn>
                <a:cxn ang="T11">
                  <a:pos x="T6" y="T7"/>
                </a:cxn>
              </a:cxnLst>
              <a:rect l="T12" t="T13" r="T14" b="T15"/>
              <a:pathLst>
                <a:path w="41" h="1">
                  <a:moveTo>
                    <a:pt x="0" y="0"/>
                  </a:moveTo>
                  <a:lnTo>
                    <a:pt x="40"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0" name="Line 6873"/>
            <p:cNvSpPr>
              <a:spLocks noChangeShapeType="1"/>
            </p:cNvSpPr>
            <p:nvPr/>
          </p:nvSpPr>
          <p:spPr bwMode="auto">
            <a:xfrm>
              <a:off x="1450" y="2669"/>
              <a:ext cx="4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1" name="Freeform 6874"/>
            <p:cNvSpPr>
              <a:spLocks/>
            </p:cNvSpPr>
            <p:nvPr/>
          </p:nvSpPr>
          <p:spPr bwMode="auto">
            <a:xfrm>
              <a:off x="1450" y="2669"/>
              <a:ext cx="41" cy="1"/>
            </a:xfrm>
            <a:custGeom>
              <a:avLst/>
              <a:gdLst>
                <a:gd name="T0" fmla="*/ 0 w 41"/>
                <a:gd name="T1" fmla="*/ 0 h 1"/>
                <a:gd name="T2" fmla="*/ 40 w 41"/>
                <a:gd name="T3" fmla="*/ 0 h 1"/>
                <a:gd name="T4" fmla="*/ 40 w 41"/>
                <a:gd name="T5" fmla="*/ 0 h 1"/>
                <a:gd name="T6" fmla="*/ 0 w 41"/>
                <a:gd name="T7" fmla="*/ 0 h 1"/>
                <a:gd name="T8" fmla="*/ 0 w 41"/>
                <a:gd name="T9" fmla="*/ 0 h 1"/>
                <a:gd name="T10" fmla="*/ 0 w 41"/>
                <a:gd name="T11" fmla="*/ 0 h 1"/>
                <a:gd name="T12" fmla="*/ 0 60000 65536"/>
                <a:gd name="T13" fmla="*/ 0 60000 65536"/>
                <a:gd name="T14" fmla="*/ 0 60000 65536"/>
                <a:gd name="T15" fmla="*/ 0 60000 65536"/>
                <a:gd name="T16" fmla="*/ 0 60000 65536"/>
                <a:gd name="T17" fmla="*/ 0 60000 65536"/>
                <a:gd name="T18" fmla="*/ 0 w 41"/>
                <a:gd name="T19" fmla="*/ 0 h 1"/>
                <a:gd name="T20" fmla="*/ 41 w 41"/>
                <a:gd name="T21" fmla="*/ 1 h 1"/>
              </a:gdLst>
              <a:ahLst/>
              <a:cxnLst>
                <a:cxn ang="T12">
                  <a:pos x="T0" y="T1"/>
                </a:cxn>
                <a:cxn ang="T13">
                  <a:pos x="T2" y="T3"/>
                </a:cxn>
                <a:cxn ang="T14">
                  <a:pos x="T4" y="T5"/>
                </a:cxn>
                <a:cxn ang="T15">
                  <a:pos x="T6" y="T7"/>
                </a:cxn>
                <a:cxn ang="T16">
                  <a:pos x="T8" y="T9"/>
                </a:cxn>
                <a:cxn ang="T17">
                  <a:pos x="T10" y="T11"/>
                </a:cxn>
              </a:cxnLst>
              <a:rect l="T18" t="T19" r="T20" b="T21"/>
              <a:pathLst>
                <a:path w="41" h="1">
                  <a:moveTo>
                    <a:pt x="0" y="0"/>
                  </a:moveTo>
                  <a:lnTo>
                    <a:pt x="40"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2" name="Line 6875"/>
            <p:cNvSpPr>
              <a:spLocks noChangeShapeType="1"/>
            </p:cNvSpPr>
            <p:nvPr/>
          </p:nvSpPr>
          <p:spPr bwMode="auto">
            <a:xfrm>
              <a:off x="1409" y="2669"/>
              <a:ext cx="4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3" name="Freeform 6876"/>
            <p:cNvSpPr>
              <a:spLocks/>
            </p:cNvSpPr>
            <p:nvPr/>
          </p:nvSpPr>
          <p:spPr bwMode="auto">
            <a:xfrm>
              <a:off x="1409" y="2661"/>
              <a:ext cx="42" cy="28"/>
            </a:xfrm>
            <a:custGeom>
              <a:avLst/>
              <a:gdLst>
                <a:gd name="T0" fmla="*/ 0 w 42"/>
                <a:gd name="T1" fmla="*/ 27 h 28"/>
                <a:gd name="T2" fmla="*/ 41 w 42"/>
                <a:gd name="T3" fmla="*/ 0 h 28"/>
                <a:gd name="T4" fmla="*/ 41 w 42"/>
                <a:gd name="T5" fmla="*/ 27 h 28"/>
                <a:gd name="T6" fmla="*/ 0 w 42"/>
                <a:gd name="T7" fmla="*/ 27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27"/>
                  </a:moveTo>
                  <a:lnTo>
                    <a:pt x="41" y="0"/>
                  </a:lnTo>
                  <a:lnTo>
                    <a:pt x="41" y="27"/>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4" name="Freeform 6877"/>
            <p:cNvSpPr>
              <a:spLocks/>
            </p:cNvSpPr>
            <p:nvPr/>
          </p:nvSpPr>
          <p:spPr bwMode="auto">
            <a:xfrm>
              <a:off x="1409" y="2661"/>
              <a:ext cx="42" cy="28"/>
            </a:xfrm>
            <a:custGeom>
              <a:avLst/>
              <a:gdLst>
                <a:gd name="T0" fmla="*/ 0 w 42"/>
                <a:gd name="T1" fmla="*/ 0 h 28"/>
                <a:gd name="T2" fmla="*/ 41 w 42"/>
                <a:gd name="T3" fmla="*/ 0 h 28"/>
                <a:gd name="T4" fmla="*/ 0 w 42"/>
                <a:gd name="T5" fmla="*/ 27 h 28"/>
                <a:gd name="T6" fmla="*/ 0 w 42"/>
                <a:gd name="T7" fmla="*/ 0 h 28"/>
                <a:gd name="T8" fmla="*/ 0 60000 65536"/>
                <a:gd name="T9" fmla="*/ 0 60000 65536"/>
                <a:gd name="T10" fmla="*/ 0 60000 65536"/>
                <a:gd name="T11" fmla="*/ 0 60000 65536"/>
                <a:gd name="T12" fmla="*/ 0 w 42"/>
                <a:gd name="T13" fmla="*/ 0 h 28"/>
                <a:gd name="T14" fmla="*/ 42 w 42"/>
                <a:gd name="T15" fmla="*/ 28 h 28"/>
              </a:gdLst>
              <a:ahLst/>
              <a:cxnLst>
                <a:cxn ang="T8">
                  <a:pos x="T0" y="T1"/>
                </a:cxn>
                <a:cxn ang="T9">
                  <a:pos x="T2" y="T3"/>
                </a:cxn>
                <a:cxn ang="T10">
                  <a:pos x="T4" y="T5"/>
                </a:cxn>
                <a:cxn ang="T11">
                  <a:pos x="T6" y="T7"/>
                </a:cxn>
              </a:cxnLst>
              <a:rect l="T12" t="T13" r="T14" b="T15"/>
              <a:pathLst>
                <a:path w="42" h="28">
                  <a:moveTo>
                    <a:pt x="0" y="0"/>
                  </a:moveTo>
                  <a:lnTo>
                    <a:pt x="41"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5" name="Freeform 6878"/>
            <p:cNvSpPr>
              <a:spLocks/>
            </p:cNvSpPr>
            <p:nvPr/>
          </p:nvSpPr>
          <p:spPr bwMode="auto">
            <a:xfrm>
              <a:off x="1409" y="2661"/>
              <a:ext cx="42" cy="28"/>
            </a:xfrm>
            <a:custGeom>
              <a:avLst/>
              <a:gdLst>
                <a:gd name="T0" fmla="*/ 0 w 42"/>
                <a:gd name="T1" fmla="*/ 27 h 28"/>
                <a:gd name="T2" fmla="*/ 41 w 42"/>
                <a:gd name="T3" fmla="*/ 27 h 28"/>
                <a:gd name="T4" fmla="*/ 41 w 42"/>
                <a:gd name="T5" fmla="*/ 0 h 28"/>
                <a:gd name="T6" fmla="*/ 0 w 42"/>
                <a:gd name="T7" fmla="*/ 0 h 28"/>
                <a:gd name="T8" fmla="*/ 0 w 42"/>
                <a:gd name="T9" fmla="*/ 27 h 28"/>
                <a:gd name="T10" fmla="*/ 0 w 42"/>
                <a:gd name="T11" fmla="*/ 27 h 28"/>
                <a:gd name="T12" fmla="*/ 0 60000 65536"/>
                <a:gd name="T13" fmla="*/ 0 60000 65536"/>
                <a:gd name="T14" fmla="*/ 0 60000 65536"/>
                <a:gd name="T15" fmla="*/ 0 60000 65536"/>
                <a:gd name="T16" fmla="*/ 0 60000 65536"/>
                <a:gd name="T17" fmla="*/ 0 60000 65536"/>
                <a:gd name="T18" fmla="*/ 0 w 42"/>
                <a:gd name="T19" fmla="*/ 0 h 28"/>
                <a:gd name="T20" fmla="*/ 42 w 4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2" h="28">
                  <a:moveTo>
                    <a:pt x="0" y="27"/>
                  </a:moveTo>
                  <a:lnTo>
                    <a:pt x="41" y="27"/>
                  </a:lnTo>
                  <a:lnTo>
                    <a:pt x="41" y="0"/>
                  </a:lnTo>
                  <a:lnTo>
                    <a:pt x="0" y="0"/>
                  </a:lnTo>
                  <a:lnTo>
                    <a:pt x="0" y="27"/>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6" name="Line 6879"/>
            <p:cNvSpPr>
              <a:spLocks noChangeShapeType="1"/>
            </p:cNvSpPr>
            <p:nvPr/>
          </p:nvSpPr>
          <p:spPr bwMode="auto">
            <a:xfrm>
              <a:off x="1367"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7" name="Freeform 6880"/>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60000 65536"/>
                <a:gd name="T9" fmla="*/ 0 60000 65536"/>
                <a:gd name="T10" fmla="*/ 0 60000 65536"/>
                <a:gd name="T11" fmla="*/ 0 60000 65536"/>
                <a:gd name="T12" fmla="*/ 0 w 43"/>
                <a:gd name="T13" fmla="*/ 0 h 1"/>
                <a:gd name="T14" fmla="*/ 43 w 43"/>
                <a:gd name="T15" fmla="*/ 1 h 1"/>
              </a:gdLst>
              <a:ahLst/>
              <a:cxnLst>
                <a:cxn ang="T8">
                  <a:pos x="T0" y="T1"/>
                </a:cxn>
                <a:cxn ang="T9">
                  <a:pos x="T2" y="T3"/>
                </a:cxn>
                <a:cxn ang="T10">
                  <a:pos x="T4" y="T5"/>
                </a:cxn>
                <a:cxn ang="T11">
                  <a:pos x="T6" y="T7"/>
                </a:cxn>
              </a:cxnLst>
              <a:rect l="T12" t="T13" r="T14" b="T15"/>
              <a:pathLst>
                <a:path w="43" h="1">
                  <a:moveTo>
                    <a:pt x="0" y="0"/>
                  </a:moveTo>
                  <a:lnTo>
                    <a:pt x="42"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8" name="Line 6881"/>
            <p:cNvSpPr>
              <a:spLocks noChangeShapeType="1"/>
            </p:cNvSpPr>
            <p:nvPr/>
          </p:nvSpPr>
          <p:spPr bwMode="auto">
            <a:xfrm>
              <a:off x="1367" y="2669"/>
              <a:ext cx="4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29" name="Freeform 6882"/>
            <p:cNvSpPr>
              <a:spLocks/>
            </p:cNvSpPr>
            <p:nvPr/>
          </p:nvSpPr>
          <p:spPr bwMode="auto">
            <a:xfrm>
              <a:off x="1367" y="2669"/>
              <a:ext cx="43" cy="1"/>
            </a:xfrm>
            <a:custGeom>
              <a:avLst/>
              <a:gdLst>
                <a:gd name="T0" fmla="*/ 0 w 43"/>
                <a:gd name="T1" fmla="*/ 0 h 1"/>
                <a:gd name="T2" fmla="*/ 42 w 43"/>
                <a:gd name="T3" fmla="*/ 0 h 1"/>
                <a:gd name="T4" fmla="*/ 42 w 43"/>
                <a:gd name="T5" fmla="*/ 0 h 1"/>
                <a:gd name="T6" fmla="*/ 0 w 43"/>
                <a:gd name="T7" fmla="*/ 0 h 1"/>
                <a:gd name="T8" fmla="*/ 0 w 43"/>
                <a:gd name="T9" fmla="*/ 0 h 1"/>
                <a:gd name="T10" fmla="*/ 0 w 43"/>
                <a:gd name="T11" fmla="*/ 0 h 1"/>
                <a:gd name="T12" fmla="*/ 0 60000 65536"/>
                <a:gd name="T13" fmla="*/ 0 60000 65536"/>
                <a:gd name="T14" fmla="*/ 0 60000 65536"/>
                <a:gd name="T15" fmla="*/ 0 60000 65536"/>
                <a:gd name="T16" fmla="*/ 0 60000 65536"/>
                <a:gd name="T17" fmla="*/ 0 60000 65536"/>
                <a:gd name="T18" fmla="*/ 0 w 43"/>
                <a:gd name="T19" fmla="*/ 0 h 1"/>
                <a:gd name="T20" fmla="*/ 43 w 43"/>
                <a:gd name="T21" fmla="*/ 1 h 1"/>
              </a:gdLst>
              <a:ahLst/>
              <a:cxnLst>
                <a:cxn ang="T12">
                  <a:pos x="T0" y="T1"/>
                </a:cxn>
                <a:cxn ang="T13">
                  <a:pos x="T2" y="T3"/>
                </a:cxn>
                <a:cxn ang="T14">
                  <a:pos x="T4" y="T5"/>
                </a:cxn>
                <a:cxn ang="T15">
                  <a:pos x="T6" y="T7"/>
                </a:cxn>
                <a:cxn ang="T16">
                  <a:pos x="T8" y="T9"/>
                </a:cxn>
                <a:cxn ang="T17">
                  <a:pos x="T10" y="T11"/>
                </a:cxn>
              </a:cxnLst>
              <a:rect l="T18" t="T19" r="T20" b="T21"/>
              <a:pathLst>
                <a:path w="43" h="1">
                  <a:moveTo>
                    <a:pt x="0" y="0"/>
                  </a:moveTo>
                  <a:lnTo>
                    <a:pt x="42"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0" name="Line 6883"/>
            <p:cNvSpPr>
              <a:spLocks noChangeShapeType="1"/>
            </p:cNvSpPr>
            <p:nvPr/>
          </p:nvSpPr>
          <p:spPr bwMode="auto">
            <a:xfrm>
              <a:off x="132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1" name="Freeform 6884"/>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60000 65536"/>
                <a:gd name="T9" fmla="*/ 0 60000 65536"/>
                <a:gd name="T10" fmla="*/ 0 60000 65536"/>
                <a:gd name="T11" fmla="*/ 0 60000 65536"/>
                <a:gd name="T12" fmla="*/ 0 w 39"/>
                <a:gd name="T13" fmla="*/ 0 h 1"/>
                <a:gd name="T14" fmla="*/ 39 w 39"/>
                <a:gd name="T15" fmla="*/ 1 h 1"/>
              </a:gdLst>
              <a:ahLst/>
              <a:cxnLst>
                <a:cxn ang="T8">
                  <a:pos x="T0" y="T1"/>
                </a:cxn>
                <a:cxn ang="T9">
                  <a:pos x="T2" y="T3"/>
                </a:cxn>
                <a:cxn ang="T10">
                  <a:pos x="T4" y="T5"/>
                </a:cxn>
                <a:cxn ang="T11">
                  <a:pos x="T6" y="T7"/>
                </a:cxn>
              </a:cxnLst>
              <a:rect l="T12" t="T13" r="T14" b="T15"/>
              <a:pathLst>
                <a:path w="39" h="1">
                  <a:moveTo>
                    <a:pt x="0" y="0"/>
                  </a:moveTo>
                  <a:lnTo>
                    <a:pt x="3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2" name="Line 6885"/>
            <p:cNvSpPr>
              <a:spLocks noChangeShapeType="1"/>
            </p:cNvSpPr>
            <p:nvPr/>
          </p:nvSpPr>
          <p:spPr bwMode="auto">
            <a:xfrm>
              <a:off x="1329" y="2669"/>
              <a:ext cx="38"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3" name="Freeform 6886"/>
            <p:cNvSpPr>
              <a:spLocks/>
            </p:cNvSpPr>
            <p:nvPr/>
          </p:nvSpPr>
          <p:spPr bwMode="auto">
            <a:xfrm>
              <a:off x="1329" y="2669"/>
              <a:ext cx="39" cy="1"/>
            </a:xfrm>
            <a:custGeom>
              <a:avLst/>
              <a:gdLst>
                <a:gd name="T0" fmla="*/ 0 w 39"/>
                <a:gd name="T1" fmla="*/ 0 h 1"/>
                <a:gd name="T2" fmla="*/ 38 w 39"/>
                <a:gd name="T3" fmla="*/ 0 h 1"/>
                <a:gd name="T4" fmla="*/ 38 w 39"/>
                <a:gd name="T5" fmla="*/ 0 h 1"/>
                <a:gd name="T6" fmla="*/ 0 w 39"/>
                <a:gd name="T7" fmla="*/ 0 h 1"/>
                <a:gd name="T8" fmla="*/ 0 w 39"/>
                <a:gd name="T9" fmla="*/ 0 h 1"/>
                <a:gd name="T10" fmla="*/ 0 w 39"/>
                <a:gd name="T11" fmla="*/ 0 h 1"/>
                <a:gd name="T12" fmla="*/ 0 60000 65536"/>
                <a:gd name="T13" fmla="*/ 0 60000 65536"/>
                <a:gd name="T14" fmla="*/ 0 60000 65536"/>
                <a:gd name="T15" fmla="*/ 0 60000 65536"/>
                <a:gd name="T16" fmla="*/ 0 60000 65536"/>
                <a:gd name="T17" fmla="*/ 0 60000 65536"/>
                <a:gd name="T18" fmla="*/ 0 w 39"/>
                <a:gd name="T19" fmla="*/ 0 h 1"/>
                <a:gd name="T20" fmla="*/ 39 w 39"/>
                <a:gd name="T21" fmla="*/ 1 h 1"/>
              </a:gdLst>
              <a:ahLst/>
              <a:cxnLst>
                <a:cxn ang="T12">
                  <a:pos x="T0" y="T1"/>
                </a:cxn>
                <a:cxn ang="T13">
                  <a:pos x="T2" y="T3"/>
                </a:cxn>
                <a:cxn ang="T14">
                  <a:pos x="T4" y="T5"/>
                </a:cxn>
                <a:cxn ang="T15">
                  <a:pos x="T6" y="T7"/>
                </a:cxn>
                <a:cxn ang="T16">
                  <a:pos x="T8" y="T9"/>
                </a:cxn>
                <a:cxn ang="T17">
                  <a:pos x="T10" y="T11"/>
                </a:cxn>
              </a:cxnLst>
              <a:rect l="T18" t="T19" r="T20" b="T21"/>
              <a:pathLst>
                <a:path w="39" h="1">
                  <a:moveTo>
                    <a:pt x="0" y="0"/>
                  </a:moveTo>
                  <a:lnTo>
                    <a:pt x="38"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4" name="Line 6887"/>
            <p:cNvSpPr>
              <a:spLocks noChangeShapeType="1"/>
            </p:cNvSpPr>
            <p:nvPr/>
          </p:nvSpPr>
          <p:spPr bwMode="auto">
            <a:xfrm>
              <a:off x="1286" y="2669"/>
              <a:ext cx="4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5" name="Freeform 6888"/>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60000 65536"/>
                <a:gd name="T9" fmla="*/ 0 60000 65536"/>
                <a:gd name="T10" fmla="*/ 0 60000 65536"/>
                <a:gd name="T11" fmla="*/ 0 60000 65536"/>
                <a:gd name="T12" fmla="*/ 0 w 44"/>
                <a:gd name="T13" fmla="*/ 0 h 1"/>
                <a:gd name="T14" fmla="*/ 44 w 44"/>
                <a:gd name="T15" fmla="*/ 1 h 1"/>
              </a:gdLst>
              <a:ahLst/>
              <a:cxnLst>
                <a:cxn ang="T8">
                  <a:pos x="T0" y="T1"/>
                </a:cxn>
                <a:cxn ang="T9">
                  <a:pos x="T2" y="T3"/>
                </a:cxn>
                <a:cxn ang="T10">
                  <a:pos x="T4" y="T5"/>
                </a:cxn>
                <a:cxn ang="T11">
                  <a:pos x="T6" y="T7"/>
                </a:cxn>
              </a:cxnLst>
              <a:rect l="T12" t="T13" r="T14" b="T15"/>
              <a:pathLst>
                <a:path w="44" h="1">
                  <a:moveTo>
                    <a:pt x="0" y="0"/>
                  </a:moveTo>
                  <a:lnTo>
                    <a:pt x="4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6" name="Line 6889"/>
            <p:cNvSpPr>
              <a:spLocks noChangeShapeType="1"/>
            </p:cNvSpPr>
            <p:nvPr/>
          </p:nvSpPr>
          <p:spPr bwMode="auto">
            <a:xfrm>
              <a:off x="1286" y="2669"/>
              <a:ext cx="4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7" name="Freeform 6890"/>
            <p:cNvSpPr>
              <a:spLocks/>
            </p:cNvSpPr>
            <p:nvPr/>
          </p:nvSpPr>
          <p:spPr bwMode="auto">
            <a:xfrm>
              <a:off x="1286" y="2669"/>
              <a:ext cx="44" cy="1"/>
            </a:xfrm>
            <a:custGeom>
              <a:avLst/>
              <a:gdLst>
                <a:gd name="T0" fmla="*/ 0 w 44"/>
                <a:gd name="T1" fmla="*/ 0 h 1"/>
                <a:gd name="T2" fmla="*/ 43 w 44"/>
                <a:gd name="T3" fmla="*/ 0 h 1"/>
                <a:gd name="T4" fmla="*/ 43 w 44"/>
                <a:gd name="T5" fmla="*/ 0 h 1"/>
                <a:gd name="T6" fmla="*/ 0 w 44"/>
                <a:gd name="T7" fmla="*/ 0 h 1"/>
                <a:gd name="T8" fmla="*/ 0 w 44"/>
                <a:gd name="T9" fmla="*/ 0 h 1"/>
                <a:gd name="T10" fmla="*/ 0 w 44"/>
                <a:gd name="T11" fmla="*/ 0 h 1"/>
                <a:gd name="T12" fmla="*/ 0 60000 65536"/>
                <a:gd name="T13" fmla="*/ 0 60000 65536"/>
                <a:gd name="T14" fmla="*/ 0 60000 65536"/>
                <a:gd name="T15" fmla="*/ 0 60000 65536"/>
                <a:gd name="T16" fmla="*/ 0 60000 65536"/>
                <a:gd name="T17" fmla="*/ 0 60000 65536"/>
                <a:gd name="T18" fmla="*/ 0 w 44"/>
                <a:gd name="T19" fmla="*/ 0 h 1"/>
                <a:gd name="T20" fmla="*/ 44 w 4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4" h="1">
                  <a:moveTo>
                    <a:pt x="0" y="0"/>
                  </a:moveTo>
                  <a:lnTo>
                    <a:pt x="43"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8" name="Line 6891"/>
            <p:cNvSpPr>
              <a:spLocks noChangeShapeType="1"/>
            </p:cNvSpPr>
            <p:nvPr/>
          </p:nvSpPr>
          <p:spPr bwMode="auto">
            <a:xfrm>
              <a:off x="1249"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39" name="Freeform 6892"/>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60000 65536"/>
                <a:gd name="T9" fmla="*/ 0 60000 65536"/>
                <a:gd name="T10" fmla="*/ 0 60000 65536"/>
                <a:gd name="T11" fmla="*/ 0 60000 65536"/>
                <a:gd name="T12" fmla="*/ 0 w 38"/>
                <a:gd name="T13" fmla="*/ 0 h 1"/>
                <a:gd name="T14" fmla="*/ 38 w 38"/>
                <a:gd name="T15" fmla="*/ 1 h 1"/>
              </a:gdLst>
              <a:ahLst/>
              <a:cxnLst>
                <a:cxn ang="T8">
                  <a:pos x="T0" y="T1"/>
                </a:cxn>
                <a:cxn ang="T9">
                  <a:pos x="T2" y="T3"/>
                </a:cxn>
                <a:cxn ang="T10">
                  <a:pos x="T4" y="T5"/>
                </a:cxn>
                <a:cxn ang="T11">
                  <a:pos x="T6" y="T7"/>
                </a:cxn>
              </a:cxnLst>
              <a:rect l="T12" t="T13" r="T14" b="T15"/>
              <a:pathLst>
                <a:path w="38" h="1">
                  <a:moveTo>
                    <a:pt x="0" y="0"/>
                  </a:moveTo>
                  <a:lnTo>
                    <a:pt x="3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0" name="Line 6893"/>
            <p:cNvSpPr>
              <a:spLocks noChangeShapeType="1"/>
            </p:cNvSpPr>
            <p:nvPr/>
          </p:nvSpPr>
          <p:spPr bwMode="auto">
            <a:xfrm>
              <a:off x="1249" y="2669"/>
              <a:ext cx="37"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1" name="Freeform 6894"/>
            <p:cNvSpPr>
              <a:spLocks/>
            </p:cNvSpPr>
            <p:nvPr/>
          </p:nvSpPr>
          <p:spPr bwMode="auto">
            <a:xfrm>
              <a:off x="1249" y="2669"/>
              <a:ext cx="38" cy="1"/>
            </a:xfrm>
            <a:custGeom>
              <a:avLst/>
              <a:gdLst>
                <a:gd name="T0" fmla="*/ 0 w 38"/>
                <a:gd name="T1" fmla="*/ 0 h 1"/>
                <a:gd name="T2" fmla="*/ 37 w 38"/>
                <a:gd name="T3" fmla="*/ 0 h 1"/>
                <a:gd name="T4" fmla="*/ 37 w 38"/>
                <a:gd name="T5" fmla="*/ 0 h 1"/>
                <a:gd name="T6" fmla="*/ 0 w 38"/>
                <a:gd name="T7" fmla="*/ 0 h 1"/>
                <a:gd name="T8" fmla="*/ 0 w 38"/>
                <a:gd name="T9" fmla="*/ 0 h 1"/>
                <a:gd name="T10" fmla="*/ 0 w 38"/>
                <a:gd name="T11" fmla="*/ 0 h 1"/>
                <a:gd name="T12" fmla="*/ 0 60000 65536"/>
                <a:gd name="T13" fmla="*/ 0 60000 65536"/>
                <a:gd name="T14" fmla="*/ 0 60000 65536"/>
                <a:gd name="T15" fmla="*/ 0 60000 65536"/>
                <a:gd name="T16" fmla="*/ 0 60000 65536"/>
                <a:gd name="T17" fmla="*/ 0 60000 65536"/>
                <a:gd name="T18" fmla="*/ 0 w 38"/>
                <a:gd name="T19" fmla="*/ 0 h 1"/>
                <a:gd name="T20" fmla="*/ 38 w 38"/>
                <a:gd name="T21" fmla="*/ 1 h 1"/>
              </a:gdLst>
              <a:ahLst/>
              <a:cxnLst>
                <a:cxn ang="T12">
                  <a:pos x="T0" y="T1"/>
                </a:cxn>
                <a:cxn ang="T13">
                  <a:pos x="T2" y="T3"/>
                </a:cxn>
                <a:cxn ang="T14">
                  <a:pos x="T4" y="T5"/>
                </a:cxn>
                <a:cxn ang="T15">
                  <a:pos x="T6" y="T7"/>
                </a:cxn>
                <a:cxn ang="T16">
                  <a:pos x="T8" y="T9"/>
                </a:cxn>
                <a:cxn ang="T17">
                  <a:pos x="T10" y="T11"/>
                </a:cxn>
              </a:cxnLst>
              <a:rect l="T18" t="T19" r="T20" b="T21"/>
              <a:pathLst>
                <a:path w="38" h="1">
                  <a:moveTo>
                    <a:pt x="0" y="0"/>
                  </a:moveTo>
                  <a:lnTo>
                    <a:pt x="37" y="0"/>
                  </a:lnTo>
                  <a:lnTo>
                    <a:pt x="0" y="0"/>
                  </a:lnTo>
                </a:path>
              </a:pathLst>
            </a:custGeom>
            <a:solidFill>
              <a:srgbClr val="0000FF"/>
            </a:solidFill>
            <a:ln w="12700" cap="rnd" cmpd="sng">
              <a:solidFill>
                <a:schemeClr val="tx2"/>
              </a:solidFill>
              <a:prstDash val="solid"/>
              <a:round/>
              <a:headEnd type="none" w="sm" len="sm"/>
              <a:tailEnd type="none" w="sm" len="sm"/>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2" name="Freeform 6895"/>
            <p:cNvSpPr>
              <a:spLocks/>
            </p:cNvSpPr>
            <p:nvPr/>
          </p:nvSpPr>
          <p:spPr bwMode="auto">
            <a:xfrm>
              <a:off x="1651" y="2653"/>
              <a:ext cx="26" cy="28"/>
            </a:xfrm>
            <a:custGeom>
              <a:avLst/>
              <a:gdLst>
                <a:gd name="T0" fmla="*/ 25 w 26"/>
                <a:gd name="T1" fmla="*/ 15 h 28"/>
                <a:gd name="T2" fmla="*/ 0 w 26"/>
                <a:gd name="T3" fmla="*/ 0 h 28"/>
                <a:gd name="T4" fmla="*/ 0 w 26"/>
                <a:gd name="T5" fmla="*/ 27 h 28"/>
                <a:gd name="T6" fmla="*/ 25 w 26"/>
                <a:gd name="T7" fmla="*/ 15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5"/>
                  </a:moveTo>
                  <a:lnTo>
                    <a:pt x="0" y="0"/>
                  </a:lnTo>
                  <a:lnTo>
                    <a:pt x="0" y="27"/>
                  </a:lnTo>
                  <a:lnTo>
                    <a:pt x="25"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3" name="Freeform 6896"/>
            <p:cNvSpPr>
              <a:spLocks/>
            </p:cNvSpPr>
            <p:nvPr/>
          </p:nvSpPr>
          <p:spPr bwMode="auto">
            <a:xfrm>
              <a:off x="1651" y="2647"/>
              <a:ext cx="26" cy="28"/>
            </a:xfrm>
            <a:custGeom>
              <a:avLst/>
              <a:gdLst>
                <a:gd name="T0" fmla="*/ 25 w 26"/>
                <a:gd name="T1" fmla="*/ 27 h 28"/>
                <a:gd name="T2" fmla="*/ 25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12"/>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4" name="Freeform 6897"/>
            <p:cNvSpPr>
              <a:spLocks/>
            </p:cNvSpPr>
            <p:nvPr/>
          </p:nvSpPr>
          <p:spPr bwMode="auto">
            <a:xfrm>
              <a:off x="1663" y="2653"/>
              <a:ext cx="27" cy="28"/>
            </a:xfrm>
            <a:custGeom>
              <a:avLst/>
              <a:gdLst>
                <a:gd name="T0" fmla="*/ 0 w 27"/>
                <a:gd name="T1" fmla="*/ 27 h 28"/>
                <a:gd name="T2" fmla="*/ 0 w 27"/>
                <a:gd name="T3" fmla="*/ 27 h 28"/>
                <a:gd name="T4" fmla="*/ 26 w 27"/>
                <a:gd name="T5" fmla="*/ 0 h 28"/>
                <a:gd name="T6" fmla="*/ 0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27"/>
                  </a:moveTo>
                  <a:lnTo>
                    <a:pt x="0" y="27"/>
                  </a:lnTo>
                  <a:lnTo>
                    <a:pt x="26"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5" name="Line 6898"/>
            <p:cNvSpPr>
              <a:spLocks noChangeShapeType="1"/>
            </p:cNvSpPr>
            <p:nvPr/>
          </p:nvSpPr>
          <p:spPr bwMode="auto">
            <a:xfrm>
              <a:off x="1663" y="2661"/>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6" name="Freeform 6899"/>
            <p:cNvSpPr>
              <a:spLocks/>
            </p:cNvSpPr>
            <p:nvPr/>
          </p:nvSpPr>
          <p:spPr bwMode="auto">
            <a:xfrm>
              <a:off x="1663" y="2647"/>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7" name="Freeform 6900"/>
            <p:cNvSpPr>
              <a:spLocks/>
            </p:cNvSpPr>
            <p:nvPr/>
          </p:nvSpPr>
          <p:spPr bwMode="auto">
            <a:xfrm>
              <a:off x="1663" y="2647"/>
              <a:ext cx="27" cy="28"/>
            </a:xfrm>
            <a:custGeom>
              <a:avLst/>
              <a:gdLst>
                <a:gd name="T0" fmla="*/ 26 w 27"/>
                <a:gd name="T1" fmla="*/ 27 h 28"/>
                <a:gd name="T2" fmla="*/ 26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0"/>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8" name="Freeform 6901"/>
            <p:cNvSpPr>
              <a:spLocks/>
            </p:cNvSpPr>
            <p:nvPr/>
          </p:nvSpPr>
          <p:spPr bwMode="auto">
            <a:xfrm>
              <a:off x="1676"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49" name="Line 6902"/>
            <p:cNvSpPr>
              <a:spLocks noChangeShapeType="1"/>
            </p:cNvSpPr>
            <p:nvPr/>
          </p:nvSpPr>
          <p:spPr bwMode="auto">
            <a:xfrm>
              <a:off x="1676" y="266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0" name="Freeform 6903"/>
            <p:cNvSpPr>
              <a:spLocks/>
            </p:cNvSpPr>
            <p:nvPr/>
          </p:nvSpPr>
          <p:spPr bwMode="auto">
            <a:xfrm>
              <a:off x="1676" y="2647"/>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1" name="Freeform 6904"/>
            <p:cNvSpPr>
              <a:spLocks/>
            </p:cNvSpPr>
            <p:nvPr/>
          </p:nvSpPr>
          <p:spPr bwMode="auto">
            <a:xfrm>
              <a:off x="1676" y="2647"/>
              <a:ext cx="26" cy="28"/>
            </a:xfrm>
            <a:custGeom>
              <a:avLst/>
              <a:gdLst>
                <a:gd name="T0" fmla="*/ 25 w 26"/>
                <a:gd name="T1" fmla="*/ 27 h 28"/>
                <a:gd name="T2" fmla="*/ 25 w 26"/>
                <a:gd name="T3" fmla="*/ 0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0"/>
                  </a:lnTo>
                  <a:lnTo>
                    <a:pt x="0" y="0"/>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2" name="Freeform 6905"/>
            <p:cNvSpPr>
              <a:spLocks/>
            </p:cNvSpPr>
            <p:nvPr/>
          </p:nvSpPr>
          <p:spPr bwMode="auto">
            <a:xfrm>
              <a:off x="1689" y="2653"/>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3" name="Line 6906"/>
            <p:cNvSpPr>
              <a:spLocks noChangeShapeType="1"/>
            </p:cNvSpPr>
            <p:nvPr/>
          </p:nvSpPr>
          <p:spPr bwMode="auto">
            <a:xfrm>
              <a:off x="1689" y="2661"/>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4" name="Freeform 6907"/>
            <p:cNvSpPr>
              <a:spLocks/>
            </p:cNvSpPr>
            <p:nvPr/>
          </p:nvSpPr>
          <p:spPr bwMode="auto">
            <a:xfrm>
              <a:off x="1689" y="2647"/>
              <a:ext cx="24" cy="28"/>
            </a:xfrm>
            <a:custGeom>
              <a:avLst/>
              <a:gdLst>
                <a:gd name="T0" fmla="*/ 23 w 24"/>
                <a:gd name="T1" fmla="*/ 12 h 28"/>
                <a:gd name="T2" fmla="*/ 0 w 24"/>
                <a:gd name="T3" fmla="*/ 0 h 28"/>
                <a:gd name="T4" fmla="*/ 0 w 24"/>
                <a:gd name="T5" fmla="*/ 27 h 28"/>
                <a:gd name="T6" fmla="*/ 23 w 24"/>
                <a:gd name="T7" fmla="*/ 12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2"/>
                  </a:moveTo>
                  <a:lnTo>
                    <a:pt x="0" y="0"/>
                  </a:lnTo>
                  <a:lnTo>
                    <a:pt x="0" y="27"/>
                  </a:lnTo>
                  <a:lnTo>
                    <a:pt x="23"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5" name="Freeform 6908"/>
            <p:cNvSpPr>
              <a:spLocks/>
            </p:cNvSpPr>
            <p:nvPr/>
          </p:nvSpPr>
          <p:spPr bwMode="auto">
            <a:xfrm>
              <a:off x="1689" y="2640"/>
              <a:ext cx="24" cy="28"/>
            </a:xfrm>
            <a:custGeom>
              <a:avLst/>
              <a:gdLst>
                <a:gd name="T0" fmla="*/ 23 w 24"/>
                <a:gd name="T1" fmla="*/ 27 h 28"/>
                <a:gd name="T2" fmla="*/ 23 w 24"/>
                <a:gd name="T3" fmla="*/ 0 h 28"/>
                <a:gd name="T4" fmla="*/ 0 w 24"/>
                <a:gd name="T5" fmla="*/ 13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13"/>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6" name="Freeform 6909"/>
            <p:cNvSpPr>
              <a:spLocks/>
            </p:cNvSpPr>
            <p:nvPr/>
          </p:nvSpPr>
          <p:spPr bwMode="auto">
            <a:xfrm>
              <a:off x="1701"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7" name="Line 6910"/>
            <p:cNvSpPr>
              <a:spLocks noChangeShapeType="1"/>
            </p:cNvSpPr>
            <p:nvPr/>
          </p:nvSpPr>
          <p:spPr bwMode="auto">
            <a:xfrm>
              <a:off x="1701" y="2653"/>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8" name="Freeform 6911"/>
            <p:cNvSpPr>
              <a:spLocks/>
            </p:cNvSpPr>
            <p:nvPr/>
          </p:nvSpPr>
          <p:spPr bwMode="auto">
            <a:xfrm>
              <a:off x="1701" y="2640"/>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59" name="Freeform 6912"/>
            <p:cNvSpPr>
              <a:spLocks/>
            </p:cNvSpPr>
            <p:nvPr/>
          </p:nvSpPr>
          <p:spPr bwMode="auto">
            <a:xfrm>
              <a:off x="1701" y="2640"/>
              <a:ext cx="27" cy="28"/>
            </a:xfrm>
            <a:custGeom>
              <a:avLst/>
              <a:gdLst>
                <a:gd name="T0" fmla="*/ 26 w 27"/>
                <a:gd name="T1" fmla="*/ 27 h 28"/>
                <a:gd name="T2" fmla="*/ 11 w 27"/>
                <a:gd name="T3" fmla="*/ 0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1" y="0"/>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0" name="Freeform 6913"/>
            <p:cNvSpPr>
              <a:spLocks/>
            </p:cNvSpPr>
            <p:nvPr/>
          </p:nvSpPr>
          <p:spPr bwMode="auto">
            <a:xfrm>
              <a:off x="1712" y="2647"/>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1" name="Line 6914"/>
            <p:cNvSpPr>
              <a:spLocks noChangeShapeType="1"/>
            </p:cNvSpPr>
            <p:nvPr/>
          </p:nvSpPr>
          <p:spPr bwMode="auto">
            <a:xfrm>
              <a:off x="1712" y="265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2" name="Freeform 6915"/>
            <p:cNvSpPr>
              <a:spLocks/>
            </p:cNvSpPr>
            <p:nvPr/>
          </p:nvSpPr>
          <p:spPr bwMode="auto">
            <a:xfrm>
              <a:off x="1705" y="2640"/>
              <a:ext cx="25" cy="28"/>
            </a:xfrm>
            <a:custGeom>
              <a:avLst/>
              <a:gdLst>
                <a:gd name="T0" fmla="*/ 24 w 25"/>
                <a:gd name="T1" fmla="*/ 13 h 28"/>
                <a:gd name="T2" fmla="*/ 0 w 25"/>
                <a:gd name="T3" fmla="*/ 0 h 28"/>
                <a:gd name="T4" fmla="*/ 9 w 25"/>
                <a:gd name="T5" fmla="*/ 27 h 28"/>
                <a:gd name="T6" fmla="*/ 24 w 25"/>
                <a:gd name="T7" fmla="*/ 13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13"/>
                  </a:moveTo>
                  <a:lnTo>
                    <a:pt x="0" y="0"/>
                  </a:lnTo>
                  <a:lnTo>
                    <a:pt x="9" y="27"/>
                  </a:lnTo>
                  <a:lnTo>
                    <a:pt x="24"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3" name="Freeform 6916"/>
            <p:cNvSpPr>
              <a:spLocks/>
            </p:cNvSpPr>
            <p:nvPr/>
          </p:nvSpPr>
          <p:spPr bwMode="auto">
            <a:xfrm>
              <a:off x="1705" y="2632"/>
              <a:ext cx="25" cy="27"/>
            </a:xfrm>
            <a:custGeom>
              <a:avLst/>
              <a:gdLst>
                <a:gd name="T0" fmla="*/ 24 w 25"/>
                <a:gd name="T1" fmla="*/ 26 h 27"/>
                <a:gd name="T2" fmla="*/ 16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6" y="0"/>
                  </a:lnTo>
                  <a:lnTo>
                    <a:pt x="0" y="14"/>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4" name="Freeform 6917"/>
            <p:cNvSpPr>
              <a:spLocks/>
            </p:cNvSpPr>
            <p:nvPr/>
          </p:nvSpPr>
          <p:spPr bwMode="auto">
            <a:xfrm>
              <a:off x="1722" y="2640"/>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5" name="Line 6918"/>
            <p:cNvSpPr>
              <a:spLocks noChangeShapeType="1"/>
            </p:cNvSpPr>
            <p:nvPr/>
          </p:nvSpPr>
          <p:spPr bwMode="auto">
            <a:xfrm>
              <a:off x="1722" y="264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6" name="Freeform 6919"/>
            <p:cNvSpPr>
              <a:spLocks/>
            </p:cNvSpPr>
            <p:nvPr/>
          </p:nvSpPr>
          <p:spPr bwMode="auto">
            <a:xfrm>
              <a:off x="1718" y="2632"/>
              <a:ext cx="27" cy="27"/>
            </a:xfrm>
            <a:custGeom>
              <a:avLst/>
              <a:gdLst>
                <a:gd name="T0" fmla="*/ 26 w 27"/>
                <a:gd name="T1" fmla="*/ 14 h 27"/>
                <a:gd name="T2" fmla="*/ 0 w 27"/>
                <a:gd name="T3" fmla="*/ 0 h 27"/>
                <a:gd name="T4" fmla="*/ 8 w 27"/>
                <a:gd name="T5" fmla="*/ 26 h 27"/>
                <a:gd name="T6" fmla="*/ 26 w 27"/>
                <a:gd name="T7" fmla="*/ 14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4"/>
                  </a:moveTo>
                  <a:lnTo>
                    <a:pt x="0" y="0"/>
                  </a:lnTo>
                  <a:lnTo>
                    <a:pt x="8" y="26"/>
                  </a:lnTo>
                  <a:lnTo>
                    <a:pt x="26"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7" name="Freeform 6920"/>
            <p:cNvSpPr>
              <a:spLocks/>
            </p:cNvSpPr>
            <p:nvPr/>
          </p:nvSpPr>
          <p:spPr bwMode="auto">
            <a:xfrm>
              <a:off x="1718" y="2632"/>
              <a:ext cx="27" cy="27"/>
            </a:xfrm>
            <a:custGeom>
              <a:avLst/>
              <a:gdLst>
                <a:gd name="T0" fmla="*/ 26 w 27"/>
                <a:gd name="T1" fmla="*/ 26 h 27"/>
                <a:gd name="T2" fmla="*/ 18 w 27"/>
                <a:gd name="T3" fmla="*/ 0 h 27"/>
                <a:gd name="T4" fmla="*/ 0 w 27"/>
                <a:gd name="T5" fmla="*/ 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0"/>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8" name="Freeform 6921"/>
            <p:cNvSpPr>
              <a:spLocks/>
            </p:cNvSpPr>
            <p:nvPr/>
          </p:nvSpPr>
          <p:spPr bwMode="auto">
            <a:xfrm>
              <a:off x="1736" y="263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69" name="Line 6922"/>
            <p:cNvSpPr>
              <a:spLocks noChangeShapeType="1"/>
            </p:cNvSpPr>
            <p:nvPr/>
          </p:nvSpPr>
          <p:spPr bwMode="auto">
            <a:xfrm>
              <a:off x="1736" y="2640"/>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0" name="Freeform 6923"/>
            <p:cNvSpPr>
              <a:spLocks/>
            </p:cNvSpPr>
            <p:nvPr/>
          </p:nvSpPr>
          <p:spPr bwMode="auto">
            <a:xfrm>
              <a:off x="1731" y="2632"/>
              <a:ext cx="26" cy="27"/>
            </a:xfrm>
            <a:custGeom>
              <a:avLst/>
              <a:gdLst>
                <a:gd name="T0" fmla="*/ 25 w 26"/>
                <a:gd name="T1" fmla="*/ 26 h 27"/>
                <a:gd name="T2" fmla="*/ 0 w 26"/>
                <a:gd name="T3" fmla="*/ 0 h 27"/>
                <a:gd name="T4" fmla="*/ 7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0" y="0"/>
                  </a:lnTo>
                  <a:lnTo>
                    <a:pt x="7" y="26"/>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1" name="Freeform 6924"/>
            <p:cNvSpPr>
              <a:spLocks/>
            </p:cNvSpPr>
            <p:nvPr/>
          </p:nvSpPr>
          <p:spPr bwMode="auto">
            <a:xfrm>
              <a:off x="1731" y="2626"/>
              <a:ext cx="26" cy="27"/>
            </a:xfrm>
            <a:custGeom>
              <a:avLst/>
              <a:gdLst>
                <a:gd name="T0" fmla="*/ 25 w 26"/>
                <a:gd name="T1" fmla="*/ 26 h 27"/>
                <a:gd name="T2" fmla="*/ 15 w 26"/>
                <a:gd name="T3" fmla="*/ 0 h 27"/>
                <a:gd name="T4" fmla="*/ 0 w 26"/>
                <a:gd name="T5" fmla="*/ 11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11"/>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2" name="Freeform 6925"/>
            <p:cNvSpPr>
              <a:spLocks/>
            </p:cNvSpPr>
            <p:nvPr/>
          </p:nvSpPr>
          <p:spPr bwMode="auto">
            <a:xfrm>
              <a:off x="1750"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3" name="Line 6926"/>
            <p:cNvSpPr>
              <a:spLocks noChangeShapeType="1"/>
            </p:cNvSpPr>
            <p:nvPr/>
          </p:nvSpPr>
          <p:spPr bwMode="auto">
            <a:xfrm>
              <a:off x="1750" y="2640"/>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4" name="Freeform 6927"/>
            <p:cNvSpPr>
              <a:spLocks/>
            </p:cNvSpPr>
            <p:nvPr/>
          </p:nvSpPr>
          <p:spPr bwMode="auto">
            <a:xfrm>
              <a:off x="1742" y="2626"/>
              <a:ext cx="26" cy="27"/>
            </a:xfrm>
            <a:custGeom>
              <a:avLst/>
              <a:gdLst>
                <a:gd name="T0" fmla="*/ 25 w 26"/>
                <a:gd name="T1" fmla="*/ 11 h 27"/>
                <a:gd name="T2" fmla="*/ 0 w 26"/>
                <a:gd name="T3" fmla="*/ 0 h 27"/>
                <a:gd name="T4" fmla="*/ 9 w 26"/>
                <a:gd name="T5" fmla="*/ 26 h 27"/>
                <a:gd name="T6" fmla="*/ 25 w 26"/>
                <a:gd name="T7" fmla="*/ 11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1"/>
                  </a:moveTo>
                  <a:lnTo>
                    <a:pt x="0" y="0"/>
                  </a:lnTo>
                  <a:lnTo>
                    <a:pt x="9" y="26"/>
                  </a:lnTo>
                  <a:lnTo>
                    <a:pt x="25"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5" name="Freeform 6928"/>
            <p:cNvSpPr>
              <a:spLocks/>
            </p:cNvSpPr>
            <p:nvPr/>
          </p:nvSpPr>
          <p:spPr bwMode="auto">
            <a:xfrm>
              <a:off x="1742" y="2619"/>
              <a:ext cx="26" cy="27"/>
            </a:xfrm>
            <a:custGeom>
              <a:avLst/>
              <a:gdLst>
                <a:gd name="T0" fmla="*/ 25 w 26"/>
                <a:gd name="T1" fmla="*/ 26 h 27"/>
                <a:gd name="T2" fmla="*/ 17 w 26"/>
                <a:gd name="T3" fmla="*/ 0 h 27"/>
                <a:gd name="T4" fmla="*/ 0 w 26"/>
                <a:gd name="T5" fmla="*/ 13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7" y="0"/>
                  </a:lnTo>
                  <a:lnTo>
                    <a:pt x="0" y="13"/>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6" name="Freeform 6929"/>
            <p:cNvSpPr>
              <a:spLocks/>
            </p:cNvSpPr>
            <p:nvPr/>
          </p:nvSpPr>
          <p:spPr bwMode="auto">
            <a:xfrm>
              <a:off x="1759" y="2626"/>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7" name="Line 6930"/>
            <p:cNvSpPr>
              <a:spLocks noChangeShapeType="1"/>
            </p:cNvSpPr>
            <p:nvPr/>
          </p:nvSpPr>
          <p:spPr bwMode="auto">
            <a:xfrm>
              <a:off x="1759" y="2632"/>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8" name="Freeform 6931"/>
            <p:cNvSpPr>
              <a:spLocks/>
            </p:cNvSpPr>
            <p:nvPr/>
          </p:nvSpPr>
          <p:spPr bwMode="auto">
            <a:xfrm>
              <a:off x="1754" y="2619"/>
              <a:ext cx="27" cy="27"/>
            </a:xfrm>
            <a:custGeom>
              <a:avLst/>
              <a:gdLst>
                <a:gd name="T0" fmla="*/ 26 w 27"/>
                <a:gd name="T1" fmla="*/ 13 h 27"/>
                <a:gd name="T2" fmla="*/ 0 w 27"/>
                <a:gd name="T3" fmla="*/ 0 h 27"/>
                <a:gd name="T4" fmla="*/ 8 w 27"/>
                <a:gd name="T5" fmla="*/ 26 h 27"/>
                <a:gd name="T6" fmla="*/ 26 w 27"/>
                <a:gd name="T7" fmla="*/ 13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3"/>
                  </a:moveTo>
                  <a:lnTo>
                    <a:pt x="0" y="0"/>
                  </a:lnTo>
                  <a:lnTo>
                    <a:pt x="8" y="26"/>
                  </a:lnTo>
                  <a:lnTo>
                    <a:pt x="26"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79" name="Freeform 6932"/>
            <p:cNvSpPr>
              <a:spLocks/>
            </p:cNvSpPr>
            <p:nvPr/>
          </p:nvSpPr>
          <p:spPr bwMode="auto">
            <a:xfrm>
              <a:off x="1754" y="2611"/>
              <a:ext cx="27" cy="27"/>
            </a:xfrm>
            <a:custGeom>
              <a:avLst/>
              <a:gdLst>
                <a:gd name="T0" fmla="*/ 26 w 27"/>
                <a:gd name="T1" fmla="*/ 26 h 27"/>
                <a:gd name="T2" fmla="*/ 18 w 27"/>
                <a:gd name="T3" fmla="*/ 0 h 27"/>
                <a:gd name="T4" fmla="*/ 0 w 27"/>
                <a:gd name="T5" fmla="*/ 14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8" y="0"/>
                  </a:lnTo>
                  <a:lnTo>
                    <a:pt x="0" y="14"/>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0" name="Freeform 6933"/>
            <p:cNvSpPr>
              <a:spLocks/>
            </p:cNvSpPr>
            <p:nvPr/>
          </p:nvSpPr>
          <p:spPr bwMode="auto">
            <a:xfrm>
              <a:off x="1774" y="2619"/>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1" name="Line 6934"/>
            <p:cNvSpPr>
              <a:spLocks noChangeShapeType="1"/>
            </p:cNvSpPr>
            <p:nvPr/>
          </p:nvSpPr>
          <p:spPr bwMode="auto">
            <a:xfrm>
              <a:off x="1774" y="2626"/>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2" name="Freeform 6935"/>
            <p:cNvSpPr>
              <a:spLocks/>
            </p:cNvSpPr>
            <p:nvPr/>
          </p:nvSpPr>
          <p:spPr bwMode="auto">
            <a:xfrm>
              <a:off x="1767" y="2611"/>
              <a:ext cx="26" cy="27"/>
            </a:xfrm>
            <a:custGeom>
              <a:avLst/>
              <a:gdLst>
                <a:gd name="T0" fmla="*/ 25 w 26"/>
                <a:gd name="T1" fmla="*/ 14 h 27"/>
                <a:gd name="T2" fmla="*/ 0 w 26"/>
                <a:gd name="T3" fmla="*/ 0 h 27"/>
                <a:gd name="T4" fmla="*/ 7 w 26"/>
                <a:gd name="T5" fmla="*/ 26 h 27"/>
                <a:gd name="T6" fmla="*/ 25 w 26"/>
                <a:gd name="T7" fmla="*/ 14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14"/>
                  </a:moveTo>
                  <a:lnTo>
                    <a:pt x="0" y="0"/>
                  </a:lnTo>
                  <a:lnTo>
                    <a:pt x="7" y="26"/>
                  </a:lnTo>
                  <a:lnTo>
                    <a:pt x="25"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3" name="Freeform 6936"/>
            <p:cNvSpPr>
              <a:spLocks/>
            </p:cNvSpPr>
            <p:nvPr/>
          </p:nvSpPr>
          <p:spPr bwMode="auto">
            <a:xfrm>
              <a:off x="1767" y="2604"/>
              <a:ext cx="26" cy="28"/>
            </a:xfrm>
            <a:custGeom>
              <a:avLst/>
              <a:gdLst>
                <a:gd name="T0" fmla="*/ 25 w 26"/>
                <a:gd name="T1" fmla="*/ 27 h 28"/>
                <a:gd name="T2" fmla="*/ 17 w 26"/>
                <a:gd name="T3" fmla="*/ 0 h 28"/>
                <a:gd name="T4" fmla="*/ 0 w 26"/>
                <a:gd name="T5" fmla="*/ 12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17" y="0"/>
                  </a:lnTo>
                  <a:lnTo>
                    <a:pt x="0" y="12"/>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4" name="Freeform 6937"/>
            <p:cNvSpPr>
              <a:spLocks/>
            </p:cNvSpPr>
            <p:nvPr/>
          </p:nvSpPr>
          <p:spPr bwMode="auto">
            <a:xfrm>
              <a:off x="1785" y="2604"/>
              <a:ext cx="1" cy="28"/>
            </a:xfrm>
            <a:custGeom>
              <a:avLst/>
              <a:gdLst>
                <a:gd name="T0" fmla="*/ 0 w 1"/>
                <a:gd name="T1" fmla="*/ 12 h 28"/>
                <a:gd name="T2" fmla="*/ 0 w 1"/>
                <a:gd name="T3" fmla="*/ 27 h 28"/>
                <a:gd name="T4" fmla="*/ 0 w 1"/>
                <a:gd name="T5" fmla="*/ 0 h 28"/>
                <a:gd name="T6" fmla="*/ 0 w 1"/>
                <a:gd name="T7" fmla="*/ 12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12"/>
                  </a:moveTo>
                  <a:lnTo>
                    <a:pt x="0" y="27"/>
                  </a:lnTo>
                  <a:lnTo>
                    <a:pt x="0" y="0"/>
                  </a:lnTo>
                  <a:lnTo>
                    <a:pt x="0"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5" name="Freeform 6938"/>
            <p:cNvSpPr>
              <a:spLocks/>
            </p:cNvSpPr>
            <p:nvPr/>
          </p:nvSpPr>
          <p:spPr bwMode="auto">
            <a:xfrm>
              <a:off x="1785" y="2611"/>
              <a:ext cx="1" cy="27"/>
            </a:xfrm>
            <a:custGeom>
              <a:avLst/>
              <a:gdLst>
                <a:gd name="T0" fmla="*/ 0 w 1"/>
                <a:gd name="T1" fmla="*/ 0 h 27"/>
                <a:gd name="T2" fmla="*/ 0 w 1"/>
                <a:gd name="T3" fmla="*/ 26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6" name="Freeform 6939"/>
            <p:cNvSpPr>
              <a:spLocks/>
            </p:cNvSpPr>
            <p:nvPr/>
          </p:nvSpPr>
          <p:spPr bwMode="auto">
            <a:xfrm>
              <a:off x="1781" y="2604"/>
              <a:ext cx="26" cy="28"/>
            </a:xfrm>
            <a:custGeom>
              <a:avLst/>
              <a:gdLst>
                <a:gd name="T0" fmla="*/ 25 w 26"/>
                <a:gd name="T1" fmla="*/ 0 h 28"/>
                <a:gd name="T2" fmla="*/ 0 w 26"/>
                <a:gd name="T3" fmla="*/ 0 h 28"/>
                <a:gd name="T4" fmla="*/ 7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7"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7" name="Freeform 6940"/>
            <p:cNvSpPr>
              <a:spLocks/>
            </p:cNvSpPr>
            <p:nvPr/>
          </p:nvSpPr>
          <p:spPr bwMode="auto">
            <a:xfrm>
              <a:off x="1781" y="2598"/>
              <a:ext cx="26" cy="27"/>
            </a:xfrm>
            <a:custGeom>
              <a:avLst/>
              <a:gdLst>
                <a:gd name="T0" fmla="*/ 25 w 26"/>
                <a:gd name="T1" fmla="*/ 26 h 27"/>
                <a:gd name="T2" fmla="*/ 15 w 26"/>
                <a:gd name="T3" fmla="*/ 0 h 27"/>
                <a:gd name="T4" fmla="*/ 0 w 26"/>
                <a:gd name="T5" fmla="*/ 26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15" y="0"/>
                  </a:lnTo>
                  <a:lnTo>
                    <a:pt x="0" y="26"/>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8" name="Freeform 6941"/>
            <p:cNvSpPr>
              <a:spLocks/>
            </p:cNvSpPr>
            <p:nvPr/>
          </p:nvSpPr>
          <p:spPr bwMode="auto">
            <a:xfrm>
              <a:off x="1797" y="25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89" name="Line 6942"/>
            <p:cNvSpPr>
              <a:spLocks noChangeShapeType="1"/>
            </p:cNvSpPr>
            <p:nvPr/>
          </p:nvSpPr>
          <p:spPr bwMode="auto">
            <a:xfrm>
              <a:off x="1797" y="2604"/>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0" name="Freeform 6943"/>
            <p:cNvSpPr>
              <a:spLocks/>
            </p:cNvSpPr>
            <p:nvPr/>
          </p:nvSpPr>
          <p:spPr bwMode="auto">
            <a:xfrm>
              <a:off x="1792" y="2598"/>
              <a:ext cx="24" cy="27"/>
            </a:xfrm>
            <a:custGeom>
              <a:avLst/>
              <a:gdLst>
                <a:gd name="T0" fmla="*/ 23 w 24"/>
                <a:gd name="T1" fmla="*/ 0 h 27"/>
                <a:gd name="T2" fmla="*/ 0 w 24"/>
                <a:gd name="T3" fmla="*/ 0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0"/>
                  </a:lnTo>
                  <a:lnTo>
                    <a:pt x="8"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1" name="Freeform 6944"/>
            <p:cNvSpPr>
              <a:spLocks/>
            </p:cNvSpPr>
            <p:nvPr/>
          </p:nvSpPr>
          <p:spPr bwMode="auto">
            <a:xfrm>
              <a:off x="1792" y="2584"/>
              <a:ext cx="24" cy="26"/>
            </a:xfrm>
            <a:custGeom>
              <a:avLst/>
              <a:gdLst>
                <a:gd name="T0" fmla="*/ 23 w 24"/>
                <a:gd name="T1" fmla="*/ 25 h 26"/>
                <a:gd name="T2" fmla="*/ 8 w 24"/>
                <a:gd name="T3" fmla="*/ 0 h 26"/>
                <a:gd name="T4" fmla="*/ 0 w 24"/>
                <a:gd name="T5" fmla="*/ 25 h 26"/>
                <a:gd name="T6" fmla="*/ 23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25"/>
                  </a:moveTo>
                  <a:lnTo>
                    <a:pt x="8" y="0"/>
                  </a:lnTo>
                  <a:lnTo>
                    <a:pt x="0" y="25"/>
                  </a:lnTo>
                  <a:lnTo>
                    <a:pt x="23"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2" name="Freeform 6945"/>
            <p:cNvSpPr>
              <a:spLocks/>
            </p:cNvSpPr>
            <p:nvPr/>
          </p:nvSpPr>
          <p:spPr bwMode="auto">
            <a:xfrm>
              <a:off x="1805" y="2589"/>
              <a:ext cx="26" cy="28"/>
            </a:xfrm>
            <a:custGeom>
              <a:avLst/>
              <a:gdLst>
                <a:gd name="T0" fmla="*/ 25 w 26"/>
                <a:gd name="T1" fmla="*/ 27 h 28"/>
                <a:gd name="T2" fmla="*/ 25 w 26"/>
                <a:gd name="T3" fmla="*/ 27 h 28"/>
                <a:gd name="T4" fmla="*/ 0 w 26"/>
                <a:gd name="T5" fmla="*/ 0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25" y="27"/>
                  </a:lnTo>
                  <a:lnTo>
                    <a:pt x="0" y="0"/>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3" name="Line 6946"/>
            <p:cNvSpPr>
              <a:spLocks noChangeShapeType="1"/>
            </p:cNvSpPr>
            <p:nvPr/>
          </p:nvSpPr>
          <p:spPr bwMode="auto">
            <a:xfrm>
              <a:off x="1809" y="2598"/>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4" name="Freeform 6947"/>
            <p:cNvSpPr>
              <a:spLocks/>
            </p:cNvSpPr>
            <p:nvPr/>
          </p:nvSpPr>
          <p:spPr bwMode="auto">
            <a:xfrm>
              <a:off x="1797" y="2584"/>
              <a:ext cx="27" cy="26"/>
            </a:xfrm>
            <a:custGeom>
              <a:avLst/>
              <a:gdLst>
                <a:gd name="T0" fmla="*/ 26 w 27"/>
                <a:gd name="T1" fmla="*/ 0 h 26"/>
                <a:gd name="T2" fmla="*/ 0 w 27"/>
                <a:gd name="T3" fmla="*/ 0 h 26"/>
                <a:gd name="T4" fmla="*/ 12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0"/>
                  </a:lnTo>
                  <a:lnTo>
                    <a:pt x="12" y="2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5" name="Freeform 6948"/>
            <p:cNvSpPr>
              <a:spLocks/>
            </p:cNvSpPr>
            <p:nvPr/>
          </p:nvSpPr>
          <p:spPr bwMode="auto">
            <a:xfrm>
              <a:off x="1797" y="2576"/>
              <a:ext cx="27" cy="28"/>
            </a:xfrm>
            <a:custGeom>
              <a:avLst/>
              <a:gdLst>
                <a:gd name="T0" fmla="*/ 26 w 27"/>
                <a:gd name="T1" fmla="*/ 27 h 28"/>
                <a:gd name="T2" fmla="*/ 12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2"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6" name="Freeform 6949"/>
            <p:cNvSpPr>
              <a:spLocks/>
            </p:cNvSpPr>
            <p:nvPr/>
          </p:nvSpPr>
          <p:spPr bwMode="auto">
            <a:xfrm>
              <a:off x="1815" y="2576"/>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7" name="Line 6950"/>
            <p:cNvSpPr>
              <a:spLocks noChangeShapeType="1"/>
            </p:cNvSpPr>
            <p:nvPr/>
          </p:nvSpPr>
          <p:spPr bwMode="auto">
            <a:xfrm>
              <a:off x="1823" y="2584"/>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8" name="Freeform 6951"/>
            <p:cNvSpPr>
              <a:spLocks/>
            </p:cNvSpPr>
            <p:nvPr/>
          </p:nvSpPr>
          <p:spPr bwMode="auto">
            <a:xfrm>
              <a:off x="1809" y="2568"/>
              <a:ext cx="27" cy="28"/>
            </a:xfrm>
            <a:custGeom>
              <a:avLst/>
              <a:gdLst>
                <a:gd name="T0" fmla="*/ 26 w 27"/>
                <a:gd name="T1" fmla="*/ 0 h 28"/>
                <a:gd name="T2" fmla="*/ 0 w 27"/>
                <a:gd name="T3" fmla="*/ 15 h 28"/>
                <a:gd name="T4" fmla="*/ 13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3"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599" name="Freeform 6952"/>
            <p:cNvSpPr>
              <a:spLocks/>
            </p:cNvSpPr>
            <p:nvPr/>
          </p:nvSpPr>
          <p:spPr bwMode="auto">
            <a:xfrm>
              <a:off x="1809" y="2562"/>
              <a:ext cx="27" cy="27"/>
            </a:xfrm>
            <a:custGeom>
              <a:avLst/>
              <a:gdLst>
                <a:gd name="T0" fmla="*/ 26 w 27"/>
                <a:gd name="T1" fmla="*/ 11 h 27"/>
                <a:gd name="T2" fmla="*/ 13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3" y="0"/>
                  </a:lnTo>
                  <a:lnTo>
                    <a:pt x="0" y="26"/>
                  </a:lnTo>
                  <a:lnTo>
                    <a:pt x="26"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0" name="Freeform 6953"/>
            <p:cNvSpPr>
              <a:spLocks/>
            </p:cNvSpPr>
            <p:nvPr/>
          </p:nvSpPr>
          <p:spPr bwMode="auto">
            <a:xfrm>
              <a:off x="1828" y="2562"/>
              <a:ext cx="26" cy="27"/>
            </a:xfrm>
            <a:custGeom>
              <a:avLst/>
              <a:gdLst>
                <a:gd name="T0" fmla="*/ 25 w 26"/>
                <a:gd name="T1" fmla="*/ 26 h 27"/>
                <a:gd name="T2" fmla="*/ 25 w 26"/>
                <a:gd name="T3" fmla="*/ 26 h 27"/>
                <a:gd name="T4" fmla="*/ 0 w 26"/>
                <a:gd name="T5" fmla="*/ 0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26"/>
                  </a:lnTo>
                  <a:lnTo>
                    <a:pt x="0" y="0"/>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1" name="Line 6954"/>
            <p:cNvSpPr>
              <a:spLocks noChangeShapeType="1"/>
            </p:cNvSpPr>
            <p:nvPr/>
          </p:nvSpPr>
          <p:spPr bwMode="auto">
            <a:xfrm>
              <a:off x="1835" y="25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2" name="Freeform 6955"/>
            <p:cNvSpPr>
              <a:spLocks/>
            </p:cNvSpPr>
            <p:nvPr/>
          </p:nvSpPr>
          <p:spPr bwMode="auto">
            <a:xfrm>
              <a:off x="1823" y="2556"/>
              <a:ext cx="25" cy="26"/>
            </a:xfrm>
            <a:custGeom>
              <a:avLst/>
              <a:gdLst>
                <a:gd name="T0" fmla="*/ 24 w 25"/>
                <a:gd name="T1" fmla="*/ 0 h 26"/>
                <a:gd name="T2" fmla="*/ 0 w 25"/>
                <a:gd name="T3" fmla="*/ 12 h 26"/>
                <a:gd name="T4" fmla="*/ 12 w 25"/>
                <a:gd name="T5" fmla="*/ 25 h 26"/>
                <a:gd name="T6" fmla="*/ 24 w 25"/>
                <a:gd name="T7" fmla="*/ 0 h 26"/>
                <a:gd name="T8" fmla="*/ 0 60000 65536"/>
                <a:gd name="T9" fmla="*/ 0 60000 65536"/>
                <a:gd name="T10" fmla="*/ 0 60000 65536"/>
                <a:gd name="T11" fmla="*/ 0 60000 65536"/>
                <a:gd name="T12" fmla="*/ 0 w 25"/>
                <a:gd name="T13" fmla="*/ 0 h 26"/>
                <a:gd name="T14" fmla="*/ 25 w 25"/>
                <a:gd name="T15" fmla="*/ 26 h 26"/>
              </a:gdLst>
              <a:ahLst/>
              <a:cxnLst>
                <a:cxn ang="T8">
                  <a:pos x="T0" y="T1"/>
                </a:cxn>
                <a:cxn ang="T9">
                  <a:pos x="T2" y="T3"/>
                </a:cxn>
                <a:cxn ang="T10">
                  <a:pos x="T4" y="T5"/>
                </a:cxn>
                <a:cxn ang="T11">
                  <a:pos x="T6" y="T7"/>
                </a:cxn>
              </a:cxnLst>
              <a:rect l="T12" t="T13" r="T14" b="T15"/>
              <a:pathLst>
                <a:path w="25" h="26">
                  <a:moveTo>
                    <a:pt x="24" y="0"/>
                  </a:moveTo>
                  <a:lnTo>
                    <a:pt x="0" y="12"/>
                  </a:lnTo>
                  <a:lnTo>
                    <a:pt x="12" y="25"/>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3" name="Freeform 6956"/>
            <p:cNvSpPr>
              <a:spLocks/>
            </p:cNvSpPr>
            <p:nvPr/>
          </p:nvSpPr>
          <p:spPr bwMode="auto">
            <a:xfrm>
              <a:off x="1823" y="2547"/>
              <a:ext cx="25" cy="27"/>
            </a:xfrm>
            <a:custGeom>
              <a:avLst/>
              <a:gdLst>
                <a:gd name="T0" fmla="*/ 24 w 25"/>
                <a:gd name="T1" fmla="*/ 14 h 27"/>
                <a:gd name="T2" fmla="*/ 12 w 25"/>
                <a:gd name="T3" fmla="*/ 0 h 27"/>
                <a:gd name="T4" fmla="*/ 0 w 25"/>
                <a:gd name="T5" fmla="*/ 26 h 27"/>
                <a:gd name="T6" fmla="*/ 24 w 25"/>
                <a:gd name="T7" fmla="*/ 14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14"/>
                  </a:moveTo>
                  <a:lnTo>
                    <a:pt x="12" y="0"/>
                  </a:lnTo>
                  <a:lnTo>
                    <a:pt x="0" y="26"/>
                  </a:lnTo>
                  <a:lnTo>
                    <a:pt x="24" y="14"/>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4" name="Freeform 6957"/>
            <p:cNvSpPr>
              <a:spLocks/>
            </p:cNvSpPr>
            <p:nvPr/>
          </p:nvSpPr>
          <p:spPr bwMode="auto">
            <a:xfrm>
              <a:off x="1842" y="2547"/>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5" name="Line 6958"/>
            <p:cNvSpPr>
              <a:spLocks noChangeShapeType="1"/>
            </p:cNvSpPr>
            <p:nvPr/>
          </p:nvSpPr>
          <p:spPr bwMode="auto">
            <a:xfrm>
              <a:off x="1846" y="2556"/>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6" name="Freeform 6959"/>
            <p:cNvSpPr>
              <a:spLocks/>
            </p:cNvSpPr>
            <p:nvPr/>
          </p:nvSpPr>
          <p:spPr bwMode="auto">
            <a:xfrm>
              <a:off x="1835" y="2541"/>
              <a:ext cx="27" cy="27"/>
            </a:xfrm>
            <a:custGeom>
              <a:avLst/>
              <a:gdLst>
                <a:gd name="T0" fmla="*/ 26 w 27"/>
                <a:gd name="T1" fmla="*/ 0 h 27"/>
                <a:gd name="T2" fmla="*/ 0 w 27"/>
                <a:gd name="T3" fmla="*/ 11 h 27"/>
                <a:gd name="T4" fmla="*/ 12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0" y="11"/>
                  </a:lnTo>
                  <a:lnTo>
                    <a:pt x="12" y="26"/>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7" name="Freeform 6960"/>
            <p:cNvSpPr>
              <a:spLocks/>
            </p:cNvSpPr>
            <p:nvPr/>
          </p:nvSpPr>
          <p:spPr bwMode="auto">
            <a:xfrm>
              <a:off x="1835" y="2532"/>
              <a:ext cx="27" cy="28"/>
            </a:xfrm>
            <a:custGeom>
              <a:avLst/>
              <a:gdLst>
                <a:gd name="T0" fmla="*/ 26 w 27"/>
                <a:gd name="T1" fmla="*/ 15 h 28"/>
                <a:gd name="T2" fmla="*/ 12 w 27"/>
                <a:gd name="T3" fmla="*/ 0 h 28"/>
                <a:gd name="T4" fmla="*/ 0 w 27"/>
                <a:gd name="T5" fmla="*/ 27 h 28"/>
                <a:gd name="T6" fmla="*/ 26 w 27"/>
                <a:gd name="T7" fmla="*/ 15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5"/>
                  </a:moveTo>
                  <a:lnTo>
                    <a:pt x="12" y="0"/>
                  </a:lnTo>
                  <a:lnTo>
                    <a:pt x="0" y="27"/>
                  </a:lnTo>
                  <a:lnTo>
                    <a:pt x="26"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8" name="Freeform 6961"/>
            <p:cNvSpPr>
              <a:spLocks/>
            </p:cNvSpPr>
            <p:nvPr/>
          </p:nvSpPr>
          <p:spPr bwMode="auto">
            <a:xfrm>
              <a:off x="1853" y="2532"/>
              <a:ext cx="29" cy="28"/>
            </a:xfrm>
            <a:custGeom>
              <a:avLst/>
              <a:gdLst>
                <a:gd name="T0" fmla="*/ 28 w 29"/>
                <a:gd name="T1" fmla="*/ 27 h 28"/>
                <a:gd name="T2" fmla="*/ 28 w 29"/>
                <a:gd name="T3" fmla="*/ 27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27"/>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09" name="Line 6962"/>
            <p:cNvSpPr>
              <a:spLocks noChangeShapeType="1"/>
            </p:cNvSpPr>
            <p:nvPr/>
          </p:nvSpPr>
          <p:spPr bwMode="auto">
            <a:xfrm>
              <a:off x="1861" y="25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0" name="Freeform 6963"/>
            <p:cNvSpPr>
              <a:spLocks/>
            </p:cNvSpPr>
            <p:nvPr/>
          </p:nvSpPr>
          <p:spPr bwMode="auto">
            <a:xfrm>
              <a:off x="1846" y="2527"/>
              <a:ext cx="27" cy="26"/>
            </a:xfrm>
            <a:custGeom>
              <a:avLst/>
              <a:gdLst>
                <a:gd name="T0" fmla="*/ 26 w 27"/>
                <a:gd name="T1" fmla="*/ 0 h 26"/>
                <a:gd name="T2" fmla="*/ 0 w 27"/>
                <a:gd name="T3" fmla="*/ 11 h 26"/>
                <a:gd name="T4" fmla="*/ 16 w 27"/>
                <a:gd name="T5" fmla="*/ 25 h 26"/>
                <a:gd name="T6" fmla="*/ 26 w 27"/>
                <a:gd name="T7" fmla="*/ 0 h 26"/>
                <a:gd name="T8" fmla="*/ 0 60000 65536"/>
                <a:gd name="T9" fmla="*/ 0 60000 65536"/>
                <a:gd name="T10" fmla="*/ 0 60000 65536"/>
                <a:gd name="T11" fmla="*/ 0 60000 65536"/>
                <a:gd name="T12" fmla="*/ 0 w 27"/>
                <a:gd name="T13" fmla="*/ 0 h 26"/>
                <a:gd name="T14" fmla="*/ 27 w 27"/>
                <a:gd name="T15" fmla="*/ 26 h 26"/>
              </a:gdLst>
              <a:ahLst/>
              <a:cxnLst>
                <a:cxn ang="T8">
                  <a:pos x="T0" y="T1"/>
                </a:cxn>
                <a:cxn ang="T9">
                  <a:pos x="T2" y="T3"/>
                </a:cxn>
                <a:cxn ang="T10">
                  <a:pos x="T4" y="T5"/>
                </a:cxn>
                <a:cxn ang="T11">
                  <a:pos x="T6" y="T7"/>
                </a:cxn>
              </a:cxnLst>
              <a:rect l="T12" t="T13" r="T14" b="T15"/>
              <a:pathLst>
                <a:path w="27" h="26">
                  <a:moveTo>
                    <a:pt x="26" y="0"/>
                  </a:moveTo>
                  <a:lnTo>
                    <a:pt x="0" y="11"/>
                  </a:lnTo>
                  <a:lnTo>
                    <a:pt x="16" y="2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1" name="Freeform 6964"/>
            <p:cNvSpPr>
              <a:spLocks/>
            </p:cNvSpPr>
            <p:nvPr/>
          </p:nvSpPr>
          <p:spPr bwMode="auto">
            <a:xfrm>
              <a:off x="1846" y="2519"/>
              <a:ext cx="27" cy="28"/>
            </a:xfrm>
            <a:custGeom>
              <a:avLst/>
              <a:gdLst>
                <a:gd name="T0" fmla="*/ 26 w 27"/>
                <a:gd name="T1" fmla="*/ 13 h 28"/>
                <a:gd name="T2" fmla="*/ 16 w 27"/>
                <a:gd name="T3" fmla="*/ 0 h 28"/>
                <a:gd name="T4" fmla="*/ 0 w 27"/>
                <a:gd name="T5" fmla="*/ 27 h 28"/>
                <a:gd name="T6" fmla="*/ 26 w 27"/>
                <a:gd name="T7" fmla="*/ 13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13"/>
                  </a:moveTo>
                  <a:lnTo>
                    <a:pt x="16" y="0"/>
                  </a:lnTo>
                  <a:lnTo>
                    <a:pt x="0" y="27"/>
                  </a:lnTo>
                  <a:lnTo>
                    <a:pt x="26" y="1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2" name="Freeform 6965"/>
            <p:cNvSpPr>
              <a:spLocks/>
            </p:cNvSpPr>
            <p:nvPr/>
          </p:nvSpPr>
          <p:spPr bwMode="auto">
            <a:xfrm>
              <a:off x="1868" y="251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3" name="Line 6966"/>
            <p:cNvSpPr>
              <a:spLocks noChangeShapeType="1"/>
            </p:cNvSpPr>
            <p:nvPr/>
          </p:nvSpPr>
          <p:spPr bwMode="auto">
            <a:xfrm>
              <a:off x="1868" y="252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4" name="Freeform 6967"/>
            <p:cNvSpPr>
              <a:spLocks/>
            </p:cNvSpPr>
            <p:nvPr/>
          </p:nvSpPr>
          <p:spPr bwMode="auto">
            <a:xfrm>
              <a:off x="1861" y="2505"/>
              <a:ext cx="24" cy="26"/>
            </a:xfrm>
            <a:custGeom>
              <a:avLst/>
              <a:gdLst>
                <a:gd name="T0" fmla="*/ 23 w 24"/>
                <a:gd name="T1" fmla="*/ 0 h 26"/>
                <a:gd name="T2" fmla="*/ 0 w 24"/>
                <a:gd name="T3" fmla="*/ 17 h 26"/>
                <a:gd name="T4" fmla="*/ 8 w 24"/>
                <a:gd name="T5" fmla="*/ 25 h 26"/>
                <a:gd name="T6" fmla="*/ 23 w 24"/>
                <a:gd name="T7" fmla="*/ 0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0"/>
                  </a:moveTo>
                  <a:lnTo>
                    <a:pt x="0" y="17"/>
                  </a:lnTo>
                  <a:lnTo>
                    <a:pt x="8" y="25"/>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5" name="Freeform 6968"/>
            <p:cNvSpPr>
              <a:spLocks/>
            </p:cNvSpPr>
            <p:nvPr/>
          </p:nvSpPr>
          <p:spPr bwMode="auto">
            <a:xfrm>
              <a:off x="1861" y="2498"/>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6" name="Freeform 6969"/>
            <p:cNvSpPr>
              <a:spLocks/>
            </p:cNvSpPr>
            <p:nvPr/>
          </p:nvSpPr>
          <p:spPr bwMode="auto">
            <a:xfrm>
              <a:off x="1880" y="2498"/>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7" name="Line 6970"/>
            <p:cNvSpPr>
              <a:spLocks noChangeShapeType="1"/>
            </p:cNvSpPr>
            <p:nvPr/>
          </p:nvSpPr>
          <p:spPr bwMode="auto">
            <a:xfrm>
              <a:off x="1880" y="2505"/>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8" name="Freeform 6971"/>
            <p:cNvSpPr>
              <a:spLocks/>
            </p:cNvSpPr>
            <p:nvPr/>
          </p:nvSpPr>
          <p:spPr bwMode="auto">
            <a:xfrm>
              <a:off x="1872" y="2489"/>
              <a:ext cx="28" cy="28"/>
            </a:xfrm>
            <a:custGeom>
              <a:avLst/>
              <a:gdLst>
                <a:gd name="T0" fmla="*/ 27 w 28"/>
                <a:gd name="T1" fmla="*/ 0 h 28"/>
                <a:gd name="T2" fmla="*/ 0 w 28"/>
                <a:gd name="T3" fmla="*/ 15 h 28"/>
                <a:gd name="T4" fmla="*/ 8 w 28"/>
                <a:gd name="T5" fmla="*/ 27 h 28"/>
                <a:gd name="T6" fmla="*/ 27 w 28"/>
                <a:gd name="T7" fmla="*/ 0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0"/>
                  </a:moveTo>
                  <a:lnTo>
                    <a:pt x="0" y="15"/>
                  </a:lnTo>
                  <a:lnTo>
                    <a:pt x="8" y="27"/>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19" name="Freeform 6972"/>
            <p:cNvSpPr>
              <a:spLocks/>
            </p:cNvSpPr>
            <p:nvPr/>
          </p:nvSpPr>
          <p:spPr bwMode="auto">
            <a:xfrm>
              <a:off x="1872" y="2484"/>
              <a:ext cx="28" cy="26"/>
            </a:xfrm>
            <a:custGeom>
              <a:avLst/>
              <a:gdLst>
                <a:gd name="T0" fmla="*/ 27 w 28"/>
                <a:gd name="T1" fmla="*/ 11 h 26"/>
                <a:gd name="T2" fmla="*/ 18 w 28"/>
                <a:gd name="T3" fmla="*/ 0 h 26"/>
                <a:gd name="T4" fmla="*/ 0 w 28"/>
                <a:gd name="T5" fmla="*/ 25 h 26"/>
                <a:gd name="T6" fmla="*/ 27 w 28"/>
                <a:gd name="T7" fmla="*/ 11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11"/>
                  </a:moveTo>
                  <a:lnTo>
                    <a:pt x="18" y="0"/>
                  </a:lnTo>
                  <a:lnTo>
                    <a:pt x="0" y="25"/>
                  </a:lnTo>
                  <a:lnTo>
                    <a:pt x="27"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0" name="Freeform 6973"/>
            <p:cNvSpPr>
              <a:spLocks/>
            </p:cNvSpPr>
            <p:nvPr/>
          </p:nvSpPr>
          <p:spPr bwMode="auto">
            <a:xfrm>
              <a:off x="1891" y="2484"/>
              <a:ext cx="1" cy="26"/>
            </a:xfrm>
            <a:custGeom>
              <a:avLst/>
              <a:gdLst>
                <a:gd name="T0" fmla="*/ 0 w 1"/>
                <a:gd name="T1" fmla="*/ 25 h 26"/>
                <a:gd name="T2" fmla="*/ 0 w 1"/>
                <a:gd name="T3" fmla="*/ 25 h 26"/>
                <a:gd name="T4" fmla="*/ 0 w 1"/>
                <a:gd name="T5" fmla="*/ 0 h 26"/>
                <a:gd name="T6" fmla="*/ 0 w 1"/>
                <a:gd name="T7" fmla="*/ 25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25"/>
                  </a:moveTo>
                  <a:lnTo>
                    <a:pt x="0" y="25"/>
                  </a:lnTo>
                  <a:lnTo>
                    <a:pt x="0" y="0"/>
                  </a:lnTo>
                  <a:lnTo>
                    <a:pt x="0"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1" name="Freeform 6974"/>
            <p:cNvSpPr>
              <a:spLocks/>
            </p:cNvSpPr>
            <p:nvPr/>
          </p:nvSpPr>
          <p:spPr bwMode="auto">
            <a:xfrm>
              <a:off x="1885" y="2468"/>
              <a:ext cx="25" cy="28"/>
            </a:xfrm>
            <a:custGeom>
              <a:avLst/>
              <a:gdLst>
                <a:gd name="T0" fmla="*/ 24 w 25"/>
                <a:gd name="T1" fmla="*/ 0 h 28"/>
                <a:gd name="T2" fmla="*/ 0 w 25"/>
                <a:gd name="T3" fmla="*/ 18 h 28"/>
                <a:gd name="T4" fmla="*/ 7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18"/>
                  </a:lnTo>
                  <a:lnTo>
                    <a:pt x="7" y="27"/>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2" name="Freeform 6975"/>
            <p:cNvSpPr>
              <a:spLocks/>
            </p:cNvSpPr>
            <p:nvPr/>
          </p:nvSpPr>
          <p:spPr bwMode="auto">
            <a:xfrm>
              <a:off x="1885" y="2462"/>
              <a:ext cx="25" cy="27"/>
            </a:xfrm>
            <a:custGeom>
              <a:avLst/>
              <a:gdLst>
                <a:gd name="T0" fmla="*/ 24 w 25"/>
                <a:gd name="T1" fmla="*/ 8 h 27"/>
                <a:gd name="T2" fmla="*/ 14 w 25"/>
                <a:gd name="T3" fmla="*/ 0 h 27"/>
                <a:gd name="T4" fmla="*/ 0 w 25"/>
                <a:gd name="T5" fmla="*/ 26 h 27"/>
                <a:gd name="T6" fmla="*/ 24 w 25"/>
                <a:gd name="T7" fmla="*/ 8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8"/>
                  </a:moveTo>
                  <a:lnTo>
                    <a:pt x="14" y="0"/>
                  </a:lnTo>
                  <a:lnTo>
                    <a:pt x="0" y="26"/>
                  </a:lnTo>
                  <a:lnTo>
                    <a:pt x="24"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3" name="Freeform 6976"/>
            <p:cNvSpPr>
              <a:spLocks/>
            </p:cNvSpPr>
            <p:nvPr/>
          </p:nvSpPr>
          <p:spPr bwMode="auto">
            <a:xfrm>
              <a:off x="1904" y="2462"/>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4" name="Line 6977"/>
            <p:cNvSpPr>
              <a:spLocks noChangeShapeType="1"/>
            </p:cNvSpPr>
            <p:nvPr/>
          </p:nvSpPr>
          <p:spPr bwMode="auto">
            <a:xfrm>
              <a:off x="1904" y="246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5" name="Freeform 6978"/>
            <p:cNvSpPr>
              <a:spLocks/>
            </p:cNvSpPr>
            <p:nvPr/>
          </p:nvSpPr>
          <p:spPr bwMode="auto">
            <a:xfrm>
              <a:off x="1899" y="2447"/>
              <a:ext cx="24" cy="27"/>
            </a:xfrm>
            <a:custGeom>
              <a:avLst/>
              <a:gdLst>
                <a:gd name="T0" fmla="*/ 23 w 24"/>
                <a:gd name="T1" fmla="*/ 0 h 27"/>
                <a:gd name="T2" fmla="*/ 0 w 24"/>
                <a:gd name="T3" fmla="*/ 18 h 27"/>
                <a:gd name="T4" fmla="*/ 8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8"/>
                  </a:lnTo>
                  <a:lnTo>
                    <a:pt x="8"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6" name="Freeform 6979"/>
            <p:cNvSpPr>
              <a:spLocks/>
            </p:cNvSpPr>
            <p:nvPr/>
          </p:nvSpPr>
          <p:spPr bwMode="auto">
            <a:xfrm>
              <a:off x="1899" y="2441"/>
              <a:ext cx="24" cy="27"/>
            </a:xfrm>
            <a:custGeom>
              <a:avLst/>
              <a:gdLst>
                <a:gd name="T0" fmla="*/ 23 w 24"/>
                <a:gd name="T1" fmla="*/ 8 h 27"/>
                <a:gd name="T2" fmla="*/ 15 w 24"/>
                <a:gd name="T3" fmla="*/ 0 h 27"/>
                <a:gd name="T4" fmla="*/ 0 w 24"/>
                <a:gd name="T5" fmla="*/ 26 h 27"/>
                <a:gd name="T6" fmla="*/ 23 w 24"/>
                <a:gd name="T7" fmla="*/ 8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8"/>
                  </a:moveTo>
                  <a:lnTo>
                    <a:pt x="15" y="0"/>
                  </a:lnTo>
                  <a:lnTo>
                    <a:pt x="0" y="26"/>
                  </a:lnTo>
                  <a:lnTo>
                    <a:pt x="23"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7" name="Freeform 6980"/>
            <p:cNvSpPr>
              <a:spLocks/>
            </p:cNvSpPr>
            <p:nvPr/>
          </p:nvSpPr>
          <p:spPr bwMode="auto">
            <a:xfrm>
              <a:off x="1917" y="244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8" name="Line 6981"/>
            <p:cNvSpPr>
              <a:spLocks noChangeShapeType="1"/>
            </p:cNvSpPr>
            <p:nvPr/>
          </p:nvSpPr>
          <p:spPr bwMode="auto">
            <a:xfrm>
              <a:off x="1917" y="244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29" name="Freeform 6982"/>
            <p:cNvSpPr>
              <a:spLocks/>
            </p:cNvSpPr>
            <p:nvPr/>
          </p:nvSpPr>
          <p:spPr bwMode="auto">
            <a:xfrm>
              <a:off x="1909" y="2420"/>
              <a:ext cx="29" cy="28"/>
            </a:xfrm>
            <a:custGeom>
              <a:avLst/>
              <a:gdLst>
                <a:gd name="T0" fmla="*/ 28 w 29"/>
                <a:gd name="T1" fmla="*/ 0 h 28"/>
                <a:gd name="T2" fmla="*/ 0 w 29"/>
                <a:gd name="T3" fmla="*/ 20 h 28"/>
                <a:gd name="T4" fmla="*/ 8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0" y="20"/>
                  </a:lnTo>
                  <a:lnTo>
                    <a:pt x="8" y="27"/>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0" name="Freeform 6983"/>
            <p:cNvSpPr>
              <a:spLocks/>
            </p:cNvSpPr>
            <p:nvPr/>
          </p:nvSpPr>
          <p:spPr bwMode="auto">
            <a:xfrm>
              <a:off x="1909" y="2412"/>
              <a:ext cx="29" cy="30"/>
            </a:xfrm>
            <a:custGeom>
              <a:avLst/>
              <a:gdLst>
                <a:gd name="T0" fmla="*/ 28 w 29"/>
                <a:gd name="T1" fmla="*/ 6 h 30"/>
                <a:gd name="T2" fmla="*/ 8 w 29"/>
                <a:gd name="T3" fmla="*/ 0 h 30"/>
                <a:gd name="T4" fmla="*/ 0 w 29"/>
                <a:gd name="T5" fmla="*/ 29 h 30"/>
                <a:gd name="T6" fmla="*/ 28 w 29"/>
                <a:gd name="T7" fmla="*/ 6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28" y="6"/>
                  </a:moveTo>
                  <a:lnTo>
                    <a:pt x="8" y="0"/>
                  </a:lnTo>
                  <a:lnTo>
                    <a:pt x="0" y="29"/>
                  </a:lnTo>
                  <a:lnTo>
                    <a:pt x="28"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1" name="Freeform 6984"/>
            <p:cNvSpPr>
              <a:spLocks/>
            </p:cNvSpPr>
            <p:nvPr/>
          </p:nvSpPr>
          <p:spPr bwMode="auto">
            <a:xfrm>
              <a:off x="1929" y="2412"/>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2" name="Line 6985"/>
            <p:cNvSpPr>
              <a:spLocks noChangeShapeType="1"/>
            </p:cNvSpPr>
            <p:nvPr/>
          </p:nvSpPr>
          <p:spPr bwMode="auto">
            <a:xfrm>
              <a:off x="1929" y="2420"/>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3" name="Freeform 6986"/>
            <p:cNvSpPr>
              <a:spLocks/>
            </p:cNvSpPr>
            <p:nvPr/>
          </p:nvSpPr>
          <p:spPr bwMode="auto">
            <a:xfrm>
              <a:off x="1917" y="2398"/>
              <a:ext cx="25" cy="27"/>
            </a:xfrm>
            <a:custGeom>
              <a:avLst/>
              <a:gdLst>
                <a:gd name="T0" fmla="*/ 24 w 25"/>
                <a:gd name="T1" fmla="*/ 0 h 27"/>
                <a:gd name="T2" fmla="*/ 0 w 25"/>
                <a:gd name="T3" fmla="*/ 18 h 27"/>
                <a:gd name="T4" fmla="*/ 12 w 25"/>
                <a:gd name="T5" fmla="*/ 26 h 27"/>
                <a:gd name="T6" fmla="*/ 24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0"/>
                  </a:moveTo>
                  <a:lnTo>
                    <a:pt x="0" y="18"/>
                  </a:lnTo>
                  <a:lnTo>
                    <a:pt x="12" y="26"/>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4" name="Freeform 6987"/>
            <p:cNvSpPr>
              <a:spLocks/>
            </p:cNvSpPr>
            <p:nvPr/>
          </p:nvSpPr>
          <p:spPr bwMode="auto">
            <a:xfrm>
              <a:off x="1917" y="2390"/>
              <a:ext cx="25" cy="27"/>
            </a:xfrm>
            <a:custGeom>
              <a:avLst/>
              <a:gdLst>
                <a:gd name="T0" fmla="*/ 24 w 25"/>
                <a:gd name="T1" fmla="*/ 9 h 27"/>
                <a:gd name="T2" fmla="*/ 12 w 25"/>
                <a:gd name="T3" fmla="*/ 0 h 27"/>
                <a:gd name="T4" fmla="*/ 0 w 25"/>
                <a:gd name="T5" fmla="*/ 26 h 27"/>
                <a:gd name="T6" fmla="*/ 24 w 25"/>
                <a:gd name="T7" fmla="*/ 9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9"/>
                  </a:moveTo>
                  <a:lnTo>
                    <a:pt x="12" y="0"/>
                  </a:lnTo>
                  <a:lnTo>
                    <a:pt x="0" y="26"/>
                  </a:lnTo>
                  <a:lnTo>
                    <a:pt x="24" y="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5" name="Freeform 6988"/>
            <p:cNvSpPr>
              <a:spLocks/>
            </p:cNvSpPr>
            <p:nvPr/>
          </p:nvSpPr>
          <p:spPr bwMode="auto">
            <a:xfrm>
              <a:off x="1937" y="2390"/>
              <a:ext cx="23" cy="27"/>
            </a:xfrm>
            <a:custGeom>
              <a:avLst/>
              <a:gdLst>
                <a:gd name="T0" fmla="*/ 22 w 23"/>
                <a:gd name="T1" fmla="*/ 26 h 27"/>
                <a:gd name="T2" fmla="*/ 22 w 23"/>
                <a:gd name="T3" fmla="*/ 26 h 27"/>
                <a:gd name="T4" fmla="*/ 0 w 23"/>
                <a:gd name="T5" fmla="*/ 0 h 27"/>
                <a:gd name="T6" fmla="*/ 22 w 23"/>
                <a:gd name="T7" fmla="*/ 26 h 27"/>
                <a:gd name="T8" fmla="*/ 0 60000 65536"/>
                <a:gd name="T9" fmla="*/ 0 60000 65536"/>
                <a:gd name="T10" fmla="*/ 0 60000 65536"/>
                <a:gd name="T11" fmla="*/ 0 60000 65536"/>
                <a:gd name="T12" fmla="*/ 0 w 23"/>
                <a:gd name="T13" fmla="*/ 0 h 27"/>
                <a:gd name="T14" fmla="*/ 23 w 23"/>
                <a:gd name="T15" fmla="*/ 27 h 27"/>
              </a:gdLst>
              <a:ahLst/>
              <a:cxnLst>
                <a:cxn ang="T8">
                  <a:pos x="T0" y="T1"/>
                </a:cxn>
                <a:cxn ang="T9">
                  <a:pos x="T2" y="T3"/>
                </a:cxn>
                <a:cxn ang="T10">
                  <a:pos x="T4" y="T5"/>
                </a:cxn>
                <a:cxn ang="T11">
                  <a:pos x="T6" y="T7"/>
                </a:cxn>
              </a:cxnLst>
              <a:rect l="T12" t="T13" r="T14" b="T15"/>
              <a:pathLst>
                <a:path w="23" h="27">
                  <a:moveTo>
                    <a:pt x="22" y="26"/>
                  </a:moveTo>
                  <a:lnTo>
                    <a:pt x="22" y="26"/>
                  </a:lnTo>
                  <a:lnTo>
                    <a:pt x="0" y="0"/>
                  </a:lnTo>
                  <a:lnTo>
                    <a:pt x="22"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6" name="Line 6989"/>
            <p:cNvSpPr>
              <a:spLocks noChangeShapeType="1"/>
            </p:cNvSpPr>
            <p:nvPr/>
          </p:nvSpPr>
          <p:spPr bwMode="auto">
            <a:xfrm>
              <a:off x="1941" y="239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7" name="Freeform 6990"/>
            <p:cNvSpPr>
              <a:spLocks/>
            </p:cNvSpPr>
            <p:nvPr/>
          </p:nvSpPr>
          <p:spPr bwMode="auto">
            <a:xfrm>
              <a:off x="1929" y="2369"/>
              <a:ext cx="27" cy="30"/>
            </a:xfrm>
            <a:custGeom>
              <a:avLst/>
              <a:gdLst>
                <a:gd name="T0" fmla="*/ 26 w 27"/>
                <a:gd name="T1" fmla="*/ 0 h 30"/>
                <a:gd name="T2" fmla="*/ 0 w 27"/>
                <a:gd name="T3" fmla="*/ 20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0"/>
                  </a:lnTo>
                  <a:lnTo>
                    <a:pt x="13" y="29"/>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8" name="Freeform 6991"/>
            <p:cNvSpPr>
              <a:spLocks/>
            </p:cNvSpPr>
            <p:nvPr/>
          </p:nvSpPr>
          <p:spPr bwMode="auto">
            <a:xfrm>
              <a:off x="1929" y="2361"/>
              <a:ext cx="27" cy="30"/>
            </a:xfrm>
            <a:custGeom>
              <a:avLst/>
              <a:gdLst>
                <a:gd name="T0" fmla="*/ 26 w 27"/>
                <a:gd name="T1" fmla="*/ 6 h 30"/>
                <a:gd name="T2" fmla="*/ 13 w 27"/>
                <a:gd name="T3" fmla="*/ 0 h 30"/>
                <a:gd name="T4" fmla="*/ 0 w 27"/>
                <a:gd name="T5" fmla="*/ 29 h 30"/>
                <a:gd name="T6" fmla="*/ 26 w 27"/>
                <a:gd name="T7" fmla="*/ 6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6"/>
                  </a:moveTo>
                  <a:lnTo>
                    <a:pt x="13" y="0"/>
                  </a:lnTo>
                  <a:lnTo>
                    <a:pt x="0" y="29"/>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39" name="Freeform 6992"/>
            <p:cNvSpPr>
              <a:spLocks/>
            </p:cNvSpPr>
            <p:nvPr/>
          </p:nvSpPr>
          <p:spPr bwMode="auto">
            <a:xfrm>
              <a:off x="1946" y="2361"/>
              <a:ext cx="25" cy="28"/>
            </a:xfrm>
            <a:custGeom>
              <a:avLst/>
              <a:gdLst>
                <a:gd name="T0" fmla="*/ 24 w 25"/>
                <a:gd name="T1" fmla="*/ 27 h 28"/>
                <a:gd name="T2" fmla="*/ 24 w 25"/>
                <a:gd name="T3" fmla="*/ 27 h 28"/>
                <a:gd name="T4" fmla="*/ 0 w 25"/>
                <a:gd name="T5" fmla="*/ 0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27"/>
                  </a:lnTo>
                  <a:lnTo>
                    <a:pt x="0" y="0"/>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0" name="Line 6993"/>
            <p:cNvSpPr>
              <a:spLocks noChangeShapeType="1"/>
            </p:cNvSpPr>
            <p:nvPr/>
          </p:nvSpPr>
          <p:spPr bwMode="auto">
            <a:xfrm>
              <a:off x="1955" y="2369"/>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1" name="Freeform 6994"/>
            <p:cNvSpPr>
              <a:spLocks/>
            </p:cNvSpPr>
            <p:nvPr/>
          </p:nvSpPr>
          <p:spPr bwMode="auto">
            <a:xfrm>
              <a:off x="1941" y="2340"/>
              <a:ext cx="27" cy="30"/>
            </a:xfrm>
            <a:custGeom>
              <a:avLst/>
              <a:gdLst>
                <a:gd name="T0" fmla="*/ 26 w 27"/>
                <a:gd name="T1" fmla="*/ 0 h 30"/>
                <a:gd name="T2" fmla="*/ 0 w 27"/>
                <a:gd name="T3" fmla="*/ 22 h 30"/>
                <a:gd name="T4" fmla="*/ 13 w 27"/>
                <a:gd name="T5" fmla="*/ 29 h 30"/>
                <a:gd name="T6" fmla="*/ 26 w 27"/>
                <a:gd name="T7" fmla="*/ 0 h 30"/>
                <a:gd name="T8" fmla="*/ 0 60000 65536"/>
                <a:gd name="T9" fmla="*/ 0 60000 65536"/>
                <a:gd name="T10" fmla="*/ 0 60000 65536"/>
                <a:gd name="T11" fmla="*/ 0 60000 65536"/>
                <a:gd name="T12" fmla="*/ 0 w 27"/>
                <a:gd name="T13" fmla="*/ 0 h 30"/>
                <a:gd name="T14" fmla="*/ 27 w 27"/>
                <a:gd name="T15" fmla="*/ 30 h 30"/>
              </a:gdLst>
              <a:ahLst/>
              <a:cxnLst>
                <a:cxn ang="T8">
                  <a:pos x="T0" y="T1"/>
                </a:cxn>
                <a:cxn ang="T9">
                  <a:pos x="T2" y="T3"/>
                </a:cxn>
                <a:cxn ang="T10">
                  <a:pos x="T4" y="T5"/>
                </a:cxn>
                <a:cxn ang="T11">
                  <a:pos x="T6" y="T7"/>
                </a:cxn>
              </a:cxnLst>
              <a:rect l="T12" t="T13" r="T14" b="T15"/>
              <a:pathLst>
                <a:path w="27" h="30">
                  <a:moveTo>
                    <a:pt x="26" y="0"/>
                  </a:moveTo>
                  <a:lnTo>
                    <a:pt x="0" y="22"/>
                  </a:lnTo>
                  <a:lnTo>
                    <a:pt x="13" y="29"/>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2" name="Freeform 6995"/>
            <p:cNvSpPr>
              <a:spLocks/>
            </p:cNvSpPr>
            <p:nvPr/>
          </p:nvSpPr>
          <p:spPr bwMode="auto">
            <a:xfrm>
              <a:off x="1941" y="2334"/>
              <a:ext cx="27" cy="28"/>
            </a:xfrm>
            <a:custGeom>
              <a:avLst/>
              <a:gdLst>
                <a:gd name="T0" fmla="*/ 26 w 27"/>
                <a:gd name="T1" fmla="*/ 6 h 28"/>
                <a:gd name="T2" fmla="*/ 13 w 27"/>
                <a:gd name="T3" fmla="*/ 0 h 28"/>
                <a:gd name="T4" fmla="*/ 0 w 27"/>
                <a:gd name="T5" fmla="*/ 27 h 28"/>
                <a:gd name="T6" fmla="*/ 26 w 27"/>
                <a:gd name="T7" fmla="*/ 6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6"/>
                  </a:moveTo>
                  <a:lnTo>
                    <a:pt x="13" y="0"/>
                  </a:lnTo>
                  <a:lnTo>
                    <a:pt x="0" y="27"/>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3" name="Freeform 6996"/>
            <p:cNvSpPr>
              <a:spLocks/>
            </p:cNvSpPr>
            <p:nvPr/>
          </p:nvSpPr>
          <p:spPr bwMode="auto">
            <a:xfrm>
              <a:off x="1959" y="2334"/>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4" name="Line 6997"/>
            <p:cNvSpPr>
              <a:spLocks noChangeShapeType="1"/>
            </p:cNvSpPr>
            <p:nvPr/>
          </p:nvSpPr>
          <p:spPr bwMode="auto">
            <a:xfrm>
              <a:off x="1964" y="2340"/>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5" name="Freeform 6998"/>
            <p:cNvSpPr>
              <a:spLocks/>
            </p:cNvSpPr>
            <p:nvPr/>
          </p:nvSpPr>
          <p:spPr bwMode="auto">
            <a:xfrm>
              <a:off x="1955" y="2312"/>
              <a:ext cx="25" cy="29"/>
            </a:xfrm>
            <a:custGeom>
              <a:avLst/>
              <a:gdLst>
                <a:gd name="T0" fmla="*/ 24 w 25"/>
                <a:gd name="T1" fmla="*/ 0 h 29"/>
                <a:gd name="T2" fmla="*/ 0 w 25"/>
                <a:gd name="T3" fmla="*/ 21 h 29"/>
                <a:gd name="T4" fmla="*/ 11 w 25"/>
                <a:gd name="T5" fmla="*/ 28 h 29"/>
                <a:gd name="T6" fmla="*/ 24 w 25"/>
                <a:gd name="T7" fmla="*/ 0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0"/>
                  </a:moveTo>
                  <a:lnTo>
                    <a:pt x="0" y="21"/>
                  </a:lnTo>
                  <a:lnTo>
                    <a:pt x="11" y="28"/>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6" name="Freeform 6999"/>
            <p:cNvSpPr>
              <a:spLocks/>
            </p:cNvSpPr>
            <p:nvPr/>
          </p:nvSpPr>
          <p:spPr bwMode="auto">
            <a:xfrm>
              <a:off x="1955" y="2304"/>
              <a:ext cx="25" cy="31"/>
            </a:xfrm>
            <a:custGeom>
              <a:avLst/>
              <a:gdLst>
                <a:gd name="T0" fmla="*/ 24 w 25"/>
                <a:gd name="T1" fmla="*/ 8 h 31"/>
                <a:gd name="T2" fmla="*/ 11 w 25"/>
                <a:gd name="T3" fmla="*/ 0 h 31"/>
                <a:gd name="T4" fmla="*/ 0 w 25"/>
                <a:gd name="T5" fmla="*/ 30 h 31"/>
                <a:gd name="T6" fmla="*/ 24 w 25"/>
                <a:gd name="T7" fmla="*/ 8 h 31"/>
                <a:gd name="T8" fmla="*/ 0 60000 65536"/>
                <a:gd name="T9" fmla="*/ 0 60000 65536"/>
                <a:gd name="T10" fmla="*/ 0 60000 65536"/>
                <a:gd name="T11" fmla="*/ 0 60000 65536"/>
                <a:gd name="T12" fmla="*/ 0 w 25"/>
                <a:gd name="T13" fmla="*/ 0 h 31"/>
                <a:gd name="T14" fmla="*/ 25 w 25"/>
                <a:gd name="T15" fmla="*/ 31 h 31"/>
              </a:gdLst>
              <a:ahLst/>
              <a:cxnLst>
                <a:cxn ang="T8">
                  <a:pos x="T0" y="T1"/>
                </a:cxn>
                <a:cxn ang="T9">
                  <a:pos x="T2" y="T3"/>
                </a:cxn>
                <a:cxn ang="T10">
                  <a:pos x="T4" y="T5"/>
                </a:cxn>
                <a:cxn ang="T11">
                  <a:pos x="T6" y="T7"/>
                </a:cxn>
              </a:cxnLst>
              <a:rect l="T12" t="T13" r="T14" b="T15"/>
              <a:pathLst>
                <a:path w="25" h="31">
                  <a:moveTo>
                    <a:pt x="24" y="8"/>
                  </a:moveTo>
                  <a:lnTo>
                    <a:pt x="11" y="0"/>
                  </a:lnTo>
                  <a:lnTo>
                    <a:pt x="0" y="30"/>
                  </a:lnTo>
                  <a:lnTo>
                    <a:pt x="24"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7" name="Freeform 7000"/>
            <p:cNvSpPr>
              <a:spLocks/>
            </p:cNvSpPr>
            <p:nvPr/>
          </p:nvSpPr>
          <p:spPr bwMode="auto">
            <a:xfrm>
              <a:off x="1975" y="2304"/>
              <a:ext cx="23" cy="28"/>
            </a:xfrm>
            <a:custGeom>
              <a:avLst/>
              <a:gdLst>
                <a:gd name="T0" fmla="*/ 22 w 23"/>
                <a:gd name="T1" fmla="*/ 27 h 28"/>
                <a:gd name="T2" fmla="*/ 22 w 23"/>
                <a:gd name="T3" fmla="*/ 27 h 28"/>
                <a:gd name="T4" fmla="*/ 0 w 23"/>
                <a:gd name="T5" fmla="*/ 0 h 28"/>
                <a:gd name="T6" fmla="*/ 22 w 23"/>
                <a:gd name="T7" fmla="*/ 27 h 28"/>
                <a:gd name="T8" fmla="*/ 0 60000 65536"/>
                <a:gd name="T9" fmla="*/ 0 60000 65536"/>
                <a:gd name="T10" fmla="*/ 0 60000 65536"/>
                <a:gd name="T11" fmla="*/ 0 60000 65536"/>
                <a:gd name="T12" fmla="*/ 0 w 23"/>
                <a:gd name="T13" fmla="*/ 0 h 28"/>
                <a:gd name="T14" fmla="*/ 23 w 23"/>
                <a:gd name="T15" fmla="*/ 28 h 28"/>
              </a:gdLst>
              <a:ahLst/>
              <a:cxnLst>
                <a:cxn ang="T8">
                  <a:pos x="T0" y="T1"/>
                </a:cxn>
                <a:cxn ang="T9">
                  <a:pos x="T2" y="T3"/>
                </a:cxn>
                <a:cxn ang="T10">
                  <a:pos x="T4" y="T5"/>
                </a:cxn>
                <a:cxn ang="T11">
                  <a:pos x="T6" y="T7"/>
                </a:cxn>
              </a:cxnLst>
              <a:rect l="T12" t="T13" r="T14" b="T15"/>
              <a:pathLst>
                <a:path w="23" h="28">
                  <a:moveTo>
                    <a:pt x="22" y="27"/>
                  </a:moveTo>
                  <a:lnTo>
                    <a:pt x="22" y="27"/>
                  </a:lnTo>
                  <a:lnTo>
                    <a:pt x="0" y="0"/>
                  </a:lnTo>
                  <a:lnTo>
                    <a:pt x="22"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8" name="Line 7001"/>
            <p:cNvSpPr>
              <a:spLocks noChangeShapeType="1"/>
            </p:cNvSpPr>
            <p:nvPr/>
          </p:nvSpPr>
          <p:spPr bwMode="auto">
            <a:xfrm>
              <a:off x="1978" y="2312"/>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49" name="Freeform 7002"/>
            <p:cNvSpPr>
              <a:spLocks/>
            </p:cNvSpPr>
            <p:nvPr/>
          </p:nvSpPr>
          <p:spPr bwMode="auto">
            <a:xfrm>
              <a:off x="1964" y="2277"/>
              <a:ext cx="29" cy="36"/>
            </a:xfrm>
            <a:custGeom>
              <a:avLst/>
              <a:gdLst>
                <a:gd name="T0" fmla="*/ 28 w 29"/>
                <a:gd name="T1" fmla="*/ 0 h 36"/>
                <a:gd name="T2" fmla="*/ 0 w 29"/>
                <a:gd name="T3" fmla="*/ 27 h 36"/>
                <a:gd name="T4" fmla="*/ 14 w 29"/>
                <a:gd name="T5" fmla="*/ 35 h 36"/>
                <a:gd name="T6" fmla="*/ 28 w 29"/>
                <a:gd name="T7" fmla="*/ 0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28" y="0"/>
                  </a:moveTo>
                  <a:lnTo>
                    <a:pt x="0" y="27"/>
                  </a:lnTo>
                  <a:lnTo>
                    <a:pt x="14" y="35"/>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0" name="Freeform 7003"/>
            <p:cNvSpPr>
              <a:spLocks/>
            </p:cNvSpPr>
            <p:nvPr/>
          </p:nvSpPr>
          <p:spPr bwMode="auto">
            <a:xfrm>
              <a:off x="1964" y="2277"/>
              <a:ext cx="29" cy="28"/>
            </a:xfrm>
            <a:custGeom>
              <a:avLst/>
              <a:gdLst>
                <a:gd name="T0" fmla="*/ 28 w 29"/>
                <a:gd name="T1" fmla="*/ 0 h 28"/>
                <a:gd name="T2" fmla="*/ 14 w 29"/>
                <a:gd name="T3" fmla="*/ 0 h 28"/>
                <a:gd name="T4" fmla="*/ 0 w 29"/>
                <a:gd name="T5" fmla="*/ 27 h 28"/>
                <a:gd name="T6" fmla="*/ 28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0"/>
                  </a:moveTo>
                  <a:lnTo>
                    <a:pt x="14" y="0"/>
                  </a:lnTo>
                  <a:lnTo>
                    <a:pt x="0" y="27"/>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1" name="Freeform 7004"/>
            <p:cNvSpPr>
              <a:spLocks/>
            </p:cNvSpPr>
            <p:nvPr/>
          </p:nvSpPr>
          <p:spPr bwMode="auto">
            <a:xfrm>
              <a:off x="1984" y="2277"/>
              <a:ext cx="25" cy="1"/>
            </a:xfrm>
            <a:custGeom>
              <a:avLst/>
              <a:gdLst>
                <a:gd name="T0" fmla="*/ 24 w 25"/>
                <a:gd name="T1" fmla="*/ 0 h 1"/>
                <a:gd name="T2" fmla="*/ 24 w 25"/>
                <a:gd name="T3" fmla="*/ 0 h 1"/>
                <a:gd name="T4" fmla="*/ 0 w 25"/>
                <a:gd name="T5" fmla="*/ 0 h 1"/>
                <a:gd name="T6" fmla="*/ 24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24" y="0"/>
                  </a:moveTo>
                  <a:lnTo>
                    <a:pt x="24" y="0"/>
                  </a:lnTo>
                  <a:lnTo>
                    <a:pt x="0" y="0"/>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2" name="Line 7005"/>
            <p:cNvSpPr>
              <a:spLocks noChangeShapeType="1"/>
            </p:cNvSpPr>
            <p:nvPr/>
          </p:nvSpPr>
          <p:spPr bwMode="auto">
            <a:xfrm>
              <a:off x="1992" y="227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3" name="Freeform 7006"/>
            <p:cNvSpPr>
              <a:spLocks/>
            </p:cNvSpPr>
            <p:nvPr/>
          </p:nvSpPr>
          <p:spPr bwMode="auto">
            <a:xfrm>
              <a:off x="1978" y="2248"/>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4" name="Freeform 7007"/>
            <p:cNvSpPr>
              <a:spLocks/>
            </p:cNvSpPr>
            <p:nvPr/>
          </p:nvSpPr>
          <p:spPr bwMode="auto">
            <a:xfrm>
              <a:off x="1978" y="2241"/>
              <a:ext cx="25" cy="37"/>
            </a:xfrm>
            <a:custGeom>
              <a:avLst/>
              <a:gdLst>
                <a:gd name="T0" fmla="*/ 24 w 25"/>
                <a:gd name="T1" fmla="*/ 6 h 37"/>
                <a:gd name="T2" fmla="*/ 12 w 25"/>
                <a:gd name="T3" fmla="*/ 0 h 37"/>
                <a:gd name="T4" fmla="*/ 0 w 25"/>
                <a:gd name="T5" fmla="*/ 36 h 37"/>
                <a:gd name="T6" fmla="*/ 24 w 25"/>
                <a:gd name="T7" fmla="*/ 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24" y="6"/>
                  </a:moveTo>
                  <a:lnTo>
                    <a:pt x="12" y="0"/>
                  </a:lnTo>
                  <a:lnTo>
                    <a:pt x="0" y="36"/>
                  </a:lnTo>
                  <a:lnTo>
                    <a:pt x="24"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5" name="Freeform 7008"/>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6" name="Freeform 7009"/>
            <p:cNvSpPr>
              <a:spLocks/>
            </p:cNvSpPr>
            <p:nvPr/>
          </p:nvSpPr>
          <p:spPr bwMode="auto">
            <a:xfrm>
              <a:off x="1996" y="22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7" name="Freeform 7010"/>
            <p:cNvSpPr>
              <a:spLocks/>
            </p:cNvSpPr>
            <p:nvPr/>
          </p:nvSpPr>
          <p:spPr bwMode="auto">
            <a:xfrm>
              <a:off x="1992" y="2213"/>
              <a:ext cx="26" cy="36"/>
            </a:xfrm>
            <a:custGeom>
              <a:avLst/>
              <a:gdLst>
                <a:gd name="T0" fmla="*/ 25 w 26"/>
                <a:gd name="T1" fmla="*/ 0 h 36"/>
                <a:gd name="T2" fmla="*/ 0 w 26"/>
                <a:gd name="T3" fmla="*/ 28 h 36"/>
                <a:gd name="T4" fmla="*/ 11 w 26"/>
                <a:gd name="T5" fmla="*/ 35 h 36"/>
                <a:gd name="T6" fmla="*/ 25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0"/>
                  </a:moveTo>
                  <a:lnTo>
                    <a:pt x="0" y="28"/>
                  </a:lnTo>
                  <a:lnTo>
                    <a:pt x="11" y="35"/>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8" name="Freeform 7011"/>
            <p:cNvSpPr>
              <a:spLocks/>
            </p:cNvSpPr>
            <p:nvPr/>
          </p:nvSpPr>
          <p:spPr bwMode="auto">
            <a:xfrm>
              <a:off x="1992" y="2213"/>
              <a:ext cx="26" cy="29"/>
            </a:xfrm>
            <a:custGeom>
              <a:avLst/>
              <a:gdLst>
                <a:gd name="T0" fmla="*/ 25 w 26"/>
                <a:gd name="T1" fmla="*/ 0 h 29"/>
                <a:gd name="T2" fmla="*/ 11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1" y="0"/>
                  </a:lnTo>
                  <a:lnTo>
                    <a:pt x="0" y="28"/>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59" name="Freeform 7012"/>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0" name="Freeform 7013"/>
            <p:cNvSpPr>
              <a:spLocks/>
            </p:cNvSpPr>
            <p:nvPr/>
          </p:nvSpPr>
          <p:spPr bwMode="auto">
            <a:xfrm>
              <a:off x="2008" y="2213"/>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1" name="Freeform 7014"/>
            <p:cNvSpPr>
              <a:spLocks/>
            </p:cNvSpPr>
            <p:nvPr/>
          </p:nvSpPr>
          <p:spPr bwMode="auto">
            <a:xfrm>
              <a:off x="2002" y="2184"/>
              <a:ext cx="25" cy="30"/>
            </a:xfrm>
            <a:custGeom>
              <a:avLst/>
              <a:gdLst>
                <a:gd name="T0" fmla="*/ 24 w 25"/>
                <a:gd name="T1" fmla="*/ 0 h 30"/>
                <a:gd name="T2" fmla="*/ 0 w 25"/>
                <a:gd name="T3" fmla="*/ 29 h 30"/>
                <a:gd name="T4" fmla="*/ 12 w 25"/>
                <a:gd name="T5" fmla="*/ 29 h 30"/>
                <a:gd name="T6" fmla="*/ 24 w 25"/>
                <a:gd name="T7" fmla="*/ 0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24" y="0"/>
                  </a:moveTo>
                  <a:lnTo>
                    <a:pt x="0" y="29"/>
                  </a:lnTo>
                  <a:lnTo>
                    <a:pt x="12" y="29"/>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2" name="Freeform 7015"/>
            <p:cNvSpPr>
              <a:spLocks/>
            </p:cNvSpPr>
            <p:nvPr/>
          </p:nvSpPr>
          <p:spPr bwMode="auto">
            <a:xfrm>
              <a:off x="2002" y="2176"/>
              <a:ext cx="25" cy="38"/>
            </a:xfrm>
            <a:custGeom>
              <a:avLst/>
              <a:gdLst>
                <a:gd name="T0" fmla="*/ 24 w 25"/>
                <a:gd name="T1" fmla="*/ 6 h 38"/>
                <a:gd name="T2" fmla="*/ 12 w 25"/>
                <a:gd name="T3" fmla="*/ 0 h 38"/>
                <a:gd name="T4" fmla="*/ 0 w 25"/>
                <a:gd name="T5" fmla="*/ 37 h 38"/>
                <a:gd name="T6" fmla="*/ 24 w 25"/>
                <a:gd name="T7" fmla="*/ 6 h 38"/>
                <a:gd name="T8" fmla="*/ 0 60000 65536"/>
                <a:gd name="T9" fmla="*/ 0 60000 65536"/>
                <a:gd name="T10" fmla="*/ 0 60000 65536"/>
                <a:gd name="T11" fmla="*/ 0 60000 65536"/>
                <a:gd name="T12" fmla="*/ 0 w 25"/>
                <a:gd name="T13" fmla="*/ 0 h 38"/>
                <a:gd name="T14" fmla="*/ 25 w 25"/>
                <a:gd name="T15" fmla="*/ 38 h 38"/>
              </a:gdLst>
              <a:ahLst/>
              <a:cxnLst>
                <a:cxn ang="T8">
                  <a:pos x="T0" y="T1"/>
                </a:cxn>
                <a:cxn ang="T9">
                  <a:pos x="T2" y="T3"/>
                </a:cxn>
                <a:cxn ang="T10">
                  <a:pos x="T4" y="T5"/>
                </a:cxn>
                <a:cxn ang="T11">
                  <a:pos x="T6" y="T7"/>
                </a:cxn>
              </a:cxnLst>
              <a:rect l="T12" t="T13" r="T14" b="T15"/>
              <a:pathLst>
                <a:path w="25" h="38">
                  <a:moveTo>
                    <a:pt x="24" y="6"/>
                  </a:moveTo>
                  <a:lnTo>
                    <a:pt x="12" y="0"/>
                  </a:lnTo>
                  <a:lnTo>
                    <a:pt x="0" y="37"/>
                  </a:lnTo>
                  <a:lnTo>
                    <a:pt x="24"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3" name="Freeform 7016"/>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4" name="Freeform 7017"/>
            <p:cNvSpPr>
              <a:spLocks/>
            </p:cNvSpPr>
            <p:nvPr/>
          </p:nvSpPr>
          <p:spPr bwMode="auto">
            <a:xfrm>
              <a:off x="2020" y="2176"/>
              <a:ext cx="27" cy="28"/>
            </a:xfrm>
            <a:custGeom>
              <a:avLst/>
              <a:gdLst>
                <a:gd name="T0" fmla="*/ 26 w 27"/>
                <a:gd name="T1" fmla="*/ 27 h 28"/>
                <a:gd name="T2" fmla="*/ 26 w 27"/>
                <a:gd name="T3" fmla="*/ 27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27"/>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5" name="Freeform 7018"/>
            <p:cNvSpPr>
              <a:spLocks/>
            </p:cNvSpPr>
            <p:nvPr/>
          </p:nvSpPr>
          <p:spPr bwMode="auto">
            <a:xfrm>
              <a:off x="2013" y="2149"/>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6" name="Freeform 7019"/>
            <p:cNvSpPr>
              <a:spLocks/>
            </p:cNvSpPr>
            <p:nvPr/>
          </p:nvSpPr>
          <p:spPr bwMode="auto">
            <a:xfrm>
              <a:off x="2013" y="2141"/>
              <a:ext cx="27" cy="36"/>
            </a:xfrm>
            <a:custGeom>
              <a:avLst/>
              <a:gdLst>
                <a:gd name="T0" fmla="*/ 26 w 27"/>
                <a:gd name="T1" fmla="*/ 7 h 36"/>
                <a:gd name="T2" fmla="*/ 13 w 27"/>
                <a:gd name="T3" fmla="*/ 0 h 36"/>
                <a:gd name="T4" fmla="*/ 0 w 27"/>
                <a:gd name="T5" fmla="*/ 35 h 36"/>
                <a:gd name="T6" fmla="*/ 26 w 27"/>
                <a:gd name="T7" fmla="*/ 7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7"/>
                  </a:moveTo>
                  <a:lnTo>
                    <a:pt x="13" y="0"/>
                  </a:lnTo>
                  <a:lnTo>
                    <a:pt x="0" y="35"/>
                  </a:lnTo>
                  <a:lnTo>
                    <a:pt x="26" y="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7" name="Freeform 7020"/>
            <p:cNvSpPr>
              <a:spLocks/>
            </p:cNvSpPr>
            <p:nvPr/>
          </p:nvSpPr>
          <p:spPr bwMode="auto">
            <a:xfrm>
              <a:off x="2034" y="2141"/>
              <a:ext cx="25" cy="27"/>
            </a:xfrm>
            <a:custGeom>
              <a:avLst/>
              <a:gdLst>
                <a:gd name="T0" fmla="*/ 24 w 25"/>
                <a:gd name="T1" fmla="*/ 26 h 27"/>
                <a:gd name="T2" fmla="*/ 24 w 25"/>
                <a:gd name="T3" fmla="*/ 26 h 27"/>
                <a:gd name="T4" fmla="*/ 0 w 25"/>
                <a:gd name="T5" fmla="*/ 0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24" y="26"/>
                  </a:lnTo>
                  <a:lnTo>
                    <a:pt x="0" y="0"/>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8" name="Freeform 7021"/>
            <p:cNvSpPr>
              <a:spLocks/>
            </p:cNvSpPr>
            <p:nvPr/>
          </p:nvSpPr>
          <p:spPr bwMode="auto">
            <a:xfrm>
              <a:off x="2034" y="2141"/>
              <a:ext cx="25" cy="27"/>
            </a:xfrm>
            <a:custGeom>
              <a:avLst/>
              <a:gdLst>
                <a:gd name="T0" fmla="*/ 0 w 25"/>
                <a:gd name="T1" fmla="*/ 0 h 27"/>
                <a:gd name="T2" fmla="*/ 24 w 25"/>
                <a:gd name="T3" fmla="*/ 26 h 27"/>
                <a:gd name="T4" fmla="*/ 24 w 25"/>
                <a:gd name="T5" fmla="*/ 26 h 27"/>
                <a:gd name="T6" fmla="*/ 0 w 25"/>
                <a:gd name="T7" fmla="*/ 0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0"/>
                  </a:moveTo>
                  <a:lnTo>
                    <a:pt x="24"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69" name="Freeform 7022"/>
            <p:cNvSpPr>
              <a:spLocks/>
            </p:cNvSpPr>
            <p:nvPr/>
          </p:nvSpPr>
          <p:spPr bwMode="auto">
            <a:xfrm>
              <a:off x="2026" y="2113"/>
              <a:ext cx="26" cy="37"/>
            </a:xfrm>
            <a:custGeom>
              <a:avLst/>
              <a:gdLst>
                <a:gd name="T0" fmla="*/ 25 w 26"/>
                <a:gd name="T1" fmla="*/ 0 h 37"/>
                <a:gd name="T2" fmla="*/ 0 w 26"/>
                <a:gd name="T3" fmla="*/ 27 h 37"/>
                <a:gd name="T4" fmla="*/ 17 w 26"/>
                <a:gd name="T5" fmla="*/ 36 h 37"/>
                <a:gd name="T6" fmla="*/ 25 w 26"/>
                <a:gd name="T7" fmla="*/ 0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0"/>
                  </a:moveTo>
                  <a:lnTo>
                    <a:pt x="0" y="27"/>
                  </a:lnTo>
                  <a:lnTo>
                    <a:pt x="17" y="36"/>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0" name="Freeform 7023"/>
            <p:cNvSpPr>
              <a:spLocks/>
            </p:cNvSpPr>
            <p:nvPr/>
          </p:nvSpPr>
          <p:spPr bwMode="auto">
            <a:xfrm>
              <a:off x="2026" y="2113"/>
              <a:ext cx="26" cy="29"/>
            </a:xfrm>
            <a:custGeom>
              <a:avLst/>
              <a:gdLst>
                <a:gd name="T0" fmla="*/ 25 w 26"/>
                <a:gd name="T1" fmla="*/ 0 h 29"/>
                <a:gd name="T2" fmla="*/ 17 w 26"/>
                <a:gd name="T3" fmla="*/ 0 h 29"/>
                <a:gd name="T4" fmla="*/ 0 w 26"/>
                <a:gd name="T5" fmla="*/ 28 h 29"/>
                <a:gd name="T6" fmla="*/ 25 w 26"/>
                <a:gd name="T7" fmla="*/ 0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25" y="0"/>
                  </a:moveTo>
                  <a:lnTo>
                    <a:pt x="17" y="0"/>
                  </a:lnTo>
                  <a:lnTo>
                    <a:pt x="0" y="28"/>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1" name="Freeform 7024"/>
            <p:cNvSpPr>
              <a:spLocks/>
            </p:cNvSpPr>
            <p:nvPr/>
          </p:nvSpPr>
          <p:spPr bwMode="auto">
            <a:xfrm>
              <a:off x="2046" y="2105"/>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2" name="Line 7025"/>
            <p:cNvSpPr>
              <a:spLocks noChangeShapeType="1"/>
            </p:cNvSpPr>
            <p:nvPr/>
          </p:nvSpPr>
          <p:spPr bwMode="auto">
            <a:xfrm>
              <a:off x="2046" y="211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3" name="Freeform 7026"/>
            <p:cNvSpPr>
              <a:spLocks/>
            </p:cNvSpPr>
            <p:nvPr/>
          </p:nvSpPr>
          <p:spPr bwMode="auto">
            <a:xfrm>
              <a:off x="2039" y="2084"/>
              <a:ext cx="26" cy="30"/>
            </a:xfrm>
            <a:custGeom>
              <a:avLst/>
              <a:gdLst>
                <a:gd name="T0" fmla="*/ 25 w 26"/>
                <a:gd name="T1" fmla="*/ 0 h 30"/>
                <a:gd name="T2" fmla="*/ 0 w 26"/>
                <a:gd name="T3" fmla="*/ 29 h 30"/>
                <a:gd name="T4" fmla="*/ 7 w 26"/>
                <a:gd name="T5" fmla="*/ 29 h 30"/>
                <a:gd name="T6" fmla="*/ 25 w 26"/>
                <a:gd name="T7" fmla="*/ 0 h 30"/>
                <a:gd name="T8" fmla="*/ 0 60000 65536"/>
                <a:gd name="T9" fmla="*/ 0 60000 65536"/>
                <a:gd name="T10" fmla="*/ 0 60000 65536"/>
                <a:gd name="T11" fmla="*/ 0 60000 65536"/>
                <a:gd name="T12" fmla="*/ 0 w 26"/>
                <a:gd name="T13" fmla="*/ 0 h 30"/>
                <a:gd name="T14" fmla="*/ 26 w 26"/>
                <a:gd name="T15" fmla="*/ 30 h 30"/>
              </a:gdLst>
              <a:ahLst/>
              <a:cxnLst>
                <a:cxn ang="T8">
                  <a:pos x="T0" y="T1"/>
                </a:cxn>
                <a:cxn ang="T9">
                  <a:pos x="T2" y="T3"/>
                </a:cxn>
                <a:cxn ang="T10">
                  <a:pos x="T4" y="T5"/>
                </a:cxn>
                <a:cxn ang="T11">
                  <a:pos x="T6" y="T7"/>
                </a:cxn>
              </a:cxnLst>
              <a:rect l="T12" t="T13" r="T14" b="T15"/>
              <a:pathLst>
                <a:path w="26" h="30">
                  <a:moveTo>
                    <a:pt x="25" y="0"/>
                  </a:moveTo>
                  <a:lnTo>
                    <a:pt x="0" y="29"/>
                  </a:lnTo>
                  <a:lnTo>
                    <a:pt x="7" y="29"/>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4" name="Freeform 7027"/>
            <p:cNvSpPr>
              <a:spLocks/>
            </p:cNvSpPr>
            <p:nvPr/>
          </p:nvSpPr>
          <p:spPr bwMode="auto">
            <a:xfrm>
              <a:off x="2039" y="2077"/>
              <a:ext cx="26" cy="37"/>
            </a:xfrm>
            <a:custGeom>
              <a:avLst/>
              <a:gdLst>
                <a:gd name="T0" fmla="*/ 25 w 26"/>
                <a:gd name="T1" fmla="*/ 6 h 37"/>
                <a:gd name="T2" fmla="*/ 15 w 26"/>
                <a:gd name="T3" fmla="*/ 0 h 37"/>
                <a:gd name="T4" fmla="*/ 0 w 26"/>
                <a:gd name="T5" fmla="*/ 36 h 37"/>
                <a:gd name="T6" fmla="*/ 25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6"/>
                  </a:moveTo>
                  <a:lnTo>
                    <a:pt x="15" y="0"/>
                  </a:lnTo>
                  <a:lnTo>
                    <a:pt x="0" y="36"/>
                  </a:lnTo>
                  <a:lnTo>
                    <a:pt x="25"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5" name="Freeform 7028"/>
            <p:cNvSpPr>
              <a:spLocks/>
            </p:cNvSpPr>
            <p:nvPr/>
          </p:nvSpPr>
          <p:spPr bwMode="auto">
            <a:xfrm>
              <a:off x="2051" y="207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6" name="Line 7029"/>
            <p:cNvSpPr>
              <a:spLocks noChangeShapeType="1"/>
            </p:cNvSpPr>
            <p:nvPr/>
          </p:nvSpPr>
          <p:spPr bwMode="auto">
            <a:xfrm>
              <a:off x="2051" y="2077"/>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7" name="Freeform 7030"/>
            <p:cNvSpPr>
              <a:spLocks/>
            </p:cNvSpPr>
            <p:nvPr/>
          </p:nvSpPr>
          <p:spPr bwMode="auto">
            <a:xfrm>
              <a:off x="2051" y="2049"/>
              <a:ext cx="27" cy="36"/>
            </a:xfrm>
            <a:custGeom>
              <a:avLst/>
              <a:gdLst>
                <a:gd name="T0" fmla="*/ 26 w 27"/>
                <a:gd name="T1" fmla="*/ 0 h 36"/>
                <a:gd name="T2" fmla="*/ 0 w 27"/>
                <a:gd name="T3" fmla="*/ 28 h 36"/>
                <a:gd name="T4" fmla="*/ 10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0"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8" name="Freeform 7031"/>
            <p:cNvSpPr>
              <a:spLocks/>
            </p:cNvSpPr>
            <p:nvPr/>
          </p:nvSpPr>
          <p:spPr bwMode="auto">
            <a:xfrm>
              <a:off x="2051" y="2041"/>
              <a:ext cx="27" cy="37"/>
            </a:xfrm>
            <a:custGeom>
              <a:avLst/>
              <a:gdLst>
                <a:gd name="T0" fmla="*/ 26 w 27"/>
                <a:gd name="T1" fmla="*/ 8 h 37"/>
                <a:gd name="T2" fmla="*/ 10 w 27"/>
                <a:gd name="T3" fmla="*/ 0 h 37"/>
                <a:gd name="T4" fmla="*/ 0 w 27"/>
                <a:gd name="T5" fmla="*/ 36 h 37"/>
                <a:gd name="T6" fmla="*/ 26 w 27"/>
                <a:gd name="T7" fmla="*/ 8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26" y="8"/>
                  </a:moveTo>
                  <a:lnTo>
                    <a:pt x="10" y="0"/>
                  </a:lnTo>
                  <a:lnTo>
                    <a:pt x="0" y="36"/>
                  </a:lnTo>
                  <a:lnTo>
                    <a:pt x="26"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79" name="Freeform 7032"/>
            <p:cNvSpPr>
              <a:spLocks/>
            </p:cNvSpPr>
            <p:nvPr/>
          </p:nvSpPr>
          <p:spPr bwMode="auto">
            <a:xfrm>
              <a:off x="2058" y="204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0" name="Line 7033"/>
            <p:cNvSpPr>
              <a:spLocks noChangeShapeType="1"/>
            </p:cNvSpPr>
            <p:nvPr/>
          </p:nvSpPr>
          <p:spPr bwMode="auto">
            <a:xfrm>
              <a:off x="2058" y="20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1" name="Freeform 7034"/>
            <p:cNvSpPr>
              <a:spLocks/>
            </p:cNvSpPr>
            <p:nvPr/>
          </p:nvSpPr>
          <p:spPr bwMode="auto">
            <a:xfrm>
              <a:off x="2058" y="2012"/>
              <a:ext cx="27" cy="38"/>
            </a:xfrm>
            <a:custGeom>
              <a:avLst/>
              <a:gdLst>
                <a:gd name="T0" fmla="*/ 26 w 27"/>
                <a:gd name="T1" fmla="*/ 0 h 38"/>
                <a:gd name="T2" fmla="*/ 0 w 27"/>
                <a:gd name="T3" fmla="*/ 28 h 38"/>
                <a:gd name="T4" fmla="*/ 12 w 27"/>
                <a:gd name="T5" fmla="*/ 37 h 38"/>
                <a:gd name="T6" fmla="*/ 26 w 27"/>
                <a:gd name="T7" fmla="*/ 0 h 38"/>
                <a:gd name="T8" fmla="*/ 0 60000 65536"/>
                <a:gd name="T9" fmla="*/ 0 60000 65536"/>
                <a:gd name="T10" fmla="*/ 0 60000 65536"/>
                <a:gd name="T11" fmla="*/ 0 60000 65536"/>
                <a:gd name="T12" fmla="*/ 0 w 27"/>
                <a:gd name="T13" fmla="*/ 0 h 38"/>
                <a:gd name="T14" fmla="*/ 27 w 27"/>
                <a:gd name="T15" fmla="*/ 38 h 38"/>
              </a:gdLst>
              <a:ahLst/>
              <a:cxnLst>
                <a:cxn ang="T8">
                  <a:pos x="T0" y="T1"/>
                </a:cxn>
                <a:cxn ang="T9">
                  <a:pos x="T2" y="T3"/>
                </a:cxn>
                <a:cxn ang="T10">
                  <a:pos x="T4" y="T5"/>
                </a:cxn>
                <a:cxn ang="T11">
                  <a:pos x="T6" y="T7"/>
                </a:cxn>
              </a:cxnLst>
              <a:rect l="T12" t="T13" r="T14" b="T15"/>
              <a:pathLst>
                <a:path w="27" h="38">
                  <a:moveTo>
                    <a:pt x="26" y="0"/>
                  </a:moveTo>
                  <a:lnTo>
                    <a:pt x="0" y="28"/>
                  </a:lnTo>
                  <a:lnTo>
                    <a:pt x="12" y="3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2" name="Freeform 7035"/>
            <p:cNvSpPr>
              <a:spLocks/>
            </p:cNvSpPr>
            <p:nvPr/>
          </p:nvSpPr>
          <p:spPr bwMode="auto">
            <a:xfrm>
              <a:off x="2058" y="2007"/>
              <a:ext cx="27" cy="35"/>
            </a:xfrm>
            <a:custGeom>
              <a:avLst/>
              <a:gdLst>
                <a:gd name="T0" fmla="*/ 26 w 27"/>
                <a:gd name="T1" fmla="*/ 6 h 35"/>
                <a:gd name="T2" fmla="*/ 12 w 27"/>
                <a:gd name="T3" fmla="*/ 0 h 35"/>
                <a:gd name="T4" fmla="*/ 0 w 27"/>
                <a:gd name="T5" fmla="*/ 34 h 35"/>
                <a:gd name="T6" fmla="*/ 26 w 27"/>
                <a:gd name="T7" fmla="*/ 6 h 35"/>
                <a:gd name="T8" fmla="*/ 0 60000 65536"/>
                <a:gd name="T9" fmla="*/ 0 60000 65536"/>
                <a:gd name="T10" fmla="*/ 0 60000 65536"/>
                <a:gd name="T11" fmla="*/ 0 60000 65536"/>
                <a:gd name="T12" fmla="*/ 0 w 27"/>
                <a:gd name="T13" fmla="*/ 0 h 35"/>
                <a:gd name="T14" fmla="*/ 27 w 27"/>
                <a:gd name="T15" fmla="*/ 35 h 35"/>
              </a:gdLst>
              <a:ahLst/>
              <a:cxnLst>
                <a:cxn ang="T8">
                  <a:pos x="T0" y="T1"/>
                </a:cxn>
                <a:cxn ang="T9">
                  <a:pos x="T2" y="T3"/>
                </a:cxn>
                <a:cxn ang="T10">
                  <a:pos x="T4" y="T5"/>
                </a:cxn>
                <a:cxn ang="T11">
                  <a:pos x="T6" y="T7"/>
                </a:cxn>
              </a:cxnLst>
              <a:rect l="T12" t="T13" r="T14" b="T15"/>
              <a:pathLst>
                <a:path w="27" h="35">
                  <a:moveTo>
                    <a:pt x="26" y="6"/>
                  </a:moveTo>
                  <a:lnTo>
                    <a:pt x="12" y="0"/>
                  </a:lnTo>
                  <a:lnTo>
                    <a:pt x="0" y="34"/>
                  </a:lnTo>
                  <a:lnTo>
                    <a:pt x="26"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3" name="Freeform 7036"/>
            <p:cNvSpPr>
              <a:spLocks/>
            </p:cNvSpPr>
            <p:nvPr/>
          </p:nvSpPr>
          <p:spPr bwMode="auto">
            <a:xfrm>
              <a:off x="2070" y="2007"/>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4" name="Line 7037"/>
            <p:cNvSpPr>
              <a:spLocks noChangeShapeType="1"/>
            </p:cNvSpPr>
            <p:nvPr/>
          </p:nvSpPr>
          <p:spPr bwMode="auto">
            <a:xfrm>
              <a:off x="2070" y="2007"/>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5" name="Freeform 7038"/>
            <p:cNvSpPr>
              <a:spLocks/>
            </p:cNvSpPr>
            <p:nvPr/>
          </p:nvSpPr>
          <p:spPr bwMode="auto">
            <a:xfrm>
              <a:off x="2070" y="1977"/>
              <a:ext cx="27" cy="36"/>
            </a:xfrm>
            <a:custGeom>
              <a:avLst/>
              <a:gdLst>
                <a:gd name="T0" fmla="*/ 26 w 27"/>
                <a:gd name="T1" fmla="*/ 0 h 36"/>
                <a:gd name="T2" fmla="*/ 0 w 27"/>
                <a:gd name="T3" fmla="*/ 28 h 36"/>
                <a:gd name="T4" fmla="*/ 13 w 27"/>
                <a:gd name="T5" fmla="*/ 35 h 36"/>
                <a:gd name="T6" fmla="*/ 26 w 27"/>
                <a:gd name="T7" fmla="*/ 0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0"/>
                  </a:moveTo>
                  <a:lnTo>
                    <a:pt x="0" y="28"/>
                  </a:lnTo>
                  <a:lnTo>
                    <a:pt x="13" y="35"/>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6" name="Freeform 7039"/>
            <p:cNvSpPr>
              <a:spLocks/>
            </p:cNvSpPr>
            <p:nvPr/>
          </p:nvSpPr>
          <p:spPr bwMode="auto">
            <a:xfrm>
              <a:off x="2070" y="1977"/>
              <a:ext cx="27" cy="31"/>
            </a:xfrm>
            <a:custGeom>
              <a:avLst/>
              <a:gdLst>
                <a:gd name="T0" fmla="*/ 26 w 27"/>
                <a:gd name="T1" fmla="*/ 0 h 31"/>
                <a:gd name="T2" fmla="*/ 13 w 27"/>
                <a:gd name="T3" fmla="*/ 0 h 31"/>
                <a:gd name="T4" fmla="*/ 0 w 27"/>
                <a:gd name="T5" fmla="*/ 30 h 31"/>
                <a:gd name="T6" fmla="*/ 26 w 27"/>
                <a:gd name="T7" fmla="*/ 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26" y="0"/>
                  </a:moveTo>
                  <a:lnTo>
                    <a:pt x="13" y="0"/>
                  </a:lnTo>
                  <a:lnTo>
                    <a:pt x="0" y="3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7" name="Freeform 7040"/>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8" name="Freeform 7041"/>
            <p:cNvSpPr>
              <a:spLocks/>
            </p:cNvSpPr>
            <p:nvPr/>
          </p:nvSpPr>
          <p:spPr bwMode="auto">
            <a:xfrm>
              <a:off x="2081" y="197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89" name="Freeform 7042"/>
            <p:cNvSpPr>
              <a:spLocks/>
            </p:cNvSpPr>
            <p:nvPr/>
          </p:nvSpPr>
          <p:spPr bwMode="auto">
            <a:xfrm>
              <a:off x="2081" y="1949"/>
              <a:ext cx="29" cy="29"/>
            </a:xfrm>
            <a:custGeom>
              <a:avLst/>
              <a:gdLst>
                <a:gd name="T0" fmla="*/ 28 w 29"/>
                <a:gd name="T1" fmla="*/ 0 h 29"/>
                <a:gd name="T2" fmla="*/ 0 w 29"/>
                <a:gd name="T3" fmla="*/ 28 h 29"/>
                <a:gd name="T4" fmla="*/ 14 w 29"/>
                <a:gd name="T5" fmla="*/ 28 h 29"/>
                <a:gd name="T6" fmla="*/ 28 w 29"/>
                <a:gd name="T7" fmla="*/ 0 h 29"/>
                <a:gd name="T8" fmla="*/ 0 60000 65536"/>
                <a:gd name="T9" fmla="*/ 0 60000 65536"/>
                <a:gd name="T10" fmla="*/ 0 60000 65536"/>
                <a:gd name="T11" fmla="*/ 0 60000 65536"/>
                <a:gd name="T12" fmla="*/ 0 w 29"/>
                <a:gd name="T13" fmla="*/ 0 h 29"/>
                <a:gd name="T14" fmla="*/ 29 w 29"/>
                <a:gd name="T15" fmla="*/ 29 h 29"/>
              </a:gdLst>
              <a:ahLst/>
              <a:cxnLst>
                <a:cxn ang="T8">
                  <a:pos x="T0" y="T1"/>
                </a:cxn>
                <a:cxn ang="T9">
                  <a:pos x="T2" y="T3"/>
                </a:cxn>
                <a:cxn ang="T10">
                  <a:pos x="T4" y="T5"/>
                </a:cxn>
                <a:cxn ang="T11">
                  <a:pos x="T6" y="T7"/>
                </a:cxn>
              </a:cxnLst>
              <a:rect l="T12" t="T13" r="T14" b="T15"/>
              <a:pathLst>
                <a:path w="29" h="29">
                  <a:moveTo>
                    <a:pt x="28" y="0"/>
                  </a:moveTo>
                  <a:lnTo>
                    <a:pt x="0" y="28"/>
                  </a:lnTo>
                  <a:lnTo>
                    <a:pt x="14" y="28"/>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0" name="Freeform 7043"/>
            <p:cNvSpPr>
              <a:spLocks/>
            </p:cNvSpPr>
            <p:nvPr/>
          </p:nvSpPr>
          <p:spPr bwMode="auto">
            <a:xfrm>
              <a:off x="2081" y="1941"/>
              <a:ext cx="29" cy="37"/>
            </a:xfrm>
            <a:custGeom>
              <a:avLst/>
              <a:gdLst>
                <a:gd name="T0" fmla="*/ 28 w 29"/>
                <a:gd name="T1" fmla="*/ 8 h 37"/>
                <a:gd name="T2" fmla="*/ 14 w 29"/>
                <a:gd name="T3" fmla="*/ 0 h 37"/>
                <a:gd name="T4" fmla="*/ 0 w 29"/>
                <a:gd name="T5" fmla="*/ 36 h 37"/>
                <a:gd name="T6" fmla="*/ 28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28" y="8"/>
                  </a:moveTo>
                  <a:lnTo>
                    <a:pt x="14" y="0"/>
                  </a:lnTo>
                  <a:lnTo>
                    <a:pt x="0" y="36"/>
                  </a:lnTo>
                  <a:lnTo>
                    <a:pt x="28"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1" name="Freeform 7044"/>
            <p:cNvSpPr>
              <a:spLocks/>
            </p:cNvSpPr>
            <p:nvPr/>
          </p:nvSpPr>
          <p:spPr bwMode="auto">
            <a:xfrm>
              <a:off x="2096" y="194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2" name="Line 7045"/>
            <p:cNvSpPr>
              <a:spLocks noChangeShapeType="1"/>
            </p:cNvSpPr>
            <p:nvPr/>
          </p:nvSpPr>
          <p:spPr bwMode="auto">
            <a:xfrm>
              <a:off x="2096" y="19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3" name="Freeform 7046"/>
            <p:cNvSpPr>
              <a:spLocks/>
            </p:cNvSpPr>
            <p:nvPr/>
          </p:nvSpPr>
          <p:spPr bwMode="auto">
            <a:xfrm>
              <a:off x="2096" y="1919"/>
              <a:ext cx="24" cy="31"/>
            </a:xfrm>
            <a:custGeom>
              <a:avLst/>
              <a:gdLst>
                <a:gd name="T0" fmla="*/ 23 w 24"/>
                <a:gd name="T1" fmla="*/ 0 h 31"/>
                <a:gd name="T2" fmla="*/ 0 w 24"/>
                <a:gd name="T3" fmla="*/ 21 h 31"/>
                <a:gd name="T4" fmla="*/ 12 w 24"/>
                <a:gd name="T5" fmla="*/ 30 h 31"/>
                <a:gd name="T6" fmla="*/ 23 w 24"/>
                <a:gd name="T7" fmla="*/ 0 h 31"/>
                <a:gd name="T8" fmla="*/ 0 60000 65536"/>
                <a:gd name="T9" fmla="*/ 0 60000 65536"/>
                <a:gd name="T10" fmla="*/ 0 60000 65536"/>
                <a:gd name="T11" fmla="*/ 0 60000 65536"/>
                <a:gd name="T12" fmla="*/ 0 w 24"/>
                <a:gd name="T13" fmla="*/ 0 h 31"/>
                <a:gd name="T14" fmla="*/ 24 w 24"/>
                <a:gd name="T15" fmla="*/ 31 h 31"/>
              </a:gdLst>
              <a:ahLst/>
              <a:cxnLst>
                <a:cxn ang="T8">
                  <a:pos x="T0" y="T1"/>
                </a:cxn>
                <a:cxn ang="T9">
                  <a:pos x="T2" y="T3"/>
                </a:cxn>
                <a:cxn ang="T10">
                  <a:pos x="T4" y="T5"/>
                </a:cxn>
                <a:cxn ang="T11">
                  <a:pos x="T6" y="T7"/>
                </a:cxn>
              </a:cxnLst>
              <a:rect l="T12" t="T13" r="T14" b="T15"/>
              <a:pathLst>
                <a:path w="24" h="31">
                  <a:moveTo>
                    <a:pt x="23" y="0"/>
                  </a:moveTo>
                  <a:lnTo>
                    <a:pt x="0" y="21"/>
                  </a:lnTo>
                  <a:lnTo>
                    <a:pt x="12" y="30"/>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4" name="Freeform 7047"/>
            <p:cNvSpPr>
              <a:spLocks/>
            </p:cNvSpPr>
            <p:nvPr/>
          </p:nvSpPr>
          <p:spPr bwMode="auto">
            <a:xfrm>
              <a:off x="2096" y="1913"/>
              <a:ext cx="24" cy="29"/>
            </a:xfrm>
            <a:custGeom>
              <a:avLst/>
              <a:gdLst>
                <a:gd name="T0" fmla="*/ 23 w 24"/>
                <a:gd name="T1" fmla="*/ 6 h 29"/>
                <a:gd name="T2" fmla="*/ 12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2" y="0"/>
                  </a:lnTo>
                  <a:lnTo>
                    <a:pt x="0" y="28"/>
                  </a:lnTo>
                  <a:lnTo>
                    <a:pt x="23"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5" name="Freeform 7048"/>
            <p:cNvSpPr>
              <a:spLocks/>
            </p:cNvSpPr>
            <p:nvPr/>
          </p:nvSpPr>
          <p:spPr bwMode="auto">
            <a:xfrm>
              <a:off x="2109" y="1913"/>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6" name="Line 7049"/>
            <p:cNvSpPr>
              <a:spLocks noChangeShapeType="1"/>
            </p:cNvSpPr>
            <p:nvPr/>
          </p:nvSpPr>
          <p:spPr bwMode="auto">
            <a:xfrm>
              <a:off x="2109" y="1913"/>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7" name="Freeform 7050"/>
            <p:cNvSpPr>
              <a:spLocks/>
            </p:cNvSpPr>
            <p:nvPr/>
          </p:nvSpPr>
          <p:spPr bwMode="auto">
            <a:xfrm>
              <a:off x="2109" y="1892"/>
              <a:ext cx="26" cy="28"/>
            </a:xfrm>
            <a:custGeom>
              <a:avLst/>
              <a:gdLst>
                <a:gd name="T0" fmla="*/ 25 w 26"/>
                <a:gd name="T1" fmla="*/ 0 h 28"/>
                <a:gd name="T2" fmla="*/ 0 w 26"/>
                <a:gd name="T3" fmla="*/ 20 h 28"/>
                <a:gd name="T4" fmla="*/ 11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20"/>
                  </a:lnTo>
                  <a:lnTo>
                    <a:pt x="11"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8" name="Freeform 7051"/>
            <p:cNvSpPr>
              <a:spLocks/>
            </p:cNvSpPr>
            <p:nvPr/>
          </p:nvSpPr>
          <p:spPr bwMode="auto">
            <a:xfrm>
              <a:off x="2109" y="1886"/>
              <a:ext cx="26" cy="28"/>
            </a:xfrm>
            <a:custGeom>
              <a:avLst/>
              <a:gdLst>
                <a:gd name="T0" fmla="*/ 25 w 26"/>
                <a:gd name="T1" fmla="*/ 6 h 28"/>
                <a:gd name="T2" fmla="*/ 11 w 26"/>
                <a:gd name="T3" fmla="*/ 0 h 28"/>
                <a:gd name="T4" fmla="*/ 0 w 26"/>
                <a:gd name="T5" fmla="*/ 27 h 28"/>
                <a:gd name="T6" fmla="*/ 25 w 26"/>
                <a:gd name="T7" fmla="*/ 6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6"/>
                  </a:moveTo>
                  <a:lnTo>
                    <a:pt x="11" y="0"/>
                  </a:lnTo>
                  <a:lnTo>
                    <a:pt x="0" y="27"/>
                  </a:lnTo>
                  <a:lnTo>
                    <a:pt x="25"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699" name="Freeform 7052"/>
            <p:cNvSpPr>
              <a:spLocks/>
            </p:cNvSpPr>
            <p:nvPr/>
          </p:nvSpPr>
          <p:spPr bwMode="auto">
            <a:xfrm>
              <a:off x="2119" y="1886"/>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0" name="Line 7053"/>
            <p:cNvSpPr>
              <a:spLocks noChangeShapeType="1"/>
            </p:cNvSpPr>
            <p:nvPr/>
          </p:nvSpPr>
          <p:spPr bwMode="auto">
            <a:xfrm>
              <a:off x="2119" y="1886"/>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1" name="Freeform 7054"/>
            <p:cNvSpPr>
              <a:spLocks/>
            </p:cNvSpPr>
            <p:nvPr/>
          </p:nvSpPr>
          <p:spPr bwMode="auto">
            <a:xfrm>
              <a:off x="2119" y="1864"/>
              <a:ext cx="28" cy="29"/>
            </a:xfrm>
            <a:custGeom>
              <a:avLst/>
              <a:gdLst>
                <a:gd name="T0" fmla="*/ 27 w 28"/>
                <a:gd name="T1" fmla="*/ 0 h 29"/>
                <a:gd name="T2" fmla="*/ 0 w 28"/>
                <a:gd name="T3" fmla="*/ 21 h 29"/>
                <a:gd name="T4" fmla="*/ 13 w 28"/>
                <a:gd name="T5" fmla="*/ 28 h 29"/>
                <a:gd name="T6" fmla="*/ 27 w 28"/>
                <a:gd name="T7" fmla="*/ 0 h 29"/>
                <a:gd name="T8" fmla="*/ 0 60000 65536"/>
                <a:gd name="T9" fmla="*/ 0 60000 65536"/>
                <a:gd name="T10" fmla="*/ 0 60000 65536"/>
                <a:gd name="T11" fmla="*/ 0 60000 65536"/>
                <a:gd name="T12" fmla="*/ 0 w 28"/>
                <a:gd name="T13" fmla="*/ 0 h 29"/>
                <a:gd name="T14" fmla="*/ 28 w 28"/>
                <a:gd name="T15" fmla="*/ 29 h 29"/>
              </a:gdLst>
              <a:ahLst/>
              <a:cxnLst>
                <a:cxn ang="T8">
                  <a:pos x="T0" y="T1"/>
                </a:cxn>
                <a:cxn ang="T9">
                  <a:pos x="T2" y="T3"/>
                </a:cxn>
                <a:cxn ang="T10">
                  <a:pos x="T4" y="T5"/>
                </a:cxn>
                <a:cxn ang="T11">
                  <a:pos x="T6" y="T7"/>
                </a:cxn>
              </a:cxnLst>
              <a:rect l="T12" t="T13" r="T14" b="T15"/>
              <a:pathLst>
                <a:path w="28" h="29">
                  <a:moveTo>
                    <a:pt x="27" y="0"/>
                  </a:moveTo>
                  <a:lnTo>
                    <a:pt x="0" y="21"/>
                  </a:lnTo>
                  <a:lnTo>
                    <a:pt x="13" y="28"/>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2" name="Freeform 7055"/>
            <p:cNvSpPr>
              <a:spLocks/>
            </p:cNvSpPr>
            <p:nvPr/>
          </p:nvSpPr>
          <p:spPr bwMode="auto">
            <a:xfrm>
              <a:off x="2119" y="1856"/>
              <a:ext cx="28" cy="31"/>
            </a:xfrm>
            <a:custGeom>
              <a:avLst/>
              <a:gdLst>
                <a:gd name="T0" fmla="*/ 27 w 28"/>
                <a:gd name="T1" fmla="*/ 8 h 31"/>
                <a:gd name="T2" fmla="*/ 13 w 28"/>
                <a:gd name="T3" fmla="*/ 0 h 31"/>
                <a:gd name="T4" fmla="*/ 0 w 28"/>
                <a:gd name="T5" fmla="*/ 30 h 31"/>
                <a:gd name="T6" fmla="*/ 27 w 28"/>
                <a:gd name="T7" fmla="*/ 8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8"/>
                  </a:moveTo>
                  <a:lnTo>
                    <a:pt x="13" y="0"/>
                  </a:lnTo>
                  <a:lnTo>
                    <a:pt x="0" y="30"/>
                  </a:lnTo>
                  <a:lnTo>
                    <a:pt x="27"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3" name="Freeform 7056"/>
            <p:cNvSpPr>
              <a:spLocks/>
            </p:cNvSpPr>
            <p:nvPr/>
          </p:nvSpPr>
          <p:spPr bwMode="auto">
            <a:xfrm>
              <a:off x="2134" y="1856"/>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4" name="Line 7057"/>
            <p:cNvSpPr>
              <a:spLocks noChangeShapeType="1"/>
            </p:cNvSpPr>
            <p:nvPr/>
          </p:nvSpPr>
          <p:spPr bwMode="auto">
            <a:xfrm>
              <a:off x="2134" y="1856"/>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5" name="Freeform 7058"/>
            <p:cNvSpPr>
              <a:spLocks/>
            </p:cNvSpPr>
            <p:nvPr/>
          </p:nvSpPr>
          <p:spPr bwMode="auto">
            <a:xfrm>
              <a:off x="2134" y="1835"/>
              <a:ext cx="24" cy="30"/>
            </a:xfrm>
            <a:custGeom>
              <a:avLst/>
              <a:gdLst>
                <a:gd name="T0" fmla="*/ 23 w 24"/>
                <a:gd name="T1" fmla="*/ 0 h 30"/>
                <a:gd name="T2" fmla="*/ 0 w 24"/>
                <a:gd name="T3" fmla="*/ 20 h 30"/>
                <a:gd name="T4" fmla="*/ 11 w 24"/>
                <a:gd name="T5" fmla="*/ 29 h 30"/>
                <a:gd name="T6" fmla="*/ 23 w 24"/>
                <a:gd name="T7" fmla="*/ 0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0"/>
                  </a:moveTo>
                  <a:lnTo>
                    <a:pt x="0" y="20"/>
                  </a:lnTo>
                  <a:lnTo>
                    <a:pt x="11" y="29"/>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6" name="Freeform 7059"/>
            <p:cNvSpPr>
              <a:spLocks/>
            </p:cNvSpPr>
            <p:nvPr/>
          </p:nvSpPr>
          <p:spPr bwMode="auto">
            <a:xfrm>
              <a:off x="2134" y="1828"/>
              <a:ext cx="24" cy="29"/>
            </a:xfrm>
            <a:custGeom>
              <a:avLst/>
              <a:gdLst>
                <a:gd name="T0" fmla="*/ 23 w 24"/>
                <a:gd name="T1" fmla="*/ 6 h 29"/>
                <a:gd name="T2" fmla="*/ 11 w 24"/>
                <a:gd name="T3" fmla="*/ 0 h 29"/>
                <a:gd name="T4" fmla="*/ 0 w 24"/>
                <a:gd name="T5" fmla="*/ 28 h 29"/>
                <a:gd name="T6" fmla="*/ 23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23" y="6"/>
                  </a:moveTo>
                  <a:lnTo>
                    <a:pt x="11" y="0"/>
                  </a:lnTo>
                  <a:lnTo>
                    <a:pt x="0" y="28"/>
                  </a:lnTo>
                  <a:lnTo>
                    <a:pt x="23"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7" name="Freeform 7060"/>
            <p:cNvSpPr>
              <a:spLocks/>
            </p:cNvSpPr>
            <p:nvPr/>
          </p:nvSpPr>
          <p:spPr bwMode="auto">
            <a:xfrm>
              <a:off x="2146" y="182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8" name="Line 7061"/>
            <p:cNvSpPr>
              <a:spLocks noChangeShapeType="1"/>
            </p:cNvSpPr>
            <p:nvPr/>
          </p:nvSpPr>
          <p:spPr bwMode="auto">
            <a:xfrm>
              <a:off x="2146" y="182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09" name="Freeform 7062"/>
            <p:cNvSpPr>
              <a:spLocks/>
            </p:cNvSpPr>
            <p:nvPr/>
          </p:nvSpPr>
          <p:spPr bwMode="auto">
            <a:xfrm>
              <a:off x="2146" y="1813"/>
              <a:ext cx="24" cy="28"/>
            </a:xfrm>
            <a:custGeom>
              <a:avLst/>
              <a:gdLst>
                <a:gd name="T0" fmla="*/ 23 w 24"/>
                <a:gd name="T1" fmla="*/ 0 h 28"/>
                <a:gd name="T2" fmla="*/ 0 w 24"/>
                <a:gd name="T3" fmla="*/ 18 h 28"/>
                <a:gd name="T4" fmla="*/ 12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18"/>
                  </a:lnTo>
                  <a:lnTo>
                    <a:pt x="12" y="27"/>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0" name="Freeform 7063"/>
            <p:cNvSpPr>
              <a:spLocks/>
            </p:cNvSpPr>
            <p:nvPr/>
          </p:nvSpPr>
          <p:spPr bwMode="auto">
            <a:xfrm>
              <a:off x="2146" y="1807"/>
              <a:ext cx="24" cy="26"/>
            </a:xfrm>
            <a:custGeom>
              <a:avLst/>
              <a:gdLst>
                <a:gd name="T0" fmla="*/ 23 w 24"/>
                <a:gd name="T1" fmla="*/ 7 h 26"/>
                <a:gd name="T2" fmla="*/ 12 w 24"/>
                <a:gd name="T3" fmla="*/ 0 h 26"/>
                <a:gd name="T4" fmla="*/ 0 w 24"/>
                <a:gd name="T5" fmla="*/ 25 h 26"/>
                <a:gd name="T6" fmla="*/ 23 w 24"/>
                <a:gd name="T7" fmla="*/ 7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23" y="7"/>
                  </a:moveTo>
                  <a:lnTo>
                    <a:pt x="12" y="0"/>
                  </a:lnTo>
                  <a:lnTo>
                    <a:pt x="0" y="25"/>
                  </a:lnTo>
                  <a:lnTo>
                    <a:pt x="23" y="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1" name="Freeform 7064"/>
            <p:cNvSpPr>
              <a:spLocks/>
            </p:cNvSpPr>
            <p:nvPr/>
          </p:nvSpPr>
          <p:spPr bwMode="auto">
            <a:xfrm>
              <a:off x="2157" y="1807"/>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2" name="Line 7065"/>
            <p:cNvSpPr>
              <a:spLocks noChangeShapeType="1"/>
            </p:cNvSpPr>
            <p:nvPr/>
          </p:nvSpPr>
          <p:spPr bwMode="auto">
            <a:xfrm>
              <a:off x="2157" y="180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3" name="Freeform 7066"/>
            <p:cNvSpPr>
              <a:spLocks/>
            </p:cNvSpPr>
            <p:nvPr/>
          </p:nvSpPr>
          <p:spPr bwMode="auto">
            <a:xfrm>
              <a:off x="2157" y="1792"/>
              <a:ext cx="28" cy="27"/>
            </a:xfrm>
            <a:custGeom>
              <a:avLst/>
              <a:gdLst>
                <a:gd name="T0" fmla="*/ 27 w 28"/>
                <a:gd name="T1" fmla="*/ 0 h 27"/>
                <a:gd name="T2" fmla="*/ 0 w 28"/>
                <a:gd name="T3" fmla="*/ 18 h 27"/>
                <a:gd name="T4" fmla="*/ 16 w 28"/>
                <a:gd name="T5" fmla="*/ 26 h 27"/>
                <a:gd name="T6" fmla="*/ 27 w 28"/>
                <a:gd name="T7" fmla="*/ 0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0"/>
                  </a:moveTo>
                  <a:lnTo>
                    <a:pt x="0" y="18"/>
                  </a:lnTo>
                  <a:lnTo>
                    <a:pt x="16" y="26"/>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4" name="Freeform 7067"/>
            <p:cNvSpPr>
              <a:spLocks/>
            </p:cNvSpPr>
            <p:nvPr/>
          </p:nvSpPr>
          <p:spPr bwMode="auto">
            <a:xfrm>
              <a:off x="2157" y="1785"/>
              <a:ext cx="28" cy="28"/>
            </a:xfrm>
            <a:custGeom>
              <a:avLst/>
              <a:gdLst>
                <a:gd name="T0" fmla="*/ 27 w 28"/>
                <a:gd name="T1" fmla="*/ 8 h 28"/>
                <a:gd name="T2" fmla="*/ 16 w 28"/>
                <a:gd name="T3" fmla="*/ 0 h 28"/>
                <a:gd name="T4" fmla="*/ 0 w 28"/>
                <a:gd name="T5" fmla="*/ 27 h 28"/>
                <a:gd name="T6" fmla="*/ 27 w 28"/>
                <a:gd name="T7" fmla="*/ 8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8"/>
                  </a:moveTo>
                  <a:lnTo>
                    <a:pt x="16" y="0"/>
                  </a:lnTo>
                  <a:lnTo>
                    <a:pt x="0" y="27"/>
                  </a:lnTo>
                  <a:lnTo>
                    <a:pt x="27"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5" name="Freeform 7068"/>
            <p:cNvSpPr>
              <a:spLocks/>
            </p:cNvSpPr>
            <p:nvPr/>
          </p:nvSpPr>
          <p:spPr bwMode="auto">
            <a:xfrm>
              <a:off x="2169" y="1785"/>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6" name="Line 7069"/>
            <p:cNvSpPr>
              <a:spLocks noChangeShapeType="1"/>
            </p:cNvSpPr>
            <p:nvPr/>
          </p:nvSpPr>
          <p:spPr bwMode="auto">
            <a:xfrm>
              <a:off x="2169" y="1785"/>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7" name="Freeform 7070"/>
            <p:cNvSpPr>
              <a:spLocks/>
            </p:cNvSpPr>
            <p:nvPr/>
          </p:nvSpPr>
          <p:spPr bwMode="auto">
            <a:xfrm>
              <a:off x="2169" y="1777"/>
              <a:ext cx="27" cy="28"/>
            </a:xfrm>
            <a:custGeom>
              <a:avLst/>
              <a:gdLst>
                <a:gd name="T0" fmla="*/ 26 w 27"/>
                <a:gd name="T1" fmla="*/ 0 h 28"/>
                <a:gd name="T2" fmla="*/ 0 w 27"/>
                <a:gd name="T3" fmla="*/ 15 h 28"/>
                <a:gd name="T4" fmla="*/ 1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15"/>
                  </a:lnTo>
                  <a:lnTo>
                    <a:pt x="10"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8" name="Freeform 7071"/>
            <p:cNvSpPr>
              <a:spLocks/>
            </p:cNvSpPr>
            <p:nvPr/>
          </p:nvSpPr>
          <p:spPr bwMode="auto">
            <a:xfrm>
              <a:off x="2169" y="1771"/>
              <a:ext cx="27" cy="27"/>
            </a:xfrm>
            <a:custGeom>
              <a:avLst/>
              <a:gdLst>
                <a:gd name="T0" fmla="*/ 26 w 27"/>
                <a:gd name="T1" fmla="*/ 11 h 27"/>
                <a:gd name="T2" fmla="*/ 18 w 27"/>
                <a:gd name="T3" fmla="*/ 0 h 27"/>
                <a:gd name="T4" fmla="*/ 0 w 27"/>
                <a:gd name="T5" fmla="*/ 26 h 27"/>
                <a:gd name="T6" fmla="*/ 26 w 27"/>
                <a:gd name="T7" fmla="*/ 11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11"/>
                  </a:moveTo>
                  <a:lnTo>
                    <a:pt x="18" y="0"/>
                  </a:lnTo>
                  <a:lnTo>
                    <a:pt x="0" y="26"/>
                  </a:lnTo>
                  <a:lnTo>
                    <a:pt x="26" y="11"/>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19" name="Freeform 7072"/>
            <p:cNvSpPr>
              <a:spLocks/>
            </p:cNvSpPr>
            <p:nvPr/>
          </p:nvSpPr>
          <p:spPr bwMode="auto">
            <a:xfrm>
              <a:off x="2184" y="1771"/>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0" name="Line 7073"/>
            <p:cNvSpPr>
              <a:spLocks noChangeShapeType="1"/>
            </p:cNvSpPr>
            <p:nvPr/>
          </p:nvSpPr>
          <p:spPr bwMode="auto">
            <a:xfrm>
              <a:off x="2184" y="1771"/>
              <a:ext cx="19"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1" name="Freeform 7074"/>
            <p:cNvSpPr>
              <a:spLocks/>
            </p:cNvSpPr>
            <p:nvPr/>
          </p:nvSpPr>
          <p:spPr bwMode="auto">
            <a:xfrm>
              <a:off x="2184" y="1764"/>
              <a:ext cx="24" cy="27"/>
            </a:xfrm>
            <a:custGeom>
              <a:avLst/>
              <a:gdLst>
                <a:gd name="T0" fmla="*/ 23 w 24"/>
                <a:gd name="T1" fmla="*/ 0 h 27"/>
                <a:gd name="T2" fmla="*/ 0 w 24"/>
                <a:gd name="T3" fmla="*/ 13 h 27"/>
                <a:gd name="T4" fmla="*/ 7 w 24"/>
                <a:gd name="T5" fmla="*/ 26 h 27"/>
                <a:gd name="T6" fmla="*/ 23 w 24"/>
                <a:gd name="T7" fmla="*/ 0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0"/>
                  </a:moveTo>
                  <a:lnTo>
                    <a:pt x="0" y="13"/>
                  </a:lnTo>
                  <a:lnTo>
                    <a:pt x="7" y="26"/>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2" name="Freeform 7075"/>
            <p:cNvSpPr>
              <a:spLocks/>
            </p:cNvSpPr>
            <p:nvPr/>
          </p:nvSpPr>
          <p:spPr bwMode="auto">
            <a:xfrm>
              <a:off x="2184" y="1755"/>
              <a:ext cx="24" cy="28"/>
            </a:xfrm>
            <a:custGeom>
              <a:avLst/>
              <a:gdLst>
                <a:gd name="T0" fmla="*/ 23 w 24"/>
                <a:gd name="T1" fmla="*/ 15 h 28"/>
                <a:gd name="T2" fmla="*/ 15 w 24"/>
                <a:gd name="T3" fmla="*/ 0 h 28"/>
                <a:gd name="T4" fmla="*/ 0 w 24"/>
                <a:gd name="T5" fmla="*/ 27 h 28"/>
                <a:gd name="T6" fmla="*/ 23 w 24"/>
                <a:gd name="T7" fmla="*/ 15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15"/>
                  </a:moveTo>
                  <a:lnTo>
                    <a:pt x="15" y="0"/>
                  </a:lnTo>
                  <a:lnTo>
                    <a:pt x="0" y="27"/>
                  </a:lnTo>
                  <a:lnTo>
                    <a:pt x="23" y="1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3" name="Freeform 7076"/>
            <p:cNvSpPr>
              <a:spLocks/>
            </p:cNvSpPr>
            <p:nvPr/>
          </p:nvSpPr>
          <p:spPr bwMode="auto">
            <a:xfrm>
              <a:off x="2195" y="1749"/>
              <a:ext cx="27" cy="28"/>
            </a:xfrm>
            <a:custGeom>
              <a:avLst/>
              <a:gdLst>
                <a:gd name="T0" fmla="*/ 0 w 27"/>
                <a:gd name="T1" fmla="*/ 0 h 28"/>
                <a:gd name="T2" fmla="*/ 0 w 27"/>
                <a:gd name="T3" fmla="*/ 27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27"/>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4" name="Freeform 7077"/>
            <p:cNvSpPr>
              <a:spLocks/>
            </p:cNvSpPr>
            <p:nvPr/>
          </p:nvSpPr>
          <p:spPr bwMode="auto">
            <a:xfrm>
              <a:off x="2195" y="1749"/>
              <a:ext cx="1" cy="28"/>
            </a:xfrm>
            <a:custGeom>
              <a:avLst/>
              <a:gdLst>
                <a:gd name="T0" fmla="*/ 0 w 1"/>
                <a:gd name="T1" fmla="*/ 0 h 28"/>
                <a:gd name="T2" fmla="*/ 0 w 1"/>
                <a:gd name="T3" fmla="*/ 27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5" name="Freeform 7078"/>
            <p:cNvSpPr>
              <a:spLocks/>
            </p:cNvSpPr>
            <p:nvPr/>
          </p:nvSpPr>
          <p:spPr bwMode="auto">
            <a:xfrm>
              <a:off x="2195" y="1749"/>
              <a:ext cx="27" cy="28"/>
            </a:xfrm>
            <a:custGeom>
              <a:avLst/>
              <a:gdLst>
                <a:gd name="T0" fmla="*/ 26 w 27"/>
                <a:gd name="T1" fmla="*/ 0 h 28"/>
                <a:gd name="T2" fmla="*/ 0 w 27"/>
                <a:gd name="T3" fmla="*/ 0 h 28"/>
                <a:gd name="T4" fmla="*/ 8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8"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6" name="Freeform 7079"/>
            <p:cNvSpPr>
              <a:spLocks/>
            </p:cNvSpPr>
            <p:nvPr/>
          </p:nvSpPr>
          <p:spPr bwMode="auto">
            <a:xfrm>
              <a:off x="2195" y="1742"/>
              <a:ext cx="27" cy="28"/>
            </a:xfrm>
            <a:custGeom>
              <a:avLst/>
              <a:gdLst>
                <a:gd name="T0" fmla="*/ 26 w 27"/>
                <a:gd name="T1" fmla="*/ 27 h 28"/>
                <a:gd name="T2" fmla="*/ 16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6"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7" name="Freeform 7080"/>
            <p:cNvSpPr>
              <a:spLocks/>
            </p:cNvSpPr>
            <p:nvPr/>
          </p:nvSpPr>
          <p:spPr bwMode="auto">
            <a:xfrm>
              <a:off x="2206" y="1742"/>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8" name="Line 7081"/>
            <p:cNvSpPr>
              <a:spLocks noChangeShapeType="1"/>
            </p:cNvSpPr>
            <p:nvPr/>
          </p:nvSpPr>
          <p:spPr bwMode="auto">
            <a:xfrm>
              <a:off x="2206" y="1742"/>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29" name="Freeform 7082"/>
            <p:cNvSpPr>
              <a:spLocks/>
            </p:cNvSpPr>
            <p:nvPr/>
          </p:nvSpPr>
          <p:spPr bwMode="auto">
            <a:xfrm>
              <a:off x="2206" y="1742"/>
              <a:ext cx="25" cy="28"/>
            </a:xfrm>
            <a:custGeom>
              <a:avLst/>
              <a:gdLst>
                <a:gd name="T0" fmla="*/ 24 w 25"/>
                <a:gd name="T1" fmla="*/ 0 h 28"/>
                <a:gd name="T2" fmla="*/ 0 w 25"/>
                <a:gd name="T3" fmla="*/ 0 h 28"/>
                <a:gd name="T4" fmla="*/ 9 w 25"/>
                <a:gd name="T5" fmla="*/ 27 h 28"/>
                <a:gd name="T6" fmla="*/ 24 w 25"/>
                <a:gd name="T7" fmla="*/ 0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0"/>
                  </a:moveTo>
                  <a:lnTo>
                    <a:pt x="0" y="0"/>
                  </a:lnTo>
                  <a:lnTo>
                    <a:pt x="9" y="27"/>
                  </a:lnTo>
                  <a:lnTo>
                    <a:pt x="24"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0" name="Freeform 7083"/>
            <p:cNvSpPr>
              <a:spLocks/>
            </p:cNvSpPr>
            <p:nvPr/>
          </p:nvSpPr>
          <p:spPr bwMode="auto">
            <a:xfrm>
              <a:off x="2206" y="1734"/>
              <a:ext cx="25" cy="28"/>
            </a:xfrm>
            <a:custGeom>
              <a:avLst/>
              <a:gdLst>
                <a:gd name="T0" fmla="*/ 24 w 25"/>
                <a:gd name="T1" fmla="*/ 27 h 28"/>
                <a:gd name="T2" fmla="*/ 16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6"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1" name="Freeform 7084"/>
            <p:cNvSpPr>
              <a:spLocks/>
            </p:cNvSpPr>
            <p:nvPr/>
          </p:nvSpPr>
          <p:spPr bwMode="auto">
            <a:xfrm>
              <a:off x="2216" y="1734"/>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2" name="Line 7085"/>
            <p:cNvSpPr>
              <a:spLocks noChangeShapeType="1"/>
            </p:cNvSpPr>
            <p:nvPr/>
          </p:nvSpPr>
          <p:spPr bwMode="auto">
            <a:xfrm>
              <a:off x="2216" y="1734"/>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3" name="Freeform 7086"/>
            <p:cNvSpPr>
              <a:spLocks/>
            </p:cNvSpPr>
            <p:nvPr/>
          </p:nvSpPr>
          <p:spPr bwMode="auto">
            <a:xfrm>
              <a:off x="2216" y="1734"/>
              <a:ext cx="29" cy="28"/>
            </a:xfrm>
            <a:custGeom>
              <a:avLst/>
              <a:gdLst>
                <a:gd name="T0" fmla="*/ 28 w 29"/>
                <a:gd name="T1" fmla="*/ 27 h 28"/>
                <a:gd name="T2" fmla="*/ 0 w 29"/>
                <a:gd name="T3" fmla="*/ 0 h 28"/>
                <a:gd name="T4" fmla="*/ 8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8" y="27"/>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4" name="Freeform 7087"/>
            <p:cNvSpPr>
              <a:spLocks/>
            </p:cNvSpPr>
            <p:nvPr/>
          </p:nvSpPr>
          <p:spPr bwMode="auto">
            <a:xfrm>
              <a:off x="2216" y="1728"/>
              <a:ext cx="29" cy="28"/>
            </a:xfrm>
            <a:custGeom>
              <a:avLst/>
              <a:gdLst>
                <a:gd name="T0" fmla="*/ 28 w 29"/>
                <a:gd name="T1" fmla="*/ 27 h 28"/>
                <a:gd name="T2" fmla="*/ 19 w 29"/>
                <a:gd name="T3" fmla="*/ 0 h 28"/>
                <a:gd name="T4" fmla="*/ 0 w 29"/>
                <a:gd name="T5" fmla="*/ 12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9" y="0"/>
                  </a:lnTo>
                  <a:lnTo>
                    <a:pt x="0" y="12"/>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5" name="Freeform 7088"/>
            <p:cNvSpPr>
              <a:spLocks/>
            </p:cNvSpPr>
            <p:nvPr/>
          </p:nvSpPr>
          <p:spPr bwMode="auto">
            <a:xfrm>
              <a:off x="2233" y="1728"/>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6" name="Line 7089"/>
            <p:cNvSpPr>
              <a:spLocks noChangeShapeType="1"/>
            </p:cNvSpPr>
            <p:nvPr/>
          </p:nvSpPr>
          <p:spPr bwMode="auto">
            <a:xfrm>
              <a:off x="2233" y="1728"/>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7" name="Freeform 7090"/>
            <p:cNvSpPr>
              <a:spLocks/>
            </p:cNvSpPr>
            <p:nvPr/>
          </p:nvSpPr>
          <p:spPr bwMode="auto">
            <a:xfrm>
              <a:off x="2233" y="1728"/>
              <a:ext cx="26" cy="28"/>
            </a:xfrm>
            <a:custGeom>
              <a:avLst/>
              <a:gdLst>
                <a:gd name="T0" fmla="*/ 25 w 26"/>
                <a:gd name="T1" fmla="*/ 27 h 28"/>
                <a:gd name="T2" fmla="*/ 0 w 26"/>
                <a:gd name="T3" fmla="*/ 0 h 28"/>
                <a:gd name="T4" fmla="*/ 0 w 26"/>
                <a:gd name="T5" fmla="*/ 27 h 28"/>
                <a:gd name="T6" fmla="*/ 25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27"/>
                  </a:moveTo>
                  <a:lnTo>
                    <a:pt x="0" y="0"/>
                  </a:lnTo>
                  <a:lnTo>
                    <a:pt x="0" y="27"/>
                  </a:lnTo>
                  <a:lnTo>
                    <a:pt x="2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8" name="Freeform 7091"/>
            <p:cNvSpPr>
              <a:spLocks/>
            </p:cNvSpPr>
            <p:nvPr/>
          </p:nvSpPr>
          <p:spPr bwMode="auto">
            <a:xfrm>
              <a:off x="2233" y="1728"/>
              <a:ext cx="26" cy="28"/>
            </a:xfrm>
            <a:custGeom>
              <a:avLst/>
              <a:gdLst>
                <a:gd name="T0" fmla="*/ 0 w 26"/>
                <a:gd name="T1" fmla="*/ 0 h 28"/>
                <a:gd name="T2" fmla="*/ 25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25"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39" name="Freeform 7092"/>
            <p:cNvSpPr>
              <a:spLocks/>
            </p:cNvSpPr>
            <p:nvPr/>
          </p:nvSpPr>
          <p:spPr bwMode="auto">
            <a:xfrm>
              <a:off x="2245" y="1728"/>
              <a:ext cx="27" cy="28"/>
            </a:xfrm>
            <a:custGeom>
              <a:avLst/>
              <a:gdLst>
                <a:gd name="T0" fmla="*/ 0 w 27"/>
                <a:gd name="T1" fmla="*/ 0 h 28"/>
                <a:gd name="T2" fmla="*/ 0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0" y="0"/>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0" name="Line 7093"/>
            <p:cNvSpPr>
              <a:spLocks noChangeShapeType="1"/>
            </p:cNvSpPr>
            <p:nvPr/>
          </p:nvSpPr>
          <p:spPr bwMode="auto">
            <a:xfrm>
              <a:off x="2245" y="1728"/>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1" name="Freeform 7094"/>
            <p:cNvSpPr>
              <a:spLocks/>
            </p:cNvSpPr>
            <p:nvPr/>
          </p:nvSpPr>
          <p:spPr bwMode="auto">
            <a:xfrm>
              <a:off x="2245" y="1728"/>
              <a:ext cx="27" cy="28"/>
            </a:xfrm>
            <a:custGeom>
              <a:avLst/>
              <a:gdLst>
                <a:gd name="T0" fmla="*/ 26 w 27"/>
                <a:gd name="T1" fmla="*/ 27 h 28"/>
                <a:gd name="T2" fmla="*/ 0 w 27"/>
                <a:gd name="T3" fmla="*/ 0 h 28"/>
                <a:gd name="T4" fmla="*/ 0 w 27"/>
                <a:gd name="T5" fmla="*/ 27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27"/>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2" name="Freeform 7095"/>
            <p:cNvSpPr>
              <a:spLocks/>
            </p:cNvSpPr>
            <p:nvPr/>
          </p:nvSpPr>
          <p:spPr bwMode="auto">
            <a:xfrm>
              <a:off x="2245" y="1728"/>
              <a:ext cx="27" cy="28"/>
            </a:xfrm>
            <a:custGeom>
              <a:avLst/>
              <a:gdLst>
                <a:gd name="T0" fmla="*/ 0 w 27"/>
                <a:gd name="T1" fmla="*/ 0 h 28"/>
                <a:gd name="T2" fmla="*/ 26 w 27"/>
                <a:gd name="T3" fmla="*/ 0 h 28"/>
                <a:gd name="T4" fmla="*/ 26 w 27"/>
                <a:gd name="T5" fmla="*/ 27 h 28"/>
                <a:gd name="T6" fmla="*/ 0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0" y="0"/>
                  </a:moveTo>
                  <a:lnTo>
                    <a:pt x="26" y="0"/>
                  </a:lnTo>
                  <a:lnTo>
                    <a:pt x="26"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3" name="Freeform 7096"/>
            <p:cNvSpPr>
              <a:spLocks/>
            </p:cNvSpPr>
            <p:nvPr/>
          </p:nvSpPr>
          <p:spPr bwMode="auto">
            <a:xfrm>
              <a:off x="2254" y="1728"/>
              <a:ext cx="29" cy="28"/>
            </a:xfrm>
            <a:custGeom>
              <a:avLst/>
              <a:gdLst>
                <a:gd name="T0" fmla="*/ 0 w 29"/>
                <a:gd name="T1" fmla="*/ 0 h 28"/>
                <a:gd name="T2" fmla="*/ 0 w 29"/>
                <a:gd name="T3" fmla="*/ 0 h 28"/>
                <a:gd name="T4" fmla="*/ 28 w 29"/>
                <a:gd name="T5" fmla="*/ 27 h 28"/>
                <a:gd name="T6" fmla="*/ 0 w 29"/>
                <a:gd name="T7" fmla="*/ 0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0"/>
                  </a:moveTo>
                  <a:lnTo>
                    <a:pt x="0" y="0"/>
                  </a:lnTo>
                  <a:lnTo>
                    <a:pt x="28"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4" name="Line 7097"/>
            <p:cNvSpPr>
              <a:spLocks noChangeShapeType="1"/>
            </p:cNvSpPr>
            <p:nvPr/>
          </p:nvSpPr>
          <p:spPr bwMode="auto">
            <a:xfrm>
              <a:off x="2254" y="1728"/>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5" name="Freeform 7098"/>
            <p:cNvSpPr>
              <a:spLocks/>
            </p:cNvSpPr>
            <p:nvPr/>
          </p:nvSpPr>
          <p:spPr bwMode="auto">
            <a:xfrm>
              <a:off x="2254" y="1728"/>
              <a:ext cx="29" cy="28"/>
            </a:xfrm>
            <a:custGeom>
              <a:avLst/>
              <a:gdLst>
                <a:gd name="T0" fmla="*/ 28 w 29"/>
                <a:gd name="T1" fmla="*/ 27 h 28"/>
                <a:gd name="T2" fmla="*/ 0 w 29"/>
                <a:gd name="T3" fmla="*/ 0 h 28"/>
                <a:gd name="T4" fmla="*/ 0 w 29"/>
                <a:gd name="T5" fmla="*/ 27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0" y="0"/>
                  </a:lnTo>
                  <a:lnTo>
                    <a:pt x="0" y="27"/>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6" name="Freeform 7099"/>
            <p:cNvSpPr>
              <a:spLocks/>
            </p:cNvSpPr>
            <p:nvPr/>
          </p:nvSpPr>
          <p:spPr bwMode="auto">
            <a:xfrm>
              <a:off x="2254" y="1728"/>
              <a:ext cx="29" cy="28"/>
            </a:xfrm>
            <a:custGeom>
              <a:avLst/>
              <a:gdLst>
                <a:gd name="T0" fmla="*/ 28 w 29"/>
                <a:gd name="T1" fmla="*/ 27 h 28"/>
                <a:gd name="T2" fmla="*/ 28 w 29"/>
                <a:gd name="T3" fmla="*/ 12 h 28"/>
                <a:gd name="T4" fmla="*/ 0 w 29"/>
                <a:gd name="T5" fmla="*/ 0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28" y="12"/>
                  </a:lnTo>
                  <a:lnTo>
                    <a:pt x="0" y="0"/>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7" name="Freeform 7100"/>
            <p:cNvSpPr>
              <a:spLocks/>
            </p:cNvSpPr>
            <p:nvPr/>
          </p:nvSpPr>
          <p:spPr bwMode="auto">
            <a:xfrm>
              <a:off x="2267" y="1734"/>
              <a:ext cx="26" cy="28"/>
            </a:xfrm>
            <a:custGeom>
              <a:avLst/>
              <a:gdLst>
                <a:gd name="T0" fmla="*/ 25 w 26"/>
                <a:gd name="T1" fmla="*/ 0 h 28"/>
                <a:gd name="T2" fmla="*/ 0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0" y="0"/>
                  </a:lnTo>
                  <a:lnTo>
                    <a:pt x="0"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8" name="Freeform 7101"/>
            <p:cNvSpPr>
              <a:spLocks/>
            </p:cNvSpPr>
            <p:nvPr/>
          </p:nvSpPr>
          <p:spPr bwMode="auto">
            <a:xfrm>
              <a:off x="2267" y="1734"/>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49" name="Freeform 7102"/>
            <p:cNvSpPr>
              <a:spLocks/>
            </p:cNvSpPr>
            <p:nvPr/>
          </p:nvSpPr>
          <p:spPr bwMode="auto">
            <a:xfrm>
              <a:off x="2262" y="1734"/>
              <a:ext cx="25" cy="28"/>
            </a:xfrm>
            <a:custGeom>
              <a:avLst/>
              <a:gdLst>
                <a:gd name="T0" fmla="*/ 24 w 25"/>
                <a:gd name="T1" fmla="*/ 27 h 28"/>
                <a:gd name="T2" fmla="*/ 24 w 25"/>
                <a:gd name="T3" fmla="*/ 0 h 28"/>
                <a:gd name="T4" fmla="*/ 0 w 25"/>
                <a:gd name="T5" fmla="*/ 15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15"/>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0" name="Freeform 7103"/>
            <p:cNvSpPr>
              <a:spLocks/>
            </p:cNvSpPr>
            <p:nvPr/>
          </p:nvSpPr>
          <p:spPr bwMode="auto">
            <a:xfrm>
              <a:off x="2275" y="1734"/>
              <a:ext cx="25" cy="28"/>
            </a:xfrm>
            <a:custGeom>
              <a:avLst/>
              <a:gdLst>
                <a:gd name="T0" fmla="*/ 0 w 25"/>
                <a:gd name="T1" fmla="*/ 27 h 28"/>
                <a:gd name="T2" fmla="*/ 24 w 25"/>
                <a:gd name="T3" fmla="*/ 15 h 28"/>
                <a:gd name="T4" fmla="*/ 0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24" y="15"/>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1" name="Freeform 7104"/>
            <p:cNvSpPr>
              <a:spLocks/>
            </p:cNvSpPr>
            <p:nvPr/>
          </p:nvSpPr>
          <p:spPr bwMode="auto">
            <a:xfrm>
              <a:off x="2282" y="1742"/>
              <a:ext cx="24" cy="28"/>
            </a:xfrm>
            <a:custGeom>
              <a:avLst/>
              <a:gdLst>
                <a:gd name="T0" fmla="*/ 23 w 24"/>
                <a:gd name="T1" fmla="*/ 0 h 28"/>
                <a:gd name="T2" fmla="*/ 0 w 24"/>
                <a:gd name="T3" fmla="*/ 0 h 28"/>
                <a:gd name="T4" fmla="*/ 0 w 24"/>
                <a:gd name="T5" fmla="*/ 27 h 28"/>
                <a:gd name="T6" fmla="*/ 23 w 24"/>
                <a:gd name="T7" fmla="*/ 0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0"/>
                  </a:moveTo>
                  <a:lnTo>
                    <a:pt x="0" y="0"/>
                  </a:lnTo>
                  <a:lnTo>
                    <a:pt x="0" y="27"/>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2" name="Freeform 7105"/>
            <p:cNvSpPr>
              <a:spLocks/>
            </p:cNvSpPr>
            <p:nvPr/>
          </p:nvSpPr>
          <p:spPr bwMode="auto">
            <a:xfrm>
              <a:off x="2282" y="1742"/>
              <a:ext cx="24" cy="1"/>
            </a:xfrm>
            <a:custGeom>
              <a:avLst/>
              <a:gdLst>
                <a:gd name="T0" fmla="*/ 23 w 24"/>
                <a:gd name="T1" fmla="*/ 0 h 1"/>
                <a:gd name="T2" fmla="*/ 23 w 24"/>
                <a:gd name="T3" fmla="*/ 0 h 1"/>
                <a:gd name="T4" fmla="*/ 0 w 24"/>
                <a:gd name="T5" fmla="*/ 0 h 1"/>
                <a:gd name="T6" fmla="*/ 23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23" y="0"/>
                  </a:moveTo>
                  <a:lnTo>
                    <a:pt x="23" y="0"/>
                  </a:lnTo>
                  <a:lnTo>
                    <a:pt x="0" y="0"/>
                  </a:lnTo>
                  <a:lnTo>
                    <a:pt x="23"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3" name="Freeform 7106"/>
            <p:cNvSpPr>
              <a:spLocks/>
            </p:cNvSpPr>
            <p:nvPr/>
          </p:nvSpPr>
          <p:spPr bwMode="auto">
            <a:xfrm>
              <a:off x="2275" y="1742"/>
              <a:ext cx="25" cy="28"/>
            </a:xfrm>
            <a:custGeom>
              <a:avLst/>
              <a:gdLst>
                <a:gd name="T0" fmla="*/ 24 w 25"/>
                <a:gd name="T1" fmla="*/ 27 h 28"/>
                <a:gd name="T2" fmla="*/ 24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24" y="0"/>
                  </a:lnTo>
                  <a:lnTo>
                    <a:pt x="0" y="8"/>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4" name="Freeform 7107"/>
            <p:cNvSpPr>
              <a:spLocks/>
            </p:cNvSpPr>
            <p:nvPr/>
          </p:nvSpPr>
          <p:spPr bwMode="auto">
            <a:xfrm>
              <a:off x="2286" y="1742"/>
              <a:ext cx="28" cy="28"/>
            </a:xfrm>
            <a:custGeom>
              <a:avLst/>
              <a:gdLst>
                <a:gd name="T0" fmla="*/ 0 w 28"/>
                <a:gd name="T1" fmla="*/ 27 h 28"/>
                <a:gd name="T2" fmla="*/ 27 w 28"/>
                <a:gd name="T3" fmla="*/ 8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8"/>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5" name="Freeform 7108"/>
            <p:cNvSpPr>
              <a:spLocks/>
            </p:cNvSpPr>
            <p:nvPr/>
          </p:nvSpPr>
          <p:spPr bwMode="auto">
            <a:xfrm>
              <a:off x="2292" y="1749"/>
              <a:ext cx="26" cy="28"/>
            </a:xfrm>
            <a:custGeom>
              <a:avLst/>
              <a:gdLst>
                <a:gd name="T0" fmla="*/ 25 w 26"/>
                <a:gd name="T1" fmla="*/ 12 h 28"/>
                <a:gd name="T2" fmla="*/ 25 w 26"/>
                <a:gd name="T3" fmla="*/ 0 h 28"/>
                <a:gd name="T4" fmla="*/ 0 w 26"/>
                <a:gd name="T5" fmla="*/ 27 h 28"/>
                <a:gd name="T6" fmla="*/ 25 w 26"/>
                <a:gd name="T7" fmla="*/ 12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12"/>
                  </a:moveTo>
                  <a:lnTo>
                    <a:pt x="25" y="0"/>
                  </a:lnTo>
                  <a:lnTo>
                    <a:pt x="0" y="27"/>
                  </a:lnTo>
                  <a:lnTo>
                    <a:pt x="25" y="1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6" name="Freeform 7109"/>
            <p:cNvSpPr>
              <a:spLocks/>
            </p:cNvSpPr>
            <p:nvPr/>
          </p:nvSpPr>
          <p:spPr bwMode="auto">
            <a:xfrm>
              <a:off x="2299" y="1749"/>
              <a:ext cx="1" cy="28"/>
            </a:xfrm>
            <a:custGeom>
              <a:avLst/>
              <a:gdLst>
                <a:gd name="T0" fmla="*/ 0 w 1"/>
                <a:gd name="T1" fmla="*/ 27 h 28"/>
                <a:gd name="T2" fmla="*/ 0 w 1"/>
                <a:gd name="T3" fmla="*/ 27 h 28"/>
                <a:gd name="T4" fmla="*/ 0 w 1"/>
                <a:gd name="T5" fmla="*/ 0 h 28"/>
                <a:gd name="T6" fmla="*/ 0 w 1"/>
                <a:gd name="T7" fmla="*/ 27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7"/>
                  </a:moveTo>
                  <a:lnTo>
                    <a:pt x="0" y="27"/>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7" name="Freeform 7110"/>
            <p:cNvSpPr>
              <a:spLocks/>
            </p:cNvSpPr>
            <p:nvPr/>
          </p:nvSpPr>
          <p:spPr bwMode="auto">
            <a:xfrm>
              <a:off x="2286" y="1755"/>
              <a:ext cx="28" cy="28"/>
            </a:xfrm>
            <a:custGeom>
              <a:avLst/>
              <a:gdLst>
                <a:gd name="T0" fmla="*/ 27 w 28"/>
                <a:gd name="T1" fmla="*/ 27 h 28"/>
                <a:gd name="T2" fmla="*/ 27 w 28"/>
                <a:gd name="T3" fmla="*/ 0 h 28"/>
                <a:gd name="T4" fmla="*/ 0 w 28"/>
                <a:gd name="T5" fmla="*/ 10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27" y="0"/>
                  </a:lnTo>
                  <a:lnTo>
                    <a:pt x="0" y="10"/>
                  </a:lnTo>
                  <a:lnTo>
                    <a:pt x="27"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8" name="Freeform 7111"/>
            <p:cNvSpPr>
              <a:spLocks/>
            </p:cNvSpPr>
            <p:nvPr/>
          </p:nvSpPr>
          <p:spPr bwMode="auto">
            <a:xfrm>
              <a:off x="2299" y="1755"/>
              <a:ext cx="26" cy="28"/>
            </a:xfrm>
            <a:custGeom>
              <a:avLst/>
              <a:gdLst>
                <a:gd name="T0" fmla="*/ 0 w 26"/>
                <a:gd name="T1" fmla="*/ 27 h 28"/>
                <a:gd name="T2" fmla="*/ 25 w 26"/>
                <a:gd name="T3" fmla="*/ 18 h 28"/>
                <a:gd name="T4" fmla="*/ 0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18"/>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59" name="Freeform 7112"/>
            <p:cNvSpPr>
              <a:spLocks/>
            </p:cNvSpPr>
            <p:nvPr/>
          </p:nvSpPr>
          <p:spPr bwMode="auto">
            <a:xfrm>
              <a:off x="2305" y="1771"/>
              <a:ext cx="26" cy="27"/>
            </a:xfrm>
            <a:custGeom>
              <a:avLst/>
              <a:gdLst>
                <a:gd name="T0" fmla="*/ 25 w 26"/>
                <a:gd name="T1" fmla="*/ 0 h 27"/>
                <a:gd name="T2" fmla="*/ 25 w 26"/>
                <a:gd name="T3" fmla="*/ 0 h 27"/>
                <a:gd name="T4" fmla="*/ 0 w 26"/>
                <a:gd name="T5" fmla="*/ 26 h 27"/>
                <a:gd name="T6" fmla="*/ 25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0"/>
                  </a:moveTo>
                  <a:lnTo>
                    <a:pt x="25" y="0"/>
                  </a:lnTo>
                  <a:lnTo>
                    <a:pt x="0" y="26"/>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0" name="Line 7113"/>
            <p:cNvSpPr>
              <a:spLocks noChangeShapeType="1"/>
            </p:cNvSpPr>
            <p:nvPr/>
          </p:nvSpPr>
          <p:spPr bwMode="auto">
            <a:xfrm>
              <a:off x="2313" y="1771"/>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1" name="Freeform 7114"/>
            <p:cNvSpPr>
              <a:spLocks/>
            </p:cNvSpPr>
            <p:nvPr/>
          </p:nvSpPr>
          <p:spPr bwMode="auto">
            <a:xfrm>
              <a:off x="2299" y="1771"/>
              <a:ext cx="26" cy="27"/>
            </a:xfrm>
            <a:custGeom>
              <a:avLst/>
              <a:gdLst>
                <a:gd name="T0" fmla="*/ 25 w 26"/>
                <a:gd name="T1" fmla="*/ 26 h 27"/>
                <a:gd name="T2" fmla="*/ 25 w 26"/>
                <a:gd name="T3" fmla="*/ 0 h 27"/>
                <a:gd name="T4" fmla="*/ 0 w 26"/>
                <a:gd name="T5" fmla="*/ 8 h 27"/>
                <a:gd name="T6" fmla="*/ 25 w 26"/>
                <a:gd name="T7" fmla="*/ 2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25" y="26"/>
                  </a:moveTo>
                  <a:lnTo>
                    <a:pt x="25" y="0"/>
                  </a:lnTo>
                  <a:lnTo>
                    <a:pt x="0" y="8"/>
                  </a:lnTo>
                  <a:lnTo>
                    <a:pt x="2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2" name="Freeform 7115"/>
            <p:cNvSpPr>
              <a:spLocks/>
            </p:cNvSpPr>
            <p:nvPr/>
          </p:nvSpPr>
          <p:spPr bwMode="auto">
            <a:xfrm>
              <a:off x="2313" y="1771"/>
              <a:ext cx="25" cy="27"/>
            </a:xfrm>
            <a:custGeom>
              <a:avLst/>
              <a:gdLst>
                <a:gd name="T0" fmla="*/ 0 w 25"/>
                <a:gd name="T1" fmla="*/ 26 h 27"/>
                <a:gd name="T2" fmla="*/ 24 w 25"/>
                <a:gd name="T3" fmla="*/ 18 h 27"/>
                <a:gd name="T4" fmla="*/ 0 w 25"/>
                <a:gd name="T5" fmla="*/ 0 h 27"/>
                <a:gd name="T6" fmla="*/ 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0" y="26"/>
                  </a:moveTo>
                  <a:lnTo>
                    <a:pt x="24" y="18"/>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3" name="Freeform 7116"/>
            <p:cNvSpPr>
              <a:spLocks/>
            </p:cNvSpPr>
            <p:nvPr/>
          </p:nvSpPr>
          <p:spPr bwMode="auto">
            <a:xfrm>
              <a:off x="2317" y="1785"/>
              <a:ext cx="27" cy="28"/>
            </a:xfrm>
            <a:custGeom>
              <a:avLst/>
              <a:gdLst>
                <a:gd name="T0" fmla="*/ 26 w 27"/>
                <a:gd name="T1" fmla="*/ 0 h 28"/>
                <a:gd name="T2" fmla="*/ 0 w 27"/>
                <a:gd name="T3" fmla="*/ 0 h 28"/>
                <a:gd name="T4" fmla="*/ 0 w 27"/>
                <a:gd name="T5" fmla="*/ 27 h 28"/>
                <a:gd name="T6" fmla="*/ 26 w 27"/>
                <a:gd name="T7" fmla="*/ 0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0"/>
                  </a:moveTo>
                  <a:lnTo>
                    <a:pt x="0" y="0"/>
                  </a:lnTo>
                  <a:lnTo>
                    <a:pt x="0" y="27"/>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4" name="Freeform 7117"/>
            <p:cNvSpPr>
              <a:spLocks/>
            </p:cNvSpPr>
            <p:nvPr/>
          </p:nvSpPr>
          <p:spPr bwMode="auto">
            <a:xfrm>
              <a:off x="2317" y="1785"/>
              <a:ext cx="27" cy="1"/>
            </a:xfrm>
            <a:custGeom>
              <a:avLst/>
              <a:gdLst>
                <a:gd name="T0" fmla="*/ 26 w 27"/>
                <a:gd name="T1" fmla="*/ 0 h 1"/>
                <a:gd name="T2" fmla="*/ 26 w 27"/>
                <a:gd name="T3" fmla="*/ 0 h 1"/>
                <a:gd name="T4" fmla="*/ 0 w 27"/>
                <a:gd name="T5" fmla="*/ 0 h 1"/>
                <a:gd name="T6" fmla="*/ 26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26" y="0"/>
                  </a:moveTo>
                  <a:lnTo>
                    <a:pt x="26" y="0"/>
                  </a:lnTo>
                  <a:lnTo>
                    <a:pt x="0" y="0"/>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5" name="Freeform 7118"/>
            <p:cNvSpPr>
              <a:spLocks/>
            </p:cNvSpPr>
            <p:nvPr/>
          </p:nvSpPr>
          <p:spPr bwMode="auto">
            <a:xfrm>
              <a:off x="2313" y="1785"/>
              <a:ext cx="25" cy="29"/>
            </a:xfrm>
            <a:custGeom>
              <a:avLst/>
              <a:gdLst>
                <a:gd name="T0" fmla="*/ 24 w 25"/>
                <a:gd name="T1" fmla="*/ 28 h 29"/>
                <a:gd name="T2" fmla="*/ 24 w 25"/>
                <a:gd name="T3" fmla="*/ 0 h 29"/>
                <a:gd name="T4" fmla="*/ 0 w 25"/>
                <a:gd name="T5" fmla="*/ 6 h 29"/>
                <a:gd name="T6" fmla="*/ 24 w 25"/>
                <a:gd name="T7" fmla="*/ 28 h 29"/>
                <a:gd name="T8" fmla="*/ 0 60000 65536"/>
                <a:gd name="T9" fmla="*/ 0 60000 65536"/>
                <a:gd name="T10" fmla="*/ 0 60000 65536"/>
                <a:gd name="T11" fmla="*/ 0 60000 65536"/>
                <a:gd name="T12" fmla="*/ 0 w 25"/>
                <a:gd name="T13" fmla="*/ 0 h 29"/>
                <a:gd name="T14" fmla="*/ 25 w 25"/>
                <a:gd name="T15" fmla="*/ 29 h 29"/>
              </a:gdLst>
              <a:ahLst/>
              <a:cxnLst>
                <a:cxn ang="T8">
                  <a:pos x="T0" y="T1"/>
                </a:cxn>
                <a:cxn ang="T9">
                  <a:pos x="T2" y="T3"/>
                </a:cxn>
                <a:cxn ang="T10">
                  <a:pos x="T4" y="T5"/>
                </a:cxn>
                <a:cxn ang="T11">
                  <a:pos x="T6" y="T7"/>
                </a:cxn>
              </a:cxnLst>
              <a:rect l="T12" t="T13" r="T14" b="T15"/>
              <a:pathLst>
                <a:path w="25" h="29">
                  <a:moveTo>
                    <a:pt x="24" y="28"/>
                  </a:moveTo>
                  <a:lnTo>
                    <a:pt x="24" y="0"/>
                  </a:lnTo>
                  <a:lnTo>
                    <a:pt x="0" y="6"/>
                  </a:lnTo>
                  <a:lnTo>
                    <a:pt x="24"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6" name="Freeform 7119"/>
            <p:cNvSpPr>
              <a:spLocks/>
            </p:cNvSpPr>
            <p:nvPr/>
          </p:nvSpPr>
          <p:spPr bwMode="auto">
            <a:xfrm>
              <a:off x="2324" y="1785"/>
              <a:ext cx="24" cy="29"/>
            </a:xfrm>
            <a:custGeom>
              <a:avLst/>
              <a:gdLst>
                <a:gd name="T0" fmla="*/ 0 w 24"/>
                <a:gd name="T1" fmla="*/ 28 h 29"/>
                <a:gd name="T2" fmla="*/ 23 w 24"/>
                <a:gd name="T3" fmla="*/ 21 h 29"/>
                <a:gd name="T4" fmla="*/ 0 w 24"/>
                <a:gd name="T5" fmla="*/ 0 h 29"/>
                <a:gd name="T6" fmla="*/ 0 w 24"/>
                <a:gd name="T7" fmla="*/ 28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28"/>
                  </a:moveTo>
                  <a:lnTo>
                    <a:pt x="23" y="21"/>
                  </a:lnTo>
                  <a:lnTo>
                    <a:pt x="0" y="0"/>
                  </a:lnTo>
                  <a:lnTo>
                    <a:pt x="0"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7" name="Freeform 7120"/>
            <p:cNvSpPr>
              <a:spLocks/>
            </p:cNvSpPr>
            <p:nvPr/>
          </p:nvSpPr>
          <p:spPr bwMode="auto">
            <a:xfrm>
              <a:off x="2330" y="1807"/>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8" name="Line 7121"/>
            <p:cNvSpPr>
              <a:spLocks noChangeShapeType="1"/>
            </p:cNvSpPr>
            <p:nvPr/>
          </p:nvSpPr>
          <p:spPr bwMode="auto">
            <a:xfrm>
              <a:off x="2330" y="180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69" name="Freeform 7122"/>
            <p:cNvSpPr>
              <a:spLocks/>
            </p:cNvSpPr>
            <p:nvPr/>
          </p:nvSpPr>
          <p:spPr bwMode="auto">
            <a:xfrm>
              <a:off x="2324" y="1807"/>
              <a:ext cx="24" cy="29"/>
            </a:xfrm>
            <a:custGeom>
              <a:avLst/>
              <a:gdLst>
                <a:gd name="T0" fmla="*/ 0 w 24"/>
                <a:gd name="T1" fmla="*/ 6 h 29"/>
                <a:gd name="T2" fmla="*/ 12 w 24"/>
                <a:gd name="T3" fmla="*/ 0 h 29"/>
                <a:gd name="T4" fmla="*/ 23 w 24"/>
                <a:gd name="T5" fmla="*/ 28 h 29"/>
                <a:gd name="T6" fmla="*/ 0 w 24"/>
                <a:gd name="T7" fmla="*/ 6 h 29"/>
                <a:gd name="T8" fmla="*/ 0 60000 65536"/>
                <a:gd name="T9" fmla="*/ 0 60000 65536"/>
                <a:gd name="T10" fmla="*/ 0 60000 65536"/>
                <a:gd name="T11" fmla="*/ 0 60000 65536"/>
                <a:gd name="T12" fmla="*/ 0 w 24"/>
                <a:gd name="T13" fmla="*/ 0 h 29"/>
                <a:gd name="T14" fmla="*/ 24 w 24"/>
                <a:gd name="T15" fmla="*/ 29 h 29"/>
              </a:gdLst>
              <a:ahLst/>
              <a:cxnLst>
                <a:cxn ang="T8">
                  <a:pos x="T0" y="T1"/>
                </a:cxn>
                <a:cxn ang="T9">
                  <a:pos x="T2" y="T3"/>
                </a:cxn>
                <a:cxn ang="T10">
                  <a:pos x="T4" y="T5"/>
                </a:cxn>
                <a:cxn ang="T11">
                  <a:pos x="T6" y="T7"/>
                </a:cxn>
              </a:cxnLst>
              <a:rect l="T12" t="T13" r="T14" b="T15"/>
              <a:pathLst>
                <a:path w="24" h="29">
                  <a:moveTo>
                    <a:pt x="0" y="6"/>
                  </a:moveTo>
                  <a:lnTo>
                    <a:pt x="12" y="0"/>
                  </a:lnTo>
                  <a:lnTo>
                    <a:pt x="23" y="28"/>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0" name="Freeform 7123"/>
            <p:cNvSpPr>
              <a:spLocks/>
            </p:cNvSpPr>
            <p:nvPr/>
          </p:nvSpPr>
          <p:spPr bwMode="auto">
            <a:xfrm>
              <a:off x="2330" y="1807"/>
              <a:ext cx="26" cy="29"/>
            </a:xfrm>
            <a:custGeom>
              <a:avLst/>
              <a:gdLst>
                <a:gd name="T0" fmla="*/ 12 w 26"/>
                <a:gd name="T1" fmla="*/ 28 h 29"/>
                <a:gd name="T2" fmla="*/ 25 w 26"/>
                <a:gd name="T3" fmla="*/ 21 h 29"/>
                <a:gd name="T4" fmla="*/ 0 w 26"/>
                <a:gd name="T5" fmla="*/ 0 h 29"/>
                <a:gd name="T6" fmla="*/ 12 w 26"/>
                <a:gd name="T7" fmla="*/ 28 h 29"/>
                <a:gd name="T8" fmla="*/ 0 60000 65536"/>
                <a:gd name="T9" fmla="*/ 0 60000 65536"/>
                <a:gd name="T10" fmla="*/ 0 60000 65536"/>
                <a:gd name="T11" fmla="*/ 0 60000 65536"/>
                <a:gd name="T12" fmla="*/ 0 w 26"/>
                <a:gd name="T13" fmla="*/ 0 h 29"/>
                <a:gd name="T14" fmla="*/ 26 w 26"/>
                <a:gd name="T15" fmla="*/ 29 h 29"/>
              </a:gdLst>
              <a:ahLst/>
              <a:cxnLst>
                <a:cxn ang="T8">
                  <a:pos x="T0" y="T1"/>
                </a:cxn>
                <a:cxn ang="T9">
                  <a:pos x="T2" y="T3"/>
                </a:cxn>
                <a:cxn ang="T10">
                  <a:pos x="T4" y="T5"/>
                </a:cxn>
                <a:cxn ang="T11">
                  <a:pos x="T6" y="T7"/>
                </a:cxn>
              </a:cxnLst>
              <a:rect l="T12" t="T13" r="T14" b="T15"/>
              <a:pathLst>
                <a:path w="26" h="29">
                  <a:moveTo>
                    <a:pt x="12" y="28"/>
                  </a:moveTo>
                  <a:lnTo>
                    <a:pt x="25" y="21"/>
                  </a:lnTo>
                  <a:lnTo>
                    <a:pt x="0" y="0"/>
                  </a:lnTo>
                  <a:lnTo>
                    <a:pt x="12" y="2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1" name="Freeform 7124"/>
            <p:cNvSpPr>
              <a:spLocks/>
            </p:cNvSpPr>
            <p:nvPr/>
          </p:nvSpPr>
          <p:spPr bwMode="auto">
            <a:xfrm>
              <a:off x="2341" y="1828"/>
              <a:ext cx="1" cy="27"/>
            </a:xfrm>
            <a:custGeom>
              <a:avLst/>
              <a:gdLst>
                <a:gd name="T0" fmla="*/ 0 w 1"/>
                <a:gd name="T1" fmla="*/ 0 h 27"/>
                <a:gd name="T2" fmla="*/ 0 w 1"/>
                <a:gd name="T3" fmla="*/ 0 h 27"/>
                <a:gd name="T4" fmla="*/ 0 w 1"/>
                <a:gd name="T5" fmla="*/ 26 h 27"/>
                <a:gd name="T6" fmla="*/ 0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0"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2" name="Line 7125"/>
            <p:cNvSpPr>
              <a:spLocks noChangeShapeType="1"/>
            </p:cNvSpPr>
            <p:nvPr/>
          </p:nvSpPr>
          <p:spPr bwMode="auto">
            <a:xfrm>
              <a:off x="2341" y="1828"/>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3" name="Freeform 7126"/>
            <p:cNvSpPr>
              <a:spLocks/>
            </p:cNvSpPr>
            <p:nvPr/>
          </p:nvSpPr>
          <p:spPr bwMode="auto">
            <a:xfrm>
              <a:off x="2337" y="1828"/>
              <a:ext cx="26" cy="37"/>
            </a:xfrm>
            <a:custGeom>
              <a:avLst/>
              <a:gdLst>
                <a:gd name="T0" fmla="*/ 0 w 26"/>
                <a:gd name="T1" fmla="*/ 6 h 37"/>
                <a:gd name="T2" fmla="*/ 11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11" y="0"/>
                  </a:lnTo>
                  <a:lnTo>
                    <a:pt x="25"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4" name="Freeform 7127"/>
            <p:cNvSpPr>
              <a:spLocks/>
            </p:cNvSpPr>
            <p:nvPr/>
          </p:nvSpPr>
          <p:spPr bwMode="auto">
            <a:xfrm>
              <a:off x="2341" y="1828"/>
              <a:ext cx="25" cy="37"/>
            </a:xfrm>
            <a:custGeom>
              <a:avLst/>
              <a:gdLst>
                <a:gd name="T0" fmla="*/ 13 w 25"/>
                <a:gd name="T1" fmla="*/ 36 h 37"/>
                <a:gd name="T2" fmla="*/ 24 w 25"/>
                <a:gd name="T3" fmla="*/ 27 h 37"/>
                <a:gd name="T4" fmla="*/ 0 w 25"/>
                <a:gd name="T5" fmla="*/ 0 h 37"/>
                <a:gd name="T6" fmla="*/ 13 w 25"/>
                <a:gd name="T7" fmla="*/ 36 h 37"/>
                <a:gd name="T8" fmla="*/ 0 60000 65536"/>
                <a:gd name="T9" fmla="*/ 0 60000 65536"/>
                <a:gd name="T10" fmla="*/ 0 60000 65536"/>
                <a:gd name="T11" fmla="*/ 0 60000 65536"/>
                <a:gd name="T12" fmla="*/ 0 w 25"/>
                <a:gd name="T13" fmla="*/ 0 h 37"/>
                <a:gd name="T14" fmla="*/ 25 w 25"/>
                <a:gd name="T15" fmla="*/ 37 h 37"/>
              </a:gdLst>
              <a:ahLst/>
              <a:cxnLst>
                <a:cxn ang="T8">
                  <a:pos x="T0" y="T1"/>
                </a:cxn>
                <a:cxn ang="T9">
                  <a:pos x="T2" y="T3"/>
                </a:cxn>
                <a:cxn ang="T10">
                  <a:pos x="T4" y="T5"/>
                </a:cxn>
                <a:cxn ang="T11">
                  <a:pos x="T6" y="T7"/>
                </a:cxn>
              </a:cxnLst>
              <a:rect l="T12" t="T13" r="T14" b="T15"/>
              <a:pathLst>
                <a:path w="25" h="37">
                  <a:moveTo>
                    <a:pt x="13" y="36"/>
                  </a:moveTo>
                  <a:lnTo>
                    <a:pt x="24" y="27"/>
                  </a:lnTo>
                  <a:lnTo>
                    <a:pt x="0" y="0"/>
                  </a:lnTo>
                  <a:lnTo>
                    <a:pt x="13"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5" name="Freeform 7128"/>
            <p:cNvSpPr>
              <a:spLocks/>
            </p:cNvSpPr>
            <p:nvPr/>
          </p:nvSpPr>
          <p:spPr bwMode="auto">
            <a:xfrm>
              <a:off x="2355" y="185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6" name="Line 7129"/>
            <p:cNvSpPr>
              <a:spLocks noChangeShapeType="1"/>
            </p:cNvSpPr>
            <p:nvPr/>
          </p:nvSpPr>
          <p:spPr bwMode="auto">
            <a:xfrm>
              <a:off x="2355" y="1856"/>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7" name="Freeform 7130"/>
            <p:cNvSpPr>
              <a:spLocks/>
            </p:cNvSpPr>
            <p:nvPr/>
          </p:nvSpPr>
          <p:spPr bwMode="auto">
            <a:xfrm>
              <a:off x="2347" y="1856"/>
              <a:ext cx="29" cy="37"/>
            </a:xfrm>
            <a:custGeom>
              <a:avLst/>
              <a:gdLst>
                <a:gd name="T0" fmla="*/ 0 w 29"/>
                <a:gd name="T1" fmla="*/ 8 h 37"/>
                <a:gd name="T2" fmla="*/ 28 w 29"/>
                <a:gd name="T3" fmla="*/ 0 h 37"/>
                <a:gd name="T4" fmla="*/ 28 w 29"/>
                <a:gd name="T5" fmla="*/ 36 h 37"/>
                <a:gd name="T6" fmla="*/ 0 w 29"/>
                <a:gd name="T7" fmla="*/ 8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8"/>
                  </a:moveTo>
                  <a:lnTo>
                    <a:pt x="28" y="0"/>
                  </a:lnTo>
                  <a:lnTo>
                    <a:pt x="28" y="36"/>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8" name="Freeform 7131"/>
            <p:cNvSpPr>
              <a:spLocks/>
            </p:cNvSpPr>
            <p:nvPr/>
          </p:nvSpPr>
          <p:spPr bwMode="auto">
            <a:xfrm>
              <a:off x="2355" y="1856"/>
              <a:ext cx="24" cy="37"/>
            </a:xfrm>
            <a:custGeom>
              <a:avLst/>
              <a:gdLst>
                <a:gd name="T0" fmla="*/ 0 w 24"/>
                <a:gd name="T1" fmla="*/ 36 h 37"/>
                <a:gd name="T2" fmla="*/ 23 w 24"/>
                <a:gd name="T3" fmla="*/ 29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29"/>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79" name="Freeform 7132"/>
            <p:cNvSpPr>
              <a:spLocks/>
            </p:cNvSpPr>
            <p:nvPr/>
          </p:nvSpPr>
          <p:spPr bwMode="auto">
            <a:xfrm>
              <a:off x="2367" y="1886"/>
              <a:ext cx="1" cy="26"/>
            </a:xfrm>
            <a:custGeom>
              <a:avLst/>
              <a:gdLst>
                <a:gd name="T0" fmla="*/ 0 w 1"/>
                <a:gd name="T1" fmla="*/ 0 h 26"/>
                <a:gd name="T2" fmla="*/ 0 w 1"/>
                <a:gd name="T3" fmla="*/ 0 h 26"/>
                <a:gd name="T4" fmla="*/ 0 w 1"/>
                <a:gd name="T5" fmla="*/ 25 h 26"/>
                <a:gd name="T6" fmla="*/ 0 w 1"/>
                <a:gd name="T7" fmla="*/ 0 h 26"/>
                <a:gd name="T8" fmla="*/ 0 60000 65536"/>
                <a:gd name="T9" fmla="*/ 0 60000 65536"/>
                <a:gd name="T10" fmla="*/ 0 60000 65536"/>
                <a:gd name="T11" fmla="*/ 0 60000 65536"/>
                <a:gd name="T12" fmla="*/ 0 w 1"/>
                <a:gd name="T13" fmla="*/ 0 h 26"/>
                <a:gd name="T14" fmla="*/ 1 w 1"/>
                <a:gd name="T15" fmla="*/ 26 h 26"/>
              </a:gdLst>
              <a:ahLst/>
              <a:cxnLst>
                <a:cxn ang="T8">
                  <a:pos x="T0" y="T1"/>
                </a:cxn>
                <a:cxn ang="T9">
                  <a:pos x="T2" y="T3"/>
                </a:cxn>
                <a:cxn ang="T10">
                  <a:pos x="T4" y="T5"/>
                </a:cxn>
                <a:cxn ang="T11">
                  <a:pos x="T6" y="T7"/>
                </a:cxn>
              </a:cxnLst>
              <a:rect l="T12" t="T13" r="T14" b="T15"/>
              <a:pathLst>
                <a:path w="1" h="26">
                  <a:moveTo>
                    <a:pt x="0" y="0"/>
                  </a:moveTo>
                  <a:lnTo>
                    <a:pt x="0" y="0"/>
                  </a:lnTo>
                  <a:lnTo>
                    <a:pt x="0" y="2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0" name="Line 7133"/>
            <p:cNvSpPr>
              <a:spLocks noChangeShapeType="1"/>
            </p:cNvSpPr>
            <p:nvPr/>
          </p:nvSpPr>
          <p:spPr bwMode="auto">
            <a:xfrm>
              <a:off x="2367" y="1886"/>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1" name="Freeform 7134"/>
            <p:cNvSpPr>
              <a:spLocks/>
            </p:cNvSpPr>
            <p:nvPr/>
          </p:nvSpPr>
          <p:spPr bwMode="auto">
            <a:xfrm>
              <a:off x="2355" y="1886"/>
              <a:ext cx="24" cy="34"/>
            </a:xfrm>
            <a:custGeom>
              <a:avLst/>
              <a:gdLst>
                <a:gd name="T0" fmla="*/ 0 w 24"/>
                <a:gd name="T1" fmla="*/ 6 h 34"/>
                <a:gd name="T2" fmla="*/ 23 w 24"/>
                <a:gd name="T3" fmla="*/ 0 h 34"/>
                <a:gd name="T4" fmla="*/ 23 w 24"/>
                <a:gd name="T5" fmla="*/ 33 h 34"/>
                <a:gd name="T6" fmla="*/ 0 w 24"/>
                <a:gd name="T7" fmla="*/ 6 h 34"/>
                <a:gd name="T8" fmla="*/ 0 60000 65536"/>
                <a:gd name="T9" fmla="*/ 0 60000 65536"/>
                <a:gd name="T10" fmla="*/ 0 60000 65536"/>
                <a:gd name="T11" fmla="*/ 0 60000 65536"/>
                <a:gd name="T12" fmla="*/ 0 w 24"/>
                <a:gd name="T13" fmla="*/ 0 h 34"/>
                <a:gd name="T14" fmla="*/ 24 w 24"/>
                <a:gd name="T15" fmla="*/ 34 h 34"/>
              </a:gdLst>
              <a:ahLst/>
              <a:cxnLst>
                <a:cxn ang="T8">
                  <a:pos x="T0" y="T1"/>
                </a:cxn>
                <a:cxn ang="T9">
                  <a:pos x="T2" y="T3"/>
                </a:cxn>
                <a:cxn ang="T10">
                  <a:pos x="T4" y="T5"/>
                </a:cxn>
                <a:cxn ang="T11">
                  <a:pos x="T6" y="T7"/>
                </a:cxn>
              </a:cxnLst>
              <a:rect l="T12" t="T13" r="T14" b="T15"/>
              <a:pathLst>
                <a:path w="24" h="34">
                  <a:moveTo>
                    <a:pt x="0" y="6"/>
                  </a:moveTo>
                  <a:lnTo>
                    <a:pt x="23" y="0"/>
                  </a:lnTo>
                  <a:lnTo>
                    <a:pt x="23" y="33"/>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2" name="Freeform 7135"/>
            <p:cNvSpPr>
              <a:spLocks/>
            </p:cNvSpPr>
            <p:nvPr/>
          </p:nvSpPr>
          <p:spPr bwMode="auto">
            <a:xfrm>
              <a:off x="2367" y="1886"/>
              <a:ext cx="27" cy="34"/>
            </a:xfrm>
            <a:custGeom>
              <a:avLst/>
              <a:gdLst>
                <a:gd name="T0" fmla="*/ 0 w 27"/>
                <a:gd name="T1" fmla="*/ 33 h 34"/>
                <a:gd name="T2" fmla="*/ 26 w 27"/>
                <a:gd name="T3" fmla="*/ 26 h 34"/>
                <a:gd name="T4" fmla="*/ 0 w 27"/>
                <a:gd name="T5" fmla="*/ 0 h 34"/>
                <a:gd name="T6" fmla="*/ 0 w 27"/>
                <a:gd name="T7" fmla="*/ 33 h 34"/>
                <a:gd name="T8" fmla="*/ 0 60000 65536"/>
                <a:gd name="T9" fmla="*/ 0 60000 65536"/>
                <a:gd name="T10" fmla="*/ 0 60000 65536"/>
                <a:gd name="T11" fmla="*/ 0 60000 65536"/>
                <a:gd name="T12" fmla="*/ 0 w 27"/>
                <a:gd name="T13" fmla="*/ 0 h 34"/>
                <a:gd name="T14" fmla="*/ 27 w 27"/>
                <a:gd name="T15" fmla="*/ 34 h 34"/>
              </a:gdLst>
              <a:ahLst/>
              <a:cxnLst>
                <a:cxn ang="T8">
                  <a:pos x="T0" y="T1"/>
                </a:cxn>
                <a:cxn ang="T9">
                  <a:pos x="T2" y="T3"/>
                </a:cxn>
                <a:cxn ang="T10">
                  <a:pos x="T4" y="T5"/>
                </a:cxn>
                <a:cxn ang="T11">
                  <a:pos x="T6" y="T7"/>
                </a:cxn>
              </a:cxnLst>
              <a:rect l="T12" t="T13" r="T14" b="T15"/>
              <a:pathLst>
                <a:path w="27" h="34">
                  <a:moveTo>
                    <a:pt x="0" y="33"/>
                  </a:moveTo>
                  <a:lnTo>
                    <a:pt x="26" y="26"/>
                  </a:lnTo>
                  <a:lnTo>
                    <a:pt x="0" y="0"/>
                  </a:lnTo>
                  <a:lnTo>
                    <a:pt x="0" y="3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3" name="Freeform 7136"/>
            <p:cNvSpPr>
              <a:spLocks/>
            </p:cNvSpPr>
            <p:nvPr/>
          </p:nvSpPr>
          <p:spPr bwMode="auto">
            <a:xfrm>
              <a:off x="2378" y="1913"/>
              <a:ext cx="1" cy="28"/>
            </a:xfrm>
            <a:custGeom>
              <a:avLst/>
              <a:gdLst>
                <a:gd name="T0" fmla="*/ 0 w 1"/>
                <a:gd name="T1" fmla="*/ 0 h 28"/>
                <a:gd name="T2" fmla="*/ 0 w 1"/>
                <a:gd name="T3" fmla="*/ 0 h 28"/>
                <a:gd name="T4" fmla="*/ 0 w 1"/>
                <a:gd name="T5" fmla="*/ 27 h 28"/>
                <a:gd name="T6" fmla="*/ 0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0"/>
                  </a:moveTo>
                  <a:lnTo>
                    <a:pt x="0" y="0"/>
                  </a:lnTo>
                  <a:lnTo>
                    <a:pt x="0"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4" name="Line 7137"/>
            <p:cNvSpPr>
              <a:spLocks noChangeShapeType="1"/>
            </p:cNvSpPr>
            <p:nvPr/>
          </p:nvSpPr>
          <p:spPr bwMode="auto">
            <a:xfrm>
              <a:off x="2378" y="191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5" name="Freeform 7138"/>
            <p:cNvSpPr>
              <a:spLocks/>
            </p:cNvSpPr>
            <p:nvPr/>
          </p:nvSpPr>
          <p:spPr bwMode="auto">
            <a:xfrm>
              <a:off x="2367" y="1913"/>
              <a:ext cx="27" cy="37"/>
            </a:xfrm>
            <a:custGeom>
              <a:avLst/>
              <a:gdLst>
                <a:gd name="T0" fmla="*/ 0 w 27"/>
                <a:gd name="T1" fmla="*/ 6 h 37"/>
                <a:gd name="T2" fmla="*/ 26 w 27"/>
                <a:gd name="T3" fmla="*/ 0 h 37"/>
                <a:gd name="T4" fmla="*/ 26 w 27"/>
                <a:gd name="T5" fmla="*/ 36 h 37"/>
                <a:gd name="T6" fmla="*/ 0 w 27"/>
                <a:gd name="T7" fmla="*/ 6 h 37"/>
                <a:gd name="T8" fmla="*/ 0 60000 65536"/>
                <a:gd name="T9" fmla="*/ 0 60000 65536"/>
                <a:gd name="T10" fmla="*/ 0 60000 65536"/>
                <a:gd name="T11" fmla="*/ 0 60000 65536"/>
                <a:gd name="T12" fmla="*/ 0 w 27"/>
                <a:gd name="T13" fmla="*/ 0 h 37"/>
                <a:gd name="T14" fmla="*/ 27 w 27"/>
                <a:gd name="T15" fmla="*/ 37 h 37"/>
              </a:gdLst>
              <a:ahLst/>
              <a:cxnLst>
                <a:cxn ang="T8">
                  <a:pos x="T0" y="T1"/>
                </a:cxn>
                <a:cxn ang="T9">
                  <a:pos x="T2" y="T3"/>
                </a:cxn>
                <a:cxn ang="T10">
                  <a:pos x="T4" y="T5"/>
                </a:cxn>
                <a:cxn ang="T11">
                  <a:pos x="T6" y="T7"/>
                </a:cxn>
              </a:cxnLst>
              <a:rect l="T12" t="T13" r="T14" b="T15"/>
              <a:pathLst>
                <a:path w="27" h="37">
                  <a:moveTo>
                    <a:pt x="0" y="6"/>
                  </a:moveTo>
                  <a:lnTo>
                    <a:pt x="26" y="0"/>
                  </a:lnTo>
                  <a:lnTo>
                    <a:pt x="26"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6" name="Freeform 7139"/>
            <p:cNvSpPr>
              <a:spLocks/>
            </p:cNvSpPr>
            <p:nvPr/>
          </p:nvSpPr>
          <p:spPr bwMode="auto">
            <a:xfrm>
              <a:off x="2378" y="19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7" name="Freeform 7140"/>
            <p:cNvSpPr>
              <a:spLocks/>
            </p:cNvSpPr>
            <p:nvPr/>
          </p:nvSpPr>
          <p:spPr bwMode="auto">
            <a:xfrm>
              <a:off x="2385" y="1941"/>
              <a:ext cx="29" cy="27"/>
            </a:xfrm>
            <a:custGeom>
              <a:avLst/>
              <a:gdLst>
                <a:gd name="T0" fmla="*/ 28 w 29"/>
                <a:gd name="T1" fmla="*/ 0 h 27"/>
                <a:gd name="T2" fmla="*/ 28 w 29"/>
                <a:gd name="T3" fmla="*/ 0 h 27"/>
                <a:gd name="T4" fmla="*/ 0 w 29"/>
                <a:gd name="T5" fmla="*/ 26 h 27"/>
                <a:gd name="T6" fmla="*/ 28 w 29"/>
                <a:gd name="T7" fmla="*/ 0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28" y="0"/>
                  </a:moveTo>
                  <a:lnTo>
                    <a:pt x="28" y="0"/>
                  </a:lnTo>
                  <a:lnTo>
                    <a:pt x="0" y="26"/>
                  </a:lnTo>
                  <a:lnTo>
                    <a:pt x="28"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8" name="Line 7141"/>
            <p:cNvSpPr>
              <a:spLocks noChangeShapeType="1"/>
            </p:cNvSpPr>
            <p:nvPr/>
          </p:nvSpPr>
          <p:spPr bwMode="auto">
            <a:xfrm>
              <a:off x="2393" y="194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89" name="Freeform 7142"/>
            <p:cNvSpPr>
              <a:spLocks/>
            </p:cNvSpPr>
            <p:nvPr/>
          </p:nvSpPr>
          <p:spPr bwMode="auto">
            <a:xfrm>
              <a:off x="2378" y="1941"/>
              <a:ext cx="26" cy="37"/>
            </a:xfrm>
            <a:custGeom>
              <a:avLst/>
              <a:gdLst>
                <a:gd name="T0" fmla="*/ 0 w 26"/>
                <a:gd name="T1" fmla="*/ 8 h 37"/>
                <a:gd name="T2" fmla="*/ 25 w 26"/>
                <a:gd name="T3" fmla="*/ 0 h 37"/>
                <a:gd name="T4" fmla="*/ 25 w 26"/>
                <a:gd name="T5" fmla="*/ 36 h 37"/>
                <a:gd name="T6" fmla="*/ 0 w 26"/>
                <a:gd name="T7" fmla="*/ 8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8"/>
                  </a:moveTo>
                  <a:lnTo>
                    <a:pt x="25" y="0"/>
                  </a:lnTo>
                  <a:lnTo>
                    <a:pt x="25" y="36"/>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0" name="Freeform 7143"/>
            <p:cNvSpPr>
              <a:spLocks/>
            </p:cNvSpPr>
            <p:nvPr/>
          </p:nvSpPr>
          <p:spPr bwMode="auto">
            <a:xfrm>
              <a:off x="2393" y="1941"/>
              <a:ext cx="24" cy="37"/>
            </a:xfrm>
            <a:custGeom>
              <a:avLst/>
              <a:gdLst>
                <a:gd name="T0" fmla="*/ 0 w 24"/>
                <a:gd name="T1" fmla="*/ 36 h 37"/>
                <a:gd name="T2" fmla="*/ 23 w 24"/>
                <a:gd name="T3" fmla="*/ 36 h 37"/>
                <a:gd name="T4" fmla="*/ 0 w 24"/>
                <a:gd name="T5" fmla="*/ 0 h 37"/>
                <a:gd name="T6" fmla="*/ 0 w 24"/>
                <a:gd name="T7" fmla="*/ 36 h 37"/>
                <a:gd name="T8" fmla="*/ 0 60000 65536"/>
                <a:gd name="T9" fmla="*/ 0 60000 65536"/>
                <a:gd name="T10" fmla="*/ 0 60000 65536"/>
                <a:gd name="T11" fmla="*/ 0 60000 65536"/>
                <a:gd name="T12" fmla="*/ 0 w 24"/>
                <a:gd name="T13" fmla="*/ 0 h 37"/>
                <a:gd name="T14" fmla="*/ 24 w 24"/>
                <a:gd name="T15" fmla="*/ 37 h 37"/>
              </a:gdLst>
              <a:ahLst/>
              <a:cxnLst>
                <a:cxn ang="T8">
                  <a:pos x="T0" y="T1"/>
                </a:cxn>
                <a:cxn ang="T9">
                  <a:pos x="T2" y="T3"/>
                </a:cxn>
                <a:cxn ang="T10">
                  <a:pos x="T4" y="T5"/>
                </a:cxn>
                <a:cxn ang="T11">
                  <a:pos x="T6" y="T7"/>
                </a:cxn>
              </a:cxnLst>
              <a:rect l="T12" t="T13" r="T14" b="T15"/>
              <a:pathLst>
                <a:path w="24" h="37">
                  <a:moveTo>
                    <a:pt x="0" y="36"/>
                  </a:moveTo>
                  <a:lnTo>
                    <a:pt x="23" y="36"/>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1" name="Freeform 7144"/>
            <p:cNvSpPr>
              <a:spLocks/>
            </p:cNvSpPr>
            <p:nvPr/>
          </p:nvSpPr>
          <p:spPr bwMode="auto">
            <a:xfrm>
              <a:off x="2398" y="1977"/>
              <a:ext cx="26" cy="28"/>
            </a:xfrm>
            <a:custGeom>
              <a:avLst/>
              <a:gdLst>
                <a:gd name="T0" fmla="*/ 25 w 26"/>
                <a:gd name="T1" fmla="*/ 0 h 28"/>
                <a:gd name="T2" fmla="*/ 25 w 26"/>
                <a:gd name="T3" fmla="*/ 0 h 28"/>
                <a:gd name="T4" fmla="*/ 0 w 26"/>
                <a:gd name="T5" fmla="*/ 27 h 28"/>
                <a:gd name="T6" fmla="*/ 25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25" y="0"/>
                  </a:moveTo>
                  <a:lnTo>
                    <a:pt x="25" y="0"/>
                  </a:lnTo>
                  <a:lnTo>
                    <a:pt x="0" y="27"/>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2" name="Line 7145"/>
            <p:cNvSpPr>
              <a:spLocks noChangeShapeType="1"/>
            </p:cNvSpPr>
            <p:nvPr/>
          </p:nvSpPr>
          <p:spPr bwMode="auto">
            <a:xfrm>
              <a:off x="2403" y="1977"/>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3" name="Freeform 7146"/>
            <p:cNvSpPr>
              <a:spLocks/>
            </p:cNvSpPr>
            <p:nvPr/>
          </p:nvSpPr>
          <p:spPr bwMode="auto">
            <a:xfrm>
              <a:off x="2393" y="1977"/>
              <a:ext cx="24" cy="36"/>
            </a:xfrm>
            <a:custGeom>
              <a:avLst/>
              <a:gdLst>
                <a:gd name="T0" fmla="*/ 0 w 24"/>
                <a:gd name="T1" fmla="*/ 0 h 36"/>
                <a:gd name="T2" fmla="*/ 23 w 24"/>
                <a:gd name="T3" fmla="*/ 0 h 36"/>
                <a:gd name="T4" fmla="*/ 23 w 24"/>
                <a:gd name="T5" fmla="*/ 35 h 36"/>
                <a:gd name="T6" fmla="*/ 0 w 24"/>
                <a:gd name="T7" fmla="*/ 0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0"/>
                  </a:moveTo>
                  <a:lnTo>
                    <a:pt x="23" y="0"/>
                  </a:lnTo>
                  <a:lnTo>
                    <a:pt x="23" y="3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4" name="Freeform 7147"/>
            <p:cNvSpPr>
              <a:spLocks/>
            </p:cNvSpPr>
            <p:nvPr/>
          </p:nvSpPr>
          <p:spPr bwMode="auto">
            <a:xfrm>
              <a:off x="2403" y="1977"/>
              <a:ext cx="29" cy="36"/>
            </a:xfrm>
            <a:custGeom>
              <a:avLst/>
              <a:gdLst>
                <a:gd name="T0" fmla="*/ 0 w 29"/>
                <a:gd name="T1" fmla="*/ 35 h 36"/>
                <a:gd name="T2" fmla="*/ 28 w 29"/>
                <a:gd name="T3" fmla="*/ 28 h 36"/>
                <a:gd name="T4" fmla="*/ 0 w 29"/>
                <a:gd name="T5" fmla="*/ 0 h 36"/>
                <a:gd name="T6" fmla="*/ 0 w 29"/>
                <a:gd name="T7" fmla="*/ 35 h 36"/>
                <a:gd name="T8" fmla="*/ 0 60000 65536"/>
                <a:gd name="T9" fmla="*/ 0 60000 65536"/>
                <a:gd name="T10" fmla="*/ 0 60000 65536"/>
                <a:gd name="T11" fmla="*/ 0 60000 65536"/>
                <a:gd name="T12" fmla="*/ 0 w 29"/>
                <a:gd name="T13" fmla="*/ 0 h 36"/>
                <a:gd name="T14" fmla="*/ 29 w 29"/>
                <a:gd name="T15" fmla="*/ 36 h 36"/>
              </a:gdLst>
              <a:ahLst/>
              <a:cxnLst>
                <a:cxn ang="T8">
                  <a:pos x="T0" y="T1"/>
                </a:cxn>
                <a:cxn ang="T9">
                  <a:pos x="T2" y="T3"/>
                </a:cxn>
                <a:cxn ang="T10">
                  <a:pos x="T4" y="T5"/>
                </a:cxn>
                <a:cxn ang="T11">
                  <a:pos x="T6" y="T7"/>
                </a:cxn>
              </a:cxnLst>
              <a:rect l="T12" t="T13" r="T14" b="T15"/>
              <a:pathLst>
                <a:path w="29" h="36">
                  <a:moveTo>
                    <a:pt x="0" y="35"/>
                  </a:moveTo>
                  <a:lnTo>
                    <a:pt x="28"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5" name="Freeform 7148"/>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6" name="Freeform 7149"/>
            <p:cNvSpPr>
              <a:spLocks/>
            </p:cNvSpPr>
            <p:nvPr/>
          </p:nvSpPr>
          <p:spPr bwMode="auto">
            <a:xfrm>
              <a:off x="2413" y="2007"/>
              <a:ext cx="24" cy="27"/>
            </a:xfrm>
            <a:custGeom>
              <a:avLst/>
              <a:gdLst>
                <a:gd name="T0" fmla="*/ 0 w 24"/>
                <a:gd name="T1" fmla="*/ 26 h 27"/>
                <a:gd name="T2" fmla="*/ 23 w 24"/>
                <a:gd name="T3" fmla="*/ 0 h 27"/>
                <a:gd name="T4" fmla="*/ 23 w 24"/>
                <a:gd name="T5" fmla="*/ 0 h 27"/>
                <a:gd name="T6" fmla="*/ 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0" y="26"/>
                  </a:moveTo>
                  <a:lnTo>
                    <a:pt x="23"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7" name="Freeform 7150"/>
            <p:cNvSpPr>
              <a:spLocks/>
            </p:cNvSpPr>
            <p:nvPr/>
          </p:nvSpPr>
          <p:spPr bwMode="auto">
            <a:xfrm>
              <a:off x="2403" y="2007"/>
              <a:ext cx="29" cy="43"/>
            </a:xfrm>
            <a:custGeom>
              <a:avLst/>
              <a:gdLst>
                <a:gd name="T0" fmla="*/ 0 w 29"/>
                <a:gd name="T1" fmla="*/ 6 h 43"/>
                <a:gd name="T2" fmla="*/ 28 w 29"/>
                <a:gd name="T3" fmla="*/ 0 h 43"/>
                <a:gd name="T4" fmla="*/ 28 w 29"/>
                <a:gd name="T5" fmla="*/ 42 h 43"/>
                <a:gd name="T6" fmla="*/ 0 w 29"/>
                <a:gd name="T7" fmla="*/ 6 h 43"/>
                <a:gd name="T8" fmla="*/ 0 60000 65536"/>
                <a:gd name="T9" fmla="*/ 0 60000 65536"/>
                <a:gd name="T10" fmla="*/ 0 60000 65536"/>
                <a:gd name="T11" fmla="*/ 0 60000 65536"/>
                <a:gd name="T12" fmla="*/ 0 w 29"/>
                <a:gd name="T13" fmla="*/ 0 h 43"/>
                <a:gd name="T14" fmla="*/ 29 w 29"/>
                <a:gd name="T15" fmla="*/ 43 h 43"/>
              </a:gdLst>
              <a:ahLst/>
              <a:cxnLst>
                <a:cxn ang="T8">
                  <a:pos x="T0" y="T1"/>
                </a:cxn>
                <a:cxn ang="T9">
                  <a:pos x="T2" y="T3"/>
                </a:cxn>
                <a:cxn ang="T10">
                  <a:pos x="T4" y="T5"/>
                </a:cxn>
                <a:cxn ang="T11">
                  <a:pos x="T6" y="T7"/>
                </a:cxn>
              </a:cxnLst>
              <a:rect l="T12" t="T13" r="T14" b="T15"/>
              <a:pathLst>
                <a:path w="29" h="43">
                  <a:moveTo>
                    <a:pt x="0" y="6"/>
                  </a:moveTo>
                  <a:lnTo>
                    <a:pt x="28" y="0"/>
                  </a:lnTo>
                  <a:lnTo>
                    <a:pt x="28" y="42"/>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8" name="Freeform 7151"/>
            <p:cNvSpPr>
              <a:spLocks/>
            </p:cNvSpPr>
            <p:nvPr/>
          </p:nvSpPr>
          <p:spPr bwMode="auto">
            <a:xfrm>
              <a:off x="2416" y="2007"/>
              <a:ext cx="26" cy="43"/>
            </a:xfrm>
            <a:custGeom>
              <a:avLst/>
              <a:gdLst>
                <a:gd name="T0" fmla="*/ 0 w 26"/>
                <a:gd name="T1" fmla="*/ 42 h 43"/>
                <a:gd name="T2" fmla="*/ 25 w 26"/>
                <a:gd name="T3" fmla="*/ 33 h 43"/>
                <a:gd name="T4" fmla="*/ 0 w 26"/>
                <a:gd name="T5" fmla="*/ 0 h 43"/>
                <a:gd name="T6" fmla="*/ 0 w 26"/>
                <a:gd name="T7" fmla="*/ 42 h 43"/>
                <a:gd name="T8" fmla="*/ 0 60000 65536"/>
                <a:gd name="T9" fmla="*/ 0 60000 65536"/>
                <a:gd name="T10" fmla="*/ 0 60000 65536"/>
                <a:gd name="T11" fmla="*/ 0 60000 65536"/>
                <a:gd name="T12" fmla="*/ 0 w 26"/>
                <a:gd name="T13" fmla="*/ 0 h 43"/>
                <a:gd name="T14" fmla="*/ 26 w 26"/>
                <a:gd name="T15" fmla="*/ 43 h 43"/>
              </a:gdLst>
              <a:ahLst/>
              <a:cxnLst>
                <a:cxn ang="T8">
                  <a:pos x="T0" y="T1"/>
                </a:cxn>
                <a:cxn ang="T9">
                  <a:pos x="T2" y="T3"/>
                </a:cxn>
                <a:cxn ang="T10">
                  <a:pos x="T4" y="T5"/>
                </a:cxn>
                <a:cxn ang="T11">
                  <a:pos x="T6" y="T7"/>
                </a:cxn>
              </a:cxnLst>
              <a:rect l="T12" t="T13" r="T14" b="T15"/>
              <a:pathLst>
                <a:path w="26" h="43">
                  <a:moveTo>
                    <a:pt x="0" y="42"/>
                  </a:moveTo>
                  <a:lnTo>
                    <a:pt x="25" y="33"/>
                  </a:lnTo>
                  <a:lnTo>
                    <a:pt x="0" y="0"/>
                  </a:lnTo>
                  <a:lnTo>
                    <a:pt x="0" y="42"/>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99" name="Freeform 7152"/>
            <p:cNvSpPr>
              <a:spLocks/>
            </p:cNvSpPr>
            <p:nvPr/>
          </p:nvSpPr>
          <p:spPr bwMode="auto">
            <a:xfrm>
              <a:off x="2423" y="2041"/>
              <a:ext cx="27" cy="27"/>
            </a:xfrm>
            <a:custGeom>
              <a:avLst/>
              <a:gdLst>
                <a:gd name="T0" fmla="*/ 26 w 27"/>
                <a:gd name="T1" fmla="*/ 0 h 27"/>
                <a:gd name="T2" fmla="*/ 26 w 27"/>
                <a:gd name="T3" fmla="*/ 0 h 27"/>
                <a:gd name="T4" fmla="*/ 0 w 27"/>
                <a:gd name="T5" fmla="*/ 26 h 27"/>
                <a:gd name="T6" fmla="*/ 26 w 27"/>
                <a:gd name="T7" fmla="*/ 0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0"/>
                  </a:moveTo>
                  <a:lnTo>
                    <a:pt x="26" y="0"/>
                  </a:lnTo>
                  <a:lnTo>
                    <a:pt x="0" y="26"/>
                  </a:lnTo>
                  <a:lnTo>
                    <a:pt x="26"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0" name="Line 7153"/>
            <p:cNvSpPr>
              <a:spLocks noChangeShapeType="1"/>
            </p:cNvSpPr>
            <p:nvPr/>
          </p:nvSpPr>
          <p:spPr bwMode="auto">
            <a:xfrm>
              <a:off x="2428" y="2041"/>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1" name="Freeform 7154"/>
            <p:cNvSpPr>
              <a:spLocks/>
            </p:cNvSpPr>
            <p:nvPr/>
          </p:nvSpPr>
          <p:spPr bwMode="auto">
            <a:xfrm>
              <a:off x="2416" y="20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2" name="Freeform 7155"/>
            <p:cNvSpPr>
              <a:spLocks/>
            </p:cNvSpPr>
            <p:nvPr/>
          </p:nvSpPr>
          <p:spPr bwMode="auto">
            <a:xfrm>
              <a:off x="2428" y="2041"/>
              <a:ext cx="26" cy="44"/>
            </a:xfrm>
            <a:custGeom>
              <a:avLst/>
              <a:gdLst>
                <a:gd name="T0" fmla="*/ 0 w 26"/>
                <a:gd name="T1" fmla="*/ 43 h 44"/>
                <a:gd name="T2" fmla="*/ 25 w 26"/>
                <a:gd name="T3" fmla="*/ 36 h 44"/>
                <a:gd name="T4" fmla="*/ 0 w 26"/>
                <a:gd name="T5" fmla="*/ 0 h 44"/>
                <a:gd name="T6" fmla="*/ 0 w 26"/>
                <a:gd name="T7" fmla="*/ 43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43"/>
                  </a:moveTo>
                  <a:lnTo>
                    <a:pt x="25" y="36"/>
                  </a:lnTo>
                  <a:lnTo>
                    <a:pt x="0" y="0"/>
                  </a:lnTo>
                  <a:lnTo>
                    <a:pt x="0" y="4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3" name="Freeform 7156"/>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4" name="Freeform 7157"/>
            <p:cNvSpPr>
              <a:spLocks/>
            </p:cNvSpPr>
            <p:nvPr/>
          </p:nvSpPr>
          <p:spPr bwMode="auto">
            <a:xfrm>
              <a:off x="2436" y="2077"/>
              <a:ext cx="26" cy="28"/>
            </a:xfrm>
            <a:custGeom>
              <a:avLst/>
              <a:gdLst>
                <a:gd name="T0" fmla="*/ 0 w 26"/>
                <a:gd name="T1" fmla="*/ 27 h 28"/>
                <a:gd name="T2" fmla="*/ 25 w 26"/>
                <a:gd name="T3" fmla="*/ 0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5" name="Freeform 7158"/>
            <p:cNvSpPr>
              <a:spLocks/>
            </p:cNvSpPr>
            <p:nvPr/>
          </p:nvSpPr>
          <p:spPr bwMode="auto">
            <a:xfrm>
              <a:off x="2428" y="2077"/>
              <a:ext cx="26" cy="37"/>
            </a:xfrm>
            <a:custGeom>
              <a:avLst/>
              <a:gdLst>
                <a:gd name="T0" fmla="*/ 0 w 26"/>
                <a:gd name="T1" fmla="*/ 6 h 37"/>
                <a:gd name="T2" fmla="*/ 25 w 26"/>
                <a:gd name="T3" fmla="*/ 0 h 37"/>
                <a:gd name="T4" fmla="*/ 25 w 26"/>
                <a:gd name="T5" fmla="*/ 36 h 37"/>
                <a:gd name="T6" fmla="*/ 0 w 26"/>
                <a:gd name="T7" fmla="*/ 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6"/>
                  </a:moveTo>
                  <a:lnTo>
                    <a:pt x="25" y="0"/>
                  </a:lnTo>
                  <a:lnTo>
                    <a:pt x="25" y="36"/>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6" name="Freeform 7159"/>
            <p:cNvSpPr>
              <a:spLocks/>
            </p:cNvSpPr>
            <p:nvPr/>
          </p:nvSpPr>
          <p:spPr bwMode="auto">
            <a:xfrm>
              <a:off x="2441" y="2077"/>
              <a:ext cx="29" cy="37"/>
            </a:xfrm>
            <a:custGeom>
              <a:avLst/>
              <a:gdLst>
                <a:gd name="T0" fmla="*/ 0 w 29"/>
                <a:gd name="T1" fmla="*/ 36 h 37"/>
                <a:gd name="T2" fmla="*/ 28 w 29"/>
                <a:gd name="T3" fmla="*/ 36 h 37"/>
                <a:gd name="T4" fmla="*/ 0 w 29"/>
                <a:gd name="T5" fmla="*/ 0 h 37"/>
                <a:gd name="T6" fmla="*/ 0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36"/>
                  </a:moveTo>
                  <a:lnTo>
                    <a:pt x="28" y="36"/>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7" name="Freeform 7160"/>
            <p:cNvSpPr>
              <a:spLocks/>
            </p:cNvSpPr>
            <p:nvPr/>
          </p:nvSpPr>
          <p:spPr bwMode="auto">
            <a:xfrm>
              <a:off x="2441" y="2113"/>
              <a:ext cx="29" cy="1"/>
            </a:xfrm>
            <a:custGeom>
              <a:avLst/>
              <a:gdLst>
                <a:gd name="T0" fmla="*/ 0 w 29"/>
                <a:gd name="T1" fmla="*/ 0 h 1"/>
                <a:gd name="T2" fmla="*/ 0 w 29"/>
                <a:gd name="T3" fmla="*/ 0 h 1"/>
                <a:gd name="T4" fmla="*/ 28 w 29"/>
                <a:gd name="T5" fmla="*/ 0 h 1"/>
                <a:gd name="T6" fmla="*/ 0 w 29"/>
                <a:gd name="T7" fmla="*/ 0 h 1"/>
                <a:gd name="T8" fmla="*/ 0 60000 65536"/>
                <a:gd name="T9" fmla="*/ 0 60000 65536"/>
                <a:gd name="T10" fmla="*/ 0 60000 65536"/>
                <a:gd name="T11" fmla="*/ 0 60000 65536"/>
                <a:gd name="T12" fmla="*/ 0 w 29"/>
                <a:gd name="T13" fmla="*/ 0 h 1"/>
                <a:gd name="T14" fmla="*/ 29 w 29"/>
                <a:gd name="T15" fmla="*/ 1 h 1"/>
              </a:gdLst>
              <a:ahLst/>
              <a:cxnLst>
                <a:cxn ang="T8">
                  <a:pos x="T0" y="T1"/>
                </a:cxn>
                <a:cxn ang="T9">
                  <a:pos x="T2" y="T3"/>
                </a:cxn>
                <a:cxn ang="T10">
                  <a:pos x="T4" y="T5"/>
                </a:cxn>
                <a:cxn ang="T11">
                  <a:pos x="T6" y="T7"/>
                </a:cxn>
              </a:cxnLst>
              <a:rect l="T12" t="T13" r="T14" b="T15"/>
              <a:pathLst>
                <a:path w="29" h="1">
                  <a:moveTo>
                    <a:pt x="0" y="0"/>
                  </a:moveTo>
                  <a:lnTo>
                    <a:pt x="0" y="0"/>
                  </a:lnTo>
                  <a:lnTo>
                    <a:pt x="28"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8" name="Line 7161"/>
            <p:cNvSpPr>
              <a:spLocks noChangeShapeType="1"/>
            </p:cNvSpPr>
            <p:nvPr/>
          </p:nvSpPr>
          <p:spPr bwMode="auto">
            <a:xfrm>
              <a:off x="2441" y="211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09" name="Freeform 7162"/>
            <p:cNvSpPr>
              <a:spLocks/>
            </p:cNvSpPr>
            <p:nvPr/>
          </p:nvSpPr>
          <p:spPr bwMode="auto">
            <a:xfrm>
              <a:off x="2441" y="2113"/>
              <a:ext cx="29" cy="37"/>
            </a:xfrm>
            <a:custGeom>
              <a:avLst/>
              <a:gdLst>
                <a:gd name="T0" fmla="*/ 0 w 29"/>
                <a:gd name="T1" fmla="*/ 0 h 37"/>
                <a:gd name="T2" fmla="*/ 28 w 29"/>
                <a:gd name="T3" fmla="*/ 0 h 37"/>
                <a:gd name="T4" fmla="*/ 28 w 29"/>
                <a:gd name="T5" fmla="*/ 36 h 37"/>
                <a:gd name="T6" fmla="*/ 0 w 29"/>
                <a:gd name="T7" fmla="*/ 0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8" y="0"/>
                  </a:lnTo>
                  <a:lnTo>
                    <a:pt x="28" y="3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0" name="Freeform 7163"/>
            <p:cNvSpPr>
              <a:spLocks/>
            </p:cNvSpPr>
            <p:nvPr/>
          </p:nvSpPr>
          <p:spPr bwMode="auto">
            <a:xfrm>
              <a:off x="2454" y="2113"/>
              <a:ext cx="26" cy="37"/>
            </a:xfrm>
            <a:custGeom>
              <a:avLst/>
              <a:gdLst>
                <a:gd name="T0" fmla="*/ 0 w 26"/>
                <a:gd name="T1" fmla="*/ 36 h 37"/>
                <a:gd name="T2" fmla="*/ 25 w 26"/>
                <a:gd name="T3" fmla="*/ 27 h 37"/>
                <a:gd name="T4" fmla="*/ 0 w 26"/>
                <a:gd name="T5" fmla="*/ 0 h 37"/>
                <a:gd name="T6" fmla="*/ 0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0" y="36"/>
                  </a:moveTo>
                  <a:lnTo>
                    <a:pt x="25" y="27"/>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1" name="Freeform 7164"/>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2" name="Freeform 7165"/>
            <p:cNvSpPr>
              <a:spLocks/>
            </p:cNvSpPr>
            <p:nvPr/>
          </p:nvSpPr>
          <p:spPr bwMode="auto">
            <a:xfrm>
              <a:off x="2454" y="2149"/>
              <a:ext cx="26" cy="1"/>
            </a:xfrm>
            <a:custGeom>
              <a:avLst/>
              <a:gdLst>
                <a:gd name="T0" fmla="*/ 25 w 26"/>
                <a:gd name="T1" fmla="*/ 0 h 1"/>
                <a:gd name="T2" fmla="*/ 0 w 26"/>
                <a:gd name="T3" fmla="*/ 0 h 1"/>
                <a:gd name="T4" fmla="*/ 0 w 26"/>
                <a:gd name="T5" fmla="*/ 0 h 1"/>
                <a:gd name="T6" fmla="*/ 25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25" y="0"/>
                  </a:moveTo>
                  <a:lnTo>
                    <a:pt x="0" y="0"/>
                  </a:lnTo>
                  <a:lnTo>
                    <a:pt x="25"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3" name="Freeform 7166"/>
            <p:cNvSpPr>
              <a:spLocks/>
            </p:cNvSpPr>
            <p:nvPr/>
          </p:nvSpPr>
          <p:spPr bwMode="auto">
            <a:xfrm>
              <a:off x="2454" y="2141"/>
              <a:ext cx="26" cy="44"/>
            </a:xfrm>
            <a:custGeom>
              <a:avLst/>
              <a:gdLst>
                <a:gd name="T0" fmla="*/ 0 w 26"/>
                <a:gd name="T1" fmla="*/ 8 h 44"/>
                <a:gd name="T2" fmla="*/ 25 w 26"/>
                <a:gd name="T3" fmla="*/ 0 h 44"/>
                <a:gd name="T4" fmla="*/ 25 w 26"/>
                <a:gd name="T5" fmla="*/ 43 h 44"/>
                <a:gd name="T6" fmla="*/ 0 w 26"/>
                <a:gd name="T7" fmla="*/ 8 h 44"/>
                <a:gd name="T8" fmla="*/ 0 60000 65536"/>
                <a:gd name="T9" fmla="*/ 0 60000 65536"/>
                <a:gd name="T10" fmla="*/ 0 60000 65536"/>
                <a:gd name="T11" fmla="*/ 0 60000 65536"/>
                <a:gd name="T12" fmla="*/ 0 w 26"/>
                <a:gd name="T13" fmla="*/ 0 h 44"/>
                <a:gd name="T14" fmla="*/ 26 w 26"/>
                <a:gd name="T15" fmla="*/ 44 h 44"/>
              </a:gdLst>
              <a:ahLst/>
              <a:cxnLst>
                <a:cxn ang="T8">
                  <a:pos x="T0" y="T1"/>
                </a:cxn>
                <a:cxn ang="T9">
                  <a:pos x="T2" y="T3"/>
                </a:cxn>
                <a:cxn ang="T10">
                  <a:pos x="T4" y="T5"/>
                </a:cxn>
                <a:cxn ang="T11">
                  <a:pos x="T6" y="T7"/>
                </a:cxn>
              </a:cxnLst>
              <a:rect l="T12" t="T13" r="T14" b="T15"/>
              <a:pathLst>
                <a:path w="26" h="44">
                  <a:moveTo>
                    <a:pt x="0" y="8"/>
                  </a:moveTo>
                  <a:lnTo>
                    <a:pt x="25" y="0"/>
                  </a:lnTo>
                  <a:lnTo>
                    <a:pt x="25" y="43"/>
                  </a:lnTo>
                  <a:lnTo>
                    <a:pt x="0" y="8"/>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4" name="Freeform 7167"/>
            <p:cNvSpPr>
              <a:spLocks/>
            </p:cNvSpPr>
            <p:nvPr/>
          </p:nvSpPr>
          <p:spPr bwMode="auto">
            <a:xfrm>
              <a:off x="2469" y="2141"/>
              <a:ext cx="24" cy="44"/>
            </a:xfrm>
            <a:custGeom>
              <a:avLst/>
              <a:gdLst>
                <a:gd name="T0" fmla="*/ 0 w 24"/>
                <a:gd name="T1" fmla="*/ 43 h 44"/>
                <a:gd name="T2" fmla="*/ 23 w 24"/>
                <a:gd name="T3" fmla="*/ 36 h 44"/>
                <a:gd name="T4" fmla="*/ 0 w 24"/>
                <a:gd name="T5" fmla="*/ 0 h 44"/>
                <a:gd name="T6" fmla="*/ 0 w 24"/>
                <a:gd name="T7" fmla="*/ 43 h 44"/>
                <a:gd name="T8" fmla="*/ 0 60000 65536"/>
                <a:gd name="T9" fmla="*/ 0 60000 65536"/>
                <a:gd name="T10" fmla="*/ 0 60000 65536"/>
                <a:gd name="T11" fmla="*/ 0 60000 65536"/>
                <a:gd name="T12" fmla="*/ 0 w 24"/>
                <a:gd name="T13" fmla="*/ 0 h 44"/>
                <a:gd name="T14" fmla="*/ 24 w 24"/>
                <a:gd name="T15" fmla="*/ 44 h 44"/>
              </a:gdLst>
              <a:ahLst/>
              <a:cxnLst>
                <a:cxn ang="T8">
                  <a:pos x="T0" y="T1"/>
                </a:cxn>
                <a:cxn ang="T9">
                  <a:pos x="T2" y="T3"/>
                </a:cxn>
                <a:cxn ang="T10">
                  <a:pos x="T4" y="T5"/>
                </a:cxn>
                <a:cxn ang="T11">
                  <a:pos x="T6" y="T7"/>
                </a:cxn>
              </a:cxnLst>
              <a:rect l="T12" t="T13" r="T14" b="T15"/>
              <a:pathLst>
                <a:path w="24" h="44">
                  <a:moveTo>
                    <a:pt x="0" y="43"/>
                  </a:moveTo>
                  <a:lnTo>
                    <a:pt x="23" y="36"/>
                  </a:lnTo>
                  <a:lnTo>
                    <a:pt x="0" y="0"/>
                  </a:lnTo>
                  <a:lnTo>
                    <a:pt x="0" y="43"/>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5" name="Freeform 7168"/>
            <p:cNvSpPr>
              <a:spLocks/>
            </p:cNvSpPr>
            <p:nvPr/>
          </p:nvSpPr>
          <p:spPr bwMode="auto">
            <a:xfrm>
              <a:off x="2469" y="218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6" name="Line 7169"/>
            <p:cNvSpPr>
              <a:spLocks noChangeShapeType="1"/>
            </p:cNvSpPr>
            <p:nvPr/>
          </p:nvSpPr>
          <p:spPr bwMode="auto">
            <a:xfrm>
              <a:off x="2469" y="2184"/>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7" name="Freeform 7170"/>
            <p:cNvSpPr>
              <a:spLocks/>
            </p:cNvSpPr>
            <p:nvPr/>
          </p:nvSpPr>
          <p:spPr bwMode="auto">
            <a:xfrm>
              <a:off x="2469" y="2176"/>
              <a:ext cx="24" cy="38"/>
            </a:xfrm>
            <a:custGeom>
              <a:avLst/>
              <a:gdLst>
                <a:gd name="T0" fmla="*/ 0 w 24"/>
                <a:gd name="T1" fmla="*/ 6 h 38"/>
                <a:gd name="T2" fmla="*/ 23 w 24"/>
                <a:gd name="T3" fmla="*/ 0 h 38"/>
                <a:gd name="T4" fmla="*/ 23 w 24"/>
                <a:gd name="T5" fmla="*/ 37 h 38"/>
                <a:gd name="T6" fmla="*/ 0 w 24"/>
                <a:gd name="T7" fmla="*/ 6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0" y="6"/>
                  </a:moveTo>
                  <a:lnTo>
                    <a:pt x="23" y="0"/>
                  </a:lnTo>
                  <a:lnTo>
                    <a:pt x="23" y="37"/>
                  </a:lnTo>
                  <a:lnTo>
                    <a:pt x="0" y="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8" name="Freeform 7171"/>
            <p:cNvSpPr>
              <a:spLocks/>
            </p:cNvSpPr>
            <p:nvPr/>
          </p:nvSpPr>
          <p:spPr bwMode="auto">
            <a:xfrm>
              <a:off x="2478" y="2176"/>
              <a:ext cx="26" cy="38"/>
            </a:xfrm>
            <a:custGeom>
              <a:avLst/>
              <a:gdLst>
                <a:gd name="T0" fmla="*/ 0 w 26"/>
                <a:gd name="T1" fmla="*/ 37 h 38"/>
                <a:gd name="T2" fmla="*/ 25 w 26"/>
                <a:gd name="T3" fmla="*/ 37 h 38"/>
                <a:gd name="T4" fmla="*/ 0 w 26"/>
                <a:gd name="T5" fmla="*/ 0 h 38"/>
                <a:gd name="T6" fmla="*/ 0 w 26"/>
                <a:gd name="T7" fmla="*/ 37 h 38"/>
                <a:gd name="T8" fmla="*/ 0 60000 65536"/>
                <a:gd name="T9" fmla="*/ 0 60000 65536"/>
                <a:gd name="T10" fmla="*/ 0 60000 65536"/>
                <a:gd name="T11" fmla="*/ 0 60000 65536"/>
                <a:gd name="T12" fmla="*/ 0 w 26"/>
                <a:gd name="T13" fmla="*/ 0 h 38"/>
                <a:gd name="T14" fmla="*/ 26 w 26"/>
                <a:gd name="T15" fmla="*/ 38 h 38"/>
              </a:gdLst>
              <a:ahLst/>
              <a:cxnLst>
                <a:cxn ang="T8">
                  <a:pos x="T0" y="T1"/>
                </a:cxn>
                <a:cxn ang="T9">
                  <a:pos x="T2" y="T3"/>
                </a:cxn>
                <a:cxn ang="T10">
                  <a:pos x="T4" y="T5"/>
                </a:cxn>
                <a:cxn ang="T11">
                  <a:pos x="T6" y="T7"/>
                </a:cxn>
              </a:cxnLst>
              <a:rect l="T12" t="T13" r="T14" b="T15"/>
              <a:pathLst>
                <a:path w="26" h="38">
                  <a:moveTo>
                    <a:pt x="0" y="37"/>
                  </a:moveTo>
                  <a:lnTo>
                    <a:pt x="25" y="37"/>
                  </a:lnTo>
                  <a:lnTo>
                    <a:pt x="0" y="0"/>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19" name="Freeform 7172"/>
            <p:cNvSpPr>
              <a:spLocks/>
            </p:cNvSpPr>
            <p:nvPr/>
          </p:nvSpPr>
          <p:spPr bwMode="auto">
            <a:xfrm>
              <a:off x="2478" y="2213"/>
              <a:ext cx="26" cy="28"/>
            </a:xfrm>
            <a:custGeom>
              <a:avLst/>
              <a:gdLst>
                <a:gd name="T0" fmla="*/ 0 w 26"/>
                <a:gd name="T1" fmla="*/ 0 h 28"/>
                <a:gd name="T2" fmla="*/ 0 w 26"/>
                <a:gd name="T3" fmla="*/ 0 h 28"/>
                <a:gd name="T4" fmla="*/ 25 w 26"/>
                <a:gd name="T5" fmla="*/ 27 h 28"/>
                <a:gd name="T6" fmla="*/ 0 w 26"/>
                <a:gd name="T7" fmla="*/ 0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0"/>
                  </a:moveTo>
                  <a:lnTo>
                    <a:pt x="0" y="0"/>
                  </a:lnTo>
                  <a:lnTo>
                    <a:pt x="25" y="27"/>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0" name="Line 7173"/>
            <p:cNvSpPr>
              <a:spLocks noChangeShapeType="1"/>
            </p:cNvSpPr>
            <p:nvPr/>
          </p:nvSpPr>
          <p:spPr bwMode="auto">
            <a:xfrm>
              <a:off x="2478" y="2213"/>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1" name="Freeform 7174"/>
            <p:cNvSpPr>
              <a:spLocks/>
            </p:cNvSpPr>
            <p:nvPr/>
          </p:nvSpPr>
          <p:spPr bwMode="auto">
            <a:xfrm>
              <a:off x="2478" y="2213"/>
              <a:ext cx="26" cy="36"/>
            </a:xfrm>
            <a:custGeom>
              <a:avLst/>
              <a:gdLst>
                <a:gd name="T0" fmla="*/ 0 w 26"/>
                <a:gd name="T1" fmla="*/ 0 h 36"/>
                <a:gd name="T2" fmla="*/ 25 w 26"/>
                <a:gd name="T3" fmla="*/ 0 h 36"/>
                <a:gd name="T4" fmla="*/ 25 w 26"/>
                <a:gd name="T5" fmla="*/ 35 h 36"/>
                <a:gd name="T6" fmla="*/ 0 w 26"/>
                <a:gd name="T7" fmla="*/ 0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0"/>
                  </a:moveTo>
                  <a:lnTo>
                    <a:pt x="25" y="0"/>
                  </a:lnTo>
                  <a:lnTo>
                    <a:pt x="25" y="35"/>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2" name="Freeform 7175"/>
            <p:cNvSpPr>
              <a:spLocks/>
            </p:cNvSpPr>
            <p:nvPr/>
          </p:nvSpPr>
          <p:spPr bwMode="auto">
            <a:xfrm>
              <a:off x="2491" y="2213"/>
              <a:ext cx="26" cy="36"/>
            </a:xfrm>
            <a:custGeom>
              <a:avLst/>
              <a:gdLst>
                <a:gd name="T0" fmla="*/ 0 w 26"/>
                <a:gd name="T1" fmla="*/ 35 h 36"/>
                <a:gd name="T2" fmla="*/ 25 w 26"/>
                <a:gd name="T3" fmla="*/ 28 h 36"/>
                <a:gd name="T4" fmla="*/ 0 w 26"/>
                <a:gd name="T5" fmla="*/ 0 h 36"/>
                <a:gd name="T6" fmla="*/ 0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0" y="35"/>
                  </a:moveTo>
                  <a:lnTo>
                    <a:pt x="25"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3" name="Freeform 7176"/>
            <p:cNvSpPr>
              <a:spLocks/>
            </p:cNvSpPr>
            <p:nvPr/>
          </p:nvSpPr>
          <p:spPr bwMode="auto">
            <a:xfrm>
              <a:off x="2491" y="2248"/>
              <a:ext cx="26" cy="1"/>
            </a:xfrm>
            <a:custGeom>
              <a:avLst/>
              <a:gdLst>
                <a:gd name="T0" fmla="*/ 0 w 26"/>
                <a:gd name="T1" fmla="*/ 0 h 1"/>
                <a:gd name="T2" fmla="*/ 0 w 26"/>
                <a:gd name="T3" fmla="*/ 0 h 1"/>
                <a:gd name="T4" fmla="*/ 25 w 26"/>
                <a:gd name="T5" fmla="*/ 0 h 1"/>
                <a:gd name="T6" fmla="*/ 0 w 26"/>
                <a:gd name="T7" fmla="*/ 0 h 1"/>
                <a:gd name="T8" fmla="*/ 0 60000 65536"/>
                <a:gd name="T9" fmla="*/ 0 60000 65536"/>
                <a:gd name="T10" fmla="*/ 0 60000 65536"/>
                <a:gd name="T11" fmla="*/ 0 60000 65536"/>
                <a:gd name="T12" fmla="*/ 0 w 26"/>
                <a:gd name="T13" fmla="*/ 0 h 1"/>
                <a:gd name="T14" fmla="*/ 26 w 26"/>
                <a:gd name="T15" fmla="*/ 1 h 1"/>
              </a:gdLst>
              <a:ahLst/>
              <a:cxnLst>
                <a:cxn ang="T8">
                  <a:pos x="T0" y="T1"/>
                </a:cxn>
                <a:cxn ang="T9">
                  <a:pos x="T2" y="T3"/>
                </a:cxn>
                <a:cxn ang="T10">
                  <a:pos x="T4" y="T5"/>
                </a:cxn>
                <a:cxn ang="T11">
                  <a:pos x="T6" y="T7"/>
                </a:cxn>
              </a:cxnLst>
              <a:rect l="T12" t="T13" r="T14" b="T15"/>
              <a:pathLst>
                <a:path w="26" h="1">
                  <a:moveTo>
                    <a:pt x="0" y="0"/>
                  </a:moveTo>
                  <a:lnTo>
                    <a:pt x="0" y="0"/>
                  </a:lnTo>
                  <a:lnTo>
                    <a:pt x="25"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4" name="Line 7177"/>
            <p:cNvSpPr>
              <a:spLocks noChangeShapeType="1"/>
            </p:cNvSpPr>
            <p:nvPr/>
          </p:nvSpPr>
          <p:spPr bwMode="auto">
            <a:xfrm>
              <a:off x="2491" y="224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5" name="Freeform 7178"/>
            <p:cNvSpPr>
              <a:spLocks/>
            </p:cNvSpPr>
            <p:nvPr/>
          </p:nvSpPr>
          <p:spPr bwMode="auto">
            <a:xfrm>
              <a:off x="2491" y="2241"/>
              <a:ext cx="26" cy="37"/>
            </a:xfrm>
            <a:custGeom>
              <a:avLst/>
              <a:gdLst>
                <a:gd name="T0" fmla="*/ 25 w 26"/>
                <a:gd name="T1" fmla="*/ 36 h 37"/>
                <a:gd name="T2" fmla="*/ 11 w 26"/>
                <a:gd name="T3" fmla="*/ 0 h 37"/>
                <a:gd name="T4" fmla="*/ 0 w 26"/>
                <a:gd name="T5" fmla="*/ 6 h 37"/>
                <a:gd name="T6" fmla="*/ 25 w 26"/>
                <a:gd name="T7" fmla="*/ 36 h 37"/>
                <a:gd name="T8" fmla="*/ 0 60000 65536"/>
                <a:gd name="T9" fmla="*/ 0 60000 65536"/>
                <a:gd name="T10" fmla="*/ 0 60000 65536"/>
                <a:gd name="T11" fmla="*/ 0 60000 65536"/>
                <a:gd name="T12" fmla="*/ 0 w 26"/>
                <a:gd name="T13" fmla="*/ 0 h 37"/>
                <a:gd name="T14" fmla="*/ 26 w 26"/>
                <a:gd name="T15" fmla="*/ 37 h 37"/>
              </a:gdLst>
              <a:ahLst/>
              <a:cxnLst>
                <a:cxn ang="T8">
                  <a:pos x="T0" y="T1"/>
                </a:cxn>
                <a:cxn ang="T9">
                  <a:pos x="T2" y="T3"/>
                </a:cxn>
                <a:cxn ang="T10">
                  <a:pos x="T4" y="T5"/>
                </a:cxn>
                <a:cxn ang="T11">
                  <a:pos x="T6" y="T7"/>
                </a:cxn>
              </a:cxnLst>
              <a:rect l="T12" t="T13" r="T14" b="T15"/>
              <a:pathLst>
                <a:path w="26" h="37">
                  <a:moveTo>
                    <a:pt x="25" y="36"/>
                  </a:moveTo>
                  <a:lnTo>
                    <a:pt x="11" y="0"/>
                  </a:lnTo>
                  <a:lnTo>
                    <a:pt x="0" y="6"/>
                  </a:lnTo>
                  <a:lnTo>
                    <a:pt x="25"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6" name="Freeform 7179"/>
            <p:cNvSpPr>
              <a:spLocks/>
            </p:cNvSpPr>
            <p:nvPr/>
          </p:nvSpPr>
          <p:spPr bwMode="auto">
            <a:xfrm>
              <a:off x="2496" y="2241"/>
              <a:ext cx="29" cy="37"/>
            </a:xfrm>
            <a:custGeom>
              <a:avLst/>
              <a:gdLst>
                <a:gd name="T0" fmla="*/ 15 w 29"/>
                <a:gd name="T1" fmla="*/ 36 h 37"/>
                <a:gd name="T2" fmla="*/ 28 w 29"/>
                <a:gd name="T3" fmla="*/ 36 h 37"/>
                <a:gd name="T4" fmla="*/ 0 w 29"/>
                <a:gd name="T5" fmla="*/ 0 h 37"/>
                <a:gd name="T6" fmla="*/ 15 w 29"/>
                <a:gd name="T7" fmla="*/ 36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15" y="36"/>
                  </a:moveTo>
                  <a:lnTo>
                    <a:pt x="28" y="36"/>
                  </a:lnTo>
                  <a:lnTo>
                    <a:pt x="0" y="0"/>
                  </a:lnTo>
                  <a:lnTo>
                    <a:pt x="15"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7" name="Freeform 7180"/>
            <p:cNvSpPr>
              <a:spLocks/>
            </p:cNvSpPr>
            <p:nvPr/>
          </p:nvSpPr>
          <p:spPr bwMode="auto">
            <a:xfrm>
              <a:off x="2503" y="2277"/>
              <a:ext cx="26" cy="27"/>
            </a:xfrm>
            <a:custGeom>
              <a:avLst/>
              <a:gdLst>
                <a:gd name="T0" fmla="*/ 0 w 26"/>
                <a:gd name="T1" fmla="*/ 0 h 27"/>
                <a:gd name="T2" fmla="*/ 0 w 26"/>
                <a:gd name="T3" fmla="*/ 0 h 27"/>
                <a:gd name="T4" fmla="*/ 25 w 26"/>
                <a:gd name="T5" fmla="*/ 26 h 27"/>
                <a:gd name="T6" fmla="*/ 0 w 26"/>
                <a:gd name="T7" fmla="*/ 0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0"/>
                  </a:moveTo>
                  <a:lnTo>
                    <a:pt x="0" y="0"/>
                  </a:lnTo>
                  <a:lnTo>
                    <a:pt x="25" y="26"/>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8" name="Line 7181"/>
            <p:cNvSpPr>
              <a:spLocks noChangeShapeType="1"/>
            </p:cNvSpPr>
            <p:nvPr/>
          </p:nvSpPr>
          <p:spPr bwMode="auto">
            <a:xfrm>
              <a:off x="2503" y="2277"/>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29" name="Freeform 7182"/>
            <p:cNvSpPr>
              <a:spLocks/>
            </p:cNvSpPr>
            <p:nvPr/>
          </p:nvSpPr>
          <p:spPr bwMode="auto">
            <a:xfrm>
              <a:off x="2503" y="2277"/>
              <a:ext cx="26" cy="36"/>
            </a:xfrm>
            <a:custGeom>
              <a:avLst/>
              <a:gdLst>
                <a:gd name="T0" fmla="*/ 25 w 26"/>
                <a:gd name="T1" fmla="*/ 35 h 36"/>
                <a:gd name="T2" fmla="*/ 25 w 26"/>
                <a:gd name="T3" fmla="*/ 0 h 36"/>
                <a:gd name="T4" fmla="*/ 0 w 26"/>
                <a:gd name="T5" fmla="*/ 0 h 36"/>
                <a:gd name="T6" fmla="*/ 25 w 26"/>
                <a:gd name="T7" fmla="*/ 35 h 36"/>
                <a:gd name="T8" fmla="*/ 0 60000 65536"/>
                <a:gd name="T9" fmla="*/ 0 60000 65536"/>
                <a:gd name="T10" fmla="*/ 0 60000 65536"/>
                <a:gd name="T11" fmla="*/ 0 60000 65536"/>
                <a:gd name="T12" fmla="*/ 0 w 26"/>
                <a:gd name="T13" fmla="*/ 0 h 36"/>
                <a:gd name="T14" fmla="*/ 26 w 26"/>
                <a:gd name="T15" fmla="*/ 36 h 36"/>
              </a:gdLst>
              <a:ahLst/>
              <a:cxnLst>
                <a:cxn ang="T8">
                  <a:pos x="T0" y="T1"/>
                </a:cxn>
                <a:cxn ang="T9">
                  <a:pos x="T2" y="T3"/>
                </a:cxn>
                <a:cxn ang="T10">
                  <a:pos x="T4" y="T5"/>
                </a:cxn>
                <a:cxn ang="T11">
                  <a:pos x="T6" y="T7"/>
                </a:cxn>
              </a:cxnLst>
              <a:rect l="T12" t="T13" r="T14" b="T15"/>
              <a:pathLst>
                <a:path w="26" h="36">
                  <a:moveTo>
                    <a:pt x="25" y="35"/>
                  </a:moveTo>
                  <a:lnTo>
                    <a:pt x="25" y="0"/>
                  </a:lnTo>
                  <a:lnTo>
                    <a:pt x="0" y="0"/>
                  </a:lnTo>
                  <a:lnTo>
                    <a:pt x="25"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0" name="Freeform 7183"/>
            <p:cNvSpPr>
              <a:spLocks/>
            </p:cNvSpPr>
            <p:nvPr/>
          </p:nvSpPr>
          <p:spPr bwMode="auto">
            <a:xfrm>
              <a:off x="2507" y="2277"/>
              <a:ext cx="28" cy="36"/>
            </a:xfrm>
            <a:custGeom>
              <a:avLst/>
              <a:gdLst>
                <a:gd name="T0" fmla="*/ 0 w 28"/>
                <a:gd name="T1" fmla="*/ 35 h 36"/>
                <a:gd name="T2" fmla="*/ 27 w 28"/>
                <a:gd name="T3" fmla="*/ 27 h 36"/>
                <a:gd name="T4" fmla="*/ 0 w 28"/>
                <a:gd name="T5" fmla="*/ 0 h 36"/>
                <a:gd name="T6" fmla="*/ 0 w 28"/>
                <a:gd name="T7" fmla="*/ 35 h 36"/>
                <a:gd name="T8" fmla="*/ 0 60000 65536"/>
                <a:gd name="T9" fmla="*/ 0 60000 65536"/>
                <a:gd name="T10" fmla="*/ 0 60000 65536"/>
                <a:gd name="T11" fmla="*/ 0 60000 65536"/>
                <a:gd name="T12" fmla="*/ 0 w 28"/>
                <a:gd name="T13" fmla="*/ 0 h 36"/>
                <a:gd name="T14" fmla="*/ 28 w 28"/>
                <a:gd name="T15" fmla="*/ 36 h 36"/>
              </a:gdLst>
              <a:ahLst/>
              <a:cxnLst>
                <a:cxn ang="T8">
                  <a:pos x="T0" y="T1"/>
                </a:cxn>
                <a:cxn ang="T9">
                  <a:pos x="T2" y="T3"/>
                </a:cxn>
                <a:cxn ang="T10">
                  <a:pos x="T4" y="T5"/>
                </a:cxn>
                <a:cxn ang="T11">
                  <a:pos x="T6" y="T7"/>
                </a:cxn>
              </a:cxnLst>
              <a:rect l="T12" t="T13" r="T14" b="T15"/>
              <a:pathLst>
                <a:path w="28" h="36">
                  <a:moveTo>
                    <a:pt x="0" y="35"/>
                  </a:moveTo>
                  <a:lnTo>
                    <a:pt x="27" y="27"/>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1" name="Freeform 7184"/>
            <p:cNvSpPr>
              <a:spLocks/>
            </p:cNvSpPr>
            <p:nvPr/>
          </p:nvSpPr>
          <p:spPr bwMode="auto">
            <a:xfrm>
              <a:off x="2507" y="2312"/>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2" name="Line 7185"/>
            <p:cNvSpPr>
              <a:spLocks noChangeShapeType="1"/>
            </p:cNvSpPr>
            <p:nvPr/>
          </p:nvSpPr>
          <p:spPr bwMode="auto">
            <a:xfrm>
              <a:off x="2507" y="2312"/>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3" name="Freeform 7186"/>
            <p:cNvSpPr>
              <a:spLocks/>
            </p:cNvSpPr>
            <p:nvPr/>
          </p:nvSpPr>
          <p:spPr bwMode="auto">
            <a:xfrm>
              <a:off x="2507" y="2304"/>
              <a:ext cx="28" cy="37"/>
            </a:xfrm>
            <a:custGeom>
              <a:avLst/>
              <a:gdLst>
                <a:gd name="T0" fmla="*/ 27 w 28"/>
                <a:gd name="T1" fmla="*/ 36 h 37"/>
                <a:gd name="T2" fmla="*/ 27 w 28"/>
                <a:gd name="T3" fmla="*/ 0 h 37"/>
                <a:gd name="T4" fmla="*/ 0 w 28"/>
                <a:gd name="T5" fmla="*/ 8 h 37"/>
                <a:gd name="T6" fmla="*/ 27 w 28"/>
                <a:gd name="T7" fmla="*/ 36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27" y="36"/>
                  </a:moveTo>
                  <a:lnTo>
                    <a:pt x="27" y="0"/>
                  </a:lnTo>
                  <a:lnTo>
                    <a:pt x="0" y="8"/>
                  </a:lnTo>
                  <a:lnTo>
                    <a:pt x="27"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4" name="Freeform 7187"/>
            <p:cNvSpPr>
              <a:spLocks/>
            </p:cNvSpPr>
            <p:nvPr/>
          </p:nvSpPr>
          <p:spPr bwMode="auto">
            <a:xfrm>
              <a:off x="2524" y="2304"/>
              <a:ext cx="22" cy="37"/>
            </a:xfrm>
            <a:custGeom>
              <a:avLst/>
              <a:gdLst>
                <a:gd name="T0" fmla="*/ 0 w 22"/>
                <a:gd name="T1" fmla="*/ 36 h 37"/>
                <a:gd name="T2" fmla="*/ 21 w 22"/>
                <a:gd name="T3" fmla="*/ 29 h 37"/>
                <a:gd name="T4" fmla="*/ 0 w 22"/>
                <a:gd name="T5" fmla="*/ 0 h 37"/>
                <a:gd name="T6" fmla="*/ 0 w 22"/>
                <a:gd name="T7" fmla="*/ 36 h 37"/>
                <a:gd name="T8" fmla="*/ 0 60000 65536"/>
                <a:gd name="T9" fmla="*/ 0 60000 65536"/>
                <a:gd name="T10" fmla="*/ 0 60000 65536"/>
                <a:gd name="T11" fmla="*/ 0 60000 65536"/>
                <a:gd name="T12" fmla="*/ 0 w 22"/>
                <a:gd name="T13" fmla="*/ 0 h 37"/>
                <a:gd name="T14" fmla="*/ 22 w 22"/>
                <a:gd name="T15" fmla="*/ 37 h 37"/>
              </a:gdLst>
              <a:ahLst/>
              <a:cxnLst>
                <a:cxn ang="T8">
                  <a:pos x="T0" y="T1"/>
                </a:cxn>
                <a:cxn ang="T9">
                  <a:pos x="T2" y="T3"/>
                </a:cxn>
                <a:cxn ang="T10">
                  <a:pos x="T4" y="T5"/>
                </a:cxn>
                <a:cxn ang="T11">
                  <a:pos x="T6" y="T7"/>
                </a:cxn>
              </a:cxnLst>
              <a:rect l="T12" t="T13" r="T14" b="T15"/>
              <a:pathLst>
                <a:path w="22" h="37">
                  <a:moveTo>
                    <a:pt x="0" y="36"/>
                  </a:moveTo>
                  <a:lnTo>
                    <a:pt x="21" y="29"/>
                  </a:lnTo>
                  <a:lnTo>
                    <a:pt x="0" y="0"/>
                  </a:lnTo>
                  <a:lnTo>
                    <a:pt x="0" y="3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5" name="Freeform 7188"/>
            <p:cNvSpPr>
              <a:spLocks/>
            </p:cNvSpPr>
            <p:nvPr/>
          </p:nvSpPr>
          <p:spPr bwMode="auto">
            <a:xfrm>
              <a:off x="2524" y="2340"/>
              <a:ext cx="22" cy="1"/>
            </a:xfrm>
            <a:custGeom>
              <a:avLst/>
              <a:gdLst>
                <a:gd name="T0" fmla="*/ 0 w 22"/>
                <a:gd name="T1" fmla="*/ 0 h 1"/>
                <a:gd name="T2" fmla="*/ 0 w 22"/>
                <a:gd name="T3" fmla="*/ 0 h 1"/>
                <a:gd name="T4" fmla="*/ 21 w 22"/>
                <a:gd name="T5" fmla="*/ 0 h 1"/>
                <a:gd name="T6" fmla="*/ 0 w 22"/>
                <a:gd name="T7" fmla="*/ 0 h 1"/>
                <a:gd name="T8" fmla="*/ 0 60000 65536"/>
                <a:gd name="T9" fmla="*/ 0 60000 65536"/>
                <a:gd name="T10" fmla="*/ 0 60000 65536"/>
                <a:gd name="T11" fmla="*/ 0 60000 65536"/>
                <a:gd name="T12" fmla="*/ 0 w 22"/>
                <a:gd name="T13" fmla="*/ 0 h 1"/>
                <a:gd name="T14" fmla="*/ 22 w 22"/>
                <a:gd name="T15" fmla="*/ 1 h 1"/>
              </a:gdLst>
              <a:ahLst/>
              <a:cxnLst>
                <a:cxn ang="T8">
                  <a:pos x="T0" y="T1"/>
                </a:cxn>
                <a:cxn ang="T9">
                  <a:pos x="T2" y="T3"/>
                </a:cxn>
                <a:cxn ang="T10">
                  <a:pos x="T4" y="T5"/>
                </a:cxn>
                <a:cxn ang="T11">
                  <a:pos x="T6" y="T7"/>
                </a:cxn>
              </a:cxnLst>
              <a:rect l="T12" t="T13" r="T14" b="T15"/>
              <a:pathLst>
                <a:path w="22" h="1">
                  <a:moveTo>
                    <a:pt x="0" y="0"/>
                  </a:moveTo>
                  <a:lnTo>
                    <a:pt x="0" y="0"/>
                  </a:lnTo>
                  <a:lnTo>
                    <a:pt x="21"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6" name="Line 7189"/>
            <p:cNvSpPr>
              <a:spLocks noChangeShapeType="1"/>
            </p:cNvSpPr>
            <p:nvPr/>
          </p:nvSpPr>
          <p:spPr bwMode="auto">
            <a:xfrm>
              <a:off x="2524" y="2340"/>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7" name="Freeform 7190"/>
            <p:cNvSpPr>
              <a:spLocks/>
            </p:cNvSpPr>
            <p:nvPr/>
          </p:nvSpPr>
          <p:spPr bwMode="auto">
            <a:xfrm>
              <a:off x="2524" y="2334"/>
              <a:ext cx="22" cy="36"/>
            </a:xfrm>
            <a:custGeom>
              <a:avLst/>
              <a:gdLst>
                <a:gd name="T0" fmla="*/ 21 w 22"/>
                <a:gd name="T1" fmla="*/ 35 h 36"/>
                <a:gd name="T2" fmla="*/ 21 w 22"/>
                <a:gd name="T3" fmla="*/ 0 h 36"/>
                <a:gd name="T4" fmla="*/ 0 w 22"/>
                <a:gd name="T5" fmla="*/ 6 h 36"/>
                <a:gd name="T6" fmla="*/ 21 w 22"/>
                <a:gd name="T7" fmla="*/ 35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1" y="35"/>
                  </a:moveTo>
                  <a:lnTo>
                    <a:pt x="21" y="0"/>
                  </a:lnTo>
                  <a:lnTo>
                    <a:pt x="0" y="6"/>
                  </a:lnTo>
                  <a:lnTo>
                    <a:pt x="21"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8" name="Freeform 7191"/>
            <p:cNvSpPr>
              <a:spLocks/>
            </p:cNvSpPr>
            <p:nvPr/>
          </p:nvSpPr>
          <p:spPr bwMode="auto">
            <a:xfrm>
              <a:off x="2533" y="2334"/>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39" name="Freeform 7192"/>
            <p:cNvSpPr>
              <a:spLocks/>
            </p:cNvSpPr>
            <p:nvPr/>
          </p:nvSpPr>
          <p:spPr bwMode="auto">
            <a:xfrm>
              <a:off x="2533" y="2369"/>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0" name="Line 7193"/>
            <p:cNvSpPr>
              <a:spLocks noChangeShapeType="1"/>
            </p:cNvSpPr>
            <p:nvPr/>
          </p:nvSpPr>
          <p:spPr bwMode="auto">
            <a:xfrm>
              <a:off x="2533" y="2369"/>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1" name="Freeform 7194"/>
            <p:cNvSpPr>
              <a:spLocks/>
            </p:cNvSpPr>
            <p:nvPr/>
          </p:nvSpPr>
          <p:spPr bwMode="auto">
            <a:xfrm>
              <a:off x="2533" y="2361"/>
              <a:ext cx="24" cy="38"/>
            </a:xfrm>
            <a:custGeom>
              <a:avLst/>
              <a:gdLst>
                <a:gd name="T0" fmla="*/ 23 w 24"/>
                <a:gd name="T1" fmla="*/ 37 h 38"/>
                <a:gd name="T2" fmla="*/ 23 w 24"/>
                <a:gd name="T3" fmla="*/ 0 h 38"/>
                <a:gd name="T4" fmla="*/ 0 w 24"/>
                <a:gd name="T5" fmla="*/ 6 h 38"/>
                <a:gd name="T6" fmla="*/ 23 w 24"/>
                <a:gd name="T7" fmla="*/ 37 h 38"/>
                <a:gd name="T8" fmla="*/ 0 60000 65536"/>
                <a:gd name="T9" fmla="*/ 0 60000 65536"/>
                <a:gd name="T10" fmla="*/ 0 60000 65536"/>
                <a:gd name="T11" fmla="*/ 0 60000 65536"/>
                <a:gd name="T12" fmla="*/ 0 w 24"/>
                <a:gd name="T13" fmla="*/ 0 h 38"/>
                <a:gd name="T14" fmla="*/ 24 w 24"/>
                <a:gd name="T15" fmla="*/ 38 h 38"/>
              </a:gdLst>
              <a:ahLst/>
              <a:cxnLst>
                <a:cxn ang="T8">
                  <a:pos x="T0" y="T1"/>
                </a:cxn>
                <a:cxn ang="T9">
                  <a:pos x="T2" y="T3"/>
                </a:cxn>
                <a:cxn ang="T10">
                  <a:pos x="T4" y="T5"/>
                </a:cxn>
                <a:cxn ang="T11">
                  <a:pos x="T6" y="T7"/>
                </a:cxn>
              </a:cxnLst>
              <a:rect l="T12" t="T13" r="T14" b="T15"/>
              <a:pathLst>
                <a:path w="24" h="38">
                  <a:moveTo>
                    <a:pt x="23" y="37"/>
                  </a:moveTo>
                  <a:lnTo>
                    <a:pt x="23" y="0"/>
                  </a:lnTo>
                  <a:lnTo>
                    <a:pt x="0" y="6"/>
                  </a:lnTo>
                  <a:lnTo>
                    <a:pt x="23"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2" name="Freeform 7195"/>
            <p:cNvSpPr>
              <a:spLocks/>
            </p:cNvSpPr>
            <p:nvPr/>
          </p:nvSpPr>
          <p:spPr bwMode="auto">
            <a:xfrm>
              <a:off x="2545" y="2361"/>
              <a:ext cx="28" cy="38"/>
            </a:xfrm>
            <a:custGeom>
              <a:avLst/>
              <a:gdLst>
                <a:gd name="T0" fmla="*/ 0 w 28"/>
                <a:gd name="T1" fmla="*/ 37 h 38"/>
                <a:gd name="T2" fmla="*/ 27 w 28"/>
                <a:gd name="T3" fmla="*/ 28 h 38"/>
                <a:gd name="T4" fmla="*/ 0 w 28"/>
                <a:gd name="T5" fmla="*/ 0 h 38"/>
                <a:gd name="T6" fmla="*/ 0 w 28"/>
                <a:gd name="T7" fmla="*/ 37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7"/>
                  </a:moveTo>
                  <a:lnTo>
                    <a:pt x="27" y="28"/>
                  </a:lnTo>
                  <a:lnTo>
                    <a:pt x="0" y="0"/>
                  </a:lnTo>
                  <a:lnTo>
                    <a:pt x="0" y="3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3" name="Freeform 7196"/>
            <p:cNvSpPr>
              <a:spLocks/>
            </p:cNvSpPr>
            <p:nvPr/>
          </p:nvSpPr>
          <p:spPr bwMode="auto">
            <a:xfrm>
              <a:off x="2545" y="2398"/>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4" name="Line 7197"/>
            <p:cNvSpPr>
              <a:spLocks noChangeShapeType="1"/>
            </p:cNvSpPr>
            <p:nvPr/>
          </p:nvSpPr>
          <p:spPr bwMode="auto">
            <a:xfrm>
              <a:off x="2545" y="239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5" name="Freeform 7198"/>
            <p:cNvSpPr>
              <a:spLocks/>
            </p:cNvSpPr>
            <p:nvPr/>
          </p:nvSpPr>
          <p:spPr bwMode="auto">
            <a:xfrm>
              <a:off x="2545" y="2390"/>
              <a:ext cx="28" cy="31"/>
            </a:xfrm>
            <a:custGeom>
              <a:avLst/>
              <a:gdLst>
                <a:gd name="T0" fmla="*/ 27 w 28"/>
                <a:gd name="T1" fmla="*/ 30 h 31"/>
                <a:gd name="T2" fmla="*/ 27 w 28"/>
                <a:gd name="T3" fmla="*/ 0 h 31"/>
                <a:gd name="T4" fmla="*/ 0 w 28"/>
                <a:gd name="T5" fmla="*/ 8 h 31"/>
                <a:gd name="T6" fmla="*/ 27 w 28"/>
                <a:gd name="T7" fmla="*/ 30 h 31"/>
                <a:gd name="T8" fmla="*/ 0 60000 65536"/>
                <a:gd name="T9" fmla="*/ 0 60000 65536"/>
                <a:gd name="T10" fmla="*/ 0 60000 65536"/>
                <a:gd name="T11" fmla="*/ 0 60000 65536"/>
                <a:gd name="T12" fmla="*/ 0 w 28"/>
                <a:gd name="T13" fmla="*/ 0 h 31"/>
                <a:gd name="T14" fmla="*/ 28 w 28"/>
                <a:gd name="T15" fmla="*/ 31 h 31"/>
              </a:gdLst>
              <a:ahLst/>
              <a:cxnLst>
                <a:cxn ang="T8">
                  <a:pos x="T0" y="T1"/>
                </a:cxn>
                <a:cxn ang="T9">
                  <a:pos x="T2" y="T3"/>
                </a:cxn>
                <a:cxn ang="T10">
                  <a:pos x="T4" y="T5"/>
                </a:cxn>
                <a:cxn ang="T11">
                  <a:pos x="T6" y="T7"/>
                </a:cxn>
              </a:cxnLst>
              <a:rect l="T12" t="T13" r="T14" b="T15"/>
              <a:pathLst>
                <a:path w="28" h="31">
                  <a:moveTo>
                    <a:pt x="27" y="30"/>
                  </a:moveTo>
                  <a:lnTo>
                    <a:pt x="27" y="0"/>
                  </a:lnTo>
                  <a:lnTo>
                    <a:pt x="0" y="8"/>
                  </a:lnTo>
                  <a:lnTo>
                    <a:pt x="27" y="3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6" name="Freeform 7199"/>
            <p:cNvSpPr>
              <a:spLocks/>
            </p:cNvSpPr>
            <p:nvPr/>
          </p:nvSpPr>
          <p:spPr bwMode="auto">
            <a:xfrm>
              <a:off x="2557" y="2390"/>
              <a:ext cx="27" cy="31"/>
            </a:xfrm>
            <a:custGeom>
              <a:avLst/>
              <a:gdLst>
                <a:gd name="T0" fmla="*/ 0 w 27"/>
                <a:gd name="T1" fmla="*/ 30 h 31"/>
                <a:gd name="T2" fmla="*/ 26 w 27"/>
                <a:gd name="T3" fmla="*/ 23 h 31"/>
                <a:gd name="T4" fmla="*/ 0 w 27"/>
                <a:gd name="T5" fmla="*/ 0 h 31"/>
                <a:gd name="T6" fmla="*/ 0 w 27"/>
                <a:gd name="T7" fmla="*/ 30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0" y="30"/>
                  </a:moveTo>
                  <a:lnTo>
                    <a:pt x="26" y="23"/>
                  </a:lnTo>
                  <a:lnTo>
                    <a:pt x="0" y="0"/>
                  </a:lnTo>
                  <a:lnTo>
                    <a:pt x="0" y="3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7" name="Freeform 7200"/>
            <p:cNvSpPr>
              <a:spLocks/>
            </p:cNvSpPr>
            <p:nvPr/>
          </p:nvSpPr>
          <p:spPr bwMode="auto">
            <a:xfrm>
              <a:off x="2557" y="2420"/>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8" name="Line 7201"/>
            <p:cNvSpPr>
              <a:spLocks noChangeShapeType="1"/>
            </p:cNvSpPr>
            <p:nvPr/>
          </p:nvSpPr>
          <p:spPr bwMode="auto">
            <a:xfrm>
              <a:off x="2557" y="2420"/>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49" name="Freeform 7202"/>
            <p:cNvSpPr>
              <a:spLocks/>
            </p:cNvSpPr>
            <p:nvPr/>
          </p:nvSpPr>
          <p:spPr bwMode="auto">
            <a:xfrm>
              <a:off x="2557" y="2412"/>
              <a:ext cx="27" cy="36"/>
            </a:xfrm>
            <a:custGeom>
              <a:avLst/>
              <a:gdLst>
                <a:gd name="T0" fmla="*/ 26 w 27"/>
                <a:gd name="T1" fmla="*/ 35 h 36"/>
                <a:gd name="T2" fmla="*/ 26 w 27"/>
                <a:gd name="T3" fmla="*/ 0 h 36"/>
                <a:gd name="T4" fmla="*/ 0 w 27"/>
                <a:gd name="T5" fmla="*/ 6 h 36"/>
                <a:gd name="T6" fmla="*/ 26 w 27"/>
                <a:gd name="T7" fmla="*/ 35 h 36"/>
                <a:gd name="T8" fmla="*/ 0 60000 65536"/>
                <a:gd name="T9" fmla="*/ 0 60000 65536"/>
                <a:gd name="T10" fmla="*/ 0 60000 65536"/>
                <a:gd name="T11" fmla="*/ 0 60000 65536"/>
                <a:gd name="T12" fmla="*/ 0 w 27"/>
                <a:gd name="T13" fmla="*/ 0 h 36"/>
                <a:gd name="T14" fmla="*/ 27 w 27"/>
                <a:gd name="T15" fmla="*/ 36 h 36"/>
              </a:gdLst>
              <a:ahLst/>
              <a:cxnLst>
                <a:cxn ang="T8">
                  <a:pos x="T0" y="T1"/>
                </a:cxn>
                <a:cxn ang="T9">
                  <a:pos x="T2" y="T3"/>
                </a:cxn>
                <a:cxn ang="T10">
                  <a:pos x="T4" y="T5"/>
                </a:cxn>
                <a:cxn ang="T11">
                  <a:pos x="T6" y="T7"/>
                </a:cxn>
              </a:cxnLst>
              <a:rect l="T12" t="T13" r="T14" b="T15"/>
              <a:pathLst>
                <a:path w="27" h="36">
                  <a:moveTo>
                    <a:pt x="26" y="35"/>
                  </a:moveTo>
                  <a:lnTo>
                    <a:pt x="26" y="0"/>
                  </a:lnTo>
                  <a:lnTo>
                    <a:pt x="0" y="6"/>
                  </a:lnTo>
                  <a:lnTo>
                    <a:pt x="26"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0" name="Freeform 7203"/>
            <p:cNvSpPr>
              <a:spLocks/>
            </p:cNvSpPr>
            <p:nvPr/>
          </p:nvSpPr>
          <p:spPr bwMode="auto">
            <a:xfrm>
              <a:off x="2572" y="2412"/>
              <a:ext cx="24" cy="36"/>
            </a:xfrm>
            <a:custGeom>
              <a:avLst/>
              <a:gdLst>
                <a:gd name="T0" fmla="*/ 0 w 24"/>
                <a:gd name="T1" fmla="*/ 35 h 36"/>
                <a:gd name="T2" fmla="*/ 23 w 24"/>
                <a:gd name="T3" fmla="*/ 28 h 36"/>
                <a:gd name="T4" fmla="*/ 0 w 24"/>
                <a:gd name="T5" fmla="*/ 0 h 36"/>
                <a:gd name="T6" fmla="*/ 0 w 24"/>
                <a:gd name="T7" fmla="*/ 35 h 36"/>
                <a:gd name="T8" fmla="*/ 0 60000 65536"/>
                <a:gd name="T9" fmla="*/ 0 60000 65536"/>
                <a:gd name="T10" fmla="*/ 0 60000 65536"/>
                <a:gd name="T11" fmla="*/ 0 60000 65536"/>
                <a:gd name="T12" fmla="*/ 0 w 24"/>
                <a:gd name="T13" fmla="*/ 0 h 36"/>
                <a:gd name="T14" fmla="*/ 24 w 24"/>
                <a:gd name="T15" fmla="*/ 36 h 36"/>
              </a:gdLst>
              <a:ahLst/>
              <a:cxnLst>
                <a:cxn ang="T8">
                  <a:pos x="T0" y="T1"/>
                </a:cxn>
                <a:cxn ang="T9">
                  <a:pos x="T2" y="T3"/>
                </a:cxn>
                <a:cxn ang="T10">
                  <a:pos x="T4" y="T5"/>
                </a:cxn>
                <a:cxn ang="T11">
                  <a:pos x="T6" y="T7"/>
                </a:cxn>
              </a:cxnLst>
              <a:rect l="T12" t="T13" r="T14" b="T15"/>
              <a:pathLst>
                <a:path w="24" h="36">
                  <a:moveTo>
                    <a:pt x="0" y="35"/>
                  </a:moveTo>
                  <a:lnTo>
                    <a:pt x="23" y="28"/>
                  </a:lnTo>
                  <a:lnTo>
                    <a:pt x="0" y="0"/>
                  </a:lnTo>
                  <a:lnTo>
                    <a:pt x="0" y="3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1" name="Freeform 7204"/>
            <p:cNvSpPr>
              <a:spLocks/>
            </p:cNvSpPr>
            <p:nvPr/>
          </p:nvSpPr>
          <p:spPr bwMode="auto">
            <a:xfrm>
              <a:off x="2572" y="2447"/>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2" name="Line 7205"/>
            <p:cNvSpPr>
              <a:spLocks noChangeShapeType="1"/>
            </p:cNvSpPr>
            <p:nvPr/>
          </p:nvSpPr>
          <p:spPr bwMode="auto">
            <a:xfrm>
              <a:off x="2572" y="2447"/>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3" name="Freeform 7206"/>
            <p:cNvSpPr>
              <a:spLocks/>
            </p:cNvSpPr>
            <p:nvPr/>
          </p:nvSpPr>
          <p:spPr bwMode="auto">
            <a:xfrm>
              <a:off x="2572" y="2441"/>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4" name="Freeform 7207"/>
            <p:cNvSpPr>
              <a:spLocks/>
            </p:cNvSpPr>
            <p:nvPr/>
          </p:nvSpPr>
          <p:spPr bwMode="auto">
            <a:xfrm>
              <a:off x="2583" y="2441"/>
              <a:ext cx="24" cy="28"/>
            </a:xfrm>
            <a:custGeom>
              <a:avLst/>
              <a:gdLst>
                <a:gd name="T0" fmla="*/ 0 w 24"/>
                <a:gd name="T1" fmla="*/ 27 h 28"/>
                <a:gd name="T2" fmla="*/ 23 w 24"/>
                <a:gd name="T3" fmla="*/ 20 h 28"/>
                <a:gd name="T4" fmla="*/ 0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23" y="20"/>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5" name="Freeform 7208"/>
            <p:cNvSpPr>
              <a:spLocks/>
            </p:cNvSpPr>
            <p:nvPr/>
          </p:nvSpPr>
          <p:spPr bwMode="auto">
            <a:xfrm>
              <a:off x="2583" y="24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6" name="Line 7209"/>
            <p:cNvSpPr>
              <a:spLocks noChangeShapeType="1"/>
            </p:cNvSpPr>
            <p:nvPr/>
          </p:nvSpPr>
          <p:spPr bwMode="auto">
            <a:xfrm>
              <a:off x="2583" y="24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7" name="Freeform 7210"/>
            <p:cNvSpPr>
              <a:spLocks/>
            </p:cNvSpPr>
            <p:nvPr/>
          </p:nvSpPr>
          <p:spPr bwMode="auto">
            <a:xfrm>
              <a:off x="2583" y="2462"/>
              <a:ext cx="24" cy="28"/>
            </a:xfrm>
            <a:custGeom>
              <a:avLst/>
              <a:gdLst>
                <a:gd name="T0" fmla="*/ 23 w 24"/>
                <a:gd name="T1" fmla="*/ 27 h 28"/>
                <a:gd name="T2" fmla="*/ 23 w 24"/>
                <a:gd name="T3" fmla="*/ 0 h 28"/>
                <a:gd name="T4" fmla="*/ 0 w 24"/>
                <a:gd name="T5" fmla="*/ 6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23" y="0"/>
                  </a:lnTo>
                  <a:lnTo>
                    <a:pt x="0" y="6"/>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8" name="Freeform 7211"/>
            <p:cNvSpPr>
              <a:spLocks/>
            </p:cNvSpPr>
            <p:nvPr/>
          </p:nvSpPr>
          <p:spPr bwMode="auto">
            <a:xfrm>
              <a:off x="2594" y="2462"/>
              <a:ext cx="28" cy="28"/>
            </a:xfrm>
            <a:custGeom>
              <a:avLst/>
              <a:gdLst>
                <a:gd name="T0" fmla="*/ 0 w 28"/>
                <a:gd name="T1" fmla="*/ 27 h 28"/>
                <a:gd name="T2" fmla="*/ 27 w 28"/>
                <a:gd name="T3" fmla="*/ 20 h 28"/>
                <a:gd name="T4" fmla="*/ 0 w 28"/>
                <a:gd name="T5" fmla="*/ 0 h 28"/>
                <a:gd name="T6" fmla="*/ 0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0" y="27"/>
                  </a:moveTo>
                  <a:lnTo>
                    <a:pt x="27" y="20"/>
                  </a:lnTo>
                  <a:lnTo>
                    <a:pt x="0"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59" name="Freeform 7212"/>
            <p:cNvSpPr>
              <a:spLocks/>
            </p:cNvSpPr>
            <p:nvPr/>
          </p:nvSpPr>
          <p:spPr bwMode="auto">
            <a:xfrm>
              <a:off x="2594" y="2489"/>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0" name="Line 7213"/>
            <p:cNvSpPr>
              <a:spLocks noChangeShapeType="1"/>
            </p:cNvSpPr>
            <p:nvPr/>
          </p:nvSpPr>
          <p:spPr bwMode="auto">
            <a:xfrm>
              <a:off x="2594" y="2489"/>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1" name="Freeform 7214"/>
            <p:cNvSpPr>
              <a:spLocks/>
            </p:cNvSpPr>
            <p:nvPr/>
          </p:nvSpPr>
          <p:spPr bwMode="auto">
            <a:xfrm>
              <a:off x="2594" y="2484"/>
              <a:ext cx="28" cy="26"/>
            </a:xfrm>
            <a:custGeom>
              <a:avLst/>
              <a:gdLst>
                <a:gd name="T0" fmla="*/ 27 w 28"/>
                <a:gd name="T1" fmla="*/ 25 h 26"/>
                <a:gd name="T2" fmla="*/ 27 w 28"/>
                <a:gd name="T3" fmla="*/ 0 h 26"/>
                <a:gd name="T4" fmla="*/ 0 w 28"/>
                <a:gd name="T5" fmla="*/ 7 h 26"/>
                <a:gd name="T6" fmla="*/ 27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27" y="25"/>
                  </a:moveTo>
                  <a:lnTo>
                    <a:pt x="27" y="0"/>
                  </a:lnTo>
                  <a:lnTo>
                    <a:pt x="0" y="7"/>
                  </a:lnTo>
                  <a:lnTo>
                    <a:pt x="27"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2" name="Freeform 7215"/>
            <p:cNvSpPr>
              <a:spLocks/>
            </p:cNvSpPr>
            <p:nvPr/>
          </p:nvSpPr>
          <p:spPr bwMode="auto">
            <a:xfrm>
              <a:off x="2610" y="2484"/>
              <a:ext cx="24" cy="26"/>
            </a:xfrm>
            <a:custGeom>
              <a:avLst/>
              <a:gdLst>
                <a:gd name="T0" fmla="*/ 0 w 24"/>
                <a:gd name="T1" fmla="*/ 25 h 26"/>
                <a:gd name="T2" fmla="*/ 23 w 24"/>
                <a:gd name="T3" fmla="*/ 17 h 26"/>
                <a:gd name="T4" fmla="*/ 0 w 24"/>
                <a:gd name="T5" fmla="*/ 0 h 26"/>
                <a:gd name="T6" fmla="*/ 0 w 24"/>
                <a:gd name="T7" fmla="*/ 25 h 26"/>
                <a:gd name="T8" fmla="*/ 0 60000 65536"/>
                <a:gd name="T9" fmla="*/ 0 60000 65536"/>
                <a:gd name="T10" fmla="*/ 0 60000 65536"/>
                <a:gd name="T11" fmla="*/ 0 60000 65536"/>
                <a:gd name="T12" fmla="*/ 0 w 24"/>
                <a:gd name="T13" fmla="*/ 0 h 26"/>
                <a:gd name="T14" fmla="*/ 24 w 24"/>
                <a:gd name="T15" fmla="*/ 26 h 26"/>
              </a:gdLst>
              <a:ahLst/>
              <a:cxnLst>
                <a:cxn ang="T8">
                  <a:pos x="T0" y="T1"/>
                </a:cxn>
                <a:cxn ang="T9">
                  <a:pos x="T2" y="T3"/>
                </a:cxn>
                <a:cxn ang="T10">
                  <a:pos x="T4" y="T5"/>
                </a:cxn>
                <a:cxn ang="T11">
                  <a:pos x="T6" y="T7"/>
                </a:cxn>
              </a:cxnLst>
              <a:rect l="T12" t="T13" r="T14" b="T15"/>
              <a:pathLst>
                <a:path w="24" h="26">
                  <a:moveTo>
                    <a:pt x="0" y="25"/>
                  </a:moveTo>
                  <a:lnTo>
                    <a:pt x="23" y="17"/>
                  </a:lnTo>
                  <a:lnTo>
                    <a:pt x="0" y="0"/>
                  </a:lnTo>
                  <a:lnTo>
                    <a:pt x="0"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3" name="Freeform 7216"/>
            <p:cNvSpPr>
              <a:spLocks/>
            </p:cNvSpPr>
            <p:nvPr/>
          </p:nvSpPr>
          <p:spPr bwMode="auto">
            <a:xfrm>
              <a:off x="2610" y="2505"/>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4" name="Line 7217"/>
            <p:cNvSpPr>
              <a:spLocks noChangeShapeType="1"/>
            </p:cNvSpPr>
            <p:nvPr/>
          </p:nvSpPr>
          <p:spPr bwMode="auto">
            <a:xfrm>
              <a:off x="2610" y="2505"/>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5" name="Freeform 7218"/>
            <p:cNvSpPr>
              <a:spLocks/>
            </p:cNvSpPr>
            <p:nvPr/>
          </p:nvSpPr>
          <p:spPr bwMode="auto">
            <a:xfrm>
              <a:off x="2610" y="2498"/>
              <a:ext cx="24" cy="30"/>
            </a:xfrm>
            <a:custGeom>
              <a:avLst/>
              <a:gdLst>
                <a:gd name="T0" fmla="*/ 23 w 24"/>
                <a:gd name="T1" fmla="*/ 29 h 30"/>
                <a:gd name="T2" fmla="*/ 23 w 24"/>
                <a:gd name="T3" fmla="*/ 0 h 30"/>
                <a:gd name="T4" fmla="*/ 0 w 24"/>
                <a:gd name="T5" fmla="*/ 6 h 30"/>
                <a:gd name="T6" fmla="*/ 23 w 24"/>
                <a:gd name="T7" fmla="*/ 29 h 30"/>
                <a:gd name="T8" fmla="*/ 0 60000 65536"/>
                <a:gd name="T9" fmla="*/ 0 60000 65536"/>
                <a:gd name="T10" fmla="*/ 0 60000 65536"/>
                <a:gd name="T11" fmla="*/ 0 60000 65536"/>
                <a:gd name="T12" fmla="*/ 0 w 24"/>
                <a:gd name="T13" fmla="*/ 0 h 30"/>
                <a:gd name="T14" fmla="*/ 24 w 24"/>
                <a:gd name="T15" fmla="*/ 30 h 30"/>
              </a:gdLst>
              <a:ahLst/>
              <a:cxnLst>
                <a:cxn ang="T8">
                  <a:pos x="T0" y="T1"/>
                </a:cxn>
                <a:cxn ang="T9">
                  <a:pos x="T2" y="T3"/>
                </a:cxn>
                <a:cxn ang="T10">
                  <a:pos x="T4" y="T5"/>
                </a:cxn>
                <a:cxn ang="T11">
                  <a:pos x="T6" y="T7"/>
                </a:cxn>
              </a:cxnLst>
              <a:rect l="T12" t="T13" r="T14" b="T15"/>
              <a:pathLst>
                <a:path w="24" h="30">
                  <a:moveTo>
                    <a:pt x="23" y="29"/>
                  </a:moveTo>
                  <a:lnTo>
                    <a:pt x="23" y="0"/>
                  </a:lnTo>
                  <a:lnTo>
                    <a:pt x="0" y="6"/>
                  </a:lnTo>
                  <a:lnTo>
                    <a:pt x="23" y="2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6" name="Freeform 7219"/>
            <p:cNvSpPr>
              <a:spLocks/>
            </p:cNvSpPr>
            <p:nvPr/>
          </p:nvSpPr>
          <p:spPr bwMode="auto">
            <a:xfrm>
              <a:off x="2621" y="2498"/>
              <a:ext cx="25" cy="30"/>
            </a:xfrm>
            <a:custGeom>
              <a:avLst/>
              <a:gdLst>
                <a:gd name="T0" fmla="*/ 0 w 25"/>
                <a:gd name="T1" fmla="*/ 29 h 30"/>
                <a:gd name="T2" fmla="*/ 24 w 25"/>
                <a:gd name="T3" fmla="*/ 22 h 30"/>
                <a:gd name="T4" fmla="*/ 0 w 25"/>
                <a:gd name="T5" fmla="*/ 0 h 30"/>
                <a:gd name="T6" fmla="*/ 0 w 25"/>
                <a:gd name="T7" fmla="*/ 29 h 30"/>
                <a:gd name="T8" fmla="*/ 0 60000 65536"/>
                <a:gd name="T9" fmla="*/ 0 60000 65536"/>
                <a:gd name="T10" fmla="*/ 0 60000 65536"/>
                <a:gd name="T11" fmla="*/ 0 60000 65536"/>
                <a:gd name="T12" fmla="*/ 0 w 25"/>
                <a:gd name="T13" fmla="*/ 0 h 30"/>
                <a:gd name="T14" fmla="*/ 25 w 25"/>
                <a:gd name="T15" fmla="*/ 30 h 30"/>
              </a:gdLst>
              <a:ahLst/>
              <a:cxnLst>
                <a:cxn ang="T8">
                  <a:pos x="T0" y="T1"/>
                </a:cxn>
                <a:cxn ang="T9">
                  <a:pos x="T2" y="T3"/>
                </a:cxn>
                <a:cxn ang="T10">
                  <a:pos x="T4" y="T5"/>
                </a:cxn>
                <a:cxn ang="T11">
                  <a:pos x="T6" y="T7"/>
                </a:cxn>
              </a:cxnLst>
              <a:rect l="T12" t="T13" r="T14" b="T15"/>
              <a:pathLst>
                <a:path w="25" h="30">
                  <a:moveTo>
                    <a:pt x="0" y="29"/>
                  </a:moveTo>
                  <a:lnTo>
                    <a:pt x="24" y="22"/>
                  </a:lnTo>
                  <a:lnTo>
                    <a:pt x="0" y="0"/>
                  </a:lnTo>
                  <a:lnTo>
                    <a:pt x="0" y="29"/>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7" name="Freeform 7220"/>
            <p:cNvSpPr>
              <a:spLocks/>
            </p:cNvSpPr>
            <p:nvPr/>
          </p:nvSpPr>
          <p:spPr bwMode="auto">
            <a:xfrm>
              <a:off x="2621" y="2527"/>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8" name="Line 7221"/>
            <p:cNvSpPr>
              <a:spLocks noChangeShapeType="1"/>
            </p:cNvSpPr>
            <p:nvPr/>
          </p:nvSpPr>
          <p:spPr bwMode="auto">
            <a:xfrm>
              <a:off x="2621" y="2527"/>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69" name="Freeform 7222"/>
            <p:cNvSpPr>
              <a:spLocks/>
            </p:cNvSpPr>
            <p:nvPr/>
          </p:nvSpPr>
          <p:spPr bwMode="auto">
            <a:xfrm>
              <a:off x="2621" y="2519"/>
              <a:ext cx="25" cy="28"/>
            </a:xfrm>
            <a:custGeom>
              <a:avLst/>
              <a:gdLst>
                <a:gd name="T0" fmla="*/ 24 w 25"/>
                <a:gd name="T1" fmla="*/ 27 h 28"/>
                <a:gd name="T2" fmla="*/ 12 w 25"/>
                <a:gd name="T3" fmla="*/ 0 h 28"/>
                <a:gd name="T4" fmla="*/ 0 w 25"/>
                <a:gd name="T5" fmla="*/ 8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8"/>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0" name="Freeform 7223"/>
            <p:cNvSpPr>
              <a:spLocks/>
            </p:cNvSpPr>
            <p:nvPr/>
          </p:nvSpPr>
          <p:spPr bwMode="auto">
            <a:xfrm>
              <a:off x="2628" y="2519"/>
              <a:ext cx="24" cy="28"/>
            </a:xfrm>
            <a:custGeom>
              <a:avLst/>
              <a:gdLst>
                <a:gd name="T0" fmla="*/ 10 w 24"/>
                <a:gd name="T1" fmla="*/ 27 h 28"/>
                <a:gd name="T2" fmla="*/ 23 w 24"/>
                <a:gd name="T3" fmla="*/ 16 h 28"/>
                <a:gd name="T4" fmla="*/ 0 w 24"/>
                <a:gd name="T5" fmla="*/ 0 h 28"/>
                <a:gd name="T6" fmla="*/ 1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10" y="27"/>
                  </a:moveTo>
                  <a:lnTo>
                    <a:pt x="23" y="16"/>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1" name="Freeform 7224"/>
            <p:cNvSpPr>
              <a:spLocks/>
            </p:cNvSpPr>
            <p:nvPr/>
          </p:nvSpPr>
          <p:spPr bwMode="auto">
            <a:xfrm>
              <a:off x="2632" y="2541"/>
              <a:ext cx="28" cy="1"/>
            </a:xfrm>
            <a:custGeom>
              <a:avLst/>
              <a:gdLst>
                <a:gd name="T0" fmla="*/ 0 w 28"/>
                <a:gd name="T1" fmla="*/ 0 h 1"/>
                <a:gd name="T2" fmla="*/ 0 w 28"/>
                <a:gd name="T3" fmla="*/ 0 h 1"/>
                <a:gd name="T4" fmla="*/ 27 w 28"/>
                <a:gd name="T5" fmla="*/ 0 h 1"/>
                <a:gd name="T6" fmla="*/ 0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0" y="0"/>
                  </a:moveTo>
                  <a:lnTo>
                    <a:pt x="0" y="0"/>
                  </a:lnTo>
                  <a:lnTo>
                    <a:pt x="27"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2" name="Line 7225"/>
            <p:cNvSpPr>
              <a:spLocks noChangeShapeType="1"/>
            </p:cNvSpPr>
            <p:nvPr/>
          </p:nvSpPr>
          <p:spPr bwMode="auto">
            <a:xfrm>
              <a:off x="2632" y="2541"/>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3" name="Freeform 7226"/>
            <p:cNvSpPr>
              <a:spLocks/>
            </p:cNvSpPr>
            <p:nvPr/>
          </p:nvSpPr>
          <p:spPr bwMode="auto">
            <a:xfrm>
              <a:off x="2632" y="2532"/>
              <a:ext cx="28" cy="28"/>
            </a:xfrm>
            <a:custGeom>
              <a:avLst/>
              <a:gdLst>
                <a:gd name="T0" fmla="*/ 27 w 28"/>
                <a:gd name="T1" fmla="*/ 27 h 28"/>
                <a:gd name="T2" fmla="*/ 15 w 28"/>
                <a:gd name="T3" fmla="*/ 0 h 28"/>
                <a:gd name="T4" fmla="*/ 0 w 28"/>
                <a:gd name="T5" fmla="*/ 9 h 28"/>
                <a:gd name="T6" fmla="*/ 27 w 28"/>
                <a:gd name="T7" fmla="*/ 27 h 28"/>
                <a:gd name="T8" fmla="*/ 0 60000 65536"/>
                <a:gd name="T9" fmla="*/ 0 60000 65536"/>
                <a:gd name="T10" fmla="*/ 0 60000 65536"/>
                <a:gd name="T11" fmla="*/ 0 60000 65536"/>
                <a:gd name="T12" fmla="*/ 0 w 28"/>
                <a:gd name="T13" fmla="*/ 0 h 28"/>
                <a:gd name="T14" fmla="*/ 28 w 28"/>
                <a:gd name="T15" fmla="*/ 28 h 28"/>
              </a:gdLst>
              <a:ahLst/>
              <a:cxnLst>
                <a:cxn ang="T8">
                  <a:pos x="T0" y="T1"/>
                </a:cxn>
                <a:cxn ang="T9">
                  <a:pos x="T2" y="T3"/>
                </a:cxn>
                <a:cxn ang="T10">
                  <a:pos x="T4" y="T5"/>
                </a:cxn>
                <a:cxn ang="T11">
                  <a:pos x="T6" y="T7"/>
                </a:cxn>
              </a:cxnLst>
              <a:rect l="T12" t="T13" r="T14" b="T15"/>
              <a:pathLst>
                <a:path w="28" h="28">
                  <a:moveTo>
                    <a:pt x="27" y="27"/>
                  </a:moveTo>
                  <a:lnTo>
                    <a:pt x="15" y="0"/>
                  </a:lnTo>
                  <a:lnTo>
                    <a:pt x="0" y="9"/>
                  </a:lnTo>
                  <a:lnTo>
                    <a:pt x="27"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4" name="Freeform 7227"/>
            <p:cNvSpPr>
              <a:spLocks/>
            </p:cNvSpPr>
            <p:nvPr/>
          </p:nvSpPr>
          <p:spPr bwMode="auto">
            <a:xfrm>
              <a:off x="2640" y="2532"/>
              <a:ext cx="27" cy="28"/>
            </a:xfrm>
            <a:custGeom>
              <a:avLst/>
              <a:gdLst>
                <a:gd name="T0" fmla="*/ 13 w 27"/>
                <a:gd name="T1" fmla="*/ 27 h 28"/>
                <a:gd name="T2" fmla="*/ 26 w 27"/>
                <a:gd name="T3" fmla="*/ 17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17"/>
                  </a:lnTo>
                  <a:lnTo>
                    <a:pt x="0" y="0"/>
                  </a:lnTo>
                  <a:lnTo>
                    <a:pt x="1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5" name="Freeform 7228"/>
            <p:cNvSpPr>
              <a:spLocks/>
            </p:cNvSpPr>
            <p:nvPr/>
          </p:nvSpPr>
          <p:spPr bwMode="auto">
            <a:xfrm>
              <a:off x="2644" y="2556"/>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6" name="Line 7229"/>
            <p:cNvSpPr>
              <a:spLocks noChangeShapeType="1"/>
            </p:cNvSpPr>
            <p:nvPr/>
          </p:nvSpPr>
          <p:spPr bwMode="auto">
            <a:xfrm>
              <a:off x="2644" y="2556"/>
              <a:ext cx="24"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7" name="Freeform 7230"/>
            <p:cNvSpPr>
              <a:spLocks/>
            </p:cNvSpPr>
            <p:nvPr/>
          </p:nvSpPr>
          <p:spPr bwMode="auto">
            <a:xfrm>
              <a:off x="2644" y="2547"/>
              <a:ext cx="27" cy="27"/>
            </a:xfrm>
            <a:custGeom>
              <a:avLst/>
              <a:gdLst>
                <a:gd name="T0" fmla="*/ 26 w 27"/>
                <a:gd name="T1" fmla="*/ 26 h 27"/>
                <a:gd name="T2" fmla="*/ 11 w 27"/>
                <a:gd name="T3" fmla="*/ 0 h 27"/>
                <a:gd name="T4" fmla="*/ 0 w 27"/>
                <a:gd name="T5" fmla="*/ 10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11" y="0"/>
                  </a:lnTo>
                  <a:lnTo>
                    <a:pt x="0" y="10"/>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8" name="Freeform 7231"/>
            <p:cNvSpPr>
              <a:spLocks/>
            </p:cNvSpPr>
            <p:nvPr/>
          </p:nvSpPr>
          <p:spPr bwMode="auto">
            <a:xfrm>
              <a:off x="2651" y="2547"/>
              <a:ext cx="28" cy="27"/>
            </a:xfrm>
            <a:custGeom>
              <a:avLst/>
              <a:gdLst>
                <a:gd name="T0" fmla="*/ 15 w 28"/>
                <a:gd name="T1" fmla="*/ 26 h 27"/>
                <a:gd name="T2" fmla="*/ 27 w 28"/>
                <a:gd name="T3" fmla="*/ 18 h 27"/>
                <a:gd name="T4" fmla="*/ 0 w 28"/>
                <a:gd name="T5" fmla="*/ 0 h 27"/>
                <a:gd name="T6" fmla="*/ 15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15" y="26"/>
                  </a:moveTo>
                  <a:lnTo>
                    <a:pt x="27" y="18"/>
                  </a:lnTo>
                  <a:lnTo>
                    <a:pt x="0" y="0"/>
                  </a:lnTo>
                  <a:lnTo>
                    <a:pt x="15"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79" name="Freeform 7232"/>
            <p:cNvSpPr>
              <a:spLocks/>
            </p:cNvSpPr>
            <p:nvPr/>
          </p:nvSpPr>
          <p:spPr bwMode="auto">
            <a:xfrm>
              <a:off x="2659" y="2568"/>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0" name="Line 7233"/>
            <p:cNvSpPr>
              <a:spLocks noChangeShapeType="1"/>
            </p:cNvSpPr>
            <p:nvPr/>
          </p:nvSpPr>
          <p:spPr bwMode="auto">
            <a:xfrm>
              <a:off x="2659" y="2568"/>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1" name="Freeform 7234"/>
            <p:cNvSpPr>
              <a:spLocks/>
            </p:cNvSpPr>
            <p:nvPr/>
          </p:nvSpPr>
          <p:spPr bwMode="auto">
            <a:xfrm>
              <a:off x="2659" y="2562"/>
              <a:ext cx="24" cy="27"/>
            </a:xfrm>
            <a:custGeom>
              <a:avLst/>
              <a:gdLst>
                <a:gd name="T0" fmla="*/ 23 w 24"/>
                <a:gd name="T1" fmla="*/ 26 h 27"/>
                <a:gd name="T2" fmla="*/ 11 w 24"/>
                <a:gd name="T3" fmla="*/ 0 h 27"/>
                <a:gd name="T4" fmla="*/ 0 w 24"/>
                <a:gd name="T5" fmla="*/ 8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1" y="0"/>
                  </a:lnTo>
                  <a:lnTo>
                    <a:pt x="0" y="8"/>
                  </a:lnTo>
                  <a:lnTo>
                    <a:pt x="2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2" name="Freeform 7235"/>
            <p:cNvSpPr>
              <a:spLocks/>
            </p:cNvSpPr>
            <p:nvPr/>
          </p:nvSpPr>
          <p:spPr bwMode="auto">
            <a:xfrm>
              <a:off x="2666" y="2562"/>
              <a:ext cx="24" cy="27"/>
            </a:xfrm>
            <a:custGeom>
              <a:avLst/>
              <a:gdLst>
                <a:gd name="T0" fmla="*/ 10 w 24"/>
                <a:gd name="T1" fmla="*/ 26 h 27"/>
                <a:gd name="T2" fmla="*/ 23 w 24"/>
                <a:gd name="T3" fmla="*/ 18 h 27"/>
                <a:gd name="T4" fmla="*/ 0 w 24"/>
                <a:gd name="T5" fmla="*/ 0 h 27"/>
                <a:gd name="T6" fmla="*/ 10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10" y="26"/>
                  </a:moveTo>
                  <a:lnTo>
                    <a:pt x="23" y="18"/>
                  </a:lnTo>
                  <a:lnTo>
                    <a:pt x="0" y="0"/>
                  </a:lnTo>
                  <a:lnTo>
                    <a:pt x="1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3" name="Freeform 7236"/>
            <p:cNvSpPr>
              <a:spLocks/>
            </p:cNvSpPr>
            <p:nvPr/>
          </p:nvSpPr>
          <p:spPr bwMode="auto">
            <a:xfrm>
              <a:off x="2668" y="2584"/>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4" name="Line 7237"/>
            <p:cNvSpPr>
              <a:spLocks noChangeShapeType="1"/>
            </p:cNvSpPr>
            <p:nvPr/>
          </p:nvSpPr>
          <p:spPr bwMode="auto">
            <a:xfrm>
              <a:off x="2668" y="2584"/>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5" name="Freeform 7238"/>
            <p:cNvSpPr>
              <a:spLocks/>
            </p:cNvSpPr>
            <p:nvPr/>
          </p:nvSpPr>
          <p:spPr bwMode="auto">
            <a:xfrm>
              <a:off x="2668" y="2576"/>
              <a:ext cx="27" cy="28"/>
            </a:xfrm>
            <a:custGeom>
              <a:avLst/>
              <a:gdLst>
                <a:gd name="T0" fmla="*/ 26 w 27"/>
                <a:gd name="T1" fmla="*/ 27 h 28"/>
                <a:gd name="T2" fmla="*/ 14 w 27"/>
                <a:gd name="T3" fmla="*/ 0 h 28"/>
                <a:gd name="T4" fmla="*/ 0 w 27"/>
                <a:gd name="T5" fmla="*/ 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14" y="0"/>
                  </a:lnTo>
                  <a:lnTo>
                    <a:pt x="0" y="8"/>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6" name="Freeform 7239"/>
            <p:cNvSpPr>
              <a:spLocks/>
            </p:cNvSpPr>
            <p:nvPr/>
          </p:nvSpPr>
          <p:spPr bwMode="auto">
            <a:xfrm>
              <a:off x="2678" y="2576"/>
              <a:ext cx="27" cy="28"/>
            </a:xfrm>
            <a:custGeom>
              <a:avLst/>
              <a:gdLst>
                <a:gd name="T0" fmla="*/ 11 w 27"/>
                <a:gd name="T1" fmla="*/ 27 h 28"/>
                <a:gd name="T2" fmla="*/ 26 w 27"/>
                <a:gd name="T3" fmla="*/ 8 h 28"/>
                <a:gd name="T4" fmla="*/ 0 w 27"/>
                <a:gd name="T5" fmla="*/ 0 h 28"/>
                <a:gd name="T6" fmla="*/ 11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1" y="27"/>
                  </a:moveTo>
                  <a:lnTo>
                    <a:pt x="26" y="8"/>
                  </a:lnTo>
                  <a:lnTo>
                    <a:pt x="0" y="0"/>
                  </a:lnTo>
                  <a:lnTo>
                    <a:pt x="11"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7" name="Freeform 7240"/>
            <p:cNvSpPr>
              <a:spLocks/>
            </p:cNvSpPr>
            <p:nvPr/>
          </p:nvSpPr>
          <p:spPr bwMode="auto">
            <a:xfrm>
              <a:off x="2682" y="2589"/>
              <a:ext cx="26" cy="28"/>
            </a:xfrm>
            <a:custGeom>
              <a:avLst/>
              <a:gdLst>
                <a:gd name="T0" fmla="*/ 0 w 26"/>
                <a:gd name="T1" fmla="*/ 27 h 28"/>
                <a:gd name="T2" fmla="*/ 0 w 26"/>
                <a:gd name="T3" fmla="*/ 27 h 28"/>
                <a:gd name="T4" fmla="*/ 25 w 26"/>
                <a:gd name="T5" fmla="*/ 0 h 28"/>
                <a:gd name="T6" fmla="*/ 0 w 26"/>
                <a:gd name="T7" fmla="*/ 27 h 28"/>
                <a:gd name="T8" fmla="*/ 0 60000 65536"/>
                <a:gd name="T9" fmla="*/ 0 60000 65536"/>
                <a:gd name="T10" fmla="*/ 0 60000 65536"/>
                <a:gd name="T11" fmla="*/ 0 60000 65536"/>
                <a:gd name="T12" fmla="*/ 0 w 26"/>
                <a:gd name="T13" fmla="*/ 0 h 28"/>
                <a:gd name="T14" fmla="*/ 26 w 26"/>
                <a:gd name="T15" fmla="*/ 28 h 28"/>
              </a:gdLst>
              <a:ahLst/>
              <a:cxnLst>
                <a:cxn ang="T8">
                  <a:pos x="T0" y="T1"/>
                </a:cxn>
                <a:cxn ang="T9">
                  <a:pos x="T2" y="T3"/>
                </a:cxn>
                <a:cxn ang="T10">
                  <a:pos x="T4" y="T5"/>
                </a:cxn>
                <a:cxn ang="T11">
                  <a:pos x="T6" y="T7"/>
                </a:cxn>
              </a:cxnLst>
              <a:rect l="T12" t="T13" r="T14" b="T15"/>
              <a:pathLst>
                <a:path w="26" h="28">
                  <a:moveTo>
                    <a:pt x="0" y="27"/>
                  </a:moveTo>
                  <a:lnTo>
                    <a:pt x="0" y="27"/>
                  </a:lnTo>
                  <a:lnTo>
                    <a:pt x="25"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8" name="Line 7241"/>
            <p:cNvSpPr>
              <a:spLocks noChangeShapeType="1"/>
            </p:cNvSpPr>
            <p:nvPr/>
          </p:nvSpPr>
          <p:spPr bwMode="auto">
            <a:xfrm>
              <a:off x="2682" y="2598"/>
              <a:ext cx="22"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89" name="Freeform 7242"/>
            <p:cNvSpPr>
              <a:spLocks/>
            </p:cNvSpPr>
            <p:nvPr/>
          </p:nvSpPr>
          <p:spPr bwMode="auto">
            <a:xfrm>
              <a:off x="2682" y="2584"/>
              <a:ext cx="26" cy="26"/>
            </a:xfrm>
            <a:custGeom>
              <a:avLst/>
              <a:gdLst>
                <a:gd name="T0" fmla="*/ 25 w 26"/>
                <a:gd name="T1" fmla="*/ 25 h 26"/>
                <a:gd name="T2" fmla="*/ 13 w 26"/>
                <a:gd name="T3" fmla="*/ 0 h 26"/>
                <a:gd name="T4" fmla="*/ 0 w 26"/>
                <a:gd name="T5" fmla="*/ 17 h 26"/>
                <a:gd name="T6" fmla="*/ 25 w 26"/>
                <a:gd name="T7" fmla="*/ 25 h 26"/>
                <a:gd name="T8" fmla="*/ 0 60000 65536"/>
                <a:gd name="T9" fmla="*/ 0 60000 65536"/>
                <a:gd name="T10" fmla="*/ 0 60000 65536"/>
                <a:gd name="T11" fmla="*/ 0 60000 65536"/>
                <a:gd name="T12" fmla="*/ 0 w 26"/>
                <a:gd name="T13" fmla="*/ 0 h 26"/>
                <a:gd name="T14" fmla="*/ 26 w 26"/>
                <a:gd name="T15" fmla="*/ 26 h 26"/>
              </a:gdLst>
              <a:ahLst/>
              <a:cxnLst>
                <a:cxn ang="T8">
                  <a:pos x="T0" y="T1"/>
                </a:cxn>
                <a:cxn ang="T9">
                  <a:pos x="T2" y="T3"/>
                </a:cxn>
                <a:cxn ang="T10">
                  <a:pos x="T4" y="T5"/>
                </a:cxn>
                <a:cxn ang="T11">
                  <a:pos x="T6" y="T7"/>
                </a:cxn>
              </a:cxnLst>
              <a:rect l="T12" t="T13" r="T14" b="T15"/>
              <a:pathLst>
                <a:path w="26" h="26">
                  <a:moveTo>
                    <a:pt x="25" y="25"/>
                  </a:moveTo>
                  <a:lnTo>
                    <a:pt x="13" y="0"/>
                  </a:lnTo>
                  <a:lnTo>
                    <a:pt x="0" y="17"/>
                  </a:lnTo>
                  <a:lnTo>
                    <a:pt x="25"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0" name="Freeform 7243"/>
            <p:cNvSpPr>
              <a:spLocks/>
            </p:cNvSpPr>
            <p:nvPr/>
          </p:nvSpPr>
          <p:spPr bwMode="auto">
            <a:xfrm>
              <a:off x="2689" y="2584"/>
              <a:ext cx="28" cy="26"/>
            </a:xfrm>
            <a:custGeom>
              <a:avLst/>
              <a:gdLst>
                <a:gd name="T0" fmla="*/ 13 w 28"/>
                <a:gd name="T1" fmla="*/ 25 h 26"/>
                <a:gd name="T2" fmla="*/ 27 w 28"/>
                <a:gd name="T3" fmla="*/ 17 h 26"/>
                <a:gd name="T4" fmla="*/ 0 w 28"/>
                <a:gd name="T5" fmla="*/ 0 h 26"/>
                <a:gd name="T6" fmla="*/ 13 w 28"/>
                <a:gd name="T7" fmla="*/ 25 h 26"/>
                <a:gd name="T8" fmla="*/ 0 60000 65536"/>
                <a:gd name="T9" fmla="*/ 0 60000 65536"/>
                <a:gd name="T10" fmla="*/ 0 60000 65536"/>
                <a:gd name="T11" fmla="*/ 0 60000 65536"/>
                <a:gd name="T12" fmla="*/ 0 w 28"/>
                <a:gd name="T13" fmla="*/ 0 h 26"/>
                <a:gd name="T14" fmla="*/ 28 w 28"/>
                <a:gd name="T15" fmla="*/ 26 h 26"/>
              </a:gdLst>
              <a:ahLst/>
              <a:cxnLst>
                <a:cxn ang="T8">
                  <a:pos x="T0" y="T1"/>
                </a:cxn>
                <a:cxn ang="T9">
                  <a:pos x="T2" y="T3"/>
                </a:cxn>
                <a:cxn ang="T10">
                  <a:pos x="T4" y="T5"/>
                </a:cxn>
                <a:cxn ang="T11">
                  <a:pos x="T6" y="T7"/>
                </a:cxn>
              </a:cxnLst>
              <a:rect l="T12" t="T13" r="T14" b="T15"/>
              <a:pathLst>
                <a:path w="28" h="26">
                  <a:moveTo>
                    <a:pt x="13" y="25"/>
                  </a:moveTo>
                  <a:lnTo>
                    <a:pt x="27" y="17"/>
                  </a:lnTo>
                  <a:lnTo>
                    <a:pt x="0" y="0"/>
                  </a:lnTo>
                  <a:lnTo>
                    <a:pt x="13" y="25"/>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1" name="Freeform 7244"/>
            <p:cNvSpPr>
              <a:spLocks/>
            </p:cNvSpPr>
            <p:nvPr/>
          </p:nvSpPr>
          <p:spPr bwMode="auto">
            <a:xfrm>
              <a:off x="2697" y="2604"/>
              <a:ext cx="24" cy="1"/>
            </a:xfrm>
            <a:custGeom>
              <a:avLst/>
              <a:gdLst>
                <a:gd name="T0" fmla="*/ 0 w 24"/>
                <a:gd name="T1" fmla="*/ 0 h 1"/>
                <a:gd name="T2" fmla="*/ 0 w 24"/>
                <a:gd name="T3" fmla="*/ 0 h 1"/>
                <a:gd name="T4" fmla="*/ 23 w 24"/>
                <a:gd name="T5" fmla="*/ 0 h 1"/>
                <a:gd name="T6" fmla="*/ 0 w 24"/>
                <a:gd name="T7" fmla="*/ 0 h 1"/>
                <a:gd name="T8" fmla="*/ 0 60000 65536"/>
                <a:gd name="T9" fmla="*/ 0 60000 65536"/>
                <a:gd name="T10" fmla="*/ 0 60000 65536"/>
                <a:gd name="T11" fmla="*/ 0 60000 65536"/>
                <a:gd name="T12" fmla="*/ 0 w 24"/>
                <a:gd name="T13" fmla="*/ 0 h 1"/>
                <a:gd name="T14" fmla="*/ 24 w 24"/>
                <a:gd name="T15" fmla="*/ 1 h 1"/>
              </a:gdLst>
              <a:ahLst/>
              <a:cxnLst>
                <a:cxn ang="T8">
                  <a:pos x="T0" y="T1"/>
                </a:cxn>
                <a:cxn ang="T9">
                  <a:pos x="T2" y="T3"/>
                </a:cxn>
                <a:cxn ang="T10">
                  <a:pos x="T4" y="T5"/>
                </a:cxn>
                <a:cxn ang="T11">
                  <a:pos x="T6" y="T7"/>
                </a:cxn>
              </a:cxnLst>
              <a:rect l="T12" t="T13" r="T14" b="T15"/>
              <a:pathLst>
                <a:path w="24" h="1">
                  <a:moveTo>
                    <a:pt x="0" y="0"/>
                  </a:moveTo>
                  <a:lnTo>
                    <a:pt x="0" y="0"/>
                  </a:lnTo>
                  <a:lnTo>
                    <a:pt x="23"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2" name="Line 7245"/>
            <p:cNvSpPr>
              <a:spLocks noChangeShapeType="1"/>
            </p:cNvSpPr>
            <p:nvPr/>
          </p:nvSpPr>
          <p:spPr bwMode="auto">
            <a:xfrm>
              <a:off x="2697" y="2604"/>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3" name="Freeform 7246"/>
            <p:cNvSpPr>
              <a:spLocks/>
            </p:cNvSpPr>
            <p:nvPr/>
          </p:nvSpPr>
          <p:spPr bwMode="auto">
            <a:xfrm>
              <a:off x="2697" y="2598"/>
              <a:ext cx="24" cy="27"/>
            </a:xfrm>
            <a:custGeom>
              <a:avLst/>
              <a:gdLst>
                <a:gd name="T0" fmla="*/ 23 w 24"/>
                <a:gd name="T1" fmla="*/ 26 h 27"/>
                <a:gd name="T2" fmla="*/ 10 w 24"/>
                <a:gd name="T3" fmla="*/ 0 h 27"/>
                <a:gd name="T4" fmla="*/ 0 w 24"/>
                <a:gd name="T5" fmla="*/ 13 h 27"/>
                <a:gd name="T6" fmla="*/ 23 w 24"/>
                <a:gd name="T7" fmla="*/ 26 h 27"/>
                <a:gd name="T8" fmla="*/ 0 60000 65536"/>
                <a:gd name="T9" fmla="*/ 0 60000 65536"/>
                <a:gd name="T10" fmla="*/ 0 60000 65536"/>
                <a:gd name="T11" fmla="*/ 0 60000 65536"/>
                <a:gd name="T12" fmla="*/ 0 w 24"/>
                <a:gd name="T13" fmla="*/ 0 h 27"/>
                <a:gd name="T14" fmla="*/ 24 w 24"/>
                <a:gd name="T15" fmla="*/ 27 h 27"/>
              </a:gdLst>
              <a:ahLst/>
              <a:cxnLst>
                <a:cxn ang="T8">
                  <a:pos x="T0" y="T1"/>
                </a:cxn>
                <a:cxn ang="T9">
                  <a:pos x="T2" y="T3"/>
                </a:cxn>
                <a:cxn ang="T10">
                  <a:pos x="T4" y="T5"/>
                </a:cxn>
                <a:cxn ang="T11">
                  <a:pos x="T6" y="T7"/>
                </a:cxn>
              </a:cxnLst>
              <a:rect l="T12" t="T13" r="T14" b="T15"/>
              <a:pathLst>
                <a:path w="24" h="27">
                  <a:moveTo>
                    <a:pt x="23" y="26"/>
                  </a:moveTo>
                  <a:lnTo>
                    <a:pt x="10" y="0"/>
                  </a:lnTo>
                  <a:lnTo>
                    <a:pt x="0" y="13"/>
                  </a:lnTo>
                  <a:lnTo>
                    <a:pt x="2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4" name="Freeform 7247"/>
            <p:cNvSpPr>
              <a:spLocks/>
            </p:cNvSpPr>
            <p:nvPr/>
          </p:nvSpPr>
          <p:spPr bwMode="auto">
            <a:xfrm>
              <a:off x="2701" y="2598"/>
              <a:ext cx="27" cy="27"/>
            </a:xfrm>
            <a:custGeom>
              <a:avLst/>
              <a:gdLst>
                <a:gd name="T0" fmla="*/ 14 w 27"/>
                <a:gd name="T1" fmla="*/ 26 h 27"/>
                <a:gd name="T2" fmla="*/ 26 w 27"/>
                <a:gd name="T3" fmla="*/ 13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13"/>
                  </a:lnTo>
                  <a:lnTo>
                    <a:pt x="0" y="0"/>
                  </a:lnTo>
                  <a:lnTo>
                    <a:pt x="1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5" name="Freeform 7248"/>
            <p:cNvSpPr>
              <a:spLocks/>
            </p:cNvSpPr>
            <p:nvPr/>
          </p:nvSpPr>
          <p:spPr bwMode="auto">
            <a:xfrm>
              <a:off x="2707" y="2611"/>
              <a:ext cx="29" cy="27"/>
            </a:xfrm>
            <a:custGeom>
              <a:avLst/>
              <a:gdLst>
                <a:gd name="T0" fmla="*/ 0 w 29"/>
                <a:gd name="T1" fmla="*/ 26 h 27"/>
                <a:gd name="T2" fmla="*/ 0 w 29"/>
                <a:gd name="T3" fmla="*/ 0 h 27"/>
                <a:gd name="T4" fmla="*/ 28 w 29"/>
                <a:gd name="T5" fmla="*/ 0 h 27"/>
                <a:gd name="T6" fmla="*/ 0 w 29"/>
                <a:gd name="T7" fmla="*/ 26 h 27"/>
                <a:gd name="T8" fmla="*/ 0 60000 65536"/>
                <a:gd name="T9" fmla="*/ 0 60000 65536"/>
                <a:gd name="T10" fmla="*/ 0 60000 65536"/>
                <a:gd name="T11" fmla="*/ 0 60000 65536"/>
                <a:gd name="T12" fmla="*/ 0 w 29"/>
                <a:gd name="T13" fmla="*/ 0 h 27"/>
                <a:gd name="T14" fmla="*/ 29 w 29"/>
                <a:gd name="T15" fmla="*/ 27 h 27"/>
              </a:gdLst>
              <a:ahLst/>
              <a:cxnLst>
                <a:cxn ang="T8">
                  <a:pos x="T0" y="T1"/>
                </a:cxn>
                <a:cxn ang="T9">
                  <a:pos x="T2" y="T3"/>
                </a:cxn>
                <a:cxn ang="T10">
                  <a:pos x="T4" y="T5"/>
                </a:cxn>
                <a:cxn ang="T11">
                  <a:pos x="T6" y="T7"/>
                </a:cxn>
              </a:cxnLst>
              <a:rect l="T12" t="T13" r="T14" b="T15"/>
              <a:pathLst>
                <a:path w="29" h="27">
                  <a:moveTo>
                    <a:pt x="0" y="26"/>
                  </a:moveTo>
                  <a:lnTo>
                    <a:pt x="0" y="0"/>
                  </a:lnTo>
                  <a:lnTo>
                    <a:pt x="28"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6" name="Freeform 7249"/>
            <p:cNvSpPr>
              <a:spLocks/>
            </p:cNvSpPr>
            <p:nvPr/>
          </p:nvSpPr>
          <p:spPr bwMode="auto">
            <a:xfrm>
              <a:off x="2707" y="2611"/>
              <a:ext cx="1" cy="27"/>
            </a:xfrm>
            <a:custGeom>
              <a:avLst/>
              <a:gdLst>
                <a:gd name="T0" fmla="*/ 0 w 1"/>
                <a:gd name="T1" fmla="*/ 26 h 27"/>
                <a:gd name="T2" fmla="*/ 0 w 1"/>
                <a:gd name="T3" fmla="*/ 26 h 27"/>
                <a:gd name="T4" fmla="*/ 0 w 1"/>
                <a:gd name="T5" fmla="*/ 0 h 27"/>
                <a:gd name="T6" fmla="*/ 0 w 1"/>
                <a:gd name="T7" fmla="*/ 26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6"/>
                  </a:moveTo>
                  <a:lnTo>
                    <a:pt x="0" y="26"/>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7" name="Freeform 7250"/>
            <p:cNvSpPr>
              <a:spLocks/>
            </p:cNvSpPr>
            <p:nvPr/>
          </p:nvSpPr>
          <p:spPr bwMode="auto">
            <a:xfrm>
              <a:off x="2707" y="2604"/>
              <a:ext cx="29" cy="28"/>
            </a:xfrm>
            <a:custGeom>
              <a:avLst/>
              <a:gdLst>
                <a:gd name="T0" fmla="*/ 28 w 29"/>
                <a:gd name="T1" fmla="*/ 27 h 28"/>
                <a:gd name="T2" fmla="*/ 14 w 29"/>
                <a:gd name="T3" fmla="*/ 0 h 28"/>
                <a:gd name="T4" fmla="*/ 0 w 29"/>
                <a:gd name="T5" fmla="*/ 18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4" y="0"/>
                  </a:lnTo>
                  <a:lnTo>
                    <a:pt x="0" y="18"/>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8" name="Freeform 7251"/>
            <p:cNvSpPr>
              <a:spLocks/>
            </p:cNvSpPr>
            <p:nvPr/>
          </p:nvSpPr>
          <p:spPr bwMode="auto">
            <a:xfrm>
              <a:off x="2716" y="2604"/>
              <a:ext cx="25" cy="28"/>
            </a:xfrm>
            <a:custGeom>
              <a:avLst/>
              <a:gdLst>
                <a:gd name="T0" fmla="*/ 10 w 25"/>
                <a:gd name="T1" fmla="*/ 27 h 28"/>
                <a:gd name="T2" fmla="*/ 24 w 25"/>
                <a:gd name="T3" fmla="*/ 8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8"/>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99" name="Freeform 7252"/>
            <p:cNvSpPr>
              <a:spLocks/>
            </p:cNvSpPr>
            <p:nvPr/>
          </p:nvSpPr>
          <p:spPr bwMode="auto">
            <a:xfrm>
              <a:off x="2727" y="2611"/>
              <a:ext cx="28" cy="27"/>
            </a:xfrm>
            <a:custGeom>
              <a:avLst/>
              <a:gdLst>
                <a:gd name="T0" fmla="*/ 0 w 28"/>
                <a:gd name="T1" fmla="*/ 26 h 27"/>
                <a:gd name="T2" fmla="*/ 27 w 28"/>
                <a:gd name="T3" fmla="*/ 10 h 27"/>
                <a:gd name="T4" fmla="*/ 0 w 28"/>
                <a:gd name="T5" fmla="*/ 0 h 27"/>
                <a:gd name="T6" fmla="*/ 0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0" y="26"/>
                  </a:moveTo>
                  <a:lnTo>
                    <a:pt x="27" y="10"/>
                  </a:lnTo>
                  <a:lnTo>
                    <a:pt x="0" y="0"/>
                  </a:lnTo>
                  <a:lnTo>
                    <a:pt x="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0" name="Freeform 7253"/>
            <p:cNvSpPr>
              <a:spLocks/>
            </p:cNvSpPr>
            <p:nvPr/>
          </p:nvSpPr>
          <p:spPr bwMode="auto">
            <a:xfrm>
              <a:off x="2727" y="2632"/>
              <a:ext cx="28" cy="1"/>
            </a:xfrm>
            <a:custGeom>
              <a:avLst/>
              <a:gdLst>
                <a:gd name="T0" fmla="*/ 27 w 28"/>
                <a:gd name="T1" fmla="*/ 0 h 1"/>
                <a:gd name="T2" fmla="*/ 27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27" y="0"/>
                  </a:lnTo>
                  <a:lnTo>
                    <a:pt x="0" y="0"/>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1" name="Freeform 7254"/>
            <p:cNvSpPr>
              <a:spLocks/>
            </p:cNvSpPr>
            <p:nvPr/>
          </p:nvSpPr>
          <p:spPr bwMode="auto">
            <a:xfrm>
              <a:off x="2732" y="2619"/>
              <a:ext cx="25" cy="27"/>
            </a:xfrm>
            <a:custGeom>
              <a:avLst/>
              <a:gdLst>
                <a:gd name="T0" fmla="*/ 24 w 25"/>
                <a:gd name="T1" fmla="*/ 26 h 27"/>
                <a:gd name="T2" fmla="*/ 0 w 25"/>
                <a:gd name="T3" fmla="*/ 0 h 27"/>
                <a:gd name="T4" fmla="*/ 0 w 25"/>
                <a:gd name="T5" fmla="*/ 16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0" y="0"/>
                  </a:lnTo>
                  <a:lnTo>
                    <a:pt x="0" y="16"/>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2" name="Freeform 7255"/>
            <p:cNvSpPr>
              <a:spLocks/>
            </p:cNvSpPr>
            <p:nvPr/>
          </p:nvSpPr>
          <p:spPr bwMode="auto">
            <a:xfrm>
              <a:off x="2732" y="2619"/>
              <a:ext cx="25" cy="27"/>
            </a:xfrm>
            <a:custGeom>
              <a:avLst/>
              <a:gdLst>
                <a:gd name="T0" fmla="*/ 10 w 25"/>
                <a:gd name="T1" fmla="*/ 26 h 27"/>
                <a:gd name="T2" fmla="*/ 24 w 25"/>
                <a:gd name="T3" fmla="*/ 8 h 27"/>
                <a:gd name="T4" fmla="*/ 0 w 25"/>
                <a:gd name="T5" fmla="*/ 0 h 27"/>
                <a:gd name="T6" fmla="*/ 10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0" y="26"/>
                  </a:moveTo>
                  <a:lnTo>
                    <a:pt x="24" y="8"/>
                  </a:lnTo>
                  <a:lnTo>
                    <a:pt x="0" y="0"/>
                  </a:lnTo>
                  <a:lnTo>
                    <a:pt x="10"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3" name="Freeform 7256"/>
            <p:cNvSpPr>
              <a:spLocks/>
            </p:cNvSpPr>
            <p:nvPr/>
          </p:nvSpPr>
          <p:spPr bwMode="auto">
            <a:xfrm>
              <a:off x="2738" y="2632"/>
              <a:ext cx="28" cy="27"/>
            </a:xfrm>
            <a:custGeom>
              <a:avLst/>
              <a:gdLst>
                <a:gd name="T0" fmla="*/ 27 w 28"/>
                <a:gd name="T1" fmla="*/ 26 h 27"/>
                <a:gd name="T2" fmla="*/ 0 w 28"/>
                <a:gd name="T3" fmla="*/ 26 h 27"/>
                <a:gd name="T4" fmla="*/ 27 w 28"/>
                <a:gd name="T5" fmla="*/ 0 h 27"/>
                <a:gd name="T6" fmla="*/ 27 w 28"/>
                <a:gd name="T7" fmla="*/ 26 h 27"/>
                <a:gd name="T8" fmla="*/ 0 60000 65536"/>
                <a:gd name="T9" fmla="*/ 0 60000 65536"/>
                <a:gd name="T10" fmla="*/ 0 60000 65536"/>
                <a:gd name="T11" fmla="*/ 0 60000 65536"/>
                <a:gd name="T12" fmla="*/ 0 w 28"/>
                <a:gd name="T13" fmla="*/ 0 h 27"/>
                <a:gd name="T14" fmla="*/ 28 w 28"/>
                <a:gd name="T15" fmla="*/ 27 h 27"/>
              </a:gdLst>
              <a:ahLst/>
              <a:cxnLst>
                <a:cxn ang="T8">
                  <a:pos x="T0" y="T1"/>
                </a:cxn>
                <a:cxn ang="T9">
                  <a:pos x="T2" y="T3"/>
                </a:cxn>
                <a:cxn ang="T10">
                  <a:pos x="T4" y="T5"/>
                </a:cxn>
                <a:cxn ang="T11">
                  <a:pos x="T6" y="T7"/>
                </a:cxn>
              </a:cxnLst>
              <a:rect l="T12" t="T13" r="T14" b="T15"/>
              <a:pathLst>
                <a:path w="28" h="27">
                  <a:moveTo>
                    <a:pt x="27" y="26"/>
                  </a:moveTo>
                  <a:lnTo>
                    <a:pt x="0" y="26"/>
                  </a:lnTo>
                  <a:lnTo>
                    <a:pt x="27" y="0"/>
                  </a:lnTo>
                  <a:lnTo>
                    <a:pt x="27"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4" name="Freeform 7257"/>
            <p:cNvSpPr>
              <a:spLocks/>
            </p:cNvSpPr>
            <p:nvPr/>
          </p:nvSpPr>
          <p:spPr bwMode="auto">
            <a:xfrm>
              <a:off x="2738" y="2640"/>
              <a:ext cx="28" cy="1"/>
            </a:xfrm>
            <a:custGeom>
              <a:avLst/>
              <a:gdLst>
                <a:gd name="T0" fmla="*/ 27 w 28"/>
                <a:gd name="T1" fmla="*/ 0 h 1"/>
                <a:gd name="T2" fmla="*/ 0 w 28"/>
                <a:gd name="T3" fmla="*/ 0 h 1"/>
                <a:gd name="T4" fmla="*/ 0 w 28"/>
                <a:gd name="T5" fmla="*/ 0 h 1"/>
                <a:gd name="T6" fmla="*/ 27 w 28"/>
                <a:gd name="T7" fmla="*/ 0 h 1"/>
                <a:gd name="T8" fmla="*/ 0 60000 65536"/>
                <a:gd name="T9" fmla="*/ 0 60000 65536"/>
                <a:gd name="T10" fmla="*/ 0 60000 65536"/>
                <a:gd name="T11" fmla="*/ 0 60000 65536"/>
                <a:gd name="T12" fmla="*/ 0 w 28"/>
                <a:gd name="T13" fmla="*/ 0 h 1"/>
                <a:gd name="T14" fmla="*/ 28 w 28"/>
                <a:gd name="T15" fmla="*/ 1 h 1"/>
              </a:gdLst>
              <a:ahLst/>
              <a:cxnLst>
                <a:cxn ang="T8">
                  <a:pos x="T0" y="T1"/>
                </a:cxn>
                <a:cxn ang="T9">
                  <a:pos x="T2" y="T3"/>
                </a:cxn>
                <a:cxn ang="T10">
                  <a:pos x="T4" y="T5"/>
                </a:cxn>
                <a:cxn ang="T11">
                  <a:pos x="T6" y="T7"/>
                </a:cxn>
              </a:cxnLst>
              <a:rect l="T12" t="T13" r="T14" b="T15"/>
              <a:pathLst>
                <a:path w="28" h="1">
                  <a:moveTo>
                    <a:pt x="27" y="0"/>
                  </a:moveTo>
                  <a:lnTo>
                    <a:pt x="0" y="0"/>
                  </a:lnTo>
                  <a:lnTo>
                    <a:pt x="27"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5" name="Freeform 7258"/>
            <p:cNvSpPr>
              <a:spLocks/>
            </p:cNvSpPr>
            <p:nvPr/>
          </p:nvSpPr>
          <p:spPr bwMode="auto">
            <a:xfrm>
              <a:off x="2744" y="2626"/>
              <a:ext cx="27" cy="27"/>
            </a:xfrm>
            <a:custGeom>
              <a:avLst/>
              <a:gdLst>
                <a:gd name="T0" fmla="*/ 26 w 27"/>
                <a:gd name="T1" fmla="*/ 26 h 27"/>
                <a:gd name="T2" fmla="*/ 0 w 27"/>
                <a:gd name="T3" fmla="*/ 0 h 27"/>
                <a:gd name="T4" fmla="*/ 0 w 27"/>
                <a:gd name="T5" fmla="*/ 26 h 27"/>
                <a:gd name="T6" fmla="*/ 26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26" y="26"/>
                  </a:moveTo>
                  <a:lnTo>
                    <a:pt x="0" y="0"/>
                  </a:lnTo>
                  <a:lnTo>
                    <a:pt x="0" y="26"/>
                  </a:lnTo>
                  <a:lnTo>
                    <a:pt x="26"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6" name="Freeform 7259"/>
            <p:cNvSpPr>
              <a:spLocks/>
            </p:cNvSpPr>
            <p:nvPr/>
          </p:nvSpPr>
          <p:spPr bwMode="auto">
            <a:xfrm>
              <a:off x="2744" y="2626"/>
              <a:ext cx="27" cy="27"/>
            </a:xfrm>
            <a:custGeom>
              <a:avLst/>
              <a:gdLst>
                <a:gd name="T0" fmla="*/ 13 w 27"/>
                <a:gd name="T1" fmla="*/ 26 h 27"/>
                <a:gd name="T2" fmla="*/ 26 w 27"/>
                <a:gd name="T3" fmla="*/ 11 h 27"/>
                <a:gd name="T4" fmla="*/ 0 w 27"/>
                <a:gd name="T5" fmla="*/ 0 h 27"/>
                <a:gd name="T6" fmla="*/ 13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3" y="26"/>
                  </a:moveTo>
                  <a:lnTo>
                    <a:pt x="26" y="11"/>
                  </a:lnTo>
                  <a:lnTo>
                    <a:pt x="0" y="0"/>
                  </a:lnTo>
                  <a:lnTo>
                    <a:pt x="1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7" name="Freeform 7260"/>
            <p:cNvSpPr>
              <a:spLocks/>
            </p:cNvSpPr>
            <p:nvPr/>
          </p:nvSpPr>
          <p:spPr bwMode="auto">
            <a:xfrm>
              <a:off x="2752" y="2640"/>
              <a:ext cx="25" cy="1"/>
            </a:xfrm>
            <a:custGeom>
              <a:avLst/>
              <a:gdLst>
                <a:gd name="T0" fmla="*/ 0 w 25"/>
                <a:gd name="T1" fmla="*/ 0 h 1"/>
                <a:gd name="T2" fmla="*/ 0 w 25"/>
                <a:gd name="T3" fmla="*/ 0 h 1"/>
                <a:gd name="T4" fmla="*/ 24 w 25"/>
                <a:gd name="T5" fmla="*/ 0 h 1"/>
                <a:gd name="T6" fmla="*/ 0 w 25"/>
                <a:gd name="T7" fmla="*/ 0 h 1"/>
                <a:gd name="T8" fmla="*/ 0 60000 65536"/>
                <a:gd name="T9" fmla="*/ 0 60000 65536"/>
                <a:gd name="T10" fmla="*/ 0 60000 65536"/>
                <a:gd name="T11" fmla="*/ 0 60000 65536"/>
                <a:gd name="T12" fmla="*/ 0 w 25"/>
                <a:gd name="T13" fmla="*/ 0 h 1"/>
                <a:gd name="T14" fmla="*/ 25 w 25"/>
                <a:gd name="T15" fmla="*/ 1 h 1"/>
              </a:gdLst>
              <a:ahLst/>
              <a:cxnLst>
                <a:cxn ang="T8">
                  <a:pos x="T0" y="T1"/>
                </a:cxn>
                <a:cxn ang="T9">
                  <a:pos x="T2" y="T3"/>
                </a:cxn>
                <a:cxn ang="T10">
                  <a:pos x="T4" y="T5"/>
                </a:cxn>
                <a:cxn ang="T11">
                  <a:pos x="T6" y="T7"/>
                </a:cxn>
              </a:cxnLst>
              <a:rect l="T12" t="T13" r="T14" b="T15"/>
              <a:pathLst>
                <a:path w="25" h="1">
                  <a:moveTo>
                    <a:pt x="0" y="0"/>
                  </a:moveTo>
                  <a:lnTo>
                    <a:pt x="0" y="0"/>
                  </a:lnTo>
                  <a:lnTo>
                    <a:pt x="24"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8" name="Line 7261"/>
            <p:cNvSpPr>
              <a:spLocks noChangeShapeType="1"/>
            </p:cNvSpPr>
            <p:nvPr/>
          </p:nvSpPr>
          <p:spPr bwMode="auto">
            <a:xfrm>
              <a:off x="2752" y="2640"/>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09" name="Freeform 7262"/>
            <p:cNvSpPr>
              <a:spLocks/>
            </p:cNvSpPr>
            <p:nvPr/>
          </p:nvSpPr>
          <p:spPr bwMode="auto">
            <a:xfrm>
              <a:off x="2752" y="2632"/>
              <a:ext cx="25" cy="27"/>
            </a:xfrm>
            <a:custGeom>
              <a:avLst/>
              <a:gdLst>
                <a:gd name="T0" fmla="*/ 24 w 25"/>
                <a:gd name="T1" fmla="*/ 26 h 27"/>
                <a:gd name="T2" fmla="*/ 10 w 25"/>
                <a:gd name="T3" fmla="*/ 0 h 27"/>
                <a:gd name="T4" fmla="*/ 0 w 25"/>
                <a:gd name="T5" fmla="*/ 14 h 27"/>
                <a:gd name="T6" fmla="*/ 24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24" y="26"/>
                  </a:moveTo>
                  <a:lnTo>
                    <a:pt x="10" y="0"/>
                  </a:lnTo>
                  <a:lnTo>
                    <a:pt x="0" y="14"/>
                  </a:lnTo>
                  <a:lnTo>
                    <a:pt x="2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0" name="Freeform 7263"/>
            <p:cNvSpPr>
              <a:spLocks/>
            </p:cNvSpPr>
            <p:nvPr/>
          </p:nvSpPr>
          <p:spPr bwMode="auto">
            <a:xfrm>
              <a:off x="2756" y="2632"/>
              <a:ext cx="27" cy="27"/>
            </a:xfrm>
            <a:custGeom>
              <a:avLst/>
              <a:gdLst>
                <a:gd name="T0" fmla="*/ 14 w 27"/>
                <a:gd name="T1" fmla="*/ 26 h 27"/>
                <a:gd name="T2" fmla="*/ 26 w 27"/>
                <a:gd name="T3" fmla="*/ 0 h 27"/>
                <a:gd name="T4" fmla="*/ 0 w 27"/>
                <a:gd name="T5" fmla="*/ 0 h 27"/>
                <a:gd name="T6" fmla="*/ 14 w 27"/>
                <a:gd name="T7" fmla="*/ 26 h 27"/>
                <a:gd name="T8" fmla="*/ 0 60000 65536"/>
                <a:gd name="T9" fmla="*/ 0 60000 65536"/>
                <a:gd name="T10" fmla="*/ 0 60000 65536"/>
                <a:gd name="T11" fmla="*/ 0 60000 65536"/>
                <a:gd name="T12" fmla="*/ 0 w 27"/>
                <a:gd name="T13" fmla="*/ 0 h 27"/>
                <a:gd name="T14" fmla="*/ 27 w 27"/>
                <a:gd name="T15" fmla="*/ 27 h 27"/>
              </a:gdLst>
              <a:ahLst/>
              <a:cxnLst>
                <a:cxn ang="T8">
                  <a:pos x="T0" y="T1"/>
                </a:cxn>
                <a:cxn ang="T9">
                  <a:pos x="T2" y="T3"/>
                </a:cxn>
                <a:cxn ang="T10">
                  <a:pos x="T4" y="T5"/>
                </a:cxn>
                <a:cxn ang="T11">
                  <a:pos x="T6" y="T7"/>
                </a:cxn>
              </a:cxnLst>
              <a:rect l="T12" t="T13" r="T14" b="T15"/>
              <a:pathLst>
                <a:path w="27" h="27">
                  <a:moveTo>
                    <a:pt x="14" y="26"/>
                  </a:moveTo>
                  <a:lnTo>
                    <a:pt x="26" y="0"/>
                  </a:lnTo>
                  <a:lnTo>
                    <a:pt x="0" y="0"/>
                  </a:lnTo>
                  <a:lnTo>
                    <a:pt x="14"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1" name="Freeform 7264"/>
            <p:cNvSpPr>
              <a:spLocks/>
            </p:cNvSpPr>
            <p:nvPr/>
          </p:nvSpPr>
          <p:spPr bwMode="auto">
            <a:xfrm>
              <a:off x="2765" y="2640"/>
              <a:ext cx="22" cy="28"/>
            </a:xfrm>
            <a:custGeom>
              <a:avLst/>
              <a:gdLst>
                <a:gd name="T0" fmla="*/ 0 w 22"/>
                <a:gd name="T1" fmla="*/ 27 h 28"/>
                <a:gd name="T2" fmla="*/ 0 w 22"/>
                <a:gd name="T3" fmla="*/ 27 h 28"/>
                <a:gd name="T4" fmla="*/ 21 w 22"/>
                <a:gd name="T5" fmla="*/ 0 h 28"/>
                <a:gd name="T6" fmla="*/ 0 w 22"/>
                <a:gd name="T7" fmla="*/ 27 h 28"/>
                <a:gd name="T8" fmla="*/ 0 60000 65536"/>
                <a:gd name="T9" fmla="*/ 0 60000 65536"/>
                <a:gd name="T10" fmla="*/ 0 60000 65536"/>
                <a:gd name="T11" fmla="*/ 0 60000 65536"/>
                <a:gd name="T12" fmla="*/ 0 w 22"/>
                <a:gd name="T13" fmla="*/ 0 h 28"/>
                <a:gd name="T14" fmla="*/ 22 w 22"/>
                <a:gd name="T15" fmla="*/ 28 h 28"/>
              </a:gdLst>
              <a:ahLst/>
              <a:cxnLst>
                <a:cxn ang="T8">
                  <a:pos x="T0" y="T1"/>
                </a:cxn>
                <a:cxn ang="T9">
                  <a:pos x="T2" y="T3"/>
                </a:cxn>
                <a:cxn ang="T10">
                  <a:pos x="T4" y="T5"/>
                </a:cxn>
                <a:cxn ang="T11">
                  <a:pos x="T6" y="T7"/>
                </a:cxn>
              </a:cxnLst>
              <a:rect l="T12" t="T13" r="T14" b="T15"/>
              <a:pathLst>
                <a:path w="22" h="28">
                  <a:moveTo>
                    <a:pt x="0" y="27"/>
                  </a:moveTo>
                  <a:lnTo>
                    <a:pt x="0" y="27"/>
                  </a:lnTo>
                  <a:lnTo>
                    <a:pt x="21"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2" name="Line 7265"/>
            <p:cNvSpPr>
              <a:spLocks noChangeShapeType="1"/>
            </p:cNvSpPr>
            <p:nvPr/>
          </p:nvSpPr>
          <p:spPr bwMode="auto">
            <a:xfrm>
              <a:off x="2765" y="2647"/>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3" name="Freeform 7266"/>
            <p:cNvSpPr>
              <a:spLocks/>
            </p:cNvSpPr>
            <p:nvPr/>
          </p:nvSpPr>
          <p:spPr bwMode="auto">
            <a:xfrm>
              <a:off x="2765" y="2632"/>
              <a:ext cx="22" cy="27"/>
            </a:xfrm>
            <a:custGeom>
              <a:avLst/>
              <a:gdLst>
                <a:gd name="T0" fmla="*/ 21 w 22"/>
                <a:gd name="T1" fmla="*/ 26 h 27"/>
                <a:gd name="T2" fmla="*/ 9 w 22"/>
                <a:gd name="T3" fmla="*/ 0 h 27"/>
                <a:gd name="T4" fmla="*/ 0 w 22"/>
                <a:gd name="T5" fmla="*/ 18 h 27"/>
                <a:gd name="T6" fmla="*/ 21 w 22"/>
                <a:gd name="T7" fmla="*/ 26 h 27"/>
                <a:gd name="T8" fmla="*/ 0 60000 65536"/>
                <a:gd name="T9" fmla="*/ 0 60000 65536"/>
                <a:gd name="T10" fmla="*/ 0 60000 65536"/>
                <a:gd name="T11" fmla="*/ 0 60000 65536"/>
                <a:gd name="T12" fmla="*/ 0 w 22"/>
                <a:gd name="T13" fmla="*/ 0 h 27"/>
                <a:gd name="T14" fmla="*/ 22 w 22"/>
                <a:gd name="T15" fmla="*/ 27 h 27"/>
              </a:gdLst>
              <a:ahLst/>
              <a:cxnLst>
                <a:cxn ang="T8">
                  <a:pos x="T0" y="T1"/>
                </a:cxn>
                <a:cxn ang="T9">
                  <a:pos x="T2" y="T3"/>
                </a:cxn>
                <a:cxn ang="T10">
                  <a:pos x="T4" y="T5"/>
                </a:cxn>
                <a:cxn ang="T11">
                  <a:pos x="T6" y="T7"/>
                </a:cxn>
              </a:cxnLst>
              <a:rect l="T12" t="T13" r="T14" b="T15"/>
              <a:pathLst>
                <a:path w="22" h="27">
                  <a:moveTo>
                    <a:pt x="21" y="26"/>
                  </a:moveTo>
                  <a:lnTo>
                    <a:pt x="9" y="0"/>
                  </a:lnTo>
                  <a:lnTo>
                    <a:pt x="0" y="18"/>
                  </a:lnTo>
                  <a:lnTo>
                    <a:pt x="21"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4" name="Freeform 7267"/>
            <p:cNvSpPr>
              <a:spLocks/>
            </p:cNvSpPr>
            <p:nvPr/>
          </p:nvSpPr>
          <p:spPr bwMode="auto">
            <a:xfrm>
              <a:off x="2770" y="2632"/>
              <a:ext cx="25" cy="27"/>
            </a:xfrm>
            <a:custGeom>
              <a:avLst/>
              <a:gdLst>
                <a:gd name="T0" fmla="*/ 13 w 25"/>
                <a:gd name="T1" fmla="*/ 26 h 27"/>
                <a:gd name="T2" fmla="*/ 24 w 25"/>
                <a:gd name="T3" fmla="*/ 10 h 27"/>
                <a:gd name="T4" fmla="*/ 0 w 25"/>
                <a:gd name="T5" fmla="*/ 0 h 27"/>
                <a:gd name="T6" fmla="*/ 13 w 25"/>
                <a:gd name="T7" fmla="*/ 26 h 27"/>
                <a:gd name="T8" fmla="*/ 0 60000 65536"/>
                <a:gd name="T9" fmla="*/ 0 60000 65536"/>
                <a:gd name="T10" fmla="*/ 0 60000 65536"/>
                <a:gd name="T11" fmla="*/ 0 60000 65536"/>
                <a:gd name="T12" fmla="*/ 0 w 25"/>
                <a:gd name="T13" fmla="*/ 0 h 27"/>
                <a:gd name="T14" fmla="*/ 25 w 25"/>
                <a:gd name="T15" fmla="*/ 27 h 27"/>
              </a:gdLst>
              <a:ahLst/>
              <a:cxnLst>
                <a:cxn ang="T8">
                  <a:pos x="T0" y="T1"/>
                </a:cxn>
                <a:cxn ang="T9">
                  <a:pos x="T2" y="T3"/>
                </a:cxn>
                <a:cxn ang="T10">
                  <a:pos x="T4" y="T5"/>
                </a:cxn>
                <a:cxn ang="T11">
                  <a:pos x="T6" y="T7"/>
                </a:cxn>
              </a:cxnLst>
              <a:rect l="T12" t="T13" r="T14" b="T15"/>
              <a:pathLst>
                <a:path w="25" h="27">
                  <a:moveTo>
                    <a:pt x="13" y="26"/>
                  </a:moveTo>
                  <a:lnTo>
                    <a:pt x="24" y="10"/>
                  </a:lnTo>
                  <a:lnTo>
                    <a:pt x="0" y="0"/>
                  </a:lnTo>
                  <a:lnTo>
                    <a:pt x="13" y="26"/>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5" name="Freeform 7268"/>
            <p:cNvSpPr>
              <a:spLocks/>
            </p:cNvSpPr>
            <p:nvPr/>
          </p:nvSpPr>
          <p:spPr bwMode="auto">
            <a:xfrm>
              <a:off x="2776" y="2647"/>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6" name="Line 7269"/>
            <p:cNvSpPr>
              <a:spLocks noChangeShapeType="1"/>
            </p:cNvSpPr>
            <p:nvPr/>
          </p:nvSpPr>
          <p:spPr bwMode="auto">
            <a:xfrm>
              <a:off x="2776" y="2653"/>
              <a:ext cx="23"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7" name="Freeform 7270"/>
            <p:cNvSpPr>
              <a:spLocks/>
            </p:cNvSpPr>
            <p:nvPr/>
          </p:nvSpPr>
          <p:spPr bwMode="auto">
            <a:xfrm>
              <a:off x="2776" y="2640"/>
              <a:ext cx="25" cy="28"/>
            </a:xfrm>
            <a:custGeom>
              <a:avLst/>
              <a:gdLst>
                <a:gd name="T0" fmla="*/ 24 w 25"/>
                <a:gd name="T1" fmla="*/ 27 h 28"/>
                <a:gd name="T2" fmla="*/ 12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2"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8" name="Freeform 7271"/>
            <p:cNvSpPr>
              <a:spLocks/>
            </p:cNvSpPr>
            <p:nvPr/>
          </p:nvSpPr>
          <p:spPr bwMode="auto">
            <a:xfrm>
              <a:off x="2782" y="2640"/>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19" name="Freeform 7272"/>
            <p:cNvSpPr>
              <a:spLocks/>
            </p:cNvSpPr>
            <p:nvPr/>
          </p:nvSpPr>
          <p:spPr bwMode="auto">
            <a:xfrm>
              <a:off x="2786" y="2647"/>
              <a:ext cx="29" cy="28"/>
            </a:xfrm>
            <a:custGeom>
              <a:avLst/>
              <a:gdLst>
                <a:gd name="T0" fmla="*/ 0 w 29"/>
                <a:gd name="T1" fmla="*/ 27 h 28"/>
                <a:gd name="T2" fmla="*/ 0 w 29"/>
                <a:gd name="T3" fmla="*/ 27 h 28"/>
                <a:gd name="T4" fmla="*/ 28 w 29"/>
                <a:gd name="T5" fmla="*/ 0 h 28"/>
                <a:gd name="T6" fmla="*/ 0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0" y="27"/>
                  </a:moveTo>
                  <a:lnTo>
                    <a:pt x="0" y="27"/>
                  </a:lnTo>
                  <a:lnTo>
                    <a:pt x="28"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0" name="Line 7273"/>
            <p:cNvSpPr>
              <a:spLocks noChangeShapeType="1"/>
            </p:cNvSpPr>
            <p:nvPr/>
          </p:nvSpPr>
          <p:spPr bwMode="auto">
            <a:xfrm>
              <a:off x="2786" y="2653"/>
              <a:ext cx="25"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1" name="Freeform 7274"/>
            <p:cNvSpPr>
              <a:spLocks/>
            </p:cNvSpPr>
            <p:nvPr/>
          </p:nvSpPr>
          <p:spPr bwMode="auto">
            <a:xfrm>
              <a:off x="2786" y="2640"/>
              <a:ext cx="29" cy="28"/>
            </a:xfrm>
            <a:custGeom>
              <a:avLst/>
              <a:gdLst>
                <a:gd name="T0" fmla="*/ 28 w 29"/>
                <a:gd name="T1" fmla="*/ 27 h 28"/>
                <a:gd name="T2" fmla="*/ 15 w 29"/>
                <a:gd name="T3" fmla="*/ 0 h 28"/>
                <a:gd name="T4" fmla="*/ 0 w 29"/>
                <a:gd name="T5" fmla="*/ 16 h 28"/>
                <a:gd name="T6" fmla="*/ 28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28" y="27"/>
                  </a:moveTo>
                  <a:lnTo>
                    <a:pt x="15" y="0"/>
                  </a:lnTo>
                  <a:lnTo>
                    <a:pt x="0" y="16"/>
                  </a:lnTo>
                  <a:lnTo>
                    <a:pt x="28"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2" name="Freeform 7275"/>
            <p:cNvSpPr>
              <a:spLocks/>
            </p:cNvSpPr>
            <p:nvPr/>
          </p:nvSpPr>
          <p:spPr bwMode="auto">
            <a:xfrm>
              <a:off x="2794" y="2640"/>
              <a:ext cx="27" cy="28"/>
            </a:xfrm>
            <a:custGeom>
              <a:avLst/>
              <a:gdLst>
                <a:gd name="T0" fmla="*/ 13 w 27"/>
                <a:gd name="T1" fmla="*/ 27 h 28"/>
                <a:gd name="T2" fmla="*/ 26 w 27"/>
                <a:gd name="T3" fmla="*/ 8 h 28"/>
                <a:gd name="T4" fmla="*/ 0 w 27"/>
                <a:gd name="T5" fmla="*/ 0 h 28"/>
                <a:gd name="T6" fmla="*/ 13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13" y="27"/>
                  </a:moveTo>
                  <a:lnTo>
                    <a:pt x="26" y="8"/>
                  </a:lnTo>
                  <a:lnTo>
                    <a:pt x="0" y="0"/>
                  </a:lnTo>
                  <a:lnTo>
                    <a:pt x="1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3" name="Freeform 7276"/>
            <p:cNvSpPr>
              <a:spLocks/>
            </p:cNvSpPr>
            <p:nvPr/>
          </p:nvSpPr>
          <p:spPr bwMode="auto">
            <a:xfrm>
              <a:off x="2800" y="2653"/>
              <a:ext cx="25" cy="28"/>
            </a:xfrm>
            <a:custGeom>
              <a:avLst/>
              <a:gdLst>
                <a:gd name="T0" fmla="*/ 0 w 25"/>
                <a:gd name="T1" fmla="*/ 27 h 28"/>
                <a:gd name="T2" fmla="*/ 0 w 25"/>
                <a:gd name="T3" fmla="*/ 27 h 28"/>
                <a:gd name="T4" fmla="*/ 24 w 25"/>
                <a:gd name="T5" fmla="*/ 0 h 28"/>
                <a:gd name="T6" fmla="*/ 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0" y="27"/>
                  </a:moveTo>
                  <a:lnTo>
                    <a:pt x="0" y="27"/>
                  </a:lnTo>
                  <a:lnTo>
                    <a:pt x="24"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4" name="Line 7277"/>
            <p:cNvSpPr>
              <a:spLocks noChangeShapeType="1"/>
            </p:cNvSpPr>
            <p:nvPr/>
          </p:nvSpPr>
          <p:spPr bwMode="auto">
            <a:xfrm>
              <a:off x="2800" y="2661"/>
              <a:ext cx="21"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5" name="Freeform 7278"/>
            <p:cNvSpPr>
              <a:spLocks/>
            </p:cNvSpPr>
            <p:nvPr/>
          </p:nvSpPr>
          <p:spPr bwMode="auto">
            <a:xfrm>
              <a:off x="2800" y="2647"/>
              <a:ext cx="25" cy="28"/>
            </a:xfrm>
            <a:custGeom>
              <a:avLst/>
              <a:gdLst>
                <a:gd name="T0" fmla="*/ 24 w 25"/>
                <a:gd name="T1" fmla="*/ 27 h 28"/>
                <a:gd name="T2" fmla="*/ 10 w 25"/>
                <a:gd name="T3" fmla="*/ 0 h 28"/>
                <a:gd name="T4" fmla="*/ 0 w 25"/>
                <a:gd name="T5" fmla="*/ 27 h 28"/>
                <a:gd name="T6" fmla="*/ 24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24" y="27"/>
                  </a:moveTo>
                  <a:lnTo>
                    <a:pt x="10" y="0"/>
                  </a:lnTo>
                  <a:lnTo>
                    <a:pt x="0" y="27"/>
                  </a:lnTo>
                  <a:lnTo>
                    <a:pt x="24"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6" name="Freeform 7279"/>
            <p:cNvSpPr>
              <a:spLocks/>
            </p:cNvSpPr>
            <p:nvPr/>
          </p:nvSpPr>
          <p:spPr bwMode="auto">
            <a:xfrm>
              <a:off x="2803" y="2647"/>
              <a:ext cx="29" cy="28"/>
            </a:xfrm>
            <a:custGeom>
              <a:avLst/>
              <a:gdLst>
                <a:gd name="T0" fmla="*/ 15 w 29"/>
                <a:gd name="T1" fmla="*/ 27 h 28"/>
                <a:gd name="T2" fmla="*/ 28 w 29"/>
                <a:gd name="T3" fmla="*/ 0 h 28"/>
                <a:gd name="T4" fmla="*/ 0 w 29"/>
                <a:gd name="T5" fmla="*/ 0 h 28"/>
                <a:gd name="T6" fmla="*/ 15 w 29"/>
                <a:gd name="T7" fmla="*/ 27 h 28"/>
                <a:gd name="T8" fmla="*/ 0 60000 65536"/>
                <a:gd name="T9" fmla="*/ 0 60000 65536"/>
                <a:gd name="T10" fmla="*/ 0 60000 65536"/>
                <a:gd name="T11" fmla="*/ 0 60000 65536"/>
                <a:gd name="T12" fmla="*/ 0 w 29"/>
                <a:gd name="T13" fmla="*/ 0 h 28"/>
                <a:gd name="T14" fmla="*/ 29 w 29"/>
                <a:gd name="T15" fmla="*/ 28 h 28"/>
              </a:gdLst>
              <a:ahLst/>
              <a:cxnLst>
                <a:cxn ang="T8">
                  <a:pos x="T0" y="T1"/>
                </a:cxn>
                <a:cxn ang="T9">
                  <a:pos x="T2" y="T3"/>
                </a:cxn>
                <a:cxn ang="T10">
                  <a:pos x="T4" y="T5"/>
                </a:cxn>
                <a:cxn ang="T11">
                  <a:pos x="T6" y="T7"/>
                </a:cxn>
              </a:cxnLst>
              <a:rect l="T12" t="T13" r="T14" b="T15"/>
              <a:pathLst>
                <a:path w="29" h="28">
                  <a:moveTo>
                    <a:pt x="15" y="27"/>
                  </a:moveTo>
                  <a:lnTo>
                    <a:pt x="28" y="0"/>
                  </a:lnTo>
                  <a:lnTo>
                    <a:pt x="0" y="0"/>
                  </a:lnTo>
                  <a:lnTo>
                    <a:pt x="15"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7" name="Freeform 7280"/>
            <p:cNvSpPr>
              <a:spLocks/>
            </p:cNvSpPr>
            <p:nvPr/>
          </p:nvSpPr>
          <p:spPr bwMode="auto">
            <a:xfrm>
              <a:off x="2814" y="2653"/>
              <a:ext cx="24" cy="28"/>
            </a:xfrm>
            <a:custGeom>
              <a:avLst/>
              <a:gdLst>
                <a:gd name="T0" fmla="*/ 0 w 24"/>
                <a:gd name="T1" fmla="*/ 27 h 28"/>
                <a:gd name="T2" fmla="*/ 0 w 24"/>
                <a:gd name="T3" fmla="*/ 27 h 28"/>
                <a:gd name="T4" fmla="*/ 23 w 24"/>
                <a:gd name="T5" fmla="*/ 0 h 28"/>
                <a:gd name="T6" fmla="*/ 0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0" y="27"/>
                  </a:moveTo>
                  <a:lnTo>
                    <a:pt x="0" y="27"/>
                  </a:lnTo>
                  <a:lnTo>
                    <a:pt x="23" y="0"/>
                  </a:lnTo>
                  <a:lnTo>
                    <a:pt x="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8" name="Line 7281"/>
            <p:cNvSpPr>
              <a:spLocks noChangeShapeType="1"/>
            </p:cNvSpPr>
            <p:nvPr/>
          </p:nvSpPr>
          <p:spPr bwMode="auto">
            <a:xfrm>
              <a:off x="2814" y="2661"/>
              <a:ext cx="20"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29" name="Freeform 7282"/>
            <p:cNvSpPr>
              <a:spLocks/>
            </p:cNvSpPr>
            <p:nvPr/>
          </p:nvSpPr>
          <p:spPr bwMode="auto">
            <a:xfrm>
              <a:off x="2814" y="2647"/>
              <a:ext cx="24" cy="28"/>
            </a:xfrm>
            <a:custGeom>
              <a:avLst/>
              <a:gdLst>
                <a:gd name="T0" fmla="*/ 23 w 24"/>
                <a:gd name="T1" fmla="*/ 27 h 28"/>
                <a:gd name="T2" fmla="*/ 11 w 24"/>
                <a:gd name="T3" fmla="*/ 0 h 28"/>
                <a:gd name="T4" fmla="*/ 0 w 24"/>
                <a:gd name="T5" fmla="*/ 27 h 28"/>
                <a:gd name="T6" fmla="*/ 23 w 24"/>
                <a:gd name="T7" fmla="*/ 27 h 28"/>
                <a:gd name="T8" fmla="*/ 0 60000 65536"/>
                <a:gd name="T9" fmla="*/ 0 60000 65536"/>
                <a:gd name="T10" fmla="*/ 0 60000 65536"/>
                <a:gd name="T11" fmla="*/ 0 60000 65536"/>
                <a:gd name="T12" fmla="*/ 0 w 24"/>
                <a:gd name="T13" fmla="*/ 0 h 28"/>
                <a:gd name="T14" fmla="*/ 24 w 24"/>
                <a:gd name="T15" fmla="*/ 28 h 28"/>
              </a:gdLst>
              <a:ahLst/>
              <a:cxnLst>
                <a:cxn ang="T8">
                  <a:pos x="T0" y="T1"/>
                </a:cxn>
                <a:cxn ang="T9">
                  <a:pos x="T2" y="T3"/>
                </a:cxn>
                <a:cxn ang="T10">
                  <a:pos x="T4" y="T5"/>
                </a:cxn>
                <a:cxn ang="T11">
                  <a:pos x="T6" y="T7"/>
                </a:cxn>
              </a:cxnLst>
              <a:rect l="T12" t="T13" r="T14" b="T15"/>
              <a:pathLst>
                <a:path w="24" h="28">
                  <a:moveTo>
                    <a:pt x="23" y="27"/>
                  </a:moveTo>
                  <a:lnTo>
                    <a:pt x="11" y="0"/>
                  </a:lnTo>
                  <a:lnTo>
                    <a:pt x="0" y="27"/>
                  </a:lnTo>
                  <a:lnTo>
                    <a:pt x="23"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0" name="Freeform 7283"/>
            <p:cNvSpPr>
              <a:spLocks/>
            </p:cNvSpPr>
            <p:nvPr/>
          </p:nvSpPr>
          <p:spPr bwMode="auto">
            <a:xfrm>
              <a:off x="2820" y="2647"/>
              <a:ext cx="25" cy="28"/>
            </a:xfrm>
            <a:custGeom>
              <a:avLst/>
              <a:gdLst>
                <a:gd name="T0" fmla="*/ 10 w 25"/>
                <a:gd name="T1" fmla="*/ 27 h 28"/>
                <a:gd name="T2" fmla="*/ 24 w 25"/>
                <a:gd name="T3" fmla="*/ 0 h 28"/>
                <a:gd name="T4" fmla="*/ 0 w 25"/>
                <a:gd name="T5" fmla="*/ 0 h 28"/>
                <a:gd name="T6" fmla="*/ 10 w 25"/>
                <a:gd name="T7" fmla="*/ 27 h 28"/>
                <a:gd name="T8" fmla="*/ 0 60000 65536"/>
                <a:gd name="T9" fmla="*/ 0 60000 65536"/>
                <a:gd name="T10" fmla="*/ 0 60000 65536"/>
                <a:gd name="T11" fmla="*/ 0 60000 65536"/>
                <a:gd name="T12" fmla="*/ 0 w 25"/>
                <a:gd name="T13" fmla="*/ 0 h 28"/>
                <a:gd name="T14" fmla="*/ 25 w 25"/>
                <a:gd name="T15" fmla="*/ 28 h 28"/>
              </a:gdLst>
              <a:ahLst/>
              <a:cxnLst>
                <a:cxn ang="T8">
                  <a:pos x="T0" y="T1"/>
                </a:cxn>
                <a:cxn ang="T9">
                  <a:pos x="T2" y="T3"/>
                </a:cxn>
                <a:cxn ang="T10">
                  <a:pos x="T4" y="T5"/>
                </a:cxn>
                <a:cxn ang="T11">
                  <a:pos x="T6" y="T7"/>
                </a:cxn>
              </a:cxnLst>
              <a:rect l="T12" t="T13" r="T14" b="T15"/>
              <a:pathLst>
                <a:path w="25" h="28">
                  <a:moveTo>
                    <a:pt x="10" y="27"/>
                  </a:moveTo>
                  <a:lnTo>
                    <a:pt x="24" y="0"/>
                  </a:lnTo>
                  <a:lnTo>
                    <a:pt x="0" y="0"/>
                  </a:lnTo>
                  <a:lnTo>
                    <a:pt x="10"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1" name="Freeform 7284"/>
            <p:cNvSpPr>
              <a:spLocks/>
            </p:cNvSpPr>
            <p:nvPr/>
          </p:nvSpPr>
          <p:spPr bwMode="auto">
            <a:xfrm>
              <a:off x="2823" y="2661"/>
              <a:ext cx="27" cy="1"/>
            </a:xfrm>
            <a:custGeom>
              <a:avLst/>
              <a:gdLst>
                <a:gd name="T0" fmla="*/ 0 w 27"/>
                <a:gd name="T1" fmla="*/ 0 h 1"/>
                <a:gd name="T2" fmla="*/ 0 w 27"/>
                <a:gd name="T3" fmla="*/ 0 h 1"/>
                <a:gd name="T4" fmla="*/ 26 w 27"/>
                <a:gd name="T5" fmla="*/ 0 h 1"/>
                <a:gd name="T6" fmla="*/ 0 w 27"/>
                <a:gd name="T7" fmla="*/ 0 h 1"/>
                <a:gd name="T8" fmla="*/ 0 60000 65536"/>
                <a:gd name="T9" fmla="*/ 0 60000 65536"/>
                <a:gd name="T10" fmla="*/ 0 60000 65536"/>
                <a:gd name="T11" fmla="*/ 0 60000 65536"/>
                <a:gd name="T12" fmla="*/ 0 w 27"/>
                <a:gd name="T13" fmla="*/ 0 h 1"/>
                <a:gd name="T14" fmla="*/ 27 w 27"/>
                <a:gd name="T15" fmla="*/ 1 h 1"/>
              </a:gdLst>
              <a:ahLst/>
              <a:cxnLst>
                <a:cxn ang="T8">
                  <a:pos x="T0" y="T1"/>
                </a:cxn>
                <a:cxn ang="T9">
                  <a:pos x="T2" y="T3"/>
                </a:cxn>
                <a:cxn ang="T10">
                  <a:pos x="T4" y="T5"/>
                </a:cxn>
                <a:cxn ang="T11">
                  <a:pos x="T6" y="T7"/>
                </a:cxn>
              </a:cxnLst>
              <a:rect l="T12" t="T13" r="T14" b="T15"/>
              <a:pathLst>
                <a:path w="27" h="1">
                  <a:moveTo>
                    <a:pt x="0" y="0"/>
                  </a:moveTo>
                  <a:lnTo>
                    <a:pt x="0" y="0"/>
                  </a:lnTo>
                  <a:lnTo>
                    <a:pt x="26" y="0"/>
                  </a:lnTo>
                  <a:lnTo>
                    <a:pt x="0" y="0"/>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2" name="Line 7285"/>
            <p:cNvSpPr>
              <a:spLocks noChangeShapeType="1"/>
            </p:cNvSpPr>
            <p:nvPr/>
          </p:nvSpPr>
          <p:spPr bwMode="auto">
            <a:xfrm>
              <a:off x="2823" y="2661"/>
              <a:ext cx="26" cy="0"/>
            </a:xfrm>
            <a:prstGeom prst="line">
              <a:avLst/>
            </a:prstGeom>
            <a:noFill/>
            <a:ln w="9525">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3" name="Freeform 7286"/>
            <p:cNvSpPr>
              <a:spLocks/>
            </p:cNvSpPr>
            <p:nvPr/>
          </p:nvSpPr>
          <p:spPr bwMode="auto">
            <a:xfrm>
              <a:off x="2823" y="2647"/>
              <a:ext cx="27" cy="28"/>
            </a:xfrm>
            <a:custGeom>
              <a:avLst/>
              <a:gdLst>
                <a:gd name="T0" fmla="*/ 26 w 27"/>
                <a:gd name="T1" fmla="*/ 27 h 28"/>
                <a:gd name="T2" fmla="*/ 0 w 27"/>
                <a:gd name="T3" fmla="*/ 0 h 28"/>
                <a:gd name="T4" fmla="*/ 0 w 27"/>
                <a:gd name="T5" fmla="*/ 18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0" y="0"/>
                  </a:lnTo>
                  <a:lnTo>
                    <a:pt x="0" y="18"/>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34" name="Freeform 7287"/>
            <p:cNvSpPr>
              <a:spLocks/>
            </p:cNvSpPr>
            <p:nvPr/>
          </p:nvSpPr>
          <p:spPr bwMode="auto">
            <a:xfrm>
              <a:off x="2823" y="2647"/>
              <a:ext cx="27" cy="28"/>
            </a:xfrm>
            <a:custGeom>
              <a:avLst/>
              <a:gdLst>
                <a:gd name="T0" fmla="*/ 26 w 27"/>
                <a:gd name="T1" fmla="*/ 27 h 28"/>
                <a:gd name="T2" fmla="*/ 26 w 27"/>
                <a:gd name="T3" fmla="*/ 8 h 28"/>
                <a:gd name="T4" fmla="*/ 0 w 27"/>
                <a:gd name="T5" fmla="*/ 0 h 28"/>
                <a:gd name="T6" fmla="*/ 26 w 27"/>
                <a:gd name="T7" fmla="*/ 27 h 28"/>
                <a:gd name="T8" fmla="*/ 0 60000 65536"/>
                <a:gd name="T9" fmla="*/ 0 60000 65536"/>
                <a:gd name="T10" fmla="*/ 0 60000 65536"/>
                <a:gd name="T11" fmla="*/ 0 60000 65536"/>
                <a:gd name="T12" fmla="*/ 0 w 27"/>
                <a:gd name="T13" fmla="*/ 0 h 28"/>
                <a:gd name="T14" fmla="*/ 27 w 27"/>
                <a:gd name="T15" fmla="*/ 28 h 28"/>
              </a:gdLst>
              <a:ahLst/>
              <a:cxnLst>
                <a:cxn ang="T8">
                  <a:pos x="T0" y="T1"/>
                </a:cxn>
                <a:cxn ang="T9">
                  <a:pos x="T2" y="T3"/>
                </a:cxn>
                <a:cxn ang="T10">
                  <a:pos x="T4" y="T5"/>
                </a:cxn>
                <a:cxn ang="T11">
                  <a:pos x="T6" y="T7"/>
                </a:cxn>
              </a:cxnLst>
              <a:rect l="T12" t="T13" r="T14" b="T15"/>
              <a:pathLst>
                <a:path w="27" h="28">
                  <a:moveTo>
                    <a:pt x="26" y="27"/>
                  </a:moveTo>
                  <a:lnTo>
                    <a:pt x="26" y="8"/>
                  </a:lnTo>
                  <a:lnTo>
                    <a:pt x="0" y="0"/>
                  </a:lnTo>
                  <a:lnTo>
                    <a:pt x="26" y="27"/>
                  </a:lnTo>
                </a:path>
              </a:pathLst>
            </a:custGeom>
            <a:solidFill>
              <a:srgbClr val="0000FF"/>
            </a:solidFill>
            <a:ln w="9525" cap="rnd">
              <a:solidFill>
                <a:schemeClr val="tx2"/>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grpSp>
      <p:sp>
        <p:nvSpPr>
          <p:cNvPr id="16406" name="Freeform 7288"/>
          <p:cNvSpPr>
            <a:spLocks/>
          </p:cNvSpPr>
          <p:nvPr/>
        </p:nvSpPr>
        <p:spPr bwMode="auto">
          <a:xfrm>
            <a:off x="6719888" y="4837940"/>
            <a:ext cx="2073275" cy="1644650"/>
          </a:xfrm>
          <a:custGeom>
            <a:avLst/>
            <a:gdLst>
              <a:gd name="T0" fmla="*/ 2147483647 w 576"/>
              <a:gd name="T1" fmla="*/ 2147483647 h 864"/>
              <a:gd name="T2" fmla="*/ 2147483647 w 576"/>
              <a:gd name="T3" fmla="*/ 0 h 864"/>
              <a:gd name="T4" fmla="*/ 0 w 576"/>
              <a:gd name="T5" fmla="*/ 0 h 864"/>
              <a:gd name="T6" fmla="*/ 0 60000 65536"/>
              <a:gd name="T7" fmla="*/ 0 60000 65536"/>
              <a:gd name="T8" fmla="*/ 0 60000 65536"/>
              <a:gd name="T9" fmla="*/ 0 w 576"/>
              <a:gd name="T10" fmla="*/ 0 h 864"/>
              <a:gd name="T11" fmla="*/ 576 w 576"/>
              <a:gd name="T12" fmla="*/ 864 h 864"/>
            </a:gdLst>
            <a:ahLst/>
            <a:cxnLst>
              <a:cxn ang="T6">
                <a:pos x="T0" y="T1"/>
              </a:cxn>
              <a:cxn ang="T7">
                <a:pos x="T2" y="T3"/>
              </a:cxn>
              <a:cxn ang="T8">
                <a:pos x="T4" y="T5"/>
              </a:cxn>
            </a:cxnLst>
            <a:rect l="T9" t="T10" r="T11" b="T12"/>
            <a:pathLst>
              <a:path w="576" h="864">
                <a:moveTo>
                  <a:pt x="576" y="864"/>
                </a:moveTo>
                <a:lnTo>
                  <a:pt x="576" y="0"/>
                </a:lnTo>
                <a:lnTo>
                  <a:pt x="0" y="0"/>
                </a:lnTo>
              </a:path>
            </a:pathLst>
          </a:cu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07" name="Freeform 7289"/>
          <p:cNvSpPr>
            <a:spLocks/>
          </p:cNvSpPr>
          <p:nvPr/>
        </p:nvSpPr>
        <p:spPr bwMode="auto">
          <a:xfrm>
            <a:off x="6719888" y="5179253"/>
            <a:ext cx="1211262" cy="1303337"/>
          </a:xfrm>
          <a:custGeom>
            <a:avLst/>
            <a:gdLst>
              <a:gd name="T0" fmla="*/ 2147483647 w 576"/>
              <a:gd name="T1" fmla="*/ 2147483647 h 864"/>
              <a:gd name="T2" fmla="*/ 2147483647 w 576"/>
              <a:gd name="T3" fmla="*/ 0 h 864"/>
              <a:gd name="T4" fmla="*/ 0 w 576"/>
              <a:gd name="T5" fmla="*/ 0 h 864"/>
              <a:gd name="T6" fmla="*/ 0 60000 65536"/>
              <a:gd name="T7" fmla="*/ 0 60000 65536"/>
              <a:gd name="T8" fmla="*/ 0 60000 65536"/>
              <a:gd name="T9" fmla="*/ 0 w 576"/>
              <a:gd name="T10" fmla="*/ 0 h 864"/>
              <a:gd name="T11" fmla="*/ 576 w 576"/>
              <a:gd name="T12" fmla="*/ 864 h 864"/>
            </a:gdLst>
            <a:ahLst/>
            <a:cxnLst>
              <a:cxn ang="T6">
                <a:pos x="T0" y="T1"/>
              </a:cxn>
              <a:cxn ang="T7">
                <a:pos x="T2" y="T3"/>
              </a:cxn>
              <a:cxn ang="T8">
                <a:pos x="T4" y="T5"/>
              </a:cxn>
            </a:cxnLst>
            <a:rect l="T9" t="T10" r="T11" b="T12"/>
            <a:pathLst>
              <a:path w="576" h="864">
                <a:moveTo>
                  <a:pt x="576" y="864"/>
                </a:moveTo>
                <a:lnTo>
                  <a:pt x="576" y="0"/>
                </a:lnTo>
                <a:lnTo>
                  <a:pt x="0" y="0"/>
                </a:lnTo>
              </a:path>
            </a:pathLst>
          </a:cu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08" name="Text Box 7290"/>
          <p:cNvSpPr txBox="1">
            <a:spLocks noChangeArrowheads="1"/>
          </p:cNvSpPr>
          <p:nvPr/>
        </p:nvSpPr>
        <p:spPr bwMode="auto">
          <a:xfrm>
            <a:off x="9142413" y="3575878"/>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X</a:t>
            </a:r>
          </a:p>
        </p:txBody>
      </p:sp>
      <p:sp>
        <p:nvSpPr>
          <p:cNvPr id="16409" name="Text Box 7291"/>
          <p:cNvSpPr txBox="1">
            <a:spLocks noChangeArrowheads="1"/>
          </p:cNvSpPr>
          <p:nvPr/>
        </p:nvSpPr>
        <p:spPr bwMode="auto">
          <a:xfrm>
            <a:off x="9056688" y="6300028"/>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X</a:t>
            </a:r>
          </a:p>
        </p:txBody>
      </p:sp>
      <p:sp>
        <p:nvSpPr>
          <p:cNvPr id="16410" name="Text Box 7292"/>
          <p:cNvSpPr txBox="1">
            <a:spLocks noChangeArrowheads="1"/>
          </p:cNvSpPr>
          <p:nvPr/>
        </p:nvSpPr>
        <p:spPr bwMode="auto">
          <a:xfrm rot="10800000" flipV="1">
            <a:off x="6546642" y="1683856"/>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Y</a:t>
            </a:r>
          </a:p>
        </p:txBody>
      </p:sp>
      <p:sp>
        <p:nvSpPr>
          <p:cNvPr id="16411" name="Text Box 7293"/>
          <p:cNvSpPr txBox="1">
            <a:spLocks noChangeArrowheads="1"/>
          </p:cNvSpPr>
          <p:nvPr/>
        </p:nvSpPr>
        <p:spPr bwMode="auto">
          <a:xfrm rot="10800000" flipV="1">
            <a:off x="6491080" y="4436581"/>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Y</a:t>
            </a:r>
          </a:p>
        </p:txBody>
      </p:sp>
      <p:sp>
        <p:nvSpPr>
          <p:cNvPr id="16412" name="Text Box 7294"/>
          <p:cNvSpPr txBox="1">
            <a:spLocks noChangeArrowheads="1"/>
          </p:cNvSpPr>
          <p:nvPr/>
        </p:nvSpPr>
        <p:spPr bwMode="auto">
          <a:xfrm>
            <a:off x="6586043" y="4075187"/>
            <a:ext cx="260609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pitchFamily="34" charset="0"/>
              <a:buChar char="•"/>
            </a:pPr>
            <a:r>
              <a:rPr lang="en-US" altLang="ko-KR" sz="1200" dirty="0">
                <a:latin typeface="Arial" pitchFamily="34" charset="0"/>
                <a:ea typeface="맑은 고딕" panose="020B0503020000020004" pitchFamily="50" charset="-127"/>
                <a:cs typeface="Arial" pitchFamily="34" charset="0"/>
              </a:rPr>
              <a:t> </a:t>
            </a:r>
            <a:r>
              <a:rPr lang="vi-VN" sz="1200" dirty="0">
                <a:latin typeface="Arial" pitchFamily="34" charset="0"/>
                <a:cs typeface="Arial" pitchFamily="34" charset="0"/>
              </a:rPr>
              <a:t>Tăng cường khả năng xử lý của Y</a:t>
            </a:r>
            <a:br>
              <a:rPr lang="vi-VN" sz="1200" dirty="0">
                <a:latin typeface="Arial" pitchFamily="34" charset="0"/>
                <a:cs typeface="Arial" pitchFamily="34" charset="0"/>
              </a:rPr>
            </a:br>
            <a:r>
              <a:rPr lang="vi-VN" sz="1200" dirty="0">
                <a:latin typeface="Arial" pitchFamily="34" charset="0"/>
                <a:cs typeface="Arial" pitchFamily="34" charset="0"/>
              </a:rPr>
              <a:t>   thông qua sự thay đổi đối với X</a:t>
            </a:r>
            <a:endParaRPr lang="ko-KR" altLang="en-US" sz="1200" dirty="0">
              <a:latin typeface="Arial" pitchFamily="34" charset="0"/>
              <a:ea typeface="맑은 고딕" panose="020B0503020000020004" pitchFamily="50" charset="-127"/>
              <a:cs typeface="Arial" pitchFamily="34" charset="0"/>
            </a:endParaRPr>
          </a:p>
        </p:txBody>
      </p:sp>
      <p:sp>
        <p:nvSpPr>
          <p:cNvPr id="16413" name="Freeform 4"/>
          <p:cNvSpPr>
            <a:spLocks/>
          </p:cNvSpPr>
          <p:nvPr/>
        </p:nvSpPr>
        <p:spPr bwMode="auto">
          <a:xfrm>
            <a:off x="1784350" y="2276475"/>
            <a:ext cx="2260600" cy="2663825"/>
          </a:xfrm>
          <a:custGeom>
            <a:avLst/>
            <a:gdLst>
              <a:gd name="T0" fmla="*/ 2147483647 w 1315"/>
              <a:gd name="T1" fmla="*/ 2147483647 h 1678"/>
              <a:gd name="T2" fmla="*/ 2147483647 w 1315"/>
              <a:gd name="T3" fmla="*/ 2147483647 h 1678"/>
              <a:gd name="T4" fmla="*/ 0 w 1315"/>
              <a:gd name="T5" fmla="*/ 2147483647 h 1678"/>
              <a:gd name="T6" fmla="*/ 0 w 1315"/>
              <a:gd name="T7" fmla="*/ 0 h 1678"/>
              <a:gd name="T8" fmla="*/ 2147483647 w 1315"/>
              <a:gd name="T9" fmla="*/ 0 h 1678"/>
              <a:gd name="T10" fmla="*/ 2147483647 w 1315"/>
              <a:gd name="T11" fmla="*/ 2147483647 h 1678"/>
              <a:gd name="T12" fmla="*/ 2147483647 w 1315"/>
              <a:gd name="T13" fmla="*/ 2147483647 h 1678"/>
              <a:gd name="T14" fmla="*/ 0 60000 65536"/>
              <a:gd name="T15" fmla="*/ 0 60000 65536"/>
              <a:gd name="T16" fmla="*/ 0 60000 65536"/>
              <a:gd name="T17" fmla="*/ 0 60000 65536"/>
              <a:gd name="T18" fmla="*/ 0 60000 65536"/>
              <a:gd name="T19" fmla="*/ 0 60000 65536"/>
              <a:gd name="T20" fmla="*/ 0 60000 65536"/>
              <a:gd name="T21" fmla="*/ 0 w 1315"/>
              <a:gd name="T22" fmla="*/ 0 h 1678"/>
              <a:gd name="T23" fmla="*/ 1315 w 1315"/>
              <a:gd name="T24" fmla="*/ 1678 h 16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5" h="1678">
                <a:moveTo>
                  <a:pt x="453" y="1678"/>
                </a:moveTo>
                <a:lnTo>
                  <a:pt x="453" y="1224"/>
                </a:lnTo>
                <a:lnTo>
                  <a:pt x="0" y="1224"/>
                </a:lnTo>
                <a:lnTo>
                  <a:pt x="0" y="0"/>
                </a:lnTo>
                <a:lnTo>
                  <a:pt x="1315" y="0"/>
                </a:lnTo>
                <a:lnTo>
                  <a:pt x="1315" y="1678"/>
                </a:lnTo>
                <a:lnTo>
                  <a:pt x="453" y="1678"/>
                </a:lnTo>
                <a:close/>
              </a:path>
            </a:pathLst>
          </a:custGeom>
          <a:solidFill>
            <a:srgbClr val="FFFF66"/>
          </a:solidFill>
          <a:ln w="3175" cap="flat" cmpd="sng">
            <a:solidFill>
              <a:schemeClr val="tx1"/>
            </a:solidFill>
            <a:prstDash val="solid"/>
            <a:round/>
            <a:headEnd/>
            <a:tailEnd/>
          </a:ln>
        </p:spPr>
        <p:txBody>
          <a:bodyPr wrap="none" lIns="90000" tIns="46800" rIns="90000" bIns="46800" anchor="ctr"/>
          <a:lstStyle/>
          <a:p>
            <a:endParaRPr lang="ko-KR" altLang="en-US">
              <a:latin typeface="Arial" pitchFamily="34" charset="0"/>
              <a:ea typeface="맑은 고딕" panose="020B0503020000020004" pitchFamily="50" charset="-127"/>
              <a:cs typeface="Arial" pitchFamily="34" charset="0"/>
            </a:endParaRPr>
          </a:p>
        </p:txBody>
      </p:sp>
      <p:sp>
        <p:nvSpPr>
          <p:cNvPr id="16414" name="Freeform 13"/>
          <p:cNvSpPr>
            <a:spLocks/>
          </p:cNvSpPr>
          <p:nvPr/>
        </p:nvSpPr>
        <p:spPr bwMode="auto">
          <a:xfrm>
            <a:off x="1784350" y="1670050"/>
            <a:ext cx="2962275" cy="3270250"/>
          </a:xfrm>
          <a:custGeom>
            <a:avLst/>
            <a:gdLst>
              <a:gd name="T0" fmla="*/ 0 w 2540"/>
              <a:gd name="T1" fmla="*/ 0 h 1996"/>
              <a:gd name="T2" fmla="*/ 0 w 2540"/>
              <a:gd name="T3" fmla="*/ 2147483647 h 1996"/>
              <a:gd name="T4" fmla="*/ 2147483647 w 2540"/>
              <a:gd name="T5" fmla="*/ 2147483647 h 1996"/>
              <a:gd name="T6" fmla="*/ 0 60000 65536"/>
              <a:gd name="T7" fmla="*/ 0 60000 65536"/>
              <a:gd name="T8" fmla="*/ 0 60000 65536"/>
              <a:gd name="T9" fmla="*/ 0 w 2540"/>
              <a:gd name="T10" fmla="*/ 0 h 1996"/>
              <a:gd name="T11" fmla="*/ 2540 w 2540"/>
              <a:gd name="T12" fmla="*/ 1996 h 1996"/>
            </a:gdLst>
            <a:ahLst/>
            <a:cxnLst>
              <a:cxn ang="T6">
                <a:pos x="T0" y="T1"/>
              </a:cxn>
              <a:cxn ang="T7">
                <a:pos x="T2" y="T3"/>
              </a:cxn>
              <a:cxn ang="T8">
                <a:pos x="T4" y="T5"/>
              </a:cxn>
            </a:cxnLst>
            <a:rect l="T9" t="T10" r="T11" b="T12"/>
            <a:pathLst>
              <a:path w="2540" h="1996">
                <a:moveTo>
                  <a:pt x="0" y="0"/>
                </a:moveTo>
                <a:lnTo>
                  <a:pt x="0" y="1996"/>
                </a:lnTo>
                <a:lnTo>
                  <a:pt x="2540" y="1996"/>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6415" name="Text Box 14"/>
          <p:cNvSpPr txBox="1">
            <a:spLocks noChangeArrowheads="1"/>
          </p:cNvSpPr>
          <p:nvPr/>
        </p:nvSpPr>
        <p:spPr bwMode="auto">
          <a:xfrm>
            <a:off x="1622425" y="1558925"/>
            <a:ext cx="320922" cy="338554"/>
          </a:xfrm>
          <a:prstGeom prst="rect">
            <a:avLst/>
          </a:prstGeom>
          <a:solidFill>
            <a:schemeClr val="bg1"/>
          </a:solidFill>
          <a:ln w="9525" algn="ctr">
            <a:solidFill>
              <a:schemeClr val="tx2"/>
            </a:solidFill>
            <a:miter lim="800000"/>
            <a:headEnd/>
            <a:tailEnd/>
          </a:ln>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a:latin typeface="Arial" pitchFamily="34" charset="0"/>
                <a:ea typeface="맑은 고딕" panose="020B0503020000020004" pitchFamily="50" charset="-127"/>
                <a:cs typeface="Arial" pitchFamily="34" charset="0"/>
              </a:rPr>
              <a:t>Y</a:t>
            </a:r>
          </a:p>
        </p:txBody>
      </p:sp>
      <p:sp>
        <p:nvSpPr>
          <p:cNvPr id="16416" name="Text Box 15"/>
          <p:cNvSpPr txBox="1">
            <a:spLocks noChangeArrowheads="1"/>
          </p:cNvSpPr>
          <p:nvPr/>
        </p:nvSpPr>
        <p:spPr bwMode="auto">
          <a:xfrm>
            <a:off x="4521200" y="4727575"/>
            <a:ext cx="319318" cy="338554"/>
          </a:xfrm>
          <a:prstGeom prst="rect">
            <a:avLst/>
          </a:prstGeom>
          <a:solidFill>
            <a:schemeClr val="bg1"/>
          </a:solidFill>
          <a:ln w="9525">
            <a:solidFill>
              <a:schemeClr val="tx2"/>
            </a:solidFill>
            <a:miter lim="800000"/>
            <a:headEnd/>
            <a:tailEnd/>
          </a:ln>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a:latin typeface="Arial" pitchFamily="34" charset="0"/>
                <a:ea typeface="맑은 고딕" panose="020B0503020000020004" pitchFamily="50" charset="-127"/>
                <a:cs typeface="Arial" pitchFamily="34" charset="0"/>
              </a:rPr>
              <a:t>X</a:t>
            </a:r>
          </a:p>
        </p:txBody>
      </p:sp>
      <p:sp>
        <p:nvSpPr>
          <p:cNvPr id="16417" name="Text Box 16"/>
          <p:cNvSpPr txBox="1">
            <a:spLocks noChangeArrowheads="1"/>
          </p:cNvSpPr>
          <p:nvPr/>
        </p:nvSpPr>
        <p:spPr bwMode="auto">
          <a:xfrm>
            <a:off x="3343275" y="1558925"/>
            <a:ext cx="10823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a:latin typeface="Arial" pitchFamily="34" charset="0"/>
                <a:ea typeface="맑은 고딕" panose="020B0503020000020004" pitchFamily="50" charset="-127"/>
                <a:cs typeface="Arial" pitchFamily="34" charset="0"/>
              </a:rPr>
              <a:t>Process</a:t>
            </a:r>
          </a:p>
        </p:txBody>
      </p:sp>
      <p:sp>
        <p:nvSpPr>
          <p:cNvPr id="16418" name="Text Box 17"/>
          <p:cNvSpPr txBox="1">
            <a:spLocks noChangeArrowheads="1"/>
          </p:cNvSpPr>
          <p:nvPr/>
        </p:nvSpPr>
        <p:spPr bwMode="auto">
          <a:xfrm>
            <a:off x="2374900" y="4881563"/>
            <a:ext cx="315913"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5</a:t>
            </a:r>
          </a:p>
        </p:txBody>
      </p:sp>
      <p:sp>
        <p:nvSpPr>
          <p:cNvPr id="16419" name="Text Box 18"/>
          <p:cNvSpPr txBox="1">
            <a:spLocks noChangeArrowheads="1"/>
          </p:cNvSpPr>
          <p:nvPr/>
        </p:nvSpPr>
        <p:spPr bwMode="auto">
          <a:xfrm>
            <a:off x="3822700" y="4881563"/>
            <a:ext cx="315913"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8</a:t>
            </a:r>
          </a:p>
        </p:txBody>
      </p:sp>
      <p:sp>
        <p:nvSpPr>
          <p:cNvPr id="16420" name="Text Box 19"/>
          <p:cNvSpPr txBox="1">
            <a:spLocks noChangeArrowheads="1"/>
          </p:cNvSpPr>
          <p:nvPr/>
        </p:nvSpPr>
        <p:spPr bwMode="auto">
          <a:xfrm>
            <a:off x="1393825" y="4089400"/>
            <a:ext cx="45085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50</a:t>
            </a:r>
          </a:p>
        </p:txBody>
      </p:sp>
      <p:sp>
        <p:nvSpPr>
          <p:cNvPr id="16421" name="Text Box 20"/>
          <p:cNvSpPr txBox="1">
            <a:spLocks noChangeArrowheads="1"/>
          </p:cNvSpPr>
          <p:nvPr/>
        </p:nvSpPr>
        <p:spPr bwMode="auto">
          <a:xfrm>
            <a:off x="1236663" y="2144713"/>
            <a:ext cx="45085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80</a:t>
            </a:r>
          </a:p>
        </p:txBody>
      </p:sp>
      <p:sp>
        <p:nvSpPr>
          <p:cNvPr id="16422" name="Line 21"/>
          <p:cNvSpPr>
            <a:spLocks noChangeShapeType="1"/>
          </p:cNvSpPr>
          <p:nvPr/>
        </p:nvSpPr>
        <p:spPr bwMode="auto">
          <a:xfrm>
            <a:off x="1547813" y="2863850"/>
            <a:ext cx="703262"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ko-KR" altLang="en-US">
              <a:latin typeface="Arial" pitchFamily="34" charset="0"/>
              <a:ea typeface="맑은 고딕" panose="020B0503020000020004" pitchFamily="50" charset="-127"/>
              <a:cs typeface="Arial" pitchFamily="34" charset="0"/>
            </a:endParaRPr>
          </a:p>
        </p:txBody>
      </p:sp>
      <p:sp>
        <p:nvSpPr>
          <p:cNvPr id="16423" name="Text Box 22"/>
          <p:cNvSpPr txBox="1">
            <a:spLocks noChangeArrowheads="1"/>
          </p:cNvSpPr>
          <p:nvPr/>
        </p:nvSpPr>
        <p:spPr bwMode="auto">
          <a:xfrm>
            <a:off x="222250" y="2582863"/>
            <a:ext cx="1451336" cy="279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a:latin typeface="Arial" pitchFamily="34" charset="0"/>
                <a:ea typeface="맑은 고딕" panose="020B0503020000020004" pitchFamily="50" charset="-127"/>
                <a:cs typeface="Arial" pitchFamily="34" charset="0"/>
              </a:rPr>
              <a:t>Upper Spec. limit</a:t>
            </a:r>
          </a:p>
        </p:txBody>
      </p:sp>
      <p:sp>
        <p:nvSpPr>
          <p:cNvPr id="16424" name="Line 23"/>
          <p:cNvSpPr>
            <a:spLocks noChangeShapeType="1"/>
          </p:cNvSpPr>
          <p:nvPr/>
        </p:nvSpPr>
        <p:spPr bwMode="auto">
          <a:xfrm>
            <a:off x="1547813" y="3644900"/>
            <a:ext cx="703262"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ko-KR" altLang="en-US">
              <a:latin typeface="Arial" pitchFamily="34" charset="0"/>
              <a:ea typeface="맑은 고딕" panose="020B0503020000020004" pitchFamily="50" charset="-127"/>
              <a:cs typeface="Arial" pitchFamily="34" charset="0"/>
            </a:endParaRPr>
          </a:p>
        </p:txBody>
      </p:sp>
      <p:sp>
        <p:nvSpPr>
          <p:cNvPr id="16425" name="Text Box 24"/>
          <p:cNvSpPr txBox="1">
            <a:spLocks noChangeArrowheads="1"/>
          </p:cNvSpPr>
          <p:nvPr/>
        </p:nvSpPr>
        <p:spPr bwMode="auto">
          <a:xfrm>
            <a:off x="222250" y="3663950"/>
            <a:ext cx="1440949" cy="279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a:latin typeface="Arial" pitchFamily="34" charset="0"/>
                <a:ea typeface="맑은 고딕" panose="020B0503020000020004" pitchFamily="50" charset="-127"/>
                <a:cs typeface="Arial" pitchFamily="34" charset="0"/>
              </a:rPr>
              <a:t>Lower Spec. limit</a:t>
            </a:r>
          </a:p>
        </p:txBody>
      </p:sp>
      <p:sp>
        <p:nvSpPr>
          <p:cNvPr id="16426" name="Rectangle 25" descr="수평 상향 대각선"/>
          <p:cNvSpPr>
            <a:spLocks noChangeArrowheads="1"/>
          </p:cNvSpPr>
          <p:nvPr/>
        </p:nvSpPr>
        <p:spPr bwMode="auto">
          <a:xfrm>
            <a:off x="1814513" y="2295525"/>
            <a:ext cx="749300" cy="447675"/>
          </a:xfrm>
          <a:prstGeom prst="rect">
            <a:avLst/>
          </a:prstGeom>
          <a:pattFill prst="dashUpDiag">
            <a:fgClr>
              <a:srgbClr val="FF3300"/>
            </a:fgClr>
            <a:bgClr>
              <a:schemeClr val="bg1"/>
            </a:bgClr>
          </a:patt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ea typeface="맑은 고딕" panose="020B0503020000020004" pitchFamily="50" charset="-127"/>
              <a:cs typeface="Arial" pitchFamily="34" charset="0"/>
            </a:endParaRPr>
          </a:p>
        </p:txBody>
      </p:sp>
      <p:sp>
        <p:nvSpPr>
          <p:cNvPr id="16427" name="Rectangle 26" descr="수평 상향 대각선"/>
          <p:cNvSpPr>
            <a:spLocks noChangeArrowheads="1"/>
          </p:cNvSpPr>
          <p:nvPr/>
        </p:nvSpPr>
        <p:spPr bwMode="auto">
          <a:xfrm>
            <a:off x="1814513" y="3663950"/>
            <a:ext cx="671512" cy="515938"/>
          </a:xfrm>
          <a:prstGeom prst="rect">
            <a:avLst/>
          </a:prstGeom>
          <a:pattFill prst="dashUpDiag">
            <a:fgClr>
              <a:srgbClr val="FF3300"/>
            </a:fgClr>
            <a:bgClr>
              <a:schemeClr val="bg1"/>
            </a:bgClr>
          </a:patt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ea typeface="맑은 고딕" panose="020B0503020000020004" pitchFamily="50" charset="-127"/>
              <a:cs typeface="Arial" pitchFamily="34" charset="0"/>
            </a:endParaRPr>
          </a:p>
        </p:txBody>
      </p:sp>
      <p:sp>
        <p:nvSpPr>
          <p:cNvPr id="16428" name="Text Box 27"/>
          <p:cNvSpPr txBox="1">
            <a:spLocks noChangeArrowheads="1"/>
          </p:cNvSpPr>
          <p:nvPr/>
        </p:nvSpPr>
        <p:spPr bwMode="auto">
          <a:xfrm>
            <a:off x="1704975" y="2338388"/>
            <a:ext cx="739603" cy="309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a:solidFill>
                  <a:srgbClr val="FF3300"/>
                </a:solidFill>
                <a:latin typeface="Arial" pitchFamily="34" charset="0"/>
                <a:ea typeface="맑은 고딕" panose="020B0503020000020004" pitchFamily="50" charset="-127"/>
                <a:cs typeface="Arial" pitchFamily="34" charset="0"/>
              </a:rPr>
              <a:t>Defect</a:t>
            </a:r>
          </a:p>
        </p:txBody>
      </p:sp>
      <p:sp>
        <p:nvSpPr>
          <p:cNvPr id="16429" name="Text Box 28"/>
          <p:cNvSpPr txBox="1">
            <a:spLocks noChangeArrowheads="1"/>
          </p:cNvSpPr>
          <p:nvPr/>
        </p:nvSpPr>
        <p:spPr bwMode="auto">
          <a:xfrm>
            <a:off x="1704975" y="3795713"/>
            <a:ext cx="739603" cy="309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a:solidFill>
                  <a:srgbClr val="FF3300"/>
                </a:solidFill>
                <a:latin typeface="Arial" pitchFamily="34" charset="0"/>
                <a:ea typeface="맑은 고딕" panose="020B0503020000020004" pitchFamily="50" charset="-127"/>
                <a:cs typeface="Arial" pitchFamily="34" charset="0"/>
              </a:rPr>
              <a:t>Defect</a:t>
            </a:r>
          </a:p>
        </p:txBody>
      </p:sp>
      <p:sp>
        <p:nvSpPr>
          <p:cNvPr id="16430" name="Text Box 29"/>
          <p:cNvSpPr txBox="1">
            <a:spLocks noChangeArrowheads="1"/>
          </p:cNvSpPr>
          <p:nvPr/>
        </p:nvSpPr>
        <p:spPr bwMode="auto">
          <a:xfrm>
            <a:off x="1135063" y="2705100"/>
            <a:ext cx="45085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70</a:t>
            </a:r>
          </a:p>
        </p:txBody>
      </p:sp>
      <p:sp>
        <p:nvSpPr>
          <p:cNvPr id="16431" name="Text Box 30"/>
          <p:cNvSpPr txBox="1">
            <a:spLocks noChangeArrowheads="1"/>
          </p:cNvSpPr>
          <p:nvPr/>
        </p:nvSpPr>
        <p:spPr bwMode="auto">
          <a:xfrm>
            <a:off x="1135063" y="3368675"/>
            <a:ext cx="45085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60</a:t>
            </a:r>
          </a:p>
        </p:txBody>
      </p:sp>
      <p:sp>
        <p:nvSpPr>
          <p:cNvPr id="16432" name="Freeform 31"/>
          <p:cNvSpPr>
            <a:spLocks/>
          </p:cNvSpPr>
          <p:nvPr/>
        </p:nvSpPr>
        <p:spPr bwMode="auto">
          <a:xfrm>
            <a:off x="1784350" y="2852738"/>
            <a:ext cx="1793875" cy="2087562"/>
          </a:xfrm>
          <a:custGeom>
            <a:avLst/>
            <a:gdLst>
              <a:gd name="T0" fmla="*/ 0 w 1043"/>
              <a:gd name="T1" fmla="*/ 0 h 1315"/>
              <a:gd name="T2" fmla="*/ 2147483647 w 1043"/>
              <a:gd name="T3" fmla="*/ 0 h 1315"/>
              <a:gd name="T4" fmla="*/ 2147483647 w 1043"/>
              <a:gd name="T5" fmla="*/ 2147483647 h 1315"/>
              <a:gd name="T6" fmla="*/ 2147483647 w 1043"/>
              <a:gd name="T7" fmla="*/ 2147483647 h 1315"/>
              <a:gd name="T8" fmla="*/ 2147483647 w 1043"/>
              <a:gd name="T9" fmla="*/ 2147483647 h 1315"/>
              <a:gd name="T10" fmla="*/ 0 w 1043"/>
              <a:gd name="T11" fmla="*/ 2147483647 h 1315"/>
              <a:gd name="T12" fmla="*/ 0 w 1043"/>
              <a:gd name="T13" fmla="*/ 0 h 1315"/>
              <a:gd name="T14" fmla="*/ 0 60000 65536"/>
              <a:gd name="T15" fmla="*/ 0 60000 65536"/>
              <a:gd name="T16" fmla="*/ 0 60000 65536"/>
              <a:gd name="T17" fmla="*/ 0 60000 65536"/>
              <a:gd name="T18" fmla="*/ 0 60000 65536"/>
              <a:gd name="T19" fmla="*/ 0 60000 65536"/>
              <a:gd name="T20" fmla="*/ 0 60000 65536"/>
              <a:gd name="T21" fmla="*/ 0 w 1043"/>
              <a:gd name="T22" fmla="*/ 0 h 1315"/>
              <a:gd name="T23" fmla="*/ 1043 w 1043"/>
              <a:gd name="T24" fmla="*/ 1315 h 13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3" h="1315">
                <a:moveTo>
                  <a:pt x="0" y="0"/>
                </a:moveTo>
                <a:lnTo>
                  <a:pt x="1043" y="0"/>
                </a:lnTo>
                <a:lnTo>
                  <a:pt x="1043" y="1315"/>
                </a:lnTo>
                <a:lnTo>
                  <a:pt x="725" y="1315"/>
                </a:lnTo>
                <a:lnTo>
                  <a:pt x="725" y="499"/>
                </a:lnTo>
                <a:lnTo>
                  <a:pt x="0" y="499"/>
                </a:lnTo>
                <a:lnTo>
                  <a:pt x="0" y="0"/>
                </a:lnTo>
                <a:close/>
              </a:path>
            </a:pathLst>
          </a:custGeom>
          <a:solidFill>
            <a:srgbClr val="FF00FF">
              <a:alpha val="50195"/>
            </a:srgbClr>
          </a:solidFill>
          <a:ln w="12700" cap="flat" cmpd="sng">
            <a:solidFill>
              <a:srgbClr val="FF00FF"/>
            </a:solidFill>
            <a:prstDash val="solid"/>
            <a:round/>
            <a:headEnd/>
            <a:tailEnd/>
          </a:ln>
        </p:spPr>
        <p:txBody>
          <a:bodyPr wrap="none" lIns="90000" tIns="46800" rIns="90000" bIns="46800" anchor="ctr"/>
          <a:lstStyle/>
          <a:p>
            <a:endParaRPr lang="ko-KR" altLang="en-US">
              <a:latin typeface="Arial" pitchFamily="34" charset="0"/>
              <a:ea typeface="맑은 고딕" panose="020B0503020000020004" pitchFamily="50" charset="-127"/>
              <a:cs typeface="Arial" pitchFamily="34" charset="0"/>
            </a:endParaRPr>
          </a:p>
        </p:txBody>
      </p:sp>
      <p:sp>
        <p:nvSpPr>
          <p:cNvPr id="16433" name="Text Box 32"/>
          <p:cNvSpPr txBox="1">
            <a:spLocks noChangeArrowheads="1"/>
          </p:cNvSpPr>
          <p:nvPr/>
        </p:nvSpPr>
        <p:spPr bwMode="auto">
          <a:xfrm>
            <a:off x="2876550" y="4881563"/>
            <a:ext cx="315913"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6</a:t>
            </a:r>
          </a:p>
        </p:txBody>
      </p:sp>
      <p:sp>
        <p:nvSpPr>
          <p:cNvPr id="16434" name="Text Box 33"/>
          <p:cNvSpPr txBox="1">
            <a:spLocks noChangeArrowheads="1"/>
          </p:cNvSpPr>
          <p:nvPr/>
        </p:nvSpPr>
        <p:spPr bwMode="auto">
          <a:xfrm>
            <a:off x="3343275" y="4881563"/>
            <a:ext cx="315913"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a:latin typeface="Arial" pitchFamily="34" charset="0"/>
                <a:ea typeface="맑은 고딕" panose="020B0503020000020004" pitchFamily="50" charset="-127"/>
                <a:cs typeface="Arial" pitchFamily="34" charset="0"/>
              </a:rPr>
              <a:t>7</a:t>
            </a:r>
          </a:p>
        </p:txBody>
      </p:sp>
      <p:sp>
        <p:nvSpPr>
          <p:cNvPr id="16435" name="Line 34"/>
          <p:cNvSpPr>
            <a:spLocks noChangeShapeType="1"/>
          </p:cNvSpPr>
          <p:nvPr/>
        </p:nvSpPr>
        <p:spPr bwMode="auto">
          <a:xfrm flipV="1">
            <a:off x="2193925" y="1844675"/>
            <a:ext cx="2162175" cy="28305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4005" name="AutoShape 35"/>
          <p:cNvSpPr>
            <a:spLocks noChangeArrowheads="1"/>
          </p:cNvSpPr>
          <p:nvPr/>
        </p:nvSpPr>
        <p:spPr bwMode="auto">
          <a:xfrm>
            <a:off x="4814888" y="1484313"/>
            <a:ext cx="255587" cy="1296987"/>
          </a:xfrm>
          <a:prstGeom prst="curvedLeftArrow">
            <a:avLst>
              <a:gd name="adj1" fmla="val 101491"/>
              <a:gd name="adj2" fmla="val 202982"/>
              <a:gd name="adj3" fmla="val 33333"/>
            </a:avLst>
          </a:prstGeom>
          <a:solidFill>
            <a:srgbClr val="FF6600"/>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ea typeface="맑은 고딕" panose="020B0503020000020004" pitchFamily="50" charset="-127"/>
              <a:cs typeface="Arial" pitchFamily="34" charset="0"/>
            </a:endParaRPr>
          </a:p>
        </p:txBody>
      </p:sp>
      <p:sp>
        <p:nvSpPr>
          <p:cNvPr id="4006" name="Text Box 36"/>
          <p:cNvSpPr txBox="1">
            <a:spLocks noChangeArrowheads="1"/>
          </p:cNvSpPr>
          <p:nvPr/>
        </p:nvSpPr>
        <p:spPr bwMode="auto">
          <a:xfrm>
            <a:off x="4438650" y="1776413"/>
            <a:ext cx="1162796" cy="586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a:solidFill>
                  <a:srgbClr val="006699"/>
                </a:solidFill>
                <a:latin typeface="Arial" pitchFamily="34" charset="0"/>
                <a:ea typeface="맑은 고딕" panose="020B0503020000020004" pitchFamily="50" charset="-127"/>
                <a:cs typeface="Arial" pitchFamily="34" charset="0"/>
              </a:rPr>
              <a:t>Increase</a:t>
            </a:r>
          </a:p>
          <a:p>
            <a:pPr eaLnBrk="1" hangingPunct="1"/>
            <a:r>
              <a:rPr lang="en-US" altLang="ko-KR" sz="1600" b="1">
                <a:solidFill>
                  <a:srgbClr val="006699"/>
                </a:solidFill>
                <a:latin typeface="Arial" pitchFamily="34" charset="0"/>
                <a:ea typeface="맑은 고딕" panose="020B0503020000020004" pitchFamily="50" charset="-127"/>
                <a:cs typeface="Arial" pitchFamily="34" charset="0"/>
              </a:rPr>
              <a:t>Capability</a:t>
            </a:r>
          </a:p>
        </p:txBody>
      </p:sp>
      <p:sp>
        <p:nvSpPr>
          <p:cNvPr id="4008" name="Freeform 38"/>
          <p:cNvSpPr>
            <a:spLocks/>
          </p:cNvSpPr>
          <p:nvPr/>
        </p:nvSpPr>
        <p:spPr bwMode="auto">
          <a:xfrm>
            <a:off x="1938338" y="2563813"/>
            <a:ext cx="2808287" cy="2160587"/>
          </a:xfrm>
          <a:custGeom>
            <a:avLst/>
            <a:gdLst>
              <a:gd name="T0" fmla="*/ 0 w 1633"/>
              <a:gd name="T1" fmla="*/ 2147483647 h 1361"/>
              <a:gd name="T2" fmla="*/ 2147483647 w 1633"/>
              <a:gd name="T3" fmla="*/ 2147483647 h 1361"/>
              <a:gd name="T4" fmla="*/ 2147483647 w 1633"/>
              <a:gd name="T5" fmla="*/ 0 h 1361"/>
              <a:gd name="T6" fmla="*/ 0 60000 65536"/>
              <a:gd name="T7" fmla="*/ 0 60000 65536"/>
              <a:gd name="T8" fmla="*/ 0 60000 65536"/>
              <a:gd name="T9" fmla="*/ 0 w 1633"/>
              <a:gd name="T10" fmla="*/ 0 h 1361"/>
              <a:gd name="T11" fmla="*/ 1633 w 1633"/>
              <a:gd name="T12" fmla="*/ 1361 h 1361"/>
            </a:gdLst>
            <a:ahLst/>
            <a:cxnLst>
              <a:cxn ang="T6">
                <a:pos x="T0" y="T1"/>
              </a:cxn>
              <a:cxn ang="T7">
                <a:pos x="T2" y="T3"/>
              </a:cxn>
              <a:cxn ang="T8">
                <a:pos x="T4" y="T5"/>
              </a:cxn>
            </a:cxnLst>
            <a:rect l="T9" t="T10" r="T11" b="T12"/>
            <a:pathLst>
              <a:path w="1633" h="1361">
                <a:moveTo>
                  <a:pt x="0" y="1361"/>
                </a:moveTo>
                <a:cubicBezTo>
                  <a:pt x="45" y="1134"/>
                  <a:pt x="91" y="908"/>
                  <a:pt x="363" y="681"/>
                </a:cubicBezTo>
                <a:cubicBezTo>
                  <a:pt x="635" y="454"/>
                  <a:pt x="1134" y="227"/>
                  <a:pt x="1633" y="0"/>
                </a:cubicBezTo>
              </a:path>
            </a:pathLst>
          </a:custGeom>
          <a:noFill/>
          <a:ln w="76200" cap="flat" cmpd="sng">
            <a:solidFill>
              <a:srgbClr val="004A48"/>
            </a:solidFill>
            <a:prstDash val="solid"/>
            <a:round/>
            <a:headEnd/>
            <a:tailEnd/>
          </a:ln>
          <a:extLst>
            <a:ext uri="{909E8E84-426E-40DD-AFC4-6F175D3DCCD1}">
              <a14:hiddenFill xmlns:a14="http://schemas.microsoft.com/office/drawing/2010/main">
                <a:solidFill>
                  <a:srgbClr val="FFFFFF"/>
                </a:solidFill>
              </a14:hiddenFill>
            </a:ext>
          </a:extLst>
        </p:spPr>
        <p:txBody>
          <a:bodyPr wrap="none" lIns="90000" tIns="46800" rIns="90000" bIns="46800" anchor="ctr"/>
          <a:lstStyle/>
          <a:p>
            <a:endParaRPr lang="ko-KR" altLang="en-US">
              <a:latin typeface="Arial" pitchFamily="34" charset="0"/>
              <a:ea typeface="맑은 고딕" panose="020B0503020000020004" pitchFamily="50" charset="-127"/>
              <a:cs typeface="Arial" pitchFamily="34" charset="0"/>
            </a:endParaRPr>
          </a:p>
        </p:txBody>
      </p:sp>
      <p:sp>
        <p:nvSpPr>
          <p:cNvPr id="16440" name="Rectangle 5"/>
          <p:cNvSpPr>
            <a:spLocks noChangeArrowheads="1"/>
          </p:cNvSpPr>
          <p:nvPr/>
        </p:nvSpPr>
        <p:spPr bwMode="auto">
          <a:xfrm>
            <a:off x="1496616" y="5589240"/>
            <a:ext cx="3743895" cy="954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latinLnBrk="0" hangingPunct="1"/>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Năng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lực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quá</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trình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là</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khả</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năng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tạo</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ra</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sản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phẩm</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có</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chất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lượng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tốt</a:t>
            </a:r>
            <a:endParaRPr lang="en-US" altLang="ko-KR" sz="1400" dirty="0">
              <a:latin typeface="Arial" pitchFamily="34" charset="0"/>
              <a:ea typeface="맑은 고딕" panose="020B0503020000020004" pitchFamily="50" charset="-127"/>
              <a:cs typeface="Arial" pitchFamily="34" charset="0"/>
            </a:endParaRPr>
          </a:p>
          <a:p>
            <a:pPr algn="just" eaLnBrk="1" latinLnBrk="0" hangingPunct="1"/>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Cải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tiến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thực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sự</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là</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cải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tiến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cho</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năng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lực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của</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quá</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trình</a:t>
            </a:r>
            <a:endParaRPr lang="ko-KR" altLang="en-US" sz="1400" dirty="0">
              <a:latin typeface="Arial" pitchFamily="34" charset="0"/>
              <a:ea typeface="맑은 고딕" panose="020B0503020000020004"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22</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18158816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008"/>
                                        </p:tgtEl>
                                        <p:attrNameLst>
                                          <p:attrName>style.visibility</p:attrName>
                                        </p:attrNameLst>
                                      </p:cBhvr>
                                      <p:to>
                                        <p:strVal val="visible"/>
                                      </p:to>
                                    </p:set>
                                    <p:animEffect transition="in" filter="wipe(down)">
                                      <p:cBhvr>
                                        <p:cTn id="7" dur="500"/>
                                        <p:tgtEl>
                                          <p:spTgt spid="400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007"/>
                                        </p:tgtEl>
                                        <p:attrNameLst>
                                          <p:attrName>style.visibility</p:attrName>
                                        </p:attrNameLst>
                                      </p:cBhvr>
                                      <p:to>
                                        <p:strVal val="visible"/>
                                      </p:to>
                                    </p:set>
                                    <p:animEffect transition="in" filter="wipe(down)">
                                      <p:cBhvr>
                                        <p:cTn id="12" dur="500"/>
                                        <p:tgtEl>
                                          <p:spTgt spid="4007"/>
                                        </p:tgtEl>
                                      </p:cBhvr>
                                    </p:animEffect>
                                  </p:childTnLst>
                                </p:cTn>
                              </p:par>
                            </p:childTnLst>
                          </p:cTn>
                        </p:par>
                        <p:par>
                          <p:cTn id="13" fill="hold" nodeType="afterGroup">
                            <p:stCondLst>
                              <p:cond delay="500"/>
                            </p:stCondLst>
                            <p:childTnLst>
                              <p:par>
                                <p:cTn id="14" presetID="5" presetClass="entr" presetSubtype="10" fill="hold" grpId="0" nodeType="afterEffect">
                                  <p:stCondLst>
                                    <p:cond delay="0"/>
                                  </p:stCondLst>
                                  <p:childTnLst>
                                    <p:set>
                                      <p:cBhvr>
                                        <p:cTn id="15" dur="1" fill="hold">
                                          <p:stCondLst>
                                            <p:cond delay="0"/>
                                          </p:stCondLst>
                                        </p:cTn>
                                        <p:tgtEl>
                                          <p:spTgt spid="4005"/>
                                        </p:tgtEl>
                                        <p:attrNameLst>
                                          <p:attrName>style.visibility</p:attrName>
                                        </p:attrNameLst>
                                      </p:cBhvr>
                                      <p:to>
                                        <p:strVal val="visible"/>
                                      </p:to>
                                    </p:set>
                                    <p:animEffect transition="in" filter="checkerboard(across)">
                                      <p:cBhvr>
                                        <p:cTn id="16" dur="500"/>
                                        <p:tgtEl>
                                          <p:spTgt spid="4005"/>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4006"/>
                                        </p:tgtEl>
                                        <p:attrNameLst>
                                          <p:attrName>style.visibility</p:attrName>
                                        </p:attrNameLst>
                                      </p:cBhvr>
                                      <p:to>
                                        <p:strVal val="visible"/>
                                      </p:to>
                                    </p:set>
                                    <p:animEffect transition="in" filter="checkerboard(across)">
                                      <p:cBhvr>
                                        <p:cTn id="19" dur="500"/>
                                        <p:tgtEl>
                                          <p:spTgt spid="40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7" grpId="0" animBg="1"/>
      <p:bldP spid="4005" grpId="0" animBg="1"/>
      <p:bldP spid="4006" grpId="0"/>
      <p:bldP spid="4008"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7"/>
          <p:cNvSpPr>
            <a:spLocks noChangeArrowheads="1"/>
          </p:cNvSpPr>
          <p:nvPr/>
        </p:nvSpPr>
        <p:spPr bwMode="auto">
          <a:xfrm>
            <a:off x="69850" y="185708"/>
            <a:ext cx="68980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anose="020B0503020000020004" pitchFamily="50" charset="-127"/>
                <a:cs typeface="Arial" pitchFamily="34" charset="0"/>
              </a:rPr>
              <a:t>6. </a:t>
            </a:r>
            <a:r>
              <a:rPr lang="en-US" altLang="ko-KR" sz="2000" b="1" dirty="0" err="1">
                <a:latin typeface="Arial" pitchFamily="34" charset="0"/>
                <a:ea typeface="맑은 고딕" panose="020B0503020000020004" pitchFamily="50" charset="-127"/>
                <a:cs typeface="Arial" pitchFamily="34" charset="0"/>
              </a:rPr>
              <a:t>Những</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công</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cụ</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để</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kiểm</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soát</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và</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cải</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tiến</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chất</a:t>
            </a:r>
            <a:r>
              <a:rPr lang="en-US" altLang="ko-KR" sz="2000" b="1" dirty="0">
                <a:latin typeface="Arial" pitchFamily="34" charset="0"/>
                <a:ea typeface="맑은 고딕" panose="020B0503020000020004" pitchFamily="50" charset="-127"/>
                <a:cs typeface="Arial" pitchFamily="34" charset="0"/>
              </a:rPr>
              <a:t> </a:t>
            </a:r>
            <a:r>
              <a:rPr lang="en-US" altLang="ko-KR" sz="2000" b="1" dirty="0" err="1">
                <a:latin typeface="Arial" pitchFamily="34" charset="0"/>
                <a:ea typeface="맑은 고딕" panose="020B0503020000020004" pitchFamily="50" charset="-127"/>
                <a:cs typeface="Arial" pitchFamily="34" charset="0"/>
              </a:rPr>
              <a:t>lượng</a:t>
            </a:r>
            <a:endParaRPr lang="ko-KR" altLang="en-US" sz="2000" b="1" dirty="0">
              <a:latin typeface="Arial" pitchFamily="34" charset="0"/>
              <a:ea typeface="맑은 고딕" panose="020B0503020000020004" pitchFamily="50" charset="-127"/>
              <a:cs typeface="Arial" pitchFamily="34" charset="0"/>
            </a:endParaRPr>
          </a:p>
        </p:txBody>
      </p:sp>
      <p:sp>
        <p:nvSpPr>
          <p:cNvPr id="20483" name="TextBox 13"/>
          <p:cNvSpPr txBox="1">
            <a:spLocks noChangeArrowheads="1"/>
          </p:cNvSpPr>
          <p:nvPr/>
        </p:nvSpPr>
        <p:spPr bwMode="auto">
          <a:xfrm>
            <a:off x="7041232" y="1196975"/>
            <a:ext cx="22910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pPr>
            <a:r>
              <a:rPr lang="en-US" altLang="ko-KR" sz="1200" dirty="0" err="1">
                <a:latin typeface="Arial" pitchFamily="34" charset="0"/>
                <a:ea typeface="맑은 고딕" panose="020B0503020000020004" pitchFamily="50" charset="-127"/>
                <a:cs typeface="Arial" pitchFamily="34" charset="0"/>
              </a:rPr>
              <a:t>Các</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tiện</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ích</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của</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công</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cụ</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được</a:t>
            </a:r>
            <a:endParaRPr lang="en-US" altLang="ko-KR" sz="1200" dirty="0">
              <a:latin typeface="Arial" pitchFamily="34" charset="0"/>
              <a:ea typeface="맑은 고딕" panose="020B0503020000020004" pitchFamily="50" charset="-127"/>
              <a:cs typeface="Arial" pitchFamily="34" charset="0"/>
            </a:endParaRPr>
          </a:p>
          <a:p>
            <a:pPr eaLnBrk="1" hangingPunct="1">
              <a:buClr>
                <a:srgbClr val="C5003D"/>
              </a:buClr>
            </a:pP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xác</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định</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bởi</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mục</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tiêu</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sử</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dụng</a:t>
            </a:r>
            <a:endParaRPr lang="ko-KR" altLang="en-US" sz="1200" dirty="0">
              <a:latin typeface="Arial" pitchFamily="34" charset="0"/>
              <a:ea typeface="맑은 고딕" panose="020B0503020000020004" pitchFamily="50" charset="-127"/>
              <a:cs typeface="Arial" pitchFamily="34" charset="0"/>
            </a:endParaRPr>
          </a:p>
        </p:txBody>
      </p:sp>
      <p:sp>
        <p:nvSpPr>
          <p:cNvPr id="2" name="TextBox 3989"/>
          <p:cNvSpPr txBox="1">
            <a:spLocks noChangeArrowheads="1"/>
          </p:cNvSpPr>
          <p:nvPr/>
        </p:nvSpPr>
        <p:spPr bwMode="auto">
          <a:xfrm>
            <a:off x="338188" y="1866685"/>
            <a:ext cx="1895071" cy="4247317"/>
          </a:xfrm>
          <a:prstGeom prst="rect">
            <a:avLst/>
          </a:prstGeom>
          <a:noFill/>
          <a:ln w="9525">
            <a:noFill/>
            <a:miter lim="800000"/>
            <a:headEnd/>
            <a:tailEnd/>
          </a:ln>
        </p:spPr>
        <p:txBody>
          <a:bodyPr wrap="none">
            <a:spAutoFit/>
          </a:bodyPr>
          <a:lstStyle/>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Pareto Diagram</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Histogram</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Check Sheet</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Stratification</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Characteristics Diagram</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Scatter Plot</a:t>
            </a:r>
            <a:endParaRPr lang="ko-KR" altLang="en-US" sz="1000" b="1" dirty="0">
              <a:latin typeface="Arial" pitchFamily="34" charset="0"/>
              <a:ea typeface="맑은 고딕" panose="020B0503020000020004" pitchFamily="50" charset="-127"/>
              <a:cs typeface="Arial" pitchFamily="34" charset="0"/>
            </a:endParaRP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Graph </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Control Chart</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Process Capability Analysis</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Verification and Estimation</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Tolerance Analysis</a:t>
            </a:r>
          </a:p>
          <a:p>
            <a:pPr marL="266700" indent="-266700">
              <a:lnSpc>
                <a:spcPct val="180000"/>
              </a:lnSpc>
              <a:buClr>
                <a:srgbClr val="C5003D"/>
              </a:buClr>
              <a:defRPr/>
            </a:pPr>
            <a:r>
              <a:rPr lang="en-US" altLang="ko-KR" sz="1000" b="1" dirty="0">
                <a:latin typeface="Arial" pitchFamily="34" charset="0"/>
                <a:ea typeface="맑은 고딕" panose="020B0503020000020004" pitchFamily="50" charset="-127"/>
                <a:cs typeface="Arial" pitchFamily="34" charset="0"/>
              </a:rPr>
              <a:t>MSA*</a:t>
            </a:r>
          </a:p>
          <a:p>
            <a:pPr marL="266700" indent="-266700">
              <a:lnSpc>
                <a:spcPct val="180000"/>
              </a:lnSpc>
              <a:buClr>
                <a:srgbClr val="C5003D"/>
              </a:buClr>
              <a:defRPr/>
            </a:pPr>
            <a:r>
              <a:rPr lang="en-US" altLang="ko-KR" sz="1000" b="1" dirty="0">
                <a:solidFill>
                  <a:schemeClr val="bg2">
                    <a:lumMod val="50000"/>
                  </a:schemeClr>
                </a:solidFill>
                <a:latin typeface="Arial" pitchFamily="34" charset="0"/>
                <a:ea typeface="맑은 고딕" panose="020B0503020000020004" pitchFamily="50" charset="-127"/>
                <a:cs typeface="Arial" pitchFamily="34" charset="0"/>
              </a:rPr>
              <a:t>Regression Analysis</a:t>
            </a:r>
          </a:p>
          <a:p>
            <a:pPr marL="266700" indent="-266700">
              <a:lnSpc>
                <a:spcPct val="180000"/>
              </a:lnSpc>
              <a:buClr>
                <a:srgbClr val="C5003D"/>
              </a:buClr>
              <a:defRPr/>
            </a:pPr>
            <a:r>
              <a:rPr lang="en-US" altLang="ko-KR" sz="1000" b="1" dirty="0">
                <a:solidFill>
                  <a:schemeClr val="bg2">
                    <a:lumMod val="50000"/>
                  </a:schemeClr>
                </a:solidFill>
                <a:latin typeface="Arial" pitchFamily="34" charset="0"/>
                <a:ea typeface="맑은 고딕" panose="020B0503020000020004" pitchFamily="50" charset="-127"/>
                <a:cs typeface="Arial" pitchFamily="34" charset="0"/>
              </a:rPr>
              <a:t>Design of Experiment</a:t>
            </a:r>
          </a:p>
          <a:p>
            <a:pPr marL="266700" indent="-266700">
              <a:lnSpc>
                <a:spcPct val="180000"/>
              </a:lnSpc>
              <a:buClr>
                <a:srgbClr val="C5003D"/>
              </a:buClr>
              <a:defRPr/>
            </a:pPr>
            <a:endParaRPr lang="ko-KR" altLang="en-US" sz="1000" b="1" dirty="0">
              <a:solidFill>
                <a:schemeClr val="bg2">
                  <a:lumMod val="50000"/>
                </a:schemeClr>
              </a:solidFill>
              <a:latin typeface="Arial" pitchFamily="34" charset="0"/>
              <a:ea typeface="맑은 고딕" panose="020B0503020000020004" pitchFamily="50" charset="-127"/>
              <a:cs typeface="Arial" pitchFamily="34" charset="0"/>
            </a:endParaRPr>
          </a:p>
        </p:txBody>
      </p:sp>
      <p:sp>
        <p:nvSpPr>
          <p:cNvPr id="20485" name="TextBox 13"/>
          <p:cNvSpPr txBox="1">
            <a:spLocks noChangeArrowheads="1"/>
          </p:cNvSpPr>
          <p:nvPr/>
        </p:nvSpPr>
        <p:spPr bwMode="auto">
          <a:xfrm>
            <a:off x="7064138" y="2071881"/>
            <a:ext cx="8418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pPr>
            <a:r>
              <a:rPr lang="en-US" altLang="ko-KR" sz="1200" dirty="0" err="1">
                <a:latin typeface="Arial" pitchFamily="34" charset="0"/>
                <a:ea typeface="맑은 고딕" panose="020B0503020000020004" pitchFamily="50" charset="-127"/>
                <a:cs typeface="Arial" pitchFamily="34" charset="0"/>
              </a:rPr>
              <a:t>Định</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tính</a:t>
            </a:r>
            <a:r>
              <a:rPr lang="en-US" altLang="ko-KR" sz="1200" dirty="0">
                <a:latin typeface="Arial" pitchFamily="34" charset="0"/>
                <a:ea typeface="맑은 고딕" panose="020B0503020000020004" pitchFamily="50" charset="-127"/>
                <a:cs typeface="Arial" pitchFamily="34" charset="0"/>
              </a:rPr>
              <a:t> </a:t>
            </a:r>
            <a:endParaRPr lang="ko-KR" altLang="en-US" sz="1200" dirty="0">
              <a:latin typeface="Arial" pitchFamily="34" charset="0"/>
              <a:ea typeface="맑은 고딕" panose="020B0503020000020004" pitchFamily="50" charset="-127"/>
              <a:cs typeface="Arial" pitchFamily="34" charset="0"/>
            </a:endParaRPr>
          </a:p>
        </p:txBody>
      </p:sp>
      <p:sp>
        <p:nvSpPr>
          <p:cNvPr id="20486" name="TextBox 13"/>
          <p:cNvSpPr txBox="1">
            <a:spLocks noChangeArrowheads="1"/>
          </p:cNvSpPr>
          <p:nvPr/>
        </p:nvSpPr>
        <p:spPr bwMode="auto">
          <a:xfrm>
            <a:off x="7063803" y="2435224"/>
            <a:ext cx="98554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pPr>
            <a:r>
              <a:rPr lang="en-US" altLang="ko-KR" sz="1000" dirty="0" err="1">
                <a:latin typeface="Arial" pitchFamily="34" charset="0"/>
                <a:ea typeface="맑은 고딕" panose="020B0503020000020004" pitchFamily="50" charset="-127"/>
                <a:cs typeface="Arial" pitchFamily="34" charset="0"/>
              </a:rPr>
              <a:t>Sơ</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đồ</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phân</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tầng</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đặc</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trưng</a:t>
            </a:r>
            <a:endParaRPr lang="ko-KR" altLang="en-US" sz="1000" dirty="0">
              <a:latin typeface="Arial" pitchFamily="34" charset="0"/>
              <a:ea typeface="맑은 고딕" panose="020B0503020000020004" pitchFamily="50" charset="-127"/>
              <a:cs typeface="Arial" pitchFamily="34" charset="0"/>
            </a:endParaRPr>
          </a:p>
        </p:txBody>
      </p:sp>
      <p:sp>
        <p:nvSpPr>
          <p:cNvPr id="20487" name="TextBox 13"/>
          <p:cNvSpPr txBox="1">
            <a:spLocks noChangeArrowheads="1"/>
          </p:cNvSpPr>
          <p:nvPr/>
        </p:nvSpPr>
        <p:spPr bwMode="auto">
          <a:xfrm>
            <a:off x="8049344" y="2060575"/>
            <a:ext cx="94929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pPr>
            <a:r>
              <a:rPr lang="en-US" altLang="ko-KR" sz="1200" dirty="0" err="1">
                <a:latin typeface="Arial" pitchFamily="34" charset="0"/>
                <a:ea typeface="맑은 고딕" panose="020B0503020000020004" pitchFamily="50" charset="-127"/>
                <a:cs typeface="Arial" pitchFamily="34" charset="0"/>
              </a:rPr>
              <a:t>Định</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lượng</a:t>
            </a:r>
            <a:endParaRPr lang="ko-KR" altLang="en-US" sz="1200" dirty="0">
              <a:latin typeface="Arial" pitchFamily="34" charset="0"/>
              <a:ea typeface="맑은 고딕" panose="020B0503020000020004" pitchFamily="50" charset="-127"/>
              <a:cs typeface="Arial" pitchFamily="34" charset="0"/>
            </a:endParaRPr>
          </a:p>
        </p:txBody>
      </p:sp>
      <p:sp>
        <p:nvSpPr>
          <p:cNvPr id="20488" name="TextBox 13"/>
          <p:cNvSpPr txBox="1">
            <a:spLocks noChangeArrowheads="1"/>
          </p:cNvSpPr>
          <p:nvPr/>
        </p:nvSpPr>
        <p:spPr bwMode="auto">
          <a:xfrm>
            <a:off x="8049294" y="2435225"/>
            <a:ext cx="1754006"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pPr>
            <a:r>
              <a:rPr lang="en-US" altLang="ko-KR" sz="1000" dirty="0">
                <a:latin typeface="Arial" pitchFamily="34" charset="0"/>
                <a:ea typeface="맑은 고딕" panose="020B0503020000020004" pitchFamily="50" charset="-127"/>
                <a:cs typeface="Arial" pitchFamily="34" charset="0"/>
              </a:rPr>
              <a:t>Pareto Diagram</a:t>
            </a:r>
          </a:p>
          <a:p>
            <a:pPr eaLnBrk="1" hangingPunct="1">
              <a:buClr>
                <a:srgbClr val="C5003D"/>
              </a:buClr>
            </a:pPr>
            <a:r>
              <a:rPr lang="en-US" altLang="ko-KR" sz="1000" dirty="0">
                <a:latin typeface="Arial" pitchFamily="34" charset="0"/>
                <a:ea typeface="맑은 고딕" panose="020B0503020000020004" pitchFamily="50" charset="-127"/>
                <a:cs typeface="Arial" pitchFamily="34" charset="0"/>
              </a:rPr>
              <a:t>Histogram</a:t>
            </a:r>
          </a:p>
          <a:p>
            <a:pPr eaLnBrk="1" hangingPunct="1">
              <a:buClr>
                <a:srgbClr val="C5003D"/>
              </a:buClr>
            </a:pPr>
            <a:r>
              <a:rPr lang="en-US" altLang="ko-KR" sz="1000" dirty="0">
                <a:latin typeface="Arial" pitchFamily="34" charset="0"/>
                <a:ea typeface="맑은 고딕" panose="020B0503020000020004" pitchFamily="50" charset="-127"/>
                <a:cs typeface="Arial" pitchFamily="34" charset="0"/>
              </a:rPr>
              <a:t>Check Sheet</a:t>
            </a:r>
          </a:p>
          <a:p>
            <a:pPr eaLnBrk="1" hangingPunct="1">
              <a:buClr>
                <a:srgbClr val="C5003D"/>
              </a:buClr>
            </a:pPr>
            <a:r>
              <a:rPr lang="en-US" altLang="ko-KR" sz="1000" dirty="0">
                <a:latin typeface="Arial" pitchFamily="34" charset="0"/>
                <a:ea typeface="맑은 고딕" panose="020B0503020000020004" pitchFamily="50" charset="-127"/>
                <a:cs typeface="Arial" pitchFamily="34" charset="0"/>
              </a:rPr>
              <a:t>Scatter Plot</a:t>
            </a:r>
          </a:p>
          <a:p>
            <a:pPr eaLnBrk="1" hangingPunct="1">
              <a:buClr>
                <a:srgbClr val="C5003D"/>
              </a:buClr>
            </a:pPr>
            <a:r>
              <a:rPr lang="en-US" altLang="ko-KR" sz="1000" dirty="0">
                <a:latin typeface="Arial" pitchFamily="34" charset="0"/>
                <a:ea typeface="맑은 고딕" panose="020B0503020000020004" pitchFamily="50" charset="-127"/>
                <a:cs typeface="Arial" pitchFamily="34" charset="0"/>
              </a:rPr>
              <a:t>Graph</a:t>
            </a:r>
          </a:p>
          <a:p>
            <a:pPr eaLnBrk="1" hangingPunct="1">
              <a:buClr>
                <a:srgbClr val="C5003D"/>
              </a:buClr>
            </a:pPr>
            <a:r>
              <a:rPr lang="en-US" altLang="ko-KR" sz="1000" dirty="0">
                <a:latin typeface="Arial" pitchFamily="34" charset="0"/>
                <a:ea typeface="맑은 고딕" panose="020B0503020000020004" pitchFamily="50" charset="-127"/>
                <a:cs typeface="Arial" pitchFamily="34" charset="0"/>
              </a:rPr>
              <a:t>Control Chart</a:t>
            </a:r>
          </a:p>
          <a:p>
            <a:pPr eaLnBrk="1" hangingPunct="1">
              <a:buClr>
                <a:srgbClr val="C5003D"/>
              </a:buClr>
            </a:pPr>
            <a:r>
              <a:rPr lang="en-US" altLang="ko-KR" sz="1000" dirty="0">
                <a:latin typeface="Arial" pitchFamily="34" charset="0"/>
                <a:ea typeface="맑은 고딕" panose="020B0503020000020004" pitchFamily="50" charset="-127"/>
                <a:cs typeface="Arial" pitchFamily="34" charset="0"/>
              </a:rPr>
              <a:t>Process Capability Analysis</a:t>
            </a:r>
          </a:p>
          <a:p>
            <a:pPr eaLnBrk="1" hangingPunct="1">
              <a:buClr>
                <a:srgbClr val="C5003D"/>
              </a:buClr>
            </a:pPr>
            <a:r>
              <a:rPr lang="en-US" altLang="ko-KR" sz="1000" dirty="0">
                <a:latin typeface="Arial" pitchFamily="34" charset="0"/>
                <a:ea typeface="맑은 고딕" panose="020B0503020000020004" pitchFamily="50" charset="-127"/>
                <a:cs typeface="Arial" pitchFamily="34" charset="0"/>
              </a:rPr>
              <a:t>Verification and Estimation</a:t>
            </a:r>
            <a:endParaRPr lang="ko-KR" altLang="en-US" sz="1000" dirty="0">
              <a:latin typeface="Arial" pitchFamily="34" charset="0"/>
              <a:ea typeface="맑은 고딕" panose="020B0503020000020004" pitchFamily="50" charset="-127"/>
              <a:cs typeface="Arial" pitchFamily="34" charset="0"/>
            </a:endParaRPr>
          </a:p>
        </p:txBody>
      </p:sp>
      <p:grpSp>
        <p:nvGrpSpPr>
          <p:cNvPr id="20489" name="그룹 28"/>
          <p:cNvGrpSpPr>
            <a:grpSpLocks/>
          </p:cNvGrpSpPr>
          <p:nvPr/>
        </p:nvGrpSpPr>
        <p:grpSpPr bwMode="auto">
          <a:xfrm>
            <a:off x="7112669" y="2060575"/>
            <a:ext cx="1800225" cy="2016125"/>
            <a:chOff x="7977336" y="2060848"/>
            <a:chExt cx="1512168" cy="1728192"/>
          </a:xfrm>
        </p:grpSpPr>
        <p:cxnSp>
          <p:nvCxnSpPr>
            <p:cNvPr id="18" name="직선 연결선 17"/>
            <p:cNvCxnSpPr/>
            <p:nvPr/>
          </p:nvCxnSpPr>
          <p:spPr>
            <a:xfrm>
              <a:off x="7977336" y="2060848"/>
              <a:ext cx="1512168"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a:xfrm>
              <a:off x="7977336" y="2349334"/>
              <a:ext cx="1512168"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23" name="직선 연결선 22"/>
            <p:cNvCxnSpPr/>
            <p:nvPr/>
          </p:nvCxnSpPr>
          <p:spPr>
            <a:xfrm>
              <a:off x="8769424" y="2060848"/>
              <a:ext cx="0" cy="172819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p:cNvCxnSpPr/>
            <p:nvPr/>
          </p:nvCxnSpPr>
          <p:spPr>
            <a:xfrm>
              <a:off x="7977336" y="3763186"/>
              <a:ext cx="1512168"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grpSp>
      <p:grpSp>
        <p:nvGrpSpPr>
          <p:cNvPr id="20490" name="그룹 84"/>
          <p:cNvGrpSpPr>
            <a:grpSpLocks/>
          </p:cNvGrpSpPr>
          <p:nvPr/>
        </p:nvGrpSpPr>
        <p:grpSpPr bwMode="auto">
          <a:xfrm>
            <a:off x="2213670" y="1270000"/>
            <a:ext cx="3532187" cy="574675"/>
            <a:chOff x="1423393" y="1268760"/>
            <a:chExt cx="3530822" cy="719336"/>
          </a:xfrm>
        </p:grpSpPr>
        <p:sp>
          <p:nvSpPr>
            <p:cNvPr id="32" name="오각형 31"/>
            <p:cNvSpPr/>
            <p:nvPr/>
          </p:nvSpPr>
          <p:spPr>
            <a:xfrm>
              <a:off x="1423393" y="1268760"/>
              <a:ext cx="722033" cy="719336"/>
            </a:xfrm>
            <a:prstGeom prst="homePlate">
              <a:avLst>
                <a:gd name="adj" fmla="val 15013"/>
              </a:avLst>
            </a:prstGeom>
            <a:solidFill>
              <a:schemeClr val="tx1">
                <a:lumMod val="65000"/>
                <a:lumOff val="35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000" dirty="0" err="1">
                  <a:latin typeface="Arial" pitchFamily="34" charset="0"/>
                  <a:ea typeface="맑은 고딕" panose="020B0503020000020004" pitchFamily="50" charset="-127"/>
                  <a:cs typeface="Arial" pitchFamily="34" charset="0"/>
                </a:rPr>
                <a:t>Kiểm</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tra</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dấu</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hiệu</a:t>
              </a:r>
              <a:endParaRPr lang="ko-KR" altLang="en-US" sz="1000" dirty="0">
                <a:latin typeface="Arial" pitchFamily="34" charset="0"/>
                <a:ea typeface="맑은 고딕" panose="020B0503020000020004" pitchFamily="50" charset="-127"/>
                <a:cs typeface="Arial" pitchFamily="34" charset="0"/>
              </a:endParaRPr>
            </a:p>
          </p:txBody>
        </p:sp>
        <p:sp>
          <p:nvSpPr>
            <p:cNvPr id="33" name="오각형 32"/>
            <p:cNvSpPr/>
            <p:nvPr/>
          </p:nvSpPr>
          <p:spPr>
            <a:xfrm>
              <a:off x="2145426" y="1268760"/>
              <a:ext cx="1367896" cy="359669"/>
            </a:xfrm>
            <a:prstGeom prst="homePlate">
              <a:avLst>
                <a:gd name="adj" fmla="val 29843"/>
              </a:avLst>
            </a:prstGeom>
            <a:solidFill>
              <a:schemeClr val="tx1">
                <a:lumMod val="65000"/>
                <a:lumOff val="35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000" dirty="0" err="1">
                  <a:latin typeface="Arial" pitchFamily="34" charset="0"/>
                  <a:ea typeface="맑은 고딕" panose="020B0503020000020004" pitchFamily="50" charset="-127"/>
                  <a:cs typeface="Arial" pitchFamily="34" charset="0"/>
                </a:rPr>
                <a:t>Xác</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định</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tính</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phụ</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thuộc</a:t>
              </a:r>
              <a:endParaRPr lang="ko-KR" altLang="en-US" sz="1000" dirty="0">
                <a:latin typeface="Arial" pitchFamily="34" charset="0"/>
                <a:ea typeface="맑은 고딕" panose="020B0503020000020004" pitchFamily="50" charset="-127"/>
                <a:cs typeface="Arial" pitchFamily="34" charset="0"/>
              </a:endParaRPr>
            </a:p>
          </p:txBody>
        </p:sp>
        <p:sp>
          <p:nvSpPr>
            <p:cNvPr id="36" name="직사각형 35"/>
            <p:cNvSpPr/>
            <p:nvPr/>
          </p:nvSpPr>
          <p:spPr>
            <a:xfrm>
              <a:off x="2145426" y="1628429"/>
              <a:ext cx="647450" cy="359667"/>
            </a:xfrm>
            <a:prstGeom prst="rect">
              <a:avLst/>
            </a:prstGeom>
            <a:solidFill>
              <a:schemeClr val="tx1">
                <a:lumMod val="65000"/>
                <a:lumOff val="35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000" dirty="0" err="1">
                  <a:latin typeface="Arial" pitchFamily="34" charset="0"/>
                  <a:ea typeface="맑은 고딕" panose="020B0503020000020004" pitchFamily="50" charset="-127"/>
                  <a:cs typeface="Arial" pitchFamily="34" charset="0"/>
                </a:rPr>
                <a:t>Phụ</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thuộc</a:t>
              </a:r>
              <a:endParaRPr lang="ko-KR" altLang="en-US" sz="1000" dirty="0">
                <a:latin typeface="Arial" pitchFamily="34" charset="0"/>
                <a:ea typeface="맑은 고딕" panose="020B0503020000020004" pitchFamily="50" charset="-127"/>
                <a:cs typeface="Arial" pitchFamily="34" charset="0"/>
              </a:endParaRPr>
            </a:p>
          </p:txBody>
        </p:sp>
        <p:sp>
          <p:nvSpPr>
            <p:cNvPr id="37" name="직사각형 36"/>
            <p:cNvSpPr/>
            <p:nvPr/>
          </p:nvSpPr>
          <p:spPr>
            <a:xfrm>
              <a:off x="2792876" y="1628429"/>
              <a:ext cx="647450" cy="359667"/>
            </a:xfrm>
            <a:prstGeom prst="rect">
              <a:avLst/>
            </a:prstGeom>
            <a:solidFill>
              <a:schemeClr val="tx1">
                <a:lumMod val="65000"/>
                <a:lumOff val="35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000" dirty="0" err="1">
                  <a:latin typeface="Arial" pitchFamily="34" charset="0"/>
                  <a:ea typeface="맑은 고딕" panose="020B0503020000020004" pitchFamily="50" charset="-127"/>
                  <a:cs typeface="Arial" pitchFamily="34" charset="0"/>
                </a:rPr>
                <a:t>Lưu</a:t>
              </a:r>
              <a:r>
                <a:rPr lang="en-US" altLang="ko-KR" sz="1000" dirty="0">
                  <a:latin typeface="Arial" pitchFamily="34" charset="0"/>
                  <a:ea typeface="맑은 고딕" panose="020B0503020000020004" pitchFamily="50" charset="-127"/>
                  <a:cs typeface="Arial" pitchFamily="34" charset="0"/>
                </a:rPr>
                <a:t> ý</a:t>
              </a:r>
              <a:endParaRPr lang="ko-KR" altLang="en-US" sz="1000" dirty="0">
                <a:latin typeface="Arial" pitchFamily="34" charset="0"/>
                <a:ea typeface="맑은 고딕" panose="020B0503020000020004" pitchFamily="50" charset="-127"/>
                <a:cs typeface="Arial" pitchFamily="34" charset="0"/>
              </a:endParaRPr>
            </a:p>
          </p:txBody>
        </p:sp>
        <p:sp>
          <p:nvSpPr>
            <p:cNvPr id="38" name="오각형 37"/>
            <p:cNvSpPr/>
            <p:nvPr/>
          </p:nvSpPr>
          <p:spPr>
            <a:xfrm>
              <a:off x="3513322" y="1268760"/>
              <a:ext cx="720446" cy="719336"/>
            </a:xfrm>
            <a:prstGeom prst="homePlate">
              <a:avLst>
                <a:gd name="adj" fmla="val 15013"/>
              </a:avLst>
            </a:prstGeom>
            <a:solidFill>
              <a:schemeClr val="tx1">
                <a:lumMod val="65000"/>
                <a:lumOff val="35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000" dirty="0" err="1">
                  <a:latin typeface="Arial" pitchFamily="34" charset="0"/>
                  <a:ea typeface="맑은 고딕" panose="020B0503020000020004" pitchFamily="50" charset="-127"/>
                  <a:cs typeface="Arial" pitchFamily="34" charset="0"/>
                </a:rPr>
                <a:t>Tìm</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giải</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pháp</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tối</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ưu</a:t>
              </a:r>
              <a:endParaRPr lang="ko-KR" altLang="en-US" sz="1000" dirty="0">
                <a:latin typeface="Arial" pitchFamily="34" charset="0"/>
                <a:ea typeface="맑은 고딕" panose="020B0503020000020004" pitchFamily="50" charset="-127"/>
                <a:cs typeface="Arial" pitchFamily="34" charset="0"/>
              </a:endParaRPr>
            </a:p>
          </p:txBody>
        </p:sp>
        <p:sp>
          <p:nvSpPr>
            <p:cNvPr id="39" name="오각형 38"/>
            <p:cNvSpPr/>
            <p:nvPr/>
          </p:nvSpPr>
          <p:spPr>
            <a:xfrm>
              <a:off x="4232182" y="1268760"/>
              <a:ext cx="722033" cy="719336"/>
            </a:xfrm>
            <a:prstGeom prst="homePlate">
              <a:avLst>
                <a:gd name="adj" fmla="val 15013"/>
              </a:avLst>
            </a:prstGeom>
            <a:solidFill>
              <a:schemeClr val="tx1">
                <a:lumMod val="65000"/>
                <a:lumOff val="35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000" dirty="0" err="1">
                  <a:latin typeface="Arial" pitchFamily="34" charset="0"/>
                  <a:ea typeface="맑은 고딕" panose="020B0503020000020004" pitchFamily="50" charset="-127"/>
                  <a:cs typeface="Arial" pitchFamily="34" charset="0"/>
                </a:rPr>
                <a:t>Đánh</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giá</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tính</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hiệu</a:t>
              </a:r>
              <a:r>
                <a:rPr lang="en-US" altLang="ko-KR" sz="1000" dirty="0">
                  <a:latin typeface="Arial" pitchFamily="34" charset="0"/>
                  <a:ea typeface="맑은 고딕" panose="020B0503020000020004" pitchFamily="50" charset="-127"/>
                  <a:cs typeface="Arial" pitchFamily="34" charset="0"/>
                </a:rPr>
                <a:t> </a:t>
              </a:r>
              <a:r>
                <a:rPr lang="en-US" altLang="ko-KR" sz="1000" dirty="0" err="1">
                  <a:latin typeface="Arial" pitchFamily="34" charset="0"/>
                  <a:ea typeface="맑은 고딕" panose="020B0503020000020004" pitchFamily="50" charset="-127"/>
                  <a:cs typeface="Arial" pitchFamily="34" charset="0"/>
                </a:rPr>
                <a:t>quả</a:t>
              </a:r>
              <a:endParaRPr lang="en-US" altLang="ko-KR" sz="1000" dirty="0">
                <a:latin typeface="Arial" pitchFamily="34" charset="0"/>
                <a:ea typeface="맑은 고딕" panose="020B0503020000020004" pitchFamily="50" charset="-127"/>
                <a:cs typeface="Arial" pitchFamily="34" charset="0"/>
              </a:endParaRPr>
            </a:p>
          </p:txBody>
        </p:sp>
      </p:grpSp>
      <p:cxnSp>
        <p:nvCxnSpPr>
          <p:cNvPr id="41" name="직선 연결선 40"/>
          <p:cNvCxnSpPr/>
          <p:nvPr/>
        </p:nvCxnSpPr>
        <p:spPr>
          <a:xfrm>
            <a:off x="357882" y="1917700"/>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5" name="직선 연결선 54"/>
          <p:cNvCxnSpPr/>
          <p:nvPr/>
        </p:nvCxnSpPr>
        <p:spPr>
          <a:xfrm>
            <a:off x="357882" y="2190750"/>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6" name="직선 연결선 55"/>
          <p:cNvCxnSpPr/>
          <p:nvPr/>
        </p:nvCxnSpPr>
        <p:spPr>
          <a:xfrm>
            <a:off x="357882" y="2462213"/>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7" name="직선 연결선 56"/>
          <p:cNvCxnSpPr/>
          <p:nvPr/>
        </p:nvCxnSpPr>
        <p:spPr>
          <a:xfrm>
            <a:off x="357882" y="2751138"/>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8" name="직선 연결선 57"/>
          <p:cNvCxnSpPr/>
          <p:nvPr/>
        </p:nvCxnSpPr>
        <p:spPr>
          <a:xfrm>
            <a:off x="357882" y="3013075"/>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9" name="직선 연결선 58"/>
          <p:cNvCxnSpPr/>
          <p:nvPr/>
        </p:nvCxnSpPr>
        <p:spPr>
          <a:xfrm>
            <a:off x="344488" y="3286125"/>
            <a:ext cx="5326757"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357882" y="3573463"/>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357882" y="3832225"/>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357882" y="4094163"/>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344488" y="4376738"/>
            <a:ext cx="5326757"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357882" y="4638675"/>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grpSp>
        <p:nvGrpSpPr>
          <p:cNvPr id="20502" name="그룹 83"/>
          <p:cNvGrpSpPr>
            <a:grpSpLocks/>
          </p:cNvGrpSpPr>
          <p:nvPr/>
        </p:nvGrpSpPr>
        <p:grpSpPr bwMode="auto">
          <a:xfrm>
            <a:off x="344488" y="1917700"/>
            <a:ext cx="5326757" cy="3903663"/>
            <a:chOff x="114575" y="2492896"/>
            <a:chExt cx="4766417" cy="3312368"/>
          </a:xfrm>
        </p:grpSpPr>
        <p:cxnSp>
          <p:nvCxnSpPr>
            <p:cNvPr id="46" name="직선 연결선 45"/>
            <p:cNvCxnSpPr/>
            <p:nvPr/>
          </p:nvCxnSpPr>
          <p:spPr>
            <a:xfrm>
              <a:off x="1789838" y="2492896"/>
              <a:ext cx="0" cy="331236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49" name="직선 연결선 48"/>
            <p:cNvCxnSpPr/>
            <p:nvPr/>
          </p:nvCxnSpPr>
          <p:spPr>
            <a:xfrm>
              <a:off x="2434171" y="2492896"/>
              <a:ext cx="0" cy="331236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0" name="직선 연결선 49"/>
            <p:cNvCxnSpPr/>
            <p:nvPr/>
          </p:nvCxnSpPr>
          <p:spPr>
            <a:xfrm>
              <a:off x="3014070" y="2492896"/>
              <a:ext cx="0" cy="331236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1" name="직선 연결선 50"/>
            <p:cNvCxnSpPr/>
            <p:nvPr/>
          </p:nvCxnSpPr>
          <p:spPr>
            <a:xfrm>
              <a:off x="3593969" y="2492896"/>
              <a:ext cx="0" cy="331236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2" name="직선 연결선 51"/>
            <p:cNvCxnSpPr/>
            <p:nvPr/>
          </p:nvCxnSpPr>
          <p:spPr>
            <a:xfrm>
              <a:off x="4238302" y="2492896"/>
              <a:ext cx="0" cy="331236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53" name="직선 연결선 52"/>
            <p:cNvCxnSpPr/>
            <p:nvPr/>
          </p:nvCxnSpPr>
          <p:spPr>
            <a:xfrm>
              <a:off x="4880992" y="2492896"/>
              <a:ext cx="0" cy="331236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5" name="직선 연결선 64"/>
            <p:cNvCxnSpPr/>
            <p:nvPr/>
          </p:nvCxnSpPr>
          <p:spPr>
            <a:xfrm>
              <a:off x="114575" y="2492896"/>
              <a:ext cx="0" cy="331236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grpSp>
      <p:sp>
        <p:nvSpPr>
          <p:cNvPr id="20503" name="TextBox 3989"/>
          <p:cNvSpPr txBox="1">
            <a:spLocks noChangeArrowheads="1"/>
          </p:cNvSpPr>
          <p:nvPr/>
        </p:nvSpPr>
        <p:spPr bwMode="auto">
          <a:xfrm>
            <a:off x="2393057" y="1846263"/>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04" name="TextBox 3989"/>
          <p:cNvSpPr txBox="1">
            <a:spLocks noChangeArrowheads="1"/>
          </p:cNvSpPr>
          <p:nvPr/>
        </p:nvSpPr>
        <p:spPr bwMode="auto">
          <a:xfrm>
            <a:off x="5148957" y="1846263"/>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05" name="TextBox 3989"/>
          <p:cNvSpPr txBox="1">
            <a:spLocks noChangeArrowheads="1"/>
          </p:cNvSpPr>
          <p:nvPr/>
        </p:nvSpPr>
        <p:spPr bwMode="auto">
          <a:xfrm>
            <a:off x="2393057" y="213360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06" name="TextBox 3989"/>
          <p:cNvSpPr txBox="1">
            <a:spLocks noChangeArrowheads="1"/>
          </p:cNvSpPr>
          <p:nvPr/>
        </p:nvSpPr>
        <p:spPr bwMode="auto">
          <a:xfrm>
            <a:off x="2393057" y="2422525"/>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07" name="TextBox 3989"/>
          <p:cNvSpPr txBox="1">
            <a:spLocks noChangeArrowheads="1"/>
          </p:cNvSpPr>
          <p:nvPr/>
        </p:nvSpPr>
        <p:spPr bwMode="auto">
          <a:xfrm>
            <a:off x="2393057" y="2690813"/>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08" name="TextBox 3989"/>
          <p:cNvSpPr txBox="1">
            <a:spLocks noChangeArrowheads="1"/>
          </p:cNvSpPr>
          <p:nvPr/>
        </p:nvSpPr>
        <p:spPr bwMode="auto">
          <a:xfrm>
            <a:off x="3088382" y="2970213"/>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09" name="TextBox 3989"/>
          <p:cNvSpPr txBox="1">
            <a:spLocks noChangeArrowheads="1"/>
          </p:cNvSpPr>
          <p:nvPr/>
        </p:nvSpPr>
        <p:spPr bwMode="auto">
          <a:xfrm>
            <a:off x="3088382" y="3233738"/>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0" name="TextBox 3989"/>
          <p:cNvSpPr txBox="1">
            <a:spLocks noChangeArrowheads="1"/>
          </p:cNvSpPr>
          <p:nvPr/>
        </p:nvSpPr>
        <p:spPr bwMode="auto">
          <a:xfrm>
            <a:off x="5148957" y="213360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1" name="TextBox 3989"/>
          <p:cNvSpPr txBox="1">
            <a:spLocks noChangeArrowheads="1"/>
          </p:cNvSpPr>
          <p:nvPr/>
        </p:nvSpPr>
        <p:spPr bwMode="auto">
          <a:xfrm>
            <a:off x="2393057" y="351155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2" name="TextBox 3989"/>
          <p:cNvSpPr txBox="1">
            <a:spLocks noChangeArrowheads="1"/>
          </p:cNvSpPr>
          <p:nvPr/>
        </p:nvSpPr>
        <p:spPr bwMode="auto">
          <a:xfrm>
            <a:off x="3078857" y="351155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3" name="TextBox 3989"/>
          <p:cNvSpPr txBox="1">
            <a:spLocks noChangeArrowheads="1"/>
          </p:cNvSpPr>
          <p:nvPr/>
        </p:nvSpPr>
        <p:spPr bwMode="auto">
          <a:xfrm>
            <a:off x="3728145" y="351155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4" name="TextBox 3989"/>
          <p:cNvSpPr txBox="1">
            <a:spLocks noChangeArrowheads="1"/>
          </p:cNvSpPr>
          <p:nvPr/>
        </p:nvSpPr>
        <p:spPr bwMode="auto">
          <a:xfrm>
            <a:off x="5168007" y="351155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5" name="TextBox 3989"/>
          <p:cNvSpPr txBox="1">
            <a:spLocks noChangeArrowheads="1"/>
          </p:cNvSpPr>
          <p:nvPr/>
        </p:nvSpPr>
        <p:spPr bwMode="auto">
          <a:xfrm>
            <a:off x="2393057" y="377190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6" name="TextBox 3989"/>
          <p:cNvSpPr txBox="1">
            <a:spLocks noChangeArrowheads="1"/>
          </p:cNvSpPr>
          <p:nvPr/>
        </p:nvSpPr>
        <p:spPr bwMode="auto">
          <a:xfrm>
            <a:off x="5168007" y="377190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7" name="TextBox 3989"/>
          <p:cNvSpPr txBox="1">
            <a:spLocks noChangeArrowheads="1"/>
          </p:cNvSpPr>
          <p:nvPr/>
        </p:nvSpPr>
        <p:spPr bwMode="auto">
          <a:xfrm>
            <a:off x="2393057" y="4035425"/>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8" name="TextBox 3989"/>
          <p:cNvSpPr txBox="1">
            <a:spLocks noChangeArrowheads="1"/>
          </p:cNvSpPr>
          <p:nvPr/>
        </p:nvSpPr>
        <p:spPr bwMode="auto">
          <a:xfrm>
            <a:off x="5168007" y="4035425"/>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19" name="TextBox 3989"/>
          <p:cNvSpPr txBox="1">
            <a:spLocks noChangeArrowheads="1"/>
          </p:cNvSpPr>
          <p:nvPr/>
        </p:nvSpPr>
        <p:spPr bwMode="auto">
          <a:xfrm>
            <a:off x="3723382" y="431800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20" name="TextBox 3989"/>
          <p:cNvSpPr txBox="1">
            <a:spLocks noChangeArrowheads="1"/>
          </p:cNvSpPr>
          <p:nvPr/>
        </p:nvSpPr>
        <p:spPr bwMode="auto">
          <a:xfrm>
            <a:off x="5168007" y="4303713"/>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cxnSp>
        <p:nvCxnSpPr>
          <p:cNvPr id="86" name="직선 연결선 85"/>
          <p:cNvCxnSpPr/>
          <p:nvPr/>
        </p:nvCxnSpPr>
        <p:spPr>
          <a:xfrm>
            <a:off x="344488" y="4927600"/>
            <a:ext cx="5326757"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7" name="직선 연결선 86"/>
          <p:cNvCxnSpPr/>
          <p:nvPr/>
        </p:nvCxnSpPr>
        <p:spPr>
          <a:xfrm>
            <a:off x="344488" y="5189538"/>
            <a:ext cx="5326757"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8" name="직선 연결선 87"/>
          <p:cNvCxnSpPr/>
          <p:nvPr/>
        </p:nvCxnSpPr>
        <p:spPr>
          <a:xfrm>
            <a:off x="357882" y="5472113"/>
            <a:ext cx="5313363"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9" name="직선 연결선 88"/>
          <p:cNvCxnSpPr/>
          <p:nvPr/>
        </p:nvCxnSpPr>
        <p:spPr>
          <a:xfrm>
            <a:off x="344488" y="5807075"/>
            <a:ext cx="5326757" cy="0"/>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20525" name="TextBox 3989"/>
          <p:cNvSpPr txBox="1">
            <a:spLocks noChangeArrowheads="1"/>
          </p:cNvSpPr>
          <p:nvPr/>
        </p:nvSpPr>
        <p:spPr bwMode="auto">
          <a:xfrm>
            <a:off x="3064570" y="4608513"/>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26" name="TextBox 3989"/>
          <p:cNvSpPr txBox="1">
            <a:spLocks noChangeArrowheads="1"/>
          </p:cNvSpPr>
          <p:nvPr/>
        </p:nvSpPr>
        <p:spPr bwMode="auto">
          <a:xfrm>
            <a:off x="5168007" y="4592638"/>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27" name="TextBox 3989"/>
          <p:cNvSpPr txBox="1">
            <a:spLocks noChangeArrowheads="1"/>
          </p:cNvSpPr>
          <p:nvPr/>
        </p:nvSpPr>
        <p:spPr bwMode="auto">
          <a:xfrm>
            <a:off x="2400995" y="4608513"/>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28" name="TextBox 3989"/>
          <p:cNvSpPr txBox="1">
            <a:spLocks noChangeArrowheads="1"/>
          </p:cNvSpPr>
          <p:nvPr/>
        </p:nvSpPr>
        <p:spPr bwMode="auto">
          <a:xfrm>
            <a:off x="4421882" y="4592638"/>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29" name="TextBox 3989"/>
          <p:cNvSpPr txBox="1">
            <a:spLocks noChangeArrowheads="1"/>
          </p:cNvSpPr>
          <p:nvPr/>
        </p:nvSpPr>
        <p:spPr bwMode="auto">
          <a:xfrm>
            <a:off x="4421882" y="5157788"/>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30" name="TextBox 3989"/>
          <p:cNvSpPr txBox="1">
            <a:spLocks noChangeArrowheads="1"/>
          </p:cNvSpPr>
          <p:nvPr/>
        </p:nvSpPr>
        <p:spPr bwMode="auto">
          <a:xfrm>
            <a:off x="3059807" y="5157788"/>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96" name="TextBox 95"/>
          <p:cNvSpPr txBox="1"/>
          <p:nvPr/>
        </p:nvSpPr>
        <p:spPr>
          <a:xfrm>
            <a:off x="2307357" y="4970530"/>
            <a:ext cx="3289277" cy="190821"/>
          </a:xfrm>
          <a:prstGeom prst="rect">
            <a:avLst/>
          </a:prstGeom>
          <a:solidFill>
            <a:schemeClr val="bg1"/>
          </a:solidFill>
        </p:spPr>
        <p:txBody>
          <a:bodyPr wrap="square">
            <a:spAutoFit/>
          </a:bodyPr>
          <a:lstStyle/>
          <a:p>
            <a:pPr marL="266700" indent="-266700">
              <a:lnSpc>
                <a:spcPct val="80000"/>
              </a:lnSpc>
              <a:buClr>
                <a:srgbClr val="C5003D"/>
              </a:buClr>
              <a:defRPr/>
            </a:pPr>
            <a:r>
              <a:rPr lang="en-US" altLang="ko-KR" sz="800" dirty="0">
                <a:latin typeface="Arial" pitchFamily="34" charset="0"/>
                <a:ea typeface="맑은 고딕" panose="020B0503020000020004" pitchFamily="50" charset="-127"/>
                <a:cs typeface="Arial" pitchFamily="34" charset="0"/>
              </a:rPr>
              <a:t>Prerequisite conditions for quantitative measurement and analysis</a:t>
            </a:r>
            <a:r>
              <a:rPr lang="ko-KR" altLang="en-US" sz="800" dirty="0">
                <a:latin typeface="Arial" pitchFamily="34" charset="0"/>
                <a:ea typeface="맑은 고딕" panose="020B0503020000020004" pitchFamily="50" charset="-127"/>
                <a:cs typeface="Arial" pitchFamily="34" charset="0"/>
              </a:rPr>
              <a:t>    </a:t>
            </a:r>
          </a:p>
        </p:txBody>
      </p:sp>
      <p:sp>
        <p:nvSpPr>
          <p:cNvPr id="20532" name="TextBox 3989"/>
          <p:cNvSpPr txBox="1">
            <a:spLocks noChangeArrowheads="1"/>
          </p:cNvSpPr>
          <p:nvPr/>
        </p:nvSpPr>
        <p:spPr bwMode="auto">
          <a:xfrm>
            <a:off x="4421882" y="5461000"/>
            <a:ext cx="3385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pPr>
            <a:r>
              <a:rPr lang="ko-KR" altLang="en-US" sz="1200" b="1">
                <a:latin typeface="Arial" pitchFamily="34" charset="0"/>
                <a:ea typeface="맑은 고딕" panose="020B0503020000020004" pitchFamily="50" charset="-127"/>
                <a:cs typeface="Arial" pitchFamily="34" charset="0"/>
              </a:rPr>
              <a:t>●</a:t>
            </a:r>
          </a:p>
        </p:txBody>
      </p:sp>
      <p:sp>
        <p:nvSpPr>
          <p:cNvPr id="20533" name="TextBox 97"/>
          <p:cNvSpPr txBox="1">
            <a:spLocks noChangeArrowheads="1"/>
          </p:cNvSpPr>
          <p:nvPr/>
        </p:nvSpPr>
        <p:spPr bwMode="auto">
          <a:xfrm>
            <a:off x="1208782" y="5876925"/>
            <a:ext cx="239360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000" dirty="0">
                <a:latin typeface="Arial" pitchFamily="34" charset="0"/>
                <a:ea typeface="맑은 고딕" panose="020B0503020000020004" pitchFamily="50" charset="-127"/>
                <a:cs typeface="Arial" pitchFamily="34" charset="0"/>
              </a:rPr>
              <a:t>*MSA : Measurement System Analysis</a:t>
            </a:r>
            <a:endParaRPr lang="ko-KR" altLang="en-US" sz="1000" dirty="0">
              <a:latin typeface="Arial" pitchFamily="34" charset="0"/>
              <a:ea typeface="맑은 고딕" panose="020B0503020000020004" pitchFamily="50" charset="-127"/>
              <a:cs typeface="Arial" pitchFamily="34" charset="0"/>
            </a:endParaRPr>
          </a:p>
        </p:txBody>
      </p:sp>
      <p:sp>
        <p:nvSpPr>
          <p:cNvPr id="72" name="오른쪽 중괄호 71"/>
          <p:cNvSpPr/>
          <p:nvPr/>
        </p:nvSpPr>
        <p:spPr>
          <a:xfrm>
            <a:off x="5745857" y="1916113"/>
            <a:ext cx="215900" cy="1944687"/>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a:latin typeface="Arial" pitchFamily="34" charset="0"/>
              <a:ea typeface="맑은 고딕" panose="020B0503020000020004" pitchFamily="50" charset="-127"/>
              <a:cs typeface="Arial" pitchFamily="34" charset="0"/>
            </a:endParaRPr>
          </a:p>
        </p:txBody>
      </p:sp>
      <p:sp>
        <p:nvSpPr>
          <p:cNvPr id="73" name="TextBox 72"/>
          <p:cNvSpPr txBox="1"/>
          <p:nvPr/>
        </p:nvSpPr>
        <p:spPr>
          <a:xfrm>
            <a:off x="5934322" y="2708920"/>
            <a:ext cx="890886" cy="332399"/>
          </a:xfrm>
          <a:prstGeom prst="rect">
            <a:avLst/>
          </a:prstGeom>
          <a:noFill/>
        </p:spPr>
        <p:txBody>
          <a:bodyPr wrap="none">
            <a:spAutoFit/>
          </a:bodyPr>
          <a:lstStyle/>
          <a:p>
            <a:pPr marL="266700" indent="-266700" algn="ctr">
              <a:lnSpc>
                <a:spcPct val="130000"/>
              </a:lnSpc>
              <a:buClr>
                <a:srgbClr val="C5003D"/>
              </a:buClr>
              <a:defRPr/>
            </a:pPr>
            <a:r>
              <a:rPr lang="en-US" altLang="ko-KR" sz="1200" b="1" dirty="0">
                <a:latin typeface="Arial" pitchFamily="34" charset="0"/>
                <a:ea typeface="맑은 고딕" panose="020B0503020000020004" pitchFamily="50" charset="-127"/>
                <a:cs typeface="Arial" pitchFamily="34" charset="0"/>
              </a:rPr>
              <a:t>QC 7 tool</a:t>
            </a:r>
            <a:endParaRPr lang="ko-KR" altLang="en-US" sz="1200" b="1" dirty="0">
              <a:latin typeface="Arial" pitchFamily="34" charset="0"/>
              <a:ea typeface="맑은 고딕" panose="020B0503020000020004" pitchFamily="50" charset="-127"/>
              <a:cs typeface="Arial" pitchFamily="34" charset="0"/>
            </a:endParaRP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23</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407369536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530" name="Text Box 3"/>
          <p:cNvSpPr txBox="1">
            <a:spLocks noChangeArrowheads="1"/>
          </p:cNvSpPr>
          <p:nvPr/>
        </p:nvSpPr>
        <p:spPr bwMode="auto">
          <a:xfrm>
            <a:off x="920750" y="1196975"/>
            <a:ext cx="47692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Blip>
                <a:blip r:embed="rId3"/>
              </a:buBlip>
            </a:pPr>
            <a:r>
              <a:rPr lang="en-US" altLang="ko-KR" b="1" dirty="0" err="1">
                <a:latin typeface="Arial" pitchFamily="34" charset="0"/>
                <a:ea typeface="맑은 고딕" pitchFamily="50" charset="-127"/>
                <a:cs typeface="Arial" pitchFamily="34" charset="0"/>
              </a:rPr>
              <a:t>Sự</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phát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triển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của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Quản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lý</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chất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lượng</a:t>
            </a:r>
            <a:r>
              <a:rPr lang="en-US" altLang="ko-KR" b="1" dirty="0">
                <a:latin typeface="Arial" pitchFamily="34" charset="0"/>
                <a:ea typeface="맑은 고딕" pitchFamily="50" charset="-127"/>
                <a:cs typeface="Arial" pitchFamily="34" charset="0"/>
              </a:rPr>
              <a:t>”</a:t>
            </a:r>
          </a:p>
        </p:txBody>
      </p:sp>
      <p:sp>
        <p:nvSpPr>
          <p:cNvPr id="22531" name="Rectangle 4"/>
          <p:cNvSpPr>
            <a:spLocks noChangeArrowheads="1"/>
          </p:cNvSpPr>
          <p:nvPr/>
        </p:nvSpPr>
        <p:spPr bwMode="auto">
          <a:xfrm>
            <a:off x="615140" y="1628800"/>
            <a:ext cx="8675720" cy="5134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30000"/>
              </a:lnSpc>
            </a:pPr>
            <a:r>
              <a:rPr lang="en-US" altLang="ko-KR" sz="1400" dirty="0">
                <a:latin typeface="Arial" pitchFamily="34" charset="0"/>
                <a:ea typeface="맑은 고딕" pitchFamily="50" charset="-127"/>
                <a:cs typeface="Arial" pitchFamily="34" charset="0"/>
              </a:rPr>
              <a:t>1) </a:t>
            </a:r>
            <a:r>
              <a:rPr lang="en-US" altLang="ko-KR" sz="1400" dirty="0" err="1">
                <a:latin typeface="Arial" pitchFamily="34" charset="0"/>
                <a:ea typeface="맑은 고딕" pitchFamily="50" charset="-127"/>
                <a:cs typeface="Arial" pitchFamily="34" charset="0"/>
              </a:rPr>
              <a:t>Lý</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thuyết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liên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quan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tới</a:t>
            </a:r>
            <a:r>
              <a:rPr lang="en-US" altLang="ko-KR" sz="1400" dirty="0">
                <a:latin typeface="Arial" pitchFamily="34" charset="0"/>
                <a:ea typeface="맑은 고딕" pitchFamily="50" charset="-127"/>
                <a:cs typeface="Arial" pitchFamily="34" charset="0"/>
              </a:rPr>
              <a:t> k</a:t>
            </a:r>
            <a:r>
              <a:rPr lang="vi-VN" altLang="ko-KR" sz="1400" dirty="0">
                <a:latin typeface="Arial" pitchFamily="34" charset="0"/>
                <a:ea typeface="맑은 고딕" pitchFamily="50" charset="-127"/>
                <a:cs typeface="Arial" pitchFamily="34" charset="0"/>
              </a:rPr>
              <a:t>iểm soát chất lượng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được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khởi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xướng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lần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đầu</a:t>
            </a:r>
            <a:r>
              <a:rPr lang="vi-VN" altLang="ko-KR" sz="1400" dirty="0">
                <a:latin typeface="Arial" pitchFamily="34" charset="0"/>
                <a:ea typeface="맑은 고딕" pitchFamily="50" charset="-127"/>
                <a:cs typeface="Arial" pitchFamily="34" charset="0"/>
              </a:rPr>
              <a:t> vào năm 1924</a:t>
            </a:r>
            <a:r>
              <a:rPr lang="en-US" altLang="ko-KR" sz="1400" dirty="0">
                <a:latin typeface="Arial" pitchFamily="34" charset="0"/>
                <a:ea typeface="맑은 고딕" pitchFamily="50" charset="-127"/>
                <a:cs typeface="Arial" pitchFamily="34" charset="0"/>
              </a:rPr>
              <a:t>.</a:t>
            </a:r>
            <a:r>
              <a:rPr lang="vi-VN" altLang="ko-KR" sz="1400" dirty="0">
                <a:latin typeface="Arial" pitchFamily="34" charset="0"/>
                <a:ea typeface="맑은 고딕" pitchFamily="50" charset="-127"/>
                <a:cs typeface="Arial" pitchFamily="34" charset="0"/>
              </a:rPr>
              <a:t> Shewhart tại Bell Labs</a:t>
            </a:r>
            <a:r>
              <a:rPr lang="en-US" altLang="ko-KR" sz="1400" dirty="0">
                <a:latin typeface="Arial" pitchFamily="34" charset="0"/>
                <a:ea typeface="맑은 고딕" pitchFamily="50" charset="-127"/>
                <a:cs typeface="Arial" pitchFamily="34" charset="0"/>
              </a:rPr>
              <a:t>, </a:t>
            </a:r>
            <a:r>
              <a:rPr lang="vi-VN" altLang="ko-KR" sz="1400" dirty="0">
                <a:latin typeface="Arial" pitchFamily="34" charset="0"/>
                <a:ea typeface="맑은 고딕" pitchFamily="50" charset="-127"/>
                <a:cs typeface="Arial" pitchFamily="34" charset="0"/>
              </a:rPr>
              <a:t>Mỹ đã đề xuất một phương pháp định lượng quản lý việc phân phối các phương sai trong đặc tính sản phẩm.</a:t>
            </a:r>
            <a:endParaRPr lang="en-US" altLang="ko-KR" sz="1400" dirty="0">
              <a:latin typeface="Arial" pitchFamily="34" charset="0"/>
              <a:ea typeface="맑은 고딕" pitchFamily="50" charset="-127"/>
              <a:cs typeface="Arial" pitchFamily="34" charset="0"/>
            </a:endParaRPr>
          </a:p>
          <a:p>
            <a:pPr algn="just" eaLnBrk="1" hangingPunct="1">
              <a:lnSpc>
                <a:spcPct val="130000"/>
              </a:lnSpc>
            </a:pPr>
            <a:r>
              <a:rPr lang="en-US" altLang="ko-KR" sz="1400" dirty="0">
                <a:latin typeface="Arial" pitchFamily="34" charset="0"/>
                <a:ea typeface="맑은 고딕" pitchFamily="50" charset="-127"/>
                <a:cs typeface="Arial" pitchFamily="34" charset="0"/>
              </a:rPr>
              <a:t>2) </a:t>
            </a:r>
            <a:r>
              <a:rPr lang="vi-VN" sz="1400" dirty="0">
                <a:latin typeface="Arial" pitchFamily="34" charset="0"/>
                <a:cs typeface="Arial" pitchFamily="34" charset="0"/>
              </a:rPr>
              <a:t>Khoảng năm 1930, Dodge và Romig, cũng </a:t>
            </a:r>
            <a:r>
              <a:rPr lang="en-US" sz="1400" dirty="0">
                <a:latin typeface="Arial" pitchFamily="34" charset="0"/>
                <a:cs typeface="Arial" pitchFamily="34" charset="0"/>
              </a:rPr>
              <a:t>ở </a:t>
            </a:r>
            <a:r>
              <a:rPr lang="vi-VN" sz="1400" dirty="0">
                <a:latin typeface="Arial" pitchFamily="34" charset="0"/>
                <a:cs typeface="Arial" pitchFamily="34" charset="0"/>
              </a:rPr>
              <a:t>Bell Labs, </a:t>
            </a:r>
            <a:r>
              <a:rPr lang="en-US" sz="1400" dirty="0" err="1">
                <a:latin typeface="Arial" pitchFamily="34" charset="0"/>
                <a:cs typeface="Arial" pitchFamily="34" charset="0"/>
              </a:rPr>
              <a:t>đã</a:t>
            </a:r>
            <a:r>
              <a:rPr lang="en-US" sz="1400" dirty="0">
                <a:latin typeface="Arial" pitchFamily="34" charset="0"/>
                <a:cs typeface="Arial" pitchFamily="34" charset="0"/>
              </a:rPr>
              <a:t> </a:t>
            </a:r>
            <a:r>
              <a:rPr lang="vi-VN" sz="1400" dirty="0">
                <a:latin typeface="Arial" pitchFamily="34" charset="0"/>
                <a:cs typeface="Arial" pitchFamily="34" charset="0"/>
              </a:rPr>
              <a:t>phát triển các kỹ thuật lấy mẫu và đ</a:t>
            </a:r>
            <a:r>
              <a:rPr lang="en-US" sz="1400" dirty="0">
                <a:latin typeface="Arial" pitchFamily="34" charset="0"/>
                <a:cs typeface="Arial" pitchFamily="34" charset="0"/>
              </a:rPr>
              <a:t>ó</a:t>
            </a:r>
            <a:r>
              <a:rPr lang="vi-VN" sz="1400" dirty="0">
                <a:latin typeface="Arial" pitchFamily="34" charset="0"/>
                <a:cs typeface="Arial" pitchFamily="34" charset="0"/>
              </a:rPr>
              <a:t> là</a:t>
            </a:r>
            <a:r>
              <a:rPr lang="en-US" sz="1400" dirty="0">
                <a:latin typeface="Arial" pitchFamily="34" charset="0"/>
                <a:cs typeface="Arial" pitchFamily="34" charset="0"/>
              </a:rPr>
              <a:t> </a:t>
            </a:r>
            <a:r>
              <a:rPr lang="en-US" sz="1400" dirty="0" err="1">
                <a:latin typeface="Arial" pitchFamily="34" charset="0"/>
                <a:cs typeface="Arial" pitchFamily="34" charset="0"/>
              </a:rPr>
              <a:t>thời</a:t>
            </a:r>
            <a:br>
              <a:rPr lang="en-US" sz="1400" dirty="0">
                <a:latin typeface="Arial" pitchFamily="34" charset="0"/>
                <a:cs typeface="Arial" pitchFamily="34" charset="0"/>
              </a:rPr>
            </a:br>
            <a:r>
              <a:rPr lang="en-US" sz="1400" dirty="0" err="1">
                <a:latin typeface="Arial" pitchFamily="34" charset="0"/>
                <a:cs typeface="Arial" pitchFamily="34" charset="0"/>
              </a:rPr>
              <a:t>điểm</a:t>
            </a:r>
            <a:r>
              <a:rPr lang="vi-VN" sz="1400" dirty="0">
                <a:latin typeface="Arial" pitchFamily="34" charset="0"/>
                <a:cs typeface="Arial" pitchFamily="34" charset="0"/>
              </a:rPr>
              <a:t> khi kiểm soát chất lượng thống kê (Statistical Quality Control </a:t>
            </a:r>
            <a:r>
              <a:rPr lang="en-US" sz="1400" dirty="0">
                <a:latin typeface="Arial" pitchFamily="34" charset="0"/>
                <a:cs typeface="Arial" pitchFamily="34" charset="0"/>
              </a:rPr>
              <a:t>– </a:t>
            </a:r>
            <a:r>
              <a:rPr lang="vi-VN" sz="1400" dirty="0">
                <a:latin typeface="Arial" pitchFamily="34" charset="0"/>
                <a:cs typeface="Arial" pitchFamily="34" charset="0"/>
              </a:rPr>
              <a:t>SQC) đã bắt đầu được thực hiện</a:t>
            </a:r>
            <a:br>
              <a:rPr lang="en-US" sz="1400" dirty="0">
                <a:latin typeface="Arial" pitchFamily="34" charset="0"/>
                <a:cs typeface="Arial" pitchFamily="34" charset="0"/>
              </a:rPr>
            </a:br>
            <a:r>
              <a:rPr lang="vi-VN" sz="1400" dirty="0">
                <a:latin typeface="Arial" pitchFamily="34" charset="0"/>
                <a:cs typeface="Arial" pitchFamily="34" charset="0"/>
              </a:rPr>
              <a:t>một cách hệ thống </a:t>
            </a:r>
            <a:r>
              <a:rPr lang="en-US" sz="1400" dirty="0" err="1">
                <a:latin typeface="Arial" pitchFamily="34" charset="0"/>
                <a:cs typeface="Arial" pitchFamily="34" charset="0"/>
              </a:rPr>
              <a:t>và</a:t>
            </a:r>
            <a:r>
              <a:rPr lang="en-US" sz="1400" dirty="0">
                <a:latin typeface="Arial" pitchFamily="34" charset="0"/>
                <a:cs typeface="Arial" pitchFamily="34" charset="0"/>
              </a:rPr>
              <a:t> </a:t>
            </a:r>
            <a:r>
              <a:rPr lang="vi-VN" sz="1400" dirty="0">
                <a:latin typeface="Arial" pitchFamily="34" charset="0"/>
                <a:cs typeface="Arial" pitchFamily="34" charset="0"/>
              </a:rPr>
              <a:t>nghiêm túc.</a:t>
            </a:r>
            <a:endParaRPr lang="en-US" altLang="ko-KR" sz="1400" dirty="0">
              <a:latin typeface="Arial" pitchFamily="34" charset="0"/>
              <a:ea typeface="맑은 고딕" pitchFamily="50" charset="-127"/>
              <a:cs typeface="Arial" pitchFamily="34" charset="0"/>
            </a:endParaRPr>
          </a:p>
          <a:p>
            <a:pPr algn="just" eaLnBrk="1" hangingPunct="1">
              <a:lnSpc>
                <a:spcPct val="130000"/>
              </a:lnSpc>
            </a:pPr>
            <a:r>
              <a:rPr lang="en-US" altLang="ko-KR" sz="1400" dirty="0">
                <a:latin typeface="Arial" pitchFamily="34" charset="0"/>
                <a:ea typeface="맑은 고딕" pitchFamily="50" charset="-127"/>
                <a:cs typeface="Arial" pitchFamily="34" charset="0"/>
              </a:rPr>
              <a:t>3) </a:t>
            </a:r>
            <a:r>
              <a:rPr lang="vi-VN" sz="1400" dirty="0">
                <a:latin typeface="Arial" pitchFamily="34" charset="0"/>
                <a:cs typeface="Arial" pitchFamily="34" charset="0"/>
              </a:rPr>
              <a:t>SQC đã được thực hiện đầu tiên trong sản xuất và điều này dẫn đến các chiến dịch Tổng Quản lý chất</a:t>
            </a:r>
            <a:br>
              <a:rPr lang="en-US" sz="1400" dirty="0">
                <a:latin typeface="Arial" pitchFamily="34" charset="0"/>
                <a:cs typeface="Arial" pitchFamily="34" charset="0"/>
              </a:rPr>
            </a:br>
            <a:r>
              <a:rPr lang="vi-VN" sz="1400" dirty="0">
                <a:latin typeface="Arial" pitchFamily="34" charset="0"/>
                <a:cs typeface="Arial" pitchFamily="34" charset="0"/>
              </a:rPr>
              <a:t>lượng (Total Quality Control </a:t>
            </a:r>
            <a:r>
              <a:rPr lang="en-US" sz="1400" dirty="0">
                <a:latin typeface="Arial" pitchFamily="34" charset="0"/>
                <a:cs typeface="Arial" pitchFamily="34" charset="0"/>
              </a:rPr>
              <a:t>– </a:t>
            </a:r>
            <a:r>
              <a:rPr lang="vi-VN" sz="1400" dirty="0">
                <a:latin typeface="Arial" pitchFamily="34" charset="0"/>
                <a:cs typeface="Arial" pitchFamily="34" charset="0"/>
              </a:rPr>
              <a:t>TQC) trong </a:t>
            </a:r>
            <a:r>
              <a:rPr lang="en-US" sz="1400" dirty="0" err="1">
                <a:latin typeface="Arial" pitchFamily="34" charset="0"/>
                <a:cs typeface="Arial" pitchFamily="34" charset="0"/>
              </a:rPr>
              <a:t>toàn</a:t>
            </a:r>
            <a:r>
              <a:rPr lang="en-US" sz="1400" dirty="0">
                <a:latin typeface="Arial" pitchFamily="34" charset="0"/>
                <a:cs typeface="Arial" pitchFamily="34" charset="0"/>
              </a:rPr>
              <a:t> </a:t>
            </a:r>
            <a:r>
              <a:rPr lang="en-US" sz="1400" dirty="0" err="1">
                <a:latin typeface="Arial" pitchFamily="34" charset="0"/>
                <a:cs typeface="Arial" pitchFamily="34" charset="0"/>
              </a:rPr>
              <a:t>bộ</a:t>
            </a:r>
            <a:r>
              <a:rPr lang="en-US" sz="1400" dirty="0">
                <a:latin typeface="Arial" pitchFamily="34" charset="0"/>
                <a:cs typeface="Arial" pitchFamily="34" charset="0"/>
              </a:rPr>
              <a:t> </a:t>
            </a:r>
            <a:r>
              <a:rPr lang="en-US" sz="1400" dirty="0" err="1">
                <a:latin typeface="Arial" pitchFamily="34" charset="0"/>
                <a:cs typeface="Arial" pitchFamily="34" charset="0"/>
              </a:rPr>
              <a:t>công</a:t>
            </a:r>
            <a:r>
              <a:rPr lang="en-US" sz="1400" dirty="0">
                <a:latin typeface="Arial" pitchFamily="34" charset="0"/>
                <a:cs typeface="Arial" pitchFamily="34" charset="0"/>
              </a:rPr>
              <a:t> </a:t>
            </a:r>
            <a:r>
              <a:rPr lang="en-US" sz="1400" dirty="0" err="1">
                <a:latin typeface="Arial" pitchFamily="34" charset="0"/>
                <a:cs typeface="Arial" pitchFamily="34" charset="0"/>
              </a:rPr>
              <a:t>ty</a:t>
            </a:r>
            <a:r>
              <a:rPr lang="en-US" sz="1400" dirty="0">
                <a:latin typeface="Arial" pitchFamily="34" charset="0"/>
                <a:cs typeface="Arial" pitchFamily="34" charset="0"/>
              </a:rPr>
              <a:t>, </a:t>
            </a:r>
            <a:r>
              <a:rPr lang="vi-VN" sz="1400" dirty="0">
                <a:latin typeface="Arial" pitchFamily="34" charset="0"/>
                <a:cs typeface="Arial" pitchFamily="34" charset="0"/>
              </a:rPr>
              <a:t>nơi SQC sẽ được mở rộng đến các khu vực phi</a:t>
            </a:r>
            <a:br>
              <a:rPr lang="en-US" sz="1400" dirty="0">
                <a:latin typeface="Arial" pitchFamily="34" charset="0"/>
                <a:cs typeface="Arial" pitchFamily="34" charset="0"/>
              </a:rPr>
            </a:br>
            <a:r>
              <a:rPr lang="vi-VN" sz="1400" dirty="0">
                <a:latin typeface="Arial" pitchFamily="34" charset="0"/>
                <a:cs typeface="Arial" pitchFamily="34" charset="0"/>
              </a:rPr>
              <a:t>sản xuất khác (thiết kế sản phẩm, vật liệu, dịch vụ, v</a:t>
            </a:r>
            <a:r>
              <a:rPr lang="en-US" sz="1400" dirty="0">
                <a:latin typeface="Arial" pitchFamily="34" charset="0"/>
                <a:cs typeface="Arial" pitchFamily="34" charset="0"/>
              </a:rPr>
              <a:t>.</a:t>
            </a:r>
            <a:r>
              <a:rPr lang="vi-VN" sz="1400" dirty="0">
                <a:latin typeface="Arial" pitchFamily="34" charset="0"/>
                <a:cs typeface="Arial" pitchFamily="34" charset="0"/>
              </a:rPr>
              <a:t>v</a:t>
            </a:r>
            <a:r>
              <a:rPr lang="en-US" sz="1400" dirty="0">
                <a:latin typeface="Arial" pitchFamily="34" charset="0"/>
                <a:cs typeface="Arial" pitchFamily="34" charset="0"/>
              </a:rPr>
              <a:t>…</a:t>
            </a:r>
            <a:r>
              <a:rPr lang="vi-VN" sz="1400" dirty="0">
                <a:latin typeface="Arial" pitchFamily="34" charset="0"/>
                <a:cs typeface="Arial" pitchFamily="34" charset="0"/>
              </a:rPr>
              <a:t>). Cuối cùng, SQC bắt đầu được áp dụng trong suốt </a:t>
            </a:r>
            <a:r>
              <a:rPr lang="en-US" sz="1400" dirty="0" err="1">
                <a:latin typeface="Arial" pitchFamily="34" charset="0"/>
                <a:cs typeface="Arial" pitchFamily="34" charset="0"/>
              </a:rPr>
              <a:t>quá</a:t>
            </a:r>
            <a:r>
              <a:rPr lang="en-US" sz="1400" dirty="0">
                <a:latin typeface="Arial" pitchFamily="34" charset="0"/>
                <a:cs typeface="Arial" pitchFamily="34" charset="0"/>
              </a:rPr>
              <a:t> </a:t>
            </a:r>
            <a:r>
              <a:rPr lang="en-US" sz="1400" dirty="0" err="1">
                <a:latin typeface="Arial" pitchFamily="34" charset="0"/>
                <a:cs typeface="Arial" pitchFamily="34" charset="0"/>
              </a:rPr>
              <a:t>trình</a:t>
            </a:r>
            <a:r>
              <a:rPr lang="en-US" sz="1400" dirty="0">
                <a:latin typeface="Arial" pitchFamily="34" charset="0"/>
                <a:cs typeface="Arial" pitchFamily="34" charset="0"/>
              </a:rPr>
              <a:t> </a:t>
            </a:r>
            <a:r>
              <a:rPr lang="en-US" sz="1400" dirty="0" err="1">
                <a:latin typeface="Arial" pitchFamily="34" charset="0"/>
                <a:cs typeface="Arial" pitchFamily="34" charset="0"/>
              </a:rPr>
              <a:t>quản</a:t>
            </a:r>
            <a:r>
              <a:rPr lang="en-US" sz="1400" dirty="0">
                <a:latin typeface="Arial" pitchFamily="34" charset="0"/>
                <a:cs typeface="Arial" pitchFamily="34" charset="0"/>
              </a:rPr>
              <a:t> </a:t>
            </a:r>
            <a:r>
              <a:rPr lang="en-US" sz="1400" dirty="0" err="1">
                <a:latin typeface="Arial" pitchFamily="34" charset="0"/>
                <a:cs typeface="Arial" pitchFamily="34" charset="0"/>
              </a:rPr>
              <a:t>lý</a:t>
            </a:r>
            <a:r>
              <a:rPr lang="en-US" sz="1400" dirty="0">
                <a:latin typeface="Arial" pitchFamily="34" charset="0"/>
                <a:cs typeface="Arial" pitchFamily="34" charset="0"/>
              </a:rPr>
              <a:t> </a:t>
            </a:r>
            <a:r>
              <a:rPr lang="vi-VN" sz="1400" dirty="0">
                <a:latin typeface="Arial" pitchFamily="34" charset="0"/>
                <a:cs typeface="Arial" pitchFamily="34" charset="0"/>
              </a:rPr>
              <a:t>của</a:t>
            </a:r>
            <a:r>
              <a:rPr lang="en-US" sz="1400" dirty="0">
                <a:latin typeface="Arial" pitchFamily="34" charset="0"/>
                <a:cs typeface="Arial" pitchFamily="34" charset="0"/>
              </a:rPr>
              <a:t> </a:t>
            </a:r>
            <a:r>
              <a:rPr lang="vi-VN" sz="1400" dirty="0">
                <a:latin typeface="Arial" pitchFamily="34" charset="0"/>
                <a:cs typeface="Arial" pitchFamily="34" charset="0"/>
              </a:rPr>
              <a:t>các doanh nghiệp và nó phát triển thành </a:t>
            </a:r>
            <a:r>
              <a:rPr lang="en-US" sz="1400" dirty="0" err="1">
                <a:latin typeface="Arial" pitchFamily="34" charset="0"/>
                <a:cs typeface="Arial" pitchFamily="34" charset="0"/>
              </a:rPr>
              <a:t>việc</a:t>
            </a:r>
            <a:r>
              <a:rPr lang="en-US" sz="1400" dirty="0">
                <a:latin typeface="Arial" pitchFamily="34" charset="0"/>
                <a:cs typeface="Arial" pitchFamily="34" charset="0"/>
              </a:rPr>
              <a:t> </a:t>
            </a:r>
            <a:r>
              <a:rPr lang="en-US" sz="1400" dirty="0" err="1">
                <a:latin typeface="Arial" pitchFamily="34" charset="0"/>
                <a:cs typeface="Arial" pitchFamily="34" charset="0"/>
              </a:rPr>
              <a:t>biến</a:t>
            </a:r>
            <a:r>
              <a:rPr lang="vi-VN" sz="1400" dirty="0">
                <a:latin typeface="Arial" pitchFamily="34" charset="0"/>
                <a:cs typeface="Arial" pitchFamily="34" charset="0"/>
              </a:rPr>
              <a:t> khách hàng </a:t>
            </a:r>
            <a:r>
              <a:rPr lang="en-US" sz="1400" dirty="0" err="1">
                <a:latin typeface="Arial" pitchFamily="34" charset="0"/>
                <a:cs typeface="Arial" pitchFamily="34" charset="0"/>
              </a:rPr>
              <a:t>trở</a:t>
            </a:r>
            <a:r>
              <a:rPr lang="en-US" sz="1400" dirty="0">
                <a:latin typeface="Arial" pitchFamily="34" charset="0"/>
                <a:cs typeface="Arial" pitchFamily="34" charset="0"/>
              </a:rPr>
              <a:t> </a:t>
            </a:r>
            <a:r>
              <a:rPr lang="en-US" sz="1400" dirty="0" err="1">
                <a:latin typeface="Arial" pitchFamily="34" charset="0"/>
                <a:cs typeface="Arial" pitchFamily="34" charset="0"/>
              </a:rPr>
              <a:t>thành</a:t>
            </a:r>
            <a:r>
              <a:rPr lang="en-US" sz="1400" dirty="0">
                <a:latin typeface="Arial" pitchFamily="34" charset="0"/>
                <a:cs typeface="Arial" pitchFamily="34" charset="0"/>
              </a:rPr>
              <a:t> </a:t>
            </a:r>
            <a:r>
              <a:rPr lang="vi-VN" sz="1400" dirty="0">
                <a:latin typeface="Arial" pitchFamily="34" charset="0"/>
                <a:cs typeface="Arial" pitchFamily="34" charset="0"/>
              </a:rPr>
              <a:t>trung tâm </a:t>
            </a:r>
            <a:r>
              <a:rPr lang="en-US" sz="1400" dirty="0" err="1">
                <a:latin typeface="Arial" pitchFamily="34" charset="0"/>
                <a:cs typeface="Arial" pitchFamily="34" charset="0"/>
              </a:rPr>
              <a:t>của</a:t>
            </a:r>
            <a:r>
              <a:rPr lang="en-US" sz="1400" dirty="0">
                <a:latin typeface="Arial" pitchFamily="34" charset="0"/>
                <a:cs typeface="Arial" pitchFamily="34" charset="0"/>
              </a:rPr>
              <a:t> </a:t>
            </a:r>
            <a:r>
              <a:rPr lang="en-US" sz="1400" dirty="0" err="1">
                <a:latin typeface="Arial" pitchFamily="34" charset="0"/>
                <a:cs typeface="Arial" pitchFamily="34" charset="0"/>
              </a:rPr>
              <a:t>việc</a:t>
            </a:r>
            <a:r>
              <a:rPr lang="en-US" sz="1400" dirty="0">
                <a:latin typeface="Arial" pitchFamily="34" charset="0"/>
                <a:cs typeface="Arial" pitchFamily="34" charset="0"/>
              </a:rPr>
              <a:t> </a:t>
            </a:r>
            <a:r>
              <a:rPr lang="vi-VN" sz="1400" dirty="0">
                <a:latin typeface="Arial" pitchFamily="34" charset="0"/>
                <a:cs typeface="Arial" pitchFamily="34" charset="0"/>
              </a:rPr>
              <a:t>Quản lý chất lượng toàn diện (Total Quality Management</a:t>
            </a:r>
            <a:r>
              <a:rPr lang="en-US" sz="1400" dirty="0">
                <a:latin typeface="Arial" pitchFamily="34" charset="0"/>
                <a:cs typeface="Arial" pitchFamily="34" charset="0"/>
              </a:rPr>
              <a:t> – </a:t>
            </a:r>
            <a:r>
              <a:rPr lang="vi-VN" sz="1400" dirty="0">
                <a:latin typeface="Arial" pitchFamily="34" charset="0"/>
                <a:cs typeface="Arial" pitchFamily="34" charset="0"/>
              </a:rPr>
              <a:t>TQM).</a:t>
            </a:r>
            <a:endParaRPr lang="en-US" sz="1400" dirty="0">
              <a:latin typeface="Arial" pitchFamily="34" charset="0"/>
              <a:cs typeface="Arial" pitchFamily="34" charset="0"/>
            </a:endParaRPr>
          </a:p>
          <a:p>
            <a:pPr marL="341313" indent="-231775" algn="just" eaLnBrk="1" hangingPunct="1">
              <a:lnSpc>
                <a:spcPct val="130000"/>
              </a:lnSpc>
            </a:pPr>
            <a:r>
              <a:rPr lang="vi-VN" sz="1400" dirty="0">
                <a:latin typeface="Arial" pitchFamily="34" charset="0"/>
                <a:cs typeface="Arial" pitchFamily="34" charset="0"/>
              </a:rPr>
              <a:t>→ TQM, một triết lý quản lý kiểm soát</a:t>
            </a:r>
            <a:r>
              <a:rPr lang="en-US" sz="1400" dirty="0">
                <a:latin typeface="Arial" pitchFamily="34" charset="0"/>
                <a:cs typeface="Arial" pitchFamily="34" charset="0"/>
              </a:rPr>
              <a:t> </a:t>
            </a:r>
            <a:r>
              <a:rPr lang="en-US" sz="1400" dirty="0" err="1">
                <a:latin typeface="Arial" pitchFamily="34" charset="0"/>
                <a:cs typeface="Arial" pitchFamily="34" charset="0"/>
              </a:rPr>
              <a:t>các</a:t>
            </a:r>
            <a:r>
              <a:rPr lang="en-US" sz="1400" dirty="0">
                <a:latin typeface="Arial" pitchFamily="34" charset="0"/>
                <a:cs typeface="Arial" pitchFamily="34" charset="0"/>
              </a:rPr>
              <a:t> </a:t>
            </a:r>
            <a:r>
              <a:rPr lang="en-US" sz="1400" dirty="0" err="1">
                <a:latin typeface="Arial" pitchFamily="34" charset="0"/>
                <a:cs typeface="Arial" pitchFamily="34" charset="0"/>
              </a:rPr>
              <a:t>vấn</a:t>
            </a:r>
            <a:r>
              <a:rPr lang="en-US" sz="1400" dirty="0">
                <a:latin typeface="Arial" pitchFamily="34" charset="0"/>
                <a:cs typeface="Arial" pitchFamily="34" charset="0"/>
              </a:rPr>
              <a:t> </a:t>
            </a:r>
            <a:r>
              <a:rPr lang="en-US" sz="1400" dirty="0" err="1">
                <a:latin typeface="Arial" pitchFamily="34" charset="0"/>
                <a:cs typeface="Arial" pitchFamily="34" charset="0"/>
              </a:rPr>
              <a:t>đề</a:t>
            </a:r>
            <a:r>
              <a:rPr lang="en-US" sz="1400" dirty="0">
                <a:latin typeface="Arial" pitchFamily="34" charset="0"/>
                <a:cs typeface="Arial" pitchFamily="34" charset="0"/>
              </a:rPr>
              <a:t> </a:t>
            </a:r>
            <a:r>
              <a:rPr lang="en-US" sz="1400" dirty="0" err="1">
                <a:latin typeface="Arial" pitchFamily="34" charset="0"/>
                <a:cs typeface="Arial" pitchFamily="34" charset="0"/>
              </a:rPr>
              <a:t>liên</a:t>
            </a:r>
            <a:r>
              <a:rPr lang="en-US" sz="1400" dirty="0">
                <a:latin typeface="Arial" pitchFamily="34" charset="0"/>
                <a:cs typeface="Arial" pitchFamily="34" charset="0"/>
              </a:rPr>
              <a:t> </a:t>
            </a:r>
            <a:r>
              <a:rPr lang="en-US" sz="1400" dirty="0" err="1">
                <a:latin typeface="Arial" pitchFamily="34" charset="0"/>
                <a:cs typeface="Arial" pitchFamily="34" charset="0"/>
              </a:rPr>
              <a:t>quan</a:t>
            </a:r>
            <a:r>
              <a:rPr lang="en-US" sz="1400" dirty="0">
                <a:latin typeface="Arial" pitchFamily="34" charset="0"/>
                <a:cs typeface="Arial" pitchFamily="34" charset="0"/>
              </a:rPr>
              <a:t> </a:t>
            </a:r>
            <a:r>
              <a:rPr lang="en-US" sz="1400" dirty="0" err="1">
                <a:latin typeface="Arial" pitchFamily="34" charset="0"/>
                <a:cs typeface="Arial" pitchFamily="34" charset="0"/>
              </a:rPr>
              <a:t>tới</a:t>
            </a:r>
            <a:r>
              <a:rPr lang="vi-VN" sz="1400" dirty="0">
                <a:latin typeface="Arial" pitchFamily="34" charset="0"/>
                <a:cs typeface="Arial" pitchFamily="34" charset="0"/>
              </a:rPr>
              <a:t> chất lượng tại cốt lõi của nó, đã đóng một</a:t>
            </a:r>
            <a:br>
              <a:rPr lang="en-US" sz="1400" dirty="0">
                <a:latin typeface="Arial" pitchFamily="34" charset="0"/>
                <a:cs typeface="Arial" pitchFamily="34" charset="0"/>
              </a:rPr>
            </a:br>
            <a:r>
              <a:rPr lang="vi-VN" sz="1400" dirty="0">
                <a:latin typeface="Arial" pitchFamily="34" charset="0"/>
                <a:cs typeface="Arial" pitchFamily="34" charset="0"/>
              </a:rPr>
              <a:t>vai trò quan trọng trong việc thay đổi nhận thức về quản </a:t>
            </a:r>
            <a:r>
              <a:rPr lang="en-US" sz="1400" dirty="0" err="1">
                <a:latin typeface="Arial" pitchFamily="34" charset="0"/>
                <a:cs typeface="Arial" pitchFamily="34" charset="0"/>
              </a:rPr>
              <a:t>trị</a:t>
            </a:r>
            <a:r>
              <a:rPr lang="en-US" sz="1400" dirty="0">
                <a:latin typeface="Arial" pitchFamily="34" charset="0"/>
                <a:cs typeface="Arial" pitchFamily="34" charset="0"/>
              </a:rPr>
              <a:t> </a:t>
            </a:r>
            <a:r>
              <a:rPr lang="en-US" sz="1400" dirty="0" err="1">
                <a:latin typeface="Arial" pitchFamily="34" charset="0"/>
                <a:cs typeface="Arial" pitchFamily="34" charset="0"/>
              </a:rPr>
              <a:t>chất</a:t>
            </a:r>
            <a:r>
              <a:rPr lang="en-US" sz="1400" dirty="0">
                <a:latin typeface="Arial" pitchFamily="34" charset="0"/>
                <a:cs typeface="Arial" pitchFamily="34" charset="0"/>
              </a:rPr>
              <a:t> </a:t>
            </a:r>
            <a:r>
              <a:rPr lang="en-US" sz="1400" dirty="0" err="1">
                <a:latin typeface="Arial" pitchFamily="34" charset="0"/>
                <a:cs typeface="Arial" pitchFamily="34" charset="0"/>
              </a:rPr>
              <a:t>lượng</a:t>
            </a:r>
            <a:r>
              <a:rPr lang="vi-VN" sz="1400" dirty="0">
                <a:latin typeface="Arial" pitchFamily="34" charset="0"/>
                <a:cs typeface="Arial" pitchFamily="34" charset="0"/>
              </a:rPr>
              <a:t>.</a:t>
            </a:r>
            <a:endParaRPr lang="en-US" sz="1400" dirty="0">
              <a:latin typeface="Arial" pitchFamily="34" charset="0"/>
              <a:cs typeface="Arial" pitchFamily="34" charset="0"/>
            </a:endParaRPr>
          </a:p>
          <a:p>
            <a:pPr algn="just" eaLnBrk="1" hangingPunct="1">
              <a:lnSpc>
                <a:spcPct val="130000"/>
              </a:lnSpc>
            </a:pPr>
            <a:r>
              <a:rPr lang="vi-VN" sz="1400" dirty="0">
                <a:latin typeface="Arial" pitchFamily="34" charset="0"/>
                <a:cs typeface="Arial" pitchFamily="34" charset="0"/>
              </a:rPr>
              <a:t>Nhưng tầm quan trọng của chất lượng chỉ được nhấn mạnh </a:t>
            </a:r>
            <a:r>
              <a:rPr lang="en-US" sz="1400" dirty="0" err="1">
                <a:latin typeface="Arial" pitchFamily="34" charset="0"/>
                <a:cs typeface="Arial" pitchFamily="34" charset="0"/>
              </a:rPr>
              <a:t>như</a:t>
            </a:r>
            <a:r>
              <a:rPr lang="en-US" sz="1400" dirty="0">
                <a:latin typeface="Arial" pitchFamily="34" charset="0"/>
                <a:cs typeface="Arial" pitchFamily="34" charset="0"/>
              </a:rPr>
              <a:t> </a:t>
            </a:r>
            <a:r>
              <a:rPr lang="en-US" sz="1400" dirty="0" err="1">
                <a:latin typeface="Arial" pitchFamily="34" charset="0"/>
                <a:cs typeface="Arial" pitchFamily="34" charset="0"/>
              </a:rPr>
              <a:t>là</a:t>
            </a:r>
            <a:r>
              <a:rPr lang="en-US" sz="1400" dirty="0">
                <a:latin typeface="Arial" pitchFamily="34" charset="0"/>
                <a:cs typeface="Arial" pitchFamily="34" charset="0"/>
              </a:rPr>
              <a:t> </a:t>
            </a:r>
            <a:r>
              <a:rPr lang="vi-VN" sz="1400" dirty="0">
                <a:latin typeface="Arial" pitchFamily="34" charset="0"/>
                <a:cs typeface="Arial" pitchFamily="34" charset="0"/>
              </a:rPr>
              <a:t>một khẩu hiệu </a:t>
            </a:r>
            <a:r>
              <a:rPr lang="en-US" sz="1400" dirty="0" err="1">
                <a:latin typeface="Arial" pitchFamily="34" charset="0"/>
                <a:cs typeface="Arial" pitchFamily="34" charset="0"/>
              </a:rPr>
              <a:t>khi</a:t>
            </a:r>
            <a:r>
              <a:rPr lang="vi-VN" sz="1400" dirty="0">
                <a:latin typeface="Arial" pitchFamily="34" charset="0"/>
                <a:cs typeface="Arial" pitchFamily="34" charset="0"/>
              </a:rPr>
              <a:t> các thủ tục để thực</a:t>
            </a:r>
            <a:br>
              <a:rPr lang="en-US" sz="1400" dirty="0">
                <a:latin typeface="Arial" pitchFamily="34" charset="0"/>
                <a:cs typeface="Arial" pitchFamily="34" charset="0"/>
              </a:rPr>
            </a:br>
            <a:r>
              <a:rPr lang="vi-VN" sz="1400" dirty="0">
                <a:latin typeface="Arial" pitchFamily="34" charset="0"/>
                <a:cs typeface="Arial" pitchFamily="34" charset="0"/>
              </a:rPr>
              <a:t>hiện hệ thống kiểm soát chất lượng trong các tổ chức </a:t>
            </a:r>
            <a:r>
              <a:rPr lang="en-US" sz="1400" dirty="0" err="1">
                <a:latin typeface="Arial" pitchFamily="34" charset="0"/>
                <a:cs typeface="Arial" pitchFamily="34" charset="0"/>
              </a:rPr>
              <a:t>đã</a:t>
            </a:r>
            <a:r>
              <a:rPr lang="en-US" sz="1400" dirty="0">
                <a:latin typeface="Arial" pitchFamily="34" charset="0"/>
                <a:cs typeface="Arial" pitchFamily="34" charset="0"/>
              </a:rPr>
              <a:t> </a:t>
            </a:r>
            <a:r>
              <a:rPr lang="en-US" sz="1400" dirty="0" err="1">
                <a:latin typeface="Arial" pitchFamily="34" charset="0"/>
                <a:cs typeface="Arial" pitchFamily="34" charset="0"/>
              </a:rPr>
              <a:t>trở</a:t>
            </a:r>
            <a:r>
              <a:rPr lang="en-US" sz="1400" dirty="0">
                <a:latin typeface="Arial" pitchFamily="34" charset="0"/>
                <a:cs typeface="Arial" pitchFamily="34" charset="0"/>
              </a:rPr>
              <a:t> </a:t>
            </a:r>
            <a:r>
              <a:rPr lang="en-US" sz="1400" dirty="0" err="1">
                <a:latin typeface="Arial" pitchFamily="34" charset="0"/>
                <a:cs typeface="Arial" pitchFamily="34" charset="0"/>
              </a:rPr>
              <a:t>nên</a:t>
            </a:r>
            <a:r>
              <a:rPr lang="vi-VN" sz="1400" dirty="0">
                <a:latin typeface="Arial" pitchFamily="34" charset="0"/>
                <a:cs typeface="Arial" pitchFamily="34" charset="0"/>
              </a:rPr>
              <a:t> thiếu</a:t>
            </a:r>
            <a:r>
              <a:rPr lang="en-US" sz="1400" dirty="0">
                <a:latin typeface="Arial" pitchFamily="34" charset="0"/>
                <a:cs typeface="Arial" pitchFamily="34" charset="0"/>
              </a:rPr>
              <a:t> </a:t>
            </a:r>
            <a:r>
              <a:rPr lang="en-US" sz="1400" dirty="0" err="1">
                <a:latin typeface="Arial" pitchFamily="34" charset="0"/>
                <a:cs typeface="Arial" pitchFamily="34" charset="0"/>
              </a:rPr>
              <a:t>thốn</a:t>
            </a:r>
            <a:r>
              <a:rPr lang="vi-VN" sz="1400" dirty="0">
                <a:latin typeface="Arial" pitchFamily="34" charset="0"/>
                <a:cs typeface="Arial" pitchFamily="34" charset="0"/>
              </a:rPr>
              <a:t>.</a:t>
            </a:r>
            <a:r>
              <a:rPr lang="en-US" sz="1400" dirty="0">
                <a:latin typeface="Arial" pitchFamily="34" charset="0"/>
                <a:cs typeface="Arial" pitchFamily="34" charset="0"/>
              </a:rPr>
              <a:t> </a:t>
            </a:r>
            <a:r>
              <a:rPr lang="en-US" sz="1400" dirty="0" err="1">
                <a:latin typeface="Arial" pitchFamily="34" charset="0"/>
                <a:cs typeface="Arial" pitchFamily="34" charset="0"/>
              </a:rPr>
              <a:t>Vào</a:t>
            </a:r>
            <a:r>
              <a:rPr lang="vi-VN" sz="1400" dirty="0">
                <a:latin typeface="Arial" pitchFamily="34" charset="0"/>
                <a:cs typeface="Arial" pitchFamily="34" charset="0"/>
              </a:rPr>
              <a:t> năm 198</a:t>
            </a:r>
            <a:r>
              <a:rPr lang="en-US" sz="1400" dirty="0">
                <a:latin typeface="Arial" pitchFamily="34" charset="0"/>
                <a:cs typeface="Arial" pitchFamily="34" charset="0"/>
              </a:rPr>
              <a:t>0, </a:t>
            </a:r>
            <a:r>
              <a:rPr lang="vi-VN" sz="1400" dirty="0">
                <a:latin typeface="Arial" pitchFamily="34" charset="0"/>
                <a:cs typeface="Arial" pitchFamily="34" charset="0"/>
              </a:rPr>
              <a:t>Motorola</a:t>
            </a:r>
            <a:r>
              <a:rPr lang="en-US" sz="1400" dirty="0">
                <a:latin typeface="Arial" pitchFamily="34" charset="0"/>
                <a:cs typeface="Arial" pitchFamily="34" charset="0"/>
              </a:rPr>
              <a:t> </a:t>
            </a:r>
            <a:r>
              <a:rPr lang="vi-VN" sz="1400" dirty="0">
                <a:latin typeface="Arial" pitchFamily="34" charset="0"/>
                <a:cs typeface="Arial" pitchFamily="34" charset="0"/>
              </a:rPr>
              <a:t>(Mỹ)</a:t>
            </a:r>
            <a:br>
              <a:rPr lang="en-US" sz="1400" dirty="0">
                <a:latin typeface="Arial" pitchFamily="34" charset="0"/>
                <a:cs typeface="Arial" pitchFamily="34" charset="0"/>
              </a:rPr>
            </a:br>
            <a:r>
              <a:rPr lang="vi-VN" sz="1400" dirty="0">
                <a:latin typeface="Arial" pitchFamily="34" charset="0"/>
                <a:cs typeface="Arial" pitchFamily="34" charset="0"/>
              </a:rPr>
              <a:t>đã</a:t>
            </a:r>
            <a:r>
              <a:rPr lang="en-US" sz="1400" dirty="0">
                <a:latin typeface="Arial" pitchFamily="34" charset="0"/>
                <a:cs typeface="Arial" pitchFamily="34" charset="0"/>
              </a:rPr>
              <a:t> </a:t>
            </a:r>
            <a:r>
              <a:rPr lang="vi-VN" sz="1400" dirty="0">
                <a:latin typeface="Arial" pitchFamily="34" charset="0"/>
                <a:cs typeface="Arial" pitchFamily="34" charset="0"/>
              </a:rPr>
              <a:t>trở thành công ty đầu tiên phát triển một hệ thống thực hiện các </a:t>
            </a:r>
            <a:r>
              <a:rPr lang="en-US" sz="1400" dirty="0" err="1">
                <a:latin typeface="Arial" pitchFamily="34" charset="0"/>
                <a:cs typeface="Arial" pitchFamily="34" charset="0"/>
              </a:rPr>
              <a:t>chương</a:t>
            </a:r>
            <a:r>
              <a:rPr lang="en-US" sz="1400" dirty="0">
                <a:latin typeface="Arial" pitchFamily="34" charset="0"/>
                <a:cs typeface="Arial" pitchFamily="34" charset="0"/>
              </a:rPr>
              <a:t> </a:t>
            </a:r>
            <a:r>
              <a:rPr lang="en-US" sz="1400" dirty="0" err="1">
                <a:latin typeface="Arial" pitchFamily="34" charset="0"/>
                <a:cs typeface="Arial" pitchFamily="34" charset="0"/>
              </a:rPr>
              <a:t>trình</a:t>
            </a:r>
            <a:r>
              <a:rPr lang="en-US" sz="1400" dirty="0">
                <a:latin typeface="Arial" pitchFamily="34" charset="0"/>
                <a:cs typeface="Arial" pitchFamily="34" charset="0"/>
              </a:rPr>
              <a:t> </a:t>
            </a:r>
            <a:r>
              <a:rPr lang="vi-VN" sz="1400" dirty="0">
                <a:latin typeface="Arial" pitchFamily="34" charset="0"/>
                <a:cs typeface="Arial" pitchFamily="34" charset="0"/>
              </a:rPr>
              <a:t>chất lượng</a:t>
            </a:r>
            <a:r>
              <a:rPr lang="en-US" sz="1400" dirty="0">
                <a:latin typeface="Arial" pitchFamily="34" charset="0"/>
                <a:cs typeface="Arial" pitchFamily="34" charset="0"/>
              </a:rPr>
              <a:t> </a:t>
            </a:r>
            <a:r>
              <a:rPr lang="en-US" sz="1400" dirty="0" err="1">
                <a:latin typeface="Arial" pitchFamily="34" charset="0"/>
                <a:cs typeface="Arial" pitchFamily="34" charset="0"/>
              </a:rPr>
              <a:t>một</a:t>
            </a:r>
            <a:r>
              <a:rPr lang="en-US" sz="1400" dirty="0">
                <a:latin typeface="Arial" pitchFamily="34" charset="0"/>
                <a:cs typeface="Arial" pitchFamily="34" charset="0"/>
              </a:rPr>
              <a:t> </a:t>
            </a:r>
            <a:r>
              <a:rPr lang="en-US" sz="1400" dirty="0" err="1">
                <a:latin typeface="Arial" pitchFamily="34" charset="0"/>
                <a:cs typeface="Arial" pitchFamily="34" charset="0"/>
              </a:rPr>
              <a:t>cách</a:t>
            </a:r>
            <a:r>
              <a:rPr lang="en-US" sz="1400" dirty="0">
                <a:latin typeface="Arial" pitchFamily="34" charset="0"/>
                <a:cs typeface="Arial" pitchFamily="34" charset="0"/>
              </a:rPr>
              <a:t> </a:t>
            </a:r>
            <a:r>
              <a:rPr lang="vi-VN" sz="1400" dirty="0">
                <a:latin typeface="Arial" pitchFamily="34" charset="0"/>
                <a:cs typeface="Arial" pitchFamily="34" charset="0"/>
              </a:rPr>
              <a:t>mạnh mẽ </a:t>
            </a:r>
            <a:r>
              <a:rPr lang="en-US" sz="1400" dirty="0" err="1">
                <a:latin typeface="Arial" pitchFamily="34" charset="0"/>
                <a:cs typeface="Arial" pitchFamily="34" charset="0"/>
              </a:rPr>
              <a:t>dưới</a:t>
            </a:r>
            <a:r>
              <a:rPr lang="en-US" sz="1400" dirty="0">
                <a:latin typeface="Arial" pitchFamily="34" charset="0"/>
                <a:cs typeface="Arial" pitchFamily="34" charset="0"/>
              </a:rPr>
              <a:t> </a:t>
            </a:r>
            <a:r>
              <a:rPr lang="en-US" sz="1400" dirty="0" err="1">
                <a:latin typeface="Arial" pitchFamily="34" charset="0"/>
                <a:cs typeface="Arial" pitchFamily="34" charset="0"/>
              </a:rPr>
              <a:t>sự</a:t>
            </a:r>
            <a:r>
              <a:rPr lang="en-US" sz="1400" dirty="0">
                <a:latin typeface="Arial" pitchFamily="34" charset="0"/>
                <a:cs typeface="Arial" pitchFamily="34" charset="0"/>
              </a:rPr>
              <a:t> </a:t>
            </a:r>
            <a:r>
              <a:rPr lang="en-US" sz="1400" dirty="0" err="1">
                <a:latin typeface="Arial" pitchFamily="34" charset="0"/>
                <a:cs typeface="Arial" pitchFamily="34" charset="0"/>
              </a:rPr>
              <a:t>chỉ</a:t>
            </a:r>
            <a:r>
              <a:rPr lang="en-US" sz="1400" dirty="0">
                <a:latin typeface="Arial" pitchFamily="34" charset="0"/>
                <a:cs typeface="Arial" pitchFamily="34" charset="0"/>
              </a:rPr>
              <a:t> </a:t>
            </a:r>
            <a:r>
              <a:rPr lang="en-US" sz="1400" dirty="0" err="1">
                <a:latin typeface="Arial" pitchFamily="34" charset="0"/>
                <a:cs typeface="Arial" pitchFamily="34" charset="0"/>
              </a:rPr>
              <a:t>đạo</a:t>
            </a:r>
            <a:r>
              <a:rPr lang="en-US" sz="1400" dirty="0">
                <a:latin typeface="Arial" pitchFamily="34" charset="0"/>
                <a:cs typeface="Arial" pitchFamily="34" charset="0"/>
              </a:rPr>
              <a:t> </a:t>
            </a:r>
            <a:r>
              <a:rPr lang="en-US" sz="1400" dirty="0" err="1">
                <a:latin typeface="Arial" pitchFamily="34" charset="0"/>
                <a:cs typeface="Arial" pitchFamily="34" charset="0"/>
              </a:rPr>
              <a:t>của</a:t>
            </a:r>
            <a:r>
              <a:rPr lang="en-US" sz="1400" dirty="0">
                <a:latin typeface="Arial" pitchFamily="34" charset="0"/>
                <a:cs typeface="Arial" pitchFamily="34" charset="0"/>
              </a:rPr>
              <a:t> CEO</a:t>
            </a:r>
            <a:r>
              <a:rPr lang="vi-VN" sz="1400" dirty="0">
                <a:latin typeface="Arial" pitchFamily="34" charset="0"/>
                <a:cs typeface="Arial" pitchFamily="34" charset="0"/>
              </a:rPr>
              <a:t> công ty.</a:t>
            </a:r>
            <a:endParaRPr lang="en-US" sz="1400" dirty="0">
              <a:latin typeface="Arial" pitchFamily="34" charset="0"/>
              <a:cs typeface="Arial" pitchFamily="34" charset="0"/>
            </a:endParaRPr>
          </a:p>
          <a:p>
            <a:pPr algn="just" eaLnBrk="1" hangingPunct="1">
              <a:lnSpc>
                <a:spcPct val="130000"/>
              </a:lnSpc>
            </a:pPr>
            <a:r>
              <a:rPr lang="en-US" sz="1400" dirty="0" err="1">
                <a:latin typeface="Arial" pitchFamily="34" charset="0"/>
                <a:cs typeface="Arial" pitchFamily="34" charset="0"/>
              </a:rPr>
              <a:t>Chính</a:t>
            </a:r>
            <a:r>
              <a:rPr lang="en-US" sz="1400" dirty="0">
                <a:latin typeface="Arial" pitchFamily="34" charset="0"/>
                <a:cs typeface="Arial" pitchFamily="34" charset="0"/>
              </a:rPr>
              <a:t> </a:t>
            </a:r>
            <a:r>
              <a:rPr lang="en-US" sz="1400" dirty="0" err="1">
                <a:latin typeface="Arial" pitchFamily="34" charset="0"/>
                <a:cs typeface="Arial" pitchFamily="34" charset="0"/>
              </a:rPr>
              <a:t>những</a:t>
            </a:r>
            <a:r>
              <a:rPr lang="en-US" sz="1400" dirty="0">
                <a:latin typeface="Arial" pitchFamily="34" charset="0"/>
                <a:cs typeface="Arial" pitchFamily="34" charset="0"/>
              </a:rPr>
              <a:t> </a:t>
            </a:r>
            <a:r>
              <a:rPr lang="en-US" sz="1400" dirty="0" err="1">
                <a:latin typeface="Arial" pitchFamily="34" charset="0"/>
                <a:cs typeface="Arial" pitchFamily="34" charset="0"/>
              </a:rPr>
              <a:t>sự</a:t>
            </a:r>
            <a:r>
              <a:rPr lang="en-US" sz="1400" dirty="0">
                <a:latin typeface="Arial" pitchFamily="34" charset="0"/>
                <a:cs typeface="Arial" pitchFamily="34" charset="0"/>
              </a:rPr>
              <a:t> </a:t>
            </a:r>
            <a:r>
              <a:rPr lang="en-US" sz="1400" dirty="0" err="1">
                <a:latin typeface="Arial" pitchFamily="34" charset="0"/>
                <a:cs typeface="Arial" pitchFamily="34" charset="0"/>
              </a:rPr>
              <a:t>thay</a:t>
            </a:r>
            <a:r>
              <a:rPr lang="en-US" sz="1400" dirty="0">
                <a:latin typeface="Arial" pitchFamily="34" charset="0"/>
                <a:cs typeface="Arial" pitchFamily="34" charset="0"/>
              </a:rPr>
              <a:t> </a:t>
            </a:r>
            <a:r>
              <a:rPr lang="en-US" sz="1400" dirty="0" err="1">
                <a:latin typeface="Arial" pitchFamily="34" charset="0"/>
                <a:cs typeface="Arial" pitchFamily="34" charset="0"/>
              </a:rPr>
              <a:t>đổi</a:t>
            </a:r>
            <a:r>
              <a:rPr lang="en-US" sz="1400" dirty="0">
                <a:latin typeface="Arial" pitchFamily="34" charset="0"/>
                <a:cs typeface="Arial" pitchFamily="34" charset="0"/>
              </a:rPr>
              <a:t> </a:t>
            </a:r>
            <a:r>
              <a:rPr lang="en-US" sz="1400" dirty="0" err="1">
                <a:latin typeface="Arial" pitchFamily="34" charset="0"/>
                <a:cs typeface="Arial" pitchFamily="34" charset="0"/>
              </a:rPr>
              <a:t>đó</a:t>
            </a:r>
            <a:r>
              <a:rPr lang="en-US" sz="1400" dirty="0">
                <a:latin typeface="Arial" pitchFamily="34" charset="0"/>
                <a:cs typeface="Arial" pitchFamily="34" charset="0"/>
              </a:rPr>
              <a:t> </a:t>
            </a:r>
            <a:r>
              <a:rPr lang="en-US" sz="1400" dirty="0" err="1">
                <a:latin typeface="Arial" pitchFamily="34" charset="0"/>
                <a:cs typeface="Arial" pitchFamily="34" charset="0"/>
              </a:rPr>
              <a:t>đã</a:t>
            </a:r>
            <a:r>
              <a:rPr lang="en-US" sz="1400" dirty="0">
                <a:latin typeface="Arial" pitchFamily="34" charset="0"/>
                <a:cs typeface="Arial" pitchFamily="34" charset="0"/>
              </a:rPr>
              <a:t> </a:t>
            </a:r>
            <a:r>
              <a:rPr lang="en-US" sz="1400" dirty="0" err="1">
                <a:latin typeface="Arial" pitchFamily="34" charset="0"/>
                <a:cs typeface="Arial" pitchFamily="34" charset="0"/>
              </a:rPr>
              <a:t>hình</a:t>
            </a:r>
            <a:r>
              <a:rPr lang="en-US" sz="1400" dirty="0">
                <a:latin typeface="Arial" pitchFamily="34" charset="0"/>
                <a:cs typeface="Arial" pitchFamily="34" charset="0"/>
              </a:rPr>
              <a:t> </a:t>
            </a:r>
            <a:r>
              <a:rPr lang="en-US" sz="1400" dirty="0" err="1">
                <a:latin typeface="Arial" pitchFamily="34" charset="0"/>
                <a:cs typeface="Arial" pitchFamily="34" charset="0"/>
              </a:rPr>
              <a:t>thành</a:t>
            </a:r>
            <a:r>
              <a:rPr lang="en-US" sz="1400" dirty="0">
                <a:latin typeface="Arial" pitchFamily="34" charset="0"/>
                <a:cs typeface="Arial" pitchFamily="34" charset="0"/>
              </a:rPr>
              <a:t> </a:t>
            </a:r>
            <a:r>
              <a:rPr lang="en-US" sz="1400" dirty="0" err="1">
                <a:latin typeface="Arial" pitchFamily="34" charset="0"/>
                <a:cs typeface="Arial" pitchFamily="34" charset="0"/>
              </a:rPr>
              <a:t>nên</a:t>
            </a:r>
            <a:r>
              <a:rPr lang="en-US" sz="1400" dirty="0">
                <a:latin typeface="Arial" pitchFamily="34" charset="0"/>
                <a:cs typeface="Arial" pitchFamily="34" charset="0"/>
              </a:rPr>
              <a:t> </a:t>
            </a:r>
            <a:r>
              <a:rPr lang="en-US" sz="1400" dirty="0" err="1">
                <a:latin typeface="Arial" pitchFamily="34" charset="0"/>
                <a:cs typeface="Arial" pitchFamily="34" charset="0"/>
              </a:rPr>
              <a:t>lý</a:t>
            </a:r>
            <a:r>
              <a:rPr lang="en-US" sz="1400" dirty="0">
                <a:latin typeface="Arial" pitchFamily="34" charset="0"/>
                <a:cs typeface="Arial" pitchFamily="34" charset="0"/>
              </a:rPr>
              <a:t> </a:t>
            </a:r>
            <a:r>
              <a:rPr lang="en-US" sz="1400" dirty="0" err="1">
                <a:latin typeface="Arial" pitchFamily="34" charset="0"/>
                <a:cs typeface="Arial" pitchFamily="34" charset="0"/>
              </a:rPr>
              <a:t>thuyết</a:t>
            </a:r>
            <a:r>
              <a:rPr lang="en-US" sz="1400" dirty="0">
                <a:latin typeface="Arial" pitchFamily="34" charset="0"/>
                <a:cs typeface="Arial" pitchFamily="34" charset="0"/>
              </a:rPr>
              <a:t> Six Sigma.</a:t>
            </a:r>
            <a:endParaRPr lang="en-US" altLang="ko-KR" sz="1400" dirty="0">
              <a:latin typeface="Arial" pitchFamily="34" charset="0"/>
              <a:ea typeface="맑은 고딕" pitchFamily="50" charset="-127"/>
              <a:cs typeface="Arial" pitchFamily="34" charset="0"/>
            </a:endParaRPr>
          </a:p>
        </p:txBody>
      </p:sp>
      <p:pic>
        <p:nvPicPr>
          <p:cNvPr id="22532" name="Picture 6" descr="C:\Users\Administrator\AppData\Local\Microsoft\Windows\Temporary Internet Files\Content.IE5\7QR01XJV\20130201152913206[1].jpg"/>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0" y="0"/>
            <a:ext cx="1403350"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슬라이드 번호 개체 틀 3"/>
          <p:cNvSpPr>
            <a:spLocks noGrp="1"/>
          </p:cNvSpPr>
          <p:nvPr>
            <p:ph type="sldNum" sz="quarter" idx="4"/>
          </p:nvPr>
        </p:nvSpPr>
        <p:spPr/>
        <p:txBody>
          <a:bodyPr/>
          <a:lstStyle/>
          <a:p>
            <a:pPr>
              <a:defRPr/>
            </a:pPr>
            <a:fld id="{BA3A7022-CBD4-4A06-BAFB-3534D8B9DC6A}" type="slidenum">
              <a:rPr lang="ko-KR" altLang="en-US" smtClean="0">
                <a:latin typeface="Arial" pitchFamily="34" charset="0"/>
                <a:cs typeface="Arial" pitchFamily="34" charset="0"/>
              </a:rPr>
              <a:pPr>
                <a:defRPr/>
              </a:pPr>
              <a:t>24</a:t>
            </a:fld>
            <a:endParaRPr lang="ko-KR" altLang="en-US" dirty="0">
              <a:latin typeface="Arial" pitchFamily="34" charset="0"/>
              <a:cs typeface="Arial" pitchFamily="34" charset="0"/>
            </a:endParaRPr>
          </a:p>
        </p:txBody>
      </p:sp>
    </p:spTree>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p:cNvSpPr/>
          <p:nvPr/>
        </p:nvSpPr>
        <p:spPr>
          <a:xfrm>
            <a:off x="0" y="549275"/>
            <a:ext cx="9906000" cy="2873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kumimoji="0" lang="ko-KR" altLang="en-US" dirty="0">
              <a:latin typeface="Arial" pitchFamily="34" charset="0"/>
              <a:cs typeface="Arial" pitchFamily="34" charset="0"/>
            </a:endParaRPr>
          </a:p>
        </p:txBody>
      </p:sp>
      <p:sp>
        <p:nvSpPr>
          <p:cNvPr id="23555" name="제목 5"/>
          <p:cNvSpPr>
            <a:spLocks noGrp="1"/>
          </p:cNvSpPr>
          <p:nvPr>
            <p:ph type="title" idx="4294967295"/>
          </p:nvPr>
        </p:nvSpPr>
        <p:spPr bwMode="auto">
          <a:xfrm>
            <a:off x="2690813" y="1384300"/>
            <a:ext cx="4368800" cy="706438"/>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ash"/>
                <a:miter lim="800000"/>
                <a:headEnd/>
                <a:tailEnd/>
              </a14:hiddenLine>
            </a:ext>
          </a:extLst>
        </p:spPr>
        <p:txBody>
          <a:bodyPr anchor="ctr"/>
          <a:lstStyle/>
          <a:p>
            <a:pPr eaLnBrk="1" hangingPunct="1"/>
            <a:r>
              <a:rPr lang="en-US" altLang="ko-KR" sz="3600" b="1" dirty="0">
                <a:solidFill>
                  <a:srgbClr val="C5003D"/>
                </a:solidFill>
                <a:latin typeface="Arial" pitchFamily="34" charset="0"/>
                <a:cs typeface="Arial" pitchFamily="34" charset="0"/>
              </a:rPr>
              <a:t>M2. </a:t>
            </a:r>
            <a:r>
              <a:rPr lang="en-US" altLang="ko-KR" sz="3600" b="1" dirty="0" err="1">
                <a:solidFill>
                  <a:srgbClr val="C5003D"/>
                </a:solidFill>
                <a:latin typeface="Arial" pitchFamily="34" charset="0"/>
                <a:cs typeface="Arial" pitchFamily="34" charset="0"/>
              </a:rPr>
              <a:t>Dữ</a:t>
            </a:r>
            <a:r>
              <a:rPr lang="en-US" altLang="ko-KR" sz="3600" b="1" dirty="0">
                <a:solidFill>
                  <a:srgbClr val="C5003D"/>
                </a:solidFill>
                <a:latin typeface="Arial" pitchFamily="34" charset="0"/>
                <a:cs typeface="Arial" pitchFamily="34" charset="0"/>
              </a:rPr>
              <a:t> </a:t>
            </a:r>
            <a:r>
              <a:rPr lang="en-US" altLang="ko-KR" sz="3600" b="1" dirty="0" err="1">
                <a:solidFill>
                  <a:srgbClr val="C5003D"/>
                </a:solidFill>
                <a:latin typeface="Arial" pitchFamily="34" charset="0"/>
                <a:cs typeface="Arial" pitchFamily="34" charset="0"/>
              </a:rPr>
              <a:t>liệu</a:t>
            </a:r>
            <a:endParaRPr lang="ko-KR" altLang="en-US" sz="3600" b="1" dirty="0">
              <a:solidFill>
                <a:srgbClr val="C5003D"/>
              </a:solidFill>
              <a:latin typeface="Arial" pitchFamily="34" charset="0"/>
              <a:cs typeface="Arial" pitchFamily="34" charset="0"/>
            </a:endParaRPr>
          </a:p>
        </p:txBody>
      </p:sp>
      <p:sp>
        <p:nvSpPr>
          <p:cNvPr id="7" name="직사각형 6"/>
          <p:cNvSpPr/>
          <p:nvPr/>
        </p:nvSpPr>
        <p:spPr>
          <a:xfrm>
            <a:off x="2566988" y="2836863"/>
            <a:ext cx="4945062" cy="3152658"/>
          </a:xfrm>
          <a:prstGeom prst="rect">
            <a:avLst/>
          </a:prstGeom>
        </p:spPr>
        <p:txBody>
          <a:bodyPr>
            <a:spAutoFit/>
          </a:bodyPr>
          <a:lstStyle/>
          <a:p>
            <a:pPr fontAlgn="auto">
              <a:lnSpc>
                <a:spcPct val="13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(1)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Tầm</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quan</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trọng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của</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endParaRPr kumimoji="0" lang="ko-KR" altLang="en-US"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(2)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Khái</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niệm</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về</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thuật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ngữ</a:t>
            </a:r>
            <a:endParaRPr kumimoji="0" lang="ko-KR" altLang="en-US"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(3)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loại</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endPar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(4)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Phương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pháp</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thu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thập</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endPar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(5)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Phép</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hợp</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endPar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(7)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3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(8)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Phân</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phối</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chuẩn</a:t>
            </a:r>
            <a:endParaRPr kumimoji="0" lang="ko-KR" altLang="en-US" b="1" dirty="0">
              <a:solidFill>
                <a:schemeClr val="tx1">
                  <a:lumMod val="75000"/>
                  <a:lumOff val="25000"/>
                </a:schemeClr>
              </a:solidFill>
              <a:latin typeface="Arial" pitchFamily="34" charset="0"/>
              <a:ea typeface="맑은 고딕" panose="020B0503020000020004" pitchFamily="50" charset="-127"/>
              <a:cs typeface="Arial" pitchFamily="34" charset="0"/>
            </a:endParaRPr>
          </a:p>
        </p:txBody>
      </p:sp>
      <p:cxnSp>
        <p:nvCxnSpPr>
          <p:cNvPr id="8" name="직선 연결선 7"/>
          <p:cNvCxnSpPr/>
          <p:nvPr/>
        </p:nvCxnSpPr>
        <p:spPr>
          <a:xfrm>
            <a:off x="2300288" y="2708275"/>
            <a:ext cx="5227637"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300288" y="6021388"/>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2300288" y="2781300"/>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1. </a:t>
            </a:r>
            <a:r>
              <a:rPr lang="en-US" altLang="ko-KR" b="1" dirty="0" err="1">
                <a:latin typeface="Arial" pitchFamily="34" charset="0"/>
                <a:ea typeface="맑은 고딕" pitchFamily="50" charset="-127"/>
                <a:cs typeface="Arial" pitchFamily="34" charset="0"/>
              </a:rPr>
              <a:t>Tầm</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quan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trọng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của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grpSp>
        <p:nvGrpSpPr>
          <p:cNvPr id="24579" name="Group 5"/>
          <p:cNvGrpSpPr>
            <a:grpSpLocks/>
          </p:cNvGrpSpPr>
          <p:nvPr/>
        </p:nvGrpSpPr>
        <p:grpSpPr bwMode="auto">
          <a:xfrm>
            <a:off x="1085850" y="1341438"/>
            <a:ext cx="7180263" cy="4667250"/>
            <a:chOff x="615" y="840"/>
            <a:chExt cx="4523" cy="2940"/>
          </a:xfrm>
        </p:grpSpPr>
        <p:grpSp>
          <p:nvGrpSpPr>
            <p:cNvPr id="24581" name="Group 6"/>
            <p:cNvGrpSpPr>
              <a:grpSpLocks/>
            </p:cNvGrpSpPr>
            <p:nvPr/>
          </p:nvGrpSpPr>
          <p:grpSpPr bwMode="auto">
            <a:xfrm>
              <a:off x="615" y="1155"/>
              <a:ext cx="4523" cy="2625"/>
              <a:chOff x="615" y="1155"/>
              <a:chExt cx="4523" cy="2625"/>
            </a:xfrm>
          </p:grpSpPr>
          <p:grpSp>
            <p:nvGrpSpPr>
              <p:cNvPr id="24583" name="Group 7"/>
              <p:cNvGrpSpPr>
                <a:grpSpLocks/>
              </p:cNvGrpSpPr>
              <p:nvPr/>
            </p:nvGrpSpPr>
            <p:grpSpPr bwMode="auto">
              <a:xfrm>
                <a:off x="615" y="1155"/>
                <a:ext cx="4523" cy="2625"/>
                <a:chOff x="615" y="1155"/>
                <a:chExt cx="4523" cy="2625"/>
              </a:xfrm>
            </p:grpSpPr>
            <p:grpSp>
              <p:nvGrpSpPr>
                <p:cNvPr id="24585" name="Group 8"/>
                <p:cNvGrpSpPr>
                  <a:grpSpLocks/>
                </p:cNvGrpSpPr>
                <p:nvPr/>
              </p:nvGrpSpPr>
              <p:grpSpPr bwMode="auto">
                <a:xfrm>
                  <a:off x="615" y="1155"/>
                  <a:ext cx="4523" cy="2625"/>
                  <a:chOff x="615" y="1155"/>
                  <a:chExt cx="4523" cy="2625"/>
                </a:xfrm>
              </p:grpSpPr>
              <p:grpSp>
                <p:nvGrpSpPr>
                  <p:cNvPr id="24609" name="Group 9"/>
                  <p:cNvGrpSpPr>
                    <a:grpSpLocks/>
                  </p:cNvGrpSpPr>
                  <p:nvPr/>
                </p:nvGrpSpPr>
                <p:grpSpPr bwMode="auto">
                  <a:xfrm>
                    <a:off x="615" y="1155"/>
                    <a:ext cx="4523" cy="2625"/>
                    <a:chOff x="615" y="1155"/>
                    <a:chExt cx="4523" cy="2625"/>
                  </a:xfrm>
                </p:grpSpPr>
                <p:grpSp>
                  <p:nvGrpSpPr>
                    <p:cNvPr id="24613" name="Group 10"/>
                    <p:cNvGrpSpPr>
                      <a:grpSpLocks/>
                    </p:cNvGrpSpPr>
                    <p:nvPr/>
                  </p:nvGrpSpPr>
                  <p:grpSpPr bwMode="auto">
                    <a:xfrm>
                      <a:off x="615" y="3229"/>
                      <a:ext cx="4325" cy="551"/>
                      <a:chOff x="615" y="3229"/>
                      <a:chExt cx="4325" cy="551"/>
                    </a:xfrm>
                  </p:grpSpPr>
                  <p:grpSp>
                    <p:nvGrpSpPr>
                      <p:cNvPr id="24629" name="Group 11"/>
                      <p:cNvGrpSpPr>
                        <a:grpSpLocks/>
                      </p:cNvGrpSpPr>
                      <p:nvPr/>
                    </p:nvGrpSpPr>
                    <p:grpSpPr bwMode="auto">
                      <a:xfrm>
                        <a:off x="615" y="3263"/>
                        <a:ext cx="4325" cy="517"/>
                        <a:chOff x="615" y="3263"/>
                        <a:chExt cx="4325" cy="517"/>
                      </a:xfrm>
                    </p:grpSpPr>
                    <p:sp>
                      <p:nvSpPr>
                        <p:cNvPr id="24631" name="Oval 12"/>
                        <p:cNvSpPr>
                          <a:spLocks noChangeArrowheads="1"/>
                        </p:cNvSpPr>
                        <p:nvPr/>
                      </p:nvSpPr>
                      <p:spPr bwMode="auto">
                        <a:xfrm>
                          <a:off x="615" y="3449"/>
                          <a:ext cx="453" cy="200"/>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32" name="Oval 13"/>
                        <p:cNvSpPr>
                          <a:spLocks noChangeArrowheads="1"/>
                        </p:cNvSpPr>
                        <p:nvPr/>
                      </p:nvSpPr>
                      <p:spPr bwMode="auto">
                        <a:xfrm>
                          <a:off x="783" y="3302"/>
                          <a:ext cx="454" cy="200"/>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33" name="Oval 14"/>
                        <p:cNvSpPr>
                          <a:spLocks noChangeArrowheads="1"/>
                        </p:cNvSpPr>
                        <p:nvPr/>
                      </p:nvSpPr>
                      <p:spPr bwMode="auto">
                        <a:xfrm>
                          <a:off x="1071" y="3321"/>
                          <a:ext cx="456" cy="201"/>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34" name="Oval 15"/>
                        <p:cNvSpPr>
                          <a:spLocks noChangeArrowheads="1"/>
                        </p:cNvSpPr>
                        <p:nvPr/>
                      </p:nvSpPr>
                      <p:spPr bwMode="auto">
                        <a:xfrm>
                          <a:off x="1575" y="3438"/>
                          <a:ext cx="483" cy="260"/>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35" name="Oval 16"/>
                        <p:cNvSpPr>
                          <a:spLocks noChangeArrowheads="1"/>
                        </p:cNvSpPr>
                        <p:nvPr/>
                      </p:nvSpPr>
                      <p:spPr bwMode="auto">
                        <a:xfrm>
                          <a:off x="933" y="3474"/>
                          <a:ext cx="682" cy="306"/>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36" name="Oval 17"/>
                        <p:cNvSpPr>
                          <a:spLocks noChangeArrowheads="1"/>
                        </p:cNvSpPr>
                        <p:nvPr/>
                      </p:nvSpPr>
                      <p:spPr bwMode="auto">
                        <a:xfrm>
                          <a:off x="1995" y="3487"/>
                          <a:ext cx="455" cy="202"/>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37" name="Oval 18"/>
                        <p:cNvSpPr>
                          <a:spLocks noChangeArrowheads="1"/>
                        </p:cNvSpPr>
                        <p:nvPr/>
                      </p:nvSpPr>
                      <p:spPr bwMode="auto">
                        <a:xfrm>
                          <a:off x="2352" y="3469"/>
                          <a:ext cx="377" cy="251"/>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38" name="Oval 19"/>
                        <p:cNvSpPr>
                          <a:spLocks noChangeArrowheads="1"/>
                        </p:cNvSpPr>
                        <p:nvPr/>
                      </p:nvSpPr>
                      <p:spPr bwMode="auto">
                        <a:xfrm>
                          <a:off x="2682" y="3469"/>
                          <a:ext cx="373" cy="268"/>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39" name="Oval 20"/>
                        <p:cNvSpPr>
                          <a:spLocks noChangeArrowheads="1"/>
                        </p:cNvSpPr>
                        <p:nvPr/>
                      </p:nvSpPr>
                      <p:spPr bwMode="auto">
                        <a:xfrm>
                          <a:off x="2955" y="3534"/>
                          <a:ext cx="388" cy="210"/>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40" name="Oval 21"/>
                        <p:cNvSpPr>
                          <a:spLocks noChangeArrowheads="1"/>
                        </p:cNvSpPr>
                        <p:nvPr/>
                      </p:nvSpPr>
                      <p:spPr bwMode="auto">
                        <a:xfrm>
                          <a:off x="3321" y="3410"/>
                          <a:ext cx="255" cy="296"/>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41" name="Oval 22"/>
                        <p:cNvSpPr>
                          <a:spLocks noChangeArrowheads="1"/>
                        </p:cNvSpPr>
                        <p:nvPr/>
                      </p:nvSpPr>
                      <p:spPr bwMode="auto">
                        <a:xfrm>
                          <a:off x="3524" y="3263"/>
                          <a:ext cx="372" cy="345"/>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42" name="Oval 23"/>
                        <p:cNvSpPr>
                          <a:spLocks noChangeArrowheads="1"/>
                        </p:cNvSpPr>
                        <p:nvPr/>
                      </p:nvSpPr>
                      <p:spPr bwMode="auto">
                        <a:xfrm>
                          <a:off x="3796" y="3313"/>
                          <a:ext cx="422" cy="336"/>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43" name="Oval 24"/>
                        <p:cNvSpPr>
                          <a:spLocks noChangeArrowheads="1"/>
                        </p:cNvSpPr>
                        <p:nvPr/>
                      </p:nvSpPr>
                      <p:spPr bwMode="auto">
                        <a:xfrm>
                          <a:off x="4125" y="3369"/>
                          <a:ext cx="462" cy="280"/>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44" name="Oval 25"/>
                        <p:cNvSpPr>
                          <a:spLocks noChangeArrowheads="1"/>
                        </p:cNvSpPr>
                        <p:nvPr/>
                      </p:nvSpPr>
                      <p:spPr bwMode="auto">
                        <a:xfrm>
                          <a:off x="4501" y="3313"/>
                          <a:ext cx="439" cy="305"/>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grpSp>
                  <p:sp>
                    <p:nvSpPr>
                      <p:cNvPr id="24630" name="Oval 26"/>
                      <p:cNvSpPr>
                        <a:spLocks noChangeArrowheads="1"/>
                      </p:cNvSpPr>
                      <p:nvPr/>
                    </p:nvSpPr>
                    <p:spPr bwMode="auto">
                      <a:xfrm>
                        <a:off x="4550" y="3229"/>
                        <a:ext cx="326" cy="266"/>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grpSp>
                <p:grpSp>
                  <p:nvGrpSpPr>
                    <p:cNvPr id="24614" name="Group 27"/>
                    <p:cNvGrpSpPr>
                      <a:grpSpLocks/>
                    </p:cNvGrpSpPr>
                    <p:nvPr/>
                  </p:nvGrpSpPr>
                  <p:grpSpPr bwMode="auto">
                    <a:xfrm>
                      <a:off x="1802" y="1155"/>
                      <a:ext cx="3336" cy="2514"/>
                      <a:chOff x="1802" y="1155"/>
                      <a:chExt cx="3336" cy="2514"/>
                    </a:xfrm>
                  </p:grpSpPr>
                  <p:sp>
                    <p:nvSpPr>
                      <p:cNvPr id="24615" name="Oval 28"/>
                      <p:cNvSpPr>
                        <a:spLocks noChangeArrowheads="1"/>
                      </p:cNvSpPr>
                      <p:nvPr/>
                    </p:nvSpPr>
                    <p:spPr bwMode="auto">
                      <a:xfrm>
                        <a:off x="2400" y="1230"/>
                        <a:ext cx="462" cy="574"/>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16" name="Oval 29"/>
                      <p:cNvSpPr>
                        <a:spLocks noChangeArrowheads="1"/>
                      </p:cNvSpPr>
                      <p:nvPr/>
                    </p:nvSpPr>
                    <p:spPr bwMode="auto">
                      <a:xfrm>
                        <a:off x="2922" y="1155"/>
                        <a:ext cx="463" cy="576"/>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17" name="Oval 30"/>
                      <p:cNvSpPr>
                        <a:spLocks noChangeArrowheads="1"/>
                      </p:cNvSpPr>
                      <p:nvPr/>
                    </p:nvSpPr>
                    <p:spPr bwMode="auto">
                      <a:xfrm>
                        <a:off x="2025" y="1529"/>
                        <a:ext cx="462" cy="578"/>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18" name="Oval 31"/>
                      <p:cNvSpPr>
                        <a:spLocks noChangeArrowheads="1"/>
                      </p:cNvSpPr>
                      <p:nvPr/>
                    </p:nvSpPr>
                    <p:spPr bwMode="auto">
                      <a:xfrm>
                        <a:off x="1802" y="2048"/>
                        <a:ext cx="460" cy="573"/>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19" name="Oval 32"/>
                      <p:cNvSpPr>
                        <a:spLocks noChangeArrowheads="1"/>
                      </p:cNvSpPr>
                      <p:nvPr/>
                    </p:nvSpPr>
                    <p:spPr bwMode="auto">
                      <a:xfrm>
                        <a:off x="1960" y="3141"/>
                        <a:ext cx="357" cy="443"/>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0" name="Oval 33"/>
                      <p:cNvSpPr>
                        <a:spLocks noChangeArrowheads="1"/>
                      </p:cNvSpPr>
                      <p:nvPr/>
                    </p:nvSpPr>
                    <p:spPr bwMode="auto">
                      <a:xfrm>
                        <a:off x="1924" y="2572"/>
                        <a:ext cx="265" cy="334"/>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1" name="Oval 34"/>
                      <p:cNvSpPr>
                        <a:spLocks noChangeArrowheads="1"/>
                      </p:cNvSpPr>
                      <p:nvPr/>
                    </p:nvSpPr>
                    <p:spPr bwMode="auto">
                      <a:xfrm>
                        <a:off x="1885" y="2788"/>
                        <a:ext cx="300" cy="375"/>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2" name="Oval 35"/>
                      <p:cNvSpPr>
                        <a:spLocks noChangeArrowheads="1"/>
                      </p:cNvSpPr>
                      <p:nvPr/>
                    </p:nvSpPr>
                    <p:spPr bwMode="auto">
                      <a:xfrm>
                        <a:off x="2575" y="3235"/>
                        <a:ext cx="785" cy="434"/>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3" name="Oval 36"/>
                      <p:cNvSpPr>
                        <a:spLocks noChangeArrowheads="1"/>
                      </p:cNvSpPr>
                      <p:nvPr/>
                    </p:nvSpPr>
                    <p:spPr bwMode="auto">
                      <a:xfrm>
                        <a:off x="3749" y="1271"/>
                        <a:ext cx="464" cy="580"/>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4" name="Oval 37"/>
                      <p:cNvSpPr>
                        <a:spLocks noChangeArrowheads="1"/>
                      </p:cNvSpPr>
                      <p:nvPr/>
                    </p:nvSpPr>
                    <p:spPr bwMode="auto">
                      <a:xfrm>
                        <a:off x="4512" y="1207"/>
                        <a:ext cx="313" cy="395"/>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5" name="Oval 38"/>
                      <p:cNvSpPr>
                        <a:spLocks noChangeArrowheads="1"/>
                      </p:cNvSpPr>
                      <p:nvPr/>
                    </p:nvSpPr>
                    <p:spPr bwMode="auto">
                      <a:xfrm>
                        <a:off x="4365" y="1361"/>
                        <a:ext cx="228" cy="280"/>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6" name="Oval 39"/>
                      <p:cNvSpPr>
                        <a:spLocks noChangeArrowheads="1"/>
                      </p:cNvSpPr>
                      <p:nvPr/>
                    </p:nvSpPr>
                    <p:spPr bwMode="auto">
                      <a:xfrm>
                        <a:off x="4455" y="1374"/>
                        <a:ext cx="683" cy="857"/>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7" name="Oval 40"/>
                      <p:cNvSpPr>
                        <a:spLocks noChangeArrowheads="1"/>
                      </p:cNvSpPr>
                      <p:nvPr/>
                    </p:nvSpPr>
                    <p:spPr bwMode="auto">
                      <a:xfrm>
                        <a:off x="4658" y="2657"/>
                        <a:ext cx="388" cy="495"/>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28" name="Oval 41"/>
                      <p:cNvSpPr>
                        <a:spLocks noChangeArrowheads="1"/>
                      </p:cNvSpPr>
                      <p:nvPr/>
                    </p:nvSpPr>
                    <p:spPr bwMode="auto">
                      <a:xfrm>
                        <a:off x="4347" y="2818"/>
                        <a:ext cx="522" cy="657"/>
                      </a:xfrm>
                      <a:prstGeom prst="ellipse">
                        <a:avLst/>
                      </a:prstGeom>
                      <a:solidFill>
                        <a:srgbClr val="FF9F1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grpSp>
              </p:grpSp>
              <p:grpSp>
                <p:nvGrpSpPr>
                  <p:cNvPr id="24610" name="Group 42"/>
                  <p:cNvGrpSpPr>
                    <a:grpSpLocks/>
                  </p:cNvGrpSpPr>
                  <p:nvPr/>
                </p:nvGrpSpPr>
                <p:grpSpPr bwMode="auto">
                  <a:xfrm>
                    <a:off x="4372" y="1240"/>
                    <a:ext cx="412" cy="436"/>
                    <a:chOff x="4372" y="1240"/>
                    <a:chExt cx="412" cy="436"/>
                  </a:xfrm>
                </p:grpSpPr>
                <p:sp>
                  <p:nvSpPr>
                    <p:cNvPr id="24611" name="Oval 43"/>
                    <p:cNvSpPr>
                      <a:spLocks noChangeArrowheads="1"/>
                    </p:cNvSpPr>
                    <p:nvPr/>
                  </p:nvSpPr>
                  <p:spPr bwMode="auto">
                    <a:xfrm>
                      <a:off x="4516" y="1240"/>
                      <a:ext cx="268" cy="329"/>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12" name="Oval 44"/>
                    <p:cNvSpPr>
                      <a:spLocks noChangeArrowheads="1"/>
                    </p:cNvSpPr>
                    <p:nvPr/>
                  </p:nvSpPr>
                  <p:spPr bwMode="auto">
                    <a:xfrm>
                      <a:off x="4372" y="1404"/>
                      <a:ext cx="204" cy="272"/>
                    </a:xfrm>
                    <a:prstGeom prst="ellipse">
                      <a:avLst/>
                    </a:prstGeom>
                    <a:solidFill>
                      <a:srgbClr val="FF5F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grpSp>
            </p:grpSp>
            <p:grpSp>
              <p:nvGrpSpPr>
                <p:cNvPr id="24586" name="Group 45"/>
                <p:cNvGrpSpPr>
                  <a:grpSpLocks/>
                </p:cNvGrpSpPr>
                <p:nvPr/>
              </p:nvGrpSpPr>
              <p:grpSpPr bwMode="auto">
                <a:xfrm>
                  <a:off x="1838" y="1163"/>
                  <a:ext cx="3253" cy="2507"/>
                  <a:chOff x="1838" y="1163"/>
                  <a:chExt cx="3253" cy="2507"/>
                </a:xfrm>
              </p:grpSpPr>
              <p:sp>
                <p:nvSpPr>
                  <p:cNvPr id="24587" name="Oval 46"/>
                  <p:cNvSpPr>
                    <a:spLocks noChangeArrowheads="1"/>
                  </p:cNvSpPr>
                  <p:nvPr/>
                </p:nvSpPr>
                <p:spPr bwMode="auto">
                  <a:xfrm>
                    <a:off x="2451" y="1276"/>
                    <a:ext cx="396" cy="484"/>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88" name="Oval 47"/>
                  <p:cNvSpPr>
                    <a:spLocks noChangeArrowheads="1"/>
                  </p:cNvSpPr>
                  <p:nvPr/>
                </p:nvSpPr>
                <p:spPr bwMode="auto">
                  <a:xfrm>
                    <a:off x="1923" y="2856"/>
                    <a:ext cx="267" cy="328"/>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89" name="Oval 48"/>
                  <p:cNvSpPr>
                    <a:spLocks noChangeArrowheads="1"/>
                  </p:cNvSpPr>
                  <p:nvPr/>
                </p:nvSpPr>
                <p:spPr bwMode="auto">
                  <a:xfrm>
                    <a:off x="4638" y="2401"/>
                    <a:ext cx="269" cy="326"/>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0" name="Oval 49"/>
                  <p:cNvSpPr>
                    <a:spLocks noChangeArrowheads="1"/>
                  </p:cNvSpPr>
                  <p:nvPr/>
                </p:nvSpPr>
                <p:spPr bwMode="auto">
                  <a:xfrm>
                    <a:off x="4125" y="1417"/>
                    <a:ext cx="292" cy="366"/>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1" name="Oval 50"/>
                  <p:cNvSpPr>
                    <a:spLocks noChangeArrowheads="1"/>
                  </p:cNvSpPr>
                  <p:nvPr/>
                </p:nvSpPr>
                <p:spPr bwMode="auto">
                  <a:xfrm>
                    <a:off x="2962" y="1271"/>
                    <a:ext cx="269" cy="327"/>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2" name="Oval 51"/>
                  <p:cNvSpPr>
                    <a:spLocks noChangeArrowheads="1"/>
                  </p:cNvSpPr>
                  <p:nvPr/>
                </p:nvSpPr>
                <p:spPr bwMode="auto">
                  <a:xfrm>
                    <a:off x="2791" y="1426"/>
                    <a:ext cx="274" cy="329"/>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3" name="Oval 52"/>
                  <p:cNvSpPr>
                    <a:spLocks noChangeArrowheads="1"/>
                  </p:cNvSpPr>
                  <p:nvPr/>
                </p:nvSpPr>
                <p:spPr bwMode="auto">
                  <a:xfrm>
                    <a:off x="3283" y="3239"/>
                    <a:ext cx="268" cy="327"/>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4" name="Oval 53"/>
                  <p:cNvSpPr>
                    <a:spLocks noChangeArrowheads="1"/>
                  </p:cNvSpPr>
                  <p:nvPr/>
                </p:nvSpPr>
                <p:spPr bwMode="auto">
                  <a:xfrm>
                    <a:off x="3460" y="1350"/>
                    <a:ext cx="364" cy="405"/>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5" name="Oval 54"/>
                  <p:cNvSpPr>
                    <a:spLocks noChangeArrowheads="1"/>
                  </p:cNvSpPr>
                  <p:nvPr/>
                </p:nvSpPr>
                <p:spPr bwMode="auto">
                  <a:xfrm>
                    <a:off x="3072" y="1163"/>
                    <a:ext cx="430" cy="524"/>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6" name="Oval 55"/>
                  <p:cNvSpPr>
                    <a:spLocks noChangeArrowheads="1"/>
                  </p:cNvSpPr>
                  <p:nvPr/>
                </p:nvSpPr>
                <p:spPr bwMode="auto">
                  <a:xfrm>
                    <a:off x="3748" y="1320"/>
                    <a:ext cx="430" cy="522"/>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7" name="Oval 56"/>
                  <p:cNvSpPr>
                    <a:spLocks noChangeArrowheads="1"/>
                  </p:cNvSpPr>
                  <p:nvPr/>
                </p:nvSpPr>
                <p:spPr bwMode="auto">
                  <a:xfrm>
                    <a:off x="2064" y="1594"/>
                    <a:ext cx="471" cy="510"/>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8" name="Oval 57"/>
                  <p:cNvSpPr>
                    <a:spLocks noChangeArrowheads="1"/>
                  </p:cNvSpPr>
                  <p:nvPr/>
                </p:nvSpPr>
                <p:spPr bwMode="auto">
                  <a:xfrm>
                    <a:off x="1838" y="2089"/>
                    <a:ext cx="434" cy="521"/>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599" name="Oval 58"/>
                  <p:cNvSpPr>
                    <a:spLocks noChangeArrowheads="1"/>
                  </p:cNvSpPr>
                  <p:nvPr/>
                </p:nvSpPr>
                <p:spPr bwMode="auto">
                  <a:xfrm>
                    <a:off x="4580" y="2643"/>
                    <a:ext cx="431" cy="523"/>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0" name="Oval 59"/>
                  <p:cNvSpPr>
                    <a:spLocks noChangeArrowheads="1"/>
                  </p:cNvSpPr>
                  <p:nvPr/>
                </p:nvSpPr>
                <p:spPr bwMode="auto">
                  <a:xfrm>
                    <a:off x="4053" y="2907"/>
                    <a:ext cx="430" cy="522"/>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1" name="Oval 60"/>
                  <p:cNvSpPr>
                    <a:spLocks noChangeArrowheads="1"/>
                  </p:cNvSpPr>
                  <p:nvPr/>
                </p:nvSpPr>
                <p:spPr bwMode="auto">
                  <a:xfrm>
                    <a:off x="2307" y="3141"/>
                    <a:ext cx="462" cy="529"/>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2" name="Oval 61"/>
                  <p:cNvSpPr>
                    <a:spLocks noChangeArrowheads="1"/>
                  </p:cNvSpPr>
                  <p:nvPr/>
                </p:nvSpPr>
                <p:spPr bwMode="auto">
                  <a:xfrm>
                    <a:off x="1999" y="3160"/>
                    <a:ext cx="367" cy="442"/>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3" name="Oval 62"/>
                  <p:cNvSpPr>
                    <a:spLocks noChangeArrowheads="1"/>
                  </p:cNvSpPr>
                  <p:nvPr/>
                </p:nvSpPr>
                <p:spPr bwMode="auto">
                  <a:xfrm>
                    <a:off x="4364" y="2837"/>
                    <a:ext cx="444" cy="543"/>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4" name="Oval 63"/>
                  <p:cNvSpPr>
                    <a:spLocks noChangeArrowheads="1"/>
                  </p:cNvSpPr>
                  <p:nvPr/>
                </p:nvSpPr>
                <p:spPr bwMode="auto">
                  <a:xfrm>
                    <a:off x="3507" y="2780"/>
                    <a:ext cx="623" cy="754"/>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5" name="Oval 64"/>
                  <p:cNvSpPr>
                    <a:spLocks noChangeArrowheads="1"/>
                  </p:cNvSpPr>
                  <p:nvPr/>
                </p:nvSpPr>
                <p:spPr bwMode="auto">
                  <a:xfrm>
                    <a:off x="2592" y="2672"/>
                    <a:ext cx="798" cy="930"/>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6" name="Oval 65"/>
                  <p:cNvSpPr>
                    <a:spLocks noChangeArrowheads="1"/>
                  </p:cNvSpPr>
                  <p:nvPr/>
                </p:nvSpPr>
                <p:spPr bwMode="auto">
                  <a:xfrm>
                    <a:off x="1959" y="2593"/>
                    <a:ext cx="224" cy="270"/>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7" name="Oval 66"/>
                  <p:cNvSpPr>
                    <a:spLocks noChangeArrowheads="1"/>
                  </p:cNvSpPr>
                  <p:nvPr/>
                </p:nvSpPr>
                <p:spPr bwMode="auto">
                  <a:xfrm>
                    <a:off x="4692" y="2169"/>
                    <a:ext cx="222" cy="265"/>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sp>
                <p:nvSpPr>
                  <p:cNvPr id="24608" name="Oval 67"/>
                  <p:cNvSpPr>
                    <a:spLocks noChangeArrowheads="1"/>
                  </p:cNvSpPr>
                  <p:nvPr/>
                </p:nvSpPr>
                <p:spPr bwMode="auto">
                  <a:xfrm>
                    <a:off x="4389" y="1397"/>
                    <a:ext cx="702" cy="856"/>
                  </a:xfrm>
                  <a:prstGeom prst="ellipse">
                    <a:avLst/>
                  </a:prstGeom>
                  <a:solidFill>
                    <a:srgbClr val="FFBF7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anose="020B0503020000020004" pitchFamily="50" charset="-127"/>
                      <a:cs typeface="Arial" pitchFamily="34" charset="0"/>
                    </a:endParaRPr>
                  </a:p>
                </p:txBody>
              </p:sp>
            </p:grpSp>
          </p:grpSp>
          <p:sp>
            <p:nvSpPr>
              <p:cNvPr id="24584" name="Freeform 68"/>
              <p:cNvSpPr>
                <a:spLocks/>
              </p:cNvSpPr>
              <p:nvPr/>
            </p:nvSpPr>
            <p:spPr bwMode="auto">
              <a:xfrm>
                <a:off x="2072" y="1517"/>
                <a:ext cx="2769" cy="1839"/>
              </a:xfrm>
              <a:custGeom>
                <a:avLst/>
                <a:gdLst>
                  <a:gd name="T0" fmla="*/ 564 w 2769"/>
                  <a:gd name="T1" fmla="*/ 86 h 1839"/>
                  <a:gd name="T2" fmla="*/ 255 w 2769"/>
                  <a:gd name="T3" fmla="*/ 135 h 1839"/>
                  <a:gd name="T4" fmla="*/ 0 w 2769"/>
                  <a:gd name="T5" fmla="*/ 1314 h 1839"/>
                  <a:gd name="T6" fmla="*/ 198 w 2769"/>
                  <a:gd name="T7" fmla="*/ 1663 h 1839"/>
                  <a:gd name="T8" fmla="*/ 764 w 2769"/>
                  <a:gd name="T9" fmla="*/ 1644 h 1839"/>
                  <a:gd name="T10" fmla="*/ 1363 w 2769"/>
                  <a:gd name="T11" fmla="*/ 1838 h 1839"/>
                  <a:gd name="T12" fmla="*/ 1674 w 2769"/>
                  <a:gd name="T13" fmla="*/ 1711 h 1839"/>
                  <a:gd name="T14" fmla="*/ 2521 w 2769"/>
                  <a:gd name="T15" fmla="*/ 1498 h 1839"/>
                  <a:gd name="T16" fmla="*/ 2655 w 2769"/>
                  <a:gd name="T17" fmla="*/ 1344 h 1839"/>
                  <a:gd name="T18" fmla="*/ 2624 w 2769"/>
                  <a:gd name="T19" fmla="*/ 1024 h 1839"/>
                  <a:gd name="T20" fmla="*/ 2768 w 2769"/>
                  <a:gd name="T21" fmla="*/ 715 h 1839"/>
                  <a:gd name="T22" fmla="*/ 2383 w 2769"/>
                  <a:gd name="T23" fmla="*/ 319 h 1839"/>
                  <a:gd name="T24" fmla="*/ 2217 w 2769"/>
                  <a:gd name="T25" fmla="*/ 153 h 1839"/>
                  <a:gd name="T26" fmla="*/ 1235 w 2769"/>
                  <a:gd name="T27" fmla="*/ 0 h 1839"/>
                  <a:gd name="T28" fmla="*/ 564 w 2769"/>
                  <a:gd name="T29" fmla="*/ 86 h 18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69"/>
                  <a:gd name="T46" fmla="*/ 0 h 1839"/>
                  <a:gd name="T47" fmla="*/ 2769 w 2769"/>
                  <a:gd name="T48" fmla="*/ 1839 h 18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69" h="1839">
                    <a:moveTo>
                      <a:pt x="564" y="86"/>
                    </a:moveTo>
                    <a:lnTo>
                      <a:pt x="255" y="135"/>
                    </a:lnTo>
                    <a:lnTo>
                      <a:pt x="0" y="1314"/>
                    </a:lnTo>
                    <a:lnTo>
                      <a:pt x="198" y="1663"/>
                    </a:lnTo>
                    <a:lnTo>
                      <a:pt x="764" y="1644"/>
                    </a:lnTo>
                    <a:lnTo>
                      <a:pt x="1363" y="1838"/>
                    </a:lnTo>
                    <a:lnTo>
                      <a:pt x="1674" y="1711"/>
                    </a:lnTo>
                    <a:lnTo>
                      <a:pt x="2521" y="1498"/>
                    </a:lnTo>
                    <a:lnTo>
                      <a:pt x="2655" y="1344"/>
                    </a:lnTo>
                    <a:lnTo>
                      <a:pt x="2624" y="1024"/>
                    </a:lnTo>
                    <a:lnTo>
                      <a:pt x="2768" y="715"/>
                    </a:lnTo>
                    <a:lnTo>
                      <a:pt x="2383" y="319"/>
                    </a:lnTo>
                    <a:lnTo>
                      <a:pt x="2217" y="153"/>
                    </a:lnTo>
                    <a:lnTo>
                      <a:pt x="1235" y="0"/>
                    </a:lnTo>
                    <a:lnTo>
                      <a:pt x="564" y="86"/>
                    </a:lnTo>
                  </a:path>
                </a:pathLst>
              </a:custGeom>
              <a:solidFill>
                <a:srgbClr val="FFBF7F"/>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ko-KR" altLang="en-US" dirty="0">
                  <a:latin typeface="Arial" pitchFamily="34" charset="0"/>
                  <a:ea typeface="맑은 고딕" panose="020B0503020000020004" pitchFamily="50" charset="-127"/>
                  <a:cs typeface="Arial" pitchFamily="34" charset="0"/>
                </a:endParaRPr>
              </a:p>
            </p:txBody>
          </p:sp>
        </p:grpSp>
        <p:pic>
          <p:nvPicPr>
            <p:cNvPr id="24582" name="Picture 69"/>
            <p:cNvPicPr>
              <a:picLocks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61" y="840"/>
              <a:ext cx="1337" cy="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580" name="Rectangle 70"/>
          <p:cNvSpPr>
            <a:spLocks noChangeArrowheads="1"/>
          </p:cNvSpPr>
          <p:nvPr/>
        </p:nvSpPr>
        <p:spPr bwMode="auto">
          <a:xfrm>
            <a:off x="3800872" y="2564904"/>
            <a:ext cx="4257398" cy="2881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5000"/>
              </a:lnSpc>
              <a:spcBef>
                <a:spcPts val="1200"/>
              </a:spcBef>
            </a:pPr>
            <a:r>
              <a:rPr lang="ko-KR" altLang="en-US"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Khi</a:t>
            </a:r>
            <a:r>
              <a:rPr lang="en-US" altLang="ko-KR" sz="1400" b="1" dirty="0">
                <a:latin typeface="Arial" pitchFamily="34" charset="0"/>
                <a:ea typeface="맑은 고딕" pitchFamily="50" charset="-127"/>
                <a:cs typeface="Arial" pitchFamily="34" charset="0"/>
              </a:rPr>
              <a:t> 1 </a:t>
            </a:r>
            <a:r>
              <a:rPr lang="en-US" altLang="ko-KR" sz="1400" b="1" dirty="0" err="1">
                <a:latin typeface="Arial" pitchFamily="34" charset="0"/>
                <a:ea typeface="맑은 고딕" pitchFamily="50" charset="-127"/>
                <a:cs typeface="Arial" pitchFamily="34" charset="0"/>
              </a:rPr>
              <a:t>điều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kiện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không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thể</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được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thể</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hiện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bằng</a:t>
            </a:r>
            <a:r>
              <a:rPr lang="en-US" altLang="ko-KR" sz="1400" b="1" dirty="0">
                <a:latin typeface="Arial" pitchFamily="34" charset="0"/>
                <a:ea typeface="맑은 고딕" pitchFamily="50" charset="-127"/>
                <a:cs typeface="Arial" pitchFamily="34" charset="0"/>
              </a:rPr>
              <a:t> 1 </a:t>
            </a:r>
            <a:r>
              <a:rPr lang="en-US" altLang="ko-KR" sz="1400" b="1" dirty="0" err="1">
                <a:latin typeface="Arial" pitchFamily="34" charset="0"/>
                <a:ea typeface="맑은 고딕" pitchFamily="50" charset="-127"/>
                <a:cs typeface="Arial" pitchFamily="34" charset="0"/>
              </a:rPr>
              <a:t>tập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hợp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số</a:t>
            </a:r>
            <a:endParaRPr lang="en-US" altLang="ko-KR" sz="1400" b="1" dirty="0">
              <a:latin typeface="Arial" pitchFamily="34" charset="0"/>
              <a:ea typeface="맑은 고딕" pitchFamily="50" charset="-127"/>
              <a:cs typeface="Arial" pitchFamily="34" charset="0"/>
            </a:endParaRPr>
          </a:p>
          <a:p>
            <a:pPr latinLnBrk="0">
              <a:lnSpc>
                <a:spcPct val="135000"/>
              </a:lnSpc>
              <a:spcBef>
                <a:spcPts val="1200"/>
              </a:spcBef>
            </a:pPr>
            <a:r>
              <a:rPr lang="ko-KR" altLang="en-US"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Điều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này</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ngụ</a:t>
            </a:r>
            <a:r>
              <a:rPr lang="en-US" altLang="ko-KR" sz="1400" b="1" dirty="0">
                <a:latin typeface="Arial" pitchFamily="34" charset="0"/>
                <a:ea typeface="맑은 고딕" pitchFamily="50" charset="-127"/>
                <a:cs typeface="Arial" pitchFamily="34" charset="0"/>
              </a:rPr>
              <a:t> ý </a:t>
            </a:r>
            <a:r>
              <a:rPr lang="en-US" altLang="ko-KR" sz="1400" b="1" dirty="0" err="1">
                <a:latin typeface="Arial" pitchFamily="34" charset="0"/>
                <a:ea typeface="맑은 고딕" pitchFamily="50" charset="-127"/>
                <a:cs typeface="Arial" pitchFamily="34" charset="0"/>
              </a:rPr>
              <a:t>cho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sự</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thiếu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hiểu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biết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đã</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gây</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ra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vấn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đề</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đó</a:t>
            </a:r>
            <a:endParaRPr lang="en-US" altLang="ko-KR" sz="1400" b="1" dirty="0">
              <a:latin typeface="Arial" pitchFamily="34" charset="0"/>
              <a:ea typeface="맑은 고딕" pitchFamily="50" charset="-127"/>
              <a:cs typeface="Arial" pitchFamily="34" charset="0"/>
            </a:endParaRPr>
          </a:p>
          <a:p>
            <a:pPr latinLnBrk="0">
              <a:lnSpc>
                <a:spcPct val="135000"/>
              </a:lnSpc>
              <a:spcBef>
                <a:spcPts val="1200"/>
              </a:spcBef>
            </a:pPr>
            <a:r>
              <a:rPr lang="ko-KR" altLang="en-US"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Sự </a:t>
            </a:r>
            <a:r>
              <a:rPr lang="en-US" altLang="ko-KR" sz="1400" b="1" dirty="0" err="1">
                <a:latin typeface="Arial" pitchFamily="34" charset="0"/>
                <a:ea typeface="맑은 고딕" pitchFamily="50" charset="-127"/>
                <a:cs typeface="Arial" pitchFamily="34" charset="0"/>
              </a:rPr>
              <a:t>bỏ</a:t>
            </a:r>
            <a:r>
              <a:rPr lang="en-US" altLang="ko-KR" sz="1400" b="1" dirty="0">
                <a:latin typeface="Arial" pitchFamily="34" charset="0"/>
                <a:ea typeface="맑은 고딕" pitchFamily="50" charset="-127"/>
                <a:cs typeface="Arial" pitchFamily="34" charset="0"/>
              </a:rPr>
              <a:t> qua</a:t>
            </a:r>
            <a:r>
              <a:rPr lang="vi-VN" altLang="ko-KR" sz="1400" b="1" dirty="0">
                <a:latin typeface="Arial" pitchFamily="34" charset="0"/>
                <a:ea typeface="맑은 고딕" pitchFamily="50" charset="-127"/>
                <a:cs typeface="Arial" pitchFamily="34" charset="0"/>
              </a:rPr>
              <a:t> về vấn đề </a:t>
            </a:r>
            <a:r>
              <a:rPr lang="en-US" altLang="ko-KR" sz="1400" b="1" dirty="0" err="1">
                <a:latin typeface="Arial" pitchFamily="34" charset="0"/>
                <a:ea typeface="맑은 고딕" pitchFamily="50" charset="-127"/>
                <a:cs typeface="Arial" pitchFamily="34" charset="0"/>
              </a:rPr>
              <a:t>nghĩa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là</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việc</a:t>
            </a:r>
            <a:r>
              <a:rPr lang="vi-VN" altLang="ko-KR" sz="1400" b="1" dirty="0">
                <a:latin typeface="Arial" pitchFamily="34" charset="0"/>
                <a:ea typeface="맑은 고딕" pitchFamily="50" charset="-127"/>
                <a:cs typeface="Arial" pitchFamily="34" charset="0"/>
              </a:rPr>
              <a:t> không đủ năng lực để kiểm soát vấn đề.</a:t>
            </a:r>
            <a:endParaRPr lang="en-US" altLang="ko-KR" sz="1400" b="1" dirty="0">
              <a:latin typeface="Arial" pitchFamily="34" charset="0"/>
              <a:ea typeface="맑은 고딕" pitchFamily="50" charset="-127"/>
              <a:cs typeface="Arial" pitchFamily="34" charset="0"/>
            </a:endParaRPr>
          </a:p>
          <a:p>
            <a:pPr latinLnBrk="0">
              <a:lnSpc>
                <a:spcPct val="135000"/>
              </a:lnSpc>
              <a:spcBef>
                <a:spcPts val="1200"/>
              </a:spcBef>
            </a:pPr>
            <a:r>
              <a:rPr lang="ko-KR" altLang="en-US"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Điều này có nghĩa là tình hình hiện tại </a:t>
            </a:r>
            <a:r>
              <a:rPr lang="en-US" altLang="ko-KR" sz="1400" b="1" dirty="0" err="1">
                <a:latin typeface="Arial" pitchFamily="34" charset="0"/>
                <a:ea typeface="맑은 고딕" pitchFamily="50" charset="-127"/>
                <a:cs typeface="Arial" pitchFamily="34" charset="0"/>
              </a:rPr>
              <a:t>sẽ</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không thể được cải tiến.</a:t>
            </a:r>
            <a:endParaRPr lang="en-US" altLang="ko-KR" sz="14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26</a:t>
            </a:fld>
            <a:endParaRPr lang="ko-KR" altLang="en-US" dirty="0">
              <a:latin typeface="Arial" pitchFamily="34" charset="0"/>
              <a:cs typeface="Arial" pitchFamily="34" charset="0"/>
            </a:endParaRPr>
          </a:p>
        </p:txBody>
      </p:sp>
    </p:spTree>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2. </a:t>
            </a:r>
            <a:r>
              <a:rPr lang="en-US" altLang="ko-KR" b="1" dirty="0" err="1">
                <a:latin typeface="Arial" pitchFamily="34" charset="0"/>
                <a:ea typeface="맑은 고딕" pitchFamily="50" charset="-127"/>
                <a:cs typeface="Arial" pitchFamily="34" charset="0"/>
              </a:rPr>
              <a:t>Khái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niệm</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một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số</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thuật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ngữ</a:t>
            </a:r>
            <a:endParaRPr lang="ko-KR" altLang="en-US" b="1" dirty="0">
              <a:latin typeface="Arial" pitchFamily="34" charset="0"/>
              <a:ea typeface="맑은 고딕" pitchFamily="50" charset="-127"/>
              <a:cs typeface="Arial" pitchFamily="34" charset="0"/>
            </a:endParaRPr>
          </a:p>
        </p:txBody>
      </p:sp>
      <p:pic>
        <p:nvPicPr>
          <p:cNvPr id="25603" name="Picture 24" descr="그림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631825" y="2708275"/>
            <a:ext cx="4102100" cy="215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5604" name="Object 25"/>
          <p:cNvGraphicFramePr>
            <a:graphicFrameLocks noChangeAspect="1"/>
          </p:cNvGraphicFramePr>
          <p:nvPr/>
        </p:nvGraphicFramePr>
        <p:xfrm>
          <a:off x="2936875" y="3367088"/>
          <a:ext cx="914400" cy="493712"/>
        </p:xfrm>
        <a:graphic>
          <a:graphicData uri="http://schemas.openxmlformats.org/presentationml/2006/ole">
            <mc:AlternateContent xmlns:mc="http://schemas.openxmlformats.org/markup-compatibility/2006">
              <mc:Choice xmlns:v="urn:schemas-microsoft-com:vml" Requires="v">
                <p:oleObj name="클립" r:id="rId4" imgW="2239366" imgH="1209751" progId="">
                  <p:embed/>
                </p:oleObj>
              </mc:Choice>
              <mc:Fallback>
                <p:oleObj name="클립" r:id="rId4" imgW="2239366" imgH="1209751" progId="">
                  <p:embed/>
                  <p:pic>
                    <p:nvPicPr>
                      <p:cNvPr id="25604" name="Object 2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36875" y="3367088"/>
                        <a:ext cx="914400" cy="4937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5605" name="Text Box 26"/>
          <p:cNvSpPr txBox="1">
            <a:spLocks noChangeArrowheads="1"/>
          </p:cNvSpPr>
          <p:nvPr/>
        </p:nvSpPr>
        <p:spPr bwMode="auto">
          <a:xfrm>
            <a:off x="2554551" y="3860800"/>
            <a:ext cx="16409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a:latin typeface="Arial" pitchFamily="34" charset="0"/>
                <a:ea typeface="맑은 고딕" pitchFamily="50" charset="-127"/>
                <a:cs typeface="Arial" pitchFamily="34" charset="0"/>
              </a:rPr>
              <a:t>Customer group of </a:t>
            </a:r>
          </a:p>
          <a:p>
            <a:pPr algn="ctr" eaLnBrk="1" hangingPunct="1"/>
            <a:r>
              <a:rPr lang="en-US" altLang="ko-KR" sz="1200" b="1" dirty="0">
                <a:latin typeface="Arial" pitchFamily="34" charset="0"/>
                <a:ea typeface="맑은 고딕" pitchFamily="50" charset="-127"/>
                <a:cs typeface="Arial" pitchFamily="34" charset="0"/>
              </a:rPr>
              <a:t>100 who own cars</a:t>
            </a:r>
            <a:endParaRPr lang="ko-KR" altLang="en-US" sz="1200" b="1" dirty="0">
              <a:latin typeface="Arial" pitchFamily="34" charset="0"/>
              <a:ea typeface="맑은 고딕" pitchFamily="50" charset="-127"/>
              <a:cs typeface="Arial" pitchFamily="34" charset="0"/>
            </a:endParaRPr>
          </a:p>
        </p:txBody>
      </p:sp>
      <p:sp>
        <p:nvSpPr>
          <p:cNvPr id="25606" name="Text Box 27"/>
          <p:cNvSpPr txBox="1">
            <a:spLocks noChangeArrowheads="1"/>
          </p:cNvSpPr>
          <p:nvPr/>
        </p:nvSpPr>
        <p:spPr bwMode="auto">
          <a:xfrm>
            <a:off x="528638" y="1320800"/>
            <a:ext cx="43075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latin typeface="Arial" pitchFamily="34" charset="0"/>
                <a:ea typeface="맑은 고딕" pitchFamily="50" charset="-127"/>
                <a:cs typeface="Arial" pitchFamily="34" charset="0"/>
              </a:rPr>
              <a:t>Phân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nhu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cầu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mua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xe</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của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một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nhóm</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độ</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tuổi</a:t>
            </a:r>
            <a:endParaRPr lang="ko-KR" altLang="en-US" sz="1400" b="1" dirty="0">
              <a:latin typeface="Arial" pitchFamily="34" charset="0"/>
              <a:ea typeface="맑은 고딕" pitchFamily="50" charset="-127"/>
              <a:cs typeface="Arial" pitchFamily="34" charset="0"/>
            </a:endParaRPr>
          </a:p>
        </p:txBody>
      </p:sp>
      <p:graphicFrame>
        <p:nvGraphicFramePr>
          <p:cNvPr id="22" name="Group 39"/>
          <p:cNvGraphicFramePr>
            <a:graphicFrameLocks noGrp="1"/>
          </p:cNvGraphicFramePr>
          <p:nvPr>
            <p:extLst>
              <p:ext uri="{D42A27DB-BD31-4B8C-83A1-F6EECF244321}">
                <p14:modId xmlns:p14="http://schemas.microsoft.com/office/powerpoint/2010/main" val="3936653465"/>
              </p:ext>
            </p:extLst>
          </p:nvPr>
        </p:nvGraphicFramePr>
        <p:xfrm>
          <a:off x="4872038" y="2995613"/>
          <a:ext cx="1952625" cy="1624290"/>
        </p:xfrm>
        <a:graphic>
          <a:graphicData uri="http://schemas.openxmlformats.org/drawingml/2006/table">
            <a:tbl>
              <a:tblPr/>
              <a:tblGrid>
                <a:gridCol w="1258796">
                  <a:extLst>
                    <a:ext uri="{9D8B030D-6E8A-4147-A177-3AD203B41FA5}">
                      <a16:colId xmlns:a16="http://schemas.microsoft.com/office/drawing/2014/main" val="20000"/>
                    </a:ext>
                  </a:extLst>
                </a:gridCol>
                <a:gridCol w="693829">
                  <a:extLst>
                    <a:ext uri="{9D8B030D-6E8A-4147-A177-3AD203B41FA5}">
                      <a16:colId xmlns:a16="http://schemas.microsoft.com/office/drawing/2014/main" val="20001"/>
                    </a:ext>
                  </a:extLst>
                </a:gridCol>
              </a:tblGrid>
              <a:tr h="27438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Age at 1</a:t>
                      </a:r>
                      <a:r>
                        <a:rPr kumimoji="1" lang="en-US" altLang="ko-KR" sz="1200" b="1" i="0" u="none" strike="noStrike" cap="none" normalizeH="0" baseline="30000" dirty="0">
                          <a:ln>
                            <a:noFill/>
                          </a:ln>
                          <a:solidFill>
                            <a:schemeClr val="tx1"/>
                          </a:solidFill>
                          <a:effectLst/>
                          <a:latin typeface="맑은 고딕" pitchFamily="50" charset="-127"/>
                          <a:ea typeface="맑은 고딕" pitchFamily="50" charset="-127"/>
                        </a:rPr>
                        <a:t>st</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purchase</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91410" marR="91410"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of people</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91410" marR="91410"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16707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20s</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30s</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40s</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50s</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60s</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91410" marR="91410"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40</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30</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10</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15</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5</a:t>
                      </a:r>
                      <a:endParaRPr kumimoji="1"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91410" marR="91410"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3" name="AutoShape 40"/>
          <p:cNvSpPr>
            <a:spLocks noChangeArrowheads="1"/>
          </p:cNvSpPr>
          <p:nvPr/>
        </p:nvSpPr>
        <p:spPr bwMode="auto">
          <a:xfrm>
            <a:off x="847725" y="4940300"/>
            <a:ext cx="1296988" cy="504825"/>
          </a:xfrm>
          <a:prstGeom prst="roundRect">
            <a:avLst>
              <a:gd name="adj" fmla="val 12542"/>
            </a:avLst>
          </a:prstGeom>
          <a:solidFill>
            <a:schemeClr val="bg2">
              <a:lumMod val="90000"/>
            </a:schemeClr>
          </a:solidFill>
          <a:ln w="9525">
            <a:solidFill>
              <a:schemeClr val="accent2"/>
            </a:solidFill>
            <a:round/>
            <a:headEnd/>
            <a:tailEnd/>
          </a:ln>
        </p:spPr>
        <p:txBody>
          <a:bodyPr wrap="none" anchor="ctr"/>
          <a:lstStyle/>
          <a:p>
            <a:pPr>
              <a:defRPr/>
            </a:pPr>
            <a:r>
              <a:rPr lang="en-US" altLang="ko-KR" sz="1000" b="1" dirty="0">
                <a:latin typeface="Arial" pitchFamily="34" charset="0"/>
                <a:ea typeface="맑은 고딕" panose="020B0503020000020004" pitchFamily="50" charset="-127"/>
                <a:cs typeface="Arial" pitchFamily="34" charset="0"/>
              </a:rPr>
              <a:t>- Lot</a:t>
            </a:r>
          </a:p>
          <a:p>
            <a:pPr>
              <a:defRPr/>
            </a:pPr>
            <a:r>
              <a:rPr lang="en-US" altLang="ko-KR" sz="1000" b="1" dirty="0">
                <a:latin typeface="Arial" pitchFamily="34" charset="0"/>
                <a:ea typeface="맑은 고딕" panose="020B0503020000020004" pitchFamily="50" charset="-127"/>
                <a:cs typeface="Arial" pitchFamily="34" charset="0"/>
              </a:rPr>
              <a:t>- N</a:t>
            </a:r>
          </a:p>
        </p:txBody>
      </p:sp>
      <p:sp>
        <p:nvSpPr>
          <p:cNvPr id="24" name="AutoShape 41"/>
          <p:cNvSpPr>
            <a:spLocks noChangeArrowheads="1"/>
          </p:cNvSpPr>
          <p:nvPr/>
        </p:nvSpPr>
        <p:spPr bwMode="auto">
          <a:xfrm>
            <a:off x="2863850" y="4940300"/>
            <a:ext cx="1441450" cy="504825"/>
          </a:xfrm>
          <a:prstGeom prst="roundRect">
            <a:avLst>
              <a:gd name="adj" fmla="val 12542"/>
            </a:avLst>
          </a:prstGeom>
          <a:solidFill>
            <a:schemeClr val="bg2">
              <a:lumMod val="90000"/>
            </a:schemeClr>
          </a:solidFill>
          <a:ln w="9525">
            <a:solidFill>
              <a:schemeClr val="accent2"/>
            </a:solidFill>
            <a:round/>
            <a:headEnd/>
            <a:tailEnd/>
          </a:ln>
        </p:spPr>
        <p:txBody>
          <a:bodyPr wrap="none" anchor="ctr"/>
          <a:lstStyle/>
          <a:p>
            <a:pPr>
              <a:defRPr/>
            </a:pPr>
            <a:r>
              <a:rPr lang="en-US" altLang="ko-KR" sz="1000" b="1" dirty="0">
                <a:latin typeface="Arial" pitchFamily="34" charset="0"/>
                <a:ea typeface="맑은 고딕" panose="020B0503020000020004" pitchFamily="50" charset="-127"/>
                <a:cs typeface="Arial" pitchFamily="34" charset="0"/>
              </a:rPr>
              <a:t>- Sample</a:t>
            </a:r>
          </a:p>
          <a:p>
            <a:pPr>
              <a:defRPr/>
            </a:pPr>
            <a:r>
              <a:rPr lang="en-US" altLang="ko-KR" sz="1000" b="1" dirty="0">
                <a:latin typeface="Arial" pitchFamily="34" charset="0"/>
                <a:ea typeface="맑은 고딕" panose="020B0503020000020004" pitchFamily="50" charset="-127"/>
                <a:cs typeface="Arial" pitchFamily="34" charset="0"/>
              </a:rPr>
              <a:t>- n 1 ~ n n</a:t>
            </a:r>
          </a:p>
        </p:txBody>
      </p:sp>
      <p:sp>
        <p:nvSpPr>
          <p:cNvPr id="25" name="AutoShape 42"/>
          <p:cNvSpPr>
            <a:spLocks noChangeArrowheads="1"/>
          </p:cNvSpPr>
          <p:nvPr/>
        </p:nvSpPr>
        <p:spPr bwMode="auto">
          <a:xfrm>
            <a:off x="5240338" y="4940300"/>
            <a:ext cx="1296987" cy="504825"/>
          </a:xfrm>
          <a:prstGeom prst="roundRect">
            <a:avLst>
              <a:gd name="adj" fmla="val 12542"/>
            </a:avLst>
          </a:prstGeom>
          <a:solidFill>
            <a:schemeClr val="bg2">
              <a:lumMod val="90000"/>
            </a:schemeClr>
          </a:solidFill>
          <a:ln w="9525">
            <a:solidFill>
              <a:schemeClr val="accent2"/>
            </a:solidFill>
            <a:round/>
            <a:headEnd/>
            <a:tailEnd/>
          </a:ln>
        </p:spPr>
        <p:txBody>
          <a:bodyPr wrap="none" anchor="ctr"/>
          <a:lstStyle/>
          <a:p>
            <a:pPr>
              <a:defRPr/>
            </a:pPr>
            <a:r>
              <a:rPr lang="en-US" altLang="ko-KR" sz="1000" b="1" dirty="0">
                <a:latin typeface="Arial" pitchFamily="34" charset="0"/>
                <a:ea typeface="맑은 고딕" panose="020B0503020000020004" pitchFamily="50" charset="-127"/>
                <a:cs typeface="Arial" pitchFamily="34" charset="0"/>
              </a:rPr>
              <a:t>- Data</a:t>
            </a:r>
          </a:p>
        </p:txBody>
      </p:sp>
      <p:sp>
        <p:nvSpPr>
          <p:cNvPr id="26" name="AutoShape 46"/>
          <p:cNvSpPr>
            <a:spLocks noChangeArrowheads="1"/>
          </p:cNvSpPr>
          <p:nvPr/>
        </p:nvSpPr>
        <p:spPr bwMode="auto">
          <a:xfrm>
            <a:off x="631825" y="1916113"/>
            <a:ext cx="1728788" cy="792162"/>
          </a:xfrm>
          <a:prstGeom prst="roundRect">
            <a:avLst>
              <a:gd name="adj" fmla="val 12542"/>
            </a:avLst>
          </a:prstGeom>
          <a:solidFill>
            <a:schemeClr val="bg2">
              <a:lumMod val="90000"/>
            </a:schemeClr>
          </a:solidFill>
          <a:ln w="9525">
            <a:solidFill>
              <a:schemeClr val="accent2"/>
            </a:solidFill>
            <a:round/>
            <a:headEnd/>
            <a:tailEnd/>
          </a:ln>
        </p:spPr>
        <p:txBody>
          <a:bodyPr wrap="none"/>
          <a:lstStyle/>
          <a:p>
            <a:pPr>
              <a:defRPr/>
            </a:pPr>
            <a:r>
              <a:rPr lang="en-US" altLang="ko-KR" sz="1000" b="1" dirty="0" err="1">
                <a:latin typeface="Arial" pitchFamily="34" charset="0"/>
                <a:ea typeface="맑은 고딕" panose="020B0503020000020004" pitchFamily="50" charset="-127"/>
                <a:cs typeface="Arial" pitchFamily="34" charset="0"/>
              </a:rPr>
              <a:t>Tổng</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thể</a:t>
            </a:r>
            <a:r>
              <a:rPr lang="en-US" altLang="ko-KR" sz="1000" b="1" dirty="0">
                <a:latin typeface="Arial" pitchFamily="34" charset="0"/>
                <a:ea typeface="맑은 고딕" panose="020B0503020000020004" pitchFamily="50" charset="-127"/>
                <a:cs typeface="Arial" pitchFamily="34" charset="0"/>
              </a:rPr>
              <a:t>:</a:t>
            </a:r>
          </a:p>
          <a:p>
            <a:pPr>
              <a:defRPr/>
            </a:pPr>
            <a:r>
              <a:rPr lang="en-US" altLang="ko-KR" sz="1000" b="1" dirty="0" err="1">
                <a:latin typeface="Arial" pitchFamily="34" charset="0"/>
                <a:ea typeface="맑은 고딕" panose="020B0503020000020004" pitchFamily="50" charset="-127"/>
                <a:cs typeface="Arial" pitchFamily="34" charset="0"/>
              </a:rPr>
              <a:t>Toàn</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bộ</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những</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nhóm</a:t>
            </a:r>
            <a:r>
              <a:rPr lang="en-US" altLang="ko-KR" sz="1000" b="1" dirty="0">
                <a:latin typeface="Arial" pitchFamily="34" charset="0"/>
                <a:ea typeface="맑은 고딕" panose="020B0503020000020004" pitchFamily="50" charset="-127"/>
                <a:cs typeface="Arial" pitchFamily="34" charset="0"/>
              </a:rPr>
              <a:t> </a:t>
            </a:r>
          </a:p>
          <a:p>
            <a:pPr>
              <a:defRPr/>
            </a:pPr>
            <a:r>
              <a:rPr lang="en-US" altLang="ko-KR" sz="1000" b="1" dirty="0" err="1">
                <a:latin typeface="Arial" pitchFamily="34" charset="0"/>
                <a:ea typeface="맑은 고딕" panose="020B0503020000020004" pitchFamily="50" charset="-127"/>
                <a:cs typeface="Arial" pitchFamily="34" charset="0"/>
              </a:rPr>
              <a:t>được</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chọn</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ra</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để</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nghiên</a:t>
            </a:r>
            <a:br>
              <a:rPr lang="en-US" altLang="ko-KR" sz="1000" b="1" dirty="0">
                <a:latin typeface="Arial" pitchFamily="34" charset="0"/>
                <a:ea typeface="맑은 고딕" panose="020B0503020000020004" pitchFamily="50" charset="-127"/>
                <a:cs typeface="Arial" pitchFamily="34" charset="0"/>
              </a:rPr>
            </a:br>
            <a:r>
              <a:rPr lang="en-US" altLang="ko-KR" sz="1000" b="1" dirty="0" err="1">
                <a:latin typeface="Arial" pitchFamily="34" charset="0"/>
                <a:ea typeface="맑은 고딕" panose="020B0503020000020004" pitchFamily="50" charset="-127"/>
                <a:cs typeface="Arial" pitchFamily="34" charset="0"/>
              </a:rPr>
              <a:t>cứu</a:t>
            </a:r>
            <a:endParaRPr lang="en-US" altLang="ko-KR" sz="1000" b="1" dirty="0">
              <a:latin typeface="Arial" pitchFamily="34" charset="0"/>
              <a:ea typeface="맑은 고딕" panose="020B0503020000020004" pitchFamily="50" charset="-127"/>
              <a:cs typeface="Arial" pitchFamily="34" charset="0"/>
            </a:endParaRPr>
          </a:p>
        </p:txBody>
      </p:sp>
      <p:sp>
        <p:nvSpPr>
          <p:cNvPr id="27" name="AutoShape 47"/>
          <p:cNvSpPr>
            <a:spLocks noChangeArrowheads="1"/>
          </p:cNvSpPr>
          <p:nvPr/>
        </p:nvSpPr>
        <p:spPr bwMode="auto">
          <a:xfrm>
            <a:off x="2505075" y="1916113"/>
            <a:ext cx="2160588" cy="792162"/>
          </a:xfrm>
          <a:prstGeom prst="roundRect">
            <a:avLst>
              <a:gd name="adj" fmla="val 12542"/>
            </a:avLst>
          </a:prstGeom>
          <a:solidFill>
            <a:schemeClr val="bg2">
              <a:lumMod val="90000"/>
            </a:schemeClr>
          </a:solidFill>
          <a:ln w="9525">
            <a:solidFill>
              <a:schemeClr val="accent2"/>
            </a:solidFill>
            <a:round/>
            <a:headEnd/>
            <a:tailEnd/>
          </a:ln>
        </p:spPr>
        <p:txBody>
          <a:bodyPr wrap="none"/>
          <a:lstStyle/>
          <a:p>
            <a:pPr>
              <a:defRPr/>
            </a:pPr>
            <a:r>
              <a:rPr lang="en-US" altLang="ko-KR" sz="1000" b="1" dirty="0" err="1">
                <a:latin typeface="Arial" pitchFamily="34" charset="0"/>
                <a:ea typeface="맑은 고딕" panose="020B0503020000020004" pitchFamily="50" charset="-127"/>
                <a:cs typeface="Arial" pitchFamily="34" charset="0"/>
              </a:rPr>
              <a:t>Mẫu</a:t>
            </a:r>
            <a:r>
              <a:rPr lang="en-US" altLang="ko-KR" sz="1000" b="1" dirty="0">
                <a:latin typeface="Arial" pitchFamily="34" charset="0"/>
                <a:ea typeface="맑은 고딕" panose="020B0503020000020004" pitchFamily="50" charset="-127"/>
                <a:cs typeface="Arial" pitchFamily="34" charset="0"/>
              </a:rPr>
              <a:t>:</a:t>
            </a:r>
          </a:p>
          <a:p>
            <a:pPr>
              <a:defRPr/>
            </a:pPr>
            <a:r>
              <a:rPr lang="en-US" altLang="ko-KR" sz="1000" b="1" dirty="0" err="1">
                <a:latin typeface="Arial" pitchFamily="34" charset="0"/>
                <a:ea typeface="맑은 고딕" panose="020B0503020000020004" pitchFamily="50" charset="-127"/>
                <a:cs typeface="Arial" pitchFamily="34" charset="0"/>
              </a:rPr>
              <a:t>Việc</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lựa</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chọn</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là</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để</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phục</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vụ</a:t>
            </a:r>
            <a:br>
              <a:rPr lang="en-US" altLang="ko-KR" sz="1000" b="1" dirty="0">
                <a:latin typeface="Arial" pitchFamily="34" charset="0"/>
                <a:ea typeface="맑은 고딕" panose="020B0503020000020004" pitchFamily="50" charset="-127"/>
                <a:cs typeface="Arial" pitchFamily="34" charset="0"/>
              </a:rPr>
            </a:br>
            <a:r>
              <a:rPr lang="en-US" altLang="ko-KR" sz="1000" b="1" dirty="0" err="1">
                <a:latin typeface="Arial" pitchFamily="34" charset="0"/>
                <a:ea typeface="맑은 고딕" panose="020B0503020000020004" pitchFamily="50" charset="-127"/>
                <a:cs typeface="Arial" pitchFamily="34" charset="0"/>
              </a:rPr>
              <a:t>những</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mục</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đích</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đặc</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biệt</a:t>
            </a:r>
            <a:endParaRPr lang="ko-KR" altLang="en-US" sz="1000" b="1" dirty="0">
              <a:latin typeface="Arial" pitchFamily="34" charset="0"/>
              <a:ea typeface="맑은 고딕" panose="020B0503020000020004" pitchFamily="50" charset="-127"/>
              <a:cs typeface="Arial" pitchFamily="34" charset="0"/>
            </a:endParaRPr>
          </a:p>
        </p:txBody>
      </p:sp>
      <p:sp>
        <p:nvSpPr>
          <p:cNvPr id="28" name="AutoShape 48"/>
          <p:cNvSpPr>
            <a:spLocks noChangeArrowheads="1"/>
          </p:cNvSpPr>
          <p:nvPr/>
        </p:nvSpPr>
        <p:spPr bwMode="auto">
          <a:xfrm>
            <a:off x="4953000" y="1916113"/>
            <a:ext cx="1728788" cy="792162"/>
          </a:xfrm>
          <a:prstGeom prst="roundRect">
            <a:avLst>
              <a:gd name="adj" fmla="val 12542"/>
            </a:avLst>
          </a:prstGeom>
          <a:solidFill>
            <a:schemeClr val="bg2">
              <a:lumMod val="90000"/>
            </a:schemeClr>
          </a:solidFill>
          <a:ln w="9525">
            <a:solidFill>
              <a:schemeClr val="accent2"/>
            </a:solidFill>
            <a:round/>
            <a:headEnd/>
            <a:tailEnd/>
          </a:ln>
        </p:spPr>
        <p:txBody>
          <a:bodyPr wrap="none"/>
          <a:lstStyle/>
          <a:p>
            <a:pPr>
              <a:defRPr/>
            </a:pPr>
            <a:r>
              <a:rPr lang="en-US" altLang="ko-KR" sz="1000" b="1" dirty="0" err="1">
                <a:latin typeface="Arial" pitchFamily="34" charset="0"/>
                <a:ea typeface="맑은 고딕" panose="020B0503020000020004" pitchFamily="50" charset="-127"/>
                <a:cs typeface="Arial" pitchFamily="34" charset="0"/>
              </a:rPr>
              <a:t>Đặc</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điểm</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của</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dữ</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liệu</a:t>
            </a:r>
            <a:r>
              <a:rPr lang="en-US" altLang="ko-KR" sz="1000" b="1" dirty="0">
                <a:latin typeface="Arial" pitchFamily="34" charset="0"/>
                <a:ea typeface="맑은 고딕" panose="020B0503020000020004" pitchFamily="50" charset="-127"/>
                <a:cs typeface="Arial" pitchFamily="34" charset="0"/>
              </a:rPr>
              <a:t>:</a:t>
            </a:r>
          </a:p>
          <a:p>
            <a:pPr>
              <a:defRPr/>
            </a:pPr>
            <a:r>
              <a:rPr lang="en-US" altLang="ko-KR" sz="1000" b="1" dirty="0" err="1">
                <a:latin typeface="Arial" pitchFamily="34" charset="0"/>
                <a:ea typeface="맑은 고딕" panose="020B0503020000020004" pitchFamily="50" charset="-127"/>
                <a:cs typeface="Arial" pitchFamily="34" charset="0"/>
              </a:rPr>
              <a:t>Dữ</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liệu</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hoặc</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mô</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tả</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đặc</a:t>
            </a:r>
            <a:br>
              <a:rPr lang="en-US" altLang="ko-KR" sz="1000" b="1" dirty="0">
                <a:latin typeface="Arial" pitchFamily="34" charset="0"/>
                <a:ea typeface="맑은 고딕" panose="020B0503020000020004" pitchFamily="50" charset="-127"/>
                <a:cs typeface="Arial" pitchFamily="34" charset="0"/>
              </a:rPr>
            </a:br>
            <a:r>
              <a:rPr lang="en-US" altLang="ko-KR" sz="1000" b="1" dirty="0" err="1">
                <a:latin typeface="Arial" pitchFamily="34" charset="0"/>
                <a:ea typeface="맑은 고딕" panose="020B0503020000020004" pitchFamily="50" charset="-127"/>
                <a:cs typeface="Arial" pitchFamily="34" charset="0"/>
              </a:rPr>
              <a:t>trưng</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mẫu</a:t>
            </a:r>
            <a:endParaRPr lang="ko-KR" altLang="en-US" sz="1000" b="1" dirty="0">
              <a:latin typeface="Arial" pitchFamily="34" charset="0"/>
              <a:ea typeface="맑은 고딕" panose="020B0503020000020004" pitchFamily="50" charset="-127"/>
              <a:cs typeface="Arial" pitchFamily="34" charset="0"/>
            </a:endParaRPr>
          </a:p>
        </p:txBody>
      </p:sp>
      <p:sp>
        <p:nvSpPr>
          <p:cNvPr id="25624" name="TextBox 16"/>
          <p:cNvSpPr txBox="1">
            <a:spLocks noChangeArrowheads="1"/>
          </p:cNvSpPr>
          <p:nvPr/>
        </p:nvSpPr>
        <p:spPr bwMode="auto">
          <a:xfrm>
            <a:off x="7003680" y="2357430"/>
            <a:ext cx="51379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buFont typeface="Arial" pitchFamily="34" charset="0"/>
              <a:buChar cha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Dữ</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liệu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đại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diện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cho</a:t>
            </a:r>
            <a:r>
              <a:rPr lang="en-US" altLang="ko-KR" sz="1200" b="1" dirty="0">
                <a:latin typeface="Arial" pitchFamily="34" charset="0"/>
                <a:ea typeface="맑은 고딕" pitchFamily="50" charset="-127"/>
                <a:cs typeface="Arial" pitchFamily="34" charset="0"/>
              </a:rPr>
              <a:t> thi </a:t>
            </a:r>
            <a:r>
              <a:rPr lang="en-US" altLang="ko-KR" sz="1200" b="1" dirty="0" err="1">
                <a:latin typeface="Arial" pitchFamily="34" charset="0"/>
                <a:ea typeface="맑은 고딕" pitchFamily="50" charset="-127"/>
                <a:cs typeface="Arial" pitchFamily="34" charset="0"/>
              </a:rPr>
              <a:t>trường</a:t>
            </a:r>
            <a:r>
              <a:rPr lang="en-US" altLang="ko-KR" sz="1200" b="1" dirty="0">
                <a:latin typeface="Arial" pitchFamily="34" charset="0"/>
                <a:ea typeface="맑은 고딕" pitchFamily="50" charset="-127"/>
                <a:cs typeface="Arial" pitchFamily="34" charset="0"/>
              </a:rPr>
              <a:t> </a:t>
            </a:r>
          </a:p>
          <a:p>
            <a:pPr eaLnBrk="1" hangingPunct="1">
              <a:buClr>
                <a:srgbClr val="C5003D"/>
              </a:buClr>
            </a:pPr>
            <a:r>
              <a:rPr lang="en-US" altLang="ko-KR" sz="1200" b="1" dirty="0" err="1">
                <a:latin typeface="Arial" pitchFamily="34" charset="0"/>
                <a:ea typeface="맑은 고딕" pitchFamily="50" charset="-127"/>
                <a:cs typeface="Arial" pitchFamily="34" charset="0"/>
              </a:rPr>
              <a:t>biểu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hiện</a:t>
            </a:r>
            <a:r>
              <a:rPr lang="en-US" altLang="ko-KR" sz="1200" b="1" dirty="0">
                <a:latin typeface="Arial" pitchFamily="34" charset="0"/>
                <a:ea typeface="맑은 고딕" pitchFamily="50" charset="-127"/>
                <a:cs typeface="Arial" pitchFamily="34" charset="0"/>
              </a:rPr>
              <a:t> qua con </a:t>
            </a:r>
            <a:r>
              <a:rPr lang="en-US" altLang="ko-KR" sz="1200" b="1" dirty="0" err="1">
                <a:latin typeface="Arial" pitchFamily="34" charset="0"/>
                <a:ea typeface="맑은 고딕" pitchFamily="50" charset="-127"/>
                <a:cs typeface="Arial" pitchFamily="34" charset="0"/>
              </a:rPr>
              <a:t>số</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hoặc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văn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bản</a:t>
            </a:r>
            <a:endParaRPr lang="ko-KR" altLang="en-US" sz="1200" b="1" dirty="0">
              <a:latin typeface="Arial" pitchFamily="34" charset="0"/>
              <a:ea typeface="맑은 고딕" pitchFamily="50" charset="-127"/>
              <a:cs typeface="Arial" pitchFamily="34" charset="0"/>
            </a:endParaRPr>
          </a:p>
        </p:txBody>
      </p:sp>
      <p:sp>
        <p:nvSpPr>
          <p:cNvPr id="25625" name="TextBox 17"/>
          <p:cNvSpPr txBox="1">
            <a:spLocks noChangeArrowheads="1"/>
          </p:cNvSpPr>
          <p:nvPr/>
        </p:nvSpPr>
        <p:spPr bwMode="auto">
          <a:xfrm>
            <a:off x="7007324" y="3155411"/>
            <a:ext cx="20635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lvl="1" indent="0" eaLnBrk="1" hangingPunct="1">
              <a:buClr>
                <a:srgbClr val="C5003D"/>
              </a:buClr>
              <a:buFont typeface="Arial" pitchFamily="34" charset="0"/>
              <a:buChar cha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Các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biến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số</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hằng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số</a:t>
            </a:r>
            <a:endParaRPr lang="ko-KR" altLang="en-US" sz="1200" b="1" dirty="0">
              <a:latin typeface="Arial" pitchFamily="34" charset="0"/>
              <a:ea typeface="맑은 고딕" pitchFamily="50" charset="-127"/>
              <a:cs typeface="Arial" pitchFamily="34" charset="0"/>
            </a:endParaRPr>
          </a:p>
        </p:txBody>
      </p:sp>
      <p:sp>
        <p:nvSpPr>
          <p:cNvPr id="25626" name="TextBox 18"/>
          <p:cNvSpPr txBox="1">
            <a:spLocks noChangeArrowheads="1"/>
          </p:cNvSpPr>
          <p:nvPr/>
        </p:nvSpPr>
        <p:spPr bwMode="auto">
          <a:xfrm>
            <a:off x="7003680" y="3768725"/>
            <a:ext cx="24000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buFont typeface="Arial" pitchFamily="34" charset="0"/>
              <a:buChar cha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Tất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cả</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các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yếu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tố</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đều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có</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thể</a:t>
            </a:r>
            <a:r>
              <a:rPr lang="en-US" altLang="ko-KR" sz="1200" b="1" dirty="0">
                <a:latin typeface="Arial" pitchFamily="34" charset="0"/>
                <a:ea typeface="맑은 고딕" pitchFamily="50" charset="-127"/>
                <a:cs typeface="Arial" pitchFamily="34" charset="0"/>
              </a:rPr>
              <a:t> </a:t>
            </a:r>
          </a:p>
          <a:p>
            <a:pPr eaLnBrk="1" hangingPunct="1">
              <a:buClr>
                <a:srgbClr val="C5003D"/>
              </a:buClr>
            </a:pPr>
            <a:r>
              <a:rPr lang="en-US" altLang="ko-KR" sz="1200" b="1" dirty="0" err="1">
                <a:latin typeface="Arial" pitchFamily="34" charset="0"/>
                <a:ea typeface="맑은 고딕" pitchFamily="50" charset="-127"/>
                <a:cs typeface="Arial" pitchFamily="34" charset="0"/>
              </a:rPr>
              <a:t>là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biến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số</a:t>
            </a:r>
            <a:endParaRPr lang="ko-KR" altLang="en-US" sz="12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27</a:t>
            </a:fld>
            <a:endParaRPr lang="ko-KR" altLang="en-US" dirty="0">
              <a:latin typeface="Arial" pitchFamily="34" charset="0"/>
              <a:cs typeface="Arial" pitchFamily="34" charset="0"/>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5"/>
          <p:cNvSpPr>
            <a:spLocks noChangeArrowheads="1"/>
          </p:cNvSpPr>
          <p:nvPr/>
        </p:nvSpPr>
        <p:spPr bwMode="auto">
          <a:xfrm>
            <a:off x="416719" y="822880"/>
            <a:ext cx="9072562" cy="5694509"/>
          </a:xfrm>
          <a:prstGeom prst="rect">
            <a:avLst/>
          </a:prstGeom>
          <a:noFill/>
          <a:ln w="9525">
            <a:noFill/>
            <a:miter lim="800000"/>
            <a:headEnd/>
            <a:tailEnd/>
          </a:ln>
          <a:effectLst/>
        </p:spPr>
        <p:txBody>
          <a:bodyPr wrap="square" lIns="92075" tIns="46038" rIns="92075" bIns="46038">
            <a:spAutoFit/>
          </a:bodyPr>
          <a:lstStyle/>
          <a:p>
            <a:pPr marL="230188" indent="-230188" algn="just" defTabSz="762000" eaLnBrk="0" latinLnBrk="0" hangingPunct="0">
              <a:lnSpc>
                <a:spcPct val="130000"/>
              </a:lnSpc>
              <a:defRPr/>
            </a:pPr>
            <a:r>
              <a:rPr lang="en-US" altLang="ko-KR" sz="1400" b="1" dirty="0">
                <a:latin typeface="Arial" pitchFamily="34" charset="0"/>
                <a:ea typeface="맑은 고딕" panose="020B0503020000020004" pitchFamily="50" charset="-127"/>
                <a:cs typeface="Arial" pitchFamily="34" charset="0"/>
              </a:rPr>
              <a:t>1) </a:t>
            </a:r>
            <a:r>
              <a:rPr lang="vi-VN" altLang="ko-KR" sz="1400" b="1" dirty="0">
                <a:latin typeface="Arial" pitchFamily="34" charset="0"/>
                <a:ea typeface="맑은 고딕" panose="020B0503020000020004" pitchFamily="50" charset="-127"/>
                <a:cs typeface="Arial" pitchFamily="34" charset="0"/>
              </a:rPr>
              <a:t>Số liệu </a:t>
            </a:r>
            <a:r>
              <a:rPr lang="vi-VN" altLang="ko-KR" sz="1400" b="1" dirty="0">
                <a:solidFill>
                  <a:srgbClr val="FF0000"/>
                </a:solidFill>
                <a:latin typeface="Arial" pitchFamily="34" charset="0"/>
                <a:ea typeface="맑은 고딕" panose="020B0503020000020004" pitchFamily="50" charset="-127"/>
                <a:cs typeface="Arial" pitchFamily="34" charset="0"/>
              </a:rPr>
              <a:t>định lượng </a:t>
            </a:r>
            <a:r>
              <a:rPr lang="vi-VN" altLang="ko-KR" sz="1400" b="1" dirty="0">
                <a:latin typeface="Arial" pitchFamily="34" charset="0"/>
                <a:ea typeface="맑은 고딕" panose="020B0503020000020004" pitchFamily="50" charset="-127"/>
                <a:cs typeface="Arial" pitchFamily="34" charset="0"/>
              </a:rPr>
              <a:t>có thể được chia thành các dữ liệu có thể được đo lường (biến số liên tục) như kích thước, trọng lượng, nhiệt độ, v</a:t>
            </a:r>
            <a:r>
              <a:rPr lang="en-US" altLang="ko-KR" sz="1400" b="1" dirty="0">
                <a:latin typeface="Arial" pitchFamily="34" charset="0"/>
                <a:ea typeface="맑은 고딕" panose="020B0503020000020004" pitchFamily="50" charset="-127"/>
                <a:cs typeface="Arial" pitchFamily="34" charset="0"/>
              </a:rPr>
              <a:t>.</a:t>
            </a:r>
            <a:r>
              <a:rPr lang="vi-VN" altLang="ko-KR" sz="1400" b="1" dirty="0">
                <a:latin typeface="Arial" pitchFamily="34" charset="0"/>
                <a:ea typeface="맑은 고딕" panose="020B0503020000020004" pitchFamily="50" charset="-127"/>
                <a:cs typeface="Arial" pitchFamily="34" charset="0"/>
              </a:rPr>
              <a:t>v</a:t>
            </a:r>
            <a:r>
              <a:rPr lang="en-US" altLang="ko-KR" sz="1400" b="1" dirty="0">
                <a:latin typeface="Arial" pitchFamily="34" charset="0"/>
                <a:ea typeface="맑은 고딕" panose="020B0503020000020004" pitchFamily="50" charset="-127"/>
                <a:cs typeface="Arial" pitchFamily="34" charset="0"/>
              </a:rPr>
              <a:t>…</a:t>
            </a:r>
            <a:r>
              <a:rPr lang="vi-VN" altLang="ko-KR" sz="1400" b="1" dirty="0">
                <a:latin typeface="Arial" pitchFamily="34" charset="0"/>
                <a:ea typeface="맑은 고딕" panose="020B0503020000020004" pitchFamily="50" charset="-127"/>
                <a:cs typeface="Arial" pitchFamily="34" charset="0"/>
              </a:rPr>
              <a:t>, và dữ liệu có thể đ</a:t>
            </a:r>
            <a:r>
              <a:rPr lang="en-US" altLang="ko-KR" sz="1400" b="1" dirty="0" err="1">
                <a:latin typeface="Arial" pitchFamily="34" charset="0"/>
                <a:ea typeface="맑은 고딕" panose="020B0503020000020004" pitchFamily="50" charset="-127"/>
                <a:cs typeface="Arial" pitchFamily="34" charset="0"/>
              </a:rPr>
              <a:t>ếm</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được</a:t>
            </a:r>
            <a:r>
              <a:rPr lang="vi-VN" altLang="ko-KR" sz="1400" b="1" dirty="0">
                <a:latin typeface="Arial" pitchFamily="34" charset="0"/>
                <a:ea typeface="맑은 고딕" panose="020B0503020000020004" pitchFamily="50" charset="-127"/>
                <a:cs typeface="Arial" pitchFamily="34" charset="0"/>
              </a:rPr>
              <a:t> (biến </a:t>
            </a:r>
            <a:r>
              <a:rPr lang="en-US" altLang="ko-KR" sz="1400" b="1" dirty="0" err="1">
                <a:latin typeface="Arial" pitchFamily="34" charset="0"/>
                <a:ea typeface="맑은 고딕" panose="020B0503020000020004" pitchFamily="50" charset="-127"/>
                <a:cs typeface="Arial" pitchFamily="34" charset="0"/>
              </a:rPr>
              <a:t>số</a:t>
            </a:r>
            <a:r>
              <a:rPr lang="en-US" altLang="ko-KR" sz="1400" b="1" dirty="0">
                <a:latin typeface="Arial" pitchFamily="34" charset="0"/>
                <a:ea typeface="맑은 고딕" panose="020B0503020000020004" pitchFamily="50" charset="-127"/>
                <a:cs typeface="Arial" pitchFamily="34" charset="0"/>
              </a:rPr>
              <a:t> </a:t>
            </a:r>
            <a:r>
              <a:rPr lang="vi-VN" altLang="ko-KR" sz="1400" b="1" dirty="0">
                <a:latin typeface="Arial" pitchFamily="34" charset="0"/>
                <a:ea typeface="맑은 고딕" panose="020B0503020000020004" pitchFamily="50" charset="-127"/>
                <a:cs typeface="Arial" pitchFamily="34" charset="0"/>
              </a:rPr>
              <a:t>rời rạc) chẳng hạn như số lượng các thành phần</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linh</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kiện</a:t>
            </a:r>
            <a:r>
              <a:rPr lang="en-US" altLang="ko-KR" sz="1400" b="1" dirty="0">
                <a:latin typeface="Arial" pitchFamily="34" charset="0"/>
                <a:ea typeface="맑은 고딕" panose="020B0503020000020004" pitchFamily="50" charset="-127"/>
                <a:cs typeface="Arial" pitchFamily="34" charset="0"/>
              </a:rPr>
              <a:t>.</a:t>
            </a:r>
          </a:p>
          <a:p>
            <a:pPr marL="342900" indent="-342900" defTabSz="762000" eaLnBrk="0" latinLnBrk="0" hangingPunct="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marL="342900" indent="-342900" defTabSz="762000" eaLnBrk="0" latinLnBrk="0" hangingPunct="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defTabSz="762000">
              <a:lnSpc>
                <a:spcPct val="130000"/>
              </a:lnSpc>
              <a:defRPr/>
            </a:pPr>
            <a:endParaRPr lang="en-US" altLang="ko-KR" sz="1400" b="1" dirty="0">
              <a:latin typeface="Arial" pitchFamily="34" charset="0"/>
              <a:ea typeface="맑은 고딕" panose="020B0503020000020004" pitchFamily="50" charset="-127"/>
              <a:cs typeface="Arial" pitchFamily="34" charset="0"/>
            </a:endParaRPr>
          </a:p>
          <a:p>
            <a:pPr marL="1717675" indent="-1717675" defTabSz="762000">
              <a:lnSpc>
                <a:spcPct val="130000"/>
              </a:lnSpc>
              <a:defRPr/>
            </a:pPr>
            <a:r>
              <a:rPr lang="en-US" altLang="ko-KR" sz="1400" b="1" dirty="0">
                <a:latin typeface="Arial" pitchFamily="34" charset="0"/>
                <a:ea typeface="맑은 고딕" panose="020B0503020000020004" pitchFamily="50" charset="-127"/>
                <a:cs typeface="Arial" pitchFamily="34" charset="0"/>
              </a:rPr>
              <a:t>2) </a:t>
            </a:r>
            <a:r>
              <a:rPr lang="vi-VN" altLang="ko-KR" sz="1400" b="1" dirty="0">
                <a:latin typeface="Arial" pitchFamily="34" charset="0"/>
                <a:ea typeface="맑은 고딕" panose="020B0503020000020004" pitchFamily="50" charset="-127"/>
                <a:cs typeface="Arial" pitchFamily="34" charset="0"/>
              </a:rPr>
              <a:t>Dữ liệu </a:t>
            </a:r>
            <a:r>
              <a:rPr lang="vi-VN" altLang="ko-KR" sz="1400" b="1" dirty="0">
                <a:solidFill>
                  <a:srgbClr val="FF0000"/>
                </a:solidFill>
                <a:latin typeface="Arial" pitchFamily="34" charset="0"/>
                <a:ea typeface="맑은 고딕" panose="020B0503020000020004" pitchFamily="50" charset="-127"/>
                <a:cs typeface="Arial" pitchFamily="34" charset="0"/>
              </a:rPr>
              <a:t>định tính</a:t>
            </a:r>
            <a:r>
              <a:rPr lang="vi-VN" altLang="ko-KR" sz="1400" b="1" dirty="0">
                <a:latin typeface="Arial" pitchFamily="34" charset="0"/>
                <a:ea typeface="맑은 고딕" panose="020B0503020000020004" pitchFamily="50" charset="-127"/>
                <a:cs typeface="Arial" pitchFamily="34" charset="0"/>
              </a:rPr>
              <a:t>: Dữ liệu định tính là dữ liệu có thể được xác định duy nhất thông qua các giác quan của con người</a:t>
            </a:r>
            <a:r>
              <a:rPr lang="en-US" altLang="ko-KR" sz="1400" b="1" dirty="0">
                <a:latin typeface="Arial" pitchFamily="34" charset="0"/>
                <a:ea typeface="맑은 고딕" panose="020B0503020000020004" pitchFamily="50" charset="-127"/>
                <a:cs typeface="Arial" pitchFamily="34" charset="0"/>
              </a:rPr>
              <a:t>, </a:t>
            </a:r>
            <a:r>
              <a:rPr lang="vi-VN" altLang="ko-KR" sz="1400" b="1" dirty="0">
                <a:latin typeface="Arial" pitchFamily="34" charset="0"/>
                <a:ea typeface="맑은 고딕" panose="020B0503020000020004" pitchFamily="50" charset="-127"/>
                <a:cs typeface="Arial" pitchFamily="34" charset="0"/>
              </a:rPr>
              <a:t>ví dụ ngọt ngào, vẻ đẹp, v</a:t>
            </a:r>
            <a:r>
              <a:rPr lang="en-US" altLang="ko-KR" sz="1400" b="1" dirty="0">
                <a:latin typeface="Arial" pitchFamily="34" charset="0"/>
                <a:ea typeface="맑은 고딕" panose="020B0503020000020004" pitchFamily="50" charset="-127"/>
                <a:cs typeface="Arial" pitchFamily="34" charset="0"/>
              </a:rPr>
              <a:t>.</a:t>
            </a:r>
            <a:r>
              <a:rPr lang="vi-VN" altLang="ko-KR" sz="1400" b="1" dirty="0">
                <a:latin typeface="Arial" pitchFamily="34" charset="0"/>
                <a:ea typeface="맑은 고딕" panose="020B0503020000020004" pitchFamily="50" charset="-127"/>
                <a:cs typeface="Arial" pitchFamily="34" charset="0"/>
              </a:rPr>
              <a:t>v</a:t>
            </a:r>
            <a:r>
              <a:rPr lang="en-US" altLang="ko-KR" sz="1400" b="1" dirty="0">
                <a:latin typeface="Arial" pitchFamily="34" charset="0"/>
                <a:ea typeface="맑은 고딕" panose="020B0503020000020004" pitchFamily="50" charset="-127"/>
                <a:cs typeface="Arial" pitchFamily="34" charset="0"/>
              </a:rPr>
              <a:t>…</a:t>
            </a:r>
          </a:p>
          <a:p>
            <a:pPr marL="6972300" indent="-6972300" defTabSz="762000">
              <a:lnSpc>
                <a:spcPct val="130000"/>
              </a:lnSpc>
              <a:defRPr/>
            </a:pPr>
            <a:r>
              <a:rPr lang="en-US" altLang="ko-KR" sz="1400" b="1" dirty="0">
                <a:latin typeface="Arial" pitchFamily="34" charset="0"/>
                <a:ea typeface="맑은 고딕" panose="020B0503020000020004" pitchFamily="50" charset="-127"/>
                <a:cs typeface="Arial" pitchFamily="34" charset="0"/>
              </a:rPr>
              <a:t>- </a:t>
            </a:r>
            <a:r>
              <a:rPr lang="vi-VN" altLang="ko-KR" sz="1400" b="1" dirty="0">
                <a:latin typeface="Arial" pitchFamily="34" charset="0"/>
                <a:ea typeface="맑은 고딕" panose="020B0503020000020004" pitchFamily="50" charset="-127"/>
                <a:cs typeface="Arial" pitchFamily="34" charset="0"/>
              </a:rPr>
              <a:t>Dữ liệu được đánh giá thông qua điểm số: chấm điểm dựa trên đánh giá </a:t>
            </a:r>
            <a:r>
              <a:rPr lang="en-US" altLang="ko-KR" sz="1400" b="1" dirty="0" err="1">
                <a:latin typeface="Arial" pitchFamily="34" charset="0"/>
                <a:ea typeface="맑은 고딕" panose="020B0503020000020004" pitchFamily="50" charset="-127"/>
                <a:cs typeface="Arial" pitchFamily="34" charset="0"/>
              </a:rPr>
              <a:t>chủ</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quan</a:t>
            </a:r>
            <a:r>
              <a:rPr lang="en-US" altLang="ko-KR" sz="1400" b="1" dirty="0">
                <a:latin typeface="Arial" pitchFamily="34" charset="0"/>
                <a:ea typeface="맑은 고딕" panose="020B0503020000020004" pitchFamily="50" charset="-127"/>
                <a:cs typeface="Arial" pitchFamily="34" charset="0"/>
              </a:rPr>
              <a:t> (Absolute Evaluation – </a:t>
            </a:r>
            <a:r>
              <a:rPr lang="en-US" altLang="ko-KR" sz="1400" b="1" dirty="0" err="1">
                <a:latin typeface="Arial" pitchFamily="34" charset="0"/>
                <a:ea typeface="맑은 고딕" panose="020B0503020000020004" pitchFamily="50" charset="-127"/>
                <a:cs typeface="Arial" pitchFamily="34" charset="0"/>
              </a:rPr>
              <a:t>Đánh</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giá</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tuyệt</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đối</a:t>
            </a:r>
            <a:r>
              <a:rPr lang="en-US" altLang="ko-KR" sz="1400" b="1" dirty="0">
                <a:latin typeface="Arial" pitchFamily="34" charset="0"/>
                <a:ea typeface="맑은 고딕" panose="020B0503020000020004" pitchFamily="50" charset="-127"/>
                <a:cs typeface="Arial" pitchFamily="34" charset="0"/>
              </a:rPr>
              <a:t>)</a:t>
            </a:r>
          </a:p>
          <a:p>
            <a:pPr marL="6972300" indent="-6972300" defTabSz="762000">
              <a:lnSpc>
                <a:spcPct val="130000"/>
              </a:lnSpc>
              <a:defRPr/>
            </a:pPr>
            <a:r>
              <a:rPr lang="en-US" altLang="ko-KR" sz="1400" b="1" dirty="0">
                <a:latin typeface="Arial" pitchFamily="34" charset="0"/>
                <a:ea typeface="맑은 고딕" panose="020B0503020000020004" pitchFamily="50" charset="-127"/>
                <a:cs typeface="Arial" pitchFamily="34" charset="0"/>
              </a:rPr>
              <a:t>- </a:t>
            </a:r>
            <a:r>
              <a:rPr lang="vi-VN" altLang="ko-KR" sz="1400" b="1" dirty="0">
                <a:latin typeface="Arial" pitchFamily="34" charset="0"/>
                <a:ea typeface="맑은 고딕" panose="020B0503020000020004" pitchFamily="50" charset="-127"/>
                <a:cs typeface="Arial" pitchFamily="34" charset="0"/>
              </a:rPr>
              <a:t>Dữ liệu được đánh giá thông qua xếp hạng: xếp hạng dựa trên đánh giá </a:t>
            </a:r>
            <a:r>
              <a:rPr lang="en-US" altLang="ko-KR" sz="1400" b="1" dirty="0" err="1">
                <a:latin typeface="Arial" pitchFamily="34" charset="0"/>
                <a:ea typeface="맑은 고딕" panose="020B0503020000020004" pitchFamily="50" charset="-127"/>
                <a:cs typeface="Arial" pitchFamily="34" charset="0"/>
              </a:rPr>
              <a:t>chủ</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quan</a:t>
            </a:r>
            <a:r>
              <a:rPr lang="vi-VN" altLang="ko-KR" sz="1400" b="1" dirty="0">
                <a:latin typeface="Arial" pitchFamily="34" charset="0"/>
                <a:ea typeface="맑은 고딕" panose="020B0503020000020004" pitchFamily="50" charset="-127"/>
                <a:cs typeface="Arial" pitchFamily="34" charset="0"/>
              </a:rPr>
              <a:t> </a:t>
            </a:r>
            <a:r>
              <a:rPr lang="en-US" altLang="ko-KR" sz="1400" b="1" dirty="0">
                <a:latin typeface="Arial" pitchFamily="34" charset="0"/>
                <a:ea typeface="맑은 고딕" panose="020B0503020000020004" pitchFamily="50" charset="-127"/>
                <a:cs typeface="Arial" pitchFamily="34" charset="0"/>
              </a:rPr>
              <a:t>(Relative Evaluation</a:t>
            </a:r>
            <a:br>
              <a:rPr lang="en-US" altLang="ko-KR" sz="1400" b="1" dirty="0">
                <a:latin typeface="Arial" pitchFamily="34" charset="0"/>
                <a:ea typeface="맑은 고딕" panose="020B0503020000020004" pitchFamily="50" charset="-127"/>
                <a:cs typeface="Arial" pitchFamily="34" charset="0"/>
              </a:rPr>
            </a:b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Đánh</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giá</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tương</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đối</a:t>
            </a:r>
            <a:r>
              <a:rPr lang="en-US" altLang="ko-KR" sz="1400" b="1" dirty="0">
                <a:latin typeface="Arial" pitchFamily="34" charset="0"/>
                <a:ea typeface="맑은 고딕" panose="020B0503020000020004" pitchFamily="50" charset="-127"/>
                <a:cs typeface="Arial" pitchFamily="34" charset="0"/>
              </a:rPr>
              <a:t>)  </a:t>
            </a:r>
          </a:p>
        </p:txBody>
      </p:sp>
      <p:graphicFrame>
        <p:nvGraphicFramePr>
          <p:cNvPr id="4" name="Group 92"/>
          <p:cNvGraphicFramePr>
            <a:graphicFrameLocks noGrp="1"/>
          </p:cNvGraphicFramePr>
          <p:nvPr>
            <p:extLst>
              <p:ext uri="{D42A27DB-BD31-4B8C-83A1-F6EECF244321}">
                <p14:modId xmlns:p14="http://schemas.microsoft.com/office/powerpoint/2010/main" val="2136272787"/>
              </p:ext>
            </p:extLst>
          </p:nvPr>
        </p:nvGraphicFramePr>
        <p:xfrm>
          <a:off x="992560" y="2028825"/>
          <a:ext cx="7992887" cy="2469085"/>
        </p:xfrm>
        <a:graphic>
          <a:graphicData uri="http://schemas.openxmlformats.org/drawingml/2006/table">
            <a:tbl>
              <a:tblPr/>
              <a:tblGrid>
                <a:gridCol w="1696654">
                  <a:extLst>
                    <a:ext uri="{9D8B030D-6E8A-4147-A177-3AD203B41FA5}">
                      <a16:colId xmlns:a16="http://schemas.microsoft.com/office/drawing/2014/main" val="20000"/>
                    </a:ext>
                  </a:extLst>
                </a:gridCol>
                <a:gridCol w="1980849">
                  <a:extLst>
                    <a:ext uri="{9D8B030D-6E8A-4147-A177-3AD203B41FA5}">
                      <a16:colId xmlns:a16="http://schemas.microsoft.com/office/drawing/2014/main" val="20001"/>
                    </a:ext>
                  </a:extLst>
                </a:gridCol>
                <a:gridCol w="2317162">
                  <a:extLst>
                    <a:ext uri="{9D8B030D-6E8A-4147-A177-3AD203B41FA5}">
                      <a16:colId xmlns:a16="http://schemas.microsoft.com/office/drawing/2014/main" val="20002"/>
                    </a:ext>
                  </a:extLst>
                </a:gridCol>
                <a:gridCol w="1998222">
                  <a:extLst>
                    <a:ext uri="{9D8B030D-6E8A-4147-A177-3AD203B41FA5}">
                      <a16:colId xmlns:a16="http://schemas.microsoft.com/office/drawing/2014/main" val="20003"/>
                    </a:ext>
                  </a:extLst>
                </a:gridCol>
              </a:tblGrid>
              <a:tr h="30484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Phân</a:t>
                      </a:r>
                      <a:r>
                        <a:rPr kumimoji="1" lang="en-US" altLang="ko-KR"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loại</a:t>
                      </a:r>
                      <a:endParaRPr kumimoji="1" lang="ko-KR" altLang="en-US"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txBody>
                  <a:tcPr marT="45726" marB="45726" horzOverflow="overflow">
                    <a:lnL w="28575"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Định</a:t>
                      </a:r>
                      <a:r>
                        <a:rPr kumimoji="1" lang="en-US" altLang="ko-KR"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nghĩa</a:t>
                      </a:r>
                      <a:endParaRPr kumimoji="1" lang="ko-KR" altLang="en-US"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Form</a:t>
                      </a:r>
                      <a:endParaRPr kumimoji="1" lang="ko-KR" altLang="en-US"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Ví</a:t>
                      </a:r>
                      <a:r>
                        <a:rPr kumimoji="1" lang="en-US" altLang="ko-KR"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dụ</a:t>
                      </a:r>
                      <a:endParaRPr kumimoji="1" lang="ko-KR" altLang="en-US"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28575"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15839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Biến</a:t>
                      </a:r>
                      <a:r>
                        <a:rPr kumimoji="1" lang="en-US" altLang="ko-KR" sz="14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số</a:t>
                      </a:r>
                      <a:r>
                        <a:rPr kumimoji="1" lang="en-US" altLang="ko-KR" sz="14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liên</a:t>
                      </a:r>
                      <a:r>
                        <a:rPr kumimoji="1" lang="en-US" altLang="ko-KR" sz="14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tục</a:t>
                      </a:r>
                      <a:endParaRPr kumimoji="1" lang="en-US" altLang="ko-KR" sz="14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(Continuous</a:t>
                      </a:r>
                    </a:p>
                    <a:p>
                      <a:pPr marL="0" marR="0" lvl="0" indent="0" algn="ctr" defTabSz="914400" rtl="0" eaLnBrk="0" fontAlgn="base" latinLnBrk="0" hangingPunct="0">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variable</a:t>
                      </a:r>
                      <a:r>
                        <a:rPr kumimoji="1" lang="en-US" altLang="ko-KR" sz="14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a:t>
                      </a:r>
                      <a:endParaRPr kumimoji="1" lang="en-US" altLang="ko-KR" sz="14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endParaRPr>
                    </a:p>
                  </a:txBody>
                  <a:tcPr marT="45726" marB="45726" horzOverflow="overflow">
                    <a:lnL w="28575"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Dữ</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liệu</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thay</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đổi</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liên</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tục</a:t>
                      </a:r>
                      <a:endParaRPr kumimoji="1" lang="ko-KR" altLang="en-US"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11125" marR="0" lvl="0" indent="-111125" algn="l" defTabSz="914400" rtl="0" eaLnBrk="1" fontAlgn="base" latinLnBrk="1" hangingPunct="1">
                        <a:lnSpc>
                          <a:spcPct val="100000"/>
                        </a:lnSpc>
                        <a:spcBef>
                          <a:spcPct val="0"/>
                        </a:spcBef>
                        <a:spcAft>
                          <a:spcPct val="0"/>
                        </a:spcAft>
                        <a:buClrTx/>
                        <a:buSzTx/>
                        <a:buFontTx/>
                        <a:buChar char="-"/>
                        <a:tabLst/>
                      </a:pP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Độ</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dài</a:t>
                      </a:r>
                      <a:endParaRPr kumimoji="1" lang="ko-KR" altLang="en-US"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111125" marR="0" lvl="0" indent="-111125" algn="l" defTabSz="914400" rtl="0" eaLnBrk="1" fontAlgn="base" latinLnBrk="1" hangingPunct="1">
                        <a:lnSpc>
                          <a:spcPct val="100000"/>
                        </a:lnSpc>
                        <a:spcBef>
                          <a:spcPct val="0"/>
                        </a:spcBef>
                        <a:spcAft>
                          <a:spcPct val="0"/>
                        </a:spcAft>
                        <a:buClrTx/>
                        <a:buSzTx/>
                        <a:buFontTx/>
                        <a:buChar char="-"/>
                        <a:tabLst/>
                      </a:pP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Nhiệt</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độ</a:t>
                      </a:r>
                      <a:endParaRPr kumimoji="1" lang="ko-KR" altLang="en-US"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111125" marR="0" lvl="0" indent="-111125" algn="l" defTabSz="914400" rtl="0" eaLnBrk="1" fontAlgn="base" latinLnBrk="1" hangingPunct="1">
                        <a:lnSpc>
                          <a:spcPct val="100000"/>
                        </a:lnSpc>
                        <a:spcBef>
                          <a:spcPct val="0"/>
                        </a:spcBef>
                        <a:spcAft>
                          <a:spcPct val="0"/>
                        </a:spcAft>
                        <a:buClrTx/>
                        <a:buSzTx/>
                        <a:buFontTx/>
                        <a:buChar char="-"/>
                        <a:tabLst/>
                      </a:pP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Cân</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nặng</a:t>
                      </a:r>
                      <a:endParaRPr kumimoji="1" lang="ko-KR" altLang="en-US"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111125" marR="0" lvl="0" indent="-111125" algn="l" defTabSz="914400" rtl="0" eaLnBrk="1" fontAlgn="base" latinLnBrk="1" hangingPunct="1">
                        <a:lnSpc>
                          <a:spcPct val="100000"/>
                        </a:lnSpc>
                        <a:spcBef>
                          <a:spcPct val="0"/>
                        </a:spcBef>
                        <a:spcAft>
                          <a:spcPct val="0"/>
                        </a:spcAft>
                        <a:buClrTx/>
                        <a:buSzTx/>
                        <a:buFontTx/>
                        <a:buChar char="-"/>
                        <a:tabLst/>
                      </a:pP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Thời</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gian</a:t>
                      </a:r>
                      <a:endParaRPr kumimoji="1" lang="ko-KR" altLang="en-US"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111125" marR="0" lvl="0" indent="-111125"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Độ</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dày</a:t>
                      </a:r>
                      <a:endParaRPr kumimoji="1" lang="ko-KR" altLang="en-US"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- 165 Cm</a:t>
                      </a:r>
                    </a:p>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- 32℃ , 49°F</a:t>
                      </a:r>
                    </a:p>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- 70.7 Kg</a:t>
                      </a:r>
                    </a:p>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- 12:23:11</a:t>
                      </a:r>
                    </a:p>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- 10.5 Cm</a:t>
                      </a: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4500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Biến</a:t>
                      </a:r>
                      <a:r>
                        <a:rPr kumimoji="1" lang="en-US" altLang="ko-KR" sz="14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số</a:t>
                      </a:r>
                      <a:r>
                        <a:rPr kumimoji="1" lang="en-US" altLang="ko-KR" sz="14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rời</a:t>
                      </a:r>
                      <a:r>
                        <a:rPr kumimoji="1" lang="en-US" altLang="ko-KR" sz="14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rạc</a:t>
                      </a:r>
                      <a:endParaRPr kumimoji="1" lang="en-US" altLang="ko-KR" sz="14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(Discrete</a:t>
                      </a: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variable)</a:t>
                      </a:r>
                    </a:p>
                  </a:txBody>
                  <a:tcPr marT="45726" marB="45726" horzOverflow="overflow">
                    <a:lnL w="28575"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accent2"/>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Dữ</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liệu</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có</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tính</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rời</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rạc</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và</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có</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thể</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đếm</a:t>
                      </a:r>
                      <a:r>
                        <a:rPr kumimoji="1" lang="en-US" altLang="ko-KR"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được</a:t>
                      </a:r>
                      <a:endParaRPr kumimoji="1" lang="ko-KR" altLang="en-US" sz="1200" b="1"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accent2"/>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Số</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lượng</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lỗi</a:t>
                      </a:r>
                      <a:endParaRPr kumimoji="1" lang="ko-KR" altLang="en-US"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171450" marR="0" lvl="0" indent="-171450" algn="l" defTabSz="914400" rtl="0" eaLnBrk="1" fontAlgn="base" latinLnBrk="1" hangingPunct="1">
                        <a:lnSpc>
                          <a:spcPct val="100000"/>
                        </a:lnSpc>
                        <a:spcBef>
                          <a:spcPct val="0"/>
                        </a:spcBef>
                        <a:spcAft>
                          <a:spcPct val="0"/>
                        </a:spcAft>
                        <a:buClrTx/>
                        <a:buSzTx/>
                        <a:buFontTx/>
                        <a:buChar char="-"/>
                        <a:tabLst/>
                      </a:pP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Tỉ</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lệ</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lỗi</a:t>
                      </a:r>
                      <a:endPar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171450" marR="0" lvl="0" indent="-171450" algn="l" defTabSz="914400" rtl="0" eaLnBrk="1" fontAlgn="base" latinLnBrk="1" hangingPunct="1">
                        <a:lnSpc>
                          <a:spcPct val="100000"/>
                        </a:lnSpc>
                        <a:spcBef>
                          <a:spcPct val="0"/>
                        </a:spcBef>
                        <a:spcAft>
                          <a:spcPct val="0"/>
                        </a:spcAft>
                        <a:buClrTx/>
                        <a:buSzTx/>
                        <a:buFontTx/>
                        <a:buChar char="-"/>
                        <a:tabLst/>
                      </a:pP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Số</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lượng</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thảm</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họa</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xảy</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ra</a:t>
                      </a:r>
                      <a:endParaRPr kumimoji="1" lang="ko-KR" altLang="en-US"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Số</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lượng</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sản</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phẩm</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xước</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trên</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bề</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mặt</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sản</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phẩm</a:t>
                      </a:r>
                      <a:endParaRPr kumimoji="1" lang="ko-KR" altLang="en-US"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accent2"/>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- 1%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hoặc</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10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lỗi</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trong</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anose="020B0503020000020004" pitchFamily="50" charset="-127"/>
                          <a:cs typeface="Arial" pitchFamily="34" charset="0"/>
                        </a:rPr>
                        <a:t>số</a:t>
                      </a:r>
                      <a:r>
                        <a:rPr kumimoji="1" lang="en-US" altLang="ko-KR" sz="1200" b="0" i="0" u="none" strike="noStrike" cap="none" normalizeH="0" baseline="0" dirty="0">
                          <a:ln>
                            <a:noFill/>
                          </a:ln>
                          <a:solidFill>
                            <a:schemeClr val="tx1"/>
                          </a:solidFill>
                          <a:effectLst/>
                          <a:latin typeface="Arial" pitchFamily="34" charset="0"/>
                          <a:ea typeface="맑은 고딕" panose="020B0503020000020004" pitchFamily="50" charset="-127"/>
                          <a:cs typeface="Arial" pitchFamily="34" charset="0"/>
                        </a:rPr>
                        <a:t> 1000</a:t>
                      </a: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accent2"/>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accent2"/>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6649"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3. </a:t>
            </a: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loại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28</a:t>
            </a:fld>
            <a:endParaRPr lang="ko-KR" altLang="en-US" dirty="0">
              <a:latin typeface="Arial" pitchFamily="34" charset="0"/>
              <a:cs typeface="Arial" pitchFamily="34" charset="0"/>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29</a:t>
            </a:fld>
            <a:endParaRPr lang="ko-KR" altLang="en-US" dirty="0"/>
          </a:p>
        </p:txBody>
      </p:sp>
      <p:pic>
        <p:nvPicPr>
          <p:cNvPr id="3" name="Picture 2"/>
          <p:cNvPicPr>
            <a:picLocks noChangeAspect="1"/>
          </p:cNvPicPr>
          <p:nvPr/>
        </p:nvPicPr>
        <p:blipFill>
          <a:blip r:embed="rId3"/>
          <a:stretch>
            <a:fillRect/>
          </a:stretch>
        </p:blipFill>
        <p:spPr>
          <a:xfrm>
            <a:off x="0" y="692696"/>
            <a:ext cx="9957303" cy="5148507"/>
          </a:xfrm>
          <a:prstGeom prst="rect">
            <a:avLst/>
          </a:prstGeom>
        </p:spPr>
      </p:pic>
    </p:spTree>
    <p:extLst>
      <p:ext uri="{BB962C8B-B14F-4D97-AF65-F5344CB8AC3E}">
        <p14:creationId xmlns:p14="http://schemas.microsoft.com/office/powerpoint/2010/main" val="393606059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ChangeArrowheads="1"/>
          </p:cNvSpPr>
          <p:nvPr/>
        </p:nvSpPr>
        <p:spPr bwMode="auto">
          <a:xfrm>
            <a:off x="1279525" y="2925763"/>
            <a:ext cx="4724400" cy="457200"/>
          </a:xfrm>
          <a:prstGeom prst="rect">
            <a:avLst/>
          </a:prstGeom>
          <a:solidFill>
            <a:schemeClr val="bg1"/>
          </a:solidFill>
          <a:ln w="9525">
            <a:solidFill>
              <a:schemeClr val="tx1"/>
            </a:solidFill>
            <a:prstDash val="sysDot"/>
            <a:miter lim="800000"/>
            <a:headEnd/>
            <a:tailEnd/>
          </a:ln>
          <a:effectLst>
            <a:outerShdw dist="107763" dir="2700000" algn="ctr" rotWithShape="0">
              <a:schemeClr val="bg2"/>
            </a:outerShdw>
          </a:effectLst>
        </p:spPr>
        <p:txBody>
          <a:bodyPr wrap="none" lIns="81272" tIns="40636" rIns="81272" bIns="40636" anchor="ct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latin typeface="Arial" pitchFamily="34" charset="0"/>
                <a:ea typeface="맑은 고딕" pitchFamily="50" charset="-127"/>
                <a:cs typeface="Arial" pitchFamily="34" charset="0"/>
              </a:rPr>
              <a:t>Được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phát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hiện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thông</a:t>
            </a:r>
            <a:r>
              <a:rPr lang="en-US" altLang="ko-KR" sz="1200" b="1" dirty="0">
                <a:latin typeface="Arial" pitchFamily="34" charset="0"/>
                <a:ea typeface="맑은 고딕" pitchFamily="50" charset="-127"/>
                <a:cs typeface="Arial" pitchFamily="34" charset="0"/>
              </a:rPr>
              <a:t> qua </a:t>
            </a:r>
            <a:r>
              <a:rPr lang="en-US" altLang="ko-KR" sz="1200" b="1" dirty="0" err="1">
                <a:latin typeface="Arial" pitchFamily="34" charset="0"/>
                <a:ea typeface="맑은 고딕" pitchFamily="50" charset="-127"/>
                <a:cs typeface="Arial" pitchFamily="34" charset="0"/>
              </a:rPr>
              <a:t>đo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lường</a:t>
            </a:r>
            <a:r>
              <a:rPr lang="en-US" altLang="ko-KR" sz="1200" b="1" dirty="0">
                <a:latin typeface="Arial" pitchFamily="34" charset="0"/>
                <a:ea typeface="맑은 고딕" pitchFamily="50" charset="-127"/>
                <a:cs typeface="Arial" pitchFamily="34" charset="0"/>
              </a:rPr>
              <a:t>.</a:t>
            </a:r>
            <a:br>
              <a:rPr lang="en-US" altLang="ko-KR" sz="1200" b="1" dirty="0">
                <a:latin typeface="Arial" pitchFamily="34" charset="0"/>
                <a:ea typeface="맑은 고딕" pitchFamily="50" charset="-127"/>
                <a:cs typeface="Arial" pitchFamily="34" charset="0"/>
              </a:rPr>
            </a:br>
            <a:r>
              <a:rPr lang="en-US" altLang="ko-KR" sz="1200" b="1" dirty="0">
                <a:latin typeface="Arial" pitchFamily="34" charset="0"/>
                <a:ea typeface="맑은 고딕" pitchFamily="50" charset="-127"/>
                <a:cs typeface="Arial" pitchFamily="34" charset="0"/>
              </a:rPr>
              <a:t>Do </a:t>
            </a:r>
            <a:r>
              <a:rPr lang="en-US" altLang="ko-KR" sz="1200" b="1" dirty="0" err="1">
                <a:latin typeface="Arial" pitchFamily="34" charset="0"/>
                <a:ea typeface="맑은 고딕" pitchFamily="50" charset="-127"/>
                <a:cs typeface="Arial" pitchFamily="34" charset="0"/>
              </a:rPr>
              <a:t>đó</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được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gọi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Dữ</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liệu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lường</a:t>
            </a:r>
            <a:endParaRPr lang="ko-KR" altLang="en-US" sz="1200" b="1" dirty="0">
              <a:latin typeface="Arial" pitchFamily="34" charset="0"/>
              <a:ea typeface="맑은 고딕" pitchFamily="50" charset="-127"/>
              <a:cs typeface="Arial" pitchFamily="34" charset="0"/>
            </a:endParaRPr>
          </a:p>
        </p:txBody>
      </p:sp>
      <p:graphicFrame>
        <p:nvGraphicFramePr>
          <p:cNvPr id="27651" name="Object 8"/>
          <p:cNvGraphicFramePr>
            <a:graphicFrameLocks noChangeAspect="1"/>
          </p:cNvGraphicFramePr>
          <p:nvPr/>
        </p:nvGraphicFramePr>
        <p:xfrm>
          <a:off x="4489450" y="1673225"/>
          <a:ext cx="1371600" cy="1009650"/>
        </p:xfrm>
        <a:graphic>
          <a:graphicData uri="http://schemas.openxmlformats.org/presentationml/2006/ole">
            <mc:AlternateContent xmlns:mc="http://schemas.openxmlformats.org/markup-compatibility/2006">
              <mc:Choice xmlns:v="urn:schemas-microsoft-com:vml" Requires="v">
                <p:oleObj name="클립" r:id="rId3" imgW="4762500" imgH="3505200" progId="">
                  <p:embed/>
                </p:oleObj>
              </mc:Choice>
              <mc:Fallback>
                <p:oleObj name="클립" r:id="rId3" imgW="4762500" imgH="3505200" progId="">
                  <p:embed/>
                  <p:pic>
                    <p:nvPicPr>
                      <p:cNvPr id="27651"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89450" y="1673225"/>
                        <a:ext cx="1371600" cy="1009650"/>
                      </a:xfrm>
                      <a:prstGeom prst="rect">
                        <a:avLst/>
                      </a:prstGeom>
                      <a:solidFill>
                        <a:srgbClr val="66FF33"/>
                      </a:solidFill>
                    </p:spPr>
                  </p:pic>
                </p:oleObj>
              </mc:Fallback>
            </mc:AlternateContent>
          </a:graphicData>
        </a:graphic>
      </p:graphicFrame>
      <p:sp>
        <p:nvSpPr>
          <p:cNvPr id="27652" name="Rectangle 9"/>
          <p:cNvSpPr>
            <a:spLocks noChangeArrowheads="1"/>
          </p:cNvSpPr>
          <p:nvPr/>
        </p:nvSpPr>
        <p:spPr bwMode="auto">
          <a:xfrm>
            <a:off x="715963" y="1557338"/>
            <a:ext cx="3078162" cy="444500"/>
          </a:xfrm>
          <a:prstGeom prst="rect">
            <a:avLst/>
          </a:prstGeom>
          <a:gradFill rotWithShape="0">
            <a:gsLst>
              <a:gs pos="0">
                <a:srgbClr val="E1F4FF"/>
              </a:gs>
              <a:gs pos="50000">
                <a:srgbClr val="FFFFFF"/>
              </a:gs>
              <a:gs pos="100000">
                <a:srgbClr val="E1F4FF"/>
              </a:gs>
            </a:gsLst>
            <a:lin ang="2700000" scaled="1"/>
          </a:gradFill>
          <a:ln w="12700">
            <a:solidFill>
              <a:schemeClr val="tx1"/>
            </a:solidFill>
            <a:miter lim="800000"/>
            <a:headEnd type="none" w="sm" len="sm"/>
            <a:tailEnd type="none" w="sm" len="sm"/>
          </a:ln>
        </p:spPr>
        <p:txBody>
          <a:bodyPr wrap="none" lIns="91431" tIns="45715" rIns="91431" bIns="45715" anchor="ct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dirty="0" err="1">
                <a:latin typeface="Arial" pitchFamily="34" charset="0"/>
                <a:ea typeface="맑은 고딕" pitchFamily="50" charset="-127"/>
                <a:cs typeface="Arial" pitchFamily="34" charset="0"/>
              </a:rPr>
              <a:t>Độ</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dài</a:t>
            </a:r>
            <a:r>
              <a:rPr lang="ko-KR" altLang="en-US" sz="1400" dirty="0">
                <a:latin typeface="Arial" pitchFamily="34" charset="0"/>
                <a:ea typeface="맑은 고딕" pitchFamily="50" charset="-127"/>
                <a:cs typeface="Arial" pitchFamily="34" charset="0"/>
              </a:rPr>
              <a:t> </a:t>
            </a:r>
            <a:r>
              <a:rPr lang="en-US" altLang="ko-KR" sz="1400" dirty="0">
                <a:latin typeface="Arial" pitchFamily="34" charset="0"/>
                <a:ea typeface="맑은 고딕" pitchFamily="50" charset="-127"/>
                <a:cs typeface="Arial" pitchFamily="34" charset="0"/>
              </a:rPr>
              <a:t>(m, cm), </a:t>
            </a:r>
            <a:r>
              <a:rPr lang="en-US" altLang="ko-KR" sz="1400" dirty="0" err="1">
                <a:latin typeface="Arial" pitchFamily="34" charset="0"/>
                <a:ea typeface="맑은 고딕" pitchFamily="50" charset="-127"/>
                <a:cs typeface="Arial" pitchFamily="34" charset="0"/>
              </a:rPr>
              <a:t>Cân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nặng</a:t>
            </a:r>
            <a:r>
              <a:rPr lang="ko-KR" altLang="en-US" sz="1400" dirty="0">
                <a:latin typeface="Arial" pitchFamily="34" charset="0"/>
                <a:ea typeface="맑은 고딕" pitchFamily="50" charset="-127"/>
                <a:cs typeface="Arial" pitchFamily="34" charset="0"/>
              </a:rPr>
              <a:t> </a:t>
            </a:r>
            <a:r>
              <a:rPr lang="en-US" altLang="ko-KR" sz="1400" dirty="0">
                <a:latin typeface="Arial" pitchFamily="34" charset="0"/>
                <a:ea typeface="맑은 고딕" pitchFamily="50" charset="-127"/>
                <a:cs typeface="Arial" pitchFamily="34" charset="0"/>
              </a:rPr>
              <a:t>(kg, g)</a:t>
            </a:r>
          </a:p>
        </p:txBody>
      </p:sp>
      <p:sp>
        <p:nvSpPr>
          <p:cNvPr id="27653" name="Text Box 10"/>
          <p:cNvSpPr txBox="1">
            <a:spLocks noChangeArrowheads="1"/>
          </p:cNvSpPr>
          <p:nvPr/>
        </p:nvSpPr>
        <p:spPr bwMode="auto">
          <a:xfrm>
            <a:off x="128588" y="1052513"/>
            <a:ext cx="1943142" cy="307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1" tIns="45715" rIns="91431" bIns="45715">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b="1" dirty="0" err="1">
                <a:latin typeface="Arial" pitchFamily="34" charset="0"/>
                <a:ea typeface="맑은 고딕" pitchFamily="50" charset="-127"/>
                <a:cs typeface="Arial" pitchFamily="34" charset="0"/>
              </a:rPr>
              <a:t>Ví</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dụ</a:t>
            </a:r>
            <a:r>
              <a:rPr kumimoji="0" lang="en-US" altLang="ko-KR" sz="1400" b="1" dirty="0">
                <a:latin typeface="Arial" pitchFamily="34" charset="0"/>
                <a:ea typeface="맑은 고딕" pitchFamily="50" charset="-127"/>
                <a:cs typeface="Arial" pitchFamily="34" charset="0"/>
              </a:rPr>
              <a:t>: – </a:t>
            </a:r>
            <a:r>
              <a:rPr kumimoji="0" lang="en-US" altLang="ko-KR" sz="1400" b="1" dirty="0" err="1">
                <a:latin typeface="Arial" pitchFamily="34" charset="0"/>
                <a:ea typeface="맑은 고딕" pitchFamily="50" charset="-127"/>
                <a:cs typeface="Arial" pitchFamily="34" charset="0"/>
              </a:rPr>
              <a:t>Biến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liên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tục</a:t>
            </a:r>
            <a:endParaRPr kumimoji="0" lang="ko-KR" altLang="en-US" sz="1400" b="1" dirty="0">
              <a:latin typeface="Arial" pitchFamily="34" charset="0"/>
              <a:ea typeface="맑은 고딕" pitchFamily="50" charset="-127"/>
              <a:cs typeface="Arial" pitchFamily="34" charset="0"/>
            </a:endParaRPr>
          </a:p>
        </p:txBody>
      </p:sp>
      <p:sp>
        <p:nvSpPr>
          <p:cNvPr id="27654" name="AutoShape 11"/>
          <p:cNvSpPr>
            <a:spLocks noChangeArrowheads="1"/>
          </p:cNvSpPr>
          <p:nvPr/>
        </p:nvSpPr>
        <p:spPr bwMode="auto">
          <a:xfrm>
            <a:off x="488950" y="2155825"/>
            <a:ext cx="3238500" cy="660400"/>
          </a:xfrm>
          <a:prstGeom prst="star24">
            <a:avLst>
              <a:gd name="adj" fmla="val 37500"/>
            </a:avLst>
          </a:prstGeom>
          <a:gradFill rotWithShape="0">
            <a:gsLst>
              <a:gs pos="0">
                <a:srgbClr val="FFFFFF"/>
              </a:gs>
              <a:gs pos="100000">
                <a:srgbClr val="D0E7EC"/>
              </a:gs>
            </a:gsLst>
            <a:path path="shape">
              <a:fillToRect l="50000" t="50000" r="50000" b="50000"/>
            </a:path>
          </a:gra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27655" name="Rectangle 12"/>
          <p:cNvSpPr>
            <a:spLocks noChangeArrowheads="1"/>
          </p:cNvSpPr>
          <p:nvPr/>
        </p:nvSpPr>
        <p:spPr bwMode="auto">
          <a:xfrm>
            <a:off x="1381100" y="2332038"/>
            <a:ext cx="1285911" cy="307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1" tIns="45715" rIns="91431" bIns="45715">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latin typeface="Arial" pitchFamily="34" charset="0"/>
                <a:ea typeface="맑은 고딕" pitchFamily="50" charset="-127"/>
                <a:cs typeface="Arial" pitchFamily="34" charset="0"/>
              </a:rPr>
              <a:t>Có</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đơn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vị</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đo</a:t>
            </a:r>
            <a:endParaRPr lang="ko-KR" altLang="en-US" sz="1400" b="1" dirty="0">
              <a:latin typeface="Arial" pitchFamily="34" charset="0"/>
              <a:ea typeface="맑은 고딕" pitchFamily="50" charset="-127"/>
              <a:cs typeface="Arial" pitchFamily="34" charset="0"/>
            </a:endParaRPr>
          </a:p>
        </p:txBody>
      </p:sp>
      <p:sp>
        <p:nvSpPr>
          <p:cNvPr id="27656" name="Line 13"/>
          <p:cNvSpPr>
            <a:spLocks noChangeShapeType="1"/>
          </p:cNvSpPr>
          <p:nvPr/>
        </p:nvSpPr>
        <p:spPr bwMode="auto">
          <a:xfrm flipH="1" flipV="1">
            <a:off x="1454150" y="1879600"/>
            <a:ext cx="76200" cy="376238"/>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27657" name="Line 14"/>
          <p:cNvSpPr>
            <a:spLocks noChangeShapeType="1"/>
          </p:cNvSpPr>
          <p:nvPr/>
        </p:nvSpPr>
        <p:spPr bwMode="auto">
          <a:xfrm flipV="1">
            <a:off x="2825750" y="1889125"/>
            <a:ext cx="76200" cy="376238"/>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27658" name="Rectangle 19"/>
          <p:cNvSpPr>
            <a:spLocks noChangeArrowheads="1"/>
          </p:cNvSpPr>
          <p:nvPr/>
        </p:nvSpPr>
        <p:spPr bwMode="auto">
          <a:xfrm>
            <a:off x="1381100" y="5634038"/>
            <a:ext cx="4786346" cy="458787"/>
          </a:xfrm>
          <a:prstGeom prst="rect">
            <a:avLst/>
          </a:prstGeom>
          <a:solidFill>
            <a:schemeClr val="bg1"/>
          </a:solidFill>
          <a:ln w="9525">
            <a:solidFill>
              <a:schemeClr val="tx1"/>
            </a:solidFill>
            <a:prstDash val="sysDot"/>
            <a:miter lim="800000"/>
            <a:headEnd/>
            <a:tailEnd/>
          </a:ln>
          <a:effectLst>
            <a:outerShdw dist="35921" dir="2700000" algn="ctr" rotWithShape="0">
              <a:schemeClr val="bg2"/>
            </a:outerShdw>
          </a:effectLst>
        </p:spPr>
        <p:txBody>
          <a:bodyPr wrap="none" lIns="81272" tIns="40636" rIns="81272" bIns="40636" anchor="ct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30000"/>
              </a:lnSpc>
            </a:pPr>
            <a:r>
              <a:rPr lang="vi-VN" altLang="ko-KR" sz="1200" b="1" dirty="0">
                <a:latin typeface="Arial" pitchFamily="34" charset="0"/>
                <a:ea typeface="맑은 고딕" pitchFamily="50" charset="-127"/>
                <a:cs typeface="Arial" pitchFamily="34" charset="0"/>
              </a:rPr>
              <a:t>Thông</a:t>
            </a:r>
            <a:r>
              <a:rPr lang="vi-VN" sz="1200" dirty="0">
                <a:latin typeface="Arial" pitchFamily="34" charset="0"/>
                <a:cs typeface="Arial" pitchFamily="34" charset="0"/>
              </a:rPr>
              <a:t> </a:t>
            </a:r>
            <a:r>
              <a:rPr lang="vi-VN" altLang="ko-KR" sz="1200" b="1" dirty="0">
                <a:latin typeface="Arial" pitchFamily="34" charset="0"/>
                <a:ea typeface="맑은 고딕" pitchFamily="50" charset="-127"/>
                <a:cs typeface="Arial" pitchFamily="34" charset="0"/>
              </a:rPr>
              <a:t>thường có thể được thể hiện bằng các số nguyên dương</a:t>
            </a:r>
            <a:endParaRPr lang="en-US" altLang="ko-KR" sz="1200" b="1" dirty="0">
              <a:latin typeface="Arial" pitchFamily="34" charset="0"/>
              <a:ea typeface="맑은 고딕" pitchFamily="50" charset="-127"/>
              <a:cs typeface="Arial" pitchFamily="34" charset="0"/>
            </a:endParaRPr>
          </a:p>
        </p:txBody>
      </p:sp>
      <p:sp>
        <p:nvSpPr>
          <p:cNvPr id="27659" name="Rectangle 20"/>
          <p:cNvSpPr>
            <a:spLocks noChangeArrowheads="1"/>
          </p:cNvSpPr>
          <p:nvPr/>
        </p:nvSpPr>
        <p:spPr bwMode="auto">
          <a:xfrm>
            <a:off x="762000" y="4135438"/>
            <a:ext cx="2454275" cy="444500"/>
          </a:xfrm>
          <a:prstGeom prst="rect">
            <a:avLst/>
          </a:prstGeom>
          <a:gradFill rotWithShape="0">
            <a:gsLst>
              <a:gs pos="0">
                <a:srgbClr val="E1F4FF"/>
              </a:gs>
              <a:gs pos="50000">
                <a:srgbClr val="FFFFFF"/>
              </a:gs>
              <a:gs pos="100000">
                <a:srgbClr val="E1F4FF"/>
              </a:gs>
            </a:gsLst>
            <a:lin ang="2700000" scaled="1"/>
          </a:gradFill>
          <a:ln w="12700">
            <a:solidFill>
              <a:schemeClr val="tx1"/>
            </a:solidFill>
            <a:miter lim="800000"/>
            <a:headEnd type="none" w="sm" len="sm"/>
            <a:tailEnd type="none" w="sm" len="sm"/>
          </a:ln>
        </p:spPr>
        <p:txBody>
          <a:bodyPr wrap="none" lIns="91431" tIns="45715" rIns="91431" bIns="45715" anchor="ct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r>
              <a:rPr lang="en-US" altLang="ko-KR" sz="1400" dirty="0" err="1">
                <a:latin typeface="Arial" pitchFamily="34" charset="0"/>
                <a:ea typeface="맑은 고딕" pitchFamily="50" charset="-127"/>
                <a:cs typeface="Arial" pitchFamily="34" charset="0"/>
              </a:rPr>
              <a:t>Số</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lượng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hàng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lỗi</a:t>
            </a:r>
            <a:endParaRPr lang="ko-KR" altLang="en-US" sz="1400" dirty="0">
              <a:latin typeface="Arial" pitchFamily="34" charset="0"/>
              <a:ea typeface="맑은 고딕" pitchFamily="50" charset="-127"/>
              <a:cs typeface="Arial" pitchFamily="34" charset="0"/>
            </a:endParaRPr>
          </a:p>
        </p:txBody>
      </p:sp>
      <p:sp>
        <p:nvSpPr>
          <p:cNvPr id="27660" name="Text Box 21"/>
          <p:cNvSpPr txBox="1">
            <a:spLocks noChangeArrowheads="1"/>
          </p:cNvSpPr>
          <p:nvPr/>
        </p:nvSpPr>
        <p:spPr bwMode="auto">
          <a:xfrm>
            <a:off x="200025" y="3789363"/>
            <a:ext cx="1885434" cy="307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1" tIns="45715" rIns="91431" bIns="45715">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b="1" dirty="0" err="1">
                <a:latin typeface="Arial" pitchFamily="34" charset="0"/>
                <a:ea typeface="맑은 고딕" pitchFamily="50" charset="-127"/>
                <a:cs typeface="Arial" pitchFamily="34" charset="0"/>
              </a:rPr>
              <a:t>Ví</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dụ</a:t>
            </a:r>
            <a:r>
              <a:rPr kumimoji="0" lang="en-US" altLang="ko-KR" sz="1400" b="1" dirty="0">
                <a:latin typeface="Arial" pitchFamily="34" charset="0"/>
                <a:ea typeface="맑은 고딕" pitchFamily="50" charset="-127"/>
                <a:cs typeface="Arial" pitchFamily="34" charset="0"/>
              </a:rPr>
              <a:t>: – </a:t>
            </a:r>
            <a:r>
              <a:rPr kumimoji="0" lang="en-US" altLang="ko-KR" sz="1400" b="1" dirty="0" err="1">
                <a:latin typeface="Arial" pitchFamily="34" charset="0"/>
                <a:ea typeface="맑은 고딕" pitchFamily="50" charset="-127"/>
                <a:cs typeface="Arial" pitchFamily="34" charset="0"/>
              </a:rPr>
              <a:t>Biến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rời</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rạc</a:t>
            </a:r>
            <a:endParaRPr kumimoji="0" lang="ko-KR" altLang="en-US" sz="1400" b="1" dirty="0">
              <a:latin typeface="Arial" pitchFamily="34" charset="0"/>
              <a:ea typeface="맑은 고딕" pitchFamily="50" charset="-127"/>
              <a:cs typeface="Arial" pitchFamily="34" charset="0"/>
            </a:endParaRPr>
          </a:p>
        </p:txBody>
      </p:sp>
      <p:sp>
        <p:nvSpPr>
          <p:cNvPr id="27661" name="AutoShape 22"/>
          <p:cNvSpPr>
            <a:spLocks noChangeArrowheads="1"/>
          </p:cNvSpPr>
          <p:nvPr/>
        </p:nvSpPr>
        <p:spPr bwMode="auto">
          <a:xfrm>
            <a:off x="855663" y="4922838"/>
            <a:ext cx="2286000" cy="608012"/>
          </a:xfrm>
          <a:prstGeom prst="star24">
            <a:avLst>
              <a:gd name="adj" fmla="val 37500"/>
            </a:avLst>
          </a:prstGeom>
          <a:gradFill rotWithShape="0">
            <a:gsLst>
              <a:gs pos="0">
                <a:srgbClr val="FFFFFF"/>
              </a:gs>
              <a:gs pos="100000">
                <a:srgbClr val="D0E7EC"/>
              </a:gs>
            </a:gsLst>
            <a:path path="shape">
              <a:fillToRect l="50000" t="50000" r="50000" b="50000"/>
            </a:path>
          </a:gra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27662" name="Rectangle 23"/>
          <p:cNvSpPr>
            <a:spLocks noChangeArrowheads="1"/>
          </p:cNvSpPr>
          <p:nvPr/>
        </p:nvSpPr>
        <p:spPr bwMode="auto">
          <a:xfrm>
            <a:off x="1150855" y="5070713"/>
            <a:ext cx="1713913" cy="307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1" tIns="45715" rIns="91431" bIns="45715">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latin typeface="Arial" pitchFamily="34" charset="0"/>
                <a:ea typeface="맑은 고딕" pitchFamily="50" charset="-127"/>
                <a:cs typeface="Arial" pitchFamily="34" charset="0"/>
              </a:rPr>
              <a:t>Có</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thể</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đếm</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được</a:t>
            </a:r>
            <a:endParaRPr lang="ko-KR" altLang="en-US" sz="1400" b="1" dirty="0">
              <a:latin typeface="Arial" pitchFamily="34" charset="0"/>
              <a:ea typeface="맑은 고딕" pitchFamily="50" charset="-127"/>
              <a:cs typeface="Arial" pitchFamily="34" charset="0"/>
            </a:endParaRPr>
          </a:p>
        </p:txBody>
      </p:sp>
      <p:sp>
        <p:nvSpPr>
          <p:cNvPr id="27663" name="Line 24"/>
          <p:cNvSpPr>
            <a:spLocks noChangeShapeType="1"/>
          </p:cNvSpPr>
          <p:nvPr/>
        </p:nvSpPr>
        <p:spPr bwMode="auto">
          <a:xfrm flipH="1" flipV="1">
            <a:off x="1617663" y="4491038"/>
            <a:ext cx="76200" cy="376237"/>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27664" name="Line 25"/>
          <p:cNvSpPr>
            <a:spLocks noChangeShapeType="1"/>
          </p:cNvSpPr>
          <p:nvPr/>
        </p:nvSpPr>
        <p:spPr bwMode="auto">
          <a:xfrm flipV="1">
            <a:off x="2379663" y="4491038"/>
            <a:ext cx="76200" cy="376237"/>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pSp>
        <p:nvGrpSpPr>
          <p:cNvPr id="27665" name="Group 26"/>
          <p:cNvGrpSpPr>
            <a:grpSpLocks/>
          </p:cNvGrpSpPr>
          <p:nvPr/>
        </p:nvGrpSpPr>
        <p:grpSpPr bwMode="auto">
          <a:xfrm>
            <a:off x="3598863" y="4095750"/>
            <a:ext cx="2339975" cy="1355725"/>
            <a:chOff x="3360" y="1158"/>
            <a:chExt cx="1474" cy="854"/>
          </a:xfrm>
        </p:grpSpPr>
        <p:graphicFrame>
          <p:nvGraphicFramePr>
            <p:cNvPr id="27686" name="Object 27"/>
            <p:cNvGraphicFramePr>
              <a:graphicFrameLocks noChangeAspect="1"/>
            </p:cNvGraphicFramePr>
            <p:nvPr/>
          </p:nvGraphicFramePr>
          <p:xfrm>
            <a:off x="3360" y="1184"/>
            <a:ext cx="1474" cy="828"/>
          </p:xfrm>
          <a:graphic>
            <a:graphicData uri="http://schemas.openxmlformats.org/presentationml/2006/ole">
              <mc:AlternateContent xmlns:mc="http://schemas.openxmlformats.org/markup-compatibility/2006">
                <mc:Choice xmlns:v="urn:schemas-microsoft-com:vml" Requires="v">
                  <p:oleObj name="클립" r:id="rId5" imgW="4832350" imgH="2254250" progId="">
                    <p:embed/>
                  </p:oleObj>
                </mc:Choice>
                <mc:Fallback>
                  <p:oleObj name="클립" r:id="rId5" imgW="4832350" imgH="2254250" progId="">
                    <p:embed/>
                    <p:pic>
                      <p:nvPicPr>
                        <p:cNvPr id="27686" name="Object 2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60" y="1184"/>
                          <a:ext cx="1474" cy="828"/>
                        </a:xfrm>
                        <a:prstGeom prst="rect">
                          <a:avLst/>
                        </a:prstGeom>
                        <a:solidFill>
                          <a:srgbClr val="FFFFCC"/>
                        </a:solidFill>
                      </p:spPr>
                    </p:pic>
                  </p:oleObj>
                </mc:Fallback>
              </mc:AlternateContent>
            </a:graphicData>
          </a:graphic>
        </p:graphicFrame>
        <p:sp>
          <p:nvSpPr>
            <p:cNvPr id="27687" name="Text Box 28"/>
            <p:cNvSpPr txBox="1">
              <a:spLocks noChangeArrowheads="1"/>
            </p:cNvSpPr>
            <p:nvPr/>
          </p:nvSpPr>
          <p:spPr bwMode="auto">
            <a:xfrm>
              <a:off x="3472" y="1158"/>
              <a:ext cx="166"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4195" tIns="32097" rIns="64195" bIns="3209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dirty="0">
                  <a:latin typeface="Arial" pitchFamily="34" charset="0"/>
                  <a:ea typeface="맑은 고딕" pitchFamily="50" charset="-127"/>
                  <a:cs typeface="Arial" pitchFamily="34" charset="0"/>
                </a:rPr>
                <a:t>1</a:t>
              </a:r>
            </a:p>
          </p:txBody>
        </p:sp>
        <p:sp>
          <p:nvSpPr>
            <p:cNvPr id="27688" name="Text Box 29"/>
            <p:cNvSpPr txBox="1">
              <a:spLocks noChangeArrowheads="1"/>
            </p:cNvSpPr>
            <p:nvPr/>
          </p:nvSpPr>
          <p:spPr bwMode="auto">
            <a:xfrm>
              <a:off x="3848" y="1198"/>
              <a:ext cx="166"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4195" tIns="32097" rIns="64195" bIns="3209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dirty="0">
                  <a:latin typeface="Arial" pitchFamily="34" charset="0"/>
                  <a:ea typeface="맑은 고딕" pitchFamily="50" charset="-127"/>
                  <a:cs typeface="Arial" pitchFamily="34" charset="0"/>
                </a:rPr>
                <a:t>2</a:t>
              </a:r>
            </a:p>
          </p:txBody>
        </p:sp>
        <p:sp>
          <p:nvSpPr>
            <p:cNvPr id="27689" name="Text Box 30"/>
            <p:cNvSpPr txBox="1">
              <a:spLocks noChangeArrowheads="1"/>
            </p:cNvSpPr>
            <p:nvPr/>
          </p:nvSpPr>
          <p:spPr bwMode="auto">
            <a:xfrm>
              <a:off x="4192" y="1319"/>
              <a:ext cx="166"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4195" tIns="32097" rIns="64195" bIns="3209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dirty="0">
                  <a:latin typeface="Arial" pitchFamily="34" charset="0"/>
                  <a:ea typeface="맑은 고딕" pitchFamily="50" charset="-127"/>
                  <a:cs typeface="Arial" pitchFamily="34" charset="0"/>
                </a:rPr>
                <a:t>3</a:t>
              </a:r>
            </a:p>
          </p:txBody>
        </p:sp>
        <p:sp>
          <p:nvSpPr>
            <p:cNvPr id="27690" name="Text Box 31"/>
            <p:cNvSpPr txBox="1">
              <a:spLocks noChangeArrowheads="1"/>
            </p:cNvSpPr>
            <p:nvPr/>
          </p:nvSpPr>
          <p:spPr bwMode="auto">
            <a:xfrm>
              <a:off x="4584" y="1558"/>
              <a:ext cx="166"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4195" tIns="32097" rIns="64195" bIns="3209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dirty="0">
                  <a:latin typeface="Arial" pitchFamily="34" charset="0"/>
                  <a:ea typeface="맑은 고딕" pitchFamily="50" charset="-127"/>
                  <a:cs typeface="Arial" pitchFamily="34" charset="0"/>
                </a:rPr>
                <a:t>4</a:t>
              </a:r>
            </a:p>
          </p:txBody>
        </p:sp>
      </p:grpSp>
      <p:graphicFrame>
        <p:nvGraphicFramePr>
          <p:cNvPr id="24" name="Group 344"/>
          <p:cNvGraphicFramePr>
            <a:graphicFrameLocks noGrp="1"/>
          </p:cNvGraphicFramePr>
          <p:nvPr>
            <p:extLst>
              <p:ext uri="{D42A27DB-BD31-4B8C-83A1-F6EECF244321}">
                <p14:modId xmlns:p14="http://schemas.microsoft.com/office/powerpoint/2010/main" val="162208660"/>
              </p:ext>
            </p:extLst>
          </p:nvPr>
        </p:nvGraphicFramePr>
        <p:xfrm>
          <a:off x="6465167" y="2768601"/>
          <a:ext cx="3168352" cy="1327149"/>
        </p:xfrm>
        <a:graphic>
          <a:graphicData uri="http://schemas.openxmlformats.org/drawingml/2006/table">
            <a:tbl>
              <a:tblPr/>
              <a:tblGrid>
                <a:gridCol w="1012125">
                  <a:extLst>
                    <a:ext uri="{9D8B030D-6E8A-4147-A177-3AD203B41FA5}">
                      <a16:colId xmlns:a16="http://schemas.microsoft.com/office/drawing/2014/main" val="20000"/>
                    </a:ext>
                  </a:extLst>
                </a:gridCol>
                <a:gridCol w="1092352">
                  <a:extLst>
                    <a:ext uri="{9D8B030D-6E8A-4147-A177-3AD203B41FA5}">
                      <a16:colId xmlns:a16="http://schemas.microsoft.com/office/drawing/2014/main" val="20001"/>
                    </a:ext>
                  </a:extLst>
                </a:gridCol>
                <a:gridCol w="1063875">
                  <a:extLst>
                    <a:ext uri="{9D8B030D-6E8A-4147-A177-3AD203B41FA5}">
                      <a16:colId xmlns:a16="http://schemas.microsoft.com/office/drawing/2014/main" val="20002"/>
                    </a:ext>
                  </a:extLst>
                </a:gridCol>
              </a:tblGrid>
              <a:tr h="4423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Loại</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38100"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tục</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Rời</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rạc</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12700" cap="flat" cmpd="sng" algn="ctr">
                      <a:solidFill>
                        <a:schemeClr val="tx1"/>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423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000" b="0" i="0" u="none" strike="noStrike" cap="none" normalizeH="0" baseline="0" dirty="0">
                          <a:ln>
                            <a:noFill/>
                          </a:ln>
                          <a:solidFill>
                            <a:schemeClr val="tx1"/>
                          </a:solidFill>
                          <a:effectLst/>
                          <a:latin typeface="Arial" pitchFamily="34" charset="0"/>
                          <a:ea typeface="맑은 고딕" pitchFamily="50" charset="-127"/>
                          <a:cs typeface="Arial" pitchFamily="34" charset="0"/>
                        </a:rPr>
                        <a:t>Chi </a:t>
                      </a: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phí</a:t>
                      </a:r>
                      <a:r>
                        <a:rPr kumimoji="1" lang="en-US" altLang="ko-KR" sz="10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đo</a:t>
                      </a:r>
                      <a:r>
                        <a:rPr kumimoji="1" lang="en-US" altLang="ko-KR" sz="10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lường</a:t>
                      </a:r>
                      <a:endParaRPr kumimoji="1" lang="ko-KR" altLang="en-US" sz="10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38100"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Nhiều</a:t>
                      </a:r>
                      <a:endParaRPr kumimoji="1" lang="ko-KR" altLang="en-US" sz="10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Thường</a:t>
                      </a:r>
                      <a:r>
                        <a:rPr kumimoji="1" lang="en-US" altLang="ko-KR" sz="10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xuyên</a:t>
                      </a:r>
                      <a:r>
                        <a:rPr kumimoji="1" lang="en-US" altLang="ko-KR" sz="10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ít</a:t>
                      </a:r>
                      <a:endParaRPr kumimoji="1" lang="ko-KR" altLang="en-US" sz="10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12700" cap="flat" cmpd="sng" algn="ctr">
                      <a:solidFill>
                        <a:schemeClr val="tx1"/>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23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Lượng</a:t>
                      </a:r>
                      <a:r>
                        <a:rPr kumimoji="1" lang="en-US" altLang="ko-KR" sz="10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dữ</a:t>
                      </a:r>
                      <a:r>
                        <a:rPr kumimoji="1" lang="en-US" altLang="ko-KR" sz="10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endParaRPr kumimoji="1" lang="ko-KR" altLang="en-US" sz="10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38100"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Nhiều</a:t>
                      </a:r>
                      <a:endParaRPr kumimoji="1" lang="ko-KR" altLang="en-US" sz="10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Ít</a:t>
                      </a:r>
                      <a:endParaRPr kumimoji="1" lang="ko-KR" altLang="en-US" sz="10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58" marR="91458" marT="45724" marB="45724" anchor="ctr" horzOverflow="overflow">
                    <a:lnL w="12700" cap="flat" cmpd="sng" algn="ctr">
                      <a:solidFill>
                        <a:schemeClr val="tx1"/>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7685" name="Text Box 10"/>
          <p:cNvSpPr txBox="1">
            <a:spLocks noChangeArrowheads="1"/>
          </p:cNvSpPr>
          <p:nvPr/>
        </p:nvSpPr>
        <p:spPr bwMode="auto">
          <a:xfrm>
            <a:off x="6667512" y="2355121"/>
            <a:ext cx="2600374" cy="26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1" tIns="45715" rIns="91431" bIns="45715">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100" b="1" dirty="0">
                <a:latin typeface="Arial" pitchFamily="34" charset="0"/>
                <a:ea typeface="맑은 고딕" pitchFamily="50" charset="-127"/>
                <a:cs typeface="Arial" pitchFamily="34" charset="0"/>
              </a:rPr>
              <a:t>So </a:t>
            </a:r>
            <a:r>
              <a:rPr kumimoji="0" lang="en-US" altLang="ko-KR" sz="1100" b="1" dirty="0" err="1">
                <a:latin typeface="Arial" pitchFamily="34" charset="0"/>
                <a:ea typeface="맑은 고딕" pitchFamily="50" charset="-127"/>
                <a:cs typeface="Arial" pitchFamily="34" charset="0"/>
              </a:rPr>
              <a:t>sánh</a:t>
            </a:r>
            <a:r>
              <a:rPr kumimoji="0" lang="en-US" altLang="ko-KR" sz="1100" b="1" dirty="0">
                <a:latin typeface="Arial" pitchFamily="34" charset="0"/>
                <a:ea typeface="맑은 고딕" pitchFamily="50" charset="-127"/>
                <a:cs typeface="Arial" pitchFamily="34" charset="0"/>
              </a:rPr>
              <a:t> </a:t>
            </a:r>
            <a:r>
              <a:rPr kumimoji="0" lang="en-US" altLang="ko-KR" sz="1100" b="1" dirty="0" err="1">
                <a:latin typeface="Arial" pitchFamily="34" charset="0"/>
                <a:ea typeface="맑은 고딕" pitchFamily="50" charset="-127"/>
                <a:cs typeface="Arial" pitchFamily="34" charset="0"/>
              </a:rPr>
              <a:t>biến</a:t>
            </a:r>
            <a:r>
              <a:rPr kumimoji="0" lang="en-US" altLang="ko-KR" sz="1100" b="1" dirty="0">
                <a:latin typeface="Arial" pitchFamily="34" charset="0"/>
                <a:ea typeface="맑은 고딕" pitchFamily="50" charset="-127"/>
                <a:cs typeface="Arial" pitchFamily="34" charset="0"/>
              </a:rPr>
              <a:t> </a:t>
            </a:r>
            <a:r>
              <a:rPr kumimoji="0" lang="en-US" altLang="ko-KR" sz="1100" b="1" dirty="0" err="1">
                <a:latin typeface="Arial" pitchFamily="34" charset="0"/>
                <a:ea typeface="맑은 고딕" pitchFamily="50" charset="-127"/>
                <a:cs typeface="Arial" pitchFamily="34" charset="0"/>
              </a:rPr>
              <a:t>liên</a:t>
            </a:r>
            <a:r>
              <a:rPr kumimoji="0" lang="en-US" altLang="ko-KR" sz="1100" b="1" dirty="0">
                <a:latin typeface="Arial" pitchFamily="34" charset="0"/>
                <a:ea typeface="맑은 고딕" pitchFamily="50" charset="-127"/>
                <a:cs typeface="Arial" pitchFamily="34" charset="0"/>
              </a:rPr>
              <a:t> </a:t>
            </a:r>
            <a:r>
              <a:rPr kumimoji="0" lang="en-US" altLang="ko-KR" sz="1100" b="1" dirty="0" err="1">
                <a:latin typeface="Arial" pitchFamily="34" charset="0"/>
                <a:ea typeface="맑은 고딕" pitchFamily="50" charset="-127"/>
                <a:cs typeface="Arial" pitchFamily="34" charset="0"/>
              </a:rPr>
              <a:t>tục</a:t>
            </a:r>
            <a:r>
              <a:rPr kumimoji="0" lang="en-US" altLang="ko-KR" sz="1100" b="1" dirty="0">
                <a:latin typeface="Arial" pitchFamily="34" charset="0"/>
                <a:ea typeface="맑은 고딕" pitchFamily="50" charset="-127"/>
                <a:cs typeface="Arial" pitchFamily="34" charset="0"/>
              </a:rPr>
              <a:t> </a:t>
            </a:r>
            <a:r>
              <a:rPr kumimoji="0" lang="en-US" altLang="ko-KR" sz="1100" b="1" dirty="0" err="1">
                <a:latin typeface="Arial" pitchFamily="34" charset="0"/>
                <a:ea typeface="맑은 고딕" pitchFamily="50" charset="-127"/>
                <a:cs typeface="Arial" pitchFamily="34" charset="0"/>
              </a:rPr>
              <a:t>và</a:t>
            </a:r>
            <a:r>
              <a:rPr kumimoji="0" lang="en-US" altLang="ko-KR" sz="1100" b="1" dirty="0">
                <a:latin typeface="Arial" pitchFamily="34" charset="0"/>
                <a:ea typeface="맑은 고딕" pitchFamily="50" charset="-127"/>
                <a:cs typeface="Arial" pitchFamily="34" charset="0"/>
              </a:rPr>
              <a:t> </a:t>
            </a:r>
            <a:r>
              <a:rPr kumimoji="0" lang="en-US" altLang="ko-KR" sz="1100" b="1" dirty="0" err="1">
                <a:latin typeface="Arial" pitchFamily="34" charset="0"/>
                <a:ea typeface="맑은 고딕" pitchFamily="50" charset="-127"/>
                <a:cs typeface="Arial" pitchFamily="34" charset="0"/>
              </a:rPr>
              <a:t>biến</a:t>
            </a:r>
            <a:r>
              <a:rPr kumimoji="0" lang="en-US" altLang="ko-KR" sz="1100" b="1" dirty="0">
                <a:latin typeface="Arial" pitchFamily="34" charset="0"/>
                <a:ea typeface="맑은 고딕" pitchFamily="50" charset="-127"/>
                <a:cs typeface="Arial" pitchFamily="34" charset="0"/>
              </a:rPr>
              <a:t> </a:t>
            </a:r>
            <a:r>
              <a:rPr kumimoji="0" lang="en-US" altLang="ko-KR" sz="1100" b="1" dirty="0" err="1">
                <a:latin typeface="Arial" pitchFamily="34" charset="0"/>
                <a:ea typeface="맑은 고딕" pitchFamily="50" charset="-127"/>
                <a:cs typeface="Arial" pitchFamily="34" charset="0"/>
              </a:rPr>
              <a:t>rời</a:t>
            </a:r>
            <a:r>
              <a:rPr kumimoji="0" lang="en-US" altLang="ko-KR" sz="1100" b="1" dirty="0">
                <a:latin typeface="Arial" pitchFamily="34" charset="0"/>
                <a:ea typeface="맑은 고딕" pitchFamily="50" charset="-127"/>
                <a:cs typeface="Arial" pitchFamily="34" charset="0"/>
              </a:rPr>
              <a:t> </a:t>
            </a:r>
            <a:r>
              <a:rPr kumimoji="0" lang="en-US" altLang="ko-KR" sz="1100" b="1" dirty="0" err="1">
                <a:latin typeface="Arial" pitchFamily="34" charset="0"/>
                <a:ea typeface="맑은 고딕" pitchFamily="50" charset="-127"/>
                <a:cs typeface="Arial" pitchFamily="34" charset="0"/>
              </a:rPr>
              <a:t>rạc</a:t>
            </a:r>
            <a:endParaRPr kumimoji="0" lang="ko-KR" altLang="en-US" sz="11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30</a:t>
            </a:fld>
            <a:endParaRPr lang="ko-KR" altLang="en-US" dirty="0">
              <a:latin typeface="Arial" pitchFamily="34" charset="0"/>
              <a:cs typeface="Arial" pitchFamily="34" charset="0"/>
            </a:endParaRPr>
          </a:p>
        </p:txBody>
      </p:sp>
      <p:sp>
        <p:nvSpPr>
          <p:cNvPr id="27"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3. </a:t>
            </a: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loại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ext Box 10"/>
          <p:cNvSpPr txBox="1">
            <a:spLocks noChangeArrowheads="1"/>
          </p:cNvSpPr>
          <p:nvPr/>
        </p:nvSpPr>
        <p:spPr bwMode="auto">
          <a:xfrm>
            <a:off x="992560" y="1052513"/>
            <a:ext cx="8064896" cy="623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5" rIns="91431" bIns="45715">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kumimoji="0" lang="vi-VN" altLang="ko-KR" sz="1400" b="1" dirty="0">
                <a:latin typeface="Arial" pitchFamily="34" charset="0"/>
                <a:ea typeface="맑은 고딕" pitchFamily="50" charset="-127"/>
                <a:cs typeface="Arial" pitchFamily="34" charset="0"/>
              </a:rPr>
              <a:t>(</a:t>
            </a:r>
            <a:r>
              <a:rPr kumimoji="0" lang="en-US" altLang="ko-KR" sz="1400" b="1" dirty="0" err="1">
                <a:latin typeface="Arial" pitchFamily="34" charset="0"/>
                <a:ea typeface="맑은 고딕" pitchFamily="50" charset="-127"/>
                <a:cs typeface="Arial" pitchFamily="34" charset="0"/>
              </a:rPr>
              <a:t>Tình</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huống</a:t>
            </a:r>
            <a:r>
              <a:rPr kumimoji="0" lang="vi-VN" altLang="ko-KR" sz="1400" b="1" dirty="0">
                <a:latin typeface="Arial" pitchFamily="34" charset="0"/>
                <a:ea typeface="맑은 고딕" pitchFamily="50" charset="-127"/>
                <a:cs typeface="Arial" pitchFamily="34" charset="0"/>
              </a:rPr>
              <a:t>) Hãy xác định các biến sau đây là liên tục h</a:t>
            </a:r>
            <a:r>
              <a:rPr kumimoji="0" lang="en-US" altLang="ko-KR" sz="1400" b="1" dirty="0">
                <a:latin typeface="Arial" pitchFamily="34" charset="0"/>
                <a:ea typeface="맑은 고딕" pitchFamily="50" charset="-127"/>
                <a:cs typeface="Arial" pitchFamily="34" charset="0"/>
              </a:rPr>
              <a:t>ay </a:t>
            </a:r>
            <a:r>
              <a:rPr kumimoji="0" lang="en-US" altLang="ko-KR" sz="1400" b="1" dirty="0" err="1">
                <a:latin typeface="Arial" pitchFamily="34" charset="0"/>
                <a:ea typeface="맑은 고딕" pitchFamily="50" charset="-127"/>
                <a:cs typeface="Arial" pitchFamily="34" charset="0"/>
              </a:rPr>
              <a:t>biến</a:t>
            </a:r>
            <a:r>
              <a:rPr kumimoji="0" lang="vi-VN" altLang="ko-KR" sz="1400" b="1" dirty="0">
                <a:latin typeface="Arial" pitchFamily="34" charset="0"/>
                <a:ea typeface="맑은 고딕" pitchFamily="50" charset="-127"/>
                <a:cs typeface="Arial" pitchFamily="34" charset="0"/>
              </a:rPr>
              <a:t> rời rạc</a:t>
            </a:r>
            <a:endParaRPr kumimoji="0" lang="en-US" altLang="ko-KR" sz="1400" b="1" dirty="0">
              <a:latin typeface="Arial" pitchFamily="34" charset="0"/>
              <a:ea typeface="맑은 고딕" pitchFamily="50" charset="-127"/>
              <a:cs typeface="Arial" pitchFamily="34" charset="0"/>
            </a:endParaRPr>
          </a:p>
          <a:p>
            <a:pPr marL="1144588" eaLnBrk="1" hangingPunct="1">
              <a:lnSpc>
                <a:spcPct val="130000"/>
              </a:lnSpc>
            </a:pPr>
            <a:r>
              <a:rPr kumimoji="0" lang="en-US" altLang="ko-KR" sz="1400" b="1" dirty="0" err="1">
                <a:latin typeface="Arial" pitchFamily="34" charset="0"/>
                <a:ea typeface="맑은 고딕" pitchFamily="50" charset="-127"/>
                <a:cs typeface="Arial" pitchFamily="34" charset="0"/>
              </a:rPr>
              <a:t>Bạn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đang</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làm</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việc</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với</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loại</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dữ</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liệu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nào</a:t>
            </a:r>
            <a:r>
              <a:rPr kumimoji="0" lang="en-US" altLang="ko-KR" sz="1400" b="1" dirty="0">
                <a:latin typeface="Arial" pitchFamily="34" charset="0"/>
                <a:ea typeface="맑은 고딕" pitchFamily="50" charset="-127"/>
                <a:cs typeface="Arial" pitchFamily="34" charset="0"/>
              </a:rPr>
              <a:t>?</a:t>
            </a:r>
            <a:endParaRPr kumimoji="0" lang="ko-KR" altLang="en-US" sz="1400" b="1" dirty="0">
              <a:latin typeface="Arial" pitchFamily="34" charset="0"/>
              <a:ea typeface="맑은 고딕" pitchFamily="50" charset="-127"/>
              <a:cs typeface="Arial" pitchFamily="34" charset="0"/>
            </a:endParaRPr>
          </a:p>
        </p:txBody>
      </p:sp>
      <p:graphicFrame>
        <p:nvGraphicFramePr>
          <p:cNvPr id="3" name="Group 344"/>
          <p:cNvGraphicFramePr>
            <a:graphicFrameLocks noGrp="1"/>
          </p:cNvGraphicFramePr>
          <p:nvPr>
            <p:extLst>
              <p:ext uri="{D42A27DB-BD31-4B8C-83A1-F6EECF244321}">
                <p14:modId xmlns:p14="http://schemas.microsoft.com/office/powerpoint/2010/main" val="905207339"/>
              </p:ext>
            </p:extLst>
          </p:nvPr>
        </p:nvGraphicFramePr>
        <p:xfrm>
          <a:off x="970025" y="2125317"/>
          <a:ext cx="7965950" cy="3463923"/>
        </p:xfrm>
        <a:graphic>
          <a:graphicData uri="http://schemas.openxmlformats.org/drawingml/2006/table">
            <a:tbl>
              <a:tblPr/>
              <a:tblGrid>
                <a:gridCol w="2205641">
                  <a:extLst>
                    <a:ext uri="{9D8B030D-6E8A-4147-A177-3AD203B41FA5}">
                      <a16:colId xmlns:a16="http://schemas.microsoft.com/office/drawing/2014/main" val="20000"/>
                    </a:ext>
                  </a:extLst>
                </a:gridCol>
                <a:gridCol w="2807981">
                  <a:extLst>
                    <a:ext uri="{9D8B030D-6E8A-4147-A177-3AD203B41FA5}">
                      <a16:colId xmlns:a16="http://schemas.microsoft.com/office/drawing/2014/main" val="20001"/>
                    </a:ext>
                  </a:extLst>
                </a:gridCol>
                <a:gridCol w="2952328">
                  <a:extLst>
                    <a:ext uri="{9D8B030D-6E8A-4147-A177-3AD203B41FA5}">
                      <a16:colId xmlns:a16="http://schemas.microsoft.com/office/drawing/2014/main" val="20002"/>
                    </a:ext>
                  </a:extLst>
                </a:gridCol>
              </a:tblGrid>
              <a:tr h="355741">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Dữ</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Mục</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tiêu</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loại</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tục</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hay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rời</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rạc</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Kích</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thước</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căn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hộ</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căn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hộ</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(101,102..)</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Xếp</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lớp</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học</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nhất</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nhì</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ba</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13681">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Thứ</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tự</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lớp</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lớp</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1,2,3…)</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xe</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buýt</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(01,02,03…)</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Thời</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gian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từ</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nhà</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đến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công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ty</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Quãng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đường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xe</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chạy</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áo</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cầu</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thủ</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bóng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đá</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Thời</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gian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phục</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vụ</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55741">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Huy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chương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vàng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bạc</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đồng</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31</a:t>
            </a:fld>
            <a:endParaRPr lang="ko-KR" altLang="en-US" dirty="0"/>
          </a:p>
        </p:txBody>
      </p:sp>
      <p:sp>
        <p:nvSpPr>
          <p:cNvPr id="6"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mn-lt"/>
                <a:ea typeface="맑은 고딕" pitchFamily="50" charset="-127"/>
                <a:cs typeface="Arial" pitchFamily="34" charset="0"/>
              </a:rPr>
              <a:t>3. </a:t>
            </a:r>
            <a:r>
              <a:rPr lang="en-US" altLang="ko-KR" b="1" dirty="0" err="1">
                <a:latin typeface="+mn-lt"/>
                <a:ea typeface="맑은 고딕" pitchFamily="50" charset="-127"/>
                <a:cs typeface="Arial" pitchFamily="34" charset="0"/>
              </a:rPr>
              <a:t>Các</a:t>
            </a:r>
            <a:r>
              <a:rPr lang="en-US" altLang="ko-KR" b="1" dirty="0">
                <a:latin typeface="+mn-lt"/>
                <a:ea typeface="맑은 고딕" pitchFamily="50" charset="-127"/>
                <a:cs typeface="Arial" pitchFamily="34" charset="0"/>
              </a:rPr>
              <a:t> </a:t>
            </a:r>
            <a:r>
              <a:rPr lang="en-US" altLang="ko-KR" b="1" dirty="0" err="1">
                <a:latin typeface="+mn-lt"/>
                <a:ea typeface="맑은 고딕" pitchFamily="50" charset="-127"/>
                <a:cs typeface="Arial" pitchFamily="34" charset="0"/>
              </a:rPr>
              <a:t>loại</a:t>
            </a:r>
            <a:r>
              <a:rPr lang="en-US" altLang="ko-KR" b="1" dirty="0">
                <a:latin typeface="+mn-lt"/>
                <a:ea typeface="맑은 고딕" pitchFamily="50" charset="-127"/>
                <a:cs typeface="Arial" pitchFamily="34" charset="0"/>
              </a:rPr>
              <a:t> </a:t>
            </a:r>
            <a:r>
              <a:rPr lang="en-US" altLang="ko-KR" b="1" dirty="0" err="1">
                <a:latin typeface="+mn-lt"/>
                <a:ea typeface="맑은 고딕" pitchFamily="50" charset="-127"/>
                <a:cs typeface="Arial" pitchFamily="34" charset="0"/>
              </a:rPr>
              <a:t>dữ</a:t>
            </a:r>
            <a:r>
              <a:rPr lang="en-US" altLang="ko-KR" b="1" dirty="0">
                <a:latin typeface="+mn-lt"/>
                <a:ea typeface="맑은 고딕" pitchFamily="50" charset="-127"/>
                <a:cs typeface="Arial" pitchFamily="34" charset="0"/>
              </a:rPr>
              <a:t> </a:t>
            </a:r>
            <a:r>
              <a:rPr lang="en-US" altLang="ko-KR" b="1" dirty="0" err="1">
                <a:latin typeface="+mn-lt"/>
                <a:ea typeface="맑은 고딕" pitchFamily="50" charset="-127"/>
                <a:cs typeface="Arial" pitchFamily="34" charset="0"/>
              </a:rPr>
              <a:t>liệu</a:t>
            </a:r>
            <a:endParaRPr lang="ko-KR" altLang="en-US" b="1" dirty="0">
              <a:latin typeface="+mn-lt"/>
              <a:ea typeface="맑은 고딕" pitchFamily="50" charset="-127"/>
              <a:cs typeface="Arial" pitchFamily="34" charset="0"/>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ext Box 10"/>
          <p:cNvSpPr txBox="1">
            <a:spLocks noChangeArrowheads="1"/>
          </p:cNvSpPr>
          <p:nvPr/>
        </p:nvSpPr>
        <p:spPr bwMode="auto">
          <a:xfrm>
            <a:off x="992560" y="1052513"/>
            <a:ext cx="8064896" cy="623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5" rIns="91431" bIns="45715">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kumimoji="0" lang="vi-VN" altLang="ko-KR" sz="1400" b="1" dirty="0">
                <a:latin typeface="Arial" pitchFamily="34" charset="0"/>
                <a:ea typeface="맑은 고딕" pitchFamily="50" charset="-127"/>
                <a:cs typeface="Arial" pitchFamily="34" charset="0"/>
              </a:rPr>
              <a:t>(</a:t>
            </a:r>
            <a:r>
              <a:rPr kumimoji="0" lang="en-US" altLang="ko-KR" sz="1400" b="1" dirty="0" err="1">
                <a:latin typeface="Arial" pitchFamily="34" charset="0"/>
                <a:ea typeface="맑은 고딕" pitchFamily="50" charset="-127"/>
                <a:cs typeface="Arial" pitchFamily="34" charset="0"/>
              </a:rPr>
              <a:t>Tình</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huống</a:t>
            </a:r>
            <a:r>
              <a:rPr kumimoji="0" lang="vi-VN" altLang="ko-KR" sz="1400" b="1" dirty="0">
                <a:latin typeface="Arial" pitchFamily="34" charset="0"/>
                <a:ea typeface="맑은 고딕" pitchFamily="50" charset="-127"/>
                <a:cs typeface="Arial" pitchFamily="34" charset="0"/>
              </a:rPr>
              <a:t>) Hãy xác định các biến sau đây là liên tục h</a:t>
            </a:r>
            <a:r>
              <a:rPr kumimoji="0" lang="en-US" altLang="ko-KR" sz="1400" b="1" dirty="0">
                <a:latin typeface="Arial" pitchFamily="34" charset="0"/>
                <a:ea typeface="맑은 고딕" pitchFamily="50" charset="-127"/>
                <a:cs typeface="Arial" pitchFamily="34" charset="0"/>
              </a:rPr>
              <a:t>ay </a:t>
            </a:r>
            <a:r>
              <a:rPr kumimoji="0" lang="en-US" altLang="ko-KR" sz="1400" b="1" dirty="0" err="1">
                <a:latin typeface="Arial" pitchFamily="34" charset="0"/>
                <a:ea typeface="맑은 고딕" pitchFamily="50" charset="-127"/>
                <a:cs typeface="Arial" pitchFamily="34" charset="0"/>
              </a:rPr>
              <a:t>biến</a:t>
            </a:r>
            <a:r>
              <a:rPr kumimoji="0" lang="vi-VN" altLang="ko-KR" sz="1400" b="1" dirty="0">
                <a:latin typeface="Arial" pitchFamily="34" charset="0"/>
                <a:ea typeface="맑은 고딕" pitchFamily="50" charset="-127"/>
                <a:cs typeface="Arial" pitchFamily="34" charset="0"/>
              </a:rPr>
              <a:t> rời rạc</a:t>
            </a:r>
            <a:endParaRPr kumimoji="0" lang="en-US" altLang="ko-KR" sz="1400" b="1" dirty="0">
              <a:latin typeface="Arial" pitchFamily="34" charset="0"/>
              <a:ea typeface="맑은 고딕" pitchFamily="50" charset="-127"/>
              <a:cs typeface="Arial" pitchFamily="34" charset="0"/>
            </a:endParaRPr>
          </a:p>
          <a:p>
            <a:pPr marL="1144588" eaLnBrk="1" hangingPunct="1">
              <a:lnSpc>
                <a:spcPct val="130000"/>
              </a:lnSpc>
            </a:pPr>
            <a:r>
              <a:rPr kumimoji="0" lang="en-US" altLang="ko-KR" sz="1400" b="1" dirty="0" err="1">
                <a:latin typeface="Arial" pitchFamily="34" charset="0"/>
                <a:ea typeface="맑은 고딕" pitchFamily="50" charset="-127"/>
                <a:cs typeface="Arial" pitchFamily="34" charset="0"/>
              </a:rPr>
              <a:t>Bạn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đang</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làm</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việc</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với</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loại</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dữ</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liệu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nào</a:t>
            </a:r>
            <a:r>
              <a:rPr kumimoji="0" lang="en-US" altLang="ko-KR" sz="1400" b="1" dirty="0">
                <a:latin typeface="Arial" pitchFamily="34" charset="0"/>
                <a:ea typeface="맑은 고딕" pitchFamily="50" charset="-127"/>
                <a:cs typeface="Arial" pitchFamily="34" charset="0"/>
              </a:rPr>
              <a:t>?</a:t>
            </a:r>
            <a:endParaRPr kumimoji="0" lang="ko-KR" altLang="en-US" sz="1400" b="1" dirty="0">
              <a:latin typeface="Arial" pitchFamily="34" charset="0"/>
              <a:ea typeface="맑은 고딕" pitchFamily="50" charset="-127"/>
              <a:cs typeface="Arial" pitchFamily="34" charset="0"/>
            </a:endParaRPr>
          </a:p>
        </p:txBody>
      </p:sp>
      <p:graphicFrame>
        <p:nvGraphicFramePr>
          <p:cNvPr id="3" name="Group 344"/>
          <p:cNvGraphicFramePr>
            <a:graphicFrameLocks noGrp="1"/>
          </p:cNvGraphicFramePr>
          <p:nvPr>
            <p:extLst>
              <p:ext uri="{D42A27DB-BD31-4B8C-83A1-F6EECF244321}">
                <p14:modId xmlns:p14="http://schemas.microsoft.com/office/powerpoint/2010/main" val="1878757576"/>
              </p:ext>
            </p:extLst>
          </p:nvPr>
        </p:nvGraphicFramePr>
        <p:xfrm>
          <a:off x="970025" y="2125317"/>
          <a:ext cx="7965950" cy="3463923"/>
        </p:xfrm>
        <a:graphic>
          <a:graphicData uri="http://schemas.openxmlformats.org/drawingml/2006/table">
            <a:tbl>
              <a:tblPr/>
              <a:tblGrid>
                <a:gridCol w="2205641">
                  <a:extLst>
                    <a:ext uri="{9D8B030D-6E8A-4147-A177-3AD203B41FA5}">
                      <a16:colId xmlns:a16="http://schemas.microsoft.com/office/drawing/2014/main" val="20000"/>
                    </a:ext>
                  </a:extLst>
                </a:gridCol>
                <a:gridCol w="2807981">
                  <a:extLst>
                    <a:ext uri="{9D8B030D-6E8A-4147-A177-3AD203B41FA5}">
                      <a16:colId xmlns:a16="http://schemas.microsoft.com/office/drawing/2014/main" val="20001"/>
                    </a:ext>
                  </a:extLst>
                </a:gridCol>
                <a:gridCol w="2952328">
                  <a:extLst>
                    <a:ext uri="{9D8B030D-6E8A-4147-A177-3AD203B41FA5}">
                      <a16:colId xmlns:a16="http://schemas.microsoft.com/office/drawing/2014/main" val="20002"/>
                    </a:ext>
                  </a:extLst>
                </a:gridCol>
              </a:tblGrid>
              <a:tr h="355741">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Dữ</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Mục</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tiêu</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loại</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tục</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hay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rời</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rạc</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Kích</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thước</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căn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hộ</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tục</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căn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hộ</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Rr</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Xếp</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lớp</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học</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Thứ</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bậc</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13681">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Thứ</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tự</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lớp</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rr</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xe</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buýt</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rr</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Thời</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gian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từ</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nhà</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đến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công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ty</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tuc</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Quãng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đường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xe</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chạy</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tuc</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áo</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cầu</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thủ</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bóng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đá</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Đinh</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danh</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04845">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Thời</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gian</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phục</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vụ</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tuc</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55741">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Huy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chương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vàng</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bạc</a:t>
                      </a:r>
                      <a:r>
                        <a:rPr kumimoji="1" lang="en-US" altLang="ko-KR" sz="11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1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đồng</a:t>
                      </a:r>
                      <a:endParaRPr kumimoji="1" lang="ko-KR" altLang="en-US" sz="11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Thư</a:t>
                      </a:r>
                      <a:r>
                        <a:rPr kumimoji="1" lang="en-US" altLang="ko-KR" sz="12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bâc</a:t>
                      </a:r>
                      <a:endParaRPr kumimoji="1" lang="ko-KR" altLang="en-US" sz="12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24" marR="91424"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32</a:t>
            </a:fld>
            <a:endParaRPr lang="ko-KR" altLang="en-US" dirty="0"/>
          </a:p>
        </p:txBody>
      </p:sp>
      <p:sp>
        <p:nvSpPr>
          <p:cNvPr id="6"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mn-lt"/>
                <a:ea typeface="맑은 고딕" pitchFamily="50" charset="-127"/>
                <a:cs typeface="Arial" pitchFamily="34" charset="0"/>
              </a:rPr>
              <a:t>3. </a:t>
            </a:r>
            <a:r>
              <a:rPr lang="en-US" altLang="ko-KR" b="1" dirty="0" err="1">
                <a:latin typeface="+mn-lt"/>
                <a:ea typeface="맑은 고딕" pitchFamily="50" charset="-127"/>
                <a:cs typeface="Arial" pitchFamily="34" charset="0"/>
              </a:rPr>
              <a:t>Các</a:t>
            </a:r>
            <a:r>
              <a:rPr lang="en-US" altLang="ko-KR" b="1" dirty="0">
                <a:latin typeface="+mn-lt"/>
                <a:ea typeface="맑은 고딕" pitchFamily="50" charset="-127"/>
                <a:cs typeface="Arial" pitchFamily="34" charset="0"/>
              </a:rPr>
              <a:t> </a:t>
            </a:r>
            <a:r>
              <a:rPr lang="en-US" altLang="ko-KR" b="1" dirty="0" err="1">
                <a:latin typeface="+mn-lt"/>
                <a:ea typeface="맑은 고딕" pitchFamily="50" charset="-127"/>
                <a:cs typeface="Arial" pitchFamily="34" charset="0"/>
              </a:rPr>
              <a:t>loại</a:t>
            </a:r>
            <a:r>
              <a:rPr lang="en-US" altLang="ko-KR" b="1" dirty="0">
                <a:latin typeface="+mn-lt"/>
                <a:ea typeface="맑은 고딕" pitchFamily="50" charset="-127"/>
                <a:cs typeface="Arial" pitchFamily="34" charset="0"/>
              </a:rPr>
              <a:t> </a:t>
            </a:r>
            <a:r>
              <a:rPr lang="en-US" altLang="ko-KR" b="1" dirty="0" err="1">
                <a:latin typeface="+mn-lt"/>
                <a:ea typeface="맑은 고딕" pitchFamily="50" charset="-127"/>
                <a:cs typeface="Arial" pitchFamily="34" charset="0"/>
              </a:rPr>
              <a:t>dữ</a:t>
            </a:r>
            <a:r>
              <a:rPr lang="en-US" altLang="ko-KR" b="1" dirty="0">
                <a:latin typeface="+mn-lt"/>
                <a:ea typeface="맑은 고딕" pitchFamily="50" charset="-127"/>
                <a:cs typeface="Arial" pitchFamily="34" charset="0"/>
              </a:rPr>
              <a:t> </a:t>
            </a:r>
            <a:r>
              <a:rPr lang="en-US" altLang="ko-KR" b="1" dirty="0" err="1">
                <a:latin typeface="+mn-lt"/>
                <a:ea typeface="맑은 고딕" pitchFamily="50" charset="-127"/>
                <a:cs typeface="Arial" pitchFamily="34" charset="0"/>
              </a:rPr>
              <a:t>liệu</a:t>
            </a:r>
            <a:endParaRPr lang="ko-KR" altLang="en-US" b="1" dirty="0">
              <a:latin typeface="+mn-lt"/>
              <a:ea typeface="맑은 고딕" pitchFamily="50" charset="-127"/>
              <a:cs typeface="Arial" pitchFamily="34" charset="0"/>
            </a:endParaRPr>
          </a:p>
        </p:txBody>
      </p:sp>
    </p:spTree>
    <p:extLst>
      <p:ext uri="{BB962C8B-B14F-4D97-AF65-F5344CB8AC3E}">
        <p14:creationId xmlns:p14="http://schemas.microsoft.com/office/powerpoint/2010/main" val="63514293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4. </a:t>
            </a:r>
            <a:r>
              <a:rPr lang="en-US" altLang="ko-KR" b="1" dirty="0" err="1">
                <a:latin typeface="Arial" pitchFamily="34" charset="0"/>
                <a:ea typeface="맑은 고딕" pitchFamily="50" charset="-127"/>
                <a:cs typeface="Arial" pitchFamily="34" charset="0"/>
              </a:rPr>
              <a:t>Phương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pháp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thập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sp>
        <p:nvSpPr>
          <p:cNvPr id="6" name="Oval 4"/>
          <p:cNvSpPr>
            <a:spLocks noChangeArrowheads="1"/>
          </p:cNvSpPr>
          <p:nvPr/>
        </p:nvSpPr>
        <p:spPr bwMode="auto">
          <a:xfrm>
            <a:off x="849313" y="2268538"/>
            <a:ext cx="1847850" cy="1844675"/>
          </a:xfrm>
          <a:prstGeom prst="ellipse">
            <a:avLst/>
          </a:prstGeom>
          <a:gradFill rotWithShape="0">
            <a:gsLst>
              <a:gs pos="0">
                <a:srgbClr val="FFC7E3"/>
              </a:gs>
              <a:gs pos="50000">
                <a:srgbClr val="FFC7E3">
                  <a:gamma/>
                  <a:tint val="0"/>
                  <a:invGamma/>
                </a:srgbClr>
              </a:gs>
              <a:gs pos="100000">
                <a:srgbClr val="FFC7E3"/>
              </a:gs>
            </a:gsLst>
            <a:lin ang="2700000" scaled="1"/>
          </a:gradFill>
          <a:ln w="12700">
            <a:solidFill>
              <a:schemeClr val="accent2"/>
            </a:solidFill>
            <a:round/>
            <a:headEnd/>
            <a:tailEnd/>
          </a:ln>
          <a:effectLst>
            <a:prstShdw prst="shdw18" dist="17961" dir="13500000">
              <a:schemeClr val="accent2">
                <a:gamma/>
                <a:shade val="60000"/>
                <a:invGamma/>
              </a:schemeClr>
            </a:prstShdw>
          </a:effectLst>
        </p:spPr>
        <p:txBody>
          <a:bodyPr wrap="none" lIns="81272" tIns="40636" rIns="81272" bIns="40636" anchor="ctr"/>
          <a:lstStyle/>
          <a:p>
            <a:pPr algn="ctr" defTabSz="812800">
              <a:defRPr/>
            </a:pPr>
            <a:endParaRPr lang="ko-KR" altLang="ko-KR" sz="2100" dirty="0">
              <a:latin typeface="Arial" pitchFamily="34" charset="0"/>
              <a:ea typeface="맑은 고딕" panose="020B0503020000020004" pitchFamily="50" charset="-127"/>
              <a:cs typeface="Arial" pitchFamily="34" charset="0"/>
            </a:endParaRPr>
          </a:p>
        </p:txBody>
      </p:sp>
      <p:sp>
        <p:nvSpPr>
          <p:cNvPr id="29700" name="Text Box 5"/>
          <p:cNvSpPr txBox="1">
            <a:spLocks noChangeArrowheads="1"/>
          </p:cNvSpPr>
          <p:nvPr/>
        </p:nvSpPr>
        <p:spPr bwMode="auto">
          <a:xfrm>
            <a:off x="815910" y="2994742"/>
            <a:ext cx="1194863" cy="512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1272" tIns="40636" rIns="81272" bIns="40636">
            <a:spAutoFit/>
          </a:bodyP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latin typeface="Arial" pitchFamily="34" charset="0"/>
                <a:ea typeface="맑은 고딕" pitchFamily="50" charset="-127"/>
                <a:cs typeface="Arial" pitchFamily="34" charset="0"/>
              </a:rPr>
              <a:t>Tổng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thể</a:t>
            </a:r>
            <a:endParaRPr lang="en-US" altLang="ko-KR" sz="1400" b="1" dirty="0">
              <a:latin typeface="Arial" pitchFamily="34" charset="0"/>
              <a:ea typeface="맑은 고딕" pitchFamily="50" charset="-127"/>
              <a:cs typeface="Arial" pitchFamily="34" charset="0"/>
            </a:endParaRPr>
          </a:p>
          <a:p>
            <a:pPr eaLnBrk="1" hangingPunct="1"/>
            <a:r>
              <a:rPr lang="en-US" altLang="ko-KR" sz="1400" b="1" dirty="0">
                <a:latin typeface="Arial" pitchFamily="34" charset="0"/>
                <a:ea typeface="맑은 고딕" pitchFamily="50" charset="-127"/>
                <a:cs typeface="Arial" pitchFamily="34" charset="0"/>
              </a:rPr>
              <a:t>(population)</a:t>
            </a:r>
          </a:p>
        </p:txBody>
      </p:sp>
      <p:sp>
        <p:nvSpPr>
          <p:cNvPr id="36872" name="Oval 8"/>
          <p:cNvSpPr>
            <a:spLocks noChangeArrowheads="1"/>
          </p:cNvSpPr>
          <p:nvPr/>
        </p:nvSpPr>
        <p:spPr bwMode="auto">
          <a:xfrm>
            <a:off x="1893888" y="2774950"/>
            <a:ext cx="793750" cy="800100"/>
          </a:xfrm>
          <a:prstGeom prst="ellipse">
            <a:avLst/>
          </a:prstGeom>
          <a:solidFill>
            <a:srgbClr val="E1F4FF"/>
          </a:solidFill>
          <a:ln w="25400">
            <a:solidFill>
              <a:schemeClr val="bg2">
                <a:lumMod val="25000"/>
              </a:schemeClr>
            </a:solidFill>
            <a:round/>
            <a:headEnd/>
            <a:tailEnd/>
          </a:ln>
        </p:spPr>
        <p:txBody>
          <a:bodyPr wrap="none" lIns="81272" tIns="40636" rIns="81272" bIns="40636" anchor="ctr"/>
          <a:lstStyle/>
          <a:p>
            <a:pPr algn="ctr" defTabSz="677863" latinLnBrk="0">
              <a:defRPr/>
            </a:pPr>
            <a:endParaRPr lang="en-US" altLang="ko-KR" sz="1400" b="1" dirty="0">
              <a:latin typeface="Arial" pitchFamily="34" charset="0"/>
              <a:ea typeface="맑은 고딕" panose="020B0503020000020004" pitchFamily="50" charset="-127"/>
              <a:cs typeface="Arial" pitchFamily="34" charset="0"/>
            </a:endParaRPr>
          </a:p>
        </p:txBody>
      </p:sp>
      <p:sp>
        <p:nvSpPr>
          <p:cNvPr id="44" name="Oval 8"/>
          <p:cNvSpPr>
            <a:spLocks noChangeArrowheads="1"/>
          </p:cNvSpPr>
          <p:nvPr/>
        </p:nvSpPr>
        <p:spPr bwMode="auto">
          <a:xfrm>
            <a:off x="4559300" y="2736850"/>
            <a:ext cx="793750" cy="800100"/>
          </a:xfrm>
          <a:prstGeom prst="ellipse">
            <a:avLst/>
          </a:prstGeom>
          <a:solidFill>
            <a:srgbClr val="E1F4FF"/>
          </a:solidFill>
          <a:ln w="25400">
            <a:solidFill>
              <a:schemeClr val="bg2">
                <a:lumMod val="25000"/>
              </a:schemeClr>
            </a:solidFill>
            <a:round/>
            <a:headEnd/>
            <a:tailEnd/>
          </a:ln>
        </p:spPr>
        <p:txBody>
          <a:bodyPr wrap="none" lIns="81272" tIns="40636" rIns="81272" bIns="40636" anchor="ctr"/>
          <a:lstStyle/>
          <a:p>
            <a:pPr algn="ctr" defTabSz="677863" latinLnBrk="0">
              <a:defRPr/>
            </a:pPr>
            <a:r>
              <a:rPr lang="en-US" altLang="ko-KR" sz="1400" b="1" dirty="0" err="1">
                <a:latin typeface="Arial" pitchFamily="34" charset="0"/>
                <a:ea typeface="맑은 고딕" panose="020B0503020000020004" pitchFamily="50" charset="-127"/>
                <a:cs typeface="Arial" pitchFamily="34" charset="0"/>
              </a:rPr>
              <a:t>Mẫu</a:t>
            </a:r>
            <a:endParaRPr lang="en-US" altLang="ko-KR" sz="1400" b="1" dirty="0">
              <a:latin typeface="Arial" pitchFamily="34" charset="0"/>
              <a:ea typeface="맑은 고딕" panose="020B0503020000020004" pitchFamily="50" charset="-127"/>
              <a:cs typeface="Arial" pitchFamily="34" charset="0"/>
            </a:endParaRPr>
          </a:p>
          <a:p>
            <a:pPr algn="ctr" defTabSz="677863" latinLnBrk="0">
              <a:defRPr/>
            </a:pPr>
            <a:r>
              <a:rPr lang="en-US" altLang="ko-KR" sz="1400" b="1" dirty="0">
                <a:latin typeface="Arial" pitchFamily="34" charset="0"/>
                <a:ea typeface="맑은 고딕" panose="020B0503020000020004" pitchFamily="50" charset="-127"/>
                <a:cs typeface="Arial" pitchFamily="34" charset="0"/>
              </a:rPr>
              <a:t>(sample)</a:t>
            </a:r>
          </a:p>
        </p:txBody>
      </p:sp>
      <p:sp>
        <p:nvSpPr>
          <p:cNvPr id="47" name="자유형 46"/>
          <p:cNvSpPr/>
          <p:nvPr/>
        </p:nvSpPr>
        <p:spPr>
          <a:xfrm>
            <a:off x="2352675" y="2060575"/>
            <a:ext cx="2362200" cy="735013"/>
          </a:xfrm>
          <a:custGeom>
            <a:avLst/>
            <a:gdLst>
              <a:gd name="connsiteX0" fmla="*/ 0 w 2362200"/>
              <a:gd name="connsiteY0" fmla="*/ 718820 h 734060"/>
              <a:gd name="connsiteX1" fmla="*/ 1112520 w 2362200"/>
              <a:gd name="connsiteY1" fmla="*/ 2540 h 734060"/>
              <a:gd name="connsiteX2" fmla="*/ 2362200 w 2362200"/>
              <a:gd name="connsiteY2" fmla="*/ 734060 h 734060"/>
            </a:gdLst>
            <a:ahLst/>
            <a:cxnLst>
              <a:cxn ang="0">
                <a:pos x="connsiteX0" y="connsiteY0"/>
              </a:cxn>
              <a:cxn ang="0">
                <a:pos x="connsiteX1" y="connsiteY1"/>
              </a:cxn>
              <a:cxn ang="0">
                <a:pos x="connsiteX2" y="connsiteY2"/>
              </a:cxn>
            </a:cxnLst>
            <a:rect l="l" t="t" r="r" b="b"/>
            <a:pathLst>
              <a:path w="2362200" h="734060">
                <a:moveTo>
                  <a:pt x="0" y="718820"/>
                </a:moveTo>
                <a:cubicBezTo>
                  <a:pt x="359410" y="359410"/>
                  <a:pt x="718820" y="0"/>
                  <a:pt x="1112520" y="2540"/>
                </a:cubicBezTo>
                <a:cubicBezTo>
                  <a:pt x="1506220" y="5080"/>
                  <a:pt x="1934210" y="369570"/>
                  <a:pt x="2362200" y="734060"/>
                </a:cubicBezTo>
              </a:path>
            </a:pathLst>
          </a:custGeom>
          <a:ln w="28575">
            <a:solidFill>
              <a:schemeClr val="bg2">
                <a:lumMod val="25000"/>
              </a:schemeClr>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dirty="0">
              <a:latin typeface="Arial" pitchFamily="34" charset="0"/>
              <a:cs typeface="Arial" pitchFamily="34" charset="0"/>
            </a:endParaRPr>
          </a:p>
        </p:txBody>
      </p:sp>
      <p:sp>
        <p:nvSpPr>
          <p:cNvPr id="29704" name="TextBox 47"/>
          <p:cNvSpPr txBox="1">
            <a:spLocks noChangeArrowheads="1"/>
          </p:cNvSpPr>
          <p:nvPr/>
        </p:nvSpPr>
        <p:spPr bwMode="auto">
          <a:xfrm>
            <a:off x="2903538" y="2170113"/>
            <a:ext cx="1186543"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err="1">
                <a:latin typeface="Arial" pitchFamily="34" charset="0"/>
                <a:ea typeface="맑은 고딕" pitchFamily="50" charset="-127"/>
                <a:cs typeface="Arial" pitchFamily="34" charset="0"/>
              </a:rPr>
              <a:t>Chọn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mẫu</a:t>
            </a:r>
            <a:endParaRPr lang="ko-KR" altLang="en-US" sz="1600" b="1" dirty="0">
              <a:latin typeface="Arial" pitchFamily="34" charset="0"/>
              <a:ea typeface="맑은 고딕" pitchFamily="50" charset="-127"/>
              <a:cs typeface="Arial" pitchFamily="34" charset="0"/>
            </a:endParaRPr>
          </a:p>
        </p:txBody>
      </p:sp>
      <p:sp>
        <p:nvSpPr>
          <p:cNvPr id="29705" name="Text Box 3"/>
          <p:cNvSpPr txBox="1">
            <a:spLocks noChangeArrowheads="1"/>
          </p:cNvSpPr>
          <p:nvPr/>
        </p:nvSpPr>
        <p:spPr bwMode="auto">
          <a:xfrm>
            <a:off x="611188" y="1052513"/>
            <a:ext cx="87607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Blip>
                <a:blip r:embed="rId3"/>
              </a:buBlip>
            </a:pPr>
            <a:r>
              <a:rPr lang="en-US" altLang="ko-KR" b="1" dirty="0" err="1">
                <a:latin typeface="Arial" pitchFamily="34" charset="0"/>
                <a:ea typeface="맑은 고딕" pitchFamily="50" charset="-127"/>
                <a:cs typeface="Arial" pitchFamily="34" charset="0"/>
              </a:rPr>
              <a:t>Điều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tổng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thể</a:t>
            </a:r>
            <a:r>
              <a:rPr lang="en-US" altLang="ko-KR" b="1" dirty="0">
                <a:latin typeface="Arial" pitchFamily="34" charset="0"/>
                <a:ea typeface="맑은 고딕" pitchFamily="50" charset="-127"/>
                <a:cs typeface="Arial" pitchFamily="34" charset="0"/>
              </a:rPr>
              <a:t> (Complete survey) vs. </a:t>
            </a:r>
            <a:r>
              <a:rPr lang="en-US" altLang="ko-KR" b="1" dirty="0" err="1">
                <a:latin typeface="Arial" pitchFamily="34" charset="0"/>
                <a:ea typeface="맑은 고딕" pitchFamily="50" charset="-127"/>
                <a:cs typeface="Arial" pitchFamily="34" charset="0"/>
              </a:rPr>
              <a:t>Điều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chọn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mẫu</a:t>
            </a:r>
            <a:r>
              <a:rPr lang="en-US" altLang="ko-KR" b="1" dirty="0">
                <a:latin typeface="Arial" pitchFamily="34" charset="0"/>
                <a:ea typeface="맑은 고딕" pitchFamily="50" charset="-127"/>
                <a:cs typeface="Arial" pitchFamily="34" charset="0"/>
              </a:rPr>
              <a:t> (sample survey)</a:t>
            </a:r>
          </a:p>
        </p:txBody>
      </p:sp>
      <p:sp>
        <p:nvSpPr>
          <p:cNvPr id="29706" name="Text Box 3"/>
          <p:cNvSpPr txBox="1">
            <a:spLocks noChangeArrowheads="1"/>
          </p:cNvSpPr>
          <p:nvPr/>
        </p:nvSpPr>
        <p:spPr bwMode="auto">
          <a:xfrm>
            <a:off x="815910" y="4308015"/>
            <a:ext cx="65982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charset="0"/>
              <a:buChar char="•"/>
            </a:pPr>
            <a:r>
              <a:rPr lang="en-US" altLang="ko-KR" sz="1200" dirty="0">
                <a:latin typeface="Arial" pitchFamily="34" charset="0"/>
                <a:ea typeface="맑은 고딕" pitchFamily="50" charset="-127"/>
                <a:cs typeface="Arial" pitchFamily="34" charset="0"/>
              </a:rPr>
              <a:t>K</a:t>
            </a:r>
            <a:r>
              <a:rPr lang="vi-VN" altLang="ko-KR" sz="1200" dirty="0">
                <a:latin typeface="Arial" pitchFamily="34" charset="0"/>
                <a:ea typeface="맑은 고딕" pitchFamily="50" charset="-127"/>
                <a:cs typeface="Arial" pitchFamily="34" charset="0"/>
              </a:rPr>
              <a:t>hảo sát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toàn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phần</a:t>
            </a:r>
            <a:r>
              <a:rPr lang="vi-VN" altLang="ko-KR" sz="1200" dirty="0">
                <a:latin typeface="Arial" pitchFamily="34" charset="0"/>
                <a:ea typeface="맑은 고딕" pitchFamily="50" charset="-127"/>
                <a:cs typeface="Arial" pitchFamily="34" charset="0"/>
              </a:rPr>
              <a:t>: Khảo sát được thực hiện trên toàn bộ tổng thể (đo lường, kiểm tra ...)</a:t>
            </a:r>
            <a:endParaRPr lang="en-US" altLang="ko-KR" sz="1200" dirty="0">
              <a:latin typeface="Arial" pitchFamily="34" charset="0"/>
              <a:ea typeface="맑은 고딕" pitchFamily="50" charset="-127"/>
              <a:cs typeface="Arial" pitchFamily="34" charset="0"/>
            </a:endParaRPr>
          </a:p>
          <a:p>
            <a:pPr eaLnBrk="1" hangingPunct="1">
              <a:buFont typeface="Arial" pitchFamily="34" charset="0"/>
              <a:buChar char="•"/>
            </a:pPr>
            <a:r>
              <a:rPr lang="vi-VN" altLang="ko-KR" sz="1200" dirty="0">
                <a:latin typeface="Arial" pitchFamily="34" charset="0"/>
                <a:ea typeface="맑은 고딕" pitchFamily="50" charset="-127"/>
                <a:cs typeface="Arial" pitchFamily="34" charset="0"/>
              </a:rPr>
              <a:t>Khảo sát mẫu: Một mẫu tổng thể được khảo sát</a:t>
            </a:r>
            <a:endParaRPr lang="en-US" altLang="ko-KR" sz="1200" dirty="0">
              <a:latin typeface="Arial" pitchFamily="34" charset="0"/>
              <a:ea typeface="맑은 고딕" pitchFamily="50" charset="-127"/>
              <a:cs typeface="Arial" pitchFamily="34" charset="0"/>
            </a:endParaRPr>
          </a:p>
        </p:txBody>
      </p:sp>
      <p:sp>
        <p:nvSpPr>
          <p:cNvPr id="29707" name="TextBox 60"/>
          <p:cNvSpPr txBox="1">
            <a:spLocks noChangeArrowheads="1"/>
          </p:cNvSpPr>
          <p:nvPr/>
        </p:nvSpPr>
        <p:spPr bwMode="auto">
          <a:xfrm>
            <a:off x="5889104" y="1916832"/>
            <a:ext cx="36004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algn="just" eaLnBrk="1" hangingPunct="1">
              <a:buClr>
                <a:srgbClr val="C5003D"/>
              </a:buClr>
            </a:pPr>
            <a:r>
              <a:rPr lang="en-US" altLang="ko-KR" sz="1200" dirty="0">
                <a:latin typeface="Arial" pitchFamily="34" charset="0"/>
                <a:ea typeface="맑은 고딕" pitchFamily="50" charset="-127"/>
                <a:cs typeface="Arial" pitchFamily="34" charset="0"/>
              </a:rPr>
              <a:t>L</a:t>
            </a:r>
            <a:r>
              <a:rPr lang="vi-VN" altLang="ko-KR" sz="1200" dirty="0">
                <a:latin typeface="Arial" pitchFamily="34" charset="0"/>
                <a:ea typeface="맑은 고딕" pitchFamily="50" charset="-127"/>
                <a:cs typeface="Arial" pitchFamily="34" charset="0"/>
              </a:rPr>
              <a:t>ỗi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chọn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mẫu</a:t>
            </a:r>
            <a:r>
              <a:rPr lang="vi-VN" altLang="ko-KR" sz="1200" dirty="0">
                <a:latin typeface="Arial" pitchFamily="34" charset="0"/>
                <a:ea typeface="맑은 고딕" pitchFamily="50" charset="-127"/>
                <a:cs typeface="Arial" pitchFamily="34" charset="0"/>
              </a:rPr>
              <a:t> có thể được giảm bằng cách tăng </a:t>
            </a:r>
            <a:r>
              <a:rPr lang="en-US" altLang="ko-KR" sz="1200" dirty="0" err="1">
                <a:latin typeface="Arial" pitchFamily="34" charset="0"/>
                <a:ea typeface="맑은 고딕" pitchFamily="50" charset="-127"/>
                <a:cs typeface="Arial" pitchFamily="34" charset="0"/>
              </a:rPr>
              <a:t>cỡ</a:t>
            </a:r>
            <a:r>
              <a:rPr lang="en-US" altLang="ko-KR" sz="1200" dirty="0">
                <a:latin typeface="Arial" pitchFamily="34" charset="0"/>
                <a:ea typeface="맑은 고딕" pitchFamily="50" charset="-127"/>
                <a:cs typeface="Arial" pitchFamily="34" charset="0"/>
              </a:rPr>
              <a:t> </a:t>
            </a:r>
            <a:r>
              <a:rPr lang="vi-VN" altLang="ko-KR" sz="1200" dirty="0">
                <a:latin typeface="Arial" pitchFamily="34" charset="0"/>
                <a:ea typeface="맑은 고딕" pitchFamily="50" charset="-127"/>
                <a:cs typeface="Arial" pitchFamily="34" charset="0"/>
              </a:rPr>
              <a:t>mẫu nhưng điều này dẫn đến chi phí cao hơn và chậm trễ. Ngược lại, giảm </a:t>
            </a:r>
            <a:r>
              <a:rPr lang="en-US" altLang="ko-KR" sz="1200" dirty="0" err="1">
                <a:latin typeface="Arial" pitchFamily="34" charset="0"/>
                <a:ea typeface="맑은 고딕" pitchFamily="50" charset="-127"/>
                <a:cs typeface="Arial" pitchFamily="34" charset="0"/>
              </a:rPr>
              <a:t>cỡ</a:t>
            </a:r>
            <a:r>
              <a:rPr lang="en-US" altLang="ko-KR" sz="1200" dirty="0">
                <a:latin typeface="Arial" pitchFamily="34" charset="0"/>
                <a:ea typeface="맑은 고딕" pitchFamily="50" charset="-127"/>
                <a:cs typeface="Arial" pitchFamily="34" charset="0"/>
              </a:rPr>
              <a:t> </a:t>
            </a:r>
            <a:r>
              <a:rPr lang="vi-VN" altLang="ko-KR" sz="1200" dirty="0">
                <a:latin typeface="Arial" pitchFamily="34" charset="0"/>
                <a:ea typeface="맑은 고딕" pitchFamily="50" charset="-127"/>
                <a:cs typeface="Arial" pitchFamily="34" charset="0"/>
              </a:rPr>
              <a:t>mẫu </a:t>
            </a:r>
            <a:r>
              <a:rPr lang="en-US" altLang="ko-KR" sz="1200" dirty="0" err="1">
                <a:latin typeface="Arial" pitchFamily="34" charset="0"/>
                <a:ea typeface="맑은 고딕" pitchFamily="50" charset="-127"/>
                <a:cs typeface="Arial" pitchFamily="34" charset="0"/>
              </a:rPr>
              <a:t>giúp</a:t>
            </a:r>
            <a:r>
              <a:rPr lang="en-US" altLang="ko-KR" sz="1200" dirty="0">
                <a:latin typeface="Arial" pitchFamily="34" charset="0"/>
                <a:ea typeface="맑은 고딕" pitchFamily="50" charset="-127"/>
                <a:cs typeface="Arial" pitchFamily="34" charset="0"/>
              </a:rPr>
              <a:t> </a:t>
            </a:r>
            <a:r>
              <a:rPr lang="vi-VN" altLang="ko-KR" sz="1200" dirty="0">
                <a:latin typeface="Arial" pitchFamily="34" charset="0"/>
                <a:ea typeface="맑은 고딕" pitchFamily="50" charset="-127"/>
                <a:cs typeface="Arial" pitchFamily="34" charset="0"/>
              </a:rPr>
              <a:t>tiết kiệm chi phí và thời gian nhưng sự </a:t>
            </a:r>
            <a:r>
              <a:rPr lang="en-US" altLang="ko-KR" sz="1200" dirty="0" err="1">
                <a:latin typeface="Arial" pitchFamily="34" charset="0"/>
                <a:ea typeface="맑은 고딕" pitchFamily="50" charset="-127"/>
                <a:cs typeface="Arial" pitchFamily="34" charset="0"/>
              </a:rPr>
              <a:t>rủi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ro</a:t>
            </a:r>
            <a:r>
              <a:rPr lang="vi-VN" altLang="ko-KR" sz="1200" dirty="0">
                <a:latin typeface="Arial" pitchFamily="34" charset="0"/>
                <a:ea typeface="맑은 고딕" pitchFamily="50" charset="-127"/>
                <a:cs typeface="Arial" pitchFamily="34" charset="0"/>
              </a:rPr>
              <a:t> của các lỗi </a:t>
            </a:r>
            <a:r>
              <a:rPr lang="en-US" altLang="ko-KR" sz="1200" dirty="0" err="1">
                <a:latin typeface="Arial" pitchFamily="34" charset="0"/>
                <a:ea typeface="맑은 고딕" pitchFamily="50" charset="-127"/>
                <a:cs typeface="Arial" pitchFamily="34" charset="0"/>
              </a:rPr>
              <a:t>chọn</a:t>
            </a:r>
            <a:r>
              <a:rPr lang="vi-VN" altLang="ko-KR" sz="1200" dirty="0">
                <a:latin typeface="Arial" pitchFamily="34" charset="0"/>
                <a:ea typeface="맑은 고딕" pitchFamily="50" charset="-127"/>
                <a:cs typeface="Arial" pitchFamily="34" charset="0"/>
              </a:rPr>
              <a:t> mẫu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lại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lớn</a:t>
            </a:r>
            <a:r>
              <a:rPr lang="vi-VN" altLang="ko-KR" sz="1200" dirty="0">
                <a:latin typeface="Arial" pitchFamily="34" charset="0"/>
                <a:ea typeface="맑은 고딕" pitchFamily="50" charset="-127"/>
                <a:cs typeface="Arial" pitchFamily="34" charset="0"/>
              </a:rPr>
              <a:t>. Do đó, kích cỡ mẫu thích hợp phải được xem xét một cách cẩn thận trước khi làm các điều tra mẫu.</a:t>
            </a:r>
            <a:endParaRPr lang="en-US" altLang="ko-KR" sz="1200" dirty="0">
              <a:latin typeface="Arial" pitchFamily="34" charset="0"/>
              <a:ea typeface="맑은 고딕" pitchFamily="50" charset="-127"/>
              <a:cs typeface="Arial" pitchFamily="34" charset="0"/>
            </a:endParaRPr>
          </a:p>
        </p:txBody>
      </p:sp>
      <p:sp>
        <p:nvSpPr>
          <p:cNvPr id="29708" name="TextBox 64"/>
          <p:cNvSpPr txBox="1">
            <a:spLocks noChangeArrowheads="1"/>
          </p:cNvSpPr>
          <p:nvPr/>
        </p:nvSpPr>
        <p:spPr bwMode="auto">
          <a:xfrm>
            <a:off x="5889080" y="4769680"/>
            <a:ext cx="3601616"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buClr>
                <a:srgbClr val="C5003D"/>
              </a:buClr>
            </a:pPr>
            <a:r>
              <a:rPr lang="en-US" altLang="ko-KR" sz="1400" b="1" u="sng" dirty="0" err="1">
                <a:latin typeface="Arial" pitchFamily="34" charset="0"/>
                <a:ea typeface="맑은 고딕" pitchFamily="50" charset="-127"/>
                <a:cs typeface="Arial" pitchFamily="34" charset="0"/>
              </a:rPr>
              <a:t>Lỗi</a:t>
            </a:r>
            <a:r>
              <a:rPr lang="en-US" altLang="ko-KR" sz="1400" b="1" u="sng" dirty="0">
                <a:latin typeface="Arial" pitchFamily="34" charset="0"/>
                <a:ea typeface="맑은 고딕" pitchFamily="50" charset="-127"/>
                <a:cs typeface="Arial" pitchFamily="34" charset="0"/>
              </a:rPr>
              <a:t> </a:t>
            </a:r>
            <a:r>
              <a:rPr lang="en-US" altLang="ko-KR" sz="1400" b="1" u="sng" dirty="0" err="1">
                <a:latin typeface="Arial" pitchFamily="34" charset="0"/>
                <a:ea typeface="맑은 고딕" pitchFamily="50" charset="-127"/>
                <a:cs typeface="Arial" pitchFamily="34" charset="0"/>
              </a:rPr>
              <a:t>chọn</a:t>
            </a:r>
            <a:r>
              <a:rPr lang="en-US" altLang="ko-KR" sz="1400" b="1" u="sng" dirty="0">
                <a:latin typeface="Arial" pitchFamily="34" charset="0"/>
                <a:ea typeface="맑은 고딕" pitchFamily="50" charset="-127"/>
                <a:cs typeface="Arial" pitchFamily="34" charset="0"/>
              </a:rPr>
              <a:t> </a:t>
            </a:r>
            <a:r>
              <a:rPr lang="en-US" altLang="ko-KR" sz="1400" b="1" u="sng" dirty="0" err="1">
                <a:latin typeface="Arial" pitchFamily="34" charset="0"/>
                <a:ea typeface="맑은 고딕" pitchFamily="50" charset="-127"/>
                <a:cs typeface="Arial" pitchFamily="34" charset="0"/>
              </a:rPr>
              <a:t>mẫu</a:t>
            </a:r>
            <a:r>
              <a:rPr lang="en-US" altLang="ko-KR" sz="1400" b="1" u="sng" dirty="0">
                <a:latin typeface="Arial" pitchFamily="34" charset="0"/>
                <a:ea typeface="맑은 고딕" pitchFamily="50" charset="-127"/>
                <a:cs typeface="Arial" pitchFamily="34" charset="0"/>
              </a:rPr>
              <a:t>: (Sampling error)</a:t>
            </a:r>
          </a:p>
          <a:p>
            <a:pPr marL="0" indent="0" algn="just" eaLnBrk="1" hangingPunct="1">
              <a:buClr>
                <a:srgbClr val="C5003D"/>
              </a:buClr>
            </a:pPr>
            <a:r>
              <a:rPr lang="en-US" altLang="ko-KR" sz="1200" dirty="0">
                <a:latin typeface="Arial" pitchFamily="34" charset="0"/>
                <a:ea typeface="맑은 고딕" pitchFamily="50" charset="-127"/>
                <a:cs typeface="Arial" pitchFamily="34" charset="0"/>
              </a:rPr>
              <a:t>L</a:t>
            </a:r>
            <a:r>
              <a:rPr lang="vi-VN" altLang="ko-KR" sz="1200" dirty="0">
                <a:latin typeface="Arial" pitchFamily="34" charset="0"/>
                <a:ea typeface="맑은 고딕" pitchFamily="50" charset="-127"/>
                <a:cs typeface="Arial" pitchFamily="34" charset="0"/>
              </a:rPr>
              <a:t>à kết quả</a:t>
            </a:r>
            <a:r>
              <a:rPr lang="en-US" altLang="ko-KR" sz="1200" dirty="0">
                <a:latin typeface="Arial" pitchFamily="34" charset="0"/>
                <a:ea typeface="맑은 고딕" pitchFamily="50" charset="-127"/>
                <a:cs typeface="Arial" pitchFamily="34" charset="0"/>
              </a:rPr>
              <a:t> do</a:t>
            </a:r>
            <a:r>
              <a:rPr lang="vi-VN" altLang="ko-KR" sz="1200" dirty="0">
                <a:latin typeface="Arial" pitchFamily="34" charset="0"/>
                <a:ea typeface="맑은 고딕" pitchFamily="50" charset="-127"/>
                <a:cs typeface="Arial" pitchFamily="34" charset="0"/>
              </a:rPr>
              <a:t> sự khác </a:t>
            </a:r>
            <a:r>
              <a:rPr lang="en-US" altLang="ko-KR" sz="1200" dirty="0" err="1">
                <a:latin typeface="Arial" pitchFamily="34" charset="0"/>
                <a:ea typeface="맑은 고딕" pitchFamily="50" charset="-127"/>
                <a:cs typeface="Arial" pitchFamily="34" charset="0"/>
              </a:rPr>
              <a:t>nhau</a:t>
            </a:r>
            <a:r>
              <a:rPr lang="vi-VN" altLang="ko-KR" sz="1200" dirty="0">
                <a:latin typeface="Arial" pitchFamily="34" charset="0"/>
                <a:ea typeface="맑은 고딕" pitchFamily="50" charset="-127"/>
                <a:cs typeface="Arial" pitchFamily="34" charset="0"/>
              </a:rPr>
              <a:t> giữa tổng thể và mẫu</a:t>
            </a:r>
            <a:r>
              <a:rPr lang="en-US" altLang="ko-KR" sz="1200" dirty="0">
                <a:latin typeface="Arial" pitchFamily="34" charset="0"/>
                <a:ea typeface="맑은 고딕" pitchFamily="50" charset="-127"/>
                <a:cs typeface="Arial" pitchFamily="34" charset="0"/>
              </a:rPr>
              <a:t>.</a:t>
            </a:r>
          </a:p>
          <a:p>
            <a:pPr marL="0" indent="0" algn="just" eaLnBrk="1" hangingPunct="1">
              <a:buClr>
                <a:srgbClr val="C5003D"/>
              </a:buClr>
            </a:pPr>
            <a:r>
              <a:rPr lang="en-US" altLang="ko-KR" sz="1200" dirty="0" err="1">
                <a:latin typeface="Arial" pitchFamily="34" charset="0"/>
                <a:ea typeface="맑은 고딕" pitchFamily="50" charset="-127"/>
                <a:cs typeface="Arial" pitchFamily="34" charset="0"/>
              </a:rPr>
              <a:t>Để</a:t>
            </a:r>
            <a:r>
              <a:rPr lang="vi-VN"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tối</a:t>
            </a:r>
            <a:r>
              <a:rPr lang="en-US" altLang="ko-KR" sz="1200" dirty="0">
                <a:latin typeface="Arial" pitchFamily="34" charset="0"/>
                <a:ea typeface="맑은 고딕" pitchFamily="50" charset="-127"/>
                <a:cs typeface="Arial" pitchFamily="34" charset="0"/>
              </a:rPr>
              <a:t> </a:t>
            </a:r>
            <a:r>
              <a:rPr lang="vi-VN" altLang="ko-KR" sz="1200" dirty="0">
                <a:latin typeface="Arial" pitchFamily="34" charset="0"/>
                <a:ea typeface="맑은 고딕" pitchFamily="50" charset="-127"/>
                <a:cs typeface="Arial" pitchFamily="34" charset="0"/>
              </a:rPr>
              <a:t>thiểu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hóa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lỗi</a:t>
            </a:r>
            <a:r>
              <a:rPr lang="vi-VN" altLang="ko-KR" sz="1200" dirty="0">
                <a:latin typeface="Arial" pitchFamily="34" charset="0"/>
                <a:ea typeface="맑은 고딕" pitchFamily="50" charset="-127"/>
                <a:cs typeface="Arial" pitchFamily="34" charset="0"/>
              </a:rPr>
              <a:t> chọn mẫu, </a:t>
            </a:r>
            <a:r>
              <a:rPr lang="en-US" altLang="ko-KR" sz="1200" dirty="0" err="1">
                <a:latin typeface="Arial" pitchFamily="34" charset="0"/>
                <a:ea typeface="맑은 고딕" pitchFamily="50" charset="-127"/>
                <a:cs typeface="Arial" pitchFamily="34" charset="0"/>
              </a:rPr>
              <a:t>cần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chọn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thước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mẫu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phương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pháp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chọn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mẫu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phù</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hợp</a:t>
            </a:r>
            <a:r>
              <a:rPr lang="en-US" altLang="ko-KR" sz="1200" dirty="0">
                <a:latin typeface="Arial" pitchFamily="34" charset="0"/>
                <a:ea typeface="맑은 고딕" pitchFamily="50" charset="-127"/>
                <a:cs typeface="Arial" pitchFamily="34" charset="0"/>
              </a:rPr>
              <a:t>.</a:t>
            </a:r>
            <a:endParaRPr lang="ko-KR" altLang="en-US" sz="1200"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33</a:t>
            </a:fld>
            <a:endParaRPr lang="ko-KR" altLang="en-US" dirty="0">
              <a:latin typeface="Arial" pitchFamily="34" charset="0"/>
              <a:cs typeface="Arial" pitchFamily="34" charset="0"/>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3"/>
          <p:cNvSpPr txBox="1">
            <a:spLocks noChangeArrowheads="1"/>
          </p:cNvSpPr>
          <p:nvPr/>
        </p:nvSpPr>
        <p:spPr bwMode="auto">
          <a:xfrm>
            <a:off x="611188" y="1052513"/>
            <a:ext cx="15840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Blip>
                <a:blip r:embed="rId3"/>
              </a:buBlip>
            </a:pPr>
            <a:r>
              <a:rPr lang="en-US" altLang="ko-KR" b="1" dirty="0" err="1">
                <a:latin typeface="Arial" pitchFamily="34" charset="0"/>
                <a:ea typeface="맑은 고딕" pitchFamily="50" charset="-127"/>
                <a:cs typeface="Arial" pitchFamily="34" charset="0"/>
              </a:rPr>
              <a:t>Chọn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mẫu</a:t>
            </a:r>
            <a:endParaRPr lang="en-US" altLang="ko-KR" b="1" dirty="0">
              <a:latin typeface="Arial" pitchFamily="34" charset="0"/>
              <a:ea typeface="맑은 고딕" pitchFamily="50" charset="-127"/>
              <a:cs typeface="Arial" pitchFamily="34" charset="0"/>
            </a:endParaRPr>
          </a:p>
        </p:txBody>
      </p:sp>
      <p:graphicFrame>
        <p:nvGraphicFramePr>
          <p:cNvPr id="3" name="Group 344"/>
          <p:cNvGraphicFramePr>
            <a:graphicFrameLocks noGrp="1"/>
          </p:cNvGraphicFramePr>
          <p:nvPr>
            <p:extLst>
              <p:ext uri="{D42A27DB-BD31-4B8C-83A1-F6EECF244321}">
                <p14:modId xmlns:p14="http://schemas.microsoft.com/office/powerpoint/2010/main" val="264925304"/>
              </p:ext>
            </p:extLst>
          </p:nvPr>
        </p:nvGraphicFramePr>
        <p:xfrm>
          <a:off x="920552" y="1557338"/>
          <a:ext cx="7776864" cy="4608511"/>
        </p:xfrm>
        <a:graphic>
          <a:graphicData uri="http://schemas.openxmlformats.org/drawingml/2006/table">
            <a:tbl>
              <a:tblPr/>
              <a:tblGrid>
                <a:gridCol w="1813275">
                  <a:extLst>
                    <a:ext uri="{9D8B030D-6E8A-4147-A177-3AD203B41FA5}">
                      <a16:colId xmlns:a16="http://schemas.microsoft.com/office/drawing/2014/main" val="20000"/>
                    </a:ext>
                  </a:extLst>
                </a:gridCol>
                <a:gridCol w="1910125">
                  <a:extLst>
                    <a:ext uri="{9D8B030D-6E8A-4147-A177-3AD203B41FA5}">
                      <a16:colId xmlns:a16="http://schemas.microsoft.com/office/drawing/2014/main" val="20001"/>
                    </a:ext>
                  </a:extLst>
                </a:gridCol>
                <a:gridCol w="2026732">
                  <a:extLst>
                    <a:ext uri="{9D8B030D-6E8A-4147-A177-3AD203B41FA5}">
                      <a16:colId xmlns:a16="http://schemas.microsoft.com/office/drawing/2014/main" val="20002"/>
                    </a:ext>
                  </a:extLst>
                </a:gridCol>
                <a:gridCol w="2026732">
                  <a:extLst>
                    <a:ext uri="{9D8B030D-6E8A-4147-A177-3AD203B41FA5}">
                      <a16:colId xmlns:a16="http://schemas.microsoft.com/office/drawing/2014/main" val="20003"/>
                    </a:ext>
                  </a:extLst>
                </a:gridCol>
              </a:tblGrid>
              <a:tr h="472065">
                <a:tc>
                  <a:txBody>
                    <a:bodyPr/>
                    <a:lstStyle/>
                    <a:p>
                      <a:pPr marL="0" marR="0" lvl="0" indent="0" algn="ctr" defTabSz="914400" rtl="0" eaLnBrk="1" fontAlgn="base" latinLnBrk="1" hangingPunct="1">
                        <a:lnSpc>
                          <a:spcPct val="130000"/>
                        </a:lnSpc>
                        <a:spcBef>
                          <a:spcPct val="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loại</a:t>
                      </a:r>
                      <a:endParaRPr kumimoji="1" lang="ko-KR" altLang="en-US" sz="14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19" marB="4571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30000"/>
                        </a:lnSpc>
                        <a:spcBef>
                          <a:spcPct val="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Tổng</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thể</a:t>
                      </a:r>
                      <a:endParaRPr kumimoji="1" lang="ko-KR" altLang="en-US" sz="14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19" marB="4571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30000"/>
                        </a:lnSpc>
                        <a:spcBef>
                          <a:spcPct val="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Mẫu</a:t>
                      </a:r>
                      <a:endParaRPr kumimoji="1" lang="ko-KR" altLang="en-US" sz="14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19" marB="4571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30000"/>
                        </a:lnSpc>
                        <a:spcBef>
                          <a:spcPct val="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Dữ</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endParaRPr kumimoji="1" lang="ko-KR" altLang="en-US" sz="14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19" marB="4571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068223">
                <a:tc>
                  <a:txBody>
                    <a:bodyPr/>
                    <a:lstStyle/>
                    <a:p>
                      <a:pPr marL="0" marR="0" lvl="0" indent="0" algn="l" defTabSz="914400" rtl="0" eaLnBrk="1" fontAlgn="base" latinLnBrk="1" hangingPunct="1">
                        <a:lnSpc>
                          <a:spcPct val="130000"/>
                        </a:lnSpc>
                        <a:spcBef>
                          <a:spcPct val="0"/>
                        </a:spcBef>
                        <a:spcAft>
                          <a:spcPct val="0"/>
                        </a:spcAft>
                        <a:buClrTx/>
                        <a:buSzTx/>
                        <a:buFontTx/>
                        <a:buNone/>
                        <a:tabLst/>
                      </a:pPr>
                      <a:r>
                        <a:rPr lang="vi-VN" sz="1000" dirty="0">
                          <a:latin typeface="Arial" pitchFamily="34" charset="0"/>
                          <a:cs typeface="Arial" pitchFamily="34" charset="0"/>
                        </a:rPr>
                        <a:t>Các </a:t>
                      </a:r>
                      <a:r>
                        <a:rPr lang="en-US" sz="1000" dirty="0" err="1">
                          <a:latin typeface="Arial" pitchFamily="34" charset="0"/>
                          <a:cs typeface="Arial" pitchFamily="34" charset="0"/>
                        </a:rPr>
                        <a:t>thao</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tác</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cần</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thực</a:t>
                      </a:r>
                      <a:r>
                        <a:rPr lang="en-US" sz="1000" baseline="0" dirty="0">
                          <a:latin typeface="Arial" pitchFamily="34" charset="0"/>
                          <a:cs typeface="Arial" pitchFamily="34" charset="0"/>
                        </a:rPr>
                        <a:t> </a:t>
                      </a:r>
                    </a:p>
                    <a:p>
                      <a:pPr marL="0" marR="0" lvl="0" indent="0" algn="l" defTabSz="914400" rtl="0" eaLnBrk="1" fontAlgn="base" latinLnBrk="1" hangingPunct="1">
                        <a:lnSpc>
                          <a:spcPct val="130000"/>
                        </a:lnSpc>
                        <a:spcBef>
                          <a:spcPct val="0"/>
                        </a:spcBef>
                        <a:spcAft>
                          <a:spcPct val="0"/>
                        </a:spcAft>
                        <a:buClrTx/>
                        <a:buSzTx/>
                        <a:buFontTx/>
                        <a:buNone/>
                        <a:tabLst/>
                      </a:pPr>
                      <a:r>
                        <a:rPr lang="en-US" sz="1000" baseline="0" dirty="0" err="1">
                          <a:latin typeface="Arial" pitchFamily="34" charset="0"/>
                          <a:cs typeface="Arial" pitchFamily="34" charset="0"/>
                        </a:rPr>
                        <a:t>hiện</a:t>
                      </a:r>
                      <a:r>
                        <a:rPr lang="en-US" sz="1000" baseline="0" dirty="0">
                          <a:latin typeface="Arial" pitchFamily="34" charset="0"/>
                          <a:cs typeface="Arial" pitchFamily="34" charset="0"/>
                        </a:rPr>
                        <a:t> </a:t>
                      </a:r>
                      <a:r>
                        <a:rPr lang="vi-VN" sz="1000" dirty="0">
                          <a:latin typeface="Arial" pitchFamily="34" charset="0"/>
                          <a:cs typeface="Arial" pitchFamily="34" charset="0"/>
                        </a:rPr>
                        <a:t>trên tiến trình.</a:t>
                      </a:r>
                      <a:br>
                        <a:rPr lang="vi-VN" sz="1000" dirty="0">
                          <a:latin typeface="Arial" pitchFamily="34" charset="0"/>
                          <a:cs typeface="Arial" pitchFamily="34" charset="0"/>
                        </a:rPr>
                      </a:br>
                      <a:r>
                        <a:rPr lang="vi-VN" sz="1000" dirty="0">
                          <a:latin typeface="Arial" pitchFamily="34" charset="0"/>
                          <a:cs typeface="Arial" pitchFamily="34" charset="0"/>
                        </a:rPr>
                        <a:t>1) Quản lý</a:t>
                      </a:r>
                      <a:r>
                        <a:rPr lang="en-US" sz="1000" dirty="0">
                          <a:latin typeface="Arial" pitchFamily="34" charset="0"/>
                          <a:cs typeface="Arial" pitchFamily="34" charset="0"/>
                        </a:rPr>
                        <a:t> </a:t>
                      </a:r>
                      <a:r>
                        <a:rPr lang="en-US" sz="1000" dirty="0" err="1">
                          <a:latin typeface="Arial" pitchFamily="34" charset="0"/>
                          <a:cs typeface="Arial" pitchFamily="34" charset="0"/>
                        </a:rPr>
                        <a:t>quá</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trình</a:t>
                      </a:r>
                      <a:br>
                        <a:rPr lang="vi-VN" sz="1000" dirty="0">
                          <a:latin typeface="Arial" pitchFamily="34" charset="0"/>
                          <a:cs typeface="Arial" pitchFamily="34" charset="0"/>
                        </a:rPr>
                      </a:br>
                      <a:r>
                        <a:rPr lang="vi-VN" sz="1000" dirty="0">
                          <a:latin typeface="Arial" pitchFamily="34" charset="0"/>
                          <a:cs typeface="Arial" pitchFamily="34" charset="0"/>
                        </a:rPr>
                        <a:t>2) </a:t>
                      </a:r>
                      <a:r>
                        <a:rPr lang="en-US" sz="1000" dirty="0" err="1">
                          <a:latin typeface="Arial" pitchFamily="34" charset="0"/>
                          <a:cs typeface="Arial" pitchFamily="34" charset="0"/>
                        </a:rPr>
                        <a:t>Diễn</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giải</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quá</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trình</a:t>
                      </a:r>
                      <a:br>
                        <a:rPr lang="vi-VN" sz="1000" dirty="0">
                          <a:latin typeface="Arial" pitchFamily="34" charset="0"/>
                          <a:cs typeface="Arial" pitchFamily="34" charset="0"/>
                        </a:rPr>
                      </a:br>
                      <a:r>
                        <a:rPr lang="vi-VN" sz="1000" dirty="0">
                          <a:latin typeface="Arial" pitchFamily="34" charset="0"/>
                          <a:cs typeface="Arial" pitchFamily="34" charset="0"/>
                        </a:rPr>
                        <a:t>3) Thiết kế thí nghiệm</a:t>
                      </a:r>
                      <a:r>
                        <a:rPr lang="en-US" sz="1000" dirty="0">
                          <a:latin typeface="Arial" pitchFamily="34" charset="0"/>
                          <a:cs typeface="Arial" pitchFamily="34" charset="0"/>
                        </a:rPr>
                        <a:t> (DOE)</a:t>
                      </a:r>
                      <a:endParaRPr kumimoji="1" lang="ko-KR" altLang="en-US" sz="10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19" marB="4571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p>
                      <a:pPr marL="0" marR="0" lvl="0" indent="0" algn="l" defTabSz="914400" rtl="0" eaLnBrk="1" fontAlgn="base" latinLnBrk="1" hangingPunct="1">
                        <a:lnSpc>
                          <a:spcPct val="130000"/>
                        </a:lnSpc>
                        <a:spcBef>
                          <a:spcPct val="0"/>
                        </a:spcBef>
                        <a:spcAft>
                          <a:spcPct val="0"/>
                        </a:spcAft>
                        <a:buClrTx/>
                        <a:buSzTx/>
                        <a:buFontTx/>
                        <a:buNone/>
                        <a:tabLst/>
                      </a:pP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Tổng</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thể</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vô</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a:t>
                      </a:r>
                      <a:endParaRPr kumimoji="1" lang="ko-KR" altLang="en-US" sz="14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1" hangingPunct="1">
                        <a:lnSpc>
                          <a:spcPct val="130000"/>
                        </a:lnSpc>
                        <a:spcBef>
                          <a:spcPct val="0"/>
                        </a:spcBef>
                        <a:spcAft>
                          <a:spcPct val="0"/>
                        </a:spcAft>
                        <a:buClrTx/>
                        <a:buSzTx/>
                        <a:buFontTx/>
                        <a:buNone/>
                        <a:tabLst/>
                      </a:pPr>
                      <a:endParaRPr kumimoji="1" lang="ko-KR" altLang="en-US" sz="1400" b="0" i="0" u="none" strike="noStrike" cap="none" normalizeH="0" baseline="0" dirty="0">
                        <a:ln>
                          <a:noFill/>
                        </a:ln>
                        <a:solidFill>
                          <a:schemeClr val="tx1"/>
                        </a:solidFill>
                        <a:effectLst/>
                        <a:latin typeface="맑은 고딕" pitchFamily="50" charset="-127"/>
                        <a:ea typeface="맑은 고딕"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1" hangingPunct="1">
                        <a:lnSpc>
                          <a:spcPct val="130000"/>
                        </a:lnSpc>
                        <a:spcBef>
                          <a:spcPct val="0"/>
                        </a:spcBef>
                        <a:spcAft>
                          <a:spcPct val="0"/>
                        </a:spcAft>
                        <a:buClrTx/>
                        <a:buSzTx/>
                        <a:buFontTx/>
                        <a:buNone/>
                        <a:tabLst/>
                      </a:pPr>
                      <a:endParaRPr kumimoji="1" lang="ko-KR" altLang="en-US" sz="1400" b="0" i="0" u="none" strike="noStrike" cap="none" normalizeH="0" baseline="0" dirty="0">
                        <a:ln>
                          <a:noFill/>
                        </a:ln>
                        <a:solidFill>
                          <a:schemeClr val="tx1"/>
                        </a:solidFill>
                        <a:effectLst/>
                        <a:latin typeface="맑은 고딕" pitchFamily="50" charset="-127"/>
                        <a:ea typeface="맑은 고딕" pitchFamily="50" charset="-127"/>
                      </a:endParaRPr>
                    </a:p>
                  </a:txBody>
                  <a:tcPr anchor="ctr" horzOverflow="overflow">
                    <a:lnL w="12700" cap="flat" cmpd="sng" algn="ctr">
                      <a:solidFill>
                        <a:schemeClr val="tx1"/>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068223">
                <a:tc>
                  <a:txBody>
                    <a:bodyPr/>
                    <a:lstStyle/>
                    <a:p>
                      <a:pPr marL="0" marR="0" lvl="0" indent="0" algn="l" defTabSz="914400" rtl="0" eaLnBrk="1" fontAlgn="base" latinLnBrk="1" hangingPunct="1">
                        <a:lnSpc>
                          <a:spcPct val="130000"/>
                        </a:lnSpc>
                        <a:spcBef>
                          <a:spcPct val="0"/>
                        </a:spcBef>
                        <a:spcAft>
                          <a:spcPct val="0"/>
                        </a:spcAft>
                        <a:buClrTx/>
                        <a:buSzTx/>
                        <a:buFontTx/>
                        <a:buNone/>
                        <a:tabLst/>
                      </a:pPr>
                      <a:r>
                        <a:rPr lang="en-US" sz="1000" dirty="0" err="1">
                          <a:latin typeface="Arial" pitchFamily="34" charset="0"/>
                          <a:cs typeface="Arial" pitchFamily="34" charset="0"/>
                        </a:rPr>
                        <a:t>Thao</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tác</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thực</a:t>
                      </a:r>
                      <a:r>
                        <a:rPr lang="en-US" sz="1000" baseline="0" dirty="0">
                          <a:latin typeface="Arial" pitchFamily="34" charset="0"/>
                          <a:cs typeface="Arial" pitchFamily="34" charset="0"/>
                        </a:rPr>
                        <a:t> </a:t>
                      </a:r>
                      <a:r>
                        <a:rPr lang="en-US" sz="1000" baseline="0" dirty="0" err="1">
                          <a:latin typeface="Arial" pitchFamily="34" charset="0"/>
                          <a:cs typeface="Arial" pitchFamily="34" charset="0"/>
                        </a:rPr>
                        <a:t>hiện</a:t>
                      </a:r>
                      <a:r>
                        <a:rPr lang="vi-VN" sz="1000" dirty="0">
                          <a:latin typeface="Arial" pitchFamily="34" charset="0"/>
                          <a:cs typeface="Arial" pitchFamily="34" charset="0"/>
                        </a:rPr>
                        <a:t> trên lô.</a:t>
                      </a:r>
                      <a:br>
                        <a:rPr lang="vi-VN" sz="1000" dirty="0">
                          <a:latin typeface="Arial" pitchFamily="34" charset="0"/>
                          <a:cs typeface="Arial" pitchFamily="34" charset="0"/>
                        </a:rPr>
                      </a:br>
                      <a:r>
                        <a:rPr lang="vi-VN" sz="1000" dirty="0">
                          <a:latin typeface="Arial" pitchFamily="34" charset="0"/>
                          <a:cs typeface="Arial" pitchFamily="34" charset="0"/>
                        </a:rPr>
                        <a:t>1) Kiểm tra</a:t>
                      </a:r>
                      <a:br>
                        <a:rPr lang="vi-VN" sz="1000" dirty="0">
                          <a:latin typeface="Arial" pitchFamily="34" charset="0"/>
                          <a:cs typeface="Arial" pitchFamily="34" charset="0"/>
                        </a:rPr>
                      </a:br>
                      <a:r>
                        <a:rPr lang="vi-VN" sz="1000" dirty="0">
                          <a:latin typeface="Arial" pitchFamily="34" charset="0"/>
                          <a:cs typeface="Arial" pitchFamily="34" charset="0"/>
                        </a:rPr>
                        <a:t>2) Xác định lớp</a:t>
                      </a:r>
                      <a:endParaRPr kumimoji="1" lang="ko-KR" altLang="en-US" sz="10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19" marB="4571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p>
                      <a:pPr marL="0" marR="0" lvl="0" indent="0" algn="l" defTabSz="914400" rtl="0" eaLnBrk="1" fontAlgn="base" latinLnBrk="1" hangingPunct="1">
                        <a:lnSpc>
                          <a:spcPct val="130000"/>
                        </a:lnSpc>
                        <a:spcBef>
                          <a:spcPct val="0"/>
                        </a:spcBef>
                        <a:spcAft>
                          <a:spcPct val="0"/>
                        </a:spcAft>
                        <a:buClrTx/>
                        <a:buSzTx/>
                        <a:buFontTx/>
                        <a:buNone/>
                        <a:tabLst/>
                      </a:pP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Tổng</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thể</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hữu</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0"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a:t>
                      </a:r>
                      <a:r>
                        <a:rPr kumimoji="1" lang="en-US" altLang="ko-KR" sz="1400" b="0" i="0" u="none" strike="noStrike" cap="none" normalizeH="0" baseline="0" dirty="0">
                          <a:ln>
                            <a:noFill/>
                          </a:ln>
                          <a:solidFill>
                            <a:schemeClr val="tx1"/>
                          </a:solidFill>
                          <a:effectLst/>
                          <a:latin typeface="Arial" pitchFamily="34" charset="0"/>
                          <a:ea typeface="맑은 고딕" pitchFamily="50" charset="-127"/>
                          <a:cs typeface="Arial" pitchFamily="34" charset="0"/>
                        </a:rPr>
                        <a:t>)</a:t>
                      </a:r>
                      <a:endParaRPr kumimoji="1" lang="ko-KR" altLang="en-US" sz="1400" b="0"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1" hangingPunct="1">
                        <a:lnSpc>
                          <a:spcPct val="130000"/>
                        </a:lnSpc>
                        <a:spcBef>
                          <a:spcPct val="0"/>
                        </a:spcBef>
                        <a:spcAft>
                          <a:spcPct val="0"/>
                        </a:spcAft>
                        <a:buClrTx/>
                        <a:buSzTx/>
                        <a:buFontTx/>
                        <a:buNone/>
                        <a:tabLst/>
                      </a:pPr>
                      <a:endParaRPr kumimoji="1" lang="ko-KR" altLang="en-US" sz="1400" b="0" i="0" u="none" strike="noStrike" cap="none" normalizeH="0" baseline="0" dirty="0">
                        <a:ln>
                          <a:noFill/>
                        </a:ln>
                        <a:solidFill>
                          <a:schemeClr val="tx1"/>
                        </a:solidFill>
                        <a:effectLst/>
                        <a:latin typeface="맑은 고딕" pitchFamily="50" charset="-127"/>
                        <a:ea typeface="맑은 고딕"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1" hangingPunct="1">
                        <a:lnSpc>
                          <a:spcPct val="130000"/>
                        </a:lnSpc>
                        <a:spcBef>
                          <a:spcPct val="0"/>
                        </a:spcBef>
                        <a:spcAft>
                          <a:spcPct val="0"/>
                        </a:spcAft>
                        <a:buClrTx/>
                        <a:buSzTx/>
                        <a:buFontTx/>
                        <a:buNone/>
                        <a:tabLst/>
                      </a:pPr>
                      <a:endParaRPr kumimoji="1" lang="ko-KR" altLang="en-US" sz="1400" b="0" i="0" u="none" strike="noStrike" cap="none" normalizeH="0" baseline="0" dirty="0">
                        <a:ln>
                          <a:noFill/>
                        </a:ln>
                        <a:solidFill>
                          <a:schemeClr val="tx1"/>
                        </a:solidFill>
                        <a:effectLst/>
                        <a:latin typeface="맑은 고딕" pitchFamily="50" charset="-127"/>
                        <a:ea typeface="맑은 고딕" pitchFamily="50" charset="-127"/>
                      </a:endParaRPr>
                    </a:p>
                  </a:txBody>
                  <a:tcPr anchor="ctr" horzOverflow="overflow">
                    <a:lnL w="12700" cap="flat" cmpd="sng" algn="ctr">
                      <a:solidFill>
                        <a:schemeClr val="tx1"/>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18" name="타원 17"/>
          <p:cNvSpPr/>
          <p:nvPr/>
        </p:nvSpPr>
        <p:spPr>
          <a:xfrm>
            <a:off x="3152800" y="4528642"/>
            <a:ext cx="792162" cy="72072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en-US" altLang="ko-KR" sz="1400" b="1" dirty="0" err="1">
                <a:solidFill>
                  <a:schemeClr val="tx1"/>
                </a:solidFill>
                <a:latin typeface="Arial" pitchFamily="34" charset="0"/>
                <a:cs typeface="Arial" pitchFamily="34" charset="0"/>
              </a:rPr>
              <a:t>Lô</a:t>
            </a:r>
            <a:endParaRPr lang="ko-KR" altLang="en-US" sz="1400" b="1" dirty="0">
              <a:solidFill>
                <a:schemeClr val="tx1"/>
              </a:solidFill>
              <a:latin typeface="Arial" pitchFamily="34" charset="0"/>
              <a:cs typeface="Arial" pitchFamily="34" charset="0"/>
            </a:endParaRPr>
          </a:p>
        </p:txBody>
      </p:sp>
      <p:sp>
        <p:nvSpPr>
          <p:cNvPr id="19" name="타원 18"/>
          <p:cNvSpPr/>
          <p:nvPr/>
        </p:nvSpPr>
        <p:spPr>
          <a:xfrm>
            <a:off x="5241950" y="4528642"/>
            <a:ext cx="792162" cy="71913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en-US" altLang="ko-KR" sz="1400" b="1" dirty="0" err="1">
                <a:solidFill>
                  <a:schemeClr val="tx1"/>
                </a:solidFill>
                <a:latin typeface="Arial" pitchFamily="34" charset="0"/>
                <a:cs typeface="Arial" pitchFamily="34" charset="0"/>
              </a:rPr>
              <a:t>Mẫu</a:t>
            </a:r>
            <a:endParaRPr lang="ko-KR" altLang="en-US" sz="1400" b="1" dirty="0">
              <a:solidFill>
                <a:schemeClr val="tx1"/>
              </a:solidFill>
              <a:latin typeface="Arial" pitchFamily="34" charset="0"/>
              <a:cs typeface="Arial" pitchFamily="34" charset="0"/>
            </a:endParaRPr>
          </a:p>
        </p:txBody>
      </p:sp>
      <p:sp>
        <p:nvSpPr>
          <p:cNvPr id="20" name="타원 19"/>
          <p:cNvSpPr/>
          <p:nvPr/>
        </p:nvSpPr>
        <p:spPr>
          <a:xfrm>
            <a:off x="7258075" y="4528642"/>
            <a:ext cx="792162" cy="71913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en-US" altLang="ko-KR" sz="1400" b="1" dirty="0" err="1">
                <a:solidFill>
                  <a:schemeClr val="tx1"/>
                </a:solidFill>
                <a:latin typeface="Arial" pitchFamily="34" charset="0"/>
                <a:cs typeface="Arial" pitchFamily="34" charset="0"/>
              </a:rPr>
              <a:t>Dữ</a:t>
            </a:r>
            <a:r>
              <a:rPr lang="en-US" altLang="ko-KR" sz="1400" b="1" dirty="0">
                <a:solidFill>
                  <a:schemeClr val="tx1"/>
                </a:solidFill>
                <a:latin typeface="Arial" pitchFamily="34" charset="0"/>
                <a:cs typeface="Arial" pitchFamily="34" charset="0"/>
              </a:rPr>
              <a:t> </a:t>
            </a:r>
            <a:r>
              <a:rPr lang="en-US" altLang="ko-KR" sz="1400" b="1" dirty="0" err="1">
                <a:solidFill>
                  <a:schemeClr val="tx1"/>
                </a:solidFill>
                <a:latin typeface="Arial" pitchFamily="34" charset="0"/>
                <a:cs typeface="Arial" pitchFamily="34" charset="0"/>
              </a:rPr>
              <a:t>liệu</a:t>
            </a:r>
            <a:endParaRPr lang="ko-KR" altLang="en-US" sz="1400" b="1" dirty="0">
              <a:solidFill>
                <a:schemeClr val="tx1"/>
              </a:solidFill>
              <a:latin typeface="Arial" pitchFamily="34" charset="0"/>
              <a:cs typeface="Arial" pitchFamily="34" charset="0"/>
            </a:endParaRPr>
          </a:p>
        </p:txBody>
      </p:sp>
      <p:cxnSp>
        <p:nvCxnSpPr>
          <p:cNvPr id="21" name="직선 화살표 연결선 20"/>
          <p:cNvCxnSpPr/>
          <p:nvPr/>
        </p:nvCxnSpPr>
        <p:spPr>
          <a:xfrm>
            <a:off x="4017987" y="4889004"/>
            <a:ext cx="1152525" cy="0"/>
          </a:xfrm>
          <a:prstGeom prst="straightConnector1">
            <a:avLst/>
          </a:prstGeom>
          <a:ln w="28575">
            <a:solidFill>
              <a:srgbClr val="000099"/>
            </a:solidFill>
            <a:tailEnd type="arrow"/>
          </a:ln>
        </p:spPr>
        <p:style>
          <a:lnRef idx="1">
            <a:schemeClr val="accent1"/>
          </a:lnRef>
          <a:fillRef idx="0">
            <a:schemeClr val="accent1"/>
          </a:fillRef>
          <a:effectRef idx="0">
            <a:schemeClr val="accent1"/>
          </a:effectRef>
          <a:fontRef idx="minor">
            <a:schemeClr val="tx1"/>
          </a:fontRef>
        </p:style>
      </p:cxnSp>
      <p:cxnSp>
        <p:nvCxnSpPr>
          <p:cNvPr id="22" name="직선 화살표 연결선 21"/>
          <p:cNvCxnSpPr/>
          <p:nvPr/>
        </p:nvCxnSpPr>
        <p:spPr>
          <a:xfrm>
            <a:off x="6105550" y="4889004"/>
            <a:ext cx="1081087" cy="0"/>
          </a:xfrm>
          <a:prstGeom prst="straightConnector1">
            <a:avLst/>
          </a:prstGeom>
          <a:ln w="28575">
            <a:solidFill>
              <a:srgbClr val="000099"/>
            </a:solidFill>
            <a:tailEnd type="arrow"/>
          </a:ln>
        </p:spPr>
        <p:style>
          <a:lnRef idx="1">
            <a:schemeClr val="accent1"/>
          </a:lnRef>
          <a:fillRef idx="0">
            <a:schemeClr val="accent1"/>
          </a:fillRef>
          <a:effectRef idx="0">
            <a:schemeClr val="accent1"/>
          </a:effectRef>
          <a:fontRef idx="minor">
            <a:schemeClr val="tx1"/>
          </a:fontRef>
        </p:style>
      </p:cxnSp>
      <p:sp>
        <p:nvSpPr>
          <p:cNvPr id="23" name="원호 22"/>
          <p:cNvSpPr/>
          <p:nvPr/>
        </p:nvSpPr>
        <p:spPr>
          <a:xfrm flipV="1">
            <a:off x="3873525" y="4889004"/>
            <a:ext cx="3465512" cy="647700"/>
          </a:xfrm>
          <a:prstGeom prst="arc">
            <a:avLst>
              <a:gd name="adj1" fmla="val 10879352"/>
              <a:gd name="adj2" fmla="val 0"/>
            </a:avLst>
          </a:prstGeom>
          <a:ln w="28575">
            <a:solidFill>
              <a:srgbClr val="00009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dirty="0">
              <a:latin typeface="Arial" pitchFamily="34" charset="0"/>
              <a:cs typeface="Arial" pitchFamily="34" charset="0"/>
            </a:endParaRPr>
          </a:p>
        </p:txBody>
      </p:sp>
      <p:sp>
        <p:nvSpPr>
          <p:cNvPr id="30749" name="Rectangle 55"/>
          <p:cNvSpPr>
            <a:spLocks noChangeArrowheads="1"/>
          </p:cNvSpPr>
          <p:nvPr/>
        </p:nvSpPr>
        <p:spPr bwMode="auto">
          <a:xfrm>
            <a:off x="6190269" y="5455152"/>
            <a:ext cx="1118896" cy="343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err="1">
                <a:latin typeface="Arial" pitchFamily="34" charset="0"/>
                <a:ea typeface="맑은 고딕" pitchFamily="50" charset="-127"/>
                <a:cs typeface="Arial" pitchFamily="34" charset="0"/>
              </a:rPr>
              <a:t>Hành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động</a:t>
            </a:r>
            <a:endParaRPr lang="en-US" altLang="ko-KR" sz="1400" b="1" dirty="0">
              <a:latin typeface="Arial" pitchFamily="34" charset="0"/>
              <a:ea typeface="맑은 고딕" pitchFamily="50" charset="-127"/>
              <a:cs typeface="Arial" pitchFamily="34" charset="0"/>
            </a:endParaRPr>
          </a:p>
        </p:txBody>
      </p:sp>
      <p:sp>
        <p:nvSpPr>
          <p:cNvPr id="29" name="타원 28"/>
          <p:cNvSpPr/>
          <p:nvPr/>
        </p:nvSpPr>
        <p:spPr>
          <a:xfrm>
            <a:off x="3152800" y="2564904"/>
            <a:ext cx="792162" cy="72072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en-US" altLang="ko-KR" sz="1400" b="1" dirty="0" err="1">
                <a:solidFill>
                  <a:schemeClr val="tx1"/>
                </a:solidFill>
                <a:latin typeface="Arial" pitchFamily="34" charset="0"/>
                <a:cs typeface="Arial" pitchFamily="34" charset="0"/>
              </a:rPr>
              <a:t>Quá</a:t>
            </a:r>
            <a:r>
              <a:rPr lang="en-US" altLang="ko-KR" sz="1400" b="1" dirty="0">
                <a:solidFill>
                  <a:schemeClr val="tx1"/>
                </a:solidFill>
                <a:latin typeface="Arial" pitchFamily="34" charset="0"/>
                <a:cs typeface="Arial" pitchFamily="34" charset="0"/>
              </a:rPr>
              <a:t> </a:t>
            </a:r>
            <a:r>
              <a:rPr lang="en-US" altLang="ko-KR" sz="1400" b="1" dirty="0" err="1">
                <a:solidFill>
                  <a:schemeClr val="tx1"/>
                </a:solidFill>
                <a:latin typeface="Arial" pitchFamily="34" charset="0"/>
                <a:cs typeface="Arial" pitchFamily="34" charset="0"/>
              </a:rPr>
              <a:t>trình</a:t>
            </a:r>
            <a:endParaRPr lang="ko-KR" altLang="en-US" sz="1400" b="1" dirty="0">
              <a:solidFill>
                <a:schemeClr val="tx1"/>
              </a:solidFill>
              <a:latin typeface="Arial" pitchFamily="34" charset="0"/>
              <a:cs typeface="Arial" pitchFamily="34" charset="0"/>
            </a:endParaRPr>
          </a:p>
        </p:txBody>
      </p:sp>
      <p:sp>
        <p:nvSpPr>
          <p:cNvPr id="30" name="타원 29"/>
          <p:cNvSpPr/>
          <p:nvPr/>
        </p:nvSpPr>
        <p:spPr>
          <a:xfrm>
            <a:off x="5241950" y="2564904"/>
            <a:ext cx="792162" cy="7191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en-US" altLang="ko-KR" sz="1400" b="1" dirty="0" err="1">
                <a:solidFill>
                  <a:schemeClr val="tx1"/>
                </a:solidFill>
                <a:latin typeface="Arial" pitchFamily="34" charset="0"/>
                <a:cs typeface="Arial" pitchFamily="34" charset="0"/>
              </a:rPr>
              <a:t>Mẫu</a:t>
            </a:r>
            <a:endParaRPr lang="ko-KR" altLang="en-US" sz="1400" b="1" dirty="0">
              <a:solidFill>
                <a:schemeClr val="tx1"/>
              </a:solidFill>
              <a:latin typeface="Arial" pitchFamily="34" charset="0"/>
              <a:cs typeface="Arial" pitchFamily="34" charset="0"/>
            </a:endParaRPr>
          </a:p>
        </p:txBody>
      </p:sp>
      <p:sp>
        <p:nvSpPr>
          <p:cNvPr id="31" name="타원 30"/>
          <p:cNvSpPr/>
          <p:nvPr/>
        </p:nvSpPr>
        <p:spPr>
          <a:xfrm>
            <a:off x="7258075" y="2564904"/>
            <a:ext cx="792162" cy="7191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en-US" altLang="ko-KR" sz="1400" b="1" dirty="0" err="1">
                <a:solidFill>
                  <a:schemeClr val="tx1"/>
                </a:solidFill>
                <a:latin typeface="Arial" pitchFamily="34" charset="0"/>
                <a:cs typeface="Arial" pitchFamily="34" charset="0"/>
              </a:rPr>
              <a:t>Dữ</a:t>
            </a:r>
            <a:r>
              <a:rPr lang="en-US" altLang="ko-KR" sz="1400" b="1" dirty="0">
                <a:solidFill>
                  <a:schemeClr val="tx1"/>
                </a:solidFill>
                <a:latin typeface="Arial" pitchFamily="34" charset="0"/>
                <a:cs typeface="Arial" pitchFamily="34" charset="0"/>
              </a:rPr>
              <a:t> </a:t>
            </a:r>
            <a:r>
              <a:rPr lang="en-US" altLang="ko-KR" sz="1400" b="1" dirty="0" err="1">
                <a:solidFill>
                  <a:schemeClr val="tx1"/>
                </a:solidFill>
                <a:latin typeface="Arial" pitchFamily="34" charset="0"/>
                <a:cs typeface="Arial" pitchFamily="34" charset="0"/>
              </a:rPr>
              <a:t>liệu</a:t>
            </a:r>
            <a:endParaRPr lang="ko-KR" altLang="en-US" sz="1400" b="1" dirty="0">
              <a:solidFill>
                <a:schemeClr val="tx1"/>
              </a:solidFill>
              <a:latin typeface="Arial" pitchFamily="34" charset="0"/>
              <a:cs typeface="Arial" pitchFamily="34" charset="0"/>
            </a:endParaRPr>
          </a:p>
        </p:txBody>
      </p:sp>
      <p:cxnSp>
        <p:nvCxnSpPr>
          <p:cNvPr id="32" name="직선 화살표 연결선 31"/>
          <p:cNvCxnSpPr/>
          <p:nvPr/>
        </p:nvCxnSpPr>
        <p:spPr>
          <a:xfrm>
            <a:off x="4017987" y="2925267"/>
            <a:ext cx="1152525" cy="0"/>
          </a:xfrm>
          <a:prstGeom prst="straightConnector1">
            <a:avLst/>
          </a:prstGeom>
          <a:ln w="28575">
            <a:solidFill>
              <a:srgbClr val="000099"/>
            </a:solidFill>
            <a:tailEnd type="arrow"/>
          </a:ln>
        </p:spPr>
        <p:style>
          <a:lnRef idx="1">
            <a:schemeClr val="accent1"/>
          </a:lnRef>
          <a:fillRef idx="0">
            <a:schemeClr val="accent1"/>
          </a:fillRef>
          <a:effectRef idx="0">
            <a:schemeClr val="accent1"/>
          </a:effectRef>
          <a:fontRef idx="minor">
            <a:schemeClr val="tx1"/>
          </a:fontRef>
        </p:style>
      </p:cxnSp>
      <p:cxnSp>
        <p:nvCxnSpPr>
          <p:cNvPr id="33" name="직선 화살표 연결선 32"/>
          <p:cNvCxnSpPr/>
          <p:nvPr/>
        </p:nvCxnSpPr>
        <p:spPr>
          <a:xfrm>
            <a:off x="6105550" y="2925267"/>
            <a:ext cx="1081087" cy="0"/>
          </a:xfrm>
          <a:prstGeom prst="straightConnector1">
            <a:avLst/>
          </a:prstGeom>
          <a:ln w="28575">
            <a:solidFill>
              <a:srgbClr val="000099"/>
            </a:solidFill>
            <a:tailEnd type="arrow"/>
          </a:ln>
        </p:spPr>
        <p:style>
          <a:lnRef idx="1">
            <a:schemeClr val="accent1"/>
          </a:lnRef>
          <a:fillRef idx="0">
            <a:schemeClr val="accent1"/>
          </a:fillRef>
          <a:effectRef idx="0">
            <a:schemeClr val="accent1"/>
          </a:effectRef>
          <a:fontRef idx="minor">
            <a:schemeClr val="tx1"/>
          </a:fontRef>
        </p:style>
      </p:cxnSp>
      <p:sp>
        <p:nvSpPr>
          <p:cNvPr id="34" name="원호 33"/>
          <p:cNvSpPr/>
          <p:nvPr/>
        </p:nvSpPr>
        <p:spPr>
          <a:xfrm flipV="1">
            <a:off x="3873525" y="2925267"/>
            <a:ext cx="3465512" cy="647700"/>
          </a:xfrm>
          <a:prstGeom prst="arc">
            <a:avLst>
              <a:gd name="adj1" fmla="val 10879352"/>
              <a:gd name="adj2" fmla="val 0"/>
            </a:avLst>
          </a:prstGeom>
          <a:ln w="28575">
            <a:solidFill>
              <a:srgbClr val="00009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dirty="0">
              <a:latin typeface="Arial" pitchFamily="34" charset="0"/>
              <a:cs typeface="Arial" pitchFamily="34" charset="0"/>
            </a:endParaRPr>
          </a:p>
        </p:txBody>
      </p:sp>
      <p:sp>
        <p:nvSpPr>
          <p:cNvPr id="30757" name="Rectangle 55"/>
          <p:cNvSpPr>
            <a:spLocks noChangeArrowheads="1"/>
          </p:cNvSpPr>
          <p:nvPr/>
        </p:nvSpPr>
        <p:spPr bwMode="auto">
          <a:xfrm>
            <a:off x="4038575" y="2583954"/>
            <a:ext cx="1064394" cy="343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err="1">
                <a:latin typeface="Arial" pitchFamily="34" charset="0"/>
                <a:ea typeface="맑은 고딕" pitchFamily="50" charset="-127"/>
                <a:cs typeface="Arial" pitchFamily="34" charset="0"/>
              </a:rPr>
              <a:t>Chọn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mẫu</a:t>
            </a:r>
            <a:endParaRPr lang="en-US" altLang="ko-KR" sz="1400" b="1" dirty="0">
              <a:latin typeface="Arial" pitchFamily="34" charset="0"/>
              <a:ea typeface="맑은 고딕" pitchFamily="50" charset="-127"/>
              <a:cs typeface="Arial" pitchFamily="34" charset="0"/>
            </a:endParaRPr>
          </a:p>
        </p:txBody>
      </p:sp>
      <p:sp>
        <p:nvSpPr>
          <p:cNvPr id="30758" name="Rectangle 55"/>
          <p:cNvSpPr>
            <a:spLocks noChangeArrowheads="1"/>
          </p:cNvSpPr>
          <p:nvPr/>
        </p:nvSpPr>
        <p:spPr bwMode="auto">
          <a:xfrm>
            <a:off x="6126807" y="2583954"/>
            <a:ext cx="1017907" cy="343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err="1">
                <a:latin typeface="Arial" pitchFamily="34" charset="0"/>
                <a:ea typeface="맑은 고딕" pitchFamily="50" charset="-127"/>
                <a:cs typeface="Arial" pitchFamily="34" charset="0"/>
              </a:rPr>
              <a:t>Đo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lường</a:t>
            </a:r>
            <a:endParaRPr lang="en-US" altLang="ko-KR" sz="1400" b="1" dirty="0">
              <a:latin typeface="Arial" pitchFamily="34" charset="0"/>
              <a:ea typeface="맑은 고딕" pitchFamily="50" charset="-127"/>
              <a:cs typeface="Arial" pitchFamily="34" charset="0"/>
            </a:endParaRPr>
          </a:p>
        </p:txBody>
      </p:sp>
      <p:sp>
        <p:nvSpPr>
          <p:cNvPr id="30759" name="Rectangle 55"/>
          <p:cNvSpPr>
            <a:spLocks noChangeArrowheads="1"/>
          </p:cNvSpPr>
          <p:nvPr/>
        </p:nvSpPr>
        <p:spPr bwMode="auto">
          <a:xfrm>
            <a:off x="6190269" y="3491414"/>
            <a:ext cx="1118896" cy="343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err="1">
                <a:latin typeface="Arial" pitchFamily="34" charset="0"/>
                <a:ea typeface="맑은 고딕" pitchFamily="50" charset="-127"/>
                <a:cs typeface="Arial" pitchFamily="34" charset="0"/>
              </a:rPr>
              <a:t>Hành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động</a:t>
            </a:r>
            <a:endParaRPr lang="en-US" altLang="ko-KR" sz="1400" b="1" dirty="0">
              <a:latin typeface="Arial" pitchFamily="34" charset="0"/>
              <a:ea typeface="맑은 고딕" pitchFamily="50" charset="-127"/>
              <a:cs typeface="Arial" pitchFamily="34" charset="0"/>
            </a:endParaRPr>
          </a:p>
        </p:txBody>
      </p:sp>
      <p:sp>
        <p:nvSpPr>
          <p:cNvPr id="30760" name="Rectangle 55"/>
          <p:cNvSpPr>
            <a:spLocks noChangeArrowheads="1"/>
          </p:cNvSpPr>
          <p:nvPr/>
        </p:nvSpPr>
        <p:spPr bwMode="auto">
          <a:xfrm>
            <a:off x="7423175" y="3266579"/>
            <a:ext cx="990656" cy="342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err="1">
                <a:latin typeface="Arial" pitchFamily="34" charset="0"/>
                <a:ea typeface="맑은 고딕" pitchFamily="50" charset="-127"/>
                <a:cs typeface="Arial" pitchFamily="34" charset="0"/>
              </a:rPr>
              <a:t>Phân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endParaRPr lang="en-US" altLang="ko-KR" sz="14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34</a:t>
            </a:fld>
            <a:endParaRPr lang="ko-KR" altLang="en-US" dirty="0">
              <a:latin typeface="Arial" pitchFamily="34" charset="0"/>
              <a:cs typeface="Arial" pitchFamily="34" charset="0"/>
            </a:endParaRPr>
          </a:p>
        </p:txBody>
      </p:sp>
      <p:sp>
        <p:nvSpPr>
          <p:cNvPr id="26" name="Rectangle 55"/>
          <p:cNvSpPr>
            <a:spLocks noChangeArrowheads="1"/>
          </p:cNvSpPr>
          <p:nvPr/>
        </p:nvSpPr>
        <p:spPr bwMode="auto">
          <a:xfrm>
            <a:off x="4051252" y="4534208"/>
            <a:ext cx="1064394" cy="343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err="1">
                <a:latin typeface="Arial" pitchFamily="34" charset="0"/>
                <a:ea typeface="맑은 고딕" pitchFamily="50" charset="-127"/>
                <a:cs typeface="Arial" pitchFamily="34" charset="0"/>
              </a:rPr>
              <a:t>Chọn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mẫu</a:t>
            </a:r>
            <a:endParaRPr lang="en-US" altLang="ko-KR" sz="1400" b="1" dirty="0">
              <a:latin typeface="Arial" pitchFamily="34" charset="0"/>
              <a:ea typeface="맑은 고딕" pitchFamily="50" charset="-127"/>
              <a:cs typeface="Arial" pitchFamily="34" charset="0"/>
            </a:endParaRPr>
          </a:p>
        </p:txBody>
      </p:sp>
      <p:sp>
        <p:nvSpPr>
          <p:cNvPr id="27" name="Rectangle 55"/>
          <p:cNvSpPr>
            <a:spLocks noChangeArrowheads="1"/>
          </p:cNvSpPr>
          <p:nvPr/>
        </p:nvSpPr>
        <p:spPr bwMode="auto">
          <a:xfrm>
            <a:off x="6126807" y="4534208"/>
            <a:ext cx="1017907" cy="343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err="1">
                <a:latin typeface="Arial" pitchFamily="34" charset="0"/>
                <a:ea typeface="맑은 고딕" pitchFamily="50" charset="-127"/>
                <a:cs typeface="Arial" pitchFamily="34" charset="0"/>
              </a:rPr>
              <a:t>Đo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lường</a:t>
            </a:r>
            <a:endParaRPr lang="en-US" altLang="ko-KR" sz="1400" b="1" dirty="0">
              <a:latin typeface="Arial" pitchFamily="34" charset="0"/>
              <a:ea typeface="맑은 고딕" pitchFamily="50" charset="-127"/>
              <a:cs typeface="Arial" pitchFamily="34" charset="0"/>
            </a:endParaRPr>
          </a:p>
        </p:txBody>
      </p:sp>
      <p:sp>
        <p:nvSpPr>
          <p:cNvPr id="28" name="Rectangle 55"/>
          <p:cNvSpPr>
            <a:spLocks noChangeArrowheads="1"/>
          </p:cNvSpPr>
          <p:nvPr/>
        </p:nvSpPr>
        <p:spPr bwMode="auto">
          <a:xfrm>
            <a:off x="7435852" y="5216833"/>
            <a:ext cx="990656" cy="342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err="1">
                <a:latin typeface="Arial" pitchFamily="34" charset="0"/>
                <a:ea typeface="맑은 고딕" pitchFamily="50" charset="-127"/>
                <a:cs typeface="Arial" pitchFamily="34" charset="0"/>
              </a:rPr>
              <a:t>Phân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endParaRPr lang="en-US" altLang="ko-KR" sz="1400" b="1" dirty="0">
              <a:latin typeface="Arial" pitchFamily="34" charset="0"/>
              <a:ea typeface="맑은 고딕" pitchFamily="50" charset="-127"/>
              <a:cs typeface="Arial" pitchFamily="34" charset="0"/>
            </a:endParaRPr>
          </a:p>
        </p:txBody>
      </p:sp>
      <p:sp>
        <p:nvSpPr>
          <p:cNvPr id="35"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4. </a:t>
            </a:r>
            <a:r>
              <a:rPr lang="en-US" altLang="ko-KR" b="1" dirty="0" err="1">
                <a:latin typeface="Arial" pitchFamily="34" charset="0"/>
                <a:ea typeface="맑은 고딕" pitchFamily="50" charset="-127"/>
                <a:cs typeface="Arial" pitchFamily="34" charset="0"/>
              </a:rPr>
              <a:t>Phương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pháp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thập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spTree>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4"/>
          <p:cNvSpPr>
            <a:spLocks noChangeArrowheads="1"/>
          </p:cNvSpPr>
          <p:nvPr/>
        </p:nvSpPr>
        <p:spPr bwMode="auto">
          <a:xfrm>
            <a:off x="881034" y="1285860"/>
            <a:ext cx="4575819" cy="3934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endParaRPr lang="ko-KR" altLang="en-US" sz="1200" dirty="0">
              <a:latin typeface="Arial" pitchFamily="34" charset="0"/>
              <a:ea typeface="맑은 고딕" pitchFamily="50" charset="-127"/>
              <a:cs typeface="Arial" pitchFamily="34" charset="0"/>
            </a:endParaRPr>
          </a:p>
          <a:p>
            <a:pPr eaLnBrk="1" hangingPunct="1">
              <a:lnSpc>
                <a:spcPct val="130000"/>
              </a:lnSpc>
            </a:pPr>
            <a:r>
              <a:rPr lang="ko-KR" altLang="en-US" sz="1200" dirty="0">
                <a:latin typeface="Arial" pitchFamily="34" charset="0"/>
                <a:ea typeface="맑은 고딕" pitchFamily="50" charset="-127"/>
                <a:cs typeface="Arial" pitchFamily="34" charset="0"/>
              </a:rPr>
              <a:t>  ① </a:t>
            </a:r>
            <a:r>
              <a:rPr lang="en-US" altLang="ko-KR" sz="1200" dirty="0" err="1">
                <a:latin typeface="Arial" pitchFamily="34" charset="0"/>
                <a:ea typeface="맑은 고딕" pitchFamily="50" charset="-127"/>
                <a:cs typeface="Arial" pitchFamily="34" charset="0"/>
              </a:rPr>
              <a:t>Chọn</a:t>
            </a:r>
            <a:r>
              <a:rPr lang="vi-VN" altLang="ko-KR" sz="1200" dirty="0">
                <a:latin typeface="Arial" pitchFamily="34" charset="0"/>
                <a:ea typeface="맑은 고딕" pitchFamily="50" charset="-127"/>
                <a:cs typeface="Arial" pitchFamily="34" charset="0"/>
              </a:rPr>
              <a:t> mẫu ngẫu nhiên đơn giản</a:t>
            </a:r>
            <a:br>
              <a:rPr lang="vi-VN" altLang="ko-KR" sz="1200" dirty="0">
                <a:latin typeface="Arial" pitchFamily="34" charset="0"/>
                <a:ea typeface="맑은 고딕" pitchFamily="50" charset="-127"/>
                <a:cs typeface="Arial" pitchFamily="34" charset="0"/>
              </a:rPr>
            </a:br>
            <a:r>
              <a:rPr lang="vi-VN" altLang="ko-KR" sz="1200" dirty="0">
                <a:latin typeface="Arial" pitchFamily="34" charset="0"/>
                <a:ea typeface="맑은 고딕" pitchFamily="50" charset="-127"/>
                <a:cs typeface="Arial" pitchFamily="34" charset="0"/>
              </a:rPr>
              <a:t>- Các</a:t>
            </a:r>
            <a:r>
              <a:rPr lang="en-US" altLang="ko-KR" sz="1200" dirty="0">
                <a:latin typeface="Arial" pitchFamily="34" charset="0"/>
                <a:ea typeface="맑은 고딕" pitchFamily="50" charset="-127"/>
                <a:cs typeface="Arial" pitchFamily="34" charset="0"/>
              </a:rPr>
              <a:t>h</a:t>
            </a:r>
            <a:r>
              <a:rPr lang="vi-VN" altLang="ko-KR" sz="1200" dirty="0">
                <a:latin typeface="Arial" pitchFamily="34" charset="0"/>
                <a:ea typeface="맑은 고딕" pitchFamily="50" charset="-127"/>
                <a:cs typeface="Arial" pitchFamily="34" charset="0"/>
              </a:rPr>
              <a:t> dễ nhất và đơn giản nhất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chọn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mẫu</a:t>
            </a:r>
            <a:r>
              <a:rPr lang="vi-VN" altLang="ko-KR" sz="1200" dirty="0">
                <a:latin typeface="Arial" pitchFamily="34" charset="0"/>
                <a:ea typeface="맑은 고딕" pitchFamily="50" charset="-127"/>
                <a:cs typeface="Arial" pitchFamily="34" charset="0"/>
              </a:rPr>
              <a:t>, trong đó các mẫu được lấy từ tổng thể theo điều kiện mà mỗi </a:t>
            </a:r>
            <a:r>
              <a:rPr lang="en-US" altLang="ko-KR" sz="1200" dirty="0" err="1">
                <a:latin typeface="Arial" pitchFamily="34" charset="0"/>
                <a:ea typeface="맑은 고딕" pitchFamily="50" charset="-127"/>
                <a:cs typeface="Arial" pitchFamily="34" charset="0"/>
              </a:rPr>
              <a:t>phần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tử</a:t>
            </a:r>
            <a:r>
              <a:rPr lang="vi-VN" altLang="ko-KR" sz="1200" dirty="0">
                <a:latin typeface="Arial" pitchFamily="34" charset="0"/>
                <a:ea typeface="맑은 고딕" pitchFamily="50" charset="-127"/>
                <a:cs typeface="Arial" pitchFamily="34" charset="0"/>
              </a:rPr>
              <a:t> có </a:t>
            </a:r>
            <a:r>
              <a:rPr lang="en-US" altLang="ko-KR" sz="1200" dirty="0" err="1">
                <a:latin typeface="Arial" pitchFamily="34" charset="0"/>
                <a:ea typeface="맑은 고딕" pitchFamily="50" charset="-127"/>
                <a:cs typeface="Arial" pitchFamily="34" charset="0"/>
              </a:rPr>
              <a:t>cơ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hội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xuất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hiện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ngang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nhau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trong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mẫu</a:t>
            </a:r>
            <a:br>
              <a:rPr lang="vi-VN" altLang="ko-KR" sz="1200" dirty="0">
                <a:latin typeface="Arial" pitchFamily="34" charset="0"/>
                <a:ea typeface="맑은 고딕" pitchFamily="50" charset="-127"/>
                <a:cs typeface="Arial" pitchFamily="34" charset="0"/>
              </a:rPr>
            </a:br>
            <a:r>
              <a:rPr lang="vi-VN"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thước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mẫu</a:t>
            </a:r>
            <a:r>
              <a:rPr lang="en-US" altLang="ko-KR" sz="1200" dirty="0">
                <a:latin typeface="Arial" pitchFamily="34" charset="0"/>
                <a:ea typeface="맑은 고딕" pitchFamily="50" charset="-127"/>
                <a:cs typeface="Arial" pitchFamily="34" charset="0"/>
              </a:rPr>
              <a:t> </a:t>
            </a:r>
            <a:r>
              <a:rPr lang="vi-VN" altLang="ko-KR" sz="1200" dirty="0">
                <a:latin typeface="Arial" pitchFamily="34" charset="0"/>
                <a:ea typeface="맑은 고딕" pitchFamily="50" charset="-127"/>
                <a:cs typeface="Arial" pitchFamily="34" charset="0"/>
              </a:rPr>
              <a:t>định trước được rút ra từ một lô.</a:t>
            </a:r>
            <a:br>
              <a:rPr lang="vi-VN" altLang="ko-KR" sz="1200" dirty="0">
                <a:latin typeface="Arial" pitchFamily="34" charset="0"/>
                <a:ea typeface="맑은 고딕" pitchFamily="50" charset="-127"/>
                <a:cs typeface="Arial" pitchFamily="34" charset="0"/>
              </a:rPr>
            </a:br>
            <a:r>
              <a:rPr lang="vi-VN" altLang="ko-KR" sz="1200" dirty="0">
                <a:latin typeface="Arial" pitchFamily="34" charset="0"/>
                <a:ea typeface="맑은 고딕" pitchFamily="50" charset="-127"/>
                <a:cs typeface="Arial" pitchFamily="34" charset="0"/>
              </a:rPr>
              <a:t>- Phương pháp này thường được sử dụng trong các tình huống mà thông tin về tổng thể là không có sẵn.</a:t>
            </a:r>
            <a:endParaRPr lang="en-US" altLang="ko-KR" sz="1200" dirty="0">
              <a:latin typeface="Arial" pitchFamily="34" charset="0"/>
              <a:ea typeface="맑은 고딕" pitchFamily="50" charset="-127"/>
              <a:cs typeface="Arial" pitchFamily="34" charset="0"/>
            </a:endParaRPr>
          </a:p>
          <a:p>
            <a:pPr eaLnBrk="1" hangingPunct="1">
              <a:lnSpc>
                <a:spcPct val="130000"/>
              </a:lnSpc>
            </a:pPr>
            <a:r>
              <a:rPr lang="en-US" altLang="ko-KR" sz="1200" dirty="0">
                <a:latin typeface="Arial" pitchFamily="34" charset="0"/>
                <a:ea typeface="맑은 고딕" pitchFamily="50" charset="-127"/>
                <a:cs typeface="Arial" pitchFamily="34" charset="0"/>
              </a:rPr>
              <a:t>  ②  </a:t>
            </a:r>
            <a:r>
              <a:rPr lang="en-US" altLang="ko-KR" sz="1200" dirty="0" err="1">
                <a:latin typeface="Arial" pitchFamily="34" charset="0"/>
                <a:ea typeface="맑은 고딕" pitchFamily="50" charset="-127"/>
                <a:cs typeface="Arial" pitchFamily="34" charset="0"/>
              </a:rPr>
              <a:t>Chọn</a:t>
            </a:r>
            <a:r>
              <a:rPr lang="vi-VN" altLang="ko-KR" sz="1200" dirty="0">
                <a:latin typeface="Arial" pitchFamily="34" charset="0"/>
                <a:ea typeface="맑은 고딕" pitchFamily="50" charset="-127"/>
                <a:cs typeface="Arial" pitchFamily="34" charset="0"/>
              </a:rPr>
              <a:t> mẫu ngẫu nhiên phân tầng</a:t>
            </a:r>
            <a:br>
              <a:rPr lang="vi-VN" altLang="ko-KR" sz="1200" dirty="0">
                <a:latin typeface="Arial" pitchFamily="34" charset="0"/>
                <a:ea typeface="맑은 고딕" pitchFamily="50" charset="-127"/>
                <a:cs typeface="Arial" pitchFamily="34" charset="0"/>
              </a:rPr>
            </a:br>
            <a:r>
              <a:rPr lang="vi-VN" altLang="ko-KR" sz="1200" dirty="0">
                <a:latin typeface="Arial" pitchFamily="34" charset="0"/>
                <a:ea typeface="맑은 고딕" pitchFamily="50" charset="-127"/>
                <a:cs typeface="Arial" pitchFamily="34" charset="0"/>
              </a:rPr>
              <a:t>- So với các mẫu ngẫu nhiên đơn giản, phương pháp này</a:t>
            </a:r>
            <a:br>
              <a:rPr lang="vi-VN" altLang="ko-KR" sz="1200" dirty="0">
                <a:latin typeface="Arial" pitchFamily="34" charset="0"/>
                <a:ea typeface="맑은 고딕" pitchFamily="50" charset="-127"/>
                <a:cs typeface="Arial" pitchFamily="34" charset="0"/>
              </a:rPr>
            </a:br>
            <a:r>
              <a:rPr lang="vi-VN" altLang="ko-KR" sz="1200" dirty="0">
                <a:latin typeface="Arial" pitchFamily="34" charset="0"/>
                <a:ea typeface="맑은 고딕" pitchFamily="50" charset="-127"/>
                <a:cs typeface="Arial" pitchFamily="34" charset="0"/>
              </a:rPr>
              <a:t>dựa trên thống kê.</a:t>
            </a:r>
            <a:br>
              <a:rPr lang="vi-VN" altLang="ko-KR" sz="1200" dirty="0">
                <a:latin typeface="Arial" pitchFamily="34" charset="0"/>
                <a:ea typeface="맑은 고딕" pitchFamily="50" charset="-127"/>
                <a:cs typeface="Arial" pitchFamily="34" charset="0"/>
              </a:rPr>
            </a:br>
            <a:r>
              <a:rPr lang="vi-VN" altLang="ko-KR" sz="1200" dirty="0">
                <a:latin typeface="Arial" pitchFamily="34" charset="0"/>
                <a:ea typeface="맑은 고딕" pitchFamily="50" charset="-127"/>
                <a:cs typeface="Arial" pitchFamily="34" charset="0"/>
              </a:rPr>
              <a:t>- </a:t>
            </a:r>
            <a:r>
              <a:rPr lang="en-US" altLang="ko-KR" sz="1200" dirty="0">
                <a:latin typeface="Arial" pitchFamily="34" charset="0"/>
                <a:ea typeface="맑은 고딕" pitchFamily="50" charset="-127"/>
                <a:cs typeface="Arial" pitchFamily="34" charset="0"/>
              </a:rPr>
              <a:t>T</a:t>
            </a:r>
            <a:r>
              <a:rPr lang="vi-VN" altLang="ko-KR" sz="1200" dirty="0">
                <a:latin typeface="Arial" pitchFamily="34" charset="0"/>
                <a:ea typeface="맑은 고딕" pitchFamily="50" charset="-127"/>
                <a:cs typeface="Arial" pitchFamily="34" charset="0"/>
              </a:rPr>
              <a:t>ổng thể được chia thành các nhóm với các đặc tính tương tự (điều này được gọi là sự phân tầng) và lấy mẫu ngẫu nhiên đơn giản được sử dụng khi </a:t>
            </a:r>
            <a:r>
              <a:rPr lang="en-US" altLang="ko-KR" sz="1200" dirty="0" err="1">
                <a:latin typeface="Arial" pitchFamily="34" charset="0"/>
                <a:ea typeface="맑은 고딕" pitchFamily="50" charset="-127"/>
                <a:cs typeface="Arial" pitchFamily="34" charset="0"/>
              </a:rPr>
              <a:t>lấy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mẫu</a:t>
            </a:r>
            <a:r>
              <a:rPr lang="vi-VN" altLang="ko-KR" sz="1200" dirty="0">
                <a:latin typeface="Arial" pitchFamily="34" charset="0"/>
                <a:ea typeface="맑은 고딕" pitchFamily="50" charset="-127"/>
                <a:cs typeface="Arial" pitchFamily="34" charset="0"/>
              </a:rPr>
              <a:t> từ mỗi nhóm.</a:t>
            </a:r>
            <a:br>
              <a:rPr lang="vi-VN" altLang="ko-KR" sz="1200" dirty="0">
                <a:latin typeface="Arial" pitchFamily="34" charset="0"/>
                <a:ea typeface="맑은 고딕" pitchFamily="50" charset="-127"/>
                <a:cs typeface="Arial" pitchFamily="34" charset="0"/>
              </a:rPr>
            </a:br>
            <a:r>
              <a:rPr lang="vi-VN" altLang="ko-KR" sz="1200" dirty="0">
                <a:latin typeface="Arial" pitchFamily="34" charset="0"/>
                <a:ea typeface="맑은 고딕" pitchFamily="50" charset="-127"/>
                <a:cs typeface="Arial" pitchFamily="34" charset="0"/>
              </a:rPr>
              <a:t>Ưu điểm của phương pháp này là các nhóm nhỏ có thể được biểu diễn cũng như các nhóm lớn.</a:t>
            </a:r>
            <a:endParaRPr lang="en-US" altLang="ko-KR" sz="1200" dirty="0">
              <a:latin typeface="Arial" pitchFamily="34" charset="0"/>
              <a:ea typeface="맑은 고딕" pitchFamily="50" charset="-127"/>
              <a:cs typeface="Arial" pitchFamily="34" charset="0"/>
            </a:endParaRPr>
          </a:p>
        </p:txBody>
      </p:sp>
      <p:sp>
        <p:nvSpPr>
          <p:cNvPr id="31750" name="Text Box 3"/>
          <p:cNvSpPr txBox="1">
            <a:spLocks noChangeArrowheads="1"/>
          </p:cNvSpPr>
          <p:nvPr/>
        </p:nvSpPr>
        <p:spPr bwMode="auto">
          <a:xfrm>
            <a:off x="611188" y="1052513"/>
            <a:ext cx="31531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Blip>
                <a:blip r:embed="rId3"/>
              </a:buBlip>
            </a:pPr>
            <a:r>
              <a:rPr lang="en-US" altLang="ko-KR" b="1" dirty="0" err="1">
                <a:latin typeface="Arial" pitchFamily="34" charset="0"/>
                <a:ea typeface="맑은 고딕" pitchFamily="50" charset="-127"/>
                <a:cs typeface="Arial" pitchFamily="34" charset="0"/>
              </a:rPr>
              <a:t>Chọn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mẫu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theo</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xác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suất</a:t>
            </a:r>
            <a:endParaRPr lang="en-US" altLang="ko-KR"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35</a:t>
            </a:fld>
            <a:endParaRPr lang="ko-KR" altLang="en-US" dirty="0">
              <a:latin typeface="Arial" pitchFamily="34" charset="0"/>
              <a:cs typeface="Arial" pitchFamily="34" charset="0"/>
            </a:endParaRPr>
          </a:p>
        </p:txBody>
      </p:sp>
      <p:sp>
        <p:nvSpPr>
          <p:cNvPr id="8"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4. </a:t>
            </a:r>
            <a:r>
              <a:rPr lang="en-US" altLang="ko-KR" b="1" dirty="0" err="1">
                <a:latin typeface="Arial" pitchFamily="34" charset="0"/>
                <a:ea typeface="맑은 고딕" pitchFamily="50" charset="-127"/>
                <a:cs typeface="Arial" pitchFamily="34" charset="0"/>
              </a:rPr>
              <a:t>Phương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pháp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thập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pic>
        <p:nvPicPr>
          <p:cNvPr id="3" name="Picture 2"/>
          <p:cNvPicPr>
            <a:picLocks noChangeAspect="1"/>
          </p:cNvPicPr>
          <p:nvPr/>
        </p:nvPicPr>
        <p:blipFill>
          <a:blip r:embed="rId4"/>
          <a:stretch>
            <a:fillRect/>
          </a:stretch>
        </p:blipFill>
        <p:spPr>
          <a:xfrm>
            <a:off x="5462533" y="1628800"/>
            <a:ext cx="4185006" cy="1333500"/>
          </a:xfrm>
          <a:prstGeom prst="rect">
            <a:avLst/>
          </a:prstGeom>
        </p:spPr>
      </p:pic>
      <p:pic>
        <p:nvPicPr>
          <p:cNvPr id="4" name="Picture 3"/>
          <p:cNvPicPr>
            <a:picLocks noChangeAspect="1"/>
          </p:cNvPicPr>
          <p:nvPr/>
        </p:nvPicPr>
        <p:blipFill>
          <a:blip r:embed="rId5"/>
          <a:stretch>
            <a:fillRect/>
          </a:stretch>
        </p:blipFill>
        <p:spPr>
          <a:xfrm>
            <a:off x="5456852" y="3861048"/>
            <a:ext cx="4190687" cy="1247775"/>
          </a:xfrm>
          <a:prstGeom prst="rect">
            <a:avLst/>
          </a:prstGeom>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ChangeArrowheads="1"/>
          </p:cNvSpPr>
          <p:nvPr/>
        </p:nvSpPr>
        <p:spPr bwMode="auto">
          <a:xfrm>
            <a:off x="309530" y="857232"/>
            <a:ext cx="4931502" cy="4714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100" dirty="0">
                <a:latin typeface="Arial" pitchFamily="34" charset="0"/>
                <a:ea typeface="맑은 고딕" pitchFamily="50" charset="-127"/>
                <a:cs typeface="Arial" pitchFamily="34" charset="0"/>
              </a:rPr>
              <a:t>  ③ </a:t>
            </a:r>
            <a:r>
              <a:rPr lang="en-US" altLang="ko-KR" sz="1100" dirty="0" err="1">
                <a:latin typeface="Arial" pitchFamily="34" charset="0"/>
                <a:ea typeface="맑은 고딕" pitchFamily="50" charset="-127"/>
                <a:cs typeface="Arial" pitchFamily="34" charset="0"/>
              </a:rPr>
              <a:t>Chọn</a:t>
            </a:r>
            <a:r>
              <a:rPr lang="vi-VN" altLang="ko-KR" sz="1100" dirty="0">
                <a:latin typeface="Arial" pitchFamily="34" charset="0"/>
                <a:ea typeface="맑은 고딕" pitchFamily="50" charset="-127"/>
                <a:cs typeface="Arial" pitchFamily="34" charset="0"/>
              </a:rPr>
              <a:t> mẫu ngẫu nhiên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có</a:t>
            </a:r>
            <a:r>
              <a:rPr lang="vi-VN" altLang="ko-KR" sz="1100" dirty="0">
                <a:latin typeface="Arial" pitchFamily="34" charset="0"/>
                <a:ea typeface="맑은 고딕" pitchFamily="50" charset="-127"/>
                <a:cs typeface="Arial" pitchFamily="34" charset="0"/>
              </a:rPr>
              <a:t> hệ thống</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 Đơn giản nhưng chính xác hơn </a:t>
            </a:r>
            <a:r>
              <a:rPr lang="en-US" altLang="ko-KR" sz="1100" dirty="0" err="1">
                <a:latin typeface="Arial" pitchFamily="34" charset="0"/>
                <a:ea typeface="맑은 고딕" pitchFamily="50" charset="-127"/>
                <a:cs typeface="Arial" pitchFamily="34" charset="0"/>
              </a:rPr>
              <a:t>chọn</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mẫu ngẫu nhiên đơn giản.</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 Phương pháp này có thể được áp dụng trong những trường hợp mà hành vi tổng thể</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cũng</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như </a:t>
            </a:r>
            <a:r>
              <a:rPr lang="en-US" altLang="ko-KR" sz="1100" dirty="0" err="1">
                <a:latin typeface="Arial" pitchFamily="34" charset="0"/>
                <a:ea typeface="맑은 고딕" pitchFamily="50" charset="-127"/>
                <a:cs typeface="Arial" pitchFamily="34" charset="0"/>
              </a:rPr>
              <a:t>dòng</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chảy</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thời gian phải </a:t>
            </a:r>
            <a:r>
              <a:rPr lang="en-US" altLang="ko-KR" sz="1100" dirty="0" err="1">
                <a:latin typeface="Arial" pitchFamily="34" charset="0"/>
                <a:ea typeface="맑은 고딕" pitchFamily="50" charset="-127"/>
                <a:cs typeface="Arial" pitchFamily="34" charset="0"/>
              </a:rPr>
              <a:t>được</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kiểm tra - một </a:t>
            </a:r>
            <a:r>
              <a:rPr lang="en-US" altLang="ko-KR" sz="1100" dirty="0" err="1">
                <a:latin typeface="Arial" pitchFamily="34" charset="0"/>
                <a:ea typeface="맑은 고딕" pitchFamily="50" charset="-127"/>
                <a:cs typeface="Arial" pitchFamily="34" charset="0"/>
              </a:rPr>
              <a:t>phần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tử</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cụ</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thể</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được lấy mẫu sau mỗi khoảng thời gian bằng nhau.</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 Chia tổng tổng thể (N) </a:t>
            </a:r>
            <a:r>
              <a:rPr lang="en-US" altLang="ko-KR" sz="1100" dirty="0" err="1">
                <a:latin typeface="Arial" pitchFamily="34" charset="0"/>
                <a:ea typeface="맑은 고딕" pitchFamily="50" charset="-127"/>
                <a:cs typeface="Arial" pitchFamily="34" charset="0"/>
              </a:rPr>
              <a:t>cho</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số mẫu (n) mong muốn để đi đến khoảng cách mẫu N / n.</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Sau đó, tạo ra một số ngẫu nhiên (i) giữa 1 và N / n.</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Sau đó lấy</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phần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tử</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thứ</a:t>
            </a:r>
            <a:r>
              <a:rPr lang="vi-VN" altLang="ko-KR" sz="1100" dirty="0">
                <a:latin typeface="Arial" pitchFamily="34" charset="0"/>
                <a:ea typeface="맑은 고딕" pitchFamily="50" charset="-127"/>
                <a:cs typeface="Arial" pitchFamily="34" charset="0"/>
              </a:rPr>
              <a:t> (i) từ tổng thể như mẫu.</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 Hữu ích cho tình huống mà </a:t>
            </a:r>
            <a:r>
              <a:rPr lang="en-US" altLang="ko-KR" sz="1100" dirty="0" err="1">
                <a:latin typeface="Arial" pitchFamily="34" charset="0"/>
                <a:ea typeface="맑은 고딕" pitchFamily="50" charset="-127"/>
                <a:cs typeface="Arial" pitchFamily="34" charset="0"/>
              </a:rPr>
              <a:t>tổng</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thể</a:t>
            </a:r>
            <a:r>
              <a:rPr lang="vi-VN" altLang="ko-KR" sz="1100" dirty="0">
                <a:latin typeface="Arial" pitchFamily="34" charset="0"/>
                <a:ea typeface="맑은 고딕" pitchFamily="50" charset="-127"/>
                <a:cs typeface="Arial" pitchFamily="34" charset="0"/>
              </a:rPr>
              <a:t> được bố trí ngẫu nhiên.</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 </a:t>
            </a:r>
            <a:r>
              <a:rPr lang="en-US" altLang="ko-KR" sz="1100" dirty="0">
                <a:latin typeface="Arial" pitchFamily="34" charset="0"/>
                <a:ea typeface="맑은 고딕" pitchFamily="50" charset="-127"/>
                <a:cs typeface="Arial" pitchFamily="34" charset="0"/>
              </a:rPr>
              <a:t>VD:</a:t>
            </a:r>
            <a:r>
              <a:rPr lang="vi-VN" altLang="ko-KR" sz="1100" dirty="0">
                <a:latin typeface="Arial" pitchFamily="34" charset="0"/>
                <a:ea typeface="맑은 고딕" pitchFamily="50" charset="-127"/>
                <a:cs typeface="Arial" pitchFamily="34" charset="0"/>
              </a:rPr>
              <a:t> Khi khoảng </a:t>
            </a:r>
            <a:r>
              <a:rPr lang="en-US" altLang="ko-KR" sz="1100" dirty="0" err="1">
                <a:latin typeface="Arial" pitchFamily="34" charset="0"/>
                <a:ea typeface="맑은 고딕" pitchFamily="50" charset="-127"/>
                <a:cs typeface="Arial" pitchFamily="34" charset="0"/>
              </a:rPr>
              <a:t>mẫu</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là 5 và </a:t>
            </a:r>
            <a:r>
              <a:rPr lang="en-US" altLang="ko-KR" sz="1100" dirty="0" err="1">
                <a:latin typeface="Arial" pitchFamily="34" charset="0"/>
                <a:ea typeface="맑은 고딕" pitchFamily="50" charset="-127"/>
                <a:cs typeface="Arial" pitchFamily="34" charset="0"/>
              </a:rPr>
              <a:t>phần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tử</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thứ</a:t>
            </a:r>
            <a:r>
              <a:rPr lang="en-US" altLang="ko-KR" sz="1100" dirty="0">
                <a:latin typeface="Arial" pitchFamily="34" charset="0"/>
                <a:ea typeface="맑은 고딕" pitchFamily="50" charset="-127"/>
                <a:cs typeface="Arial" pitchFamily="34" charset="0"/>
              </a:rPr>
              <a:t> 2 </a:t>
            </a:r>
            <a:r>
              <a:rPr lang="en-US" altLang="ko-KR" sz="1100" dirty="0" err="1">
                <a:latin typeface="Arial" pitchFamily="34" charset="0"/>
                <a:ea typeface="맑은 고딕" pitchFamily="50" charset="-127"/>
                <a:cs typeface="Arial" pitchFamily="34" charset="0"/>
              </a:rPr>
              <a:t>của</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mỗi</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khoảng</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được</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chọn</a:t>
            </a:r>
            <a:r>
              <a:rPr lang="vi-VN" altLang="ko-KR" sz="1100" dirty="0">
                <a:latin typeface="Arial" pitchFamily="34" charset="0"/>
                <a:ea typeface="맑은 고딕" pitchFamily="50" charset="-127"/>
                <a:cs typeface="Arial" pitchFamily="34" charset="0"/>
              </a:rPr>
              <a:t>.</a:t>
            </a:r>
            <a:endParaRPr lang="ko-KR" altLang="en-US" sz="1100" dirty="0">
              <a:latin typeface="Arial" pitchFamily="34" charset="0"/>
              <a:ea typeface="맑은 고딕" pitchFamily="50" charset="-127"/>
              <a:cs typeface="Arial" pitchFamily="34" charset="0"/>
            </a:endParaRPr>
          </a:p>
          <a:p>
            <a:pPr eaLnBrk="1" hangingPunct="1">
              <a:lnSpc>
                <a:spcPct val="130000"/>
              </a:lnSpc>
            </a:pPr>
            <a:endParaRPr lang="ko-KR" altLang="en-US" sz="1100" dirty="0">
              <a:latin typeface="Arial" pitchFamily="34" charset="0"/>
              <a:ea typeface="맑은 고딕" pitchFamily="50" charset="-127"/>
              <a:cs typeface="Arial" pitchFamily="34" charset="0"/>
            </a:endParaRPr>
          </a:p>
          <a:p>
            <a:pPr eaLnBrk="1" hangingPunct="1">
              <a:lnSpc>
                <a:spcPct val="130000"/>
              </a:lnSpc>
            </a:pPr>
            <a:endParaRPr lang="en-US" altLang="ko-KR" sz="1100" dirty="0">
              <a:latin typeface="Arial" pitchFamily="34" charset="0"/>
              <a:ea typeface="맑은 고딕" pitchFamily="50" charset="-127"/>
              <a:cs typeface="Arial" pitchFamily="34" charset="0"/>
            </a:endParaRPr>
          </a:p>
          <a:p>
            <a:pPr eaLnBrk="1" hangingPunct="1">
              <a:lnSpc>
                <a:spcPct val="130000"/>
              </a:lnSpc>
            </a:pPr>
            <a:endParaRPr lang="en-US" altLang="ko-KR" sz="1100" dirty="0">
              <a:latin typeface="Arial" pitchFamily="34" charset="0"/>
              <a:ea typeface="맑은 고딕" pitchFamily="50" charset="-127"/>
              <a:cs typeface="Arial" pitchFamily="34" charset="0"/>
            </a:endParaRPr>
          </a:p>
          <a:p>
            <a:pPr eaLnBrk="1" hangingPunct="1">
              <a:lnSpc>
                <a:spcPct val="130000"/>
              </a:lnSpc>
            </a:pPr>
            <a:endParaRPr lang="en-US" altLang="ko-KR" sz="1100" dirty="0">
              <a:latin typeface="Arial" pitchFamily="34" charset="0"/>
              <a:ea typeface="맑은 고딕" pitchFamily="50" charset="-127"/>
              <a:cs typeface="Arial" pitchFamily="34" charset="0"/>
            </a:endParaRPr>
          </a:p>
          <a:p>
            <a:pPr eaLnBrk="1" hangingPunct="1">
              <a:lnSpc>
                <a:spcPct val="130000"/>
              </a:lnSpc>
            </a:pPr>
            <a:endParaRPr lang="ko-KR" altLang="en-US" sz="1100" dirty="0">
              <a:latin typeface="Arial" pitchFamily="34" charset="0"/>
              <a:ea typeface="맑은 고딕" pitchFamily="50" charset="-127"/>
              <a:cs typeface="Arial" pitchFamily="34" charset="0"/>
            </a:endParaRPr>
          </a:p>
          <a:p>
            <a:pPr eaLnBrk="1" hangingPunct="1">
              <a:lnSpc>
                <a:spcPct val="130000"/>
              </a:lnSpc>
            </a:pPr>
            <a:r>
              <a:rPr lang="ko-KR" altLang="en-US" sz="1100" dirty="0">
                <a:latin typeface="Arial" pitchFamily="34" charset="0"/>
                <a:ea typeface="맑은 고딕" pitchFamily="50" charset="-127"/>
                <a:cs typeface="Arial" pitchFamily="34" charset="0"/>
              </a:rPr>
              <a:t>  ④ </a:t>
            </a:r>
            <a:r>
              <a:rPr lang="en-US" altLang="ko-KR" sz="1100" dirty="0" err="1">
                <a:latin typeface="Arial" pitchFamily="34" charset="0"/>
                <a:ea typeface="맑은 고딕" pitchFamily="50" charset="-127"/>
                <a:cs typeface="Arial" pitchFamily="34" charset="0"/>
              </a:rPr>
              <a:t>Chọn</a:t>
            </a:r>
            <a:r>
              <a:rPr lang="vi-VN" altLang="ko-KR" sz="1100" dirty="0">
                <a:latin typeface="Arial" pitchFamily="34" charset="0"/>
                <a:ea typeface="맑은 고딕" pitchFamily="50" charset="-127"/>
                <a:cs typeface="Arial" pitchFamily="34" charset="0"/>
              </a:rPr>
              <a:t> mẫu ngẫu nhiên </a:t>
            </a:r>
            <a:r>
              <a:rPr lang="en-US" altLang="ko-KR" sz="1100" dirty="0" err="1">
                <a:latin typeface="Arial" pitchFamily="34" charset="0"/>
                <a:ea typeface="맑은 고딕" pitchFamily="50" charset="-127"/>
                <a:cs typeface="Arial" pitchFamily="34" charset="0"/>
              </a:rPr>
              <a:t>theo</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nhóm</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 Phương pháp này được sử dụng khi các mẫu trực tiếp phải được lấy từ một</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phạm</a:t>
            </a:r>
            <a:r>
              <a:rPr lang="en-US" altLang="ko-KR" sz="1100" dirty="0">
                <a:latin typeface="Arial" pitchFamily="34" charset="0"/>
                <a:ea typeface="맑은 고딕" pitchFamily="50" charset="-127"/>
                <a:cs typeface="Arial" pitchFamily="34" charset="0"/>
              </a:rPr>
              <a:t> vi</a:t>
            </a:r>
            <a:r>
              <a:rPr lang="vi-VN" altLang="ko-KR" sz="1100" dirty="0">
                <a:latin typeface="Arial" pitchFamily="34" charset="0"/>
                <a:ea typeface="맑은 고딕" pitchFamily="50" charset="-127"/>
                <a:cs typeface="Arial" pitchFamily="34" charset="0"/>
              </a:rPr>
              <a:t> rất rộng.</a:t>
            </a:r>
            <a:br>
              <a:rPr lang="vi-VN" altLang="ko-KR" sz="1100" dirty="0">
                <a:latin typeface="Arial" pitchFamily="34" charset="0"/>
                <a:ea typeface="맑은 고딕" pitchFamily="50" charset="-127"/>
                <a:cs typeface="Arial" pitchFamily="34" charset="0"/>
              </a:rPr>
            </a:br>
            <a:r>
              <a:rPr lang="vi-VN" altLang="ko-KR" sz="1100" dirty="0">
                <a:latin typeface="Arial" pitchFamily="34" charset="0"/>
                <a:ea typeface="맑은 고딕" pitchFamily="50" charset="-127"/>
                <a:cs typeface="Arial" pitchFamily="34" charset="0"/>
              </a:rPr>
              <a:t>       - </a:t>
            </a:r>
            <a:r>
              <a:rPr lang="en-US" altLang="ko-KR" sz="1100" dirty="0">
                <a:latin typeface="Arial" pitchFamily="34" charset="0"/>
                <a:ea typeface="맑은 고딕" pitchFamily="50" charset="-127"/>
                <a:cs typeface="Arial" pitchFamily="34" charset="0"/>
              </a:rPr>
              <a:t>T</a:t>
            </a:r>
            <a:r>
              <a:rPr lang="vi-VN" altLang="ko-KR" sz="1100" dirty="0">
                <a:latin typeface="Arial" pitchFamily="34" charset="0"/>
                <a:ea typeface="맑은 고딕" pitchFamily="50" charset="-127"/>
                <a:cs typeface="Arial" pitchFamily="34" charset="0"/>
              </a:rPr>
              <a:t>ổng thể được chia thành các </a:t>
            </a:r>
            <a:r>
              <a:rPr lang="en-US" altLang="ko-KR" sz="1100" dirty="0" err="1">
                <a:latin typeface="Arial" pitchFamily="34" charset="0"/>
                <a:ea typeface="맑은 고딕" pitchFamily="50" charset="-127"/>
                <a:cs typeface="Arial" pitchFamily="34" charset="0"/>
              </a:rPr>
              <a:t>nhóm</a:t>
            </a:r>
            <a:r>
              <a:rPr lang="en-US" altLang="ko-KR" sz="1100" dirty="0">
                <a:latin typeface="Arial" pitchFamily="34" charset="0"/>
                <a:ea typeface="맑은 고딕" pitchFamily="50" charset="-127"/>
                <a:cs typeface="Arial" pitchFamily="34" charset="0"/>
              </a:rPr>
              <a:t> </a:t>
            </a:r>
            <a:r>
              <a:rPr lang="vi-VN" altLang="ko-KR" sz="1100" dirty="0">
                <a:latin typeface="Arial" pitchFamily="34" charset="0"/>
                <a:ea typeface="맑은 고딕" pitchFamily="50" charset="-127"/>
                <a:cs typeface="Arial" pitchFamily="34" charset="0"/>
              </a:rPr>
              <a:t>và </a:t>
            </a:r>
            <a:r>
              <a:rPr lang="en-US" altLang="ko-KR" sz="1100" dirty="0" err="1">
                <a:latin typeface="Arial" pitchFamily="34" charset="0"/>
                <a:ea typeface="맑은 고딕" pitchFamily="50" charset="-127"/>
                <a:cs typeface="Arial" pitchFamily="34" charset="0"/>
              </a:rPr>
              <a:t>với</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mỗi</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nhóm</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nơi</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mà</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mẫu</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sẽ</a:t>
            </a:r>
            <a:r>
              <a:rPr lang="vi-VN" altLang="ko-KR" sz="1100" dirty="0">
                <a:latin typeface="Arial" pitchFamily="34" charset="0"/>
                <a:ea typeface="맑은 고딕" pitchFamily="50" charset="-127"/>
                <a:cs typeface="Arial" pitchFamily="34" charset="0"/>
              </a:rPr>
              <a:t> được xác định thông qua </a:t>
            </a:r>
            <a:r>
              <a:rPr lang="en-US" altLang="ko-KR" sz="1100" dirty="0" err="1">
                <a:latin typeface="Arial" pitchFamily="34" charset="0"/>
                <a:ea typeface="맑은 고딕" pitchFamily="50" charset="-127"/>
                <a:cs typeface="Arial" pitchFamily="34" charset="0"/>
              </a:rPr>
              <a:t>chọn</a:t>
            </a:r>
            <a:r>
              <a:rPr lang="vi-VN" altLang="ko-KR" sz="1100" dirty="0">
                <a:latin typeface="Arial" pitchFamily="34" charset="0"/>
                <a:ea typeface="맑은 고딕" pitchFamily="50" charset="-127"/>
                <a:cs typeface="Arial" pitchFamily="34" charset="0"/>
              </a:rPr>
              <a:t> mẫu ngẫu nhiên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đơn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giản</a:t>
            </a:r>
            <a:r>
              <a:rPr lang="vi-VN" altLang="ko-KR" sz="1100" dirty="0">
                <a:latin typeface="Arial" pitchFamily="34" charset="0"/>
                <a:ea typeface="맑은 고딕" pitchFamily="50" charset="-127"/>
                <a:cs typeface="Arial" pitchFamily="34" charset="0"/>
              </a:rPr>
              <a:t>.</a:t>
            </a:r>
            <a:endParaRPr lang="en-US" altLang="ko-KR" sz="1100" dirty="0">
              <a:latin typeface="Arial" pitchFamily="34" charset="0"/>
              <a:ea typeface="맑은 고딕" pitchFamily="50" charset="-127"/>
              <a:cs typeface="Arial" pitchFamily="34" charset="0"/>
            </a:endParaRPr>
          </a:p>
        </p:txBody>
      </p:sp>
      <p:grpSp>
        <p:nvGrpSpPr>
          <p:cNvPr id="32773" name="Group 5"/>
          <p:cNvGrpSpPr>
            <a:grpSpLocks/>
          </p:cNvGrpSpPr>
          <p:nvPr/>
        </p:nvGrpSpPr>
        <p:grpSpPr bwMode="auto">
          <a:xfrm>
            <a:off x="1403350" y="3356992"/>
            <a:ext cx="5205413" cy="730250"/>
            <a:chOff x="793" y="3067"/>
            <a:chExt cx="3279" cy="460"/>
          </a:xfrm>
        </p:grpSpPr>
        <p:sp>
          <p:nvSpPr>
            <p:cNvPr id="32775" name="Text Box 6"/>
            <p:cNvSpPr txBox="1">
              <a:spLocks noChangeArrowheads="1"/>
            </p:cNvSpPr>
            <p:nvPr/>
          </p:nvSpPr>
          <p:spPr bwMode="auto">
            <a:xfrm>
              <a:off x="793" y="3067"/>
              <a:ext cx="3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a:t>
              </a:r>
            </a:p>
          </p:txBody>
        </p:sp>
        <p:sp>
          <p:nvSpPr>
            <p:cNvPr id="32776" name="AutoShape 7"/>
            <p:cNvSpPr>
              <a:spLocks/>
            </p:cNvSpPr>
            <p:nvPr/>
          </p:nvSpPr>
          <p:spPr bwMode="auto">
            <a:xfrm rot="-5400000">
              <a:off x="1428" y="3022"/>
              <a:ext cx="45" cy="590"/>
            </a:xfrm>
            <a:prstGeom prst="leftBracket">
              <a:avLst>
                <a:gd name="adj" fmla="val 108349"/>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32777" name="AutoShape 8"/>
            <p:cNvSpPr>
              <a:spLocks/>
            </p:cNvSpPr>
            <p:nvPr/>
          </p:nvSpPr>
          <p:spPr bwMode="auto">
            <a:xfrm rot="-5400000">
              <a:off x="2154" y="3022"/>
              <a:ext cx="45" cy="590"/>
            </a:xfrm>
            <a:prstGeom prst="leftBracket">
              <a:avLst>
                <a:gd name="adj" fmla="val 108349"/>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32778" name="AutoShape 9"/>
            <p:cNvSpPr>
              <a:spLocks/>
            </p:cNvSpPr>
            <p:nvPr/>
          </p:nvSpPr>
          <p:spPr bwMode="auto">
            <a:xfrm rot="-5400000">
              <a:off x="2834" y="3022"/>
              <a:ext cx="45" cy="590"/>
            </a:xfrm>
            <a:prstGeom prst="leftBracket">
              <a:avLst>
                <a:gd name="adj" fmla="val 108349"/>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32779" name="Text Box 10"/>
            <p:cNvSpPr txBox="1">
              <a:spLocks noChangeArrowheads="1"/>
            </p:cNvSpPr>
            <p:nvPr/>
          </p:nvSpPr>
          <p:spPr bwMode="auto">
            <a:xfrm>
              <a:off x="1383" y="3294"/>
              <a:ext cx="20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5</a:t>
              </a:r>
            </a:p>
          </p:txBody>
        </p:sp>
        <p:sp>
          <p:nvSpPr>
            <p:cNvPr id="32780" name="Text Box 11"/>
            <p:cNvSpPr txBox="1">
              <a:spLocks noChangeArrowheads="1"/>
            </p:cNvSpPr>
            <p:nvPr/>
          </p:nvSpPr>
          <p:spPr bwMode="auto">
            <a:xfrm>
              <a:off x="2064" y="3294"/>
              <a:ext cx="20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5</a:t>
              </a:r>
            </a:p>
          </p:txBody>
        </p:sp>
        <p:sp>
          <p:nvSpPr>
            <p:cNvPr id="32781" name="Text Box 12"/>
            <p:cNvSpPr txBox="1">
              <a:spLocks noChangeArrowheads="1"/>
            </p:cNvSpPr>
            <p:nvPr/>
          </p:nvSpPr>
          <p:spPr bwMode="auto">
            <a:xfrm>
              <a:off x="2744" y="3294"/>
              <a:ext cx="20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5</a:t>
              </a:r>
            </a:p>
          </p:txBody>
        </p:sp>
      </p:gr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36</a:t>
            </a:fld>
            <a:endParaRPr lang="ko-KR" altLang="en-US" dirty="0">
              <a:latin typeface="Arial" pitchFamily="34" charset="0"/>
              <a:cs typeface="Arial" pitchFamily="34" charset="0"/>
            </a:endParaRPr>
          </a:p>
        </p:txBody>
      </p:sp>
      <p:sp>
        <p:nvSpPr>
          <p:cNvPr id="15"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4. </a:t>
            </a:r>
            <a:r>
              <a:rPr lang="en-US" altLang="ko-KR" b="1" dirty="0" err="1">
                <a:latin typeface="Arial" pitchFamily="34" charset="0"/>
                <a:ea typeface="맑은 고딕" pitchFamily="50" charset="-127"/>
                <a:cs typeface="Arial" pitchFamily="34" charset="0"/>
              </a:rPr>
              <a:t>Phương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pháp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thập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pic>
        <p:nvPicPr>
          <p:cNvPr id="3" name="Picture 2"/>
          <p:cNvPicPr>
            <a:picLocks noChangeAspect="1"/>
          </p:cNvPicPr>
          <p:nvPr/>
        </p:nvPicPr>
        <p:blipFill>
          <a:blip r:embed="rId3"/>
          <a:stretch>
            <a:fillRect/>
          </a:stretch>
        </p:blipFill>
        <p:spPr>
          <a:xfrm>
            <a:off x="5241032" y="4591966"/>
            <a:ext cx="4419600" cy="1266825"/>
          </a:xfrm>
          <a:prstGeom prst="rect">
            <a:avLst/>
          </a:prstGeom>
        </p:spPr>
      </p:pic>
      <p:pic>
        <p:nvPicPr>
          <p:cNvPr id="4" name="Picture 3"/>
          <p:cNvPicPr>
            <a:picLocks noChangeAspect="1"/>
          </p:cNvPicPr>
          <p:nvPr/>
        </p:nvPicPr>
        <p:blipFill>
          <a:blip r:embed="rId4"/>
          <a:stretch>
            <a:fillRect/>
          </a:stretch>
        </p:blipFill>
        <p:spPr>
          <a:xfrm>
            <a:off x="5317232" y="1724299"/>
            <a:ext cx="4267200" cy="1200150"/>
          </a:xfrm>
          <a:prstGeom prst="rect">
            <a:avLst/>
          </a:prstGeom>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ChangeArrowheads="1"/>
          </p:cNvSpPr>
          <p:nvPr/>
        </p:nvSpPr>
        <p:spPr bwMode="auto">
          <a:xfrm>
            <a:off x="488504" y="1052513"/>
            <a:ext cx="9036528" cy="205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dirty="0">
                <a:latin typeface="Arial" pitchFamily="34" charset="0"/>
                <a:ea typeface="맑은 고딕" pitchFamily="50" charset="-127"/>
                <a:cs typeface="Arial" pitchFamily="34" charset="0"/>
              </a:rPr>
              <a:t>  ⑤ </a:t>
            </a:r>
            <a:r>
              <a:rPr lang="en-US" sz="1400" dirty="0" err="1">
                <a:latin typeface="Arial" pitchFamily="34" charset="0"/>
                <a:cs typeface="Arial" pitchFamily="34" charset="0"/>
              </a:rPr>
              <a:t>Chọn</a:t>
            </a:r>
            <a:r>
              <a:rPr lang="vi-VN" sz="1400" dirty="0">
                <a:latin typeface="Arial" pitchFamily="34" charset="0"/>
                <a:cs typeface="Arial" pitchFamily="34" charset="0"/>
              </a:rPr>
              <a:t> mẫu </a:t>
            </a:r>
            <a:r>
              <a:rPr lang="en-US" sz="1400" dirty="0" err="1">
                <a:latin typeface="Arial" pitchFamily="34" charset="0"/>
                <a:cs typeface="Arial" pitchFamily="34" charset="0"/>
              </a:rPr>
              <a:t>đa</a:t>
            </a:r>
            <a:r>
              <a:rPr lang="en-US" sz="1400" dirty="0">
                <a:latin typeface="Arial" pitchFamily="34" charset="0"/>
                <a:cs typeface="Arial" pitchFamily="34" charset="0"/>
              </a:rPr>
              <a:t> </a:t>
            </a:r>
            <a:r>
              <a:rPr lang="en-US" sz="1400" dirty="0" err="1">
                <a:latin typeface="Arial" pitchFamily="34" charset="0"/>
                <a:cs typeface="Arial" pitchFamily="34" charset="0"/>
              </a:rPr>
              <a:t>tầng</a:t>
            </a:r>
            <a:br>
              <a:rPr lang="vi-VN" sz="1400" dirty="0">
                <a:latin typeface="Arial" pitchFamily="34" charset="0"/>
                <a:cs typeface="Arial" pitchFamily="34" charset="0"/>
              </a:rPr>
            </a:br>
            <a:r>
              <a:rPr lang="vi-VN" sz="1400" dirty="0">
                <a:latin typeface="Arial" pitchFamily="34" charset="0"/>
                <a:cs typeface="Arial" pitchFamily="34" charset="0"/>
              </a:rPr>
              <a:t>       - Th</a:t>
            </a:r>
            <a:r>
              <a:rPr lang="en-US" sz="1400" dirty="0" err="1">
                <a:latin typeface="Arial" pitchFamily="34" charset="0"/>
                <a:cs typeface="Arial" pitchFamily="34" charset="0"/>
              </a:rPr>
              <a:t>ực</a:t>
            </a:r>
            <a:r>
              <a:rPr lang="en-US" sz="1400" dirty="0">
                <a:latin typeface="Arial" pitchFamily="34" charset="0"/>
                <a:cs typeface="Arial" pitchFamily="34" charset="0"/>
              </a:rPr>
              <a:t> </a:t>
            </a:r>
            <a:r>
              <a:rPr lang="en-US" sz="1400" dirty="0" err="1">
                <a:latin typeface="Arial" pitchFamily="34" charset="0"/>
                <a:cs typeface="Arial" pitchFamily="34" charset="0"/>
              </a:rPr>
              <a:t>tế</a:t>
            </a:r>
            <a:r>
              <a:rPr lang="en-US" sz="1400" dirty="0">
                <a:latin typeface="Arial" pitchFamily="34" charset="0"/>
                <a:cs typeface="Arial" pitchFamily="34" charset="0"/>
              </a:rPr>
              <a:t> </a:t>
            </a:r>
            <a:r>
              <a:rPr lang="en-US" sz="1400" dirty="0" err="1">
                <a:latin typeface="Arial" pitchFamily="34" charset="0"/>
                <a:cs typeface="Arial" pitchFamily="34" charset="0"/>
              </a:rPr>
              <a:t>rất</a:t>
            </a:r>
            <a:r>
              <a:rPr lang="vi-VN" sz="1400" dirty="0">
                <a:latin typeface="Arial" pitchFamily="34" charset="0"/>
                <a:cs typeface="Arial" pitchFamily="34" charset="0"/>
              </a:rPr>
              <a:t> phức tạp </a:t>
            </a:r>
            <a:r>
              <a:rPr lang="en-US" sz="1400" dirty="0" err="1">
                <a:latin typeface="Arial" pitchFamily="34" charset="0"/>
                <a:cs typeface="Arial" pitchFamily="34" charset="0"/>
              </a:rPr>
              <a:t>nên</a:t>
            </a:r>
            <a:r>
              <a:rPr lang="vi-VN" sz="1400" dirty="0">
                <a:latin typeface="Arial" pitchFamily="34" charset="0"/>
                <a:cs typeface="Arial" pitchFamily="34" charset="0"/>
              </a:rPr>
              <a:t> 4 phương pháp được đề cập</a:t>
            </a:r>
            <a:r>
              <a:rPr lang="en-US" sz="1400" dirty="0">
                <a:latin typeface="Arial" pitchFamily="34" charset="0"/>
                <a:cs typeface="Arial" pitchFamily="34" charset="0"/>
              </a:rPr>
              <a:t> </a:t>
            </a:r>
            <a:r>
              <a:rPr lang="en-US" sz="1400" dirty="0" err="1">
                <a:latin typeface="Arial" pitchFamily="34" charset="0"/>
                <a:cs typeface="Arial" pitchFamily="34" charset="0"/>
              </a:rPr>
              <a:t>vừa</a:t>
            </a:r>
            <a:r>
              <a:rPr lang="en-US" sz="1400" dirty="0">
                <a:latin typeface="Arial" pitchFamily="34" charset="0"/>
                <a:cs typeface="Arial" pitchFamily="34" charset="0"/>
              </a:rPr>
              <a:t> </a:t>
            </a:r>
            <a:r>
              <a:rPr lang="en-US" sz="1400" dirty="0" err="1">
                <a:latin typeface="Arial" pitchFamily="34" charset="0"/>
                <a:cs typeface="Arial" pitchFamily="34" charset="0"/>
              </a:rPr>
              <a:t>rồi</a:t>
            </a:r>
            <a:r>
              <a:rPr lang="en-US" sz="1400" dirty="0">
                <a:latin typeface="Arial" pitchFamily="34" charset="0"/>
                <a:cs typeface="Arial" pitchFamily="34" charset="0"/>
              </a:rPr>
              <a:t> </a:t>
            </a:r>
            <a:r>
              <a:rPr lang="en-US" sz="1400" dirty="0" err="1">
                <a:latin typeface="Arial" pitchFamily="34" charset="0"/>
                <a:cs typeface="Arial" pitchFamily="34" charset="0"/>
              </a:rPr>
              <a:t>đương</a:t>
            </a:r>
            <a:r>
              <a:rPr lang="en-US" sz="1400" dirty="0">
                <a:latin typeface="Arial" pitchFamily="34" charset="0"/>
                <a:cs typeface="Arial" pitchFamily="34" charset="0"/>
              </a:rPr>
              <a:t> </a:t>
            </a:r>
            <a:r>
              <a:rPr lang="en-US" sz="1400" dirty="0" err="1">
                <a:latin typeface="Arial" pitchFamily="34" charset="0"/>
                <a:cs typeface="Arial" pitchFamily="34" charset="0"/>
              </a:rPr>
              <a:t>nhiên</a:t>
            </a:r>
            <a:r>
              <a:rPr lang="vi-VN" sz="1400" dirty="0">
                <a:latin typeface="Arial" pitchFamily="34" charset="0"/>
                <a:cs typeface="Arial" pitchFamily="34" charset="0"/>
              </a:rPr>
              <a:t> là không đủ đ</a:t>
            </a:r>
            <a:r>
              <a:rPr lang="en-US" sz="1400" dirty="0">
                <a:latin typeface="Arial" pitchFamily="34" charset="0"/>
                <a:cs typeface="Arial" pitchFamily="34" charset="0"/>
              </a:rPr>
              <a:t>ể </a:t>
            </a:r>
            <a:r>
              <a:rPr lang="en-US" sz="1400" dirty="0" err="1">
                <a:latin typeface="Arial" pitchFamily="34" charset="0"/>
                <a:cs typeface="Arial" pitchFamily="34" charset="0"/>
              </a:rPr>
              <a:t>việc</a:t>
            </a:r>
            <a:r>
              <a:rPr lang="en-US" sz="1400" dirty="0">
                <a:latin typeface="Arial" pitchFamily="34" charset="0"/>
                <a:cs typeface="Arial" pitchFamily="34" charset="0"/>
              </a:rPr>
              <a:t> </a:t>
            </a:r>
            <a:r>
              <a:rPr lang="en-US" sz="1400" dirty="0" err="1">
                <a:latin typeface="Arial" pitchFamily="34" charset="0"/>
                <a:cs typeface="Arial" pitchFamily="34" charset="0"/>
              </a:rPr>
              <a:t>lấy</a:t>
            </a:r>
            <a:r>
              <a:rPr lang="en-US" sz="1400" dirty="0">
                <a:latin typeface="Arial" pitchFamily="34" charset="0"/>
                <a:cs typeface="Arial" pitchFamily="34" charset="0"/>
              </a:rPr>
              <a:t> </a:t>
            </a:r>
            <a:r>
              <a:rPr lang="en-US" sz="1400" dirty="0" err="1">
                <a:latin typeface="Arial" pitchFamily="34" charset="0"/>
                <a:cs typeface="Arial" pitchFamily="34" charset="0"/>
              </a:rPr>
              <a:t>mẫu</a:t>
            </a:r>
            <a:r>
              <a:rPr lang="en-US" sz="1400" dirty="0">
                <a:latin typeface="Arial" pitchFamily="34" charset="0"/>
                <a:cs typeface="Arial" pitchFamily="34" charset="0"/>
              </a:rPr>
              <a:t> </a:t>
            </a:r>
            <a:r>
              <a:rPr lang="en-US" sz="1400" dirty="0" err="1">
                <a:latin typeface="Arial" pitchFamily="34" charset="0"/>
                <a:cs typeface="Arial" pitchFamily="34" charset="0"/>
              </a:rPr>
              <a:t>là</a:t>
            </a:r>
            <a:br>
              <a:rPr lang="en-US" sz="1400" dirty="0">
                <a:latin typeface="Arial" pitchFamily="34" charset="0"/>
                <a:cs typeface="Arial" pitchFamily="34" charset="0"/>
              </a:rPr>
            </a:br>
            <a:r>
              <a:rPr lang="en-US" sz="1400" dirty="0">
                <a:latin typeface="Arial" pitchFamily="34" charset="0"/>
                <a:cs typeface="Arial" pitchFamily="34" charset="0"/>
              </a:rPr>
              <a:t>         c</a:t>
            </a:r>
            <a:r>
              <a:rPr lang="vi-VN" sz="1400" dirty="0">
                <a:latin typeface="Arial" pitchFamily="34" charset="0"/>
                <a:cs typeface="Arial" pitchFamily="34" charset="0"/>
              </a:rPr>
              <a:t>hính xác.</a:t>
            </a:r>
            <a:br>
              <a:rPr lang="vi-VN" sz="1400" dirty="0">
                <a:latin typeface="Arial" pitchFamily="34" charset="0"/>
                <a:cs typeface="Arial" pitchFamily="34" charset="0"/>
              </a:rPr>
            </a:br>
            <a:r>
              <a:rPr lang="vi-VN" sz="1400" dirty="0">
                <a:latin typeface="Arial" pitchFamily="34" charset="0"/>
                <a:cs typeface="Arial" pitchFamily="34" charset="0"/>
              </a:rPr>
              <a:t>         Trong phương pháp đa giai đoạn lấy mẫu, 2 hay nhiều phương pháp</a:t>
            </a:r>
            <a:r>
              <a:rPr lang="en-US" sz="1400" dirty="0">
                <a:latin typeface="Arial" pitchFamily="34" charset="0"/>
                <a:cs typeface="Arial" pitchFamily="34" charset="0"/>
              </a:rPr>
              <a:t> </a:t>
            </a:r>
            <a:r>
              <a:rPr lang="en-US" sz="1400" dirty="0" err="1">
                <a:latin typeface="Arial" pitchFamily="34" charset="0"/>
                <a:cs typeface="Arial" pitchFamily="34" charset="0"/>
              </a:rPr>
              <a:t>sẽ</a:t>
            </a:r>
            <a:r>
              <a:rPr lang="vi-VN" sz="1400" dirty="0">
                <a:latin typeface="Arial" pitchFamily="34" charset="0"/>
                <a:cs typeface="Arial" pitchFamily="34" charset="0"/>
              </a:rPr>
              <a:t> được kết hợp để tạo ra mẫu</a:t>
            </a:r>
            <a:r>
              <a:rPr lang="en-US" sz="1400" dirty="0">
                <a:latin typeface="Arial" pitchFamily="34" charset="0"/>
                <a:cs typeface="Arial" pitchFamily="34" charset="0"/>
              </a:rPr>
              <a:t> </a:t>
            </a:r>
            <a:r>
              <a:rPr lang="vi-VN" sz="1400" dirty="0">
                <a:latin typeface="Arial" pitchFamily="34" charset="0"/>
                <a:cs typeface="Arial" pitchFamily="34" charset="0"/>
              </a:rPr>
              <a:t>có</a:t>
            </a:r>
            <a:br>
              <a:rPr lang="en-US" sz="1400" dirty="0">
                <a:latin typeface="Arial" pitchFamily="34" charset="0"/>
                <a:cs typeface="Arial" pitchFamily="34" charset="0"/>
              </a:rPr>
            </a:br>
            <a:r>
              <a:rPr lang="en-US" sz="1400" dirty="0">
                <a:latin typeface="Arial" pitchFamily="34" charset="0"/>
                <a:cs typeface="Arial" pitchFamily="34" charset="0"/>
              </a:rPr>
              <a:t>         </a:t>
            </a:r>
            <a:r>
              <a:rPr lang="vi-VN" sz="1400" dirty="0">
                <a:latin typeface="Arial" pitchFamily="34" charset="0"/>
                <a:cs typeface="Arial" pitchFamily="34" charset="0"/>
              </a:rPr>
              <a:t>hiệu quả hơn.</a:t>
            </a:r>
            <a:br>
              <a:rPr lang="vi-VN" sz="1400" dirty="0">
                <a:latin typeface="Arial" pitchFamily="34" charset="0"/>
                <a:cs typeface="Arial" pitchFamily="34" charset="0"/>
              </a:rPr>
            </a:br>
            <a:r>
              <a:rPr lang="vi-VN" sz="1400" dirty="0">
                <a:latin typeface="Arial" pitchFamily="34" charset="0"/>
                <a:cs typeface="Arial" pitchFamily="34" charset="0"/>
              </a:rPr>
              <a:t>       - Thông thường </a:t>
            </a:r>
            <a:r>
              <a:rPr lang="en-US" sz="1400" dirty="0" err="1">
                <a:latin typeface="Arial" pitchFamily="34" charset="0"/>
                <a:cs typeface="Arial" pitchFamily="34" charset="0"/>
              </a:rPr>
              <a:t>sẽ</a:t>
            </a:r>
            <a:r>
              <a:rPr lang="en-US" sz="1400" dirty="0">
                <a:latin typeface="Arial" pitchFamily="34" charset="0"/>
                <a:cs typeface="Arial" pitchFamily="34" charset="0"/>
              </a:rPr>
              <a:t> </a:t>
            </a:r>
            <a:r>
              <a:rPr lang="en-US" sz="1400" dirty="0" err="1">
                <a:latin typeface="Arial" pitchFamily="34" charset="0"/>
                <a:cs typeface="Arial" pitchFamily="34" charset="0"/>
              </a:rPr>
              <a:t>thực</a:t>
            </a:r>
            <a:r>
              <a:rPr lang="en-US" sz="1400" dirty="0">
                <a:latin typeface="Arial" pitchFamily="34" charset="0"/>
                <a:cs typeface="Arial" pitchFamily="34" charset="0"/>
              </a:rPr>
              <a:t> </a:t>
            </a:r>
            <a:r>
              <a:rPr lang="en-US" sz="1400" dirty="0" err="1">
                <a:latin typeface="Arial" pitchFamily="34" charset="0"/>
                <a:cs typeface="Arial" pitchFamily="34" charset="0"/>
              </a:rPr>
              <a:t>hiện</a:t>
            </a:r>
            <a:r>
              <a:rPr lang="en-US" sz="1400" dirty="0">
                <a:latin typeface="Arial" pitchFamily="34" charset="0"/>
                <a:cs typeface="Arial" pitchFamily="34" charset="0"/>
              </a:rPr>
              <a:t> </a:t>
            </a:r>
            <a:r>
              <a:rPr lang="vi-VN" sz="1400" dirty="0">
                <a:latin typeface="Arial" pitchFamily="34" charset="0"/>
                <a:cs typeface="Arial" pitchFamily="34" charset="0"/>
              </a:rPr>
              <a:t>hai hoặc ba giai đoạn lấy mẫu.</a:t>
            </a:r>
            <a:br>
              <a:rPr lang="vi-VN" sz="1400" dirty="0">
                <a:latin typeface="Arial" pitchFamily="34" charset="0"/>
                <a:cs typeface="Arial" pitchFamily="34" charset="0"/>
              </a:rPr>
            </a:br>
            <a:r>
              <a:rPr lang="vi-VN" sz="1400" dirty="0">
                <a:latin typeface="Arial" pitchFamily="34" charset="0"/>
                <a:cs typeface="Arial" pitchFamily="34" charset="0"/>
              </a:rPr>
              <a:t>       - Ví dụ trường hợp lấy mẫu hai giai đoạn</a:t>
            </a:r>
            <a:r>
              <a:rPr lang="en-US" sz="1400" dirty="0">
                <a:latin typeface="Arial" pitchFamily="34" charset="0"/>
                <a:cs typeface="Arial" pitchFamily="34" charset="0"/>
              </a:rPr>
              <a:t>:</a:t>
            </a:r>
            <a:endParaRPr lang="ko-KR" altLang="en-US" sz="1400" dirty="0">
              <a:latin typeface="Arial" pitchFamily="34" charset="0"/>
              <a:ea typeface="맑은 고딕" pitchFamily="50" charset="-127"/>
              <a:cs typeface="Arial" pitchFamily="34" charset="0"/>
            </a:endParaRPr>
          </a:p>
        </p:txBody>
      </p:sp>
      <p:sp>
        <p:nvSpPr>
          <p:cNvPr id="33795" name="Oval 3"/>
          <p:cNvSpPr>
            <a:spLocks noChangeArrowheads="1"/>
          </p:cNvSpPr>
          <p:nvPr/>
        </p:nvSpPr>
        <p:spPr bwMode="auto">
          <a:xfrm>
            <a:off x="2432000" y="3573214"/>
            <a:ext cx="433387"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1</a:t>
            </a:r>
          </a:p>
        </p:txBody>
      </p:sp>
      <p:sp>
        <p:nvSpPr>
          <p:cNvPr id="33796" name="Oval 4"/>
          <p:cNvSpPr>
            <a:spLocks noChangeArrowheads="1"/>
          </p:cNvSpPr>
          <p:nvPr/>
        </p:nvSpPr>
        <p:spPr bwMode="auto">
          <a:xfrm>
            <a:off x="3003500" y="3571627"/>
            <a:ext cx="433387"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2</a:t>
            </a:r>
          </a:p>
        </p:txBody>
      </p:sp>
      <p:sp>
        <p:nvSpPr>
          <p:cNvPr id="33797" name="Oval 5"/>
          <p:cNvSpPr>
            <a:spLocks noChangeArrowheads="1"/>
          </p:cNvSpPr>
          <p:nvPr/>
        </p:nvSpPr>
        <p:spPr bwMode="auto">
          <a:xfrm>
            <a:off x="3579762" y="3571627"/>
            <a:ext cx="433388"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3</a:t>
            </a:r>
          </a:p>
        </p:txBody>
      </p:sp>
      <p:sp>
        <p:nvSpPr>
          <p:cNvPr id="33798" name="Oval 6"/>
          <p:cNvSpPr>
            <a:spLocks noChangeArrowheads="1"/>
          </p:cNvSpPr>
          <p:nvPr/>
        </p:nvSpPr>
        <p:spPr bwMode="auto">
          <a:xfrm>
            <a:off x="4084587" y="3571627"/>
            <a:ext cx="433388"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4</a:t>
            </a:r>
          </a:p>
        </p:txBody>
      </p:sp>
      <p:sp>
        <p:nvSpPr>
          <p:cNvPr id="33799" name="Oval 7"/>
          <p:cNvSpPr>
            <a:spLocks noChangeArrowheads="1"/>
          </p:cNvSpPr>
          <p:nvPr/>
        </p:nvSpPr>
        <p:spPr bwMode="auto">
          <a:xfrm>
            <a:off x="4660850" y="3571627"/>
            <a:ext cx="433387"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5</a:t>
            </a:r>
          </a:p>
        </p:txBody>
      </p:sp>
      <p:sp>
        <p:nvSpPr>
          <p:cNvPr id="33800" name="Oval 8"/>
          <p:cNvSpPr>
            <a:spLocks noChangeArrowheads="1"/>
          </p:cNvSpPr>
          <p:nvPr/>
        </p:nvSpPr>
        <p:spPr bwMode="auto">
          <a:xfrm>
            <a:off x="5237112" y="3571627"/>
            <a:ext cx="433388"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6</a:t>
            </a:r>
          </a:p>
        </p:txBody>
      </p:sp>
      <p:sp>
        <p:nvSpPr>
          <p:cNvPr id="33801" name="Oval 9"/>
          <p:cNvSpPr>
            <a:spLocks noChangeArrowheads="1"/>
          </p:cNvSpPr>
          <p:nvPr/>
        </p:nvSpPr>
        <p:spPr bwMode="auto">
          <a:xfrm>
            <a:off x="6680150" y="3571627"/>
            <a:ext cx="433387"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i</a:t>
            </a:r>
          </a:p>
        </p:txBody>
      </p:sp>
      <p:sp>
        <p:nvSpPr>
          <p:cNvPr id="33802" name="Oval 10"/>
          <p:cNvSpPr>
            <a:spLocks noChangeArrowheads="1"/>
          </p:cNvSpPr>
          <p:nvPr/>
        </p:nvSpPr>
        <p:spPr bwMode="auto">
          <a:xfrm>
            <a:off x="8120012" y="3571627"/>
            <a:ext cx="433388"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n</a:t>
            </a:r>
          </a:p>
        </p:txBody>
      </p:sp>
      <p:sp>
        <p:nvSpPr>
          <p:cNvPr id="33803" name="Text Box 11"/>
          <p:cNvSpPr txBox="1">
            <a:spLocks noChangeArrowheads="1"/>
          </p:cNvSpPr>
          <p:nvPr/>
        </p:nvSpPr>
        <p:spPr bwMode="auto">
          <a:xfrm>
            <a:off x="5816550" y="3571627"/>
            <a:ext cx="543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 - -</a:t>
            </a:r>
          </a:p>
        </p:txBody>
      </p:sp>
      <p:sp>
        <p:nvSpPr>
          <p:cNvPr id="33804" name="Text Box 12"/>
          <p:cNvSpPr txBox="1">
            <a:spLocks noChangeArrowheads="1"/>
          </p:cNvSpPr>
          <p:nvPr/>
        </p:nvSpPr>
        <p:spPr bwMode="auto">
          <a:xfrm>
            <a:off x="7275462" y="3571627"/>
            <a:ext cx="543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 - -</a:t>
            </a:r>
          </a:p>
        </p:txBody>
      </p:sp>
      <p:sp>
        <p:nvSpPr>
          <p:cNvPr id="33805" name="Text Box 13"/>
          <p:cNvSpPr txBox="1">
            <a:spLocks noChangeArrowheads="1"/>
          </p:cNvSpPr>
          <p:nvPr/>
        </p:nvSpPr>
        <p:spPr bwMode="auto">
          <a:xfrm>
            <a:off x="991840" y="3500189"/>
            <a:ext cx="7601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Sub Lot</a:t>
            </a:r>
          </a:p>
        </p:txBody>
      </p:sp>
      <p:sp>
        <p:nvSpPr>
          <p:cNvPr id="33806" name="AutoShape 14"/>
          <p:cNvSpPr>
            <a:spLocks/>
          </p:cNvSpPr>
          <p:nvPr/>
        </p:nvSpPr>
        <p:spPr bwMode="auto">
          <a:xfrm rot="5400000">
            <a:off x="5385544" y="548232"/>
            <a:ext cx="215900" cy="5688013"/>
          </a:xfrm>
          <a:prstGeom prst="leftBrace">
            <a:avLst>
              <a:gd name="adj1" fmla="val 111725"/>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33807" name="Text Box 15"/>
          <p:cNvSpPr txBox="1">
            <a:spLocks noChangeArrowheads="1"/>
          </p:cNvSpPr>
          <p:nvPr/>
        </p:nvSpPr>
        <p:spPr bwMode="auto">
          <a:xfrm>
            <a:off x="5097412" y="2996952"/>
            <a:ext cx="9446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Lot  n</a:t>
            </a:r>
            <a:r>
              <a:rPr lang="ko-KR" altLang="en-US" sz="1200" b="1" dirty="0">
                <a:latin typeface="Arial" pitchFamily="34" charset="0"/>
                <a:ea typeface="맑은 고딕" pitchFamily="50" charset="-127"/>
                <a:cs typeface="Arial" pitchFamily="34" charset="0"/>
              </a:rPr>
              <a:t> </a:t>
            </a:r>
            <a:r>
              <a:rPr lang="en-US" altLang="ko-KR" sz="1200" b="1" dirty="0">
                <a:latin typeface="Arial" pitchFamily="34" charset="0"/>
                <a:ea typeface="맑은 고딕" pitchFamily="50" charset="-127"/>
                <a:cs typeface="Arial" pitchFamily="34" charset="0"/>
              </a:rPr>
              <a:t>box</a:t>
            </a:r>
            <a:endParaRPr lang="ko-KR" altLang="en-US" sz="1200" b="1" dirty="0">
              <a:latin typeface="Arial" pitchFamily="34" charset="0"/>
              <a:ea typeface="맑은 고딕" pitchFamily="50" charset="-127"/>
              <a:cs typeface="Arial" pitchFamily="34" charset="0"/>
            </a:endParaRPr>
          </a:p>
        </p:txBody>
      </p:sp>
      <p:sp>
        <p:nvSpPr>
          <p:cNvPr id="33808" name="Oval 16"/>
          <p:cNvSpPr>
            <a:spLocks noChangeArrowheads="1"/>
          </p:cNvSpPr>
          <p:nvPr/>
        </p:nvSpPr>
        <p:spPr bwMode="auto">
          <a:xfrm>
            <a:off x="3440062" y="4797177"/>
            <a:ext cx="433388"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2</a:t>
            </a:r>
          </a:p>
        </p:txBody>
      </p:sp>
      <p:sp>
        <p:nvSpPr>
          <p:cNvPr id="33809" name="Oval 17"/>
          <p:cNvSpPr>
            <a:spLocks noChangeArrowheads="1"/>
          </p:cNvSpPr>
          <p:nvPr/>
        </p:nvSpPr>
        <p:spPr bwMode="auto">
          <a:xfrm>
            <a:off x="4665612" y="4797177"/>
            <a:ext cx="433388"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5</a:t>
            </a:r>
          </a:p>
        </p:txBody>
      </p:sp>
      <p:sp>
        <p:nvSpPr>
          <p:cNvPr id="33810" name="Oval 18"/>
          <p:cNvSpPr>
            <a:spLocks noChangeArrowheads="1"/>
          </p:cNvSpPr>
          <p:nvPr/>
        </p:nvSpPr>
        <p:spPr bwMode="auto">
          <a:xfrm>
            <a:off x="6034037" y="4797177"/>
            <a:ext cx="433388" cy="358775"/>
          </a:xfrm>
          <a:prstGeom prst="ellipse">
            <a:avLst/>
          </a:prstGeom>
          <a:solidFill>
            <a:schemeClr val="accent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맑은 고딕" pitchFamily="50" charset="-127"/>
                <a:cs typeface="Arial" pitchFamily="34" charset="0"/>
              </a:rPr>
              <a:t>N </a:t>
            </a:r>
            <a:r>
              <a:rPr lang="en-US" altLang="ko-KR" sz="900" dirty="0">
                <a:latin typeface="Arial" pitchFamily="34" charset="0"/>
                <a:ea typeface="맑은 고딕" pitchFamily="50" charset="-127"/>
                <a:cs typeface="Arial" pitchFamily="34" charset="0"/>
              </a:rPr>
              <a:t>i</a:t>
            </a:r>
          </a:p>
        </p:txBody>
      </p:sp>
      <p:sp>
        <p:nvSpPr>
          <p:cNvPr id="33811" name="Line 19"/>
          <p:cNvSpPr>
            <a:spLocks noChangeShapeType="1"/>
          </p:cNvSpPr>
          <p:nvPr/>
        </p:nvSpPr>
        <p:spPr bwMode="auto">
          <a:xfrm>
            <a:off x="3297187" y="4005014"/>
            <a:ext cx="288925" cy="720725"/>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12" name="Line 20"/>
          <p:cNvSpPr>
            <a:spLocks noChangeShapeType="1"/>
          </p:cNvSpPr>
          <p:nvPr/>
        </p:nvSpPr>
        <p:spPr bwMode="auto">
          <a:xfrm flipH="1">
            <a:off x="4881512" y="4005014"/>
            <a:ext cx="0" cy="719138"/>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13" name="Line 21"/>
          <p:cNvSpPr>
            <a:spLocks noChangeShapeType="1"/>
          </p:cNvSpPr>
          <p:nvPr/>
        </p:nvSpPr>
        <p:spPr bwMode="auto">
          <a:xfrm flipH="1">
            <a:off x="6321375" y="3931989"/>
            <a:ext cx="431800" cy="792163"/>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14" name="Text Box 22"/>
          <p:cNvSpPr txBox="1">
            <a:spLocks noChangeArrowheads="1"/>
          </p:cNvSpPr>
          <p:nvPr/>
        </p:nvSpPr>
        <p:spPr bwMode="auto">
          <a:xfrm>
            <a:off x="991840" y="4724152"/>
            <a:ext cx="14350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1</a:t>
            </a:r>
            <a:r>
              <a:rPr lang="en-US" altLang="ko-KR" sz="1200" b="1" baseline="30000" dirty="0">
                <a:latin typeface="Arial" pitchFamily="34" charset="0"/>
                <a:ea typeface="맑은 고딕" pitchFamily="50" charset="-127"/>
                <a:cs typeface="Arial" pitchFamily="34" charset="0"/>
              </a:rPr>
              <a:t>st</a:t>
            </a:r>
            <a:r>
              <a:rPr lang="en-US" altLang="ko-KR" sz="1200" b="1" dirty="0">
                <a:latin typeface="Arial" pitchFamily="34" charset="0"/>
                <a:ea typeface="맑은 고딕" pitchFamily="50" charset="-127"/>
                <a:cs typeface="Arial" pitchFamily="34" charset="0"/>
              </a:rPr>
              <a:t> sample</a:t>
            </a:r>
            <a:endParaRPr lang="ko-KR" altLang="en-US" sz="1200" b="1" dirty="0">
              <a:latin typeface="Arial" pitchFamily="34" charset="0"/>
              <a:ea typeface="맑은 고딕" pitchFamily="50" charset="-127"/>
              <a:cs typeface="Arial" pitchFamily="34" charset="0"/>
            </a:endParaRPr>
          </a:p>
          <a:p>
            <a:pPr eaLnBrk="1" hangingPunct="1"/>
            <a:r>
              <a:rPr lang="en-US" altLang="ko-KR" sz="1200" b="1" dirty="0">
                <a:latin typeface="Arial" pitchFamily="34" charset="0"/>
                <a:ea typeface="맑은 고딕" pitchFamily="50" charset="-127"/>
                <a:cs typeface="Arial" pitchFamily="34" charset="0"/>
              </a:rPr>
              <a:t>(</a:t>
            </a:r>
            <a:r>
              <a:rPr lang="en-US" altLang="ko-KR" sz="1200" b="1" dirty="0" err="1">
                <a:latin typeface="Arial" pitchFamily="34" charset="0"/>
                <a:ea typeface="맑은 고딕" pitchFamily="50" charset="-127"/>
                <a:cs typeface="Arial" pitchFamily="34" charset="0"/>
              </a:rPr>
              <a:t>Chọn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mẫu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lần</a:t>
            </a:r>
            <a:r>
              <a:rPr lang="en-US" altLang="ko-KR" sz="1200" b="1" dirty="0">
                <a:latin typeface="Arial" pitchFamily="34" charset="0"/>
                <a:ea typeface="맑은 고딕" pitchFamily="50" charset="-127"/>
                <a:cs typeface="Arial" pitchFamily="34" charset="0"/>
              </a:rPr>
              <a:t> 1)</a:t>
            </a:r>
          </a:p>
        </p:txBody>
      </p:sp>
      <p:sp>
        <p:nvSpPr>
          <p:cNvPr id="33815" name="AutoShape 23"/>
          <p:cNvSpPr>
            <a:spLocks/>
          </p:cNvSpPr>
          <p:nvPr/>
        </p:nvSpPr>
        <p:spPr bwMode="auto">
          <a:xfrm rot="5400000">
            <a:off x="4882306" y="3140620"/>
            <a:ext cx="71438" cy="2663825"/>
          </a:xfrm>
          <a:prstGeom prst="leftBrace">
            <a:avLst>
              <a:gd name="adj1" fmla="val 15813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33816" name="Text Box 24"/>
          <p:cNvSpPr txBox="1">
            <a:spLocks noChangeArrowheads="1"/>
          </p:cNvSpPr>
          <p:nvPr/>
        </p:nvSpPr>
        <p:spPr bwMode="auto">
          <a:xfrm>
            <a:off x="4810075" y="4220914"/>
            <a:ext cx="12186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 m individuals</a:t>
            </a:r>
            <a:endParaRPr lang="ko-KR" altLang="en-US" sz="1200" b="1" dirty="0">
              <a:latin typeface="Arial" pitchFamily="34" charset="0"/>
              <a:ea typeface="맑은 고딕" pitchFamily="50" charset="-127"/>
              <a:cs typeface="Arial" pitchFamily="34" charset="0"/>
            </a:endParaRPr>
          </a:p>
        </p:txBody>
      </p:sp>
      <p:sp>
        <p:nvSpPr>
          <p:cNvPr id="33817" name="Text Box 25"/>
          <p:cNvSpPr txBox="1">
            <a:spLocks noChangeArrowheads="1"/>
          </p:cNvSpPr>
          <p:nvPr/>
        </p:nvSpPr>
        <p:spPr bwMode="auto">
          <a:xfrm>
            <a:off x="2987625" y="5948114"/>
            <a:ext cx="46602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          ○○○          ○○○○ - - -○</a:t>
            </a:r>
          </a:p>
        </p:txBody>
      </p:sp>
      <p:sp>
        <p:nvSpPr>
          <p:cNvPr id="33818" name="Line 26"/>
          <p:cNvSpPr>
            <a:spLocks noChangeShapeType="1"/>
          </p:cNvSpPr>
          <p:nvPr/>
        </p:nvSpPr>
        <p:spPr bwMode="auto">
          <a:xfrm flipH="1">
            <a:off x="3225750" y="5228977"/>
            <a:ext cx="360362"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19" name="Line 27"/>
          <p:cNvSpPr>
            <a:spLocks noChangeShapeType="1"/>
          </p:cNvSpPr>
          <p:nvPr/>
        </p:nvSpPr>
        <p:spPr bwMode="auto">
          <a:xfrm flipH="1">
            <a:off x="3370212" y="5228977"/>
            <a:ext cx="215900"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0" name="Line 28"/>
          <p:cNvSpPr>
            <a:spLocks noChangeShapeType="1"/>
          </p:cNvSpPr>
          <p:nvPr/>
        </p:nvSpPr>
        <p:spPr bwMode="auto">
          <a:xfrm flipH="1">
            <a:off x="3586112" y="5228977"/>
            <a:ext cx="0"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1" name="Line 29"/>
          <p:cNvSpPr>
            <a:spLocks noChangeShapeType="1"/>
          </p:cNvSpPr>
          <p:nvPr/>
        </p:nvSpPr>
        <p:spPr bwMode="auto">
          <a:xfrm>
            <a:off x="3586112" y="5228977"/>
            <a:ext cx="215900"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2" name="Line 30"/>
          <p:cNvSpPr>
            <a:spLocks noChangeShapeType="1"/>
          </p:cNvSpPr>
          <p:nvPr/>
        </p:nvSpPr>
        <p:spPr bwMode="auto">
          <a:xfrm flipH="1">
            <a:off x="4665612" y="5228977"/>
            <a:ext cx="215900"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3" name="Line 31"/>
          <p:cNvSpPr>
            <a:spLocks noChangeShapeType="1"/>
          </p:cNvSpPr>
          <p:nvPr/>
        </p:nvSpPr>
        <p:spPr bwMode="auto">
          <a:xfrm flipH="1">
            <a:off x="4881512" y="5228977"/>
            <a:ext cx="0"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4" name="Line 32"/>
          <p:cNvSpPr>
            <a:spLocks noChangeShapeType="1"/>
          </p:cNvSpPr>
          <p:nvPr/>
        </p:nvSpPr>
        <p:spPr bwMode="auto">
          <a:xfrm>
            <a:off x="4881512" y="5228977"/>
            <a:ext cx="144463"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5" name="Line 33"/>
          <p:cNvSpPr>
            <a:spLocks noChangeShapeType="1"/>
          </p:cNvSpPr>
          <p:nvPr/>
        </p:nvSpPr>
        <p:spPr bwMode="auto">
          <a:xfrm flipH="1">
            <a:off x="5961012" y="5228977"/>
            <a:ext cx="288925"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6" name="Line 34"/>
          <p:cNvSpPr>
            <a:spLocks noChangeShapeType="1"/>
          </p:cNvSpPr>
          <p:nvPr/>
        </p:nvSpPr>
        <p:spPr bwMode="auto">
          <a:xfrm flipH="1">
            <a:off x="6178500" y="5228977"/>
            <a:ext cx="71437"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7" name="Line 35"/>
          <p:cNvSpPr>
            <a:spLocks noChangeShapeType="1"/>
          </p:cNvSpPr>
          <p:nvPr/>
        </p:nvSpPr>
        <p:spPr bwMode="auto">
          <a:xfrm>
            <a:off x="6249937" y="5228977"/>
            <a:ext cx="144463"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8" name="Line 36"/>
          <p:cNvSpPr>
            <a:spLocks noChangeShapeType="1"/>
          </p:cNvSpPr>
          <p:nvPr/>
        </p:nvSpPr>
        <p:spPr bwMode="auto">
          <a:xfrm>
            <a:off x="6249937" y="5228977"/>
            <a:ext cx="287338"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29" name="Line 37"/>
          <p:cNvSpPr>
            <a:spLocks noChangeShapeType="1"/>
          </p:cNvSpPr>
          <p:nvPr/>
        </p:nvSpPr>
        <p:spPr bwMode="auto">
          <a:xfrm>
            <a:off x="6249937" y="5228977"/>
            <a:ext cx="1079500" cy="792162"/>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3830" name="AutoShape 38"/>
          <p:cNvSpPr>
            <a:spLocks/>
          </p:cNvSpPr>
          <p:nvPr/>
        </p:nvSpPr>
        <p:spPr bwMode="auto">
          <a:xfrm rot="-5400000">
            <a:off x="3441650" y="6019552"/>
            <a:ext cx="71437" cy="649287"/>
          </a:xfrm>
          <a:prstGeom prst="leftBrace">
            <a:avLst>
              <a:gd name="adj1" fmla="val 38544"/>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33831" name="AutoShape 39"/>
          <p:cNvSpPr>
            <a:spLocks/>
          </p:cNvSpPr>
          <p:nvPr/>
        </p:nvSpPr>
        <p:spPr bwMode="auto">
          <a:xfrm rot="-5400000">
            <a:off x="4881512" y="6019552"/>
            <a:ext cx="71437" cy="649288"/>
          </a:xfrm>
          <a:prstGeom prst="leftBrace">
            <a:avLst>
              <a:gd name="adj1" fmla="val 38544"/>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33832" name="AutoShape 40"/>
          <p:cNvSpPr>
            <a:spLocks/>
          </p:cNvSpPr>
          <p:nvPr/>
        </p:nvSpPr>
        <p:spPr bwMode="auto">
          <a:xfrm rot="-5400000">
            <a:off x="6646018" y="5623471"/>
            <a:ext cx="71437" cy="1441450"/>
          </a:xfrm>
          <a:prstGeom prst="leftBrace">
            <a:avLst>
              <a:gd name="adj1" fmla="val 8556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33833" name="Text Box 41"/>
          <p:cNvSpPr txBox="1">
            <a:spLocks noChangeArrowheads="1"/>
          </p:cNvSpPr>
          <p:nvPr/>
        </p:nvSpPr>
        <p:spPr bwMode="auto">
          <a:xfrm>
            <a:off x="3009528" y="6362452"/>
            <a:ext cx="115448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cs typeface="Arial" pitchFamily="34" charset="0"/>
              </a:rPr>
              <a:t> n2 individuals</a:t>
            </a:r>
            <a:endParaRPr lang="ko-KR" altLang="en-US" sz="1200" dirty="0">
              <a:latin typeface="Arial" pitchFamily="34" charset="0"/>
              <a:ea typeface="맑은 고딕" pitchFamily="50" charset="-127"/>
              <a:cs typeface="Arial" pitchFamily="34" charset="0"/>
            </a:endParaRPr>
          </a:p>
        </p:txBody>
      </p:sp>
      <p:sp>
        <p:nvSpPr>
          <p:cNvPr id="33834" name="Text Box 42"/>
          <p:cNvSpPr txBox="1">
            <a:spLocks noChangeArrowheads="1"/>
          </p:cNvSpPr>
          <p:nvPr/>
        </p:nvSpPr>
        <p:spPr bwMode="auto">
          <a:xfrm>
            <a:off x="4449688" y="6308477"/>
            <a:ext cx="115448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cs typeface="Arial" pitchFamily="34" charset="0"/>
              </a:rPr>
              <a:t> n5 individuals</a:t>
            </a:r>
            <a:endParaRPr lang="ko-KR" altLang="en-US" sz="1200" dirty="0">
              <a:latin typeface="Arial" pitchFamily="34" charset="0"/>
              <a:ea typeface="맑은 고딕" pitchFamily="50" charset="-127"/>
              <a:cs typeface="Arial" pitchFamily="34" charset="0"/>
            </a:endParaRPr>
          </a:p>
        </p:txBody>
      </p:sp>
      <p:sp>
        <p:nvSpPr>
          <p:cNvPr id="33835" name="Text Box 43"/>
          <p:cNvSpPr txBox="1">
            <a:spLocks noChangeArrowheads="1"/>
          </p:cNvSpPr>
          <p:nvPr/>
        </p:nvSpPr>
        <p:spPr bwMode="auto">
          <a:xfrm>
            <a:off x="6249888" y="6308477"/>
            <a:ext cx="11031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cs typeface="Arial" pitchFamily="34" charset="0"/>
              </a:rPr>
              <a:t> ni</a:t>
            </a:r>
            <a:r>
              <a:rPr lang="ko-KR" altLang="en-US" sz="1200" dirty="0">
                <a:latin typeface="Arial" pitchFamily="34" charset="0"/>
                <a:ea typeface="맑은 고딕" pitchFamily="50" charset="-127"/>
                <a:cs typeface="Arial" pitchFamily="34" charset="0"/>
              </a:rPr>
              <a:t> </a:t>
            </a:r>
            <a:r>
              <a:rPr lang="en-US" altLang="ko-KR" sz="1200" dirty="0">
                <a:latin typeface="Arial" pitchFamily="34" charset="0"/>
                <a:ea typeface="맑은 고딕" pitchFamily="50" charset="-127"/>
                <a:cs typeface="Arial" pitchFamily="34" charset="0"/>
              </a:rPr>
              <a:t>individuals</a:t>
            </a:r>
            <a:endParaRPr lang="ko-KR" altLang="en-US" sz="1200" dirty="0">
              <a:latin typeface="Arial" pitchFamily="34" charset="0"/>
              <a:ea typeface="맑은 고딕" pitchFamily="50" charset="-127"/>
              <a:cs typeface="Arial" pitchFamily="34" charset="0"/>
            </a:endParaRPr>
          </a:p>
        </p:txBody>
      </p:sp>
      <p:sp>
        <p:nvSpPr>
          <p:cNvPr id="33836" name="Text Box 44"/>
          <p:cNvSpPr txBox="1">
            <a:spLocks noChangeArrowheads="1"/>
          </p:cNvSpPr>
          <p:nvPr/>
        </p:nvSpPr>
        <p:spPr bwMode="auto">
          <a:xfrm>
            <a:off x="991840" y="6033839"/>
            <a:ext cx="14350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2</a:t>
            </a:r>
            <a:r>
              <a:rPr lang="en-US" altLang="ko-KR" sz="1200" b="1" baseline="30000" dirty="0">
                <a:latin typeface="Arial" pitchFamily="34" charset="0"/>
                <a:ea typeface="맑은 고딕" pitchFamily="50" charset="-127"/>
                <a:cs typeface="Arial" pitchFamily="34" charset="0"/>
              </a:rPr>
              <a:t>nd</a:t>
            </a:r>
            <a:r>
              <a:rPr lang="en-US" altLang="ko-KR" sz="1200" b="1" dirty="0">
                <a:latin typeface="Arial" pitchFamily="34" charset="0"/>
                <a:ea typeface="맑은 고딕" pitchFamily="50" charset="-127"/>
                <a:cs typeface="Arial" pitchFamily="34" charset="0"/>
              </a:rPr>
              <a:t> sample</a:t>
            </a:r>
          </a:p>
          <a:p>
            <a:pPr eaLnBrk="1" hangingPunct="1"/>
            <a:r>
              <a:rPr lang="en-US" altLang="ko-KR" sz="1200" b="1" dirty="0">
                <a:latin typeface="Arial" pitchFamily="34" charset="0"/>
                <a:ea typeface="맑은 고딕" pitchFamily="50" charset="-127"/>
                <a:cs typeface="Arial" pitchFamily="34" charset="0"/>
              </a:rPr>
              <a:t>(</a:t>
            </a:r>
            <a:r>
              <a:rPr lang="en-US" altLang="ko-KR" sz="1200" b="1" dirty="0" err="1">
                <a:latin typeface="Arial" pitchFamily="34" charset="0"/>
                <a:ea typeface="맑은 고딕" pitchFamily="50" charset="-127"/>
                <a:cs typeface="Arial" pitchFamily="34" charset="0"/>
              </a:rPr>
              <a:t>Chọn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mẫu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lần</a:t>
            </a:r>
            <a:r>
              <a:rPr lang="en-US" altLang="ko-KR" sz="1200" b="1" dirty="0">
                <a:latin typeface="Arial" pitchFamily="34" charset="0"/>
                <a:ea typeface="맑은 고딕" pitchFamily="50" charset="-127"/>
                <a:cs typeface="Arial" pitchFamily="34" charset="0"/>
              </a:rPr>
              <a:t> 2)</a:t>
            </a:r>
            <a:endParaRPr lang="ko-KR" altLang="en-US" sz="12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a:xfrm>
            <a:off x="9218809" y="6475838"/>
            <a:ext cx="654050" cy="365125"/>
          </a:xfrm>
        </p:spPr>
        <p:txBody>
          <a:bodyPr/>
          <a:lstStyle/>
          <a:p>
            <a:pPr>
              <a:defRPr/>
            </a:pPr>
            <a:fld id="{336E293E-7793-468B-AB4C-49C46432963A}" type="slidenum">
              <a:rPr lang="ko-KR" altLang="en-US" smtClean="0">
                <a:latin typeface="Arial" pitchFamily="34" charset="0"/>
                <a:cs typeface="Arial" pitchFamily="34" charset="0"/>
              </a:rPr>
              <a:pPr>
                <a:defRPr/>
              </a:pPr>
              <a:t>37</a:t>
            </a:fld>
            <a:endParaRPr lang="ko-KR" altLang="en-US" dirty="0">
              <a:latin typeface="Arial" pitchFamily="34" charset="0"/>
              <a:cs typeface="Arial" pitchFamily="34" charset="0"/>
            </a:endParaRPr>
          </a:p>
        </p:txBody>
      </p:sp>
      <p:sp>
        <p:nvSpPr>
          <p:cNvPr id="47"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4. </a:t>
            </a:r>
            <a:r>
              <a:rPr lang="en-US" altLang="ko-KR" b="1" dirty="0" err="1">
                <a:latin typeface="Arial" pitchFamily="34" charset="0"/>
                <a:ea typeface="맑은 고딕" pitchFamily="50" charset="-127"/>
                <a:cs typeface="Arial" pitchFamily="34" charset="0"/>
              </a:rPr>
              <a:t>Phương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pháp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thập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4"/>
          <p:cNvSpPr>
            <a:spLocks noChangeArrowheads="1"/>
          </p:cNvSpPr>
          <p:nvPr/>
        </p:nvSpPr>
        <p:spPr bwMode="auto">
          <a:xfrm>
            <a:off x="227013" y="1341438"/>
            <a:ext cx="7029450" cy="3970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buFontTx/>
              <a:buChar char="-"/>
            </a:pPr>
            <a:r>
              <a:rPr lang="en-US" sz="1200" dirty="0">
                <a:latin typeface="Arial" pitchFamily="34" charset="0"/>
                <a:cs typeface="Arial" pitchFamily="34" charset="0"/>
              </a:rPr>
              <a:t> </a:t>
            </a:r>
            <a:r>
              <a:rPr lang="vi-VN" sz="1200" dirty="0">
                <a:latin typeface="Arial" pitchFamily="34" charset="0"/>
                <a:cs typeface="Arial" pitchFamily="34" charset="0"/>
              </a:rPr>
              <a:t>Gán số cho từng đơn vị để các đặc điểm được nghiên cứu có thể được hiển thị </a:t>
            </a:r>
            <a:r>
              <a:rPr lang="en-US" sz="1200" dirty="0" err="1">
                <a:latin typeface="Arial" pitchFamily="34" charset="0"/>
                <a:cs typeface="Arial" pitchFamily="34" charset="0"/>
              </a:rPr>
              <a:t>một</a:t>
            </a:r>
            <a:r>
              <a:rPr lang="en-US" sz="1200" dirty="0">
                <a:latin typeface="Arial" pitchFamily="34" charset="0"/>
                <a:cs typeface="Arial" pitchFamily="34" charset="0"/>
              </a:rPr>
              <a:t> </a:t>
            </a:r>
            <a:r>
              <a:rPr lang="en-US" sz="1200" dirty="0" err="1">
                <a:latin typeface="Arial" pitchFamily="34" charset="0"/>
                <a:cs typeface="Arial" pitchFamily="34" charset="0"/>
              </a:rPr>
              <a:t>cách</a:t>
            </a:r>
            <a:r>
              <a:rPr lang="en-US" sz="1200" dirty="0">
                <a:latin typeface="Arial" pitchFamily="34" charset="0"/>
                <a:cs typeface="Arial" pitchFamily="34" charset="0"/>
              </a:rPr>
              <a:t> </a:t>
            </a:r>
            <a:r>
              <a:rPr lang="en-US" sz="1200" dirty="0" err="1">
                <a:latin typeface="Arial" pitchFamily="34" charset="0"/>
                <a:cs typeface="Arial" pitchFamily="34" charset="0"/>
              </a:rPr>
              <a:t>hiệu</a:t>
            </a:r>
            <a:r>
              <a:rPr lang="en-US" sz="1200" dirty="0">
                <a:latin typeface="Arial" pitchFamily="34" charset="0"/>
                <a:cs typeface="Arial" pitchFamily="34" charset="0"/>
              </a:rPr>
              <a:t> </a:t>
            </a:r>
            <a:r>
              <a:rPr lang="en-US" sz="1200" dirty="0" err="1">
                <a:latin typeface="Arial" pitchFamily="34" charset="0"/>
                <a:cs typeface="Arial" pitchFamily="34" charset="0"/>
              </a:rPr>
              <a:t>quả</a:t>
            </a:r>
            <a:r>
              <a:rPr lang="en-US" sz="1200" dirty="0">
                <a:latin typeface="Arial" pitchFamily="34" charset="0"/>
                <a:cs typeface="Arial" pitchFamily="34" charset="0"/>
              </a:rPr>
              <a:t> </a:t>
            </a:r>
            <a:r>
              <a:rPr lang="vi-VN" sz="1200" dirty="0">
                <a:latin typeface="Arial" pitchFamily="34" charset="0"/>
                <a:cs typeface="Arial" pitchFamily="34" charset="0"/>
              </a:rPr>
              <a:t>. </a:t>
            </a:r>
            <a:r>
              <a:rPr lang="en-US" sz="1200" dirty="0">
                <a:latin typeface="Arial" pitchFamily="34" charset="0"/>
                <a:cs typeface="Arial" pitchFamily="34" charset="0"/>
              </a:rPr>
              <a:t>    </a:t>
            </a:r>
            <a:r>
              <a:rPr lang="vi-VN" sz="1200" dirty="0">
                <a:latin typeface="Arial" pitchFamily="34" charset="0"/>
                <a:cs typeface="Arial" pitchFamily="34" charset="0"/>
              </a:rPr>
              <a:t>Nói các</a:t>
            </a:r>
            <a:r>
              <a:rPr lang="en-US" sz="1200" dirty="0">
                <a:latin typeface="Arial" pitchFamily="34" charset="0"/>
                <a:cs typeface="Arial" pitchFamily="34" charset="0"/>
              </a:rPr>
              <a:t>h</a:t>
            </a:r>
            <a:r>
              <a:rPr lang="vi-VN" sz="1200" dirty="0">
                <a:latin typeface="Arial" pitchFamily="34" charset="0"/>
                <a:cs typeface="Arial" pitchFamily="34" charset="0"/>
              </a:rPr>
              <a:t> khác, đo </a:t>
            </a:r>
            <a:r>
              <a:rPr lang="en-US" sz="1200" dirty="0">
                <a:latin typeface="Arial" pitchFamily="34" charset="0"/>
                <a:cs typeface="Arial" pitchFamily="34" charset="0"/>
              </a:rPr>
              <a:t>l</a:t>
            </a:r>
            <a:r>
              <a:rPr lang="en-US" sz="1200" dirty="0" err="1">
                <a:latin typeface="Arial" pitchFamily="34" charset="0"/>
                <a:cs typeface="Arial" pitchFamily="34" charset="0"/>
              </a:rPr>
              <a:t>ường </a:t>
            </a:r>
            <a:r>
              <a:rPr lang="vi-VN" sz="1200" dirty="0">
                <a:latin typeface="Arial" pitchFamily="34" charset="0"/>
                <a:cs typeface="Arial" pitchFamily="34" charset="0"/>
              </a:rPr>
              <a:t>là quá trình t</a:t>
            </a:r>
            <a:r>
              <a:rPr lang="en-US" sz="1200" dirty="0" err="1">
                <a:latin typeface="Arial" pitchFamily="34" charset="0"/>
                <a:cs typeface="Arial" pitchFamily="34" charset="0"/>
              </a:rPr>
              <a:t>ạo</a:t>
            </a:r>
            <a:r>
              <a:rPr lang="en-US" sz="1200" dirty="0">
                <a:latin typeface="Arial" pitchFamily="34" charset="0"/>
                <a:cs typeface="Arial" pitchFamily="34" charset="0"/>
              </a:rPr>
              <a:t> </a:t>
            </a:r>
            <a:r>
              <a:rPr lang="en-US" sz="1200" dirty="0" err="1">
                <a:latin typeface="Arial" pitchFamily="34" charset="0"/>
                <a:cs typeface="Arial" pitchFamily="34" charset="0"/>
              </a:rPr>
              <a:t>nên</a:t>
            </a:r>
            <a:r>
              <a:rPr lang="en-US" sz="1200" dirty="0">
                <a:latin typeface="Arial" pitchFamily="34" charset="0"/>
                <a:cs typeface="Arial" pitchFamily="34" charset="0"/>
              </a:rPr>
              <a:t> </a:t>
            </a:r>
            <a:r>
              <a:rPr lang="en-US" sz="1200" dirty="0" err="1">
                <a:latin typeface="Arial" pitchFamily="34" charset="0"/>
                <a:cs typeface="Arial" pitchFamily="34" charset="0"/>
              </a:rPr>
              <a:t>các</a:t>
            </a:r>
            <a:r>
              <a:rPr lang="en-US" sz="1200" dirty="0">
                <a:latin typeface="Arial" pitchFamily="34" charset="0"/>
                <a:cs typeface="Arial" pitchFamily="34" charset="0"/>
              </a:rPr>
              <a:t> con </a:t>
            </a:r>
            <a:r>
              <a:rPr lang="en-US" sz="1200" dirty="0" err="1">
                <a:latin typeface="Arial" pitchFamily="34" charset="0"/>
                <a:cs typeface="Arial" pitchFamily="34" charset="0"/>
              </a:rPr>
              <a:t>số</a:t>
            </a:r>
            <a:r>
              <a:rPr lang="en-US" sz="1200" dirty="0">
                <a:latin typeface="Arial" pitchFamily="34" charset="0"/>
                <a:cs typeface="Arial" pitchFamily="34" charset="0"/>
              </a:rPr>
              <a:t>.</a:t>
            </a:r>
            <a:r>
              <a:rPr lang="vi-VN" sz="1200" dirty="0">
                <a:latin typeface="Arial" pitchFamily="34" charset="0"/>
                <a:cs typeface="Arial" pitchFamily="34" charset="0"/>
              </a:rPr>
              <a:t> </a:t>
            </a:r>
            <a:br>
              <a:rPr lang="vi-VN" sz="1200" dirty="0">
                <a:latin typeface="Arial" pitchFamily="34" charset="0"/>
                <a:cs typeface="Arial" pitchFamily="34" charset="0"/>
              </a:rPr>
            </a:br>
            <a:br>
              <a:rPr lang="vi-VN" sz="1200" dirty="0">
                <a:latin typeface="Arial" pitchFamily="34" charset="0"/>
                <a:cs typeface="Arial" pitchFamily="34" charset="0"/>
              </a:rPr>
            </a:br>
            <a:endParaRPr lang="en-US" sz="1200" dirty="0">
              <a:latin typeface="Arial" pitchFamily="34" charset="0"/>
              <a:cs typeface="Arial" pitchFamily="34" charset="0"/>
            </a:endParaRPr>
          </a:p>
          <a:p>
            <a:pPr latinLnBrk="0">
              <a:buFontTx/>
              <a:buChar char="-"/>
            </a:pPr>
            <a:r>
              <a:rPr lang="vi-VN" sz="1200" dirty="0">
                <a:latin typeface="Arial" pitchFamily="34" charset="0"/>
                <a:cs typeface="Arial" pitchFamily="34" charset="0"/>
              </a:rPr>
              <a:t> Hệ thống đo lường:</a:t>
            </a:r>
            <a:endParaRPr lang="en-US" sz="1200" dirty="0">
              <a:latin typeface="Arial" pitchFamily="34" charset="0"/>
              <a:cs typeface="Arial" pitchFamily="34" charset="0"/>
            </a:endParaRPr>
          </a:p>
          <a:p>
            <a:pPr latinLnBrk="0"/>
            <a:r>
              <a:rPr lang="en-US" sz="1200" dirty="0">
                <a:latin typeface="Arial" pitchFamily="34" charset="0"/>
                <a:cs typeface="Arial" pitchFamily="34" charset="0"/>
              </a:rPr>
              <a:t>   </a:t>
            </a:r>
            <a:r>
              <a:rPr lang="vi-VN" sz="1200" dirty="0">
                <a:latin typeface="Arial" pitchFamily="34" charset="0"/>
                <a:cs typeface="Arial" pitchFamily="34" charset="0"/>
              </a:rPr>
              <a:t>Tất cả các thiết bị và công cụ để thu thập dữ liệu đo lường được gọi là </a:t>
            </a:r>
            <a:r>
              <a:rPr lang="en-US" sz="1200" dirty="0" err="1">
                <a:latin typeface="Arial" pitchFamily="34" charset="0"/>
                <a:cs typeface="Arial" pitchFamily="34" charset="0"/>
              </a:rPr>
              <a:t>thiết</a:t>
            </a:r>
            <a:r>
              <a:rPr lang="en-US" sz="1200" dirty="0">
                <a:latin typeface="Arial" pitchFamily="34" charset="0"/>
                <a:cs typeface="Arial" pitchFamily="34" charset="0"/>
              </a:rPr>
              <a:t> </a:t>
            </a:r>
            <a:r>
              <a:rPr lang="en-US" sz="1200" dirty="0" err="1">
                <a:latin typeface="Arial" pitchFamily="34" charset="0"/>
                <a:cs typeface="Arial" pitchFamily="34" charset="0"/>
              </a:rPr>
              <a:t>bị</a:t>
            </a:r>
            <a:r>
              <a:rPr lang="en-US" sz="1200" dirty="0">
                <a:latin typeface="Arial" pitchFamily="34" charset="0"/>
                <a:cs typeface="Arial" pitchFamily="34" charset="0"/>
              </a:rPr>
              <a:t> </a:t>
            </a:r>
            <a:r>
              <a:rPr lang="en-US" sz="1200" dirty="0" err="1">
                <a:latin typeface="Arial" pitchFamily="34" charset="0"/>
                <a:cs typeface="Arial" pitchFamily="34" charset="0"/>
              </a:rPr>
              <a:t>đo</a:t>
            </a:r>
            <a:r>
              <a:rPr lang="vi-VN" sz="1200" dirty="0">
                <a:latin typeface="Arial" pitchFamily="34" charset="0"/>
                <a:cs typeface="Arial" pitchFamily="34" charset="0"/>
              </a:rPr>
              <a:t> hoặc dụng cụ đo lường. </a:t>
            </a:r>
            <a:r>
              <a:rPr lang="en-US" sz="1200" dirty="0" err="1">
                <a:latin typeface="Arial" pitchFamily="34" charset="0"/>
                <a:cs typeface="Arial" pitchFamily="34" charset="0"/>
              </a:rPr>
              <a:t>Thiết</a:t>
            </a:r>
            <a:r>
              <a:rPr lang="en-US" sz="1200" dirty="0">
                <a:latin typeface="Arial" pitchFamily="34" charset="0"/>
                <a:cs typeface="Arial" pitchFamily="34" charset="0"/>
              </a:rPr>
              <a:t> </a:t>
            </a:r>
            <a:r>
              <a:rPr lang="en-US" sz="1200" dirty="0" err="1">
                <a:latin typeface="Arial" pitchFamily="34" charset="0"/>
                <a:cs typeface="Arial" pitchFamily="34" charset="0"/>
              </a:rPr>
              <a:t>bị</a:t>
            </a:r>
            <a:r>
              <a:rPr lang="en-US" sz="1200" dirty="0">
                <a:latin typeface="Arial" pitchFamily="34" charset="0"/>
                <a:cs typeface="Arial" pitchFamily="34" charset="0"/>
              </a:rPr>
              <a:t> </a:t>
            </a:r>
            <a:r>
              <a:rPr lang="en-US" sz="1200" dirty="0" err="1">
                <a:latin typeface="Arial" pitchFamily="34" charset="0"/>
                <a:cs typeface="Arial" pitchFamily="34" charset="0"/>
              </a:rPr>
              <a:t>đo</a:t>
            </a:r>
            <a:r>
              <a:rPr lang="en-US" sz="1200" dirty="0">
                <a:latin typeface="Arial" pitchFamily="34" charset="0"/>
                <a:cs typeface="Arial" pitchFamily="34" charset="0"/>
              </a:rPr>
              <a:t> </a:t>
            </a:r>
            <a:r>
              <a:rPr lang="en-US" sz="1200" dirty="0" err="1">
                <a:latin typeface="Arial" pitchFamily="34" charset="0"/>
                <a:cs typeface="Arial" pitchFamily="34" charset="0"/>
              </a:rPr>
              <a:t>lường</a:t>
            </a:r>
            <a:r>
              <a:rPr lang="en-US" sz="1200" dirty="0">
                <a:latin typeface="Arial" pitchFamily="34" charset="0"/>
                <a:cs typeface="Arial" pitchFamily="34" charset="0"/>
              </a:rPr>
              <a:t>, </a:t>
            </a:r>
            <a:r>
              <a:rPr lang="en-US" sz="1200" dirty="0" err="1">
                <a:latin typeface="Arial" pitchFamily="34" charset="0"/>
                <a:cs typeface="Arial" pitchFamily="34" charset="0"/>
              </a:rPr>
              <a:t>người</a:t>
            </a:r>
            <a:r>
              <a:rPr lang="vi-VN" sz="1200" dirty="0">
                <a:latin typeface="Arial" pitchFamily="34" charset="0"/>
                <a:cs typeface="Arial" pitchFamily="34" charset="0"/>
              </a:rPr>
              <a:t> đo, phần mềm</a:t>
            </a:r>
            <a:r>
              <a:rPr lang="en-US" sz="1200" dirty="0">
                <a:latin typeface="Arial" pitchFamily="34" charset="0"/>
                <a:cs typeface="Arial" pitchFamily="34" charset="0"/>
              </a:rPr>
              <a:t>,</a:t>
            </a:r>
            <a:r>
              <a:rPr lang="vi-VN" sz="1200" dirty="0">
                <a:latin typeface="Arial" pitchFamily="34" charset="0"/>
                <a:cs typeface="Arial" pitchFamily="34" charset="0"/>
              </a:rPr>
              <a:t> các phương pháp </a:t>
            </a:r>
            <a:r>
              <a:rPr lang="en-US" sz="1200" dirty="0" err="1">
                <a:latin typeface="Arial" pitchFamily="34" charset="0"/>
                <a:cs typeface="Arial" pitchFamily="34" charset="0"/>
              </a:rPr>
              <a:t>đo</a:t>
            </a:r>
            <a:r>
              <a:rPr lang="en-US" sz="1200" dirty="0">
                <a:latin typeface="Arial" pitchFamily="34" charset="0"/>
                <a:cs typeface="Arial" pitchFamily="34" charset="0"/>
              </a:rPr>
              <a:t> </a:t>
            </a:r>
            <a:r>
              <a:rPr lang="en-US" sz="1200" dirty="0" err="1">
                <a:latin typeface="Arial" pitchFamily="34" charset="0"/>
                <a:cs typeface="Arial" pitchFamily="34" charset="0"/>
              </a:rPr>
              <a:t>lường</a:t>
            </a:r>
            <a:r>
              <a:rPr lang="en-US" sz="1200" dirty="0">
                <a:latin typeface="Arial" pitchFamily="34" charset="0"/>
                <a:cs typeface="Arial" pitchFamily="34" charset="0"/>
              </a:rPr>
              <a:t> </a:t>
            </a:r>
            <a:r>
              <a:rPr lang="vi-VN" sz="1200" dirty="0">
                <a:latin typeface="Arial" pitchFamily="34" charset="0"/>
                <a:cs typeface="Arial" pitchFamily="34" charset="0"/>
              </a:rPr>
              <a:t>v</a:t>
            </a:r>
            <a:r>
              <a:rPr lang="en-US" sz="1200" dirty="0">
                <a:latin typeface="Arial" pitchFamily="34" charset="0"/>
                <a:cs typeface="Arial" pitchFamily="34" charset="0"/>
              </a:rPr>
              <a:t>à </a:t>
            </a:r>
            <a:r>
              <a:rPr lang="vi-VN" sz="1200" dirty="0">
                <a:latin typeface="Arial" pitchFamily="34" charset="0"/>
                <a:cs typeface="Arial" pitchFamily="34" charset="0"/>
              </a:rPr>
              <a:t>toàn bộ quá trình được gọi là hệ thống đo lường.</a:t>
            </a:r>
            <a:br>
              <a:rPr lang="vi-VN" sz="1200" dirty="0">
                <a:latin typeface="Arial" pitchFamily="34" charset="0"/>
                <a:cs typeface="Arial" pitchFamily="34" charset="0"/>
              </a:rPr>
            </a:br>
            <a:r>
              <a:rPr lang="vi-VN" sz="1200" dirty="0">
                <a:latin typeface="Arial" pitchFamily="34" charset="0"/>
                <a:cs typeface="Arial" pitchFamily="34" charset="0"/>
              </a:rPr>
              <a:t> </a:t>
            </a:r>
            <a:br>
              <a:rPr lang="vi-VN" sz="1200" dirty="0">
                <a:latin typeface="Arial" pitchFamily="34" charset="0"/>
                <a:cs typeface="Arial" pitchFamily="34" charset="0"/>
              </a:rPr>
            </a:br>
            <a:r>
              <a:rPr lang="vi-VN" sz="1200" dirty="0">
                <a:latin typeface="Arial" pitchFamily="34" charset="0"/>
                <a:cs typeface="Arial" pitchFamily="34" charset="0"/>
              </a:rPr>
              <a:t>- Các loại đo</a:t>
            </a:r>
            <a:r>
              <a:rPr lang="en-US" sz="1200" dirty="0">
                <a:latin typeface="Arial" pitchFamily="34" charset="0"/>
                <a:cs typeface="Arial" pitchFamily="34" charset="0"/>
              </a:rPr>
              <a:t> </a:t>
            </a:r>
            <a:r>
              <a:rPr lang="en-US" sz="1200" dirty="0" err="1">
                <a:latin typeface="Arial" pitchFamily="34" charset="0"/>
                <a:cs typeface="Arial" pitchFamily="34" charset="0"/>
              </a:rPr>
              <a:t>lường</a:t>
            </a:r>
            <a:br>
              <a:rPr lang="vi-VN" sz="1200" dirty="0">
                <a:latin typeface="Arial" pitchFamily="34" charset="0"/>
                <a:cs typeface="Arial" pitchFamily="34" charset="0"/>
              </a:rPr>
            </a:br>
            <a:r>
              <a:rPr lang="vi-VN" sz="1200" dirty="0">
                <a:latin typeface="Arial" pitchFamily="34" charset="0"/>
                <a:cs typeface="Arial" pitchFamily="34" charset="0"/>
              </a:rPr>
              <a:t>     ① </a:t>
            </a:r>
            <a:r>
              <a:rPr lang="en-US" sz="1200" dirty="0" err="1">
                <a:latin typeface="Arial" pitchFamily="34" charset="0"/>
                <a:cs typeface="Arial" pitchFamily="34" charset="0"/>
              </a:rPr>
              <a:t>Phép</a:t>
            </a:r>
            <a:r>
              <a:rPr lang="en-US" sz="1200" dirty="0">
                <a:latin typeface="Arial" pitchFamily="34" charset="0"/>
                <a:cs typeface="Arial" pitchFamily="34" charset="0"/>
              </a:rPr>
              <a:t> </a:t>
            </a:r>
            <a:r>
              <a:rPr lang="vi-VN" sz="1200" dirty="0">
                <a:latin typeface="Arial" pitchFamily="34" charset="0"/>
                <a:cs typeface="Arial" pitchFamily="34" charset="0"/>
              </a:rPr>
              <a:t>đo trực tiếp: </a:t>
            </a:r>
            <a:r>
              <a:rPr lang="en-US" sz="1200" dirty="0" err="1">
                <a:latin typeface="Arial" pitchFamily="34" charset="0"/>
                <a:cs typeface="Arial" pitchFamily="34" charset="0"/>
              </a:rPr>
              <a:t>điều</a:t>
            </a:r>
            <a:r>
              <a:rPr lang="en-US" sz="1200" dirty="0">
                <a:latin typeface="Arial" pitchFamily="34" charset="0"/>
                <a:cs typeface="Arial" pitchFamily="34" charset="0"/>
              </a:rPr>
              <a:t> </a:t>
            </a:r>
            <a:r>
              <a:rPr lang="vi-VN" sz="1200" dirty="0">
                <a:latin typeface="Arial" pitchFamily="34" charset="0"/>
                <a:cs typeface="Arial" pitchFamily="34" charset="0"/>
              </a:rPr>
              <a:t>này </a:t>
            </a:r>
            <a:r>
              <a:rPr lang="en-US" sz="1200" dirty="0" err="1">
                <a:latin typeface="Arial" pitchFamily="34" charset="0"/>
                <a:cs typeface="Arial" pitchFamily="34" charset="0"/>
              </a:rPr>
              <a:t>có</a:t>
            </a:r>
            <a:r>
              <a:rPr lang="en-US" sz="1200" dirty="0">
                <a:latin typeface="Arial" pitchFamily="34" charset="0"/>
                <a:cs typeface="Arial" pitchFamily="34" charset="0"/>
              </a:rPr>
              <a:t> </a:t>
            </a:r>
            <a:r>
              <a:rPr lang="en-US" sz="1200" dirty="0" err="1">
                <a:latin typeface="Arial" pitchFamily="34" charset="0"/>
                <a:cs typeface="Arial" pitchFamily="34" charset="0"/>
              </a:rPr>
              <a:t>nghĩa</a:t>
            </a:r>
            <a:r>
              <a:rPr lang="en-US" sz="1200" dirty="0">
                <a:latin typeface="Arial" pitchFamily="34" charset="0"/>
                <a:cs typeface="Arial" pitchFamily="34" charset="0"/>
              </a:rPr>
              <a:t> </a:t>
            </a:r>
            <a:r>
              <a:rPr lang="en-US" sz="1200" dirty="0" err="1">
                <a:latin typeface="Arial" pitchFamily="34" charset="0"/>
                <a:cs typeface="Arial" pitchFamily="34" charset="0"/>
              </a:rPr>
              <a:t>là</a:t>
            </a:r>
            <a:r>
              <a:rPr lang="en-US" sz="1200" dirty="0">
                <a:latin typeface="Arial" pitchFamily="34" charset="0"/>
                <a:cs typeface="Arial" pitchFamily="34" charset="0"/>
              </a:rPr>
              <a:t> </a:t>
            </a:r>
            <a:r>
              <a:rPr lang="vi-VN" sz="1200" dirty="0">
                <a:latin typeface="Arial" pitchFamily="34" charset="0"/>
                <a:cs typeface="Arial" pitchFamily="34" charset="0"/>
              </a:rPr>
              <a:t>lấy số đo bằng cách trực tiếp đưa các dụng cụ đo lường (trong đó có dấu hiệu quy mô) tiếp xúc với các đối tượng</a:t>
            </a:r>
            <a:r>
              <a:rPr lang="en-US" sz="1200" dirty="0">
                <a:latin typeface="Arial" pitchFamily="34" charset="0"/>
                <a:cs typeface="Arial" pitchFamily="34" charset="0"/>
              </a:rPr>
              <a:t> </a:t>
            </a:r>
            <a:r>
              <a:rPr lang="vi-VN" sz="1200" dirty="0">
                <a:latin typeface="Arial" pitchFamily="34" charset="0"/>
                <a:cs typeface="Arial" pitchFamily="34" charset="0"/>
              </a:rPr>
              <a:t>(Vernier caliper, micromet, vv)</a:t>
            </a:r>
            <a:br>
              <a:rPr lang="vi-VN" sz="1200" dirty="0">
                <a:latin typeface="Arial" pitchFamily="34" charset="0"/>
                <a:cs typeface="Arial" pitchFamily="34" charset="0"/>
              </a:rPr>
            </a:br>
            <a:br>
              <a:rPr lang="vi-VN" sz="1200" dirty="0">
                <a:latin typeface="Arial" pitchFamily="34" charset="0"/>
                <a:cs typeface="Arial" pitchFamily="34" charset="0"/>
              </a:rPr>
            </a:br>
            <a:r>
              <a:rPr lang="vi-VN" sz="1200" dirty="0">
                <a:latin typeface="Arial" pitchFamily="34" charset="0"/>
                <a:cs typeface="Arial" pitchFamily="34" charset="0"/>
              </a:rPr>
              <a:t>     ② </a:t>
            </a:r>
            <a:r>
              <a:rPr lang="en-US" sz="1200" dirty="0" err="1">
                <a:latin typeface="Arial" pitchFamily="34" charset="0"/>
                <a:cs typeface="Arial" pitchFamily="34" charset="0"/>
              </a:rPr>
              <a:t>Phép</a:t>
            </a:r>
            <a:r>
              <a:rPr lang="en-US" sz="1200" dirty="0">
                <a:latin typeface="Arial" pitchFamily="34" charset="0"/>
                <a:cs typeface="Arial" pitchFamily="34" charset="0"/>
              </a:rPr>
              <a:t> </a:t>
            </a:r>
            <a:r>
              <a:rPr lang="vi-VN" sz="1200" dirty="0">
                <a:latin typeface="Arial" pitchFamily="34" charset="0"/>
                <a:cs typeface="Arial" pitchFamily="34" charset="0"/>
              </a:rPr>
              <a:t>đo</a:t>
            </a:r>
            <a:r>
              <a:rPr lang="en-US" sz="1200" dirty="0">
                <a:latin typeface="Arial" pitchFamily="34" charset="0"/>
                <a:cs typeface="Arial" pitchFamily="34" charset="0"/>
              </a:rPr>
              <a:t> so </a:t>
            </a:r>
            <a:r>
              <a:rPr lang="en-US" sz="1200" dirty="0" err="1">
                <a:latin typeface="Arial" pitchFamily="34" charset="0"/>
                <a:cs typeface="Arial" pitchFamily="34" charset="0"/>
              </a:rPr>
              <a:t>sánh</a:t>
            </a:r>
            <a:r>
              <a:rPr lang="vi-VN" sz="1200" dirty="0">
                <a:latin typeface="Arial" pitchFamily="34" charset="0"/>
                <a:cs typeface="Arial" pitchFamily="34" charset="0"/>
              </a:rPr>
              <a:t>: lấy số đo bằng cách so sánh các đối tượng </a:t>
            </a:r>
            <a:r>
              <a:rPr lang="en-US" sz="1200" dirty="0" err="1">
                <a:latin typeface="Arial" pitchFamily="34" charset="0"/>
                <a:cs typeface="Arial" pitchFamily="34" charset="0"/>
              </a:rPr>
              <a:t>dựa</a:t>
            </a:r>
            <a:r>
              <a:rPr lang="en-US" sz="1200" dirty="0">
                <a:latin typeface="Arial" pitchFamily="34" charset="0"/>
                <a:cs typeface="Arial" pitchFamily="34" charset="0"/>
              </a:rPr>
              <a:t> </a:t>
            </a:r>
            <a:r>
              <a:rPr lang="en-US" sz="1200" dirty="0" err="1">
                <a:latin typeface="Arial" pitchFamily="34" charset="0"/>
                <a:cs typeface="Arial" pitchFamily="34" charset="0"/>
              </a:rPr>
              <a:t>trên</a:t>
            </a:r>
            <a:r>
              <a:rPr lang="en-US" sz="1200" dirty="0">
                <a:latin typeface="Arial" pitchFamily="34" charset="0"/>
                <a:cs typeface="Arial" pitchFamily="34" charset="0"/>
              </a:rPr>
              <a:t> </a:t>
            </a:r>
            <a:r>
              <a:rPr lang="vi-VN" sz="1200" dirty="0">
                <a:latin typeface="Arial" pitchFamily="34" charset="0"/>
                <a:cs typeface="Arial" pitchFamily="34" charset="0"/>
              </a:rPr>
              <a:t>một tiêu chuẩn mà các phép đo đã được biết đến và đánh dấu sự khác biệt. (Dial gage, micromet khí, v</a:t>
            </a:r>
            <a:r>
              <a:rPr lang="en-US" sz="1200" dirty="0">
                <a:latin typeface="Arial" pitchFamily="34" charset="0"/>
                <a:cs typeface="Arial" pitchFamily="34" charset="0"/>
              </a:rPr>
              <a:t>.</a:t>
            </a:r>
            <a:r>
              <a:rPr lang="vi-VN" sz="1200" dirty="0">
                <a:latin typeface="Arial" pitchFamily="34" charset="0"/>
                <a:cs typeface="Arial" pitchFamily="34" charset="0"/>
              </a:rPr>
              <a:t>v</a:t>
            </a:r>
            <a:r>
              <a:rPr lang="en-US" sz="1200" dirty="0">
                <a:latin typeface="Arial" pitchFamily="34" charset="0"/>
                <a:cs typeface="Arial" pitchFamily="34" charset="0"/>
              </a:rPr>
              <a:t>…</a:t>
            </a:r>
            <a:r>
              <a:rPr lang="vi-VN" sz="1200" dirty="0">
                <a:latin typeface="Arial" pitchFamily="34" charset="0"/>
                <a:cs typeface="Arial" pitchFamily="34" charset="0"/>
              </a:rPr>
              <a:t>)</a:t>
            </a:r>
            <a:br>
              <a:rPr lang="vi-VN" sz="1200" dirty="0">
                <a:latin typeface="Arial" pitchFamily="34" charset="0"/>
                <a:cs typeface="Arial" pitchFamily="34" charset="0"/>
              </a:rPr>
            </a:br>
            <a:br>
              <a:rPr lang="vi-VN" sz="1200" dirty="0">
                <a:latin typeface="Arial" pitchFamily="34" charset="0"/>
                <a:cs typeface="Arial" pitchFamily="34" charset="0"/>
              </a:rPr>
            </a:br>
            <a:r>
              <a:rPr lang="vi-VN" sz="1200" dirty="0">
                <a:latin typeface="Arial" pitchFamily="34" charset="0"/>
                <a:cs typeface="Arial" pitchFamily="34" charset="0"/>
              </a:rPr>
              <a:t>     ③ </a:t>
            </a:r>
            <a:r>
              <a:rPr lang="en-US" sz="1200" dirty="0" err="1">
                <a:latin typeface="Arial" pitchFamily="34" charset="0"/>
                <a:cs typeface="Arial" pitchFamily="34" charset="0"/>
              </a:rPr>
              <a:t>Phép</a:t>
            </a:r>
            <a:r>
              <a:rPr lang="en-US" sz="1200" dirty="0">
                <a:latin typeface="Arial" pitchFamily="34" charset="0"/>
                <a:cs typeface="Arial" pitchFamily="34" charset="0"/>
              </a:rPr>
              <a:t> </a:t>
            </a:r>
            <a:r>
              <a:rPr lang="vi-VN" sz="1200" dirty="0">
                <a:latin typeface="Arial" pitchFamily="34" charset="0"/>
                <a:cs typeface="Arial" pitchFamily="34" charset="0"/>
              </a:rPr>
              <a:t>đo gián tiếp: đo lường</a:t>
            </a:r>
            <a:r>
              <a:rPr lang="en-US" sz="1200" dirty="0">
                <a:latin typeface="Arial" pitchFamily="34" charset="0"/>
                <a:cs typeface="Arial" pitchFamily="34" charset="0"/>
              </a:rPr>
              <a:t> </a:t>
            </a:r>
            <a:r>
              <a:rPr lang="en-US" sz="1200" dirty="0" err="1">
                <a:latin typeface="Arial" pitchFamily="34" charset="0"/>
                <a:cs typeface="Arial" pitchFamily="34" charset="0"/>
              </a:rPr>
              <a:t>các</a:t>
            </a:r>
            <a:r>
              <a:rPr lang="vi-VN" sz="1200" dirty="0">
                <a:latin typeface="Arial" pitchFamily="34" charset="0"/>
                <a:cs typeface="Arial" pitchFamily="34" charset="0"/>
              </a:rPr>
              <a:t> đối tượng hình học phức tạp như ốc vít và bánh răng gián tiếp sử dụng </a:t>
            </a:r>
            <a:r>
              <a:rPr lang="en-US" sz="1200" dirty="0" err="1">
                <a:latin typeface="Arial" pitchFamily="34" charset="0"/>
                <a:cs typeface="Arial" pitchFamily="34" charset="0"/>
              </a:rPr>
              <a:t>thiết</a:t>
            </a:r>
            <a:r>
              <a:rPr lang="en-US" sz="1200" dirty="0">
                <a:latin typeface="Arial" pitchFamily="34" charset="0"/>
                <a:cs typeface="Arial" pitchFamily="34" charset="0"/>
              </a:rPr>
              <a:t> </a:t>
            </a:r>
            <a:r>
              <a:rPr lang="en-US" sz="1200" dirty="0" err="1">
                <a:latin typeface="Arial" pitchFamily="34" charset="0"/>
                <a:cs typeface="Arial" pitchFamily="34" charset="0"/>
              </a:rPr>
              <a:t>bị</a:t>
            </a:r>
            <a:r>
              <a:rPr lang="en-US" sz="1200" dirty="0">
                <a:latin typeface="Arial" pitchFamily="34" charset="0"/>
                <a:cs typeface="Arial" pitchFamily="34" charset="0"/>
              </a:rPr>
              <a:t> </a:t>
            </a:r>
            <a:r>
              <a:rPr lang="en-US" sz="1200" dirty="0" err="1">
                <a:latin typeface="Arial" pitchFamily="34" charset="0"/>
                <a:cs typeface="Arial" pitchFamily="34" charset="0"/>
              </a:rPr>
              <a:t>đo</a:t>
            </a:r>
            <a:r>
              <a:rPr lang="en-US" sz="1200" dirty="0">
                <a:latin typeface="Arial" pitchFamily="34" charset="0"/>
                <a:cs typeface="Arial" pitchFamily="34" charset="0"/>
              </a:rPr>
              <a:t> </a:t>
            </a:r>
            <a:r>
              <a:rPr lang="en-US" sz="1200" dirty="0" err="1">
                <a:latin typeface="Arial" pitchFamily="34" charset="0"/>
                <a:cs typeface="Arial" pitchFamily="34" charset="0"/>
              </a:rPr>
              <a:t>lường</a:t>
            </a:r>
            <a:br>
              <a:rPr lang="vi-VN" sz="1200" dirty="0">
                <a:latin typeface="Arial" pitchFamily="34" charset="0"/>
                <a:cs typeface="Arial" pitchFamily="34" charset="0"/>
              </a:rPr>
            </a:br>
            <a:br>
              <a:rPr lang="vi-VN" sz="1200" dirty="0">
                <a:latin typeface="Arial" pitchFamily="34" charset="0"/>
                <a:cs typeface="Arial" pitchFamily="34" charset="0"/>
              </a:rPr>
            </a:br>
            <a:r>
              <a:rPr lang="vi-VN" sz="1200" dirty="0">
                <a:latin typeface="Arial" pitchFamily="34" charset="0"/>
                <a:cs typeface="Arial" pitchFamily="34" charset="0"/>
              </a:rPr>
              <a:t>     ④ </a:t>
            </a:r>
            <a:r>
              <a:rPr lang="en-US" sz="1200" dirty="0" err="1">
                <a:latin typeface="Arial" pitchFamily="34" charset="0"/>
                <a:cs typeface="Arial" pitchFamily="34" charset="0"/>
              </a:rPr>
              <a:t>Đo</a:t>
            </a:r>
            <a:r>
              <a:rPr lang="en-US" sz="1200" dirty="0">
                <a:latin typeface="Arial" pitchFamily="34" charset="0"/>
                <a:cs typeface="Arial" pitchFamily="34" charset="0"/>
              </a:rPr>
              <a:t> </a:t>
            </a:r>
            <a:r>
              <a:rPr lang="en-US" sz="1200" dirty="0" err="1">
                <a:latin typeface="Arial" pitchFamily="34" charset="0"/>
                <a:cs typeface="Arial" pitchFamily="34" charset="0"/>
              </a:rPr>
              <a:t>lường</a:t>
            </a:r>
            <a:r>
              <a:rPr lang="en-US" sz="1200" dirty="0">
                <a:latin typeface="Arial" pitchFamily="34" charset="0"/>
                <a:cs typeface="Arial" pitchFamily="34" charset="0"/>
              </a:rPr>
              <a:t> “</a:t>
            </a:r>
            <a:r>
              <a:rPr lang="vi-VN" sz="1200" dirty="0">
                <a:latin typeface="Arial" pitchFamily="34" charset="0"/>
                <a:cs typeface="Arial" pitchFamily="34" charset="0"/>
              </a:rPr>
              <a:t>Limit gage</a:t>
            </a:r>
            <a:r>
              <a:rPr lang="en-US" sz="1200" dirty="0">
                <a:latin typeface="Arial" pitchFamily="34" charset="0"/>
                <a:cs typeface="Arial" pitchFamily="34" charset="0"/>
              </a:rPr>
              <a:t>”</a:t>
            </a:r>
            <a:r>
              <a:rPr lang="vi-VN" sz="1200" dirty="0">
                <a:latin typeface="Arial" pitchFamily="34" charset="0"/>
                <a:cs typeface="Arial" pitchFamily="34" charset="0"/>
              </a:rPr>
              <a:t>:  đo kích thước thành phần xem nó </a:t>
            </a:r>
            <a:r>
              <a:rPr lang="en-US" sz="1200" dirty="0" err="1">
                <a:latin typeface="Arial" pitchFamily="34" charset="0"/>
                <a:cs typeface="Arial" pitchFamily="34" charset="0"/>
              </a:rPr>
              <a:t>có</a:t>
            </a:r>
            <a:r>
              <a:rPr lang="en-US" sz="1200" dirty="0">
                <a:latin typeface="Arial" pitchFamily="34" charset="0"/>
                <a:cs typeface="Arial" pitchFamily="34" charset="0"/>
              </a:rPr>
              <a:t> </a:t>
            </a:r>
            <a:r>
              <a:rPr lang="vi-VN" sz="1200" dirty="0">
                <a:latin typeface="Arial" pitchFamily="34" charset="0"/>
                <a:cs typeface="Arial" pitchFamily="34" charset="0"/>
              </a:rPr>
              <a:t>nằm trong dung sai cho phép</a:t>
            </a:r>
            <a:r>
              <a:rPr lang="en-US" sz="1200" dirty="0">
                <a:latin typeface="Arial" pitchFamily="34" charset="0"/>
                <a:cs typeface="Arial" pitchFamily="34" charset="0"/>
              </a:rPr>
              <a:t> </a:t>
            </a:r>
            <a:r>
              <a:rPr lang="en-US" sz="1200" dirty="0" err="1">
                <a:latin typeface="Arial" pitchFamily="34" charset="0"/>
                <a:cs typeface="Arial" pitchFamily="34" charset="0"/>
              </a:rPr>
              <a:t>không</a:t>
            </a:r>
            <a:r>
              <a:rPr lang="vi-VN" sz="1200" dirty="0">
                <a:latin typeface="Arial" pitchFamily="34" charset="0"/>
                <a:cs typeface="Arial" pitchFamily="34" charset="0"/>
              </a:rPr>
              <a:t>. (NO GO-GAUGE)</a:t>
            </a:r>
            <a:endParaRPr lang="en-US" altLang="ko-KR" sz="1200" dirty="0">
              <a:solidFill>
                <a:srgbClr val="000000"/>
              </a:solidFill>
              <a:latin typeface="Arial" pitchFamily="34" charset="0"/>
              <a:ea typeface="맑은 고딕" pitchFamily="50" charset="-127"/>
              <a:cs typeface="Arial" pitchFamily="34" charset="0"/>
            </a:endParaRPr>
          </a:p>
        </p:txBody>
      </p:sp>
      <p:sp>
        <p:nvSpPr>
          <p:cNvPr id="34819"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5. </a:t>
            </a:r>
            <a:r>
              <a:rPr lang="en-US" altLang="ko-KR" b="1" dirty="0" err="1">
                <a:latin typeface="Arial" pitchFamily="34" charset="0"/>
                <a:ea typeface="맑은 고딕" pitchFamily="50" charset="-127"/>
                <a:cs typeface="Arial" pitchFamily="34" charset="0"/>
              </a:rPr>
              <a:t>Phép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đo</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
        <p:nvSpPr>
          <p:cNvPr id="34820" name="Rectangle 26"/>
          <p:cNvSpPr>
            <a:spLocks noChangeArrowheads="1"/>
          </p:cNvSpPr>
          <p:nvPr/>
        </p:nvSpPr>
        <p:spPr bwMode="auto">
          <a:xfrm>
            <a:off x="7113240" y="1052513"/>
            <a:ext cx="2792760" cy="130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272" tIns="40636" rIns="81272" bIns="40636">
            <a:spAutoFit/>
          </a:bodyPr>
          <a:lstStyle>
            <a:lvl1pPr marL="166688" indent="-166688"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100" b="1" dirty="0" err="1">
                <a:solidFill>
                  <a:srgbClr val="FF0000"/>
                </a:solidFill>
                <a:latin typeface="Arial" pitchFamily="34" charset="0"/>
                <a:ea typeface="맑은 고딕" pitchFamily="50" charset="-127"/>
                <a:cs typeface="Arial" pitchFamily="34" charset="0"/>
              </a:rPr>
              <a:t>Yêu</a:t>
            </a:r>
            <a:r>
              <a:rPr lang="en-US" altLang="ko-KR" sz="1100" b="1" dirty="0">
                <a:solidFill>
                  <a:srgbClr val="FF0000"/>
                </a:solidFill>
                <a:latin typeface="Arial" pitchFamily="34" charset="0"/>
                <a:ea typeface="맑은 고딕" pitchFamily="50" charset="-127"/>
                <a:cs typeface="Arial" pitchFamily="34" charset="0"/>
              </a:rPr>
              <a:t> </a:t>
            </a:r>
            <a:r>
              <a:rPr lang="en-US" altLang="ko-KR" sz="1100" b="1" dirty="0" err="1">
                <a:solidFill>
                  <a:srgbClr val="FF0000"/>
                </a:solidFill>
                <a:latin typeface="Arial" pitchFamily="34" charset="0"/>
                <a:ea typeface="맑은 고딕" pitchFamily="50" charset="-127"/>
                <a:cs typeface="Arial" pitchFamily="34" charset="0"/>
              </a:rPr>
              <a:t>cầu</a:t>
            </a:r>
            <a:r>
              <a:rPr lang="en-US" altLang="ko-KR" sz="1100" b="1" dirty="0">
                <a:solidFill>
                  <a:srgbClr val="FF0000"/>
                </a:solidFill>
                <a:latin typeface="Arial" pitchFamily="34" charset="0"/>
                <a:ea typeface="맑은 고딕" pitchFamily="50" charset="-127"/>
                <a:cs typeface="Arial" pitchFamily="34" charset="0"/>
              </a:rPr>
              <a:t> </a:t>
            </a:r>
            <a:r>
              <a:rPr lang="en-US" altLang="ko-KR" sz="1100" b="1" dirty="0" err="1">
                <a:solidFill>
                  <a:srgbClr val="FF0000"/>
                </a:solidFill>
                <a:latin typeface="Arial" pitchFamily="34" charset="0"/>
                <a:ea typeface="맑은 고딕" pitchFamily="50" charset="-127"/>
                <a:cs typeface="Arial" pitchFamily="34" charset="0"/>
              </a:rPr>
              <a:t>đối</a:t>
            </a:r>
            <a:r>
              <a:rPr lang="en-US" altLang="ko-KR" sz="1100" b="1" dirty="0">
                <a:solidFill>
                  <a:srgbClr val="FF0000"/>
                </a:solidFill>
                <a:latin typeface="Arial" pitchFamily="34" charset="0"/>
                <a:ea typeface="맑은 고딕" pitchFamily="50" charset="-127"/>
                <a:cs typeface="Arial" pitchFamily="34" charset="0"/>
              </a:rPr>
              <a:t> </a:t>
            </a:r>
            <a:r>
              <a:rPr lang="en-US" altLang="ko-KR" sz="1100" b="1" dirty="0" err="1">
                <a:solidFill>
                  <a:srgbClr val="FF0000"/>
                </a:solidFill>
                <a:latin typeface="Arial" pitchFamily="34" charset="0"/>
                <a:ea typeface="맑은 고딕" pitchFamily="50" charset="-127"/>
                <a:cs typeface="Arial" pitchFamily="34" charset="0"/>
              </a:rPr>
              <a:t>với</a:t>
            </a:r>
            <a:r>
              <a:rPr lang="en-US" altLang="ko-KR" sz="1100" b="1" dirty="0">
                <a:solidFill>
                  <a:srgbClr val="FF0000"/>
                </a:solidFill>
                <a:latin typeface="Arial" pitchFamily="34" charset="0"/>
                <a:ea typeface="맑은 고딕" pitchFamily="50" charset="-127"/>
                <a:cs typeface="Arial" pitchFamily="34" charset="0"/>
              </a:rPr>
              <a:t> </a:t>
            </a:r>
            <a:r>
              <a:rPr lang="en-US" altLang="ko-KR" sz="1100" b="1" dirty="0" err="1">
                <a:solidFill>
                  <a:srgbClr val="FF0000"/>
                </a:solidFill>
                <a:latin typeface="Arial" pitchFamily="34" charset="0"/>
                <a:ea typeface="맑은 고딕" pitchFamily="50" charset="-127"/>
                <a:cs typeface="Arial" pitchFamily="34" charset="0"/>
              </a:rPr>
              <a:t>độ</a:t>
            </a:r>
            <a:r>
              <a:rPr lang="en-US" altLang="ko-KR" sz="1100" b="1" dirty="0">
                <a:solidFill>
                  <a:srgbClr val="FF0000"/>
                </a:solidFill>
                <a:latin typeface="Arial" pitchFamily="34" charset="0"/>
                <a:ea typeface="맑은 고딕" pitchFamily="50" charset="-127"/>
                <a:cs typeface="Arial" pitchFamily="34" charset="0"/>
              </a:rPr>
              <a:t> tin </a:t>
            </a:r>
            <a:r>
              <a:rPr lang="en-US" altLang="ko-KR" sz="1100" b="1" dirty="0" err="1">
                <a:solidFill>
                  <a:srgbClr val="FF0000"/>
                </a:solidFill>
                <a:latin typeface="Arial" pitchFamily="34" charset="0"/>
                <a:ea typeface="맑은 고딕" pitchFamily="50" charset="-127"/>
                <a:cs typeface="Arial" pitchFamily="34" charset="0"/>
              </a:rPr>
              <a:t>cậy</a:t>
            </a:r>
            <a:r>
              <a:rPr lang="en-US" altLang="ko-KR" sz="1100" b="1" dirty="0">
                <a:solidFill>
                  <a:srgbClr val="FF0000"/>
                </a:solidFill>
                <a:latin typeface="Arial" pitchFamily="34" charset="0"/>
                <a:ea typeface="맑은 고딕" pitchFamily="50" charset="-127"/>
                <a:cs typeface="Arial" pitchFamily="34" charset="0"/>
              </a:rPr>
              <a:t> </a:t>
            </a:r>
            <a:r>
              <a:rPr lang="en-US" altLang="ko-KR" sz="1100" b="1" dirty="0" err="1">
                <a:solidFill>
                  <a:srgbClr val="FF0000"/>
                </a:solidFill>
                <a:latin typeface="Arial" pitchFamily="34" charset="0"/>
                <a:ea typeface="맑은 고딕" pitchFamily="50" charset="-127"/>
                <a:cs typeface="Arial" pitchFamily="34" charset="0"/>
              </a:rPr>
              <a:t>của</a:t>
            </a:r>
            <a:r>
              <a:rPr lang="en-US" altLang="ko-KR" sz="1100" b="1" dirty="0">
                <a:solidFill>
                  <a:srgbClr val="FF0000"/>
                </a:solidFill>
                <a:latin typeface="Arial" pitchFamily="34" charset="0"/>
                <a:ea typeface="맑은 고딕" pitchFamily="50" charset="-127"/>
                <a:cs typeface="Arial" pitchFamily="34" charset="0"/>
              </a:rPr>
              <a:t> </a:t>
            </a:r>
            <a:r>
              <a:rPr lang="en-US" altLang="ko-KR" sz="1100" b="1" dirty="0" err="1">
                <a:solidFill>
                  <a:srgbClr val="FF0000"/>
                </a:solidFill>
                <a:latin typeface="Arial" pitchFamily="34" charset="0"/>
                <a:ea typeface="맑은 고딕" pitchFamily="50" charset="-127"/>
                <a:cs typeface="Arial" pitchFamily="34" charset="0"/>
              </a:rPr>
              <a:t>dữ</a:t>
            </a:r>
            <a:r>
              <a:rPr lang="en-US" altLang="ko-KR" sz="1100" b="1" dirty="0">
                <a:solidFill>
                  <a:srgbClr val="FF0000"/>
                </a:solidFill>
                <a:latin typeface="Arial" pitchFamily="34" charset="0"/>
                <a:ea typeface="맑은 고딕" pitchFamily="50" charset="-127"/>
                <a:cs typeface="Arial" pitchFamily="34" charset="0"/>
              </a:rPr>
              <a:t> </a:t>
            </a:r>
            <a:r>
              <a:rPr lang="en-US" altLang="ko-KR" sz="1100" b="1" dirty="0" err="1">
                <a:solidFill>
                  <a:srgbClr val="FF0000"/>
                </a:solidFill>
                <a:latin typeface="Arial" pitchFamily="34" charset="0"/>
                <a:ea typeface="맑은 고딕" pitchFamily="50" charset="-127"/>
                <a:cs typeface="Arial" pitchFamily="34" charset="0"/>
              </a:rPr>
              <a:t>liệu</a:t>
            </a:r>
            <a:endParaRPr lang="ko-KR" altLang="en-US" sz="1100" dirty="0">
              <a:solidFill>
                <a:srgbClr val="FF0000"/>
              </a:solidFill>
              <a:latin typeface="Arial" pitchFamily="34" charset="0"/>
              <a:ea typeface="맑은 고딕" pitchFamily="50" charset="-127"/>
              <a:cs typeface="Arial" pitchFamily="34" charset="0"/>
            </a:endParaRPr>
          </a:p>
          <a:p>
            <a:pPr latinLnBrk="0">
              <a:lnSpc>
                <a:spcPct val="130000"/>
              </a:lnSpc>
            </a:pPr>
            <a:r>
              <a:rPr lang="en-US" altLang="ko-KR" sz="1000" dirty="0">
                <a:latin typeface="Arial" pitchFamily="34" charset="0"/>
                <a:ea typeface="맑은 고딕" pitchFamily="50" charset="-127"/>
                <a:cs typeface="Arial" pitchFamily="34" charset="0"/>
              </a:rPr>
              <a:t>     -</a:t>
            </a:r>
            <a:r>
              <a:rPr lang="vi-VN" sz="1000" dirty="0">
                <a:latin typeface="Arial" pitchFamily="34" charset="0"/>
                <a:cs typeface="Arial" pitchFamily="34" charset="0"/>
              </a:rPr>
              <a:t>Không nên bịa</a:t>
            </a:r>
            <a:r>
              <a:rPr lang="en-US" sz="1000" dirty="0">
                <a:latin typeface="Arial" pitchFamily="34" charset="0"/>
                <a:cs typeface="Arial" pitchFamily="34" charset="0"/>
              </a:rPr>
              <a:t> </a:t>
            </a:r>
            <a:r>
              <a:rPr lang="en-US" sz="1000" dirty="0" err="1">
                <a:latin typeface="Arial" pitchFamily="34" charset="0"/>
                <a:cs typeface="Arial" pitchFamily="34" charset="0"/>
              </a:rPr>
              <a:t>số</a:t>
            </a:r>
            <a:r>
              <a:rPr lang="en-US" sz="1000" dirty="0">
                <a:latin typeface="Arial" pitchFamily="34" charset="0"/>
                <a:cs typeface="Arial" pitchFamily="34" charset="0"/>
              </a:rPr>
              <a:t> </a:t>
            </a:r>
            <a:r>
              <a:rPr lang="en-US" sz="1000" dirty="0" err="1">
                <a:latin typeface="Arial" pitchFamily="34" charset="0"/>
                <a:cs typeface="Arial" pitchFamily="34" charset="0"/>
              </a:rPr>
              <a:t>liệu</a:t>
            </a:r>
            <a:r>
              <a:rPr lang="vi-VN" sz="1000" dirty="0">
                <a:latin typeface="Arial" pitchFamily="34" charset="0"/>
                <a:cs typeface="Arial" pitchFamily="34" charset="0"/>
              </a:rPr>
              <a:t>.</a:t>
            </a:r>
            <a:br>
              <a:rPr lang="vi-VN" sz="1000" dirty="0">
                <a:latin typeface="Arial" pitchFamily="34" charset="0"/>
                <a:cs typeface="Arial" pitchFamily="34" charset="0"/>
              </a:rPr>
            </a:br>
            <a:r>
              <a:rPr lang="vi-VN" sz="1000" dirty="0">
                <a:latin typeface="Arial" pitchFamily="34" charset="0"/>
                <a:cs typeface="Arial" pitchFamily="34" charset="0"/>
              </a:rPr>
              <a:t>-Không </a:t>
            </a:r>
            <a:r>
              <a:rPr lang="en-US" sz="1000" dirty="0" err="1">
                <a:latin typeface="Arial" pitchFamily="34" charset="0"/>
                <a:cs typeface="Arial" pitchFamily="34" charset="0"/>
              </a:rPr>
              <a:t>đi</a:t>
            </a:r>
            <a:r>
              <a:rPr lang="vi-VN" sz="1000" dirty="0">
                <a:latin typeface="Arial" pitchFamily="34" charset="0"/>
                <a:cs typeface="Arial" pitchFamily="34" charset="0"/>
              </a:rPr>
              <a:t>ều chỉnh tùy ý </a:t>
            </a:r>
            <a:br>
              <a:rPr lang="vi-VN" sz="1000" dirty="0">
                <a:latin typeface="Arial" pitchFamily="34" charset="0"/>
                <a:cs typeface="Arial" pitchFamily="34" charset="0"/>
              </a:rPr>
            </a:br>
            <a:r>
              <a:rPr lang="vi-VN" sz="1000" dirty="0">
                <a:latin typeface="Arial" pitchFamily="34" charset="0"/>
                <a:cs typeface="Arial" pitchFamily="34" charset="0"/>
              </a:rPr>
              <a:t>-</a:t>
            </a:r>
            <a:r>
              <a:rPr lang="en-US" sz="1000" dirty="0" err="1">
                <a:latin typeface="Arial" pitchFamily="34" charset="0"/>
                <a:cs typeface="Arial" pitchFamily="34" charset="0"/>
              </a:rPr>
              <a:t>Không</a:t>
            </a:r>
            <a:r>
              <a:rPr lang="en-US" sz="1000" dirty="0">
                <a:latin typeface="Arial" pitchFamily="34" charset="0"/>
                <a:cs typeface="Arial" pitchFamily="34" charset="0"/>
              </a:rPr>
              <a:t> </a:t>
            </a:r>
            <a:r>
              <a:rPr lang="en-US" sz="1000" dirty="0" err="1">
                <a:latin typeface="Arial" pitchFamily="34" charset="0"/>
                <a:cs typeface="Arial" pitchFamily="34" charset="0"/>
              </a:rPr>
              <a:t>nên</a:t>
            </a:r>
            <a:r>
              <a:rPr lang="en-US" sz="1000" dirty="0">
                <a:latin typeface="Arial" pitchFamily="34" charset="0"/>
                <a:cs typeface="Arial" pitchFamily="34" charset="0"/>
              </a:rPr>
              <a:t> </a:t>
            </a:r>
            <a:r>
              <a:rPr lang="en-US" sz="1000" dirty="0" err="1">
                <a:latin typeface="Arial" pitchFamily="34" charset="0"/>
                <a:cs typeface="Arial" pitchFamily="34" charset="0"/>
              </a:rPr>
              <a:t>có</a:t>
            </a:r>
            <a:r>
              <a:rPr lang="en-US" sz="1000" dirty="0">
                <a:latin typeface="Arial" pitchFamily="34" charset="0"/>
                <a:cs typeface="Arial" pitchFamily="34" charset="0"/>
              </a:rPr>
              <a:t> </a:t>
            </a:r>
            <a:r>
              <a:rPr lang="en-US" sz="1000" dirty="0" err="1">
                <a:latin typeface="Arial" pitchFamily="34" charset="0"/>
                <a:cs typeface="Arial" pitchFamily="34" charset="0"/>
              </a:rPr>
              <a:t>sự</a:t>
            </a:r>
            <a:r>
              <a:rPr lang="en-US" sz="1000" dirty="0">
                <a:latin typeface="Arial" pitchFamily="34" charset="0"/>
                <a:cs typeface="Arial" pitchFamily="34" charset="0"/>
              </a:rPr>
              <a:t> </a:t>
            </a:r>
            <a:r>
              <a:rPr lang="en-US" sz="1000" dirty="0" err="1">
                <a:latin typeface="Arial" pitchFamily="34" charset="0"/>
                <a:cs typeface="Arial" pitchFamily="34" charset="0"/>
              </a:rPr>
              <a:t>không</a:t>
            </a:r>
            <a:r>
              <a:rPr lang="en-US" sz="1000" dirty="0">
                <a:latin typeface="Arial" pitchFamily="34" charset="0"/>
                <a:cs typeface="Arial" pitchFamily="34" charset="0"/>
              </a:rPr>
              <a:t> </a:t>
            </a:r>
            <a:r>
              <a:rPr lang="en-US" sz="1000" dirty="0" err="1">
                <a:latin typeface="Arial" pitchFamily="34" charset="0"/>
                <a:cs typeface="Arial" pitchFamily="34" charset="0"/>
              </a:rPr>
              <a:t>đồng</a:t>
            </a:r>
            <a:r>
              <a:rPr lang="en-US" sz="1000" dirty="0">
                <a:latin typeface="Arial" pitchFamily="34" charset="0"/>
                <a:cs typeface="Arial" pitchFamily="34" charset="0"/>
              </a:rPr>
              <a:t> </a:t>
            </a:r>
            <a:r>
              <a:rPr lang="en-US" sz="1000" dirty="0" err="1">
                <a:latin typeface="Arial" pitchFamily="34" charset="0"/>
                <a:cs typeface="Arial" pitchFamily="34" charset="0"/>
              </a:rPr>
              <a:t>nhất</a:t>
            </a:r>
            <a:r>
              <a:rPr lang="vi-VN" sz="1000" dirty="0">
                <a:latin typeface="Arial" pitchFamily="34" charset="0"/>
                <a:cs typeface="Arial" pitchFamily="34" charset="0"/>
              </a:rPr>
              <a:t>.</a:t>
            </a:r>
            <a:br>
              <a:rPr lang="vi-VN" sz="1000" dirty="0">
                <a:latin typeface="Arial" pitchFamily="34" charset="0"/>
                <a:cs typeface="Arial" pitchFamily="34" charset="0"/>
              </a:rPr>
            </a:br>
            <a:r>
              <a:rPr lang="en-US" sz="1000" dirty="0">
                <a:latin typeface="Arial" pitchFamily="34" charset="0"/>
                <a:cs typeface="Arial" pitchFamily="34" charset="0"/>
              </a:rPr>
              <a:t>-</a:t>
            </a:r>
            <a:r>
              <a:rPr lang="en-US" sz="1000" dirty="0" err="1">
                <a:latin typeface="Arial" pitchFamily="34" charset="0"/>
                <a:cs typeface="Arial" pitchFamily="34" charset="0"/>
              </a:rPr>
              <a:t>Lịch</a:t>
            </a:r>
            <a:r>
              <a:rPr lang="en-US" sz="1000" dirty="0">
                <a:latin typeface="Arial" pitchFamily="34" charset="0"/>
                <a:cs typeface="Arial" pitchFamily="34" charset="0"/>
              </a:rPr>
              <a:t> </a:t>
            </a:r>
            <a:r>
              <a:rPr lang="en-US" sz="1000" dirty="0" err="1">
                <a:latin typeface="Arial" pitchFamily="34" charset="0"/>
                <a:cs typeface="Arial" pitchFamily="34" charset="0"/>
              </a:rPr>
              <a:t>sử</a:t>
            </a:r>
            <a:r>
              <a:rPr lang="en-US" sz="1000" dirty="0">
                <a:latin typeface="Arial" pitchFamily="34" charset="0"/>
                <a:cs typeface="Arial" pitchFamily="34" charset="0"/>
              </a:rPr>
              <a:t> d</a:t>
            </a:r>
            <a:r>
              <a:rPr lang="vi-VN" sz="1000" dirty="0">
                <a:latin typeface="Arial" pitchFamily="34" charset="0"/>
                <a:cs typeface="Arial" pitchFamily="34" charset="0"/>
              </a:rPr>
              <a:t>ữ liệu </a:t>
            </a:r>
            <a:r>
              <a:rPr lang="en-US" sz="1000" dirty="0" err="1">
                <a:latin typeface="Arial" pitchFamily="34" charset="0"/>
                <a:cs typeface="Arial" pitchFamily="34" charset="0"/>
              </a:rPr>
              <a:t>có</a:t>
            </a:r>
            <a:r>
              <a:rPr lang="en-US" sz="1000" dirty="0">
                <a:latin typeface="Arial" pitchFamily="34" charset="0"/>
                <a:cs typeface="Arial" pitchFamily="34" charset="0"/>
              </a:rPr>
              <a:t> </a:t>
            </a:r>
            <a:r>
              <a:rPr lang="en-US" sz="1000" dirty="0" err="1">
                <a:latin typeface="Arial" pitchFamily="34" charset="0"/>
                <a:cs typeface="Arial" pitchFamily="34" charset="0"/>
              </a:rPr>
              <a:t>thể</a:t>
            </a:r>
            <a:r>
              <a:rPr lang="vi-VN" sz="1000" dirty="0">
                <a:latin typeface="Arial" pitchFamily="34" charset="0"/>
                <a:cs typeface="Arial" pitchFamily="34" charset="0"/>
              </a:rPr>
              <a:t> được truy cập.</a:t>
            </a:r>
            <a:br>
              <a:rPr lang="vi-VN" sz="1000" dirty="0">
                <a:latin typeface="Arial" pitchFamily="34" charset="0"/>
                <a:cs typeface="Arial" pitchFamily="34" charset="0"/>
              </a:rPr>
            </a:br>
            <a:r>
              <a:rPr lang="vi-VN" sz="1000" dirty="0">
                <a:latin typeface="Arial" pitchFamily="34" charset="0"/>
                <a:cs typeface="Arial" pitchFamily="34" charset="0"/>
              </a:rPr>
              <a:t>-</a:t>
            </a:r>
            <a:r>
              <a:rPr lang="en-US" sz="1000" dirty="0" err="1">
                <a:latin typeface="Arial" pitchFamily="34" charset="0"/>
                <a:cs typeface="Arial" pitchFamily="34" charset="0"/>
              </a:rPr>
              <a:t>Hạn</a:t>
            </a:r>
            <a:r>
              <a:rPr lang="en-US" sz="1000" dirty="0">
                <a:latin typeface="Arial" pitchFamily="34" charset="0"/>
                <a:cs typeface="Arial" pitchFamily="34" charset="0"/>
              </a:rPr>
              <a:t> </a:t>
            </a:r>
            <a:r>
              <a:rPr lang="en-US" sz="1000" dirty="0" err="1">
                <a:latin typeface="Arial" pitchFamily="34" charset="0"/>
                <a:cs typeface="Arial" pitchFamily="34" charset="0"/>
              </a:rPr>
              <a:t>chế</a:t>
            </a:r>
            <a:r>
              <a:rPr lang="en-US" sz="1000" dirty="0">
                <a:latin typeface="Arial" pitchFamily="34" charset="0"/>
                <a:cs typeface="Arial" pitchFamily="34" charset="0"/>
              </a:rPr>
              <a:t> c</a:t>
            </a:r>
            <a:r>
              <a:rPr lang="vi-VN" sz="1000" dirty="0">
                <a:latin typeface="Arial" pitchFamily="34" charset="0"/>
                <a:cs typeface="Arial" pitchFamily="34" charset="0"/>
              </a:rPr>
              <a:t>ác </a:t>
            </a:r>
            <a:r>
              <a:rPr lang="en-US" sz="1000" dirty="0">
                <a:latin typeface="Arial" pitchFamily="34" charset="0"/>
                <a:cs typeface="Arial" pitchFamily="34" charset="0"/>
              </a:rPr>
              <a:t>l</a:t>
            </a:r>
            <a:r>
              <a:rPr lang="vi-VN" sz="1000" dirty="0">
                <a:latin typeface="Arial" pitchFamily="34" charset="0"/>
                <a:cs typeface="Arial" pitchFamily="34" charset="0"/>
              </a:rPr>
              <a:t>ỗi đo lường dữ liệu</a:t>
            </a:r>
            <a:r>
              <a:rPr lang="en-US" sz="1000" dirty="0">
                <a:latin typeface="Arial" pitchFamily="34" charset="0"/>
                <a:cs typeface="Arial" pitchFamily="34" charset="0"/>
              </a:rPr>
              <a:t>.</a:t>
            </a:r>
            <a:endParaRPr lang="en-US" altLang="ko-KR" sz="1000"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38</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518723628"/>
      </p:ext>
    </p:ext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4"/>
          <p:cNvSpPr>
            <a:spLocks noChangeArrowheads="1"/>
          </p:cNvSpPr>
          <p:nvPr/>
        </p:nvSpPr>
        <p:spPr bwMode="auto">
          <a:xfrm>
            <a:off x="488504" y="1117600"/>
            <a:ext cx="8784976" cy="1816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en-US" altLang="ko-KR" sz="1400" dirty="0">
              <a:solidFill>
                <a:srgbClr val="000000"/>
              </a:solidFill>
              <a:latin typeface="Arial" pitchFamily="34" charset="0"/>
              <a:ea typeface="맑은 고딕" pitchFamily="50" charset="-127"/>
              <a:cs typeface="Arial" pitchFamily="34" charset="0"/>
            </a:endParaRPr>
          </a:p>
          <a:p>
            <a:pPr eaLnBrk="1" hangingPunct="1"/>
            <a:r>
              <a:rPr lang="en-US" altLang="ko-KR" sz="1400" dirty="0">
                <a:solidFill>
                  <a:srgbClr val="000000"/>
                </a:solidFill>
                <a:latin typeface="Arial" pitchFamily="34" charset="0"/>
                <a:ea typeface="맑은 고딕" pitchFamily="50" charset="-127"/>
                <a:cs typeface="Arial" pitchFamily="34" charset="0"/>
              </a:rPr>
              <a:t> - </a:t>
            </a:r>
            <a:r>
              <a:rPr lang="vi-VN" sz="1400" dirty="0">
                <a:latin typeface="Arial" pitchFamily="34" charset="0"/>
                <a:cs typeface="Arial" pitchFamily="34" charset="0"/>
              </a:rPr>
              <a:t>Hiệu lực của phép đo: đo lường một cách chính xác các khía cạnh của </a:t>
            </a:r>
            <a:r>
              <a:rPr lang="en-US" sz="1400" dirty="0" err="1">
                <a:latin typeface="Arial" pitchFamily="34" charset="0"/>
                <a:cs typeface="Arial" pitchFamily="34" charset="0"/>
              </a:rPr>
              <a:t>vật</a:t>
            </a:r>
            <a:r>
              <a:rPr lang="en-US" sz="1400" dirty="0">
                <a:latin typeface="Arial" pitchFamily="34" charset="0"/>
                <a:cs typeface="Arial" pitchFamily="34" charset="0"/>
              </a:rPr>
              <a:t> </a:t>
            </a:r>
            <a:r>
              <a:rPr lang="en-US" sz="1400" dirty="0" err="1">
                <a:latin typeface="Arial" pitchFamily="34" charset="0"/>
                <a:cs typeface="Arial" pitchFamily="34" charset="0"/>
              </a:rPr>
              <a:t>cần</a:t>
            </a:r>
            <a:r>
              <a:rPr lang="en-US" sz="1400" dirty="0">
                <a:latin typeface="Arial" pitchFamily="34" charset="0"/>
                <a:cs typeface="Arial" pitchFamily="34" charset="0"/>
              </a:rPr>
              <a:t> </a:t>
            </a:r>
            <a:r>
              <a:rPr lang="en-US" sz="1400" dirty="0" err="1">
                <a:latin typeface="Arial" pitchFamily="34" charset="0"/>
                <a:cs typeface="Arial" pitchFamily="34" charset="0"/>
              </a:rPr>
              <a:t>đo</a:t>
            </a:r>
            <a:r>
              <a:rPr lang="vi-VN" sz="1400" dirty="0">
                <a:latin typeface="Arial" pitchFamily="34" charset="0"/>
                <a:cs typeface="Arial" pitchFamily="34" charset="0"/>
              </a:rPr>
              <a:t>.</a:t>
            </a:r>
            <a:br>
              <a:rPr lang="vi-VN" sz="1400" dirty="0">
                <a:latin typeface="Arial" pitchFamily="34" charset="0"/>
                <a:cs typeface="Arial" pitchFamily="34" charset="0"/>
              </a:rPr>
            </a:br>
            <a:r>
              <a:rPr lang="vi-VN" sz="1400" dirty="0">
                <a:latin typeface="Arial" pitchFamily="34" charset="0"/>
                <a:cs typeface="Arial" pitchFamily="34" charset="0"/>
              </a:rPr>
              <a:t>    (Ví dụ, đo chiều cao để xác định hiệu quả của một chương trình chế độ ăn uống không hợp l</a:t>
            </a:r>
            <a:r>
              <a:rPr lang="en-US" sz="1400" dirty="0">
                <a:latin typeface="Arial" pitchFamily="34" charset="0"/>
                <a:cs typeface="Arial" pitchFamily="34" charset="0"/>
              </a:rPr>
              <a:t>ý</a:t>
            </a:r>
            <a:r>
              <a:rPr lang="vi-VN" sz="1400" dirty="0">
                <a:latin typeface="Arial" pitchFamily="34" charset="0"/>
                <a:cs typeface="Arial" pitchFamily="34" charset="0"/>
              </a:rPr>
              <a:t>)</a:t>
            </a:r>
            <a:br>
              <a:rPr lang="vi-VN" sz="1400" dirty="0">
                <a:latin typeface="Arial" pitchFamily="34" charset="0"/>
                <a:cs typeface="Arial" pitchFamily="34" charset="0"/>
              </a:rPr>
            </a:br>
            <a:br>
              <a:rPr lang="vi-VN" sz="1400" dirty="0">
                <a:latin typeface="Arial" pitchFamily="34" charset="0"/>
                <a:cs typeface="Arial" pitchFamily="34" charset="0"/>
              </a:rPr>
            </a:br>
            <a:r>
              <a:rPr lang="vi-VN" sz="1400" dirty="0">
                <a:latin typeface="Arial" pitchFamily="34" charset="0"/>
                <a:cs typeface="Arial" pitchFamily="34" charset="0"/>
              </a:rPr>
              <a:t> - Độ tin cậy của phép đo</a:t>
            </a:r>
            <a:r>
              <a:rPr lang="en-US" sz="1400" dirty="0">
                <a:latin typeface="Arial" pitchFamily="34" charset="0"/>
                <a:cs typeface="Arial" pitchFamily="34" charset="0"/>
              </a:rPr>
              <a:t>:</a:t>
            </a:r>
            <a:br>
              <a:rPr lang="vi-VN" sz="1400" dirty="0">
                <a:latin typeface="Arial" pitchFamily="34" charset="0"/>
                <a:cs typeface="Arial" pitchFamily="34" charset="0"/>
              </a:rPr>
            </a:br>
            <a:r>
              <a:rPr lang="vi-VN" sz="1400" dirty="0">
                <a:latin typeface="Arial" pitchFamily="34" charset="0"/>
                <a:cs typeface="Arial" pitchFamily="34" charset="0"/>
              </a:rPr>
              <a:t>      ① Độ </a:t>
            </a:r>
            <a:r>
              <a:rPr lang="en-US" sz="1400" dirty="0" err="1">
                <a:latin typeface="Arial" pitchFamily="34" charset="0"/>
                <a:cs typeface="Arial" pitchFamily="34" charset="0"/>
              </a:rPr>
              <a:t>đúng</a:t>
            </a:r>
            <a:r>
              <a:rPr lang="vi-VN" sz="1400" dirty="0">
                <a:latin typeface="Arial" pitchFamily="34" charset="0"/>
                <a:cs typeface="Arial" pitchFamily="34" charset="0"/>
              </a:rPr>
              <a:t>: không có sự chênh lệch giữa giá trị thực và giá trị đo. (t</a:t>
            </a:r>
            <a:r>
              <a:rPr lang="en-US" sz="1400" dirty="0" err="1">
                <a:latin typeface="Arial" pitchFamily="34" charset="0"/>
                <a:cs typeface="Arial" pitchFamily="34" charset="0"/>
              </a:rPr>
              <a:t>huận</a:t>
            </a:r>
            <a:r>
              <a:rPr lang="en-US" sz="1400" dirty="0">
                <a:latin typeface="Arial" pitchFamily="34" charset="0"/>
                <a:cs typeface="Arial" pitchFamily="34" charset="0"/>
              </a:rPr>
              <a:t> </a:t>
            </a:r>
            <a:r>
              <a:rPr lang="en-US" sz="1400" dirty="0" err="1">
                <a:latin typeface="Arial" pitchFamily="34" charset="0"/>
                <a:cs typeface="Arial" pitchFamily="34" charset="0"/>
              </a:rPr>
              <a:t>tiện</a:t>
            </a:r>
            <a:r>
              <a:rPr lang="en-US" sz="1400" dirty="0">
                <a:latin typeface="Arial" pitchFamily="34" charset="0"/>
                <a:cs typeface="Arial" pitchFamily="34" charset="0"/>
              </a:rPr>
              <a:t>,</a:t>
            </a:r>
            <a:r>
              <a:rPr lang="vi-VN" sz="1400" dirty="0">
                <a:latin typeface="Arial" pitchFamily="34" charset="0"/>
                <a:cs typeface="Arial" pitchFamily="34" charset="0"/>
              </a:rPr>
              <a:t> tuyến tính, an toàn)</a:t>
            </a:r>
            <a:br>
              <a:rPr lang="vi-VN" sz="1400" dirty="0">
                <a:latin typeface="Arial" pitchFamily="34" charset="0"/>
                <a:cs typeface="Arial" pitchFamily="34" charset="0"/>
              </a:rPr>
            </a:br>
            <a:r>
              <a:rPr lang="vi-VN" sz="1400" dirty="0">
                <a:latin typeface="Arial" pitchFamily="34" charset="0"/>
                <a:cs typeface="Arial" pitchFamily="34" charset="0"/>
              </a:rPr>
              <a:t>      ② Độ chính xác: các phép đo tương tự có thể được tái tạo bởi những người khác nhau (</a:t>
            </a:r>
            <a:r>
              <a:rPr lang="en-US" sz="1400" dirty="0">
                <a:latin typeface="Arial" pitchFamily="34" charset="0"/>
                <a:cs typeface="Arial" pitchFamily="34" charset="0"/>
              </a:rPr>
              <a:t>Reproducibility</a:t>
            </a:r>
            <a:r>
              <a:rPr lang="vi-VN" sz="1400" dirty="0">
                <a:latin typeface="Arial" pitchFamily="34" charset="0"/>
                <a:cs typeface="Arial" pitchFamily="34" charset="0"/>
              </a:rPr>
              <a:t>) </a:t>
            </a:r>
            <a:r>
              <a:rPr lang="en-US" sz="1400" dirty="0">
                <a:latin typeface="Arial" pitchFamily="34" charset="0"/>
                <a:cs typeface="Arial" pitchFamily="34" charset="0"/>
              </a:rPr>
              <a:t>		   &amp; </a:t>
            </a:r>
            <a:r>
              <a:rPr lang="vi-VN" sz="1400" dirty="0">
                <a:latin typeface="Arial" pitchFamily="34" charset="0"/>
                <a:cs typeface="Arial" pitchFamily="34" charset="0"/>
              </a:rPr>
              <a:t>đo lặp lại bởi cùng một người tạo ra giá trị đo tương tự. (</a:t>
            </a:r>
            <a:r>
              <a:rPr lang="en-US" sz="1400" dirty="0">
                <a:latin typeface="Arial" pitchFamily="34" charset="0"/>
                <a:cs typeface="Arial" pitchFamily="34" charset="0"/>
              </a:rPr>
              <a:t>Repeatability</a:t>
            </a:r>
            <a:r>
              <a:rPr lang="vi-VN" sz="1400" dirty="0">
                <a:latin typeface="Arial" pitchFamily="34" charset="0"/>
                <a:cs typeface="Arial" pitchFamily="34" charset="0"/>
              </a:rPr>
              <a:t>)</a:t>
            </a:r>
            <a:endParaRPr lang="en-US" altLang="ko-KR" sz="1400" dirty="0">
              <a:solidFill>
                <a:srgbClr val="000000"/>
              </a:solidFill>
              <a:latin typeface="Arial" pitchFamily="34" charset="0"/>
              <a:ea typeface="맑은 고딕" pitchFamily="50" charset="-127"/>
              <a:cs typeface="Arial" pitchFamily="34" charset="0"/>
            </a:endParaRPr>
          </a:p>
        </p:txBody>
      </p:sp>
      <p:sp>
        <p:nvSpPr>
          <p:cNvPr id="35844" name="TextBox 16"/>
          <p:cNvSpPr txBox="1">
            <a:spLocks noChangeArrowheads="1"/>
          </p:cNvSpPr>
          <p:nvPr/>
        </p:nvSpPr>
        <p:spPr bwMode="auto">
          <a:xfrm>
            <a:off x="5987480" y="3429000"/>
            <a:ext cx="3744416"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50000"/>
              </a:lnSpc>
              <a:spcBef>
                <a:spcPts val="1200"/>
              </a:spcBef>
              <a:buClr>
                <a:srgbClr val="C5003D"/>
              </a:buClr>
            </a:pPr>
            <a:r>
              <a:rPr lang="vi-VN" sz="1200" dirty="0">
                <a:latin typeface="Arial" pitchFamily="34" charset="0"/>
                <a:cs typeface="Arial" pitchFamily="34" charset="0"/>
              </a:rPr>
              <a:t>Phương pháp đầu tiên xác nhận giá trị của một phép đo là kiểm tra ý nghĩa kỹ thuật</a:t>
            </a:r>
            <a:r>
              <a:rPr lang="en-US" sz="1200" dirty="0">
                <a:latin typeface="Arial" pitchFamily="34" charset="0"/>
                <a:cs typeface="Arial" pitchFamily="34" charset="0"/>
              </a:rPr>
              <a:t>.</a:t>
            </a:r>
          </a:p>
          <a:p>
            <a:pPr algn="just" eaLnBrk="1" hangingPunct="1">
              <a:lnSpc>
                <a:spcPct val="150000"/>
              </a:lnSpc>
              <a:spcBef>
                <a:spcPts val="1200"/>
              </a:spcBef>
              <a:buClr>
                <a:srgbClr val="C5003D"/>
              </a:buClr>
            </a:pPr>
            <a:r>
              <a:rPr lang="vi-VN" sz="1200" dirty="0">
                <a:latin typeface="Arial" pitchFamily="34" charset="0"/>
                <a:cs typeface="Arial" pitchFamily="34" charset="0"/>
              </a:rPr>
              <a:t>Độ chính xác của phép đo có thể đạt được thông</a:t>
            </a:r>
            <a:br>
              <a:rPr lang="en-US" sz="1200" dirty="0">
                <a:latin typeface="Arial" pitchFamily="34" charset="0"/>
                <a:cs typeface="Arial" pitchFamily="34" charset="0"/>
              </a:rPr>
            </a:br>
            <a:r>
              <a:rPr lang="vi-VN" sz="1200" dirty="0">
                <a:latin typeface="Arial" pitchFamily="34" charset="0"/>
                <a:cs typeface="Arial" pitchFamily="34" charset="0"/>
              </a:rPr>
              <a:t>qua hiệu chuẩn thiết bị.</a:t>
            </a:r>
            <a:endParaRPr lang="en-US" sz="1200" dirty="0">
              <a:latin typeface="Arial" pitchFamily="34" charset="0"/>
              <a:cs typeface="Arial" pitchFamily="34" charset="0"/>
            </a:endParaRPr>
          </a:p>
          <a:p>
            <a:pPr algn="just" eaLnBrk="1" hangingPunct="1">
              <a:lnSpc>
                <a:spcPct val="150000"/>
              </a:lnSpc>
              <a:spcBef>
                <a:spcPts val="1200"/>
              </a:spcBef>
              <a:buClr>
                <a:srgbClr val="C5003D"/>
              </a:buClr>
            </a:pPr>
            <a:r>
              <a:rPr lang="vi-VN" sz="1200" dirty="0">
                <a:latin typeface="Arial" pitchFamily="34" charset="0"/>
                <a:cs typeface="Arial" pitchFamily="34" charset="0"/>
              </a:rPr>
              <a:t>Độ chính xác của phép đo có thể được xác định</a:t>
            </a:r>
            <a:br>
              <a:rPr lang="en-US" sz="1200" dirty="0">
                <a:latin typeface="Arial" pitchFamily="34" charset="0"/>
                <a:cs typeface="Arial" pitchFamily="34" charset="0"/>
              </a:rPr>
            </a:br>
            <a:r>
              <a:rPr lang="vi-VN" sz="1200" dirty="0">
                <a:latin typeface="Arial" pitchFamily="34" charset="0"/>
                <a:cs typeface="Arial" pitchFamily="34" charset="0"/>
              </a:rPr>
              <a:t>thông qua</a:t>
            </a:r>
            <a:r>
              <a:rPr lang="en-US" sz="1200" dirty="0">
                <a:latin typeface="Arial" pitchFamily="34" charset="0"/>
                <a:cs typeface="Arial" pitchFamily="34" charset="0"/>
              </a:rPr>
              <a:t> </a:t>
            </a:r>
            <a:r>
              <a:rPr lang="en-US" sz="1200" dirty="0" err="1">
                <a:latin typeface="Arial" pitchFamily="34" charset="0"/>
                <a:cs typeface="Arial" pitchFamily="34" charset="0"/>
              </a:rPr>
              <a:t>Đo</a:t>
            </a:r>
            <a:r>
              <a:rPr lang="en-US" sz="1200" dirty="0">
                <a:latin typeface="Arial" pitchFamily="34" charset="0"/>
                <a:cs typeface="Arial" pitchFamily="34" charset="0"/>
              </a:rPr>
              <a:t> </a:t>
            </a:r>
            <a:r>
              <a:rPr lang="en-US" sz="1200" dirty="0" err="1">
                <a:latin typeface="Arial" pitchFamily="34" charset="0"/>
                <a:cs typeface="Arial" pitchFamily="34" charset="0"/>
              </a:rPr>
              <a:t>lường</a:t>
            </a:r>
            <a:r>
              <a:rPr lang="en-US" sz="1200" dirty="0">
                <a:latin typeface="Arial" pitchFamily="34" charset="0"/>
                <a:cs typeface="Arial" pitchFamily="34" charset="0"/>
              </a:rPr>
              <a:t> </a:t>
            </a:r>
            <a:r>
              <a:rPr lang="vi-VN" sz="1200" dirty="0">
                <a:latin typeface="Arial" pitchFamily="34" charset="0"/>
                <a:cs typeface="Arial" pitchFamily="34" charset="0"/>
              </a:rPr>
              <a:t>R&amp;R</a:t>
            </a:r>
            <a:r>
              <a:rPr lang="en-US" sz="1200" dirty="0">
                <a:latin typeface="Arial" pitchFamily="34" charset="0"/>
                <a:cs typeface="Arial" pitchFamily="34" charset="0"/>
              </a:rPr>
              <a:t> (Gage R&amp;R).</a:t>
            </a:r>
            <a:endParaRPr lang="ko-KR" altLang="en-US" sz="1200"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39</a:t>
            </a:fld>
            <a:endParaRPr lang="ko-KR" altLang="en-US" dirty="0">
              <a:latin typeface="Arial" pitchFamily="34" charset="0"/>
              <a:cs typeface="Arial" pitchFamily="34" charset="0"/>
            </a:endParaRPr>
          </a:p>
        </p:txBody>
      </p:sp>
      <p:sp>
        <p:nvSpPr>
          <p:cNvPr id="6"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5. </a:t>
            </a:r>
            <a:r>
              <a:rPr lang="en-US" altLang="ko-KR" b="1" dirty="0" err="1">
                <a:latin typeface="Arial" pitchFamily="34" charset="0"/>
                <a:ea typeface="맑은 고딕" pitchFamily="50" charset="-127"/>
                <a:cs typeface="Arial" pitchFamily="34" charset="0"/>
              </a:rPr>
              <a:t>Phép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đo</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pic>
        <p:nvPicPr>
          <p:cNvPr id="7" name="Picture 6" descr="accuracy-vs-precision.jpg"/>
          <p:cNvPicPr>
            <a:picLocks noChangeAspect="1"/>
          </p:cNvPicPr>
          <p:nvPr/>
        </p:nvPicPr>
        <p:blipFill>
          <a:blip r:embed="rId3" cstate="print"/>
          <a:stretch>
            <a:fillRect/>
          </a:stretch>
        </p:blipFill>
        <p:spPr>
          <a:xfrm>
            <a:off x="190947" y="3356198"/>
            <a:ext cx="5715000" cy="2305050"/>
          </a:xfrm>
          <a:prstGeom prst="rect">
            <a:avLst/>
          </a:prstGeom>
        </p:spPr>
      </p:pic>
    </p:spTree>
    <p:extLst>
      <p:ext uri="{BB962C8B-B14F-4D97-AF65-F5344CB8AC3E}">
        <p14:creationId xmlns:p14="http://schemas.microsoft.com/office/powerpoint/2010/main" val="3397048541"/>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사다리꼴 63"/>
          <p:cNvSpPr/>
          <p:nvPr/>
        </p:nvSpPr>
        <p:spPr>
          <a:xfrm rot="5400000">
            <a:off x="2505076" y="4639393"/>
            <a:ext cx="1727200" cy="1152525"/>
          </a:xfrm>
          <a:prstGeom prst="trapezoid">
            <a:avLst>
              <a:gd name="adj" fmla="val 57842"/>
            </a:avLst>
          </a:prstGeom>
          <a:solidFill>
            <a:schemeClr val="bg2">
              <a:lumMod val="50000"/>
            </a:schemeClr>
          </a:solid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400" dirty="0">
              <a:solidFill>
                <a:schemeClr val="tx1"/>
              </a:solidFill>
              <a:latin typeface="Arial" pitchFamily="34" charset="0"/>
              <a:cs typeface="Arial" pitchFamily="34" charset="0"/>
            </a:endParaRPr>
          </a:p>
        </p:txBody>
      </p:sp>
      <p:sp>
        <p:nvSpPr>
          <p:cNvPr id="47" name="직사각형 46"/>
          <p:cNvSpPr/>
          <p:nvPr/>
        </p:nvSpPr>
        <p:spPr>
          <a:xfrm>
            <a:off x="560388" y="2118444"/>
            <a:ext cx="5472112" cy="194468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46" name="사다리꼴 45"/>
          <p:cNvSpPr/>
          <p:nvPr/>
        </p:nvSpPr>
        <p:spPr>
          <a:xfrm>
            <a:off x="992188" y="3415109"/>
            <a:ext cx="2592387" cy="576262"/>
          </a:xfrm>
          <a:prstGeom prst="trapezoid">
            <a:avLst/>
          </a:prstGeom>
          <a:solidFill>
            <a:schemeClr val="accent2">
              <a:lumMod val="20000"/>
              <a:lumOff val="80000"/>
            </a:schemeClr>
          </a:solid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dirty="0">
                <a:solidFill>
                  <a:schemeClr val="tx1"/>
                </a:solidFill>
                <a:latin typeface="Arial" pitchFamily="34" charset="0"/>
                <a:cs typeface="Arial" pitchFamily="34" charset="0"/>
              </a:rPr>
              <a:t>Factors that affect the result (output)</a:t>
            </a:r>
            <a:endParaRPr lang="ko-KR" altLang="en-US" sz="1400" dirty="0">
              <a:solidFill>
                <a:schemeClr val="tx1"/>
              </a:solidFill>
              <a:latin typeface="Arial" pitchFamily="34" charset="0"/>
              <a:cs typeface="Arial" pitchFamily="34" charset="0"/>
            </a:endParaRPr>
          </a:p>
        </p:txBody>
      </p:sp>
      <p:sp>
        <p:nvSpPr>
          <p:cNvPr id="36869"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lang="en-US" altLang="ko-KR" b="1" dirty="0" err="1">
                <a:latin typeface="Arial" pitchFamily="34" charset="0"/>
                <a:ea typeface="맑은 고딕" pitchFamily="50" charset="-127"/>
                <a:cs typeface="Arial" pitchFamily="34" charset="0"/>
              </a:rPr>
              <a:t>Tổng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kết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ko-KR" altLang="en-US" b="1" dirty="0">
              <a:latin typeface="Arial" pitchFamily="34" charset="0"/>
              <a:ea typeface="맑은 고딕" pitchFamily="50" charset="-127"/>
              <a:cs typeface="Arial" pitchFamily="34" charset="0"/>
            </a:endParaRPr>
          </a:p>
        </p:txBody>
      </p:sp>
      <p:cxnSp>
        <p:nvCxnSpPr>
          <p:cNvPr id="36870" name="AutoShape 3"/>
          <p:cNvCxnSpPr>
            <a:cxnSpLocks noChangeShapeType="1"/>
          </p:cNvCxnSpPr>
          <p:nvPr/>
        </p:nvCxnSpPr>
        <p:spPr bwMode="auto">
          <a:xfrm rot="5400000">
            <a:off x="2851944" y="4892600"/>
            <a:ext cx="369888" cy="0"/>
          </a:xfrm>
          <a:prstGeom prst="straightConnector1">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type="triangle" w="med" len="med"/>
              </a14:hiddenLine>
            </a:ext>
          </a:extLst>
        </p:spPr>
      </p:cxnSp>
      <p:cxnSp>
        <p:nvCxnSpPr>
          <p:cNvPr id="36871" name="AutoShape 4"/>
          <p:cNvCxnSpPr>
            <a:cxnSpLocks noChangeShapeType="1"/>
          </p:cNvCxnSpPr>
          <p:nvPr/>
        </p:nvCxnSpPr>
        <p:spPr bwMode="auto">
          <a:xfrm rot="5400000">
            <a:off x="5974556" y="4825925"/>
            <a:ext cx="312738" cy="0"/>
          </a:xfrm>
          <a:prstGeom prst="straightConnector1">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type="triangle" w="med" len="med"/>
              </a14:hiddenLine>
            </a:ext>
          </a:extLst>
        </p:spPr>
      </p:cxnSp>
      <p:cxnSp>
        <p:nvCxnSpPr>
          <p:cNvPr id="36872" name="AutoShape 5"/>
          <p:cNvCxnSpPr>
            <a:cxnSpLocks noChangeShapeType="1"/>
          </p:cNvCxnSpPr>
          <p:nvPr/>
        </p:nvCxnSpPr>
        <p:spPr bwMode="auto">
          <a:xfrm rot="5400000">
            <a:off x="5904706" y="5675238"/>
            <a:ext cx="452437" cy="0"/>
          </a:xfrm>
          <a:prstGeom prst="straightConnector1">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type="triangle" w="med" len="med"/>
              </a14:hiddenLine>
            </a:ext>
          </a:extLst>
        </p:spPr>
      </p:cxnSp>
      <p:sp>
        <p:nvSpPr>
          <p:cNvPr id="36873" name="직사각형 12"/>
          <p:cNvSpPr>
            <a:spLocks noChangeArrowheads="1"/>
          </p:cNvSpPr>
          <p:nvPr/>
        </p:nvSpPr>
        <p:spPr bwMode="auto">
          <a:xfrm>
            <a:off x="415925" y="890588"/>
            <a:ext cx="921759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400" b="1" dirty="0">
                <a:solidFill>
                  <a:srgbClr val="000000"/>
                </a:solidFill>
                <a:latin typeface="Arial" pitchFamily="34" charset="0"/>
                <a:ea typeface="맑은 고딕" pitchFamily="50" charset="-127"/>
                <a:cs typeface="Arial" pitchFamily="34" charset="0"/>
              </a:rPr>
              <a:t>- G</a:t>
            </a:r>
            <a:r>
              <a:rPr lang="vi-VN" altLang="ko-KR" sz="1400" b="1" dirty="0">
                <a:solidFill>
                  <a:srgbClr val="000000"/>
                </a:solidFill>
                <a:latin typeface="Arial" pitchFamily="34" charset="0"/>
                <a:ea typeface="맑은 고딕" pitchFamily="50" charset="-127"/>
                <a:cs typeface="Arial" pitchFamily="34" charset="0"/>
              </a:rPr>
              <a:t>án và ghi dữ liệu có liên quan đến môi trường thu thập dữ liệu của quá trình.</a:t>
            </a:r>
            <a:endParaRPr lang="en-US" altLang="ko-KR" sz="1400" b="1" dirty="0">
              <a:solidFill>
                <a:srgbClr val="000000"/>
              </a:solidFill>
              <a:latin typeface="Arial" pitchFamily="34" charset="0"/>
              <a:ea typeface="맑은 고딕" pitchFamily="50" charset="-127"/>
              <a:cs typeface="Arial" pitchFamily="34" charset="0"/>
            </a:endParaRPr>
          </a:p>
          <a:p>
            <a:pPr eaLnBrk="1" hangingPunct="1">
              <a:spcBef>
                <a:spcPct val="50000"/>
              </a:spcBef>
              <a:buFontTx/>
              <a:buChar char="-"/>
            </a:pP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Dữ</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liệu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phải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nắm</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bắt</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điều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kiện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một</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cách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chính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xác</a:t>
            </a:r>
            <a:r>
              <a:rPr lang="en-US" altLang="ko-KR" sz="1400" b="1" dirty="0">
                <a:solidFill>
                  <a:srgbClr val="000000"/>
                </a:solidFill>
                <a:latin typeface="Arial" pitchFamily="34" charset="0"/>
                <a:ea typeface="맑은 고딕" pitchFamily="50" charset="-127"/>
                <a:cs typeface="Arial" pitchFamily="34" charset="0"/>
              </a:rPr>
              <a:t>.</a:t>
            </a:r>
            <a:br>
              <a:rPr lang="en-US" altLang="ko-KR" sz="1400" b="1" dirty="0">
                <a:solidFill>
                  <a:srgbClr val="000000"/>
                </a:solidFill>
                <a:latin typeface="Arial" pitchFamily="34" charset="0"/>
                <a:ea typeface="맑은 고딕" pitchFamily="50" charset="-127"/>
                <a:cs typeface="Arial" pitchFamily="34" charset="0"/>
              </a:rPr>
            </a:br>
            <a:endParaRPr lang="en-US" altLang="ko-KR" sz="1400" b="1" dirty="0">
              <a:solidFill>
                <a:srgbClr val="000000"/>
              </a:solidFill>
              <a:latin typeface="Arial" pitchFamily="34" charset="0"/>
              <a:ea typeface="맑은 고딕" pitchFamily="50" charset="-127"/>
              <a:cs typeface="Arial" pitchFamily="34" charset="0"/>
            </a:endParaRPr>
          </a:p>
          <a:p>
            <a:pPr eaLnBrk="1" hangingPunct="1">
              <a:spcBef>
                <a:spcPct val="50000"/>
              </a:spcBef>
            </a:pPr>
            <a:r>
              <a:rPr lang="en-US" altLang="ko-KR" sz="1400" b="1" dirty="0">
                <a:solidFill>
                  <a:srgbClr val="FF0000"/>
                </a:solidFill>
                <a:latin typeface="맑은 고딕" pitchFamily="50" charset="-127"/>
                <a:ea typeface="맑은 고딕" pitchFamily="50" charset="-127"/>
              </a:rPr>
              <a:t>※ </a:t>
            </a:r>
            <a:r>
              <a:rPr lang="vi-VN" altLang="ko-KR" sz="1400" b="1" dirty="0">
                <a:solidFill>
                  <a:srgbClr val="FF0000"/>
                </a:solidFill>
                <a:latin typeface="Arial" pitchFamily="34" charset="0"/>
                <a:ea typeface="맑은 고딕" pitchFamily="50" charset="-127"/>
                <a:cs typeface="Arial" pitchFamily="34" charset="0"/>
              </a:rPr>
              <a:t>Các mục dữ liệu và số lượng dữ liệu được thu thập phụ thuộc vào mục đích của </a:t>
            </a:r>
            <a:r>
              <a:rPr lang="en-US" altLang="ko-KR" sz="1400" b="1" dirty="0" err="1">
                <a:solidFill>
                  <a:srgbClr val="FF0000"/>
                </a:solidFill>
                <a:latin typeface="Arial" pitchFamily="34" charset="0"/>
                <a:ea typeface="맑은 고딕" pitchFamily="50" charset="-127"/>
                <a:cs typeface="Arial" pitchFamily="34" charset="0"/>
              </a:rPr>
              <a:t>việc</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thu</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thập</a:t>
            </a:r>
            <a:r>
              <a:rPr lang="en-US" altLang="ko-KR" sz="1400" b="1" dirty="0">
                <a:solidFill>
                  <a:srgbClr val="FF0000"/>
                </a:solidFill>
                <a:latin typeface="Arial" pitchFamily="34" charset="0"/>
                <a:ea typeface="맑은 고딕" pitchFamily="50" charset="-127"/>
                <a:cs typeface="Arial" pitchFamily="34" charset="0"/>
              </a:rPr>
              <a:t>.</a:t>
            </a:r>
          </a:p>
        </p:txBody>
      </p:sp>
      <p:sp>
        <p:nvSpPr>
          <p:cNvPr id="14" name="직사각형 13"/>
          <p:cNvSpPr/>
          <p:nvPr/>
        </p:nvSpPr>
        <p:spPr>
          <a:xfrm>
            <a:off x="776288" y="2910606"/>
            <a:ext cx="792162" cy="43338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dirty="0">
                <a:solidFill>
                  <a:schemeClr val="tx1"/>
                </a:solidFill>
                <a:latin typeface="Arial" pitchFamily="34" charset="0"/>
                <a:cs typeface="Arial" pitchFamily="34" charset="0"/>
              </a:rPr>
              <a:t>Supplier</a:t>
            </a:r>
            <a:endParaRPr lang="ko-KR" altLang="en-US" sz="1200" dirty="0">
              <a:solidFill>
                <a:schemeClr val="tx1"/>
              </a:solidFill>
              <a:latin typeface="Arial" pitchFamily="34" charset="0"/>
              <a:cs typeface="Arial" pitchFamily="34" charset="0"/>
            </a:endParaRPr>
          </a:p>
        </p:txBody>
      </p:sp>
      <p:sp>
        <p:nvSpPr>
          <p:cNvPr id="15" name="직사각형 14"/>
          <p:cNvSpPr/>
          <p:nvPr/>
        </p:nvSpPr>
        <p:spPr>
          <a:xfrm>
            <a:off x="1784350" y="2910606"/>
            <a:ext cx="792163" cy="43338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dirty="0">
                <a:solidFill>
                  <a:schemeClr val="tx1"/>
                </a:solidFill>
                <a:latin typeface="Arial" pitchFamily="34" charset="0"/>
                <a:cs typeface="Arial" pitchFamily="34" charset="0"/>
              </a:rPr>
              <a:t>Input</a:t>
            </a:r>
            <a:endParaRPr lang="ko-KR" altLang="en-US" sz="1200" dirty="0">
              <a:solidFill>
                <a:schemeClr val="tx1"/>
              </a:solidFill>
              <a:latin typeface="Arial" pitchFamily="34" charset="0"/>
              <a:cs typeface="Arial" pitchFamily="34" charset="0"/>
            </a:endParaRPr>
          </a:p>
        </p:txBody>
      </p:sp>
      <p:sp>
        <p:nvSpPr>
          <p:cNvPr id="16" name="직사각형 15"/>
          <p:cNvSpPr/>
          <p:nvPr/>
        </p:nvSpPr>
        <p:spPr>
          <a:xfrm>
            <a:off x="2865438" y="2910606"/>
            <a:ext cx="792162" cy="433388"/>
          </a:xfrm>
          <a:prstGeom prst="rect">
            <a:avLst/>
          </a:prstGeom>
          <a:solidFill>
            <a:schemeClr val="tx1">
              <a:lumMod val="85000"/>
              <a:lumOff val="1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rIns="36000" anchor="ctr"/>
          <a:lstStyle/>
          <a:p>
            <a:pPr algn="ctr">
              <a:defRPr/>
            </a:pPr>
            <a:r>
              <a:rPr lang="en-US" altLang="ko-KR" sz="1400" b="1" dirty="0">
                <a:solidFill>
                  <a:schemeClr val="bg1"/>
                </a:solidFill>
                <a:latin typeface="Arial" pitchFamily="34" charset="0"/>
                <a:cs typeface="Arial" pitchFamily="34" charset="0"/>
              </a:rPr>
              <a:t>Process</a:t>
            </a:r>
            <a:endParaRPr lang="ko-KR" altLang="en-US" sz="1400" b="1" dirty="0">
              <a:solidFill>
                <a:schemeClr val="bg1"/>
              </a:solidFill>
              <a:latin typeface="Arial" pitchFamily="34" charset="0"/>
              <a:cs typeface="Arial" pitchFamily="34" charset="0"/>
            </a:endParaRPr>
          </a:p>
        </p:txBody>
      </p:sp>
      <p:sp>
        <p:nvSpPr>
          <p:cNvPr id="17" name="직사각형 16"/>
          <p:cNvSpPr/>
          <p:nvPr/>
        </p:nvSpPr>
        <p:spPr>
          <a:xfrm>
            <a:off x="3944938" y="2910606"/>
            <a:ext cx="792162" cy="43338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dirty="0">
                <a:solidFill>
                  <a:schemeClr val="tx1"/>
                </a:solidFill>
                <a:latin typeface="Arial" pitchFamily="34" charset="0"/>
                <a:cs typeface="Arial" pitchFamily="34" charset="0"/>
              </a:rPr>
              <a:t>Output</a:t>
            </a:r>
            <a:endParaRPr lang="ko-KR" altLang="en-US" sz="1200" dirty="0">
              <a:solidFill>
                <a:schemeClr val="tx1"/>
              </a:solidFill>
              <a:latin typeface="Arial" pitchFamily="34" charset="0"/>
              <a:cs typeface="Arial" pitchFamily="34" charset="0"/>
            </a:endParaRPr>
          </a:p>
        </p:txBody>
      </p:sp>
      <p:sp>
        <p:nvSpPr>
          <p:cNvPr id="18" name="직사각형 17"/>
          <p:cNvSpPr/>
          <p:nvPr/>
        </p:nvSpPr>
        <p:spPr>
          <a:xfrm>
            <a:off x="4953000" y="2910606"/>
            <a:ext cx="792163" cy="43338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altLang="ko-KR" sz="1200" dirty="0">
                <a:solidFill>
                  <a:schemeClr val="tx1"/>
                </a:solidFill>
                <a:latin typeface="Arial" pitchFamily="34" charset="0"/>
                <a:cs typeface="Arial" pitchFamily="34" charset="0"/>
              </a:rPr>
              <a:t>Customer</a:t>
            </a:r>
            <a:endParaRPr lang="ko-KR" altLang="en-US" sz="1200" dirty="0">
              <a:solidFill>
                <a:schemeClr val="tx1"/>
              </a:solidFill>
              <a:latin typeface="Arial" pitchFamily="34" charset="0"/>
              <a:cs typeface="Arial" pitchFamily="34" charset="0"/>
            </a:endParaRPr>
          </a:p>
        </p:txBody>
      </p:sp>
      <p:cxnSp>
        <p:nvCxnSpPr>
          <p:cNvPr id="20" name="직선 화살표 연결선 19"/>
          <p:cNvCxnSpPr>
            <a:stCxn id="18" idx="1"/>
            <a:endCxn id="17" idx="3"/>
          </p:cNvCxnSpPr>
          <p:nvPr/>
        </p:nvCxnSpPr>
        <p:spPr>
          <a:xfrm flipH="1">
            <a:off x="4737100" y="3126506"/>
            <a:ext cx="215900" cy="0"/>
          </a:xfrm>
          <a:prstGeom prst="straightConnector1">
            <a:avLst/>
          </a:prstGeom>
          <a:ln w="12700">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직선 화살표 연결선 24"/>
          <p:cNvCxnSpPr>
            <a:stCxn id="17" idx="1"/>
            <a:endCxn id="16" idx="3"/>
          </p:cNvCxnSpPr>
          <p:nvPr/>
        </p:nvCxnSpPr>
        <p:spPr>
          <a:xfrm flipH="1">
            <a:off x="3657600" y="3126506"/>
            <a:ext cx="287338" cy="0"/>
          </a:xfrm>
          <a:prstGeom prst="straightConnector1">
            <a:avLst/>
          </a:prstGeom>
          <a:ln w="12700">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직선 화살표 연결선 26"/>
          <p:cNvCxnSpPr>
            <a:stCxn id="16" idx="1"/>
            <a:endCxn id="15" idx="3"/>
          </p:cNvCxnSpPr>
          <p:nvPr/>
        </p:nvCxnSpPr>
        <p:spPr>
          <a:xfrm flipH="1">
            <a:off x="2576513" y="3126506"/>
            <a:ext cx="288925" cy="0"/>
          </a:xfrm>
          <a:prstGeom prst="straightConnector1">
            <a:avLst/>
          </a:prstGeom>
          <a:ln w="12700">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직선 화살표 연결선 28"/>
          <p:cNvCxnSpPr>
            <a:stCxn id="15" idx="1"/>
            <a:endCxn id="14" idx="3"/>
          </p:cNvCxnSpPr>
          <p:nvPr/>
        </p:nvCxnSpPr>
        <p:spPr>
          <a:xfrm flipH="1">
            <a:off x="1568450" y="3126506"/>
            <a:ext cx="215900" cy="0"/>
          </a:xfrm>
          <a:prstGeom prst="straightConnector1">
            <a:avLst/>
          </a:prstGeom>
          <a:ln w="12700">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직사각형 42"/>
          <p:cNvSpPr/>
          <p:nvPr/>
        </p:nvSpPr>
        <p:spPr>
          <a:xfrm>
            <a:off x="4953000" y="2262906"/>
            <a:ext cx="792163" cy="4318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dirty="0">
                <a:solidFill>
                  <a:schemeClr val="tx1"/>
                </a:solidFill>
                <a:latin typeface="Arial" pitchFamily="34" charset="0"/>
                <a:cs typeface="Arial" pitchFamily="34" charset="0"/>
              </a:rPr>
              <a:t>Reaction</a:t>
            </a:r>
            <a:endParaRPr lang="ko-KR" altLang="en-US" sz="1200" dirty="0">
              <a:solidFill>
                <a:schemeClr val="tx1"/>
              </a:solidFill>
              <a:latin typeface="Arial" pitchFamily="34" charset="0"/>
              <a:cs typeface="Arial" pitchFamily="34" charset="0"/>
            </a:endParaRPr>
          </a:p>
        </p:txBody>
      </p:sp>
      <p:cxnSp>
        <p:nvCxnSpPr>
          <p:cNvPr id="45" name="Shape 44"/>
          <p:cNvCxnSpPr>
            <a:stCxn id="17" idx="0"/>
            <a:endCxn id="43" idx="1"/>
          </p:cNvCxnSpPr>
          <p:nvPr/>
        </p:nvCxnSpPr>
        <p:spPr>
          <a:xfrm rot="5400000" flipH="1" flipV="1">
            <a:off x="4430713" y="2388318"/>
            <a:ext cx="431800" cy="612775"/>
          </a:xfrm>
          <a:prstGeom prst="bentConnector2">
            <a:avLst/>
          </a:prstGeom>
          <a:ln>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992188" y="4352056"/>
            <a:ext cx="1944687" cy="28733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ko-KR" sz="1200" dirty="0">
                <a:solidFill>
                  <a:schemeClr val="tx1"/>
                </a:solidFill>
                <a:latin typeface="Arial" pitchFamily="34" charset="0"/>
                <a:cs typeface="Arial" pitchFamily="34" charset="0"/>
              </a:rPr>
              <a:t>Basic information</a:t>
            </a:r>
            <a:endParaRPr lang="ko-KR" altLang="en-US" sz="1200" dirty="0">
              <a:solidFill>
                <a:schemeClr val="tx1"/>
              </a:solidFill>
              <a:latin typeface="Arial" pitchFamily="34" charset="0"/>
              <a:cs typeface="Arial" pitchFamily="34" charset="0"/>
            </a:endParaRPr>
          </a:p>
        </p:txBody>
      </p:sp>
      <p:sp>
        <p:nvSpPr>
          <p:cNvPr id="56" name="직사각형 55"/>
          <p:cNvSpPr/>
          <p:nvPr/>
        </p:nvSpPr>
        <p:spPr>
          <a:xfrm>
            <a:off x="992188" y="4710831"/>
            <a:ext cx="1944687" cy="288925"/>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ko-KR" sz="1200" dirty="0">
                <a:solidFill>
                  <a:schemeClr val="tx1"/>
                </a:solidFill>
                <a:latin typeface="Arial" pitchFamily="34" charset="0"/>
                <a:cs typeface="Arial" pitchFamily="34" charset="0"/>
              </a:rPr>
              <a:t>5M1E</a:t>
            </a:r>
            <a:endParaRPr lang="ko-KR" altLang="en-US" sz="1200" dirty="0">
              <a:solidFill>
                <a:schemeClr val="tx1"/>
              </a:solidFill>
              <a:latin typeface="Arial" pitchFamily="34" charset="0"/>
              <a:cs typeface="Arial" pitchFamily="34" charset="0"/>
            </a:endParaRPr>
          </a:p>
        </p:txBody>
      </p:sp>
      <p:sp>
        <p:nvSpPr>
          <p:cNvPr id="57" name="직사각형 56"/>
          <p:cNvSpPr/>
          <p:nvPr/>
        </p:nvSpPr>
        <p:spPr>
          <a:xfrm>
            <a:off x="992188" y="5071194"/>
            <a:ext cx="1944687" cy="288925"/>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ko-KR" sz="1200" dirty="0">
                <a:solidFill>
                  <a:schemeClr val="tx1"/>
                </a:solidFill>
                <a:latin typeface="Arial" pitchFamily="34" charset="0"/>
                <a:cs typeface="Arial" pitchFamily="34" charset="0"/>
              </a:rPr>
              <a:t>(Expected) Reaction</a:t>
            </a:r>
            <a:endParaRPr lang="ko-KR" altLang="en-US" sz="1200" dirty="0">
              <a:solidFill>
                <a:schemeClr val="tx1"/>
              </a:solidFill>
              <a:latin typeface="Arial" pitchFamily="34" charset="0"/>
              <a:cs typeface="Arial" pitchFamily="34" charset="0"/>
            </a:endParaRPr>
          </a:p>
        </p:txBody>
      </p:sp>
      <p:sp>
        <p:nvSpPr>
          <p:cNvPr id="58" name="직사각형 57"/>
          <p:cNvSpPr/>
          <p:nvPr/>
        </p:nvSpPr>
        <p:spPr>
          <a:xfrm>
            <a:off x="992188" y="5431556"/>
            <a:ext cx="1944687" cy="28733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ko-KR" sz="1200" dirty="0">
                <a:solidFill>
                  <a:schemeClr val="tx1"/>
                </a:solidFill>
                <a:latin typeface="Arial" pitchFamily="34" charset="0"/>
                <a:cs typeface="Arial" pitchFamily="34" charset="0"/>
              </a:rPr>
              <a:t>Binding conditions</a:t>
            </a:r>
            <a:endParaRPr lang="ko-KR" altLang="en-US" sz="1200" dirty="0">
              <a:solidFill>
                <a:schemeClr val="tx1"/>
              </a:solidFill>
              <a:latin typeface="Arial" pitchFamily="34" charset="0"/>
              <a:cs typeface="Arial" pitchFamily="34" charset="0"/>
            </a:endParaRPr>
          </a:p>
        </p:txBody>
      </p:sp>
      <p:sp>
        <p:nvSpPr>
          <p:cNvPr id="59" name="직사각형 58"/>
          <p:cNvSpPr/>
          <p:nvPr/>
        </p:nvSpPr>
        <p:spPr>
          <a:xfrm>
            <a:off x="992188" y="5782394"/>
            <a:ext cx="1944687" cy="288925"/>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ko-KR" sz="1200" dirty="0">
                <a:solidFill>
                  <a:schemeClr val="tx1"/>
                </a:solidFill>
                <a:latin typeface="Arial" pitchFamily="34" charset="0"/>
                <a:cs typeface="Arial" pitchFamily="34" charset="0"/>
              </a:rPr>
              <a:t>Special issues</a:t>
            </a:r>
            <a:endParaRPr lang="ko-KR" altLang="en-US" sz="1200" dirty="0">
              <a:solidFill>
                <a:schemeClr val="tx1"/>
              </a:solidFill>
              <a:latin typeface="Arial" pitchFamily="34" charset="0"/>
              <a:cs typeface="Arial" pitchFamily="34" charset="0"/>
            </a:endParaRPr>
          </a:p>
        </p:txBody>
      </p:sp>
      <p:sp>
        <p:nvSpPr>
          <p:cNvPr id="63" name="직사각형 62"/>
          <p:cNvSpPr/>
          <p:nvPr/>
        </p:nvSpPr>
        <p:spPr>
          <a:xfrm>
            <a:off x="3944938" y="4999756"/>
            <a:ext cx="792162" cy="431800"/>
          </a:xfrm>
          <a:prstGeom prst="rect">
            <a:avLst/>
          </a:prstGeom>
          <a:solidFill>
            <a:schemeClr val="tx1">
              <a:lumMod val="95000"/>
              <a:lumOff val="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000" b="1" dirty="0">
                <a:solidFill>
                  <a:schemeClr val="bg1"/>
                </a:solidFill>
                <a:latin typeface="Arial" pitchFamily="34" charset="0"/>
                <a:cs typeface="Arial" pitchFamily="34" charset="0"/>
              </a:rPr>
              <a:t>Measurement</a:t>
            </a:r>
            <a:endParaRPr lang="ko-KR" altLang="en-US" sz="1000" b="1" dirty="0">
              <a:solidFill>
                <a:schemeClr val="bg1"/>
              </a:solidFill>
              <a:latin typeface="Arial" pitchFamily="34" charset="0"/>
              <a:cs typeface="Arial" pitchFamily="34" charset="0"/>
            </a:endParaRPr>
          </a:p>
        </p:txBody>
      </p:sp>
      <p:sp>
        <p:nvSpPr>
          <p:cNvPr id="36891" name="Text Box 4"/>
          <p:cNvSpPr txBox="1">
            <a:spLocks noChangeArrowheads="1"/>
          </p:cNvSpPr>
          <p:nvPr/>
        </p:nvSpPr>
        <p:spPr bwMode="auto">
          <a:xfrm>
            <a:off x="2936875" y="4907681"/>
            <a:ext cx="1008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a:latin typeface="Arial" pitchFamily="34" charset="0"/>
                <a:ea typeface="맑은 고딕" pitchFamily="50" charset="-127"/>
                <a:cs typeface="Arial" pitchFamily="34" charset="0"/>
              </a:rPr>
              <a:t>Data </a:t>
            </a:r>
          </a:p>
          <a:p>
            <a:pPr algn="ctr" eaLnBrk="1" hangingPunct="1"/>
            <a:r>
              <a:rPr lang="en-US" altLang="ko-KR" sz="1400" b="1" dirty="0">
                <a:latin typeface="Arial" pitchFamily="34" charset="0"/>
                <a:ea typeface="맑은 고딕" pitchFamily="50" charset="-127"/>
                <a:cs typeface="Arial" pitchFamily="34" charset="0"/>
              </a:rPr>
              <a:t>Resume</a:t>
            </a:r>
            <a:endParaRPr lang="ko-KR" altLang="en-US" sz="1400" b="1" dirty="0">
              <a:latin typeface="Arial" pitchFamily="34" charset="0"/>
              <a:ea typeface="맑은 고딕" pitchFamily="50" charset="-127"/>
              <a:cs typeface="Arial" pitchFamily="34" charset="0"/>
            </a:endParaRPr>
          </a:p>
        </p:txBody>
      </p:sp>
      <p:cxnSp>
        <p:nvCxnSpPr>
          <p:cNvPr id="67" name="꺾인 연결선 66"/>
          <p:cNvCxnSpPr>
            <a:stCxn id="55" idx="1"/>
            <a:endCxn id="59" idx="1"/>
          </p:cNvCxnSpPr>
          <p:nvPr/>
        </p:nvCxnSpPr>
        <p:spPr>
          <a:xfrm rot="10800000" flipV="1">
            <a:off x="992188" y="4494931"/>
            <a:ext cx="12700" cy="1431925"/>
          </a:xfrm>
          <a:prstGeom prst="bentConnector3">
            <a:avLst>
              <a:gd name="adj1" fmla="val 1800000"/>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자유형 67"/>
          <p:cNvSpPr/>
          <p:nvPr/>
        </p:nvSpPr>
        <p:spPr>
          <a:xfrm>
            <a:off x="582613" y="4064719"/>
            <a:ext cx="190500" cy="1135062"/>
          </a:xfrm>
          <a:custGeom>
            <a:avLst/>
            <a:gdLst>
              <a:gd name="connsiteX0" fmla="*/ 0 w 189186"/>
              <a:gd name="connsiteY0" fmla="*/ 0 h 1135117"/>
              <a:gd name="connsiteX1" fmla="*/ 0 w 189186"/>
              <a:gd name="connsiteY1" fmla="*/ 1135117 h 1135117"/>
              <a:gd name="connsiteX2" fmla="*/ 189186 w 189186"/>
              <a:gd name="connsiteY2" fmla="*/ 1135117 h 1135117"/>
            </a:gdLst>
            <a:ahLst/>
            <a:cxnLst>
              <a:cxn ang="0">
                <a:pos x="connsiteX0" y="connsiteY0"/>
              </a:cxn>
              <a:cxn ang="0">
                <a:pos x="connsiteX1" y="connsiteY1"/>
              </a:cxn>
              <a:cxn ang="0">
                <a:pos x="connsiteX2" y="connsiteY2"/>
              </a:cxn>
            </a:cxnLst>
            <a:rect l="l" t="t" r="r" b="b"/>
            <a:pathLst>
              <a:path w="189186" h="1135117">
                <a:moveTo>
                  <a:pt x="0" y="0"/>
                </a:moveTo>
                <a:lnTo>
                  <a:pt x="0" y="1135117"/>
                </a:lnTo>
                <a:lnTo>
                  <a:pt x="189186" y="1135117"/>
                </a:lnTo>
              </a:path>
            </a:pathLst>
          </a:cu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a:latin typeface="Arial" pitchFamily="34" charset="0"/>
              <a:cs typeface="Arial" pitchFamily="34" charset="0"/>
            </a:endParaRPr>
          </a:p>
        </p:txBody>
      </p:sp>
      <p:cxnSp>
        <p:nvCxnSpPr>
          <p:cNvPr id="70" name="직선 화살표 연결선 69"/>
          <p:cNvCxnSpPr>
            <a:stCxn id="17" idx="2"/>
            <a:endCxn id="63" idx="0"/>
          </p:cNvCxnSpPr>
          <p:nvPr/>
        </p:nvCxnSpPr>
        <p:spPr>
          <a:xfrm>
            <a:off x="4340225" y="3343994"/>
            <a:ext cx="0" cy="1655762"/>
          </a:xfrm>
          <a:prstGeom prst="straightConnector1">
            <a:avLst/>
          </a:prstGeom>
          <a:ln w="28575">
            <a:solidFill>
              <a:srgbClr val="C5003D"/>
            </a:solidFill>
            <a:tailEnd type="arrow"/>
          </a:ln>
        </p:spPr>
        <p:style>
          <a:lnRef idx="1">
            <a:schemeClr val="accent1"/>
          </a:lnRef>
          <a:fillRef idx="0">
            <a:schemeClr val="accent1"/>
          </a:fillRef>
          <a:effectRef idx="0">
            <a:schemeClr val="accent1"/>
          </a:effectRef>
          <a:fontRef idx="minor">
            <a:schemeClr val="tx1"/>
          </a:fontRef>
        </p:style>
      </p:cxnSp>
      <p:sp>
        <p:nvSpPr>
          <p:cNvPr id="36895" name="Rectangle 26"/>
          <p:cNvSpPr>
            <a:spLocks noChangeArrowheads="1"/>
          </p:cNvSpPr>
          <p:nvPr/>
        </p:nvSpPr>
        <p:spPr bwMode="auto">
          <a:xfrm>
            <a:off x="920750" y="6223719"/>
            <a:ext cx="3581734" cy="279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81272" tIns="40636" rIns="81272" bIns="40636">
            <a:spAutoFit/>
          </a:bodyPr>
          <a:lstStyle>
            <a:lvl1pPr marL="166688" indent="-166688"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100">
                <a:latin typeface="Arial" pitchFamily="34" charset="0"/>
                <a:ea typeface="맑은 고딕" pitchFamily="50" charset="-127"/>
                <a:cs typeface="Arial" pitchFamily="34" charset="0"/>
              </a:rPr>
              <a:t>*5M1E : Man, Machine, Material, Method, Environment</a:t>
            </a:r>
            <a:endParaRPr kumimoji="0" lang="ko-KR" altLang="en-US" sz="1100">
              <a:latin typeface="Arial" pitchFamily="34" charset="0"/>
              <a:ea typeface="맑은 고딕" pitchFamily="50" charset="-127"/>
              <a:cs typeface="Arial" pitchFamily="34" charset="0"/>
            </a:endParaRPr>
          </a:p>
        </p:txBody>
      </p:sp>
      <p:sp>
        <p:nvSpPr>
          <p:cNvPr id="36896" name="직사각형 73"/>
          <p:cNvSpPr>
            <a:spLocks noChangeArrowheads="1"/>
          </p:cNvSpPr>
          <p:nvPr/>
        </p:nvSpPr>
        <p:spPr bwMode="auto">
          <a:xfrm>
            <a:off x="6594475" y="2277570"/>
            <a:ext cx="303904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spcBef>
                <a:spcPct val="50000"/>
              </a:spcBef>
            </a:pPr>
            <a:r>
              <a:rPr lang="en-US" altLang="ko-KR" sz="1400" b="1" dirty="0" err="1">
                <a:solidFill>
                  <a:srgbClr val="FF0000"/>
                </a:solidFill>
                <a:latin typeface="Arial" pitchFamily="34" charset="0"/>
                <a:ea typeface="맑은 고딕" pitchFamily="50" charset="-127"/>
                <a:cs typeface="Arial" pitchFamily="34" charset="0"/>
              </a:rPr>
              <a:t>Để</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đo</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một</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cách</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chính</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xác</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cần</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chuẩn</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bị</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tốt</a:t>
            </a:r>
            <a:r>
              <a:rPr lang="en-US" altLang="ko-KR" sz="1400" b="1" dirty="0">
                <a:solidFill>
                  <a:srgbClr val="FF0000"/>
                </a:solidFill>
                <a:latin typeface="Arial" pitchFamily="34" charset="0"/>
                <a:ea typeface="맑은 고딕" pitchFamily="50" charset="-127"/>
                <a:cs typeface="Arial" pitchFamily="34" charset="0"/>
              </a:rPr>
              <a:t> 1 </a:t>
            </a:r>
            <a:r>
              <a:rPr lang="en-US" altLang="ko-KR" sz="1400" b="1" dirty="0" err="1">
                <a:solidFill>
                  <a:srgbClr val="FF0000"/>
                </a:solidFill>
                <a:latin typeface="Arial" pitchFamily="34" charset="0"/>
                <a:ea typeface="맑은 고딕" pitchFamily="50" charset="-127"/>
                <a:cs typeface="Arial" pitchFamily="34" charset="0"/>
              </a:rPr>
              <a:t>kế</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hoạch</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đo</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lường</a:t>
            </a:r>
            <a:endParaRPr lang="en-US" altLang="ko-KR" sz="1400" b="1" dirty="0">
              <a:solidFill>
                <a:srgbClr val="FF0000"/>
              </a:solidFill>
              <a:latin typeface="Arial" pitchFamily="34" charset="0"/>
              <a:ea typeface="맑은 고딕" pitchFamily="50" charset="-127"/>
              <a:cs typeface="Arial" pitchFamily="34" charset="0"/>
            </a:endParaRPr>
          </a:p>
        </p:txBody>
      </p:sp>
      <p:sp>
        <p:nvSpPr>
          <p:cNvPr id="36897" name="직사각형 74"/>
          <p:cNvSpPr>
            <a:spLocks noChangeArrowheads="1"/>
          </p:cNvSpPr>
          <p:nvPr/>
        </p:nvSpPr>
        <p:spPr bwMode="auto">
          <a:xfrm>
            <a:off x="6608763" y="3284538"/>
            <a:ext cx="324008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66688" indent="-166688"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buFontTx/>
              <a:buChar char="-"/>
            </a:pPr>
            <a:r>
              <a:rPr lang="en-US" altLang="ko-KR" sz="1000" dirty="0">
                <a:solidFill>
                  <a:srgbClr val="000000"/>
                </a:solidFill>
                <a:latin typeface="Arial" pitchFamily="34" charset="0"/>
                <a:ea typeface="맑은 고딕" pitchFamily="50" charset="-127"/>
                <a:cs typeface="Arial" pitchFamily="34" charset="0"/>
              </a:rPr>
              <a:t>Who: </a:t>
            </a:r>
            <a:r>
              <a:rPr lang="en-US" altLang="ko-KR" sz="1000" dirty="0" err="1">
                <a:solidFill>
                  <a:srgbClr val="000000"/>
                </a:solidFill>
                <a:latin typeface="Arial" pitchFamily="34" charset="0"/>
                <a:ea typeface="맑은 고딕" pitchFamily="50" charset="-127"/>
                <a:cs typeface="Arial" pitchFamily="34" charset="0"/>
              </a:rPr>
              <a:t>Tên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sát</a:t>
            </a:r>
            <a:r>
              <a:rPr lang="en-US" altLang="ko-KR" sz="1000" dirty="0">
                <a:solidFill>
                  <a:srgbClr val="000000"/>
                </a:solidFill>
                <a:latin typeface="Arial" pitchFamily="34" charset="0"/>
                <a:ea typeface="맑은 고딕" pitchFamily="50" charset="-127"/>
                <a:cs typeface="Arial" pitchFamily="34" charset="0"/>
              </a:rPr>
              <a:t> hay </a:t>
            </a:r>
            <a:r>
              <a:rPr lang="en-US" altLang="ko-KR" sz="1000" dirty="0" err="1">
                <a:solidFill>
                  <a:srgbClr val="000000"/>
                </a:solidFill>
                <a:latin typeface="Arial" pitchFamily="34" charset="0"/>
                <a:ea typeface="맑은 고딕" pitchFamily="50" charset="-127"/>
                <a:cs typeface="Arial" pitchFamily="34" charset="0"/>
              </a:rPr>
              <a:t>công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nhân</a:t>
            </a:r>
            <a:endParaRPr lang="ko-KR" altLang="en-US" sz="1000" dirty="0">
              <a:latin typeface="Arial" pitchFamily="34" charset="0"/>
              <a:ea typeface="맑은 고딕" pitchFamily="50" charset="-127"/>
              <a:cs typeface="Arial" pitchFamily="34" charset="0"/>
            </a:endParaRPr>
          </a:p>
          <a:p>
            <a:pPr latinLnBrk="0">
              <a:buFontTx/>
              <a:buChar char="-"/>
            </a:pPr>
            <a:r>
              <a:rPr lang="en-US" altLang="ko-KR" sz="1000" dirty="0">
                <a:solidFill>
                  <a:srgbClr val="000000"/>
                </a:solidFill>
                <a:latin typeface="Arial" pitchFamily="34" charset="0"/>
                <a:ea typeface="맑은 고딕" pitchFamily="50" charset="-127"/>
                <a:cs typeface="Arial" pitchFamily="34" charset="0"/>
              </a:rPr>
              <a:t>When: </a:t>
            </a:r>
            <a:r>
              <a:rPr lang="en-US" altLang="ko-KR" sz="1000" dirty="0" err="1">
                <a:solidFill>
                  <a:srgbClr val="000000"/>
                </a:solidFill>
                <a:latin typeface="Arial" pitchFamily="34" charset="0"/>
                <a:ea typeface="맑은 고딕" pitchFamily="50" charset="-127"/>
                <a:cs typeface="Arial" pitchFamily="34" charset="0"/>
              </a:rPr>
              <a:t>Khoảng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gian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thập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dữ</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liệu</a:t>
            </a:r>
            <a:endParaRPr lang="ko-KR" altLang="en-US" sz="1000" dirty="0">
              <a:solidFill>
                <a:srgbClr val="000000"/>
              </a:solidFill>
              <a:latin typeface="Arial" pitchFamily="34" charset="0"/>
              <a:ea typeface="맑은 고딕" pitchFamily="50" charset="-127"/>
              <a:cs typeface="Arial" pitchFamily="34" charset="0"/>
            </a:endParaRPr>
          </a:p>
          <a:p>
            <a:pPr latinLnBrk="0">
              <a:buFontTx/>
              <a:buChar char="-"/>
            </a:pPr>
            <a:r>
              <a:rPr lang="en-US" altLang="ko-KR" sz="1000" dirty="0">
                <a:solidFill>
                  <a:srgbClr val="000000"/>
                </a:solidFill>
                <a:latin typeface="Arial" pitchFamily="34" charset="0"/>
                <a:ea typeface="맑은 고딕" pitchFamily="50" charset="-127"/>
                <a:cs typeface="Arial" pitchFamily="34" charset="0"/>
              </a:rPr>
              <a:t>Where: </a:t>
            </a:r>
            <a:r>
              <a:rPr lang="en-US" altLang="ko-KR" sz="1000" dirty="0" err="1">
                <a:solidFill>
                  <a:srgbClr val="000000"/>
                </a:solidFill>
                <a:latin typeface="Arial" pitchFamily="34" charset="0"/>
                <a:ea typeface="맑은 고딕" pitchFamily="50" charset="-127"/>
                <a:cs typeface="Arial" pitchFamily="34" charset="0"/>
              </a:rPr>
              <a:t>Tên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nơi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đó</a:t>
            </a:r>
            <a:endParaRPr lang="ko-KR" altLang="en-US" sz="1000" dirty="0">
              <a:solidFill>
                <a:srgbClr val="000000"/>
              </a:solidFill>
              <a:latin typeface="Arial" pitchFamily="34" charset="0"/>
              <a:ea typeface="맑은 고딕" pitchFamily="50" charset="-127"/>
              <a:cs typeface="Arial" pitchFamily="34" charset="0"/>
            </a:endParaRPr>
          </a:p>
          <a:p>
            <a:pPr latinLnBrk="0">
              <a:buFontTx/>
              <a:buChar char="-"/>
            </a:pPr>
            <a:r>
              <a:rPr lang="en-US" altLang="ko-KR" sz="1000" dirty="0">
                <a:solidFill>
                  <a:srgbClr val="000000"/>
                </a:solidFill>
                <a:latin typeface="Arial" pitchFamily="34" charset="0"/>
                <a:ea typeface="맑은 고딕" pitchFamily="50" charset="-127"/>
                <a:cs typeface="Arial" pitchFamily="34" charset="0"/>
              </a:rPr>
              <a:t>What: </a:t>
            </a:r>
            <a:r>
              <a:rPr lang="en-US" altLang="ko-KR" sz="1000" dirty="0" err="1">
                <a:solidFill>
                  <a:srgbClr val="000000"/>
                </a:solidFill>
                <a:latin typeface="Arial" pitchFamily="34" charset="0"/>
                <a:ea typeface="맑은 고딕" pitchFamily="50" charset="-127"/>
                <a:cs typeface="Arial" pitchFamily="34" charset="0"/>
              </a:rPr>
              <a:t>Sản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phẩm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đặc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tính</a:t>
            </a:r>
            <a:r>
              <a:rPr lang="en-US" altLang="ko-KR" sz="1000" dirty="0">
                <a:solidFill>
                  <a:srgbClr val="000000"/>
                </a:solidFill>
                <a:latin typeface="Arial" pitchFamily="34" charset="0"/>
                <a:ea typeface="맑은 고딕" pitchFamily="50" charset="-127"/>
                <a:cs typeface="Arial" pitchFamily="34" charset="0"/>
              </a:rPr>
              <a:t>…</a:t>
            </a:r>
            <a:endParaRPr lang="ko-KR" altLang="en-US" sz="1000" dirty="0">
              <a:solidFill>
                <a:srgbClr val="000000"/>
              </a:solidFill>
              <a:latin typeface="Arial" pitchFamily="34" charset="0"/>
              <a:ea typeface="맑은 고딕" pitchFamily="50" charset="-127"/>
              <a:cs typeface="Arial" pitchFamily="34" charset="0"/>
            </a:endParaRPr>
          </a:p>
          <a:p>
            <a:pPr latinLnBrk="0">
              <a:buFontTx/>
              <a:buChar char="-"/>
            </a:pPr>
            <a:r>
              <a:rPr lang="en-US" altLang="ko-KR" sz="1000" dirty="0">
                <a:solidFill>
                  <a:srgbClr val="000000"/>
                </a:solidFill>
                <a:latin typeface="Arial" pitchFamily="34" charset="0"/>
                <a:ea typeface="맑은 고딕" pitchFamily="50" charset="-127"/>
                <a:cs typeface="Arial" pitchFamily="34" charset="0"/>
              </a:rPr>
              <a:t>How: </a:t>
            </a:r>
            <a:r>
              <a:rPr lang="en-US" altLang="ko-KR" sz="1000" dirty="0" err="1">
                <a:solidFill>
                  <a:srgbClr val="000000"/>
                </a:solidFill>
                <a:latin typeface="Arial" pitchFamily="34" charset="0"/>
                <a:ea typeface="맑은 고딕" pitchFamily="50" charset="-127"/>
                <a:cs typeface="Arial" pitchFamily="34" charset="0"/>
              </a:rPr>
              <a:t>Kích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thước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mẫu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biến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rời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rạc</a:t>
            </a:r>
            <a:r>
              <a:rPr lang="en-US" altLang="ko-KR" sz="1000" dirty="0">
                <a:solidFill>
                  <a:srgbClr val="000000"/>
                </a:solidFill>
                <a:latin typeface="Arial" pitchFamily="34" charset="0"/>
                <a:ea typeface="맑은 고딕" pitchFamily="50" charset="-127"/>
                <a:cs typeface="Arial" pitchFamily="34" charset="0"/>
              </a:rPr>
              <a:t>…</a:t>
            </a:r>
            <a:endParaRPr lang="ko-KR" altLang="en-US" sz="1000" dirty="0">
              <a:solidFill>
                <a:srgbClr val="000000"/>
              </a:solidFill>
              <a:latin typeface="Arial" pitchFamily="34" charset="0"/>
              <a:ea typeface="맑은 고딕" pitchFamily="50" charset="-127"/>
              <a:cs typeface="Arial" pitchFamily="34" charset="0"/>
            </a:endParaRPr>
          </a:p>
          <a:p>
            <a:pPr latinLnBrk="0">
              <a:buFontTx/>
              <a:buChar char="-"/>
            </a:pPr>
            <a:r>
              <a:rPr lang="en-US" altLang="ko-KR" sz="1000" dirty="0">
                <a:solidFill>
                  <a:srgbClr val="000000"/>
                </a:solidFill>
                <a:latin typeface="Arial" pitchFamily="34" charset="0"/>
                <a:ea typeface="맑은 고딕" pitchFamily="50" charset="-127"/>
                <a:cs typeface="Arial" pitchFamily="34" charset="0"/>
              </a:rPr>
              <a:t>Why: </a:t>
            </a:r>
            <a:r>
              <a:rPr lang="en-US" altLang="ko-KR" sz="1000" dirty="0" err="1">
                <a:solidFill>
                  <a:srgbClr val="000000"/>
                </a:solidFill>
                <a:latin typeface="Arial" pitchFamily="34" charset="0"/>
                <a:ea typeface="맑은 고딕" pitchFamily="50" charset="-127"/>
                <a:cs typeface="Arial" pitchFamily="34" charset="0"/>
              </a:rPr>
              <a:t>Mục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đích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việc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thập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dữ</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liệu</a:t>
            </a:r>
            <a:endParaRPr lang="ko-KR" altLang="en-US" sz="1000"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40</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1717077560"/>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3"/>
          <p:cNvSpPr>
            <a:spLocks noChangeArrowheads="1"/>
          </p:cNvSpPr>
          <p:nvPr/>
        </p:nvSpPr>
        <p:spPr bwMode="auto">
          <a:xfrm>
            <a:off x="3944888" y="1253070"/>
            <a:ext cx="328455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để</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thể</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hiện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dữ</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liệu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như</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một</a:t>
            </a:r>
            <a:r>
              <a:rPr kumimoji="0" lang="en-US" altLang="ko-KR" sz="1400" b="1" dirty="0">
                <a:latin typeface="Arial" pitchFamily="34" charset="0"/>
                <a:ea typeface="맑은 고딕" pitchFamily="50" charset="-127"/>
                <a:cs typeface="Arial" pitchFamily="34" charset="0"/>
              </a:rPr>
              <a:t> con </a:t>
            </a:r>
            <a:r>
              <a:rPr kumimoji="0" lang="en-US" altLang="ko-KR" sz="1400" b="1" dirty="0" err="1">
                <a:latin typeface="Arial" pitchFamily="34" charset="0"/>
                <a:ea typeface="맑은 고딕" pitchFamily="50" charset="-127"/>
                <a:cs typeface="Arial" pitchFamily="34" charset="0"/>
              </a:rPr>
              <a:t>số</a:t>
            </a:r>
            <a:endParaRPr kumimoji="0" lang="ko-KR" altLang="en-US" sz="1400" b="1" dirty="0">
              <a:latin typeface="Arial" pitchFamily="34" charset="0"/>
              <a:ea typeface="맑은 고딕" pitchFamily="50" charset="-127"/>
              <a:cs typeface="Arial" pitchFamily="34" charset="0"/>
            </a:endParaRPr>
          </a:p>
        </p:txBody>
      </p:sp>
      <p:graphicFrame>
        <p:nvGraphicFramePr>
          <p:cNvPr id="3" name="Group 38"/>
          <p:cNvGraphicFramePr>
            <a:graphicFrameLocks noGrp="1"/>
          </p:cNvGraphicFramePr>
          <p:nvPr>
            <p:extLst>
              <p:ext uri="{D42A27DB-BD31-4B8C-83A1-F6EECF244321}">
                <p14:modId xmlns:p14="http://schemas.microsoft.com/office/powerpoint/2010/main" val="93376830"/>
              </p:ext>
            </p:extLst>
          </p:nvPr>
        </p:nvGraphicFramePr>
        <p:xfrm>
          <a:off x="1388629" y="2132013"/>
          <a:ext cx="7128743" cy="2961278"/>
        </p:xfrm>
        <a:graphic>
          <a:graphicData uri="http://schemas.openxmlformats.org/drawingml/2006/table">
            <a:tbl>
              <a:tblPr/>
              <a:tblGrid>
                <a:gridCol w="3168352">
                  <a:extLst>
                    <a:ext uri="{9D8B030D-6E8A-4147-A177-3AD203B41FA5}">
                      <a16:colId xmlns:a16="http://schemas.microsoft.com/office/drawing/2014/main" val="20000"/>
                    </a:ext>
                  </a:extLst>
                </a:gridCol>
                <a:gridCol w="3960391">
                  <a:extLst>
                    <a:ext uri="{9D8B030D-6E8A-4147-A177-3AD203B41FA5}">
                      <a16:colId xmlns:a16="http://schemas.microsoft.com/office/drawing/2014/main" val="20001"/>
                    </a:ext>
                  </a:extLst>
                </a:gridCol>
              </a:tblGrid>
              <a:tr h="30495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Mục</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đích</a:t>
                      </a:r>
                      <a:endParaRPr kumimoji="1" lang="ko-KR" altLang="en-US"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ECFF"/>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thống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kê</a:t>
                      </a:r>
                      <a:endParaRPr kumimoji="1" lang="ko-KR" altLang="en-US"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ECFF"/>
                    </a:solidFill>
                  </a:tcPr>
                </a:tc>
                <a:extLst>
                  <a:ext uri="{0D108BD9-81ED-4DB2-BD59-A6C34878D82A}">
                    <a16:rowId xmlns:a16="http://schemas.microsoft.com/office/drawing/2014/main" val="10000"/>
                  </a:ext>
                </a:extLst>
              </a:tr>
              <a:tr h="851326">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Để mô tả trung tâm dữ liệu.</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(Vị trí của trung tâm phân phối).</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Trung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bình</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(Mean)</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Trung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vị</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(Median)</a:t>
                      </a:r>
                    </a:p>
                    <a:p>
                      <a:pPr marL="0" marR="0" lvl="0" indent="0" algn="l" defTabSz="914400" rtl="0" eaLnBrk="1" fontAlgn="base" latinLnBrk="1" hangingPunct="1">
                        <a:lnSpc>
                          <a:spcPct val="100000"/>
                        </a:lnSpc>
                        <a:spcBef>
                          <a:spcPct val="20000"/>
                        </a:spcBef>
                        <a:spcAft>
                          <a:spcPct val="0"/>
                        </a:spcAft>
                        <a:buClrTx/>
                        <a:buSzTx/>
                        <a:buFontTx/>
                        <a:buChar char="-"/>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Mode</a:t>
                      </a: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073433">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Để mô tả mức độ dữ liệu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tán</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(Bằng số liệu lan truyền)</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lệch</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chuẩn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(Standard Deviation)</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Phương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sai</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(Variance)</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Khoảng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(Range)</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vị</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(Percentile)</a:t>
                      </a: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61113">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ể</a:t>
                      </a: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mô tả hình dạng của dữ liệu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khi</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lan truyền</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(Hình dạng của dữ liệu lan truyền)</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Không đối xứng (độ lệch)</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nhọn</a:t>
                      </a:r>
                      <a:endPar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38932" name="Text Box 3"/>
          <p:cNvSpPr txBox="1">
            <a:spLocks noChangeArrowheads="1"/>
          </p:cNvSpPr>
          <p:nvPr/>
        </p:nvSpPr>
        <p:spPr bwMode="auto">
          <a:xfrm>
            <a:off x="776288" y="1196975"/>
            <a:ext cx="33908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Blip>
                <a:blip r:embed="rId3"/>
              </a:buBlip>
            </a:pP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loại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thống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kê</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kỹ</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thuật</a:t>
            </a:r>
            <a:endParaRPr lang="en-US" altLang="ko-KR" b="1" dirty="0">
              <a:latin typeface="Arial" pitchFamily="34" charset="0"/>
              <a:ea typeface="맑은 고딕" pitchFamily="50" charset="-127"/>
              <a:cs typeface="Arial" pitchFamily="34" charset="0"/>
            </a:endParaRPr>
          </a:p>
        </p:txBody>
      </p:sp>
      <p:sp>
        <p:nvSpPr>
          <p:cNvPr id="38933"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41</a:t>
            </a:fld>
            <a:endParaRPr lang="ko-KR" altLang="en-US" dirty="0">
              <a:latin typeface="Arial" pitchFamily="34" charset="0"/>
              <a:cs typeface="Arial" pitchFamily="34" charset="0"/>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42</a:t>
            </a:fld>
            <a:endParaRPr lang="ko-KR" altLang="en-US" dirty="0"/>
          </a:p>
        </p:txBody>
      </p:sp>
      <p:pic>
        <p:nvPicPr>
          <p:cNvPr id="3" name="Picture 2"/>
          <p:cNvPicPr>
            <a:picLocks noChangeAspect="1"/>
          </p:cNvPicPr>
          <p:nvPr/>
        </p:nvPicPr>
        <p:blipFill>
          <a:blip r:embed="rId2"/>
          <a:stretch>
            <a:fillRect/>
          </a:stretch>
        </p:blipFill>
        <p:spPr>
          <a:xfrm>
            <a:off x="2981325" y="1962150"/>
            <a:ext cx="3943350" cy="2933700"/>
          </a:xfrm>
          <a:prstGeom prst="rect">
            <a:avLst/>
          </a:prstGeom>
        </p:spPr>
      </p:pic>
      <p:sp>
        <p:nvSpPr>
          <p:cNvPr id="4" name="TextBox 3"/>
          <p:cNvSpPr txBox="1"/>
          <p:nvPr/>
        </p:nvSpPr>
        <p:spPr>
          <a:xfrm>
            <a:off x="1856656" y="2204864"/>
            <a:ext cx="892680" cy="342401"/>
          </a:xfrm>
          <a:prstGeom prst="rect">
            <a:avLst/>
          </a:prstGeom>
          <a:noFill/>
        </p:spPr>
        <p:txBody>
          <a:bodyPr wrap="none" rtlCol="0">
            <a:spAutoFit/>
          </a:bodyPr>
          <a:lstStyle/>
          <a:p>
            <a:pPr>
              <a:lnSpc>
                <a:spcPct val="130000"/>
              </a:lnSpc>
              <a:buClr>
                <a:srgbClr val="C5003D"/>
              </a:buClr>
            </a:pPr>
            <a:r>
              <a:rPr lang="en-US" sz="1400" dirty="0" err="1">
                <a:latin typeface="Arial Narrow" panose="020B0606020202030204" pitchFamily="34" charset="0"/>
              </a:rPr>
              <a:t>Trung</a:t>
            </a:r>
            <a:r>
              <a:rPr lang="en-US" sz="1400" dirty="0">
                <a:latin typeface="Arial Narrow" panose="020B0606020202030204" pitchFamily="34" charset="0"/>
              </a:rPr>
              <a:t> </a:t>
            </a:r>
            <a:r>
              <a:rPr lang="en-US" sz="1400" dirty="0" err="1">
                <a:latin typeface="Arial Narrow" panose="020B0606020202030204" pitchFamily="34" charset="0"/>
              </a:rPr>
              <a:t>bình</a:t>
            </a:r>
            <a:endParaRPr lang="en-US" sz="1400" dirty="0">
              <a:latin typeface="Arial Narrow" panose="020B0606020202030204" pitchFamily="34" charset="0"/>
            </a:endParaRPr>
          </a:p>
        </p:txBody>
      </p:sp>
      <p:sp>
        <p:nvSpPr>
          <p:cNvPr id="5" name="TextBox 4"/>
          <p:cNvSpPr txBox="1"/>
          <p:nvPr/>
        </p:nvSpPr>
        <p:spPr>
          <a:xfrm>
            <a:off x="1856656" y="2547265"/>
            <a:ext cx="1151277" cy="372410"/>
          </a:xfrm>
          <a:prstGeom prst="rect">
            <a:avLst/>
          </a:prstGeom>
          <a:noFill/>
        </p:spPr>
        <p:txBody>
          <a:bodyPr wrap="none" rtlCol="0">
            <a:spAutoFit/>
          </a:bodyPr>
          <a:lstStyle/>
          <a:p>
            <a:pPr>
              <a:lnSpc>
                <a:spcPct val="130000"/>
              </a:lnSpc>
              <a:buClr>
                <a:srgbClr val="C5003D"/>
              </a:buClr>
            </a:pPr>
            <a:r>
              <a:rPr lang="en-US" sz="1400" dirty="0" err="1">
                <a:latin typeface="Arial Narrow" panose="020B0606020202030204" pitchFamily="34" charset="0"/>
              </a:rPr>
              <a:t>Độ</a:t>
            </a:r>
            <a:r>
              <a:rPr lang="en-US" sz="1400" dirty="0">
                <a:latin typeface="Arial Narrow" panose="020B0606020202030204" pitchFamily="34" charset="0"/>
              </a:rPr>
              <a:t> </a:t>
            </a:r>
            <a:r>
              <a:rPr lang="en-US" sz="1400" dirty="0" err="1">
                <a:latin typeface="Arial Narrow" panose="020B0606020202030204" pitchFamily="34" charset="0"/>
              </a:rPr>
              <a:t>lệch</a:t>
            </a:r>
            <a:r>
              <a:rPr lang="en-US" sz="1400" dirty="0">
                <a:latin typeface="Arial Narrow" panose="020B0606020202030204" pitchFamily="34" charset="0"/>
              </a:rPr>
              <a:t> </a:t>
            </a:r>
            <a:r>
              <a:rPr lang="en-US" sz="1400" dirty="0" err="1">
                <a:latin typeface="Arial Narrow" panose="020B0606020202030204" pitchFamily="34" charset="0"/>
              </a:rPr>
              <a:t>chuẩn</a:t>
            </a:r>
            <a:endParaRPr lang="en-US" sz="1400" dirty="0">
              <a:latin typeface="Arial Narrow" panose="020B0606020202030204" pitchFamily="34" charset="0"/>
            </a:endParaRPr>
          </a:p>
        </p:txBody>
      </p:sp>
      <p:sp>
        <p:nvSpPr>
          <p:cNvPr id="6" name="TextBox 5"/>
          <p:cNvSpPr txBox="1"/>
          <p:nvPr/>
        </p:nvSpPr>
        <p:spPr>
          <a:xfrm>
            <a:off x="1830048" y="2771405"/>
            <a:ext cx="968535" cy="348237"/>
          </a:xfrm>
          <a:prstGeom prst="rect">
            <a:avLst/>
          </a:prstGeom>
          <a:noFill/>
        </p:spPr>
        <p:txBody>
          <a:bodyPr wrap="none" rtlCol="0">
            <a:spAutoFit/>
          </a:bodyPr>
          <a:lstStyle/>
          <a:p>
            <a:pPr>
              <a:lnSpc>
                <a:spcPct val="130000"/>
              </a:lnSpc>
              <a:buClr>
                <a:srgbClr val="C5003D"/>
              </a:buClr>
            </a:pPr>
            <a:r>
              <a:rPr lang="en-US" sz="1400" dirty="0" err="1">
                <a:latin typeface="Arial Narrow" panose="020B0606020202030204" pitchFamily="34" charset="0"/>
              </a:rPr>
              <a:t>Phương</a:t>
            </a:r>
            <a:r>
              <a:rPr lang="en-US" sz="1400" dirty="0">
                <a:latin typeface="Arial Narrow" panose="020B0606020202030204" pitchFamily="34" charset="0"/>
              </a:rPr>
              <a:t> </a:t>
            </a:r>
            <a:r>
              <a:rPr lang="en-US" sz="1400" dirty="0" err="1">
                <a:latin typeface="Arial Narrow" panose="020B0606020202030204" pitchFamily="34" charset="0"/>
              </a:rPr>
              <a:t>sai</a:t>
            </a:r>
            <a:endParaRPr lang="en-US" sz="1400" dirty="0">
              <a:latin typeface="Arial Narrow" panose="020B0606020202030204" pitchFamily="34" charset="0"/>
            </a:endParaRPr>
          </a:p>
        </p:txBody>
      </p:sp>
      <p:sp>
        <p:nvSpPr>
          <p:cNvPr id="7" name="TextBox 6"/>
          <p:cNvSpPr txBox="1"/>
          <p:nvPr/>
        </p:nvSpPr>
        <p:spPr>
          <a:xfrm>
            <a:off x="1856656" y="2990546"/>
            <a:ext cx="1277914" cy="372410"/>
          </a:xfrm>
          <a:prstGeom prst="rect">
            <a:avLst/>
          </a:prstGeom>
          <a:noFill/>
        </p:spPr>
        <p:txBody>
          <a:bodyPr wrap="none" rtlCol="0">
            <a:spAutoFit/>
          </a:bodyPr>
          <a:lstStyle/>
          <a:p>
            <a:pPr>
              <a:lnSpc>
                <a:spcPct val="130000"/>
              </a:lnSpc>
              <a:buClr>
                <a:srgbClr val="C5003D"/>
              </a:buClr>
            </a:pPr>
            <a:r>
              <a:rPr lang="en-US" sz="1400" dirty="0" err="1">
                <a:latin typeface="Arial Narrow" panose="020B0606020202030204" pitchFamily="34" charset="0"/>
              </a:rPr>
              <a:t>Hệ</a:t>
            </a:r>
            <a:r>
              <a:rPr lang="en-US" sz="1400" dirty="0">
                <a:latin typeface="Arial Narrow" panose="020B0606020202030204" pitchFamily="34" charset="0"/>
              </a:rPr>
              <a:t> </a:t>
            </a:r>
            <a:r>
              <a:rPr lang="en-US" sz="1400" dirty="0" err="1">
                <a:latin typeface="Arial Narrow" panose="020B0606020202030204" pitchFamily="34" charset="0"/>
              </a:rPr>
              <a:t>số</a:t>
            </a:r>
            <a:r>
              <a:rPr lang="en-US" sz="1400" dirty="0">
                <a:latin typeface="Arial Narrow" panose="020B0606020202030204" pitchFamily="34" charset="0"/>
              </a:rPr>
              <a:t> </a:t>
            </a:r>
            <a:r>
              <a:rPr lang="en-US" sz="1400" dirty="0" err="1">
                <a:latin typeface="Arial Narrow" panose="020B0606020202030204" pitchFamily="34" charset="0"/>
              </a:rPr>
              <a:t>biến</a:t>
            </a:r>
            <a:r>
              <a:rPr lang="en-US" sz="1400" dirty="0">
                <a:latin typeface="Arial Narrow" panose="020B0606020202030204" pitchFamily="34" charset="0"/>
              </a:rPr>
              <a:t> </a:t>
            </a:r>
            <a:r>
              <a:rPr lang="en-US" sz="1400" dirty="0" err="1">
                <a:latin typeface="Arial Narrow" panose="020B0606020202030204" pitchFamily="34" charset="0"/>
              </a:rPr>
              <a:t>thiên</a:t>
            </a:r>
            <a:endParaRPr lang="en-US" sz="1400" dirty="0">
              <a:latin typeface="Arial Narrow" panose="020B0606020202030204" pitchFamily="34" charset="0"/>
            </a:endParaRPr>
          </a:p>
        </p:txBody>
      </p:sp>
      <p:sp>
        <p:nvSpPr>
          <p:cNvPr id="8" name="TextBox 7"/>
          <p:cNvSpPr txBox="1"/>
          <p:nvPr/>
        </p:nvSpPr>
        <p:spPr>
          <a:xfrm>
            <a:off x="1780034" y="3389456"/>
            <a:ext cx="380232" cy="342401"/>
          </a:xfrm>
          <a:prstGeom prst="rect">
            <a:avLst/>
          </a:prstGeom>
          <a:noFill/>
        </p:spPr>
        <p:txBody>
          <a:bodyPr wrap="none" rtlCol="0">
            <a:spAutoFit/>
          </a:bodyPr>
          <a:lstStyle/>
          <a:p>
            <a:pPr>
              <a:lnSpc>
                <a:spcPct val="130000"/>
              </a:lnSpc>
              <a:buClr>
                <a:srgbClr val="C5003D"/>
              </a:buClr>
            </a:pPr>
            <a:r>
              <a:rPr lang="en-US" sz="1400" dirty="0">
                <a:latin typeface="Arial Narrow" panose="020B0606020202030204" pitchFamily="34" charset="0"/>
              </a:rPr>
              <a:t>Q1</a:t>
            </a:r>
          </a:p>
        </p:txBody>
      </p:sp>
      <p:sp>
        <p:nvSpPr>
          <p:cNvPr id="9" name="TextBox 8"/>
          <p:cNvSpPr txBox="1"/>
          <p:nvPr/>
        </p:nvSpPr>
        <p:spPr>
          <a:xfrm>
            <a:off x="1780034" y="3629261"/>
            <a:ext cx="380232" cy="342401"/>
          </a:xfrm>
          <a:prstGeom prst="rect">
            <a:avLst/>
          </a:prstGeom>
          <a:noFill/>
        </p:spPr>
        <p:txBody>
          <a:bodyPr wrap="none" rtlCol="0">
            <a:spAutoFit/>
          </a:bodyPr>
          <a:lstStyle/>
          <a:p>
            <a:pPr>
              <a:lnSpc>
                <a:spcPct val="130000"/>
              </a:lnSpc>
              <a:buClr>
                <a:srgbClr val="C5003D"/>
              </a:buClr>
            </a:pPr>
            <a:r>
              <a:rPr lang="en-US" sz="1400" dirty="0">
                <a:latin typeface="Arial Narrow" panose="020B0606020202030204" pitchFamily="34" charset="0"/>
              </a:rPr>
              <a:t>Q2</a:t>
            </a:r>
          </a:p>
        </p:txBody>
      </p:sp>
      <p:sp>
        <p:nvSpPr>
          <p:cNvPr id="10" name="TextBox 9"/>
          <p:cNvSpPr txBox="1"/>
          <p:nvPr/>
        </p:nvSpPr>
        <p:spPr>
          <a:xfrm>
            <a:off x="1730019" y="3862349"/>
            <a:ext cx="380232" cy="372410"/>
          </a:xfrm>
          <a:prstGeom prst="rect">
            <a:avLst/>
          </a:prstGeom>
          <a:noFill/>
        </p:spPr>
        <p:txBody>
          <a:bodyPr wrap="none" rtlCol="0">
            <a:spAutoFit/>
          </a:bodyPr>
          <a:lstStyle/>
          <a:p>
            <a:pPr>
              <a:lnSpc>
                <a:spcPct val="130000"/>
              </a:lnSpc>
              <a:buClr>
                <a:srgbClr val="C5003D"/>
              </a:buClr>
            </a:pPr>
            <a:r>
              <a:rPr lang="en-US" sz="1400" dirty="0">
                <a:latin typeface="Arial Narrow" panose="020B0606020202030204" pitchFamily="34" charset="0"/>
              </a:rPr>
              <a:t>Q3</a:t>
            </a:r>
          </a:p>
        </p:txBody>
      </p:sp>
      <p:sp>
        <p:nvSpPr>
          <p:cNvPr id="11" name="TextBox 10"/>
          <p:cNvSpPr txBox="1"/>
          <p:nvPr/>
        </p:nvSpPr>
        <p:spPr>
          <a:xfrm>
            <a:off x="719006" y="4132893"/>
            <a:ext cx="2222083" cy="332399"/>
          </a:xfrm>
          <a:prstGeom prst="rect">
            <a:avLst/>
          </a:prstGeom>
          <a:noFill/>
        </p:spPr>
        <p:txBody>
          <a:bodyPr wrap="none" rtlCol="0">
            <a:spAutoFit/>
          </a:bodyPr>
          <a:lstStyle/>
          <a:p>
            <a:pPr>
              <a:lnSpc>
                <a:spcPct val="130000"/>
              </a:lnSpc>
              <a:buClr>
                <a:srgbClr val="C5003D"/>
              </a:buClr>
            </a:pPr>
            <a:r>
              <a:rPr lang="en-US" sz="1200" dirty="0" err="1">
                <a:latin typeface="Arial" panose="020B0604020202020204" pitchFamily="34" charset="0"/>
                <a:cs typeface="Arial" panose="020B0604020202020204" pitchFamily="34" charset="0"/>
              </a:rPr>
              <a:t>Số</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hạng</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xuất</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hiện</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nhiều</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nhất</a:t>
            </a:r>
            <a:endParaRPr lang="en-US" sz="1200" dirty="0">
              <a:latin typeface="Arial" panose="020B0604020202020204" pitchFamily="34" charset="0"/>
              <a:cs typeface="Arial" panose="020B0604020202020204" pitchFamily="34" charset="0"/>
            </a:endParaRPr>
          </a:p>
        </p:txBody>
      </p:sp>
      <p:sp>
        <p:nvSpPr>
          <p:cNvPr id="12" name="TextBox 11"/>
          <p:cNvSpPr txBox="1"/>
          <p:nvPr/>
        </p:nvSpPr>
        <p:spPr>
          <a:xfrm>
            <a:off x="4160912" y="1629751"/>
            <a:ext cx="2506520" cy="332399"/>
          </a:xfrm>
          <a:prstGeom prst="rect">
            <a:avLst/>
          </a:prstGeom>
          <a:noFill/>
        </p:spPr>
        <p:txBody>
          <a:bodyPr wrap="none" rtlCol="0">
            <a:spAutoFit/>
          </a:bodyPr>
          <a:lstStyle/>
          <a:p>
            <a:pPr>
              <a:lnSpc>
                <a:spcPct val="130000"/>
              </a:lnSpc>
              <a:buClr>
                <a:srgbClr val="C5003D"/>
              </a:buClr>
            </a:pPr>
            <a:r>
              <a:rPr lang="en-US" sz="1200" dirty="0" err="1">
                <a:latin typeface="Arial" panose="020B0604020202020204" pitchFamily="34" charset="0"/>
                <a:cs typeface="Arial" panose="020B0604020202020204" pitchFamily="34" charset="0"/>
              </a:rPr>
              <a:t>Trung</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binh</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bỏ</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đi</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giá</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trị</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bát</a:t>
            </a:r>
            <a:r>
              <a:rPr lang="en-US" sz="1200" dirty="0">
                <a:latin typeface="Arial" panose="020B0604020202020204" pitchFamily="34" charset="0"/>
                <a:cs typeface="Arial" panose="020B0604020202020204" pitchFamily="34" charset="0"/>
              </a:rPr>
              <a:t> </a:t>
            </a:r>
            <a:r>
              <a:rPr lang="en-US" sz="1200" dirty="0" err="1">
                <a:latin typeface="Arial" panose="020B0604020202020204" pitchFamily="34" charset="0"/>
                <a:cs typeface="Arial" panose="020B0604020202020204" pitchFamily="34" charset="0"/>
              </a:rPr>
              <a:t>thường</a:t>
            </a:r>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1541982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4"/>
          <p:cNvSpPr>
            <a:spLocks noChangeArrowheads="1"/>
          </p:cNvSpPr>
          <p:nvPr/>
        </p:nvSpPr>
        <p:spPr bwMode="auto">
          <a:xfrm>
            <a:off x="776536" y="1556793"/>
            <a:ext cx="5073505" cy="429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400" b="1" dirty="0">
                <a:latin typeface="Arial" pitchFamily="34" charset="0"/>
                <a:ea typeface="맑은 고딕" pitchFamily="50" charset="-127"/>
                <a:cs typeface="Arial" pitchFamily="34" charset="0"/>
              </a:rPr>
              <a:t>1) </a:t>
            </a:r>
            <a:r>
              <a:rPr lang="en-US" altLang="ko-KR" sz="1400" b="1" dirty="0" err="1">
                <a:latin typeface="Arial" pitchFamily="34" charset="0"/>
                <a:ea typeface="맑은 고딕" pitchFamily="50" charset="-127"/>
                <a:cs typeface="Arial" pitchFamily="34" charset="0"/>
              </a:rPr>
              <a:t>Trung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bình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trung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vị</a:t>
            </a:r>
            <a:endParaRPr lang="en-US" altLang="ko-KR" sz="1400" b="1" dirty="0">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Được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tính</a:t>
            </a: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solidFill>
                  <a:srgbClr val="000000"/>
                </a:solidFill>
                <a:latin typeface="Arial" pitchFamily="34" charset="0"/>
                <a:ea typeface="맑은 고딕" pitchFamily="50" charset="-127"/>
                <a:cs typeface="Arial" pitchFamily="34" charset="0"/>
              </a:rPr>
              <a:t>bằng số liệu đo chia cho số của phép đo.</a:t>
            </a:r>
            <a:br>
              <a:rPr lang="vi-VN" altLang="ko-KR" sz="1400" b="1" dirty="0">
                <a:solidFill>
                  <a:srgbClr val="000000"/>
                </a:solidFill>
                <a:latin typeface="Arial" pitchFamily="34" charset="0"/>
                <a:ea typeface="맑은 고딕" pitchFamily="50" charset="-127"/>
                <a:cs typeface="Arial" pitchFamily="34" charset="0"/>
              </a:rPr>
            </a:br>
            <a:r>
              <a:rPr lang="vi-VN" altLang="ko-KR" sz="1400" b="1" dirty="0">
                <a:solidFill>
                  <a:srgbClr val="000000"/>
                </a:solidFill>
                <a:latin typeface="Arial" pitchFamily="34" charset="0"/>
                <a:ea typeface="맑은 고딕" pitchFamily="50" charset="-127"/>
                <a:cs typeface="Arial" pitchFamily="34" charset="0"/>
              </a:rPr>
              <a:t>    - Bị ảnh hưởng mạnh bởi giá trị ngoại lai.</a:t>
            </a:r>
            <a:br>
              <a:rPr lang="vi-VN" altLang="ko-KR" sz="1400" b="1" dirty="0">
                <a:solidFill>
                  <a:srgbClr val="000000"/>
                </a:solidFill>
                <a:latin typeface="Arial" pitchFamily="34" charset="0"/>
                <a:ea typeface="맑은 고딕" pitchFamily="50" charset="-127"/>
                <a:cs typeface="Arial" pitchFamily="34" charset="0"/>
              </a:rPr>
            </a:br>
            <a:r>
              <a:rPr lang="vi-VN" altLang="ko-KR" sz="1400" b="1" dirty="0">
                <a:solidFill>
                  <a:srgbClr val="000000"/>
                </a:solidFill>
                <a:latin typeface="Arial" pitchFamily="34" charset="0"/>
                <a:ea typeface="맑은 고딕" pitchFamily="50" charset="-127"/>
                <a:cs typeface="Arial" pitchFamily="34" charset="0"/>
              </a:rPr>
              <a:t>    - Chữ Σ Hy Lạp được sử dụng để thể hiện </a:t>
            </a:r>
            <a:r>
              <a:rPr lang="en-US" altLang="ko-KR" sz="1400" b="1" dirty="0" err="1">
                <a:solidFill>
                  <a:srgbClr val="000000"/>
                </a:solidFill>
                <a:latin typeface="Arial" pitchFamily="34" charset="0"/>
                <a:ea typeface="맑은 고딕" pitchFamily="50" charset="-127"/>
                <a:cs typeface="Arial" pitchFamily="34" charset="0"/>
              </a:rPr>
              <a:t>tổng</a:t>
            </a:r>
            <a:r>
              <a:rPr lang="vi-VN" altLang="ko-KR" sz="1400" b="1" dirty="0">
                <a:solidFill>
                  <a:srgbClr val="000000"/>
                </a:solidFill>
                <a:latin typeface="Arial" pitchFamily="34" charset="0"/>
                <a:ea typeface="맑은 고딕" pitchFamily="50" charset="-127"/>
                <a:cs typeface="Arial" pitchFamily="34" charset="0"/>
              </a:rPr>
              <a:t>.</a:t>
            </a: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Trung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bình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được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thể</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hiện</a:t>
            </a:r>
            <a:r>
              <a:rPr lang="en-US" altLang="ko-KR" sz="1400" b="1" dirty="0">
                <a:solidFill>
                  <a:srgbClr val="000000"/>
                </a:solidFill>
                <a:latin typeface="Arial" pitchFamily="34" charset="0"/>
                <a:ea typeface="맑은 고딕" pitchFamily="50" charset="-127"/>
                <a:cs typeface="Arial" pitchFamily="34" charset="0"/>
              </a:rPr>
              <a:t>.</a:t>
            </a: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a:t>
            </a: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Trung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bình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của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tổng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thể</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là</a:t>
            </a:r>
            <a:r>
              <a:rPr lang="en-US" altLang="ko-KR" sz="1400" b="1" dirty="0">
                <a:solidFill>
                  <a:srgbClr val="000000"/>
                </a:solidFill>
                <a:latin typeface="Arial" pitchFamily="34" charset="0"/>
                <a:ea typeface="맑은 고딕" pitchFamily="50" charset="-127"/>
                <a:cs typeface="Arial" pitchFamily="34" charset="0"/>
              </a:rPr>
              <a:t> μ.</a:t>
            </a:r>
          </a:p>
        </p:txBody>
      </p:sp>
      <p:sp>
        <p:nvSpPr>
          <p:cNvPr id="39939" name="Text Box 6"/>
          <p:cNvSpPr txBox="1">
            <a:spLocks noChangeArrowheads="1"/>
          </p:cNvSpPr>
          <p:nvPr/>
        </p:nvSpPr>
        <p:spPr bwMode="auto">
          <a:xfrm>
            <a:off x="3322454" y="3168886"/>
            <a:ext cx="317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MS Mincho" pitchFamily="49" charset="-128"/>
                <a:cs typeface="Arial" pitchFamily="34" charset="0"/>
              </a:rPr>
              <a:t>χ</a:t>
            </a:r>
          </a:p>
        </p:txBody>
      </p:sp>
      <p:sp>
        <p:nvSpPr>
          <p:cNvPr id="39940" name="Line 7"/>
          <p:cNvSpPr>
            <a:spLocks noChangeShapeType="1"/>
          </p:cNvSpPr>
          <p:nvPr/>
        </p:nvSpPr>
        <p:spPr bwMode="auto">
          <a:xfrm>
            <a:off x="3410264" y="3253387"/>
            <a:ext cx="14446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9941" name="Text Box 9"/>
          <p:cNvSpPr txBox="1">
            <a:spLocks noChangeArrowheads="1"/>
          </p:cNvSpPr>
          <p:nvPr/>
        </p:nvSpPr>
        <p:spPr bwMode="auto">
          <a:xfrm>
            <a:off x="1295400" y="3803650"/>
            <a:ext cx="317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MS Mincho" pitchFamily="49" charset="-128"/>
                <a:cs typeface="Arial" pitchFamily="34" charset="0"/>
              </a:rPr>
              <a:t>χ</a:t>
            </a:r>
          </a:p>
        </p:txBody>
      </p:sp>
      <p:sp>
        <p:nvSpPr>
          <p:cNvPr id="39942" name="Line 10"/>
          <p:cNvSpPr>
            <a:spLocks noChangeShapeType="1"/>
          </p:cNvSpPr>
          <p:nvPr/>
        </p:nvSpPr>
        <p:spPr bwMode="auto">
          <a:xfrm>
            <a:off x="1374775" y="3887788"/>
            <a:ext cx="14446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9943" name="Text Box 11"/>
          <p:cNvSpPr txBox="1">
            <a:spLocks noChangeArrowheads="1"/>
          </p:cNvSpPr>
          <p:nvPr/>
        </p:nvSpPr>
        <p:spPr bwMode="auto">
          <a:xfrm>
            <a:off x="1584325" y="3875088"/>
            <a:ext cx="1847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                      =</a:t>
            </a:r>
          </a:p>
        </p:txBody>
      </p:sp>
      <p:sp>
        <p:nvSpPr>
          <p:cNvPr id="39944" name="Text Box 12"/>
          <p:cNvSpPr txBox="1">
            <a:spLocks noChangeArrowheads="1"/>
          </p:cNvSpPr>
          <p:nvPr/>
        </p:nvSpPr>
        <p:spPr bwMode="auto">
          <a:xfrm>
            <a:off x="1871663" y="3665538"/>
            <a:ext cx="131478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latin typeface="Arial" pitchFamily="34" charset="0"/>
                <a:ea typeface="바탕체" pitchFamily="17" charset="-127"/>
                <a:cs typeface="Arial" pitchFamily="34" charset="0"/>
              </a:rPr>
              <a:t>Tổng</a:t>
            </a:r>
            <a:r>
              <a:rPr lang="en-US" altLang="ko-KR" sz="1400" b="1" dirty="0">
                <a:latin typeface="Arial" pitchFamily="34" charset="0"/>
                <a:ea typeface="바탕체" pitchFamily="17" charset="-127"/>
                <a:cs typeface="Arial" pitchFamily="34" charset="0"/>
              </a:rPr>
              <a:t> </a:t>
            </a:r>
            <a:r>
              <a:rPr lang="en-US" altLang="ko-KR" sz="1400" b="1" dirty="0" err="1">
                <a:latin typeface="Arial" pitchFamily="34" charset="0"/>
                <a:ea typeface="바탕체" pitchFamily="17" charset="-127"/>
                <a:cs typeface="Arial" pitchFamily="34" charset="0"/>
              </a:rPr>
              <a:t>dữ</a:t>
            </a:r>
            <a:r>
              <a:rPr lang="en-US" altLang="ko-KR" sz="1400" b="1" dirty="0">
                <a:latin typeface="Arial" pitchFamily="34" charset="0"/>
                <a:ea typeface="바탕체" pitchFamily="17" charset="-127"/>
                <a:cs typeface="Arial" pitchFamily="34" charset="0"/>
              </a:rPr>
              <a:t> </a:t>
            </a:r>
            <a:r>
              <a:rPr lang="en-US" altLang="ko-KR" sz="1400" b="1" dirty="0" err="1">
                <a:latin typeface="Arial" pitchFamily="34" charset="0"/>
                <a:ea typeface="바탕체" pitchFamily="17" charset="-127"/>
                <a:cs typeface="Arial" pitchFamily="34" charset="0"/>
              </a:rPr>
              <a:t>liệu</a:t>
            </a:r>
            <a:endParaRPr lang="ko-KR" altLang="en-US" sz="1400" b="1" dirty="0">
              <a:latin typeface="Arial" pitchFamily="34" charset="0"/>
              <a:ea typeface="바탕체" pitchFamily="17" charset="-127"/>
              <a:cs typeface="Arial" pitchFamily="34" charset="0"/>
            </a:endParaRPr>
          </a:p>
          <a:p>
            <a:pPr algn="ctr" eaLnBrk="1" hangingPunct="1"/>
            <a:endParaRPr lang="ko-KR" altLang="en-US" sz="1400" b="1" dirty="0">
              <a:latin typeface="Arial" pitchFamily="34" charset="0"/>
              <a:ea typeface="바탕체" pitchFamily="17" charset="-127"/>
              <a:cs typeface="Arial" pitchFamily="34" charset="0"/>
            </a:endParaRPr>
          </a:p>
          <a:p>
            <a:pPr algn="ctr" eaLnBrk="1" hangingPunct="1"/>
            <a:r>
              <a:rPr lang="en-US" altLang="ko-KR" sz="1400" b="1" dirty="0" err="1">
                <a:latin typeface="Arial" pitchFamily="34" charset="0"/>
                <a:ea typeface="바탕체" pitchFamily="17" charset="-127"/>
                <a:cs typeface="Arial" pitchFamily="34" charset="0"/>
              </a:rPr>
              <a:t>Số</a:t>
            </a:r>
            <a:r>
              <a:rPr lang="en-US" altLang="ko-KR" sz="1400" b="1" dirty="0">
                <a:latin typeface="Arial" pitchFamily="34" charset="0"/>
                <a:ea typeface="바탕체" pitchFamily="17" charset="-127"/>
                <a:cs typeface="Arial" pitchFamily="34" charset="0"/>
              </a:rPr>
              <a:t> </a:t>
            </a:r>
            <a:r>
              <a:rPr lang="en-US" altLang="ko-KR" sz="1400" b="1" dirty="0" err="1">
                <a:latin typeface="Arial" pitchFamily="34" charset="0"/>
                <a:ea typeface="바탕체" pitchFamily="17" charset="-127"/>
                <a:cs typeface="Arial" pitchFamily="34" charset="0"/>
              </a:rPr>
              <a:t>dữ</a:t>
            </a:r>
            <a:r>
              <a:rPr lang="en-US" altLang="ko-KR" sz="1400" b="1" dirty="0">
                <a:latin typeface="Arial" pitchFamily="34" charset="0"/>
                <a:ea typeface="바탕체" pitchFamily="17" charset="-127"/>
                <a:cs typeface="Arial" pitchFamily="34" charset="0"/>
              </a:rPr>
              <a:t> </a:t>
            </a:r>
            <a:r>
              <a:rPr lang="en-US" altLang="ko-KR" sz="1400" b="1" dirty="0" err="1">
                <a:latin typeface="Arial" pitchFamily="34" charset="0"/>
                <a:ea typeface="바탕체" pitchFamily="17" charset="-127"/>
                <a:cs typeface="Arial" pitchFamily="34" charset="0"/>
              </a:rPr>
              <a:t>liệu</a:t>
            </a:r>
            <a:endParaRPr lang="ko-KR" altLang="en-US" sz="1400" b="1" dirty="0">
              <a:latin typeface="Arial" pitchFamily="34" charset="0"/>
              <a:ea typeface="바탕체" pitchFamily="17" charset="-127"/>
              <a:cs typeface="Arial" pitchFamily="34" charset="0"/>
            </a:endParaRPr>
          </a:p>
        </p:txBody>
      </p:sp>
      <p:sp>
        <p:nvSpPr>
          <p:cNvPr id="39945" name="Line 13"/>
          <p:cNvSpPr>
            <a:spLocks noChangeShapeType="1"/>
          </p:cNvSpPr>
          <p:nvPr/>
        </p:nvSpPr>
        <p:spPr bwMode="auto">
          <a:xfrm>
            <a:off x="2025024" y="4051300"/>
            <a:ext cx="10080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9946" name="Text Box 14"/>
          <p:cNvSpPr txBox="1">
            <a:spLocks noChangeArrowheads="1"/>
          </p:cNvSpPr>
          <p:nvPr/>
        </p:nvSpPr>
        <p:spPr bwMode="auto">
          <a:xfrm>
            <a:off x="3648742" y="3692525"/>
            <a:ext cx="21275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cs typeface="Arial" pitchFamily="34" charset="0"/>
              </a:rPr>
              <a:t>χ₁+ χ₂+χ₃+ ‥‥ χ</a:t>
            </a:r>
            <a:r>
              <a:rPr lang="en-US" altLang="ko-KR" sz="900" b="1" dirty="0">
                <a:latin typeface="Arial" pitchFamily="34" charset="0"/>
                <a:cs typeface="Arial" pitchFamily="34" charset="0"/>
              </a:rPr>
              <a:t>n</a:t>
            </a:r>
          </a:p>
        </p:txBody>
      </p:sp>
      <p:sp>
        <p:nvSpPr>
          <p:cNvPr id="39947" name="Line 15"/>
          <p:cNvSpPr>
            <a:spLocks noChangeShapeType="1"/>
          </p:cNvSpPr>
          <p:nvPr/>
        </p:nvSpPr>
        <p:spPr bwMode="auto">
          <a:xfrm>
            <a:off x="3440113" y="4059238"/>
            <a:ext cx="25447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9948" name="Text Box 16"/>
          <p:cNvSpPr txBox="1">
            <a:spLocks noChangeArrowheads="1"/>
          </p:cNvSpPr>
          <p:nvPr/>
        </p:nvSpPr>
        <p:spPr bwMode="auto">
          <a:xfrm>
            <a:off x="4549629" y="4052888"/>
            <a:ext cx="3257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cs typeface="Arial" pitchFamily="34" charset="0"/>
              </a:rPr>
              <a:t>n</a:t>
            </a:r>
          </a:p>
        </p:txBody>
      </p:sp>
      <p:sp>
        <p:nvSpPr>
          <p:cNvPr id="39949" name="Text Box 17"/>
          <p:cNvSpPr txBox="1">
            <a:spLocks noChangeArrowheads="1"/>
          </p:cNvSpPr>
          <p:nvPr/>
        </p:nvSpPr>
        <p:spPr bwMode="auto">
          <a:xfrm>
            <a:off x="1434892" y="2794000"/>
            <a:ext cx="3385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바탕체" pitchFamily="17" charset="-127"/>
                <a:cs typeface="Arial" pitchFamily="34" charset="0"/>
              </a:rPr>
              <a:t>Σ</a:t>
            </a:r>
          </a:p>
        </p:txBody>
      </p:sp>
      <p:sp>
        <p:nvSpPr>
          <p:cNvPr id="39950" name="Text Box 18"/>
          <p:cNvSpPr txBox="1">
            <a:spLocks noChangeArrowheads="1"/>
          </p:cNvSpPr>
          <p:nvPr/>
        </p:nvSpPr>
        <p:spPr bwMode="auto">
          <a:xfrm>
            <a:off x="1422401" y="3068638"/>
            <a:ext cx="3635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i=1</a:t>
            </a:r>
          </a:p>
        </p:txBody>
      </p:sp>
      <p:sp>
        <p:nvSpPr>
          <p:cNvPr id="39951" name="Text Box 19"/>
          <p:cNvSpPr txBox="1">
            <a:spLocks noChangeArrowheads="1"/>
          </p:cNvSpPr>
          <p:nvPr/>
        </p:nvSpPr>
        <p:spPr bwMode="auto">
          <a:xfrm>
            <a:off x="1477169" y="2701925"/>
            <a:ext cx="2540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n</a:t>
            </a:r>
          </a:p>
        </p:txBody>
      </p:sp>
      <p:sp>
        <p:nvSpPr>
          <p:cNvPr id="39952" name="Text Box 20"/>
          <p:cNvSpPr txBox="1">
            <a:spLocks noChangeArrowheads="1"/>
          </p:cNvSpPr>
          <p:nvPr/>
        </p:nvSpPr>
        <p:spPr bwMode="auto">
          <a:xfrm>
            <a:off x="1965325" y="2805113"/>
            <a:ext cx="21275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cs typeface="Arial" pitchFamily="34" charset="0"/>
              </a:rPr>
              <a:t>χ₁+ χ₂+χ₃+ ‥‥ χ</a:t>
            </a:r>
            <a:r>
              <a:rPr lang="en-US" altLang="ko-KR" sz="900" b="1" dirty="0">
                <a:latin typeface="Arial" pitchFamily="34" charset="0"/>
                <a:cs typeface="Arial" pitchFamily="34" charset="0"/>
              </a:rPr>
              <a:t>n</a:t>
            </a:r>
          </a:p>
        </p:txBody>
      </p:sp>
      <p:sp>
        <p:nvSpPr>
          <p:cNvPr id="39953" name="Text Box 21"/>
          <p:cNvSpPr txBox="1">
            <a:spLocks noChangeArrowheads="1"/>
          </p:cNvSpPr>
          <p:nvPr/>
        </p:nvSpPr>
        <p:spPr bwMode="auto">
          <a:xfrm>
            <a:off x="1751013" y="2835275"/>
            <a:ext cx="3175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a:t>
            </a:r>
          </a:p>
        </p:txBody>
      </p:sp>
      <p:sp>
        <p:nvSpPr>
          <p:cNvPr id="39954" name="Text Box 22"/>
          <p:cNvSpPr txBox="1">
            <a:spLocks noChangeArrowheads="1"/>
          </p:cNvSpPr>
          <p:nvPr/>
        </p:nvSpPr>
        <p:spPr bwMode="auto">
          <a:xfrm>
            <a:off x="1582738" y="4870450"/>
            <a:ext cx="1847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                      =</a:t>
            </a:r>
          </a:p>
        </p:txBody>
      </p:sp>
      <p:sp>
        <p:nvSpPr>
          <p:cNvPr id="39955" name="Line 23"/>
          <p:cNvSpPr>
            <a:spLocks noChangeShapeType="1"/>
          </p:cNvSpPr>
          <p:nvPr/>
        </p:nvSpPr>
        <p:spPr bwMode="auto">
          <a:xfrm>
            <a:off x="3800872" y="5068092"/>
            <a:ext cx="41116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9956" name="Text Box 24"/>
          <p:cNvSpPr txBox="1">
            <a:spLocks noChangeArrowheads="1"/>
          </p:cNvSpPr>
          <p:nvPr/>
        </p:nvSpPr>
        <p:spPr bwMode="auto">
          <a:xfrm>
            <a:off x="2315478" y="5039942"/>
            <a:ext cx="3257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cs typeface="Arial" pitchFamily="34" charset="0"/>
              </a:rPr>
              <a:t>n</a:t>
            </a:r>
          </a:p>
        </p:txBody>
      </p:sp>
      <p:sp>
        <p:nvSpPr>
          <p:cNvPr id="39957" name="Text Box 25"/>
          <p:cNvSpPr txBox="1">
            <a:spLocks noChangeArrowheads="1"/>
          </p:cNvSpPr>
          <p:nvPr/>
        </p:nvSpPr>
        <p:spPr bwMode="auto">
          <a:xfrm>
            <a:off x="2139057" y="4539056"/>
            <a:ext cx="3385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바탕체" pitchFamily="17" charset="-127"/>
                <a:cs typeface="Arial" pitchFamily="34" charset="0"/>
              </a:rPr>
              <a:t>Σ</a:t>
            </a:r>
          </a:p>
        </p:txBody>
      </p:sp>
      <p:sp>
        <p:nvSpPr>
          <p:cNvPr id="39958" name="Text Box 26"/>
          <p:cNvSpPr txBox="1">
            <a:spLocks noChangeArrowheads="1"/>
          </p:cNvSpPr>
          <p:nvPr/>
        </p:nvSpPr>
        <p:spPr bwMode="auto">
          <a:xfrm>
            <a:off x="2126566" y="4822455"/>
            <a:ext cx="3635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i=1</a:t>
            </a:r>
          </a:p>
        </p:txBody>
      </p:sp>
      <p:sp>
        <p:nvSpPr>
          <p:cNvPr id="39959" name="Text Box 27"/>
          <p:cNvSpPr txBox="1">
            <a:spLocks noChangeArrowheads="1"/>
          </p:cNvSpPr>
          <p:nvPr/>
        </p:nvSpPr>
        <p:spPr bwMode="auto">
          <a:xfrm>
            <a:off x="2181334" y="4411292"/>
            <a:ext cx="2540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n</a:t>
            </a:r>
          </a:p>
        </p:txBody>
      </p:sp>
      <p:sp>
        <p:nvSpPr>
          <p:cNvPr id="39960" name="Text Box 28"/>
          <p:cNvSpPr txBox="1">
            <a:spLocks noChangeArrowheads="1"/>
          </p:cNvSpPr>
          <p:nvPr/>
        </p:nvSpPr>
        <p:spPr bwMode="auto">
          <a:xfrm>
            <a:off x="2409332" y="4563692"/>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err="1">
                <a:latin typeface="Arial" pitchFamily="34" charset="0"/>
                <a:cs typeface="Arial" pitchFamily="34" charset="0"/>
              </a:rPr>
              <a:t>χ</a:t>
            </a:r>
            <a:r>
              <a:rPr lang="en-US" altLang="ko-KR" sz="1200" b="1" dirty="0" err="1">
                <a:latin typeface="Arial" pitchFamily="34" charset="0"/>
                <a:cs typeface="Arial" pitchFamily="34" charset="0"/>
              </a:rPr>
              <a:t>i</a:t>
            </a:r>
            <a:endParaRPr lang="en-US" altLang="ko-KR" sz="1200" b="1" dirty="0">
              <a:latin typeface="Arial" pitchFamily="34" charset="0"/>
              <a:cs typeface="Arial" pitchFamily="34" charset="0"/>
            </a:endParaRPr>
          </a:p>
        </p:txBody>
      </p:sp>
      <p:sp>
        <p:nvSpPr>
          <p:cNvPr id="39961" name="Text Box 29"/>
          <p:cNvSpPr txBox="1">
            <a:spLocks noChangeArrowheads="1"/>
          </p:cNvSpPr>
          <p:nvPr/>
        </p:nvSpPr>
        <p:spPr bwMode="auto">
          <a:xfrm>
            <a:off x="3506579" y="4864864"/>
            <a:ext cx="3385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바탕체" pitchFamily="17" charset="-127"/>
                <a:cs typeface="Arial" pitchFamily="34" charset="0"/>
              </a:rPr>
              <a:t>Σ</a:t>
            </a:r>
          </a:p>
        </p:txBody>
      </p:sp>
      <p:sp>
        <p:nvSpPr>
          <p:cNvPr id="39962" name="Text Box 30"/>
          <p:cNvSpPr txBox="1">
            <a:spLocks noChangeArrowheads="1"/>
          </p:cNvSpPr>
          <p:nvPr/>
        </p:nvSpPr>
        <p:spPr bwMode="auto">
          <a:xfrm>
            <a:off x="3494088" y="5148263"/>
            <a:ext cx="3635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i=1</a:t>
            </a:r>
          </a:p>
        </p:txBody>
      </p:sp>
      <p:sp>
        <p:nvSpPr>
          <p:cNvPr id="39963" name="Text Box 31"/>
          <p:cNvSpPr txBox="1">
            <a:spLocks noChangeArrowheads="1"/>
          </p:cNvSpPr>
          <p:nvPr/>
        </p:nvSpPr>
        <p:spPr bwMode="auto">
          <a:xfrm>
            <a:off x="3548856" y="4737100"/>
            <a:ext cx="2540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n</a:t>
            </a:r>
          </a:p>
        </p:txBody>
      </p:sp>
      <p:sp>
        <p:nvSpPr>
          <p:cNvPr id="39964" name="Text Box 32"/>
          <p:cNvSpPr txBox="1">
            <a:spLocks noChangeArrowheads="1"/>
          </p:cNvSpPr>
          <p:nvPr/>
        </p:nvSpPr>
        <p:spPr bwMode="auto">
          <a:xfrm>
            <a:off x="3827558" y="4715852"/>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cs typeface="Arial" pitchFamily="34" charset="0"/>
              </a:rPr>
              <a:t>χ</a:t>
            </a:r>
            <a:r>
              <a:rPr lang="en-US" altLang="ko-KR" sz="1200" b="1" dirty="0">
                <a:latin typeface="Arial" pitchFamily="34" charset="0"/>
                <a:cs typeface="Arial" pitchFamily="34" charset="0"/>
              </a:rPr>
              <a:t>i</a:t>
            </a:r>
          </a:p>
        </p:txBody>
      </p:sp>
      <p:sp>
        <p:nvSpPr>
          <p:cNvPr id="39965" name="Line 33"/>
          <p:cNvSpPr>
            <a:spLocks noChangeShapeType="1"/>
          </p:cNvSpPr>
          <p:nvPr/>
        </p:nvSpPr>
        <p:spPr bwMode="auto">
          <a:xfrm>
            <a:off x="2005013" y="5051425"/>
            <a:ext cx="8556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39966" name="Text Box 34"/>
          <p:cNvSpPr txBox="1">
            <a:spLocks noChangeArrowheads="1"/>
          </p:cNvSpPr>
          <p:nvPr/>
        </p:nvSpPr>
        <p:spPr bwMode="auto">
          <a:xfrm>
            <a:off x="3843588" y="4978246"/>
            <a:ext cx="3257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cs typeface="Arial" pitchFamily="34" charset="0"/>
              </a:rPr>
              <a:t>n</a:t>
            </a:r>
          </a:p>
        </p:txBody>
      </p:sp>
      <p:pic>
        <p:nvPicPr>
          <p:cNvPr id="39967" name="Picture 35" descr="창조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6583363" y="3932238"/>
            <a:ext cx="457200" cy="50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968" name="AutoShape 36"/>
          <p:cNvSpPr>
            <a:spLocks noChangeArrowheads="1"/>
          </p:cNvSpPr>
          <p:nvPr/>
        </p:nvSpPr>
        <p:spPr bwMode="auto">
          <a:xfrm>
            <a:off x="6537325" y="3860800"/>
            <a:ext cx="2952750" cy="2232025"/>
          </a:xfrm>
          <a:prstGeom prst="roundRect">
            <a:avLst>
              <a:gd name="adj" fmla="val 4162"/>
            </a:avLst>
          </a:prstGeom>
          <a:noFill/>
          <a:ln w="3810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pic>
        <p:nvPicPr>
          <p:cNvPr id="39969" name="Picture 38" descr="회의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6699250" y="3933825"/>
            <a:ext cx="1854200"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970" name="Text Box 37"/>
          <p:cNvSpPr txBox="1">
            <a:spLocks noChangeArrowheads="1"/>
          </p:cNvSpPr>
          <p:nvPr/>
        </p:nvSpPr>
        <p:spPr bwMode="auto">
          <a:xfrm>
            <a:off x="8237538" y="3998913"/>
            <a:ext cx="1214810" cy="972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100" b="1" dirty="0" err="1">
                <a:latin typeface="Arial" pitchFamily="34" charset="0"/>
                <a:ea typeface="맑은 고딕" pitchFamily="50" charset="-127"/>
                <a:cs typeface="Arial" pitchFamily="34" charset="0"/>
              </a:rPr>
              <a:t>Trung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bình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cân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nặng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của</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cả</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nhóm</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là</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bao</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nhiêu</a:t>
            </a:r>
            <a:r>
              <a:rPr lang="en-US" altLang="ko-KR" sz="1100" b="1" dirty="0">
                <a:latin typeface="Arial" pitchFamily="34" charset="0"/>
                <a:ea typeface="맑은 고딕" pitchFamily="50" charset="-127"/>
                <a:cs typeface="Arial" pitchFamily="34" charset="0"/>
              </a:rPr>
              <a:t>?</a:t>
            </a:r>
          </a:p>
        </p:txBody>
      </p:sp>
      <p:sp>
        <p:nvSpPr>
          <p:cNvPr id="39971" name="Text Box 3"/>
          <p:cNvSpPr txBox="1">
            <a:spLocks noChangeArrowheads="1"/>
          </p:cNvSpPr>
          <p:nvPr/>
        </p:nvSpPr>
        <p:spPr bwMode="auto">
          <a:xfrm>
            <a:off x="776288" y="1125538"/>
            <a:ext cx="52213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Blip>
                <a:blip r:embed="rId4"/>
              </a:buBlip>
            </a:pP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yếu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tố</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dùng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để</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mô</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tả</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trung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tâm</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en-US" altLang="ko-KR"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43</a:t>
            </a:fld>
            <a:endParaRPr lang="ko-KR" altLang="en-US" dirty="0">
              <a:latin typeface="Arial" pitchFamily="34" charset="0"/>
              <a:cs typeface="Arial" pitchFamily="34" charset="0"/>
            </a:endParaRPr>
          </a:p>
        </p:txBody>
      </p:sp>
      <p:sp>
        <p:nvSpPr>
          <p:cNvPr id="38"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1"/>
          <p:cNvSpPr>
            <a:spLocks noChangeArrowheads="1"/>
          </p:cNvSpPr>
          <p:nvPr/>
        </p:nvSpPr>
        <p:spPr bwMode="auto">
          <a:xfrm>
            <a:off x="611188" y="908720"/>
            <a:ext cx="8985282" cy="2333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400" b="1" dirty="0">
                <a:latin typeface="Arial" pitchFamily="34" charset="0"/>
                <a:ea typeface="맑은 고딕" pitchFamily="50" charset="-127"/>
                <a:cs typeface="Arial" pitchFamily="34" charset="0"/>
              </a:rPr>
              <a:t>2) Trimmed Mean</a:t>
            </a: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Điểm yếu của các trung bình trong thực tế </a:t>
            </a:r>
            <a:r>
              <a:rPr lang="en-US" altLang="ko-KR" sz="1400" b="1" dirty="0" err="1">
                <a:latin typeface="Arial" pitchFamily="34" charset="0"/>
                <a:ea typeface="맑은 고딕" pitchFamily="50" charset="-127"/>
                <a:cs typeface="Arial" pitchFamily="34" charset="0"/>
              </a:rPr>
              <a:t>là</a:t>
            </a:r>
            <a:r>
              <a:rPr lang="vi-VN" altLang="ko-KR" sz="1400" b="1" dirty="0">
                <a:latin typeface="Arial" pitchFamily="34" charset="0"/>
                <a:ea typeface="맑은 고딕" pitchFamily="50" charset="-127"/>
                <a:cs typeface="Arial" pitchFamily="34" charset="0"/>
              </a:rPr>
              <a:t> nó bị ảnh hưởng mạnh bởi </a:t>
            </a:r>
            <a:r>
              <a:rPr lang="vi-VN" altLang="ko-KR" sz="1400" b="1" dirty="0">
                <a:solidFill>
                  <a:srgbClr val="FF0000"/>
                </a:solidFill>
                <a:latin typeface="Arial" pitchFamily="34" charset="0"/>
                <a:ea typeface="맑은 고딕" pitchFamily="50" charset="-127"/>
                <a:cs typeface="Arial" pitchFamily="34" charset="0"/>
              </a:rPr>
              <a:t>giá trị ngoại lai</a:t>
            </a:r>
            <a:r>
              <a:rPr lang="vi-VN" altLang="ko-KR" sz="1400" b="1" dirty="0">
                <a:latin typeface="Arial" pitchFamily="34" charset="0"/>
                <a:ea typeface="맑은 고딕" pitchFamily="50" charset="-127"/>
                <a:cs typeface="Arial" pitchFamily="34" charset="0"/>
              </a:rPr>
              <a:t>.</a:t>
            </a:r>
            <a:br>
              <a:rPr lang="vi-VN" altLang="ko-KR" sz="1400" b="1" dirty="0">
                <a:latin typeface="Arial" pitchFamily="34" charset="0"/>
                <a:ea typeface="맑은 고딕" pitchFamily="50" charset="-127"/>
                <a:cs typeface="Arial" pitchFamily="34" charset="0"/>
              </a:rPr>
            </a:br>
            <a:r>
              <a:rPr lang="vi-VN" altLang="ko-KR" sz="1400" b="1" dirty="0">
                <a:latin typeface="Arial" pitchFamily="34" charset="0"/>
                <a:ea typeface="맑은 고딕" pitchFamily="50" charset="-127"/>
                <a:cs typeface="Arial" pitchFamily="34" charset="0"/>
              </a:rPr>
              <a:t>      Một số biến thể khác</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của trung bình đã được phát triển để bù đắp cho điểm yếu này và một trong số đó là</a:t>
            </a:r>
            <a:r>
              <a:rPr lang="en-US" altLang="ko-KR" sz="1400" b="1" dirty="0">
                <a:latin typeface="Arial" pitchFamily="34" charset="0"/>
                <a:ea typeface="맑은 고딕" pitchFamily="50" charset="-127"/>
                <a:cs typeface="Arial" pitchFamily="34" charset="0"/>
              </a:rPr>
              <a:t> Trimmed Mean</a:t>
            </a:r>
            <a:r>
              <a:rPr lang="vi-VN" altLang="ko-KR" sz="1400" b="1" dirty="0">
                <a:latin typeface="Arial" pitchFamily="34" charset="0"/>
                <a:ea typeface="맑은 고딕" pitchFamily="50" charset="-127"/>
                <a:cs typeface="Arial" pitchFamily="34" charset="0"/>
              </a:rPr>
              <a:t>.</a:t>
            </a:r>
            <a:br>
              <a:rPr lang="vi-VN" altLang="ko-KR" sz="1400" b="1" dirty="0">
                <a:latin typeface="Arial" pitchFamily="34" charset="0"/>
                <a:ea typeface="맑은 고딕" pitchFamily="50" charset="-127"/>
                <a:cs typeface="Arial" pitchFamily="34" charset="0"/>
              </a:rPr>
            </a:br>
            <a:r>
              <a:rPr lang="vi-VN" altLang="ko-KR" sz="1400" b="1" dirty="0">
                <a:latin typeface="Arial" pitchFamily="34" charset="0"/>
                <a:ea typeface="맑은 고딕" pitchFamily="50" charset="-127"/>
                <a:cs typeface="Arial" pitchFamily="34" charset="0"/>
              </a:rPr>
              <a:t>    - </a:t>
            </a:r>
            <a:r>
              <a:rPr lang="en-US" altLang="ko-KR" sz="1400" b="1" dirty="0">
                <a:latin typeface="Arial" pitchFamily="34" charset="0"/>
                <a:ea typeface="맑은 고딕" pitchFamily="50" charset="-127"/>
                <a:cs typeface="Arial" pitchFamily="34" charset="0"/>
              </a:rPr>
              <a:t>Trimmed Mean </a:t>
            </a:r>
            <a:r>
              <a:rPr lang="vi-VN" altLang="ko-KR" sz="1400" b="1" dirty="0">
                <a:latin typeface="Arial" pitchFamily="34" charset="0"/>
                <a:ea typeface="맑은 고딕" pitchFamily="50" charset="-127"/>
                <a:cs typeface="Arial" pitchFamily="34" charset="0"/>
              </a:rPr>
              <a:t>được tính toán bằng cách </a:t>
            </a:r>
            <a:r>
              <a:rPr lang="vi-VN" altLang="ko-KR" sz="1400" b="1" dirty="0">
                <a:solidFill>
                  <a:srgbClr val="FF0000"/>
                </a:solidFill>
                <a:latin typeface="Arial" pitchFamily="34" charset="0"/>
                <a:ea typeface="맑은 고딕" pitchFamily="50" charset="-127"/>
                <a:cs typeface="Arial" pitchFamily="34" charset="0"/>
              </a:rPr>
              <a:t>sắp xếp các dữ liệu </a:t>
            </a:r>
            <a:r>
              <a:rPr lang="vi-VN" altLang="ko-KR" sz="1400" b="1" dirty="0">
                <a:latin typeface="Arial" pitchFamily="34" charset="0"/>
                <a:ea typeface="맑은 고딕" pitchFamily="50" charset="-127"/>
                <a:cs typeface="Arial" pitchFamily="34" charset="0"/>
              </a:rPr>
              <a:t>theo một thứ tự nhất định, loại bỏ các điểm dữ liệu ở hai đầu cực và sau đó </a:t>
            </a:r>
            <a:r>
              <a:rPr lang="en-US" altLang="ko-KR" sz="1400" b="1" dirty="0" err="1">
                <a:latin typeface="Arial" pitchFamily="34" charset="0"/>
                <a:ea typeface="맑은 고딕" pitchFamily="50" charset="-127"/>
                <a:cs typeface="Arial" pitchFamily="34" charset="0"/>
              </a:rPr>
              <a:t>xác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định</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trung bình.</a:t>
            </a:r>
            <a:br>
              <a:rPr lang="vi-VN" altLang="ko-KR" sz="1400" b="1" dirty="0">
                <a:latin typeface="Arial" pitchFamily="34" charset="0"/>
                <a:ea typeface="맑은 고딕" pitchFamily="50" charset="-127"/>
                <a:cs typeface="Arial" pitchFamily="34" charset="0"/>
              </a:rPr>
            </a:br>
            <a:r>
              <a:rPr lang="vi-VN" altLang="ko-KR" sz="1400" b="1" dirty="0">
                <a:latin typeface="Arial" pitchFamily="34" charset="0"/>
                <a:ea typeface="맑은 고딕" pitchFamily="50" charset="-127"/>
                <a:cs typeface="Arial" pitchFamily="34" charset="0"/>
              </a:rPr>
              <a:t>    - </a:t>
            </a:r>
            <a:r>
              <a:rPr lang="en-US" altLang="ko-KR" sz="1400" b="1" dirty="0">
                <a:latin typeface="Arial" pitchFamily="34" charset="0"/>
                <a:ea typeface="맑은 고딕" pitchFamily="50" charset="-127"/>
                <a:cs typeface="Arial" pitchFamily="34" charset="0"/>
              </a:rPr>
              <a:t>Trimmed Mean </a:t>
            </a:r>
            <a:r>
              <a:rPr lang="vi-VN" altLang="ko-KR" sz="1400" b="1" dirty="0">
                <a:latin typeface="Arial" pitchFamily="34" charset="0"/>
                <a:ea typeface="맑은 고딕" pitchFamily="50" charset="-127"/>
                <a:cs typeface="Arial" pitchFamily="34" charset="0"/>
              </a:rPr>
              <a:t>thường được sử dụng để giảm thiểu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phán quyết thiên vị trong các cuộc thi Olympic như thể dục dụng cụ và trượt băng nghệ thuật.</a:t>
            </a:r>
            <a:endParaRPr lang="en-US" altLang="ko-KR" sz="1400" b="1" dirty="0">
              <a:latin typeface="Arial" pitchFamily="34" charset="0"/>
              <a:ea typeface="맑은 고딕" pitchFamily="50" charset="-127"/>
              <a:cs typeface="Arial" pitchFamily="34" charset="0"/>
            </a:endParaRPr>
          </a:p>
        </p:txBody>
      </p:sp>
      <p:sp>
        <p:nvSpPr>
          <p:cNvPr id="40963" name="AutoShape 65"/>
          <p:cNvSpPr>
            <a:spLocks noChangeArrowheads="1"/>
          </p:cNvSpPr>
          <p:nvPr/>
        </p:nvSpPr>
        <p:spPr bwMode="auto">
          <a:xfrm>
            <a:off x="900113" y="3285827"/>
            <a:ext cx="7920037" cy="3311525"/>
          </a:xfrm>
          <a:prstGeom prst="roundRect">
            <a:avLst>
              <a:gd name="adj" fmla="val 4162"/>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a:t>
            </a:r>
            <a:r>
              <a:rPr lang="en-US" altLang="ko-KR" sz="1400" b="1" dirty="0" err="1">
                <a:solidFill>
                  <a:schemeClr val="accent2"/>
                </a:solidFill>
                <a:latin typeface="Arial" pitchFamily="34" charset="0"/>
                <a:ea typeface="맑은 고딕" pitchFamily="50" charset="-127"/>
                <a:cs typeface="Arial" pitchFamily="34" charset="0"/>
              </a:rPr>
              <a:t>Ví</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a:t>
            </a:r>
            <a:r>
              <a:rPr lang="ko-KR" altLang="en-US" sz="1400" b="1" dirty="0">
                <a:solidFill>
                  <a:schemeClr val="accent2"/>
                </a:solidFill>
                <a:latin typeface="Arial" pitchFamily="34" charset="0"/>
                <a:ea typeface="맑은 고딕" pitchFamily="50" charset="-127"/>
                <a:cs typeface="Arial" pitchFamily="34" charset="0"/>
              </a:rPr>
              <a:t> </a:t>
            </a:r>
            <a:r>
              <a:rPr lang="en-US" altLang="ko-KR" sz="1400" b="1" dirty="0">
                <a:solidFill>
                  <a:schemeClr val="accent2"/>
                </a:solidFill>
                <a:latin typeface="Arial" pitchFamily="34" charset="0"/>
                <a:ea typeface="맑은 고딕" pitchFamily="50" charset="-127"/>
                <a:cs typeface="Arial" pitchFamily="34" charset="0"/>
              </a:rPr>
              <a:t>)</a:t>
            </a: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Trong</a:t>
            </a:r>
            <a:r>
              <a:rPr lang="en-US" altLang="ko-KR" sz="1400" b="1" dirty="0">
                <a:solidFill>
                  <a:schemeClr val="accent2"/>
                </a:solidFill>
                <a:latin typeface="Arial" pitchFamily="34" charset="0"/>
                <a:ea typeface="맑은 고딕" pitchFamily="50" charset="-127"/>
                <a:cs typeface="Arial" pitchFamily="34" charset="0"/>
              </a:rPr>
              <a:t> 1 </a:t>
            </a:r>
            <a:r>
              <a:rPr lang="en-US" altLang="ko-KR" sz="1400" b="1" dirty="0" err="1">
                <a:solidFill>
                  <a:schemeClr val="accent2"/>
                </a:solidFill>
                <a:latin typeface="Arial" pitchFamily="34" charset="0"/>
                <a:ea typeface="맑은 고딕" pitchFamily="50" charset="-127"/>
                <a:cs typeface="Arial" pitchFamily="34" charset="0"/>
              </a:rPr>
              <a:t>cuộc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thi</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thể</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cụ</a:t>
            </a:r>
            <a:r>
              <a:rPr lang="en-US" altLang="ko-KR" sz="1400" b="1" dirty="0">
                <a:solidFill>
                  <a:schemeClr val="accent2"/>
                </a:solidFill>
                <a:latin typeface="Arial" pitchFamily="34" charset="0"/>
                <a:ea typeface="맑은 고딕" pitchFamily="50" charset="-127"/>
                <a:cs typeface="Arial" pitchFamily="34" charset="0"/>
              </a:rPr>
              <a:t>, 8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cho</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điểm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vận</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động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viên</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như</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sau</a:t>
            </a:r>
            <a:r>
              <a:rPr lang="en-US" altLang="ko-KR" sz="1400" b="1" dirty="0">
                <a:solidFill>
                  <a:schemeClr val="accent2"/>
                </a:solidFill>
                <a:latin typeface="Arial" pitchFamily="34" charset="0"/>
                <a:ea typeface="맑은 고딕" pitchFamily="50" charset="-127"/>
                <a:cs typeface="Arial" pitchFamily="34" charset="0"/>
              </a:rPr>
              <a:t>.</a:t>
            </a:r>
          </a:p>
          <a:p>
            <a:pPr eaLnBrk="1" hangingPunct="1">
              <a:lnSpc>
                <a:spcPct val="130000"/>
              </a:lnSpc>
            </a:pP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ko-KR" altLang="en-US" sz="1400" b="1" dirty="0">
                <a:solidFill>
                  <a:schemeClr val="accent2"/>
                </a:solidFill>
                <a:latin typeface="Arial" pitchFamily="34" charset="0"/>
                <a:ea typeface="맑은 고딕" pitchFamily="50" charset="-127"/>
                <a:cs typeface="Arial" pitchFamily="34" charset="0"/>
              </a:rPr>
              <a:t> </a:t>
            </a:r>
            <a:r>
              <a:rPr lang="en-US" altLang="ko-KR" sz="1400" b="1" dirty="0">
                <a:solidFill>
                  <a:schemeClr val="accent2"/>
                </a:solidFill>
                <a:latin typeface="Arial" pitchFamily="34" charset="0"/>
                <a:ea typeface="맑은 고딕" pitchFamily="50" charset="-127"/>
                <a:cs typeface="Arial" pitchFamily="34" charset="0"/>
              </a:rPr>
              <a:t>1 = 9.0 ,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en-US" altLang="ko-KR" sz="1400" b="1" dirty="0">
                <a:solidFill>
                  <a:schemeClr val="accent2"/>
                </a:solidFill>
                <a:latin typeface="Arial" pitchFamily="34" charset="0"/>
                <a:ea typeface="맑은 고딕" pitchFamily="50" charset="-127"/>
                <a:cs typeface="Arial" pitchFamily="34" charset="0"/>
              </a:rPr>
              <a:t> 2 = 9.3 ,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en-US" altLang="ko-KR" sz="1400" b="1" dirty="0">
                <a:solidFill>
                  <a:schemeClr val="accent2"/>
                </a:solidFill>
                <a:latin typeface="Arial" pitchFamily="34" charset="0"/>
                <a:ea typeface="맑은 고딕" pitchFamily="50" charset="-127"/>
                <a:cs typeface="Arial" pitchFamily="34" charset="0"/>
              </a:rPr>
              <a:t> 3 = 9.2 ,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en-US" altLang="ko-KR" sz="1400" b="1" dirty="0">
                <a:solidFill>
                  <a:schemeClr val="accent2"/>
                </a:solidFill>
                <a:latin typeface="Arial" pitchFamily="34" charset="0"/>
                <a:ea typeface="맑은 고딕" pitchFamily="50" charset="-127"/>
                <a:cs typeface="Arial" pitchFamily="34" charset="0"/>
              </a:rPr>
              <a:t> 4 = 6.5 ,</a:t>
            </a: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en-US" altLang="ko-KR" sz="1400" b="1" dirty="0">
                <a:solidFill>
                  <a:schemeClr val="accent2"/>
                </a:solidFill>
                <a:latin typeface="Arial" pitchFamily="34" charset="0"/>
                <a:ea typeface="맑은 고딕" pitchFamily="50" charset="-127"/>
                <a:cs typeface="Arial" pitchFamily="34" charset="0"/>
              </a:rPr>
              <a:t> 5 =10.0 ,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en-US" altLang="ko-KR" sz="1400" b="1" dirty="0">
                <a:solidFill>
                  <a:schemeClr val="accent2"/>
                </a:solidFill>
                <a:latin typeface="Arial" pitchFamily="34" charset="0"/>
                <a:ea typeface="맑은 고딕" pitchFamily="50" charset="-127"/>
                <a:cs typeface="Arial" pitchFamily="34" charset="0"/>
              </a:rPr>
              <a:t> 6 = 9.1 ,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en-US" altLang="ko-KR" sz="1400" b="1" dirty="0">
                <a:solidFill>
                  <a:schemeClr val="accent2"/>
                </a:solidFill>
                <a:latin typeface="Arial" pitchFamily="34" charset="0"/>
                <a:ea typeface="맑은 고딕" pitchFamily="50" charset="-127"/>
                <a:cs typeface="Arial" pitchFamily="34" charset="0"/>
              </a:rPr>
              <a:t> 7 = 9.6 , </a:t>
            </a:r>
            <a:r>
              <a:rPr lang="en-US" altLang="ko-KR" sz="1400" b="1" dirty="0" err="1">
                <a:solidFill>
                  <a:schemeClr val="accent2"/>
                </a:solidFill>
                <a:latin typeface="Arial" pitchFamily="34" charset="0"/>
                <a:ea typeface="맑은 고딕" pitchFamily="50" charset="-127"/>
                <a:cs typeface="Arial" pitchFamily="34" charset="0"/>
              </a:rPr>
              <a:t>Giám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khảo</a:t>
            </a:r>
            <a:r>
              <a:rPr lang="en-US" altLang="ko-KR" sz="1400" b="1" dirty="0">
                <a:solidFill>
                  <a:schemeClr val="accent2"/>
                </a:solidFill>
                <a:latin typeface="Arial" pitchFamily="34" charset="0"/>
                <a:ea typeface="맑은 고딕" pitchFamily="50" charset="-127"/>
                <a:cs typeface="Arial" pitchFamily="34" charset="0"/>
              </a:rPr>
              <a:t> 8 = 9.0</a:t>
            </a:r>
          </a:p>
          <a:p>
            <a:pPr eaLnBrk="1" hangingPunct="1">
              <a:lnSpc>
                <a:spcPct val="130000"/>
              </a:lnSpc>
            </a:pP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Khi</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trung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bình</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và</a:t>
            </a:r>
            <a:r>
              <a:rPr lang="en-US" altLang="ko-KR" sz="1400" b="1" dirty="0">
                <a:solidFill>
                  <a:schemeClr val="accent2"/>
                </a:solidFill>
                <a:latin typeface="Arial" pitchFamily="34" charset="0"/>
                <a:ea typeface="맑은 고딕" pitchFamily="50" charset="-127"/>
                <a:cs typeface="Arial" pitchFamily="34" charset="0"/>
              </a:rPr>
              <a:t> trimmed mean </a:t>
            </a:r>
            <a:r>
              <a:rPr lang="en-US" altLang="ko-KR" sz="1400" b="1" dirty="0" err="1">
                <a:solidFill>
                  <a:schemeClr val="accent2"/>
                </a:solidFill>
                <a:latin typeface="Arial" pitchFamily="34" charset="0"/>
                <a:ea typeface="맑은 고딕" pitchFamily="50" charset="-127"/>
                <a:cs typeface="Arial" pitchFamily="34" charset="0"/>
              </a:rPr>
              <a:t>được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tính</a:t>
            </a:r>
            <a:r>
              <a:rPr lang="en-US" altLang="ko-KR" sz="1400" b="1" dirty="0">
                <a:solidFill>
                  <a:schemeClr val="accent2"/>
                </a:solidFill>
                <a:latin typeface="Arial" pitchFamily="34" charset="0"/>
                <a:ea typeface="맑은 고딕" pitchFamily="50" charset="-127"/>
                <a:cs typeface="Arial" pitchFamily="34" charset="0"/>
              </a:rPr>
              <a:t>. . . </a:t>
            </a:r>
          </a:p>
          <a:p>
            <a:pPr eaLnBrk="1" hangingPunct="1">
              <a:lnSpc>
                <a:spcPct val="130000"/>
              </a:lnSpc>
            </a:pP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 </a:t>
            </a:r>
            <a:r>
              <a:rPr lang="en-US" altLang="ko-KR" sz="1400" b="1" dirty="0" err="1">
                <a:solidFill>
                  <a:schemeClr val="accent2"/>
                </a:solidFill>
                <a:latin typeface="Arial" pitchFamily="34" charset="0"/>
                <a:ea typeface="맑은 고딕" pitchFamily="50" charset="-127"/>
                <a:cs typeface="Arial" pitchFamily="34" charset="0"/>
              </a:rPr>
              <a:t>Trung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bình</a:t>
            </a:r>
            <a:r>
              <a:rPr lang="ko-KR" altLang="en-US" sz="1400" b="1" dirty="0">
                <a:solidFill>
                  <a:schemeClr val="accent2"/>
                </a:solidFill>
                <a:latin typeface="Arial" pitchFamily="34" charset="0"/>
                <a:ea typeface="맑은 고딕" pitchFamily="50" charset="-127"/>
                <a:cs typeface="Arial" pitchFamily="34" charset="0"/>
              </a:rPr>
              <a:t> </a:t>
            </a:r>
            <a:r>
              <a:rPr lang="en-US" altLang="ko-KR" sz="1400" b="1" dirty="0">
                <a:solidFill>
                  <a:schemeClr val="accent2"/>
                </a:solidFill>
                <a:latin typeface="Arial" pitchFamily="34" charset="0"/>
                <a:ea typeface="맑은 고딕" pitchFamily="50" charset="-127"/>
                <a:cs typeface="Arial" pitchFamily="34" charset="0"/>
              </a:rPr>
              <a:t>= (9.0 + 9.3 + 9.2 + 6.5 + 10.0 + 9.1 + 9.6 + 9.0)/8 = </a:t>
            </a:r>
            <a:r>
              <a:rPr lang="en-US" altLang="ko-KR" sz="1400" b="1" dirty="0">
                <a:solidFill>
                  <a:srgbClr val="FF3300"/>
                </a:solidFill>
                <a:latin typeface="Arial" pitchFamily="34" charset="0"/>
                <a:ea typeface="맑은 고딕" pitchFamily="50" charset="-127"/>
                <a:cs typeface="Arial" pitchFamily="34" charset="0"/>
              </a:rPr>
              <a:t>8.96</a:t>
            </a: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 Trimmed Mean</a:t>
            </a:r>
            <a:r>
              <a:rPr lang="ko-KR" altLang="en-US" sz="1400" b="1" dirty="0">
                <a:solidFill>
                  <a:schemeClr val="accent2"/>
                </a:solidFill>
                <a:latin typeface="Arial" pitchFamily="34" charset="0"/>
                <a:ea typeface="맑은 고딕" pitchFamily="50" charset="-127"/>
                <a:cs typeface="Arial" pitchFamily="34" charset="0"/>
              </a:rPr>
              <a:t> </a:t>
            </a:r>
            <a:r>
              <a:rPr lang="en-US" altLang="ko-KR" sz="1400" b="1" dirty="0">
                <a:solidFill>
                  <a:schemeClr val="accent2"/>
                </a:solidFill>
                <a:latin typeface="Arial" pitchFamily="34" charset="0"/>
                <a:ea typeface="맑은 고딕" pitchFamily="50" charset="-127"/>
                <a:cs typeface="Arial" pitchFamily="34" charset="0"/>
              </a:rPr>
              <a:t>= (9.0 + 9.3 + 9.2 + 9.1 + 9.6 + 9.0)/6      = </a:t>
            </a:r>
            <a:r>
              <a:rPr lang="en-US" altLang="ko-KR" sz="1400" b="1" dirty="0">
                <a:solidFill>
                  <a:srgbClr val="FF3300"/>
                </a:solidFill>
                <a:latin typeface="Arial" pitchFamily="34" charset="0"/>
                <a:ea typeface="맑은 고딕" pitchFamily="50" charset="-127"/>
                <a:cs typeface="Arial" pitchFamily="34" charset="0"/>
              </a:rPr>
              <a:t>9.20</a:t>
            </a: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Giá</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trị</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tối</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đa</a:t>
            </a:r>
            <a:r>
              <a:rPr lang="en-US" altLang="ko-KR" sz="1100" b="1" dirty="0">
                <a:solidFill>
                  <a:schemeClr val="accent2"/>
                </a:solidFill>
                <a:latin typeface="Arial" pitchFamily="34" charset="0"/>
                <a:ea typeface="맑은 고딕" pitchFamily="50" charset="-127"/>
                <a:cs typeface="Arial" pitchFamily="34" charset="0"/>
              </a:rPr>
              <a:t> 10 </a:t>
            </a:r>
            <a:r>
              <a:rPr lang="en-US" altLang="ko-KR" sz="1100" b="1" dirty="0" err="1">
                <a:solidFill>
                  <a:schemeClr val="accent2"/>
                </a:solidFill>
                <a:latin typeface="Arial" pitchFamily="34" charset="0"/>
                <a:ea typeface="맑은 고딕" pitchFamily="50" charset="-127"/>
                <a:cs typeface="Arial" pitchFamily="34" charset="0"/>
              </a:rPr>
              <a:t>và</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tối</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thiểu</a:t>
            </a:r>
            <a:r>
              <a:rPr lang="en-US" altLang="ko-KR" sz="1100" b="1" dirty="0">
                <a:solidFill>
                  <a:schemeClr val="accent2"/>
                </a:solidFill>
                <a:latin typeface="Arial" pitchFamily="34" charset="0"/>
                <a:ea typeface="맑은 고딕" pitchFamily="50" charset="-127"/>
                <a:cs typeface="Arial" pitchFamily="34" charset="0"/>
              </a:rPr>
              <a:t> 6.5 </a:t>
            </a:r>
            <a:r>
              <a:rPr lang="en-US" altLang="ko-KR" sz="1100" b="1" dirty="0" err="1">
                <a:solidFill>
                  <a:schemeClr val="accent2"/>
                </a:solidFill>
                <a:latin typeface="Arial" pitchFamily="34" charset="0"/>
                <a:ea typeface="맑은 고딕" pitchFamily="50" charset="-127"/>
                <a:cs typeface="Arial" pitchFamily="34" charset="0"/>
              </a:rPr>
              <a:t>được</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loại</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bỏ</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khi</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tính</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trung</a:t>
            </a:r>
            <a:r>
              <a:rPr lang="en-US" altLang="ko-KR" sz="1100" b="1" dirty="0">
                <a:solidFill>
                  <a:schemeClr val="accent2"/>
                </a:solidFill>
                <a:latin typeface="Arial" pitchFamily="34" charset="0"/>
                <a:ea typeface="맑은 고딕" pitchFamily="50" charset="-127"/>
                <a:cs typeface="Arial" pitchFamily="34" charset="0"/>
              </a:rPr>
              <a:t> </a:t>
            </a:r>
            <a:r>
              <a:rPr lang="en-US" altLang="ko-KR" sz="1100" b="1" dirty="0" err="1">
                <a:solidFill>
                  <a:schemeClr val="accent2"/>
                </a:solidFill>
                <a:latin typeface="Arial" pitchFamily="34" charset="0"/>
                <a:ea typeface="맑은 고딕" pitchFamily="50" charset="-127"/>
                <a:cs typeface="Arial" pitchFamily="34" charset="0"/>
              </a:rPr>
              <a:t>bình</a:t>
            </a:r>
            <a:r>
              <a:rPr lang="en-US" altLang="ko-KR" sz="1100" b="1" dirty="0">
                <a:solidFill>
                  <a:schemeClr val="accent2"/>
                </a:solidFill>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44</a:t>
            </a:fld>
            <a:endParaRPr lang="ko-KR" altLang="en-US" dirty="0">
              <a:latin typeface="Arial" pitchFamily="34" charset="0"/>
              <a:cs typeface="Arial" pitchFamily="34" charset="0"/>
            </a:endParaRPr>
          </a:p>
        </p:txBody>
      </p:sp>
      <p:sp>
        <p:nvSpPr>
          <p:cNvPr id="6"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3"/>
          <p:cNvSpPr>
            <a:spLocks noChangeArrowheads="1"/>
          </p:cNvSpPr>
          <p:nvPr/>
        </p:nvSpPr>
        <p:spPr bwMode="auto">
          <a:xfrm>
            <a:off x="847725" y="920006"/>
            <a:ext cx="8058296" cy="121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400" b="1" dirty="0">
                <a:latin typeface="Arial" pitchFamily="34" charset="0"/>
                <a:ea typeface="맑은 고딕" pitchFamily="50" charset="-127"/>
                <a:cs typeface="Arial" pitchFamily="34" charset="0"/>
              </a:rPr>
              <a:t>3) </a:t>
            </a:r>
            <a:r>
              <a:rPr lang="en-US" altLang="ko-KR" sz="1400" b="1" dirty="0" err="1">
                <a:latin typeface="Arial" pitchFamily="34" charset="0"/>
                <a:ea typeface="맑은 고딕" pitchFamily="50" charset="-127"/>
                <a:cs typeface="Arial" pitchFamily="34" charset="0"/>
              </a:rPr>
              <a:t>Trung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vị</a:t>
            </a:r>
            <a:r>
              <a:rPr lang="en-US" altLang="ko-KR" sz="1400" b="1" dirty="0">
                <a:latin typeface="Arial" pitchFamily="34" charset="0"/>
                <a:ea typeface="맑은 고딕" pitchFamily="50" charset="-127"/>
                <a:cs typeface="Arial" pitchFamily="34" charset="0"/>
              </a:rPr>
              <a:t>(Median)</a:t>
            </a:r>
          </a:p>
          <a:p>
            <a:pPr eaLnBrk="1" hangingPunct="1">
              <a:lnSpc>
                <a:spcPct val="130000"/>
              </a:lnSpc>
            </a:pPr>
            <a:r>
              <a:rPr lang="en-US" altLang="ko-KR" sz="1400" b="1" dirty="0">
                <a:latin typeface="Arial" pitchFamily="34" charset="0"/>
                <a:ea typeface="맑은 고딕" pitchFamily="50" charset="-127"/>
                <a:cs typeface="Arial" pitchFamily="34" charset="0"/>
              </a:rPr>
              <a:t>    - </a:t>
            </a:r>
            <a:r>
              <a:rPr lang="en-US" altLang="ko-KR" sz="1400" b="1" dirty="0" err="1">
                <a:latin typeface="Arial" pitchFamily="34" charset="0"/>
                <a:ea typeface="맑은 고딕" pitchFamily="50" charset="-127"/>
                <a:cs typeface="Arial" pitchFamily="34" charset="0"/>
              </a:rPr>
              <a:t>Là</a:t>
            </a:r>
            <a:r>
              <a:rPr lang="en-US" altLang="ko-KR" sz="1400" b="1" dirty="0">
                <a:latin typeface="Arial" pitchFamily="34" charset="0"/>
                <a:ea typeface="맑은 고딕" pitchFamily="50" charset="-127"/>
                <a:cs typeface="Arial" pitchFamily="34" charset="0"/>
              </a:rPr>
              <a:t> </a:t>
            </a:r>
            <a:r>
              <a:rPr lang="en-US" altLang="ko-KR" sz="1400" b="1" dirty="0">
                <a:solidFill>
                  <a:srgbClr val="FF0000"/>
                </a:solidFill>
                <a:latin typeface="Arial" pitchFamily="34" charset="0"/>
                <a:ea typeface="맑은 고딕" pitchFamily="50" charset="-127"/>
                <a:cs typeface="Arial" pitchFamily="34" charset="0"/>
              </a:rPr>
              <a:t>g</a:t>
            </a:r>
            <a:r>
              <a:rPr lang="vi-VN" altLang="ko-KR" sz="1400" b="1" dirty="0">
                <a:solidFill>
                  <a:srgbClr val="FF0000"/>
                </a:solidFill>
                <a:latin typeface="Arial" pitchFamily="34" charset="0"/>
                <a:ea typeface="맑은 고딕" pitchFamily="50" charset="-127"/>
                <a:cs typeface="Arial" pitchFamily="34" charset="0"/>
              </a:rPr>
              <a:t>iá trị dữ liệu ở giữa </a:t>
            </a:r>
            <a:r>
              <a:rPr lang="vi-VN" altLang="ko-KR" sz="1400" b="1" dirty="0">
                <a:latin typeface="Arial" pitchFamily="34" charset="0"/>
                <a:ea typeface="맑은 고딕" pitchFamily="50" charset="-127"/>
                <a:cs typeface="Arial" pitchFamily="34" charset="0"/>
              </a:rPr>
              <a:t>khi các dữ liệu đo được </a:t>
            </a:r>
            <a:r>
              <a:rPr lang="vi-VN" altLang="ko-KR" sz="1400" b="1" dirty="0">
                <a:solidFill>
                  <a:srgbClr val="FF0000"/>
                </a:solidFill>
                <a:latin typeface="Arial" pitchFamily="34" charset="0"/>
                <a:ea typeface="맑은 고딕" pitchFamily="50" charset="-127"/>
                <a:cs typeface="Arial" pitchFamily="34" charset="0"/>
              </a:rPr>
              <a:t>sắp xếp theo thứ tự tăng dần</a:t>
            </a:r>
            <a:r>
              <a:rPr lang="vi-VN" altLang="ko-KR" sz="1400" b="1" dirty="0">
                <a:latin typeface="Arial" pitchFamily="34" charset="0"/>
                <a:ea typeface="맑은 고딕" pitchFamily="50" charset="-127"/>
                <a:cs typeface="Arial" pitchFamily="34" charset="0"/>
              </a:rPr>
              <a:t>.</a:t>
            </a:r>
            <a:br>
              <a:rPr lang="vi-VN" altLang="ko-KR" sz="1400" b="1" dirty="0">
                <a:latin typeface="Arial" pitchFamily="34" charset="0"/>
                <a:ea typeface="맑은 고딕" pitchFamily="50" charset="-127"/>
                <a:cs typeface="Arial" pitchFamily="34" charset="0"/>
              </a:rPr>
            </a:br>
            <a:r>
              <a:rPr lang="vi-VN" altLang="ko-KR" sz="1400" b="1" dirty="0">
                <a:latin typeface="Arial" pitchFamily="34" charset="0"/>
                <a:ea typeface="맑은 고딕" pitchFamily="50" charset="-127"/>
                <a:cs typeface="Arial" pitchFamily="34" charset="0"/>
              </a:rPr>
              <a:t>    - </a:t>
            </a:r>
            <a:r>
              <a:rPr lang="en-US" altLang="ko-KR" sz="1400" b="1" dirty="0" err="1">
                <a:latin typeface="Arial" pitchFamily="34" charset="0"/>
                <a:ea typeface="맑은 고딕" pitchFamily="50" charset="-127"/>
                <a:cs typeface="Arial" pitchFamily="34" charset="0"/>
              </a:rPr>
              <a:t>Trung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vị</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không bị ảnh hưởng mạnh bởi giá trị ngoại lai.</a:t>
            </a:r>
            <a:br>
              <a:rPr lang="vi-VN" altLang="ko-KR" sz="1400" b="1" dirty="0">
                <a:latin typeface="Arial" pitchFamily="34" charset="0"/>
                <a:ea typeface="맑은 고딕" pitchFamily="50" charset="-127"/>
                <a:cs typeface="Arial" pitchFamily="34" charset="0"/>
              </a:rPr>
            </a:br>
            <a:r>
              <a:rPr lang="vi-VN" altLang="ko-KR" sz="1400" b="1" dirty="0">
                <a:latin typeface="Arial" pitchFamily="34" charset="0"/>
                <a:ea typeface="맑은 고딕" pitchFamily="50" charset="-127"/>
                <a:cs typeface="Arial" pitchFamily="34" charset="0"/>
              </a:rPr>
              <a:t>    - Khi có N giá trị, trung </a:t>
            </a:r>
            <a:r>
              <a:rPr lang="en-US" altLang="ko-KR" sz="1400" b="1" dirty="0" err="1">
                <a:latin typeface="Arial" pitchFamily="34" charset="0"/>
                <a:ea typeface="맑은 고딕" pitchFamily="50" charset="-127"/>
                <a:cs typeface="Arial" pitchFamily="34" charset="0"/>
              </a:rPr>
              <a:t>vị</a:t>
            </a:r>
            <a:r>
              <a:rPr lang="vi-VN"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là</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giá</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trị</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thứ</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((N + 1) / 2) </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khi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được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sắp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xếp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theo</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thứ tự tăng dần.</a:t>
            </a:r>
            <a:endParaRPr lang="en-US" altLang="ko-KR" sz="1400" b="1" dirty="0">
              <a:latin typeface="Arial" pitchFamily="34" charset="0"/>
              <a:ea typeface="맑은 고딕" pitchFamily="50" charset="-127"/>
              <a:cs typeface="Arial" pitchFamily="34" charset="0"/>
            </a:endParaRPr>
          </a:p>
        </p:txBody>
      </p:sp>
      <p:sp>
        <p:nvSpPr>
          <p:cNvPr id="41987" name="AutoShape 4"/>
          <p:cNvSpPr>
            <a:spLocks noChangeArrowheads="1"/>
          </p:cNvSpPr>
          <p:nvPr/>
        </p:nvSpPr>
        <p:spPr bwMode="auto">
          <a:xfrm>
            <a:off x="1208583" y="2578894"/>
            <a:ext cx="7957641" cy="3240087"/>
          </a:xfrm>
          <a:prstGeom prst="roundRect">
            <a:avLst>
              <a:gd name="adj" fmla="val 4162"/>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Ví</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a:t>
            </a:r>
            <a:r>
              <a:rPr lang="en-US" altLang="ko-KR" sz="1400" b="1" dirty="0">
                <a:solidFill>
                  <a:schemeClr val="accent2"/>
                </a:solidFill>
                <a:latin typeface="Arial" pitchFamily="34" charset="0"/>
                <a:ea typeface="맑은 고딕" pitchFamily="50" charset="-127"/>
                <a:cs typeface="Arial" pitchFamily="34" charset="0"/>
              </a:rPr>
              <a:t>)</a:t>
            </a:r>
          </a:p>
          <a:p>
            <a:pPr eaLnBrk="1" hangingPunct="1">
              <a:lnSpc>
                <a:spcPct val="130000"/>
              </a:lnSpc>
            </a:pPr>
            <a:r>
              <a:rPr lang="en-US" altLang="ko-KR" sz="1400" b="1" dirty="0" err="1">
                <a:solidFill>
                  <a:schemeClr val="accent2"/>
                </a:solidFill>
                <a:latin typeface="Arial" pitchFamily="34" charset="0"/>
                <a:ea typeface="맑은 고딕" pitchFamily="50" charset="-127"/>
                <a:cs typeface="Arial" pitchFamily="34" charset="0"/>
              </a:rPr>
              <a:t>Trong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ví</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về</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cuộc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thi</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thể</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cụ</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nếu</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điểm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số</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được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sắp</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xếp</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theo</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thứ</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tự</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từ</a:t>
            </a:r>
            <a:r>
              <a:rPr lang="en-US" altLang="ko-KR" sz="1400" b="1" dirty="0">
                <a:solidFill>
                  <a:schemeClr val="accent2"/>
                </a:solidFill>
                <a:latin typeface="Arial" pitchFamily="34" charset="0"/>
                <a:ea typeface="맑은 고딕" pitchFamily="50" charset="-127"/>
                <a:cs typeface="Arial" pitchFamily="34" charset="0"/>
              </a:rPr>
              <a:t> </a:t>
            </a:r>
          </a:p>
          <a:p>
            <a:pPr eaLnBrk="1" hangingPunct="1">
              <a:lnSpc>
                <a:spcPct val="130000"/>
              </a:lnSpc>
            </a:pPr>
            <a:r>
              <a:rPr lang="en-US" altLang="ko-KR" sz="1400" b="1" dirty="0" err="1">
                <a:solidFill>
                  <a:schemeClr val="accent2"/>
                </a:solidFill>
                <a:latin typeface="Arial" pitchFamily="34" charset="0"/>
                <a:ea typeface="맑은 고딕" pitchFamily="50" charset="-127"/>
                <a:cs typeface="Arial" pitchFamily="34" charset="0"/>
              </a:rPr>
              <a:t>nhỏ</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đến</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lớn</a:t>
            </a:r>
            <a:endParaRPr lang="ko-KR" altLang="en-US"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endParaRPr lang="ko-KR" altLang="en-US"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ko-KR" altLang="en-US" sz="1400" b="1" dirty="0">
                <a:solidFill>
                  <a:schemeClr val="accent2"/>
                </a:solidFill>
                <a:latin typeface="Arial" pitchFamily="34" charset="0"/>
                <a:ea typeface="맑은 고딕" pitchFamily="50" charset="-127"/>
                <a:cs typeface="Arial" pitchFamily="34" charset="0"/>
              </a:rPr>
              <a:t>   </a:t>
            </a:r>
            <a:r>
              <a:rPr lang="en-US" altLang="ko-KR" sz="1400" b="1" dirty="0">
                <a:solidFill>
                  <a:schemeClr val="accent2"/>
                </a:solidFill>
                <a:latin typeface="Arial" pitchFamily="34" charset="0"/>
                <a:ea typeface="맑은 고딕" pitchFamily="50" charset="-127"/>
                <a:cs typeface="Arial" pitchFamily="34" charset="0"/>
              </a:rPr>
              <a:t>6.5 , 9.0 , 9.0 , 9.1 , 9.2 , 9.3 , 9.6 , 10.0</a:t>
            </a:r>
          </a:p>
          <a:p>
            <a:pPr eaLnBrk="1" hangingPunct="1">
              <a:lnSpc>
                <a:spcPct val="130000"/>
              </a:lnSpc>
            </a:pP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vi-VN" altLang="ko-KR" sz="1400" b="1" dirty="0">
                <a:solidFill>
                  <a:schemeClr val="accent2"/>
                </a:solidFill>
                <a:latin typeface="Arial" pitchFamily="34" charset="0"/>
                <a:ea typeface="맑은 고딕" pitchFamily="50" charset="-127"/>
                <a:cs typeface="Arial" pitchFamily="34" charset="0"/>
              </a:rPr>
              <a:t>Có một số chẵn các giá trị dữ liệu, vì vậy trung </a:t>
            </a:r>
            <a:r>
              <a:rPr lang="en-US" altLang="ko-KR" sz="1400" b="1" dirty="0" err="1">
                <a:solidFill>
                  <a:schemeClr val="accent2"/>
                </a:solidFill>
                <a:latin typeface="Arial" pitchFamily="34" charset="0"/>
                <a:ea typeface="맑은 고딕" pitchFamily="50" charset="-127"/>
                <a:cs typeface="Arial" pitchFamily="34" charset="0"/>
              </a:rPr>
              <a:t>vị</a:t>
            </a:r>
            <a:r>
              <a:rPr lang="vi-VN" altLang="ko-KR" sz="1400" b="1" dirty="0">
                <a:solidFill>
                  <a:schemeClr val="accent2"/>
                </a:solidFill>
                <a:latin typeface="Arial" pitchFamily="34" charset="0"/>
                <a:ea typeface="맑은 고딕" pitchFamily="50" charset="-127"/>
                <a:cs typeface="Arial" pitchFamily="34" charset="0"/>
              </a:rPr>
              <a:t> là giá trị trung bình </a:t>
            </a:r>
            <a:r>
              <a:rPr lang="en-US" altLang="ko-KR" sz="1400" b="1" dirty="0" err="1">
                <a:solidFill>
                  <a:schemeClr val="accent2"/>
                </a:solidFill>
                <a:latin typeface="Arial" pitchFamily="34" charset="0"/>
                <a:ea typeface="맑은 고딕" pitchFamily="50" charset="-127"/>
                <a:cs typeface="Arial" pitchFamily="34" charset="0"/>
              </a:rPr>
              <a:t>của</a:t>
            </a:r>
            <a:r>
              <a:rPr lang="vi-VN" altLang="ko-KR" sz="1400" b="1" dirty="0">
                <a:solidFill>
                  <a:schemeClr val="accent2"/>
                </a:solidFill>
                <a:latin typeface="Arial" pitchFamily="34" charset="0"/>
                <a:ea typeface="맑은 고딕" pitchFamily="50" charset="-127"/>
                <a:cs typeface="Arial" pitchFamily="34" charset="0"/>
              </a:rPr>
              <a:t> 9,1 và 9,2</a:t>
            </a: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vi-VN" altLang="ko-KR" sz="1400" b="1" dirty="0">
                <a:solidFill>
                  <a:schemeClr val="accent2"/>
                </a:solidFill>
                <a:latin typeface="Arial" pitchFamily="34" charset="0"/>
                <a:ea typeface="맑은 고딕" pitchFamily="50" charset="-127"/>
                <a:cs typeface="Arial" pitchFamily="34" charset="0"/>
              </a:rPr>
              <a:t>Giá trị trung bình là 8,96 do ảnh hưởng của 6,5</a:t>
            </a: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vi-VN" altLang="ko-KR" sz="1400" b="1" dirty="0">
                <a:solidFill>
                  <a:schemeClr val="accent2"/>
                </a:solidFill>
                <a:latin typeface="Arial" pitchFamily="34" charset="0"/>
                <a:ea typeface="맑은 고딕" pitchFamily="50" charset="-127"/>
                <a:cs typeface="Arial" pitchFamily="34" charset="0"/>
              </a:rPr>
              <a:t>Nói cách khác, giá trị trung bình bị ảnh hưởng mạnh bởi giá trị ngoại lai nhưng</a:t>
            </a: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vi-VN" altLang="ko-KR" sz="1400" b="1" dirty="0">
                <a:solidFill>
                  <a:schemeClr val="accent2"/>
                </a:solidFill>
                <a:latin typeface="Arial" pitchFamily="34" charset="0"/>
                <a:ea typeface="맑은 고딕" pitchFamily="50" charset="-127"/>
                <a:cs typeface="Arial" pitchFamily="34" charset="0"/>
              </a:rPr>
              <a:t> đối với các trung </a:t>
            </a:r>
            <a:r>
              <a:rPr lang="en-US" altLang="ko-KR" sz="1400" b="1" dirty="0" err="1">
                <a:solidFill>
                  <a:schemeClr val="accent2"/>
                </a:solidFill>
                <a:latin typeface="Arial" pitchFamily="34" charset="0"/>
                <a:ea typeface="맑은 고딕" pitchFamily="50" charset="-127"/>
                <a:cs typeface="Arial" pitchFamily="34" charset="0"/>
              </a:rPr>
              <a:t>vị</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ảnh</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hưởng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là</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nhỏ</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nhất</a:t>
            </a:r>
            <a:r>
              <a:rPr lang="vi-VN" sz="1400" dirty="0">
                <a:latin typeface="Arial" pitchFamily="34" charset="0"/>
                <a:cs typeface="Arial" pitchFamily="34" charset="0"/>
              </a:rPr>
              <a:t>.</a:t>
            </a:r>
            <a:endParaRPr lang="en-US" altLang="ko-KR" sz="1400" b="1" dirty="0">
              <a:solidFill>
                <a:schemeClr val="accent2"/>
              </a:solidFill>
              <a:latin typeface="Arial" pitchFamily="34" charset="0"/>
              <a:ea typeface="맑은 고딕" pitchFamily="50" charset="-127"/>
              <a:cs typeface="Arial" pitchFamily="34" charset="0"/>
            </a:endParaRPr>
          </a:p>
        </p:txBody>
      </p:sp>
      <p:sp>
        <p:nvSpPr>
          <p:cNvPr id="41988" name="Oval 8"/>
          <p:cNvSpPr>
            <a:spLocks noChangeArrowheads="1"/>
          </p:cNvSpPr>
          <p:nvPr/>
        </p:nvSpPr>
        <p:spPr bwMode="auto">
          <a:xfrm>
            <a:off x="2576736" y="3695700"/>
            <a:ext cx="792088" cy="503238"/>
          </a:xfrm>
          <a:prstGeom prst="ellipse">
            <a:avLst/>
          </a:prstGeom>
          <a:noFill/>
          <a:ln w="9525">
            <a:solidFill>
              <a:srgbClr val="FF33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45</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3"/>
          <p:cNvSpPr>
            <a:spLocks noChangeArrowheads="1"/>
          </p:cNvSpPr>
          <p:nvPr/>
        </p:nvSpPr>
        <p:spPr bwMode="auto">
          <a:xfrm>
            <a:off x="920750" y="1412875"/>
            <a:ext cx="6769482" cy="121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400" b="1" dirty="0">
                <a:latin typeface="Arial" pitchFamily="34" charset="0"/>
                <a:ea typeface="맑은 고딕" pitchFamily="50" charset="-127"/>
                <a:cs typeface="Arial" pitchFamily="34" charset="0"/>
              </a:rPr>
              <a:t>4) Mode</a:t>
            </a: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Là</a:t>
            </a:r>
            <a:r>
              <a:rPr lang="en-US" altLang="ko-KR" sz="1400" b="1" dirty="0">
                <a:latin typeface="Arial" pitchFamily="34" charset="0"/>
                <a:ea typeface="맑은 고딕" pitchFamily="50" charset="-127"/>
                <a:cs typeface="Arial" pitchFamily="34" charset="0"/>
              </a:rPr>
              <a:t> g</a:t>
            </a:r>
            <a:r>
              <a:rPr lang="vi-VN" altLang="ko-KR" sz="1400" b="1" dirty="0">
                <a:latin typeface="Arial" pitchFamily="34" charset="0"/>
                <a:ea typeface="맑은 고딕" pitchFamily="50" charset="-127"/>
                <a:cs typeface="Arial" pitchFamily="34" charset="0"/>
              </a:rPr>
              <a:t>iá trị dữ liệu với tần </a:t>
            </a:r>
            <a:r>
              <a:rPr lang="en-US" altLang="ko-KR" sz="1400" b="1" dirty="0" err="1">
                <a:latin typeface="Arial" pitchFamily="34" charset="0"/>
                <a:ea typeface="맑은 고딕" pitchFamily="50" charset="-127"/>
                <a:cs typeface="Arial" pitchFamily="34" charset="0"/>
              </a:rPr>
              <a:t>suất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xuất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hiện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cao</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trong một bộ dữ liệu đo được.</a:t>
            </a:r>
            <a:br>
              <a:rPr lang="vi-VN" altLang="ko-KR" sz="1400" b="1" dirty="0">
                <a:latin typeface="Arial" pitchFamily="34" charset="0"/>
                <a:ea typeface="맑은 고딕" pitchFamily="50" charset="-127"/>
                <a:cs typeface="Arial" pitchFamily="34" charset="0"/>
              </a:rPr>
            </a:br>
            <a:r>
              <a:rPr lang="vi-VN" altLang="ko-KR" sz="1400" b="1" dirty="0">
                <a:latin typeface="Arial" pitchFamily="34" charset="0"/>
                <a:ea typeface="맑은 고딕" pitchFamily="50" charset="-127"/>
                <a:cs typeface="Arial" pitchFamily="34" charset="0"/>
              </a:rPr>
              <a:t>    - </a:t>
            </a:r>
            <a:r>
              <a:rPr lang="en-US" altLang="ko-KR" sz="1400" b="1" dirty="0">
                <a:latin typeface="Arial" pitchFamily="34" charset="0"/>
                <a:ea typeface="맑은 고딕" pitchFamily="50" charset="-127"/>
                <a:cs typeface="Arial" pitchFamily="34" charset="0"/>
              </a:rPr>
              <a:t>Mode </a:t>
            </a:r>
            <a:r>
              <a:rPr lang="vi-VN" altLang="ko-KR" sz="1400" b="1" dirty="0">
                <a:latin typeface="Arial" pitchFamily="34" charset="0"/>
                <a:ea typeface="맑은 고딕" pitchFamily="50" charset="-127"/>
                <a:cs typeface="Arial" pitchFamily="34" charset="0"/>
              </a:rPr>
              <a:t>có thể hoặc không thể tồn tại</a:t>
            </a:r>
            <a:r>
              <a:rPr lang="en-US" altLang="ko-KR" sz="1400" b="1" dirty="0">
                <a:latin typeface="Arial" pitchFamily="34" charset="0"/>
                <a:ea typeface="맑은 고딕" pitchFamily="50" charset="-127"/>
                <a:cs typeface="Arial" pitchFamily="34" charset="0"/>
              </a:rPr>
              <a:t>,</a:t>
            </a:r>
            <a:r>
              <a:rPr lang="vi-VN" altLang="ko-KR" sz="1400" b="1" dirty="0">
                <a:latin typeface="Arial" pitchFamily="34" charset="0"/>
                <a:ea typeface="맑은 고딕" pitchFamily="50" charset="-127"/>
                <a:cs typeface="Arial" pitchFamily="34" charset="0"/>
              </a:rPr>
              <a:t> hoặc có một vài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giá</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trị</a:t>
            </a:r>
            <a:r>
              <a:rPr lang="vi-VN" altLang="ko-KR" sz="1400" b="1" dirty="0">
                <a:latin typeface="Arial" pitchFamily="34" charset="0"/>
                <a:ea typeface="맑은 고딕" pitchFamily="50" charset="-127"/>
                <a:cs typeface="Arial" pitchFamily="34" charset="0"/>
              </a:rPr>
              <a:t>.</a:t>
            </a:r>
            <a:br>
              <a:rPr lang="vi-VN" altLang="ko-KR" sz="1400" b="1" dirty="0">
                <a:latin typeface="Arial" pitchFamily="34" charset="0"/>
                <a:ea typeface="맑은 고딕" pitchFamily="50" charset="-127"/>
                <a:cs typeface="Arial" pitchFamily="34" charset="0"/>
              </a:rPr>
            </a:br>
            <a:r>
              <a:rPr lang="vi-VN" altLang="ko-KR" sz="1400" b="1" dirty="0">
                <a:latin typeface="Arial" pitchFamily="34" charset="0"/>
                <a:ea typeface="맑은 고딕" pitchFamily="50" charset="-127"/>
                <a:cs typeface="Arial" pitchFamily="34" charset="0"/>
              </a:rPr>
              <a:t>    - </a:t>
            </a:r>
            <a:r>
              <a:rPr lang="en-US" altLang="ko-KR" sz="1400" b="1" dirty="0">
                <a:latin typeface="Arial" pitchFamily="34" charset="0"/>
                <a:ea typeface="맑은 고딕" pitchFamily="50" charset="-127"/>
                <a:cs typeface="Arial" pitchFamily="34" charset="0"/>
              </a:rPr>
              <a:t>Mode</a:t>
            </a:r>
            <a:r>
              <a:rPr lang="vi-VN" altLang="ko-KR" sz="1400" b="1" dirty="0">
                <a:latin typeface="Arial" pitchFamily="34" charset="0"/>
                <a:ea typeface="맑은 고딕" pitchFamily="50" charset="-127"/>
                <a:cs typeface="Arial" pitchFamily="34" charset="0"/>
              </a:rPr>
              <a:t> được sử dụng </a:t>
            </a:r>
            <a:r>
              <a:rPr lang="en-US" altLang="ko-KR" sz="1400" b="1" dirty="0" err="1">
                <a:latin typeface="Arial" pitchFamily="34" charset="0"/>
                <a:ea typeface="맑은 고딕" pitchFamily="50" charset="-127"/>
                <a:cs typeface="Arial" pitchFamily="34" charset="0"/>
              </a:rPr>
              <a:t>để</a:t>
            </a: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bổ sung cho giá trị trung bình hoặc trung </a:t>
            </a:r>
            <a:r>
              <a:rPr lang="en-US" altLang="ko-KR" sz="1400" b="1" dirty="0" err="1">
                <a:latin typeface="Arial" pitchFamily="34" charset="0"/>
                <a:ea typeface="맑은 고딕" pitchFamily="50" charset="-127"/>
                <a:cs typeface="Arial" pitchFamily="34" charset="0"/>
              </a:rPr>
              <a:t>vị</a:t>
            </a:r>
            <a:endParaRPr lang="en-US" altLang="ko-KR" sz="1400" b="1" dirty="0">
              <a:latin typeface="Arial" pitchFamily="34" charset="0"/>
              <a:ea typeface="맑은 고딕" pitchFamily="50" charset="-127"/>
              <a:cs typeface="Arial" pitchFamily="34" charset="0"/>
            </a:endParaRPr>
          </a:p>
        </p:txBody>
      </p:sp>
      <p:sp>
        <p:nvSpPr>
          <p:cNvPr id="43011" name="AutoShape 4"/>
          <p:cNvSpPr>
            <a:spLocks noChangeArrowheads="1"/>
          </p:cNvSpPr>
          <p:nvPr/>
        </p:nvSpPr>
        <p:spPr bwMode="auto">
          <a:xfrm>
            <a:off x="1209675" y="2924175"/>
            <a:ext cx="7703765" cy="2377033"/>
          </a:xfrm>
          <a:prstGeom prst="roundRect">
            <a:avLst>
              <a:gd name="adj" fmla="val 4162"/>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Ví</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a:t>
            </a:r>
            <a:r>
              <a:rPr lang="ko-KR" altLang="en-US" sz="1400" b="1" dirty="0">
                <a:solidFill>
                  <a:schemeClr val="accent2"/>
                </a:solidFill>
                <a:latin typeface="Arial" pitchFamily="34" charset="0"/>
                <a:ea typeface="맑은 고딕" pitchFamily="50" charset="-127"/>
                <a:cs typeface="Arial" pitchFamily="34" charset="0"/>
              </a:rPr>
              <a:t> </a:t>
            </a:r>
            <a:r>
              <a:rPr lang="en-US" altLang="ko-KR" sz="1400" b="1" dirty="0">
                <a:solidFill>
                  <a:schemeClr val="accent2"/>
                </a:solidFill>
                <a:latin typeface="Arial" pitchFamily="34" charset="0"/>
                <a:ea typeface="맑은 고딕" pitchFamily="50" charset="-127"/>
                <a:cs typeface="Arial" pitchFamily="34" charset="0"/>
              </a:rPr>
              <a:t>)</a:t>
            </a: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Trong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ví</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về</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cuộc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thi</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thể</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dụng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cụ</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nếu</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điểm</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số</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được</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sắp</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xếp</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theo</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thứ</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tự</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từ</a:t>
            </a:r>
            <a:r>
              <a:rPr lang="en-US" altLang="ko-KR" sz="1400" b="1" dirty="0">
                <a:solidFill>
                  <a:schemeClr val="accent2"/>
                </a:solidFill>
                <a:latin typeface="Arial" pitchFamily="34" charset="0"/>
                <a:ea typeface="맑은 고딕" pitchFamily="50" charset="-127"/>
                <a:cs typeface="Arial" pitchFamily="34" charset="0"/>
              </a:rPr>
              <a:t> </a:t>
            </a:r>
          </a:p>
          <a:p>
            <a:pPr eaLnBrk="1" hangingPunct="1">
              <a:lnSpc>
                <a:spcPct val="130000"/>
              </a:lnSpc>
            </a:pPr>
            <a:r>
              <a:rPr lang="en-US" altLang="ko-KR" sz="1400" b="1" dirty="0" err="1">
                <a:solidFill>
                  <a:schemeClr val="accent2"/>
                </a:solidFill>
                <a:latin typeface="Arial" pitchFamily="34" charset="0"/>
                <a:ea typeface="맑은 고딕" pitchFamily="50" charset="-127"/>
                <a:cs typeface="Arial" pitchFamily="34" charset="0"/>
              </a:rPr>
              <a:t>nhỏ</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đến</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lớn</a:t>
            </a:r>
            <a:endParaRPr lang="ko-KR" altLang="en-US"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endParaRPr lang="ko-KR" altLang="en-US"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ko-KR" altLang="en-US" sz="1400" b="1" dirty="0">
                <a:solidFill>
                  <a:schemeClr val="accent2"/>
                </a:solidFill>
                <a:latin typeface="Arial" pitchFamily="34" charset="0"/>
                <a:ea typeface="맑은 고딕" pitchFamily="50" charset="-127"/>
                <a:cs typeface="Arial" pitchFamily="34" charset="0"/>
              </a:rPr>
              <a:t>   </a:t>
            </a:r>
            <a:r>
              <a:rPr lang="en-US" altLang="ko-KR" sz="1400" b="1" dirty="0">
                <a:solidFill>
                  <a:schemeClr val="accent2"/>
                </a:solidFill>
                <a:latin typeface="Arial" pitchFamily="34" charset="0"/>
                <a:ea typeface="맑은 고딕" pitchFamily="50" charset="-127"/>
                <a:cs typeface="Arial" pitchFamily="34" charset="0"/>
              </a:rPr>
              <a:t>6.5 , 9.0 , 9.0 , 9.1 , 9.2 , 9.3 , 9.6 , 10.0</a:t>
            </a:r>
          </a:p>
          <a:p>
            <a:pPr eaLnBrk="1" hangingPunct="1">
              <a:lnSpc>
                <a:spcPct val="130000"/>
              </a:lnSpc>
            </a:pPr>
            <a:endParaRPr lang="en-US" altLang="ko-KR" sz="1400" b="1" dirty="0">
              <a:solidFill>
                <a:schemeClr val="accent2"/>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chemeClr val="accent2"/>
                </a:solidFill>
                <a:latin typeface="Arial" pitchFamily="34" charset="0"/>
                <a:ea typeface="맑은 고딕" pitchFamily="50" charset="-127"/>
                <a:cs typeface="Arial" pitchFamily="34" charset="0"/>
              </a:rPr>
              <a:t>  9.0 </a:t>
            </a:r>
            <a:r>
              <a:rPr lang="en-US" altLang="ko-KR" sz="1400" b="1" dirty="0" err="1">
                <a:solidFill>
                  <a:schemeClr val="accent2"/>
                </a:solidFill>
                <a:latin typeface="Arial" pitchFamily="34" charset="0"/>
                <a:ea typeface="맑은 고딕" pitchFamily="50" charset="-127"/>
                <a:cs typeface="Arial" pitchFamily="34" charset="0"/>
              </a:rPr>
              <a:t>là</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giá</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trị</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xuất</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hiện</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nhiều</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nhất</a:t>
            </a:r>
            <a:r>
              <a:rPr lang="en-US" altLang="ko-KR" sz="1400" b="1" dirty="0">
                <a:solidFill>
                  <a:schemeClr val="accent2"/>
                </a:solidFill>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46</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
        <p:nvSpPr>
          <p:cNvPr id="8" name="Oval 8"/>
          <p:cNvSpPr>
            <a:spLocks noChangeArrowheads="1"/>
          </p:cNvSpPr>
          <p:nvPr/>
        </p:nvSpPr>
        <p:spPr bwMode="auto">
          <a:xfrm>
            <a:off x="1784648" y="4005064"/>
            <a:ext cx="792088" cy="503238"/>
          </a:xfrm>
          <a:prstGeom prst="ellipse">
            <a:avLst/>
          </a:prstGeom>
          <a:noFill/>
          <a:ln w="9525">
            <a:solidFill>
              <a:srgbClr val="FF33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3"/>
          <p:cNvSpPr>
            <a:spLocks noChangeArrowheads="1"/>
          </p:cNvSpPr>
          <p:nvPr/>
        </p:nvSpPr>
        <p:spPr bwMode="auto">
          <a:xfrm>
            <a:off x="3944888" y="1253070"/>
            <a:ext cx="328455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để</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thể</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hiện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dữ</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liệu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như</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một</a:t>
            </a:r>
            <a:r>
              <a:rPr kumimoji="0" lang="en-US" altLang="ko-KR" sz="1400" b="1" dirty="0">
                <a:latin typeface="Arial" pitchFamily="34" charset="0"/>
                <a:ea typeface="맑은 고딕" pitchFamily="50" charset="-127"/>
                <a:cs typeface="Arial" pitchFamily="34" charset="0"/>
              </a:rPr>
              <a:t> con </a:t>
            </a:r>
            <a:r>
              <a:rPr kumimoji="0" lang="en-US" altLang="ko-KR" sz="1400" b="1" dirty="0" err="1">
                <a:latin typeface="Arial" pitchFamily="34" charset="0"/>
                <a:ea typeface="맑은 고딕" pitchFamily="50" charset="-127"/>
                <a:cs typeface="Arial" pitchFamily="34" charset="0"/>
              </a:rPr>
              <a:t>số</a:t>
            </a:r>
            <a:endParaRPr kumimoji="0" lang="ko-KR" altLang="en-US" sz="1400" b="1" dirty="0">
              <a:latin typeface="Arial" pitchFamily="34" charset="0"/>
              <a:ea typeface="맑은 고딕" pitchFamily="50" charset="-127"/>
              <a:cs typeface="Arial" pitchFamily="34" charset="0"/>
            </a:endParaRPr>
          </a:p>
        </p:txBody>
      </p:sp>
      <p:graphicFrame>
        <p:nvGraphicFramePr>
          <p:cNvPr id="3" name="Group 38"/>
          <p:cNvGraphicFramePr>
            <a:graphicFrameLocks noGrp="1"/>
          </p:cNvGraphicFramePr>
          <p:nvPr>
            <p:extLst>
              <p:ext uri="{D42A27DB-BD31-4B8C-83A1-F6EECF244321}">
                <p14:modId xmlns:p14="http://schemas.microsoft.com/office/powerpoint/2010/main" val="3794152969"/>
              </p:ext>
            </p:extLst>
          </p:nvPr>
        </p:nvGraphicFramePr>
        <p:xfrm>
          <a:off x="1388629" y="2132013"/>
          <a:ext cx="7128743" cy="3438435"/>
        </p:xfrm>
        <a:graphic>
          <a:graphicData uri="http://schemas.openxmlformats.org/drawingml/2006/table">
            <a:tbl>
              <a:tblPr/>
              <a:tblGrid>
                <a:gridCol w="3168352">
                  <a:extLst>
                    <a:ext uri="{9D8B030D-6E8A-4147-A177-3AD203B41FA5}">
                      <a16:colId xmlns:a16="http://schemas.microsoft.com/office/drawing/2014/main" val="20000"/>
                    </a:ext>
                  </a:extLst>
                </a:gridCol>
                <a:gridCol w="3960391">
                  <a:extLst>
                    <a:ext uri="{9D8B030D-6E8A-4147-A177-3AD203B41FA5}">
                      <a16:colId xmlns:a16="http://schemas.microsoft.com/office/drawing/2014/main" val="20001"/>
                    </a:ext>
                  </a:extLst>
                </a:gridCol>
              </a:tblGrid>
              <a:tr h="30495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Mục</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đích</a:t>
                      </a:r>
                      <a:endParaRPr kumimoji="1" lang="ko-KR" altLang="en-US"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ECFF"/>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thống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kê</a:t>
                      </a:r>
                      <a:endParaRPr kumimoji="1" lang="ko-KR" altLang="en-US"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ECFF"/>
                    </a:solidFill>
                  </a:tcPr>
                </a:tc>
                <a:extLst>
                  <a:ext uri="{0D108BD9-81ED-4DB2-BD59-A6C34878D82A}">
                    <a16:rowId xmlns:a16="http://schemas.microsoft.com/office/drawing/2014/main" val="10000"/>
                  </a:ext>
                </a:extLst>
              </a:tr>
              <a:tr h="851326">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Để mô tả trung tâm dữ liệu.</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(Vị trí của trung tâm phân phối).</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Trung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bình</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(Mean)</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Trimmed mean</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defRPr/>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Trung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vị</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(Median)</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defRPr/>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Mode</a:t>
                      </a: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073433">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Để mô tả mức độ dữ liệu lan truyền.</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(Bằng số liệu lan truyền)</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lệch</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chuẩn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(Standard Deviation)</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Phương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sai</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(Variance)</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Khoảng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(Range)</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vị</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(Percentile)</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Hệ</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biến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thiên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(Coefficient of Variation)</a:t>
                      </a: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61113">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ể</a:t>
                      </a: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mô tả hình dạng của dữ liệu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khi</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lan truyền</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(Hình dạng của dữ liệu lan truyền)</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lệch</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Skewness</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nhọn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(Kurtosis)</a:t>
                      </a: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38932" name="Text Box 3"/>
          <p:cNvSpPr txBox="1">
            <a:spLocks noChangeArrowheads="1"/>
          </p:cNvSpPr>
          <p:nvPr/>
        </p:nvSpPr>
        <p:spPr bwMode="auto">
          <a:xfrm>
            <a:off x="776288" y="1196975"/>
            <a:ext cx="33908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Blip>
                <a:blip r:embed="rId3"/>
              </a:buBlip>
            </a:pP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loại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thống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kê</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kỹ</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thuật</a:t>
            </a:r>
            <a:endParaRPr lang="en-US" altLang="ko-KR" b="1" dirty="0">
              <a:latin typeface="Arial" pitchFamily="34" charset="0"/>
              <a:ea typeface="맑은 고딕" pitchFamily="50" charset="-127"/>
              <a:cs typeface="Arial" pitchFamily="34" charset="0"/>
            </a:endParaRPr>
          </a:p>
        </p:txBody>
      </p:sp>
      <p:sp>
        <p:nvSpPr>
          <p:cNvPr id="38933"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47</a:t>
            </a:fld>
            <a:endParaRPr lang="ko-KR" altLang="en-US" dirty="0">
              <a:latin typeface="Arial" pitchFamily="34" charset="0"/>
              <a:cs typeface="Arial" pitchFamily="34" charset="0"/>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4"/>
          <p:cNvSpPr>
            <a:spLocks noChangeArrowheads="1"/>
          </p:cNvSpPr>
          <p:nvPr/>
        </p:nvSpPr>
        <p:spPr bwMode="auto">
          <a:xfrm>
            <a:off x="586150" y="1480159"/>
            <a:ext cx="9319850" cy="4574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400" b="1" dirty="0">
                <a:latin typeface="Arial" pitchFamily="34" charset="0"/>
                <a:ea typeface="맑은 고딕" pitchFamily="50" charset="-127"/>
                <a:cs typeface="Arial" pitchFamily="34" charset="0"/>
              </a:rPr>
              <a:t>1) </a:t>
            </a:r>
            <a:r>
              <a:rPr lang="en-US" altLang="ko-KR" sz="1400" b="1" dirty="0" err="1">
                <a:latin typeface="Arial" pitchFamily="34" charset="0"/>
                <a:ea typeface="맑은 고딕" pitchFamily="50" charset="-127"/>
                <a:cs typeface="Arial" pitchFamily="34" charset="0"/>
              </a:rPr>
              <a:t>Phương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sai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và</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độ</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lệch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chuẩn</a:t>
            </a:r>
            <a:endParaRPr lang="en-US" altLang="ko-KR" sz="1400" b="1" dirty="0">
              <a:latin typeface="Arial" pitchFamily="34" charset="0"/>
              <a:ea typeface="맑은 고딕" pitchFamily="50" charset="-127"/>
              <a:cs typeface="Arial" pitchFamily="34" charset="0"/>
            </a:endParaRPr>
          </a:p>
          <a:p>
            <a:pPr eaLnBrk="1" hangingPunct="1">
              <a:lnSpc>
                <a:spcPct val="130000"/>
              </a:lnSpc>
            </a:pPr>
            <a:endParaRPr lang="en-US" altLang="ko-KR" sz="1400" b="1" dirty="0">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Phương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sai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lệch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chuẩn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dùng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để</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mô</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khoảng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cách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giữa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các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giá</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trị</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dữ</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liệu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giá</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trị</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trung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bình</a:t>
            </a: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và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mô</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tán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của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dữ</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liệu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như</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thế</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nào</a:t>
            </a: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Bình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phương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được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sử</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dụng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Nếu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bình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phương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từ</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đến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là</a:t>
            </a: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solidFill>
                  <a:srgbClr val="000000"/>
                </a:solidFill>
                <a:latin typeface="Arial" pitchFamily="34" charset="0"/>
                <a:ea typeface="맑은 고딕" pitchFamily="50" charset="-127"/>
                <a:cs typeface="Arial" pitchFamily="34" charset="0"/>
              </a:rPr>
              <a:t>Phương sai được định nghĩa là giá trị trung bình của </a:t>
            </a:r>
            <a:r>
              <a:rPr lang="en-US" altLang="ko-KR" sz="1400" b="1" dirty="0" err="1">
                <a:solidFill>
                  <a:srgbClr val="000000"/>
                </a:solidFill>
                <a:latin typeface="Arial" pitchFamily="34" charset="0"/>
                <a:ea typeface="맑은 고딕" pitchFamily="50" charset="-127"/>
                <a:cs typeface="Arial" pitchFamily="34" charset="0"/>
              </a:rPr>
              <a:t>bình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phương</a:t>
            </a: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solidFill>
                  <a:srgbClr val="000000"/>
                </a:solidFill>
                <a:latin typeface="Arial" pitchFamily="34" charset="0"/>
                <a:ea typeface="맑은 고딕" pitchFamily="50" charset="-127"/>
                <a:cs typeface="Arial" pitchFamily="34" charset="0"/>
              </a:rPr>
              <a:t>(vì lý do kỹ thuật, </a:t>
            </a:r>
            <a:r>
              <a:rPr lang="en-US" altLang="ko-KR" sz="1400" b="1" dirty="0">
                <a:solidFill>
                  <a:srgbClr val="000000"/>
                </a:solidFill>
                <a:latin typeface="Arial" pitchFamily="34" charset="0"/>
                <a:ea typeface="맑은 고딕" pitchFamily="50" charset="-127"/>
                <a:cs typeface="Arial" pitchFamily="34" charset="0"/>
              </a:rPr>
              <a:t>(</a:t>
            </a:r>
            <a:r>
              <a:rPr lang="vi-VN" altLang="ko-KR" sz="1400" b="1" dirty="0">
                <a:solidFill>
                  <a:srgbClr val="000000"/>
                </a:solidFill>
                <a:latin typeface="Arial" pitchFamily="34" charset="0"/>
                <a:ea typeface="맑은 고딕" pitchFamily="50" charset="-127"/>
                <a:cs typeface="Arial" pitchFamily="34" charset="0"/>
              </a:rPr>
              <a:t>n-1</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chứ</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không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phải</a:t>
            </a:r>
            <a:r>
              <a:rPr lang="vi-VN" altLang="ko-KR"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a:t>
            </a:r>
            <a:r>
              <a:rPr lang="vi-VN" altLang="ko-KR" sz="1400" b="1" dirty="0">
                <a:solidFill>
                  <a:srgbClr val="000000"/>
                </a:solidFill>
                <a:latin typeface="Arial" pitchFamily="34" charset="0"/>
                <a:ea typeface="맑은 고딕" pitchFamily="50" charset="-127"/>
                <a:cs typeface="Arial" pitchFamily="34" charset="0"/>
              </a:rPr>
              <a:t>n</a:t>
            </a: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solidFill>
                  <a:srgbClr val="000000"/>
                </a:solidFill>
                <a:latin typeface="Arial" pitchFamily="34" charset="0"/>
                <a:ea typeface="맑은 고딕" pitchFamily="50" charset="-127"/>
                <a:cs typeface="Arial" pitchFamily="34" charset="0"/>
              </a:rPr>
              <a:t>được sử dụng trong các mẫu số</a:t>
            </a:r>
            <a:r>
              <a:rPr lang="en-US" altLang="ko-KR" sz="1400" b="1" dirty="0">
                <a:solidFill>
                  <a:srgbClr val="000000"/>
                </a:solidFill>
                <a:latin typeface="Arial" pitchFamily="34" charset="0"/>
                <a:ea typeface="맑은 고딕" pitchFamily="50" charset="-127"/>
                <a:cs typeface="Arial" pitchFamily="34" charset="0"/>
              </a:rPr>
              <a:t>).</a:t>
            </a:r>
          </a:p>
          <a:p>
            <a:pPr eaLnBrk="1" hangingPunct="1">
              <a:lnSpc>
                <a:spcPct val="130000"/>
              </a:lnSpc>
            </a:pPr>
            <a:endParaRPr lang="en-US" altLang="ko-KR" sz="1400" b="1" dirty="0">
              <a:latin typeface="Arial" pitchFamily="34" charset="0"/>
              <a:ea typeface="맑은 고딕" pitchFamily="50" charset="-127"/>
              <a:cs typeface="Arial" pitchFamily="34" charset="0"/>
            </a:endParaRPr>
          </a:p>
          <a:p>
            <a:pPr eaLnBrk="1" hangingPunct="1">
              <a:lnSpc>
                <a:spcPct val="130000"/>
              </a:lnSpc>
            </a:pPr>
            <a:endParaRPr lang="en-US" altLang="ko-KR" sz="1400" b="1" dirty="0">
              <a:latin typeface="Arial" pitchFamily="34" charset="0"/>
              <a:ea typeface="맑은 고딕" pitchFamily="50" charset="-127"/>
              <a:cs typeface="Arial" pitchFamily="34" charset="0"/>
            </a:endParaRPr>
          </a:p>
          <a:p>
            <a:pPr eaLnBrk="1" hangingPunct="1">
              <a:lnSpc>
                <a:spcPct val="130000"/>
              </a:lnSpc>
            </a:pPr>
            <a:endParaRPr lang="en-US" altLang="ko-KR" sz="1400" b="1" dirty="0">
              <a:latin typeface="Arial" pitchFamily="34" charset="0"/>
              <a:ea typeface="맑은 고딕" pitchFamily="50" charset="-127"/>
              <a:cs typeface="Arial" pitchFamily="34" charset="0"/>
            </a:endParaRPr>
          </a:p>
          <a:p>
            <a:pPr eaLnBrk="1" hangingPunct="1">
              <a:lnSpc>
                <a:spcPct val="130000"/>
              </a:lnSpc>
            </a:pPr>
            <a:endParaRPr lang="en-US" altLang="ko-KR" sz="1400" b="1" dirty="0">
              <a:latin typeface="Arial" pitchFamily="34" charset="0"/>
              <a:ea typeface="맑은 고딕" pitchFamily="50" charset="-127"/>
              <a:cs typeface="Arial" pitchFamily="34" charset="0"/>
            </a:endParaRPr>
          </a:p>
          <a:p>
            <a:pPr eaLnBrk="1" hangingPunct="1">
              <a:lnSpc>
                <a:spcPct val="130000"/>
              </a:lnSpc>
            </a:pPr>
            <a:endParaRPr lang="en-US" altLang="ko-KR" sz="1400" b="1" dirty="0">
              <a:latin typeface="Arial" pitchFamily="34" charset="0"/>
              <a:ea typeface="맑은 고딕" pitchFamily="50" charset="-127"/>
              <a:cs typeface="Arial" pitchFamily="34" charset="0"/>
            </a:endParaRPr>
          </a:p>
          <a:p>
            <a:pPr eaLnBrk="1" hangingPunct="1">
              <a:lnSpc>
                <a:spcPct val="130000"/>
              </a:lnSpc>
            </a:pPr>
            <a:endParaRPr lang="en-US" altLang="ko-KR" sz="1400" b="1" dirty="0">
              <a:latin typeface="Arial" pitchFamily="34" charset="0"/>
              <a:ea typeface="맑은 고딕" pitchFamily="50" charset="-127"/>
              <a:cs typeface="Arial" pitchFamily="34" charset="0"/>
            </a:endParaRPr>
          </a:p>
          <a:p>
            <a:pPr eaLnBrk="1" hangingPunct="1">
              <a:lnSpc>
                <a:spcPct val="130000"/>
              </a:lnSpc>
            </a:pPr>
            <a:endParaRPr lang="en-US" altLang="ko-KR" sz="1400" b="1" dirty="0">
              <a:latin typeface="Arial" pitchFamily="34" charset="0"/>
              <a:ea typeface="맑은 고딕" pitchFamily="50" charset="-127"/>
              <a:cs typeface="Arial" pitchFamily="34" charset="0"/>
            </a:endParaRPr>
          </a:p>
          <a:p>
            <a:pPr eaLnBrk="1" hangingPunct="1">
              <a:lnSpc>
                <a:spcPct val="130000"/>
              </a:lnSpc>
            </a:pPr>
            <a:r>
              <a:rPr lang="en-US" altLang="ko-KR" sz="1400" b="1" dirty="0">
                <a:latin typeface="Arial" pitchFamily="34" charset="0"/>
                <a:ea typeface="맑은 고딕" pitchFamily="50" charset="-127"/>
                <a:cs typeface="Arial" pitchFamily="34" charset="0"/>
              </a:rPr>
              <a:t>   - </a:t>
            </a:r>
            <a:r>
              <a:rPr lang="vi-VN" altLang="ko-KR" sz="1400" b="1" dirty="0">
                <a:latin typeface="Arial" pitchFamily="34" charset="0"/>
                <a:ea typeface="맑은 고딕" pitchFamily="50" charset="-127"/>
                <a:cs typeface="Arial" pitchFamily="34" charset="0"/>
              </a:rPr>
              <a:t>Độ lệch chuẩn được lấy bằng cách lấy căn bậc hai của phương sai.</a:t>
            </a:r>
            <a:r>
              <a:rPr lang="en-US" altLang="ko-KR" sz="1400" b="1" dirty="0">
                <a:latin typeface="Arial" pitchFamily="34" charset="0"/>
                <a:ea typeface="맑은 고딕" pitchFamily="50" charset="-127"/>
                <a:cs typeface="Arial" pitchFamily="34" charset="0"/>
              </a:rPr>
              <a:t> </a:t>
            </a:r>
          </a:p>
          <a:p>
            <a:pPr eaLnBrk="1" hangingPunct="1">
              <a:lnSpc>
                <a:spcPct val="130000"/>
              </a:lnSpc>
            </a:pP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Để tham khảo, các biểu tượng được sử dụng để thể hiện phương sai và độ lệch chuẩn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lần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lượt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là</a:t>
            </a:r>
            <a:r>
              <a:rPr lang="en-US" altLang="ko-KR" sz="1400" b="1" dirty="0">
                <a:latin typeface="Arial" pitchFamily="34" charset="0"/>
                <a:ea typeface="맑은 고딕" pitchFamily="50" charset="-127"/>
                <a:cs typeface="Arial" pitchFamily="34" charset="0"/>
              </a:rPr>
              <a:t>:               </a:t>
            </a:r>
          </a:p>
        </p:txBody>
      </p:sp>
      <p:sp>
        <p:nvSpPr>
          <p:cNvPr id="44035" name="Text Box 45"/>
          <p:cNvSpPr txBox="1">
            <a:spLocks noChangeArrowheads="1"/>
          </p:cNvSpPr>
          <p:nvPr/>
        </p:nvSpPr>
        <p:spPr bwMode="auto">
          <a:xfrm>
            <a:off x="6177136" y="2542297"/>
            <a:ext cx="9605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HY그래픽M" pitchFamily="18" charset="-127"/>
                <a:cs typeface="Arial" pitchFamily="34" charset="0"/>
              </a:rPr>
              <a:t>(</a:t>
            </a:r>
            <a:r>
              <a:rPr lang="en-US" altLang="ko-KR" b="1" dirty="0" err="1">
                <a:latin typeface="Arial" pitchFamily="34" charset="0"/>
                <a:ea typeface="HY그래픽M" pitchFamily="18" charset="-127"/>
                <a:cs typeface="Arial" pitchFamily="34" charset="0"/>
              </a:rPr>
              <a:t>χ</a:t>
            </a:r>
            <a:r>
              <a:rPr lang="en-US" altLang="ko-KR" sz="1200" b="1" dirty="0" err="1">
                <a:latin typeface="Arial" pitchFamily="34" charset="0"/>
                <a:ea typeface="HY그래픽M" pitchFamily="18" charset="-127"/>
                <a:cs typeface="Arial" pitchFamily="34" charset="0"/>
              </a:rPr>
              <a:t>i</a:t>
            </a:r>
            <a:r>
              <a:rPr lang="en-US" altLang="ko-KR" sz="1200" b="1" dirty="0">
                <a:latin typeface="Arial" pitchFamily="34" charset="0"/>
                <a:ea typeface="HY그래픽M" pitchFamily="18" charset="-127"/>
                <a:cs typeface="Arial" pitchFamily="34" charset="0"/>
              </a:rPr>
              <a:t> – </a:t>
            </a:r>
            <a:r>
              <a:rPr lang="en-US" altLang="ko-KR" b="1" dirty="0">
                <a:latin typeface="Arial" pitchFamily="34" charset="0"/>
                <a:ea typeface="HY그래픽M" pitchFamily="18" charset="-127"/>
                <a:cs typeface="Arial" pitchFamily="34" charset="0"/>
              </a:rPr>
              <a:t>χ) ²</a:t>
            </a:r>
          </a:p>
        </p:txBody>
      </p:sp>
      <p:sp>
        <p:nvSpPr>
          <p:cNvPr id="44036" name="Text Box 46"/>
          <p:cNvSpPr txBox="1">
            <a:spLocks noChangeArrowheads="1"/>
          </p:cNvSpPr>
          <p:nvPr/>
        </p:nvSpPr>
        <p:spPr bwMode="auto">
          <a:xfrm>
            <a:off x="5762180" y="2535626"/>
            <a:ext cx="317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HY그래픽M" pitchFamily="18" charset="-127"/>
                <a:cs typeface="Arial" pitchFamily="34" charset="0"/>
              </a:rPr>
              <a:t>χ</a:t>
            </a:r>
          </a:p>
        </p:txBody>
      </p:sp>
      <p:sp>
        <p:nvSpPr>
          <p:cNvPr id="44037" name="Text Box 47"/>
          <p:cNvSpPr txBox="1">
            <a:spLocks noChangeArrowheads="1"/>
          </p:cNvSpPr>
          <p:nvPr/>
        </p:nvSpPr>
        <p:spPr bwMode="auto">
          <a:xfrm>
            <a:off x="5104099" y="2576607"/>
            <a:ext cx="4683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l-GR" altLang="ko-KR" b="1" dirty="0">
                <a:latin typeface="Arial" pitchFamily="34" charset="0"/>
                <a:cs typeface="Arial" pitchFamily="34" charset="0"/>
              </a:rPr>
              <a:t>Χ</a:t>
            </a:r>
            <a:r>
              <a:rPr lang="en-US" altLang="ko-KR" sz="1200" b="1" dirty="0">
                <a:latin typeface="Arial" pitchFamily="34" charset="0"/>
                <a:cs typeface="Arial" pitchFamily="34" charset="0"/>
              </a:rPr>
              <a:t>i  </a:t>
            </a:r>
            <a:endParaRPr lang="en-US" altLang="ko-KR" b="1" dirty="0">
              <a:latin typeface="Arial" pitchFamily="34" charset="0"/>
              <a:cs typeface="Arial" pitchFamily="34" charset="0"/>
            </a:endParaRPr>
          </a:p>
        </p:txBody>
      </p:sp>
      <p:pic>
        <p:nvPicPr>
          <p:cNvPr id="44038" name="Picture 48" descr="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4395788" y="3485802"/>
            <a:ext cx="4191000" cy="191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39" name="Text Box 49"/>
          <p:cNvSpPr txBox="1">
            <a:spLocks noChangeArrowheads="1"/>
          </p:cNvSpPr>
          <p:nvPr/>
        </p:nvSpPr>
        <p:spPr bwMode="auto">
          <a:xfrm>
            <a:off x="1838325" y="3869977"/>
            <a:ext cx="3175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a:t>
            </a:r>
          </a:p>
        </p:txBody>
      </p:sp>
      <p:sp>
        <p:nvSpPr>
          <p:cNvPr id="44040" name="Text Box 51"/>
          <p:cNvSpPr txBox="1">
            <a:spLocks noChangeArrowheads="1"/>
          </p:cNvSpPr>
          <p:nvPr/>
        </p:nvSpPr>
        <p:spPr bwMode="auto">
          <a:xfrm>
            <a:off x="2452688" y="4017615"/>
            <a:ext cx="8515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(n – 1)</a:t>
            </a:r>
          </a:p>
        </p:txBody>
      </p:sp>
      <p:sp>
        <p:nvSpPr>
          <p:cNvPr id="44041" name="Text Box 52"/>
          <p:cNvSpPr txBox="1">
            <a:spLocks noChangeArrowheads="1"/>
          </p:cNvSpPr>
          <p:nvPr/>
        </p:nvSpPr>
        <p:spPr bwMode="auto">
          <a:xfrm>
            <a:off x="2276267" y="3521491"/>
            <a:ext cx="3385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바탕체" pitchFamily="17" charset="-127"/>
                <a:cs typeface="Arial" pitchFamily="34" charset="0"/>
              </a:rPr>
              <a:t>Σ</a:t>
            </a:r>
          </a:p>
        </p:txBody>
      </p:sp>
      <p:sp>
        <p:nvSpPr>
          <p:cNvPr id="44042" name="Text Box 53"/>
          <p:cNvSpPr txBox="1">
            <a:spLocks noChangeArrowheads="1"/>
          </p:cNvSpPr>
          <p:nvPr/>
        </p:nvSpPr>
        <p:spPr bwMode="auto">
          <a:xfrm>
            <a:off x="2263775" y="3804890"/>
            <a:ext cx="3635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i=1</a:t>
            </a:r>
          </a:p>
        </p:txBody>
      </p:sp>
      <p:sp>
        <p:nvSpPr>
          <p:cNvPr id="44043" name="Text Box 54"/>
          <p:cNvSpPr txBox="1">
            <a:spLocks noChangeArrowheads="1"/>
          </p:cNvSpPr>
          <p:nvPr/>
        </p:nvSpPr>
        <p:spPr bwMode="auto">
          <a:xfrm>
            <a:off x="2318544" y="3393727"/>
            <a:ext cx="2540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n</a:t>
            </a:r>
          </a:p>
        </p:txBody>
      </p:sp>
      <p:sp>
        <p:nvSpPr>
          <p:cNvPr id="44044" name="Line 60"/>
          <p:cNvSpPr>
            <a:spLocks noChangeShapeType="1"/>
          </p:cNvSpPr>
          <p:nvPr/>
        </p:nvSpPr>
        <p:spPr bwMode="auto">
          <a:xfrm>
            <a:off x="2260600" y="4050952"/>
            <a:ext cx="14176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4045" name="Text Box 62"/>
          <p:cNvSpPr txBox="1">
            <a:spLocks noChangeArrowheads="1"/>
          </p:cNvSpPr>
          <p:nvPr/>
        </p:nvSpPr>
        <p:spPr bwMode="auto">
          <a:xfrm>
            <a:off x="1589088" y="3889027"/>
            <a:ext cx="3770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s²</a:t>
            </a:r>
          </a:p>
        </p:txBody>
      </p:sp>
      <p:sp>
        <p:nvSpPr>
          <p:cNvPr id="44046" name="Text Box 63"/>
          <p:cNvSpPr txBox="1">
            <a:spLocks noChangeArrowheads="1"/>
          </p:cNvSpPr>
          <p:nvPr/>
        </p:nvSpPr>
        <p:spPr bwMode="auto">
          <a:xfrm>
            <a:off x="2597150" y="3528665"/>
            <a:ext cx="10134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HY그래픽M" pitchFamily="18" charset="-127"/>
                <a:cs typeface="Arial" pitchFamily="34" charset="0"/>
              </a:rPr>
              <a:t>(χ</a:t>
            </a:r>
            <a:r>
              <a:rPr lang="en-US" altLang="ko-KR" sz="1200" b="1" dirty="0">
                <a:latin typeface="Arial" pitchFamily="34" charset="0"/>
                <a:ea typeface="HY그래픽M" pitchFamily="18" charset="-127"/>
                <a:cs typeface="Arial" pitchFamily="34" charset="0"/>
              </a:rPr>
              <a:t>i   - </a:t>
            </a:r>
            <a:r>
              <a:rPr lang="en-US" altLang="ko-KR" b="1" dirty="0">
                <a:latin typeface="Arial" pitchFamily="34" charset="0"/>
                <a:ea typeface="HY그래픽M" pitchFamily="18" charset="-127"/>
                <a:cs typeface="Arial" pitchFamily="34" charset="0"/>
              </a:rPr>
              <a:t>χ) ²</a:t>
            </a:r>
          </a:p>
        </p:txBody>
      </p:sp>
      <p:sp>
        <p:nvSpPr>
          <p:cNvPr id="44047" name="Text Box 64"/>
          <p:cNvSpPr txBox="1">
            <a:spLocks noChangeArrowheads="1"/>
          </p:cNvSpPr>
          <p:nvPr/>
        </p:nvSpPr>
        <p:spPr bwMode="auto">
          <a:xfrm>
            <a:off x="1863725" y="4727227"/>
            <a:ext cx="3175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a:t>
            </a:r>
          </a:p>
        </p:txBody>
      </p:sp>
      <p:sp>
        <p:nvSpPr>
          <p:cNvPr id="44048" name="Text Box 65"/>
          <p:cNvSpPr txBox="1">
            <a:spLocks noChangeArrowheads="1"/>
          </p:cNvSpPr>
          <p:nvPr/>
        </p:nvSpPr>
        <p:spPr bwMode="auto">
          <a:xfrm>
            <a:off x="2854325" y="5003884"/>
            <a:ext cx="8515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(n – 1)</a:t>
            </a:r>
          </a:p>
        </p:txBody>
      </p:sp>
      <p:sp>
        <p:nvSpPr>
          <p:cNvPr id="44049" name="Text Box 66"/>
          <p:cNvSpPr txBox="1">
            <a:spLocks noChangeArrowheads="1"/>
          </p:cNvSpPr>
          <p:nvPr/>
        </p:nvSpPr>
        <p:spPr bwMode="auto">
          <a:xfrm>
            <a:off x="2677904" y="4502234"/>
            <a:ext cx="3385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바탕체" pitchFamily="17" charset="-127"/>
                <a:cs typeface="Arial" pitchFamily="34" charset="0"/>
              </a:rPr>
              <a:t>Σ</a:t>
            </a:r>
          </a:p>
        </p:txBody>
      </p:sp>
      <p:sp>
        <p:nvSpPr>
          <p:cNvPr id="44050" name="Text Box 67"/>
          <p:cNvSpPr txBox="1">
            <a:spLocks noChangeArrowheads="1"/>
          </p:cNvSpPr>
          <p:nvPr/>
        </p:nvSpPr>
        <p:spPr bwMode="auto">
          <a:xfrm>
            <a:off x="2665413" y="4791159"/>
            <a:ext cx="3635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i=1</a:t>
            </a:r>
          </a:p>
        </p:txBody>
      </p:sp>
      <p:sp>
        <p:nvSpPr>
          <p:cNvPr id="44051" name="Text Box 68"/>
          <p:cNvSpPr txBox="1">
            <a:spLocks noChangeArrowheads="1"/>
          </p:cNvSpPr>
          <p:nvPr/>
        </p:nvSpPr>
        <p:spPr bwMode="auto">
          <a:xfrm>
            <a:off x="2720181" y="4379997"/>
            <a:ext cx="2540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n</a:t>
            </a:r>
          </a:p>
        </p:txBody>
      </p:sp>
      <p:sp>
        <p:nvSpPr>
          <p:cNvPr id="44052" name="Line 69"/>
          <p:cNvSpPr>
            <a:spLocks noChangeShapeType="1"/>
          </p:cNvSpPr>
          <p:nvPr/>
        </p:nvSpPr>
        <p:spPr bwMode="auto">
          <a:xfrm>
            <a:off x="2662238" y="5037222"/>
            <a:ext cx="141763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4053" name="Text Box 70"/>
          <p:cNvSpPr txBox="1">
            <a:spLocks noChangeArrowheads="1"/>
          </p:cNvSpPr>
          <p:nvPr/>
        </p:nvSpPr>
        <p:spPr bwMode="auto">
          <a:xfrm>
            <a:off x="1614488" y="4746277"/>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s</a:t>
            </a:r>
          </a:p>
        </p:txBody>
      </p:sp>
      <p:sp>
        <p:nvSpPr>
          <p:cNvPr id="44054" name="Text Box 71"/>
          <p:cNvSpPr txBox="1">
            <a:spLocks noChangeArrowheads="1"/>
          </p:cNvSpPr>
          <p:nvPr/>
        </p:nvSpPr>
        <p:spPr bwMode="auto">
          <a:xfrm>
            <a:off x="2998788" y="4545097"/>
            <a:ext cx="10134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HY그래픽M" pitchFamily="18" charset="-127"/>
                <a:cs typeface="Arial" pitchFamily="34" charset="0"/>
              </a:rPr>
              <a:t>(χ</a:t>
            </a:r>
            <a:r>
              <a:rPr lang="en-US" altLang="ko-KR" sz="1200" b="1" dirty="0">
                <a:latin typeface="Arial" pitchFamily="34" charset="0"/>
                <a:ea typeface="HY그래픽M" pitchFamily="18" charset="-127"/>
                <a:cs typeface="Arial" pitchFamily="34" charset="0"/>
              </a:rPr>
              <a:t>i   - </a:t>
            </a:r>
            <a:r>
              <a:rPr lang="en-US" altLang="ko-KR" b="1" dirty="0">
                <a:latin typeface="Arial" pitchFamily="34" charset="0"/>
                <a:ea typeface="HY그래픽M" pitchFamily="18" charset="-127"/>
                <a:cs typeface="Arial" pitchFamily="34" charset="0"/>
              </a:rPr>
              <a:t>χ) ²</a:t>
            </a:r>
          </a:p>
        </p:txBody>
      </p:sp>
      <p:sp>
        <p:nvSpPr>
          <p:cNvPr id="44055" name="Text Box 72"/>
          <p:cNvSpPr txBox="1">
            <a:spLocks noChangeArrowheads="1"/>
          </p:cNvSpPr>
          <p:nvPr/>
        </p:nvSpPr>
        <p:spPr bwMode="auto">
          <a:xfrm>
            <a:off x="2032000" y="4277965"/>
            <a:ext cx="74732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0" dirty="0">
                <a:latin typeface="Arial" pitchFamily="34" charset="0"/>
                <a:cs typeface="Arial" pitchFamily="34" charset="0"/>
              </a:rPr>
              <a:t>√</a:t>
            </a:r>
          </a:p>
        </p:txBody>
      </p:sp>
      <p:sp>
        <p:nvSpPr>
          <p:cNvPr id="44056" name="Line 73"/>
          <p:cNvSpPr>
            <a:spLocks noChangeShapeType="1"/>
          </p:cNvSpPr>
          <p:nvPr/>
        </p:nvSpPr>
        <p:spPr bwMode="auto">
          <a:xfrm>
            <a:off x="2646725" y="4407834"/>
            <a:ext cx="144217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4057" name="Text Box 75"/>
          <p:cNvSpPr txBox="1">
            <a:spLocks noChangeArrowheads="1"/>
          </p:cNvSpPr>
          <p:nvPr/>
        </p:nvSpPr>
        <p:spPr bwMode="auto">
          <a:xfrm>
            <a:off x="776536" y="5877272"/>
            <a:ext cx="7713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cs typeface="Arial" pitchFamily="34" charset="0"/>
              </a:rPr>
              <a:t>σ ², σ</a:t>
            </a:r>
          </a:p>
        </p:txBody>
      </p:sp>
      <p:sp>
        <p:nvSpPr>
          <p:cNvPr id="44058" name="Text Box 77"/>
          <p:cNvSpPr txBox="1">
            <a:spLocks noChangeArrowheads="1"/>
          </p:cNvSpPr>
          <p:nvPr/>
        </p:nvSpPr>
        <p:spPr bwMode="auto">
          <a:xfrm>
            <a:off x="666720" y="2276872"/>
            <a:ext cx="317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MS Mincho" pitchFamily="49" charset="-128"/>
                <a:cs typeface="Arial" pitchFamily="34" charset="0"/>
              </a:rPr>
              <a:t>χ</a:t>
            </a:r>
          </a:p>
        </p:txBody>
      </p:sp>
      <p:sp>
        <p:nvSpPr>
          <p:cNvPr id="44059" name="Line 78"/>
          <p:cNvSpPr>
            <a:spLocks noChangeShapeType="1"/>
          </p:cNvSpPr>
          <p:nvPr/>
        </p:nvSpPr>
        <p:spPr bwMode="auto">
          <a:xfrm>
            <a:off x="759444" y="2370873"/>
            <a:ext cx="1444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4060" name="Text Box 3"/>
          <p:cNvSpPr txBox="1">
            <a:spLocks noChangeArrowheads="1"/>
          </p:cNvSpPr>
          <p:nvPr/>
        </p:nvSpPr>
        <p:spPr bwMode="auto">
          <a:xfrm>
            <a:off x="611188" y="981075"/>
            <a:ext cx="61596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Blip>
                <a:blip r:embed="rId4"/>
              </a:buBlip>
            </a:pP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đặc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điểm</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mô</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tả</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mức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độ</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lan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truyền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của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endParaRPr lang="en-US" altLang="ko-KR" b="1" dirty="0">
              <a:latin typeface="Arial" pitchFamily="34" charset="0"/>
              <a:ea typeface="맑은 고딕" pitchFamily="50" charset="-127"/>
              <a:cs typeface="Arial" pitchFamily="34" charset="0"/>
            </a:endParaRPr>
          </a:p>
        </p:txBody>
      </p:sp>
      <p:sp>
        <p:nvSpPr>
          <p:cNvPr id="44061" name="Line 78"/>
          <p:cNvSpPr>
            <a:spLocks noChangeShapeType="1"/>
          </p:cNvSpPr>
          <p:nvPr/>
        </p:nvSpPr>
        <p:spPr bwMode="auto">
          <a:xfrm>
            <a:off x="5848807" y="2621351"/>
            <a:ext cx="1444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4062" name="Line 78"/>
          <p:cNvSpPr>
            <a:spLocks noChangeShapeType="1"/>
          </p:cNvSpPr>
          <p:nvPr/>
        </p:nvSpPr>
        <p:spPr bwMode="auto">
          <a:xfrm>
            <a:off x="6681192" y="2636912"/>
            <a:ext cx="1444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4063" name="Line 78"/>
          <p:cNvSpPr>
            <a:spLocks noChangeShapeType="1"/>
          </p:cNvSpPr>
          <p:nvPr/>
        </p:nvSpPr>
        <p:spPr bwMode="auto">
          <a:xfrm>
            <a:off x="3106738" y="3603277"/>
            <a:ext cx="1444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4064" name="Line 78"/>
          <p:cNvSpPr>
            <a:spLocks noChangeShapeType="1"/>
          </p:cNvSpPr>
          <p:nvPr/>
        </p:nvSpPr>
        <p:spPr bwMode="auto">
          <a:xfrm>
            <a:off x="3644900" y="4613359"/>
            <a:ext cx="14446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48</a:t>
            </a:fld>
            <a:endParaRPr lang="ko-KR" altLang="en-US" dirty="0">
              <a:latin typeface="Arial" pitchFamily="34" charset="0"/>
              <a:cs typeface="Arial" pitchFamily="34" charset="0"/>
            </a:endParaRPr>
          </a:p>
        </p:txBody>
      </p:sp>
      <p:sp>
        <p:nvSpPr>
          <p:cNvPr id="35"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pic>
        <p:nvPicPr>
          <p:cNvPr id="3" name="Picture 2"/>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1272837" y="2486952"/>
            <a:ext cx="4912893" cy="3390319"/>
          </a:xfrm>
          <a:prstGeom prst="rect">
            <a:avLst/>
          </a:prstGeom>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4"/>
          <p:cNvSpPr>
            <a:spLocks noChangeArrowheads="1"/>
          </p:cNvSpPr>
          <p:nvPr/>
        </p:nvSpPr>
        <p:spPr bwMode="auto">
          <a:xfrm>
            <a:off x="611189" y="785794"/>
            <a:ext cx="8913844" cy="3733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400" b="1" dirty="0">
                <a:latin typeface="Arial" pitchFamily="34" charset="0"/>
                <a:ea typeface="맑은 고딕" pitchFamily="50" charset="-127"/>
                <a:cs typeface="Arial" pitchFamily="34" charset="0"/>
              </a:rPr>
              <a:t>2) </a:t>
            </a:r>
            <a:r>
              <a:rPr lang="en-US" altLang="ko-KR" sz="1400" b="1" dirty="0" err="1">
                <a:latin typeface="Arial" pitchFamily="34" charset="0"/>
                <a:ea typeface="맑은 고딕" pitchFamily="50" charset="-127"/>
                <a:cs typeface="Arial" pitchFamily="34" charset="0"/>
              </a:rPr>
              <a:t>Phạm</a:t>
            </a:r>
            <a:r>
              <a:rPr lang="en-US" altLang="ko-KR" sz="1400" b="1" dirty="0">
                <a:latin typeface="Arial" pitchFamily="34" charset="0"/>
                <a:ea typeface="맑은 고딕" pitchFamily="50" charset="-127"/>
                <a:cs typeface="Arial" pitchFamily="34" charset="0"/>
              </a:rPr>
              <a:t> vi/Range</a:t>
            </a:r>
          </a:p>
          <a:p>
            <a:pPr eaLnBrk="1" hangingPunct="1">
              <a:lnSpc>
                <a:spcPct val="130000"/>
              </a:lnSpc>
            </a:pP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 Đó là các chỉ số với các hình thức đơn giản nhất và được sử dụng để bổ sung cho các chỉ số khác</a:t>
            </a:r>
            <a:br>
              <a:rPr lang="vi-VN" altLang="ko-KR" sz="1400" b="1" dirty="0">
                <a:latin typeface="Arial" pitchFamily="34" charset="0"/>
                <a:ea typeface="맑은 고딕" pitchFamily="50" charset="-127"/>
                <a:cs typeface="Arial" pitchFamily="34" charset="0"/>
              </a:rPr>
            </a:b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 Phạm vi được xác định bằng cách trừ đi giá trị dữ liệu tối thiểu từ các giá trị dữ liệu tối đa</a:t>
            </a:r>
            <a:br>
              <a:rPr lang="vi-VN" altLang="ko-KR" sz="1400" b="1" dirty="0">
                <a:latin typeface="Arial" pitchFamily="34" charset="0"/>
                <a:ea typeface="맑은 고딕" pitchFamily="50" charset="-127"/>
                <a:cs typeface="Arial" pitchFamily="34" charset="0"/>
              </a:rPr>
            </a:br>
            <a:r>
              <a:rPr lang="vi-VN" altLang="ko-KR" sz="1400" b="1" dirty="0">
                <a:latin typeface="Arial" pitchFamily="34" charset="0"/>
                <a:ea typeface="맑은 고딕" pitchFamily="50" charset="-127"/>
                <a:cs typeface="Arial" pitchFamily="34" charset="0"/>
              </a:rPr>
              <a:t>       </a:t>
            </a:r>
            <a:r>
              <a:rPr lang="vi-VN" altLang="ko-KR" sz="1400" b="1" dirty="0">
                <a:solidFill>
                  <a:srgbClr val="FF0000"/>
                </a:solidFill>
                <a:latin typeface="Arial" pitchFamily="34" charset="0"/>
                <a:ea typeface="맑은 고딕" pitchFamily="50" charset="-127"/>
                <a:cs typeface="Arial" pitchFamily="34" charset="0"/>
              </a:rPr>
              <a:t>Range (R) = tối đa - tối thiểu </a:t>
            </a:r>
            <a:endParaRPr lang="en-US" altLang="ko-KR" sz="1400" b="1" dirty="0">
              <a:solidFill>
                <a:srgbClr val="FF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a:latin typeface="Arial" pitchFamily="34" charset="0"/>
                <a:ea typeface="맑은 고딕" pitchFamily="50" charset="-127"/>
                <a:cs typeface="Arial" pitchFamily="34" charset="0"/>
              </a:rPr>
              <a:t>       </a:t>
            </a:r>
            <a:r>
              <a:rPr lang="vi-VN" altLang="ko-KR" sz="1400" b="1" dirty="0">
                <a:latin typeface="Arial" pitchFamily="34" charset="0"/>
                <a:ea typeface="맑은 고딕" pitchFamily="50" charset="-127"/>
                <a:cs typeface="Arial" pitchFamily="34" charset="0"/>
              </a:rPr>
              <a:t>Ví dụ</a:t>
            </a:r>
            <a:r>
              <a:rPr lang="en-US" altLang="ko-KR" sz="1400" b="1" dirty="0">
                <a:latin typeface="Arial" pitchFamily="34" charset="0"/>
                <a:ea typeface="맑은 고딕" pitchFamily="50" charset="-127"/>
                <a:cs typeface="Arial" pitchFamily="34" charset="0"/>
              </a:rPr>
              <a:t>:</a:t>
            </a:r>
            <a:r>
              <a:rPr lang="vi-VN" altLang="ko-KR" sz="1400" b="1" dirty="0">
                <a:latin typeface="Arial" pitchFamily="34" charset="0"/>
                <a:ea typeface="맑은 고딕" pitchFamily="50" charset="-127"/>
                <a:cs typeface="Arial" pitchFamily="34" charset="0"/>
              </a:rPr>
              <a:t> </a:t>
            </a:r>
            <a:r>
              <a:rPr lang="en-US" altLang="ko-KR" sz="1400" b="1" dirty="0">
                <a:latin typeface="Arial" pitchFamily="34" charset="0"/>
                <a:ea typeface="맑은 고딕" pitchFamily="50" charset="-127"/>
                <a:cs typeface="Arial" pitchFamily="34" charset="0"/>
              </a:rPr>
              <a:t>T</a:t>
            </a:r>
            <a:r>
              <a:rPr lang="vi-VN" altLang="ko-KR" sz="1400" b="1" dirty="0">
                <a:latin typeface="Arial" pitchFamily="34" charset="0"/>
                <a:ea typeface="맑은 고딕" pitchFamily="50" charset="-127"/>
                <a:cs typeface="Arial" pitchFamily="34" charset="0"/>
              </a:rPr>
              <a:t>rong tập dữ liệu 50, 60, 60, 62, 70, 120</a:t>
            </a:r>
            <a:r>
              <a:rPr lang="en-US" altLang="ko-KR" sz="1400" b="1" dirty="0">
                <a:latin typeface="Arial" pitchFamily="34" charset="0"/>
                <a:ea typeface="맑은 고딕" pitchFamily="50" charset="-127"/>
                <a:cs typeface="Arial" pitchFamily="34" charset="0"/>
              </a:rPr>
              <a:t>.</a:t>
            </a:r>
          </a:p>
          <a:p>
            <a:pPr eaLnBrk="1" hangingPunct="1">
              <a:lnSpc>
                <a:spcPct val="130000"/>
              </a:lnSpc>
            </a:pPr>
            <a:r>
              <a:rPr lang="en-US" altLang="ko-KR" sz="1400" b="1" dirty="0">
                <a:latin typeface="Arial" pitchFamily="34" charset="0"/>
                <a:ea typeface="맑은 고딕" pitchFamily="50" charset="-127"/>
                <a:cs typeface="Arial" pitchFamily="34" charset="0"/>
              </a:rPr>
              <a:t>	   R = 120 – 50 = 70</a:t>
            </a:r>
          </a:p>
          <a:p>
            <a:pPr eaLnBrk="1" hangingPunct="1">
              <a:lnSpc>
                <a:spcPct val="130000"/>
              </a:lnSpc>
            </a:pP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3) </a:t>
            </a:r>
            <a:r>
              <a:rPr lang="en-US" altLang="ko-KR" sz="1400" b="1" dirty="0" err="1">
                <a:solidFill>
                  <a:srgbClr val="000000"/>
                </a:solidFill>
                <a:latin typeface="Arial" pitchFamily="34" charset="0"/>
                <a:ea typeface="맑은 고딕" pitchFamily="50" charset="-127"/>
                <a:cs typeface="Arial" pitchFamily="34" charset="0"/>
              </a:rPr>
              <a:t>Tứ</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vị</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biểu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đồ</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hộp</a:t>
            </a:r>
            <a:r>
              <a:rPr lang="en-US" altLang="ko-KR" sz="1400" b="1" dirty="0">
                <a:solidFill>
                  <a:srgbClr val="000000"/>
                </a:solidFill>
                <a:latin typeface="Arial" pitchFamily="34" charset="0"/>
                <a:ea typeface="맑은 고딕" pitchFamily="50" charset="-127"/>
                <a:cs typeface="Arial" pitchFamily="34" charset="0"/>
              </a:rPr>
              <a:t>/Quartile and</a:t>
            </a: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Box Plot</a:t>
            </a: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vi-VN" altLang="ko-KR" sz="1400" b="1" dirty="0">
                <a:solidFill>
                  <a:srgbClr val="000000"/>
                </a:solidFill>
                <a:latin typeface="Arial" pitchFamily="34" charset="0"/>
                <a:ea typeface="맑은 고딕" pitchFamily="50" charset="-127"/>
                <a:cs typeface="Arial" pitchFamily="34" charset="0"/>
              </a:rPr>
              <a:t>Sắp xếp các giá trị dữ liệu theo thứ tự và các giá trị dữ liệu trong 1/4 (và bội số của 1/4) vị trí được xác định là tứ phân vị.</a:t>
            </a:r>
            <a:endParaRPr lang="en-US" altLang="ko-KR"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Dữ</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liệu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lan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truyền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có</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thể</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được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mô</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bằng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cách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vẽ</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biểu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đồ</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hộp</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xung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quanh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điểm</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tối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tối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thiểu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giá</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trị</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thứ</a:t>
            </a:r>
            <a:r>
              <a:rPr lang="en-US" altLang="ko-KR" sz="1400" b="1" dirty="0">
                <a:solidFill>
                  <a:srgbClr val="000000"/>
                </a:solidFill>
                <a:latin typeface="Arial" pitchFamily="34" charset="0"/>
                <a:ea typeface="맑은 고딕" pitchFamily="50" charset="-127"/>
                <a:cs typeface="Arial" pitchFamily="34" charset="0"/>
              </a:rPr>
              <a:t> ¼ </a:t>
            </a:r>
            <a:r>
              <a:rPr lang="en-US" altLang="ko-KR" sz="1400" b="1" dirty="0" err="1">
                <a:solidFill>
                  <a:srgbClr val="000000"/>
                </a:solidFill>
                <a:latin typeface="Arial" pitchFamily="34" charset="0"/>
                <a:ea typeface="맑은 고딕" pitchFamily="50" charset="-127"/>
                <a:cs typeface="Arial" pitchFamily="34" charset="0"/>
              </a:rPr>
              <a:t>và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thứ</a:t>
            </a:r>
            <a:r>
              <a:rPr lang="en-US" altLang="ko-KR" sz="1400" b="1" dirty="0">
                <a:solidFill>
                  <a:srgbClr val="000000"/>
                </a:solidFill>
                <a:latin typeface="Arial" pitchFamily="34" charset="0"/>
                <a:ea typeface="맑은 고딕" pitchFamily="50" charset="-127"/>
                <a:cs typeface="Arial" pitchFamily="34" charset="0"/>
              </a:rPr>
              <a:t> ¾ </a:t>
            </a:r>
            <a:r>
              <a:rPr lang="en-US" altLang="ko-KR" sz="1400" b="1" dirty="0" err="1">
                <a:solidFill>
                  <a:srgbClr val="000000"/>
                </a:solidFill>
                <a:latin typeface="Arial" pitchFamily="34" charset="0"/>
                <a:ea typeface="맑은 고딕" pitchFamily="50" charset="-127"/>
                <a:cs typeface="Arial" pitchFamily="34" charset="0"/>
              </a:rPr>
              <a:t>trong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tổng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thể</a:t>
            </a:r>
            <a:r>
              <a:rPr lang="en-US" altLang="ko-KR" sz="1400" b="1" dirty="0">
                <a:solidFill>
                  <a:srgbClr val="000000"/>
                </a:solidFill>
                <a:latin typeface="Arial" pitchFamily="34" charset="0"/>
                <a:ea typeface="맑은 고딕" pitchFamily="50" charset="-127"/>
                <a:cs typeface="Arial" pitchFamily="34" charset="0"/>
              </a:rPr>
              <a:t>.</a:t>
            </a: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Ví</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dụ</a:t>
            </a:r>
            <a:r>
              <a:rPr lang="en-US" altLang="ko-KR" sz="1400" b="1" dirty="0">
                <a:solidFill>
                  <a:srgbClr val="000000"/>
                </a:solidFill>
                <a:latin typeface="Arial" pitchFamily="34" charset="0"/>
                <a:ea typeface="맑은 고딕" pitchFamily="50" charset="-127"/>
                <a:cs typeface="Arial" pitchFamily="34" charset="0"/>
              </a:rPr>
              <a:t>:</a:t>
            </a:r>
            <a:endParaRPr lang="en-US" altLang="ko-KR" sz="1400" b="1" dirty="0">
              <a:latin typeface="Arial" pitchFamily="34" charset="0"/>
              <a:ea typeface="맑은 고딕" pitchFamily="50" charset="-127"/>
              <a:cs typeface="Arial" pitchFamily="34" charset="0"/>
            </a:endParaRPr>
          </a:p>
        </p:txBody>
      </p:sp>
      <p:sp>
        <p:nvSpPr>
          <p:cNvPr id="50179" name="Rectangle 35"/>
          <p:cNvSpPr>
            <a:spLocks noChangeArrowheads="1"/>
          </p:cNvSpPr>
          <p:nvPr/>
        </p:nvSpPr>
        <p:spPr bwMode="auto">
          <a:xfrm>
            <a:off x="1331913" y="4588766"/>
            <a:ext cx="3744912" cy="360363"/>
          </a:xfrm>
          <a:prstGeom prst="rect">
            <a:avLst/>
          </a:prstGeom>
          <a:solidFill>
            <a:schemeClr val="bg1">
              <a:lumMod val="95000"/>
            </a:schemeClr>
          </a:solidFill>
          <a:ln w="28575">
            <a:solidFill>
              <a:srgbClr val="0000FF"/>
            </a:solidFill>
            <a:miter lim="800000"/>
            <a:headEnd/>
            <a:tailEnd/>
          </a:ln>
        </p:spPr>
        <p:txBody>
          <a:bodyPr wrap="none" anchor="ct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algn="ctr" eaLnBrk="1" hangingPunct="1">
              <a:defRPr/>
            </a:pPr>
            <a:r>
              <a:rPr lang="en-US" altLang="ko-KR" sz="1400" b="1" dirty="0">
                <a:latin typeface="Arial" pitchFamily="34" charset="0"/>
                <a:ea typeface="맑은 고딕" pitchFamily="50" charset="-127"/>
                <a:cs typeface="Arial" pitchFamily="34" charset="0"/>
              </a:rPr>
              <a:t>2, 4, 7, 11, 11, 11, 15, 16, 16, 24, 29</a:t>
            </a:r>
          </a:p>
        </p:txBody>
      </p:sp>
      <p:sp>
        <p:nvSpPr>
          <p:cNvPr id="45060" name="Rectangle 36"/>
          <p:cNvSpPr>
            <a:spLocks noChangeArrowheads="1"/>
          </p:cNvSpPr>
          <p:nvPr/>
        </p:nvSpPr>
        <p:spPr bwMode="auto">
          <a:xfrm>
            <a:off x="5364163" y="5489673"/>
            <a:ext cx="1008062"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err="1">
                <a:latin typeface="Arial" pitchFamily="34" charset="0"/>
                <a:ea typeface="맑은 고딕" pitchFamily="50" charset="-127"/>
                <a:cs typeface="Arial" pitchFamily="34" charset="0"/>
              </a:rPr>
              <a:t>Giá</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trị</a:t>
            </a:r>
            <a:r>
              <a:rPr lang="en-US" altLang="ko-KR" sz="1000" b="1" dirty="0">
                <a:latin typeface="Arial" pitchFamily="34" charset="0"/>
                <a:ea typeface="맑은 고딕" pitchFamily="50" charset="-127"/>
                <a:cs typeface="Arial" pitchFamily="34" charset="0"/>
              </a:rPr>
              <a:t> ở </a:t>
            </a:r>
            <a:r>
              <a:rPr lang="en-US" altLang="ko-KR" sz="1000" b="1" dirty="0" err="1">
                <a:latin typeface="Arial" pitchFamily="34" charset="0"/>
                <a:ea typeface="맑은 고딕" pitchFamily="50" charset="-127"/>
                <a:cs typeface="Arial" pitchFamily="34" charset="0"/>
              </a:rPr>
              <a:t>giữa</a:t>
            </a:r>
            <a:endParaRPr lang="ko-KR" altLang="en-US" sz="1000" b="1" dirty="0">
              <a:latin typeface="Arial" pitchFamily="34" charset="0"/>
              <a:ea typeface="맑은 고딕" pitchFamily="50" charset="-127"/>
              <a:cs typeface="Arial" pitchFamily="34" charset="0"/>
            </a:endParaRPr>
          </a:p>
        </p:txBody>
      </p:sp>
      <p:sp>
        <p:nvSpPr>
          <p:cNvPr id="45061" name="Rectangle 37"/>
          <p:cNvSpPr>
            <a:spLocks noChangeArrowheads="1"/>
          </p:cNvSpPr>
          <p:nvPr/>
        </p:nvSpPr>
        <p:spPr bwMode="auto">
          <a:xfrm>
            <a:off x="6372225" y="5489673"/>
            <a:ext cx="2016125"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a:solidFill>
                  <a:schemeClr val="accent2"/>
                </a:solidFill>
                <a:latin typeface="Arial" pitchFamily="34" charset="0"/>
                <a:ea typeface="맑은 고딕" pitchFamily="50" charset="-127"/>
                <a:cs typeface="Arial" pitchFamily="34" charset="0"/>
              </a:rPr>
              <a:t>11</a:t>
            </a:r>
          </a:p>
        </p:txBody>
      </p:sp>
      <p:sp>
        <p:nvSpPr>
          <p:cNvPr id="45062" name="Rectangle 38"/>
          <p:cNvSpPr>
            <a:spLocks noChangeArrowheads="1"/>
          </p:cNvSpPr>
          <p:nvPr/>
        </p:nvSpPr>
        <p:spPr bwMode="auto">
          <a:xfrm>
            <a:off x="5364163" y="5921473"/>
            <a:ext cx="1008062"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a:latin typeface="Arial" pitchFamily="34" charset="0"/>
                <a:ea typeface="맑은 고딕" pitchFamily="50" charset="-127"/>
                <a:cs typeface="Arial" pitchFamily="34" charset="0"/>
              </a:rPr>
              <a:t>25 %</a:t>
            </a:r>
          </a:p>
        </p:txBody>
      </p:sp>
      <p:sp>
        <p:nvSpPr>
          <p:cNvPr id="45063" name="Rectangle 39"/>
          <p:cNvSpPr>
            <a:spLocks noChangeArrowheads="1"/>
          </p:cNvSpPr>
          <p:nvPr/>
        </p:nvSpPr>
        <p:spPr bwMode="auto">
          <a:xfrm>
            <a:off x="6372225" y="5921473"/>
            <a:ext cx="2016125"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a:solidFill>
                  <a:schemeClr val="accent2"/>
                </a:solidFill>
                <a:latin typeface="Arial" pitchFamily="34" charset="0"/>
                <a:ea typeface="맑은 고딕" pitchFamily="50" charset="-127"/>
                <a:cs typeface="Arial" pitchFamily="34" charset="0"/>
              </a:rPr>
              <a:t>7</a:t>
            </a:r>
          </a:p>
        </p:txBody>
      </p:sp>
      <p:sp>
        <p:nvSpPr>
          <p:cNvPr id="45064" name="Rectangle 40"/>
          <p:cNvSpPr>
            <a:spLocks noChangeArrowheads="1"/>
          </p:cNvSpPr>
          <p:nvPr/>
        </p:nvSpPr>
        <p:spPr bwMode="auto">
          <a:xfrm>
            <a:off x="5364163" y="6353273"/>
            <a:ext cx="1008062"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err="1">
                <a:latin typeface="Arial" pitchFamily="34" charset="0"/>
                <a:ea typeface="맑은 고딕" pitchFamily="50" charset="-127"/>
                <a:cs typeface="Arial" pitchFamily="34" charset="0"/>
              </a:rPr>
              <a:t>Giá</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trị</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nhỏ</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nhất</a:t>
            </a:r>
            <a:endParaRPr lang="ko-KR" altLang="en-US" sz="1000" b="1" dirty="0">
              <a:latin typeface="Arial" pitchFamily="34" charset="0"/>
              <a:ea typeface="맑은 고딕" pitchFamily="50" charset="-127"/>
              <a:cs typeface="Arial" pitchFamily="34" charset="0"/>
            </a:endParaRPr>
          </a:p>
        </p:txBody>
      </p:sp>
      <p:sp>
        <p:nvSpPr>
          <p:cNvPr id="45065" name="Rectangle 41"/>
          <p:cNvSpPr>
            <a:spLocks noChangeArrowheads="1"/>
          </p:cNvSpPr>
          <p:nvPr/>
        </p:nvSpPr>
        <p:spPr bwMode="auto">
          <a:xfrm>
            <a:off x="6372225" y="6353273"/>
            <a:ext cx="2016125"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a:solidFill>
                  <a:schemeClr val="accent2"/>
                </a:solidFill>
                <a:latin typeface="Arial" pitchFamily="34" charset="0"/>
                <a:ea typeface="맑은 고딕" pitchFamily="50" charset="-127"/>
                <a:cs typeface="Arial" pitchFamily="34" charset="0"/>
              </a:rPr>
              <a:t>2</a:t>
            </a:r>
          </a:p>
        </p:txBody>
      </p:sp>
      <p:sp>
        <p:nvSpPr>
          <p:cNvPr id="45066" name="Rectangle 42"/>
          <p:cNvSpPr>
            <a:spLocks noChangeArrowheads="1"/>
          </p:cNvSpPr>
          <p:nvPr/>
        </p:nvSpPr>
        <p:spPr bwMode="auto">
          <a:xfrm>
            <a:off x="5364163" y="5057873"/>
            <a:ext cx="1008062"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a:latin typeface="Arial" pitchFamily="34" charset="0"/>
                <a:ea typeface="맑은 고딕" pitchFamily="50" charset="-127"/>
                <a:cs typeface="Arial" pitchFamily="34" charset="0"/>
              </a:rPr>
              <a:t>75 %</a:t>
            </a:r>
          </a:p>
        </p:txBody>
      </p:sp>
      <p:sp>
        <p:nvSpPr>
          <p:cNvPr id="45067" name="Rectangle 43"/>
          <p:cNvSpPr>
            <a:spLocks noChangeArrowheads="1"/>
          </p:cNvSpPr>
          <p:nvPr/>
        </p:nvSpPr>
        <p:spPr bwMode="auto">
          <a:xfrm>
            <a:off x="6372225" y="5057873"/>
            <a:ext cx="2016125"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a:solidFill>
                  <a:schemeClr val="accent2"/>
                </a:solidFill>
                <a:latin typeface="Arial" pitchFamily="34" charset="0"/>
                <a:ea typeface="맑은 고딕" pitchFamily="50" charset="-127"/>
                <a:cs typeface="Arial" pitchFamily="34" charset="0"/>
              </a:rPr>
              <a:t>16</a:t>
            </a:r>
          </a:p>
        </p:txBody>
      </p:sp>
      <p:sp>
        <p:nvSpPr>
          <p:cNvPr id="45068" name="Rectangle 44"/>
          <p:cNvSpPr>
            <a:spLocks noChangeArrowheads="1"/>
          </p:cNvSpPr>
          <p:nvPr/>
        </p:nvSpPr>
        <p:spPr bwMode="auto">
          <a:xfrm>
            <a:off x="5364163" y="4624486"/>
            <a:ext cx="1008062"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err="1">
                <a:latin typeface="Arial" pitchFamily="34" charset="0"/>
                <a:ea typeface="맑은 고딕" pitchFamily="50" charset="-127"/>
                <a:cs typeface="Arial" pitchFamily="34" charset="0"/>
              </a:rPr>
              <a:t>Giá</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trị</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lớn</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nhất</a:t>
            </a:r>
            <a:endParaRPr lang="ko-KR" altLang="en-US" sz="1000" b="1" dirty="0">
              <a:latin typeface="Arial" pitchFamily="34" charset="0"/>
              <a:ea typeface="맑은 고딕" pitchFamily="50" charset="-127"/>
              <a:cs typeface="Arial" pitchFamily="34" charset="0"/>
            </a:endParaRPr>
          </a:p>
        </p:txBody>
      </p:sp>
      <p:sp>
        <p:nvSpPr>
          <p:cNvPr id="45069" name="Rectangle 45"/>
          <p:cNvSpPr>
            <a:spLocks noChangeArrowheads="1"/>
          </p:cNvSpPr>
          <p:nvPr/>
        </p:nvSpPr>
        <p:spPr bwMode="auto">
          <a:xfrm>
            <a:off x="6372225" y="4624486"/>
            <a:ext cx="2016125" cy="288925"/>
          </a:xfrm>
          <a:prstGeom prst="rect">
            <a:avLst/>
          </a:prstGeom>
          <a:solidFill>
            <a:schemeClr val="bg1"/>
          </a:solidFill>
          <a:ln w="2857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b="1" dirty="0">
                <a:solidFill>
                  <a:schemeClr val="accent2"/>
                </a:solidFill>
                <a:latin typeface="Arial" pitchFamily="34" charset="0"/>
                <a:ea typeface="맑은 고딕" pitchFamily="50" charset="-127"/>
                <a:cs typeface="Arial" pitchFamily="34" charset="0"/>
              </a:rPr>
              <a:t>29</a:t>
            </a:r>
          </a:p>
        </p:txBody>
      </p:sp>
      <p:sp>
        <p:nvSpPr>
          <p:cNvPr id="45070" name="Line 46"/>
          <p:cNvSpPr>
            <a:spLocks noChangeShapeType="1"/>
          </p:cNvSpPr>
          <p:nvPr/>
        </p:nvSpPr>
        <p:spPr bwMode="auto">
          <a:xfrm>
            <a:off x="7380288" y="6210398"/>
            <a:ext cx="0" cy="1428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sz="1000" dirty="0">
              <a:latin typeface="Arial" pitchFamily="34" charset="0"/>
              <a:cs typeface="Arial" pitchFamily="34" charset="0"/>
            </a:endParaRPr>
          </a:p>
        </p:txBody>
      </p:sp>
      <p:sp>
        <p:nvSpPr>
          <p:cNvPr id="45071" name="Line 47"/>
          <p:cNvSpPr>
            <a:spLocks noChangeShapeType="1"/>
          </p:cNvSpPr>
          <p:nvPr/>
        </p:nvSpPr>
        <p:spPr bwMode="auto">
          <a:xfrm>
            <a:off x="7380288" y="4913411"/>
            <a:ext cx="0" cy="1428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sz="1000" dirty="0">
              <a:latin typeface="Arial" pitchFamily="34" charset="0"/>
              <a:cs typeface="Arial" pitchFamily="34" charset="0"/>
            </a:endParaRPr>
          </a:p>
        </p:txBody>
      </p:sp>
      <p:sp>
        <p:nvSpPr>
          <p:cNvPr id="45072" name="Line 48"/>
          <p:cNvSpPr>
            <a:spLocks noChangeShapeType="1"/>
          </p:cNvSpPr>
          <p:nvPr/>
        </p:nvSpPr>
        <p:spPr bwMode="auto">
          <a:xfrm>
            <a:off x="7380288" y="5346798"/>
            <a:ext cx="0" cy="1428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sz="1000" dirty="0">
              <a:latin typeface="Arial" pitchFamily="34" charset="0"/>
              <a:cs typeface="Arial" pitchFamily="34" charset="0"/>
            </a:endParaRPr>
          </a:p>
        </p:txBody>
      </p:sp>
      <p:sp>
        <p:nvSpPr>
          <p:cNvPr id="45073" name="Line 49"/>
          <p:cNvSpPr>
            <a:spLocks noChangeShapeType="1"/>
          </p:cNvSpPr>
          <p:nvPr/>
        </p:nvSpPr>
        <p:spPr bwMode="auto">
          <a:xfrm>
            <a:off x="7380288" y="5778598"/>
            <a:ext cx="0" cy="1428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sz="1000" dirty="0">
              <a:latin typeface="Arial" pitchFamily="34" charset="0"/>
              <a:cs typeface="Arial" pitchFamily="34" charset="0"/>
            </a:endParaRPr>
          </a:p>
        </p:txBody>
      </p:sp>
      <p:sp>
        <p:nvSpPr>
          <p:cNvPr id="2" name="슬라이드 번호 개체 틀 1"/>
          <p:cNvSpPr>
            <a:spLocks noGrp="1"/>
          </p:cNvSpPr>
          <p:nvPr>
            <p:ph type="sldNum" sz="quarter" idx="10"/>
          </p:nvPr>
        </p:nvSpPr>
        <p:spPr>
          <a:xfrm>
            <a:off x="9166225" y="6448251"/>
            <a:ext cx="654050" cy="365125"/>
          </a:xfrm>
        </p:spPr>
        <p:txBody>
          <a:bodyPr/>
          <a:lstStyle/>
          <a:p>
            <a:pPr>
              <a:defRPr/>
            </a:pPr>
            <a:fld id="{336E293E-7793-468B-AB4C-49C46432963A}" type="slidenum">
              <a:rPr lang="ko-KR" altLang="en-US" smtClean="0">
                <a:latin typeface="Arial" pitchFamily="34" charset="0"/>
                <a:cs typeface="Arial" pitchFamily="34" charset="0"/>
              </a:rPr>
              <a:pPr>
                <a:defRPr/>
              </a:pPr>
              <a:t>49</a:t>
            </a:fld>
            <a:endParaRPr lang="ko-KR" altLang="en-US" dirty="0">
              <a:latin typeface="Arial" pitchFamily="34" charset="0"/>
              <a:cs typeface="Arial" pitchFamily="34" charset="0"/>
            </a:endParaRPr>
          </a:p>
        </p:txBody>
      </p:sp>
      <p:sp>
        <p:nvSpPr>
          <p:cNvPr id="20"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pic>
        <p:nvPicPr>
          <p:cNvPr id="3" name="Picture 2"/>
          <p:cNvPicPr>
            <a:picLocks noChangeAspect="1"/>
          </p:cNvPicPr>
          <p:nvPr/>
        </p:nvPicPr>
        <p:blipFill rotWithShape="1">
          <a:blip r:embed="rId3" cstate="print">
            <a:extLst>
              <a:ext uri="{28A0092B-C50C-407E-A947-70E740481C1C}">
                <a14:useLocalDpi xmlns:a14="http://schemas.microsoft.com/office/drawing/2010/main"/>
              </a:ext>
            </a:extLst>
          </a:blip>
          <a:srcRect/>
          <a:stretch/>
        </p:blipFill>
        <p:spPr>
          <a:xfrm>
            <a:off x="1403905" y="5018129"/>
            <a:ext cx="3339263" cy="1703705"/>
          </a:xfrm>
          <a:prstGeom prst="rect">
            <a:avLst/>
          </a:prstGeom>
        </p:spPr>
      </p:pic>
      <p:pic>
        <p:nvPicPr>
          <p:cNvPr id="4" name="Picture 3"/>
          <p:cNvPicPr>
            <a:picLocks noChangeAspect="1"/>
          </p:cNvPicPr>
          <p:nvPr/>
        </p:nvPicPr>
        <p:blipFill>
          <a:blip r:embed="rId4"/>
          <a:stretch>
            <a:fillRect/>
          </a:stretch>
        </p:blipFill>
        <p:spPr>
          <a:xfrm>
            <a:off x="8409384" y="4768946"/>
            <a:ext cx="1564267" cy="1324349"/>
          </a:xfrm>
          <a:prstGeom prst="rect">
            <a:avLst/>
          </a:prstGeom>
        </p:spPr>
      </p:pic>
      <p:sp>
        <p:nvSpPr>
          <p:cNvPr id="5" name="Rectangle 4"/>
          <p:cNvSpPr/>
          <p:nvPr/>
        </p:nvSpPr>
        <p:spPr>
          <a:xfrm>
            <a:off x="8406048" y="4444301"/>
            <a:ext cx="1520354" cy="400110"/>
          </a:xfrm>
          <a:prstGeom prst="rect">
            <a:avLst/>
          </a:prstGeom>
        </p:spPr>
        <p:txBody>
          <a:bodyPr wrap="square">
            <a:spAutoFit/>
          </a:bodyPr>
          <a:lstStyle/>
          <a:p>
            <a:r>
              <a:rPr lang="en-US" sz="1000" b="1" dirty="0">
                <a:solidFill>
                  <a:srgbClr val="00B050"/>
                </a:solidFill>
                <a:latin typeface="Arial" panose="020B0604020202020204" pitchFamily="34" charset="0"/>
                <a:cs typeface="Arial" panose="020B0604020202020204" pitchFamily="34" charset="0"/>
              </a:rPr>
              <a:t>Q1 = 25 * (n+1) / 100</a:t>
            </a:r>
          </a:p>
          <a:p>
            <a:r>
              <a:rPr lang="en-US" sz="1000" b="1" dirty="0">
                <a:solidFill>
                  <a:srgbClr val="00B050"/>
                </a:solidFill>
                <a:latin typeface="Arial" panose="020B0604020202020204" pitchFamily="34" charset="0"/>
                <a:cs typeface="Arial" panose="020B0604020202020204" pitchFamily="34" charset="0"/>
              </a:rPr>
              <a:t>Q3 = 75 * (n+1) / 100</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3"/>
          <p:cNvSpPr>
            <a:spLocks noChangeArrowheads="1"/>
          </p:cNvSpPr>
          <p:nvPr/>
        </p:nvSpPr>
        <p:spPr bwMode="auto">
          <a:xfrm>
            <a:off x="706439" y="836712"/>
            <a:ext cx="8961470" cy="205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400" b="1" dirty="0">
                <a:latin typeface="Arial" pitchFamily="34" charset="0"/>
                <a:ea typeface="맑은 고딕" pitchFamily="50" charset="-127"/>
                <a:cs typeface="Arial" pitchFamily="34" charset="0"/>
              </a:rPr>
              <a:t>4) </a:t>
            </a:r>
            <a:r>
              <a:rPr lang="en-US" altLang="ko-KR" sz="1400" b="1" dirty="0" err="1">
                <a:latin typeface="Arial" pitchFamily="34" charset="0"/>
                <a:ea typeface="맑은 고딕" pitchFamily="50" charset="-127"/>
                <a:cs typeface="Arial" pitchFamily="34" charset="0"/>
              </a:rPr>
              <a:t>Hệ</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số</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biến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thiên</a:t>
            </a:r>
            <a:r>
              <a:rPr lang="en-US" altLang="ko-KR" sz="1400" b="1" dirty="0">
                <a:latin typeface="Arial" pitchFamily="34" charset="0"/>
                <a:ea typeface="맑은 고딕" pitchFamily="50" charset="-127"/>
                <a:cs typeface="Arial" pitchFamily="34" charset="0"/>
              </a:rPr>
              <a:t>/</a:t>
            </a:r>
            <a:r>
              <a:rPr lang="en-US" altLang="ko-KR" sz="1400" b="1" dirty="0">
                <a:solidFill>
                  <a:srgbClr val="000000"/>
                </a:solidFill>
                <a:latin typeface="Arial" pitchFamily="34" charset="0"/>
                <a:ea typeface="맑은 고딕" pitchFamily="50" charset="-127"/>
                <a:cs typeface="Arial" pitchFamily="34" charset="0"/>
              </a:rPr>
              <a:t>Coefficient of Variation</a:t>
            </a:r>
          </a:p>
          <a:p>
            <a:pPr latinLnBrk="0">
              <a:lnSpc>
                <a:spcPct val="130000"/>
              </a:lnSpc>
              <a:buFont typeface="Wingdings" pitchFamily="2" charset="2"/>
              <a:buNone/>
            </a:pPr>
            <a:endParaRPr lang="en-US" altLang="ko-KR" sz="1400" b="1" dirty="0">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solidFill>
                  <a:srgbClr val="000000"/>
                </a:solidFill>
                <a:latin typeface="Arial" pitchFamily="34" charset="0"/>
                <a:ea typeface="맑은 고딕" pitchFamily="50" charset="-127"/>
                <a:cs typeface="Arial" pitchFamily="34" charset="0"/>
              </a:rPr>
              <a:t>- Khi so sánh hai độ lệch chuẩn khác nhau, so sánh có thể là vô nghĩa nếu hai mẫu mà từ đó độ lệch chuẩn được tính toán khác nhau (tức là không có sự khác biệt </a:t>
            </a:r>
            <a:r>
              <a:rPr lang="en-US" altLang="ko-KR" sz="1400" b="1" dirty="0" err="1">
                <a:solidFill>
                  <a:srgbClr val="000000"/>
                </a:solidFill>
                <a:latin typeface="Arial" pitchFamily="34" charset="0"/>
                <a:ea typeface="맑은 고딕" pitchFamily="50" charset="-127"/>
                <a:cs typeface="Arial" pitchFamily="34" charset="0"/>
              </a:rPr>
              <a:t>nào</a:t>
            </a: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solidFill>
                  <a:srgbClr val="000000"/>
                </a:solidFill>
                <a:latin typeface="Arial" pitchFamily="34" charset="0"/>
                <a:ea typeface="맑은 고딕" pitchFamily="50" charset="-127"/>
                <a:cs typeface="Arial" pitchFamily="34" charset="0"/>
              </a:rPr>
              <a:t>giữa </a:t>
            </a:r>
            <a:r>
              <a:rPr lang="en-US" altLang="ko-KR" sz="1400" b="1" dirty="0" err="1">
                <a:solidFill>
                  <a:srgbClr val="000000"/>
                </a:solidFill>
                <a:latin typeface="Arial" pitchFamily="34" charset="0"/>
                <a:ea typeface="맑은 고딕" pitchFamily="50" charset="-127"/>
                <a:cs typeface="Arial" pitchFamily="34" charset="0"/>
              </a:rPr>
              <a:t>giá</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trị</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trung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bình</a:t>
            </a: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solidFill>
                  <a:srgbClr val="000000"/>
                </a:solidFill>
                <a:latin typeface="Arial" pitchFamily="34" charset="0"/>
                <a:ea typeface="맑은 고딕" pitchFamily="50" charset="-127"/>
                <a:cs typeface="Arial" pitchFamily="34" charset="0"/>
              </a:rPr>
              <a:t>hoặc các thang đo khác nhau).</a:t>
            </a:r>
            <a:r>
              <a:rPr lang="en-US" altLang="ko-KR" sz="1400" b="1" dirty="0">
                <a:solidFill>
                  <a:srgbClr val="000000"/>
                </a:solidFill>
                <a:latin typeface="Arial" pitchFamily="34" charset="0"/>
                <a:ea typeface="맑은 고딕" pitchFamily="50" charset="-127"/>
                <a:cs typeface="Arial" pitchFamily="34" charset="0"/>
              </a:rPr>
              <a:t> 	</a:t>
            </a:r>
            <a:br>
              <a:rPr lang="vi-VN" altLang="ko-KR" sz="1400" b="1" dirty="0">
                <a:solidFill>
                  <a:srgbClr val="000000"/>
                </a:solidFill>
                <a:latin typeface="Arial" pitchFamily="34" charset="0"/>
                <a:ea typeface="맑은 고딕" pitchFamily="50" charset="-127"/>
                <a:cs typeface="Arial" pitchFamily="34" charset="0"/>
              </a:rPr>
            </a:br>
            <a:r>
              <a:rPr lang="vi-VN" altLang="ko-KR" sz="1400" b="1" dirty="0">
                <a:solidFill>
                  <a:srgbClr val="000000"/>
                </a:solidFill>
                <a:latin typeface="Arial" pitchFamily="34" charset="0"/>
                <a:ea typeface="맑은 고딕" pitchFamily="50" charset="-127"/>
                <a:cs typeface="Arial" pitchFamily="34" charset="0"/>
              </a:rPr>
              <a:t>    - Trong những trường hợp này, các Hệ số biến </a:t>
            </a:r>
            <a:r>
              <a:rPr lang="en-US" altLang="ko-KR" sz="1400" b="1" dirty="0" err="1">
                <a:solidFill>
                  <a:srgbClr val="000000"/>
                </a:solidFill>
                <a:latin typeface="Arial" pitchFamily="34" charset="0"/>
                <a:ea typeface="맑은 고딕" pitchFamily="50" charset="-127"/>
                <a:cs typeface="Arial" pitchFamily="34" charset="0"/>
              </a:rPr>
              <a:t>thiên</a:t>
            </a:r>
            <a:r>
              <a:rPr lang="vi-VN" altLang="ko-KR" sz="1400" b="1" dirty="0">
                <a:solidFill>
                  <a:srgbClr val="000000"/>
                </a:solidFill>
                <a:latin typeface="Arial" pitchFamily="34" charset="0"/>
                <a:ea typeface="맑은 고딕" pitchFamily="50" charset="-127"/>
                <a:cs typeface="Arial" pitchFamily="34" charset="0"/>
              </a:rPr>
              <a:t> có thể được sử dụng </a:t>
            </a:r>
            <a:r>
              <a:rPr lang="en-US" altLang="ko-KR" sz="1400" b="1" dirty="0" err="1">
                <a:solidFill>
                  <a:srgbClr val="000000"/>
                </a:solidFill>
                <a:latin typeface="Arial" pitchFamily="34" charset="0"/>
                <a:ea typeface="맑은 고딕" pitchFamily="50" charset="-127"/>
                <a:cs typeface="Arial" pitchFamily="34" charset="0"/>
              </a:rPr>
              <a:t>để</a:t>
            </a:r>
            <a:r>
              <a:rPr lang="vi-VN" altLang="ko-KR" sz="1400" b="1" dirty="0">
                <a:solidFill>
                  <a:srgbClr val="000000"/>
                </a:solidFill>
                <a:latin typeface="Arial" pitchFamily="34" charset="0"/>
                <a:ea typeface="맑은 고딕" pitchFamily="50" charset="-127"/>
                <a:cs typeface="Arial" pitchFamily="34" charset="0"/>
              </a:rPr>
              <a:t> tiêu chuẩn hóa tất cả các độ lệch chuẩn bằng cách chia độ lệch chuẩn </a:t>
            </a:r>
            <a:r>
              <a:rPr lang="en-US" altLang="ko-KR" sz="1400" b="1" dirty="0" err="1">
                <a:solidFill>
                  <a:srgbClr val="000000"/>
                </a:solidFill>
                <a:latin typeface="Arial" pitchFamily="34" charset="0"/>
                <a:ea typeface="맑은 고딕" pitchFamily="50" charset="-127"/>
                <a:cs typeface="Arial" pitchFamily="34" charset="0"/>
              </a:rPr>
              <a:t>cho</a:t>
            </a:r>
            <a:r>
              <a:rPr lang="vi-VN" altLang="ko-KR" sz="1400" b="1" dirty="0">
                <a:solidFill>
                  <a:srgbClr val="000000"/>
                </a:solidFill>
                <a:latin typeface="Arial" pitchFamily="34" charset="0"/>
                <a:ea typeface="맑은 고딕" pitchFamily="50" charset="-127"/>
                <a:cs typeface="Arial" pitchFamily="34" charset="0"/>
              </a:rPr>
              <a:t> giá trị trung bình.</a:t>
            </a:r>
            <a:endParaRPr lang="en-US" altLang="ko-KR" sz="1400" b="1" dirty="0">
              <a:solidFill>
                <a:srgbClr val="000000"/>
              </a:solidFill>
              <a:latin typeface="Arial" pitchFamily="34" charset="0"/>
              <a:ea typeface="맑은 고딕" pitchFamily="50" charset="-127"/>
              <a:cs typeface="Arial" pitchFamily="34" charset="0"/>
            </a:endParaRPr>
          </a:p>
        </p:txBody>
      </p:sp>
      <p:sp>
        <p:nvSpPr>
          <p:cNvPr id="46083" name="Text Box 23"/>
          <p:cNvSpPr txBox="1">
            <a:spLocks noChangeArrowheads="1"/>
          </p:cNvSpPr>
          <p:nvPr/>
        </p:nvSpPr>
        <p:spPr bwMode="auto">
          <a:xfrm>
            <a:off x="992560" y="2972336"/>
            <a:ext cx="34900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latin typeface="Arial" pitchFamily="34" charset="0"/>
                <a:ea typeface="바탕체" pitchFamily="17" charset="-127"/>
                <a:cs typeface="Arial" pitchFamily="34" charset="0"/>
              </a:rPr>
              <a:t>Hệ</a:t>
            </a:r>
            <a:r>
              <a:rPr lang="en-US" altLang="ko-KR" sz="1400" b="1" dirty="0">
                <a:latin typeface="Arial" pitchFamily="34" charset="0"/>
                <a:ea typeface="바탕체" pitchFamily="17" charset="-127"/>
                <a:cs typeface="Arial" pitchFamily="34" charset="0"/>
              </a:rPr>
              <a:t> </a:t>
            </a:r>
            <a:r>
              <a:rPr lang="en-US" altLang="ko-KR" sz="1400" b="1" dirty="0" err="1">
                <a:latin typeface="Arial" pitchFamily="34" charset="0"/>
                <a:ea typeface="바탕체" pitchFamily="17" charset="-127"/>
                <a:cs typeface="Arial" pitchFamily="34" charset="0"/>
              </a:rPr>
              <a:t>số</a:t>
            </a:r>
            <a:r>
              <a:rPr lang="en-US" altLang="ko-KR" sz="1400" b="1" dirty="0">
                <a:latin typeface="Arial" pitchFamily="34" charset="0"/>
                <a:ea typeface="바탕체" pitchFamily="17" charset="-127"/>
                <a:cs typeface="Arial" pitchFamily="34" charset="0"/>
              </a:rPr>
              <a:t> </a:t>
            </a:r>
            <a:r>
              <a:rPr lang="en-US" altLang="ko-KR" sz="1400" b="1" dirty="0" err="1">
                <a:latin typeface="Arial" pitchFamily="34" charset="0"/>
                <a:ea typeface="바탕체" pitchFamily="17" charset="-127"/>
                <a:cs typeface="Arial" pitchFamily="34" charset="0"/>
              </a:rPr>
              <a:t>biến</a:t>
            </a:r>
            <a:r>
              <a:rPr lang="en-US" altLang="ko-KR" sz="1400" b="1" dirty="0">
                <a:latin typeface="Arial" pitchFamily="34" charset="0"/>
                <a:ea typeface="바탕체" pitchFamily="17" charset="-127"/>
                <a:cs typeface="Arial" pitchFamily="34" charset="0"/>
              </a:rPr>
              <a:t> </a:t>
            </a:r>
            <a:r>
              <a:rPr lang="en-US" altLang="ko-KR" sz="1400" b="1" dirty="0" err="1">
                <a:latin typeface="Arial" pitchFamily="34" charset="0"/>
                <a:ea typeface="바탕체" pitchFamily="17" charset="-127"/>
                <a:cs typeface="Arial" pitchFamily="34" charset="0"/>
              </a:rPr>
              <a:t>thiên</a:t>
            </a:r>
            <a:r>
              <a:rPr lang="en-US" altLang="ko-KR" sz="1400" b="1" dirty="0">
                <a:latin typeface="Arial" pitchFamily="34" charset="0"/>
                <a:ea typeface="바탕체" pitchFamily="17" charset="-127"/>
                <a:cs typeface="Arial" pitchFamily="34" charset="0"/>
              </a:rPr>
              <a:t>, CV  =             x 100(%)</a:t>
            </a:r>
          </a:p>
        </p:txBody>
      </p:sp>
      <p:sp>
        <p:nvSpPr>
          <p:cNvPr id="46084" name="Line 24"/>
          <p:cNvSpPr>
            <a:spLocks noChangeShapeType="1"/>
          </p:cNvSpPr>
          <p:nvPr/>
        </p:nvSpPr>
        <p:spPr bwMode="auto">
          <a:xfrm>
            <a:off x="3052018" y="3140670"/>
            <a:ext cx="5032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6085" name="Text Box 25"/>
          <p:cNvSpPr txBox="1">
            <a:spLocks noChangeArrowheads="1"/>
          </p:cNvSpPr>
          <p:nvPr/>
        </p:nvSpPr>
        <p:spPr bwMode="auto">
          <a:xfrm>
            <a:off x="3153596" y="2780928"/>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cs typeface="Arial" pitchFamily="34" charset="0"/>
              </a:rPr>
              <a:t>s</a:t>
            </a:r>
          </a:p>
        </p:txBody>
      </p:sp>
      <p:sp>
        <p:nvSpPr>
          <p:cNvPr id="46086" name="Text Box 27"/>
          <p:cNvSpPr txBox="1">
            <a:spLocks noChangeArrowheads="1"/>
          </p:cNvSpPr>
          <p:nvPr/>
        </p:nvSpPr>
        <p:spPr bwMode="auto">
          <a:xfrm>
            <a:off x="3144779" y="3068960"/>
            <a:ext cx="317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MS Mincho" pitchFamily="49" charset="-128"/>
                <a:cs typeface="Arial" pitchFamily="34" charset="0"/>
              </a:rPr>
              <a:t>χ</a:t>
            </a:r>
          </a:p>
        </p:txBody>
      </p:sp>
      <p:sp>
        <p:nvSpPr>
          <p:cNvPr id="46087" name="Line 28"/>
          <p:cNvSpPr>
            <a:spLocks noChangeShapeType="1"/>
          </p:cNvSpPr>
          <p:nvPr/>
        </p:nvSpPr>
        <p:spPr bwMode="auto">
          <a:xfrm>
            <a:off x="3232385" y="3174987"/>
            <a:ext cx="14446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46089" name="AutoShape 30"/>
          <p:cNvSpPr>
            <a:spLocks noChangeArrowheads="1"/>
          </p:cNvSpPr>
          <p:nvPr/>
        </p:nvSpPr>
        <p:spPr bwMode="auto">
          <a:xfrm>
            <a:off x="1144588" y="3644032"/>
            <a:ext cx="7481887" cy="2881312"/>
          </a:xfrm>
          <a:prstGeom prst="roundRect">
            <a:avLst>
              <a:gd name="adj" fmla="val 4162"/>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sp>
        <p:nvSpPr>
          <p:cNvPr id="46090" name="Rectangle 31"/>
          <p:cNvSpPr>
            <a:spLocks noChangeArrowheads="1"/>
          </p:cNvSpPr>
          <p:nvPr/>
        </p:nvSpPr>
        <p:spPr bwMode="auto">
          <a:xfrm>
            <a:off x="1568624" y="3592673"/>
            <a:ext cx="6478289" cy="276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2690" tIns="61346" rIns="122690" bIns="61346">
            <a:spAutoFit/>
          </a:bodyPr>
          <a:lstStyle>
            <a:lvl1pPr defTabSz="1016000" eaLnBrk="0" hangingPunct="0">
              <a:defRPr kumimoji="1">
                <a:solidFill>
                  <a:schemeClr val="tx1"/>
                </a:solidFill>
                <a:latin typeface="굴림" pitchFamily="50" charset="-127"/>
                <a:ea typeface="굴림" pitchFamily="50" charset="-127"/>
              </a:defRPr>
            </a:lvl1pPr>
            <a:lvl2pPr marL="742950" indent="-285750" defTabSz="1016000" eaLnBrk="0" hangingPunct="0">
              <a:defRPr kumimoji="1">
                <a:solidFill>
                  <a:schemeClr val="tx1"/>
                </a:solidFill>
                <a:latin typeface="굴림" pitchFamily="50" charset="-127"/>
                <a:ea typeface="굴림" pitchFamily="50" charset="-127"/>
              </a:defRPr>
            </a:lvl2pPr>
            <a:lvl3pPr marL="1143000" indent="-228600" defTabSz="1016000" eaLnBrk="0" hangingPunct="0">
              <a:defRPr kumimoji="1">
                <a:solidFill>
                  <a:schemeClr val="tx1"/>
                </a:solidFill>
                <a:latin typeface="굴림" pitchFamily="50" charset="-127"/>
                <a:ea typeface="굴림" pitchFamily="50" charset="-127"/>
              </a:defRPr>
            </a:lvl3pPr>
            <a:lvl4pPr marL="1600200" indent="-228600" defTabSz="1016000" eaLnBrk="0" hangingPunct="0">
              <a:defRPr kumimoji="1">
                <a:solidFill>
                  <a:schemeClr val="tx1"/>
                </a:solidFill>
                <a:latin typeface="굴림" pitchFamily="50" charset="-127"/>
                <a:ea typeface="굴림" pitchFamily="50" charset="-127"/>
              </a:defRPr>
            </a:lvl4pPr>
            <a:lvl5pPr marL="2057400" indent="-228600" defTabSz="1016000" eaLnBrk="0" hangingPunct="0">
              <a:defRPr kumimoji="1">
                <a:solidFill>
                  <a:schemeClr val="tx1"/>
                </a:solidFill>
                <a:latin typeface="굴림" pitchFamily="50" charset="-127"/>
                <a:ea typeface="굴림" pitchFamily="50" charset="-127"/>
              </a:defRPr>
            </a:lvl5pPr>
            <a:lvl6pPr marL="2514600" indent="-228600" defTabSz="1016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016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016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016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vi-VN" altLang="ko-KR" sz="1200" b="1" dirty="0">
                <a:solidFill>
                  <a:srgbClr val="000000"/>
                </a:solidFill>
                <a:latin typeface="Arial" pitchFamily="34" charset="0"/>
                <a:ea typeface="맑은 고딕" pitchFamily="50" charset="-127"/>
                <a:cs typeface="Arial" pitchFamily="34" charset="0"/>
              </a:rPr>
              <a:t>Ví dụ, hãy tưởng tượng rằng bộ dữ liệu A với đơn vị đo lường </a:t>
            </a:r>
            <a:r>
              <a:rPr lang="en-US" altLang="ko-KR" sz="1200" b="1" dirty="0" err="1">
                <a:solidFill>
                  <a:srgbClr val="000000"/>
                </a:solidFill>
                <a:latin typeface="Arial" pitchFamily="34" charset="0"/>
                <a:ea typeface="맑은 고딕" pitchFamily="50" charset="-127"/>
                <a:cs typeface="Arial" pitchFamily="34" charset="0"/>
              </a:rPr>
              <a:t>là</a:t>
            </a:r>
            <a:r>
              <a:rPr lang="en-US" altLang="ko-KR" sz="1200" b="1" dirty="0">
                <a:solidFill>
                  <a:srgbClr val="000000"/>
                </a:solidFill>
                <a:latin typeface="Arial" pitchFamily="34" charset="0"/>
                <a:ea typeface="맑은 고딕" pitchFamily="50" charset="-127"/>
                <a:cs typeface="Arial" pitchFamily="34" charset="0"/>
              </a:rPr>
              <a:t> gam </a:t>
            </a:r>
            <a:r>
              <a:rPr lang="en-US" altLang="ko-KR" sz="1200" b="1" dirty="0" err="1">
                <a:solidFill>
                  <a:srgbClr val="000000"/>
                </a:solidFill>
                <a:latin typeface="Arial" pitchFamily="34" charset="0"/>
                <a:ea typeface="맑은 고딕" pitchFamily="50" charset="-127"/>
                <a:cs typeface="Arial" pitchFamily="34" charset="0"/>
              </a:rPr>
              <a:t>khi</a:t>
            </a:r>
            <a:r>
              <a:rPr lang="en-US" altLang="ko-KR" sz="1200" b="1" dirty="0">
                <a:solidFill>
                  <a:srgbClr val="000000"/>
                </a:solidFill>
                <a:latin typeface="Arial" pitchFamily="34" charset="0"/>
                <a:ea typeface="맑은 고딕" pitchFamily="50" charset="-127"/>
                <a:cs typeface="Arial" pitchFamily="34" charset="0"/>
              </a:rPr>
              <a:t> so </a:t>
            </a:r>
            <a:r>
              <a:rPr lang="en-US" altLang="ko-KR" sz="1200" b="1" dirty="0" err="1">
                <a:solidFill>
                  <a:srgbClr val="000000"/>
                </a:solidFill>
                <a:latin typeface="Arial" pitchFamily="34" charset="0"/>
                <a:ea typeface="맑은 고딕" pitchFamily="50" charset="-127"/>
                <a:cs typeface="Arial" pitchFamily="34" charset="0"/>
              </a:rPr>
              <a:t>sánh</a:t>
            </a:r>
            <a:r>
              <a:rPr lang="en-US" altLang="ko-KR" sz="1200" b="1" dirty="0">
                <a:solidFill>
                  <a:srgbClr val="000000"/>
                </a:solidFill>
                <a:latin typeface="Arial" pitchFamily="34" charset="0"/>
                <a:ea typeface="맑은 고딕" pitchFamily="50" charset="-127"/>
                <a:cs typeface="Arial" pitchFamily="34" charset="0"/>
              </a:rPr>
              <a:t> </a:t>
            </a:r>
            <a:r>
              <a:rPr lang="vi-VN" altLang="ko-KR" sz="1200" b="1" dirty="0">
                <a:solidFill>
                  <a:srgbClr val="000000"/>
                </a:solidFill>
                <a:latin typeface="Arial" pitchFamily="34" charset="0"/>
                <a:ea typeface="맑은 고딕" pitchFamily="50" charset="-127"/>
                <a:cs typeface="Arial" pitchFamily="34" charset="0"/>
              </a:rPr>
              <a:t>với bộ dữ liệu B </a:t>
            </a:r>
            <a:r>
              <a:rPr lang="en-US" altLang="ko-KR" sz="1200" b="1" dirty="0" err="1">
                <a:solidFill>
                  <a:srgbClr val="000000"/>
                </a:solidFill>
                <a:latin typeface="Arial" pitchFamily="34" charset="0"/>
                <a:ea typeface="맑은 고딕" pitchFamily="50" charset="-127"/>
                <a:cs typeface="Arial" pitchFamily="34" charset="0"/>
              </a:rPr>
              <a:t>với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đơn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vị</a:t>
            </a:r>
            <a:r>
              <a:rPr lang="en-US" altLang="ko-KR" sz="1200" b="1" dirty="0">
                <a:solidFill>
                  <a:srgbClr val="000000"/>
                </a:solidFill>
                <a:latin typeface="Arial" pitchFamily="34" charset="0"/>
                <a:ea typeface="맑은 고딕" pitchFamily="50" charset="-127"/>
                <a:cs typeface="Arial" pitchFamily="34" charset="0"/>
              </a:rPr>
              <a:t> </a:t>
            </a:r>
            <a:r>
              <a:rPr lang="vi-VN" altLang="ko-KR" sz="1200" b="1" dirty="0">
                <a:solidFill>
                  <a:srgbClr val="000000"/>
                </a:solidFill>
                <a:latin typeface="Arial" pitchFamily="34" charset="0"/>
                <a:ea typeface="맑은 고딕" pitchFamily="50" charset="-127"/>
                <a:cs typeface="Arial" pitchFamily="34" charset="0"/>
              </a:rPr>
              <a:t>là cm. </a:t>
            </a:r>
            <a:r>
              <a:rPr lang="en-US" altLang="ko-KR" sz="1200" b="1" dirty="0">
                <a:solidFill>
                  <a:srgbClr val="000000"/>
                </a:solidFill>
                <a:latin typeface="Arial" pitchFamily="34" charset="0"/>
                <a:ea typeface="맑은 고딕" pitchFamily="50" charset="-127"/>
                <a:cs typeface="Arial" pitchFamily="34" charset="0"/>
              </a:rPr>
              <a:t>T</a:t>
            </a:r>
            <a:r>
              <a:rPr lang="vi-VN" altLang="ko-KR" sz="1200" b="1" dirty="0">
                <a:solidFill>
                  <a:srgbClr val="000000"/>
                </a:solidFill>
                <a:latin typeface="Arial" pitchFamily="34" charset="0"/>
                <a:ea typeface="맑은 고딕" pitchFamily="50" charset="-127"/>
                <a:cs typeface="Arial" pitchFamily="34" charset="0"/>
              </a:rPr>
              <a:t>rung bình v</a:t>
            </a:r>
            <a:r>
              <a:rPr lang="en-US" altLang="ko-KR" sz="1200" b="1" dirty="0">
                <a:solidFill>
                  <a:srgbClr val="000000"/>
                </a:solidFill>
                <a:latin typeface="Arial" pitchFamily="34" charset="0"/>
                <a:ea typeface="맑은 고딕" pitchFamily="50" charset="-127"/>
                <a:cs typeface="Arial" pitchFamily="34" charset="0"/>
              </a:rPr>
              <a:t>à </a:t>
            </a:r>
            <a:r>
              <a:rPr lang="vi-VN" altLang="ko-KR" sz="1200" b="1" dirty="0">
                <a:solidFill>
                  <a:srgbClr val="000000"/>
                </a:solidFill>
                <a:latin typeface="Arial" pitchFamily="34" charset="0"/>
                <a:ea typeface="맑은 고딕" pitchFamily="50" charset="-127"/>
                <a:cs typeface="Arial" pitchFamily="34" charset="0"/>
              </a:rPr>
              <a:t>độ lệch chuẩn là:</a:t>
            </a:r>
            <a:r>
              <a:rPr lang="en-US" altLang="ko-KR" sz="1200" b="1" dirty="0">
                <a:solidFill>
                  <a:srgbClr val="000000"/>
                </a:solidFill>
                <a:latin typeface="Arial" pitchFamily="34" charset="0"/>
                <a:ea typeface="맑은 고딕" pitchFamily="50" charset="-127"/>
                <a:cs typeface="Arial" pitchFamily="34" charset="0"/>
              </a:rPr>
              <a:t>                             </a:t>
            </a:r>
          </a:p>
          <a:p>
            <a:pPr eaLnBrk="1" hangingPunct="1">
              <a:lnSpc>
                <a:spcPct val="130000"/>
              </a:lnSpc>
            </a:pP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Trung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bình</a:t>
            </a:r>
            <a:r>
              <a:rPr lang="ko-KR" altLang="en-US"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Độ</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lệch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chuẩn</a:t>
            </a:r>
            <a:endParaRPr lang="ko-KR" altLang="en-US" sz="12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ko-KR" altLang="en-US" sz="1200" b="1" dirty="0">
                <a:solidFill>
                  <a:srgbClr val="000000"/>
                </a:solidFill>
                <a:latin typeface="Arial" pitchFamily="34" charset="0"/>
                <a:ea typeface="맑은 고딕" pitchFamily="50" charset="-127"/>
                <a:cs typeface="Arial" pitchFamily="34" charset="0"/>
              </a:rPr>
              <a:t>                       </a:t>
            </a:r>
            <a:r>
              <a:rPr lang="en-US" altLang="ko-KR" sz="1200" b="1" dirty="0">
                <a:solidFill>
                  <a:srgbClr val="000000"/>
                </a:solidFill>
                <a:latin typeface="Arial" pitchFamily="34" charset="0"/>
                <a:ea typeface="맑은 고딕" pitchFamily="50" charset="-127"/>
                <a:cs typeface="Arial" pitchFamily="34" charset="0"/>
              </a:rPr>
              <a:t>A           200g                    5g</a:t>
            </a:r>
          </a:p>
          <a:p>
            <a:pPr eaLnBrk="1" hangingPunct="1">
              <a:lnSpc>
                <a:spcPct val="130000"/>
              </a:lnSpc>
            </a:pPr>
            <a:r>
              <a:rPr lang="en-US" altLang="ko-KR" sz="1200" b="1" dirty="0">
                <a:solidFill>
                  <a:srgbClr val="000000"/>
                </a:solidFill>
                <a:latin typeface="Arial" pitchFamily="34" charset="0"/>
                <a:ea typeface="맑은 고딕" pitchFamily="50" charset="-127"/>
                <a:cs typeface="Arial" pitchFamily="34" charset="0"/>
              </a:rPr>
              <a:t>                       B           50cm                   2cm</a:t>
            </a:r>
          </a:p>
          <a:p>
            <a:pPr eaLnBrk="1" hangingPunct="1">
              <a:lnSpc>
                <a:spcPct val="130000"/>
              </a:lnSpc>
            </a:pPr>
            <a:r>
              <a:rPr lang="vi-VN" altLang="ko-KR" sz="1200" b="1" dirty="0">
                <a:solidFill>
                  <a:srgbClr val="000000"/>
                </a:solidFill>
                <a:latin typeface="Arial" pitchFamily="34" charset="0"/>
                <a:ea typeface="맑은 고딕" pitchFamily="50" charset="-127"/>
                <a:cs typeface="Arial" pitchFamily="34" charset="0"/>
              </a:rPr>
              <a:t>Trong tình huống này, nó sẽ trở thành vô nghĩa </a:t>
            </a:r>
            <a:r>
              <a:rPr lang="en-US" altLang="ko-KR" sz="1200" b="1" dirty="0" err="1">
                <a:solidFill>
                  <a:srgbClr val="000000"/>
                </a:solidFill>
                <a:latin typeface="Arial" pitchFamily="34" charset="0"/>
                <a:ea typeface="맑은 고딕" pitchFamily="50" charset="-127"/>
                <a:cs typeface="Arial" pitchFamily="34" charset="0"/>
              </a:rPr>
              <a:t>khi</a:t>
            </a:r>
            <a:r>
              <a:rPr lang="vi-VN" altLang="ko-KR" sz="1200" b="1" dirty="0">
                <a:solidFill>
                  <a:srgbClr val="000000"/>
                </a:solidFill>
                <a:latin typeface="Arial" pitchFamily="34" charset="0"/>
                <a:ea typeface="맑은 고딕" pitchFamily="50" charset="-127"/>
                <a:cs typeface="Arial" pitchFamily="34" charset="0"/>
              </a:rPr>
              <a:t> so sánh hai độ lệch chuẩn.</a:t>
            </a:r>
            <a:br>
              <a:rPr lang="vi-VN" altLang="ko-KR" sz="1200" b="1" dirty="0">
                <a:solidFill>
                  <a:srgbClr val="000000"/>
                </a:solidFill>
                <a:latin typeface="Arial" pitchFamily="34" charset="0"/>
                <a:ea typeface="맑은 고딕" pitchFamily="50" charset="-127"/>
                <a:cs typeface="Arial" pitchFamily="34" charset="0"/>
              </a:rPr>
            </a:br>
            <a:r>
              <a:rPr lang="vi-VN" altLang="ko-KR" sz="1200" b="1" dirty="0">
                <a:solidFill>
                  <a:srgbClr val="000000"/>
                </a:solidFill>
                <a:latin typeface="Arial" pitchFamily="34" charset="0"/>
                <a:ea typeface="맑은 고딕" pitchFamily="50" charset="-127"/>
                <a:cs typeface="Arial" pitchFamily="34" charset="0"/>
              </a:rPr>
              <a:t>Nhưng nếu CV được áp dụng và tính toán,</a:t>
            </a:r>
            <a:endParaRPr lang="en-US" altLang="ko-KR" sz="12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ko-KR" altLang="en-US"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Hệ</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số</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biến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thiên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của</a:t>
            </a:r>
            <a:r>
              <a:rPr lang="en-US" altLang="ko-KR" sz="1200" b="1" dirty="0">
                <a:solidFill>
                  <a:srgbClr val="000000"/>
                </a:solidFill>
                <a:latin typeface="Arial" pitchFamily="34" charset="0"/>
                <a:ea typeface="맑은 고딕" pitchFamily="50" charset="-127"/>
                <a:cs typeface="Arial" pitchFamily="34" charset="0"/>
              </a:rPr>
              <a:t> A</a:t>
            </a:r>
            <a:r>
              <a:rPr lang="ko-KR" altLang="en-US" sz="1200" b="1" dirty="0">
                <a:solidFill>
                  <a:srgbClr val="000000"/>
                </a:solidFill>
                <a:latin typeface="Arial" pitchFamily="34" charset="0"/>
                <a:ea typeface="맑은 고딕" pitchFamily="50" charset="-127"/>
                <a:cs typeface="Arial" pitchFamily="34" charset="0"/>
              </a:rPr>
              <a:t> </a:t>
            </a:r>
            <a:r>
              <a:rPr lang="en-US" altLang="ko-KR" sz="1200" b="1" dirty="0">
                <a:solidFill>
                  <a:srgbClr val="000000"/>
                </a:solidFill>
                <a:latin typeface="Arial" pitchFamily="34" charset="0"/>
                <a:ea typeface="맑은 고딕" pitchFamily="50" charset="-127"/>
                <a:cs typeface="Arial" pitchFamily="34" charset="0"/>
              </a:rPr>
              <a:t>= (5/200)×100 = 2.5</a:t>
            </a:r>
          </a:p>
          <a:p>
            <a:pPr eaLnBrk="1" hangingPunct="1">
              <a:lnSpc>
                <a:spcPct val="130000"/>
              </a:lnSpc>
            </a:pP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Hệ</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số</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biến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thiên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của</a:t>
            </a:r>
            <a:r>
              <a:rPr lang="en-US" altLang="ko-KR" sz="1200" b="1" dirty="0">
                <a:solidFill>
                  <a:srgbClr val="000000"/>
                </a:solidFill>
                <a:latin typeface="Arial" pitchFamily="34" charset="0"/>
                <a:ea typeface="맑은 고딕" pitchFamily="50" charset="-127"/>
                <a:cs typeface="Arial" pitchFamily="34" charset="0"/>
              </a:rPr>
              <a:t> B</a:t>
            </a:r>
            <a:r>
              <a:rPr lang="ko-KR" altLang="en-US" sz="1200" b="1" dirty="0">
                <a:solidFill>
                  <a:srgbClr val="000000"/>
                </a:solidFill>
                <a:latin typeface="Arial" pitchFamily="34" charset="0"/>
                <a:ea typeface="맑은 고딕" pitchFamily="50" charset="-127"/>
                <a:cs typeface="Arial" pitchFamily="34" charset="0"/>
              </a:rPr>
              <a:t> </a:t>
            </a:r>
            <a:r>
              <a:rPr lang="en-US" altLang="ko-KR" sz="1200" b="1" dirty="0">
                <a:solidFill>
                  <a:srgbClr val="000000"/>
                </a:solidFill>
                <a:latin typeface="Arial" pitchFamily="34" charset="0"/>
                <a:ea typeface="맑은 고딕" pitchFamily="50" charset="-127"/>
                <a:cs typeface="Arial" pitchFamily="34" charset="0"/>
              </a:rPr>
              <a:t>= (2/ 50)×100 = 4   </a:t>
            </a:r>
          </a:p>
          <a:p>
            <a:pPr eaLnBrk="1" hangingPunct="1">
              <a:lnSpc>
                <a:spcPct val="130000"/>
              </a:lnSpc>
            </a:pPr>
            <a:r>
              <a:rPr lang="en-US" altLang="ko-KR" sz="1200" b="1" dirty="0" err="1">
                <a:solidFill>
                  <a:srgbClr val="000000"/>
                </a:solidFill>
                <a:latin typeface="Arial" pitchFamily="34" charset="0"/>
                <a:ea typeface="맑은 고딕" pitchFamily="50" charset="-127"/>
                <a:cs typeface="Arial" pitchFamily="34" charset="0"/>
              </a:rPr>
              <a:t>Khi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giá</a:t>
            </a:r>
            <a:r>
              <a:rPr lang="en-US" altLang="ko-KR" sz="1200" b="1" dirty="0">
                <a:solidFill>
                  <a:srgbClr val="000000"/>
                </a:solidFill>
                <a:latin typeface="Arial" pitchFamily="34" charset="0"/>
                <a:ea typeface="맑은 고딕" pitchFamily="50" charset="-127"/>
                <a:cs typeface="Arial" pitchFamily="34" charset="0"/>
              </a:rPr>
              <a:t> tri </a:t>
            </a:r>
            <a:r>
              <a:rPr lang="en-US" altLang="ko-KR" sz="1200" b="1" dirty="0" err="1">
                <a:solidFill>
                  <a:srgbClr val="000000"/>
                </a:solidFill>
                <a:latin typeface="Arial" pitchFamily="34" charset="0"/>
                <a:ea typeface="맑은 고딕" pitchFamily="50" charset="-127"/>
                <a:cs typeface="Arial" pitchFamily="34" charset="0"/>
              </a:rPr>
              <a:t>trung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bình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được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cân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nhắc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có</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thể</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kết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luận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rằng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độ</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lệch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trong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bộ</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dữ</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liệu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của</a:t>
            </a:r>
            <a:r>
              <a:rPr lang="en-US" altLang="ko-KR" sz="1200" b="1" dirty="0">
                <a:solidFill>
                  <a:srgbClr val="000000"/>
                </a:solidFill>
                <a:latin typeface="Arial" pitchFamily="34" charset="0"/>
                <a:ea typeface="맑은 고딕" pitchFamily="50" charset="-127"/>
                <a:cs typeface="Arial" pitchFamily="34" charset="0"/>
              </a:rPr>
              <a:t> B </a:t>
            </a:r>
            <a:r>
              <a:rPr lang="en-US" altLang="ko-KR" sz="1200" b="1" dirty="0" err="1">
                <a:solidFill>
                  <a:srgbClr val="000000"/>
                </a:solidFill>
                <a:latin typeface="Arial" pitchFamily="34" charset="0"/>
                <a:ea typeface="맑은 고딕" pitchFamily="50" charset="-127"/>
                <a:cs typeface="Arial" pitchFamily="34" charset="0"/>
              </a:rPr>
              <a:t>nhiều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hơn</a:t>
            </a:r>
            <a:endParaRPr lang="en-US" altLang="ko-KR" sz="12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a:xfrm>
            <a:off x="9166225" y="6448251"/>
            <a:ext cx="654050" cy="365125"/>
          </a:xfrm>
        </p:spPr>
        <p:txBody>
          <a:bodyPr/>
          <a:lstStyle/>
          <a:p>
            <a:pPr>
              <a:defRPr/>
            </a:pPr>
            <a:fld id="{336E293E-7793-468B-AB4C-49C46432963A}" type="slidenum">
              <a:rPr lang="ko-KR" altLang="en-US" smtClean="0">
                <a:latin typeface="Arial" pitchFamily="34" charset="0"/>
                <a:cs typeface="Arial" pitchFamily="34" charset="0"/>
              </a:rPr>
              <a:pPr>
                <a:defRPr/>
              </a:pPr>
              <a:t>50</a:t>
            </a:fld>
            <a:endParaRPr lang="ko-KR" altLang="en-US" dirty="0">
              <a:latin typeface="Arial" pitchFamily="34" charset="0"/>
              <a:cs typeface="Arial" pitchFamily="34" charset="0"/>
            </a:endParaRPr>
          </a:p>
        </p:txBody>
      </p:sp>
      <p:sp>
        <p:nvSpPr>
          <p:cNvPr id="12"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p:cNvSpPr>
            <a:spLocks noChangeArrowheads="1"/>
          </p:cNvSpPr>
          <p:nvPr/>
        </p:nvSpPr>
        <p:spPr bwMode="auto">
          <a:xfrm>
            <a:off x="757238" y="1549400"/>
            <a:ext cx="6006452" cy="1133260"/>
          </a:xfrm>
          <a:prstGeom prst="rect">
            <a:avLst/>
          </a:prstGeom>
          <a:noFill/>
          <a:ln w="9525">
            <a:noFill/>
            <a:miter lim="800000"/>
            <a:headEnd/>
            <a:tailEnd/>
          </a:ln>
          <a:effectLst/>
        </p:spPr>
        <p:txBody>
          <a:bodyPr wrap="none" lIns="92075" tIns="46038" rIns="92075" bIns="46038">
            <a:spAutoFit/>
          </a:bodyPr>
          <a:lstStyle/>
          <a:p>
            <a:pPr marL="342900" indent="-342900" defTabSz="762000" eaLnBrk="0" latinLnBrk="0" hangingPunct="0">
              <a:lnSpc>
                <a:spcPct val="130000"/>
              </a:lnSpc>
              <a:buFontTx/>
              <a:buAutoNum type="arabicParenR"/>
              <a:defRPr/>
            </a:pPr>
            <a:r>
              <a:rPr lang="en-US" altLang="ko-KR" sz="1400" b="1" dirty="0" err="1">
                <a:latin typeface="Arial" pitchFamily="34" charset="0"/>
                <a:ea typeface="맑은 고딕" pitchFamily="50" charset="-127"/>
                <a:cs typeface="Arial" pitchFamily="34" charset="0"/>
              </a:rPr>
              <a:t>Độ</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lệch</a:t>
            </a:r>
            <a:r>
              <a:rPr lang="en-US" altLang="ko-KR" sz="1400" b="1" dirty="0">
                <a:latin typeface="Arial" pitchFamily="34" charset="0"/>
                <a:ea typeface="맑은 고딕" pitchFamily="50" charset="-127"/>
                <a:cs typeface="Arial" pitchFamily="34" charset="0"/>
              </a:rPr>
              <a:t>/</a:t>
            </a:r>
            <a:r>
              <a:rPr lang="en-US" altLang="ko-KR" sz="1400" b="1" dirty="0" err="1">
                <a:latin typeface="Arial" pitchFamily="34" charset="0"/>
                <a:ea typeface="맑은 고딕" pitchFamily="50" charset="-127"/>
                <a:cs typeface="Arial" pitchFamily="34" charset="0"/>
              </a:rPr>
              <a:t>Skewness</a:t>
            </a:r>
            <a:endParaRPr lang="en-US" altLang="ko-KR" sz="1400" b="1" dirty="0">
              <a:latin typeface="Arial" pitchFamily="34" charset="0"/>
              <a:ea typeface="맑은 고딕" pitchFamily="50" charset="-127"/>
              <a:cs typeface="Arial" pitchFamily="34" charset="0"/>
            </a:endParaRPr>
          </a:p>
          <a:p>
            <a:pPr marL="342900" indent="-342900" defTabSz="762000" eaLnBrk="0" latinLnBrk="0" hangingPunct="0">
              <a:lnSpc>
                <a:spcPct val="130000"/>
              </a:lnSpc>
              <a:buFontTx/>
              <a:buAutoNum type="arabicParenR"/>
              <a:defRPr/>
            </a:pPr>
            <a:endParaRPr lang="en-US" altLang="ko-KR" sz="1000" b="1" dirty="0">
              <a:latin typeface="Arial" pitchFamily="34" charset="0"/>
              <a:ea typeface="맑은 고딕" pitchFamily="50" charset="-127"/>
              <a:cs typeface="Arial" pitchFamily="34" charset="0"/>
            </a:endParaRPr>
          </a:p>
          <a:p>
            <a:pPr marL="342900" indent="-342900" defTabSz="762000">
              <a:lnSpc>
                <a:spcPct val="130000"/>
              </a:lnSpc>
              <a:defRPr/>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Đây</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một</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chỉ</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số</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mô</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tính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xứng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lệch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trong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endParaRPr lang="en-US" altLang="ko-KR" sz="1400" b="1" dirty="0">
              <a:solidFill>
                <a:srgbClr val="000000"/>
              </a:solidFill>
              <a:latin typeface="Arial" pitchFamily="34" charset="0"/>
              <a:ea typeface="맑은 고딕" pitchFamily="50" charset="-127"/>
              <a:cs typeface="Arial" pitchFamily="34" charset="0"/>
            </a:endParaRPr>
          </a:p>
          <a:p>
            <a:pPr defTabSz="762000">
              <a:lnSpc>
                <a:spcPct val="130000"/>
              </a:lnSpc>
              <a:defRPr/>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Khái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niệm</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về</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lệch</a:t>
            </a:r>
            <a:endParaRPr lang="ko-KR" altLang="en-US" sz="1400" b="1" dirty="0">
              <a:latin typeface="Arial" pitchFamily="34" charset="0"/>
              <a:ea typeface="맑은 고딕" pitchFamily="50" charset="-127"/>
              <a:cs typeface="Arial" pitchFamily="34" charset="0"/>
            </a:endParaRPr>
          </a:p>
        </p:txBody>
      </p:sp>
      <p:graphicFrame>
        <p:nvGraphicFramePr>
          <p:cNvPr id="47107" name="Object 35"/>
          <p:cNvGraphicFramePr>
            <a:graphicFrameLocks noChangeAspect="1"/>
          </p:cNvGraphicFramePr>
          <p:nvPr/>
        </p:nvGraphicFramePr>
        <p:xfrm>
          <a:off x="2125663" y="2643188"/>
          <a:ext cx="1871662" cy="930275"/>
        </p:xfrm>
        <a:graphic>
          <a:graphicData uri="http://schemas.openxmlformats.org/presentationml/2006/ole">
            <mc:AlternateContent xmlns:mc="http://schemas.openxmlformats.org/markup-compatibility/2006">
              <mc:Choice xmlns:v="urn:schemas-microsoft-com:vml" Requires="v">
                <p:oleObj name="Equation" r:id="rId3" imgW="1231366" imgH="609336" progId="Equation.3">
                  <p:embed/>
                </p:oleObj>
              </mc:Choice>
              <mc:Fallback>
                <p:oleObj name="Equation" r:id="rId3" imgW="1231366" imgH="609336" progId="Equation.3">
                  <p:embed/>
                  <p:pic>
                    <p:nvPicPr>
                      <p:cNvPr id="47107" name="Object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5663" y="2643188"/>
                        <a:ext cx="1871662" cy="930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7108" name="Text Box 36"/>
          <p:cNvSpPr txBox="1">
            <a:spLocks noChangeArrowheads="1"/>
          </p:cNvSpPr>
          <p:nvPr/>
        </p:nvSpPr>
        <p:spPr bwMode="auto">
          <a:xfrm>
            <a:off x="4430713" y="2954338"/>
            <a:ext cx="2204755" cy="332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81272" tIns="40636" rIns="81272" bIns="40636">
            <a:spAutoFit/>
          </a:bodyP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a:latin typeface="Arial" pitchFamily="34" charset="0"/>
                <a:ea typeface="맑은 고딕" pitchFamily="50" charset="-127"/>
                <a:cs typeface="Arial" pitchFamily="34" charset="0"/>
              </a:rPr>
              <a:t>(s = </a:t>
            </a:r>
            <a:r>
              <a:rPr lang="en-US" altLang="ko-KR" sz="1400" b="1" dirty="0" err="1">
                <a:latin typeface="Arial" pitchFamily="34" charset="0"/>
                <a:ea typeface="맑은 고딕" pitchFamily="50" charset="-127"/>
                <a:cs typeface="Arial" pitchFamily="34" charset="0"/>
              </a:rPr>
              <a:t>độ</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lệch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chuẩn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mẫu</a:t>
            </a:r>
            <a:r>
              <a:rPr lang="en-US" altLang="ko-KR" sz="1400" b="1" dirty="0">
                <a:latin typeface="Arial" pitchFamily="34" charset="0"/>
                <a:ea typeface="맑은 고딕" pitchFamily="50" charset="-127"/>
                <a:cs typeface="Arial" pitchFamily="34" charset="0"/>
              </a:rPr>
              <a:t>)</a:t>
            </a:r>
          </a:p>
        </p:txBody>
      </p:sp>
      <p:pic>
        <p:nvPicPr>
          <p:cNvPr id="47109" name="Picture 37" descr="UNI5c68"/>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1098550" y="3903663"/>
            <a:ext cx="4170363"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10" name="Text Box 38"/>
          <p:cNvSpPr txBox="1">
            <a:spLocks noChangeArrowheads="1"/>
          </p:cNvSpPr>
          <p:nvPr/>
        </p:nvSpPr>
        <p:spPr bwMode="auto">
          <a:xfrm>
            <a:off x="5356225" y="3357563"/>
            <a:ext cx="4311683" cy="2042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272" tIns="40636" rIns="81272" bIns="40636">
            <a:spAutoFit/>
          </a:bodyP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285750" indent="-285750"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a:t>
            </a:r>
            <a:r>
              <a:rPr lang="vi-VN" altLang="ko-KR" sz="1400" b="1" dirty="0">
                <a:solidFill>
                  <a:srgbClr val="000000"/>
                </a:solidFill>
                <a:latin typeface="Arial" pitchFamily="34" charset="0"/>
                <a:ea typeface="맑은 고딕" pitchFamily="50" charset="-127"/>
                <a:cs typeface="Arial" pitchFamily="34" charset="0"/>
              </a:rPr>
              <a:t>Từ các giá trị của các biểu tượng độ lệch,</a:t>
            </a:r>
            <a:endParaRPr lang="en-US" altLang="ko-KR" sz="1400" b="1" dirty="0">
              <a:solidFill>
                <a:srgbClr val="000000"/>
              </a:solidFill>
              <a:latin typeface="Arial" pitchFamily="34" charset="0"/>
              <a:ea typeface="맑은 고딕" pitchFamily="50" charset="-127"/>
              <a:cs typeface="Arial" pitchFamily="34" charset="0"/>
            </a:endParaRPr>
          </a:p>
          <a:p>
            <a:pPr marL="285750" indent="-285750" eaLnBrk="1" hangingPunct="1">
              <a:lnSpc>
                <a:spcPct val="130000"/>
              </a:lnSpc>
            </a:pPr>
            <a:r>
              <a:rPr lang="vi-VN" altLang="ko-KR" sz="1400" b="1" dirty="0">
                <a:solidFill>
                  <a:srgbClr val="000000"/>
                </a:solidFill>
                <a:latin typeface="Arial" pitchFamily="34" charset="0"/>
                <a:ea typeface="맑은 고딕" pitchFamily="50" charset="-127"/>
                <a:cs typeface="Arial" pitchFamily="34" charset="0"/>
              </a:rPr>
              <a:t> hình dạng của phân phối có thể được </a:t>
            </a:r>
            <a:r>
              <a:rPr lang="en-US" altLang="ko-KR" sz="1400" b="1" dirty="0" err="1">
                <a:solidFill>
                  <a:srgbClr val="000000"/>
                </a:solidFill>
                <a:latin typeface="Arial" pitchFamily="34" charset="0"/>
                <a:ea typeface="맑은 고딕" pitchFamily="50" charset="-127"/>
                <a:cs typeface="Arial" pitchFamily="34" charset="0"/>
              </a:rPr>
              <a:t>tìm</a:t>
            </a:r>
            <a:r>
              <a:rPr lang="vi-VN" altLang="ko-KR" sz="1400" b="1" dirty="0">
                <a:solidFill>
                  <a:srgbClr val="000000"/>
                </a:solidFill>
                <a:latin typeface="Arial" pitchFamily="34" charset="0"/>
                <a:ea typeface="맑은 고딕" pitchFamily="50" charset="-127"/>
                <a:cs typeface="Arial" pitchFamily="34" charset="0"/>
              </a:rPr>
              <a:t> ra.</a:t>
            </a:r>
            <a:r>
              <a:rPr lang="en-US" altLang="ko-KR" sz="1400" b="1" dirty="0">
                <a:solidFill>
                  <a:srgbClr val="000000"/>
                </a:solidFill>
                <a:latin typeface="Arial" pitchFamily="34" charset="0"/>
                <a:ea typeface="맑은 고딕" pitchFamily="50" charset="-127"/>
                <a:cs typeface="Arial" pitchFamily="34" charset="0"/>
              </a:rPr>
              <a:t> </a:t>
            </a: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S</a:t>
            </a:r>
            <a:r>
              <a:rPr lang="en-US" altLang="ko-KR" sz="1400" b="1" baseline="-25000" dirty="0">
                <a:solidFill>
                  <a:srgbClr val="000000"/>
                </a:solidFill>
                <a:latin typeface="Arial" pitchFamily="34" charset="0"/>
                <a:ea typeface="맑은 고딕" pitchFamily="50" charset="-127"/>
                <a:cs typeface="Arial" pitchFamily="34" charset="0"/>
              </a:rPr>
              <a:t>k</a:t>
            </a:r>
            <a:r>
              <a:rPr lang="en-US" altLang="ko-KR" sz="1400" b="1" dirty="0">
                <a:solidFill>
                  <a:srgbClr val="000000"/>
                </a:solidFill>
                <a:latin typeface="Arial" pitchFamily="34" charset="0"/>
                <a:ea typeface="맑은 고딕" pitchFamily="50" charset="-127"/>
                <a:cs typeface="Arial" pitchFamily="34" charset="0"/>
              </a:rPr>
              <a:t> = 0 : </a:t>
            </a:r>
            <a:r>
              <a:rPr lang="en-US" altLang="ko-KR" sz="1400" b="1" dirty="0" err="1">
                <a:solidFill>
                  <a:srgbClr val="000000"/>
                </a:solidFill>
                <a:latin typeface="Arial" pitchFamily="34" charset="0"/>
                <a:ea typeface="맑은 고딕" pitchFamily="50" charset="-127"/>
                <a:cs typeface="Arial" pitchFamily="34" charset="0"/>
              </a:rPr>
              <a:t>Khi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đều</a:t>
            </a:r>
            <a:r>
              <a:rPr lang="en-US" altLang="ko-KR" sz="1400" b="1" dirty="0">
                <a:solidFill>
                  <a:srgbClr val="000000"/>
                </a:solidFill>
                <a:latin typeface="Arial" pitchFamily="34" charset="0"/>
                <a:ea typeface="맑은 고딕" pitchFamily="50" charset="-127"/>
                <a:cs typeface="Arial" pitchFamily="34" charset="0"/>
              </a:rPr>
              <a:t>.</a:t>
            </a:r>
            <a:endParaRPr lang="ko-KR" altLang="en-US"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S</a:t>
            </a:r>
            <a:r>
              <a:rPr lang="en-US" altLang="ko-KR" sz="1400" b="1" baseline="-25000" dirty="0">
                <a:solidFill>
                  <a:srgbClr val="000000"/>
                </a:solidFill>
                <a:latin typeface="Arial" pitchFamily="34" charset="0"/>
                <a:ea typeface="맑은 고딕" pitchFamily="50" charset="-127"/>
                <a:cs typeface="Arial" pitchFamily="34" charset="0"/>
              </a:rPr>
              <a:t>k</a:t>
            </a:r>
            <a:r>
              <a:rPr lang="en-US" altLang="ko-KR" sz="1400" b="1" dirty="0">
                <a:solidFill>
                  <a:srgbClr val="000000"/>
                </a:solidFill>
                <a:latin typeface="Arial" pitchFamily="34" charset="0"/>
                <a:ea typeface="맑은 고딕" pitchFamily="50" charset="-127"/>
                <a:cs typeface="Arial" pitchFamily="34" charset="0"/>
              </a:rPr>
              <a:t> </a:t>
            </a:r>
            <a:r>
              <a:rPr lang="ko-KR" altLang="en-US" sz="1400" b="1" dirty="0">
                <a:solidFill>
                  <a:srgbClr val="000000"/>
                </a:solidFill>
                <a:latin typeface="Arial" pitchFamily="34" charset="0"/>
                <a:ea typeface="맑은 고딕" pitchFamily="50" charset="-127"/>
                <a:cs typeface="Arial" pitchFamily="34" charset="0"/>
              </a:rPr>
              <a:t>＞</a:t>
            </a:r>
            <a:r>
              <a:rPr lang="en-US" altLang="ko-KR" sz="1400" b="1" dirty="0">
                <a:solidFill>
                  <a:srgbClr val="000000"/>
                </a:solidFill>
                <a:latin typeface="Arial" pitchFamily="34" charset="0"/>
                <a:ea typeface="맑은 고딕" pitchFamily="50" charset="-127"/>
                <a:cs typeface="Arial" pitchFamily="34" charset="0"/>
              </a:rPr>
              <a:t>0 : </a:t>
            </a:r>
            <a:r>
              <a:rPr lang="vi-VN" altLang="ko-KR" sz="1400" b="1" dirty="0">
                <a:solidFill>
                  <a:srgbClr val="000000"/>
                </a:solidFill>
                <a:latin typeface="Arial" pitchFamily="34" charset="0"/>
                <a:ea typeface="맑은 고딕" pitchFamily="50" charset="-127"/>
                <a:cs typeface="Arial" pitchFamily="34" charset="0"/>
              </a:rPr>
              <a:t>khi đuôi của phân phối nghiêng về phía bên phải</a:t>
            </a:r>
            <a:r>
              <a:rPr lang="en-US" altLang="ko-KR" sz="1400" b="1" dirty="0">
                <a:solidFill>
                  <a:srgbClr val="000000"/>
                </a:solidFill>
                <a:latin typeface="Arial" pitchFamily="34" charset="0"/>
                <a:ea typeface="맑은 고딕" pitchFamily="50" charset="-127"/>
                <a:cs typeface="Arial" pitchFamily="34" charset="0"/>
              </a:rPr>
              <a:t>.</a:t>
            </a:r>
            <a:endParaRPr lang="ko-KR" altLang="en-US"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Sk</a:t>
            </a: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0 : </a:t>
            </a:r>
            <a:r>
              <a:rPr lang="vi-VN" altLang="ko-KR" sz="1400" b="1" dirty="0">
                <a:solidFill>
                  <a:srgbClr val="000000"/>
                </a:solidFill>
                <a:latin typeface="Arial" pitchFamily="34" charset="0"/>
                <a:ea typeface="맑은 고딕" pitchFamily="50" charset="-127"/>
                <a:cs typeface="Arial" pitchFamily="34" charset="0"/>
              </a:rPr>
              <a:t>khi đuôi của phân phối nghiêng về phía bên trái</a:t>
            </a:r>
            <a:r>
              <a:rPr lang="en-US" altLang="ko-KR" sz="1400" b="1" dirty="0">
                <a:solidFill>
                  <a:srgbClr val="000000"/>
                </a:solidFill>
                <a:latin typeface="Arial" pitchFamily="34" charset="0"/>
                <a:ea typeface="맑은 고딕" pitchFamily="50" charset="-127"/>
                <a:cs typeface="Arial" pitchFamily="34" charset="0"/>
              </a:rPr>
              <a:t>.</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47111" name="Text Box 39"/>
          <p:cNvSpPr txBox="1">
            <a:spLocks noChangeArrowheads="1"/>
          </p:cNvSpPr>
          <p:nvPr/>
        </p:nvSpPr>
        <p:spPr bwMode="auto">
          <a:xfrm>
            <a:off x="2184400" y="4275138"/>
            <a:ext cx="646636" cy="297509"/>
          </a:xfrm>
          <a:prstGeom prst="rect">
            <a:avLst/>
          </a:prstGeom>
          <a:solidFill>
            <a:schemeClr val="bg1"/>
          </a:solidFill>
          <a:ln w="9525">
            <a:solidFill>
              <a:schemeClr val="bg1"/>
            </a:solidFill>
            <a:miter lim="800000"/>
            <a:headEnd/>
            <a:tailEnd/>
          </a:ln>
        </p:spPr>
        <p:txBody>
          <a:bodyPr wrap="none" lIns="81272" tIns="40636" rIns="81272" bIns="40636">
            <a:spAutoFit/>
          </a:bodyPr>
          <a:lstStyle>
            <a:lvl1pPr defTabSz="809625" eaLnBrk="0" hangingPunct="0">
              <a:defRPr kumimoji="1">
                <a:solidFill>
                  <a:schemeClr val="tx1"/>
                </a:solidFill>
                <a:latin typeface="굴림" pitchFamily="50" charset="-127"/>
                <a:ea typeface="굴림" pitchFamily="50" charset="-127"/>
              </a:defRPr>
            </a:lvl1pPr>
            <a:lvl2pPr marL="742950" indent="-285750" defTabSz="809625" eaLnBrk="0" hangingPunct="0">
              <a:defRPr kumimoji="1">
                <a:solidFill>
                  <a:schemeClr val="tx1"/>
                </a:solidFill>
                <a:latin typeface="굴림" pitchFamily="50" charset="-127"/>
                <a:ea typeface="굴림" pitchFamily="50" charset="-127"/>
              </a:defRPr>
            </a:lvl2pPr>
            <a:lvl3pPr marL="1143000" indent="-228600" defTabSz="809625" eaLnBrk="0" hangingPunct="0">
              <a:defRPr kumimoji="1">
                <a:solidFill>
                  <a:schemeClr val="tx1"/>
                </a:solidFill>
                <a:latin typeface="굴림" pitchFamily="50" charset="-127"/>
                <a:ea typeface="굴림" pitchFamily="50" charset="-127"/>
              </a:defRPr>
            </a:lvl3pPr>
            <a:lvl4pPr marL="1600200" indent="-228600" defTabSz="809625" eaLnBrk="0" hangingPunct="0">
              <a:defRPr kumimoji="1">
                <a:solidFill>
                  <a:schemeClr val="tx1"/>
                </a:solidFill>
                <a:latin typeface="굴림" pitchFamily="50" charset="-127"/>
                <a:ea typeface="굴림" pitchFamily="50" charset="-127"/>
              </a:defRPr>
            </a:lvl4pPr>
            <a:lvl5pPr marL="2057400" indent="-228600" defTabSz="809625" eaLnBrk="0" hangingPunct="0">
              <a:defRPr kumimoji="1">
                <a:solidFill>
                  <a:schemeClr val="tx1"/>
                </a:solidFill>
                <a:latin typeface="굴림" pitchFamily="50" charset="-127"/>
                <a:ea typeface="굴림" pitchFamily="50" charset="-127"/>
              </a:defRPr>
            </a:lvl5pPr>
            <a:lvl6pPr marL="2514600" indent="-228600" defTabSz="8096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096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096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096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a:latin typeface="Arial" pitchFamily="34" charset="0"/>
                <a:ea typeface="HY견고딕" pitchFamily="18" charset="-127"/>
                <a:cs typeface="Arial" pitchFamily="34" charset="0"/>
              </a:rPr>
              <a:t>S</a:t>
            </a:r>
            <a:r>
              <a:rPr lang="en-US" altLang="ko-KR" sz="1400" baseline="-15000" dirty="0">
                <a:latin typeface="Arial" pitchFamily="34" charset="0"/>
                <a:ea typeface="HY견고딕" pitchFamily="18" charset="-127"/>
                <a:cs typeface="Arial" pitchFamily="34" charset="0"/>
              </a:rPr>
              <a:t>k</a:t>
            </a:r>
            <a:r>
              <a:rPr lang="en-US" altLang="ko-KR" sz="1400" dirty="0">
                <a:latin typeface="Arial" pitchFamily="34" charset="0"/>
                <a:ea typeface="HY견고딕" pitchFamily="18" charset="-127"/>
                <a:cs typeface="Arial" pitchFamily="34" charset="0"/>
              </a:rPr>
              <a:t> &gt; 0</a:t>
            </a:r>
          </a:p>
        </p:txBody>
      </p:sp>
      <p:sp>
        <p:nvSpPr>
          <p:cNvPr id="47112" name="Text Box 40"/>
          <p:cNvSpPr txBox="1">
            <a:spLocks noChangeArrowheads="1"/>
          </p:cNvSpPr>
          <p:nvPr/>
        </p:nvSpPr>
        <p:spPr bwMode="auto">
          <a:xfrm>
            <a:off x="3617913" y="4275138"/>
            <a:ext cx="646636" cy="297509"/>
          </a:xfrm>
          <a:prstGeom prst="rect">
            <a:avLst/>
          </a:prstGeom>
          <a:solidFill>
            <a:schemeClr val="bg1"/>
          </a:solidFill>
          <a:ln w="9525">
            <a:solidFill>
              <a:schemeClr val="bg1"/>
            </a:solidFill>
            <a:miter lim="800000"/>
            <a:headEnd/>
            <a:tailEnd/>
          </a:ln>
        </p:spPr>
        <p:txBody>
          <a:bodyPr wrap="none" lIns="81272" tIns="40636" rIns="81272" bIns="40636">
            <a:spAutoFit/>
          </a:bodyPr>
          <a:lstStyle>
            <a:lvl1pPr defTabSz="809625" eaLnBrk="0" hangingPunct="0">
              <a:defRPr kumimoji="1">
                <a:solidFill>
                  <a:schemeClr val="tx1"/>
                </a:solidFill>
                <a:latin typeface="굴림" pitchFamily="50" charset="-127"/>
                <a:ea typeface="굴림" pitchFamily="50" charset="-127"/>
              </a:defRPr>
            </a:lvl1pPr>
            <a:lvl2pPr marL="742950" indent="-285750" defTabSz="809625" eaLnBrk="0" hangingPunct="0">
              <a:defRPr kumimoji="1">
                <a:solidFill>
                  <a:schemeClr val="tx1"/>
                </a:solidFill>
                <a:latin typeface="굴림" pitchFamily="50" charset="-127"/>
                <a:ea typeface="굴림" pitchFamily="50" charset="-127"/>
              </a:defRPr>
            </a:lvl2pPr>
            <a:lvl3pPr marL="1143000" indent="-228600" defTabSz="809625" eaLnBrk="0" hangingPunct="0">
              <a:defRPr kumimoji="1">
                <a:solidFill>
                  <a:schemeClr val="tx1"/>
                </a:solidFill>
                <a:latin typeface="굴림" pitchFamily="50" charset="-127"/>
                <a:ea typeface="굴림" pitchFamily="50" charset="-127"/>
              </a:defRPr>
            </a:lvl3pPr>
            <a:lvl4pPr marL="1600200" indent="-228600" defTabSz="809625" eaLnBrk="0" hangingPunct="0">
              <a:defRPr kumimoji="1">
                <a:solidFill>
                  <a:schemeClr val="tx1"/>
                </a:solidFill>
                <a:latin typeface="굴림" pitchFamily="50" charset="-127"/>
                <a:ea typeface="굴림" pitchFamily="50" charset="-127"/>
              </a:defRPr>
            </a:lvl4pPr>
            <a:lvl5pPr marL="2057400" indent="-228600" defTabSz="809625" eaLnBrk="0" hangingPunct="0">
              <a:defRPr kumimoji="1">
                <a:solidFill>
                  <a:schemeClr val="tx1"/>
                </a:solidFill>
                <a:latin typeface="굴림" pitchFamily="50" charset="-127"/>
                <a:ea typeface="굴림" pitchFamily="50" charset="-127"/>
              </a:defRPr>
            </a:lvl5pPr>
            <a:lvl6pPr marL="2514600" indent="-228600" defTabSz="8096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096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096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096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a:latin typeface="Arial" pitchFamily="34" charset="0"/>
                <a:ea typeface="HY견고딕" pitchFamily="18" charset="-127"/>
                <a:cs typeface="Arial" pitchFamily="34" charset="0"/>
              </a:rPr>
              <a:t>S</a:t>
            </a:r>
            <a:r>
              <a:rPr lang="en-US" altLang="ko-KR" sz="1400" baseline="-15000" dirty="0">
                <a:latin typeface="Arial" pitchFamily="34" charset="0"/>
                <a:ea typeface="HY견고딕" pitchFamily="18" charset="-127"/>
                <a:cs typeface="Arial" pitchFamily="34" charset="0"/>
              </a:rPr>
              <a:t>k</a:t>
            </a:r>
            <a:r>
              <a:rPr lang="en-US" altLang="ko-KR" sz="1400" dirty="0">
                <a:latin typeface="Arial" pitchFamily="34" charset="0"/>
                <a:ea typeface="HY견고딕" pitchFamily="18" charset="-127"/>
                <a:cs typeface="Arial" pitchFamily="34" charset="0"/>
              </a:rPr>
              <a:t> &lt; 0</a:t>
            </a:r>
          </a:p>
        </p:txBody>
      </p:sp>
      <p:sp>
        <p:nvSpPr>
          <p:cNvPr id="47113" name="Text Box 3"/>
          <p:cNvSpPr txBox="1">
            <a:spLocks noChangeArrowheads="1"/>
          </p:cNvSpPr>
          <p:nvPr/>
        </p:nvSpPr>
        <p:spPr bwMode="auto">
          <a:xfrm>
            <a:off x="757238" y="1196975"/>
            <a:ext cx="63311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Blip>
                <a:blip r:embed="rId6"/>
              </a:buBlip>
            </a:pPr>
            <a:r>
              <a:rPr lang="en-US" altLang="ko-KR" b="1" dirty="0" err="1">
                <a:latin typeface="Arial" pitchFamily="34" charset="0"/>
                <a:ea typeface="맑은 고딕" pitchFamily="50" charset="-127"/>
                <a:cs typeface="Arial" pitchFamily="34" charset="0"/>
              </a:rPr>
              <a:t>Đặc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điểm</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để</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mô</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tả</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hình</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dạng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của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lan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truyền</a:t>
            </a:r>
            <a:endParaRPr lang="en-US" altLang="ko-KR" b="1" dirty="0">
              <a:latin typeface="Arial" pitchFamily="34" charset="0"/>
              <a:ea typeface="맑은 고딕" pitchFamily="50" charset="-127"/>
              <a:cs typeface="Arial" pitchFamily="34" charset="0"/>
            </a:endParaRP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51</a:t>
            </a:fld>
            <a:endParaRPr lang="ko-KR" altLang="en-US" dirty="0">
              <a:latin typeface="Arial" pitchFamily="34" charset="0"/>
              <a:cs typeface="Arial" pitchFamily="34" charset="0"/>
            </a:endParaRPr>
          </a:p>
        </p:txBody>
      </p:sp>
      <p:sp>
        <p:nvSpPr>
          <p:cNvPr id="12"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4"/>
          <p:cNvSpPr>
            <a:spLocks noChangeArrowheads="1"/>
          </p:cNvSpPr>
          <p:nvPr/>
        </p:nvSpPr>
        <p:spPr bwMode="auto">
          <a:xfrm>
            <a:off x="787400" y="1124744"/>
            <a:ext cx="5732723" cy="1373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30000"/>
              </a:lnSpc>
              <a:buFont typeface="Wingdings" pitchFamily="2" charset="2"/>
              <a:buNone/>
            </a:pPr>
            <a:r>
              <a:rPr lang="en-US" altLang="ko-KR" sz="1400" b="1" dirty="0">
                <a:latin typeface="Arial" pitchFamily="34" charset="0"/>
                <a:ea typeface="맑은 고딕" pitchFamily="50" charset="-127"/>
                <a:cs typeface="Arial" pitchFamily="34" charset="0"/>
              </a:rPr>
              <a:t>2) </a:t>
            </a:r>
            <a:r>
              <a:rPr lang="en-US" altLang="ko-KR" sz="1400" b="1" dirty="0" err="1">
                <a:latin typeface="Arial" pitchFamily="34" charset="0"/>
                <a:ea typeface="맑은 고딕" pitchFamily="50" charset="-127"/>
                <a:cs typeface="Arial" pitchFamily="34" charset="0"/>
              </a:rPr>
              <a:t>Độ</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nhọn</a:t>
            </a:r>
            <a:r>
              <a:rPr lang="en-US" altLang="ko-KR" sz="1400" b="1" dirty="0">
                <a:latin typeface="Arial" pitchFamily="34" charset="0"/>
                <a:ea typeface="맑은 고딕" pitchFamily="50" charset="-127"/>
                <a:cs typeface="Arial" pitchFamily="34" charset="0"/>
              </a:rPr>
              <a:t>/Kurtosis</a:t>
            </a:r>
          </a:p>
          <a:p>
            <a:pPr eaLnBrk="1" hangingPunct="1">
              <a:lnSpc>
                <a:spcPct val="130000"/>
              </a:lnSpc>
            </a:pPr>
            <a:endParaRPr lang="en-US" altLang="ko-KR" sz="800" b="1" dirty="0">
              <a:latin typeface="Arial" pitchFamily="34" charset="0"/>
              <a:ea typeface="맑은 고딕" pitchFamily="50" charset="-127"/>
              <a:cs typeface="Arial" pitchFamily="34" charset="0"/>
            </a:endParaRP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Đây</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chỉ</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số</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mô</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nhọn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của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r>
              <a:rPr lang="en-US" altLang="ko-KR" sz="1400" b="1" dirty="0">
                <a:solidFill>
                  <a:srgbClr val="000000"/>
                </a:solidFill>
                <a:latin typeface="Arial" pitchFamily="34" charset="0"/>
                <a:ea typeface="맑은 고딕" pitchFamily="50" charset="-127"/>
                <a:cs typeface="Arial" pitchFamily="34" charset="0"/>
              </a:rPr>
              <a:t>.</a:t>
            </a: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Được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giới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thiệu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lần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đầu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tiên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bởi</a:t>
            </a:r>
            <a:r>
              <a:rPr lang="en-US" altLang="ko-KR" sz="1400" b="1" dirty="0">
                <a:solidFill>
                  <a:srgbClr val="000000"/>
                </a:solidFill>
                <a:latin typeface="Arial" pitchFamily="34" charset="0"/>
                <a:ea typeface="맑은 고딕" pitchFamily="50" charset="-127"/>
                <a:cs typeface="Arial" pitchFamily="34" charset="0"/>
              </a:rPr>
              <a:t> Karl Pearson </a:t>
            </a:r>
            <a:r>
              <a:rPr lang="en-US" altLang="ko-KR" sz="1400" b="1" dirty="0" err="1">
                <a:solidFill>
                  <a:srgbClr val="000000"/>
                </a:solidFill>
                <a:latin typeface="Arial" pitchFamily="34" charset="0"/>
                <a:ea typeface="맑은 고딕" pitchFamily="50" charset="-127"/>
                <a:cs typeface="Arial" pitchFamily="34" charset="0"/>
              </a:rPr>
              <a:t>vào</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năm</a:t>
            </a:r>
            <a:r>
              <a:rPr lang="en-US" altLang="ko-KR" sz="1400" b="1" dirty="0">
                <a:solidFill>
                  <a:srgbClr val="000000"/>
                </a:solidFill>
                <a:latin typeface="Arial" pitchFamily="34" charset="0"/>
                <a:ea typeface="맑은 고딕" pitchFamily="50" charset="-127"/>
                <a:cs typeface="Arial" pitchFamily="34" charset="0"/>
              </a:rPr>
              <a:t> 1906.</a:t>
            </a:r>
          </a:p>
          <a:p>
            <a:pPr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 </a:t>
            </a:r>
            <a:r>
              <a:rPr lang="en-US" altLang="ko-KR" sz="1400" b="1" dirty="0" err="1">
                <a:solidFill>
                  <a:srgbClr val="000000"/>
                </a:solidFill>
                <a:latin typeface="Arial" pitchFamily="34" charset="0"/>
                <a:ea typeface="맑은 고딕" pitchFamily="50" charset="-127"/>
                <a:cs typeface="Arial" pitchFamily="34" charset="0"/>
              </a:rPr>
              <a:t>Khái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niệm</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nhọn</a:t>
            </a:r>
            <a:endParaRPr lang="ko-KR" altLang="en-US" sz="1400" b="1" dirty="0">
              <a:latin typeface="Arial" pitchFamily="34" charset="0"/>
              <a:ea typeface="맑은 고딕" pitchFamily="50" charset="-127"/>
              <a:cs typeface="Arial" pitchFamily="34" charset="0"/>
            </a:endParaRPr>
          </a:p>
        </p:txBody>
      </p:sp>
      <p:graphicFrame>
        <p:nvGraphicFramePr>
          <p:cNvPr id="48131" name="Object 12"/>
          <p:cNvGraphicFramePr>
            <a:graphicFrameLocks noChangeAspect="1"/>
          </p:cNvGraphicFramePr>
          <p:nvPr>
            <p:extLst>
              <p:ext uri="{D42A27DB-BD31-4B8C-83A1-F6EECF244321}">
                <p14:modId xmlns:p14="http://schemas.microsoft.com/office/powerpoint/2010/main" val="124032293"/>
              </p:ext>
            </p:extLst>
          </p:nvPr>
        </p:nvGraphicFramePr>
        <p:xfrm>
          <a:off x="2579688" y="2493169"/>
          <a:ext cx="1863725" cy="930275"/>
        </p:xfrm>
        <a:graphic>
          <a:graphicData uri="http://schemas.openxmlformats.org/presentationml/2006/ole">
            <mc:AlternateContent xmlns:mc="http://schemas.openxmlformats.org/markup-compatibility/2006">
              <mc:Choice xmlns:v="urn:schemas-microsoft-com:vml" Requires="v">
                <p:oleObj name="Equation" r:id="rId3" imgW="1219200" imgH="609600" progId="Equation.3">
                  <p:embed/>
                </p:oleObj>
              </mc:Choice>
              <mc:Fallback>
                <p:oleObj name="Equation" r:id="rId3" imgW="1219200" imgH="609600" progId="Equation.3">
                  <p:embed/>
                  <p:pic>
                    <p:nvPicPr>
                      <p:cNvPr id="48131" name="Object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9688" y="2493169"/>
                        <a:ext cx="1863725" cy="930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8132" name="Text Box 13"/>
          <p:cNvSpPr txBox="1">
            <a:spLocks noChangeArrowheads="1"/>
          </p:cNvSpPr>
          <p:nvPr/>
        </p:nvSpPr>
        <p:spPr bwMode="auto">
          <a:xfrm>
            <a:off x="4676775" y="2990056"/>
            <a:ext cx="2204755" cy="332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81272" tIns="40636" rIns="81272" bIns="40636">
            <a:spAutoFit/>
          </a:bodyP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b="1" dirty="0">
                <a:latin typeface="Arial" pitchFamily="34" charset="0"/>
                <a:ea typeface="맑은 고딕" pitchFamily="50" charset="-127"/>
                <a:cs typeface="Arial" pitchFamily="34" charset="0"/>
              </a:rPr>
              <a:t>(s = </a:t>
            </a:r>
            <a:r>
              <a:rPr lang="en-US" altLang="ko-KR" sz="1400" b="1" dirty="0" err="1">
                <a:latin typeface="Arial" pitchFamily="34" charset="0"/>
                <a:ea typeface="맑은 고딕" pitchFamily="50" charset="-127"/>
                <a:cs typeface="Arial" pitchFamily="34" charset="0"/>
              </a:rPr>
              <a:t>độ</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lệch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chuẩn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mẫu</a:t>
            </a:r>
            <a:r>
              <a:rPr lang="en-US" altLang="ko-KR" sz="1400" b="1" dirty="0">
                <a:latin typeface="Arial" pitchFamily="34" charset="0"/>
                <a:ea typeface="맑은 고딕" pitchFamily="50" charset="-127"/>
                <a:cs typeface="Arial" pitchFamily="34" charset="0"/>
              </a:rPr>
              <a:t>)</a:t>
            </a:r>
          </a:p>
        </p:txBody>
      </p:sp>
      <p:sp>
        <p:nvSpPr>
          <p:cNvPr id="48133" name="Text Box 15"/>
          <p:cNvSpPr txBox="1">
            <a:spLocks noChangeArrowheads="1"/>
          </p:cNvSpPr>
          <p:nvPr/>
        </p:nvSpPr>
        <p:spPr bwMode="auto">
          <a:xfrm>
            <a:off x="5613401" y="3356992"/>
            <a:ext cx="4054508" cy="2602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272" tIns="40636" rIns="81272" bIns="40636">
            <a:spAutoFit/>
          </a:bodyP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285750" indent="-285750" eaLnBrk="1" hangingPunct="1">
              <a:lnSpc>
                <a:spcPct val="130000"/>
              </a:lnSpc>
            </a:pP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Giá</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trị</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của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nhọn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có</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thể</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nằm</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trong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phạm</a:t>
            </a:r>
            <a:r>
              <a:rPr lang="en-US" altLang="ko-KR" sz="1400" b="1" dirty="0">
                <a:solidFill>
                  <a:srgbClr val="000000"/>
                </a:solidFill>
                <a:latin typeface="Arial" pitchFamily="34" charset="0"/>
                <a:ea typeface="맑은 고딕" pitchFamily="50" charset="-127"/>
                <a:cs typeface="Arial" pitchFamily="34" charset="0"/>
              </a:rPr>
              <a:t> vi </a:t>
            </a:r>
            <a:r>
              <a:rPr lang="en-US" altLang="ko-KR" sz="1400" b="1" dirty="0" err="1">
                <a:solidFill>
                  <a:srgbClr val="000000"/>
                </a:solidFill>
                <a:latin typeface="Arial" pitchFamily="34" charset="0"/>
                <a:ea typeface="맑은 고딕" pitchFamily="50" charset="-127"/>
                <a:cs typeface="Arial" pitchFamily="34" charset="0"/>
              </a:rPr>
              <a:t>dưới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đây</a:t>
            </a:r>
            <a:endParaRPr lang="ko-KR" altLang="en-US"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K = 0 :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thường</a:t>
            </a:r>
            <a:endParaRPr lang="ko-KR" altLang="en-US"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K </a:t>
            </a:r>
            <a:r>
              <a:rPr lang="ko-KR" altLang="en-US" sz="1400" b="1" dirty="0">
                <a:solidFill>
                  <a:srgbClr val="000000"/>
                </a:solidFill>
                <a:latin typeface="Arial" pitchFamily="34" charset="0"/>
                <a:ea typeface="맑은 고딕" pitchFamily="50" charset="-127"/>
                <a:cs typeface="Arial" pitchFamily="34" charset="0"/>
              </a:rPr>
              <a:t>＞</a:t>
            </a:r>
            <a:r>
              <a:rPr lang="en-US" altLang="ko-KR" sz="1400" b="1" dirty="0">
                <a:solidFill>
                  <a:srgbClr val="000000"/>
                </a:solidFill>
                <a:latin typeface="Arial" pitchFamily="34" charset="0"/>
                <a:ea typeface="맑은 고딕" pitchFamily="50" charset="-127"/>
                <a:cs typeface="Arial" pitchFamily="34" charset="0"/>
              </a:rPr>
              <a:t>0 :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nhọn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hơn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thường</a:t>
            </a:r>
            <a:endParaRPr lang="ko-KR" altLang="en-US"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K</a:t>
            </a: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0 :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phẳng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hơn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thường</a:t>
            </a:r>
            <a:endParaRPr lang="ko-KR" altLang="en-US" sz="1400" b="1" dirty="0">
              <a:solidFill>
                <a:srgbClr val="000000"/>
              </a:solidFill>
              <a:latin typeface="Arial" pitchFamily="34" charset="0"/>
              <a:ea typeface="맑은 고딕" pitchFamily="50" charset="-127"/>
              <a:cs typeface="Arial" pitchFamily="34" charset="0"/>
            </a:endParaRPr>
          </a:p>
          <a:p>
            <a:pPr eaLnBrk="1" hangingPunct="1">
              <a:lnSpc>
                <a:spcPct val="130000"/>
              </a:lnSpc>
            </a:pPr>
            <a:r>
              <a:rPr lang="en-US" altLang="ko-KR" sz="1400" b="1" dirty="0" err="1">
                <a:solidFill>
                  <a:srgbClr val="000000"/>
                </a:solidFill>
                <a:latin typeface="Arial" pitchFamily="34" charset="0"/>
                <a:ea typeface="맑은 고딕" pitchFamily="50" charset="-127"/>
                <a:cs typeface="Arial" pitchFamily="34" charset="0"/>
              </a:rPr>
              <a:t>Vì</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thế</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chỉ</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số</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nhọn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có</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thể</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đóng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vai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trò</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như</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chỉ</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số</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đánh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giá</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sự</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sắc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bén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trong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phối</a:t>
            </a:r>
            <a:endParaRPr lang="en-US" altLang="ko-KR" sz="1400" b="1" dirty="0">
              <a:latin typeface="Arial" pitchFamily="34" charset="0"/>
              <a:ea typeface="맑은 고딕" pitchFamily="50" charset="-127"/>
              <a:cs typeface="Arial" pitchFamily="34" charset="0"/>
            </a:endParaRPr>
          </a:p>
        </p:txBody>
      </p:sp>
      <p:pic>
        <p:nvPicPr>
          <p:cNvPr id="48134" name="Picture 16" descr="UNI5da4"/>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1217613" y="3707606"/>
            <a:ext cx="4276725"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a:xfrm>
            <a:off x="9166225" y="6453336"/>
            <a:ext cx="654050" cy="365125"/>
          </a:xfrm>
        </p:spPr>
        <p:txBody>
          <a:bodyPr/>
          <a:lstStyle/>
          <a:p>
            <a:pPr>
              <a:defRPr/>
            </a:pPr>
            <a:fld id="{336E293E-7793-468B-AB4C-49C46432963A}" type="slidenum">
              <a:rPr lang="ko-KR" altLang="en-US" smtClean="0">
                <a:latin typeface="Arial" pitchFamily="34" charset="0"/>
                <a:cs typeface="Arial" pitchFamily="34" charset="0"/>
              </a:rPr>
              <a:pPr>
                <a:defRPr/>
              </a:pPr>
              <a:t>52</a:t>
            </a:fld>
            <a:endParaRPr lang="ko-KR" altLang="en-US" dirty="0">
              <a:latin typeface="Arial" pitchFamily="34" charset="0"/>
              <a:cs typeface="Arial" pitchFamily="34" charset="0"/>
            </a:endParaRPr>
          </a:p>
        </p:txBody>
      </p:sp>
      <p:sp>
        <p:nvSpPr>
          <p:cNvPr id="9"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
        <p:nvSpPr>
          <p:cNvPr id="3" name="Rectangle 2"/>
          <p:cNvSpPr/>
          <p:nvPr/>
        </p:nvSpPr>
        <p:spPr>
          <a:xfrm>
            <a:off x="1136576" y="5301208"/>
            <a:ext cx="4176464" cy="27806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p:nvPr/>
        </p:nvSpPr>
        <p:spPr>
          <a:xfrm>
            <a:off x="1352600" y="5301208"/>
            <a:ext cx="1083072" cy="412421"/>
          </a:xfrm>
          <a:prstGeom prst="rect">
            <a:avLst/>
          </a:prstGeom>
          <a:noFill/>
        </p:spPr>
        <p:txBody>
          <a:bodyPr wrap="square" rtlCol="0">
            <a:spAutoFit/>
          </a:bodyPr>
          <a:lstStyle/>
          <a:p>
            <a:pPr marL="266700" indent="-266700">
              <a:lnSpc>
                <a:spcPct val="130000"/>
              </a:lnSpc>
              <a:buClr>
                <a:srgbClr val="C5003D"/>
              </a:buClr>
              <a:buFont typeface="Wingdings" pitchFamily="2" charset="2"/>
              <a:buChar char="u"/>
            </a:pPr>
            <a:r>
              <a:rPr lang="en-US" sz="1600" b="1" dirty="0"/>
              <a:t>K&gt;0</a:t>
            </a:r>
          </a:p>
        </p:txBody>
      </p:sp>
      <p:sp>
        <p:nvSpPr>
          <p:cNvPr id="11" name="TextBox 10"/>
          <p:cNvSpPr txBox="1"/>
          <p:nvPr/>
        </p:nvSpPr>
        <p:spPr>
          <a:xfrm>
            <a:off x="2736033" y="5301208"/>
            <a:ext cx="1083072" cy="412421"/>
          </a:xfrm>
          <a:prstGeom prst="rect">
            <a:avLst/>
          </a:prstGeom>
          <a:noFill/>
        </p:spPr>
        <p:txBody>
          <a:bodyPr wrap="square" rtlCol="0">
            <a:spAutoFit/>
          </a:bodyPr>
          <a:lstStyle/>
          <a:p>
            <a:pPr marL="266700" indent="-266700">
              <a:lnSpc>
                <a:spcPct val="130000"/>
              </a:lnSpc>
              <a:buClr>
                <a:srgbClr val="C5003D"/>
              </a:buClr>
              <a:buFont typeface="Wingdings" pitchFamily="2" charset="2"/>
              <a:buChar char="u"/>
            </a:pPr>
            <a:r>
              <a:rPr lang="en-US" sz="1600" b="1" dirty="0"/>
              <a:t>K&lt;0</a:t>
            </a:r>
          </a:p>
        </p:txBody>
      </p:sp>
      <p:sp>
        <p:nvSpPr>
          <p:cNvPr id="12" name="TextBox 11"/>
          <p:cNvSpPr txBox="1"/>
          <p:nvPr/>
        </p:nvSpPr>
        <p:spPr>
          <a:xfrm>
            <a:off x="4320617" y="5301208"/>
            <a:ext cx="1083072" cy="412421"/>
          </a:xfrm>
          <a:prstGeom prst="rect">
            <a:avLst/>
          </a:prstGeom>
          <a:noFill/>
        </p:spPr>
        <p:txBody>
          <a:bodyPr wrap="square" rtlCol="0">
            <a:spAutoFit/>
          </a:bodyPr>
          <a:lstStyle/>
          <a:p>
            <a:pPr marL="266700" indent="-266700">
              <a:lnSpc>
                <a:spcPct val="130000"/>
              </a:lnSpc>
              <a:buClr>
                <a:srgbClr val="C5003D"/>
              </a:buClr>
              <a:buFont typeface="Wingdings" pitchFamily="2" charset="2"/>
              <a:buChar char="u"/>
            </a:pPr>
            <a:r>
              <a:rPr lang="en-US" sz="1600" b="1"/>
              <a:t>K=0</a:t>
            </a:r>
            <a:endParaRPr lang="en-US" sz="1600" b="1" dirty="0"/>
          </a:p>
        </p:txBody>
      </p:sp>
    </p:spTree>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3"/>
          <p:cNvSpPr>
            <a:spLocks noChangeArrowheads="1"/>
          </p:cNvSpPr>
          <p:nvPr/>
        </p:nvSpPr>
        <p:spPr bwMode="auto">
          <a:xfrm>
            <a:off x="3944888" y="1253070"/>
            <a:ext cx="328455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để</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thể</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hiện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dữ</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liệu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như</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một</a:t>
            </a:r>
            <a:r>
              <a:rPr kumimoji="0" lang="en-US" altLang="ko-KR" sz="1400" b="1" dirty="0">
                <a:latin typeface="Arial" pitchFamily="34" charset="0"/>
                <a:ea typeface="맑은 고딕" pitchFamily="50" charset="-127"/>
                <a:cs typeface="Arial" pitchFamily="34" charset="0"/>
              </a:rPr>
              <a:t> con </a:t>
            </a:r>
            <a:r>
              <a:rPr kumimoji="0" lang="en-US" altLang="ko-KR" sz="1400" b="1" dirty="0" err="1">
                <a:latin typeface="Arial" pitchFamily="34" charset="0"/>
                <a:ea typeface="맑은 고딕" pitchFamily="50" charset="-127"/>
                <a:cs typeface="Arial" pitchFamily="34" charset="0"/>
              </a:rPr>
              <a:t>số</a:t>
            </a:r>
            <a:endParaRPr kumimoji="0" lang="ko-KR" altLang="en-US" sz="1400" b="1" dirty="0">
              <a:latin typeface="Arial" pitchFamily="34" charset="0"/>
              <a:ea typeface="맑은 고딕" pitchFamily="50" charset="-127"/>
              <a:cs typeface="Arial" pitchFamily="34" charset="0"/>
            </a:endParaRPr>
          </a:p>
        </p:txBody>
      </p:sp>
      <p:graphicFrame>
        <p:nvGraphicFramePr>
          <p:cNvPr id="3" name="Group 38"/>
          <p:cNvGraphicFramePr>
            <a:graphicFrameLocks noGrp="1"/>
          </p:cNvGraphicFramePr>
          <p:nvPr/>
        </p:nvGraphicFramePr>
        <p:xfrm>
          <a:off x="1388629" y="2132013"/>
          <a:ext cx="7128743" cy="3438435"/>
        </p:xfrm>
        <a:graphic>
          <a:graphicData uri="http://schemas.openxmlformats.org/drawingml/2006/table">
            <a:tbl>
              <a:tblPr/>
              <a:tblGrid>
                <a:gridCol w="3168352">
                  <a:extLst>
                    <a:ext uri="{9D8B030D-6E8A-4147-A177-3AD203B41FA5}">
                      <a16:colId xmlns:a16="http://schemas.microsoft.com/office/drawing/2014/main" val="20000"/>
                    </a:ext>
                  </a:extLst>
                </a:gridCol>
                <a:gridCol w="3960391">
                  <a:extLst>
                    <a:ext uri="{9D8B030D-6E8A-4147-A177-3AD203B41FA5}">
                      <a16:colId xmlns:a16="http://schemas.microsoft.com/office/drawing/2014/main" val="20001"/>
                    </a:ext>
                  </a:extLst>
                </a:gridCol>
              </a:tblGrid>
              <a:tr h="30495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Mục</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đích</a:t>
                      </a:r>
                      <a:endParaRPr kumimoji="1" lang="ko-KR" altLang="en-US"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ECFF"/>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thống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kê</a:t>
                      </a:r>
                      <a:endParaRPr kumimoji="1" lang="ko-KR" altLang="en-US"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ECFF"/>
                    </a:solidFill>
                  </a:tcPr>
                </a:tc>
                <a:extLst>
                  <a:ext uri="{0D108BD9-81ED-4DB2-BD59-A6C34878D82A}">
                    <a16:rowId xmlns:a16="http://schemas.microsoft.com/office/drawing/2014/main" val="10000"/>
                  </a:ext>
                </a:extLst>
              </a:tr>
              <a:tr h="851326">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Để mô tả trung tâm dữ liệu.</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(Vị trí của trung tâm phân phối).</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Trung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bình</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(Mean)</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Trimmed mean</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defRPr/>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Trung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vị</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(Median)</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defRPr/>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Mode</a:t>
                      </a: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073433">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Để mô tả mức độ dữ liệu lan truyền.</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(Bằng số liệu lan truyền)</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lệch</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chuẩn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(Standard Deviation)</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Phương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sai</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(Variance)</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Khoảng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(Range)</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vị</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(Percentile)</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Hệ</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biến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thiên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(Coefficient of Variation)</a:t>
                      </a: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61113">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Đ</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ể</a:t>
                      </a: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mô tả hình dạng của dữ liệu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khi</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lan truyền</a:t>
                      </a:r>
                      <a:b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br>
                      <a:r>
                        <a:rPr kumimoji="1" lang="vi-VN"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(Hình dạng của dữ liệu lan truyền)</a:t>
                      </a:r>
                      <a:endPar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lệch</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Skewness</a:t>
                      </a:r>
                      <a:r>
                        <a:rPr kumimoji="1" lang="en-US" altLang="ko-KR" sz="14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a:t>
                      </a:r>
                    </a:p>
                    <a:p>
                      <a:pPr marL="285750" marR="0" lvl="0" indent="-285750" algn="l" defTabSz="914400" rtl="0" eaLnBrk="1" fontAlgn="base" latinLnBrk="1" hangingPunct="1">
                        <a:lnSpc>
                          <a:spcPct val="100000"/>
                        </a:lnSpc>
                        <a:spcBef>
                          <a:spcPct val="20000"/>
                        </a:spcBef>
                        <a:spcAft>
                          <a:spcPct val="0"/>
                        </a:spcAft>
                        <a:buClrTx/>
                        <a:buSzTx/>
                        <a:buFont typeface="Arial" panose="020B0604020202020204" pitchFamily="34" charset="0"/>
                        <a:buChar char="•"/>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nhọn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(Kurtosis)</a:t>
                      </a:r>
                    </a:p>
                  </a:txBody>
                  <a:tcPr marT="45743" marB="4574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38932" name="Text Box 3"/>
          <p:cNvSpPr txBox="1">
            <a:spLocks noChangeArrowheads="1"/>
          </p:cNvSpPr>
          <p:nvPr/>
        </p:nvSpPr>
        <p:spPr bwMode="auto">
          <a:xfrm>
            <a:off x="776288" y="1196975"/>
            <a:ext cx="33908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Blip>
                <a:blip r:embed="rId3"/>
              </a:buBlip>
            </a:pP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loại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thống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kê</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kỹ</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thuật</a:t>
            </a:r>
            <a:endParaRPr lang="en-US" altLang="ko-KR" b="1" dirty="0">
              <a:latin typeface="Arial" pitchFamily="34" charset="0"/>
              <a:ea typeface="맑은 고딕" pitchFamily="50" charset="-127"/>
              <a:cs typeface="Arial" pitchFamily="34" charset="0"/>
            </a:endParaRPr>
          </a:p>
        </p:txBody>
      </p:sp>
      <p:sp>
        <p:nvSpPr>
          <p:cNvPr id="38933"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53</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382941559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ext Box 3"/>
          <p:cNvSpPr txBox="1">
            <a:spLocks noChangeArrowheads="1"/>
          </p:cNvSpPr>
          <p:nvPr/>
        </p:nvSpPr>
        <p:spPr bwMode="auto">
          <a:xfrm>
            <a:off x="631825" y="1196975"/>
            <a:ext cx="46343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3525" indent="-2635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Blip>
                <a:blip r:embed="rId2"/>
              </a:buBlip>
            </a:pPr>
            <a:r>
              <a:rPr lang="en-US" altLang="ko-KR" b="1" dirty="0" err="1">
                <a:latin typeface="Arial" pitchFamily="34" charset="0"/>
                <a:ea typeface="맑은 고딕" pitchFamily="50" charset="-127"/>
                <a:cs typeface="Arial" pitchFamily="34" charset="0"/>
              </a:rPr>
              <a:t>Tính</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toán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số</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sử</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dụng</a:t>
            </a:r>
            <a:r>
              <a:rPr lang="en-US" altLang="ko-KR" b="1" dirty="0">
                <a:latin typeface="Arial" pitchFamily="34" charset="0"/>
                <a:ea typeface="맑은 고딕" pitchFamily="50" charset="-127"/>
                <a:cs typeface="Arial" pitchFamily="34" charset="0"/>
              </a:rPr>
              <a:t> Minitab</a:t>
            </a:r>
            <a:r>
              <a:rPr lang="ko-KR" altLang="en-US" b="1" dirty="0">
                <a:latin typeface="Arial" pitchFamily="34" charset="0"/>
                <a:ea typeface="맑은 고딕" pitchFamily="50" charset="-127"/>
                <a:cs typeface="Arial" pitchFamily="34" charset="0"/>
              </a:rPr>
              <a:t> </a:t>
            </a:r>
            <a:r>
              <a:rPr lang="en-US" altLang="ko-KR" b="1" dirty="0">
                <a:latin typeface="Arial" pitchFamily="34" charset="0"/>
                <a:ea typeface="맑은 고딕" pitchFamily="50" charset="-127"/>
                <a:cs typeface="Arial" pitchFamily="34" charset="0"/>
              </a:rPr>
              <a:t>(1)</a:t>
            </a:r>
          </a:p>
        </p:txBody>
      </p:sp>
      <p:sp>
        <p:nvSpPr>
          <p:cNvPr id="52227" name="Rectangle 4"/>
          <p:cNvSpPr>
            <a:spLocks noChangeArrowheads="1"/>
          </p:cNvSpPr>
          <p:nvPr/>
        </p:nvSpPr>
        <p:spPr bwMode="auto">
          <a:xfrm>
            <a:off x="904603" y="1608138"/>
            <a:ext cx="5334281"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cs typeface="Arial" pitchFamily="34" charset="0"/>
              </a:rPr>
              <a:t>(</a:t>
            </a:r>
            <a:r>
              <a:rPr lang="en-US" altLang="ko-KR" sz="1400" b="1" dirty="0" err="1">
                <a:latin typeface="Arial" pitchFamily="34" charset="0"/>
                <a:ea typeface="맑은 고딕" pitchFamily="50" charset="-127"/>
                <a:cs typeface="Arial" pitchFamily="34" charset="0"/>
              </a:rPr>
              <a:t>Giải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toán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số</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thống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kê</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dựa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trên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a:t>
            </a:r>
          </a:p>
        </p:txBody>
      </p:sp>
      <p:pic>
        <p:nvPicPr>
          <p:cNvPr id="52228" name="Picture 9"/>
          <p:cNvPicPr>
            <a:picLocks noChangeAspect="1" noChangeArrowheads="1"/>
          </p:cNvPicPr>
          <p:nvPr/>
        </p:nvPicPr>
        <p:blipFill>
          <a:blip r:embed="rId3" cstate="print"/>
          <a:stretch>
            <a:fillRect/>
          </a:stretch>
        </p:blipFill>
        <p:spPr bwMode="auto">
          <a:xfrm>
            <a:off x="2633679" y="1989138"/>
            <a:ext cx="4057618" cy="4248150"/>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54</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4"/>
          <p:cNvSpPr>
            <a:spLocks noChangeArrowheads="1"/>
          </p:cNvSpPr>
          <p:nvPr/>
        </p:nvSpPr>
        <p:spPr bwMode="auto">
          <a:xfrm>
            <a:off x="611188" y="1412875"/>
            <a:ext cx="8086228"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cs typeface="Arial" pitchFamily="34" charset="0"/>
              </a:rPr>
              <a:t>(</a:t>
            </a:r>
            <a:r>
              <a:rPr lang="en-US" altLang="ko-KR" sz="1400" b="1" dirty="0" err="1">
                <a:latin typeface="Arial" pitchFamily="34" charset="0"/>
                <a:ea typeface="맑은 고딕" pitchFamily="50" charset="-127"/>
                <a:cs typeface="Arial" pitchFamily="34" charset="0"/>
              </a:rPr>
              <a:t>Giải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thích</a:t>
            </a:r>
            <a:r>
              <a:rPr lang="en-US" altLang="ko-KR" sz="1400" b="1" dirty="0">
                <a:latin typeface="Arial" pitchFamily="34" charset="0"/>
                <a:ea typeface="맑은 고딕" pitchFamily="50" charset="-127"/>
                <a:cs typeface="Arial" pitchFamily="34" charset="0"/>
              </a:rPr>
              <a:t>) 1. Statistics &gt; Basic Statistics &gt; Display Descriptive Statistics</a:t>
            </a:r>
          </a:p>
        </p:txBody>
      </p:sp>
      <p:pic>
        <p:nvPicPr>
          <p:cNvPr id="53252" name="Picture 13"/>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3080792" y="2205038"/>
            <a:ext cx="3744416" cy="3500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55</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4"/>
          <p:cNvSpPr>
            <a:spLocks noChangeArrowheads="1"/>
          </p:cNvSpPr>
          <p:nvPr/>
        </p:nvSpPr>
        <p:spPr bwMode="auto">
          <a:xfrm>
            <a:off x="611188" y="1125538"/>
            <a:ext cx="3516988"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cs typeface="Arial" pitchFamily="34" charset="0"/>
              </a:rPr>
              <a:t>(</a:t>
            </a:r>
            <a:r>
              <a:rPr lang="en-US" altLang="ko-KR" sz="1400" b="1" dirty="0" err="1">
                <a:latin typeface="Arial" pitchFamily="34" charset="0"/>
                <a:ea typeface="맑은 고딕" pitchFamily="50" charset="-127"/>
                <a:cs typeface="Arial" pitchFamily="34" charset="0"/>
              </a:rPr>
              <a:t>Giải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thích</a:t>
            </a:r>
            <a:r>
              <a:rPr lang="en-US" altLang="ko-KR" sz="1400" b="1" dirty="0">
                <a:latin typeface="Arial" pitchFamily="34" charset="0"/>
                <a:ea typeface="맑은 고딕" pitchFamily="50" charset="-127"/>
                <a:cs typeface="Arial" pitchFamily="34" charset="0"/>
              </a:rPr>
              <a:t>) 2. </a:t>
            </a:r>
            <a:r>
              <a:rPr lang="en-US" altLang="ko-KR" sz="1400" b="1" dirty="0" err="1">
                <a:latin typeface="Arial" pitchFamily="34" charset="0"/>
                <a:ea typeface="맑은 고딕" pitchFamily="50" charset="-127"/>
                <a:cs typeface="Arial" pitchFamily="34" charset="0"/>
              </a:rPr>
              <a:t>Nhập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&gt; statistics</a:t>
            </a:r>
            <a:r>
              <a:rPr lang="ko-KR" altLang="en-US" sz="1400" b="1" dirty="0">
                <a:latin typeface="Arial" pitchFamily="34" charset="0"/>
                <a:ea typeface="맑은 고딕" pitchFamily="50" charset="-127"/>
                <a:cs typeface="Arial" pitchFamily="34" charset="0"/>
              </a:rPr>
              <a:t> </a:t>
            </a:r>
          </a:p>
        </p:txBody>
      </p:sp>
      <p:sp>
        <p:nvSpPr>
          <p:cNvPr id="54275" name="Rectangle 9"/>
          <p:cNvSpPr>
            <a:spLocks noChangeArrowheads="1"/>
          </p:cNvSpPr>
          <p:nvPr/>
        </p:nvSpPr>
        <p:spPr bwMode="auto">
          <a:xfrm>
            <a:off x="6516688" y="2060575"/>
            <a:ext cx="2159000" cy="5286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81272" tIns="40636" rIns="81272" bIns="40636" anchor="ct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Chọn</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biến</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để</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phân</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tích</a:t>
            </a:r>
            <a:endParaRPr lang="en-US" altLang="ko-KR" sz="1200" b="1" dirty="0">
              <a:solidFill>
                <a:schemeClr val="accent2"/>
              </a:solidFill>
              <a:latin typeface="Arial" pitchFamily="34" charset="0"/>
              <a:ea typeface="맑은 고딕" pitchFamily="50" charset="-127"/>
              <a:cs typeface="Arial" pitchFamily="34" charset="0"/>
            </a:endParaRPr>
          </a:p>
        </p:txBody>
      </p:sp>
      <p:pic>
        <p:nvPicPr>
          <p:cNvPr id="54276" name="Picture 10"/>
          <p:cNvPicPr>
            <a:picLocks noChangeAspect="1" noChangeArrowheads="1"/>
          </p:cNvPicPr>
          <p:nvPr/>
        </p:nvPicPr>
        <p:blipFill>
          <a:blip r:embed="rId2" cstate="print"/>
          <a:stretch>
            <a:fillRect/>
          </a:stretch>
        </p:blipFill>
        <p:spPr bwMode="auto">
          <a:xfrm>
            <a:off x="1785212" y="1484313"/>
            <a:ext cx="4328976" cy="456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277" name="Line 11"/>
          <p:cNvSpPr>
            <a:spLocks noChangeShapeType="1"/>
          </p:cNvSpPr>
          <p:nvPr/>
        </p:nvSpPr>
        <p:spPr bwMode="auto">
          <a:xfrm flipH="1" flipV="1">
            <a:off x="3995738" y="3381375"/>
            <a:ext cx="2520950" cy="730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4278" name="Rectangle 12"/>
          <p:cNvSpPr>
            <a:spLocks noChangeArrowheads="1"/>
          </p:cNvSpPr>
          <p:nvPr/>
        </p:nvSpPr>
        <p:spPr bwMode="auto">
          <a:xfrm>
            <a:off x="6516688" y="3165475"/>
            <a:ext cx="2365402" cy="12969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81272" tIns="40636" rIns="81272" bIns="40636" anchor="ct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Nhập</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dữ</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liệu</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cho</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các</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biến</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cơ</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sở</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khi</a:t>
            </a:r>
            <a:endParaRPr lang="en-US" altLang="ko-KR" sz="1200" b="1" dirty="0">
              <a:solidFill>
                <a:schemeClr val="accent2"/>
              </a:solidFill>
              <a:latin typeface="Arial" pitchFamily="34" charset="0"/>
              <a:ea typeface="맑은 고딕" pitchFamily="50" charset="-127"/>
              <a:cs typeface="Arial" pitchFamily="34" charset="0"/>
            </a:endParaRPr>
          </a:p>
          <a:p>
            <a:pPr eaLnBrk="1" hangingPunct="1"/>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phân</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tích</a:t>
            </a:r>
            <a:endParaRPr lang="en-US" altLang="ko-KR" sz="1200" b="1" dirty="0">
              <a:solidFill>
                <a:schemeClr val="accent2"/>
              </a:solidFill>
              <a:latin typeface="Arial" pitchFamily="34" charset="0"/>
              <a:ea typeface="맑은 고딕" pitchFamily="50" charset="-127"/>
              <a:cs typeface="Arial" pitchFamily="34" charset="0"/>
            </a:endParaRPr>
          </a:p>
          <a:p>
            <a:pPr eaLnBrk="1" hangingPunct="1">
              <a:buFontTx/>
              <a:buChar char="•"/>
            </a:pP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Không</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cần</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nhập</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dữ</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liệu</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đầu</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vào</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nêu</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nó</a:t>
            </a:r>
            <a:endParaRPr lang="en-US" altLang="ko-KR" sz="1200" b="1" dirty="0">
              <a:solidFill>
                <a:schemeClr val="accent2"/>
              </a:solidFill>
              <a:latin typeface="Arial" pitchFamily="34" charset="0"/>
              <a:ea typeface="맑은 고딕" pitchFamily="50" charset="-127"/>
              <a:cs typeface="Arial" pitchFamily="34" charset="0"/>
            </a:endParaRPr>
          </a:p>
          <a:p>
            <a:pPr eaLnBrk="1" hangingPunct="1"/>
            <a:r>
              <a:rPr lang="en-US" altLang="ko-KR" sz="1200" b="1" dirty="0" err="1">
                <a:solidFill>
                  <a:schemeClr val="accent2"/>
                </a:solidFill>
                <a:latin typeface="Arial" pitchFamily="34" charset="0"/>
                <a:ea typeface="맑은 고딕" pitchFamily="50" charset="-127"/>
                <a:cs typeface="Arial" pitchFamily="34" charset="0"/>
              </a:rPr>
              <a:t>Không</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cần</a:t>
            </a:r>
            <a:r>
              <a:rPr lang="en-US" altLang="ko-KR" sz="1200" b="1" dirty="0">
                <a:solidFill>
                  <a:schemeClr val="accent2"/>
                </a:solidFill>
                <a:latin typeface="Arial" pitchFamily="34" charset="0"/>
                <a:ea typeface="맑은 고딕" pitchFamily="50" charset="-127"/>
                <a:cs typeface="Arial" pitchFamily="34" charset="0"/>
              </a:rPr>
              <a:t> </a:t>
            </a:r>
            <a:r>
              <a:rPr lang="en-US" altLang="ko-KR" sz="1200" b="1" dirty="0" err="1">
                <a:solidFill>
                  <a:schemeClr val="accent2"/>
                </a:solidFill>
                <a:latin typeface="Arial" pitchFamily="34" charset="0"/>
                <a:ea typeface="맑은 고딕" pitchFamily="50" charset="-127"/>
                <a:cs typeface="Arial" pitchFamily="34" charset="0"/>
              </a:rPr>
              <a:t>thiết</a:t>
            </a:r>
            <a:endParaRPr lang="en-US" altLang="ko-KR" sz="1200" b="1" dirty="0">
              <a:solidFill>
                <a:schemeClr val="accent2"/>
              </a:solidFill>
              <a:latin typeface="Arial" pitchFamily="34" charset="0"/>
              <a:ea typeface="맑은 고딕" pitchFamily="50" charset="-127"/>
              <a:cs typeface="Arial" pitchFamily="34" charset="0"/>
            </a:endParaRPr>
          </a:p>
        </p:txBody>
      </p:sp>
      <p:sp>
        <p:nvSpPr>
          <p:cNvPr id="54279" name="Line 13"/>
          <p:cNvSpPr>
            <a:spLocks noChangeShapeType="1"/>
          </p:cNvSpPr>
          <p:nvPr/>
        </p:nvSpPr>
        <p:spPr bwMode="auto">
          <a:xfrm flipH="1">
            <a:off x="4187825" y="2225675"/>
            <a:ext cx="2397125" cy="76200"/>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56</a:t>
            </a:fld>
            <a:endParaRPr lang="ko-KR" altLang="en-US" dirty="0">
              <a:latin typeface="Arial" pitchFamily="34" charset="0"/>
              <a:cs typeface="Arial" pitchFamily="34" charset="0"/>
            </a:endParaRPr>
          </a:p>
        </p:txBody>
      </p:sp>
      <p:sp>
        <p:nvSpPr>
          <p:cNvPr id="10"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8"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640632" y="2103770"/>
            <a:ext cx="3384376" cy="25493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5298" name="Rectangle 4"/>
          <p:cNvSpPr>
            <a:spLocks noChangeArrowheads="1"/>
          </p:cNvSpPr>
          <p:nvPr/>
        </p:nvSpPr>
        <p:spPr bwMode="auto">
          <a:xfrm>
            <a:off x="611188" y="1125538"/>
            <a:ext cx="3632789"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cs typeface="Arial" pitchFamily="34" charset="0"/>
              </a:rPr>
              <a:t>(</a:t>
            </a:r>
            <a:r>
              <a:rPr lang="en-US" altLang="ko-KR" sz="1400" b="1" dirty="0" err="1">
                <a:latin typeface="Arial" pitchFamily="34" charset="0"/>
                <a:ea typeface="맑은 고딕" pitchFamily="50" charset="-127"/>
                <a:cs typeface="Arial" pitchFamily="34" charset="0"/>
              </a:rPr>
              <a:t>Giải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thích</a:t>
            </a:r>
            <a:r>
              <a:rPr lang="en-US" altLang="ko-KR" sz="1400" b="1" dirty="0">
                <a:latin typeface="Arial" pitchFamily="34" charset="0"/>
                <a:ea typeface="맑은 고딕" pitchFamily="50" charset="-127"/>
                <a:cs typeface="Arial" pitchFamily="34" charset="0"/>
              </a:rPr>
              <a:t>) 3. </a:t>
            </a:r>
            <a:r>
              <a:rPr lang="en-US" altLang="ko-KR" sz="1400" b="1" dirty="0" err="1">
                <a:latin typeface="Arial" pitchFamily="34" charset="0"/>
                <a:ea typeface="맑은 고딕" pitchFamily="50" charset="-127"/>
                <a:cs typeface="Arial" pitchFamily="34" charset="0"/>
              </a:rPr>
              <a:t>Lựa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chọn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số</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thống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kê</a:t>
            </a:r>
            <a:endParaRPr lang="ko-KR" altLang="en-US" sz="1400" b="1" dirty="0">
              <a:latin typeface="Arial" pitchFamily="34" charset="0"/>
              <a:ea typeface="맑은 고딕" pitchFamily="50" charset="-127"/>
              <a:cs typeface="Arial" pitchFamily="34" charset="0"/>
            </a:endParaRPr>
          </a:p>
        </p:txBody>
      </p:sp>
      <p:sp>
        <p:nvSpPr>
          <p:cNvPr id="55300" name="Rectangle 3"/>
          <p:cNvSpPr>
            <a:spLocks noChangeArrowheads="1"/>
          </p:cNvSpPr>
          <p:nvPr/>
        </p:nvSpPr>
        <p:spPr bwMode="auto">
          <a:xfrm>
            <a:off x="5551814" y="3925436"/>
            <a:ext cx="3297238"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81272" tIns="40636" rIns="81272" bIns="40636" anchor="ctr"/>
          <a:lstStyle>
            <a:lvl1pPr defTabSz="812800" eaLnBrk="0" hangingPunct="0">
              <a:defRPr kumimoji="1">
                <a:solidFill>
                  <a:schemeClr val="tx1"/>
                </a:solidFill>
                <a:latin typeface="굴림" pitchFamily="50" charset="-127"/>
                <a:ea typeface="굴림" pitchFamily="50" charset="-127"/>
              </a:defRPr>
            </a:lvl1pPr>
            <a:lvl2pPr marL="742950" indent="-285750" defTabSz="812800" eaLnBrk="0" hangingPunct="0">
              <a:defRPr kumimoji="1">
                <a:solidFill>
                  <a:schemeClr val="tx1"/>
                </a:solidFill>
                <a:latin typeface="굴림" pitchFamily="50" charset="-127"/>
                <a:ea typeface="굴림" pitchFamily="50" charset="-127"/>
              </a:defRPr>
            </a:lvl2pPr>
            <a:lvl3pPr marL="1143000" indent="-228600" defTabSz="812800" eaLnBrk="0" hangingPunct="0">
              <a:defRPr kumimoji="1">
                <a:solidFill>
                  <a:schemeClr val="tx1"/>
                </a:solidFill>
                <a:latin typeface="굴림" pitchFamily="50" charset="-127"/>
                <a:ea typeface="굴림" pitchFamily="50" charset="-127"/>
              </a:defRPr>
            </a:lvl3pPr>
            <a:lvl4pPr marL="1600200" indent="-228600" defTabSz="812800" eaLnBrk="0" hangingPunct="0">
              <a:defRPr kumimoji="1">
                <a:solidFill>
                  <a:schemeClr val="tx1"/>
                </a:solidFill>
                <a:latin typeface="굴림" pitchFamily="50" charset="-127"/>
                <a:ea typeface="굴림" pitchFamily="50" charset="-127"/>
              </a:defRPr>
            </a:lvl4pPr>
            <a:lvl5pPr marL="2057400" indent="-228600" defTabSz="812800" eaLnBrk="0" hangingPunct="0">
              <a:defRPr kumimoji="1">
                <a:solidFill>
                  <a:schemeClr val="tx1"/>
                </a:solidFill>
                <a:latin typeface="굴림" pitchFamily="50" charset="-127"/>
                <a:ea typeface="굴림" pitchFamily="50" charset="-127"/>
              </a:defRPr>
            </a:lvl5pPr>
            <a:lvl6pPr marL="25146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12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buFontTx/>
              <a:buChar char="•"/>
            </a:pP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Lựa</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chọn</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số</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liệu</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thống</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kê</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để</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phân</a:t>
            </a:r>
            <a:r>
              <a:rPr lang="en-US" altLang="ko-KR" sz="1400" b="1" dirty="0">
                <a:solidFill>
                  <a:schemeClr val="accent2"/>
                </a:solidFill>
                <a:latin typeface="Arial" pitchFamily="34" charset="0"/>
                <a:ea typeface="맑은 고딕" pitchFamily="50" charset="-127"/>
                <a:cs typeface="Arial" pitchFamily="34" charset="0"/>
              </a:rPr>
              <a:t> </a:t>
            </a:r>
            <a:r>
              <a:rPr lang="en-US" altLang="ko-KR" sz="1400" b="1" dirty="0" err="1">
                <a:solidFill>
                  <a:schemeClr val="accent2"/>
                </a:solidFill>
                <a:latin typeface="Arial" pitchFamily="34" charset="0"/>
                <a:ea typeface="맑은 고딕" pitchFamily="50" charset="-127"/>
                <a:cs typeface="Arial" pitchFamily="34" charset="0"/>
              </a:rPr>
              <a:t>tích</a:t>
            </a:r>
            <a:endParaRPr lang="en-US" altLang="ko-KR" sz="1400" b="1" dirty="0">
              <a:solidFill>
                <a:schemeClr val="accent2"/>
              </a:solidFill>
              <a:latin typeface="Arial" pitchFamily="34" charset="0"/>
              <a:ea typeface="맑은 고딕" pitchFamily="50" charset="-127"/>
              <a:cs typeface="Arial" pitchFamily="34" charset="0"/>
            </a:endParaRPr>
          </a:p>
        </p:txBody>
      </p:sp>
      <p:sp>
        <p:nvSpPr>
          <p:cNvPr id="55301" name="Line 6"/>
          <p:cNvSpPr>
            <a:spLocks noChangeShapeType="1"/>
          </p:cNvSpPr>
          <p:nvPr/>
        </p:nvSpPr>
        <p:spPr bwMode="auto">
          <a:xfrm flipH="1" flipV="1">
            <a:off x="4520952" y="3471922"/>
            <a:ext cx="1008111" cy="677158"/>
          </a:xfrm>
          <a:prstGeom prst="line">
            <a:avLst/>
          </a:prstGeom>
          <a:noFill/>
          <a:ln w="12700">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57</a:t>
            </a:fld>
            <a:endParaRPr lang="ko-KR" altLang="en-US" dirty="0">
              <a:latin typeface="Arial" pitchFamily="34" charset="0"/>
              <a:cs typeface="Arial" pitchFamily="34" charset="0"/>
            </a:endParaRPr>
          </a:p>
        </p:txBody>
      </p:sp>
      <p:sp>
        <p:nvSpPr>
          <p:cNvPr id="9"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Picture 36" descr="3.png"/>
          <p:cNvPicPr>
            <a:picLocks noChangeAspect="1"/>
          </p:cNvPicPr>
          <p:nvPr/>
        </p:nvPicPr>
        <p:blipFill>
          <a:blip r:embed="rId2" cstate="print"/>
          <a:stretch>
            <a:fillRect/>
          </a:stretch>
        </p:blipFill>
        <p:spPr>
          <a:xfrm>
            <a:off x="2258574" y="2204864"/>
            <a:ext cx="5388853" cy="3811628"/>
          </a:xfrm>
          <a:prstGeom prst="rect">
            <a:avLst/>
          </a:prstGeom>
        </p:spPr>
      </p:pic>
      <p:sp>
        <p:nvSpPr>
          <p:cNvPr id="56322" name="Rectangle 4"/>
          <p:cNvSpPr>
            <a:spLocks noChangeArrowheads="1"/>
          </p:cNvSpPr>
          <p:nvPr/>
        </p:nvSpPr>
        <p:spPr bwMode="auto">
          <a:xfrm>
            <a:off x="611188" y="1196975"/>
            <a:ext cx="1835439"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cs typeface="Arial" pitchFamily="34" charset="0"/>
              </a:rPr>
              <a:t>(</a:t>
            </a:r>
            <a:r>
              <a:rPr lang="en-US" altLang="ko-KR" sz="1400" b="1" dirty="0" err="1">
                <a:latin typeface="Arial" pitchFamily="34" charset="0"/>
                <a:ea typeface="맑은 고딕" pitchFamily="50" charset="-127"/>
                <a:cs typeface="Arial" pitchFamily="34" charset="0"/>
              </a:rPr>
              <a:t>Giải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Kết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quả</a:t>
            </a:r>
            <a:endParaRPr lang="ko-KR" altLang="en-US" sz="1400" b="1" dirty="0">
              <a:latin typeface="Arial" pitchFamily="34" charset="0"/>
              <a:ea typeface="맑은 고딕" pitchFamily="50" charset="-127"/>
              <a:cs typeface="Arial" pitchFamily="34" charset="0"/>
            </a:endParaRPr>
          </a:p>
        </p:txBody>
      </p:sp>
      <p:sp>
        <p:nvSpPr>
          <p:cNvPr id="56324" name="Line 9"/>
          <p:cNvSpPr>
            <a:spLocks noChangeShapeType="1"/>
          </p:cNvSpPr>
          <p:nvPr/>
        </p:nvSpPr>
        <p:spPr bwMode="auto">
          <a:xfrm>
            <a:off x="2339975" y="1989138"/>
            <a:ext cx="668810" cy="1151830"/>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25" name="Line 11"/>
          <p:cNvSpPr>
            <a:spLocks noChangeShapeType="1"/>
          </p:cNvSpPr>
          <p:nvPr/>
        </p:nvSpPr>
        <p:spPr bwMode="auto">
          <a:xfrm>
            <a:off x="3924300" y="1844675"/>
            <a:ext cx="20588" cy="1296294"/>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26" name="Line 14"/>
          <p:cNvSpPr>
            <a:spLocks noChangeShapeType="1"/>
          </p:cNvSpPr>
          <p:nvPr/>
        </p:nvSpPr>
        <p:spPr bwMode="auto">
          <a:xfrm flipH="1">
            <a:off x="4592959" y="1844675"/>
            <a:ext cx="699764" cy="1296294"/>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27" name="Line 15"/>
          <p:cNvSpPr>
            <a:spLocks noChangeShapeType="1"/>
          </p:cNvSpPr>
          <p:nvPr/>
        </p:nvSpPr>
        <p:spPr bwMode="auto">
          <a:xfrm flipH="1">
            <a:off x="4232919" y="1628775"/>
            <a:ext cx="770879" cy="1512194"/>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28" name="Text Box 16"/>
          <p:cNvSpPr txBox="1">
            <a:spLocks noChangeArrowheads="1"/>
          </p:cNvSpPr>
          <p:nvPr/>
        </p:nvSpPr>
        <p:spPr bwMode="auto">
          <a:xfrm>
            <a:off x="1304828" y="1599229"/>
            <a:ext cx="16546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Phân</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tích</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được</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thực</a:t>
            </a:r>
            <a:r>
              <a:rPr lang="en-US" altLang="ko-KR" sz="1000" b="1" dirty="0">
                <a:solidFill>
                  <a:schemeClr val="accent2"/>
                </a:solidFill>
                <a:latin typeface="Arial" pitchFamily="34" charset="0"/>
                <a:ea typeface="맑은 고딕" pitchFamily="50" charset="-127"/>
                <a:cs typeface="Arial" pitchFamily="34" charset="0"/>
              </a:rPr>
              <a:t> </a:t>
            </a:r>
          </a:p>
          <a:p>
            <a:pPr eaLnBrk="1" hangingPunct="1"/>
            <a:r>
              <a:rPr lang="en-US" altLang="ko-KR" sz="1000" b="1" dirty="0" err="1">
                <a:solidFill>
                  <a:schemeClr val="accent2"/>
                </a:solidFill>
                <a:latin typeface="Arial" pitchFamily="34" charset="0"/>
                <a:ea typeface="맑은 고딕" pitchFamily="50" charset="-127"/>
                <a:cs typeface="Arial" pitchFamily="34" charset="0"/>
              </a:rPr>
              <a:t>hiện</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cho</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mỗi</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giá</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trị</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biến</a:t>
            </a:r>
            <a:endParaRPr lang="en-US" altLang="ko-KR" sz="1000" dirty="0">
              <a:latin typeface="Arial" pitchFamily="34" charset="0"/>
              <a:ea typeface="맑은 고딕" pitchFamily="50" charset="-127"/>
              <a:cs typeface="Arial" pitchFamily="34" charset="0"/>
            </a:endParaRPr>
          </a:p>
        </p:txBody>
      </p:sp>
      <p:sp>
        <p:nvSpPr>
          <p:cNvPr id="56329" name="Text Box 17"/>
          <p:cNvSpPr txBox="1">
            <a:spLocks noChangeArrowheads="1"/>
          </p:cNvSpPr>
          <p:nvPr/>
        </p:nvSpPr>
        <p:spPr bwMode="auto">
          <a:xfrm>
            <a:off x="3008784" y="1484313"/>
            <a:ext cx="11689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Số</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lượng</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mẫu</a:t>
            </a:r>
            <a:endParaRPr lang="en-US" altLang="ko-KR" sz="1000" b="1" dirty="0">
              <a:solidFill>
                <a:schemeClr val="accent2"/>
              </a:solidFill>
              <a:latin typeface="Arial" pitchFamily="34" charset="0"/>
              <a:ea typeface="맑은 고딕" pitchFamily="50" charset="-127"/>
              <a:cs typeface="Arial" pitchFamily="34" charset="0"/>
            </a:endParaRPr>
          </a:p>
          <a:p>
            <a:pPr eaLnBrk="1" hangingPunct="1"/>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không</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bỏ</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sót</a:t>
            </a:r>
            <a:endParaRPr lang="ko-KR" altLang="en-US" sz="1000" dirty="0">
              <a:latin typeface="Arial" pitchFamily="34" charset="0"/>
              <a:ea typeface="맑은 고딕" pitchFamily="50" charset="-127"/>
              <a:cs typeface="Arial" pitchFamily="34" charset="0"/>
            </a:endParaRPr>
          </a:p>
        </p:txBody>
      </p:sp>
      <p:sp>
        <p:nvSpPr>
          <p:cNvPr id="56330" name="Text Box 18"/>
          <p:cNvSpPr txBox="1">
            <a:spLocks noChangeArrowheads="1"/>
          </p:cNvSpPr>
          <p:nvPr/>
        </p:nvSpPr>
        <p:spPr bwMode="auto">
          <a:xfrm>
            <a:off x="4932363" y="1339850"/>
            <a:ext cx="116891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Số</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lượng</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mẫu</a:t>
            </a:r>
            <a:endParaRPr lang="en-US" altLang="ko-KR" sz="1000" b="1" dirty="0">
              <a:solidFill>
                <a:schemeClr val="accent2"/>
              </a:solidFill>
              <a:latin typeface="Arial" pitchFamily="34" charset="0"/>
              <a:ea typeface="맑은 고딕" pitchFamily="50" charset="-127"/>
              <a:cs typeface="Arial" pitchFamily="34" charset="0"/>
            </a:endParaRPr>
          </a:p>
          <a:p>
            <a:pPr eaLnBrk="1" hangingPunct="1"/>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bỏ</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sót</a:t>
            </a:r>
            <a:endParaRPr lang="ko-KR" altLang="en-US" sz="1000" dirty="0">
              <a:latin typeface="Arial" pitchFamily="34" charset="0"/>
              <a:ea typeface="맑은 고딕" pitchFamily="50" charset="-127"/>
              <a:cs typeface="Arial" pitchFamily="34" charset="0"/>
            </a:endParaRPr>
          </a:p>
          <a:p>
            <a:pPr eaLnBrk="1" hangingPunct="1">
              <a:buFontTx/>
              <a:buChar char="•"/>
            </a:pPr>
            <a:endParaRPr lang="ko-KR" altLang="en-US" sz="1000" dirty="0">
              <a:latin typeface="Arial" pitchFamily="34" charset="0"/>
              <a:ea typeface="맑은 고딕" pitchFamily="50" charset="-127"/>
              <a:cs typeface="Arial" pitchFamily="34" charset="0"/>
            </a:endParaRPr>
          </a:p>
        </p:txBody>
      </p:sp>
      <p:sp>
        <p:nvSpPr>
          <p:cNvPr id="56331" name="Text Box 19"/>
          <p:cNvSpPr txBox="1">
            <a:spLocks noChangeArrowheads="1"/>
          </p:cNvSpPr>
          <p:nvPr/>
        </p:nvSpPr>
        <p:spPr bwMode="auto">
          <a:xfrm>
            <a:off x="5292725" y="1628775"/>
            <a:ext cx="16674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Số</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lượng</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mẫu</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tích</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lũy</a:t>
            </a:r>
            <a:endParaRPr lang="ko-KR" altLang="en-US" sz="1000" dirty="0">
              <a:latin typeface="Arial" pitchFamily="34" charset="0"/>
              <a:ea typeface="맑은 고딕" pitchFamily="50" charset="-127"/>
              <a:cs typeface="Arial" pitchFamily="34" charset="0"/>
            </a:endParaRPr>
          </a:p>
        </p:txBody>
      </p:sp>
      <p:sp>
        <p:nvSpPr>
          <p:cNvPr id="56332" name="Line 21"/>
          <p:cNvSpPr>
            <a:spLocks noChangeShapeType="1"/>
          </p:cNvSpPr>
          <p:nvPr/>
        </p:nvSpPr>
        <p:spPr bwMode="auto">
          <a:xfrm flipH="1">
            <a:off x="7257256" y="2133600"/>
            <a:ext cx="554832" cy="1007368"/>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33" name="Line 23"/>
          <p:cNvSpPr>
            <a:spLocks noChangeShapeType="1"/>
          </p:cNvSpPr>
          <p:nvPr/>
        </p:nvSpPr>
        <p:spPr bwMode="auto">
          <a:xfrm flipH="1">
            <a:off x="5097015" y="2060575"/>
            <a:ext cx="411608" cy="1080394"/>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34" name="Line 25"/>
          <p:cNvSpPr>
            <a:spLocks noChangeShapeType="1"/>
          </p:cNvSpPr>
          <p:nvPr/>
        </p:nvSpPr>
        <p:spPr bwMode="auto">
          <a:xfrm flipH="1">
            <a:off x="6681192" y="1773238"/>
            <a:ext cx="411758" cy="1367730"/>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35" name="Text Box 26"/>
          <p:cNvSpPr txBox="1">
            <a:spLocks noChangeArrowheads="1"/>
          </p:cNvSpPr>
          <p:nvPr/>
        </p:nvSpPr>
        <p:spPr bwMode="auto">
          <a:xfrm>
            <a:off x="5508625" y="1844675"/>
            <a:ext cx="13756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err="1">
                <a:solidFill>
                  <a:schemeClr val="accent2"/>
                </a:solidFill>
                <a:latin typeface="Arial" pitchFamily="34" charset="0"/>
                <a:ea typeface="맑은 고딕" pitchFamily="50" charset="-127"/>
                <a:cs typeface="Arial" pitchFamily="34" charset="0"/>
              </a:rPr>
              <a:t>Phần</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trăm</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tích</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lũy</a:t>
            </a:r>
            <a:endParaRPr lang="ko-KR" altLang="en-US" sz="1000" dirty="0">
              <a:latin typeface="Arial" pitchFamily="34" charset="0"/>
              <a:ea typeface="맑은 고딕" pitchFamily="50" charset="-127"/>
              <a:cs typeface="Arial" pitchFamily="34" charset="0"/>
            </a:endParaRPr>
          </a:p>
        </p:txBody>
      </p:sp>
      <p:sp>
        <p:nvSpPr>
          <p:cNvPr id="56336" name="Text Box 27"/>
          <p:cNvSpPr txBox="1">
            <a:spLocks noChangeArrowheads="1"/>
          </p:cNvSpPr>
          <p:nvPr/>
        </p:nvSpPr>
        <p:spPr bwMode="auto">
          <a:xfrm>
            <a:off x="7019925" y="1484313"/>
            <a:ext cx="26244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Độ</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lệch</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chuẩn</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chia</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cho</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bình</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phương</a:t>
            </a:r>
            <a:r>
              <a:rPr lang="en-US" altLang="ko-KR" sz="1000" b="1" dirty="0">
                <a:solidFill>
                  <a:schemeClr val="accent2"/>
                </a:solidFill>
                <a:latin typeface="Arial" pitchFamily="34" charset="0"/>
                <a:ea typeface="맑은 고딕" pitchFamily="50" charset="-127"/>
                <a:cs typeface="Arial" pitchFamily="34" charset="0"/>
              </a:rPr>
              <a:t> </a:t>
            </a:r>
          </a:p>
          <a:p>
            <a:pPr eaLnBrk="1" hangingPunct="1"/>
            <a:r>
              <a:rPr lang="en-US" altLang="ko-KR" sz="1000" b="1" dirty="0" err="1">
                <a:solidFill>
                  <a:schemeClr val="accent2"/>
                </a:solidFill>
                <a:latin typeface="Arial" pitchFamily="34" charset="0"/>
                <a:ea typeface="맑은 고딕" pitchFamily="50" charset="-127"/>
                <a:cs typeface="Arial" pitchFamily="34" charset="0"/>
              </a:rPr>
              <a:t>dữ</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liệu</a:t>
            </a:r>
            <a:r>
              <a:rPr lang="en-US" altLang="ko-KR" sz="1000" b="1" dirty="0">
                <a:solidFill>
                  <a:schemeClr val="accent2"/>
                </a:solidFill>
                <a:latin typeface="Arial" pitchFamily="34" charset="0"/>
                <a:ea typeface="맑은 고딕" pitchFamily="50" charset="-127"/>
                <a:cs typeface="Arial" pitchFamily="34" charset="0"/>
              </a:rPr>
              <a:t>(N)</a:t>
            </a:r>
          </a:p>
        </p:txBody>
      </p:sp>
      <p:sp>
        <p:nvSpPr>
          <p:cNvPr id="56337" name="Text Box 28"/>
          <p:cNvSpPr txBox="1">
            <a:spLocks noChangeArrowheads="1"/>
          </p:cNvSpPr>
          <p:nvPr/>
        </p:nvSpPr>
        <p:spPr bwMode="auto">
          <a:xfrm>
            <a:off x="7729538" y="1930400"/>
            <a:ext cx="11673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Trimmed Mean</a:t>
            </a:r>
            <a:endParaRPr lang="ko-KR" altLang="en-US" sz="1000" dirty="0">
              <a:latin typeface="Arial" pitchFamily="34" charset="0"/>
              <a:ea typeface="맑은 고딕" pitchFamily="50" charset="-127"/>
              <a:cs typeface="Arial" pitchFamily="34" charset="0"/>
            </a:endParaRPr>
          </a:p>
        </p:txBody>
      </p:sp>
      <p:sp>
        <p:nvSpPr>
          <p:cNvPr id="56338" name="Text Box 34"/>
          <p:cNvSpPr txBox="1">
            <a:spLocks noChangeArrowheads="1"/>
          </p:cNvSpPr>
          <p:nvPr/>
        </p:nvSpPr>
        <p:spPr bwMode="auto">
          <a:xfrm>
            <a:off x="3656856" y="5661025"/>
            <a:ext cx="135325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Tứ</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phân</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vị</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thứ</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ba</a:t>
            </a:r>
            <a:endParaRPr lang="ko-KR" altLang="en-US" sz="1000" dirty="0">
              <a:latin typeface="Arial" pitchFamily="34" charset="0"/>
              <a:ea typeface="맑은 고딕" pitchFamily="50" charset="-127"/>
              <a:cs typeface="Arial" pitchFamily="34" charset="0"/>
            </a:endParaRPr>
          </a:p>
        </p:txBody>
      </p:sp>
      <p:sp>
        <p:nvSpPr>
          <p:cNvPr id="56339" name="Text Box 35"/>
          <p:cNvSpPr txBox="1">
            <a:spLocks noChangeArrowheads="1"/>
          </p:cNvSpPr>
          <p:nvPr/>
        </p:nvSpPr>
        <p:spPr bwMode="auto">
          <a:xfrm>
            <a:off x="848544" y="4437112"/>
            <a:ext cx="13019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Hệ</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số</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biến</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thiên</a:t>
            </a:r>
            <a:endParaRPr lang="en-US" altLang="ko-KR" sz="1000" b="1" dirty="0">
              <a:solidFill>
                <a:schemeClr val="accent2"/>
              </a:solidFill>
              <a:latin typeface="Arial" pitchFamily="34" charset="0"/>
              <a:ea typeface="맑은 고딕" pitchFamily="50" charset="-127"/>
              <a:cs typeface="Arial" pitchFamily="34" charset="0"/>
            </a:endParaRPr>
          </a:p>
        </p:txBody>
      </p:sp>
      <p:sp>
        <p:nvSpPr>
          <p:cNvPr id="56340" name="Text Box 36"/>
          <p:cNvSpPr txBox="1">
            <a:spLocks noChangeArrowheads="1"/>
          </p:cNvSpPr>
          <p:nvPr/>
        </p:nvSpPr>
        <p:spPr bwMode="auto">
          <a:xfrm>
            <a:off x="5670659" y="5745881"/>
            <a:ext cx="144142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Khoảng</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tứ</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phân</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vị</a:t>
            </a:r>
            <a:endParaRPr lang="ko-KR" altLang="en-US" sz="1000" dirty="0">
              <a:latin typeface="Arial" pitchFamily="34" charset="0"/>
              <a:ea typeface="맑은 고딕" pitchFamily="50" charset="-127"/>
              <a:cs typeface="Arial" pitchFamily="34" charset="0"/>
            </a:endParaRPr>
          </a:p>
        </p:txBody>
      </p:sp>
      <p:sp>
        <p:nvSpPr>
          <p:cNvPr id="56341" name="Text Box 37"/>
          <p:cNvSpPr txBox="1">
            <a:spLocks noChangeArrowheads="1"/>
          </p:cNvSpPr>
          <p:nvPr/>
        </p:nvSpPr>
        <p:spPr bwMode="auto">
          <a:xfrm>
            <a:off x="4592960" y="6135107"/>
            <a:ext cx="24481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Mean Square Successive Difference</a:t>
            </a:r>
            <a:endParaRPr lang="ko-KR" altLang="en-US" sz="1000" dirty="0">
              <a:latin typeface="Arial" pitchFamily="34" charset="0"/>
              <a:ea typeface="맑은 고딕" pitchFamily="50" charset="-127"/>
              <a:cs typeface="Arial" pitchFamily="34" charset="0"/>
            </a:endParaRPr>
          </a:p>
        </p:txBody>
      </p:sp>
      <p:sp>
        <p:nvSpPr>
          <p:cNvPr id="56342" name="Text Box 38"/>
          <p:cNvSpPr txBox="1">
            <a:spLocks noChangeArrowheads="1"/>
          </p:cNvSpPr>
          <p:nvPr/>
        </p:nvSpPr>
        <p:spPr bwMode="auto">
          <a:xfrm>
            <a:off x="2504728" y="5949280"/>
            <a:ext cx="147508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Tứ</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phân</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vị</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thứ</a:t>
            </a:r>
            <a:r>
              <a:rPr lang="en-US" altLang="ko-KR" sz="1000" b="1" dirty="0">
                <a:solidFill>
                  <a:schemeClr val="accent2"/>
                </a:solidFill>
                <a:latin typeface="Arial" pitchFamily="34" charset="0"/>
                <a:ea typeface="맑은 고딕" pitchFamily="50" charset="-127"/>
                <a:cs typeface="Arial" pitchFamily="34" charset="0"/>
              </a:rPr>
              <a:t> </a:t>
            </a:r>
            <a:r>
              <a:rPr lang="en-US" altLang="ko-KR" sz="1000" b="1" dirty="0" err="1">
                <a:solidFill>
                  <a:schemeClr val="accent2"/>
                </a:solidFill>
                <a:latin typeface="Arial" pitchFamily="34" charset="0"/>
                <a:ea typeface="맑은 고딕" pitchFamily="50" charset="-127"/>
                <a:cs typeface="Arial" pitchFamily="34" charset="0"/>
              </a:rPr>
              <a:t>nhất</a:t>
            </a:r>
            <a:endParaRPr lang="ko-KR" altLang="en-US" sz="1000" dirty="0">
              <a:latin typeface="Arial" pitchFamily="34" charset="0"/>
              <a:ea typeface="맑은 고딕" pitchFamily="50" charset="-127"/>
              <a:cs typeface="Arial" pitchFamily="34" charset="0"/>
            </a:endParaRPr>
          </a:p>
        </p:txBody>
      </p:sp>
      <p:sp>
        <p:nvSpPr>
          <p:cNvPr id="56343" name="Line 39"/>
          <p:cNvSpPr>
            <a:spLocks noChangeShapeType="1"/>
          </p:cNvSpPr>
          <p:nvPr/>
        </p:nvSpPr>
        <p:spPr bwMode="auto">
          <a:xfrm rot="10800000" flipH="1">
            <a:off x="3224808" y="4941167"/>
            <a:ext cx="216024" cy="1008063"/>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44" name="Line 40"/>
          <p:cNvSpPr>
            <a:spLocks noChangeShapeType="1"/>
          </p:cNvSpPr>
          <p:nvPr/>
        </p:nvSpPr>
        <p:spPr bwMode="auto">
          <a:xfrm rot="10800000">
            <a:off x="5025008" y="5589240"/>
            <a:ext cx="0" cy="57626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45" name="Line 41"/>
          <p:cNvSpPr>
            <a:spLocks noChangeShapeType="1"/>
          </p:cNvSpPr>
          <p:nvPr/>
        </p:nvSpPr>
        <p:spPr bwMode="auto">
          <a:xfrm rot="10800000">
            <a:off x="6465168" y="5013175"/>
            <a:ext cx="0" cy="71938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46" name="Line 42"/>
          <p:cNvSpPr>
            <a:spLocks noChangeShapeType="1"/>
          </p:cNvSpPr>
          <p:nvPr/>
        </p:nvSpPr>
        <p:spPr bwMode="auto">
          <a:xfrm rot="10800000" flipH="1">
            <a:off x="2072680" y="4149080"/>
            <a:ext cx="2664296" cy="432048"/>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47" name="Line 43"/>
          <p:cNvSpPr>
            <a:spLocks noChangeShapeType="1"/>
          </p:cNvSpPr>
          <p:nvPr/>
        </p:nvSpPr>
        <p:spPr bwMode="auto">
          <a:xfrm rot="10800000">
            <a:off x="4664968" y="4941168"/>
            <a:ext cx="0" cy="720080"/>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48" name="Text Box 44"/>
          <p:cNvSpPr txBox="1">
            <a:spLocks noChangeArrowheads="1"/>
          </p:cNvSpPr>
          <p:nvPr/>
        </p:nvSpPr>
        <p:spPr bwMode="auto">
          <a:xfrm>
            <a:off x="128464" y="4869160"/>
            <a:ext cx="20723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400" b="1" dirty="0">
                <a:latin typeface="Arial" pitchFamily="34" charset="0"/>
                <a:ea typeface="맑은 고딕" pitchFamily="50" charset="-127"/>
                <a:cs typeface="Arial" pitchFamily="34" charset="0"/>
              </a:rPr>
              <a:t>CV =        x 100(%)</a:t>
            </a:r>
          </a:p>
        </p:txBody>
      </p:sp>
      <p:sp>
        <p:nvSpPr>
          <p:cNvPr id="56349" name="Line 45"/>
          <p:cNvSpPr>
            <a:spLocks noChangeShapeType="1"/>
          </p:cNvSpPr>
          <p:nvPr/>
        </p:nvSpPr>
        <p:spPr bwMode="auto">
          <a:xfrm>
            <a:off x="1049834" y="5021560"/>
            <a:ext cx="28803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6350" name="Text Box 46"/>
          <p:cNvSpPr txBox="1">
            <a:spLocks noChangeArrowheads="1"/>
          </p:cNvSpPr>
          <p:nvPr/>
        </p:nvSpPr>
        <p:spPr bwMode="auto">
          <a:xfrm>
            <a:off x="1043809" y="4685010"/>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s</a:t>
            </a:r>
          </a:p>
        </p:txBody>
      </p:sp>
      <p:grpSp>
        <p:nvGrpSpPr>
          <p:cNvPr id="56351" name="Group 47"/>
          <p:cNvGrpSpPr>
            <a:grpSpLocks/>
          </p:cNvGrpSpPr>
          <p:nvPr/>
        </p:nvGrpSpPr>
        <p:grpSpPr bwMode="auto">
          <a:xfrm>
            <a:off x="1035100" y="4950122"/>
            <a:ext cx="317500" cy="369888"/>
            <a:chOff x="1799" y="2254"/>
            <a:chExt cx="200" cy="233"/>
          </a:xfrm>
        </p:grpSpPr>
        <p:sp>
          <p:nvSpPr>
            <p:cNvPr id="56353" name="Text Box 48"/>
            <p:cNvSpPr txBox="1">
              <a:spLocks noChangeArrowheads="1"/>
            </p:cNvSpPr>
            <p:nvPr/>
          </p:nvSpPr>
          <p:spPr bwMode="auto">
            <a:xfrm>
              <a:off x="1799" y="2254"/>
              <a:ext cx="20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χ</a:t>
              </a:r>
            </a:p>
          </p:txBody>
        </p:sp>
        <p:sp>
          <p:nvSpPr>
            <p:cNvPr id="56354" name="Line 49"/>
            <p:cNvSpPr>
              <a:spLocks noChangeShapeType="1"/>
            </p:cNvSpPr>
            <p:nvPr/>
          </p:nvSpPr>
          <p:spPr bwMode="auto">
            <a:xfrm>
              <a:off x="1850" y="2327"/>
              <a:ext cx="9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gr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58</a:t>
            </a:fld>
            <a:endParaRPr lang="ko-KR" altLang="en-US" dirty="0">
              <a:latin typeface="Arial" pitchFamily="34" charset="0"/>
              <a:cs typeface="Arial" pitchFamily="34" charset="0"/>
            </a:endParaRPr>
          </a:p>
        </p:txBody>
      </p:sp>
      <p:sp>
        <p:nvSpPr>
          <p:cNvPr id="36" name="Text Box 4"/>
          <p:cNvSpPr txBox="1">
            <a:spLocks noChangeArrowheads="1"/>
          </p:cNvSpPr>
          <p:nvPr/>
        </p:nvSpPr>
        <p:spPr bwMode="auto">
          <a:xfrm>
            <a:off x="166688" y="188913"/>
            <a:ext cx="4821237"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Tổng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kết</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đo</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lường</a:t>
            </a:r>
            <a:endParaRPr lang="ko-KR" altLang="en-US" b="1" dirty="0">
              <a:latin typeface="Arial" pitchFamily="34" charset="0"/>
              <a:ea typeface="맑은 고딕" pitchFamily="50" charset="-127"/>
              <a:cs typeface="Arial" pitchFamily="34" charset="0"/>
            </a:endParaRPr>
          </a:p>
        </p:txBody>
      </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B96704E-B86D-4E69-80B9-EE9024F1D6C1}"/>
              </a:ext>
            </a:extLst>
          </p:cNvPr>
          <p:cNvSpPr>
            <a:spLocks noGrp="1"/>
          </p:cNvSpPr>
          <p:nvPr>
            <p:ph type="sldNum" sz="quarter" idx="10"/>
          </p:nvPr>
        </p:nvSpPr>
        <p:spPr/>
        <p:txBody>
          <a:bodyPr/>
          <a:lstStyle/>
          <a:p>
            <a:pPr>
              <a:defRPr/>
            </a:pPr>
            <a:fld id="{336E293E-7793-468B-AB4C-49C46432963A}" type="slidenum">
              <a:rPr lang="ko-KR" altLang="en-US" smtClean="0">
                <a:latin typeface="Arial" panose="020B0604020202020204" pitchFamily="34" charset="0"/>
                <a:cs typeface="Arial" panose="020B0604020202020204" pitchFamily="34" charset="0"/>
              </a:rPr>
              <a:pPr>
                <a:defRPr/>
              </a:pPr>
              <a:t>59</a:t>
            </a:fld>
            <a:endParaRPr lang="ko-KR" altLang="en-US" dirty="0">
              <a:latin typeface="Arial" panose="020B0604020202020204" pitchFamily="34" charset="0"/>
              <a:cs typeface="Arial" panose="020B0604020202020204" pitchFamily="34" charset="0"/>
            </a:endParaRPr>
          </a:p>
        </p:txBody>
      </p:sp>
      <p:sp>
        <p:nvSpPr>
          <p:cNvPr id="3" name="Text Box 4">
            <a:extLst>
              <a:ext uri="{FF2B5EF4-FFF2-40B4-BE49-F238E27FC236}">
                <a16:creationId xmlns:a16="http://schemas.microsoft.com/office/drawing/2014/main" id="{DED69A5F-AB6A-4230-A5B2-6B753899465C}"/>
              </a:ext>
            </a:extLst>
          </p:cNvPr>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anose="020B0604020202020204" pitchFamily="34" charset="0"/>
                <a:ea typeface="맑은 고딕" pitchFamily="50" charset="-127"/>
                <a:cs typeface="Arial" pitchFamily="34" charset="0"/>
              </a:rPr>
              <a:t>7. </a:t>
            </a:r>
            <a:r>
              <a:rPr lang="en-US" altLang="ko-KR" b="1" dirty="0" err="1">
                <a:latin typeface="Arial" panose="020B0604020202020204" pitchFamily="34" charset="0"/>
                <a:ea typeface="맑은 고딕" pitchFamily="50" charset="-127"/>
                <a:cs typeface="Arial" pitchFamily="34" charset="0"/>
              </a:rPr>
              <a:t>Phân</a:t>
            </a:r>
            <a:r>
              <a:rPr lang="en-US" altLang="ko-KR" b="1" dirty="0">
                <a:latin typeface="Arial" panose="020B0604020202020204" pitchFamily="34" charset="0"/>
                <a:ea typeface="맑은 고딕" pitchFamily="50" charset="-127"/>
                <a:cs typeface="Arial" pitchFamily="34" charset="0"/>
              </a:rPr>
              <a:t> </a:t>
            </a:r>
            <a:r>
              <a:rPr lang="en-US" altLang="ko-KR" b="1" dirty="0" err="1">
                <a:latin typeface="Arial" panose="020B0604020202020204" pitchFamily="34" charset="0"/>
                <a:ea typeface="맑은 고딕" pitchFamily="50" charset="-127"/>
                <a:cs typeface="Arial" pitchFamily="34" charset="0"/>
              </a:rPr>
              <a:t>phối</a:t>
            </a:r>
            <a:r>
              <a:rPr lang="en-US" altLang="ko-KR" b="1" dirty="0">
                <a:latin typeface="Arial" panose="020B0604020202020204" pitchFamily="34" charset="0"/>
                <a:ea typeface="맑은 고딕" pitchFamily="50" charset="-127"/>
                <a:cs typeface="Arial" pitchFamily="34" charset="0"/>
              </a:rPr>
              <a:t> </a:t>
            </a:r>
            <a:r>
              <a:rPr lang="en-US" altLang="ko-KR" b="1" dirty="0" err="1">
                <a:latin typeface="Arial" panose="020B0604020202020204" pitchFamily="34" charset="0"/>
                <a:ea typeface="맑은 고딕" pitchFamily="50" charset="-127"/>
                <a:cs typeface="Arial" pitchFamily="34" charset="0"/>
              </a:rPr>
              <a:t>chuẩn</a:t>
            </a:r>
            <a:endParaRPr lang="ko-KR" altLang="en-US" b="1" dirty="0">
              <a:latin typeface="Arial" panose="020B0604020202020204" pitchFamily="34" charset="0"/>
              <a:ea typeface="맑은 고딕" pitchFamily="50" charset="-127"/>
              <a:cs typeface="Arial" pitchFamily="34" charset="0"/>
            </a:endParaRPr>
          </a:p>
        </p:txBody>
      </p:sp>
      <p:sp>
        <p:nvSpPr>
          <p:cNvPr id="4" name="TextBox 3">
            <a:extLst>
              <a:ext uri="{FF2B5EF4-FFF2-40B4-BE49-F238E27FC236}">
                <a16:creationId xmlns:a16="http://schemas.microsoft.com/office/drawing/2014/main" id="{7B629EE4-2D7E-4D5C-B5A0-D804959C047D}"/>
              </a:ext>
            </a:extLst>
          </p:cNvPr>
          <p:cNvSpPr txBox="1"/>
          <p:nvPr/>
        </p:nvSpPr>
        <p:spPr>
          <a:xfrm>
            <a:off x="214282" y="1216379"/>
            <a:ext cx="9198352" cy="699166"/>
          </a:xfrm>
          <a:prstGeom prst="rect">
            <a:avLst/>
          </a:prstGeom>
          <a:noFill/>
        </p:spPr>
        <p:txBody>
          <a:bodyPr wrap="none" rtlCol="0">
            <a:spAutoFit/>
          </a:bodyPr>
          <a:lstStyle/>
          <a:p>
            <a:pPr>
              <a:lnSpc>
                <a:spcPct val="130000"/>
              </a:lnSpc>
              <a:buClr>
                <a:srgbClr val="C5003D"/>
              </a:buClr>
            </a:pPr>
            <a:r>
              <a:rPr lang="en-US" altLang="ko-KR" sz="1600" b="1" dirty="0">
                <a:latin typeface="Arial" panose="020B0604020202020204" pitchFamily="34" charset="0"/>
                <a:cs typeface="Arial" panose="020B0604020202020204" pitchFamily="34" charset="0"/>
              </a:rPr>
              <a:t>Case 1   </a:t>
            </a:r>
            <a:r>
              <a:rPr lang="en-US" altLang="ko-KR" sz="1600" b="1" dirty="0" err="1">
                <a:latin typeface="Arial" panose="020B0604020202020204" pitchFamily="34" charset="0"/>
                <a:cs typeface="Arial" panose="020B0604020202020204" pitchFamily="34" charset="0"/>
              </a:rPr>
              <a:t>Tại</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một</a:t>
            </a:r>
            <a:r>
              <a:rPr lang="en-US" altLang="ko-KR" sz="1600" b="1" dirty="0">
                <a:latin typeface="Arial" panose="020B0604020202020204" pitchFamily="34" charset="0"/>
                <a:cs typeface="Arial" panose="020B0604020202020204" pitchFamily="34" charset="0"/>
              </a:rPr>
              <a:t> process </a:t>
            </a:r>
            <a:r>
              <a:rPr lang="en-US" altLang="ko-KR" sz="1600" b="1" dirty="0" err="1">
                <a:latin typeface="Arial" panose="020B0604020202020204" pitchFamily="34" charset="0"/>
                <a:cs typeface="Arial" panose="020B0604020202020204" pitchFamily="34" charset="0"/>
              </a:rPr>
              <a:t>nào</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đó</a:t>
            </a:r>
            <a:r>
              <a:rPr lang="en-US" altLang="ko-KR" sz="1600" b="1" dirty="0">
                <a:latin typeface="Arial" panose="020B0604020202020204" pitchFamily="34" charset="0"/>
                <a:cs typeface="Arial" panose="020B0604020202020204" pitchFamily="34" charset="0"/>
              </a:rPr>
              <a:t> ta </a:t>
            </a:r>
            <a:r>
              <a:rPr lang="en-US" altLang="ko-KR" sz="1600" b="1" dirty="0" err="1">
                <a:latin typeface="Arial" panose="020B0604020202020204" pitchFamily="34" charset="0"/>
                <a:cs typeface="Arial" panose="020B0604020202020204" pitchFamily="34" charset="0"/>
              </a:rPr>
              <a:t>thu</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được</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dữ</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liệu</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như</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sau</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Phân</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tán</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của</a:t>
            </a:r>
            <a:r>
              <a:rPr lang="en-US" altLang="ko-KR" sz="1600" b="1" dirty="0">
                <a:latin typeface="Arial" panose="020B0604020202020204" pitchFamily="34" charset="0"/>
                <a:cs typeface="Arial" panose="020B0604020202020204" pitchFamily="34" charset="0"/>
              </a:rPr>
              <a:t> process </a:t>
            </a:r>
            <a:r>
              <a:rPr lang="en-US" altLang="ko-KR" sz="1600" b="1" dirty="0" err="1">
                <a:latin typeface="Arial" panose="020B0604020202020204" pitchFamily="34" charset="0"/>
                <a:cs typeface="Arial" panose="020B0604020202020204" pitchFamily="34" charset="0"/>
              </a:rPr>
              <a:t>này</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liệu</a:t>
            </a:r>
            <a:endParaRPr lang="en-US" altLang="ko-KR" sz="1600" b="1" dirty="0">
              <a:latin typeface="Arial" panose="020B0604020202020204" pitchFamily="34" charset="0"/>
              <a:cs typeface="Arial" panose="020B0604020202020204" pitchFamily="34" charset="0"/>
            </a:endParaRPr>
          </a:p>
          <a:p>
            <a:pPr>
              <a:lnSpc>
                <a:spcPct val="130000"/>
              </a:lnSpc>
              <a:buClr>
                <a:srgbClr val="C5003D"/>
              </a:buClr>
            </a:pP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sẽ</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là</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bao</a:t>
            </a:r>
            <a:r>
              <a:rPr lang="en-US" altLang="ko-KR" sz="1600" b="1" dirty="0">
                <a:latin typeface="Arial" panose="020B0604020202020204" pitchFamily="34" charset="0"/>
                <a:cs typeface="Arial" panose="020B0604020202020204" pitchFamily="34" charset="0"/>
              </a:rPr>
              <a:t> </a:t>
            </a:r>
            <a:r>
              <a:rPr lang="en-US" altLang="ko-KR" sz="1600" b="1" dirty="0" err="1">
                <a:latin typeface="Arial" panose="020B0604020202020204" pitchFamily="34" charset="0"/>
                <a:cs typeface="Arial" panose="020B0604020202020204" pitchFamily="34" charset="0"/>
              </a:rPr>
              <a:t>nhiêu</a:t>
            </a:r>
            <a:r>
              <a:rPr lang="en-US" altLang="ko-KR" sz="1600" b="1" dirty="0">
                <a:latin typeface="Arial" panose="020B0604020202020204" pitchFamily="34" charset="0"/>
                <a:cs typeface="Arial" panose="020B0604020202020204" pitchFamily="34" charset="0"/>
              </a:rPr>
              <a:t>?  </a:t>
            </a:r>
            <a:endParaRPr lang="ko-KR" altLang="en-US" sz="1600" b="1"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09FA8A9E-3E39-4215-A2D3-4E587716BDF4}"/>
              </a:ext>
            </a:extLst>
          </p:cNvPr>
          <p:cNvSpPr txBox="1"/>
          <p:nvPr/>
        </p:nvSpPr>
        <p:spPr>
          <a:xfrm>
            <a:off x="2315737" y="1909593"/>
            <a:ext cx="4942379" cy="379078"/>
          </a:xfrm>
          <a:prstGeom prst="rect">
            <a:avLst/>
          </a:prstGeom>
          <a:noFill/>
        </p:spPr>
        <p:txBody>
          <a:bodyPr wrap="none" rtlCol="0">
            <a:spAutoFit/>
          </a:bodyPr>
          <a:lstStyle/>
          <a:p>
            <a:pPr>
              <a:lnSpc>
                <a:spcPct val="130000"/>
              </a:lnSpc>
              <a:buClr>
                <a:srgbClr val="C5003D"/>
              </a:buClr>
            </a:pPr>
            <a:r>
              <a:rPr lang="en-US" altLang="ko-KR" sz="1600" b="1" dirty="0">
                <a:latin typeface="Arial" panose="020B0604020202020204" pitchFamily="34" charset="0"/>
                <a:cs typeface="Arial" panose="020B0604020202020204" pitchFamily="34" charset="0"/>
              </a:rPr>
              <a:t>5.1,  5.3,  5.2,   5.3,   5.4,   5.2,   5.3,   5,5,  5.3,   5.2</a:t>
            </a:r>
            <a:endParaRPr lang="ko-KR" altLang="en-US" sz="1600" b="1"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4AECD3-EF32-41A5-B05E-C6EC0EDC64BC}"/>
              </a:ext>
            </a:extLst>
          </p:cNvPr>
          <p:cNvSpPr txBox="1"/>
          <p:nvPr/>
        </p:nvSpPr>
        <p:spPr>
          <a:xfrm>
            <a:off x="1580899" y="1916832"/>
            <a:ext cx="572593" cy="343235"/>
          </a:xfrm>
          <a:prstGeom prst="rect">
            <a:avLst/>
          </a:prstGeom>
          <a:noFill/>
        </p:spPr>
        <p:txBody>
          <a:bodyPr wrap="none" rtlCol="0">
            <a:spAutoFit/>
          </a:bodyPr>
          <a:lstStyle/>
          <a:p>
            <a:pPr>
              <a:lnSpc>
                <a:spcPct val="130000"/>
              </a:lnSpc>
              <a:buClr>
                <a:srgbClr val="C5003D"/>
              </a:buClr>
            </a:pPr>
            <a:r>
              <a:rPr lang="en-US" altLang="ko-KR" sz="1400" b="1" dirty="0">
                <a:latin typeface="Arial" panose="020B0604020202020204" pitchFamily="34" charset="0"/>
                <a:cs typeface="Arial" panose="020B0604020202020204" pitchFamily="34" charset="0"/>
              </a:rPr>
              <a:t>Data</a:t>
            </a:r>
            <a:endParaRPr lang="ko-KR" altLang="en-US" sz="1400" b="1" dirty="0">
              <a:latin typeface="Arial" panose="020B0604020202020204" pitchFamily="34" charset="0"/>
              <a:cs typeface="Arial" panose="020B0604020202020204" pitchFamily="34" charset="0"/>
            </a:endParaRPr>
          </a:p>
        </p:txBody>
      </p:sp>
      <p:cxnSp>
        <p:nvCxnSpPr>
          <p:cNvPr id="7" name="직선 연결선 7">
            <a:extLst>
              <a:ext uri="{FF2B5EF4-FFF2-40B4-BE49-F238E27FC236}">
                <a16:creationId xmlns:a16="http://schemas.microsoft.com/office/drawing/2014/main" id="{A82D967F-8951-48ED-8021-8E1EED5781A5}"/>
              </a:ext>
            </a:extLst>
          </p:cNvPr>
          <p:cNvCxnSpPr/>
          <p:nvPr/>
        </p:nvCxnSpPr>
        <p:spPr>
          <a:xfrm>
            <a:off x="56456" y="5218689"/>
            <a:ext cx="31905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9">
            <a:extLst>
              <a:ext uri="{FF2B5EF4-FFF2-40B4-BE49-F238E27FC236}">
                <a16:creationId xmlns:a16="http://schemas.microsoft.com/office/drawing/2014/main" id="{744B3AB8-888B-4D3D-B4FD-50EC8AF53904}"/>
              </a:ext>
            </a:extLst>
          </p:cNvPr>
          <p:cNvCxnSpPr/>
          <p:nvPr/>
        </p:nvCxnSpPr>
        <p:spPr>
          <a:xfrm>
            <a:off x="1585242"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10">
            <a:extLst>
              <a:ext uri="{FF2B5EF4-FFF2-40B4-BE49-F238E27FC236}">
                <a16:creationId xmlns:a16="http://schemas.microsoft.com/office/drawing/2014/main" id="{CFC7C6EE-AB95-4785-B515-48E399ECFB67}"/>
              </a:ext>
            </a:extLst>
          </p:cNvPr>
          <p:cNvCxnSpPr/>
          <p:nvPr/>
        </p:nvCxnSpPr>
        <p:spPr>
          <a:xfrm>
            <a:off x="2116993"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11">
            <a:extLst>
              <a:ext uri="{FF2B5EF4-FFF2-40B4-BE49-F238E27FC236}">
                <a16:creationId xmlns:a16="http://schemas.microsoft.com/office/drawing/2014/main" id="{4607B846-71E6-4928-83A0-9CC32815EE8D}"/>
              </a:ext>
            </a:extLst>
          </p:cNvPr>
          <p:cNvCxnSpPr/>
          <p:nvPr/>
        </p:nvCxnSpPr>
        <p:spPr>
          <a:xfrm>
            <a:off x="2648744"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직선 연결선 12">
            <a:extLst>
              <a:ext uri="{FF2B5EF4-FFF2-40B4-BE49-F238E27FC236}">
                <a16:creationId xmlns:a16="http://schemas.microsoft.com/office/drawing/2014/main" id="{579A76D9-2C8D-41A7-AF89-63213C0B8BB3}"/>
              </a:ext>
            </a:extLst>
          </p:cNvPr>
          <p:cNvCxnSpPr/>
          <p:nvPr/>
        </p:nvCxnSpPr>
        <p:spPr>
          <a:xfrm>
            <a:off x="521739"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직선 연결선 13">
            <a:extLst>
              <a:ext uri="{FF2B5EF4-FFF2-40B4-BE49-F238E27FC236}">
                <a16:creationId xmlns:a16="http://schemas.microsoft.com/office/drawing/2014/main" id="{98C8AF3D-48C2-4CD4-A4B8-9E3C19A198C4}"/>
              </a:ext>
            </a:extLst>
          </p:cNvPr>
          <p:cNvCxnSpPr/>
          <p:nvPr/>
        </p:nvCxnSpPr>
        <p:spPr>
          <a:xfrm>
            <a:off x="1053490"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3D2F33B-1888-4D4E-8754-72029095E097}"/>
              </a:ext>
            </a:extLst>
          </p:cNvPr>
          <p:cNvSpPr txBox="1"/>
          <p:nvPr/>
        </p:nvSpPr>
        <p:spPr>
          <a:xfrm>
            <a:off x="322332" y="529069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5.1</a:t>
            </a:r>
            <a:endParaRPr lang="ko-KR" altLang="en-US" sz="12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A1A91F49-6E40-416B-B4E2-E382926DBBBB}"/>
              </a:ext>
            </a:extLst>
          </p:cNvPr>
          <p:cNvSpPr txBox="1"/>
          <p:nvPr/>
        </p:nvSpPr>
        <p:spPr>
          <a:xfrm>
            <a:off x="854084" y="529069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5.2</a:t>
            </a:r>
            <a:endParaRPr lang="ko-KR" altLang="en-US" sz="1200" dirty="0">
              <a:latin typeface="Arial" panose="020B0604020202020204" pitchFamily="34" charset="0"/>
              <a:cs typeface="Arial" panose="020B0604020202020204" pitchFamily="34" charset="0"/>
            </a:endParaRPr>
          </a:p>
        </p:txBody>
      </p:sp>
      <p:sp>
        <p:nvSpPr>
          <p:cNvPr id="15" name="TextBox 14">
            <a:extLst>
              <a:ext uri="{FF2B5EF4-FFF2-40B4-BE49-F238E27FC236}">
                <a16:creationId xmlns:a16="http://schemas.microsoft.com/office/drawing/2014/main" id="{4C29CC67-0938-41F6-A9D6-23D165C7A107}"/>
              </a:ext>
            </a:extLst>
          </p:cNvPr>
          <p:cNvSpPr txBox="1"/>
          <p:nvPr/>
        </p:nvSpPr>
        <p:spPr>
          <a:xfrm>
            <a:off x="1385835" y="529069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5.3</a:t>
            </a:r>
            <a:endParaRPr lang="ko-KR" altLang="en-US" sz="1200" dirty="0">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6937A36D-62D5-4553-8A15-FDAB381E5854}"/>
              </a:ext>
            </a:extLst>
          </p:cNvPr>
          <p:cNvSpPr txBox="1"/>
          <p:nvPr/>
        </p:nvSpPr>
        <p:spPr>
          <a:xfrm>
            <a:off x="1917586" y="529069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5.4</a:t>
            </a:r>
            <a:endParaRPr lang="ko-KR" altLang="en-US" sz="12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E333383-AB62-4B8B-9B79-3B33D02B6DF3}"/>
              </a:ext>
            </a:extLst>
          </p:cNvPr>
          <p:cNvSpPr txBox="1"/>
          <p:nvPr/>
        </p:nvSpPr>
        <p:spPr>
          <a:xfrm>
            <a:off x="2442655" y="529069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5.5</a:t>
            </a:r>
            <a:endParaRPr lang="ko-KR" altLang="en-US" sz="12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631ABF42-9B11-4F00-96CD-7F22AEA3697F}"/>
              </a:ext>
            </a:extLst>
          </p:cNvPr>
          <p:cNvSpPr txBox="1"/>
          <p:nvPr/>
        </p:nvSpPr>
        <p:spPr>
          <a:xfrm>
            <a:off x="1452304" y="464262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19" name="TextBox 18">
            <a:extLst>
              <a:ext uri="{FF2B5EF4-FFF2-40B4-BE49-F238E27FC236}">
                <a16:creationId xmlns:a16="http://schemas.microsoft.com/office/drawing/2014/main" id="{7017E809-72B3-42DB-AD82-980B90F7D867}"/>
              </a:ext>
            </a:extLst>
          </p:cNvPr>
          <p:cNvSpPr txBox="1"/>
          <p:nvPr/>
        </p:nvSpPr>
        <p:spPr>
          <a:xfrm>
            <a:off x="389516" y="464262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C046D4E-0763-4A3C-AF58-5C4D9FD1D650}"/>
              </a:ext>
            </a:extLst>
          </p:cNvPr>
          <p:cNvSpPr txBox="1"/>
          <p:nvPr/>
        </p:nvSpPr>
        <p:spPr>
          <a:xfrm>
            <a:off x="921267" y="464262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A584BC5B-B3B3-4A99-9C9D-C6E86C3DF578}"/>
              </a:ext>
            </a:extLst>
          </p:cNvPr>
          <p:cNvSpPr txBox="1"/>
          <p:nvPr/>
        </p:nvSpPr>
        <p:spPr>
          <a:xfrm>
            <a:off x="1984055" y="464262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6F9E0DF3-64AC-4D70-A100-F75AF7F7050A}"/>
              </a:ext>
            </a:extLst>
          </p:cNvPr>
          <p:cNvSpPr txBox="1"/>
          <p:nvPr/>
        </p:nvSpPr>
        <p:spPr>
          <a:xfrm>
            <a:off x="2515807" y="464262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E8EE43B2-40AB-413F-B434-48DFB28F3309}"/>
              </a:ext>
            </a:extLst>
          </p:cNvPr>
          <p:cNvSpPr txBox="1"/>
          <p:nvPr/>
        </p:nvSpPr>
        <p:spPr>
          <a:xfrm>
            <a:off x="920552" y="428258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24" name="TextBox 23">
            <a:extLst>
              <a:ext uri="{FF2B5EF4-FFF2-40B4-BE49-F238E27FC236}">
                <a16:creationId xmlns:a16="http://schemas.microsoft.com/office/drawing/2014/main" id="{0E5AB275-6F22-4473-ADF2-4962E58BCA1E}"/>
              </a:ext>
            </a:extLst>
          </p:cNvPr>
          <p:cNvSpPr txBox="1"/>
          <p:nvPr/>
        </p:nvSpPr>
        <p:spPr>
          <a:xfrm>
            <a:off x="1452304" y="428258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51214A2A-6F75-4D6C-9573-E5AFEA7880E6}"/>
              </a:ext>
            </a:extLst>
          </p:cNvPr>
          <p:cNvSpPr txBox="1"/>
          <p:nvPr/>
        </p:nvSpPr>
        <p:spPr>
          <a:xfrm>
            <a:off x="1452304" y="392254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26" name="TextBox 25">
            <a:extLst>
              <a:ext uri="{FF2B5EF4-FFF2-40B4-BE49-F238E27FC236}">
                <a16:creationId xmlns:a16="http://schemas.microsoft.com/office/drawing/2014/main" id="{352729FF-829E-4A6C-B14F-28CF49834A8D}"/>
              </a:ext>
            </a:extLst>
          </p:cNvPr>
          <p:cNvSpPr txBox="1"/>
          <p:nvPr/>
        </p:nvSpPr>
        <p:spPr>
          <a:xfrm>
            <a:off x="1452304" y="356250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27" name="TextBox 26">
            <a:extLst>
              <a:ext uri="{FF2B5EF4-FFF2-40B4-BE49-F238E27FC236}">
                <a16:creationId xmlns:a16="http://schemas.microsoft.com/office/drawing/2014/main" id="{AED31D38-A395-4D0D-9775-6661FBC15BF8}"/>
              </a:ext>
            </a:extLst>
          </p:cNvPr>
          <p:cNvSpPr txBox="1"/>
          <p:nvPr/>
        </p:nvSpPr>
        <p:spPr>
          <a:xfrm>
            <a:off x="521739" y="2708921"/>
            <a:ext cx="2294218" cy="379078"/>
          </a:xfrm>
          <a:prstGeom prst="rect">
            <a:avLst/>
          </a:prstGeom>
          <a:noFill/>
        </p:spPr>
        <p:txBody>
          <a:bodyPr wrap="none" rtlCol="0">
            <a:spAutoFit/>
          </a:bodyPr>
          <a:lstStyle/>
          <a:p>
            <a:pPr>
              <a:lnSpc>
                <a:spcPct val="130000"/>
              </a:lnSpc>
              <a:buClr>
                <a:srgbClr val="C5003D"/>
              </a:buClr>
            </a:pPr>
            <a:r>
              <a:rPr lang="en-US" altLang="ko-KR" sz="1600" u="sng" dirty="0" err="1">
                <a:latin typeface="Arial" panose="020B0604020202020204" pitchFamily="34" charset="0"/>
                <a:cs typeface="Arial" panose="020B0604020202020204" pitchFamily="34" charset="0"/>
              </a:rPr>
              <a:t>Đồ</a:t>
            </a:r>
            <a:r>
              <a:rPr lang="en-US" altLang="ko-KR" sz="1600" u="sng" dirty="0">
                <a:latin typeface="Arial" panose="020B0604020202020204" pitchFamily="34" charset="0"/>
                <a:cs typeface="Arial" panose="020B0604020202020204" pitchFamily="34" charset="0"/>
              </a:rPr>
              <a:t> </a:t>
            </a:r>
            <a:r>
              <a:rPr lang="en-US" altLang="ko-KR" sz="1600" u="sng" dirty="0" err="1">
                <a:latin typeface="Arial" panose="020B0604020202020204" pitchFamily="34" charset="0"/>
                <a:cs typeface="Arial" panose="020B0604020202020204" pitchFamily="34" charset="0"/>
              </a:rPr>
              <a:t>thị</a:t>
            </a:r>
            <a:r>
              <a:rPr lang="en-US" altLang="ko-KR" sz="1600" u="sng" dirty="0">
                <a:latin typeface="Arial" panose="020B0604020202020204" pitchFamily="34" charset="0"/>
                <a:cs typeface="Arial" panose="020B0604020202020204" pitchFamily="34" charset="0"/>
              </a:rPr>
              <a:t> </a:t>
            </a:r>
            <a:r>
              <a:rPr lang="en-US" altLang="ko-KR" sz="1600" u="sng" dirty="0" err="1">
                <a:latin typeface="Arial" panose="020B0604020202020204" pitchFamily="34" charset="0"/>
                <a:cs typeface="Arial" panose="020B0604020202020204" pitchFamily="34" charset="0"/>
              </a:rPr>
              <a:t>điểm</a:t>
            </a:r>
            <a:r>
              <a:rPr lang="en-US" altLang="ko-KR" sz="1600" u="sng" dirty="0">
                <a:latin typeface="Arial" panose="020B0604020202020204" pitchFamily="34" charset="0"/>
                <a:cs typeface="Arial" panose="020B0604020202020204" pitchFamily="34" charset="0"/>
              </a:rPr>
              <a:t> </a:t>
            </a:r>
            <a:r>
              <a:rPr lang="en-US" altLang="ko-KR" sz="1600" u="sng" dirty="0" err="1">
                <a:latin typeface="Arial" panose="020B0604020202020204" pitchFamily="34" charset="0"/>
                <a:cs typeface="Arial" panose="020B0604020202020204" pitchFamily="34" charset="0"/>
              </a:rPr>
              <a:t>cho</a:t>
            </a:r>
            <a:r>
              <a:rPr lang="en-US" altLang="ko-KR" sz="1600" u="sng" dirty="0">
                <a:latin typeface="Arial" panose="020B0604020202020204" pitchFamily="34" charset="0"/>
                <a:cs typeface="Arial" panose="020B0604020202020204" pitchFamily="34" charset="0"/>
              </a:rPr>
              <a:t> </a:t>
            </a:r>
            <a:r>
              <a:rPr lang="en-US" altLang="ko-KR" sz="1600" u="sng" dirty="0" err="1">
                <a:latin typeface="Arial" panose="020B0604020202020204" pitchFamily="34" charset="0"/>
                <a:cs typeface="Arial" panose="020B0604020202020204" pitchFamily="34" charset="0"/>
              </a:rPr>
              <a:t>dữ</a:t>
            </a:r>
            <a:r>
              <a:rPr lang="en-US" altLang="ko-KR" sz="1600" u="sng" dirty="0">
                <a:latin typeface="Arial" panose="020B0604020202020204" pitchFamily="34" charset="0"/>
                <a:cs typeface="Arial" panose="020B0604020202020204" pitchFamily="34" charset="0"/>
              </a:rPr>
              <a:t> </a:t>
            </a:r>
            <a:r>
              <a:rPr lang="en-US" altLang="ko-KR" sz="1600" u="sng" dirty="0" err="1">
                <a:latin typeface="Arial" panose="020B0604020202020204" pitchFamily="34" charset="0"/>
                <a:cs typeface="Arial" panose="020B0604020202020204" pitchFamily="34" charset="0"/>
              </a:rPr>
              <a:t>liệu</a:t>
            </a:r>
            <a:endParaRPr lang="ko-KR" altLang="en-US" sz="1600" u="sng" dirty="0">
              <a:latin typeface="Arial" panose="020B0604020202020204" pitchFamily="34" charset="0"/>
              <a:cs typeface="Arial" panose="020B0604020202020204" pitchFamily="34" charset="0"/>
            </a:endParaRPr>
          </a:p>
        </p:txBody>
      </p:sp>
      <p:sp>
        <p:nvSpPr>
          <p:cNvPr id="28" name="TextBox 27">
            <a:extLst>
              <a:ext uri="{FF2B5EF4-FFF2-40B4-BE49-F238E27FC236}">
                <a16:creationId xmlns:a16="http://schemas.microsoft.com/office/drawing/2014/main" id="{0D14B96D-86B0-4670-85D2-6352526EC8C6}"/>
              </a:ext>
            </a:extLst>
          </p:cNvPr>
          <p:cNvSpPr txBox="1"/>
          <p:nvPr/>
        </p:nvSpPr>
        <p:spPr>
          <a:xfrm>
            <a:off x="920552" y="3933056"/>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grpSp>
        <p:nvGrpSpPr>
          <p:cNvPr id="64" name="Group 63">
            <a:extLst>
              <a:ext uri="{FF2B5EF4-FFF2-40B4-BE49-F238E27FC236}">
                <a16:creationId xmlns:a16="http://schemas.microsoft.com/office/drawing/2014/main" id="{ADC4EF3E-EC37-4168-8DA9-90A4CF923C08}"/>
              </a:ext>
            </a:extLst>
          </p:cNvPr>
          <p:cNvGrpSpPr/>
          <p:nvPr/>
        </p:nvGrpSpPr>
        <p:grpSpPr>
          <a:xfrm>
            <a:off x="3472977" y="3072632"/>
            <a:ext cx="6394830" cy="2457186"/>
            <a:chOff x="4345913" y="3046069"/>
            <a:chExt cx="6394830" cy="2457186"/>
          </a:xfrm>
        </p:grpSpPr>
        <p:cxnSp>
          <p:nvCxnSpPr>
            <p:cNvPr id="29" name="직선 연결선 4">
              <a:extLst>
                <a:ext uri="{FF2B5EF4-FFF2-40B4-BE49-F238E27FC236}">
                  <a16:creationId xmlns:a16="http://schemas.microsoft.com/office/drawing/2014/main" id="{2AA3CB42-C3D2-4208-B03A-6825C7142E33}"/>
                </a:ext>
              </a:extLst>
            </p:cNvPr>
            <p:cNvCxnSpPr/>
            <p:nvPr/>
          </p:nvCxnSpPr>
          <p:spPr>
            <a:xfrm>
              <a:off x="5024416" y="5123791"/>
              <a:ext cx="5716327" cy="1051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5">
              <a:extLst>
                <a:ext uri="{FF2B5EF4-FFF2-40B4-BE49-F238E27FC236}">
                  <a16:creationId xmlns:a16="http://schemas.microsoft.com/office/drawing/2014/main" id="{163C2E36-28CF-47F0-86FC-FFA7F6AEA867}"/>
                </a:ext>
              </a:extLst>
            </p:cNvPr>
            <p:cNvCxnSpPr/>
            <p:nvPr/>
          </p:nvCxnSpPr>
          <p:spPr>
            <a:xfrm>
              <a:off x="6869094" y="504127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6">
              <a:extLst>
                <a:ext uri="{FF2B5EF4-FFF2-40B4-BE49-F238E27FC236}">
                  <a16:creationId xmlns:a16="http://schemas.microsoft.com/office/drawing/2014/main" id="{D365B02E-817B-4644-BEAB-413262B3DDFE}"/>
                </a:ext>
              </a:extLst>
            </p:cNvPr>
            <p:cNvCxnSpPr/>
            <p:nvPr/>
          </p:nvCxnSpPr>
          <p:spPr>
            <a:xfrm>
              <a:off x="7400846" y="504127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7">
              <a:extLst>
                <a:ext uri="{FF2B5EF4-FFF2-40B4-BE49-F238E27FC236}">
                  <a16:creationId xmlns:a16="http://schemas.microsoft.com/office/drawing/2014/main" id="{692470E3-A50B-4E04-8F8D-881F9969A588}"/>
                </a:ext>
              </a:extLst>
            </p:cNvPr>
            <p:cNvCxnSpPr/>
            <p:nvPr/>
          </p:nvCxnSpPr>
          <p:spPr>
            <a:xfrm>
              <a:off x="7932597" y="504127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8">
              <a:extLst>
                <a:ext uri="{FF2B5EF4-FFF2-40B4-BE49-F238E27FC236}">
                  <a16:creationId xmlns:a16="http://schemas.microsoft.com/office/drawing/2014/main" id="{69CF003F-8ECE-429D-A4FF-F7C4F53425C5}"/>
                </a:ext>
              </a:extLst>
            </p:cNvPr>
            <p:cNvCxnSpPr/>
            <p:nvPr/>
          </p:nvCxnSpPr>
          <p:spPr>
            <a:xfrm>
              <a:off x="5805591" y="504127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직선 연결선 9">
              <a:extLst>
                <a:ext uri="{FF2B5EF4-FFF2-40B4-BE49-F238E27FC236}">
                  <a16:creationId xmlns:a16="http://schemas.microsoft.com/office/drawing/2014/main" id="{F4D28FCF-314D-4641-A479-D19CBA0418A0}"/>
                </a:ext>
              </a:extLst>
            </p:cNvPr>
            <p:cNvCxnSpPr/>
            <p:nvPr/>
          </p:nvCxnSpPr>
          <p:spPr>
            <a:xfrm>
              <a:off x="6337343" y="504127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794CAB72-918F-4C8D-8EEC-DC5231278A8B}"/>
                </a:ext>
              </a:extLst>
            </p:cNvPr>
            <p:cNvSpPr txBox="1"/>
            <p:nvPr/>
          </p:nvSpPr>
          <p:spPr>
            <a:xfrm>
              <a:off x="5606185" y="518528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5.1</a:t>
              </a:r>
              <a:endParaRPr lang="ko-KR" altLang="en-US" sz="1200" dirty="0">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E33900E6-07BD-4AD8-A1D6-A6DAE49C26C8}"/>
                </a:ext>
              </a:extLst>
            </p:cNvPr>
            <p:cNvSpPr txBox="1"/>
            <p:nvPr/>
          </p:nvSpPr>
          <p:spPr>
            <a:xfrm>
              <a:off x="6137936" y="518528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5.2</a:t>
              </a:r>
              <a:endParaRPr lang="ko-KR" altLang="en-US" sz="1200" dirty="0">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1A6DF7A5-D532-4483-BFA4-844B712CC7F4}"/>
                </a:ext>
              </a:extLst>
            </p:cNvPr>
            <p:cNvSpPr txBox="1"/>
            <p:nvPr/>
          </p:nvSpPr>
          <p:spPr>
            <a:xfrm>
              <a:off x="6669688" y="518528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5.3</a:t>
              </a:r>
              <a:endParaRPr lang="ko-KR" altLang="en-US" sz="1200"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F1E97354-387E-4EBD-AD4D-DFDA774CBC0A}"/>
                </a:ext>
              </a:extLst>
            </p:cNvPr>
            <p:cNvSpPr txBox="1"/>
            <p:nvPr/>
          </p:nvSpPr>
          <p:spPr>
            <a:xfrm>
              <a:off x="7201439" y="518528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5.4</a:t>
              </a:r>
              <a:endParaRPr lang="ko-KR" altLang="en-US" sz="1200" dirty="0">
                <a:latin typeface="Arial" panose="020B0604020202020204" pitchFamily="34" charset="0"/>
                <a:cs typeface="Arial" panose="020B0604020202020204" pitchFamily="34" charset="0"/>
              </a:endParaRPr>
            </a:p>
          </p:txBody>
        </p:sp>
        <p:sp>
          <p:nvSpPr>
            <p:cNvPr id="39" name="TextBox 38">
              <a:extLst>
                <a:ext uri="{FF2B5EF4-FFF2-40B4-BE49-F238E27FC236}">
                  <a16:creationId xmlns:a16="http://schemas.microsoft.com/office/drawing/2014/main" id="{D6556486-9DB7-4793-BD17-7DEE48A598E1}"/>
                </a:ext>
              </a:extLst>
            </p:cNvPr>
            <p:cNvSpPr txBox="1"/>
            <p:nvPr/>
          </p:nvSpPr>
          <p:spPr>
            <a:xfrm>
              <a:off x="7726507" y="518528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5.5</a:t>
              </a:r>
              <a:endParaRPr lang="ko-KR" altLang="en-US" sz="1200" dirty="0">
                <a:latin typeface="Arial" panose="020B0604020202020204" pitchFamily="34" charset="0"/>
                <a:cs typeface="Arial" panose="020B0604020202020204" pitchFamily="34" charset="0"/>
              </a:endParaRPr>
            </a:p>
          </p:txBody>
        </p:sp>
        <p:sp>
          <p:nvSpPr>
            <p:cNvPr id="40" name="TextBox 39">
              <a:extLst>
                <a:ext uri="{FF2B5EF4-FFF2-40B4-BE49-F238E27FC236}">
                  <a16:creationId xmlns:a16="http://schemas.microsoft.com/office/drawing/2014/main" id="{1FE871FA-EA6C-422F-8221-04866961099D}"/>
                </a:ext>
              </a:extLst>
            </p:cNvPr>
            <p:cNvSpPr txBox="1"/>
            <p:nvPr/>
          </p:nvSpPr>
          <p:spPr>
            <a:xfrm>
              <a:off x="6736156" y="453721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1" name="TextBox 40">
              <a:extLst>
                <a:ext uri="{FF2B5EF4-FFF2-40B4-BE49-F238E27FC236}">
                  <a16:creationId xmlns:a16="http://schemas.microsoft.com/office/drawing/2014/main" id="{601C9E9A-B08D-474B-9417-904D958EDCC1}"/>
                </a:ext>
              </a:extLst>
            </p:cNvPr>
            <p:cNvSpPr txBox="1"/>
            <p:nvPr/>
          </p:nvSpPr>
          <p:spPr>
            <a:xfrm>
              <a:off x="5673368" y="453721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2" name="TextBox 41">
              <a:extLst>
                <a:ext uri="{FF2B5EF4-FFF2-40B4-BE49-F238E27FC236}">
                  <a16:creationId xmlns:a16="http://schemas.microsoft.com/office/drawing/2014/main" id="{6D6022C1-0C71-48EA-8756-0204D2E05686}"/>
                </a:ext>
              </a:extLst>
            </p:cNvPr>
            <p:cNvSpPr txBox="1"/>
            <p:nvPr/>
          </p:nvSpPr>
          <p:spPr>
            <a:xfrm>
              <a:off x="6205120" y="453721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3" name="TextBox 42">
              <a:extLst>
                <a:ext uri="{FF2B5EF4-FFF2-40B4-BE49-F238E27FC236}">
                  <a16:creationId xmlns:a16="http://schemas.microsoft.com/office/drawing/2014/main" id="{6460E83F-3A36-4E09-99E9-CF6ECCD7390E}"/>
                </a:ext>
              </a:extLst>
            </p:cNvPr>
            <p:cNvSpPr txBox="1"/>
            <p:nvPr/>
          </p:nvSpPr>
          <p:spPr>
            <a:xfrm>
              <a:off x="7267908" y="453721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id="{2F821E8B-0A33-4884-AA04-13C757051330}"/>
                </a:ext>
              </a:extLst>
            </p:cNvPr>
            <p:cNvSpPr txBox="1"/>
            <p:nvPr/>
          </p:nvSpPr>
          <p:spPr>
            <a:xfrm>
              <a:off x="7799659" y="453721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5" name="TextBox 44">
              <a:extLst>
                <a:ext uri="{FF2B5EF4-FFF2-40B4-BE49-F238E27FC236}">
                  <a16:creationId xmlns:a16="http://schemas.microsoft.com/office/drawing/2014/main" id="{9205F41A-D6B7-47CF-A8BB-47F529746796}"/>
                </a:ext>
              </a:extLst>
            </p:cNvPr>
            <p:cNvSpPr txBox="1"/>
            <p:nvPr/>
          </p:nvSpPr>
          <p:spPr>
            <a:xfrm>
              <a:off x="6204405" y="417717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D2DC2067-5573-477F-992F-DAB4F2DE1B1E}"/>
                </a:ext>
              </a:extLst>
            </p:cNvPr>
            <p:cNvSpPr txBox="1"/>
            <p:nvPr/>
          </p:nvSpPr>
          <p:spPr>
            <a:xfrm>
              <a:off x="6736156" y="417717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7" name="TextBox 46">
              <a:extLst>
                <a:ext uri="{FF2B5EF4-FFF2-40B4-BE49-F238E27FC236}">
                  <a16:creationId xmlns:a16="http://schemas.microsoft.com/office/drawing/2014/main" id="{8337D6F5-7BCA-493E-8E64-3FCA52D55D09}"/>
                </a:ext>
              </a:extLst>
            </p:cNvPr>
            <p:cNvSpPr txBox="1"/>
            <p:nvPr/>
          </p:nvSpPr>
          <p:spPr>
            <a:xfrm>
              <a:off x="6736156" y="381713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8" name="TextBox 47">
              <a:extLst>
                <a:ext uri="{FF2B5EF4-FFF2-40B4-BE49-F238E27FC236}">
                  <a16:creationId xmlns:a16="http://schemas.microsoft.com/office/drawing/2014/main" id="{3389E363-5420-4D88-A262-FA83D9C77CFD}"/>
                </a:ext>
              </a:extLst>
            </p:cNvPr>
            <p:cNvSpPr txBox="1"/>
            <p:nvPr/>
          </p:nvSpPr>
          <p:spPr>
            <a:xfrm>
              <a:off x="6736156" y="3457095"/>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sp>
          <p:nvSpPr>
            <p:cNvPr id="49" name="TextBox 48">
              <a:extLst>
                <a:ext uri="{FF2B5EF4-FFF2-40B4-BE49-F238E27FC236}">
                  <a16:creationId xmlns:a16="http://schemas.microsoft.com/office/drawing/2014/main" id="{BF8B65F7-B45B-4494-86CA-7421661F06FE}"/>
                </a:ext>
              </a:extLst>
            </p:cNvPr>
            <p:cNvSpPr txBox="1"/>
            <p:nvPr/>
          </p:nvSpPr>
          <p:spPr>
            <a:xfrm>
              <a:off x="6204405" y="3827646"/>
              <a:ext cx="287258" cy="379078"/>
            </a:xfrm>
            <a:prstGeom prst="rect">
              <a:avLst/>
            </a:prstGeom>
            <a:noFill/>
          </p:spPr>
          <p:txBody>
            <a:bodyPr wrap="none" rtlCol="0">
              <a:spAutoFit/>
            </a:bodyPr>
            <a:lstStyle/>
            <a:p>
              <a:pPr>
                <a:lnSpc>
                  <a:spcPct val="130000"/>
                </a:lnSpc>
                <a:buClr>
                  <a:srgbClr val="C5003D"/>
                </a:buClr>
              </a:pPr>
              <a:r>
                <a:rPr lang="en-US" altLang="ko-KR" sz="1600" dirty="0">
                  <a:latin typeface="Arial" panose="020B0604020202020204" pitchFamily="34" charset="0"/>
                  <a:cs typeface="Arial" panose="020B0604020202020204" pitchFamily="34" charset="0"/>
                </a:rPr>
                <a:t>x</a:t>
              </a:r>
              <a:endParaRPr lang="ko-KR" altLang="en-US" sz="1600" dirty="0">
                <a:latin typeface="Arial" panose="020B0604020202020204" pitchFamily="34" charset="0"/>
                <a:cs typeface="Arial" panose="020B0604020202020204" pitchFamily="34" charset="0"/>
              </a:endParaRPr>
            </a:p>
          </p:txBody>
        </p:sp>
        <p:grpSp>
          <p:nvGrpSpPr>
            <p:cNvPr id="50" name="그룹 37">
              <a:extLst>
                <a:ext uri="{FF2B5EF4-FFF2-40B4-BE49-F238E27FC236}">
                  <a16:creationId xmlns:a16="http://schemas.microsoft.com/office/drawing/2014/main" id="{911C181B-110F-4CB6-9031-A2AA445225D5}"/>
                </a:ext>
              </a:extLst>
            </p:cNvPr>
            <p:cNvGrpSpPr/>
            <p:nvPr/>
          </p:nvGrpSpPr>
          <p:grpSpPr>
            <a:xfrm>
              <a:off x="5273840" y="3323590"/>
              <a:ext cx="5184576" cy="1800200"/>
              <a:chOff x="2054858" y="2636912"/>
              <a:chExt cx="5616624" cy="2592288"/>
            </a:xfrm>
          </p:grpSpPr>
          <p:cxnSp>
            <p:nvCxnSpPr>
              <p:cNvPr id="51" name="직선 연결선 26">
                <a:extLst>
                  <a:ext uri="{FF2B5EF4-FFF2-40B4-BE49-F238E27FC236}">
                    <a16:creationId xmlns:a16="http://schemas.microsoft.com/office/drawing/2014/main" id="{7DCBC647-352D-43EE-AB97-D112FDB8F405}"/>
                  </a:ext>
                </a:extLst>
              </p:cNvPr>
              <p:cNvCxnSpPr/>
              <p:nvPr/>
            </p:nvCxnSpPr>
            <p:spPr>
              <a:xfrm flipV="1">
                <a:off x="4935178" y="2636912"/>
                <a:ext cx="17822" cy="25922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직선 연결선 29">
                <a:extLst>
                  <a:ext uri="{FF2B5EF4-FFF2-40B4-BE49-F238E27FC236}">
                    <a16:creationId xmlns:a16="http://schemas.microsoft.com/office/drawing/2014/main" id="{C4BC9A52-967A-4C0F-B730-E04CF43FE8A1}"/>
                  </a:ext>
                </a:extLst>
              </p:cNvPr>
              <p:cNvCxnSpPr/>
              <p:nvPr/>
            </p:nvCxnSpPr>
            <p:spPr>
              <a:xfrm>
                <a:off x="7671482" y="2708920"/>
                <a:ext cx="0" cy="25202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직선 연결선 32">
                <a:extLst>
                  <a:ext uri="{FF2B5EF4-FFF2-40B4-BE49-F238E27FC236}">
                    <a16:creationId xmlns:a16="http://schemas.microsoft.com/office/drawing/2014/main" id="{2B70DA47-B9B7-4B13-A632-178F711C5455}"/>
                  </a:ext>
                </a:extLst>
              </p:cNvPr>
              <p:cNvCxnSpPr/>
              <p:nvPr/>
            </p:nvCxnSpPr>
            <p:spPr>
              <a:xfrm>
                <a:off x="2054858" y="2708920"/>
                <a:ext cx="0" cy="25202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 name="TextBox 53">
              <a:extLst>
                <a:ext uri="{FF2B5EF4-FFF2-40B4-BE49-F238E27FC236}">
                  <a16:creationId xmlns:a16="http://schemas.microsoft.com/office/drawing/2014/main" id="{3D5C4E2D-381F-440F-AF47-409377C8C42B}"/>
                </a:ext>
              </a:extLst>
            </p:cNvPr>
            <p:cNvSpPr txBox="1"/>
            <p:nvPr/>
          </p:nvSpPr>
          <p:spPr>
            <a:xfrm>
              <a:off x="5074433" y="5185288"/>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5.0</a:t>
              </a:r>
              <a:endParaRPr lang="ko-KR" altLang="en-US" sz="12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AECBB992-C3DE-4806-B593-31903BF7BC99}"/>
                </a:ext>
              </a:extLst>
            </p:cNvPr>
            <p:cNvSpPr txBox="1"/>
            <p:nvPr/>
          </p:nvSpPr>
          <p:spPr>
            <a:xfrm>
              <a:off x="10275460" y="5195799"/>
              <a:ext cx="397866" cy="307456"/>
            </a:xfrm>
            <a:prstGeom prst="rect">
              <a:avLst/>
            </a:prstGeom>
            <a:noFill/>
          </p:spPr>
          <p:txBody>
            <a:bodyPr wrap="none" rtlCol="0">
              <a:spAutoFit/>
            </a:bodyPr>
            <a:lstStyle/>
            <a:p>
              <a:pPr>
                <a:lnSpc>
                  <a:spcPct val="130000"/>
                </a:lnSpc>
                <a:buClr>
                  <a:srgbClr val="C5003D"/>
                </a:buClr>
              </a:pPr>
              <a:r>
                <a:rPr lang="en-US" altLang="ko-KR" sz="1200" dirty="0">
                  <a:latin typeface="Arial" panose="020B0604020202020204" pitchFamily="34" charset="0"/>
                  <a:cs typeface="Arial" panose="020B0604020202020204" pitchFamily="34" charset="0"/>
                </a:rPr>
                <a:t>6.0</a:t>
              </a:r>
              <a:endParaRPr lang="ko-KR" altLang="en-US" sz="1200" dirty="0">
                <a:latin typeface="Arial" panose="020B0604020202020204" pitchFamily="34" charset="0"/>
                <a:cs typeface="Arial" panose="020B0604020202020204" pitchFamily="34" charset="0"/>
              </a:endParaRPr>
            </a:p>
          </p:txBody>
        </p:sp>
        <p:grpSp>
          <p:nvGrpSpPr>
            <p:cNvPr id="56" name="Group 73">
              <a:extLst>
                <a:ext uri="{FF2B5EF4-FFF2-40B4-BE49-F238E27FC236}">
                  <a16:creationId xmlns:a16="http://schemas.microsoft.com/office/drawing/2014/main" id="{7F08EDAF-EC27-4D63-ABD6-AA0F88E1D0E8}"/>
                </a:ext>
              </a:extLst>
            </p:cNvPr>
            <p:cNvGrpSpPr>
              <a:grpSpLocks/>
            </p:cNvGrpSpPr>
            <p:nvPr/>
          </p:nvGrpSpPr>
          <p:grpSpPr bwMode="auto">
            <a:xfrm>
              <a:off x="4505530" y="3165430"/>
              <a:ext cx="4131333" cy="1931009"/>
              <a:chOff x="826" y="1347"/>
              <a:chExt cx="2492" cy="1713"/>
            </a:xfrm>
          </p:grpSpPr>
          <p:sp>
            <p:nvSpPr>
              <p:cNvPr id="57" name="Freeform 74">
                <a:extLst>
                  <a:ext uri="{FF2B5EF4-FFF2-40B4-BE49-F238E27FC236}">
                    <a16:creationId xmlns:a16="http://schemas.microsoft.com/office/drawing/2014/main" id="{3F4B6540-D3BE-4908-980A-05F4A9814106}"/>
                  </a:ext>
                </a:extLst>
              </p:cNvPr>
              <p:cNvSpPr>
                <a:spLocks/>
              </p:cNvSpPr>
              <p:nvPr/>
            </p:nvSpPr>
            <p:spPr bwMode="auto">
              <a:xfrm>
                <a:off x="826" y="1347"/>
                <a:ext cx="1249" cy="1713"/>
              </a:xfrm>
              <a:custGeom>
                <a:avLst/>
                <a:gdLst>
                  <a:gd name="T0" fmla="*/ 0 w 1249"/>
                  <a:gd name="T1" fmla="*/ 1712 h 1713"/>
                  <a:gd name="T2" fmla="*/ 33 w 1249"/>
                  <a:gd name="T3" fmla="*/ 1706 h 1713"/>
                  <a:gd name="T4" fmla="*/ 89 w 1249"/>
                  <a:gd name="T5" fmla="*/ 1695 h 1713"/>
                  <a:gd name="T6" fmla="*/ 134 w 1249"/>
                  <a:gd name="T7" fmla="*/ 1689 h 1713"/>
                  <a:gd name="T8" fmla="*/ 184 w 1249"/>
                  <a:gd name="T9" fmla="*/ 1678 h 1713"/>
                  <a:gd name="T10" fmla="*/ 240 w 1249"/>
                  <a:gd name="T11" fmla="*/ 1661 h 1713"/>
                  <a:gd name="T12" fmla="*/ 285 w 1249"/>
                  <a:gd name="T13" fmla="*/ 1650 h 1713"/>
                  <a:gd name="T14" fmla="*/ 319 w 1249"/>
                  <a:gd name="T15" fmla="*/ 1639 h 1713"/>
                  <a:gd name="T16" fmla="*/ 363 w 1249"/>
                  <a:gd name="T17" fmla="*/ 1622 h 1713"/>
                  <a:gd name="T18" fmla="*/ 391 w 1249"/>
                  <a:gd name="T19" fmla="*/ 1611 h 1713"/>
                  <a:gd name="T20" fmla="*/ 425 w 1249"/>
                  <a:gd name="T21" fmla="*/ 1594 h 1713"/>
                  <a:gd name="T22" fmla="*/ 464 w 1249"/>
                  <a:gd name="T23" fmla="*/ 1577 h 1713"/>
                  <a:gd name="T24" fmla="*/ 492 w 1249"/>
                  <a:gd name="T25" fmla="*/ 1560 h 1713"/>
                  <a:gd name="T26" fmla="*/ 509 w 1249"/>
                  <a:gd name="T27" fmla="*/ 1544 h 1713"/>
                  <a:gd name="T28" fmla="*/ 531 w 1249"/>
                  <a:gd name="T29" fmla="*/ 1527 h 1713"/>
                  <a:gd name="T30" fmla="*/ 553 w 1249"/>
                  <a:gd name="T31" fmla="*/ 1504 h 1713"/>
                  <a:gd name="T32" fmla="*/ 570 w 1249"/>
                  <a:gd name="T33" fmla="*/ 1482 h 1713"/>
                  <a:gd name="T34" fmla="*/ 576 w 1249"/>
                  <a:gd name="T35" fmla="*/ 1476 h 1713"/>
                  <a:gd name="T36" fmla="*/ 587 w 1249"/>
                  <a:gd name="T37" fmla="*/ 1460 h 1713"/>
                  <a:gd name="T38" fmla="*/ 615 w 1249"/>
                  <a:gd name="T39" fmla="*/ 1415 h 1713"/>
                  <a:gd name="T40" fmla="*/ 637 w 1249"/>
                  <a:gd name="T41" fmla="*/ 1370 h 1713"/>
                  <a:gd name="T42" fmla="*/ 660 w 1249"/>
                  <a:gd name="T43" fmla="*/ 1326 h 1713"/>
                  <a:gd name="T44" fmla="*/ 682 w 1249"/>
                  <a:gd name="T45" fmla="*/ 1275 h 1713"/>
                  <a:gd name="T46" fmla="*/ 704 w 1249"/>
                  <a:gd name="T47" fmla="*/ 1225 h 1713"/>
                  <a:gd name="T48" fmla="*/ 727 w 1249"/>
                  <a:gd name="T49" fmla="*/ 1169 h 1713"/>
                  <a:gd name="T50" fmla="*/ 744 w 1249"/>
                  <a:gd name="T51" fmla="*/ 1124 h 1713"/>
                  <a:gd name="T52" fmla="*/ 755 w 1249"/>
                  <a:gd name="T53" fmla="*/ 1091 h 1713"/>
                  <a:gd name="T54" fmla="*/ 794 w 1249"/>
                  <a:gd name="T55" fmla="*/ 979 h 1713"/>
                  <a:gd name="T56" fmla="*/ 872 w 1249"/>
                  <a:gd name="T57" fmla="*/ 744 h 1713"/>
                  <a:gd name="T58" fmla="*/ 912 w 1249"/>
                  <a:gd name="T59" fmla="*/ 626 h 1713"/>
                  <a:gd name="T60" fmla="*/ 923 w 1249"/>
                  <a:gd name="T61" fmla="*/ 592 h 1713"/>
                  <a:gd name="T62" fmla="*/ 945 w 1249"/>
                  <a:gd name="T63" fmla="*/ 536 h 1713"/>
                  <a:gd name="T64" fmla="*/ 962 w 1249"/>
                  <a:gd name="T65" fmla="*/ 486 h 1713"/>
                  <a:gd name="T66" fmla="*/ 979 w 1249"/>
                  <a:gd name="T67" fmla="*/ 436 h 1713"/>
                  <a:gd name="T68" fmla="*/ 1001 w 1249"/>
                  <a:gd name="T69" fmla="*/ 380 h 1713"/>
                  <a:gd name="T70" fmla="*/ 1018 w 1249"/>
                  <a:gd name="T71" fmla="*/ 335 h 1713"/>
                  <a:gd name="T72" fmla="*/ 1035 w 1249"/>
                  <a:gd name="T73" fmla="*/ 291 h 1713"/>
                  <a:gd name="T74" fmla="*/ 1052 w 1249"/>
                  <a:gd name="T75" fmla="*/ 251 h 1713"/>
                  <a:gd name="T76" fmla="*/ 1057 w 1249"/>
                  <a:gd name="T77" fmla="*/ 235 h 1713"/>
                  <a:gd name="T78" fmla="*/ 1063 w 1249"/>
                  <a:gd name="T79" fmla="*/ 218 h 1713"/>
                  <a:gd name="T80" fmla="*/ 1080 w 1249"/>
                  <a:gd name="T81" fmla="*/ 179 h 1713"/>
                  <a:gd name="T82" fmla="*/ 1091 w 1249"/>
                  <a:gd name="T83" fmla="*/ 151 h 1713"/>
                  <a:gd name="T84" fmla="*/ 1102 w 1249"/>
                  <a:gd name="T85" fmla="*/ 123 h 1713"/>
                  <a:gd name="T86" fmla="*/ 1119 w 1249"/>
                  <a:gd name="T87" fmla="*/ 95 h 1713"/>
                  <a:gd name="T88" fmla="*/ 1130 w 1249"/>
                  <a:gd name="T89" fmla="*/ 72 h 1713"/>
                  <a:gd name="T90" fmla="*/ 1141 w 1249"/>
                  <a:gd name="T91" fmla="*/ 55 h 1713"/>
                  <a:gd name="T92" fmla="*/ 1152 w 1249"/>
                  <a:gd name="T93" fmla="*/ 44 h 1713"/>
                  <a:gd name="T94" fmla="*/ 1158 w 1249"/>
                  <a:gd name="T95" fmla="*/ 39 h 1713"/>
                  <a:gd name="T96" fmla="*/ 1169 w 1249"/>
                  <a:gd name="T97" fmla="*/ 27 h 1713"/>
                  <a:gd name="T98" fmla="*/ 1192 w 1249"/>
                  <a:gd name="T99" fmla="*/ 16 h 1713"/>
                  <a:gd name="T100" fmla="*/ 1214 w 1249"/>
                  <a:gd name="T101" fmla="*/ 5 h 1713"/>
                  <a:gd name="T102" fmla="*/ 1236 w 1249"/>
                  <a:gd name="T103" fmla="*/ 0 h 1713"/>
                  <a:gd name="T104" fmla="*/ 1248 w 1249"/>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9"/>
                  <a:gd name="T160" fmla="*/ 0 h 1713"/>
                  <a:gd name="T161" fmla="*/ 1249 w 124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9" h="1713">
                    <a:moveTo>
                      <a:pt x="0" y="1712"/>
                    </a:moveTo>
                    <a:lnTo>
                      <a:pt x="33" y="1706"/>
                    </a:lnTo>
                    <a:lnTo>
                      <a:pt x="89" y="1695"/>
                    </a:lnTo>
                    <a:lnTo>
                      <a:pt x="134" y="1689"/>
                    </a:lnTo>
                    <a:lnTo>
                      <a:pt x="184" y="1678"/>
                    </a:lnTo>
                    <a:lnTo>
                      <a:pt x="240" y="1661"/>
                    </a:lnTo>
                    <a:lnTo>
                      <a:pt x="285" y="1650"/>
                    </a:lnTo>
                    <a:lnTo>
                      <a:pt x="319" y="1639"/>
                    </a:lnTo>
                    <a:lnTo>
                      <a:pt x="363" y="1622"/>
                    </a:lnTo>
                    <a:lnTo>
                      <a:pt x="391" y="1611"/>
                    </a:lnTo>
                    <a:lnTo>
                      <a:pt x="425" y="1594"/>
                    </a:lnTo>
                    <a:lnTo>
                      <a:pt x="464" y="1577"/>
                    </a:lnTo>
                    <a:lnTo>
                      <a:pt x="492" y="1560"/>
                    </a:lnTo>
                    <a:lnTo>
                      <a:pt x="509" y="1544"/>
                    </a:lnTo>
                    <a:lnTo>
                      <a:pt x="531" y="1527"/>
                    </a:lnTo>
                    <a:lnTo>
                      <a:pt x="553" y="1504"/>
                    </a:lnTo>
                    <a:lnTo>
                      <a:pt x="570" y="1482"/>
                    </a:lnTo>
                    <a:lnTo>
                      <a:pt x="576" y="1476"/>
                    </a:lnTo>
                    <a:lnTo>
                      <a:pt x="587" y="1460"/>
                    </a:lnTo>
                    <a:lnTo>
                      <a:pt x="615" y="1415"/>
                    </a:lnTo>
                    <a:lnTo>
                      <a:pt x="637" y="1370"/>
                    </a:lnTo>
                    <a:lnTo>
                      <a:pt x="660" y="1326"/>
                    </a:lnTo>
                    <a:lnTo>
                      <a:pt x="682" y="1275"/>
                    </a:lnTo>
                    <a:lnTo>
                      <a:pt x="704" y="1225"/>
                    </a:lnTo>
                    <a:lnTo>
                      <a:pt x="727" y="1169"/>
                    </a:lnTo>
                    <a:lnTo>
                      <a:pt x="744" y="1124"/>
                    </a:lnTo>
                    <a:lnTo>
                      <a:pt x="755" y="1091"/>
                    </a:lnTo>
                    <a:lnTo>
                      <a:pt x="794" y="979"/>
                    </a:lnTo>
                    <a:lnTo>
                      <a:pt x="872" y="744"/>
                    </a:lnTo>
                    <a:lnTo>
                      <a:pt x="912" y="626"/>
                    </a:lnTo>
                    <a:lnTo>
                      <a:pt x="923" y="592"/>
                    </a:lnTo>
                    <a:lnTo>
                      <a:pt x="945" y="536"/>
                    </a:lnTo>
                    <a:lnTo>
                      <a:pt x="962" y="486"/>
                    </a:lnTo>
                    <a:lnTo>
                      <a:pt x="979" y="436"/>
                    </a:lnTo>
                    <a:lnTo>
                      <a:pt x="1001" y="380"/>
                    </a:lnTo>
                    <a:lnTo>
                      <a:pt x="1018" y="335"/>
                    </a:lnTo>
                    <a:lnTo>
                      <a:pt x="1035" y="291"/>
                    </a:lnTo>
                    <a:lnTo>
                      <a:pt x="1052" y="251"/>
                    </a:lnTo>
                    <a:lnTo>
                      <a:pt x="1057" y="235"/>
                    </a:lnTo>
                    <a:lnTo>
                      <a:pt x="1063" y="218"/>
                    </a:lnTo>
                    <a:lnTo>
                      <a:pt x="1080" y="179"/>
                    </a:lnTo>
                    <a:lnTo>
                      <a:pt x="1091" y="151"/>
                    </a:lnTo>
                    <a:lnTo>
                      <a:pt x="1102" y="123"/>
                    </a:lnTo>
                    <a:lnTo>
                      <a:pt x="1119" y="95"/>
                    </a:lnTo>
                    <a:lnTo>
                      <a:pt x="1130" y="72"/>
                    </a:lnTo>
                    <a:lnTo>
                      <a:pt x="1141" y="55"/>
                    </a:lnTo>
                    <a:lnTo>
                      <a:pt x="1152" y="44"/>
                    </a:lnTo>
                    <a:lnTo>
                      <a:pt x="1158" y="39"/>
                    </a:lnTo>
                    <a:lnTo>
                      <a:pt x="1169" y="27"/>
                    </a:lnTo>
                    <a:lnTo>
                      <a:pt x="1192" y="16"/>
                    </a:lnTo>
                    <a:lnTo>
                      <a:pt x="1214" y="5"/>
                    </a:lnTo>
                    <a:lnTo>
                      <a:pt x="1236" y="0"/>
                    </a:lnTo>
                    <a:lnTo>
                      <a:pt x="1248" y="0"/>
                    </a:lnTo>
                  </a:path>
                </a:pathLst>
              </a:custGeom>
              <a:noFill/>
              <a:ln w="28575" cap="rnd">
                <a:solidFill>
                  <a:srgbClr val="0000FF"/>
                </a:solidFill>
                <a:round/>
                <a:headEnd type="none" w="sm" len="sm"/>
                <a:tailEnd type="none" w="sm" len="sm"/>
              </a:ln>
            </p:spPr>
            <p:txBody>
              <a:bodyPr/>
              <a:lstStyle/>
              <a:p>
                <a:endParaRPr lang="ko-KR" altLang="en-US">
                  <a:latin typeface="Arial" panose="020B0604020202020204" pitchFamily="34" charset="0"/>
                  <a:cs typeface="Arial" panose="020B0604020202020204" pitchFamily="34" charset="0"/>
                </a:endParaRPr>
              </a:p>
            </p:txBody>
          </p:sp>
          <p:sp>
            <p:nvSpPr>
              <p:cNvPr id="58" name="Freeform 75">
                <a:extLst>
                  <a:ext uri="{FF2B5EF4-FFF2-40B4-BE49-F238E27FC236}">
                    <a16:creationId xmlns:a16="http://schemas.microsoft.com/office/drawing/2014/main" id="{CA822567-62EB-41C8-98EC-CA63AA07F092}"/>
                  </a:ext>
                </a:extLst>
              </p:cNvPr>
              <p:cNvSpPr>
                <a:spLocks/>
              </p:cNvSpPr>
              <p:nvPr/>
            </p:nvSpPr>
            <p:spPr bwMode="auto">
              <a:xfrm>
                <a:off x="2074" y="1347"/>
                <a:ext cx="1244" cy="1713"/>
              </a:xfrm>
              <a:custGeom>
                <a:avLst/>
                <a:gdLst>
                  <a:gd name="T0" fmla="*/ 1243 w 1244"/>
                  <a:gd name="T1" fmla="*/ 1712 h 1713"/>
                  <a:gd name="T2" fmla="*/ 1209 w 1244"/>
                  <a:gd name="T3" fmla="*/ 1706 h 1713"/>
                  <a:gd name="T4" fmla="*/ 1153 w 1244"/>
                  <a:gd name="T5" fmla="*/ 1695 h 1713"/>
                  <a:gd name="T6" fmla="*/ 1108 w 1244"/>
                  <a:gd name="T7" fmla="*/ 1689 h 1713"/>
                  <a:gd name="T8" fmla="*/ 1058 w 1244"/>
                  <a:gd name="T9" fmla="*/ 1678 h 1713"/>
                  <a:gd name="T10" fmla="*/ 1002 w 1244"/>
                  <a:gd name="T11" fmla="*/ 1661 h 1713"/>
                  <a:gd name="T12" fmla="*/ 957 w 1244"/>
                  <a:gd name="T13" fmla="*/ 1650 h 1713"/>
                  <a:gd name="T14" fmla="*/ 923 w 1244"/>
                  <a:gd name="T15" fmla="*/ 1639 h 1713"/>
                  <a:gd name="T16" fmla="*/ 878 w 1244"/>
                  <a:gd name="T17" fmla="*/ 1622 h 1713"/>
                  <a:gd name="T18" fmla="*/ 850 w 1244"/>
                  <a:gd name="T19" fmla="*/ 1611 h 1713"/>
                  <a:gd name="T20" fmla="*/ 817 w 1244"/>
                  <a:gd name="T21" fmla="*/ 1594 h 1713"/>
                  <a:gd name="T22" fmla="*/ 778 w 1244"/>
                  <a:gd name="T23" fmla="*/ 1577 h 1713"/>
                  <a:gd name="T24" fmla="*/ 750 w 1244"/>
                  <a:gd name="T25" fmla="*/ 1560 h 1713"/>
                  <a:gd name="T26" fmla="*/ 733 w 1244"/>
                  <a:gd name="T27" fmla="*/ 1544 h 1713"/>
                  <a:gd name="T28" fmla="*/ 711 w 1244"/>
                  <a:gd name="T29" fmla="*/ 1527 h 1713"/>
                  <a:gd name="T30" fmla="*/ 689 w 1244"/>
                  <a:gd name="T31" fmla="*/ 1504 h 1713"/>
                  <a:gd name="T32" fmla="*/ 672 w 1244"/>
                  <a:gd name="T33" fmla="*/ 1482 h 1713"/>
                  <a:gd name="T34" fmla="*/ 666 w 1244"/>
                  <a:gd name="T35" fmla="*/ 1476 h 1713"/>
                  <a:gd name="T36" fmla="*/ 655 w 1244"/>
                  <a:gd name="T37" fmla="*/ 1460 h 1713"/>
                  <a:gd name="T38" fmla="*/ 627 w 1244"/>
                  <a:gd name="T39" fmla="*/ 1415 h 1713"/>
                  <a:gd name="T40" fmla="*/ 605 w 1244"/>
                  <a:gd name="T41" fmla="*/ 1370 h 1713"/>
                  <a:gd name="T42" fmla="*/ 582 w 1244"/>
                  <a:gd name="T43" fmla="*/ 1331 h 1713"/>
                  <a:gd name="T44" fmla="*/ 560 w 1244"/>
                  <a:gd name="T45" fmla="*/ 1281 h 1713"/>
                  <a:gd name="T46" fmla="*/ 537 w 1244"/>
                  <a:gd name="T47" fmla="*/ 1231 h 1713"/>
                  <a:gd name="T48" fmla="*/ 515 w 1244"/>
                  <a:gd name="T49" fmla="*/ 1175 h 1713"/>
                  <a:gd name="T50" fmla="*/ 492 w 1244"/>
                  <a:gd name="T51" fmla="*/ 1124 h 1713"/>
                  <a:gd name="T52" fmla="*/ 481 w 1244"/>
                  <a:gd name="T53" fmla="*/ 1091 h 1713"/>
                  <a:gd name="T54" fmla="*/ 442 w 1244"/>
                  <a:gd name="T55" fmla="*/ 979 h 1713"/>
                  <a:gd name="T56" fmla="*/ 364 w 1244"/>
                  <a:gd name="T57" fmla="*/ 744 h 1713"/>
                  <a:gd name="T58" fmla="*/ 324 w 1244"/>
                  <a:gd name="T59" fmla="*/ 626 h 1713"/>
                  <a:gd name="T60" fmla="*/ 313 w 1244"/>
                  <a:gd name="T61" fmla="*/ 592 h 1713"/>
                  <a:gd name="T62" fmla="*/ 296 w 1244"/>
                  <a:gd name="T63" fmla="*/ 542 h 1713"/>
                  <a:gd name="T64" fmla="*/ 280 w 1244"/>
                  <a:gd name="T65" fmla="*/ 486 h 1713"/>
                  <a:gd name="T66" fmla="*/ 257 w 1244"/>
                  <a:gd name="T67" fmla="*/ 430 h 1713"/>
                  <a:gd name="T68" fmla="*/ 240 w 1244"/>
                  <a:gd name="T69" fmla="*/ 380 h 1713"/>
                  <a:gd name="T70" fmla="*/ 224 w 1244"/>
                  <a:gd name="T71" fmla="*/ 335 h 1713"/>
                  <a:gd name="T72" fmla="*/ 207 w 1244"/>
                  <a:gd name="T73" fmla="*/ 291 h 1713"/>
                  <a:gd name="T74" fmla="*/ 190 w 1244"/>
                  <a:gd name="T75" fmla="*/ 251 h 1713"/>
                  <a:gd name="T76" fmla="*/ 184 w 1244"/>
                  <a:gd name="T77" fmla="*/ 235 h 1713"/>
                  <a:gd name="T78" fmla="*/ 179 w 1244"/>
                  <a:gd name="T79" fmla="*/ 218 h 1713"/>
                  <a:gd name="T80" fmla="*/ 162 w 1244"/>
                  <a:gd name="T81" fmla="*/ 184 h 1713"/>
                  <a:gd name="T82" fmla="*/ 145 w 1244"/>
                  <a:gd name="T83" fmla="*/ 151 h 1713"/>
                  <a:gd name="T84" fmla="*/ 128 w 1244"/>
                  <a:gd name="T85" fmla="*/ 117 h 1713"/>
                  <a:gd name="T86" fmla="*/ 117 w 1244"/>
                  <a:gd name="T87" fmla="*/ 95 h 1713"/>
                  <a:gd name="T88" fmla="*/ 106 w 1244"/>
                  <a:gd name="T89" fmla="*/ 78 h 1713"/>
                  <a:gd name="T90" fmla="*/ 95 w 1244"/>
                  <a:gd name="T91" fmla="*/ 61 h 1713"/>
                  <a:gd name="T92" fmla="*/ 84 w 1244"/>
                  <a:gd name="T93" fmla="*/ 44 h 1713"/>
                  <a:gd name="T94" fmla="*/ 78 w 1244"/>
                  <a:gd name="T95" fmla="*/ 39 h 1713"/>
                  <a:gd name="T96" fmla="*/ 67 w 1244"/>
                  <a:gd name="T97" fmla="*/ 27 h 1713"/>
                  <a:gd name="T98" fmla="*/ 50 w 1244"/>
                  <a:gd name="T99" fmla="*/ 16 h 1713"/>
                  <a:gd name="T100" fmla="*/ 33 w 1244"/>
                  <a:gd name="T101" fmla="*/ 5 h 1713"/>
                  <a:gd name="T102" fmla="*/ 11 w 1244"/>
                  <a:gd name="T103" fmla="*/ 0 h 1713"/>
                  <a:gd name="T104" fmla="*/ 0 w 1244"/>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4"/>
                  <a:gd name="T160" fmla="*/ 0 h 1713"/>
                  <a:gd name="T161" fmla="*/ 1244 w 1244"/>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4" h="1713">
                    <a:moveTo>
                      <a:pt x="1243" y="1712"/>
                    </a:moveTo>
                    <a:lnTo>
                      <a:pt x="1209" y="1706"/>
                    </a:lnTo>
                    <a:lnTo>
                      <a:pt x="1153" y="1695"/>
                    </a:lnTo>
                    <a:lnTo>
                      <a:pt x="1108" y="1689"/>
                    </a:lnTo>
                    <a:lnTo>
                      <a:pt x="1058" y="1678"/>
                    </a:lnTo>
                    <a:lnTo>
                      <a:pt x="1002" y="1661"/>
                    </a:lnTo>
                    <a:lnTo>
                      <a:pt x="957" y="1650"/>
                    </a:lnTo>
                    <a:lnTo>
                      <a:pt x="923" y="1639"/>
                    </a:lnTo>
                    <a:lnTo>
                      <a:pt x="878" y="1622"/>
                    </a:lnTo>
                    <a:lnTo>
                      <a:pt x="850" y="1611"/>
                    </a:lnTo>
                    <a:lnTo>
                      <a:pt x="817" y="1594"/>
                    </a:lnTo>
                    <a:lnTo>
                      <a:pt x="778" y="1577"/>
                    </a:lnTo>
                    <a:lnTo>
                      <a:pt x="750" y="1560"/>
                    </a:lnTo>
                    <a:lnTo>
                      <a:pt x="733" y="1544"/>
                    </a:lnTo>
                    <a:lnTo>
                      <a:pt x="711" y="1527"/>
                    </a:lnTo>
                    <a:lnTo>
                      <a:pt x="689" y="1504"/>
                    </a:lnTo>
                    <a:lnTo>
                      <a:pt x="672" y="1482"/>
                    </a:lnTo>
                    <a:lnTo>
                      <a:pt x="666" y="1476"/>
                    </a:lnTo>
                    <a:lnTo>
                      <a:pt x="655" y="1460"/>
                    </a:lnTo>
                    <a:lnTo>
                      <a:pt x="627" y="1415"/>
                    </a:lnTo>
                    <a:lnTo>
                      <a:pt x="605" y="1370"/>
                    </a:lnTo>
                    <a:lnTo>
                      <a:pt x="582" y="1331"/>
                    </a:lnTo>
                    <a:lnTo>
                      <a:pt x="560" y="1281"/>
                    </a:lnTo>
                    <a:lnTo>
                      <a:pt x="537" y="1231"/>
                    </a:lnTo>
                    <a:lnTo>
                      <a:pt x="515" y="1175"/>
                    </a:lnTo>
                    <a:lnTo>
                      <a:pt x="492" y="1124"/>
                    </a:lnTo>
                    <a:lnTo>
                      <a:pt x="481" y="1091"/>
                    </a:lnTo>
                    <a:lnTo>
                      <a:pt x="442" y="979"/>
                    </a:lnTo>
                    <a:lnTo>
                      <a:pt x="364" y="744"/>
                    </a:lnTo>
                    <a:lnTo>
                      <a:pt x="324" y="626"/>
                    </a:lnTo>
                    <a:lnTo>
                      <a:pt x="313" y="592"/>
                    </a:lnTo>
                    <a:lnTo>
                      <a:pt x="296" y="542"/>
                    </a:lnTo>
                    <a:lnTo>
                      <a:pt x="280" y="486"/>
                    </a:lnTo>
                    <a:lnTo>
                      <a:pt x="257" y="430"/>
                    </a:lnTo>
                    <a:lnTo>
                      <a:pt x="240" y="380"/>
                    </a:lnTo>
                    <a:lnTo>
                      <a:pt x="224" y="335"/>
                    </a:lnTo>
                    <a:lnTo>
                      <a:pt x="207" y="291"/>
                    </a:lnTo>
                    <a:lnTo>
                      <a:pt x="190" y="251"/>
                    </a:lnTo>
                    <a:lnTo>
                      <a:pt x="184" y="235"/>
                    </a:lnTo>
                    <a:lnTo>
                      <a:pt x="179" y="218"/>
                    </a:lnTo>
                    <a:lnTo>
                      <a:pt x="162" y="184"/>
                    </a:lnTo>
                    <a:lnTo>
                      <a:pt x="145" y="151"/>
                    </a:lnTo>
                    <a:lnTo>
                      <a:pt x="128" y="117"/>
                    </a:lnTo>
                    <a:lnTo>
                      <a:pt x="117" y="95"/>
                    </a:lnTo>
                    <a:lnTo>
                      <a:pt x="106" y="78"/>
                    </a:lnTo>
                    <a:lnTo>
                      <a:pt x="95" y="61"/>
                    </a:lnTo>
                    <a:lnTo>
                      <a:pt x="84" y="44"/>
                    </a:lnTo>
                    <a:lnTo>
                      <a:pt x="78" y="39"/>
                    </a:lnTo>
                    <a:lnTo>
                      <a:pt x="67" y="27"/>
                    </a:lnTo>
                    <a:lnTo>
                      <a:pt x="50" y="16"/>
                    </a:lnTo>
                    <a:lnTo>
                      <a:pt x="33" y="5"/>
                    </a:lnTo>
                    <a:lnTo>
                      <a:pt x="11" y="0"/>
                    </a:lnTo>
                    <a:lnTo>
                      <a:pt x="0" y="0"/>
                    </a:lnTo>
                  </a:path>
                </a:pathLst>
              </a:custGeom>
              <a:noFill/>
              <a:ln w="28575" cap="rnd">
                <a:solidFill>
                  <a:srgbClr val="0000FF"/>
                </a:solidFill>
                <a:round/>
                <a:headEnd type="none" w="sm" len="sm"/>
                <a:tailEnd type="none" w="sm" len="sm"/>
              </a:ln>
            </p:spPr>
            <p:txBody>
              <a:bodyPr/>
              <a:lstStyle/>
              <a:p>
                <a:endParaRPr lang="ko-KR" altLang="en-US">
                  <a:latin typeface="Arial" panose="020B0604020202020204" pitchFamily="34" charset="0"/>
                  <a:cs typeface="Arial" panose="020B0604020202020204" pitchFamily="34" charset="0"/>
                </a:endParaRPr>
              </a:p>
            </p:txBody>
          </p:sp>
        </p:grpSp>
        <p:sp>
          <p:nvSpPr>
            <p:cNvPr id="59" name="Freeform 76">
              <a:extLst>
                <a:ext uri="{FF2B5EF4-FFF2-40B4-BE49-F238E27FC236}">
                  <a16:creationId xmlns:a16="http://schemas.microsoft.com/office/drawing/2014/main" id="{18619048-0E34-4602-A6AE-C4066C913876}"/>
                </a:ext>
              </a:extLst>
            </p:cNvPr>
            <p:cNvSpPr>
              <a:spLocks/>
            </p:cNvSpPr>
            <p:nvPr/>
          </p:nvSpPr>
          <p:spPr bwMode="auto">
            <a:xfrm>
              <a:off x="4464193" y="4921323"/>
              <a:ext cx="824706" cy="212979"/>
            </a:xfrm>
            <a:custGeom>
              <a:avLst/>
              <a:gdLst>
                <a:gd name="T0" fmla="*/ 317 w 317"/>
                <a:gd name="T1" fmla="*/ 0 h 90"/>
                <a:gd name="T2" fmla="*/ 317 w 317"/>
                <a:gd name="T3" fmla="*/ 90 h 90"/>
                <a:gd name="T4" fmla="*/ 0 w 317"/>
                <a:gd name="T5" fmla="*/ 90 h 90"/>
                <a:gd name="T6" fmla="*/ 317 w 317"/>
                <a:gd name="T7" fmla="*/ 0 h 90"/>
                <a:gd name="T8" fmla="*/ 0 60000 65536"/>
                <a:gd name="T9" fmla="*/ 0 60000 65536"/>
                <a:gd name="T10" fmla="*/ 0 60000 65536"/>
                <a:gd name="T11" fmla="*/ 0 60000 65536"/>
                <a:gd name="T12" fmla="*/ 0 w 317"/>
                <a:gd name="T13" fmla="*/ 0 h 90"/>
                <a:gd name="T14" fmla="*/ 317 w 317"/>
                <a:gd name="T15" fmla="*/ 90 h 90"/>
              </a:gdLst>
              <a:ahLst/>
              <a:cxnLst>
                <a:cxn ang="T8">
                  <a:pos x="T0" y="T1"/>
                </a:cxn>
                <a:cxn ang="T9">
                  <a:pos x="T2" y="T3"/>
                </a:cxn>
                <a:cxn ang="T10">
                  <a:pos x="T4" y="T5"/>
                </a:cxn>
                <a:cxn ang="T11">
                  <a:pos x="T6" y="T7"/>
                </a:cxn>
              </a:cxnLst>
              <a:rect l="T12" t="T13" r="T14" b="T15"/>
              <a:pathLst>
                <a:path w="317" h="90">
                  <a:moveTo>
                    <a:pt x="317" y="0"/>
                  </a:moveTo>
                  <a:lnTo>
                    <a:pt x="317" y="90"/>
                  </a:lnTo>
                  <a:lnTo>
                    <a:pt x="0" y="90"/>
                  </a:lnTo>
                  <a:lnTo>
                    <a:pt x="317" y="0"/>
                  </a:lnTo>
                  <a:close/>
                </a:path>
              </a:pathLst>
            </a:custGeom>
            <a:solidFill>
              <a:srgbClr val="FF0000"/>
            </a:solidFill>
            <a:ln w="9525">
              <a:solidFill>
                <a:schemeClr val="tx1"/>
              </a:solidFill>
              <a:round/>
              <a:headEnd/>
              <a:tailEnd/>
            </a:ln>
          </p:spPr>
          <p:txBody>
            <a:bodyPr wrap="none" anchor="ctr"/>
            <a:lstStyle/>
            <a:p>
              <a:endParaRPr lang="ko-KR" altLang="en-US">
                <a:latin typeface="Arial" panose="020B0604020202020204" pitchFamily="34" charset="0"/>
                <a:cs typeface="Arial" panose="020B0604020202020204" pitchFamily="34" charset="0"/>
              </a:endParaRPr>
            </a:p>
          </p:txBody>
        </p:sp>
        <p:sp>
          <p:nvSpPr>
            <p:cNvPr id="60" name="AutoShape 77">
              <a:extLst>
                <a:ext uri="{FF2B5EF4-FFF2-40B4-BE49-F238E27FC236}">
                  <a16:creationId xmlns:a16="http://schemas.microsoft.com/office/drawing/2014/main" id="{FF7F9FB3-BFCA-4848-9112-929342CC8915}"/>
                </a:ext>
              </a:extLst>
            </p:cNvPr>
            <p:cNvSpPr>
              <a:spLocks noChangeArrowheads="1"/>
            </p:cNvSpPr>
            <p:nvPr/>
          </p:nvSpPr>
          <p:spPr bwMode="auto">
            <a:xfrm>
              <a:off x="4345913" y="4270205"/>
              <a:ext cx="944379" cy="534814"/>
            </a:xfrm>
            <a:prstGeom prst="cloudCallout">
              <a:avLst>
                <a:gd name="adj1" fmla="val 16389"/>
                <a:gd name="adj2" fmla="val 86282"/>
              </a:avLst>
            </a:prstGeom>
            <a:solidFill>
              <a:srgbClr val="5F5F5F"/>
            </a:solidFill>
            <a:ln w="9525">
              <a:solidFill>
                <a:schemeClr val="bg1"/>
              </a:solidFill>
              <a:round/>
              <a:headEnd/>
              <a:tailEnd/>
            </a:ln>
          </p:spPr>
          <p:txBody>
            <a:bodyPr anchor="ctr"/>
            <a:lstStyle/>
            <a:p>
              <a:pPr algn="ctr"/>
              <a:endParaRPr lang="en-US" altLang="ko-KR" sz="900" b="1">
                <a:latin typeface="Arial" panose="020B0604020202020204" pitchFamily="34" charset="0"/>
                <a:ea typeface="맑은 고딕" pitchFamily="50" charset="-127"/>
                <a:cs typeface="Arial" panose="020B0604020202020204" pitchFamily="34" charset="0"/>
              </a:endParaRPr>
            </a:p>
          </p:txBody>
        </p:sp>
        <p:sp>
          <p:nvSpPr>
            <p:cNvPr id="61" name="Rectangle 78">
              <a:extLst>
                <a:ext uri="{FF2B5EF4-FFF2-40B4-BE49-F238E27FC236}">
                  <a16:creationId xmlns:a16="http://schemas.microsoft.com/office/drawing/2014/main" id="{5DB9ECDD-1595-4629-BBC5-7828EAD3AA9C}"/>
                </a:ext>
              </a:extLst>
            </p:cNvPr>
            <p:cNvSpPr>
              <a:spLocks noChangeArrowheads="1"/>
            </p:cNvSpPr>
            <p:nvPr/>
          </p:nvSpPr>
          <p:spPr bwMode="auto">
            <a:xfrm>
              <a:off x="4414322" y="4262192"/>
              <a:ext cx="1000594" cy="492443"/>
            </a:xfrm>
            <a:prstGeom prst="rect">
              <a:avLst/>
            </a:prstGeom>
            <a:noFill/>
            <a:ln w="9525" algn="ctr">
              <a:noFill/>
              <a:miter lim="800000"/>
              <a:headEnd/>
              <a:tailEnd/>
            </a:ln>
          </p:spPr>
          <p:txBody>
            <a:bodyPr wrap="none">
              <a:spAutoFit/>
            </a:bodyPr>
            <a:lstStyle/>
            <a:p>
              <a:pPr algn="ctr"/>
              <a:r>
                <a:rPr lang="en-US" altLang="ko-KR" sz="1200" b="1" dirty="0" err="1">
                  <a:solidFill>
                    <a:schemeClr val="bg1"/>
                  </a:solidFill>
                  <a:latin typeface="Arial" panose="020B0604020202020204" pitchFamily="34" charset="0"/>
                  <a:ea typeface="맑은 고딕" pitchFamily="50" charset="-127"/>
                  <a:cs typeface="Arial" panose="020B0604020202020204" pitchFamily="34" charset="0"/>
                </a:rPr>
                <a:t>Tỉ</a:t>
              </a:r>
              <a:r>
                <a:rPr lang="en-US" altLang="ko-KR" sz="1200" b="1" dirty="0">
                  <a:solidFill>
                    <a:schemeClr val="bg1"/>
                  </a:solidFill>
                  <a:latin typeface="Arial" panose="020B0604020202020204" pitchFamily="34" charset="0"/>
                  <a:ea typeface="맑은 고딕" pitchFamily="50" charset="-127"/>
                  <a:cs typeface="Arial" panose="020B0604020202020204" pitchFamily="34" charset="0"/>
                </a:rPr>
                <a:t> </a:t>
              </a:r>
              <a:r>
                <a:rPr lang="en-US" altLang="ko-KR" sz="1200" b="1" dirty="0" err="1">
                  <a:solidFill>
                    <a:schemeClr val="bg1"/>
                  </a:solidFill>
                  <a:latin typeface="Arial" panose="020B0604020202020204" pitchFamily="34" charset="0"/>
                  <a:ea typeface="맑은 고딕" pitchFamily="50" charset="-127"/>
                  <a:cs typeface="Arial" panose="020B0604020202020204" pitchFamily="34" charset="0"/>
                </a:rPr>
                <a:t>lệ</a:t>
              </a:r>
              <a:r>
                <a:rPr lang="en-US" altLang="ko-KR" sz="1200" b="1" dirty="0">
                  <a:solidFill>
                    <a:schemeClr val="bg1"/>
                  </a:solidFill>
                  <a:latin typeface="Arial" panose="020B0604020202020204" pitchFamily="34" charset="0"/>
                  <a:ea typeface="맑은 고딕" pitchFamily="50" charset="-127"/>
                  <a:cs typeface="Arial" panose="020B0604020202020204" pitchFamily="34" charset="0"/>
                </a:rPr>
                <a:t> </a:t>
              </a:r>
              <a:r>
                <a:rPr lang="en-US" altLang="ko-KR" sz="1200" b="1" dirty="0" err="1">
                  <a:solidFill>
                    <a:schemeClr val="bg1"/>
                  </a:solidFill>
                  <a:latin typeface="Arial" panose="020B0604020202020204" pitchFamily="34" charset="0"/>
                  <a:ea typeface="맑은 고딕" pitchFamily="50" charset="-127"/>
                  <a:cs typeface="Arial" panose="020B0604020202020204" pitchFamily="34" charset="0"/>
                </a:rPr>
                <a:t>không</a:t>
              </a:r>
              <a:endParaRPr lang="en-US" altLang="ko-KR" sz="1200" b="1" dirty="0">
                <a:solidFill>
                  <a:schemeClr val="bg1"/>
                </a:solidFill>
                <a:latin typeface="Arial" panose="020B0604020202020204" pitchFamily="34" charset="0"/>
                <a:ea typeface="맑은 고딕" pitchFamily="50" charset="-127"/>
                <a:cs typeface="Arial" panose="020B0604020202020204" pitchFamily="34" charset="0"/>
              </a:endParaRPr>
            </a:p>
            <a:p>
              <a:pPr algn="ctr"/>
              <a:r>
                <a:rPr lang="en-US" altLang="ko-KR" sz="1200" b="1" dirty="0">
                  <a:solidFill>
                    <a:schemeClr val="bg1"/>
                  </a:solidFill>
                  <a:latin typeface="Arial" panose="020B0604020202020204" pitchFamily="34" charset="0"/>
                  <a:ea typeface="맑은 고딕" pitchFamily="50" charset="-127"/>
                  <a:cs typeface="Arial" panose="020B0604020202020204" pitchFamily="34" charset="0"/>
                </a:rPr>
                <a:t> </a:t>
              </a:r>
              <a:r>
                <a:rPr lang="en-US" altLang="ko-KR" sz="1200" b="1" dirty="0" err="1">
                  <a:solidFill>
                    <a:schemeClr val="bg1"/>
                  </a:solidFill>
                  <a:latin typeface="Arial" panose="020B0604020202020204" pitchFamily="34" charset="0"/>
                  <a:ea typeface="맑은 고딕" pitchFamily="50" charset="-127"/>
                  <a:cs typeface="Arial" panose="020B0604020202020204" pitchFamily="34" charset="0"/>
                </a:rPr>
                <a:t>đạt</a:t>
              </a:r>
              <a:r>
                <a:rPr lang="ko-KR" altLang="en-US" sz="1200" b="1" dirty="0">
                  <a:solidFill>
                    <a:schemeClr val="bg1"/>
                  </a:solidFill>
                  <a:latin typeface="Arial" panose="020B0604020202020204" pitchFamily="34" charset="0"/>
                  <a:ea typeface="맑은 고딕" pitchFamily="50" charset="-127"/>
                  <a:cs typeface="Arial" panose="020B0604020202020204" pitchFamily="34" charset="0"/>
                </a:rPr>
                <a:t> </a:t>
              </a:r>
              <a:r>
                <a:rPr lang="en-US" altLang="ko-KR" sz="1400" b="1" dirty="0">
                  <a:solidFill>
                    <a:schemeClr val="bg1"/>
                  </a:solidFill>
                  <a:latin typeface="Arial" panose="020B0604020202020204" pitchFamily="34" charset="0"/>
                  <a:ea typeface="맑은 고딕" pitchFamily="50" charset="-127"/>
                  <a:cs typeface="Arial" panose="020B0604020202020204" pitchFamily="34" charset="0"/>
                </a:rPr>
                <a:t>?</a:t>
              </a:r>
            </a:p>
          </p:txBody>
        </p:sp>
        <p:sp>
          <p:nvSpPr>
            <p:cNvPr id="62" name="TextBox 61">
              <a:extLst>
                <a:ext uri="{FF2B5EF4-FFF2-40B4-BE49-F238E27FC236}">
                  <a16:creationId xmlns:a16="http://schemas.microsoft.com/office/drawing/2014/main" id="{A20C9219-0D94-424C-B8CA-91F6D8B28353}"/>
                </a:ext>
              </a:extLst>
            </p:cNvPr>
            <p:cNvSpPr txBox="1"/>
            <p:nvPr/>
          </p:nvSpPr>
          <p:spPr>
            <a:xfrm>
              <a:off x="4825009" y="3046069"/>
              <a:ext cx="570990" cy="379078"/>
            </a:xfrm>
            <a:prstGeom prst="rect">
              <a:avLst/>
            </a:prstGeom>
            <a:noFill/>
          </p:spPr>
          <p:txBody>
            <a:bodyPr wrap="none" rtlCol="0">
              <a:spAutoFit/>
            </a:bodyPr>
            <a:lstStyle/>
            <a:p>
              <a:pPr>
                <a:lnSpc>
                  <a:spcPct val="130000"/>
                </a:lnSpc>
                <a:buClr>
                  <a:srgbClr val="C5003D"/>
                </a:buClr>
              </a:pPr>
              <a:r>
                <a:rPr lang="en-US" altLang="ko-KR" sz="1600" b="1" dirty="0">
                  <a:latin typeface="Arial" panose="020B0604020202020204" pitchFamily="34" charset="0"/>
                  <a:cs typeface="Arial" panose="020B0604020202020204" pitchFamily="34" charset="0"/>
                </a:rPr>
                <a:t>LSL</a:t>
              </a:r>
              <a:endParaRPr lang="ko-KR" altLang="en-US" sz="1600" b="1" dirty="0">
                <a:latin typeface="Arial" panose="020B0604020202020204" pitchFamily="34" charset="0"/>
                <a:cs typeface="Arial" panose="020B0604020202020204" pitchFamily="34" charset="0"/>
              </a:endParaRPr>
            </a:p>
          </p:txBody>
        </p:sp>
        <p:sp>
          <p:nvSpPr>
            <p:cNvPr id="63" name="TextBox 62">
              <a:extLst>
                <a:ext uri="{FF2B5EF4-FFF2-40B4-BE49-F238E27FC236}">
                  <a16:creationId xmlns:a16="http://schemas.microsoft.com/office/drawing/2014/main" id="{88CA2A58-88BB-4DB5-8769-DDCE98A74522}"/>
                </a:ext>
              </a:extLst>
            </p:cNvPr>
            <p:cNvSpPr txBox="1"/>
            <p:nvPr/>
          </p:nvSpPr>
          <p:spPr>
            <a:xfrm>
              <a:off x="10009585" y="3046069"/>
              <a:ext cx="593432" cy="379078"/>
            </a:xfrm>
            <a:prstGeom prst="rect">
              <a:avLst/>
            </a:prstGeom>
            <a:noFill/>
          </p:spPr>
          <p:txBody>
            <a:bodyPr wrap="none" rtlCol="0">
              <a:spAutoFit/>
            </a:bodyPr>
            <a:lstStyle/>
            <a:p>
              <a:pPr>
                <a:lnSpc>
                  <a:spcPct val="130000"/>
                </a:lnSpc>
                <a:buClr>
                  <a:srgbClr val="C5003D"/>
                </a:buClr>
              </a:pPr>
              <a:r>
                <a:rPr lang="en-US" altLang="ko-KR" sz="1600" b="1" dirty="0">
                  <a:latin typeface="Arial" panose="020B0604020202020204" pitchFamily="34" charset="0"/>
                  <a:cs typeface="Arial" panose="020B0604020202020204" pitchFamily="34" charset="0"/>
                </a:rPr>
                <a:t>USL</a:t>
              </a:r>
              <a:endParaRPr lang="ko-KR" altLang="en-US" sz="1600" b="1" dirty="0">
                <a:latin typeface="Arial" panose="020B0604020202020204" pitchFamily="34" charset="0"/>
                <a:cs typeface="Arial" panose="020B0604020202020204" pitchFamily="34" charset="0"/>
              </a:endParaRPr>
            </a:p>
          </p:txBody>
        </p:sp>
      </p:grpSp>
      <p:sp>
        <p:nvSpPr>
          <p:cNvPr id="65" name="TextBox 64">
            <a:extLst>
              <a:ext uri="{FF2B5EF4-FFF2-40B4-BE49-F238E27FC236}">
                <a16:creationId xmlns:a16="http://schemas.microsoft.com/office/drawing/2014/main" id="{F3BB4BF8-8AF9-42F4-BBFA-7617284848D1}"/>
              </a:ext>
            </a:extLst>
          </p:cNvPr>
          <p:cNvSpPr txBox="1"/>
          <p:nvPr/>
        </p:nvSpPr>
        <p:spPr>
          <a:xfrm>
            <a:off x="5939844" y="2708921"/>
            <a:ext cx="1677062" cy="379078"/>
          </a:xfrm>
          <a:prstGeom prst="rect">
            <a:avLst/>
          </a:prstGeom>
          <a:noFill/>
        </p:spPr>
        <p:txBody>
          <a:bodyPr wrap="none" rtlCol="0">
            <a:spAutoFit/>
          </a:bodyPr>
          <a:lstStyle/>
          <a:p>
            <a:pPr>
              <a:lnSpc>
                <a:spcPct val="130000"/>
              </a:lnSpc>
              <a:buClr>
                <a:srgbClr val="C5003D"/>
              </a:buClr>
            </a:pPr>
            <a:r>
              <a:rPr lang="en-US" altLang="ko-KR" sz="1600" u="sng" dirty="0" err="1">
                <a:latin typeface="Arial" panose="020B0604020202020204" pitchFamily="34" charset="0"/>
                <a:cs typeface="Arial" panose="020B0604020202020204" pitchFamily="34" charset="0"/>
              </a:rPr>
              <a:t>Đồ</a:t>
            </a:r>
            <a:r>
              <a:rPr lang="en-US" altLang="ko-KR" sz="1600" u="sng" dirty="0">
                <a:latin typeface="Arial" panose="020B0604020202020204" pitchFamily="34" charset="0"/>
                <a:cs typeface="Arial" panose="020B0604020202020204" pitchFamily="34" charset="0"/>
              </a:rPr>
              <a:t> </a:t>
            </a:r>
            <a:r>
              <a:rPr lang="en-US" altLang="ko-KR" sz="1600" u="sng" dirty="0" err="1">
                <a:latin typeface="Arial" panose="020B0604020202020204" pitchFamily="34" charset="0"/>
                <a:cs typeface="Arial" panose="020B0604020202020204" pitchFamily="34" charset="0"/>
              </a:rPr>
              <a:t>thị</a:t>
            </a:r>
            <a:r>
              <a:rPr lang="en-US" altLang="ko-KR" sz="1600" u="sng" dirty="0">
                <a:latin typeface="Arial" panose="020B0604020202020204" pitchFamily="34" charset="0"/>
                <a:cs typeface="Arial" panose="020B0604020202020204" pitchFamily="34" charset="0"/>
              </a:rPr>
              <a:t> </a:t>
            </a:r>
            <a:r>
              <a:rPr lang="en-US" altLang="ko-KR" sz="1600" u="sng" dirty="0" err="1">
                <a:latin typeface="Arial" panose="020B0604020202020204" pitchFamily="34" charset="0"/>
                <a:cs typeface="Arial" panose="020B0604020202020204" pitchFamily="34" charset="0"/>
              </a:rPr>
              <a:t>phân</a:t>
            </a:r>
            <a:r>
              <a:rPr lang="en-US" altLang="ko-KR" sz="1600" u="sng" dirty="0">
                <a:latin typeface="Arial" panose="020B0604020202020204" pitchFamily="34" charset="0"/>
                <a:cs typeface="Arial" panose="020B0604020202020204" pitchFamily="34" charset="0"/>
              </a:rPr>
              <a:t> </a:t>
            </a:r>
            <a:r>
              <a:rPr lang="en-US" altLang="ko-KR" sz="1600" u="sng" dirty="0" err="1">
                <a:latin typeface="Arial" panose="020B0604020202020204" pitchFamily="34" charset="0"/>
                <a:cs typeface="Arial" panose="020B0604020202020204" pitchFamily="34" charset="0"/>
              </a:rPr>
              <a:t>phối</a:t>
            </a:r>
            <a:endParaRPr lang="ko-KR" altLang="en-US" sz="1600" u="sng"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7107391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7. </a:t>
            </a:r>
            <a:r>
              <a:rPr lang="en-US" altLang="ko-KR" b="1" dirty="0" err="1">
                <a:latin typeface="Arial" pitchFamily="34" charset="0"/>
                <a:ea typeface="맑은 고딕" pitchFamily="50" charset="-127"/>
                <a:cs typeface="Arial" pitchFamily="34" charset="0"/>
              </a:rPr>
              <a:t>Phân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phối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chuẩn</a:t>
            </a:r>
            <a:endParaRPr lang="ko-KR" altLang="en-US" b="1" dirty="0">
              <a:latin typeface="Arial" pitchFamily="34" charset="0"/>
              <a:ea typeface="맑은 고딕" pitchFamily="50" charset="-127"/>
              <a:cs typeface="Arial" pitchFamily="34" charset="0"/>
            </a:endParaRPr>
          </a:p>
        </p:txBody>
      </p:sp>
      <p:grpSp>
        <p:nvGrpSpPr>
          <p:cNvPr id="57347" name="Group 113"/>
          <p:cNvGrpSpPr>
            <a:grpSpLocks/>
          </p:cNvGrpSpPr>
          <p:nvPr/>
        </p:nvGrpSpPr>
        <p:grpSpPr bwMode="auto">
          <a:xfrm>
            <a:off x="1352600" y="2209216"/>
            <a:ext cx="5576887" cy="3079750"/>
            <a:chOff x="716" y="1972"/>
            <a:chExt cx="3513" cy="1940"/>
          </a:xfrm>
        </p:grpSpPr>
        <p:sp>
          <p:nvSpPr>
            <p:cNvPr id="57349" name="Line 64"/>
            <p:cNvSpPr>
              <a:spLocks noChangeShapeType="1"/>
            </p:cNvSpPr>
            <p:nvPr/>
          </p:nvSpPr>
          <p:spPr bwMode="auto">
            <a:xfrm>
              <a:off x="732" y="3600"/>
              <a:ext cx="34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50" name="Line 65"/>
            <p:cNvSpPr>
              <a:spLocks noChangeShapeType="1"/>
            </p:cNvSpPr>
            <p:nvPr/>
          </p:nvSpPr>
          <p:spPr bwMode="auto">
            <a:xfrm>
              <a:off x="2468" y="2857"/>
              <a:ext cx="0" cy="743"/>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51" name="Line 66"/>
            <p:cNvSpPr>
              <a:spLocks noChangeShapeType="1"/>
            </p:cNvSpPr>
            <p:nvPr/>
          </p:nvSpPr>
          <p:spPr bwMode="auto">
            <a:xfrm>
              <a:off x="2750" y="2725"/>
              <a:ext cx="0" cy="8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52" name="Line 67"/>
            <p:cNvSpPr>
              <a:spLocks noChangeShapeType="1"/>
            </p:cNvSpPr>
            <p:nvPr/>
          </p:nvSpPr>
          <p:spPr bwMode="auto">
            <a:xfrm>
              <a:off x="3003" y="2595"/>
              <a:ext cx="0" cy="100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53" name="Line 68"/>
            <p:cNvSpPr>
              <a:spLocks noChangeShapeType="1"/>
            </p:cNvSpPr>
            <p:nvPr/>
          </p:nvSpPr>
          <p:spPr bwMode="auto">
            <a:xfrm>
              <a:off x="3271" y="2463"/>
              <a:ext cx="0" cy="11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54" name="Line 69"/>
            <p:cNvSpPr>
              <a:spLocks noChangeShapeType="1"/>
            </p:cNvSpPr>
            <p:nvPr/>
          </p:nvSpPr>
          <p:spPr bwMode="auto">
            <a:xfrm>
              <a:off x="1665" y="2463"/>
              <a:ext cx="0" cy="11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55" name="Line 70"/>
            <p:cNvSpPr>
              <a:spLocks noChangeShapeType="1"/>
            </p:cNvSpPr>
            <p:nvPr/>
          </p:nvSpPr>
          <p:spPr bwMode="auto">
            <a:xfrm>
              <a:off x="1933" y="2595"/>
              <a:ext cx="0" cy="100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56" name="Line 71"/>
            <p:cNvSpPr>
              <a:spLocks noChangeShapeType="1"/>
            </p:cNvSpPr>
            <p:nvPr/>
          </p:nvSpPr>
          <p:spPr bwMode="auto">
            <a:xfrm>
              <a:off x="2180" y="2725"/>
              <a:ext cx="0" cy="8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57" name="Rectangle 72"/>
            <p:cNvSpPr>
              <a:spLocks noChangeArrowheads="1"/>
            </p:cNvSpPr>
            <p:nvPr/>
          </p:nvSpPr>
          <p:spPr bwMode="auto">
            <a:xfrm>
              <a:off x="2369" y="3582"/>
              <a:ext cx="21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p:txBody>
        </p:sp>
        <p:sp>
          <p:nvSpPr>
            <p:cNvPr id="57358" name="Rectangle 73"/>
            <p:cNvSpPr>
              <a:spLocks noChangeArrowheads="1"/>
            </p:cNvSpPr>
            <p:nvPr/>
          </p:nvSpPr>
          <p:spPr bwMode="auto">
            <a:xfrm>
              <a:off x="2588" y="3582"/>
              <a:ext cx="24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+s</a:t>
              </a:r>
            </a:p>
          </p:txBody>
        </p:sp>
        <p:sp>
          <p:nvSpPr>
            <p:cNvPr id="57359" name="Rectangle 74"/>
            <p:cNvSpPr>
              <a:spLocks noChangeArrowheads="1"/>
            </p:cNvSpPr>
            <p:nvPr/>
          </p:nvSpPr>
          <p:spPr bwMode="auto">
            <a:xfrm>
              <a:off x="2855" y="3582"/>
              <a:ext cx="30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+2s</a:t>
              </a:r>
            </a:p>
          </p:txBody>
        </p:sp>
        <p:sp>
          <p:nvSpPr>
            <p:cNvPr id="57360" name="Rectangle 75"/>
            <p:cNvSpPr>
              <a:spLocks noChangeArrowheads="1"/>
            </p:cNvSpPr>
            <p:nvPr/>
          </p:nvSpPr>
          <p:spPr bwMode="auto">
            <a:xfrm>
              <a:off x="3123" y="3582"/>
              <a:ext cx="30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+3s</a:t>
              </a:r>
            </a:p>
          </p:txBody>
        </p:sp>
        <p:sp>
          <p:nvSpPr>
            <p:cNvPr id="57361" name="Rectangle 76"/>
            <p:cNvSpPr>
              <a:spLocks noChangeArrowheads="1"/>
            </p:cNvSpPr>
            <p:nvPr/>
          </p:nvSpPr>
          <p:spPr bwMode="auto">
            <a:xfrm>
              <a:off x="2053" y="3582"/>
              <a:ext cx="21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-s</a:t>
              </a:r>
            </a:p>
          </p:txBody>
        </p:sp>
        <p:sp>
          <p:nvSpPr>
            <p:cNvPr id="57362" name="Rectangle 77"/>
            <p:cNvSpPr>
              <a:spLocks noChangeArrowheads="1"/>
            </p:cNvSpPr>
            <p:nvPr/>
          </p:nvSpPr>
          <p:spPr bwMode="auto">
            <a:xfrm>
              <a:off x="1785" y="3582"/>
              <a:ext cx="27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-2s</a:t>
              </a:r>
            </a:p>
          </p:txBody>
        </p:sp>
        <p:sp>
          <p:nvSpPr>
            <p:cNvPr id="57363" name="Rectangle 78"/>
            <p:cNvSpPr>
              <a:spLocks noChangeArrowheads="1"/>
            </p:cNvSpPr>
            <p:nvPr/>
          </p:nvSpPr>
          <p:spPr bwMode="auto">
            <a:xfrm>
              <a:off x="1520" y="3582"/>
              <a:ext cx="27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-3s</a:t>
              </a:r>
            </a:p>
          </p:txBody>
        </p:sp>
        <p:sp>
          <p:nvSpPr>
            <p:cNvPr id="57364" name="Line 79"/>
            <p:cNvSpPr>
              <a:spLocks noChangeShapeType="1"/>
            </p:cNvSpPr>
            <p:nvPr/>
          </p:nvSpPr>
          <p:spPr bwMode="auto">
            <a:xfrm>
              <a:off x="2202" y="2858"/>
              <a:ext cx="502" cy="0"/>
            </a:xfrm>
            <a:prstGeom prst="line">
              <a:avLst/>
            </a:prstGeom>
            <a:noFill/>
            <a:ln w="12700">
              <a:solidFill>
                <a:schemeClr val="tx1"/>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65" name="Line 80"/>
            <p:cNvSpPr>
              <a:spLocks noChangeShapeType="1"/>
            </p:cNvSpPr>
            <p:nvPr/>
          </p:nvSpPr>
          <p:spPr bwMode="auto">
            <a:xfrm>
              <a:off x="1935" y="2636"/>
              <a:ext cx="1035" cy="0"/>
            </a:xfrm>
            <a:prstGeom prst="line">
              <a:avLst/>
            </a:prstGeom>
            <a:noFill/>
            <a:ln w="12700">
              <a:solidFill>
                <a:schemeClr val="tx1"/>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66" name="Line 81"/>
            <p:cNvSpPr>
              <a:spLocks noChangeShapeType="1"/>
            </p:cNvSpPr>
            <p:nvPr/>
          </p:nvSpPr>
          <p:spPr bwMode="auto">
            <a:xfrm>
              <a:off x="1667" y="2506"/>
              <a:ext cx="1636" cy="0"/>
            </a:xfrm>
            <a:prstGeom prst="line">
              <a:avLst/>
            </a:prstGeom>
            <a:noFill/>
            <a:ln w="12700">
              <a:solidFill>
                <a:schemeClr val="tx1"/>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67" name="Rectangle 82"/>
            <p:cNvSpPr>
              <a:spLocks noChangeArrowheads="1"/>
            </p:cNvSpPr>
            <p:nvPr/>
          </p:nvSpPr>
          <p:spPr bwMode="auto">
            <a:xfrm>
              <a:off x="2288" y="2369"/>
              <a:ext cx="401"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000" dirty="0">
                  <a:latin typeface="Arial" pitchFamily="34" charset="0"/>
                  <a:ea typeface="돋움" pitchFamily="50" charset="-127"/>
                  <a:cs typeface="Arial" pitchFamily="34" charset="0"/>
                </a:rPr>
                <a:t>99.73%</a:t>
              </a:r>
            </a:p>
          </p:txBody>
        </p:sp>
        <p:sp>
          <p:nvSpPr>
            <p:cNvPr id="57368" name="Rectangle 83"/>
            <p:cNvSpPr>
              <a:spLocks noChangeArrowheads="1"/>
            </p:cNvSpPr>
            <p:nvPr/>
          </p:nvSpPr>
          <p:spPr bwMode="auto">
            <a:xfrm>
              <a:off x="2288" y="2506"/>
              <a:ext cx="401"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000" dirty="0">
                  <a:latin typeface="Arial" pitchFamily="34" charset="0"/>
                  <a:ea typeface="돋움" pitchFamily="50" charset="-127"/>
                  <a:cs typeface="Arial" pitchFamily="34" charset="0"/>
                </a:rPr>
                <a:t>95.45%</a:t>
              </a:r>
            </a:p>
          </p:txBody>
        </p:sp>
        <p:sp>
          <p:nvSpPr>
            <p:cNvPr id="57369" name="Rectangle 84"/>
            <p:cNvSpPr>
              <a:spLocks noChangeArrowheads="1"/>
            </p:cNvSpPr>
            <p:nvPr/>
          </p:nvSpPr>
          <p:spPr bwMode="auto">
            <a:xfrm>
              <a:off x="2288" y="2712"/>
              <a:ext cx="401"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000" dirty="0">
                  <a:latin typeface="Arial" pitchFamily="34" charset="0"/>
                  <a:ea typeface="돋움" pitchFamily="50" charset="-127"/>
                  <a:cs typeface="Arial" pitchFamily="34" charset="0"/>
                </a:rPr>
                <a:t>68.27%</a:t>
              </a:r>
            </a:p>
          </p:txBody>
        </p:sp>
        <p:sp>
          <p:nvSpPr>
            <p:cNvPr id="57370" name="Line 85"/>
            <p:cNvSpPr>
              <a:spLocks noChangeShapeType="1"/>
            </p:cNvSpPr>
            <p:nvPr/>
          </p:nvSpPr>
          <p:spPr bwMode="auto">
            <a:xfrm>
              <a:off x="1399" y="2332"/>
              <a:ext cx="0" cy="12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1" name="Line 86"/>
            <p:cNvSpPr>
              <a:spLocks noChangeShapeType="1"/>
            </p:cNvSpPr>
            <p:nvPr/>
          </p:nvSpPr>
          <p:spPr bwMode="auto">
            <a:xfrm>
              <a:off x="1131" y="2201"/>
              <a:ext cx="0" cy="139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2" name="Line 87"/>
            <p:cNvSpPr>
              <a:spLocks noChangeShapeType="1"/>
            </p:cNvSpPr>
            <p:nvPr/>
          </p:nvSpPr>
          <p:spPr bwMode="auto">
            <a:xfrm>
              <a:off x="864" y="2070"/>
              <a:ext cx="0" cy="153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3" name="Line 88"/>
            <p:cNvSpPr>
              <a:spLocks noChangeShapeType="1"/>
            </p:cNvSpPr>
            <p:nvPr/>
          </p:nvSpPr>
          <p:spPr bwMode="auto">
            <a:xfrm>
              <a:off x="3537" y="2332"/>
              <a:ext cx="0" cy="12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4" name="Line 89"/>
            <p:cNvSpPr>
              <a:spLocks noChangeShapeType="1"/>
            </p:cNvSpPr>
            <p:nvPr/>
          </p:nvSpPr>
          <p:spPr bwMode="auto">
            <a:xfrm>
              <a:off x="3805" y="2201"/>
              <a:ext cx="0" cy="139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5" name="Line 90"/>
            <p:cNvSpPr>
              <a:spLocks noChangeShapeType="1"/>
            </p:cNvSpPr>
            <p:nvPr/>
          </p:nvSpPr>
          <p:spPr bwMode="auto">
            <a:xfrm>
              <a:off x="4074" y="2070"/>
              <a:ext cx="0" cy="153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6" name="Line 91"/>
            <p:cNvSpPr>
              <a:spLocks noChangeShapeType="1"/>
            </p:cNvSpPr>
            <p:nvPr/>
          </p:nvSpPr>
          <p:spPr bwMode="auto">
            <a:xfrm>
              <a:off x="1400" y="2374"/>
              <a:ext cx="2106" cy="0"/>
            </a:xfrm>
            <a:prstGeom prst="line">
              <a:avLst/>
            </a:prstGeom>
            <a:noFill/>
            <a:ln w="12700">
              <a:solidFill>
                <a:schemeClr val="tx1"/>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7" name="Line 92"/>
            <p:cNvSpPr>
              <a:spLocks noChangeShapeType="1"/>
            </p:cNvSpPr>
            <p:nvPr/>
          </p:nvSpPr>
          <p:spPr bwMode="auto">
            <a:xfrm>
              <a:off x="1132" y="2243"/>
              <a:ext cx="2706" cy="0"/>
            </a:xfrm>
            <a:prstGeom prst="line">
              <a:avLst/>
            </a:prstGeom>
            <a:noFill/>
            <a:ln w="12700">
              <a:solidFill>
                <a:schemeClr val="tx1"/>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8" name="Line 93"/>
            <p:cNvSpPr>
              <a:spLocks noChangeShapeType="1"/>
            </p:cNvSpPr>
            <p:nvPr/>
          </p:nvSpPr>
          <p:spPr bwMode="auto">
            <a:xfrm>
              <a:off x="866" y="2112"/>
              <a:ext cx="3240" cy="0"/>
            </a:xfrm>
            <a:prstGeom prst="line">
              <a:avLst/>
            </a:prstGeom>
            <a:noFill/>
            <a:ln w="12700">
              <a:solidFill>
                <a:schemeClr val="tx1"/>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7379" name="Rectangle 94"/>
            <p:cNvSpPr>
              <a:spLocks noChangeArrowheads="1"/>
            </p:cNvSpPr>
            <p:nvPr/>
          </p:nvSpPr>
          <p:spPr bwMode="auto">
            <a:xfrm>
              <a:off x="3391" y="3582"/>
              <a:ext cx="30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+4s</a:t>
              </a:r>
            </a:p>
          </p:txBody>
        </p:sp>
        <p:sp>
          <p:nvSpPr>
            <p:cNvPr id="57380" name="Rectangle 95"/>
            <p:cNvSpPr>
              <a:spLocks noChangeArrowheads="1"/>
            </p:cNvSpPr>
            <p:nvPr/>
          </p:nvSpPr>
          <p:spPr bwMode="auto">
            <a:xfrm>
              <a:off x="3657" y="3582"/>
              <a:ext cx="30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+5s</a:t>
              </a:r>
            </a:p>
          </p:txBody>
        </p:sp>
        <p:sp>
          <p:nvSpPr>
            <p:cNvPr id="57381" name="Rectangle 96"/>
            <p:cNvSpPr>
              <a:spLocks noChangeArrowheads="1"/>
            </p:cNvSpPr>
            <p:nvPr/>
          </p:nvSpPr>
          <p:spPr bwMode="auto">
            <a:xfrm>
              <a:off x="3925" y="3582"/>
              <a:ext cx="30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+6s</a:t>
              </a:r>
            </a:p>
          </p:txBody>
        </p:sp>
        <p:sp>
          <p:nvSpPr>
            <p:cNvPr id="57382" name="Rectangle 97"/>
            <p:cNvSpPr>
              <a:spLocks noChangeArrowheads="1"/>
            </p:cNvSpPr>
            <p:nvPr/>
          </p:nvSpPr>
          <p:spPr bwMode="auto">
            <a:xfrm>
              <a:off x="1251" y="3582"/>
              <a:ext cx="27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-4s</a:t>
              </a:r>
            </a:p>
          </p:txBody>
        </p:sp>
        <p:sp>
          <p:nvSpPr>
            <p:cNvPr id="57383" name="Rectangle 98"/>
            <p:cNvSpPr>
              <a:spLocks noChangeArrowheads="1"/>
            </p:cNvSpPr>
            <p:nvPr/>
          </p:nvSpPr>
          <p:spPr bwMode="auto">
            <a:xfrm>
              <a:off x="984" y="3582"/>
              <a:ext cx="27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-5s</a:t>
              </a:r>
            </a:p>
          </p:txBody>
        </p:sp>
        <p:sp>
          <p:nvSpPr>
            <p:cNvPr id="57384" name="Rectangle 99"/>
            <p:cNvSpPr>
              <a:spLocks noChangeArrowheads="1"/>
            </p:cNvSpPr>
            <p:nvPr/>
          </p:nvSpPr>
          <p:spPr bwMode="auto">
            <a:xfrm>
              <a:off x="716" y="3582"/>
              <a:ext cx="27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dirty="0">
                  <a:latin typeface="Arial" pitchFamily="34" charset="0"/>
                  <a:ea typeface="돋움" pitchFamily="50" charset="-127"/>
                  <a:cs typeface="Arial" pitchFamily="34" charset="0"/>
                </a:rPr>
                <a:t>m</a:t>
              </a:r>
            </a:p>
            <a:p>
              <a:pPr eaLnBrk="1" latinLnBrk="0" hangingPunct="1"/>
              <a:r>
                <a:rPr lang="en-US" altLang="ko-KR" sz="1400" dirty="0">
                  <a:latin typeface="Arial" pitchFamily="34" charset="0"/>
                  <a:ea typeface="돋움" pitchFamily="50" charset="-127"/>
                  <a:cs typeface="Arial" pitchFamily="34" charset="0"/>
                </a:rPr>
                <a:t>-6s</a:t>
              </a:r>
            </a:p>
          </p:txBody>
        </p:sp>
        <p:sp>
          <p:nvSpPr>
            <p:cNvPr id="57385" name="Rectangle 100"/>
            <p:cNvSpPr>
              <a:spLocks noChangeArrowheads="1"/>
            </p:cNvSpPr>
            <p:nvPr/>
          </p:nvSpPr>
          <p:spPr bwMode="auto">
            <a:xfrm>
              <a:off x="2240" y="2242"/>
              <a:ext cx="494"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000" dirty="0">
                  <a:latin typeface="Arial" pitchFamily="34" charset="0"/>
                  <a:ea typeface="돋움" pitchFamily="50" charset="-127"/>
                  <a:cs typeface="Arial" pitchFamily="34" charset="0"/>
                </a:rPr>
                <a:t>99.9937%</a:t>
              </a:r>
            </a:p>
          </p:txBody>
        </p:sp>
        <p:sp>
          <p:nvSpPr>
            <p:cNvPr id="57386" name="Rectangle 101"/>
            <p:cNvSpPr>
              <a:spLocks noChangeArrowheads="1"/>
            </p:cNvSpPr>
            <p:nvPr/>
          </p:nvSpPr>
          <p:spPr bwMode="auto">
            <a:xfrm>
              <a:off x="2190" y="2111"/>
              <a:ext cx="587"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000" dirty="0">
                  <a:latin typeface="Arial" pitchFamily="34" charset="0"/>
                  <a:ea typeface="돋움" pitchFamily="50" charset="-127"/>
                  <a:cs typeface="Arial" pitchFamily="34" charset="0"/>
                </a:rPr>
                <a:t>99.999943%</a:t>
              </a:r>
            </a:p>
          </p:txBody>
        </p:sp>
        <p:sp>
          <p:nvSpPr>
            <p:cNvPr id="57387" name="Rectangle 102"/>
            <p:cNvSpPr>
              <a:spLocks noChangeArrowheads="1"/>
            </p:cNvSpPr>
            <p:nvPr/>
          </p:nvSpPr>
          <p:spPr bwMode="auto">
            <a:xfrm>
              <a:off x="2159" y="1972"/>
              <a:ext cx="633"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000" dirty="0">
                  <a:latin typeface="Arial" pitchFamily="34" charset="0"/>
                  <a:ea typeface="돋움" pitchFamily="50" charset="-127"/>
                  <a:cs typeface="Arial" pitchFamily="34" charset="0"/>
                </a:rPr>
                <a:t>99.9999998%</a:t>
              </a:r>
            </a:p>
          </p:txBody>
        </p:sp>
        <p:pic>
          <p:nvPicPr>
            <p:cNvPr id="57388" name="Picture 110"/>
            <p:cNvPicPr>
              <a:picLocks noChangeAspect="1" noChangeArrowheads="1"/>
            </p:cNvPicPr>
            <p:nvPr/>
          </p:nvPicPr>
          <p:blipFill>
            <a:blip r:embed="rId3" cstate="print">
              <a:clrChange>
                <a:clrFrom>
                  <a:srgbClr val="FFFFFF"/>
                </a:clrFrom>
                <a:clrTo>
                  <a:srgbClr val="FFFFFF">
                    <a:alpha val="0"/>
                  </a:srgbClr>
                </a:clrTo>
              </a:clrChange>
              <a:lum bright="6000" contrast="62000"/>
              <a:extLst>
                <a:ext uri="{28A0092B-C50C-407E-A947-70E740481C1C}">
                  <a14:useLocalDpi xmlns:a14="http://schemas.microsoft.com/office/drawing/2010/main"/>
                </a:ext>
              </a:extLst>
            </a:blip>
            <a:srcRect/>
            <a:stretch>
              <a:fillRect/>
            </a:stretch>
          </p:blipFill>
          <p:spPr bwMode="auto">
            <a:xfrm>
              <a:off x="1186" y="2857"/>
              <a:ext cx="2573" cy="7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7348" name="Text Box 112"/>
          <p:cNvSpPr txBox="1">
            <a:spLocks noChangeArrowheads="1"/>
          </p:cNvSpPr>
          <p:nvPr/>
        </p:nvSpPr>
        <p:spPr bwMode="auto">
          <a:xfrm>
            <a:off x="893763" y="1638300"/>
            <a:ext cx="827246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Đặc</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điểm</a:t>
            </a:r>
            <a:r>
              <a:rPr lang="ko-KR" altLang="en-US" sz="1200" dirty="0">
                <a:latin typeface="Arial" pitchFamily="34" charset="0"/>
                <a:ea typeface="맑은 고딕" panose="020B0503020000020004" pitchFamily="50" charset="-127"/>
                <a:cs typeface="Arial" pitchFamily="34" charset="0"/>
              </a:rPr>
              <a:t> </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Dữ</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liệu</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được</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đo</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liên</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tục</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và</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đối</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xứng</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có</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hình</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giống</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như</a:t>
            </a:r>
            <a:r>
              <a:rPr lang="en-US" altLang="ko-KR" sz="1200" dirty="0">
                <a:latin typeface="Arial" pitchFamily="34" charset="0"/>
                <a:ea typeface="맑은 고딕" panose="020B0503020000020004" pitchFamily="50" charset="-127"/>
                <a:cs typeface="Arial" pitchFamily="34" charset="0"/>
              </a:rPr>
              <a:t> 1 </a:t>
            </a:r>
            <a:r>
              <a:rPr lang="en-US" altLang="ko-KR" sz="1200" dirty="0" err="1">
                <a:latin typeface="Arial" pitchFamily="34" charset="0"/>
                <a:ea typeface="맑은 고딕" panose="020B0503020000020004" pitchFamily="50" charset="-127"/>
                <a:cs typeface="Arial" pitchFamily="34" charset="0"/>
              </a:rPr>
              <a:t>cái</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chuông</a:t>
            </a:r>
            <a:endParaRPr lang="ko-KR" altLang="en-US" sz="1200" dirty="0">
              <a:latin typeface="Arial" pitchFamily="34" charset="0"/>
              <a:ea typeface="맑은 고딕" panose="020B0503020000020004" pitchFamily="50" charset="-127"/>
              <a:cs typeface="Arial" pitchFamily="34" charset="0"/>
            </a:endParaRPr>
          </a:p>
          <a:p>
            <a:pPr eaLnBrk="1" hangingPunct="1">
              <a:spcBef>
                <a:spcPct val="50000"/>
              </a:spcBef>
            </a:pP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Thông</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số</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phân</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phối</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trung</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bình</a:t>
            </a:r>
            <a:r>
              <a:rPr lang="en-US" altLang="ko-KR" sz="1200" dirty="0">
                <a:latin typeface="Arial" pitchFamily="34" charset="0"/>
                <a:ea typeface="맑은 고딕" panose="020B0503020000020004" pitchFamily="50" charset="-127"/>
                <a:cs typeface="Arial" pitchFamily="34" charset="0"/>
              </a:rPr>
              <a:t> (</a:t>
            </a:r>
            <a:r>
              <a:rPr lang="el-GR" altLang="ko-KR" sz="1200" dirty="0">
                <a:latin typeface="Arial" pitchFamily="34" charset="0"/>
                <a:ea typeface="맑은 고딕" panose="020B0503020000020004" pitchFamily="50" charset="-127"/>
                <a:cs typeface="Arial" pitchFamily="34" charset="0"/>
              </a:rPr>
              <a:t>μ</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phương</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sai</a:t>
            </a:r>
            <a:r>
              <a:rPr lang="en-US" altLang="ko-KR" sz="1200" dirty="0">
                <a:latin typeface="Arial" pitchFamily="34" charset="0"/>
                <a:ea typeface="맑은 고딕" panose="020B0503020000020004" pitchFamily="50" charset="-127"/>
                <a:cs typeface="Arial" pitchFamily="34" charset="0"/>
              </a:rPr>
              <a:t> (</a:t>
            </a:r>
            <a:r>
              <a:rPr lang="el-GR" altLang="ko-KR" sz="1200" dirty="0">
                <a:latin typeface="Arial" pitchFamily="34" charset="0"/>
                <a:ea typeface="맑은 고딕" panose="020B0503020000020004" pitchFamily="50" charset="-127"/>
                <a:cs typeface="Arial" pitchFamily="34" charset="0"/>
              </a:rPr>
              <a:t>σ</a:t>
            </a:r>
            <a:r>
              <a:rPr lang="en-US" altLang="ko-KR" sz="1200" baseline="30000" dirty="0">
                <a:latin typeface="Arial" pitchFamily="34" charset="0"/>
                <a:ea typeface="맑은 고딕" panose="020B0503020000020004" pitchFamily="50" charset="-127"/>
                <a:cs typeface="Arial" pitchFamily="34" charset="0"/>
              </a:rPr>
              <a:t>2</a:t>
            </a:r>
            <a:r>
              <a:rPr lang="en-US" altLang="ko-KR" sz="1200" dirty="0">
                <a:latin typeface="Arial" pitchFamily="34" charset="0"/>
                <a:ea typeface="맑은 고딕" panose="020B0503020000020004"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60</a:t>
            </a:fld>
            <a:endParaRPr lang="ko-KR" altLang="en-US" dirty="0">
              <a:latin typeface="Arial" pitchFamily="34" charset="0"/>
              <a:cs typeface="Arial" pitchFamily="34" charset="0"/>
            </a:endParaRPr>
          </a:p>
        </p:txBody>
      </p:sp>
      <p:pic>
        <p:nvPicPr>
          <p:cNvPr id="46" name="그림 2" descr="설명: http://postfiles8.naver.net/20120510_55/lucifer246_1336636176340_6GVrgk_GIF/PICEFF6.GIF?type=w3">
            <a:extLst>
              <a:ext uri="{FF2B5EF4-FFF2-40B4-BE49-F238E27FC236}">
                <a16:creationId xmlns:a16="http://schemas.microsoft.com/office/drawing/2014/main" id="{C5B66E27-FB5A-4072-A0DE-E3A2730387CA}"/>
              </a:ext>
            </a:extLst>
          </p:cNvPr>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407207" y="1747095"/>
            <a:ext cx="2002009" cy="649605"/>
          </a:xfrm>
          <a:prstGeom prst="rect">
            <a:avLst/>
          </a:prstGeom>
          <a:noFill/>
          <a:ln w="9525">
            <a:noFill/>
            <a:miter lim="800000"/>
            <a:headEnd/>
            <a:tailEnd/>
          </a:ln>
        </p:spPr>
      </p:pic>
      <p:pic>
        <p:nvPicPr>
          <p:cNvPr id="47" name="그림 91" descr="http://postfiles3.naver.net/20120510_82/lucifer246_1336636176501_5fo92d_GIF/PICF016.GIF?type=w3">
            <a:extLst>
              <a:ext uri="{FF2B5EF4-FFF2-40B4-BE49-F238E27FC236}">
                <a16:creationId xmlns:a16="http://schemas.microsoft.com/office/drawing/2014/main" id="{06AF10F2-552F-4067-8AA5-2842E0124FCC}"/>
              </a:ext>
            </a:extLst>
          </p:cNvPr>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7421860" y="2505840"/>
            <a:ext cx="1679624" cy="1384777"/>
          </a:xfrm>
          <a:prstGeom prst="rect">
            <a:avLst/>
          </a:prstGeom>
          <a:noFill/>
          <a:ln w="9525">
            <a:noFill/>
            <a:miter lim="800000"/>
            <a:headEnd/>
            <a:tailEnd/>
          </a:ln>
        </p:spPr>
      </p:pic>
      <p:sp>
        <p:nvSpPr>
          <p:cNvPr id="48" name="TextBox 47">
            <a:extLst>
              <a:ext uri="{FF2B5EF4-FFF2-40B4-BE49-F238E27FC236}">
                <a16:creationId xmlns:a16="http://schemas.microsoft.com/office/drawing/2014/main" id="{BC85826B-D0CD-45A5-B0C2-4F4CB068B294}"/>
              </a:ext>
            </a:extLst>
          </p:cNvPr>
          <p:cNvSpPr txBox="1"/>
          <p:nvPr/>
        </p:nvSpPr>
        <p:spPr>
          <a:xfrm>
            <a:off x="7366001" y="1114881"/>
            <a:ext cx="1936749" cy="412421"/>
          </a:xfrm>
          <a:prstGeom prst="rect">
            <a:avLst/>
          </a:prstGeom>
          <a:noFill/>
        </p:spPr>
        <p:txBody>
          <a:bodyPr wrap="none" rtlCol="0">
            <a:spAutoFit/>
          </a:bodyPr>
          <a:lstStyle/>
          <a:p>
            <a:pPr>
              <a:lnSpc>
                <a:spcPct val="130000"/>
              </a:lnSpc>
              <a:buClr>
                <a:srgbClr val="C5003D"/>
              </a:buClr>
            </a:pPr>
            <a:r>
              <a:rPr lang="en-US" altLang="ko-KR" sz="1600" b="1" dirty="0" err="1"/>
              <a:t>Phân</a:t>
            </a:r>
            <a:r>
              <a:rPr lang="en-US" altLang="ko-KR" sz="1600" b="1" dirty="0"/>
              <a:t> </a:t>
            </a:r>
            <a:r>
              <a:rPr lang="en-US" altLang="ko-KR" sz="1600" b="1" dirty="0" err="1"/>
              <a:t>bổ</a:t>
            </a:r>
            <a:r>
              <a:rPr lang="en-US" altLang="ko-KR" sz="1600" b="1" dirty="0"/>
              <a:t> Gaussian</a:t>
            </a:r>
            <a:endParaRPr lang="ko-KR" altLang="en-US" sz="1600" b="1" dirty="0"/>
          </a:p>
        </p:txBody>
      </p:sp>
      <p:sp>
        <p:nvSpPr>
          <p:cNvPr id="49" name="TextBox 48">
            <a:extLst>
              <a:ext uri="{FF2B5EF4-FFF2-40B4-BE49-F238E27FC236}">
                <a16:creationId xmlns:a16="http://schemas.microsoft.com/office/drawing/2014/main" id="{D8B196DC-9F26-44EF-88AA-C7946CB9FAED}"/>
              </a:ext>
            </a:extLst>
          </p:cNvPr>
          <p:cNvSpPr txBox="1"/>
          <p:nvPr/>
        </p:nvSpPr>
        <p:spPr>
          <a:xfrm>
            <a:off x="493017" y="1043124"/>
            <a:ext cx="6053260" cy="338554"/>
          </a:xfrm>
          <a:prstGeom prst="rect">
            <a:avLst/>
          </a:prstGeom>
          <a:noFill/>
        </p:spPr>
        <p:txBody>
          <a:bodyPr vert="horz" wrap="none" lIns="91440" tIns="45720" rIns="91440" bIns="4572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600" b="1" i="0" u="none" strike="noStrike" cap="none" normalizeH="0" baseline="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baseline="0" dirty="0" err="1">
                <a:ln>
                  <a:noFill/>
                </a:ln>
                <a:solidFill>
                  <a:schemeClr val="tx1"/>
                </a:solidFill>
                <a:effectLst/>
                <a:latin typeface="Arial" panose="020B0604020202020204" pitchFamily="34" charset="0"/>
                <a:ea typeface="+mn-ea"/>
                <a:cs typeface="Arial" panose="020B0604020202020204" pitchFamily="34" charset="0"/>
              </a:rPr>
              <a:t>Phân</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bổ</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thông</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thường</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nhất</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thể</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hiện</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hiện</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tượng</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tự</a:t>
            </a:r>
            <a:r>
              <a:rPr kumimoji="1" lang="en-US" altLang="ko-KR" sz="1600" b="1" i="0" u="none" strike="noStrike" cap="none" normalizeH="0" dirty="0">
                <a:ln>
                  <a:noFill/>
                </a:ln>
                <a:solidFill>
                  <a:schemeClr val="tx1"/>
                </a:solidFill>
                <a:effectLst/>
                <a:latin typeface="Arial" panose="020B0604020202020204" pitchFamily="34" charset="0"/>
                <a:ea typeface="+mn-ea"/>
                <a:cs typeface="Arial" panose="020B0604020202020204" pitchFamily="34" charset="0"/>
              </a:rPr>
              <a:t> </a:t>
            </a:r>
            <a:r>
              <a:rPr kumimoji="1" lang="en-US" altLang="ko-KR" sz="1600" b="1" i="0" u="none" strike="noStrike" cap="none" normalizeH="0" dirty="0" err="1">
                <a:ln>
                  <a:noFill/>
                </a:ln>
                <a:solidFill>
                  <a:schemeClr val="tx1"/>
                </a:solidFill>
                <a:effectLst/>
                <a:latin typeface="Arial" panose="020B0604020202020204" pitchFamily="34" charset="0"/>
                <a:ea typeface="+mn-ea"/>
                <a:cs typeface="Arial" panose="020B0604020202020204" pitchFamily="34" charset="0"/>
              </a:rPr>
              <a:t>nhiên</a:t>
            </a:r>
            <a:endParaRPr kumimoji="1" lang="ko-KR" altLang="ko-KR" sz="1800" b="0" i="0" u="none" strike="noStrike" cap="none" normalizeH="0" baseline="0" dirty="0">
              <a:ln>
                <a:noFill/>
              </a:ln>
              <a:solidFill>
                <a:schemeClr val="tx1"/>
              </a:solidFill>
              <a:effectLst/>
              <a:latin typeface="Arial" panose="020B0604020202020204" pitchFamily="34" charset="0"/>
              <a:ea typeface="+mn-ea"/>
              <a:cs typeface="Arial" panose="020B0604020202020204" pitchFamily="34" charset="0"/>
            </a:endParaRPr>
          </a:p>
        </p:txBody>
      </p:sp>
    </p:spTree>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371" name="Group 2"/>
          <p:cNvGrpSpPr>
            <a:grpSpLocks/>
          </p:cNvGrpSpPr>
          <p:nvPr/>
        </p:nvGrpSpPr>
        <p:grpSpPr bwMode="auto">
          <a:xfrm>
            <a:off x="3163888" y="1646238"/>
            <a:ext cx="4032250" cy="4335462"/>
            <a:chOff x="262" y="799"/>
            <a:chExt cx="2551" cy="2789"/>
          </a:xfrm>
        </p:grpSpPr>
        <p:grpSp>
          <p:nvGrpSpPr>
            <p:cNvPr id="58380" name="Group 3"/>
            <p:cNvGrpSpPr>
              <a:grpSpLocks/>
            </p:cNvGrpSpPr>
            <p:nvPr/>
          </p:nvGrpSpPr>
          <p:grpSpPr bwMode="auto">
            <a:xfrm>
              <a:off x="262" y="799"/>
              <a:ext cx="2359" cy="2767"/>
              <a:chOff x="1281" y="255"/>
              <a:chExt cx="2708" cy="3175"/>
            </a:xfrm>
          </p:grpSpPr>
          <p:grpSp>
            <p:nvGrpSpPr>
              <p:cNvPr id="58383" name="Group 4"/>
              <p:cNvGrpSpPr>
                <a:grpSpLocks/>
              </p:cNvGrpSpPr>
              <p:nvPr/>
            </p:nvGrpSpPr>
            <p:grpSpPr bwMode="auto">
              <a:xfrm>
                <a:off x="1281" y="255"/>
                <a:ext cx="2708" cy="3175"/>
                <a:chOff x="1281" y="255"/>
                <a:chExt cx="2708" cy="3175"/>
              </a:xfrm>
            </p:grpSpPr>
            <p:pic>
              <p:nvPicPr>
                <p:cNvPr id="58386" name="Picture 5" descr="정규기본"/>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281" y="255"/>
                  <a:ext cx="2688" cy="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387" name="Line 6"/>
                <p:cNvSpPr>
                  <a:spLocks noChangeShapeType="1"/>
                </p:cNvSpPr>
                <p:nvPr/>
              </p:nvSpPr>
              <p:spPr bwMode="auto">
                <a:xfrm>
                  <a:off x="2694" y="321"/>
                  <a:ext cx="0" cy="1311"/>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aphicFrame>
              <p:nvGraphicFramePr>
                <p:cNvPr id="58388" name="Object 3"/>
                <p:cNvGraphicFramePr>
                  <a:graphicFrameLocks noChangeAspect="1"/>
                </p:cNvGraphicFramePr>
                <p:nvPr/>
              </p:nvGraphicFramePr>
              <p:xfrm>
                <a:off x="2645" y="1713"/>
                <a:ext cx="94" cy="78"/>
              </p:xfrm>
              <a:graphic>
                <a:graphicData uri="http://schemas.openxmlformats.org/presentationml/2006/ole">
                  <mc:AlternateContent xmlns:mc="http://schemas.openxmlformats.org/markup-compatibility/2006">
                    <mc:Choice xmlns:v="urn:schemas-microsoft-com:vml" Requires="v">
                      <p:oleObj name="Equation" r:id="rId4" imgW="152268" imgH="164957" progId="Equation.3">
                        <p:embed/>
                      </p:oleObj>
                    </mc:Choice>
                    <mc:Fallback>
                      <p:oleObj name="Equation" r:id="rId4" imgW="152268" imgH="164957" progId="Equation.3">
                        <p:embed/>
                        <p:pic>
                          <p:nvPicPr>
                            <p:cNvPr id="58388"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45" y="1713"/>
                              <a:ext cx="94"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389" name="Object 4"/>
                <p:cNvGraphicFramePr>
                  <a:graphicFrameLocks noChangeAspect="1"/>
                </p:cNvGraphicFramePr>
                <p:nvPr/>
              </p:nvGraphicFramePr>
              <p:xfrm>
                <a:off x="2881" y="1713"/>
                <a:ext cx="241" cy="84"/>
              </p:xfrm>
              <a:graphic>
                <a:graphicData uri="http://schemas.openxmlformats.org/presentationml/2006/ole">
                  <mc:AlternateContent xmlns:mc="http://schemas.openxmlformats.org/markup-compatibility/2006">
                    <mc:Choice xmlns:v="urn:schemas-microsoft-com:vml" Requires="v">
                      <p:oleObj name="Equation" r:id="rId6" imgW="393359" imgH="177646" progId="Equation.3">
                        <p:embed/>
                      </p:oleObj>
                    </mc:Choice>
                    <mc:Fallback>
                      <p:oleObj name="Equation" r:id="rId6" imgW="393359" imgH="177646" progId="Equation.3">
                        <p:embed/>
                        <p:pic>
                          <p:nvPicPr>
                            <p:cNvPr id="58389"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81" y="1713"/>
                              <a:ext cx="241"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390" name="Object 5"/>
                <p:cNvGraphicFramePr>
                  <a:graphicFrameLocks noChangeAspect="1"/>
                </p:cNvGraphicFramePr>
                <p:nvPr/>
              </p:nvGraphicFramePr>
              <p:xfrm>
                <a:off x="2274" y="1713"/>
                <a:ext cx="226" cy="73"/>
              </p:xfrm>
              <a:graphic>
                <a:graphicData uri="http://schemas.openxmlformats.org/presentationml/2006/ole">
                  <mc:AlternateContent xmlns:mc="http://schemas.openxmlformats.org/markup-compatibility/2006">
                    <mc:Choice xmlns:v="urn:schemas-microsoft-com:vml" Requires="v">
                      <p:oleObj name="Equation" r:id="rId8" imgW="393359" imgH="164957" progId="Equation.3">
                        <p:embed/>
                      </p:oleObj>
                    </mc:Choice>
                    <mc:Fallback>
                      <p:oleObj name="Equation" r:id="rId8" imgW="393359" imgH="164957" progId="Equation.3">
                        <p:embed/>
                        <p:pic>
                          <p:nvPicPr>
                            <p:cNvPr id="58390"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4" y="1713"/>
                              <a:ext cx="226" cy="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8391" name="Line 10"/>
                <p:cNvSpPr>
                  <a:spLocks noChangeShapeType="1"/>
                </p:cNvSpPr>
                <p:nvPr/>
              </p:nvSpPr>
              <p:spPr bwMode="auto">
                <a:xfrm flipV="1">
                  <a:off x="2378" y="921"/>
                  <a:ext cx="0" cy="725"/>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392" name="Line 11"/>
                <p:cNvSpPr>
                  <a:spLocks noChangeShapeType="1"/>
                </p:cNvSpPr>
                <p:nvPr/>
              </p:nvSpPr>
              <p:spPr bwMode="auto">
                <a:xfrm flipV="1">
                  <a:off x="3030" y="921"/>
                  <a:ext cx="0" cy="725"/>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aphicFrame>
              <p:nvGraphicFramePr>
                <p:cNvPr id="58393" name="Object 6"/>
                <p:cNvGraphicFramePr>
                  <a:graphicFrameLocks noChangeAspect="1"/>
                </p:cNvGraphicFramePr>
                <p:nvPr/>
              </p:nvGraphicFramePr>
              <p:xfrm>
                <a:off x="1960" y="1703"/>
                <a:ext cx="269" cy="91"/>
              </p:xfrm>
              <a:graphic>
                <a:graphicData uri="http://schemas.openxmlformats.org/presentationml/2006/ole">
                  <mc:AlternateContent xmlns:mc="http://schemas.openxmlformats.org/markup-compatibility/2006">
                    <mc:Choice xmlns:v="urn:schemas-microsoft-com:vml" Requires="v">
                      <p:oleObj name="Equation" r:id="rId10" imgW="469696" imgH="203112" progId="Equation.3">
                        <p:embed/>
                      </p:oleObj>
                    </mc:Choice>
                    <mc:Fallback>
                      <p:oleObj name="Equation" r:id="rId10" imgW="469696" imgH="203112" progId="Equation.3">
                        <p:embed/>
                        <p:pic>
                          <p:nvPicPr>
                            <p:cNvPr id="58393" name="Object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60" y="1703"/>
                              <a:ext cx="269" cy="9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394" name="Object 7"/>
                <p:cNvGraphicFramePr>
                  <a:graphicFrameLocks noChangeAspect="1"/>
                </p:cNvGraphicFramePr>
                <p:nvPr/>
              </p:nvGraphicFramePr>
              <p:xfrm>
                <a:off x="1659" y="1713"/>
                <a:ext cx="262" cy="90"/>
              </p:xfrm>
              <a:graphic>
                <a:graphicData uri="http://schemas.openxmlformats.org/presentationml/2006/ole">
                  <mc:AlternateContent xmlns:mc="http://schemas.openxmlformats.org/markup-compatibility/2006">
                    <mc:Choice xmlns:v="urn:schemas-microsoft-com:vml" Requires="v">
                      <p:oleObj name="Equation" r:id="rId12" imgW="457002" imgH="203112" progId="Equation.3">
                        <p:embed/>
                      </p:oleObj>
                    </mc:Choice>
                    <mc:Fallback>
                      <p:oleObj name="Equation" r:id="rId12" imgW="457002" imgH="203112" progId="Equation.3">
                        <p:embed/>
                        <p:pic>
                          <p:nvPicPr>
                            <p:cNvPr id="58394"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59" y="1713"/>
                              <a:ext cx="262" cy="9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395" name="Object 8"/>
                <p:cNvGraphicFramePr>
                  <a:graphicFrameLocks noChangeAspect="1"/>
                </p:cNvGraphicFramePr>
                <p:nvPr/>
              </p:nvGraphicFramePr>
              <p:xfrm>
                <a:off x="3224" y="1697"/>
                <a:ext cx="288" cy="96"/>
              </p:xfrm>
              <a:graphic>
                <a:graphicData uri="http://schemas.openxmlformats.org/presentationml/2006/ole">
                  <mc:AlternateContent xmlns:mc="http://schemas.openxmlformats.org/markup-compatibility/2006">
                    <mc:Choice xmlns:v="urn:schemas-microsoft-com:vml" Requires="v">
                      <p:oleObj name="Equation" r:id="rId14" imgW="469696" imgH="203112" progId="Equation.3">
                        <p:embed/>
                      </p:oleObj>
                    </mc:Choice>
                    <mc:Fallback>
                      <p:oleObj name="Equation" r:id="rId14" imgW="469696" imgH="203112" progId="Equation.3">
                        <p:embed/>
                        <p:pic>
                          <p:nvPicPr>
                            <p:cNvPr id="58395" name="Object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224" y="1697"/>
                              <a:ext cx="288" cy="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396" name="Object 9"/>
                <p:cNvGraphicFramePr>
                  <a:graphicFrameLocks noChangeAspect="1"/>
                </p:cNvGraphicFramePr>
                <p:nvPr/>
              </p:nvGraphicFramePr>
              <p:xfrm>
                <a:off x="3523" y="1693"/>
                <a:ext cx="280" cy="96"/>
              </p:xfrm>
              <a:graphic>
                <a:graphicData uri="http://schemas.openxmlformats.org/presentationml/2006/ole">
                  <mc:AlternateContent xmlns:mc="http://schemas.openxmlformats.org/markup-compatibility/2006">
                    <mc:Choice xmlns:v="urn:schemas-microsoft-com:vml" Requires="v">
                      <p:oleObj name="Equation" r:id="rId16" imgW="457002" imgH="203112" progId="Equation.3">
                        <p:embed/>
                      </p:oleObj>
                    </mc:Choice>
                    <mc:Fallback>
                      <p:oleObj name="Equation" r:id="rId16" imgW="457002" imgH="203112" progId="Equation.3">
                        <p:embed/>
                        <p:pic>
                          <p:nvPicPr>
                            <p:cNvPr id="58396" name="Object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523" y="1693"/>
                              <a:ext cx="280" cy="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8397" name="Line 16"/>
                <p:cNvSpPr>
                  <a:spLocks noChangeShapeType="1"/>
                </p:cNvSpPr>
                <p:nvPr/>
              </p:nvSpPr>
              <p:spPr bwMode="auto">
                <a:xfrm flipV="1">
                  <a:off x="2049" y="1477"/>
                  <a:ext cx="0" cy="164"/>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398" name="Line 17"/>
                <p:cNvSpPr>
                  <a:spLocks noChangeShapeType="1"/>
                </p:cNvSpPr>
                <p:nvPr/>
              </p:nvSpPr>
              <p:spPr bwMode="auto">
                <a:xfrm flipV="1">
                  <a:off x="3353" y="1468"/>
                  <a:ext cx="0" cy="164"/>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399" name="Line 18"/>
                <p:cNvSpPr>
                  <a:spLocks noChangeShapeType="1"/>
                </p:cNvSpPr>
                <p:nvPr/>
              </p:nvSpPr>
              <p:spPr bwMode="auto">
                <a:xfrm>
                  <a:off x="1769" y="1599"/>
                  <a:ext cx="0" cy="47"/>
                </a:xfrm>
                <a:prstGeom prst="line">
                  <a:avLst/>
                </a:prstGeom>
                <a:noFill/>
                <a:ln w="9525">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00" name="Line 19"/>
                <p:cNvSpPr>
                  <a:spLocks noChangeShapeType="1"/>
                </p:cNvSpPr>
                <p:nvPr/>
              </p:nvSpPr>
              <p:spPr bwMode="auto">
                <a:xfrm>
                  <a:off x="3633" y="1595"/>
                  <a:ext cx="0" cy="46"/>
                </a:xfrm>
                <a:prstGeom prst="line">
                  <a:avLst/>
                </a:prstGeom>
                <a:noFill/>
                <a:ln w="9525">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pic>
              <p:nvPicPr>
                <p:cNvPr id="58401" name="Picture 20" descr="정규기본"/>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301" y="1888"/>
                  <a:ext cx="2688" cy="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402" name="Line 21"/>
                <p:cNvSpPr>
                  <a:spLocks noChangeShapeType="1"/>
                </p:cNvSpPr>
                <p:nvPr/>
              </p:nvSpPr>
              <p:spPr bwMode="auto">
                <a:xfrm>
                  <a:off x="2714" y="1948"/>
                  <a:ext cx="0" cy="1311"/>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aphicFrame>
              <p:nvGraphicFramePr>
                <p:cNvPr id="58403" name="Object 10"/>
                <p:cNvGraphicFramePr>
                  <a:graphicFrameLocks noChangeAspect="1"/>
                </p:cNvGraphicFramePr>
                <p:nvPr/>
              </p:nvGraphicFramePr>
              <p:xfrm>
                <a:off x="2682" y="3346"/>
                <a:ext cx="78" cy="84"/>
              </p:xfrm>
              <a:graphic>
                <a:graphicData uri="http://schemas.openxmlformats.org/presentationml/2006/ole">
                  <mc:AlternateContent xmlns:mc="http://schemas.openxmlformats.org/markup-compatibility/2006">
                    <mc:Choice xmlns:v="urn:schemas-microsoft-com:vml" Requires="v">
                      <p:oleObj name="Equation" r:id="rId18" imgW="126725" imgH="177415" progId="Equation.3">
                        <p:embed/>
                      </p:oleObj>
                    </mc:Choice>
                    <mc:Fallback>
                      <p:oleObj name="Equation" r:id="rId18" imgW="126725" imgH="177415" progId="Equation.3">
                        <p:embed/>
                        <p:pic>
                          <p:nvPicPr>
                            <p:cNvPr id="58403" name="Object 1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682" y="3346"/>
                              <a:ext cx="78"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404" name="Object 11"/>
                <p:cNvGraphicFramePr>
                  <a:graphicFrameLocks noChangeAspect="1"/>
                </p:cNvGraphicFramePr>
                <p:nvPr/>
              </p:nvGraphicFramePr>
              <p:xfrm>
                <a:off x="2959" y="3343"/>
                <a:ext cx="125" cy="78"/>
              </p:xfrm>
              <a:graphic>
                <a:graphicData uri="http://schemas.openxmlformats.org/presentationml/2006/ole">
                  <mc:AlternateContent xmlns:mc="http://schemas.openxmlformats.org/markup-compatibility/2006">
                    <mc:Choice xmlns:v="urn:schemas-microsoft-com:vml" Requires="v">
                      <p:oleObj name="Equation" r:id="rId20" imgW="203024" imgH="164957" progId="Equation.3">
                        <p:embed/>
                      </p:oleObj>
                    </mc:Choice>
                    <mc:Fallback>
                      <p:oleObj name="Equation" r:id="rId20" imgW="203024" imgH="164957" progId="Equation.3">
                        <p:embed/>
                        <p:pic>
                          <p:nvPicPr>
                            <p:cNvPr id="58404" name="Object 1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959" y="3343"/>
                              <a:ext cx="125"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405" name="Object 12"/>
                <p:cNvGraphicFramePr>
                  <a:graphicFrameLocks noChangeAspect="1"/>
                </p:cNvGraphicFramePr>
                <p:nvPr/>
              </p:nvGraphicFramePr>
              <p:xfrm>
                <a:off x="2303" y="3340"/>
                <a:ext cx="117" cy="73"/>
              </p:xfrm>
              <a:graphic>
                <a:graphicData uri="http://schemas.openxmlformats.org/presentationml/2006/ole">
                  <mc:AlternateContent xmlns:mc="http://schemas.openxmlformats.org/markup-compatibility/2006">
                    <mc:Choice xmlns:v="urn:schemas-microsoft-com:vml" Requires="v">
                      <p:oleObj name="Equation" r:id="rId22" imgW="203024" imgH="164957" progId="Equation.3">
                        <p:embed/>
                      </p:oleObj>
                    </mc:Choice>
                    <mc:Fallback>
                      <p:oleObj name="Equation" r:id="rId22" imgW="203024" imgH="164957" progId="Equation.3">
                        <p:embed/>
                        <p:pic>
                          <p:nvPicPr>
                            <p:cNvPr id="58405" name="Object 1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303" y="3340"/>
                              <a:ext cx="117" cy="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8406" name="Line 25"/>
                <p:cNvSpPr>
                  <a:spLocks noChangeShapeType="1"/>
                </p:cNvSpPr>
                <p:nvPr/>
              </p:nvSpPr>
              <p:spPr bwMode="auto">
                <a:xfrm flipV="1">
                  <a:off x="2398" y="2548"/>
                  <a:ext cx="0" cy="725"/>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07" name="Line 26"/>
                <p:cNvSpPr>
                  <a:spLocks noChangeShapeType="1"/>
                </p:cNvSpPr>
                <p:nvPr/>
              </p:nvSpPr>
              <p:spPr bwMode="auto">
                <a:xfrm flipV="1">
                  <a:off x="3050" y="2548"/>
                  <a:ext cx="0" cy="725"/>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aphicFrame>
              <p:nvGraphicFramePr>
                <p:cNvPr id="58408" name="Object 13"/>
                <p:cNvGraphicFramePr>
                  <a:graphicFrameLocks noChangeAspect="1"/>
                </p:cNvGraphicFramePr>
                <p:nvPr/>
              </p:nvGraphicFramePr>
              <p:xfrm>
                <a:off x="2004" y="3338"/>
                <a:ext cx="131" cy="74"/>
              </p:xfrm>
              <a:graphic>
                <a:graphicData uri="http://schemas.openxmlformats.org/presentationml/2006/ole">
                  <mc:AlternateContent xmlns:mc="http://schemas.openxmlformats.org/markup-compatibility/2006">
                    <mc:Choice xmlns:v="urn:schemas-microsoft-com:vml" Requires="v">
                      <p:oleObj name="Equation" r:id="rId24" imgW="228501" imgH="165028" progId="Equation.3">
                        <p:embed/>
                      </p:oleObj>
                    </mc:Choice>
                    <mc:Fallback>
                      <p:oleObj name="Equation" r:id="rId24" imgW="228501" imgH="165028" progId="Equation.3">
                        <p:embed/>
                        <p:pic>
                          <p:nvPicPr>
                            <p:cNvPr id="58408" name="Object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004" y="3338"/>
                              <a:ext cx="131" cy="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409" name="Object 14"/>
                <p:cNvGraphicFramePr>
                  <a:graphicFrameLocks noChangeAspect="1"/>
                </p:cNvGraphicFramePr>
                <p:nvPr/>
              </p:nvGraphicFramePr>
              <p:xfrm>
                <a:off x="1699" y="3346"/>
                <a:ext cx="131" cy="78"/>
              </p:xfrm>
              <a:graphic>
                <a:graphicData uri="http://schemas.openxmlformats.org/presentationml/2006/ole">
                  <mc:AlternateContent xmlns:mc="http://schemas.openxmlformats.org/markup-compatibility/2006">
                    <mc:Choice xmlns:v="urn:schemas-microsoft-com:vml" Requires="v">
                      <p:oleObj name="Equation" r:id="rId26" imgW="228402" imgH="177646" progId="Equation.3">
                        <p:embed/>
                      </p:oleObj>
                    </mc:Choice>
                    <mc:Fallback>
                      <p:oleObj name="Equation" r:id="rId26" imgW="228402" imgH="177646" progId="Equation.3">
                        <p:embed/>
                        <p:pic>
                          <p:nvPicPr>
                            <p:cNvPr id="58409" name="Object 14"/>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1699" y="3346"/>
                              <a:ext cx="131"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410" name="Object 15"/>
                <p:cNvGraphicFramePr>
                  <a:graphicFrameLocks noChangeAspect="1"/>
                </p:cNvGraphicFramePr>
                <p:nvPr/>
              </p:nvGraphicFramePr>
              <p:xfrm>
                <a:off x="3314" y="3333"/>
                <a:ext cx="148" cy="78"/>
              </p:xfrm>
              <a:graphic>
                <a:graphicData uri="http://schemas.openxmlformats.org/presentationml/2006/ole">
                  <mc:AlternateContent xmlns:mc="http://schemas.openxmlformats.org/markup-compatibility/2006">
                    <mc:Choice xmlns:v="urn:schemas-microsoft-com:vml" Requires="v">
                      <p:oleObj name="Equation" r:id="rId28" imgW="241091" imgH="164957" progId="Equation.3">
                        <p:embed/>
                      </p:oleObj>
                    </mc:Choice>
                    <mc:Fallback>
                      <p:oleObj name="Equation" r:id="rId28" imgW="241091" imgH="164957" progId="Equation.3">
                        <p:embed/>
                        <p:pic>
                          <p:nvPicPr>
                            <p:cNvPr id="58410" name="Object 1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3314" y="3333"/>
                              <a:ext cx="148"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411" name="Object 16"/>
                <p:cNvGraphicFramePr>
                  <a:graphicFrameLocks noChangeAspect="1"/>
                </p:cNvGraphicFramePr>
                <p:nvPr/>
              </p:nvGraphicFramePr>
              <p:xfrm>
                <a:off x="3613" y="3326"/>
                <a:ext cx="140" cy="84"/>
              </p:xfrm>
              <a:graphic>
                <a:graphicData uri="http://schemas.openxmlformats.org/presentationml/2006/ole">
                  <mc:AlternateContent xmlns:mc="http://schemas.openxmlformats.org/markup-compatibility/2006">
                    <mc:Choice xmlns:v="urn:schemas-microsoft-com:vml" Requires="v">
                      <p:oleObj name="Equation" r:id="rId30" imgW="228402" imgH="177646" progId="Equation.3">
                        <p:embed/>
                      </p:oleObj>
                    </mc:Choice>
                    <mc:Fallback>
                      <p:oleObj name="Equation" r:id="rId30" imgW="228402" imgH="177646" progId="Equation.3">
                        <p:embed/>
                        <p:pic>
                          <p:nvPicPr>
                            <p:cNvPr id="58411" name="Object 16"/>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613" y="3326"/>
                              <a:ext cx="140"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8412" name="Line 31"/>
                <p:cNvSpPr>
                  <a:spLocks noChangeShapeType="1"/>
                </p:cNvSpPr>
                <p:nvPr/>
              </p:nvSpPr>
              <p:spPr bwMode="auto">
                <a:xfrm flipV="1">
                  <a:off x="2069" y="3104"/>
                  <a:ext cx="0" cy="164"/>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13" name="Line 32"/>
                <p:cNvSpPr>
                  <a:spLocks noChangeShapeType="1"/>
                </p:cNvSpPr>
                <p:nvPr/>
              </p:nvSpPr>
              <p:spPr bwMode="auto">
                <a:xfrm flipV="1">
                  <a:off x="3373" y="3095"/>
                  <a:ext cx="0" cy="164"/>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14" name="Line 33"/>
                <p:cNvSpPr>
                  <a:spLocks noChangeShapeType="1"/>
                </p:cNvSpPr>
                <p:nvPr/>
              </p:nvSpPr>
              <p:spPr bwMode="auto">
                <a:xfrm>
                  <a:off x="1789" y="3226"/>
                  <a:ext cx="0" cy="47"/>
                </a:xfrm>
                <a:prstGeom prst="line">
                  <a:avLst/>
                </a:prstGeom>
                <a:noFill/>
                <a:ln w="9525">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15" name="Line 34"/>
                <p:cNvSpPr>
                  <a:spLocks noChangeShapeType="1"/>
                </p:cNvSpPr>
                <p:nvPr/>
              </p:nvSpPr>
              <p:spPr bwMode="auto">
                <a:xfrm>
                  <a:off x="3653" y="3222"/>
                  <a:ext cx="0" cy="46"/>
                </a:xfrm>
                <a:prstGeom prst="line">
                  <a:avLst/>
                </a:prstGeom>
                <a:noFill/>
                <a:ln w="9525">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16" name="Line 35"/>
                <p:cNvSpPr>
                  <a:spLocks noChangeShapeType="1"/>
                </p:cNvSpPr>
                <p:nvPr/>
              </p:nvSpPr>
              <p:spPr bwMode="auto">
                <a:xfrm>
                  <a:off x="1782" y="1834"/>
                  <a:ext cx="0" cy="1179"/>
                </a:xfrm>
                <a:prstGeom prst="line">
                  <a:avLst/>
                </a:prstGeom>
                <a:noFill/>
                <a:ln w="952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17" name="Line 36"/>
                <p:cNvSpPr>
                  <a:spLocks noChangeShapeType="1"/>
                </p:cNvSpPr>
                <p:nvPr/>
              </p:nvSpPr>
              <p:spPr bwMode="auto">
                <a:xfrm>
                  <a:off x="2054" y="1842"/>
                  <a:ext cx="0" cy="953"/>
                </a:xfrm>
                <a:prstGeom prst="line">
                  <a:avLst/>
                </a:prstGeom>
                <a:noFill/>
                <a:ln w="952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18" name="Line 37"/>
                <p:cNvSpPr>
                  <a:spLocks noChangeShapeType="1"/>
                </p:cNvSpPr>
                <p:nvPr/>
              </p:nvSpPr>
              <p:spPr bwMode="auto">
                <a:xfrm>
                  <a:off x="2381" y="1797"/>
                  <a:ext cx="0" cy="454"/>
                </a:xfrm>
                <a:prstGeom prst="line">
                  <a:avLst/>
                </a:prstGeom>
                <a:noFill/>
                <a:ln w="952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19" name="Line 38"/>
                <p:cNvSpPr>
                  <a:spLocks noChangeShapeType="1"/>
                </p:cNvSpPr>
                <p:nvPr/>
              </p:nvSpPr>
              <p:spPr bwMode="auto">
                <a:xfrm flipH="1">
                  <a:off x="3651" y="1842"/>
                  <a:ext cx="0" cy="1179"/>
                </a:xfrm>
                <a:prstGeom prst="line">
                  <a:avLst/>
                </a:prstGeom>
                <a:noFill/>
                <a:ln w="952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20" name="Line 39"/>
                <p:cNvSpPr>
                  <a:spLocks noChangeShapeType="1"/>
                </p:cNvSpPr>
                <p:nvPr/>
              </p:nvSpPr>
              <p:spPr bwMode="auto">
                <a:xfrm flipH="1">
                  <a:off x="3378" y="1842"/>
                  <a:ext cx="0" cy="953"/>
                </a:xfrm>
                <a:prstGeom prst="line">
                  <a:avLst/>
                </a:prstGeom>
                <a:noFill/>
                <a:ln w="952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58421" name="Line 40"/>
                <p:cNvSpPr>
                  <a:spLocks noChangeShapeType="1"/>
                </p:cNvSpPr>
                <p:nvPr/>
              </p:nvSpPr>
              <p:spPr bwMode="auto">
                <a:xfrm flipH="1">
                  <a:off x="3043" y="1816"/>
                  <a:ext cx="0" cy="454"/>
                </a:xfrm>
                <a:prstGeom prst="line">
                  <a:avLst/>
                </a:prstGeom>
                <a:noFill/>
                <a:ln w="952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pSp>
          <p:graphicFrame>
            <p:nvGraphicFramePr>
              <p:cNvPr id="58384" name="Object 17"/>
              <p:cNvGraphicFramePr>
                <a:graphicFrameLocks noChangeAspect="1"/>
              </p:cNvGraphicFramePr>
              <p:nvPr/>
            </p:nvGraphicFramePr>
            <p:xfrm>
              <a:off x="2971" y="436"/>
              <a:ext cx="384" cy="144"/>
            </p:xfrm>
            <a:graphic>
              <a:graphicData uri="http://schemas.openxmlformats.org/presentationml/2006/ole">
                <mc:AlternateContent xmlns:mc="http://schemas.openxmlformats.org/markup-compatibility/2006">
                  <mc:Choice xmlns:v="urn:schemas-microsoft-com:vml" Requires="v">
                    <p:oleObj name="Equation" r:id="rId32" imgW="609600" imgH="228600" progId="Equation.3">
                      <p:embed/>
                    </p:oleObj>
                  </mc:Choice>
                  <mc:Fallback>
                    <p:oleObj name="Equation" r:id="rId32" imgW="609600" imgH="228600" progId="Equation.3">
                      <p:embed/>
                      <p:pic>
                        <p:nvPicPr>
                          <p:cNvPr id="58384" name="Object 17"/>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2971" y="436"/>
                            <a:ext cx="384" cy="14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385" name="Object 18"/>
              <p:cNvGraphicFramePr>
                <a:graphicFrameLocks noChangeAspect="1"/>
              </p:cNvGraphicFramePr>
              <p:nvPr/>
            </p:nvGraphicFramePr>
            <p:xfrm>
              <a:off x="3008" y="1979"/>
              <a:ext cx="280" cy="128"/>
            </p:xfrm>
            <a:graphic>
              <a:graphicData uri="http://schemas.openxmlformats.org/presentationml/2006/ole">
                <mc:AlternateContent xmlns:mc="http://schemas.openxmlformats.org/markup-compatibility/2006">
                  <mc:Choice xmlns:v="urn:schemas-microsoft-com:vml" Requires="v">
                    <p:oleObj name="Equation" r:id="rId34" imgW="444307" imgH="203112" progId="Equation.3">
                      <p:embed/>
                    </p:oleObj>
                  </mc:Choice>
                  <mc:Fallback>
                    <p:oleObj name="Equation" r:id="rId34" imgW="444307" imgH="203112" progId="Equation.3">
                      <p:embed/>
                      <p:pic>
                        <p:nvPicPr>
                          <p:cNvPr id="58385" name="Object 1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3008" y="1979"/>
                            <a:ext cx="280" cy="128"/>
                          </a:xfrm>
                          <a:prstGeom prst="rect">
                            <a:avLst/>
                          </a:prstGeom>
                          <a:solidFill>
                            <a:schemeClr val="bg1"/>
                          </a:solidFill>
                        </p:spPr>
                      </p:pic>
                    </p:oleObj>
                  </mc:Fallback>
                </mc:AlternateContent>
              </a:graphicData>
            </a:graphic>
          </p:graphicFrame>
        </p:grpSp>
        <p:sp>
          <p:nvSpPr>
            <p:cNvPr id="58381" name="Text Box 43"/>
            <p:cNvSpPr txBox="1">
              <a:spLocks noChangeArrowheads="1"/>
            </p:cNvSpPr>
            <p:nvPr/>
          </p:nvSpPr>
          <p:spPr bwMode="auto">
            <a:xfrm>
              <a:off x="2541" y="1954"/>
              <a:ext cx="272" cy="1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latin typeface="Arial" pitchFamily="34" charset="0"/>
                  <a:cs typeface="Arial" pitchFamily="34" charset="0"/>
                </a:rPr>
                <a:t>X</a:t>
              </a:r>
            </a:p>
          </p:txBody>
        </p:sp>
        <p:sp>
          <p:nvSpPr>
            <p:cNvPr id="58382" name="Text Box 44"/>
            <p:cNvSpPr txBox="1">
              <a:spLocks noChangeArrowheads="1"/>
            </p:cNvSpPr>
            <p:nvPr/>
          </p:nvSpPr>
          <p:spPr bwMode="auto">
            <a:xfrm>
              <a:off x="2530" y="3411"/>
              <a:ext cx="272" cy="1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latin typeface="Arial" pitchFamily="34" charset="0"/>
                  <a:cs typeface="Arial" pitchFamily="34" charset="0"/>
                </a:rPr>
                <a:t>Z</a:t>
              </a:r>
            </a:p>
          </p:txBody>
        </p:sp>
      </p:grpSp>
      <p:grpSp>
        <p:nvGrpSpPr>
          <p:cNvPr id="58372" name="Group 65"/>
          <p:cNvGrpSpPr>
            <a:grpSpLocks/>
          </p:cNvGrpSpPr>
          <p:nvPr/>
        </p:nvGrpSpPr>
        <p:grpSpPr bwMode="auto">
          <a:xfrm>
            <a:off x="809625" y="1919288"/>
            <a:ext cx="2178050" cy="3941762"/>
            <a:chOff x="489" y="1092"/>
            <a:chExt cx="1372" cy="2483"/>
          </a:xfrm>
        </p:grpSpPr>
        <p:pic>
          <p:nvPicPr>
            <p:cNvPr id="58375" name="Picture 60" descr="UNI00000bc00065"/>
            <p:cNvPicPr>
              <a:picLocks noChangeAspect="1" noChangeArrowheads="1"/>
            </p:cNvPicPr>
            <p:nvPr/>
          </p:nvPicPr>
          <p:blipFill>
            <a:blip r:embed="rId36" cstate="print">
              <a:extLst>
                <a:ext uri="{28A0092B-C50C-407E-A947-70E740481C1C}">
                  <a14:useLocalDpi xmlns:a14="http://schemas.microsoft.com/office/drawing/2010/main"/>
                </a:ext>
              </a:extLst>
            </a:blip>
            <a:srcRect/>
            <a:stretch>
              <a:fillRect/>
            </a:stretch>
          </p:blipFill>
          <p:spPr bwMode="auto">
            <a:xfrm>
              <a:off x="489" y="1375"/>
              <a:ext cx="1354" cy="9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376" name="Picture 61" descr="UNI00000bc00067"/>
            <p:cNvPicPr>
              <a:picLocks noChangeAspect="1" noChangeArrowheads="1"/>
            </p:cNvPicPr>
            <p:nvPr/>
          </p:nvPicPr>
          <p:blipFill>
            <a:blip r:embed="rId37" cstate="print">
              <a:extLst>
                <a:ext uri="{28A0092B-C50C-407E-A947-70E740481C1C}">
                  <a14:useLocalDpi xmlns:a14="http://schemas.microsoft.com/office/drawing/2010/main"/>
                </a:ext>
              </a:extLst>
            </a:blip>
            <a:srcRect/>
            <a:stretch>
              <a:fillRect/>
            </a:stretch>
          </p:blipFill>
          <p:spPr bwMode="auto">
            <a:xfrm>
              <a:off x="535" y="2624"/>
              <a:ext cx="1326" cy="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377" name="Text Box 62"/>
            <p:cNvSpPr txBox="1">
              <a:spLocks noChangeArrowheads="1"/>
            </p:cNvSpPr>
            <p:nvPr/>
          </p:nvSpPr>
          <p:spPr bwMode="auto">
            <a:xfrm>
              <a:off x="580" y="1162"/>
              <a:ext cx="104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solidFill>
                    <a:srgbClr val="0000FF"/>
                  </a:solidFill>
                  <a:latin typeface="Arial" pitchFamily="34" charset="0"/>
                  <a:cs typeface="Arial" pitchFamily="34" charset="0"/>
                </a:rPr>
                <a:t>Change Location</a:t>
              </a:r>
            </a:p>
          </p:txBody>
        </p:sp>
        <p:sp>
          <p:nvSpPr>
            <p:cNvPr id="58378" name="Text Box 63"/>
            <p:cNvSpPr txBox="1">
              <a:spLocks noChangeArrowheads="1"/>
            </p:cNvSpPr>
            <p:nvPr/>
          </p:nvSpPr>
          <p:spPr bwMode="auto">
            <a:xfrm>
              <a:off x="625" y="2387"/>
              <a:ext cx="104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solidFill>
                    <a:srgbClr val="0000FF"/>
                  </a:solidFill>
                  <a:latin typeface="Arial" pitchFamily="34" charset="0"/>
                  <a:cs typeface="Arial" pitchFamily="34" charset="0"/>
                </a:rPr>
                <a:t>Change Scale</a:t>
              </a:r>
            </a:p>
          </p:txBody>
        </p:sp>
        <p:sp>
          <p:nvSpPr>
            <p:cNvPr id="58379" name="Rectangle 64"/>
            <p:cNvSpPr>
              <a:spLocks noChangeArrowheads="1"/>
            </p:cNvSpPr>
            <p:nvPr/>
          </p:nvSpPr>
          <p:spPr bwMode="auto">
            <a:xfrm>
              <a:off x="535" y="1092"/>
              <a:ext cx="1308" cy="2483"/>
            </a:xfrm>
            <a:prstGeom prst="rect">
              <a:avLst/>
            </a:prstGeom>
            <a:noFill/>
            <a:ln w="12700" algn="ctr">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grpSp>
      <p:pic>
        <p:nvPicPr>
          <p:cNvPr id="58373" name="Picture 66"/>
          <p:cNvPicPr>
            <a:picLocks noChangeAspect="1" noChangeArrowheads="1"/>
          </p:cNvPicPr>
          <p:nvPr/>
        </p:nvPicPr>
        <p:blipFill>
          <a:blip r:embed="rId38" cstate="print">
            <a:extLst>
              <a:ext uri="{28A0092B-C50C-407E-A947-70E740481C1C}">
                <a14:useLocalDpi xmlns:a14="http://schemas.microsoft.com/office/drawing/2010/main"/>
              </a:ext>
            </a:extLst>
          </a:blip>
          <a:srcRect/>
          <a:stretch>
            <a:fillRect/>
          </a:stretch>
        </p:blipFill>
        <p:spPr bwMode="auto">
          <a:xfrm>
            <a:off x="6824663" y="2852738"/>
            <a:ext cx="3036887" cy="129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pic>
      <p:sp>
        <p:nvSpPr>
          <p:cNvPr id="58374" name="직사각형 54"/>
          <p:cNvSpPr>
            <a:spLocks noChangeArrowheads="1"/>
          </p:cNvSpPr>
          <p:nvPr/>
        </p:nvSpPr>
        <p:spPr bwMode="auto">
          <a:xfrm>
            <a:off x="503523" y="930275"/>
            <a:ext cx="88989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600" b="1" dirty="0" err="1">
                <a:solidFill>
                  <a:srgbClr val="000000"/>
                </a:solidFill>
                <a:latin typeface="Arial" pitchFamily="34" charset="0"/>
                <a:ea typeface="맑은 고딕" pitchFamily="50" charset="-127"/>
                <a:cs typeface="Arial" pitchFamily="34" charset="0"/>
              </a:rPr>
              <a:t>Phân</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phối</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chuẩn</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là</a:t>
            </a:r>
            <a:r>
              <a:rPr lang="en-US" altLang="ko-KR" sz="1600" b="1" dirty="0">
                <a:solidFill>
                  <a:srgbClr val="000000"/>
                </a:solidFill>
                <a:latin typeface="Arial" pitchFamily="34" charset="0"/>
                <a:ea typeface="맑은 고딕" pitchFamily="50" charset="-127"/>
                <a:cs typeface="Arial" pitchFamily="34" charset="0"/>
              </a:rPr>
              <a:t> 1 </a:t>
            </a:r>
            <a:r>
              <a:rPr lang="en-US" altLang="ko-KR" sz="1600" b="1" dirty="0" err="1">
                <a:solidFill>
                  <a:srgbClr val="000000"/>
                </a:solidFill>
                <a:latin typeface="Arial" pitchFamily="34" charset="0"/>
                <a:ea typeface="맑은 고딕" pitchFamily="50" charset="-127"/>
                <a:cs typeface="Arial" pitchFamily="34" charset="0"/>
              </a:rPr>
              <a:t>đường</a:t>
            </a:r>
            <a:r>
              <a:rPr lang="en-US" altLang="ko-KR" sz="1600" b="1" dirty="0">
                <a:solidFill>
                  <a:srgbClr val="000000"/>
                </a:solidFill>
                <a:latin typeface="Arial" pitchFamily="34" charset="0"/>
                <a:ea typeface="맑은 고딕" pitchFamily="50" charset="-127"/>
                <a:cs typeface="Arial" pitchFamily="34" charset="0"/>
              </a:rPr>
              <a:t> cong </a:t>
            </a:r>
            <a:r>
              <a:rPr lang="en-US" altLang="ko-KR" sz="1600" b="1" dirty="0" err="1">
                <a:solidFill>
                  <a:srgbClr val="000000"/>
                </a:solidFill>
                <a:latin typeface="Arial" pitchFamily="34" charset="0"/>
                <a:ea typeface="맑은 고딕" pitchFamily="50" charset="-127"/>
                <a:cs typeface="Arial" pitchFamily="34" charset="0"/>
              </a:rPr>
              <a:t>có</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trung</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bình</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bằng</a:t>
            </a:r>
            <a:r>
              <a:rPr lang="en-US" altLang="ko-KR" sz="1600" b="1" dirty="0">
                <a:solidFill>
                  <a:srgbClr val="000000"/>
                </a:solidFill>
                <a:latin typeface="Arial" pitchFamily="34" charset="0"/>
                <a:ea typeface="맑은 고딕" pitchFamily="50" charset="-127"/>
                <a:cs typeface="Arial" pitchFamily="34" charset="0"/>
              </a:rPr>
              <a:t> 0 </a:t>
            </a:r>
            <a:r>
              <a:rPr lang="en-US" altLang="ko-KR" sz="1600" b="1" dirty="0" err="1">
                <a:solidFill>
                  <a:srgbClr val="000000"/>
                </a:solidFill>
                <a:latin typeface="Arial" pitchFamily="34" charset="0"/>
                <a:ea typeface="맑은 고딕" pitchFamily="50" charset="-127"/>
                <a:cs typeface="Arial" pitchFamily="34" charset="0"/>
              </a:rPr>
              <a:t>và</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phương</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sai</a:t>
            </a:r>
            <a:r>
              <a:rPr lang="en-US" altLang="ko-KR" sz="1600" b="1" dirty="0">
                <a:solidFill>
                  <a:srgbClr val="000000"/>
                </a:solidFill>
                <a:latin typeface="Arial" pitchFamily="34" charset="0"/>
                <a:ea typeface="맑은 고딕" pitchFamily="50" charset="-127"/>
                <a:cs typeface="Arial" pitchFamily="34" charset="0"/>
              </a:rPr>
              <a:t> </a:t>
            </a:r>
            <a:r>
              <a:rPr lang="en-US" altLang="ko-KR" sz="1600" b="1" dirty="0" err="1">
                <a:solidFill>
                  <a:srgbClr val="000000"/>
                </a:solidFill>
                <a:latin typeface="Arial" pitchFamily="34" charset="0"/>
                <a:ea typeface="맑은 고딕" pitchFamily="50" charset="-127"/>
                <a:cs typeface="Arial" pitchFamily="34" charset="0"/>
              </a:rPr>
              <a:t>bằng</a:t>
            </a:r>
            <a:r>
              <a:rPr lang="en-US" altLang="ko-KR" sz="1600" b="1" dirty="0">
                <a:solidFill>
                  <a:srgbClr val="000000"/>
                </a:solidFill>
                <a:latin typeface="Arial" pitchFamily="34" charset="0"/>
                <a:ea typeface="맑은 고딕" pitchFamily="50" charset="-127"/>
                <a:cs typeface="Arial" pitchFamily="34" charset="0"/>
              </a:rPr>
              <a:t> 1.</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61</a:t>
            </a:fld>
            <a:endParaRPr lang="ko-KR" altLang="en-US" dirty="0">
              <a:latin typeface="Arial" pitchFamily="34" charset="0"/>
              <a:cs typeface="Arial" pitchFamily="34" charset="0"/>
            </a:endParaRPr>
          </a:p>
        </p:txBody>
      </p:sp>
      <p:sp>
        <p:nvSpPr>
          <p:cNvPr id="3" name="TextBox 2"/>
          <p:cNvSpPr txBox="1"/>
          <p:nvPr/>
        </p:nvSpPr>
        <p:spPr>
          <a:xfrm>
            <a:off x="6903668" y="2984465"/>
            <a:ext cx="2891807" cy="1092607"/>
          </a:xfrm>
          <a:prstGeom prst="rect">
            <a:avLst/>
          </a:prstGeom>
          <a:solidFill>
            <a:schemeClr val="bg1"/>
          </a:solidFill>
        </p:spPr>
        <p:txBody>
          <a:bodyPr wrap="square" rtlCol="0">
            <a:spAutoFit/>
          </a:bodyPr>
          <a:lstStyle/>
          <a:p>
            <a:pPr marL="171450" indent="-171450">
              <a:lnSpc>
                <a:spcPct val="130000"/>
              </a:lnSpc>
              <a:buClr>
                <a:srgbClr val="C5003D"/>
              </a:buClr>
              <a:buFont typeface="Arial" panose="020B0604020202020204" pitchFamily="34" charset="0"/>
              <a:buChar char="•"/>
            </a:pPr>
            <a:r>
              <a:rPr lang="en-US" altLang="ko-KR" sz="1000" dirty="0">
                <a:solidFill>
                  <a:srgbClr val="0070C0"/>
                </a:solidFill>
                <a:latin typeface="Arial" pitchFamily="34" charset="0"/>
                <a:cs typeface="Arial" pitchFamily="34" charset="0"/>
              </a:rPr>
              <a:t>Standardization</a:t>
            </a:r>
          </a:p>
          <a:p>
            <a:pPr>
              <a:lnSpc>
                <a:spcPct val="130000"/>
              </a:lnSpc>
              <a:buClr>
                <a:srgbClr val="C5003D"/>
              </a:buClr>
            </a:pPr>
            <a:r>
              <a:rPr lang="en-US" altLang="ko-KR" sz="800" dirty="0">
                <a:latin typeface="Arial" pitchFamily="34" charset="0"/>
                <a:cs typeface="Arial" pitchFamily="34" charset="0"/>
              </a:rPr>
              <a:t>: Z = (X – </a:t>
            </a:r>
            <a:r>
              <a:rPr lang="el-GR" altLang="ko-KR" sz="800" dirty="0">
                <a:latin typeface="Arial" pitchFamily="34" charset="0"/>
                <a:cs typeface="Arial" pitchFamily="34" charset="0"/>
              </a:rPr>
              <a:t>μ</a:t>
            </a:r>
            <a:r>
              <a:rPr lang="en-US" altLang="ko-KR" sz="800" dirty="0">
                <a:latin typeface="Arial" pitchFamily="34" charset="0"/>
                <a:cs typeface="Arial" pitchFamily="34" charset="0"/>
              </a:rPr>
              <a:t>)/</a:t>
            </a:r>
            <a:r>
              <a:rPr lang="el-GR" altLang="ko-KR" sz="800" dirty="0">
                <a:latin typeface="Arial" pitchFamily="34" charset="0"/>
                <a:cs typeface="Arial" pitchFamily="34" charset="0"/>
              </a:rPr>
              <a:t>σ</a:t>
            </a:r>
            <a:r>
              <a:rPr lang="en-US" altLang="ko-KR" sz="800" dirty="0">
                <a:latin typeface="Arial" pitchFamily="34" charset="0"/>
                <a:cs typeface="Arial" pitchFamily="34" charset="0"/>
              </a:rPr>
              <a:t>, X </a:t>
            </a:r>
            <a:r>
              <a:rPr lang="en-US" altLang="ko-KR" sz="800" dirty="0" err="1">
                <a:latin typeface="Arial" pitchFamily="34" charset="0"/>
                <a:cs typeface="Arial" pitchFamily="34" charset="0"/>
              </a:rPr>
              <a:t>là</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giá</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trị</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quan</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sát</a:t>
            </a:r>
            <a:r>
              <a:rPr lang="en-US" altLang="ko-KR" sz="800" dirty="0">
                <a:latin typeface="Arial" pitchFamily="34" charset="0"/>
                <a:cs typeface="Arial" pitchFamily="34" charset="0"/>
              </a:rPr>
              <a:t>, </a:t>
            </a:r>
          </a:p>
          <a:p>
            <a:pPr>
              <a:lnSpc>
                <a:spcPct val="130000"/>
              </a:lnSpc>
              <a:buClr>
                <a:srgbClr val="C5003D"/>
              </a:buClr>
            </a:pPr>
            <a:r>
              <a:rPr lang="en-US" altLang="ko-KR" sz="800" dirty="0">
                <a:latin typeface="Arial" pitchFamily="34" charset="0"/>
                <a:cs typeface="Arial" pitchFamily="34" charset="0"/>
              </a:rPr>
              <a:t>   </a:t>
            </a:r>
            <a:r>
              <a:rPr lang="el-GR" altLang="ko-KR" sz="800" dirty="0">
                <a:latin typeface="Arial" pitchFamily="34" charset="0"/>
                <a:cs typeface="Arial" pitchFamily="34" charset="0"/>
              </a:rPr>
              <a:t>μ</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trung</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bình</a:t>
            </a:r>
            <a:r>
              <a:rPr lang="en-US" altLang="ko-KR" sz="800" dirty="0">
                <a:latin typeface="Arial" pitchFamily="34" charset="0"/>
                <a:cs typeface="Arial" pitchFamily="34" charset="0"/>
              </a:rPr>
              <a:t>, </a:t>
            </a:r>
            <a:r>
              <a:rPr lang="el-GR" altLang="ko-KR" sz="800" dirty="0">
                <a:latin typeface="Arial" pitchFamily="34" charset="0"/>
                <a:cs typeface="Arial" pitchFamily="34" charset="0"/>
              </a:rPr>
              <a:t>σ</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Độ</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lệch</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chuẩn</a:t>
            </a:r>
            <a:r>
              <a:rPr lang="en-US" altLang="ko-KR" sz="800" dirty="0">
                <a:latin typeface="Arial" pitchFamily="34" charset="0"/>
                <a:cs typeface="Arial" pitchFamily="34" charset="0"/>
              </a:rPr>
              <a:t>.</a:t>
            </a:r>
          </a:p>
          <a:p>
            <a:pPr marL="171450" indent="-171450">
              <a:lnSpc>
                <a:spcPct val="130000"/>
              </a:lnSpc>
              <a:buClr>
                <a:srgbClr val="C5003D"/>
              </a:buClr>
              <a:buFontTx/>
              <a:buChar char="-"/>
            </a:pPr>
            <a:r>
              <a:rPr lang="en-US" altLang="ko-KR" sz="800" dirty="0" err="1">
                <a:latin typeface="Arial" pitchFamily="34" charset="0"/>
                <a:cs typeface="Arial" pitchFamily="34" charset="0"/>
              </a:rPr>
              <a:t>Tính</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toán</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xác</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suất</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trở</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nên</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dễ</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dàng</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hơn</a:t>
            </a:r>
            <a:endParaRPr lang="en-US" altLang="ko-KR" sz="800" dirty="0">
              <a:latin typeface="Arial" pitchFamily="34" charset="0"/>
              <a:cs typeface="Arial" pitchFamily="34" charset="0"/>
            </a:endParaRPr>
          </a:p>
          <a:p>
            <a:pPr marL="171450" indent="-171450">
              <a:lnSpc>
                <a:spcPct val="130000"/>
              </a:lnSpc>
              <a:buClr>
                <a:srgbClr val="C5003D"/>
              </a:buClr>
              <a:buFontTx/>
              <a:buChar char="-"/>
            </a:pPr>
            <a:r>
              <a:rPr lang="en-US" altLang="ko-KR" sz="800" dirty="0">
                <a:latin typeface="Arial" pitchFamily="34" charset="0"/>
                <a:cs typeface="Arial" pitchFamily="34" charset="0"/>
              </a:rPr>
              <a:t>So </a:t>
            </a:r>
            <a:r>
              <a:rPr lang="en-US" altLang="ko-KR" sz="800" dirty="0" err="1">
                <a:latin typeface="Arial" pitchFamily="34" charset="0"/>
                <a:cs typeface="Arial" pitchFamily="34" charset="0"/>
              </a:rPr>
              <a:t>sánh</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được</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thực</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hiện</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giữa</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các</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phân</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phối</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và</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đơn</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vị</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khác</a:t>
            </a:r>
            <a:r>
              <a:rPr lang="en-US" altLang="ko-KR" sz="800" dirty="0">
                <a:latin typeface="Arial" pitchFamily="34" charset="0"/>
                <a:cs typeface="Arial" pitchFamily="34" charset="0"/>
              </a:rPr>
              <a:t> </a:t>
            </a:r>
            <a:r>
              <a:rPr lang="en-US" altLang="ko-KR" sz="800" dirty="0" err="1">
                <a:latin typeface="Arial" pitchFamily="34" charset="0"/>
                <a:cs typeface="Arial" pitchFamily="34" charset="0"/>
              </a:rPr>
              <a:t>nhau</a:t>
            </a:r>
            <a:endParaRPr lang="en-US" altLang="ko-KR" sz="800" dirty="0">
              <a:latin typeface="Arial" pitchFamily="34" charset="0"/>
              <a:cs typeface="Arial" pitchFamily="34" charset="0"/>
            </a:endParaRPr>
          </a:p>
        </p:txBody>
      </p:sp>
      <p:sp>
        <p:nvSpPr>
          <p:cNvPr id="57"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7. </a:t>
            </a:r>
            <a:r>
              <a:rPr lang="en-US" altLang="ko-KR" b="1" dirty="0" err="1">
                <a:latin typeface="Arial" pitchFamily="34" charset="0"/>
                <a:ea typeface="맑은 고딕" pitchFamily="50" charset="-127"/>
                <a:cs typeface="Arial" pitchFamily="34" charset="0"/>
              </a:rPr>
              <a:t>Phân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phối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chuẩn</a:t>
            </a:r>
            <a:endParaRPr lang="ko-KR" altLang="en-US" b="1" dirty="0">
              <a:latin typeface="Arial" pitchFamily="34" charset="0"/>
              <a:ea typeface="맑은 고딕" pitchFamily="50" charset="-127"/>
              <a:cs typeface="Arial" pitchFamily="34" charset="0"/>
            </a:endParaRPr>
          </a:p>
        </p:txBody>
      </p:sp>
      <p:pic>
        <p:nvPicPr>
          <p:cNvPr id="4" name="Picture 3"/>
          <p:cNvPicPr>
            <a:picLocks noChangeAspect="1"/>
          </p:cNvPicPr>
          <p:nvPr/>
        </p:nvPicPr>
        <p:blipFill>
          <a:blip r:embed="rId39" cstate="print">
            <a:extLst>
              <a:ext uri="{28A0092B-C50C-407E-A947-70E740481C1C}">
                <a14:useLocalDpi xmlns:a14="http://schemas.microsoft.com/office/drawing/2010/main"/>
              </a:ext>
            </a:extLst>
          </a:blip>
          <a:stretch>
            <a:fillRect/>
          </a:stretch>
        </p:blipFill>
        <p:spPr>
          <a:xfrm>
            <a:off x="10637585" y="1379314"/>
            <a:ext cx="5388136" cy="4164519"/>
          </a:xfrm>
          <a:prstGeom prst="rect">
            <a:avLst/>
          </a:prstGeom>
        </p:spPr>
      </p:pic>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6"/>
          <p:cNvSpPr>
            <a:spLocks noChangeArrowheads="1"/>
          </p:cNvSpPr>
          <p:nvPr/>
        </p:nvSpPr>
        <p:spPr bwMode="auto">
          <a:xfrm>
            <a:off x="188913" y="1017588"/>
            <a:ext cx="865187" cy="379412"/>
          </a:xfrm>
          <a:prstGeom prst="rect">
            <a:avLst/>
          </a:prstGeom>
          <a:gradFill rotWithShape="1">
            <a:gsLst>
              <a:gs pos="0">
                <a:srgbClr val="760000"/>
              </a:gs>
              <a:gs pos="50000">
                <a:srgbClr val="FF0000"/>
              </a:gs>
              <a:gs pos="100000">
                <a:srgbClr val="760000"/>
              </a:gs>
            </a:gsLst>
            <a:lin ang="0" scaled="1"/>
          </a:gradFill>
          <a:ln>
            <a:noFill/>
          </a:ln>
          <a:extLst>
            <a:ext uri="{91240B29-F687-4F45-9708-019B960494DF}">
              <a14:hiddenLine xmlns:a14="http://schemas.microsoft.com/office/drawing/2010/main" w="9525" algn="ctr">
                <a:solidFill>
                  <a:srgbClr val="000000"/>
                </a:solidFill>
                <a:miter lim="800000"/>
                <a:headEnd/>
                <a:tailEnd/>
              </a14:hiddenLine>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100" b="1" dirty="0">
                <a:solidFill>
                  <a:schemeClr val="bg1"/>
                </a:solidFill>
                <a:latin typeface="Arial" pitchFamily="34" charset="0"/>
                <a:cs typeface="Arial" pitchFamily="34" charset="0"/>
              </a:rPr>
              <a:t>  </a:t>
            </a:r>
            <a:r>
              <a:rPr lang="en-US" altLang="ko-KR" sz="1100" b="1" dirty="0" err="1">
                <a:solidFill>
                  <a:schemeClr val="bg1"/>
                </a:solidFill>
                <a:latin typeface="Arial" pitchFamily="34" charset="0"/>
                <a:cs typeface="Arial" pitchFamily="34" charset="0"/>
              </a:rPr>
              <a:t>Ví</a:t>
            </a:r>
            <a:r>
              <a:rPr lang="en-US" altLang="ko-KR" sz="1100" b="1" dirty="0">
                <a:solidFill>
                  <a:schemeClr val="bg1"/>
                </a:solidFill>
                <a:latin typeface="Arial" pitchFamily="34" charset="0"/>
                <a:cs typeface="Arial" pitchFamily="34" charset="0"/>
              </a:rPr>
              <a:t> </a:t>
            </a:r>
            <a:r>
              <a:rPr lang="en-US" altLang="ko-KR" sz="1100" b="1" dirty="0" err="1">
                <a:solidFill>
                  <a:schemeClr val="bg1"/>
                </a:solidFill>
                <a:latin typeface="Arial" pitchFamily="34" charset="0"/>
                <a:cs typeface="Arial" pitchFamily="34" charset="0"/>
              </a:rPr>
              <a:t>dụ</a:t>
            </a:r>
            <a:endParaRPr lang="en-US" altLang="ko-KR" sz="1100" b="1" dirty="0">
              <a:solidFill>
                <a:schemeClr val="bg1"/>
              </a:solidFill>
              <a:latin typeface="Arial" pitchFamily="34" charset="0"/>
              <a:cs typeface="Arial" pitchFamily="34" charset="0"/>
            </a:endParaRPr>
          </a:p>
        </p:txBody>
      </p:sp>
      <p:sp>
        <p:nvSpPr>
          <p:cNvPr id="59395" name="Rectangle 35"/>
          <p:cNvSpPr>
            <a:spLocks noChangeArrowheads="1"/>
          </p:cNvSpPr>
          <p:nvPr/>
        </p:nvSpPr>
        <p:spPr bwMode="auto">
          <a:xfrm>
            <a:off x="1104900" y="836712"/>
            <a:ext cx="7736532" cy="1249362"/>
          </a:xfrm>
          <a:prstGeom prst="rect">
            <a:avLst/>
          </a:prstGeom>
          <a:solidFill>
            <a:srgbClr val="FFFFF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400" b="1" dirty="0" err="1">
                <a:latin typeface="Arial" pitchFamily="34" charset="0"/>
                <a:ea typeface="맑은 고딕" pitchFamily="50" charset="-127"/>
                <a:cs typeface="Arial" pitchFamily="34" charset="0"/>
              </a:rPr>
              <a:t>Điểm</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kiểm</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toán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và</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tiếng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Anh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của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bạn</a:t>
            </a:r>
            <a:r>
              <a:rPr lang="en-US" altLang="ko-KR" sz="1400" b="1" dirty="0">
                <a:latin typeface="Arial" pitchFamily="34" charset="0"/>
                <a:ea typeface="맑은 고딕" pitchFamily="50" charset="-127"/>
                <a:cs typeface="Arial" pitchFamily="34" charset="0"/>
              </a:rPr>
              <a:t> Nam </a:t>
            </a:r>
            <a:r>
              <a:rPr lang="en-US" altLang="ko-KR" sz="1400" b="1" dirty="0" err="1">
                <a:latin typeface="Arial" pitchFamily="34" charset="0"/>
                <a:ea typeface="맑은 고딕" pitchFamily="50" charset="-127"/>
                <a:cs typeface="Arial" pitchFamily="34" charset="0"/>
              </a:rPr>
              <a:t>được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như</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sau</a:t>
            </a:r>
            <a:r>
              <a:rPr lang="en-US" altLang="ko-KR" sz="1400" b="1" dirty="0">
                <a:latin typeface="Arial" pitchFamily="34" charset="0"/>
                <a:ea typeface="맑은 고딕" pitchFamily="50" charset="-127"/>
                <a:cs typeface="Arial" pitchFamily="34" charset="0"/>
              </a:rPr>
              <a:t>:</a:t>
            </a:r>
          </a:p>
          <a:p>
            <a:pPr eaLnBrk="1" hangingPunct="1">
              <a:lnSpc>
                <a:spcPct val="70000"/>
              </a:lnSpc>
              <a:spcBef>
                <a:spcPct val="50000"/>
              </a:spcBef>
            </a:pPr>
            <a:r>
              <a:rPr lang="en-US" altLang="ko-KR" sz="1400" b="1" dirty="0">
                <a:latin typeface="Arial" pitchFamily="34" charset="0"/>
                <a:ea typeface="맑은 고딕" pitchFamily="50" charset="-127"/>
                <a:cs typeface="Arial" pitchFamily="34" charset="0"/>
              </a:rPr>
              <a:t> - 270 </a:t>
            </a:r>
            <a:r>
              <a:rPr lang="en-US" altLang="ko-KR" sz="1400" b="1" dirty="0" err="1">
                <a:latin typeface="Arial" pitchFamily="34" charset="0"/>
                <a:ea typeface="맑은 고딕" pitchFamily="50" charset="-127"/>
                <a:cs typeface="Arial" pitchFamily="34" charset="0"/>
              </a:rPr>
              <a:t>điểm</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toán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trung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bình</a:t>
            </a:r>
            <a:r>
              <a:rPr lang="ko-KR" altLang="en-US" sz="1400" b="1" dirty="0">
                <a:latin typeface="Arial" pitchFamily="34" charset="0"/>
                <a:ea typeface="맑은 고딕" pitchFamily="50" charset="-127"/>
                <a:cs typeface="Arial" pitchFamily="34" charset="0"/>
              </a:rPr>
              <a:t> </a:t>
            </a:r>
            <a:r>
              <a:rPr lang="en-US" altLang="ko-KR" sz="1400" b="1" dirty="0">
                <a:latin typeface="Arial" pitchFamily="34" charset="0"/>
                <a:ea typeface="맑은 고딕" pitchFamily="50" charset="-127"/>
                <a:cs typeface="Arial" pitchFamily="34" charset="0"/>
              </a:rPr>
              <a:t>:  250, </a:t>
            </a:r>
            <a:r>
              <a:rPr lang="en-US" altLang="ko-KR" sz="1400" b="1" dirty="0" err="1">
                <a:latin typeface="Arial" pitchFamily="34" charset="0"/>
                <a:ea typeface="맑은 고딕" pitchFamily="50" charset="-127"/>
                <a:cs typeface="Arial" pitchFamily="34" charset="0"/>
              </a:rPr>
              <a:t>độ</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lệch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chuẩn</a:t>
            </a:r>
            <a:r>
              <a:rPr lang="en-US" altLang="ko-KR" sz="1400" b="1" dirty="0">
                <a:latin typeface="Arial" pitchFamily="34" charset="0"/>
                <a:ea typeface="맑은 고딕" pitchFamily="50" charset="-127"/>
                <a:cs typeface="Arial" pitchFamily="34" charset="0"/>
              </a:rPr>
              <a:t>: 10) </a:t>
            </a:r>
          </a:p>
          <a:p>
            <a:pPr eaLnBrk="1" hangingPunct="1">
              <a:lnSpc>
                <a:spcPct val="70000"/>
              </a:lnSpc>
              <a:spcBef>
                <a:spcPct val="50000"/>
              </a:spcBef>
            </a:pPr>
            <a:r>
              <a:rPr lang="en-US" altLang="ko-KR" sz="1400" b="1" dirty="0">
                <a:latin typeface="Arial" pitchFamily="34" charset="0"/>
                <a:ea typeface="맑은 고딕" pitchFamily="50" charset="-127"/>
                <a:cs typeface="Arial" pitchFamily="34" charset="0"/>
              </a:rPr>
              <a:t> - 290 </a:t>
            </a:r>
            <a:r>
              <a:rPr lang="en-US" altLang="ko-KR" sz="1400" b="1" dirty="0" err="1">
                <a:latin typeface="Arial" pitchFamily="34" charset="0"/>
                <a:ea typeface="맑은 고딕" pitchFamily="50" charset="-127"/>
                <a:cs typeface="Arial" pitchFamily="34" charset="0"/>
              </a:rPr>
              <a:t>điểm</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tiếng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Anh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trung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bình</a:t>
            </a:r>
            <a:r>
              <a:rPr lang="ko-KR" altLang="en-US" sz="1400" b="1" dirty="0">
                <a:latin typeface="Arial" pitchFamily="34" charset="0"/>
                <a:ea typeface="맑은 고딕" pitchFamily="50" charset="-127"/>
                <a:cs typeface="Arial" pitchFamily="34" charset="0"/>
              </a:rPr>
              <a:t> </a:t>
            </a:r>
            <a:r>
              <a:rPr lang="en-US" altLang="ko-KR" sz="1400" b="1" dirty="0">
                <a:latin typeface="Arial" pitchFamily="34" charset="0"/>
                <a:ea typeface="맑은 고딕" pitchFamily="50" charset="-127"/>
                <a:cs typeface="Arial" pitchFamily="34" charset="0"/>
              </a:rPr>
              <a:t>:  270, </a:t>
            </a:r>
            <a:r>
              <a:rPr lang="en-US" altLang="ko-KR" sz="1400" b="1" dirty="0" err="1">
                <a:latin typeface="Arial" pitchFamily="34" charset="0"/>
                <a:ea typeface="맑은 고딕" pitchFamily="50" charset="-127"/>
                <a:cs typeface="Arial" pitchFamily="34" charset="0"/>
              </a:rPr>
              <a:t>độ</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lệch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chuẩn</a:t>
            </a:r>
            <a:r>
              <a:rPr lang="en-US" altLang="ko-KR" sz="1400" b="1" dirty="0">
                <a:latin typeface="Arial" pitchFamily="34" charset="0"/>
                <a:ea typeface="맑은 고딕" pitchFamily="50" charset="-127"/>
                <a:cs typeface="Arial" pitchFamily="34" charset="0"/>
              </a:rPr>
              <a:t>: 20)</a:t>
            </a:r>
          </a:p>
          <a:p>
            <a:pPr eaLnBrk="1" hangingPunct="1">
              <a:spcBef>
                <a:spcPct val="50000"/>
              </a:spcBef>
            </a:pPr>
            <a:r>
              <a:rPr lang="en-US" altLang="ko-KR" sz="1400" b="1" dirty="0" err="1">
                <a:latin typeface="Arial" pitchFamily="34" charset="0"/>
                <a:ea typeface="맑은 고딕" pitchFamily="50" charset="-127"/>
                <a:cs typeface="Arial" pitchFamily="34" charset="0"/>
              </a:rPr>
              <a:t>Vậy</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cậu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ấy</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học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giỏi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môn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nào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hơn</a:t>
            </a:r>
            <a:r>
              <a:rPr lang="en-US" altLang="ko-KR" sz="1400" b="1" dirty="0">
                <a:latin typeface="Arial" pitchFamily="34" charset="0"/>
                <a:ea typeface="맑은 고딕" pitchFamily="50" charset="-127"/>
                <a:cs typeface="Arial" pitchFamily="34" charset="0"/>
              </a:rPr>
              <a:t>?</a:t>
            </a:r>
          </a:p>
        </p:txBody>
      </p:sp>
      <p:grpSp>
        <p:nvGrpSpPr>
          <p:cNvPr id="59396" name="Group 53"/>
          <p:cNvGrpSpPr>
            <a:grpSpLocks/>
          </p:cNvGrpSpPr>
          <p:nvPr/>
        </p:nvGrpSpPr>
        <p:grpSpPr bwMode="auto">
          <a:xfrm>
            <a:off x="1897063" y="3860801"/>
            <a:ext cx="6111875" cy="2241551"/>
            <a:chOff x="696" y="2702"/>
            <a:chExt cx="3850" cy="1412"/>
          </a:xfrm>
        </p:grpSpPr>
        <p:sp>
          <p:nvSpPr>
            <p:cNvPr id="59403" name="Text Box 19"/>
            <p:cNvSpPr txBox="1">
              <a:spLocks noChangeArrowheads="1"/>
            </p:cNvSpPr>
            <p:nvPr/>
          </p:nvSpPr>
          <p:spPr bwMode="auto">
            <a:xfrm>
              <a:off x="2233" y="3881"/>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endParaRPr lang="ko-KR" altLang="ko-KR" dirty="0">
                <a:latin typeface="Arial" pitchFamily="34" charset="0"/>
                <a:cs typeface="Arial" pitchFamily="34" charset="0"/>
              </a:endParaRPr>
            </a:p>
          </p:txBody>
        </p:sp>
        <p:sp>
          <p:nvSpPr>
            <p:cNvPr id="59404" name="Line 2"/>
            <p:cNvSpPr>
              <a:spLocks noChangeShapeType="1"/>
            </p:cNvSpPr>
            <p:nvPr/>
          </p:nvSpPr>
          <p:spPr bwMode="auto">
            <a:xfrm>
              <a:off x="849" y="3563"/>
              <a:ext cx="35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lIns="92075" tIns="46038" rIns="92075" bIns="46038">
              <a:spAutoFit/>
            </a:bodyPr>
            <a:lstStyle/>
            <a:p>
              <a:endParaRPr lang="ko-KR" altLang="en-US" dirty="0">
                <a:latin typeface="Arial" pitchFamily="34" charset="0"/>
                <a:cs typeface="Arial" pitchFamily="34" charset="0"/>
              </a:endParaRPr>
            </a:p>
          </p:txBody>
        </p:sp>
        <p:pic>
          <p:nvPicPr>
            <p:cNvPr id="59405" name="Picture 3"/>
            <p:cNvPicPr>
              <a:picLocks noChangeAspect="1" noChangeArrowheads="1"/>
            </p:cNvPicPr>
            <p:nvPr/>
          </p:nvPicPr>
          <p:blipFill>
            <a:blip r:embed="rId2" cstate="print">
              <a:clrChange>
                <a:clrFrom>
                  <a:srgbClr val="FFFFFF"/>
                </a:clrFrom>
                <a:clrTo>
                  <a:srgbClr val="FFFFFF">
                    <a:alpha val="0"/>
                  </a:srgbClr>
                </a:clrTo>
              </a:clrChange>
              <a:lum bright="6000" contrast="62000"/>
              <a:extLst>
                <a:ext uri="{28A0092B-C50C-407E-A947-70E740481C1C}">
                  <a14:useLocalDpi xmlns:a14="http://schemas.microsoft.com/office/drawing/2010/main"/>
                </a:ext>
              </a:extLst>
            </a:blip>
            <a:srcRect/>
            <a:stretch>
              <a:fillRect/>
            </a:stretch>
          </p:blipFill>
          <p:spPr bwMode="auto">
            <a:xfrm>
              <a:off x="817" y="2978"/>
              <a:ext cx="1123" cy="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6" name="Picture 4"/>
            <p:cNvPicPr>
              <a:picLocks noChangeAspect="1" noChangeArrowheads="1"/>
            </p:cNvPicPr>
            <p:nvPr/>
          </p:nvPicPr>
          <p:blipFill>
            <a:blip r:embed="rId2" cstate="print">
              <a:clrChange>
                <a:clrFrom>
                  <a:srgbClr val="FFFFFF"/>
                </a:clrFrom>
                <a:clrTo>
                  <a:srgbClr val="FFFFFF">
                    <a:alpha val="0"/>
                  </a:srgbClr>
                </a:clrTo>
              </a:clrChange>
              <a:lum bright="6000" contrast="62000"/>
              <a:extLst>
                <a:ext uri="{28A0092B-C50C-407E-A947-70E740481C1C}">
                  <a14:useLocalDpi xmlns:a14="http://schemas.microsoft.com/office/drawing/2010/main"/>
                </a:ext>
              </a:extLst>
            </a:blip>
            <a:srcRect/>
            <a:stretch>
              <a:fillRect/>
            </a:stretch>
          </p:blipFill>
          <p:spPr bwMode="auto">
            <a:xfrm>
              <a:off x="918" y="3200"/>
              <a:ext cx="1591"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07" name="Text Box 7"/>
            <p:cNvSpPr txBox="1">
              <a:spLocks noChangeArrowheads="1"/>
            </p:cNvSpPr>
            <p:nvPr/>
          </p:nvSpPr>
          <p:spPr bwMode="auto">
            <a:xfrm>
              <a:off x="1124" y="3580"/>
              <a:ext cx="38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Arial" pitchFamily="34" charset="0"/>
                  <a:cs typeface="Arial" pitchFamily="34" charset="0"/>
                </a:rPr>
                <a:t>250</a:t>
              </a:r>
            </a:p>
          </p:txBody>
        </p:sp>
        <p:sp>
          <p:nvSpPr>
            <p:cNvPr id="59408" name="Text Box 8"/>
            <p:cNvSpPr txBox="1">
              <a:spLocks noChangeArrowheads="1"/>
            </p:cNvSpPr>
            <p:nvPr/>
          </p:nvSpPr>
          <p:spPr bwMode="auto">
            <a:xfrm>
              <a:off x="1580" y="3581"/>
              <a:ext cx="36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Arial" pitchFamily="34" charset="0"/>
                  <a:cs typeface="Arial" pitchFamily="34" charset="0"/>
                </a:rPr>
                <a:t>270</a:t>
              </a:r>
            </a:p>
          </p:txBody>
        </p:sp>
        <p:sp>
          <p:nvSpPr>
            <p:cNvPr id="59409" name="Text Box 10"/>
            <p:cNvSpPr txBox="1">
              <a:spLocks noChangeArrowheads="1"/>
            </p:cNvSpPr>
            <p:nvPr/>
          </p:nvSpPr>
          <p:spPr bwMode="auto">
            <a:xfrm>
              <a:off x="1002" y="2828"/>
              <a:ext cx="743"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err="1">
                  <a:latin typeface="Arial" pitchFamily="34" charset="0"/>
                  <a:cs typeface="Arial" pitchFamily="34" charset="0"/>
                </a:rPr>
                <a:t>Toán</a:t>
              </a:r>
              <a:endParaRPr lang="en-US" altLang="ko-KR" sz="1200" b="1" dirty="0">
                <a:latin typeface="Arial" pitchFamily="34" charset="0"/>
                <a:cs typeface="Arial" pitchFamily="34" charset="0"/>
              </a:endParaRPr>
            </a:p>
          </p:txBody>
        </p:sp>
        <p:sp>
          <p:nvSpPr>
            <p:cNvPr id="59410" name="Text Box 11"/>
            <p:cNvSpPr txBox="1">
              <a:spLocks noChangeArrowheads="1"/>
            </p:cNvSpPr>
            <p:nvPr/>
          </p:nvSpPr>
          <p:spPr bwMode="auto">
            <a:xfrm>
              <a:off x="1520" y="3058"/>
              <a:ext cx="557"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err="1">
                  <a:solidFill>
                    <a:srgbClr val="FF0000"/>
                  </a:solidFill>
                  <a:latin typeface="Arial" pitchFamily="34" charset="0"/>
                  <a:cs typeface="Arial" pitchFamily="34" charset="0"/>
                </a:rPr>
                <a:t>Anh</a:t>
              </a:r>
              <a:endParaRPr lang="en-US" altLang="ko-KR" sz="1200" b="1" dirty="0">
                <a:solidFill>
                  <a:srgbClr val="FF0000"/>
                </a:solidFill>
                <a:latin typeface="Arial" pitchFamily="34" charset="0"/>
                <a:cs typeface="Arial" pitchFamily="34" charset="0"/>
              </a:endParaRPr>
            </a:p>
          </p:txBody>
        </p:sp>
        <p:sp>
          <p:nvSpPr>
            <p:cNvPr id="59411" name="Oval 13"/>
            <p:cNvSpPr>
              <a:spLocks noChangeArrowheads="1"/>
            </p:cNvSpPr>
            <p:nvPr/>
          </p:nvSpPr>
          <p:spPr bwMode="auto">
            <a:xfrm>
              <a:off x="2011" y="3533"/>
              <a:ext cx="61" cy="61"/>
            </a:xfrm>
            <a:prstGeom prst="ellipse">
              <a:avLst/>
            </a:prstGeom>
            <a:solidFill>
              <a:srgbClr val="FF0000"/>
            </a:solidFill>
            <a:ln w="12700" algn="ctr">
              <a:solidFill>
                <a:srgbClr val="FF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sp>
          <p:nvSpPr>
            <p:cNvPr id="59412" name="Text Box 14"/>
            <p:cNvSpPr txBox="1">
              <a:spLocks noChangeArrowheads="1"/>
            </p:cNvSpPr>
            <p:nvPr/>
          </p:nvSpPr>
          <p:spPr bwMode="auto">
            <a:xfrm>
              <a:off x="1932" y="3585"/>
              <a:ext cx="3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Arial" pitchFamily="34" charset="0"/>
                  <a:cs typeface="Arial" pitchFamily="34" charset="0"/>
                </a:rPr>
                <a:t>290</a:t>
              </a:r>
            </a:p>
          </p:txBody>
        </p:sp>
        <p:pic>
          <p:nvPicPr>
            <p:cNvPr id="59413" name="Picture 15"/>
            <p:cNvPicPr>
              <a:picLocks noChangeAspect="1" noChangeArrowheads="1"/>
            </p:cNvPicPr>
            <p:nvPr/>
          </p:nvPicPr>
          <p:blipFill>
            <a:blip r:embed="rId2" cstate="print">
              <a:clrChange>
                <a:clrFrom>
                  <a:srgbClr val="FFFFFF"/>
                </a:clrFrom>
                <a:clrTo>
                  <a:srgbClr val="FFFFFF">
                    <a:alpha val="0"/>
                  </a:srgbClr>
                </a:clrTo>
              </a:clrChange>
              <a:lum bright="6000" contrast="62000"/>
              <a:extLst>
                <a:ext uri="{28A0092B-C50C-407E-A947-70E740481C1C}">
                  <a14:useLocalDpi xmlns:a14="http://schemas.microsoft.com/office/drawing/2010/main"/>
                </a:ext>
              </a:extLst>
            </a:blip>
            <a:srcRect/>
            <a:stretch>
              <a:fillRect/>
            </a:stretch>
          </p:blipFill>
          <p:spPr bwMode="auto">
            <a:xfrm>
              <a:off x="3253" y="2874"/>
              <a:ext cx="820" cy="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14" name="Text Box 17"/>
            <p:cNvSpPr txBox="1">
              <a:spLocks noChangeArrowheads="1"/>
            </p:cNvSpPr>
            <p:nvPr/>
          </p:nvSpPr>
          <p:spPr bwMode="auto">
            <a:xfrm>
              <a:off x="3518" y="3561"/>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Arial" pitchFamily="34" charset="0"/>
                  <a:cs typeface="Arial" pitchFamily="34" charset="0"/>
                </a:rPr>
                <a:t>0</a:t>
              </a:r>
            </a:p>
          </p:txBody>
        </p:sp>
        <p:sp>
          <p:nvSpPr>
            <p:cNvPr id="59415" name="Text Box 18"/>
            <p:cNvSpPr txBox="1">
              <a:spLocks noChangeArrowheads="1"/>
            </p:cNvSpPr>
            <p:nvPr/>
          </p:nvSpPr>
          <p:spPr bwMode="auto">
            <a:xfrm>
              <a:off x="2464" y="3557"/>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dirty="0">
                  <a:latin typeface="Arial" pitchFamily="34" charset="0"/>
                  <a:cs typeface="Arial" pitchFamily="34" charset="0"/>
                </a:rPr>
                <a:t>X</a:t>
              </a:r>
            </a:p>
          </p:txBody>
        </p:sp>
        <p:sp>
          <p:nvSpPr>
            <p:cNvPr id="59416" name="Rectangle 20"/>
            <p:cNvSpPr>
              <a:spLocks noChangeArrowheads="1"/>
            </p:cNvSpPr>
            <p:nvPr/>
          </p:nvSpPr>
          <p:spPr bwMode="auto">
            <a:xfrm>
              <a:off x="2600" y="3466"/>
              <a:ext cx="213" cy="182"/>
            </a:xfrm>
            <a:prstGeom prst="rect">
              <a:avLst/>
            </a:prstGeom>
            <a:solidFill>
              <a:srgbClr val="FFFFFF"/>
            </a:solidFill>
            <a:ln>
              <a:noFill/>
            </a:ln>
            <a:extLst>
              <a:ext uri="{91240B29-F687-4F45-9708-019B960494DF}">
                <a14:hiddenLine xmlns:a14="http://schemas.microsoft.com/office/drawing/2010/main" w="12700" algn="ctr">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sp>
          <p:nvSpPr>
            <p:cNvPr id="59417" name="Oval 22"/>
            <p:cNvSpPr>
              <a:spLocks noChangeArrowheads="1"/>
            </p:cNvSpPr>
            <p:nvPr/>
          </p:nvSpPr>
          <p:spPr bwMode="auto">
            <a:xfrm>
              <a:off x="3771" y="3526"/>
              <a:ext cx="61" cy="61"/>
            </a:xfrm>
            <a:prstGeom prst="ellipse">
              <a:avLst/>
            </a:prstGeom>
            <a:solidFill>
              <a:srgbClr val="FF0000"/>
            </a:solidFill>
            <a:ln w="12700" algn="ctr">
              <a:solidFill>
                <a:srgbClr val="FF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sp>
          <p:nvSpPr>
            <p:cNvPr id="59418" name="Line 23"/>
            <p:cNvSpPr>
              <a:spLocks noChangeShapeType="1"/>
            </p:cNvSpPr>
            <p:nvPr/>
          </p:nvSpPr>
          <p:spPr bwMode="auto">
            <a:xfrm>
              <a:off x="3661" y="3200"/>
              <a:ext cx="115"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9419" name="Text Box 24"/>
            <p:cNvSpPr txBox="1">
              <a:spLocks noChangeArrowheads="1"/>
            </p:cNvSpPr>
            <p:nvPr/>
          </p:nvSpPr>
          <p:spPr bwMode="auto">
            <a:xfrm>
              <a:off x="3682" y="3568"/>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Arial" pitchFamily="34" charset="0"/>
                  <a:cs typeface="Arial" pitchFamily="34" charset="0"/>
                </a:rPr>
                <a:t>1</a:t>
              </a:r>
            </a:p>
          </p:txBody>
        </p:sp>
        <p:sp>
          <p:nvSpPr>
            <p:cNvPr id="59420" name="Text Box 25"/>
            <p:cNvSpPr txBox="1">
              <a:spLocks noChangeArrowheads="1"/>
            </p:cNvSpPr>
            <p:nvPr/>
          </p:nvSpPr>
          <p:spPr bwMode="auto">
            <a:xfrm>
              <a:off x="3825" y="3568"/>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Arial" pitchFamily="34" charset="0"/>
                  <a:cs typeface="Arial" pitchFamily="34" charset="0"/>
                </a:rPr>
                <a:t>2</a:t>
              </a:r>
            </a:p>
          </p:txBody>
        </p:sp>
        <p:sp>
          <p:nvSpPr>
            <p:cNvPr id="2" name="Text Box 26"/>
            <p:cNvSpPr txBox="1">
              <a:spLocks noChangeArrowheads="1"/>
            </p:cNvSpPr>
            <p:nvPr/>
          </p:nvSpPr>
          <p:spPr bwMode="auto">
            <a:xfrm>
              <a:off x="3630" y="2838"/>
              <a:ext cx="448" cy="174"/>
            </a:xfrm>
            <a:prstGeom prst="rect">
              <a:avLst/>
            </a:prstGeom>
            <a:noFill/>
            <a:ln w="12700" algn="ctr">
              <a:noFill/>
              <a:miter lim="800000"/>
              <a:headEnd/>
              <a:tailEnd/>
            </a:ln>
          </p:spPr>
          <p:txBody>
            <a:bodyPr>
              <a:spAutoFit/>
            </a:bodyPr>
            <a:lstStyle/>
            <a:p>
              <a:pPr>
                <a:spcBef>
                  <a:spcPct val="50000"/>
                </a:spcBef>
                <a:defRPr/>
              </a:pPr>
              <a:r>
                <a:rPr lang="en-US" altLang="ko-KR" sz="1200" b="1" dirty="0">
                  <a:solidFill>
                    <a:schemeClr val="tx1">
                      <a:lumMod val="65000"/>
                      <a:lumOff val="35000"/>
                    </a:schemeClr>
                  </a:solidFill>
                  <a:latin typeface="Arial" pitchFamily="34" charset="0"/>
                  <a:cs typeface="Arial" pitchFamily="34" charset="0"/>
                </a:rPr>
                <a:t>N(0,1)</a:t>
              </a:r>
            </a:p>
          </p:txBody>
        </p:sp>
        <p:sp>
          <p:nvSpPr>
            <p:cNvPr id="59422" name="Line 27"/>
            <p:cNvSpPr>
              <a:spLocks noChangeShapeType="1"/>
            </p:cNvSpPr>
            <p:nvPr/>
          </p:nvSpPr>
          <p:spPr bwMode="auto">
            <a:xfrm>
              <a:off x="2405" y="3200"/>
              <a:ext cx="635" cy="0"/>
            </a:xfrm>
            <a:prstGeom prst="line">
              <a:avLst/>
            </a:prstGeom>
            <a:noFill/>
            <a:ln w="127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59423" name="Text Box 28"/>
            <p:cNvSpPr txBox="1">
              <a:spLocks noChangeArrowheads="1"/>
            </p:cNvSpPr>
            <p:nvPr/>
          </p:nvSpPr>
          <p:spPr bwMode="auto">
            <a:xfrm>
              <a:off x="2351" y="3017"/>
              <a:ext cx="71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000" b="1" dirty="0" err="1">
                  <a:solidFill>
                    <a:srgbClr val="FF0000"/>
                  </a:solidFill>
                  <a:latin typeface="Arial" pitchFamily="34" charset="0"/>
                  <a:cs typeface="Arial" pitchFamily="34" charset="0"/>
                </a:rPr>
                <a:t>Tiêu</a:t>
              </a:r>
              <a:r>
                <a:rPr lang="en-US" altLang="ko-KR" sz="1000" b="1" dirty="0">
                  <a:solidFill>
                    <a:srgbClr val="FF0000"/>
                  </a:solidFill>
                  <a:latin typeface="Arial" pitchFamily="34" charset="0"/>
                  <a:cs typeface="Arial" pitchFamily="34" charset="0"/>
                </a:rPr>
                <a:t> </a:t>
              </a:r>
              <a:r>
                <a:rPr lang="en-US" altLang="ko-KR" sz="1000" b="1" dirty="0" err="1">
                  <a:solidFill>
                    <a:srgbClr val="FF0000"/>
                  </a:solidFill>
                  <a:latin typeface="Arial" pitchFamily="34" charset="0"/>
                  <a:cs typeface="Arial" pitchFamily="34" charset="0"/>
                </a:rPr>
                <a:t>chuẩn</a:t>
              </a:r>
              <a:r>
                <a:rPr lang="en-US" altLang="ko-KR" sz="1000" b="1" dirty="0">
                  <a:solidFill>
                    <a:srgbClr val="FF0000"/>
                  </a:solidFill>
                  <a:latin typeface="Arial" pitchFamily="34" charset="0"/>
                  <a:cs typeface="Arial" pitchFamily="34" charset="0"/>
                </a:rPr>
                <a:t> </a:t>
              </a:r>
              <a:r>
                <a:rPr lang="en-US" altLang="ko-KR" sz="1000" b="1" dirty="0" err="1">
                  <a:solidFill>
                    <a:srgbClr val="FF0000"/>
                  </a:solidFill>
                  <a:latin typeface="Arial" pitchFamily="34" charset="0"/>
                  <a:cs typeface="Arial" pitchFamily="34" charset="0"/>
                </a:rPr>
                <a:t>hóa</a:t>
              </a:r>
              <a:endParaRPr lang="ko-KR" altLang="en-US" sz="1000" b="1" dirty="0">
                <a:solidFill>
                  <a:srgbClr val="FF0000"/>
                </a:solidFill>
                <a:latin typeface="Arial" pitchFamily="34" charset="0"/>
                <a:cs typeface="Arial" pitchFamily="34" charset="0"/>
              </a:endParaRPr>
            </a:p>
          </p:txBody>
        </p:sp>
        <p:sp>
          <p:nvSpPr>
            <p:cNvPr id="59424" name="Rectangle 30"/>
            <p:cNvSpPr>
              <a:spLocks noChangeArrowheads="1"/>
            </p:cNvSpPr>
            <p:nvPr/>
          </p:nvSpPr>
          <p:spPr bwMode="auto">
            <a:xfrm>
              <a:off x="696" y="2702"/>
              <a:ext cx="3850" cy="1179"/>
            </a:xfrm>
            <a:prstGeom prst="rect">
              <a:avLst/>
            </a:prstGeom>
            <a:noFill/>
            <a:ln w="12700" algn="ctr">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cs typeface="Arial" pitchFamily="34" charset="0"/>
              </a:endParaRPr>
            </a:p>
          </p:txBody>
        </p:sp>
        <p:sp>
          <p:nvSpPr>
            <p:cNvPr id="59425" name="Rectangle 50"/>
            <p:cNvSpPr>
              <a:spLocks noChangeArrowheads="1"/>
            </p:cNvSpPr>
            <p:nvPr/>
          </p:nvSpPr>
          <p:spPr bwMode="auto">
            <a:xfrm>
              <a:off x="1689" y="3542"/>
              <a:ext cx="46" cy="46"/>
            </a:xfrm>
            <a:prstGeom prst="rect">
              <a:avLst/>
            </a:prstGeom>
            <a:solidFill>
              <a:schemeClr val="tx1"/>
            </a:solidFill>
            <a:ln w="12700" algn="ctr">
              <a:solidFill>
                <a:srgbClr val="0000FF"/>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sp>
          <p:nvSpPr>
            <p:cNvPr id="59426" name="Rectangle 51"/>
            <p:cNvSpPr>
              <a:spLocks noChangeArrowheads="1"/>
            </p:cNvSpPr>
            <p:nvPr/>
          </p:nvSpPr>
          <p:spPr bwMode="auto">
            <a:xfrm>
              <a:off x="3929" y="3545"/>
              <a:ext cx="46" cy="46"/>
            </a:xfrm>
            <a:prstGeom prst="rect">
              <a:avLst/>
            </a:prstGeom>
            <a:solidFill>
              <a:schemeClr val="tx1"/>
            </a:solidFill>
            <a:ln w="12700" algn="ctr">
              <a:solidFill>
                <a:srgbClr val="0000FF"/>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cs typeface="Arial" pitchFamily="34" charset="0"/>
              </a:endParaRPr>
            </a:p>
          </p:txBody>
        </p:sp>
      </p:grpSp>
      <p:pic>
        <p:nvPicPr>
          <p:cNvPr id="59397" name="Picture 54"/>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4291024" y="2636838"/>
            <a:ext cx="23764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pic>
      <p:sp>
        <p:nvSpPr>
          <p:cNvPr id="59398" name="TextBox 29"/>
          <p:cNvSpPr txBox="1">
            <a:spLocks noChangeArrowheads="1"/>
          </p:cNvSpPr>
          <p:nvPr/>
        </p:nvSpPr>
        <p:spPr bwMode="auto">
          <a:xfrm>
            <a:off x="3672410" y="2717800"/>
            <a:ext cx="636521" cy="307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err="1">
                <a:latin typeface="Arial" pitchFamily="34" charset="0"/>
                <a:ea typeface="맑은 고딕" pitchFamily="50" charset="-127"/>
                <a:cs typeface="Arial" pitchFamily="34" charset="0"/>
              </a:rPr>
              <a:t>Toán</a:t>
            </a:r>
            <a:r>
              <a:rPr lang="en-US" altLang="ko-KR" sz="1200" b="1" dirty="0">
                <a:latin typeface="Arial" pitchFamily="34" charset="0"/>
                <a:ea typeface="맑은 고딕" pitchFamily="50" charset="-127"/>
                <a:cs typeface="Arial" pitchFamily="34" charset="0"/>
              </a:rPr>
              <a:t> :</a:t>
            </a:r>
            <a:endParaRPr lang="ko-KR" altLang="en-US" sz="1200" b="1" dirty="0">
              <a:latin typeface="Arial" pitchFamily="34" charset="0"/>
              <a:ea typeface="맑은 고딕" pitchFamily="50" charset="-127"/>
              <a:cs typeface="Arial" pitchFamily="34" charset="0"/>
            </a:endParaRPr>
          </a:p>
        </p:txBody>
      </p:sp>
      <p:sp>
        <p:nvSpPr>
          <p:cNvPr id="59399" name="TextBox 30"/>
          <p:cNvSpPr txBox="1">
            <a:spLocks noChangeArrowheads="1"/>
          </p:cNvSpPr>
          <p:nvPr/>
        </p:nvSpPr>
        <p:spPr bwMode="auto">
          <a:xfrm>
            <a:off x="3283136" y="3109910"/>
            <a:ext cx="1025794" cy="307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err="1">
                <a:latin typeface="Arial" pitchFamily="34" charset="0"/>
                <a:ea typeface="맑은 고딕" pitchFamily="50" charset="-127"/>
                <a:cs typeface="Arial" pitchFamily="34" charset="0"/>
              </a:rPr>
              <a:t>Tiếng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Anh</a:t>
            </a:r>
            <a:r>
              <a:rPr lang="en-US" altLang="ko-KR" sz="1200" b="1" dirty="0">
                <a:latin typeface="Arial" pitchFamily="34" charset="0"/>
                <a:ea typeface="맑은 고딕" pitchFamily="50" charset="-127"/>
                <a:cs typeface="Arial" pitchFamily="34" charset="0"/>
              </a:rPr>
              <a:t> :</a:t>
            </a:r>
            <a:endParaRPr lang="ko-KR" altLang="en-US" sz="1200" b="1" dirty="0">
              <a:latin typeface="Arial" pitchFamily="34" charset="0"/>
              <a:ea typeface="맑은 고딕" pitchFamily="50" charset="-127"/>
              <a:cs typeface="Arial" pitchFamily="34" charset="0"/>
            </a:endParaRPr>
          </a:p>
        </p:txBody>
      </p:sp>
      <p:sp>
        <p:nvSpPr>
          <p:cNvPr id="59402" name="TextBox 33"/>
          <p:cNvSpPr txBox="1">
            <a:spLocks noChangeArrowheads="1"/>
          </p:cNvSpPr>
          <p:nvPr/>
        </p:nvSpPr>
        <p:spPr bwMode="auto">
          <a:xfrm>
            <a:off x="2869240" y="2881378"/>
            <a:ext cx="413896" cy="3724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dirty="0">
                <a:latin typeface="Arial" pitchFamily="34" charset="0"/>
                <a:ea typeface="맑은 고딕" pitchFamily="50" charset="-127"/>
                <a:cs typeface="Arial" pitchFamily="34" charset="0"/>
              </a:rPr>
              <a:t>vs.</a:t>
            </a:r>
            <a:endParaRPr lang="ko-KR" altLang="en-US" sz="1400" dirty="0">
              <a:latin typeface="Arial" pitchFamily="34" charset="0"/>
              <a:ea typeface="맑은 고딕" pitchFamily="50" charset="-127"/>
              <a:cs typeface="Arial" pitchFamily="34" charset="0"/>
            </a:endParaRP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62</a:t>
            </a:fld>
            <a:endParaRPr lang="ko-KR" altLang="en-US" dirty="0">
              <a:latin typeface="Arial" pitchFamily="34" charset="0"/>
              <a:cs typeface="Arial" pitchFamily="34" charset="0"/>
            </a:endParaRPr>
          </a:p>
        </p:txBody>
      </p:sp>
      <p:sp>
        <p:nvSpPr>
          <p:cNvPr id="39"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7. </a:t>
            </a:r>
            <a:r>
              <a:rPr lang="en-US" altLang="ko-KR" b="1" dirty="0" err="1">
                <a:latin typeface="Arial" pitchFamily="34" charset="0"/>
                <a:ea typeface="맑은 고딕" pitchFamily="50" charset="-127"/>
                <a:cs typeface="Arial" pitchFamily="34" charset="0"/>
              </a:rPr>
              <a:t>Phân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phối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chuẩn</a:t>
            </a:r>
            <a:endParaRPr lang="ko-KR" altLang="en-US" b="1" dirty="0">
              <a:latin typeface="Arial" pitchFamily="34" charset="0"/>
              <a:ea typeface="맑은 고딕" pitchFamily="50" charset="-127"/>
              <a:cs typeface="Arial" pitchFamily="34" charset="0"/>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4"/>
          <p:cNvSpPr>
            <a:spLocks noChangeArrowheads="1"/>
          </p:cNvSpPr>
          <p:nvPr/>
        </p:nvSpPr>
        <p:spPr bwMode="auto">
          <a:xfrm>
            <a:off x="1104899" y="847800"/>
            <a:ext cx="8715375" cy="1789112"/>
          </a:xfrm>
          <a:prstGeom prst="rect">
            <a:avLst/>
          </a:prstGeom>
          <a:solidFill>
            <a:srgbClr val="FFFFFF"/>
          </a:solidFill>
          <a:ln w="9525" algn="ctr">
            <a:solidFill>
              <a:schemeClr val="bg1"/>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vi-VN" altLang="ko-KR" sz="1200" dirty="0">
                <a:latin typeface="Arial (Body)"/>
                <a:ea typeface="맑은 고딕" pitchFamily="50" charset="-127"/>
              </a:rPr>
              <a:t>Một sản phẩm với chiều dài đặc trưng (cm) được lấy mẫu để tính toán thống kê. Các mẫu theo các đường cong phân phối chuẩn, trung bình là 50 và độ lệch chuẩn là 5.</a:t>
            </a:r>
            <a:br>
              <a:rPr lang="vi-VN" altLang="ko-KR" sz="1200" dirty="0">
                <a:latin typeface="Arial (Body)"/>
                <a:ea typeface="맑은 고딕" pitchFamily="50" charset="-127"/>
              </a:rPr>
            </a:br>
            <a:r>
              <a:rPr lang="vi-VN" altLang="ko-KR" sz="1200" dirty="0">
                <a:latin typeface="Arial (Body)"/>
                <a:ea typeface="맑은 고딕" pitchFamily="50" charset="-127"/>
              </a:rPr>
              <a:t>Nếu một sản phẩm</a:t>
            </a:r>
            <a:r>
              <a:rPr lang="en-US" altLang="ko-KR" sz="1200" dirty="0">
                <a:latin typeface="Arial (Body)"/>
                <a:ea typeface="맑은 고딕" pitchFamily="50" charset="-127"/>
              </a:rPr>
              <a:t> </a:t>
            </a:r>
            <a:r>
              <a:rPr lang="en-US" altLang="ko-KR" sz="1200" dirty="0" err="1">
                <a:latin typeface="Arial (Body)"/>
                <a:ea typeface="맑은 고딕" pitchFamily="50" charset="-127"/>
              </a:rPr>
              <a:t>có</a:t>
            </a:r>
            <a:r>
              <a:rPr lang="vi-VN" altLang="ko-KR" sz="1200" dirty="0">
                <a:latin typeface="Arial (Body)"/>
                <a:ea typeface="맑은 고딕" pitchFamily="50" charset="-127"/>
              </a:rPr>
              <a:t> chiều dài nằm trong khoảng (45,55), câu trả lời cho những câu hỏi sau đây là những gì?</a:t>
            </a:r>
            <a:endParaRPr lang="en-US" altLang="ko-KR" sz="1200" dirty="0">
              <a:latin typeface="Arial (Body)"/>
              <a:ea typeface="맑은 고딕" pitchFamily="50" charset="-127"/>
            </a:endParaRPr>
          </a:p>
          <a:p>
            <a:pPr eaLnBrk="1" hangingPunct="1">
              <a:spcBef>
                <a:spcPct val="50000"/>
              </a:spcBef>
            </a:pPr>
            <a:r>
              <a:rPr lang="en-US" altLang="ko-KR" sz="1200" dirty="0">
                <a:latin typeface="Arial (Body)"/>
                <a:ea typeface="맑은 고딕" pitchFamily="50" charset="-127"/>
              </a:rPr>
              <a:t>(1) </a:t>
            </a:r>
            <a:r>
              <a:rPr lang="en-US" altLang="ko-KR" sz="1200" dirty="0" err="1">
                <a:latin typeface="Arial (Body)"/>
                <a:ea typeface="맑은 고딕" pitchFamily="50" charset="-127"/>
              </a:rPr>
              <a:t>Xác</a:t>
            </a:r>
            <a:r>
              <a:rPr lang="en-US" altLang="ko-KR" sz="1200" dirty="0">
                <a:latin typeface="Arial (Body)"/>
                <a:ea typeface="맑은 고딕" pitchFamily="50" charset="-127"/>
              </a:rPr>
              <a:t> </a:t>
            </a:r>
            <a:r>
              <a:rPr lang="en-US" altLang="ko-KR" sz="1200" dirty="0" err="1">
                <a:latin typeface="Arial (Body)"/>
                <a:ea typeface="맑은 고딕" pitchFamily="50" charset="-127"/>
              </a:rPr>
              <a:t>suất</a:t>
            </a:r>
            <a:r>
              <a:rPr lang="en-US" altLang="ko-KR" sz="1200" dirty="0">
                <a:latin typeface="Arial (Body)"/>
                <a:ea typeface="맑은 고딕" pitchFamily="50" charset="-127"/>
              </a:rPr>
              <a:t> </a:t>
            </a:r>
            <a:r>
              <a:rPr lang="en-US" altLang="ko-KR" sz="1200" dirty="0" err="1">
                <a:latin typeface="Arial (Body)"/>
                <a:ea typeface="맑은 고딕" pitchFamily="50" charset="-127"/>
              </a:rPr>
              <a:t>của</a:t>
            </a:r>
            <a:r>
              <a:rPr lang="en-US" altLang="ko-KR" sz="1200" dirty="0">
                <a:latin typeface="Arial (Body)"/>
                <a:ea typeface="맑은 고딕" pitchFamily="50" charset="-127"/>
              </a:rPr>
              <a:t> </a:t>
            </a:r>
            <a:r>
              <a:rPr lang="en-US" altLang="ko-KR" sz="1200" dirty="0" err="1">
                <a:latin typeface="Arial (Body)"/>
                <a:ea typeface="맑은 고딕" pitchFamily="50" charset="-127"/>
              </a:rPr>
              <a:t>sản</a:t>
            </a:r>
            <a:r>
              <a:rPr lang="en-US" altLang="ko-KR" sz="1200" dirty="0">
                <a:latin typeface="Arial (Body)"/>
                <a:ea typeface="맑은 고딕" pitchFamily="50" charset="-127"/>
              </a:rPr>
              <a:t> </a:t>
            </a:r>
            <a:r>
              <a:rPr lang="en-US" altLang="ko-KR" sz="1200" dirty="0" err="1">
                <a:latin typeface="Arial (Body)"/>
                <a:ea typeface="맑은 고딕" pitchFamily="50" charset="-127"/>
              </a:rPr>
              <a:t>phẩm</a:t>
            </a:r>
            <a:r>
              <a:rPr lang="en-US" altLang="ko-KR" sz="1200" dirty="0">
                <a:latin typeface="Arial (Body)"/>
                <a:ea typeface="맑은 고딕" pitchFamily="50" charset="-127"/>
              </a:rPr>
              <a:t> </a:t>
            </a:r>
            <a:r>
              <a:rPr lang="en-US" altLang="ko-KR" sz="1200" dirty="0" err="1">
                <a:latin typeface="Arial (Body)"/>
                <a:ea typeface="맑은 고딕" pitchFamily="50" charset="-127"/>
              </a:rPr>
              <a:t>lỗi</a:t>
            </a:r>
            <a:r>
              <a:rPr lang="en-US" altLang="ko-KR" sz="1200" dirty="0">
                <a:latin typeface="Arial (Body)"/>
                <a:ea typeface="맑은 고딕" pitchFamily="50" charset="-127"/>
              </a:rPr>
              <a:t> </a:t>
            </a:r>
            <a:r>
              <a:rPr lang="en-US" altLang="ko-KR" sz="1200" dirty="0" err="1">
                <a:latin typeface="Arial (Body)"/>
                <a:ea typeface="맑은 고딕" pitchFamily="50" charset="-127"/>
              </a:rPr>
              <a:t>vì</a:t>
            </a:r>
            <a:r>
              <a:rPr lang="en-US" altLang="ko-KR" sz="1200" dirty="0">
                <a:latin typeface="Arial (Body)"/>
                <a:ea typeface="맑은 고딕" pitchFamily="50" charset="-127"/>
              </a:rPr>
              <a:t> </a:t>
            </a:r>
            <a:r>
              <a:rPr lang="en-US" altLang="ko-KR" sz="1200" dirty="0" err="1">
                <a:latin typeface="Arial (Body)"/>
                <a:ea typeface="맑은 고딕" pitchFamily="50" charset="-127"/>
              </a:rPr>
              <a:t>chiều</a:t>
            </a:r>
            <a:r>
              <a:rPr lang="en-US" altLang="ko-KR" sz="1200" dirty="0">
                <a:latin typeface="Arial (Body)"/>
                <a:ea typeface="맑은 고딕" pitchFamily="50" charset="-127"/>
              </a:rPr>
              <a:t> </a:t>
            </a:r>
            <a:r>
              <a:rPr lang="en-US" altLang="ko-KR" sz="1200" dirty="0" err="1">
                <a:latin typeface="Arial (Body)"/>
                <a:ea typeface="맑은 고딕" pitchFamily="50" charset="-127"/>
              </a:rPr>
              <a:t>dài</a:t>
            </a:r>
            <a:r>
              <a:rPr lang="en-US" altLang="ko-KR" sz="1200" dirty="0">
                <a:latin typeface="Arial (Body)"/>
                <a:ea typeface="맑은 고딕" pitchFamily="50" charset="-127"/>
              </a:rPr>
              <a:t> </a:t>
            </a:r>
            <a:r>
              <a:rPr lang="en-US" altLang="ko-KR" sz="1200" dirty="0" err="1">
                <a:latin typeface="Arial (Body)"/>
                <a:ea typeface="맑은 고딕" pitchFamily="50" charset="-127"/>
              </a:rPr>
              <a:t>lớn</a:t>
            </a:r>
            <a:r>
              <a:rPr lang="en-US" altLang="ko-KR" sz="1200" dirty="0">
                <a:latin typeface="Arial (Body)"/>
                <a:ea typeface="맑은 고딕" pitchFamily="50" charset="-127"/>
              </a:rPr>
              <a:t> </a:t>
            </a:r>
            <a:r>
              <a:rPr lang="en-US" altLang="ko-KR" sz="1200" dirty="0" err="1">
                <a:latin typeface="Arial (Body)"/>
                <a:ea typeface="맑은 고딕" pitchFamily="50" charset="-127"/>
              </a:rPr>
              <a:t>hơn</a:t>
            </a:r>
            <a:r>
              <a:rPr lang="en-US" altLang="ko-KR" sz="1200" dirty="0">
                <a:latin typeface="Arial (Body)"/>
                <a:ea typeface="맑은 고딕" pitchFamily="50" charset="-127"/>
              </a:rPr>
              <a:t> </a:t>
            </a:r>
            <a:r>
              <a:rPr lang="en-US" altLang="ko-KR" sz="1200" dirty="0" err="1">
                <a:latin typeface="Arial (Body)"/>
                <a:ea typeface="맑은 고딕" pitchFamily="50" charset="-127"/>
              </a:rPr>
              <a:t>chiều</a:t>
            </a:r>
            <a:r>
              <a:rPr lang="en-US" altLang="ko-KR" sz="1200" dirty="0">
                <a:latin typeface="Arial (Body)"/>
                <a:ea typeface="맑은 고딕" pitchFamily="50" charset="-127"/>
              </a:rPr>
              <a:t> </a:t>
            </a:r>
            <a:r>
              <a:rPr lang="en-US" altLang="ko-KR" sz="1200" dirty="0" err="1">
                <a:latin typeface="Arial (Body)"/>
                <a:ea typeface="맑은 고딕" pitchFamily="50" charset="-127"/>
              </a:rPr>
              <a:t>dài</a:t>
            </a:r>
            <a:r>
              <a:rPr lang="en-US" altLang="ko-KR" sz="1200" dirty="0">
                <a:latin typeface="Arial (Body)"/>
                <a:ea typeface="맑은 고딕" pitchFamily="50" charset="-127"/>
              </a:rPr>
              <a:t> </a:t>
            </a:r>
            <a:r>
              <a:rPr lang="en-US" altLang="ko-KR" sz="1200" dirty="0" err="1">
                <a:latin typeface="Arial (Body)"/>
                <a:ea typeface="맑은 고딕" pitchFamily="50" charset="-127"/>
              </a:rPr>
              <a:t>cho</a:t>
            </a:r>
            <a:r>
              <a:rPr lang="en-US" altLang="ko-KR" sz="1200" dirty="0">
                <a:latin typeface="Arial (Body)"/>
                <a:ea typeface="맑은 고딕" pitchFamily="50" charset="-127"/>
              </a:rPr>
              <a:t> </a:t>
            </a:r>
            <a:r>
              <a:rPr lang="en-US" altLang="ko-KR" sz="1200" dirty="0" err="1">
                <a:latin typeface="Arial (Body)"/>
                <a:ea typeface="맑은 고딕" pitchFamily="50" charset="-127"/>
              </a:rPr>
              <a:t>phép</a:t>
            </a:r>
            <a:r>
              <a:rPr lang="en-US" altLang="ko-KR" sz="1200" dirty="0">
                <a:latin typeface="Arial (Body)"/>
                <a:ea typeface="맑은 고딕" pitchFamily="50" charset="-127"/>
              </a:rPr>
              <a:t> </a:t>
            </a:r>
            <a:r>
              <a:rPr lang="en-US" altLang="ko-KR" sz="1200" dirty="0" err="1">
                <a:latin typeface="Arial (Body)"/>
                <a:ea typeface="맑은 고딕" pitchFamily="50" charset="-127"/>
              </a:rPr>
              <a:t>là</a:t>
            </a:r>
            <a:r>
              <a:rPr lang="en-US" altLang="ko-KR" sz="1200" dirty="0">
                <a:latin typeface="Arial (Body)"/>
                <a:ea typeface="맑은 고딕" pitchFamily="50" charset="-127"/>
              </a:rPr>
              <a:t> </a:t>
            </a:r>
            <a:r>
              <a:rPr lang="en-US" altLang="ko-KR" sz="1200" dirty="0" err="1">
                <a:latin typeface="Arial (Body)"/>
                <a:ea typeface="맑은 고딕" pitchFamily="50" charset="-127"/>
              </a:rPr>
              <a:t>gì</a:t>
            </a:r>
            <a:r>
              <a:rPr lang="en-US" altLang="ko-KR" sz="1200" dirty="0">
                <a:latin typeface="Arial (Body)"/>
                <a:ea typeface="맑은 고딕" pitchFamily="50" charset="-127"/>
              </a:rPr>
              <a:t> (45,55)?</a:t>
            </a:r>
          </a:p>
          <a:p>
            <a:pPr eaLnBrk="1" hangingPunct="1">
              <a:spcBef>
                <a:spcPct val="50000"/>
              </a:spcBef>
            </a:pPr>
            <a:r>
              <a:rPr lang="en-US" altLang="ko-KR" sz="1200" dirty="0">
                <a:latin typeface="Arial (Body)"/>
                <a:ea typeface="맑은 고딕" pitchFamily="50" charset="-127"/>
              </a:rPr>
              <a:t>(2) </a:t>
            </a:r>
            <a:r>
              <a:rPr lang="en-US" altLang="ko-KR" sz="1200" dirty="0" err="1">
                <a:latin typeface="Arial (Body)"/>
                <a:ea typeface="맑은 고딕" pitchFamily="50" charset="-127"/>
              </a:rPr>
              <a:t>Xác</a:t>
            </a:r>
            <a:r>
              <a:rPr lang="en-US" altLang="ko-KR" sz="1200" dirty="0">
                <a:latin typeface="Arial (Body)"/>
                <a:ea typeface="맑은 고딕" pitchFamily="50" charset="-127"/>
              </a:rPr>
              <a:t> </a:t>
            </a:r>
            <a:r>
              <a:rPr lang="en-US" altLang="ko-KR" sz="1200" dirty="0" err="1">
                <a:latin typeface="Arial (Body)"/>
                <a:ea typeface="맑은 고딕" pitchFamily="50" charset="-127"/>
              </a:rPr>
              <a:t>suất</a:t>
            </a:r>
            <a:r>
              <a:rPr lang="en-US" altLang="ko-KR" sz="1200" dirty="0">
                <a:latin typeface="Arial (Body)"/>
                <a:ea typeface="맑은 고딕" pitchFamily="50" charset="-127"/>
              </a:rPr>
              <a:t> </a:t>
            </a:r>
            <a:r>
              <a:rPr lang="en-US" altLang="ko-KR" sz="1200" dirty="0" err="1">
                <a:latin typeface="Arial (Body)"/>
                <a:ea typeface="맑은 고딕" pitchFamily="50" charset="-127"/>
              </a:rPr>
              <a:t>của</a:t>
            </a:r>
            <a:r>
              <a:rPr lang="en-US" altLang="ko-KR" sz="1200" dirty="0">
                <a:latin typeface="Arial (Body)"/>
                <a:ea typeface="맑은 고딕" pitchFamily="50" charset="-127"/>
              </a:rPr>
              <a:t> </a:t>
            </a:r>
            <a:r>
              <a:rPr lang="en-US" altLang="ko-KR" sz="1200" dirty="0" err="1">
                <a:latin typeface="Arial (Body)"/>
                <a:ea typeface="맑은 고딕" pitchFamily="50" charset="-127"/>
              </a:rPr>
              <a:t>sản</a:t>
            </a:r>
            <a:r>
              <a:rPr lang="en-US" altLang="ko-KR" sz="1200" dirty="0">
                <a:latin typeface="Arial (Body)"/>
                <a:ea typeface="맑은 고딕" pitchFamily="50" charset="-127"/>
              </a:rPr>
              <a:t> </a:t>
            </a:r>
            <a:r>
              <a:rPr lang="en-US" altLang="ko-KR" sz="1200" dirty="0" err="1">
                <a:latin typeface="Arial (Body)"/>
                <a:ea typeface="맑은 고딕" pitchFamily="50" charset="-127"/>
              </a:rPr>
              <a:t>phẩm</a:t>
            </a:r>
            <a:r>
              <a:rPr lang="en-US" altLang="ko-KR" sz="1200" dirty="0">
                <a:latin typeface="Arial (Body)"/>
                <a:ea typeface="맑은 고딕" pitchFamily="50" charset="-127"/>
              </a:rPr>
              <a:t> </a:t>
            </a:r>
            <a:r>
              <a:rPr lang="en-US" altLang="ko-KR" sz="1200" dirty="0" err="1">
                <a:latin typeface="Arial (Body)"/>
                <a:ea typeface="맑은 고딕" pitchFamily="50" charset="-127"/>
              </a:rPr>
              <a:t>lỗi</a:t>
            </a:r>
            <a:r>
              <a:rPr lang="en-US" altLang="ko-KR" sz="1200" dirty="0">
                <a:latin typeface="Arial (Body)"/>
                <a:ea typeface="맑은 고딕" pitchFamily="50" charset="-127"/>
              </a:rPr>
              <a:t> </a:t>
            </a:r>
            <a:r>
              <a:rPr lang="en-US" altLang="ko-KR" sz="1200" dirty="0" err="1">
                <a:latin typeface="Arial (Body)"/>
                <a:ea typeface="맑은 고딕" pitchFamily="50" charset="-127"/>
              </a:rPr>
              <a:t>vì</a:t>
            </a:r>
            <a:r>
              <a:rPr lang="en-US" altLang="ko-KR" sz="1200" dirty="0">
                <a:latin typeface="Arial (Body)"/>
                <a:ea typeface="맑은 고딕" pitchFamily="50" charset="-127"/>
              </a:rPr>
              <a:t> </a:t>
            </a:r>
            <a:r>
              <a:rPr lang="en-US" altLang="ko-KR" sz="1200" dirty="0" err="1">
                <a:latin typeface="Arial (Body)"/>
                <a:ea typeface="맑은 고딕" pitchFamily="50" charset="-127"/>
              </a:rPr>
              <a:t>chiều</a:t>
            </a:r>
            <a:r>
              <a:rPr lang="en-US" altLang="ko-KR" sz="1200" dirty="0">
                <a:latin typeface="Arial (Body)"/>
                <a:ea typeface="맑은 고딕" pitchFamily="50" charset="-127"/>
              </a:rPr>
              <a:t> </a:t>
            </a:r>
            <a:r>
              <a:rPr lang="en-US" altLang="ko-KR" sz="1200" dirty="0" err="1">
                <a:latin typeface="Arial (Body)"/>
                <a:ea typeface="맑은 고딕" pitchFamily="50" charset="-127"/>
              </a:rPr>
              <a:t>dài</a:t>
            </a:r>
            <a:r>
              <a:rPr lang="en-US" altLang="ko-KR" sz="1200" dirty="0">
                <a:latin typeface="Arial (Body)"/>
                <a:ea typeface="맑은 고딕" pitchFamily="50" charset="-127"/>
              </a:rPr>
              <a:t> </a:t>
            </a:r>
            <a:r>
              <a:rPr lang="en-US" altLang="ko-KR" sz="1200" dirty="0" err="1">
                <a:latin typeface="Arial (Body)"/>
                <a:ea typeface="맑은 고딕" pitchFamily="50" charset="-127"/>
              </a:rPr>
              <a:t>nhỏ</a:t>
            </a:r>
            <a:r>
              <a:rPr lang="en-US" altLang="ko-KR" sz="1200" dirty="0">
                <a:latin typeface="Arial (Body)"/>
                <a:ea typeface="맑은 고딕" pitchFamily="50" charset="-127"/>
              </a:rPr>
              <a:t> </a:t>
            </a:r>
            <a:r>
              <a:rPr lang="en-US" altLang="ko-KR" sz="1200" dirty="0" err="1">
                <a:latin typeface="Arial (Body)"/>
                <a:ea typeface="맑은 고딕" pitchFamily="50" charset="-127"/>
              </a:rPr>
              <a:t>hơn</a:t>
            </a:r>
            <a:r>
              <a:rPr lang="en-US" altLang="ko-KR" sz="1200" dirty="0">
                <a:latin typeface="Arial (Body)"/>
                <a:ea typeface="맑은 고딕" pitchFamily="50" charset="-127"/>
              </a:rPr>
              <a:t> </a:t>
            </a:r>
            <a:r>
              <a:rPr lang="en-US" altLang="ko-KR" sz="1200" dirty="0" err="1">
                <a:latin typeface="Arial (Body)"/>
                <a:ea typeface="맑은 고딕" pitchFamily="50" charset="-127"/>
              </a:rPr>
              <a:t>chiều</a:t>
            </a:r>
            <a:r>
              <a:rPr lang="en-US" altLang="ko-KR" sz="1200" dirty="0">
                <a:latin typeface="Arial (Body)"/>
                <a:ea typeface="맑은 고딕" pitchFamily="50" charset="-127"/>
              </a:rPr>
              <a:t> </a:t>
            </a:r>
            <a:r>
              <a:rPr lang="en-US" altLang="ko-KR" sz="1200" dirty="0" err="1">
                <a:latin typeface="Arial (Body)"/>
                <a:ea typeface="맑은 고딕" pitchFamily="50" charset="-127"/>
              </a:rPr>
              <a:t>dài</a:t>
            </a:r>
            <a:r>
              <a:rPr lang="en-US" altLang="ko-KR" sz="1200" dirty="0">
                <a:latin typeface="Arial (Body)"/>
                <a:ea typeface="맑은 고딕" pitchFamily="50" charset="-127"/>
              </a:rPr>
              <a:t> </a:t>
            </a:r>
            <a:r>
              <a:rPr lang="en-US" altLang="ko-KR" sz="1200" dirty="0" err="1">
                <a:latin typeface="Arial (Body)"/>
                <a:ea typeface="맑은 고딕" pitchFamily="50" charset="-127"/>
              </a:rPr>
              <a:t>cho</a:t>
            </a:r>
            <a:r>
              <a:rPr lang="en-US" altLang="ko-KR" sz="1200" dirty="0">
                <a:latin typeface="Arial (Body)"/>
                <a:ea typeface="맑은 고딕" pitchFamily="50" charset="-127"/>
              </a:rPr>
              <a:t> </a:t>
            </a:r>
            <a:r>
              <a:rPr lang="en-US" altLang="ko-KR" sz="1200" dirty="0" err="1">
                <a:latin typeface="Arial (Body)"/>
                <a:ea typeface="맑은 고딕" pitchFamily="50" charset="-127"/>
              </a:rPr>
              <a:t>phép</a:t>
            </a:r>
            <a:r>
              <a:rPr lang="en-US" altLang="ko-KR" sz="1200" dirty="0">
                <a:latin typeface="Arial (Body)"/>
                <a:ea typeface="맑은 고딕" pitchFamily="50" charset="-127"/>
              </a:rPr>
              <a:t> </a:t>
            </a:r>
            <a:r>
              <a:rPr lang="en-US" altLang="ko-KR" sz="1200" dirty="0" err="1">
                <a:latin typeface="Arial (Body)"/>
                <a:ea typeface="맑은 고딕" pitchFamily="50" charset="-127"/>
              </a:rPr>
              <a:t>là</a:t>
            </a:r>
            <a:r>
              <a:rPr lang="en-US" altLang="ko-KR" sz="1200" dirty="0">
                <a:latin typeface="Arial (Body)"/>
                <a:ea typeface="맑은 고딕" pitchFamily="50" charset="-127"/>
              </a:rPr>
              <a:t> </a:t>
            </a:r>
            <a:r>
              <a:rPr lang="en-US" altLang="ko-KR" sz="1200" dirty="0" err="1">
                <a:latin typeface="Arial (Body)"/>
                <a:ea typeface="맑은 고딕" pitchFamily="50" charset="-127"/>
              </a:rPr>
              <a:t>gì</a:t>
            </a:r>
            <a:r>
              <a:rPr lang="en-US" altLang="ko-KR" sz="1200" dirty="0">
                <a:latin typeface="Arial (Body)"/>
                <a:ea typeface="맑은 고딕" pitchFamily="50" charset="-127"/>
              </a:rPr>
              <a:t> (45,55)?</a:t>
            </a:r>
          </a:p>
          <a:p>
            <a:pPr eaLnBrk="1" hangingPunct="1">
              <a:spcBef>
                <a:spcPct val="50000"/>
              </a:spcBef>
            </a:pPr>
            <a:r>
              <a:rPr lang="en-US" altLang="ko-KR" sz="1200" dirty="0">
                <a:latin typeface="Arial (Body)"/>
                <a:ea typeface="맑은 고딕" pitchFamily="50" charset="-127"/>
              </a:rPr>
              <a:t>(3) </a:t>
            </a:r>
            <a:r>
              <a:rPr lang="en-US" altLang="ko-KR" sz="1200" dirty="0" err="1">
                <a:latin typeface="Arial (Body)"/>
                <a:ea typeface="맑은 고딕" pitchFamily="50" charset="-127"/>
              </a:rPr>
              <a:t>Xác</a:t>
            </a:r>
            <a:r>
              <a:rPr lang="en-US" altLang="ko-KR" sz="1200" dirty="0">
                <a:latin typeface="Arial (Body)"/>
                <a:ea typeface="맑은 고딕" pitchFamily="50" charset="-127"/>
              </a:rPr>
              <a:t> </a:t>
            </a:r>
            <a:r>
              <a:rPr lang="en-US" altLang="ko-KR" sz="1200" dirty="0" err="1">
                <a:latin typeface="Arial (Body)"/>
                <a:ea typeface="맑은 고딕" pitchFamily="50" charset="-127"/>
              </a:rPr>
              <a:t>suất</a:t>
            </a:r>
            <a:r>
              <a:rPr lang="en-US" altLang="ko-KR" sz="1200" dirty="0">
                <a:latin typeface="Arial (Body)"/>
                <a:ea typeface="맑은 고딕" pitchFamily="50" charset="-127"/>
              </a:rPr>
              <a:t> </a:t>
            </a:r>
            <a:r>
              <a:rPr lang="en-US" altLang="ko-KR" sz="1200" dirty="0" err="1">
                <a:latin typeface="Arial (Body)"/>
                <a:ea typeface="맑은 고딕" pitchFamily="50" charset="-127"/>
              </a:rPr>
              <a:t>của</a:t>
            </a:r>
            <a:r>
              <a:rPr lang="en-US" altLang="ko-KR" sz="1200" dirty="0">
                <a:latin typeface="Arial (Body)"/>
                <a:ea typeface="맑은 고딕" pitchFamily="50" charset="-127"/>
              </a:rPr>
              <a:t> </a:t>
            </a:r>
            <a:r>
              <a:rPr lang="en-US" altLang="ko-KR" sz="1200" dirty="0" err="1">
                <a:latin typeface="Arial (Body)"/>
                <a:ea typeface="맑은 고딕" pitchFamily="50" charset="-127"/>
              </a:rPr>
              <a:t>sản</a:t>
            </a:r>
            <a:r>
              <a:rPr lang="en-US" altLang="ko-KR" sz="1200" dirty="0">
                <a:latin typeface="Arial (Body)"/>
                <a:ea typeface="맑은 고딕" pitchFamily="50" charset="-127"/>
              </a:rPr>
              <a:t> </a:t>
            </a:r>
            <a:r>
              <a:rPr lang="en-US" altLang="ko-KR" sz="1200" dirty="0" err="1">
                <a:latin typeface="Arial (Body)"/>
                <a:ea typeface="맑은 고딕" pitchFamily="50" charset="-127"/>
              </a:rPr>
              <a:t>phẩm</a:t>
            </a:r>
            <a:r>
              <a:rPr lang="en-US" altLang="ko-KR" sz="1200" dirty="0">
                <a:latin typeface="Arial (Body)"/>
                <a:ea typeface="맑은 고딕" pitchFamily="50" charset="-127"/>
              </a:rPr>
              <a:t> </a:t>
            </a:r>
            <a:r>
              <a:rPr lang="en-US" altLang="ko-KR" sz="1200" dirty="0" err="1">
                <a:latin typeface="Arial (Body)"/>
                <a:ea typeface="맑은 고딕" pitchFamily="50" charset="-127"/>
              </a:rPr>
              <a:t>lỗi</a:t>
            </a:r>
            <a:r>
              <a:rPr lang="en-US" altLang="ko-KR" sz="1200" dirty="0">
                <a:latin typeface="Arial (Body)"/>
                <a:ea typeface="맑은 고딕" pitchFamily="50" charset="-127"/>
              </a:rPr>
              <a:t> </a:t>
            </a:r>
            <a:r>
              <a:rPr lang="en-US" altLang="ko-KR" sz="1200" dirty="0" err="1">
                <a:latin typeface="Arial (Body)"/>
                <a:ea typeface="맑은 고딕" pitchFamily="50" charset="-127"/>
              </a:rPr>
              <a:t>là</a:t>
            </a:r>
            <a:r>
              <a:rPr lang="en-US" altLang="ko-KR" sz="1200" dirty="0">
                <a:latin typeface="Arial (Body)"/>
                <a:ea typeface="맑은 고딕" pitchFamily="50" charset="-127"/>
              </a:rPr>
              <a:t> </a:t>
            </a:r>
            <a:r>
              <a:rPr lang="en-US" altLang="ko-KR" sz="1200" dirty="0" err="1">
                <a:latin typeface="Arial (Body)"/>
                <a:ea typeface="맑은 고딕" pitchFamily="50" charset="-127"/>
              </a:rPr>
              <a:t>gì</a:t>
            </a:r>
            <a:r>
              <a:rPr lang="en-US" altLang="ko-KR" sz="1200" dirty="0">
                <a:latin typeface="Arial (Body)"/>
                <a:ea typeface="맑은 고딕" pitchFamily="50" charset="-127"/>
              </a:rPr>
              <a:t> ?</a:t>
            </a:r>
          </a:p>
        </p:txBody>
      </p:sp>
      <p:sp>
        <p:nvSpPr>
          <p:cNvPr id="60419" name="Rectangle 5"/>
          <p:cNvSpPr>
            <a:spLocks noChangeArrowheads="1"/>
          </p:cNvSpPr>
          <p:nvPr/>
        </p:nvSpPr>
        <p:spPr bwMode="auto">
          <a:xfrm>
            <a:off x="188913" y="817563"/>
            <a:ext cx="865187" cy="379412"/>
          </a:xfrm>
          <a:prstGeom prst="rect">
            <a:avLst/>
          </a:prstGeom>
          <a:gradFill rotWithShape="1">
            <a:gsLst>
              <a:gs pos="0">
                <a:srgbClr val="760000"/>
              </a:gs>
              <a:gs pos="50000">
                <a:srgbClr val="FF0000"/>
              </a:gs>
              <a:gs pos="100000">
                <a:srgbClr val="760000"/>
              </a:gs>
            </a:gsLst>
            <a:lin ang="0" scaled="1"/>
          </a:gradFill>
          <a:ln>
            <a:noFill/>
          </a:ln>
          <a:extLst>
            <a:ext uri="{91240B29-F687-4F45-9708-019B960494DF}">
              <a14:hiddenLine xmlns:a14="http://schemas.microsoft.com/office/drawing/2010/main" w="9525" algn="ctr">
                <a:solidFill>
                  <a:srgbClr val="000000"/>
                </a:solidFill>
                <a:miter lim="800000"/>
                <a:headEnd/>
                <a:tailEnd/>
              </a14:hiddenLine>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100" b="1" dirty="0">
                <a:solidFill>
                  <a:schemeClr val="bg1"/>
                </a:solidFill>
                <a:latin typeface="+mn-lt"/>
              </a:rPr>
              <a:t>   </a:t>
            </a:r>
            <a:r>
              <a:rPr lang="en-US" altLang="ko-KR" sz="1100" b="1" dirty="0" err="1">
                <a:solidFill>
                  <a:schemeClr val="bg1"/>
                </a:solidFill>
                <a:latin typeface="+mn-lt"/>
              </a:rPr>
              <a:t>Ví</a:t>
            </a:r>
            <a:r>
              <a:rPr lang="en-US" altLang="ko-KR" sz="1100" b="1" dirty="0">
                <a:solidFill>
                  <a:schemeClr val="bg1"/>
                </a:solidFill>
                <a:latin typeface="+mn-lt"/>
              </a:rPr>
              <a:t> </a:t>
            </a:r>
            <a:r>
              <a:rPr lang="en-US" altLang="ko-KR" sz="1100" b="1" dirty="0" err="1">
                <a:solidFill>
                  <a:schemeClr val="bg1"/>
                </a:solidFill>
                <a:latin typeface="+mn-lt"/>
              </a:rPr>
              <a:t>dụ</a:t>
            </a:r>
            <a:endParaRPr lang="en-US" altLang="ko-KR" sz="1100" b="1" dirty="0">
              <a:solidFill>
                <a:schemeClr val="bg1"/>
              </a:solidFill>
              <a:latin typeface="+mn-lt"/>
            </a:endParaRPr>
          </a:p>
        </p:txBody>
      </p:sp>
      <p:cxnSp>
        <p:nvCxnSpPr>
          <p:cNvPr id="60420" name="AutoShape 33"/>
          <p:cNvCxnSpPr>
            <a:cxnSpLocks noChangeShapeType="1"/>
          </p:cNvCxnSpPr>
          <p:nvPr/>
        </p:nvCxnSpPr>
        <p:spPr bwMode="auto">
          <a:xfrm>
            <a:off x="3917206" y="4506044"/>
            <a:ext cx="1251396" cy="966490"/>
          </a:xfrm>
          <a:prstGeom prst="curvedConnector3">
            <a:avLst>
              <a:gd name="adj1" fmla="val 50000"/>
            </a:avLst>
          </a:prstGeom>
          <a:noFill/>
          <a:ln w="28575">
            <a:solidFill>
              <a:srgbClr val="0000FF"/>
            </a:solidFill>
            <a:prstDash val="sysDot"/>
            <a:round/>
            <a:headEnd/>
            <a:tailEnd type="triangle" w="med" len="med"/>
          </a:ln>
          <a:extLst>
            <a:ext uri="{909E8E84-426E-40DD-AFC4-6F175D3DCCD1}">
              <a14:hiddenFill xmlns:a14="http://schemas.microsoft.com/office/drawing/2010/main">
                <a:noFill/>
              </a14:hiddenFill>
            </a:ext>
          </a:extLst>
        </p:spPr>
      </p:cxnSp>
      <p:sp>
        <p:nvSpPr>
          <p:cNvPr id="60421" name="Text Box 34"/>
          <p:cNvSpPr txBox="1">
            <a:spLocks noChangeArrowheads="1"/>
          </p:cNvSpPr>
          <p:nvPr/>
        </p:nvSpPr>
        <p:spPr bwMode="auto">
          <a:xfrm>
            <a:off x="2144267" y="4896569"/>
            <a:ext cx="21602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err="1">
                <a:solidFill>
                  <a:srgbClr val="0000FF"/>
                </a:solidFill>
                <a:latin typeface="+mn-lt"/>
                <a:ea typeface="맑은 고딕" pitchFamily="50" charset="-127"/>
              </a:rPr>
              <a:t>Chuẩn</a:t>
            </a:r>
            <a:r>
              <a:rPr lang="en-US" altLang="ko-KR" sz="1200" b="1" dirty="0">
                <a:solidFill>
                  <a:srgbClr val="0000FF"/>
                </a:solidFill>
                <a:latin typeface="+mn-lt"/>
                <a:ea typeface="맑은 고딕" pitchFamily="50" charset="-127"/>
              </a:rPr>
              <a:t> </a:t>
            </a:r>
            <a:r>
              <a:rPr lang="en-US" altLang="ko-KR" sz="1200" b="1" dirty="0" err="1">
                <a:solidFill>
                  <a:srgbClr val="0000FF"/>
                </a:solidFill>
                <a:latin typeface="+mn-lt"/>
                <a:ea typeface="맑은 고딕" pitchFamily="50" charset="-127"/>
              </a:rPr>
              <a:t>hóa</a:t>
            </a:r>
            <a:endParaRPr lang="ko-KR" altLang="en-US" sz="1200" b="1" dirty="0">
              <a:solidFill>
                <a:srgbClr val="0000FF"/>
              </a:solidFill>
              <a:latin typeface="+mn-lt"/>
              <a:ea typeface="맑은 고딕" pitchFamily="50" charset="-127"/>
            </a:endParaRPr>
          </a:p>
        </p:txBody>
      </p:sp>
      <p:grpSp>
        <p:nvGrpSpPr>
          <p:cNvPr id="60422" name="Group 37"/>
          <p:cNvGrpSpPr>
            <a:grpSpLocks/>
          </p:cNvGrpSpPr>
          <p:nvPr/>
        </p:nvGrpSpPr>
        <p:grpSpPr bwMode="auto">
          <a:xfrm>
            <a:off x="2201118" y="2704231"/>
            <a:ext cx="4767263" cy="1682750"/>
            <a:chOff x="797" y="1522"/>
            <a:chExt cx="3003" cy="1060"/>
          </a:xfrm>
        </p:grpSpPr>
        <p:grpSp>
          <p:nvGrpSpPr>
            <p:cNvPr id="60444" name="Group 8"/>
            <p:cNvGrpSpPr>
              <a:grpSpLocks/>
            </p:cNvGrpSpPr>
            <p:nvPr/>
          </p:nvGrpSpPr>
          <p:grpSpPr bwMode="auto">
            <a:xfrm>
              <a:off x="797" y="1522"/>
              <a:ext cx="2086" cy="907"/>
              <a:chOff x="1261" y="1557"/>
              <a:chExt cx="2086" cy="907"/>
            </a:xfrm>
          </p:grpSpPr>
          <p:pic>
            <p:nvPicPr>
              <p:cNvPr id="60453" name="Picture 6"/>
              <p:cNvPicPr>
                <a:picLocks noChangeAspect="1" noChangeArrowheads="1"/>
              </p:cNvPicPr>
              <p:nvPr/>
            </p:nvPicPr>
            <p:blipFill>
              <a:blip r:embed="rId3" cstate="print">
                <a:clrChange>
                  <a:clrFrom>
                    <a:srgbClr val="FFFFFF"/>
                  </a:clrFrom>
                  <a:clrTo>
                    <a:srgbClr val="FFFFFF">
                      <a:alpha val="0"/>
                    </a:srgbClr>
                  </a:clrTo>
                </a:clrChange>
                <a:lum bright="6000" contrast="62000"/>
                <a:extLst>
                  <a:ext uri="{28A0092B-C50C-407E-A947-70E740481C1C}">
                    <a14:useLocalDpi xmlns:a14="http://schemas.microsoft.com/office/drawing/2010/main"/>
                  </a:ext>
                </a:extLst>
              </a:blip>
              <a:srcRect/>
              <a:stretch>
                <a:fillRect/>
              </a:stretch>
            </p:blipFill>
            <p:spPr bwMode="auto">
              <a:xfrm>
                <a:off x="1261" y="1557"/>
                <a:ext cx="2086" cy="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54" name="Line 7"/>
              <p:cNvSpPr>
                <a:spLocks noChangeShapeType="1"/>
              </p:cNvSpPr>
              <p:nvPr/>
            </p:nvSpPr>
            <p:spPr bwMode="auto">
              <a:xfrm>
                <a:off x="1261" y="2432"/>
                <a:ext cx="2086"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mn-lt"/>
                </a:endParaRPr>
              </a:p>
            </p:txBody>
          </p:sp>
        </p:grpSp>
        <p:sp>
          <p:nvSpPr>
            <p:cNvPr id="60445" name="Text Box 9"/>
            <p:cNvSpPr txBox="1">
              <a:spLocks noChangeArrowheads="1"/>
            </p:cNvSpPr>
            <p:nvPr/>
          </p:nvSpPr>
          <p:spPr bwMode="auto">
            <a:xfrm>
              <a:off x="1697" y="2401"/>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50</a:t>
              </a:r>
            </a:p>
          </p:txBody>
        </p:sp>
        <p:sp>
          <p:nvSpPr>
            <p:cNvPr id="60446" name="Text Box 10"/>
            <p:cNvSpPr txBox="1">
              <a:spLocks noChangeArrowheads="1"/>
            </p:cNvSpPr>
            <p:nvPr/>
          </p:nvSpPr>
          <p:spPr bwMode="auto">
            <a:xfrm>
              <a:off x="1816" y="1703"/>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5</a:t>
              </a:r>
            </a:p>
          </p:txBody>
        </p:sp>
        <p:sp>
          <p:nvSpPr>
            <p:cNvPr id="60447" name="Line 12"/>
            <p:cNvSpPr>
              <a:spLocks noChangeShapeType="1"/>
            </p:cNvSpPr>
            <p:nvPr/>
          </p:nvSpPr>
          <p:spPr bwMode="auto">
            <a:xfrm>
              <a:off x="1840" y="1835"/>
              <a:ext cx="227" cy="0"/>
            </a:xfrm>
            <a:prstGeom prst="line">
              <a:avLst/>
            </a:prstGeom>
            <a:noFill/>
            <a:ln w="12700">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mn-lt"/>
              </a:endParaRPr>
            </a:p>
          </p:txBody>
        </p:sp>
        <p:sp>
          <p:nvSpPr>
            <p:cNvPr id="60448" name="Text Box 13"/>
            <p:cNvSpPr txBox="1">
              <a:spLocks noChangeArrowheads="1"/>
            </p:cNvSpPr>
            <p:nvPr/>
          </p:nvSpPr>
          <p:spPr bwMode="auto">
            <a:xfrm>
              <a:off x="1930" y="2401"/>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55</a:t>
              </a:r>
            </a:p>
          </p:txBody>
        </p:sp>
        <p:sp>
          <p:nvSpPr>
            <p:cNvPr id="60449" name="Line 14"/>
            <p:cNvSpPr>
              <a:spLocks noChangeShapeType="1"/>
            </p:cNvSpPr>
            <p:nvPr/>
          </p:nvSpPr>
          <p:spPr bwMode="auto">
            <a:xfrm>
              <a:off x="2059" y="1857"/>
              <a:ext cx="0" cy="54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mn-lt"/>
              </a:endParaRPr>
            </a:p>
          </p:txBody>
        </p:sp>
        <p:sp>
          <p:nvSpPr>
            <p:cNvPr id="60450" name="Text Box 17"/>
            <p:cNvSpPr txBox="1">
              <a:spLocks noChangeArrowheads="1"/>
            </p:cNvSpPr>
            <p:nvPr/>
          </p:nvSpPr>
          <p:spPr bwMode="auto">
            <a:xfrm>
              <a:off x="1446" y="2401"/>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45</a:t>
              </a:r>
            </a:p>
          </p:txBody>
        </p:sp>
        <p:sp>
          <p:nvSpPr>
            <p:cNvPr id="60451" name="Line 35"/>
            <p:cNvSpPr>
              <a:spLocks noChangeShapeType="1"/>
            </p:cNvSpPr>
            <p:nvPr/>
          </p:nvSpPr>
          <p:spPr bwMode="auto">
            <a:xfrm>
              <a:off x="1585" y="1854"/>
              <a:ext cx="0" cy="54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mn-lt"/>
              </a:endParaRPr>
            </a:p>
          </p:txBody>
        </p:sp>
        <p:sp>
          <p:nvSpPr>
            <p:cNvPr id="60452" name="Text Box 36"/>
            <p:cNvSpPr txBox="1">
              <a:spLocks noChangeArrowheads="1"/>
            </p:cNvSpPr>
            <p:nvPr/>
          </p:nvSpPr>
          <p:spPr bwMode="auto">
            <a:xfrm>
              <a:off x="2394" y="2408"/>
              <a:ext cx="140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err="1">
                  <a:latin typeface="+mn-lt"/>
                  <a:ea typeface="맑은 고딕" pitchFamily="50" charset="-127"/>
                </a:rPr>
                <a:t>Chiều</a:t>
              </a:r>
              <a:r>
                <a:rPr lang="en-US" altLang="ko-KR" sz="1200" dirty="0">
                  <a:latin typeface="+mn-lt"/>
                  <a:ea typeface="맑은 고딕" pitchFamily="50" charset="-127"/>
                </a:rPr>
                <a:t> </a:t>
              </a:r>
              <a:r>
                <a:rPr lang="en-US" altLang="ko-KR" sz="1200" dirty="0" err="1">
                  <a:latin typeface="+mn-lt"/>
                  <a:ea typeface="맑은 고딕" pitchFamily="50" charset="-127"/>
                </a:rPr>
                <a:t>dài</a:t>
              </a:r>
              <a:r>
                <a:rPr lang="en-US" altLang="ko-KR" sz="1200" dirty="0">
                  <a:latin typeface="+mn-lt"/>
                  <a:ea typeface="맑은 고딕" pitchFamily="50" charset="-127"/>
                </a:rPr>
                <a:t> </a:t>
              </a:r>
              <a:r>
                <a:rPr lang="en-US" altLang="ko-KR" sz="1200" dirty="0" err="1">
                  <a:latin typeface="+mn-lt"/>
                  <a:ea typeface="맑은 고딕" pitchFamily="50" charset="-127"/>
                </a:rPr>
                <a:t>của</a:t>
              </a:r>
              <a:r>
                <a:rPr lang="en-US" altLang="ko-KR" sz="1200" dirty="0">
                  <a:latin typeface="+mn-lt"/>
                  <a:ea typeface="맑은 고딕" pitchFamily="50" charset="-127"/>
                </a:rPr>
                <a:t> </a:t>
              </a:r>
              <a:r>
                <a:rPr lang="en-US" altLang="ko-KR" sz="1200" dirty="0" err="1">
                  <a:latin typeface="+mn-lt"/>
                  <a:ea typeface="맑은 고딕" pitchFamily="50" charset="-127"/>
                </a:rPr>
                <a:t>sản</a:t>
              </a:r>
              <a:r>
                <a:rPr lang="en-US" altLang="ko-KR" sz="1200" dirty="0">
                  <a:latin typeface="+mn-lt"/>
                  <a:ea typeface="맑은 고딕" pitchFamily="50" charset="-127"/>
                </a:rPr>
                <a:t> </a:t>
              </a:r>
              <a:r>
                <a:rPr lang="en-US" altLang="ko-KR" sz="1200" dirty="0" err="1">
                  <a:latin typeface="+mn-lt"/>
                  <a:ea typeface="맑은 고딕" pitchFamily="50" charset="-127"/>
                </a:rPr>
                <a:t>phẩm</a:t>
              </a:r>
              <a:r>
                <a:rPr lang="en-US" altLang="ko-KR" sz="1200" dirty="0">
                  <a:latin typeface="+mn-lt"/>
                  <a:ea typeface="맑은 고딕" pitchFamily="50" charset="-127"/>
                </a:rPr>
                <a:t> (Cm)</a:t>
              </a:r>
            </a:p>
          </p:txBody>
        </p:sp>
      </p:grpSp>
      <p:grpSp>
        <p:nvGrpSpPr>
          <p:cNvPr id="60423" name="Group 38"/>
          <p:cNvGrpSpPr>
            <a:grpSpLocks/>
          </p:cNvGrpSpPr>
          <p:nvPr/>
        </p:nvGrpSpPr>
        <p:grpSpPr bwMode="auto">
          <a:xfrm>
            <a:off x="4261693" y="4842594"/>
            <a:ext cx="4003675" cy="1682750"/>
            <a:chOff x="797" y="1522"/>
            <a:chExt cx="2522" cy="1060"/>
          </a:xfrm>
        </p:grpSpPr>
        <p:grpSp>
          <p:nvGrpSpPr>
            <p:cNvPr id="60433" name="Group 39"/>
            <p:cNvGrpSpPr>
              <a:grpSpLocks/>
            </p:cNvGrpSpPr>
            <p:nvPr/>
          </p:nvGrpSpPr>
          <p:grpSpPr bwMode="auto">
            <a:xfrm>
              <a:off x="797" y="1522"/>
              <a:ext cx="2086" cy="907"/>
              <a:chOff x="1261" y="1557"/>
              <a:chExt cx="2086" cy="907"/>
            </a:xfrm>
          </p:grpSpPr>
          <p:pic>
            <p:nvPicPr>
              <p:cNvPr id="60442" name="Picture 40"/>
              <p:cNvPicPr>
                <a:picLocks noChangeAspect="1" noChangeArrowheads="1"/>
              </p:cNvPicPr>
              <p:nvPr/>
            </p:nvPicPr>
            <p:blipFill>
              <a:blip r:embed="rId3" cstate="print">
                <a:clrChange>
                  <a:clrFrom>
                    <a:srgbClr val="FFFFFF"/>
                  </a:clrFrom>
                  <a:clrTo>
                    <a:srgbClr val="FFFFFF">
                      <a:alpha val="0"/>
                    </a:srgbClr>
                  </a:clrTo>
                </a:clrChange>
                <a:lum bright="6000" contrast="62000"/>
                <a:extLst>
                  <a:ext uri="{28A0092B-C50C-407E-A947-70E740481C1C}">
                    <a14:useLocalDpi xmlns:a14="http://schemas.microsoft.com/office/drawing/2010/main"/>
                  </a:ext>
                </a:extLst>
              </a:blip>
              <a:srcRect/>
              <a:stretch>
                <a:fillRect/>
              </a:stretch>
            </p:blipFill>
            <p:spPr bwMode="auto">
              <a:xfrm>
                <a:off x="1261" y="1557"/>
                <a:ext cx="2086" cy="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43" name="Line 41"/>
              <p:cNvSpPr>
                <a:spLocks noChangeShapeType="1"/>
              </p:cNvSpPr>
              <p:nvPr/>
            </p:nvSpPr>
            <p:spPr bwMode="auto">
              <a:xfrm>
                <a:off x="1261" y="2432"/>
                <a:ext cx="2086"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mn-lt"/>
                </a:endParaRPr>
              </a:p>
            </p:txBody>
          </p:sp>
        </p:grpSp>
        <p:sp>
          <p:nvSpPr>
            <p:cNvPr id="60434" name="Text Box 42"/>
            <p:cNvSpPr txBox="1">
              <a:spLocks noChangeArrowheads="1"/>
            </p:cNvSpPr>
            <p:nvPr/>
          </p:nvSpPr>
          <p:spPr bwMode="auto">
            <a:xfrm>
              <a:off x="1697" y="2401"/>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0</a:t>
              </a:r>
            </a:p>
          </p:txBody>
        </p:sp>
        <p:sp>
          <p:nvSpPr>
            <p:cNvPr id="60435" name="Text Box 43"/>
            <p:cNvSpPr txBox="1">
              <a:spLocks noChangeArrowheads="1"/>
            </p:cNvSpPr>
            <p:nvPr/>
          </p:nvSpPr>
          <p:spPr bwMode="auto">
            <a:xfrm>
              <a:off x="1816" y="1703"/>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1</a:t>
              </a:r>
            </a:p>
          </p:txBody>
        </p:sp>
        <p:sp>
          <p:nvSpPr>
            <p:cNvPr id="60436" name="Line 44"/>
            <p:cNvSpPr>
              <a:spLocks noChangeShapeType="1"/>
            </p:cNvSpPr>
            <p:nvPr/>
          </p:nvSpPr>
          <p:spPr bwMode="auto">
            <a:xfrm>
              <a:off x="1840" y="1835"/>
              <a:ext cx="227" cy="0"/>
            </a:xfrm>
            <a:prstGeom prst="line">
              <a:avLst/>
            </a:prstGeom>
            <a:noFill/>
            <a:ln w="12700">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mn-lt"/>
              </a:endParaRPr>
            </a:p>
          </p:txBody>
        </p:sp>
        <p:sp>
          <p:nvSpPr>
            <p:cNvPr id="60437" name="Text Box 45"/>
            <p:cNvSpPr txBox="1">
              <a:spLocks noChangeArrowheads="1"/>
            </p:cNvSpPr>
            <p:nvPr/>
          </p:nvSpPr>
          <p:spPr bwMode="auto">
            <a:xfrm>
              <a:off x="1930" y="2401"/>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+1</a:t>
              </a:r>
            </a:p>
          </p:txBody>
        </p:sp>
        <p:sp>
          <p:nvSpPr>
            <p:cNvPr id="60438" name="Line 46"/>
            <p:cNvSpPr>
              <a:spLocks noChangeShapeType="1"/>
            </p:cNvSpPr>
            <p:nvPr/>
          </p:nvSpPr>
          <p:spPr bwMode="auto">
            <a:xfrm>
              <a:off x="2059" y="1857"/>
              <a:ext cx="0" cy="54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mn-lt"/>
              </a:endParaRPr>
            </a:p>
          </p:txBody>
        </p:sp>
        <p:sp>
          <p:nvSpPr>
            <p:cNvPr id="60439" name="Text Box 47"/>
            <p:cNvSpPr txBox="1">
              <a:spLocks noChangeArrowheads="1"/>
            </p:cNvSpPr>
            <p:nvPr/>
          </p:nvSpPr>
          <p:spPr bwMode="auto">
            <a:xfrm>
              <a:off x="1446" y="2401"/>
              <a:ext cx="2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-1</a:t>
              </a:r>
            </a:p>
          </p:txBody>
        </p:sp>
        <p:sp>
          <p:nvSpPr>
            <p:cNvPr id="60440" name="Line 48"/>
            <p:cNvSpPr>
              <a:spLocks noChangeShapeType="1"/>
            </p:cNvSpPr>
            <p:nvPr/>
          </p:nvSpPr>
          <p:spPr bwMode="auto">
            <a:xfrm>
              <a:off x="1585" y="1854"/>
              <a:ext cx="0" cy="54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ko-KR" altLang="en-US" dirty="0">
                <a:latin typeface="+mn-lt"/>
              </a:endParaRPr>
            </a:p>
          </p:txBody>
        </p:sp>
        <p:sp>
          <p:nvSpPr>
            <p:cNvPr id="60441" name="Text Box 49"/>
            <p:cNvSpPr txBox="1">
              <a:spLocks noChangeArrowheads="1"/>
            </p:cNvSpPr>
            <p:nvPr/>
          </p:nvSpPr>
          <p:spPr bwMode="auto">
            <a:xfrm>
              <a:off x="2394" y="2408"/>
              <a:ext cx="92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dirty="0">
                  <a:latin typeface="+mn-lt"/>
                  <a:ea typeface="맑은 고딕" pitchFamily="50" charset="-127"/>
                </a:rPr>
                <a:t>Z</a:t>
              </a:r>
            </a:p>
          </p:txBody>
        </p:sp>
      </p:grpSp>
      <p:sp>
        <p:nvSpPr>
          <p:cNvPr id="60424" name="Text Box 50"/>
          <p:cNvSpPr txBox="1">
            <a:spLocks noChangeArrowheads="1"/>
          </p:cNvSpPr>
          <p:nvPr/>
        </p:nvSpPr>
        <p:spPr bwMode="auto">
          <a:xfrm>
            <a:off x="2205881" y="3374156"/>
            <a:ext cx="9302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FF0000"/>
                </a:solidFill>
                <a:latin typeface="+mn-lt"/>
                <a:ea typeface="맑은 고딕" pitchFamily="50" charset="-127"/>
              </a:rPr>
              <a:t>15.87%</a:t>
            </a:r>
          </a:p>
        </p:txBody>
      </p:sp>
      <p:sp>
        <p:nvSpPr>
          <p:cNvPr id="60425" name="Text Box 51"/>
          <p:cNvSpPr txBox="1">
            <a:spLocks noChangeArrowheads="1"/>
          </p:cNvSpPr>
          <p:nvPr/>
        </p:nvSpPr>
        <p:spPr bwMode="auto">
          <a:xfrm>
            <a:off x="4669681" y="3340819"/>
            <a:ext cx="93027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FF0000"/>
                </a:solidFill>
                <a:latin typeface="+mn-lt"/>
                <a:ea typeface="맑은 고딕" pitchFamily="50" charset="-127"/>
              </a:rPr>
              <a:t>15.87%</a:t>
            </a:r>
          </a:p>
        </p:txBody>
      </p:sp>
      <p:sp>
        <p:nvSpPr>
          <p:cNvPr id="60426" name="Text Box 52"/>
          <p:cNvSpPr txBox="1">
            <a:spLocks noChangeArrowheads="1"/>
          </p:cNvSpPr>
          <p:nvPr/>
        </p:nvSpPr>
        <p:spPr bwMode="auto">
          <a:xfrm>
            <a:off x="3999756" y="5563319"/>
            <a:ext cx="93027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FF0000"/>
                </a:solidFill>
                <a:latin typeface="+mn-lt"/>
                <a:ea typeface="맑은 고딕" pitchFamily="50" charset="-127"/>
              </a:rPr>
              <a:t>15.87%</a:t>
            </a:r>
          </a:p>
        </p:txBody>
      </p:sp>
      <p:sp>
        <p:nvSpPr>
          <p:cNvPr id="60427" name="Text Box 53"/>
          <p:cNvSpPr txBox="1">
            <a:spLocks noChangeArrowheads="1"/>
          </p:cNvSpPr>
          <p:nvPr/>
        </p:nvSpPr>
        <p:spPr bwMode="auto">
          <a:xfrm>
            <a:off x="6681043" y="5501406"/>
            <a:ext cx="9302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FF0000"/>
                </a:solidFill>
                <a:latin typeface="+mn-lt"/>
                <a:ea typeface="맑은 고딕" pitchFamily="50" charset="-127"/>
              </a:rPr>
              <a:t>15.87%</a:t>
            </a:r>
          </a:p>
        </p:txBody>
      </p:sp>
      <p:sp>
        <p:nvSpPr>
          <p:cNvPr id="60428" name="Freeform 54"/>
          <p:cNvSpPr>
            <a:spLocks/>
          </p:cNvSpPr>
          <p:nvPr/>
        </p:nvSpPr>
        <p:spPr bwMode="auto">
          <a:xfrm>
            <a:off x="2720231" y="3629744"/>
            <a:ext cx="647700" cy="360362"/>
          </a:xfrm>
          <a:custGeom>
            <a:avLst/>
            <a:gdLst>
              <a:gd name="T0" fmla="*/ 0 w 408"/>
              <a:gd name="T1" fmla="*/ 0 h 227"/>
              <a:gd name="T2" fmla="*/ 2147483647 w 408"/>
              <a:gd name="T3" fmla="*/ 2147483647 h 227"/>
              <a:gd name="T4" fmla="*/ 2147483647 w 408"/>
              <a:gd name="T5" fmla="*/ 2147483647 h 227"/>
              <a:gd name="T6" fmla="*/ 2147483647 w 408"/>
              <a:gd name="T7" fmla="*/ 2147483647 h 227"/>
              <a:gd name="T8" fmla="*/ 0 60000 65536"/>
              <a:gd name="T9" fmla="*/ 0 60000 65536"/>
              <a:gd name="T10" fmla="*/ 0 60000 65536"/>
              <a:gd name="T11" fmla="*/ 0 60000 65536"/>
              <a:gd name="T12" fmla="*/ 0 w 408"/>
              <a:gd name="T13" fmla="*/ 0 h 227"/>
              <a:gd name="T14" fmla="*/ 408 w 408"/>
              <a:gd name="T15" fmla="*/ 227 h 227"/>
            </a:gdLst>
            <a:ahLst/>
            <a:cxnLst>
              <a:cxn ang="T8">
                <a:pos x="T0" y="T1"/>
              </a:cxn>
              <a:cxn ang="T9">
                <a:pos x="T2" y="T3"/>
              </a:cxn>
              <a:cxn ang="T10">
                <a:pos x="T4" y="T5"/>
              </a:cxn>
              <a:cxn ang="T11">
                <a:pos x="T6" y="T7"/>
              </a:cxn>
            </a:cxnLst>
            <a:rect l="T12" t="T13" r="T14" b="T15"/>
            <a:pathLst>
              <a:path w="408" h="227">
                <a:moveTo>
                  <a:pt x="0" y="0"/>
                </a:moveTo>
                <a:cubicBezTo>
                  <a:pt x="83" y="15"/>
                  <a:pt x="166" y="30"/>
                  <a:pt x="181" y="45"/>
                </a:cubicBezTo>
                <a:cubicBezTo>
                  <a:pt x="196" y="60"/>
                  <a:pt x="53" y="61"/>
                  <a:pt x="91" y="91"/>
                </a:cubicBezTo>
                <a:cubicBezTo>
                  <a:pt x="129" y="121"/>
                  <a:pt x="268" y="174"/>
                  <a:pt x="408" y="227"/>
                </a:cubicBezTo>
              </a:path>
            </a:pathLst>
          </a:custGeom>
          <a:noFill/>
          <a:ln w="12700" cap="flat" cmpd="sng">
            <a:solidFill>
              <a:srgbClr val="FF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dirty="0">
              <a:latin typeface="+mn-lt"/>
            </a:endParaRPr>
          </a:p>
        </p:txBody>
      </p:sp>
      <p:sp>
        <p:nvSpPr>
          <p:cNvPr id="60429" name="Freeform 55"/>
          <p:cNvSpPr>
            <a:spLocks/>
          </p:cNvSpPr>
          <p:nvPr/>
        </p:nvSpPr>
        <p:spPr bwMode="auto">
          <a:xfrm>
            <a:off x="4520456" y="3558306"/>
            <a:ext cx="503237" cy="503238"/>
          </a:xfrm>
          <a:custGeom>
            <a:avLst/>
            <a:gdLst>
              <a:gd name="T0" fmla="*/ 2147483647 w 317"/>
              <a:gd name="T1" fmla="*/ 0 h 317"/>
              <a:gd name="T2" fmla="*/ 2147483647 w 317"/>
              <a:gd name="T3" fmla="*/ 2147483647 h 317"/>
              <a:gd name="T4" fmla="*/ 2147483647 w 317"/>
              <a:gd name="T5" fmla="*/ 2147483647 h 317"/>
              <a:gd name="T6" fmla="*/ 0 w 317"/>
              <a:gd name="T7" fmla="*/ 2147483647 h 317"/>
              <a:gd name="T8" fmla="*/ 0 60000 65536"/>
              <a:gd name="T9" fmla="*/ 0 60000 65536"/>
              <a:gd name="T10" fmla="*/ 0 60000 65536"/>
              <a:gd name="T11" fmla="*/ 0 60000 65536"/>
              <a:gd name="T12" fmla="*/ 0 w 317"/>
              <a:gd name="T13" fmla="*/ 0 h 317"/>
              <a:gd name="T14" fmla="*/ 317 w 317"/>
              <a:gd name="T15" fmla="*/ 317 h 317"/>
            </a:gdLst>
            <a:ahLst/>
            <a:cxnLst>
              <a:cxn ang="T8">
                <a:pos x="T0" y="T1"/>
              </a:cxn>
              <a:cxn ang="T9">
                <a:pos x="T2" y="T3"/>
              </a:cxn>
              <a:cxn ang="T10">
                <a:pos x="T4" y="T5"/>
              </a:cxn>
              <a:cxn ang="T11">
                <a:pos x="T6" y="T7"/>
              </a:cxn>
            </a:cxnLst>
            <a:rect l="T12" t="T13" r="T14" b="T15"/>
            <a:pathLst>
              <a:path w="317" h="317">
                <a:moveTo>
                  <a:pt x="317" y="0"/>
                </a:moveTo>
                <a:cubicBezTo>
                  <a:pt x="252" y="37"/>
                  <a:pt x="188" y="75"/>
                  <a:pt x="181" y="90"/>
                </a:cubicBezTo>
                <a:cubicBezTo>
                  <a:pt x="174" y="105"/>
                  <a:pt x="302" y="52"/>
                  <a:pt x="272" y="90"/>
                </a:cubicBezTo>
                <a:cubicBezTo>
                  <a:pt x="242" y="128"/>
                  <a:pt x="121" y="222"/>
                  <a:pt x="0" y="317"/>
                </a:cubicBezTo>
              </a:path>
            </a:pathLst>
          </a:custGeom>
          <a:noFill/>
          <a:ln w="12700" cap="flat" cmpd="sng">
            <a:solidFill>
              <a:srgbClr val="FF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dirty="0">
              <a:latin typeface="+mn-lt"/>
            </a:endParaRPr>
          </a:p>
        </p:txBody>
      </p:sp>
      <p:sp>
        <p:nvSpPr>
          <p:cNvPr id="60430" name="Freeform 56"/>
          <p:cNvSpPr>
            <a:spLocks/>
          </p:cNvSpPr>
          <p:nvPr/>
        </p:nvSpPr>
        <p:spPr bwMode="auto">
          <a:xfrm>
            <a:off x="4736356" y="5690319"/>
            <a:ext cx="647700" cy="360362"/>
          </a:xfrm>
          <a:custGeom>
            <a:avLst/>
            <a:gdLst>
              <a:gd name="T0" fmla="*/ 0 w 408"/>
              <a:gd name="T1" fmla="*/ 0 h 227"/>
              <a:gd name="T2" fmla="*/ 2147483647 w 408"/>
              <a:gd name="T3" fmla="*/ 2147483647 h 227"/>
              <a:gd name="T4" fmla="*/ 2147483647 w 408"/>
              <a:gd name="T5" fmla="*/ 2147483647 h 227"/>
              <a:gd name="T6" fmla="*/ 2147483647 w 408"/>
              <a:gd name="T7" fmla="*/ 2147483647 h 227"/>
              <a:gd name="T8" fmla="*/ 0 60000 65536"/>
              <a:gd name="T9" fmla="*/ 0 60000 65536"/>
              <a:gd name="T10" fmla="*/ 0 60000 65536"/>
              <a:gd name="T11" fmla="*/ 0 60000 65536"/>
              <a:gd name="T12" fmla="*/ 0 w 408"/>
              <a:gd name="T13" fmla="*/ 0 h 227"/>
              <a:gd name="T14" fmla="*/ 408 w 408"/>
              <a:gd name="T15" fmla="*/ 227 h 227"/>
            </a:gdLst>
            <a:ahLst/>
            <a:cxnLst>
              <a:cxn ang="T8">
                <a:pos x="T0" y="T1"/>
              </a:cxn>
              <a:cxn ang="T9">
                <a:pos x="T2" y="T3"/>
              </a:cxn>
              <a:cxn ang="T10">
                <a:pos x="T4" y="T5"/>
              </a:cxn>
              <a:cxn ang="T11">
                <a:pos x="T6" y="T7"/>
              </a:cxn>
            </a:cxnLst>
            <a:rect l="T12" t="T13" r="T14" b="T15"/>
            <a:pathLst>
              <a:path w="408" h="227">
                <a:moveTo>
                  <a:pt x="0" y="0"/>
                </a:moveTo>
                <a:cubicBezTo>
                  <a:pt x="83" y="15"/>
                  <a:pt x="166" y="30"/>
                  <a:pt x="181" y="45"/>
                </a:cubicBezTo>
                <a:cubicBezTo>
                  <a:pt x="196" y="60"/>
                  <a:pt x="53" y="61"/>
                  <a:pt x="91" y="91"/>
                </a:cubicBezTo>
                <a:cubicBezTo>
                  <a:pt x="129" y="121"/>
                  <a:pt x="268" y="174"/>
                  <a:pt x="408" y="227"/>
                </a:cubicBezTo>
              </a:path>
            </a:pathLst>
          </a:custGeom>
          <a:noFill/>
          <a:ln w="12700" cap="flat" cmpd="sng">
            <a:solidFill>
              <a:srgbClr val="FF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dirty="0">
              <a:latin typeface="+mn-lt"/>
            </a:endParaRPr>
          </a:p>
        </p:txBody>
      </p:sp>
      <p:sp>
        <p:nvSpPr>
          <p:cNvPr id="60431" name="Freeform 57"/>
          <p:cNvSpPr>
            <a:spLocks/>
          </p:cNvSpPr>
          <p:nvPr/>
        </p:nvSpPr>
        <p:spPr bwMode="auto">
          <a:xfrm>
            <a:off x="6536581" y="5645869"/>
            <a:ext cx="468312" cy="431800"/>
          </a:xfrm>
          <a:custGeom>
            <a:avLst/>
            <a:gdLst>
              <a:gd name="T0" fmla="*/ 2147483647 w 295"/>
              <a:gd name="T1" fmla="*/ 0 h 272"/>
              <a:gd name="T2" fmla="*/ 2147483647 w 295"/>
              <a:gd name="T3" fmla="*/ 2147483647 h 272"/>
              <a:gd name="T4" fmla="*/ 2147483647 w 295"/>
              <a:gd name="T5" fmla="*/ 2147483647 h 272"/>
              <a:gd name="T6" fmla="*/ 0 w 295"/>
              <a:gd name="T7" fmla="*/ 2147483647 h 272"/>
              <a:gd name="T8" fmla="*/ 0 60000 65536"/>
              <a:gd name="T9" fmla="*/ 0 60000 65536"/>
              <a:gd name="T10" fmla="*/ 0 60000 65536"/>
              <a:gd name="T11" fmla="*/ 0 60000 65536"/>
              <a:gd name="T12" fmla="*/ 0 w 295"/>
              <a:gd name="T13" fmla="*/ 0 h 272"/>
              <a:gd name="T14" fmla="*/ 295 w 295"/>
              <a:gd name="T15" fmla="*/ 272 h 272"/>
            </a:gdLst>
            <a:ahLst/>
            <a:cxnLst>
              <a:cxn ang="T8">
                <a:pos x="T0" y="T1"/>
              </a:cxn>
              <a:cxn ang="T9">
                <a:pos x="T2" y="T3"/>
              </a:cxn>
              <a:cxn ang="T10">
                <a:pos x="T4" y="T5"/>
              </a:cxn>
              <a:cxn ang="T11">
                <a:pos x="T6" y="T7"/>
              </a:cxn>
            </a:cxnLst>
            <a:rect l="T12" t="T13" r="T14" b="T15"/>
            <a:pathLst>
              <a:path w="295" h="272">
                <a:moveTo>
                  <a:pt x="227" y="0"/>
                </a:moveTo>
                <a:cubicBezTo>
                  <a:pt x="178" y="15"/>
                  <a:pt x="129" y="30"/>
                  <a:pt x="136" y="45"/>
                </a:cubicBezTo>
                <a:cubicBezTo>
                  <a:pt x="143" y="60"/>
                  <a:pt x="295" y="53"/>
                  <a:pt x="272" y="91"/>
                </a:cubicBezTo>
                <a:cubicBezTo>
                  <a:pt x="249" y="129"/>
                  <a:pt x="124" y="200"/>
                  <a:pt x="0" y="272"/>
                </a:cubicBezTo>
              </a:path>
            </a:pathLst>
          </a:custGeom>
          <a:noFill/>
          <a:ln w="12700" cap="flat" cmpd="sng">
            <a:solidFill>
              <a:srgbClr val="FF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dirty="0">
              <a:latin typeface="+mn-lt"/>
            </a:endParaRPr>
          </a:p>
        </p:txBody>
      </p:sp>
      <p:sp>
        <p:nvSpPr>
          <p:cNvPr id="2" name="슬라이드 번호 개체 틀 1"/>
          <p:cNvSpPr>
            <a:spLocks noGrp="1"/>
          </p:cNvSpPr>
          <p:nvPr>
            <p:ph type="sldNum" sz="quarter" idx="10"/>
          </p:nvPr>
        </p:nvSpPr>
        <p:spPr>
          <a:xfrm>
            <a:off x="9166225" y="6592267"/>
            <a:ext cx="654050" cy="365125"/>
          </a:xfrm>
        </p:spPr>
        <p:txBody>
          <a:bodyPr/>
          <a:lstStyle/>
          <a:p>
            <a:pPr>
              <a:defRPr/>
            </a:pPr>
            <a:fld id="{336E293E-7793-468B-AB4C-49C46432963A}" type="slidenum">
              <a:rPr lang="ko-KR" altLang="en-US" smtClean="0"/>
              <a:pPr>
                <a:defRPr/>
              </a:pPr>
              <a:t>63</a:t>
            </a:fld>
            <a:endParaRPr lang="ko-KR" altLang="en-US" dirty="0"/>
          </a:p>
        </p:txBody>
      </p:sp>
      <p:sp>
        <p:nvSpPr>
          <p:cNvPr id="44" name="Text Box 4"/>
          <p:cNvSpPr txBox="1">
            <a:spLocks noChangeArrowheads="1"/>
          </p:cNvSpPr>
          <p:nvPr/>
        </p:nvSpPr>
        <p:spPr bwMode="auto">
          <a:xfrm>
            <a:off x="166688" y="188913"/>
            <a:ext cx="48212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7. </a:t>
            </a:r>
            <a:r>
              <a:rPr lang="en-US" altLang="ko-KR" b="1" dirty="0" err="1">
                <a:latin typeface="Arial" pitchFamily="34" charset="0"/>
                <a:ea typeface="맑은 고딕" pitchFamily="50" charset="-127"/>
                <a:cs typeface="Arial" pitchFamily="34" charset="0"/>
              </a:rPr>
              <a:t>Phân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phối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chuẩn</a:t>
            </a:r>
            <a:endParaRPr lang="ko-KR" altLang="en-US" b="1" dirty="0">
              <a:latin typeface="Arial" pitchFamily="34" charset="0"/>
              <a:ea typeface="맑은 고딕" pitchFamily="50" charset="-127"/>
              <a:cs typeface="Arial" pitchFamily="34" charset="0"/>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28"/>
          <p:cNvGrpSpPr/>
          <p:nvPr/>
        </p:nvGrpSpPr>
        <p:grpSpPr>
          <a:xfrm>
            <a:off x="2327486" y="1128713"/>
            <a:ext cx="5251029" cy="4387850"/>
            <a:chOff x="977900" y="1128713"/>
            <a:chExt cx="5251029" cy="4387850"/>
          </a:xfrm>
        </p:grpSpPr>
        <p:graphicFrame>
          <p:nvGraphicFramePr>
            <p:cNvPr id="61442" name="Object 3"/>
            <p:cNvGraphicFramePr>
              <a:graphicFrameLocks/>
            </p:cNvGraphicFramePr>
            <p:nvPr/>
          </p:nvGraphicFramePr>
          <p:xfrm>
            <a:off x="977900" y="2159000"/>
            <a:ext cx="5145088" cy="3357563"/>
          </p:xfrm>
          <a:graphic>
            <a:graphicData uri="http://schemas.openxmlformats.org/presentationml/2006/ole">
              <mc:AlternateContent xmlns:mc="http://schemas.openxmlformats.org/markup-compatibility/2006">
                <mc:Choice xmlns:v="urn:schemas-microsoft-com:vml" Requires="v">
                  <p:oleObj name="워크시트" r:id="rId2" imgW="4276773" imgH="2790947" progId="Excel.Sheet.8">
                    <p:embed/>
                  </p:oleObj>
                </mc:Choice>
                <mc:Fallback>
                  <p:oleObj name="워크시트" r:id="rId2" imgW="4276773" imgH="2790947" progId="Excel.Sheet.8">
                    <p:embed/>
                    <p:pic>
                      <p:nvPicPr>
                        <p:cNvPr id="61442" name="Object 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7900" y="2159000"/>
                          <a:ext cx="5145088" cy="3357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1443" name="Line 11"/>
            <p:cNvSpPr>
              <a:spLocks noChangeShapeType="1"/>
            </p:cNvSpPr>
            <p:nvPr/>
          </p:nvSpPr>
          <p:spPr bwMode="auto">
            <a:xfrm>
              <a:off x="987425" y="1901825"/>
              <a:ext cx="15843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44" name="Line 12"/>
            <p:cNvSpPr>
              <a:spLocks noChangeShapeType="1"/>
            </p:cNvSpPr>
            <p:nvPr/>
          </p:nvSpPr>
          <p:spPr bwMode="auto">
            <a:xfrm>
              <a:off x="2019300" y="1600200"/>
              <a:ext cx="0" cy="3016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45" name="Line 13"/>
            <p:cNvSpPr>
              <a:spLocks noChangeShapeType="1"/>
            </p:cNvSpPr>
            <p:nvPr/>
          </p:nvSpPr>
          <p:spPr bwMode="auto">
            <a:xfrm>
              <a:off x="1765300" y="1166813"/>
              <a:ext cx="0" cy="736600"/>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46" name="Rectangle 14"/>
            <p:cNvSpPr>
              <a:spLocks noChangeArrowheads="1"/>
            </p:cNvSpPr>
            <p:nvPr/>
          </p:nvSpPr>
          <p:spPr bwMode="auto">
            <a:xfrm>
              <a:off x="1928813" y="1878013"/>
              <a:ext cx="200025"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55562" tIns="26988" rIns="55562" bIns="26988">
              <a:spAutoFit/>
            </a:bodyPr>
            <a:lstStyle>
              <a:lvl1pPr defTabSz="274638" eaLnBrk="0" hangingPunct="0">
                <a:defRPr kumimoji="1">
                  <a:solidFill>
                    <a:schemeClr val="tx1"/>
                  </a:solidFill>
                  <a:latin typeface="굴림" pitchFamily="50" charset="-127"/>
                  <a:ea typeface="굴림" pitchFamily="50" charset="-127"/>
                </a:defRPr>
              </a:lvl1pPr>
              <a:lvl2pPr marL="742950" indent="-285750" defTabSz="274638" eaLnBrk="0" hangingPunct="0">
                <a:defRPr kumimoji="1">
                  <a:solidFill>
                    <a:schemeClr val="tx1"/>
                  </a:solidFill>
                  <a:latin typeface="굴림" pitchFamily="50" charset="-127"/>
                  <a:ea typeface="굴림" pitchFamily="50" charset="-127"/>
                </a:defRPr>
              </a:lvl2pPr>
              <a:lvl3pPr marL="1143000" indent="-228600" defTabSz="274638" eaLnBrk="0" hangingPunct="0">
                <a:defRPr kumimoji="1">
                  <a:solidFill>
                    <a:schemeClr val="tx1"/>
                  </a:solidFill>
                  <a:latin typeface="굴림" pitchFamily="50" charset="-127"/>
                  <a:ea typeface="굴림" pitchFamily="50" charset="-127"/>
                </a:defRPr>
              </a:lvl3pPr>
              <a:lvl4pPr marL="1600200" indent="-228600" defTabSz="274638" eaLnBrk="0" hangingPunct="0">
                <a:defRPr kumimoji="1">
                  <a:solidFill>
                    <a:schemeClr val="tx1"/>
                  </a:solidFill>
                  <a:latin typeface="굴림" pitchFamily="50" charset="-127"/>
                  <a:ea typeface="굴림" pitchFamily="50" charset="-127"/>
                </a:defRPr>
              </a:lvl4pPr>
              <a:lvl5pPr marL="2057400" indent="-228600" defTabSz="274638" eaLnBrk="0" hangingPunct="0">
                <a:defRPr kumimoji="1">
                  <a:solidFill>
                    <a:schemeClr val="tx1"/>
                  </a:solidFill>
                  <a:latin typeface="굴림" pitchFamily="50" charset="-127"/>
                  <a:ea typeface="굴림" pitchFamily="50" charset="-127"/>
                </a:defRPr>
              </a:lvl5pPr>
              <a:lvl6pPr marL="2514600" indent="-228600" defTabSz="274638"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274638"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274638"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274638"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100" dirty="0">
                  <a:latin typeface="Arial" pitchFamily="34" charset="0"/>
                  <a:ea typeface="맑은 고딕" pitchFamily="50" charset="-127"/>
                  <a:cs typeface="Arial" pitchFamily="34" charset="0"/>
                </a:rPr>
                <a:t>Z</a:t>
              </a:r>
              <a:endParaRPr lang="en-US" altLang="ko-KR" sz="1100" baseline="-25000" dirty="0">
                <a:latin typeface="Arial" pitchFamily="34" charset="0"/>
                <a:ea typeface="맑은 고딕" pitchFamily="50" charset="-127"/>
                <a:cs typeface="Arial" pitchFamily="34" charset="0"/>
              </a:endParaRPr>
            </a:p>
          </p:txBody>
        </p:sp>
        <p:grpSp>
          <p:nvGrpSpPr>
            <p:cNvPr id="61447" name="Group 15"/>
            <p:cNvGrpSpPr>
              <a:grpSpLocks/>
            </p:cNvGrpSpPr>
            <p:nvPr/>
          </p:nvGrpSpPr>
          <p:grpSpPr bwMode="auto">
            <a:xfrm>
              <a:off x="2020888" y="1755775"/>
              <a:ext cx="368300" cy="147638"/>
              <a:chOff x="1839" y="3283"/>
              <a:chExt cx="188" cy="195"/>
            </a:xfrm>
          </p:grpSpPr>
          <p:sp>
            <p:nvSpPr>
              <p:cNvPr id="61458" name="Line 16"/>
              <p:cNvSpPr>
                <a:spLocks noChangeShapeType="1"/>
              </p:cNvSpPr>
              <p:nvPr/>
            </p:nvSpPr>
            <p:spPr bwMode="auto">
              <a:xfrm flipH="1">
                <a:off x="1839" y="3283"/>
                <a:ext cx="29" cy="46"/>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59" name="Line 17"/>
              <p:cNvSpPr>
                <a:spLocks noChangeShapeType="1"/>
              </p:cNvSpPr>
              <p:nvPr/>
            </p:nvSpPr>
            <p:spPr bwMode="auto">
              <a:xfrm flipH="1">
                <a:off x="1839" y="3315"/>
                <a:ext cx="38" cy="64"/>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60" name="Line 18"/>
              <p:cNvSpPr>
                <a:spLocks noChangeShapeType="1"/>
              </p:cNvSpPr>
              <p:nvPr/>
            </p:nvSpPr>
            <p:spPr bwMode="auto">
              <a:xfrm flipH="1">
                <a:off x="1839" y="3338"/>
                <a:ext cx="54" cy="91"/>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61" name="Line 19"/>
              <p:cNvSpPr>
                <a:spLocks noChangeShapeType="1"/>
              </p:cNvSpPr>
              <p:nvPr/>
            </p:nvSpPr>
            <p:spPr bwMode="auto">
              <a:xfrm flipH="1">
                <a:off x="1839" y="3353"/>
                <a:ext cx="74" cy="125"/>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62" name="Line 20"/>
              <p:cNvSpPr>
                <a:spLocks noChangeShapeType="1"/>
              </p:cNvSpPr>
              <p:nvPr/>
            </p:nvSpPr>
            <p:spPr bwMode="auto">
              <a:xfrm flipH="1">
                <a:off x="1869" y="3377"/>
                <a:ext cx="58" cy="101"/>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63" name="Line 21"/>
              <p:cNvSpPr>
                <a:spLocks noChangeShapeType="1"/>
              </p:cNvSpPr>
              <p:nvPr/>
            </p:nvSpPr>
            <p:spPr bwMode="auto">
              <a:xfrm flipH="1">
                <a:off x="1898" y="3396"/>
                <a:ext cx="48" cy="82"/>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64" name="Line 22"/>
              <p:cNvSpPr>
                <a:spLocks noChangeShapeType="1"/>
              </p:cNvSpPr>
              <p:nvPr/>
            </p:nvSpPr>
            <p:spPr bwMode="auto">
              <a:xfrm flipH="1">
                <a:off x="1927" y="3418"/>
                <a:ext cx="36" cy="60"/>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65" name="Line 23"/>
              <p:cNvSpPr>
                <a:spLocks noChangeShapeType="1"/>
              </p:cNvSpPr>
              <p:nvPr/>
            </p:nvSpPr>
            <p:spPr bwMode="auto">
              <a:xfrm flipH="1">
                <a:off x="1956" y="3423"/>
                <a:ext cx="32" cy="55"/>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66" name="Line 24"/>
              <p:cNvSpPr>
                <a:spLocks noChangeShapeType="1"/>
              </p:cNvSpPr>
              <p:nvPr/>
            </p:nvSpPr>
            <p:spPr bwMode="auto">
              <a:xfrm flipH="1">
                <a:off x="1985" y="3434"/>
                <a:ext cx="26" cy="44"/>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61467" name="Line 25"/>
              <p:cNvSpPr>
                <a:spLocks noChangeShapeType="1"/>
              </p:cNvSpPr>
              <p:nvPr/>
            </p:nvSpPr>
            <p:spPr bwMode="auto">
              <a:xfrm flipH="1">
                <a:off x="2014" y="3454"/>
                <a:ext cx="13" cy="24"/>
              </a:xfrm>
              <a:prstGeom prst="line">
                <a:avLst/>
              </a:prstGeom>
              <a:noFill/>
              <a:ln w="38100" cmpd="dbl">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pSp>
        <p:sp>
          <p:nvSpPr>
            <p:cNvPr id="61448" name="Rectangle 26"/>
            <p:cNvSpPr>
              <a:spLocks noChangeArrowheads="1"/>
            </p:cNvSpPr>
            <p:nvPr/>
          </p:nvSpPr>
          <p:spPr bwMode="auto">
            <a:xfrm>
              <a:off x="1674813" y="1876425"/>
              <a:ext cx="193675" cy="223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55562" tIns="26988" rIns="55562" bIns="26988">
              <a:spAutoFit/>
            </a:bodyPr>
            <a:lstStyle>
              <a:lvl1pPr defTabSz="274638" eaLnBrk="0" hangingPunct="0">
                <a:defRPr kumimoji="1">
                  <a:solidFill>
                    <a:schemeClr val="tx1"/>
                  </a:solidFill>
                  <a:latin typeface="굴림" pitchFamily="50" charset="-127"/>
                  <a:ea typeface="굴림" pitchFamily="50" charset="-127"/>
                </a:defRPr>
              </a:lvl1pPr>
              <a:lvl2pPr marL="742950" indent="-285750" defTabSz="274638" eaLnBrk="0" hangingPunct="0">
                <a:defRPr kumimoji="1">
                  <a:solidFill>
                    <a:schemeClr val="tx1"/>
                  </a:solidFill>
                  <a:latin typeface="굴림" pitchFamily="50" charset="-127"/>
                  <a:ea typeface="굴림" pitchFamily="50" charset="-127"/>
                </a:defRPr>
              </a:lvl2pPr>
              <a:lvl3pPr marL="1143000" indent="-228600" defTabSz="274638" eaLnBrk="0" hangingPunct="0">
                <a:defRPr kumimoji="1">
                  <a:solidFill>
                    <a:schemeClr val="tx1"/>
                  </a:solidFill>
                  <a:latin typeface="굴림" pitchFamily="50" charset="-127"/>
                  <a:ea typeface="굴림" pitchFamily="50" charset="-127"/>
                </a:defRPr>
              </a:lvl3pPr>
              <a:lvl4pPr marL="1600200" indent="-228600" defTabSz="274638" eaLnBrk="0" hangingPunct="0">
                <a:defRPr kumimoji="1">
                  <a:solidFill>
                    <a:schemeClr val="tx1"/>
                  </a:solidFill>
                  <a:latin typeface="굴림" pitchFamily="50" charset="-127"/>
                  <a:ea typeface="굴림" pitchFamily="50" charset="-127"/>
                </a:defRPr>
              </a:lvl4pPr>
              <a:lvl5pPr marL="2057400" indent="-228600" defTabSz="274638" eaLnBrk="0" hangingPunct="0">
                <a:defRPr kumimoji="1">
                  <a:solidFill>
                    <a:schemeClr val="tx1"/>
                  </a:solidFill>
                  <a:latin typeface="굴림" pitchFamily="50" charset="-127"/>
                  <a:ea typeface="굴림" pitchFamily="50" charset="-127"/>
                </a:defRPr>
              </a:lvl5pPr>
              <a:lvl6pPr marL="2514600" indent="-228600" defTabSz="274638"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274638"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274638"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274638"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100" dirty="0">
                  <a:latin typeface="Arial" pitchFamily="34" charset="0"/>
                  <a:ea typeface="맑은 고딕" pitchFamily="50" charset="-127"/>
                  <a:cs typeface="Arial" pitchFamily="34" charset="0"/>
                </a:rPr>
                <a:t>0</a:t>
              </a:r>
            </a:p>
          </p:txBody>
        </p:sp>
        <p:grpSp>
          <p:nvGrpSpPr>
            <p:cNvPr id="61449" name="Group 27"/>
            <p:cNvGrpSpPr>
              <a:grpSpLocks/>
            </p:cNvGrpSpPr>
            <p:nvPr/>
          </p:nvGrpSpPr>
          <p:grpSpPr bwMode="auto">
            <a:xfrm>
              <a:off x="1085850" y="1128713"/>
              <a:ext cx="1344613" cy="755650"/>
              <a:chOff x="1489" y="1219"/>
              <a:chExt cx="984" cy="328"/>
            </a:xfrm>
          </p:grpSpPr>
          <p:sp>
            <p:nvSpPr>
              <p:cNvPr id="61456" name="Freeform 28"/>
              <p:cNvSpPr>
                <a:spLocks/>
              </p:cNvSpPr>
              <p:nvPr/>
            </p:nvSpPr>
            <p:spPr bwMode="auto">
              <a:xfrm>
                <a:off x="1489" y="1219"/>
                <a:ext cx="494" cy="328"/>
              </a:xfrm>
              <a:custGeom>
                <a:avLst/>
                <a:gdLst>
                  <a:gd name="T0" fmla="*/ 0 w 494"/>
                  <a:gd name="T1" fmla="*/ 327 h 328"/>
                  <a:gd name="T2" fmla="*/ 13 w 494"/>
                  <a:gd name="T3" fmla="*/ 325 h 328"/>
                  <a:gd name="T4" fmla="*/ 33 w 494"/>
                  <a:gd name="T5" fmla="*/ 323 h 328"/>
                  <a:gd name="T6" fmla="*/ 53 w 494"/>
                  <a:gd name="T7" fmla="*/ 322 h 328"/>
                  <a:gd name="T8" fmla="*/ 74 w 494"/>
                  <a:gd name="T9" fmla="*/ 320 h 328"/>
                  <a:gd name="T10" fmla="*/ 94 w 494"/>
                  <a:gd name="T11" fmla="*/ 317 h 328"/>
                  <a:gd name="T12" fmla="*/ 107 w 494"/>
                  <a:gd name="T13" fmla="*/ 316 h 328"/>
                  <a:gd name="T14" fmla="*/ 128 w 494"/>
                  <a:gd name="T15" fmla="*/ 312 h 328"/>
                  <a:gd name="T16" fmla="*/ 144 w 494"/>
                  <a:gd name="T17" fmla="*/ 309 h 328"/>
                  <a:gd name="T18" fmla="*/ 155 w 494"/>
                  <a:gd name="T19" fmla="*/ 308 h 328"/>
                  <a:gd name="T20" fmla="*/ 169 w 494"/>
                  <a:gd name="T21" fmla="*/ 305 h 328"/>
                  <a:gd name="T22" fmla="*/ 178 w 494"/>
                  <a:gd name="T23" fmla="*/ 301 h 328"/>
                  <a:gd name="T24" fmla="*/ 189 w 494"/>
                  <a:gd name="T25" fmla="*/ 298 h 328"/>
                  <a:gd name="T26" fmla="*/ 199 w 494"/>
                  <a:gd name="T27" fmla="*/ 295 h 328"/>
                  <a:gd name="T28" fmla="*/ 209 w 494"/>
                  <a:gd name="T29" fmla="*/ 292 h 328"/>
                  <a:gd name="T30" fmla="*/ 216 w 494"/>
                  <a:gd name="T31" fmla="*/ 288 h 328"/>
                  <a:gd name="T32" fmla="*/ 222 w 494"/>
                  <a:gd name="T33" fmla="*/ 285 h 328"/>
                  <a:gd name="T34" fmla="*/ 225 w 494"/>
                  <a:gd name="T35" fmla="*/ 282 h 328"/>
                  <a:gd name="T36" fmla="*/ 232 w 494"/>
                  <a:gd name="T37" fmla="*/ 277 h 328"/>
                  <a:gd name="T38" fmla="*/ 239 w 494"/>
                  <a:gd name="T39" fmla="*/ 271 h 328"/>
                  <a:gd name="T40" fmla="*/ 249 w 494"/>
                  <a:gd name="T41" fmla="*/ 263 h 328"/>
                  <a:gd name="T42" fmla="*/ 259 w 494"/>
                  <a:gd name="T43" fmla="*/ 252 h 328"/>
                  <a:gd name="T44" fmla="*/ 270 w 494"/>
                  <a:gd name="T45" fmla="*/ 242 h 328"/>
                  <a:gd name="T46" fmla="*/ 276 w 494"/>
                  <a:gd name="T47" fmla="*/ 234 h 328"/>
                  <a:gd name="T48" fmla="*/ 286 w 494"/>
                  <a:gd name="T49" fmla="*/ 223 h 328"/>
                  <a:gd name="T50" fmla="*/ 293 w 494"/>
                  <a:gd name="T51" fmla="*/ 212 h 328"/>
                  <a:gd name="T52" fmla="*/ 297 w 494"/>
                  <a:gd name="T53" fmla="*/ 208 h 328"/>
                  <a:gd name="T54" fmla="*/ 313 w 494"/>
                  <a:gd name="T55" fmla="*/ 185 h 328"/>
                  <a:gd name="T56" fmla="*/ 344 w 494"/>
                  <a:gd name="T57" fmla="*/ 141 h 328"/>
                  <a:gd name="T58" fmla="*/ 357 w 494"/>
                  <a:gd name="T59" fmla="*/ 119 h 328"/>
                  <a:gd name="T60" fmla="*/ 360 w 494"/>
                  <a:gd name="T61" fmla="*/ 114 h 328"/>
                  <a:gd name="T62" fmla="*/ 371 w 494"/>
                  <a:gd name="T63" fmla="*/ 101 h 328"/>
                  <a:gd name="T64" fmla="*/ 378 w 494"/>
                  <a:gd name="T65" fmla="*/ 90 h 328"/>
                  <a:gd name="T66" fmla="*/ 385 w 494"/>
                  <a:gd name="T67" fmla="*/ 82 h 328"/>
                  <a:gd name="T68" fmla="*/ 391 w 494"/>
                  <a:gd name="T69" fmla="*/ 73 h 328"/>
                  <a:gd name="T70" fmla="*/ 398 w 494"/>
                  <a:gd name="T71" fmla="*/ 65 h 328"/>
                  <a:gd name="T72" fmla="*/ 405 w 494"/>
                  <a:gd name="T73" fmla="*/ 57 h 328"/>
                  <a:gd name="T74" fmla="*/ 412 w 494"/>
                  <a:gd name="T75" fmla="*/ 49 h 328"/>
                  <a:gd name="T76" fmla="*/ 415 w 494"/>
                  <a:gd name="T77" fmla="*/ 44 h 328"/>
                  <a:gd name="T78" fmla="*/ 418 w 494"/>
                  <a:gd name="T79" fmla="*/ 39 h 328"/>
                  <a:gd name="T80" fmla="*/ 425 w 494"/>
                  <a:gd name="T81" fmla="*/ 33 h 328"/>
                  <a:gd name="T82" fmla="*/ 428 w 494"/>
                  <a:gd name="T83" fmla="*/ 28 h 328"/>
                  <a:gd name="T84" fmla="*/ 435 w 494"/>
                  <a:gd name="T85" fmla="*/ 22 h 328"/>
                  <a:gd name="T86" fmla="*/ 439 w 494"/>
                  <a:gd name="T87" fmla="*/ 19 h 328"/>
                  <a:gd name="T88" fmla="*/ 445 w 494"/>
                  <a:gd name="T89" fmla="*/ 14 h 328"/>
                  <a:gd name="T90" fmla="*/ 448 w 494"/>
                  <a:gd name="T91" fmla="*/ 12 h 328"/>
                  <a:gd name="T92" fmla="*/ 452 w 494"/>
                  <a:gd name="T93" fmla="*/ 9 h 328"/>
                  <a:gd name="T94" fmla="*/ 455 w 494"/>
                  <a:gd name="T95" fmla="*/ 7 h 328"/>
                  <a:gd name="T96" fmla="*/ 459 w 494"/>
                  <a:gd name="T97" fmla="*/ 6 h 328"/>
                  <a:gd name="T98" fmla="*/ 469 w 494"/>
                  <a:gd name="T99" fmla="*/ 3 h 328"/>
                  <a:gd name="T100" fmla="*/ 479 w 494"/>
                  <a:gd name="T101" fmla="*/ 1 h 328"/>
                  <a:gd name="T102" fmla="*/ 489 w 494"/>
                  <a:gd name="T103" fmla="*/ 0 h 328"/>
                  <a:gd name="T104" fmla="*/ 493 w 494"/>
                  <a:gd name="T105" fmla="*/ 0 h 3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4"/>
                  <a:gd name="T160" fmla="*/ 0 h 328"/>
                  <a:gd name="T161" fmla="*/ 494 w 494"/>
                  <a:gd name="T162" fmla="*/ 328 h 3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4" h="328">
                    <a:moveTo>
                      <a:pt x="0" y="327"/>
                    </a:moveTo>
                    <a:lnTo>
                      <a:pt x="13" y="325"/>
                    </a:lnTo>
                    <a:lnTo>
                      <a:pt x="33" y="323"/>
                    </a:lnTo>
                    <a:lnTo>
                      <a:pt x="53" y="322"/>
                    </a:lnTo>
                    <a:lnTo>
                      <a:pt x="74" y="320"/>
                    </a:lnTo>
                    <a:lnTo>
                      <a:pt x="94" y="317"/>
                    </a:lnTo>
                    <a:lnTo>
                      <a:pt x="107" y="316"/>
                    </a:lnTo>
                    <a:lnTo>
                      <a:pt x="128" y="312"/>
                    </a:lnTo>
                    <a:lnTo>
                      <a:pt x="144" y="309"/>
                    </a:lnTo>
                    <a:lnTo>
                      <a:pt x="155" y="308"/>
                    </a:lnTo>
                    <a:lnTo>
                      <a:pt x="169" y="305"/>
                    </a:lnTo>
                    <a:lnTo>
                      <a:pt x="178" y="301"/>
                    </a:lnTo>
                    <a:lnTo>
                      <a:pt x="189" y="298"/>
                    </a:lnTo>
                    <a:lnTo>
                      <a:pt x="199" y="295"/>
                    </a:lnTo>
                    <a:lnTo>
                      <a:pt x="209" y="292"/>
                    </a:lnTo>
                    <a:lnTo>
                      <a:pt x="216" y="288"/>
                    </a:lnTo>
                    <a:lnTo>
                      <a:pt x="222" y="285"/>
                    </a:lnTo>
                    <a:lnTo>
                      <a:pt x="225" y="282"/>
                    </a:lnTo>
                    <a:lnTo>
                      <a:pt x="232" y="277"/>
                    </a:lnTo>
                    <a:lnTo>
                      <a:pt x="239" y="271"/>
                    </a:lnTo>
                    <a:lnTo>
                      <a:pt x="249" y="263"/>
                    </a:lnTo>
                    <a:lnTo>
                      <a:pt x="259" y="252"/>
                    </a:lnTo>
                    <a:lnTo>
                      <a:pt x="270" y="242"/>
                    </a:lnTo>
                    <a:lnTo>
                      <a:pt x="276" y="234"/>
                    </a:lnTo>
                    <a:lnTo>
                      <a:pt x="286" y="223"/>
                    </a:lnTo>
                    <a:lnTo>
                      <a:pt x="293" y="212"/>
                    </a:lnTo>
                    <a:lnTo>
                      <a:pt x="297" y="208"/>
                    </a:lnTo>
                    <a:lnTo>
                      <a:pt x="313" y="185"/>
                    </a:lnTo>
                    <a:lnTo>
                      <a:pt x="344" y="141"/>
                    </a:lnTo>
                    <a:lnTo>
                      <a:pt x="357" y="119"/>
                    </a:lnTo>
                    <a:lnTo>
                      <a:pt x="360" y="114"/>
                    </a:lnTo>
                    <a:lnTo>
                      <a:pt x="371" y="101"/>
                    </a:lnTo>
                    <a:lnTo>
                      <a:pt x="378" y="90"/>
                    </a:lnTo>
                    <a:lnTo>
                      <a:pt x="385" y="82"/>
                    </a:lnTo>
                    <a:lnTo>
                      <a:pt x="391" y="73"/>
                    </a:lnTo>
                    <a:lnTo>
                      <a:pt x="398" y="65"/>
                    </a:lnTo>
                    <a:lnTo>
                      <a:pt x="405" y="57"/>
                    </a:lnTo>
                    <a:lnTo>
                      <a:pt x="412" y="49"/>
                    </a:lnTo>
                    <a:lnTo>
                      <a:pt x="415" y="44"/>
                    </a:lnTo>
                    <a:lnTo>
                      <a:pt x="418" y="39"/>
                    </a:lnTo>
                    <a:lnTo>
                      <a:pt x="425" y="33"/>
                    </a:lnTo>
                    <a:lnTo>
                      <a:pt x="428" y="28"/>
                    </a:lnTo>
                    <a:lnTo>
                      <a:pt x="435" y="22"/>
                    </a:lnTo>
                    <a:lnTo>
                      <a:pt x="439" y="19"/>
                    </a:lnTo>
                    <a:lnTo>
                      <a:pt x="445" y="14"/>
                    </a:lnTo>
                    <a:lnTo>
                      <a:pt x="448" y="12"/>
                    </a:lnTo>
                    <a:lnTo>
                      <a:pt x="452" y="9"/>
                    </a:lnTo>
                    <a:lnTo>
                      <a:pt x="455" y="7"/>
                    </a:lnTo>
                    <a:lnTo>
                      <a:pt x="459" y="6"/>
                    </a:lnTo>
                    <a:lnTo>
                      <a:pt x="469" y="3"/>
                    </a:lnTo>
                    <a:lnTo>
                      <a:pt x="479" y="1"/>
                    </a:lnTo>
                    <a:lnTo>
                      <a:pt x="489" y="0"/>
                    </a:lnTo>
                    <a:lnTo>
                      <a:pt x="493" y="0"/>
                    </a:lnTo>
                  </a:path>
                </a:pathLst>
              </a:custGeom>
              <a:noFill/>
              <a:ln w="12700" cap="rnd" cmpd="sng">
                <a:solidFill>
                  <a:srgbClr val="00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dirty="0">
                  <a:latin typeface="Arial" pitchFamily="34" charset="0"/>
                  <a:cs typeface="Arial" pitchFamily="34" charset="0"/>
                </a:endParaRPr>
              </a:p>
            </p:txBody>
          </p:sp>
          <p:sp>
            <p:nvSpPr>
              <p:cNvPr id="61457" name="Freeform 29"/>
              <p:cNvSpPr>
                <a:spLocks/>
              </p:cNvSpPr>
              <p:nvPr/>
            </p:nvSpPr>
            <p:spPr bwMode="auto">
              <a:xfrm>
                <a:off x="1982" y="1219"/>
                <a:ext cx="491" cy="328"/>
              </a:xfrm>
              <a:custGeom>
                <a:avLst/>
                <a:gdLst>
                  <a:gd name="T0" fmla="*/ 490 w 491"/>
                  <a:gd name="T1" fmla="*/ 327 h 328"/>
                  <a:gd name="T2" fmla="*/ 476 w 491"/>
                  <a:gd name="T3" fmla="*/ 325 h 328"/>
                  <a:gd name="T4" fmla="*/ 456 w 491"/>
                  <a:gd name="T5" fmla="*/ 323 h 328"/>
                  <a:gd name="T6" fmla="*/ 436 w 491"/>
                  <a:gd name="T7" fmla="*/ 322 h 328"/>
                  <a:gd name="T8" fmla="*/ 415 w 491"/>
                  <a:gd name="T9" fmla="*/ 320 h 328"/>
                  <a:gd name="T10" fmla="*/ 395 w 491"/>
                  <a:gd name="T11" fmla="*/ 317 h 328"/>
                  <a:gd name="T12" fmla="*/ 382 w 491"/>
                  <a:gd name="T13" fmla="*/ 316 h 328"/>
                  <a:gd name="T14" fmla="*/ 361 w 491"/>
                  <a:gd name="T15" fmla="*/ 312 h 328"/>
                  <a:gd name="T16" fmla="*/ 344 w 491"/>
                  <a:gd name="T17" fmla="*/ 309 h 328"/>
                  <a:gd name="T18" fmla="*/ 334 w 491"/>
                  <a:gd name="T19" fmla="*/ 308 h 328"/>
                  <a:gd name="T20" fmla="*/ 320 w 491"/>
                  <a:gd name="T21" fmla="*/ 305 h 328"/>
                  <a:gd name="T22" fmla="*/ 310 w 491"/>
                  <a:gd name="T23" fmla="*/ 301 h 328"/>
                  <a:gd name="T24" fmla="*/ 300 w 491"/>
                  <a:gd name="T25" fmla="*/ 298 h 328"/>
                  <a:gd name="T26" fmla="*/ 290 w 491"/>
                  <a:gd name="T27" fmla="*/ 295 h 328"/>
                  <a:gd name="T28" fmla="*/ 280 w 491"/>
                  <a:gd name="T29" fmla="*/ 292 h 328"/>
                  <a:gd name="T30" fmla="*/ 273 w 491"/>
                  <a:gd name="T31" fmla="*/ 288 h 328"/>
                  <a:gd name="T32" fmla="*/ 266 w 491"/>
                  <a:gd name="T33" fmla="*/ 285 h 328"/>
                  <a:gd name="T34" fmla="*/ 263 w 491"/>
                  <a:gd name="T35" fmla="*/ 282 h 328"/>
                  <a:gd name="T36" fmla="*/ 260 w 491"/>
                  <a:gd name="T37" fmla="*/ 279 h 328"/>
                  <a:gd name="T38" fmla="*/ 250 w 491"/>
                  <a:gd name="T39" fmla="*/ 271 h 328"/>
                  <a:gd name="T40" fmla="*/ 239 w 491"/>
                  <a:gd name="T41" fmla="*/ 263 h 328"/>
                  <a:gd name="T42" fmla="*/ 229 w 491"/>
                  <a:gd name="T43" fmla="*/ 254 h 328"/>
                  <a:gd name="T44" fmla="*/ 219 w 491"/>
                  <a:gd name="T45" fmla="*/ 242 h 328"/>
                  <a:gd name="T46" fmla="*/ 209 w 491"/>
                  <a:gd name="T47" fmla="*/ 233 h 328"/>
                  <a:gd name="T48" fmla="*/ 202 w 491"/>
                  <a:gd name="T49" fmla="*/ 225 h 328"/>
                  <a:gd name="T50" fmla="*/ 192 w 491"/>
                  <a:gd name="T51" fmla="*/ 212 h 328"/>
                  <a:gd name="T52" fmla="*/ 189 w 491"/>
                  <a:gd name="T53" fmla="*/ 208 h 328"/>
                  <a:gd name="T54" fmla="*/ 176 w 491"/>
                  <a:gd name="T55" fmla="*/ 187 h 328"/>
                  <a:gd name="T56" fmla="*/ 145 w 491"/>
                  <a:gd name="T57" fmla="*/ 142 h 328"/>
                  <a:gd name="T58" fmla="*/ 128 w 491"/>
                  <a:gd name="T59" fmla="*/ 119 h 328"/>
                  <a:gd name="T60" fmla="*/ 124 w 491"/>
                  <a:gd name="T61" fmla="*/ 114 h 328"/>
                  <a:gd name="T62" fmla="*/ 117 w 491"/>
                  <a:gd name="T63" fmla="*/ 103 h 328"/>
                  <a:gd name="T64" fmla="*/ 107 w 491"/>
                  <a:gd name="T65" fmla="*/ 90 h 328"/>
                  <a:gd name="T66" fmla="*/ 101 w 491"/>
                  <a:gd name="T67" fmla="*/ 81 h 328"/>
                  <a:gd name="T68" fmla="*/ 94 w 491"/>
                  <a:gd name="T69" fmla="*/ 71 h 328"/>
                  <a:gd name="T70" fmla="*/ 87 w 491"/>
                  <a:gd name="T71" fmla="*/ 63 h 328"/>
                  <a:gd name="T72" fmla="*/ 80 w 491"/>
                  <a:gd name="T73" fmla="*/ 55 h 328"/>
                  <a:gd name="T74" fmla="*/ 74 w 491"/>
                  <a:gd name="T75" fmla="*/ 47 h 328"/>
                  <a:gd name="T76" fmla="*/ 70 w 491"/>
                  <a:gd name="T77" fmla="*/ 44 h 328"/>
                  <a:gd name="T78" fmla="*/ 67 w 491"/>
                  <a:gd name="T79" fmla="*/ 39 h 328"/>
                  <a:gd name="T80" fmla="*/ 60 w 491"/>
                  <a:gd name="T81" fmla="*/ 33 h 328"/>
                  <a:gd name="T82" fmla="*/ 57 w 491"/>
                  <a:gd name="T83" fmla="*/ 28 h 328"/>
                  <a:gd name="T84" fmla="*/ 50 w 491"/>
                  <a:gd name="T85" fmla="*/ 22 h 328"/>
                  <a:gd name="T86" fmla="*/ 47 w 491"/>
                  <a:gd name="T87" fmla="*/ 19 h 328"/>
                  <a:gd name="T88" fmla="*/ 40 w 491"/>
                  <a:gd name="T89" fmla="*/ 14 h 328"/>
                  <a:gd name="T90" fmla="*/ 36 w 491"/>
                  <a:gd name="T91" fmla="*/ 12 h 328"/>
                  <a:gd name="T92" fmla="*/ 33 w 491"/>
                  <a:gd name="T93" fmla="*/ 9 h 328"/>
                  <a:gd name="T94" fmla="*/ 30 w 491"/>
                  <a:gd name="T95" fmla="*/ 7 h 328"/>
                  <a:gd name="T96" fmla="*/ 26 w 491"/>
                  <a:gd name="T97" fmla="*/ 6 h 328"/>
                  <a:gd name="T98" fmla="*/ 20 w 491"/>
                  <a:gd name="T99" fmla="*/ 3 h 328"/>
                  <a:gd name="T100" fmla="*/ 13 w 491"/>
                  <a:gd name="T101" fmla="*/ 1 h 328"/>
                  <a:gd name="T102" fmla="*/ 3 w 491"/>
                  <a:gd name="T103" fmla="*/ 0 h 328"/>
                  <a:gd name="T104" fmla="*/ 0 w 491"/>
                  <a:gd name="T105" fmla="*/ 0 h 3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1"/>
                  <a:gd name="T160" fmla="*/ 0 h 328"/>
                  <a:gd name="T161" fmla="*/ 491 w 491"/>
                  <a:gd name="T162" fmla="*/ 328 h 3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1" h="328">
                    <a:moveTo>
                      <a:pt x="490" y="327"/>
                    </a:moveTo>
                    <a:lnTo>
                      <a:pt x="476" y="325"/>
                    </a:lnTo>
                    <a:lnTo>
                      <a:pt x="456" y="323"/>
                    </a:lnTo>
                    <a:lnTo>
                      <a:pt x="436" y="322"/>
                    </a:lnTo>
                    <a:lnTo>
                      <a:pt x="415" y="320"/>
                    </a:lnTo>
                    <a:lnTo>
                      <a:pt x="395" y="317"/>
                    </a:lnTo>
                    <a:lnTo>
                      <a:pt x="382" y="316"/>
                    </a:lnTo>
                    <a:lnTo>
                      <a:pt x="361" y="312"/>
                    </a:lnTo>
                    <a:lnTo>
                      <a:pt x="344" y="309"/>
                    </a:lnTo>
                    <a:lnTo>
                      <a:pt x="334" y="308"/>
                    </a:lnTo>
                    <a:lnTo>
                      <a:pt x="320" y="305"/>
                    </a:lnTo>
                    <a:lnTo>
                      <a:pt x="310" y="301"/>
                    </a:lnTo>
                    <a:lnTo>
                      <a:pt x="300" y="298"/>
                    </a:lnTo>
                    <a:lnTo>
                      <a:pt x="290" y="295"/>
                    </a:lnTo>
                    <a:lnTo>
                      <a:pt x="280" y="292"/>
                    </a:lnTo>
                    <a:lnTo>
                      <a:pt x="273" y="288"/>
                    </a:lnTo>
                    <a:lnTo>
                      <a:pt x="266" y="285"/>
                    </a:lnTo>
                    <a:lnTo>
                      <a:pt x="263" y="282"/>
                    </a:lnTo>
                    <a:lnTo>
                      <a:pt x="260" y="279"/>
                    </a:lnTo>
                    <a:lnTo>
                      <a:pt x="250" y="271"/>
                    </a:lnTo>
                    <a:lnTo>
                      <a:pt x="239" y="263"/>
                    </a:lnTo>
                    <a:lnTo>
                      <a:pt x="229" y="254"/>
                    </a:lnTo>
                    <a:lnTo>
                      <a:pt x="219" y="242"/>
                    </a:lnTo>
                    <a:lnTo>
                      <a:pt x="209" y="233"/>
                    </a:lnTo>
                    <a:lnTo>
                      <a:pt x="202" y="225"/>
                    </a:lnTo>
                    <a:lnTo>
                      <a:pt x="192" y="212"/>
                    </a:lnTo>
                    <a:lnTo>
                      <a:pt x="189" y="208"/>
                    </a:lnTo>
                    <a:lnTo>
                      <a:pt x="176" y="187"/>
                    </a:lnTo>
                    <a:lnTo>
                      <a:pt x="145" y="142"/>
                    </a:lnTo>
                    <a:lnTo>
                      <a:pt x="128" y="119"/>
                    </a:lnTo>
                    <a:lnTo>
                      <a:pt x="124" y="114"/>
                    </a:lnTo>
                    <a:lnTo>
                      <a:pt x="117" y="103"/>
                    </a:lnTo>
                    <a:lnTo>
                      <a:pt x="107" y="90"/>
                    </a:lnTo>
                    <a:lnTo>
                      <a:pt x="101" y="81"/>
                    </a:lnTo>
                    <a:lnTo>
                      <a:pt x="94" y="71"/>
                    </a:lnTo>
                    <a:lnTo>
                      <a:pt x="87" y="63"/>
                    </a:lnTo>
                    <a:lnTo>
                      <a:pt x="80" y="55"/>
                    </a:lnTo>
                    <a:lnTo>
                      <a:pt x="74" y="47"/>
                    </a:lnTo>
                    <a:lnTo>
                      <a:pt x="70" y="44"/>
                    </a:lnTo>
                    <a:lnTo>
                      <a:pt x="67" y="39"/>
                    </a:lnTo>
                    <a:lnTo>
                      <a:pt x="60" y="33"/>
                    </a:lnTo>
                    <a:lnTo>
                      <a:pt x="57" y="28"/>
                    </a:lnTo>
                    <a:lnTo>
                      <a:pt x="50" y="22"/>
                    </a:lnTo>
                    <a:lnTo>
                      <a:pt x="47" y="19"/>
                    </a:lnTo>
                    <a:lnTo>
                      <a:pt x="40" y="14"/>
                    </a:lnTo>
                    <a:lnTo>
                      <a:pt x="36" y="12"/>
                    </a:lnTo>
                    <a:lnTo>
                      <a:pt x="33" y="9"/>
                    </a:lnTo>
                    <a:lnTo>
                      <a:pt x="30" y="7"/>
                    </a:lnTo>
                    <a:lnTo>
                      <a:pt x="26" y="6"/>
                    </a:lnTo>
                    <a:lnTo>
                      <a:pt x="20" y="3"/>
                    </a:lnTo>
                    <a:lnTo>
                      <a:pt x="13" y="1"/>
                    </a:lnTo>
                    <a:lnTo>
                      <a:pt x="3" y="0"/>
                    </a:lnTo>
                    <a:lnTo>
                      <a:pt x="0" y="0"/>
                    </a:lnTo>
                  </a:path>
                </a:pathLst>
              </a:custGeom>
              <a:noFill/>
              <a:ln w="12700" cap="rnd" cmpd="sng">
                <a:solidFill>
                  <a:srgbClr val="00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dirty="0">
                  <a:latin typeface="Arial" pitchFamily="34" charset="0"/>
                  <a:cs typeface="Arial" pitchFamily="34" charset="0"/>
                </a:endParaRPr>
              </a:p>
            </p:txBody>
          </p:sp>
        </p:grpSp>
        <p:sp>
          <p:nvSpPr>
            <p:cNvPr id="61450" name="Text Box 33"/>
            <p:cNvSpPr txBox="1">
              <a:spLocks noChangeArrowheads="1"/>
            </p:cNvSpPr>
            <p:nvPr/>
          </p:nvSpPr>
          <p:spPr bwMode="auto">
            <a:xfrm>
              <a:off x="3539271" y="1531562"/>
              <a:ext cx="26896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type="none" w="sm" len="sm"/>
                  <a:tailEnd type="none" w="sm" len="sm"/>
                </a14:hiddenLine>
              </a:ext>
            </a:extLst>
          </p:spPr>
          <p:txBody>
            <a:bodyPr wrap="squar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Chỉ</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có</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xác</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suất</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tích</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lũy</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trên</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được</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thể</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hiện</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trong</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phân</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phối</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chuẩn</a:t>
              </a:r>
              <a:endParaRPr lang="ko-KR" altLang="en-US" sz="1000" dirty="0">
                <a:solidFill>
                  <a:srgbClr val="0000FF"/>
                </a:solidFill>
                <a:latin typeface="Arial" pitchFamily="34" charset="0"/>
                <a:ea typeface="맑은 고딕" pitchFamily="50" charset="-127"/>
                <a:cs typeface="Arial" pitchFamily="34" charset="0"/>
              </a:endParaRPr>
            </a:p>
          </p:txBody>
        </p:sp>
        <p:sp>
          <p:nvSpPr>
            <p:cNvPr id="61451" name="Text Box 34"/>
            <p:cNvSpPr txBox="1">
              <a:spLocks noChangeArrowheads="1"/>
            </p:cNvSpPr>
            <p:nvPr/>
          </p:nvSpPr>
          <p:spPr bwMode="auto">
            <a:xfrm>
              <a:off x="2389188" y="1339850"/>
              <a:ext cx="184373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100" dirty="0" err="1">
                  <a:solidFill>
                    <a:srgbClr val="FF0000"/>
                  </a:solidFill>
                  <a:latin typeface="Arial" pitchFamily="34" charset="0"/>
                  <a:ea typeface="맑은 고딕" pitchFamily="50" charset="-127"/>
                  <a:cs typeface="Arial" pitchFamily="34" charset="0"/>
                </a:rPr>
                <a:t>Xác</a:t>
              </a:r>
              <a:r>
                <a:rPr lang="en-US" altLang="ko-KR" sz="1100" dirty="0">
                  <a:solidFill>
                    <a:srgbClr val="FF0000"/>
                  </a:solidFill>
                  <a:latin typeface="Arial" pitchFamily="34" charset="0"/>
                  <a:ea typeface="맑은 고딕" pitchFamily="50" charset="-127"/>
                  <a:cs typeface="Arial" pitchFamily="34" charset="0"/>
                </a:rPr>
                <a:t> </a:t>
              </a:r>
              <a:r>
                <a:rPr lang="en-US" altLang="ko-KR" sz="1100" dirty="0" err="1">
                  <a:solidFill>
                    <a:srgbClr val="FF0000"/>
                  </a:solidFill>
                  <a:latin typeface="Arial" pitchFamily="34" charset="0"/>
                  <a:ea typeface="맑은 고딕" pitchFamily="50" charset="-127"/>
                  <a:cs typeface="Arial" pitchFamily="34" charset="0"/>
                </a:rPr>
                <a:t>suất</a:t>
              </a:r>
              <a:r>
                <a:rPr lang="en-US" altLang="ko-KR" sz="1100" dirty="0">
                  <a:solidFill>
                    <a:srgbClr val="FF0000"/>
                  </a:solidFill>
                  <a:latin typeface="Arial" pitchFamily="34" charset="0"/>
                  <a:ea typeface="맑은 고딕" pitchFamily="50" charset="-127"/>
                  <a:cs typeface="Arial" pitchFamily="34" charset="0"/>
                </a:rPr>
                <a:t> </a:t>
              </a:r>
              <a:r>
                <a:rPr lang="en-US" altLang="ko-KR" sz="1100" dirty="0" err="1">
                  <a:solidFill>
                    <a:srgbClr val="FF0000"/>
                  </a:solidFill>
                  <a:latin typeface="Arial" pitchFamily="34" charset="0"/>
                  <a:ea typeface="맑은 고딕" pitchFamily="50" charset="-127"/>
                  <a:cs typeface="Arial" pitchFamily="34" charset="0"/>
                </a:rPr>
                <a:t>tích</a:t>
              </a:r>
              <a:r>
                <a:rPr lang="en-US" altLang="ko-KR" sz="1100" dirty="0">
                  <a:solidFill>
                    <a:srgbClr val="FF0000"/>
                  </a:solidFill>
                  <a:latin typeface="Arial" pitchFamily="34" charset="0"/>
                  <a:ea typeface="맑은 고딕" pitchFamily="50" charset="-127"/>
                  <a:cs typeface="Arial" pitchFamily="34" charset="0"/>
                </a:rPr>
                <a:t> </a:t>
              </a:r>
              <a:r>
                <a:rPr lang="en-US" altLang="ko-KR" sz="1100" dirty="0" err="1">
                  <a:solidFill>
                    <a:srgbClr val="FF0000"/>
                  </a:solidFill>
                  <a:latin typeface="Arial" pitchFamily="34" charset="0"/>
                  <a:ea typeface="맑은 고딕" pitchFamily="50" charset="-127"/>
                  <a:cs typeface="Arial" pitchFamily="34" charset="0"/>
                </a:rPr>
                <a:t>lũy</a:t>
              </a:r>
              <a:r>
                <a:rPr lang="en-US" altLang="ko-KR" sz="1100" dirty="0">
                  <a:solidFill>
                    <a:srgbClr val="FF0000"/>
                  </a:solidFill>
                  <a:latin typeface="Arial" pitchFamily="34" charset="0"/>
                  <a:ea typeface="맑은 고딕" pitchFamily="50" charset="-127"/>
                  <a:cs typeface="Arial" pitchFamily="34" charset="0"/>
                </a:rPr>
                <a:t> </a:t>
              </a:r>
              <a:r>
                <a:rPr lang="en-US" altLang="ko-KR" sz="1100" dirty="0" err="1">
                  <a:solidFill>
                    <a:srgbClr val="FF0000"/>
                  </a:solidFill>
                  <a:latin typeface="Arial" pitchFamily="34" charset="0"/>
                  <a:ea typeface="맑은 고딕" pitchFamily="50" charset="-127"/>
                  <a:cs typeface="Arial" pitchFamily="34" charset="0"/>
                </a:rPr>
                <a:t>trên</a:t>
              </a:r>
              <a:endParaRPr lang="en-US" altLang="ko-KR" sz="1100" dirty="0">
                <a:solidFill>
                  <a:srgbClr val="FF0000"/>
                </a:solidFill>
                <a:latin typeface="Arial" pitchFamily="34" charset="0"/>
                <a:ea typeface="맑은 고딕" pitchFamily="50" charset="-127"/>
                <a:cs typeface="Arial" pitchFamily="34" charset="0"/>
              </a:endParaRPr>
            </a:p>
          </p:txBody>
        </p:sp>
        <p:sp>
          <p:nvSpPr>
            <p:cNvPr id="61452" name="Freeform 35"/>
            <p:cNvSpPr>
              <a:spLocks/>
            </p:cNvSpPr>
            <p:nvPr/>
          </p:nvSpPr>
          <p:spPr bwMode="auto">
            <a:xfrm>
              <a:off x="2073275" y="1544638"/>
              <a:ext cx="395288" cy="287337"/>
            </a:xfrm>
            <a:custGeom>
              <a:avLst/>
              <a:gdLst>
                <a:gd name="T0" fmla="*/ 2147483647 w 249"/>
                <a:gd name="T1" fmla="*/ 0 h 181"/>
                <a:gd name="T2" fmla="*/ 2147483647 w 249"/>
                <a:gd name="T3" fmla="*/ 2147483647 h 181"/>
                <a:gd name="T4" fmla="*/ 2147483647 w 249"/>
                <a:gd name="T5" fmla="*/ 2147483647 h 181"/>
                <a:gd name="T6" fmla="*/ 0 w 249"/>
                <a:gd name="T7" fmla="*/ 2147483647 h 181"/>
                <a:gd name="T8" fmla="*/ 0 60000 65536"/>
                <a:gd name="T9" fmla="*/ 0 60000 65536"/>
                <a:gd name="T10" fmla="*/ 0 60000 65536"/>
                <a:gd name="T11" fmla="*/ 0 60000 65536"/>
                <a:gd name="T12" fmla="*/ 0 w 249"/>
                <a:gd name="T13" fmla="*/ 0 h 181"/>
                <a:gd name="T14" fmla="*/ 249 w 249"/>
                <a:gd name="T15" fmla="*/ 181 h 181"/>
              </a:gdLst>
              <a:ahLst/>
              <a:cxnLst>
                <a:cxn ang="T8">
                  <a:pos x="T0" y="T1"/>
                </a:cxn>
                <a:cxn ang="T9">
                  <a:pos x="T2" y="T3"/>
                </a:cxn>
                <a:cxn ang="T10">
                  <a:pos x="T4" y="T5"/>
                </a:cxn>
                <a:cxn ang="T11">
                  <a:pos x="T6" y="T7"/>
                </a:cxn>
              </a:cxnLst>
              <a:rect l="T12" t="T13" r="T14" b="T15"/>
              <a:pathLst>
                <a:path w="249" h="181">
                  <a:moveTo>
                    <a:pt x="226" y="0"/>
                  </a:moveTo>
                  <a:cubicBezTo>
                    <a:pt x="181" y="15"/>
                    <a:pt x="136" y="30"/>
                    <a:pt x="136" y="45"/>
                  </a:cubicBezTo>
                  <a:cubicBezTo>
                    <a:pt x="136" y="60"/>
                    <a:pt x="249" y="67"/>
                    <a:pt x="226" y="90"/>
                  </a:cubicBezTo>
                  <a:cubicBezTo>
                    <a:pt x="203" y="113"/>
                    <a:pt x="101" y="147"/>
                    <a:pt x="0" y="181"/>
                  </a:cubicBezTo>
                </a:path>
              </a:pathLst>
            </a:custGeom>
            <a:noFill/>
            <a:ln w="12700" cap="flat" cmpd="sng">
              <a:solidFill>
                <a:srgbClr val="FF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dirty="0">
                <a:latin typeface="Arial" pitchFamily="34" charset="0"/>
                <a:cs typeface="Arial" pitchFamily="34" charset="0"/>
              </a:endParaRPr>
            </a:p>
          </p:txBody>
        </p:sp>
        <p:sp>
          <p:nvSpPr>
            <p:cNvPr id="61453" name="Rectangle 36"/>
            <p:cNvSpPr>
              <a:spLocks noChangeArrowheads="1"/>
            </p:cNvSpPr>
            <p:nvPr/>
          </p:nvSpPr>
          <p:spPr bwMode="auto">
            <a:xfrm>
              <a:off x="1000125" y="4308475"/>
              <a:ext cx="696913" cy="215900"/>
            </a:xfrm>
            <a:prstGeom prst="rect">
              <a:avLst/>
            </a:prstGeom>
            <a:noFill/>
            <a:ln w="28575" algn="ctr">
              <a:solidFill>
                <a:srgbClr val="0000FF"/>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cs typeface="Arial" pitchFamily="34" charset="0"/>
              </a:endParaRPr>
            </a:p>
          </p:txBody>
        </p:sp>
        <p:sp>
          <p:nvSpPr>
            <p:cNvPr id="61454" name="Rectangle 37"/>
            <p:cNvSpPr>
              <a:spLocks noChangeArrowheads="1"/>
            </p:cNvSpPr>
            <p:nvPr/>
          </p:nvSpPr>
          <p:spPr bwMode="auto">
            <a:xfrm>
              <a:off x="1712913" y="2152650"/>
              <a:ext cx="696912" cy="215900"/>
            </a:xfrm>
            <a:prstGeom prst="rect">
              <a:avLst/>
            </a:prstGeom>
            <a:noFill/>
            <a:ln w="28575" algn="ctr">
              <a:solidFill>
                <a:srgbClr val="0000FF"/>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dirty="0">
                <a:latin typeface="Arial" pitchFamily="34" charset="0"/>
                <a:ea typeface="맑은 고딕" pitchFamily="50" charset="-127"/>
                <a:cs typeface="Arial" pitchFamily="34" charset="0"/>
              </a:endParaRPr>
            </a:p>
          </p:txBody>
        </p:sp>
        <p:sp>
          <p:nvSpPr>
            <p:cNvPr id="61455" name="Rectangle 38"/>
            <p:cNvSpPr>
              <a:spLocks noChangeArrowheads="1"/>
            </p:cNvSpPr>
            <p:nvPr/>
          </p:nvSpPr>
          <p:spPr bwMode="auto">
            <a:xfrm>
              <a:off x="1762125" y="4302125"/>
              <a:ext cx="696913" cy="215900"/>
            </a:xfrm>
            <a:prstGeom prst="rect">
              <a:avLst/>
            </a:prstGeom>
            <a:noFill/>
            <a:ln w="38100" algn="ctr">
              <a:solidFill>
                <a:srgbClr val="FF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dirty="0">
                <a:latin typeface="Arial" pitchFamily="34" charset="0"/>
                <a:ea typeface="맑은 고딕" pitchFamily="50" charset="-127"/>
                <a:cs typeface="Arial" pitchFamily="34" charset="0"/>
              </a:endParaRPr>
            </a:p>
          </p:txBody>
        </p:sp>
      </p:grpSp>
      <p:sp>
        <p:nvSpPr>
          <p:cNvPr id="4" name="슬라이드 번호 개체 틀 3"/>
          <p:cNvSpPr>
            <a:spLocks noGrp="1"/>
          </p:cNvSpPr>
          <p:nvPr>
            <p:ph type="sldNum" sz="quarter" idx="4"/>
          </p:nvPr>
        </p:nvSpPr>
        <p:spPr/>
        <p:txBody>
          <a:bodyPr/>
          <a:lstStyle/>
          <a:p>
            <a:pPr>
              <a:defRPr/>
            </a:pPr>
            <a:fld id="{BA3A7022-CBD4-4A06-BAFB-3534D8B9DC6A}" type="slidenum">
              <a:rPr lang="ko-KR" altLang="en-US" smtClean="0">
                <a:latin typeface="Arial" pitchFamily="34" charset="0"/>
                <a:cs typeface="Arial" pitchFamily="34" charset="0"/>
              </a:rPr>
              <a:pPr>
                <a:defRPr/>
              </a:pPr>
              <a:t>64</a:t>
            </a:fld>
            <a:endParaRPr lang="ko-KR" altLang="en-US" dirty="0">
              <a:latin typeface="Arial" pitchFamily="34" charset="0"/>
              <a:cs typeface="Arial" pitchFamily="34" charset="0"/>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pPr>
              <a:defRPr/>
            </a:pPr>
            <a:fld id="{BA3A7022-CBD4-4A06-BAFB-3534D8B9DC6A}" type="slidenum">
              <a:rPr lang="ko-KR" altLang="en-US" smtClean="0"/>
              <a:pPr>
                <a:defRPr/>
              </a:pPr>
              <a:t>65</a:t>
            </a:fld>
            <a:endParaRPr lang="ko-KR" altLang="en-US" dirty="0"/>
          </a:p>
        </p:txBody>
      </p:sp>
      <p:pic>
        <p:nvPicPr>
          <p:cNvPr id="6" name="Picture 5"/>
          <p:cNvPicPr>
            <a:picLocks noChangeAspect="1"/>
          </p:cNvPicPr>
          <p:nvPr/>
        </p:nvPicPr>
        <p:blipFill>
          <a:blip r:embed="rId3"/>
          <a:stretch>
            <a:fillRect/>
          </a:stretch>
        </p:blipFill>
        <p:spPr>
          <a:xfrm>
            <a:off x="2072680" y="62722"/>
            <a:ext cx="5728167" cy="6813360"/>
          </a:xfrm>
          <a:prstGeom prst="rect">
            <a:avLst/>
          </a:prstGeom>
        </p:spPr>
      </p:pic>
    </p:spTree>
    <p:extLst>
      <p:ext uri="{BB962C8B-B14F-4D97-AF65-F5344CB8AC3E}">
        <p14:creationId xmlns:p14="http://schemas.microsoft.com/office/powerpoint/2010/main" val="171566467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2466" name="Rectangle 4"/>
          <p:cNvSpPr>
            <a:spLocks noChangeArrowheads="1"/>
          </p:cNvSpPr>
          <p:nvPr/>
        </p:nvSpPr>
        <p:spPr bwMode="auto">
          <a:xfrm>
            <a:off x="583391" y="1340768"/>
            <a:ext cx="8739219" cy="4574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30000"/>
              </a:lnSpc>
            </a:pPr>
            <a:r>
              <a:rPr lang="ko-KR" altLang="en-US" sz="1400" dirty="0">
                <a:latin typeface="Arial" pitchFamily="34" charset="0"/>
                <a:ea typeface="맑은 고딕" pitchFamily="50" charset="-127"/>
                <a:cs typeface="Arial" pitchFamily="34" charset="0"/>
              </a:rPr>
              <a:t>  </a:t>
            </a:r>
            <a:r>
              <a:rPr lang="en-US" altLang="ko-KR" sz="1400" dirty="0">
                <a:latin typeface="Arial" pitchFamily="34" charset="0"/>
                <a:ea typeface="맑은 고딕" pitchFamily="50" charset="-127"/>
                <a:cs typeface="Arial" pitchFamily="34" charset="0"/>
              </a:rPr>
              <a:t>- </a:t>
            </a:r>
            <a:r>
              <a:rPr lang="vi-VN" sz="1400" dirty="0">
                <a:latin typeface="Arial" pitchFamily="34" charset="0"/>
                <a:cs typeface="Arial" pitchFamily="34" charset="0"/>
              </a:rPr>
              <a:t>Nếu ‘</a:t>
            </a:r>
            <a:r>
              <a:rPr lang="en-US" sz="1400" dirty="0" err="1">
                <a:latin typeface="Arial" pitchFamily="34" charset="0"/>
                <a:cs typeface="Arial" pitchFamily="34" charset="0"/>
              </a:rPr>
              <a:t>mù</a:t>
            </a:r>
            <a:r>
              <a:rPr lang="en-US" sz="1400" dirty="0">
                <a:latin typeface="Arial" pitchFamily="34" charset="0"/>
                <a:cs typeface="Arial" pitchFamily="34" charset="0"/>
              </a:rPr>
              <a:t> </a:t>
            </a:r>
            <a:r>
              <a:rPr lang="vi-VN" sz="1400" dirty="0">
                <a:latin typeface="Arial" pitchFamily="34" charset="0"/>
                <a:cs typeface="Arial" pitchFamily="34" charset="0"/>
              </a:rPr>
              <a:t>máy tính</a:t>
            </a:r>
            <a:r>
              <a:rPr lang="en-US" sz="1400" dirty="0">
                <a:latin typeface="Arial" pitchFamily="34" charset="0"/>
                <a:cs typeface="Arial" pitchFamily="34" charset="0"/>
              </a:rPr>
              <a:t>’ </a:t>
            </a:r>
            <a:r>
              <a:rPr lang="en-US" sz="1400" dirty="0" err="1">
                <a:latin typeface="Arial" pitchFamily="34" charset="0"/>
                <a:cs typeface="Arial" pitchFamily="34" charset="0"/>
              </a:rPr>
              <a:t>là</a:t>
            </a:r>
            <a:r>
              <a:rPr lang="en-US" sz="1400" dirty="0">
                <a:latin typeface="Arial" pitchFamily="34" charset="0"/>
                <a:cs typeface="Arial" pitchFamily="34" charset="0"/>
              </a:rPr>
              <a:t> </a:t>
            </a:r>
            <a:r>
              <a:rPr lang="vi-VN" sz="1400" dirty="0">
                <a:latin typeface="Arial" pitchFamily="34" charset="0"/>
                <a:cs typeface="Arial" pitchFamily="34" charset="0"/>
              </a:rPr>
              <a:t> </a:t>
            </a:r>
            <a:r>
              <a:rPr lang="en-US" sz="1400" dirty="0" err="1">
                <a:latin typeface="Arial" pitchFamily="34" charset="0"/>
                <a:cs typeface="Arial" pitchFamily="34" charset="0"/>
              </a:rPr>
              <a:t>thứ</a:t>
            </a:r>
            <a:r>
              <a:rPr lang="en-US" sz="1400" dirty="0">
                <a:latin typeface="Arial" pitchFamily="34" charset="0"/>
                <a:cs typeface="Arial" pitchFamily="34" charset="0"/>
              </a:rPr>
              <a:t> </a:t>
            </a:r>
            <a:r>
              <a:rPr lang="en-US" sz="1400" dirty="0" err="1">
                <a:latin typeface="Arial" pitchFamily="34" charset="0"/>
                <a:cs typeface="Arial" pitchFamily="34" charset="0"/>
              </a:rPr>
              <a:t>gì</a:t>
            </a:r>
            <a:r>
              <a:rPr lang="en-US" sz="1400" dirty="0">
                <a:latin typeface="Arial" pitchFamily="34" charset="0"/>
                <a:cs typeface="Arial" pitchFamily="34" charset="0"/>
              </a:rPr>
              <a:t> </a:t>
            </a:r>
            <a:r>
              <a:rPr lang="en-US" sz="1400" dirty="0" err="1">
                <a:latin typeface="Arial" pitchFamily="34" charset="0"/>
                <a:cs typeface="Arial" pitchFamily="34" charset="0"/>
              </a:rPr>
              <a:t>đó</a:t>
            </a:r>
            <a:r>
              <a:rPr lang="en-US" sz="1400" dirty="0">
                <a:latin typeface="Arial" pitchFamily="34" charset="0"/>
                <a:cs typeface="Arial" pitchFamily="34" charset="0"/>
              </a:rPr>
              <a:t> </a:t>
            </a:r>
            <a:r>
              <a:rPr lang="en-US" sz="1400" dirty="0" err="1">
                <a:latin typeface="Arial" pitchFamily="34" charset="0"/>
                <a:cs typeface="Arial" pitchFamily="34" charset="0"/>
              </a:rPr>
              <a:t>đáng</a:t>
            </a:r>
            <a:r>
              <a:rPr lang="en-US" sz="1400" dirty="0">
                <a:latin typeface="Arial" pitchFamily="34" charset="0"/>
                <a:cs typeface="Arial" pitchFamily="34" charset="0"/>
              </a:rPr>
              <a:t> </a:t>
            </a:r>
            <a:r>
              <a:rPr lang="en-US" sz="1400" dirty="0" err="1">
                <a:latin typeface="Arial" pitchFamily="34" charset="0"/>
                <a:cs typeface="Arial" pitchFamily="34" charset="0"/>
              </a:rPr>
              <a:t>sợ</a:t>
            </a:r>
            <a:r>
              <a:rPr lang="vi-VN" sz="1400" dirty="0">
                <a:latin typeface="Arial" pitchFamily="34" charset="0"/>
                <a:cs typeface="Arial" pitchFamily="34" charset="0"/>
              </a:rPr>
              <a:t> trong những năm 1990 thì </a:t>
            </a:r>
            <a:r>
              <a:rPr lang="en-US" sz="1400" dirty="0" err="1">
                <a:latin typeface="Arial" pitchFamily="34" charset="0"/>
                <a:cs typeface="Arial" pitchFamily="34" charset="0"/>
              </a:rPr>
              <a:t>ngày</a:t>
            </a:r>
            <a:r>
              <a:rPr lang="en-US" sz="1400" dirty="0">
                <a:latin typeface="Arial" pitchFamily="34" charset="0"/>
                <a:cs typeface="Arial" pitchFamily="34" charset="0"/>
              </a:rPr>
              <a:t> nay</a:t>
            </a:r>
            <a:r>
              <a:rPr lang="vi-VN" sz="1400" dirty="0">
                <a:latin typeface="Arial" pitchFamily="34" charset="0"/>
                <a:cs typeface="Arial" pitchFamily="34" charset="0"/>
              </a:rPr>
              <a:t>, </a:t>
            </a:r>
            <a:r>
              <a:rPr lang="en-US" sz="1400" dirty="0" err="1">
                <a:latin typeface="Arial" pitchFamily="34" charset="0"/>
                <a:cs typeface="Arial" pitchFamily="34" charset="0"/>
              </a:rPr>
              <a:t>trong</a:t>
            </a:r>
            <a:r>
              <a:rPr lang="en-US" sz="1400" dirty="0">
                <a:latin typeface="Arial" pitchFamily="34" charset="0"/>
                <a:cs typeface="Arial" pitchFamily="34" charset="0"/>
              </a:rPr>
              <a:t> </a:t>
            </a:r>
            <a:r>
              <a:rPr lang="en-US" sz="1400" dirty="0" err="1">
                <a:latin typeface="Arial" pitchFamily="34" charset="0"/>
                <a:cs typeface="Arial" pitchFamily="34" charset="0"/>
              </a:rPr>
              <a:t>kỷ</a:t>
            </a:r>
            <a:r>
              <a:rPr lang="en-US" sz="1400" dirty="0">
                <a:latin typeface="Arial" pitchFamily="34" charset="0"/>
                <a:cs typeface="Arial" pitchFamily="34" charset="0"/>
              </a:rPr>
              <a:t> </a:t>
            </a:r>
            <a:r>
              <a:rPr lang="en-US" sz="1400" dirty="0" err="1">
                <a:latin typeface="Arial" pitchFamily="34" charset="0"/>
                <a:cs typeface="Arial" pitchFamily="34" charset="0"/>
              </a:rPr>
              <a:t>nguyên</a:t>
            </a:r>
            <a:r>
              <a:rPr lang="en-US" sz="1400" dirty="0">
                <a:latin typeface="Arial" pitchFamily="34" charset="0"/>
                <a:cs typeface="Arial" pitchFamily="34" charset="0"/>
              </a:rPr>
              <a:t> </a:t>
            </a:r>
            <a:r>
              <a:rPr lang="en-US" sz="1400" dirty="0" err="1">
                <a:latin typeface="Arial" pitchFamily="34" charset="0"/>
                <a:cs typeface="Arial" pitchFamily="34" charset="0"/>
              </a:rPr>
              <a:t>của</a:t>
            </a:r>
            <a:r>
              <a:rPr lang="en-US" sz="1400" dirty="0">
                <a:latin typeface="Arial" pitchFamily="34" charset="0"/>
                <a:cs typeface="Arial" pitchFamily="34" charset="0"/>
              </a:rPr>
              <a:t> </a:t>
            </a:r>
            <a:r>
              <a:rPr lang="en-US" sz="1400" dirty="0" err="1">
                <a:latin typeface="Arial" pitchFamily="34" charset="0"/>
                <a:cs typeface="Arial" pitchFamily="34" charset="0"/>
              </a:rPr>
              <a:t>thông</a:t>
            </a:r>
            <a:br>
              <a:rPr lang="en-US" sz="1400" dirty="0">
                <a:latin typeface="Arial" pitchFamily="34" charset="0"/>
                <a:cs typeface="Arial" pitchFamily="34" charset="0"/>
              </a:rPr>
            </a:br>
            <a:r>
              <a:rPr lang="en-US" sz="1400" dirty="0">
                <a:latin typeface="Arial" pitchFamily="34" charset="0"/>
                <a:cs typeface="Arial" pitchFamily="34" charset="0"/>
              </a:rPr>
              <a:t>tin tri </a:t>
            </a:r>
            <a:r>
              <a:rPr lang="en-US" sz="1400" dirty="0" err="1">
                <a:latin typeface="Arial" pitchFamily="34" charset="0"/>
                <a:cs typeface="Arial" pitchFamily="34" charset="0"/>
              </a:rPr>
              <a:t>thức</a:t>
            </a:r>
            <a:r>
              <a:rPr lang="en-US" sz="1400" dirty="0">
                <a:latin typeface="Arial" pitchFamily="34" charset="0"/>
                <a:cs typeface="Arial" pitchFamily="34" charset="0"/>
              </a:rPr>
              <a:t> </a:t>
            </a:r>
            <a:r>
              <a:rPr lang="en-US" sz="1400" dirty="0" err="1">
                <a:latin typeface="Arial" pitchFamily="34" charset="0"/>
                <a:cs typeface="Arial" pitchFamily="34" charset="0"/>
              </a:rPr>
              <a:t>thì</a:t>
            </a:r>
            <a:r>
              <a:rPr lang="en-US" sz="1400" dirty="0">
                <a:latin typeface="Arial" pitchFamily="34" charset="0"/>
                <a:cs typeface="Arial" pitchFamily="34" charset="0"/>
              </a:rPr>
              <a:t> </a:t>
            </a:r>
            <a:r>
              <a:rPr lang="en-US" sz="1400" dirty="0" err="1">
                <a:latin typeface="Arial" pitchFamily="34" charset="0"/>
                <a:cs typeface="Arial" pitchFamily="34" charset="0"/>
              </a:rPr>
              <a:t>khái</a:t>
            </a:r>
            <a:r>
              <a:rPr lang="en-US" sz="1400" dirty="0">
                <a:latin typeface="Arial" pitchFamily="34" charset="0"/>
                <a:cs typeface="Arial" pitchFamily="34" charset="0"/>
              </a:rPr>
              <a:t> </a:t>
            </a:r>
            <a:r>
              <a:rPr lang="en-US" sz="1400" dirty="0" err="1">
                <a:latin typeface="Arial" pitchFamily="34" charset="0"/>
                <a:cs typeface="Arial" pitchFamily="34" charset="0"/>
              </a:rPr>
              <a:t>niệm</a:t>
            </a:r>
            <a:r>
              <a:rPr lang="en-US" sz="1400" dirty="0">
                <a:latin typeface="Arial" pitchFamily="34" charset="0"/>
                <a:cs typeface="Arial" pitchFamily="34" charset="0"/>
              </a:rPr>
              <a:t> </a:t>
            </a:r>
            <a:r>
              <a:rPr lang="vi-VN" sz="1400" dirty="0">
                <a:latin typeface="Arial" pitchFamily="34" charset="0"/>
                <a:cs typeface="Arial" pitchFamily="34" charset="0"/>
              </a:rPr>
              <a:t>'mù thống kê' đã </a:t>
            </a:r>
            <a:r>
              <a:rPr lang="en-US" sz="1400" dirty="0" err="1">
                <a:latin typeface="Arial" pitchFamily="34" charset="0"/>
                <a:cs typeface="Arial" pitchFamily="34" charset="0"/>
              </a:rPr>
              <a:t>thay</a:t>
            </a:r>
            <a:r>
              <a:rPr lang="en-US" sz="1400" dirty="0">
                <a:latin typeface="Arial" pitchFamily="34" charset="0"/>
                <a:cs typeface="Arial" pitchFamily="34" charset="0"/>
              </a:rPr>
              <a:t> </a:t>
            </a:r>
            <a:r>
              <a:rPr lang="en-US" sz="1400" dirty="0" err="1">
                <a:latin typeface="Arial" pitchFamily="34" charset="0"/>
                <a:cs typeface="Arial" pitchFamily="34" charset="0"/>
              </a:rPr>
              <a:t>thế</a:t>
            </a:r>
            <a:r>
              <a:rPr lang="en-US" sz="1400" dirty="0">
                <a:latin typeface="Arial" pitchFamily="34" charset="0"/>
                <a:cs typeface="Arial" pitchFamily="34" charset="0"/>
              </a:rPr>
              <a:t> </a:t>
            </a:r>
            <a:r>
              <a:rPr lang="en-US" sz="1400" dirty="0" err="1">
                <a:latin typeface="Arial" pitchFamily="34" charset="0"/>
                <a:cs typeface="Arial" pitchFamily="34" charset="0"/>
              </a:rPr>
              <a:t>để</a:t>
            </a:r>
            <a:r>
              <a:rPr lang="en-US" sz="1400" dirty="0">
                <a:latin typeface="Arial" pitchFamily="34" charset="0"/>
                <a:cs typeface="Arial" pitchFamily="34" charset="0"/>
              </a:rPr>
              <a:t> </a:t>
            </a:r>
            <a:r>
              <a:rPr lang="vi-VN" sz="1400" dirty="0">
                <a:latin typeface="Arial" pitchFamily="34" charset="0"/>
                <a:cs typeface="Arial" pitchFamily="34" charset="0"/>
              </a:rPr>
              <a:t>trở thàn</a:t>
            </a:r>
            <a:r>
              <a:rPr lang="en-US" sz="1400" dirty="0">
                <a:latin typeface="Arial" pitchFamily="34" charset="0"/>
                <a:cs typeface="Arial" pitchFamily="34" charset="0"/>
              </a:rPr>
              <a:t>h </a:t>
            </a:r>
            <a:r>
              <a:rPr lang="vi-VN" sz="1400" dirty="0">
                <a:latin typeface="Arial" pitchFamily="34" charset="0"/>
                <a:cs typeface="Arial" pitchFamily="34" charset="0"/>
              </a:rPr>
              <a:t>một cái </a:t>
            </a:r>
            <a:r>
              <a:rPr lang="en-US" sz="1400" dirty="0" err="1">
                <a:latin typeface="Arial" pitchFamily="34" charset="0"/>
                <a:cs typeface="Arial" pitchFamily="34" charset="0"/>
              </a:rPr>
              <a:t>thứ</a:t>
            </a:r>
            <a:r>
              <a:rPr lang="vi-VN" sz="1400" dirty="0">
                <a:latin typeface="Arial" pitchFamily="34" charset="0"/>
                <a:cs typeface="Arial" pitchFamily="34" charset="0"/>
              </a:rPr>
              <a:t> đó đáng sợ</a:t>
            </a:r>
            <a:r>
              <a:rPr lang="en-US" sz="1400" dirty="0">
                <a:latin typeface="Arial" pitchFamily="34" charset="0"/>
                <a:cs typeface="Arial" pitchFamily="34" charset="0"/>
              </a:rPr>
              <a:t> </a:t>
            </a:r>
            <a:r>
              <a:rPr lang="en-US" sz="1400" dirty="0" err="1">
                <a:latin typeface="Arial" pitchFamily="34" charset="0"/>
                <a:cs typeface="Arial" pitchFamily="34" charset="0"/>
              </a:rPr>
              <a:t>hơn</a:t>
            </a:r>
            <a:r>
              <a:rPr lang="vi-VN" sz="1400" dirty="0">
                <a:latin typeface="Arial" pitchFamily="34" charset="0"/>
                <a:cs typeface="Arial" pitchFamily="34" charset="0"/>
              </a:rPr>
              <a:t>. Sự</a:t>
            </a:r>
            <a:r>
              <a:rPr lang="en-US" sz="1400" dirty="0">
                <a:latin typeface="Arial" pitchFamily="34" charset="0"/>
                <a:cs typeface="Arial" pitchFamily="34" charset="0"/>
              </a:rPr>
              <a:t> </a:t>
            </a:r>
            <a:r>
              <a:rPr lang="vi-VN" sz="1400" dirty="0">
                <a:latin typeface="Arial" pitchFamily="34" charset="0"/>
                <a:cs typeface="Arial" pitchFamily="34" charset="0"/>
              </a:rPr>
              <a:t>xuất hiện của quản lý dựa trên công nghệ kỹ thuật số đã cho phép nhân viên truy</a:t>
            </a:r>
            <a:r>
              <a:rPr lang="en-US" sz="1400" dirty="0">
                <a:latin typeface="Arial" pitchFamily="34" charset="0"/>
                <a:cs typeface="Arial" pitchFamily="34" charset="0"/>
              </a:rPr>
              <a:t> </a:t>
            </a:r>
            <a:r>
              <a:rPr lang="vi-VN" sz="1400" dirty="0">
                <a:latin typeface="Arial" pitchFamily="34" charset="0"/>
                <a:cs typeface="Arial" pitchFamily="34" charset="0"/>
              </a:rPr>
              <a:t>cập bất cứ lúc nào tất cả các thông tin</a:t>
            </a:r>
            <a:br>
              <a:rPr lang="en-US" sz="1400" dirty="0">
                <a:latin typeface="Arial" pitchFamily="34" charset="0"/>
                <a:cs typeface="Arial" pitchFamily="34" charset="0"/>
              </a:rPr>
            </a:br>
            <a:r>
              <a:rPr lang="vi-VN" sz="1400" dirty="0">
                <a:latin typeface="Arial" pitchFamily="34" charset="0"/>
                <a:cs typeface="Arial" pitchFamily="34" charset="0"/>
              </a:rPr>
              <a:t>mà họ được phép truy cập. </a:t>
            </a:r>
            <a:r>
              <a:rPr lang="en-US" sz="1400" dirty="0" err="1">
                <a:latin typeface="Arial" pitchFamily="34" charset="0"/>
                <a:cs typeface="Arial" pitchFamily="34" charset="0"/>
              </a:rPr>
              <a:t>Với</a:t>
            </a:r>
            <a:r>
              <a:rPr lang="en-US" sz="1400" dirty="0">
                <a:latin typeface="Arial" pitchFamily="34" charset="0"/>
                <a:cs typeface="Arial" pitchFamily="34" charset="0"/>
              </a:rPr>
              <a:t> </a:t>
            </a:r>
            <a:r>
              <a:rPr lang="en-US" sz="1400" dirty="0" err="1">
                <a:latin typeface="Arial" pitchFamily="34" charset="0"/>
                <a:cs typeface="Arial" pitchFamily="34" charset="0"/>
              </a:rPr>
              <a:t>nguồn</a:t>
            </a:r>
            <a:r>
              <a:rPr lang="en-US" sz="1400" dirty="0">
                <a:latin typeface="Arial" pitchFamily="34" charset="0"/>
                <a:cs typeface="Arial" pitchFamily="34" charset="0"/>
              </a:rPr>
              <a:t> </a:t>
            </a:r>
            <a:r>
              <a:rPr lang="en-US" sz="1400" dirty="0" err="1">
                <a:latin typeface="Arial" pitchFamily="34" charset="0"/>
                <a:cs typeface="Arial" pitchFamily="34" charset="0"/>
              </a:rPr>
              <a:t>thông</a:t>
            </a:r>
            <a:r>
              <a:rPr lang="en-US" sz="1400" dirty="0">
                <a:latin typeface="Arial" pitchFamily="34" charset="0"/>
                <a:cs typeface="Arial" pitchFamily="34" charset="0"/>
              </a:rPr>
              <a:t> tin </a:t>
            </a:r>
            <a:r>
              <a:rPr lang="en-US" sz="1400" dirty="0" err="1">
                <a:latin typeface="Arial" pitchFamily="34" charset="0"/>
                <a:cs typeface="Arial" pitchFamily="34" charset="0"/>
              </a:rPr>
              <a:t>có</a:t>
            </a:r>
            <a:r>
              <a:rPr lang="en-US" sz="1400" dirty="0">
                <a:latin typeface="Arial" pitchFamily="34" charset="0"/>
                <a:cs typeface="Arial" pitchFamily="34" charset="0"/>
              </a:rPr>
              <a:t> </a:t>
            </a:r>
            <a:r>
              <a:rPr lang="en-US" sz="1400" dirty="0" err="1">
                <a:latin typeface="Arial" pitchFamily="34" charset="0"/>
                <a:cs typeface="Arial" pitchFamily="34" charset="0"/>
              </a:rPr>
              <a:t>thể</a:t>
            </a:r>
            <a:r>
              <a:rPr lang="en-US" sz="1400" dirty="0">
                <a:latin typeface="Arial" pitchFamily="34" charset="0"/>
                <a:cs typeface="Arial" pitchFamily="34" charset="0"/>
              </a:rPr>
              <a:t> </a:t>
            </a:r>
            <a:r>
              <a:rPr lang="en-US" sz="1400" dirty="0" err="1">
                <a:latin typeface="Arial" pitchFamily="34" charset="0"/>
                <a:cs typeface="Arial" pitchFamily="34" charset="0"/>
              </a:rPr>
              <a:t>dễ</a:t>
            </a:r>
            <a:r>
              <a:rPr lang="en-US" sz="1400" dirty="0">
                <a:latin typeface="Arial" pitchFamily="34" charset="0"/>
                <a:cs typeface="Arial" pitchFamily="34" charset="0"/>
              </a:rPr>
              <a:t> </a:t>
            </a:r>
            <a:r>
              <a:rPr lang="en-US" sz="1400" dirty="0" err="1">
                <a:latin typeface="Arial" pitchFamily="34" charset="0"/>
                <a:cs typeface="Arial" pitchFamily="34" charset="0"/>
              </a:rPr>
              <a:t>dàng</a:t>
            </a:r>
            <a:r>
              <a:rPr lang="en-US" sz="1400" dirty="0">
                <a:latin typeface="Arial" pitchFamily="34" charset="0"/>
                <a:cs typeface="Arial" pitchFamily="34" charset="0"/>
              </a:rPr>
              <a:t> </a:t>
            </a:r>
            <a:r>
              <a:rPr lang="en-US" sz="1400" dirty="0" err="1">
                <a:latin typeface="Arial" pitchFamily="34" charset="0"/>
                <a:cs typeface="Arial" pitchFamily="34" charset="0"/>
              </a:rPr>
              <a:t>truy</a:t>
            </a:r>
            <a:r>
              <a:rPr lang="en-US" sz="1400" dirty="0">
                <a:latin typeface="Arial" pitchFamily="34" charset="0"/>
                <a:cs typeface="Arial" pitchFamily="34" charset="0"/>
              </a:rPr>
              <a:t> </a:t>
            </a:r>
            <a:r>
              <a:rPr lang="en-US" sz="1400" dirty="0" err="1">
                <a:latin typeface="Arial" pitchFamily="34" charset="0"/>
                <a:cs typeface="Arial" pitchFamily="34" charset="0"/>
              </a:rPr>
              <a:t>cập</a:t>
            </a:r>
            <a:r>
              <a:rPr lang="vi-VN" sz="1400" dirty="0">
                <a:latin typeface="Arial" pitchFamily="34" charset="0"/>
                <a:cs typeface="Arial" pitchFamily="34" charset="0"/>
              </a:rPr>
              <a:t>, một nhân viên</a:t>
            </a:r>
            <a:r>
              <a:rPr lang="en-US" sz="1400" dirty="0">
                <a:latin typeface="Arial" pitchFamily="34" charset="0"/>
                <a:cs typeface="Arial" pitchFamily="34" charset="0"/>
              </a:rPr>
              <a:t> </a:t>
            </a:r>
            <a:r>
              <a:rPr lang="vi-VN" sz="1400" dirty="0">
                <a:latin typeface="Arial" pitchFamily="34" charset="0"/>
                <a:cs typeface="Arial" pitchFamily="34" charset="0"/>
              </a:rPr>
              <a:t>không có kỹ năng</a:t>
            </a:r>
            <a:br>
              <a:rPr lang="en-US" sz="1400" dirty="0">
                <a:latin typeface="Arial" pitchFamily="34" charset="0"/>
                <a:cs typeface="Arial" pitchFamily="34" charset="0"/>
              </a:rPr>
            </a:br>
            <a:r>
              <a:rPr lang="vi-VN" sz="1400" dirty="0">
                <a:latin typeface="Arial" pitchFamily="34" charset="0"/>
                <a:cs typeface="Arial" pitchFamily="34" charset="0"/>
              </a:rPr>
              <a:t>quản lý, phân tích và diễn giải dữ liệu</a:t>
            </a:r>
            <a:r>
              <a:rPr lang="en-US" sz="1400" dirty="0">
                <a:latin typeface="Arial" pitchFamily="34" charset="0"/>
                <a:cs typeface="Arial" pitchFamily="34" charset="0"/>
              </a:rPr>
              <a:t> </a:t>
            </a:r>
            <a:r>
              <a:rPr lang="en-US" sz="1400" dirty="0" err="1">
                <a:latin typeface="Arial" pitchFamily="34" charset="0"/>
                <a:cs typeface="Arial" pitchFamily="34" charset="0"/>
              </a:rPr>
              <a:t>đó</a:t>
            </a:r>
            <a:r>
              <a:rPr lang="en-US" sz="1400" dirty="0">
                <a:latin typeface="Arial" pitchFamily="34" charset="0"/>
                <a:cs typeface="Arial" pitchFamily="34" charset="0"/>
              </a:rPr>
              <a:t> </a:t>
            </a:r>
            <a:r>
              <a:rPr lang="vi-VN" sz="1400" dirty="0">
                <a:latin typeface="Arial" pitchFamily="34" charset="0"/>
                <a:cs typeface="Arial" pitchFamily="34" charset="0"/>
              </a:rPr>
              <a:t>sẽ được coi là</a:t>
            </a:r>
            <a:r>
              <a:rPr lang="en-US" sz="1400" dirty="0">
                <a:latin typeface="Arial" pitchFamily="34" charset="0"/>
                <a:cs typeface="Arial" pitchFamily="34" charset="0"/>
              </a:rPr>
              <a:t> </a:t>
            </a:r>
            <a:r>
              <a:rPr lang="vi-VN" sz="1400" dirty="0">
                <a:latin typeface="Arial" pitchFamily="34" charset="0"/>
                <a:cs typeface="Arial" pitchFamily="34" charset="0"/>
              </a:rPr>
              <a:t>không đủ năng lực </a:t>
            </a:r>
            <a:r>
              <a:rPr lang="en-US" sz="1400" dirty="0" err="1">
                <a:latin typeface="Arial" pitchFamily="34" charset="0"/>
                <a:cs typeface="Arial" pitchFamily="34" charset="0"/>
              </a:rPr>
              <a:t>để</a:t>
            </a:r>
            <a:r>
              <a:rPr lang="en-US" sz="1400" dirty="0">
                <a:latin typeface="Arial" pitchFamily="34" charset="0"/>
                <a:cs typeface="Arial" pitchFamily="34" charset="0"/>
              </a:rPr>
              <a:t> </a:t>
            </a:r>
            <a:r>
              <a:rPr lang="en-US" sz="1400" dirty="0" err="1">
                <a:latin typeface="Arial" pitchFamily="34" charset="0"/>
                <a:cs typeface="Arial" pitchFamily="34" charset="0"/>
              </a:rPr>
              <a:t>trở</a:t>
            </a:r>
            <a:r>
              <a:rPr lang="en-US" sz="1400" dirty="0">
                <a:latin typeface="Arial" pitchFamily="34" charset="0"/>
                <a:cs typeface="Arial" pitchFamily="34" charset="0"/>
              </a:rPr>
              <a:t> </a:t>
            </a:r>
            <a:r>
              <a:rPr lang="en-US" sz="1400" dirty="0" err="1">
                <a:latin typeface="Arial" pitchFamily="34" charset="0"/>
                <a:cs typeface="Arial" pitchFamily="34" charset="0"/>
              </a:rPr>
              <a:t>thành</a:t>
            </a:r>
            <a:r>
              <a:rPr lang="en-US" sz="1400" dirty="0">
                <a:latin typeface="Arial" pitchFamily="34" charset="0"/>
                <a:cs typeface="Arial" pitchFamily="34" charset="0"/>
              </a:rPr>
              <a:t> </a:t>
            </a:r>
            <a:r>
              <a:rPr lang="vi-VN" sz="1400" dirty="0">
                <a:latin typeface="Arial" pitchFamily="34" charset="0"/>
                <a:cs typeface="Arial" pitchFamily="34" charset="0"/>
              </a:rPr>
              <a:t>một thành viên của</a:t>
            </a:r>
            <a:br>
              <a:rPr lang="en-US" sz="1400" dirty="0">
                <a:latin typeface="Arial" pitchFamily="34" charset="0"/>
                <a:cs typeface="Arial" pitchFamily="34" charset="0"/>
              </a:rPr>
            </a:br>
            <a:r>
              <a:rPr lang="vi-VN" sz="1400" dirty="0">
                <a:latin typeface="Arial" pitchFamily="34" charset="0"/>
                <a:cs typeface="Arial" pitchFamily="34" charset="0"/>
              </a:rPr>
              <a:t>tổ chức. Một ví dụ điển hình </a:t>
            </a:r>
            <a:r>
              <a:rPr lang="en-US" sz="1400" dirty="0" err="1">
                <a:latin typeface="Arial" pitchFamily="34" charset="0"/>
                <a:cs typeface="Arial" pitchFamily="34" charset="0"/>
              </a:rPr>
              <a:t>đã</a:t>
            </a:r>
            <a:r>
              <a:rPr lang="vi-VN" sz="1400" dirty="0">
                <a:latin typeface="Arial" pitchFamily="34" charset="0"/>
                <a:cs typeface="Arial" pitchFamily="34" charset="0"/>
              </a:rPr>
              <a:t> xảy ra trong Six</a:t>
            </a:r>
            <a:r>
              <a:rPr lang="en-US" sz="1400" dirty="0">
                <a:latin typeface="Arial" pitchFamily="34" charset="0"/>
                <a:cs typeface="Arial" pitchFamily="34" charset="0"/>
              </a:rPr>
              <a:t> </a:t>
            </a:r>
            <a:r>
              <a:rPr lang="vi-VN" sz="1400" dirty="0">
                <a:latin typeface="Arial" pitchFamily="34" charset="0"/>
                <a:cs typeface="Arial" pitchFamily="34" charset="0"/>
              </a:rPr>
              <a:t>Sigma.</a:t>
            </a:r>
            <a:r>
              <a:rPr lang="en-US" altLang="ko-KR" sz="1400" dirty="0">
                <a:latin typeface="Arial" pitchFamily="34" charset="0"/>
                <a:ea typeface="맑은 고딕" pitchFamily="50" charset="-127"/>
                <a:cs typeface="Arial" pitchFamily="34" charset="0"/>
              </a:rPr>
              <a:t> </a:t>
            </a:r>
          </a:p>
          <a:p>
            <a:pPr algn="just" eaLnBrk="1" hangingPunct="1">
              <a:lnSpc>
                <a:spcPct val="130000"/>
              </a:lnSpc>
            </a:pPr>
            <a:endParaRPr lang="en-US" altLang="ko-KR" sz="1400" dirty="0">
              <a:latin typeface="Arial" pitchFamily="34" charset="0"/>
              <a:ea typeface="맑은 고딕" pitchFamily="50" charset="-127"/>
              <a:cs typeface="Arial" pitchFamily="34" charset="0"/>
            </a:endParaRPr>
          </a:p>
          <a:p>
            <a:pPr algn="just" eaLnBrk="1" hangingPunct="1">
              <a:lnSpc>
                <a:spcPct val="130000"/>
              </a:lnSpc>
            </a:pPr>
            <a:r>
              <a:rPr lang="en-US" altLang="ko-KR" sz="1400" dirty="0">
                <a:latin typeface="Arial" pitchFamily="34" charset="0"/>
                <a:ea typeface="맑은 고딕" pitchFamily="50" charset="-127"/>
                <a:cs typeface="Arial" pitchFamily="34" charset="0"/>
              </a:rPr>
              <a:t> -</a:t>
            </a:r>
            <a:r>
              <a:rPr lang="vi-VN" sz="1400" dirty="0">
                <a:latin typeface="Arial" pitchFamily="34" charset="0"/>
                <a:cs typeface="Arial" pitchFamily="34" charset="0"/>
              </a:rPr>
              <a:t> Việc lưu trữ dữ liệu, quản lý dữ liệu, tính toán và </a:t>
            </a:r>
            <a:r>
              <a:rPr lang="en-US" sz="1400" dirty="0" err="1">
                <a:latin typeface="Arial" pitchFamily="34" charset="0"/>
                <a:cs typeface="Arial" pitchFamily="34" charset="0"/>
              </a:rPr>
              <a:t>lập</a:t>
            </a:r>
            <a:r>
              <a:rPr lang="vi-VN" sz="1400" dirty="0">
                <a:latin typeface="Arial" pitchFamily="34" charset="0"/>
                <a:cs typeface="Arial" pitchFamily="34" charset="0"/>
              </a:rPr>
              <a:t> báo cáo </a:t>
            </a:r>
            <a:r>
              <a:rPr lang="en-US" sz="1400" dirty="0" err="1">
                <a:latin typeface="Arial" pitchFamily="34" charset="0"/>
                <a:cs typeface="Arial" pitchFamily="34" charset="0"/>
              </a:rPr>
              <a:t>có</a:t>
            </a:r>
            <a:r>
              <a:rPr lang="en-US" sz="1400" dirty="0">
                <a:latin typeface="Arial" pitchFamily="34" charset="0"/>
                <a:cs typeface="Arial" pitchFamily="34" charset="0"/>
              </a:rPr>
              <a:t> </a:t>
            </a:r>
            <a:r>
              <a:rPr lang="en-US" sz="1400" dirty="0" err="1">
                <a:latin typeface="Arial" pitchFamily="34" charset="0"/>
                <a:cs typeface="Arial" pitchFamily="34" charset="0"/>
              </a:rPr>
              <a:t>thể</a:t>
            </a:r>
            <a:r>
              <a:rPr lang="en-US" sz="1400" dirty="0">
                <a:latin typeface="Arial" pitchFamily="34" charset="0"/>
                <a:cs typeface="Arial" pitchFamily="34" charset="0"/>
              </a:rPr>
              <a:t> </a:t>
            </a:r>
            <a:r>
              <a:rPr lang="en-US" sz="1400" dirty="0" err="1">
                <a:latin typeface="Arial" pitchFamily="34" charset="0"/>
                <a:cs typeface="Arial" pitchFamily="34" charset="0"/>
              </a:rPr>
              <a:t>được</a:t>
            </a:r>
            <a:r>
              <a:rPr lang="en-US" sz="1400" dirty="0">
                <a:latin typeface="Arial" pitchFamily="34" charset="0"/>
                <a:cs typeface="Arial" pitchFamily="34" charset="0"/>
              </a:rPr>
              <a:t> </a:t>
            </a:r>
            <a:r>
              <a:rPr lang="vi-VN" sz="1400" dirty="0">
                <a:latin typeface="Arial" pitchFamily="34" charset="0"/>
                <a:cs typeface="Arial" pitchFamily="34" charset="0"/>
              </a:rPr>
              <a:t>thực hiện </a:t>
            </a:r>
            <a:r>
              <a:rPr lang="en-US" sz="1400" dirty="0" err="1">
                <a:latin typeface="Arial" pitchFamily="34" charset="0"/>
                <a:cs typeface="Arial" pitchFamily="34" charset="0"/>
              </a:rPr>
              <a:t>bởi</a:t>
            </a:r>
            <a:r>
              <a:rPr lang="vi-VN" sz="1400" dirty="0">
                <a:latin typeface="Arial" pitchFamily="34" charset="0"/>
                <a:cs typeface="Arial" pitchFamily="34" charset="0"/>
              </a:rPr>
              <a:t> máy tính và</a:t>
            </a:r>
            <a:r>
              <a:rPr lang="en-US" sz="1400" dirty="0">
                <a:latin typeface="Arial" pitchFamily="34" charset="0"/>
                <a:cs typeface="Arial" pitchFamily="34" charset="0"/>
              </a:rPr>
              <a:t> </a:t>
            </a:r>
            <a:r>
              <a:rPr lang="en-US" sz="1400" dirty="0" err="1">
                <a:latin typeface="Arial" pitchFamily="34" charset="0"/>
                <a:cs typeface="Arial" pitchFamily="34" charset="0"/>
              </a:rPr>
              <a:t>những</a:t>
            </a:r>
            <a:r>
              <a:rPr lang="en-US" sz="1400" dirty="0">
                <a:latin typeface="Arial" pitchFamily="34" charset="0"/>
                <a:cs typeface="Arial" pitchFamily="34" charset="0"/>
              </a:rPr>
              <a:t> </a:t>
            </a:r>
            <a:r>
              <a:rPr lang="en-US" sz="1400" dirty="0" err="1">
                <a:latin typeface="Arial" pitchFamily="34" charset="0"/>
                <a:cs typeface="Arial" pitchFamily="34" charset="0"/>
              </a:rPr>
              <a:t>nhiệm</a:t>
            </a:r>
            <a:r>
              <a:rPr lang="en-US" sz="1400" dirty="0">
                <a:latin typeface="Arial" pitchFamily="34" charset="0"/>
                <a:cs typeface="Arial" pitchFamily="34" charset="0"/>
              </a:rPr>
              <a:t> </a:t>
            </a:r>
            <a:r>
              <a:rPr lang="en-US" sz="1400" dirty="0" err="1">
                <a:latin typeface="Arial" pitchFamily="34" charset="0"/>
                <a:cs typeface="Arial" pitchFamily="34" charset="0"/>
              </a:rPr>
              <a:t>vụ</a:t>
            </a:r>
            <a:r>
              <a:rPr lang="en-US" sz="1400" dirty="0">
                <a:latin typeface="Arial" pitchFamily="34" charset="0"/>
                <a:cs typeface="Arial" pitchFamily="34" charset="0"/>
              </a:rPr>
              <a:t> </a:t>
            </a:r>
            <a:r>
              <a:rPr lang="en-US" sz="1400" dirty="0" err="1">
                <a:latin typeface="Arial" pitchFamily="34" charset="0"/>
                <a:cs typeface="Arial" pitchFamily="34" charset="0"/>
              </a:rPr>
              <a:t>này</a:t>
            </a:r>
            <a:r>
              <a:rPr lang="en-US" sz="1400" dirty="0">
                <a:latin typeface="Arial" pitchFamily="34" charset="0"/>
                <a:cs typeface="Arial" pitchFamily="34" charset="0"/>
              </a:rPr>
              <a:t> </a:t>
            </a:r>
            <a:r>
              <a:rPr lang="vi-VN" sz="1400" dirty="0">
                <a:latin typeface="Arial" pitchFamily="34" charset="0"/>
                <a:cs typeface="Arial" pitchFamily="34" charset="0"/>
              </a:rPr>
              <a:t>có thể được xử lý bằng cách học</a:t>
            </a:r>
            <a:r>
              <a:rPr lang="en-US" sz="1400" dirty="0">
                <a:latin typeface="Arial" pitchFamily="34" charset="0"/>
                <a:cs typeface="Arial" pitchFamily="34" charset="0"/>
              </a:rPr>
              <a:t> </a:t>
            </a:r>
            <a:r>
              <a:rPr lang="en-US" sz="1400" dirty="0" err="1">
                <a:latin typeface="Arial" pitchFamily="34" charset="0"/>
                <a:cs typeface="Arial" pitchFamily="34" charset="0"/>
              </a:rPr>
              <a:t>hỏi</a:t>
            </a:r>
            <a:r>
              <a:rPr lang="vi-VN" sz="1400" dirty="0">
                <a:latin typeface="Arial" pitchFamily="34" charset="0"/>
                <a:cs typeface="Arial" pitchFamily="34" charset="0"/>
              </a:rPr>
              <a:t> để vận hành máy tính. Nhưng không giống như học</a:t>
            </a:r>
            <a:r>
              <a:rPr lang="en-US" sz="1400" dirty="0">
                <a:latin typeface="Arial" pitchFamily="34" charset="0"/>
                <a:cs typeface="Arial" pitchFamily="34" charset="0"/>
              </a:rPr>
              <a:t> </a:t>
            </a:r>
            <a:br>
              <a:rPr lang="en-US" sz="1400" dirty="0">
                <a:latin typeface="Arial" pitchFamily="34" charset="0"/>
                <a:cs typeface="Arial" pitchFamily="34" charset="0"/>
              </a:rPr>
            </a:br>
            <a:r>
              <a:rPr lang="vi-VN" sz="1400" dirty="0">
                <a:latin typeface="Arial" pitchFamily="34" charset="0"/>
                <a:cs typeface="Arial" pitchFamily="34" charset="0"/>
              </a:rPr>
              <a:t>cách sử dụng máy tính, học về phân tích dữ liệu đã tạo </a:t>
            </a:r>
            <a:r>
              <a:rPr lang="en-US" sz="1400" dirty="0" err="1">
                <a:latin typeface="Arial" pitchFamily="34" charset="0"/>
                <a:cs typeface="Arial" pitchFamily="34" charset="0"/>
              </a:rPr>
              <a:t>ra</a:t>
            </a:r>
            <a:r>
              <a:rPr lang="en-US" sz="1400" dirty="0">
                <a:latin typeface="Arial" pitchFamily="34" charset="0"/>
                <a:cs typeface="Arial" pitchFamily="34" charset="0"/>
              </a:rPr>
              <a:t> </a:t>
            </a:r>
            <a:r>
              <a:rPr lang="vi-VN" sz="1400" dirty="0">
                <a:latin typeface="Arial" pitchFamily="34" charset="0"/>
                <a:cs typeface="Arial" pitchFamily="34" charset="0"/>
              </a:rPr>
              <a:t>cơ sở khoa học </a:t>
            </a:r>
            <a:r>
              <a:rPr lang="en-US" sz="1400" dirty="0" err="1">
                <a:latin typeface="Arial" pitchFamily="34" charset="0"/>
                <a:cs typeface="Arial" pitchFamily="34" charset="0"/>
              </a:rPr>
              <a:t>cho</a:t>
            </a:r>
            <a:r>
              <a:rPr lang="vi-VN" sz="1400" dirty="0">
                <a:latin typeface="Arial" pitchFamily="34" charset="0"/>
                <a:cs typeface="Arial" pitchFamily="34" charset="0"/>
              </a:rPr>
              <a:t> việc ra quyết định, đòi hỏi tư duy logic và hiểu sâu.</a:t>
            </a:r>
            <a:endParaRPr lang="en-US" sz="1400" dirty="0">
              <a:latin typeface="Arial" pitchFamily="34" charset="0"/>
              <a:cs typeface="Arial" pitchFamily="34" charset="0"/>
            </a:endParaRPr>
          </a:p>
          <a:p>
            <a:pPr algn="just" eaLnBrk="1" hangingPunct="1">
              <a:lnSpc>
                <a:spcPct val="130000"/>
              </a:lnSpc>
            </a:pPr>
            <a:endParaRPr lang="en-US" altLang="ko-KR" sz="1400" dirty="0">
              <a:latin typeface="Arial" pitchFamily="34" charset="0"/>
              <a:ea typeface="맑은 고딕" pitchFamily="50" charset="-127"/>
              <a:cs typeface="Arial" pitchFamily="34" charset="0"/>
            </a:endParaRPr>
          </a:p>
          <a:p>
            <a:pPr algn="just" eaLnBrk="1" hangingPunct="1">
              <a:lnSpc>
                <a:spcPct val="130000"/>
              </a:lnSpc>
            </a:pPr>
            <a:r>
              <a:rPr lang="en-US" altLang="ko-KR" sz="1400" dirty="0">
                <a:latin typeface="Arial" pitchFamily="34" charset="0"/>
                <a:ea typeface="맑은 고딕" pitchFamily="50" charset="-127"/>
                <a:cs typeface="Arial" pitchFamily="34" charset="0"/>
              </a:rPr>
              <a:t>  - </a:t>
            </a:r>
            <a:r>
              <a:rPr lang="vi-VN" sz="1400" dirty="0">
                <a:latin typeface="Arial" pitchFamily="34" charset="0"/>
                <a:cs typeface="Arial" pitchFamily="34" charset="0"/>
              </a:rPr>
              <a:t>Nếu lịch sử của quản lý chất lượng được nhìn từ quan điểm của cuộc cách mạng kỹ thuật số, chúng ta có</a:t>
            </a:r>
            <a:r>
              <a:rPr lang="en-US" sz="1400" dirty="0">
                <a:latin typeface="Arial" pitchFamily="34" charset="0"/>
                <a:cs typeface="Arial" pitchFamily="34" charset="0"/>
              </a:rPr>
              <a:t> </a:t>
            </a:r>
            <a:r>
              <a:rPr lang="vi-VN" sz="1400" dirty="0">
                <a:latin typeface="Arial" pitchFamily="34" charset="0"/>
                <a:cs typeface="Arial" pitchFamily="34" charset="0"/>
              </a:rPr>
              <a:t>thể bắt đầu hiểu thế nào</a:t>
            </a:r>
            <a:r>
              <a:rPr lang="en-US" sz="1400" dirty="0">
                <a:latin typeface="Arial" pitchFamily="34" charset="0"/>
                <a:cs typeface="Arial" pitchFamily="34" charset="0"/>
              </a:rPr>
              <a:t> </a:t>
            </a:r>
            <a:r>
              <a:rPr lang="en-US" sz="1400" dirty="0" err="1">
                <a:latin typeface="Arial" pitchFamily="34" charset="0"/>
                <a:cs typeface="Arial" pitchFamily="34" charset="0"/>
              </a:rPr>
              <a:t>là</a:t>
            </a:r>
            <a:r>
              <a:rPr lang="vi-VN" sz="1400" dirty="0">
                <a:latin typeface="Arial" pitchFamily="34" charset="0"/>
                <a:cs typeface="Arial" pitchFamily="34" charset="0"/>
              </a:rPr>
              <a:t> Six Sigma, một chương trình kiểm soát chất lượng được điều hành </a:t>
            </a:r>
            <a:r>
              <a:rPr lang="en-US" sz="1400" dirty="0" err="1">
                <a:latin typeface="Arial" pitchFamily="34" charset="0"/>
                <a:cs typeface="Arial" pitchFamily="34" charset="0"/>
              </a:rPr>
              <a:t>chỉ</a:t>
            </a:r>
            <a:r>
              <a:rPr lang="en-US" sz="1400" dirty="0">
                <a:latin typeface="Arial" pitchFamily="34" charset="0"/>
                <a:cs typeface="Arial" pitchFamily="34" charset="0"/>
              </a:rPr>
              <a:t> </a:t>
            </a:r>
            <a:r>
              <a:rPr lang="vi-VN" sz="1400" dirty="0">
                <a:latin typeface="Arial" pitchFamily="34" charset="0"/>
                <a:cs typeface="Arial" pitchFamily="34" charset="0"/>
              </a:rPr>
              <a:t>bởi một </a:t>
            </a:r>
            <a:br>
              <a:rPr lang="en-US" sz="1400" dirty="0">
                <a:latin typeface="Arial" pitchFamily="34" charset="0"/>
                <a:cs typeface="Arial" pitchFamily="34" charset="0"/>
              </a:rPr>
            </a:br>
            <a:r>
              <a:rPr lang="vi-VN" sz="1400" dirty="0">
                <a:latin typeface="Arial" pitchFamily="34" charset="0"/>
                <a:cs typeface="Arial" pitchFamily="34" charset="0"/>
              </a:rPr>
              <a:t>số ít các chuyên gia đã phát triển một  phong trào</a:t>
            </a:r>
            <a:r>
              <a:rPr lang="en-US" sz="1400" dirty="0">
                <a:latin typeface="Arial" pitchFamily="34" charset="0"/>
                <a:cs typeface="Arial" pitchFamily="34" charset="0"/>
              </a:rPr>
              <a:t>,</a:t>
            </a:r>
            <a:r>
              <a:rPr lang="vi-VN" sz="1400" dirty="0">
                <a:latin typeface="Arial" pitchFamily="34" charset="0"/>
                <a:cs typeface="Arial" pitchFamily="34" charset="0"/>
              </a:rPr>
              <a:t> trong đó mỗi cá nhân người lao động dự kiến sẽ thay đổi</a:t>
            </a:r>
            <a:br>
              <a:rPr lang="en-US" sz="1400" dirty="0">
                <a:latin typeface="Arial" pitchFamily="34" charset="0"/>
                <a:cs typeface="Arial" pitchFamily="34" charset="0"/>
              </a:rPr>
            </a:br>
            <a:r>
              <a:rPr lang="vi-VN" sz="1400" dirty="0">
                <a:latin typeface="Arial" pitchFamily="34" charset="0"/>
                <a:cs typeface="Arial" pitchFamily="34" charset="0"/>
              </a:rPr>
              <a:t>chất lượng trong lĩnh vực / trách nhiệm của mình, thực hiện phân tích thống kê và </a:t>
            </a:r>
            <a:r>
              <a:rPr lang="en-US" sz="1400" dirty="0" err="1">
                <a:latin typeface="Arial" pitchFamily="34" charset="0"/>
                <a:cs typeface="Arial" pitchFamily="34" charset="0"/>
              </a:rPr>
              <a:t>thông</a:t>
            </a:r>
            <a:r>
              <a:rPr lang="en-US" sz="1400" dirty="0">
                <a:latin typeface="Arial" pitchFamily="34" charset="0"/>
                <a:cs typeface="Arial" pitchFamily="34" charset="0"/>
              </a:rPr>
              <a:t> </a:t>
            </a:r>
            <a:r>
              <a:rPr lang="en-US" sz="1400" dirty="0" err="1">
                <a:latin typeface="Arial" pitchFamily="34" charset="0"/>
                <a:cs typeface="Arial" pitchFamily="34" charset="0"/>
              </a:rPr>
              <a:t>báo</a:t>
            </a:r>
            <a:r>
              <a:rPr lang="vi-VN" sz="1400" dirty="0">
                <a:latin typeface="Arial" pitchFamily="34" charset="0"/>
                <a:cs typeface="Arial" pitchFamily="34" charset="0"/>
              </a:rPr>
              <a:t> kết quả.</a:t>
            </a:r>
            <a:endParaRPr lang="en-US" altLang="ko-KR" sz="1400" dirty="0">
              <a:latin typeface="Arial" pitchFamily="34" charset="0"/>
              <a:ea typeface="맑은 고딕" pitchFamily="50" charset="-127"/>
              <a:cs typeface="Arial" pitchFamily="34" charset="0"/>
            </a:endParaRPr>
          </a:p>
        </p:txBody>
      </p:sp>
      <p:pic>
        <p:nvPicPr>
          <p:cNvPr id="62467" name="Picture 6" descr="C:\Users\Administrator\AppData\Local\Microsoft\Windows\Temporary Internet Files\Content.IE5\7QR01XJV\20130201152913206[1].jpg"/>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0" y="0"/>
            <a:ext cx="1403350"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슬라이드 번호 개체 틀 3"/>
          <p:cNvSpPr>
            <a:spLocks noGrp="1"/>
          </p:cNvSpPr>
          <p:nvPr>
            <p:ph type="sldNum" sz="quarter" idx="4"/>
          </p:nvPr>
        </p:nvSpPr>
        <p:spPr/>
        <p:txBody>
          <a:bodyPr/>
          <a:lstStyle/>
          <a:p>
            <a:pPr>
              <a:defRPr/>
            </a:pPr>
            <a:fld id="{BA3A7022-CBD4-4A06-BAFB-3534D8B9DC6A}" type="slidenum">
              <a:rPr lang="ko-KR" altLang="en-US" smtClean="0">
                <a:latin typeface="Arial" pitchFamily="34" charset="0"/>
                <a:cs typeface="Arial" pitchFamily="34" charset="0"/>
              </a:rPr>
              <a:pPr>
                <a:defRPr/>
              </a:pPr>
              <a:t>66</a:t>
            </a:fld>
            <a:endParaRPr lang="ko-KR" altLang="en-US" dirty="0">
              <a:latin typeface="Arial" pitchFamily="34" charset="0"/>
              <a:cs typeface="Arial" pitchFamily="34" charset="0"/>
            </a:endParaRPr>
          </a:p>
        </p:txBody>
      </p:sp>
    </p:spTree>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3" name="제목 5"/>
          <p:cNvSpPr>
            <a:spLocks noGrp="1"/>
          </p:cNvSpPr>
          <p:nvPr>
            <p:ph type="title"/>
          </p:nvPr>
        </p:nvSpPr>
        <p:spPr bwMode="auto">
          <a:xfrm>
            <a:off x="495300" y="1551930"/>
            <a:ext cx="8915400" cy="724942"/>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ash"/>
                <a:miter lim="800000"/>
                <a:headEnd/>
                <a:tailEnd/>
              </a14:hiddenLine>
            </a:ext>
          </a:extLst>
        </p:spPr>
        <p:txBody>
          <a:bodyPr anchor="ctr"/>
          <a:lstStyle/>
          <a:p>
            <a:pPr eaLnBrk="1" hangingPunct="1"/>
            <a:r>
              <a:rPr lang="en-US" altLang="ko-KR" sz="3600" b="1" dirty="0">
                <a:solidFill>
                  <a:srgbClr val="C5003D"/>
                </a:solidFill>
                <a:latin typeface="Arial" pitchFamily="34" charset="0"/>
                <a:cs typeface="Arial" pitchFamily="34" charset="0"/>
              </a:rPr>
              <a:t>M3. QC 7 Tool</a:t>
            </a:r>
            <a:endParaRPr lang="ko-KR" altLang="en-US" sz="3600" b="1" dirty="0">
              <a:solidFill>
                <a:srgbClr val="C5003D"/>
              </a:solidFill>
              <a:latin typeface="Arial" pitchFamily="34" charset="0"/>
              <a:cs typeface="Arial" pitchFamily="34" charset="0"/>
            </a:endParaRPr>
          </a:p>
        </p:txBody>
      </p:sp>
      <p:sp>
        <p:nvSpPr>
          <p:cNvPr id="7" name="직사각형 6"/>
          <p:cNvSpPr/>
          <p:nvPr/>
        </p:nvSpPr>
        <p:spPr>
          <a:xfrm>
            <a:off x="2566988" y="2708275"/>
            <a:ext cx="4945062" cy="3155950"/>
          </a:xfrm>
          <a:prstGeom prst="rect">
            <a:avLst/>
          </a:prstGeom>
        </p:spPr>
        <p:txBody>
          <a:bodyPr>
            <a:spAutoFit/>
          </a:bodyPr>
          <a:lstStyle/>
          <a:p>
            <a:pPr fontAlgn="auto">
              <a:lnSpc>
                <a:spcPct val="15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(1)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Biểu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đồ</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xương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cá</a:t>
            </a:r>
            <a:endParaRPr kumimoji="0" lang="ko-KR" altLang="en-US"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5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(2)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Biểu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đồ</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Pareto</a:t>
            </a:r>
            <a:endParaRPr kumimoji="0" lang="ko-KR" altLang="en-US"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5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(3)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Biểu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đồ</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phân</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bố</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xác</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suất</a:t>
            </a:r>
            <a:endPar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5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(4) Check Sheet</a:t>
            </a:r>
          </a:p>
          <a:p>
            <a:pPr fontAlgn="auto">
              <a:lnSpc>
                <a:spcPct val="15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(5)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Phân</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tầng</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dữ</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liệu</a:t>
            </a:r>
            <a:endPar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5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(6)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Biểu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đồ</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phân</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tán</a:t>
            </a:r>
            <a:endPar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endParaRPr>
          </a:p>
          <a:p>
            <a:pPr fontAlgn="auto">
              <a:lnSpc>
                <a:spcPct val="150000"/>
              </a:lnSpc>
              <a:spcBef>
                <a:spcPts val="200"/>
              </a:spcBef>
              <a:spcAft>
                <a:spcPts val="0"/>
              </a:spcAft>
              <a:defRPr/>
            </a:pP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(7)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Biểu</a:t>
            </a:r>
            <a:r>
              <a:rPr kumimoji="0" lang="en-US" altLang="ko-KR" b="1" dirty="0">
                <a:solidFill>
                  <a:schemeClr val="tx1">
                    <a:lumMod val="75000"/>
                    <a:lumOff val="25000"/>
                  </a:schemeClr>
                </a:solidFill>
                <a:latin typeface="Arial" pitchFamily="34" charset="0"/>
                <a:ea typeface="맑은 고딕" panose="020B0503020000020004" pitchFamily="50" charset="-127"/>
                <a:cs typeface="Arial" pitchFamily="34" charset="0"/>
              </a:rPr>
              <a:t> </a:t>
            </a:r>
            <a:r>
              <a:rPr kumimoji="0" lang="en-US" altLang="ko-KR" b="1" dirty="0" err="1">
                <a:solidFill>
                  <a:schemeClr val="tx1">
                    <a:lumMod val="75000"/>
                    <a:lumOff val="25000"/>
                  </a:schemeClr>
                </a:solidFill>
                <a:latin typeface="Arial" pitchFamily="34" charset="0"/>
                <a:ea typeface="맑은 고딕" panose="020B0503020000020004" pitchFamily="50" charset="-127"/>
                <a:cs typeface="Arial" pitchFamily="34" charset="0"/>
              </a:rPr>
              <a:t>đồ</a:t>
            </a:r>
            <a:endParaRPr kumimoji="0" lang="ko-KR" altLang="en-US" b="1" dirty="0">
              <a:solidFill>
                <a:schemeClr val="tx1">
                  <a:lumMod val="75000"/>
                  <a:lumOff val="25000"/>
                </a:schemeClr>
              </a:solidFill>
              <a:latin typeface="Arial" pitchFamily="34" charset="0"/>
              <a:ea typeface="맑은 고딕" panose="020B0503020000020004" pitchFamily="50" charset="-127"/>
              <a:cs typeface="Arial" pitchFamily="34" charset="0"/>
            </a:endParaRPr>
          </a:p>
        </p:txBody>
      </p:sp>
      <p:cxnSp>
        <p:nvCxnSpPr>
          <p:cNvPr id="8" name="직선 연결선 7"/>
          <p:cNvCxnSpPr/>
          <p:nvPr/>
        </p:nvCxnSpPr>
        <p:spPr>
          <a:xfrm>
            <a:off x="2300288" y="2462213"/>
            <a:ext cx="5227637"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300288" y="6021388"/>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2300288" y="2581275"/>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슬라이드 번호 개체 틀 3"/>
          <p:cNvSpPr>
            <a:spLocks noGrp="1"/>
          </p:cNvSpPr>
          <p:nvPr>
            <p:ph type="sldNum" sz="quarter" idx="4"/>
          </p:nvPr>
        </p:nvSpPr>
        <p:spPr/>
        <p:txBody>
          <a:bodyPr/>
          <a:lstStyle/>
          <a:p>
            <a:pPr>
              <a:defRPr/>
            </a:pPr>
            <a:fld id="{BA3A7022-CBD4-4A06-BAFB-3534D8B9DC6A}" type="slidenum">
              <a:rPr lang="ko-KR" altLang="en-US" smtClean="0">
                <a:latin typeface="Arial" pitchFamily="34" charset="0"/>
                <a:cs typeface="Arial" pitchFamily="34" charset="0"/>
              </a:rPr>
              <a:pPr>
                <a:defRPr/>
              </a:pPr>
              <a:t>67</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88815104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1026"/>
          <p:cNvSpPr>
            <a:spLocks noChangeArrowheads="1"/>
          </p:cNvSpPr>
          <p:nvPr/>
        </p:nvSpPr>
        <p:spPr bwMode="auto">
          <a:xfrm>
            <a:off x="2432720" y="404664"/>
            <a:ext cx="7200800" cy="6192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just"/>
            <a:r>
              <a:rPr lang="en-US" altLang="ko-KR" sz="3200" dirty="0">
                <a:latin typeface="Arial" pitchFamily="34" charset="0"/>
                <a:ea typeface="맑은 고딕" pitchFamily="50" charset="-127"/>
                <a:cs typeface="Arial" pitchFamily="34" charset="0"/>
              </a:rPr>
              <a:t> </a:t>
            </a:r>
            <a:r>
              <a:rPr lang="en-US" altLang="ko-KR" sz="3200" b="1" dirty="0">
                <a:latin typeface="Arial" pitchFamily="34" charset="0"/>
                <a:ea typeface="맑은 고딕" pitchFamily="50" charset="-127"/>
                <a:cs typeface="Arial" pitchFamily="34" charset="0"/>
              </a:rPr>
              <a:t>Ishikawa Kaoru (1915 ~ 1989)</a:t>
            </a:r>
          </a:p>
          <a:p>
            <a:pPr algn="just"/>
            <a:endParaRPr lang="en-US" altLang="ko-KR" sz="2400" dirty="0">
              <a:latin typeface="Arial" pitchFamily="34" charset="0"/>
              <a:ea typeface="맑은 고딕" pitchFamily="50" charset="-127"/>
              <a:cs typeface="Arial" pitchFamily="34" charset="0"/>
            </a:endParaRPr>
          </a:p>
          <a:p>
            <a:pPr algn="just"/>
            <a:endParaRPr lang="en-US" altLang="ko-KR" dirty="0">
              <a:latin typeface="Arial" pitchFamily="34" charset="0"/>
              <a:ea typeface="맑은 고딕" pitchFamily="50" charset="-127"/>
              <a:cs typeface="Arial" pitchFamily="34" charset="0"/>
            </a:endParaRPr>
          </a:p>
          <a:p>
            <a:pPr algn="just"/>
            <a:r>
              <a:rPr lang="en-US" altLang="ko-KR" dirty="0" err="1">
                <a:latin typeface="Arial" pitchFamily="34" charset="0"/>
                <a:ea typeface="맑은 고딕" pitchFamily="50" charset="-127"/>
                <a:cs typeface="Arial" pitchFamily="34" charset="0"/>
              </a:rPr>
              <a:t>Người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phát</a:t>
            </a:r>
            <a:r>
              <a:rPr lang="en-US" altLang="ko-KR" dirty="0">
                <a:latin typeface="Arial" pitchFamily="34" charset="0"/>
                <a:ea typeface="맑은 고딕" pitchFamily="50" charset="-127"/>
                <a:cs typeface="Arial" pitchFamily="34" charset="0"/>
              </a:rPr>
              <a:t> minh </a:t>
            </a:r>
            <a:r>
              <a:rPr lang="en-US" altLang="ko-KR" dirty="0" err="1">
                <a:latin typeface="Arial" pitchFamily="34" charset="0"/>
                <a:ea typeface="맑은 고딕" pitchFamily="50" charset="-127"/>
                <a:cs typeface="Arial" pitchFamily="34" charset="0"/>
              </a:rPr>
              <a:t>ra</a:t>
            </a:r>
            <a:r>
              <a:rPr lang="en-US" altLang="ko-KR" dirty="0">
                <a:latin typeface="Arial" pitchFamily="34" charset="0"/>
                <a:ea typeface="맑은 고딕" pitchFamily="50" charset="-127"/>
                <a:cs typeface="Arial" pitchFamily="34" charset="0"/>
              </a:rPr>
              <a:t> QC7 tool, </a:t>
            </a:r>
            <a:r>
              <a:rPr lang="en-US" altLang="ko-KR" dirty="0" err="1">
                <a:latin typeface="Arial" pitchFamily="34" charset="0"/>
                <a:ea typeface="맑은 고딕" pitchFamily="50" charset="-127"/>
                <a:cs typeface="Arial" pitchFamily="34" charset="0"/>
              </a:rPr>
              <a:t>một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chương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trình</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cơ</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bản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về</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giáo</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dục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kiểm</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soát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và</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cải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tiến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chất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lượng</a:t>
            </a:r>
            <a:r>
              <a:rPr lang="en-US" altLang="ko-KR" dirty="0">
                <a:latin typeface="Arial" pitchFamily="34" charset="0"/>
                <a:ea typeface="맑은 고딕" pitchFamily="50" charset="-127"/>
                <a:cs typeface="Arial" pitchFamily="34" charset="0"/>
              </a:rPr>
              <a:t>.</a:t>
            </a:r>
          </a:p>
          <a:p>
            <a:pPr algn="just"/>
            <a:r>
              <a:rPr lang="en-US" altLang="ko-KR" dirty="0" err="1">
                <a:latin typeface="Arial" pitchFamily="34" charset="0"/>
                <a:ea typeface="맑은 고딕" pitchFamily="50" charset="-127"/>
                <a:cs typeface="Arial" pitchFamily="34" charset="0"/>
              </a:rPr>
              <a:t>Công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cụ</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cho</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các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hoạt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động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cải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tiến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tại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hiện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trường</a:t>
            </a:r>
            <a:r>
              <a:rPr lang="en-US" altLang="ko-KR" dirty="0">
                <a:latin typeface="Arial" pitchFamily="34" charset="0"/>
                <a:ea typeface="맑은 고딕" pitchFamily="50" charset="-127"/>
                <a:cs typeface="Arial" pitchFamily="34" charset="0"/>
              </a:rPr>
              <a:t>. </a:t>
            </a:r>
          </a:p>
          <a:p>
            <a:pPr algn="just"/>
            <a:r>
              <a:rPr lang="en-US" altLang="ko-KR" dirty="0">
                <a:latin typeface="Arial" pitchFamily="34" charset="0"/>
                <a:ea typeface="맑은 고딕" pitchFamily="50" charset="-127"/>
                <a:cs typeface="Arial" pitchFamily="34" charset="0"/>
              </a:rPr>
              <a:t>90% </a:t>
            </a:r>
            <a:r>
              <a:rPr lang="en-US" altLang="ko-KR" dirty="0" err="1">
                <a:latin typeface="Arial" pitchFamily="34" charset="0"/>
                <a:ea typeface="맑은 고딕" pitchFamily="50" charset="-127"/>
                <a:cs typeface="Arial" pitchFamily="34" charset="0"/>
              </a:rPr>
              <a:t>các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lỗi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chất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lượng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tại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hiện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trường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có</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thể</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được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giải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quyết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nếu</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áp</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dụng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đúng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đắn</a:t>
            </a:r>
            <a:r>
              <a:rPr lang="en-US" altLang="ko-KR" dirty="0">
                <a:latin typeface="Arial" pitchFamily="34" charset="0"/>
                <a:ea typeface="맑은 고딕" pitchFamily="50" charset="-127"/>
                <a:cs typeface="Arial" pitchFamily="34" charset="0"/>
              </a:rPr>
              <a:t> QC7 tools.</a:t>
            </a:r>
          </a:p>
          <a:p>
            <a:pPr algn="just"/>
            <a:r>
              <a:rPr lang="en-US" altLang="ko-KR" dirty="0">
                <a:latin typeface="Arial" pitchFamily="34" charset="0"/>
                <a:ea typeface="맑은 고딕" pitchFamily="50" charset="-127"/>
                <a:cs typeface="Arial" pitchFamily="34" charset="0"/>
              </a:rPr>
              <a:t>     </a:t>
            </a:r>
          </a:p>
          <a:p>
            <a:pPr algn="just"/>
            <a:r>
              <a:rPr lang="en-US" altLang="ko-KR" dirty="0" err="1">
                <a:latin typeface="Arial" pitchFamily="34" charset="0"/>
                <a:ea typeface="맑은 고딕" pitchFamily="50" charset="-127"/>
                <a:cs typeface="Arial" pitchFamily="34" charset="0"/>
              </a:rPr>
              <a:t>Công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cụ</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hiệu</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quả</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nhất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trong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xác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định</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mục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tiêu</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phân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tích</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thông</a:t>
            </a:r>
            <a:r>
              <a:rPr lang="en-US" altLang="ko-KR" dirty="0">
                <a:latin typeface="Arial" pitchFamily="34" charset="0"/>
                <a:ea typeface="맑은 고딕" pitchFamily="50" charset="-127"/>
                <a:cs typeface="Arial" pitchFamily="34" charset="0"/>
              </a:rPr>
              <a:t> tin </a:t>
            </a:r>
            <a:r>
              <a:rPr lang="en-US" altLang="ko-KR" dirty="0" err="1">
                <a:latin typeface="Arial" pitchFamily="34" charset="0"/>
                <a:ea typeface="맑은 고딕" pitchFamily="50" charset="-127"/>
                <a:cs typeface="Arial" pitchFamily="34" charset="0"/>
              </a:rPr>
              <a:t>từ</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một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tập</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hợp</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dữ</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liệu</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Đây</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cũng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là</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công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cụ</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cần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thiết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cho</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tất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cả</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các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hoạt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động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liên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quan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đến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phát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triển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chất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lượng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cải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tiến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và</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quản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lý</a:t>
            </a:r>
            <a:r>
              <a:rPr lang="en-US" altLang="ko-KR" dirty="0">
                <a:latin typeface="Arial" pitchFamily="34" charset="0"/>
                <a:ea typeface="맑은 고딕" pitchFamily="50" charset="-127"/>
                <a:cs typeface="Arial" pitchFamily="34" charset="0"/>
              </a:rPr>
              <a:t>. </a:t>
            </a:r>
          </a:p>
          <a:p>
            <a:pPr algn="just"/>
            <a:endParaRPr lang="en-US" altLang="ko-KR" dirty="0">
              <a:latin typeface="Arial" pitchFamily="34" charset="0"/>
              <a:ea typeface="맑은 고딕" pitchFamily="50" charset="-127"/>
              <a:cs typeface="Arial" pitchFamily="34" charset="0"/>
            </a:endParaRPr>
          </a:p>
          <a:p>
            <a:pPr algn="just"/>
            <a:r>
              <a:rPr lang="en-US" altLang="ko-KR" dirty="0" err="1">
                <a:latin typeface="Arial" pitchFamily="34" charset="0"/>
                <a:ea typeface="맑은 고딕" pitchFamily="50" charset="-127"/>
                <a:cs typeface="Arial" pitchFamily="34" charset="0"/>
              </a:rPr>
              <a:t>Sử</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dụng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rộng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rãi</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cho</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các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tổ</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chức</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dữ</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liệu</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đơn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giản</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và</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là</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công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cụ</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thống</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kê</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thiết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yếu</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cho</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kiểm</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soát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chất</a:t>
            </a:r>
            <a:r>
              <a:rPr lang="en-US" altLang="ko-KR" dirty="0">
                <a:latin typeface="Arial" pitchFamily="34" charset="0"/>
                <a:ea typeface="맑은 고딕" pitchFamily="50" charset="-127"/>
                <a:cs typeface="Arial" pitchFamily="34" charset="0"/>
              </a:rPr>
              <a:t> </a:t>
            </a:r>
            <a:r>
              <a:rPr lang="en-US" altLang="ko-KR" dirty="0" err="1">
                <a:latin typeface="Arial" pitchFamily="34" charset="0"/>
                <a:ea typeface="맑은 고딕" pitchFamily="50" charset="-127"/>
                <a:cs typeface="Arial" pitchFamily="34" charset="0"/>
              </a:rPr>
              <a:t>lượng</a:t>
            </a:r>
            <a:r>
              <a:rPr lang="en-US" altLang="ko-KR" dirty="0">
                <a:latin typeface="Arial" pitchFamily="34" charset="0"/>
                <a:ea typeface="맑은 고딕" pitchFamily="50" charset="-127"/>
                <a:cs typeface="Arial" pitchFamily="34" charset="0"/>
              </a:rPr>
              <a:t>.</a:t>
            </a:r>
            <a:endParaRPr lang="ko-KR" altLang="en-US" dirty="0">
              <a:latin typeface="Arial" pitchFamily="34" charset="0"/>
              <a:ea typeface="맑은 고딕" pitchFamily="50" charset="-127"/>
              <a:cs typeface="Arial" pitchFamily="34" charset="0"/>
            </a:endParaRPr>
          </a:p>
          <a:p>
            <a:pPr algn="just"/>
            <a:endParaRPr lang="ko-KR" altLang="en-US" dirty="0">
              <a:latin typeface="Arial" pitchFamily="34" charset="0"/>
              <a:ea typeface="맑은 고딕" pitchFamily="50" charset="-127"/>
              <a:cs typeface="Arial" pitchFamily="34" charset="0"/>
            </a:endParaRPr>
          </a:p>
          <a:p>
            <a:pPr algn="just"/>
            <a:endParaRPr lang="en-US" altLang="ko-KR" dirty="0">
              <a:latin typeface="Arial" pitchFamily="34" charset="0"/>
              <a:ea typeface="맑은 고딕" pitchFamily="50" charset="-127"/>
              <a:cs typeface="Arial" pitchFamily="34" charset="0"/>
            </a:endParaRPr>
          </a:p>
        </p:txBody>
      </p:sp>
      <p:pic>
        <p:nvPicPr>
          <p:cNvPr id="67587"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416496" y="1988840"/>
            <a:ext cx="1728788" cy="223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68</a:t>
            </a:fld>
            <a:endParaRPr lang="ko-KR" altLang="en-US" dirty="0"/>
          </a:p>
        </p:txBody>
      </p:sp>
      <p:pic>
        <p:nvPicPr>
          <p:cNvPr id="5" name="Picture 4"/>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416496" y="4365104"/>
            <a:ext cx="1636166" cy="2231136"/>
          </a:xfrm>
          <a:prstGeom prst="rect">
            <a:avLst/>
          </a:prstGeom>
        </p:spPr>
      </p:pic>
    </p:spTree>
    <p:extLst>
      <p:ext uri="{BB962C8B-B14F-4D97-AF65-F5344CB8AC3E}">
        <p14:creationId xmlns:p14="http://schemas.microsoft.com/office/powerpoint/2010/main" val="190729775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ext Box 4"/>
          <p:cNvSpPr txBox="1">
            <a:spLocks noChangeArrowheads="1"/>
          </p:cNvSpPr>
          <p:nvPr/>
        </p:nvSpPr>
        <p:spPr bwMode="auto">
          <a:xfrm>
            <a:off x="217488" y="2506663"/>
            <a:ext cx="6823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13" tIns="45707" rIns="91413" bIns="4570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2400" b="1" dirty="0">
                <a:solidFill>
                  <a:srgbClr val="000000"/>
                </a:solidFill>
                <a:latin typeface="Arial" pitchFamily="34" charset="0"/>
                <a:ea typeface="맑은 고딕" pitchFamily="50" charset="-127"/>
                <a:cs typeface="Arial" pitchFamily="34" charset="0"/>
              </a:rPr>
              <a:t>특성요인도</a:t>
            </a:r>
          </a:p>
        </p:txBody>
      </p:sp>
      <p:sp>
        <p:nvSpPr>
          <p:cNvPr id="68611" name="Rectangle 5"/>
          <p:cNvSpPr>
            <a:spLocks noChangeArrowheads="1"/>
          </p:cNvSpPr>
          <p:nvPr/>
        </p:nvSpPr>
        <p:spPr bwMode="auto">
          <a:xfrm>
            <a:off x="5313040" y="4509120"/>
            <a:ext cx="4592960" cy="73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sysDot"/>
                <a:miter lim="800000"/>
                <a:headEnd/>
                <a:tailEnd/>
              </a14:hiddenLine>
            </a:ext>
          </a:extLst>
        </p:spPr>
        <p:txBody>
          <a:bodyPr wrap="square" lIns="91413" tIns="45707" rIns="91413" bIns="45707" anchor="ctr">
            <a:spAutoFit/>
          </a:bodyPr>
          <a:lstStyle/>
          <a:p>
            <a:pPr eaLnBrk="0"/>
            <a:r>
              <a:rPr lang="en-US" altLang="ko-KR" sz="1400" b="1" i="1" dirty="0" err="1">
                <a:solidFill>
                  <a:srgbClr val="000000"/>
                </a:solidFill>
                <a:latin typeface="Arial" pitchFamily="34" charset="0"/>
                <a:ea typeface="맑은 고딕" pitchFamily="50" charset="-127"/>
                <a:cs typeface="Arial" pitchFamily="34" charset="0"/>
              </a:rPr>
              <a:t>Biểu</a:t>
            </a:r>
            <a:r>
              <a:rPr lang="en-US" altLang="ko-KR" sz="1400" b="1" i="1" dirty="0">
                <a:solidFill>
                  <a:srgbClr val="000000"/>
                </a:solidFill>
                <a:latin typeface="Arial" pitchFamily="34" charset="0"/>
                <a:ea typeface="맑은 고딕" pitchFamily="50" charset="-127"/>
                <a:cs typeface="Arial" pitchFamily="34" charset="0"/>
              </a:rPr>
              <a:t> </a:t>
            </a:r>
            <a:r>
              <a:rPr lang="en-US" altLang="ko-KR" sz="1400" b="1" i="1" dirty="0" err="1">
                <a:solidFill>
                  <a:srgbClr val="000000"/>
                </a:solidFill>
                <a:latin typeface="Arial" pitchFamily="34" charset="0"/>
                <a:ea typeface="맑은 고딕" pitchFamily="50" charset="-127"/>
                <a:cs typeface="Arial" pitchFamily="34" charset="0"/>
              </a:rPr>
              <a:t>đồ</a:t>
            </a:r>
            <a:r>
              <a:rPr lang="en-US" altLang="ko-KR" sz="1400" b="1" i="1" dirty="0">
                <a:solidFill>
                  <a:srgbClr val="000000"/>
                </a:solidFill>
                <a:latin typeface="Arial" pitchFamily="34" charset="0"/>
                <a:ea typeface="맑은 고딕" pitchFamily="50" charset="-127"/>
                <a:cs typeface="Arial" pitchFamily="34" charset="0"/>
              </a:rPr>
              <a:t> </a:t>
            </a:r>
            <a:r>
              <a:rPr lang="en-US" altLang="ko-KR" sz="1400" b="1" i="1" dirty="0" err="1">
                <a:solidFill>
                  <a:srgbClr val="000000"/>
                </a:solidFill>
                <a:latin typeface="Arial" pitchFamily="34" charset="0"/>
                <a:ea typeface="맑은 고딕" pitchFamily="50" charset="-127"/>
                <a:cs typeface="Arial" pitchFamily="34" charset="0"/>
              </a:rPr>
              <a:t>nhân</a:t>
            </a:r>
            <a:r>
              <a:rPr lang="en-US" altLang="ko-KR" sz="1400" b="1" i="1" dirty="0">
                <a:solidFill>
                  <a:srgbClr val="000000"/>
                </a:solidFill>
                <a:latin typeface="Arial" pitchFamily="34" charset="0"/>
                <a:ea typeface="맑은 고딕" pitchFamily="50" charset="-127"/>
                <a:cs typeface="Arial" pitchFamily="34" charset="0"/>
              </a:rPr>
              <a:t> </a:t>
            </a:r>
            <a:r>
              <a:rPr lang="en-US" altLang="ko-KR" sz="1400" b="1" i="1" dirty="0" err="1">
                <a:solidFill>
                  <a:srgbClr val="000000"/>
                </a:solidFill>
                <a:latin typeface="Arial" pitchFamily="34" charset="0"/>
                <a:ea typeface="맑은 고딕" pitchFamily="50" charset="-127"/>
                <a:cs typeface="Arial" pitchFamily="34" charset="0"/>
              </a:rPr>
              <a:t>quả</a:t>
            </a:r>
            <a:r>
              <a:rPr lang="en-US" altLang="ko-KR" sz="1400" b="1" i="1" dirty="0">
                <a:solidFill>
                  <a:srgbClr val="000000"/>
                </a:solidFill>
                <a:latin typeface="Arial" pitchFamily="34" charset="0"/>
                <a:ea typeface="맑은 고딕" pitchFamily="50" charset="-127"/>
                <a:cs typeface="Arial" pitchFamily="34" charset="0"/>
              </a:rPr>
              <a:t> (Cause &amp; Effect Diagram)</a:t>
            </a:r>
          </a:p>
          <a:p>
            <a:pPr eaLnBrk="0"/>
            <a:r>
              <a:rPr lang="en-US" altLang="ko-KR" sz="1400" b="1" i="1" dirty="0" err="1">
                <a:solidFill>
                  <a:srgbClr val="000000"/>
                </a:solidFill>
                <a:latin typeface="Arial" pitchFamily="34" charset="0"/>
                <a:ea typeface="맑은 고딕" pitchFamily="50" charset="-127"/>
                <a:cs typeface="Arial" pitchFamily="34" charset="0"/>
              </a:rPr>
              <a:t>Biểu</a:t>
            </a:r>
            <a:r>
              <a:rPr lang="en-US" altLang="ko-KR" sz="1400" b="1" i="1" dirty="0">
                <a:solidFill>
                  <a:srgbClr val="000000"/>
                </a:solidFill>
                <a:latin typeface="Arial" pitchFamily="34" charset="0"/>
                <a:ea typeface="맑은 고딕" pitchFamily="50" charset="-127"/>
                <a:cs typeface="Arial" pitchFamily="34" charset="0"/>
              </a:rPr>
              <a:t> </a:t>
            </a:r>
            <a:r>
              <a:rPr lang="en-US" altLang="ko-KR" sz="1400" b="1" i="1" dirty="0" err="1">
                <a:solidFill>
                  <a:srgbClr val="000000"/>
                </a:solidFill>
                <a:latin typeface="Arial" pitchFamily="34" charset="0"/>
                <a:ea typeface="맑은 고딕" pitchFamily="50" charset="-127"/>
                <a:cs typeface="Arial" pitchFamily="34" charset="0"/>
              </a:rPr>
              <a:t>đồ</a:t>
            </a:r>
            <a:r>
              <a:rPr lang="en-US" altLang="ko-KR" sz="1400" b="1" i="1" dirty="0">
                <a:solidFill>
                  <a:srgbClr val="000000"/>
                </a:solidFill>
                <a:latin typeface="Arial" pitchFamily="34" charset="0"/>
                <a:ea typeface="맑은 고딕" pitchFamily="50" charset="-127"/>
                <a:cs typeface="Arial" pitchFamily="34" charset="0"/>
              </a:rPr>
              <a:t> </a:t>
            </a:r>
            <a:r>
              <a:rPr lang="en-US" altLang="ko-KR" sz="1400" b="1" i="1" dirty="0" err="1">
                <a:solidFill>
                  <a:srgbClr val="000000"/>
                </a:solidFill>
                <a:latin typeface="Arial" pitchFamily="34" charset="0"/>
                <a:ea typeface="맑은 고딕" pitchFamily="50" charset="-127"/>
                <a:cs typeface="Arial" pitchFamily="34" charset="0"/>
              </a:rPr>
              <a:t>xương</a:t>
            </a:r>
            <a:r>
              <a:rPr lang="en-US" altLang="ko-KR" sz="1400" b="1" i="1" dirty="0">
                <a:solidFill>
                  <a:srgbClr val="000000"/>
                </a:solidFill>
                <a:latin typeface="Arial" pitchFamily="34" charset="0"/>
                <a:ea typeface="맑은 고딕" pitchFamily="50" charset="-127"/>
                <a:cs typeface="Arial" pitchFamily="34" charset="0"/>
              </a:rPr>
              <a:t> </a:t>
            </a:r>
            <a:r>
              <a:rPr lang="en-US" altLang="ko-KR" sz="1400" b="1" i="1" dirty="0" err="1">
                <a:solidFill>
                  <a:srgbClr val="000000"/>
                </a:solidFill>
                <a:latin typeface="Arial" pitchFamily="34" charset="0"/>
                <a:ea typeface="맑은 고딕" pitchFamily="50" charset="-127"/>
                <a:cs typeface="Arial" pitchFamily="34" charset="0"/>
              </a:rPr>
              <a:t>cá</a:t>
            </a:r>
            <a:r>
              <a:rPr lang="en-US" altLang="ko-KR" sz="1400" b="1" i="1" dirty="0">
                <a:solidFill>
                  <a:srgbClr val="000000"/>
                </a:solidFill>
                <a:latin typeface="Arial" pitchFamily="34" charset="0"/>
                <a:ea typeface="맑은 고딕" pitchFamily="50" charset="-127"/>
                <a:cs typeface="Arial" pitchFamily="34" charset="0"/>
              </a:rPr>
              <a:t> (Fish-Bone Diagram)</a:t>
            </a:r>
          </a:p>
          <a:p>
            <a:pPr eaLnBrk="0"/>
            <a:r>
              <a:rPr lang="en-US" altLang="ko-KR" sz="1400" b="1" i="1" dirty="0" err="1">
                <a:latin typeface="Arial" pitchFamily="34" charset="0"/>
                <a:ea typeface="맑은 고딕" pitchFamily="50" charset="-127"/>
                <a:cs typeface="Arial" pitchFamily="34" charset="0"/>
              </a:rPr>
              <a:t>Biểu</a:t>
            </a:r>
            <a:r>
              <a:rPr lang="en-US" altLang="ko-KR" sz="1400" b="1" i="1" dirty="0">
                <a:latin typeface="Arial" pitchFamily="34" charset="0"/>
                <a:ea typeface="맑은 고딕" pitchFamily="50" charset="-127"/>
                <a:cs typeface="Arial" pitchFamily="34" charset="0"/>
              </a:rPr>
              <a:t> </a:t>
            </a:r>
            <a:r>
              <a:rPr lang="en-US" altLang="ko-KR" sz="1400" b="1" i="1" dirty="0" err="1">
                <a:latin typeface="Arial" pitchFamily="34" charset="0"/>
                <a:ea typeface="맑은 고딕" pitchFamily="50" charset="-127"/>
                <a:cs typeface="Arial" pitchFamily="34" charset="0"/>
              </a:rPr>
              <a:t>đồ</a:t>
            </a:r>
            <a:r>
              <a:rPr lang="en-US" altLang="ko-KR" sz="1400" b="1" i="1" dirty="0">
                <a:latin typeface="Arial" pitchFamily="34" charset="0"/>
                <a:ea typeface="맑은 고딕" pitchFamily="50" charset="-127"/>
                <a:cs typeface="Arial" pitchFamily="34" charset="0"/>
              </a:rPr>
              <a:t> Ishikawa (Ishikawa Diagram)</a:t>
            </a:r>
            <a:endParaRPr lang="ko-KR" altLang="en-US" sz="1400" b="1" i="1" dirty="0">
              <a:solidFill>
                <a:srgbClr val="000000"/>
              </a:solidFill>
              <a:latin typeface="Arial" pitchFamily="34" charset="0"/>
              <a:ea typeface="맑은 고딕" pitchFamily="50" charset="-127"/>
              <a:cs typeface="Arial" pitchFamily="34" charset="0"/>
            </a:endParaRPr>
          </a:p>
        </p:txBody>
      </p:sp>
      <p:sp>
        <p:nvSpPr>
          <p:cNvPr id="5" name="Text Box 4"/>
          <p:cNvSpPr txBox="1">
            <a:spLocks noChangeArrowheads="1"/>
          </p:cNvSpPr>
          <p:nvPr/>
        </p:nvSpPr>
        <p:spPr bwMode="auto">
          <a:xfrm>
            <a:off x="1361878" y="3578297"/>
            <a:ext cx="3168352" cy="1569626"/>
          </a:xfrm>
          <a:prstGeom prst="rect">
            <a:avLst/>
          </a:prstGeom>
          <a:noFill/>
          <a:ln w="12700" cap="rnd">
            <a:noFill/>
            <a:miter lim="800000"/>
            <a:headEnd type="none" w="sm" len="sm"/>
            <a:tailEnd type="none" w="sm" len="sm"/>
          </a:ln>
        </p:spPr>
        <p:txBody>
          <a:bodyPr wrap="square" lIns="91405" tIns="45703" rIns="91405" bIns="45703">
            <a:spAutoFit/>
          </a:bodyPr>
          <a:lstStyle/>
          <a:p>
            <a:pPr marL="87313" indent="-87313">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Giới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thiệu</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Định</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nghĩa</a:t>
            </a:r>
            <a:r>
              <a:rPr lang="ko-KR" altLang="en-US" sz="1600" b="1" dirty="0">
                <a:latin typeface="Arial" pitchFamily="34" charset="0"/>
                <a:ea typeface="맑은 고딕" panose="020B0503020000020004" pitchFamily="50" charset="-127"/>
                <a:cs typeface="Arial" pitchFamily="34" charset="0"/>
              </a:rPr>
              <a:t> </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Phương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pháp</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xây</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dựng</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Ví</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dụ</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Thực</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hành</a:t>
            </a:r>
            <a:endParaRPr lang="en-US" altLang="ko-KR" sz="1600" b="1" dirty="0">
              <a:latin typeface="Arial" pitchFamily="34" charset="0"/>
              <a:ea typeface="맑은 고딕" panose="020B0503020000020004" pitchFamily="50" charset="-127"/>
              <a:cs typeface="Arial" pitchFamily="34" charset="0"/>
            </a:endParaRPr>
          </a:p>
          <a:p>
            <a:pPr>
              <a:defRPr/>
            </a:pPr>
            <a:r>
              <a:rPr lang="en-US" altLang="ko-KR" sz="1600" b="1" dirty="0">
                <a:latin typeface="Arial" pitchFamily="34" charset="0"/>
                <a:ea typeface="맑은 고딕" panose="020B0503020000020004" pitchFamily="50" charset="-127"/>
                <a:cs typeface="Arial" pitchFamily="34" charset="0"/>
              </a:rPr>
              <a:t>6. </a:t>
            </a:r>
            <a:r>
              <a:rPr lang="en-US" altLang="ko-KR" sz="1600" b="1" dirty="0" err="1">
                <a:latin typeface="Arial" pitchFamily="34" charset="0"/>
                <a:ea typeface="맑은 고딕" panose="020B0503020000020004" pitchFamily="50" charset="-127"/>
                <a:cs typeface="Arial" pitchFamily="34" charset="0"/>
              </a:rPr>
              <a:t>Tổng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kết</a:t>
            </a:r>
            <a:endParaRPr lang="ko-KR" altLang="en-US" sz="1600" b="1" dirty="0">
              <a:latin typeface="Arial" pitchFamily="34" charset="0"/>
              <a:ea typeface="맑은 고딕" panose="020B0503020000020004" pitchFamily="50" charset="-127"/>
              <a:cs typeface="Arial" pitchFamily="34" charset="0"/>
            </a:endParaRPr>
          </a:p>
        </p:txBody>
      </p:sp>
      <p:sp>
        <p:nvSpPr>
          <p:cNvPr id="7" name="직사각형 6"/>
          <p:cNvSpPr/>
          <p:nvPr/>
        </p:nvSpPr>
        <p:spPr>
          <a:xfrm>
            <a:off x="0" y="2420938"/>
            <a:ext cx="9906000" cy="647700"/>
          </a:xfrm>
          <a:prstGeom prst="rect">
            <a:avLst/>
          </a:prstGeom>
          <a:solidFill>
            <a:schemeClr val="accent2">
              <a:lumMod val="60000"/>
              <a:lumOff val="40000"/>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a:lnSpc>
                <a:spcPct val="85000"/>
              </a:lnSpc>
              <a:spcBef>
                <a:spcPct val="30000"/>
              </a:spcBef>
              <a:spcAft>
                <a:spcPct val="30000"/>
              </a:spcAft>
              <a:buFont typeface="Wingdings" pitchFamily="2" charset="2"/>
              <a:buNone/>
              <a:defRPr/>
            </a:pPr>
            <a:endParaRPr lang="ko-KR" altLang="en-US" sz="1200" b="1" dirty="0">
              <a:solidFill>
                <a:srgbClr val="FFFFFF"/>
              </a:solidFill>
              <a:latin typeface="Arial" pitchFamily="34" charset="0"/>
              <a:cs typeface="Arial" pitchFamily="34" charset="0"/>
            </a:endParaRPr>
          </a:p>
        </p:txBody>
      </p:sp>
      <p:pic>
        <p:nvPicPr>
          <p:cNvPr id="68613" name="Picture 8"/>
          <p:cNvPicPr>
            <a:picLocks noChangeAspect="1" noChangeArrowheads="1"/>
          </p:cNvPicPr>
          <p:nvPr/>
        </p:nvPicPr>
        <p:blipFill>
          <a:blip r:embed="rId3" cstate="print"/>
          <a:stretch>
            <a:fillRect/>
          </a:stretch>
        </p:blipFill>
        <p:spPr bwMode="auto">
          <a:xfrm>
            <a:off x="4872038" y="1530378"/>
            <a:ext cx="4692650" cy="2690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69</a:t>
            </a:fld>
            <a:endParaRPr lang="ko-KR" altLang="en-US" dirty="0">
              <a:latin typeface="Arial" pitchFamily="34" charset="0"/>
              <a:cs typeface="Arial" pitchFamily="34" charset="0"/>
            </a:endParaRPr>
          </a:p>
        </p:txBody>
      </p:sp>
      <p:sp>
        <p:nvSpPr>
          <p:cNvPr id="8" name="Rectangle 5"/>
          <p:cNvSpPr>
            <a:spLocks noChangeArrowheads="1"/>
          </p:cNvSpPr>
          <p:nvPr/>
        </p:nvSpPr>
        <p:spPr bwMode="auto">
          <a:xfrm>
            <a:off x="46528" y="2432754"/>
            <a:ext cx="4834464" cy="646305"/>
          </a:xfrm>
          <a:prstGeom prst="rect">
            <a:avLst/>
          </a:prstGeom>
          <a:solidFill>
            <a:schemeClr val="accent2">
              <a:lumMod val="40000"/>
              <a:lumOff val="60000"/>
            </a:schemeClr>
          </a:solidFill>
          <a:ln>
            <a:noFill/>
          </a:ln>
        </p:spPr>
        <p:txBody>
          <a:bodyPr wrap="square" lIns="91413" tIns="45707" rIns="91413" bIns="45707" anchor="ctr">
            <a:spAutoFit/>
          </a:bodyPr>
          <a:lstStyle/>
          <a:p>
            <a:pPr eaLnBrk="0"/>
            <a:r>
              <a:rPr lang="en-US" altLang="ko-KR" b="1" dirty="0" err="1">
                <a:solidFill>
                  <a:srgbClr val="000000"/>
                </a:solidFill>
                <a:latin typeface="Arial" pitchFamily="34" charset="0"/>
                <a:ea typeface="맑은 고딕" pitchFamily="50" charset="-127"/>
                <a:cs typeface="Arial" pitchFamily="34" charset="0"/>
              </a:rPr>
              <a:t>Biểu</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đồ</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nhân</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quả</a:t>
            </a:r>
            <a:r>
              <a:rPr lang="en-US" altLang="ko-KR" b="1" dirty="0">
                <a:solidFill>
                  <a:srgbClr val="000000"/>
                </a:solidFill>
                <a:latin typeface="Arial" pitchFamily="34" charset="0"/>
                <a:ea typeface="맑은 고딕" pitchFamily="50" charset="-127"/>
                <a:cs typeface="Arial" pitchFamily="34" charset="0"/>
              </a:rPr>
              <a:t> </a:t>
            </a:r>
          </a:p>
          <a:p>
            <a:pPr eaLnBrk="0"/>
            <a:r>
              <a:rPr lang="en-US" altLang="ko-KR" b="1" dirty="0">
                <a:solidFill>
                  <a:srgbClr val="000000"/>
                </a:solidFill>
                <a:latin typeface="Arial" pitchFamily="34" charset="0"/>
                <a:ea typeface="맑은 고딕" pitchFamily="50" charset="-127"/>
                <a:cs typeface="Arial" pitchFamily="34" charset="0"/>
              </a:rPr>
              <a:t>(Cause &amp; Effect Diagram)</a:t>
            </a:r>
          </a:p>
        </p:txBody>
      </p:sp>
    </p:spTree>
    <p:extLst>
      <p:ext uri="{BB962C8B-B14F-4D97-AF65-F5344CB8AC3E}">
        <p14:creationId xmlns:p14="http://schemas.microsoft.com/office/powerpoint/2010/main" val="270302249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9"/>
          <p:cNvSpPr>
            <a:spLocks noChangeArrowheads="1"/>
          </p:cNvSpPr>
          <p:nvPr/>
        </p:nvSpPr>
        <p:spPr bwMode="auto">
          <a:xfrm>
            <a:off x="500063" y="4005064"/>
            <a:ext cx="7539243" cy="289310"/>
          </a:xfrm>
          <a:prstGeom prst="rect">
            <a:avLst/>
          </a:prstGeom>
          <a:noFill/>
          <a:ln w="9525">
            <a:noFill/>
            <a:miter lim="800000"/>
            <a:headEnd/>
            <a:tailEnd/>
          </a:ln>
        </p:spPr>
        <p:txBody>
          <a:bodyPr wrap="none">
            <a:spAutoFit/>
          </a:bodyPr>
          <a:lstStyle/>
          <a:p>
            <a:pPr>
              <a:lnSpc>
                <a:spcPct val="80000"/>
              </a:lnSpc>
              <a:spcBef>
                <a:spcPct val="20000"/>
              </a:spcBef>
              <a:defRPr/>
            </a:pPr>
            <a:r>
              <a:rPr lang="en-US" altLang="ko-KR" sz="1600" b="1" dirty="0" err="1">
                <a:latin typeface="Arial" pitchFamily="34" charset="0"/>
                <a:ea typeface="맑은 고딕" pitchFamily="50" charset="-127"/>
                <a:cs typeface="Arial" pitchFamily="34" charset="0"/>
              </a:rPr>
              <a:t>Nếu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Kết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quả</a:t>
            </a:r>
            <a:r>
              <a:rPr lang="en-US" altLang="ko-KR" sz="1600" dirty="0">
                <a:effectLst>
                  <a:outerShdw blurRad="38100" dist="38100" dir="2700000" algn="tl">
                    <a:srgbClr val="000000">
                      <a:alpha val="43137"/>
                    </a:srgbClr>
                  </a:outerShdw>
                </a:effectLst>
                <a:latin typeface="Arial" pitchFamily="34" charset="0"/>
                <a:ea typeface="맑은 고딕" pitchFamily="50" charset="-127"/>
                <a:cs typeface="Arial" pitchFamily="34" charset="0"/>
              </a:rPr>
              <a:t>』</a:t>
            </a:r>
            <a:r>
              <a:rPr lang="ko-KR" altLang="en-US"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Nguyên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nhân</a:t>
            </a:r>
            <a:r>
              <a:rPr lang="en-US" altLang="ko-KR" sz="1600" dirty="0">
                <a:effectLst>
                  <a:outerShdw blurRad="38100" dist="38100" dir="2700000" algn="tl">
                    <a:srgbClr val="000000">
                      <a:alpha val="43137"/>
                    </a:srgbClr>
                  </a:outerShdw>
                </a:effectLst>
                <a:latin typeface="Arial" pitchFamily="34" charset="0"/>
                <a:ea typeface="맑은 고딕" pitchFamily="50" charset="-127"/>
                <a:cs typeface="Arial" pitchFamily="34" charset="0"/>
              </a:rPr>
              <a: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diễn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tả</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trong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cùng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một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bức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tranh</a:t>
            </a:r>
            <a:r>
              <a:rPr lang="en-US" altLang="ko-KR" sz="1600" b="1" dirty="0">
                <a:latin typeface="Arial" pitchFamily="34" charset="0"/>
                <a:ea typeface="맑은 고딕" pitchFamily="50" charset="-127"/>
                <a:cs typeface="Arial" pitchFamily="34" charset="0"/>
              </a:rPr>
              <a:t>…</a:t>
            </a:r>
          </a:p>
        </p:txBody>
      </p:sp>
      <p:sp>
        <p:nvSpPr>
          <p:cNvPr id="69635"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ko-KR" altLang="en-US" sz="2000" b="1" dirty="0">
              <a:latin typeface="Arial" pitchFamily="34" charset="0"/>
              <a:ea typeface="맑은 고딕" pitchFamily="50" charset="-127"/>
              <a:cs typeface="Arial" pitchFamily="34" charset="0"/>
            </a:endParaRPr>
          </a:p>
        </p:txBody>
      </p:sp>
      <p:sp>
        <p:nvSpPr>
          <p:cNvPr id="69636" name="Text Box 4"/>
          <p:cNvSpPr txBox="1">
            <a:spLocks noChangeArrowheads="1"/>
          </p:cNvSpPr>
          <p:nvPr/>
        </p:nvSpPr>
        <p:spPr bwMode="auto">
          <a:xfrm>
            <a:off x="776288" y="4365426"/>
            <a:ext cx="7993136" cy="153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177800" indent="-1778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Font typeface="Wingdings" pitchFamily="2" charset="2"/>
              <a:buChar char="§"/>
            </a:pPr>
            <a:r>
              <a:rPr lang="en-US" altLang="ko-KR" sz="1600" dirty="0" err="1">
                <a:latin typeface="Arial" pitchFamily="34" charset="0"/>
                <a:ea typeface="맑은 고딕" pitchFamily="50" charset="-127"/>
                <a:cs typeface="Arial" pitchFamily="34" charset="0"/>
              </a:rPr>
              <a:t>Bạn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phát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hiện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tố</a:t>
            </a:r>
            <a:r>
              <a:rPr lang="en-US" altLang="ko-KR" sz="1600" dirty="0">
                <a:latin typeface="Arial" pitchFamily="34" charset="0"/>
                <a:ea typeface="맑은 고딕" pitchFamily="50" charset="-127"/>
                <a:cs typeface="Arial" pitchFamily="34" charset="0"/>
              </a:rPr>
              <a:t>/</a:t>
            </a:r>
            <a:r>
              <a:rPr lang="en-US" altLang="ko-KR" sz="1600" dirty="0" err="1">
                <a:latin typeface="Arial" pitchFamily="34" charset="0"/>
                <a:ea typeface="맑은 고딕" pitchFamily="50" charset="-127"/>
                <a:cs typeface="Arial" pitchFamily="34" charset="0"/>
              </a:rPr>
              <a:t>nguyên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còn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thiếu</a:t>
            </a:r>
            <a:r>
              <a:rPr lang="en-US" altLang="ko-KR" sz="1600" dirty="0">
                <a:latin typeface="Arial" pitchFamily="34" charset="0"/>
                <a:ea typeface="맑은 고딕" pitchFamily="50" charset="-127"/>
                <a:cs typeface="Arial" pitchFamily="34" charset="0"/>
              </a:rPr>
              <a:t>.</a:t>
            </a:r>
          </a:p>
          <a:p>
            <a:pPr eaLnBrk="1" hangingPunct="1">
              <a:lnSpc>
                <a:spcPct val="150000"/>
              </a:lnSpc>
              <a:buFont typeface="Wingdings" pitchFamily="2" charset="2"/>
              <a:buChar char="§"/>
            </a:pPr>
            <a:r>
              <a:rPr lang="en-US" altLang="ko-KR" sz="1600" dirty="0" err="1">
                <a:latin typeface="Arial" pitchFamily="34" charset="0"/>
                <a:ea typeface="맑은 고딕" pitchFamily="50" charset="-127"/>
                <a:cs typeface="Arial" pitchFamily="34" charset="0"/>
              </a:rPr>
              <a:t>Bạn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xác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định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mối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quan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hệ</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giữa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tố</a:t>
            </a:r>
            <a:r>
              <a:rPr lang="en-US" altLang="ko-KR" sz="1600" dirty="0">
                <a:latin typeface="Arial" pitchFamily="34" charset="0"/>
                <a:ea typeface="맑은 고딕" pitchFamily="50" charset="-127"/>
                <a:cs typeface="Arial" pitchFamily="34" charset="0"/>
              </a:rPr>
              <a:t>/</a:t>
            </a:r>
            <a:r>
              <a:rPr lang="en-US" altLang="ko-KR" sz="1600" dirty="0" err="1">
                <a:latin typeface="Arial" pitchFamily="34" charset="0"/>
                <a:ea typeface="맑은 고딕" pitchFamily="50" charset="-127"/>
                <a:cs typeface="Arial" pitchFamily="34" charset="0"/>
              </a:rPr>
              <a:t>nguyên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a:t>
            </a:r>
          </a:p>
          <a:p>
            <a:pPr eaLnBrk="1" hangingPunct="1">
              <a:lnSpc>
                <a:spcPct val="150000"/>
              </a:lnSpc>
              <a:buFont typeface="Wingdings" pitchFamily="2" charset="2"/>
              <a:buChar char="§"/>
            </a:pPr>
            <a:r>
              <a:rPr lang="en-US" altLang="ko-KR" sz="1600" dirty="0" err="1">
                <a:latin typeface="Arial" pitchFamily="34" charset="0"/>
                <a:ea typeface="맑은 고딕" pitchFamily="50" charset="-127"/>
                <a:cs typeface="Arial" pitchFamily="34" charset="0"/>
              </a:rPr>
              <a:t>Bạn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biết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cần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bắt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đầu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hoạt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động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cải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tiến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từ</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đâu</a:t>
            </a:r>
            <a:r>
              <a:rPr lang="en-US" altLang="ko-KR" sz="1600" dirty="0">
                <a:latin typeface="Arial" pitchFamily="34" charset="0"/>
                <a:ea typeface="맑은 고딕" pitchFamily="50" charset="-127"/>
                <a:cs typeface="Arial" pitchFamily="34" charset="0"/>
              </a:rPr>
              <a:t>.</a:t>
            </a:r>
          </a:p>
          <a:p>
            <a:pPr eaLnBrk="1" hangingPunct="1">
              <a:lnSpc>
                <a:spcPct val="150000"/>
              </a:lnSpc>
              <a:buFont typeface="Wingdings" pitchFamily="2" charset="2"/>
              <a:buChar char="§"/>
            </a:pPr>
            <a:r>
              <a:rPr lang="en-US" altLang="ko-KR" sz="1600" dirty="0" err="1">
                <a:latin typeface="Arial" pitchFamily="34" charset="0"/>
                <a:ea typeface="맑은 고딕" pitchFamily="50" charset="-127"/>
                <a:cs typeface="Arial" pitchFamily="34" charset="0"/>
              </a:rPr>
              <a:t>Sự</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truyền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đạt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cải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thiện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vì</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tất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cả</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những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người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quan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cùng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nhìn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vào</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một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bức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tranh</a:t>
            </a:r>
            <a:r>
              <a:rPr lang="en-US" altLang="ko-KR" sz="1600" dirty="0">
                <a:latin typeface="Arial" pitchFamily="34" charset="0"/>
                <a:ea typeface="맑은 고딕" pitchFamily="50" charset="-127"/>
                <a:cs typeface="Arial" pitchFamily="34" charset="0"/>
              </a:rPr>
              <a:t>. </a:t>
            </a:r>
            <a:endParaRPr lang="ko-KR" altLang="en-US" sz="1600" dirty="0">
              <a:latin typeface="Arial" pitchFamily="34" charset="0"/>
              <a:ea typeface="맑은 고딕" pitchFamily="50" charset="-127"/>
              <a:cs typeface="Arial" pitchFamily="34" charset="0"/>
            </a:endParaRPr>
          </a:p>
        </p:txBody>
      </p:sp>
      <p:sp>
        <p:nvSpPr>
          <p:cNvPr id="69637"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
        <p:nvSpPr>
          <p:cNvPr id="10" name="Text Box 4"/>
          <p:cNvSpPr txBox="1">
            <a:spLocks noChangeArrowheads="1"/>
          </p:cNvSpPr>
          <p:nvPr/>
        </p:nvSpPr>
        <p:spPr bwMode="auto">
          <a:xfrm>
            <a:off x="488950" y="1052513"/>
            <a:ext cx="8856663" cy="2376487"/>
          </a:xfrm>
          <a:prstGeom prst="rect">
            <a:avLst/>
          </a:prstGeom>
          <a:solidFill>
            <a:schemeClr val="accent5">
              <a:lumMod val="20000"/>
              <a:lumOff val="80000"/>
            </a:schemeClr>
          </a:solidFill>
          <a:ln w="9525">
            <a:noFill/>
            <a:miter lim="800000"/>
            <a:headEnd/>
            <a:tailEnd/>
          </a:ln>
        </p:spPr>
        <p:txBody>
          <a:bodyPr anchor="ctr"/>
          <a:lstStyle/>
          <a:p>
            <a:pPr marL="177800" indent="-177800">
              <a:buFont typeface="Wingdings" pitchFamily="2" charset="2"/>
              <a:buChar char="§"/>
              <a:defRPr/>
            </a:pPr>
            <a:r>
              <a:rPr lang="en-US" altLang="ko-KR" sz="1600" b="1" u="sng" dirty="0" err="1">
                <a:latin typeface="Arial" pitchFamily="34" charset="0"/>
                <a:ea typeface="맑은 고딕" pitchFamily="50" charset="-127"/>
                <a:cs typeface="Arial" pitchFamily="34" charset="0"/>
              </a:rPr>
              <a:t>Chỉ</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cần</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nhìn</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lướt</a:t>
            </a:r>
            <a:r>
              <a:rPr lang="en-US" altLang="ko-KR" sz="1600" b="1" u="sng" dirty="0">
                <a:latin typeface="Arial" pitchFamily="34" charset="0"/>
                <a:ea typeface="맑은 고딕" pitchFamily="50" charset="-127"/>
                <a:cs typeface="Arial" pitchFamily="34" charset="0"/>
              </a:rPr>
              <a:t> qua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biết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tố</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động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tới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kết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quả</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cuối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cùng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và</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động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lẫn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nhau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như</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thế</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nào</a:t>
            </a:r>
            <a:r>
              <a:rPr lang="en-US" altLang="ko-KR" sz="1600" dirty="0">
                <a:latin typeface="Arial" pitchFamily="34" charset="0"/>
                <a:ea typeface="맑은 고딕" pitchFamily="50" charset="-127"/>
                <a:cs typeface="Arial" pitchFamily="34" charset="0"/>
              </a:rPr>
              <a:t>.</a:t>
            </a:r>
          </a:p>
          <a:p>
            <a:pPr>
              <a:defRPr/>
            </a:pPr>
            <a:endParaRPr lang="en-US" altLang="ko-KR" sz="1600" dirty="0">
              <a:latin typeface="Arial" pitchFamily="34" charset="0"/>
              <a:ea typeface="맑은 고딕" pitchFamily="50" charset="-127"/>
              <a:cs typeface="Arial" pitchFamily="34" charset="0"/>
            </a:endParaRPr>
          </a:p>
          <a:p>
            <a:pPr marL="177800" indent="-177800">
              <a:buFont typeface="Wingdings" pitchFamily="2" charset="2"/>
              <a:buChar char="§"/>
              <a:defRPr/>
            </a:pPr>
            <a:r>
              <a:rPr lang="en-US" altLang="ko-KR" sz="1600" b="1" u="sng" dirty="0" err="1">
                <a:latin typeface="Arial" pitchFamily="34" charset="0"/>
                <a:ea typeface="맑은 고딕" pitchFamily="50" charset="-127"/>
                <a:cs typeface="Arial" pitchFamily="34" charset="0"/>
              </a:rPr>
              <a:t>Chỉ</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cần</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nhìn</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lướt</a:t>
            </a:r>
            <a:r>
              <a:rPr lang="en-US" altLang="ko-KR" sz="1600" b="1" u="sng" dirty="0">
                <a:latin typeface="Arial" pitchFamily="34" charset="0"/>
                <a:ea typeface="맑은 고딕" pitchFamily="50" charset="-127"/>
                <a:cs typeface="Arial" pitchFamily="34" charset="0"/>
              </a:rPr>
              <a:t> qua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biết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nguyên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dẫn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đến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lỗi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điển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hình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và</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chúng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quan</a:t>
            </a:r>
            <a:r>
              <a:rPr lang="en-US" altLang="ko-KR" sz="1600" dirty="0">
                <a:latin typeface="Arial" pitchFamily="34" charset="0"/>
                <a:ea typeface="맑은 고딕" pitchFamily="50" charset="-127"/>
                <a:cs typeface="Arial" pitchFamily="34" charset="0"/>
              </a:rPr>
              <a:t> hay </a:t>
            </a:r>
            <a:r>
              <a:rPr lang="en-US" altLang="ko-KR" sz="1600" dirty="0" err="1">
                <a:latin typeface="Arial" pitchFamily="34" charset="0"/>
                <a:ea typeface="맑은 고딕" pitchFamily="50" charset="-127"/>
                <a:cs typeface="Arial" pitchFamily="34" charset="0"/>
              </a:rPr>
              <a:t>tác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động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tới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nhau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như</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thế</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nào</a:t>
            </a:r>
            <a:r>
              <a:rPr lang="en-US" altLang="ko-KR" sz="1600" dirty="0">
                <a:latin typeface="Arial" pitchFamily="34" charset="0"/>
                <a:ea typeface="맑은 고딕" pitchFamily="50" charset="-127"/>
                <a:cs typeface="Arial" pitchFamily="34" charset="0"/>
              </a:rPr>
              <a:t>. </a:t>
            </a:r>
          </a:p>
          <a:p>
            <a:pPr>
              <a:defRPr/>
            </a:pPr>
            <a:endParaRPr lang="en-US" altLang="ko-KR" sz="1600" dirty="0">
              <a:latin typeface="Arial" pitchFamily="34" charset="0"/>
              <a:ea typeface="맑은 고딕" pitchFamily="50" charset="-127"/>
              <a:cs typeface="Arial" pitchFamily="34" charset="0"/>
            </a:endParaRPr>
          </a:p>
          <a:p>
            <a:pPr marL="177800" indent="-177800">
              <a:buFont typeface="Wingdings" pitchFamily="2" charset="2"/>
              <a:buChar char="§"/>
              <a:defRPr/>
            </a:pPr>
            <a:r>
              <a:rPr lang="en-US" altLang="ko-KR" sz="1600" b="1" u="sng" dirty="0" err="1">
                <a:latin typeface="Arial" pitchFamily="34" charset="0"/>
                <a:ea typeface="맑은 고딕" pitchFamily="50" charset="-127"/>
                <a:cs typeface="Arial" pitchFamily="34" charset="0"/>
              </a:rPr>
              <a:t>Chỉ</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cần</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nhìn</a:t>
            </a:r>
            <a:r>
              <a:rPr lang="en-US" altLang="ko-KR" sz="1600" b="1" u="sng" dirty="0">
                <a:latin typeface="Arial" pitchFamily="34" charset="0"/>
                <a:ea typeface="맑은 고딕" pitchFamily="50" charset="-127"/>
                <a:cs typeface="Arial" pitchFamily="34" charset="0"/>
              </a:rPr>
              <a:t> </a:t>
            </a:r>
            <a:r>
              <a:rPr lang="en-US" altLang="ko-KR" sz="1600" b="1" u="sng" dirty="0" err="1">
                <a:latin typeface="Arial" pitchFamily="34" charset="0"/>
                <a:ea typeface="맑은 고딕" pitchFamily="50" charset="-127"/>
                <a:cs typeface="Arial" pitchFamily="34" charset="0"/>
              </a:rPr>
              <a:t>lướt</a:t>
            </a:r>
            <a:r>
              <a:rPr lang="en-US" altLang="ko-KR" sz="1600" b="1" u="sng" dirty="0">
                <a:latin typeface="Arial" pitchFamily="34" charset="0"/>
                <a:ea typeface="맑은 고딕" pitchFamily="50" charset="-127"/>
                <a:cs typeface="Arial" pitchFamily="34" charset="0"/>
              </a:rPr>
              <a:t> qua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biết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nguyên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dẫn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đến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những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rủi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ro</a:t>
            </a:r>
            <a:r>
              <a:rPr lang="en-US" altLang="ko-KR" sz="1600" dirty="0">
                <a:latin typeface="Arial" pitchFamily="34" charset="0"/>
                <a:ea typeface="맑은 고딕" pitchFamily="50" charset="-127"/>
                <a:cs typeface="Arial" pitchFamily="34" charset="0"/>
              </a:rPr>
              <a:t>, tai </a:t>
            </a:r>
            <a:r>
              <a:rPr lang="en-US" altLang="ko-KR" sz="1600" dirty="0" err="1">
                <a:latin typeface="Arial" pitchFamily="34" charset="0"/>
                <a:ea typeface="맑은 고딕" pitchFamily="50" charset="-127"/>
                <a:cs typeface="Arial" pitchFamily="34" charset="0"/>
              </a:rPr>
              <a:t>nạn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thường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gặp</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và</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chúng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quan</a:t>
            </a:r>
            <a:r>
              <a:rPr lang="en-US" altLang="ko-KR" sz="1600" dirty="0">
                <a:latin typeface="Arial" pitchFamily="34" charset="0"/>
                <a:ea typeface="맑은 고딕" pitchFamily="50" charset="-127"/>
                <a:cs typeface="Arial" pitchFamily="34" charset="0"/>
              </a:rPr>
              <a:t> hay </a:t>
            </a:r>
            <a:r>
              <a:rPr lang="en-US" altLang="ko-KR" sz="1600" dirty="0" err="1">
                <a:latin typeface="Arial" pitchFamily="34" charset="0"/>
                <a:ea typeface="맑은 고딕" pitchFamily="50" charset="-127"/>
                <a:cs typeface="Arial" pitchFamily="34" charset="0"/>
              </a:rPr>
              <a:t>tác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động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tới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nhau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như</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thế</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nào</a:t>
            </a:r>
            <a:r>
              <a:rPr lang="en-US" altLang="ko-KR" sz="1600" dirty="0">
                <a:latin typeface="Arial" pitchFamily="34" charset="0"/>
                <a:ea typeface="맑은 고딕" pitchFamily="50" charset="-127"/>
                <a:cs typeface="Arial" pitchFamily="34" charset="0"/>
              </a:rPr>
              <a:t>. </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70</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78643653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9"/>
          <p:cNvSpPr>
            <a:spLocks noChangeArrowheads="1"/>
          </p:cNvSpPr>
          <p:nvPr/>
        </p:nvSpPr>
        <p:spPr bwMode="auto">
          <a:xfrm>
            <a:off x="339725" y="1123950"/>
            <a:ext cx="2533066" cy="289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80000"/>
              </a:lnSpc>
              <a:spcBef>
                <a:spcPct val="20000"/>
              </a:spcBef>
            </a:pP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gì</a:t>
            </a:r>
            <a:r>
              <a:rPr lang="en-US" altLang="ko-KR" sz="1600" b="1" dirty="0">
                <a:latin typeface="Arial" pitchFamily="34" charset="0"/>
                <a:ea typeface="맑은 고딕" pitchFamily="50" charset="-127"/>
                <a:cs typeface="Arial" pitchFamily="34" charset="0"/>
              </a:rPr>
              <a:t>?</a:t>
            </a:r>
          </a:p>
        </p:txBody>
      </p:sp>
      <p:sp>
        <p:nvSpPr>
          <p:cNvPr id="70659"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Định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nghĩa</a:t>
            </a:r>
            <a:endParaRPr lang="ko-KR" altLang="en-US" sz="2000" b="1" dirty="0">
              <a:latin typeface="Arial" pitchFamily="34" charset="0"/>
              <a:ea typeface="맑은 고딕" pitchFamily="50" charset="-127"/>
              <a:cs typeface="Arial" pitchFamily="34" charset="0"/>
            </a:endParaRPr>
          </a:p>
        </p:txBody>
      </p:sp>
      <p:sp>
        <p:nvSpPr>
          <p:cNvPr id="70660" name="Text Box 4"/>
          <p:cNvSpPr txBox="1">
            <a:spLocks noChangeArrowheads="1"/>
          </p:cNvSpPr>
          <p:nvPr/>
        </p:nvSpPr>
        <p:spPr bwMode="auto">
          <a:xfrm>
            <a:off x="631825" y="1484313"/>
            <a:ext cx="5834063" cy="165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177800" indent="-1778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Font typeface="Wingdings" pitchFamily="2" charset="2"/>
              <a:buChar char="§"/>
            </a:pPr>
            <a:r>
              <a:rPr lang="en-US" altLang="ko-KR" sz="1200" dirty="0" err="1">
                <a:latin typeface="Arial" pitchFamily="34" charset="0"/>
                <a:ea typeface="맑은 고딕" pitchFamily="50" charset="-127"/>
                <a:cs typeface="Arial" pitchFamily="34" charset="0"/>
              </a:rPr>
              <a:t>Một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phương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pháp</a:t>
            </a:r>
            <a:r>
              <a:rPr lang="en-US" altLang="ko-KR" sz="1200" dirty="0">
                <a:latin typeface="Arial" pitchFamily="34" charset="0"/>
                <a:ea typeface="맑은 고딕" pitchFamily="50" charset="-127"/>
                <a:cs typeface="Arial" pitchFamily="34" charset="0"/>
              </a:rPr>
              <a:t> minh </a:t>
            </a:r>
            <a:r>
              <a:rPr lang="en-US" altLang="ko-KR" sz="1200" dirty="0" err="1">
                <a:latin typeface="Arial" pitchFamily="34" charset="0"/>
                <a:ea typeface="맑은 고딕" pitchFamily="50" charset="-127"/>
                <a:cs typeface="Arial" pitchFamily="34" charset="0"/>
              </a:rPr>
              <a:t>họa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dễ</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giải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mối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quan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hệ</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giữa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nguyên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đặc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điểm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đầu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ra</a:t>
            </a:r>
            <a:r>
              <a:rPr lang="en-US" altLang="ko-KR" sz="1200" dirty="0">
                <a:latin typeface="Arial" pitchFamily="34" charset="0"/>
                <a:ea typeface="맑은 고딕" pitchFamily="50" charset="-127"/>
                <a:cs typeface="Arial" pitchFamily="34" charset="0"/>
              </a:rPr>
              <a:t>).</a:t>
            </a:r>
            <a:endParaRPr lang="ko-KR" altLang="en-US" sz="1200" dirty="0">
              <a:latin typeface="Arial" pitchFamily="34" charset="0"/>
              <a:ea typeface="맑은 고딕" pitchFamily="50" charset="-127"/>
              <a:cs typeface="Arial" pitchFamily="34" charset="0"/>
            </a:endParaRPr>
          </a:p>
          <a:p>
            <a:pPr eaLnBrk="1" hangingPunct="1">
              <a:lnSpc>
                <a:spcPct val="150000"/>
              </a:lnSpc>
              <a:buFont typeface="Wingdings" pitchFamily="2" charset="2"/>
              <a:buChar char="§"/>
            </a:pPr>
            <a:r>
              <a:rPr lang="en-US" altLang="ko-KR" sz="1200" dirty="0" err="1">
                <a:latin typeface="Arial" pitchFamily="34" charset="0"/>
                <a:ea typeface="맑은 고딕" pitchFamily="50" charset="-127"/>
                <a:cs typeface="Arial" pitchFamily="34" charset="0"/>
              </a:rPr>
              <a:t>Sử</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dụng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xương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a:t>
            </a:r>
            <a:r>
              <a:rPr lang="en-US" altLang="ko-KR" sz="1200" dirty="0">
                <a:latin typeface="Arial" pitchFamily="34" charset="0"/>
                <a:ea typeface="맑은 고딕" pitchFamily="50" charset="-127"/>
                <a:cs typeface="Arial" pitchFamily="34" charset="0"/>
              </a:rPr>
              <a:t> hay </a:t>
            </a:r>
            <a:r>
              <a:rPr lang="en-US" altLang="ko-KR" sz="1200" dirty="0" err="1">
                <a:latin typeface="Arial" pitchFamily="34" charset="0"/>
                <a:ea typeface="맑은 고딕" pitchFamily="50" charset="-127"/>
                <a:cs typeface="Arial" pitchFamily="34" charset="0"/>
              </a:rPr>
              <a:t>hình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cây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tìm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động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kết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quả</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đầu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ra</a:t>
            </a:r>
            <a:r>
              <a:rPr lang="en-US" altLang="ko-KR" sz="1200" dirty="0">
                <a:latin typeface="Arial" pitchFamily="34" charset="0"/>
                <a:ea typeface="맑은 고딕" pitchFamily="50" charset="-127"/>
                <a:cs typeface="Arial" pitchFamily="34" charset="0"/>
              </a:rPr>
              <a:t>. </a:t>
            </a:r>
            <a:endParaRPr lang="ko-KR" altLang="en-US" sz="1200" dirty="0">
              <a:latin typeface="Arial" pitchFamily="34" charset="0"/>
              <a:ea typeface="맑은 고딕" pitchFamily="50" charset="-127"/>
              <a:cs typeface="Arial" pitchFamily="34" charset="0"/>
            </a:endParaRPr>
          </a:p>
          <a:p>
            <a:pPr eaLnBrk="1" hangingPunct="1">
              <a:lnSpc>
                <a:spcPct val="150000"/>
              </a:lnSpc>
              <a:buFont typeface="Wingdings" pitchFamily="2" charset="2"/>
              <a:buChar char="§"/>
            </a:pPr>
            <a:r>
              <a:rPr lang="en-US" altLang="ko-KR" sz="1200" dirty="0" err="1">
                <a:latin typeface="Arial" pitchFamily="34" charset="0"/>
                <a:ea typeface="맑은 고딕" pitchFamily="50" charset="-127"/>
                <a:cs typeface="Arial" pitchFamily="34" charset="0"/>
              </a:rPr>
              <a:t>Còn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gọi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với</a:t>
            </a:r>
            <a:r>
              <a:rPr lang="en-US" altLang="ko-KR" sz="1200" dirty="0">
                <a:latin typeface="Arial" pitchFamily="34" charset="0"/>
                <a:ea typeface="맑은 고딕" pitchFamily="50" charset="-127"/>
                <a:cs typeface="Arial" pitchFamily="34" charset="0"/>
              </a:rPr>
              <a:t> 2 </a:t>
            </a:r>
            <a:r>
              <a:rPr lang="en-US" altLang="ko-KR" sz="1200" dirty="0" err="1">
                <a:latin typeface="Arial" pitchFamily="34" charset="0"/>
                <a:ea typeface="맑은 고딕" pitchFamily="50" charset="-127"/>
                <a:cs typeface="Arial" pitchFamily="34" charset="0"/>
              </a:rPr>
              <a:t>tên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gọi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a:t>
            </a:r>
            <a:r>
              <a:rPr lang="en-US" altLang="ko-KR" sz="1200" dirty="0">
                <a:latin typeface="Arial" pitchFamily="34" charset="0"/>
                <a:ea typeface="맑은 고딕" pitchFamily="50" charset="-127"/>
                <a:cs typeface="Arial" pitchFamily="34" charset="0"/>
              </a:rPr>
              <a:t> Ishikawa, hay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quả</a:t>
            </a:r>
            <a:endParaRPr lang="ko-KR" altLang="en-US" sz="1200" dirty="0">
              <a:latin typeface="Arial" pitchFamily="34" charset="0"/>
              <a:ea typeface="맑은 고딕" pitchFamily="50" charset="-127"/>
              <a:cs typeface="Arial" pitchFamily="34" charset="0"/>
            </a:endParaRPr>
          </a:p>
        </p:txBody>
      </p:sp>
      <p:graphicFrame>
        <p:nvGraphicFramePr>
          <p:cNvPr id="7" name="Group 25"/>
          <p:cNvGraphicFramePr>
            <a:graphicFrameLocks noGrp="1"/>
          </p:cNvGraphicFramePr>
          <p:nvPr>
            <p:extLst>
              <p:ext uri="{D42A27DB-BD31-4B8C-83A1-F6EECF244321}">
                <p14:modId xmlns:p14="http://schemas.microsoft.com/office/powerpoint/2010/main" val="2817169545"/>
              </p:ext>
            </p:extLst>
          </p:nvPr>
        </p:nvGraphicFramePr>
        <p:xfrm>
          <a:off x="704850" y="3716338"/>
          <a:ext cx="5688013" cy="1862138"/>
        </p:xfrm>
        <a:graphic>
          <a:graphicData uri="http://schemas.openxmlformats.org/drawingml/2006/table">
            <a:tbl>
              <a:tblPr/>
              <a:tblGrid>
                <a:gridCol w="1008002">
                  <a:extLst>
                    <a:ext uri="{9D8B030D-6E8A-4147-A177-3AD203B41FA5}">
                      <a16:colId xmlns:a16="http://schemas.microsoft.com/office/drawing/2014/main" val="20000"/>
                    </a:ext>
                  </a:extLst>
                </a:gridCol>
                <a:gridCol w="1080002">
                  <a:extLst>
                    <a:ext uri="{9D8B030D-6E8A-4147-A177-3AD203B41FA5}">
                      <a16:colId xmlns:a16="http://schemas.microsoft.com/office/drawing/2014/main" val="20001"/>
                    </a:ext>
                  </a:extLst>
                </a:gridCol>
                <a:gridCol w="3600009">
                  <a:extLst>
                    <a:ext uri="{9D8B030D-6E8A-4147-A177-3AD203B41FA5}">
                      <a16:colId xmlns:a16="http://schemas.microsoft.com/office/drawing/2014/main" val="20002"/>
                    </a:ext>
                  </a:extLst>
                </a:gridCol>
              </a:tblGrid>
              <a:tr h="393928">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30000"/>
                        </a:spcBef>
                        <a:spcAft>
                          <a:spcPct val="0"/>
                        </a:spcAft>
                        <a:buClrTx/>
                        <a:buSzTx/>
                        <a:buFontTx/>
                        <a:buNone/>
                        <a:tabLst/>
                      </a:pPr>
                      <a:r>
                        <a:rPr kumimoji="1" lang="en-US" altLang="ko-KR" sz="1000" b="1"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Thuật</a:t>
                      </a: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1"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ngữ</a:t>
                      </a:r>
                      <a:endParaRPr kumimoji="1" lang="ko-KR" altLang="en-US"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endParaRPr>
                    </a:p>
                  </a:txBody>
                  <a:tcPr marL="89996" marR="89996" marT="46827" marB="46827"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30000"/>
                        </a:spcBef>
                        <a:spcAft>
                          <a:spcPct val="0"/>
                        </a:spcAft>
                        <a:buClrTx/>
                        <a:buSzTx/>
                        <a:buFontTx/>
                        <a:buNone/>
                        <a:tabLst/>
                      </a:pP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Ý </a:t>
                      </a:r>
                      <a:r>
                        <a:rPr kumimoji="1" lang="en-US" altLang="ko-KR" sz="1000" b="1"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nghĩa</a:t>
                      </a:r>
                      <a:endParaRPr kumimoji="1" lang="ko-KR" altLang="en-US"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endParaRPr>
                    </a:p>
                  </a:txBody>
                  <a:tcPr marL="89996" marR="89996" marT="46827" marB="4682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30000"/>
                        </a:spcBef>
                        <a:spcAft>
                          <a:spcPct val="0"/>
                        </a:spcAft>
                        <a:buClrTx/>
                        <a:buSzTx/>
                        <a:buFontTx/>
                        <a:buNone/>
                        <a:tabLst/>
                      </a:pP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Ý </a:t>
                      </a:r>
                      <a:r>
                        <a:rPr kumimoji="1" lang="en-US" altLang="ko-KR" sz="1000" b="1"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nghĩa</a:t>
                      </a: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1"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thực</a:t>
                      </a: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1"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hành</a:t>
                      </a:r>
                      <a:endParaRPr kumimoji="1" lang="ko-KR" altLang="en-US"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endParaRPr>
                    </a:p>
                  </a:txBody>
                  <a:tcPr marL="89996" marR="89996" marT="46827" marB="46827"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extLst>
                  <a:ext uri="{0D108BD9-81ED-4DB2-BD59-A6C34878D82A}">
                    <a16:rowId xmlns:a16="http://schemas.microsoft.com/office/drawing/2014/main" val="10000"/>
                  </a:ext>
                </a:extLst>
              </a:tr>
              <a:tr h="734105">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30000"/>
                        </a:spcBef>
                        <a:spcAft>
                          <a:spcPct val="0"/>
                        </a:spcAft>
                        <a:buClrTx/>
                        <a:buSzTx/>
                        <a:buFontTx/>
                        <a:buNone/>
                        <a:tabLst/>
                      </a:pP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Characteristic</a:t>
                      </a:r>
                      <a:br>
                        <a:rPr kumimoji="1" lang="ko-KR" altLang="en-US"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b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(Output)</a:t>
                      </a:r>
                    </a:p>
                  </a:txBody>
                  <a:tcPr marL="89996" marR="89996" marT="46827" marB="46827"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3000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Những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đặc</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điểm</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nổi</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bật</a:t>
                      </a:r>
                      <a:endParaRPr kumimoji="1" lang="ko-KR" altLang="en-US"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endParaRPr>
                    </a:p>
                  </a:txBody>
                  <a:tcPr marL="89996" marR="89996" marT="46827" marB="4682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l" defTabSz="914400" rtl="0" eaLnBrk="1" fontAlgn="base" latinLnBrk="1" hangingPunct="1">
                        <a:lnSpc>
                          <a:spcPct val="100000"/>
                        </a:lnSpc>
                        <a:spcBef>
                          <a:spcPct val="3000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Được</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thể</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hiện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ở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kết</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quả</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công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việc</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có</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thể</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là</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chất</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lượng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sản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phẩm</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chi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phí</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số</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lượng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sản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xuất</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tỉ</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lệ</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lỗi</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điều</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kiện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an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toàn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v.v.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chỉ</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số</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để</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đo</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lường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mức</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độ</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của</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vấn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đề</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a:t>
                      </a:r>
                    </a:p>
                  </a:txBody>
                  <a:tcPr marL="89996" marR="89996" marT="46827" marB="46827"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34105">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30000"/>
                        </a:spcBef>
                        <a:spcAft>
                          <a:spcPct val="0"/>
                        </a:spcAft>
                        <a:buClrTx/>
                        <a:buSzTx/>
                        <a:buFontTx/>
                        <a:buNone/>
                        <a:tabLst/>
                      </a:pP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Factor</a:t>
                      </a:r>
                    </a:p>
                    <a:p>
                      <a:pPr marL="0" marR="0" lvl="0" indent="0" algn="ctr" defTabSz="914400" rtl="0" eaLnBrk="1" fontAlgn="base" latinLnBrk="1" hangingPunct="1">
                        <a:lnSpc>
                          <a:spcPct val="100000"/>
                        </a:lnSpc>
                        <a:spcBef>
                          <a:spcPct val="30000"/>
                        </a:spcBef>
                        <a:spcAft>
                          <a:spcPct val="0"/>
                        </a:spcAft>
                        <a:buClrTx/>
                        <a:buSzTx/>
                        <a:buFontTx/>
                        <a:buNone/>
                        <a:tabLst/>
                      </a:pPr>
                      <a:r>
                        <a:rPr kumimoji="1" lang="en-US" altLang="ko-KR" sz="1000" b="1"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(Cause)</a:t>
                      </a:r>
                    </a:p>
                  </a:txBody>
                  <a:tcPr marL="89996" marR="89996" marT="46827" marB="46827"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3000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Nguyên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nhân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chính</a:t>
                      </a:r>
                      <a:endParaRPr kumimoji="1" lang="ko-KR" altLang="en-US"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endParaRPr>
                    </a:p>
                  </a:txBody>
                  <a:tcPr marL="89996" marR="89996" marT="46827" marB="4682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000" b="1">
                          <a:solidFill>
                            <a:schemeClr val="tx1"/>
                          </a:solidFill>
                          <a:latin typeface="굴림" pitchFamily="50" charset="-127"/>
                          <a:ea typeface="굴림" pitchFamily="50" charset="-127"/>
                        </a:defRPr>
                      </a:lvl1pPr>
                      <a:lvl2pPr marL="742950" indent="-285750" eaLnBrk="0" hangingPunct="0">
                        <a:spcBef>
                          <a:spcPct val="20000"/>
                        </a:spcBef>
                        <a:buFont typeface="Arial" pitchFamily="34" charset="0"/>
                        <a:defRPr kumimoji="1" b="1">
                          <a:solidFill>
                            <a:schemeClr val="tx1"/>
                          </a:solidFill>
                          <a:latin typeface="굴림" pitchFamily="50" charset="-127"/>
                          <a:ea typeface="굴림" pitchFamily="50" charset="-127"/>
                        </a:defRPr>
                      </a:lvl2pPr>
                      <a:lvl3pPr marL="1143000" indent="-228600" eaLnBrk="0" hangingPunct="0">
                        <a:spcBef>
                          <a:spcPct val="20000"/>
                        </a:spcBef>
                        <a:buFont typeface="Arial" pitchFamily="34" charset="0"/>
                        <a:defRPr kumimoji="1" sz="1600" b="1">
                          <a:solidFill>
                            <a:schemeClr val="tx1"/>
                          </a:solidFill>
                          <a:latin typeface="굴림" pitchFamily="50" charset="-127"/>
                          <a:ea typeface="굴림" pitchFamily="50" charset="-127"/>
                        </a:defRPr>
                      </a:lvl3pPr>
                      <a:lvl4pPr marL="1600200" indent="-228600" eaLnBrk="0" hangingPunct="0">
                        <a:spcBef>
                          <a:spcPct val="20000"/>
                        </a:spcBef>
                        <a:buFont typeface="Arial" pitchFamily="34" charset="0"/>
                        <a:defRPr kumimoji="1" sz="1400" b="1">
                          <a:solidFill>
                            <a:schemeClr val="tx1"/>
                          </a:solidFill>
                          <a:latin typeface="굴림" pitchFamily="50" charset="-127"/>
                          <a:ea typeface="굴림" pitchFamily="50" charset="-127"/>
                        </a:defRPr>
                      </a:lvl4pPr>
                      <a:lvl5pPr marL="2057400" indent="-228600" eaLnBrk="0" hangingPunct="0">
                        <a:spcBef>
                          <a:spcPct val="20000"/>
                        </a:spcBef>
                        <a:buFont typeface="Arial" pitchFamily="34" charset="0"/>
                        <a:defRPr kumimoji="1" sz="1200" b="1">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Font typeface="Arial" pitchFamily="34" charset="0"/>
                        <a:defRPr kumimoji="1" sz="1200" b="1">
                          <a:solidFill>
                            <a:schemeClr val="tx1"/>
                          </a:solidFill>
                          <a:latin typeface="굴림" pitchFamily="50" charset="-127"/>
                          <a:ea typeface="굴림" pitchFamily="50" charset="-127"/>
                        </a:defRPr>
                      </a:lvl9pPr>
                    </a:lstStyle>
                    <a:p>
                      <a:pPr marL="0" marR="0" lvl="0" indent="0" algn="l" defTabSz="914400" rtl="0" eaLnBrk="1" fontAlgn="base" latinLnBrk="1" hangingPunct="1">
                        <a:lnSpc>
                          <a:spcPct val="100000"/>
                        </a:lnSpc>
                        <a:spcBef>
                          <a:spcPct val="30000"/>
                        </a:spcBef>
                        <a:spcAft>
                          <a:spcPct val="0"/>
                        </a:spcAft>
                        <a:buClrTx/>
                        <a:buSzTx/>
                        <a:buFontTx/>
                        <a:buNone/>
                        <a:tabLst/>
                      </a:pP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Một</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nguyên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nhân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có</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tác</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động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tới</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kết</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quả</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đầu</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ra</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và</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ảnh</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hưởng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trực</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tiếp</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tới</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những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đặc</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điểm</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nổi</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bật</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phía</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trên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p>
                    <a:p>
                      <a:pPr marL="0" marR="0" lvl="0" indent="0" algn="l" defTabSz="914400" rtl="0" eaLnBrk="1" fontAlgn="base" latinLnBrk="1" hangingPunct="1">
                        <a:lnSpc>
                          <a:spcPct val="100000"/>
                        </a:lnSpc>
                        <a:spcBef>
                          <a:spcPct val="30000"/>
                        </a:spcBef>
                        <a:spcAft>
                          <a:spcPct val="0"/>
                        </a:spcAft>
                        <a:buClrTx/>
                        <a:buSzTx/>
                        <a:buFontTx/>
                        <a:buNone/>
                        <a:tabLst/>
                      </a:pP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những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chủ</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thể</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có</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tác</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động</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tới</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vấn</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 </a:t>
                      </a:r>
                      <a:r>
                        <a:rPr kumimoji="1" lang="en-US" altLang="ko-KR" sz="1000" b="0" i="0" u="none" strike="noStrike" cap="none" normalizeH="0" baseline="0" dirty="0" err="1">
                          <a:ln>
                            <a:noFill/>
                          </a:ln>
                          <a:solidFill>
                            <a:schemeClr val="tx1"/>
                          </a:solidFill>
                          <a:effectLst/>
                          <a:latin typeface="맑은 고딕" panose="020B0503020000020004" pitchFamily="50" charset="-127"/>
                          <a:ea typeface="맑은 고딕" panose="020B0503020000020004" pitchFamily="50" charset="-127"/>
                        </a:rPr>
                        <a:t>đề</a:t>
                      </a:r>
                      <a:r>
                        <a:rPr kumimoji="1" lang="en-US" altLang="ko-KR" sz="1000" b="0" i="0" u="none" strike="noStrike" cap="none" normalizeH="0" baseline="0" dirty="0">
                          <a:ln>
                            <a:noFill/>
                          </a:ln>
                          <a:solidFill>
                            <a:schemeClr val="tx1"/>
                          </a:solidFill>
                          <a:effectLst/>
                          <a:latin typeface="맑은 고딕" panose="020B0503020000020004" pitchFamily="50" charset="-127"/>
                          <a:ea typeface="맑은 고딕" panose="020B0503020000020004" pitchFamily="50" charset="-127"/>
                        </a:rPr>
                        <a:t>)</a:t>
                      </a:r>
                    </a:p>
                  </a:txBody>
                  <a:tcPr marL="89996" marR="89996" marT="46827" marB="46827"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0678" name="TextBox 7"/>
          <p:cNvSpPr txBox="1">
            <a:spLocks noChangeArrowheads="1"/>
          </p:cNvSpPr>
          <p:nvPr/>
        </p:nvSpPr>
        <p:spPr bwMode="auto">
          <a:xfrm>
            <a:off x="7125369" y="2611686"/>
            <a:ext cx="2109360"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a:latin typeface="Arial" pitchFamily="34" charset="0"/>
                <a:ea typeface="맑은 고딕" pitchFamily="50" charset="-127"/>
                <a:cs typeface="Arial" pitchFamily="34" charset="0"/>
              </a:rPr>
              <a:t>Y </a:t>
            </a:r>
            <a:r>
              <a:rPr lang="en-US" altLang="ko-KR" sz="1600" dirty="0">
                <a:latin typeface="Arial" pitchFamily="34" charset="0"/>
                <a:ea typeface="맑은 고딕" pitchFamily="50" charset="-127"/>
                <a:cs typeface="Arial" pitchFamily="34" charset="0"/>
              </a:rPr>
              <a:t>  = f (</a:t>
            </a:r>
            <a:r>
              <a:rPr lang="en-US" altLang="ko-KR" sz="1600" b="1" dirty="0">
                <a:latin typeface="Arial" pitchFamily="34" charset="0"/>
                <a:ea typeface="맑은 고딕" pitchFamily="50" charset="-127"/>
                <a:cs typeface="Arial" pitchFamily="34" charset="0"/>
              </a:rPr>
              <a:t>x1, x2, ….xn</a:t>
            </a:r>
            <a:r>
              <a:rPr lang="en-US" altLang="ko-KR" sz="1600" dirty="0">
                <a:latin typeface="Arial" pitchFamily="34" charset="0"/>
                <a:ea typeface="맑은 고딕" pitchFamily="50" charset="-127"/>
                <a:cs typeface="Arial" pitchFamily="34" charset="0"/>
              </a:rPr>
              <a:t>)</a:t>
            </a:r>
            <a:endParaRPr lang="ko-KR" altLang="en-US" sz="1600" dirty="0">
              <a:latin typeface="Arial" pitchFamily="34" charset="0"/>
              <a:ea typeface="맑은 고딕" pitchFamily="50" charset="-127"/>
              <a:cs typeface="Arial" pitchFamily="34" charset="0"/>
            </a:endParaRPr>
          </a:p>
        </p:txBody>
      </p:sp>
      <p:cxnSp>
        <p:nvCxnSpPr>
          <p:cNvPr id="12" name="직선 연결선 11"/>
          <p:cNvCxnSpPr/>
          <p:nvPr/>
        </p:nvCxnSpPr>
        <p:spPr>
          <a:xfrm>
            <a:off x="7904832" y="2970461"/>
            <a:ext cx="1368425"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직선 연결선 12"/>
          <p:cNvCxnSpPr/>
          <p:nvPr/>
        </p:nvCxnSpPr>
        <p:spPr>
          <a:xfrm>
            <a:off x="7041232" y="2970461"/>
            <a:ext cx="512762"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70681" name="TextBox 14"/>
          <p:cNvSpPr txBox="1">
            <a:spLocks noChangeArrowheads="1"/>
          </p:cNvSpPr>
          <p:nvPr/>
        </p:nvSpPr>
        <p:spPr bwMode="auto">
          <a:xfrm>
            <a:off x="8157244" y="2951411"/>
            <a:ext cx="849913" cy="652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solidFill>
                  <a:srgbClr val="FF0000"/>
                </a:solidFill>
                <a:latin typeface="Arial" pitchFamily="34" charset="0"/>
                <a:ea typeface="맑은 고딕" pitchFamily="50" charset="-127"/>
                <a:cs typeface="Arial" pitchFamily="34" charset="0"/>
              </a:rPr>
              <a:t>Nhân</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tố</a:t>
            </a:r>
            <a:endParaRPr lang="en-US" altLang="ko-KR" sz="1400" b="1" dirty="0">
              <a:solidFill>
                <a:srgbClr val="FF0000"/>
              </a:solidFill>
              <a:latin typeface="Arial" pitchFamily="34" charset="0"/>
              <a:ea typeface="맑은 고딕" pitchFamily="50" charset="-127"/>
              <a:cs typeface="Arial" pitchFamily="34" charset="0"/>
            </a:endParaRPr>
          </a:p>
          <a:p>
            <a:pPr eaLnBrk="1" hangingPunct="1">
              <a:lnSpc>
                <a:spcPct val="130000"/>
              </a:lnSpc>
              <a:buClr>
                <a:srgbClr val="C5003D"/>
              </a:buClr>
            </a:pPr>
            <a:r>
              <a:rPr lang="en-US" altLang="ko-KR" sz="1400" b="1" dirty="0">
                <a:solidFill>
                  <a:srgbClr val="FF0000"/>
                </a:solidFill>
                <a:latin typeface="Arial" pitchFamily="34" charset="0"/>
                <a:ea typeface="맑은 고딕" pitchFamily="50" charset="-127"/>
                <a:cs typeface="Arial" pitchFamily="34" charset="0"/>
              </a:rPr>
              <a:t>(Factor)</a:t>
            </a:r>
            <a:endParaRPr lang="ko-KR" altLang="en-US" sz="1400" b="1" dirty="0">
              <a:solidFill>
                <a:srgbClr val="FF0000"/>
              </a:solidFill>
              <a:latin typeface="Arial" pitchFamily="34" charset="0"/>
              <a:ea typeface="맑은 고딕" pitchFamily="50" charset="-127"/>
              <a:cs typeface="Arial" pitchFamily="34" charset="0"/>
            </a:endParaRPr>
          </a:p>
        </p:txBody>
      </p:sp>
      <p:sp>
        <p:nvSpPr>
          <p:cNvPr id="70682" name="TextBox 15"/>
          <p:cNvSpPr txBox="1">
            <a:spLocks noChangeArrowheads="1"/>
          </p:cNvSpPr>
          <p:nvPr/>
        </p:nvSpPr>
        <p:spPr bwMode="auto">
          <a:xfrm>
            <a:off x="6650335" y="2951411"/>
            <a:ext cx="1497526" cy="652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solidFill>
                  <a:srgbClr val="FF0000"/>
                </a:solidFill>
                <a:latin typeface="Arial" pitchFamily="34" charset="0"/>
                <a:ea typeface="맑은 고딕" pitchFamily="50" charset="-127"/>
                <a:cs typeface="Arial" pitchFamily="34" charset="0"/>
              </a:rPr>
              <a:t>Đặc</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điểm</a:t>
            </a:r>
            <a:endParaRPr lang="en-US" altLang="ko-KR" sz="1400" b="1" dirty="0">
              <a:solidFill>
                <a:srgbClr val="FF0000"/>
              </a:solidFill>
              <a:latin typeface="Arial" pitchFamily="34" charset="0"/>
              <a:ea typeface="맑은 고딕" pitchFamily="50" charset="-127"/>
              <a:cs typeface="Arial" pitchFamily="34" charset="0"/>
            </a:endParaRPr>
          </a:p>
          <a:p>
            <a:pPr eaLnBrk="1" hangingPunct="1">
              <a:lnSpc>
                <a:spcPct val="130000"/>
              </a:lnSpc>
              <a:buClr>
                <a:srgbClr val="C5003D"/>
              </a:buClr>
            </a:pPr>
            <a:r>
              <a:rPr lang="en-US" altLang="ko-KR" sz="1400" b="1" dirty="0">
                <a:solidFill>
                  <a:srgbClr val="FF0000"/>
                </a:solidFill>
                <a:latin typeface="Arial" pitchFamily="34" charset="0"/>
                <a:ea typeface="맑은 고딕" pitchFamily="50" charset="-127"/>
                <a:cs typeface="Arial" pitchFamily="34" charset="0"/>
              </a:rPr>
              <a:t>(Characteristic)</a:t>
            </a:r>
            <a:endParaRPr lang="ko-KR" altLang="en-US" sz="1400" b="1" dirty="0">
              <a:solidFill>
                <a:srgbClr val="FF0000"/>
              </a:solidFill>
              <a:latin typeface="Arial" pitchFamily="34" charset="0"/>
              <a:ea typeface="맑은 고딕" pitchFamily="50" charset="-127"/>
              <a:cs typeface="Arial" pitchFamily="34" charset="0"/>
            </a:endParaRPr>
          </a:p>
        </p:txBody>
      </p:sp>
      <p:sp>
        <p:nvSpPr>
          <p:cNvPr id="70691" name="TextBox 46"/>
          <p:cNvSpPr txBox="1">
            <a:spLocks noChangeArrowheads="1"/>
          </p:cNvSpPr>
          <p:nvPr/>
        </p:nvSpPr>
        <p:spPr bwMode="auto">
          <a:xfrm>
            <a:off x="8126372" y="3501008"/>
            <a:ext cx="782587"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err="1">
                <a:latin typeface="Arial" pitchFamily="34" charset="0"/>
                <a:ea typeface="맑은 고딕" pitchFamily="50" charset="-127"/>
                <a:cs typeface="Arial" pitchFamily="34" charset="0"/>
              </a:rPr>
              <a:t>Đầu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vào</a:t>
            </a:r>
            <a:endParaRPr lang="en-US" altLang="ko-KR" sz="1200" b="1" dirty="0">
              <a:latin typeface="Arial" pitchFamily="34" charset="0"/>
              <a:ea typeface="맑은 고딕" pitchFamily="50" charset="-127"/>
              <a:cs typeface="Arial" pitchFamily="34" charset="0"/>
            </a:endParaRPr>
          </a:p>
          <a:p>
            <a:pPr eaLnBrk="1" hangingPunct="1">
              <a:lnSpc>
                <a:spcPct val="130000"/>
              </a:lnSpc>
              <a:buClr>
                <a:srgbClr val="C5003D"/>
              </a:buClr>
            </a:pPr>
            <a:r>
              <a:rPr lang="en-US" altLang="ko-KR" sz="1200" b="1" dirty="0">
                <a:latin typeface="Arial" pitchFamily="34" charset="0"/>
                <a:ea typeface="맑은 고딕" pitchFamily="50" charset="-127"/>
                <a:cs typeface="Arial" pitchFamily="34" charset="0"/>
              </a:rPr>
              <a:t>(Input )</a:t>
            </a:r>
          </a:p>
        </p:txBody>
      </p:sp>
      <p:sp>
        <p:nvSpPr>
          <p:cNvPr id="70692" name="TextBox 47"/>
          <p:cNvSpPr txBox="1">
            <a:spLocks noChangeArrowheads="1"/>
          </p:cNvSpPr>
          <p:nvPr/>
        </p:nvSpPr>
        <p:spPr bwMode="auto">
          <a:xfrm>
            <a:off x="6941216" y="3515783"/>
            <a:ext cx="837089"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err="1">
                <a:latin typeface="Arial" pitchFamily="34" charset="0"/>
                <a:ea typeface="맑은 고딕" pitchFamily="50" charset="-127"/>
                <a:cs typeface="Arial" pitchFamily="34" charset="0"/>
              </a:rPr>
              <a:t>Đầu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ra</a:t>
            </a:r>
            <a:endParaRPr lang="en-US" altLang="ko-KR" sz="1200" b="1" dirty="0">
              <a:latin typeface="Arial" pitchFamily="34" charset="0"/>
              <a:ea typeface="맑은 고딕" pitchFamily="50" charset="-127"/>
              <a:cs typeface="Arial" pitchFamily="34" charset="0"/>
            </a:endParaRPr>
          </a:p>
          <a:p>
            <a:pPr eaLnBrk="1" hangingPunct="1">
              <a:lnSpc>
                <a:spcPct val="130000"/>
              </a:lnSpc>
              <a:buClr>
                <a:srgbClr val="C5003D"/>
              </a:buClr>
            </a:pPr>
            <a:r>
              <a:rPr lang="en-US" altLang="ko-KR" sz="1200" b="1" dirty="0">
                <a:latin typeface="Arial" pitchFamily="34" charset="0"/>
                <a:ea typeface="맑은 고딕" pitchFamily="50" charset="-127"/>
                <a:cs typeface="Arial" pitchFamily="34" charset="0"/>
              </a:rPr>
              <a:t>(Output)</a:t>
            </a:r>
            <a:r>
              <a:rPr lang="ko-KR" altLang="en-US" sz="1200" b="1" dirty="0">
                <a:latin typeface="Arial" pitchFamily="34" charset="0"/>
                <a:ea typeface="맑은 고딕" pitchFamily="50" charset="-127"/>
                <a:cs typeface="Arial" pitchFamily="34" charset="0"/>
              </a:rPr>
              <a:t> </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71</a:t>
            </a:fld>
            <a:endParaRPr lang="ko-KR" altLang="en-US" dirty="0">
              <a:latin typeface="Arial" pitchFamily="34" charset="0"/>
              <a:cs typeface="Arial" pitchFamily="34" charset="0"/>
            </a:endParaRPr>
          </a:p>
        </p:txBody>
      </p:sp>
      <p:sp>
        <p:nvSpPr>
          <p:cNvPr id="15"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43241375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71684" name="Rectangle 19"/>
          <p:cNvSpPr>
            <a:spLocks noChangeArrowheads="1"/>
          </p:cNvSpPr>
          <p:nvPr/>
        </p:nvSpPr>
        <p:spPr bwMode="auto">
          <a:xfrm>
            <a:off x="1131661" y="1671638"/>
            <a:ext cx="1360950"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dirty="0" err="1">
                <a:latin typeface="Arial" pitchFamily="34" charset="0"/>
                <a:ea typeface="맑은 고딕" pitchFamily="50" charset="-127"/>
                <a:cs typeface="Arial" pitchFamily="34" charset="0"/>
              </a:rPr>
              <a:t>Xác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định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p>
          <a:p>
            <a:pPr algn="ctr" defTabSz="762000" latinLnBrk="0"/>
            <a:r>
              <a:rPr lang="en-US" altLang="ko-KR" sz="1000" dirty="0" err="1">
                <a:latin typeface="Arial" pitchFamily="34" charset="0"/>
                <a:ea typeface="맑은 고딕" pitchFamily="50" charset="-127"/>
                <a:cs typeface="Arial" pitchFamily="34" charset="0"/>
              </a:rPr>
              <a:t>đặc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điểm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sẽ</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thể</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hiện</a:t>
            </a:r>
            <a:endParaRPr lang="ko-KR" altLang="en-US" sz="1000" dirty="0">
              <a:latin typeface="Arial" pitchFamily="34" charset="0"/>
              <a:ea typeface="맑은 고딕" pitchFamily="50" charset="-127"/>
              <a:cs typeface="Arial" pitchFamily="34" charset="0"/>
            </a:endParaRPr>
          </a:p>
        </p:txBody>
      </p:sp>
      <p:sp>
        <p:nvSpPr>
          <p:cNvPr id="71685" name="Rectangle 20"/>
          <p:cNvSpPr>
            <a:spLocks noChangeArrowheads="1"/>
          </p:cNvSpPr>
          <p:nvPr/>
        </p:nvSpPr>
        <p:spPr bwMode="auto">
          <a:xfrm>
            <a:off x="350641" y="1639888"/>
            <a:ext cx="697307"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cs typeface="Arial" pitchFamily="34" charset="0"/>
              </a:rPr>
              <a:t>Bước</a:t>
            </a:r>
            <a:r>
              <a:rPr lang="en-US" altLang="ko-KR" sz="1200" dirty="0">
                <a:latin typeface="Arial" pitchFamily="34" charset="0"/>
                <a:ea typeface="맑은 고딕" pitchFamily="50" charset="-127"/>
                <a:cs typeface="Arial" pitchFamily="34" charset="0"/>
              </a:rPr>
              <a:t> 1</a:t>
            </a:r>
          </a:p>
        </p:txBody>
      </p:sp>
      <p:sp>
        <p:nvSpPr>
          <p:cNvPr id="71686" name="Rectangle 21"/>
          <p:cNvSpPr>
            <a:spLocks noChangeArrowheads="1"/>
          </p:cNvSpPr>
          <p:nvPr/>
        </p:nvSpPr>
        <p:spPr bwMode="auto">
          <a:xfrm>
            <a:off x="2865438" y="1681163"/>
            <a:ext cx="2548775" cy="262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1100" dirty="0" err="1">
                <a:latin typeface="Arial" pitchFamily="34" charset="0"/>
                <a:ea typeface="맑은 고딕" pitchFamily="50" charset="-127"/>
                <a:cs typeface="Arial" pitchFamily="34" charset="0"/>
              </a:rPr>
              <a:t>Đặc</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điểm</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cần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được</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xác</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định</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rõ</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ràng</a:t>
            </a:r>
            <a:endParaRPr lang="ko-KR" altLang="en-US" sz="1100" dirty="0">
              <a:latin typeface="Arial" pitchFamily="34" charset="0"/>
              <a:ea typeface="맑은 고딕" pitchFamily="50" charset="-127"/>
              <a:cs typeface="Arial" pitchFamily="34" charset="0"/>
            </a:endParaRPr>
          </a:p>
        </p:txBody>
      </p:sp>
      <p:sp>
        <p:nvSpPr>
          <p:cNvPr id="71687" name="Rectangle 27"/>
          <p:cNvSpPr>
            <a:spLocks noChangeArrowheads="1"/>
          </p:cNvSpPr>
          <p:nvPr/>
        </p:nvSpPr>
        <p:spPr bwMode="auto">
          <a:xfrm>
            <a:off x="2865439" y="2478088"/>
            <a:ext cx="2591618" cy="77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r>
              <a:rPr lang="en-US" altLang="ko-KR" sz="1100" dirty="0" err="1">
                <a:latin typeface="Arial" pitchFamily="34" charset="0"/>
                <a:ea typeface="맑은 고딕" pitchFamily="50" charset="-127"/>
                <a:cs typeface="Arial" pitchFamily="34" charset="0"/>
              </a:rPr>
              <a:t>Viết</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các</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đặc</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điểm</a:t>
            </a:r>
            <a:r>
              <a:rPr lang="en-US" altLang="ko-KR" sz="1100" dirty="0">
                <a:latin typeface="Arial" pitchFamily="34" charset="0"/>
                <a:ea typeface="맑은 고딕" pitchFamily="50" charset="-127"/>
                <a:cs typeface="Arial" pitchFamily="34" charset="0"/>
              </a:rPr>
              <a:t> ở </a:t>
            </a:r>
            <a:r>
              <a:rPr lang="en-US" altLang="ko-KR" sz="1100" dirty="0" err="1">
                <a:latin typeface="Arial" pitchFamily="34" charset="0"/>
                <a:ea typeface="맑은 고딕" pitchFamily="50" charset="-127"/>
                <a:cs typeface="Arial" pitchFamily="34" charset="0"/>
              </a:rPr>
              <a:t>phía</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bên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phải</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và</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hướng</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mũi</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tên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từ</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trái</a:t>
            </a:r>
            <a:r>
              <a:rPr lang="en-US" altLang="ko-KR" sz="1100" dirty="0">
                <a:latin typeface="Arial" pitchFamily="34" charset="0"/>
                <a:ea typeface="맑은 고딕" pitchFamily="50" charset="-127"/>
                <a:cs typeface="Arial" pitchFamily="34" charset="0"/>
              </a:rPr>
              <a:t> qua </a:t>
            </a:r>
            <a:r>
              <a:rPr lang="en-US" altLang="ko-KR" sz="1100" dirty="0" err="1">
                <a:latin typeface="Arial" pitchFamily="34" charset="0"/>
                <a:ea typeface="맑은 고딕" pitchFamily="50" charset="-127"/>
                <a:cs typeface="Arial" pitchFamily="34" charset="0"/>
              </a:rPr>
              <a:t>phải</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Khoanh</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tròn</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hoặc</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kẻ</a:t>
            </a:r>
            <a:r>
              <a:rPr lang="en-US" altLang="ko-KR" sz="1100" dirty="0">
                <a:latin typeface="Arial" pitchFamily="34" charset="0"/>
                <a:ea typeface="맑은 고딕" pitchFamily="50" charset="-127"/>
                <a:cs typeface="Arial" pitchFamily="34" charset="0"/>
              </a:rPr>
              <a:t> ô </a:t>
            </a:r>
            <a:r>
              <a:rPr lang="en-US" altLang="ko-KR" sz="1100" dirty="0" err="1">
                <a:latin typeface="Arial" pitchFamily="34" charset="0"/>
                <a:ea typeface="맑은 고딕" pitchFamily="50" charset="-127"/>
                <a:cs typeface="Arial" pitchFamily="34" charset="0"/>
              </a:rPr>
              <a:t>vuông</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xung</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quanh</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đặc</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điểm</a:t>
            </a:r>
            <a:r>
              <a:rPr lang="en-US" altLang="ko-KR" sz="1100" dirty="0">
                <a:latin typeface="Arial" pitchFamily="34" charset="0"/>
                <a:ea typeface="맑은 고딕" pitchFamily="50" charset="-127"/>
                <a:cs typeface="Arial" pitchFamily="34" charset="0"/>
              </a:rPr>
              <a:t> </a:t>
            </a:r>
            <a:r>
              <a:rPr lang="en-US" altLang="ko-KR" sz="1100" dirty="0" err="1">
                <a:latin typeface="Arial" pitchFamily="34" charset="0"/>
                <a:ea typeface="맑은 고딕" pitchFamily="50" charset="-127"/>
                <a:cs typeface="Arial" pitchFamily="34" charset="0"/>
              </a:rPr>
              <a:t>này</a:t>
            </a:r>
            <a:r>
              <a:rPr lang="en-US" altLang="ko-KR" sz="1100" dirty="0">
                <a:latin typeface="Arial" pitchFamily="34" charset="0"/>
                <a:ea typeface="맑은 고딕" pitchFamily="50" charset="-127"/>
                <a:cs typeface="Arial" pitchFamily="34" charset="0"/>
              </a:rPr>
              <a:t>.</a:t>
            </a:r>
          </a:p>
        </p:txBody>
      </p:sp>
      <p:sp>
        <p:nvSpPr>
          <p:cNvPr id="76" name="모서리가 둥근 직사각형 75"/>
          <p:cNvSpPr/>
          <p:nvPr/>
        </p:nvSpPr>
        <p:spPr>
          <a:xfrm>
            <a:off x="344488" y="1125538"/>
            <a:ext cx="23764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Các</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bước</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xây</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dựng</a:t>
            </a:r>
            <a:endParaRPr lang="ko-KR" altLang="en-US" sz="1400" b="1" dirty="0">
              <a:latin typeface="Arial" pitchFamily="34" charset="0"/>
              <a:cs typeface="Arial" pitchFamily="34" charset="0"/>
            </a:endParaRPr>
          </a:p>
        </p:txBody>
      </p:sp>
      <p:sp>
        <p:nvSpPr>
          <p:cNvPr id="77" name="모서리가 둥근 직사각형 76"/>
          <p:cNvSpPr/>
          <p:nvPr/>
        </p:nvSpPr>
        <p:spPr>
          <a:xfrm>
            <a:off x="3008313" y="1125538"/>
            <a:ext cx="21605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Lưu</a:t>
            </a:r>
            <a:r>
              <a:rPr lang="en-US" altLang="ko-KR" sz="1400" b="1" dirty="0">
                <a:latin typeface="Arial" pitchFamily="34" charset="0"/>
                <a:cs typeface="Arial" pitchFamily="34" charset="0"/>
              </a:rPr>
              <a:t> ý</a:t>
            </a:r>
            <a:endParaRPr lang="ko-KR" altLang="en-US" sz="1400" b="1" dirty="0">
              <a:latin typeface="Arial" pitchFamily="34" charset="0"/>
              <a:cs typeface="Arial" pitchFamily="34" charset="0"/>
            </a:endParaRPr>
          </a:p>
        </p:txBody>
      </p:sp>
      <p:sp>
        <p:nvSpPr>
          <p:cNvPr id="78" name="모서리가 둥근 직사각형 77"/>
          <p:cNvSpPr/>
          <p:nvPr/>
        </p:nvSpPr>
        <p:spPr>
          <a:xfrm>
            <a:off x="5529263" y="1125538"/>
            <a:ext cx="41036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Ví</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dụ</a:t>
            </a:r>
            <a:endParaRPr lang="ko-KR" altLang="en-US" sz="1400" b="1" dirty="0">
              <a:latin typeface="Arial" pitchFamily="34" charset="0"/>
              <a:cs typeface="Arial" pitchFamily="34" charset="0"/>
            </a:endParaRPr>
          </a:p>
        </p:txBody>
      </p:sp>
      <p:sp>
        <p:nvSpPr>
          <p:cNvPr id="79" name="오각형 78"/>
          <p:cNvSpPr/>
          <p:nvPr/>
        </p:nvSpPr>
        <p:spPr>
          <a:xfrm rot="5400000">
            <a:off x="1497013" y="1196975"/>
            <a:ext cx="647700"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71692" name="Rectangle 19"/>
          <p:cNvSpPr>
            <a:spLocks noChangeArrowheads="1"/>
          </p:cNvSpPr>
          <p:nvPr/>
        </p:nvSpPr>
        <p:spPr bwMode="auto">
          <a:xfrm>
            <a:off x="1089192" y="2565400"/>
            <a:ext cx="1445909"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dirty="0" err="1">
                <a:latin typeface="Arial" pitchFamily="34" charset="0"/>
                <a:ea typeface="맑은 고딕" pitchFamily="50" charset="-127"/>
                <a:cs typeface="Arial" pitchFamily="34" charset="0"/>
              </a:rPr>
              <a:t>Viết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ra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đặc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điểm</a:t>
            </a:r>
            <a:endParaRPr lang="en-US" altLang="ko-KR" sz="1000" dirty="0">
              <a:latin typeface="Arial" pitchFamily="34" charset="0"/>
              <a:ea typeface="맑은 고딕" pitchFamily="50" charset="-127"/>
              <a:cs typeface="Arial" pitchFamily="34" charset="0"/>
            </a:endParaRPr>
          </a:p>
          <a:p>
            <a:pPr algn="ctr" defTabSz="762000" latinLnBrk="0"/>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vẽ</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một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mũi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lớn</a:t>
            </a:r>
            <a:endParaRPr lang="ko-KR" altLang="en-US" sz="1000" dirty="0">
              <a:latin typeface="Arial" pitchFamily="34" charset="0"/>
              <a:ea typeface="맑은 고딕" pitchFamily="50" charset="-127"/>
              <a:cs typeface="Arial" pitchFamily="34" charset="0"/>
            </a:endParaRPr>
          </a:p>
        </p:txBody>
      </p:sp>
      <p:sp>
        <p:nvSpPr>
          <p:cNvPr id="71693" name="Rectangle 20"/>
          <p:cNvSpPr>
            <a:spLocks noChangeArrowheads="1"/>
          </p:cNvSpPr>
          <p:nvPr/>
        </p:nvSpPr>
        <p:spPr bwMode="auto">
          <a:xfrm>
            <a:off x="350641" y="2589213"/>
            <a:ext cx="697307"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cs typeface="Arial" pitchFamily="34" charset="0"/>
              </a:rPr>
              <a:t>Bước</a:t>
            </a:r>
            <a:r>
              <a:rPr lang="en-US" altLang="ko-KR" sz="1200" dirty="0">
                <a:latin typeface="Arial" pitchFamily="34" charset="0"/>
                <a:ea typeface="맑은 고딕" pitchFamily="50" charset="-127"/>
                <a:cs typeface="Arial" pitchFamily="34" charset="0"/>
              </a:rPr>
              <a:t> 2</a:t>
            </a:r>
          </a:p>
        </p:txBody>
      </p:sp>
      <p:sp>
        <p:nvSpPr>
          <p:cNvPr id="82" name="오각형 81"/>
          <p:cNvSpPr/>
          <p:nvPr/>
        </p:nvSpPr>
        <p:spPr>
          <a:xfrm rot="5400000">
            <a:off x="1468438" y="2176463"/>
            <a:ext cx="704850"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cxnSp>
        <p:nvCxnSpPr>
          <p:cNvPr id="84" name="직선 연결선 83"/>
          <p:cNvCxnSpPr/>
          <p:nvPr/>
        </p:nvCxnSpPr>
        <p:spPr>
          <a:xfrm>
            <a:off x="344488" y="1543050"/>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5" name="직선 연결선 84"/>
          <p:cNvCxnSpPr/>
          <p:nvPr/>
        </p:nvCxnSpPr>
        <p:spPr>
          <a:xfrm>
            <a:off x="344488" y="2349500"/>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1697" name="Rectangle 39"/>
          <p:cNvSpPr>
            <a:spLocks noChangeArrowheads="1"/>
          </p:cNvSpPr>
          <p:nvPr/>
        </p:nvSpPr>
        <p:spPr bwMode="auto">
          <a:xfrm>
            <a:off x="5529263" y="1620998"/>
            <a:ext cx="4176265" cy="55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r>
              <a:rPr lang="en-US" altLang="ko-KR" sz="1000" dirty="0" err="1">
                <a:latin typeface="Arial" pitchFamily="34" charset="0"/>
                <a:ea typeface="맑은 고딕" pitchFamily="50" charset="-127"/>
                <a:cs typeface="Arial" pitchFamily="34" charset="0"/>
              </a:rPr>
              <a:t>Khách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hàng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không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hài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lòng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với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một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sản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phẩm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bị</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phát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hiện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nhẹ</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cân</a:t>
            </a:r>
            <a:r>
              <a:rPr lang="en-US" altLang="ko-KR" sz="1000" dirty="0">
                <a:latin typeface="Arial" pitchFamily="34" charset="0"/>
                <a:ea typeface="맑은 고딕" pitchFamily="50" charset="-127"/>
                <a:cs typeface="Arial" pitchFamily="34" charset="0"/>
              </a:rPr>
              <a:t> so </a:t>
            </a:r>
            <a:r>
              <a:rPr lang="en-US" altLang="ko-KR" sz="1000" dirty="0" err="1">
                <a:latin typeface="Arial" pitchFamily="34" charset="0"/>
                <a:ea typeface="맑은 고딕" pitchFamily="50" charset="-127"/>
                <a:cs typeface="Arial" pitchFamily="34" charset="0"/>
              </a:rPr>
              <a:t>với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quy</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định</a:t>
            </a:r>
            <a:r>
              <a:rPr lang="en-US" altLang="ko-KR" sz="1000" dirty="0">
                <a:latin typeface="Arial" pitchFamily="34" charset="0"/>
                <a:ea typeface="맑은 고딕" pitchFamily="50" charset="-127"/>
                <a:cs typeface="Arial" pitchFamily="34" charset="0"/>
              </a:rPr>
              <a:t>. Do </a:t>
            </a:r>
            <a:r>
              <a:rPr lang="en-US" altLang="ko-KR" sz="1000" dirty="0" err="1">
                <a:latin typeface="Arial" pitchFamily="34" charset="0"/>
                <a:ea typeface="맑은 고딕" pitchFamily="50" charset="-127"/>
                <a:cs typeface="Arial" pitchFamily="34" charset="0"/>
              </a:rPr>
              <a:t>đó</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đứng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đằng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sau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vấn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đề</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này</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cần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được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định</a:t>
            </a:r>
            <a:r>
              <a:rPr lang="en-US" altLang="ko-KR" sz="1000" dirty="0">
                <a:latin typeface="Arial" pitchFamily="34" charset="0"/>
                <a:ea typeface="맑은 고딕" pitchFamily="50" charset="-127"/>
                <a:cs typeface="Arial" pitchFamily="34" charset="0"/>
              </a:rPr>
              <a:t>.</a:t>
            </a:r>
          </a:p>
        </p:txBody>
      </p:sp>
      <p:sp>
        <p:nvSpPr>
          <p:cNvPr id="71699" name="TextBox 89"/>
          <p:cNvSpPr txBox="1">
            <a:spLocks noChangeArrowheads="1"/>
          </p:cNvSpPr>
          <p:nvPr/>
        </p:nvSpPr>
        <p:spPr bwMode="auto">
          <a:xfrm>
            <a:off x="7108825" y="2754313"/>
            <a:ext cx="82105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000" dirty="0" err="1">
                <a:latin typeface="Arial" pitchFamily="34" charset="0"/>
                <a:ea typeface="맑은 고딕" pitchFamily="50" charset="-127"/>
                <a:cs typeface="Arial" pitchFamily="34" charset="0"/>
              </a:rPr>
              <a:t>Mũi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lớn</a:t>
            </a:r>
            <a:endParaRPr lang="ko-KR" altLang="en-US" sz="1000" dirty="0">
              <a:latin typeface="Arial" pitchFamily="34" charset="0"/>
              <a:ea typeface="맑은 고딕" pitchFamily="50" charset="-127"/>
              <a:cs typeface="Arial" pitchFamily="34" charset="0"/>
            </a:endParaRPr>
          </a:p>
        </p:txBody>
      </p:sp>
      <p:cxnSp>
        <p:nvCxnSpPr>
          <p:cNvPr id="93" name="직선 화살표 연결선 92"/>
          <p:cNvCxnSpPr/>
          <p:nvPr/>
        </p:nvCxnSpPr>
        <p:spPr>
          <a:xfrm>
            <a:off x="6032500" y="3017838"/>
            <a:ext cx="2808288"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1701" name="TextBox 93"/>
          <p:cNvSpPr txBox="1">
            <a:spLocks noChangeArrowheads="1"/>
          </p:cNvSpPr>
          <p:nvPr/>
        </p:nvSpPr>
        <p:spPr bwMode="auto">
          <a:xfrm>
            <a:off x="8642162" y="2439988"/>
            <a:ext cx="120738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000" dirty="0" err="1">
                <a:latin typeface="Arial" pitchFamily="34" charset="0"/>
                <a:ea typeface="맑은 고딕" pitchFamily="50" charset="-127"/>
                <a:cs typeface="Arial" pitchFamily="34" charset="0"/>
              </a:rPr>
              <a:t>Đặc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điểm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đầu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ra</a:t>
            </a:r>
            <a:r>
              <a:rPr lang="en-US" altLang="ko-KR" sz="1000" dirty="0">
                <a:latin typeface="Arial" pitchFamily="34" charset="0"/>
                <a:ea typeface="맑은 고딕" pitchFamily="50" charset="-127"/>
                <a:cs typeface="Arial" pitchFamily="34" charset="0"/>
              </a:rPr>
              <a:t>)</a:t>
            </a:r>
            <a:endParaRPr lang="ko-KR" altLang="en-US" sz="1000" dirty="0">
              <a:latin typeface="Arial" pitchFamily="34" charset="0"/>
              <a:ea typeface="맑은 고딕" pitchFamily="50" charset="-127"/>
              <a:cs typeface="Arial" pitchFamily="34" charset="0"/>
            </a:endParaRPr>
          </a:p>
        </p:txBody>
      </p:sp>
      <p:cxnSp>
        <p:nvCxnSpPr>
          <p:cNvPr id="95" name="직선 연결선 94"/>
          <p:cNvCxnSpPr/>
          <p:nvPr/>
        </p:nvCxnSpPr>
        <p:spPr>
          <a:xfrm>
            <a:off x="344488" y="3357563"/>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96" name="Rectangle 27"/>
          <p:cNvSpPr>
            <a:spLocks noChangeArrowheads="1"/>
          </p:cNvSpPr>
          <p:nvPr/>
        </p:nvSpPr>
        <p:spPr bwMode="auto">
          <a:xfrm>
            <a:off x="2865439" y="3429000"/>
            <a:ext cx="2663625" cy="2293578"/>
          </a:xfrm>
          <a:prstGeom prst="rect">
            <a:avLst/>
          </a:prstGeom>
          <a:noFill/>
          <a:ln w="9525">
            <a:noFill/>
            <a:miter lim="800000"/>
            <a:headEnd/>
            <a:tailEnd/>
          </a:ln>
        </p:spPr>
        <p:txBody>
          <a:bodyPr wrap="square" lIns="92075" tIns="46038" rIns="92075" bIns="46038">
            <a:spAutoFit/>
          </a:bodyPr>
          <a:lstStyle/>
          <a:p>
            <a:pPr defTabSz="762000" latinLnBrk="0">
              <a:defRPr/>
            </a:pPr>
            <a:r>
              <a:rPr lang="en-US" altLang="ko-KR" sz="1100" dirty="0">
                <a:latin typeface="Arial" pitchFamily="34" charset="0"/>
                <a:ea typeface="맑은 고딕" panose="020B0503020000020004" pitchFamily="50" charset="-127"/>
                <a:cs typeface="Arial" pitchFamily="34" charset="0"/>
              </a:rPr>
              <a:t>&lt;</a:t>
            </a:r>
            <a:r>
              <a:rPr lang="en-US" altLang="ko-KR" sz="1100" dirty="0" err="1">
                <a:latin typeface="Arial" pitchFamily="34" charset="0"/>
                <a:ea typeface="맑은 고딕" panose="020B0503020000020004" pitchFamily="50" charset="-127"/>
                <a:cs typeface="Arial" pitchFamily="34" charset="0"/>
              </a:rPr>
              <a:t>Phương</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pháp</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tập</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hợp</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nhân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tố</a:t>
            </a:r>
            <a:r>
              <a:rPr lang="en-US" altLang="ko-KR" sz="1100" dirty="0">
                <a:latin typeface="Arial" pitchFamily="34" charset="0"/>
                <a:ea typeface="맑은 고딕" panose="020B0503020000020004" pitchFamily="50" charset="-127"/>
                <a:cs typeface="Arial" pitchFamily="34" charset="0"/>
              </a:rPr>
              <a:t>&gt;</a:t>
            </a:r>
          </a:p>
          <a:p>
            <a:pPr marL="342900" indent="-342900" defTabSz="762000" latinLnBrk="0">
              <a:defRPr/>
            </a:pPr>
            <a:endParaRPr lang="en-US" altLang="ko-KR" sz="1100" dirty="0">
              <a:latin typeface="Arial" pitchFamily="34" charset="0"/>
              <a:ea typeface="맑은 고딕" panose="020B0503020000020004" pitchFamily="50" charset="-127"/>
              <a:cs typeface="Arial" pitchFamily="34" charset="0"/>
            </a:endParaRPr>
          </a:p>
          <a:p>
            <a:pPr marL="342900" indent="-342900" defTabSz="762000" latinLnBrk="0">
              <a:defRPr/>
            </a:pPr>
            <a:r>
              <a:rPr lang="en-US" altLang="ko-KR" sz="1100" dirty="0">
                <a:latin typeface="Arial" pitchFamily="34" charset="0"/>
                <a:ea typeface="맑은 고딕" panose="020B0503020000020004" pitchFamily="50" charset="-127"/>
                <a:cs typeface="Arial" pitchFamily="34" charset="0"/>
              </a:rPr>
              <a:t>1. </a:t>
            </a:r>
            <a:r>
              <a:rPr lang="en-US" altLang="ko-KR" sz="1100" dirty="0" err="1">
                <a:latin typeface="Arial" pitchFamily="34" charset="0"/>
                <a:ea typeface="맑은 고딕" panose="020B0503020000020004" pitchFamily="50" charset="-127"/>
                <a:cs typeface="Arial" pitchFamily="34" charset="0"/>
              </a:rPr>
              <a:t>Từ</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dưới</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lên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trên</a:t>
            </a:r>
            <a:r>
              <a:rPr lang="en-US" altLang="ko-KR" sz="1100" dirty="0">
                <a:latin typeface="Arial" pitchFamily="34" charset="0"/>
                <a:ea typeface="맑은 고딕" panose="020B0503020000020004" pitchFamily="50" charset="-127"/>
                <a:cs typeface="Arial" pitchFamily="34" charset="0"/>
              </a:rPr>
              <a:t> (Bottom Up)</a:t>
            </a:r>
          </a:p>
          <a:p>
            <a:pPr defTabSz="762000" latinLnBrk="0">
              <a:defRPr/>
            </a:pPr>
            <a:r>
              <a:rPr lang="en-US" altLang="ko-KR" sz="1100" dirty="0" err="1">
                <a:latin typeface="Arial" pitchFamily="34" charset="0"/>
                <a:ea typeface="맑은 고딕" panose="020B0503020000020004" pitchFamily="50" charset="-127"/>
                <a:cs typeface="Arial" pitchFamily="34" charset="0"/>
              </a:rPr>
              <a:t>Xác</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định</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tất</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cả</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các</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nhân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tố</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thông</a:t>
            </a:r>
            <a:r>
              <a:rPr lang="en-US" altLang="ko-KR" sz="1100" dirty="0">
                <a:latin typeface="Arial" pitchFamily="34" charset="0"/>
                <a:ea typeface="맑은 고딕" panose="020B0503020000020004" pitchFamily="50" charset="-127"/>
                <a:cs typeface="Arial" pitchFamily="34" charset="0"/>
              </a:rPr>
              <a:t> qua </a:t>
            </a:r>
            <a:r>
              <a:rPr lang="en-US" altLang="ko-KR" sz="1100" dirty="0" err="1">
                <a:latin typeface="Arial" pitchFamily="34" charset="0"/>
                <a:ea typeface="맑은 고딕" panose="020B0503020000020004" pitchFamily="50" charset="-127"/>
                <a:cs typeface="Arial" pitchFamily="34" charset="0"/>
              </a:rPr>
              <a:t>quá</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trình</a:t>
            </a:r>
            <a:r>
              <a:rPr lang="en-US" altLang="ko-KR" sz="1100" dirty="0">
                <a:latin typeface="Arial" pitchFamily="34" charset="0"/>
                <a:ea typeface="맑은 고딕" panose="020B0503020000020004" pitchFamily="50" charset="-127"/>
                <a:cs typeface="Arial" pitchFamily="34" charset="0"/>
              </a:rPr>
              <a:t> brainstorming.</a:t>
            </a:r>
          </a:p>
          <a:p>
            <a:pPr defTabSz="762000" latinLnBrk="0">
              <a:defRPr/>
            </a:pPr>
            <a:r>
              <a:rPr lang="en-US" altLang="ko-KR" sz="1100" dirty="0" err="1">
                <a:latin typeface="Arial" pitchFamily="34" charset="0"/>
                <a:ea typeface="맑은 고딕" panose="020B0503020000020004" pitchFamily="50" charset="-127"/>
                <a:cs typeface="Arial" pitchFamily="34" charset="0"/>
              </a:rPr>
              <a:t>Sắp</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xếp</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các</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nhân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tố</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tương</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đồng</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vào</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cùng</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một</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nhóm</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và</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vẽ</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ra</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các</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cành</a:t>
            </a:r>
            <a:r>
              <a:rPr lang="en-US" altLang="ko-KR" sz="1100" dirty="0">
                <a:latin typeface="Arial" pitchFamily="34" charset="0"/>
                <a:ea typeface="맑은 고딕" panose="020B0503020000020004" pitchFamily="50" charset="-127"/>
                <a:cs typeface="Arial" pitchFamily="34" charset="0"/>
              </a:rPr>
              <a:t>/</a:t>
            </a:r>
            <a:r>
              <a:rPr lang="en-US" altLang="ko-KR" sz="1100" dirty="0" err="1">
                <a:latin typeface="Arial" pitchFamily="34" charset="0"/>
                <a:ea typeface="맑은 고딕" panose="020B0503020000020004" pitchFamily="50" charset="-127"/>
                <a:cs typeface="Arial" pitchFamily="34" charset="0"/>
              </a:rPr>
              <a:t>nhánh</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nhỏ</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tách</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ra</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từ</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các</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cành</a:t>
            </a:r>
            <a:r>
              <a:rPr lang="en-US" altLang="ko-KR" sz="1100" dirty="0">
                <a:latin typeface="Arial" pitchFamily="34" charset="0"/>
                <a:ea typeface="맑은 고딕" panose="020B0503020000020004" pitchFamily="50" charset="-127"/>
                <a:cs typeface="Arial" pitchFamily="34" charset="0"/>
              </a:rPr>
              <a:t>/</a:t>
            </a:r>
            <a:r>
              <a:rPr lang="en-US" altLang="ko-KR" sz="1100" dirty="0" err="1">
                <a:latin typeface="Arial" pitchFamily="34" charset="0"/>
                <a:ea typeface="맑은 고딕" panose="020B0503020000020004" pitchFamily="50" charset="-127"/>
                <a:cs typeface="Arial" pitchFamily="34" charset="0"/>
              </a:rPr>
              <a:t>nhánh</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lớn</a:t>
            </a:r>
            <a:r>
              <a:rPr lang="en-US" altLang="ko-KR" sz="1100" dirty="0">
                <a:latin typeface="Arial" pitchFamily="34" charset="0"/>
                <a:ea typeface="맑은 고딕" panose="020B0503020000020004" pitchFamily="50" charset="-127"/>
                <a:cs typeface="Arial" pitchFamily="34" charset="0"/>
              </a:rPr>
              <a:t>.</a:t>
            </a:r>
          </a:p>
          <a:p>
            <a:pPr defTabSz="762000" latinLnBrk="0">
              <a:defRPr/>
            </a:pPr>
            <a:r>
              <a:rPr lang="en-US" altLang="ko-KR" sz="1100" dirty="0">
                <a:latin typeface="Arial" pitchFamily="34" charset="0"/>
                <a:ea typeface="맑은 고딕" panose="020B0503020000020004" pitchFamily="50" charset="-127"/>
                <a:cs typeface="Arial" pitchFamily="34" charset="0"/>
              </a:rPr>
              <a:t> </a:t>
            </a:r>
          </a:p>
          <a:p>
            <a:pPr defTabSz="762000" latinLnBrk="0">
              <a:defRPr/>
            </a:pPr>
            <a:r>
              <a:rPr lang="en-US" altLang="ko-KR" sz="1100" dirty="0">
                <a:latin typeface="Arial" pitchFamily="34" charset="0"/>
                <a:ea typeface="맑은 고딕" panose="020B0503020000020004" pitchFamily="50" charset="-127"/>
                <a:cs typeface="Arial" pitchFamily="34" charset="0"/>
              </a:rPr>
              <a:t>2. </a:t>
            </a:r>
            <a:r>
              <a:rPr lang="en-US" altLang="ko-KR" sz="1100" dirty="0" err="1">
                <a:latin typeface="Arial" pitchFamily="34" charset="0"/>
                <a:ea typeface="맑은 고딕" panose="020B0503020000020004" pitchFamily="50" charset="-127"/>
                <a:cs typeface="Arial" pitchFamily="34" charset="0"/>
              </a:rPr>
              <a:t>Từ</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trên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xuống</a:t>
            </a:r>
            <a:r>
              <a:rPr lang="en-US" altLang="ko-KR" sz="1100" dirty="0">
                <a:latin typeface="Arial" pitchFamily="34" charset="0"/>
                <a:ea typeface="맑은 고딕" panose="020B0503020000020004" pitchFamily="50" charset="-127"/>
                <a:cs typeface="Arial" pitchFamily="34" charset="0"/>
              </a:rPr>
              <a:t> (Top Down)</a:t>
            </a:r>
          </a:p>
          <a:p>
            <a:pPr defTabSz="762000" latinLnBrk="0">
              <a:defRPr/>
            </a:pPr>
            <a:r>
              <a:rPr lang="en-US" altLang="ko-KR" sz="1100" dirty="0" err="1">
                <a:latin typeface="Arial" pitchFamily="34" charset="0"/>
                <a:ea typeface="맑은 고딕" panose="020B0503020000020004" pitchFamily="50" charset="-127"/>
                <a:cs typeface="Arial" pitchFamily="34" charset="0"/>
              </a:rPr>
              <a:t>Bắt</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đầu</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từ</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các</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cành</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lớn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sau</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đó</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phát</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triển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các</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cành</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nhỏ</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và</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đến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nhánh</a:t>
            </a:r>
            <a:r>
              <a:rPr lang="en-US" altLang="ko-KR" sz="1100" dirty="0">
                <a:latin typeface="Arial" pitchFamily="34" charset="0"/>
                <a:ea typeface="맑은 고딕" panose="020B0503020000020004" pitchFamily="50" charset="-127"/>
                <a:cs typeface="Arial" pitchFamily="34" charset="0"/>
              </a:rPr>
              <a:t>. </a:t>
            </a:r>
          </a:p>
        </p:txBody>
      </p:sp>
      <p:sp>
        <p:nvSpPr>
          <p:cNvPr id="71704" name="Rectangle 19"/>
          <p:cNvSpPr>
            <a:spLocks noChangeArrowheads="1"/>
          </p:cNvSpPr>
          <p:nvPr/>
        </p:nvSpPr>
        <p:spPr bwMode="auto">
          <a:xfrm>
            <a:off x="985781" y="3717925"/>
            <a:ext cx="1654299"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dirty="0" err="1">
                <a:latin typeface="Arial" pitchFamily="34" charset="0"/>
                <a:ea typeface="맑은 고딕" pitchFamily="50" charset="-127"/>
                <a:cs typeface="Arial" pitchFamily="34" charset="0"/>
              </a:rPr>
              <a:t>Tập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hợp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có</a:t>
            </a:r>
            <a:endParaRPr lang="en-US" altLang="ko-KR" sz="1000" dirty="0">
              <a:latin typeface="Arial" pitchFamily="34" charset="0"/>
              <a:ea typeface="맑은 고딕" pitchFamily="50" charset="-127"/>
              <a:cs typeface="Arial" pitchFamily="34" charset="0"/>
            </a:endParaRPr>
          </a:p>
          <a:p>
            <a:pPr algn="ctr" defTabSz="762000" latinLnBrk="0"/>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liên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quan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tới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nhánh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chính</a:t>
            </a:r>
            <a:endParaRPr lang="en-US" altLang="ko-KR" sz="1000" dirty="0">
              <a:latin typeface="Arial" pitchFamily="34" charset="0"/>
              <a:ea typeface="맑은 고딕" pitchFamily="50" charset="-127"/>
              <a:cs typeface="Arial" pitchFamily="34" charset="0"/>
            </a:endParaRPr>
          </a:p>
        </p:txBody>
      </p:sp>
      <p:sp>
        <p:nvSpPr>
          <p:cNvPr id="71705" name="Rectangle 20"/>
          <p:cNvSpPr>
            <a:spLocks noChangeArrowheads="1"/>
          </p:cNvSpPr>
          <p:nvPr/>
        </p:nvSpPr>
        <p:spPr bwMode="auto">
          <a:xfrm>
            <a:off x="350641" y="3684588"/>
            <a:ext cx="697307"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cs typeface="Arial" pitchFamily="34" charset="0"/>
              </a:rPr>
              <a:t>Bước</a:t>
            </a:r>
            <a:r>
              <a:rPr lang="en-US" altLang="ko-KR" sz="1200" dirty="0">
                <a:latin typeface="Arial" pitchFamily="34" charset="0"/>
                <a:ea typeface="맑은 고딕" pitchFamily="50" charset="-127"/>
                <a:cs typeface="Arial" pitchFamily="34" charset="0"/>
              </a:rPr>
              <a:t> 3</a:t>
            </a:r>
          </a:p>
        </p:txBody>
      </p:sp>
      <p:sp>
        <p:nvSpPr>
          <p:cNvPr id="99" name="오각형 98"/>
          <p:cNvSpPr/>
          <p:nvPr/>
        </p:nvSpPr>
        <p:spPr>
          <a:xfrm rot="5400000">
            <a:off x="1403350" y="3335338"/>
            <a:ext cx="835025" cy="1511300"/>
          </a:xfrm>
          <a:prstGeom prst="homePlate">
            <a:avLst>
              <a:gd name="adj" fmla="val 27555"/>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71710" name="Line 12"/>
          <p:cNvSpPr>
            <a:spLocks noChangeShapeType="1"/>
          </p:cNvSpPr>
          <p:nvPr/>
        </p:nvSpPr>
        <p:spPr bwMode="auto">
          <a:xfrm>
            <a:off x="6609316" y="4318367"/>
            <a:ext cx="2420139" cy="0"/>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11" name="Rectangle 13"/>
          <p:cNvSpPr>
            <a:spLocks noChangeArrowheads="1"/>
          </p:cNvSpPr>
          <p:nvPr/>
        </p:nvSpPr>
        <p:spPr bwMode="auto">
          <a:xfrm>
            <a:off x="9034168" y="4229372"/>
            <a:ext cx="598782" cy="337359"/>
          </a:xfrm>
          <a:prstGeom prst="rect">
            <a:avLst/>
          </a:prstGeom>
          <a:solidFill>
            <a:schemeClr val="bg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sp>
        <p:nvSpPr>
          <p:cNvPr id="71712" name="Line 14"/>
          <p:cNvSpPr>
            <a:spLocks noChangeShapeType="1"/>
          </p:cNvSpPr>
          <p:nvPr/>
        </p:nvSpPr>
        <p:spPr bwMode="auto">
          <a:xfrm>
            <a:off x="6782521" y="3678833"/>
            <a:ext cx="549068" cy="639536"/>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13" name="Line 15"/>
          <p:cNvSpPr>
            <a:spLocks noChangeShapeType="1"/>
          </p:cNvSpPr>
          <p:nvPr/>
        </p:nvSpPr>
        <p:spPr bwMode="auto">
          <a:xfrm>
            <a:off x="7985520" y="3678833"/>
            <a:ext cx="549068" cy="639536"/>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14" name="Line 16"/>
          <p:cNvSpPr>
            <a:spLocks noChangeShapeType="1"/>
          </p:cNvSpPr>
          <p:nvPr/>
        </p:nvSpPr>
        <p:spPr bwMode="auto">
          <a:xfrm flipV="1">
            <a:off x="8179933" y="4326646"/>
            <a:ext cx="549068" cy="637467"/>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15" name="Line 17"/>
          <p:cNvSpPr>
            <a:spLocks noChangeShapeType="1"/>
          </p:cNvSpPr>
          <p:nvPr/>
        </p:nvSpPr>
        <p:spPr bwMode="auto">
          <a:xfrm flipV="1">
            <a:off x="7165453" y="4326646"/>
            <a:ext cx="549068" cy="637467"/>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16" name="Line 18"/>
          <p:cNvSpPr>
            <a:spLocks noChangeShapeType="1"/>
          </p:cNvSpPr>
          <p:nvPr/>
        </p:nvSpPr>
        <p:spPr bwMode="auto">
          <a:xfrm>
            <a:off x="6955723" y="3821640"/>
            <a:ext cx="346408" cy="0"/>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17" name="Line 19"/>
          <p:cNvSpPr>
            <a:spLocks noChangeShapeType="1"/>
          </p:cNvSpPr>
          <p:nvPr/>
        </p:nvSpPr>
        <p:spPr bwMode="auto">
          <a:xfrm>
            <a:off x="8129268" y="3796804"/>
            <a:ext cx="346408" cy="0"/>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18" name="Rectangle 20"/>
          <p:cNvSpPr>
            <a:spLocks noChangeArrowheads="1"/>
          </p:cNvSpPr>
          <p:nvPr/>
        </p:nvSpPr>
        <p:spPr bwMode="auto">
          <a:xfrm>
            <a:off x="9057456" y="4242194"/>
            <a:ext cx="576064"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ctr" defTabSz="762000" latinLnBrk="0"/>
            <a:r>
              <a:rPr lang="en-US" altLang="ko-KR" sz="800" dirty="0" err="1">
                <a:latin typeface="Arial" pitchFamily="34" charset="0"/>
                <a:ea typeface="맑은 고딕" pitchFamily="50" charset="-127"/>
                <a:cs typeface="Arial" pitchFamily="34" charset="0"/>
              </a:rPr>
              <a:t>Đặc</a:t>
            </a:r>
            <a:r>
              <a:rPr lang="en-US" altLang="ko-KR" sz="800" dirty="0">
                <a:latin typeface="Arial" pitchFamily="34" charset="0"/>
                <a:ea typeface="맑은 고딕" pitchFamily="50" charset="-127"/>
                <a:cs typeface="Arial" pitchFamily="34" charset="0"/>
              </a:rPr>
              <a:t> </a:t>
            </a:r>
            <a:r>
              <a:rPr lang="en-US" altLang="ko-KR" sz="800" dirty="0" err="1">
                <a:latin typeface="Arial" pitchFamily="34" charset="0"/>
                <a:ea typeface="맑은 고딕" pitchFamily="50" charset="-127"/>
                <a:cs typeface="Arial" pitchFamily="34" charset="0"/>
              </a:rPr>
              <a:t>điểm</a:t>
            </a:r>
            <a:endParaRPr lang="ko-KR" altLang="en-US" sz="1000" dirty="0">
              <a:latin typeface="Arial" pitchFamily="34" charset="0"/>
              <a:ea typeface="맑은 고딕" pitchFamily="50" charset="-127"/>
              <a:cs typeface="Arial" pitchFamily="34" charset="0"/>
            </a:endParaRPr>
          </a:p>
        </p:txBody>
      </p:sp>
      <p:sp>
        <p:nvSpPr>
          <p:cNvPr id="71719" name="Rectangle 21"/>
          <p:cNvSpPr>
            <a:spLocks noChangeArrowheads="1"/>
          </p:cNvSpPr>
          <p:nvPr/>
        </p:nvSpPr>
        <p:spPr bwMode="auto">
          <a:xfrm>
            <a:off x="6537325" y="3471863"/>
            <a:ext cx="57868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b="1" dirty="0" err="1">
                <a:latin typeface="Arial" pitchFamily="34" charset="0"/>
                <a:ea typeface="맑은 고딕" pitchFamily="50" charset="-127"/>
                <a:cs typeface="Arial" pitchFamily="34" charset="0"/>
              </a:rPr>
              <a:t>Cành</a:t>
            </a:r>
            <a:r>
              <a:rPr lang="en-US" altLang="ko-KR" sz="700" b="1" dirty="0">
                <a:latin typeface="Arial" pitchFamily="34" charset="0"/>
                <a:ea typeface="맑은 고딕" pitchFamily="50" charset="-127"/>
                <a:cs typeface="Arial" pitchFamily="34" charset="0"/>
              </a:rPr>
              <a:t> </a:t>
            </a:r>
            <a:r>
              <a:rPr lang="en-US" altLang="ko-KR" sz="700" b="1" dirty="0" err="1">
                <a:latin typeface="Arial" pitchFamily="34" charset="0"/>
                <a:ea typeface="맑은 고딕" pitchFamily="50" charset="-127"/>
                <a:cs typeface="Arial" pitchFamily="34" charset="0"/>
              </a:rPr>
              <a:t>lớn</a:t>
            </a:r>
            <a:endParaRPr lang="ko-KR" altLang="en-US" sz="700" b="1" dirty="0">
              <a:latin typeface="Arial" pitchFamily="34" charset="0"/>
              <a:ea typeface="맑은 고딕" pitchFamily="50" charset="-127"/>
              <a:cs typeface="Arial" pitchFamily="34" charset="0"/>
            </a:endParaRPr>
          </a:p>
        </p:txBody>
      </p:sp>
      <p:sp>
        <p:nvSpPr>
          <p:cNvPr id="71720" name="Rectangle 22"/>
          <p:cNvSpPr>
            <a:spLocks noChangeArrowheads="1"/>
          </p:cNvSpPr>
          <p:nvPr/>
        </p:nvSpPr>
        <p:spPr bwMode="auto">
          <a:xfrm>
            <a:off x="7262071" y="3707809"/>
            <a:ext cx="57387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err="1">
                <a:latin typeface="Arial" pitchFamily="34" charset="0"/>
                <a:ea typeface="맑은 고딕" pitchFamily="50" charset="-127"/>
                <a:cs typeface="Arial" pitchFamily="34" charset="0"/>
              </a:rPr>
              <a:t>Cành</a:t>
            </a:r>
            <a:r>
              <a:rPr lang="en-US" altLang="ko-KR" sz="700" dirty="0">
                <a:latin typeface="Arial" pitchFamily="34" charset="0"/>
                <a:ea typeface="맑은 고딕" pitchFamily="50" charset="-127"/>
                <a:cs typeface="Arial" pitchFamily="34" charset="0"/>
              </a:rPr>
              <a:t> </a:t>
            </a:r>
            <a:r>
              <a:rPr lang="en-US" altLang="ko-KR" sz="700" dirty="0" err="1">
                <a:latin typeface="Arial" pitchFamily="34" charset="0"/>
                <a:ea typeface="맑은 고딕" pitchFamily="50" charset="-127"/>
                <a:cs typeface="Arial" pitchFamily="34" charset="0"/>
              </a:rPr>
              <a:t>nhỏ</a:t>
            </a:r>
            <a:endParaRPr lang="ko-KR" altLang="en-US" sz="700" dirty="0">
              <a:latin typeface="Arial" pitchFamily="34" charset="0"/>
              <a:ea typeface="맑은 고딕" pitchFamily="50" charset="-127"/>
              <a:cs typeface="Arial" pitchFamily="34" charset="0"/>
            </a:endParaRPr>
          </a:p>
        </p:txBody>
      </p:sp>
      <p:sp>
        <p:nvSpPr>
          <p:cNvPr id="71721" name="Rectangle 23"/>
          <p:cNvSpPr>
            <a:spLocks noChangeArrowheads="1"/>
          </p:cNvSpPr>
          <p:nvPr/>
        </p:nvSpPr>
        <p:spPr bwMode="auto">
          <a:xfrm>
            <a:off x="8421475" y="3670554"/>
            <a:ext cx="57387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err="1">
                <a:latin typeface="Arial" pitchFamily="34" charset="0"/>
                <a:ea typeface="맑은 고딕" pitchFamily="50" charset="-127"/>
                <a:cs typeface="Arial" pitchFamily="34" charset="0"/>
              </a:rPr>
              <a:t>Cành</a:t>
            </a:r>
            <a:r>
              <a:rPr lang="en-US" altLang="ko-KR" sz="700" dirty="0">
                <a:latin typeface="Arial" pitchFamily="34" charset="0"/>
                <a:ea typeface="맑은 고딕" pitchFamily="50" charset="-127"/>
                <a:cs typeface="Arial" pitchFamily="34" charset="0"/>
              </a:rPr>
              <a:t> </a:t>
            </a:r>
            <a:r>
              <a:rPr lang="en-US" altLang="ko-KR" sz="700" dirty="0" err="1">
                <a:latin typeface="Arial" pitchFamily="34" charset="0"/>
                <a:ea typeface="맑은 고딕" pitchFamily="50" charset="-127"/>
                <a:cs typeface="Arial" pitchFamily="34" charset="0"/>
              </a:rPr>
              <a:t>nhỏ</a:t>
            </a:r>
            <a:endParaRPr lang="ko-KR" altLang="en-US" sz="700" dirty="0">
              <a:latin typeface="Arial" pitchFamily="34" charset="0"/>
              <a:ea typeface="맑은 고딕" pitchFamily="50" charset="-127"/>
              <a:cs typeface="Arial" pitchFamily="34" charset="0"/>
            </a:endParaRPr>
          </a:p>
        </p:txBody>
      </p:sp>
      <p:sp>
        <p:nvSpPr>
          <p:cNvPr id="71722" name="Line 24"/>
          <p:cNvSpPr>
            <a:spLocks noChangeShapeType="1"/>
          </p:cNvSpPr>
          <p:nvPr/>
        </p:nvSpPr>
        <p:spPr bwMode="auto">
          <a:xfrm>
            <a:off x="6687082" y="4020331"/>
            <a:ext cx="346408"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23" name="Line 25"/>
          <p:cNvSpPr>
            <a:spLocks noChangeShapeType="1"/>
          </p:cNvSpPr>
          <p:nvPr/>
        </p:nvSpPr>
        <p:spPr bwMode="auto">
          <a:xfrm>
            <a:off x="7910112" y="4057585"/>
            <a:ext cx="346408"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24" name="Line 26"/>
          <p:cNvSpPr>
            <a:spLocks noChangeShapeType="1"/>
          </p:cNvSpPr>
          <p:nvPr/>
        </p:nvSpPr>
        <p:spPr bwMode="auto">
          <a:xfrm flipH="1" flipV="1">
            <a:off x="8327214" y="3809223"/>
            <a:ext cx="120182" cy="161436"/>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25" name="Rectangle 27"/>
          <p:cNvSpPr>
            <a:spLocks noChangeArrowheads="1"/>
          </p:cNvSpPr>
          <p:nvPr/>
        </p:nvSpPr>
        <p:spPr bwMode="auto">
          <a:xfrm>
            <a:off x="8386127" y="3918918"/>
            <a:ext cx="602729"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err="1">
                <a:latin typeface="Arial" pitchFamily="34" charset="0"/>
                <a:ea typeface="맑은 고딕" pitchFamily="50" charset="-127"/>
                <a:cs typeface="Arial" pitchFamily="34" charset="0"/>
              </a:rPr>
              <a:t>Nhánh</a:t>
            </a:r>
            <a:r>
              <a:rPr lang="en-US" altLang="ko-KR" sz="700" dirty="0">
                <a:latin typeface="Arial" pitchFamily="34" charset="0"/>
                <a:ea typeface="맑은 고딕" pitchFamily="50" charset="-127"/>
                <a:cs typeface="Arial" pitchFamily="34" charset="0"/>
              </a:rPr>
              <a:t> </a:t>
            </a:r>
            <a:r>
              <a:rPr lang="en-US" altLang="ko-KR" sz="700" dirty="0" err="1">
                <a:latin typeface="Arial" pitchFamily="34" charset="0"/>
                <a:ea typeface="맑은 고딕" pitchFamily="50" charset="-127"/>
                <a:cs typeface="Arial" pitchFamily="34" charset="0"/>
              </a:rPr>
              <a:t>lớn</a:t>
            </a:r>
            <a:endParaRPr lang="ko-KR" altLang="en-US" sz="700" dirty="0">
              <a:latin typeface="Arial" pitchFamily="34" charset="0"/>
              <a:ea typeface="맑은 고딕" pitchFamily="50" charset="-127"/>
              <a:cs typeface="Arial" pitchFamily="34" charset="0"/>
            </a:endParaRPr>
          </a:p>
        </p:txBody>
      </p:sp>
      <p:sp>
        <p:nvSpPr>
          <p:cNvPr id="71726" name="Line 28"/>
          <p:cNvSpPr>
            <a:spLocks noChangeShapeType="1"/>
          </p:cNvSpPr>
          <p:nvPr/>
        </p:nvSpPr>
        <p:spPr bwMode="auto">
          <a:xfrm>
            <a:off x="7082976" y="4566731"/>
            <a:ext cx="346408"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27" name="Line 29"/>
          <p:cNvSpPr>
            <a:spLocks noChangeShapeType="1"/>
          </p:cNvSpPr>
          <p:nvPr/>
        </p:nvSpPr>
        <p:spPr bwMode="auto">
          <a:xfrm flipV="1">
            <a:off x="7075905" y="4579149"/>
            <a:ext cx="190877" cy="256642"/>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28" name="Line 30"/>
          <p:cNvSpPr>
            <a:spLocks noChangeShapeType="1"/>
          </p:cNvSpPr>
          <p:nvPr/>
        </p:nvSpPr>
        <p:spPr bwMode="auto">
          <a:xfrm>
            <a:off x="7033488" y="4715749"/>
            <a:ext cx="127252"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29" name="Rectangle 32"/>
          <p:cNvSpPr>
            <a:spLocks noChangeArrowheads="1"/>
          </p:cNvSpPr>
          <p:nvPr/>
        </p:nvSpPr>
        <p:spPr bwMode="auto">
          <a:xfrm>
            <a:off x="6582519" y="4749390"/>
            <a:ext cx="602729"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err="1">
                <a:latin typeface="Arial" pitchFamily="34" charset="0"/>
                <a:ea typeface="맑은 고딕" pitchFamily="50" charset="-127"/>
                <a:cs typeface="Arial" pitchFamily="34" charset="0"/>
              </a:rPr>
              <a:t>Nhánh</a:t>
            </a:r>
            <a:r>
              <a:rPr lang="en-US" altLang="ko-KR" sz="700" dirty="0">
                <a:latin typeface="Arial" pitchFamily="34" charset="0"/>
                <a:ea typeface="맑은 고딕" pitchFamily="50" charset="-127"/>
                <a:cs typeface="Arial" pitchFamily="34" charset="0"/>
              </a:rPr>
              <a:t> </a:t>
            </a:r>
            <a:r>
              <a:rPr lang="en-US" altLang="ko-KR" sz="700" dirty="0" err="1">
                <a:latin typeface="Arial" pitchFamily="34" charset="0"/>
                <a:ea typeface="맑은 고딕" pitchFamily="50" charset="-127"/>
                <a:cs typeface="Arial" pitchFamily="34" charset="0"/>
              </a:rPr>
              <a:t>lớn</a:t>
            </a:r>
            <a:endParaRPr lang="ko-KR" altLang="en-US" sz="700" dirty="0">
              <a:latin typeface="Arial" pitchFamily="34" charset="0"/>
              <a:ea typeface="맑은 고딕" pitchFamily="50" charset="-127"/>
              <a:cs typeface="Arial" pitchFamily="34" charset="0"/>
            </a:endParaRPr>
          </a:p>
        </p:txBody>
      </p:sp>
      <p:sp>
        <p:nvSpPr>
          <p:cNvPr id="71730" name="Rectangle 33"/>
          <p:cNvSpPr>
            <a:spLocks noChangeArrowheads="1"/>
          </p:cNvSpPr>
          <p:nvPr/>
        </p:nvSpPr>
        <p:spPr bwMode="auto">
          <a:xfrm>
            <a:off x="6158462" y="4607200"/>
            <a:ext cx="623569"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err="1">
                <a:latin typeface="Arial" pitchFamily="34" charset="0"/>
                <a:ea typeface="맑은 고딕" pitchFamily="50" charset="-127"/>
                <a:cs typeface="Arial" pitchFamily="34" charset="0"/>
              </a:rPr>
              <a:t>Nhánh</a:t>
            </a:r>
            <a:r>
              <a:rPr lang="en-US" altLang="ko-KR" sz="700" dirty="0">
                <a:latin typeface="Arial" pitchFamily="34" charset="0"/>
                <a:ea typeface="맑은 고딕" pitchFamily="50" charset="-127"/>
                <a:cs typeface="Arial" pitchFamily="34" charset="0"/>
              </a:rPr>
              <a:t> </a:t>
            </a:r>
            <a:r>
              <a:rPr lang="en-US" altLang="ko-KR" sz="700" dirty="0" err="1">
                <a:latin typeface="Arial" pitchFamily="34" charset="0"/>
                <a:ea typeface="맑은 고딕" pitchFamily="50" charset="-127"/>
                <a:cs typeface="Arial" pitchFamily="34" charset="0"/>
              </a:rPr>
              <a:t>nhỏ</a:t>
            </a:r>
            <a:endParaRPr lang="ko-KR" altLang="en-US" sz="700" dirty="0">
              <a:latin typeface="Arial" pitchFamily="34" charset="0"/>
              <a:ea typeface="맑은 고딕" pitchFamily="50" charset="-127"/>
              <a:cs typeface="Arial" pitchFamily="34" charset="0"/>
            </a:endParaRPr>
          </a:p>
        </p:txBody>
      </p:sp>
      <p:sp>
        <p:nvSpPr>
          <p:cNvPr id="71731" name="Line 34"/>
          <p:cNvSpPr>
            <a:spLocks noChangeShapeType="1"/>
          </p:cNvSpPr>
          <p:nvPr/>
        </p:nvSpPr>
        <p:spPr bwMode="auto">
          <a:xfrm>
            <a:off x="8072711" y="4641240"/>
            <a:ext cx="346408"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1732" name="Line 35"/>
          <p:cNvSpPr>
            <a:spLocks noChangeShapeType="1"/>
          </p:cNvSpPr>
          <p:nvPr/>
        </p:nvSpPr>
        <p:spPr bwMode="auto">
          <a:xfrm>
            <a:off x="8404979" y="4777840"/>
            <a:ext cx="346408" cy="0"/>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27" name="Rectangle 27"/>
          <p:cNvSpPr>
            <a:spLocks noChangeArrowheads="1"/>
          </p:cNvSpPr>
          <p:nvPr/>
        </p:nvSpPr>
        <p:spPr bwMode="auto">
          <a:xfrm>
            <a:off x="2865438" y="5899276"/>
            <a:ext cx="5903912" cy="600807"/>
          </a:xfrm>
          <a:prstGeom prst="rect">
            <a:avLst/>
          </a:prstGeom>
          <a:noFill/>
          <a:ln w="9525">
            <a:noFill/>
            <a:miter lim="800000"/>
            <a:headEnd/>
            <a:tailEnd/>
          </a:ln>
        </p:spPr>
        <p:txBody>
          <a:bodyPr lIns="92075" tIns="46038" rIns="92075" bIns="46038">
            <a:spAutoFit/>
          </a:bodyPr>
          <a:lstStyle/>
          <a:p>
            <a:pPr defTabSz="762000" latinLnBrk="0">
              <a:defRPr/>
            </a:pPr>
            <a:r>
              <a:rPr lang="en-US" altLang="ko-KR" sz="1100" dirty="0">
                <a:latin typeface="Arial" pitchFamily="34" charset="0"/>
                <a:ea typeface="맑은 고딕" panose="020B0503020000020004" pitchFamily="50" charset="-127"/>
                <a:cs typeface="Arial" pitchFamily="34" charset="0"/>
              </a:rPr>
              <a:t>&lt;</a:t>
            </a:r>
            <a:r>
              <a:rPr lang="en-US" altLang="ko-KR" sz="1100" dirty="0" err="1">
                <a:latin typeface="Arial" pitchFamily="34" charset="0"/>
                <a:ea typeface="맑은 고딕" panose="020B0503020000020004" pitchFamily="50" charset="-127"/>
                <a:cs typeface="Arial" pitchFamily="34" charset="0"/>
              </a:rPr>
              <a:t>Sử</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dụng</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các</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công</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cụ</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phân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tích</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để</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tập</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hợp</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nhân</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tố</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cho</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phương</a:t>
            </a:r>
            <a:r>
              <a:rPr lang="en-US" altLang="ko-KR" sz="1100" dirty="0">
                <a:latin typeface="Arial" pitchFamily="34" charset="0"/>
                <a:ea typeface="맑은 고딕" panose="020B0503020000020004" pitchFamily="50" charset="-127"/>
                <a:cs typeface="Arial" pitchFamily="34" charset="0"/>
              </a:rPr>
              <a:t> </a:t>
            </a:r>
            <a:r>
              <a:rPr lang="en-US" altLang="ko-KR" sz="1100" dirty="0" err="1">
                <a:latin typeface="Arial" pitchFamily="34" charset="0"/>
                <a:ea typeface="맑은 고딕" panose="020B0503020000020004" pitchFamily="50" charset="-127"/>
                <a:cs typeface="Arial" pitchFamily="34" charset="0"/>
              </a:rPr>
              <a:t>pháp</a:t>
            </a:r>
            <a:r>
              <a:rPr lang="en-US" altLang="ko-KR" sz="1100" dirty="0">
                <a:latin typeface="Arial" pitchFamily="34" charset="0"/>
                <a:ea typeface="맑은 고딕" panose="020B0503020000020004" pitchFamily="50" charset="-127"/>
                <a:cs typeface="Arial" pitchFamily="34" charset="0"/>
              </a:rPr>
              <a:t> Top Down&gt;</a:t>
            </a:r>
          </a:p>
          <a:p>
            <a:pPr marL="85725" indent="-85725" defTabSz="762000" latinLnBrk="0">
              <a:buFontTx/>
              <a:buAutoNum type="arabicPeriod"/>
              <a:defRPr/>
            </a:pPr>
            <a:r>
              <a:rPr lang="en-US" altLang="ko-KR" sz="1100" dirty="0">
                <a:latin typeface="Arial" pitchFamily="34" charset="0"/>
                <a:ea typeface="맑은 고딕" panose="020B0503020000020004" pitchFamily="50" charset="-127"/>
                <a:cs typeface="Arial" pitchFamily="34" charset="0"/>
              </a:rPr>
              <a:t> 5M1E : Man, Machine, Material, Method, Measurement, Environment</a:t>
            </a:r>
          </a:p>
          <a:p>
            <a:pPr marL="85725" indent="-85725" defTabSz="762000" latinLnBrk="0">
              <a:buFontTx/>
              <a:buAutoNum type="arabicPeriod"/>
              <a:defRPr/>
            </a:pPr>
            <a:r>
              <a:rPr lang="en-US" altLang="ko-KR" sz="1100" dirty="0">
                <a:latin typeface="Arial" pitchFamily="34" charset="0"/>
                <a:ea typeface="맑은 고딕" panose="020B0503020000020004" pitchFamily="50" charset="-127"/>
                <a:cs typeface="Arial" pitchFamily="34" charset="0"/>
              </a:rPr>
              <a:t>Process Execution Steps</a:t>
            </a:r>
            <a:r>
              <a:rPr lang="ko-KR" altLang="en-US" sz="1100" dirty="0">
                <a:latin typeface="Arial" pitchFamily="34" charset="0"/>
                <a:ea typeface="맑은 고딕" panose="020B0503020000020004" pitchFamily="50" charset="-127"/>
                <a:cs typeface="Arial" pitchFamily="34" charset="0"/>
              </a:rPr>
              <a:t> </a:t>
            </a:r>
            <a:r>
              <a:rPr lang="en-US" altLang="ko-KR" sz="1100" dirty="0">
                <a:latin typeface="Arial" pitchFamily="34" charset="0"/>
                <a:ea typeface="맑은 고딕" panose="020B0503020000020004" pitchFamily="50" charset="-127"/>
                <a:cs typeface="Arial" pitchFamily="34" charset="0"/>
              </a:rPr>
              <a:t>(Ex, SIPOC: Supplier, Input, Process, Output, Customer)</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72</a:t>
            </a:fld>
            <a:endParaRPr lang="ko-KR" altLang="en-US" dirty="0">
              <a:latin typeface="Arial" pitchFamily="34" charset="0"/>
              <a:cs typeface="Arial" pitchFamily="34" charset="0"/>
            </a:endParaRPr>
          </a:p>
        </p:txBody>
      </p:sp>
      <p:sp>
        <p:nvSpPr>
          <p:cNvPr id="52" name="타원 51"/>
          <p:cNvSpPr/>
          <p:nvPr/>
        </p:nvSpPr>
        <p:spPr>
          <a:xfrm>
            <a:off x="8854832" y="2642516"/>
            <a:ext cx="792162" cy="794103"/>
          </a:xfrm>
          <a:prstGeom prst="ellipse">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altLang="ko-KR" sz="1000" dirty="0" err="1">
                <a:latin typeface="Arial" pitchFamily="34" charset="0"/>
                <a:cs typeface="Arial" pitchFamily="34" charset="0"/>
              </a:rPr>
              <a:t>Sản</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phẩm</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bị</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hụt</a:t>
            </a:r>
            <a:r>
              <a:rPr lang="en-US" altLang="ko-KR" sz="1000" dirty="0">
                <a:latin typeface="Arial" pitchFamily="34" charset="0"/>
                <a:cs typeface="Arial" pitchFamily="34" charset="0"/>
              </a:rPr>
              <a:t> </a:t>
            </a:r>
            <a:r>
              <a:rPr lang="en-US" altLang="ko-KR" sz="1000" dirty="0" err="1">
                <a:latin typeface="Arial" pitchFamily="34" charset="0"/>
                <a:cs typeface="Arial" pitchFamily="34" charset="0"/>
              </a:rPr>
              <a:t>cân</a:t>
            </a:r>
            <a:endParaRPr lang="ko-KR" altLang="en-US" sz="1000" dirty="0">
              <a:latin typeface="Arial" pitchFamily="34" charset="0"/>
              <a:cs typeface="Arial" pitchFamily="34" charset="0"/>
            </a:endParaRPr>
          </a:p>
        </p:txBody>
      </p:sp>
      <p:sp>
        <p:nvSpPr>
          <p:cNvPr id="53"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74663181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8" name="Rectangle 20"/>
          <p:cNvSpPr>
            <a:spLocks noChangeArrowheads="1"/>
          </p:cNvSpPr>
          <p:nvPr/>
        </p:nvSpPr>
        <p:spPr bwMode="auto">
          <a:xfrm>
            <a:off x="350641" y="1639888"/>
            <a:ext cx="697307"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cs typeface="Arial" pitchFamily="34" charset="0"/>
              </a:rPr>
              <a:t>Bước</a:t>
            </a:r>
            <a:r>
              <a:rPr lang="en-US" altLang="ko-KR" sz="1200" dirty="0">
                <a:latin typeface="Arial" pitchFamily="34" charset="0"/>
                <a:ea typeface="맑은 고딕" pitchFamily="50" charset="-127"/>
                <a:cs typeface="Arial" pitchFamily="34" charset="0"/>
              </a:rPr>
              <a:t> 4</a:t>
            </a:r>
          </a:p>
        </p:txBody>
      </p:sp>
      <p:sp>
        <p:nvSpPr>
          <p:cNvPr id="72709" name="Rectangle 39"/>
          <p:cNvSpPr>
            <a:spLocks noChangeArrowheads="1"/>
          </p:cNvSpPr>
          <p:nvPr/>
        </p:nvSpPr>
        <p:spPr bwMode="auto">
          <a:xfrm>
            <a:off x="1064567" y="1628775"/>
            <a:ext cx="1512169"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ctr" defTabSz="762000" latinLnBrk="0"/>
            <a:r>
              <a:rPr lang="en-US" altLang="ko-KR" sz="1000" dirty="0" err="1">
                <a:latin typeface="Arial" pitchFamily="34" charset="0"/>
                <a:ea typeface="맑은 고딕" pitchFamily="50" charset="-127"/>
                <a:cs typeface="Arial" pitchFamily="34" charset="0"/>
              </a:rPr>
              <a:t>Viết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ra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ở </a:t>
            </a:r>
            <a:r>
              <a:rPr lang="en-US" altLang="ko-KR" sz="1000" dirty="0" err="1">
                <a:latin typeface="Arial" pitchFamily="34" charset="0"/>
                <a:ea typeface="맑은 고딕" pitchFamily="50" charset="-127"/>
                <a:cs typeface="Arial" pitchFamily="34" charset="0"/>
              </a:rPr>
              <a:t>cành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lớn</a:t>
            </a:r>
            <a:endParaRPr lang="ko-KR" altLang="en-US" sz="1000" dirty="0">
              <a:latin typeface="Arial" pitchFamily="34" charset="0"/>
              <a:ea typeface="맑은 고딕" pitchFamily="50" charset="-127"/>
              <a:cs typeface="Arial" pitchFamily="34" charset="0"/>
            </a:endParaRPr>
          </a:p>
        </p:txBody>
      </p:sp>
      <p:sp>
        <p:nvSpPr>
          <p:cNvPr id="79" name="오각형 78"/>
          <p:cNvSpPr/>
          <p:nvPr/>
        </p:nvSpPr>
        <p:spPr>
          <a:xfrm rot="5400000">
            <a:off x="1460500" y="1233488"/>
            <a:ext cx="720725"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72714" name="Rectangle 19"/>
          <p:cNvSpPr>
            <a:spLocks noChangeArrowheads="1"/>
          </p:cNvSpPr>
          <p:nvPr/>
        </p:nvSpPr>
        <p:spPr bwMode="auto">
          <a:xfrm>
            <a:off x="1064568" y="3400425"/>
            <a:ext cx="1512168" cy="55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ctr" defTabSz="762000" latinLnBrk="0"/>
            <a:r>
              <a:rPr lang="en-US" altLang="ko-KR" sz="1000" dirty="0" err="1">
                <a:latin typeface="Arial" pitchFamily="34" charset="0"/>
                <a:ea typeface="맑은 고딕" pitchFamily="50" charset="-127"/>
                <a:cs typeface="Arial" pitchFamily="34" charset="0"/>
              </a:rPr>
              <a:t>Bắt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đầu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từ</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cành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lớn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phát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triển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cành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nhỏ</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nhánh</a:t>
            </a:r>
            <a:endParaRPr lang="ko-KR" altLang="en-US" sz="1000" dirty="0">
              <a:latin typeface="Arial" pitchFamily="34" charset="0"/>
              <a:ea typeface="맑은 고딕" pitchFamily="50" charset="-127"/>
              <a:cs typeface="Arial" pitchFamily="34" charset="0"/>
            </a:endParaRPr>
          </a:p>
        </p:txBody>
      </p:sp>
      <p:sp>
        <p:nvSpPr>
          <p:cNvPr id="72715" name="Rectangle 20"/>
          <p:cNvSpPr>
            <a:spLocks noChangeArrowheads="1"/>
          </p:cNvSpPr>
          <p:nvPr/>
        </p:nvSpPr>
        <p:spPr bwMode="auto">
          <a:xfrm>
            <a:off x="350640" y="3440113"/>
            <a:ext cx="697307"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cs typeface="Arial" pitchFamily="34" charset="0"/>
              </a:rPr>
              <a:t>Bước</a:t>
            </a:r>
            <a:r>
              <a:rPr lang="en-US" altLang="ko-KR" sz="1200" dirty="0">
                <a:latin typeface="Arial" pitchFamily="34" charset="0"/>
                <a:ea typeface="맑은 고딕" pitchFamily="50" charset="-127"/>
                <a:cs typeface="Arial" pitchFamily="34" charset="0"/>
              </a:rPr>
              <a:t> 5</a:t>
            </a:r>
          </a:p>
        </p:txBody>
      </p:sp>
      <p:sp>
        <p:nvSpPr>
          <p:cNvPr id="82" name="오각형 81"/>
          <p:cNvSpPr/>
          <p:nvPr/>
        </p:nvSpPr>
        <p:spPr>
          <a:xfrm rot="5400000">
            <a:off x="1460500" y="3033713"/>
            <a:ext cx="720725"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cxnSp>
        <p:nvCxnSpPr>
          <p:cNvPr id="84" name="직선 연결선 83"/>
          <p:cNvCxnSpPr/>
          <p:nvPr/>
        </p:nvCxnSpPr>
        <p:spPr>
          <a:xfrm>
            <a:off x="344488" y="1543050"/>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5" name="직선 연결선 84"/>
          <p:cNvCxnSpPr/>
          <p:nvPr/>
        </p:nvCxnSpPr>
        <p:spPr>
          <a:xfrm>
            <a:off x="344488" y="3284538"/>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87" name="타원 86"/>
          <p:cNvSpPr/>
          <p:nvPr/>
        </p:nvSpPr>
        <p:spPr>
          <a:xfrm>
            <a:off x="8769350" y="2024063"/>
            <a:ext cx="792162" cy="794103"/>
          </a:xfrm>
          <a:prstGeom prst="ellipse">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altLang="ko-KR" sz="1000" dirty="0">
                <a:latin typeface="Arial" pitchFamily="34" charset="0"/>
                <a:cs typeface="Arial" pitchFamily="34" charset="0"/>
              </a:rPr>
              <a:t>Product weight falls short</a:t>
            </a:r>
            <a:endParaRPr lang="ko-KR" altLang="en-US" sz="1000" dirty="0">
              <a:latin typeface="Arial" pitchFamily="34" charset="0"/>
              <a:cs typeface="Arial" pitchFamily="34" charset="0"/>
            </a:endParaRPr>
          </a:p>
        </p:txBody>
      </p:sp>
      <p:cxnSp>
        <p:nvCxnSpPr>
          <p:cNvPr id="93" name="직선 화살표 연결선 92"/>
          <p:cNvCxnSpPr/>
          <p:nvPr/>
        </p:nvCxnSpPr>
        <p:spPr>
          <a:xfrm>
            <a:off x="5961063" y="2349500"/>
            <a:ext cx="2808287"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2721" name="Rectangle 41"/>
          <p:cNvSpPr>
            <a:spLocks noChangeArrowheads="1"/>
          </p:cNvSpPr>
          <p:nvPr/>
        </p:nvSpPr>
        <p:spPr bwMode="auto">
          <a:xfrm>
            <a:off x="3033713" y="1557338"/>
            <a:ext cx="2534348"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ko-KR" altLang="en-US"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Sắp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xếp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cành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lớn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sao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hợp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lý</a:t>
            </a:r>
            <a:r>
              <a:rPr lang="en-US" altLang="ko-KR" sz="1000" dirty="0">
                <a:latin typeface="Arial" pitchFamily="34" charset="0"/>
                <a:ea typeface="맑은 고딕" pitchFamily="50" charset="-127"/>
                <a:cs typeface="Arial" pitchFamily="34" charset="0"/>
              </a:rPr>
              <a:t>.</a:t>
            </a:r>
          </a:p>
          <a:p>
            <a:pPr defTabSz="762000" latinLnBrk="0">
              <a:buFont typeface="Arial" pitchFamily="34" charset="0"/>
              <a:buChar char="•"/>
            </a:pPr>
            <a:r>
              <a:rPr lang="ko-KR" altLang="en-US"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Vẽ</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ô </a:t>
            </a:r>
            <a:r>
              <a:rPr lang="en-US" altLang="ko-KR" sz="1000" dirty="0" err="1">
                <a:latin typeface="Arial" pitchFamily="34" charset="0"/>
                <a:ea typeface="맑은 고딕" pitchFamily="50" charset="-127"/>
                <a:cs typeface="Arial" pitchFamily="34" charset="0"/>
              </a:rPr>
              <a:t>vuông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xung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quanh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endParaRPr lang="en-US" altLang="ko-KR" sz="1000" dirty="0">
              <a:latin typeface="Arial" pitchFamily="34" charset="0"/>
              <a:ea typeface="맑은 고딕" pitchFamily="50" charset="-127"/>
              <a:cs typeface="Arial" pitchFamily="34" charset="0"/>
            </a:endParaRPr>
          </a:p>
        </p:txBody>
      </p:sp>
      <p:cxnSp>
        <p:nvCxnSpPr>
          <p:cNvPr id="30" name="직선 화살표 연결선 29"/>
          <p:cNvCxnSpPr/>
          <p:nvPr/>
        </p:nvCxnSpPr>
        <p:spPr>
          <a:xfrm>
            <a:off x="6465888" y="1773238"/>
            <a:ext cx="287337" cy="57626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1" name="직선 화살표 연결선 30"/>
          <p:cNvCxnSpPr/>
          <p:nvPr/>
        </p:nvCxnSpPr>
        <p:spPr>
          <a:xfrm>
            <a:off x="7616825" y="1773238"/>
            <a:ext cx="288925" cy="57626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2" name="직선 화살표 연결선 31"/>
          <p:cNvCxnSpPr/>
          <p:nvPr/>
        </p:nvCxnSpPr>
        <p:spPr>
          <a:xfrm flipH="1">
            <a:off x="6824663" y="2349500"/>
            <a:ext cx="288925" cy="574675"/>
          </a:xfrm>
          <a:prstGeom prst="straightConnector1">
            <a:avLst/>
          </a:prstGeom>
          <a:ln>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직선 화살표 연결선 32"/>
          <p:cNvCxnSpPr/>
          <p:nvPr/>
        </p:nvCxnSpPr>
        <p:spPr>
          <a:xfrm flipH="1">
            <a:off x="7977188" y="2349500"/>
            <a:ext cx="288925" cy="574675"/>
          </a:xfrm>
          <a:prstGeom prst="straightConnector1">
            <a:avLst/>
          </a:prstGeom>
          <a:ln>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72726" name="Rectangle 30"/>
          <p:cNvSpPr>
            <a:spLocks noChangeArrowheads="1"/>
          </p:cNvSpPr>
          <p:nvPr/>
        </p:nvSpPr>
        <p:spPr bwMode="auto">
          <a:xfrm>
            <a:off x="6032500" y="1484313"/>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Machine</a:t>
            </a:r>
            <a:endParaRPr lang="ko-KR" altLang="en-US" sz="900" dirty="0">
              <a:latin typeface="Arial" pitchFamily="34" charset="0"/>
              <a:ea typeface="맑은 고딕" pitchFamily="50" charset="-127"/>
              <a:cs typeface="Arial" pitchFamily="34" charset="0"/>
            </a:endParaRPr>
          </a:p>
        </p:txBody>
      </p:sp>
      <p:sp>
        <p:nvSpPr>
          <p:cNvPr id="72727" name="Rectangle 31"/>
          <p:cNvSpPr>
            <a:spLocks noChangeArrowheads="1"/>
          </p:cNvSpPr>
          <p:nvPr/>
        </p:nvSpPr>
        <p:spPr bwMode="auto">
          <a:xfrm>
            <a:off x="7256463" y="1484313"/>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Raw</a:t>
            </a:r>
          </a:p>
          <a:p>
            <a:pPr algn="ctr" defTabSz="762000" latinLnBrk="0"/>
            <a:r>
              <a:rPr lang="en-US" altLang="ko-KR" sz="900" dirty="0">
                <a:latin typeface="Arial" pitchFamily="34" charset="0"/>
                <a:ea typeface="맑은 고딕" pitchFamily="50" charset="-127"/>
                <a:cs typeface="Arial" pitchFamily="34" charset="0"/>
              </a:rPr>
              <a:t>Materials</a:t>
            </a:r>
            <a:endParaRPr lang="ko-KR" altLang="en-US" sz="900" dirty="0">
              <a:latin typeface="Arial" pitchFamily="34" charset="0"/>
              <a:ea typeface="맑은 고딕" pitchFamily="50" charset="-127"/>
              <a:cs typeface="Arial" pitchFamily="34" charset="0"/>
            </a:endParaRPr>
          </a:p>
        </p:txBody>
      </p:sp>
      <p:sp>
        <p:nvSpPr>
          <p:cNvPr id="72728" name="Rectangle 32"/>
          <p:cNvSpPr>
            <a:spLocks noChangeArrowheads="1"/>
          </p:cNvSpPr>
          <p:nvPr/>
        </p:nvSpPr>
        <p:spPr bwMode="auto">
          <a:xfrm>
            <a:off x="6465888" y="2924175"/>
            <a:ext cx="674687"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Method</a:t>
            </a:r>
            <a:endParaRPr lang="ko-KR" altLang="en-US" sz="900" dirty="0">
              <a:latin typeface="Arial" pitchFamily="34" charset="0"/>
              <a:ea typeface="맑은 고딕" pitchFamily="50" charset="-127"/>
              <a:cs typeface="Arial" pitchFamily="34" charset="0"/>
            </a:endParaRPr>
          </a:p>
        </p:txBody>
      </p:sp>
      <p:sp>
        <p:nvSpPr>
          <p:cNvPr id="72729" name="Rectangle 33"/>
          <p:cNvSpPr>
            <a:spLocks noChangeArrowheads="1"/>
          </p:cNvSpPr>
          <p:nvPr/>
        </p:nvSpPr>
        <p:spPr bwMode="auto">
          <a:xfrm>
            <a:off x="7616825" y="2924175"/>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People</a:t>
            </a:r>
            <a:endParaRPr lang="ko-KR" altLang="en-US" sz="900" dirty="0">
              <a:latin typeface="Arial" pitchFamily="34" charset="0"/>
              <a:ea typeface="맑은 고딕" pitchFamily="50" charset="-127"/>
              <a:cs typeface="Arial" pitchFamily="34" charset="0"/>
            </a:endParaRPr>
          </a:p>
        </p:txBody>
      </p:sp>
      <p:sp>
        <p:nvSpPr>
          <p:cNvPr id="72730" name="Rectangle 41"/>
          <p:cNvSpPr>
            <a:spLocks noChangeArrowheads="1"/>
          </p:cNvSpPr>
          <p:nvPr/>
        </p:nvSpPr>
        <p:spPr bwMode="auto">
          <a:xfrm>
            <a:off x="3033713" y="3429000"/>
            <a:ext cx="2135311" cy="55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just" defTabSz="762000" latinLnBrk="0"/>
            <a:r>
              <a:rPr lang="en-US" altLang="ko-KR" sz="1000" dirty="0" err="1">
                <a:latin typeface="Arial" pitchFamily="34" charset="0"/>
                <a:ea typeface="맑은 고딕" pitchFamily="50" charset="-127"/>
                <a:cs typeface="Arial" pitchFamily="34" charset="0"/>
              </a:rPr>
              <a:t>Với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mỗi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cành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lớn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phát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triển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cành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nhỏ</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lần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lượt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tới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nhánh</a:t>
            </a:r>
            <a:r>
              <a:rPr lang="en-US" altLang="ko-KR" sz="1000" dirty="0">
                <a:latin typeface="Arial" pitchFamily="34" charset="0"/>
                <a:ea typeface="맑은 고딕" pitchFamily="50" charset="-127"/>
                <a:cs typeface="Arial" pitchFamily="34" charset="0"/>
              </a:rPr>
              <a:t>.</a:t>
            </a:r>
          </a:p>
        </p:txBody>
      </p:sp>
      <p:sp>
        <p:nvSpPr>
          <p:cNvPr id="72731" name="Line 38"/>
          <p:cNvSpPr>
            <a:spLocks noChangeShapeType="1"/>
          </p:cNvSpPr>
          <p:nvPr/>
        </p:nvSpPr>
        <p:spPr bwMode="auto">
          <a:xfrm>
            <a:off x="5332413" y="4718050"/>
            <a:ext cx="3592512" cy="0"/>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32" name="Rectangle 40"/>
          <p:cNvSpPr>
            <a:spLocks noChangeArrowheads="1"/>
          </p:cNvSpPr>
          <p:nvPr/>
        </p:nvSpPr>
        <p:spPr bwMode="auto">
          <a:xfrm>
            <a:off x="5289550" y="3486150"/>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Machine</a:t>
            </a:r>
            <a:endParaRPr lang="ko-KR" altLang="en-US" sz="900" dirty="0">
              <a:latin typeface="Arial" pitchFamily="34" charset="0"/>
              <a:ea typeface="맑은 고딕" pitchFamily="50" charset="-127"/>
              <a:cs typeface="Arial" pitchFamily="34" charset="0"/>
            </a:endParaRPr>
          </a:p>
        </p:txBody>
      </p:sp>
      <p:sp>
        <p:nvSpPr>
          <p:cNvPr id="72733" name="Rectangle 41"/>
          <p:cNvSpPr>
            <a:spLocks noChangeArrowheads="1"/>
          </p:cNvSpPr>
          <p:nvPr/>
        </p:nvSpPr>
        <p:spPr bwMode="auto">
          <a:xfrm>
            <a:off x="7043738" y="3486150"/>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Raw</a:t>
            </a:r>
          </a:p>
          <a:p>
            <a:pPr algn="ctr" defTabSz="762000" latinLnBrk="0"/>
            <a:r>
              <a:rPr lang="en-US" altLang="ko-KR" sz="900" dirty="0">
                <a:latin typeface="Arial" pitchFamily="34" charset="0"/>
                <a:ea typeface="맑은 고딕" pitchFamily="50" charset="-127"/>
                <a:cs typeface="Arial" pitchFamily="34" charset="0"/>
              </a:rPr>
              <a:t>Materials</a:t>
            </a:r>
            <a:endParaRPr lang="ko-KR" altLang="en-US" sz="900" dirty="0">
              <a:latin typeface="Arial" pitchFamily="34" charset="0"/>
              <a:ea typeface="맑은 고딕" pitchFamily="50" charset="-127"/>
              <a:cs typeface="Arial" pitchFamily="34" charset="0"/>
            </a:endParaRPr>
          </a:p>
        </p:txBody>
      </p:sp>
      <p:sp>
        <p:nvSpPr>
          <p:cNvPr id="72734" name="Rectangle 42"/>
          <p:cNvSpPr>
            <a:spLocks noChangeArrowheads="1"/>
          </p:cNvSpPr>
          <p:nvPr/>
        </p:nvSpPr>
        <p:spPr bwMode="auto">
          <a:xfrm>
            <a:off x="5454650" y="5657850"/>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Method</a:t>
            </a:r>
            <a:endParaRPr lang="ko-KR" altLang="en-US" sz="900" dirty="0">
              <a:latin typeface="Arial" pitchFamily="34" charset="0"/>
              <a:ea typeface="맑은 고딕" pitchFamily="50" charset="-127"/>
              <a:cs typeface="Arial" pitchFamily="34" charset="0"/>
            </a:endParaRPr>
          </a:p>
        </p:txBody>
      </p:sp>
      <p:sp>
        <p:nvSpPr>
          <p:cNvPr id="72735" name="Rectangle 43"/>
          <p:cNvSpPr>
            <a:spLocks noChangeArrowheads="1"/>
          </p:cNvSpPr>
          <p:nvPr/>
        </p:nvSpPr>
        <p:spPr bwMode="auto">
          <a:xfrm>
            <a:off x="7291388" y="5657850"/>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People</a:t>
            </a:r>
            <a:endParaRPr lang="ko-KR" altLang="en-US" sz="900" dirty="0">
              <a:latin typeface="Arial" pitchFamily="34" charset="0"/>
              <a:ea typeface="맑은 고딕" pitchFamily="50" charset="-127"/>
              <a:cs typeface="Arial" pitchFamily="34" charset="0"/>
            </a:endParaRPr>
          </a:p>
        </p:txBody>
      </p:sp>
      <p:sp>
        <p:nvSpPr>
          <p:cNvPr id="72736" name="Line 44"/>
          <p:cNvSpPr>
            <a:spLocks noChangeShapeType="1"/>
          </p:cNvSpPr>
          <p:nvPr/>
        </p:nvSpPr>
        <p:spPr bwMode="auto">
          <a:xfrm>
            <a:off x="5591175" y="3794125"/>
            <a:ext cx="814388" cy="923925"/>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37" name="Line 45"/>
          <p:cNvSpPr>
            <a:spLocks noChangeShapeType="1"/>
          </p:cNvSpPr>
          <p:nvPr/>
        </p:nvSpPr>
        <p:spPr bwMode="auto">
          <a:xfrm>
            <a:off x="7375525" y="3794125"/>
            <a:ext cx="815975" cy="923925"/>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38" name="Line 46"/>
          <p:cNvSpPr>
            <a:spLocks noChangeShapeType="1"/>
          </p:cNvSpPr>
          <p:nvPr/>
        </p:nvSpPr>
        <p:spPr bwMode="auto">
          <a:xfrm flipV="1">
            <a:off x="7664450" y="4727575"/>
            <a:ext cx="815975" cy="923925"/>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39" name="Line 47"/>
          <p:cNvSpPr>
            <a:spLocks noChangeShapeType="1"/>
          </p:cNvSpPr>
          <p:nvPr/>
        </p:nvSpPr>
        <p:spPr bwMode="auto">
          <a:xfrm flipV="1">
            <a:off x="5859463" y="4727575"/>
            <a:ext cx="814387" cy="923925"/>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pSp>
        <p:nvGrpSpPr>
          <p:cNvPr id="3" name="Group 48"/>
          <p:cNvGrpSpPr>
            <a:grpSpLocks/>
          </p:cNvGrpSpPr>
          <p:nvPr/>
        </p:nvGrpSpPr>
        <p:grpSpPr bwMode="auto">
          <a:xfrm>
            <a:off x="5964238" y="4148138"/>
            <a:ext cx="425450" cy="53975"/>
            <a:chOff x="3433" y="1771"/>
            <a:chExt cx="248" cy="34"/>
          </a:xfrm>
        </p:grpSpPr>
        <p:sp>
          <p:nvSpPr>
            <p:cNvPr id="72812" name="Line 49"/>
            <p:cNvSpPr>
              <a:spLocks noChangeShapeType="1"/>
            </p:cNvSpPr>
            <p:nvPr/>
          </p:nvSpPr>
          <p:spPr bwMode="auto">
            <a:xfrm>
              <a:off x="3441" y="1785"/>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813" name="AutoShape 50"/>
            <p:cNvSpPr>
              <a:spLocks noChangeArrowheads="1"/>
            </p:cNvSpPr>
            <p:nvPr/>
          </p:nvSpPr>
          <p:spPr bwMode="auto">
            <a:xfrm rot="-5400000">
              <a:off x="3433" y="1771"/>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grpSp>
        <p:nvGrpSpPr>
          <p:cNvPr id="4" name="Group 51"/>
          <p:cNvGrpSpPr>
            <a:grpSpLocks/>
          </p:cNvGrpSpPr>
          <p:nvPr/>
        </p:nvGrpSpPr>
        <p:grpSpPr bwMode="auto">
          <a:xfrm>
            <a:off x="5695950" y="4443413"/>
            <a:ext cx="425450" cy="53975"/>
            <a:chOff x="3277" y="1957"/>
            <a:chExt cx="248" cy="34"/>
          </a:xfrm>
        </p:grpSpPr>
        <p:sp>
          <p:nvSpPr>
            <p:cNvPr id="72810" name="Line 52"/>
            <p:cNvSpPr>
              <a:spLocks noChangeShapeType="1"/>
            </p:cNvSpPr>
            <p:nvPr/>
          </p:nvSpPr>
          <p:spPr bwMode="auto">
            <a:xfrm flipH="1">
              <a:off x="3277" y="1971"/>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811" name="AutoShape 53"/>
            <p:cNvSpPr>
              <a:spLocks noChangeArrowheads="1"/>
            </p:cNvSpPr>
            <p:nvPr/>
          </p:nvSpPr>
          <p:spPr bwMode="auto">
            <a:xfrm rot="5400000" flipH="1">
              <a:off x="3491" y="1957"/>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42" name="Rectangle 54"/>
          <p:cNvSpPr>
            <a:spLocks noChangeArrowheads="1"/>
          </p:cNvSpPr>
          <p:nvPr/>
        </p:nvSpPr>
        <p:spPr bwMode="auto">
          <a:xfrm>
            <a:off x="6326188" y="4068763"/>
            <a:ext cx="44563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nozzle</a:t>
            </a:r>
            <a:endParaRPr lang="ko-KR" altLang="en-US" sz="700" dirty="0">
              <a:latin typeface="Arial" pitchFamily="34" charset="0"/>
              <a:ea typeface="맑은 고딕" pitchFamily="50" charset="-127"/>
              <a:cs typeface="Arial" pitchFamily="34" charset="0"/>
            </a:endParaRPr>
          </a:p>
        </p:txBody>
      </p:sp>
      <p:sp>
        <p:nvSpPr>
          <p:cNvPr id="72743" name="Line 55"/>
          <p:cNvSpPr>
            <a:spLocks noChangeShapeType="1"/>
          </p:cNvSpPr>
          <p:nvPr/>
        </p:nvSpPr>
        <p:spPr bwMode="auto">
          <a:xfrm flipH="1">
            <a:off x="6226175" y="4003675"/>
            <a:ext cx="117475" cy="1190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44" name="AutoShape 56"/>
          <p:cNvSpPr>
            <a:spLocks noChangeArrowheads="1"/>
          </p:cNvSpPr>
          <p:nvPr/>
        </p:nvSpPr>
        <p:spPr bwMode="auto">
          <a:xfrm rot="13560000" flipH="1">
            <a:off x="6195219" y="4112419"/>
            <a:ext cx="53975" cy="58737"/>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sp>
        <p:nvSpPr>
          <p:cNvPr id="72745" name="Rectangle 57"/>
          <p:cNvSpPr>
            <a:spLocks noChangeArrowheads="1"/>
          </p:cNvSpPr>
          <p:nvPr/>
        </p:nvSpPr>
        <p:spPr bwMode="auto">
          <a:xfrm>
            <a:off x="6254750" y="3878263"/>
            <a:ext cx="408766"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angle</a:t>
            </a:r>
            <a:endParaRPr lang="ko-KR" altLang="en-US" sz="700" dirty="0">
              <a:latin typeface="Arial" pitchFamily="34" charset="0"/>
              <a:ea typeface="맑은 고딕" pitchFamily="50" charset="-127"/>
              <a:cs typeface="Arial" pitchFamily="34" charset="0"/>
            </a:endParaRPr>
          </a:p>
        </p:txBody>
      </p:sp>
      <p:sp>
        <p:nvSpPr>
          <p:cNvPr id="72746" name="Rectangle 58"/>
          <p:cNvSpPr>
            <a:spLocks noChangeArrowheads="1"/>
          </p:cNvSpPr>
          <p:nvPr/>
        </p:nvSpPr>
        <p:spPr bwMode="auto">
          <a:xfrm>
            <a:off x="5043479" y="4226840"/>
            <a:ext cx="751741"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Clogged by </a:t>
            </a:r>
          </a:p>
          <a:p>
            <a:pPr defTabSz="762000" latinLnBrk="0"/>
            <a:r>
              <a:rPr lang="en-US" altLang="ko-KR" sz="700" dirty="0">
                <a:latin typeface="Arial" pitchFamily="34" charset="0"/>
                <a:ea typeface="맑은 고딕" pitchFamily="50" charset="-127"/>
                <a:cs typeface="Arial" pitchFamily="34" charset="0"/>
              </a:rPr>
              <a:t>residue</a:t>
            </a:r>
            <a:endParaRPr lang="ko-KR" altLang="en-US" sz="700" dirty="0">
              <a:latin typeface="Arial" pitchFamily="34" charset="0"/>
              <a:ea typeface="맑은 고딕" pitchFamily="50" charset="-127"/>
              <a:cs typeface="Arial" pitchFamily="34" charset="0"/>
            </a:endParaRPr>
          </a:p>
        </p:txBody>
      </p:sp>
      <p:grpSp>
        <p:nvGrpSpPr>
          <p:cNvPr id="5" name="Group 59"/>
          <p:cNvGrpSpPr>
            <a:grpSpLocks/>
          </p:cNvGrpSpPr>
          <p:nvPr/>
        </p:nvGrpSpPr>
        <p:grpSpPr bwMode="auto">
          <a:xfrm>
            <a:off x="5678488" y="5329238"/>
            <a:ext cx="425450" cy="53975"/>
            <a:chOff x="3267" y="2515"/>
            <a:chExt cx="248" cy="34"/>
          </a:xfrm>
        </p:grpSpPr>
        <p:sp>
          <p:nvSpPr>
            <p:cNvPr id="72808" name="Line 60"/>
            <p:cNvSpPr>
              <a:spLocks noChangeShapeType="1"/>
            </p:cNvSpPr>
            <p:nvPr/>
          </p:nvSpPr>
          <p:spPr bwMode="auto">
            <a:xfrm flipH="1">
              <a:off x="3267" y="2529"/>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809" name="AutoShape 61"/>
            <p:cNvSpPr>
              <a:spLocks noChangeArrowheads="1"/>
            </p:cNvSpPr>
            <p:nvPr/>
          </p:nvSpPr>
          <p:spPr bwMode="auto">
            <a:xfrm rot="5400000" flipH="1">
              <a:off x="3481" y="2515"/>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48" name="Rectangle 62"/>
          <p:cNvSpPr>
            <a:spLocks noChangeArrowheads="1"/>
          </p:cNvSpPr>
          <p:nvPr/>
        </p:nvSpPr>
        <p:spPr bwMode="auto">
          <a:xfrm>
            <a:off x="5253038" y="5208813"/>
            <a:ext cx="538609"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Insertion</a:t>
            </a:r>
          </a:p>
          <a:p>
            <a:pPr defTabSz="762000" latinLnBrk="0"/>
            <a:r>
              <a:rPr lang="en-US" altLang="ko-KR" sz="700" dirty="0">
                <a:latin typeface="Arial" pitchFamily="34" charset="0"/>
                <a:ea typeface="맑은 고딕" pitchFamily="50" charset="-127"/>
                <a:cs typeface="Arial" pitchFamily="34" charset="0"/>
              </a:rPr>
              <a:t>Tool</a:t>
            </a:r>
            <a:endParaRPr lang="ko-KR" altLang="en-US" sz="700" dirty="0">
              <a:latin typeface="Arial" pitchFamily="34" charset="0"/>
              <a:ea typeface="맑은 고딕" pitchFamily="50" charset="-127"/>
              <a:cs typeface="Arial" pitchFamily="34" charset="0"/>
            </a:endParaRPr>
          </a:p>
        </p:txBody>
      </p:sp>
      <p:grpSp>
        <p:nvGrpSpPr>
          <p:cNvPr id="6" name="Group 63"/>
          <p:cNvGrpSpPr>
            <a:grpSpLocks/>
          </p:cNvGrpSpPr>
          <p:nvPr/>
        </p:nvGrpSpPr>
        <p:grpSpPr bwMode="auto">
          <a:xfrm>
            <a:off x="5735638" y="5187950"/>
            <a:ext cx="174625" cy="180975"/>
            <a:chOff x="3300" y="2426"/>
            <a:chExt cx="102" cy="114"/>
          </a:xfrm>
        </p:grpSpPr>
        <p:sp>
          <p:nvSpPr>
            <p:cNvPr id="72806" name="Line 64"/>
            <p:cNvSpPr>
              <a:spLocks noChangeShapeType="1"/>
            </p:cNvSpPr>
            <p:nvPr/>
          </p:nvSpPr>
          <p:spPr bwMode="auto">
            <a:xfrm>
              <a:off x="3300" y="2426"/>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807" name="AutoShape 65"/>
            <p:cNvSpPr>
              <a:spLocks noChangeArrowheads="1"/>
            </p:cNvSpPr>
            <p:nvPr/>
          </p:nvSpPr>
          <p:spPr bwMode="auto">
            <a:xfrm rot="8040000">
              <a:off x="3368" y="2506"/>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50" name="Rectangle 66"/>
          <p:cNvSpPr>
            <a:spLocks noChangeArrowheads="1"/>
          </p:cNvSpPr>
          <p:nvPr/>
        </p:nvSpPr>
        <p:spPr bwMode="auto">
          <a:xfrm>
            <a:off x="5387975" y="5021263"/>
            <a:ext cx="65402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Press ledge</a:t>
            </a:r>
            <a:endParaRPr lang="ko-KR" altLang="en-US" sz="700" dirty="0">
              <a:latin typeface="Arial" pitchFamily="34" charset="0"/>
              <a:ea typeface="맑은 고딕" pitchFamily="50" charset="-127"/>
              <a:cs typeface="Arial" pitchFamily="34" charset="0"/>
            </a:endParaRPr>
          </a:p>
        </p:txBody>
      </p:sp>
      <p:sp>
        <p:nvSpPr>
          <p:cNvPr id="72751" name="Line 67"/>
          <p:cNvSpPr>
            <a:spLocks noChangeShapeType="1"/>
          </p:cNvSpPr>
          <p:nvPr/>
        </p:nvSpPr>
        <p:spPr bwMode="auto">
          <a:xfrm>
            <a:off x="6276975" y="5227638"/>
            <a:ext cx="3048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52" name="AutoShape 68"/>
          <p:cNvSpPr>
            <a:spLocks noChangeArrowheads="1"/>
          </p:cNvSpPr>
          <p:nvPr/>
        </p:nvSpPr>
        <p:spPr bwMode="auto">
          <a:xfrm rot="-5400000">
            <a:off x="6265069" y="5203032"/>
            <a:ext cx="53975" cy="58737"/>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sp>
        <p:nvSpPr>
          <p:cNvPr id="72753" name="Rectangle 69"/>
          <p:cNvSpPr>
            <a:spLocks noChangeArrowheads="1"/>
          </p:cNvSpPr>
          <p:nvPr/>
        </p:nvSpPr>
        <p:spPr bwMode="auto">
          <a:xfrm>
            <a:off x="6511925" y="5145088"/>
            <a:ext cx="511358"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Amount</a:t>
            </a:r>
          </a:p>
          <a:p>
            <a:pPr defTabSz="762000" latinLnBrk="0"/>
            <a:r>
              <a:rPr lang="en-US" altLang="ko-KR" sz="700" dirty="0">
                <a:latin typeface="Arial" pitchFamily="34" charset="0"/>
                <a:ea typeface="맑은 고딕" pitchFamily="50" charset="-127"/>
                <a:cs typeface="Arial" pitchFamily="34" charset="0"/>
              </a:rPr>
              <a:t>inserted</a:t>
            </a:r>
            <a:endParaRPr lang="ko-KR" altLang="en-US" sz="700" dirty="0">
              <a:latin typeface="Arial" pitchFamily="34" charset="0"/>
              <a:ea typeface="맑은 고딕" pitchFamily="50" charset="-127"/>
              <a:cs typeface="Arial" pitchFamily="34" charset="0"/>
            </a:endParaRPr>
          </a:p>
        </p:txBody>
      </p:sp>
      <p:grpSp>
        <p:nvGrpSpPr>
          <p:cNvPr id="7" name="Group 70"/>
          <p:cNvGrpSpPr>
            <a:grpSpLocks/>
          </p:cNvGrpSpPr>
          <p:nvPr/>
        </p:nvGrpSpPr>
        <p:grpSpPr bwMode="auto">
          <a:xfrm>
            <a:off x="6416675" y="5254625"/>
            <a:ext cx="174625" cy="180975"/>
            <a:chOff x="3696" y="2468"/>
            <a:chExt cx="102" cy="114"/>
          </a:xfrm>
        </p:grpSpPr>
        <p:sp>
          <p:nvSpPr>
            <p:cNvPr id="72804" name="Line 71"/>
            <p:cNvSpPr>
              <a:spLocks noChangeShapeType="1"/>
            </p:cNvSpPr>
            <p:nvPr/>
          </p:nvSpPr>
          <p:spPr bwMode="auto">
            <a:xfrm flipH="1" flipV="1">
              <a:off x="3716" y="2491"/>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805" name="AutoShape 72"/>
            <p:cNvSpPr>
              <a:spLocks noChangeArrowheads="1"/>
            </p:cNvSpPr>
            <p:nvPr/>
          </p:nvSpPr>
          <p:spPr bwMode="auto">
            <a:xfrm rot="-2760000">
              <a:off x="3696" y="2468"/>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55" name="Rectangle 73"/>
          <p:cNvSpPr>
            <a:spLocks noChangeArrowheads="1"/>
          </p:cNvSpPr>
          <p:nvPr/>
        </p:nvSpPr>
        <p:spPr bwMode="auto">
          <a:xfrm>
            <a:off x="6275388" y="5402263"/>
            <a:ext cx="774251"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Length</a:t>
            </a:r>
            <a:r>
              <a:rPr lang="ko-KR" altLang="en-US" sz="700" dirty="0">
                <a:latin typeface="Arial" pitchFamily="34" charset="0"/>
                <a:ea typeface="맑은 고딕" pitchFamily="50" charset="-127"/>
                <a:cs typeface="Arial" pitchFamily="34" charset="0"/>
              </a:rPr>
              <a:t> </a:t>
            </a:r>
            <a:r>
              <a:rPr lang="en-US" altLang="ko-KR" sz="700" dirty="0">
                <a:latin typeface="Arial" pitchFamily="34" charset="0"/>
                <a:ea typeface="맑은 고딕" pitchFamily="50" charset="-127"/>
                <a:cs typeface="Arial" pitchFamily="34" charset="0"/>
              </a:rPr>
              <a:t>40Cm</a:t>
            </a:r>
          </a:p>
          <a:p>
            <a:pPr defTabSz="762000" latinLnBrk="0"/>
            <a:r>
              <a:rPr lang="en-US" altLang="ko-KR" sz="700" dirty="0">
                <a:latin typeface="Arial" pitchFamily="34" charset="0"/>
                <a:ea typeface="맑은 고딕" pitchFamily="50" charset="-127"/>
                <a:cs typeface="Arial" pitchFamily="34" charset="0"/>
              </a:rPr>
              <a:t>Diameter</a:t>
            </a:r>
            <a:r>
              <a:rPr lang="ko-KR" altLang="en-US" sz="700" dirty="0">
                <a:latin typeface="Arial" pitchFamily="34" charset="0"/>
                <a:ea typeface="맑은 고딕" pitchFamily="50" charset="-127"/>
                <a:cs typeface="Arial" pitchFamily="34" charset="0"/>
              </a:rPr>
              <a:t> </a:t>
            </a:r>
            <a:r>
              <a:rPr lang="en-US" altLang="ko-KR" sz="700" dirty="0">
                <a:latin typeface="Arial" pitchFamily="34" charset="0"/>
                <a:ea typeface="맑은 고딕" pitchFamily="50" charset="-127"/>
                <a:cs typeface="Arial" pitchFamily="34" charset="0"/>
              </a:rPr>
              <a:t>5Cm</a:t>
            </a:r>
          </a:p>
        </p:txBody>
      </p:sp>
      <p:grpSp>
        <p:nvGrpSpPr>
          <p:cNvPr id="8" name="Group 74"/>
          <p:cNvGrpSpPr>
            <a:grpSpLocks/>
          </p:cNvGrpSpPr>
          <p:nvPr/>
        </p:nvGrpSpPr>
        <p:grpSpPr bwMode="auto">
          <a:xfrm>
            <a:off x="7391400" y="5386388"/>
            <a:ext cx="425450" cy="53975"/>
            <a:chOff x="4263" y="2551"/>
            <a:chExt cx="248" cy="34"/>
          </a:xfrm>
        </p:grpSpPr>
        <p:sp>
          <p:nvSpPr>
            <p:cNvPr id="72802" name="Line 75"/>
            <p:cNvSpPr>
              <a:spLocks noChangeShapeType="1"/>
            </p:cNvSpPr>
            <p:nvPr/>
          </p:nvSpPr>
          <p:spPr bwMode="auto">
            <a:xfrm flipH="1">
              <a:off x="4263" y="2565"/>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803" name="AutoShape 76"/>
            <p:cNvSpPr>
              <a:spLocks noChangeArrowheads="1"/>
            </p:cNvSpPr>
            <p:nvPr/>
          </p:nvSpPr>
          <p:spPr bwMode="auto">
            <a:xfrm rot="5400000" flipH="1">
              <a:off x="4477" y="2551"/>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57" name="Rectangle 77"/>
          <p:cNvSpPr>
            <a:spLocks noChangeArrowheads="1"/>
          </p:cNvSpPr>
          <p:nvPr/>
        </p:nvSpPr>
        <p:spPr bwMode="auto">
          <a:xfrm>
            <a:off x="6929697" y="5235353"/>
            <a:ext cx="602729"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Task</a:t>
            </a:r>
          </a:p>
          <a:p>
            <a:pPr defTabSz="762000" latinLnBrk="0"/>
            <a:r>
              <a:rPr lang="en-US" altLang="ko-KR" sz="700" dirty="0">
                <a:latin typeface="Arial" pitchFamily="34" charset="0"/>
                <a:ea typeface="맑은 고딕" pitchFamily="50" charset="-127"/>
                <a:cs typeface="Arial" pitchFamily="34" charset="0"/>
              </a:rPr>
              <a:t>procedure</a:t>
            </a:r>
            <a:endParaRPr lang="ko-KR" altLang="en-US" sz="700" dirty="0">
              <a:latin typeface="Arial" pitchFamily="34" charset="0"/>
              <a:ea typeface="맑은 고딕" pitchFamily="50" charset="-127"/>
              <a:cs typeface="Arial" pitchFamily="34" charset="0"/>
            </a:endParaRPr>
          </a:p>
        </p:txBody>
      </p:sp>
      <p:grpSp>
        <p:nvGrpSpPr>
          <p:cNvPr id="9" name="Group 78"/>
          <p:cNvGrpSpPr>
            <a:grpSpLocks/>
          </p:cNvGrpSpPr>
          <p:nvPr/>
        </p:nvGrpSpPr>
        <p:grpSpPr bwMode="auto">
          <a:xfrm>
            <a:off x="7437438" y="5245100"/>
            <a:ext cx="176212" cy="180975"/>
            <a:chOff x="4290" y="2462"/>
            <a:chExt cx="102" cy="114"/>
          </a:xfrm>
        </p:grpSpPr>
        <p:sp>
          <p:nvSpPr>
            <p:cNvPr id="72800" name="Line 79"/>
            <p:cNvSpPr>
              <a:spLocks noChangeShapeType="1"/>
            </p:cNvSpPr>
            <p:nvPr/>
          </p:nvSpPr>
          <p:spPr bwMode="auto">
            <a:xfrm>
              <a:off x="4290" y="2462"/>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801" name="AutoShape 80"/>
            <p:cNvSpPr>
              <a:spLocks noChangeArrowheads="1"/>
            </p:cNvSpPr>
            <p:nvPr/>
          </p:nvSpPr>
          <p:spPr bwMode="auto">
            <a:xfrm rot="8040000">
              <a:off x="4358" y="2542"/>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59" name="Rectangle 81"/>
          <p:cNvSpPr>
            <a:spLocks noChangeArrowheads="1"/>
          </p:cNvSpPr>
          <p:nvPr/>
        </p:nvSpPr>
        <p:spPr bwMode="auto">
          <a:xfrm>
            <a:off x="7087763" y="4966273"/>
            <a:ext cx="62837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700" dirty="0">
                <a:latin typeface="Arial" pitchFamily="34" charset="0"/>
                <a:ea typeface="맑은 고딕" pitchFamily="50" charset="-127"/>
                <a:cs typeface="Arial" pitchFamily="34" charset="0"/>
              </a:rPr>
              <a:t>Human</a:t>
            </a:r>
          </a:p>
          <a:p>
            <a:pPr algn="ctr" defTabSz="762000" latinLnBrk="0"/>
            <a:r>
              <a:rPr lang="en-US" altLang="ko-KR" sz="700" dirty="0">
                <a:latin typeface="Arial" pitchFamily="34" charset="0"/>
                <a:ea typeface="맑은 고딕" pitchFamily="50" charset="-127"/>
                <a:cs typeface="Arial" pitchFamily="34" charset="0"/>
              </a:rPr>
              <a:t>differences</a:t>
            </a:r>
            <a:endParaRPr lang="ko-KR" altLang="en-US" sz="700" dirty="0">
              <a:latin typeface="Arial" pitchFamily="34" charset="0"/>
              <a:ea typeface="맑은 고딕" pitchFamily="50" charset="-127"/>
              <a:cs typeface="Arial" pitchFamily="34" charset="0"/>
            </a:endParaRPr>
          </a:p>
        </p:txBody>
      </p:sp>
      <p:grpSp>
        <p:nvGrpSpPr>
          <p:cNvPr id="10" name="Group 82"/>
          <p:cNvGrpSpPr>
            <a:grpSpLocks/>
          </p:cNvGrpSpPr>
          <p:nvPr/>
        </p:nvGrpSpPr>
        <p:grpSpPr bwMode="auto">
          <a:xfrm>
            <a:off x="8007350" y="5291138"/>
            <a:ext cx="425450" cy="53975"/>
            <a:chOff x="4621" y="2491"/>
            <a:chExt cx="248" cy="34"/>
          </a:xfrm>
        </p:grpSpPr>
        <p:sp>
          <p:nvSpPr>
            <p:cNvPr id="72798" name="Line 83"/>
            <p:cNvSpPr>
              <a:spLocks noChangeShapeType="1"/>
            </p:cNvSpPr>
            <p:nvPr/>
          </p:nvSpPr>
          <p:spPr bwMode="auto">
            <a:xfrm>
              <a:off x="4629" y="2505"/>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99" name="AutoShape 84"/>
            <p:cNvSpPr>
              <a:spLocks noChangeArrowheads="1"/>
            </p:cNvSpPr>
            <p:nvPr/>
          </p:nvSpPr>
          <p:spPr bwMode="auto">
            <a:xfrm rot="-5400000">
              <a:off x="4621" y="2491"/>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61" name="Rectangle 85"/>
          <p:cNvSpPr>
            <a:spLocks noChangeArrowheads="1"/>
          </p:cNvSpPr>
          <p:nvPr/>
        </p:nvSpPr>
        <p:spPr bwMode="auto">
          <a:xfrm>
            <a:off x="8369300" y="5230813"/>
            <a:ext cx="56265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Skill level</a:t>
            </a:r>
            <a:endParaRPr lang="ko-KR" altLang="en-US" sz="700" dirty="0">
              <a:latin typeface="Arial" pitchFamily="34" charset="0"/>
              <a:ea typeface="맑은 고딕" pitchFamily="50" charset="-127"/>
              <a:cs typeface="Arial" pitchFamily="34" charset="0"/>
            </a:endParaRPr>
          </a:p>
        </p:txBody>
      </p:sp>
      <p:sp>
        <p:nvSpPr>
          <p:cNvPr id="72762" name="Line 86"/>
          <p:cNvSpPr>
            <a:spLocks noChangeShapeType="1"/>
          </p:cNvSpPr>
          <p:nvPr/>
        </p:nvSpPr>
        <p:spPr bwMode="auto">
          <a:xfrm flipH="1">
            <a:off x="8269288" y="5146675"/>
            <a:ext cx="117475" cy="1190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63" name="AutoShape 87"/>
          <p:cNvSpPr>
            <a:spLocks noChangeArrowheads="1"/>
          </p:cNvSpPr>
          <p:nvPr/>
        </p:nvSpPr>
        <p:spPr bwMode="auto">
          <a:xfrm rot="13560000" flipH="1">
            <a:off x="8238331" y="5255419"/>
            <a:ext cx="53975" cy="58738"/>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sp>
        <p:nvSpPr>
          <p:cNvPr id="72764" name="Rectangle 88"/>
          <p:cNvSpPr>
            <a:spLocks noChangeArrowheads="1"/>
          </p:cNvSpPr>
          <p:nvPr/>
        </p:nvSpPr>
        <p:spPr bwMode="auto">
          <a:xfrm>
            <a:off x="8297863" y="5021263"/>
            <a:ext cx="54181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unskilled</a:t>
            </a:r>
            <a:endParaRPr lang="ko-KR" altLang="en-US" sz="700" dirty="0">
              <a:latin typeface="Arial" pitchFamily="34" charset="0"/>
              <a:ea typeface="맑은 고딕" pitchFamily="50" charset="-127"/>
              <a:cs typeface="Arial" pitchFamily="34" charset="0"/>
            </a:endParaRPr>
          </a:p>
        </p:txBody>
      </p:sp>
      <p:grpSp>
        <p:nvGrpSpPr>
          <p:cNvPr id="11" name="Group 89"/>
          <p:cNvGrpSpPr>
            <a:grpSpLocks/>
          </p:cNvGrpSpPr>
          <p:nvPr/>
        </p:nvGrpSpPr>
        <p:grpSpPr bwMode="auto">
          <a:xfrm>
            <a:off x="8262938" y="5340350"/>
            <a:ext cx="176212" cy="180975"/>
            <a:chOff x="4770" y="2522"/>
            <a:chExt cx="102" cy="114"/>
          </a:xfrm>
        </p:grpSpPr>
        <p:sp>
          <p:nvSpPr>
            <p:cNvPr id="72796" name="Line 90"/>
            <p:cNvSpPr>
              <a:spLocks noChangeShapeType="1"/>
            </p:cNvSpPr>
            <p:nvPr/>
          </p:nvSpPr>
          <p:spPr bwMode="auto">
            <a:xfrm flipH="1" flipV="1">
              <a:off x="4790" y="2545"/>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97" name="AutoShape 91"/>
            <p:cNvSpPr>
              <a:spLocks noChangeArrowheads="1"/>
            </p:cNvSpPr>
            <p:nvPr/>
          </p:nvSpPr>
          <p:spPr bwMode="auto">
            <a:xfrm rot="-2760000">
              <a:off x="4770" y="2522"/>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66" name="Rectangle 92"/>
          <p:cNvSpPr>
            <a:spLocks noChangeArrowheads="1"/>
          </p:cNvSpPr>
          <p:nvPr/>
        </p:nvSpPr>
        <p:spPr bwMode="auto">
          <a:xfrm>
            <a:off x="8174038" y="5497513"/>
            <a:ext cx="1128514"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Precautions are lacking</a:t>
            </a:r>
            <a:endParaRPr lang="ko-KR" altLang="en-US" sz="700" dirty="0">
              <a:latin typeface="Arial" pitchFamily="34" charset="0"/>
              <a:ea typeface="맑은 고딕" pitchFamily="50" charset="-127"/>
              <a:cs typeface="Arial" pitchFamily="34" charset="0"/>
            </a:endParaRPr>
          </a:p>
        </p:txBody>
      </p:sp>
      <p:grpSp>
        <p:nvGrpSpPr>
          <p:cNvPr id="12" name="Group 93"/>
          <p:cNvGrpSpPr>
            <a:grpSpLocks/>
          </p:cNvGrpSpPr>
          <p:nvPr/>
        </p:nvGrpSpPr>
        <p:grpSpPr bwMode="auto">
          <a:xfrm>
            <a:off x="7604125" y="3938588"/>
            <a:ext cx="427038" cy="53975"/>
            <a:chOff x="4387" y="1639"/>
            <a:chExt cx="248" cy="34"/>
          </a:xfrm>
        </p:grpSpPr>
        <p:sp>
          <p:nvSpPr>
            <p:cNvPr id="72794" name="Line 94"/>
            <p:cNvSpPr>
              <a:spLocks noChangeShapeType="1"/>
            </p:cNvSpPr>
            <p:nvPr/>
          </p:nvSpPr>
          <p:spPr bwMode="auto">
            <a:xfrm>
              <a:off x="4395" y="1653"/>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95" name="AutoShape 95"/>
            <p:cNvSpPr>
              <a:spLocks noChangeArrowheads="1"/>
            </p:cNvSpPr>
            <p:nvPr/>
          </p:nvSpPr>
          <p:spPr bwMode="auto">
            <a:xfrm rot="-5400000">
              <a:off x="4387" y="1639"/>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68" name="Rectangle 96"/>
          <p:cNvSpPr>
            <a:spLocks noChangeArrowheads="1"/>
          </p:cNvSpPr>
          <p:nvPr/>
        </p:nvSpPr>
        <p:spPr bwMode="auto">
          <a:xfrm>
            <a:off x="7967663" y="3878263"/>
            <a:ext cx="628377"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Outer taffy</a:t>
            </a:r>
            <a:endParaRPr lang="ko-KR" altLang="en-US" sz="700" dirty="0">
              <a:latin typeface="Arial" pitchFamily="34" charset="0"/>
              <a:ea typeface="맑은 고딕" pitchFamily="50" charset="-127"/>
              <a:cs typeface="Arial" pitchFamily="34" charset="0"/>
            </a:endParaRPr>
          </a:p>
        </p:txBody>
      </p:sp>
      <p:grpSp>
        <p:nvGrpSpPr>
          <p:cNvPr id="13" name="Group 97"/>
          <p:cNvGrpSpPr>
            <a:grpSpLocks/>
          </p:cNvGrpSpPr>
          <p:nvPr/>
        </p:nvGrpSpPr>
        <p:grpSpPr bwMode="auto">
          <a:xfrm>
            <a:off x="7861300" y="3987800"/>
            <a:ext cx="174625" cy="180975"/>
            <a:chOff x="4536" y="1670"/>
            <a:chExt cx="102" cy="114"/>
          </a:xfrm>
        </p:grpSpPr>
        <p:sp>
          <p:nvSpPr>
            <p:cNvPr id="72792" name="Line 98"/>
            <p:cNvSpPr>
              <a:spLocks noChangeShapeType="1"/>
            </p:cNvSpPr>
            <p:nvPr/>
          </p:nvSpPr>
          <p:spPr bwMode="auto">
            <a:xfrm flipH="1" flipV="1">
              <a:off x="4556" y="1693"/>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93" name="AutoShape 99"/>
            <p:cNvSpPr>
              <a:spLocks noChangeArrowheads="1"/>
            </p:cNvSpPr>
            <p:nvPr/>
          </p:nvSpPr>
          <p:spPr bwMode="auto">
            <a:xfrm rot="-2760000">
              <a:off x="4536" y="1670"/>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70" name="Rectangle 100"/>
          <p:cNvSpPr>
            <a:spLocks noChangeArrowheads="1"/>
          </p:cNvSpPr>
          <p:nvPr/>
        </p:nvSpPr>
        <p:spPr bwMode="auto">
          <a:xfrm>
            <a:off x="7770813" y="4144963"/>
            <a:ext cx="612347"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Hardening</a:t>
            </a:r>
            <a:endParaRPr lang="ko-KR" altLang="en-US" sz="700" dirty="0">
              <a:latin typeface="Arial" pitchFamily="34" charset="0"/>
              <a:ea typeface="맑은 고딕" pitchFamily="50" charset="-127"/>
              <a:cs typeface="Arial" pitchFamily="34" charset="0"/>
            </a:endParaRPr>
          </a:p>
        </p:txBody>
      </p:sp>
      <p:grpSp>
        <p:nvGrpSpPr>
          <p:cNvPr id="14" name="Group 101"/>
          <p:cNvGrpSpPr>
            <a:grpSpLocks/>
          </p:cNvGrpSpPr>
          <p:nvPr/>
        </p:nvGrpSpPr>
        <p:grpSpPr bwMode="auto">
          <a:xfrm>
            <a:off x="7966075" y="4414838"/>
            <a:ext cx="425450" cy="53975"/>
            <a:chOff x="4597" y="1939"/>
            <a:chExt cx="248" cy="34"/>
          </a:xfrm>
        </p:grpSpPr>
        <p:sp>
          <p:nvSpPr>
            <p:cNvPr id="72790" name="Line 102"/>
            <p:cNvSpPr>
              <a:spLocks noChangeShapeType="1"/>
            </p:cNvSpPr>
            <p:nvPr/>
          </p:nvSpPr>
          <p:spPr bwMode="auto">
            <a:xfrm>
              <a:off x="4605" y="1953"/>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91" name="AutoShape 103"/>
            <p:cNvSpPr>
              <a:spLocks noChangeArrowheads="1"/>
            </p:cNvSpPr>
            <p:nvPr/>
          </p:nvSpPr>
          <p:spPr bwMode="auto">
            <a:xfrm rot="-5400000">
              <a:off x="4597" y="1939"/>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72" name="Rectangle 104"/>
          <p:cNvSpPr>
            <a:spLocks noChangeArrowheads="1"/>
          </p:cNvSpPr>
          <p:nvPr/>
        </p:nvSpPr>
        <p:spPr bwMode="auto">
          <a:xfrm>
            <a:off x="8328025" y="4251109"/>
            <a:ext cx="599523" cy="41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Linked to </a:t>
            </a:r>
          </a:p>
          <a:p>
            <a:pPr defTabSz="762000" latinLnBrk="0"/>
            <a:r>
              <a:rPr lang="en-US" altLang="ko-KR" sz="700" dirty="0">
                <a:latin typeface="Arial" pitchFamily="34" charset="0"/>
                <a:ea typeface="맑은 고딕" pitchFamily="50" charset="-127"/>
                <a:cs typeface="Arial" pitchFamily="34" charset="0"/>
              </a:rPr>
              <a:t>preceding</a:t>
            </a:r>
          </a:p>
          <a:p>
            <a:pPr defTabSz="762000" latinLnBrk="0"/>
            <a:r>
              <a:rPr lang="en-US" altLang="ko-KR" sz="700" dirty="0">
                <a:latin typeface="Arial" pitchFamily="34" charset="0"/>
                <a:ea typeface="맑은 고딕" pitchFamily="50" charset="-127"/>
                <a:cs typeface="Arial" pitchFamily="34" charset="0"/>
              </a:rPr>
              <a:t>process</a:t>
            </a:r>
            <a:endParaRPr lang="ko-KR" altLang="en-US" sz="700" dirty="0">
              <a:latin typeface="Arial" pitchFamily="34" charset="0"/>
              <a:ea typeface="맑은 고딕" pitchFamily="50" charset="-127"/>
              <a:cs typeface="Arial" pitchFamily="34" charset="0"/>
            </a:endParaRPr>
          </a:p>
        </p:txBody>
      </p:sp>
      <p:grpSp>
        <p:nvGrpSpPr>
          <p:cNvPr id="15" name="Group 105"/>
          <p:cNvGrpSpPr>
            <a:grpSpLocks/>
          </p:cNvGrpSpPr>
          <p:nvPr/>
        </p:nvGrpSpPr>
        <p:grpSpPr bwMode="auto">
          <a:xfrm>
            <a:off x="7318375" y="4262438"/>
            <a:ext cx="427038" cy="53975"/>
            <a:chOff x="4221" y="1843"/>
            <a:chExt cx="248" cy="34"/>
          </a:xfrm>
        </p:grpSpPr>
        <p:sp>
          <p:nvSpPr>
            <p:cNvPr id="72788" name="Line 106"/>
            <p:cNvSpPr>
              <a:spLocks noChangeShapeType="1"/>
            </p:cNvSpPr>
            <p:nvPr/>
          </p:nvSpPr>
          <p:spPr bwMode="auto">
            <a:xfrm flipH="1">
              <a:off x="4221" y="1857"/>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89" name="AutoShape 107"/>
            <p:cNvSpPr>
              <a:spLocks noChangeArrowheads="1"/>
            </p:cNvSpPr>
            <p:nvPr/>
          </p:nvSpPr>
          <p:spPr bwMode="auto">
            <a:xfrm rot="5400000" flipH="1">
              <a:off x="4435" y="1843"/>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74" name="Rectangle 108"/>
          <p:cNvSpPr>
            <a:spLocks noChangeArrowheads="1"/>
          </p:cNvSpPr>
          <p:nvPr/>
        </p:nvSpPr>
        <p:spPr bwMode="auto">
          <a:xfrm>
            <a:off x="6753200" y="4192588"/>
            <a:ext cx="604333"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Inner taffy</a:t>
            </a:r>
            <a:endParaRPr lang="ko-KR" altLang="en-US" sz="700" dirty="0">
              <a:latin typeface="Arial" pitchFamily="34" charset="0"/>
              <a:ea typeface="맑은 고딕" pitchFamily="50" charset="-127"/>
              <a:cs typeface="Arial" pitchFamily="34" charset="0"/>
            </a:endParaRPr>
          </a:p>
        </p:txBody>
      </p:sp>
      <p:grpSp>
        <p:nvGrpSpPr>
          <p:cNvPr id="16" name="Group 109"/>
          <p:cNvGrpSpPr>
            <a:grpSpLocks/>
          </p:cNvGrpSpPr>
          <p:nvPr/>
        </p:nvGrpSpPr>
        <p:grpSpPr bwMode="auto">
          <a:xfrm>
            <a:off x="7386638" y="4121150"/>
            <a:ext cx="174625" cy="180975"/>
            <a:chOff x="4260" y="1754"/>
            <a:chExt cx="102" cy="114"/>
          </a:xfrm>
        </p:grpSpPr>
        <p:sp>
          <p:nvSpPr>
            <p:cNvPr id="72786" name="Line 110"/>
            <p:cNvSpPr>
              <a:spLocks noChangeShapeType="1"/>
            </p:cNvSpPr>
            <p:nvPr/>
          </p:nvSpPr>
          <p:spPr bwMode="auto">
            <a:xfrm>
              <a:off x="4260" y="1754"/>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87" name="AutoShape 111"/>
            <p:cNvSpPr>
              <a:spLocks noChangeArrowheads="1"/>
            </p:cNvSpPr>
            <p:nvPr/>
          </p:nvSpPr>
          <p:spPr bwMode="auto">
            <a:xfrm rot="8040000">
              <a:off x="4328" y="1834"/>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76" name="Rectangle 112"/>
          <p:cNvSpPr>
            <a:spLocks noChangeArrowheads="1"/>
          </p:cNvSpPr>
          <p:nvPr/>
        </p:nvSpPr>
        <p:spPr bwMode="auto">
          <a:xfrm>
            <a:off x="7162800" y="3973513"/>
            <a:ext cx="623569"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Sweetness</a:t>
            </a:r>
            <a:endParaRPr lang="ko-KR" altLang="en-US" sz="700" dirty="0">
              <a:latin typeface="Arial" pitchFamily="34" charset="0"/>
              <a:ea typeface="맑은 고딕" pitchFamily="50" charset="-127"/>
              <a:cs typeface="Arial" pitchFamily="34" charset="0"/>
            </a:endParaRPr>
          </a:p>
        </p:txBody>
      </p:sp>
      <p:grpSp>
        <p:nvGrpSpPr>
          <p:cNvPr id="17" name="Group 113"/>
          <p:cNvGrpSpPr>
            <a:grpSpLocks/>
          </p:cNvGrpSpPr>
          <p:nvPr/>
        </p:nvGrpSpPr>
        <p:grpSpPr bwMode="auto">
          <a:xfrm>
            <a:off x="7381875" y="4321175"/>
            <a:ext cx="176213" cy="180975"/>
            <a:chOff x="4258" y="1880"/>
            <a:chExt cx="102" cy="114"/>
          </a:xfrm>
        </p:grpSpPr>
        <p:sp>
          <p:nvSpPr>
            <p:cNvPr id="72784" name="Line 114"/>
            <p:cNvSpPr>
              <a:spLocks noChangeShapeType="1"/>
            </p:cNvSpPr>
            <p:nvPr/>
          </p:nvSpPr>
          <p:spPr bwMode="auto">
            <a:xfrm flipV="1">
              <a:off x="4258" y="1903"/>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72785" name="AutoShape 115"/>
            <p:cNvSpPr>
              <a:spLocks noChangeArrowheads="1"/>
            </p:cNvSpPr>
            <p:nvPr/>
          </p:nvSpPr>
          <p:spPr bwMode="auto">
            <a:xfrm rot="2760000" flipH="1">
              <a:off x="4326" y="1880"/>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72778" name="Rectangle 116"/>
          <p:cNvSpPr>
            <a:spLocks noChangeArrowheads="1"/>
          </p:cNvSpPr>
          <p:nvPr/>
        </p:nvSpPr>
        <p:spPr bwMode="auto">
          <a:xfrm>
            <a:off x="6920104" y="4459288"/>
            <a:ext cx="94577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700" dirty="0">
                <a:latin typeface="Arial" pitchFamily="34" charset="0"/>
                <a:ea typeface="맑은 고딕" pitchFamily="50" charset="-127"/>
                <a:cs typeface="Arial" pitchFamily="34" charset="0"/>
              </a:rPr>
              <a:t>Balance with outer</a:t>
            </a:r>
          </a:p>
          <a:p>
            <a:pPr algn="ctr" defTabSz="762000" latinLnBrk="0"/>
            <a:r>
              <a:rPr lang="en-US" altLang="ko-KR" sz="700" dirty="0">
                <a:latin typeface="Arial" pitchFamily="34" charset="0"/>
                <a:ea typeface="맑은 고딕" pitchFamily="50" charset="-127"/>
                <a:cs typeface="Arial" pitchFamily="34" charset="0"/>
              </a:rPr>
              <a:t>taffy</a:t>
            </a:r>
            <a:endParaRPr lang="ko-KR" altLang="en-US" sz="700" dirty="0">
              <a:latin typeface="Arial" pitchFamily="34" charset="0"/>
              <a:ea typeface="맑은 고딕" pitchFamily="50" charset="-127"/>
              <a:cs typeface="Arial" pitchFamily="34" charset="0"/>
            </a:endParaRPr>
          </a:p>
        </p:txBody>
      </p:sp>
      <p:sp>
        <p:nvSpPr>
          <p:cNvPr id="72779" name="Rectangle 126"/>
          <p:cNvSpPr>
            <a:spLocks noChangeArrowheads="1"/>
          </p:cNvSpPr>
          <p:nvPr/>
        </p:nvSpPr>
        <p:spPr bwMode="auto">
          <a:xfrm>
            <a:off x="5065714" y="4249740"/>
            <a:ext cx="620712" cy="280986"/>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dirty="0">
              <a:latin typeface="Arial" pitchFamily="34" charset="0"/>
              <a:ea typeface="맑은 고딕" pitchFamily="50" charset="-127"/>
              <a:cs typeface="Arial" pitchFamily="34" charset="0"/>
            </a:endParaRPr>
          </a:p>
        </p:txBody>
      </p:sp>
      <p:sp>
        <p:nvSpPr>
          <p:cNvPr id="72780" name="Rectangle 127"/>
          <p:cNvSpPr>
            <a:spLocks noChangeArrowheads="1"/>
          </p:cNvSpPr>
          <p:nvPr/>
        </p:nvSpPr>
        <p:spPr bwMode="auto">
          <a:xfrm>
            <a:off x="8442325" y="5229225"/>
            <a:ext cx="471488" cy="20228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dirty="0">
              <a:latin typeface="Arial" pitchFamily="34" charset="0"/>
              <a:ea typeface="맑은 고딕" pitchFamily="50" charset="-127"/>
              <a:cs typeface="Arial" pitchFamily="34" charset="0"/>
            </a:endParaRPr>
          </a:p>
        </p:txBody>
      </p:sp>
      <p:sp>
        <p:nvSpPr>
          <p:cNvPr id="72781" name="Rectangle 128"/>
          <p:cNvSpPr>
            <a:spLocks noChangeArrowheads="1"/>
          </p:cNvSpPr>
          <p:nvPr/>
        </p:nvSpPr>
        <p:spPr bwMode="auto">
          <a:xfrm>
            <a:off x="5311775" y="5260975"/>
            <a:ext cx="347663" cy="18097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dirty="0">
              <a:latin typeface="Arial" pitchFamily="34" charset="0"/>
              <a:ea typeface="맑은 고딕" pitchFamily="50" charset="-127"/>
              <a:cs typeface="Arial" pitchFamily="34" charset="0"/>
            </a:endParaRPr>
          </a:p>
        </p:txBody>
      </p:sp>
      <p:sp>
        <p:nvSpPr>
          <p:cNvPr id="148" name="타원 147"/>
          <p:cNvSpPr/>
          <p:nvPr/>
        </p:nvSpPr>
        <p:spPr>
          <a:xfrm>
            <a:off x="8913813" y="4394200"/>
            <a:ext cx="792162" cy="792162"/>
          </a:xfrm>
          <a:prstGeom prst="ellipse">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altLang="ko-KR" sz="1000" dirty="0">
                <a:latin typeface="Arial" pitchFamily="34" charset="0"/>
                <a:cs typeface="Arial" pitchFamily="34" charset="0"/>
              </a:rPr>
              <a:t>Product weight falls short</a:t>
            </a:r>
            <a:endParaRPr lang="ko-KR" altLang="en-US" sz="1000" dirty="0">
              <a:latin typeface="Arial" pitchFamily="34" charset="0"/>
              <a:cs typeface="Arial" pitchFamily="34" charset="0"/>
            </a:endParaRPr>
          </a:p>
        </p:txBody>
      </p:sp>
      <p:sp>
        <p:nvSpPr>
          <p:cNvPr id="72783" name="Rectangle 41"/>
          <p:cNvSpPr>
            <a:spLocks noChangeArrowheads="1"/>
          </p:cNvSpPr>
          <p:nvPr/>
        </p:nvSpPr>
        <p:spPr bwMode="auto">
          <a:xfrm>
            <a:off x="2223656" y="5296931"/>
            <a:ext cx="2712330" cy="8624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just" defTabSz="762000" latinLnBrk="0"/>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Để</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thuyết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trình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diễn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giải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hiệu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quả</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kiểm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soát</a:t>
            </a:r>
            <a:r>
              <a:rPr lang="en-US" altLang="ko-KR" sz="1000" dirty="0">
                <a:latin typeface="Arial" pitchFamily="34" charset="0"/>
                <a:ea typeface="맑은 고딕" pitchFamily="50" charset="-127"/>
                <a:cs typeface="Arial" pitchFamily="34" charset="0"/>
              </a:rPr>
              <a:t> hay </a:t>
            </a:r>
            <a:r>
              <a:rPr lang="en-US" altLang="ko-KR" sz="1000" dirty="0" err="1">
                <a:latin typeface="Arial" pitchFamily="34" charset="0"/>
                <a:ea typeface="맑은 고딕" pitchFamily="50" charset="-127"/>
                <a:cs typeface="Arial" pitchFamily="34" charset="0"/>
              </a:rPr>
              <a:t>quan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trọng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được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đặt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mũi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chính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ít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quan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trọng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hơn</a:t>
            </a:r>
            <a:r>
              <a:rPr lang="en-US" altLang="ko-KR" sz="1000" dirty="0">
                <a:latin typeface="Arial" pitchFamily="34" charset="0"/>
                <a:ea typeface="맑은 고딕" pitchFamily="50" charset="-127"/>
                <a:cs typeface="Arial" pitchFamily="34" charset="0"/>
              </a:rPr>
              <a:t> hay </a:t>
            </a:r>
            <a:r>
              <a:rPr lang="en-US" altLang="ko-KR" sz="1000" dirty="0" err="1">
                <a:latin typeface="Arial" pitchFamily="34" charset="0"/>
                <a:ea typeface="맑은 고딕" pitchFamily="50" charset="-127"/>
                <a:cs typeface="Arial" pitchFamily="34" charset="0"/>
              </a:rPr>
              <a:t>khó</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kiểm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soát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hơn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đặt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dưới</a:t>
            </a:r>
            <a:r>
              <a:rPr lang="en-US" altLang="ko-KR" sz="1000" dirty="0">
                <a:latin typeface="Arial" pitchFamily="34" charset="0"/>
                <a:ea typeface="맑은 고딕" pitchFamily="50" charset="-127"/>
                <a:cs typeface="Arial" pitchFamily="34" charset="0"/>
              </a:rPr>
              <a:t>. </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73</a:t>
            </a:fld>
            <a:endParaRPr lang="ko-KR" altLang="en-US" dirty="0">
              <a:latin typeface="Arial" pitchFamily="34" charset="0"/>
              <a:cs typeface="Arial" pitchFamily="34" charset="0"/>
            </a:endParaRPr>
          </a:p>
        </p:txBody>
      </p:sp>
      <p:sp>
        <p:nvSpPr>
          <p:cNvPr id="113"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14"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
        <p:nvSpPr>
          <p:cNvPr id="115" name="모서리가 둥근 직사각형 75"/>
          <p:cNvSpPr/>
          <p:nvPr/>
        </p:nvSpPr>
        <p:spPr>
          <a:xfrm>
            <a:off x="496888" y="1052736"/>
            <a:ext cx="23764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Các</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bước</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xây</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dựng</a:t>
            </a:r>
            <a:endParaRPr lang="ko-KR" altLang="en-US" sz="1400" b="1" dirty="0">
              <a:latin typeface="Arial" pitchFamily="34" charset="0"/>
              <a:cs typeface="Arial" pitchFamily="34" charset="0"/>
            </a:endParaRPr>
          </a:p>
        </p:txBody>
      </p:sp>
      <p:sp>
        <p:nvSpPr>
          <p:cNvPr id="116" name="모서리가 둥근 직사각형 76"/>
          <p:cNvSpPr/>
          <p:nvPr/>
        </p:nvSpPr>
        <p:spPr>
          <a:xfrm>
            <a:off x="3160713" y="1052736"/>
            <a:ext cx="21605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Lưu</a:t>
            </a:r>
            <a:r>
              <a:rPr lang="en-US" altLang="ko-KR" sz="1400" b="1" dirty="0">
                <a:latin typeface="Arial" pitchFamily="34" charset="0"/>
                <a:cs typeface="Arial" pitchFamily="34" charset="0"/>
              </a:rPr>
              <a:t> ý</a:t>
            </a:r>
            <a:endParaRPr lang="ko-KR" altLang="en-US" sz="1400" b="1" dirty="0">
              <a:latin typeface="Arial" pitchFamily="34" charset="0"/>
              <a:cs typeface="Arial" pitchFamily="34" charset="0"/>
            </a:endParaRPr>
          </a:p>
        </p:txBody>
      </p:sp>
      <p:sp>
        <p:nvSpPr>
          <p:cNvPr id="117" name="모서리가 둥근 직사각형 77"/>
          <p:cNvSpPr/>
          <p:nvPr/>
        </p:nvSpPr>
        <p:spPr>
          <a:xfrm>
            <a:off x="5681663" y="1052736"/>
            <a:ext cx="41036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Ví</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dụ</a:t>
            </a:r>
            <a:endParaRPr lang="ko-KR" altLang="en-US" sz="1400" b="1" dirty="0">
              <a:latin typeface="Arial" pitchFamily="34" charset="0"/>
              <a:cs typeface="Arial" pitchFamily="34" charset="0"/>
            </a:endParaRPr>
          </a:p>
        </p:txBody>
      </p:sp>
      <p:cxnSp>
        <p:nvCxnSpPr>
          <p:cNvPr id="118" name="직선 연결선 83"/>
          <p:cNvCxnSpPr/>
          <p:nvPr/>
        </p:nvCxnSpPr>
        <p:spPr>
          <a:xfrm>
            <a:off x="496888" y="1470248"/>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60574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3" name="Rectangle 20"/>
          <p:cNvSpPr>
            <a:spLocks noChangeArrowheads="1"/>
          </p:cNvSpPr>
          <p:nvPr/>
        </p:nvSpPr>
        <p:spPr bwMode="auto">
          <a:xfrm>
            <a:off x="353847" y="1639888"/>
            <a:ext cx="690895"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cs typeface="Arial" pitchFamily="34" charset="0"/>
              </a:rPr>
              <a:t>Bước</a:t>
            </a:r>
            <a:r>
              <a:rPr lang="en-US" altLang="ko-KR" sz="1200" dirty="0">
                <a:latin typeface="Arial" pitchFamily="34" charset="0"/>
                <a:ea typeface="맑은 고딕" pitchFamily="50" charset="-127"/>
                <a:cs typeface="Arial" pitchFamily="34" charset="0"/>
              </a:rPr>
              <a:t> 6</a:t>
            </a:r>
          </a:p>
        </p:txBody>
      </p:sp>
      <p:sp>
        <p:nvSpPr>
          <p:cNvPr id="79" name="오각형 78"/>
          <p:cNvSpPr/>
          <p:nvPr/>
        </p:nvSpPr>
        <p:spPr>
          <a:xfrm rot="5400000">
            <a:off x="1460500" y="1233488"/>
            <a:ext cx="720725"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73738" name="Rectangle 20"/>
          <p:cNvSpPr>
            <a:spLocks noChangeArrowheads="1"/>
          </p:cNvSpPr>
          <p:nvPr/>
        </p:nvSpPr>
        <p:spPr bwMode="auto">
          <a:xfrm>
            <a:off x="350641" y="3440113"/>
            <a:ext cx="697307"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cs typeface="Arial" pitchFamily="34" charset="0"/>
              </a:rPr>
              <a:t>Bước</a:t>
            </a:r>
            <a:r>
              <a:rPr lang="en-US" altLang="ko-KR" sz="1200" dirty="0">
                <a:latin typeface="Arial" pitchFamily="34" charset="0"/>
                <a:ea typeface="맑은 고딕" pitchFamily="50" charset="-127"/>
                <a:cs typeface="Arial" pitchFamily="34" charset="0"/>
              </a:rPr>
              <a:t> 7</a:t>
            </a:r>
          </a:p>
        </p:txBody>
      </p:sp>
      <p:sp>
        <p:nvSpPr>
          <p:cNvPr id="82" name="오각형 81"/>
          <p:cNvSpPr/>
          <p:nvPr/>
        </p:nvSpPr>
        <p:spPr>
          <a:xfrm rot="5400000">
            <a:off x="1460500" y="3033713"/>
            <a:ext cx="720725"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cxnSp>
        <p:nvCxnSpPr>
          <p:cNvPr id="84" name="직선 연결선 83"/>
          <p:cNvCxnSpPr/>
          <p:nvPr/>
        </p:nvCxnSpPr>
        <p:spPr>
          <a:xfrm>
            <a:off x="344488" y="1543050"/>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3793" name="Rectangle 8"/>
          <p:cNvSpPr>
            <a:spLocks noChangeArrowheads="1"/>
          </p:cNvSpPr>
          <p:nvPr/>
        </p:nvSpPr>
        <p:spPr bwMode="auto">
          <a:xfrm>
            <a:off x="1136576" y="3543301"/>
            <a:ext cx="1440160"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ctr" defTabSz="762000" latinLnBrk="0"/>
            <a:r>
              <a:rPr lang="en-US" altLang="ko-KR" sz="1000" dirty="0" err="1">
                <a:latin typeface="Arial" pitchFamily="34" charset="0"/>
                <a:ea typeface="맑은 고딕" pitchFamily="50" charset="-127"/>
                <a:cs typeface="Arial" pitchFamily="34" charset="0"/>
              </a:rPr>
              <a:t>Đánh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dấu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chính</a:t>
            </a:r>
            <a:endParaRPr lang="en-US" altLang="ko-KR" sz="1000" dirty="0">
              <a:latin typeface="Arial" pitchFamily="34" charset="0"/>
              <a:ea typeface="맑은 고딕" pitchFamily="50" charset="-127"/>
              <a:cs typeface="Arial" pitchFamily="34" charset="0"/>
            </a:endParaRPr>
          </a:p>
        </p:txBody>
      </p:sp>
      <p:sp>
        <p:nvSpPr>
          <p:cNvPr id="73794" name="Rectangle 118"/>
          <p:cNvSpPr>
            <a:spLocks noChangeArrowheads="1"/>
          </p:cNvSpPr>
          <p:nvPr/>
        </p:nvSpPr>
        <p:spPr bwMode="auto">
          <a:xfrm>
            <a:off x="1064567" y="4508501"/>
            <a:ext cx="1512169"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ctr" defTabSz="762000" latinLnBrk="0"/>
            <a:r>
              <a:rPr lang="en-US" altLang="ko-KR" sz="1000" dirty="0" err="1">
                <a:latin typeface="Arial" pitchFamily="34" charset="0"/>
                <a:ea typeface="맑은 고딕" pitchFamily="50" charset="-127"/>
                <a:cs typeface="Arial" pitchFamily="34" charset="0"/>
              </a:rPr>
              <a:t>Viết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ra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chi </a:t>
            </a:r>
            <a:r>
              <a:rPr lang="en-US" altLang="ko-KR" sz="1000" dirty="0" err="1">
                <a:latin typeface="Arial" pitchFamily="34" charset="0"/>
                <a:ea typeface="맑은 고딕" pitchFamily="50" charset="-127"/>
                <a:cs typeface="Arial" pitchFamily="34" charset="0"/>
              </a:rPr>
              <a:t>tiết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cần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thiết</a:t>
            </a:r>
            <a:endParaRPr lang="ko-KR" altLang="en-US" sz="1000" dirty="0">
              <a:latin typeface="Arial" pitchFamily="34" charset="0"/>
              <a:ea typeface="맑은 고딕" pitchFamily="50" charset="-127"/>
              <a:cs typeface="Arial" pitchFamily="34" charset="0"/>
            </a:endParaRPr>
          </a:p>
        </p:txBody>
      </p:sp>
      <p:sp>
        <p:nvSpPr>
          <p:cNvPr id="73795" name="Rectangle 122"/>
          <p:cNvSpPr>
            <a:spLocks noChangeArrowheads="1"/>
          </p:cNvSpPr>
          <p:nvPr/>
        </p:nvSpPr>
        <p:spPr bwMode="auto">
          <a:xfrm>
            <a:off x="1064568" y="1628775"/>
            <a:ext cx="1512168"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ctr" defTabSz="762000" latinLnBrk="0"/>
            <a:r>
              <a:rPr lang="en-US" altLang="ko-KR" sz="1000" dirty="0" err="1">
                <a:latin typeface="Arial" pitchFamily="34" charset="0"/>
                <a:ea typeface="맑은 고딕" pitchFamily="50" charset="-127"/>
                <a:cs typeface="Arial" pitchFamily="34" charset="0"/>
              </a:rPr>
              <a:t>Xác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định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xem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đã</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đầy</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đủ</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chưa</a:t>
            </a:r>
            <a:endParaRPr lang="ko-KR" altLang="en-US" sz="1000" dirty="0">
              <a:latin typeface="Arial" pitchFamily="34" charset="0"/>
              <a:ea typeface="맑은 고딕" pitchFamily="50" charset="-127"/>
              <a:cs typeface="Arial" pitchFamily="34" charset="0"/>
            </a:endParaRPr>
          </a:p>
        </p:txBody>
      </p:sp>
      <p:sp>
        <p:nvSpPr>
          <p:cNvPr id="73796" name="Rectangle 124"/>
          <p:cNvSpPr>
            <a:spLocks noChangeArrowheads="1"/>
          </p:cNvSpPr>
          <p:nvPr/>
        </p:nvSpPr>
        <p:spPr bwMode="auto">
          <a:xfrm>
            <a:off x="3081339" y="1700213"/>
            <a:ext cx="2447726" cy="55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r>
              <a:rPr lang="en-US" altLang="ko-KR" sz="1000" dirty="0" err="1">
                <a:latin typeface="Arial" pitchFamily="34" charset="0"/>
                <a:ea typeface="맑은 고딕" pitchFamily="50" charset="-127"/>
                <a:cs typeface="Arial" pitchFamily="34" charset="0"/>
              </a:rPr>
              <a:t>Kiểm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lại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xem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tất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cả</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đã</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được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liệt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kê</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ra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chưa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vị</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trí</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của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đó</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đã</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hợp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lý</a:t>
            </a:r>
            <a:r>
              <a:rPr lang="en-US" altLang="ko-KR" sz="1000" dirty="0">
                <a:latin typeface="Arial" pitchFamily="34" charset="0"/>
                <a:ea typeface="맑은 고딕" pitchFamily="50" charset="-127"/>
                <a:cs typeface="Arial" pitchFamily="34" charset="0"/>
              </a:rPr>
              <a:t> hay </a:t>
            </a:r>
            <a:r>
              <a:rPr lang="en-US" altLang="ko-KR" sz="1000" dirty="0" err="1">
                <a:latin typeface="Arial" pitchFamily="34" charset="0"/>
                <a:ea typeface="맑은 고딕" pitchFamily="50" charset="-127"/>
                <a:cs typeface="Arial" pitchFamily="34" charset="0"/>
              </a:rPr>
              <a:t>chưa</a:t>
            </a:r>
            <a:r>
              <a:rPr lang="en-US" altLang="ko-KR" sz="1000" dirty="0">
                <a:latin typeface="Arial" pitchFamily="34" charset="0"/>
                <a:ea typeface="맑은 고딕" pitchFamily="50" charset="-127"/>
                <a:cs typeface="Arial" pitchFamily="34" charset="0"/>
              </a:rPr>
              <a:t>.</a:t>
            </a:r>
            <a:endParaRPr lang="ko-KR" altLang="en-US" sz="1000" dirty="0">
              <a:latin typeface="Arial" pitchFamily="34" charset="0"/>
              <a:ea typeface="맑은 고딕" pitchFamily="50" charset="-127"/>
              <a:cs typeface="Arial" pitchFamily="34" charset="0"/>
            </a:endParaRPr>
          </a:p>
        </p:txBody>
      </p:sp>
      <p:sp>
        <p:nvSpPr>
          <p:cNvPr id="73797" name="Rectangle 124"/>
          <p:cNvSpPr>
            <a:spLocks noChangeArrowheads="1"/>
          </p:cNvSpPr>
          <p:nvPr/>
        </p:nvSpPr>
        <p:spPr bwMode="auto">
          <a:xfrm>
            <a:off x="2790619" y="2288673"/>
            <a:ext cx="2507097" cy="708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Nguyên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tắc</a:t>
            </a:r>
            <a:r>
              <a:rPr lang="en-US" altLang="ko-KR" sz="1000" dirty="0">
                <a:latin typeface="Arial" pitchFamily="34" charset="0"/>
                <a:ea typeface="맑은 고딕" pitchFamily="50" charset="-127"/>
                <a:cs typeface="Arial" pitchFamily="34" charset="0"/>
              </a:rPr>
              <a:t>: MECE</a:t>
            </a:r>
          </a:p>
          <a:p>
            <a:pPr defTabSz="762000" latinLnBrk="0"/>
            <a:r>
              <a:rPr lang="en-US" altLang="ko-KR" sz="1000" dirty="0">
                <a:latin typeface="Arial" pitchFamily="34" charset="0"/>
                <a:ea typeface="맑은 고딕" pitchFamily="50" charset="-127"/>
                <a:cs typeface="Arial" pitchFamily="34" charset="0"/>
              </a:rPr>
              <a:t>    (Mutually Exclusive</a:t>
            </a:r>
          </a:p>
          <a:p>
            <a:pPr defTabSz="762000" latinLnBrk="0"/>
            <a:r>
              <a:rPr lang="en-US" altLang="ko-KR" sz="1000" dirty="0">
                <a:latin typeface="Arial" pitchFamily="34" charset="0"/>
                <a:ea typeface="맑은 고딕" pitchFamily="50" charset="-127"/>
                <a:cs typeface="Arial" pitchFamily="34" charset="0"/>
              </a:rPr>
              <a:t>     Collectively Exhaustive)</a:t>
            </a:r>
          </a:p>
          <a:p>
            <a:pPr defTabSz="762000" latinLnBrk="0"/>
            <a:r>
              <a:rPr lang="en-US" altLang="ko-KR" sz="1000" b="1" dirty="0">
                <a:solidFill>
                  <a:srgbClr val="FF0000"/>
                </a:solidFill>
                <a:latin typeface="Arial" pitchFamily="34" charset="0"/>
                <a:ea typeface="맑은 고딕" pitchFamily="50" charset="-127"/>
                <a:cs typeface="Arial" pitchFamily="34" charset="0"/>
              </a:rPr>
              <a:t>    “ </a:t>
            </a:r>
            <a:r>
              <a:rPr lang="en-US" altLang="ko-KR" sz="1000" b="1" dirty="0" err="1">
                <a:solidFill>
                  <a:srgbClr val="FF0000"/>
                </a:solidFill>
                <a:latin typeface="Arial" pitchFamily="34" charset="0"/>
                <a:ea typeface="맑은 고딕" pitchFamily="50" charset="-127"/>
                <a:cs typeface="Arial" pitchFamily="34" charset="0"/>
              </a:rPr>
              <a:t>Không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bỏ</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sót</a:t>
            </a:r>
            <a:r>
              <a:rPr lang="en-US" altLang="ko-KR" sz="1000" b="1" dirty="0">
                <a:solidFill>
                  <a:srgbClr val="FF0000"/>
                </a:solidFill>
                <a:latin typeface="Arial" pitchFamily="34" charset="0"/>
                <a:ea typeface="맑은 고딕" pitchFamily="50" charset="-127"/>
                <a:cs typeface="Arial" pitchFamily="34" charset="0"/>
              </a:rPr>
              <a:t> &amp; </a:t>
            </a:r>
            <a:r>
              <a:rPr lang="en-US" altLang="ko-KR" sz="1000" b="1" dirty="0" err="1">
                <a:solidFill>
                  <a:srgbClr val="FF0000"/>
                </a:solidFill>
                <a:latin typeface="Arial" pitchFamily="34" charset="0"/>
                <a:ea typeface="맑은 고딕" pitchFamily="50" charset="-127"/>
                <a:cs typeface="Arial" pitchFamily="34" charset="0"/>
              </a:rPr>
              <a:t>Không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trùng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lặp</a:t>
            </a:r>
            <a:r>
              <a:rPr lang="en-US" altLang="ko-KR" sz="1000" b="1" dirty="0">
                <a:solidFill>
                  <a:srgbClr val="FF0000"/>
                </a:solidFill>
                <a:latin typeface="Arial" pitchFamily="34" charset="0"/>
                <a:ea typeface="맑은 고딕" pitchFamily="50" charset="-127"/>
                <a:cs typeface="Arial" pitchFamily="34" charset="0"/>
              </a:rPr>
              <a:t> ”</a:t>
            </a:r>
            <a:endParaRPr lang="ko-KR" altLang="en-US" sz="1000" b="1" dirty="0">
              <a:solidFill>
                <a:srgbClr val="FF0000"/>
              </a:solidFill>
              <a:latin typeface="Arial" pitchFamily="34" charset="0"/>
              <a:ea typeface="맑은 고딕" pitchFamily="50" charset="-127"/>
              <a:cs typeface="Arial" pitchFamily="34" charset="0"/>
            </a:endParaRPr>
          </a:p>
        </p:txBody>
      </p:sp>
      <p:sp>
        <p:nvSpPr>
          <p:cNvPr id="73798" name="Rectangle 124"/>
          <p:cNvSpPr>
            <a:spLocks noChangeArrowheads="1"/>
          </p:cNvSpPr>
          <p:nvPr/>
        </p:nvSpPr>
        <p:spPr bwMode="auto">
          <a:xfrm>
            <a:off x="3081339" y="3470275"/>
            <a:ext cx="2087685" cy="55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algn="just" defTabSz="762000" latinLnBrk="0"/>
            <a:r>
              <a:rPr lang="en-US" altLang="ko-KR" sz="1000" dirty="0" err="1">
                <a:latin typeface="Arial" pitchFamily="34" charset="0"/>
                <a:ea typeface="맑은 고딕" pitchFamily="50" charset="-127"/>
                <a:cs typeface="Arial" pitchFamily="34" charset="0"/>
              </a:rPr>
              <a:t>Sử</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dụng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biểu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tượng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màu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sắc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để</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đánh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dấu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quan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trọng</a:t>
            </a:r>
            <a:r>
              <a:rPr lang="en-US" altLang="ko-KR" sz="1000" dirty="0">
                <a:latin typeface="Arial" pitchFamily="34" charset="0"/>
                <a:ea typeface="맑은 고딕" pitchFamily="50" charset="-127"/>
                <a:cs typeface="Arial" pitchFamily="34" charset="0"/>
              </a:rPr>
              <a:t>.</a:t>
            </a:r>
          </a:p>
        </p:txBody>
      </p:sp>
      <p:cxnSp>
        <p:nvCxnSpPr>
          <p:cNvPr id="152" name="직선 연결선 151"/>
          <p:cNvCxnSpPr/>
          <p:nvPr/>
        </p:nvCxnSpPr>
        <p:spPr>
          <a:xfrm>
            <a:off x="488950" y="3213100"/>
            <a:ext cx="4535488"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3800" name="Rectangle 20"/>
          <p:cNvSpPr>
            <a:spLocks noChangeArrowheads="1"/>
          </p:cNvSpPr>
          <p:nvPr/>
        </p:nvSpPr>
        <p:spPr bwMode="auto">
          <a:xfrm>
            <a:off x="350641" y="4448175"/>
            <a:ext cx="697307"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cs typeface="Arial" pitchFamily="34" charset="0"/>
              </a:rPr>
              <a:t>Bước</a:t>
            </a:r>
            <a:r>
              <a:rPr lang="en-US" altLang="ko-KR" sz="1200" dirty="0">
                <a:latin typeface="Arial" pitchFamily="34" charset="0"/>
                <a:ea typeface="맑은 고딕" pitchFamily="50" charset="-127"/>
                <a:cs typeface="Arial" pitchFamily="34" charset="0"/>
              </a:rPr>
              <a:t> 8</a:t>
            </a:r>
          </a:p>
        </p:txBody>
      </p:sp>
      <p:sp>
        <p:nvSpPr>
          <p:cNvPr id="154" name="오각형 153"/>
          <p:cNvSpPr/>
          <p:nvPr/>
        </p:nvSpPr>
        <p:spPr>
          <a:xfrm rot="5400000">
            <a:off x="1532732" y="3969544"/>
            <a:ext cx="576262" cy="1511300"/>
          </a:xfrm>
          <a:prstGeom prst="homePlate">
            <a:avLst>
              <a:gd name="adj" fmla="val 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73802" name="Rectangle 124"/>
          <p:cNvSpPr>
            <a:spLocks noChangeArrowheads="1"/>
          </p:cNvSpPr>
          <p:nvPr/>
        </p:nvSpPr>
        <p:spPr bwMode="auto">
          <a:xfrm>
            <a:off x="3081339" y="4437063"/>
            <a:ext cx="2087686"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thông</a:t>
            </a:r>
            <a:r>
              <a:rPr lang="en-US" altLang="ko-KR" sz="1000" dirty="0">
                <a:latin typeface="Arial" pitchFamily="34" charset="0"/>
                <a:ea typeface="맑은 고딕" pitchFamily="50" charset="-127"/>
                <a:cs typeface="Arial" pitchFamily="34" charset="0"/>
              </a:rPr>
              <a:t> tin </a:t>
            </a:r>
            <a:r>
              <a:rPr lang="en-US" altLang="ko-KR" sz="1000" dirty="0" err="1">
                <a:latin typeface="Arial" pitchFamily="34" charset="0"/>
                <a:ea typeface="맑은 고딕" pitchFamily="50" charset="-127"/>
                <a:cs typeface="Arial" pitchFamily="34" charset="0"/>
              </a:rPr>
              <a:t>như</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tiêu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đề</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ngày</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tháng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giả</a:t>
            </a:r>
            <a:endParaRPr lang="ko-KR" altLang="en-US" sz="1000" dirty="0">
              <a:latin typeface="Arial" pitchFamily="34" charset="0"/>
              <a:ea typeface="맑은 고딕" pitchFamily="50" charset="-127"/>
              <a:cs typeface="Arial" pitchFamily="34" charset="0"/>
            </a:endParaRPr>
          </a:p>
        </p:txBody>
      </p:sp>
      <p:cxnSp>
        <p:nvCxnSpPr>
          <p:cNvPr id="156" name="직선 연결선 155"/>
          <p:cNvCxnSpPr/>
          <p:nvPr/>
        </p:nvCxnSpPr>
        <p:spPr>
          <a:xfrm>
            <a:off x="488950" y="4221163"/>
            <a:ext cx="4535488"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57" name="직선 연결선 156"/>
          <p:cNvCxnSpPr/>
          <p:nvPr/>
        </p:nvCxnSpPr>
        <p:spPr>
          <a:xfrm>
            <a:off x="344488" y="5229225"/>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3805" name="TextBox 157"/>
          <p:cNvSpPr txBox="1">
            <a:spLocks noChangeArrowheads="1"/>
          </p:cNvSpPr>
          <p:nvPr/>
        </p:nvSpPr>
        <p:spPr bwMode="auto">
          <a:xfrm>
            <a:off x="5673080" y="1557338"/>
            <a:ext cx="4032447"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err="1">
                <a:latin typeface="Arial" pitchFamily="34" charset="0"/>
                <a:ea typeface="맑은 고딕" pitchFamily="50" charset="-127"/>
                <a:cs typeface="Arial" pitchFamily="34" charset="0"/>
              </a:rPr>
              <a:t>Biểu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đồ</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nhân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quả</a:t>
            </a:r>
            <a:endParaRPr lang="ko-KR" altLang="en-US" sz="1200" b="1" dirty="0">
              <a:latin typeface="Arial" pitchFamily="34" charset="0"/>
              <a:ea typeface="맑은 고딕" pitchFamily="50" charset="-127"/>
              <a:cs typeface="Arial" pitchFamily="34" charset="0"/>
            </a:endParaRPr>
          </a:p>
        </p:txBody>
      </p:sp>
      <p:sp>
        <p:nvSpPr>
          <p:cNvPr id="73806" name="TextBox 158"/>
          <p:cNvSpPr txBox="1">
            <a:spLocks noChangeArrowheads="1"/>
          </p:cNvSpPr>
          <p:nvPr/>
        </p:nvSpPr>
        <p:spPr bwMode="auto">
          <a:xfrm>
            <a:off x="7272338" y="1778000"/>
            <a:ext cx="2109873" cy="452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900" dirty="0">
                <a:latin typeface="Arial" pitchFamily="34" charset="0"/>
                <a:ea typeface="맑은 고딕" pitchFamily="50" charset="-127"/>
                <a:cs typeface="Arial" pitchFamily="34" charset="0"/>
              </a:rPr>
              <a:t>Date</a:t>
            </a:r>
            <a:r>
              <a:rPr lang="ko-KR" altLang="en-US" sz="900" dirty="0">
                <a:latin typeface="Arial" pitchFamily="34" charset="0"/>
                <a:ea typeface="맑은 고딕" pitchFamily="50" charset="-127"/>
                <a:cs typeface="Arial" pitchFamily="34" charset="0"/>
              </a:rPr>
              <a:t> </a:t>
            </a:r>
            <a:r>
              <a:rPr lang="en-US" altLang="ko-KR" sz="900" dirty="0">
                <a:latin typeface="Arial" pitchFamily="34" charset="0"/>
                <a:ea typeface="맑은 고딕" pitchFamily="50" charset="-127"/>
                <a:cs typeface="Arial" pitchFamily="34" charset="0"/>
              </a:rPr>
              <a:t>: 2015.1.1</a:t>
            </a:r>
          </a:p>
          <a:p>
            <a:pPr eaLnBrk="1" hangingPunct="1">
              <a:lnSpc>
                <a:spcPct val="130000"/>
              </a:lnSpc>
              <a:buClr>
                <a:srgbClr val="C5003D"/>
              </a:buClr>
            </a:pPr>
            <a:r>
              <a:rPr lang="en-US" altLang="ko-KR" sz="900" dirty="0">
                <a:latin typeface="Arial" pitchFamily="34" charset="0"/>
                <a:ea typeface="맑은 고딕" pitchFamily="50" charset="-127"/>
                <a:cs typeface="Arial" pitchFamily="34" charset="0"/>
              </a:rPr>
              <a:t>Participants : Mr. XX, Ms. YY, Mr. YY </a:t>
            </a:r>
            <a:endParaRPr lang="ko-KR" altLang="en-US" sz="900"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74</a:t>
            </a:fld>
            <a:endParaRPr lang="ko-KR" altLang="en-US" dirty="0">
              <a:latin typeface="Arial" pitchFamily="34" charset="0"/>
              <a:cs typeface="Arial" pitchFamily="34" charset="0"/>
            </a:endParaRPr>
          </a:p>
        </p:txBody>
      </p:sp>
      <p:sp>
        <p:nvSpPr>
          <p:cNvPr id="111" name="Line 38"/>
          <p:cNvSpPr>
            <a:spLocks noChangeShapeType="1"/>
          </p:cNvSpPr>
          <p:nvPr/>
        </p:nvSpPr>
        <p:spPr bwMode="auto">
          <a:xfrm>
            <a:off x="5313942" y="3725399"/>
            <a:ext cx="3592512" cy="0"/>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12" name="Rectangle 40"/>
          <p:cNvSpPr>
            <a:spLocks noChangeArrowheads="1"/>
          </p:cNvSpPr>
          <p:nvPr/>
        </p:nvSpPr>
        <p:spPr bwMode="auto">
          <a:xfrm>
            <a:off x="5271079" y="2493499"/>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Machine</a:t>
            </a:r>
            <a:endParaRPr lang="ko-KR" altLang="en-US" sz="900" dirty="0">
              <a:latin typeface="Arial" pitchFamily="34" charset="0"/>
              <a:ea typeface="맑은 고딕" pitchFamily="50" charset="-127"/>
              <a:cs typeface="Arial" pitchFamily="34" charset="0"/>
            </a:endParaRPr>
          </a:p>
        </p:txBody>
      </p:sp>
      <p:sp>
        <p:nvSpPr>
          <p:cNvPr id="113" name="Rectangle 41"/>
          <p:cNvSpPr>
            <a:spLocks noChangeArrowheads="1"/>
          </p:cNvSpPr>
          <p:nvPr/>
        </p:nvSpPr>
        <p:spPr bwMode="auto">
          <a:xfrm>
            <a:off x="7025267" y="2493499"/>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Raw</a:t>
            </a:r>
          </a:p>
          <a:p>
            <a:pPr algn="ctr" defTabSz="762000" latinLnBrk="0"/>
            <a:r>
              <a:rPr lang="en-US" altLang="ko-KR" sz="900" dirty="0">
                <a:latin typeface="Arial" pitchFamily="34" charset="0"/>
                <a:ea typeface="맑은 고딕" pitchFamily="50" charset="-127"/>
                <a:cs typeface="Arial" pitchFamily="34" charset="0"/>
              </a:rPr>
              <a:t>Materials</a:t>
            </a:r>
            <a:endParaRPr lang="ko-KR" altLang="en-US" sz="900" dirty="0">
              <a:latin typeface="Arial" pitchFamily="34" charset="0"/>
              <a:ea typeface="맑은 고딕" pitchFamily="50" charset="-127"/>
              <a:cs typeface="Arial" pitchFamily="34" charset="0"/>
            </a:endParaRPr>
          </a:p>
        </p:txBody>
      </p:sp>
      <p:sp>
        <p:nvSpPr>
          <p:cNvPr id="114" name="Rectangle 42"/>
          <p:cNvSpPr>
            <a:spLocks noChangeArrowheads="1"/>
          </p:cNvSpPr>
          <p:nvPr/>
        </p:nvSpPr>
        <p:spPr bwMode="auto">
          <a:xfrm>
            <a:off x="5436179" y="4665199"/>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Method</a:t>
            </a:r>
            <a:endParaRPr lang="ko-KR" altLang="en-US" sz="900" dirty="0">
              <a:latin typeface="Arial" pitchFamily="34" charset="0"/>
              <a:ea typeface="맑은 고딕" pitchFamily="50" charset="-127"/>
              <a:cs typeface="Arial" pitchFamily="34" charset="0"/>
            </a:endParaRPr>
          </a:p>
        </p:txBody>
      </p:sp>
      <p:sp>
        <p:nvSpPr>
          <p:cNvPr id="115" name="Rectangle 43"/>
          <p:cNvSpPr>
            <a:spLocks noChangeArrowheads="1"/>
          </p:cNvSpPr>
          <p:nvPr/>
        </p:nvSpPr>
        <p:spPr bwMode="auto">
          <a:xfrm>
            <a:off x="7272917" y="4665199"/>
            <a:ext cx="676275" cy="292100"/>
          </a:xfrm>
          <a:prstGeom prst="rect">
            <a:avLst/>
          </a:prstGeom>
          <a:solidFill>
            <a:schemeClr val="bg1"/>
          </a:solidFill>
          <a:ln w="12700">
            <a:solidFill>
              <a:schemeClr val="tx1"/>
            </a:solidFill>
            <a:miter lim="800000"/>
            <a:headEnd/>
            <a:tailEnd/>
          </a:ln>
        </p:spPr>
        <p:txBody>
          <a:bodyPr wrap="none" lIns="92075" tIns="46038" rIns="92075" bIns="46038" anchor="ctr"/>
          <a:lstStyle/>
          <a:p>
            <a:pPr algn="ctr" defTabSz="762000" latinLnBrk="0"/>
            <a:r>
              <a:rPr lang="en-US" altLang="ko-KR" sz="900" dirty="0">
                <a:latin typeface="Arial" pitchFamily="34" charset="0"/>
                <a:ea typeface="맑은 고딕" pitchFamily="50" charset="-127"/>
                <a:cs typeface="Arial" pitchFamily="34" charset="0"/>
              </a:rPr>
              <a:t>People</a:t>
            </a:r>
            <a:endParaRPr lang="ko-KR" altLang="en-US" sz="900" dirty="0">
              <a:latin typeface="Arial" pitchFamily="34" charset="0"/>
              <a:ea typeface="맑은 고딕" pitchFamily="50" charset="-127"/>
              <a:cs typeface="Arial" pitchFamily="34" charset="0"/>
            </a:endParaRPr>
          </a:p>
        </p:txBody>
      </p:sp>
      <p:sp>
        <p:nvSpPr>
          <p:cNvPr id="116" name="Line 44"/>
          <p:cNvSpPr>
            <a:spLocks noChangeShapeType="1"/>
          </p:cNvSpPr>
          <p:nvPr/>
        </p:nvSpPr>
        <p:spPr bwMode="auto">
          <a:xfrm>
            <a:off x="5572704" y="2801474"/>
            <a:ext cx="814388" cy="923925"/>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17" name="Line 45"/>
          <p:cNvSpPr>
            <a:spLocks noChangeShapeType="1"/>
          </p:cNvSpPr>
          <p:nvPr/>
        </p:nvSpPr>
        <p:spPr bwMode="auto">
          <a:xfrm>
            <a:off x="7357054" y="2801474"/>
            <a:ext cx="815975" cy="923925"/>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18" name="Line 46"/>
          <p:cNvSpPr>
            <a:spLocks noChangeShapeType="1"/>
          </p:cNvSpPr>
          <p:nvPr/>
        </p:nvSpPr>
        <p:spPr bwMode="auto">
          <a:xfrm flipV="1">
            <a:off x="7645979" y="3734924"/>
            <a:ext cx="815975" cy="923925"/>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19" name="Line 47"/>
          <p:cNvSpPr>
            <a:spLocks noChangeShapeType="1"/>
          </p:cNvSpPr>
          <p:nvPr/>
        </p:nvSpPr>
        <p:spPr bwMode="auto">
          <a:xfrm flipV="1">
            <a:off x="5840992" y="3734924"/>
            <a:ext cx="814387" cy="923925"/>
          </a:xfrm>
          <a:prstGeom prst="line">
            <a:avLst/>
          </a:prstGeom>
          <a:noFill/>
          <a:ln w="254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grpSp>
        <p:nvGrpSpPr>
          <p:cNvPr id="3" name="Group 48"/>
          <p:cNvGrpSpPr>
            <a:grpSpLocks/>
          </p:cNvGrpSpPr>
          <p:nvPr/>
        </p:nvGrpSpPr>
        <p:grpSpPr bwMode="auto">
          <a:xfrm>
            <a:off x="5945767" y="3155487"/>
            <a:ext cx="425450" cy="53975"/>
            <a:chOff x="3433" y="1771"/>
            <a:chExt cx="248" cy="34"/>
          </a:xfrm>
        </p:grpSpPr>
        <p:sp>
          <p:nvSpPr>
            <p:cNvPr id="121" name="Line 49"/>
            <p:cNvSpPr>
              <a:spLocks noChangeShapeType="1"/>
            </p:cNvSpPr>
            <p:nvPr/>
          </p:nvSpPr>
          <p:spPr bwMode="auto">
            <a:xfrm>
              <a:off x="3441" y="1785"/>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22" name="AutoShape 50"/>
            <p:cNvSpPr>
              <a:spLocks noChangeArrowheads="1"/>
            </p:cNvSpPr>
            <p:nvPr/>
          </p:nvSpPr>
          <p:spPr bwMode="auto">
            <a:xfrm rot="-5400000">
              <a:off x="3433" y="1771"/>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grpSp>
        <p:nvGrpSpPr>
          <p:cNvPr id="4" name="Group 51"/>
          <p:cNvGrpSpPr>
            <a:grpSpLocks/>
          </p:cNvGrpSpPr>
          <p:nvPr/>
        </p:nvGrpSpPr>
        <p:grpSpPr bwMode="auto">
          <a:xfrm>
            <a:off x="5677479" y="3450762"/>
            <a:ext cx="425450" cy="53975"/>
            <a:chOff x="3277" y="1957"/>
            <a:chExt cx="248" cy="34"/>
          </a:xfrm>
        </p:grpSpPr>
        <p:sp>
          <p:nvSpPr>
            <p:cNvPr id="124" name="Line 52"/>
            <p:cNvSpPr>
              <a:spLocks noChangeShapeType="1"/>
            </p:cNvSpPr>
            <p:nvPr/>
          </p:nvSpPr>
          <p:spPr bwMode="auto">
            <a:xfrm flipH="1">
              <a:off x="3277" y="1971"/>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25" name="AutoShape 53"/>
            <p:cNvSpPr>
              <a:spLocks noChangeArrowheads="1"/>
            </p:cNvSpPr>
            <p:nvPr/>
          </p:nvSpPr>
          <p:spPr bwMode="auto">
            <a:xfrm rot="5400000" flipH="1">
              <a:off x="3491" y="1957"/>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26" name="Rectangle 54"/>
          <p:cNvSpPr>
            <a:spLocks noChangeArrowheads="1"/>
          </p:cNvSpPr>
          <p:nvPr/>
        </p:nvSpPr>
        <p:spPr bwMode="auto">
          <a:xfrm>
            <a:off x="6307717" y="3076112"/>
            <a:ext cx="44563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nozzle</a:t>
            </a:r>
            <a:endParaRPr lang="ko-KR" altLang="en-US" sz="700" dirty="0">
              <a:latin typeface="Arial" pitchFamily="34" charset="0"/>
              <a:ea typeface="맑은 고딕" pitchFamily="50" charset="-127"/>
              <a:cs typeface="Arial" pitchFamily="34" charset="0"/>
            </a:endParaRPr>
          </a:p>
        </p:txBody>
      </p:sp>
      <p:sp>
        <p:nvSpPr>
          <p:cNvPr id="127" name="Line 55"/>
          <p:cNvSpPr>
            <a:spLocks noChangeShapeType="1"/>
          </p:cNvSpPr>
          <p:nvPr/>
        </p:nvSpPr>
        <p:spPr bwMode="auto">
          <a:xfrm flipH="1">
            <a:off x="6207704" y="3011024"/>
            <a:ext cx="117475" cy="1190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28" name="AutoShape 56"/>
          <p:cNvSpPr>
            <a:spLocks noChangeArrowheads="1"/>
          </p:cNvSpPr>
          <p:nvPr/>
        </p:nvSpPr>
        <p:spPr bwMode="auto">
          <a:xfrm rot="13560000" flipH="1">
            <a:off x="6176748" y="3119768"/>
            <a:ext cx="53975" cy="58737"/>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sp>
        <p:nvSpPr>
          <p:cNvPr id="129" name="Rectangle 57"/>
          <p:cNvSpPr>
            <a:spLocks noChangeArrowheads="1"/>
          </p:cNvSpPr>
          <p:nvPr/>
        </p:nvSpPr>
        <p:spPr bwMode="auto">
          <a:xfrm>
            <a:off x="6236279" y="2885612"/>
            <a:ext cx="408766"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angle</a:t>
            </a:r>
            <a:endParaRPr lang="ko-KR" altLang="en-US" sz="700" dirty="0">
              <a:latin typeface="Arial" pitchFamily="34" charset="0"/>
              <a:ea typeface="맑은 고딕" pitchFamily="50" charset="-127"/>
              <a:cs typeface="Arial" pitchFamily="34" charset="0"/>
            </a:endParaRPr>
          </a:p>
        </p:txBody>
      </p:sp>
      <p:sp>
        <p:nvSpPr>
          <p:cNvPr id="130" name="Rectangle 58"/>
          <p:cNvSpPr>
            <a:spLocks noChangeArrowheads="1"/>
          </p:cNvSpPr>
          <p:nvPr/>
        </p:nvSpPr>
        <p:spPr bwMode="auto">
          <a:xfrm>
            <a:off x="5025008" y="3234189"/>
            <a:ext cx="751741"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Clogged by </a:t>
            </a:r>
          </a:p>
          <a:p>
            <a:pPr defTabSz="762000" latinLnBrk="0"/>
            <a:r>
              <a:rPr lang="en-US" altLang="ko-KR" sz="700" dirty="0">
                <a:latin typeface="Arial" pitchFamily="34" charset="0"/>
                <a:ea typeface="맑은 고딕" pitchFamily="50" charset="-127"/>
                <a:cs typeface="Arial" pitchFamily="34" charset="0"/>
              </a:rPr>
              <a:t>residue</a:t>
            </a:r>
            <a:endParaRPr lang="ko-KR" altLang="en-US" sz="700" dirty="0">
              <a:latin typeface="Arial" pitchFamily="34" charset="0"/>
              <a:ea typeface="맑은 고딕" pitchFamily="50" charset="-127"/>
              <a:cs typeface="Arial" pitchFamily="34" charset="0"/>
            </a:endParaRPr>
          </a:p>
        </p:txBody>
      </p:sp>
      <p:grpSp>
        <p:nvGrpSpPr>
          <p:cNvPr id="5" name="Group 59"/>
          <p:cNvGrpSpPr>
            <a:grpSpLocks/>
          </p:cNvGrpSpPr>
          <p:nvPr/>
        </p:nvGrpSpPr>
        <p:grpSpPr bwMode="auto">
          <a:xfrm>
            <a:off x="5660017" y="4336587"/>
            <a:ext cx="425450" cy="53975"/>
            <a:chOff x="3267" y="2515"/>
            <a:chExt cx="248" cy="34"/>
          </a:xfrm>
        </p:grpSpPr>
        <p:sp>
          <p:nvSpPr>
            <p:cNvPr id="132" name="Line 60"/>
            <p:cNvSpPr>
              <a:spLocks noChangeShapeType="1"/>
            </p:cNvSpPr>
            <p:nvPr/>
          </p:nvSpPr>
          <p:spPr bwMode="auto">
            <a:xfrm flipH="1">
              <a:off x="3267" y="2529"/>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33" name="AutoShape 61"/>
            <p:cNvSpPr>
              <a:spLocks noChangeArrowheads="1"/>
            </p:cNvSpPr>
            <p:nvPr/>
          </p:nvSpPr>
          <p:spPr bwMode="auto">
            <a:xfrm rot="5400000" flipH="1">
              <a:off x="3481" y="2515"/>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34" name="Rectangle 62"/>
          <p:cNvSpPr>
            <a:spLocks noChangeArrowheads="1"/>
          </p:cNvSpPr>
          <p:nvPr/>
        </p:nvSpPr>
        <p:spPr bwMode="auto">
          <a:xfrm>
            <a:off x="5234567" y="4216162"/>
            <a:ext cx="538609"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Insertion</a:t>
            </a:r>
          </a:p>
          <a:p>
            <a:pPr defTabSz="762000" latinLnBrk="0"/>
            <a:r>
              <a:rPr lang="en-US" altLang="ko-KR" sz="700" dirty="0">
                <a:latin typeface="Arial" pitchFamily="34" charset="0"/>
                <a:ea typeface="맑은 고딕" pitchFamily="50" charset="-127"/>
                <a:cs typeface="Arial" pitchFamily="34" charset="0"/>
              </a:rPr>
              <a:t>Tool</a:t>
            </a:r>
            <a:endParaRPr lang="ko-KR" altLang="en-US" sz="700" dirty="0">
              <a:latin typeface="Arial" pitchFamily="34" charset="0"/>
              <a:ea typeface="맑은 고딕" pitchFamily="50" charset="-127"/>
              <a:cs typeface="Arial" pitchFamily="34" charset="0"/>
            </a:endParaRPr>
          </a:p>
        </p:txBody>
      </p:sp>
      <p:grpSp>
        <p:nvGrpSpPr>
          <p:cNvPr id="6" name="Group 63"/>
          <p:cNvGrpSpPr>
            <a:grpSpLocks/>
          </p:cNvGrpSpPr>
          <p:nvPr/>
        </p:nvGrpSpPr>
        <p:grpSpPr bwMode="auto">
          <a:xfrm>
            <a:off x="5717167" y="4195299"/>
            <a:ext cx="174625" cy="180975"/>
            <a:chOff x="3300" y="2426"/>
            <a:chExt cx="102" cy="114"/>
          </a:xfrm>
        </p:grpSpPr>
        <p:sp>
          <p:nvSpPr>
            <p:cNvPr id="136" name="Line 64"/>
            <p:cNvSpPr>
              <a:spLocks noChangeShapeType="1"/>
            </p:cNvSpPr>
            <p:nvPr/>
          </p:nvSpPr>
          <p:spPr bwMode="auto">
            <a:xfrm>
              <a:off x="3300" y="2426"/>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37" name="AutoShape 65"/>
            <p:cNvSpPr>
              <a:spLocks noChangeArrowheads="1"/>
            </p:cNvSpPr>
            <p:nvPr/>
          </p:nvSpPr>
          <p:spPr bwMode="auto">
            <a:xfrm rot="8040000">
              <a:off x="3368" y="2506"/>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38" name="Rectangle 66"/>
          <p:cNvSpPr>
            <a:spLocks noChangeArrowheads="1"/>
          </p:cNvSpPr>
          <p:nvPr/>
        </p:nvSpPr>
        <p:spPr bwMode="auto">
          <a:xfrm>
            <a:off x="5369504" y="4028612"/>
            <a:ext cx="65402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Press ledge</a:t>
            </a:r>
            <a:endParaRPr lang="ko-KR" altLang="en-US" sz="700" dirty="0">
              <a:latin typeface="Arial" pitchFamily="34" charset="0"/>
              <a:ea typeface="맑은 고딕" pitchFamily="50" charset="-127"/>
              <a:cs typeface="Arial" pitchFamily="34" charset="0"/>
            </a:endParaRPr>
          </a:p>
        </p:txBody>
      </p:sp>
      <p:sp>
        <p:nvSpPr>
          <p:cNvPr id="139" name="Line 67"/>
          <p:cNvSpPr>
            <a:spLocks noChangeShapeType="1"/>
          </p:cNvSpPr>
          <p:nvPr/>
        </p:nvSpPr>
        <p:spPr bwMode="auto">
          <a:xfrm>
            <a:off x="6258504" y="4234987"/>
            <a:ext cx="3048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40" name="AutoShape 68"/>
          <p:cNvSpPr>
            <a:spLocks noChangeArrowheads="1"/>
          </p:cNvSpPr>
          <p:nvPr/>
        </p:nvSpPr>
        <p:spPr bwMode="auto">
          <a:xfrm rot="-5400000">
            <a:off x="6246598" y="4210381"/>
            <a:ext cx="53975" cy="58737"/>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sp>
        <p:nvSpPr>
          <p:cNvPr id="141" name="Rectangle 69"/>
          <p:cNvSpPr>
            <a:spLocks noChangeArrowheads="1"/>
          </p:cNvSpPr>
          <p:nvPr/>
        </p:nvSpPr>
        <p:spPr bwMode="auto">
          <a:xfrm>
            <a:off x="6493454" y="4152437"/>
            <a:ext cx="511358"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Amount</a:t>
            </a:r>
          </a:p>
          <a:p>
            <a:pPr defTabSz="762000" latinLnBrk="0"/>
            <a:r>
              <a:rPr lang="en-US" altLang="ko-KR" sz="700" dirty="0">
                <a:latin typeface="Arial" pitchFamily="34" charset="0"/>
                <a:ea typeface="맑은 고딕" pitchFamily="50" charset="-127"/>
                <a:cs typeface="Arial" pitchFamily="34" charset="0"/>
              </a:rPr>
              <a:t>inserted</a:t>
            </a:r>
            <a:endParaRPr lang="ko-KR" altLang="en-US" sz="700" dirty="0">
              <a:latin typeface="Arial" pitchFamily="34" charset="0"/>
              <a:ea typeface="맑은 고딕" pitchFamily="50" charset="-127"/>
              <a:cs typeface="Arial" pitchFamily="34" charset="0"/>
            </a:endParaRPr>
          </a:p>
        </p:txBody>
      </p:sp>
      <p:grpSp>
        <p:nvGrpSpPr>
          <p:cNvPr id="7" name="Group 70"/>
          <p:cNvGrpSpPr>
            <a:grpSpLocks/>
          </p:cNvGrpSpPr>
          <p:nvPr/>
        </p:nvGrpSpPr>
        <p:grpSpPr bwMode="auto">
          <a:xfrm>
            <a:off x="6398204" y="4261974"/>
            <a:ext cx="174625" cy="180975"/>
            <a:chOff x="3696" y="2468"/>
            <a:chExt cx="102" cy="114"/>
          </a:xfrm>
        </p:grpSpPr>
        <p:sp>
          <p:nvSpPr>
            <p:cNvPr id="143" name="Line 71"/>
            <p:cNvSpPr>
              <a:spLocks noChangeShapeType="1"/>
            </p:cNvSpPr>
            <p:nvPr/>
          </p:nvSpPr>
          <p:spPr bwMode="auto">
            <a:xfrm flipH="1" flipV="1">
              <a:off x="3716" y="2491"/>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44" name="AutoShape 72"/>
            <p:cNvSpPr>
              <a:spLocks noChangeArrowheads="1"/>
            </p:cNvSpPr>
            <p:nvPr/>
          </p:nvSpPr>
          <p:spPr bwMode="auto">
            <a:xfrm rot="-2760000">
              <a:off x="3696" y="2468"/>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45" name="Rectangle 73"/>
          <p:cNvSpPr>
            <a:spLocks noChangeArrowheads="1"/>
          </p:cNvSpPr>
          <p:nvPr/>
        </p:nvSpPr>
        <p:spPr bwMode="auto">
          <a:xfrm>
            <a:off x="6256917" y="4409612"/>
            <a:ext cx="774251"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Length</a:t>
            </a:r>
            <a:r>
              <a:rPr lang="ko-KR" altLang="en-US" sz="700" dirty="0">
                <a:latin typeface="Arial" pitchFamily="34" charset="0"/>
                <a:ea typeface="맑은 고딕" pitchFamily="50" charset="-127"/>
                <a:cs typeface="Arial" pitchFamily="34" charset="0"/>
              </a:rPr>
              <a:t> </a:t>
            </a:r>
            <a:r>
              <a:rPr lang="en-US" altLang="ko-KR" sz="700" dirty="0">
                <a:latin typeface="Arial" pitchFamily="34" charset="0"/>
                <a:ea typeface="맑은 고딕" pitchFamily="50" charset="-127"/>
                <a:cs typeface="Arial" pitchFamily="34" charset="0"/>
              </a:rPr>
              <a:t>40Cm</a:t>
            </a:r>
          </a:p>
          <a:p>
            <a:pPr defTabSz="762000" latinLnBrk="0"/>
            <a:r>
              <a:rPr lang="en-US" altLang="ko-KR" sz="700" dirty="0">
                <a:latin typeface="Arial" pitchFamily="34" charset="0"/>
                <a:ea typeface="맑은 고딕" pitchFamily="50" charset="-127"/>
                <a:cs typeface="Arial" pitchFamily="34" charset="0"/>
              </a:rPr>
              <a:t>Diameter</a:t>
            </a:r>
            <a:r>
              <a:rPr lang="ko-KR" altLang="en-US" sz="700" dirty="0">
                <a:latin typeface="Arial" pitchFamily="34" charset="0"/>
                <a:ea typeface="맑은 고딕" pitchFamily="50" charset="-127"/>
                <a:cs typeface="Arial" pitchFamily="34" charset="0"/>
              </a:rPr>
              <a:t> </a:t>
            </a:r>
            <a:r>
              <a:rPr lang="en-US" altLang="ko-KR" sz="700" dirty="0">
                <a:latin typeface="Arial" pitchFamily="34" charset="0"/>
                <a:ea typeface="맑은 고딕" pitchFamily="50" charset="-127"/>
                <a:cs typeface="Arial" pitchFamily="34" charset="0"/>
              </a:rPr>
              <a:t>5Cm</a:t>
            </a:r>
          </a:p>
        </p:txBody>
      </p:sp>
      <p:grpSp>
        <p:nvGrpSpPr>
          <p:cNvPr id="8" name="Group 74"/>
          <p:cNvGrpSpPr>
            <a:grpSpLocks/>
          </p:cNvGrpSpPr>
          <p:nvPr/>
        </p:nvGrpSpPr>
        <p:grpSpPr bwMode="auto">
          <a:xfrm>
            <a:off x="7372929" y="4393737"/>
            <a:ext cx="425450" cy="53975"/>
            <a:chOff x="4263" y="2551"/>
            <a:chExt cx="248" cy="34"/>
          </a:xfrm>
        </p:grpSpPr>
        <p:sp>
          <p:nvSpPr>
            <p:cNvPr id="147" name="Line 75"/>
            <p:cNvSpPr>
              <a:spLocks noChangeShapeType="1"/>
            </p:cNvSpPr>
            <p:nvPr/>
          </p:nvSpPr>
          <p:spPr bwMode="auto">
            <a:xfrm flipH="1">
              <a:off x="4263" y="2565"/>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49" name="AutoShape 76"/>
            <p:cNvSpPr>
              <a:spLocks noChangeArrowheads="1"/>
            </p:cNvSpPr>
            <p:nvPr/>
          </p:nvSpPr>
          <p:spPr bwMode="auto">
            <a:xfrm rot="5400000" flipH="1">
              <a:off x="4477" y="2551"/>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50" name="Rectangle 77"/>
          <p:cNvSpPr>
            <a:spLocks noChangeArrowheads="1"/>
          </p:cNvSpPr>
          <p:nvPr/>
        </p:nvSpPr>
        <p:spPr bwMode="auto">
          <a:xfrm>
            <a:off x="6911226" y="4242702"/>
            <a:ext cx="602729"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Task</a:t>
            </a:r>
          </a:p>
          <a:p>
            <a:pPr defTabSz="762000" latinLnBrk="0"/>
            <a:r>
              <a:rPr lang="en-US" altLang="ko-KR" sz="700" dirty="0">
                <a:latin typeface="Arial" pitchFamily="34" charset="0"/>
                <a:ea typeface="맑은 고딕" pitchFamily="50" charset="-127"/>
                <a:cs typeface="Arial" pitchFamily="34" charset="0"/>
              </a:rPr>
              <a:t>procedure</a:t>
            </a:r>
            <a:endParaRPr lang="ko-KR" altLang="en-US" sz="700" dirty="0">
              <a:latin typeface="Arial" pitchFamily="34" charset="0"/>
              <a:ea typeface="맑은 고딕" pitchFamily="50" charset="-127"/>
              <a:cs typeface="Arial" pitchFamily="34" charset="0"/>
            </a:endParaRPr>
          </a:p>
        </p:txBody>
      </p:sp>
      <p:grpSp>
        <p:nvGrpSpPr>
          <p:cNvPr id="9" name="Group 78"/>
          <p:cNvGrpSpPr>
            <a:grpSpLocks/>
          </p:cNvGrpSpPr>
          <p:nvPr/>
        </p:nvGrpSpPr>
        <p:grpSpPr bwMode="auto">
          <a:xfrm>
            <a:off x="7418967" y="4252449"/>
            <a:ext cx="176212" cy="180975"/>
            <a:chOff x="4290" y="2462"/>
            <a:chExt cx="102" cy="114"/>
          </a:xfrm>
        </p:grpSpPr>
        <p:sp>
          <p:nvSpPr>
            <p:cNvPr id="153" name="Line 79"/>
            <p:cNvSpPr>
              <a:spLocks noChangeShapeType="1"/>
            </p:cNvSpPr>
            <p:nvPr/>
          </p:nvSpPr>
          <p:spPr bwMode="auto">
            <a:xfrm>
              <a:off x="4290" y="2462"/>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55" name="AutoShape 80"/>
            <p:cNvSpPr>
              <a:spLocks noChangeArrowheads="1"/>
            </p:cNvSpPr>
            <p:nvPr/>
          </p:nvSpPr>
          <p:spPr bwMode="auto">
            <a:xfrm rot="8040000">
              <a:off x="4358" y="2542"/>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58" name="Rectangle 81"/>
          <p:cNvSpPr>
            <a:spLocks noChangeArrowheads="1"/>
          </p:cNvSpPr>
          <p:nvPr/>
        </p:nvSpPr>
        <p:spPr bwMode="auto">
          <a:xfrm>
            <a:off x="7069292" y="3973622"/>
            <a:ext cx="62837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700" dirty="0">
                <a:latin typeface="Arial" pitchFamily="34" charset="0"/>
                <a:ea typeface="맑은 고딕" pitchFamily="50" charset="-127"/>
                <a:cs typeface="Arial" pitchFamily="34" charset="0"/>
              </a:rPr>
              <a:t>Human</a:t>
            </a:r>
          </a:p>
          <a:p>
            <a:pPr algn="ctr" defTabSz="762000" latinLnBrk="0"/>
            <a:r>
              <a:rPr lang="en-US" altLang="ko-KR" sz="700" dirty="0">
                <a:latin typeface="Arial" pitchFamily="34" charset="0"/>
                <a:ea typeface="맑은 고딕" pitchFamily="50" charset="-127"/>
                <a:cs typeface="Arial" pitchFamily="34" charset="0"/>
              </a:rPr>
              <a:t>differences</a:t>
            </a:r>
            <a:endParaRPr lang="ko-KR" altLang="en-US" sz="700" dirty="0">
              <a:latin typeface="Arial" pitchFamily="34" charset="0"/>
              <a:ea typeface="맑은 고딕" pitchFamily="50" charset="-127"/>
              <a:cs typeface="Arial" pitchFamily="34" charset="0"/>
            </a:endParaRPr>
          </a:p>
        </p:txBody>
      </p:sp>
      <p:grpSp>
        <p:nvGrpSpPr>
          <p:cNvPr id="10" name="Group 82"/>
          <p:cNvGrpSpPr>
            <a:grpSpLocks/>
          </p:cNvGrpSpPr>
          <p:nvPr/>
        </p:nvGrpSpPr>
        <p:grpSpPr bwMode="auto">
          <a:xfrm>
            <a:off x="7988879" y="4298487"/>
            <a:ext cx="425450" cy="53975"/>
            <a:chOff x="4621" y="2491"/>
            <a:chExt cx="248" cy="34"/>
          </a:xfrm>
        </p:grpSpPr>
        <p:sp>
          <p:nvSpPr>
            <p:cNvPr id="160" name="Line 83"/>
            <p:cNvSpPr>
              <a:spLocks noChangeShapeType="1"/>
            </p:cNvSpPr>
            <p:nvPr/>
          </p:nvSpPr>
          <p:spPr bwMode="auto">
            <a:xfrm>
              <a:off x="4629" y="2505"/>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61" name="AutoShape 84"/>
            <p:cNvSpPr>
              <a:spLocks noChangeArrowheads="1"/>
            </p:cNvSpPr>
            <p:nvPr/>
          </p:nvSpPr>
          <p:spPr bwMode="auto">
            <a:xfrm rot="-5400000">
              <a:off x="4621" y="2491"/>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62" name="Rectangle 85"/>
          <p:cNvSpPr>
            <a:spLocks noChangeArrowheads="1"/>
          </p:cNvSpPr>
          <p:nvPr/>
        </p:nvSpPr>
        <p:spPr bwMode="auto">
          <a:xfrm>
            <a:off x="8350829" y="4238162"/>
            <a:ext cx="56265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Skill level</a:t>
            </a:r>
            <a:endParaRPr lang="ko-KR" altLang="en-US" sz="700" dirty="0">
              <a:latin typeface="Arial" pitchFamily="34" charset="0"/>
              <a:ea typeface="맑은 고딕" pitchFamily="50" charset="-127"/>
              <a:cs typeface="Arial" pitchFamily="34" charset="0"/>
            </a:endParaRPr>
          </a:p>
        </p:txBody>
      </p:sp>
      <p:sp>
        <p:nvSpPr>
          <p:cNvPr id="163" name="Line 86"/>
          <p:cNvSpPr>
            <a:spLocks noChangeShapeType="1"/>
          </p:cNvSpPr>
          <p:nvPr/>
        </p:nvSpPr>
        <p:spPr bwMode="auto">
          <a:xfrm flipH="1">
            <a:off x="8250817" y="4154024"/>
            <a:ext cx="117475" cy="1190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64" name="AutoShape 87"/>
          <p:cNvSpPr>
            <a:spLocks noChangeArrowheads="1"/>
          </p:cNvSpPr>
          <p:nvPr/>
        </p:nvSpPr>
        <p:spPr bwMode="auto">
          <a:xfrm rot="13560000" flipH="1">
            <a:off x="8219860" y="4262768"/>
            <a:ext cx="53975" cy="58738"/>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sp>
        <p:nvSpPr>
          <p:cNvPr id="165" name="Rectangle 88"/>
          <p:cNvSpPr>
            <a:spLocks noChangeArrowheads="1"/>
          </p:cNvSpPr>
          <p:nvPr/>
        </p:nvSpPr>
        <p:spPr bwMode="auto">
          <a:xfrm>
            <a:off x="8279392" y="4028612"/>
            <a:ext cx="541815"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unskilled</a:t>
            </a:r>
            <a:endParaRPr lang="ko-KR" altLang="en-US" sz="700" dirty="0">
              <a:latin typeface="Arial" pitchFamily="34" charset="0"/>
              <a:ea typeface="맑은 고딕" pitchFamily="50" charset="-127"/>
              <a:cs typeface="Arial" pitchFamily="34" charset="0"/>
            </a:endParaRPr>
          </a:p>
        </p:txBody>
      </p:sp>
      <p:grpSp>
        <p:nvGrpSpPr>
          <p:cNvPr id="11" name="Group 89"/>
          <p:cNvGrpSpPr>
            <a:grpSpLocks/>
          </p:cNvGrpSpPr>
          <p:nvPr/>
        </p:nvGrpSpPr>
        <p:grpSpPr bwMode="auto">
          <a:xfrm>
            <a:off x="8244467" y="4347699"/>
            <a:ext cx="176212" cy="180975"/>
            <a:chOff x="4770" y="2522"/>
            <a:chExt cx="102" cy="114"/>
          </a:xfrm>
        </p:grpSpPr>
        <p:sp>
          <p:nvSpPr>
            <p:cNvPr id="167" name="Line 90"/>
            <p:cNvSpPr>
              <a:spLocks noChangeShapeType="1"/>
            </p:cNvSpPr>
            <p:nvPr/>
          </p:nvSpPr>
          <p:spPr bwMode="auto">
            <a:xfrm flipH="1" flipV="1">
              <a:off x="4790" y="2545"/>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68" name="AutoShape 91"/>
            <p:cNvSpPr>
              <a:spLocks noChangeArrowheads="1"/>
            </p:cNvSpPr>
            <p:nvPr/>
          </p:nvSpPr>
          <p:spPr bwMode="auto">
            <a:xfrm rot="-2760000">
              <a:off x="4770" y="2522"/>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69" name="Rectangle 92"/>
          <p:cNvSpPr>
            <a:spLocks noChangeArrowheads="1"/>
          </p:cNvSpPr>
          <p:nvPr/>
        </p:nvSpPr>
        <p:spPr bwMode="auto">
          <a:xfrm>
            <a:off x="8155567" y="4504862"/>
            <a:ext cx="1128514"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Precautions are lacking</a:t>
            </a:r>
            <a:endParaRPr lang="ko-KR" altLang="en-US" sz="700" dirty="0">
              <a:latin typeface="Arial" pitchFamily="34" charset="0"/>
              <a:ea typeface="맑은 고딕" pitchFamily="50" charset="-127"/>
              <a:cs typeface="Arial" pitchFamily="34" charset="0"/>
            </a:endParaRPr>
          </a:p>
        </p:txBody>
      </p:sp>
      <p:grpSp>
        <p:nvGrpSpPr>
          <p:cNvPr id="12" name="Group 93"/>
          <p:cNvGrpSpPr>
            <a:grpSpLocks/>
          </p:cNvGrpSpPr>
          <p:nvPr/>
        </p:nvGrpSpPr>
        <p:grpSpPr bwMode="auto">
          <a:xfrm>
            <a:off x="7585654" y="2945937"/>
            <a:ext cx="427038" cy="53975"/>
            <a:chOff x="4387" y="1639"/>
            <a:chExt cx="248" cy="34"/>
          </a:xfrm>
        </p:grpSpPr>
        <p:sp>
          <p:nvSpPr>
            <p:cNvPr id="171" name="Line 94"/>
            <p:cNvSpPr>
              <a:spLocks noChangeShapeType="1"/>
            </p:cNvSpPr>
            <p:nvPr/>
          </p:nvSpPr>
          <p:spPr bwMode="auto">
            <a:xfrm>
              <a:off x="4395" y="1653"/>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72" name="AutoShape 95"/>
            <p:cNvSpPr>
              <a:spLocks noChangeArrowheads="1"/>
            </p:cNvSpPr>
            <p:nvPr/>
          </p:nvSpPr>
          <p:spPr bwMode="auto">
            <a:xfrm rot="-5400000">
              <a:off x="4387" y="1639"/>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73" name="Rectangle 96"/>
          <p:cNvSpPr>
            <a:spLocks noChangeArrowheads="1"/>
          </p:cNvSpPr>
          <p:nvPr/>
        </p:nvSpPr>
        <p:spPr bwMode="auto">
          <a:xfrm>
            <a:off x="7949192" y="2885612"/>
            <a:ext cx="628377"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Outer taffy</a:t>
            </a:r>
            <a:endParaRPr lang="ko-KR" altLang="en-US" sz="700" dirty="0">
              <a:latin typeface="Arial" pitchFamily="34" charset="0"/>
              <a:ea typeface="맑은 고딕" pitchFamily="50" charset="-127"/>
              <a:cs typeface="Arial" pitchFamily="34" charset="0"/>
            </a:endParaRPr>
          </a:p>
        </p:txBody>
      </p:sp>
      <p:grpSp>
        <p:nvGrpSpPr>
          <p:cNvPr id="13" name="Group 97"/>
          <p:cNvGrpSpPr>
            <a:grpSpLocks/>
          </p:cNvGrpSpPr>
          <p:nvPr/>
        </p:nvGrpSpPr>
        <p:grpSpPr bwMode="auto">
          <a:xfrm>
            <a:off x="7842829" y="2995149"/>
            <a:ext cx="174625" cy="180975"/>
            <a:chOff x="4536" y="1670"/>
            <a:chExt cx="102" cy="114"/>
          </a:xfrm>
        </p:grpSpPr>
        <p:sp>
          <p:nvSpPr>
            <p:cNvPr id="175" name="Line 98"/>
            <p:cNvSpPr>
              <a:spLocks noChangeShapeType="1"/>
            </p:cNvSpPr>
            <p:nvPr/>
          </p:nvSpPr>
          <p:spPr bwMode="auto">
            <a:xfrm flipH="1" flipV="1">
              <a:off x="4556" y="1693"/>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76" name="AutoShape 99"/>
            <p:cNvSpPr>
              <a:spLocks noChangeArrowheads="1"/>
            </p:cNvSpPr>
            <p:nvPr/>
          </p:nvSpPr>
          <p:spPr bwMode="auto">
            <a:xfrm rot="-2760000">
              <a:off x="4536" y="1670"/>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77" name="Rectangle 100"/>
          <p:cNvSpPr>
            <a:spLocks noChangeArrowheads="1"/>
          </p:cNvSpPr>
          <p:nvPr/>
        </p:nvSpPr>
        <p:spPr bwMode="auto">
          <a:xfrm>
            <a:off x="7752342" y="3152312"/>
            <a:ext cx="612347"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Hardening</a:t>
            </a:r>
            <a:endParaRPr lang="ko-KR" altLang="en-US" sz="700" dirty="0">
              <a:latin typeface="Arial" pitchFamily="34" charset="0"/>
              <a:ea typeface="맑은 고딕" pitchFamily="50" charset="-127"/>
              <a:cs typeface="Arial" pitchFamily="34" charset="0"/>
            </a:endParaRPr>
          </a:p>
        </p:txBody>
      </p:sp>
      <p:grpSp>
        <p:nvGrpSpPr>
          <p:cNvPr id="14" name="Group 101"/>
          <p:cNvGrpSpPr>
            <a:grpSpLocks/>
          </p:cNvGrpSpPr>
          <p:nvPr/>
        </p:nvGrpSpPr>
        <p:grpSpPr bwMode="auto">
          <a:xfrm>
            <a:off x="7947604" y="3422187"/>
            <a:ext cx="425450" cy="53975"/>
            <a:chOff x="4597" y="1939"/>
            <a:chExt cx="248" cy="34"/>
          </a:xfrm>
        </p:grpSpPr>
        <p:sp>
          <p:nvSpPr>
            <p:cNvPr id="179" name="Line 102"/>
            <p:cNvSpPr>
              <a:spLocks noChangeShapeType="1"/>
            </p:cNvSpPr>
            <p:nvPr/>
          </p:nvSpPr>
          <p:spPr bwMode="auto">
            <a:xfrm>
              <a:off x="4605" y="1953"/>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80" name="AutoShape 103"/>
            <p:cNvSpPr>
              <a:spLocks noChangeArrowheads="1"/>
            </p:cNvSpPr>
            <p:nvPr/>
          </p:nvSpPr>
          <p:spPr bwMode="auto">
            <a:xfrm rot="-5400000">
              <a:off x="4597" y="1939"/>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81" name="Rectangle 104"/>
          <p:cNvSpPr>
            <a:spLocks noChangeArrowheads="1"/>
          </p:cNvSpPr>
          <p:nvPr/>
        </p:nvSpPr>
        <p:spPr bwMode="auto">
          <a:xfrm>
            <a:off x="8309554" y="3258458"/>
            <a:ext cx="625171" cy="41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Linked to </a:t>
            </a:r>
          </a:p>
          <a:p>
            <a:pPr defTabSz="762000" latinLnBrk="0"/>
            <a:r>
              <a:rPr lang="en-US" altLang="ko-KR" sz="700" dirty="0">
                <a:latin typeface="Arial" pitchFamily="34" charset="0"/>
                <a:ea typeface="맑은 고딕" pitchFamily="50" charset="-127"/>
                <a:cs typeface="Arial" pitchFamily="34" charset="0"/>
              </a:rPr>
              <a:t>preceding </a:t>
            </a:r>
          </a:p>
          <a:p>
            <a:pPr defTabSz="762000" latinLnBrk="0"/>
            <a:r>
              <a:rPr lang="en-US" altLang="ko-KR" sz="700" dirty="0">
                <a:latin typeface="Arial" pitchFamily="34" charset="0"/>
                <a:ea typeface="맑은 고딕" pitchFamily="50" charset="-127"/>
                <a:cs typeface="Arial" pitchFamily="34" charset="0"/>
              </a:rPr>
              <a:t>process</a:t>
            </a:r>
            <a:endParaRPr lang="ko-KR" altLang="en-US" sz="700" dirty="0">
              <a:latin typeface="Arial" pitchFamily="34" charset="0"/>
              <a:ea typeface="맑은 고딕" pitchFamily="50" charset="-127"/>
              <a:cs typeface="Arial" pitchFamily="34" charset="0"/>
            </a:endParaRPr>
          </a:p>
        </p:txBody>
      </p:sp>
      <p:grpSp>
        <p:nvGrpSpPr>
          <p:cNvPr id="15" name="Group 105"/>
          <p:cNvGrpSpPr>
            <a:grpSpLocks/>
          </p:cNvGrpSpPr>
          <p:nvPr/>
        </p:nvGrpSpPr>
        <p:grpSpPr bwMode="auto">
          <a:xfrm>
            <a:off x="7299904" y="3269787"/>
            <a:ext cx="427038" cy="53975"/>
            <a:chOff x="4221" y="1843"/>
            <a:chExt cx="248" cy="34"/>
          </a:xfrm>
        </p:grpSpPr>
        <p:sp>
          <p:nvSpPr>
            <p:cNvPr id="183" name="Line 106"/>
            <p:cNvSpPr>
              <a:spLocks noChangeShapeType="1"/>
            </p:cNvSpPr>
            <p:nvPr/>
          </p:nvSpPr>
          <p:spPr bwMode="auto">
            <a:xfrm flipH="1">
              <a:off x="4221" y="1857"/>
              <a:ext cx="24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84" name="AutoShape 107"/>
            <p:cNvSpPr>
              <a:spLocks noChangeArrowheads="1"/>
            </p:cNvSpPr>
            <p:nvPr/>
          </p:nvSpPr>
          <p:spPr bwMode="auto">
            <a:xfrm rot="5400000" flipH="1">
              <a:off x="4435" y="1843"/>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85" name="Rectangle 108"/>
          <p:cNvSpPr>
            <a:spLocks noChangeArrowheads="1"/>
          </p:cNvSpPr>
          <p:nvPr/>
        </p:nvSpPr>
        <p:spPr bwMode="auto">
          <a:xfrm>
            <a:off x="6753200" y="3199937"/>
            <a:ext cx="604333"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Inner taffy</a:t>
            </a:r>
            <a:endParaRPr lang="ko-KR" altLang="en-US" sz="700" dirty="0">
              <a:latin typeface="Arial" pitchFamily="34" charset="0"/>
              <a:ea typeface="맑은 고딕" pitchFamily="50" charset="-127"/>
              <a:cs typeface="Arial" pitchFamily="34" charset="0"/>
            </a:endParaRPr>
          </a:p>
        </p:txBody>
      </p:sp>
      <p:grpSp>
        <p:nvGrpSpPr>
          <p:cNvPr id="16" name="Group 109"/>
          <p:cNvGrpSpPr>
            <a:grpSpLocks/>
          </p:cNvGrpSpPr>
          <p:nvPr/>
        </p:nvGrpSpPr>
        <p:grpSpPr bwMode="auto">
          <a:xfrm>
            <a:off x="7368167" y="3128499"/>
            <a:ext cx="174625" cy="180975"/>
            <a:chOff x="4260" y="1754"/>
            <a:chExt cx="102" cy="114"/>
          </a:xfrm>
        </p:grpSpPr>
        <p:sp>
          <p:nvSpPr>
            <p:cNvPr id="187" name="Line 110"/>
            <p:cNvSpPr>
              <a:spLocks noChangeShapeType="1"/>
            </p:cNvSpPr>
            <p:nvPr/>
          </p:nvSpPr>
          <p:spPr bwMode="auto">
            <a:xfrm>
              <a:off x="4260" y="1754"/>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88" name="AutoShape 111"/>
            <p:cNvSpPr>
              <a:spLocks noChangeArrowheads="1"/>
            </p:cNvSpPr>
            <p:nvPr/>
          </p:nvSpPr>
          <p:spPr bwMode="auto">
            <a:xfrm rot="8040000">
              <a:off x="4328" y="1834"/>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89" name="Rectangle 112"/>
          <p:cNvSpPr>
            <a:spLocks noChangeArrowheads="1"/>
          </p:cNvSpPr>
          <p:nvPr/>
        </p:nvSpPr>
        <p:spPr bwMode="auto">
          <a:xfrm>
            <a:off x="6969224" y="2980862"/>
            <a:ext cx="623569" cy="200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r>
              <a:rPr lang="en-US" altLang="ko-KR" sz="700" dirty="0">
                <a:latin typeface="Arial" pitchFamily="34" charset="0"/>
                <a:ea typeface="맑은 고딕" pitchFamily="50" charset="-127"/>
                <a:cs typeface="Arial" pitchFamily="34" charset="0"/>
              </a:rPr>
              <a:t>Sweetness</a:t>
            </a:r>
            <a:endParaRPr lang="ko-KR" altLang="en-US" sz="700" dirty="0">
              <a:latin typeface="Arial" pitchFamily="34" charset="0"/>
              <a:ea typeface="맑은 고딕" pitchFamily="50" charset="-127"/>
              <a:cs typeface="Arial" pitchFamily="34" charset="0"/>
            </a:endParaRPr>
          </a:p>
        </p:txBody>
      </p:sp>
      <p:grpSp>
        <p:nvGrpSpPr>
          <p:cNvPr id="17" name="Group 113"/>
          <p:cNvGrpSpPr>
            <a:grpSpLocks/>
          </p:cNvGrpSpPr>
          <p:nvPr/>
        </p:nvGrpSpPr>
        <p:grpSpPr bwMode="auto">
          <a:xfrm>
            <a:off x="7363404" y="3328524"/>
            <a:ext cx="176213" cy="180975"/>
            <a:chOff x="4258" y="1880"/>
            <a:chExt cx="102" cy="114"/>
          </a:xfrm>
        </p:grpSpPr>
        <p:sp>
          <p:nvSpPr>
            <p:cNvPr id="191" name="Line 114"/>
            <p:cNvSpPr>
              <a:spLocks noChangeShapeType="1"/>
            </p:cNvSpPr>
            <p:nvPr/>
          </p:nvSpPr>
          <p:spPr bwMode="auto">
            <a:xfrm flipV="1">
              <a:off x="4258" y="1903"/>
              <a:ext cx="82" cy="9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latin typeface="Arial" pitchFamily="34" charset="0"/>
                <a:cs typeface="Arial" pitchFamily="34" charset="0"/>
              </a:endParaRPr>
            </a:p>
          </p:txBody>
        </p:sp>
        <p:sp>
          <p:nvSpPr>
            <p:cNvPr id="192" name="AutoShape 115"/>
            <p:cNvSpPr>
              <a:spLocks noChangeArrowheads="1"/>
            </p:cNvSpPr>
            <p:nvPr/>
          </p:nvSpPr>
          <p:spPr bwMode="auto">
            <a:xfrm rot="2760000" flipH="1">
              <a:off x="4326" y="1880"/>
              <a:ext cx="34" cy="34"/>
            </a:xfrm>
            <a:prstGeom prst="triangle">
              <a:avLst>
                <a:gd name="adj" fmla="val 49995"/>
              </a:avLst>
            </a:prstGeom>
            <a:solidFill>
              <a:schemeClr val="tx1"/>
            </a:solidFill>
            <a:ln w="12700">
              <a:solidFill>
                <a:schemeClr val="tx1"/>
              </a:solidFill>
              <a:miter lim="800000"/>
              <a:headEnd/>
              <a:tailEnd/>
            </a:ln>
          </p:spPr>
          <p:txBody>
            <a:bodyPr wrap="none" anchor="ctr"/>
            <a:lstStyle/>
            <a:p>
              <a:endParaRPr lang="ko-KR" altLang="en-US" dirty="0">
                <a:latin typeface="Arial" pitchFamily="34" charset="0"/>
                <a:ea typeface="맑은 고딕" pitchFamily="50" charset="-127"/>
                <a:cs typeface="Arial" pitchFamily="34" charset="0"/>
              </a:endParaRPr>
            </a:p>
          </p:txBody>
        </p:sp>
      </p:grpSp>
      <p:sp>
        <p:nvSpPr>
          <p:cNvPr id="193" name="Rectangle 116"/>
          <p:cNvSpPr>
            <a:spLocks noChangeArrowheads="1"/>
          </p:cNvSpPr>
          <p:nvPr/>
        </p:nvSpPr>
        <p:spPr bwMode="auto">
          <a:xfrm>
            <a:off x="6901633" y="3466637"/>
            <a:ext cx="94577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700" dirty="0">
                <a:latin typeface="Arial" pitchFamily="34" charset="0"/>
                <a:ea typeface="맑은 고딕" pitchFamily="50" charset="-127"/>
                <a:cs typeface="Arial" pitchFamily="34" charset="0"/>
              </a:rPr>
              <a:t>Balance with outer</a:t>
            </a:r>
          </a:p>
          <a:p>
            <a:pPr algn="ctr" defTabSz="762000" latinLnBrk="0"/>
            <a:r>
              <a:rPr lang="en-US" altLang="ko-KR" sz="700" dirty="0">
                <a:latin typeface="Arial" pitchFamily="34" charset="0"/>
                <a:ea typeface="맑은 고딕" pitchFamily="50" charset="-127"/>
                <a:cs typeface="Arial" pitchFamily="34" charset="0"/>
              </a:rPr>
              <a:t>taffy</a:t>
            </a:r>
            <a:endParaRPr lang="ko-KR" altLang="en-US" sz="700" dirty="0">
              <a:latin typeface="Arial" pitchFamily="34" charset="0"/>
              <a:ea typeface="맑은 고딕" pitchFamily="50" charset="-127"/>
              <a:cs typeface="Arial" pitchFamily="34" charset="0"/>
            </a:endParaRPr>
          </a:p>
        </p:txBody>
      </p:sp>
      <p:sp>
        <p:nvSpPr>
          <p:cNvPr id="194" name="Rectangle 126"/>
          <p:cNvSpPr>
            <a:spLocks noChangeArrowheads="1"/>
          </p:cNvSpPr>
          <p:nvPr/>
        </p:nvSpPr>
        <p:spPr bwMode="auto">
          <a:xfrm>
            <a:off x="5047243" y="3257089"/>
            <a:ext cx="620712" cy="280986"/>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dirty="0">
              <a:latin typeface="Arial" pitchFamily="34" charset="0"/>
              <a:ea typeface="맑은 고딕" pitchFamily="50" charset="-127"/>
              <a:cs typeface="Arial" pitchFamily="34" charset="0"/>
            </a:endParaRPr>
          </a:p>
        </p:txBody>
      </p:sp>
      <p:sp>
        <p:nvSpPr>
          <p:cNvPr id="195" name="Rectangle 127"/>
          <p:cNvSpPr>
            <a:spLocks noChangeArrowheads="1"/>
          </p:cNvSpPr>
          <p:nvPr/>
        </p:nvSpPr>
        <p:spPr bwMode="auto">
          <a:xfrm>
            <a:off x="8423854" y="4236574"/>
            <a:ext cx="397353" cy="184151"/>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dirty="0">
              <a:latin typeface="Arial" pitchFamily="34" charset="0"/>
              <a:ea typeface="맑은 고딕" pitchFamily="50" charset="-127"/>
              <a:cs typeface="Arial" pitchFamily="34" charset="0"/>
            </a:endParaRPr>
          </a:p>
        </p:txBody>
      </p:sp>
      <p:sp>
        <p:nvSpPr>
          <p:cNvPr id="196" name="Rectangle 128"/>
          <p:cNvSpPr>
            <a:spLocks noChangeArrowheads="1"/>
          </p:cNvSpPr>
          <p:nvPr/>
        </p:nvSpPr>
        <p:spPr bwMode="auto">
          <a:xfrm>
            <a:off x="5293304" y="4268324"/>
            <a:ext cx="347663" cy="18097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dirty="0">
              <a:latin typeface="Arial" pitchFamily="34" charset="0"/>
              <a:ea typeface="맑은 고딕" pitchFamily="50" charset="-127"/>
              <a:cs typeface="Arial" pitchFamily="34" charset="0"/>
            </a:endParaRPr>
          </a:p>
        </p:txBody>
      </p:sp>
      <p:sp>
        <p:nvSpPr>
          <p:cNvPr id="197" name="타원 196"/>
          <p:cNvSpPr/>
          <p:nvPr/>
        </p:nvSpPr>
        <p:spPr>
          <a:xfrm>
            <a:off x="8911738" y="3347238"/>
            <a:ext cx="792162" cy="792162"/>
          </a:xfrm>
          <a:prstGeom prst="ellipse">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altLang="ko-KR" sz="1000" dirty="0">
                <a:latin typeface="Arial" pitchFamily="34" charset="0"/>
                <a:cs typeface="Arial" pitchFamily="34" charset="0"/>
              </a:rPr>
              <a:t>Product weight falls short</a:t>
            </a:r>
            <a:endParaRPr lang="ko-KR" altLang="en-US" sz="1000" dirty="0">
              <a:latin typeface="Arial" pitchFamily="34" charset="0"/>
              <a:cs typeface="Arial" pitchFamily="34" charset="0"/>
            </a:endParaRPr>
          </a:p>
        </p:txBody>
      </p:sp>
      <p:sp>
        <p:nvSpPr>
          <p:cNvPr id="120"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23"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
        <p:nvSpPr>
          <p:cNvPr id="131" name="모서리가 둥근 직사각형 75"/>
          <p:cNvSpPr/>
          <p:nvPr/>
        </p:nvSpPr>
        <p:spPr>
          <a:xfrm>
            <a:off x="496888" y="1052736"/>
            <a:ext cx="23764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Các</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bước</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xây</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dựng</a:t>
            </a:r>
            <a:endParaRPr lang="ko-KR" altLang="en-US" sz="1400" b="1" dirty="0">
              <a:latin typeface="Arial" pitchFamily="34" charset="0"/>
              <a:cs typeface="Arial" pitchFamily="34" charset="0"/>
            </a:endParaRPr>
          </a:p>
        </p:txBody>
      </p:sp>
      <p:sp>
        <p:nvSpPr>
          <p:cNvPr id="135" name="모서리가 둥근 직사각형 76"/>
          <p:cNvSpPr/>
          <p:nvPr/>
        </p:nvSpPr>
        <p:spPr>
          <a:xfrm>
            <a:off x="3160713" y="1052736"/>
            <a:ext cx="21605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Lưu</a:t>
            </a:r>
            <a:r>
              <a:rPr lang="en-US" altLang="ko-KR" sz="1400" b="1" dirty="0">
                <a:latin typeface="Arial" pitchFamily="34" charset="0"/>
                <a:cs typeface="Arial" pitchFamily="34" charset="0"/>
              </a:rPr>
              <a:t> ý</a:t>
            </a:r>
            <a:endParaRPr lang="ko-KR" altLang="en-US" sz="1400" b="1" dirty="0">
              <a:latin typeface="Arial" pitchFamily="34" charset="0"/>
              <a:cs typeface="Arial" pitchFamily="34" charset="0"/>
            </a:endParaRPr>
          </a:p>
        </p:txBody>
      </p:sp>
      <p:sp>
        <p:nvSpPr>
          <p:cNvPr id="142" name="모서리가 둥근 직사각형 77"/>
          <p:cNvSpPr/>
          <p:nvPr/>
        </p:nvSpPr>
        <p:spPr>
          <a:xfrm>
            <a:off x="5681663" y="1052736"/>
            <a:ext cx="41036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Ví</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dụ</a:t>
            </a:r>
            <a:endParaRPr lang="ko-KR" altLang="en-US" sz="1400" b="1" dirty="0">
              <a:latin typeface="Arial" pitchFamily="34" charset="0"/>
              <a:cs typeface="Arial" pitchFamily="34" charset="0"/>
            </a:endParaRPr>
          </a:p>
        </p:txBody>
      </p:sp>
    </p:spTree>
    <p:extLst>
      <p:ext uri="{BB962C8B-B14F-4D97-AF65-F5344CB8AC3E}">
        <p14:creationId xmlns:p14="http://schemas.microsoft.com/office/powerpoint/2010/main" val="3407972560"/>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6" name="Picture 2" descr="C:\Users\Administrator\AppData\Local\Microsoft\Windows\Temporary Internet Files\Content.IE5\DG8HFB2Z\%ED%95%98%ED%8A%B8[1].jp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76536" y="980728"/>
            <a:ext cx="720651" cy="669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Rectangle 130"/>
          <p:cNvSpPr>
            <a:spLocks noChangeArrowheads="1"/>
          </p:cNvSpPr>
          <p:nvPr/>
        </p:nvSpPr>
        <p:spPr bwMode="auto">
          <a:xfrm>
            <a:off x="1496616" y="1033463"/>
            <a:ext cx="2761975" cy="523862"/>
          </a:xfrm>
          <a:prstGeom prst="rect">
            <a:avLst/>
          </a:prstGeom>
          <a:noFill/>
          <a:ln w="9525">
            <a:noFill/>
            <a:miter lim="800000"/>
            <a:headEnd/>
            <a:tailEnd/>
          </a:ln>
          <a:effectLst/>
        </p:spPr>
        <p:txBody>
          <a:bodyPr wrap="none" lIns="92075" tIns="46038" rIns="92075" bIns="46038">
            <a:spAutoFit/>
          </a:bodyPr>
          <a:lstStyle/>
          <a:p>
            <a:pPr defTabSz="762000" latinLnBrk="0">
              <a:defRPr/>
            </a:pPr>
            <a:r>
              <a:rPr lang="en-US" altLang="ko-KR" sz="2800" b="1" dirty="0">
                <a:solidFill>
                  <a:srgbClr val="FF0000"/>
                </a:solidFill>
                <a:effectLst>
                  <a:outerShdw blurRad="38100" dist="38100" dir="2700000" algn="tl">
                    <a:srgbClr val="C0C0C0"/>
                  </a:outerShdw>
                </a:effectLst>
                <a:latin typeface="Arial" pitchFamily="34" charset="0"/>
                <a:ea typeface="맑은 고딕" panose="020B0503020000020004" pitchFamily="50" charset="-127"/>
                <a:cs typeface="Arial" pitchFamily="34" charset="0"/>
              </a:rPr>
              <a:t>Brainstorming!</a:t>
            </a:r>
          </a:p>
        </p:txBody>
      </p:sp>
      <p:sp>
        <p:nvSpPr>
          <p:cNvPr id="74759" name="TextBox 161"/>
          <p:cNvSpPr txBox="1">
            <a:spLocks noChangeArrowheads="1"/>
          </p:cNvSpPr>
          <p:nvPr/>
        </p:nvSpPr>
        <p:spPr bwMode="auto">
          <a:xfrm>
            <a:off x="1208088" y="5805488"/>
            <a:ext cx="7489328" cy="812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60325" indent="-60325" eaLnBrk="1" hangingPunct="1">
              <a:lnSpc>
                <a:spcPct val="130000"/>
              </a:lnSpc>
              <a:buClr>
                <a:srgbClr val="C5003D"/>
              </a:buClr>
            </a:pPr>
            <a:r>
              <a:rPr lang="en-US" altLang="ko-KR" sz="1200" dirty="0">
                <a:latin typeface="Arial" pitchFamily="34" charset="0"/>
                <a:ea typeface="맑은 고딕" pitchFamily="50" charset="-127"/>
                <a:cs typeface="Arial" pitchFamily="34" charset="0"/>
              </a:rPr>
              <a:t>*4 </a:t>
            </a:r>
            <a:r>
              <a:rPr lang="en-US" altLang="ko-KR" sz="1200" dirty="0" err="1">
                <a:latin typeface="Arial" pitchFamily="34" charset="0"/>
                <a:ea typeface="맑은 고딕" pitchFamily="50" charset="-127"/>
                <a:cs typeface="Arial" pitchFamily="34" charset="0"/>
              </a:rPr>
              <a:t>nguyên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tắc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brainstorming</a:t>
            </a:r>
            <a:r>
              <a:rPr lang="ko-KR" altLang="en-US" sz="1200" dirty="0">
                <a:latin typeface="Arial" pitchFamily="34" charset="0"/>
                <a:ea typeface="맑은 고딕" pitchFamily="50" charset="-127"/>
                <a:cs typeface="Arial" pitchFamily="34" charset="0"/>
              </a:rPr>
              <a:t> </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thoải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mái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phát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không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chỉ</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người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nhấn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mạnh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về</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cải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tiến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tập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thể</a:t>
            </a:r>
            <a:endParaRPr lang="en-US" altLang="ko-KR" sz="1200" dirty="0">
              <a:latin typeface="Arial" pitchFamily="34" charset="0"/>
              <a:ea typeface="맑은 고딕" pitchFamily="50" charset="-127"/>
              <a:cs typeface="Arial" pitchFamily="34" charset="0"/>
            </a:endParaRPr>
          </a:p>
          <a:p>
            <a:pPr marL="60325" indent="-60325" eaLnBrk="1" hangingPunct="1">
              <a:lnSpc>
                <a:spcPct val="130000"/>
              </a:lnSpc>
              <a:buClr>
                <a:srgbClr val="C5003D"/>
              </a:buClr>
            </a:pP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brainstorming </a:t>
            </a:r>
            <a:r>
              <a:rPr lang="en-US" altLang="ko-KR" sz="1200" dirty="0" err="1">
                <a:latin typeface="Arial" pitchFamily="34" charset="0"/>
                <a:ea typeface="맑은 고딕" pitchFamily="50" charset="-127"/>
                <a:cs typeface="Arial" pitchFamily="34" charset="0"/>
              </a:rPr>
              <a:t>không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kéo</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dài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1 </a:t>
            </a:r>
            <a:r>
              <a:rPr lang="en-US" altLang="ko-KR" sz="1200" dirty="0" err="1">
                <a:latin typeface="Arial" pitchFamily="34" charset="0"/>
                <a:ea typeface="맑은 고딕" pitchFamily="50" charset="-127"/>
                <a:cs typeface="Arial" pitchFamily="34" charset="0"/>
              </a:rPr>
              <a:t>giờ</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bao</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gồm</a:t>
            </a:r>
            <a:r>
              <a:rPr lang="en-US" altLang="ko-KR" sz="1200" dirty="0">
                <a:latin typeface="Arial" pitchFamily="34" charset="0"/>
                <a:ea typeface="맑은 고딕" pitchFamily="50" charset="-127"/>
                <a:cs typeface="Arial" pitchFamily="34" charset="0"/>
              </a:rPr>
              <a:t> 5-8 </a:t>
            </a:r>
            <a:r>
              <a:rPr lang="en-US" altLang="ko-KR" sz="1200" dirty="0" err="1">
                <a:latin typeface="Arial" pitchFamily="34" charset="0"/>
                <a:ea typeface="맑은 고딕" pitchFamily="50" charset="-127"/>
                <a:cs typeface="Arial" pitchFamily="34" charset="0"/>
              </a:rPr>
              <a:t>thành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viên</a:t>
            </a:r>
            <a:r>
              <a:rPr lang="en-US" altLang="ko-KR" sz="1200" dirty="0">
                <a:latin typeface="Arial" pitchFamily="34" charset="0"/>
                <a:ea typeface="맑은 고딕" pitchFamily="50" charset="-127"/>
                <a:cs typeface="Arial" pitchFamily="34" charset="0"/>
              </a:rPr>
              <a:t>.</a:t>
            </a:r>
            <a:endParaRPr lang="ko-KR" altLang="en-US" sz="1200" dirty="0">
              <a:latin typeface="Arial" pitchFamily="34" charset="0"/>
              <a:ea typeface="맑은 고딕" pitchFamily="50" charset="-127"/>
              <a:cs typeface="Arial" pitchFamily="34" charset="0"/>
            </a:endParaRPr>
          </a:p>
        </p:txBody>
      </p:sp>
      <p:sp>
        <p:nvSpPr>
          <p:cNvPr id="74760" name="Rectangle 131"/>
          <p:cNvSpPr>
            <a:spLocks noChangeArrowheads="1"/>
          </p:cNvSpPr>
          <p:nvPr/>
        </p:nvSpPr>
        <p:spPr bwMode="auto">
          <a:xfrm>
            <a:off x="704851" y="2076867"/>
            <a:ext cx="5328270" cy="2333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marL="342900" indent="-342900" defTabSz="762000" latinLnBrk="0">
              <a:lnSpc>
                <a:spcPct val="130000"/>
              </a:lnSpc>
            </a:pPr>
            <a:r>
              <a:rPr lang="en-US" altLang="ko-KR" sz="1600" b="1" dirty="0">
                <a:latin typeface="Arial" pitchFamily="34" charset="0"/>
                <a:ea typeface="맑은 고딕" pitchFamily="50" charset="-127"/>
                <a:cs typeface="Arial" pitchFamily="34" charset="0"/>
              </a:rPr>
              <a:t>1. </a:t>
            </a:r>
            <a:r>
              <a:rPr lang="en-US" altLang="ko-KR" sz="1600" b="1" dirty="0" err="1">
                <a:latin typeface="Arial" pitchFamily="34" charset="0"/>
                <a:ea typeface="맑은 고딕" pitchFamily="50" charset="-127"/>
                <a:cs typeface="Arial" pitchFamily="34" charset="0"/>
              </a:rPr>
              <a:t>Tập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hợp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kiến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thức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của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nhiều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người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khi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vẽ</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a:t>
            </a:r>
          </a:p>
          <a:p>
            <a:pPr marL="342900" indent="-342900" defTabSz="762000" latinLnBrk="0">
              <a:lnSpc>
                <a:spcPct val="130000"/>
              </a:lnSpc>
            </a:pPr>
            <a:r>
              <a:rPr lang="en-US" altLang="ko-KR" sz="1600" b="1" dirty="0">
                <a:latin typeface="Arial" pitchFamily="34" charset="0"/>
                <a:ea typeface="맑은 고딕" pitchFamily="50" charset="-127"/>
                <a:cs typeface="Arial" pitchFamily="34" charset="0"/>
              </a:rPr>
              <a:t>2. </a:t>
            </a:r>
            <a:r>
              <a:rPr lang="en-US" altLang="ko-KR" sz="1600" b="1" dirty="0" err="1">
                <a:latin typeface="Arial" pitchFamily="34" charset="0"/>
                <a:ea typeface="맑은 고딕" pitchFamily="50" charset="-127"/>
                <a:cs typeface="Arial" pitchFamily="34" charset="0"/>
              </a:rPr>
              <a:t>Chọn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nhiều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tố</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nhất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có</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thể</a:t>
            </a:r>
            <a:r>
              <a:rPr lang="en-US" altLang="ko-KR" sz="1600" b="1" dirty="0">
                <a:latin typeface="Arial" pitchFamily="34" charset="0"/>
                <a:ea typeface="맑은 고딕" pitchFamily="50" charset="-127"/>
                <a:cs typeface="Arial" pitchFamily="34" charset="0"/>
              </a:rPr>
              <a:t>(MECE).</a:t>
            </a:r>
          </a:p>
          <a:p>
            <a:pPr defTabSz="762000" latinLnBrk="0">
              <a:lnSpc>
                <a:spcPct val="130000"/>
              </a:lnSpc>
            </a:pPr>
            <a:r>
              <a:rPr lang="en-US" altLang="ko-KR" sz="1600" b="1" dirty="0">
                <a:latin typeface="Arial" pitchFamily="34" charset="0"/>
                <a:ea typeface="맑은 고딕" pitchFamily="50" charset="-127"/>
                <a:cs typeface="Arial" pitchFamily="34" charset="0"/>
              </a:rPr>
              <a:t>3. </a:t>
            </a:r>
            <a:r>
              <a:rPr lang="en-US" altLang="ko-KR" sz="1600" b="1" dirty="0" err="1">
                <a:latin typeface="Arial" pitchFamily="34" charset="0"/>
                <a:ea typeface="맑은 고딕" pitchFamily="50" charset="-127"/>
                <a:cs typeface="Arial" pitchFamily="34" charset="0"/>
              </a:rPr>
              <a:t>Chọn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tố</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có</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pháp</a:t>
            </a:r>
            <a:r>
              <a:rPr lang="en-US" altLang="ko-KR" sz="1600" b="1" dirty="0">
                <a:latin typeface="Arial" pitchFamily="34" charset="0"/>
                <a:ea typeface="맑은 고딕" pitchFamily="50" charset="-127"/>
                <a:cs typeface="Arial" pitchFamily="34" charset="0"/>
              </a:rPr>
              <a:t>.</a:t>
            </a:r>
          </a:p>
          <a:p>
            <a:pPr defTabSz="762000" latinLnBrk="0">
              <a:lnSpc>
                <a:spcPct val="130000"/>
              </a:lnSpc>
            </a:pP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Tuy</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nhiên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không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cần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thiết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tạo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nguyên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tố</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pháp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thiện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cùng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một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lúc</a:t>
            </a:r>
            <a:r>
              <a:rPr lang="en-US" altLang="ko-KR" sz="1600" b="1" dirty="0">
                <a:latin typeface="Arial" pitchFamily="34" charset="0"/>
                <a:ea typeface="맑은 고딕" pitchFamily="50" charset="-127"/>
                <a:cs typeface="Arial" pitchFamily="34" charset="0"/>
              </a:rPr>
              <a:t>. </a:t>
            </a:r>
          </a:p>
          <a:p>
            <a:pPr defTabSz="762000" latinLnBrk="0">
              <a:lnSpc>
                <a:spcPct val="130000"/>
              </a:lnSpc>
            </a:pPr>
            <a:r>
              <a:rPr lang="en-US" altLang="ko-KR" sz="1600" b="1" dirty="0">
                <a:latin typeface="Arial" pitchFamily="34" charset="0"/>
                <a:ea typeface="맑은 고딕" pitchFamily="50" charset="-127"/>
                <a:cs typeface="Arial" pitchFamily="34" charset="0"/>
              </a:rPr>
              <a:t>4. </a:t>
            </a:r>
            <a:r>
              <a:rPr lang="en-US" altLang="ko-KR" sz="1600" b="1" dirty="0" err="1">
                <a:latin typeface="Arial" pitchFamily="34" charset="0"/>
                <a:ea typeface="맑은 고딕" pitchFamily="50" charset="-127"/>
                <a:cs typeface="Arial" pitchFamily="34" charset="0"/>
              </a:rPr>
              <a:t>Đừng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ngại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tạo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ra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pháp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hoàn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toàn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mới</a:t>
            </a:r>
            <a:r>
              <a:rPr lang="en-US" altLang="ko-KR" sz="1600" b="1" dirty="0">
                <a:latin typeface="Arial" pitchFamily="34" charset="0"/>
                <a:ea typeface="맑은 고딕" pitchFamily="50" charset="-127"/>
                <a:cs typeface="Arial" pitchFamily="34" charset="0"/>
              </a:rPr>
              <a:t>.</a:t>
            </a:r>
          </a:p>
          <a:p>
            <a:pPr defTabSz="762000" latinLnBrk="0">
              <a:lnSpc>
                <a:spcPct val="130000"/>
              </a:lnSpc>
            </a:pPr>
            <a:endParaRPr lang="en-US" altLang="ko-KR" sz="1600" b="1" dirty="0">
              <a:solidFill>
                <a:srgbClr val="FF0000"/>
              </a:solidFill>
              <a:latin typeface="Arial" pitchFamily="34" charset="0"/>
              <a:ea typeface="맑은 고딕" pitchFamily="50" charset="-127"/>
              <a:cs typeface="Arial" pitchFamily="34" charset="0"/>
            </a:endParaRPr>
          </a:p>
        </p:txBody>
      </p:sp>
      <p:pic>
        <p:nvPicPr>
          <p:cNvPr id="391170" name="Picture 2" descr="C:\Users\Administrator\AppData\Local\Microsoft\Windows\Temporary Internet Files\Content.IE5\KWWL3PQ7\bstorm[1].jpg"/>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6537176" y="2492896"/>
            <a:ext cx="3157293" cy="2376264"/>
          </a:xfrm>
          <a:prstGeom prst="rect">
            <a:avLst/>
          </a:prstGeom>
          <a:noFill/>
          <a:extLst>
            <a:ext uri="{909E8E84-426E-40DD-AFC4-6F175D3DCCD1}">
              <a14:hiddenFill xmlns:a14="http://schemas.microsoft.com/office/drawing/2010/main">
                <a:solidFill>
                  <a:srgbClr val="FFFFFF"/>
                </a:solidFill>
              </a14:hiddenFill>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75</a:t>
            </a:fld>
            <a:endParaRPr lang="ko-KR" altLang="en-US" dirty="0">
              <a:latin typeface="Arial" pitchFamily="34" charset="0"/>
              <a:cs typeface="Arial" pitchFamily="34" charset="0"/>
            </a:endParaRPr>
          </a:p>
        </p:txBody>
      </p:sp>
      <p:sp>
        <p:nvSpPr>
          <p:cNvPr id="10"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1"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4837961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4" name="TextBox 21"/>
          <p:cNvSpPr txBox="1">
            <a:spLocks noChangeArrowheads="1"/>
          </p:cNvSpPr>
          <p:nvPr/>
        </p:nvSpPr>
        <p:spPr bwMode="auto">
          <a:xfrm>
            <a:off x="8260328" y="765175"/>
            <a:ext cx="1478290" cy="3724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400" dirty="0">
                <a:solidFill>
                  <a:srgbClr val="FF0000"/>
                </a:solidFill>
                <a:latin typeface="Arial" pitchFamily="34" charset="0"/>
                <a:ea typeface="돋움체" pitchFamily="49" charset="-127"/>
                <a:cs typeface="Arial" pitchFamily="34" charset="0"/>
              </a:rPr>
              <a:t>Dummy variable</a:t>
            </a:r>
            <a:endParaRPr lang="ko-KR" altLang="en-US" sz="1400" dirty="0">
              <a:solidFill>
                <a:srgbClr val="FF0000"/>
              </a:solidFill>
              <a:latin typeface="Arial" pitchFamily="34" charset="0"/>
              <a:ea typeface="돋움체" pitchFamily="49" charset="-127"/>
              <a:cs typeface="Arial" pitchFamily="34" charset="0"/>
            </a:endParaRPr>
          </a:p>
        </p:txBody>
      </p:sp>
      <p:sp>
        <p:nvSpPr>
          <p:cNvPr id="9" name="타원 3"/>
          <p:cNvSpPr>
            <a:spLocks noChangeArrowheads="1"/>
          </p:cNvSpPr>
          <p:nvPr/>
        </p:nvSpPr>
        <p:spPr bwMode="auto">
          <a:xfrm>
            <a:off x="8374063" y="3132138"/>
            <a:ext cx="1349375" cy="476071"/>
          </a:xfrm>
          <a:prstGeom prst="ellipse">
            <a:avLst/>
          </a:prstGeom>
          <a:solidFill>
            <a:sysClr val="window" lastClr="FFFFFF">
              <a:lumMod val="85000"/>
            </a:sysClr>
          </a:solidFill>
          <a:ln w="9525" algn="ctr">
            <a:noFill/>
            <a:round/>
            <a:headEnd/>
            <a:tailEnd/>
          </a:ln>
        </p:spPr>
        <p:txBody>
          <a:bodyPr>
            <a:spAutoFit/>
          </a:bodyPr>
          <a:lstStyle/>
          <a:p>
            <a:pPr fontAlgn="auto" latinLnBrk="0">
              <a:spcBef>
                <a:spcPts val="0"/>
              </a:spcBef>
              <a:spcAft>
                <a:spcPts val="0"/>
              </a:spcAft>
              <a:defRPr/>
            </a:pPr>
            <a:r>
              <a:rPr lang="en-US" altLang="ko-KR" sz="800" kern="0" dirty="0">
                <a:solidFill>
                  <a:prstClr val="black"/>
                </a:solidFill>
                <a:latin typeface="Arial" pitchFamily="34" charset="0"/>
                <a:ea typeface="돋움체" pitchFamily="49" charset="-127"/>
                <a:cs typeface="Arial" pitchFamily="34" charset="0"/>
              </a:rPr>
              <a:t>Height Difference</a:t>
            </a:r>
          </a:p>
        </p:txBody>
      </p:sp>
      <p:cxnSp>
        <p:nvCxnSpPr>
          <p:cNvPr id="10" name="직선 연결선 9"/>
          <p:cNvCxnSpPr/>
          <p:nvPr/>
        </p:nvCxnSpPr>
        <p:spPr bwMode="auto">
          <a:xfrm flipH="1">
            <a:off x="246063" y="3398838"/>
            <a:ext cx="8145462" cy="0"/>
          </a:xfrm>
          <a:prstGeom prst="line">
            <a:avLst/>
          </a:prstGeom>
          <a:noFill/>
          <a:ln w="38100" cap="flat" cmpd="sng" algn="ctr">
            <a:solidFill>
              <a:sysClr val="windowText" lastClr="000000"/>
            </a:solidFill>
            <a:prstDash val="solid"/>
          </a:ln>
          <a:effectLst>
            <a:outerShdw blurRad="40000" dist="23000" dir="5400000" rotWithShape="0">
              <a:srgbClr val="000000">
                <a:alpha val="35000"/>
              </a:srgbClr>
            </a:outerShdw>
          </a:effectLst>
        </p:spPr>
      </p:cxnSp>
      <p:cxnSp>
        <p:nvCxnSpPr>
          <p:cNvPr id="81927" name="직선 연결선 177"/>
          <p:cNvCxnSpPr>
            <a:cxnSpLocks noChangeShapeType="1"/>
          </p:cNvCxnSpPr>
          <p:nvPr/>
        </p:nvCxnSpPr>
        <p:spPr bwMode="auto">
          <a:xfrm flipH="1" flipV="1">
            <a:off x="695325" y="1346200"/>
            <a:ext cx="1304925" cy="2028825"/>
          </a:xfrm>
          <a:prstGeom prst="line">
            <a:avLst/>
          </a:prstGeom>
          <a:noFill/>
          <a:ln w="25400" algn="ctr">
            <a:solidFill>
              <a:srgbClr val="7D60A0"/>
            </a:solidFill>
            <a:round/>
            <a:headEnd/>
            <a:tailEnd/>
          </a:ln>
          <a:extLst>
            <a:ext uri="{909E8E84-426E-40DD-AFC4-6F175D3DCCD1}">
              <a14:hiddenFill xmlns:a14="http://schemas.microsoft.com/office/drawing/2010/main">
                <a:noFill/>
              </a14:hiddenFill>
            </a:ext>
          </a:extLst>
        </p:spPr>
      </p:cxnSp>
      <p:cxnSp>
        <p:nvCxnSpPr>
          <p:cNvPr id="81928" name="직선 연결선 178"/>
          <p:cNvCxnSpPr>
            <a:cxnSpLocks noChangeShapeType="1"/>
          </p:cNvCxnSpPr>
          <p:nvPr/>
        </p:nvCxnSpPr>
        <p:spPr bwMode="auto">
          <a:xfrm flipH="1">
            <a:off x="1460500" y="3416300"/>
            <a:ext cx="2271713" cy="2293938"/>
          </a:xfrm>
          <a:prstGeom prst="line">
            <a:avLst/>
          </a:prstGeom>
          <a:noFill/>
          <a:ln w="25400" algn="ctr">
            <a:solidFill>
              <a:srgbClr val="7D60A0"/>
            </a:solidFill>
            <a:round/>
            <a:headEnd/>
            <a:tailEnd/>
          </a:ln>
          <a:extLst>
            <a:ext uri="{909E8E84-426E-40DD-AFC4-6F175D3DCCD1}">
              <a14:hiddenFill xmlns:a14="http://schemas.microsoft.com/office/drawing/2010/main">
                <a:noFill/>
              </a14:hiddenFill>
            </a:ext>
          </a:extLst>
        </p:spPr>
      </p:cxnSp>
      <p:sp>
        <p:nvSpPr>
          <p:cNvPr id="81929" name="TextBox 14">
            <a:hlinkClick r:id="" action="ppaction://noaction"/>
          </p:cNvPr>
          <p:cNvSpPr txBox="1">
            <a:spLocks noChangeArrowheads="1"/>
          </p:cNvSpPr>
          <p:nvPr/>
        </p:nvSpPr>
        <p:spPr bwMode="auto">
          <a:xfrm>
            <a:off x="273050" y="985838"/>
            <a:ext cx="514885" cy="25237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Worker</a:t>
            </a:r>
          </a:p>
        </p:txBody>
      </p:sp>
      <p:sp>
        <p:nvSpPr>
          <p:cNvPr id="81930" name="TextBox 107">
            <a:hlinkClick r:id="" action="ppaction://noaction"/>
          </p:cNvPr>
          <p:cNvSpPr txBox="1">
            <a:spLocks noChangeArrowheads="1"/>
          </p:cNvSpPr>
          <p:nvPr/>
        </p:nvSpPr>
        <p:spPr bwMode="auto">
          <a:xfrm>
            <a:off x="3224213" y="1006475"/>
            <a:ext cx="678391" cy="25237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Production</a:t>
            </a:r>
          </a:p>
        </p:txBody>
      </p:sp>
      <p:sp>
        <p:nvSpPr>
          <p:cNvPr id="81931" name="TextBox 142">
            <a:hlinkClick r:id="" action="ppaction://noaction"/>
          </p:cNvPr>
          <p:cNvSpPr txBox="1">
            <a:spLocks noChangeArrowheads="1"/>
          </p:cNvSpPr>
          <p:nvPr/>
        </p:nvSpPr>
        <p:spPr bwMode="auto">
          <a:xfrm>
            <a:off x="1014413" y="5626100"/>
            <a:ext cx="545342" cy="25237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Molding</a:t>
            </a:r>
          </a:p>
        </p:txBody>
      </p:sp>
      <p:sp>
        <p:nvSpPr>
          <p:cNvPr id="81932" name="TextBox 148"/>
          <p:cNvSpPr txBox="1">
            <a:spLocks noChangeArrowheads="1"/>
          </p:cNvSpPr>
          <p:nvPr/>
        </p:nvSpPr>
        <p:spPr bwMode="auto">
          <a:xfrm>
            <a:off x="2522538" y="2622550"/>
            <a:ext cx="1045479"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Scratch prevention</a:t>
            </a:r>
          </a:p>
        </p:txBody>
      </p:sp>
      <p:sp>
        <p:nvSpPr>
          <p:cNvPr id="17" name="Line 291"/>
          <p:cNvSpPr>
            <a:spLocks noChangeShapeType="1"/>
          </p:cNvSpPr>
          <p:nvPr/>
        </p:nvSpPr>
        <p:spPr bwMode="auto">
          <a:xfrm flipH="1" flipV="1">
            <a:off x="3608388" y="2424113"/>
            <a:ext cx="239712" cy="374650"/>
          </a:xfrm>
          <a:prstGeom prst="line">
            <a:avLst/>
          </a:prstGeom>
          <a:noFill/>
          <a:ln w="12700">
            <a:solidFill>
              <a:sysClr val="windowText" lastClr="000000"/>
            </a:solidFill>
            <a:round/>
            <a:headEnd/>
            <a:tailEnd/>
          </a:ln>
        </p:spPr>
        <p:txBody>
          <a:bodyPr>
            <a:spAutoFit/>
          </a:bodyPr>
          <a:lstStyle/>
          <a:p>
            <a:pPr fontAlgn="auto" latinLnBrk="0">
              <a:spcBef>
                <a:spcPts val="0"/>
              </a:spcBef>
              <a:spcAft>
                <a:spcPts val="0"/>
              </a:spcAft>
              <a:defRPr/>
            </a:pPr>
            <a:endParaRPr lang="ko-KR" altLang="en-US" sz="800" kern="0" dirty="0">
              <a:solidFill>
                <a:prstClr val="black"/>
              </a:solidFill>
              <a:latin typeface="Arial" pitchFamily="34" charset="0"/>
              <a:ea typeface="돋움" pitchFamily="50" charset="-127"/>
              <a:cs typeface="Arial" pitchFamily="34" charset="0"/>
            </a:endParaRPr>
          </a:p>
        </p:txBody>
      </p:sp>
      <p:sp>
        <p:nvSpPr>
          <p:cNvPr id="81934" name="TextBox 21"/>
          <p:cNvSpPr txBox="1">
            <a:spLocks noChangeArrowheads="1"/>
          </p:cNvSpPr>
          <p:nvPr/>
        </p:nvSpPr>
        <p:spPr bwMode="auto">
          <a:xfrm>
            <a:off x="3297238" y="2146300"/>
            <a:ext cx="717550"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Protective film</a:t>
            </a:r>
            <a:endParaRPr lang="ko-KR" altLang="en-US" sz="800" dirty="0">
              <a:solidFill>
                <a:srgbClr val="000000"/>
              </a:solidFill>
              <a:latin typeface="Arial" pitchFamily="34" charset="0"/>
              <a:ea typeface="돋움체" pitchFamily="49" charset="-127"/>
              <a:cs typeface="Arial" pitchFamily="34" charset="0"/>
            </a:endParaRPr>
          </a:p>
        </p:txBody>
      </p:sp>
      <p:sp>
        <p:nvSpPr>
          <p:cNvPr id="81935" name="TextBox 21">
            <a:hlinkClick r:id="" action="ppaction://noaction"/>
          </p:cNvPr>
          <p:cNvSpPr txBox="1">
            <a:spLocks noChangeArrowheads="1"/>
          </p:cNvSpPr>
          <p:nvPr/>
        </p:nvSpPr>
        <p:spPr bwMode="auto">
          <a:xfrm>
            <a:off x="3719513" y="2944813"/>
            <a:ext cx="655949"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Inspection</a:t>
            </a:r>
            <a:endParaRPr lang="ko-KR" altLang="en-US" sz="800" dirty="0">
              <a:solidFill>
                <a:srgbClr val="000000"/>
              </a:solidFill>
              <a:latin typeface="Arial" pitchFamily="34" charset="0"/>
              <a:ea typeface="돋움체" pitchFamily="49" charset="-127"/>
              <a:cs typeface="Arial" pitchFamily="34" charset="0"/>
            </a:endParaRPr>
          </a:p>
        </p:txBody>
      </p:sp>
      <p:cxnSp>
        <p:nvCxnSpPr>
          <p:cNvPr id="81936" name="직선 연결선 183"/>
          <p:cNvCxnSpPr>
            <a:cxnSpLocks noChangeShapeType="1"/>
          </p:cNvCxnSpPr>
          <p:nvPr/>
        </p:nvCxnSpPr>
        <p:spPr bwMode="auto">
          <a:xfrm rot="10800000" flipV="1">
            <a:off x="3981450" y="2813050"/>
            <a:ext cx="250825" cy="230188"/>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1937" name="직선 연결선 114"/>
          <p:cNvCxnSpPr>
            <a:cxnSpLocks noChangeShapeType="1"/>
          </p:cNvCxnSpPr>
          <p:nvPr/>
        </p:nvCxnSpPr>
        <p:spPr bwMode="auto">
          <a:xfrm>
            <a:off x="3657600" y="2806700"/>
            <a:ext cx="762000" cy="0"/>
          </a:xfrm>
          <a:prstGeom prst="line">
            <a:avLst/>
          </a:prstGeom>
          <a:noFill/>
          <a:ln w="15875" algn="ctr">
            <a:solidFill>
              <a:srgbClr val="7D60A0"/>
            </a:solidFill>
            <a:round/>
            <a:headEnd/>
            <a:tailEnd/>
          </a:ln>
          <a:extLst>
            <a:ext uri="{909E8E84-426E-40DD-AFC4-6F175D3DCCD1}">
              <a14:hiddenFill xmlns:a14="http://schemas.microsoft.com/office/drawing/2010/main">
                <a:noFill/>
              </a14:hiddenFill>
            </a:ext>
          </a:extLst>
        </p:spPr>
      </p:cxnSp>
      <p:sp>
        <p:nvSpPr>
          <p:cNvPr id="22" name="Line 197"/>
          <p:cNvSpPr>
            <a:spLocks noChangeShapeType="1"/>
          </p:cNvSpPr>
          <p:nvPr/>
        </p:nvSpPr>
        <p:spPr bwMode="auto">
          <a:xfrm>
            <a:off x="4010025" y="2097088"/>
            <a:ext cx="896938" cy="3175"/>
          </a:xfrm>
          <a:prstGeom prst="line">
            <a:avLst/>
          </a:prstGeom>
          <a:noFill/>
          <a:ln w="15875">
            <a:solidFill>
              <a:sysClr val="windowText" lastClr="000000"/>
            </a:solidFill>
            <a:round/>
            <a:headEnd/>
            <a:tailEnd/>
          </a:ln>
        </p:spPr>
        <p:txBody>
          <a:bodyPr>
            <a:spAutoFit/>
          </a:bodyPr>
          <a:lstStyle/>
          <a:p>
            <a:pPr fontAlgn="auto" latinLnBrk="0">
              <a:spcBef>
                <a:spcPts val="0"/>
              </a:spcBef>
              <a:spcAft>
                <a:spcPts val="0"/>
              </a:spcAft>
              <a:defRPr/>
            </a:pPr>
            <a:endParaRPr lang="ko-KR" altLang="en-US" sz="800" kern="0" dirty="0">
              <a:solidFill>
                <a:prstClr val="black"/>
              </a:solidFill>
              <a:latin typeface="Arial" pitchFamily="34" charset="0"/>
              <a:ea typeface="돋움" pitchFamily="50" charset="-127"/>
              <a:cs typeface="Arial" pitchFamily="34" charset="0"/>
            </a:endParaRPr>
          </a:p>
        </p:txBody>
      </p:sp>
      <p:sp>
        <p:nvSpPr>
          <p:cNvPr id="81939" name="TextBox 21"/>
          <p:cNvSpPr txBox="1">
            <a:spLocks noChangeArrowheads="1"/>
          </p:cNvSpPr>
          <p:nvPr/>
        </p:nvSpPr>
        <p:spPr bwMode="auto">
          <a:xfrm>
            <a:off x="4875213" y="1952625"/>
            <a:ext cx="582612" cy="227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r>
              <a:rPr lang="en-US" altLang="ko-KR" sz="800" dirty="0">
                <a:solidFill>
                  <a:srgbClr val="000000"/>
                </a:solidFill>
                <a:latin typeface="Arial" pitchFamily="34" charset="0"/>
                <a:ea typeface="돋움체" pitchFamily="49" charset="-127"/>
                <a:cs typeface="Arial" pitchFamily="34" charset="0"/>
              </a:rPr>
              <a:t>Drying</a:t>
            </a:r>
          </a:p>
        </p:txBody>
      </p:sp>
      <p:cxnSp>
        <p:nvCxnSpPr>
          <p:cNvPr id="81940" name="직선 연결선 219"/>
          <p:cNvCxnSpPr>
            <a:cxnSpLocks noChangeShapeType="1"/>
            <a:endCxn id="81941" idx="1"/>
          </p:cNvCxnSpPr>
          <p:nvPr/>
        </p:nvCxnSpPr>
        <p:spPr bwMode="auto">
          <a:xfrm flipV="1">
            <a:off x="2649538" y="4496577"/>
            <a:ext cx="4243387" cy="59548"/>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1941" name="TextBox 220"/>
          <p:cNvSpPr txBox="1">
            <a:spLocks noChangeArrowheads="1"/>
          </p:cNvSpPr>
          <p:nvPr/>
        </p:nvSpPr>
        <p:spPr bwMode="auto">
          <a:xfrm>
            <a:off x="6892925" y="4370388"/>
            <a:ext cx="98777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Injection Machine</a:t>
            </a:r>
          </a:p>
        </p:txBody>
      </p:sp>
      <p:cxnSp>
        <p:nvCxnSpPr>
          <p:cNvPr id="81942" name="직선 연결선 222"/>
          <p:cNvCxnSpPr>
            <a:cxnSpLocks noChangeShapeType="1"/>
          </p:cNvCxnSpPr>
          <p:nvPr/>
        </p:nvCxnSpPr>
        <p:spPr bwMode="auto">
          <a:xfrm flipH="1">
            <a:off x="2828925" y="1798638"/>
            <a:ext cx="946150" cy="0"/>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1943" name="TextBox 148"/>
          <p:cNvSpPr txBox="1">
            <a:spLocks noChangeArrowheads="1"/>
          </p:cNvSpPr>
          <p:nvPr/>
        </p:nvSpPr>
        <p:spPr bwMode="auto">
          <a:xfrm>
            <a:off x="2289175" y="1582738"/>
            <a:ext cx="567784"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Transfer</a:t>
            </a:r>
          </a:p>
        </p:txBody>
      </p:sp>
      <p:cxnSp>
        <p:nvCxnSpPr>
          <p:cNvPr id="81944" name="직선 연결선 225"/>
          <p:cNvCxnSpPr>
            <a:cxnSpLocks noChangeShapeType="1"/>
          </p:cNvCxnSpPr>
          <p:nvPr/>
        </p:nvCxnSpPr>
        <p:spPr bwMode="auto">
          <a:xfrm rot="16200000" flipV="1">
            <a:off x="3086895" y="1618456"/>
            <a:ext cx="214312" cy="1428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45" name="TextBox 148"/>
          <p:cNvSpPr txBox="1">
            <a:spLocks noChangeArrowheads="1"/>
          </p:cNvSpPr>
          <p:nvPr/>
        </p:nvSpPr>
        <p:spPr bwMode="auto">
          <a:xfrm>
            <a:off x="2865438" y="1330325"/>
            <a:ext cx="667170"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Packaging</a:t>
            </a:r>
          </a:p>
        </p:txBody>
      </p:sp>
      <p:cxnSp>
        <p:nvCxnSpPr>
          <p:cNvPr id="81946" name="직선 연결선 228"/>
          <p:cNvCxnSpPr>
            <a:cxnSpLocks noChangeShapeType="1"/>
          </p:cNvCxnSpPr>
          <p:nvPr/>
        </p:nvCxnSpPr>
        <p:spPr bwMode="auto">
          <a:xfrm rot="5400000">
            <a:off x="3359150" y="1797050"/>
            <a:ext cx="214313" cy="21431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47" name="TextBox 148"/>
          <p:cNvSpPr txBox="1">
            <a:spLocks noChangeArrowheads="1"/>
          </p:cNvSpPr>
          <p:nvPr/>
        </p:nvSpPr>
        <p:spPr bwMode="auto">
          <a:xfrm>
            <a:off x="3092450" y="1933575"/>
            <a:ext cx="385042"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Tool</a:t>
            </a:r>
          </a:p>
        </p:txBody>
      </p:sp>
      <p:sp>
        <p:nvSpPr>
          <p:cNvPr id="81948" name="TextBox 235"/>
          <p:cNvSpPr txBox="1">
            <a:spLocks noChangeArrowheads="1"/>
          </p:cNvSpPr>
          <p:nvPr/>
        </p:nvSpPr>
        <p:spPr bwMode="auto">
          <a:xfrm>
            <a:off x="4159993" y="5567399"/>
            <a:ext cx="77457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Temperature</a:t>
            </a:r>
          </a:p>
        </p:txBody>
      </p:sp>
      <p:cxnSp>
        <p:nvCxnSpPr>
          <p:cNvPr id="81949" name="직선 연결선 237"/>
          <p:cNvCxnSpPr>
            <a:cxnSpLocks noChangeShapeType="1"/>
          </p:cNvCxnSpPr>
          <p:nvPr/>
        </p:nvCxnSpPr>
        <p:spPr bwMode="auto">
          <a:xfrm flipV="1">
            <a:off x="4506913" y="3941763"/>
            <a:ext cx="596900" cy="6000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50" name="TextBox 238"/>
          <p:cNvSpPr txBox="1">
            <a:spLocks noChangeArrowheads="1"/>
          </p:cNvSpPr>
          <p:nvPr/>
        </p:nvSpPr>
        <p:spPr bwMode="auto">
          <a:xfrm>
            <a:off x="4994275" y="3705225"/>
            <a:ext cx="412292"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Time</a:t>
            </a:r>
          </a:p>
        </p:txBody>
      </p:sp>
      <p:cxnSp>
        <p:nvCxnSpPr>
          <p:cNvPr id="81951" name="직선 연결선 243"/>
          <p:cNvCxnSpPr>
            <a:cxnSpLocks noChangeShapeType="1"/>
          </p:cNvCxnSpPr>
          <p:nvPr/>
        </p:nvCxnSpPr>
        <p:spPr bwMode="auto">
          <a:xfrm rot="10800000">
            <a:off x="1109663" y="4941888"/>
            <a:ext cx="1071562" cy="1587"/>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1952" name="TextBox 244"/>
          <p:cNvSpPr txBox="1">
            <a:spLocks noChangeArrowheads="1"/>
          </p:cNvSpPr>
          <p:nvPr/>
        </p:nvSpPr>
        <p:spPr bwMode="auto">
          <a:xfrm>
            <a:off x="625475" y="4791075"/>
            <a:ext cx="5453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dirty="0">
                <a:solidFill>
                  <a:srgbClr val="000000"/>
                </a:solidFill>
                <a:latin typeface="Arial" pitchFamily="34" charset="0"/>
                <a:ea typeface="돋움체" pitchFamily="49" charset="-127"/>
                <a:cs typeface="Arial" pitchFamily="34" charset="0"/>
              </a:rPr>
              <a:t>Molding</a:t>
            </a:r>
            <a:endParaRPr lang="ko-KR" altLang="en-US" sz="800" dirty="0">
              <a:solidFill>
                <a:srgbClr val="000000"/>
              </a:solidFill>
              <a:latin typeface="Arial" pitchFamily="34" charset="0"/>
              <a:ea typeface="돋움체" pitchFamily="49" charset="-127"/>
              <a:cs typeface="Arial" pitchFamily="34" charset="0"/>
            </a:endParaRPr>
          </a:p>
        </p:txBody>
      </p:sp>
      <p:cxnSp>
        <p:nvCxnSpPr>
          <p:cNvPr id="81953" name="직선 연결선 246"/>
          <p:cNvCxnSpPr>
            <a:cxnSpLocks noChangeShapeType="1"/>
          </p:cNvCxnSpPr>
          <p:nvPr/>
        </p:nvCxnSpPr>
        <p:spPr bwMode="auto">
          <a:xfrm rot="10800000" flipV="1">
            <a:off x="1735138" y="5419725"/>
            <a:ext cx="947737" cy="1588"/>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1954" name="TextBox 249"/>
          <p:cNvSpPr txBox="1">
            <a:spLocks noChangeArrowheads="1"/>
          </p:cNvSpPr>
          <p:nvPr/>
        </p:nvSpPr>
        <p:spPr bwMode="auto">
          <a:xfrm>
            <a:off x="2584450" y="5283200"/>
            <a:ext cx="4347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dirty="0">
                <a:solidFill>
                  <a:srgbClr val="000000"/>
                </a:solidFill>
                <a:latin typeface="Arial" pitchFamily="34" charset="0"/>
                <a:ea typeface="돋움체" pitchFamily="49" charset="-127"/>
                <a:cs typeface="Arial" pitchFamily="34" charset="0"/>
              </a:rPr>
              <a:t>Dryer</a:t>
            </a:r>
            <a:endParaRPr lang="ko-KR" altLang="en-US" sz="800" dirty="0">
              <a:solidFill>
                <a:srgbClr val="000000"/>
              </a:solidFill>
              <a:latin typeface="Arial" pitchFamily="34" charset="0"/>
              <a:ea typeface="돋움체" pitchFamily="49" charset="-127"/>
              <a:cs typeface="Arial" pitchFamily="34" charset="0"/>
            </a:endParaRPr>
          </a:p>
        </p:txBody>
      </p:sp>
      <p:sp>
        <p:nvSpPr>
          <p:cNvPr id="81955" name="TextBox 250"/>
          <p:cNvSpPr txBox="1">
            <a:spLocks noChangeArrowheads="1"/>
          </p:cNvSpPr>
          <p:nvPr/>
        </p:nvSpPr>
        <p:spPr bwMode="auto">
          <a:xfrm>
            <a:off x="1735138" y="5564188"/>
            <a:ext cx="412292"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Time</a:t>
            </a:r>
          </a:p>
        </p:txBody>
      </p:sp>
      <p:sp>
        <p:nvSpPr>
          <p:cNvPr id="81956" name="TextBox 251"/>
          <p:cNvSpPr txBox="1">
            <a:spLocks noChangeArrowheads="1"/>
          </p:cNvSpPr>
          <p:nvPr/>
        </p:nvSpPr>
        <p:spPr bwMode="auto">
          <a:xfrm>
            <a:off x="2057400" y="5016571"/>
            <a:ext cx="77457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Temperature</a:t>
            </a:r>
          </a:p>
        </p:txBody>
      </p:sp>
      <p:cxnSp>
        <p:nvCxnSpPr>
          <p:cNvPr id="81957" name="직선 연결선 252"/>
          <p:cNvCxnSpPr>
            <a:cxnSpLocks noChangeShapeType="1"/>
          </p:cNvCxnSpPr>
          <p:nvPr/>
        </p:nvCxnSpPr>
        <p:spPr bwMode="auto">
          <a:xfrm rot="16200000" flipV="1">
            <a:off x="1778000" y="5448300"/>
            <a:ext cx="168275" cy="11112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1958" name="직선 연결선 254"/>
          <p:cNvCxnSpPr>
            <a:cxnSpLocks noChangeShapeType="1"/>
          </p:cNvCxnSpPr>
          <p:nvPr/>
        </p:nvCxnSpPr>
        <p:spPr bwMode="auto">
          <a:xfrm rot="10800000" flipV="1">
            <a:off x="2022475" y="5203825"/>
            <a:ext cx="214313" cy="2063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1959" name="직선 연결선 257"/>
          <p:cNvCxnSpPr>
            <a:cxnSpLocks noChangeShapeType="1"/>
          </p:cNvCxnSpPr>
          <p:nvPr/>
        </p:nvCxnSpPr>
        <p:spPr bwMode="auto">
          <a:xfrm rot="16200000" flipV="1">
            <a:off x="2202656" y="5455444"/>
            <a:ext cx="214313" cy="1428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60" name="TextBox 258"/>
          <p:cNvSpPr txBox="1">
            <a:spLocks noChangeArrowheads="1"/>
          </p:cNvSpPr>
          <p:nvPr/>
        </p:nvSpPr>
        <p:spPr bwMode="auto">
          <a:xfrm>
            <a:off x="2349715" y="5547572"/>
            <a:ext cx="583814"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Humidity</a:t>
            </a:r>
          </a:p>
        </p:txBody>
      </p:sp>
      <p:cxnSp>
        <p:nvCxnSpPr>
          <p:cNvPr id="81961" name="직선 연결선 260"/>
          <p:cNvCxnSpPr>
            <a:cxnSpLocks noChangeShapeType="1"/>
          </p:cNvCxnSpPr>
          <p:nvPr/>
        </p:nvCxnSpPr>
        <p:spPr bwMode="auto">
          <a:xfrm rot="16200000" flipV="1">
            <a:off x="1816894" y="4763294"/>
            <a:ext cx="214313" cy="1428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62" name="TextBox 261"/>
          <p:cNvSpPr txBox="1">
            <a:spLocks noChangeArrowheads="1"/>
          </p:cNvSpPr>
          <p:nvPr/>
        </p:nvSpPr>
        <p:spPr bwMode="auto">
          <a:xfrm>
            <a:off x="1566863" y="4441825"/>
            <a:ext cx="55015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Material</a:t>
            </a:r>
          </a:p>
        </p:txBody>
      </p:sp>
      <p:cxnSp>
        <p:nvCxnSpPr>
          <p:cNvPr id="81963" name="직선 연결선 266"/>
          <p:cNvCxnSpPr>
            <a:cxnSpLocks noChangeShapeType="1"/>
          </p:cNvCxnSpPr>
          <p:nvPr/>
        </p:nvCxnSpPr>
        <p:spPr bwMode="auto">
          <a:xfrm rot="16200000" flipV="1">
            <a:off x="1231106" y="4763294"/>
            <a:ext cx="214313" cy="1428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64" name="TextBox 267"/>
          <p:cNvSpPr txBox="1">
            <a:spLocks noChangeArrowheads="1"/>
          </p:cNvSpPr>
          <p:nvPr/>
        </p:nvSpPr>
        <p:spPr bwMode="auto">
          <a:xfrm>
            <a:off x="828156" y="4494020"/>
            <a:ext cx="731290"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Feed speed</a:t>
            </a:r>
          </a:p>
        </p:txBody>
      </p:sp>
      <p:sp>
        <p:nvSpPr>
          <p:cNvPr id="81965" name="TextBox 270"/>
          <p:cNvSpPr txBox="1">
            <a:spLocks noChangeArrowheads="1"/>
          </p:cNvSpPr>
          <p:nvPr/>
        </p:nvSpPr>
        <p:spPr bwMode="auto">
          <a:xfrm>
            <a:off x="2835275" y="4649788"/>
            <a:ext cx="58221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 of tons</a:t>
            </a:r>
          </a:p>
        </p:txBody>
      </p:sp>
      <p:cxnSp>
        <p:nvCxnSpPr>
          <p:cNvPr id="81966" name="직선 연결선 295"/>
          <p:cNvCxnSpPr>
            <a:cxnSpLocks noChangeShapeType="1"/>
          </p:cNvCxnSpPr>
          <p:nvPr/>
        </p:nvCxnSpPr>
        <p:spPr bwMode="auto">
          <a:xfrm rot="16200000" flipH="1">
            <a:off x="4548981" y="2134394"/>
            <a:ext cx="252413" cy="17462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67" name="TextBox 296"/>
          <p:cNvSpPr txBox="1">
            <a:spLocks noChangeArrowheads="1"/>
          </p:cNvSpPr>
          <p:nvPr/>
        </p:nvSpPr>
        <p:spPr bwMode="auto">
          <a:xfrm>
            <a:off x="4464050" y="2314575"/>
            <a:ext cx="7040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dirty="0">
                <a:solidFill>
                  <a:srgbClr val="000000"/>
                </a:solidFill>
                <a:latin typeface="Arial" pitchFamily="34" charset="0"/>
                <a:ea typeface="돋움체" pitchFamily="49" charset="-127"/>
                <a:cs typeface="Arial" pitchFamily="34" charset="0"/>
              </a:rPr>
              <a:t>Drying time</a:t>
            </a:r>
            <a:endParaRPr lang="ko-KR" altLang="en-US" sz="800" dirty="0">
              <a:solidFill>
                <a:srgbClr val="000000"/>
              </a:solidFill>
              <a:latin typeface="Arial" pitchFamily="34" charset="0"/>
              <a:ea typeface="돋움체" pitchFamily="49" charset="-127"/>
              <a:cs typeface="Arial" pitchFamily="34" charset="0"/>
            </a:endParaRPr>
          </a:p>
        </p:txBody>
      </p:sp>
      <p:cxnSp>
        <p:nvCxnSpPr>
          <p:cNvPr id="81968" name="직선 연결선 298"/>
          <p:cNvCxnSpPr>
            <a:cxnSpLocks noChangeShapeType="1"/>
          </p:cNvCxnSpPr>
          <p:nvPr/>
        </p:nvCxnSpPr>
        <p:spPr bwMode="auto">
          <a:xfrm flipV="1">
            <a:off x="4194175" y="1843088"/>
            <a:ext cx="277813" cy="25400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69" name="TextBox 299"/>
          <p:cNvSpPr txBox="1">
            <a:spLocks noChangeArrowheads="1"/>
          </p:cNvSpPr>
          <p:nvPr/>
        </p:nvSpPr>
        <p:spPr bwMode="auto">
          <a:xfrm>
            <a:off x="4083050" y="1592263"/>
            <a:ext cx="9284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dirty="0">
                <a:solidFill>
                  <a:srgbClr val="000000"/>
                </a:solidFill>
                <a:latin typeface="Arial" pitchFamily="34" charset="0"/>
                <a:ea typeface="돋움체" pitchFamily="49" charset="-127"/>
                <a:cs typeface="Arial" pitchFamily="34" charset="0"/>
              </a:rPr>
              <a:t>Dry temperature</a:t>
            </a:r>
            <a:endParaRPr lang="ko-KR" altLang="en-US" sz="800" dirty="0">
              <a:solidFill>
                <a:srgbClr val="000000"/>
              </a:solidFill>
              <a:latin typeface="Arial" pitchFamily="34" charset="0"/>
              <a:ea typeface="돋움체" pitchFamily="49" charset="-127"/>
              <a:cs typeface="Arial" pitchFamily="34" charset="0"/>
            </a:endParaRPr>
          </a:p>
        </p:txBody>
      </p:sp>
      <p:sp>
        <p:nvSpPr>
          <p:cNvPr id="81970" name="TextBox 14">
            <a:hlinkClick r:id="" action="ppaction://noaction"/>
          </p:cNvPr>
          <p:cNvSpPr txBox="1">
            <a:spLocks noChangeArrowheads="1"/>
          </p:cNvSpPr>
          <p:nvPr/>
        </p:nvSpPr>
        <p:spPr bwMode="auto">
          <a:xfrm>
            <a:off x="5784850" y="993775"/>
            <a:ext cx="1031051" cy="25237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Work Environment</a:t>
            </a:r>
          </a:p>
        </p:txBody>
      </p:sp>
      <p:cxnSp>
        <p:nvCxnSpPr>
          <p:cNvPr id="81971" name="직선 연결선 302"/>
          <p:cNvCxnSpPr>
            <a:cxnSpLocks noChangeShapeType="1"/>
          </p:cNvCxnSpPr>
          <p:nvPr/>
        </p:nvCxnSpPr>
        <p:spPr bwMode="auto">
          <a:xfrm>
            <a:off x="738188" y="2844800"/>
            <a:ext cx="928687" cy="1588"/>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1972" name="TextBox 148"/>
          <p:cNvSpPr txBox="1">
            <a:spLocks noChangeArrowheads="1"/>
          </p:cNvSpPr>
          <p:nvPr/>
        </p:nvSpPr>
        <p:spPr bwMode="auto">
          <a:xfrm>
            <a:off x="233363" y="2665413"/>
            <a:ext cx="63030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Assembly</a:t>
            </a:r>
          </a:p>
        </p:txBody>
      </p:sp>
      <p:cxnSp>
        <p:nvCxnSpPr>
          <p:cNvPr id="81973" name="직선 연결선 305"/>
          <p:cNvCxnSpPr>
            <a:cxnSpLocks noChangeShapeType="1"/>
          </p:cNvCxnSpPr>
          <p:nvPr/>
        </p:nvCxnSpPr>
        <p:spPr bwMode="auto">
          <a:xfrm rot="16200000" flipV="1">
            <a:off x="945356" y="2601119"/>
            <a:ext cx="295275" cy="204788"/>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74" name="TextBox 148"/>
          <p:cNvSpPr txBox="1">
            <a:spLocks noChangeArrowheads="1"/>
          </p:cNvSpPr>
          <p:nvPr/>
        </p:nvSpPr>
        <p:spPr bwMode="auto">
          <a:xfrm>
            <a:off x="577850" y="2297113"/>
            <a:ext cx="797013"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Work rotation</a:t>
            </a:r>
          </a:p>
        </p:txBody>
      </p:sp>
      <p:cxnSp>
        <p:nvCxnSpPr>
          <p:cNvPr id="81975" name="직선 연결선 308"/>
          <p:cNvCxnSpPr>
            <a:cxnSpLocks noChangeShapeType="1"/>
          </p:cNvCxnSpPr>
          <p:nvPr/>
        </p:nvCxnSpPr>
        <p:spPr bwMode="auto">
          <a:xfrm rot="5400000">
            <a:off x="1226344" y="2897982"/>
            <a:ext cx="263525" cy="185737"/>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76" name="TextBox 148"/>
          <p:cNvSpPr txBox="1">
            <a:spLocks noChangeArrowheads="1"/>
          </p:cNvSpPr>
          <p:nvPr/>
        </p:nvSpPr>
        <p:spPr bwMode="auto">
          <a:xfrm>
            <a:off x="992188" y="3059113"/>
            <a:ext cx="700833"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Experience</a:t>
            </a:r>
          </a:p>
        </p:txBody>
      </p:sp>
      <p:cxnSp>
        <p:nvCxnSpPr>
          <p:cNvPr id="81977" name="직선 연결선 311"/>
          <p:cNvCxnSpPr>
            <a:cxnSpLocks noChangeShapeType="1"/>
          </p:cNvCxnSpPr>
          <p:nvPr/>
        </p:nvCxnSpPr>
        <p:spPr bwMode="auto">
          <a:xfrm flipH="1">
            <a:off x="1060450" y="1898650"/>
            <a:ext cx="579438" cy="0"/>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1978" name="TextBox 148"/>
          <p:cNvSpPr txBox="1">
            <a:spLocks noChangeArrowheads="1"/>
          </p:cNvSpPr>
          <p:nvPr/>
        </p:nvSpPr>
        <p:spPr bwMode="auto">
          <a:xfrm>
            <a:off x="1639888" y="1772816"/>
            <a:ext cx="56938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Injection</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molding</a:t>
            </a:r>
          </a:p>
        </p:txBody>
      </p:sp>
      <p:cxnSp>
        <p:nvCxnSpPr>
          <p:cNvPr id="81979" name="직선 연결선 229"/>
          <p:cNvCxnSpPr>
            <a:cxnSpLocks noChangeShapeType="1"/>
          </p:cNvCxnSpPr>
          <p:nvPr/>
        </p:nvCxnSpPr>
        <p:spPr bwMode="auto">
          <a:xfrm flipH="1" flipV="1">
            <a:off x="6499225" y="1357313"/>
            <a:ext cx="1304925" cy="2028825"/>
          </a:xfrm>
          <a:prstGeom prst="line">
            <a:avLst/>
          </a:prstGeom>
          <a:noFill/>
          <a:ln w="25400" algn="ctr">
            <a:solidFill>
              <a:srgbClr val="7D60A0"/>
            </a:solidFill>
            <a:round/>
            <a:headEnd/>
            <a:tailEnd/>
          </a:ln>
          <a:extLst>
            <a:ext uri="{909E8E84-426E-40DD-AFC4-6F175D3DCCD1}">
              <a14:hiddenFill xmlns:a14="http://schemas.microsoft.com/office/drawing/2010/main">
                <a:noFill/>
              </a14:hiddenFill>
            </a:ext>
          </a:extLst>
        </p:spPr>
      </p:cxnSp>
      <p:cxnSp>
        <p:nvCxnSpPr>
          <p:cNvPr id="81980" name="직선 연결선 315"/>
          <p:cNvCxnSpPr>
            <a:cxnSpLocks noChangeShapeType="1"/>
          </p:cNvCxnSpPr>
          <p:nvPr/>
        </p:nvCxnSpPr>
        <p:spPr bwMode="auto">
          <a:xfrm>
            <a:off x="6856413" y="1916113"/>
            <a:ext cx="785812" cy="1587"/>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1981" name="TextBox 148"/>
          <p:cNvSpPr txBox="1">
            <a:spLocks noChangeArrowheads="1"/>
          </p:cNvSpPr>
          <p:nvPr/>
        </p:nvSpPr>
        <p:spPr bwMode="auto">
          <a:xfrm>
            <a:off x="7591425" y="1743075"/>
            <a:ext cx="1165704"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Injection environment</a:t>
            </a:r>
          </a:p>
        </p:txBody>
      </p:sp>
      <p:cxnSp>
        <p:nvCxnSpPr>
          <p:cNvPr id="81982" name="직선 연결선 319"/>
          <p:cNvCxnSpPr>
            <a:cxnSpLocks noChangeShapeType="1"/>
          </p:cNvCxnSpPr>
          <p:nvPr/>
        </p:nvCxnSpPr>
        <p:spPr bwMode="auto">
          <a:xfrm rot="16200000" flipH="1">
            <a:off x="7195344" y="1951832"/>
            <a:ext cx="285750" cy="214312"/>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83" name="TextBox 148"/>
          <p:cNvSpPr txBox="1">
            <a:spLocks noChangeArrowheads="1"/>
          </p:cNvSpPr>
          <p:nvPr/>
        </p:nvSpPr>
        <p:spPr bwMode="auto">
          <a:xfrm>
            <a:off x="7223125" y="2130425"/>
            <a:ext cx="77457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Temperature</a:t>
            </a:r>
          </a:p>
        </p:txBody>
      </p:sp>
      <p:cxnSp>
        <p:nvCxnSpPr>
          <p:cNvPr id="81984" name="직선 연결선 322"/>
          <p:cNvCxnSpPr>
            <a:cxnSpLocks noChangeShapeType="1"/>
          </p:cNvCxnSpPr>
          <p:nvPr/>
        </p:nvCxnSpPr>
        <p:spPr bwMode="auto">
          <a:xfrm rot="5400000" flipH="1" flipV="1">
            <a:off x="6949282" y="1666081"/>
            <a:ext cx="285750" cy="21431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85" name="TextBox 148"/>
          <p:cNvSpPr txBox="1">
            <a:spLocks noChangeArrowheads="1"/>
          </p:cNvSpPr>
          <p:nvPr/>
        </p:nvSpPr>
        <p:spPr bwMode="auto">
          <a:xfrm>
            <a:off x="6970713" y="1373188"/>
            <a:ext cx="583814"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Humidity</a:t>
            </a:r>
          </a:p>
        </p:txBody>
      </p:sp>
      <p:cxnSp>
        <p:nvCxnSpPr>
          <p:cNvPr id="81986" name="직선 연결선 145"/>
          <p:cNvCxnSpPr>
            <a:cxnSpLocks noChangeShapeType="1"/>
          </p:cNvCxnSpPr>
          <p:nvPr/>
        </p:nvCxnSpPr>
        <p:spPr bwMode="auto">
          <a:xfrm flipH="1" flipV="1">
            <a:off x="3590925" y="4565650"/>
            <a:ext cx="785813" cy="100965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1987" name="직선 연결선 145"/>
          <p:cNvCxnSpPr>
            <a:cxnSpLocks noChangeShapeType="1"/>
          </p:cNvCxnSpPr>
          <p:nvPr/>
        </p:nvCxnSpPr>
        <p:spPr bwMode="auto">
          <a:xfrm flipH="1" flipV="1">
            <a:off x="2965450" y="4565650"/>
            <a:ext cx="122238" cy="155575"/>
          </a:xfrm>
          <a:prstGeom prst="line">
            <a:avLst/>
          </a:prstGeom>
          <a:noFill/>
          <a:ln w="12700" algn="ctr">
            <a:solidFill>
              <a:srgbClr val="7D60A0"/>
            </a:solidFill>
            <a:round/>
            <a:headEnd/>
            <a:tailEnd/>
          </a:ln>
          <a:extLst>
            <a:ext uri="{909E8E84-426E-40DD-AFC4-6F175D3DCCD1}">
              <a14:hiddenFill xmlns:a14="http://schemas.microsoft.com/office/drawing/2010/main">
                <a:noFill/>
              </a14:hiddenFill>
            </a:ext>
          </a:extLst>
        </p:spPr>
      </p:cxnSp>
      <p:cxnSp>
        <p:nvCxnSpPr>
          <p:cNvPr id="81988" name="직선 연결선 237"/>
          <p:cNvCxnSpPr>
            <a:cxnSpLocks noChangeShapeType="1"/>
          </p:cNvCxnSpPr>
          <p:nvPr/>
        </p:nvCxnSpPr>
        <p:spPr bwMode="auto">
          <a:xfrm flipV="1">
            <a:off x="3386138" y="4289425"/>
            <a:ext cx="234950" cy="255588"/>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89" name="TextBox 238"/>
          <p:cNvSpPr txBox="1">
            <a:spLocks noChangeArrowheads="1"/>
          </p:cNvSpPr>
          <p:nvPr/>
        </p:nvSpPr>
        <p:spPr bwMode="auto">
          <a:xfrm>
            <a:off x="3143250" y="4000500"/>
            <a:ext cx="1173719"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Mold closing</a:t>
            </a:r>
            <a:r>
              <a:rPr lang="ko-KR" altLang="en-US" sz="800" dirty="0">
                <a:solidFill>
                  <a:srgbClr val="000000"/>
                </a:solidFill>
                <a:latin typeface="Arial" pitchFamily="34" charset="0"/>
                <a:ea typeface="돋움체" pitchFamily="49" charset="-127"/>
                <a:cs typeface="Arial" pitchFamily="34" charset="0"/>
              </a:rPr>
              <a:t> </a:t>
            </a:r>
            <a:r>
              <a:rPr lang="en-US" altLang="ko-KR" sz="800" dirty="0">
                <a:solidFill>
                  <a:srgbClr val="000000"/>
                </a:solidFill>
                <a:latin typeface="Arial" pitchFamily="34" charset="0"/>
                <a:ea typeface="돋움체" pitchFamily="49" charset="-127"/>
                <a:cs typeface="Arial" pitchFamily="34" charset="0"/>
              </a:rPr>
              <a:t>(weight)</a:t>
            </a:r>
          </a:p>
        </p:txBody>
      </p:sp>
      <p:cxnSp>
        <p:nvCxnSpPr>
          <p:cNvPr id="81990" name="직선 연결선 174"/>
          <p:cNvCxnSpPr>
            <a:cxnSpLocks noChangeShapeType="1"/>
          </p:cNvCxnSpPr>
          <p:nvPr/>
        </p:nvCxnSpPr>
        <p:spPr bwMode="auto">
          <a:xfrm rot="10800000">
            <a:off x="4529138" y="4368800"/>
            <a:ext cx="142875" cy="1588"/>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1991" name="TextBox 220"/>
          <p:cNvSpPr txBox="1">
            <a:spLocks noChangeArrowheads="1"/>
          </p:cNvSpPr>
          <p:nvPr/>
        </p:nvSpPr>
        <p:spPr bwMode="auto">
          <a:xfrm>
            <a:off x="4049804" y="4205288"/>
            <a:ext cx="569387"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700"/>
              </a:lnSpc>
            </a:pPr>
            <a:r>
              <a:rPr lang="en-US" altLang="ko-KR" sz="800" dirty="0">
                <a:solidFill>
                  <a:srgbClr val="000000"/>
                </a:solidFill>
                <a:latin typeface="Arial" pitchFamily="34" charset="0"/>
                <a:ea typeface="돋움체" pitchFamily="49" charset="-127"/>
                <a:cs typeface="Arial" pitchFamily="34" charset="0"/>
              </a:rPr>
              <a:t>Injection</a:t>
            </a:r>
          </a:p>
          <a:p>
            <a:pPr eaLnBrk="1" hangingPunct="1">
              <a:lnSpc>
                <a:spcPts val="700"/>
              </a:lnSpc>
            </a:pPr>
            <a:r>
              <a:rPr lang="en-US" altLang="ko-KR" sz="800" dirty="0">
                <a:solidFill>
                  <a:srgbClr val="000000"/>
                </a:solidFill>
                <a:latin typeface="Arial" pitchFamily="34" charset="0"/>
                <a:ea typeface="돋움체" pitchFamily="49" charset="-127"/>
                <a:cs typeface="Arial" pitchFamily="34" charset="0"/>
              </a:rPr>
              <a:t>time</a:t>
            </a:r>
          </a:p>
        </p:txBody>
      </p:sp>
      <p:cxnSp>
        <p:nvCxnSpPr>
          <p:cNvPr id="81992" name="직선 연결선 176"/>
          <p:cNvCxnSpPr>
            <a:cxnSpLocks noChangeShapeType="1"/>
          </p:cNvCxnSpPr>
          <p:nvPr/>
        </p:nvCxnSpPr>
        <p:spPr bwMode="auto">
          <a:xfrm rot="10800000">
            <a:off x="4756150" y="4297363"/>
            <a:ext cx="142875" cy="1587"/>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1993" name="TextBox 220"/>
          <p:cNvSpPr txBox="1">
            <a:spLocks noChangeArrowheads="1"/>
          </p:cNvSpPr>
          <p:nvPr/>
        </p:nvSpPr>
        <p:spPr bwMode="auto">
          <a:xfrm>
            <a:off x="4848225" y="4221088"/>
            <a:ext cx="534121"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700"/>
              </a:lnSpc>
            </a:pPr>
            <a:r>
              <a:rPr lang="en-US" altLang="ko-KR" sz="800" dirty="0">
                <a:solidFill>
                  <a:srgbClr val="000000"/>
                </a:solidFill>
                <a:latin typeface="Arial" pitchFamily="34" charset="0"/>
                <a:ea typeface="돋움체" pitchFamily="49" charset="-127"/>
                <a:cs typeface="Arial" pitchFamily="34" charset="0"/>
              </a:rPr>
              <a:t>Cooling</a:t>
            </a:r>
          </a:p>
          <a:p>
            <a:pPr eaLnBrk="1" hangingPunct="1">
              <a:lnSpc>
                <a:spcPts val="700"/>
              </a:lnSpc>
            </a:pPr>
            <a:r>
              <a:rPr lang="en-US" altLang="ko-KR" sz="800" dirty="0">
                <a:solidFill>
                  <a:srgbClr val="000000"/>
                </a:solidFill>
                <a:latin typeface="Arial" pitchFamily="34" charset="0"/>
                <a:ea typeface="돋움체" pitchFamily="49" charset="-127"/>
                <a:cs typeface="Arial" pitchFamily="34" charset="0"/>
              </a:rPr>
              <a:t>time</a:t>
            </a:r>
          </a:p>
        </p:txBody>
      </p:sp>
      <p:cxnSp>
        <p:nvCxnSpPr>
          <p:cNvPr id="81994" name="직선 연결선 180"/>
          <p:cNvCxnSpPr>
            <a:cxnSpLocks noChangeShapeType="1"/>
          </p:cNvCxnSpPr>
          <p:nvPr/>
        </p:nvCxnSpPr>
        <p:spPr bwMode="auto">
          <a:xfrm rot="10800000">
            <a:off x="3740150" y="4743450"/>
            <a:ext cx="142875" cy="1588"/>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cxnSp>
        <p:nvCxnSpPr>
          <p:cNvPr id="81995" name="직선 연결선 181"/>
          <p:cNvCxnSpPr>
            <a:cxnSpLocks noChangeShapeType="1"/>
          </p:cNvCxnSpPr>
          <p:nvPr/>
        </p:nvCxnSpPr>
        <p:spPr bwMode="auto">
          <a:xfrm rot="10800000">
            <a:off x="3783013" y="5002213"/>
            <a:ext cx="142875" cy="1587"/>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1996" name="TextBox 220"/>
          <p:cNvSpPr txBox="1">
            <a:spLocks noChangeArrowheads="1"/>
          </p:cNvSpPr>
          <p:nvPr/>
        </p:nvSpPr>
        <p:spPr bwMode="auto">
          <a:xfrm>
            <a:off x="2949563" y="4898901"/>
            <a:ext cx="94128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Nozzle front part</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temperature</a:t>
            </a:r>
          </a:p>
        </p:txBody>
      </p:sp>
      <p:sp>
        <p:nvSpPr>
          <p:cNvPr id="81997" name="TextBox 220"/>
          <p:cNvSpPr txBox="1">
            <a:spLocks noChangeArrowheads="1"/>
          </p:cNvSpPr>
          <p:nvPr/>
        </p:nvSpPr>
        <p:spPr bwMode="auto">
          <a:xfrm>
            <a:off x="3878263" y="4576763"/>
            <a:ext cx="798617"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Coolant temp</a:t>
            </a:r>
          </a:p>
        </p:txBody>
      </p:sp>
      <p:cxnSp>
        <p:nvCxnSpPr>
          <p:cNvPr id="81998" name="직선 연결선 322"/>
          <p:cNvCxnSpPr>
            <a:cxnSpLocks noChangeShapeType="1"/>
          </p:cNvCxnSpPr>
          <p:nvPr/>
        </p:nvCxnSpPr>
        <p:spPr bwMode="auto">
          <a:xfrm rot="5400000" flipH="1" flipV="1">
            <a:off x="7406482" y="1666081"/>
            <a:ext cx="285750" cy="21431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1999" name="TextBox 148"/>
          <p:cNvSpPr txBox="1">
            <a:spLocks noChangeArrowheads="1"/>
          </p:cNvSpPr>
          <p:nvPr/>
        </p:nvSpPr>
        <p:spPr bwMode="auto">
          <a:xfrm>
            <a:off x="7427913" y="1373188"/>
            <a:ext cx="671979"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Cleanness</a:t>
            </a:r>
          </a:p>
        </p:txBody>
      </p:sp>
      <p:sp>
        <p:nvSpPr>
          <p:cNvPr id="82000" name="TextBox 148"/>
          <p:cNvSpPr txBox="1">
            <a:spLocks noChangeArrowheads="1"/>
          </p:cNvSpPr>
          <p:nvPr/>
        </p:nvSpPr>
        <p:spPr bwMode="auto">
          <a:xfrm>
            <a:off x="5492750" y="2270125"/>
            <a:ext cx="809837"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Storage room</a:t>
            </a:r>
          </a:p>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environment</a:t>
            </a:r>
          </a:p>
        </p:txBody>
      </p:sp>
      <p:cxnSp>
        <p:nvCxnSpPr>
          <p:cNvPr id="82001" name="직선 연결선 319"/>
          <p:cNvCxnSpPr>
            <a:cxnSpLocks noChangeShapeType="1"/>
          </p:cNvCxnSpPr>
          <p:nvPr/>
        </p:nvCxnSpPr>
        <p:spPr bwMode="auto">
          <a:xfrm rot="16200000" flipH="1">
            <a:off x="6622257" y="2194718"/>
            <a:ext cx="285750" cy="21431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02" name="TextBox 148"/>
          <p:cNvSpPr txBox="1">
            <a:spLocks noChangeArrowheads="1"/>
          </p:cNvSpPr>
          <p:nvPr/>
        </p:nvSpPr>
        <p:spPr bwMode="auto">
          <a:xfrm>
            <a:off x="6403975" y="1898650"/>
            <a:ext cx="77457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Temperature</a:t>
            </a:r>
          </a:p>
        </p:txBody>
      </p:sp>
      <p:cxnSp>
        <p:nvCxnSpPr>
          <p:cNvPr id="82003" name="직선 연결선 322"/>
          <p:cNvCxnSpPr>
            <a:cxnSpLocks noChangeShapeType="1"/>
          </p:cNvCxnSpPr>
          <p:nvPr/>
        </p:nvCxnSpPr>
        <p:spPr bwMode="auto">
          <a:xfrm rot="5400000" flipH="1" flipV="1">
            <a:off x="6822282" y="2499518"/>
            <a:ext cx="285750" cy="21431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04" name="TextBox 148"/>
          <p:cNvSpPr txBox="1">
            <a:spLocks noChangeArrowheads="1"/>
          </p:cNvSpPr>
          <p:nvPr/>
        </p:nvSpPr>
        <p:spPr bwMode="auto">
          <a:xfrm>
            <a:off x="6607175" y="2701925"/>
            <a:ext cx="583814"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Humidity</a:t>
            </a:r>
          </a:p>
        </p:txBody>
      </p:sp>
      <p:cxnSp>
        <p:nvCxnSpPr>
          <p:cNvPr id="82005" name="직선 연결선 315"/>
          <p:cNvCxnSpPr>
            <a:cxnSpLocks noChangeShapeType="1"/>
          </p:cNvCxnSpPr>
          <p:nvPr/>
        </p:nvCxnSpPr>
        <p:spPr bwMode="auto">
          <a:xfrm>
            <a:off x="6399213" y="2459038"/>
            <a:ext cx="785812" cy="1587"/>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2006" name="TextBox 148"/>
          <p:cNvSpPr txBox="1">
            <a:spLocks noChangeArrowheads="1"/>
          </p:cNvSpPr>
          <p:nvPr/>
        </p:nvSpPr>
        <p:spPr bwMode="auto">
          <a:xfrm>
            <a:off x="8139113" y="2579688"/>
            <a:ext cx="1226618"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Assembly environment</a:t>
            </a:r>
          </a:p>
        </p:txBody>
      </p:sp>
      <p:cxnSp>
        <p:nvCxnSpPr>
          <p:cNvPr id="82007" name="직선 연결선 315"/>
          <p:cNvCxnSpPr>
            <a:cxnSpLocks noChangeShapeType="1"/>
          </p:cNvCxnSpPr>
          <p:nvPr/>
        </p:nvCxnSpPr>
        <p:spPr bwMode="auto">
          <a:xfrm>
            <a:off x="7416800" y="2768600"/>
            <a:ext cx="785813" cy="1588"/>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cxnSp>
        <p:nvCxnSpPr>
          <p:cNvPr id="82008" name="직선 연결선 319"/>
          <p:cNvCxnSpPr>
            <a:cxnSpLocks noChangeShapeType="1"/>
          </p:cNvCxnSpPr>
          <p:nvPr/>
        </p:nvCxnSpPr>
        <p:spPr bwMode="auto">
          <a:xfrm rot="16200000" flipH="1">
            <a:off x="7708107" y="2801143"/>
            <a:ext cx="285750" cy="21431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09" name="TextBox 148"/>
          <p:cNvSpPr txBox="1">
            <a:spLocks noChangeArrowheads="1"/>
          </p:cNvSpPr>
          <p:nvPr/>
        </p:nvSpPr>
        <p:spPr bwMode="auto">
          <a:xfrm>
            <a:off x="7685088" y="2979738"/>
            <a:ext cx="691215"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Line length</a:t>
            </a:r>
          </a:p>
        </p:txBody>
      </p:sp>
      <p:cxnSp>
        <p:nvCxnSpPr>
          <p:cNvPr id="82010" name="직선 연결선 322"/>
          <p:cNvCxnSpPr>
            <a:cxnSpLocks noChangeShapeType="1"/>
          </p:cNvCxnSpPr>
          <p:nvPr/>
        </p:nvCxnSpPr>
        <p:spPr bwMode="auto">
          <a:xfrm flipV="1">
            <a:off x="7599363" y="2546350"/>
            <a:ext cx="161925" cy="2190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11" name="TextBox 148"/>
          <p:cNvSpPr txBox="1">
            <a:spLocks noChangeArrowheads="1"/>
          </p:cNvSpPr>
          <p:nvPr/>
        </p:nvSpPr>
        <p:spPr bwMode="auto">
          <a:xfrm>
            <a:off x="7567613" y="2348880"/>
            <a:ext cx="856325"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 of processes</a:t>
            </a:r>
          </a:p>
        </p:txBody>
      </p:sp>
      <p:cxnSp>
        <p:nvCxnSpPr>
          <p:cNvPr id="82012" name="직선 연결선 322"/>
          <p:cNvCxnSpPr>
            <a:cxnSpLocks noChangeShapeType="1"/>
          </p:cNvCxnSpPr>
          <p:nvPr/>
        </p:nvCxnSpPr>
        <p:spPr bwMode="auto">
          <a:xfrm rot="5400000" flipH="1" flipV="1">
            <a:off x="6350000" y="2513013"/>
            <a:ext cx="454025" cy="33972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13" name="TextBox 148"/>
          <p:cNvSpPr txBox="1">
            <a:spLocks noChangeArrowheads="1"/>
          </p:cNvSpPr>
          <p:nvPr/>
        </p:nvSpPr>
        <p:spPr bwMode="auto">
          <a:xfrm>
            <a:off x="6083300" y="2870200"/>
            <a:ext cx="671979"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Cleanness</a:t>
            </a:r>
          </a:p>
        </p:txBody>
      </p:sp>
      <p:cxnSp>
        <p:nvCxnSpPr>
          <p:cNvPr id="82014" name="직선 연결선 308"/>
          <p:cNvCxnSpPr>
            <a:cxnSpLocks noChangeShapeType="1"/>
          </p:cNvCxnSpPr>
          <p:nvPr/>
        </p:nvCxnSpPr>
        <p:spPr bwMode="auto">
          <a:xfrm rot="5400000">
            <a:off x="1118394" y="1670844"/>
            <a:ext cx="263525" cy="185737"/>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15" name="TextBox 148"/>
          <p:cNvSpPr txBox="1">
            <a:spLocks noChangeArrowheads="1"/>
          </p:cNvSpPr>
          <p:nvPr/>
        </p:nvSpPr>
        <p:spPr bwMode="auto">
          <a:xfrm>
            <a:off x="1012825" y="1322388"/>
            <a:ext cx="1144865"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Skill in metal working</a:t>
            </a:r>
          </a:p>
        </p:txBody>
      </p:sp>
      <p:cxnSp>
        <p:nvCxnSpPr>
          <p:cNvPr id="82016" name="직선 연결선 305"/>
          <p:cNvCxnSpPr>
            <a:cxnSpLocks noChangeShapeType="1"/>
          </p:cNvCxnSpPr>
          <p:nvPr/>
        </p:nvCxnSpPr>
        <p:spPr bwMode="auto">
          <a:xfrm flipH="1" flipV="1">
            <a:off x="1384300" y="1905000"/>
            <a:ext cx="112713" cy="16192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17" name="TextBox 148"/>
          <p:cNvSpPr txBox="1">
            <a:spLocks noChangeArrowheads="1"/>
          </p:cNvSpPr>
          <p:nvPr/>
        </p:nvSpPr>
        <p:spPr bwMode="auto">
          <a:xfrm>
            <a:off x="1250950" y="2058566"/>
            <a:ext cx="795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Injection</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molding skills</a:t>
            </a:r>
          </a:p>
        </p:txBody>
      </p:sp>
      <p:cxnSp>
        <p:nvCxnSpPr>
          <p:cNvPr id="82018" name="직선 연결선 145"/>
          <p:cNvCxnSpPr>
            <a:cxnSpLocks noChangeShapeType="1"/>
          </p:cNvCxnSpPr>
          <p:nvPr/>
        </p:nvCxnSpPr>
        <p:spPr bwMode="auto">
          <a:xfrm flipH="1" flipV="1">
            <a:off x="5027613" y="4556125"/>
            <a:ext cx="717550" cy="92075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19" name="TextBox 235"/>
          <p:cNvSpPr txBox="1">
            <a:spLocks noChangeArrowheads="1"/>
          </p:cNvSpPr>
          <p:nvPr/>
        </p:nvSpPr>
        <p:spPr bwMode="auto">
          <a:xfrm>
            <a:off x="5613400" y="5481638"/>
            <a:ext cx="596638"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Pressure</a:t>
            </a:r>
          </a:p>
        </p:txBody>
      </p:sp>
      <p:cxnSp>
        <p:nvCxnSpPr>
          <p:cNvPr id="82020" name="직선 연결선 180"/>
          <p:cNvCxnSpPr>
            <a:cxnSpLocks noChangeShapeType="1"/>
          </p:cNvCxnSpPr>
          <p:nvPr/>
        </p:nvCxnSpPr>
        <p:spPr bwMode="auto">
          <a:xfrm flipH="1" flipV="1">
            <a:off x="5056188" y="4949825"/>
            <a:ext cx="287337" cy="0"/>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2021" name="TextBox 220"/>
          <p:cNvSpPr txBox="1">
            <a:spLocks noChangeArrowheads="1"/>
          </p:cNvSpPr>
          <p:nvPr/>
        </p:nvSpPr>
        <p:spPr bwMode="auto">
          <a:xfrm>
            <a:off x="4313238" y="4792663"/>
            <a:ext cx="99899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Injection pressure</a:t>
            </a:r>
          </a:p>
        </p:txBody>
      </p:sp>
      <p:sp>
        <p:nvSpPr>
          <p:cNvPr id="82022" name="TextBox 220"/>
          <p:cNvSpPr txBox="1">
            <a:spLocks noChangeArrowheads="1"/>
          </p:cNvSpPr>
          <p:nvPr/>
        </p:nvSpPr>
        <p:spPr bwMode="auto">
          <a:xfrm>
            <a:off x="5262563" y="4511675"/>
            <a:ext cx="551754"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Packing</a:t>
            </a:r>
          </a:p>
        </p:txBody>
      </p:sp>
      <p:cxnSp>
        <p:nvCxnSpPr>
          <p:cNvPr id="82023" name="직선 연결선 180"/>
          <p:cNvCxnSpPr>
            <a:cxnSpLocks noChangeShapeType="1"/>
          </p:cNvCxnSpPr>
          <p:nvPr/>
        </p:nvCxnSpPr>
        <p:spPr bwMode="auto">
          <a:xfrm flipH="1">
            <a:off x="5148263" y="4691063"/>
            <a:ext cx="185737" cy="0"/>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cxnSp>
        <p:nvCxnSpPr>
          <p:cNvPr id="82024" name="직선 연결선 180"/>
          <p:cNvCxnSpPr>
            <a:cxnSpLocks noChangeShapeType="1"/>
          </p:cNvCxnSpPr>
          <p:nvPr/>
        </p:nvCxnSpPr>
        <p:spPr bwMode="auto">
          <a:xfrm rot="10800000">
            <a:off x="4083050" y="5172075"/>
            <a:ext cx="142875" cy="0"/>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2025" name="TextBox 220"/>
          <p:cNvSpPr txBox="1">
            <a:spLocks noChangeArrowheads="1"/>
          </p:cNvSpPr>
          <p:nvPr/>
        </p:nvSpPr>
        <p:spPr bwMode="auto">
          <a:xfrm>
            <a:off x="4160295" y="5029237"/>
            <a:ext cx="1130438"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Molding temperature</a:t>
            </a:r>
          </a:p>
        </p:txBody>
      </p:sp>
      <p:cxnSp>
        <p:nvCxnSpPr>
          <p:cNvPr id="82026" name="직선 연결선 174"/>
          <p:cNvCxnSpPr>
            <a:cxnSpLocks noChangeShapeType="1"/>
          </p:cNvCxnSpPr>
          <p:nvPr/>
        </p:nvCxnSpPr>
        <p:spPr bwMode="auto">
          <a:xfrm rot="10800000">
            <a:off x="4818063" y="4089400"/>
            <a:ext cx="142875" cy="1588"/>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2027" name="TextBox 220"/>
          <p:cNvSpPr txBox="1">
            <a:spLocks noChangeArrowheads="1"/>
          </p:cNvSpPr>
          <p:nvPr/>
        </p:nvSpPr>
        <p:spPr bwMode="auto">
          <a:xfrm>
            <a:off x="4338729" y="3925888"/>
            <a:ext cx="614271"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700"/>
              </a:lnSpc>
            </a:pPr>
            <a:r>
              <a:rPr lang="en-US" altLang="ko-KR" sz="800" dirty="0">
                <a:solidFill>
                  <a:srgbClr val="000000"/>
                </a:solidFill>
                <a:latin typeface="Arial" pitchFamily="34" charset="0"/>
                <a:ea typeface="돋움체" pitchFamily="49" charset="-127"/>
                <a:cs typeface="Arial" pitchFamily="34" charset="0"/>
              </a:rPr>
              <a:t>Weighing</a:t>
            </a:r>
          </a:p>
          <a:p>
            <a:pPr eaLnBrk="1" hangingPunct="1">
              <a:lnSpc>
                <a:spcPts val="700"/>
              </a:lnSpc>
            </a:pPr>
            <a:r>
              <a:rPr lang="en-US" altLang="ko-KR" sz="800" dirty="0">
                <a:solidFill>
                  <a:srgbClr val="000000"/>
                </a:solidFill>
                <a:latin typeface="Arial" pitchFamily="34" charset="0"/>
                <a:ea typeface="돋움체" pitchFamily="49" charset="-127"/>
                <a:cs typeface="Arial" pitchFamily="34" charset="0"/>
              </a:rPr>
              <a:t>time</a:t>
            </a:r>
          </a:p>
        </p:txBody>
      </p:sp>
      <p:sp>
        <p:nvSpPr>
          <p:cNvPr id="82028" name="TextBox 264"/>
          <p:cNvSpPr txBox="1">
            <a:spLocks noChangeArrowheads="1"/>
          </p:cNvSpPr>
          <p:nvPr/>
        </p:nvSpPr>
        <p:spPr bwMode="auto">
          <a:xfrm>
            <a:off x="273050" y="3746500"/>
            <a:ext cx="4090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dirty="0">
                <a:solidFill>
                  <a:srgbClr val="000000"/>
                </a:solidFill>
                <a:latin typeface="Arial" pitchFamily="34" charset="0"/>
                <a:ea typeface="돋움체" pitchFamily="49" charset="-127"/>
                <a:cs typeface="Arial" pitchFamily="34" charset="0"/>
              </a:rPr>
              <a:t>Gate</a:t>
            </a:r>
            <a:endParaRPr lang="ko-KR" altLang="en-US" sz="800" dirty="0">
              <a:solidFill>
                <a:srgbClr val="000000"/>
              </a:solidFill>
              <a:latin typeface="Arial" pitchFamily="34" charset="0"/>
              <a:ea typeface="돋움체" pitchFamily="49" charset="-127"/>
              <a:cs typeface="Arial" pitchFamily="34" charset="0"/>
            </a:endParaRPr>
          </a:p>
        </p:txBody>
      </p:sp>
      <p:cxnSp>
        <p:nvCxnSpPr>
          <p:cNvPr id="82029" name="직선 연결선 243"/>
          <p:cNvCxnSpPr>
            <a:cxnSpLocks noChangeShapeType="1"/>
          </p:cNvCxnSpPr>
          <p:nvPr/>
        </p:nvCxnSpPr>
        <p:spPr bwMode="auto">
          <a:xfrm flipH="1" flipV="1">
            <a:off x="777875" y="3914775"/>
            <a:ext cx="2438400" cy="0"/>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cxnSp>
        <p:nvCxnSpPr>
          <p:cNvPr id="82030" name="직선 연결선 260"/>
          <p:cNvCxnSpPr>
            <a:cxnSpLocks noChangeShapeType="1"/>
          </p:cNvCxnSpPr>
          <p:nvPr/>
        </p:nvCxnSpPr>
        <p:spPr bwMode="auto">
          <a:xfrm rot="16200000" flipV="1">
            <a:off x="2850357" y="3726656"/>
            <a:ext cx="214312" cy="1428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31" name="TextBox 264"/>
          <p:cNvSpPr txBox="1">
            <a:spLocks noChangeArrowheads="1"/>
          </p:cNvSpPr>
          <p:nvPr/>
        </p:nvSpPr>
        <p:spPr bwMode="auto">
          <a:xfrm>
            <a:off x="1894030" y="3540900"/>
            <a:ext cx="667170"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Gate Type</a:t>
            </a:r>
          </a:p>
        </p:txBody>
      </p:sp>
      <p:sp>
        <p:nvSpPr>
          <p:cNvPr id="82032" name="TextBox 264"/>
          <p:cNvSpPr txBox="1">
            <a:spLocks noChangeArrowheads="1"/>
          </p:cNvSpPr>
          <p:nvPr/>
        </p:nvSpPr>
        <p:spPr bwMode="auto">
          <a:xfrm>
            <a:off x="2670175" y="3475038"/>
            <a:ext cx="575799"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Location</a:t>
            </a:r>
          </a:p>
        </p:txBody>
      </p:sp>
      <p:sp>
        <p:nvSpPr>
          <p:cNvPr id="82033" name="TextBox 264"/>
          <p:cNvSpPr txBox="1">
            <a:spLocks noChangeArrowheads="1"/>
          </p:cNvSpPr>
          <p:nvPr/>
        </p:nvSpPr>
        <p:spPr bwMode="auto">
          <a:xfrm>
            <a:off x="2238375" y="3990975"/>
            <a:ext cx="66236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 of Gates</a:t>
            </a:r>
          </a:p>
        </p:txBody>
      </p:sp>
      <p:sp>
        <p:nvSpPr>
          <p:cNvPr id="82034" name="TextBox 264"/>
          <p:cNvSpPr txBox="1">
            <a:spLocks noChangeArrowheads="1"/>
          </p:cNvSpPr>
          <p:nvPr/>
        </p:nvSpPr>
        <p:spPr bwMode="auto">
          <a:xfrm>
            <a:off x="1647825" y="4125913"/>
            <a:ext cx="620683"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Gate size</a:t>
            </a:r>
          </a:p>
        </p:txBody>
      </p:sp>
      <p:sp>
        <p:nvSpPr>
          <p:cNvPr id="82035" name="TextBox 264"/>
          <p:cNvSpPr txBox="1">
            <a:spLocks noChangeArrowheads="1"/>
          </p:cNvSpPr>
          <p:nvPr/>
        </p:nvSpPr>
        <p:spPr bwMode="auto">
          <a:xfrm>
            <a:off x="1371531" y="3454628"/>
            <a:ext cx="7072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Surface</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Roughness</a:t>
            </a:r>
          </a:p>
        </p:txBody>
      </p:sp>
      <p:cxnSp>
        <p:nvCxnSpPr>
          <p:cNvPr id="82036" name="직선 연결선 266"/>
          <p:cNvCxnSpPr>
            <a:cxnSpLocks noChangeShapeType="1"/>
          </p:cNvCxnSpPr>
          <p:nvPr/>
        </p:nvCxnSpPr>
        <p:spPr bwMode="auto">
          <a:xfrm rot="16200000" flipV="1">
            <a:off x="1720057" y="3733006"/>
            <a:ext cx="214312" cy="1428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37" name="TextBox 264"/>
          <p:cNvSpPr txBox="1">
            <a:spLocks noChangeArrowheads="1"/>
          </p:cNvSpPr>
          <p:nvPr/>
        </p:nvSpPr>
        <p:spPr bwMode="auto">
          <a:xfrm>
            <a:off x="949325" y="3989388"/>
            <a:ext cx="7745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Hot Runner</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Temperature</a:t>
            </a:r>
          </a:p>
        </p:txBody>
      </p:sp>
      <p:sp>
        <p:nvSpPr>
          <p:cNvPr id="82038" name="TextBox 264"/>
          <p:cNvSpPr txBox="1">
            <a:spLocks noChangeArrowheads="1"/>
          </p:cNvSpPr>
          <p:nvPr/>
        </p:nvSpPr>
        <p:spPr bwMode="auto">
          <a:xfrm>
            <a:off x="352425" y="4130675"/>
            <a:ext cx="1057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Manifold</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runner type</a:t>
            </a:r>
          </a:p>
        </p:txBody>
      </p:sp>
      <p:sp>
        <p:nvSpPr>
          <p:cNvPr id="82039" name="TextBox 264"/>
          <p:cNvSpPr txBox="1">
            <a:spLocks noChangeArrowheads="1"/>
          </p:cNvSpPr>
          <p:nvPr/>
        </p:nvSpPr>
        <p:spPr bwMode="auto">
          <a:xfrm>
            <a:off x="676275" y="3481388"/>
            <a:ext cx="665567"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err="1">
                <a:solidFill>
                  <a:srgbClr val="000000"/>
                </a:solidFill>
                <a:latin typeface="Arial" pitchFamily="34" charset="0"/>
                <a:ea typeface="돋움체" pitchFamily="49" charset="-127"/>
                <a:cs typeface="Arial" pitchFamily="34" charset="0"/>
              </a:rPr>
              <a:t>Manifolder</a:t>
            </a:r>
            <a:endParaRPr lang="en-US" altLang="ko-KR" sz="800" dirty="0">
              <a:solidFill>
                <a:srgbClr val="000000"/>
              </a:solidFill>
              <a:latin typeface="Arial" pitchFamily="34" charset="0"/>
              <a:ea typeface="돋움체" pitchFamily="49" charset="-127"/>
              <a:cs typeface="Arial" pitchFamily="34" charset="0"/>
            </a:endParaRPr>
          </a:p>
        </p:txBody>
      </p:sp>
      <p:cxnSp>
        <p:nvCxnSpPr>
          <p:cNvPr id="82040" name="직선 연결선 266"/>
          <p:cNvCxnSpPr>
            <a:cxnSpLocks noChangeShapeType="1"/>
          </p:cNvCxnSpPr>
          <p:nvPr/>
        </p:nvCxnSpPr>
        <p:spPr bwMode="auto">
          <a:xfrm rot="16200000" flipV="1">
            <a:off x="1143795" y="3733006"/>
            <a:ext cx="214312" cy="1428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2041" name="직선 연결선 263"/>
          <p:cNvCxnSpPr>
            <a:cxnSpLocks noChangeShapeType="1"/>
          </p:cNvCxnSpPr>
          <p:nvPr/>
        </p:nvCxnSpPr>
        <p:spPr bwMode="auto">
          <a:xfrm flipH="1">
            <a:off x="798513" y="3906838"/>
            <a:ext cx="293687" cy="271462"/>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2042" name="직선 연결선 263"/>
          <p:cNvCxnSpPr>
            <a:cxnSpLocks noChangeShapeType="1"/>
          </p:cNvCxnSpPr>
          <p:nvPr/>
        </p:nvCxnSpPr>
        <p:spPr bwMode="auto">
          <a:xfrm flipH="1">
            <a:off x="1446213" y="3906838"/>
            <a:ext cx="144462" cy="13335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2043" name="직선 연결선 263"/>
          <p:cNvCxnSpPr>
            <a:cxnSpLocks noChangeShapeType="1"/>
          </p:cNvCxnSpPr>
          <p:nvPr/>
        </p:nvCxnSpPr>
        <p:spPr bwMode="auto">
          <a:xfrm flipH="1">
            <a:off x="2044700" y="3906838"/>
            <a:ext cx="295275" cy="271462"/>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2044" name="직선 연결선 263"/>
          <p:cNvCxnSpPr>
            <a:cxnSpLocks noChangeShapeType="1"/>
          </p:cNvCxnSpPr>
          <p:nvPr/>
        </p:nvCxnSpPr>
        <p:spPr bwMode="auto">
          <a:xfrm flipH="1">
            <a:off x="2598738" y="3906838"/>
            <a:ext cx="144462" cy="13335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2045" name="직선 연결선 263"/>
          <p:cNvCxnSpPr>
            <a:cxnSpLocks noChangeShapeType="1"/>
          </p:cNvCxnSpPr>
          <p:nvPr/>
        </p:nvCxnSpPr>
        <p:spPr bwMode="auto">
          <a:xfrm rot="10800000" flipV="1">
            <a:off x="1390650" y="4949825"/>
            <a:ext cx="222250" cy="20320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46" name="TextBox 264"/>
          <p:cNvSpPr txBox="1">
            <a:spLocks noChangeArrowheads="1"/>
          </p:cNvSpPr>
          <p:nvPr/>
        </p:nvSpPr>
        <p:spPr bwMode="auto">
          <a:xfrm>
            <a:off x="736600" y="5095875"/>
            <a:ext cx="838691"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Manufacturing</a:t>
            </a:r>
          </a:p>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Precision</a:t>
            </a:r>
          </a:p>
        </p:txBody>
      </p:sp>
      <p:cxnSp>
        <p:nvCxnSpPr>
          <p:cNvPr id="82047" name="직선 연결선 181"/>
          <p:cNvCxnSpPr>
            <a:cxnSpLocks noChangeShapeType="1"/>
          </p:cNvCxnSpPr>
          <p:nvPr/>
        </p:nvCxnSpPr>
        <p:spPr bwMode="auto">
          <a:xfrm rot="10800000">
            <a:off x="3975100" y="5243513"/>
            <a:ext cx="142875" cy="1587"/>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2048" name="TextBox 220"/>
          <p:cNvSpPr txBox="1">
            <a:spLocks noChangeArrowheads="1"/>
          </p:cNvSpPr>
          <p:nvPr/>
        </p:nvSpPr>
        <p:spPr bwMode="auto">
          <a:xfrm>
            <a:off x="3334205" y="5133199"/>
            <a:ext cx="992579"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Mold temperature</a:t>
            </a:r>
          </a:p>
        </p:txBody>
      </p:sp>
      <p:sp>
        <p:nvSpPr>
          <p:cNvPr id="82049" name="TextBox 264"/>
          <p:cNvSpPr txBox="1">
            <a:spLocks noChangeArrowheads="1"/>
          </p:cNvSpPr>
          <p:nvPr/>
        </p:nvSpPr>
        <p:spPr bwMode="auto">
          <a:xfrm>
            <a:off x="5478463" y="4843463"/>
            <a:ext cx="72072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Equipment</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type</a:t>
            </a:r>
          </a:p>
        </p:txBody>
      </p:sp>
      <p:sp>
        <p:nvSpPr>
          <p:cNvPr id="82050" name="TextBox 264"/>
          <p:cNvSpPr txBox="1">
            <a:spLocks noChangeArrowheads="1"/>
          </p:cNvSpPr>
          <p:nvPr/>
        </p:nvSpPr>
        <p:spPr bwMode="auto">
          <a:xfrm>
            <a:off x="6437313" y="4948238"/>
            <a:ext cx="1047082"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Manufactured date</a:t>
            </a:r>
          </a:p>
        </p:txBody>
      </p:sp>
      <p:sp>
        <p:nvSpPr>
          <p:cNvPr id="82051" name="TextBox 264"/>
          <p:cNvSpPr txBox="1">
            <a:spLocks noChangeArrowheads="1"/>
          </p:cNvSpPr>
          <p:nvPr/>
        </p:nvSpPr>
        <p:spPr bwMode="auto">
          <a:xfrm>
            <a:off x="6219825" y="4627563"/>
            <a:ext cx="766557"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Hydraulic Oil</a:t>
            </a:r>
          </a:p>
        </p:txBody>
      </p:sp>
      <p:sp>
        <p:nvSpPr>
          <p:cNvPr id="82052" name="TextBox 264"/>
          <p:cNvSpPr txBox="1">
            <a:spLocks noChangeArrowheads="1"/>
          </p:cNvSpPr>
          <p:nvPr/>
        </p:nvSpPr>
        <p:spPr bwMode="auto">
          <a:xfrm>
            <a:off x="5911850" y="5080000"/>
            <a:ext cx="716863"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Cleanliness</a:t>
            </a:r>
          </a:p>
        </p:txBody>
      </p:sp>
      <p:cxnSp>
        <p:nvCxnSpPr>
          <p:cNvPr id="82053" name="직선 연결선 145"/>
          <p:cNvCxnSpPr>
            <a:cxnSpLocks noChangeShapeType="1"/>
          </p:cNvCxnSpPr>
          <p:nvPr/>
        </p:nvCxnSpPr>
        <p:spPr bwMode="auto">
          <a:xfrm flipH="1" flipV="1">
            <a:off x="5932488" y="4556125"/>
            <a:ext cx="603250" cy="77470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54" name="TextBox 264"/>
          <p:cNvSpPr txBox="1">
            <a:spLocks noChangeArrowheads="1"/>
          </p:cNvSpPr>
          <p:nvPr/>
        </p:nvSpPr>
        <p:spPr bwMode="auto">
          <a:xfrm>
            <a:off x="6400800" y="5299075"/>
            <a:ext cx="678391"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Equipment</a:t>
            </a:r>
          </a:p>
        </p:txBody>
      </p:sp>
      <p:cxnSp>
        <p:nvCxnSpPr>
          <p:cNvPr id="82055" name="직선 연결선 180"/>
          <p:cNvCxnSpPr>
            <a:cxnSpLocks noChangeShapeType="1"/>
          </p:cNvCxnSpPr>
          <p:nvPr/>
        </p:nvCxnSpPr>
        <p:spPr bwMode="auto">
          <a:xfrm rot="10800000">
            <a:off x="6127750" y="4800600"/>
            <a:ext cx="142875" cy="1588"/>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cxnSp>
        <p:nvCxnSpPr>
          <p:cNvPr id="82056" name="직선 연결선 180"/>
          <p:cNvCxnSpPr>
            <a:cxnSpLocks noChangeShapeType="1"/>
          </p:cNvCxnSpPr>
          <p:nvPr/>
        </p:nvCxnSpPr>
        <p:spPr bwMode="auto">
          <a:xfrm rot="10800000">
            <a:off x="6119813" y="4987925"/>
            <a:ext cx="142875" cy="1588"/>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cxnSp>
        <p:nvCxnSpPr>
          <p:cNvPr id="82057" name="직선 연결선 180"/>
          <p:cNvCxnSpPr>
            <a:cxnSpLocks noChangeShapeType="1"/>
          </p:cNvCxnSpPr>
          <p:nvPr/>
        </p:nvCxnSpPr>
        <p:spPr bwMode="auto">
          <a:xfrm rot="10800000">
            <a:off x="6351588" y="5087938"/>
            <a:ext cx="142875" cy="1587"/>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cxnSp>
        <p:nvCxnSpPr>
          <p:cNvPr id="82058" name="직선 연결선 180"/>
          <p:cNvCxnSpPr>
            <a:cxnSpLocks noChangeShapeType="1"/>
          </p:cNvCxnSpPr>
          <p:nvPr/>
        </p:nvCxnSpPr>
        <p:spPr bwMode="auto">
          <a:xfrm rot="10800000">
            <a:off x="6307138" y="5210175"/>
            <a:ext cx="142875" cy="1588"/>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cxnSp>
        <p:nvCxnSpPr>
          <p:cNvPr id="82059" name="직선 연결선 243"/>
          <p:cNvCxnSpPr>
            <a:cxnSpLocks noChangeShapeType="1"/>
          </p:cNvCxnSpPr>
          <p:nvPr/>
        </p:nvCxnSpPr>
        <p:spPr bwMode="auto">
          <a:xfrm flipH="1">
            <a:off x="3463925" y="3698875"/>
            <a:ext cx="1381125" cy="0"/>
          </a:xfrm>
          <a:prstGeom prst="line">
            <a:avLst/>
          </a:prstGeom>
          <a:noFill/>
          <a:ln w="15875" algn="ctr">
            <a:solidFill>
              <a:srgbClr val="000000"/>
            </a:solidFill>
            <a:round/>
            <a:headEnd/>
            <a:tailEnd/>
          </a:ln>
          <a:extLst>
            <a:ext uri="{909E8E84-426E-40DD-AFC4-6F175D3DCCD1}">
              <a14:hiddenFill xmlns:a14="http://schemas.microsoft.com/office/drawing/2010/main">
                <a:noFill/>
              </a14:hiddenFill>
            </a:ext>
          </a:extLst>
        </p:spPr>
      </p:cxnSp>
      <p:sp>
        <p:nvSpPr>
          <p:cNvPr id="82060" name="TextBox 264"/>
          <p:cNvSpPr txBox="1">
            <a:spLocks noChangeArrowheads="1"/>
          </p:cNvSpPr>
          <p:nvPr/>
        </p:nvSpPr>
        <p:spPr bwMode="auto">
          <a:xfrm>
            <a:off x="3673475" y="3360738"/>
            <a:ext cx="638316"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ingredient</a:t>
            </a:r>
          </a:p>
        </p:txBody>
      </p:sp>
      <p:sp>
        <p:nvSpPr>
          <p:cNvPr id="82061" name="TextBox 264"/>
          <p:cNvSpPr txBox="1">
            <a:spLocks noChangeArrowheads="1"/>
          </p:cNvSpPr>
          <p:nvPr/>
        </p:nvSpPr>
        <p:spPr bwMode="auto">
          <a:xfrm>
            <a:off x="3260725" y="3770313"/>
            <a:ext cx="792205"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Manufacturer</a:t>
            </a:r>
          </a:p>
        </p:txBody>
      </p:sp>
      <p:sp>
        <p:nvSpPr>
          <p:cNvPr id="82062" name="TextBox 264"/>
          <p:cNvSpPr txBox="1">
            <a:spLocks noChangeArrowheads="1"/>
          </p:cNvSpPr>
          <p:nvPr/>
        </p:nvSpPr>
        <p:spPr bwMode="auto">
          <a:xfrm>
            <a:off x="4787900" y="3536950"/>
            <a:ext cx="447558"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Resin</a:t>
            </a:r>
          </a:p>
        </p:txBody>
      </p:sp>
      <p:sp>
        <p:nvSpPr>
          <p:cNvPr id="82063" name="TextBox 264"/>
          <p:cNvSpPr txBox="1">
            <a:spLocks noChangeArrowheads="1"/>
          </p:cNvSpPr>
          <p:nvPr/>
        </p:nvSpPr>
        <p:spPr bwMode="auto">
          <a:xfrm>
            <a:off x="3974007" y="3763963"/>
            <a:ext cx="546945"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Storage</a:t>
            </a:r>
          </a:p>
        </p:txBody>
      </p:sp>
      <p:sp>
        <p:nvSpPr>
          <p:cNvPr id="82064" name="TextBox 264"/>
          <p:cNvSpPr txBox="1">
            <a:spLocks noChangeArrowheads="1"/>
          </p:cNvSpPr>
          <p:nvPr/>
        </p:nvSpPr>
        <p:spPr bwMode="auto">
          <a:xfrm>
            <a:off x="4318000" y="3370263"/>
            <a:ext cx="413896"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Type</a:t>
            </a:r>
          </a:p>
        </p:txBody>
      </p:sp>
      <p:cxnSp>
        <p:nvCxnSpPr>
          <p:cNvPr id="82065" name="직선 연결선 263"/>
          <p:cNvCxnSpPr>
            <a:cxnSpLocks noChangeShapeType="1"/>
          </p:cNvCxnSpPr>
          <p:nvPr/>
        </p:nvCxnSpPr>
        <p:spPr bwMode="auto">
          <a:xfrm flipH="1">
            <a:off x="3584575" y="3698875"/>
            <a:ext cx="144463" cy="13176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2066" name="직선 연결선 263"/>
          <p:cNvCxnSpPr>
            <a:cxnSpLocks noChangeShapeType="1"/>
          </p:cNvCxnSpPr>
          <p:nvPr/>
        </p:nvCxnSpPr>
        <p:spPr bwMode="auto">
          <a:xfrm flipH="1">
            <a:off x="4125913" y="3698875"/>
            <a:ext cx="142875" cy="13176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2067" name="직선 연결선 260"/>
          <p:cNvCxnSpPr>
            <a:cxnSpLocks noChangeShapeType="1"/>
          </p:cNvCxnSpPr>
          <p:nvPr/>
        </p:nvCxnSpPr>
        <p:spPr bwMode="auto">
          <a:xfrm flipH="1" flipV="1">
            <a:off x="3967163" y="3582988"/>
            <a:ext cx="69850" cy="106362"/>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82068" name="직선 연결선 260"/>
          <p:cNvCxnSpPr>
            <a:cxnSpLocks noChangeShapeType="1"/>
          </p:cNvCxnSpPr>
          <p:nvPr/>
        </p:nvCxnSpPr>
        <p:spPr bwMode="auto">
          <a:xfrm flipH="1" flipV="1">
            <a:off x="4551363" y="3584575"/>
            <a:ext cx="71437" cy="106363"/>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69" name="TextBox 264"/>
          <p:cNvSpPr txBox="1">
            <a:spLocks noChangeArrowheads="1"/>
          </p:cNvSpPr>
          <p:nvPr/>
        </p:nvSpPr>
        <p:spPr bwMode="auto">
          <a:xfrm>
            <a:off x="5997641" y="4201018"/>
            <a:ext cx="69923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Distribution</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time</a:t>
            </a:r>
          </a:p>
        </p:txBody>
      </p:sp>
      <p:cxnSp>
        <p:nvCxnSpPr>
          <p:cNvPr id="82070" name="직선 연결선 237"/>
          <p:cNvCxnSpPr>
            <a:cxnSpLocks noChangeShapeType="1"/>
          </p:cNvCxnSpPr>
          <p:nvPr/>
        </p:nvCxnSpPr>
        <p:spPr bwMode="auto">
          <a:xfrm flipV="1">
            <a:off x="5651500" y="3986213"/>
            <a:ext cx="561975" cy="56515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71" name="TextBox 238"/>
          <p:cNvSpPr txBox="1">
            <a:spLocks noChangeArrowheads="1"/>
          </p:cNvSpPr>
          <p:nvPr/>
        </p:nvSpPr>
        <p:spPr bwMode="auto">
          <a:xfrm>
            <a:off x="5865429" y="3728033"/>
            <a:ext cx="805029" cy="252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Mold opening</a:t>
            </a:r>
          </a:p>
        </p:txBody>
      </p:sp>
      <p:sp>
        <p:nvSpPr>
          <p:cNvPr id="82072" name="TextBox 264"/>
          <p:cNvSpPr txBox="1">
            <a:spLocks noChangeArrowheads="1"/>
          </p:cNvSpPr>
          <p:nvPr/>
        </p:nvSpPr>
        <p:spPr bwMode="auto">
          <a:xfrm>
            <a:off x="5324054" y="3986174"/>
            <a:ext cx="69923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Distribution</a:t>
            </a:r>
          </a:p>
          <a:p>
            <a:pPr eaLnBrk="1" hangingPunct="1">
              <a:lnSpc>
                <a:spcPts val="600"/>
              </a:lnSpc>
            </a:pPr>
            <a:r>
              <a:rPr lang="en-US" altLang="ko-KR" sz="800" dirty="0">
                <a:solidFill>
                  <a:srgbClr val="000000"/>
                </a:solidFill>
                <a:latin typeface="Arial" pitchFamily="34" charset="0"/>
                <a:ea typeface="돋움체" pitchFamily="49" charset="-127"/>
                <a:cs typeface="Arial" pitchFamily="34" charset="0"/>
              </a:rPr>
              <a:t>method</a:t>
            </a:r>
          </a:p>
        </p:txBody>
      </p:sp>
      <p:cxnSp>
        <p:nvCxnSpPr>
          <p:cNvPr id="82073" name="직선 연결선 174"/>
          <p:cNvCxnSpPr>
            <a:cxnSpLocks noChangeShapeType="1"/>
          </p:cNvCxnSpPr>
          <p:nvPr/>
        </p:nvCxnSpPr>
        <p:spPr bwMode="auto">
          <a:xfrm rot="10800000">
            <a:off x="5919788" y="4138613"/>
            <a:ext cx="142875" cy="1587"/>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cxnSp>
        <p:nvCxnSpPr>
          <p:cNvPr id="82074" name="직선 연결선 174"/>
          <p:cNvCxnSpPr>
            <a:cxnSpLocks noChangeShapeType="1"/>
          </p:cNvCxnSpPr>
          <p:nvPr/>
        </p:nvCxnSpPr>
        <p:spPr bwMode="auto">
          <a:xfrm rot="10800000">
            <a:off x="5895975" y="4302125"/>
            <a:ext cx="142875" cy="1588"/>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2075" name="TextBox 235"/>
          <p:cNvSpPr txBox="1">
            <a:spLocks noChangeArrowheads="1"/>
          </p:cNvSpPr>
          <p:nvPr/>
        </p:nvSpPr>
        <p:spPr bwMode="auto">
          <a:xfrm>
            <a:off x="200025" y="6075363"/>
            <a:ext cx="5163593"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1000" dirty="0">
                <a:solidFill>
                  <a:srgbClr val="000000"/>
                </a:solidFill>
                <a:latin typeface="Arial" pitchFamily="34" charset="0"/>
                <a:ea typeface="돋움체" pitchFamily="49" charset="-127"/>
                <a:cs typeface="Arial" pitchFamily="34" charset="0"/>
              </a:rPr>
              <a:t>*The 4 categories above are all common to “Case Top”, “Case Front” and “Deco Side”</a:t>
            </a:r>
          </a:p>
        </p:txBody>
      </p:sp>
      <p:cxnSp>
        <p:nvCxnSpPr>
          <p:cNvPr id="82076" name="직선 연결선 326"/>
          <p:cNvCxnSpPr>
            <a:cxnSpLocks noChangeShapeType="1"/>
          </p:cNvCxnSpPr>
          <p:nvPr/>
        </p:nvCxnSpPr>
        <p:spPr bwMode="auto">
          <a:xfrm flipH="1" flipV="1">
            <a:off x="3503613" y="1366838"/>
            <a:ext cx="1304925" cy="2028825"/>
          </a:xfrm>
          <a:prstGeom prst="line">
            <a:avLst/>
          </a:prstGeom>
          <a:noFill/>
          <a:ln w="25400" algn="ctr">
            <a:solidFill>
              <a:srgbClr val="7D60A0"/>
            </a:solidFill>
            <a:round/>
            <a:headEnd/>
            <a:tailEnd/>
          </a:ln>
          <a:extLst>
            <a:ext uri="{909E8E84-426E-40DD-AFC4-6F175D3DCCD1}">
              <a14:hiddenFill xmlns:a14="http://schemas.microsoft.com/office/drawing/2010/main">
                <a:noFill/>
              </a14:hiddenFill>
            </a:ext>
          </a:extLst>
        </p:spPr>
      </p:cxnSp>
      <p:cxnSp>
        <p:nvCxnSpPr>
          <p:cNvPr id="82077" name="직선 연결선 180"/>
          <p:cNvCxnSpPr>
            <a:cxnSpLocks noChangeShapeType="1"/>
          </p:cNvCxnSpPr>
          <p:nvPr/>
        </p:nvCxnSpPr>
        <p:spPr bwMode="auto">
          <a:xfrm rot="10800000">
            <a:off x="4249738" y="5405438"/>
            <a:ext cx="142875" cy="0"/>
          </a:xfrm>
          <a:prstGeom prst="line">
            <a:avLst/>
          </a:prstGeom>
          <a:noFill/>
          <a:ln w="3175" algn="ctr">
            <a:solidFill>
              <a:srgbClr val="000000"/>
            </a:solidFill>
            <a:round/>
            <a:headEnd/>
            <a:tailEnd/>
          </a:ln>
          <a:extLst>
            <a:ext uri="{909E8E84-426E-40DD-AFC4-6F175D3DCCD1}">
              <a14:hiddenFill xmlns:a14="http://schemas.microsoft.com/office/drawing/2010/main">
                <a:noFill/>
              </a14:hiddenFill>
            </a:ext>
          </a:extLst>
        </p:spPr>
      </p:cxnSp>
      <p:sp>
        <p:nvSpPr>
          <p:cNvPr id="82078" name="TextBox 220"/>
          <p:cNvSpPr txBox="1">
            <a:spLocks noChangeArrowheads="1"/>
          </p:cNvSpPr>
          <p:nvPr/>
        </p:nvSpPr>
        <p:spPr bwMode="auto">
          <a:xfrm>
            <a:off x="4380564" y="5285634"/>
            <a:ext cx="819455"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Cylinder temp</a:t>
            </a:r>
          </a:p>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difference</a:t>
            </a:r>
          </a:p>
        </p:txBody>
      </p:sp>
      <p:cxnSp>
        <p:nvCxnSpPr>
          <p:cNvPr id="82079" name="직선 연결선 237"/>
          <p:cNvCxnSpPr>
            <a:cxnSpLocks noChangeShapeType="1"/>
          </p:cNvCxnSpPr>
          <p:nvPr/>
        </p:nvCxnSpPr>
        <p:spPr bwMode="auto">
          <a:xfrm flipV="1">
            <a:off x="6608763" y="4291013"/>
            <a:ext cx="234950" cy="255587"/>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2080" name="TextBox 238"/>
          <p:cNvSpPr txBox="1">
            <a:spLocks noChangeArrowheads="1"/>
          </p:cNvSpPr>
          <p:nvPr/>
        </p:nvSpPr>
        <p:spPr bwMode="auto">
          <a:xfrm>
            <a:off x="6726238" y="3928801"/>
            <a:ext cx="781050"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lang="en-US" altLang="ko-KR" sz="800" dirty="0">
                <a:solidFill>
                  <a:srgbClr val="000000"/>
                </a:solidFill>
                <a:latin typeface="Arial" pitchFamily="34" charset="0"/>
                <a:ea typeface="돋움체" pitchFamily="49" charset="-127"/>
                <a:cs typeface="Arial" pitchFamily="34" charset="0"/>
              </a:rPr>
              <a:t>Degree of cushion</a:t>
            </a:r>
          </a:p>
        </p:txBody>
      </p:sp>
      <p:sp>
        <p:nvSpPr>
          <p:cNvPr id="165" name="포인트가 5개인 별 164"/>
          <p:cNvSpPr/>
          <p:nvPr/>
        </p:nvSpPr>
        <p:spPr>
          <a:xfrm>
            <a:off x="8153965" y="876300"/>
            <a:ext cx="144463" cy="144463"/>
          </a:xfrm>
          <a:prstGeom prst="star5">
            <a:avLst/>
          </a:prstGeom>
          <a:noFill/>
          <a:ln w="25400" cap="flat" cmpd="sng" algn="ctr">
            <a:solidFill>
              <a:srgbClr val="FF0000"/>
            </a:solidFill>
            <a:prstDash val="solid"/>
          </a:ln>
          <a:effectLst/>
        </p:spPr>
        <p:txBody>
          <a:bodyPr anchor="ctr"/>
          <a:lstStyle/>
          <a:p>
            <a:pPr fontAlgn="auto" latinLnBrk="0">
              <a:spcBef>
                <a:spcPts val="0"/>
              </a:spcBef>
              <a:spcAft>
                <a:spcPts val="0"/>
              </a:spcAft>
              <a:defRPr/>
            </a:pPr>
            <a:endParaRPr lang="ko-KR" altLang="en-US" sz="800" kern="0" dirty="0">
              <a:solidFill>
                <a:prstClr val="white"/>
              </a:solidFill>
              <a:latin typeface="Arial" pitchFamily="34" charset="0"/>
              <a:ea typeface="맑은 고딕"/>
              <a:cs typeface="Arial" pitchFamily="34" charset="0"/>
            </a:endParaRPr>
          </a:p>
        </p:txBody>
      </p:sp>
      <p:sp>
        <p:nvSpPr>
          <p:cNvPr id="166" name="포인트가 5개인 별 165"/>
          <p:cNvSpPr/>
          <p:nvPr/>
        </p:nvSpPr>
        <p:spPr>
          <a:xfrm>
            <a:off x="6608763" y="4103688"/>
            <a:ext cx="144462" cy="142875"/>
          </a:xfrm>
          <a:prstGeom prst="star5">
            <a:avLst/>
          </a:prstGeom>
          <a:noFill/>
          <a:ln w="25400" cap="flat" cmpd="sng" algn="ctr">
            <a:solidFill>
              <a:srgbClr val="FF0000"/>
            </a:solidFill>
            <a:prstDash val="solid"/>
          </a:ln>
          <a:effectLst/>
        </p:spPr>
        <p:txBody>
          <a:bodyPr anchor="ctr"/>
          <a:lstStyle/>
          <a:p>
            <a:pPr fontAlgn="auto" latinLnBrk="0">
              <a:spcBef>
                <a:spcPts val="0"/>
              </a:spcBef>
              <a:spcAft>
                <a:spcPts val="0"/>
              </a:spcAft>
              <a:defRPr/>
            </a:pPr>
            <a:endParaRPr lang="ko-KR" altLang="en-US" sz="800" kern="0" dirty="0">
              <a:solidFill>
                <a:prstClr val="white"/>
              </a:solidFill>
              <a:latin typeface="Arial" pitchFamily="34" charset="0"/>
              <a:ea typeface="맑은 고딕"/>
              <a:cs typeface="Arial" pitchFamily="34" charset="0"/>
            </a:endParaRPr>
          </a:p>
        </p:txBody>
      </p:sp>
      <p:sp>
        <p:nvSpPr>
          <p:cNvPr id="167" name="포인트가 5개인 별 166"/>
          <p:cNvSpPr/>
          <p:nvPr/>
        </p:nvSpPr>
        <p:spPr>
          <a:xfrm>
            <a:off x="3052763" y="4089400"/>
            <a:ext cx="142875" cy="142875"/>
          </a:xfrm>
          <a:prstGeom prst="star5">
            <a:avLst/>
          </a:prstGeom>
          <a:noFill/>
          <a:ln w="25400" cap="flat" cmpd="sng" algn="ctr">
            <a:solidFill>
              <a:srgbClr val="FF0000"/>
            </a:solidFill>
            <a:prstDash val="solid"/>
          </a:ln>
          <a:effectLst/>
        </p:spPr>
        <p:txBody>
          <a:bodyPr anchor="ctr"/>
          <a:lstStyle/>
          <a:p>
            <a:pPr fontAlgn="auto" latinLnBrk="0">
              <a:spcBef>
                <a:spcPts val="0"/>
              </a:spcBef>
              <a:spcAft>
                <a:spcPts val="0"/>
              </a:spcAft>
              <a:defRPr/>
            </a:pPr>
            <a:endParaRPr lang="ko-KR" altLang="en-US" sz="800" kern="0" dirty="0">
              <a:solidFill>
                <a:prstClr val="white"/>
              </a:solidFill>
              <a:latin typeface="Arial" pitchFamily="34" charset="0"/>
              <a:ea typeface="맑은 고딕"/>
              <a:cs typeface="Arial" pitchFamily="34" charset="0"/>
            </a:endParaRPr>
          </a:p>
        </p:txBody>
      </p:sp>
      <p:sp>
        <p:nvSpPr>
          <p:cNvPr id="168" name="포인트가 5개인 별 167"/>
          <p:cNvSpPr/>
          <p:nvPr/>
        </p:nvSpPr>
        <p:spPr>
          <a:xfrm>
            <a:off x="2741613" y="4751388"/>
            <a:ext cx="144462" cy="144462"/>
          </a:xfrm>
          <a:prstGeom prst="star5">
            <a:avLst/>
          </a:prstGeom>
          <a:noFill/>
          <a:ln w="25400" cap="flat" cmpd="sng" algn="ctr">
            <a:solidFill>
              <a:srgbClr val="FF0000"/>
            </a:solidFill>
            <a:prstDash val="solid"/>
          </a:ln>
          <a:effectLst/>
        </p:spPr>
        <p:txBody>
          <a:bodyPr anchor="ctr"/>
          <a:lstStyle/>
          <a:p>
            <a:pPr fontAlgn="auto" latinLnBrk="0">
              <a:spcBef>
                <a:spcPts val="0"/>
              </a:spcBef>
              <a:spcAft>
                <a:spcPts val="0"/>
              </a:spcAft>
              <a:defRPr/>
            </a:pPr>
            <a:endParaRPr lang="ko-KR" altLang="en-US" sz="800" kern="0" dirty="0">
              <a:solidFill>
                <a:prstClr val="white"/>
              </a:solidFill>
              <a:latin typeface="Arial" pitchFamily="34" charset="0"/>
              <a:ea typeface="맑은 고딕"/>
              <a:cs typeface="Arial" pitchFamily="34" charset="0"/>
            </a:endParaRPr>
          </a:p>
        </p:txBody>
      </p:sp>
      <p:sp>
        <p:nvSpPr>
          <p:cNvPr id="169" name="포인트가 5개인 별 168"/>
          <p:cNvSpPr/>
          <p:nvPr/>
        </p:nvSpPr>
        <p:spPr>
          <a:xfrm>
            <a:off x="2613025" y="4945063"/>
            <a:ext cx="144463" cy="144462"/>
          </a:xfrm>
          <a:prstGeom prst="star5">
            <a:avLst/>
          </a:prstGeom>
          <a:noFill/>
          <a:ln w="25400" cap="flat" cmpd="sng" algn="ctr">
            <a:solidFill>
              <a:srgbClr val="FF0000"/>
            </a:solidFill>
            <a:prstDash val="solid"/>
          </a:ln>
          <a:effectLst/>
        </p:spPr>
        <p:txBody>
          <a:bodyPr anchor="ctr"/>
          <a:lstStyle/>
          <a:p>
            <a:pPr fontAlgn="auto" latinLnBrk="0">
              <a:spcBef>
                <a:spcPts val="0"/>
              </a:spcBef>
              <a:spcAft>
                <a:spcPts val="0"/>
              </a:spcAft>
              <a:defRPr/>
            </a:pPr>
            <a:endParaRPr lang="ko-KR" altLang="en-US" sz="800" kern="0" dirty="0">
              <a:solidFill>
                <a:prstClr val="white"/>
              </a:solidFill>
              <a:latin typeface="Arial" pitchFamily="34" charset="0"/>
              <a:ea typeface="맑은 고딕"/>
              <a:cs typeface="Arial" pitchFamily="34" charset="0"/>
            </a:endParaRPr>
          </a:p>
        </p:txBody>
      </p:sp>
      <p:sp>
        <p:nvSpPr>
          <p:cNvPr id="170" name="포인트가 5개인 별 169"/>
          <p:cNvSpPr/>
          <p:nvPr/>
        </p:nvSpPr>
        <p:spPr>
          <a:xfrm>
            <a:off x="4319588" y="5327650"/>
            <a:ext cx="144462" cy="142875"/>
          </a:xfrm>
          <a:prstGeom prst="star5">
            <a:avLst/>
          </a:prstGeom>
          <a:noFill/>
          <a:ln w="25400" cap="flat" cmpd="sng" algn="ctr">
            <a:solidFill>
              <a:srgbClr val="FF0000"/>
            </a:solidFill>
            <a:prstDash val="solid"/>
          </a:ln>
          <a:effectLst/>
        </p:spPr>
        <p:txBody>
          <a:bodyPr anchor="ctr"/>
          <a:lstStyle/>
          <a:p>
            <a:pPr fontAlgn="auto" latinLnBrk="0">
              <a:spcBef>
                <a:spcPts val="0"/>
              </a:spcBef>
              <a:spcAft>
                <a:spcPts val="0"/>
              </a:spcAft>
              <a:defRPr/>
            </a:pPr>
            <a:endParaRPr lang="ko-KR" altLang="en-US" sz="800" kern="0" dirty="0">
              <a:solidFill>
                <a:prstClr val="white"/>
              </a:solidFill>
              <a:latin typeface="Arial" pitchFamily="34" charset="0"/>
              <a:ea typeface="맑은 고딕"/>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76</a:t>
            </a:fld>
            <a:endParaRPr lang="ko-KR" altLang="en-US" dirty="0">
              <a:latin typeface="Arial" pitchFamily="34" charset="0"/>
              <a:cs typeface="Arial" pitchFamily="34" charset="0"/>
            </a:endParaRPr>
          </a:p>
        </p:txBody>
      </p:sp>
      <p:sp>
        <p:nvSpPr>
          <p:cNvPr id="171"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172"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74127148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4"/>
          </p:nvPr>
        </p:nvSpPr>
        <p:spPr/>
        <p:txBody>
          <a:bodyPr/>
          <a:lstStyle/>
          <a:p>
            <a:pPr>
              <a:defRPr/>
            </a:pPr>
            <a:fld id="{BA3A7022-CBD4-4A06-BAFB-3534D8B9DC6A}" type="slidenum">
              <a:rPr lang="ko-KR" altLang="en-US" smtClean="0"/>
              <a:pPr>
                <a:defRPr/>
              </a:pPr>
              <a:t>77</a:t>
            </a:fld>
            <a:endParaRPr lang="ko-KR" altLang="en-US" dirty="0"/>
          </a:p>
        </p:txBody>
      </p:sp>
      <p:pic>
        <p:nvPicPr>
          <p:cNvPr id="6" name="Picture 5"/>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0" y="1155290"/>
            <a:ext cx="9906000" cy="4547420"/>
          </a:xfrm>
          <a:prstGeom prst="rect">
            <a:avLst/>
          </a:prstGeom>
        </p:spPr>
      </p:pic>
      <p:sp>
        <p:nvSpPr>
          <p:cNvPr id="8"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9"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
        <p:nvSpPr>
          <p:cNvPr id="2" name="Rectangle 1">
            <a:extLst>
              <a:ext uri="{FF2B5EF4-FFF2-40B4-BE49-F238E27FC236}">
                <a16:creationId xmlns:a16="http://schemas.microsoft.com/office/drawing/2014/main" id="{DFDFEF05-8DC5-4ACE-A65C-48571B713A89}"/>
              </a:ext>
            </a:extLst>
          </p:cNvPr>
          <p:cNvSpPr/>
          <p:nvPr/>
        </p:nvSpPr>
        <p:spPr>
          <a:xfrm>
            <a:off x="2648744" y="455582"/>
            <a:ext cx="2160240" cy="39058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0000"/>
                </a:solidFill>
              </a:rPr>
              <a:t>Potential factor</a:t>
            </a:r>
          </a:p>
        </p:txBody>
      </p:sp>
    </p:spTree>
    <p:extLst>
      <p:ext uri="{BB962C8B-B14F-4D97-AF65-F5344CB8AC3E}">
        <p14:creationId xmlns:p14="http://schemas.microsoft.com/office/powerpoint/2010/main" val="218356865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4"/>
          </p:nvPr>
        </p:nvSpPr>
        <p:spPr/>
        <p:txBody>
          <a:bodyPr/>
          <a:lstStyle/>
          <a:p>
            <a:pPr>
              <a:defRPr/>
            </a:pPr>
            <a:fld id="{BA3A7022-CBD4-4A06-BAFB-3534D8B9DC6A}" type="slidenum">
              <a:rPr lang="ko-KR" altLang="en-US" smtClean="0"/>
              <a:pPr>
                <a:defRPr/>
              </a:pPr>
              <a:t>78</a:t>
            </a:fld>
            <a:endParaRPr lang="ko-KR" altLang="en-US" dirty="0"/>
          </a:p>
        </p:txBody>
      </p:sp>
      <p:sp>
        <p:nvSpPr>
          <p:cNvPr id="8"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9"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grpSp>
        <p:nvGrpSpPr>
          <p:cNvPr id="6" name="그룹 1"/>
          <p:cNvGrpSpPr>
            <a:grpSpLocks/>
          </p:cNvGrpSpPr>
          <p:nvPr/>
        </p:nvGrpSpPr>
        <p:grpSpPr bwMode="auto">
          <a:xfrm>
            <a:off x="96238" y="1125538"/>
            <a:ext cx="9579371" cy="4990652"/>
            <a:chOff x="-114919" y="836712"/>
            <a:chExt cx="10091908" cy="5767047"/>
          </a:xfrm>
        </p:grpSpPr>
        <p:cxnSp>
          <p:nvCxnSpPr>
            <p:cNvPr id="10" name="직선 연결선 221"/>
            <p:cNvCxnSpPr>
              <a:cxnSpLocks noChangeShapeType="1"/>
            </p:cNvCxnSpPr>
            <p:nvPr/>
          </p:nvCxnSpPr>
          <p:spPr bwMode="auto">
            <a:xfrm>
              <a:off x="273050" y="3754537"/>
              <a:ext cx="7800975" cy="0"/>
            </a:xfrm>
            <a:prstGeom prst="line">
              <a:avLst/>
            </a:prstGeom>
            <a:noFill/>
            <a:ln w="57150" algn="ctr">
              <a:solidFill>
                <a:srgbClr val="000000"/>
              </a:solidFill>
              <a:round/>
              <a:headEnd/>
              <a:tailEnd/>
            </a:ln>
            <a:extLst>
              <a:ext uri="{909E8E84-426E-40DD-AFC4-6F175D3DCCD1}">
                <a14:hiddenFill xmlns:a14="http://schemas.microsoft.com/office/drawing/2010/main">
                  <a:noFill/>
                </a14:hiddenFill>
              </a:ext>
            </a:extLst>
          </p:spPr>
        </p:cxnSp>
        <p:sp>
          <p:nvSpPr>
            <p:cNvPr id="11" name="모서리가 둥근 직사각형 222"/>
            <p:cNvSpPr>
              <a:spLocks noChangeArrowheads="1"/>
            </p:cNvSpPr>
            <p:nvPr/>
          </p:nvSpPr>
          <p:spPr bwMode="auto">
            <a:xfrm>
              <a:off x="2576513" y="836712"/>
              <a:ext cx="1844675" cy="360363"/>
            </a:xfrm>
            <a:prstGeom prst="roundRect">
              <a:avLst>
                <a:gd name="adj" fmla="val 16667"/>
              </a:avLst>
            </a:prstGeom>
            <a:noFill/>
            <a:ln w="25400" algn="ctr">
              <a:solidFill>
                <a:srgbClr val="000000"/>
              </a:solidFill>
              <a:round/>
              <a:headEnd/>
              <a:tailEnd/>
            </a:ln>
            <a:extLst>
              <a:ext uri="{909E8E84-426E-40DD-AFC4-6F175D3DCCD1}">
                <a14:hiddenFill xmlns:a14="http://schemas.microsoft.com/office/drawing/2010/main">
                  <a:solidFill>
                    <a:srgbClr val="FFFFFF"/>
                  </a:solidFill>
                </a14:hiddenFill>
              </a:ext>
            </a:extLst>
          </p:spPr>
          <p:txBody>
            <a:bodyPr lIns="77919" tIns="38960" rIns="77919" bIns="38960" anchor="ctr"/>
            <a:lstStyle/>
            <a:p>
              <a:pPr algn="ctr"/>
              <a:r>
                <a:rPr lang="en-US" altLang="ko-KR" sz="800" b="1" dirty="0">
                  <a:solidFill>
                    <a:srgbClr val="000000"/>
                  </a:solidFill>
                  <a:latin typeface="Arial" pitchFamily="34" charset="0"/>
                  <a:ea typeface="맑은 고딕" pitchFamily="50" charset="-127"/>
                  <a:cs typeface="Arial" pitchFamily="34" charset="0"/>
                </a:rPr>
                <a:t>Customer</a:t>
              </a:r>
            </a:p>
          </p:txBody>
        </p:sp>
        <p:cxnSp>
          <p:nvCxnSpPr>
            <p:cNvPr id="12" name="직선 연결선 223"/>
            <p:cNvCxnSpPr>
              <a:cxnSpLocks noChangeShapeType="1"/>
              <a:stCxn id="11" idx="2"/>
            </p:cNvCxnSpPr>
            <p:nvPr/>
          </p:nvCxnSpPr>
          <p:spPr bwMode="auto">
            <a:xfrm>
              <a:off x="3498850" y="1197075"/>
              <a:ext cx="1885950" cy="2562225"/>
            </a:xfrm>
            <a:prstGeom prst="line">
              <a:avLst/>
            </a:prstGeom>
            <a:noFill/>
            <a:ln w="19050" algn="ctr">
              <a:solidFill>
                <a:srgbClr val="000000"/>
              </a:solidFill>
              <a:round/>
              <a:headEnd/>
              <a:tailEnd/>
            </a:ln>
            <a:extLst>
              <a:ext uri="{909E8E84-426E-40DD-AFC4-6F175D3DCCD1}">
                <a14:hiddenFill xmlns:a14="http://schemas.microsoft.com/office/drawing/2010/main">
                  <a:noFill/>
                </a14:hiddenFill>
              </a:ext>
            </a:extLst>
          </p:spPr>
        </p:cxnSp>
        <p:sp>
          <p:nvSpPr>
            <p:cNvPr id="13" name="모서리가 둥근 직사각형 224"/>
            <p:cNvSpPr>
              <a:spLocks noChangeArrowheads="1"/>
            </p:cNvSpPr>
            <p:nvPr/>
          </p:nvSpPr>
          <p:spPr bwMode="auto">
            <a:xfrm>
              <a:off x="8074025" y="3398937"/>
              <a:ext cx="1593850" cy="692150"/>
            </a:xfrm>
            <a:prstGeom prst="roundRect">
              <a:avLst>
                <a:gd name="adj" fmla="val 16667"/>
              </a:avLst>
            </a:prstGeom>
            <a:solidFill>
              <a:srgbClr val="D9D9D9">
                <a:alpha val="50195"/>
              </a:srgbClr>
            </a:solidFill>
            <a:ln w="25400" algn="ctr">
              <a:solidFill>
                <a:srgbClr val="000000"/>
              </a:solidFill>
              <a:round/>
              <a:headEnd/>
              <a:tailEnd/>
            </a:ln>
          </p:spPr>
          <p:txBody>
            <a:bodyPr anchor="ctr"/>
            <a:lstStyle/>
            <a:p>
              <a:pPr algn="ctr"/>
              <a:r>
                <a:rPr lang="en-US" altLang="ko-KR" sz="800" b="1" dirty="0">
                  <a:solidFill>
                    <a:srgbClr val="000000"/>
                  </a:solidFill>
                  <a:latin typeface="Arial" pitchFamily="34" charset="0"/>
                  <a:ea typeface="맑은 고딕" pitchFamily="50" charset="-127"/>
                  <a:cs typeface="Arial" pitchFamily="34" charset="0"/>
                </a:rPr>
                <a:t>Defective Market App.</a:t>
              </a:r>
            </a:p>
            <a:p>
              <a:pPr algn="ctr"/>
              <a:r>
                <a:rPr lang="en-US" altLang="ko-KR" sz="800" b="1" dirty="0">
                  <a:solidFill>
                    <a:srgbClr val="000000"/>
                  </a:solidFill>
                  <a:latin typeface="Arial" pitchFamily="34" charset="0"/>
                  <a:ea typeface="맑은 고딕" pitchFamily="50" charset="-127"/>
                  <a:cs typeface="Arial" pitchFamily="34" charset="0"/>
                </a:rPr>
                <a:t>Current Consumption</a:t>
              </a:r>
              <a:endParaRPr lang="ko-KR" altLang="en-US" sz="800" b="1" dirty="0">
                <a:solidFill>
                  <a:srgbClr val="000000"/>
                </a:solidFill>
                <a:latin typeface="Arial" pitchFamily="34" charset="0"/>
                <a:ea typeface="맑은 고딕" pitchFamily="50" charset="-127"/>
                <a:cs typeface="Arial" pitchFamily="34" charset="0"/>
              </a:endParaRPr>
            </a:p>
          </p:txBody>
        </p:sp>
        <p:cxnSp>
          <p:nvCxnSpPr>
            <p:cNvPr id="14" name="직선 연결선 225"/>
            <p:cNvCxnSpPr>
              <a:cxnSpLocks noChangeShapeType="1"/>
              <a:stCxn id="15" idx="0"/>
            </p:cNvCxnSpPr>
            <p:nvPr/>
          </p:nvCxnSpPr>
          <p:spPr bwMode="auto">
            <a:xfrm flipV="1">
              <a:off x="1619250" y="3759300"/>
              <a:ext cx="1644650" cy="2447925"/>
            </a:xfrm>
            <a:prstGeom prst="line">
              <a:avLst/>
            </a:prstGeom>
            <a:noFill/>
            <a:ln w="19050" algn="ctr">
              <a:solidFill>
                <a:srgbClr val="000000"/>
              </a:solidFill>
              <a:round/>
              <a:headEnd/>
              <a:tailEnd/>
            </a:ln>
            <a:extLst>
              <a:ext uri="{909E8E84-426E-40DD-AFC4-6F175D3DCCD1}">
                <a14:hiddenFill xmlns:a14="http://schemas.microsoft.com/office/drawing/2010/main">
                  <a:noFill/>
                </a14:hiddenFill>
              </a:ext>
            </a:extLst>
          </p:spPr>
        </p:cxnSp>
        <p:sp>
          <p:nvSpPr>
            <p:cNvPr id="15" name="모서리가 둥근 직사각형 226"/>
            <p:cNvSpPr>
              <a:spLocks noChangeArrowheads="1"/>
            </p:cNvSpPr>
            <p:nvPr/>
          </p:nvSpPr>
          <p:spPr bwMode="auto">
            <a:xfrm>
              <a:off x="750888" y="6207225"/>
              <a:ext cx="1736725" cy="360362"/>
            </a:xfrm>
            <a:prstGeom prst="roundRect">
              <a:avLst>
                <a:gd name="adj" fmla="val 16667"/>
              </a:avLst>
            </a:prstGeom>
            <a:noFill/>
            <a:ln w="25400" algn="ctr">
              <a:solidFill>
                <a:srgbClr val="000000"/>
              </a:solidFill>
              <a:round/>
              <a:headEnd/>
              <a:tailEnd/>
            </a:ln>
            <a:extLst>
              <a:ext uri="{909E8E84-426E-40DD-AFC4-6F175D3DCCD1}">
                <a14:hiddenFill xmlns:a14="http://schemas.microsoft.com/office/drawing/2010/main">
                  <a:solidFill>
                    <a:srgbClr val="FFFFFF"/>
                  </a:solidFill>
                </a14:hiddenFill>
              </a:ext>
            </a:extLst>
          </p:spPr>
          <p:txBody>
            <a:bodyPr lIns="77919" tIns="38960" rIns="77919" bIns="38960" anchor="ctr"/>
            <a:lstStyle/>
            <a:p>
              <a:pPr algn="ctr"/>
              <a:r>
                <a:rPr lang="en-US" altLang="ko-KR" sz="800" b="1" dirty="0">
                  <a:solidFill>
                    <a:srgbClr val="000000"/>
                  </a:solidFill>
                  <a:latin typeface="Arial" pitchFamily="34" charset="0"/>
                  <a:ea typeface="맑은 고딕" pitchFamily="50" charset="-127"/>
                  <a:cs typeface="Arial" pitchFamily="34" charset="0"/>
                </a:rPr>
                <a:t>Circumstance</a:t>
              </a:r>
            </a:p>
          </p:txBody>
        </p:sp>
        <p:cxnSp>
          <p:nvCxnSpPr>
            <p:cNvPr id="16" name="직선 연결선 227"/>
            <p:cNvCxnSpPr>
              <a:cxnSpLocks noChangeShapeType="1"/>
            </p:cNvCxnSpPr>
            <p:nvPr/>
          </p:nvCxnSpPr>
          <p:spPr bwMode="auto">
            <a:xfrm>
              <a:off x="962025" y="2435325"/>
              <a:ext cx="340836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17" name="직선 연결선 228"/>
            <p:cNvCxnSpPr>
              <a:cxnSpLocks noChangeShapeType="1"/>
            </p:cNvCxnSpPr>
            <p:nvPr/>
          </p:nvCxnSpPr>
          <p:spPr bwMode="auto">
            <a:xfrm>
              <a:off x="1758950" y="1139925"/>
              <a:ext cx="538163" cy="1285875"/>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18" name="직선 연결선 229"/>
            <p:cNvCxnSpPr>
              <a:cxnSpLocks noChangeShapeType="1"/>
            </p:cNvCxnSpPr>
            <p:nvPr/>
          </p:nvCxnSpPr>
          <p:spPr bwMode="auto">
            <a:xfrm>
              <a:off x="1546225" y="1592362"/>
              <a:ext cx="388938"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19" name="직선 연결선 230"/>
            <p:cNvCxnSpPr>
              <a:cxnSpLocks noChangeShapeType="1"/>
            </p:cNvCxnSpPr>
            <p:nvPr/>
          </p:nvCxnSpPr>
          <p:spPr bwMode="auto">
            <a:xfrm>
              <a:off x="4016375" y="1886050"/>
              <a:ext cx="432752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20" name="직선 연결선 231"/>
            <p:cNvCxnSpPr>
              <a:cxnSpLocks noChangeShapeType="1"/>
            </p:cNvCxnSpPr>
            <p:nvPr/>
          </p:nvCxnSpPr>
          <p:spPr bwMode="auto">
            <a:xfrm flipH="1">
              <a:off x="7726363" y="1081187"/>
              <a:ext cx="376237" cy="798513"/>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21" name="직선 연결선 232"/>
            <p:cNvCxnSpPr>
              <a:cxnSpLocks noChangeShapeType="1"/>
            </p:cNvCxnSpPr>
            <p:nvPr/>
          </p:nvCxnSpPr>
          <p:spPr bwMode="auto">
            <a:xfrm>
              <a:off x="8053388" y="1225650"/>
              <a:ext cx="279400"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22" name="직선 연결선 233"/>
            <p:cNvCxnSpPr>
              <a:cxnSpLocks noChangeShapeType="1"/>
              <a:endCxn id="182" idx="1"/>
            </p:cNvCxnSpPr>
            <p:nvPr/>
          </p:nvCxnSpPr>
          <p:spPr bwMode="auto">
            <a:xfrm flipV="1">
              <a:off x="4994275" y="3216015"/>
              <a:ext cx="2489585" cy="361"/>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23" name="직선 연결선 234"/>
            <p:cNvCxnSpPr>
              <a:cxnSpLocks noChangeShapeType="1"/>
            </p:cNvCxnSpPr>
            <p:nvPr/>
          </p:nvCxnSpPr>
          <p:spPr bwMode="auto">
            <a:xfrm flipH="1">
              <a:off x="5267325" y="2967137"/>
              <a:ext cx="114300" cy="241300"/>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24" name="직선 연결선 235"/>
            <p:cNvCxnSpPr>
              <a:cxnSpLocks noChangeShapeType="1"/>
            </p:cNvCxnSpPr>
            <p:nvPr/>
          </p:nvCxnSpPr>
          <p:spPr bwMode="auto">
            <a:xfrm>
              <a:off x="5576888" y="3214787"/>
              <a:ext cx="100012" cy="24288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25" name="직선 연결선 236"/>
            <p:cNvCxnSpPr>
              <a:cxnSpLocks noChangeShapeType="1"/>
            </p:cNvCxnSpPr>
            <p:nvPr/>
          </p:nvCxnSpPr>
          <p:spPr bwMode="auto">
            <a:xfrm>
              <a:off x="5343525" y="3087787"/>
              <a:ext cx="1936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26" name="모서리가 둥근 직사각형 237"/>
            <p:cNvSpPr>
              <a:spLocks noChangeArrowheads="1"/>
            </p:cNvSpPr>
            <p:nvPr/>
          </p:nvSpPr>
          <p:spPr bwMode="auto">
            <a:xfrm>
              <a:off x="1111195" y="918132"/>
              <a:ext cx="1198688"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Defective Vendor App.</a:t>
              </a:r>
            </a:p>
          </p:txBody>
        </p:sp>
        <p:cxnSp>
          <p:nvCxnSpPr>
            <p:cNvPr id="27" name="직선 연결선 238"/>
            <p:cNvCxnSpPr>
              <a:cxnSpLocks noChangeShapeType="1"/>
            </p:cNvCxnSpPr>
            <p:nvPr/>
          </p:nvCxnSpPr>
          <p:spPr bwMode="auto">
            <a:xfrm>
              <a:off x="2063750" y="1859062"/>
              <a:ext cx="79851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28" name="모서리가 둥근 직사각형 239"/>
            <p:cNvSpPr>
              <a:spLocks noChangeArrowheads="1"/>
            </p:cNvSpPr>
            <p:nvPr/>
          </p:nvSpPr>
          <p:spPr bwMode="auto">
            <a:xfrm>
              <a:off x="2655265" y="1704621"/>
              <a:ext cx="1464942"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Screen not turned off</a:t>
              </a:r>
            </a:p>
            <a:p>
              <a:pPr algn="ctr"/>
              <a:r>
                <a:rPr lang="en-US" altLang="ko-KR" sz="800" b="1" dirty="0">
                  <a:solidFill>
                    <a:srgbClr val="000000"/>
                  </a:solidFill>
                  <a:latin typeface="Arial" pitchFamily="34" charset="0"/>
                  <a:ea typeface="맑은 고딕" pitchFamily="50" charset="-127"/>
                  <a:cs typeface="Arial" pitchFamily="34" charset="0"/>
                </a:rPr>
                <a:t>when Home key is switched</a:t>
              </a:r>
            </a:p>
          </p:txBody>
        </p:sp>
        <p:cxnSp>
          <p:nvCxnSpPr>
            <p:cNvPr id="29" name="직선 연결선 240"/>
            <p:cNvCxnSpPr>
              <a:cxnSpLocks noChangeShapeType="1"/>
            </p:cNvCxnSpPr>
            <p:nvPr/>
          </p:nvCxnSpPr>
          <p:spPr bwMode="auto">
            <a:xfrm flipH="1">
              <a:off x="3536950" y="2435325"/>
              <a:ext cx="387350" cy="819150"/>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30" name="모서리가 둥근 직사각형 241"/>
            <p:cNvSpPr>
              <a:spLocks noChangeArrowheads="1"/>
            </p:cNvSpPr>
            <p:nvPr/>
          </p:nvSpPr>
          <p:spPr bwMode="auto">
            <a:xfrm>
              <a:off x="2756781" y="3284301"/>
              <a:ext cx="130952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Installation of heavy app</a:t>
              </a:r>
            </a:p>
          </p:txBody>
        </p:sp>
        <p:cxnSp>
          <p:nvCxnSpPr>
            <p:cNvPr id="31" name="직선 연결선 242"/>
            <p:cNvCxnSpPr>
              <a:cxnSpLocks noChangeShapeType="1"/>
            </p:cNvCxnSpPr>
            <p:nvPr/>
          </p:nvCxnSpPr>
          <p:spPr bwMode="auto">
            <a:xfrm flipH="1">
              <a:off x="1484313" y="2449612"/>
              <a:ext cx="409575" cy="82708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32" name="모서리가 둥근 직사각형 243"/>
            <p:cNvSpPr>
              <a:spLocks noChangeArrowheads="1"/>
            </p:cNvSpPr>
            <p:nvPr/>
          </p:nvSpPr>
          <p:spPr bwMode="auto">
            <a:xfrm>
              <a:off x="975052" y="3271602"/>
              <a:ext cx="70579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Alarm setting</a:t>
              </a:r>
            </a:p>
          </p:txBody>
        </p:sp>
        <p:cxnSp>
          <p:nvCxnSpPr>
            <p:cNvPr id="33" name="직선 연결선 244"/>
            <p:cNvCxnSpPr>
              <a:cxnSpLocks noChangeShapeType="1"/>
            </p:cNvCxnSpPr>
            <p:nvPr/>
          </p:nvCxnSpPr>
          <p:spPr bwMode="auto">
            <a:xfrm>
              <a:off x="1506538" y="2794100"/>
              <a:ext cx="201612"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34" name="모서리가 둥근 직사각형 245"/>
            <p:cNvSpPr>
              <a:spLocks noChangeArrowheads="1"/>
            </p:cNvSpPr>
            <p:nvPr/>
          </p:nvSpPr>
          <p:spPr bwMode="auto">
            <a:xfrm>
              <a:off x="384275" y="2604734"/>
              <a:ext cx="1080891"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Receiving SNS Feed</a:t>
              </a:r>
            </a:p>
            <a:p>
              <a:pPr algn="ctr"/>
              <a:r>
                <a:rPr lang="en-US" altLang="ko-KR" sz="800" b="1" dirty="0">
                  <a:solidFill>
                    <a:srgbClr val="000000"/>
                  </a:solidFill>
                  <a:latin typeface="Arial" pitchFamily="34" charset="0"/>
                  <a:ea typeface="맑은 고딕" pitchFamily="50" charset="-127"/>
                  <a:cs typeface="Arial" pitchFamily="34" charset="0"/>
                </a:rPr>
                <a:t>continuously</a:t>
              </a:r>
            </a:p>
          </p:txBody>
        </p:sp>
        <p:cxnSp>
          <p:nvCxnSpPr>
            <p:cNvPr id="35" name="직선 연결선 246"/>
            <p:cNvCxnSpPr>
              <a:cxnSpLocks noChangeShapeType="1"/>
            </p:cNvCxnSpPr>
            <p:nvPr/>
          </p:nvCxnSpPr>
          <p:spPr bwMode="auto">
            <a:xfrm>
              <a:off x="1617663" y="3010000"/>
              <a:ext cx="20002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36" name="모서리가 둥근 직사각형 247"/>
            <p:cNvSpPr>
              <a:spLocks noChangeArrowheads="1"/>
            </p:cNvSpPr>
            <p:nvPr/>
          </p:nvSpPr>
          <p:spPr bwMode="auto">
            <a:xfrm>
              <a:off x="1806234" y="2811902"/>
              <a:ext cx="724444"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Short update</a:t>
              </a:r>
            </a:p>
            <a:p>
              <a:pPr algn="ctr"/>
              <a:r>
                <a:rPr lang="en-US" altLang="ko-KR" sz="800" b="1" dirty="0">
                  <a:solidFill>
                    <a:srgbClr val="000000"/>
                  </a:solidFill>
                  <a:latin typeface="Arial" pitchFamily="34" charset="0"/>
                  <a:ea typeface="맑은 고딕" pitchFamily="50" charset="-127"/>
                  <a:cs typeface="Arial" pitchFamily="34" charset="0"/>
                </a:rPr>
                <a:t>interval</a:t>
              </a:r>
            </a:p>
          </p:txBody>
        </p:sp>
        <p:cxnSp>
          <p:nvCxnSpPr>
            <p:cNvPr id="37" name="직선 연결선 248"/>
            <p:cNvCxnSpPr>
              <a:cxnSpLocks noChangeShapeType="1"/>
            </p:cNvCxnSpPr>
            <p:nvPr/>
          </p:nvCxnSpPr>
          <p:spPr bwMode="auto">
            <a:xfrm>
              <a:off x="3606800" y="2660750"/>
              <a:ext cx="20002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38" name="모서리가 둥근 직사각형 249"/>
            <p:cNvSpPr>
              <a:spLocks noChangeArrowheads="1"/>
            </p:cNvSpPr>
            <p:nvPr/>
          </p:nvSpPr>
          <p:spPr bwMode="auto">
            <a:xfrm>
              <a:off x="2408314" y="2521389"/>
              <a:ext cx="1507979"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latin typeface="Arial" pitchFamily="34" charset="0"/>
                  <a:ea typeface="맑은 고딕" pitchFamily="50" charset="-127"/>
                  <a:cs typeface="Arial" pitchFamily="34" charset="0"/>
                </a:rPr>
                <a:t>Installation of widget</a:t>
              </a:r>
            </a:p>
            <a:p>
              <a:pPr algn="ctr"/>
              <a:r>
                <a:rPr lang="en-US" altLang="ko-KR" sz="800" b="1" dirty="0">
                  <a:latin typeface="Arial" pitchFamily="34" charset="0"/>
                  <a:ea typeface="맑은 고딕" pitchFamily="50" charset="-127"/>
                  <a:cs typeface="Arial" pitchFamily="34" charset="0"/>
                </a:rPr>
                <a:t>that access network anytime</a:t>
              </a:r>
            </a:p>
          </p:txBody>
        </p:sp>
        <p:cxnSp>
          <p:nvCxnSpPr>
            <p:cNvPr id="39" name="직선 연결선 250"/>
            <p:cNvCxnSpPr>
              <a:cxnSpLocks noChangeShapeType="1"/>
            </p:cNvCxnSpPr>
            <p:nvPr/>
          </p:nvCxnSpPr>
          <p:spPr bwMode="auto">
            <a:xfrm>
              <a:off x="3675063" y="2992537"/>
              <a:ext cx="201612"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40" name="모서리가 둥근 직사각형 251"/>
            <p:cNvSpPr>
              <a:spLocks noChangeArrowheads="1"/>
            </p:cNvSpPr>
            <p:nvPr/>
          </p:nvSpPr>
          <p:spPr bwMode="auto">
            <a:xfrm>
              <a:off x="3754441" y="2793397"/>
              <a:ext cx="1169984" cy="518667"/>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App for continuously</a:t>
              </a:r>
            </a:p>
            <a:p>
              <a:pPr algn="ctr"/>
              <a:r>
                <a:rPr lang="en-US" altLang="ko-KR" sz="800" b="1" dirty="0">
                  <a:solidFill>
                    <a:srgbClr val="000000"/>
                  </a:solidFill>
                  <a:latin typeface="Arial" pitchFamily="34" charset="0"/>
                  <a:ea typeface="맑은 고딕" pitchFamily="50" charset="-127"/>
                  <a:cs typeface="Arial" pitchFamily="34" charset="0"/>
                </a:rPr>
                <a:t>receiving notification</a:t>
              </a:r>
            </a:p>
            <a:p>
              <a:pPr algn="ctr"/>
              <a:r>
                <a:rPr lang="en-US" altLang="ko-KR" sz="800" b="1" dirty="0">
                  <a:solidFill>
                    <a:srgbClr val="000000"/>
                  </a:solidFill>
                  <a:latin typeface="Arial" pitchFamily="34" charset="0"/>
                  <a:ea typeface="맑은 고딕" pitchFamily="50" charset="-127"/>
                  <a:cs typeface="Arial" pitchFamily="34" charset="0"/>
                </a:rPr>
                <a:t> is installed</a:t>
              </a:r>
            </a:p>
          </p:txBody>
        </p:sp>
        <p:sp>
          <p:nvSpPr>
            <p:cNvPr id="41" name="모서리가 둥근 직사각형 252"/>
            <p:cNvSpPr>
              <a:spLocks noChangeArrowheads="1"/>
            </p:cNvSpPr>
            <p:nvPr/>
          </p:nvSpPr>
          <p:spPr bwMode="auto">
            <a:xfrm>
              <a:off x="7594393" y="847489"/>
              <a:ext cx="1087856"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Launch Google Now</a:t>
              </a:r>
            </a:p>
          </p:txBody>
        </p:sp>
        <p:sp>
          <p:nvSpPr>
            <p:cNvPr id="42" name="모서리가 둥근 직사각형 253"/>
            <p:cNvSpPr>
              <a:spLocks noChangeArrowheads="1"/>
            </p:cNvSpPr>
            <p:nvPr/>
          </p:nvSpPr>
          <p:spPr bwMode="auto">
            <a:xfrm>
              <a:off x="8172155" y="1123714"/>
              <a:ext cx="1481734"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latin typeface="Arial" pitchFamily="34" charset="0"/>
                  <a:ea typeface="맑은 고딕" pitchFamily="50" charset="-127"/>
                  <a:cs typeface="Arial" pitchFamily="34" charset="0"/>
                </a:rPr>
                <a:t> </a:t>
              </a:r>
              <a:r>
                <a:rPr lang="en-US" altLang="ko-KR" sz="800" b="1" dirty="0">
                  <a:latin typeface="Arial" pitchFamily="34" charset="0"/>
                  <a:ea typeface="맑은 고딕" pitchFamily="50" charset="-127"/>
                  <a:cs typeface="Arial" pitchFamily="34" charset="0"/>
                </a:rPr>
                <a:t>Send data in 1 min intervals</a:t>
              </a:r>
            </a:p>
          </p:txBody>
        </p:sp>
        <p:cxnSp>
          <p:nvCxnSpPr>
            <p:cNvPr id="43" name="직선 연결선 254"/>
            <p:cNvCxnSpPr>
              <a:cxnSpLocks noChangeShapeType="1"/>
            </p:cNvCxnSpPr>
            <p:nvPr/>
          </p:nvCxnSpPr>
          <p:spPr bwMode="auto">
            <a:xfrm>
              <a:off x="7777163" y="1324075"/>
              <a:ext cx="201612"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44" name="모서리가 둥근 직사각형 255"/>
            <p:cNvSpPr>
              <a:spLocks noChangeArrowheads="1"/>
            </p:cNvSpPr>
            <p:nvPr/>
          </p:nvSpPr>
          <p:spPr bwMode="auto">
            <a:xfrm>
              <a:off x="7019734" y="1172014"/>
              <a:ext cx="689361"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Non periodic</a:t>
              </a:r>
            </a:p>
            <a:p>
              <a:pPr algn="ctr"/>
              <a:r>
                <a:rPr lang="en-US" altLang="ko-KR" sz="800" b="1" dirty="0">
                  <a:solidFill>
                    <a:srgbClr val="000000"/>
                  </a:solidFill>
                  <a:latin typeface="Arial" pitchFamily="34" charset="0"/>
                  <a:ea typeface="맑은 고딕" pitchFamily="50" charset="-127"/>
                  <a:cs typeface="Arial" pitchFamily="34" charset="0"/>
                </a:rPr>
                <a:t>Google Sync</a:t>
              </a:r>
            </a:p>
          </p:txBody>
        </p:sp>
        <p:sp>
          <p:nvSpPr>
            <p:cNvPr id="45" name="모서리가 둥근 직사각형 256"/>
            <p:cNvSpPr>
              <a:spLocks noChangeArrowheads="1"/>
            </p:cNvSpPr>
            <p:nvPr/>
          </p:nvSpPr>
          <p:spPr bwMode="auto">
            <a:xfrm>
              <a:off x="5257357" y="3441463"/>
              <a:ext cx="929575"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LCD turn off time</a:t>
              </a:r>
            </a:p>
          </p:txBody>
        </p:sp>
        <p:cxnSp>
          <p:nvCxnSpPr>
            <p:cNvPr id="46" name="직선 연결선 257"/>
            <p:cNvCxnSpPr>
              <a:cxnSpLocks noChangeShapeType="1"/>
            </p:cNvCxnSpPr>
            <p:nvPr/>
          </p:nvCxnSpPr>
          <p:spPr bwMode="auto">
            <a:xfrm>
              <a:off x="5637213" y="3344962"/>
              <a:ext cx="115887"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47" name="모서리가 둥근 직사각형 258"/>
            <p:cNvSpPr>
              <a:spLocks noChangeArrowheads="1"/>
            </p:cNvSpPr>
            <p:nvPr/>
          </p:nvSpPr>
          <p:spPr bwMode="auto">
            <a:xfrm>
              <a:off x="5799138" y="3246202"/>
              <a:ext cx="721282"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r>
                <a:rPr lang="en-US" altLang="ko-KR" sz="800" b="1" dirty="0">
                  <a:solidFill>
                    <a:srgbClr val="000000"/>
                  </a:solidFill>
                  <a:latin typeface="Arial" pitchFamily="34" charset="0"/>
                  <a:ea typeface="맑은 고딕" pitchFamily="50" charset="-127"/>
                  <a:cs typeface="Arial" pitchFamily="34" charset="0"/>
                </a:rPr>
                <a:t>Set to &gt; 2</a:t>
              </a: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min</a:t>
              </a:r>
            </a:p>
          </p:txBody>
        </p:sp>
        <p:sp>
          <p:nvSpPr>
            <p:cNvPr id="48" name="모서리가 둥근 직사각형 259"/>
            <p:cNvSpPr>
              <a:spLocks noChangeArrowheads="1"/>
            </p:cNvSpPr>
            <p:nvPr/>
          </p:nvSpPr>
          <p:spPr bwMode="auto">
            <a:xfrm>
              <a:off x="5072416" y="2755664"/>
              <a:ext cx="786697"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Synch. setting</a:t>
              </a:r>
            </a:p>
          </p:txBody>
        </p:sp>
        <p:sp>
          <p:nvSpPr>
            <p:cNvPr id="49" name="모서리가 둥근 직사각형 260"/>
            <p:cNvSpPr>
              <a:spLocks noChangeArrowheads="1"/>
            </p:cNvSpPr>
            <p:nvPr/>
          </p:nvSpPr>
          <p:spPr bwMode="auto">
            <a:xfrm>
              <a:off x="5604963" y="2905564"/>
              <a:ext cx="863017"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Multi account</a:t>
              </a:r>
            </a:p>
            <a:p>
              <a:pPr algn="ctr"/>
              <a:r>
                <a:rPr lang="en-US" altLang="ko-KR" sz="800" b="1" dirty="0">
                  <a:solidFill>
                    <a:srgbClr val="000000"/>
                  </a:solidFill>
                  <a:latin typeface="Arial" pitchFamily="34" charset="0"/>
                  <a:ea typeface="맑은 고딕" pitchFamily="50" charset="-127"/>
                  <a:cs typeface="Arial" pitchFamily="34" charset="0"/>
                </a:rPr>
                <a:t>synchronization</a:t>
              </a:r>
            </a:p>
          </p:txBody>
        </p:sp>
        <p:cxnSp>
          <p:nvCxnSpPr>
            <p:cNvPr id="50" name="직선 연결선 261"/>
            <p:cNvCxnSpPr>
              <a:cxnSpLocks noChangeShapeType="1"/>
            </p:cNvCxnSpPr>
            <p:nvPr/>
          </p:nvCxnSpPr>
          <p:spPr bwMode="auto">
            <a:xfrm>
              <a:off x="465138" y="4949925"/>
              <a:ext cx="1989137"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51" name="직선 연결선 262"/>
            <p:cNvCxnSpPr>
              <a:cxnSpLocks noChangeShapeType="1"/>
            </p:cNvCxnSpPr>
            <p:nvPr/>
          </p:nvCxnSpPr>
          <p:spPr bwMode="auto">
            <a:xfrm>
              <a:off x="1919288" y="4505425"/>
              <a:ext cx="182562" cy="434975"/>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52" name="직선 연결선 263"/>
            <p:cNvCxnSpPr>
              <a:cxnSpLocks noChangeShapeType="1"/>
            </p:cNvCxnSpPr>
            <p:nvPr/>
          </p:nvCxnSpPr>
          <p:spPr bwMode="auto">
            <a:xfrm>
              <a:off x="1404938" y="4794350"/>
              <a:ext cx="623887"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53" name="모서리가 둥근 직사각형 264"/>
            <p:cNvSpPr>
              <a:spLocks noChangeArrowheads="1"/>
            </p:cNvSpPr>
            <p:nvPr/>
          </p:nvSpPr>
          <p:spPr bwMode="auto">
            <a:xfrm>
              <a:off x="1388717" y="4271725"/>
              <a:ext cx="865883"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AP compatibility</a:t>
              </a:r>
            </a:p>
          </p:txBody>
        </p:sp>
        <p:sp>
          <p:nvSpPr>
            <p:cNvPr id="54" name="모서리가 둥근 직사각형 265"/>
            <p:cNvSpPr>
              <a:spLocks noChangeArrowheads="1"/>
            </p:cNvSpPr>
            <p:nvPr/>
          </p:nvSpPr>
          <p:spPr bwMode="auto">
            <a:xfrm>
              <a:off x="412427" y="4679714"/>
              <a:ext cx="1137303"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Protocol violating AP</a:t>
              </a:r>
            </a:p>
          </p:txBody>
        </p:sp>
        <p:cxnSp>
          <p:nvCxnSpPr>
            <p:cNvPr id="55" name="직선 연결선 266"/>
            <p:cNvCxnSpPr>
              <a:cxnSpLocks noChangeShapeType="1"/>
            </p:cNvCxnSpPr>
            <p:nvPr/>
          </p:nvCxnSpPr>
          <p:spPr bwMode="auto">
            <a:xfrm flipH="1">
              <a:off x="1377950" y="4948337"/>
              <a:ext cx="180975" cy="360363"/>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56" name="모서리가 둥근 직사각형 48"/>
            <p:cNvSpPr/>
            <p:nvPr/>
          </p:nvSpPr>
          <p:spPr>
            <a:xfrm>
              <a:off x="117723" y="4835726"/>
              <a:ext cx="243417"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WiFi</a:t>
              </a:r>
            </a:p>
          </p:txBody>
        </p:sp>
        <p:cxnSp>
          <p:nvCxnSpPr>
            <p:cNvPr id="57" name="직선 연결선 268"/>
            <p:cNvCxnSpPr>
              <a:cxnSpLocks noChangeShapeType="1"/>
            </p:cNvCxnSpPr>
            <p:nvPr/>
          </p:nvCxnSpPr>
          <p:spPr bwMode="auto">
            <a:xfrm>
              <a:off x="1263650" y="5111850"/>
              <a:ext cx="20161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58" name="모서리가 둥근 직사각형 269"/>
            <p:cNvSpPr>
              <a:spLocks noChangeArrowheads="1"/>
            </p:cNvSpPr>
            <p:nvPr/>
          </p:nvSpPr>
          <p:spPr bwMode="auto">
            <a:xfrm>
              <a:off x="431243" y="5000388"/>
              <a:ext cx="959973"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Multiple</a:t>
              </a: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AP region</a:t>
              </a:r>
            </a:p>
          </p:txBody>
        </p:sp>
        <p:cxnSp>
          <p:nvCxnSpPr>
            <p:cNvPr id="59" name="직선 연결선 270"/>
            <p:cNvCxnSpPr>
              <a:cxnSpLocks noChangeShapeType="1"/>
            </p:cNvCxnSpPr>
            <p:nvPr/>
          </p:nvCxnSpPr>
          <p:spPr bwMode="auto">
            <a:xfrm>
              <a:off x="1443038" y="5203925"/>
              <a:ext cx="20002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60" name="모서리가 둥근 직사각형 271"/>
            <p:cNvSpPr>
              <a:spLocks noChangeArrowheads="1"/>
            </p:cNvSpPr>
            <p:nvPr/>
          </p:nvSpPr>
          <p:spPr bwMode="auto">
            <a:xfrm>
              <a:off x="1752918" y="5106752"/>
              <a:ext cx="461328"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RF Band</a:t>
              </a:r>
            </a:p>
          </p:txBody>
        </p:sp>
        <p:cxnSp>
          <p:nvCxnSpPr>
            <p:cNvPr id="61" name="직선 연결선 272"/>
            <p:cNvCxnSpPr>
              <a:cxnSpLocks noChangeShapeType="1"/>
            </p:cNvCxnSpPr>
            <p:nvPr/>
          </p:nvCxnSpPr>
          <p:spPr bwMode="auto">
            <a:xfrm>
              <a:off x="1589088" y="4672112"/>
              <a:ext cx="61912" cy="107950"/>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62" name="직선 연결선 274"/>
            <p:cNvCxnSpPr>
              <a:cxnSpLocks noChangeShapeType="1"/>
            </p:cNvCxnSpPr>
            <p:nvPr/>
          </p:nvCxnSpPr>
          <p:spPr bwMode="auto">
            <a:xfrm>
              <a:off x="1979613" y="4634012"/>
              <a:ext cx="1555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63" name="모서리가 둥근 직사각형 275"/>
            <p:cNvSpPr>
              <a:spLocks noChangeArrowheads="1"/>
            </p:cNvSpPr>
            <p:nvPr/>
          </p:nvSpPr>
          <p:spPr bwMode="auto">
            <a:xfrm>
              <a:off x="2156814" y="4456554"/>
              <a:ext cx="501262"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Low cost</a:t>
              </a:r>
            </a:p>
            <a:p>
              <a:pPr algn="ctr"/>
              <a:r>
                <a:rPr lang="en-US" altLang="ko-KR" sz="800" b="1" dirty="0">
                  <a:solidFill>
                    <a:srgbClr val="000000"/>
                  </a:solidFill>
                  <a:latin typeface="Arial" pitchFamily="34" charset="0"/>
                  <a:ea typeface="맑은 고딕" pitchFamily="50" charset="-127"/>
                  <a:cs typeface="Arial" pitchFamily="34" charset="0"/>
                </a:rPr>
                <a:t>AP</a:t>
              </a:r>
            </a:p>
          </p:txBody>
        </p:sp>
        <p:sp>
          <p:nvSpPr>
            <p:cNvPr id="64" name="모서리가 둥근 직사각형 276"/>
            <p:cNvSpPr>
              <a:spLocks noChangeArrowheads="1"/>
            </p:cNvSpPr>
            <p:nvPr/>
          </p:nvSpPr>
          <p:spPr bwMode="auto">
            <a:xfrm>
              <a:off x="789135" y="5278201"/>
              <a:ext cx="1123663"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latin typeface="Arial" pitchFamily="34" charset="0"/>
                  <a:ea typeface="맑은 고딕" pitchFamily="50" charset="-127"/>
                  <a:cs typeface="Arial" pitchFamily="34" charset="0"/>
                </a:rPr>
                <a:t>Abnormal connection</a:t>
              </a:r>
            </a:p>
          </p:txBody>
        </p:sp>
        <p:cxnSp>
          <p:nvCxnSpPr>
            <p:cNvPr id="65" name="직선 연결선 277"/>
            <p:cNvCxnSpPr>
              <a:cxnSpLocks noChangeShapeType="1"/>
            </p:cNvCxnSpPr>
            <p:nvPr/>
          </p:nvCxnSpPr>
          <p:spPr bwMode="auto">
            <a:xfrm>
              <a:off x="533400" y="5775425"/>
              <a:ext cx="1365250"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66" name="직선 연결선 278"/>
            <p:cNvCxnSpPr>
              <a:cxnSpLocks noChangeShapeType="1"/>
              <a:endCxn id="68" idx="0"/>
            </p:cNvCxnSpPr>
            <p:nvPr/>
          </p:nvCxnSpPr>
          <p:spPr bwMode="auto">
            <a:xfrm flipH="1">
              <a:off x="729457" y="5775425"/>
              <a:ext cx="76993" cy="77334"/>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67" name="모서리가 둥근 직사각형 60"/>
            <p:cNvSpPr/>
            <p:nvPr/>
          </p:nvSpPr>
          <p:spPr>
            <a:xfrm>
              <a:off x="112344" y="5580704"/>
              <a:ext cx="344490" cy="361270"/>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Weak</a:t>
              </a:r>
            </a:p>
            <a:p>
              <a:pPr algn="ctr">
                <a:defRPr/>
              </a:pPr>
              <a:r>
                <a:rPr lang="en-US" altLang="ko-KR" sz="800" b="1" dirty="0">
                  <a:solidFill>
                    <a:srgbClr val="005404"/>
                  </a:solidFill>
                  <a:latin typeface="Arial" panose="020B0604020202020204" pitchFamily="34" charset="0"/>
                  <a:cs typeface="Arial" panose="020B0604020202020204" pitchFamily="34" charset="0"/>
                </a:rPr>
                <a:t>signal</a:t>
              </a:r>
            </a:p>
          </p:txBody>
        </p:sp>
        <p:sp>
          <p:nvSpPr>
            <p:cNvPr id="68" name="모서리가 둥근 직사각형 280"/>
            <p:cNvSpPr>
              <a:spLocks noChangeArrowheads="1"/>
            </p:cNvSpPr>
            <p:nvPr/>
          </p:nvSpPr>
          <p:spPr bwMode="auto">
            <a:xfrm>
              <a:off x="222250" y="5852760"/>
              <a:ext cx="1014413"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CP Chip Reset/</a:t>
              </a:r>
            </a:p>
            <a:p>
              <a:pPr algn="ctr"/>
              <a:r>
                <a:rPr lang="en-US" altLang="ko-KR" sz="800" b="1" dirty="0">
                  <a:solidFill>
                    <a:srgbClr val="000000"/>
                  </a:solidFill>
                  <a:latin typeface="Arial" pitchFamily="34" charset="0"/>
                  <a:ea typeface="맑은 고딕" pitchFamily="50" charset="-127"/>
                  <a:cs typeface="Arial" pitchFamily="34" charset="0"/>
                </a:rPr>
                <a:t>Hangout</a:t>
              </a:r>
            </a:p>
          </p:txBody>
        </p:sp>
        <p:cxnSp>
          <p:nvCxnSpPr>
            <p:cNvPr id="69" name="직선 연결선 281"/>
            <p:cNvCxnSpPr>
              <a:cxnSpLocks noChangeShapeType="1"/>
            </p:cNvCxnSpPr>
            <p:nvPr/>
          </p:nvCxnSpPr>
          <p:spPr bwMode="auto">
            <a:xfrm>
              <a:off x="893763" y="5618262"/>
              <a:ext cx="52387" cy="149225"/>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70" name="모서리가 둥근 직사각형 282"/>
            <p:cNvSpPr>
              <a:spLocks noChangeArrowheads="1"/>
            </p:cNvSpPr>
            <p:nvPr/>
          </p:nvSpPr>
          <p:spPr bwMode="auto">
            <a:xfrm>
              <a:off x="308620" y="5460764"/>
              <a:ext cx="1086151"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No Service repeated</a:t>
              </a:r>
            </a:p>
          </p:txBody>
        </p:sp>
        <p:cxnSp>
          <p:nvCxnSpPr>
            <p:cNvPr id="71" name="직선 연결선 283"/>
            <p:cNvCxnSpPr>
              <a:cxnSpLocks noChangeShapeType="1"/>
            </p:cNvCxnSpPr>
            <p:nvPr/>
          </p:nvCxnSpPr>
          <p:spPr bwMode="auto">
            <a:xfrm>
              <a:off x="2727325" y="4567337"/>
              <a:ext cx="1619250"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72" name="직선 연결선 284"/>
            <p:cNvCxnSpPr>
              <a:cxnSpLocks noChangeShapeType="1"/>
            </p:cNvCxnSpPr>
            <p:nvPr/>
          </p:nvCxnSpPr>
          <p:spPr bwMode="auto">
            <a:xfrm flipH="1">
              <a:off x="3697288" y="4114900"/>
              <a:ext cx="217487" cy="458787"/>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73" name="직선 연결선 285"/>
            <p:cNvCxnSpPr>
              <a:cxnSpLocks noChangeShapeType="1"/>
            </p:cNvCxnSpPr>
            <p:nvPr/>
          </p:nvCxnSpPr>
          <p:spPr bwMode="auto">
            <a:xfrm>
              <a:off x="3787775" y="4376837"/>
              <a:ext cx="19526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74" name="모서리가 둥근 직사각형 67"/>
            <p:cNvSpPr/>
            <p:nvPr/>
          </p:nvSpPr>
          <p:spPr>
            <a:xfrm>
              <a:off x="4407462" y="4465164"/>
              <a:ext cx="245221"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GPS</a:t>
              </a:r>
            </a:p>
          </p:txBody>
        </p:sp>
        <p:sp>
          <p:nvSpPr>
            <p:cNvPr id="75" name="모서리가 둥근 직사각형 287"/>
            <p:cNvSpPr>
              <a:spLocks noChangeArrowheads="1"/>
            </p:cNvSpPr>
            <p:nvPr/>
          </p:nvSpPr>
          <p:spPr bwMode="auto">
            <a:xfrm>
              <a:off x="3412273" y="3905013"/>
              <a:ext cx="1106612"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Unstable connection</a:t>
              </a:r>
            </a:p>
          </p:txBody>
        </p:sp>
        <p:sp>
          <p:nvSpPr>
            <p:cNvPr id="76" name="모서리가 둥근 직사각형 288"/>
            <p:cNvSpPr>
              <a:spLocks noChangeArrowheads="1"/>
            </p:cNvSpPr>
            <p:nvPr/>
          </p:nvSpPr>
          <p:spPr bwMode="auto">
            <a:xfrm>
              <a:off x="3938232" y="4274902"/>
              <a:ext cx="74366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Inside Tunnel</a:t>
              </a:r>
            </a:p>
          </p:txBody>
        </p:sp>
        <p:cxnSp>
          <p:nvCxnSpPr>
            <p:cNvPr id="77" name="직선 연결선 289"/>
            <p:cNvCxnSpPr>
              <a:cxnSpLocks noChangeShapeType="1"/>
            </p:cNvCxnSpPr>
            <p:nvPr/>
          </p:nvCxnSpPr>
          <p:spPr bwMode="auto">
            <a:xfrm>
              <a:off x="3690938" y="4232375"/>
              <a:ext cx="157162"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78" name="모서리가 둥근 직사각형 290"/>
            <p:cNvSpPr>
              <a:spLocks noChangeArrowheads="1"/>
            </p:cNvSpPr>
            <p:nvPr/>
          </p:nvSpPr>
          <p:spPr bwMode="auto">
            <a:xfrm>
              <a:off x="2921689" y="4053327"/>
              <a:ext cx="865408"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High rises,</a:t>
              </a:r>
            </a:p>
            <a:p>
              <a:pPr algn="ctr"/>
              <a:r>
                <a:rPr lang="en-US" altLang="ko-KR" sz="800" b="1" dirty="0">
                  <a:solidFill>
                    <a:srgbClr val="000000"/>
                  </a:solidFill>
                  <a:latin typeface="Arial" pitchFamily="34" charset="0"/>
                  <a:ea typeface="맑은 고딕" pitchFamily="50" charset="-127"/>
                  <a:cs typeface="Arial" pitchFamily="34" charset="0"/>
                </a:rPr>
                <a:t>Mountain region</a:t>
              </a:r>
            </a:p>
          </p:txBody>
        </p:sp>
        <p:cxnSp>
          <p:nvCxnSpPr>
            <p:cNvPr id="79" name="직선 연결선 291"/>
            <p:cNvCxnSpPr>
              <a:cxnSpLocks noChangeShapeType="1"/>
              <a:endCxn id="80" idx="1"/>
            </p:cNvCxnSpPr>
            <p:nvPr/>
          </p:nvCxnSpPr>
          <p:spPr bwMode="auto">
            <a:xfrm flipV="1">
              <a:off x="1989138" y="5669615"/>
              <a:ext cx="2123126" cy="103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0" name="모서리가 둥근 직사각형 73"/>
            <p:cNvSpPr/>
            <p:nvPr/>
          </p:nvSpPr>
          <p:spPr>
            <a:xfrm>
              <a:off x="4112264" y="5567678"/>
              <a:ext cx="517854"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Bluetooth</a:t>
              </a:r>
            </a:p>
          </p:txBody>
        </p:sp>
        <p:cxnSp>
          <p:nvCxnSpPr>
            <p:cNvPr id="81" name="직선 연결선 293"/>
            <p:cNvCxnSpPr>
              <a:cxnSpLocks noChangeShapeType="1"/>
            </p:cNvCxnSpPr>
            <p:nvPr/>
          </p:nvCxnSpPr>
          <p:spPr bwMode="auto">
            <a:xfrm>
              <a:off x="2662238" y="5686525"/>
              <a:ext cx="242887" cy="592137"/>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82" name="직선 연결선 294"/>
            <p:cNvCxnSpPr>
              <a:cxnSpLocks noChangeShapeType="1"/>
            </p:cNvCxnSpPr>
            <p:nvPr/>
          </p:nvCxnSpPr>
          <p:spPr bwMode="auto">
            <a:xfrm>
              <a:off x="2833688" y="6084987"/>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3" name="모서리가 둥근 직사각형 295"/>
            <p:cNvSpPr>
              <a:spLocks noChangeArrowheads="1"/>
            </p:cNvSpPr>
            <p:nvPr/>
          </p:nvSpPr>
          <p:spPr bwMode="auto">
            <a:xfrm>
              <a:off x="3096772" y="5907528"/>
              <a:ext cx="694624"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Headset </a:t>
              </a:r>
            </a:p>
            <a:p>
              <a:pPr algn="ctr"/>
              <a:r>
                <a:rPr lang="en-US" altLang="ko-KR" sz="800" b="1" dirty="0">
                  <a:solidFill>
                    <a:srgbClr val="000000"/>
                  </a:solidFill>
                  <a:latin typeface="Arial" pitchFamily="34" charset="0"/>
                  <a:ea typeface="맑은 고딕" pitchFamily="50" charset="-127"/>
                  <a:cs typeface="Arial" pitchFamily="34" charset="0"/>
                </a:rPr>
                <a:t>compatibility</a:t>
              </a:r>
            </a:p>
          </p:txBody>
        </p:sp>
        <p:sp>
          <p:nvSpPr>
            <p:cNvPr id="84" name="모서리가 둥근 직사각형 296"/>
            <p:cNvSpPr>
              <a:spLocks noChangeArrowheads="1"/>
            </p:cNvSpPr>
            <p:nvPr/>
          </p:nvSpPr>
          <p:spPr bwMode="auto">
            <a:xfrm>
              <a:off x="2650414" y="6242489"/>
              <a:ext cx="1365097"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r>
                <a:rPr lang="en-US" altLang="ko-KR" sz="800" b="1" dirty="0">
                  <a:solidFill>
                    <a:srgbClr val="000000"/>
                  </a:solidFill>
                  <a:latin typeface="Arial" pitchFamily="34" charset="0"/>
                  <a:ea typeface="맑은 고딕" pitchFamily="50" charset="-127"/>
                  <a:cs typeface="Arial" pitchFamily="34" charset="0"/>
                </a:rPr>
                <a:t>Connection/</a:t>
              </a:r>
            </a:p>
            <a:p>
              <a:r>
                <a:rPr lang="en-US" altLang="ko-KR" sz="800" b="1" dirty="0">
                  <a:solidFill>
                    <a:srgbClr val="000000"/>
                  </a:solidFill>
                  <a:latin typeface="Arial" pitchFamily="34" charset="0"/>
                  <a:ea typeface="맑은 고딕" pitchFamily="50" charset="-127"/>
                  <a:cs typeface="Arial" pitchFamily="34" charset="0"/>
                </a:rPr>
                <a:t>disconnection is repeated</a:t>
              </a:r>
            </a:p>
          </p:txBody>
        </p:sp>
        <p:cxnSp>
          <p:nvCxnSpPr>
            <p:cNvPr id="85" name="직선 연결선 297"/>
            <p:cNvCxnSpPr>
              <a:cxnSpLocks noChangeShapeType="1"/>
            </p:cNvCxnSpPr>
            <p:nvPr/>
          </p:nvCxnSpPr>
          <p:spPr bwMode="auto">
            <a:xfrm flipH="1">
              <a:off x="2917825" y="5191225"/>
              <a:ext cx="215900" cy="458787"/>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86" name="직선 연결선 298"/>
            <p:cNvCxnSpPr>
              <a:cxnSpLocks noChangeShapeType="1"/>
            </p:cNvCxnSpPr>
            <p:nvPr/>
          </p:nvCxnSpPr>
          <p:spPr bwMode="auto">
            <a:xfrm>
              <a:off x="3006725" y="5497612"/>
              <a:ext cx="19526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87" name="모서리가 둥근 직사각형 299"/>
            <p:cNvSpPr>
              <a:spLocks noChangeArrowheads="1"/>
            </p:cNvSpPr>
            <p:nvPr/>
          </p:nvSpPr>
          <p:spPr bwMode="auto">
            <a:xfrm>
              <a:off x="3361092" y="5315390"/>
              <a:ext cx="694624"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Life band</a:t>
              </a:r>
            </a:p>
            <a:p>
              <a:pPr algn="ctr"/>
              <a:r>
                <a:rPr lang="en-US" altLang="ko-KR" sz="800" b="1" dirty="0">
                  <a:solidFill>
                    <a:srgbClr val="000000"/>
                  </a:solidFill>
                  <a:latin typeface="Arial" pitchFamily="34" charset="0"/>
                  <a:ea typeface="맑은 고딕" pitchFamily="50" charset="-127"/>
                  <a:cs typeface="Arial" pitchFamily="34" charset="0"/>
                </a:rPr>
                <a:t>compatibility</a:t>
              </a:r>
            </a:p>
          </p:txBody>
        </p:sp>
        <p:sp>
          <p:nvSpPr>
            <p:cNvPr id="88" name="모서리가 둥근 직사각형 300"/>
            <p:cNvSpPr>
              <a:spLocks noChangeArrowheads="1"/>
            </p:cNvSpPr>
            <p:nvPr/>
          </p:nvSpPr>
          <p:spPr bwMode="auto">
            <a:xfrm>
              <a:off x="2851623" y="4912165"/>
              <a:ext cx="605489"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Abnormal</a:t>
              </a:r>
            </a:p>
            <a:p>
              <a:pPr algn="ctr"/>
              <a:r>
                <a:rPr lang="en-US" altLang="ko-KR" sz="800" b="1" dirty="0">
                  <a:solidFill>
                    <a:srgbClr val="000000"/>
                  </a:solidFill>
                  <a:latin typeface="Arial" pitchFamily="34" charset="0"/>
                  <a:ea typeface="맑은 고딕" pitchFamily="50" charset="-127"/>
                  <a:cs typeface="Arial" pitchFamily="34" charset="0"/>
                </a:rPr>
                <a:t>connection</a:t>
              </a:r>
            </a:p>
          </p:txBody>
        </p:sp>
        <p:cxnSp>
          <p:nvCxnSpPr>
            <p:cNvPr id="89" name="직선 연결선 301"/>
            <p:cNvCxnSpPr>
              <a:cxnSpLocks noChangeShapeType="1"/>
            </p:cNvCxnSpPr>
            <p:nvPr/>
          </p:nvCxnSpPr>
          <p:spPr bwMode="auto">
            <a:xfrm>
              <a:off x="2860675" y="5343625"/>
              <a:ext cx="19526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90" name="모서리가 둥근 직사각형 302"/>
            <p:cNvSpPr>
              <a:spLocks noChangeArrowheads="1"/>
            </p:cNvSpPr>
            <p:nvPr/>
          </p:nvSpPr>
          <p:spPr bwMode="auto">
            <a:xfrm>
              <a:off x="2309370" y="5161402"/>
              <a:ext cx="694625"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Watch</a:t>
              </a:r>
            </a:p>
            <a:p>
              <a:pPr algn="ctr"/>
              <a:r>
                <a:rPr lang="en-US" altLang="ko-KR" sz="800" b="1" dirty="0">
                  <a:solidFill>
                    <a:srgbClr val="000000"/>
                  </a:solidFill>
                  <a:latin typeface="Arial" pitchFamily="34" charset="0"/>
                  <a:ea typeface="맑은 고딕" pitchFamily="50" charset="-127"/>
                  <a:cs typeface="Arial" pitchFamily="34" charset="0"/>
                </a:rPr>
                <a:t>compatibility</a:t>
              </a:r>
            </a:p>
          </p:txBody>
        </p:sp>
        <p:cxnSp>
          <p:nvCxnSpPr>
            <p:cNvPr id="91" name="직선 연결선 303"/>
            <p:cNvCxnSpPr>
              <a:cxnSpLocks noChangeShapeType="1"/>
            </p:cNvCxnSpPr>
            <p:nvPr/>
          </p:nvCxnSpPr>
          <p:spPr bwMode="auto">
            <a:xfrm>
              <a:off x="2603500" y="5948462"/>
              <a:ext cx="1555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92" name="모서리가 둥근 직사각형 304"/>
            <p:cNvSpPr>
              <a:spLocks noChangeArrowheads="1"/>
            </p:cNvSpPr>
            <p:nvPr/>
          </p:nvSpPr>
          <p:spPr bwMode="auto">
            <a:xfrm>
              <a:off x="1855348" y="5767827"/>
              <a:ext cx="694624"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Carkit </a:t>
              </a:r>
            </a:p>
            <a:p>
              <a:pPr algn="ctr"/>
              <a:r>
                <a:rPr lang="en-US" altLang="ko-KR" sz="800" b="1" dirty="0">
                  <a:solidFill>
                    <a:srgbClr val="000000"/>
                  </a:solidFill>
                  <a:latin typeface="Arial" pitchFamily="34" charset="0"/>
                  <a:ea typeface="맑은 고딕" pitchFamily="50" charset="-127"/>
                  <a:cs typeface="Arial" pitchFamily="34" charset="0"/>
                </a:rPr>
                <a:t>compatibility</a:t>
              </a:r>
            </a:p>
          </p:txBody>
        </p:sp>
        <p:cxnSp>
          <p:nvCxnSpPr>
            <p:cNvPr id="93" name="직선 연결선 305"/>
            <p:cNvCxnSpPr>
              <a:cxnSpLocks noChangeShapeType="1"/>
            </p:cNvCxnSpPr>
            <p:nvPr/>
          </p:nvCxnSpPr>
          <p:spPr bwMode="auto">
            <a:xfrm>
              <a:off x="2598738" y="4767362"/>
              <a:ext cx="1619250"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94" name="모서리가 둥근 직사각형 87"/>
            <p:cNvSpPr/>
            <p:nvPr/>
          </p:nvSpPr>
          <p:spPr>
            <a:xfrm>
              <a:off x="4091372" y="4580257"/>
              <a:ext cx="753989"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Light Intensity</a:t>
              </a:r>
            </a:p>
          </p:txBody>
        </p:sp>
        <p:cxnSp>
          <p:nvCxnSpPr>
            <p:cNvPr id="95" name="직선 연결선 307"/>
            <p:cNvCxnSpPr>
              <a:cxnSpLocks noChangeShapeType="1"/>
            </p:cNvCxnSpPr>
            <p:nvPr/>
          </p:nvCxnSpPr>
          <p:spPr bwMode="auto">
            <a:xfrm>
              <a:off x="3606800" y="4775300"/>
              <a:ext cx="104775" cy="257175"/>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96" name="직선 연결선 308"/>
            <p:cNvCxnSpPr>
              <a:cxnSpLocks noChangeShapeType="1"/>
            </p:cNvCxnSpPr>
            <p:nvPr/>
          </p:nvCxnSpPr>
          <p:spPr bwMode="auto">
            <a:xfrm>
              <a:off x="3671888" y="4894362"/>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97" name="모서리가 둥근 직사각형 309"/>
            <p:cNvSpPr>
              <a:spLocks noChangeArrowheads="1"/>
            </p:cNvSpPr>
            <p:nvPr/>
          </p:nvSpPr>
          <p:spPr bwMode="auto">
            <a:xfrm>
              <a:off x="3844643" y="4825376"/>
              <a:ext cx="146050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square" lIns="0" tIns="18000" rIns="0" bIns="18000" anchor="ctr">
              <a:spAutoFit/>
            </a:bodyPr>
            <a:lstStyle/>
            <a:p>
              <a:r>
                <a:rPr lang="en-US" altLang="ko-KR" sz="800" b="1" dirty="0">
                  <a:solidFill>
                    <a:srgbClr val="000000"/>
                  </a:solidFill>
                  <a:latin typeface="Arial" pitchFamily="34" charset="0"/>
                  <a:ea typeface="맑은 고딕" pitchFamily="50" charset="-127"/>
                  <a:cs typeface="Arial" pitchFamily="34" charset="0"/>
                </a:rPr>
                <a:t>Brightness set to 100%</a:t>
              </a:r>
            </a:p>
          </p:txBody>
        </p:sp>
        <p:sp>
          <p:nvSpPr>
            <p:cNvPr id="98" name="모서리가 둥근 직사각형 310"/>
            <p:cNvSpPr>
              <a:spLocks noChangeArrowheads="1"/>
            </p:cNvSpPr>
            <p:nvPr/>
          </p:nvSpPr>
          <p:spPr bwMode="auto">
            <a:xfrm>
              <a:off x="3576638" y="5024201"/>
              <a:ext cx="905475"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r>
                <a:rPr lang="en-US" altLang="ko-KR" sz="800" b="1" dirty="0">
                  <a:solidFill>
                    <a:srgbClr val="000000"/>
                  </a:solidFill>
                  <a:latin typeface="Arial" pitchFamily="34" charset="0"/>
                  <a:ea typeface="맑은 고딕" pitchFamily="50" charset="-127"/>
                  <a:cs typeface="Arial" pitchFamily="34" charset="0"/>
                </a:rPr>
                <a:t>Sunlight/Outdoor</a:t>
              </a:r>
            </a:p>
          </p:txBody>
        </p:sp>
        <p:cxnSp>
          <p:nvCxnSpPr>
            <p:cNvPr id="99" name="직선 연결선 311"/>
            <p:cNvCxnSpPr>
              <a:cxnSpLocks noChangeShapeType="1"/>
            </p:cNvCxnSpPr>
            <p:nvPr/>
          </p:nvCxnSpPr>
          <p:spPr bwMode="auto">
            <a:xfrm>
              <a:off x="5476875" y="4551462"/>
              <a:ext cx="17557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100" name="직선 연결선 312"/>
            <p:cNvCxnSpPr>
              <a:cxnSpLocks noChangeShapeType="1"/>
            </p:cNvCxnSpPr>
            <p:nvPr/>
          </p:nvCxnSpPr>
          <p:spPr bwMode="auto">
            <a:xfrm>
              <a:off x="5967413" y="4081562"/>
              <a:ext cx="192087" cy="45878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101" name="직선 연결선 313"/>
            <p:cNvCxnSpPr>
              <a:cxnSpLocks noChangeShapeType="1"/>
            </p:cNvCxnSpPr>
            <p:nvPr/>
          </p:nvCxnSpPr>
          <p:spPr bwMode="auto">
            <a:xfrm>
              <a:off x="5826125" y="4246662"/>
              <a:ext cx="20161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02" name="모서리가 둥근 직사각형 314"/>
            <p:cNvSpPr>
              <a:spLocks noChangeArrowheads="1"/>
            </p:cNvSpPr>
            <p:nvPr/>
          </p:nvSpPr>
          <p:spPr bwMode="auto">
            <a:xfrm>
              <a:off x="5662264" y="3882788"/>
              <a:ext cx="475361"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SD Card</a:t>
              </a:r>
            </a:p>
          </p:txBody>
        </p:sp>
        <p:sp>
          <p:nvSpPr>
            <p:cNvPr id="103" name="모서리가 둥근 직사각형 315"/>
            <p:cNvSpPr>
              <a:spLocks noChangeArrowheads="1"/>
            </p:cNvSpPr>
            <p:nvPr/>
          </p:nvSpPr>
          <p:spPr bwMode="auto">
            <a:xfrm>
              <a:off x="5059000" y="4136788"/>
              <a:ext cx="907197"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Contact problem</a:t>
              </a:r>
            </a:p>
          </p:txBody>
        </p:sp>
        <p:cxnSp>
          <p:nvCxnSpPr>
            <p:cNvPr id="104" name="직선 연결선 316"/>
            <p:cNvCxnSpPr>
              <a:cxnSpLocks noChangeShapeType="1"/>
            </p:cNvCxnSpPr>
            <p:nvPr/>
          </p:nvCxnSpPr>
          <p:spPr bwMode="auto">
            <a:xfrm>
              <a:off x="6110288" y="4378425"/>
              <a:ext cx="201612"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05" name="모서리가 둥근 직사각형 317"/>
            <p:cNvSpPr>
              <a:spLocks noChangeArrowheads="1"/>
            </p:cNvSpPr>
            <p:nvPr/>
          </p:nvSpPr>
          <p:spPr bwMode="auto">
            <a:xfrm>
              <a:off x="6318696" y="4279664"/>
              <a:ext cx="865883"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SD Card broken</a:t>
              </a:r>
            </a:p>
          </p:txBody>
        </p:sp>
        <p:cxnSp>
          <p:nvCxnSpPr>
            <p:cNvPr id="106" name="직선 연결선 318"/>
            <p:cNvCxnSpPr>
              <a:cxnSpLocks noChangeShapeType="1"/>
            </p:cNvCxnSpPr>
            <p:nvPr/>
          </p:nvCxnSpPr>
          <p:spPr bwMode="auto">
            <a:xfrm flipH="1">
              <a:off x="6427788" y="4551462"/>
              <a:ext cx="344487" cy="50323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07" name="모서리가 둥근 직사각형 319"/>
            <p:cNvSpPr>
              <a:spLocks noChangeArrowheads="1"/>
            </p:cNvSpPr>
            <p:nvPr/>
          </p:nvSpPr>
          <p:spPr bwMode="auto">
            <a:xfrm>
              <a:off x="5959082" y="5079518"/>
              <a:ext cx="743738"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USIM contact</a:t>
              </a:r>
            </a:p>
            <a:p>
              <a:pPr algn="ctr"/>
              <a:r>
                <a:rPr lang="en-US" altLang="ko-KR" sz="800" b="1" dirty="0">
                  <a:solidFill>
                    <a:srgbClr val="000000"/>
                  </a:solidFill>
                  <a:latin typeface="Arial" pitchFamily="34" charset="0"/>
                  <a:ea typeface="맑은 고딕" pitchFamily="50" charset="-127"/>
                  <a:cs typeface="Arial" pitchFamily="34" charset="0"/>
                </a:rPr>
                <a:t>problem</a:t>
              </a:r>
            </a:p>
          </p:txBody>
        </p:sp>
        <p:sp>
          <p:nvSpPr>
            <p:cNvPr id="108" name="모서리가 둥근 직사각형 101"/>
            <p:cNvSpPr/>
            <p:nvPr/>
          </p:nvSpPr>
          <p:spPr>
            <a:xfrm>
              <a:off x="4844963" y="4434895"/>
              <a:ext cx="597793"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ko-KR" altLang="en-US" sz="800" b="1" dirty="0">
                  <a:solidFill>
                    <a:srgbClr val="005404"/>
                  </a:solidFill>
                  <a:latin typeface="Arial" panose="020B0604020202020204" pitchFamily="34" charset="0"/>
                  <a:cs typeface="Arial" panose="020B0604020202020204" pitchFamily="34" charset="0"/>
                </a:rPr>
                <a:t> </a:t>
              </a:r>
              <a:r>
                <a:rPr lang="en-US" altLang="ko-KR" sz="800" b="1" dirty="0">
                  <a:solidFill>
                    <a:srgbClr val="005404"/>
                  </a:solidFill>
                  <a:latin typeface="Arial" panose="020B0604020202020204" pitchFamily="34" charset="0"/>
                  <a:cs typeface="Arial" panose="020B0604020202020204" pitchFamily="34" charset="0"/>
                </a:rPr>
                <a:t>Accessory</a:t>
              </a:r>
            </a:p>
          </p:txBody>
        </p:sp>
        <p:cxnSp>
          <p:nvCxnSpPr>
            <p:cNvPr id="109" name="직선 연결선 321"/>
            <p:cNvCxnSpPr>
              <a:cxnSpLocks noChangeShapeType="1"/>
            </p:cNvCxnSpPr>
            <p:nvPr/>
          </p:nvCxnSpPr>
          <p:spPr bwMode="auto">
            <a:xfrm flipH="1">
              <a:off x="5467350" y="4551462"/>
              <a:ext cx="295275" cy="62388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10" name="모서리가 둥근 직사각형 322"/>
            <p:cNvSpPr>
              <a:spLocks noChangeArrowheads="1"/>
            </p:cNvSpPr>
            <p:nvPr/>
          </p:nvSpPr>
          <p:spPr bwMode="auto">
            <a:xfrm>
              <a:off x="5115122" y="5219463"/>
              <a:ext cx="601268"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USB Cable</a:t>
              </a:r>
            </a:p>
          </p:txBody>
        </p:sp>
        <p:cxnSp>
          <p:nvCxnSpPr>
            <p:cNvPr id="111" name="직선 연결선 323"/>
            <p:cNvCxnSpPr>
              <a:cxnSpLocks noChangeShapeType="1"/>
            </p:cNvCxnSpPr>
            <p:nvPr/>
          </p:nvCxnSpPr>
          <p:spPr bwMode="auto">
            <a:xfrm>
              <a:off x="5538788" y="4776887"/>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12" name="모서리가 둥근 직사각형 324"/>
            <p:cNvSpPr>
              <a:spLocks noChangeArrowheads="1"/>
            </p:cNvSpPr>
            <p:nvPr/>
          </p:nvSpPr>
          <p:spPr bwMode="auto">
            <a:xfrm>
              <a:off x="4843282" y="4665427"/>
              <a:ext cx="657589"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Cable defect</a:t>
              </a:r>
            </a:p>
          </p:txBody>
        </p:sp>
        <p:cxnSp>
          <p:nvCxnSpPr>
            <p:cNvPr id="113" name="직선 연결선 325"/>
            <p:cNvCxnSpPr>
              <a:cxnSpLocks noChangeShapeType="1"/>
            </p:cNvCxnSpPr>
            <p:nvPr/>
          </p:nvCxnSpPr>
          <p:spPr bwMode="auto">
            <a:xfrm>
              <a:off x="5592763" y="4965800"/>
              <a:ext cx="115887"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14" name="모서리가 둥근 직사각형 326"/>
            <p:cNvSpPr>
              <a:spLocks noChangeArrowheads="1"/>
            </p:cNvSpPr>
            <p:nvPr/>
          </p:nvSpPr>
          <p:spPr bwMode="auto">
            <a:xfrm>
              <a:off x="5659857" y="4786469"/>
              <a:ext cx="934919"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latin typeface="Arial" pitchFamily="34" charset="0"/>
                  <a:ea typeface="맑은 고딕" pitchFamily="50" charset="-127"/>
                  <a:cs typeface="Arial" pitchFamily="34" charset="0"/>
                </a:rPr>
                <a:t>Used unauthentic</a:t>
              </a:r>
            </a:p>
            <a:p>
              <a:pPr algn="ctr"/>
              <a:r>
                <a:rPr lang="en-US" altLang="ko-KR" sz="800" b="1" dirty="0">
                  <a:latin typeface="Arial" pitchFamily="34" charset="0"/>
                  <a:ea typeface="맑은 고딕" pitchFamily="50" charset="-127"/>
                  <a:cs typeface="Arial" pitchFamily="34" charset="0"/>
                </a:rPr>
                <a:t>product</a:t>
              </a:r>
            </a:p>
          </p:txBody>
        </p:sp>
        <p:cxnSp>
          <p:nvCxnSpPr>
            <p:cNvPr id="115" name="직선 연결선 327"/>
            <p:cNvCxnSpPr>
              <a:cxnSpLocks noChangeShapeType="1"/>
            </p:cNvCxnSpPr>
            <p:nvPr/>
          </p:nvCxnSpPr>
          <p:spPr bwMode="auto">
            <a:xfrm>
              <a:off x="6516688" y="4729262"/>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16" name="모서리가 둥근 직사각형 328"/>
            <p:cNvSpPr>
              <a:spLocks noChangeArrowheads="1"/>
            </p:cNvSpPr>
            <p:nvPr/>
          </p:nvSpPr>
          <p:spPr bwMode="auto">
            <a:xfrm>
              <a:off x="5913231" y="4617802"/>
              <a:ext cx="500477"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Migration</a:t>
              </a:r>
            </a:p>
          </p:txBody>
        </p:sp>
        <p:cxnSp>
          <p:nvCxnSpPr>
            <p:cNvPr id="117" name="직선 연결선 329"/>
            <p:cNvCxnSpPr>
              <a:cxnSpLocks noChangeShapeType="1"/>
            </p:cNvCxnSpPr>
            <p:nvPr/>
          </p:nvCxnSpPr>
          <p:spPr bwMode="auto">
            <a:xfrm>
              <a:off x="6578600" y="4872137"/>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18" name="모서리가 둥근 직사각형 330"/>
            <p:cNvSpPr>
              <a:spLocks noChangeArrowheads="1"/>
            </p:cNvSpPr>
            <p:nvPr/>
          </p:nvSpPr>
          <p:spPr bwMode="auto">
            <a:xfrm>
              <a:off x="6603193" y="4663467"/>
              <a:ext cx="514381"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corrosion</a:t>
              </a:r>
            </a:p>
          </p:txBody>
        </p:sp>
        <p:cxnSp>
          <p:nvCxnSpPr>
            <p:cNvPr id="119" name="직선 연결선 331"/>
            <p:cNvCxnSpPr>
              <a:cxnSpLocks noChangeShapeType="1"/>
              <a:stCxn id="120" idx="0"/>
            </p:cNvCxnSpPr>
            <p:nvPr/>
          </p:nvCxnSpPr>
          <p:spPr bwMode="auto">
            <a:xfrm flipV="1">
              <a:off x="6161088" y="3759300"/>
              <a:ext cx="1646237" cy="2447925"/>
            </a:xfrm>
            <a:prstGeom prst="line">
              <a:avLst/>
            </a:prstGeom>
            <a:noFill/>
            <a:ln w="19050" algn="ctr">
              <a:solidFill>
                <a:srgbClr val="000000"/>
              </a:solidFill>
              <a:round/>
              <a:headEnd/>
              <a:tailEnd/>
            </a:ln>
            <a:extLst>
              <a:ext uri="{909E8E84-426E-40DD-AFC4-6F175D3DCCD1}">
                <a14:hiddenFill xmlns:a14="http://schemas.microsoft.com/office/drawing/2010/main">
                  <a:noFill/>
                </a14:hiddenFill>
              </a:ext>
            </a:extLst>
          </p:spPr>
        </p:cxnSp>
        <p:sp>
          <p:nvSpPr>
            <p:cNvPr id="120" name="모서리가 둥근 직사각형 332"/>
            <p:cNvSpPr>
              <a:spLocks noChangeArrowheads="1"/>
            </p:cNvSpPr>
            <p:nvPr/>
          </p:nvSpPr>
          <p:spPr bwMode="auto">
            <a:xfrm>
              <a:off x="5294313" y="6207225"/>
              <a:ext cx="1735137" cy="360362"/>
            </a:xfrm>
            <a:prstGeom prst="roundRect">
              <a:avLst>
                <a:gd name="adj" fmla="val 16667"/>
              </a:avLst>
            </a:prstGeom>
            <a:noFill/>
            <a:ln w="25400" algn="ctr">
              <a:solidFill>
                <a:srgbClr val="000000"/>
              </a:solidFill>
              <a:round/>
              <a:headEnd/>
              <a:tailEnd/>
            </a:ln>
            <a:extLst>
              <a:ext uri="{909E8E84-426E-40DD-AFC4-6F175D3DCCD1}">
                <a14:hiddenFill xmlns:a14="http://schemas.microsoft.com/office/drawing/2010/main">
                  <a:solidFill>
                    <a:srgbClr val="FFFFFF"/>
                  </a:solidFill>
                </a14:hiddenFill>
              </a:ext>
            </a:extLst>
          </p:spPr>
          <p:txBody>
            <a:bodyPr lIns="77919" tIns="38960" rIns="77919" bIns="38960" anchor="ctr"/>
            <a:lstStyle/>
            <a:p>
              <a:pPr algn="ctr"/>
              <a:r>
                <a:rPr lang="en-US" altLang="ko-KR" sz="800" b="1" dirty="0">
                  <a:solidFill>
                    <a:srgbClr val="000000"/>
                  </a:solidFill>
                  <a:latin typeface="Arial" pitchFamily="34" charset="0"/>
                  <a:ea typeface="맑은 고딕" pitchFamily="50" charset="-127"/>
                  <a:cs typeface="Arial" pitchFamily="34" charset="0"/>
                </a:rPr>
                <a:t>Product</a:t>
              </a:r>
            </a:p>
          </p:txBody>
        </p:sp>
        <p:cxnSp>
          <p:nvCxnSpPr>
            <p:cNvPr id="121" name="직선 연결선 333"/>
            <p:cNvCxnSpPr>
              <a:cxnSpLocks noChangeShapeType="1"/>
            </p:cNvCxnSpPr>
            <p:nvPr/>
          </p:nvCxnSpPr>
          <p:spPr bwMode="auto">
            <a:xfrm>
              <a:off x="6437313" y="5800825"/>
              <a:ext cx="26193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122" name="직선 연결선 334"/>
            <p:cNvCxnSpPr>
              <a:cxnSpLocks noChangeShapeType="1"/>
            </p:cNvCxnSpPr>
            <p:nvPr/>
          </p:nvCxnSpPr>
          <p:spPr bwMode="auto">
            <a:xfrm flipH="1">
              <a:off x="7367588" y="5386487"/>
              <a:ext cx="193675" cy="415925"/>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123" name="직선 연결선 335"/>
            <p:cNvCxnSpPr>
              <a:cxnSpLocks noChangeShapeType="1"/>
            </p:cNvCxnSpPr>
            <p:nvPr/>
          </p:nvCxnSpPr>
          <p:spPr bwMode="auto">
            <a:xfrm flipV="1">
              <a:off x="8482013" y="5369025"/>
              <a:ext cx="169862" cy="427037"/>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124" name="직선 연결선 336"/>
            <p:cNvCxnSpPr>
              <a:cxnSpLocks noChangeShapeType="1"/>
            </p:cNvCxnSpPr>
            <p:nvPr/>
          </p:nvCxnSpPr>
          <p:spPr bwMode="auto">
            <a:xfrm>
              <a:off x="7434263" y="5648425"/>
              <a:ext cx="1555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25" name="모서리가 둥근 직사각형 118"/>
            <p:cNvSpPr/>
            <p:nvPr/>
          </p:nvSpPr>
          <p:spPr>
            <a:xfrm>
              <a:off x="8952221" y="5697008"/>
              <a:ext cx="1024768"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ko-KR" altLang="en-US" sz="800" b="1" dirty="0">
                  <a:solidFill>
                    <a:srgbClr val="005404"/>
                  </a:solidFill>
                  <a:latin typeface="Arial" panose="020B0604020202020204" pitchFamily="34" charset="0"/>
                  <a:cs typeface="Arial" panose="020B0604020202020204" pitchFamily="34" charset="0"/>
                </a:rPr>
                <a:t> </a:t>
              </a:r>
              <a:r>
                <a:rPr lang="en-US" altLang="ko-KR" sz="800" b="1" dirty="0">
                  <a:solidFill>
                    <a:srgbClr val="005404"/>
                  </a:solidFill>
                  <a:latin typeface="Arial" panose="020B0604020202020204" pitchFamily="34" charset="0"/>
                  <a:cs typeface="Arial" panose="020B0604020202020204" pitchFamily="34" charset="0"/>
                </a:rPr>
                <a:t>Progressive Defect</a:t>
              </a:r>
            </a:p>
          </p:txBody>
        </p:sp>
        <p:sp>
          <p:nvSpPr>
            <p:cNvPr id="126" name="모서리가 둥근 직사각형 338"/>
            <p:cNvSpPr>
              <a:spLocks noChangeArrowheads="1"/>
            </p:cNvSpPr>
            <p:nvPr/>
          </p:nvSpPr>
          <p:spPr bwMode="auto">
            <a:xfrm>
              <a:off x="8416334" y="5194064"/>
              <a:ext cx="688576"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Touch Panel</a:t>
              </a:r>
            </a:p>
          </p:txBody>
        </p:sp>
        <p:cxnSp>
          <p:nvCxnSpPr>
            <p:cNvPr id="127" name="직선 연결선 339"/>
            <p:cNvCxnSpPr>
              <a:cxnSpLocks noChangeShapeType="1"/>
            </p:cNvCxnSpPr>
            <p:nvPr/>
          </p:nvCxnSpPr>
          <p:spPr bwMode="auto">
            <a:xfrm>
              <a:off x="8501063" y="5472212"/>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28" name="모서리가 둥근 직사각형 340"/>
            <p:cNvSpPr>
              <a:spLocks noChangeArrowheads="1"/>
            </p:cNvSpPr>
            <p:nvPr/>
          </p:nvSpPr>
          <p:spPr bwMode="auto">
            <a:xfrm>
              <a:off x="8078535" y="5360752"/>
              <a:ext cx="32753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Ghost</a:t>
              </a:r>
            </a:p>
          </p:txBody>
        </p:sp>
        <p:cxnSp>
          <p:nvCxnSpPr>
            <p:cNvPr id="129" name="직선 연결선 341"/>
            <p:cNvCxnSpPr>
              <a:cxnSpLocks noChangeShapeType="1"/>
            </p:cNvCxnSpPr>
            <p:nvPr/>
          </p:nvCxnSpPr>
          <p:spPr bwMode="auto">
            <a:xfrm>
              <a:off x="8553450" y="5626200"/>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30" name="모서리가 둥근 직사각형 342"/>
            <p:cNvSpPr>
              <a:spLocks noChangeArrowheads="1"/>
            </p:cNvSpPr>
            <p:nvPr/>
          </p:nvSpPr>
          <p:spPr bwMode="auto">
            <a:xfrm>
              <a:off x="8749879" y="5527439"/>
              <a:ext cx="745382"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Baseline error</a:t>
              </a:r>
            </a:p>
          </p:txBody>
        </p:sp>
        <p:sp>
          <p:nvSpPr>
            <p:cNvPr id="131" name="모서리가 둥근 직사각형 343"/>
            <p:cNvSpPr>
              <a:spLocks noChangeArrowheads="1"/>
            </p:cNvSpPr>
            <p:nvPr/>
          </p:nvSpPr>
          <p:spPr bwMode="auto">
            <a:xfrm>
              <a:off x="7395516" y="5175013"/>
              <a:ext cx="43151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Memory</a:t>
              </a:r>
            </a:p>
          </p:txBody>
        </p:sp>
        <p:sp>
          <p:nvSpPr>
            <p:cNvPr id="132" name="모서리가 둥근 직사각형 344"/>
            <p:cNvSpPr>
              <a:spLocks noChangeArrowheads="1"/>
            </p:cNvSpPr>
            <p:nvPr/>
          </p:nvSpPr>
          <p:spPr bwMode="auto">
            <a:xfrm>
              <a:off x="7633464" y="5544902"/>
              <a:ext cx="755709"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Reset/Lockup</a:t>
              </a:r>
            </a:p>
          </p:txBody>
        </p:sp>
        <p:cxnSp>
          <p:nvCxnSpPr>
            <p:cNvPr id="133" name="직선 연결선 345"/>
            <p:cNvCxnSpPr>
              <a:cxnSpLocks noChangeShapeType="1"/>
            </p:cNvCxnSpPr>
            <p:nvPr/>
          </p:nvCxnSpPr>
          <p:spPr bwMode="auto">
            <a:xfrm>
              <a:off x="7337425" y="5502375"/>
              <a:ext cx="1555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34" name="모서리가 둥근 직사각형 346"/>
            <p:cNvSpPr>
              <a:spLocks noChangeArrowheads="1"/>
            </p:cNvSpPr>
            <p:nvPr/>
          </p:nvSpPr>
          <p:spPr bwMode="auto">
            <a:xfrm>
              <a:off x="6769275" y="5300309"/>
              <a:ext cx="523523"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Resource</a:t>
              </a:r>
            </a:p>
            <a:p>
              <a:pPr algn="ctr"/>
              <a:r>
                <a:rPr lang="en-US" altLang="ko-KR" sz="800" b="1" dirty="0">
                  <a:solidFill>
                    <a:srgbClr val="000000"/>
                  </a:solidFill>
                  <a:latin typeface="Arial" pitchFamily="34" charset="0"/>
                  <a:ea typeface="맑은 고딕" pitchFamily="50" charset="-127"/>
                  <a:cs typeface="Arial" pitchFamily="34" charset="0"/>
                </a:rPr>
                <a:t>abuse</a:t>
              </a:r>
            </a:p>
          </p:txBody>
        </p:sp>
        <p:cxnSp>
          <p:nvCxnSpPr>
            <p:cNvPr id="135" name="직선 연결선 347"/>
            <p:cNvCxnSpPr>
              <a:cxnSpLocks noChangeShapeType="1"/>
            </p:cNvCxnSpPr>
            <p:nvPr/>
          </p:nvCxnSpPr>
          <p:spPr bwMode="auto">
            <a:xfrm>
              <a:off x="7088188" y="4792762"/>
              <a:ext cx="206692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136" name="직선 연결선 348"/>
            <p:cNvCxnSpPr>
              <a:cxnSpLocks noChangeShapeType="1"/>
            </p:cNvCxnSpPr>
            <p:nvPr/>
          </p:nvCxnSpPr>
          <p:spPr bwMode="auto">
            <a:xfrm flipH="1">
              <a:off x="8004175" y="4340325"/>
              <a:ext cx="215900" cy="458787"/>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137" name="직선 연결선 349"/>
            <p:cNvCxnSpPr>
              <a:cxnSpLocks noChangeShapeType="1"/>
            </p:cNvCxnSpPr>
            <p:nvPr/>
          </p:nvCxnSpPr>
          <p:spPr bwMode="auto">
            <a:xfrm rot="-420000">
              <a:off x="8037513" y="4792762"/>
              <a:ext cx="53975" cy="17938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138" name="직선 연결선 350"/>
            <p:cNvCxnSpPr>
              <a:cxnSpLocks noChangeShapeType="1"/>
            </p:cNvCxnSpPr>
            <p:nvPr/>
          </p:nvCxnSpPr>
          <p:spPr bwMode="auto">
            <a:xfrm>
              <a:off x="8175625" y="4460975"/>
              <a:ext cx="19526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39" name="모서리가 둥근 직사각형 132"/>
            <p:cNvSpPr/>
            <p:nvPr/>
          </p:nvSpPr>
          <p:spPr>
            <a:xfrm>
              <a:off x="9104409" y="4688969"/>
              <a:ext cx="748825"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ko-KR" altLang="en-US" sz="800" b="1" dirty="0">
                  <a:solidFill>
                    <a:srgbClr val="005404"/>
                  </a:solidFill>
                  <a:latin typeface="Arial" panose="020B0604020202020204" pitchFamily="34" charset="0"/>
                  <a:cs typeface="Arial" panose="020B0604020202020204" pitchFamily="34" charset="0"/>
                </a:rPr>
                <a:t> </a:t>
              </a:r>
              <a:r>
                <a:rPr lang="en-US" altLang="ko-KR" sz="800" b="1" dirty="0">
                  <a:solidFill>
                    <a:srgbClr val="005404"/>
                  </a:solidFill>
                  <a:latin typeface="Arial" panose="020B0604020202020204" pitchFamily="34" charset="0"/>
                  <a:cs typeface="Arial" panose="020B0604020202020204" pitchFamily="34" charset="0"/>
                </a:rPr>
                <a:t>unit deviation</a:t>
              </a:r>
            </a:p>
          </p:txBody>
        </p:sp>
        <p:sp>
          <p:nvSpPr>
            <p:cNvPr id="140" name="모서리가 둥근 직사각형 352"/>
            <p:cNvSpPr>
              <a:spLocks noChangeArrowheads="1"/>
            </p:cNvSpPr>
            <p:nvPr/>
          </p:nvSpPr>
          <p:spPr bwMode="auto">
            <a:xfrm>
              <a:off x="7862712" y="4105039"/>
              <a:ext cx="92269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Sensor deviation</a:t>
              </a:r>
            </a:p>
          </p:txBody>
        </p:sp>
        <p:sp>
          <p:nvSpPr>
            <p:cNvPr id="141" name="모서리가 둥근 직사각형 353"/>
            <p:cNvSpPr>
              <a:spLocks noChangeArrowheads="1"/>
            </p:cNvSpPr>
            <p:nvPr/>
          </p:nvSpPr>
          <p:spPr bwMode="auto">
            <a:xfrm>
              <a:off x="8360864" y="4355070"/>
              <a:ext cx="1004306"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light sensor defect</a:t>
              </a:r>
            </a:p>
          </p:txBody>
        </p:sp>
        <p:cxnSp>
          <p:nvCxnSpPr>
            <p:cNvPr id="142" name="직선 연결선 354"/>
            <p:cNvCxnSpPr>
              <a:cxnSpLocks noChangeShapeType="1"/>
            </p:cNvCxnSpPr>
            <p:nvPr/>
          </p:nvCxnSpPr>
          <p:spPr bwMode="auto">
            <a:xfrm>
              <a:off x="7954963" y="4538762"/>
              <a:ext cx="1555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43" name="모서리가 둥근 직사각형 355"/>
            <p:cNvSpPr>
              <a:spLocks noChangeArrowheads="1"/>
            </p:cNvSpPr>
            <p:nvPr/>
          </p:nvSpPr>
          <p:spPr bwMode="auto">
            <a:xfrm>
              <a:off x="7257994" y="4361303"/>
              <a:ext cx="919279"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latin typeface="Arial" pitchFamily="34" charset="0"/>
                  <a:ea typeface="맑은 고딕" pitchFamily="50" charset="-127"/>
                  <a:cs typeface="Arial" pitchFamily="34" charset="0"/>
                </a:rPr>
                <a:t>Proximity sensor</a:t>
              </a:r>
            </a:p>
            <a:p>
              <a:pPr algn="ctr"/>
              <a:r>
                <a:rPr lang="en-US" altLang="ko-KR" sz="800" b="1" dirty="0">
                  <a:latin typeface="Arial" pitchFamily="34" charset="0"/>
                  <a:ea typeface="맑은 고딕" pitchFamily="50" charset="-127"/>
                  <a:cs typeface="Arial" pitchFamily="34" charset="0"/>
                </a:rPr>
                <a:t>sensing distance</a:t>
              </a:r>
            </a:p>
          </p:txBody>
        </p:sp>
        <p:sp>
          <p:nvSpPr>
            <p:cNvPr id="144" name="모서리가 둥근 직사각형 356"/>
            <p:cNvSpPr>
              <a:spLocks noChangeArrowheads="1"/>
            </p:cNvSpPr>
            <p:nvPr/>
          </p:nvSpPr>
          <p:spPr bwMode="auto">
            <a:xfrm>
              <a:off x="7526719" y="4978163"/>
              <a:ext cx="77981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CPU deviation</a:t>
              </a:r>
            </a:p>
          </p:txBody>
        </p:sp>
        <p:cxnSp>
          <p:nvCxnSpPr>
            <p:cNvPr id="145" name="직선 연결선 357"/>
            <p:cNvCxnSpPr>
              <a:cxnSpLocks noChangeShapeType="1"/>
            </p:cNvCxnSpPr>
            <p:nvPr/>
          </p:nvCxnSpPr>
          <p:spPr bwMode="auto">
            <a:xfrm rot="-420000">
              <a:off x="8840788" y="4792762"/>
              <a:ext cx="53975" cy="17938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46" name="모서리가 둥근 직사각형 358"/>
            <p:cNvSpPr>
              <a:spLocks noChangeArrowheads="1"/>
            </p:cNvSpPr>
            <p:nvPr/>
          </p:nvSpPr>
          <p:spPr bwMode="auto">
            <a:xfrm>
              <a:off x="8297598" y="4978163"/>
              <a:ext cx="131975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RF antenna performance</a:t>
              </a:r>
            </a:p>
          </p:txBody>
        </p:sp>
        <p:cxnSp>
          <p:nvCxnSpPr>
            <p:cNvPr id="147" name="직선 연결선 359"/>
            <p:cNvCxnSpPr>
              <a:cxnSpLocks noChangeShapeType="1"/>
            </p:cNvCxnSpPr>
            <p:nvPr/>
          </p:nvCxnSpPr>
          <p:spPr bwMode="auto">
            <a:xfrm>
              <a:off x="887413" y="3940275"/>
              <a:ext cx="2243137"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48" name="모서리가 둥근 직사각형 141"/>
            <p:cNvSpPr/>
            <p:nvPr/>
          </p:nvSpPr>
          <p:spPr>
            <a:xfrm>
              <a:off x="2789" y="3833190"/>
              <a:ext cx="959973"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Market App Defect</a:t>
              </a:r>
            </a:p>
          </p:txBody>
        </p:sp>
        <p:cxnSp>
          <p:nvCxnSpPr>
            <p:cNvPr id="149" name="직선 연결선 361"/>
            <p:cNvCxnSpPr>
              <a:cxnSpLocks noChangeShapeType="1"/>
            </p:cNvCxnSpPr>
            <p:nvPr/>
          </p:nvCxnSpPr>
          <p:spPr bwMode="auto">
            <a:xfrm flipH="1">
              <a:off x="1244600" y="3940275"/>
              <a:ext cx="157163" cy="325437"/>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150" name="직선 연결선 362"/>
            <p:cNvCxnSpPr>
              <a:cxnSpLocks noChangeShapeType="1"/>
            </p:cNvCxnSpPr>
            <p:nvPr/>
          </p:nvCxnSpPr>
          <p:spPr bwMode="auto">
            <a:xfrm>
              <a:off x="1196975" y="4140300"/>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51" name="모서리가 둥근 직사각형 363"/>
            <p:cNvSpPr>
              <a:spLocks noChangeArrowheads="1"/>
            </p:cNvSpPr>
            <p:nvPr/>
          </p:nvSpPr>
          <p:spPr bwMode="auto">
            <a:xfrm>
              <a:off x="21138" y="4028839"/>
              <a:ext cx="1156061"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FF0000"/>
                  </a:solidFill>
                  <a:latin typeface="Arial" pitchFamily="34" charset="0"/>
                  <a:ea typeface="맑은 고딕" pitchFamily="50" charset="-127"/>
                  <a:cs typeface="Arial" pitchFamily="34" charset="0"/>
                </a:rPr>
                <a:t>Vendor improvements</a:t>
              </a:r>
            </a:p>
          </p:txBody>
        </p:sp>
        <p:sp>
          <p:nvSpPr>
            <p:cNvPr id="152" name="모서리가 둥근 직사각형 364"/>
            <p:cNvSpPr>
              <a:spLocks noChangeArrowheads="1"/>
            </p:cNvSpPr>
            <p:nvPr/>
          </p:nvSpPr>
          <p:spPr bwMode="auto">
            <a:xfrm>
              <a:off x="956755" y="4164205"/>
              <a:ext cx="456183"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Vendor</a:t>
              </a:r>
            </a:p>
            <a:p>
              <a:pPr algn="ctr"/>
              <a:r>
                <a:rPr lang="en-US" altLang="ko-KR" sz="800" b="1" dirty="0">
                  <a:solidFill>
                    <a:srgbClr val="000000"/>
                  </a:solidFill>
                  <a:latin typeface="Arial" pitchFamily="34" charset="0"/>
                  <a:ea typeface="맑은 고딕" pitchFamily="50" charset="-127"/>
                  <a:cs typeface="Arial" pitchFamily="34" charset="0"/>
                </a:rPr>
                <a:t>problem</a:t>
              </a:r>
            </a:p>
          </p:txBody>
        </p:sp>
        <p:sp>
          <p:nvSpPr>
            <p:cNvPr id="153" name="모서리가 둥근 직사각형 146"/>
            <p:cNvSpPr/>
            <p:nvPr/>
          </p:nvSpPr>
          <p:spPr>
            <a:xfrm>
              <a:off x="404772" y="2322507"/>
              <a:ext cx="662753"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Market App.</a:t>
              </a:r>
              <a:r>
                <a:rPr lang="ko-KR" altLang="en-US" sz="800" b="1" dirty="0">
                  <a:solidFill>
                    <a:srgbClr val="005404"/>
                  </a:solidFill>
                  <a:latin typeface="Arial" panose="020B0604020202020204" pitchFamily="34" charset="0"/>
                  <a:cs typeface="Arial" panose="020B0604020202020204" pitchFamily="34" charset="0"/>
                </a:rPr>
                <a:t> </a:t>
              </a:r>
              <a:endParaRPr lang="en-US" altLang="ko-KR" sz="800" b="1" dirty="0">
                <a:solidFill>
                  <a:srgbClr val="005404"/>
                </a:solidFill>
                <a:latin typeface="Arial" panose="020B0604020202020204" pitchFamily="34" charset="0"/>
                <a:cs typeface="Arial" panose="020B0604020202020204" pitchFamily="34" charset="0"/>
              </a:endParaRPr>
            </a:p>
          </p:txBody>
        </p:sp>
        <p:cxnSp>
          <p:nvCxnSpPr>
            <p:cNvPr id="154" name="직선 연결선 366"/>
            <p:cNvCxnSpPr>
              <a:cxnSpLocks noChangeShapeType="1"/>
            </p:cNvCxnSpPr>
            <p:nvPr/>
          </p:nvCxnSpPr>
          <p:spPr bwMode="auto">
            <a:xfrm rot="-420000">
              <a:off x="2600325" y="1871762"/>
              <a:ext cx="55563" cy="180975"/>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55" name="모서리가 둥근 직사각형 367"/>
            <p:cNvSpPr>
              <a:spLocks noChangeArrowheads="1"/>
            </p:cNvSpPr>
            <p:nvPr/>
          </p:nvSpPr>
          <p:spPr bwMode="auto">
            <a:xfrm>
              <a:off x="2299815" y="2057164"/>
              <a:ext cx="934396"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FF0000"/>
                  </a:solidFill>
                  <a:latin typeface="Arial" pitchFamily="34" charset="0"/>
                  <a:ea typeface="맑은 고딕" pitchFamily="50" charset="-127"/>
                  <a:cs typeface="Arial" pitchFamily="34" charset="0"/>
                </a:rPr>
                <a:t> </a:t>
              </a:r>
              <a:r>
                <a:rPr lang="en-US" altLang="ko-KR" sz="800" b="1" dirty="0">
                  <a:solidFill>
                    <a:srgbClr val="FF0000"/>
                  </a:solidFill>
                  <a:latin typeface="Arial" pitchFamily="34" charset="0"/>
                  <a:ea typeface="맑은 고딕" pitchFamily="50" charset="-127"/>
                  <a:cs typeface="Arial" pitchFamily="34" charset="0"/>
                </a:rPr>
                <a:t>Screen Wakelock</a:t>
              </a:r>
            </a:p>
          </p:txBody>
        </p:sp>
        <p:cxnSp>
          <p:nvCxnSpPr>
            <p:cNvPr id="156" name="직선 연결선 368"/>
            <p:cNvCxnSpPr>
              <a:cxnSpLocks noChangeShapeType="1"/>
            </p:cNvCxnSpPr>
            <p:nvPr/>
          </p:nvCxnSpPr>
          <p:spPr bwMode="auto">
            <a:xfrm>
              <a:off x="1431925" y="2140050"/>
              <a:ext cx="74771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57" name="모서리가 둥근 직사각형 369"/>
            <p:cNvSpPr>
              <a:spLocks noChangeArrowheads="1"/>
            </p:cNvSpPr>
            <p:nvPr/>
          </p:nvSpPr>
          <p:spPr bwMode="auto">
            <a:xfrm>
              <a:off x="-114919" y="1957827"/>
              <a:ext cx="1928472"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When Home Key is switched</a:t>
              </a:r>
            </a:p>
            <a:p>
              <a:pPr algn="ctr"/>
              <a:r>
                <a:rPr lang="en-US" altLang="ko-KR" sz="800" b="1" dirty="0">
                  <a:solidFill>
                    <a:srgbClr val="000000"/>
                  </a:solidFill>
                  <a:latin typeface="Arial" pitchFamily="34" charset="0"/>
                  <a:ea typeface="맑은 고딕" pitchFamily="50" charset="-127"/>
                  <a:cs typeface="Arial" pitchFamily="34" charset="0"/>
                </a:rPr>
                <a:t>entry into Sleep mode does not work</a:t>
              </a:r>
            </a:p>
          </p:txBody>
        </p:sp>
        <p:cxnSp>
          <p:nvCxnSpPr>
            <p:cNvPr id="158" name="직선 연결선 370"/>
            <p:cNvCxnSpPr>
              <a:cxnSpLocks noChangeShapeType="1"/>
            </p:cNvCxnSpPr>
            <p:nvPr/>
          </p:nvCxnSpPr>
          <p:spPr bwMode="auto">
            <a:xfrm rot="-420000">
              <a:off x="1731963" y="1959075"/>
              <a:ext cx="53975" cy="180975"/>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59" name="모서리가 둥근 직사각형 371"/>
            <p:cNvSpPr>
              <a:spLocks noChangeArrowheads="1"/>
            </p:cNvSpPr>
            <p:nvPr/>
          </p:nvSpPr>
          <p:spPr bwMode="auto">
            <a:xfrm>
              <a:off x="1030925" y="1761095"/>
              <a:ext cx="881375"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FF0000"/>
                  </a:solidFill>
                  <a:latin typeface="Arial" pitchFamily="34" charset="0"/>
                  <a:ea typeface="맑은 고딕" pitchFamily="50" charset="-127"/>
                  <a:cs typeface="Arial" pitchFamily="34" charset="0"/>
                </a:rPr>
                <a:t>Partial Wakelock</a:t>
              </a:r>
            </a:p>
          </p:txBody>
        </p:sp>
        <p:sp>
          <p:nvSpPr>
            <p:cNvPr id="160" name="모서리가 둥근 직사각형 372"/>
            <p:cNvSpPr>
              <a:spLocks noChangeArrowheads="1"/>
            </p:cNvSpPr>
            <p:nvPr/>
          </p:nvSpPr>
          <p:spPr bwMode="auto">
            <a:xfrm>
              <a:off x="473050" y="1406965"/>
              <a:ext cx="900164"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Periodic</a:t>
              </a: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network</a:t>
              </a:r>
            </a:p>
            <a:p>
              <a:pPr algn="ctr"/>
              <a:r>
                <a:rPr lang="en-US" altLang="ko-KR" sz="800" b="1" dirty="0">
                  <a:solidFill>
                    <a:srgbClr val="000000"/>
                  </a:solidFill>
                  <a:latin typeface="Arial" pitchFamily="34" charset="0"/>
                  <a:ea typeface="맑은 고딕" pitchFamily="50" charset="-127"/>
                  <a:cs typeface="Arial" pitchFamily="34" charset="0"/>
                </a:rPr>
                <a:t>connection</a:t>
              </a:r>
            </a:p>
          </p:txBody>
        </p:sp>
        <p:cxnSp>
          <p:nvCxnSpPr>
            <p:cNvPr id="161" name="직선 연결선 373"/>
            <p:cNvCxnSpPr>
              <a:cxnSpLocks noChangeShapeType="1"/>
            </p:cNvCxnSpPr>
            <p:nvPr/>
          </p:nvCxnSpPr>
          <p:spPr bwMode="auto">
            <a:xfrm rot="-420000">
              <a:off x="1649413" y="1417737"/>
              <a:ext cx="53975" cy="17938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62" name="모서리가 둥근 직사각형 374"/>
            <p:cNvSpPr>
              <a:spLocks noChangeArrowheads="1"/>
            </p:cNvSpPr>
            <p:nvPr/>
          </p:nvSpPr>
          <p:spPr bwMode="auto">
            <a:xfrm>
              <a:off x="192254" y="1206262"/>
              <a:ext cx="1539708"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r"/>
              <a:r>
                <a:rPr lang="en-US" altLang="ko-KR" sz="800" b="1" dirty="0">
                  <a:solidFill>
                    <a:srgbClr val="FF0000"/>
                  </a:solidFill>
                  <a:latin typeface="Arial" pitchFamily="34" charset="0"/>
                  <a:ea typeface="맑은 고딕" pitchFamily="50" charset="-127"/>
                  <a:cs typeface="Arial" pitchFamily="34" charset="0"/>
                </a:rPr>
                <a:t>Network Socket  control error</a:t>
              </a:r>
            </a:p>
          </p:txBody>
        </p:sp>
        <p:cxnSp>
          <p:nvCxnSpPr>
            <p:cNvPr id="163" name="직선 연결선 375"/>
            <p:cNvCxnSpPr>
              <a:cxnSpLocks noChangeShapeType="1"/>
            </p:cNvCxnSpPr>
            <p:nvPr/>
          </p:nvCxnSpPr>
          <p:spPr bwMode="auto">
            <a:xfrm>
              <a:off x="1365250" y="3110012"/>
              <a:ext cx="20002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64" name="모서리가 둥근 직사각형 376"/>
            <p:cNvSpPr>
              <a:spLocks noChangeArrowheads="1"/>
            </p:cNvSpPr>
            <p:nvPr/>
          </p:nvSpPr>
          <p:spPr bwMode="auto">
            <a:xfrm>
              <a:off x="281611" y="2921440"/>
              <a:ext cx="903639"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Receiving game </a:t>
              </a:r>
            </a:p>
            <a:p>
              <a:pPr algn="ctr"/>
              <a:r>
                <a:rPr lang="en-US" altLang="ko-KR" sz="800" b="1" dirty="0">
                  <a:solidFill>
                    <a:srgbClr val="000000"/>
                  </a:solidFill>
                  <a:latin typeface="Arial" pitchFamily="34" charset="0"/>
                  <a:ea typeface="맑은 고딕" pitchFamily="50" charset="-127"/>
                  <a:cs typeface="Arial" pitchFamily="34" charset="0"/>
                </a:rPr>
                <a:t>Notification msg.</a:t>
              </a:r>
            </a:p>
          </p:txBody>
        </p:sp>
        <p:sp>
          <p:nvSpPr>
            <p:cNvPr id="165" name="모서리가 둥근 직사각형 158"/>
            <p:cNvSpPr/>
            <p:nvPr/>
          </p:nvSpPr>
          <p:spPr>
            <a:xfrm>
              <a:off x="8306502" y="1771249"/>
              <a:ext cx="1302698"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Basic App Usage Pattern</a:t>
              </a:r>
            </a:p>
          </p:txBody>
        </p:sp>
        <p:cxnSp>
          <p:nvCxnSpPr>
            <p:cNvPr id="166" name="직선 연결선 378"/>
            <p:cNvCxnSpPr>
              <a:cxnSpLocks noChangeShapeType="1"/>
            </p:cNvCxnSpPr>
            <p:nvPr/>
          </p:nvCxnSpPr>
          <p:spPr bwMode="auto">
            <a:xfrm>
              <a:off x="7920038" y="1501875"/>
              <a:ext cx="279400"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67" name="모서리가 둥근 직사각형 379"/>
            <p:cNvSpPr>
              <a:spLocks noChangeArrowheads="1"/>
            </p:cNvSpPr>
            <p:nvPr/>
          </p:nvSpPr>
          <p:spPr bwMode="auto">
            <a:xfrm>
              <a:off x="8232775" y="1399939"/>
              <a:ext cx="1207213"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r>
                <a:rPr lang="ko-KR" altLang="en-US" sz="800" b="1" dirty="0">
                  <a:latin typeface="Arial" pitchFamily="34" charset="0"/>
                  <a:ea typeface="맑은 고딕" pitchFamily="50" charset="-127"/>
                  <a:cs typeface="Arial" pitchFamily="34" charset="0"/>
                </a:rPr>
                <a:t> </a:t>
              </a:r>
              <a:r>
                <a:rPr lang="en-US" altLang="ko-KR" sz="800" b="1" dirty="0">
                  <a:latin typeface="Arial" pitchFamily="34" charset="0"/>
                  <a:ea typeface="맑은 고딕" pitchFamily="50" charset="-127"/>
                  <a:cs typeface="Arial" pitchFamily="34" charset="0"/>
                </a:rPr>
                <a:t>Google+ image upload</a:t>
              </a:r>
            </a:p>
          </p:txBody>
        </p:sp>
        <p:cxnSp>
          <p:nvCxnSpPr>
            <p:cNvPr id="168" name="직선 연결선 380"/>
            <p:cNvCxnSpPr>
              <a:cxnSpLocks noChangeShapeType="1"/>
            </p:cNvCxnSpPr>
            <p:nvPr/>
          </p:nvCxnSpPr>
          <p:spPr bwMode="auto">
            <a:xfrm>
              <a:off x="7621588" y="1666975"/>
              <a:ext cx="20002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69" name="모서리가 둥근 직사각형 381"/>
            <p:cNvSpPr>
              <a:spLocks noChangeArrowheads="1"/>
            </p:cNvSpPr>
            <p:nvPr/>
          </p:nvSpPr>
          <p:spPr bwMode="auto">
            <a:xfrm>
              <a:off x="6658943" y="1568213"/>
              <a:ext cx="926133"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r"/>
              <a:r>
                <a:rPr lang="en-US" altLang="ko-KR" sz="800" b="1" dirty="0">
                  <a:solidFill>
                    <a:srgbClr val="000000"/>
                  </a:solidFill>
                  <a:latin typeface="Arial" pitchFamily="34" charset="0"/>
                  <a:ea typeface="맑은 고딕" pitchFamily="50" charset="-127"/>
                  <a:cs typeface="Arial" pitchFamily="34" charset="0"/>
                </a:rPr>
                <a:t>Use receiver</a:t>
              </a: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GPS</a:t>
              </a:r>
            </a:p>
          </p:txBody>
        </p:sp>
        <p:cxnSp>
          <p:nvCxnSpPr>
            <p:cNvPr id="170" name="직선 연결선 382"/>
            <p:cNvCxnSpPr>
              <a:cxnSpLocks noChangeShapeType="1"/>
            </p:cNvCxnSpPr>
            <p:nvPr/>
          </p:nvCxnSpPr>
          <p:spPr bwMode="auto">
            <a:xfrm flipH="1">
              <a:off x="4735513" y="1311375"/>
              <a:ext cx="268287" cy="568325"/>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71" name="모서리가 둥근 직사각형 383"/>
            <p:cNvSpPr>
              <a:spLocks noChangeArrowheads="1"/>
            </p:cNvSpPr>
            <p:nvPr/>
          </p:nvSpPr>
          <p:spPr bwMode="auto">
            <a:xfrm>
              <a:off x="4714574" y="1064976"/>
              <a:ext cx="640374"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Weak signal</a:t>
              </a:r>
            </a:p>
          </p:txBody>
        </p:sp>
        <p:cxnSp>
          <p:nvCxnSpPr>
            <p:cNvPr id="172" name="직선 연결선 384"/>
            <p:cNvCxnSpPr>
              <a:cxnSpLocks noChangeShapeType="1"/>
            </p:cNvCxnSpPr>
            <p:nvPr/>
          </p:nvCxnSpPr>
          <p:spPr bwMode="auto">
            <a:xfrm>
              <a:off x="4929188" y="1501875"/>
              <a:ext cx="195262"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73" name="모서리가 둥근 직사각형 385"/>
            <p:cNvSpPr>
              <a:spLocks noChangeArrowheads="1"/>
            </p:cNvSpPr>
            <p:nvPr/>
          </p:nvSpPr>
          <p:spPr bwMode="auto">
            <a:xfrm>
              <a:off x="5064172" y="1346640"/>
              <a:ext cx="644437"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Excessive</a:t>
              </a:r>
            </a:p>
            <a:p>
              <a:pPr algn="ctr"/>
              <a:r>
                <a:rPr lang="en-US" altLang="ko-KR" sz="800" b="1" dirty="0">
                  <a:solidFill>
                    <a:srgbClr val="000000"/>
                  </a:solidFill>
                  <a:latin typeface="Arial" pitchFamily="34" charset="0"/>
                  <a:ea typeface="맑은 고딕" pitchFamily="50" charset="-127"/>
                  <a:cs typeface="Arial" pitchFamily="34" charset="0"/>
                </a:rPr>
                <a:t>Internet use</a:t>
              </a:r>
            </a:p>
          </p:txBody>
        </p:sp>
        <p:cxnSp>
          <p:nvCxnSpPr>
            <p:cNvPr id="174" name="직선 연결선 386"/>
            <p:cNvCxnSpPr>
              <a:cxnSpLocks noChangeShapeType="1"/>
            </p:cNvCxnSpPr>
            <p:nvPr/>
          </p:nvCxnSpPr>
          <p:spPr bwMode="auto">
            <a:xfrm>
              <a:off x="4630738" y="1666975"/>
              <a:ext cx="20002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75" name="모서리가 둥근 직사각형 387"/>
            <p:cNvSpPr>
              <a:spLocks noChangeArrowheads="1"/>
            </p:cNvSpPr>
            <p:nvPr/>
          </p:nvSpPr>
          <p:spPr bwMode="auto">
            <a:xfrm>
              <a:off x="4041614" y="1568213"/>
              <a:ext cx="552610"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r"/>
              <a:r>
                <a:rPr lang="en-US" altLang="ko-KR" sz="800" b="1" dirty="0">
                  <a:solidFill>
                    <a:srgbClr val="000000"/>
                  </a:solidFill>
                  <a:latin typeface="Arial" pitchFamily="34" charset="0"/>
                  <a:ea typeface="맑은 고딕" pitchFamily="50" charset="-127"/>
                  <a:cs typeface="Arial" pitchFamily="34" charset="0"/>
                </a:rPr>
                <a:t>Long calls</a:t>
              </a:r>
            </a:p>
          </p:txBody>
        </p:sp>
        <p:cxnSp>
          <p:nvCxnSpPr>
            <p:cNvPr id="176" name="직선 연결선 388"/>
            <p:cNvCxnSpPr>
              <a:cxnSpLocks noChangeShapeType="1"/>
            </p:cNvCxnSpPr>
            <p:nvPr/>
          </p:nvCxnSpPr>
          <p:spPr bwMode="auto">
            <a:xfrm flipH="1">
              <a:off x="5889625" y="1081187"/>
              <a:ext cx="376238" cy="798513"/>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cxnSp>
          <p:nvCxnSpPr>
            <p:cNvPr id="177" name="직선 연결선 389"/>
            <p:cNvCxnSpPr>
              <a:cxnSpLocks noChangeShapeType="1"/>
            </p:cNvCxnSpPr>
            <p:nvPr/>
          </p:nvCxnSpPr>
          <p:spPr bwMode="auto">
            <a:xfrm>
              <a:off x="6107113" y="1459012"/>
              <a:ext cx="195262"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78" name="모서리가 둥근 직사각형 390"/>
            <p:cNvSpPr>
              <a:spLocks noChangeArrowheads="1"/>
            </p:cNvSpPr>
            <p:nvPr/>
          </p:nvSpPr>
          <p:spPr bwMode="auto">
            <a:xfrm>
              <a:off x="5929818" y="847489"/>
              <a:ext cx="741938"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Google Login</a:t>
              </a:r>
            </a:p>
          </p:txBody>
        </p:sp>
        <p:sp>
          <p:nvSpPr>
            <p:cNvPr id="179" name="모서리가 둥근 직사각형 391"/>
            <p:cNvSpPr>
              <a:spLocks noChangeArrowheads="1"/>
            </p:cNvSpPr>
            <p:nvPr/>
          </p:nvSpPr>
          <p:spPr bwMode="auto">
            <a:xfrm>
              <a:off x="6291333" y="1214646"/>
              <a:ext cx="455897" cy="514134"/>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Receive</a:t>
              </a:r>
            </a:p>
            <a:p>
              <a:pPr algn="ctr"/>
              <a:r>
                <a:rPr lang="en-US" altLang="ko-KR" sz="800" b="1" dirty="0">
                  <a:solidFill>
                    <a:srgbClr val="000000"/>
                  </a:solidFill>
                  <a:latin typeface="Arial" pitchFamily="34" charset="0"/>
                  <a:ea typeface="맑은 고딕" pitchFamily="50" charset="-127"/>
                  <a:cs typeface="Arial" pitchFamily="34" charset="0"/>
                </a:rPr>
                <a:t>Noti.</a:t>
              </a:r>
            </a:p>
            <a:p>
              <a:pPr algn="ctr"/>
              <a:r>
                <a:rPr lang="en-US" altLang="ko-KR" sz="800" b="1" dirty="0">
                  <a:solidFill>
                    <a:srgbClr val="000000"/>
                  </a:solidFill>
                  <a:latin typeface="Arial" pitchFamily="34" charset="0"/>
                  <a:ea typeface="맑은 고딕" pitchFamily="50" charset="-127"/>
                  <a:cs typeface="Arial" pitchFamily="34" charset="0"/>
                </a:rPr>
                <a:t>Msg</a:t>
              </a:r>
            </a:p>
          </p:txBody>
        </p:sp>
        <p:cxnSp>
          <p:nvCxnSpPr>
            <p:cNvPr id="180" name="직선 연결선 392"/>
            <p:cNvCxnSpPr>
              <a:cxnSpLocks noChangeShapeType="1"/>
            </p:cNvCxnSpPr>
            <p:nvPr/>
          </p:nvCxnSpPr>
          <p:spPr bwMode="auto">
            <a:xfrm>
              <a:off x="5999163" y="1238350"/>
              <a:ext cx="201612"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81" name="모서리가 둥근 직사각형 393"/>
            <p:cNvSpPr>
              <a:spLocks noChangeArrowheads="1"/>
            </p:cNvSpPr>
            <p:nvPr/>
          </p:nvSpPr>
          <p:spPr bwMode="auto">
            <a:xfrm>
              <a:off x="5475795" y="1014852"/>
              <a:ext cx="456183"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FF0000"/>
                  </a:solidFill>
                  <a:latin typeface="Arial" pitchFamily="34" charset="0"/>
                  <a:ea typeface="맑은 고딕" pitchFamily="50" charset="-127"/>
                  <a:cs typeface="Arial" pitchFamily="34" charset="0"/>
                </a:rPr>
                <a:t>Network</a:t>
              </a:r>
            </a:p>
            <a:p>
              <a:pPr algn="ctr"/>
              <a:r>
                <a:rPr lang="en-US" altLang="ko-KR" sz="800" b="1" dirty="0">
                  <a:solidFill>
                    <a:srgbClr val="FF0000"/>
                  </a:solidFill>
                  <a:latin typeface="Arial" pitchFamily="34" charset="0"/>
                  <a:ea typeface="맑은 고딕" pitchFamily="50" charset="-127"/>
                  <a:cs typeface="Arial" pitchFamily="34" charset="0"/>
                </a:rPr>
                <a:t>Sync</a:t>
              </a:r>
            </a:p>
          </p:txBody>
        </p:sp>
        <p:sp>
          <p:nvSpPr>
            <p:cNvPr id="182" name="모서리가 둥근 직사각형 175"/>
            <p:cNvSpPr/>
            <p:nvPr/>
          </p:nvSpPr>
          <p:spPr>
            <a:xfrm>
              <a:off x="7483859" y="3114079"/>
              <a:ext cx="1544823" cy="203873"/>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Customer usage environment</a:t>
              </a:r>
            </a:p>
          </p:txBody>
        </p:sp>
        <p:cxnSp>
          <p:nvCxnSpPr>
            <p:cNvPr id="183" name="직선 연결선 395"/>
            <p:cNvCxnSpPr>
              <a:cxnSpLocks noChangeShapeType="1"/>
            </p:cNvCxnSpPr>
            <p:nvPr/>
          </p:nvCxnSpPr>
          <p:spPr bwMode="auto">
            <a:xfrm>
              <a:off x="6729413" y="3214787"/>
              <a:ext cx="100012" cy="242888"/>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84" name="모서리가 둥근 직사각형 396"/>
            <p:cNvSpPr>
              <a:spLocks noChangeArrowheads="1"/>
            </p:cNvSpPr>
            <p:nvPr/>
          </p:nvSpPr>
          <p:spPr bwMode="auto">
            <a:xfrm>
              <a:off x="6448615" y="3441463"/>
              <a:ext cx="852111"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LCD brightness</a:t>
              </a:r>
            </a:p>
          </p:txBody>
        </p:sp>
        <p:cxnSp>
          <p:nvCxnSpPr>
            <p:cNvPr id="185" name="직선 연결선 397"/>
            <p:cNvCxnSpPr>
              <a:cxnSpLocks noChangeShapeType="1"/>
            </p:cNvCxnSpPr>
            <p:nvPr/>
          </p:nvCxnSpPr>
          <p:spPr bwMode="auto">
            <a:xfrm>
              <a:off x="6789738" y="3344962"/>
              <a:ext cx="115887"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86" name="모서리가 둥근 직사각형 398"/>
            <p:cNvSpPr>
              <a:spLocks noChangeArrowheads="1"/>
            </p:cNvSpPr>
            <p:nvPr/>
          </p:nvSpPr>
          <p:spPr bwMode="auto">
            <a:xfrm>
              <a:off x="6969125" y="3246202"/>
              <a:ext cx="932692"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r>
                <a:rPr lang="en-US" altLang="ko-KR" sz="800" b="1" dirty="0">
                  <a:solidFill>
                    <a:srgbClr val="FF0000"/>
                  </a:solidFill>
                  <a:latin typeface="Arial" pitchFamily="34" charset="0"/>
                  <a:ea typeface="맑은 고딕" pitchFamily="50" charset="-127"/>
                  <a:cs typeface="Arial" pitchFamily="34" charset="0"/>
                </a:rPr>
                <a:t>Set to above 80%</a:t>
              </a:r>
            </a:p>
          </p:txBody>
        </p:sp>
        <p:cxnSp>
          <p:nvCxnSpPr>
            <p:cNvPr id="187" name="직선 연결선 399"/>
            <p:cNvCxnSpPr>
              <a:cxnSpLocks noChangeShapeType="1"/>
            </p:cNvCxnSpPr>
            <p:nvPr/>
          </p:nvCxnSpPr>
          <p:spPr bwMode="auto">
            <a:xfrm flipH="1">
              <a:off x="6592888" y="2967137"/>
              <a:ext cx="114300" cy="241300"/>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88" name="모서리가 둥근 직사각형 400"/>
            <p:cNvSpPr>
              <a:spLocks noChangeArrowheads="1"/>
            </p:cNvSpPr>
            <p:nvPr/>
          </p:nvSpPr>
          <p:spPr bwMode="auto">
            <a:xfrm>
              <a:off x="6258422" y="2755664"/>
              <a:ext cx="1067396"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BT/NFC/LED setting</a:t>
              </a:r>
            </a:p>
          </p:txBody>
        </p:sp>
        <p:cxnSp>
          <p:nvCxnSpPr>
            <p:cNvPr id="189" name="직선 연결선 401"/>
            <p:cNvCxnSpPr>
              <a:cxnSpLocks noChangeShapeType="1"/>
            </p:cNvCxnSpPr>
            <p:nvPr/>
          </p:nvCxnSpPr>
          <p:spPr bwMode="auto">
            <a:xfrm>
              <a:off x="6657975" y="3087787"/>
              <a:ext cx="195263"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90" name="모서리가 둥근 직사각형 402"/>
            <p:cNvSpPr>
              <a:spLocks noChangeArrowheads="1"/>
            </p:cNvSpPr>
            <p:nvPr/>
          </p:nvSpPr>
          <p:spPr bwMode="auto">
            <a:xfrm>
              <a:off x="6856412" y="2964475"/>
              <a:ext cx="1667591"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Set to ON even when not in use</a:t>
              </a:r>
            </a:p>
          </p:txBody>
        </p:sp>
        <p:cxnSp>
          <p:nvCxnSpPr>
            <p:cNvPr id="191" name="직선 연결선 403"/>
            <p:cNvCxnSpPr>
              <a:cxnSpLocks noChangeShapeType="1"/>
            </p:cNvCxnSpPr>
            <p:nvPr/>
          </p:nvCxnSpPr>
          <p:spPr bwMode="auto">
            <a:xfrm>
              <a:off x="4186238" y="2135287"/>
              <a:ext cx="4173537"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92" name="모서리가 둥근 직사각형 185"/>
            <p:cNvSpPr/>
            <p:nvPr/>
          </p:nvSpPr>
          <p:spPr>
            <a:xfrm>
              <a:off x="8323502" y="1954879"/>
              <a:ext cx="1151640" cy="361270"/>
            </a:xfrm>
            <a:prstGeom prst="roundRect">
              <a:avLst/>
            </a:prstGeom>
            <a:noFill/>
            <a:ln w="25400" cap="flat" cmpd="sng" algn="ctr">
              <a:noFill/>
              <a:prstDash val="solid"/>
            </a:ln>
            <a:effectLst/>
          </p:spPr>
          <p:txBody>
            <a:bodyPr wrap="none" lIns="0" tIns="18000" rIns="0" bIns="18000" anchor="ctr">
              <a:spAutoFit/>
            </a:bodyP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r>
                <a:rPr lang="en-US" altLang="ko-KR" sz="800" b="1" dirty="0">
                  <a:solidFill>
                    <a:srgbClr val="005404"/>
                  </a:solidFill>
                  <a:latin typeface="Arial" panose="020B0604020202020204" pitchFamily="34" charset="0"/>
                  <a:cs typeface="Arial" panose="020B0604020202020204" pitchFamily="34" charset="0"/>
                </a:rPr>
                <a:t>Customer </a:t>
              </a:r>
            </a:p>
            <a:p>
              <a:pPr algn="ctr">
                <a:defRPr/>
              </a:pPr>
              <a:r>
                <a:rPr lang="en-US" altLang="ko-KR" sz="800" b="1" dirty="0">
                  <a:solidFill>
                    <a:srgbClr val="005404"/>
                  </a:solidFill>
                  <a:latin typeface="Arial" panose="020B0604020202020204" pitchFamily="34" charset="0"/>
                  <a:cs typeface="Arial" panose="020B0604020202020204" pitchFamily="34" charset="0"/>
                </a:rPr>
                <a:t>inexperience with use</a:t>
              </a:r>
            </a:p>
          </p:txBody>
        </p:sp>
        <p:cxnSp>
          <p:nvCxnSpPr>
            <p:cNvPr id="193" name="직선 연결선 405"/>
            <p:cNvCxnSpPr>
              <a:cxnSpLocks noChangeShapeType="1"/>
              <a:endCxn id="194" idx="0"/>
            </p:cNvCxnSpPr>
            <p:nvPr/>
          </p:nvCxnSpPr>
          <p:spPr bwMode="auto">
            <a:xfrm>
              <a:off x="4953000" y="2136875"/>
              <a:ext cx="144465" cy="342564"/>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94" name="모서리가 둥근 직사각형 406"/>
            <p:cNvSpPr>
              <a:spLocks noChangeArrowheads="1"/>
            </p:cNvSpPr>
            <p:nvPr/>
          </p:nvSpPr>
          <p:spPr bwMode="auto">
            <a:xfrm>
              <a:off x="4667106" y="2479439"/>
              <a:ext cx="860717"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ko-KR" altLang="en-US" sz="800" b="1" dirty="0">
                  <a:solidFill>
                    <a:srgbClr val="000000"/>
                  </a:solidFill>
                  <a:latin typeface="Arial" pitchFamily="34" charset="0"/>
                  <a:ea typeface="맑은 고딕" pitchFamily="50" charset="-127"/>
                  <a:cs typeface="Arial" pitchFamily="34" charset="0"/>
                </a:rPr>
                <a:t> </a:t>
              </a:r>
              <a:r>
                <a:rPr lang="en-US" altLang="ko-KR" sz="800" b="1" dirty="0">
                  <a:solidFill>
                    <a:srgbClr val="000000"/>
                  </a:solidFill>
                  <a:latin typeface="Arial" pitchFamily="34" charset="0"/>
                  <a:ea typeface="맑은 고딕" pitchFamily="50" charset="-127"/>
                  <a:cs typeface="Arial" pitchFamily="34" charset="0"/>
                </a:rPr>
                <a:t>GPS linked App</a:t>
              </a:r>
            </a:p>
          </p:txBody>
        </p:sp>
        <p:cxnSp>
          <p:nvCxnSpPr>
            <p:cNvPr id="195" name="직선 연결선 407"/>
            <p:cNvCxnSpPr>
              <a:cxnSpLocks noChangeShapeType="1"/>
            </p:cNvCxnSpPr>
            <p:nvPr/>
          </p:nvCxnSpPr>
          <p:spPr bwMode="auto">
            <a:xfrm>
              <a:off x="5013325" y="2268637"/>
              <a:ext cx="115888"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196" name="모서리가 둥근 직사각형 408"/>
            <p:cNvSpPr>
              <a:spLocks noChangeArrowheads="1"/>
            </p:cNvSpPr>
            <p:nvPr/>
          </p:nvSpPr>
          <p:spPr bwMode="auto">
            <a:xfrm>
              <a:off x="5214938" y="2050579"/>
              <a:ext cx="1343295" cy="518667"/>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r>
                <a:rPr lang="en-US" altLang="ko-KR" sz="800" b="1" dirty="0">
                  <a:solidFill>
                    <a:srgbClr val="FF0000"/>
                  </a:solidFill>
                  <a:latin typeface="Arial" pitchFamily="34" charset="0"/>
                  <a:ea typeface="맑은 고딕" pitchFamily="50" charset="-127"/>
                  <a:cs typeface="Arial" pitchFamily="34" charset="0"/>
                </a:rPr>
                <a:t>GPS data continuously</a:t>
              </a:r>
            </a:p>
            <a:p>
              <a:r>
                <a:rPr lang="en-US" altLang="ko-KR" sz="800" b="1" dirty="0">
                  <a:solidFill>
                    <a:srgbClr val="FF0000"/>
                  </a:solidFill>
                  <a:latin typeface="Arial" pitchFamily="34" charset="0"/>
                  <a:ea typeface="맑은 고딕" pitchFamily="50" charset="-127"/>
                  <a:cs typeface="Arial" pitchFamily="34" charset="0"/>
                </a:rPr>
                <a:t>Received after home key </a:t>
              </a:r>
            </a:p>
            <a:p>
              <a:r>
                <a:rPr lang="en-US" altLang="ko-KR" sz="800" b="1" dirty="0">
                  <a:solidFill>
                    <a:srgbClr val="FF0000"/>
                  </a:solidFill>
                  <a:latin typeface="Arial" pitchFamily="34" charset="0"/>
                  <a:ea typeface="맑은 고딕" pitchFamily="50" charset="-127"/>
                  <a:cs typeface="Arial" pitchFamily="34" charset="0"/>
                </a:rPr>
                <a:t>switching</a:t>
              </a:r>
            </a:p>
          </p:txBody>
        </p:sp>
        <p:cxnSp>
          <p:nvCxnSpPr>
            <p:cNvPr id="197" name="직선 연결선 409"/>
            <p:cNvCxnSpPr>
              <a:cxnSpLocks noChangeShapeType="1"/>
              <a:endCxn id="198" idx="0"/>
            </p:cNvCxnSpPr>
            <p:nvPr/>
          </p:nvCxnSpPr>
          <p:spPr bwMode="auto">
            <a:xfrm>
              <a:off x="7405688" y="2136875"/>
              <a:ext cx="145255" cy="342564"/>
            </a:xfrm>
            <a:prstGeom prst="line">
              <a:avLst/>
            </a:prstGeom>
            <a:noFill/>
            <a:ln w="6350" algn="ctr">
              <a:solidFill>
                <a:srgbClr val="000000"/>
              </a:solidFill>
              <a:round/>
              <a:headEnd/>
              <a:tailEnd/>
            </a:ln>
            <a:extLst>
              <a:ext uri="{909E8E84-426E-40DD-AFC4-6F175D3DCCD1}">
                <a14:hiddenFill xmlns:a14="http://schemas.microsoft.com/office/drawing/2010/main">
                  <a:noFill/>
                </a14:hiddenFill>
              </a:ext>
            </a:extLst>
          </p:spPr>
        </p:cxnSp>
        <p:sp>
          <p:nvSpPr>
            <p:cNvPr id="198" name="모서리가 둥근 직사각형 410"/>
            <p:cNvSpPr>
              <a:spLocks noChangeArrowheads="1"/>
            </p:cNvSpPr>
            <p:nvPr/>
          </p:nvSpPr>
          <p:spPr bwMode="auto">
            <a:xfrm>
              <a:off x="7193745" y="2479439"/>
              <a:ext cx="714396" cy="203873"/>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pPr algn="ctr"/>
              <a:r>
                <a:rPr lang="en-US" altLang="ko-KR" sz="800" b="1" dirty="0">
                  <a:solidFill>
                    <a:srgbClr val="000000"/>
                  </a:solidFill>
                  <a:latin typeface="Arial" pitchFamily="34" charset="0"/>
                  <a:ea typeface="맑은 고딕" pitchFamily="50" charset="-127"/>
                  <a:cs typeface="Arial" pitchFamily="34" charset="0"/>
                </a:rPr>
                <a:t>Wi-Fi Hotspot</a:t>
              </a:r>
            </a:p>
          </p:txBody>
        </p:sp>
        <p:cxnSp>
          <p:nvCxnSpPr>
            <p:cNvPr id="199" name="직선 연결선 411"/>
            <p:cNvCxnSpPr>
              <a:cxnSpLocks noChangeShapeType="1"/>
            </p:cNvCxnSpPr>
            <p:nvPr/>
          </p:nvCxnSpPr>
          <p:spPr bwMode="auto">
            <a:xfrm>
              <a:off x="7466013" y="2268637"/>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200" name="모서리가 둥근 직사각형 412"/>
            <p:cNvSpPr>
              <a:spLocks noChangeArrowheads="1"/>
            </p:cNvSpPr>
            <p:nvPr/>
          </p:nvSpPr>
          <p:spPr bwMode="auto">
            <a:xfrm>
              <a:off x="7627938" y="2091178"/>
              <a:ext cx="681617"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r>
                <a:rPr lang="en-US" altLang="ko-KR" sz="800" b="1" dirty="0">
                  <a:solidFill>
                    <a:srgbClr val="000000"/>
                  </a:solidFill>
                  <a:latin typeface="Arial" pitchFamily="34" charset="0"/>
                  <a:ea typeface="맑은 고딕" pitchFamily="50" charset="-127"/>
                  <a:cs typeface="Arial" pitchFamily="34" charset="0"/>
                </a:rPr>
                <a:t>Usage time</a:t>
              </a:r>
            </a:p>
            <a:p>
              <a:r>
                <a:rPr lang="en-US" altLang="ko-KR" sz="800" b="1" dirty="0">
                  <a:solidFill>
                    <a:srgbClr val="000000"/>
                  </a:solidFill>
                  <a:latin typeface="Arial" pitchFamily="34" charset="0"/>
                  <a:ea typeface="맑은 고딕" pitchFamily="50" charset="-127"/>
                  <a:cs typeface="Arial" pitchFamily="34" charset="0"/>
                </a:rPr>
                <a:t>Setting error</a:t>
              </a:r>
            </a:p>
          </p:txBody>
        </p:sp>
        <p:cxnSp>
          <p:nvCxnSpPr>
            <p:cNvPr id="201" name="직선 연결선 413"/>
            <p:cNvCxnSpPr>
              <a:cxnSpLocks noChangeShapeType="1"/>
            </p:cNvCxnSpPr>
            <p:nvPr/>
          </p:nvCxnSpPr>
          <p:spPr bwMode="auto">
            <a:xfrm>
              <a:off x="7370763" y="2378175"/>
              <a:ext cx="117475" cy="0"/>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sp>
          <p:nvSpPr>
            <p:cNvPr id="202" name="모서리가 둥근 직사각형 414"/>
            <p:cNvSpPr>
              <a:spLocks noChangeArrowheads="1"/>
            </p:cNvSpPr>
            <p:nvPr/>
          </p:nvSpPr>
          <p:spPr bwMode="auto">
            <a:xfrm>
              <a:off x="6670636" y="2167159"/>
              <a:ext cx="740230" cy="361270"/>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round/>
                  <a:headEnd/>
                  <a:tailEnd/>
                </a14:hiddenLine>
              </a:ext>
            </a:extLst>
          </p:spPr>
          <p:txBody>
            <a:bodyPr wrap="none" lIns="0" tIns="18000" rIns="0" bIns="18000" anchor="ctr">
              <a:spAutoFit/>
            </a:bodyPr>
            <a:lstStyle/>
            <a:p>
              <a:r>
                <a:rPr lang="en-US" altLang="ko-KR" sz="800" b="1" dirty="0">
                  <a:solidFill>
                    <a:srgbClr val="000000"/>
                  </a:solidFill>
                  <a:latin typeface="Arial" pitchFamily="34" charset="0"/>
                  <a:ea typeface="맑은 고딕" pitchFamily="50" charset="-127"/>
                  <a:cs typeface="Arial" pitchFamily="34" charset="0"/>
                </a:rPr>
                <a:t>Not turned off</a:t>
              </a:r>
            </a:p>
            <a:p>
              <a:r>
                <a:rPr lang="en-US" altLang="ko-KR" sz="800" b="1" dirty="0">
                  <a:solidFill>
                    <a:srgbClr val="000000"/>
                  </a:solidFill>
                  <a:latin typeface="Arial" pitchFamily="34" charset="0"/>
                  <a:ea typeface="맑은 고딕" pitchFamily="50" charset="-127"/>
                  <a:cs typeface="Arial" pitchFamily="34" charset="0"/>
                </a:rPr>
                <a:t>after use</a:t>
              </a:r>
            </a:p>
          </p:txBody>
        </p:sp>
        <p:sp>
          <p:nvSpPr>
            <p:cNvPr id="203" name="TextBox 5"/>
            <p:cNvSpPr txBox="1">
              <a:spLocks noChangeArrowheads="1"/>
            </p:cNvSpPr>
            <p:nvPr/>
          </p:nvSpPr>
          <p:spPr bwMode="auto">
            <a:xfrm>
              <a:off x="123825" y="1093888"/>
              <a:ext cx="492446" cy="248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ü"/>
              </a:pPr>
              <a:r>
                <a:rPr lang="en-US" altLang="ko-KR" sz="800" b="1" dirty="0">
                  <a:solidFill>
                    <a:srgbClr val="FF0000"/>
                  </a:solidFill>
                  <a:latin typeface="Arial" pitchFamily="34" charset="0"/>
                  <a:ea typeface="맑은 고딕" pitchFamily="50" charset="-127"/>
                  <a:cs typeface="Arial" pitchFamily="34" charset="0"/>
                </a:rPr>
                <a:t> </a:t>
              </a:r>
              <a:endParaRPr lang="ko-KR" altLang="en-US" sz="800" b="1" dirty="0">
                <a:solidFill>
                  <a:srgbClr val="FF0000"/>
                </a:solidFill>
                <a:latin typeface="Arial" pitchFamily="34" charset="0"/>
                <a:ea typeface="맑은 고딕" pitchFamily="50" charset="-127"/>
                <a:cs typeface="Arial" pitchFamily="34" charset="0"/>
              </a:endParaRPr>
            </a:p>
          </p:txBody>
        </p:sp>
        <p:sp>
          <p:nvSpPr>
            <p:cNvPr id="204" name="TextBox 5"/>
            <p:cNvSpPr txBox="1">
              <a:spLocks noChangeArrowheads="1"/>
            </p:cNvSpPr>
            <p:nvPr/>
          </p:nvSpPr>
          <p:spPr bwMode="auto">
            <a:xfrm>
              <a:off x="835025" y="1638400"/>
              <a:ext cx="492446" cy="248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ü"/>
              </a:pPr>
              <a:r>
                <a:rPr lang="en-US" altLang="ko-KR" sz="800" b="1" dirty="0">
                  <a:solidFill>
                    <a:srgbClr val="FF0000"/>
                  </a:solidFill>
                  <a:latin typeface="Arial" pitchFamily="34" charset="0"/>
                  <a:ea typeface="맑은 고딕" pitchFamily="50" charset="-127"/>
                  <a:cs typeface="Arial" pitchFamily="34" charset="0"/>
                </a:rPr>
                <a:t> </a:t>
              </a:r>
              <a:endParaRPr lang="ko-KR" altLang="en-US" sz="800" b="1" dirty="0">
                <a:solidFill>
                  <a:srgbClr val="FF0000"/>
                </a:solidFill>
                <a:latin typeface="Arial" pitchFamily="34" charset="0"/>
                <a:ea typeface="맑은 고딕" pitchFamily="50" charset="-127"/>
                <a:cs typeface="Arial" pitchFamily="34" charset="0"/>
              </a:endParaRPr>
            </a:p>
          </p:txBody>
        </p:sp>
        <p:sp>
          <p:nvSpPr>
            <p:cNvPr id="205" name="TextBox 5"/>
            <p:cNvSpPr txBox="1">
              <a:spLocks noChangeArrowheads="1"/>
            </p:cNvSpPr>
            <p:nvPr/>
          </p:nvSpPr>
          <p:spPr bwMode="auto">
            <a:xfrm>
              <a:off x="2173288" y="1943200"/>
              <a:ext cx="492446" cy="248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ü"/>
              </a:pPr>
              <a:r>
                <a:rPr lang="en-US" altLang="ko-KR" sz="800" b="1" dirty="0">
                  <a:solidFill>
                    <a:srgbClr val="FF0000"/>
                  </a:solidFill>
                  <a:latin typeface="Arial" pitchFamily="34" charset="0"/>
                  <a:ea typeface="맑은 고딕" pitchFamily="50" charset="-127"/>
                  <a:cs typeface="Arial" pitchFamily="34" charset="0"/>
                </a:rPr>
                <a:t> </a:t>
              </a:r>
              <a:endParaRPr lang="ko-KR" altLang="en-US" sz="800" b="1" dirty="0">
                <a:solidFill>
                  <a:srgbClr val="FF0000"/>
                </a:solidFill>
                <a:latin typeface="Arial" pitchFamily="34" charset="0"/>
                <a:ea typeface="맑은 고딕" pitchFamily="50" charset="-127"/>
                <a:cs typeface="Arial" pitchFamily="34" charset="0"/>
              </a:endParaRPr>
            </a:p>
          </p:txBody>
        </p:sp>
        <p:sp>
          <p:nvSpPr>
            <p:cNvPr id="206" name="TextBox 5"/>
            <p:cNvSpPr txBox="1">
              <a:spLocks noChangeArrowheads="1"/>
            </p:cNvSpPr>
            <p:nvPr/>
          </p:nvSpPr>
          <p:spPr bwMode="auto">
            <a:xfrm>
              <a:off x="5326063" y="903387"/>
              <a:ext cx="492446" cy="248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ü"/>
              </a:pPr>
              <a:r>
                <a:rPr lang="en-US" altLang="ko-KR" sz="800" b="1" dirty="0">
                  <a:solidFill>
                    <a:srgbClr val="FF0000"/>
                  </a:solidFill>
                  <a:latin typeface="Arial" pitchFamily="34" charset="0"/>
                  <a:ea typeface="맑은 고딕" pitchFamily="50" charset="-127"/>
                  <a:cs typeface="Arial" pitchFamily="34" charset="0"/>
                </a:rPr>
                <a:t> </a:t>
              </a:r>
              <a:endParaRPr lang="ko-KR" altLang="en-US" sz="800" b="1" dirty="0">
                <a:solidFill>
                  <a:srgbClr val="FF0000"/>
                </a:solidFill>
                <a:latin typeface="Arial" pitchFamily="34" charset="0"/>
                <a:ea typeface="맑은 고딕" pitchFamily="50" charset="-127"/>
                <a:cs typeface="Arial" pitchFamily="34" charset="0"/>
              </a:endParaRPr>
            </a:p>
          </p:txBody>
        </p:sp>
        <p:sp>
          <p:nvSpPr>
            <p:cNvPr id="207" name="TextBox 5"/>
            <p:cNvSpPr txBox="1">
              <a:spLocks noChangeArrowheads="1"/>
            </p:cNvSpPr>
            <p:nvPr/>
          </p:nvSpPr>
          <p:spPr bwMode="auto">
            <a:xfrm>
              <a:off x="5049838" y="2016225"/>
              <a:ext cx="492446" cy="248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ü"/>
              </a:pPr>
              <a:r>
                <a:rPr lang="en-US" altLang="ko-KR" sz="800" b="1" dirty="0">
                  <a:solidFill>
                    <a:srgbClr val="FF0000"/>
                  </a:solidFill>
                  <a:latin typeface="Arial" pitchFamily="34" charset="0"/>
                  <a:ea typeface="맑은 고딕" pitchFamily="50" charset="-127"/>
                  <a:cs typeface="Arial" pitchFamily="34" charset="0"/>
                </a:rPr>
                <a:t> </a:t>
              </a:r>
              <a:endParaRPr lang="ko-KR" altLang="en-US" sz="800" b="1" dirty="0">
                <a:solidFill>
                  <a:srgbClr val="FF0000"/>
                </a:solidFill>
                <a:latin typeface="Arial" pitchFamily="34" charset="0"/>
                <a:ea typeface="맑은 고딕" pitchFamily="50" charset="-127"/>
                <a:cs typeface="Arial" pitchFamily="34" charset="0"/>
              </a:endParaRPr>
            </a:p>
          </p:txBody>
        </p:sp>
        <p:sp>
          <p:nvSpPr>
            <p:cNvPr id="208" name="TextBox 5"/>
            <p:cNvSpPr txBox="1">
              <a:spLocks noChangeArrowheads="1"/>
            </p:cNvSpPr>
            <p:nvPr/>
          </p:nvSpPr>
          <p:spPr bwMode="auto">
            <a:xfrm>
              <a:off x="6936798" y="3165682"/>
              <a:ext cx="492446" cy="248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ü"/>
              </a:pPr>
              <a:r>
                <a:rPr lang="en-US" altLang="ko-KR" sz="800" b="1" dirty="0">
                  <a:solidFill>
                    <a:srgbClr val="FF0000"/>
                  </a:solidFill>
                  <a:latin typeface="Arial" pitchFamily="34" charset="0"/>
                  <a:ea typeface="맑은 고딕" pitchFamily="50" charset="-127"/>
                  <a:cs typeface="Arial" pitchFamily="34" charset="0"/>
                </a:rPr>
                <a:t> </a:t>
              </a:r>
              <a:endParaRPr lang="ko-KR" altLang="en-US" sz="800" b="1" dirty="0">
                <a:solidFill>
                  <a:srgbClr val="FF0000"/>
                </a:solidFill>
                <a:latin typeface="Arial" pitchFamily="34" charset="0"/>
                <a:ea typeface="맑은 고딕" pitchFamily="50" charset="-127"/>
                <a:cs typeface="Arial" pitchFamily="34" charset="0"/>
              </a:endParaRPr>
            </a:p>
          </p:txBody>
        </p:sp>
        <p:sp>
          <p:nvSpPr>
            <p:cNvPr id="209" name="TextBox 5"/>
            <p:cNvSpPr txBox="1">
              <a:spLocks noChangeArrowheads="1"/>
            </p:cNvSpPr>
            <p:nvPr/>
          </p:nvSpPr>
          <p:spPr bwMode="auto">
            <a:xfrm>
              <a:off x="-80969" y="3998455"/>
              <a:ext cx="492446" cy="248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ü"/>
              </a:pPr>
              <a:r>
                <a:rPr lang="en-US" altLang="ko-KR" sz="800" b="1" dirty="0">
                  <a:solidFill>
                    <a:srgbClr val="FF0000"/>
                  </a:solidFill>
                  <a:latin typeface="Arial" pitchFamily="34" charset="0"/>
                  <a:ea typeface="맑은 고딕" pitchFamily="50" charset="-127"/>
                  <a:cs typeface="Arial" pitchFamily="34" charset="0"/>
                </a:rPr>
                <a:t> </a:t>
              </a:r>
              <a:endParaRPr lang="ko-KR" altLang="en-US" sz="800" b="1" dirty="0">
                <a:solidFill>
                  <a:srgbClr val="FF0000"/>
                </a:solidFill>
                <a:latin typeface="Arial" pitchFamily="34" charset="0"/>
                <a:ea typeface="맑은 고딕" pitchFamily="50" charset="-127"/>
                <a:cs typeface="Arial" pitchFamily="34" charset="0"/>
              </a:endParaRPr>
            </a:p>
          </p:txBody>
        </p:sp>
      </p:grpSp>
    </p:spTree>
    <p:extLst>
      <p:ext uri="{BB962C8B-B14F-4D97-AF65-F5344CB8AC3E}">
        <p14:creationId xmlns:p14="http://schemas.microsoft.com/office/powerpoint/2010/main" val="33534097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4"/>
          </p:nvPr>
        </p:nvSpPr>
        <p:spPr/>
        <p:txBody>
          <a:bodyPr/>
          <a:lstStyle/>
          <a:p>
            <a:pPr>
              <a:defRPr/>
            </a:pPr>
            <a:fld id="{BA3A7022-CBD4-4A06-BAFB-3534D8B9DC6A}" type="slidenum">
              <a:rPr lang="ko-KR" altLang="en-US" smtClean="0"/>
              <a:pPr>
                <a:defRPr/>
              </a:pPr>
              <a:t>79</a:t>
            </a:fld>
            <a:endParaRPr lang="ko-KR" altLang="en-US" dirty="0"/>
          </a:p>
        </p:txBody>
      </p:sp>
      <p:sp>
        <p:nvSpPr>
          <p:cNvPr id="8"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9"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pic>
        <p:nvPicPr>
          <p:cNvPr id="7" name="Picture 4"/>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0" y="836712"/>
            <a:ext cx="9906000" cy="554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1996409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
        <p:nvSpPr>
          <p:cNvPr id="86019"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quả</a:t>
            </a:r>
            <a:endParaRPr lang="ko-KR" altLang="en-US" sz="1600" b="1" dirty="0">
              <a:latin typeface="Arial" pitchFamily="34" charset="0"/>
              <a:ea typeface="맑은 고딕" pitchFamily="50" charset="-127"/>
              <a:cs typeface="Arial" pitchFamily="34" charset="0"/>
            </a:endParaRPr>
          </a:p>
        </p:txBody>
      </p:sp>
      <p:sp>
        <p:nvSpPr>
          <p:cNvPr id="86021" name="TextBox 3"/>
          <p:cNvSpPr txBox="1">
            <a:spLocks noChangeArrowheads="1"/>
          </p:cNvSpPr>
          <p:nvPr/>
        </p:nvSpPr>
        <p:spPr bwMode="auto">
          <a:xfrm>
            <a:off x="415924" y="981075"/>
            <a:ext cx="8785547" cy="8509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2000" b="1" dirty="0">
                <a:latin typeface="Arial" pitchFamily="34" charset="0"/>
                <a:ea typeface="맑은 고딕" pitchFamily="50" charset="-127"/>
                <a:cs typeface="Arial" pitchFamily="34" charset="0"/>
              </a:rPr>
              <a:t>※</a:t>
            </a:r>
            <a:r>
              <a:rPr lang="ko-KR" altLang="en-US"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Vẽ</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biểu</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đồ</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cá</a:t>
            </a:r>
            <a:endParaRPr lang="en-US" altLang="ko-KR" sz="2000" b="1" dirty="0">
              <a:latin typeface="Arial" pitchFamily="34" charset="0"/>
              <a:ea typeface="맑은 고딕" pitchFamily="50" charset="-127"/>
              <a:cs typeface="Arial" pitchFamily="34" charset="0"/>
            </a:endParaRPr>
          </a:p>
          <a:p>
            <a:pPr eaLnBrk="1" hangingPunct="1">
              <a:lnSpc>
                <a:spcPct val="130000"/>
              </a:lnSpc>
              <a:buClr>
                <a:srgbClr val="C5003D"/>
              </a:buClr>
            </a:pPr>
            <a:r>
              <a:rPr lang="en-US" altLang="ko-KR" sz="2000" b="1" dirty="0">
                <a:latin typeface="Arial" pitchFamily="34" charset="0"/>
                <a:ea typeface="맑은 고딕" pitchFamily="50" charset="-127"/>
                <a:cs typeface="Arial" pitchFamily="34" charset="0"/>
              </a:rPr>
              <a:t>(</a:t>
            </a:r>
            <a:r>
              <a:rPr lang="en-US" altLang="ko-KR" sz="2000" b="1" dirty="0" err="1">
                <a:latin typeface="Arial" pitchFamily="34" charset="0"/>
                <a:ea typeface="맑은 고딕" pitchFamily="50" charset="-127"/>
                <a:cs typeface="Arial" pitchFamily="34" charset="0"/>
              </a:rPr>
              <a:t>Thời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gian</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tiến</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thảo</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luận</a:t>
            </a:r>
            <a:r>
              <a:rPr lang="en-US" altLang="ko-KR" sz="2000" b="1" dirty="0">
                <a:latin typeface="Arial" pitchFamily="34" charset="0"/>
                <a:ea typeface="맑은 고딕" pitchFamily="50" charset="-127"/>
                <a:cs typeface="Arial" pitchFamily="34" charset="0"/>
              </a:rPr>
              <a:t> 20 </a:t>
            </a:r>
            <a:r>
              <a:rPr lang="en-US" altLang="ko-KR" sz="2000" b="1" dirty="0" err="1">
                <a:latin typeface="Arial" pitchFamily="34" charset="0"/>
                <a:ea typeface="맑은 고딕" pitchFamily="50" charset="-127"/>
                <a:cs typeface="Arial" pitchFamily="34" charset="0"/>
              </a:rPr>
              <a:t>phút</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thuyết</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trình</a:t>
            </a:r>
            <a:r>
              <a:rPr lang="en-US" altLang="ko-KR" sz="2000" b="1" dirty="0">
                <a:latin typeface="Arial" pitchFamily="34" charset="0"/>
                <a:ea typeface="맑은 고딕" pitchFamily="50" charset="-127"/>
                <a:cs typeface="Arial" pitchFamily="34" charset="0"/>
              </a:rPr>
              <a:t> 5 </a:t>
            </a:r>
            <a:r>
              <a:rPr lang="en-US" altLang="ko-KR" sz="2000" b="1" dirty="0" err="1">
                <a:latin typeface="Arial" pitchFamily="34" charset="0"/>
                <a:ea typeface="맑은 고딕" pitchFamily="50" charset="-127"/>
                <a:cs typeface="Arial" pitchFamily="34" charset="0"/>
              </a:rPr>
              <a:t>phút</a:t>
            </a:r>
            <a:endParaRPr lang="ko-KR" altLang="en-US" sz="20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80</a:t>
            </a:fld>
            <a:endParaRPr lang="ko-KR" altLang="en-US" dirty="0">
              <a:latin typeface="Arial" pitchFamily="34" charset="0"/>
              <a:cs typeface="Arial" pitchFamily="34" charset="0"/>
            </a:endParaRPr>
          </a:p>
        </p:txBody>
      </p:sp>
      <p:graphicFrame>
        <p:nvGraphicFramePr>
          <p:cNvPr id="3" name="Table 2"/>
          <p:cNvGraphicFramePr>
            <a:graphicFrameLocks noGrp="1"/>
          </p:cNvGraphicFramePr>
          <p:nvPr>
            <p:extLst>
              <p:ext uri="{D42A27DB-BD31-4B8C-83A1-F6EECF244321}">
                <p14:modId xmlns:p14="http://schemas.microsoft.com/office/powerpoint/2010/main" val="1349110497"/>
              </p:ext>
            </p:extLst>
          </p:nvPr>
        </p:nvGraphicFramePr>
        <p:xfrm>
          <a:off x="1064567" y="2132856"/>
          <a:ext cx="7560842" cy="2736307"/>
        </p:xfrm>
        <a:graphic>
          <a:graphicData uri="http://schemas.openxmlformats.org/drawingml/2006/table">
            <a:tbl>
              <a:tblPr firstRow="1" bandRow="1">
                <a:tableStyleId>{93296810-A885-4BE3-A3E7-6D5BEEA58F35}</a:tableStyleId>
              </a:tblPr>
              <a:tblGrid>
                <a:gridCol w="3780421">
                  <a:extLst>
                    <a:ext uri="{9D8B030D-6E8A-4147-A177-3AD203B41FA5}">
                      <a16:colId xmlns:a16="http://schemas.microsoft.com/office/drawing/2014/main" val="20000"/>
                    </a:ext>
                  </a:extLst>
                </a:gridCol>
                <a:gridCol w="3780421">
                  <a:extLst>
                    <a:ext uri="{9D8B030D-6E8A-4147-A177-3AD203B41FA5}">
                      <a16:colId xmlns:a16="http://schemas.microsoft.com/office/drawing/2014/main" val="20001"/>
                    </a:ext>
                  </a:extLst>
                </a:gridCol>
              </a:tblGrid>
              <a:tr h="390901">
                <a:tc>
                  <a:txBody>
                    <a:bodyPr/>
                    <a:lstStyle/>
                    <a:p>
                      <a:pPr algn="ctr"/>
                      <a:r>
                        <a:rPr lang="en-US" b="1" dirty="0" err="1">
                          <a:latin typeface="Arial" pitchFamily="34" charset="0"/>
                          <a:cs typeface="Arial" pitchFamily="34" charset="0"/>
                        </a:rPr>
                        <a:t>Tiêu</a:t>
                      </a:r>
                      <a:r>
                        <a:rPr lang="en-US" b="1" baseline="0" dirty="0">
                          <a:latin typeface="Arial" pitchFamily="34" charset="0"/>
                          <a:cs typeface="Arial" pitchFamily="34" charset="0"/>
                        </a:rPr>
                        <a:t> </a:t>
                      </a:r>
                      <a:r>
                        <a:rPr lang="en-US" b="1" baseline="0" dirty="0" err="1">
                          <a:latin typeface="Arial" pitchFamily="34" charset="0"/>
                          <a:cs typeface="Arial" pitchFamily="34" charset="0"/>
                        </a:rPr>
                        <a:t>chuẩn</a:t>
                      </a:r>
                      <a:endParaRPr lang="en-US" b="1" dirty="0">
                        <a:latin typeface="Arial" pitchFamily="34" charset="0"/>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b="1" dirty="0" err="1">
                          <a:latin typeface="Arial" pitchFamily="34" charset="0"/>
                          <a:cs typeface="Arial" pitchFamily="34" charset="0"/>
                        </a:rPr>
                        <a:t>Điểm</a:t>
                      </a:r>
                      <a:endParaRPr lang="en-US" b="1" dirty="0">
                        <a:latin typeface="Arial" pitchFamily="34" charset="0"/>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90901">
                <a:tc>
                  <a:txBody>
                    <a:bodyPr/>
                    <a:lstStyle/>
                    <a:p>
                      <a:r>
                        <a:rPr lang="en-US" b="1" dirty="0">
                          <a:latin typeface="Arial" pitchFamily="34" charset="0"/>
                          <a:cs typeface="Arial" pitchFamily="34" charset="0"/>
                        </a:rPr>
                        <a:t>Ý</a:t>
                      </a:r>
                      <a:r>
                        <a:rPr lang="en-US" b="1" baseline="0" dirty="0">
                          <a:latin typeface="Arial" pitchFamily="34" charset="0"/>
                          <a:cs typeface="Arial" pitchFamily="34" charset="0"/>
                        </a:rPr>
                        <a:t> </a:t>
                      </a:r>
                      <a:r>
                        <a:rPr lang="en-US" b="1" baseline="0" dirty="0" err="1">
                          <a:latin typeface="Arial" pitchFamily="34" charset="0"/>
                          <a:cs typeface="Arial" pitchFamily="34" charset="0"/>
                        </a:rPr>
                        <a:t>tưởng</a:t>
                      </a:r>
                      <a:r>
                        <a:rPr lang="en-US" b="1" baseline="0" dirty="0">
                          <a:latin typeface="Arial" pitchFamily="34" charset="0"/>
                          <a:cs typeface="Arial" pitchFamily="34" charset="0"/>
                        </a:rPr>
                        <a:t> </a:t>
                      </a:r>
                      <a:endParaRPr lang="en-US" b="1" dirty="0">
                        <a:latin typeface="Arial" pitchFamily="34" charset="0"/>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b="1" dirty="0">
                          <a:latin typeface="Arial" pitchFamily="34" charset="0"/>
                          <a:cs typeface="Arial" pitchFamily="34" charset="0"/>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90901">
                <a:tc>
                  <a:txBody>
                    <a:bodyPr/>
                    <a:lstStyle/>
                    <a:p>
                      <a:r>
                        <a:rPr lang="en-US" b="1" dirty="0" err="1">
                          <a:latin typeface="Arial" pitchFamily="34" charset="0"/>
                          <a:cs typeface="Arial" pitchFamily="34" charset="0"/>
                        </a:rPr>
                        <a:t>Nội</a:t>
                      </a:r>
                      <a:r>
                        <a:rPr lang="en-US" b="1" baseline="0" dirty="0">
                          <a:latin typeface="Arial" pitchFamily="34" charset="0"/>
                          <a:cs typeface="Arial" pitchFamily="34" charset="0"/>
                        </a:rPr>
                        <a:t> dung</a:t>
                      </a:r>
                      <a:endParaRPr lang="en-US" b="1" dirty="0">
                        <a:latin typeface="Arial" pitchFamily="34" charset="0"/>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b="1" dirty="0">
                          <a:latin typeface="Arial" pitchFamily="34" charset="0"/>
                          <a:cs typeface="Arial" pitchFamily="34" charset="0"/>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90901">
                <a:tc>
                  <a:txBody>
                    <a:bodyPr/>
                    <a:lstStyle/>
                    <a:p>
                      <a:r>
                        <a:rPr lang="en-US" b="1" dirty="0" err="1">
                          <a:latin typeface="Arial" pitchFamily="34" charset="0"/>
                          <a:cs typeface="Arial" pitchFamily="34" charset="0"/>
                        </a:rPr>
                        <a:t>Trình</a:t>
                      </a:r>
                      <a:r>
                        <a:rPr lang="en-US" b="1" baseline="0" dirty="0">
                          <a:latin typeface="Arial" pitchFamily="34" charset="0"/>
                          <a:cs typeface="Arial" pitchFamily="34" charset="0"/>
                        </a:rPr>
                        <a:t> </a:t>
                      </a:r>
                      <a:r>
                        <a:rPr lang="en-US" b="1" baseline="0" dirty="0" err="1">
                          <a:latin typeface="Arial" pitchFamily="34" charset="0"/>
                          <a:cs typeface="Arial" pitchFamily="34" charset="0"/>
                        </a:rPr>
                        <a:t>bày</a:t>
                      </a:r>
                      <a:endParaRPr lang="en-US" b="1" dirty="0">
                        <a:latin typeface="Arial" pitchFamily="34" charset="0"/>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b="1" dirty="0">
                          <a:latin typeface="Arial" pitchFamily="34" charset="0"/>
                          <a:cs typeface="Arial" pitchFamily="34" charset="0"/>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90901">
                <a:tc>
                  <a:txBody>
                    <a:bodyPr/>
                    <a:lstStyle/>
                    <a:p>
                      <a:r>
                        <a:rPr lang="en-US" b="1" dirty="0" err="1">
                          <a:latin typeface="Arial" pitchFamily="34" charset="0"/>
                          <a:cs typeface="Arial" pitchFamily="34" charset="0"/>
                        </a:rPr>
                        <a:t>Thuyết</a:t>
                      </a:r>
                      <a:r>
                        <a:rPr lang="en-US" b="1" baseline="0" dirty="0">
                          <a:latin typeface="Arial" pitchFamily="34" charset="0"/>
                          <a:cs typeface="Arial" pitchFamily="34" charset="0"/>
                        </a:rPr>
                        <a:t> </a:t>
                      </a:r>
                      <a:r>
                        <a:rPr lang="en-US" b="1" baseline="0" dirty="0" err="1">
                          <a:latin typeface="Arial" pitchFamily="34" charset="0"/>
                          <a:cs typeface="Arial" pitchFamily="34" charset="0"/>
                        </a:rPr>
                        <a:t>trình</a:t>
                      </a:r>
                      <a:endParaRPr lang="en-US" b="1" dirty="0">
                        <a:latin typeface="Arial" pitchFamily="34" charset="0"/>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b="1" dirty="0">
                          <a:latin typeface="Arial" pitchFamily="34" charset="0"/>
                          <a:cs typeface="Arial" pitchFamily="34" charset="0"/>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90901">
                <a:tc>
                  <a:txBody>
                    <a:bodyPr/>
                    <a:lstStyle/>
                    <a:p>
                      <a:r>
                        <a:rPr lang="en-US" b="1" dirty="0" err="1">
                          <a:latin typeface="Arial" pitchFamily="34" charset="0"/>
                          <a:cs typeface="Arial" pitchFamily="34" charset="0"/>
                        </a:rPr>
                        <a:t>Điểm</a:t>
                      </a:r>
                      <a:r>
                        <a:rPr lang="en-US" b="1" baseline="0" dirty="0">
                          <a:latin typeface="Arial" pitchFamily="34" charset="0"/>
                          <a:cs typeface="Arial" pitchFamily="34" charset="0"/>
                        </a:rPr>
                        <a:t> </a:t>
                      </a:r>
                      <a:r>
                        <a:rPr lang="en-US" b="1" baseline="0" dirty="0" err="1">
                          <a:latin typeface="Arial" pitchFamily="34" charset="0"/>
                          <a:cs typeface="Arial" pitchFamily="34" charset="0"/>
                        </a:rPr>
                        <a:t>tác</a:t>
                      </a:r>
                      <a:r>
                        <a:rPr lang="en-US" b="1" baseline="0" dirty="0">
                          <a:latin typeface="Arial" pitchFamily="34" charset="0"/>
                          <a:cs typeface="Arial" pitchFamily="34" charset="0"/>
                        </a:rPr>
                        <a:t> </a:t>
                      </a:r>
                      <a:r>
                        <a:rPr lang="en-US" b="1" baseline="0" dirty="0" err="1">
                          <a:latin typeface="Arial" pitchFamily="34" charset="0"/>
                          <a:cs typeface="Arial" pitchFamily="34" charset="0"/>
                        </a:rPr>
                        <a:t>phong</a:t>
                      </a:r>
                      <a:endParaRPr lang="en-US" b="1" dirty="0">
                        <a:latin typeface="Arial" pitchFamily="34" charset="0"/>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b="1" dirty="0">
                          <a:latin typeface="Arial" pitchFamily="34" charset="0"/>
                          <a:cs typeface="Arial" pitchFamily="34" charset="0"/>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390901">
                <a:tc>
                  <a:txBody>
                    <a:bodyPr/>
                    <a:lstStyle/>
                    <a:p>
                      <a:pPr algn="ctr"/>
                      <a:r>
                        <a:rPr lang="en-US" b="1" dirty="0" err="1">
                          <a:latin typeface="Arial" pitchFamily="34" charset="0"/>
                          <a:cs typeface="Arial" pitchFamily="34" charset="0"/>
                        </a:rPr>
                        <a:t>Tổng</a:t>
                      </a:r>
                      <a:endParaRPr lang="en-US" b="1" dirty="0">
                        <a:latin typeface="Arial" pitchFamily="34" charset="0"/>
                        <a:cs typeface="Arial"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b="1" dirty="0">
                          <a:latin typeface="Arial" pitchFamily="34" charset="0"/>
                          <a:cs typeface="Arial" pitchFamily="34" charset="0"/>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59971929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71" name="Picture 8" descr="C:\Users\Administrator\AppData\Local\Microsoft\Windows\Temporary Internet Files\Content.IE5\DG8HFB2Z\4155213076_b4fdca5c81[1].jpg"/>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3008784" y="3068960"/>
            <a:ext cx="3600196" cy="2251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66"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6. </a:t>
            </a:r>
            <a:r>
              <a:rPr lang="en-US" altLang="ko-KR" sz="2000" b="1" dirty="0" err="1">
                <a:latin typeface="Arial" pitchFamily="34" charset="0"/>
                <a:ea typeface="맑은 고딕" pitchFamily="50" charset="-127"/>
                <a:cs typeface="Arial" pitchFamily="34" charset="0"/>
              </a:rPr>
              <a:t>Tổng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kết</a:t>
            </a:r>
            <a:endParaRPr lang="ko-KR" altLang="en-US" sz="2000" b="1" dirty="0">
              <a:latin typeface="Arial" pitchFamily="34" charset="0"/>
              <a:ea typeface="맑은 고딕" pitchFamily="50" charset="-127"/>
              <a:cs typeface="Arial" pitchFamily="34" charset="0"/>
            </a:endParaRPr>
          </a:p>
        </p:txBody>
      </p:sp>
      <p:sp>
        <p:nvSpPr>
          <p:cNvPr id="88067"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a:t>
            </a:r>
            <a:endParaRPr lang="ko-KR" altLang="en-US" sz="1600" b="1" dirty="0">
              <a:latin typeface="Arial" pitchFamily="34" charset="0"/>
              <a:ea typeface="맑은 고딕" pitchFamily="50" charset="-127"/>
              <a:cs typeface="Arial" pitchFamily="34" charset="0"/>
            </a:endParaRPr>
          </a:p>
        </p:txBody>
      </p:sp>
      <p:sp>
        <p:nvSpPr>
          <p:cNvPr id="88068" name="Rectangle 9"/>
          <p:cNvSpPr>
            <a:spLocks noChangeArrowheads="1"/>
          </p:cNvSpPr>
          <p:nvPr/>
        </p:nvSpPr>
        <p:spPr bwMode="auto">
          <a:xfrm>
            <a:off x="488950" y="1052513"/>
            <a:ext cx="8856663" cy="1339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pPr defTabSz="762000" latinLnBrk="0">
              <a:lnSpc>
                <a:spcPct val="150000"/>
              </a:lnSpc>
              <a:buFont typeface="Arial" pitchFamily="34" charset="0"/>
              <a:buChar char="•"/>
            </a:pPr>
            <a:r>
              <a:rPr lang="ko-KR" altLang="en-US"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Biểu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đồ</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xương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cá</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là</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bức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tranh</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mô</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tả</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mối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quan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hệ</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giữa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nguyên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nhân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nhân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tố</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ảnh</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hưởng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tới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kết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quả</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đặc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điểm</a:t>
            </a:r>
            <a:r>
              <a:rPr lang="en-US" altLang="ko-KR" b="1" dirty="0">
                <a:latin typeface="Arial" pitchFamily="34" charset="0"/>
                <a:ea typeface="맑은 고딕" pitchFamily="50" charset="-127"/>
                <a:cs typeface="Arial" pitchFamily="34" charset="0"/>
              </a:rPr>
              <a:t>).</a:t>
            </a:r>
          </a:p>
          <a:p>
            <a:pPr defTabSz="762000" latinLnBrk="0">
              <a:lnSpc>
                <a:spcPct val="150000"/>
              </a:lnSpc>
            </a:pPr>
            <a:endParaRPr lang="en-US" altLang="ko-KR" b="1" dirty="0">
              <a:latin typeface="Arial" pitchFamily="34" charset="0"/>
              <a:ea typeface="맑은 고딕" pitchFamily="50" charset="-127"/>
              <a:cs typeface="Arial" pitchFamily="34" charset="0"/>
            </a:endParaRPr>
          </a:p>
        </p:txBody>
      </p:sp>
      <p:sp>
        <p:nvSpPr>
          <p:cNvPr id="88069" name="Rectangle 12"/>
          <p:cNvSpPr>
            <a:spLocks noChangeArrowheads="1"/>
          </p:cNvSpPr>
          <p:nvPr/>
        </p:nvSpPr>
        <p:spPr bwMode="auto">
          <a:xfrm>
            <a:off x="488504" y="2060848"/>
            <a:ext cx="7020619" cy="923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lnSpc>
                <a:spcPct val="150000"/>
              </a:lnSpc>
              <a:buFont typeface="Arial" pitchFamily="34" charset="0"/>
              <a:buChar char="•"/>
            </a:pP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nguyên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nhân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có</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thể</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được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điều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và</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tổ</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chức</a:t>
            </a:r>
            <a:endParaRPr lang="en-US" altLang="ko-KR" b="1" dirty="0">
              <a:latin typeface="Arial" pitchFamily="34" charset="0"/>
              <a:ea typeface="맑은 고딕" pitchFamily="50" charset="-127"/>
              <a:cs typeface="Arial" pitchFamily="34" charset="0"/>
            </a:endParaRPr>
          </a:p>
          <a:p>
            <a:pPr defTabSz="762000" latinLnBrk="0">
              <a:lnSpc>
                <a:spcPct val="150000"/>
              </a:lnSpc>
              <a:buFont typeface="Arial" pitchFamily="34" charset="0"/>
              <a:buChar char="•"/>
            </a:pPr>
            <a:r>
              <a:rPr lang="ko-KR" altLang="en-US"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phương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pháp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cải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tiến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có</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thể</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được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tổ</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chức</a:t>
            </a:r>
            <a:endParaRPr lang="en-US" altLang="ko-KR" b="1" dirty="0">
              <a:latin typeface="Arial" pitchFamily="34" charset="0"/>
              <a:ea typeface="맑은 고딕" pitchFamily="50" charset="-127"/>
              <a:cs typeface="Arial" pitchFamily="34" charset="0"/>
            </a:endParaRPr>
          </a:p>
        </p:txBody>
      </p:sp>
      <p:sp>
        <p:nvSpPr>
          <p:cNvPr id="88070" name="Rectangle 12"/>
          <p:cNvSpPr>
            <a:spLocks noChangeArrowheads="1"/>
          </p:cNvSpPr>
          <p:nvPr/>
        </p:nvSpPr>
        <p:spPr bwMode="auto">
          <a:xfrm>
            <a:off x="488505" y="5385349"/>
            <a:ext cx="8784976" cy="923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lnSpc>
                <a:spcPct val="150000"/>
              </a:lnSpc>
              <a:buFont typeface="Arial" pitchFamily="34" charset="0"/>
              <a:buChar char="•"/>
            </a:pP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Giới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thiệu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Sử</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bút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chì</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và</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giấy</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trắng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để</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xây</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dựng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biểu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đồ</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thay</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vì</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sử</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máy</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tính</a:t>
            </a:r>
            <a:endParaRPr lang="en-US" altLang="ko-KR"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81</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24898248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Text Box 4"/>
          <p:cNvSpPr txBox="1">
            <a:spLocks noChangeArrowheads="1"/>
          </p:cNvSpPr>
          <p:nvPr/>
        </p:nvSpPr>
        <p:spPr bwMode="auto">
          <a:xfrm>
            <a:off x="217488" y="2506663"/>
            <a:ext cx="6823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13" tIns="45707" rIns="91413" bIns="4570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2400" b="1" dirty="0">
                <a:solidFill>
                  <a:srgbClr val="000000"/>
                </a:solidFill>
                <a:latin typeface="Arial" pitchFamily="34" charset="0"/>
                <a:ea typeface="맑은 고딕" pitchFamily="50" charset="-127"/>
                <a:cs typeface="Arial" pitchFamily="34" charset="0"/>
              </a:rPr>
              <a:t>파레토 도 </a:t>
            </a:r>
            <a:r>
              <a:rPr lang="en-US" altLang="ko-KR" sz="2400" b="1" dirty="0">
                <a:solidFill>
                  <a:srgbClr val="000000"/>
                </a:solidFill>
                <a:latin typeface="Arial" pitchFamily="34" charset="0"/>
                <a:ea typeface="맑은 고딕" pitchFamily="50" charset="-127"/>
                <a:cs typeface="Arial" pitchFamily="34" charset="0"/>
              </a:rPr>
              <a:t>(Pareto Diagram)</a:t>
            </a:r>
            <a:endParaRPr lang="ko-KR" altLang="en-US" sz="2400" b="1" dirty="0">
              <a:solidFill>
                <a:srgbClr val="000000"/>
              </a:solidFill>
              <a:latin typeface="Arial" pitchFamily="34" charset="0"/>
              <a:ea typeface="맑은 고딕" pitchFamily="50" charset="-127"/>
              <a:cs typeface="Arial" pitchFamily="34" charset="0"/>
            </a:endParaRPr>
          </a:p>
        </p:txBody>
      </p:sp>
      <p:sp>
        <p:nvSpPr>
          <p:cNvPr id="6" name="직사각형 5"/>
          <p:cNvSpPr/>
          <p:nvPr/>
        </p:nvSpPr>
        <p:spPr>
          <a:xfrm>
            <a:off x="0" y="2420938"/>
            <a:ext cx="9906000" cy="647700"/>
          </a:xfrm>
          <a:prstGeom prst="rect">
            <a:avLst/>
          </a:prstGeom>
          <a:solidFill>
            <a:schemeClr val="accent2">
              <a:lumMod val="60000"/>
              <a:lumOff val="40000"/>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a:lnSpc>
                <a:spcPct val="85000"/>
              </a:lnSpc>
              <a:spcBef>
                <a:spcPct val="30000"/>
              </a:spcBef>
              <a:spcAft>
                <a:spcPct val="30000"/>
              </a:spcAft>
              <a:buFont typeface="Wingdings" pitchFamily="2" charset="2"/>
              <a:buNone/>
              <a:defRPr/>
            </a:pPr>
            <a:endParaRPr lang="ko-KR" altLang="en-US" sz="1200" b="1" dirty="0">
              <a:solidFill>
                <a:srgbClr val="FFFFFF"/>
              </a:solidFill>
              <a:latin typeface="Arial" pitchFamily="34" charset="0"/>
              <a:cs typeface="Arial" pitchFamily="34" charset="0"/>
            </a:endParaRPr>
          </a:p>
        </p:txBody>
      </p:sp>
      <p:sp>
        <p:nvSpPr>
          <p:cNvPr id="7" name="Rectangle 5"/>
          <p:cNvSpPr>
            <a:spLocks noChangeArrowheads="1"/>
          </p:cNvSpPr>
          <p:nvPr/>
        </p:nvSpPr>
        <p:spPr bwMode="auto">
          <a:xfrm>
            <a:off x="56456" y="2523817"/>
            <a:ext cx="4472669" cy="461639"/>
          </a:xfrm>
          <a:prstGeom prst="rect">
            <a:avLst/>
          </a:prstGeom>
          <a:solidFill>
            <a:schemeClr val="accent2">
              <a:lumMod val="40000"/>
              <a:lumOff val="60000"/>
            </a:schemeClr>
          </a:solidFill>
          <a:ln>
            <a:noFill/>
          </a:ln>
        </p:spPr>
        <p:txBody>
          <a:bodyPr wrap="square" lIns="91413" tIns="45707" rIns="91413" bIns="45707" anchor="ctr">
            <a:spAutoFit/>
          </a:bodyPr>
          <a:lstStyle/>
          <a:p>
            <a:pPr algn="ctr" eaLnBrk="0"/>
            <a:r>
              <a:rPr lang="en-US" altLang="ko-KR" sz="2400" b="1" dirty="0" err="1">
                <a:solidFill>
                  <a:srgbClr val="000000"/>
                </a:solidFill>
                <a:latin typeface="Arial" pitchFamily="34" charset="0"/>
                <a:ea typeface="맑은 고딕" pitchFamily="50" charset="-127"/>
                <a:cs typeface="Arial" pitchFamily="34" charset="0"/>
              </a:rPr>
              <a:t>Biểu</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đồ</a:t>
            </a:r>
            <a:r>
              <a:rPr lang="en-US" altLang="ko-KR" sz="2400" b="1" dirty="0">
                <a:solidFill>
                  <a:srgbClr val="000000"/>
                </a:solidFill>
                <a:latin typeface="Arial" pitchFamily="34" charset="0"/>
                <a:ea typeface="맑은 고딕" pitchFamily="50" charset="-127"/>
                <a:cs typeface="Arial" pitchFamily="34" charset="0"/>
              </a:rPr>
              <a:t> Pareto</a:t>
            </a:r>
          </a:p>
        </p:txBody>
      </p:sp>
      <p:sp>
        <p:nvSpPr>
          <p:cNvPr id="10" name="Text Box 4"/>
          <p:cNvSpPr txBox="1">
            <a:spLocks noChangeArrowheads="1"/>
          </p:cNvSpPr>
          <p:nvPr/>
        </p:nvSpPr>
        <p:spPr bwMode="auto">
          <a:xfrm>
            <a:off x="1361878" y="3578297"/>
            <a:ext cx="3168352" cy="1569626"/>
          </a:xfrm>
          <a:prstGeom prst="rect">
            <a:avLst/>
          </a:prstGeom>
          <a:noFill/>
          <a:ln w="12700" cap="rnd">
            <a:noFill/>
            <a:miter lim="800000"/>
            <a:headEnd type="none" w="sm" len="sm"/>
            <a:tailEnd type="none" w="sm" len="sm"/>
          </a:ln>
        </p:spPr>
        <p:txBody>
          <a:bodyPr wrap="square" lIns="91405" tIns="45703" rIns="91405" bIns="45703">
            <a:spAutoFit/>
          </a:bodyPr>
          <a:lstStyle/>
          <a:p>
            <a:pPr marL="87313" indent="-87313">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Giới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thiệu</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Định</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nghĩa</a:t>
            </a:r>
            <a:r>
              <a:rPr lang="ko-KR" altLang="en-US" sz="1600" b="1" dirty="0">
                <a:latin typeface="Arial" pitchFamily="34" charset="0"/>
                <a:ea typeface="맑은 고딕" panose="020B0503020000020004" pitchFamily="50" charset="-127"/>
                <a:cs typeface="Arial" pitchFamily="34" charset="0"/>
              </a:rPr>
              <a:t> </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Phương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pháp</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xây</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dựng</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Ví</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dụ</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Thực</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hành</a:t>
            </a:r>
            <a:endParaRPr lang="en-US" altLang="ko-KR" sz="1600" b="1" dirty="0">
              <a:latin typeface="Arial" pitchFamily="34" charset="0"/>
              <a:ea typeface="맑은 고딕" panose="020B0503020000020004" pitchFamily="50" charset="-127"/>
              <a:cs typeface="Arial" pitchFamily="34" charset="0"/>
            </a:endParaRPr>
          </a:p>
          <a:p>
            <a:pPr>
              <a:defRPr/>
            </a:pPr>
            <a:r>
              <a:rPr lang="en-US" altLang="ko-KR" sz="1600" b="1" dirty="0">
                <a:latin typeface="Arial" pitchFamily="34" charset="0"/>
                <a:ea typeface="맑은 고딕" panose="020B0503020000020004" pitchFamily="50" charset="-127"/>
                <a:cs typeface="Arial" pitchFamily="34" charset="0"/>
              </a:rPr>
              <a:t>6. </a:t>
            </a:r>
            <a:r>
              <a:rPr lang="en-US" altLang="ko-KR" sz="1600" b="1" dirty="0" err="1">
                <a:latin typeface="Arial" pitchFamily="34" charset="0"/>
                <a:ea typeface="맑은 고딕" panose="020B0503020000020004" pitchFamily="50" charset="-127"/>
                <a:cs typeface="Arial" pitchFamily="34" charset="0"/>
              </a:rPr>
              <a:t>Tổng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kết</a:t>
            </a:r>
            <a:endParaRPr lang="ko-KR" altLang="en-US" sz="1600" b="1" dirty="0">
              <a:latin typeface="Arial" pitchFamily="34" charset="0"/>
              <a:ea typeface="맑은 고딕" panose="020B0503020000020004" pitchFamily="50" charset="-127"/>
              <a:cs typeface="Arial" pitchFamily="34" charset="0"/>
            </a:endParaRPr>
          </a:p>
        </p:txBody>
      </p:sp>
    </p:spTree>
    <p:extLst>
      <p:ext uri="{BB962C8B-B14F-4D97-AF65-F5344CB8AC3E}">
        <p14:creationId xmlns:p14="http://schemas.microsoft.com/office/powerpoint/2010/main" val="783082263"/>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직사각형 14"/>
          <p:cNvSpPr>
            <a:spLocks noChangeArrowheads="1"/>
          </p:cNvSpPr>
          <p:nvPr/>
        </p:nvSpPr>
        <p:spPr bwMode="auto">
          <a:xfrm>
            <a:off x="119063" y="1117600"/>
            <a:ext cx="6634137" cy="208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lnSpc>
                <a:spcPct val="120000"/>
              </a:lnSpc>
            </a:pPr>
            <a:r>
              <a:rPr lang="en-US" altLang="ko-KR" b="1" dirty="0" err="1">
                <a:solidFill>
                  <a:srgbClr val="000000"/>
                </a:solidFill>
                <a:latin typeface="Arial" pitchFamily="34" charset="0"/>
                <a:ea typeface="맑은 고딕" pitchFamily="50" charset="-127"/>
                <a:cs typeface="Arial" pitchFamily="34" charset="0"/>
              </a:rPr>
              <a:t>Biểu</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đồ</a:t>
            </a:r>
            <a:r>
              <a:rPr lang="en-US" altLang="ko-KR" b="1" dirty="0">
                <a:solidFill>
                  <a:srgbClr val="000000"/>
                </a:solidFill>
                <a:latin typeface="Arial" pitchFamily="34" charset="0"/>
                <a:ea typeface="맑은 고딕" pitchFamily="50" charset="-127"/>
                <a:cs typeface="Arial" pitchFamily="34" charset="0"/>
              </a:rPr>
              <a:t> Pareto </a:t>
            </a:r>
            <a:r>
              <a:rPr lang="en-US" altLang="ko-KR" b="1" dirty="0" err="1">
                <a:solidFill>
                  <a:srgbClr val="000000"/>
                </a:solidFill>
                <a:latin typeface="Arial" pitchFamily="34" charset="0"/>
                <a:ea typeface="맑은 고딕" pitchFamily="50" charset="-127"/>
                <a:cs typeface="Arial" pitchFamily="34" charset="0"/>
              </a:rPr>
              <a:t>được</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khai</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sinh</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bởi</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nhà</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kinh</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tế</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học</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người</a:t>
            </a:r>
            <a:r>
              <a:rPr lang="en-US" altLang="ko-KR" b="1" dirty="0">
                <a:solidFill>
                  <a:srgbClr val="000000"/>
                </a:solidFill>
                <a:latin typeface="Arial" pitchFamily="34" charset="0"/>
                <a:ea typeface="맑은 고딕" pitchFamily="50" charset="-127"/>
                <a:cs typeface="Arial" pitchFamily="34" charset="0"/>
              </a:rPr>
              <a:t> Ý,  </a:t>
            </a:r>
          </a:p>
          <a:p>
            <a:pPr algn="just">
              <a:lnSpc>
                <a:spcPct val="120000"/>
              </a:lnSpc>
            </a:pPr>
            <a:r>
              <a:rPr lang="en-US" altLang="ko-KR" b="1" dirty="0">
                <a:solidFill>
                  <a:srgbClr val="000000"/>
                </a:solidFill>
                <a:latin typeface="Arial" pitchFamily="34" charset="0"/>
                <a:ea typeface="맑은 고딕" pitchFamily="50" charset="-127"/>
                <a:cs typeface="Arial" pitchFamily="34" charset="0"/>
              </a:rPr>
              <a:t>Vilfredo Pareto (1848~1923). </a:t>
            </a:r>
            <a:r>
              <a:rPr lang="en-US" altLang="ko-KR" b="1" dirty="0" err="1">
                <a:solidFill>
                  <a:srgbClr val="000000"/>
                </a:solidFill>
                <a:latin typeface="Arial" pitchFamily="34" charset="0"/>
                <a:ea typeface="맑은 고딕" pitchFamily="50" charset="-127"/>
                <a:cs typeface="Arial" pitchFamily="34" charset="0"/>
              </a:rPr>
              <a:t>Ông</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đã</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mô</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tả</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mức</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độ</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thu</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nhập</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bình</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quân</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đầu</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người</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thông</a:t>
            </a:r>
            <a:r>
              <a:rPr lang="en-US" altLang="ko-KR" b="1" dirty="0">
                <a:solidFill>
                  <a:srgbClr val="000000"/>
                </a:solidFill>
                <a:latin typeface="Arial" pitchFamily="34" charset="0"/>
                <a:ea typeface="맑은 고딕" pitchFamily="50" charset="-127"/>
                <a:cs typeface="Arial" pitchFamily="34" charset="0"/>
              </a:rPr>
              <a:t> qua </a:t>
            </a:r>
            <a:r>
              <a:rPr lang="en-US" altLang="ko-KR" b="1" dirty="0" err="1">
                <a:solidFill>
                  <a:srgbClr val="000000"/>
                </a:solidFill>
                <a:latin typeface="Arial" pitchFamily="34" charset="0"/>
                <a:ea typeface="맑은 고딕" pitchFamily="50" charset="-127"/>
                <a:cs typeface="Arial" pitchFamily="34" charset="0"/>
              </a:rPr>
              <a:t>biểu</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đồ</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đường</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phân</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phối</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thu</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nhập</a:t>
            </a:r>
            <a:r>
              <a:rPr lang="en-US" altLang="ko-KR" b="1" dirty="0">
                <a:solidFill>
                  <a:srgbClr val="000000"/>
                </a:solidFill>
                <a:latin typeface="Arial" pitchFamily="34" charset="0"/>
                <a:ea typeface="맑은 고딕" pitchFamily="50" charset="-127"/>
                <a:cs typeface="Arial" pitchFamily="34" charset="0"/>
              </a:rPr>
              <a:t>, 1897)</a:t>
            </a:r>
          </a:p>
          <a:p>
            <a:pPr algn="just">
              <a:lnSpc>
                <a:spcPct val="120000"/>
              </a:lnSpc>
            </a:pPr>
            <a:r>
              <a:rPr lang="ko-KR" altLang="en-US"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Năm</a:t>
            </a:r>
            <a:r>
              <a:rPr lang="en-US" altLang="ko-KR" b="1" dirty="0">
                <a:solidFill>
                  <a:srgbClr val="000000"/>
                </a:solidFill>
                <a:latin typeface="Arial" pitchFamily="34" charset="0"/>
                <a:ea typeface="맑은 고딕" pitchFamily="50" charset="-127"/>
                <a:cs typeface="Arial" pitchFamily="34" charset="0"/>
              </a:rPr>
              <a:t> 1951, </a:t>
            </a:r>
            <a:r>
              <a:rPr lang="en-US" altLang="ko-KR" b="1" dirty="0" err="1">
                <a:solidFill>
                  <a:srgbClr val="000000"/>
                </a:solidFill>
                <a:latin typeface="Arial" pitchFamily="34" charset="0"/>
                <a:ea typeface="맑은 고딕" pitchFamily="50" charset="-127"/>
                <a:cs typeface="Arial" pitchFamily="34" charset="0"/>
              </a:rPr>
              <a:t>tiến</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sĩ</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Juran</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áp</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dụng</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biểu</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đồ</a:t>
            </a:r>
            <a:r>
              <a:rPr lang="en-US" altLang="ko-KR" b="1" dirty="0">
                <a:solidFill>
                  <a:srgbClr val="000000"/>
                </a:solidFill>
                <a:latin typeface="Arial" pitchFamily="34" charset="0"/>
                <a:ea typeface="맑은 고딕" pitchFamily="50" charset="-127"/>
                <a:cs typeface="Arial" pitchFamily="34" charset="0"/>
              </a:rPr>
              <a:t> Pareto </a:t>
            </a:r>
            <a:r>
              <a:rPr lang="en-US" altLang="ko-KR" b="1" dirty="0" err="1">
                <a:solidFill>
                  <a:srgbClr val="000000"/>
                </a:solidFill>
                <a:latin typeface="Arial" pitchFamily="34" charset="0"/>
                <a:ea typeface="맑은 고딕" pitchFamily="50" charset="-127"/>
                <a:cs typeface="Arial" pitchFamily="34" charset="0"/>
              </a:rPr>
              <a:t>trong</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quản</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lý</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chất</a:t>
            </a:r>
            <a:r>
              <a:rPr lang="en-US" altLang="ko-KR" b="1" dirty="0">
                <a:solidFill>
                  <a:srgbClr val="000000"/>
                </a:solidFill>
                <a:latin typeface="Arial" pitchFamily="34" charset="0"/>
                <a:ea typeface="맑은 고딕" pitchFamily="50" charset="-127"/>
                <a:cs typeface="Arial" pitchFamily="34" charset="0"/>
              </a:rPr>
              <a:t> </a:t>
            </a:r>
            <a:r>
              <a:rPr lang="en-US" altLang="ko-KR" b="1" dirty="0" err="1">
                <a:solidFill>
                  <a:srgbClr val="000000"/>
                </a:solidFill>
                <a:latin typeface="Arial" pitchFamily="34" charset="0"/>
                <a:ea typeface="맑은 고딕" pitchFamily="50" charset="-127"/>
                <a:cs typeface="Arial" pitchFamily="34" charset="0"/>
              </a:rPr>
              <a:t>lượng</a:t>
            </a:r>
            <a:endParaRPr lang="ko-KR" altLang="ko-KR" b="1" dirty="0">
              <a:solidFill>
                <a:srgbClr val="000000"/>
              </a:solidFill>
              <a:latin typeface="Arial" pitchFamily="34" charset="0"/>
              <a:ea typeface="맑은 고딕" pitchFamily="50" charset="-127"/>
              <a:cs typeface="Arial" pitchFamily="34" charset="0"/>
            </a:endParaRPr>
          </a:p>
        </p:txBody>
      </p:sp>
      <p:sp>
        <p:nvSpPr>
          <p:cNvPr id="94211"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ko-KR" altLang="en-US" sz="2000" b="1" dirty="0">
              <a:latin typeface="Arial" pitchFamily="34" charset="0"/>
              <a:ea typeface="맑은 고딕" pitchFamily="50" charset="-127"/>
              <a:cs typeface="Arial" pitchFamily="34" charset="0"/>
            </a:endParaRPr>
          </a:p>
        </p:txBody>
      </p:sp>
      <p:pic>
        <p:nvPicPr>
          <p:cNvPr id="94212" name="Picture 8" descr="http://upload.wikimedia.org/wikipedia/commons/9/99/Vilfredo_Pareto.jpg">
            <a:hlinkClick r:id="rId3"/>
          </p:cNvPr>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716642" y="922366"/>
            <a:ext cx="1632470" cy="2281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215901" y="3414713"/>
            <a:ext cx="7041356" cy="2031325"/>
          </a:xfrm>
          <a:prstGeom prst="rect">
            <a:avLst/>
          </a:prstGeom>
          <a:noFill/>
        </p:spPr>
        <p:txBody>
          <a:bodyPr wrap="square">
            <a:spAutoFit/>
          </a:bodyPr>
          <a:lstStyle/>
          <a:p>
            <a:pPr marL="285750" indent="-285750" algn="just">
              <a:buFont typeface="Wingdings" panose="05000000000000000000" pitchFamily="2" charset="2"/>
              <a:buChar char="§"/>
              <a:defRPr/>
            </a:pPr>
            <a:r>
              <a:rPr lang="en-US" altLang="ko-KR" dirty="0" err="1">
                <a:latin typeface="Arial" pitchFamily="34" charset="0"/>
                <a:ea typeface="맑은 고딕" panose="020B0503020000020004" pitchFamily="50" charset="-127"/>
                <a:cs typeface="Arial" pitchFamily="34" charset="0"/>
              </a:rPr>
              <a:t>Doanh</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thu</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của</a:t>
            </a:r>
            <a:r>
              <a:rPr lang="en-US" altLang="ko-KR" dirty="0">
                <a:latin typeface="Arial" pitchFamily="34" charset="0"/>
                <a:ea typeface="맑은 고딕" panose="020B0503020000020004" pitchFamily="50" charset="-127"/>
                <a:cs typeface="Arial" pitchFamily="34" charset="0"/>
              </a:rPr>
              <a:t> 20% </a:t>
            </a:r>
            <a:r>
              <a:rPr lang="en-US" altLang="ko-KR" dirty="0" err="1">
                <a:latin typeface="Arial" pitchFamily="34" charset="0"/>
                <a:ea typeface="맑은 고딕" panose="020B0503020000020004" pitchFamily="50" charset="-127"/>
                <a:cs typeface="Arial" pitchFamily="34" charset="0"/>
              </a:rPr>
              <a:t>sản</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phẩm</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chiếm</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tới</a:t>
            </a:r>
            <a:r>
              <a:rPr lang="en-US" altLang="ko-KR" dirty="0">
                <a:latin typeface="Arial" pitchFamily="34" charset="0"/>
                <a:ea typeface="맑은 고딕" panose="020B0503020000020004" pitchFamily="50" charset="-127"/>
                <a:cs typeface="Arial" pitchFamily="34" charset="0"/>
              </a:rPr>
              <a:t> 80% </a:t>
            </a:r>
            <a:r>
              <a:rPr lang="en-US" altLang="ko-KR" dirty="0" err="1">
                <a:latin typeface="Arial" pitchFamily="34" charset="0"/>
                <a:ea typeface="맑은 고딕" panose="020B0503020000020004" pitchFamily="50" charset="-127"/>
                <a:cs typeface="Arial" pitchFamily="34" charset="0"/>
              </a:rPr>
              <a:t>tổng</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doanh</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thu</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của</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cả</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cửa</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hàng</a:t>
            </a:r>
            <a:r>
              <a:rPr lang="en-US" altLang="ko-KR" dirty="0">
                <a:latin typeface="Arial" pitchFamily="34" charset="0"/>
                <a:ea typeface="맑은 고딕" panose="020B0503020000020004" pitchFamily="50" charset="-127"/>
                <a:cs typeface="Arial" pitchFamily="34" charset="0"/>
              </a:rPr>
              <a:t>.</a:t>
            </a:r>
          </a:p>
          <a:p>
            <a:pPr marL="285750" indent="-285750" algn="just">
              <a:buFont typeface="Wingdings" panose="05000000000000000000" pitchFamily="2" charset="2"/>
              <a:buChar char="§"/>
              <a:defRPr/>
            </a:pPr>
            <a:r>
              <a:rPr lang="en-US" altLang="ko-KR" dirty="0">
                <a:latin typeface="Arial" pitchFamily="34" charset="0"/>
                <a:ea typeface="맑은 고딕" panose="020B0503020000020004" pitchFamily="50" charset="-127"/>
                <a:cs typeface="Arial" pitchFamily="34" charset="0"/>
              </a:rPr>
              <a:t>20% </a:t>
            </a:r>
            <a:r>
              <a:rPr lang="en-US" altLang="ko-KR" dirty="0" err="1">
                <a:latin typeface="Arial" pitchFamily="34" charset="0"/>
                <a:ea typeface="맑은 고딕" panose="020B0503020000020004" pitchFamily="50" charset="-127"/>
                <a:cs typeface="Arial" pitchFamily="34" charset="0"/>
              </a:rPr>
              <a:t>dân</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số</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chiếm</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tới</a:t>
            </a:r>
            <a:r>
              <a:rPr lang="en-US" altLang="ko-KR" dirty="0">
                <a:latin typeface="Arial" pitchFamily="34" charset="0"/>
                <a:ea typeface="맑은 고딕" panose="020B0503020000020004" pitchFamily="50" charset="-127"/>
                <a:cs typeface="Arial" pitchFamily="34" charset="0"/>
              </a:rPr>
              <a:t> 80% </a:t>
            </a:r>
            <a:r>
              <a:rPr lang="en-US" altLang="ko-KR" dirty="0" err="1">
                <a:latin typeface="Arial" pitchFamily="34" charset="0"/>
                <a:ea typeface="맑은 고딕" panose="020B0503020000020004" pitchFamily="50" charset="-127"/>
                <a:cs typeface="Arial" pitchFamily="34" charset="0"/>
              </a:rPr>
              <a:t>tổng</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giá</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trị</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tài</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sản</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của</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một</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quốc</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gia</a:t>
            </a:r>
            <a:r>
              <a:rPr lang="en-US" altLang="ko-KR" dirty="0">
                <a:latin typeface="Arial" pitchFamily="34" charset="0"/>
                <a:ea typeface="맑은 고딕" panose="020B0503020000020004" pitchFamily="50" charset="-127"/>
                <a:cs typeface="Arial" pitchFamily="34" charset="0"/>
              </a:rPr>
              <a:t>. </a:t>
            </a:r>
          </a:p>
          <a:p>
            <a:pPr marL="285750" indent="-285750" algn="just">
              <a:buFont typeface="Wingdings" panose="05000000000000000000" pitchFamily="2" charset="2"/>
              <a:buChar char="§"/>
              <a:defRPr/>
            </a:pPr>
            <a:r>
              <a:rPr lang="en-US" altLang="ko-KR" dirty="0">
                <a:latin typeface="Arial" pitchFamily="34" charset="0"/>
                <a:ea typeface="맑은 고딕" panose="020B0503020000020004" pitchFamily="50" charset="-127"/>
                <a:cs typeface="Arial" pitchFamily="34" charset="0"/>
              </a:rPr>
              <a:t>20% </a:t>
            </a:r>
            <a:r>
              <a:rPr lang="en-US" altLang="ko-KR" dirty="0" err="1">
                <a:latin typeface="Arial" pitchFamily="34" charset="0"/>
                <a:ea typeface="맑은 고딕" panose="020B0503020000020004" pitchFamily="50" charset="-127"/>
                <a:cs typeface="Arial" pitchFamily="34" charset="0"/>
              </a:rPr>
              <a:t>số</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lượng</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sai</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sót</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chiếm</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tới</a:t>
            </a:r>
            <a:r>
              <a:rPr lang="en-US" altLang="ko-KR" dirty="0">
                <a:latin typeface="Arial" pitchFamily="34" charset="0"/>
                <a:ea typeface="맑은 고딕" panose="020B0503020000020004" pitchFamily="50" charset="-127"/>
                <a:cs typeface="Arial" pitchFamily="34" charset="0"/>
              </a:rPr>
              <a:t> 80% </a:t>
            </a:r>
            <a:r>
              <a:rPr lang="en-US" altLang="ko-KR" dirty="0" err="1">
                <a:latin typeface="Arial" pitchFamily="34" charset="0"/>
                <a:ea typeface="맑은 고딕" panose="020B0503020000020004" pitchFamily="50" charset="-127"/>
                <a:cs typeface="Arial" pitchFamily="34" charset="0"/>
              </a:rPr>
              <a:t>tổng</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số</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lượng</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lỗi</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của</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một</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sản</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phẩm</a:t>
            </a:r>
            <a:r>
              <a:rPr lang="en-US" altLang="ko-KR" dirty="0">
                <a:latin typeface="Arial" pitchFamily="34" charset="0"/>
                <a:ea typeface="맑은 고딕" panose="020B0503020000020004" pitchFamily="50" charset="-127"/>
                <a:cs typeface="Arial" pitchFamily="34" charset="0"/>
              </a:rPr>
              <a:t>.</a:t>
            </a:r>
          </a:p>
          <a:p>
            <a:pPr marL="285750" indent="-285750" algn="just">
              <a:buFont typeface="Wingdings" panose="05000000000000000000" pitchFamily="2" charset="2"/>
              <a:buChar char="§"/>
              <a:defRPr/>
            </a:pPr>
            <a:r>
              <a:rPr lang="en-US" altLang="ko-KR" dirty="0">
                <a:latin typeface="Arial" pitchFamily="34" charset="0"/>
                <a:ea typeface="맑은 고딕" panose="020B0503020000020004" pitchFamily="50" charset="-127"/>
                <a:cs typeface="Arial" pitchFamily="34" charset="0"/>
              </a:rPr>
              <a:t>20% </a:t>
            </a:r>
            <a:r>
              <a:rPr lang="en-US" altLang="ko-KR" dirty="0" err="1">
                <a:latin typeface="Arial" pitchFamily="34" charset="0"/>
                <a:ea typeface="맑은 고딕" panose="020B0503020000020004" pitchFamily="50" charset="-127"/>
                <a:cs typeface="Arial" pitchFamily="34" charset="0"/>
              </a:rPr>
              <a:t>số</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lượng</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quốc</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gia</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tham</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dự</a:t>
            </a:r>
            <a:r>
              <a:rPr lang="en-US" altLang="ko-KR" dirty="0">
                <a:latin typeface="Arial" pitchFamily="34" charset="0"/>
                <a:ea typeface="맑은 고딕" panose="020B0503020000020004" pitchFamily="50" charset="-127"/>
                <a:cs typeface="Arial" pitchFamily="34" charset="0"/>
              </a:rPr>
              <a:t> Olympics </a:t>
            </a:r>
            <a:r>
              <a:rPr lang="en-US" altLang="ko-KR" dirty="0" err="1">
                <a:latin typeface="Arial" pitchFamily="34" charset="0"/>
                <a:ea typeface="맑은 고딕" panose="020B0503020000020004" pitchFamily="50" charset="-127"/>
                <a:cs typeface="Arial" pitchFamily="34" charset="0"/>
              </a:rPr>
              <a:t>chiếm</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tới</a:t>
            </a:r>
            <a:r>
              <a:rPr lang="en-US" altLang="ko-KR" dirty="0">
                <a:latin typeface="Arial" pitchFamily="34" charset="0"/>
                <a:ea typeface="맑은 고딕" panose="020B0503020000020004" pitchFamily="50" charset="-127"/>
                <a:cs typeface="Arial" pitchFamily="34" charset="0"/>
              </a:rPr>
              <a:t> 80% </a:t>
            </a:r>
            <a:r>
              <a:rPr lang="en-US" altLang="ko-KR" dirty="0" err="1">
                <a:latin typeface="Arial" pitchFamily="34" charset="0"/>
                <a:ea typeface="맑은 고딕" panose="020B0503020000020004" pitchFamily="50" charset="-127"/>
                <a:cs typeface="Arial" pitchFamily="34" charset="0"/>
              </a:rPr>
              <a:t>tổng</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số</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lượng</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huy</a:t>
            </a:r>
            <a:r>
              <a:rPr lang="en-US" altLang="ko-KR"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chương</a:t>
            </a:r>
            <a:r>
              <a:rPr lang="en-US" altLang="ko-KR" dirty="0">
                <a:latin typeface="Arial" pitchFamily="34" charset="0"/>
                <a:ea typeface="맑은 고딕" panose="020B0503020000020004" pitchFamily="50" charset="-127"/>
                <a:cs typeface="Arial" pitchFamily="34" charset="0"/>
              </a:rPr>
              <a:t>…</a:t>
            </a:r>
            <a:endParaRPr lang="ko-KR" altLang="en-US" dirty="0">
              <a:latin typeface="Arial" pitchFamily="34" charset="0"/>
              <a:ea typeface="맑은 고딕" panose="020B0503020000020004" pitchFamily="50" charset="-127"/>
              <a:cs typeface="Arial" pitchFamily="34" charset="0"/>
            </a:endParaRPr>
          </a:p>
        </p:txBody>
      </p:sp>
      <p:sp>
        <p:nvSpPr>
          <p:cNvPr id="94214"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83</a:t>
            </a:fld>
            <a:endParaRPr lang="ko-KR" altLang="en-US" dirty="0">
              <a:latin typeface="Arial" pitchFamily="34" charset="0"/>
              <a:cs typeface="Arial" pitchFamily="34" charset="0"/>
            </a:endParaRPr>
          </a:p>
        </p:txBody>
      </p:sp>
      <p:pic>
        <p:nvPicPr>
          <p:cNvPr id="4" name="Picture 3"/>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7688922" y="3429000"/>
            <a:ext cx="1704904" cy="2431208"/>
          </a:xfrm>
          <a:prstGeom prst="rect">
            <a:avLst/>
          </a:prstGeom>
        </p:spPr>
      </p:pic>
    </p:spTree>
    <p:extLst>
      <p:ext uri="{BB962C8B-B14F-4D97-AF65-F5344CB8AC3E}">
        <p14:creationId xmlns:p14="http://schemas.microsoft.com/office/powerpoint/2010/main" val="2603486986"/>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Text Box 3"/>
          <p:cNvSpPr txBox="1">
            <a:spLocks noChangeArrowheads="1"/>
          </p:cNvSpPr>
          <p:nvPr/>
        </p:nvSpPr>
        <p:spPr bwMode="auto">
          <a:xfrm>
            <a:off x="1065213" y="4052322"/>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cs typeface="Arial" pitchFamily="34" charset="0"/>
              </a:rPr>
              <a:t>2) </a:t>
            </a:r>
            <a:r>
              <a:rPr lang="en-US" altLang="ko-KR" sz="1600" b="1" dirty="0" err="1">
                <a:latin typeface="Arial" pitchFamily="34" charset="0"/>
                <a:ea typeface="맑은 고딕" pitchFamily="50" charset="-127"/>
                <a:cs typeface="Arial" pitchFamily="34" charset="0"/>
              </a:rPr>
              <a:t>Đặc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điểm</a:t>
            </a:r>
            <a:endParaRPr lang="ko-KR" altLang="en-US" sz="1600" b="1" dirty="0">
              <a:latin typeface="Arial" pitchFamily="34" charset="0"/>
              <a:ea typeface="맑은 고딕" pitchFamily="50" charset="-127"/>
              <a:cs typeface="Arial" pitchFamily="34" charset="0"/>
            </a:endParaRPr>
          </a:p>
        </p:txBody>
      </p:sp>
      <p:sp>
        <p:nvSpPr>
          <p:cNvPr id="4" name="Text Box 4"/>
          <p:cNvSpPr txBox="1">
            <a:spLocks noChangeArrowheads="1"/>
          </p:cNvSpPr>
          <p:nvPr/>
        </p:nvSpPr>
        <p:spPr bwMode="auto">
          <a:xfrm>
            <a:off x="1281113" y="1696074"/>
            <a:ext cx="7704335" cy="1449628"/>
          </a:xfrm>
          <a:prstGeom prst="rect">
            <a:avLst/>
          </a:prstGeom>
          <a:noFill/>
          <a:ln>
            <a:noFill/>
          </a:ln>
        </p:spPr>
        <p:txBody>
          <a:bodyPr wrap="square" anchor="ctr">
            <a:spAutoFit/>
          </a:bodyPr>
          <a:lstStyle>
            <a:lvl1pPr marL="177800" indent="-177800" eaLnBrk="0" hangingPunct="0">
              <a:defRPr kumimoji="1" sz="1600">
                <a:solidFill>
                  <a:schemeClr val="tx1"/>
                </a:solidFill>
                <a:latin typeface="Arial" pitchFamily="34" charset="0"/>
                <a:ea typeface="굴림" pitchFamily="50" charset="-127"/>
              </a:defRPr>
            </a:lvl1pPr>
            <a:lvl2pPr marL="742950" indent="-285750" eaLnBrk="0" hangingPunct="0">
              <a:defRPr kumimoji="1" sz="1600">
                <a:solidFill>
                  <a:schemeClr val="tx1"/>
                </a:solidFill>
                <a:latin typeface="Arial" pitchFamily="34" charset="0"/>
                <a:ea typeface="굴림" pitchFamily="50" charset="-127"/>
              </a:defRPr>
            </a:lvl2pPr>
            <a:lvl3pPr marL="1143000" indent="-228600" eaLnBrk="0" hangingPunct="0">
              <a:defRPr kumimoji="1" sz="1600">
                <a:solidFill>
                  <a:schemeClr val="tx1"/>
                </a:solidFill>
                <a:latin typeface="Arial" pitchFamily="34" charset="0"/>
                <a:ea typeface="굴림" pitchFamily="50" charset="-127"/>
              </a:defRPr>
            </a:lvl3pPr>
            <a:lvl4pPr marL="1600200" indent="-228600" eaLnBrk="0" hangingPunct="0">
              <a:defRPr kumimoji="1" sz="1600">
                <a:solidFill>
                  <a:schemeClr val="tx1"/>
                </a:solidFill>
                <a:latin typeface="Arial" pitchFamily="34" charset="0"/>
                <a:ea typeface="굴림" pitchFamily="50" charset="-127"/>
              </a:defRPr>
            </a:lvl4pPr>
            <a:lvl5pPr marL="2057400" indent="-228600" eaLnBrk="0" hangingPunct="0">
              <a:defRPr kumimoji="1" sz="1600">
                <a:solidFill>
                  <a:schemeClr val="tx1"/>
                </a:solidFill>
                <a:latin typeface="Arial" pitchFamily="34" charset="0"/>
                <a:ea typeface="굴림" pitchFamily="50" charset="-127"/>
              </a:defRPr>
            </a:lvl5pPr>
            <a:lvl6pPr marL="2514600" indent="-228600" eaLnBrk="0" fontAlgn="base" hangingPunct="0">
              <a:spcBef>
                <a:spcPct val="0"/>
              </a:spcBef>
              <a:spcAft>
                <a:spcPct val="0"/>
              </a:spcAft>
              <a:defRPr kumimoji="1" sz="1600">
                <a:solidFill>
                  <a:schemeClr val="tx1"/>
                </a:solidFill>
                <a:latin typeface="Arial" pitchFamily="34" charset="0"/>
                <a:ea typeface="굴림" pitchFamily="50" charset="-127"/>
              </a:defRPr>
            </a:lvl6pPr>
            <a:lvl7pPr marL="2971800" indent="-228600" eaLnBrk="0" fontAlgn="base" hangingPunct="0">
              <a:spcBef>
                <a:spcPct val="0"/>
              </a:spcBef>
              <a:spcAft>
                <a:spcPct val="0"/>
              </a:spcAft>
              <a:defRPr kumimoji="1" sz="1600">
                <a:solidFill>
                  <a:schemeClr val="tx1"/>
                </a:solidFill>
                <a:latin typeface="Arial" pitchFamily="34" charset="0"/>
                <a:ea typeface="굴림" pitchFamily="50" charset="-127"/>
              </a:defRPr>
            </a:lvl7pPr>
            <a:lvl8pPr marL="3429000" indent="-228600" eaLnBrk="0" fontAlgn="base" hangingPunct="0">
              <a:spcBef>
                <a:spcPct val="0"/>
              </a:spcBef>
              <a:spcAft>
                <a:spcPct val="0"/>
              </a:spcAft>
              <a:defRPr kumimoji="1" sz="1600">
                <a:solidFill>
                  <a:schemeClr val="tx1"/>
                </a:solidFill>
                <a:latin typeface="Arial" pitchFamily="34" charset="0"/>
                <a:ea typeface="굴림" pitchFamily="50" charset="-127"/>
              </a:defRPr>
            </a:lvl8pPr>
            <a:lvl9pPr marL="3886200" indent="-228600" eaLnBrk="0" fontAlgn="base" hangingPunct="0">
              <a:spcBef>
                <a:spcPct val="0"/>
              </a:spcBef>
              <a:spcAft>
                <a:spcPct val="0"/>
              </a:spcAft>
              <a:defRPr kumimoji="1" sz="1600">
                <a:solidFill>
                  <a:schemeClr val="tx1"/>
                </a:solidFill>
                <a:latin typeface="Arial" pitchFamily="34" charset="0"/>
                <a:ea typeface="굴림" pitchFamily="50" charset="-127"/>
              </a:defRPr>
            </a:lvl9pPr>
          </a:lstStyle>
          <a:p>
            <a:pPr algn="just" eaLnBrk="1" hangingPunct="1">
              <a:spcBef>
                <a:spcPct val="10000"/>
              </a:spcBef>
              <a:buFont typeface="Wingdings" pitchFamily="2" charset="2"/>
              <a:buChar char="§"/>
              <a:defRPr/>
            </a:pPr>
            <a:r>
              <a:rPr lang="en-US" altLang="ko-KR" sz="1400" dirty="0" err="1">
                <a:ea typeface="맑은 고딕" panose="020B0503020000020004" pitchFamily="50" charset="-127"/>
                <a:cs typeface="Arial" pitchFamily="34" charset="0"/>
              </a:rPr>
              <a:t>Các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trường</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hợp</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về</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lỗi</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sai</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sót</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phàn</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nàn</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của</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khách</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hàng</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sai</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chức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năng</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v.v</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có</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thể</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được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chia</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ra</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trên</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cơ</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sở</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các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nguyên</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nhân</a:t>
            </a:r>
            <a:r>
              <a:rPr lang="en-US" altLang="ko-KR" sz="1400" dirty="0">
                <a:ea typeface="맑은 고딕" panose="020B0503020000020004" pitchFamily="50" charset="-127"/>
                <a:cs typeface="Arial" pitchFamily="34" charset="0"/>
              </a:rPr>
              <a:t> hay </a:t>
            </a:r>
            <a:r>
              <a:rPr lang="en-US" altLang="ko-KR" sz="1400" dirty="0" err="1">
                <a:ea typeface="맑은 고딕" panose="020B0503020000020004" pitchFamily="50" charset="-127"/>
                <a:cs typeface="Arial" pitchFamily="34" charset="0"/>
              </a:rPr>
              <a:t>hiện</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tượng</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và</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được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sắp</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xếp</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theo</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kích</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cỡ</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của</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các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cột</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trong</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biểu</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đồ</a:t>
            </a:r>
            <a:r>
              <a:rPr lang="en-US" altLang="ko-KR" sz="1400" dirty="0">
                <a:ea typeface="맑은 고딕" panose="020B0503020000020004" pitchFamily="50" charset="-127"/>
                <a:cs typeface="Arial" pitchFamily="34" charset="0"/>
              </a:rPr>
              <a:t>. </a:t>
            </a:r>
          </a:p>
          <a:p>
            <a:pPr algn="just" eaLnBrk="1" hangingPunct="1">
              <a:spcBef>
                <a:spcPct val="10000"/>
              </a:spcBef>
              <a:buFont typeface="Wingdings" pitchFamily="2" charset="2"/>
              <a:buChar char="§"/>
              <a:defRPr/>
            </a:pPr>
            <a:r>
              <a:rPr lang="en-US" altLang="ko-KR" sz="1400" dirty="0" err="1">
                <a:ea typeface="맑은 고딕" panose="020B0503020000020004" pitchFamily="50" charset="-127"/>
                <a:cs typeface="Arial" pitchFamily="34" charset="0"/>
              </a:rPr>
              <a:t>Được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đặt</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tên</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theo</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nhà</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kinh</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tế</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học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người</a:t>
            </a:r>
            <a:r>
              <a:rPr lang="en-US" altLang="ko-KR" sz="1400" dirty="0">
                <a:ea typeface="맑은 고딕" panose="020B0503020000020004" pitchFamily="50" charset="-127"/>
                <a:cs typeface="Arial" pitchFamily="34" charset="0"/>
              </a:rPr>
              <a:t> Ý ở </a:t>
            </a:r>
            <a:r>
              <a:rPr lang="en-US" altLang="ko-KR" sz="1400" dirty="0" err="1">
                <a:ea typeface="맑은 고딕" panose="020B0503020000020004" pitchFamily="50" charset="-127"/>
                <a:cs typeface="Arial" pitchFamily="34" charset="0"/>
              </a:rPr>
              <a:t>thế</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kỷ</a:t>
            </a:r>
            <a:r>
              <a:rPr lang="en-US" altLang="ko-KR" sz="1400" dirty="0">
                <a:ea typeface="맑은 고딕" panose="020B0503020000020004" pitchFamily="50" charset="-127"/>
                <a:cs typeface="Arial" pitchFamily="34" charset="0"/>
              </a:rPr>
              <a:t> 19 </a:t>
            </a:r>
            <a:r>
              <a:rPr lang="en-US" altLang="ko-KR" sz="1400" dirty="0" err="1">
                <a:ea typeface="맑은 고딕" panose="020B0503020000020004" pitchFamily="50" charset="-127"/>
                <a:cs typeface="Arial" pitchFamily="34" charset="0"/>
              </a:rPr>
              <a:t>Vilfredo</a:t>
            </a:r>
            <a:r>
              <a:rPr lang="en-US" altLang="ko-KR" sz="1400" dirty="0">
                <a:ea typeface="맑은 고딕" panose="020B0503020000020004" pitchFamily="50" charset="-127"/>
                <a:cs typeface="Arial" pitchFamily="34" charset="0"/>
              </a:rPr>
              <a:t> Pareto.</a:t>
            </a:r>
            <a:endParaRPr lang="ko-KR" altLang="en-US" sz="1400" dirty="0">
              <a:ea typeface="맑은 고딕" panose="020B0503020000020004" pitchFamily="50" charset="-127"/>
              <a:cs typeface="Arial" pitchFamily="34" charset="0"/>
            </a:endParaRPr>
          </a:p>
          <a:p>
            <a:pPr algn="just" eaLnBrk="1" hangingPunct="1">
              <a:spcBef>
                <a:spcPct val="10000"/>
              </a:spcBef>
              <a:buFont typeface="Wingdings" pitchFamily="2" charset="2"/>
              <a:buChar char="§"/>
              <a:defRPr/>
            </a:pPr>
            <a:r>
              <a:rPr lang="en-US" altLang="ko-KR" sz="1400" dirty="0" err="1">
                <a:ea typeface="맑은 고딕" panose="020B0503020000020004" pitchFamily="50" charset="-127"/>
                <a:cs typeface="Arial" pitchFamily="34" charset="0"/>
              </a:rPr>
              <a:t>Quy</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tắc</a:t>
            </a:r>
            <a:r>
              <a:rPr lang="en-US" altLang="ko-KR" sz="1400" dirty="0">
                <a:ea typeface="맑은 고딕" panose="020B0503020000020004" pitchFamily="50" charset="-127"/>
                <a:cs typeface="Arial" pitchFamily="34" charset="0"/>
              </a:rPr>
              <a:t> 80-20: 80% </a:t>
            </a:r>
            <a:r>
              <a:rPr lang="en-US" altLang="ko-KR" sz="1400" dirty="0" err="1">
                <a:ea typeface="맑은 고딕" panose="020B0503020000020004" pitchFamily="50" charset="-127"/>
                <a:cs typeface="Arial" pitchFamily="34" charset="0"/>
              </a:rPr>
              <a:t>vấn</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đề</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được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phân</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bổ</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cho</a:t>
            </a:r>
            <a:r>
              <a:rPr lang="en-US" altLang="ko-KR" sz="1400" dirty="0">
                <a:ea typeface="맑은 고딕" panose="020B0503020000020004" pitchFamily="50" charset="-127"/>
                <a:cs typeface="Arial" pitchFamily="34" charset="0"/>
              </a:rPr>
              <a:t> 20% </a:t>
            </a:r>
            <a:r>
              <a:rPr lang="en-US" altLang="ko-KR" sz="1400" dirty="0" err="1">
                <a:ea typeface="맑은 고딕" panose="020B0503020000020004" pitchFamily="50" charset="-127"/>
                <a:cs typeface="Arial" pitchFamily="34" charset="0"/>
              </a:rPr>
              <a:t>các</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hạng</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mục</a:t>
            </a:r>
            <a:endParaRPr lang="en-US" altLang="ko-KR" sz="1400" dirty="0">
              <a:ea typeface="맑은 고딕" panose="020B0503020000020004" pitchFamily="50" charset="-127"/>
              <a:cs typeface="Arial" pitchFamily="34" charset="0"/>
            </a:endParaRPr>
          </a:p>
          <a:p>
            <a:pPr marL="0" indent="0" algn="just" eaLnBrk="1" hangingPunct="1">
              <a:spcBef>
                <a:spcPct val="10000"/>
              </a:spcBef>
              <a:defRPr/>
            </a:pP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số</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ít</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trọng</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yếu</a:t>
            </a:r>
            <a:r>
              <a:rPr lang="en-US" altLang="ko-KR" sz="1400" dirty="0">
                <a:ea typeface="맑은 고딕" panose="020B0503020000020004" pitchFamily="50" charset="-127"/>
                <a:cs typeface="Arial" pitchFamily="34" charset="0"/>
              </a:rPr>
              <a:t> (vital few) </a:t>
            </a:r>
            <a:r>
              <a:rPr lang="en-US" altLang="ko-KR" sz="1400" dirty="0" err="1">
                <a:ea typeface="맑은 고딕" panose="020B0503020000020004" pitchFamily="50" charset="-127"/>
                <a:cs typeface="Arial" pitchFamily="34" charset="0"/>
              </a:rPr>
              <a:t>và</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số</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nhiều</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hữu</a:t>
            </a:r>
            <a:r>
              <a:rPr lang="en-US" altLang="ko-KR" sz="1400" dirty="0">
                <a:ea typeface="맑은 고딕" panose="020B0503020000020004" pitchFamily="50" charset="-127"/>
                <a:cs typeface="Arial" pitchFamily="34" charset="0"/>
              </a:rPr>
              <a:t> </a:t>
            </a:r>
            <a:r>
              <a:rPr lang="en-US" altLang="ko-KR" sz="1400" dirty="0" err="1">
                <a:ea typeface="맑은 고딕" panose="020B0503020000020004" pitchFamily="50" charset="-127"/>
                <a:cs typeface="Arial" pitchFamily="34" charset="0"/>
              </a:rPr>
              <a:t>dụng</a:t>
            </a:r>
            <a:r>
              <a:rPr lang="en-US" altLang="ko-KR" sz="1400" dirty="0">
                <a:ea typeface="맑은 고딕" panose="020B0503020000020004" pitchFamily="50" charset="-127"/>
                <a:cs typeface="Arial" pitchFamily="34" charset="0"/>
              </a:rPr>
              <a:t> (useful many)).</a:t>
            </a:r>
          </a:p>
        </p:txBody>
      </p:sp>
      <p:sp>
        <p:nvSpPr>
          <p:cNvPr id="95236" name="Text Box 415"/>
          <p:cNvSpPr txBox="1">
            <a:spLocks noChangeArrowheads="1"/>
          </p:cNvSpPr>
          <p:nvPr/>
        </p:nvSpPr>
        <p:spPr bwMode="auto">
          <a:xfrm>
            <a:off x="1281113" y="4528572"/>
            <a:ext cx="7776343" cy="1492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77800" indent="-1778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10000"/>
              </a:spcBef>
              <a:buFont typeface="Wingdings" pitchFamily="2" charset="2"/>
              <a:buChar char="§"/>
            </a:pPr>
            <a:r>
              <a:rPr lang="en-US" altLang="ko-KR" sz="1400" dirty="0" err="1">
                <a:latin typeface="Arial" pitchFamily="34" charset="0"/>
                <a:ea typeface="맑은 고딕" pitchFamily="50" charset="-127"/>
                <a:cs typeface="Arial" pitchFamily="34" charset="0"/>
              </a:rPr>
              <a:t>Giúp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tìm</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ra</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những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trường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hợp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vấn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đề</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nhất</a:t>
            </a:r>
            <a:r>
              <a:rPr lang="en-US" altLang="ko-KR" sz="1400" dirty="0">
                <a:latin typeface="Arial" pitchFamily="34" charset="0"/>
                <a:ea typeface="맑은 고딕" pitchFamily="50" charset="-127"/>
                <a:cs typeface="Arial" pitchFamily="34" charset="0"/>
              </a:rPr>
              <a:t>.</a:t>
            </a:r>
          </a:p>
          <a:p>
            <a:pPr eaLnBrk="1" hangingPunct="1">
              <a:spcBef>
                <a:spcPct val="10000"/>
              </a:spcBef>
              <a:buFont typeface="Wingdings" pitchFamily="2" charset="2"/>
              <a:buChar char="§"/>
            </a:pPr>
            <a:r>
              <a:rPr lang="en-US" altLang="ko-KR" sz="1400" dirty="0" err="1">
                <a:latin typeface="Arial" pitchFamily="34" charset="0"/>
                <a:ea typeface="맑은 고딕" pitchFamily="50" charset="-127"/>
                <a:cs typeface="Arial" pitchFamily="34" charset="0"/>
              </a:rPr>
              <a:t>Giúp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nhận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biết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dễ</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dàng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mức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độ</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của</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từng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trường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hợp</a:t>
            </a:r>
            <a:r>
              <a:rPr lang="en-US" altLang="ko-KR" sz="1400" dirty="0">
                <a:latin typeface="Arial" pitchFamily="34" charset="0"/>
                <a:ea typeface="맑은 고딕" pitchFamily="50" charset="-127"/>
                <a:cs typeface="Arial" pitchFamily="34" charset="0"/>
              </a:rPr>
              <a:t>.</a:t>
            </a:r>
          </a:p>
          <a:p>
            <a:pPr eaLnBrk="1" hangingPunct="1">
              <a:spcBef>
                <a:spcPct val="10000"/>
              </a:spcBef>
              <a:buFont typeface="Wingdings" pitchFamily="2" charset="2"/>
              <a:buChar char="§"/>
            </a:pPr>
            <a:r>
              <a:rPr lang="en-US" altLang="ko-KR" sz="1400" dirty="0" err="1">
                <a:latin typeface="Arial" pitchFamily="34" charset="0"/>
                <a:ea typeface="맑은 고딕" pitchFamily="50" charset="-127"/>
                <a:cs typeface="Arial" pitchFamily="34" charset="0"/>
              </a:rPr>
              <a:t>Giúp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nhận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biết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ảnh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hưởng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của</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từng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trường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hợp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trong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tổng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thể</a:t>
            </a:r>
            <a:r>
              <a:rPr lang="en-US" altLang="ko-KR" sz="1400" dirty="0">
                <a:latin typeface="Arial" pitchFamily="34" charset="0"/>
                <a:ea typeface="맑은 고딕" pitchFamily="50" charset="-127"/>
                <a:cs typeface="Arial" pitchFamily="34" charset="0"/>
              </a:rPr>
              <a:t>.</a:t>
            </a:r>
          </a:p>
          <a:p>
            <a:pPr eaLnBrk="1" hangingPunct="1">
              <a:spcBef>
                <a:spcPct val="10000"/>
              </a:spcBef>
              <a:buFont typeface="Wingdings" pitchFamily="2" charset="2"/>
              <a:buChar char="§"/>
            </a:pPr>
            <a:r>
              <a:rPr lang="en-US" altLang="ko-KR" sz="1400" dirty="0" err="1">
                <a:latin typeface="Arial" pitchFamily="34" charset="0"/>
                <a:ea typeface="맑은 고딕" pitchFamily="50" charset="-127"/>
                <a:cs typeface="Arial" pitchFamily="34" charset="0"/>
              </a:rPr>
              <a:t>Biểu</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đồ</a:t>
            </a:r>
            <a:r>
              <a:rPr lang="en-US" altLang="ko-KR" sz="1400" dirty="0">
                <a:latin typeface="Arial" pitchFamily="34" charset="0"/>
                <a:ea typeface="맑은 고딕" pitchFamily="50" charset="-127"/>
                <a:cs typeface="Arial" pitchFamily="34" charset="0"/>
              </a:rPr>
              <a:t> Pareto </a:t>
            </a:r>
            <a:r>
              <a:rPr lang="en-US" altLang="ko-KR" sz="1400" dirty="0" err="1">
                <a:latin typeface="Arial" pitchFamily="34" charset="0"/>
                <a:ea typeface="맑은 고딕" pitchFamily="50" charset="-127"/>
                <a:cs typeface="Arial" pitchFamily="34" charset="0"/>
              </a:rPr>
              <a:t>có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tính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thuyết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phục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cao</a:t>
            </a:r>
            <a:r>
              <a:rPr lang="en-US" altLang="ko-KR" sz="1400" dirty="0">
                <a:latin typeface="Arial" pitchFamily="34" charset="0"/>
                <a:ea typeface="맑은 고딕" pitchFamily="50" charset="-127"/>
                <a:cs typeface="Arial" pitchFamily="34" charset="0"/>
              </a:rPr>
              <a:t>. </a:t>
            </a:r>
          </a:p>
          <a:p>
            <a:pPr eaLnBrk="1" hangingPunct="1">
              <a:spcBef>
                <a:spcPct val="10000"/>
              </a:spcBef>
              <a:buFont typeface="Wingdings" pitchFamily="2" charset="2"/>
              <a:buChar char="§"/>
            </a:pPr>
            <a:r>
              <a:rPr lang="en-US" altLang="ko-KR" sz="1400" dirty="0" err="1">
                <a:latin typeface="Arial" pitchFamily="34" charset="0"/>
                <a:ea typeface="맑은 고딕" pitchFamily="50" charset="-127"/>
                <a:cs typeface="Arial" pitchFamily="34" charset="0"/>
              </a:rPr>
              <a:t>Không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yêu</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cầu</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tính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toán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phức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tạp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thể</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dễ</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dàng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tạo</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dựng</a:t>
            </a:r>
            <a:r>
              <a:rPr lang="en-US" altLang="ko-KR" sz="1400" dirty="0">
                <a:latin typeface="Arial" pitchFamily="34" charset="0"/>
                <a:ea typeface="맑은 고딕" pitchFamily="50" charset="-127"/>
                <a:cs typeface="Arial" pitchFamily="34" charset="0"/>
              </a:rPr>
              <a:t>.</a:t>
            </a:r>
          </a:p>
          <a:p>
            <a:pPr eaLnBrk="1" hangingPunct="1">
              <a:spcBef>
                <a:spcPct val="10000"/>
              </a:spcBef>
              <a:buFont typeface="Wingdings" pitchFamily="2" charset="2"/>
              <a:buChar char="§"/>
            </a:pPr>
            <a:endParaRPr lang="en-US" altLang="ko-KR" sz="1400" dirty="0">
              <a:latin typeface="Arial" pitchFamily="34" charset="0"/>
              <a:ea typeface="맑은 고딕" pitchFamily="50" charset="-127"/>
              <a:cs typeface="Arial" pitchFamily="34" charset="0"/>
            </a:endParaRPr>
          </a:p>
        </p:txBody>
      </p:sp>
      <p:sp>
        <p:nvSpPr>
          <p:cNvPr id="95237" name="Text Box 3"/>
          <p:cNvSpPr txBox="1">
            <a:spLocks noChangeArrowheads="1"/>
          </p:cNvSpPr>
          <p:nvPr/>
        </p:nvSpPr>
        <p:spPr bwMode="auto">
          <a:xfrm>
            <a:off x="1065213" y="1209957"/>
            <a:ext cx="26066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10000"/>
              </a:spcBef>
            </a:pPr>
            <a:r>
              <a:rPr lang="en-US" altLang="ko-KR" sz="1600" b="1" dirty="0">
                <a:latin typeface="Arial" pitchFamily="34" charset="0"/>
                <a:ea typeface="맑은 고딕" pitchFamily="50" charset="-127"/>
                <a:cs typeface="Arial" pitchFamily="34" charset="0"/>
              </a:rPr>
              <a:t>1) </a:t>
            </a:r>
            <a:r>
              <a:rPr lang="en-US" altLang="ko-KR" sz="1600" b="1" dirty="0" err="1">
                <a:latin typeface="Arial" pitchFamily="34" charset="0"/>
                <a:ea typeface="맑은 고딕" pitchFamily="50" charset="-127"/>
                <a:cs typeface="Arial" pitchFamily="34" charset="0"/>
              </a:rPr>
              <a:t>Định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nghĩa</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84</a:t>
            </a:fld>
            <a:endParaRPr lang="ko-KR" altLang="en-US" dirty="0">
              <a:latin typeface="Arial" pitchFamily="34" charset="0"/>
              <a:cs typeface="Arial" pitchFamily="34" charset="0"/>
            </a:endParaRPr>
          </a:p>
        </p:txBody>
      </p:sp>
      <p:sp>
        <p:nvSpPr>
          <p:cNvPr id="9"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ko-KR" altLang="en-US" sz="2000" b="1" dirty="0">
              <a:latin typeface="Arial" pitchFamily="34" charset="0"/>
              <a:ea typeface="맑은 고딕" pitchFamily="50" charset="-127"/>
              <a:cs typeface="Arial" pitchFamily="34" charset="0"/>
            </a:endParaRPr>
          </a:p>
        </p:txBody>
      </p:sp>
      <p:sp>
        <p:nvSpPr>
          <p:cNvPr id="10"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90675248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60" name="Rectangle 17"/>
          <p:cNvSpPr>
            <a:spLocks noChangeArrowheads="1"/>
          </p:cNvSpPr>
          <p:nvPr/>
        </p:nvSpPr>
        <p:spPr bwMode="auto">
          <a:xfrm>
            <a:off x="380207" y="1651615"/>
            <a:ext cx="2665413" cy="3250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spAutoFit/>
          </a:bodyPr>
          <a:lstStyle/>
          <a:p>
            <a:pPr marL="228600" indent="-228600" eaLnBrk="0" latinLnBrk="0" hangingPunct="0">
              <a:lnSpc>
                <a:spcPct val="150000"/>
              </a:lnSpc>
              <a:spcBef>
                <a:spcPct val="30000"/>
              </a:spcBef>
              <a:buAutoNum type="arabicParenBoth"/>
            </a:pPr>
            <a:r>
              <a:rPr lang="en-US" altLang="ko-KR" sz="1200" b="1" dirty="0">
                <a:latin typeface="Arial" pitchFamily="34" charset="0"/>
                <a:ea typeface="맑은 고딕" pitchFamily="50" charset="-127"/>
                <a:cs typeface="Arial" pitchFamily="34" charset="0"/>
              </a:rPr>
              <a:t>Thu </a:t>
            </a:r>
            <a:r>
              <a:rPr lang="en-US" altLang="ko-KR" sz="1200" b="1" dirty="0" err="1">
                <a:latin typeface="Arial" pitchFamily="34" charset="0"/>
                <a:ea typeface="맑은 고딕" pitchFamily="50" charset="-127"/>
                <a:cs typeface="Arial" pitchFamily="34" charset="0"/>
              </a:rPr>
              <a:t>thập</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dữ</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liệu</a:t>
            </a:r>
            <a:r>
              <a:rPr lang="en-US" altLang="ko-KR" sz="1200" b="1" dirty="0">
                <a:latin typeface="Arial" pitchFamily="34" charset="0"/>
                <a:ea typeface="맑은 고딕" pitchFamily="50" charset="-127"/>
                <a:cs typeface="Arial" pitchFamily="34" charset="0"/>
              </a:rPr>
              <a:t>.</a:t>
            </a:r>
          </a:p>
          <a:p>
            <a:pPr eaLnBrk="0" latinLnBrk="0" hangingPunct="0">
              <a:lnSpc>
                <a:spcPct val="150000"/>
              </a:lnSpc>
              <a:spcBef>
                <a:spcPct val="30000"/>
              </a:spcBef>
            </a:pPr>
            <a:r>
              <a:rPr lang="en-US" altLang="ko-KR" sz="1200" dirty="0">
                <a:latin typeface="Arial" pitchFamily="34" charset="0"/>
                <a:ea typeface="맑은 고딕" pitchFamily="50" charset="-127"/>
                <a:cs typeface="Arial" pitchFamily="34" charset="0"/>
              </a:rPr>
              <a:t>    </a:t>
            </a:r>
          </a:p>
          <a:p>
            <a:pPr eaLnBrk="0" latinLnBrk="0" hangingPunct="0">
              <a:lnSpc>
                <a:spcPct val="150000"/>
              </a:lnSpc>
              <a:spcBef>
                <a:spcPct val="30000"/>
              </a:spcBef>
            </a:pPr>
            <a:endParaRPr lang="en-US" altLang="ko-KR" sz="1200" dirty="0">
              <a:latin typeface="Arial" pitchFamily="34" charset="0"/>
              <a:ea typeface="맑은 고딕" pitchFamily="50" charset="-127"/>
              <a:cs typeface="Arial" pitchFamily="34" charset="0"/>
            </a:endParaRPr>
          </a:p>
          <a:p>
            <a:pPr eaLnBrk="0" latinLnBrk="0" hangingPunct="0">
              <a:lnSpc>
                <a:spcPct val="150000"/>
              </a:lnSpc>
              <a:spcBef>
                <a:spcPct val="30000"/>
              </a:spcBef>
            </a:pPr>
            <a:r>
              <a:rPr lang="en-US" altLang="ko-KR" sz="1200" b="1" dirty="0">
                <a:latin typeface="Arial" pitchFamily="34" charset="0"/>
                <a:ea typeface="맑은 고딕" pitchFamily="50" charset="-127"/>
                <a:cs typeface="Arial" pitchFamily="34" charset="0"/>
              </a:rPr>
              <a:t>(2) </a:t>
            </a:r>
            <a:r>
              <a:rPr lang="en-US" altLang="ko-KR" sz="1200" b="1" dirty="0" err="1">
                <a:latin typeface="Arial" pitchFamily="34" charset="0"/>
                <a:ea typeface="맑은 고딕" pitchFamily="50" charset="-127"/>
                <a:cs typeface="Arial" pitchFamily="34" charset="0"/>
              </a:rPr>
              <a:t>Bổ</a:t>
            </a:r>
            <a:r>
              <a:rPr lang="en-US" altLang="ko-KR" sz="1200" b="1" dirty="0">
                <a:latin typeface="Arial" pitchFamily="34" charset="0"/>
                <a:ea typeface="맑은 고딕" pitchFamily="50" charset="-127"/>
                <a:cs typeface="Arial" pitchFamily="34" charset="0"/>
              </a:rPr>
              <a:t> sung </a:t>
            </a:r>
            <a:r>
              <a:rPr lang="en-US" altLang="ko-KR" sz="1200" b="1" dirty="0" err="1">
                <a:latin typeface="Arial" pitchFamily="34" charset="0"/>
                <a:ea typeface="맑은 고딕" pitchFamily="50" charset="-127"/>
                <a:cs typeface="Arial" pitchFamily="34" charset="0"/>
              </a:rPr>
              <a:t>dữ</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liệu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từng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tiêu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chuẩn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phân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loại</a:t>
            </a:r>
            <a:r>
              <a:rPr lang="en-US" altLang="ko-KR" sz="1200" b="1" dirty="0">
                <a:latin typeface="Arial" pitchFamily="34" charset="0"/>
                <a:ea typeface="맑은 고딕" pitchFamily="50" charset="-127"/>
                <a:cs typeface="Arial" pitchFamily="34" charset="0"/>
              </a:rPr>
              <a:t>.</a:t>
            </a:r>
          </a:p>
          <a:p>
            <a:pPr eaLnBrk="0" latinLnBrk="0" hangingPunct="0">
              <a:lnSpc>
                <a:spcPct val="150000"/>
              </a:lnSpc>
              <a:spcBef>
                <a:spcPct val="30000"/>
              </a:spcBef>
            </a:pPr>
            <a:endParaRPr lang="en-US" altLang="ko-KR" sz="1200" dirty="0">
              <a:latin typeface="Arial" pitchFamily="34" charset="0"/>
              <a:ea typeface="맑은 고딕" pitchFamily="50" charset="-127"/>
              <a:cs typeface="Arial" pitchFamily="34" charset="0"/>
            </a:endParaRPr>
          </a:p>
          <a:p>
            <a:pPr eaLnBrk="0" latinLnBrk="0" hangingPunct="0">
              <a:lnSpc>
                <a:spcPct val="150000"/>
              </a:lnSpc>
              <a:spcBef>
                <a:spcPct val="30000"/>
              </a:spcBef>
            </a:pPr>
            <a:endParaRPr lang="en-US" altLang="ko-KR" sz="1200" dirty="0">
              <a:latin typeface="Arial" pitchFamily="34" charset="0"/>
              <a:ea typeface="맑은 고딕" pitchFamily="50" charset="-127"/>
              <a:cs typeface="Arial" pitchFamily="34" charset="0"/>
            </a:endParaRPr>
          </a:p>
          <a:p>
            <a:pPr eaLnBrk="0" latinLnBrk="0" hangingPunct="0">
              <a:lnSpc>
                <a:spcPct val="150000"/>
              </a:lnSpc>
              <a:spcBef>
                <a:spcPct val="30000"/>
              </a:spcBef>
            </a:pPr>
            <a:endParaRPr lang="en-US" altLang="ko-KR" sz="1200" dirty="0">
              <a:latin typeface="Arial" pitchFamily="34" charset="0"/>
              <a:ea typeface="맑은 고딕" pitchFamily="50" charset="-127"/>
              <a:cs typeface="Arial" pitchFamily="34" charset="0"/>
            </a:endParaRPr>
          </a:p>
          <a:p>
            <a:pPr eaLnBrk="0" latinLnBrk="0" hangingPunct="0">
              <a:lnSpc>
                <a:spcPct val="150000"/>
              </a:lnSpc>
              <a:spcBef>
                <a:spcPct val="30000"/>
              </a:spcBef>
            </a:pPr>
            <a:r>
              <a:rPr lang="en-US" altLang="ko-KR" sz="1200" b="1" dirty="0">
                <a:latin typeface="Arial" pitchFamily="34" charset="0"/>
                <a:ea typeface="맑은 고딕" pitchFamily="50" charset="-127"/>
                <a:cs typeface="Arial" pitchFamily="34" charset="0"/>
              </a:rPr>
              <a:t>(3) </a:t>
            </a:r>
            <a:r>
              <a:rPr lang="en-US" altLang="ko-KR" sz="1200" b="1" dirty="0" err="1">
                <a:latin typeface="Arial" pitchFamily="34" charset="0"/>
                <a:ea typeface="맑은 고딕" pitchFamily="50" charset="-127"/>
                <a:cs typeface="Arial" pitchFamily="34" charset="0"/>
              </a:rPr>
              <a:t>Tổ</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chức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dữ</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liệu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tính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toán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các</a:t>
            </a:r>
            <a:r>
              <a:rPr lang="en-US" altLang="ko-KR" sz="1200" b="1" dirty="0">
                <a:latin typeface="Arial" pitchFamily="34" charset="0"/>
                <a:ea typeface="맑은 고딕" pitchFamily="50" charset="-127"/>
                <a:cs typeface="Arial" pitchFamily="34" charset="0"/>
              </a:rPr>
              <a:t> con </a:t>
            </a:r>
            <a:r>
              <a:rPr lang="en-US" altLang="ko-KR" sz="1200" b="1" dirty="0" err="1">
                <a:latin typeface="Arial" pitchFamily="34" charset="0"/>
                <a:ea typeface="맑은 고딕" pitchFamily="50" charset="-127"/>
                <a:cs typeface="Arial" pitchFamily="34" charset="0"/>
              </a:rPr>
              <a:t>số</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tích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lũy</a:t>
            </a:r>
            <a:r>
              <a:rPr lang="en-US" altLang="ko-KR" sz="1200" b="1" dirty="0">
                <a:latin typeface="Arial" pitchFamily="34" charset="0"/>
                <a:ea typeface="맑은 고딕" pitchFamily="50" charset="-127"/>
                <a:cs typeface="Arial" pitchFamily="34" charset="0"/>
              </a:rPr>
              <a:t>. </a:t>
            </a:r>
          </a:p>
        </p:txBody>
      </p:sp>
      <p:sp>
        <p:nvSpPr>
          <p:cNvPr id="96263" name="Rectangle 17"/>
          <p:cNvSpPr>
            <a:spLocks noChangeArrowheads="1"/>
          </p:cNvSpPr>
          <p:nvPr/>
        </p:nvSpPr>
        <p:spPr bwMode="auto">
          <a:xfrm>
            <a:off x="3152800" y="1633237"/>
            <a:ext cx="2163763" cy="908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spAutoFit/>
          </a:bodyPr>
          <a:lstStyle/>
          <a:p>
            <a:pPr eaLnBrk="0" latinLnBrk="0" hangingPunct="0">
              <a:spcBef>
                <a:spcPct val="30000"/>
              </a:spcBef>
            </a:pP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định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phương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pháp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thời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gian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thập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dữ</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liệu</a:t>
            </a:r>
            <a:r>
              <a:rPr lang="en-US" altLang="ko-KR" sz="1000" dirty="0">
                <a:latin typeface="Arial" pitchFamily="34" charset="0"/>
                <a:ea typeface="맑은 고딕" pitchFamily="50" charset="-127"/>
                <a:cs typeface="Arial" pitchFamily="34" charset="0"/>
              </a:rPr>
              <a:t>. </a:t>
            </a:r>
          </a:p>
          <a:p>
            <a:pPr eaLnBrk="0" latinLnBrk="0" hangingPunct="0">
              <a:spcBef>
                <a:spcPct val="30000"/>
              </a:spcBef>
            </a:pP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Sử</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dụng</a:t>
            </a:r>
            <a:r>
              <a:rPr lang="en-US" altLang="ko-KR" sz="1000" dirty="0">
                <a:latin typeface="Arial" pitchFamily="34" charset="0"/>
                <a:ea typeface="맑은 고딕" pitchFamily="50" charset="-127"/>
                <a:cs typeface="Arial" pitchFamily="34" charset="0"/>
              </a:rPr>
              <a:t> check sheet </a:t>
            </a:r>
            <a:r>
              <a:rPr lang="en-US" altLang="ko-KR" sz="1000" dirty="0" err="1">
                <a:latin typeface="Arial" pitchFamily="34" charset="0"/>
                <a:ea typeface="맑은 고딕" pitchFamily="50" charset="-127"/>
                <a:cs typeface="Arial" pitchFamily="34" charset="0"/>
              </a:rPr>
              <a:t>để</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điều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không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chỉ</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kết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quả</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theo</a:t>
            </a:r>
            <a:r>
              <a:rPr lang="en-US" altLang="ko-KR" sz="1000" dirty="0">
                <a:latin typeface="Arial" pitchFamily="34" charset="0"/>
                <a:ea typeface="맑은 고딕" pitchFamily="50" charset="-127"/>
                <a:cs typeface="Arial" pitchFamily="34" charset="0"/>
              </a:rPr>
              <a:t> con </a:t>
            </a:r>
            <a:r>
              <a:rPr lang="en-US" altLang="ko-KR" sz="1000" dirty="0" err="1">
                <a:latin typeface="Arial" pitchFamily="34" charset="0"/>
                <a:ea typeface="맑은 고딕" pitchFamily="50" charset="-127"/>
                <a:cs typeface="Arial" pitchFamily="34" charset="0"/>
              </a:rPr>
              <a:t>số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cả</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về</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nguyên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mô</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tả</a:t>
            </a:r>
            <a:r>
              <a:rPr lang="en-US" altLang="ko-KR" sz="1000" dirty="0">
                <a:latin typeface="Arial" pitchFamily="34" charset="0"/>
                <a:ea typeface="맑은 고딕" pitchFamily="50" charset="-127"/>
                <a:cs typeface="Arial" pitchFamily="34" charset="0"/>
              </a:rPr>
              <a:t>. </a:t>
            </a:r>
          </a:p>
        </p:txBody>
      </p:sp>
      <p:sp>
        <p:nvSpPr>
          <p:cNvPr id="96264" name="Rectangle 17"/>
          <p:cNvSpPr>
            <a:spLocks noChangeArrowheads="1"/>
          </p:cNvSpPr>
          <p:nvPr/>
        </p:nvSpPr>
        <p:spPr bwMode="auto">
          <a:xfrm>
            <a:off x="3152800" y="2783189"/>
            <a:ext cx="2392363" cy="1200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spAutoFit/>
          </a:bodyPr>
          <a:lstStyle/>
          <a:p>
            <a:pPr marL="171450" indent="-171450" eaLnBrk="0" latinLnBrk="0" hangingPunct="0">
              <a:spcBef>
                <a:spcPct val="30000"/>
              </a:spcBef>
              <a:buFontTx/>
              <a:buChar char="-"/>
            </a:pPr>
            <a:r>
              <a:rPr lang="en-US" altLang="ko-KR" sz="1000" dirty="0" err="1">
                <a:latin typeface="Arial" pitchFamily="34" charset="0"/>
                <a:ea typeface="맑은 고딕" pitchFamily="50" charset="-127"/>
                <a:cs typeface="Arial" pitchFamily="34" charset="0"/>
              </a:rPr>
              <a:t>Phân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chia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theo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nguyên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p>
          <a:p>
            <a:pPr eaLnBrk="0" latinLnBrk="0" hangingPunct="0">
              <a:spcBef>
                <a:spcPct val="30000"/>
              </a:spcBef>
            </a:pP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nguyên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liệu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máy</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móc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công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phương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pháp</a:t>
            </a:r>
            <a:r>
              <a:rPr lang="en-US" altLang="ko-KR" sz="1000" dirty="0">
                <a:latin typeface="Arial" pitchFamily="34" charset="0"/>
                <a:ea typeface="맑은 고딕" pitchFamily="50" charset="-127"/>
                <a:cs typeface="Arial" pitchFamily="34" charset="0"/>
              </a:rPr>
              <a:t>. </a:t>
            </a:r>
          </a:p>
          <a:p>
            <a:pPr eaLnBrk="0" latinLnBrk="0" hangingPunct="0">
              <a:spcBef>
                <a:spcPct val="30000"/>
              </a:spcBef>
            </a:pP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chia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theo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loại</a:t>
            </a:r>
            <a:r>
              <a:rPr lang="en-US" altLang="ko-KR" sz="1000" dirty="0">
                <a:latin typeface="Arial" pitchFamily="34" charset="0"/>
                <a:ea typeface="맑은 고딕" pitchFamily="50" charset="-127"/>
                <a:cs typeface="Arial" pitchFamily="34" charset="0"/>
              </a:rPr>
              <a:t>:</a:t>
            </a:r>
          </a:p>
          <a:p>
            <a:pPr eaLnBrk="0" latinLnBrk="0" hangingPunct="0">
              <a:spcBef>
                <a:spcPct val="30000"/>
              </a:spcBef>
            </a:pP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loại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lỗi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địa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điểm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quá</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trình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thời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gian</a:t>
            </a:r>
            <a:endParaRPr lang="en-US" altLang="ko-KR" sz="1000" dirty="0">
              <a:latin typeface="Arial" pitchFamily="34" charset="0"/>
              <a:ea typeface="맑은 고딕" pitchFamily="50" charset="-127"/>
              <a:cs typeface="Arial" pitchFamily="34" charset="0"/>
            </a:endParaRPr>
          </a:p>
          <a:p>
            <a:pPr eaLnBrk="0" latinLnBrk="0" hangingPunct="0">
              <a:spcBef>
                <a:spcPct val="30000"/>
              </a:spcBef>
            </a:pPr>
            <a:endParaRPr lang="en-US" altLang="ko-KR" sz="1000" dirty="0">
              <a:latin typeface="Arial" pitchFamily="34" charset="0"/>
              <a:ea typeface="맑은 고딕" pitchFamily="50" charset="-127"/>
              <a:cs typeface="Arial" pitchFamily="34" charset="0"/>
            </a:endParaRPr>
          </a:p>
        </p:txBody>
      </p:sp>
      <p:sp>
        <p:nvSpPr>
          <p:cNvPr id="96265" name="Rectangle 17"/>
          <p:cNvSpPr>
            <a:spLocks noChangeArrowheads="1"/>
          </p:cNvSpPr>
          <p:nvPr/>
        </p:nvSpPr>
        <p:spPr bwMode="auto">
          <a:xfrm>
            <a:off x="3152800" y="4301676"/>
            <a:ext cx="2531963" cy="954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nchor="ctr">
            <a:spAutoFit/>
          </a:bodyPr>
          <a:lstStyle/>
          <a:p>
            <a:pPr marL="171450" indent="-171450" eaLnBrk="0" latinLnBrk="0" hangingPunct="0">
              <a:spcBef>
                <a:spcPct val="30000"/>
              </a:spcBef>
              <a:buFontTx/>
              <a:buChar char="-"/>
            </a:pPr>
            <a:r>
              <a:rPr lang="en-US" altLang="ko-KR" sz="1000" dirty="0" err="1">
                <a:latin typeface="Arial" pitchFamily="34" charset="0"/>
                <a:ea typeface="맑은 고딕" pitchFamily="50" charset="-127"/>
                <a:cs typeface="Arial" pitchFamily="34" charset="0"/>
              </a:rPr>
              <a:t>Sắp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xếp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sự</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phân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loại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tùy</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theo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kích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cỡ</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của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dữ</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liệu</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nhập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dữ</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liệu</a:t>
            </a:r>
            <a:r>
              <a:rPr lang="en-US" altLang="ko-KR" sz="1000" dirty="0">
                <a:latin typeface="Arial" pitchFamily="34" charset="0"/>
                <a:ea typeface="맑은 고딕" pitchFamily="50" charset="-127"/>
                <a:cs typeface="Arial" pitchFamily="34" charset="0"/>
              </a:rPr>
              <a:t>. </a:t>
            </a:r>
          </a:p>
          <a:p>
            <a:pPr marL="171450" indent="-171450" eaLnBrk="0" latinLnBrk="0" hangingPunct="0">
              <a:spcBef>
                <a:spcPct val="30000"/>
              </a:spcBef>
              <a:buFontTx/>
              <a:buChar char="-"/>
            </a:pPr>
            <a:r>
              <a:rPr lang="en-US" altLang="ko-KR" sz="1000" dirty="0" err="1">
                <a:latin typeface="Arial" pitchFamily="34" charset="0"/>
                <a:ea typeface="맑은 고딕" pitchFamily="50" charset="-127"/>
                <a:cs typeface="Arial" pitchFamily="34" charset="0"/>
              </a:rPr>
              <a:t>Mục</a:t>
            </a:r>
            <a:r>
              <a:rPr lang="en-US" altLang="ko-KR" sz="1000" dirty="0">
                <a:latin typeface="Arial" pitchFamily="34" charset="0"/>
                <a:ea typeface="맑은 고딕" pitchFamily="50" charset="-127"/>
                <a:cs typeface="Arial" pitchFamily="34" charset="0"/>
              </a:rPr>
              <a:t> “other” </a:t>
            </a:r>
            <a:r>
              <a:rPr lang="en-US" altLang="ko-KR" sz="1000" dirty="0" err="1">
                <a:latin typeface="Arial" pitchFamily="34" charset="0"/>
                <a:ea typeface="맑은 고딕" pitchFamily="50" charset="-127"/>
                <a:cs typeface="Arial" pitchFamily="34" charset="0"/>
              </a:rPr>
              <a:t>cần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phải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được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đặt</a:t>
            </a:r>
            <a:r>
              <a:rPr lang="en-US" altLang="ko-KR" sz="1000" dirty="0">
                <a:latin typeface="Arial" pitchFamily="34" charset="0"/>
                <a:ea typeface="맑은 고딕" pitchFamily="50" charset="-127"/>
                <a:cs typeface="Arial" pitchFamily="34" charset="0"/>
              </a:rPr>
              <a:t> ở </a:t>
            </a:r>
            <a:r>
              <a:rPr lang="en-US" altLang="ko-KR" sz="1000" dirty="0" err="1">
                <a:latin typeface="Arial" pitchFamily="34" charset="0"/>
                <a:ea typeface="맑은 고딕" pitchFamily="50" charset="-127"/>
                <a:cs typeface="Arial" pitchFamily="34" charset="0"/>
              </a:rPr>
              <a:t>cuối</a:t>
            </a:r>
            <a:r>
              <a:rPr lang="en-US" altLang="ko-KR" sz="1000" dirty="0">
                <a:latin typeface="Arial" pitchFamily="34" charset="0"/>
                <a:ea typeface="맑은 고딕" pitchFamily="50" charset="-127"/>
                <a:cs typeface="Arial" pitchFamily="34" charset="0"/>
              </a:rPr>
              <a:t>. </a:t>
            </a:r>
          </a:p>
          <a:p>
            <a:pPr marL="171450" indent="-171450" eaLnBrk="0" latinLnBrk="0" hangingPunct="0">
              <a:spcBef>
                <a:spcPct val="30000"/>
              </a:spcBef>
              <a:buFontTx/>
              <a:buChar char="-"/>
            </a:pPr>
            <a:r>
              <a:rPr lang="en-US" altLang="ko-KR" sz="1000" dirty="0" err="1">
                <a:latin typeface="Arial" pitchFamily="34" charset="0"/>
                <a:ea typeface="맑은 고딕" pitchFamily="50" charset="-127"/>
                <a:cs typeface="Arial" pitchFamily="34" charset="0"/>
              </a:rPr>
              <a:t>Tính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toán</a:t>
            </a:r>
            <a:r>
              <a:rPr lang="en-US" altLang="ko-KR" sz="1000" dirty="0">
                <a:latin typeface="Arial" pitchFamily="34" charset="0"/>
                <a:ea typeface="맑은 고딕" pitchFamily="50" charset="-127"/>
                <a:cs typeface="Arial" pitchFamily="34" charset="0"/>
              </a:rPr>
              <a:t> con </a:t>
            </a:r>
            <a:r>
              <a:rPr lang="en-US" altLang="ko-KR" sz="1000" dirty="0" err="1">
                <a:latin typeface="Arial" pitchFamily="34" charset="0"/>
                <a:ea typeface="맑은 고딕" pitchFamily="50" charset="-127"/>
                <a:cs typeface="Arial" pitchFamily="34" charset="0"/>
              </a:rPr>
              <a:t>số</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tích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lũy</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sắp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xếp</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theo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thứ</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tự</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giảm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dần</a:t>
            </a:r>
            <a:r>
              <a:rPr lang="en-US" altLang="ko-KR" sz="1000" dirty="0">
                <a:latin typeface="Arial" pitchFamily="34" charset="0"/>
                <a:ea typeface="맑은 고딕" pitchFamily="50" charset="-127"/>
                <a:cs typeface="Arial" pitchFamily="34" charset="0"/>
              </a:rPr>
              <a:t>. </a:t>
            </a:r>
          </a:p>
        </p:txBody>
      </p:sp>
      <p:pic>
        <p:nvPicPr>
          <p:cNvPr id="96268" name="Picture 13"/>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6337354" y="1557338"/>
            <a:ext cx="2560082" cy="2807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22"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5925207" y="4509120"/>
            <a:ext cx="3384376" cy="134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85</a:t>
            </a:fld>
            <a:endParaRPr lang="ko-KR" altLang="en-US" dirty="0">
              <a:latin typeface="Arial" pitchFamily="34" charset="0"/>
              <a:cs typeface="Arial" pitchFamily="34" charset="0"/>
            </a:endParaRPr>
          </a:p>
        </p:txBody>
      </p:sp>
      <p:sp>
        <p:nvSpPr>
          <p:cNvPr id="14"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5" name="Text Box 4"/>
          <p:cNvSpPr txBox="1">
            <a:spLocks noChangeArrowheads="1"/>
          </p:cNvSpPr>
          <p:nvPr/>
        </p:nvSpPr>
        <p:spPr bwMode="auto">
          <a:xfrm>
            <a:off x="5529263" y="354013"/>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
        <p:nvSpPr>
          <p:cNvPr id="19" name="모서리가 둥근 직사각형 18"/>
          <p:cNvSpPr/>
          <p:nvPr/>
        </p:nvSpPr>
        <p:spPr>
          <a:xfrm>
            <a:off x="524670" y="1125538"/>
            <a:ext cx="23764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Các</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bước</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xây</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dựng</a:t>
            </a:r>
            <a:endParaRPr lang="ko-KR" altLang="en-US" sz="1400" b="1" dirty="0">
              <a:latin typeface="Arial" pitchFamily="34" charset="0"/>
              <a:cs typeface="Arial" pitchFamily="34" charset="0"/>
            </a:endParaRPr>
          </a:p>
        </p:txBody>
      </p:sp>
      <p:sp>
        <p:nvSpPr>
          <p:cNvPr id="20" name="모서리가 둥근 직사각형 19"/>
          <p:cNvSpPr/>
          <p:nvPr/>
        </p:nvSpPr>
        <p:spPr>
          <a:xfrm>
            <a:off x="3154388" y="1125538"/>
            <a:ext cx="21605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Lưu</a:t>
            </a:r>
            <a:r>
              <a:rPr lang="en-US" altLang="ko-KR" sz="1400" b="1" dirty="0">
                <a:latin typeface="Arial" pitchFamily="34" charset="0"/>
                <a:cs typeface="Arial" pitchFamily="34" charset="0"/>
              </a:rPr>
              <a:t> ý</a:t>
            </a:r>
            <a:endParaRPr lang="ko-KR" altLang="en-US" sz="1400" b="1" dirty="0">
              <a:latin typeface="Arial" pitchFamily="34" charset="0"/>
              <a:cs typeface="Arial" pitchFamily="34" charset="0"/>
            </a:endParaRPr>
          </a:p>
        </p:txBody>
      </p:sp>
      <p:sp>
        <p:nvSpPr>
          <p:cNvPr id="21" name="모서리가 둥근 직사각형 20"/>
          <p:cNvSpPr/>
          <p:nvPr/>
        </p:nvSpPr>
        <p:spPr>
          <a:xfrm>
            <a:off x="5565552" y="1125538"/>
            <a:ext cx="41036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cs typeface="Arial" pitchFamily="34" charset="0"/>
              </a:rPr>
              <a:t>Ví</a:t>
            </a:r>
            <a:r>
              <a:rPr lang="en-US" altLang="ko-KR" sz="1400" b="1" dirty="0">
                <a:latin typeface="Arial" pitchFamily="34" charset="0"/>
                <a:cs typeface="Arial" pitchFamily="34" charset="0"/>
              </a:rPr>
              <a:t> </a:t>
            </a:r>
            <a:r>
              <a:rPr lang="en-US" altLang="ko-KR" sz="1400" b="1" dirty="0" err="1">
                <a:latin typeface="Arial" pitchFamily="34" charset="0"/>
                <a:cs typeface="Arial" pitchFamily="34" charset="0"/>
              </a:rPr>
              <a:t>dụ</a:t>
            </a:r>
            <a:endParaRPr lang="ko-KR" altLang="en-US" sz="1400" b="1" dirty="0">
              <a:latin typeface="Arial" pitchFamily="34" charset="0"/>
              <a:cs typeface="Arial" pitchFamily="34" charset="0"/>
            </a:endParaRPr>
          </a:p>
        </p:txBody>
      </p:sp>
    </p:spTree>
    <p:extLst>
      <p:ext uri="{BB962C8B-B14F-4D97-AF65-F5344CB8AC3E}">
        <p14:creationId xmlns:p14="http://schemas.microsoft.com/office/powerpoint/2010/main" val="269424503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7282"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077665" y="866775"/>
            <a:ext cx="5761038" cy="327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283"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4160838" y="4366344"/>
            <a:ext cx="5610225" cy="215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86" name="TextBox 1"/>
          <p:cNvSpPr txBox="1">
            <a:spLocks noChangeArrowheads="1"/>
          </p:cNvSpPr>
          <p:nvPr/>
        </p:nvSpPr>
        <p:spPr bwMode="auto">
          <a:xfrm>
            <a:off x="7054603" y="1989138"/>
            <a:ext cx="250690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latin typeface="Arial" pitchFamily="34" charset="0"/>
                <a:ea typeface="맑은 고딕" pitchFamily="50" charset="-127"/>
                <a:cs typeface="Arial" pitchFamily="34" charset="0"/>
              </a:rPr>
              <a:t>Sử</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dụng</a:t>
            </a:r>
            <a:r>
              <a:rPr lang="en-US" altLang="ko-KR" sz="1400" b="1" dirty="0">
                <a:latin typeface="Arial" pitchFamily="34" charset="0"/>
                <a:ea typeface="맑은 고딕" pitchFamily="50" charset="-127"/>
                <a:cs typeface="Arial" pitchFamily="34" charset="0"/>
              </a:rPr>
              <a:t> Check Sheet </a:t>
            </a:r>
            <a:r>
              <a:rPr lang="en-US" altLang="ko-KR" sz="1400" b="1" dirty="0" err="1">
                <a:latin typeface="Arial" pitchFamily="34" charset="0"/>
                <a:ea typeface="맑은 고딕" pitchFamily="50" charset="-127"/>
                <a:cs typeface="Arial" pitchFamily="34" charset="0"/>
              </a:rPr>
              <a:t>để</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thập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endParaRPr lang="ko-KR" altLang="en-US" sz="1400" b="1" dirty="0">
              <a:latin typeface="Arial" pitchFamily="34" charset="0"/>
              <a:ea typeface="맑은 고딕" pitchFamily="50" charset="-127"/>
              <a:cs typeface="Arial" pitchFamily="34" charset="0"/>
            </a:endParaRPr>
          </a:p>
        </p:txBody>
      </p:sp>
      <p:sp>
        <p:nvSpPr>
          <p:cNvPr id="97287" name="TextBox 6"/>
          <p:cNvSpPr txBox="1">
            <a:spLocks noChangeArrowheads="1"/>
          </p:cNvSpPr>
          <p:nvPr/>
        </p:nvSpPr>
        <p:spPr bwMode="auto">
          <a:xfrm>
            <a:off x="416497" y="4727575"/>
            <a:ext cx="368560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400" b="1" dirty="0" err="1">
                <a:latin typeface="Arial" pitchFamily="34" charset="0"/>
                <a:ea typeface="맑은 고딕" pitchFamily="50" charset="-127"/>
                <a:cs typeface="Arial" pitchFamily="34" charset="0"/>
              </a:rPr>
              <a:t>Tổ</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chức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toán</a:t>
            </a:r>
            <a:r>
              <a:rPr lang="en-US" altLang="ko-KR" sz="1400" b="1" dirty="0">
                <a:latin typeface="Arial" pitchFamily="34" charset="0"/>
                <a:ea typeface="맑은 고딕" pitchFamily="50" charset="-127"/>
                <a:cs typeface="Arial" pitchFamily="34" charset="0"/>
              </a:rPr>
              <a:t>: con </a:t>
            </a:r>
            <a:r>
              <a:rPr lang="en-US" altLang="ko-KR" sz="1400" b="1" dirty="0" err="1">
                <a:latin typeface="Arial" pitchFamily="34" charset="0"/>
                <a:ea typeface="맑은 고딕" pitchFamily="50" charset="-127"/>
                <a:cs typeface="Arial" pitchFamily="34" charset="0"/>
              </a:rPr>
              <a:t>số</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lũy</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phần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trăm</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lũy</a:t>
            </a:r>
            <a:endParaRPr lang="ko-KR" altLang="en-US" sz="14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86</a:t>
            </a:fld>
            <a:endParaRPr lang="ko-KR" altLang="en-US" dirty="0">
              <a:latin typeface="Arial" pitchFamily="34" charset="0"/>
              <a:cs typeface="Arial" pitchFamily="34" charset="0"/>
            </a:endParaRPr>
          </a:p>
        </p:txBody>
      </p:sp>
      <p:sp>
        <p:nvSpPr>
          <p:cNvPr id="3" name="TextBox 2"/>
          <p:cNvSpPr txBox="1"/>
          <p:nvPr/>
        </p:nvSpPr>
        <p:spPr>
          <a:xfrm>
            <a:off x="2516801" y="692696"/>
            <a:ext cx="752129"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Front filer</a:t>
            </a:r>
            <a:endParaRPr lang="ko-KR" altLang="en-US" sz="1000" dirty="0">
              <a:latin typeface="Arial" pitchFamily="34" charset="0"/>
              <a:ea typeface="+mn-ea"/>
              <a:cs typeface="Arial" pitchFamily="34" charset="0"/>
            </a:endParaRPr>
          </a:p>
        </p:txBody>
      </p:sp>
      <p:sp>
        <p:nvSpPr>
          <p:cNvPr id="11" name="TextBox 10"/>
          <p:cNvSpPr txBox="1"/>
          <p:nvPr/>
        </p:nvSpPr>
        <p:spPr>
          <a:xfrm>
            <a:off x="1726432" y="692696"/>
            <a:ext cx="853119"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Front panel</a:t>
            </a:r>
            <a:endParaRPr lang="ko-KR" altLang="en-US" sz="1000" dirty="0">
              <a:latin typeface="Arial" pitchFamily="34" charset="0"/>
              <a:ea typeface="+mn-ea"/>
              <a:cs typeface="Arial" pitchFamily="34" charset="0"/>
            </a:endParaRPr>
          </a:p>
        </p:txBody>
      </p:sp>
      <p:sp>
        <p:nvSpPr>
          <p:cNvPr id="12" name="TextBox 11"/>
          <p:cNvSpPr txBox="1"/>
          <p:nvPr/>
        </p:nvSpPr>
        <p:spPr>
          <a:xfrm>
            <a:off x="3411862" y="692696"/>
            <a:ext cx="461986"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Door</a:t>
            </a:r>
            <a:endParaRPr lang="ko-KR" altLang="en-US" sz="1000" dirty="0">
              <a:latin typeface="Arial" pitchFamily="34" charset="0"/>
              <a:ea typeface="+mn-ea"/>
              <a:cs typeface="Arial" pitchFamily="34" charset="0"/>
            </a:endParaRPr>
          </a:p>
        </p:txBody>
      </p:sp>
      <p:sp>
        <p:nvSpPr>
          <p:cNvPr id="13" name="TextBox 12"/>
          <p:cNvSpPr txBox="1"/>
          <p:nvPr/>
        </p:nvSpPr>
        <p:spPr>
          <a:xfrm>
            <a:off x="4174704" y="692696"/>
            <a:ext cx="453970"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Roof</a:t>
            </a:r>
            <a:endParaRPr lang="ko-KR" altLang="en-US" sz="1000" dirty="0">
              <a:latin typeface="Arial" pitchFamily="34" charset="0"/>
              <a:ea typeface="+mn-ea"/>
              <a:cs typeface="Arial" pitchFamily="34" charset="0"/>
            </a:endParaRPr>
          </a:p>
        </p:txBody>
      </p:sp>
      <p:sp>
        <p:nvSpPr>
          <p:cNvPr id="14" name="TextBox 13"/>
          <p:cNvSpPr txBox="1"/>
          <p:nvPr/>
        </p:nvSpPr>
        <p:spPr>
          <a:xfrm>
            <a:off x="4821819" y="692696"/>
            <a:ext cx="707245"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Rear filer</a:t>
            </a:r>
            <a:endParaRPr lang="ko-KR" altLang="en-US" sz="1000" dirty="0">
              <a:latin typeface="Arial" pitchFamily="34" charset="0"/>
              <a:ea typeface="+mn-ea"/>
              <a:cs typeface="Arial" pitchFamily="34" charset="0"/>
            </a:endParaRPr>
          </a:p>
        </p:txBody>
      </p:sp>
      <p:sp>
        <p:nvSpPr>
          <p:cNvPr id="15" name="TextBox 14"/>
          <p:cNvSpPr txBox="1"/>
          <p:nvPr/>
        </p:nvSpPr>
        <p:spPr>
          <a:xfrm>
            <a:off x="6272946" y="692696"/>
            <a:ext cx="474810"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Total</a:t>
            </a:r>
            <a:endParaRPr lang="ko-KR" altLang="en-US" sz="1000" dirty="0">
              <a:latin typeface="Arial" pitchFamily="34" charset="0"/>
              <a:ea typeface="+mn-ea"/>
              <a:cs typeface="Arial" pitchFamily="34" charset="0"/>
            </a:endParaRPr>
          </a:p>
        </p:txBody>
      </p:sp>
      <p:sp>
        <p:nvSpPr>
          <p:cNvPr id="16" name="TextBox 15"/>
          <p:cNvSpPr txBox="1"/>
          <p:nvPr/>
        </p:nvSpPr>
        <p:spPr>
          <a:xfrm>
            <a:off x="449065" y="1268760"/>
            <a:ext cx="455574"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Flow</a:t>
            </a:r>
            <a:endParaRPr lang="ko-KR" altLang="en-US" sz="1000" dirty="0">
              <a:latin typeface="Arial" pitchFamily="34" charset="0"/>
              <a:ea typeface="+mn-ea"/>
              <a:cs typeface="Arial" pitchFamily="34" charset="0"/>
            </a:endParaRPr>
          </a:p>
        </p:txBody>
      </p:sp>
      <p:sp>
        <p:nvSpPr>
          <p:cNvPr id="17" name="TextBox 16"/>
          <p:cNvSpPr txBox="1"/>
          <p:nvPr/>
        </p:nvSpPr>
        <p:spPr>
          <a:xfrm>
            <a:off x="448263" y="2492896"/>
            <a:ext cx="447558"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Dust</a:t>
            </a:r>
            <a:endParaRPr lang="ko-KR" altLang="en-US" sz="1000" dirty="0">
              <a:latin typeface="Arial" pitchFamily="34" charset="0"/>
              <a:ea typeface="+mn-ea"/>
              <a:cs typeface="Arial" pitchFamily="34" charset="0"/>
            </a:endParaRPr>
          </a:p>
        </p:txBody>
      </p:sp>
      <p:sp>
        <p:nvSpPr>
          <p:cNvPr id="18" name="TextBox 17"/>
          <p:cNvSpPr txBox="1"/>
          <p:nvPr/>
        </p:nvSpPr>
        <p:spPr>
          <a:xfrm>
            <a:off x="274338" y="2996952"/>
            <a:ext cx="768159"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Gloss blur</a:t>
            </a:r>
            <a:endParaRPr lang="ko-KR" altLang="en-US" sz="1000" dirty="0">
              <a:latin typeface="Arial" pitchFamily="34" charset="0"/>
              <a:ea typeface="+mn-ea"/>
              <a:cs typeface="Arial" pitchFamily="34" charset="0"/>
            </a:endParaRPr>
          </a:p>
        </p:txBody>
      </p:sp>
      <p:sp>
        <p:nvSpPr>
          <p:cNvPr id="19" name="TextBox 18"/>
          <p:cNvSpPr txBox="1"/>
          <p:nvPr/>
        </p:nvSpPr>
        <p:spPr>
          <a:xfrm>
            <a:off x="128464" y="3186648"/>
            <a:ext cx="1047082"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Paint underage</a:t>
            </a:r>
          </a:p>
        </p:txBody>
      </p:sp>
      <p:sp>
        <p:nvSpPr>
          <p:cNvPr id="20" name="TextBox 19"/>
          <p:cNvSpPr txBox="1"/>
          <p:nvPr/>
        </p:nvSpPr>
        <p:spPr>
          <a:xfrm>
            <a:off x="436241" y="3399722"/>
            <a:ext cx="474810"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Stain</a:t>
            </a:r>
          </a:p>
        </p:txBody>
      </p:sp>
      <p:sp>
        <p:nvSpPr>
          <p:cNvPr id="21" name="TextBox 20"/>
          <p:cNvSpPr txBox="1"/>
          <p:nvPr/>
        </p:nvSpPr>
        <p:spPr>
          <a:xfrm>
            <a:off x="388151" y="3615746"/>
            <a:ext cx="567784"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Others</a:t>
            </a:r>
          </a:p>
        </p:txBody>
      </p:sp>
      <p:sp>
        <p:nvSpPr>
          <p:cNvPr id="22" name="TextBox 21"/>
          <p:cNvSpPr txBox="1"/>
          <p:nvPr/>
        </p:nvSpPr>
        <p:spPr>
          <a:xfrm>
            <a:off x="427424" y="3831770"/>
            <a:ext cx="474810"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Total</a:t>
            </a:r>
          </a:p>
        </p:txBody>
      </p:sp>
      <p:sp>
        <p:nvSpPr>
          <p:cNvPr id="23" name="TextBox 22"/>
          <p:cNvSpPr txBox="1"/>
          <p:nvPr/>
        </p:nvSpPr>
        <p:spPr>
          <a:xfrm>
            <a:off x="225446" y="1844824"/>
            <a:ext cx="893193" cy="271549"/>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Unevenness</a:t>
            </a:r>
            <a:endParaRPr lang="ko-KR" altLang="en-US" sz="1000" dirty="0">
              <a:latin typeface="Arial" pitchFamily="34" charset="0"/>
              <a:ea typeface="+mn-ea"/>
              <a:cs typeface="Arial" pitchFamily="34" charset="0"/>
            </a:endParaRPr>
          </a:p>
        </p:txBody>
      </p:sp>
      <p:sp>
        <p:nvSpPr>
          <p:cNvPr id="24" name="TextBox 23"/>
          <p:cNvSpPr txBox="1"/>
          <p:nvPr/>
        </p:nvSpPr>
        <p:spPr>
          <a:xfrm>
            <a:off x="5601072" y="692696"/>
            <a:ext cx="511679"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Trunk</a:t>
            </a:r>
            <a:endParaRPr lang="ko-KR" altLang="en-US" sz="1000" dirty="0">
              <a:latin typeface="Arial" pitchFamily="34" charset="0"/>
              <a:ea typeface="+mn-ea"/>
              <a:cs typeface="Arial" pitchFamily="34" charset="0"/>
            </a:endParaRPr>
          </a:p>
        </p:txBody>
      </p:sp>
      <p:sp>
        <p:nvSpPr>
          <p:cNvPr id="25" name="TextBox 24"/>
          <p:cNvSpPr txBox="1"/>
          <p:nvPr/>
        </p:nvSpPr>
        <p:spPr>
          <a:xfrm>
            <a:off x="5557527" y="4581723"/>
            <a:ext cx="425116"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dust</a:t>
            </a:r>
            <a:endParaRPr lang="ko-KR" altLang="en-US" sz="1000" dirty="0">
              <a:latin typeface="Arial" pitchFamily="34" charset="0"/>
              <a:ea typeface="+mn-ea"/>
              <a:cs typeface="Arial" pitchFamily="34" charset="0"/>
            </a:endParaRPr>
          </a:p>
        </p:txBody>
      </p:sp>
      <p:sp>
        <p:nvSpPr>
          <p:cNvPr id="26" name="TextBox 25"/>
          <p:cNvSpPr txBox="1"/>
          <p:nvPr/>
        </p:nvSpPr>
        <p:spPr>
          <a:xfrm>
            <a:off x="5557527" y="4821854"/>
            <a:ext cx="428322"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flow</a:t>
            </a:r>
            <a:endParaRPr lang="ko-KR" altLang="en-US" sz="1000" dirty="0">
              <a:latin typeface="Arial" pitchFamily="34" charset="0"/>
              <a:ea typeface="+mn-ea"/>
              <a:cs typeface="Arial" pitchFamily="34" charset="0"/>
            </a:endParaRPr>
          </a:p>
        </p:txBody>
      </p:sp>
      <p:sp>
        <p:nvSpPr>
          <p:cNvPr id="27" name="TextBox 26"/>
          <p:cNvSpPr txBox="1"/>
          <p:nvPr/>
        </p:nvSpPr>
        <p:spPr>
          <a:xfrm>
            <a:off x="5557527" y="5042234"/>
            <a:ext cx="870751"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unevenness</a:t>
            </a:r>
            <a:endParaRPr lang="ko-KR" altLang="en-US" sz="1000" dirty="0">
              <a:latin typeface="Arial" pitchFamily="34" charset="0"/>
              <a:ea typeface="+mn-ea"/>
              <a:cs typeface="Arial" pitchFamily="34" charset="0"/>
            </a:endParaRPr>
          </a:p>
        </p:txBody>
      </p:sp>
      <p:sp>
        <p:nvSpPr>
          <p:cNvPr id="28" name="TextBox 27"/>
          <p:cNvSpPr txBox="1"/>
          <p:nvPr/>
        </p:nvSpPr>
        <p:spPr>
          <a:xfrm>
            <a:off x="5635908" y="5284385"/>
            <a:ext cx="1047082"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Paint underage</a:t>
            </a:r>
          </a:p>
        </p:txBody>
      </p:sp>
      <p:sp>
        <p:nvSpPr>
          <p:cNvPr id="29" name="TextBox 28"/>
          <p:cNvSpPr txBox="1"/>
          <p:nvPr/>
        </p:nvSpPr>
        <p:spPr>
          <a:xfrm>
            <a:off x="5635908" y="5517827"/>
            <a:ext cx="768159"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Gloss blur</a:t>
            </a:r>
            <a:endParaRPr lang="ko-KR" altLang="en-US" sz="1000" dirty="0">
              <a:latin typeface="Arial" pitchFamily="34" charset="0"/>
              <a:ea typeface="+mn-ea"/>
              <a:cs typeface="Arial" pitchFamily="34" charset="0"/>
            </a:endParaRPr>
          </a:p>
        </p:txBody>
      </p:sp>
      <p:sp>
        <p:nvSpPr>
          <p:cNvPr id="30" name="TextBox 29"/>
          <p:cNvSpPr txBox="1"/>
          <p:nvPr/>
        </p:nvSpPr>
        <p:spPr>
          <a:xfrm>
            <a:off x="5554977" y="5733851"/>
            <a:ext cx="453970"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stain</a:t>
            </a:r>
          </a:p>
        </p:txBody>
      </p:sp>
      <p:sp>
        <p:nvSpPr>
          <p:cNvPr id="31" name="TextBox 30"/>
          <p:cNvSpPr txBox="1"/>
          <p:nvPr/>
        </p:nvSpPr>
        <p:spPr>
          <a:xfrm>
            <a:off x="5554977" y="5949875"/>
            <a:ext cx="550151"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others</a:t>
            </a:r>
          </a:p>
        </p:txBody>
      </p:sp>
      <p:sp>
        <p:nvSpPr>
          <p:cNvPr id="32" name="TextBox 31"/>
          <p:cNvSpPr txBox="1"/>
          <p:nvPr/>
        </p:nvSpPr>
        <p:spPr>
          <a:xfrm>
            <a:off x="4951594" y="4131194"/>
            <a:ext cx="971741" cy="332399"/>
          </a:xfrm>
          <a:prstGeom prst="rect">
            <a:avLst/>
          </a:prstGeom>
          <a:noFill/>
        </p:spPr>
        <p:txBody>
          <a:bodyPr wrap="none" rtlCol="0">
            <a:spAutoFit/>
          </a:bodyPr>
          <a:lstStyle/>
          <a:p>
            <a:pPr>
              <a:lnSpc>
                <a:spcPct val="130000"/>
              </a:lnSpc>
              <a:buClr>
                <a:srgbClr val="C5003D"/>
              </a:buClr>
            </a:pPr>
            <a:r>
              <a:rPr lang="en-US" altLang="ko-KR" sz="1200" dirty="0">
                <a:latin typeface="Arial" pitchFamily="34" charset="0"/>
                <a:ea typeface="+mn-ea"/>
                <a:cs typeface="Arial" pitchFamily="34" charset="0"/>
              </a:rPr>
              <a:t>Defect Item</a:t>
            </a:r>
            <a:endParaRPr lang="ko-KR" altLang="en-US" sz="1200" dirty="0">
              <a:latin typeface="Arial" pitchFamily="34" charset="0"/>
              <a:ea typeface="+mn-ea"/>
              <a:cs typeface="Arial" pitchFamily="34" charset="0"/>
            </a:endParaRPr>
          </a:p>
        </p:txBody>
      </p:sp>
      <p:sp>
        <p:nvSpPr>
          <p:cNvPr id="33" name="TextBox 32"/>
          <p:cNvSpPr txBox="1"/>
          <p:nvPr/>
        </p:nvSpPr>
        <p:spPr>
          <a:xfrm>
            <a:off x="6311545" y="4131194"/>
            <a:ext cx="729687" cy="307456"/>
          </a:xfrm>
          <a:prstGeom prst="rect">
            <a:avLst/>
          </a:prstGeom>
          <a:noFill/>
        </p:spPr>
        <p:txBody>
          <a:bodyPr wrap="none" rtlCol="0">
            <a:spAutoFit/>
          </a:bodyPr>
          <a:lstStyle/>
          <a:p>
            <a:pPr>
              <a:lnSpc>
                <a:spcPct val="130000"/>
              </a:lnSpc>
              <a:buClr>
                <a:srgbClr val="C5003D"/>
              </a:buClr>
            </a:pPr>
            <a:r>
              <a:rPr lang="en-US" altLang="ko-KR" sz="1200" dirty="0">
                <a:latin typeface="Arial" pitchFamily="34" charset="0"/>
                <a:ea typeface="+mn-ea"/>
                <a:cs typeface="Arial" pitchFamily="34" charset="0"/>
              </a:rPr>
              <a:t>Number</a:t>
            </a:r>
            <a:endParaRPr lang="ko-KR" altLang="en-US" sz="1200" dirty="0">
              <a:latin typeface="Arial" pitchFamily="34" charset="0"/>
              <a:ea typeface="+mn-ea"/>
              <a:cs typeface="Arial" pitchFamily="34" charset="0"/>
            </a:endParaRPr>
          </a:p>
        </p:txBody>
      </p:sp>
      <p:sp>
        <p:nvSpPr>
          <p:cNvPr id="34" name="TextBox 33"/>
          <p:cNvSpPr txBox="1"/>
          <p:nvPr/>
        </p:nvSpPr>
        <p:spPr>
          <a:xfrm>
            <a:off x="7406081" y="3983141"/>
            <a:ext cx="994183" cy="461665"/>
          </a:xfrm>
          <a:prstGeom prst="rect">
            <a:avLst/>
          </a:prstGeom>
          <a:noFill/>
        </p:spPr>
        <p:txBody>
          <a:bodyPr wrap="none" rtlCol="0">
            <a:spAutoFit/>
          </a:bodyPr>
          <a:lstStyle/>
          <a:p>
            <a:pPr algn="ctr"/>
            <a:r>
              <a:rPr lang="en-US" altLang="ko-KR" sz="1200" dirty="0">
                <a:latin typeface="Arial" pitchFamily="34" charset="0"/>
                <a:ea typeface="+mn-ea"/>
                <a:cs typeface="Arial" pitchFamily="34" charset="0"/>
              </a:rPr>
              <a:t>Cumulative </a:t>
            </a:r>
          </a:p>
          <a:p>
            <a:pPr algn="ctr"/>
            <a:r>
              <a:rPr lang="en-US" altLang="ko-KR" sz="1200" dirty="0">
                <a:latin typeface="Arial" pitchFamily="34" charset="0"/>
                <a:ea typeface="+mn-ea"/>
                <a:cs typeface="Arial" pitchFamily="34" charset="0"/>
              </a:rPr>
              <a:t>number</a:t>
            </a:r>
            <a:endParaRPr lang="en-US" altLang="ko-KR" sz="1200" dirty="0">
              <a:effectLst/>
              <a:latin typeface="Arial" pitchFamily="34" charset="0"/>
              <a:ea typeface="+mn-ea"/>
              <a:cs typeface="Arial" pitchFamily="34" charset="0"/>
            </a:endParaRPr>
          </a:p>
        </p:txBody>
      </p:sp>
      <p:sp>
        <p:nvSpPr>
          <p:cNvPr id="35" name="TextBox 34"/>
          <p:cNvSpPr txBox="1"/>
          <p:nvPr/>
        </p:nvSpPr>
        <p:spPr>
          <a:xfrm>
            <a:off x="8792197" y="4131194"/>
            <a:ext cx="713657" cy="332399"/>
          </a:xfrm>
          <a:prstGeom prst="rect">
            <a:avLst/>
          </a:prstGeom>
          <a:noFill/>
        </p:spPr>
        <p:txBody>
          <a:bodyPr wrap="none" rtlCol="0">
            <a:spAutoFit/>
          </a:bodyPr>
          <a:lstStyle/>
          <a:p>
            <a:pPr>
              <a:lnSpc>
                <a:spcPct val="130000"/>
              </a:lnSpc>
              <a:buClr>
                <a:srgbClr val="C5003D"/>
              </a:buClr>
            </a:pPr>
            <a:r>
              <a:rPr lang="en-US" altLang="ko-KR" sz="1200" dirty="0">
                <a:latin typeface="Arial" pitchFamily="34" charset="0"/>
                <a:ea typeface="+mn-ea"/>
                <a:cs typeface="Arial" pitchFamily="34" charset="0"/>
              </a:rPr>
              <a:t>Percent</a:t>
            </a:r>
            <a:endParaRPr lang="ko-KR" altLang="en-US" sz="1200" dirty="0">
              <a:latin typeface="Arial" pitchFamily="34" charset="0"/>
              <a:ea typeface="+mn-ea"/>
              <a:cs typeface="Arial" pitchFamily="34" charset="0"/>
            </a:endParaRPr>
          </a:p>
        </p:txBody>
      </p:sp>
      <p:sp>
        <p:nvSpPr>
          <p:cNvPr id="36"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37" name="Text Box 4"/>
          <p:cNvSpPr txBox="1">
            <a:spLocks noChangeArrowheads="1"/>
          </p:cNvSpPr>
          <p:nvPr/>
        </p:nvSpPr>
        <p:spPr bwMode="auto">
          <a:xfrm>
            <a:off x="5529263" y="354013"/>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60585880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17"/>
          <p:cNvSpPr>
            <a:spLocks noChangeArrowheads="1"/>
          </p:cNvSpPr>
          <p:nvPr/>
        </p:nvSpPr>
        <p:spPr bwMode="auto">
          <a:xfrm>
            <a:off x="344489" y="1807641"/>
            <a:ext cx="5184575" cy="4007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nchor="ctr">
            <a:spAutoFit/>
          </a:bodyPr>
          <a:lstStyle/>
          <a:p>
            <a:pPr eaLnBrk="0" latinLnBrk="0" hangingPunct="0">
              <a:spcBef>
                <a:spcPct val="30000"/>
              </a:spcBef>
            </a:pPr>
            <a:r>
              <a:rPr lang="en-US" altLang="ko-KR" sz="1200" dirty="0">
                <a:latin typeface="Arial" pitchFamily="34" charset="0"/>
                <a:ea typeface="맑은 고딕" pitchFamily="50" charset="-127"/>
                <a:cs typeface="Arial" pitchFamily="34" charset="0"/>
              </a:rPr>
              <a:t>(4) </a:t>
            </a:r>
            <a:r>
              <a:rPr lang="en-US" altLang="ko-KR" sz="1200" dirty="0" err="1">
                <a:latin typeface="Arial" pitchFamily="34" charset="0"/>
                <a:ea typeface="맑은 고딕" pitchFamily="50" charset="-127"/>
                <a:cs typeface="Arial" pitchFamily="34" charset="0"/>
              </a:rPr>
              <a:t>Tính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phần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trăm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lũy</a:t>
            </a:r>
            <a:endParaRPr lang="en-US" altLang="ko-KR" sz="1200" dirty="0">
              <a:latin typeface="Arial" pitchFamily="34" charset="0"/>
              <a:ea typeface="맑은 고딕" pitchFamily="50" charset="-127"/>
              <a:cs typeface="Arial" pitchFamily="34" charset="0"/>
            </a:endParaRPr>
          </a:p>
          <a:p>
            <a:pPr eaLnBrk="0" latinLnBrk="0" hangingPunct="0">
              <a:spcBef>
                <a:spcPct val="30000"/>
              </a:spcBef>
            </a:pPr>
            <a:r>
              <a:rPr lang="en-US" altLang="ko-KR" sz="1200" dirty="0" err="1">
                <a:latin typeface="Arial" pitchFamily="34" charset="0"/>
                <a:ea typeface="맑은 고딕" pitchFamily="50" charset="-127"/>
                <a:cs typeface="Arial" pitchFamily="34" charset="0"/>
              </a:rPr>
              <a:t>Phần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trăm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lũy</a:t>
            </a:r>
            <a:r>
              <a:rPr lang="en-US" altLang="ko-KR" sz="1200" dirty="0">
                <a:latin typeface="Arial" pitchFamily="34" charset="0"/>
                <a:ea typeface="맑은 고딕" pitchFamily="50" charset="-127"/>
                <a:cs typeface="Arial" pitchFamily="34" charset="0"/>
              </a:rPr>
              <a:t> =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lũy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Tổng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ko-KR" altLang="en-US" sz="1200" dirty="0">
                <a:latin typeface="Arial" pitchFamily="34" charset="0"/>
                <a:ea typeface="맑은 고딕" pitchFamily="50" charset="-127"/>
                <a:cs typeface="Arial" pitchFamily="34" charset="0"/>
              </a:rPr>
              <a:t> </a:t>
            </a:r>
            <a:r>
              <a:rPr lang="en-US" altLang="ko-KR" sz="1200" dirty="0">
                <a:latin typeface="Arial" pitchFamily="34" charset="0"/>
                <a:ea typeface="맑은 고딕" pitchFamily="50" charset="-127"/>
                <a:cs typeface="Arial" pitchFamily="34" charset="0"/>
              </a:rPr>
              <a:t>* 100(%)</a:t>
            </a:r>
          </a:p>
          <a:p>
            <a:pPr eaLnBrk="0" latinLnBrk="0" hangingPunct="0">
              <a:spcBef>
                <a:spcPct val="30000"/>
              </a:spcBef>
            </a:pPr>
            <a:endParaRPr lang="en-US" altLang="ko-KR" sz="1200" dirty="0">
              <a:latin typeface="Arial" pitchFamily="34" charset="0"/>
              <a:ea typeface="맑은 고딕" pitchFamily="50" charset="-127"/>
              <a:cs typeface="Arial" pitchFamily="34" charset="0"/>
            </a:endParaRPr>
          </a:p>
          <a:p>
            <a:pPr eaLnBrk="0" latinLnBrk="0" hangingPunct="0">
              <a:spcBef>
                <a:spcPct val="30000"/>
              </a:spcBef>
            </a:pPr>
            <a:r>
              <a:rPr lang="en-US" altLang="ko-KR" sz="1200" dirty="0">
                <a:latin typeface="Arial" pitchFamily="34" charset="0"/>
                <a:ea typeface="맑은 고딕" pitchFamily="50" charset="-127"/>
                <a:cs typeface="Arial" pitchFamily="34" charset="0"/>
              </a:rPr>
              <a:t>(5) </a:t>
            </a:r>
            <a:r>
              <a:rPr lang="en-US" altLang="ko-KR" sz="1200" dirty="0" err="1">
                <a:latin typeface="Arial" pitchFamily="34" charset="0"/>
                <a:ea typeface="맑은 고딕" pitchFamily="50" charset="-127"/>
                <a:cs typeface="Arial" pitchFamily="34" charset="0"/>
              </a:rPr>
              <a:t>Nhập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dòng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cột</a:t>
            </a:r>
            <a:endParaRPr lang="en-US" altLang="ko-KR" sz="1200" dirty="0">
              <a:latin typeface="Arial" pitchFamily="34" charset="0"/>
              <a:ea typeface="맑은 고딕" pitchFamily="50" charset="-127"/>
              <a:cs typeface="Arial" pitchFamily="34" charset="0"/>
            </a:endParaRPr>
          </a:p>
          <a:p>
            <a:pPr eaLnBrk="0" latinLnBrk="0" hangingPunct="0">
              <a:spcBef>
                <a:spcPct val="30000"/>
              </a:spcBef>
            </a:pPr>
            <a:r>
              <a:rPr lang="en-US" altLang="ko-KR" sz="1200" dirty="0">
                <a:latin typeface="Arial" pitchFamily="34" charset="0"/>
                <a:ea typeface="맑은 고딕" pitchFamily="50" charset="-127"/>
                <a:cs typeface="Arial" pitchFamily="34" charset="0"/>
              </a:rPr>
              <a:t>     - </a:t>
            </a:r>
            <a:r>
              <a:rPr lang="en-US" altLang="ko-KR" sz="1200" dirty="0" err="1">
                <a:latin typeface="Arial" pitchFamily="34" charset="0"/>
                <a:ea typeface="맑은 고딕" pitchFamily="50" charset="-127"/>
                <a:cs typeface="Arial" pitchFamily="34" charset="0"/>
              </a:rPr>
              <a:t>Dòng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Nhập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mục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theo</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thứ</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tự</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endParaRPr lang="ko-KR" altLang="en-US" sz="1200" dirty="0">
              <a:latin typeface="Arial" pitchFamily="34" charset="0"/>
              <a:ea typeface="맑은 고딕" pitchFamily="50" charset="-127"/>
              <a:cs typeface="Arial" pitchFamily="34" charset="0"/>
            </a:endParaRPr>
          </a:p>
          <a:p>
            <a:pPr eaLnBrk="0" latinLnBrk="0" hangingPunct="0">
              <a:spcBef>
                <a:spcPct val="30000"/>
              </a:spcBef>
            </a:pPr>
            <a:r>
              <a:rPr lang="ko-KR" altLang="en-US" sz="1200" dirty="0">
                <a:latin typeface="Arial" pitchFamily="34" charset="0"/>
                <a:ea typeface="맑은 고딕" pitchFamily="50" charset="-127"/>
                <a:cs typeface="Arial" pitchFamily="34" charset="0"/>
              </a:rPr>
              <a:t>     </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Cột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Nhập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tổng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lỗi</a:t>
            </a:r>
            <a:endParaRPr lang="en-US" altLang="ko-KR" sz="1200" dirty="0">
              <a:latin typeface="Arial" pitchFamily="34" charset="0"/>
              <a:ea typeface="맑은 고딕" pitchFamily="50" charset="-127"/>
              <a:cs typeface="Arial" pitchFamily="34" charset="0"/>
            </a:endParaRPr>
          </a:p>
          <a:p>
            <a:pPr eaLnBrk="0" latinLnBrk="0" hangingPunct="0">
              <a:spcBef>
                <a:spcPct val="30000"/>
              </a:spcBef>
            </a:pPr>
            <a:r>
              <a:rPr lang="en-US" altLang="ko-KR" sz="1200" dirty="0">
                <a:latin typeface="Arial" pitchFamily="34" charset="0"/>
                <a:ea typeface="맑은 고딕" pitchFamily="50" charset="-127"/>
                <a:cs typeface="Arial" pitchFamily="34" charset="0"/>
              </a:rPr>
              <a:t>     </a:t>
            </a:r>
          </a:p>
          <a:p>
            <a:pPr eaLnBrk="0" latinLnBrk="0" hangingPunct="0">
              <a:spcBef>
                <a:spcPct val="30000"/>
              </a:spcBef>
            </a:pPr>
            <a:r>
              <a:rPr lang="en-US" altLang="ko-KR" sz="1200" dirty="0">
                <a:latin typeface="Arial" pitchFamily="34" charset="0"/>
                <a:ea typeface="맑은 고딕" pitchFamily="50" charset="-127"/>
                <a:cs typeface="Arial" pitchFamily="34" charset="0"/>
              </a:rPr>
              <a:t>(6) </a:t>
            </a:r>
            <a:r>
              <a:rPr lang="en-US" altLang="ko-KR" sz="1200" dirty="0" err="1">
                <a:latin typeface="Arial" pitchFamily="34" charset="0"/>
                <a:ea typeface="맑은 고딕" pitchFamily="50" charset="-127"/>
                <a:cs typeface="Arial" pitchFamily="34" charset="0"/>
              </a:rPr>
              <a:t>Xây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dựng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cột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bắt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đầu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từ</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trái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cột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giá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trị</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lớn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nhất</a:t>
            </a:r>
            <a:r>
              <a:rPr lang="en-US" altLang="ko-KR" sz="1200" dirty="0">
                <a:latin typeface="Arial" pitchFamily="34" charset="0"/>
                <a:ea typeface="맑은 고딕" pitchFamily="50" charset="-127"/>
                <a:cs typeface="Arial" pitchFamily="34" charset="0"/>
              </a:rPr>
              <a:t>. </a:t>
            </a:r>
          </a:p>
          <a:p>
            <a:pPr eaLnBrk="0" latinLnBrk="0" hangingPunct="0">
              <a:spcBef>
                <a:spcPct val="30000"/>
              </a:spcBef>
            </a:pPr>
            <a:r>
              <a:rPr lang="en-US" altLang="ko-KR" sz="1200" dirty="0">
                <a:latin typeface="Arial" pitchFamily="34" charset="0"/>
                <a:ea typeface="맑은 고딕" pitchFamily="50" charset="-127"/>
                <a:cs typeface="Arial" pitchFamily="34" charset="0"/>
              </a:rPr>
              <a:t>     - </a:t>
            </a:r>
            <a:r>
              <a:rPr lang="en-US" altLang="ko-KR" sz="1200" dirty="0" err="1">
                <a:latin typeface="Arial" pitchFamily="34" charset="0"/>
                <a:ea typeface="맑은 고딕" pitchFamily="50" charset="-127"/>
                <a:cs typeface="Arial" pitchFamily="34" charset="0"/>
              </a:rPr>
              <a:t>Nhập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tổng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lỗi</a:t>
            </a:r>
            <a:r>
              <a:rPr lang="en-US" altLang="ko-KR" sz="1200" dirty="0">
                <a:latin typeface="Arial" pitchFamily="34" charset="0"/>
                <a:ea typeface="맑은 고딕" pitchFamily="50" charset="-127"/>
                <a:cs typeface="Arial" pitchFamily="34" charset="0"/>
              </a:rPr>
              <a:t> ở </a:t>
            </a:r>
            <a:r>
              <a:rPr lang="en-US" altLang="ko-KR" sz="1200" dirty="0" err="1">
                <a:latin typeface="Arial" pitchFamily="34" charset="0"/>
                <a:ea typeface="맑은 고딕" pitchFamily="50" charset="-127"/>
                <a:cs typeface="Arial" pitchFamily="34" charset="0"/>
              </a:rPr>
              <a:t>góc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trái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a:t>
            </a:r>
            <a:r>
              <a:rPr lang="en-US" altLang="ko-KR" sz="1200" dirty="0">
                <a:latin typeface="Arial" pitchFamily="34" charset="0"/>
                <a:ea typeface="맑은 고딕" pitchFamily="50" charset="-127"/>
                <a:cs typeface="Arial" pitchFamily="34" charset="0"/>
              </a:rPr>
              <a:t>. </a:t>
            </a:r>
            <a:endParaRPr lang="ko-KR" altLang="en-US" sz="1200" dirty="0">
              <a:latin typeface="Arial" pitchFamily="34" charset="0"/>
              <a:ea typeface="맑은 고딕" pitchFamily="50" charset="-127"/>
              <a:cs typeface="Arial" pitchFamily="34" charset="0"/>
            </a:endParaRPr>
          </a:p>
          <a:p>
            <a:pPr eaLnBrk="0" latinLnBrk="0" hangingPunct="0">
              <a:spcBef>
                <a:spcPct val="30000"/>
              </a:spcBef>
            </a:pPr>
            <a:r>
              <a:rPr lang="ko-KR" altLang="en-US" sz="1200" dirty="0">
                <a:latin typeface="Arial" pitchFamily="34" charset="0"/>
                <a:ea typeface="맑은 고딕" pitchFamily="50" charset="-127"/>
                <a:cs typeface="Arial" pitchFamily="34" charset="0"/>
              </a:rPr>
              <a:t>     </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Mục</a:t>
            </a:r>
            <a:r>
              <a:rPr lang="en-US" altLang="ko-KR" sz="1200" dirty="0">
                <a:latin typeface="Arial" pitchFamily="34" charset="0"/>
                <a:ea typeface="맑은 고딕" pitchFamily="50" charset="-127"/>
                <a:cs typeface="Arial" pitchFamily="34" charset="0"/>
              </a:rPr>
              <a:t> ’Others’ </a:t>
            </a:r>
            <a:r>
              <a:rPr lang="en-US" altLang="ko-KR" sz="1200" dirty="0" err="1">
                <a:latin typeface="Arial" pitchFamily="34" charset="0"/>
                <a:ea typeface="맑은 고딕" pitchFamily="50" charset="-127"/>
                <a:cs typeface="Arial" pitchFamily="34" charset="0"/>
              </a:rPr>
              <a:t>sẽ</a:t>
            </a:r>
            <a:r>
              <a:rPr lang="en-US" altLang="ko-KR" sz="1200" dirty="0">
                <a:latin typeface="Arial" pitchFamily="34" charset="0"/>
                <a:ea typeface="맑은 고딕" pitchFamily="50" charset="-127"/>
                <a:cs typeface="Arial" pitchFamily="34" charset="0"/>
              </a:rPr>
              <a:t> ở </a:t>
            </a:r>
            <a:r>
              <a:rPr lang="en-US" altLang="ko-KR" sz="1200" dirty="0" err="1">
                <a:latin typeface="Arial" pitchFamily="34" charset="0"/>
                <a:ea typeface="맑은 고딕" pitchFamily="50" charset="-127"/>
                <a:cs typeface="Arial" pitchFamily="34" charset="0"/>
              </a:rPr>
              <a:t>phần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cuối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phải</a:t>
            </a:r>
            <a:endParaRPr lang="ko-KR" altLang="en-US" sz="1200" dirty="0">
              <a:latin typeface="Arial" pitchFamily="34" charset="0"/>
              <a:ea typeface="맑은 고딕" pitchFamily="50" charset="-127"/>
              <a:cs typeface="Arial" pitchFamily="34" charset="0"/>
            </a:endParaRPr>
          </a:p>
          <a:p>
            <a:pPr eaLnBrk="0" latinLnBrk="0" hangingPunct="0">
              <a:spcBef>
                <a:spcPct val="30000"/>
              </a:spcBef>
            </a:pPr>
            <a:r>
              <a:rPr lang="ko-KR" altLang="en-US" sz="1200" dirty="0">
                <a:latin typeface="Arial" pitchFamily="34" charset="0"/>
                <a:ea typeface="맑은 고딕" pitchFamily="50" charset="-127"/>
                <a:cs typeface="Arial" pitchFamily="34" charset="0"/>
              </a:rPr>
              <a:t>     </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từ</a:t>
            </a:r>
            <a:r>
              <a:rPr lang="en-US" altLang="ko-KR" sz="1200" dirty="0">
                <a:latin typeface="Arial" pitchFamily="34" charset="0"/>
                <a:ea typeface="맑은 고딕" pitchFamily="50" charset="-127"/>
                <a:cs typeface="Arial" pitchFamily="34" charset="0"/>
              </a:rPr>
              <a:t> 5 ~ 7 </a:t>
            </a:r>
            <a:r>
              <a:rPr lang="en-US" altLang="ko-KR" sz="1200" dirty="0" err="1">
                <a:latin typeface="Arial" pitchFamily="34" charset="0"/>
                <a:ea typeface="맑은 고딕" pitchFamily="50" charset="-127"/>
                <a:cs typeface="Arial" pitchFamily="34" charset="0"/>
              </a:rPr>
              <a:t>mức</a:t>
            </a:r>
            <a:r>
              <a:rPr lang="en-US" altLang="ko-KR" sz="1200" dirty="0">
                <a:latin typeface="Arial" pitchFamily="34" charset="0"/>
                <a:ea typeface="맑은 고딕" pitchFamily="50" charset="-127"/>
                <a:cs typeface="Arial" pitchFamily="34" charset="0"/>
              </a:rPr>
              <a:t> ở </a:t>
            </a:r>
            <a:r>
              <a:rPr lang="en-US" altLang="ko-KR" sz="1200" dirty="0" err="1">
                <a:latin typeface="Arial" pitchFamily="34" charset="0"/>
                <a:ea typeface="맑은 고딕" pitchFamily="50" charset="-127"/>
                <a:cs typeface="Arial" pitchFamily="34" charset="0"/>
              </a:rPr>
              <a:t>trục</a:t>
            </a:r>
            <a:r>
              <a:rPr lang="en-US" altLang="ko-KR" sz="1200" dirty="0">
                <a:latin typeface="Arial" pitchFamily="34" charset="0"/>
                <a:ea typeface="맑은 고딕" pitchFamily="50" charset="-127"/>
                <a:cs typeface="Arial" pitchFamily="34" charset="0"/>
              </a:rPr>
              <a:t> Y</a:t>
            </a:r>
          </a:p>
          <a:p>
            <a:pPr eaLnBrk="0" latinLnBrk="0" hangingPunct="0">
              <a:spcBef>
                <a:spcPct val="30000"/>
              </a:spcBef>
            </a:pPr>
            <a:endParaRPr lang="ko-KR" altLang="en-US" sz="1200" dirty="0">
              <a:latin typeface="Arial" pitchFamily="34" charset="0"/>
              <a:ea typeface="맑은 고딕" pitchFamily="50" charset="-127"/>
              <a:cs typeface="Arial" pitchFamily="34" charset="0"/>
            </a:endParaRPr>
          </a:p>
          <a:p>
            <a:pPr eaLnBrk="0" latinLnBrk="0" hangingPunct="0">
              <a:spcBef>
                <a:spcPct val="30000"/>
              </a:spcBef>
            </a:pPr>
            <a:r>
              <a:rPr lang="en-US" altLang="ko-KR" sz="1200" dirty="0">
                <a:latin typeface="Arial" pitchFamily="34" charset="0"/>
                <a:ea typeface="맑은 고딕" pitchFamily="50" charset="-127"/>
                <a:cs typeface="Arial" pitchFamily="34" charset="0"/>
              </a:rPr>
              <a:t>(7) </a:t>
            </a:r>
            <a:r>
              <a:rPr lang="en-US" altLang="ko-KR" sz="1200" dirty="0" err="1">
                <a:latin typeface="Arial" pitchFamily="34" charset="0"/>
                <a:ea typeface="맑은 고딕" pitchFamily="50" charset="-127"/>
                <a:cs typeface="Arial" pitchFamily="34" charset="0"/>
              </a:rPr>
              <a:t>Sử</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dụng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đường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thẳng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hiện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mức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độ</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ảnh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hưởng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lỗi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trong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tổng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p>
          <a:p>
            <a:pPr eaLnBrk="0" latinLnBrk="0" hangingPunct="0">
              <a:spcBef>
                <a:spcPct val="30000"/>
              </a:spcBef>
            </a:pPr>
            <a:r>
              <a:rPr lang="en-US" altLang="ko-KR" sz="1200" dirty="0">
                <a:latin typeface="Arial" pitchFamily="34" charset="0"/>
                <a:ea typeface="맑은 고딕" pitchFamily="50" charset="-127"/>
                <a:cs typeface="Arial" pitchFamily="34" charset="0"/>
              </a:rPr>
              <a:t>     - </a:t>
            </a:r>
            <a:r>
              <a:rPr lang="en-US" altLang="ko-KR" sz="1200" dirty="0" err="1">
                <a:latin typeface="Arial" pitchFamily="34" charset="0"/>
                <a:ea typeface="맑은 고딕" pitchFamily="50" charset="-127"/>
                <a:cs typeface="Arial" pitchFamily="34" charset="0"/>
              </a:rPr>
              <a:t>Nhập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 ở </a:t>
            </a:r>
            <a:r>
              <a:rPr lang="en-US" altLang="ko-KR" sz="1200" dirty="0" err="1">
                <a:latin typeface="Arial" pitchFamily="34" charset="0"/>
                <a:ea typeface="맑은 고딕" pitchFamily="50" charset="-127"/>
                <a:cs typeface="Arial" pitchFamily="34" charset="0"/>
              </a:rPr>
              <a:t>trục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phải</a:t>
            </a:r>
            <a:endParaRPr lang="en-US" altLang="ko-KR" sz="1200" dirty="0">
              <a:latin typeface="Arial" pitchFamily="34" charset="0"/>
              <a:ea typeface="맑은 고딕" pitchFamily="50" charset="-127"/>
              <a:cs typeface="Arial" pitchFamily="34" charset="0"/>
            </a:endParaRPr>
          </a:p>
          <a:p>
            <a:pPr eaLnBrk="0" latinLnBrk="0" hangingPunct="0">
              <a:spcBef>
                <a:spcPct val="30000"/>
              </a:spcBef>
            </a:pPr>
            <a:r>
              <a:rPr lang="en-US" altLang="ko-KR" sz="1200" dirty="0">
                <a:latin typeface="Arial" pitchFamily="34" charset="0"/>
                <a:ea typeface="맑은 고딕" pitchFamily="50" charset="-127"/>
                <a:cs typeface="Arial" pitchFamily="34" charset="0"/>
              </a:rPr>
              <a:t>     - </a:t>
            </a:r>
            <a:r>
              <a:rPr lang="en-US" altLang="ko-KR" sz="1200" dirty="0" err="1">
                <a:latin typeface="Arial" pitchFamily="34" charset="0"/>
                <a:ea typeface="맑은 고딕" pitchFamily="50" charset="-127"/>
                <a:cs typeface="Arial" pitchFamily="34" charset="0"/>
              </a:rPr>
              <a:t>Bắt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đầu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từ</a:t>
            </a:r>
            <a:r>
              <a:rPr lang="en-US" altLang="ko-KR" sz="1200" dirty="0">
                <a:latin typeface="Arial" pitchFamily="34" charset="0"/>
                <a:ea typeface="맑은 고딕" pitchFamily="50" charset="-127"/>
                <a:cs typeface="Arial" pitchFamily="34" charset="0"/>
              </a:rPr>
              <a:t> 0%</a:t>
            </a:r>
          </a:p>
        </p:txBody>
      </p:sp>
      <p:pic>
        <p:nvPicPr>
          <p:cNvPr id="98307" name="Picture 1"/>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5600700" y="1412875"/>
            <a:ext cx="4270375" cy="374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모서리가 둥근 직사각형 5"/>
          <p:cNvSpPr/>
          <p:nvPr/>
        </p:nvSpPr>
        <p:spPr>
          <a:xfrm>
            <a:off x="1136650" y="879475"/>
            <a:ext cx="2376488" cy="287338"/>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Phương</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pháp</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xây</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dựng</a:t>
            </a:r>
            <a:endParaRPr kumimoji="0" lang="ko-KR" altLang="en-US" sz="1400" b="1" kern="0" dirty="0">
              <a:solidFill>
                <a:prstClr val="white"/>
              </a:solidFill>
              <a:latin typeface="Arial" pitchFamily="34" charset="0"/>
              <a:ea typeface="맑은 고딕"/>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87</a:t>
            </a:fld>
            <a:endParaRPr lang="ko-KR" altLang="en-US" dirty="0">
              <a:latin typeface="Arial" pitchFamily="34" charset="0"/>
              <a:cs typeface="Arial" pitchFamily="34" charset="0"/>
            </a:endParaRPr>
          </a:p>
        </p:txBody>
      </p:sp>
      <p:sp>
        <p:nvSpPr>
          <p:cNvPr id="10" name="TextBox 9"/>
          <p:cNvSpPr txBox="1"/>
          <p:nvPr/>
        </p:nvSpPr>
        <p:spPr>
          <a:xfrm>
            <a:off x="5097016" y="1844824"/>
            <a:ext cx="910827" cy="332399"/>
          </a:xfrm>
          <a:prstGeom prst="rect">
            <a:avLst/>
          </a:prstGeom>
          <a:noFill/>
        </p:spPr>
        <p:txBody>
          <a:bodyPr wrap="none" rtlCol="0">
            <a:spAutoFit/>
          </a:bodyPr>
          <a:lstStyle/>
          <a:p>
            <a:pPr>
              <a:lnSpc>
                <a:spcPct val="130000"/>
              </a:lnSpc>
              <a:buClr>
                <a:srgbClr val="C5003D"/>
              </a:buClr>
            </a:pPr>
            <a:r>
              <a:rPr lang="en-US" altLang="ko-KR" sz="1200" dirty="0">
                <a:latin typeface="Arial" pitchFamily="34" charset="0"/>
                <a:ea typeface="+mn-ea"/>
                <a:cs typeface="Arial" pitchFamily="34" charset="0"/>
              </a:rPr>
              <a:t>Defect No.</a:t>
            </a:r>
            <a:endParaRPr lang="ko-KR" altLang="en-US" sz="1200" dirty="0">
              <a:latin typeface="Arial" pitchFamily="34" charset="0"/>
              <a:ea typeface="+mn-ea"/>
              <a:cs typeface="Arial" pitchFamily="34" charset="0"/>
            </a:endParaRPr>
          </a:p>
        </p:txBody>
      </p:sp>
      <p:sp>
        <p:nvSpPr>
          <p:cNvPr id="11" name="TextBox 10"/>
          <p:cNvSpPr txBox="1"/>
          <p:nvPr/>
        </p:nvSpPr>
        <p:spPr>
          <a:xfrm>
            <a:off x="6321152" y="4437112"/>
            <a:ext cx="425116"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dust</a:t>
            </a:r>
            <a:endParaRPr lang="ko-KR" altLang="en-US" sz="1000" dirty="0">
              <a:latin typeface="Arial" pitchFamily="34" charset="0"/>
              <a:ea typeface="+mn-ea"/>
              <a:cs typeface="Arial" pitchFamily="34" charset="0"/>
            </a:endParaRPr>
          </a:p>
        </p:txBody>
      </p:sp>
      <p:sp>
        <p:nvSpPr>
          <p:cNvPr id="12" name="TextBox 11"/>
          <p:cNvSpPr txBox="1"/>
          <p:nvPr/>
        </p:nvSpPr>
        <p:spPr>
          <a:xfrm>
            <a:off x="6753200" y="4437112"/>
            <a:ext cx="428322"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flow</a:t>
            </a:r>
            <a:endParaRPr lang="ko-KR" altLang="en-US" sz="1000" dirty="0">
              <a:latin typeface="Arial" pitchFamily="34" charset="0"/>
              <a:ea typeface="+mn-ea"/>
              <a:cs typeface="Arial" pitchFamily="34" charset="0"/>
            </a:endParaRPr>
          </a:p>
        </p:txBody>
      </p:sp>
      <p:sp>
        <p:nvSpPr>
          <p:cNvPr id="13" name="TextBox 12"/>
          <p:cNvSpPr txBox="1"/>
          <p:nvPr/>
        </p:nvSpPr>
        <p:spPr>
          <a:xfrm>
            <a:off x="6177136" y="5248954"/>
            <a:ext cx="893193" cy="271549"/>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Unevenness</a:t>
            </a:r>
            <a:endParaRPr lang="ko-KR" altLang="en-US" sz="1000" dirty="0">
              <a:latin typeface="Arial" pitchFamily="34" charset="0"/>
              <a:ea typeface="+mn-ea"/>
              <a:cs typeface="Arial" pitchFamily="34" charset="0"/>
            </a:endParaRPr>
          </a:p>
        </p:txBody>
      </p:sp>
      <p:sp>
        <p:nvSpPr>
          <p:cNvPr id="14" name="TextBox 13"/>
          <p:cNvSpPr txBox="1"/>
          <p:nvPr/>
        </p:nvSpPr>
        <p:spPr>
          <a:xfrm>
            <a:off x="7185248" y="5248954"/>
            <a:ext cx="1047082"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Paint underage</a:t>
            </a:r>
          </a:p>
        </p:txBody>
      </p:sp>
      <p:sp>
        <p:nvSpPr>
          <p:cNvPr id="15" name="TextBox 14"/>
          <p:cNvSpPr txBox="1"/>
          <p:nvPr/>
        </p:nvSpPr>
        <p:spPr>
          <a:xfrm>
            <a:off x="8193360" y="5248954"/>
            <a:ext cx="768159"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Gloss blur</a:t>
            </a:r>
            <a:endParaRPr lang="ko-KR" altLang="en-US" sz="1000" dirty="0">
              <a:latin typeface="Arial" pitchFamily="34" charset="0"/>
              <a:ea typeface="+mn-ea"/>
              <a:cs typeface="Arial" pitchFamily="34" charset="0"/>
            </a:endParaRPr>
          </a:p>
        </p:txBody>
      </p:sp>
      <p:sp>
        <p:nvSpPr>
          <p:cNvPr id="16" name="TextBox 15"/>
          <p:cNvSpPr txBox="1"/>
          <p:nvPr/>
        </p:nvSpPr>
        <p:spPr>
          <a:xfrm>
            <a:off x="8265368" y="4365104"/>
            <a:ext cx="453970"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stain</a:t>
            </a:r>
          </a:p>
        </p:txBody>
      </p:sp>
      <p:sp>
        <p:nvSpPr>
          <p:cNvPr id="17" name="TextBox 16"/>
          <p:cNvSpPr txBox="1"/>
          <p:nvPr/>
        </p:nvSpPr>
        <p:spPr>
          <a:xfrm>
            <a:off x="8769424" y="4365104"/>
            <a:ext cx="550151" cy="292388"/>
          </a:xfrm>
          <a:prstGeom prst="rect">
            <a:avLst/>
          </a:prstGeom>
          <a:noFill/>
        </p:spPr>
        <p:txBody>
          <a:bodyPr wrap="none" rtlCol="0">
            <a:spAutoFit/>
          </a:bodyPr>
          <a:lstStyle/>
          <a:p>
            <a:pPr>
              <a:lnSpc>
                <a:spcPct val="130000"/>
              </a:lnSpc>
              <a:buClr>
                <a:srgbClr val="C5003D"/>
              </a:buClr>
            </a:pPr>
            <a:r>
              <a:rPr lang="en-US" altLang="ko-KR" sz="1000" dirty="0">
                <a:latin typeface="Arial" pitchFamily="34" charset="0"/>
                <a:ea typeface="+mn-ea"/>
                <a:cs typeface="Arial" pitchFamily="34" charset="0"/>
              </a:rPr>
              <a:t>others</a:t>
            </a:r>
          </a:p>
        </p:txBody>
      </p:sp>
      <p:sp>
        <p:nvSpPr>
          <p:cNvPr id="18" name="TextBox 17"/>
          <p:cNvSpPr txBox="1"/>
          <p:nvPr/>
        </p:nvSpPr>
        <p:spPr>
          <a:xfrm>
            <a:off x="9208693" y="3429000"/>
            <a:ext cx="713657" cy="332399"/>
          </a:xfrm>
          <a:prstGeom prst="rect">
            <a:avLst/>
          </a:prstGeom>
          <a:noFill/>
        </p:spPr>
        <p:txBody>
          <a:bodyPr wrap="none" rtlCol="0">
            <a:spAutoFit/>
          </a:bodyPr>
          <a:lstStyle/>
          <a:p>
            <a:pPr>
              <a:lnSpc>
                <a:spcPct val="130000"/>
              </a:lnSpc>
              <a:buClr>
                <a:srgbClr val="C5003D"/>
              </a:buClr>
            </a:pPr>
            <a:r>
              <a:rPr lang="en-US" altLang="ko-KR" sz="1200" dirty="0">
                <a:latin typeface="Arial" pitchFamily="34" charset="0"/>
                <a:ea typeface="+mn-ea"/>
                <a:cs typeface="Arial" pitchFamily="34" charset="0"/>
              </a:rPr>
              <a:t>Percent</a:t>
            </a:r>
            <a:endParaRPr lang="ko-KR" altLang="en-US" sz="1200" dirty="0">
              <a:latin typeface="Arial" pitchFamily="34" charset="0"/>
              <a:ea typeface="+mn-ea"/>
              <a:cs typeface="Arial" pitchFamily="34" charset="0"/>
            </a:endParaRPr>
          </a:p>
        </p:txBody>
      </p:sp>
      <p:cxnSp>
        <p:nvCxnSpPr>
          <p:cNvPr id="4" name="직선 화살표 연결선 3"/>
          <p:cNvCxnSpPr/>
          <p:nvPr/>
        </p:nvCxnSpPr>
        <p:spPr>
          <a:xfrm flipH="1">
            <a:off x="6753200" y="4653136"/>
            <a:ext cx="504056" cy="64807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직선 화살표 연결선 6"/>
          <p:cNvCxnSpPr>
            <a:endCxn id="14" idx="0"/>
          </p:cNvCxnSpPr>
          <p:nvPr/>
        </p:nvCxnSpPr>
        <p:spPr>
          <a:xfrm>
            <a:off x="7689304" y="4528874"/>
            <a:ext cx="19485" cy="72008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직선 화살표 연결선 19"/>
          <p:cNvCxnSpPr/>
          <p:nvPr/>
        </p:nvCxnSpPr>
        <p:spPr>
          <a:xfrm>
            <a:off x="8121352" y="4581128"/>
            <a:ext cx="288032" cy="64807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22" name="Text Box 4"/>
          <p:cNvSpPr txBox="1">
            <a:spLocks noChangeArrowheads="1"/>
          </p:cNvSpPr>
          <p:nvPr/>
        </p:nvSpPr>
        <p:spPr bwMode="auto">
          <a:xfrm>
            <a:off x="5529263" y="354013"/>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56996707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8"/>
          <p:cNvGrpSpPr>
            <a:grpSpLocks/>
          </p:cNvGrpSpPr>
          <p:nvPr/>
        </p:nvGrpSpPr>
        <p:grpSpPr bwMode="auto">
          <a:xfrm>
            <a:off x="743231" y="1778001"/>
            <a:ext cx="4302125" cy="1749425"/>
            <a:chOff x="315" y="1699"/>
            <a:chExt cx="2018" cy="1102"/>
          </a:xfrm>
        </p:grpSpPr>
        <p:sp>
          <p:nvSpPr>
            <p:cNvPr id="8" name="Rectangle 19"/>
            <p:cNvSpPr>
              <a:spLocks noChangeArrowheads="1"/>
            </p:cNvSpPr>
            <p:nvPr/>
          </p:nvSpPr>
          <p:spPr bwMode="auto">
            <a:xfrm>
              <a:off x="315" y="1899"/>
              <a:ext cx="450" cy="90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A</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B</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C</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D</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E</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Other</a:t>
              </a:r>
              <a:endParaRPr lang="ko-KR" altLang="en-US" sz="900" dirty="0">
                <a:latin typeface="맑은 고딕" panose="020B0503020000020004" pitchFamily="50" charset="-127"/>
                <a:ea typeface="맑은 고딕" panose="020B0503020000020004" pitchFamily="50" charset="-127"/>
              </a:endParaRPr>
            </a:p>
          </p:txBody>
        </p:sp>
        <p:sp>
          <p:nvSpPr>
            <p:cNvPr id="9" name="Rectangle 20"/>
            <p:cNvSpPr>
              <a:spLocks noChangeArrowheads="1"/>
            </p:cNvSpPr>
            <p:nvPr/>
          </p:nvSpPr>
          <p:spPr bwMode="auto">
            <a:xfrm>
              <a:off x="765" y="1899"/>
              <a:ext cx="451" cy="90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20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10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7</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3</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2</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8</a:t>
              </a:r>
            </a:p>
          </p:txBody>
        </p:sp>
        <p:sp>
          <p:nvSpPr>
            <p:cNvPr id="10" name="Rectangle 21"/>
            <p:cNvSpPr>
              <a:spLocks noChangeArrowheads="1"/>
            </p:cNvSpPr>
            <p:nvPr/>
          </p:nvSpPr>
          <p:spPr bwMode="auto">
            <a:xfrm>
              <a:off x="1216" y="1899"/>
              <a:ext cx="321" cy="90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40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20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14</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 6</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 4</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16</a:t>
              </a:r>
            </a:p>
          </p:txBody>
        </p:sp>
        <p:sp>
          <p:nvSpPr>
            <p:cNvPr id="11" name="Rectangle 22"/>
            <p:cNvSpPr>
              <a:spLocks noChangeArrowheads="1"/>
            </p:cNvSpPr>
            <p:nvPr/>
          </p:nvSpPr>
          <p:spPr bwMode="auto">
            <a:xfrm>
              <a:off x="315" y="1699"/>
              <a:ext cx="450" cy="203"/>
            </a:xfrm>
            <a:prstGeom prst="rect">
              <a:avLst/>
            </a:prstGeom>
            <a:solidFill>
              <a:srgbClr val="B2B2B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r>
                <a:rPr lang="en-US" altLang="ko-KR" sz="900" b="1" dirty="0">
                  <a:latin typeface="맑은 고딕" panose="020B0503020000020004" pitchFamily="50" charset="-127"/>
                  <a:ea typeface="맑은 고딕" panose="020B0503020000020004" pitchFamily="50" charset="-127"/>
                </a:rPr>
                <a:t>Classification</a:t>
              </a:r>
            </a:p>
            <a:p>
              <a:pPr algn="ctr" eaLnBrk="1" hangingPunct="1"/>
              <a:r>
                <a:rPr lang="en-US" altLang="ko-KR" sz="900" b="1" dirty="0">
                  <a:latin typeface="맑은 고딕" panose="020B0503020000020004" pitchFamily="50" charset="-127"/>
                  <a:ea typeface="맑은 고딕" panose="020B0503020000020004" pitchFamily="50" charset="-127"/>
                </a:rPr>
                <a:t>Items</a:t>
              </a:r>
              <a:endParaRPr lang="ko-KR" altLang="en-US" sz="900" b="1" dirty="0">
                <a:latin typeface="맑은 고딕" panose="020B0503020000020004" pitchFamily="50" charset="-127"/>
                <a:ea typeface="맑은 고딕" panose="020B0503020000020004" pitchFamily="50" charset="-127"/>
              </a:endParaRPr>
            </a:p>
          </p:txBody>
        </p:sp>
        <p:sp>
          <p:nvSpPr>
            <p:cNvPr id="12" name="Rectangle 23"/>
            <p:cNvSpPr>
              <a:spLocks noChangeArrowheads="1"/>
            </p:cNvSpPr>
            <p:nvPr/>
          </p:nvSpPr>
          <p:spPr bwMode="auto">
            <a:xfrm>
              <a:off x="765" y="1699"/>
              <a:ext cx="451" cy="203"/>
            </a:xfrm>
            <a:prstGeom prst="rect">
              <a:avLst/>
            </a:prstGeom>
            <a:solidFill>
              <a:srgbClr val="B2B2B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r>
                <a:rPr lang="en-US" altLang="ko-KR" sz="900" b="1" dirty="0">
                  <a:latin typeface="맑은 고딕" panose="020B0503020000020004" pitchFamily="50" charset="-127"/>
                  <a:ea typeface="맑은 고딕" panose="020B0503020000020004" pitchFamily="50" charset="-127"/>
                </a:rPr>
                <a:t># of Data</a:t>
              </a:r>
              <a:endParaRPr lang="ko-KR" altLang="en-US" sz="900" b="1" dirty="0">
                <a:latin typeface="맑은 고딕" panose="020B0503020000020004" pitchFamily="50" charset="-127"/>
                <a:ea typeface="맑은 고딕" panose="020B0503020000020004" pitchFamily="50" charset="-127"/>
              </a:endParaRPr>
            </a:p>
          </p:txBody>
        </p:sp>
        <p:sp>
          <p:nvSpPr>
            <p:cNvPr id="13" name="Rectangle 24"/>
            <p:cNvSpPr>
              <a:spLocks noChangeArrowheads="1"/>
            </p:cNvSpPr>
            <p:nvPr/>
          </p:nvSpPr>
          <p:spPr bwMode="auto">
            <a:xfrm>
              <a:off x="1216" y="1699"/>
              <a:ext cx="321" cy="203"/>
            </a:xfrm>
            <a:prstGeom prst="rect">
              <a:avLst/>
            </a:prstGeom>
            <a:solidFill>
              <a:srgbClr val="B2B2B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r>
                <a:rPr lang="en-US" altLang="ko-KR" sz="900" b="1" dirty="0">
                  <a:latin typeface="맑은 고딕" panose="020B0503020000020004" pitchFamily="50" charset="-127"/>
                  <a:ea typeface="맑은 고딕" panose="020B0503020000020004" pitchFamily="50" charset="-127"/>
                </a:rPr>
                <a:t>%</a:t>
              </a:r>
            </a:p>
          </p:txBody>
        </p:sp>
        <p:sp>
          <p:nvSpPr>
            <p:cNvPr id="14" name="Rectangle 25"/>
            <p:cNvSpPr>
              <a:spLocks noChangeArrowheads="1"/>
            </p:cNvSpPr>
            <p:nvPr/>
          </p:nvSpPr>
          <p:spPr bwMode="auto">
            <a:xfrm>
              <a:off x="1534" y="1899"/>
              <a:ext cx="400" cy="90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20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30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37</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40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42</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50</a:t>
              </a:r>
            </a:p>
          </p:txBody>
        </p:sp>
        <p:sp>
          <p:nvSpPr>
            <p:cNvPr id="15" name="Rectangle 26"/>
            <p:cNvSpPr>
              <a:spLocks noChangeArrowheads="1"/>
            </p:cNvSpPr>
            <p:nvPr/>
          </p:nvSpPr>
          <p:spPr bwMode="auto">
            <a:xfrm>
              <a:off x="1934" y="1899"/>
              <a:ext cx="399" cy="90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40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60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74</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80</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84</a:t>
              </a:r>
            </a:p>
            <a:p>
              <a:pPr algn="ctr" eaLnBrk="1" hangingPunct="1">
                <a:lnSpc>
                  <a:spcPct val="120000"/>
                </a:lnSpc>
              </a:pPr>
              <a:r>
                <a:rPr lang="en-US" altLang="ko-KR" sz="900" dirty="0">
                  <a:latin typeface="맑은 고딕" panose="020B0503020000020004" pitchFamily="50" charset="-127"/>
                  <a:ea typeface="맑은 고딕" panose="020B0503020000020004" pitchFamily="50" charset="-127"/>
                </a:rPr>
                <a:t>100</a:t>
              </a:r>
            </a:p>
          </p:txBody>
        </p:sp>
        <p:sp>
          <p:nvSpPr>
            <p:cNvPr id="16" name="Rectangle 27"/>
            <p:cNvSpPr>
              <a:spLocks noChangeArrowheads="1"/>
            </p:cNvSpPr>
            <p:nvPr/>
          </p:nvSpPr>
          <p:spPr bwMode="auto">
            <a:xfrm>
              <a:off x="1534" y="1699"/>
              <a:ext cx="400" cy="203"/>
            </a:xfrm>
            <a:prstGeom prst="rect">
              <a:avLst/>
            </a:prstGeom>
            <a:solidFill>
              <a:srgbClr val="B2B2B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r>
                <a:rPr lang="en-US" altLang="ko-KR" sz="900" b="1" dirty="0">
                  <a:latin typeface="맑은 고딕" panose="020B0503020000020004" pitchFamily="50" charset="-127"/>
                  <a:ea typeface="맑은 고딕" panose="020B0503020000020004" pitchFamily="50" charset="-127"/>
                </a:rPr>
                <a:t>Accumulated</a:t>
              </a:r>
            </a:p>
            <a:p>
              <a:pPr algn="ctr" eaLnBrk="1" hangingPunct="1"/>
              <a:r>
                <a:rPr lang="en-US" altLang="ko-KR" sz="900" b="1" dirty="0">
                  <a:latin typeface="맑은 고딕" panose="020B0503020000020004" pitchFamily="50" charset="-127"/>
                  <a:ea typeface="맑은 고딕" panose="020B0503020000020004" pitchFamily="50" charset="-127"/>
                </a:rPr>
                <a:t>Count</a:t>
              </a:r>
              <a:endParaRPr lang="ko-KR" altLang="en-US" sz="900" b="1" dirty="0">
                <a:latin typeface="맑은 고딕" panose="020B0503020000020004" pitchFamily="50" charset="-127"/>
                <a:ea typeface="맑은 고딕" panose="020B0503020000020004" pitchFamily="50" charset="-127"/>
              </a:endParaRPr>
            </a:p>
          </p:txBody>
        </p:sp>
        <p:sp>
          <p:nvSpPr>
            <p:cNvPr id="17" name="Rectangle 28"/>
            <p:cNvSpPr>
              <a:spLocks noChangeArrowheads="1"/>
            </p:cNvSpPr>
            <p:nvPr/>
          </p:nvSpPr>
          <p:spPr bwMode="auto">
            <a:xfrm>
              <a:off x="1934" y="1699"/>
              <a:ext cx="399" cy="203"/>
            </a:xfrm>
            <a:prstGeom prst="rect">
              <a:avLst/>
            </a:prstGeom>
            <a:solidFill>
              <a:srgbClr val="B2B2B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r>
                <a:rPr lang="en-US" altLang="ko-KR" sz="900" b="1" dirty="0">
                  <a:latin typeface="맑은 고딕" panose="020B0503020000020004" pitchFamily="50" charset="-127"/>
                  <a:ea typeface="맑은 고딕" panose="020B0503020000020004" pitchFamily="50" charset="-127"/>
                </a:rPr>
                <a:t>Accumulated</a:t>
              </a:r>
            </a:p>
            <a:p>
              <a:pPr algn="ctr" eaLnBrk="1" hangingPunct="1"/>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a:t>
              </a:r>
            </a:p>
          </p:txBody>
        </p:sp>
      </p:grpSp>
      <p:grpSp>
        <p:nvGrpSpPr>
          <p:cNvPr id="4" name="Group 29"/>
          <p:cNvGrpSpPr>
            <a:grpSpLocks/>
          </p:cNvGrpSpPr>
          <p:nvPr/>
        </p:nvGrpSpPr>
        <p:grpSpPr bwMode="auto">
          <a:xfrm>
            <a:off x="3766625" y="4221088"/>
            <a:ext cx="2589213" cy="1479550"/>
            <a:chOff x="2504" y="1668"/>
            <a:chExt cx="1631" cy="932"/>
          </a:xfrm>
        </p:grpSpPr>
        <p:sp>
          <p:nvSpPr>
            <p:cNvPr id="19" name="Freeform 30"/>
            <p:cNvSpPr>
              <a:spLocks/>
            </p:cNvSpPr>
            <p:nvPr/>
          </p:nvSpPr>
          <p:spPr bwMode="auto">
            <a:xfrm>
              <a:off x="2744" y="1668"/>
              <a:ext cx="1338" cy="756"/>
            </a:xfrm>
            <a:custGeom>
              <a:avLst/>
              <a:gdLst>
                <a:gd name="T0" fmla="*/ 0 w 1722"/>
                <a:gd name="T1" fmla="*/ 0 h 756"/>
                <a:gd name="T2" fmla="*/ 0 w 1722"/>
                <a:gd name="T3" fmla="*/ 756 h 756"/>
                <a:gd name="T4" fmla="*/ 1338 w 1722"/>
                <a:gd name="T5" fmla="*/ 756 h 756"/>
                <a:gd name="T6" fmla="*/ 0 60000 65536"/>
                <a:gd name="T7" fmla="*/ 0 60000 65536"/>
                <a:gd name="T8" fmla="*/ 0 60000 65536"/>
              </a:gdLst>
              <a:ahLst/>
              <a:cxnLst>
                <a:cxn ang="T6">
                  <a:pos x="T0" y="T1"/>
                </a:cxn>
                <a:cxn ang="T7">
                  <a:pos x="T2" y="T3"/>
                </a:cxn>
                <a:cxn ang="T8">
                  <a:pos x="T4" y="T5"/>
                </a:cxn>
              </a:cxnLst>
              <a:rect l="0" t="0" r="r" b="b"/>
              <a:pathLst>
                <a:path w="1722" h="756">
                  <a:moveTo>
                    <a:pt x="0" y="0"/>
                  </a:moveTo>
                  <a:lnTo>
                    <a:pt x="0" y="756"/>
                  </a:lnTo>
                  <a:lnTo>
                    <a:pt x="1722" y="756"/>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0" name="Rectangle 31"/>
            <p:cNvSpPr>
              <a:spLocks noChangeArrowheads="1"/>
            </p:cNvSpPr>
            <p:nvPr/>
          </p:nvSpPr>
          <p:spPr bwMode="auto">
            <a:xfrm>
              <a:off x="2504" y="1672"/>
              <a:ext cx="204" cy="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r" eaLnBrk="1" hangingPunct="1"/>
              <a:r>
                <a:rPr lang="en-US" altLang="ko-KR" sz="1100" dirty="0"/>
                <a:t>20</a:t>
              </a:r>
            </a:p>
            <a:p>
              <a:pPr algn="r" eaLnBrk="1" hangingPunct="1"/>
              <a:endParaRPr lang="en-US" altLang="ko-KR" sz="1100" dirty="0"/>
            </a:p>
            <a:p>
              <a:pPr algn="r" eaLnBrk="1" hangingPunct="1"/>
              <a:endParaRPr lang="en-US" altLang="ko-KR" sz="1100" dirty="0"/>
            </a:p>
            <a:p>
              <a:pPr algn="r" eaLnBrk="1" hangingPunct="1"/>
              <a:r>
                <a:rPr lang="en-US" altLang="ko-KR" sz="1100" dirty="0"/>
                <a:t>10</a:t>
              </a:r>
            </a:p>
            <a:p>
              <a:pPr algn="r" eaLnBrk="1" hangingPunct="1"/>
              <a:endParaRPr lang="en-US" altLang="ko-KR" sz="1100" dirty="0"/>
            </a:p>
            <a:p>
              <a:pPr algn="r" eaLnBrk="1" hangingPunct="1"/>
              <a:endParaRPr lang="en-US" altLang="ko-KR" sz="1100" dirty="0"/>
            </a:p>
            <a:p>
              <a:pPr algn="r" eaLnBrk="1" hangingPunct="1"/>
              <a:r>
                <a:rPr lang="en-US" altLang="ko-KR" sz="1100" dirty="0"/>
                <a:t>0</a:t>
              </a:r>
            </a:p>
          </p:txBody>
        </p:sp>
        <p:sp>
          <p:nvSpPr>
            <p:cNvPr id="21" name="Line 32"/>
            <p:cNvSpPr>
              <a:spLocks noChangeShapeType="1"/>
            </p:cNvSpPr>
            <p:nvPr/>
          </p:nvSpPr>
          <p:spPr bwMode="auto">
            <a:xfrm>
              <a:off x="2698" y="1760"/>
              <a:ext cx="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2" name="Line 33"/>
            <p:cNvSpPr>
              <a:spLocks noChangeShapeType="1"/>
            </p:cNvSpPr>
            <p:nvPr/>
          </p:nvSpPr>
          <p:spPr bwMode="auto">
            <a:xfrm>
              <a:off x="2698" y="2077"/>
              <a:ext cx="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3" name="Line 34"/>
            <p:cNvSpPr>
              <a:spLocks noChangeShapeType="1"/>
            </p:cNvSpPr>
            <p:nvPr/>
          </p:nvSpPr>
          <p:spPr bwMode="auto">
            <a:xfrm>
              <a:off x="2698" y="1918"/>
              <a:ext cx="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4" name="Line 35"/>
            <p:cNvSpPr>
              <a:spLocks noChangeShapeType="1"/>
            </p:cNvSpPr>
            <p:nvPr/>
          </p:nvSpPr>
          <p:spPr bwMode="auto">
            <a:xfrm>
              <a:off x="2698" y="2236"/>
              <a:ext cx="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5" name="Rectangle 36"/>
            <p:cNvSpPr>
              <a:spLocks noChangeArrowheads="1"/>
            </p:cNvSpPr>
            <p:nvPr/>
          </p:nvSpPr>
          <p:spPr bwMode="auto">
            <a:xfrm>
              <a:off x="2787" y="2436"/>
              <a:ext cx="1348" cy="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100" dirty="0"/>
                <a:t>A    B    C    D    E   </a:t>
              </a:r>
              <a:r>
                <a:rPr lang="ko-KR" altLang="en-US" sz="1100" dirty="0"/>
                <a:t>기타</a:t>
              </a:r>
            </a:p>
          </p:txBody>
        </p:sp>
        <p:sp>
          <p:nvSpPr>
            <p:cNvPr id="26" name="Rectangle 37"/>
            <p:cNvSpPr>
              <a:spLocks noChangeArrowheads="1"/>
            </p:cNvSpPr>
            <p:nvPr/>
          </p:nvSpPr>
          <p:spPr bwMode="auto">
            <a:xfrm>
              <a:off x="3639" y="2355"/>
              <a:ext cx="228" cy="69"/>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27" name="Rectangle 38"/>
            <p:cNvSpPr>
              <a:spLocks noChangeArrowheads="1"/>
            </p:cNvSpPr>
            <p:nvPr/>
          </p:nvSpPr>
          <p:spPr bwMode="auto">
            <a:xfrm>
              <a:off x="3418" y="2316"/>
              <a:ext cx="227" cy="108"/>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28" name="Rectangle 39"/>
            <p:cNvSpPr>
              <a:spLocks noChangeArrowheads="1"/>
            </p:cNvSpPr>
            <p:nvPr/>
          </p:nvSpPr>
          <p:spPr bwMode="auto">
            <a:xfrm>
              <a:off x="3196" y="2244"/>
              <a:ext cx="227" cy="180"/>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29" name="Rectangle 40"/>
            <p:cNvSpPr>
              <a:spLocks noChangeArrowheads="1"/>
            </p:cNvSpPr>
            <p:nvPr/>
          </p:nvSpPr>
          <p:spPr bwMode="auto">
            <a:xfrm>
              <a:off x="2969" y="2073"/>
              <a:ext cx="227" cy="351"/>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30" name="Rectangle 41"/>
            <p:cNvSpPr>
              <a:spLocks noChangeArrowheads="1"/>
            </p:cNvSpPr>
            <p:nvPr/>
          </p:nvSpPr>
          <p:spPr bwMode="auto">
            <a:xfrm>
              <a:off x="3867" y="2112"/>
              <a:ext cx="227" cy="312"/>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31" name="Rectangle 42"/>
            <p:cNvSpPr>
              <a:spLocks noChangeArrowheads="1"/>
            </p:cNvSpPr>
            <p:nvPr/>
          </p:nvSpPr>
          <p:spPr bwMode="auto">
            <a:xfrm>
              <a:off x="2744" y="1761"/>
              <a:ext cx="227" cy="663"/>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grpSp>
      <p:grpSp>
        <p:nvGrpSpPr>
          <p:cNvPr id="5" name="그룹 1"/>
          <p:cNvGrpSpPr/>
          <p:nvPr/>
        </p:nvGrpSpPr>
        <p:grpSpPr>
          <a:xfrm>
            <a:off x="6563800" y="3864694"/>
            <a:ext cx="2946400" cy="2192338"/>
            <a:chOff x="6584950" y="3013075"/>
            <a:chExt cx="2946400" cy="2192338"/>
          </a:xfrm>
        </p:grpSpPr>
        <p:sp>
          <p:nvSpPr>
            <p:cNvPr id="32" name="Rectangle 43"/>
            <p:cNvSpPr>
              <a:spLocks noChangeArrowheads="1"/>
            </p:cNvSpPr>
            <p:nvPr/>
          </p:nvSpPr>
          <p:spPr bwMode="auto">
            <a:xfrm>
              <a:off x="8386763" y="4802188"/>
              <a:ext cx="361950" cy="71437"/>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33" name="Rectangle 44"/>
            <p:cNvSpPr>
              <a:spLocks noChangeArrowheads="1"/>
            </p:cNvSpPr>
            <p:nvPr/>
          </p:nvSpPr>
          <p:spPr bwMode="auto">
            <a:xfrm>
              <a:off x="8035925" y="4749800"/>
              <a:ext cx="360363" cy="123825"/>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34" name="Rectangle 45"/>
            <p:cNvSpPr>
              <a:spLocks noChangeArrowheads="1"/>
            </p:cNvSpPr>
            <p:nvPr/>
          </p:nvSpPr>
          <p:spPr bwMode="auto">
            <a:xfrm>
              <a:off x="7673975" y="4678363"/>
              <a:ext cx="369888" cy="195262"/>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35" name="Rectangle 46"/>
            <p:cNvSpPr>
              <a:spLocks noChangeArrowheads="1"/>
            </p:cNvSpPr>
            <p:nvPr/>
          </p:nvSpPr>
          <p:spPr bwMode="auto">
            <a:xfrm>
              <a:off x="7323138" y="4506913"/>
              <a:ext cx="360362" cy="366712"/>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36" name="Rectangle 47"/>
            <p:cNvSpPr>
              <a:spLocks noChangeArrowheads="1"/>
            </p:cNvSpPr>
            <p:nvPr/>
          </p:nvSpPr>
          <p:spPr bwMode="auto">
            <a:xfrm>
              <a:off x="8748713" y="4573588"/>
              <a:ext cx="360362" cy="300037"/>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37" name="Freeform 48"/>
            <p:cNvSpPr>
              <a:spLocks/>
            </p:cNvSpPr>
            <p:nvPr/>
          </p:nvSpPr>
          <p:spPr bwMode="auto">
            <a:xfrm>
              <a:off x="6965950" y="3159125"/>
              <a:ext cx="2219325" cy="1714500"/>
            </a:xfrm>
            <a:custGeom>
              <a:avLst/>
              <a:gdLst>
                <a:gd name="T0" fmla="*/ 0 w 1722"/>
                <a:gd name="T1" fmla="*/ 0 h 756"/>
                <a:gd name="T2" fmla="*/ 0 w 1722"/>
                <a:gd name="T3" fmla="*/ 1714500 h 756"/>
                <a:gd name="T4" fmla="*/ 2219325 w 1722"/>
                <a:gd name="T5" fmla="*/ 1714500 h 756"/>
                <a:gd name="T6" fmla="*/ 0 60000 65536"/>
                <a:gd name="T7" fmla="*/ 0 60000 65536"/>
                <a:gd name="T8" fmla="*/ 0 60000 65536"/>
              </a:gdLst>
              <a:ahLst/>
              <a:cxnLst>
                <a:cxn ang="T6">
                  <a:pos x="T0" y="T1"/>
                </a:cxn>
                <a:cxn ang="T7">
                  <a:pos x="T2" y="T3"/>
                </a:cxn>
                <a:cxn ang="T8">
                  <a:pos x="T4" y="T5"/>
                </a:cxn>
              </a:cxnLst>
              <a:rect l="0" t="0" r="r" b="b"/>
              <a:pathLst>
                <a:path w="1722" h="756">
                  <a:moveTo>
                    <a:pt x="0" y="0"/>
                  </a:moveTo>
                  <a:lnTo>
                    <a:pt x="0" y="756"/>
                  </a:lnTo>
                  <a:lnTo>
                    <a:pt x="1722" y="756"/>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38" name="Rectangle 49"/>
            <p:cNvSpPr>
              <a:spLocks noChangeArrowheads="1"/>
            </p:cNvSpPr>
            <p:nvPr/>
          </p:nvSpPr>
          <p:spPr bwMode="auto">
            <a:xfrm>
              <a:off x="6584950" y="3027363"/>
              <a:ext cx="323850" cy="1943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r" eaLnBrk="1" hangingPunct="1"/>
              <a:r>
                <a:rPr lang="en-US" altLang="ko-KR" sz="1100" dirty="0"/>
                <a:t>50</a:t>
              </a:r>
            </a:p>
            <a:p>
              <a:pPr algn="r" eaLnBrk="1" hangingPunct="1"/>
              <a:endParaRPr lang="en-US" altLang="ko-KR" sz="1100" dirty="0"/>
            </a:p>
            <a:p>
              <a:pPr algn="r" eaLnBrk="1" hangingPunct="1"/>
              <a:r>
                <a:rPr lang="en-US" altLang="ko-KR" sz="1100" dirty="0"/>
                <a:t>40</a:t>
              </a:r>
            </a:p>
            <a:p>
              <a:pPr algn="r" eaLnBrk="1" hangingPunct="1"/>
              <a:endParaRPr lang="en-US" altLang="ko-KR" sz="1100" dirty="0"/>
            </a:p>
            <a:p>
              <a:pPr algn="r" eaLnBrk="1" hangingPunct="1"/>
              <a:r>
                <a:rPr lang="en-US" altLang="ko-KR" sz="1100" dirty="0"/>
                <a:t>30</a:t>
              </a:r>
            </a:p>
            <a:p>
              <a:pPr algn="r" eaLnBrk="1" hangingPunct="1"/>
              <a:endParaRPr lang="en-US" altLang="ko-KR" sz="1100" dirty="0"/>
            </a:p>
            <a:p>
              <a:pPr algn="r" eaLnBrk="1" hangingPunct="1"/>
              <a:r>
                <a:rPr lang="en-US" altLang="ko-KR" sz="1100" dirty="0"/>
                <a:t>20</a:t>
              </a:r>
            </a:p>
            <a:p>
              <a:pPr algn="r" eaLnBrk="1" hangingPunct="1"/>
              <a:endParaRPr lang="en-US" altLang="ko-KR" sz="1100" dirty="0"/>
            </a:p>
            <a:p>
              <a:pPr algn="r" eaLnBrk="1" hangingPunct="1"/>
              <a:r>
                <a:rPr lang="en-US" altLang="ko-KR" sz="1100" dirty="0"/>
                <a:t>10</a:t>
              </a:r>
            </a:p>
            <a:p>
              <a:pPr algn="r" eaLnBrk="1" hangingPunct="1"/>
              <a:endParaRPr lang="en-US" altLang="ko-KR" sz="1100" dirty="0"/>
            </a:p>
            <a:p>
              <a:pPr algn="r" eaLnBrk="1" hangingPunct="1"/>
              <a:r>
                <a:rPr lang="en-US" altLang="ko-KR" sz="1100" dirty="0"/>
                <a:t>0</a:t>
              </a:r>
            </a:p>
          </p:txBody>
        </p:sp>
        <p:sp>
          <p:nvSpPr>
            <p:cNvPr id="39" name="Line 50"/>
            <p:cNvSpPr>
              <a:spLocks noChangeShapeType="1"/>
            </p:cNvSpPr>
            <p:nvPr/>
          </p:nvSpPr>
          <p:spPr bwMode="auto">
            <a:xfrm>
              <a:off x="6892925" y="3159125"/>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40" name="Line 51"/>
            <p:cNvSpPr>
              <a:spLocks noChangeShapeType="1"/>
            </p:cNvSpPr>
            <p:nvPr/>
          </p:nvSpPr>
          <p:spPr bwMode="auto">
            <a:xfrm>
              <a:off x="6892925" y="3498850"/>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41" name="Line 52"/>
            <p:cNvSpPr>
              <a:spLocks noChangeShapeType="1"/>
            </p:cNvSpPr>
            <p:nvPr/>
          </p:nvSpPr>
          <p:spPr bwMode="auto">
            <a:xfrm>
              <a:off x="6892925" y="3327400"/>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42" name="Line 53"/>
            <p:cNvSpPr>
              <a:spLocks noChangeShapeType="1"/>
            </p:cNvSpPr>
            <p:nvPr/>
          </p:nvSpPr>
          <p:spPr bwMode="auto">
            <a:xfrm>
              <a:off x="6892925" y="3668713"/>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43" name="Rectangle 54"/>
            <p:cNvSpPr>
              <a:spLocks noChangeArrowheads="1"/>
            </p:cNvSpPr>
            <p:nvPr/>
          </p:nvSpPr>
          <p:spPr bwMode="auto">
            <a:xfrm>
              <a:off x="7034213" y="4945063"/>
              <a:ext cx="2000250"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100" dirty="0"/>
                <a:t>A    B    C    D    E    F</a:t>
              </a:r>
            </a:p>
          </p:txBody>
        </p:sp>
        <p:sp>
          <p:nvSpPr>
            <p:cNvPr id="44" name="Rectangle 55"/>
            <p:cNvSpPr>
              <a:spLocks noChangeArrowheads="1"/>
            </p:cNvSpPr>
            <p:nvPr/>
          </p:nvSpPr>
          <p:spPr bwMode="auto">
            <a:xfrm>
              <a:off x="6965950" y="4178300"/>
              <a:ext cx="360363" cy="695325"/>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dirty="0"/>
            </a:p>
          </p:txBody>
        </p:sp>
        <p:sp>
          <p:nvSpPr>
            <p:cNvPr id="45" name="Line 56"/>
            <p:cNvSpPr>
              <a:spLocks noChangeShapeType="1"/>
            </p:cNvSpPr>
            <p:nvPr/>
          </p:nvSpPr>
          <p:spPr bwMode="auto">
            <a:xfrm>
              <a:off x="6892925" y="3840163"/>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46" name="Line 57"/>
            <p:cNvSpPr>
              <a:spLocks noChangeShapeType="1"/>
            </p:cNvSpPr>
            <p:nvPr/>
          </p:nvSpPr>
          <p:spPr bwMode="auto">
            <a:xfrm>
              <a:off x="6892925" y="4010025"/>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47" name="Line 58"/>
            <p:cNvSpPr>
              <a:spLocks noChangeShapeType="1"/>
            </p:cNvSpPr>
            <p:nvPr/>
          </p:nvSpPr>
          <p:spPr bwMode="auto">
            <a:xfrm>
              <a:off x="6892925" y="4181475"/>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48" name="Line 59"/>
            <p:cNvSpPr>
              <a:spLocks noChangeShapeType="1"/>
            </p:cNvSpPr>
            <p:nvPr/>
          </p:nvSpPr>
          <p:spPr bwMode="auto">
            <a:xfrm>
              <a:off x="6892925" y="4351338"/>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49" name="Line 60"/>
            <p:cNvSpPr>
              <a:spLocks noChangeShapeType="1"/>
            </p:cNvSpPr>
            <p:nvPr/>
          </p:nvSpPr>
          <p:spPr bwMode="auto">
            <a:xfrm>
              <a:off x="6892925" y="4522788"/>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50" name="Line 61"/>
            <p:cNvSpPr>
              <a:spLocks noChangeShapeType="1"/>
            </p:cNvSpPr>
            <p:nvPr/>
          </p:nvSpPr>
          <p:spPr bwMode="auto">
            <a:xfrm>
              <a:off x="6892925" y="4694238"/>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51" name="Line 62"/>
            <p:cNvSpPr>
              <a:spLocks noChangeShapeType="1"/>
            </p:cNvSpPr>
            <p:nvPr/>
          </p:nvSpPr>
          <p:spPr bwMode="auto">
            <a:xfrm flipV="1">
              <a:off x="9109075" y="3149600"/>
              <a:ext cx="0" cy="1714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52" name="Rectangle 63"/>
            <p:cNvSpPr>
              <a:spLocks noChangeArrowheads="1"/>
            </p:cNvSpPr>
            <p:nvPr/>
          </p:nvSpPr>
          <p:spPr bwMode="auto">
            <a:xfrm>
              <a:off x="9137650" y="3013075"/>
              <a:ext cx="393700" cy="1949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lnSpc>
                  <a:spcPct val="110000"/>
                </a:lnSpc>
              </a:pPr>
              <a:r>
                <a:rPr lang="en-US" altLang="ko-KR" sz="1100" dirty="0"/>
                <a:t>100</a:t>
              </a:r>
            </a:p>
            <a:p>
              <a:pPr eaLnBrk="1" hangingPunct="1">
                <a:lnSpc>
                  <a:spcPct val="110000"/>
                </a:lnSpc>
              </a:pPr>
              <a:endParaRPr lang="en-US" altLang="ko-KR" sz="1100" dirty="0"/>
            </a:p>
            <a:p>
              <a:pPr eaLnBrk="1" hangingPunct="1">
                <a:lnSpc>
                  <a:spcPct val="110000"/>
                </a:lnSpc>
              </a:pPr>
              <a:endParaRPr lang="en-US" altLang="ko-KR" sz="1100" dirty="0"/>
            </a:p>
            <a:p>
              <a:pPr eaLnBrk="1" hangingPunct="1">
                <a:lnSpc>
                  <a:spcPct val="110000"/>
                </a:lnSpc>
              </a:pPr>
              <a:endParaRPr lang="en-US" altLang="ko-KR" sz="1100" dirty="0"/>
            </a:p>
            <a:p>
              <a:pPr eaLnBrk="1" hangingPunct="1">
                <a:lnSpc>
                  <a:spcPct val="110000"/>
                </a:lnSpc>
              </a:pPr>
              <a:r>
                <a:rPr lang="en-US" altLang="ko-KR" sz="1100" dirty="0"/>
                <a:t>50</a:t>
              </a:r>
            </a:p>
            <a:p>
              <a:pPr eaLnBrk="1" hangingPunct="1">
                <a:lnSpc>
                  <a:spcPct val="110000"/>
                </a:lnSpc>
              </a:pPr>
              <a:endParaRPr lang="en-US" altLang="ko-KR" sz="1100" dirty="0"/>
            </a:p>
            <a:p>
              <a:pPr eaLnBrk="1" hangingPunct="1">
                <a:lnSpc>
                  <a:spcPct val="110000"/>
                </a:lnSpc>
              </a:pPr>
              <a:endParaRPr lang="en-US" altLang="ko-KR" sz="1100" dirty="0"/>
            </a:p>
            <a:p>
              <a:pPr eaLnBrk="1" hangingPunct="1">
                <a:lnSpc>
                  <a:spcPct val="110000"/>
                </a:lnSpc>
              </a:pPr>
              <a:endParaRPr lang="en-US" altLang="ko-KR" sz="1100" dirty="0"/>
            </a:p>
            <a:p>
              <a:pPr eaLnBrk="1" hangingPunct="1">
                <a:lnSpc>
                  <a:spcPct val="110000"/>
                </a:lnSpc>
              </a:pPr>
              <a:endParaRPr lang="en-US" altLang="ko-KR" sz="1100" dirty="0"/>
            </a:p>
            <a:p>
              <a:pPr eaLnBrk="1" hangingPunct="1">
                <a:lnSpc>
                  <a:spcPct val="110000"/>
                </a:lnSpc>
              </a:pPr>
              <a:r>
                <a:rPr lang="en-US" altLang="ko-KR" sz="1100" dirty="0"/>
                <a:t>0</a:t>
              </a:r>
            </a:p>
          </p:txBody>
        </p:sp>
        <p:sp>
          <p:nvSpPr>
            <p:cNvPr id="53" name="Freeform 64"/>
            <p:cNvSpPr>
              <a:spLocks/>
            </p:cNvSpPr>
            <p:nvPr/>
          </p:nvSpPr>
          <p:spPr bwMode="auto">
            <a:xfrm>
              <a:off x="6962775" y="3154363"/>
              <a:ext cx="2128838" cy="1719262"/>
            </a:xfrm>
            <a:custGeom>
              <a:avLst/>
              <a:gdLst>
                <a:gd name="T0" fmla="*/ 0 w 1341"/>
                <a:gd name="T1" fmla="*/ 1719262 h 1083"/>
                <a:gd name="T2" fmla="*/ 357188 w 1341"/>
                <a:gd name="T3" fmla="*/ 1014412 h 1083"/>
                <a:gd name="T4" fmla="*/ 719138 w 1341"/>
                <a:gd name="T5" fmla="*/ 685800 h 1083"/>
                <a:gd name="T6" fmla="*/ 1076325 w 1341"/>
                <a:gd name="T7" fmla="*/ 357187 h 1083"/>
                <a:gd name="T8" fmla="*/ 1428750 w 1341"/>
                <a:gd name="T9" fmla="*/ 209550 h 1083"/>
                <a:gd name="T10" fmla="*/ 1781175 w 1341"/>
                <a:gd name="T11" fmla="*/ 157162 h 1083"/>
                <a:gd name="T12" fmla="*/ 2128838 w 1341"/>
                <a:gd name="T13" fmla="*/ 0 h 108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41" h="1083">
                  <a:moveTo>
                    <a:pt x="0" y="1083"/>
                  </a:moveTo>
                  <a:lnTo>
                    <a:pt x="225" y="639"/>
                  </a:lnTo>
                  <a:lnTo>
                    <a:pt x="453" y="432"/>
                  </a:lnTo>
                  <a:lnTo>
                    <a:pt x="678" y="225"/>
                  </a:lnTo>
                  <a:lnTo>
                    <a:pt x="900" y="132"/>
                  </a:lnTo>
                  <a:lnTo>
                    <a:pt x="1122" y="99"/>
                  </a:lnTo>
                  <a:lnTo>
                    <a:pt x="1341"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54" name="Line 65"/>
            <p:cNvSpPr>
              <a:spLocks noChangeShapeType="1"/>
            </p:cNvSpPr>
            <p:nvPr/>
          </p:nvSpPr>
          <p:spPr bwMode="auto">
            <a:xfrm>
              <a:off x="9109075" y="3925888"/>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55" name="Line 66"/>
            <p:cNvSpPr>
              <a:spLocks noChangeShapeType="1"/>
            </p:cNvSpPr>
            <p:nvPr/>
          </p:nvSpPr>
          <p:spPr bwMode="auto">
            <a:xfrm>
              <a:off x="9109075" y="3149600"/>
              <a:ext cx="698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56" name="Oval 67"/>
            <p:cNvSpPr>
              <a:spLocks noChangeArrowheads="1"/>
            </p:cNvSpPr>
            <p:nvPr/>
          </p:nvSpPr>
          <p:spPr bwMode="auto">
            <a:xfrm>
              <a:off x="7296150" y="4130675"/>
              <a:ext cx="69850" cy="69850"/>
            </a:xfrm>
            <a:prstGeom prst="ellipse">
              <a:avLst/>
            </a:prstGeom>
            <a:gradFill rotWithShape="1">
              <a:gsLst>
                <a:gs pos="0">
                  <a:srgbClr val="B2B2B2"/>
                </a:gs>
                <a:gs pos="100000">
                  <a:schemeClr val="tx1"/>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dirty="0"/>
            </a:p>
          </p:txBody>
        </p:sp>
        <p:sp>
          <p:nvSpPr>
            <p:cNvPr id="57" name="Oval 68"/>
            <p:cNvSpPr>
              <a:spLocks noChangeArrowheads="1"/>
            </p:cNvSpPr>
            <p:nvPr/>
          </p:nvSpPr>
          <p:spPr bwMode="auto">
            <a:xfrm>
              <a:off x="7651750" y="3802063"/>
              <a:ext cx="69850" cy="69850"/>
            </a:xfrm>
            <a:prstGeom prst="ellipse">
              <a:avLst/>
            </a:prstGeom>
            <a:gradFill rotWithShape="1">
              <a:gsLst>
                <a:gs pos="0">
                  <a:srgbClr val="B2B2B2"/>
                </a:gs>
                <a:gs pos="100000">
                  <a:schemeClr val="tx1"/>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dirty="0"/>
            </a:p>
          </p:txBody>
        </p:sp>
        <p:sp>
          <p:nvSpPr>
            <p:cNvPr id="58" name="Oval 69"/>
            <p:cNvSpPr>
              <a:spLocks noChangeArrowheads="1"/>
            </p:cNvSpPr>
            <p:nvPr/>
          </p:nvSpPr>
          <p:spPr bwMode="auto">
            <a:xfrm>
              <a:off x="8013700" y="3468688"/>
              <a:ext cx="69850" cy="69850"/>
            </a:xfrm>
            <a:prstGeom prst="ellipse">
              <a:avLst/>
            </a:prstGeom>
            <a:gradFill rotWithShape="1">
              <a:gsLst>
                <a:gs pos="0">
                  <a:srgbClr val="B2B2B2"/>
                </a:gs>
                <a:gs pos="100000">
                  <a:schemeClr val="tx1"/>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dirty="0"/>
            </a:p>
          </p:txBody>
        </p:sp>
        <p:sp>
          <p:nvSpPr>
            <p:cNvPr id="59" name="Oval 70"/>
            <p:cNvSpPr>
              <a:spLocks noChangeArrowheads="1"/>
            </p:cNvSpPr>
            <p:nvPr/>
          </p:nvSpPr>
          <p:spPr bwMode="auto">
            <a:xfrm>
              <a:off x="8361363" y="3330575"/>
              <a:ext cx="69850" cy="69850"/>
            </a:xfrm>
            <a:prstGeom prst="ellipse">
              <a:avLst/>
            </a:prstGeom>
            <a:gradFill rotWithShape="1">
              <a:gsLst>
                <a:gs pos="0">
                  <a:srgbClr val="B2B2B2"/>
                </a:gs>
                <a:gs pos="100000">
                  <a:schemeClr val="tx1"/>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dirty="0"/>
            </a:p>
          </p:txBody>
        </p:sp>
        <p:sp>
          <p:nvSpPr>
            <p:cNvPr id="60" name="Oval 71"/>
            <p:cNvSpPr>
              <a:spLocks noChangeArrowheads="1"/>
            </p:cNvSpPr>
            <p:nvPr/>
          </p:nvSpPr>
          <p:spPr bwMode="auto">
            <a:xfrm>
              <a:off x="8713788" y="3273425"/>
              <a:ext cx="69850" cy="69850"/>
            </a:xfrm>
            <a:prstGeom prst="ellipse">
              <a:avLst/>
            </a:prstGeom>
            <a:gradFill rotWithShape="1">
              <a:gsLst>
                <a:gs pos="0">
                  <a:srgbClr val="B2B2B2"/>
                </a:gs>
                <a:gs pos="100000">
                  <a:schemeClr val="tx1"/>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dirty="0"/>
            </a:p>
          </p:txBody>
        </p:sp>
        <p:sp>
          <p:nvSpPr>
            <p:cNvPr id="61" name="Oval 72"/>
            <p:cNvSpPr>
              <a:spLocks noChangeArrowheads="1"/>
            </p:cNvSpPr>
            <p:nvPr/>
          </p:nvSpPr>
          <p:spPr bwMode="auto">
            <a:xfrm>
              <a:off x="9061450" y="3121025"/>
              <a:ext cx="69850" cy="69850"/>
            </a:xfrm>
            <a:prstGeom prst="ellipse">
              <a:avLst/>
            </a:prstGeom>
            <a:gradFill rotWithShape="1">
              <a:gsLst>
                <a:gs pos="0">
                  <a:srgbClr val="B2B2B2"/>
                </a:gs>
                <a:gs pos="100000">
                  <a:schemeClr val="tx1"/>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dirty="0"/>
            </a:p>
          </p:txBody>
        </p:sp>
      </p:gr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pPr>
                <a:defRPr/>
              </a:pPr>
              <a:t>88</a:t>
            </a:fld>
            <a:endParaRPr lang="ko-KR" altLang="en-US" dirty="0"/>
          </a:p>
        </p:txBody>
      </p:sp>
      <p:sp>
        <p:nvSpPr>
          <p:cNvPr id="64"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65" name="Text Box 4"/>
          <p:cNvSpPr txBox="1">
            <a:spLocks noChangeArrowheads="1"/>
          </p:cNvSpPr>
          <p:nvPr/>
        </p:nvSpPr>
        <p:spPr bwMode="auto">
          <a:xfrm>
            <a:off x="5529263" y="354013"/>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79817920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99331"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
        <p:nvSpPr>
          <p:cNvPr id="99332" name="TextBox 13"/>
          <p:cNvSpPr txBox="1">
            <a:spLocks noChangeArrowheads="1"/>
          </p:cNvSpPr>
          <p:nvPr/>
        </p:nvSpPr>
        <p:spPr bwMode="auto">
          <a:xfrm>
            <a:off x="762000" y="5308600"/>
            <a:ext cx="8583488" cy="1052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30000"/>
              </a:lnSpc>
              <a:buClr>
                <a:srgbClr val="C5003D"/>
              </a:buClr>
            </a:pPr>
            <a:r>
              <a:rPr lang="en-US" altLang="ko-KR" sz="1600" b="1" dirty="0" err="1">
                <a:latin typeface="Arial" pitchFamily="34" charset="0"/>
                <a:ea typeface="맑은 고딕" pitchFamily="50" charset="-127"/>
                <a:cs typeface="Arial" pitchFamily="34" charset="0"/>
              </a:rPr>
              <a:t>Trong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số</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lỗi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chức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năng</a:t>
            </a:r>
            <a:r>
              <a:rPr lang="en-US" altLang="ko-KR" sz="1600" b="1" dirty="0">
                <a:latin typeface="Arial" pitchFamily="34" charset="0"/>
                <a:ea typeface="맑은 고딕" pitchFamily="50" charset="-127"/>
                <a:cs typeface="Arial" pitchFamily="34" charset="0"/>
              </a:rPr>
              <a:t> radio </a:t>
            </a:r>
            <a:r>
              <a:rPr lang="en-US" altLang="ko-KR" sz="1600" b="1" dirty="0" err="1">
                <a:latin typeface="Arial" pitchFamily="34" charset="0"/>
                <a:ea typeface="맑은 고딕" pitchFamily="50" charset="-127"/>
                <a:cs typeface="Arial" pitchFamily="34" charset="0"/>
              </a:rPr>
              <a:t>ảnh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hưởng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đến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hoạt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động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của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điện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thoại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Lỗi</a:t>
            </a:r>
            <a:r>
              <a:rPr lang="en-US" altLang="ko-KR" sz="1600" b="1" dirty="0">
                <a:latin typeface="Arial" pitchFamily="34" charset="0"/>
                <a:ea typeface="맑은 고딕" pitchFamily="50" charset="-127"/>
                <a:cs typeface="Arial" pitchFamily="34" charset="0"/>
              </a:rPr>
              <a:t> ‘Call reception/transmission is poor or malfunctioning’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‘Received/sent calls are dropped’ </a:t>
            </a:r>
            <a:r>
              <a:rPr lang="en-US" altLang="ko-KR" sz="1600" b="1" dirty="0" err="1">
                <a:latin typeface="Arial" pitchFamily="34" charset="0"/>
                <a:ea typeface="맑은 고딕" pitchFamily="50" charset="-127"/>
                <a:cs typeface="Arial" pitchFamily="34" charset="0"/>
              </a:rPr>
              <a:t>xuất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hiện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tới</a:t>
            </a:r>
            <a:r>
              <a:rPr lang="en-US" altLang="ko-KR" sz="1600" b="1" dirty="0">
                <a:latin typeface="Arial" pitchFamily="34" charset="0"/>
                <a:ea typeface="맑은 고딕" pitchFamily="50" charset="-127"/>
                <a:cs typeface="Arial" pitchFamily="34" charset="0"/>
              </a:rPr>
              <a:t> 75%. </a:t>
            </a:r>
            <a:r>
              <a:rPr lang="en-US" altLang="ko-KR" sz="1600" b="1" dirty="0" err="1">
                <a:latin typeface="Arial" pitchFamily="34" charset="0"/>
                <a:ea typeface="맑은 고딕" pitchFamily="50" charset="-127"/>
                <a:cs typeface="Arial" pitchFamily="34" charset="0"/>
              </a:rPr>
              <a:t>Điều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này</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đã</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nhận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cần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thiện</a:t>
            </a:r>
            <a:r>
              <a:rPr lang="en-US" altLang="ko-KR" sz="1600" b="1" dirty="0">
                <a:latin typeface="Arial" pitchFamily="34" charset="0"/>
                <a:ea typeface="맑은 고딕" pitchFamily="50" charset="-127"/>
                <a:cs typeface="Arial" pitchFamily="34" charset="0"/>
              </a:rPr>
              <a:t>.</a:t>
            </a:r>
          </a:p>
        </p:txBody>
      </p:sp>
      <p:graphicFrame>
        <p:nvGraphicFramePr>
          <p:cNvPr id="5" name="표 4"/>
          <p:cNvGraphicFramePr>
            <a:graphicFrameLocks noGrp="1"/>
          </p:cNvGraphicFramePr>
          <p:nvPr>
            <p:extLst>
              <p:ext uri="{D42A27DB-BD31-4B8C-83A1-F6EECF244321}">
                <p14:modId xmlns:p14="http://schemas.microsoft.com/office/powerpoint/2010/main" val="641002388"/>
              </p:ext>
            </p:extLst>
          </p:nvPr>
        </p:nvGraphicFramePr>
        <p:xfrm>
          <a:off x="403225" y="1246188"/>
          <a:ext cx="2821583" cy="3629026"/>
        </p:xfrm>
        <a:graphic>
          <a:graphicData uri="http://schemas.openxmlformats.org/drawingml/2006/table">
            <a:tbl>
              <a:tblPr/>
              <a:tblGrid>
                <a:gridCol w="2101503">
                  <a:extLst>
                    <a:ext uri="{9D8B030D-6E8A-4147-A177-3AD203B41FA5}">
                      <a16:colId xmlns:a16="http://schemas.microsoft.com/office/drawing/2014/main" val="20000"/>
                    </a:ext>
                  </a:extLst>
                </a:gridCol>
                <a:gridCol w="720080">
                  <a:extLst>
                    <a:ext uri="{9D8B030D-6E8A-4147-A177-3AD203B41FA5}">
                      <a16:colId xmlns:a16="http://schemas.microsoft.com/office/drawing/2014/main" val="20001"/>
                    </a:ext>
                  </a:extLst>
                </a:gridCol>
              </a:tblGrid>
              <a:tr h="375981">
                <a:tc>
                  <a:txBody>
                    <a:bodyPr/>
                    <a:lstStyle/>
                    <a:p>
                      <a:pPr algn="ctr" fontAlgn="b"/>
                      <a:r>
                        <a:rPr lang="en-US" sz="1100" b="1" i="0" u="none" strike="noStrike" dirty="0">
                          <a:solidFill>
                            <a:srgbClr val="000000"/>
                          </a:solidFill>
                          <a:effectLst/>
                          <a:latin typeface="맑은 고딕" panose="020B0503020000020004" pitchFamily="50" charset="-127"/>
                          <a:ea typeface="맑은 고딕" panose="020B0503020000020004" pitchFamily="50" charset="-127"/>
                        </a:rPr>
                        <a:t>Symptoms</a:t>
                      </a:r>
                      <a:r>
                        <a:rPr lang="en-US" sz="1100" b="1" i="0" u="none" strike="noStrike" baseline="0" dirty="0">
                          <a:solidFill>
                            <a:srgbClr val="000000"/>
                          </a:solidFill>
                          <a:effectLst/>
                          <a:latin typeface="맑은 고딕" panose="020B0503020000020004" pitchFamily="50" charset="-127"/>
                          <a:ea typeface="맑은 고딕" panose="020B0503020000020004" pitchFamily="50" charset="-127"/>
                        </a:rPr>
                        <a:t> of radio defects</a:t>
                      </a:r>
                      <a:endParaRPr lang="ko-KR" altLang="en-US" sz="11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1100" b="1" i="0" u="none" strike="noStrike" dirty="0">
                          <a:solidFill>
                            <a:srgbClr val="000000"/>
                          </a:solidFill>
                          <a:effectLst/>
                          <a:latin typeface="맑은 고딕" panose="020B0503020000020004" pitchFamily="50" charset="-127"/>
                          <a:ea typeface="맑은 고딕" panose="020B0503020000020004" pitchFamily="50" charset="-127"/>
                        </a:rPr>
                        <a:t>Count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10000"/>
                  </a:ext>
                </a:extLst>
              </a:tr>
              <a:tr h="359633">
                <a:tc>
                  <a:txBody>
                    <a:bodyPr/>
                    <a:lstStyle/>
                    <a:p>
                      <a:pPr algn="ctr" eaLnBrk="1" hangingPunct="1">
                        <a:lnSpc>
                          <a:spcPct val="130000"/>
                        </a:lnSpc>
                        <a:buClr>
                          <a:srgbClr val="C5003D"/>
                        </a:buClr>
                      </a:pPr>
                      <a:r>
                        <a:rPr lang="en-US" altLang="ko-KR" sz="900" b="0" dirty="0">
                          <a:latin typeface="맑은 고딕" pitchFamily="50" charset="-127"/>
                          <a:ea typeface="+mn-ea"/>
                        </a:rPr>
                        <a:t>Call reception/</a:t>
                      </a:r>
                    </a:p>
                    <a:p>
                      <a:pPr algn="ctr" eaLnBrk="1" hangingPunct="1">
                        <a:lnSpc>
                          <a:spcPct val="130000"/>
                        </a:lnSpc>
                        <a:buClr>
                          <a:srgbClr val="C5003D"/>
                        </a:buClr>
                      </a:pPr>
                      <a:r>
                        <a:rPr lang="en-US" altLang="ko-KR" sz="900" b="0" dirty="0">
                          <a:latin typeface="맑은 고딕" pitchFamily="50" charset="-127"/>
                          <a:ea typeface="+mn-ea"/>
                        </a:rPr>
                        <a:t>transmission is poor or malfunctioning</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29936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59633">
                <a:tc>
                  <a:txBody>
                    <a:bodyPr/>
                    <a:lstStyle/>
                    <a:p>
                      <a:pPr algn="ctr" fontAlgn="b"/>
                      <a:r>
                        <a:rPr lang="en-US" altLang="ko-KR" sz="900" b="0" dirty="0">
                          <a:latin typeface="맑은 고딕" pitchFamily="50" charset="-127"/>
                          <a:ea typeface="+mn-ea"/>
                        </a:rPr>
                        <a:t>Received/sent calls are dropped</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21922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59633">
                <a:tc>
                  <a:txBody>
                    <a:bodyPr/>
                    <a:lstStyle/>
                    <a:p>
                      <a:pPr algn="ctr" fontAlgn="b"/>
                      <a:r>
                        <a:rPr lang="en-US" sz="900" b="0" i="0" u="none" strike="noStrike" dirty="0">
                          <a:solidFill>
                            <a:srgbClr val="000000"/>
                          </a:solidFill>
                          <a:effectLst/>
                          <a:latin typeface="맑은 고딕" panose="020B0503020000020004" pitchFamily="50" charset="-127"/>
                          <a:ea typeface="맑은 고딕" panose="020B0503020000020004" pitchFamily="50" charset="-127"/>
                        </a:rPr>
                        <a:t>No SVC</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8780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59633">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Received/sent</a:t>
                      </a:r>
                      <a:r>
                        <a:rPr lang="en-US" altLang="ko-KR" sz="900" b="0" i="0" u="none" strike="noStrike" baseline="0" dirty="0">
                          <a:solidFill>
                            <a:srgbClr val="000000"/>
                          </a:solidFill>
                          <a:effectLst/>
                          <a:latin typeface="맑은 고딕" panose="020B0503020000020004" pitchFamily="50" charset="-127"/>
                          <a:ea typeface="맑은 고딕" panose="020B0503020000020004" pitchFamily="50" charset="-127"/>
                        </a:rPr>
                        <a:t> calls are dropped</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3491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359633">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Network is</a:t>
                      </a:r>
                      <a:r>
                        <a:rPr lang="en-US" altLang="ko-KR" sz="900" b="0" i="0" u="none" strike="noStrike" baseline="0" dirty="0">
                          <a:solidFill>
                            <a:srgbClr val="000000"/>
                          </a:solidFill>
                          <a:effectLst/>
                          <a:latin typeface="맑은 고딕" panose="020B0503020000020004" pitchFamily="50" charset="-127"/>
                          <a:ea typeface="맑은 고딕" panose="020B0503020000020004" pitchFamily="50" charset="-127"/>
                        </a:rPr>
                        <a:t> not displayed</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2083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359633">
                <a:tc>
                  <a:txBody>
                    <a:bodyPr/>
                    <a:lstStyle/>
                    <a:p>
                      <a:pPr algn="ctr" fontAlgn="b"/>
                      <a:r>
                        <a:rPr lang="en-US" sz="900" b="0" i="0" u="none" strike="noStrike" dirty="0">
                          <a:solidFill>
                            <a:srgbClr val="000000"/>
                          </a:solidFill>
                          <a:effectLst/>
                          <a:latin typeface="맑은 고딕" panose="020B0503020000020004" pitchFamily="50" charset="-127"/>
                          <a:ea typeface="맑은 고딕" panose="020B0503020000020004" pitchFamily="50" charset="-127"/>
                        </a:rPr>
                        <a:t>No Service</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1088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359633">
                <a:tc>
                  <a:txBody>
                    <a:bodyPr/>
                    <a:lstStyle/>
                    <a:p>
                      <a:pPr algn="ctr" fontAlgn="b"/>
                      <a:r>
                        <a:rPr lang="en-US" sz="900" b="0" i="0" u="none" strike="noStrike" dirty="0">
                          <a:solidFill>
                            <a:srgbClr val="000000"/>
                          </a:solidFill>
                          <a:effectLst/>
                          <a:latin typeface="맑은 고딕" panose="020B0503020000020004" pitchFamily="50" charset="-127"/>
                          <a:ea typeface="맑은 고딕" panose="020B0503020000020004" pitchFamily="50" charset="-127"/>
                        </a:rPr>
                        <a:t>Low Signal bar</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866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359633">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Delayed</a:t>
                      </a:r>
                      <a:r>
                        <a:rPr lang="en-US" altLang="ko-KR" sz="900" b="0" i="0" u="none" strike="noStrike" baseline="0" dirty="0">
                          <a:solidFill>
                            <a:srgbClr val="000000"/>
                          </a:solidFill>
                          <a:effectLst/>
                          <a:latin typeface="맑은 고딕" panose="020B0503020000020004" pitchFamily="50" charset="-127"/>
                          <a:ea typeface="맑은 고딕" panose="020B0503020000020004" pitchFamily="50" charset="-127"/>
                        </a:rPr>
                        <a:t> Roaming</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566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375981">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Inquiries on use</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altLang="ko-KR" sz="900" b="0" i="0" u="none" strike="noStrike" dirty="0">
                          <a:solidFill>
                            <a:srgbClr val="000000"/>
                          </a:solidFill>
                          <a:effectLst/>
                          <a:latin typeface="맑은 고딕" panose="020B0503020000020004" pitchFamily="50" charset="-127"/>
                          <a:ea typeface="맑은 고딕" panose="020B0503020000020004" pitchFamily="50" charset="-127"/>
                        </a:rPr>
                        <a:t>456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pic>
        <p:nvPicPr>
          <p:cNvPr id="6" name="Picture 5"/>
          <p:cNvPicPr>
            <a:picLocks noChangeAspect="1" noChangeArrowheads="1"/>
          </p:cNvPicPr>
          <p:nvPr/>
        </p:nvPicPr>
        <p:blipFill>
          <a:blip r:embed="rId2" cstate="print"/>
          <a:srcRect/>
          <a:stretch>
            <a:fillRect/>
          </a:stretch>
        </p:blipFill>
        <p:spPr bwMode="auto">
          <a:xfrm>
            <a:off x="3930650" y="1217613"/>
            <a:ext cx="5486400" cy="3657600"/>
          </a:xfrm>
          <a:prstGeom prst="rect">
            <a:avLst/>
          </a:prstGeom>
          <a:noFill/>
          <a:ln>
            <a:noFill/>
          </a:ln>
          <a:effectLst>
            <a:prstShdw prst="shdw17" dist="17961" dir="2700000">
              <a:schemeClr val="accent1">
                <a:gamma/>
                <a:shade val="60000"/>
                <a:invGamma/>
              </a:schemeClr>
            </a:prstShdw>
          </a:effectLst>
        </p:spPr>
      </p:pic>
      <p:sp>
        <p:nvSpPr>
          <p:cNvPr id="7" name="이등변 삼각형 6"/>
          <p:cNvSpPr/>
          <p:nvPr/>
        </p:nvSpPr>
        <p:spPr>
          <a:xfrm rot="5400000">
            <a:off x="2310607" y="2937669"/>
            <a:ext cx="2449512" cy="215900"/>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99370" name="TextBox 4"/>
          <p:cNvSpPr txBox="1">
            <a:spLocks noChangeArrowheads="1"/>
          </p:cNvSpPr>
          <p:nvPr/>
        </p:nvSpPr>
        <p:spPr bwMode="auto">
          <a:xfrm>
            <a:off x="0" y="852489"/>
            <a:ext cx="43769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Phân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Lỗi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chức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năng</a:t>
            </a:r>
            <a:r>
              <a:rPr lang="en-US" altLang="ko-KR" sz="1400" b="1" dirty="0">
                <a:latin typeface="Arial" pitchFamily="34" charset="0"/>
                <a:ea typeface="맑은 고딕" pitchFamily="50" charset="-127"/>
                <a:cs typeface="Arial" pitchFamily="34" charset="0"/>
              </a:rPr>
              <a:t> Radio </a:t>
            </a:r>
            <a:r>
              <a:rPr lang="en-US" altLang="ko-KR" sz="1400" b="1" dirty="0" err="1">
                <a:latin typeface="Arial" pitchFamily="34" charset="0"/>
                <a:ea typeface="맑은 고딕" pitchFamily="50" charset="-127"/>
                <a:cs typeface="Arial" pitchFamily="34" charset="0"/>
              </a:rPr>
              <a:t>của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điện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thoại</a:t>
            </a:r>
            <a:endParaRPr lang="ko-KR" altLang="en-US" sz="1400" b="1" dirty="0">
              <a:latin typeface="Arial" pitchFamily="34" charset="0"/>
              <a:ea typeface="맑은 고딕" pitchFamily="50" charset="-127"/>
              <a:cs typeface="Arial" pitchFamily="34" charset="0"/>
            </a:endParaRPr>
          </a:p>
        </p:txBody>
      </p:sp>
      <p:sp>
        <p:nvSpPr>
          <p:cNvPr id="9" name="모서리가 둥근 직사각형 8"/>
          <p:cNvSpPr/>
          <p:nvPr/>
        </p:nvSpPr>
        <p:spPr>
          <a:xfrm>
            <a:off x="5138738" y="2584450"/>
            <a:ext cx="1384300" cy="2233613"/>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89</a:t>
            </a:fld>
            <a:endParaRPr lang="ko-KR" altLang="en-US" dirty="0">
              <a:latin typeface="Arial" pitchFamily="34" charset="0"/>
              <a:cs typeface="Arial" pitchFamily="34" charset="0"/>
            </a:endParaRPr>
          </a:p>
        </p:txBody>
      </p:sp>
      <p:sp>
        <p:nvSpPr>
          <p:cNvPr id="3" name="TextBox 2"/>
          <p:cNvSpPr txBox="1"/>
          <p:nvPr/>
        </p:nvSpPr>
        <p:spPr>
          <a:xfrm>
            <a:off x="4880992" y="1258888"/>
            <a:ext cx="3888432" cy="343235"/>
          </a:xfrm>
          <a:prstGeom prst="rect">
            <a:avLst/>
          </a:prstGeom>
          <a:solidFill>
            <a:schemeClr val="bg1">
              <a:lumMod val="85000"/>
            </a:schemeClr>
          </a:solidFill>
        </p:spPr>
        <p:txBody>
          <a:bodyPr wrap="square" rtlCol="0">
            <a:spAutoFit/>
          </a:bodyPr>
          <a:lstStyle/>
          <a:p>
            <a:pPr algn="ctr">
              <a:lnSpc>
                <a:spcPct val="130000"/>
              </a:lnSpc>
              <a:buClr>
                <a:srgbClr val="C5003D"/>
              </a:buClr>
            </a:pPr>
            <a:r>
              <a:rPr lang="en-US" altLang="ko-KR" sz="1400" b="1" dirty="0">
                <a:latin typeface="Arial" pitchFamily="34" charset="0"/>
                <a:cs typeface="Arial" pitchFamily="34" charset="0"/>
              </a:rPr>
              <a:t>Pareto Chart of Radio Defects</a:t>
            </a:r>
            <a:endParaRPr lang="ko-KR" altLang="en-US" sz="1400" b="1" dirty="0">
              <a:latin typeface="Arial" pitchFamily="34" charset="0"/>
              <a:cs typeface="Arial" pitchFamily="34" charset="0"/>
            </a:endParaRPr>
          </a:p>
        </p:txBody>
      </p:sp>
    </p:spTree>
    <p:extLst>
      <p:ext uri="{BB962C8B-B14F-4D97-AF65-F5344CB8AC3E}">
        <p14:creationId xmlns:p14="http://schemas.microsoft.com/office/powerpoint/2010/main" val="337829503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1"/>
          <p:cNvGrpSpPr>
            <a:grpSpLocks/>
          </p:cNvGrpSpPr>
          <p:nvPr/>
        </p:nvGrpSpPr>
        <p:grpSpPr bwMode="auto">
          <a:xfrm>
            <a:off x="4737100" y="3212976"/>
            <a:ext cx="4537075" cy="2808287"/>
            <a:chOff x="5565775" y="4092575"/>
            <a:chExt cx="3419475" cy="2279650"/>
          </a:xfrm>
        </p:grpSpPr>
        <p:pic>
          <p:nvPicPr>
            <p:cNvPr id="100362" name="Picture 3"/>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5565775" y="4092575"/>
              <a:ext cx="3419475" cy="22796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2" name="직사각형 11"/>
            <p:cNvSpPr/>
            <p:nvPr/>
          </p:nvSpPr>
          <p:spPr>
            <a:xfrm>
              <a:off x="6566013" y="5057485"/>
              <a:ext cx="196219" cy="431703"/>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15" name="Rectangle 5"/>
            <p:cNvSpPr txBox="1">
              <a:spLocks noChangeArrowheads="1"/>
            </p:cNvSpPr>
            <p:nvPr>
              <p:custDataLst>
                <p:tags r:id="rId2"/>
              </p:custDataLst>
            </p:nvPr>
          </p:nvSpPr>
          <p:spPr bwMode="auto">
            <a:xfrm rot="16200000">
              <a:off x="5469676" y="4729818"/>
              <a:ext cx="689924" cy="231963"/>
            </a:xfrm>
            <a:prstGeom prst="rect">
              <a:avLst/>
            </a:prstGeom>
            <a:solidFill>
              <a:srgbClr val="FF0000"/>
            </a:solidFill>
            <a:ln>
              <a:noFill/>
            </a:ln>
          </p:spPr>
          <p:txBody>
            <a:bodyPr wrap="none" anchor="ctr">
              <a:spAutoFit/>
            </a:bodyPr>
            <a:lstStyle>
              <a:lvl1pPr algn="l" rtl="0" eaLnBrk="0" fontAlgn="base" latinLnBrk="1" hangingPunct="0">
                <a:spcBef>
                  <a:spcPct val="0"/>
                </a:spcBef>
                <a:spcAft>
                  <a:spcPct val="0"/>
                </a:spcAft>
                <a:defRPr kumimoji="1" sz="2000" b="1">
                  <a:solidFill>
                    <a:schemeClr val="tx2"/>
                  </a:solidFill>
                  <a:latin typeface="+mj-lt"/>
                  <a:ea typeface="+mj-ea"/>
                  <a:cs typeface="+mj-cs"/>
                </a:defRPr>
              </a:lvl1pPr>
              <a:lvl2pPr algn="l" rtl="0" eaLnBrk="0" fontAlgn="base" latinLnBrk="1" hangingPunct="0">
                <a:spcBef>
                  <a:spcPct val="0"/>
                </a:spcBef>
                <a:spcAft>
                  <a:spcPct val="0"/>
                </a:spcAft>
                <a:defRPr kumimoji="1" sz="2000" b="1">
                  <a:solidFill>
                    <a:schemeClr val="tx2"/>
                  </a:solidFill>
                  <a:latin typeface="Arial" charset="0"/>
                  <a:ea typeface="돋움" pitchFamily="50" charset="-127"/>
                </a:defRPr>
              </a:lvl2pPr>
              <a:lvl3pPr algn="l" rtl="0" eaLnBrk="0" fontAlgn="base" latinLnBrk="1" hangingPunct="0">
                <a:spcBef>
                  <a:spcPct val="0"/>
                </a:spcBef>
                <a:spcAft>
                  <a:spcPct val="0"/>
                </a:spcAft>
                <a:defRPr kumimoji="1" sz="2000" b="1">
                  <a:solidFill>
                    <a:schemeClr val="tx2"/>
                  </a:solidFill>
                  <a:latin typeface="Arial" charset="0"/>
                  <a:ea typeface="돋움" pitchFamily="50" charset="-127"/>
                </a:defRPr>
              </a:lvl3pPr>
              <a:lvl4pPr algn="l" rtl="0" eaLnBrk="0" fontAlgn="base" latinLnBrk="1" hangingPunct="0">
                <a:spcBef>
                  <a:spcPct val="0"/>
                </a:spcBef>
                <a:spcAft>
                  <a:spcPct val="0"/>
                </a:spcAft>
                <a:defRPr kumimoji="1" sz="2000" b="1">
                  <a:solidFill>
                    <a:schemeClr val="tx2"/>
                  </a:solidFill>
                  <a:latin typeface="Arial" charset="0"/>
                  <a:ea typeface="돋움" pitchFamily="50" charset="-127"/>
                </a:defRPr>
              </a:lvl4pPr>
              <a:lvl5pPr algn="l" rtl="0" eaLnBrk="0" fontAlgn="base" latinLnBrk="1" hangingPunct="0">
                <a:spcBef>
                  <a:spcPct val="0"/>
                </a:spcBef>
                <a:spcAft>
                  <a:spcPct val="0"/>
                </a:spcAft>
                <a:defRPr kumimoji="1" sz="2000" b="1">
                  <a:solidFill>
                    <a:schemeClr val="tx2"/>
                  </a:solidFill>
                  <a:latin typeface="Arial" charset="0"/>
                  <a:ea typeface="돋움" pitchFamily="50" charset="-127"/>
                </a:defRPr>
              </a:lvl5pPr>
              <a:lvl6pPr marL="457200" algn="l" rtl="0" fontAlgn="base" latinLnBrk="1">
                <a:spcBef>
                  <a:spcPct val="0"/>
                </a:spcBef>
                <a:spcAft>
                  <a:spcPct val="0"/>
                </a:spcAft>
                <a:defRPr kumimoji="1" sz="2000" b="1">
                  <a:solidFill>
                    <a:schemeClr val="tx2"/>
                  </a:solidFill>
                  <a:latin typeface="Arial" charset="0"/>
                  <a:ea typeface="돋움" pitchFamily="50" charset="-127"/>
                </a:defRPr>
              </a:lvl6pPr>
              <a:lvl7pPr marL="914400" algn="l" rtl="0" fontAlgn="base" latinLnBrk="1">
                <a:spcBef>
                  <a:spcPct val="0"/>
                </a:spcBef>
                <a:spcAft>
                  <a:spcPct val="0"/>
                </a:spcAft>
                <a:defRPr kumimoji="1" sz="2000" b="1">
                  <a:solidFill>
                    <a:schemeClr val="tx2"/>
                  </a:solidFill>
                  <a:latin typeface="Arial" charset="0"/>
                  <a:ea typeface="돋움" pitchFamily="50" charset="-127"/>
                </a:defRPr>
              </a:lvl7pPr>
              <a:lvl8pPr marL="1371600" algn="l" rtl="0" fontAlgn="base" latinLnBrk="1">
                <a:spcBef>
                  <a:spcPct val="0"/>
                </a:spcBef>
                <a:spcAft>
                  <a:spcPct val="0"/>
                </a:spcAft>
                <a:defRPr kumimoji="1" sz="2000" b="1">
                  <a:solidFill>
                    <a:schemeClr val="tx2"/>
                  </a:solidFill>
                  <a:latin typeface="Arial" charset="0"/>
                  <a:ea typeface="돋움" pitchFamily="50" charset="-127"/>
                </a:defRPr>
              </a:lvl8pPr>
              <a:lvl9pPr marL="1828800" algn="l" rtl="0" fontAlgn="base" latinLnBrk="1">
                <a:spcBef>
                  <a:spcPct val="0"/>
                </a:spcBef>
                <a:spcAft>
                  <a:spcPct val="0"/>
                </a:spcAft>
                <a:defRPr kumimoji="1" sz="2000" b="1">
                  <a:solidFill>
                    <a:schemeClr val="tx2"/>
                  </a:solidFill>
                  <a:latin typeface="Arial" charset="0"/>
                  <a:ea typeface="돋움" pitchFamily="50" charset="-127"/>
                </a:defRPr>
              </a:lvl9pPr>
            </a:lstStyle>
            <a:p>
              <a:pPr eaLnBrk="1" hangingPunct="1">
                <a:defRPr/>
              </a:pPr>
              <a:r>
                <a:rPr lang="en-US" altLang="ko-KR" sz="1400" kern="0" dirty="0">
                  <a:solidFill>
                    <a:schemeClr val="bg1"/>
                  </a:solidFill>
                  <a:latin typeface="Arial" pitchFamily="34" charset="0"/>
                  <a:cs typeface="Arial" pitchFamily="34" charset="0"/>
                </a:rPr>
                <a:t>Cost ($)</a:t>
              </a:r>
            </a:p>
          </p:txBody>
        </p:sp>
      </p:grpSp>
      <p:grpSp>
        <p:nvGrpSpPr>
          <p:cNvPr id="5" name="그룹 5"/>
          <p:cNvGrpSpPr>
            <a:grpSpLocks/>
          </p:cNvGrpSpPr>
          <p:nvPr/>
        </p:nvGrpSpPr>
        <p:grpSpPr bwMode="auto">
          <a:xfrm>
            <a:off x="415925" y="3212976"/>
            <a:ext cx="4205288" cy="2803525"/>
            <a:chOff x="992560" y="2564904"/>
            <a:chExt cx="4205287" cy="2803525"/>
          </a:xfrm>
        </p:grpSpPr>
        <p:pic>
          <p:nvPicPr>
            <p:cNvPr id="100359" name="Picture 6"/>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992560" y="2564904"/>
              <a:ext cx="4205287" cy="280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직사각형 2"/>
            <p:cNvSpPr/>
            <p:nvPr/>
          </p:nvSpPr>
          <p:spPr>
            <a:xfrm>
              <a:off x="2354635" y="3857129"/>
              <a:ext cx="215900" cy="433387"/>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100361" name="Rectangle 5"/>
            <p:cNvSpPr txBox="1">
              <a:spLocks noChangeArrowheads="1"/>
            </p:cNvSpPr>
            <p:nvPr>
              <p:custDataLst>
                <p:tags r:id="rId1"/>
              </p:custDataLst>
            </p:nvPr>
          </p:nvSpPr>
          <p:spPr bwMode="auto">
            <a:xfrm rot="-5400000">
              <a:off x="684361" y="3305150"/>
              <a:ext cx="1068388" cy="3079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solidFill>
                    <a:schemeClr val="bg1"/>
                  </a:solidFill>
                  <a:latin typeface="Arial" pitchFamily="34" charset="0"/>
                  <a:ea typeface="맑은 고딕" pitchFamily="50" charset="-127"/>
                  <a:cs typeface="Arial" pitchFamily="34" charset="0"/>
                </a:rPr>
                <a:t>Count (</a:t>
              </a:r>
              <a:r>
                <a:rPr lang="ko-KR" altLang="en-US" sz="1400" b="1" dirty="0">
                  <a:solidFill>
                    <a:schemeClr val="bg1"/>
                  </a:solidFill>
                  <a:latin typeface="Arial" pitchFamily="34" charset="0"/>
                  <a:ea typeface="맑은 고딕" pitchFamily="50" charset="-127"/>
                  <a:cs typeface="Arial" pitchFamily="34" charset="0"/>
                </a:rPr>
                <a:t>건</a:t>
              </a:r>
              <a:r>
                <a:rPr lang="en-US" altLang="ko-KR" sz="1400" b="1" dirty="0">
                  <a:solidFill>
                    <a:schemeClr val="bg1"/>
                  </a:solidFill>
                  <a:latin typeface="Arial" pitchFamily="34" charset="0"/>
                  <a:ea typeface="맑은 고딕" pitchFamily="50" charset="-127"/>
                  <a:cs typeface="Arial" pitchFamily="34" charset="0"/>
                </a:rPr>
                <a:t>)</a:t>
              </a:r>
            </a:p>
          </p:txBody>
        </p:sp>
      </p:grpSp>
      <p:sp>
        <p:nvSpPr>
          <p:cNvPr id="100356" name="Text Box 2"/>
          <p:cNvSpPr txBox="1">
            <a:spLocks noChangeArrowheads="1"/>
          </p:cNvSpPr>
          <p:nvPr/>
        </p:nvSpPr>
        <p:spPr bwMode="auto">
          <a:xfrm>
            <a:off x="317500" y="1408113"/>
            <a:ext cx="9244013" cy="93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defTabSz="684213" eaLnBrk="0" hangingPunct="0">
              <a:defRPr kumimoji="1">
                <a:solidFill>
                  <a:schemeClr val="tx1"/>
                </a:solidFill>
                <a:latin typeface="굴림" pitchFamily="50" charset="-127"/>
                <a:ea typeface="굴림" pitchFamily="50" charset="-127"/>
              </a:defRPr>
            </a:lvl1pPr>
            <a:lvl2pPr marL="742950" indent="-285750" defTabSz="684213" eaLnBrk="0" hangingPunct="0">
              <a:defRPr kumimoji="1">
                <a:solidFill>
                  <a:schemeClr val="tx1"/>
                </a:solidFill>
                <a:latin typeface="굴림" pitchFamily="50" charset="-127"/>
                <a:ea typeface="굴림" pitchFamily="50" charset="-127"/>
              </a:defRPr>
            </a:lvl2pPr>
            <a:lvl3pPr marL="1143000" indent="-228600" defTabSz="684213" eaLnBrk="0" hangingPunct="0">
              <a:defRPr kumimoji="1">
                <a:solidFill>
                  <a:schemeClr val="tx1"/>
                </a:solidFill>
                <a:latin typeface="굴림" pitchFamily="50" charset="-127"/>
                <a:ea typeface="굴림" pitchFamily="50" charset="-127"/>
              </a:defRPr>
            </a:lvl3pPr>
            <a:lvl4pPr marL="1600200" indent="-228600" defTabSz="684213" eaLnBrk="0" hangingPunct="0">
              <a:defRPr kumimoji="1">
                <a:solidFill>
                  <a:schemeClr val="tx1"/>
                </a:solidFill>
                <a:latin typeface="굴림" pitchFamily="50" charset="-127"/>
                <a:ea typeface="굴림" pitchFamily="50" charset="-127"/>
              </a:defRPr>
            </a:lvl4pPr>
            <a:lvl5pPr marL="2057400" indent="-228600" defTabSz="684213" eaLnBrk="0" hangingPunct="0">
              <a:defRPr kumimoji="1">
                <a:solidFill>
                  <a:schemeClr val="tx1"/>
                </a:solidFill>
                <a:latin typeface="굴림" pitchFamily="50" charset="-127"/>
                <a:ea typeface="굴림" pitchFamily="50" charset="-127"/>
              </a:defRPr>
            </a:lvl5pPr>
            <a:lvl6pPr marL="2514600" indent="-228600" defTabSz="684213"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684213"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684213"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684213"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Font typeface="Wingdings" pitchFamily="2" charset="2"/>
              <a:buChar char="§"/>
            </a:pP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Phân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tích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lỗi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hoạt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động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của</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điện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thoại</a:t>
            </a:r>
            <a:r>
              <a:rPr lang="en-US" altLang="ko-KR" sz="1400" dirty="0">
                <a:latin typeface="Arial" pitchFamily="34" charset="0"/>
                <a:ea typeface="맑은 고딕" pitchFamily="50" charset="-127"/>
                <a:cs typeface="Arial" pitchFamily="34" charset="0"/>
              </a:rPr>
              <a:t> G2 Mini (D620) </a:t>
            </a:r>
            <a:r>
              <a:rPr lang="en-US" altLang="ko-KR" sz="1400" dirty="0" err="1">
                <a:latin typeface="Arial" pitchFamily="34" charset="0"/>
                <a:ea typeface="맑은 고딕" pitchFamily="50" charset="-127"/>
                <a:cs typeface="Arial" pitchFamily="34" charset="0"/>
              </a:rPr>
              <a:t>cho</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thấy</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trong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số</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các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lỗi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chức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năng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thường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gặp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lỗi</a:t>
            </a:r>
            <a:r>
              <a:rPr lang="en-US" altLang="ko-KR" sz="1400" dirty="0">
                <a:latin typeface="Arial" pitchFamily="34" charset="0"/>
                <a:ea typeface="맑은 고딕" pitchFamily="50" charset="-127"/>
                <a:cs typeface="Arial" pitchFamily="34" charset="0"/>
              </a:rPr>
              <a:t> “Window  Stain“ </a:t>
            </a:r>
            <a:r>
              <a:rPr lang="en-US" altLang="ko-KR" sz="1400" dirty="0" err="1">
                <a:latin typeface="Arial" pitchFamily="34" charset="0"/>
                <a:ea typeface="맑은 고딕" pitchFamily="50" charset="-127"/>
                <a:cs typeface="Arial" pitchFamily="34" charset="0"/>
              </a:rPr>
              <a:t>có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tần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suất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xuất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hiện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cao</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nhất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Khi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các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lỗi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chức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năng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được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phân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tích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từ</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quan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điểm</a:t>
            </a:r>
            <a:r>
              <a:rPr lang="en-US" altLang="ko-KR" sz="1400" dirty="0">
                <a:latin typeface="Arial" pitchFamily="34" charset="0"/>
                <a:ea typeface="맑은 고딕" pitchFamily="50" charset="-127"/>
                <a:cs typeface="Arial" pitchFamily="34" charset="0"/>
              </a:rPr>
              <a:t> chi </a:t>
            </a:r>
            <a:r>
              <a:rPr lang="en-US" altLang="ko-KR" sz="1400" dirty="0" err="1">
                <a:latin typeface="Arial" pitchFamily="34" charset="0"/>
                <a:ea typeface="맑은 고딕" pitchFamily="50" charset="-127"/>
                <a:cs typeface="Arial" pitchFamily="34" charset="0"/>
              </a:rPr>
              <a:t>phí</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ta</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thấy</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rằng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lỗi</a:t>
            </a:r>
            <a:r>
              <a:rPr lang="en-US" altLang="ko-KR" sz="1400" dirty="0">
                <a:latin typeface="Arial" pitchFamily="34" charset="0"/>
                <a:ea typeface="맑은 고딕" pitchFamily="50" charset="-127"/>
                <a:cs typeface="Arial" pitchFamily="34" charset="0"/>
              </a:rPr>
              <a:t> LCD damage/line cell </a:t>
            </a:r>
            <a:r>
              <a:rPr lang="en-US" altLang="ko-KR" sz="1400" dirty="0" err="1">
                <a:latin typeface="Arial" pitchFamily="34" charset="0"/>
                <a:ea typeface="맑은 고딕" pitchFamily="50" charset="-127"/>
                <a:cs typeface="Arial" pitchFamily="34" charset="0"/>
              </a:rPr>
              <a:t>có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tần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suất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xuất</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hiện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cao</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nhất</a:t>
            </a:r>
            <a:r>
              <a:rPr lang="en-US" altLang="ko-KR" sz="1400" dirty="0">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90</a:t>
            </a:fld>
            <a:endParaRPr lang="ko-KR" altLang="en-US" dirty="0">
              <a:latin typeface="Arial" pitchFamily="34" charset="0"/>
              <a:cs typeface="Arial" pitchFamily="34" charset="0"/>
            </a:endParaRPr>
          </a:p>
        </p:txBody>
      </p:sp>
      <p:sp>
        <p:nvSpPr>
          <p:cNvPr id="14"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16"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3536840"/>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11"/>
          <p:cNvSpPr>
            <a:spLocks noChangeArrowheads="1"/>
          </p:cNvSpPr>
          <p:nvPr/>
        </p:nvSpPr>
        <p:spPr bwMode="auto">
          <a:xfrm>
            <a:off x="2144688" y="1116013"/>
            <a:ext cx="6912545"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36000" rIns="36000">
            <a:spAutoFit/>
          </a:bodyPr>
          <a:lstStyle/>
          <a:p>
            <a:pPr>
              <a:lnSpc>
                <a:spcPct val="90000"/>
              </a:lnSpc>
            </a:pPr>
            <a:r>
              <a:rPr lang="ko-KR" altLang="en-US"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loại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lỗi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hiện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trường</a:t>
            </a:r>
            <a:r>
              <a:rPr lang="en-US" altLang="ko-KR" sz="1400" b="1" dirty="0">
                <a:latin typeface="Arial" pitchFamily="34" charset="0"/>
                <a:ea typeface="맑은 고딕" pitchFamily="50" charset="-127"/>
                <a:cs typeface="Arial" pitchFamily="34" charset="0"/>
              </a:rPr>
              <a:t> (15,198</a:t>
            </a:r>
            <a:r>
              <a:rPr lang="ko-KR" altLang="en-US"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trường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hợp</a:t>
            </a:r>
            <a:r>
              <a:rPr lang="en-US" altLang="ko-KR" sz="1400" b="1" dirty="0">
                <a:latin typeface="Arial" pitchFamily="34" charset="0"/>
                <a:ea typeface="맑은 고딕" pitchFamily="50" charset="-127"/>
                <a:cs typeface="Arial" pitchFamily="34" charset="0"/>
              </a:rPr>
              <a:t>)</a:t>
            </a:r>
          </a:p>
        </p:txBody>
      </p:sp>
      <p:pic>
        <p:nvPicPr>
          <p:cNvPr id="101379"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2432050" y="1557338"/>
            <a:ext cx="5834063" cy="452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91</a:t>
            </a:fld>
            <a:endParaRPr lang="ko-KR" altLang="en-US" dirty="0">
              <a:latin typeface="Arial" pitchFamily="34" charset="0"/>
              <a:cs typeface="Arial" pitchFamily="34" charset="0"/>
            </a:endParaRPr>
          </a:p>
        </p:txBody>
      </p:sp>
      <p:sp>
        <p:nvSpPr>
          <p:cNvPr id="9"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10"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80327534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4"/>
          <p:cNvGrpSpPr>
            <a:grpSpLocks/>
          </p:cNvGrpSpPr>
          <p:nvPr/>
        </p:nvGrpSpPr>
        <p:grpSpPr bwMode="auto">
          <a:xfrm>
            <a:off x="2222500" y="1745721"/>
            <a:ext cx="5826125" cy="4065588"/>
            <a:chOff x="1933748" y="1163637"/>
            <a:chExt cx="4531420" cy="2252201"/>
          </a:xfrm>
        </p:grpSpPr>
        <p:pic>
          <p:nvPicPr>
            <p:cNvPr id="102407"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933748" y="1163637"/>
              <a:ext cx="4531420" cy="225220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3" name="직사각형 2"/>
            <p:cNvSpPr/>
            <p:nvPr/>
          </p:nvSpPr>
          <p:spPr>
            <a:xfrm>
              <a:off x="2864726" y="1940167"/>
              <a:ext cx="424743" cy="637581"/>
            </a:xfrm>
            <a:prstGeom prst="rect">
              <a:avLst/>
            </a:prstGeom>
            <a:noFill/>
            <a:ln w="28575" cap="flat" cmpd="sng" algn="ctr">
              <a:solidFill>
                <a:srgbClr val="C5003D"/>
              </a:solidFill>
              <a:prstDash val="sysDash"/>
            </a:ln>
            <a:effectLst/>
          </p:spPr>
          <p:txBody>
            <a:bodyPr anchor="ctr"/>
            <a:lstStyle/>
            <a:p>
              <a:pPr algn="ctr" fontAlgn="auto" latinLnBrk="0">
                <a:spcBef>
                  <a:spcPts val="0"/>
                </a:spcBef>
                <a:spcAft>
                  <a:spcPts val="0"/>
                </a:spcAft>
                <a:defRPr/>
              </a:pPr>
              <a:endParaRPr kumimoji="0" lang="ko-KR" altLang="en-US" kern="0" dirty="0">
                <a:solidFill>
                  <a:srgbClr val="FFFFFF"/>
                </a:solidFill>
                <a:latin typeface="Arial" pitchFamily="34" charset="0"/>
                <a:ea typeface="굴림"/>
                <a:cs typeface="Arial" pitchFamily="34" charset="0"/>
              </a:endParaRPr>
            </a:p>
          </p:txBody>
        </p:sp>
      </p:grpSp>
      <p:sp>
        <p:nvSpPr>
          <p:cNvPr id="102403" name="Text Box 14"/>
          <p:cNvSpPr txBox="1">
            <a:spLocks noChangeArrowheads="1"/>
          </p:cNvSpPr>
          <p:nvPr/>
        </p:nvSpPr>
        <p:spPr bwMode="auto">
          <a:xfrm>
            <a:off x="2144688" y="1197728"/>
            <a:ext cx="5903937" cy="369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2071" tIns="46036" rIns="92071" bIns="46036">
            <a:spAutoFit/>
          </a:bodyPr>
          <a:lstStyle>
            <a:lvl1pPr marL="173038" indent="-173038"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latinLnBrk="0">
              <a:buFont typeface="Wingdings" pitchFamily="2" charset="2"/>
              <a:buChar char="v"/>
            </a:pPr>
            <a:r>
              <a:rPr kumimoji="0" lang="ko-KR" altLang="en-US" b="1" dirty="0">
                <a:solidFill>
                  <a:srgbClr val="000000"/>
                </a:solidFill>
                <a:latin typeface="Arial" pitchFamily="34" charset="0"/>
                <a:ea typeface="맑은 고딕" pitchFamily="50" charset="-127"/>
                <a:cs typeface="Arial" pitchFamily="34" charset="0"/>
              </a:rPr>
              <a:t> </a:t>
            </a:r>
            <a:r>
              <a:rPr kumimoji="0" lang="en-US" altLang="ko-KR" b="1" dirty="0" err="1">
                <a:solidFill>
                  <a:srgbClr val="000000"/>
                </a:solidFill>
                <a:latin typeface="Arial" pitchFamily="34" charset="0"/>
                <a:ea typeface="맑은 고딕" pitchFamily="50" charset="-127"/>
                <a:cs typeface="Arial" pitchFamily="34" charset="0"/>
              </a:rPr>
              <a:t>Biểu</a:t>
            </a:r>
            <a:r>
              <a:rPr kumimoji="0" lang="en-US" altLang="ko-KR" b="1" dirty="0">
                <a:solidFill>
                  <a:srgbClr val="000000"/>
                </a:solidFill>
                <a:latin typeface="Arial" pitchFamily="34" charset="0"/>
                <a:ea typeface="맑은 고딕" pitchFamily="50" charset="-127"/>
                <a:cs typeface="Arial" pitchFamily="34" charset="0"/>
              </a:rPr>
              <a:t> </a:t>
            </a:r>
            <a:r>
              <a:rPr kumimoji="0" lang="en-US" altLang="ko-KR" b="1" dirty="0" err="1">
                <a:solidFill>
                  <a:srgbClr val="000000"/>
                </a:solidFill>
                <a:latin typeface="Arial" pitchFamily="34" charset="0"/>
                <a:ea typeface="맑은 고딕" pitchFamily="50" charset="-127"/>
                <a:cs typeface="Arial" pitchFamily="34" charset="0"/>
              </a:rPr>
              <a:t>đồ</a:t>
            </a:r>
            <a:r>
              <a:rPr kumimoji="0" lang="en-US" altLang="ko-KR" b="1" dirty="0">
                <a:solidFill>
                  <a:srgbClr val="000000"/>
                </a:solidFill>
                <a:latin typeface="Arial" pitchFamily="34" charset="0"/>
                <a:ea typeface="맑은 고딕" pitchFamily="50" charset="-127"/>
                <a:cs typeface="Arial" pitchFamily="34" charset="0"/>
              </a:rPr>
              <a:t> Pareto </a:t>
            </a:r>
            <a:r>
              <a:rPr kumimoji="0" lang="en-US" altLang="ko-KR" b="1" dirty="0" err="1">
                <a:solidFill>
                  <a:srgbClr val="000000"/>
                </a:solidFill>
                <a:latin typeface="Arial" pitchFamily="34" charset="0"/>
                <a:ea typeface="맑은 고딕" pitchFamily="50" charset="-127"/>
                <a:cs typeface="Arial" pitchFamily="34" charset="0"/>
              </a:rPr>
              <a:t>của</a:t>
            </a:r>
            <a:r>
              <a:rPr kumimoji="0" lang="en-US" altLang="ko-KR" b="1" dirty="0">
                <a:solidFill>
                  <a:srgbClr val="000000"/>
                </a:solidFill>
                <a:latin typeface="Arial" pitchFamily="34" charset="0"/>
                <a:ea typeface="맑은 고딕" pitchFamily="50" charset="-127"/>
                <a:cs typeface="Arial" pitchFamily="34" charset="0"/>
              </a:rPr>
              <a:t> </a:t>
            </a:r>
            <a:r>
              <a:rPr kumimoji="0" lang="en-US" altLang="ko-KR" b="1" dirty="0" err="1">
                <a:solidFill>
                  <a:srgbClr val="000000"/>
                </a:solidFill>
                <a:latin typeface="Arial" pitchFamily="34" charset="0"/>
                <a:ea typeface="맑은 고딕" pitchFamily="50" charset="-127"/>
                <a:cs typeface="Arial" pitchFamily="34" charset="0"/>
              </a:rPr>
              <a:t>lỗi</a:t>
            </a:r>
            <a:r>
              <a:rPr kumimoji="0" lang="en-US" altLang="ko-KR" b="1" dirty="0">
                <a:solidFill>
                  <a:srgbClr val="000000"/>
                </a:solidFill>
                <a:latin typeface="Arial" pitchFamily="34" charset="0"/>
                <a:ea typeface="맑은 고딕" pitchFamily="50" charset="-127"/>
                <a:cs typeface="Arial" pitchFamily="34" charset="0"/>
              </a:rPr>
              <a:t> HBS-800</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92</a:t>
            </a:fld>
            <a:endParaRPr lang="ko-KR" altLang="en-US" dirty="0">
              <a:latin typeface="Arial" pitchFamily="34" charset="0"/>
              <a:cs typeface="Arial" pitchFamily="34" charset="0"/>
            </a:endParaRPr>
          </a:p>
        </p:txBody>
      </p:sp>
      <p:sp>
        <p:nvSpPr>
          <p:cNvPr id="12"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13"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25591475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TextBox 4"/>
          <p:cNvSpPr txBox="1">
            <a:spLocks noChangeArrowheads="1"/>
          </p:cNvSpPr>
          <p:nvPr/>
        </p:nvSpPr>
        <p:spPr bwMode="auto">
          <a:xfrm>
            <a:off x="295275" y="895350"/>
            <a:ext cx="18742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Phân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lỗi</a:t>
            </a:r>
            <a:r>
              <a:rPr lang="en-US" altLang="ko-KR" sz="1400" b="1" dirty="0">
                <a:latin typeface="Arial" pitchFamily="34" charset="0"/>
                <a:ea typeface="맑은 고딕" pitchFamily="50" charset="-127"/>
                <a:cs typeface="Arial" pitchFamily="34" charset="0"/>
              </a:rPr>
              <a:t> FFR</a:t>
            </a:r>
            <a:endParaRPr lang="ko-KR" altLang="en-US" sz="1400" b="1" dirty="0">
              <a:latin typeface="Arial" pitchFamily="34" charset="0"/>
              <a:ea typeface="맑은 고딕" pitchFamily="50" charset="-127"/>
              <a:cs typeface="Arial" pitchFamily="34" charset="0"/>
            </a:endParaRPr>
          </a:p>
        </p:txBody>
      </p:sp>
      <p:sp>
        <p:nvSpPr>
          <p:cNvPr id="103427" name="TextBox 13"/>
          <p:cNvSpPr txBox="1">
            <a:spLocks noChangeArrowheads="1"/>
          </p:cNvSpPr>
          <p:nvPr/>
        </p:nvSpPr>
        <p:spPr bwMode="auto">
          <a:xfrm>
            <a:off x="560388" y="4659313"/>
            <a:ext cx="4276725" cy="547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err="1">
                <a:latin typeface="Arial" pitchFamily="34" charset="0"/>
                <a:ea typeface="맑은 고딕" pitchFamily="50" charset="-127"/>
                <a:cs typeface="Arial" pitchFamily="34" charset="0"/>
              </a:rPr>
              <a:t>Phân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tích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lỗi</a:t>
            </a:r>
            <a:r>
              <a:rPr lang="en-US" altLang="ko-KR" sz="1200" b="1" dirty="0">
                <a:latin typeface="Arial" pitchFamily="34" charset="0"/>
                <a:ea typeface="맑은 고딕" pitchFamily="50" charset="-127"/>
                <a:cs typeface="Arial" pitchFamily="34" charset="0"/>
              </a:rPr>
              <a:t> FFR </a:t>
            </a:r>
            <a:r>
              <a:rPr lang="en-US" altLang="ko-KR" sz="1200" b="1" dirty="0" err="1">
                <a:latin typeface="Arial" pitchFamily="34" charset="0"/>
                <a:ea typeface="맑은 고딕" pitchFamily="50" charset="-127"/>
                <a:cs typeface="Arial" pitchFamily="34" charset="0"/>
              </a:rPr>
              <a:t>cho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thấy</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các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cải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tiến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tập</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trung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lỗi</a:t>
            </a:r>
            <a:r>
              <a:rPr lang="en-US" altLang="ko-KR" sz="1200" b="1" dirty="0">
                <a:latin typeface="Arial" pitchFamily="34" charset="0"/>
                <a:ea typeface="맑은 고딕" pitchFamily="50" charset="-127"/>
                <a:cs typeface="Arial" pitchFamily="34" charset="0"/>
              </a:rPr>
              <a:t> ‘S/W’ </a:t>
            </a:r>
            <a:r>
              <a:rPr lang="en-US" altLang="ko-KR" sz="1200" b="1" dirty="0" err="1">
                <a:latin typeface="Arial" pitchFamily="34" charset="0"/>
                <a:ea typeface="맑은 고딕" pitchFamily="50" charset="-127"/>
                <a:cs typeface="Arial" pitchFamily="34" charset="0"/>
              </a:rPr>
              <a:t>và</a:t>
            </a:r>
            <a:r>
              <a:rPr lang="en-US" altLang="ko-KR" sz="1200" b="1" dirty="0">
                <a:latin typeface="Arial" pitchFamily="34" charset="0"/>
                <a:ea typeface="맑은 고딕" pitchFamily="50" charset="-127"/>
                <a:cs typeface="Arial" pitchFamily="34" charset="0"/>
              </a:rPr>
              <a:t> ‘Normal (Test OK/Not Reproduced)’</a:t>
            </a:r>
          </a:p>
        </p:txBody>
      </p:sp>
      <p:pic>
        <p:nvPicPr>
          <p:cNvPr id="103429" name="Picture 47"/>
          <p:cNvPicPr preferRelativeResize="0">
            <a:picLocks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5313363" y="1347788"/>
            <a:ext cx="4248150" cy="316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430"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488950" y="1347788"/>
            <a:ext cx="4248150" cy="316706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7" name="모서리가 둥근 직사각형 6"/>
          <p:cNvSpPr/>
          <p:nvPr/>
        </p:nvSpPr>
        <p:spPr>
          <a:xfrm>
            <a:off x="1198563" y="1635125"/>
            <a:ext cx="442912" cy="2867025"/>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103432" name="TextBox 13"/>
          <p:cNvSpPr txBox="1">
            <a:spLocks noChangeArrowheads="1"/>
          </p:cNvSpPr>
          <p:nvPr/>
        </p:nvSpPr>
        <p:spPr bwMode="auto">
          <a:xfrm>
            <a:off x="5284788" y="4659313"/>
            <a:ext cx="4276725" cy="812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err="1">
                <a:latin typeface="Arial" pitchFamily="34" charset="0"/>
                <a:ea typeface="맑은 고딕" pitchFamily="50" charset="-127"/>
                <a:cs typeface="Arial" pitchFamily="34" charset="0"/>
              </a:rPr>
              <a:t>Các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cải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tiến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tập</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trung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các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lỗi</a:t>
            </a:r>
            <a:r>
              <a:rPr lang="en-US" altLang="ko-KR" sz="1200" b="1" dirty="0">
                <a:latin typeface="Arial" pitchFamily="34" charset="0"/>
                <a:ea typeface="맑은 고딕" pitchFamily="50" charset="-127"/>
                <a:cs typeface="Arial" pitchFamily="34" charset="0"/>
              </a:rPr>
              <a:t> ‘board socket defect’, ‘S/W recognition failure’, ‘smartphone holder’, </a:t>
            </a:r>
            <a:r>
              <a:rPr lang="en-US" altLang="ko-KR" sz="1200" b="1" dirty="0" err="1">
                <a:latin typeface="Arial" pitchFamily="34" charset="0"/>
                <a:ea typeface="맑은 고딕" pitchFamily="50" charset="-127"/>
                <a:cs typeface="Arial" pitchFamily="34" charset="0"/>
              </a:rPr>
              <a:t>và</a:t>
            </a:r>
            <a:r>
              <a:rPr lang="en-US" altLang="ko-KR" sz="1200" b="1" dirty="0">
                <a:latin typeface="Arial" pitchFamily="34" charset="0"/>
                <a:ea typeface="맑은 고딕" pitchFamily="50" charset="-127"/>
                <a:cs typeface="Arial" pitchFamily="34" charset="0"/>
              </a:rPr>
              <a:t> ‘batteries’</a:t>
            </a:r>
          </a:p>
        </p:txBody>
      </p:sp>
      <p:sp>
        <p:nvSpPr>
          <p:cNvPr id="103433" name="TextBox 4"/>
          <p:cNvSpPr txBox="1">
            <a:spLocks noChangeArrowheads="1"/>
          </p:cNvSpPr>
          <p:nvPr/>
        </p:nvSpPr>
        <p:spPr bwMode="auto">
          <a:xfrm>
            <a:off x="5280025" y="895350"/>
            <a:ext cx="25875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Phân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lỗi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nhận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thiết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bị</a:t>
            </a:r>
            <a:endParaRPr lang="ko-KR" altLang="en-US" sz="1400" b="1" dirty="0">
              <a:latin typeface="Arial" pitchFamily="34" charset="0"/>
              <a:ea typeface="맑은 고딕" pitchFamily="50" charset="-127"/>
              <a:cs typeface="Arial" pitchFamily="34" charset="0"/>
            </a:endParaRPr>
          </a:p>
        </p:txBody>
      </p:sp>
      <p:sp>
        <p:nvSpPr>
          <p:cNvPr id="10" name="모서리가 둥근 직사각형 9"/>
          <p:cNvSpPr/>
          <p:nvPr/>
        </p:nvSpPr>
        <p:spPr>
          <a:xfrm>
            <a:off x="6451600" y="2427288"/>
            <a:ext cx="1885950" cy="12827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93</a:t>
            </a:fld>
            <a:endParaRPr lang="ko-KR" altLang="en-US" dirty="0">
              <a:latin typeface="Arial" pitchFamily="34" charset="0"/>
              <a:cs typeface="Arial" pitchFamily="34" charset="0"/>
            </a:endParaRPr>
          </a:p>
        </p:txBody>
      </p:sp>
      <p:sp>
        <p:nvSpPr>
          <p:cNvPr id="17"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18"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30382876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3" name="Picture 10"/>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3783013" y="920750"/>
            <a:ext cx="5562600" cy="252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8" name="표 7"/>
          <p:cNvGraphicFramePr>
            <a:graphicFrameLocks noGrp="1"/>
          </p:cNvGraphicFramePr>
          <p:nvPr>
            <p:extLst>
              <p:ext uri="{D42A27DB-BD31-4B8C-83A1-F6EECF244321}">
                <p14:modId xmlns:p14="http://schemas.microsoft.com/office/powerpoint/2010/main" val="2237365808"/>
              </p:ext>
            </p:extLst>
          </p:nvPr>
        </p:nvGraphicFramePr>
        <p:xfrm>
          <a:off x="1039813" y="908050"/>
          <a:ext cx="2362200" cy="5105400"/>
        </p:xfrm>
        <a:graphic>
          <a:graphicData uri="http://schemas.openxmlformats.org/drawingml/2006/table">
            <a:tbl>
              <a:tblPr/>
              <a:tblGrid>
                <a:gridCol w="1304759">
                  <a:extLst>
                    <a:ext uri="{9D8B030D-6E8A-4147-A177-3AD203B41FA5}">
                      <a16:colId xmlns:a16="http://schemas.microsoft.com/office/drawing/2014/main" val="20000"/>
                    </a:ext>
                  </a:extLst>
                </a:gridCol>
                <a:gridCol w="551255">
                  <a:extLst>
                    <a:ext uri="{9D8B030D-6E8A-4147-A177-3AD203B41FA5}">
                      <a16:colId xmlns:a16="http://schemas.microsoft.com/office/drawing/2014/main" val="20001"/>
                    </a:ext>
                  </a:extLst>
                </a:gridCol>
                <a:gridCol w="506186">
                  <a:extLst>
                    <a:ext uri="{9D8B030D-6E8A-4147-A177-3AD203B41FA5}">
                      <a16:colId xmlns:a16="http://schemas.microsoft.com/office/drawing/2014/main" val="20002"/>
                    </a:ext>
                  </a:extLst>
                </a:gridCol>
              </a:tblGrid>
              <a:tr h="212725">
                <a:tc>
                  <a:txBody>
                    <a:bodyPr/>
                    <a:lstStyle/>
                    <a:p>
                      <a:pPr algn="l" fontAlgn="ctr"/>
                      <a:r>
                        <a:rPr lang="ko-KR" altLang="en-US" sz="900" b="0" i="0" u="none" strike="noStrike" dirty="0">
                          <a:solidFill>
                            <a:srgbClr val="000000"/>
                          </a:solidFill>
                          <a:latin typeface="맑은 고딕"/>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900" b="0" i="0" u="none" strike="noStrike" dirty="0">
                          <a:solidFill>
                            <a:srgbClr val="000000"/>
                          </a:solidFill>
                          <a:latin typeface="맑은 고딕"/>
                        </a:rPr>
                        <a:t>M13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900" b="0" i="0" u="none" strike="noStrike" dirty="0">
                          <a:solidFill>
                            <a:srgbClr val="000000"/>
                          </a:solidFill>
                          <a:latin typeface="맑은 고딕"/>
                        </a:rPr>
                        <a:t>FFR</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2725">
                <a:tc>
                  <a:txBody>
                    <a:bodyPr/>
                    <a:lstStyle/>
                    <a:p>
                      <a:pPr algn="ctr" fontAlgn="ctr"/>
                      <a:r>
                        <a:rPr lang="en-US" altLang="ko-KR" sz="900" b="1" i="0" u="none" strike="noStrike" dirty="0">
                          <a:solidFill>
                            <a:srgbClr val="000000"/>
                          </a:solidFill>
                          <a:latin typeface="맑은 고딕"/>
                        </a:rPr>
                        <a:t>Magic Remote Control</a:t>
                      </a:r>
                      <a:endParaRPr lang="ko-KR" altLang="en-US" sz="900" b="1" i="0" u="none" strike="noStrike" dirty="0">
                        <a:solidFill>
                          <a:srgbClr val="000000"/>
                        </a:solidFill>
                        <a:latin typeface="맑은 고딕"/>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tc>
                  <a:txBody>
                    <a:bodyPr/>
                    <a:lstStyle/>
                    <a:p>
                      <a:pPr algn="ctr" fontAlgn="ctr"/>
                      <a:r>
                        <a:rPr lang="en-US" altLang="ko-KR" sz="900" b="1" i="0" u="none" strike="noStrike" dirty="0">
                          <a:solidFill>
                            <a:srgbClr val="000000"/>
                          </a:solidFill>
                          <a:latin typeface="맑은 고딕"/>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tc>
                  <a:txBody>
                    <a:bodyPr/>
                    <a:lstStyle/>
                    <a:p>
                      <a:pPr algn="ctr" fontAlgn="ctr"/>
                      <a:r>
                        <a:rPr lang="en-US" altLang="ko-KR" sz="900" b="1" i="0" u="none" strike="noStrike" dirty="0">
                          <a:solidFill>
                            <a:srgbClr val="FF0000"/>
                          </a:solidFill>
                          <a:latin typeface="맑은 고딕"/>
                        </a:rPr>
                        <a:t>33%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extLst>
                  <a:ext uri="{0D108BD9-81ED-4DB2-BD59-A6C34878D82A}">
                    <a16:rowId xmlns:a16="http://schemas.microsoft.com/office/drawing/2014/main" val="10001"/>
                  </a:ext>
                </a:extLst>
              </a:tr>
              <a:tr h="212725">
                <a:tc>
                  <a:txBody>
                    <a:bodyPr/>
                    <a:lstStyle/>
                    <a:p>
                      <a:pPr algn="ctr" fontAlgn="ctr"/>
                      <a:r>
                        <a:rPr lang="en-US" sz="900" b="1" i="0" u="none" strike="noStrike" dirty="0">
                          <a:solidFill>
                            <a:srgbClr val="000000"/>
                          </a:solidFill>
                          <a:latin typeface="맑은 고딕"/>
                        </a:rPr>
                        <a:t>DVR</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tc>
                  <a:txBody>
                    <a:bodyPr/>
                    <a:lstStyle/>
                    <a:p>
                      <a:pPr algn="ctr" fontAlgn="ctr"/>
                      <a:r>
                        <a:rPr lang="en-US" altLang="ko-KR" sz="900" b="1" i="0" u="none" strike="noStrike" dirty="0">
                          <a:solidFill>
                            <a:srgbClr val="000000"/>
                          </a:solidFill>
                          <a:latin typeface="맑은 고딕"/>
                        </a:rPr>
                        <a:t>16%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tc>
                  <a:txBody>
                    <a:bodyPr/>
                    <a:lstStyle/>
                    <a:p>
                      <a:pPr algn="ctr" fontAlgn="ctr"/>
                      <a:r>
                        <a:rPr lang="en-US" altLang="ko-KR" sz="900" b="1" i="0" u="none" strike="noStrike" dirty="0">
                          <a:solidFill>
                            <a:srgbClr val="000000"/>
                          </a:solidFill>
                          <a:latin typeface="맑은 고딕"/>
                        </a:rPr>
                        <a:t>15%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extLst>
                  <a:ext uri="{0D108BD9-81ED-4DB2-BD59-A6C34878D82A}">
                    <a16:rowId xmlns:a16="http://schemas.microsoft.com/office/drawing/2014/main" val="10002"/>
                  </a:ext>
                </a:extLst>
              </a:tr>
              <a:tr h="212725">
                <a:tc>
                  <a:txBody>
                    <a:bodyPr/>
                    <a:lstStyle/>
                    <a:p>
                      <a:pPr algn="ctr" fontAlgn="ctr"/>
                      <a:r>
                        <a:rPr lang="en-US" sz="900" b="1" i="0" u="none" strike="noStrike" dirty="0">
                          <a:solidFill>
                            <a:srgbClr val="000000"/>
                          </a:solidFill>
                          <a:latin typeface="맑은 고딕"/>
                        </a:rPr>
                        <a:t>Network</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tc>
                  <a:txBody>
                    <a:bodyPr/>
                    <a:lstStyle/>
                    <a:p>
                      <a:pPr algn="ctr" fontAlgn="ctr"/>
                      <a:r>
                        <a:rPr lang="en-US" altLang="ko-KR" sz="900" b="1" i="0" u="none" strike="noStrike" dirty="0">
                          <a:solidFill>
                            <a:srgbClr val="000000"/>
                          </a:solidFill>
                          <a:latin typeface="맑은 고딕"/>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tc>
                  <a:txBody>
                    <a:bodyPr/>
                    <a:lstStyle/>
                    <a:p>
                      <a:pPr algn="ctr" fontAlgn="ctr"/>
                      <a:r>
                        <a:rPr lang="en-US" altLang="ko-KR" sz="900" b="1" i="0" u="none" strike="noStrike" dirty="0">
                          <a:solidFill>
                            <a:srgbClr val="000000"/>
                          </a:solidFill>
                          <a:latin typeface="맑은 고딕"/>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extLst>
                  <a:ext uri="{0D108BD9-81ED-4DB2-BD59-A6C34878D82A}">
                    <a16:rowId xmlns:a16="http://schemas.microsoft.com/office/drawing/2014/main" val="10003"/>
                  </a:ext>
                </a:extLst>
              </a:tr>
              <a:tr h="212725">
                <a:tc>
                  <a:txBody>
                    <a:bodyPr/>
                    <a:lstStyle/>
                    <a:p>
                      <a:pPr algn="ctr" fontAlgn="ctr"/>
                      <a:r>
                        <a:rPr lang="en-US" sz="900" b="0" i="0" u="none" strike="noStrike" dirty="0">
                          <a:solidFill>
                            <a:srgbClr val="000000"/>
                          </a:solidFill>
                          <a:latin typeface="맑은 고딕"/>
                        </a:rPr>
                        <a:t>Now&amp;Hot[KR/US]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18%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2725">
                <a:tc>
                  <a:txBody>
                    <a:bodyPr/>
                    <a:lstStyle/>
                    <a:p>
                      <a:pPr algn="ctr" fontAlgn="ctr"/>
                      <a:r>
                        <a:rPr lang="en-US" sz="900" b="1" i="0" u="none" strike="noStrike" dirty="0">
                          <a:solidFill>
                            <a:srgbClr val="000000"/>
                          </a:solidFill>
                          <a:latin typeface="맑은 고딕"/>
                        </a:rPr>
                        <a:t>Channel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tc>
                  <a:txBody>
                    <a:bodyPr/>
                    <a:lstStyle/>
                    <a:p>
                      <a:pPr algn="ctr" fontAlgn="ctr"/>
                      <a:r>
                        <a:rPr lang="en-US" altLang="ko-KR" sz="900" b="1" i="0" u="none" strike="noStrike" dirty="0">
                          <a:solidFill>
                            <a:srgbClr val="000000"/>
                          </a:solidFill>
                          <a:latin typeface="맑은 고딕"/>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tc>
                  <a:txBody>
                    <a:bodyPr/>
                    <a:lstStyle/>
                    <a:p>
                      <a:pPr algn="ctr" fontAlgn="ctr"/>
                      <a:r>
                        <a:rPr lang="en-US" altLang="ko-KR" sz="900" b="1" i="0" u="none" strike="noStrike" dirty="0">
                          <a:solidFill>
                            <a:srgbClr val="000000"/>
                          </a:solidFill>
                          <a:latin typeface="맑은 고딕"/>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99"/>
                    </a:solidFill>
                  </a:tcPr>
                </a:tc>
                <a:extLst>
                  <a:ext uri="{0D108BD9-81ED-4DB2-BD59-A6C34878D82A}">
                    <a16:rowId xmlns:a16="http://schemas.microsoft.com/office/drawing/2014/main" val="10005"/>
                  </a:ext>
                </a:extLst>
              </a:tr>
              <a:tr h="212725">
                <a:tc>
                  <a:txBody>
                    <a:bodyPr/>
                    <a:lstStyle/>
                    <a:p>
                      <a:pPr algn="ctr" fontAlgn="ctr"/>
                      <a:r>
                        <a:rPr lang="en-US" sz="900" b="0" i="0" u="none" strike="noStrike" dirty="0">
                          <a:solidFill>
                            <a:srgbClr val="000000"/>
                          </a:solidFill>
                          <a:latin typeface="맑은 고딕"/>
                        </a:rPr>
                        <a:t>Skype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2725">
                <a:tc>
                  <a:txBody>
                    <a:bodyPr/>
                    <a:lstStyle/>
                    <a:p>
                      <a:pPr algn="ctr" fontAlgn="ctr"/>
                      <a:r>
                        <a:rPr lang="en-US" sz="900" b="0" i="0" u="none" strike="noStrike" dirty="0">
                          <a:solidFill>
                            <a:srgbClr val="000000"/>
                          </a:solidFill>
                          <a:latin typeface="맑은 고딕"/>
                        </a:rPr>
                        <a:t>Factory Mode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2725">
                <a:tc>
                  <a:txBody>
                    <a:bodyPr/>
                    <a:lstStyle/>
                    <a:p>
                      <a:pPr algn="ctr" fontAlgn="ctr"/>
                      <a:r>
                        <a:rPr lang="en-US" sz="900" b="0" i="0" u="none" strike="noStrike" dirty="0">
                          <a:solidFill>
                            <a:srgbClr val="000000"/>
                          </a:solidFill>
                          <a:latin typeface="맑은 고딕"/>
                        </a:rPr>
                        <a:t>Premium</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12725">
                <a:tc>
                  <a:txBody>
                    <a:bodyPr/>
                    <a:lstStyle/>
                    <a:p>
                      <a:pPr algn="ctr" fontAlgn="ctr"/>
                      <a:r>
                        <a:rPr lang="en-US" sz="900" b="0" i="0" u="none" strike="noStrike" dirty="0">
                          <a:solidFill>
                            <a:srgbClr val="000000"/>
                          </a:solidFill>
                          <a:latin typeface="맑은 고딕"/>
                        </a:rPr>
                        <a:t>Video</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2725">
                <a:tc>
                  <a:txBody>
                    <a:bodyPr/>
                    <a:lstStyle/>
                    <a:p>
                      <a:pPr algn="ctr" fontAlgn="ctr"/>
                      <a:r>
                        <a:rPr lang="en-US" sz="900" b="0" i="0" u="none" strike="noStrike" dirty="0">
                          <a:solidFill>
                            <a:srgbClr val="000000"/>
                          </a:solidFill>
                          <a:latin typeface="맑은 고딕"/>
                        </a:rPr>
                        <a:t>LOCK</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12725">
                <a:tc>
                  <a:txBody>
                    <a:bodyPr/>
                    <a:lstStyle/>
                    <a:p>
                      <a:pPr algn="ctr" fontAlgn="ctr"/>
                      <a:r>
                        <a:rPr lang="en-US" sz="900" b="0" i="0" u="none" strike="noStrike" dirty="0">
                          <a:solidFill>
                            <a:srgbClr val="000000"/>
                          </a:solidFill>
                          <a:latin typeface="맑은 고딕"/>
                        </a:rPr>
                        <a:t>Gesture Recog.</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12725">
                <a:tc>
                  <a:txBody>
                    <a:bodyPr/>
                    <a:lstStyle/>
                    <a:p>
                      <a:pPr algn="ctr" fontAlgn="ctr"/>
                      <a:r>
                        <a:rPr lang="en-US" sz="900" b="0" i="0" u="none" strike="noStrike" dirty="0">
                          <a:solidFill>
                            <a:srgbClr val="000000"/>
                          </a:solidFill>
                          <a:latin typeface="맑은 고딕"/>
                        </a:rPr>
                        <a:t>Software Update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12725">
                <a:tc>
                  <a:txBody>
                    <a:bodyPr/>
                    <a:lstStyle/>
                    <a:p>
                      <a:pPr algn="ctr" fontAlgn="ctr"/>
                      <a:r>
                        <a:rPr lang="en-US" sz="900" b="0" i="0" u="none" strike="noStrike" dirty="0">
                          <a:solidFill>
                            <a:srgbClr val="000000"/>
                          </a:solidFill>
                          <a:latin typeface="맑은 고딕"/>
                        </a:rPr>
                        <a:t>Power</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12725">
                <a:tc>
                  <a:txBody>
                    <a:bodyPr/>
                    <a:lstStyle/>
                    <a:p>
                      <a:pPr algn="ctr" fontAlgn="ctr"/>
                      <a:r>
                        <a:rPr lang="en-US" sz="900" b="0" i="0" u="none" strike="noStrike" dirty="0">
                          <a:solidFill>
                            <a:srgbClr val="000000"/>
                          </a:solidFill>
                          <a:latin typeface="맑은 고딕"/>
                        </a:rPr>
                        <a:t>SmartS.Function</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12725">
                <a:tc>
                  <a:txBody>
                    <a:bodyPr/>
                    <a:lstStyle/>
                    <a:p>
                      <a:pPr algn="ctr" fontAlgn="ctr"/>
                      <a:r>
                        <a:rPr lang="en-US" altLang="ko-KR" sz="900" b="0" i="0" u="none" strike="noStrike" dirty="0">
                          <a:solidFill>
                            <a:srgbClr val="000000"/>
                          </a:solidFill>
                          <a:latin typeface="맑은 고딕"/>
                        </a:rPr>
                        <a:t>Remote Control</a:t>
                      </a:r>
                      <a:endParaRPr lang="ko-KR" altLang="en-US" sz="900" b="0" i="0" u="none" strike="noStrike" dirty="0">
                        <a:solidFill>
                          <a:srgbClr val="000000"/>
                        </a:solidFill>
                        <a:latin typeface="맑은 고딕"/>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212725">
                <a:tc>
                  <a:txBody>
                    <a:bodyPr/>
                    <a:lstStyle/>
                    <a:p>
                      <a:pPr algn="ctr" fontAlgn="ctr"/>
                      <a:r>
                        <a:rPr lang="en-US" sz="900" b="0" i="0" u="none" strike="noStrike" dirty="0">
                          <a:solidFill>
                            <a:srgbClr val="000000"/>
                          </a:solidFill>
                          <a:latin typeface="맑은 고딕"/>
                        </a:rPr>
                        <a:t>Internet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212725">
                <a:tc>
                  <a:txBody>
                    <a:bodyPr/>
                    <a:lstStyle/>
                    <a:p>
                      <a:pPr algn="ctr" fontAlgn="ctr"/>
                      <a:r>
                        <a:rPr lang="en-US" sz="900" b="0" i="0" u="none" strike="noStrike" dirty="0">
                          <a:solidFill>
                            <a:srgbClr val="000000"/>
                          </a:solidFill>
                          <a:latin typeface="맑은 고딕"/>
                        </a:rPr>
                        <a:t>External Input List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212725">
                <a:tc>
                  <a:txBody>
                    <a:bodyPr/>
                    <a:lstStyle/>
                    <a:p>
                      <a:pPr algn="ctr" fontAlgn="ctr"/>
                      <a:r>
                        <a:rPr lang="en-US" sz="900" b="0" i="0" u="none" strike="noStrike" dirty="0">
                          <a:solidFill>
                            <a:srgbClr val="000000"/>
                          </a:solidFill>
                          <a:latin typeface="맑은 고딕"/>
                        </a:rPr>
                        <a:t>HID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212725">
                <a:tc>
                  <a:txBody>
                    <a:bodyPr/>
                    <a:lstStyle/>
                    <a:p>
                      <a:pPr algn="ctr" fontAlgn="ctr"/>
                      <a:r>
                        <a:rPr lang="en-US" sz="900" b="0" i="0" u="none" strike="noStrike" dirty="0">
                          <a:solidFill>
                            <a:srgbClr val="000000"/>
                          </a:solidFill>
                          <a:latin typeface="맑은 고딕"/>
                        </a:rPr>
                        <a:t>Smartworld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212725">
                <a:tc>
                  <a:txBody>
                    <a:bodyPr/>
                    <a:lstStyle/>
                    <a:p>
                      <a:pPr algn="ctr" fontAlgn="ctr"/>
                      <a:r>
                        <a:rPr lang="en-US" sz="900" b="0" i="0" u="none" strike="noStrike" dirty="0">
                          <a:solidFill>
                            <a:srgbClr val="000000"/>
                          </a:solidFill>
                          <a:latin typeface="맑은 고딕"/>
                        </a:rPr>
                        <a:t>3D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0"/>
                  </a:ext>
                </a:extLst>
              </a:tr>
              <a:tr h="212725">
                <a:tc>
                  <a:txBody>
                    <a:bodyPr/>
                    <a:lstStyle/>
                    <a:p>
                      <a:pPr algn="ctr" fontAlgn="ctr"/>
                      <a:r>
                        <a:rPr lang="en-US" sz="900" b="0" i="0" u="none" strike="noStrike" dirty="0">
                          <a:solidFill>
                            <a:srgbClr val="000000"/>
                          </a:solidFill>
                          <a:latin typeface="맑은 고딕"/>
                        </a:rPr>
                        <a:t>Connectivity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r h="212725">
                <a:tc>
                  <a:txBody>
                    <a:bodyPr/>
                    <a:lstStyle/>
                    <a:p>
                      <a:pPr algn="ctr" fontAlgn="ctr"/>
                      <a:r>
                        <a:rPr lang="en-US" sz="900" b="0" i="0" u="none" strike="noStrike" dirty="0">
                          <a:solidFill>
                            <a:srgbClr val="000000"/>
                          </a:solidFill>
                          <a:latin typeface="맑은 고딕"/>
                        </a:rPr>
                        <a:t>Audio</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r h="212725">
                <a:tc>
                  <a:txBody>
                    <a:bodyPr/>
                    <a:lstStyle/>
                    <a:p>
                      <a:pPr algn="ctr" fontAlgn="ctr"/>
                      <a:r>
                        <a:rPr lang="en-US" altLang="ko-KR" sz="900" b="0" i="0" u="none" strike="noStrike" dirty="0">
                          <a:solidFill>
                            <a:srgbClr val="000000"/>
                          </a:solidFill>
                          <a:latin typeface="맑은 고딕"/>
                        </a:rPr>
                        <a:t>Total</a:t>
                      </a:r>
                      <a:endParaRPr lang="ko-KR" altLang="en-US" sz="900" b="0" i="0" u="none" strike="noStrike" dirty="0">
                        <a:solidFill>
                          <a:srgbClr val="000000"/>
                        </a:solidFill>
                        <a:latin typeface="맑은 고딕"/>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100%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latin typeface="맑은 고딕"/>
                        </a:rPr>
                        <a:t>100%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bl>
          </a:graphicData>
        </a:graphic>
      </p:graphicFrame>
      <p:pic>
        <p:nvPicPr>
          <p:cNvPr id="104556"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3783013" y="3498850"/>
            <a:ext cx="55626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94</a:t>
            </a:fld>
            <a:endParaRPr lang="ko-KR" altLang="en-US" dirty="0">
              <a:latin typeface="Arial" pitchFamily="34" charset="0"/>
              <a:cs typeface="Arial" pitchFamily="34" charset="0"/>
            </a:endParaRPr>
          </a:p>
        </p:txBody>
      </p:sp>
      <p:sp>
        <p:nvSpPr>
          <p:cNvPr id="11"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12"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43005699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5477"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2144713" y="1658283"/>
            <a:ext cx="5813425" cy="387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479" name="TextBox 5"/>
          <p:cNvSpPr txBox="1">
            <a:spLocks noChangeArrowheads="1"/>
          </p:cNvSpPr>
          <p:nvPr/>
        </p:nvSpPr>
        <p:spPr bwMode="auto">
          <a:xfrm>
            <a:off x="2146945" y="5661248"/>
            <a:ext cx="7128768"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1700"/>
              </a:lnSpc>
            </a:pP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‘No Power’, ‘Others’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chiếm</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tới</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90%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tổng</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số</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lỗi</a:t>
            </a:r>
            <a:endPar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endParaRPr>
          </a:p>
          <a:p>
            <a:pPr eaLnBrk="1" hangingPunct="1">
              <a:lnSpc>
                <a:spcPts val="1700"/>
              </a:lnSpc>
            </a:pP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‘Others’(including NDF), Contact Failure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được</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lựa</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chọn</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là</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mục</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tiêu</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của</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các</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hoạt</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động</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cải</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 </a:t>
            </a:r>
            <a:r>
              <a:rPr lang="en-US" altLang="ko-KR" sz="1200" dirty="0" err="1">
                <a:solidFill>
                  <a:srgbClr val="000000"/>
                </a:solidFill>
                <a:latin typeface="맑은 고딕" panose="020B0503020000020004" pitchFamily="50" charset="-127"/>
                <a:ea typeface="맑은 고딕" panose="020B0503020000020004" pitchFamily="50" charset="-127"/>
                <a:cs typeface="Arial" pitchFamily="34" charset="0"/>
              </a:rPr>
              <a:t>tiến</a:t>
            </a:r>
            <a:r>
              <a:rPr lang="en-US" altLang="ko-KR" sz="1200" dirty="0">
                <a:solidFill>
                  <a:srgbClr val="000000"/>
                </a:solidFill>
                <a:latin typeface="맑은 고딕" panose="020B0503020000020004" pitchFamily="50" charset="-127"/>
                <a:ea typeface="맑은 고딕" panose="020B0503020000020004"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95</a:t>
            </a:fld>
            <a:endParaRPr lang="ko-KR" altLang="en-US" dirty="0"/>
          </a:p>
        </p:txBody>
      </p:sp>
      <p:sp>
        <p:nvSpPr>
          <p:cNvPr id="10" name="TextBox 9"/>
          <p:cNvSpPr txBox="1"/>
          <p:nvPr/>
        </p:nvSpPr>
        <p:spPr>
          <a:xfrm>
            <a:off x="3224808" y="1725814"/>
            <a:ext cx="3888432" cy="372410"/>
          </a:xfrm>
          <a:prstGeom prst="rect">
            <a:avLst/>
          </a:prstGeom>
          <a:solidFill>
            <a:schemeClr val="bg1">
              <a:lumMod val="85000"/>
            </a:schemeClr>
          </a:solidFill>
        </p:spPr>
        <p:txBody>
          <a:bodyPr wrap="square" rtlCol="0">
            <a:spAutoFit/>
          </a:bodyPr>
          <a:lstStyle/>
          <a:p>
            <a:pPr algn="ctr">
              <a:lnSpc>
                <a:spcPct val="130000"/>
              </a:lnSpc>
              <a:buClr>
                <a:srgbClr val="C5003D"/>
              </a:buClr>
            </a:pPr>
            <a:r>
              <a:rPr lang="en-US" altLang="ko-KR" sz="1400" b="1" dirty="0"/>
              <a:t>Pareto Chart of Defects</a:t>
            </a:r>
            <a:endParaRPr lang="ko-KR" altLang="en-US" sz="1400" b="1" dirty="0"/>
          </a:p>
        </p:txBody>
      </p:sp>
      <p:sp>
        <p:nvSpPr>
          <p:cNvPr id="11"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12"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408508507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ct 685"/>
          <p:cNvGraphicFramePr>
            <a:graphicFrameLocks noChangeAspect="1"/>
          </p:cNvGraphicFramePr>
          <p:nvPr/>
        </p:nvGraphicFramePr>
        <p:xfrm>
          <a:off x="344488" y="1506538"/>
          <a:ext cx="4525962" cy="3516312"/>
        </p:xfrm>
        <a:graphic>
          <a:graphicData uri="http://schemas.openxmlformats.org/presentationml/2006/ole">
            <mc:AlternateContent xmlns:mc="http://schemas.openxmlformats.org/markup-compatibility/2006">
              <mc:Choice xmlns:v="urn:schemas-microsoft-com:vml" Requires="v">
                <p:oleObj name="차트" r:id="rId2" imgW="6134179" imgH="4076730" progId="MSGraph.Chart.8">
                  <p:embed followColorScheme="full"/>
                </p:oleObj>
              </mc:Choice>
              <mc:Fallback>
                <p:oleObj name="차트" r:id="rId2" imgW="6134179" imgH="4076730" progId="MSGraph.Chart.8">
                  <p:embed followColorScheme="full"/>
                  <p:pic>
                    <p:nvPicPr>
                      <p:cNvPr id="9" name="Object 68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4488" y="1506538"/>
                        <a:ext cx="4525962" cy="3516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6503" name="Text Box 686"/>
          <p:cNvSpPr txBox="1">
            <a:spLocks noChangeArrowheads="1"/>
          </p:cNvSpPr>
          <p:nvPr/>
        </p:nvSpPr>
        <p:spPr bwMode="auto">
          <a:xfrm>
            <a:off x="1628775" y="1341438"/>
            <a:ext cx="1512888" cy="307777"/>
          </a:xfrm>
          <a:prstGeom prst="rect">
            <a:avLst/>
          </a:prstGeom>
          <a:solidFill>
            <a:srgbClr val="FFFFCC"/>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400" dirty="0" err="1">
                <a:latin typeface="Arial" pitchFamily="34" charset="0"/>
                <a:ea typeface="HY헤드라인M" pitchFamily="18" charset="-127"/>
                <a:cs typeface="Arial" pitchFamily="34" charset="0"/>
              </a:rPr>
              <a:t>Trước</a:t>
            </a:r>
            <a:r>
              <a:rPr lang="en-US" altLang="ko-KR" sz="1400" dirty="0">
                <a:latin typeface="Arial" pitchFamily="34" charset="0"/>
                <a:ea typeface="HY헤드라인M" pitchFamily="18" charset="-127"/>
                <a:cs typeface="Arial" pitchFamily="34" charset="0"/>
              </a:rPr>
              <a:t> </a:t>
            </a:r>
            <a:r>
              <a:rPr lang="en-US" altLang="ko-KR" sz="1400" dirty="0" err="1">
                <a:latin typeface="Arial" pitchFamily="34" charset="0"/>
                <a:ea typeface="HY헤드라인M" pitchFamily="18" charset="-127"/>
                <a:cs typeface="Arial" pitchFamily="34" charset="0"/>
              </a:rPr>
              <a:t>cải</a:t>
            </a:r>
            <a:r>
              <a:rPr lang="en-US" altLang="ko-KR" sz="1400" dirty="0">
                <a:latin typeface="Arial" pitchFamily="34" charset="0"/>
                <a:ea typeface="HY헤드라인M" pitchFamily="18" charset="-127"/>
                <a:cs typeface="Arial" pitchFamily="34" charset="0"/>
              </a:rPr>
              <a:t> </a:t>
            </a:r>
            <a:r>
              <a:rPr lang="en-US" altLang="ko-KR" sz="1400" dirty="0" err="1">
                <a:latin typeface="Arial" pitchFamily="34" charset="0"/>
                <a:ea typeface="HY헤드라인M" pitchFamily="18" charset="-127"/>
                <a:cs typeface="Arial" pitchFamily="34" charset="0"/>
              </a:rPr>
              <a:t>tiến</a:t>
            </a:r>
            <a:endParaRPr lang="ko-KR" altLang="en-US" sz="1400" dirty="0">
              <a:latin typeface="Arial" pitchFamily="34" charset="0"/>
              <a:ea typeface="HY헤드라인M" pitchFamily="18" charset="-127"/>
              <a:cs typeface="Arial" pitchFamily="34" charset="0"/>
            </a:endParaRPr>
          </a:p>
        </p:txBody>
      </p:sp>
      <p:sp>
        <p:nvSpPr>
          <p:cNvPr id="106504" name="Text Box 690"/>
          <p:cNvSpPr txBox="1">
            <a:spLocks noChangeArrowheads="1"/>
          </p:cNvSpPr>
          <p:nvPr/>
        </p:nvSpPr>
        <p:spPr bwMode="auto">
          <a:xfrm>
            <a:off x="409575" y="1423988"/>
            <a:ext cx="595035" cy="40011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#of </a:t>
            </a:r>
          </a:p>
          <a:p>
            <a:pPr eaLnBrk="1" hangingPunct="1"/>
            <a:r>
              <a:rPr lang="en-US" altLang="ko-KR" sz="1000" dirty="0">
                <a:latin typeface="Arial" pitchFamily="34" charset="0"/>
                <a:cs typeface="Arial" pitchFamily="34" charset="0"/>
              </a:rPr>
              <a:t>defects</a:t>
            </a:r>
            <a:endParaRPr lang="ko-KR" altLang="en-US" sz="1000" dirty="0">
              <a:latin typeface="Arial" pitchFamily="34" charset="0"/>
              <a:cs typeface="Arial" pitchFamily="34" charset="0"/>
            </a:endParaRPr>
          </a:p>
        </p:txBody>
      </p:sp>
      <p:sp>
        <p:nvSpPr>
          <p:cNvPr id="106505" name="Text Box 691"/>
          <p:cNvSpPr txBox="1">
            <a:spLocks noChangeArrowheads="1"/>
          </p:cNvSpPr>
          <p:nvPr/>
        </p:nvSpPr>
        <p:spPr bwMode="auto">
          <a:xfrm>
            <a:off x="4030663" y="1387445"/>
            <a:ext cx="922047" cy="40011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Accumulated</a:t>
            </a:r>
          </a:p>
          <a:p>
            <a:pPr eaLnBrk="1" hangingPunct="1"/>
            <a:r>
              <a:rPr lang="en-US" altLang="ko-KR" sz="1000" dirty="0">
                <a:latin typeface="Arial" pitchFamily="34" charset="0"/>
                <a:cs typeface="Arial" pitchFamily="34" charset="0"/>
              </a:rPr>
              <a:t>Ratio</a:t>
            </a:r>
            <a:endParaRPr lang="ko-KR" altLang="en-US" sz="1000" dirty="0">
              <a:latin typeface="Arial" pitchFamily="34" charset="0"/>
              <a:cs typeface="Arial" pitchFamily="34" charset="0"/>
            </a:endParaRPr>
          </a:p>
        </p:txBody>
      </p:sp>
      <p:graphicFrame>
        <p:nvGraphicFramePr>
          <p:cNvPr id="13" name="Object 692"/>
          <p:cNvGraphicFramePr>
            <a:graphicFrameLocks noChangeAspect="1"/>
          </p:cNvGraphicFramePr>
          <p:nvPr/>
        </p:nvGraphicFramePr>
        <p:xfrm>
          <a:off x="5238750" y="1509713"/>
          <a:ext cx="4525963" cy="3513137"/>
        </p:xfrm>
        <a:graphic>
          <a:graphicData uri="http://schemas.openxmlformats.org/presentationml/2006/ole">
            <mc:AlternateContent xmlns:mc="http://schemas.openxmlformats.org/markup-compatibility/2006">
              <mc:Choice xmlns:v="urn:schemas-microsoft-com:vml" Requires="v">
                <p:oleObj name="차트" r:id="rId4" imgW="6134179" imgH="4076730" progId="MSGraph.Chart.8">
                  <p:embed followColorScheme="full"/>
                </p:oleObj>
              </mc:Choice>
              <mc:Fallback>
                <p:oleObj name="차트" r:id="rId4" imgW="6134179" imgH="4076730" progId="MSGraph.Chart.8">
                  <p:embed followColorScheme="full"/>
                  <p:pic>
                    <p:nvPicPr>
                      <p:cNvPr id="13" name="Object 6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38750" y="1509713"/>
                        <a:ext cx="4525963" cy="3513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6507" name="Text Box 693"/>
          <p:cNvSpPr txBox="1">
            <a:spLocks noChangeArrowheads="1"/>
          </p:cNvSpPr>
          <p:nvPr/>
        </p:nvSpPr>
        <p:spPr bwMode="auto">
          <a:xfrm>
            <a:off x="6897117" y="1341438"/>
            <a:ext cx="1368251" cy="307777"/>
          </a:xfrm>
          <a:prstGeom prst="rect">
            <a:avLst/>
          </a:prstGeom>
          <a:solidFill>
            <a:srgbClr val="FFFFCC"/>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400" dirty="0" err="1">
                <a:latin typeface="Arial" pitchFamily="34" charset="0"/>
                <a:ea typeface="HY헤드라인M" pitchFamily="18" charset="-127"/>
                <a:cs typeface="Arial" pitchFamily="34" charset="0"/>
              </a:rPr>
              <a:t>Sau</a:t>
            </a:r>
            <a:r>
              <a:rPr lang="en-US" altLang="ko-KR" sz="1400" dirty="0">
                <a:latin typeface="Arial" pitchFamily="34" charset="0"/>
                <a:ea typeface="HY헤드라인M" pitchFamily="18" charset="-127"/>
                <a:cs typeface="Arial" pitchFamily="34" charset="0"/>
              </a:rPr>
              <a:t> </a:t>
            </a:r>
            <a:r>
              <a:rPr lang="en-US" altLang="ko-KR" sz="1400" dirty="0" err="1">
                <a:latin typeface="Arial" pitchFamily="34" charset="0"/>
                <a:ea typeface="HY헤드라인M" pitchFamily="18" charset="-127"/>
                <a:cs typeface="Arial" pitchFamily="34" charset="0"/>
              </a:rPr>
              <a:t>cải</a:t>
            </a:r>
            <a:r>
              <a:rPr lang="en-US" altLang="ko-KR" sz="1400" dirty="0">
                <a:latin typeface="Arial" pitchFamily="34" charset="0"/>
                <a:ea typeface="HY헤드라인M" pitchFamily="18" charset="-127"/>
                <a:cs typeface="Arial" pitchFamily="34" charset="0"/>
              </a:rPr>
              <a:t> </a:t>
            </a:r>
            <a:r>
              <a:rPr lang="en-US" altLang="ko-KR" sz="1400" dirty="0" err="1">
                <a:latin typeface="Arial" pitchFamily="34" charset="0"/>
                <a:ea typeface="HY헤드라인M" pitchFamily="18" charset="-127"/>
                <a:cs typeface="Arial" pitchFamily="34" charset="0"/>
              </a:rPr>
              <a:t>tiến</a:t>
            </a:r>
            <a:endParaRPr lang="ko-KR" altLang="en-US" sz="1400" dirty="0">
              <a:latin typeface="Arial" pitchFamily="34" charset="0"/>
              <a:ea typeface="HY헤드라인M" pitchFamily="18" charset="-127"/>
              <a:cs typeface="Arial" pitchFamily="34" charset="0"/>
            </a:endParaRPr>
          </a:p>
        </p:txBody>
      </p:sp>
      <p:sp>
        <p:nvSpPr>
          <p:cNvPr id="106508" name="Rectangle 696"/>
          <p:cNvSpPr>
            <a:spLocks noChangeArrowheads="1"/>
          </p:cNvSpPr>
          <p:nvPr/>
        </p:nvSpPr>
        <p:spPr bwMode="auto">
          <a:xfrm>
            <a:off x="5356225" y="1587500"/>
            <a:ext cx="373063" cy="1149350"/>
          </a:xfrm>
          <a:prstGeom prst="rect">
            <a:avLst/>
          </a:prstGeom>
          <a:solidFill>
            <a:srgbClr val="FFFFFF"/>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06509" name="Text Box 694"/>
          <p:cNvSpPr txBox="1">
            <a:spLocks noChangeArrowheads="1"/>
          </p:cNvSpPr>
          <p:nvPr/>
        </p:nvSpPr>
        <p:spPr bwMode="auto">
          <a:xfrm>
            <a:off x="5289486" y="2204978"/>
            <a:ext cx="595035"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#of</a:t>
            </a:r>
          </a:p>
          <a:p>
            <a:pPr eaLnBrk="1" hangingPunct="1"/>
            <a:r>
              <a:rPr lang="en-US" altLang="ko-KR" sz="1000" dirty="0">
                <a:latin typeface="Arial" pitchFamily="34" charset="0"/>
                <a:cs typeface="Arial" pitchFamily="34" charset="0"/>
              </a:rPr>
              <a:t>defects</a:t>
            </a:r>
            <a:endParaRPr lang="ko-KR" altLang="en-US" sz="1000" dirty="0">
              <a:latin typeface="Arial" pitchFamily="34" charset="0"/>
              <a:cs typeface="Arial" pitchFamily="34" charset="0"/>
            </a:endParaRPr>
          </a:p>
        </p:txBody>
      </p:sp>
      <p:sp>
        <p:nvSpPr>
          <p:cNvPr id="106510" name="Rectangle 697"/>
          <p:cNvSpPr>
            <a:spLocks noChangeArrowheads="1"/>
          </p:cNvSpPr>
          <p:nvPr/>
        </p:nvSpPr>
        <p:spPr bwMode="auto">
          <a:xfrm>
            <a:off x="9167813" y="1651000"/>
            <a:ext cx="463550" cy="1073150"/>
          </a:xfrm>
          <a:prstGeom prst="rect">
            <a:avLst/>
          </a:prstGeom>
          <a:solidFill>
            <a:srgbClr val="FFFFFF"/>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06511" name="Text Box 695"/>
          <p:cNvSpPr txBox="1">
            <a:spLocks noChangeArrowheads="1"/>
          </p:cNvSpPr>
          <p:nvPr/>
        </p:nvSpPr>
        <p:spPr bwMode="auto">
          <a:xfrm>
            <a:off x="8924925" y="2446338"/>
            <a:ext cx="800219"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200" dirty="0">
                <a:latin typeface="Arial" pitchFamily="34" charset="0"/>
                <a:cs typeface="Arial" pitchFamily="34" charset="0"/>
              </a:rPr>
              <a:t>누적비율</a:t>
            </a:r>
          </a:p>
        </p:txBody>
      </p:sp>
      <p:sp>
        <p:nvSpPr>
          <p:cNvPr id="19" name="AutoShape 698"/>
          <p:cNvSpPr>
            <a:spLocks noChangeArrowheads="1"/>
          </p:cNvSpPr>
          <p:nvPr/>
        </p:nvSpPr>
        <p:spPr bwMode="auto">
          <a:xfrm>
            <a:off x="6137275" y="1984375"/>
            <a:ext cx="628650" cy="638175"/>
          </a:xfrm>
          <a:prstGeom prst="downArrow">
            <a:avLst>
              <a:gd name="adj1" fmla="val 61102"/>
              <a:gd name="adj2" fmla="val 42716"/>
            </a:avLst>
          </a:prstGeom>
          <a:gradFill rotWithShape="0">
            <a:gsLst>
              <a:gs pos="0">
                <a:schemeClr val="hlink"/>
              </a:gs>
              <a:gs pos="100000">
                <a:schemeClr val="hlink">
                  <a:gamma/>
                  <a:shade val="66667"/>
                  <a:invGamma/>
                </a:schemeClr>
              </a:gs>
            </a:gsLst>
            <a:lin ang="5400000" scaled="1"/>
          </a:gra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defTabSz="911225">
              <a:defRPr kumimoji="1" sz="2400">
                <a:solidFill>
                  <a:schemeClr val="tx1"/>
                </a:solidFill>
                <a:latin typeface="Times New Roman" pitchFamily="18" charset="0"/>
                <a:ea typeface="굴림" pitchFamily="50" charset="-127"/>
              </a:defRPr>
            </a:lvl1pPr>
            <a:lvl2pPr defTabSz="911225">
              <a:defRPr kumimoji="1" sz="2400">
                <a:solidFill>
                  <a:schemeClr val="tx1"/>
                </a:solidFill>
                <a:latin typeface="Times New Roman" pitchFamily="18" charset="0"/>
                <a:ea typeface="굴림" pitchFamily="50" charset="-127"/>
              </a:defRPr>
            </a:lvl2pPr>
            <a:lvl3pPr defTabSz="911225">
              <a:defRPr kumimoji="1" sz="2400">
                <a:solidFill>
                  <a:schemeClr val="tx1"/>
                </a:solidFill>
                <a:latin typeface="Times New Roman" pitchFamily="18" charset="0"/>
                <a:ea typeface="굴림" pitchFamily="50" charset="-127"/>
              </a:defRPr>
            </a:lvl3pPr>
            <a:lvl4pPr defTabSz="911225">
              <a:defRPr kumimoji="1" sz="2400">
                <a:solidFill>
                  <a:schemeClr val="tx1"/>
                </a:solidFill>
                <a:latin typeface="Times New Roman" pitchFamily="18" charset="0"/>
                <a:ea typeface="굴림" pitchFamily="50" charset="-127"/>
              </a:defRPr>
            </a:lvl4pPr>
            <a:lvl5pPr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a:defRPr/>
            </a:pPr>
            <a:endParaRPr lang="ko-KR" altLang="ko-KR" sz="1400" dirty="0">
              <a:latin typeface="Arial" pitchFamily="34" charset="0"/>
              <a:cs typeface="Arial" pitchFamily="34" charset="0"/>
            </a:endParaRPr>
          </a:p>
        </p:txBody>
      </p:sp>
      <p:sp>
        <p:nvSpPr>
          <p:cNvPr id="106513" name="Text Box 699"/>
          <p:cNvSpPr txBox="1">
            <a:spLocks noChangeArrowheads="1"/>
          </p:cNvSpPr>
          <p:nvPr/>
        </p:nvSpPr>
        <p:spPr bwMode="auto">
          <a:xfrm>
            <a:off x="6821488" y="2055813"/>
            <a:ext cx="17764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a:latin typeface="Arial" pitchFamily="34" charset="0"/>
                <a:cs typeface="Arial" pitchFamily="34" charset="0"/>
              </a:rPr>
              <a:t>38.1% improvement</a:t>
            </a:r>
            <a:endParaRPr lang="ko-KR" altLang="en-US" sz="1400"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96</a:t>
            </a:fld>
            <a:endParaRPr lang="ko-KR" altLang="en-US" dirty="0">
              <a:latin typeface="Arial" pitchFamily="34" charset="0"/>
              <a:cs typeface="Arial" pitchFamily="34" charset="0"/>
            </a:endParaRPr>
          </a:p>
        </p:txBody>
      </p:sp>
      <p:sp>
        <p:nvSpPr>
          <p:cNvPr id="20" name="Text Box 691"/>
          <p:cNvSpPr txBox="1">
            <a:spLocks noChangeArrowheads="1"/>
          </p:cNvSpPr>
          <p:nvPr/>
        </p:nvSpPr>
        <p:spPr bwMode="auto">
          <a:xfrm>
            <a:off x="8827165" y="2286000"/>
            <a:ext cx="922047" cy="40011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Accumulated</a:t>
            </a:r>
          </a:p>
          <a:p>
            <a:pPr eaLnBrk="1" hangingPunct="1"/>
            <a:r>
              <a:rPr lang="en-US" altLang="ko-KR" sz="1000" dirty="0">
                <a:latin typeface="Arial" pitchFamily="34" charset="0"/>
                <a:cs typeface="Arial" pitchFamily="34" charset="0"/>
              </a:rPr>
              <a:t>Ratio</a:t>
            </a:r>
            <a:endParaRPr lang="ko-KR" altLang="en-US" sz="1000" dirty="0">
              <a:latin typeface="Arial" pitchFamily="34" charset="0"/>
              <a:cs typeface="Arial" pitchFamily="34" charset="0"/>
            </a:endParaRPr>
          </a:p>
        </p:txBody>
      </p:sp>
      <p:sp>
        <p:nvSpPr>
          <p:cNvPr id="23" name="TextBox 22"/>
          <p:cNvSpPr txBox="1"/>
          <p:nvPr/>
        </p:nvSpPr>
        <p:spPr>
          <a:xfrm>
            <a:off x="1921237" y="4581128"/>
            <a:ext cx="638455" cy="292388"/>
          </a:xfrm>
          <a:prstGeom prst="rect">
            <a:avLst/>
          </a:prstGeom>
          <a:solidFill>
            <a:schemeClr val="bg1"/>
          </a:solidFill>
        </p:spPr>
        <p:txBody>
          <a:bodyPr wrap="square" rtlCol="0">
            <a:spAutoFit/>
          </a:bodyPr>
          <a:lstStyle/>
          <a:p>
            <a:pPr algn="ctr">
              <a:lnSpc>
                <a:spcPct val="130000"/>
              </a:lnSpc>
              <a:buClr>
                <a:srgbClr val="C5003D"/>
              </a:buClr>
            </a:pPr>
            <a:r>
              <a:rPr lang="en-US" altLang="ko-KR" sz="1000" b="1" dirty="0">
                <a:latin typeface="Arial" pitchFamily="34" charset="0"/>
                <a:cs typeface="Arial" pitchFamily="34" charset="0"/>
              </a:rPr>
              <a:t>Noise</a:t>
            </a:r>
            <a:endParaRPr lang="ko-KR" altLang="en-US" sz="1000" b="1" dirty="0">
              <a:latin typeface="Arial" pitchFamily="34" charset="0"/>
              <a:cs typeface="Arial" pitchFamily="34" charset="0"/>
            </a:endParaRPr>
          </a:p>
        </p:txBody>
      </p:sp>
      <p:sp>
        <p:nvSpPr>
          <p:cNvPr id="24" name="TextBox 23"/>
          <p:cNvSpPr txBox="1"/>
          <p:nvPr/>
        </p:nvSpPr>
        <p:spPr>
          <a:xfrm>
            <a:off x="1276827" y="4509120"/>
            <a:ext cx="795853" cy="400110"/>
          </a:xfrm>
          <a:prstGeom prst="rect">
            <a:avLst/>
          </a:prstGeom>
          <a:solidFill>
            <a:schemeClr val="bg1"/>
          </a:solidFill>
        </p:spPr>
        <p:txBody>
          <a:bodyPr wrap="square" rtlCol="0">
            <a:spAutoFit/>
          </a:bodyPr>
          <a:lstStyle/>
          <a:p>
            <a:pPr algn="ctr">
              <a:buClr>
                <a:srgbClr val="C5003D"/>
              </a:buClr>
            </a:pPr>
            <a:r>
              <a:rPr lang="en-US" altLang="ko-KR" sz="1000" b="1" dirty="0">
                <a:latin typeface="Arial" pitchFamily="34" charset="0"/>
                <a:cs typeface="Arial" pitchFamily="34" charset="0"/>
              </a:rPr>
              <a:t>Coil</a:t>
            </a:r>
          </a:p>
          <a:p>
            <a:pPr algn="ctr">
              <a:buClr>
                <a:srgbClr val="C5003D"/>
              </a:buClr>
            </a:pPr>
            <a:r>
              <a:rPr lang="en-US" altLang="ko-KR" sz="1000" b="1" dirty="0">
                <a:latin typeface="Arial" pitchFamily="34" charset="0"/>
                <a:cs typeface="Arial" pitchFamily="34" charset="0"/>
              </a:rPr>
              <a:t>deformed</a:t>
            </a:r>
            <a:endParaRPr lang="ko-KR" altLang="en-US" sz="1000" b="1" dirty="0">
              <a:latin typeface="Arial" pitchFamily="34" charset="0"/>
              <a:cs typeface="Arial" pitchFamily="34" charset="0"/>
            </a:endParaRPr>
          </a:p>
        </p:txBody>
      </p:sp>
      <p:sp>
        <p:nvSpPr>
          <p:cNvPr id="25" name="TextBox 24"/>
          <p:cNvSpPr txBox="1"/>
          <p:nvPr/>
        </p:nvSpPr>
        <p:spPr>
          <a:xfrm>
            <a:off x="729032" y="4581128"/>
            <a:ext cx="621687" cy="292388"/>
          </a:xfrm>
          <a:prstGeom prst="rect">
            <a:avLst/>
          </a:prstGeom>
          <a:solidFill>
            <a:schemeClr val="bg1"/>
          </a:solidFill>
        </p:spPr>
        <p:txBody>
          <a:bodyPr wrap="square" rtlCol="0">
            <a:spAutoFit/>
          </a:bodyPr>
          <a:lstStyle/>
          <a:p>
            <a:pPr algn="ctr">
              <a:lnSpc>
                <a:spcPct val="130000"/>
              </a:lnSpc>
              <a:buClr>
                <a:srgbClr val="C5003D"/>
              </a:buClr>
            </a:pPr>
            <a:r>
              <a:rPr lang="en-US" altLang="ko-KR" sz="1000" b="1" dirty="0">
                <a:latin typeface="Arial" pitchFamily="34" charset="0"/>
                <a:cs typeface="Arial" pitchFamily="34" charset="0"/>
              </a:rPr>
              <a:t>Short</a:t>
            </a:r>
            <a:endParaRPr lang="ko-KR" altLang="en-US" sz="1000" b="1" dirty="0">
              <a:latin typeface="Arial" pitchFamily="34" charset="0"/>
              <a:cs typeface="Arial" pitchFamily="34" charset="0"/>
            </a:endParaRPr>
          </a:p>
        </p:txBody>
      </p:sp>
      <p:sp>
        <p:nvSpPr>
          <p:cNvPr id="21" name="TextBox 20"/>
          <p:cNvSpPr txBox="1"/>
          <p:nvPr/>
        </p:nvSpPr>
        <p:spPr>
          <a:xfrm>
            <a:off x="3141662" y="4555286"/>
            <a:ext cx="733327" cy="307777"/>
          </a:xfrm>
          <a:prstGeom prst="rect">
            <a:avLst/>
          </a:prstGeom>
          <a:solidFill>
            <a:schemeClr val="bg1"/>
          </a:solidFill>
        </p:spPr>
        <p:txBody>
          <a:bodyPr wrap="square" lIns="0" tIns="0" rIns="0" bIns="0" rtlCol="0" anchor="ctr" anchorCtr="0">
            <a:spAutoFit/>
          </a:bodyPr>
          <a:lstStyle/>
          <a:p>
            <a:pPr algn="ctr">
              <a:buClr>
                <a:srgbClr val="C5003D"/>
              </a:buClr>
            </a:pPr>
            <a:r>
              <a:rPr lang="en-US" altLang="ko-KR" sz="1000" b="1" dirty="0">
                <a:latin typeface="Arial" pitchFamily="34" charset="0"/>
                <a:cs typeface="Arial" pitchFamily="34" charset="0"/>
              </a:rPr>
              <a:t>Withstand Voltage</a:t>
            </a:r>
            <a:endParaRPr lang="ko-KR" altLang="en-US" sz="1000" b="1" dirty="0">
              <a:latin typeface="Arial" pitchFamily="34" charset="0"/>
              <a:cs typeface="Arial" pitchFamily="34" charset="0"/>
            </a:endParaRPr>
          </a:p>
        </p:txBody>
      </p:sp>
      <p:sp>
        <p:nvSpPr>
          <p:cNvPr id="22" name="TextBox 21"/>
          <p:cNvSpPr txBox="1"/>
          <p:nvPr/>
        </p:nvSpPr>
        <p:spPr>
          <a:xfrm>
            <a:off x="2473578" y="4573433"/>
            <a:ext cx="668084" cy="307777"/>
          </a:xfrm>
          <a:prstGeom prst="rect">
            <a:avLst/>
          </a:prstGeom>
          <a:solidFill>
            <a:schemeClr val="bg1"/>
          </a:solidFill>
        </p:spPr>
        <p:txBody>
          <a:bodyPr wrap="square" lIns="0" tIns="0" rIns="0" bIns="0" rtlCol="0" anchor="ctr" anchorCtr="0">
            <a:spAutoFit/>
          </a:bodyPr>
          <a:lstStyle/>
          <a:p>
            <a:pPr algn="ctr">
              <a:buClr>
                <a:srgbClr val="C5003D"/>
              </a:buClr>
            </a:pPr>
            <a:r>
              <a:rPr lang="en-US" altLang="ko-KR" sz="1000" b="1" dirty="0">
                <a:latin typeface="Arial" pitchFamily="34" charset="0"/>
                <a:cs typeface="Arial" pitchFamily="34" charset="0"/>
              </a:rPr>
              <a:t>Impurities/</a:t>
            </a:r>
          </a:p>
          <a:p>
            <a:pPr algn="ctr">
              <a:buClr>
                <a:srgbClr val="C5003D"/>
              </a:buClr>
            </a:pPr>
            <a:r>
              <a:rPr lang="en-US" altLang="ko-KR" sz="1000" b="1" dirty="0">
                <a:latin typeface="Arial" pitchFamily="34" charset="0"/>
                <a:cs typeface="Arial" pitchFamily="34" charset="0"/>
              </a:rPr>
              <a:t>Dirt</a:t>
            </a:r>
            <a:endParaRPr lang="ko-KR" altLang="en-US" sz="1000" b="1" dirty="0">
              <a:latin typeface="Arial" pitchFamily="34" charset="0"/>
              <a:cs typeface="Arial" pitchFamily="34" charset="0"/>
            </a:endParaRPr>
          </a:p>
        </p:txBody>
      </p:sp>
      <p:sp>
        <p:nvSpPr>
          <p:cNvPr id="26" name="TextBox 25"/>
          <p:cNvSpPr txBox="1"/>
          <p:nvPr/>
        </p:nvSpPr>
        <p:spPr>
          <a:xfrm>
            <a:off x="3800872" y="4576772"/>
            <a:ext cx="638455" cy="292388"/>
          </a:xfrm>
          <a:prstGeom prst="rect">
            <a:avLst/>
          </a:prstGeom>
          <a:solidFill>
            <a:schemeClr val="bg1"/>
          </a:solidFill>
        </p:spPr>
        <p:txBody>
          <a:bodyPr wrap="square" rtlCol="0">
            <a:spAutoFit/>
          </a:bodyPr>
          <a:lstStyle/>
          <a:p>
            <a:pPr algn="ctr">
              <a:lnSpc>
                <a:spcPct val="130000"/>
              </a:lnSpc>
              <a:buClr>
                <a:srgbClr val="C5003D"/>
              </a:buClr>
            </a:pPr>
            <a:r>
              <a:rPr lang="en-US" altLang="ko-KR" sz="1000" b="1" dirty="0">
                <a:latin typeface="Arial" pitchFamily="34" charset="0"/>
                <a:cs typeface="Arial" pitchFamily="34" charset="0"/>
              </a:rPr>
              <a:t>Others</a:t>
            </a:r>
            <a:endParaRPr lang="ko-KR" altLang="en-US" sz="1000" b="1" dirty="0">
              <a:latin typeface="Arial" pitchFamily="34" charset="0"/>
              <a:cs typeface="Arial" pitchFamily="34" charset="0"/>
            </a:endParaRPr>
          </a:p>
        </p:txBody>
      </p:sp>
      <p:sp>
        <p:nvSpPr>
          <p:cNvPr id="33" name="TextBox 32"/>
          <p:cNvSpPr txBox="1"/>
          <p:nvPr/>
        </p:nvSpPr>
        <p:spPr>
          <a:xfrm>
            <a:off x="6827398" y="4581128"/>
            <a:ext cx="638455" cy="292388"/>
          </a:xfrm>
          <a:prstGeom prst="rect">
            <a:avLst/>
          </a:prstGeom>
          <a:solidFill>
            <a:schemeClr val="bg1"/>
          </a:solidFill>
        </p:spPr>
        <p:txBody>
          <a:bodyPr wrap="square" rtlCol="0">
            <a:spAutoFit/>
          </a:bodyPr>
          <a:lstStyle/>
          <a:p>
            <a:pPr algn="ctr">
              <a:lnSpc>
                <a:spcPct val="130000"/>
              </a:lnSpc>
              <a:buClr>
                <a:srgbClr val="C5003D"/>
              </a:buClr>
            </a:pPr>
            <a:r>
              <a:rPr lang="en-US" altLang="ko-KR" sz="1000" b="1" dirty="0">
                <a:latin typeface="Arial" pitchFamily="34" charset="0"/>
                <a:cs typeface="Arial" pitchFamily="34" charset="0"/>
              </a:rPr>
              <a:t>Noise</a:t>
            </a:r>
            <a:endParaRPr lang="ko-KR" altLang="en-US" sz="1000" b="1" dirty="0">
              <a:latin typeface="Arial" pitchFamily="34" charset="0"/>
              <a:cs typeface="Arial" pitchFamily="34" charset="0"/>
            </a:endParaRPr>
          </a:p>
        </p:txBody>
      </p:sp>
      <p:sp>
        <p:nvSpPr>
          <p:cNvPr id="34" name="TextBox 33"/>
          <p:cNvSpPr txBox="1"/>
          <p:nvPr/>
        </p:nvSpPr>
        <p:spPr>
          <a:xfrm>
            <a:off x="6182988" y="4509120"/>
            <a:ext cx="795853" cy="400110"/>
          </a:xfrm>
          <a:prstGeom prst="rect">
            <a:avLst/>
          </a:prstGeom>
          <a:solidFill>
            <a:schemeClr val="bg1"/>
          </a:solidFill>
        </p:spPr>
        <p:txBody>
          <a:bodyPr wrap="square" rtlCol="0">
            <a:spAutoFit/>
          </a:bodyPr>
          <a:lstStyle/>
          <a:p>
            <a:pPr algn="ctr">
              <a:buClr>
                <a:srgbClr val="C5003D"/>
              </a:buClr>
            </a:pPr>
            <a:r>
              <a:rPr lang="en-US" altLang="ko-KR" sz="1000" b="1" dirty="0">
                <a:latin typeface="Arial" pitchFamily="34" charset="0"/>
                <a:cs typeface="Arial" pitchFamily="34" charset="0"/>
              </a:rPr>
              <a:t>Coil</a:t>
            </a:r>
          </a:p>
          <a:p>
            <a:pPr algn="ctr">
              <a:buClr>
                <a:srgbClr val="C5003D"/>
              </a:buClr>
            </a:pPr>
            <a:r>
              <a:rPr lang="en-US" altLang="ko-KR" sz="1000" b="1" dirty="0">
                <a:latin typeface="Arial" pitchFamily="34" charset="0"/>
                <a:cs typeface="Arial" pitchFamily="34" charset="0"/>
              </a:rPr>
              <a:t>deformed</a:t>
            </a:r>
            <a:endParaRPr lang="ko-KR" altLang="en-US" sz="1000" b="1" dirty="0">
              <a:latin typeface="Arial" pitchFamily="34" charset="0"/>
              <a:cs typeface="Arial" pitchFamily="34" charset="0"/>
            </a:endParaRPr>
          </a:p>
        </p:txBody>
      </p:sp>
      <p:sp>
        <p:nvSpPr>
          <p:cNvPr id="35" name="TextBox 34"/>
          <p:cNvSpPr txBox="1"/>
          <p:nvPr/>
        </p:nvSpPr>
        <p:spPr>
          <a:xfrm>
            <a:off x="5635193" y="4581128"/>
            <a:ext cx="621687" cy="292388"/>
          </a:xfrm>
          <a:prstGeom prst="rect">
            <a:avLst/>
          </a:prstGeom>
          <a:solidFill>
            <a:schemeClr val="bg1"/>
          </a:solidFill>
        </p:spPr>
        <p:txBody>
          <a:bodyPr wrap="square" rtlCol="0">
            <a:spAutoFit/>
          </a:bodyPr>
          <a:lstStyle/>
          <a:p>
            <a:pPr algn="ctr">
              <a:lnSpc>
                <a:spcPct val="130000"/>
              </a:lnSpc>
              <a:buClr>
                <a:srgbClr val="C5003D"/>
              </a:buClr>
            </a:pPr>
            <a:r>
              <a:rPr lang="en-US" altLang="ko-KR" sz="1000" b="1" dirty="0">
                <a:latin typeface="Arial" pitchFamily="34" charset="0"/>
                <a:cs typeface="Arial" pitchFamily="34" charset="0"/>
              </a:rPr>
              <a:t>Short</a:t>
            </a:r>
            <a:endParaRPr lang="ko-KR" altLang="en-US" sz="1000" b="1" dirty="0">
              <a:latin typeface="Arial" pitchFamily="34" charset="0"/>
              <a:cs typeface="Arial" pitchFamily="34" charset="0"/>
            </a:endParaRPr>
          </a:p>
        </p:txBody>
      </p:sp>
      <p:sp>
        <p:nvSpPr>
          <p:cNvPr id="36" name="TextBox 35"/>
          <p:cNvSpPr txBox="1"/>
          <p:nvPr/>
        </p:nvSpPr>
        <p:spPr>
          <a:xfrm>
            <a:off x="8047823" y="4555286"/>
            <a:ext cx="733327" cy="307777"/>
          </a:xfrm>
          <a:prstGeom prst="rect">
            <a:avLst/>
          </a:prstGeom>
          <a:solidFill>
            <a:schemeClr val="bg1"/>
          </a:solidFill>
        </p:spPr>
        <p:txBody>
          <a:bodyPr wrap="square" lIns="0" tIns="0" rIns="0" bIns="0" rtlCol="0" anchor="ctr" anchorCtr="0">
            <a:spAutoFit/>
          </a:bodyPr>
          <a:lstStyle/>
          <a:p>
            <a:pPr algn="ctr">
              <a:buClr>
                <a:srgbClr val="C5003D"/>
              </a:buClr>
            </a:pPr>
            <a:r>
              <a:rPr lang="en-US" altLang="ko-KR" sz="1000" b="1" dirty="0">
                <a:latin typeface="Arial" pitchFamily="34" charset="0"/>
                <a:cs typeface="Arial" pitchFamily="34" charset="0"/>
              </a:rPr>
              <a:t>Withstand Voltage</a:t>
            </a:r>
            <a:endParaRPr lang="ko-KR" altLang="en-US" sz="1000" b="1" dirty="0">
              <a:latin typeface="Arial" pitchFamily="34" charset="0"/>
              <a:cs typeface="Arial" pitchFamily="34" charset="0"/>
            </a:endParaRPr>
          </a:p>
        </p:txBody>
      </p:sp>
      <p:sp>
        <p:nvSpPr>
          <p:cNvPr id="37" name="TextBox 36"/>
          <p:cNvSpPr txBox="1"/>
          <p:nvPr/>
        </p:nvSpPr>
        <p:spPr>
          <a:xfrm>
            <a:off x="7379739" y="4573433"/>
            <a:ext cx="668084" cy="307777"/>
          </a:xfrm>
          <a:prstGeom prst="rect">
            <a:avLst/>
          </a:prstGeom>
          <a:solidFill>
            <a:schemeClr val="bg1"/>
          </a:solidFill>
        </p:spPr>
        <p:txBody>
          <a:bodyPr wrap="square" lIns="0" tIns="0" rIns="0" bIns="0" rtlCol="0" anchor="ctr" anchorCtr="0">
            <a:spAutoFit/>
          </a:bodyPr>
          <a:lstStyle/>
          <a:p>
            <a:pPr algn="ctr">
              <a:buClr>
                <a:srgbClr val="C5003D"/>
              </a:buClr>
            </a:pPr>
            <a:r>
              <a:rPr lang="en-US" altLang="ko-KR" sz="1000" b="1" dirty="0">
                <a:latin typeface="Arial" pitchFamily="34" charset="0"/>
                <a:cs typeface="Arial" pitchFamily="34" charset="0"/>
              </a:rPr>
              <a:t>Impurities/</a:t>
            </a:r>
          </a:p>
          <a:p>
            <a:pPr algn="ctr">
              <a:buClr>
                <a:srgbClr val="C5003D"/>
              </a:buClr>
            </a:pPr>
            <a:r>
              <a:rPr lang="en-US" altLang="ko-KR" sz="1000" b="1" dirty="0">
                <a:latin typeface="Arial" pitchFamily="34" charset="0"/>
                <a:cs typeface="Arial" pitchFamily="34" charset="0"/>
              </a:rPr>
              <a:t>Dirt</a:t>
            </a:r>
            <a:endParaRPr lang="ko-KR" altLang="en-US" sz="1000" b="1" dirty="0">
              <a:latin typeface="Arial" pitchFamily="34" charset="0"/>
              <a:cs typeface="Arial" pitchFamily="34" charset="0"/>
            </a:endParaRPr>
          </a:p>
        </p:txBody>
      </p:sp>
      <p:sp>
        <p:nvSpPr>
          <p:cNvPr id="38" name="TextBox 37"/>
          <p:cNvSpPr txBox="1"/>
          <p:nvPr/>
        </p:nvSpPr>
        <p:spPr>
          <a:xfrm>
            <a:off x="8707033" y="4576772"/>
            <a:ext cx="638455" cy="292388"/>
          </a:xfrm>
          <a:prstGeom prst="rect">
            <a:avLst/>
          </a:prstGeom>
          <a:solidFill>
            <a:schemeClr val="bg1"/>
          </a:solidFill>
        </p:spPr>
        <p:txBody>
          <a:bodyPr wrap="square" rtlCol="0">
            <a:spAutoFit/>
          </a:bodyPr>
          <a:lstStyle/>
          <a:p>
            <a:pPr algn="ctr">
              <a:lnSpc>
                <a:spcPct val="130000"/>
              </a:lnSpc>
              <a:buClr>
                <a:srgbClr val="C5003D"/>
              </a:buClr>
            </a:pPr>
            <a:r>
              <a:rPr lang="en-US" altLang="ko-KR" sz="1000" b="1" dirty="0">
                <a:latin typeface="Arial" pitchFamily="34" charset="0"/>
                <a:cs typeface="Arial" pitchFamily="34" charset="0"/>
              </a:rPr>
              <a:t>Others</a:t>
            </a:r>
            <a:endParaRPr lang="ko-KR" altLang="en-US" sz="1000" b="1" dirty="0">
              <a:latin typeface="Arial" pitchFamily="34" charset="0"/>
              <a:cs typeface="Arial" pitchFamily="34" charset="0"/>
            </a:endParaRPr>
          </a:p>
        </p:txBody>
      </p:sp>
      <p:sp>
        <p:nvSpPr>
          <p:cNvPr id="30"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31"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88075612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TextBox 1"/>
          <p:cNvSpPr txBox="1">
            <a:spLocks noChangeArrowheads="1"/>
          </p:cNvSpPr>
          <p:nvPr/>
        </p:nvSpPr>
        <p:spPr bwMode="auto">
          <a:xfrm>
            <a:off x="1373655" y="1144371"/>
            <a:ext cx="5570756"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err="1">
                <a:latin typeface="Arial" pitchFamily="34" charset="0"/>
                <a:ea typeface="맑은 고딕" pitchFamily="50" charset="-127"/>
                <a:cs typeface="Arial" pitchFamily="34" charset="0"/>
              </a:rPr>
              <a:t>Xây</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dựng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 </a:t>
            </a:r>
            <a:r>
              <a:rPr lang="en-US" altLang="ko-KR" sz="1600" b="1" dirty="0" err="1">
                <a:latin typeface="Arial" pitchFamily="34" charset="0"/>
                <a:ea typeface="맑은 고딕" pitchFamily="50" charset="-127"/>
                <a:cs typeface="Arial" pitchFamily="34" charset="0"/>
              </a:rPr>
              <a:t>dựa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dữ</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từ</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bảng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dưới</a:t>
            </a:r>
            <a:endParaRPr lang="en-US" altLang="ko-KR" sz="1600" b="1" dirty="0">
              <a:latin typeface="Arial" pitchFamily="34" charset="0"/>
              <a:ea typeface="맑은 고딕" pitchFamily="50" charset="-127"/>
              <a:cs typeface="Arial" pitchFamily="34" charset="0"/>
            </a:endParaRPr>
          </a:p>
        </p:txBody>
      </p:sp>
      <p:graphicFrame>
        <p:nvGraphicFramePr>
          <p:cNvPr id="3" name="표 2"/>
          <p:cNvGraphicFramePr>
            <a:graphicFrameLocks noGrp="1"/>
          </p:cNvGraphicFramePr>
          <p:nvPr>
            <p:extLst>
              <p:ext uri="{D42A27DB-BD31-4B8C-83A1-F6EECF244321}">
                <p14:modId xmlns:p14="http://schemas.microsoft.com/office/powerpoint/2010/main" val="195153857"/>
              </p:ext>
            </p:extLst>
          </p:nvPr>
        </p:nvGraphicFramePr>
        <p:xfrm>
          <a:off x="1136576" y="2422181"/>
          <a:ext cx="7489452" cy="3167059"/>
        </p:xfrm>
        <a:graphic>
          <a:graphicData uri="http://schemas.openxmlformats.org/drawingml/2006/table">
            <a:tbl>
              <a:tblPr/>
              <a:tblGrid>
                <a:gridCol w="1408112">
                  <a:extLst>
                    <a:ext uri="{9D8B030D-6E8A-4147-A177-3AD203B41FA5}">
                      <a16:colId xmlns:a16="http://schemas.microsoft.com/office/drawing/2014/main" val="20000"/>
                    </a:ext>
                  </a:extLst>
                </a:gridCol>
                <a:gridCol w="1150938">
                  <a:extLst>
                    <a:ext uri="{9D8B030D-6E8A-4147-A177-3AD203B41FA5}">
                      <a16:colId xmlns:a16="http://schemas.microsoft.com/office/drawing/2014/main" val="20001"/>
                    </a:ext>
                  </a:extLst>
                </a:gridCol>
                <a:gridCol w="1704975">
                  <a:extLst>
                    <a:ext uri="{9D8B030D-6E8A-4147-A177-3AD203B41FA5}">
                      <a16:colId xmlns:a16="http://schemas.microsoft.com/office/drawing/2014/main" val="20002"/>
                    </a:ext>
                  </a:extLst>
                </a:gridCol>
                <a:gridCol w="1643062">
                  <a:extLst>
                    <a:ext uri="{9D8B030D-6E8A-4147-A177-3AD203B41FA5}">
                      <a16:colId xmlns:a16="http://schemas.microsoft.com/office/drawing/2014/main" val="20003"/>
                    </a:ext>
                  </a:extLst>
                </a:gridCol>
                <a:gridCol w="1582365">
                  <a:extLst>
                    <a:ext uri="{9D8B030D-6E8A-4147-A177-3AD203B41FA5}">
                      <a16:colId xmlns:a16="http://schemas.microsoft.com/office/drawing/2014/main" val="20004"/>
                    </a:ext>
                  </a:extLst>
                </a:gridCol>
              </a:tblGrid>
              <a:tr h="452437">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rgbClr val="000000"/>
                          </a:solidFill>
                          <a:effectLst/>
                          <a:latin typeface="Arial" pitchFamily="34" charset="0"/>
                          <a:ea typeface="맑은 고딕" pitchFamily="50" charset="-127"/>
                          <a:cs typeface="Arial" pitchFamily="34" charset="0"/>
                        </a:rPr>
                        <a:t>Defect Item</a:t>
                      </a:r>
                      <a:endParaRPr kumimoji="0" lang="ko-KR" altLang="en-US" sz="1200" b="1"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rgbClr val="000000"/>
                          </a:solidFill>
                          <a:effectLst/>
                          <a:latin typeface="Arial" pitchFamily="34" charset="0"/>
                          <a:ea typeface="맑은 고딕" pitchFamily="50" charset="-127"/>
                          <a:cs typeface="Arial" pitchFamily="34" charset="0"/>
                        </a:rPr>
                        <a:t># of defects</a:t>
                      </a:r>
                      <a:endParaRPr kumimoji="0" lang="ko-KR" altLang="en-US" sz="1200" b="1"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rgbClr val="000000"/>
                          </a:solidFill>
                          <a:effectLst/>
                          <a:latin typeface="Arial" pitchFamily="34" charset="0"/>
                          <a:ea typeface="맑은 고딕" pitchFamily="50" charset="-127"/>
                          <a:cs typeface="Arial" pitchFamily="34" charset="0"/>
                        </a:rPr>
                        <a:t>Accumulated # of defects</a:t>
                      </a:r>
                      <a:endParaRPr kumimoji="0" lang="ko-KR" altLang="en-US" sz="1200" b="1"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rgbClr val="000000"/>
                          </a:solidFill>
                          <a:effectLst/>
                          <a:latin typeface="Arial" pitchFamily="34" charset="0"/>
                          <a:ea typeface="맑은 고딕" pitchFamily="50" charset="-127"/>
                          <a:cs typeface="Arial" pitchFamily="34" charset="0"/>
                        </a:rPr>
                        <a:t>%</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rgbClr val="000000"/>
                          </a:solidFill>
                          <a:effectLst/>
                          <a:latin typeface="Arial" pitchFamily="34" charset="0"/>
                          <a:ea typeface="맑은 고딕" pitchFamily="50" charset="-127"/>
                          <a:cs typeface="Arial" pitchFamily="34" charset="0"/>
                        </a:rPr>
                        <a:t>Accumulated</a:t>
                      </a:r>
                    </a:p>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rgbClr val="000000"/>
                          </a:solidFill>
                          <a:effectLst/>
                          <a:latin typeface="Arial" pitchFamily="34" charset="0"/>
                          <a:ea typeface="맑은 고딕" pitchFamily="50" charset="-127"/>
                          <a:cs typeface="Arial" pitchFamily="34" charset="0"/>
                        </a:rPr>
                        <a:t>%</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10000"/>
                  </a:ext>
                </a:extLst>
              </a:tr>
              <a:tr h="452437">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Warping</a:t>
                      </a:r>
                      <a:endPar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98</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98</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60.1%</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60.1%</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52437">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Gap</a:t>
                      </a:r>
                      <a:endPar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33</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131</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20.2%</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80.3%</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52437">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Fold line deviation</a:t>
                      </a:r>
                      <a:endPar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20</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151</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12.3%</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92.6%</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52437">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Scratch</a:t>
                      </a:r>
                      <a:endPar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5</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156</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3.1%</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95.7%</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52437">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Others</a:t>
                      </a:r>
                      <a:endPar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7</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163</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4.3%</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100.0%</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52437">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Total</a:t>
                      </a:r>
                      <a:endPar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endParaRP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163</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　</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en-US" altLang="ko-KR"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100%</a:t>
                      </a:r>
                      <a:r>
                        <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　</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kumimoji="1" sz="2800">
                          <a:solidFill>
                            <a:srgbClr val="000000"/>
                          </a:solidFill>
                          <a:latin typeface="굴림" pitchFamily="50" charset="-127"/>
                          <a:ea typeface="굴림" pitchFamily="50" charset="-127"/>
                        </a:defRPr>
                      </a:lvl1pPr>
                      <a:lvl2pPr marL="742950" indent="-285750" eaLnBrk="0" hangingPunct="0">
                        <a:spcBef>
                          <a:spcPct val="20000"/>
                        </a:spcBef>
                        <a:defRPr kumimoji="1" sz="2400">
                          <a:solidFill>
                            <a:srgbClr val="000000"/>
                          </a:solidFill>
                          <a:latin typeface="굴림" pitchFamily="50" charset="-127"/>
                          <a:ea typeface="굴림" pitchFamily="50" charset="-127"/>
                        </a:defRPr>
                      </a:lvl2pPr>
                      <a:lvl3pPr marL="1143000" indent="-228600" eaLnBrk="0" hangingPunct="0">
                        <a:spcBef>
                          <a:spcPct val="20000"/>
                        </a:spcBef>
                        <a:defRPr kumimoji="1" sz="2000">
                          <a:solidFill>
                            <a:srgbClr val="000000"/>
                          </a:solidFill>
                          <a:latin typeface="굴림" pitchFamily="50" charset="-127"/>
                          <a:ea typeface="굴림" pitchFamily="50" charset="-127"/>
                        </a:defRPr>
                      </a:lvl3pPr>
                      <a:lvl4pPr marL="1600200" indent="-228600" eaLnBrk="0" hangingPunct="0">
                        <a:spcBef>
                          <a:spcPct val="20000"/>
                        </a:spcBef>
                        <a:defRPr kumimoji="1">
                          <a:solidFill>
                            <a:srgbClr val="000000"/>
                          </a:solidFill>
                          <a:latin typeface="굴림" pitchFamily="50" charset="-127"/>
                          <a:ea typeface="굴림" pitchFamily="50" charset="-127"/>
                        </a:defRPr>
                      </a:lvl4pPr>
                      <a:lvl5pPr marL="2057400" indent="-228600" eaLnBrk="0" hangingPunct="0">
                        <a:spcBef>
                          <a:spcPct val="20000"/>
                        </a:spcBef>
                        <a:defRPr kumimoji="1">
                          <a:solidFill>
                            <a:srgbClr val="000000"/>
                          </a:solidFill>
                          <a:latin typeface="굴림" pitchFamily="50" charset="-127"/>
                          <a:ea typeface="굴림" pitchFamily="50" charset="-127"/>
                        </a:defRPr>
                      </a:lvl5pPr>
                      <a:lvl6pPr marL="2514600" indent="-228600" eaLnBrk="0" fontAlgn="base" hangingPunct="0">
                        <a:spcBef>
                          <a:spcPct val="20000"/>
                        </a:spcBef>
                        <a:spcAft>
                          <a:spcPct val="0"/>
                        </a:spcAft>
                        <a:defRPr kumimoji="1">
                          <a:solidFill>
                            <a:srgbClr val="000000"/>
                          </a:solidFill>
                          <a:latin typeface="굴림" pitchFamily="50" charset="-127"/>
                          <a:ea typeface="굴림" pitchFamily="50" charset="-127"/>
                        </a:defRPr>
                      </a:lvl6pPr>
                      <a:lvl7pPr marL="2971800" indent="-228600" eaLnBrk="0" fontAlgn="base" hangingPunct="0">
                        <a:spcBef>
                          <a:spcPct val="20000"/>
                        </a:spcBef>
                        <a:spcAft>
                          <a:spcPct val="0"/>
                        </a:spcAft>
                        <a:defRPr kumimoji="1">
                          <a:solidFill>
                            <a:srgbClr val="000000"/>
                          </a:solidFill>
                          <a:latin typeface="굴림" pitchFamily="50" charset="-127"/>
                          <a:ea typeface="굴림" pitchFamily="50" charset="-127"/>
                        </a:defRPr>
                      </a:lvl7pPr>
                      <a:lvl8pPr marL="3429000" indent="-228600" eaLnBrk="0" fontAlgn="base" hangingPunct="0">
                        <a:spcBef>
                          <a:spcPct val="20000"/>
                        </a:spcBef>
                        <a:spcAft>
                          <a:spcPct val="0"/>
                        </a:spcAft>
                        <a:defRPr kumimoji="1">
                          <a:solidFill>
                            <a:srgbClr val="000000"/>
                          </a:solidFill>
                          <a:latin typeface="굴림" pitchFamily="50" charset="-127"/>
                          <a:ea typeface="굴림" pitchFamily="50" charset="-127"/>
                        </a:defRPr>
                      </a:lvl8pPr>
                      <a:lvl9pPr marL="3886200" indent="-228600" eaLnBrk="0" fontAlgn="base" hangingPunct="0">
                        <a:spcBef>
                          <a:spcPct val="20000"/>
                        </a:spcBef>
                        <a:spcAft>
                          <a:spcPct val="0"/>
                        </a:spcAft>
                        <a:defRPr kumimoji="1">
                          <a:solidFill>
                            <a:srgbClr val="000000"/>
                          </a:solidFill>
                          <a:latin typeface="굴림" pitchFamily="50" charset="-127"/>
                          <a:ea typeface="굴림" pitchFamily="50" charset="-127"/>
                        </a:defRPr>
                      </a:lvl9pPr>
                    </a:lstStyle>
                    <a:p>
                      <a:pPr marL="0" marR="0" lvl="0" indent="0" algn="ctr" defTabSz="914400" rtl="0" eaLnBrk="1" fontAlgn="ctr" latinLnBrk="1" hangingPunct="1">
                        <a:lnSpc>
                          <a:spcPct val="100000"/>
                        </a:lnSpc>
                        <a:spcBef>
                          <a:spcPct val="0"/>
                        </a:spcBef>
                        <a:spcAft>
                          <a:spcPct val="0"/>
                        </a:spcAft>
                        <a:buClrTx/>
                        <a:buSzTx/>
                        <a:buFontTx/>
                        <a:buNone/>
                        <a:tabLst/>
                      </a:pPr>
                      <a:r>
                        <a:rPr kumimoji="0" lang="ko-KR" altLang="en-US" sz="1200" b="0" i="0" u="none" strike="noStrike" cap="none" normalizeH="0" baseline="0" dirty="0">
                          <a:ln>
                            <a:noFill/>
                          </a:ln>
                          <a:solidFill>
                            <a:srgbClr val="000000"/>
                          </a:solidFill>
                          <a:effectLst/>
                          <a:latin typeface="Arial" pitchFamily="34" charset="0"/>
                          <a:ea typeface="맑은 고딕" pitchFamily="50" charset="-127"/>
                          <a:cs typeface="Arial" pitchFamily="34" charset="0"/>
                        </a:rPr>
                        <a:t>　</a:t>
                      </a:r>
                    </a:p>
                  </a:txBody>
                  <a:tcPr marL="9527" marR="9527" marT="9526"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pic>
        <p:nvPicPr>
          <p:cNvPr id="108597" name="Picture 67"/>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9056688" y="17463"/>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97</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81874126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1" name="TextBox 52"/>
          <p:cNvSpPr txBox="1">
            <a:spLocks noChangeArrowheads="1"/>
          </p:cNvSpPr>
          <p:nvPr/>
        </p:nvSpPr>
        <p:spPr bwMode="auto">
          <a:xfrm>
            <a:off x="488950" y="1108075"/>
            <a:ext cx="2552302"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600" b="1" dirty="0" err="1">
                <a:latin typeface="Arial" pitchFamily="34" charset="0"/>
                <a:ea typeface="맑은 고딕" pitchFamily="50" charset="-127"/>
                <a:cs typeface="Arial" pitchFamily="34" charset="0"/>
              </a:rPr>
              <a:t>Bước</a:t>
            </a:r>
            <a:r>
              <a:rPr lang="en-US" altLang="ko-KR" sz="1600" b="1" dirty="0">
                <a:latin typeface="Arial" pitchFamily="34" charset="0"/>
                <a:ea typeface="맑은 고딕" pitchFamily="50" charset="-127"/>
                <a:cs typeface="Arial" pitchFamily="34" charset="0"/>
              </a:rPr>
              <a:t> 1. </a:t>
            </a:r>
            <a:r>
              <a:rPr lang="en-US" altLang="ko-KR" sz="1600" b="1" dirty="0" err="1">
                <a:latin typeface="Arial" pitchFamily="34" charset="0"/>
                <a:ea typeface="맑은 고딕" pitchFamily="50" charset="-127"/>
                <a:cs typeface="Arial" pitchFamily="34" charset="0"/>
              </a:rPr>
              <a:t>Nhập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dữ</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endParaRPr lang="ko-KR" altLang="en-US" sz="1600" b="1" dirty="0">
              <a:latin typeface="Arial" pitchFamily="34" charset="0"/>
              <a:ea typeface="맑은 고딕" pitchFamily="50" charset="-127"/>
              <a:cs typeface="Arial" pitchFamily="34" charset="0"/>
            </a:endParaRPr>
          </a:p>
        </p:txBody>
      </p:sp>
      <p:pic>
        <p:nvPicPr>
          <p:cNvPr id="109572" name="Picture 3"/>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4387850" y="1484313"/>
            <a:ext cx="4886325" cy="475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73" name="TextBox 55"/>
          <p:cNvSpPr txBox="1">
            <a:spLocks noChangeArrowheads="1"/>
          </p:cNvSpPr>
          <p:nvPr/>
        </p:nvSpPr>
        <p:spPr bwMode="auto">
          <a:xfrm>
            <a:off x="4232275" y="1095375"/>
            <a:ext cx="4879028"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600" b="1" dirty="0" err="1">
                <a:latin typeface="Arial" pitchFamily="34" charset="0"/>
                <a:ea typeface="맑은 고딕" pitchFamily="50" charset="-127"/>
                <a:cs typeface="Arial" pitchFamily="34" charset="0"/>
              </a:rPr>
              <a:t>Bước</a:t>
            </a:r>
            <a:r>
              <a:rPr lang="en-US" altLang="ko-KR" sz="1600" b="1" dirty="0">
                <a:latin typeface="Arial" pitchFamily="34" charset="0"/>
                <a:ea typeface="맑은 고딕" pitchFamily="50" charset="-127"/>
                <a:cs typeface="Arial" pitchFamily="34" charset="0"/>
              </a:rPr>
              <a:t> 2. Stat &gt; Quality Tools &gt; Pareto Chart…</a:t>
            </a:r>
            <a:endParaRPr lang="ko-KR" altLang="en-US" sz="1600" b="1" dirty="0">
              <a:latin typeface="Arial" pitchFamily="34" charset="0"/>
              <a:ea typeface="맑은 고딕" pitchFamily="50" charset="-127"/>
              <a:cs typeface="Arial" pitchFamily="34" charset="0"/>
            </a:endParaRPr>
          </a:p>
        </p:txBody>
      </p:sp>
      <p:pic>
        <p:nvPicPr>
          <p:cNvPr id="109574"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056688" y="17463"/>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575"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056688" y="17463"/>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98</a:t>
            </a:fld>
            <a:endParaRPr lang="ko-KR" altLang="en-US" dirty="0">
              <a:latin typeface="Arial" pitchFamily="34" charset="0"/>
              <a:cs typeface="Arial" pitchFamily="34" charset="0"/>
            </a:endParaRPr>
          </a:p>
        </p:txBody>
      </p:sp>
      <p:pic>
        <p:nvPicPr>
          <p:cNvPr id="135173" name="Picture 5"/>
          <p:cNvPicPr>
            <a:picLocks noChangeAspect="1" noChangeArrowheads="1"/>
          </p:cNvPicPr>
          <p:nvPr/>
        </p:nvPicPr>
        <p:blipFill rotWithShape="1">
          <a:blip r:embed="rId4" cstate="print">
            <a:extLst>
              <a:ext uri="{28A0092B-C50C-407E-A947-70E740481C1C}">
                <a14:useLocalDpi xmlns:a14="http://schemas.microsoft.com/office/drawing/2010/main"/>
              </a:ext>
            </a:extLst>
          </a:blip>
          <a:srcRect/>
          <a:stretch/>
        </p:blipFill>
        <p:spPr bwMode="auto">
          <a:xfrm>
            <a:off x="272481" y="1628800"/>
            <a:ext cx="3724753" cy="2664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966963724"/>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6" name="Picture 67"/>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9056688" y="17463"/>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597" name="Picture 67"/>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9056688" y="17463"/>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99</a:t>
            </a:fld>
            <a:endParaRPr lang="ko-KR" altLang="en-US" dirty="0"/>
          </a:p>
        </p:txBody>
      </p:sp>
      <p:pic>
        <p:nvPicPr>
          <p:cNvPr id="136195"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352600" y="980728"/>
            <a:ext cx="6876764" cy="45459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90386817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632520" y="1412776"/>
            <a:ext cx="8784976" cy="4401205"/>
          </a:xfrm>
          <a:prstGeom prst="rect">
            <a:avLst/>
          </a:prstGeom>
          <a:noFill/>
        </p:spPr>
        <p:txBody>
          <a:bodyPr wrap="square">
            <a:spAutoFit/>
          </a:bodyPr>
          <a:lstStyle/>
          <a:p>
            <a:pPr marL="285750" indent="-285750" algn="just">
              <a:lnSpc>
                <a:spcPct val="200000"/>
              </a:lnSpc>
              <a:buFont typeface="Wingdings" panose="05000000000000000000" pitchFamily="2" charset="2"/>
              <a:buChar char="§"/>
              <a:defRPr/>
            </a:pPr>
            <a:r>
              <a:rPr lang="en-US" altLang="ko-KR" sz="1400" dirty="0" err="1">
                <a:latin typeface="Arial" pitchFamily="34" charset="0"/>
                <a:ea typeface="맑은 고딕" panose="020B0503020000020004" pitchFamily="50" charset="-127"/>
                <a:cs typeface="Arial" pitchFamily="34" charset="0"/>
              </a:rPr>
              <a:t>Biểu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đồ</a:t>
            </a:r>
            <a:r>
              <a:rPr lang="en-US" altLang="ko-KR" sz="1400" dirty="0">
                <a:latin typeface="Arial" pitchFamily="34" charset="0"/>
                <a:ea typeface="맑은 고딕" panose="020B0503020000020004" pitchFamily="50" charset="-127"/>
                <a:cs typeface="Arial" pitchFamily="34" charset="0"/>
              </a:rPr>
              <a:t> Pareto </a:t>
            </a:r>
            <a:r>
              <a:rPr lang="en-US" altLang="ko-KR" sz="1400" dirty="0" err="1">
                <a:latin typeface="Arial" pitchFamily="34" charset="0"/>
                <a:ea typeface="맑은 고딕" panose="020B0503020000020004" pitchFamily="50" charset="-127"/>
                <a:cs typeface="Arial" pitchFamily="34" charset="0"/>
              </a:rPr>
              <a:t>là</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công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cụ</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xác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định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các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nguyên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nhân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căn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bản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đứng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đằng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sau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các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lỗi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hiện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trường</a:t>
            </a:r>
            <a:r>
              <a:rPr lang="en-US" altLang="ko-KR" sz="1400" dirty="0">
                <a:latin typeface="Arial" pitchFamily="34" charset="0"/>
                <a:ea typeface="맑은 고딕" panose="020B0503020000020004" pitchFamily="50" charset="-127"/>
                <a:cs typeface="Arial" pitchFamily="34" charset="0"/>
              </a:rPr>
              <a:t>. Do </a:t>
            </a:r>
            <a:r>
              <a:rPr lang="en-US" altLang="ko-KR" sz="1400" dirty="0" err="1">
                <a:latin typeface="Arial" pitchFamily="34" charset="0"/>
                <a:ea typeface="맑은 고딕" panose="020B0503020000020004" pitchFamily="50" charset="-127"/>
                <a:cs typeface="Arial" pitchFamily="34" charset="0"/>
              </a:rPr>
              <a:t>đó</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để</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có</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thể</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hiểu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một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cách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toàn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diện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các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nhân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tố</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cùng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với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các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giải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pháp</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các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phân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tích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bổ</a:t>
            </a:r>
            <a:r>
              <a:rPr lang="en-US" altLang="ko-KR" sz="1400" dirty="0">
                <a:latin typeface="Arial" pitchFamily="34" charset="0"/>
                <a:ea typeface="맑은 고딕" panose="020B0503020000020004" pitchFamily="50" charset="-127"/>
                <a:cs typeface="Arial" pitchFamily="34" charset="0"/>
              </a:rPr>
              <a:t> sung </a:t>
            </a:r>
            <a:r>
              <a:rPr lang="en-US" altLang="ko-KR" sz="1400" dirty="0" err="1">
                <a:latin typeface="Arial" pitchFamily="34" charset="0"/>
                <a:ea typeface="맑은 고딕" panose="020B0503020000020004" pitchFamily="50" charset="-127"/>
                <a:cs typeface="Arial" pitchFamily="34" charset="0"/>
              </a:rPr>
              <a:t>cần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được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thực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hiện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một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cách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đồng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thời</a:t>
            </a:r>
            <a:r>
              <a:rPr lang="en-US" altLang="ko-KR" sz="1400" dirty="0">
                <a:latin typeface="Arial" pitchFamily="34" charset="0"/>
                <a:ea typeface="맑은 고딕" panose="020B0503020000020004" pitchFamily="50" charset="-127"/>
                <a:cs typeface="Arial" pitchFamily="34" charset="0"/>
              </a:rPr>
              <a:t>. </a:t>
            </a:r>
          </a:p>
          <a:p>
            <a:pPr marL="285750" indent="-285750" algn="just">
              <a:lnSpc>
                <a:spcPct val="200000"/>
              </a:lnSpc>
              <a:buFont typeface="Wingdings" panose="05000000000000000000" pitchFamily="2" charset="2"/>
              <a:buChar char="§"/>
              <a:defRPr/>
            </a:pPr>
            <a:r>
              <a:rPr lang="en-US" altLang="ko-KR" sz="1400" dirty="0" err="1">
                <a:latin typeface="Arial" pitchFamily="34" charset="0"/>
                <a:ea typeface="맑은 고딕" panose="020B0503020000020004" pitchFamily="50" charset="-127"/>
                <a:cs typeface="Arial" pitchFamily="34" charset="0"/>
              </a:rPr>
              <a:t>Phạm</a:t>
            </a:r>
            <a:r>
              <a:rPr lang="en-US" altLang="ko-KR" sz="1400" dirty="0">
                <a:latin typeface="Arial" pitchFamily="34" charset="0"/>
                <a:ea typeface="맑은 고딕" panose="020B0503020000020004" pitchFamily="50" charset="-127"/>
                <a:cs typeface="Arial" pitchFamily="34" charset="0"/>
              </a:rPr>
              <a:t> vi </a:t>
            </a:r>
            <a:r>
              <a:rPr lang="en-US" altLang="ko-KR" sz="1400" dirty="0" err="1">
                <a:latin typeface="Arial" pitchFamily="34" charset="0"/>
                <a:ea typeface="맑은 고딕" panose="020B0503020000020004" pitchFamily="50" charset="-127"/>
                <a:cs typeface="Arial" pitchFamily="34" charset="0"/>
              </a:rPr>
              <a:t>dữ</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liệu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được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lựa</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chọn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phù</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hợp</a:t>
            </a:r>
            <a:r>
              <a:rPr lang="en-US" altLang="ko-KR" sz="1400" dirty="0">
                <a:latin typeface="Arial" pitchFamily="34" charset="0"/>
                <a:ea typeface="맑은 고딕" panose="020B0503020000020004" pitchFamily="50" charset="-127"/>
                <a:cs typeface="Arial" pitchFamily="34" charset="0"/>
              </a:rPr>
              <a:t>.</a:t>
            </a:r>
          </a:p>
          <a:p>
            <a:pPr marL="285750" indent="-285750" algn="just">
              <a:lnSpc>
                <a:spcPct val="200000"/>
              </a:lnSpc>
              <a:buFont typeface="Wingdings" panose="05000000000000000000" pitchFamily="2" charset="2"/>
              <a:buChar char="§"/>
              <a:defRPr/>
            </a:pPr>
            <a:r>
              <a:rPr lang="en-US" altLang="ko-KR" sz="1400" dirty="0" err="1">
                <a:latin typeface="Arial" pitchFamily="34" charset="0"/>
                <a:ea typeface="맑은 고딕" panose="020B0503020000020004" pitchFamily="50" charset="-127"/>
                <a:cs typeface="Arial" pitchFamily="34" charset="0"/>
              </a:rPr>
              <a:t>Biểu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đồ</a:t>
            </a:r>
            <a:r>
              <a:rPr lang="en-US" altLang="ko-KR" sz="1400" dirty="0">
                <a:latin typeface="Arial" pitchFamily="34" charset="0"/>
                <a:ea typeface="맑은 고딕" panose="020B0503020000020004" pitchFamily="50" charset="-127"/>
                <a:cs typeface="Arial" pitchFamily="34" charset="0"/>
              </a:rPr>
              <a:t> Pareto </a:t>
            </a:r>
            <a:r>
              <a:rPr lang="en-US" altLang="ko-KR" sz="1400" dirty="0" err="1">
                <a:latin typeface="Arial" pitchFamily="34" charset="0"/>
                <a:ea typeface="맑은 고딕" panose="020B0503020000020004" pitchFamily="50" charset="-127"/>
                <a:cs typeface="Arial" pitchFamily="34" charset="0"/>
              </a:rPr>
              <a:t>phù</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hợp</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với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việc</a:t>
            </a:r>
            <a:r>
              <a:rPr lang="en-US" altLang="ko-KR" sz="1400" dirty="0">
                <a:latin typeface="Arial" pitchFamily="34" charset="0"/>
                <a:ea typeface="맑은 고딕" panose="020B0503020000020004" pitchFamily="50" charset="-127"/>
                <a:cs typeface="Arial" pitchFamily="34" charset="0"/>
              </a:rPr>
              <a:t> so </a:t>
            </a:r>
            <a:r>
              <a:rPr lang="en-US" altLang="ko-KR" sz="1400" dirty="0" err="1">
                <a:latin typeface="Arial" pitchFamily="34" charset="0"/>
                <a:ea typeface="맑은 고딕" panose="020B0503020000020004" pitchFamily="50" charset="-127"/>
                <a:cs typeface="Arial" pitchFamily="34" charset="0"/>
              </a:rPr>
              <a:t>sánh</a:t>
            </a:r>
            <a:r>
              <a:rPr lang="en-US" altLang="ko-KR" sz="1400" dirty="0">
                <a:latin typeface="Arial" pitchFamily="34" charset="0"/>
                <a:ea typeface="맑은 고딕" panose="020B0503020000020004" pitchFamily="50" charset="-127"/>
                <a:cs typeface="Arial" pitchFamily="34" charset="0"/>
              </a:rPr>
              <a:t>. </a:t>
            </a:r>
          </a:p>
          <a:p>
            <a:pPr marL="285750" indent="-285750" algn="just">
              <a:lnSpc>
                <a:spcPct val="200000"/>
              </a:lnSpc>
              <a:buFont typeface="Wingdings" panose="05000000000000000000" pitchFamily="2" charset="2"/>
              <a:buChar char="§"/>
              <a:defRPr/>
            </a:pPr>
            <a:r>
              <a:rPr lang="en-US" altLang="ko-KR" sz="1400" dirty="0" err="1">
                <a:latin typeface="Arial" pitchFamily="34" charset="0"/>
                <a:ea typeface="맑은 고딕" panose="020B0503020000020004" pitchFamily="50" charset="-127"/>
                <a:cs typeface="Arial" pitchFamily="34" charset="0"/>
              </a:rPr>
              <a:t>Quy</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mô</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định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tính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được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số</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lượng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hóa</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để</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phục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vụ</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cho</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mục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đích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phân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loại</a:t>
            </a:r>
            <a:r>
              <a:rPr lang="en-US" altLang="ko-KR" sz="1400" dirty="0">
                <a:latin typeface="Arial" pitchFamily="34" charset="0"/>
                <a:ea typeface="맑은 고딕" panose="020B0503020000020004" pitchFamily="50" charset="-127"/>
                <a:cs typeface="Arial" pitchFamily="34" charset="0"/>
              </a:rPr>
              <a:t>.</a:t>
            </a:r>
          </a:p>
          <a:p>
            <a:pPr marL="285750" indent="-285750" algn="just">
              <a:lnSpc>
                <a:spcPct val="200000"/>
              </a:lnSpc>
              <a:buFont typeface="Wingdings" panose="05000000000000000000" pitchFamily="2" charset="2"/>
              <a:buChar char="§"/>
              <a:defRPr/>
            </a:pPr>
            <a:r>
              <a:rPr lang="en-US" altLang="ko-KR" sz="1400" dirty="0" err="1">
                <a:latin typeface="Arial" pitchFamily="34" charset="0"/>
                <a:ea typeface="맑은 고딕" panose="020B0503020000020004" pitchFamily="50" charset="-127"/>
                <a:cs typeface="Arial" pitchFamily="34" charset="0"/>
              </a:rPr>
              <a:t>Các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mục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có</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tác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động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lớn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nhất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phải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được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giải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quyết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trước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nhất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Bởi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vì</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bất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cứ</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hoạt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động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nào</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được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tiến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hành</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cần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chú</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trọng</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đến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việc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tối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thiểu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hóa</a:t>
            </a:r>
            <a:r>
              <a:rPr lang="en-US" altLang="ko-KR" sz="1400" dirty="0">
                <a:latin typeface="Arial" pitchFamily="34" charset="0"/>
                <a:ea typeface="맑은 고딕" panose="020B0503020000020004" pitchFamily="50" charset="-127"/>
                <a:cs typeface="Arial" pitchFamily="34" charset="0"/>
              </a:rPr>
              <a:t> chi </a:t>
            </a:r>
            <a:r>
              <a:rPr lang="en-US" altLang="ko-KR" sz="1400" dirty="0" err="1">
                <a:latin typeface="Arial" pitchFamily="34" charset="0"/>
                <a:ea typeface="맑은 고딕" panose="020B0503020000020004" pitchFamily="50" charset="-127"/>
                <a:cs typeface="Arial" pitchFamily="34" charset="0"/>
              </a:rPr>
              <a:t>phí</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để</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tối</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đa</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hóa</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kết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quả</a:t>
            </a:r>
            <a:r>
              <a:rPr lang="en-US" altLang="ko-KR" sz="1400" dirty="0">
                <a:latin typeface="Arial" pitchFamily="34" charset="0"/>
                <a:ea typeface="맑은 고딕" panose="020B0503020000020004" pitchFamily="50" charset="-127"/>
                <a:cs typeface="Arial" pitchFamily="34" charset="0"/>
              </a:rPr>
              <a:t>.</a:t>
            </a:r>
          </a:p>
          <a:p>
            <a:pPr marL="285750" indent="-285750" algn="just">
              <a:lnSpc>
                <a:spcPct val="200000"/>
              </a:lnSpc>
              <a:buFont typeface="Wingdings" panose="05000000000000000000" pitchFamily="2" charset="2"/>
              <a:buChar char="§"/>
              <a:defRPr/>
            </a:pPr>
            <a:r>
              <a:rPr lang="en-US" altLang="ko-KR" sz="1400" dirty="0" err="1">
                <a:latin typeface="Arial" pitchFamily="34" charset="0"/>
                <a:ea typeface="맑은 고딕" panose="020B0503020000020004" pitchFamily="50" charset="-127"/>
                <a:cs typeface="Arial" pitchFamily="34" charset="0"/>
              </a:rPr>
              <a:t>Biểu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đồ</a:t>
            </a:r>
            <a:r>
              <a:rPr lang="en-US" altLang="ko-KR" sz="1400" dirty="0">
                <a:latin typeface="Arial" pitchFamily="34" charset="0"/>
                <a:ea typeface="맑은 고딕" panose="020B0503020000020004" pitchFamily="50" charset="-127"/>
                <a:cs typeface="Arial" pitchFamily="34" charset="0"/>
              </a:rPr>
              <a:t> Pareto </a:t>
            </a:r>
            <a:r>
              <a:rPr lang="en-US" altLang="ko-KR" sz="1400" dirty="0" err="1">
                <a:latin typeface="Arial" pitchFamily="34" charset="0"/>
                <a:ea typeface="맑은 고딕" panose="020B0503020000020004" pitchFamily="50" charset="-127"/>
                <a:cs typeface="Arial" pitchFamily="34" charset="0"/>
              </a:rPr>
              <a:t>sẽ</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trở</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nên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hiệu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quả</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hơn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nếu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được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tạo</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ra</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thông</a:t>
            </a:r>
            <a:r>
              <a:rPr lang="en-US" altLang="ko-KR" sz="1400" dirty="0">
                <a:latin typeface="Arial" pitchFamily="34" charset="0"/>
                <a:ea typeface="맑은 고딕" panose="020B0503020000020004" pitchFamily="50" charset="-127"/>
                <a:cs typeface="Arial" pitchFamily="34" charset="0"/>
              </a:rPr>
              <a:t> qua </a:t>
            </a:r>
            <a:r>
              <a:rPr lang="en-US" altLang="ko-KR" sz="1400" dirty="0" err="1">
                <a:latin typeface="Arial" pitchFamily="34" charset="0"/>
                <a:ea typeface="맑은 고딕" panose="020B0503020000020004" pitchFamily="50" charset="-127"/>
                <a:cs typeface="Arial" pitchFamily="34" charset="0"/>
              </a:rPr>
              <a:t>quá</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trình</a:t>
            </a:r>
            <a:r>
              <a:rPr lang="en-US" altLang="ko-KR" sz="1400" dirty="0">
                <a:latin typeface="Arial" pitchFamily="34" charset="0"/>
                <a:ea typeface="맑은 고딕" panose="020B0503020000020004" pitchFamily="50" charset="-127"/>
                <a:cs typeface="Arial" pitchFamily="34" charset="0"/>
              </a:rPr>
              <a:t> brainstorming </a:t>
            </a:r>
            <a:r>
              <a:rPr lang="en-US" altLang="ko-KR" sz="1400" dirty="0" err="1">
                <a:latin typeface="Arial" pitchFamily="34" charset="0"/>
                <a:ea typeface="맑은 고딕" panose="020B0503020000020004" pitchFamily="50" charset="-127"/>
                <a:cs typeface="Arial" pitchFamily="34" charset="0"/>
              </a:rPr>
              <a:t>thay</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vì</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một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cá</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nhân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bất</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kỳ</a:t>
            </a:r>
            <a:r>
              <a:rPr lang="en-US" altLang="ko-KR" sz="1400" dirty="0">
                <a:latin typeface="Arial" pitchFamily="34" charset="0"/>
                <a:ea typeface="맑은 고딕" panose="020B0503020000020004" pitchFamily="50" charset="-127"/>
                <a:cs typeface="Arial" pitchFamily="34" charset="0"/>
              </a:rPr>
              <a:t>.</a:t>
            </a: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pPr>
                <a:defRPr/>
              </a:pPr>
              <a:t>100</a:t>
            </a:fld>
            <a:endParaRPr lang="ko-KR" altLang="en-US" dirty="0"/>
          </a:p>
        </p:txBody>
      </p:sp>
      <p:sp>
        <p:nvSpPr>
          <p:cNvPr id="6"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6. </a:t>
            </a:r>
            <a:r>
              <a:rPr lang="en-US" altLang="ko-KR" sz="2000" b="1" dirty="0" err="1">
                <a:latin typeface="Arial" pitchFamily="34" charset="0"/>
                <a:ea typeface="맑은 고딕" pitchFamily="50" charset="-127"/>
                <a:cs typeface="Arial" pitchFamily="34" charset="0"/>
              </a:rPr>
              <a:t>Tổng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kết</a:t>
            </a:r>
            <a:endParaRPr lang="ko-KR" altLang="en-US" sz="2000" b="1" dirty="0">
              <a:latin typeface="Arial" pitchFamily="34" charset="0"/>
              <a:ea typeface="맑은 고딕" pitchFamily="50" charset="-127"/>
              <a:cs typeface="Arial" pitchFamily="34" charset="0"/>
            </a:endParaRPr>
          </a:p>
        </p:txBody>
      </p:sp>
      <p:sp>
        <p:nvSpPr>
          <p:cNvPr id="7" name="Text Box 4"/>
          <p:cNvSpPr txBox="1">
            <a:spLocks noChangeArrowheads="1"/>
          </p:cNvSpPr>
          <p:nvPr/>
        </p:nvSpPr>
        <p:spPr bwMode="auto">
          <a:xfrm>
            <a:off x="5529263" y="219075"/>
            <a:ext cx="4319587" cy="338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Pareto</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26464014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Text Box 4"/>
          <p:cNvSpPr txBox="1">
            <a:spLocks noChangeArrowheads="1"/>
          </p:cNvSpPr>
          <p:nvPr/>
        </p:nvSpPr>
        <p:spPr bwMode="auto">
          <a:xfrm>
            <a:off x="217488" y="2506663"/>
            <a:ext cx="6823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13" tIns="45707" rIns="91413" bIns="4570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b="1" dirty="0" err="1">
                <a:solidFill>
                  <a:srgbClr val="000000"/>
                </a:solidFill>
                <a:latin typeface="Arial" pitchFamily="34" charset="0"/>
                <a:ea typeface="맑은 고딕" pitchFamily="50" charset="-127"/>
                <a:cs typeface="Arial" pitchFamily="34" charset="0"/>
              </a:rPr>
              <a:t>Biểu</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đồ</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phân</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bố</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xác</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suất</a:t>
            </a:r>
            <a:r>
              <a:rPr lang="ko-KR" altLang="en-US" sz="2400" b="1" dirty="0">
                <a:solidFill>
                  <a:srgbClr val="000000"/>
                </a:solidFill>
                <a:latin typeface="Arial" pitchFamily="34" charset="0"/>
                <a:ea typeface="맑은 고딕" pitchFamily="50" charset="-127"/>
                <a:cs typeface="Arial" pitchFamily="34" charset="0"/>
              </a:rPr>
              <a:t> </a:t>
            </a:r>
            <a:r>
              <a:rPr lang="en-US" altLang="ko-KR" sz="2400" b="1" dirty="0">
                <a:solidFill>
                  <a:srgbClr val="000000"/>
                </a:solidFill>
                <a:latin typeface="Arial" pitchFamily="34" charset="0"/>
                <a:ea typeface="맑은 고딕" pitchFamily="50" charset="-127"/>
                <a:cs typeface="Arial" pitchFamily="34" charset="0"/>
              </a:rPr>
              <a:t>(Histogram)</a:t>
            </a:r>
            <a:endParaRPr lang="ko-KR" altLang="en-US" sz="2400" b="1" dirty="0">
              <a:solidFill>
                <a:srgbClr val="000000"/>
              </a:solidFill>
              <a:latin typeface="Arial" pitchFamily="34" charset="0"/>
              <a:ea typeface="맑은 고딕" pitchFamily="50" charset="-127"/>
              <a:cs typeface="Arial" pitchFamily="34" charset="0"/>
            </a:endParaRPr>
          </a:p>
        </p:txBody>
      </p:sp>
      <p:sp>
        <p:nvSpPr>
          <p:cNvPr id="5" name="Text Box 4"/>
          <p:cNvSpPr txBox="1">
            <a:spLocks noChangeArrowheads="1"/>
          </p:cNvSpPr>
          <p:nvPr/>
        </p:nvSpPr>
        <p:spPr bwMode="auto">
          <a:xfrm>
            <a:off x="1361878" y="3578297"/>
            <a:ext cx="3168352" cy="1323405"/>
          </a:xfrm>
          <a:prstGeom prst="rect">
            <a:avLst/>
          </a:prstGeom>
          <a:noFill/>
          <a:ln w="12700" cap="rnd">
            <a:noFill/>
            <a:miter lim="800000"/>
            <a:headEnd type="none" w="sm" len="sm"/>
            <a:tailEnd type="none" w="sm" len="sm"/>
          </a:ln>
        </p:spPr>
        <p:txBody>
          <a:bodyPr wrap="square" lIns="91405" tIns="45703" rIns="91405" bIns="45703">
            <a:spAutoFit/>
          </a:bodyPr>
          <a:lstStyle/>
          <a:p>
            <a:pPr marL="87313" indent="-87313">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Giới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thiệu</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Định</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nghĩa</a:t>
            </a:r>
            <a:r>
              <a:rPr lang="ko-KR" altLang="en-US" sz="1600" b="1" dirty="0">
                <a:latin typeface="Arial" pitchFamily="34" charset="0"/>
                <a:ea typeface="맑은 고딕" panose="020B0503020000020004" pitchFamily="50" charset="-127"/>
                <a:cs typeface="Arial" pitchFamily="34" charset="0"/>
              </a:rPr>
              <a:t> </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Phương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pháp</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xây</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dựng</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Thực</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hành</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Các</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loại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biểu</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đồ</a:t>
            </a:r>
            <a:r>
              <a:rPr lang="en-US" altLang="ko-KR" sz="1600" b="1" dirty="0">
                <a:latin typeface="Arial" pitchFamily="34" charset="0"/>
                <a:ea typeface="맑은 고딕" panose="020B0503020000020004" pitchFamily="50" charset="-127"/>
                <a:cs typeface="Arial" pitchFamily="34" charset="0"/>
              </a:rPr>
              <a:t> Histogram</a:t>
            </a:r>
            <a:endParaRPr lang="ko-KR" altLang="en-US" sz="1600" b="1" dirty="0">
              <a:latin typeface="Arial" pitchFamily="34" charset="0"/>
              <a:ea typeface="맑은 고딕" panose="020B0503020000020004" pitchFamily="50" charset="-127"/>
              <a:cs typeface="Arial" pitchFamily="34" charset="0"/>
            </a:endParaRPr>
          </a:p>
        </p:txBody>
      </p:sp>
    </p:spTree>
    <p:extLst>
      <p:ext uri="{BB962C8B-B14F-4D97-AF65-F5344CB8AC3E}">
        <p14:creationId xmlns:p14="http://schemas.microsoft.com/office/powerpoint/2010/main" val="388351926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ko-KR" altLang="en-US" sz="2000" b="1" dirty="0">
              <a:latin typeface="Arial" pitchFamily="34" charset="0"/>
              <a:ea typeface="맑은 고딕" pitchFamily="50" charset="-127"/>
              <a:cs typeface="Arial" pitchFamily="34" charset="0"/>
            </a:endParaRPr>
          </a:p>
        </p:txBody>
      </p:sp>
      <p:pic>
        <p:nvPicPr>
          <p:cNvPr id="114692" name="Picture 10"/>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560388" y="1125538"/>
            <a:ext cx="5153025" cy="4848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4693" name="TextBox 1"/>
          <p:cNvSpPr txBox="1">
            <a:spLocks noChangeArrowheads="1"/>
          </p:cNvSpPr>
          <p:nvPr/>
        </p:nvSpPr>
        <p:spPr bwMode="auto">
          <a:xfrm>
            <a:off x="6032500" y="1547812"/>
            <a:ext cx="3529012" cy="945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rm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err="1">
                <a:latin typeface="Arial" pitchFamily="34" charset="0"/>
                <a:ea typeface="맑은 고딕" pitchFamily="50" charset="-127"/>
                <a:cs typeface="Arial" pitchFamily="34" charset="0"/>
              </a:rPr>
              <a:t>Bạn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sẽ</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làm</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gì</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nếu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gặp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một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bảng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dữ</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như</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trái</a:t>
            </a:r>
            <a:r>
              <a:rPr lang="en-US" altLang="ko-KR" sz="1600" b="1" dirty="0">
                <a:latin typeface="Arial" pitchFamily="34" charset="0"/>
                <a:ea typeface="맑은 고딕" pitchFamily="50" charset="-127"/>
                <a:cs typeface="Arial" pitchFamily="34" charset="0"/>
              </a:rPr>
              <a:t>?</a:t>
            </a:r>
            <a:endParaRPr lang="ko-KR" altLang="en-US" sz="1600" b="1" dirty="0">
              <a:latin typeface="Arial" pitchFamily="34" charset="0"/>
              <a:ea typeface="맑은 고딕" pitchFamily="50" charset="-127"/>
              <a:cs typeface="Arial" pitchFamily="34" charset="0"/>
            </a:endParaRPr>
          </a:p>
        </p:txBody>
      </p:sp>
      <p:sp>
        <p:nvSpPr>
          <p:cNvPr id="114694" name="TextBox 11"/>
          <p:cNvSpPr txBox="1">
            <a:spLocks noChangeArrowheads="1"/>
          </p:cNvSpPr>
          <p:nvPr/>
        </p:nvSpPr>
        <p:spPr bwMode="auto">
          <a:xfrm>
            <a:off x="6032500" y="2628900"/>
            <a:ext cx="1443024"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200000"/>
              </a:lnSpc>
              <a:buFont typeface="Wingdings" pitchFamily="2" charset="2"/>
              <a:buChar char="ü"/>
            </a:pPr>
            <a:r>
              <a:rPr lang="en-US" altLang="ko-KR" sz="1600" b="1" dirty="0" err="1">
                <a:latin typeface="Arial" pitchFamily="34" charset="0"/>
                <a:ea typeface="맑은 고딕" pitchFamily="50" charset="-127"/>
                <a:cs typeface="Arial" pitchFamily="34" charset="0"/>
              </a:rPr>
              <a:t>Tổng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hợp</a:t>
            </a:r>
            <a:endParaRPr lang="en-US" altLang="ko-KR" sz="1600" b="1" dirty="0">
              <a:latin typeface="Arial" pitchFamily="34" charset="0"/>
              <a:ea typeface="맑은 고딕" pitchFamily="50" charset="-127"/>
              <a:cs typeface="Arial" pitchFamily="34" charset="0"/>
            </a:endParaRPr>
          </a:p>
          <a:p>
            <a:pPr eaLnBrk="1" hangingPunct="1">
              <a:lnSpc>
                <a:spcPct val="200000"/>
              </a:lnSpc>
              <a:buFont typeface="Wingdings" pitchFamily="2" charset="2"/>
              <a:buChar char="ü"/>
            </a:pPr>
            <a:endParaRPr lang="en-US" altLang="ko-KR" sz="1600" b="1" dirty="0">
              <a:latin typeface="Arial" pitchFamily="34" charset="0"/>
              <a:ea typeface="맑은 고딕" pitchFamily="50" charset="-127"/>
              <a:cs typeface="Arial" pitchFamily="34" charset="0"/>
            </a:endParaRPr>
          </a:p>
          <a:p>
            <a:pPr eaLnBrk="1" hangingPunct="1">
              <a:lnSpc>
                <a:spcPct val="200000"/>
              </a:lnSpc>
              <a:buFont typeface="Wingdings" pitchFamily="2" charset="2"/>
              <a:buChar char="ü"/>
            </a:pPr>
            <a:endParaRPr lang="en-US" altLang="ko-KR" sz="1600" b="1" dirty="0">
              <a:latin typeface="Arial" pitchFamily="34" charset="0"/>
              <a:ea typeface="맑은 고딕" pitchFamily="50" charset="-127"/>
              <a:cs typeface="Arial" pitchFamily="34" charset="0"/>
            </a:endParaRPr>
          </a:p>
          <a:p>
            <a:pPr eaLnBrk="1" hangingPunct="1">
              <a:lnSpc>
                <a:spcPct val="200000"/>
              </a:lnSpc>
              <a:buFont typeface="Wingdings" pitchFamily="2" charset="2"/>
              <a:buChar char="ü"/>
            </a:pPr>
            <a:r>
              <a:rPr lang="en-US" altLang="ko-KR" sz="1600" b="1" dirty="0" err="1">
                <a:latin typeface="Arial" pitchFamily="34" charset="0"/>
                <a:ea typeface="맑은 고딕" pitchFamily="50" charset="-127"/>
                <a:cs typeface="Arial" pitchFamily="34" charset="0"/>
              </a:rPr>
              <a:t>Phân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loại</a:t>
            </a:r>
            <a:endParaRPr lang="en-US" altLang="ko-KR" sz="1600" b="1" dirty="0">
              <a:latin typeface="Arial" pitchFamily="34" charset="0"/>
              <a:ea typeface="맑은 고딕" pitchFamily="50" charset="-127"/>
              <a:cs typeface="Arial" pitchFamily="34" charset="0"/>
            </a:endParaRPr>
          </a:p>
          <a:p>
            <a:pPr eaLnBrk="1" hangingPunct="1">
              <a:lnSpc>
                <a:spcPct val="200000"/>
              </a:lnSpc>
              <a:buFont typeface="Wingdings" pitchFamily="2" charset="2"/>
              <a:buChar char="ü"/>
            </a:pPr>
            <a:endParaRPr lang="ko-KR" altLang="en-US" sz="1600" b="1" dirty="0">
              <a:latin typeface="Arial" pitchFamily="34" charset="0"/>
              <a:ea typeface="맑은 고딕" pitchFamily="50" charset="-127"/>
              <a:cs typeface="Arial" pitchFamily="34" charset="0"/>
            </a:endParaRPr>
          </a:p>
        </p:txBody>
      </p:sp>
      <p:sp>
        <p:nvSpPr>
          <p:cNvPr id="114695" name="TextBox 12"/>
          <p:cNvSpPr txBox="1">
            <a:spLocks noChangeArrowheads="1"/>
          </p:cNvSpPr>
          <p:nvPr/>
        </p:nvSpPr>
        <p:spPr bwMode="auto">
          <a:xfrm>
            <a:off x="6437313" y="3136900"/>
            <a:ext cx="331481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err="1">
                <a:latin typeface="Arial" pitchFamily="34" charset="0"/>
                <a:ea typeface="맑은 고딕" pitchFamily="50" charset="-127"/>
                <a:cs typeface="Arial" pitchFamily="34" charset="0"/>
              </a:rPr>
              <a:t>Bạn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sẽ</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tổng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hợp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thế</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nào</a:t>
            </a:r>
            <a:r>
              <a:rPr lang="en-US" altLang="ko-KR" sz="1400" dirty="0">
                <a:latin typeface="Arial" pitchFamily="34" charset="0"/>
                <a:ea typeface="맑은 고딕" pitchFamily="50" charset="-127"/>
                <a:cs typeface="Arial" pitchFamily="34" charset="0"/>
              </a:rPr>
              <a:t>?</a:t>
            </a:r>
          </a:p>
          <a:p>
            <a:pPr eaLnBrk="1" hangingPunct="1"/>
            <a:r>
              <a:rPr lang="en-US" altLang="ko-KR" sz="1400" dirty="0" err="1">
                <a:latin typeface="Arial" pitchFamily="34" charset="0"/>
                <a:ea typeface="맑은 고딕" pitchFamily="50" charset="-127"/>
                <a:cs typeface="Arial" pitchFamily="34" charset="0"/>
              </a:rPr>
              <a:t>Có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những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phương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pháp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tổng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hợp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nào</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thể</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sử</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dụng</a:t>
            </a:r>
            <a:r>
              <a:rPr lang="en-US" altLang="ko-KR" sz="1400" dirty="0">
                <a:latin typeface="Arial" pitchFamily="34" charset="0"/>
                <a:ea typeface="맑은 고딕" pitchFamily="50" charset="-127"/>
                <a:cs typeface="Arial" pitchFamily="34" charset="0"/>
              </a:rPr>
              <a:t>?</a:t>
            </a:r>
            <a:endParaRPr lang="ko-KR" altLang="en-US" sz="1400" dirty="0">
              <a:latin typeface="Arial" pitchFamily="34" charset="0"/>
              <a:ea typeface="맑은 고딕" pitchFamily="50" charset="-127"/>
              <a:cs typeface="Arial" pitchFamily="34" charset="0"/>
            </a:endParaRPr>
          </a:p>
        </p:txBody>
      </p:sp>
      <p:sp>
        <p:nvSpPr>
          <p:cNvPr id="114696" name="TextBox 13"/>
          <p:cNvSpPr txBox="1">
            <a:spLocks noChangeArrowheads="1"/>
          </p:cNvSpPr>
          <p:nvPr/>
        </p:nvSpPr>
        <p:spPr bwMode="auto">
          <a:xfrm>
            <a:off x="6437313" y="4742273"/>
            <a:ext cx="312419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err="1">
                <a:latin typeface="Arial" pitchFamily="34" charset="0"/>
                <a:ea typeface="맑은 고딕" pitchFamily="50" charset="-127"/>
                <a:cs typeface="Arial" pitchFamily="34" charset="0"/>
              </a:rPr>
              <a:t>Bạn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sẽ</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sử</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dụng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gì</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để</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phân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loại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dữ</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liệu</a:t>
            </a:r>
            <a:r>
              <a:rPr lang="en-US" altLang="ko-KR" sz="1400" dirty="0">
                <a:latin typeface="Arial" pitchFamily="34" charset="0"/>
                <a:ea typeface="맑은 고딕" pitchFamily="50" charset="-127"/>
                <a:cs typeface="Arial" pitchFamily="34" charset="0"/>
              </a:rPr>
              <a:t>?</a:t>
            </a:r>
          </a:p>
          <a:p>
            <a:pPr eaLnBrk="1" hangingPunct="1"/>
            <a:r>
              <a:rPr lang="en-US" altLang="ko-KR" sz="1400" dirty="0" err="1">
                <a:latin typeface="Arial" pitchFamily="34" charset="0"/>
                <a:ea typeface="맑은 고딕" pitchFamily="50" charset="-127"/>
                <a:cs typeface="Arial" pitchFamily="34" charset="0"/>
              </a:rPr>
              <a:t>Có</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những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phương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pháp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phân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loại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nào</a:t>
            </a:r>
            <a:r>
              <a:rPr lang="en-US" altLang="ko-KR" sz="1400" dirty="0">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102</a:t>
            </a:fld>
            <a:endParaRPr lang="ko-KR" altLang="en-US" dirty="0">
              <a:latin typeface="Arial" pitchFamily="34" charset="0"/>
              <a:cs typeface="Arial" pitchFamily="34" charset="0"/>
            </a:endParaRPr>
          </a:p>
        </p:txBody>
      </p:sp>
      <p:sp>
        <p:nvSpPr>
          <p:cNvPr id="10"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407777212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6" name="AutoShape 20"/>
          <p:cNvSpPr>
            <a:spLocks noChangeArrowheads="1"/>
          </p:cNvSpPr>
          <p:nvPr/>
        </p:nvSpPr>
        <p:spPr bwMode="auto">
          <a:xfrm>
            <a:off x="416496" y="1263886"/>
            <a:ext cx="8258175" cy="1071562"/>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none" anchor="ctr"/>
          <a:lstStyle/>
          <a:p>
            <a:pPr>
              <a:lnSpc>
                <a:spcPct val="120000"/>
              </a:lnSpc>
            </a:pPr>
            <a:endParaRPr lang="en-US" altLang="ko-KR" sz="1600" b="1" dirty="0">
              <a:latin typeface="Arial" pitchFamily="34" charset="0"/>
              <a:ea typeface="맑은 고딕" pitchFamily="50" charset="-127"/>
              <a:cs typeface="Arial" pitchFamily="34" charset="0"/>
            </a:endParaRPr>
          </a:p>
        </p:txBody>
      </p:sp>
      <p:pic>
        <p:nvPicPr>
          <p:cNvPr id="115719" name="Picture 1"/>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2719959" y="3445077"/>
            <a:ext cx="3611562" cy="2544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103</a:t>
            </a:fld>
            <a:endParaRPr lang="ko-KR" altLang="en-US" dirty="0">
              <a:latin typeface="Arial" pitchFamily="34" charset="0"/>
              <a:cs typeface="Arial" pitchFamily="34" charset="0"/>
            </a:endParaRPr>
          </a:p>
        </p:txBody>
      </p:sp>
      <p:sp>
        <p:nvSpPr>
          <p:cNvPr id="9" name="TextBox 8"/>
          <p:cNvSpPr txBox="1"/>
          <p:nvPr/>
        </p:nvSpPr>
        <p:spPr>
          <a:xfrm>
            <a:off x="200472" y="1193413"/>
            <a:ext cx="9505056" cy="1323439"/>
          </a:xfrm>
          <a:prstGeom prst="rect">
            <a:avLst/>
          </a:prstGeom>
          <a:noFill/>
        </p:spPr>
        <p:txBody>
          <a:bodyPr wrap="square" rtlCol="0" anchor="ctr" anchorCtr="1">
            <a:spAutoFit/>
          </a:bodyPr>
          <a:lstStyle/>
          <a:p>
            <a:pPr algn="just">
              <a:buClr>
                <a:srgbClr val="C5003D"/>
              </a:buClr>
            </a:pPr>
            <a:r>
              <a:rPr lang="en-US" sz="1600" dirty="0">
                <a:latin typeface="Arial" pitchFamily="34" charset="0"/>
                <a:cs typeface="Arial" pitchFamily="34" charset="0"/>
              </a:rPr>
              <a:t>Histogram (</a:t>
            </a:r>
            <a:r>
              <a:rPr lang="en-US" sz="1600" dirty="0" err="1">
                <a:latin typeface="Arial" pitchFamily="34" charset="0"/>
                <a:cs typeface="Arial" pitchFamily="34" charset="0"/>
              </a:rPr>
              <a:t>biểu</a:t>
            </a:r>
            <a:r>
              <a:rPr lang="en-US" sz="1600" dirty="0">
                <a:latin typeface="Arial" pitchFamily="34" charset="0"/>
                <a:cs typeface="Arial" pitchFamily="34" charset="0"/>
              </a:rPr>
              <a:t> </a:t>
            </a:r>
            <a:r>
              <a:rPr lang="en-US" sz="1600" dirty="0" err="1">
                <a:latin typeface="Arial" pitchFamily="34" charset="0"/>
                <a:cs typeface="Arial" pitchFamily="34" charset="0"/>
              </a:rPr>
              <a:t>đồ</a:t>
            </a:r>
            <a:r>
              <a:rPr lang="en-US" sz="1600" dirty="0">
                <a:latin typeface="Arial" pitchFamily="34" charset="0"/>
                <a:cs typeface="Arial" pitchFamily="34" charset="0"/>
              </a:rPr>
              <a:t> </a:t>
            </a:r>
            <a:r>
              <a:rPr lang="en-US" sz="1600" dirty="0" err="1">
                <a:latin typeface="Arial" pitchFamily="34" charset="0"/>
                <a:cs typeface="Arial" pitchFamily="34" charset="0"/>
              </a:rPr>
              <a:t>phân</a:t>
            </a:r>
            <a:r>
              <a:rPr lang="en-US" sz="1600" dirty="0">
                <a:latin typeface="Arial" pitchFamily="34" charset="0"/>
                <a:cs typeface="Arial" pitchFamily="34" charset="0"/>
              </a:rPr>
              <a:t> </a:t>
            </a:r>
            <a:r>
              <a:rPr lang="en-US" sz="1600" dirty="0" err="1">
                <a:latin typeface="Arial" pitchFamily="34" charset="0"/>
                <a:cs typeface="Arial" pitchFamily="34" charset="0"/>
              </a:rPr>
              <a:t>bố</a:t>
            </a:r>
            <a:r>
              <a:rPr lang="en-US" sz="1600" dirty="0">
                <a:latin typeface="Arial" pitchFamily="34" charset="0"/>
                <a:cs typeface="Arial" pitchFamily="34" charset="0"/>
              </a:rPr>
              <a:t> </a:t>
            </a:r>
            <a:r>
              <a:rPr lang="en-US" sz="1600" dirty="0" err="1">
                <a:latin typeface="Arial" pitchFamily="34" charset="0"/>
                <a:cs typeface="Arial" pitchFamily="34" charset="0"/>
              </a:rPr>
              <a:t>xác</a:t>
            </a:r>
            <a:r>
              <a:rPr lang="en-US" sz="1600" dirty="0">
                <a:latin typeface="Arial" pitchFamily="34" charset="0"/>
                <a:cs typeface="Arial" pitchFamily="34" charset="0"/>
              </a:rPr>
              <a:t> </a:t>
            </a:r>
            <a:r>
              <a:rPr lang="en-US" sz="1600" dirty="0" err="1">
                <a:latin typeface="Arial" pitchFamily="34" charset="0"/>
                <a:cs typeface="Arial" pitchFamily="34" charset="0"/>
              </a:rPr>
              <a:t>suất</a:t>
            </a:r>
            <a:r>
              <a:rPr lang="en-US" sz="1600" dirty="0">
                <a:latin typeface="Arial" pitchFamily="34" charset="0"/>
                <a:cs typeface="Arial" pitchFamily="34" charset="0"/>
              </a:rPr>
              <a:t>/</a:t>
            </a:r>
            <a:r>
              <a:rPr lang="en-US" sz="1600" dirty="0" err="1">
                <a:latin typeface="Arial" pitchFamily="34" charset="0"/>
                <a:cs typeface="Arial" pitchFamily="34" charset="0"/>
              </a:rPr>
              <a:t>biểu</a:t>
            </a:r>
            <a:r>
              <a:rPr lang="en-US" sz="1600" dirty="0">
                <a:latin typeface="Arial" pitchFamily="34" charset="0"/>
                <a:cs typeface="Arial" pitchFamily="34" charset="0"/>
              </a:rPr>
              <a:t> </a:t>
            </a:r>
            <a:r>
              <a:rPr lang="en-US" sz="1600" dirty="0" err="1">
                <a:latin typeface="Arial" pitchFamily="34" charset="0"/>
                <a:cs typeface="Arial" pitchFamily="34" charset="0"/>
              </a:rPr>
              <a:t>đồ</a:t>
            </a:r>
            <a:r>
              <a:rPr lang="en-US" sz="1600" dirty="0">
                <a:latin typeface="Arial" pitchFamily="34" charset="0"/>
                <a:cs typeface="Arial" pitchFamily="34" charset="0"/>
              </a:rPr>
              <a:t> </a:t>
            </a:r>
            <a:r>
              <a:rPr lang="en-US" sz="1600" dirty="0" err="1">
                <a:latin typeface="Arial" pitchFamily="34" charset="0"/>
                <a:cs typeface="Arial" pitchFamily="34" charset="0"/>
              </a:rPr>
              <a:t>tần</a:t>
            </a:r>
            <a:r>
              <a:rPr lang="en-US" sz="1600" dirty="0">
                <a:latin typeface="Arial" pitchFamily="34" charset="0"/>
                <a:cs typeface="Arial" pitchFamily="34" charset="0"/>
              </a:rPr>
              <a:t> </a:t>
            </a:r>
            <a:r>
              <a:rPr lang="en-US" sz="1600" dirty="0" err="1">
                <a:latin typeface="Arial" pitchFamily="34" charset="0"/>
                <a:cs typeface="Arial" pitchFamily="34" charset="0"/>
              </a:rPr>
              <a:t>suất</a:t>
            </a:r>
            <a:r>
              <a:rPr lang="en-US" sz="1600" dirty="0">
                <a:latin typeface="Arial" pitchFamily="34" charset="0"/>
                <a:cs typeface="Arial" pitchFamily="34" charset="0"/>
              </a:rPr>
              <a:t>) </a:t>
            </a:r>
            <a:r>
              <a:rPr lang="en-US" sz="1600" dirty="0" err="1">
                <a:latin typeface="Arial" pitchFamily="34" charset="0"/>
                <a:cs typeface="Arial" pitchFamily="34" charset="0"/>
              </a:rPr>
              <a:t>là</a:t>
            </a:r>
            <a:r>
              <a:rPr lang="en-US" sz="1600" dirty="0">
                <a:latin typeface="Arial" pitchFamily="34" charset="0"/>
                <a:cs typeface="Arial" pitchFamily="34" charset="0"/>
              </a:rPr>
              <a:t> </a:t>
            </a:r>
            <a:r>
              <a:rPr lang="en-US" sz="1600" dirty="0" err="1">
                <a:latin typeface="Arial" pitchFamily="34" charset="0"/>
                <a:cs typeface="Arial" pitchFamily="34" charset="0"/>
              </a:rPr>
              <a:t>một</a:t>
            </a:r>
            <a:r>
              <a:rPr lang="en-US" sz="1600" dirty="0">
                <a:latin typeface="Arial" pitchFamily="34" charset="0"/>
                <a:cs typeface="Arial" pitchFamily="34" charset="0"/>
              </a:rPr>
              <a:t> </a:t>
            </a:r>
            <a:r>
              <a:rPr lang="en-US" sz="1600" dirty="0" err="1">
                <a:latin typeface="Arial" pitchFamily="34" charset="0"/>
                <a:cs typeface="Arial" pitchFamily="34" charset="0"/>
              </a:rPr>
              <a:t>dạng</a:t>
            </a:r>
            <a:r>
              <a:rPr lang="en-US" sz="1600" dirty="0">
                <a:latin typeface="Arial" pitchFamily="34" charset="0"/>
                <a:cs typeface="Arial" pitchFamily="34" charset="0"/>
              </a:rPr>
              <a:t> </a:t>
            </a:r>
            <a:r>
              <a:rPr lang="en-US" sz="1600" dirty="0" err="1">
                <a:latin typeface="Arial" pitchFamily="34" charset="0"/>
                <a:cs typeface="Arial" pitchFamily="34" charset="0"/>
              </a:rPr>
              <a:t>biểu</a:t>
            </a:r>
            <a:r>
              <a:rPr lang="en-US" sz="1600" dirty="0">
                <a:latin typeface="Arial" pitchFamily="34" charset="0"/>
                <a:cs typeface="Arial" pitchFamily="34" charset="0"/>
              </a:rPr>
              <a:t> </a:t>
            </a:r>
            <a:r>
              <a:rPr lang="en-US" sz="1600" dirty="0" err="1">
                <a:latin typeface="Arial" pitchFamily="34" charset="0"/>
                <a:cs typeface="Arial" pitchFamily="34" charset="0"/>
              </a:rPr>
              <a:t>đồ</a:t>
            </a:r>
            <a:r>
              <a:rPr lang="en-US" sz="1600" dirty="0">
                <a:latin typeface="Arial" pitchFamily="34" charset="0"/>
                <a:cs typeface="Arial" pitchFamily="34" charset="0"/>
              </a:rPr>
              <a:t> </a:t>
            </a:r>
            <a:r>
              <a:rPr lang="en-US" sz="1600" dirty="0" err="1">
                <a:latin typeface="Arial" pitchFamily="34" charset="0"/>
                <a:cs typeface="Arial" pitchFamily="34" charset="0"/>
              </a:rPr>
              <a:t>diễn</a:t>
            </a:r>
            <a:r>
              <a:rPr lang="en-US" sz="1600" dirty="0">
                <a:latin typeface="Arial" pitchFamily="34" charset="0"/>
                <a:cs typeface="Arial" pitchFamily="34" charset="0"/>
              </a:rPr>
              <a:t> </a:t>
            </a:r>
            <a:r>
              <a:rPr lang="en-US" sz="1600" dirty="0" err="1">
                <a:latin typeface="Arial" pitchFamily="34" charset="0"/>
                <a:cs typeface="Arial" pitchFamily="34" charset="0"/>
              </a:rPr>
              <a:t>tả</a:t>
            </a:r>
            <a:r>
              <a:rPr lang="en-US" sz="1600" dirty="0">
                <a:latin typeface="Arial" pitchFamily="34" charset="0"/>
                <a:cs typeface="Arial" pitchFamily="34" charset="0"/>
              </a:rPr>
              <a:t> </a:t>
            </a:r>
            <a:r>
              <a:rPr lang="en-US" sz="1600" dirty="0" err="1">
                <a:latin typeface="Arial" pitchFamily="34" charset="0"/>
                <a:cs typeface="Arial" pitchFamily="34" charset="0"/>
              </a:rPr>
              <a:t>sự</a:t>
            </a:r>
            <a:r>
              <a:rPr lang="en-US" sz="1600" dirty="0">
                <a:latin typeface="Arial" pitchFamily="34" charset="0"/>
                <a:cs typeface="Arial" pitchFamily="34" charset="0"/>
              </a:rPr>
              <a:t> </a:t>
            </a:r>
            <a:r>
              <a:rPr lang="en-US" sz="1600" dirty="0" err="1">
                <a:latin typeface="Arial" pitchFamily="34" charset="0"/>
                <a:cs typeface="Arial" pitchFamily="34" charset="0"/>
              </a:rPr>
              <a:t>phân</a:t>
            </a:r>
            <a:r>
              <a:rPr lang="en-US" sz="1600" dirty="0">
                <a:latin typeface="Arial" pitchFamily="34" charset="0"/>
                <a:cs typeface="Arial" pitchFamily="34" charset="0"/>
              </a:rPr>
              <a:t> </a:t>
            </a:r>
            <a:r>
              <a:rPr lang="en-US" sz="1600" dirty="0" err="1">
                <a:latin typeface="Arial" pitchFamily="34" charset="0"/>
                <a:cs typeface="Arial" pitchFamily="34" charset="0"/>
              </a:rPr>
              <a:t>bổ</a:t>
            </a:r>
            <a:r>
              <a:rPr lang="en-US" sz="1600" dirty="0">
                <a:latin typeface="Arial" pitchFamily="34" charset="0"/>
                <a:cs typeface="Arial" pitchFamily="34" charset="0"/>
              </a:rPr>
              <a:t> </a:t>
            </a:r>
            <a:r>
              <a:rPr lang="en-US" sz="1600" dirty="0" err="1">
                <a:latin typeface="Arial" pitchFamily="34" charset="0"/>
                <a:cs typeface="Arial" pitchFamily="34" charset="0"/>
              </a:rPr>
              <a:t>tần</a:t>
            </a:r>
            <a:r>
              <a:rPr lang="en-US" sz="1600" dirty="0">
                <a:latin typeface="Arial" pitchFamily="34" charset="0"/>
                <a:cs typeface="Arial" pitchFamily="34" charset="0"/>
              </a:rPr>
              <a:t> </a:t>
            </a:r>
            <a:r>
              <a:rPr lang="en-US" sz="1600" dirty="0" err="1">
                <a:latin typeface="Arial" pitchFamily="34" charset="0"/>
                <a:cs typeface="Arial" pitchFamily="34" charset="0"/>
              </a:rPr>
              <a:t>suấtdưới</a:t>
            </a:r>
            <a:r>
              <a:rPr lang="en-US" sz="1600" dirty="0">
                <a:latin typeface="Arial" pitchFamily="34" charset="0"/>
                <a:cs typeface="Arial" pitchFamily="34" charset="0"/>
              </a:rPr>
              <a:t> </a:t>
            </a:r>
            <a:r>
              <a:rPr lang="en-US" sz="1600" dirty="0" err="1">
                <a:latin typeface="Arial" pitchFamily="34" charset="0"/>
                <a:cs typeface="Arial" pitchFamily="34" charset="0"/>
              </a:rPr>
              <a:t>dạng</a:t>
            </a:r>
            <a:r>
              <a:rPr lang="en-US" sz="1600" dirty="0">
                <a:latin typeface="Arial" pitchFamily="34" charset="0"/>
                <a:cs typeface="Arial" pitchFamily="34" charset="0"/>
              </a:rPr>
              <a:t> </a:t>
            </a:r>
            <a:r>
              <a:rPr lang="en-US" sz="1600" dirty="0" err="1">
                <a:latin typeface="Arial" pitchFamily="34" charset="0"/>
                <a:cs typeface="Arial" pitchFamily="34" charset="0"/>
              </a:rPr>
              <a:t>các</a:t>
            </a:r>
            <a:r>
              <a:rPr lang="en-US" sz="1600" dirty="0">
                <a:latin typeface="Arial" pitchFamily="34" charset="0"/>
                <a:cs typeface="Arial" pitchFamily="34" charset="0"/>
              </a:rPr>
              <a:t> </a:t>
            </a:r>
            <a:r>
              <a:rPr lang="en-US" sz="1600" dirty="0" err="1">
                <a:latin typeface="Arial" pitchFamily="34" charset="0"/>
                <a:cs typeface="Arial" pitchFamily="34" charset="0"/>
              </a:rPr>
              <a:t>cột</a:t>
            </a:r>
            <a:r>
              <a:rPr lang="en-US" sz="1600" dirty="0">
                <a:latin typeface="Arial" pitchFamily="34" charset="0"/>
                <a:cs typeface="Arial" pitchFamily="34" charset="0"/>
              </a:rPr>
              <a:t>. </a:t>
            </a:r>
            <a:r>
              <a:rPr lang="en-US" sz="1600" dirty="0" err="1">
                <a:latin typeface="Arial" pitchFamily="34" charset="0"/>
                <a:cs typeface="Arial" pitchFamily="34" charset="0"/>
              </a:rPr>
              <a:t>Thông</a:t>
            </a:r>
            <a:r>
              <a:rPr lang="en-US" sz="1600" dirty="0">
                <a:latin typeface="Arial" pitchFamily="34" charset="0"/>
                <a:cs typeface="Arial" pitchFamily="34" charset="0"/>
              </a:rPr>
              <a:t> </a:t>
            </a:r>
            <a:r>
              <a:rPr lang="en-US" sz="1600" dirty="0" err="1">
                <a:latin typeface="Arial" pitchFamily="34" charset="0"/>
                <a:cs typeface="Arial" pitchFamily="34" charset="0"/>
              </a:rPr>
              <a:t>thường</a:t>
            </a:r>
            <a:r>
              <a:rPr lang="en-US" sz="1600" dirty="0">
                <a:latin typeface="Arial" pitchFamily="34" charset="0"/>
                <a:cs typeface="Arial" pitchFamily="34" charset="0"/>
              </a:rPr>
              <a:t>, </a:t>
            </a:r>
            <a:r>
              <a:rPr lang="en-US" sz="1600" dirty="0" err="1">
                <a:latin typeface="Arial" pitchFamily="34" charset="0"/>
                <a:cs typeface="Arial" pitchFamily="34" charset="0"/>
              </a:rPr>
              <a:t>trong</a:t>
            </a:r>
            <a:r>
              <a:rPr lang="en-US" sz="1600" dirty="0">
                <a:latin typeface="Arial" pitchFamily="34" charset="0"/>
                <a:cs typeface="Arial" pitchFamily="34" charset="0"/>
              </a:rPr>
              <a:t> </a:t>
            </a:r>
            <a:r>
              <a:rPr lang="en-US" sz="1600" dirty="0" err="1">
                <a:latin typeface="Arial" pitchFamily="34" charset="0"/>
                <a:cs typeface="Arial" pitchFamily="34" charset="0"/>
              </a:rPr>
              <a:t>biểu</a:t>
            </a:r>
            <a:r>
              <a:rPr lang="en-US" sz="1600" dirty="0">
                <a:latin typeface="Arial" pitchFamily="34" charset="0"/>
                <a:cs typeface="Arial" pitchFamily="34" charset="0"/>
              </a:rPr>
              <a:t> </a:t>
            </a:r>
            <a:r>
              <a:rPr lang="en-US" sz="1600" dirty="0" err="1">
                <a:latin typeface="Arial" pitchFamily="34" charset="0"/>
                <a:cs typeface="Arial" pitchFamily="34" charset="0"/>
              </a:rPr>
              <a:t>đồ</a:t>
            </a:r>
            <a:r>
              <a:rPr lang="en-US" sz="1600" dirty="0">
                <a:latin typeface="Arial" pitchFamily="34" charset="0"/>
                <a:cs typeface="Arial" pitchFamily="34" charset="0"/>
              </a:rPr>
              <a:t> histogram, </a:t>
            </a:r>
            <a:r>
              <a:rPr lang="en-US" sz="1600" dirty="0" err="1">
                <a:latin typeface="Arial" pitchFamily="34" charset="0"/>
                <a:cs typeface="Arial" pitchFamily="34" charset="0"/>
              </a:rPr>
              <a:t>trục</a:t>
            </a:r>
            <a:r>
              <a:rPr lang="en-US" sz="1600" dirty="0">
                <a:latin typeface="Arial" pitchFamily="34" charset="0"/>
                <a:cs typeface="Arial" pitchFamily="34" charset="0"/>
              </a:rPr>
              <a:t> </a:t>
            </a:r>
            <a:r>
              <a:rPr lang="en-US" sz="1600" dirty="0" err="1">
                <a:latin typeface="Arial" pitchFamily="34" charset="0"/>
                <a:cs typeface="Arial" pitchFamily="34" charset="0"/>
              </a:rPr>
              <a:t>hoành</a:t>
            </a:r>
            <a:r>
              <a:rPr lang="en-US" sz="1600" dirty="0">
                <a:latin typeface="Arial" pitchFamily="34" charset="0"/>
                <a:cs typeface="Arial" pitchFamily="34" charset="0"/>
              </a:rPr>
              <a:t> </a:t>
            </a:r>
            <a:r>
              <a:rPr lang="en-US" sz="1600" dirty="0" err="1">
                <a:latin typeface="Arial" pitchFamily="34" charset="0"/>
                <a:cs typeface="Arial" pitchFamily="34" charset="0"/>
              </a:rPr>
              <a:t>biểu</a:t>
            </a:r>
            <a:r>
              <a:rPr lang="en-US" sz="1600" dirty="0">
                <a:latin typeface="Arial" pitchFamily="34" charset="0"/>
                <a:cs typeface="Arial" pitchFamily="34" charset="0"/>
              </a:rPr>
              <a:t> </a:t>
            </a:r>
            <a:r>
              <a:rPr lang="en-US" sz="1600" dirty="0" err="1">
                <a:latin typeface="Arial" pitchFamily="34" charset="0"/>
                <a:cs typeface="Arial" pitchFamily="34" charset="0"/>
              </a:rPr>
              <a:t>diễn</a:t>
            </a:r>
            <a:r>
              <a:rPr lang="en-US" sz="1600" dirty="0">
                <a:latin typeface="Arial" pitchFamily="34" charset="0"/>
                <a:cs typeface="Arial" pitchFamily="34" charset="0"/>
              </a:rPr>
              <a:t> </a:t>
            </a:r>
            <a:r>
              <a:rPr lang="en-US" sz="1600" dirty="0" err="1">
                <a:latin typeface="Arial" pitchFamily="34" charset="0"/>
                <a:cs typeface="Arial" pitchFamily="34" charset="0"/>
              </a:rPr>
              <a:t>sự</a:t>
            </a:r>
            <a:r>
              <a:rPr lang="en-US" sz="1600" dirty="0">
                <a:latin typeface="Arial" pitchFamily="34" charset="0"/>
                <a:cs typeface="Arial" pitchFamily="34" charset="0"/>
              </a:rPr>
              <a:t> </a:t>
            </a:r>
            <a:r>
              <a:rPr lang="en-US" sz="1600" dirty="0" err="1">
                <a:latin typeface="Arial" pitchFamily="34" charset="0"/>
                <a:cs typeface="Arial" pitchFamily="34" charset="0"/>
              </a:rPr>
              <a:t>phân</a:t>
            </a:r>
            <a:r>
              <a:rPr lang="en-US" sz="1600" dirty="0">
                <a:latin typeface="Arial" pitchFamily="34" charset="0"/>
                <a:cs typeface="Arial" pitchFamily="34" charset="0"/>
              </a:rPr>
              <a:t> </a:t>
            </a:r>
            <a:r>
              <a:rPr lang="en-US" sz="1600" dirty="0" err="1">
                <a:latin typeface="Arial" pitchFamily="34" charset="0"/>
                <a:cs typeface="Arial" pitchFamily="34" charset="0"/>
              </a:rPr>
              <a:t>loại</a:t>
            </a:r>
            <a:r>
              <a:rPr lang="en-US" sz="1600" dirty="0">
                <a:latin typeface="Arial" pitchFamily="34" charset="0"/>
                <a:cs typeface="Arial" pitchFamily="34" charset="0"/>
              </a:rPr>
              <a:t>, </a:t>
            </a:r>
            <a:r>
              <a:rPr lang="en-US" sz="1600" dirty="0" err="1">
                <a:latin typeface="Arial" pitchFamily="34" charset="0"/>
                <a:cs typeface="Arial" pitchFamily="34" charset="0"/>
              </a:rPr>
              <a:t>trục</a:t>
            </a:r>
            <a:r>
              <a:rPr lang="en-US" sz="1600" dirty="0">
                <a:latin typeface="Arial" pitchFamily="34" charset="0"/>
                <a:cs typeface="Arial" pitchFamily="34" charset="0"/>
              </a:rPr>
              <a:t>       </a:t>
            </a:r>
            <a:r>
              <a:rPr lang="en-US" sz="1600" dirty="0" err="1">
                <a:latin typeface="Arial" pitchFamily="34" charset="0"/>
                <a:cs typeface="Arial" pitchFamily="34" charset="0"/>
              </a:rPr>
              <a:t>tung</a:t>
            </a:r>
            <a:r>
              <a:rPr lang="en-US" sz="1600" dirty="0">
                <a:latin typeface="Arial" pitchFamily="34" charset="0"/>
                <a:cs typeface="Arial" pitchFamily="34" charset="0"/>
              </a:rPr>
              <a:t> </a:t>
            </a:r>
            <a:r>
              <a:rPr lang="en-US" sz="1600" dirty="0" err="1">
                <a:latin typeface="Arial" pitchFamily="34" charset="0"/>
                <a:cs typeface="Arial" pitchFamily="34" charset="0"/>
              </a:rPr>
              <a:t>biểu</a:t>
            </a:r>
            <a:r>
              <a:rPr lang="en-US" sz="1600" dirty="0">
                <a:latin typeface="Arial" pitchFamily="34" charset="0"/>
                <a:cs typeface="Arial" pitchFamily="34" charset="0"/>
              </a:rPr>
              <a:t> </a:t>
            </a:r>
            <a:r>
              <a:rPr lang="en-US" sz="1600" dirty="0" err="1">
                <a:latin typeface="Arial" pitchFamily="34" charset="0"/>
                <a:cs typeface="Arial" pitchFamily="34" charset="0"/>
              </a:rPr>
              <a:t>diễn</a:t>
            </a:r>
            <a:r>
              <a:rPr lang="en-US" sz="1600" dirty="0">
                <a:latin typeface="Arial" pitchFamily="34" charset="0"/>
                <a:cs typeface="Arial" pitchFamily="34" charset="0"/>
              </a:rPr>
              <a:t> </a:t>
            </a:r>
            <a:r>
              <a:rPr lang="en-US" sz="1600" dirty="0" err="1">
                <a:latin typeface="Arial" pitchFamily="34" charset="0"/>
                <a:cs typeface="Arial" pitchFamily="34" charset="0"/>
              </a:rPr>
              <a:t>tần</a:t>
            </a:r>
            <a:r>
              <a:rPr lang="en-US" sz="1600" dirty="0">
                <a:latin typeface="Arial" pitchFamily="34" charset="0"/>
                <a:cs typeface="Arial" pitchFamily="34" charset="0"/>
              </a:rPr>
              <a:t> </a:t>
            </a:r>
            <a:r>
              <a:rPr lang="en-US" sz="1600" dirty="0" err="1">
                <a:latin typeface="Arial" pitchFamily="34" charset="0"/>
                <a:cs typeface="Arial" pitchFamily="34" charset="0"/>
              </a:rPr>
              <a:t>suất</a:t>
            </a:r>
            <a:r>
              <a:rPr lang="en-US" sz="1600" dirty="0">
                <a:latin typeface="Arial" pitchFamily="34" charset="0"/>
                <a:cs typeface="Arial" pitchFamily="34" charset="0"/>
              </a:rPr>
              <a:t>. </a:t>
            </a:r>
            <a:r>
              <a:rPr lang="en-US" sz="1600" dirty="0" err="1">
                <a:latin typeface="Arial" pitchFamily="34" charset="0"/>
                <a:cs typeface="Arial" pitchFamily="34" charset="0"/>
              </a:rPr>
              <a:t>Trong</a:t>
            </a:r>
            <a:r>
              <a:rPr lang="en-US" sz="1600" dirty="0">
                <a:latin typeface="Arial" pitchFamily="34" charset="0"/>
                <a:cs typeface="Arial" pitchFamily="34" charset="0"/>
              </a:rPr>
              <a:t> </a:t>
            </a:r>
            <a:r>
              <a:rPr lang="en-US" sz="1600" dirty="0" err="1">
                <a:latin typeface="Arial" pitchFamily="34" charset="0"/>
                <a:cs typeface="Arial" pitchFamily="34" charset="0"/>
              </a:rPr>
              <a:t>một</a:t>
            </a:r>
            <a:r>
              <a:rPr lang="en-US" sz="1600" dirty="0">
                <a:latin typeface="Arial" pitchFamily="34" charset="0"/>
                <a:cs typeface="Arial" pitchFamily="34" charset="0"/>
              </a:rPr>
              <a:t> </a:t>
            </a:r>
            <a:r>
              <a:rPr lang="en-US" sz="1600" dirty="0" err="1">
                <a:latin typeface="Arial" pitchFamily="34" charset="0"/>
                <a:cs typeface="Arial" pitchFamily="34" charset="0"/>
              </a:rPr>
              <a:t>số</a:t>
            </a:r>
            <a:r>
              <a:rPr lang="en-US" sz="1600" dirty="0">
                <a:latin typeface="Arial" pitchFamily="34" charset="0"/>
                <a:cs typeface="Arial" pitchFamily="34" charset="0"/>
              </a:rPr>
              <a:t> </a:t>
            </a:r>
            <a:r>
              <a:rPr lang="en-US" sz="1600" dirty="0" err="1">
                <a:latin typeface="Arial" pitchFamily="34" charset="0"/>
                <a:cs typeface="Arial" pitchFamily="34" charset="0"/>
              </a:rPr>
              <a:t>trường</a:t>
            </a:r>
            <a:r>
              <a:rPr lang="en-US" sz="1600" dirty="0">
                <a:latin typeface="Arial" pitchFamily="34" charset="0"/>
                <a:cs typeface="Arial" pitchFamily="34" charset="0"/>
              </a:rPr>
              <a:t> </a:t>
            </a:r>
            <a:r>
              <a:rPr lang="en-US" sz="1600" dirty="0" err="1">
                <a:latin typeface="Arial" pitchFamily="34" charset="0"/>
                <a:cs typeface="Arial" pitchFamily="34" charset="0"/>
              </a:rPr>
              <a:t>hợp</a:t>
            </a:r>
            <a:r>
              <a:rPr lang="en-US" sz="1600" dirty="0">
                <a:latin typeface="Arial" pitchFamily="34" charset="0"/>
                <a:cs typeface="Arial" pitchFamily="34" charset="0"/>
              </a:rPr>
              <a:t>, </a:t>
            </a:r>
            <a:r>
              <a:rPr lang="en-US" sz="1600" dirty="0" err="1">
                <a:latin typeface="Arial" pitchFamily="34" charset="0"/>
                <a:cs typeface="Arial" pitchFamily="34" charset="0"/>
              </a:rPr>
              <a:t>biểu</a:t>
            </a:r>
            <a:r>
              <a:rPr lang="en-US" sz="1600" dirty="0">
                <a:latin typeface="Arial" pitchFamily="34" charset="0"/>
                <a:cs typeface="Arial" pitchFamily="34" charset="0"/>
              </a:rPr>
              <a:t> </a:t>
            </a:r>
            <a:r>
              <a:rPr lang="en-US" sz="1600" dirty="0" err="1">
                <a:latin typeface="Arial" pitchFamily="34" charset="0"/>
                <a:cs typeface="Arial" pitchFamily="34" charset="0"/>
              </a:rPr>
              <a:t>đồ</a:t>
            </a:r>
            <a:r>
              <a:rPr lang="en-US" sz="1600" dirty="0">
                <a:latin typeface="Arial" pitchFamily="34" charset="0"/>
                <a:cs typeface="Arial" pitchFamily="34" charset="0"/>
              </a:rPr>
              <a:t> histogram </a:t>
            </a:r>
            <a:r>
              <a:rPr lang="en-US" sz="1600" dirty="0" err="1">
                <a:latin typeface="Arial" pitchFamily="34" charset="0"/>
                <a:cs typeface="Arial" pitchFamily="34" charset="0"/>
              </a:rPr>
              <a:t>có</a:t>
            </a:r>
            <a:r>
              <a:rPr lang="en-US" sz="1600" dirty="0">
                <a:latin typeface="Arial" pitchFamily="34" charset="0"/>
                <a:cs typeface="Arial" pitchFamily="34" charset="0"/>
              </a:rPr>
              <a:t> </a:t>
            </a:r>
            <a:r>
              <a:rPr lang="en-US" sz="1600" dirty="0" err="1">
                <a:latin typeface="Arial" pitchFamily="34" charset="0"/>
                <a:cs typeface="Arial" pitchFamily="34" charset="0"/>
              </a:rPr>
              <a:t>thể</a:t>
            </a:r>
            <a:r>
              <a:rPr lang="en-US" sz="1600" dirty="0">
                <a:latin typeface="Arial" pitchFamily="34" charset="0"/>
                <a:cs typeface="Arial" pitchFamily="34" charset="0"/>
              </a:rPr>
              <a:t> </a:t>
            </a:r>
            <a:r>
              <a:rPr lang="en-US" sz="1600" dirty="0" err="1">
                <a:latin typeface="Arial" pitchFamily="34" charset="0"/>
                <a:cs typeface="Arial" pitchFamily="34" charset="0"/>
              </a:rPr>
              <a:t>được</a:t>
            </a:r>
            <a:r>
              <a:rPr lang="en-US" sz="1600" dirty="0">
                <a:latin typeface="Arial" pitchFamily="34" charset="0"/>
                <a:cs typeface="Arial" pitchFamily="34" charset="0"/>
              </a:rPr>
              <a:t> </a:t>
            </a:r>
            <a:r>
              <a:rPr lang="en-US" sz="1600" dirty="0" err="1">
                <a:latin typeface="Arial" pitchFamily="34" charset="0"/>
                <a:cs typeface="Arial" pitchFamily="34" charset="0"/>
              </a:rPr>
              <a:t>xây</a:t>
            </a:r>
            <a:r>
              <a:rPr lang="en-US" sz="1600" dirty="0">
                <a:latin typeface="Arial" pitchFamily="34" charset="0"/>
                <a:cs typeface="Arial" pitchFamily="34" charset="0"/>
              </a:rPr>
              <a:t> </a:t>
            </a:r>
            <a:r>
              <a:rPr lang="en-US" sz="1600" dirty="0" err="1">
                <a:latin typeface="Arial" pitchFamily="34" charset="0"/>
                <a:cs typeface="Arial" pitchFamily="34" charset="0"/>
              </a:rPr>
              <a:t>dựng</a:t>
            </a:r>
            <a:r>
              <a:rPr lang="en-US" sz="1600" dirty="0">
                <a:latin typeface="Arial" pitchFamily="34" charset="0"/>
                <a:cs typeface="Arial" pitchFamily="34" charset="0"/>
              </a:rPr>
              <a:t> </a:t>
            </a:r>
            <a:r>
              <a:rPr lang="en-US" sz="1600" dirty="0" err="1">
                <a:latin typeface="Arial" pitchFamily="34" charset="0"/>
                <a:cs typeface="Arial" pitchFamily="34" charset="0"/>
              </a:rPr>
              <a:t>theo</a:t>
            </a:r>
            <a:r>
              <a:rPr lang="en-US" sz="1600" dirty="0">
                <a:latin typeface="Arial" pitchFamily="34" charset="0"/>
                <a:cs typeface="Arial" pitchFamily="34" charset="0"/>
              </a:rPr>
              <a:t> </a:t>
            </a:r>
            <a:r>
              <a:rPr lang="en-US" sz="1600" dirty="0" err="1">
                <a:latin typeface="Arial" pitchFamily="34" charset="0"/>
                <a:cs typeface="Arial" pitchFamily="34" charset="0"/>
              </a:rPr>
              <a:t>cách</a:t>
            </a:r>
            <a:r>
              <a:rPr lang="en-US" sz="1600" dirty="0">
                <a:latin typeface="Arial" pitchFamily="34" charset="0"/>
                <a:cs typeface="Arial" pitchFamily="34" charset="0"/>
              </a:rPr>
              <a:t>      </a:t>
            </a:r>
            <a:r>
              <a:rPr lang="en-US" sz="1600" dirty="0" err="1">
                <a:latin typeface="Arial" pitchFamily="34" charset="0"/>
                <a:cs typeface="Arial" pitchFamily="34" charset="0"/>
              </a:rPr>
              <a:t>ngược</a:t>
            </a:r>
            <a:r>
              <a:rPr lang="en-US" sz="1600" dirty="0">
                <a:latin typeface="Arial" pitchFamily="34" charset="0"/>
                <a:cs typeface="Arial" pitchFamily="34" charset="0"/>
              </a:rPr>
              <a:t> </a:t>
            </a:r>
            <a:r>
              <a:rPr lang="en-US" sz="1600" dirty="0" err="1">
                <a:latin typeface="Arial" pitchFamily="34" charset="0"/>
                <a:cs typeface="Arial" pitchFamily="34" charset="0"/>
              </a:rPr>
              <a:t>lại</a:t>
            </a:r>
            <a:r>
              <a:rPr lang="en-US" sz="1600" dirty="0">
                <a:latin typeface="Arial" pitchFamily="34" charset="0"/>
                <a:cs typeface="Arial" pitchFamily="34" charset="0"/>
              </a:rPr>
              <a:t>. </a:t>
            </a:r>
            <a:r>
              <a:rPr lang="en-US" sz="1600" dirty="0" err="1">
                <a:latin typeface="Arial" pitchFamily="34" charset="0"/>
                <a:cs typeface="Arial" pitchFamily="34" charset="0"/>
              </a:rPr>
              <a:t>Các</a:t>
            </a:r>
            <a:r>
              <a:rPr lang="en-US" sz="1600" dirty="0">
                <a:latin typeface="Arial" pitchFamily="34" charset="0"/>
                <a:cs typeface="Arial" pitchFamily="34" charset="0"/>
              </a:rPr>
              <a:t> </a:t>
            </a:r>
            <a:r>
              <a:rPr lang="en-US" sz="1600" dirty="0" err="1">
                <a:latin typeface="Arial" pitchFamily="34" charset="0"/>
                <a:cs typeface="Arial" pitchFamily="34" charset="0"/>
              </a:rPr>
              <a:t>cột</a:t>
            </a:r>
            <a:r>
              <a:rPr lang="en-US" sz="1600" dirty="0">
                <a:latin typeface="Arial" pitchFamily="34" charset="0"/>
                <a:cs typeface="Arial" pitchFamily="34" charset="0"/>
              </a:rPr>
              <a:t> </a:t>
            </a:r>
            <a:r>
              <a:rPr lang="en-US" sz="1600" dirty="0" err="1">
                <a:latin typeface="Arial" pitchFamily="34" charset="0"/>
                <a:cs typeface="Arial" pitchFamily="34" charset="0"/>
              </a:rPr>
              <a:t>thường</a:t>
            </a:r>
            <a:r>
              <a:rPr lang="en-US" sz="1600" dirty="0">
                <a:latin typeface="Arial" pitchFamily="34" charset="0"/>
                <a:cs typeface="Arial" pitchFamily="34" charset="0"/>
              </a:rPr>
              <a:t> </a:t>
            </a:r>
            <a:r>
              <a:rPr lang="en-US" sz="1600" dirty="0" err="1">
                <a:latin typeface="Arial" pitchFamily="34" charset="0"/>
                <a:cs typeface="Arial" pitchFamily="34" charset="0"/>
              </a:rPr>
              <a:t>là</a:t>
            </a:r>
            <a:r>
              <a:rPr lang="en-US" sz="1600" dirty="0">
                <a:latin typeface="Arial" pitchFamily="34" charset="0"/>
                <a:cs typeface="Arial" pitchFamily="34" charset="0"/>
              </a:rPr>
              <a:t> </a:t>
            </a:r>
            <a:r>
              <a:rPr lang="en-US" sz="1600" dirty="0" err="1">
                <a:latin typeface="Arial" pitchFamily="34" charset="0"/>
                <a:cs typeface="Arial" pitchFamily="34" charset="0"/>
              </a:rPr>
              <a:t>các</a:t>
            </a:r>
            <a:r>
              <a:rPr lang="en-US" sz="1600" dirty="0">
                <a:latin typeface="Arial" pitchFamily="34" charset="0"/>
                <a:cs typeface="Arial" pitchFamily="34" charset="0"/>
              </a:rPr>
              <a:t> </a:t>
            </a:r>
            <a:r>
              <a:rPr lang="en-US" sz="1600" dirty="0" err="1">
                <a:latin typeface="Arial" pitchFamily="34" charset="0"/>
                <a:cs typeface="Arial" pitchFamily="34" charset="0"/>
              </a:rPr>
              <a:t>khoảng</a:t>
            </a:r>
            <a:r>
              <a:rPr lang="en-US" sz="1600" dirty="0">
                <a:latin typeface="Arial" pitchFamily="34" charset="0"/>
                <a:cs typeface="Arial" pitchFamily="34" charset="0"/>
              </a:rPr>
              <a:t> </a:t>
            </a:r>
            <a:r>
              <a:rPr lang="en-US" sz="1600" dirty="0" err="1">
                <a:latin typeface="Arial" pitchFamily="34" charset="0"/>
                <a:cs typeface="Arial" pitchFamily="34" charset="0"/>
              </a:rPr>
              <a:t>biến</a:t>
            </a:r>
            <a:r>
              <a:rPr lang="en-US" sz="1600" dirty="0">
                <a:latin typeface="Arial" pitchFamily="34" charset="0"/>
                <a:cs typeface="Arial" pitchFamily="34" charset="0"/>
              </a:rPr>
              <a:t> </a:t>
            </a:r>
            <a:r>
              <a:rPr lang="en-US" sz="1600" dirty="0" err="1">
                <a:latin typeface="Arial" pitchFamily="34" charset="0"/>
                <a:cs typeface="Arial" pitchFamily="34" charset="0"/>
              </a:rPr>
              <a:t>không</a:t>
            </a:r>
            <a:r>
              <a:rPr lang="en-US" sz="1600" dirty="0">
                <a:latin typeface="Arial" pitchFamily="34" charset="0"/>
                <a:cs typeface="Arial" pitchFamily="34" charset="0"/>
              </a:rPr>
              <a:t> </a:t>
            </a:r>
            <a:r>
              <a:rPr lang="en-US" sz="1600" dirty="0" err="1">
                <a:latin typeface="Arial" pitchFamily="34" charset="0"/>
                <a:cs typeface="Arial" pitchFamily="34" charset="0"/>
              </a:rPr>
              <a:t>trùng</a:t>
            </a:r>
            <a:r>
              <a:rPr lang="en-US" sz="1600" dirty="0">
                <a:latin typeface="Arial" pitchFamily="34" charset="0"/>
                <a:cs typeface="Arial" pitchFamily="34" charset="0"/>
              </a:rPr>
              <a:t> </a:t>
            </a:r>
            <a:r>
              <a:rPr lang="en-US" sz="1600" dirty="0" err="1">
                <a:latin typeface="Arial" pitchFamily="34" charset="0"/>
                <a:cs typeface="Arial" pitchFamily="34" charset="0"/>
              </a:rPr>
              <a:t>lặp</a:t>
            </a:r>
            <a:r>
              <a:rPr lang="en-US" sz="1600" dirty="0">
                <a:latin typeface="Arial" pitchFamily="34" charset="0"/>
                <a:cs typeface="Arial" pitchFamily="34" charset="0"/>
              </a:rPr>
              <a:t> </a:t>
            </a:r>
            <a:r>
              <a:rPr lang="en-US" sz="1600" dirty="0" err="1">
                <a:latin typeface="Arial" pitchFamily="34" charset="0"/>
                <a:cs typeface="Arial" pitchFamily="34" charset="0"/>
              </a:rPr>
              <a:t>và</a:t>
            </a:r>
            <a:r>
              <a:rPr lang="en-US" sz="1600" dirty="0">
                <a:latin typeface="Arial" pitchFamily="34" charset="0"/>
                <a:cs typeface="Arial" pitchFamily="34" charset="0"/>
              </a:rPr>
              <a:t> </a:t>
            </a:r>
            <a:r>
              <a:rPr lang="en-US" sz="1600" dirty="0" err="1">
                <a:latin typeface="Arial" pitchFamily="34" charset="0"/>
                <a:cs typeface="Arial" pitchFamily="34" charset="0"/>
              </a:rPr>
              <a:t>các</a:t>
            </a:r>
            <a:r>
              <a:rPr lang="en-US" sz="1600" dirty="0">
                <a:latin typeface="Arial" pitchFamily="34" charset="0"/>
                <a:cs typeface="Arial" pitchFamily="34" charset="0"/>
              </a:rPr>
              <a:t> </a:t>
            </a:r>
            <a:r>
              <a:rPr lang="en-US" sz="1600" dirty="0" err="1">
                <a:latin typeface="Arial" pitchFamily="34" charset="0"/>
                <a:cs typeface="Arial" pitchFamily="34" charset="0"/>
              </a:rPr>
              <a:t>cột</a:t>
            </a:r>
            <a:r>
              <a:rPr lang="en-US" sz="1600" dirty="0">
                <a:latin typeface="Arial" pitchFamily="34" charset="0"/>
                <a:cs typeface="Arial" pitchFamily="34" charset="0"/>
              </a:rPr>
              <a:t> </a:t>
            </a:r>
            <a:r>
              <a:rPr lang="en-US" sz="1600" dirty="0" err="1">
                <a:latin typeface="Arial" pitchFamily="34" charset="0"/>
                <a:cs typeface="Arial" pitchFamily="34" charset="0"/>
              </a:rPr>
              <a:t>được</a:t>
            </a:r>
            <a:r>
              <a:rPr lang="en-US" sz="1600" dirty="0">
                <a:latin typeface="Arial" pitchFamily="34" charset="0"/>
                <a:cs typeface="Arial" pitchFamily="34" charset="0"/>
              </a:rPr>
              <a:t> </a:t>
            </a:r>
            <a:r>
              <a:rPr lang="en-US" sz="1600" dirty="0" err="1">
                <a:latin typeface="Arial" pitchFamily="34" charset="0"/>
                <a:cs typeface="Arial" pitchFamily="34" charset="0"/>
              </a:rPr>
              <a:t>xếp</a:t>
            </a:r>
            <a:r>
              <a:rPr lang="en-US" sz="1600" dirty="0">
                <a:latin typeface="Arial" pitchFamily="34" charset="0"/>
                <a:cs typeface="Arial" pitchFamily="34" charset="0"/>
              </a:rPr>
              <a:t> </a:t>
            </a:r>
            <a:r>
              <a:rPr lang="en-US" sz="1600" dirty="0" err="1">
                <a:latin typeface="Arial" pitchFamily="34" charset="0"/>
                <a:cs typeface="Arial" pitchFamily="34" charset="0"/>
              </a:rPr>
              <a:t>sát</a:t>
            </a:r>
            <a:r>
              <a:rPr lang="en-US" sz="1600" dirty="0">
                <a:latin typeface="Arial" pitchFamily="34" charset="0"/>
                <a:cs typeface="Arial" pitchFamily="34" charset="0"/>
              </a:rPr>
              <a:t> </a:t>
            </a:r>
            <a:r>
              <a:rPr lang="en-US" sz="1600" dirty="0" err="1">
                <a:latin typeface="Arial" pitchFamily="34" charset="0"/>
                <a:cs typeface="Arial" pitchFamily="34" charset="0"/>
              </a:rPr>
              <a:t>nhau</a:t>
            </a:r>
            <a:r>
              <a:rPr lang="en-US" sz="1600" dirty="0">
                <a:latin typeface="Arial" pitchFamily="34" charset="0"/>
                <a:cs typeface="Arial" pitchFamily="34" charset="0"/>
              </a:rPr>
              <a:t>.</a:t>
            </a:r>
          </a:p>
          <a:p>
            <a:pPr marL="266700" indent="-266700" algn="just">
              <a:buClr>
                <a:srgbClr val="C5003D"/>
              </a:buClr>
            </a:pPr>
            <a:endParaRPr lang="en-US" sz="1600" dirty="0">
              <a:latin typeface="Arial" pitchFamily="34" charset="0"/>
              <a:cs typeface="Arial" pitchFamily="34" charset="0"/>
            </a:endParaRPr>
          </a:p>
        </p:txBody>
      </p:sp>
      <p:sp>
        <p:nvSpPr>
          <p:cNvPr id="11" name="TextBox 10"/>
          <p:cNvSpPr txBox="1"/>
          <p:nvPr/>
        </p:nvSpPr>
        <p:spPr>
          <a:xfrm>
            <a:off x="200472" y="2636912"/>
            <a:ext cx="9505056" cy="830997"/>
          </a:xfrm>
          <a:prstGeom prst="rect">
            <a:avLst/>
          </a:prstGeom>
          <a:noFill/>
        </p:spPr>
        <p:txBody>
          <a:bodyPr wrap="square" rtlCol="0">
            <a:spAutoFit/>
          </a:bodyPr>
          <a:lstStyle/>
          <a:p>
            <a:pPr algn="just">
              <a:buClr>
                <a:srgbClr val="C5003D"/>
              </a:buClr>
            </a:pPr>
            <a:r>
              <a:rPr lang="en-US" sz="1600" dirty="0">
                <a:latin typeface="Arial" pitchFamily="34" charset="0"/>
                <a:cs typeface="Arial" pitchFamily="34" charset="0"/>
              </a:rPr>
              <a:t>Histogram </a:t>
            </a:r>
            <a:r>
              <a:rPr lang="en-US" sz="1600" dirty="0" err="1">
                <a:latin typeface="Arial" pitchFamily="34" charset="0"/>
                <a:cs typeface="Arial" pitchFamily="34" charset="0"/>
              </a:rPr>
              <a:t>là</a:t>
            </a:r>
            <a:r>
              <a:rPr lang="en-US" sz="1600" dirty="0">
                <a:latin typeface="Arial" pitchFamily="34" charset="0"/>
                <a:cs typeface="Arial" pitchFamily="34" charset="0"/>
              </a:rPr>
              <a:t> </a:t>
            </a:r>
            <a:r>
              <a:rPr lang="en-US" sz="1600" dirty="0" err="1">
                <a:latin typeface="Arial" pitchFamily="34" charset="0"/>
                <a:cs typeface="Arial" pitchFamily="34" charset="0"/>
              </a:rPr>
              <a:t>một</a:t>
            </a:r>
            <a:r>
              <a:rPr lang="en-US" sz="1600" dirty="0">
                <a:latin typeface="Arial" pitchFamily="34" charset="0"/>
                <a:cs typeface="Arial" pitchFamily="34" charset="0"/>
              </a:rPr>
              <a:t> </a:t>
            </a:r>
            <a:r>
              <a:rPr lang="en-US" sz="1600" dirty="0" err="1">
                <a:latin typeface="Arial" pitchFamily="34" charset="0"/>
                <a:cs typeface="Arial" pitchFamily="34" charset="0"/>
              </a:rPr>
              <a:t>từ</a:t>
            </a:r>
            <a:r>
              <a:rPr lang="en-US" sz="1600" dirty="0">
                <a:latin typeface="Arial" pitchFamily="34" charset="0"/>
                <a:cs typeface="Arial" pitchFamily="34" charset="0"/>
              </a:rPr>
              <a:t> </a:t>
            </a:r>
            <a:r>
              <a:rPr lang="en-US" sz="1600" dirty="0" err="1">
                <a:latin typeface="Arial" pitchFamily="34" charset="0"/>
                <a:cs typeface="Arial" pitchFamily="34" charset="0"/>
              </a:rPr>
              <a:t>tiếng</a:t>
            </a:r>
            <a:r>
              <a:rPr lang="en-US" sz="1600" dirty="0">
                <a:latin typeface="Arial" pitchFamily="34" charset="0"/>
                <a:cs typeface="Arial" pitchFamily="34" charset="0"/>
              </a:rPr>
              <a:t> </a:t>
            </a:r>
            <a:r>
              <a:rPr lang="en-US" sz="1600" dirty="0" err="1">
                <a:latin typeface="Arial" pitchFamily="34" charset="0"/>
                <a:cs typeface="Arial" pitchFamily="34" charset="0"/>
              </a:rPr>
              <a:t>Anh</a:t>
            </a:r>
            <a:r>
              <a:rPr lang="en-US" sz="1600" dirty="0">
                <a:latin typeface="Arial" pitchFamily="34" charset="0"/>
                <a:cs typeface="Arial" pitchFamily="34" charset="0"/>
              </a:rPr>
              <a:t> </a:t>
            </a:r>
            <a:r>
              <a:rPr lang="en-US" sz="1600" dirty="0" err="1">
                <a:latin typeface="Arial" pitchFamily="34" charset="0"/>
                <a:cs typeface="Arial" pitchFamily="34" charset="0"/>
              </a:rPr>
              <a:t>có</a:t>
            </a:r>
            <a:r>
              <a:rPr lang="en-US" sz="1600" dirty="0">
                <a:latin typeface="Arial" pitchFamily="34" charset="0"/>
                <a:cs typeface="Arial" pitchFamily="34" charset="0"/>
              </a:rPr>
              <a:t> </a:t>
            </a:r>
            <a:r>
              <a:rPr lang="en-US" sz="1600" dirty="0" err="1">
                <a:latin typeface="Arial" pitchFamily="34" charset="0"/>
                <a:cs typeface="Arial" pitchFamily="34" charset="0"/>
              </a:rPr>
              <a:t>nguồn</a:t>
            </a:r>
            <a:r>
              <a:rPr lang="en-US" sz="1600" dirty="0">
                <a:latin typeface="Arial" pitchFamily="34" charset="0"/>
                <a:cs typeface="Arial" pitchFamily="34" charset="0"/>
              </a:rPr>
              <a:t> </a:t>
            </a:r>
            <a:r>
              <a:rPr lang="en-US" sz="1600" dirty="0" err="1">
                <a:latin typeface="Arial" pitchFamily="34" charset="0"/>
                <a:cs typeface="Arial" pitchFamily="34" charset="0"/>
              </a:rPr>
              <a:t>gốc</a:t>
            </a:r>
            <a:r>
              <a:rPr lang="en-US" sz="1600" dirty="0">
                <a:latin typeface="Arial" pitchFamily="34" charset="0"/>
                <a:cs typeface="Arial" pitchFamily="34" charset="0"/>
              </a:rPr>
              <a:t> </a:t>
            </a:r>
            <a:r>
              <a:rPr lang="en-US" sz="1600" dirty="0" err="1">
                <a:latin typeface="Arial" pitchFamily="34" charset="0"/>
                <a:cs typeface="Arial" pitchFamily="34" charset="0"/>
              </a:rPr>
              <a:t>từ</a:t>
            </a:r>
            <a:r>
              <a:rPr lang="en-US" sz="1600" dirty="0">
                <a:latin typeface="Arial" pitchFamily="34" charset="0"/>
                <a:cs typeface="Arial" pitchFamily="34" charset="0"/>
              </a:rPr>
              <a:t> </a:t>
            </a:r>
            <a:r>
              <a:rPr lang="en-US" sz="1600" dirty="0" err="1">
                <a:latin typeface="Arial" pitchFamily="34" charset="0"/>
                <a:cs typeface="Arial" pitchFamily="34" charset="0"/>
              </a:rPr>
              <a:t>tiếng</a:t>
            </a:r>
            <a:r>
              <a:rPr lang="en-US" sz="1600" dirty="0">
                <a:latin typeface="Arial" pitchFamily="34" charset="0"/>
                <a:cs typeface="Arial" pitchFamily="34" charset="0"/>
              </a:rPr>
              <a:t> </a:t>
            </a:r>
            <a:r>
              <a:rPr lang="en-US" sz="1600" dirty="0" err="1">
                <a:latin typeface="Arial" pitchFamily="34" charset="0"/>
                <a:cs typeface="Arial" pitchFamily="34" charset="0"/>
              </a:rPr>
              <a:t>Hy</a:t>
            </a:r>
            <a:r>
              <a:rPr lang="en-US" sz="1600" dirty="0">
                <a:latin typeface="Arial" pitchFamily="34" charset="0"/>
                <a:cs typeface="Arial" pitchFamily="34" charset="0"/>
              </a:rPr>
              <a:t> </a:t>
            </a:r>
            <a:r>
              <a:rPr lang="en-US" sz="1600" dirty="0" err="1">
                <a:latin typeface="Arial" pitchFamily="34" charset="0"/>
                <a:cs typeface="Arial" pitchFamily="34" charset="0"/>
              </a:rPr>
              <a:t>Lạp</a:t>
            </a:r>
            <a:r>
              <a:rPr lang="en-US" sz="1600" dirty="0">
                <a:latin typeface="Arial" pitchFamily="34" charset="0"/>
                <a:cs typeface="Arial" pitchFamily="34" charset="0"/>
              </a:rPr>
              <a:t> </a:t>
            </a:r>
            <a:r>
              <a:rPr lang="en-US" sz="1600" dirty="0" err="1">
                <a:latin typeface="Arial" pitchFamily="34" charset="0"/>
                <a:cs typeface="Arial" pitchFamily="34" charset="0"/>
              </a:rPr>
              <a:t>cổ</a:t>
            </a:r>
            <a:r>
              <a:rPr lang="en-US" sz="1600" dirty="0">
                <a:latin typeface="Arial" pitchFamily="34" charset="0"/>
                <a:cs typeface="Arial" pitchFamily="34" charset="0"/>
              </a:rPr>
              <a:t>. </a:t>
            </a:r>
            <a:r>
              <a:rPr lang="en-US" sz="1600" dirty="0" err="1">
                <a:latin typeface="Arial" pitchFamily="34" charset="0"/>
                <a:cs typeface="Arial" pitchFamily="34" charset="0"/>
              </a:rPr>
              <a:t>Nó</a:t>
            </a:r>
            <a:r>
              <a:rPr lang="en-US" sz="1600" dirty="0">
                <a:latin typeface="Arial" pitchFamily="34" charset="0"/>
                <a:cs typeface="Arial" pitchFamily="34" charset="0"/>
              </a:rPr>
              <a:t> </a:t>
            </a:r>
            <a:r>
              <a:rPr lang="en-US" sz="1600" dirty="0" err="1">
                <a:latin typeface="Arial" pitchFamily="34" charset="0"/>
                <a:cs typeface="Arial" pitchFamily="34" charset="0"/>
              </a:rPr>
              <a:t>là</a:t>
            </a:r>
            <a:r>
              <a:rPr lang="en-US" sz="1600" dirty="0">
                <a:latin typeface="Arial" pitchFamily="34" charset="0"/>
                <a:cs typeface="Arial" pitchFamily="34" charset="0"/>
              </a:rPr>
              <a:t> </a:t>
            </a:r>
            <a:r>
              <a:rPr lang="en-US" sz="1600" dirty="0" err="1">
                <a:latin typeface="Arial" pitchFamily="34" charset="0"/>
                <a:cs typeface="Arial" pitchFamily="34" charset="0"/>
              </a:rPr>
              <a:t>sự</a:t>
            </a:r>
            <a:r>
              <a:rPr lang="en-US" sz="1600" dirty="0">
                <a:latin typeface="Arial" pitchFamily="34" charset="0"/>
                <a:cs typeface="Arial" pitchFamily="34" charset="0"/>
              </a:rPr>
              <a:t> </a:t>
            </a:r>
            <a:r>
              <a:rPr lang="en-US" sz="1600" dirty="0" err="1">
                <a:latin typeface="Arial" pitchFamily="34" charset="0"/>
                <a:cs typeface="Arial" pitchFamily="34" charset="0"/>
              </a:rPr>
              <a:t>kết</a:t>
            </a:r>
            <a:r>
              <a:rPr lang="en-US" sz="1600" dirty="0">
                <a:latin typeface="Arial" pitchFamily="34" charset="0"/>
                <a:cs typeface="Arial" pitchFamily="34" charset="0"/>
              </a:rPr>
              <a:t> </a:t>
            </a:r>
            <a:r>
              <a:rPr lang="en-US" sz="1600" dirty="0" err="1">
                <a:latin typeface="Arial" pitchFamily="34" charset="0"/>
                <a:cs typeface="Arial" pitchFamily="34" charset="0"/>
              </a:rPr>
              <a:t>hợp</a:t>
            </a:r>
            <a:r>
              <a:rPr lang="en-US" sz="1600" dirty="0">
                <a:latin typeface="Arial" pitchFamily="34" charset="0"/>
                <a:cs typeface="Arial" pitchFamily="34" charset="0"/>
              </a:rPr>
              <a:t> </a:t>
            </a:r>
            <a:r>
              <a:rPr lang="en-US" sz="1600" dirty="0" err="1">
                <a:latin typeface="Arial" pitchFamily="34" charset="0"/>
                <a:cs typeface="Arial" pitchFamily="34" charset="0"/>
              </a:rPr>
              <a:t>của</a:t>
            </a:r>
            <a:r>
              <a:rPr lang="en-US" sz="1600" dirty="0">
                <a:latin typeface="Arial" pitchFamily="34" charset="0"/>
                <a:cs typeface="Arial" pitchFamily="34" charset="0"/>
              </a:rPr>
              <a:t> “</a:t>
            </a:r>
            <a:r>
              <a:rPr lang="en-US" sz="1600" dirty="0" err="1">
                <a:latin typeface="Arial" pitchFamily="34" charset="0"/>
                <a:cs typeface="Arial" pitchFamily="34" charset="0"/>
              </a:rPr>
              <a:t>Historia</a:t>
            </a:r>
            <a:r>
              <a:rPr lang="en-US" sz="1600" dirty="0">
                <a:latin typeface="Arial" pitchFamily="34" charset="0"/>
                <a:cs typeface="Arial" pitchFamily="34" charset="0"/>
              </a:rPr>
              <a:t>”, </a:t>
            </a:r>
            <a:r>
              <a:rPr lang="en-US" sz="1600" dirty="0" err="1">
                <a:latin typeface="Arial" pitchFamily="34" charset="0"/>
                <a:cs typeface="Arial" pitchFamily="34" charset="0"/>
              </a:rPr>
              <a:t>nghĩa</a:t>
            </a:r>
            <a:br>
              <a:rPr lang="en-US" sz="1600" dirty="0">
                <a:latin typeface="Arial" pitchFamily="34" charset="0"/>
                <a:cs typeface="Arial" pitchFamily="34" charset="0"/>
              </a:rPr>
            </a:br>
            <a:r>
              <a:rPr lang="en-US" sz="1600" dirty="0" err="1">
                <a:latin typeface="Arial" pitchFamily="34" charset="0"/>
                <a:cs typeface="Arial" pitchFamily="34" charset="0"/>
              </a:rPr>
              <a:t>là</a:t>
            </a:r>
            <a:r>
              <a:rPr lang="en-US" sz="1600" dirty="0">
                <a:latin typeface="Arial" pitchFamily="34" charset="0"/>
                <a:cs typeface="Arial" pitchFamily="34" charset="0"/>
              </a:rPr>
              <a:t> “</a:t>
            </a:r>
            <a:r>
              <a:rPr lang="en-US" sz="1600" dirty="0" err="1">
                <a:latin typeface="Arial" pitchFamily="34" charset="0"/>
                <a:cs typeface="Arial" pitchFamily="34" charset="0"/>
              </a:rPr>
              <a:t>sự</a:t>
            </a:r>
            <a:r>
              <a:rPr lang="en-US" sz="1600" dirty="0">
                <a:latin typeface="Arial" pitchFamily="34" charset="0"/>
                <a:cs typeface="Arial" pitchFamily="34" charset="0"/>
              </a:rPr>
              <a:t> </a:t>
            </a:r>
            <a:r>
              <a:rPr lang="en-US" sz="1600" dirty="0" err="1">
                <a:latin typeface="Arial" pitchFamily="34" charset="0"/>
                <a:cs typeface="Arial" pitchFamily="34" charset="0"/>
              </a:rPr>
              <a:t>mô</a:t>
            </a:r>
            <a:r>
              <a:rPr lang="en-US" sz="1600" dirty="0">
                <a:latin typeface="Arial" pitchFamily="34" charset="0"/>
                <a:cs typeface="Arial" pitchFamily="34" charset="0"/>
              </a:rPr>
              <a:t> </a:t>
            </a:r>
            <a:r>
              <a:rPr lang="en-US" sz="1600" dirty="0" err="1">
                <a:latin typeface="Arial" pitchFamily="34" charset="0"/>
                <a:cs typeface="Arial" pitchFamily="34" charset="0"/>
              </a:rPr>
              <a:t>tả</a:t>
            </a:r>
            <a:r>
              <a:rPr lang="en-US" sz="1600" dirty="0">
                <a:latin typeface="Arial" pitchFamily="34" charset="0"/>
                <a:cs typeface="Arial" pitchFamily="34" charset="0"/>
              </a:rPr>
              <a:t>”, “</a:t>
            </a:r>
            <a:r>
              <a:rPr lang="en-US" sz="1600" dirty="0" err="1">
                <a:latin typeface="Arial" pitchFamily="34" charset="0"/>
                <a:cs typeface="Arial" pitchFamily="34" charset="0"/>
              </a:rPr>
              <a:t>câu</a:t>
            </a:r>
            <a:r>
              <a:rPr lang="en-US" sz="1600" dirty="0">
                <a:latin typeface="Arial" pitchFamily="34" charset="0"/>
                <a:cs typeface="Arial" pitchFamily="34" charset="0"/>
              </a:rPr>
              <a:t> </a:t>
            </a:r>
            <a:r>
              <a:rPr lang="en-US" sz="1600" dirty="0" err="1">
                <a:latin typeface="Arial" pitchFamily="34" charset="0"/>
                <a:cs typeface="Arial" pitchFamily="34" charset="0"/>
              </a:rPr>
              <a:t>chuyện</a:t>
            </a:r>
            <a:r>
              <a:rPr lang="en-US" sz="1600" dirty="0">
                <a:latin typeface="Arial" pitchFamily="34" charset="0"/>
                <a:cs typeface="Arial" pitchFamily="34" charset="0"/>
              </a:rPr>
              <a:t>”, “</a:t>
            </a:r>
            <a:r>
              <a:rPr lang="en-US" sz="1600" dirty="0" err="1">
                <a:latin typeface="Arial" pitchFamily="34" charset="0"/>
                <a:cs typeface="Arial" pitchFamily="34" charset="0"/>
              </a:rPr>
              <a:t>sự</a:t>
            </a:r>
            <a:r>
              <a:rPr lang="en-US" sz="1600" dirty="0">
                <a:latin typeface="Arial" pitchFamily="34" charset="0"/>
                <a:cs typeface="Arial" pitchFamily="34" charset="0"/>
              </a:rPr>
              <a:t> </a:t>
            </a:r>
            <a:r>
              <a:rPr lang="en-US" sz="1600" dirty="0" err="1">
                <a:latin typeface="Arial" pitchFamily="34" charset="0"/>
                <a:cs typeface="Arial" pitchFamily="34" charset="0"/>
              </a:rPr>
              <a:t>giải</a:t>
            </a:r>
            <a:r>
              <a:rPr lang="en-US" sz="1600" dirty="0">
                <a:latin typeface="Arial" pitchFamily="34" charset="0"/>
                <a:cs typeface="Arial" pitchFamily="34" charset="0"/>
              </a:rPr>
              <a:t> </a:t>
            </a:r>
            <a:r>
              <a:rPr lang="en-US" sz="1600" dirty="0" err="1">
                <a:latin typeface="Arial" pitchFamily="34" charset="0"/>
                <a:cs typeface="Arial" pitchFamily="34" charset="0"/>
              </a:rPr>
              <a:t>thích</a:t>
            </a:r>
            <a:r>
              <a:rPr lang="en-US" sz="1600" dirty="0">
                <a:latin typeface="Arial" pitchFamily="34" charset="0"/>
                <a:cs typeface="Arial" pitchFamily="34" charset="0"/>
              </a:rPr>
              <a:t>” </a:t>
            </a:r>
            <a:r>
              <a:rPr lang="en-US" sz="1600" dirty="0" err="1">
                <a:latin typeface="Arial" pitchFamily="34" charset="0"/>
                <a:cs typeface="Arial" pitchFamily="34" charset="0"/>
              </a:rPr>
              <a:t>và</a:t>
            </a:r>
            <a:r>
              <a:rPr lang="en-US" sz="1600" dirty="0">
                <a:latin typeface="Arial" pitchFamily="34" charset="0"/>
                <a:cs typeface="Arial" pitchFamily="34" charset="0"/>
              </a:rPr>
              <a:t> </a:t>
            </a:r>
            <a:r>
              <a:rPr lang="en-US" sz="1600" dirty="0" err="1">
                <a:latin typeface="Arial" pitchFamily="34" charset="0"/>
                <a:cs typeface="Arial" pitchFamily="34" charset="0"/>
              </a:rPr>
              <a:t>từ</a:t>
            </a:r>
            <a:r>
              <a:rPr lang="en-US" sz="1600" dirty="0">
                <a:latin typeface="Arial" pitchFamily="34" charset="0"/>
                <a:cs typeface="Arial" pitchFamily="34" charset="0"/>
              </a:rPr>
              <a:t> </a:t>
            </a:r>
            <a:r>
              <a:rPr lang="en-US" sz="1600" dirty="0" err="1">
                <a:latin typeface="Arial" pitchFamily="34" charset="0"/>
                <a:cs typeface="Arial" pitchFamily="34" charset="0"/>
              </a:rPr>
              <a:t>Graphikos</a:t>
            </a:r>
            <a:r>
              <a:rPr lang="en-US" sz="1600" dirty="0">
                <a:latin typeface="Arial" pitchFamily="34" charset="0"/>
                <a:cs typeface="Arial" pitchFamily="34" charset="0"/>
              </a:rPr>
              <a:t>, </a:t>
            </a:r>
            <a:r>
              <a:rPr lang="en-US" sz="1600" dirty="0" err="1">
                <a:latin typeface="Arial" pitchFamily="34" charset="0"/>
                <a:cs typeface="Arial" pitchFamily="34" charset="0"/>
              </a:rPr>
              <a:t>có</a:t>
            </a:r>
            <a:r>
              <a:rPr lang="en-US" sz="1600" dirty="0">
                <a:latin typeface="Arial" pitchFamily="34" charset="0"/>
                <a:cs typeface="Arial" pitchFamily="34" charset="0"/>
              </a:rPr>
              <a:t> </a:t>
            </a:r>
            <a:r>
              <a:rPr lang="en-US" sz="1600" dirty="0" err="1">
                <a:latin typeface="Arial" pitchFamily="34" charset="0"/>
                <a:cs typeface="Arial" pitchFamily="34" charset="0"/>
              </a:rPr>
              <a:t>nghĩa</a:t>
            </a:r>
            <a:r>
              <a:rPr lang="en-US" sz="1600" dirty="0">
                <a:latin typeface="Arial" pitchFamily="34" charset="0"/>
                <a:cs typeface="Arial" pitchFamily="34" charset="0"/>
              </a:rPr>
              <a:t> </a:t>
            </a:r>
            <a:r>
              <a:rPr lang="en-US" sz="1600" dirty="0" err="1">
                <a:latin typeface="Arial" pitchFamily="34" charset="0"/>
                <a:cs typeface="Arial" pitchFamily="34" charset="0"/>
              </a:rPr>
              <a:t>là</a:t>
            </a:r>
            <a:r>
              <a:rPr lang="en-US" sz="1600" dirty="0">
                <a:latin typeface="Arial" pitchFamily="34" charset="0"/>
                <a:cs typeface="Arial" pitchFamily="34" charset="0"/>
              </a:rPr>
              <a:t> “</a:t>
            </a:r>
            <a:r>
              <a:rPr lang="en-US" sz="1600" dirty="0" err="1">
                <a:latin typeface="Arial" pitchFamily="34" charset="0"/>
                <a:cs typeface="Arial" pitchFamily="34" charset="0"/>
              </a:rPr>
              <a:t>đồ</a:t>
            </a:r>
            <a:r>
              <a:rPr lang="en-US" sz="1600" dirty="0">
                <a:latin typeface="Arial" pitchFamily="34" charset="0"/>
                <a:cs typeface="Arial" pitchFamily="34" charset="0"/>
              </a:rPr>
              <a:t> </a:t>
            </a:r>
            <a:r>
              <a:rPr lang="en-US" sz="1600" dirty="0" err="1">
                <a:latin typeface="Arial" pitchFamily="34" charset="0"/>
                <a:cs typeface="Arial" pitchFamily="34" charset="0"/>
              </a:rPr>
              <a:t>thị</a:t>
            </a:r>
            <a:r>
              <a:rPr lang="en-US" sz="1600" dirty="0">
                <a:latin typeface="Arial" pitchFamily="34" charset="0"/>
                <a:cs typeface="Arial" pitchFamily="34" charset="0"/>
              </a:rPr>
              <a:t>”.</a:t>
            </a:r>
          </a:p>
          <a:p>
            <a:pPr algn="just">
              <a:buClr>
                <a:srgbClr val="C5003D"/>
              </a:buClr>
            </a:pPr>
            <a:endParaRPr lang="en-US" sz="1600" b="1" dirty="0">
              <a:latin typeface="Arial" pitchFamily="34" charset="0"/>
              <a:cs typeface="Arial" pitchFamily="34" charset="0"/>
            </a:endParaRPr>
          </a:p>
        </p:txBody>
      </p:sp>
      <p:sp>
        <p:nvSpPr>
          <p:cNvPr id="13" name="TextBox 12"/>
          <p:cNvSpPr txBox="1"/>
          <p:nvPr/>
        </p:nvSpPr>
        <p:spPr>
          <a:xfrm>
            <a:off x="1064568" y="6237312"/>
            <a:ext cx="8496944" cy="646331"/>
          </a:xfrm>
          <a:prstGeom prst="rect">
            <a:avLst/>
          </a:prstGeom>
          <a:noFill/>
        </p:spPr>
        <p:txBody>
          <a:bodyPr wrap="square" rtlCol="0">
            <a:spAutoFit/>
          </a:bodyPr>
          <a:lstStyle/>
          <a:p>
            <a:pPr>
              <a:buClr>
                <a:srgbClr val="C5003D"/>
              </a:buClr>
            </a:pPr>
            <a:r>
              <a:rPr lang="en-US" sz="1200" dirty="0">
                <a:latin typeface="Arial" pitchFamily="34" charset="0"/>
                <a:cs typeface="Arial" pitchFamily="34" charset="0"/>
              </a:rPr>
              <a:t>Histogram </a:t>
            </a:r>
            <a:r>
              <a:rPr lang="en-US" sz="1200" dirty="0" err="1">
                <a:latin typeface="Arial" pitchFamily="34" charset="0"/>
                <a:cs typeface="Arial" pitchFamily="34" charset="0"/>
              </a:rPr>
              <a:t>khác</a:t>
            </a:r>
            <a:r>
              <a:rPr lang="en-US" sz="1200" dirty="0">
                <a:latin typeface="Arial" pitchFamily="34" charset="0"/>
                <a:cs typeface="Arial" pitchFamily="34" charset="0"/>
              </a:rPr>
              <a:t> </a:t>
            </a:r>
            <a:r>
              <a:rPr lang="en-US" sz="1200" dirty="0" err="1">
                <a:latin typeface="Arial" pitchFamily="34" charset="0"/>
                <a:cs typeface="Arial" pitchFamily="34" charset="0"/>
              </a:rPr>
              <a:t>với</a:t>
            </a:r>
            <a:r>
              <a:rPr lang="en-US" sz="1200" dirty="0">
                <a:latin typeface="Arial" pitchFamily="34" charset="0"/>
                <a:cs typeface="Arial" pitchFamily="34" charset="0"/>
              </a:rPr>
              <a:t> </a:t>
            </a:r>
            <a:r>
              <a:rPr lang="en-US" sz="1200" dirty="0" err="1">
                <a:latin typeface="Arial" pitchFamily="34" charset="0"/>
                <a:cs typeface="Arial" pitchFamily="34" charset="0"/>
              </a:rPr>
              <a:t>biểu</a:t>
            </a:r>
            <a:r>
              <a:rPr lang="en-US" sz="1200" dirty="0">
                <a:latin typeface="Arial" pitchFamily="34" charset="0"/>
                <a:cs typeface="Arial" pitchFamily="34" charset="0"/>
              </a:rPr>
              <a:t> </a:t>
            </a:r>
            <a:r>
              <a:rPr lang="en-US" sz="1200" dirty="0" err="1">
                <a:latin typeface="Arial" pitchFamily="34" charset="0"/>
                <a:cs typeface="Arial" pitchFamily="34" charset="0"/>
              </a:rPr>
              <a:t>đồ</a:t>
            </a:r>
            <a:r>
              <a:rPr lang="en-US" sz="1200" dirty="0">
                <a:latin typeface="Arial" pitchFamily="34" charset="0"/>
                <a:cs typeface="Arial" pitchFamily="34" charset="0"/>
              </a:rPr>
              <a:t> </a:t>
            </a:r>
            <a:r>
              <a:rPr lang="en-US" sz="1200" dirty="0" err="1">
                <a:latin typeface="Arial" pitchFamily="34" charset="0"/>
                <a:cs typeface="Arial" pitchFamily="34" charset="0"/>
              </a:rPr>
              <a:t>cột</a:t>
            </a:r>
            <a:r>
              <a:rPr lang="en-US" sz="1200" dirty="0">
                <a:latin typeface="Arial" pitchFamily="34" charset="0"/>
                <a:cs typeface="Arial" pitchFamily="34" charset="0"/>
              </a:rPr>
              <a:t> </a:t>
            </a:r>
            <a:r>
              <a:rPr lang="en-US" sz="1200" dirty="0" err="1">
                <a:latin typeface="Arial" pitchFamily="34" charset="0"/>
                <a:cs typeface="Arial" pitchFamily="34" charset="0"/>
              </a:rPr>
              <a:t>thông</a:t>
            </a:r>
            <a:r>
              <a:rPr lang="en-US" sz="1200" dirty="0">
                <a:latin typeface="Arial" pitchFamily="34" charset="0"/>
                <a:cs typeface="Arial" pitchFamily="34" charset="0"/>
              </a:rPr>
              <a:t> </a:t>
            </a:r>
            <a:r>
              <a:rPr lang="en-US" sz="1200" dirty="0" err="1">
                <a:latin typeface="Arial" pitchFamily="34" charset="0"/>
                <a:cs typeface="Arial" pitchFamily="34" charset="0"/>
              </a:rPr>
              <a:t>thường</a:t>
            </a:r>
            <a:r>
              <a:rPr lang="en-US" sz="1200" dirty="0">
                <a:latin typeface="Arial" pitchFamily="34" charset="0"/>
                <a:cs typeface="Arial" pitchFamily="34" charset="0"/>
              </a:rPr>
              <a:t> (Bar chart). </a:t>
            </a:r>
            <a:r>
              <a:rPr lang="en-US" sz="1200" dirty="0" err="1">
                <a:latin typeface="Arial" pitchFamily="34" charset="0"/>
                <a:cs typeface="Arial" pitchFamily="34" charset="0"/>
              </a:rPr>
              <a:t>Biểu</a:t>
            </a:r>
            <a:r>
              <a:rPr lang="en-US" sz="1200" dirty="0">
                <a:latin typeface="Arial" pitchFamily="34" charset="0"/>
                <a:cs typeface="Arial" pitchFamily="34" charset="0"/>
              </a:rPr>
              <a:t> </a:t>
            </a:r>
            <a:r>
              <a:rPr lang="en-US" sz="1200" dirty="0" err="1">
                <a:latin typeface="Arial" pitchFamily="34" charset="0"/>
                <a:cs typeface="Arial" pitchFamily="34" charset="0"/>
              </a:rPr>
              <a:t>đồ</a:t>
            </a:r>
            <a:r>
              <a:rPr lang="en-US" sz="1200" dirty="0">
                <a:latin typeface="Arial" pitchFamily="34" charset="0"/>
                <a:cs typeface="Arial" pitchFamily="34" charset="0"/>
              </a:rPr>
              <a:t> </a:t>
            </a:r>
            <a:r>
              <a:rPr lang="en-US" sz="1200" dirty="0" err="1">
                <a:latin typeface="Arial" pitchFamily="34" charset="0"/>
                <a:cs typeface="Arial" pitchFamily="34" charset="0"/>
              </a:rPr>
              <a:t>cột</a:t>
            </a:r>
            <a:r>
              <a:rPr lang="en-US" sz="1200" dirty="0">
                <a:latin typeface="Arial" pitchFamily="34" charset="0"/>
                <a:cs typeface="Arial" pitchFamily="34" charset="0"/>
              </a:rPr>
              <a:t> </a:t>
            </a:r>
            <a:r>
              <a:rPr lang="en-US" sz="1200" dirty="0" err="1">
                <a:latin typeface="Arial" pitchFamily="34" charset="0"/>
                <a:cs typeface="Arial" pitchFamily="34" charset="0"/>
              </a:rPr>
              <a:t>thông</a:t>
            </a:r>
            <a:r>
              <a:rPr lang="en-US" sz="1200" dirty="0">
                <a:latin typeface="Arial" pitchFamily="34" charset="0"/>
                <a:cs typeface="Arial" pitchFamily="34" charset="0"/>
              </a:rPr>
              <a:t> </a:t>
            </a:r>
            <a:r>
              <a:rPr lang="en-US" sz="1200" dirty="0" err="1">
                <a:latin typeface="Arial" pitchFamily="34" charset="0"/>
                <a:cs typeface="Arial" pitchFamily="34" charset="0"/>
              </a:rPr>
              <a:t>thường</a:t>
            </a:r>
            <a:r>
              <a:rPr lang="en-US" sz="1200" dirty="0">
                <a:latin typeface="Arial" pitchFamily="34" charset="0"/>
                <a:cs typeface="Arial" pitchFamily="34" charset="0"/>
              </a:rPr>
              <a:t> (Bar chart) </a:t>
            </a:r>
            <a:r>
              <a:rPr lang="en-US" sz="1200" dirty="0" err="1">
                <a:latin typeface="Arial" pitchFamily="34" charset="0"/>
                <a:cs typeface="Arial" pitchFamily="34" charset="0"/>
              </a:rPr>
              <a:t>thường</a:t>
            </a:r>
            <a:r>
              <a:rPr lang="en-US" sz="1200" dirty="0">
                <a:latin typeface="Arial" pitchFamily="34" charset="0"/>
                <a:cs typeface="Arial" pitchFamily="34" charset="0"/>
              </a:rPr>
              <a:t> </a:t>
            </a:r>
            <a:r>
              <a:rPr lang="en-US" sz="1200" dirty="0" err="1">
                <a:latin typeface="Arial" pitchFamily="34" charset="0"/>
                <a:cs typeface="Arial" pitchFamily="34" charset="0"/>
              </a:rPr>
              <a:t>không</a:t>
            </a:r>
            <a:r>
              <a:rPr lang="en-US" sz="1200" dirty="0">
                <a:latin typeface="Arial" pitchFamily="34" charset="0"/>
                <a:cs typeface="Arial" pitchFamily="34" charset="0"/>
              </a:rPr>
              <a:t> </a:t>
            </a:r>
            <a:r>
              <a:rPr lang="en-US" sz="1200" dirty="0" err="1">
                <a:latin typeface="Arial" pitchFamily="34" charset="0"/>
                <a:cs typeface="Arial" pitchFamily="34" charset="0"/>
              </a:rPr>
              <a:t>lưu</a:t>
            </a:r>
            <a:r>
              <a:rPr lang="en-US" sz="1200" dirty="0">
                <a:latin typeface="Arial" pitchFamily="34" charset="0"/>
                <a:cs typeface="Arial" pitchFamily="34" charset="0"/>
              </a:rPr>
              <a:t> </a:t>
            </a:r>
            <a:r>
              <a:rPr lang="en-US" sz="1200" dirty="0" err="1">
                <a:latin typeface="Arial" pitchFamily="34" charset="0"/>
                <a:cs typeface="Arial" pitchFamily="34" charset="0"/>
              </a:rPr>
              <a:t>tâm</a:t>
            </a:r>
            <a:r>
              <a:rPr lang="en-US" sz="1200" dirty="0">
                <a:latin typeface="Arial" pitchFamily="34" charset="0"/>
                <a:cs typeface="Arial" pitchFamily="34" charset="0"/>
              </a:rPr>
              <a:t> </a:t>
            </a:r>
            <a:r>
              <a:rPr lang="en-US" sz="1200" dirty="0" err="1">
                <a:latin typeface="Arial" pitchFamily="34" charset="0"/>
                <a:cs typeface="Arial" pitchFamily="34" charset="0"/>
              </a:rPr>
              <a:t>đến</a:t>
            </a:r>
            <a:r>
              <a:rPr lang="en-US" sz="1200" dirty="0">
                <a:latin typeface="Arial" pitchFamily="34" charset="0"/>
                <a:cs typeface="Arial" pitchFamily="34" charset="0"/>
              </a:rPr>
              <a:t> </a:t>
            </a:r>
            <a:r>
              <a:rPr lang="en-US" sz="1200" dirty="0" err="1">
                <a:latin typeface="Arial" pitchFamily="34" charset="0"/>
                <a:cs typeface="Arial" pitchFamily="34" charset="0"/>
              </a:rPr>
              <a:t>trục</a:t>
            </a:r>
            <a:r>
              <a:rPr lang="en-US" sz="1200" dirty="0">
                <a:latin typeface="Arial" pitchFamily="34" charset="0"/>
                <a:cs typeface="Arial" pitchFamily="34" charset="0"/>
              </a:rPr>
              <a:t> </a:t>
            </a:r>
            <a:r>
              <a:rPr lang="en-US" sz="1200" dirty="0" err="1">
                <a:latin typeface="Arial" pitchFamily="34" charset="0"/>
                <a:cs typeface="Arial" pitchFamily="34" charset="0"/>
              </a:rPr>
              <a:t>hoành</a:t>
            </a:r>
            <a:r>
              <a:rPr lang="en-US" sz="1200" dirty="0">
                <a:latin typeface="Arial" pitchFamily="34" charset="0"/>
                <a:cs typeface="Arial" pitchFamily="34" charset="0"/>
              </a:rPr>
              <a:t> </a:t>
            </a:r>
            <a:r>
              <a:rPr lang="en-US" sz="1200" dirty="0" err="1">
                <a:latin typeface="Arial" pitchFamily="34" charset="0"/>
                <a:cs typeface="Arial" pitchFamily="34" charset="0"/>
              </a:rPr>
              <a:t>mà</a:t>
            </a:r>
            <a:r>
              <a:rPr lang="en-US" sz="1200" dirty="0">
                <a:latin typeface="Arial" pitchFamily="34" charset="0"/>
                <a:cs typeface="Arial" pitchFamily="34" charset="0"/>
              </a:rPr>
              <a:t> </a:t>
            </a:r>
            <a:r>
              <a:rPr lang="en-US" sz="1200" dirty="0" err="1">
                <a:latin typeface="Arial" pitchFamily="34" charset="0"/>
                <a:cs typeface="Arial" pitchFamily="34" charset="0"/>
              </a:rPr>
              <a:t>chỉ</a:t>
            </a:r>
            <a:r>
              <a:rPr lang="en-US" sz="1200" dirty="0">
                <a:latin typeface="Arial" pitchFamily="34" charset="0"/>
                <a:cs typeface="Arial" pitchFamily="34" charset="0"/>
              </a:rPr>
              <a:t> </a:t>
            </a:r>
            <a:r>
              <a:rPr lang="en-US" sz="1200" dirty="0" err="1">
                <a:latin typeface="Arial" pitchFamily="34" charset="0"/>
                <a:cs typeface="Arial" pitchFamily="34" charset="0"/>
              </a:rPr>
              <a:t>chú</a:t>
            </a:r>
            <a:r>
              <a:rPr lang="en-US" sz="1200" dirty="0">
                <a:latin typeface="Arial" pitchFamily="34" charset="0"/>
                <a:cs typeface="Arial" pitchFamily="34" charset="0"/>
              </a:rPr>
              <a:t> </a:t>
            </a:r>
            <a:r>
              <a:rPr lang="en-US" sz="1200" dirty="0" err="1">
                <a:latin typeface="Arial" pitchFamily="34" charset="0"/>
                <a:cs typeface="Arial" pitchFamily="34" charset="0"/>
              </a:rPr>
              <a:t>trọng</a:t>
            </a:r>
            <a:r>
              <a:rPr lang="en-US" sz="1200" dirty="0">
                <a:latin typeface="Arial" pitchFamily="34" charset="0"/>
                <a:cs typeface="Arial" pitchFamily="34" charset="0"/>
              </a:rPr>
              <a:t> </a:t>
            </a:r>
            <a:r>
              <a:rPr lang="en-US" sz="1200" dirty="0" err="1">
                <a:latin typeface="Arial" pitchFamily="34" charset="0"/>
                <a:cs typeface="Arial" pitchFamily="34" charset="0"/>
              </a:rPr>
              <a:t>đến</a:t>
            </a:r>
            <a:r>
              <a:rPr lang="en-US" sz="1200" dirty="0">
                <a:latin typeface="Arial" pitchFamily="34" charset="0"/>
                <a:cs typeface="Arial" pitchFamily="34" charset="0"/>
              </a:rPr>
              <a:t> </a:t>
            </a:r>
            <a:r>
              <a:rPr lang="en-US" sz="1200" dirty="0" err="1">
                <a:latin typeface="Arial" pitchFamily="34" charset="0"/>
                <a:cs typeface="Arial" pitchFamily="34" charset="0"/>
              </a:rPr>
              <a:t>chiều</a:t>
            </a:r>
            <a:r>
              <a:rPr lang="en-US" sz="1200" dirty="0">
                <a:latin typeface="Arial" pitchFamily="34" charset="0"/>
                <a:cs typeface="Arial" pitchFamily="34" charset="0"/>
              </a:rPr>
              <a:t> </a:t>
            </a:r>
            <a:r>
              <a:rPr lang="en-US" sz="1200" dirty="0" err="1">
                <a:latin typeface="Arial" pitchFamily="34" charset="0"/>
                <a:cs typeface="Arial" pitchFamily="34" charset="0"/>
              </a:rPr>
              <a:t>cao</a:t>
            </a:r>
            <a:r>
              <a:rPr lang="en-US" sz="1200" dirty="0">
                <a:latin typeface="Arial" pitchFamily="34" charset="0"/>
                <a:cs typeface="Arial" pitchFamily="34" charset="0"/>
              </a:rPr>
              <a:t> </a:t>
            </a:r>
            <a:r>
              <a:rPr lang="en-US" sz="1200" dirty="0" err="1">
                <a:latin typeface="Arial" pitchFamily="34" charset="0"/>
                <a:cs typeface="Arial" pitchFamily="34" charset="0"/>
              </a:rPr>
              <a:t>của</a:t>
            </a:r>
            <a:r>
              <a:rPr lang="en-US" sz="1200" dirty="0">
                <a:latin typeface="Arial" pitchFamily="34" charset="0"/>
                <a:cs typeface="Arial" pitchFamily="34" charset="0"/>
              </a:rPr>
              <a:t> </a:t>
            </a:r>
            <a:r>
              <a:rPr lang="en-US" sz="1200" dirty="0" err="1">
                <a:latin typeface="Arial" pitchFamily="34" charset="0"/>
                <a:cs typeface="Arial" pitchFamily="34" charset="0"/>
              </a:rPr>
              <a:t>cột</a:t>
            </a:r>
            <a:r>
              <a:rPr lang="en-US" sz="1200" dirty="0">
                <a:latin typeface="Arial" pitchFamily="34" charset="0"/>
                <a:cs typeface="Arial" pitchFamily="34" charset="0"/>
              </a:rPr>
              <a:t>, </a:t>
            </a:r>
            <a:r>
              <a:rPr lang="en-US" sz="1200" dirty="0" err="1">
                <a:latin typeface="Arial" pitchFamily="34" charset="0"/>
                <a:cs typeface="Arial" pitchFamily="34" charset="0"/>
              </a:rPr>
              <a:t>trong</a:t>
            </a:r>
            <a:r>
              <a:rPr lang="en-US" sz="1200" dirty="0">
                <a:latin typeface="Arial" pitchFamily="34" charset="0"/>
                <a:cs typeface="Arial" pitchFamily="34" charset="0"/>
              </a:rPr>
              <a:t> </a:t>
            </a:r>
            <a:r>
              <a:rPr lang="en-US" sz="1200" dirty="0" err="1">
                <a:latin typeface="Arial" pitchFamily="34" charset="0"/>
                <a:cs typeface="Arial" pitchFamily="34" charset="0"/>
              </a:rPr>
              <a:t>khi</a:t>
            </a:r>
            <a:r>
              <a:rPr lang="en-US" sz="1200" dirty="0">
                <a:latin typeface="Arial" pitchFamily="34" charset="0"/>
                <a:cs typeface="Arial" pitchFamily="34" charset="0"/>
              </a:rPr>
              <a:t> histogram </a:t>
            </a:r>
            <a:r>
              <a:rPr lang="en-US" sz="1200" dirty="0" err="1">
                <a:latin typeface="Arial" pitchFamily="34" charset="0"/>
                <a:cs typeface="Arial" pitchFamily="34" charset="0"/>
              </a:rPr>
              <a:t>chú</a:t>
            </a:r>
            <a:r>
              <a:rPr lang="en-US" sz="1200" dirty="0">
                <a:latin typeface="Arial" pitchFamily="34" charset="0"/>
                <a:cs typeface="Arial" pitchFamily="34" charset="0"/>
              </a:rPr>
              <a:t> ý </a:t>
            </a:r>
            <a:r>
              <a:rPr lang="en-US" sz="1200" dirty="0" err="1">
                <a:latin typeface="Arial" pitchFamily="34" charset="0"/>
                <a:cs typeface="Arial" pitchFamily="34" charset="0"/>
              </a:rPr>
              <a:t>đến</a:t>
            </a:r>
            <a:r>
              <a:rPr lang="en-US" sz="1200" dirty="0">
                <a:latin typeface="Arial" pitchFamily="34" charset="0"/>
                <a:cs typeface="Arial" pitchFamily="34" charset="0"/>
              </a:rPr>
              <a:t> </a:t>
            </a:r>
            <a:r>
              <a:rPr lang="en-US" sz="1200" dirty="0" err="1">
                <a:latin typeface="Arial" pitchFamily="34" charset="0"/>
                <a:cs typeface="Arial" pitchFamily="34" charset="0"/>
              </a:rPr>
              <a:t>cả</a:t>
            </a:r>
            <a:r>
              <a:rPr lang="en-US" sz="1200" dirty="0">
                <a:latin typeface="Arial" pitchFamily="34" charset="0"/>
                <a:cs typeface="Arial" pitchFamily="34" charset="0"/>
              </a:rPr>
              <a:t> </a:t>
            </a:r>
            <a:r>
              <a:rPr lang="en-US" sz="1200" dirty="0" err="1">
                <a:latin typeface="Arial" pitchFamily="34" charset="0"/>
                <a:cs typeface="Arial" pitchFamily="34" charset="0"/>
              </a:rPr>
              <a:t>trục</a:t>
            </a:r>
            <a:r>
              <a:rPr lang="en-US" sz="1200" dirty="0">
                <a:latin typeface="Arial" pitchFamily="34" charset="0"/>
                <a:cs typeface="Arial" pitchFamily="34" charset="0"/>
              </a:rPr>
              <a:t> </a:t>
            </a:r>
            <a:r>
              <a:rPr lang="en-US" sz="1200" dirty="0" err="1">
                <a:latin typeface="Arial" pitchFamily="34" charset="0"/>
                <a:cs typeface="Arial" pitchFamily="34" charset="0"/>
              </a:rPr>
              <a:t>tung</a:t>
            </a:r>
            <a:r>
              <a:rPr lang="en-US" sz="1200" dirty="0">
                <a:latin typeface="Arial" pitchFamily="34" charset="0"/>
                <a:cs typeface="Arial" pitchFamily="34" charset="0"/>
              </a:rPr>
              <a:t> </a:t>
            </a:r>
            <a:r>
              <a:rPr lang="en-US" sz="1200" dirty="0" err="1">
                <a:latin typeface="Arial" pitchFamily="34" charset="0"/>
                <a:cs typeface="Arial" pitchFamily="34" charset="0"/>
              </a:rPr>
              <a:t>và</a:t>
            </a:r>
            <a:r>
              <a:rPr lang="en-US" sz="1200" dirty="0">
                <a:latin typeface="Arial" pitchFamily="34" charset="0"/>
                <a:cs typeface="Arial" pitchFamily="34" charset="0"/>
              </a:rPr>
              <a:t> </a:t>
            </a:r>
            <a:r>
              <a:rPr lang="en-US" sz="1200" dirty="0" err="1">
                <a:latin typeface="Arial" pitchFamily="34" charset="0"/>
                <a:cs typeface="Arial" pitchFamily="34" charset="0"/>
              </a:rPr>
              <a:t>trục</a:t>
            </a:r>
            <a:r>
              <a:rPr lang="en-US" sz="1200" dirty="0">
                <a:latin typeface="Arial" pitchFamily="34" charset="0"/>
                <a:cs typeface="Arial" pitchFamily="34" charset="0"/>
              </a:rPr>
              <a:t> </a:t>
            </a:r>
            <a:r>
              <a:rPr lang="en-US" sz="1200" dirty="0" err="1">
                <a:latin typeface="Arial" pitchFamily="34" charset="0"/>
                <a:cs typeface="Arial" pitchFamily="34" charset="0"/>
              </a:rPr>
              <a:t>hoành</a:t>
            </a:r>
            <a:r>
              <a:rPr lang="en-US" sz="1200" dirty="0">
                <a:latin typeface="Arial" pitchFamily="34" charset="0"/>
                <a:cs typeface="Arial" pitchFamily="34" charset="0"/>
              </a:rPr>
              <a:t>.</a:t>
            </a:r>
          </a:p>
          <a:p>
            <a:pPr>
              <a:buClr>
                <a:srgbClr val="C5003D"/>
              </a:buClr>
            </a:pPr>
            <a:endParaRPr lang="en-US" sz="1200" b="1" dirty="0">
              <a:latin typeface="Arial" pitchFamily="34" charset="0"/>
              <a:cs typeface="Arial" pitchFamily="34" charset="0"/>
            </a:endParaRPr>
          </a:p>
        </p:txBody>
      </p:sp>
      <p:sp>
        <p:nvSpPr>
          <p:cNvPr id="10"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Định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nghĩa</a:t>
            </a:r>
            <a:endParaRPr lang="ko-KR" altLang="en-US" sz="2000" b="1" dirty="0">
              <a:latin typeface="Arial" pitchFamily="34" charset="0"/>
              <a:ea typeface="맑은 고딕" pitchFamily="50" charset="-127"/>
              <a:cs typeface="Arial" pitchFamily="34" charset="0"/>
            </a:endParaRPr>
          </a:p>
        </p:txBody>
      </p:sp>
      <p:sp>
        <p:nvSpPr>
          <p:cNvPr id="14"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5922902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z="1800" smtClean="0">
                <a:latin typeface="Arial" pitchFamily="34" charset="0"/>
                <a:cs typeface="Arial" pitchFamily="34" charset="0"/>
              </a:rPr>
              <a:pPr>
                <a:defRPr/>
              </a:pPr>
              <a:t>104</a:t>
            </a:fld>
            <a:endParaRPr lang="ko-KR" altLang="en-US" sz="1800" dirty="0">
              <a:latin typeface="Arial" pitchFamily="34" charset="0"/>
              <a:cs typeface="Arial" pitchFamily="34" charset="0"/>
            </a:endParaRPr>
          </a:p>
        </p:txBody>
      </p:sp>
      <p:sp>
        <p:nvSpPr>
          <p:cNvPr id="8" name="TextBox 7"/>
          <p:cNvSpPr txBox="1"/>
          <p:nvPr/>
        </p:nvSpPr>
        <p:spPr>
          <a:xfrm>
            <a:off x="416496" y="1124744"/>
            <a:ext cx="9073008" cy="5093702"/>
          </a:xfrm>
          <a:prstGeom prst="rect">
            <a:avLst/>
          </a:prstGeom>
          <a:noFill/>
        </p:spPr>
        <p:txBody>
          <a:bodyPr wrap="square" rtlCol="0">
            <a:spAutoFit/>
          </a:bodyPr>
          <a:lstStyle/>
          <a:p>
            <a:pPr algn="just">
              <a:lnSpc>
                <a:spcPct val="150000"/>
              </a:lnSpc>
              <a:spcAft>
                <a:spcPts val="1000"/>
              </a:spcAft>
              <a:buFont typeface="Arial" pitchFamily="34" charset="0"/>
              <a:buChar char="•"/>
            </a:pPr>
            <a:r>
              <a:rPr lang="en-US" sz="2000" dirty="0">
                <a:latin typeface="Arial" pitchFamily="34" charset="0"/>
                <a:cs typeface="Arial" pitchFamily="34" charset="0"/>
              </a:rPr>
              <a:t> Histogram </a:t>
            </a:r>
            <a:r>
              <a:rPr lang="en-US" sz="2000" dirty="0" err="1">
                <a:latin typeface="Arial" pitchFamily="34" charset="0"/>
                <a:cs typeface="Arial" pitchFamily="34" charset="0"/>
              </a:rPr>
              <a:t>là</a:t>
            </a:r>
            <a:r>
              <a:rPr lang="en-US" sz="2000" dirty="0">
                <a:latin typeface="Arial" pitchFamily="34" charset="0"/>
                <a:cs typeface="Arial" pitchFamily="34" charset="0"/>
              </a:rPr>
              <a:t> </a:t>
            </a:r>
            <a:r>
              <a:rPr lang="en-US" sz="2000" dirty="0" err="1">
                <a:latin typeface="Arial" pitchFamily="34" charset="0"/>
                <a:cs typeface="Arial" pitchFamily="34" charset="0"/>
              </a:rPr>
              <a:t>một</a:t>
            </a:r>
            <a:r>
              <a:rPr lang="en-US" sz="2000" dirty="0">
                <a:latin typeface="Arial" pitchFamily="34" charset="0"/>
                <a:cs typeface="Arial" pitchFamily="34" charset="0"/>
              </a:rPr>
              <a:t> </a:t>
            </a:r>
            <a:r>
              <a:rPr lang="en-US" sz="2000" dirty="0" err="1">
                <a:latin typeface="Arial" pitchFamily="34" charset="0"/>
                <a:cs typeface="Arial" pitchFamily="34" charset="0"/>
              </a:rPr>
              <a:t>bức</a:t>
            </a:r>
            <a:r>
              <a:rPr lang="en-US" sz="2000" dirty="0">
                <a:latin typeface="Arial" pitchFamily="34" charset="0"/>
                <a:cs typeface="Arial" pitchFamily="34" charset="0"/>
              </a:rPr>
              <a:t> </a:t>
            </a:r>
            <a:r>
              <a:rPr lang="en-US" sz="2000" dirty="0" err="1">
                <a:latin typeface="Arial" pitchFamily="34" charset="0"/>
                <a:cs typeface="Arial" pitchFamily="34" charset="0"/>
              </a:rPr>
              <a:t>tranh</a:t>
            </a:r>
            <a:r>
              <a:rPr lang="en-US" sz="2000" dirty="0">
                <a:latin typeface="Arial" pitchFamily="34" charset="0"/>
                <a:cs typeface="Arial" pitchFamily="34" charset="0"/>
              </a:rPr>
              <a:t> </a:t>
            </a:r>
            <a:r>
              <a:rPr lang="en-US" sz="2000" dirty="0" err="1">
                <a:latin typeface="Arial" pitchFamily="34" charset="0"/>
                <a:cs typeface="Arial" pitchFamily="34" charset="0"/>
              </a:rPr>
              <a:t>mà</a:t>
            </a:r>
            <a:r>
              <a:rPr lang="en-US" sz="2000" dirty="0">
                <a:latin typeface="Arial" pitchFamily="34" charset="0"/>
                <a:cs typeface="Arial" pitchFamily="34" charset="0"/>
              </a:rPr>
              <a:t> ở </a:t>
            </a:r>
            <a:r>
              <a:rPr lang="en-US" sz="2000" dirty="0" err="1">
                <a:latin typeface="Arial" pitchFamily="34" charset="0"/>
                <a:cs typeface="Arial" pitchFamily="34" charset="0"/>
              </a:rPr>
              <a:t>đó</a:t>
            </a:r>
            <a:r>
              <a:rPr lang="en-US" sz="2000" dirty="0">
                <a:latin typeface="Arial" pitchFamily="34" charset="0"/>
                <a:cs typeface="Arial" pitchFamily="34" charset="0"/>
              </a:rPr>
              <a:t> </a:t>
            </a:r>
            <a:r>
              <a:rPr lang="en-US" sz="2000" dirty="0" err="1">
                <a:latin typeface="Arial" pitchFamily="34" charset="0"/>
                <a:cs typeface="Arial" pitchFamily="34" charset="0"/>
              </a:rPr>
              <a:t>một</a:t>
            </a:r>
            <a:r>
              <a:rPr lang="en-US" sz="2000" dirty="0">
                <a:latin typeface="Arial" pitchFamily="34" charset="0"/>
                <a:cs typeface="Arial" pitchFamily="34" charset="0"/>
              </a:rPr>
              <a:t> </a:t>
            </a:r>
            <a:r>
              <a:rPr lang="en-US" sz="2000" dirty="0" err="1">
                <a:latin typeface="Arial" pitchFamily="34" charset="0"/>
                <a:cs typeface="Arial" pitchFamily="34" charset="0"/>
              </a:rPr>
              <a:t>lượng</a:t>
            </a:r>
            <a:r>
              <a:rPr lang="en-US" sz="2000" dirty="0">
                <a:latin typeface="Arial" pitchFamily="34" charset="0"/>
                <a:cs typeface="Arial" pitchFamily="34" charset="0"/>
              </a:rPr>
              <a:t> </a:t>
            </a:r>
            <a:r>
              <a:rPr lang="en-US" sz="2000" dirty="0" err="1">
                <a:latin typeface="Arial" pitchFamily="34" charset="0"/>
                <a:cs typeface="Arial" pitchFamily="34" charset="0"/>
              </a:rPr>
              <a:t>lớn</a:t>
            </a:r>
            <a:r>
              <a:rPr lang="en-US" sz="2000" dirty="0">
                <a:latin typeface="Arial" pitchFamily="34" charset="0"/>
                <a:cs typeface="Arial" pitchFamily="34" charset="0"/>
              </a:rPr>
              <a:t> </a:t>
            </a:r>
            <a:r>
              <a:rPr lang="en-US" sz="2000" dirty="0" err="1">
                <a:latin typeface="Arial" pitchFamily="34" charset="0"/>
                <a:cs typeface="Arial" pitchFamily="34" charset="0"/>
              </a:rPr>
              <a:t>dữ</a:t>
            </a:r>
            <a:r>
              <a:rPr lang="en-US" sz="2000" dirty="0">
                <a:latin typeface="Arial" pitchFamily="34" charset="0"/>
                <a:cs typeface="Arial" pitchFamily="34" charset="0"/>
              </a:rPr>
              <a:t> </a:t>
            </a:r>
            <a:r>
              <a:rPr lang="en-US" sz="2000" dirty="0" err="1">
                <a:latin typeface="Arial" pitchFamily="34" charset="0"/>
                <a:cs typeface="Arial" pitchFamily="34" charset="0"/>
              </a:rPr>
              <a:t>liệu</a:t>
            </a:r>
            <a:r>
              <a:rPr lang="en-US" sz="2000" dirty="0">
                <a:latin typeface="Arial" pitchFamily="34" charset="0"/>
                <a:cs typeface="Arial" pitchFamily="34" charset="0"/>
              </a:rPr>
              <a:t> </a:t>
            </a:r>
            <a:r>
              <a:rPr lang="en-US" sz="2000" dirty="0" err="1">
                <a:latin typeface="Arial" pitchFamily="34" charset="0"/>
                <a:cs typeface="Arial" pitchFamily="34" charset="0"/>
              </a:rPr>
              <a:t>đã</a:t>
            </a:r>
            <a:r>
              <a:rPr lang="en-US" sz="2000" dirty="0">
                <a:latin typeface="Arial" pitchFamily="34" charset="0"/>
                <a:cs typeface="Arial" pitchFamily="34" charset="0"/>
              </a:rPr>
              <a:t> </a:t>
            </a:r>
            <a:r>
              <a:rPr lang="en-US" sz="2000" dirty="0" err="1">
                <a:latin typeface="Arial" pitchFamily="34" charset="0"/>
                <a:cs typeface="Arial" pitchFamily="34" charset="0"/>
              </a:rPr>
              <a:t>thu</a:t>
            </a:r>
            <a:r>
              <a:rPr lang="en-US" sz="2000" dirty="0">
                <a:latin typeface="Arial" pitchFamily="34" charset="0"/>
                <a:cs typeface="Arial" pitchFamily="34" charset="0"/>
              </a:rPr>
              <a:t> </a:t>
            </a:r>
            <a:r>
              <a:rPr lang="en-US" sz="2000" dirty="0" err="1">
                <a:latin typeface="Arial" pitchFamily="34" charset="0"/>
                <a:cs typeface="Arial" pitchFamily="34" charset="0"/>
              </a:rPr>
              <a:t>thập</a:t>
            </a:r>
            <a:r>
              <a:rPr lang="en-US" sz="2000" dirty="0">
                <a:latin typeface="Arial" pitchFamily="34" charset="0"/>
                <a:cs typeface="Arial" pitchFamily="34" charset="0"/>
              </a:rPr>
              <a:t> </a:t>
            </a:r>
            <a:r>
              <a:rPr lang="en-US" sz="2000" dirty="0" err="1">
                <a:latin typeface="Arial" pitchFamily="34" charset="0"/>
                <a:cs typeface="Arial" pitchFamily="34" charset="0"/>
              </a:rPr>
              <a:t>được</a:t>
            </a:r>
            <a:r>
              <a:rPr lang="en-US" sz="2000" dirty="0">
                <a:latin typeface="Arial" pitchFamily="34" charset="0"/>
                <a:cs typeface="Arial" pitchFamily="34" charset="0"/>
              </a:rPr>
              <a:t> chia </a:t>
            </a:r>
            <a:r>
              <a:rPr lang="en-US" sz="2000" dirty="0" err="1">
                <a:latin typeface="Arial" pitchFamily="34" charset="0"/>
                <a:cs typeface="Arial" pitchFamily="34" charset="0"/>
              </a:rPr>
              <a:t>ra</a:t>
            </a:r>
            <a:r>
              <a:rPr lang="en-US" sz="2000" dirty="0">
                <a:latin typeface="Arial" pitchFamily="34" charset="0"/>
                <a:cs typeface="Arial" pitchFamily="34" charset="0"/>
              </a:rPr>
              <a:t> </a:t>
            </a:r>
            <a:r>
              <a:rPr lang="en-US" sz="2000" dirty="0" err="1">
                <a:latin typeface="Arial" pitchFamily="34" charset="0"/>
                <a:cs typeface="Arial" pitchFamily="34" charset="0"/>
              </a:rPr>
              <a:t>thành</a:t>
            </a:r>
            <a:r>
              <a:rPr lang="en-US" sz="2000" dirty="0">
                <a:latin typeface="Arial" pitchFamily="34" charset="0"/>
                <a:cs typeface="Arial" pitchFamily="34" charset="0"/>
              </a:rPr>
              <a:t> </a:t>
            </a:r>
            <a:r>
              <a:rPr lang="en-US" sz="2000" dirty="0" err="1">
                <a:latin typeface="Arial" pitchFamily="34" charset="0"/>
                <a:cs typeface="Arial" pitchFamily="34" charset="0"/>
              </a:rPr>
              <a:t>nhiều</a:t>
            </a:r>
            <a:r>
              <a:rPr lang="en-US" sz="2000" dirty="0">
                <a:latin typeface="Arial" pitchFamily="34" charset="0"/>
                <a:cs typeface="Arial" pitchFamily="34" charset="0"/>
              </a:rPr>
              <a:t> </a:t>
            </a:r>
            <a:r>
              <a:rPr lang="en-US" sz="2000" dirty="0" err="1">
                <a:latin typeface="Arial" pitchFamily="34" charset="0"/>
                <a:cs typeface="Arial" pitchFamily="34" charset="0"/>
              </a:rPr>
              <a:t>phần</a:t>
            </a:r>
            <a:r>
              <a:rPr lang="en-US" sz="2000" dirty="0">
                <a:latin typeface="Arial" pitchFamily="34" charset="0"/>
                <a:cs typeface="Arial" pitchFamily="34" charset="0"/>
              </a:rPr>
              <a:t>. </a:t>
            </a:r>
            <a:r>
              <a:rPr lang="en-US" sz="2000" dirty="0" err="1">
                <a:latin typeface="Arial" pitchFamily="34" charset="0"/>
                <a:cs typeface="Arial" pitchFamily="34" charset="0"/>
              </a:rPr>
              <a:t>Mỗi</a:t>
            </a:r>
            <a:r>
              <a:rPr lang="en-US" sz="2000" dirty="0">
                <a:latin typeface="Arial" pitchFamily="34" charset="0"/>
                <a:cs typeface="Arial" pitchFamily="34" charset="0"/>
              </a:rPr>
              <a:t> </a:t>
            </a:r>
            <a:r>
              <a:rPr lang="en-US" sz="2000" dirty="0" err="1">
                <a:latin typeface="Arial" pitchFamily="34" charset="0"/>
                <a:cs typeface="Arial" pitchFamily="34" charset="0"/>
              </a:rPr>
              <a:t>phần</a:t>
            </a:r>
            <a:r>
              <a:rPr lang="en-US" sz="2000" dirty="0">
                <a:latin typeface="Arial" pitchFamily="34" charset="0"/>
                <a:cs typeface="Arial" pitchFamily="34" charset="0"/>
              </a:rPr>
              <a:t> </a:t>
            </a:r>
            <a:r>
              <a:rPr lang="en-US" sz="2000" dirty="0" err="1">
                <a:latin typeface="Arial" pitchFamily="34" charset="0"/>
                <a:cs typeface="Arial" pitchFamily="34" charset="0"/>
              </a:rPr>
              <a:t>dữ</a:t>
            </a:r>
            <a:r>
              <a:rPr lang="en-US" sz="2000" dirty="0">
                <a:latin typeface="Arial" pitchFamily="34" charset="0"/>
                <a:cs typeface="Arial" pitchFamily="34" charset="0"/>
              </a:rPr>
              <a:t> </a:t>
            </a:r>
            <a:r>
              <a:rPr lang="en-US" sz="2000" dirty="0" err="1">
                <a:latin typeface="Arial" pitchFamily="34" charset="0"/>
                <a:cs typeface="Arial" pitchFamily="34" charset="0"/>
              </a:rPr>
              <a:t>liệu</a:t>
            </a:r>
            <a:r>
              <a:rPr lang="en-US" sz="2000" dirty="0">
                <a:latin typeface="Arial" pitchFamily="34" charset="0"/>
                <a:cs typeface="Arial" pitchFamily="34" charset="0"/>
              </a:rPr>
              <a:t> </a:t>
            </a:r>
            <a:r>
              <a:rPr lang="en-US" sz="2000" dirty="0" err="1">
                <a:latin typeface="Arial" pitchFamily="34" charset="0"/>
                <a:cs typeface="Arial" pitchFamily="34" charset="0"/>
              </a:rPr>
              <a:t>được</a:t>
            </a:r>
            <a:r>
              <a:rPr lang="en-US" sz="2000" dirty="0">
                <a:latin typeface="Arial" pitchFamily="34" charset="0"/>
                <a:cs typeface="Arial" pitchFamily="34" charset="0"/>
              </a:rPr>
              <a:t> </a:t>
            </a:r>
            <a:r>
              <a:rPr lang="en-US" sz="2000" dirty="0" err="1">
                <a:latin typeface="Arial" pitchFamily="34" charset="0"/>
                <a:cs typeface="Arial" pitchFamily="34" charset="0"/>
              </a:rPr>
              <a:t>diễn</a:t>
            </a:r>
            <a:r>
              <a:rPr lang="en-US" sz="2000" dirty="0">
                <a:latin typeface="Arial" pitchFamily="34" charset="0"/>
                <a:cs typeface="Arial" pitchFamily="34" charset="0"/>
              </a:rPr>
              <a:t> </a:t>
            </a:r>
            <a:r>
              <a:rPr lang="en-US" sz="2000" dirty="0" err="1">
                <a:latin typeface="Arial" pitchFamily="34" charset="0"/>
                <a:cs typeface="Arial" pitchFamily="34" charset="0"/>
              </a:rPr>
              <a:t>tả</a:t>
            </a:r>
            <a:r>
              <a:rPr lang="en-US" sz="2000" dirty="0">
                <a:latin typeface="Arial" pitchFamily="34" charset="0"/>
                <a:cs typeface="Arial" pitchFamily="34" charset="0"/>
              </a:rPr>
              <a:t> </a:t>
            </a:r>
            <a:r>
              <a:rPr lang="en-US" sz="2000" dirty="0" err="1">
                <a:latin typeface="Arial" pitchFamily="34" charset="0"/>
                <a:cs typeface="Arial" pitchFamily="34" charset="0"/>
              </a:rPr>
              <a:t>dưới</a:t>
            </a:r>
            <a:r>
              <a:rPr lang="en-US" sz="2000" dirty="0">
                <a:latin typeface="Arial" pitchFamily="34" charset="0"/>
                <a:cs typeface="Arial" pitchFamily="34" charset="0"/>
              </a:rPr>
              <a:t> </a:t>
            </a:r>
            <a:r>
              <a:rPr lang="en-US" sz="2000" dirty="0" err="1">
                <a:latin typeface="Arial" pitchFamily="34" charset="0"/>
                <a:cs typeface="Arial" pitchFamily="34" charset="0"/>
              </a:rPr>
              <a:t>dạng</a:t>
            </a:r>
            <a:r>
              <a:rPr lang="en-US" sz="2000" dirty="0">
                <a:latin typeface="Arial" pitchFamily="34" charset="0"/>
                <a:cs typeface="Arial" pitchFamily="34" charset="0"/>
              </a:rPr>
              <a:t> </a:t>
            </a:r>
            <a:r>
              <a:rPr lang="en-US" sz="2000" dirty="0" err="1">
                <a:latin typeface="Arial" pitchFamily="34" charset="0"/>
                <a:cs typeface="Arial" pitchFamily="34" charset="0"/>
              </a:rPr>
              <a:t>cột</a:t>
            </a:r>
            <a:r>
              <a:rPr lang="en-US" sz="2000" dirty="0">
                <a:latin typeface="Arial" pitchFamily="34" charset="0"/>
                <a:cs typeface="Arial" pitchFamily="34" charset="0"/>
              </a:rPr>
              <a:t>. </a:t>
            </a:r>
            <a:r>
              <a:rPr lang="en-US" sz="2000" dirty="0" err="1">
                <a:latin typeface="Arial" pitchFamily="34" charset="0"/>
                <a:cs typeface="Arial" pitchFamily="34" charset="0"/>
              </a:rPr>
              <a:t>Với</a:t>
            </a:r>
            <a:r>
              <a:rPr lang="en-US" sz="2000" dirty="0">
                <a:latin typeface="Arial" pitchFamily="34" charset="0"/>
                <a:cs typeface="Arial" pitchFamily="34" charset="0"/>
              </a:rPr>
              <a:t>   </a:t>
            </a:r>
            <a:r>
              <a:rPr lang="en-US" sz="2000" dirty="0" err="1">
                <a:latin typeface="Arial" pitchFamily="34" charset="0"/>
                <a:cs typeface="Arial" pitchFamily="34" charset="0"/>
              </a:rPr>
              <a:t>một</a:t>
            </a:r>
            <a:r>
              <a:rPr lang="en-US" sz="2000" dirty="0">
                <a:latin typeface="Arial" pitchFamily="34" charset="0"/>
                <a:cs typeface="Arial" pitchFamily="34" charset="0"/>
              </a:rPr>
              <a:t> </a:t>
            </a:r>
            <a:r>
              <a:rPr lang="en-US" sz="2000" dirty="0" err="1">
                <a:latin typeface="Arial" pitchFamily="34" charset="0"/>
                <a:cs typeface="Arial" pitchFamily="34" charset="0"/>
              </a:rPr>
              <a:t>biểu</a:t>
            </a:r>
            <a:r>
              <a:rPr lang="en-US" sz="2000" dirty="0">
                <a:latin typeface="Arial" pitchFamily="34" charset="0"/>
                <a:cs typeface="Arial" pitchFamily="34" charset="0"/>
              </a:rPr>
              <a:t> </a:t>
            </a:r>
            <a:r>
              <a:rPr lang="en-US" sz="2000" dirty="0" err="1">
                <a:latin typeface="Arial" pitchFamily="34" charset="0"/>
                <a:cs typeface="Arial" pitchFamily="34" charset="0"/>
              </a:rPr>
              <a:t>đồ</a:t>
            </a:r>
            <a:r>
              <a:rPr lang="en-US" sz="2000" dirty="0">
                <a:latin typeface="Arial" pitchFamily="34" charset="0"/>
                <a:cs typeface="Arial" pitchFamily="34" charset="0"/>
              </a:rPr>
              <a:t> histogram, </a:t>
            </a:r>
            <a:r>
              <a:rPr lang="en-US" sz="2000" dirty="0" err="1">
                <a:latin typeface="Arial" pitchFamily="34" charset="0"/>
                <a:cs typeface="Arial" pitchFamily="34" charset="0"/>
              </a:rPr>
              <a:t>sự</a:t>
            </a:r>
            <a:r>
              <a:rPr lang="en-US" sz="2000" dirty="0">
                <a:latin typeface="Arial" pitchFamily="34" charset="0"/>
                <a:cs typeface="Arial" pitchFamily="34" charset="0"/>
              </a:rPr>
              <a:t> </a:t>
            </a:r>
            <a:r>
              <a:rPr lang="en-US" sz="2000" dirty="0" err="1">
                <a:latin typeface="Arial" pitchFamily="34" charset="0"/>
                <a:cs typeface="Arial" pitchFamily="34" charset="0"/>
              </a:rPr>
              <a:t>phân</a:t>
            </a:r>
            <a:r>
              <a:rPr lang="en-US" sz="2000" dirty="0">
                <a:latin typeface="Arial" pitchFamily="34" charset="0"/>
                <a:cs typeface="Arial" pitchFamily="34" charset="0"/>
              </a:rPr>
              <a:t> </a:t>
            </a:r>
            <a:r>
              <a:rPr lang="en-US" sz="2000" dirty="0" err="1">
                <a:latin typeface="Arial" pitchFamily="34" charset="0"/>
                <a:cs typeface="Arial" pitchFamily="34" charset="0"/>
              </a:rPr>
              <a:t>bổ</a:t>
            </a:r>
            <a:r>
              <a:rPr lang="en-US" sz="2000" dirty="0">
                <a:latin typeface="Arial" pitchFamily="34" charset="0"/>
                <a:cs typeface="Arial" pitchFamily="34" charset="0"/>
              </a:rPr>
              <a:t> </a:t>
            </a:r>
            <a:r>
              <a:rPr lang="en-US" sz="2000" dirty="0" err="1">
                <a:latin typeface="Arial" pitchFamily="34" charset="0"/>
                <a:cs typeface="Arial" pitchFamily="34" charset="0"/>
              </a:rPr>
              <a:t>dữ</a:t>
            </a:r>
            <a:r>
              <a:rPr lang="en-US" sz="2000" dirty="0">
                <a:latin typeface="Arial" pitchFamily="34" charset="0"/>
                <a:cs typeface="Arial" pitchFamily="34" charset="0"/>
              </a:rPr>
              <a:t> </a:t>
            </a:r>
            <a:r>
              <a:rPr lang="en-US" sz="2000" dirty="0" err="1">
                <a:latin typeface="Arial" pitchFamily="34" charset="0"/>
                <a:cs typeface="Arial" pitchFamily="34" charset="0"/>
              </a:rPr>
              <a:t>liệu</a:t>
            </a:r>
            <a:r>
              <a:rPr lang="en-US" sz="2000" dirty="0">
                <a:latin typeface="Arial" pitchFamily="34" charset="0"/>
                <a:cs typeface="Arial" pitchFamily="34" charset="0"/>
              </a:rPr>
              <a:t> </a:t>
            </a:r>
            <a:r>
              <a:rPr lang="en-US" sz="2000" dirty="0" err="1">
                <a:latin typeface="Arial" pitchFamily="34" charset="0"/>
                <a:cs typeface="Arial" pitchFamily="34" charset="0"/>
              </a:rPr>
              <a:t>sẽ</a:t>
            </a:r>
            <a:r>
              <a:rPr lang="en-US" sz="2000" dirty="0">
                <a:latin typeface="Arial" pitchFamily="34" charset="0"/>
                <a:cs typeface="Arial" pitchFamily="34" charset="0"/>
              </a:rPr>
              <a:t> </a:t>
            </a:r>
            <a:r>
              <a:rPr lang="en-US" sz="2000" dirty="0" err="1">
                <a:latin typeface="Arial" pitchFamily="34" charset="0"/>
                <a:cs typeface="Arial" pitchFamily="34" charset="0"/>
              </a:rPr>
              <a:t>được</a:t>
            </a:r>
            <a:r>
              <a:rPr lang="en-US" sz="2000" dirty="0">
                <a:latin typeface="Arial" pitchFamily="34" charset="0"/>
                <a:cs typeface="Arial" pitchFamily="34" charset="0"/>
              </a:rPr>
              <a:t> </a:t>
            </a:r>
            <a:r>
              <a:rPr lang="en-US" sz="2000" dirty="0" err="1">
                <a:latin typeface="Arial" pitchFamily="34" charset="0"/>
                <a:cs typeface="Arial" pitchFamily="34" charset="0"/>
              </a:rPr>
              <a:t>nhận</a:t>
            </a:r>
            <a:r>
              <a:rPr lang="en-US" sz="2000" dirty="0">
                <a:latin typeface="Arial" pitchFamily="34" charset="0"/>
                <a:cs typeface="Arial" pitchFamily="34" charset="0"/>
              </a:rPr>
              <a:t> </a:t>
            </a:r>
            <a:r>
              <a:rPr lang="en-US" sz="2000" dirty="0" err="1">
                <a:latin typeface="Arial" pitchFamily="34" charset="0"/>
                <a:cs typeface="Arial" pitchFamily="34" charset="0"/>
              </a:rPr>
              <a:t>biết</a:t>
            </a:r>
            <a:r>
              <a:rPr lang="en-US" sz="2000" dirty="0">
                <a:latin typeface="Arial" pitchFamily="34" charset="0"/>
                <a:cs typeface="Arial" pitchFamily="34" charset="0"/>
              </a:rPr>
              <a:t> </a:t>
            </a:r>
            <a:r>
              <a:rPr lang="en-US" sz="2000" dirty="0" err="1">
                <a:latin typeface="Arial" pitchFamily="34" charset="0"/>
                <a:cs typeface="Arial" pitchFamily="34" charset="0"/>
              </a:rPr>
              <a:t>dễ</a:t>
            </a:r>
            <a:r>
              <a:rPr lang="en-US" sz="2000" dirty="0">
                <a:latin typeface="Arial" pitchFamily="34" charset="0"/>
                <a:cs typeface="Arial" pitchFamily="34" charset="0"/>
              </a:rPr>
              <a:t> </a:t>
            </a:r>
            <a:r>
              <a:rPr lang="en-US" sz="2000" dirty="0" err="1">
                <a:latin typeface="Arial" pitchFamily="34" charset="0"/>
                <a:cs typeface="Arial" pitchFamily="34" charset="0"/>
              </a:rPr>
              <a:t>dàng</a:t>
            </a:r>
            <a:r>
              <a:rPr lang="en-US" sz="2000" dirty="0">
                <a:latin typeface="Arial" pitchFamily="34" charset="0"/>
                <a:cs typeface="Arial" pitchFamily="34" charset="0"/>
              </a:rPr>
              <a:t> </a:t>
            </a:r>
            <a:r>
              <a:rPr lang="en-US" sz="2000" dirty="0" err="1">
                <a:latin typeface="Arial" pitchFamily="34" charset="0"/>
                <a:cs typeface="Arial" pitchFamily="34" charset="0"/>
              </a:rPr>
              <a:t>hơn</a:t>
            </a:r>
            <a:r>
              <a:rPr lang="en-US" sz="2000" dirty="0">
                <a:latin typeface="Arial" pitchFamily="34" charset="0"/>
                <a:cs typeface="Arial" pitchFamily="34" charset="0"/>
              </a:rPr>
              <a:t>.</a:t>
            </a:r>
          </a:p>
          <a:p>
            <a:pPr algn="just">
              <a:lnSpc>
                <a:spcPct val="150000"/>
              </a:lnSpc>
              <a:spcAft>
                <a:spcPts val="1000"/>
              </a:spcAft>
              <a:buFont typeface="Arial" pitchFamily="34" charset="0"/>
              <a:buChar char="•"/>
            </a:pPr>
            <a:r>
              <a:rPr lang="en-US" sz="2000" dirty="0">
                <a:latin typeface="Arial" pitchFamily="34" charset="0"/>
                <a:cs typeface="Arial" pitchFamily="34" charset="0"/>
              </a:rPr>
              <a:t> </a:t>
            </a:r>
            <a:r>
              <a:rPr lang="en-US" sz="2000" dirty="0" err="1">
                <a:latin typeface="Arial" pitchFamily="34" charset="0"/>
                <a:cs typeface="Arial" pitchFamily="34" charset="0"/>
              </a:rPr>
              <a:t>Biểu</a:t>
            </a:r>
            <a:r>
              <a:rPr lang="en-US" sz="2000" dirty="0">
                <a:latin typeface="Arial" pitchFamily="34" charset="0"/>
                <a:cs typeface="Arial" pitchFamily="34" charset="0"/>
              </a:rPr>
              <a:t> </a:t>
            </a:r>
            <a:r>
              <a:rPr lang="en-US" sz="2000" dirty="0" err="1">
                <a:latin typeface="Arial" pitchFamily="34" charset="0"/>
                <a:cs typeface="Arial" pitchFamily="34" charset="0"/>
              </a:rPr>
              <a:t>đồ</a:t>
            </a:r>
            <a:r>
              <a:rPr lang="en-US" sz="2000" dirty="0">
                <a:latin typeface="Arial" pitchFamily="34" charset="0"/>
                <a:cs typeface="Arial" pitchFamily="34" charset="0"/>
              </a:rPr>
              <a:t> histogram </a:t>
            </a:r>
            <a:r>
              <a:rPr lang="en-US" sz="2000" dirty="0" err="1">
                <a:latin typeface="Arial" pitchFamily="34" charset="0"/>
                <a:cs typeface="Arial" pitchFamily="34" charset="0"/>
              </a:rPr>
              <a:t>cung</a:t>
            </a:r>
            <a:r>
              <a:rPr lang="en-US" sz="2000" dirty="0">
                <a:latin typeface="Arial" pitchFamily="34" charset="0"/>
                <a:cs typeface="Arial" pitchFamily="34" charset="0"/>
              </a:rPr>
              <a:t> </a:t>
            </a:r>
            <a:r>
              <a:rPr lang="en-US" sz="2000" dirty="0" err="1">
                <a:latin typeface="Arial" pitchFamily="34" charset="0"/>
                <a:cs typeface="Arial" pitchFamily="34" charset="0"/>
              </a:rPr>
              <a:t>cấp</a:t>
            </a:r>
            <a:r>
              <a:rPr lang="en-US" sz="2000" dirty="0">
                <a:latin typeface="Arial" pitchFamily="34" charset="0"/>
                <a:cs typeface="Arial" pitchFamily="34" charset="0"/>
              </a:rPr>
              <a:t> </a:t>
            </a:r>
            <a:r>
              <a:rPr lang="en-US" sz="2000" dirty="0" err="1">
                <a:latin typeface="Arial" pitchFamily="34" charset="0"/>
                <a:cs typeface="Arial" pitchFamily="34" charset="0"/>
              </a:rPr>
              <a:t>một</a:t>
            </a:r>
            <a:r>
              <a:rPr lang="en-US" sz="2000" dirty="0">
                <a:latin typeface="Arial" pitchFamily="34" charset="0"/>
                <a:cs typeface="Arial" pitchFamily="34" charset="0"/>
              </a:rPr>
              <a:t> </a:t>
            </a:r>
            <a:r>
              <a:rPr lang="en-US" sz="2000" dirty="0" err="1">
                <a:latin typeface="Arial" pitchFamily="34" charset="0"/>
                <a:cs typeface="Arial" pitchFamily="34" charset="0"/>
              </a:rPr>
              <a:t>cái</a:t>
            </a:r>
            <a:r>
              <a:rPr lang="en-US" sz="2000" dirty="0">
                <a:latin typeface="Arial" pitchFamily="34" charset="0"/>
                <a:cs typeface="Arial" pitchFamily="34" charset="0"/>
              </a:rPr>
              <a:t> </a:t>
            </a:r>
            <a:r>
              <a:rPr lang="en-US" sz="2000" dirty="0" err="1">
                <a:latin typeface="Arial" pitchFamily="34" charset="0"/>
                <a:cs typeface="Arial" pitchFamily="34" charset="0"/>
              </a:rPr>
              <a:t>nhìn</a:t>
            </a:r>
            <a:r>
              <a:rPr lang="en-US" sz="2000" dirty="0">
                <a:latin typeface="Arial" pitchFamily="34" charset="0"/>
                <a:cs typeface="Arial" pitchFamily="34" charset="0"/>
              </a:rPr>
              <a:t> </a:t>
            </a:r>
            <a:r>
              <a:rPr lang="en-US" sz="2000" dirty="0" err="1">
                <a:latin typeface="Arial" pitchFamily="34" charset="0"/>
                <a:cs typeface="Arial" pitchFamily="34" charset="0"/>
              </a:rPr>
              <a:t>tổng</a:t>
            </a:r>
            <a:r>
              <a:rPr lang="en-US" sz="2000" dirty="0">
                <a:latin typeface="Arial" pitchFamily="34" charset="0"/>
                <a:cs typeface="Arial" pitchFamily="34" charset="0"/>
              </a:rPr>
              <a:t> </a:t>
            </a:r>
            <a:r>
              <a:rPr lang="en-US" sz="2000" dirty="0" err="1">
                <a:latin typeface="Arial" pitchFamily="34" charset="0"/>
                <a:cs typeface="Arial" pitchFamily="34" charset="0"/>
              </a:rPr>
              <a:t>thể</a:t>
            </a:r>
            <a:r>
              <a:rPr lang="en-US" sz="2000" dirty="0">
                <a:latin typeface="Arial" pitchFamily="34" charset="0"/>
                <a:cs typeface="Arial" pitchFamily="34" charset="0"/>
              </a:rPr>
              <a:t> </a:t>
            </a:r>
            <a:r>
              <a:rPr lang="en-US" sz="2000" dirty="0" err="1">
                <a:latin typeface="Arial" pitchFamily="34" charset="0"/>
                <a:cs typeface="Arial" pitchFamily="34" charset="0"/>
              </a:rPr>
              <a:t>về</a:t>
            </a:r>
            <a:r>
              <a:rPr lang="en-US" sz="2000" dirty="0">
                <a:latin typeface="Arial" pitchFamily="34" charset="0"/>
                <a:cs typeface="Arial" pitchFamily="34" charset="0"/>
              </a:rPr>
              <a:t> </a:t>
            </a:r>
            <a:r>
              <a:rPr lang="en-US" sz="2000" dirty="0" err="1">
                <a:latin typeface="Arial" pitchFamily="34" charset="0"/>
                <a:cs typeface="Arial" pitchFamily="34" charset="0"/>
              </a:rPr>
              <a:t>một</a:t>
            </a:r>
            <a:r>
              <a:rPr lang="en-US" sz="2000" dirty="0">
                <a:latin typeface="Arial" pitchFamily="34" charset="0"/>
                <a:cs typeface="Arial" pitchFamily="34" charset="0"/>
              </a:rPr>
              <a:t> </a:t>
            </a:r>
            <a:r>
              <a:rPr lang="en-US" sz="2000" dirty="0" err="1">
                <a:latin typeface="Arial" pitchFamily="34" charset="0"/>
                <a:cs typeface="Arial" pitchFamily="34" charset="0"/>
              </a:rPr>
              <a:t>tập</a:t>
            </a:r>
            <a:r>
              <a:rPr lang="en-US" sz="2000" dirty="0">
                <a:latin typeface="Arial" pitchFamily="34" charset="0"/>
                <a:cs typeface="Arial" pitchFamily="34" charset="0"/>
              </a:rPr>
              <a:t> </a:t>
            </a:r>
            <a:r>
              <a:rPr lang="en-US" sz="2000" dirty="0" err="1">
                <a:latin typeface="Arial" pitchFamily="34" charset="0"/>
                <a:cs typeface="Arial" pitchFamily="34" charset="0"/>
              </a:rPr>
              <a:t>dữ</a:t>
            </a:r>
            <a:r>
              <a:rPr lang="en-US" sz="2000" dirty="0">
                <a:latin typeface="Arial" pitchFamily="34" charset="0"/>
                <a:cs typeface="Arial" pitchFamily="34" charset="0"/>
              </a:rPr>
              <a:t> </a:t>
            </a:r>
            <a:r>
              <a:rPr lang="en-US" sz="2000" dirty="0" err="1">
                <a:latin typeface="Arial" pitchFamily="34" charset="0"/>
                <a:cs typeface="Arial" pitchFamily="34" charset="0"/>
              </a:rPr>
              <a:t>liệu</a:t>
            </a:r>
            <a:r>
              <a:rPr lang="en-US" sz="2000" dirty="0">
                <a:latin typeface="Arial" pitchFamily="34" charset="0"/>
                <a:cs typeface="Arial" pitchFamily="34" charset="0"/>
              </a:rPr>
              <a:t> </a:t>
            </a:r>
            <a:r>
              <a:rPr lang="en-US" sz="2000" dirty="0" err="1">
                <a:latin typeface="Arial" pitchFamily="34" charset="0"/>
                <a:cs typeface="Arial" pitchFamily="34" charset="0"/>
              </a:rPr>
              <a:t>và</a:t>
            </a:r>
            <a:r>
              <a:rPr lang="en-US" sz="2000" dirty="0">
                <a:latin typeface="Arial" pitchFamily="34" charset="0"/>
                <a:cs typeface="Arial" pitchFamily="34" charset="0"/>
              </a:rPr>
              <a:t> </a:t>
            </a:r>
            <a:r>
              <a:rPr lang="en-US" sz="2000" dirty="0" err="1">
                <a:latin typeface="Arial" pitchFamily="34" charset="0"/>
                <a:cs typeface="Arial" pitchFamily="34" charset="0"/>
              </a:rPr>
              <a:t>nó</a:t>
            </a:r>
            <a:r>
              <a:rPr lang="en-US" sz="2000" dirty="0">
                <a:latin typeface="Arial" pitchFamily="34" charset="0"/>
                <a:cs typeface="Arial" pitchFamily="34" charset="0"/>
              </a:rPr>
              <a:t> </a:t>
            </a:r>
            <a:r>
              <a:rPr lang="en-US" sz="2000" dirty="0" err="1">
                <a:latin typeface="Arial" pitchFamily="34" charset="0"/>
                <a:cs typeface="Arial" pitchFamily="34" charset="0"/>
              </a:rPr>
              <a:t>có</a:t>
            </a:r>
            <a:r>
              <a:rPr lang="en-US" sz="2000" dirty="0">
                <a:latin typeface="Arial" pitchFamily="34" charset="0"/>
                <a:cs typeface="Arial" pitchFamily="34" charset="0"/>
              </a:rPr>
              <a:t> </a:t>
            </a:r>
            <a:r>
              <a:rPr lang="en-US" sz="2000" dirty="0" err="1">
                <a:latin typeface="Arial" pitchFamily="34" charset="0"/>
                <a:cs typeface="Arial" pitchFamily="34" charset="0"/>
              </a:rPr>
              <a:t>thể</a:t>
            </a:r>
            <a:r>
              <a:rPr lang="en-US" sz="2000" dirty="0">
                <a:latin typeface="Arial" pitchFamily="34" charset="0"/>
                <a:cs typeface="Arial" pitchFamily="34" charset="0"/>
              </a:rPr>
              <a:t> </a:t>
            </a:r>
            <a:r>
              <a:rPr lang="en-US" sz="2000" dirty="0" err="1">
                <a:latin typeface="Arial" pitchFamily="34" charset="0"/>
                <a:cs typeface="Arial" pitchFamily="34" charset="0"/>
              </a:rPr>
              <a:t>quyết</a:t>
            </a:r>
            <a:r>
              <a:rPr lang="en-US" sz="2000" dirty="0">
                <a:latin typeface="Arial" pitchFamily="34" charset="0"/>
                <a:cs typeface="Arial" pitchFamily="34" charset="0"/>
              </a:rPr>
              <a:t> </a:t>
            </a:r>
            <a:r>
              <a:rPr lang="en-US" sz="2000" dirty="0" err="1">
                <a:latin typeface="Arial" pitchFamily="34" charset="0"/>
                <a:cs typeface="Arial" pitchFamily="34" charset="0"/>
              </a:rPr>
              <a:t>định</a:t>
            </a:r>
            <a:r>
              <a:rPr lang="en-US" sz="2000" dirty="0">
                <a:latin typeface="Arial" pitchFamily="34" charset="0"/>
                <a:cs typeface="Arial" pitchFamily="34" charset="0"/>
              </a:rPr>
              <a:t> </a:t>
            </a:r>
            <a:r>
              <a:rPr lang="en-US" sz="2000" dirty="0" err="1">
                <a:latin typeface="Arial" pitchFamily="34" charset="0"/>
                <a:cs typeface="Arial" pitchFamily="34" charset="0"/>
              </a:rPr>
              <a:t>trung</a:t>
            </a:r>
            <a:r>
              <a:rPr lang="en-US" sz="2000" dirty="0">
                <a:latin typeface="Arial" pitchFamily="34" charset="0"/>
                <a:cs typeface="Arial" pitchFamily="34" charset="0"/>
              </a:rPr>
              <a:t> </a:t>
            </a:r>
            <a:r>
              <a:rPr lang="en-US" sz="2000" dirty="0" err="1">
                <a:latin typeface="Arial" pitchFamily="34" charset="0"/>
                <a:cs typeface="Arial" pitchFamily="34" charset="0"/>
              </a:rPr>
              <a:t>tâm</a:t>
            </a:r>
            <a:r>
              <a:rPr lang="en-US" sz="2000" dirty="0">
                <a:latin typeface="Arial" pitchFamily="34" charset="0"/>
                <a:cs typeface="Arial" pitchFamily="34" charset="0"/>
              </a:rPr>
              <a:t> </a:t>
            </a:r>
            <a:r>
              <a:rPr lang="en-US" sz="2000" dirty="0" err="1">
                <a:latin typeface="Arial" pitchFamily="34" charset="0"/>
                <a:cs typeface="Arial" pitchFamily="34" charset="0"/>
              </a:rPr>
              <a:t>cũng</a:t>
            </a:r>
            <a:r>
              <a:rPr lang="en-US" sz="2000" dirty="0">
                <a:latin typeface="Arial" pitchFamily="34" charset="0"/>
                <a:cs typeface="Arial" pitchFamily="34" charset="0"/>
              </a:rPr>
              <a:t> </a:t>
            </a:r>
            <a:r>
              <a:rPr lang="en-US" sz="2000" dirty="0" err="1">
                <a:latin typeface="Arial" pitchFamily="34" charset="0"/>
                <a:cs typeface="Arial" pitchFamily="34" charset="0"/>
              </a:rPr>
              <a:t>như</a:t>
            </a:r>
            <a:r>
              <a:rPr lang="en-US" sz="2000" dirty="0">
                <a:latin typeface="Arial" pitchFamily="34" charset="0"/>
                <a:cs typeface="Arial" pitchFamily="34" charset="0"/>
              </a:rPr>
              <a:t> </a:t>
            </a:r>
            <a:r>
              <a:rPr lang="en-US" sz="2000" dirty="0" err="1">
                <a:latin typeface="Arial" pitchFamily="34" charset="0"/>
                <a:cs typeface="Arial" pitchFamily="34" charset="0"/>
              </a:rPr>
              <a:t>kích</a:t>
            </a:r>
            <a:r>
              <a:rPr lang="en-US" sz="2000" dirty="0">
                <a:latin typeface="Arial" pitchFamily="34" charset="0"/>
                <a:cs typeface="Arial" pitchFamily="34" charset="0"/>
              </a:rPr>
              <a:t> </a:t>
            </a:r>
            <a:r>
              <a:rPr lang="en-US" sz="2000" dirty="0" err="1">
                <a:latin typeface="Arial" pitchFamily="34" charset="0"/>
                <a:cs typeface="Arial" pitchFamily="34" charset="0"/>
              </a:rPr>
              <a:t>cỡ</a:t>
            </a:r>
            <a:r>
              <a:rPr lang="en-US" sz="2000" dirty="0">
                <a:latin typeface="Arial" pitchFamily="34" charset="0"/>
                <a:cs typeface="Arial" pitchFamily="34" charset="0"/>
              </a:rPr>
              <a:t> </a:t>
            </a:r>
            <a:r>
              <a:rPr lang="en-US" sz="2000" dirty="0" err="1">
                <a:latin typeface="Arial" pitchFamily="34" charset="0"/>
                <a:cs typeface="Arial" pitchFamily="34" charset="0"/>
              </a:rPr>
              <a:t>của</a:t>
            </a:r>
            <a:r>
              <a:rPr lang="en-US" sz="2000" dirty="0">
                <a:latin typeface="Arial" pitchFamily="34" charset="0"/>
                <a:cs typeface="Arial" pitchFamily="34" charset="0"/>
              </a:rPr>
              <a:t> </a:t>
            </a:r>
            <a:r>
              <a:rPr lang="en-US" sz="2000" dirty="0" err="1">
                <a:latin typeface="Arial" pitchFamily="34" charset="0"/>
                <a:cs typeface="Arial" pitchFamily="34" charset="0"/>
              </a:rPr>
              <a:t>sự</a:t>
            </a:r>
            <a:r>
              <a:rPr lang="en-US" sz="2000" dirty="0">
                <a:latin typeface="Arial" pitchFamily="34" charset="0"/>
                <a:cs typeface="Arial" pitchFamily="34" charset="0"/>
              </a:rPr>
              <a:t> </a:t>
            </a:r>
            <a:r>
              <a:rPr lang="en-US" sz="2000" dirty="0" err="1">
                <a:latin typeface="Arial" pitchFamily="34" charset="0"/>
                <a:cs typeface="Arial" pitchFamily="34" charset="0"/>
              </a:rPr>
              <a:t>phân</a:t>
            </a:r>
            <a:r>
              <a:rPr lang="en-US" sz="2000" dirty="0">
                <a:latin typeface="Arial" pitchFamily="34" charset="0"/>
                <a:cs typeface="Arial" pitchFamily="34" charset="0"/>
              </a:rPr>
              <a:t> </a:t>
            </a:r>
            <a:r>
              <a:rPr lang="en-US" sz="2000" dirty="0" err="1">
                <a:latin typeface="Arial" pitchFamily="34" charset="0"/>
                <a:cs typeface="Arial" pitchFamily="34" charset="0"/>
              </a:rPr>
              <a:t>bổ</a:t>
            </a:r>
            <a:r>
              <a:rPr lang="en-US" sz="2000" dirty="0">
                <a:latin typeface="Arial" pitchFamily="34" charset="0"/>
                <a:cs typeface="Arial" pitchFamily="34" charset="0"/>
              </a:rPr>
              <a:t>, </a:t>
            </a:r>
            <a:r>
              <a:rPr lang="en-US" sz="2000" dirty="0" err="1">
                <a:latin typeface="Arial" pitchFamily="34" charset="0"/>
                <a:cs typeface="Arial" pitchFamily="34" charset="0"/>
              </a:rPr>
              <a:t>những</a:t>
            </a:r>
            <a:r>
              <a:rPr lang="en-US" sz="2000" dirty="0">
                <a:latin typeface="Arial" pitchFamily="34" charset="0"/>
                <a:cs typeface="Arial" pitchFamily="34" charset="0"/>
              </a:rPr>
              <a:t> </a:t>
            </a:r>
            <a:r>
              <a:rPr lang="en-US" sz="2000" dirty="0" err="1">
                <a:latin typeface="Arial" pitchFamily="34" charset="0"/>
                <a:cs typeface="Arial" pitchFamily="34" charset="0"/>
              </a:rPr>
              <a:t>việc</a:t>
            </a:r>
            <a:r>
              <a:rPr lang="en-US" sz="2000" dirty="0">
                <a:latin typeface="Arial" pitchFamily="34" charset="0"/>
                <a:cs typeface="Arial" pitchFamily="34" charset="0"/>
              </a:rPr>
              <a:t> </a:t>
            </a:r>
            <a:r>
              <a:rPr lang="en-US" sz="2000" dirty="0" err="1">
                <a:latin typeface="Arial" pitchFamily="34" charset="0"/>
                <a:cs typeface="Arial" pitchFamily="34" charset="0"/>
              </a:rPr>
              <a:t>tưởng</a:t>
            </a:r>
            <a:r>
              <a:rPr lang="en-US" sz="2000" dirty="0">
                <a:latin typeface="Arial" pitchFamily="34" charset="0"/>
                <a:cs typeface="Arial" pitchFamily="34" charset="0"/>
              </a:rPr>
              <a:t> </a:t>
            </a:r>
            <a:r>
              <a:rPr lang="en-US" sz="2000" dirty="0" err="1">
                <a:latin typeface="Arial" pitchFamily="34" charset="0"/>
                <a:cs typeface="Arial" pitchFamily="34" charset="0"/>
              </a:rPr>
              <a:t>chừng</a:t>
            </a:r>
            <a:r>
              <a:rPr lang="en-US" sz="2000" dirty="0">
                <a:latin typeface="Arial" pitchFamily="34" charset="0"/>
                <a:cs typeface="Arial" pitchFamily="34" charset="0"/>
              </a:rPr>
              <a:t> </a:t>
            </a:r>
            <a:r>
              <a:rPr lang="en-US" sz="2000" dirty="0" err="1">
                <a:latin typeface="Arial" pitchFamily="34" charset="0"/>
                <a:cs typeface="Arial" pitchFamily="34" charset="0"/>
              </a:rPr>
              <a:t>không</a:t>
            </a:r>
            <a:r>
              <a:rPr lang="en-US" sz="2000" dirty="0">
                <a:latin typeface="Arial" pitchFamily="34" charset="0"/>
                <a:cs typeface="Arial" pitchFamily="34" charset="0"/>
              </a:rPr>
              <a:t> </a:t>
            </a:r>
            <a:r>
              <a:rPr lang="en-US" sz="2000" dirty="0" err="1">
                <a:latin typeface="Arial" pitchFamily="34" charset="0"/>
                <a:cs typeface="Arial" pitchFamily="34" charset="0"/>
              </a:rPr>
              <a:t>thể</a:t>
            </a:r>
            <a:r>
              <a:rPr lang="en-US" sz="2000" dirty="0">
                <a:latin typeface="Arial" pitchFamily="34" charset="0"/>
                <a:cs typeface="Arial" pitchFamily="34" charset="0"/>
              </a:rPr>
              <a:t> </a:t>
            </a:r>
            <a:r>
              <a:rPr lang="en-US" sz="2000" dirty="0" err="1">
                <a:latin typeface="Arial" pitchFamily="34" charset="0"/>
                <a:cs typeface="Arial" pitchFamily="34" charset="0"/>
              </a:rPr>
              <a:t>nếu</a:t>
            </a:r>
            <a:r>
              <a:rPr lang="en-US" sz="2000" dirty="0">
                <a:latin typeface="Arial" pitchFamily="34" charset="0"/>
                <a:cs typeface="Arial" pitchFamily="34" charset="0"/>
              </a:rPr>
              <a:t> </a:t>
            </a:r>
            <a:r>
              <a:rPr lang="en-US" sz="2000" dirty="0" err="1">
                <a:latin typeface="Arial" pitchFamily="34" charset="0"/>
                <a:cs typeface="Arial" pitchFamily="34" charset="0"/>
              </a:rPr>
              <a:t>chỉ</a:t>
            </a:r>
            <a:r>
              <a:rPr lang="en-US" sz="2000" dirty="0">
                <a:latin typeface="Arial" pitchFamily="34" charset="0"/>
                <a:cs typeface="Arial" pitchFamily="34" charset="0"/>
              </a:rPr>
              <a:t> </a:t>
            </a:r>
            <a:r>
              <a:rPr lang="en-US" sz="2000" dirty="0" err="1">
                <a:latin typeface="Arial" pitchFamily="34" charset="0"/>
                <a:cs typeface="Arial" pitchFamily="34" charset="0"/>
              </a:rPr>
              <a:t>nhìn</a:t>
            </a:r>
            <a:r>
              <a:rPr lang="en-US" sz="2000" dirty="0">
                <a:latin typeface="Arial" pitchFamily="34" charset="0"/>
                <a:cs typeface="Arial" pitchFamily="34" charset="0"/>
              </a:rPr>
              <a:t> </a:t>
            </a:r>
            <a:r>
              <a:rPr lang="en-US" sz="2000" dirty="0" err="1">
                <a:latin typeface="Arial" pitchFamily="34" charset="0"/>
                <a:cs typeface="Arial" pitchFamily="34" charset="0"/>
              </a:rPr>
              <a:t>vào</a:t>
            </a:r>
            <a:r>
              <a:rPr lang="en-US" sz="2000" dirty="0">
                <a:latin typeface="Arial" pitchFamily="34" charset="0"/>
                <a:cs typeface="Arial" pitchFamily="34" charset="0"/>
              </a:rPr>
              <a:t> </a:t>
            </a:r>
            <a:r>
              <a:rPr lang="en-US" sz="2000" dirty="0" err="1">
                <a:latin typeface="Arial" pitchFamily="34" charset="0"/>
                <a:cs typeface="Arial" pitchFamily="34" charset="0"/>
              </a:rPr>
              <a:t>tập</a:t>
            </a:r>
            <a:r>
              <a:rPr lang="en-US" sz="2000" dirty="0">
                <a:latin typeface="Arial" pitchFamily="34" charset="0"/>
                <a:cs typeface="Arial" pitchFamily="34" charset="0"/>
              </a:rPr>
              <a:t> </a:t>
            </a:r>
            <a:r>
              <a:rPr lang="en-US" sz="2000" dirty="0" err="1">
                <a:latin typeface="Arial" pitchFamily="34" charset="0"/>
                <a:cs typeface="Arial" pitchFamily="34" charset="0"/>
              </a:rPr>
              <a:t>dữ</a:t>
            </a:r>
            <a:r>
              <a:rPr lang="en-US" sz="2000" dirty="0">
                <a:latin typeface="Arial" pitchFamily="34" charset="0"/>
                <a:cs typeface="Arial" pitchFamily="34" charset="0"/>
              </a:rPr>
              <a:t> </a:t>
            </a:r>
            <a:r>
              <a:rPr lang="en-US" sz="2000" dirty="0" err="1">
                <a:latin typeface="Arial" pitchFamily="34" charset="0"/>
                <a:cs typeface="Arial" pitchFamily="34" charset="0"/>
              </a:rPr>
              <a:t>liệu</a:t>
            </a:r>
            <a:r>
              <a:rPr lang="en-US" sz="2000" dirty="0">
                <a:latin typeface="Arial" pitchFamily="34" charset="0"/>
                <a:cs typeface="Arial" pitchFamily="34" charset="0"/>
              </a:rPr>
              <a:t> ban </a:t>
            </a:r>
            <a:r>
              <a:rPr lang="en-US" sz="2000" dirty="0" err="1">
                <a:latin typeface="Arial" pitchFamily="34" charset="0"/>
                <a:cs typeface="Arial" pitchFamily="34" charset="0"/>
              </a:rPr>
              <a:t>đầu</a:t>
            </a:r>
            <a:r>
              <a:rPr lang="en-US" sz="2000" dirty="0">
                <a:latin typeface="Arial" pitchFamily="34" charset="0"/>
                <a:cs typeface="Arial" pitchFamily="34" charset="0"/>
              </a:rPr>
              <a:t>.</a:t>
            </a:r>
          </a:p>
          <a:p>
            <a:pPr algn="just">
              <a:lnSpc>
                <a:spcPct val="150000"/>
              </a:lnSpc>
              <a:spcAft>
                <a:spcPts val="1000"/>
              </a:spcAft>
              <a:buFont typeface="Arial" pitchFamily="34" charset="0"/>
              <a:buChar char="•"/>
            </a:pPr>
            <a:r>
              <a:rPr lang="en-US" sz="2000" dirty="0">
                <a:latin typeface="Arial" pitchFamily="34" charset="0"/>
                <a:cs typeface="Arial" pitchFamily="34" charset="0"/>
              </a:rPr>
              <a:t> </a:t>
            </a:r>
            <a:r>
              <a:rPr lang="en-US" sz="2000" dirty="0" err="1">
                <a:latin typeface="Arial" pitchFamily="34" charset="0"/>
                <a:cs typeface="Arial" pitchFamily="34" charset="0"/>
              </a:rPr>
              <a:t>Với</a:t>
            </a:r>
            <a:r>
              <a:rPr lang="en-US" sz="2000" dirty="0">
                <a:latin typeface="Arial" pitchFamily="34" charset="0"/>
                <a:cs typeface="Arial" pitchFamily="34" charset="0"/>
              </a:rPr>
              <a:t> </a:t>
            </a:r>
            <a:r>
              <a:rPr lang="en-US" sz="2000" dirty="0" err="1">
                <a:latin typeface="Arial" pitchFamily="34" charset="0"/>
                <a:cs typeface="Arial" pitchFamily="34" charset="0"/>
              </a:rPr>
              <a:t>việc</a:t>
            </a:r>
            <a:r>
              <a:rPr lang="en-US" sz="2000" dirty="0">
                <a:latin typeface="Arial" pitchFamily="34" charset="0"/>
                <a:cs typeface="Arial" pitchFamily="34" charset="0"/>
              </a:rPr>
              <a:t> so </a:t>
            </a:r>
            <a:r>
              <a:rPr lang="en-US" sz="2000" dirty="0" err="1">
                <a:latin typeface="Arial" pitchFamily="34" charset="0"/>
                <a:cs typeface="Arial" pitchFamily="34" charset="0"/>
              </a:rPr>
              <a:t>sánh</a:t>
            </a:r>
            <a:r>
              <a:rPr lang="en-US" sz="2000" dirty="0">
                <a:latin typeface="Arial" pitchFamily="34" charset="0"/>
                <a:cs typeface="Arial" pitchFamily="34" charset="0"/>
              </a:rPr>
              <a:t> </a:t>
            </a:r>
            <a:r>
              <a:rPr lang="en-US" sz="2000" dirty="0" err="1">
                <a:latin typeface="Arial" pitchFamily="34" charset="0"/>
                <a:cs typeface="Arial" pitchFamily="34" charset="0"/>
              </a:rPr>
              <a:t>các</a:t>
            </a:r>
            <a:r>
              <a:rPr lang="en-US" sz="2000" dirty="0">
                <a:latin typeface="Arial" pitchFamily="34" charset="0"/>
                <a:cs typeface="Arial" pitchFamily="34" charset="0"/>
              </a:rPr>
              <a:t> </a:t>
            </a:r>
            <a:r>
              <a:rPr lang="en-US" sz="2000" dirty="0" err="1">
                <a:latin typeface="Arial" pitchFamily="34" charset="0"/>
                <a:cs typeface="Arial" pitchFamily="34" charset="0"/>
              </a:rPr>
              <a:t>tiêu</a:t>
            </a:r>
            <a:r>
              <a:rPr lang="en-US" sz="2000" dirty="0">
                <a:latin typeface="Arial" pitchFamily="34" charset="0"/>
                <a:cs typeface="Arial" pitchFamily="34" charset="0"/>
              </a:rPr>
              <a:t> </a:t>
            </a:r>
            <a:r>
              <a:rPr lang="en-US" sz="2000" dirty="0" err="1">
                <a:latin typeface="Arial" pitchFamily="34" charset="0"/>
                <a:cs typeface="Arial" pitchFamily="34" charset="0"/>
              </a:rPr>
              <a:t>chuẩn</a:t>
            </a:r>
            <a:r>
              <a:rPr lang="en-US" sz="2000" dirty="0">
                <a:latin typeface="Arial" pitchFamily="34" charset="0"/>
                <a:cs typeface="Arial" pitchFamily="34" charset="0"/>
              </a:rPr>
              <a:t> </a:t>
            </a:r>
            <a:r>
              <a:rPr lang="en-US" sz="2000" dirty="0" err="1">
                <a:latin typeface="Arial" pitchFamily="34" charset="0"/>
                <a:cs typeface="Arial" pitchFamily="34" charset="0"/>
              </a:rPr>
              <a:t>chất</a:t>
            </a:r>
            <a:r>
              <a:rPr lang="en-US" sz="2000" dirty="0">
                <a:latin typeface="Arial" pitchFamily="34" charset="0"/>
                <a:cs typeface="Arial" pitchFamily="34" charset="0"/>
              </a:rPr>
              <a:t> </a:t>
            </a:r>
            <a:r>
              <a:rPr lang="en-US" sz="2000" dirty="0" err="1">
                <a:latin typeface="Arial" pitchFamily="34" charset="0"/>
                <a:cs typeface="Arial" pitchFamily="34" charset="0"/>
              </a:rPr>
              <a:t>lượng</a:t>
            </a:r>
            <a:r>
              <a:rPr lang="en-US" sz="2000" dirty="0">
                <a:latin typeface="Arial" pitchFamily="34" charset="0"/>
                <a:cs typeface="Arial" pitchFamily="34" charset="0"/>
              </a:rPr>
              <a:t>, </a:t>
            </a:r>
            <a:r>
              <a:rPr lang="en-US" sz="2000" dirty="0" err="1">
                <a:latin typeface="Arial" pitchFamily="34" charset="0"/>
                <a:cs typeface="Arial" pitchFamily="34" charset="0"/>
              </a:rPr>
              <a:t>ta</a:t>
            </a:r>
            <a:r>
              <a:rPr lang="en-US" sz="2000" dirty="0">
                <a:latin typeface="Arial" pitchFamily="34" charset="0"/>
                <a:cs typeface="Arial" pitchFamily="34" charset="0"/>
              </a:rPr>
              <a:t> </a:t>
            </a:r>
            <a:r>
              <a:rPr lang="en-US" sz="2000" dirty="0" err="1">
                <a:latin typeface="Arial" pitchFamily="34" charset="0"/>
                <a:cs typeface="Arial" pitchFamily="34" charset="0"/>
              </a:rPr>
              <a:t>có</a:t>
            </a:r>
            <a:r>
              <a:rPr lang="en-US" sz="2000" dirty="0">
                <a:latin typeface="Arial" pitchFamily="34" charset="0"/>
                <a:cs typeface="Arial" pitchFamily="34" charset="0"/>
              </a:rPr>
              <a:t> </a:t>
            </a:r>
            <a:r>
              <a:rPr lang="en-US" sz="2000" dirty="0" err="1">
                <a:latin typeface="Arial" pitchFamily="34" charset="0"/>
                <a:cs typeface="Arial" pitchFamily="34" charset="0"/>
              </a:rPr>
              <a:t>thể</a:t>
            </a:r>
            <a:r>
              <a:rPr lang="en-US" sz="2000" dirty="0">
                <a:latin typeface="Arial" pitchFamily="34" charset="0"/>
                <a:cs typeface="Arial" pitchFamily="34" charset="0"/>
              </a:rPr>
              <a:t> </a:t>
            </a:r>
            <a:r>
              <a:rPr lang="en-US" sz="2000" dirty="0" err="1">
                <a:latin typeface="Arial" pitchFamily="34" charset="0"/>
                <a:cs typeface="Arial" pitchFamily="34" charset="0"/>
              </a:rPr>
              <a:t>ước</a:t>
            </a:r>
            <a:r>
              <a:rPr lang="en-US" sz="2000" dirty="0">
                <a:latin typeface="Arial" pitchFamily="34" charset="0"/>
                <a:cs typeface="Arial" pitchFamily="34" charset="0"/>
              </a:rPr>
              <a:t> </a:t>
            </a:r>
            <a:r>
              <a:rPr lang="en-US" sz="2000" dirty="0" err="1">
                <a:latin typeface="Arial" pitchFamily="34" charset="0"/>
                <a:cs typeface="Arial" pitchFamily="34" charset="0"/>
              </a:rPr>
              <a:t>lượng</a:t>
            </a:r>
            <a:r>
              <a:rPr lang="en-US" sz="2000" dirty="0">
                <a:latin typeface="Arial" pitchFamily="34" charset="0"/>
                <a:cs typeface="Arial" pitchFamily="34" charset="0"/>
              </a:rPr>
              <a:t> </a:t>
            </a:r>
            <a:r>
              <a:rPr lang="en-US" sz="2000" dirty="0" err="1">
                <a:latin typeface="Arial" pitchFamily="34" charset="0"/>
                <a:cs typeface="Arial" pitchFamily="34" charset="0"/>
              </a:rPr>
              <a:t>tỉ</a:t>
            </a:r>
            <a:r>
              <a:rPr lang="en-US" sz="2000" dirty="0">
                <a:latin typeface="Arial" pitchFamily="34" charset="0"/>
                <a:cs typeface="Arial" pitchFamily="34" charset="0"/>
              </a:rPr>
              <a:t> </a:t>
            </a:r>
            <a:r>
              <a:rPr lang="en-US" sz="2000" dirty="0" err="1">
                <a:latin typeface="Arial" pitchFamily="34" charset="0"/>
                <a:cs typeface="Arial" pitchFamily="34" charset="0"/>
              </a:rPr>
              <a:t>lệ</a:t>
            </a:r>
            <a:r>
              <a:rPr lang="en-US" sz="2000" dirty="0">
                <a:latin typeface="Arial" pitchFamily="34" charset="0"/>
                <a:cs typeface="Arial" pitchFamily="34" charset="0"/>
              </a:rPr>
              <a:t> </a:t>
            </a:r>
            <a:r>
              <a:rPr lang="en-US" sz="2000" dirty="0" err="1">
                <a:latin typeface="Arial" pitchFamily="34" charset="0"/>
                <a:cs typeface="Arial" pitchFamily="34" charset="0"/>
              </a:rPr>
              <a:t>lỗi</a:t>
            </a:r>
            <a:r>
              <a:rPr lang="en-US" sz="2000" dirty="0">
                <a:latin typeface="Arial" pitchFamily="34" charset="0"/>
                <a:cs typeface="Arial" pitchFamily="34" charset="0"/>
              </a:rPr>
              <a:t>,</a:t>
            </a:r>
            <a:br>
              <a:rPr lang="en-US" sz="2000" dirty="0">
                <a:latin typeface="Arial" pitchFamily="34" charset="0"/>
                <a:cs typeface="Arial" pitchFamily="34" charset="0"/>
              </a:rPr>
            </a:br>
            <a:r>
              <a:rPr lang="en-US" sz="2000" dirty="0" err="1">
                <a:latin typeface="Arial" pitchFamily="34" charset="0"/>
                <a:cs typeface="Arial" pitchFamily="34" charset="0"/>
              </a:rPr>
              <a:t>đồng</a:t>
            </a:r>
            <a:r>
              <a:rPr lang="en-US" sz="2000" dirty="0">
                <a:latin typeface="Arial" pitchFamily="34" charset="0"/>
                <a:cs typeface="Arial" pitchFamily="34" charset="0"/>
              </a:rPr>
              <a:t>  </a:t>
            </a:r>
            <a:r>
              <a:rPr lang="en-US" sz="2000" dirty="0" err="1">
                <a:latin typeface="Arial" pitchFamily="34" charset="0"/>
                <a:cs typeface="Arial" pitchFamily="34" charset="0"/>
              </a:rPr>
              <a:t>thời</a:t>
            </a:r>
            <a:r>
              <a:rPr lang="en-US" sz="2000" dirty="0">
                <a:latin typeface="Arial" pitchFamily="34" charset="0"/>
                <a:cs typeface="Arial" pitchFamily="34" charset="0"/>
              </a:rPr>
              <a:t> </a:t>
            </a:r>
            <a:r>
              <a:rPr lang="en-US" sz="2000" dirty="0" err="1">
                <a:latin typeface="Arial" pitchFamily="34" charset="0"/>
                <a:cs typeface="Arial" pitchFamily="34" charset="0"/>
              </a:rPr>
              <a:t>đánh</a:t>
            </a:r>
            <a:r>
              <a:rPr lang="en-US" sz="2000" dirty="0">
                <a:latin typeface="Arial" pitchFamily="34" charset="0"/>
                <a:cs typeface="Arial" pitchFamily="34" charset="0"/>
              </a:rPr>
              <a:t> </a:t>
            </a:r>
            <a:r>
              <a:rPr lang="en-US" sz="2000" dirty="0" err="1">
                <a:latin typeface="Arial" pitchFamily="34" charset="0"/>
                <a:cs typeface="Arial" pitchFamily="34" charset="0"/>
              </a:rPr>
              <a:t>giá</a:t>
            </a:r>
            <a:r>
              <a:rPr lang="en-US" sz="2000" dirty="0">
                <a:latin typeface="Arial" pitchFamily="34" charset="0"/>
                <a:cs typeface="Arial" pitchFamily="34" charset="0"/>
              </a:rPr>
              <a:t> </a:t>
            </a:r>
            <a:r>
              <a:rPr lang="en-US" sz="2000" dirty="0" err="1">
                <a:latin typeface="Arial" pitchFamily="34" charset="0"/>
                <a:cs typeface="Arial" pitchFamily="34" charset="0"/>
              </a:rPr>
              <a:t>khả</a:t>
            </a:r>
            <a:r>
              <a:rPr lang="en-US" sz="2000" dirty="0">
                <a:latin typeface="Arial" pitchFamily="34" charset="0"/>
                <a:cs typeface="Arial" pitchFamily="34" charset="0"/>
              </a:rPr>
              <a:t> </a:t>
            </a:r>
            <a:r>
              <a:rPr lang="en-US" sz="2000" dirty="0" err="1">
                <a:latin typeface="Arial" pitchFamily="34" charset="0"/>
                <a:cs typeface="Arial" pitchFamily="34" charset="0"/>
              </a:rPr>
              <a:t>năng</a:t>
            </a:r>
            <a:r>
              <a:rPr lang="en-US" sz="2000" dirty="0">
                <a:latin typeface="Arial" pitchFamily="34" charset="0"/>
                <a:cs typeface="Arial" pitchFamily="34" charset="0"/>
              </a:rPr>
              <a:t> </a:t>
            </a:r>
            <a:r>
              <a:rPr lang="en-US" sz="2000" dirty="0" err="1">
                <a:latin typeface="Arial" pitchFamily="34" charset="0"/>
                <a:cs typeface="Arial" pitchFamily="34" charset="0"/>
              </a:rPr>
              <a:t>của</a:t>
            </a:r>
            <a:r>
              <a:rPr lang="en-US" sz="2000" dirty="0">
                <a:latin typeface="Arial" pitchFamily="34" charset="0"/>
                <a:cs typeface="Arial" pitchFamily="34" charset="0"/>
              </a:rPr>
              <a:t> </a:t>
            </a:r>
            <a:r>
              <a:rPr lang="en-US" sz="2000" dirty="0" err="1">
                <a:latin typeface="Arial" pitchFamily="34" charset="0"/>
                <a:cs typeface="Arial" pitchFamily="34" charset="0"/>
              </a:rPr>
              <a:t>một</a:t>
            </a:r>
            <a:r>
              <a:rPr lang="en-US" sz="2000" dirty="0">
                <a:latin typeface="Arial" pitchFamily="34" charset="0"/>
                <a:cs typeface="Arial" pitchFamily="34" charset="0"/>
              </a:rPr>
              <a:t> </a:t>
            </a:r>
            <a:r>
              <a:rPr lang="en-US" sz="2000" dirty="0" err="1">
                <a:latin typeface="Arial" pitchFamily="34" charset="0"/>
                <a:cs typeface="Arial" pitchFamily="34" charset="0"/>
              </a:rPr>
              <a:t>quá</a:t>
            </a:r>
            <a:r>
              <a:rPr lang="en-US" sz="2000" dirty="0">
                <a:latin typeface="Arial" pitchFamily="34" charset="0"/>
                <a:cs typeface="Arial" pitchFamily="34" charset="0"/>
              </a:rPr>
              <a:t> </a:t>
            </a:r>
            <a:r>
              <a:rPr lang="en-US" sz="2000" dirty="0" err="1">
                <a:latin typeface="Arial" pitchFamily="34" charset="0"/>
                <a:cs typeface="Arial" pitchFamily="34" charset="0"/>
              </a:rPr>
              <a:t>trình</a:t>
            </a:r>
            <a:r>
              <a:rPr lang="en-US" sz="2000" dirty="0">
                <a:latin typeface="Arial" pitchFamily="34" charset="0"/>
                <a:cs typeface="Arial" pitchFamily="34" charset="0"/>
              </a:rPr>
              <a:t>.</a:t>
            </a:r>
          </a:p>
          <a:p>
            <a:pPr algn="just">
              <a:lnSpc>
                <a:spcPct val="150000"/>
              </a:lnSpc>
              <a:spcAft>
                <a:spcPts val="1000"/>
              </a:spcAft>
              <a:buFont typeface="Arial" pitchFamily="34" charset="0"/>
              <a:buChar char="•"/>
            </a:pPr>
            <a:r>
              <a:rPr lang="en-US" sz="2000" dirty="0">
                <a:latin typeface="Arial" pitchFamily="34" charset="0"/>
                <a:cs typeface="Arial" pitchFamily="34" charset="0"/>
              </a:rPr>
              <a:t> </a:t>
            </a:r>
            <a:r>
              <a:rPr lang="en-US" sz="2000" dirty="0" err="1">
                <a:latin typeface="Arial" pitchFamily="34" charset="0"/>
                <a:cs typeface="Arial" pitchFamily="34" charset="0"/>
              </a:rPr>
              <a:t>Thêm</a:t>
            </a:r>
            <a:r>
              <a:rPr lang="en-US" sz="2000" dirty="0">
                <a:latin typeface="Arial" pitchFamily="34" charset="0"/>
                <a:cs typeface="Arial" pitchFamily="34" charset="0"/>
              </a:rPr>
              <a:t> </a:t>
            </a:r>
            <a:r>
              <a:rPr lang="en-US" sz="2000" dirty="0" err="1">
                <a:latin typeface="Arial" pitchFamily="34" charset="0"/>
                <a:cs typeface="Arial" pitchFamily="34" charset="0"/>
              </a:rPr>
              <a:t>vào</a:t>
            </a:r>
            <a:r>
              <a:rPr lang="en-US" sz="2000" dirty="0">
                <a:latin typeface="Arial" pitchFamily="34" charset="0"/>
                <a:cs typeface="Arial" pitchFamily="34" charset="0"/>
              </a:rPr>
              <a:t> </a:t>
            </a:r>
            <a:r>
              <a:rPr lang="en-US" sz="2000" dirty="0" err="1">
                <a:latin typeface="Arial" pitchFamily="34" charset="0"/>
                <a:cs typeface="Arial" pitchFamily="34" charset="0"/>
              </a:rPr>
              <a:t>đó</a:t>
            </a:r>
            <a:r>
              <a:rPr lang="en-US" sz="2000" dirty="0">
                <a:latin typeface="Arial" pitchFamily="34" charset="0"/>
                <a:cs typeface="Arial" pitchFamily="34" charset="0"/>
              </a:rPr>
              <a:t>, </a:t>
            </a:r>
            <a:r>
              <a:rPr lang="en-US" sz="2000" dirty="0" err="1">
                <a:latin typeface="Arial" pitchFamily="34" charset="0"/>
                <a:cs typeface="Arial" pitchFamily="34" charset="0"/>
              </a:rPr>
              <a:t>việc</a:t>
            </a:r>
            <a:r>
              <a:rPr lang="en-US" sz="2000" dirty="0">
                <a:latin typeface="Arial" pitchFamily="34" charset="0"/>
                <a:cs typeface="Arial" pitchFamily="34" charset="0"/>
              </a:rPr>
              <a:t> </a:t>
            </a:r>
            <a:r>
              <a:rPr lang="en-US" sz="2000" dirty="0" err="1">
                <a:latin typeface="Arial" pitchFamily="34" charset="0"/>
                <a:cs typeface="Arial" pitchFamily="34" charset="0"/>
              </a:rPr>
              <a:t>phân</a:t>
            </a:r>
            <a:r>
              <a:rPr lang="en-US" sz="2000" dirty="0">
                <a:latin typeface="Arial" pitchFamily="34" charset="0"/>
                <a:cs typeface="Arial" pitchFamily="34" charset="0"/>
              </a:rPr>
              <a:t> </a:t>
            </a:r>
            <a:r>
              <a:rPr lang="en-US" sz="2000" dirty="0" err="1">
                <a:latin typeface="Arial" pitchFamily="34" charset="0"/>
                <a:cs typeface="Arial" pitchFamily="34" charset="0"/>
              </a:rPr>
              <a:t>bổ</a:t>
            </a:r>
            <a:r>
              <a:rPr lang="en-US" sz="2000" dirty="0">
                <a:latin typeface="Arial" pitchFamily="34" charset="0"/>
                <a:cs typeface="Arial" pitchFamily="34" charset="0"/>
              </a:rPr>
              <a:t> </a:t>
            </a:r>
            <a:r>
              <a:rPr lang="en-US" sz="2000" dirty="0" err="1">
                <a:latin typeface="Arial" pitchFamily="34" charset="0"/>
                <a:cs typeface="Arial" pitchFamily="34" charset="0"/>
              </a:rPr>
              <a:t>được</a:t>
            </a:r>
            <a:r>
              <a:rPr lang="en-US" sz="2000" dirty="0">
                <a:latin typeface="Arial" pitchFamily="34" charset="0"/>
                <a:cs typeface="Arial" pitchFamily="34" charset="0"/>
              </a:rPr>
              <a:t> </a:t>
            </a:r>
            <a:r>
              <a:rPr lang="en-US" sz="2000" dirty="0" err="1">
                <a:latin typeface="Arial" pitchFamily="34" charset="0"/>
                <a:cs typeface="Arial" pitchFamily="34" charset="0"/>
              </a:rPr>
              <a:t>tạo</a:t>
            </a:r>
            <a:r>
              <a:rPr lang="en-US" sz="2000" dirty="0">
                <a:latin typeface="Arial" pitchFamily="34" charset="0"/>
                <a:cs typeface="Arial" pitchFamily="34" charset="0"/>
              </a:rPr>
              <a:t> </a:t>
            </a:r>
            <a:r>
              <a:rPr lang="en-US" sz="2000" dirty="0" err="1">
                <a:latin typeface="Arial" pitchFamily="34" charset="0"/>
                <a:cs typeface="Arial" pitchFamily="34" charset="0"/>
              </a:rPr>
              <a:t>ra</a:t>
            </a:r>
            <a:r>
              <a:rPr lang="en-US" sz="2000" dirty="0">
                <a:latin typeface="Arial" pitchFamily="34" charset="0"/>
                <a:cs typeface="Arial" pitchFamily="34" charset="0"/>
              </a:rPr>
              <a:t> </a:t>
            </a:r>
            <a:r>
              <a:rPr lang="en-US" sz="2000" dirty="0" err="1">
                <a:latin typeface="Arial" pitchFamily="34" charset="0"/>
                <a:cs typeface="Arial" pitchFamily="34" charset="0"/>
              </a:rPr>
              <a:t>từ</a:t>
            </a:r>
            <a:r>
              <a:rPr lang="en-US" sz="2000" dirty="0">
                <a:latin typeface="Arial" pitchFamily="34" charset="0"/>
                <a:cs typeface="Arial" pitchFamily="34" charset="0"/>
              </a:rPr>
              <a:t> </a:t>
            </a:r>
            <a:r>
              <a:rPr lang="en-US" sz="2000" dirty="0" err="1">
                <a:latin typeface="Arial" pitchFamily="34" charset="0"/>
                <a:cs typeface="Arial" pitchFamily="34" charset="0"/>
              </a:rPr>
              <a:t>nhiều</a:t>
            </a:r>
            <a:r>
              <a:rPr lang="en-US" sz="2000" dirty="0">
                <a:latin typeface="Arial" pitchFamily="34" charset="0"/>
                <a:cs typeface="Arial" pitchFamily="34" charset="0"/>
              </a:rPr>
              <a:t> </a:t>
            </a:r>
            <a:r>
              <a:rPr lang="en-US" sz="2000" dirty="0" err="1">
                <a:latin typeface="Arial" pitchFamily="34" charset="0"/>
                <a:cs typeface="Arial" pitchFamily="34" charset="0"/>
              </a:rPr>
              <a:t>nguồn</a:t>
            </a:r>
            <a:r>
              <a:rPr lang="en-US" sz="2000" dirty="0">
                <a:latin typeface="Arial" pitchFamily="34" charset="0"/>
                <a:cs typeface="Arial" pitchFamily="34" charset="0"/>
              </a:rPr>
              <a:t> </a:t>
            </a:r>
            <a:r>
              <a:rPr lang="en-US" sz="2000" dirty="0" err="1">
                <a:latin typeface="Arial" pitchFamily="34" charset="0"/>
                <a:cs typeface="Arial" pitchFamily="34" charset="0"/>
              </a:rPr>
              <a:t>dữ</a:t>
            </a:r>
            <a:r>
              <a:rPr lang="en-US" sz="2000" dirty="0">
                <a:latin typeface="Arial" pitchFamily="34" charset="0"/>
                <a:cs typeface="Arial" pitchFamily="34" charset="0"/>
              </a:rPr>
              <a:t> </a:t>
            </a:r>
            <a:r>
              <a:rPr lang="en-US" sz="2000" dirty="0" err="1">
                <a:latin typeface="Arial" pitchFamily="34" charset="0"/>
                <a:cs typeface="Arial" pitchFamily="34" charset="0"/>
              </a:rPr>
              <a:t>liệu</a:t>
            </a:r>
            <a:r>
              <a:rPr lang="en-US" sz="2000" dirty="0">
                <a:latin typeface="Arial" pitchFamily="34" charset="0"/>
                <a:cs typeface="Arial" pitchFamily="34" charset="0"/>
              </a:rPr>
              <a:t> </a:t>
            </a:r>
            <a:r>
              <a:rPr lang="en-US" sz="2000" dirty="0" err="1">
                <a:latin typeface="Arial" pitchFamily="34" charset="0"/>
                <a:cs typeface="Arial" pitchFamily="34" charset="0"/>
              </a:rPr>
              <a:t>từ</a:t>
            </a:r>
            <a:r>
              <a:rPr lang="en-US" sz="2000" dirty="0">
                <a:latin typeface="Arial" pitchFamily="34" charset="0"/>
                <a:cs typeface="Arial" pitchFamily="34" charset="0"/>
              </a:rPr>
              <a:t> </a:t>
            </a:r>
            <a:r>
              <a:rPr lang="en-US" sz="2000" dirty="0" err="1">
                <a:latin typeface="Arial" pitchFamily="34" charset="0"/>
                <a:cs typeface="Arial" pitchFamily="34" charset="0"/>
              </a:rPr>
              <a:t>nhiều</a:t>
            </a:r>
            <a:r>
              <a:rPr lang="en-US" sz="2000" dirty="0">
                <a:latin typeface="Arial" pitchFamily="34" charset="0"/>
                <a:cs typeface="Arial" pitchFamily="34" charset="0"/>
              </a:rPr>
              <a:t> </a:t>
            </a:r>
            <a:r>
              <a:rPr lang="en-US" sz="2000" dirty="0" err="1">
                <a:latin typeface="Arial" pitchFamily="34" charset="0"/>
                <a:cs typeface="Arial" pitchFamily="34" charset="0"/>
              </a:rPr>
              <a:t>tầng</a:t>
            </a:r>
            <a:r>
              <a:rPr lang="en-US" sz="2000" dirty="0">
                <a:latin typeface="Arial" pitchFamily="34" charset="0"/>
                <a:cs typeface="Arial" pitchFamily="34" charset="0"/>
              </a:rPr>
              <a:t>  </a:t>
            </a:r>
            <a:r>
              <a:rPr lang="en-US" sz="2000" dirty="0" err="1">
                <a:latin typeface="Arial" pitchFamily="34" charset="0"/>
                <a:cs typeface="Arial" pitchFamily="34" charset="0"/>
              </a:rPr>
              <a:t>lớp</a:t>
            </a:r>
            <a:r>
              <a:rPr lang="en-US" sz="2000" dirty="0">
                <a:latin typeface="Arial" pitchFamily="34" charset="0"/>
                <a:cs typeface="Arial" pitchFamily="34" charset="0"/>
              </a:rPr>
              <a:t> </a:t>
            </a:r>
            <a:r>
              <a:rPr lang="en-US" sz="2000" dirty="0" err="1">
                <a:latin typeface="Arial" pitchFamily="34" charset="0"/>
                <a:cs typeface="Arial" pitchFamily="34" charset="0"/>
              </a:rPr>
              <a:t>sẽ</a:t>
            </a:r>
            <a:r>
              <a:rPr lang="en-US" sz="2000" dirty="0">
                <a:latin typeface="Arial" pitchFamily="34" charset="0"/>
                <a:cs typeface="Arial" pitchFamily="34" charset="0"/>
              </a:rPr>
              <a:t> </a:t>
            </a:r>
            <a:r>
              <a:rPr lang="en-US" sz="2000" dirty="0" err="1">
                <a:latin typeface="Arial" pitchFamily="34" charset="0"/>
                <a:cs typeface="Arial" pitchFamily="34" charset="0"/>
              </a:rPr>
              <a:t>giúp</a:t>
            </a:r>
            <a:r>
              <a:rPr lang="en-US" sz="2000" dirty="0">
                <a:latin typeface="Arial" pitchFamily="34" charset="0"/>
                <a:cs typeface="Arial" pitchFamily="34" charset="0"/>
              </a:rPr>
              <a:t> so </a:t>
            </a:r>
            <a:r>
              <a:rPr lang="en-US" sz="2000" dirty="0" err="1">
                <a:latin typeface="Arial" pitchFamily="34" charset="0"/>
                <a:cs typeface="Arial" pitchFamily="34" charset="0"/>
              </a:rPr>
              <a:t>sánh</a:t>
            </a:r>
            <a:r>
              <a:rPr lang="en-US" sz="2000" dirty="0">
                <a:latin typeface="Arial" pitchFamily="34" charset="0"/>
                <a:cs typeface="Arial" pitchFamily="34" charset="0"/>
              </a:rPr>
              <a:t> </a:t>
            </a:r>
            <a:r>
              <a:rPr lang="en-US" sz="2000" dirty="0" err="1">
                <a:latin typeface="Arial" pitchFamily="34" charset="0"/>
                <a:cs typeface="Arial" pitchFamily="34" charset="0"/>
              </a:rPr>
              <a:t>dễ</a:t>
            </a:r>
            <a:r>
              <a:rPr lang="en-US" sz="2000" dirty="0">
                <a:latin typeface="Arial" pitchFamily="34" charset="0"/>
                <a:cs typeface="Arial" pitchFamily="34" charset="0"/>
              </a:rPr>
              <a:t> </a:t>
            </a:r>
            <a:r>
              <a:rPr lang="en-US" sz="2000" dirty="0" err="1">
                <a:latin typeface="Arial" pitchFamily="34" charset="0"/>
                <a:cs typeface="Arial" pitchFamily="34" charset="0"/>
              </a:rPr>
              <a:t>dàng</a:t>
            </a:r>
            <a:r>
              <a:rPr lang="en-US" sz="2000" dirty="0">
                <a:latin typeface="Arial" pitchFamily="34" charset="0"/>
                <a:cs typeface="Arial" pitchFamily="34" charset="0"/>
              </a:rPr>
              <a:t> </a:t>
            </a:r>
            <a:r>
              <a:rPr lang="en-US" sz="2000" dirty="0" err="1">
                <a:latin typeface="Arial" pitchFamily="34" charset="0"/>
                <a:cs typeface="Arial" pitchFamily="34" charset="0"/>
              </a:rPr>
              <a:t>hơn</a:t>
            </a:r>
            <a:r>
              <a:rPr lang="en-US" sz="2000" dirty="0">
                <a:latin typeface="Arial" pitchFamily="34" charset="0"/>
                <a:cs typeface="Arial" pitchFamily="34" charset="0"/>
              </a:rPr>
              <a:t> </a:t>
            </a:r>
            <a:r>
              <a:rPr lang="en-US" sz="2000" dirty="0" err="1">
                <a:latin typeface="Arial" pitchFamily="34" charset="0"/>
                <a:cs typeface="Arial" pitchFamily="34" charset="0"/>
              </a:rPr>
              <a:t>với</a:t>
            </a:r>
            <a:r>
              <a:rPr lang="en-US" sz="2000" dirty="0">
                <a:latin typeface="Arial" pitchFamily="34" charset="0"/>
                <a:cs typeface="Arial" pitchFamily="34" charset="0"/>
              </a:rPr>
              <a:t> </a:t>
            </a:r>
            <a:r>
              <a:rPr lang="en-US" sz="2000" dirty="0" err="1">
                <a:latin typeface="Arial" pitchFamily="34" charset="0"/>
                <a:cs typeface="Arial" pitchFamily="34" charset="0"/>
              </a:rPr>
              <a:t>sự</a:t>
            </a:r>
            <a:r>
              <a:rPr lang="en-US" sz="2000" dirty="0">
                <a:latin typeface="Arial" pitchFamily="34" charset="0"/>
                <a:cs typeface="Arial" pitchFamily="34" charset="0"/>
              </a:rPr>
              <a:t> </a:t>
            </a:r>
            <a:r>
              <a:rPr lang="en-US" sz="2000" dirty="0" err="1">
                <a:latin typeface="Arial" pitchFamily="34" charset="0"/>
                <a:cs typeface="Arial" pitchFamily="34" charset="0"/>
              </a:rPr>
              <a:t>phân</a:t>
            </a:r>
            <a:r>
              <a:rPr lang="en-US" sz="2000" dirty="0">
                <a:latin typeface="Arial" pitchFamily="34" charset="0"/>
                <a:cs typeface="Arial" pitchFamily="34" charset="0"/>
              </a:rPr>
              <a:t> </a:t>
            </a:r>
            <a:r>
              <a:rPr lang="en-US" sz="2000" dirty="0" err="1">
                <a:latin typeface="Arial" pitchFamily="34" charset="0"/>
                <a:cs typeface="Arial" pitchFamily="34" charset="0"/>
              </a:rPr>
              <a:t>bổ</a:t>
            </a:r>
            <a:r>
              <a:rPr lang="en-US" sz="2000" dirty="0">
                <a:latin typeface="Arial" pitchFamily="34" charset="0"/>
                <a:cs typeface="Arial" pitchFamily="34" charset="0"/>
              </a:rPr>
              <a:t> </a:t>
            </a:r>
            <a:r>
              <a:rPr lang="en-US" sz="2000" dirty="0" err="1">
                <a:latin typeface="Arial" pitchFamily="34" charset="0"/>
                <a:cs typeface="Arial" pitchFamily="34" charset="0"/>
              </a:rPr>
              <a:t>khác</a:t>
            </a:r>
            <a:r>
              <a:rPr lang="en-US" sz="2000" dirty="0">
                <a:latin typeface="Arial" pitchFamily="34" charset="0"/>
                <a:cs typeface="Arial" pitchFamily="34" charset="0"/>
              </a:rPr>
              <a:t>.</a:t>
            </a:r>
          </a:p>
        </p:txBody>
      </p:sp>
      <p:sp>
        <p:nvSpPr>
          <p:cNvPr id="9"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Định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nghĩa</a:t>
            </a:r>
            <a:endParaRPr lang="ko-KR" altLang="en-US" sz="2000" b="1" dirty="0">
              <a:latin typeface="Arial" pitchFamily="34" charset="0"/>
              <a:ea typeface="맑은 고딕" pitchFamily="50" charset="-127"/>
              <a:cs typeface="Arial" pitchFamily="34" charset="0"/>
            </a:endParaRPr>
          </a:p>
        </p:txBody>
      </p:sp>
      <p:sp>
        <p:nvSpPr>
          <p:cNvPr id="11"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557962217"/>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17764" name="Rectangle 9"/>
          <p:cNvSpPr>
            <a:spLocks noChangeArrowheads="1"/>
          </p:cNvSpPr>
          <p:nvPr/>
        </p:nvSpPr>
        <p:spPr bwMode="auto">
          <a:xfrm>
            <a:off x="185738" y="1397000"/>
            <a:ext cx="4426212" cy="289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80000"/>
              </a:lnSpc>
              <a:spcBef>
                <a:spcPct val="20000"/>
              </a:spcBef>
            </a:pPr>
            <a:r>
              <a:rPr lang="ko-KR" altLang="en-US"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thành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phần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trong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Histogram</a:t>
            </a:r>
          </a:p>
        </p:txBody>
      </p:sp>
      <p:sp>
        <p:nvSpPr>
          <p:cNvPr id="117765" name="AutoShape 20"/>
          <p:cNvSpPr>
            <a:spLocks noChangeArrowheads="1"/>
          </p:cNvSpPr>
          <p:nvPr/>
        </p:nvSpPr>
        <p:spPr bwMode="auto">
          <a:xfrm>
            <a:off x="157519" y="1930813"/>
            <a:ext cx="5371545" cy="3548479"/>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square" anchor="ctr">
            <a:spAutoFit/>
          </a:bodyPr>
          <a:lstStyle/>
          <a:p>
            <a:pPr marL="342900" indent="-342900">
              <a:lnSpc>
                <a:spcPct val="200000"/>
              </a:lnSpc>
            </a:pPr>
            <a:r>
              <a:rPr lang="en-US" altLang="ko-KR" sz="1200" b="1" dirty="0">
                <a:latin typeface="Arial" pitchFamily="34" charset="0"/>
                <a:ea typeface="맑은 고딕" pitchFamily="50" charset="-127"/>
                <a:cs typeface="Arial" pitchFamily="34" charset="0"/>
              </a:rPr>
              <a:t>1. </a:t>
            </a:r>
            <a:r>
              <a:rPr lang="en-US" altLang="ko-KR" sz="1200" b="1" dirty="0" err="1">
                <a:latin typeface="Arial" pitchFamily="34" charset="0"/>
                <a:ea typeface="맑은 고딕" pitchFamily="50" charset="-127"/>
                <a:cs typeface="Arial" pitchFamily="34" charset="0"/>
              </a:rPr>
              <a:t>Lớp</a:t>
            </a:r>
            <a:r>
              <a:rPr lang="en-US" altLang="ko-KR" sz="1200" b="1" dirty="0">
                <a:latin typeface="Arial" pitchFamily="34" charset="0"/>
                <a:ea typeface="맑은 고딕" pitchFamily="50" charset="-127"/>
                <a:cs typeface="Arial" pitchFamily="34" charset="0"/>
              </a:rPr>
              <a:t>/</a:t>
            </a:r>
            <a:r>
              <a:rPr lang="en-US" altLang="ko-KR" sz="1200" b="1" dirty="0" err="1">
                <a:latin typeface="Arial" pitchFamily="34" charset="0"/>
                <a:ea typeface="맑은 고딕" pitchFamily="50" charset="-127"/>
                <a:cs typeface="Arial" pitchFamily="34" charset="0"/>
              </a:rPr>
              <a:t>Trường</a:t>
            </a:r>
            <a:r>
              <a:rPr lang="en-US" altLang="ko-KR" sz="1200" b="1" dirty="0">
                <a:latin typeface="Arial" pitchFamily="34" charset="0"/>
                <a:ea typeface="맑은 고딕" pitchFamily="50" charset="-127"/>
                <a:cs typeface="Arial" pitchFamily="34" charset="0"/>
              </a:rPr>
              <a:t> (Class): </a:t>
            </a:r>
            <a:r>
              <a:rPr lang="en-US" altLang="ko-KR" sz="1200" b="1" dirty="0" err="1">
                <a:latin typeface="Arial" pitchFamily="34" charset="0"/>
                <a:ea typeface="맑은 고딕" pitchFamily="50" charset="-127"/>
                <a:cs typeface="Arial" pitchFamily="34" charset="0"/>
              </a:rPr>
              <a:t>một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cột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trong</a:t>
            </a:r>
            <a:r>
              <a:rPr lang="en-US" altLang="ko-KR" sz="1200" b="1" dirty="0">
                <a:latin typeface="Arial" pitchFamily="34" charset="0"/>
                <a:ea typeface="맑은 고딕" pitchFamily="50" charset="-127"/>
                <a:cs typeface="Arial" pitchFamily="34" charset="0"/>
              </a:rPr>
              <a:t> histogram</a:t>
            </a:r>
          </a:p>
          <a:p>
            <a:pPr marL="342900" indent="-342900">
              <a:lnSpc>
                <a:spcPct val="200000"/>
              </a:lnSpc>
            </a:pPr>
            <a:r>
              <a:rPr lang="en-US" altLang="ko-KR" sz="1200" b="1" dirty="0">
                <a:latin typeface="Arial" pitchFamily="34" charset="0"/>
                <a:ea typeface="맑은 고딕" pitchFamily="50" charset="-127"/>
                <a:cs typeface="Arial" pitchFamily="34" charset="0"/>
              </a:rPr>
              <a:t>2.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rộng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lớp</a:t>
            </a:r>
            <a:r>
              <a:rPr lang="en-US" altLang="ko-KR" sz="1200" b="1" dirty="0">
                <a:latin typeface="Arial" pitchFamily="34" charset="0"/>
                <a:ea typeface="맑은 고딕" pitchFamily="50" charset="-127"/>
                <a:cs typeface="Arial" pitchFamily="34" charset="0"/>
              </a:rPr>
              <a:t>/</a:t>
            </a:r>
            <a:r>
              <a:rPr lang="en-US" altLang="ko-KR" sz="1200" b="1" dirty="0" err="1">
                <a:latin typeface="Arial" pitchFamily="34" charset="0"/>
                <a:ea typeface="맑은 고딕" pitchFamily="50" charset="-127"/>
                <a:cs typeface="Arial" pitchFamily="34" charset="0"/>
              </a:rPr>
              <a:t>trường</a:t>
            </a:r>
            <a:r>
              <a:rPr lang="en-US" altLang="ko-KR" sz="1200" b="1" dirty="0">
                <a:latin typeface="Arial" pitchFamily="34" charset="0"/>
                <a:ea typeface="맑은 고딕" pitchFamily="50" charset="-127"/>
                <a:cs typeface="Arial" pitchFamily="34" charset="0"/>
              </a:rPr>
              <a:t> (Class Width):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rộng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dữ</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liệu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trong</a:t>
            </a:r>
            <a:r>
              <a:rPr lang="en-US" altLang="ko-KR" sz="1200" b="1" dirty="0">
                <a:latin typeface="Arial" pitchFamily="34" charset="0"/>
                <a:ea typeface="맑은 고딕" pitchFamily="50" charset="-127"/>
                <a:cs typeface="Arial" pitchFamily="34" charset="0"/>
              </a:rPr>
              <a:t> 1 </a:t>
            </a:r>
            <a:r>
              <a:rPr lang="en-US" altLang="ko-KR" sz="1200" b="1" dirty="0" err="1">
                <a:latin typeface="Arial" pitchFamily="34" charset="0"/>
                <a:ea typeface="맑은 고딕" pitchFamily="50" charset="-127"/>
                <a:cs typeface="Arial" pitchFamily="34" charset="0"/>
              </a:rPr>
              <a:t>lớp</a:t>
            </a:r>
            <a:r>
              <a:rPr lang="en-US" altLang="ko-KR" sz="1200" b="1" dirty="0">
                <a:latin typeface="Arial" pitchFamily="34" charset="0"/>
                <a:ea typeface="맑은 고딕" pitchFamily="50" charset="-127"/>
                <a:cs typeface="Arial" pitchFamily="34" charset="0"/>
              </a:rPr>
              <a:t>/</a:t>
            </a:r>
            <a:r>
              <a:rPr lang="en-US" altLang="ko-KR" sz="1200" b="1" dirty="0" err="1">
                <a:latin typeface="Arial" pitchFamily="34" charset="0"/>
                <a:ea typeface="맑은 고딕" pitchFamily="50" charset="-127"/>
                <a:cs typeface="Arial" pitchFamily="34" charset="0"/>
              </a:rPr>
              <a:t>trường</a:t>
            </a:r>
            <a:endParaRPr lang="en-US" altLang="ko-KR" sz="1200" b="1" dirty="0">
              <a:latin typeface="Arial" pitchFamily="34" charset="0"/>
              <a:ea typeface="맑은 고딕" pitchFamily="50" charset="-127"/>
              <a:cs typeface="Arial" pitchFamily="34" charset="0"/>
            </a:endParaRPr>
          </a:p>
          <a:p>
            <a:pPr marL="342900" indent="-342900">
              <a:lnSpc>
                <a:spcPct val="200000"/>
              </a:lnSpc>
            </a:pPr>
            <a:r>
              <a:rPr lang="en-US" altLang="ko-KR" sz="1200" b="1" dirty="0">
                <a:latin typeface="Arial" pitchFamily="34" charset="0"/>
                <a:ea typeface="맑은 고딕" pitchFamily="50" charset="-127"/>
                <a:cs typeface="Arial" pitchFamily="34" charset="0"/>
              </a:rPr>
              <a:t>3. </a:t>
            </a:r>
            <a:r>
              <a:rPr lang="en-US" altLang="ko-KR" sz="1200" b="1" dirty="0" err="1">
                <a:latin typeface="Arial" pitchFamily="34" charset="0"/>
                <a:ea typeface="맑은 고딕" pitchFamily="50" charset="-127"/>
                <a:cs typeface="Arial" pitchFamily="34" charset="0"/>
              </a:rPr>
              <a:t>Biên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(Boundary): </a:t>
            </a:r>
            <a:r>
              <a:rPr lang="en-US" altLang="ko-KR" sz="1200" b="1" dirty="0" err="1">
                <a:latin typeface="Arial" pitchFamily="34" charset="0"/>
                <a:ea typeface="맑은 고딕" pitchFamily="50" charset="-127"/>
                <a:cs typeface="Arial" pitchFamily="34" charset="0"/>
              </a:rPr>
              <a:t>Mỗi</a:t>
            </a:r>
            <a:r>
              <a:rPr lang="en-US" altLang="ko-KR" sz="1200" b="1" dirty="0">
                <a:latin typeface="Arial" pitchFamily="34" charset="0"/>
                <a:ea typeface="맑은 고딕" pitchFamily="50" charset="-127"/>
                <a:cs typeface="Arial" pitchFamily="34" charset="0"/>
              </a:rPr>
              <a:t> Class </a:t>
            </a:r>
            <a:r>
              <a:rPr lang="en-US" altLang="ko-KR" sz="1200" b="1" dirty="0" err="1">
                <a:latin typeface="Arial" pitchFamily="34" charset="0"/>
                <a:ea typeface="맑은 고딕" pitchFamily="50" charset="-127"/>
                <a:cs typeface="Arial" pitchFamily="34" charset="0"/>
              </a:rPr>
              <a:t>có</a:t>
            </a:r>
            <a:r>
              <a:rPr lang="en-US" altLang="ko-KR" sz="1200" b="1" dirty="0">
                <a:latin typeface="Arial" pitchFamily="34" charset="0"/>
                <a:ea typeface="맑은 고딕" pitchFamily="50" charset="-127"/>
                <a:cs typeface="Arial" pitchFamily="34" charset="0"/>
              </a:rPr>
              <a:t> 2 </a:t>
            </a:r>
            <a:r>
              <a:rPr lang="en-US" altLang="ko-KR" sz="1200" b="1" dirty="0" err="1">
                <a:latin typeface="Arial" pitchFamily="34" charset="0"/>
                <a:ea typeface="맑은 고딕" pitchFamily="50" charset="-127"/>
                <a:cs typeface="Arial" pitchFamily="34" charset="0"/>
              </a:rPr>
              <a:t>biên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chính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giới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hạn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giới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hạn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dưới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một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cột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Với</a:t>
            </a:r>
            <a:r>
              <a:rPr lang="en-US" altLang="ko-KR" sz="1200" b="1" dirty="0">
                <a:latin typeface="Arial" pitchFamily="34" charset="0"/>
                <a:ea typeface="맑은 고딕" pitchFamily="50" charset="-127"/>
                <a:cs typeface="Arial" pitchFamily="34" charset="0"/>
              </a:rPr>
              <a:t> 2 </a:t>
            </a:r>
            <a:r>
              <a:rPr lang="en-US" altLang="ko-KR" sz="1200" b="1" dirty="0" err="1">
                <a:latin typeface="Arial" pitchFamily="34" charset="0"/>
                <a:ea typeface="맑은 고딕" pitchFamily="50" charset="-127"/>
                <a:cs typeface="Arial" pitchFamily="34" charset="0"/>
              </a:rPr>
              <a:t>cột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xếp</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sát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nhau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dưới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cột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này</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cột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tiếp</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theo</a:t>
            </a:r>
            <a:r>
              <a:rPr lang="en-US" altLang="ko-KR" sz="1200" b="1" dirty="0">
                <a:latin typeface="Arial" pitchFamily="34" charset="0"/>
                <a:ea typeface="맑은 고딕" pitchFamily="50" charset="-127"/>
                <a:cs typeface="Arial" pitchFamily="34" charset="0"/>
              </a:rPr>
              <a:t>.</a:t>
            </a:r>
          </a:p>
          <a:p>
            <a:pPr marL="342900" indent="-342900">
              <a:lnSpc>
                <a:spcPct val="200000"/>
              </a:lnSpc>
            </a:pPr>
            <a:r>
              <a:rPr lang="en-US" altLang="ko-KR" sz="1200" b="1" dirty="0">
                <a:latin typeface="Arial" pitchFamily="34" charset="0"/>
                <a:ea typeface="맑은 고딕" pitchFamily="50" charset="-127"/>
                <a:cs typeface="Arial" pitchFamily="34" charset="0"/>
              </a:rPr>
              <a:t>4. </a:t>
            </a:r>
            <a:r>
              <a:rPr lang="en-US" altLang="ko-KR" sz="1200" b="1" dirty="0" err="1">
                <a:latin typeface="Arial" pitchFamily="34" charset="0"/>
                <a:ea typeface="맑은 고딕" pitchFamily="50" charset="-127"/>
                <a:cs typeface="Arial" pitchFamily="34" charset="0"/>
              </a:rPr>
              <a:t>Trung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điểm</a:t>
            </a:r>
            <a:r>
              <a:rPr lang="en-US" altLang="ko-KR" sz="1200" b="1" dirty="0">
                <a:latin typeface="Arial" pitchFamily="34" charset="0"/>
                <a:ea typeface="맑은 고딕" pitchFamily="50" charset="-127"/>
                <a:cs typeface="Arial" pitchFamily="34" charset="0"/>
              </a:rPr>
              <a:t> (Midpoint): </a:t>
            </a:r>
            <a:r>
              <a:rPr lang="en-US" altLang="ko-KR" sz="1200" b="1" dirty="0" err="1">
                <a:latin typeface="Arial" pitchFamily="34" charset="0"/>
                <a:ea typeface="맑은 고딕" pitchFamily="50" charset="-127"/>
                <a:cs typeface="Arial" pitchFamily="34" charset="0"/>
              </a:rPr>
              <a:t>Điểm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chính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giữa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cột</a:t>
            </a:r>
            <a:endParaRPr lang="en-US" altLang="ko-KR" sz="1200" b="1" dirty="0">
              <a:latin typeface="Arial" pitchFamily="34" charset="0"/>
              <a:ea typeface="맑은 고딕" pitchFamily="50" charset="-127"/>
              <a:cs typeface="Arial" pitchFamily="34" charset="0"/>
            </a:endParaRPr>
          </a:p>
          <a:p>
            <a:pPr marL="342900" indent="-342900">
              <a:lnSpc>
                <a:spcPct val="200000"/>
              </a:lnSpc>
            </a:pPr>
            <a:r>
              <a:rPr lang="en-US" altLang="ko-KR" sz="1200" b="1" dirty="0">
                <a:latin typeface="Arial" pitchFamily="34" charset="0"/>
                <a:ea typeface="맑은 고딕" pitchFamily="50" charset="-127"/>
                <a:cs typeface="Arial" pitchFamily="34" charset="0"/>
              </a:rPr>
              <a:t>5. </a:t>
            </a:r>
            <a:r>
              <a:rPr lang="en-US" altLang="ko-KR" sz="1200" b="1" dirty="0" err="1">
                <a:latin typeface="Arial" pitchFamily="34" charset="0"/>
                <a:ea typeface="맑은 고딕" pitchFamily="50" charset="-127"/>
                <a:cs typeface="Arial" pitchFamily="34" charset="0"/>
              </a:rPr>
              <a:t>Tần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suất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Số</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dữ</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liệu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trong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mỗi</a:t>
            </a:r>
            <a:r>
              <a:rPr lang="en-US" altLang="ko-KR" sz="1200" b="1" dirty="0">
                <a:latin typeface="Arial" pitchFamily="34" charset="0"/>
                <a:ea typeface="맑은 고딕" pitchFamily="50" charset="-127"/>
                <a:cs typeface="Arial" pitchFamily="34" charset="0"/>
              </a:rPr>
              <a:t> Class. </a:t>
            </a:r>
            <a:r>
              <a:rPr lang="en-US" altLang="ko-KR" sz="1200" b="1" dirty="0" err="1">
                <a:latin typeface="Arial" pitchFamily="34" charset="0"/>
                <a:ea typeface="맑은 고딕" pitchFamily="50" charset="-127"/>
                <a:cs typeface="Arial" pitchFamily="34" charset="0"/>
              </a:rPr>
              <a:t>Kích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cỡ</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một</a:t>
            </a:r>
            <a:r>
              <a:rPr lang="en-US" altLang="ko-KR" sz="1200" b="1" dirty="0">
                <a:latin typeface="Arial" pitchFamily="34" charset="0"/>
                <a:ea typeface="맑은 고딕" pitchFamily="50" charset="-127"/>
                <a:cs typeface="Arial" pitchFamily="34" charset="0"/>
              </a:rPr>
              <a:t> Class </a:t>
            </a:r>
            <a:r>
              <a:rPr lang="en-US" altLang="ko-KR" sz="1200" b="1" dirty="0" err="1">
                <a:latin typeface="Arial" pitchFamily="34" charset="0"/>
                <a:ea typeface="맑은 고딕" pitchFamily="50" charset="-127"/>
                <a:cs typeface="Arial" pitchFamily="34" charset="0"/>
              </a:rPr>
              <a:t>được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xác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định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bởi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tần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suất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rộng</a:t>
            </a:r>
            <a:r>
              <a:rPr lang="en-US" altLang="ko-KR" sz="1200" b="1" dirty="0">
                <a:latin typeface="Arial" pitchFamily="34" charset="0"/>
                <a:ea typeface="맑은 고딕" pitchFamily="50" charset="-127"/>
                <a:cs typeface="Arial" pitchFamily="34" charset="0"/>
              </a:rPr>
              <a:t>.</a:t>
            </a:r>
          </a:p>
        </p:txBody>
      </p:sp>
      <p:grpSp>
        <p:nvGrpSpPr>
          <p:cNvPr id="3" name="그룹 17"/>
          <p:cNvGrpSpPr>
            <a:grpSpLocks/>
          </p:cNvGrpSpPr>
          <p:nvPr/>
        </p:nvGrpSpPr>
        <p:grpSpPr bwMode="auto">
          <a:xfrm>
            <a:off x="5269963" y="2397225"/>
            <a:ext cx="4391875" cy="3137449"/>
            <a:chOff x="2286000" y="2365375"/>
            <a:chExt cx="6264276" cy="3819942"/>
          </a:xfrm>
        </p:grpSpPr>
        <p:sp>
          <p:nvSpPr>
            <p:cNvPr id="117767" name="Freeform 23"/>
            <p:cNvSpPr>
              <a:spLocks/>
            </p:cNvSpPr>
            <p:nvPr/>
          </p:nvSpPr>
          <p:spPr bwMode="auto">
            <a:xfrm>
              <a:off x="3232150" y="2787650"/>
              <a:ext cx="5318126" cy="2298700"/>
            </a:xfrm>
            <a:custGeom>
              <a:avLst/>
              <a:gdLst>
                <a:gd name="T0" fmla="*/ 0 w 1115"/>
                <a:gd name="T1" fmla="*/ 0 h 883"/>
                <a:gd name="T2" fmla="*/ 0 w 1115"/>
                <a:gd name="T3" fmla="*/ 2147483647 h 883"/>
                <a:gd name="T4" fmla="*/ 2147483647 w 1115"/>
                <a:gd name="T5" fmla="*/ 2147483647 h 883"/>
                <a:gd name="T6" fmla="*/ 2147483647 w 1115"/>
                <a:gd name="T7" fmla="*/ 2147483647 h 8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5" h="883">
                  <a:moveTo>
                    <a:pt x="0" y="0"/>
                  </a:moveTo>
                  <a:lnTo>
                    <a:pt x="0" y="882"/>
                  </a:lnTo>
                  <a:lnTo>
                    <a:pt x="1099" y="882"/>
                  </a:lnTo>
                  <a:lnTo>
                    <a:pt x="1114" y="876"/>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latin typeface="Arial" pitchFamily="34" charset="0"/>
                <a:cs typeface="Arial" pitchFamily="34" charset="0"/>
              </a:endParaRPr>
            </a:p>
          </p:txBody>
        </p:sp>
        <p:sp>
          <p:nvSpPr>
            <p:cNvPr id="117768" name="Rectangle 24"/>
            <p:cNvSpPr>
              <a:spLocks noChangeArrowheads="1"/>
            </p:cNvSpPr>
            <p:nvPr/>
          </p:nvSpPr>
          <p:spPr bwMode="auto">
            <a:xfrm>
              <a:off x="4398963" y="4119563"/>
              <a:ext cx="614362" cy="952500"/>
            </a:xfrm>
            <a:prstGeom prst="rect">
              <a:avLst/>
            </a:prstGeom>
            <a:solidFill>
              <a:srgbClr val="EAEAEA"/>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1400" dirty="0">
                <a:latin typeface="Arial" pitchFamily="34" charset="0"/>
                <a:ea typeface="맑은 고딕" pitchFamily="50" charset="-127"/>
                <a:cs typeface="Arial" pitchFamily="34" charset="0"/>
              </a:endParaRPr>
            </a:p>
          </p:txBody>
        </p:sp>
        <p:sp>
          <p:nvSpPr>
            <p:cNvPr id="117769" name="Rectangle 25"/>
            <p:cNvSpPr>
              <a:spLocks noChangeArrowheads="1"/>
            </p:cNvSpPr>
            <p:nvPr/>
          </p:nvSpPr>
          <p:spPr bwMode="auto">
            <a:xfrm>
              <a:off x="7024688" y="4143375"/>
              <a:ext cx="606425" cy="928688"/>
            </a:xfrm>
            <a:prstGeom prst="rect">
              <a:avLst/>
            </a:prstGeom>
            <a:solidFill>
              <a:srgbClr val="EAEAEA"/>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1400" dirty="0">
                <a:latin typeface="Arial" pitchFamily="34" charset="0"/>
                <a:ea typeface="맑은 고딕" pitchFamily="50" charset="-127"/>
                <a:cs typeface="Arial" pitchFamily="34" charset="0"/>
              </a:endParaRPr>
            </a:p>
          </p:txBody>
        </p:sp>
        <p:sp>
          <p:nvSpPr>
            <p:cNvPr id="117770" name="Rectangle 26"/>
            <p:cNvSpPr>
              <a:spLocks noChangeArrowheads="1"/>
            </p:cNvSpPr>
            <p:nvPr/>
          </p:nvSpPr>
          <p:spPr bwMode="auto">
            <a:xfrm>
              <a:off x="6384925" y="3495675"/>
              <a:ext cx="601663" cy="1576388"/>
            </a:xfrm>
            <a:prstGeom prst="rect">
              <a:avLst/>
            </a:prstGeom>
            <a:solidFill>
              <a:srgbClr val="EAEAEA"/>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1400" dirty="0">
                <a:latin typeface="Arial" pitchFamily="34" charset="0"/>
                <a:ea typeface="맑은 고딕" pitchFamily="50" charset="-127"/>
                <a:cs typeface="Arial" pitchFamily="34" charset="0"/>
              </a:endParaRPr>
            </a:p>
          </p:txBody>
        </p:sp>
        <p:sp>
          <p:nvSpPr>
            <p:cNvPr id="117771" name="Rectangle 27"/>
            <p:cNvSpPr>
              <a:spLocks noChangeArrowheads="1"/>
            </p:cNvSpPr>
            <p:nvPr/>
          </p:nvSpPr>
          <p:spPr bwMode="auto">
            <a:xfrm>
              <a:off x="5678488" y="3165475"/>
              <a:ext cx="668337" cy="1906588"/>
            </a:xfrm>
            <a:prstGeom prst="rect">
              <a:avLst/>
            </a:prstGeom>
            <a:solidFill>
              <a:srgbClr val="EAEAEA"/>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1400" dirty="0">
                <a:latin typeface="Arial" pitchFamily="34" charset="0"/>
                <a:ea typeface="맑은 고딕" pitchFamily="50" charset="-127"/>
                <a:cs typeface="Arial" pitchFamily="34" charset="0"/>
              </a:endParaRPr>
            </a:p>
          </p:txBody>
        </p:sp>
        <p:sp>
          <p:nvSpPr>
            <p:cNvPr id="117772" name="Rectangle 28"/>
            <p:cNvSpPr>
              <a:spLocks noChangeArrowheads="1"/>
            </p:cNvSpPr>
            <p:nvPr/>
          </p:nvSpPr>
          <p:spPr bwMode="auto">
            <a:xfrm>
              <a:off x="5051425" y="3351213"/>
              <a:ext cx="604838" cy="1720850"/>
            </a:xfrm>
            <a:prstGeom prst="rect">
              <a:avLst/>
            </a:prstGeom>
            <a:solidFill>
              <a:srgbClr val="EAEAEA"/>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1400" dirty="0">
                <a:latin typeface="Arial" pitchFamily="34" charset="0"/>
                <a:ea typeface="맑은 고딕" pitchFamily="50" charset="-127"/>
                <a:cs typeface="Arial" pitchFamily="34" charset="0"/>
              </a:endParaRPr>
            </a:p>
          </p:txBody>
        </p:sp>
        <p:sp>
          <p:nvSpPr>
            <p:cNvPr id="117773" name="Rectangle 29"/>
            <p:cNvSpPr>
              <a:spLocks noChangeArrowheads="1"/>
            </p:cNvSpPr>
            <p:nvPr/>
          </p:nvSpPr>
          <p:spPr bwMode="auto">
            <a:xfrm>
              <a:off x="3756025" y="4795838"/>
              <a:ext cx="606425" cy="276225"/>
            </a:xfrm>
            <a:prstGeom prst="rect">
              <a:avLst/>
            </a:prstGeom>
            <a:solidFill>
              <a:srgbClr val="EAEAEA"/>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1400" dirty="0">
                <a:latin typeface="Arial" pitchFamily="34" charset="0"/>
                <a:ea typeface="맑은 고딕" pitchFamily="50" charset="-127"/>
                <a:cs typeface="Arial" pitchFamily="34" charset="0"/>
              </a:endParaRPr>
            </a:p>
          </p:txBody>
        </p:sp>
        <p:sp>
          <p:nvSpPr>
            <p:cNvPr id="117774" name="Rectangle 30"/>
            <p:cNvSpPr>
              <a:spLocks noChangeArrowheads="1"/>
            </p:cNvSpPr>
            <p:nvPr/>
          </p:nvSpPr>
          <p:spPr bwMode="auto">
            <a:xfrm>
              <a:off x="7670800" y="4635500"/>
              <a:ext cx="604838" cy="436563"/>
            </a:xfrm>
            <a:prstGeom prst="rect">
              <a:avLst/>
            </a:prstGeom>
            <a:solidFill>
              <a:srgbClr val="EAEAEA"/>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1400" dirty="0">
                <a:latin typeface="Arial" pitchFamily="34" charset="0"/>
                <a:ea typeface="맑은 고딕" pitchFamily="50" charset="-127"/>
                <a:cs typeface="Arial" pitchFamily="34" charset="0"/>
              </a:endParaRPr>
            </a:p>
          </p:txBody>
        </p:sp>
        <p:sp>
          <p:nvSpPr>
            <p:cNvPr id="117775" name="Rectangle 31"/>
            <p:cNvSpPr>
              <a:spLocks noChangeArrowheads="1"/>
            </p:cNvSpPr>
            <p:nvPr/>
          </p:nvSpPr>
          <p:spPr bwMode="auto">
            <a:xfrm>
              <a:off x="2744788" y="4637088"/>
              <a:ext cx="406965" cy="375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2</a:t>
              </a:r>
            </a:p>
          </p:txBody>
        </p:sp>
        <p:sp>
          <p:nvSpPr>
            <p:cNvPr id="117776" name="Rectangle 32"/>
            <p:cNvSpPr>
              <a:spLocks noChangeArrowheads="1"/>
            </p:cNvSpPr>
            <p:nvPr/>
          </p:nvSpPr>
          <p:spPr bwMode="auto">
            <a:xfrm>
              <a:off x="2709582" y="4289425"/>
              <a:ext cx="406965" cy="375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latinLnBrk="0"/>
              <a:r>
                <a:rPr lang="en-US" altLang="ko-KR" sz="1400" dirty="0">
                  <a:latin typeface="Arial" pitchFamily="34" charset="0"/>
                  <a:ea typeface="맑은 고딕" pitchFamily="50" charset="-127"/>
                  <a:cs typeface="Arial" pitchFamily="34" charset="0"/>
                </a:rPr>
                <a:t>4</a:t>
              </a:r>
            </a:p>
          </p:txBody>
        </p:sp>
        <p:sp>
          <p:nvSpPr>
            <p:cNvPr id="117777" name="Rectangle 33"/>
            <p:cNvSpPr>
              <a:spLocks noChangeArrowheads="1"/>
            </p:cNvSpPr>
            <p:nvPr/>
          </p:nvSpPr>
          <p:spPr bwMode="auto">
            <a:xfrm>
              <a:off x="2741614" y="3957638"/>
              <a:ext cx="406965" cy="375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6</a:t>
              </a:r>
            </a:p>
          </p:txBody>
        </p:sp>
        <p:sp>
          <p:nvSpPr>
            <p:cNvPr id="117778" name="Rectangle 34"/>
            <p:cNvSpPr>
              <a:spLocks noChangeArrowheads="1"/>
            </p:cNvSpPr>
            <p:nvPr/>
          </p:nvSpPr>
          <p:spPr bwMode="auto">
            <a:xfrm>
              <a:off x="2709582" y="3627438"/>
              <a:ext cx="406965" cy="375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latinLnBrk="0"/>
              <a:r>
                <a:rPr lang="en-US" altLang="ko-KR" sz="1400" dirty="0">
                  <a:latin typeface="Arial" pitchFamily="34" charset="0"/>
                  <a:ea typeface="맑은 고딕" pitchFamily="50" charset="-127"/>
                  <a:cs typeface="Arial" pitchFamily="34" charset="0"/>
                </a:rPr>
                <a:t>8</a:t>
              </a:r>
            </a:p>
          </p:txBody>
        </p:sp>
        <p:sp>
          <p:nvSpPr>
            <p:cNvPr id="117779" name="Rectangle 35"/>
            <p:cNvSpPr>
              <a:spLocks noChangeArrowheads="1"/>
            </p:cNvSpPr>
            <p:nvPr/>
          </p:nvSpPr>
          <p:spPr bwMode="auto">
            <a:xfrm>
              <a:off x="2681288" y="3276600"/>
              <a:ext cx="548716" cy="375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10</a:t>
              </a:r>
            </a:p>
          </p:txBody>
        </p:sp>
        <p:sp>
          <p:nvSpPr>
            <p:cNvPr id="117780" name="Rectangle 36"/>
            <p:cNvSpPr>
              <a:spLocks noChangeArrowheads="1"/>
            </p:cNvSpPr>
            <p:nvPr/>
          </p:nvSpPr>
          <p:spPr bwMode="auto">
            <a:xfrm>
              <a:off x="2638705" y="2928938"/>
              <a:ext cx="548716" cy="375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latinLnBrk="0"/>
              <a:r>
                <a:rPr lang="en-US" altLang="ko-KR" sz="1400" dirty="0">
                  <a:latin typeface="Arial" pitchFamily="34" charset="0"/>
                  <a:ea typeface="맑은 고딕" pitchFamily="50" charset="-127"/>
                  <a:cs typeface="Arial" pitchFamily="34" charset="0"/>
                </a:rPr>
                <a:t>12</a:t>
              </a:r>
            </a:p>
          </p:txBody>
        </p:sp>
        <p:sp>
          <p:nvSpPr>
            <p:cNvPr id="117781" name="Rectangle 37"/>
            <p:cNvSpPr>
              <a:spLocks noChangeArrowheads="1"/>
            </p:cNvSpPr>
            <p:nvPr/>
          </p:nvSpPr>
          <p:spPr bwMode="auto">
            <a:xfrm>
              <a:off x="3651250" y="5181600"/>
              <a:ext cx="903135" cy="375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8.225</a:t>
              </a:r>
            </a:p>
          </p:txBody>
        </p:sp>
        <p:sp>
          <p:nvSpPr>
            <p:cNvPr id="117782" name="Rectangle 38"/>
            <p:cNvSpPr>
              <a:spLocks noChangeArrowheads="1"/>
            </p:cNvSpPr>
            <p:nvPr/>
          </p:nvSpPr>
          <p:spPr bwMode="auto">
            <a:xfrm>
              <a:off x="4376737" y="5181600"/>
              <a:ext cx="903135" cy="375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8.245</a:t>
              </a:r>
            </a:p>
          </p:txBody>
        </p:sp>
        <p:sp>
          <p:nvSpPr>
            <p:cNvPr id="117783" name="Rectangle 39"/>
            <p:cNvSpPr>
              <a:spLocks noChangeArrowheads="1"/>
            </p:cNvSpPr>
            <p:nvPr/>
          </p:nvSpPr>
          <p:spPr bwMode="auto">
            <a:xfrm>
              <a:off x="5662612" y="5181600"/>
              <a:ext cx="903135" cy="375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8.285</a:t>
              </a:r>
            </a:p>
          </p:txBody>
        </p:sp>
        <p:sp>
          <p:nvSpPr>
            <p:cNvPr id="117784" name="Rectangle 40"/>
            <p:cNvSpPr>
              <a:spLocks noChangeArrowheads="1"/>
            </p:cNvSpPr>
            <p:nvPr/>
          </p:nvSpPr>
          <p:spPr bwMode="auto">
            <a:xfrm>
              <a:off x="6997700" y="5181600"/>
              <a:ext cx="903135" cy="375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8.325</a:t>
              </a:r>
            </a:p>
          </p:txBody>
        </p:sp>
        <p:sp>
          <p:nvSpPr>
            <p:cNvPr id="117785" name="Rectangle 41"/>
            <p:cNvSpPr>
              <a:spLocks noChangeArrowheads="1"/>
            </p:cNvSpPr>
            <p:nvPr/>
          </p:nvSpPr>
          <p:spPr bwMode="auto">
            <a:xfrm>
              <a:off x="5033962" y="5199064"/>
              <a:ext cx="903135" cy="375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8.265</a:t>
              </a:r>
            </a:p>
          </p:txBody>
        </p:sp>
        <p:sp>
          <p:nvSpPr>
            <p:cNvPr id="117786" name="Rectangle 42"/>
            <p:cNvSpPr>
              <a:spLocks noChangeArrowheads="1"/>
            </p:cNvSpPr>
            <p:nvPr/>
          </p:nvSpPr>
          <p:spPr bwMode="auto">
            <a:xfrm>
              <a:off x="6313488" y="5199064"/>
              <a:ext cx="903135" cy="375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8.305</a:t>
              </a:r>
            </a:p>
          </p:txBody>
        </p:sp>
        <p:sp>
          <p:nvSpPr>
            <p:cNvPr id="117787" name="Rectangle 43"/>
            <p:cNvSpPr>
              <a:spLocks noChangeArrowheads="1"/>
            </p:cNvSpPr>
            <p:nvPr/>
          </p:nvSpPr>
          <p:spPr bwMode="auto">
            <a:xfrm>
              <a:off x="7634289" y="5192713"/>
              <a:ext cx="903135" cy="375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400" dirty="0">
                  <a:latin typeface="Arial" pitchFamily="34" charset="0"/>
                  <a:ea typeface="맑은 고딕" pitchFamily="50" charset="-127"/>
                  <a:cs typeface="Arial" pitchFamily="34" charset="0"/>
                </a:rPr>
                <a:t>8.345</a:t>
              </a:r>
            </a:p>
          </p:txBody>
        </p:sp>
        <p:sp>
          <p:nvSpPr>
            <p:cNvPr id="117788" name="Rectangle 44"/>
            <p:cNvSpPr>
              <a:spLocks noChangeArrowheads="1"/>
            </p:cNvSpPr>
            <p:nvPr/>
          </p:nvSpPr>
          <p:spPr bwMode="auto">
            <a:xfrm rot="16200000">
              <a:off x="2048076" y="3833147"/>
              <a:ext cx="1012936" cy="3521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latinLnBrk="0"/>
              <a:r>
                <a:rPr lang="en-US" altLang="ko-KR" sz="1000" b="1" dirty="0">
                  <a:latin typeface="Arial" pitchFamily="34" charset="0"/>
                  <a:ea typeface="맑은 고딕" pitchFamily="50" charset="-127"/>
                  <a:cs typeface="Arial" pitchFamily="34" charset="0"/>
                </a:rPr>
                <a:t>Frequency</a:t>
              </a:r>
              <a:endParaRPr lang="ko-KR" altLang="en-US" sz="1000" b="1" dirty="0">
                <a:latin typeface="Arial" pitchFamily="34" charset="0"/>
                <a:ea typeface="맑은 고딕" pitchFamily="50" charset="-127"/>
                <a:cs typeface="Arial" pitchFamily="34" charset="0"/>
              </a:endParaRPr>
            </a:p>
          </p:txBody>
        </p:sp>
        <p:sp>
          <p:nvSpPr>
            <p:cNvPr id="117789" name="Line 45"/>
            <p:cNvSpPr>
              <a:spLocks noChangeShapeType="1"/>
            </p:cNvSpPr>
            <p:nvPr/>
          </p:nvSpPr>
          <p:spPr bwMode="auto">
            <a:xfrm>
              <a:off x="4006850" y="5094288"/>
              <a:ext cx="0" cy="95250"/>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0" name="Line 46"/>
            <p:cNvSpPr>
              <a:spLocks noChangeShapeType="1"/>
            </p:cNvSpPr>
            <p:nvPr/>
          </p:nvSpPr>
          <p:spPr bwMode="auto">
            <a:xfrm>
              <a:off x="4724400" y="5094288"/>
              <a:ext cx="0" cy="95250"/>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1" name="Line 47"/>
            <p:cNvSpPr>
              <a:spLocks noChangeShapeType="1"/>
            </p:cNvSpPr>
            <p:nvPr/>
          </p:nvSpPr>
          <p:spPr bwMode="auto">
            <a:xfrm>
              <a:off x="5362575" y="5094288"/>
              <a:ext cx="0" cy="95250"/>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2" name="Line 48"/>
            <p:cNvSpPr>
              <a:spLocks noChangeShapeType="1"/>
            </p:cNvSpPr>
            <p:nvPr/>
          </p:nvSpPr>
          <p:spPr bwMode="auto">
            <a:xfrm>
              <a:off x="5999163" y="5094288"/>
              <a:ext cx="0" cy="95250"/>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3" name="Line 49"/>
            <p:cNvSpPr>
              <a:spLocks noChangeShapeType="1"/>
            </p:cNvSpPr>
            <p:nvPr/>
          </p:nvSpPr>
          <p:spPr bwMode="auto">
            <a:xfrm>
              <a:off x="6691313" y="5094288"/>
              <a:ext cx="0" cy="95250"/>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4" name="Line 50"/>
            <p:cNvSpPr>
              <a:spLocks noChangeShapeType="1"/>
            </p:cNvSpPr>
            <p:nvPr/>
          </p:nvSpPr>
          <p:spPr bwMode="auto">
            <a:xfrm>
              <a:off x="8002588" y="5094288"/>
              <a:ext cx="0" cy="95250"/>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5" name="Line 51"/>
            <p:cNvSpPr>
              <a:spLocks noChangeShapeType="1"/>
            </p:cNvSpPr>
            <p:nvPr/>
          </p:nvSpPr>
          <p:spPr bwMode="auto">
            <a:xfrm>
              <a:off x="7343775" y="5094288"/>
              <a:ext cx="0" cy="95250"/>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6" name="Line 52"/>
            <p:cNvSpPr>
              <a:spLocks noChangeShapeType="1"/>
            </p:cNvSpPr>
            <p:nvPr/>
          </p:nvSpPr>
          <p:spPr bwMode="auto">
            <a:xfrm rot="-5400000">
              <a:off x="3197226" y="3021012"/>
              <a:ext cx="0" cy="117475"/>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7" name="Line 53"/>
            <p:cNvSpPr>
              <a:spLocks noChangeShapeType="1"/>
            </p:cNvSpPr>
            <p:nvPr/>
          </p:nvSpPr>
          <p:spPr bwMode="auto">
            <a:xfrm rot="-5400000">
              <a:off x="3197226" y="3360737"/>
              <a:ext cx="0" cy="117475"/>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8" name="Line 54"/>
            <p:cNvSpPr>
              <a:spLocks noChangeShapeType="1"/>
            </p:cNvSpPr>
            <p:nvPr/>
          </p:nvSpPr>
          <p:spPr bwMode="auto">
            <a:xfrm rot="-5400000">
              <a:off x="3197226" y="3687762"/>
              <a:ext cx="0" cy="117475"/>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799" name="Line 55"/>
            <p:cNvSpPr>
              <a:spLocks noChangeShapeType="1"/>
            </p:cNvSpPr>
            <p:nvPr/>
          </p:nvSpPr>
          <p:spPr bwMode="auto">
            <a:xfrm rot="-5400000">
              <a:off x="3197226" y="4038600"/>
              <a:ext cx="0" cy="117475"/>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800" name="Line 56"/>
            <p:cNvSpPr>
              <a:spLocks noChangeShapeType="1"/>
            </p:cNvSpPr>
            <p:nvPr/>
          </p:nvSpPr>
          <p:spPr bwMode="auto">
            <a:xfrm rot="-5400000">
              <a:off x="3197226" y="4376737"/>
              <a:ext cx="0" cy="117475"/>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801" name="Line 57"/>
            <p:cNvSpPr>
              <a:spLocks noChangeShapeType="1"/>
            </p:cNvSpPr>
            <p:nvPr/>
          </p:nvSpPr>
          <p:spPr bwMode="auto">
            <a:xfrm rot="-5400000">
              <a:off x="3197226" y="4705350"/>
              <a:ext cx="0" cy="117475"/>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grpSp>
          <p:nvGrpSpPr>
            <p:cNvPr id="4" name="Group 58"/>
            <p:cNvGrpSpPr>
              <a:grpSpLocks/>
            </p:cNvGrpSpPr>
            <p:nvPr/>
          </p:nvGrpSpPr>
          <p:grpSpPr bwMode="auto">
            <a:xfrm>
              <a:off x="2286000" y="5078413"/>
              <a:ext cx="1689599" cy="1106904"/>
              <a:chOff x="853" y="2688"/>
              <a:chExt cx="875" cy="712"/>
            </a:xfrm>
          </p:grpSpPr>
          <p:sp>
            <p:nvSpPr>
              <p:cNvPr id="117817" name="Line 59"/>
              <p:cNvSpPr>
                <a:spLocks noChangeShapeType="1"/>
              </p:cNvSpPr>
              <p:nvPr/>
            </p:nvSpPr>
            <p:spPr bwMode="auto">
              <a:xfrm flipH="1">
                <a:off x="1080" y="2688"/>
                <a:ext cx="531" cy="440"/>
              </a:xfrm>
              <a:prstGeom prst="line">
                <a:avLst/>
              </a:prstGeom>
              <a:noFill/>
              <a:ln w="12699">
                <a:solidFill>
                  <a:schemeClr val="accent2"/>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818" name="Rectangle 60"/>
              <p:cNvSpPr>
                <a:spLocks noChangeArrowheads="1"/>
              </p:cNvSpPr>
              <p:nvPr/>
            </p:nvSpPr>
            <p:spPr bwMode="auto">
              <a:xfrm>
                <a:off x="853" y="3086"/>
                <a:ext cx="875" cy="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b="1" dirty="0">
                    <a:latin typeface="Arial" pitchFamily="34" charset="0"/>
                    <a:ea typeface="맑은 고딕" pitchFamily="50" charset="-127"/>
                    <a:cs typeface="Arial" pitchFamily="34" charset="0"/>
                  </a:rPr>
                  <a:t>Lower boundary</a:t>
                </a:r>
              </a:p>
              <a:p>
                <a:pPr defTabSz="762000"/>
                <a:r>
                  <a:rPr lang="en-US" altLang="ko-KR" sz="1000" b="1" dirty="0">
                    <a:latin typeface="Arial" pitchFamily="34" charset="0"/>
                    <a:ea typeface="맑은 고딕" pitchFamily="50" charset="-127"/>
                    <a:cs typeface="Arial" pitchFamily="34" charset="0"/>
                  </a:rPr>
                  <a:t>of Class</a:t>
                </a:r>
                <a:endParaRPr lang="ko-KR" altLang="en-US" sz="1000" b="1" dirty="0">
                  <a:latin typeface="Arial" pitchFamily="34" charset="0"/>
                  <a:ea typeface="맑은 고딕" pitchFamily="50" charset="-127"/>
                  <a:cs typeface="Arial" pitchFamily="34" charset="0"/>
                </a:endParaRPr>
              </a:p>
            </p:txBody>
          </p:sp>
        </p:grpSp>
        <p:sp>
          <p:nvSpPr>
            <p:cNvPr id="117803" name="Line 61"/>
            <p:cNvSpPr>
              <a:spLocks noChangeShapeType="1"/>
            </p:cNvSpPr>
            <p:nvPr/>
          </p:nvSpPr>
          <p:spPr bwMode="auto">
            <a:xfrm>
              <a:off x="4384675" y="4573588"/>
              <a:ext cx="681038" cy="0"/>
            </a:xfrm>
            <a:prstGeom prst="line">
              <a:avLst/>
            </a:prstGeom>
            <a:noFill/>
            <a:ln w="2857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grpSp>
          <p:nvGrpSpPr>
            <p:cNvPr id="5" name="Group 62"/>
            <p:cNvGrpSpPr>
              <a:grpSpLocks/>
            </p:cNvGrpSpPr>
            <p:nvPr/>
          </p:nvGrpSpPr>
          <p:grpSpPr bwMode="auto">
            <a:xfrm>
              <a:off x="3184522" y="2747963"/>
              <a:ext cx="1485899" cy="1836737"/>
              <a:chOff x="1318" y="1195"/>
              <a:chExt cx="770" cy="1183"/>
            </a:xfrm>
          </p:grpSpPr>
          <p:sp>
            <p:nvSpPr>
              <p:cNvPr id="117815" name="Line 63"/>
              <p:cNvSpPr>
                <a:spLocks noChangeShapeType="1"/>
              </p:cNvSpPr>
              <p:nvPr/>
            </p:nvSpPr>
            <p:spPr bwMode="auto">
              <a:xfrm flipH="1" flipV="1">
                <a:off x="1554" y="1518"/>
                <a:ext cx="534" cy="860"/>
              </a:xfrm>
              <a:prstGeom prst="line">
                <a:avLst/>
              </a:prstGeom>
              <a:noFill/>
              <a:ln w="12699">
                <a:solidFill>
                  <a:schemeClr val="accent2"/>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816" name="Rectangle 64"/>
              <p:cNvSpPr>
                <a:spLocks noChangeArrowheads="1"/>
              </p:cNvSpPr>
              <p:nvPr/>
            </p:nvSpPr>
            <p:spPr bwMode="auto">
              <a:xfrm>
                <a:off x="1318" y="1195"/>
                <a:ext cx="662"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b="1" dirty="0">
                    <a:latin typeface="Arial" pitchFamily="34" charset="0"/>
                    <a:ea typeface="맑은 고딕" pitchFamily="50" charset="-127"/>
                    <a:cs typeface="Arial" pitchFamily="34" charset="0"/>
                  </a:rPr>
                  <a:t>Class width</a:t>
                </a:r>
              </a:p>
            </p:txBody>
          </p:sp>
        </p:grpSp>
        <p:grpSp>
          <p:nvGrpSpPr>
            <p:cNvPr id="6" name="Group 65"/>
            <p:cNvGrpSpPr>
              <a:grpSpLocks/>
            </p:cNvGrpSpPr>
            <p:nvPr/>
          </p:nvGrpSpPr>
          <p:grpSpPr bwMode="auto">
            <a:xfrm>
              <a:off x="4638673" y="2365375"/>
              <a:ext cx="801038" cy="960438"/>
              <a:chOff x="2072" y="949"/>
              <a:chExt cx="414" cy="618"/>
            </a:xfrm>
          </p:grpSpPr>
          <p:sp>
            <p:nvSpPr>
              <p:cNvPr id="117813" name="Line 66"/>
              <p:cNvSpPr>
                <a:spLocks noChangeShapeType="1"/>
              </p:cNvSpPr>
              <p:nvPr/>
            </p:nvSpPr>
            <p:spPr bwMode="auto">
              <a:xfrm>
                <a:off x="2258" y="1276"/>
                <a:ext cx="179" cy="291"/>
              </a:xfrm>
              <a:prstGeom prst="line">
                <a:avLst/>
              </a:prstGeom>
              <a:noFill/>
              <a:ln w="12699">
                <a:solidFill>
                  <a:schemeClr val="accent2"/>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814" name="Rectangle 67"/>
              <p:cNvSpPr>
                <a:spLocks noChangeArrowheads="1"/>
              </p:cNvSpPr>
              <p:nvPr/>
            </p:nvSpPr>
            <p:spPr bwMode="auto">
              <a:xfrm>
                <a:off x="2072" y="949"/>
                <a:ext cx="414" cy="1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b="1" dirty="0">
                    <a:latin typeface="Arial" pitchFamily="34" charset="0"/>
                    <a:ea typeface="맑은 고딕" pitchFamily="50" charset="-127"/>
                    <a:cs typeface="Arial" pitchFamily="34" charset="0"/>
                  </a:rPr>
                  <a:t> Class</a:t>
                </a:r>
              </a:p>
            </p:txBody>
          </p:sp>
        </p:grpSp>
        <p:sp>
          <p:nvSpPr>
            <p:cNvPr id="117806" name="Line 68"/>
            <p:cNvSpPr>
              <a:spLocks noChangeShapeType="1"/>
            </p:cNvSpPr>
            <p:nvPr/>
          </p:nvSpPr>
          <p:spPr bwMode="auto">
            <a:xfrm flipV="1">
              <a:off x="6002338" y="2951163"/>
              <a:ext cx="811212" cy="695325"/>
            </a:xfrm>
            <a:prstGeom prst="line">
              <a:avLst/>
            </a:prstGeom>
            <a:noFill/>
            <a:ln w="12699">
              <a:solidFill>
                <a:schemeClr val="accent2"/>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807" name="Rectangle 69"/>
            <p:cNvSpPr>
              <a:spLocks noChangeArrowheads="1"/>
            </p:cNvSpPr>
            <p:nvPr/>
          </p:nvSpPr>
          <p:spPr bwMode="auto">
            <a:xfrm>
              <a:off x="6600824" y="2673350"/>
              <a:ext cx="1186651" cy="300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b="1" dirty="0">
                  <a:latin typeface="Arial" pitchFamily="34" charset="0"/>
                  <a:ea typeface="맑은 고딕" pitchFamily="50" charset="-127"/>
                  <a:cs typeface="Arial" pitchFamily="34" charset="0"/>
                </a:rPr>
                <a:t>Frequency</a:t>
              </a:r>
            </a:p>
          </p:txBody>
        </p:sp>
        <p:sp>
          <p:nvSpPr>
            <p:cNvPr id="117808" name="Line 70"/>
            <p:cNvSpPr>
              <a:spLocks noChangeShapeType="1"/>
            </p:cNvSpPr>
            <p:nvPr/>
          </p:nvSpPr>
          <p:spPr bwMode="auto">
            <a:xfrm>
              <a:off x="6007100" y="3149600"/>
              <a:ext cx="0" cy="1892300"/>
            </a:xfrm>
            <a:prstGeom prst="line">
              <a:avLst/>
            </a:prstGeom>
            <a:noFill/>
            <a:ln w="2857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grpSp>
          <p:nvGrpSpPr>
            <p:cNvPr id="7" name="Group 71"/>
            <p:cNvGrpSpPr>
              <a:grpSpLocks/>
            </p:cNvGrpSpPr>
            <p:nvPr/>
          </p:nvGrpSpPr>
          <p:grpSpPr bwMode="auto">
            <a:xfrm>
              <a:off x="6140447" y="5473698"/>
              <a:ext cx="2163353" cy="643992"/>
              <a:chOff x="3857" y="2903"/>
              <a:chExt cx="1119" cy="414"/>
            </a:xfrm>
          </p:grpSpPr>
          <p:sp>
            <p:nvSpPr>
              <p:cNvPr id="117811" name="Line 72"/>
              <p:cNvSpPr>
                <a:spLocks noChangeShapeType="1"/>
              </p:cNvSpPr>
              <p:nvPr/>
            </p:nvSpPr>
            <p:spPr bwMode="auto">
              <a:xfrm>
                <a:off x="3857" y="2903"/>
                <a:ext cx="548" cy="264"/>
              </a:xfrm>
              <a:prstGeom prst="line">
                <a:avLst/>
              </a:prstGeom>
              <a:noFill/>
              <a:ln w="12699">
                <a:solidFill>
                  <a:schemeClr val="accent2"/>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cs typeface="Arial" pitchFamily="34" charset="0"/>
                </a:endParaRPr>
              </a:p>
            </p:txBody>
          </p:sp>
          <p:sp>
            <p:nvSpPr>
              <p:cNvPr id="117812" name="Rectangle 73"/>
              <p:cNvSpPr>
                <a:spLocks noChangeArrowheads="1"/>
              </p:cNvSpPr>
              <p:nvPr/>
            </p:nvSpPr>
            <p:spPr bwMode="auto">
              <a:xfrm>
                <a:off x="4038" y="3124"/>
                <a:ext cx="938" cy="1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b="1" dirty="0">
                    <a:latin typeface="Arial" pitchFamily="34" charset="0"/>
                    <a:ea typeface="맑은 고딕" pitchFamily="50" charset="-127"/>
                    <a:cs typeface="Arial" pitchFamily="34" charset="0"/>
                  </a:rPr>
                  <a:t>Midpoint of Class</a:t>
                </a:r>
              </a:p>
            </p:txBody>
          </p:sp>
        </p:grpSp>
        <p:sp>
          <p:nvSpPr>
            <p:cNvPr id="117810" name="Text Box 74"/>
            <p:cNvSpPr txBox="1">
              <a:spLocks noChangeArrowheads="1"/>
            </p:cNvSpPr>
            <p:nvPr/>
          </p:nvSpPr>
          <p:spPr bwMode="auto">
            <a:xfrm>
              <a:off x="5036175" y="5578476"/>
              <a:ext cx="1578085" cy="2997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000" b="1" dirty="0">
                  <a:latin typeface="Arial" pitchFamily="34" charset="0"/>
                  <a:ea typeface="맑은 고딕" pitchFamily="50" charset="-127"/>
                  <a:cs typeface="Arial" pitchFamily="34" charset="0"/>
                </a:rPr>
                <a:t>Characteristics</a:t>
              </a:r>
              <a:endParaRPr lang="ko-KR" altLang="en-US" sz="1000" b="1" dirty="0">
                <a:latin typeface="Arial" pitchFamily="34" charset="0"/>
                <a:ea typeface="맑은 고딕" pitchFamily="50" charset="-127"/>
                <a:cs typeface="Arial" pitchFamily="34" charset="0"/>
              </a:endParaRPr>
            </a:p>
          </p:txBody>
        </p:sp>
      </p:gr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105</a:t>
            </a:fld>
            <a:endParaRPr lang="ko-KR" altLang="en-US" dirty="0">
              <a:latin typeface="Arial" pitchFamily="34" charset="0"/>
              <a:cs typeface="Arial" pitchFamily="34" charset="0"/>
            </a:endParaRPr>
          </a:p>
        </p:txBody>
      </p:sp>
      <p:sp>
        <p:nvSpPr>
          <p:cNvPr id="60"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60955892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Text Box 18"/>
          <p:cNvSpPr txBox="1">
            <a:spLocks noChangeArrowheads="1"/>
          </p:cNvSpPr>
          <p:nvPr/>
        </p:nvSpPr>
        <p:spPr bwMode="auto">
          <a:xfrm>
            <a:off x="1013222" y="1628800"/>
            <a:ext cx="275908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FontTx/>
              <a:buAutoNum type="arabicPeriod"/>
            </a:pPr>
            <a:r>
              <a:rPr lang="en-US" altLang="ko-KR" sz="1200" b="1" dirty="0">
                <a:latin typeface="Arial" pitchFamily="34" charset="0"/>
                <a:ea typeface="맑은 고딕" pitchFamily="50" charset="-127"/>
                <a:cs typeface="Arial" pitchFamily="34" charset="0"/>
              </a:rPr>
              <a:t>Thu </a:t>
            </a:r>
            <a:r>
              <a:rPr lang="en-US" altLang="ko-KR" sz="1200" b="1" dirty="0" err="1">
                <a:latin typeface="Arial" pitchFamily="34" charset="0"/>
                <a:ea typeface="맑은 고딕" pitchFamily="50" charset="-127"/>
                <a:cs typeface="Arial" pitchFamily="34" charset="0"/>
              </a:rPr>
              <a:t>thập</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dữ</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liệu</a:t>
            </a:r>
            <a:r>
              <a:rPr lang="en-US" altLang="ko-KR" sz="1200" b="1" dirty="0">
                <a:latin typeface="Arial" pitchFamily="34" charset="0"/>
                <a:ea typeface="맑은 고딕" pitchFamily="50" charset="-127"/>
                <a:cs typeface="Arial" pitchFamily="34" charset="0"/>
              </a:rPr>
              <a:t>.</a:t>
            </a:r>
          </a:p>
          <a:p>
            <a:pPr eaLnBrk="1" hangingPunct="1">
              <a:lnSpc>
                <a:spcPct val="150000"/>
              </a:lnSpc>
              <a:buFontTx/>
              <a:buAutoNum type="arabicPeriod"/>
            </a:pPr>
            <a:endParaRPr lang="en-US" altLang="ko-KR" sz="1200" b="1" dirty="0">
              <a:latin typeface="Arial" pitchFamily="34" charset="0"/>
              <a:ea typeface="맑은 고딕" pitchFamily="50" charset="-127"/>
              <a:cs typeface="Arial" pitchFamily="34" charset="0"/>
            </a:endParaRPr>
          </a:p>
          <a:p>
            <a:pPr eaLnBrk="1" hangingPunct="1">
              <a:lnSpc>
                <a:spcPct val="150000"/>
              </a:lnSpc>
              <a:buFontTx/>
              <a:buAutoNum type="arabicPeriod"/>
            </a:pPr>
            <a:r>
              <a:rPr lang="en-US" altLang="ko-KR" sz="1200" b="1" dirty="0" err="1">
                <a:latin typeface="Arial" pitchFamily="34" charset="0"/>
                <a:ea typeface="맑은 고딕" pitchFamily="50" charset="-127"/>
                <a:cs typeface="Arial" pitchFamily="34" charset="0"/>
              </a:rPr>
              <a:t>Tìm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giá</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trị</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cực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đại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và</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cực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tiểu</a:t>
            </a:r>
            <a:r>
              <a:rPr lang="en-US" altLang="ko-KR" sz="1200" b="1" dirty="0">
                <a:latin typeface="Arial" pitchFamily="34" charset="0"/>
                <a:ea typeface="맑은 고딕" pitchFamily="50" charset="-127"/>
                <a:cs typeface="Arial" pitchFamily="34" charset="0"/>
              </a:rPr>
              <a:t>.</a:t>
            </a:r>
          </a:p>
          <a:p>
            <a:pPr eaLnBrk="1" hangingPunct="1">
              <a:lnSpc>
                <a:spcPct val="150000"/>
              </a:lnSpc>
            </a:pPr>
            <a:endParaRPr lang="en-US" altLang="ko-KR" sz="1200" b="1" dirty="0">
              <a:latin typeface="Arial" pitchFamily="34" charset="0"/>
              <a:ea typeface="맑은 고딕" pitchFamily="50" charset="-127"/>
              <a:cs typeface="Arial" pitchFamily="34" charset="0"/>
            </a:endParaRPr>
          </a:p>
          <a:p>
            <a:pPr eaLnBrk="1" hangingPunct="1">
              <a:lnSpc>
                <a:spcPct val="150000"/>
              </a:lnSpc>
            </a:pPr>
            <a:r>
              <a:rPr lang="en-US" altLang="ko-KR" sz="1200" b="1" dirty="0">
                <a:latin typeface="Arial" pitchFamily="34" charset="0"/>
                <a:ea typeface="맑은 고딕" pitchFamily="50" charset="-127"/>
                <a:cs typeface="Arial" pitchFamily="34" charset="0"/>
              </a:rPr>
              <a:t>3.	</a:t>
            </a:r>
            <a:r>
              <a:rPr lang="en-US" altLang="ko-KR" sz="1200" b="1" dirty="0" err="1">
                <a:latin typeface="Arial" pitchFamily="34" charset="0"/>
                <a:ea typeface="맑은 고딕" pitchFamily="50" charset="-127"/>
                <a:cs typeface="Arial" pitchFamily="34" charset="0"/>
              </a:rPr>
              <a:t>Tính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số</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lớp</a:t>
            </a:r>
            <a:r>
              <a:rPr lang="en-US" altLang="ko-KR" sz="1200" b="1" dirty="0">
                <a:latin typeface="Arial" pitchFamily="34" charset="0"/>
                <a:ea typeface="맑은 고딕" pitchFamily="50" charset="-127"/>
                <a:cs typeface="Arial" pitchFamily="34" charset="0"/>
              </a:rPr>
              <a:t> (K)   (k=√n)</a:t>
            </a:r>
            <a:endParaRPr lang="en-US" altLang="en-US" sz="1200" b="1" dirty="0">
              <a:latin typeface="Arial" pitchFamily="34" charset="0"/>
              <a:ea typeface="맑은 고딕" pitchFamily="50" charset="-127"/>
              <a:cs typeface="Arial" pitchFamily="34" charset="0"/>
            </a:endParaRPr>
          </a:p>
        </p:txBody>
      </p:sp>
      <p:sp>
        <p:nvSpPr>
          <p:cNvPr id="118787" name="TextBox 6"/>
          <p:cNvSpPr txBox="1">
            <a:spLocks noChangeArrowheads="1"/>
          </p:cNvSpPr>
          <p:nvPr/>
        </p:nvSpPr>
        <p:spPr bwMode="auto">
          <a:xfrm>
            <a:off x="1382192" y="4623519"/>
            <a:ext cx="77472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err="1">
                <a:latin typeface="Arial" pitchFamily="34" charset="0"/>
                <a:ea typeface="맑은 고딕" pitchFamily="50" charset="-127"/>
                <a:cs typeface="Arial" pitchFamily="34" charset="0"/>
              </a:rPr>
              <a:t>Thông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thường</a:t>
            </a:r>
            <a:r>
              <a:rPr lang="en-US" altLang="ko-KR" sz="1200" dirty="0">
                <a:latin typeface="Arial" pitchFamily="34" charset="0"/>
                <a:ea typeface="맑은 고딕" pitchFamily="50" charset="-127"/>
                <a:cs typeface="Arial" pitchFamily="34" charset="0"/>
              </a:rPr>
              <a:t>, 7~10 </a:t>
            </a:r>
            <a:r>
              <a:rPr lang="en-US" altLang="ko-KR" sz="1200" dirty="0" err="1">
                <a:latin typeface="Arial" pitchFamily="34" charset="0"/>
                <a:ea typeface="맑은 고딕" pitchFamily="50" charset="-127"/>
                <a:cs typeface="Arial" pitchFamily="34" charset="0"/>
              </a:rPr>
              <a:t>lớp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đủ</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xây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dựng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a:t>
            </a:r>
            <a:r>
              <a:rPr lang="en-US" altLang="ko-KR" sz="1200" dirty="0">
                <a:latin typeface="Arial" pitchFamily="34" charset="0"/>
                <a:ea typeface="맑은 고딕" pitchFamily="50" charset="-127"/>
                <a:cs typeface="Arial" pitchFamily="34" charset="0"/>
              </a:rPr>
              <a:t> histogram. </a:t>
            </a:r>
            <a:r>
              <a:rPr lang="en-US" altLang="ko-KR" sz="1200" dirty="0" err="1">
                <a:latin typeface="Arial" pitchFamily="34" charset="0"/>
                <a:ea typeface="맑은 고딕" pitchFamily="50" charset="-127"/>
                <a:cs typeface="Arial" pitchFamily="34" charset="0"/>
              </a:rPr>
              <a:t>Tuy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nhiên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loại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tính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nhau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sử</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dụng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dưới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đây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một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ví</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dụ</a:t>
            </a:r>
            <a:r>
              <a:rPr lang="en-US" altLang="ko-KR" sz="1200" dirty="0">
                <a:latin typeface="Arial" pitchFamily="34" charset="0"/>
                <a:ea typeface="맑은 고딕" pitchFamily="50" charset="-127"/>
                <a:cs typeface="Arial" pitchFamily="34" charset="0"/>
              </a:rPr>
              <a:t>. </a:t>
            </a:r>
            <a:endParaRPr lang="ko-KR" altLang="en-US" sz="1200" dirty="0">
              <a:latin typeface="Arial" pitchFamily="34" charset="0"/>
              <a:ea typeface="맑은 고딕" pitchFamily="50" charset="-127"/>
              <a:cs typeface="Arial" pitchFamily="34" charset="0"/>
            </a:endParaRPr>
          </a:p>
        </p:txBody>
      </p:sp>
      <p:pic>
        <p:nvPicPr>
          <p:cNvPr id="118788"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567929" y="5357316"/>
            <a:ext cx="1728788" cy="966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789" name="Text Box 18"/>
          <p:cNvSpPr txBox="1">
            <a:spLocks noChangeArrowheads="1"/>
          </p:cNvSpPr>
          <p:nvPr/>
        </p:nvSpPr>
        <p:spPr bwMode="auto">
          <a:xfrm>
            <a:off x="4279379" y="1701577"/>
            <a:ext cx="48868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200" dirty="0" err="1">
                <a:latin typeface="Arial" pitchFamily="34" charset="0"/>
                <a:ea typeface="맑은 고딕" pitchFamily="50" charset="-127"/>
                <a:cs typeface="Arial" pitchFamily="34" charset="0"/>
              </a:rPr>
              <a:t>Đếm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endParaRPr lang="en-US" altLang="ko-KR" sz="1200" dirty="0">
              <a:latin typeface="Arial" pitchFamily="34" charset="0"/>
              <a:ea typeface="맑은 고딕" pitchFamily="50" charset="-127"/>
              <a:cs typeface="Arial" pitchFamily="34" charset="0"/>
            </a:endParaRPr>
          </a:p>
          <a:p>
            <a:pPr eaLnBrk="1" hangingPunct="1">
              <a:buFontTx/>
              <a:buChar char="-"/>
            </a:pPr>
            <a:r>
              <a:rPr lang="en-US" altLang="ko-KR" sz="1200" dirty="0" err="1">
                <a:latin typeface="Arial" pitchFamily="34" charset="0"/>
                <a:ea typeface="맑은 고딕" pitchFamily="50" charset="-127"/>
                <a:cs typeface="Arial" pitchFamily="34" charset="0"/>
              </a:rPr>
              <a:t>Một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tập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khoảng</a:t>
            </a:r>
            <a:r>
              <a:rPr lang="en-US" altLang="ko-KR" sz="1200" dirty="0">
                <a:latin typeface="Arial" pitchFamily="34" charset="0"/>
                <a:ea typeface="맑은 고딕" pitchFamily="50" charset="-127"/>
                <a:cs typeface="Arial" pitchFamily="34" charset="0"/>
              </a:rPr>
              <a:t> 100 </a:t>
            </a: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trở</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lên</a:t>
            </a:r>
            <a:r>
              <a:rPr lang="en-US" altLang="ko-KR" sz="1200" dirty="0">
                <a:latin typeface="Arial" pitchFamily="34" charset="0"/>
                <a:ea typeface="맑은 고딕" pitchFamily="50" charset="-127"/>
                <a:cs typeface="Arial" pitchFamily="34" charset="0"/>
              </a:rPr>
              <a:t>. </a:t>
            </a:r>
            <a:endParaRPr lang="en-US" altLang="en-US" sz="1200" dirty="0">
              <a:latin typeface="Arial" pitchFamily="34" charset="0"/>
              <a:ea typeface="맑은 고딕" pitchFamily="50" charset="-127"/>
              <a:cs typeface="Arial" pitchFamily="34" charset="0"/>
            </a:endParaRPr>
          </a:p>
        </p:txBody>
      </p:sp>
      <p:sp>
        <p:nvSpPr>
          <p:cNvPr id="118790" name="Text Box 18"/>
          <p:cNvSpPr txBox="1">
            <a:spLocks noChangeArrowheads="1"/>
          </p:cNvSpPr>
          <p:nvPr/>
        </p:nvSpPr>
        <p:spPr bwMode="auto">
          <a:xfrm>
            <a:off x="4279379" y="2829129"/>
            <a:ext cx="27254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200" dirty="0" err="1">
                <a:latin typeface="Arial" pitchFamily="34" charset="0"/>
                <a:ea typeface="맑은 고딕" pitchFamily="50" charset="-127"/>
                <a:cs typeface="Arial" pitchFamily="34" charset="0"/>
              </a:rPr>
              <a:t>Làm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tròn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nguyên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tiếp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theo</a:t>
            </a:r>
            <a:r>
              <a:rPr lang="en-US" altLang="ko-KR" sz="1200" dirty="0">
                <a:latin typeface="Arial" pitchFamily="34" charset="0"/>
                <a:ea typeface="맑은 고딕" pitchFamily="50" charset="-127"/>
                <a:cs typeface="Arial" pitchFamily="34" charset="0"/>
              </a:rPr>
              <a:t>.</a:t>
            </a:r>
            <a:endParaRPr lang="en-US" altLang="en-US" sz="1200" dirty="0">
              <a:latin typeface="Arial" pitchFamily="34" charset="0"/>
              <a:ea typeface="맑은 고딕" pitchFamily="50" charset="-127"/>
              <a:cs typeface="Arial" pitchFamily="34" charset="0"/>
            </a:endParaRPr>
          </a:p>
        </p:txBody>
      </p:sp>
      <p:sp>
        <p:nvSpPr>
          <p:cNvPr id="10" name="모서리가 둥근 직사각형 9"/>
          <p:cNvSpPr/>
          <p:nvPr/>
        </p:nvSpPr>
        <p:spPr>
          <a:xfrm>
            <a:off x="920750" y="909638"/>
            <a:ext cx="2376488" cy="287337"/>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Các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bước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xây</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dựng</a:t>
            </a:r>
            <a:endParaRPr kumimoji="0" lang="ko-KR" altLang="en-US" sz="1400" b="1" kern="0" dirty="0">
              <a:solidFill>
                <a:prstClr val="white"/>
              </a:solidFill>
              <a:latin typeface="Arial" pitchFamily="34" charset="0"/>
              <a:ea typeface="맑은 고딕"/>
              <a:cs typeface="Arial" pitchFamily="34" charset="0"/>
            </a:endParaRPr>
          </a:p>
        </p:txBody>
      </p:sp>
      <p:sp>
        <p:nvSpPr>
          <p:cNvPr id="11" name="모서리가 둥근 직사각형 10"/>
          <p:cNvSpPr/>
          <p:nvPr/>
        </p:nvSpPr>
        <p:spPr>
          <a:xfrm>
            <a:off x="4638675" y="909638"/>
            <a:ext cx="2160588" cy="287337"/>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Lưu</a:t>
            </a:r>
            <a:r>
              <a:rPr kumimoji="0" lang="en-US" altLang="ko-KR" sz="1400" b="1" kern="0" dirty="0">
                <a:solidFill>
                  <a:prstClr val="white"/>
                </a:solidFill>
                <a:latin typeface="Arial" pitchFamily="34" charset="0"/>
                <a:ea typeface="맑은 고딕"/>
                <a:cs typeface="Arial" pitchFamily="34" charset="0"/>
              </a:rPr>
              <a:t> ý</a:t>
            </a:r>
            <a:endParaRPr kumimoji="0" lang="ko-KR" altLang="en-US" sz="1400" b="1" kern="0" dirty="0">
              <a:solidFill>
                <a:prstClr val="white"/>
              </a:solidFill>
              <a:latin typeface="Arial" pitchFamily="34" charset="0"/>
              <a:ea typeface="맑은 고딕"/>
              <a:cs typeface="Arial" pitchFamily="34" charset="0"/>
            </a:endParaRPr>
          </a:p>
        </p:txBody>
      </p:sp>
      <p:sp>
        <p:nvSpPr>
          <p:cNvPr id="118795" name="TextBox 1"/>
          <p:cNvSpPr txBox="1">
            <a:spLocks noChangeArrowheads="1"/>
          </p:cNvSpPr>
          <p:nvPr/>
        </p:nvSpPr>
        <p:spPr bwMode="auto">
          <a:xfrm>
            <a:off x="4279379" y="2232160"/>
            <a:ext cx="30123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200" dirty="0" err="1">
                <a:latin typeface="Arial" pitchFamily="34" charset="0"/>
                <a:ea typeface="맑은 고딕" pitchFamily="50" charset="-127"/>
                <a:cs typeface="Arial" pitchFamily="34" charset="0"/>
              </a:rPr>
              <a:t>Khoảng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r>
              <a:rPr lang="en-US" altLang="ko-KR" sz="1200" dirty="0">
                <a:latin typeface="Arial" pitchFamily="34" charset="0"/>
                <a:ea typeface="맑은 고딕" pitchFamily="50" charset="-127"/>
                <a:cs typeface="Arial" pitchFamily="34" charset="0"/>
              </a:rPr>
              <a:t>: Range = MAX – MIN</a:t>
            </a:r>
            <a:endParaRPr lang="ko-KR" altLang="en-US" sz="1200" dirty="0">
              <a:latin typeface="Arial" pitchFamily="34" charset="0"/>
              <a:ea typeface="맑은 고딕" pitchFamily="50" charset="-127"/>
              <a:cs typeface="Arial" pitchFamily="34" charset="0"/>
            </a:endParaRPr>
          </a:p>
        </p:txBody>
      </p:sp>
      <p:sp>
        <p:nvSpPr>
          <p:cNvPr id="118796" name="타원 2"/>
          <p:cNvSpPr>
            <a:spLocks noChangeArrowheads="1"/>
          </p:cNvSpPr>
          <p:nvPr/>
        </p:nvSpPr>
        <p:spPr bwMode="auto">
          <a:xfrm>
            <a:off x="552176" y="4581128"/>
            <a:ext cx="720725" cy="719137"/>
          </a:xfrm>
          <a:prstGeom prst="ellipse">
            <a:avLst/>
          </a:prstGeom>
          <a:solidFill>
            <a:srgbClr val="EAEAEA"/>
          </a:solidFill>
          <a:ln>
            <a:noFill/>
          </a:ln>
          <a:extLst>
            <a:ext uri="{91240B29-F687-4F45-9708-019B960494DF}">
              <a14:hiddenLine xmlns:a14="http://schemas.microsoft.com/office/drawing/2010/main" w="9525" algn="ctr">
                <a:solidFill>
                  <a:srgbClr val="000000"/>
                </a:solidFill>
                <a:prstDash val="sysDot"/>
                <a:round/>
                <a:headEnd/>
                <a:tailEnd/>
              </a14:hiddenLine>
            </a:ext>
          </a:extLst>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cs typeface="Arial" pitchFamily="34" charset="0"/>
            </a:endParaRPr>
          </a:p>
        </p:txBody>
      </p:sp>
      <p:sp>
        <p:nvSpPr>
          <p:cNvPr id="118797" name="TextBox 3"/>
          <p:cNvSpPr txBox="1">
            <a:spLocks noChangeArrowheads="1"/>
          </p:cNvSpPr>
          <p:nvPr/>
        </p:nvSpPr>
        <p:spPr bwMode="auto">
          <a:xfrm>
            <a:off x="616638" y="4695527"/>
            <a:ext cx="6383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latin typeface="Arial" pitchFamily="34" charset="0"/>
                <a:ea typeface="맑은 고딕" pitchFamily="50" charset="-127"/>
                <a:cs typeface="Arial" pitchFamily="34" charset="0"/>
              </a:rPr>
              <a:t>Tham</a:t>
            </a:r>
            <a:r>
              <a:rPr lang="en-US" altLang="ko-KR" sz="1200" b="1" dirty="0">
                <a:latin typeface="Arial" pitchFamily="34" charset="0"/>
                <a:ea typeface="맑은 고딕" pitchFamily="50" charset="-127"/>
                <a:cs typeface="Arial" pitchFamily="34" charset="0"/>
              </a:rPr>
              <a:t> </a:t>
            </a:r>
          </a:p>
          <a:p>
            <a:pPr algn="ctr" eaLnBrk="1" hangingPunct="1"/>
            <a:r>
              <a:rPr lang="en-US" altLang="ko-KR" sz="1200" b="1" dirty="0" err="1">
                <a:latin typeface="Arial" pitchFamily="34" charset="0"/>
                <a:ea typeface="맑은 고딕" pitchFamily="50" charset="-127"/>
                <a:cs typeface="Arial" pitchFamily="34" charset="0"/>
              </a:rPr>
              <a:t>khảo</a:t>
            </a:r>
            <a:endParaRPr lang="ko-KR" altLang="en-US" sz="12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106</a:t>
            </a:fld>
            <a:endParaRPr lang="ko-KR" altLang="en-US" dirty="0">
              <a:latin typeface="Arial" pitchFamily="34" charset="0"/>
              <a:cs typeface="Arial" pitchFamily="34" charset="0"/>
            </a:endParaRPr>
          </a:p>
        </p:txBody>
      </p:sp>
      <p:sp>
        <p:nvSpPr>
          <p:cNvPr id="15"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6"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79202044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Text Box 18"/>
          <p:cNvSpPr txBox="1">
            <a:spLocks noChangeArrowheads="1"/>
          </p:cNvSpPr>
          <p:nvPr/>
        </p:nvSpPr>
        <p:spPr bwMode="auto">
          <a:xfrm>
            <a:off x="1090711" y="1772816"/>
            <a:ext cx="221567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4. </a:t>
            </a:r>
            <a:r>
              <a:rPr lang="en-US" altLang="ko-KR" sz="1200" b="1" dirty="0" err="1">
                <a:latin typeface="Arial" pitchFamily="34" charset="0"/>
                <a:ea typeface="맑은 고딕" pitchFamily="50" charset="-127"/>
                <a:cs typeface="Arial" pitchFamily="34" charset="0"/>
              </a:rPr>
              <a:t>Xác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định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rộng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lớp</a:t>
            </a:r>
            <a:endParaRPr lang="en-US" altLang="ko-KR" sz="1200" b="1" dirty="0">
              <a:latin typeface="Arial" pitchFamily="34" charset="0"/>
              <a:ea typeface="맑은 고딕" pitchFamily="50" charset="-127"/>
              <a:cs typeface="Arial" pitchFamily="34" charset="0"/>
            </a:endParaRPr>
          </a:p>
        </p:txBody>
      </p:sp>
      <p:graphicFrame>
        <p:nvGraphicFramePr>
          <p:cNvPr id="119811" name="Object 19"/>
          <p:cNvGraphicFramePr>
            <a:graphicFrameLocks noChangeAspect="1"/>
          </p:cNvGraphicFramePr>
          <p:nvPr>
            <p:extLst>
              <p:ext uri="{D42A27DB-BD31-4B8C-83A1-F6EECF244321}">
                <p14:modId xmlns:p14="http://schemas.microsoft.com/office/powerpoint/2010/main" val="2192097639"/>
              </p:ext>
            </p:extLst>
          </p:nvPr>
        </p:nvGraphicFramePr>
        <p:xfrm>
          <a:off x="1311374" y="2310979"/>
          <a:ext cx="3024187" cy="612775"/>
        </p:xfrm>
        <a:graphic>
          <a:graphicData uri="http://schemas.openxmlformats.org/presentationml/2006/ole">
            <mc:AlternateContent xmlns:mc="http://schemas.openxmlformats.org/markup-compatibility/2006">
              <mc:Choice xmlns:v="urn:schemas-microsoft-com:vml" Requires="v">
                <p:oleObj name="Flash Document" r:id="rId2" imgW="4123080" imgH="812880" progId="">
                  <p:embed/>
                </p:oleObj>
              </mc:Choice>
              <mc:Fallback>
                <p:oleObj name="Flash Document" r:id="rId2" imgW="4123080" imgH="812880" progId="">
                  <p:embed/>
                  <p:pic>
                    <p:nvPicPr>
                      <p:cNvPr id="119811" name="Object 1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1374" y="2310979"/>
                        <a:ext cx="3024187" cy="61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9812" name="Text Box 23"/>
          <p:cNvSpPr txBox="1">
            <a:spLocks noChangeArrowheads="1"/>
          </p:cNvSpPr>
          <p:nvPr/>
        </p:nvSpPr>
        <p:spPr bwMode="auto">
          <a:xfrm>
            <a:off x="1087536" y="3288879"/>
            <a:ext cx="18213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5. </a:t>
            </a:r>
            <a:r>
              <a:rPr lang="en-US" altLang="ko-KR" sz="1200" b="1" dirty="0" err="1">
                <a:latin typeface="Arial" pitchFamily="34" charset="0"/>
                <a:ea typeface="맑은 고딕" pitchFamily="50" charset="-127"/>
                <a:cs typeface="Arial" pitchFamily="34" charset="0"/>
              </a:rPr>
              <a:t>Tìm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độ</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lớp</a:t>
            </a:r>
            <a:endParaRPr lang="en-US" altLang="ko-KR" sz="1200" b="1" dirty="0">
              <a:latin typeface="Arial" pitchFamily="34" charset="0"/>
              <a:ea typeface="맑은 고딕" pitchFamily="50" charset="-127"/>
              <a:cs typeface="Arial" pitchFamily="34" charset="0"/>
            </a:endParaRPr>
          </a:p>
        </p:txBody>
      </p:sp>
      <p:sp>
        <p:nvSpPr>
          <p:cNvPr id="119813" name="Text Box 30"/>
          <p:cNvSpPr txBox="1">
            <a:spLocks noChangeArrowheads="1"/>
          </p:cNvSpPr>
          <p:nvPr/>
        </p:nvSpPr>
        <p:spPr bwMode="auto">
          <a:xfrm>
            <a:off x="1087536" y="4363616"/>
            <a:ext cx="23695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6. </a:t>
            </a:r>
            <a:r>
              <a:rPr lang="en-US" altLang="ko-KR" sz="1200" b="1" dirty="0" err="1">
                <a:latin typeface="Arial" pitchFamily="34" charset="0"/>
                <a:ea typeface="맑은 고딕" pitchFamily="50" charset="-127"/>
                <a:cs typeface="Arial" pitchFamily="34" charset="0"/>
              </a:rPr>
              <a:t>Tìm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trung</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điểm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của</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mỗi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cột</a:t>
            </a:r>
            <a:endParaRPr lang="en-US" altLang="ko-KR" sz="1200" b="1" dirty="0">
              <a:latin typeface="Arial" pitchFamily="34" charset="0"/>
              <a:ea typeface="맑은 고딕" pitchFamily="50" charset="-127"/>
              <a:cs typeface="Arial" pitchFamily="34" charset="0"/>
            </a:endParaRPr>
          </a:p>
        </p:txBody>
      </p:sp>
      <p:sp>
        <p:nvSpPr>
          <p:cNvPr id="3083" name="Text Box 18"/>
          <p:cNvSpPr txBox="1">
            <a:spLocks noChangeArrowheads="1"/>
          </p:cNvSpPr>
          <p:nvPr/>
        </p:nvSpPr>
        <p:spPr bwMode="auto">
          <a:xfrm>
            <a:off x="4583210" y="3288879"/>
            <a:ext cx="5122317" cy="553998"/>
          </a:xfrm>
          <a:prstGeom prst="rect">
            <a:avLst/>
          </a:prstGeom>
          <a:noFill/>
          <a:ln>
            <a:noFill/>
          </a:ln>
        </p:spPr>
        <p:txBody>
          <a:bodyPr wrap="squar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defRPr/>
            </a:pPr>
            <a:r>
              <a:rPr lang="en-US" altLang="en-US" sz="1000" dirty="0" err="1">
                <a:latin typeface="Arial" pitchFamily="34" charset="0"/>
                <a:ea typeface="맑은 고딕" pitchFamily="50" charset="-127"/>
                <a:cs typeface="Arial" pitchFamily="34" charset="0"/>
              </a:rPr>
              <a:t>Biên</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độ</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dưới</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của</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lớp</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đầu</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tiên</a:t>
            </a:r>
            <a:r>
              <a:rPr lang="en-US" altLang="en-US" sz="1000" dirty="0">
                <a:latin typeface="Arial" pitchFamily="34" charset="0"/>
                <a:ea typeface="맑은 고딕" pitchFamily="50" charset="-127"/>
                <a:cs typeface="Arial" pitchFamily="34" charset="0"/>
              </a:rPr>
              <a:t> (BĐD1/</a:t>
            </a:r>
            <a:r>
              <a:rPr lang="en-US" altLang="en-US" sz="1000" dirty="0" err="1">
                <a:latin typeface="Arial" pitchFamily="34" charset="0"/>
                <a:ea typeface="맑은 고딕" pitchFamily="50" charset="-127"/>
                <a:cs typeface="Arial" pitchFamily="34" charset="0"/>
              </a:rPr>
              <a:t>Xlow</a:t>
            </a:r>
            <a:r>
              <a:rPr lang="en-US" altLang="en-US" sz="1000" dirty="0">
                <a:latin typeface="Arial" pitchFamily="34" charset="0"/>
                <a:ea typeface="맑은 고딕" pitchFamily="50" charset="-127"/>
                <a:cs typeface="Arial" pitchFamily="34" charset="0"/>
              </a:rPr>
              <a:t> = </a:t>
            </a:r>
            <a:r>
              <a:rPr lang="en-US" altLang="en-US" sz="1000" dirty="0" err="1">
                <a:latin typeface="Arial" pitchFamily="34" charset="0"/>
                <a:ea typeface="맑은 고딕" pitchFamily="50" charset="-127"/>
                <a:cs typeface="Arial" pitchFamily="34" charset="0"/>
              </a:rPr>
              <a:t>Xmin</a:t>
            </a:r>
            <a:r>
              <a:rPr lang="en-US" altLang="en-US" sz="1000" dirty="0">
                <a:latin typeface="Arial" pitchFamily="34" charset="0"/>
                <a:ea typeface="맑은 고딕" pitchFamily="50" charset="-127"/>
                <a:cs typeface="Arial" pitchFamily="34" charset="0"/>
              </a:rPr>
              <a:t> – h/2)</a:t>
            </a:r>
          </a:p>
          <a:p>
            <a:pPr eaLnBrk="1" hangingPunct="1">
              <a:buFontTx/>
              <a:buChar char="-"/>
              <a:defRPr/>
            </a:pPr>
            <a:r>
              <a:rPr lang="en-US" altLang="en-US" sz="1000" dirty="0" err="1">
                <a:latin typeface="Arial" pitchFamily="34" charset="0"/>
                <a:ea typeface="맑은 고딕" pitchFamily="50" charset="-127"/>
                <a:cs typeface="Arial" pitchFamily="34" charset="0"/>
              </a:rPr>
              <a:t>Biên</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độ</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trên</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của</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lớp</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đầu</a:t>
            </a:r>
            <a:r>
              <a:rPr lang="en-US" altLang="en-US" sz="1000" dirty="0">
                <a:latin typeface="Arial" pitchFamily="34" charset="0"/>
                <a:ea typeface="맑은 고딕" pitchFamily="50" charset="-127"/>
                <a:cs typeface="Arial" pitchFamily="34" charset="0"/>
              </a:rPr>
              <a:t> </a:t>
            </a:r>
            <a:r>
              <a:rPr lang="en-US" altLang="en-US" sz="1000" dirty="0" err="1">
                <a:latin typeface="Arial" pitchFamily="34" charset="0"/>
                <a:ea typeface="맑은 고딕" pitchFamily="50" charset="-127"/>
                <a:cs typeface="Arial" pitchFamily="34" charset="0"/>
              </a:rPr>
              <a:t>tiên</a:t>
            </a:r>
            <a:r>
              <a:rPr lang="en-US" altLang="en-US" sz="1000" dirty="0">
                <a:latin typeface="Arial" pitchFamily="34" charset="0"/>
                <a:ea typeface="맑은 고딕" pitchFamily="50" charset="-127"/>
                <a:cs typeface="Arial" pitchFamily="34" charset="0"/>
              </a:rPr>
              <a:t> (BĐT1 = BĐD1 + h)</a:t>
            </a:r>
          </a:p>
          <a:p>
            <a:pPr eaLnBrk="1" hangingPunct="1">
              <a:buFontTx/>
              <a:buChar char="-"/>
              <a:defRPr/>
            </a:pPr>
            <a:r>
              <a:rPr lang="en-US" altLang="en-US" sz="1000" dirty="0">
                <a:latin typeface="Arial" pitchFamily="34" charset="0"/>
                <a:ea typeface="맑은 고딕" pitchFamily="50" charset="-127"/>
                <a:cs typeface="Arial" pitchFamily="34" charset="0"/>
              </a:rPr>
              <a:t>BĐT1 = BĐD2…</a:t>
            </a:r>
          </a:p>
        </p:txBody>
      </p:sp>
      <p:sp>
        <p:nvSpPr>
          <p:cNvPr id="119817" name="Text Box 18"/>
          <p:cNvSpPr txBox="1">
            <a:spLocks noChangeArrowheads="1"/>
          </p:cNvSpPr>
          <p:nvPr/>
        </p:nvSpPr>
        <p:spPr bwMode="auto">
          <a:xfrm>
            <a:off x="1111349" y="5516141"/>
            <a:ext cx="15440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7. </a:t>
            </a:r>
            <a:r>
              <a:rPr lang="en-US" altLang="ko-KR" sz="1200" b="1" dirty="0" err="1">
                <a:latin typeface="Arial" pitchFamily="34" charset="0"/>
                <a:ea typeface="맑은 고딕" pitchFamily="50" charset="-127"/>
                <a:cs typeface="Arial" pitchFamily="34" charset="0"/>
              </a:rPr>
              <a:t>Đếm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số</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tần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suất</a:t>
            </a:r>
            <a:endParaRPr lang="en-US" altLang="ko-KR" sz="1200" b="1" dirty="0">
              <a:latin typeface="Arial" pitchFamily="34" charset="0"/>
              <a:ea typeface="맑은 고딕" pitchFamily="50" charset="-127"/>
              <a:cs typeface="Arial" pitchFamily="34" charset="0"/>
            </a:endParaRPr>
          </a:p>
        </p:txBody>
      </p:sp>
      <p:sp>
        <p:nvSpPr>
          <p:cNvPr id="18" name="Text Box 18"/>
          <p:cNvSpPr txBox="1">
            <a:spLocks noChangeArrowheads="1"/>
          </p:cNvSpPr>
          <p:nvPr/>
        </p:nvSpPr>
        <p:spPr bwMode="auto">
          <a:xfrm>
            <a:off x="4580036" y="4379005"/>
            <a:ext cx="2818400" cy="246221"/>
          </a:xfrm>
          <a:prstGeom prst="rect">
            <a:avLst/>
          </a:prstGeom>
          <a:noFill/>
          <a:ln>
            <a:noFill/>
          </a:ln>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defRPr/>
            </a:pPr>
            <a:r>
              <a:rPr lang="en-US" altLang="ko-KR" sz="1000" dirty="0" err="1">
                <a:latin typeface="Arial" pitchFamily="34" charset="0"/>
                <a:ea typeface="맑은 고딕" pitchFamily="50" charset="-127"/>
                <a:cs typeface="Arial" pitchFamily="34" charset="0"/>
              </a:rPr>
              <a:t>Trung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điểm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của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mỗi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cột</a:t>
            </a:r>
            <a:r>
              <a:rPr lang="en-US" altLang="ko-KR" sz="1000" dirty="0">
                <a:latin typeface="Arial" pitchFamily="34" charset="0"/>
                <a:ea typeface="맑은 고딕" pitchFamily="50" charset="-127"/>
                <a:cs typeface="Arial" pitchFamily="34" charset="0"/>
              </a:rPr>
              <a:t> = (BĐD + BĐT)/2</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107</a:t>
            </a:fld>
            <a:endParaRPr lang="ko-KR" altLang="en-US" dirty="0">
              <a:latin typeface="Arial" pitchFamily="34" charset="0"/>
              <a:cs typeface="Arial" pitchFamily="34" charset="0"/>
            </a:endParaRPr>
          </a:p>
        </p:txBody>
      </p:sp>
      <p:sp>
        <p:nvSpPr>
          <p:cNvPr id="16"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7"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
        <p:nvSpPr>
          <p:cNvPr id="21" name="모서리가 둥근 직사각형 9"/>
          <p:cNvSpPr/>
          <p:nvPr/>
        </p:nvSpPr>
        <p:spPr>
          <a:xfrm>
            <a:off x="920750" y="909638"/>
            <a:ext cx="2376488" cy="287337"/>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Các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bước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xây</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dựng</a:t>
            </a:r>
            <a:endParaRPr kumimoji="0" lang="ko-KR" altLang="en-US" sz="1400" b="1" kern="0" dirty="0">
              <a:solidFill>
                <a:prstClr val="white"/>
              </a:solidFill>
              <a:latin typeface="Arial" pitchFamily="34" charset="0"/>
              <a:ea typeface="맑은 고딕"/>
              <a:cs typeface="Arial" pitchFamily="34" charset="0"/>
            </a:endParaRPr>
          </a:p>
        </p:txBody>
      </p:sp>
      <p:sp>
        <p:nvSpPr>
          <p:cNvPr id="22" name="모서리가 둥근 직사각형 10"/>
          <p:cNvSpPr/>
          <p:nvPr/>
        </p:nvSpPr>
        <p:spPr>
          <a:xfrm>
            <a:off x="4638675" y="909638"/>
            <a:ext cx="2160588" cy="287337"/>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Lưu</a:t>
            </a:r>
            <a:r>
              <a:rPr kumimoji="0" lang="en-US" altLang="ko-KR" sz="1400" b="1" kern="0" dirty="0">
                <a:solidFill>
                  <a:prstClr val="white"/>
                </a:solidFill>
                <a:latin typeface="Arial" pitchFamily="34" charset="0"/>
                <a:ea typeface="맑은 고딕"/>
                <a:cs typeface="Arial" pitchFamily="34" charset="0"/>
              </a:rPr>
              <a:t> ý</a:t>
            </a:r>
            <a:endParaRPr kumimoji="0" lang="ko-KR" altLang="en-US" sz="1400" b="1" kern="0" dirty="0">
              <a:solidFill>
                <a:prstClr val="white"/>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32166126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Text Box 17"/>
          <p:cNvSpPr txBox="1">
            <a:spLocks noChangeArrowheads="1"/>
          </p:cNvSpPr>
          <p:nvPr/>
        </p:nvSpPr>
        <p:spPr bwMode="auto">
          <a:xfrm>
            <a:off x="735585" y="1904625"/>
            <a:ext cx="1136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cs typeface="Arial" pitchFamily="34" charset="0"/>
              </a:rPr>
              <a:t>8. </a:t>
            </a:r>
            <a:r>
              <a:rPr lang="en-US" altLang="ko-KR" sz="1200" b="1" dirty="0" err="1">
                <a:latin typeface="Arial" pitchFamily="34" charset="0"/>
                <a:ea typeface="맑은 고딕" pitchFamily="50" charset="-127"/>
                <a:cs typeface="Arial" pitchFamily="34" charset="0"/>
              </a:rPr>
              <a:t>Vẽ</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biểu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đồ</a:t>
            </a:r>
            <a:endParaRPr lang="en-US" altLang="ko-KR" sz="1200" b="1" dirty="0">
              <a:latin typeface="Arial" pitchFamily="34" charset="0"/>
              <a:ea typeface="맑은 고딕" pitchFamily="50" charset="-127"/>
              <a:cs typeface="Arial" pitchFamily="34" charset="0"/>
            </a:endParaRPr>
          </a:p>
        </p:txBody>
      </p:sp>
      <p:sp>
        <p:nvSpPr>
          <p:cNvPr id="120835" name="Text Box 18"/>
          <p:cNvSpPr txBox="1">
            <a:spLocks noChangeArrowheads="1"/>
          </p:cNvSpPr>
          <p:nvPr/>
        </p:nvSpPr>
        <p:spPr bwMode="auto">
          <a:xfrm>
            <a:off x="848544" y="2355475"/>
            <a:ext cx="3960441" cy="208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171450" indent="-171450" algn="just" eaLnBrk="1" hangingPunct="1">
              <a:lnSpc>
                <a:spcPct val="120000"/>
              </a:lnSpc>
              <a:buFontTx/>
              <a:buAutoNum type="arabicParenR"/>
            </a:pPr>
            <a:r>
              <a:rPr lang="en-US" altLang="ko-KR" sz="1200" dirty="0" err="1">
                <a:latin typeface="Arial" pitchFamily="34" charset="0"/>
                <a:ea typeface="맑은 고딕" pitchFamily="50" charset="-127"/>
                <a:cs typeface="Arial" pitchFamily="34" charset="0"/>
              </a:rPr>
              <a:t>Vẽ</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trục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tọa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độ</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trục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hoành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diễn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lớp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trục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tung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diễn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tần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suất</a:t>
            </a:r>
            <a:endParaRPr lang="en-US" altLang="ko-KR" sz="1200" dirty="0">
              <a:latin typeface="Arial" pitchFamily="34" charset="0"/>
              <a:ea typeface="맑은 고딕" pitchFamily="50" charset="-127"/>
              <a:cs typeface="Arial" pitchFamily="34" charset="0"/>
            </a:endParaRPr>
          </a:p>
          <a:p>
            <a:pPr marL="171450" indent="-171450" algn="just" eaLnBrk="1" hangingPunct="1">
              <a:lnSpc>
                <a:spcPct val="120000"/>
              </a:lnSpc>
            </a:pPr>
            <a:endParaRPr lang="en-US" altLang="ko-KR" sz="1200" dirty="0">
              <a:latin typeface="Arial" pitchFamily="34" charset="0"/>
              <a:ea typeface="맑은 고딕" pitchFamily="50" charset="-127"/>
              <a:cs typeface="Arial" pitchFamily="34" charset="0"/>
            </a:endParaRPr>
          </a:p>
          <a:p>
            <a:pPr marL="171450" indent="-171450" algn="just" eaLnBrk="1" hangingPunct="1">
              <a:lnSpc>
                <a:spcPct val="120000"/>
              </a:lnSpc>
            </a:pPr>
            <a:r>
              <a:rPr lang="en-US" altLang="ko-KR" sz="1200" dirty="0">
                <a:latin typeface="Arial" pitchFamily="34" charset="0"/>
                <a:ea typeface="맑은 고딕" pitchFamily="50" charset="-127"/>
                <a:cs typeface="Arial" pitchFamily="34" charset="0"/>
              </a:rPr>
              <a:t>2) </a:t>
            </a:r>
            <a:r>
              <a:rPr lang="en-US" altLang="ko-KR" sz="1200" dirty="0" err="1">
                <a:latin typeface="Arial" pitchFamily="34" charset="0"/>
                <a:ea typeface="맑은 고딕" pitchFamily="50" charset="-127"/>
                <a:cs typeface="Arial" pitchFamily="34" charset="0"/>
              </a:rPr>
              <a:t>Vẽ</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cột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diễn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lớp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tần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suất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tương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ứng</a:t>
            </a:r>
            <a:endParaRPr lang="en-US" altLang="ko-KR" sz="1200" dirty="0">
              <a:latin typeface="Arial" pitchFamily="34" charset="0"/>
              <a:ea typeface="맑은 고딕" pitchFamily="50" charset="-127"/>
              <a:cs typeface="Arial" pitchFamily="34" charset="0"/>
            </a:endParaRPr>
          </a:p>
          <a:p>
            <a:pPr marL="171450" indent="-171450" algn="just" eaLnBrk="1" hangingPunct="1">
              <a:lnSpc>
                <a:spcPct val="120000"/>
              </a:lnSpc>
            </a:pPr>
            <a:endParaRPr lang="en-US" altLang="ko-KR" sz="1200" dirty="0">
              <a:latin typeface="Arial" pitchFamily="34" charset="0"/>
              <a:ea typeface="맑은 고딕" pitchFamily="50" charset="-127"/>
              <a:cs typeface="Arial" pitchFamily="34" charset="0"/>
            </a:endParaRPr>
          </a:p>
          <a:p>
            <a:pPr marL="171450" indent="-171450" algn="just" eaLnBrk="1" hangingPunct="1">
              <a:lnSpc>
                <a:spcPct val="120000"/>
              </a:lnSpc>
            </a:pPr>
            <a:r>
              <a:rPr lang="en-US" altLang="ko-KR" sz="1200" dirty="0">
                <a:latin typeface="Arial" pitchFamily="34" charset="0"/>
                <a:ea typeface="맑은 고딕" pitchFamily="50" charset="-127"/>
                <a:cs typeface="Arial" pitchFamily="34" charset="0"/>
              </a:rPr>
              <a:t>3) </a:t>
            </a:r>
            <a:r>
              <a:rPr lang="en-US" altLang="ko-KR" sz="1200" dirty="0" err="1">
                <a:latin typeface="Arial" pitchFamily="34" charset="0"/>
                <a:ea typeface="맑은 고딕" pitchFamily="50" charset="-127"/>
                <a:cs typeface="Arial" pitchFamily="34" charset="0"/>
              </a:rPr>
              <a:t>Đánh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dấu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giá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trị</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tiêu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chuẩn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giá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trị</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nếu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endParaRPr lang="en-US" altLang="ko-KR" sz="1200" dirty="0">
              <a:latin typeface="Arial" pitchFamily="34" charset="0"/>
              <a:ea typeface="맑은 고딕" pitchFamily="50" charset="-127"/>
              <a:cs typeface="Arial" pitchFamily="34" charset="0"/>
            </a:endParaRPr>
          </a:p>
          <a:p>
            <a:pPr marL="171450" indent="-171450" algn="just" eaLnBrk="1" hangingPunct="1">
              <a:lnSpc>
                <a:spcPct val="120000"/>
              </a:lnSpc>
            </a:pPr>
            <a:endParaRPr lang="en-US" altLang="ko-KR" sz="1200" dirty="0">
              <a:latin typeface="Arial" pitchFamily="34" charset="0"/>
              <a:ea typeface="맑은 고딕" pitchFamily="50" charset="-127"/>
              <a:cs typeface="Arial" pitchFamily="34" charset="0"/>
            </a:endParaRPr>
          </a:p>
          <a:p>
            <a:pPr marL="171450" indent="-171450" algn="just" eaLnBrk="1" hangingPunct="1">
              <a:lnSpc>
                <a:spcPct val="120000"/>
              </a:lnSpc>
            </a:pPr>
            <a:r>
              <a:rPr lang="en-US" altLang="ko-KR" sz="1200" dirty="0">
                <a:latin typeface="Arial" pitchFamily="34" charset="0"/>
                <a:ea typeface="맑은 고딕" pitchFamily="50" charset="-127"/>
                <a:cs typeface="Arial" pitchFamily="34" charset="0"/>
              </a:rPr>
              <a:t>4) </a:t>
            </a:r>
            <a:r>
              <a:rPr lang="en-US" altLang="ko-KR" sz="1200" dirty="0" err="1">
                <a:latin typeface="Arial" pitchFamily="34" charset="0"/>
                <a:ea typeface="맑은 고딕" pitchFamily="50" charset="-127"/>
                <a:cs typeface="Arial" pitchFamily="34" charset="0"/>
              </a:rPr>
              <a:t>Ghi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lại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thông</a:t>
            </a:r>
            <a:r>
              <a:rPr lang="en-US" altLang="ko-KR" sz="1200" dirty="0">
                <a:latin typeface="Arial" pitchFamily="34" charset="0"/>
                <a:ea typeface="맑은 고딕" pitchFamily="50" charset="-127"/>
                <a:cs typeface="Arial" pitchFamily="34" charset="0"/>
              </a:rPr>
              <a:t> tin </a:t>
            </a:r>
            <a:r>
              <a:rPr lang="en-US" altLang="ko-KR" sz="1200" dirty="0" err="1">
                <a:latin typeface="Arial" pitchFamily="34" charset="0"/>
                <a:ea typeface="맑은 고딕" pitchFamily="50" charset="-127"/>
                <a:cs typeface="Arial" pitchFamily="34" charset="0"/>
              </a:rPr>
              <a:t>cần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thiết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phẩm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thời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gian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v.v</a:t>
            </a:r>
            <a:r>
              <a:rPr lang="en-US" altLang="ko-KR" sz="1200" dirty="0">
                <a:latin typeface="Arial" pitchFamily="34" charset="0"/>
                <a:ea typeface="맑은 고딕" pitchFamily="50" charset="-127"/>
                <a:cs typeface="Arial" pitchFamily="34" charset="0"/>
              </a:rPr>
              <a:t>…)</a:t>
            </a:r>
          </a:p>
        </p:txBody>
      </p:sp>
      <p:graphicFrame>
        <p:nvGraphicFramePr>
          <p:cNvPr id="120836" name="Object 19"/>
          <p:cNvGraphicFramePr>
            <a:graphicFrameLocks noChangeAspect="1"/>
          </p:cNvGraphicFramePr>
          <p:nvPr/>
        </p:nvGraphicFramePr>
        <p:xfrm>
          <a:off x="4865688" y="1662113"/>
          <a:ext cx="4321175" cy="3709987"/>
        </p:xfrm>
        <a:graphic>
          <a:graphicData uri="http://schemas.openxmlformats.org/presentationml/2006/ole">
            <mc:AlternateContent xmlns:mc="http://schemas.openxmlformats.org/markup-compatibility/2006">
              <mc:Choice xmlns:v="urn:schemas-microsoft-com:vml" Requires="v">
                <p:oleObj name="Flash Document" r:id="rId2" imgW="5267160" imgH="5120640" progId="">
                  <p:embed/>
                </p:oleObj>
              </mc:Choice>
              <mc:Fallback>
                <p:oleObj name="Flash Document" r:id="rId2" imgW="5267160" imgH="5120640" progId="">
                  <p:embed/>
                  <p:pic>
                    <p:nvPicPr>
                      <p:cNvPr id="120836" name="Object 1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5688" y="1662113"/>
                        <a:ext cx="4321175" cy="3709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 name="Group 20"/>
          <p:cNvGrpSpPr>
            <a:grpSpLocks/>
          </p:cNvGrpSpPr>
          <p:nvPr/>
        </p:nvGrpSpPr>
        <p:grpSpPr bwMode="auto">
          <a:xfrm>
            <a:off x="5946775" y="1914525"/>
            <a:ext cx="2663825" cy="3168650"/>
            <a:chOff x="3334" y="1706"/>
            <a:chExt cx="1678" cy="1996"/>
          </a:xfrm>
        </p:grpSpPr>
        <p:sp>
          <p:nvSpPr>
            <p:cNvPr id="120848" name="Line 21"/>
            <p:cNvSpPr>
              <a:spLocks noChangeShapeType="1"/>
            </p:cNvSpPr>
            <p:nvPr/>
          </p:nvSpPr>
          <p:spPr bwMode="auto">
            <a:xfrm>
              <a:off x="3334" y="1706"/>
              <a:ext cx="0" cy="1996"/>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20849" name="Line 22"/>
            <p:cNvSpPr>
              <a:spLocks noChangeShapeType="1"/>
            </p:cNvSpPr>
            <p:nvPr/>
          </p:nvSpPr>
          <p:spPr bwMode="auto">
            <a:xfrm>
              <a:off x="5012" y="1706"/>
              <a:ext cx="0" cy="1996"/>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grpSp>
      <p:sp>
        <p:nvSpPr>
          <p:cNvPr id="120838" name="Text Box 23"/>
          <p:cNvSpPr txBox="1">
            <a:spLocks noChangeArrowheads="1"/>
          </p:cNvSpPr>
          <p:nvPr/>
        </p:nvSpPr>
        <p:spPr bwMode="auto">
          <a:xfrm>
            <a:off x="6056717" y="1802885"/>
            <a:ext cx="8146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solidFill>
                  <a:srgbClr val="CC0099"/>
                </a:solidFill>
                <a:latin typeface="Arial" pitchFamily="34" charset="0"/>
                <a:ea typeface="HY견고딕" pitchFamily="18" charset="-127"/>
                <a:cs typeface="Arial" pitchFamily="34" charset="0"/>
              </a:rPr>
              <a:t>S</a:t>
            </a:r>
            <a:r>
              <a:rPr lang="en-US" altLang="ko-KR" baseline="-4000" dirty="0">
                <a:solidFill>
                  <a:srgbClr val="CC0099"/>
                </a:solidFill>
                <a:latin typeface="Arial" pitchFamily="34" charset="0"/>
                <a:ea typeface="HY견고딕" pitchFamily="18" charset="-127"/>
                <a:cs typeface="Arial" pitchFamily="34" charset="0"/>
              </a:rPr>
              <a:t>L</a:t>
            </a:r>
            <a:r>
              <a:rPr lang="en-US" altLang="ko-KR" dirty="0">
                <a:solidFill>
                  <a:srgbClr val="CC0099"/>
                </a:solidFill>
                <a:latin typeface="Arial" pitchFamily="34" charset="0"/>
                <a:ea typeface="HY견고딕" pitchFamily="18" charset="-127"/>
                <a:cs typeface="Arial" pitchFamily="34" charset="0"/>
              </a:rPr>
              <a:t>=44</a:t>
            </a:r>
          </a:p>
        </p:txBody>
      </p:sp>
      <p:sp>
        <p:nvSpPr>
          <p:cNvPr id="120839" name="Text Box 24"/>
          <p:cNvSpPr txBox="1">
            <a:spLocks noChangeArrowheads="1"/>
          </p:cNvSpPr>
          <p:nvPr/>
        </p:nvSpPr>
        <p:spPr bwMode="auto">
          <a:xfrm>
            <a:off x="7715250" y="1836738"/>
            <a:ext cx="8146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solidFill>
                  <a:srgbClr val="CC0099"/>
                </a:solidFill>
                <a:latin typeface="Arial" pitchFamily="34" charset="0"/>
                <a:ea typeface="HY견고딕" pitchFamily="18" charset="-127"/>
                <a:cs typeface="Arial" pitchFamily="34" charset="0"/>
              </a:rPr>
              <a:t>S</a:t>
            </a:r>
            <a:r>
              <a:rPr lang="en-US" altLang="ko-KR" baseline="-2000" dirty="0">
                <a:solidFill>
                  <a:srgbClr val="CC0099"/>
                </a:solidFill>
                <a:latin typeface="Arial" pitchFamily="34" charset="0"/>
                <a:ea typeface="HY견고딕" pitchFamily="18" charset="-127"/>
                <a:cs typeface="Arial" pitchFamily="34" charset="0"/>
              </a:rPr>
              <a:t>u</a:t>
            </a:r>
            <a:r>
              <a:rPr lang="en-US" altLang="ko-KR" dirty="0">
                <a:solidFill>
                  <a:srgbClr val="CC0099"/>
                </a:solidFill>
                <a:latin typeface="Arial" pitchFamily="34" charset="0"/>
                <a:ea typeface="HY견고딕" pitchFamily="18" charset="-127"/>
                <a:cs typeface="Arial" pitchFamily="34" charset="0"/>
              </a:rPr>
              <a:t>=50</a:t>
            </a:r>
          </a:p>
        </p:txBody>
      </p:sp>
      <p:graphicFrame>
        <p:nvGraphicFramePr>
          <p:cNvPr id="120841" name="Object 27"/>
          <p:cNvGraphicFramePr>
            <a:graphicFrameLocks noChangeAspect="1"/>
          </p:cNvGraphicFramePr>
          <p:nvPr/>
        </p:nvGraphicFramePr>
        <p:xfrm>
          <a:off x="5513388" y="2276475"/>
          <a:ext cx="3529012" cy="2808288"/>
        </p:xfrm>
        <a:graphic>
          <a:graphicData uri="http://schemas.openxmlformats.org/presentationml/2006/ole">
            <mc:AlternateContent xmlns:mc="http://schemas.openxmlformats.org/markup-compatibility/2006">
              <mc:Choice xmlns:v="urn:schemas-microsoft-com:vml" Requires="v">
                <p:oleObj name="Flash Document" r:id="rId4" imgW="4292640" imgH="3898800" progId="">
                  <p:embed/>
                </p:oleObj>
              </mc:Choice>
              <mc:Fallback>
                <p:oleObj name="Flash Document" r:id="rId4" imgW="4292640" imgH="3898800" progId="">
                  <p:embed/>
                  <p:pic>
                    <p:nvPicPr>
                      <p:cNvPr id="120841" name="Object 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13388" y="2276475"/>
                        <a:ext cx="3529012" cy="280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 name="Group 28"/>
          <p:cNvGrpSpPr>
            <a:grpSpLocks/>
          </p:cNvGrpSpPr>
          <p:nvPr/>
        </p:nvGrpSpPr>
        <p:grpSpPr bwMode="auto">
          <a:xfrm>
            <a:off x="5513388" y="1627188"/>
            <a:ext cx="3744912" cy="3455987"/>
            <a:chOff x="3061" y="1525"/>
            <a:chExt cx="2359" cy="2177"/>
          </a:xfrm>
        </p:grpSpPr>
        <p:sp>
          <p:nvSpPr>
            <p:cNvPr id="120846" name="Line 29"/>
            <p:cNvSpPr>
              <a:spLocks noChangeShapeType="1"/>
            </p:cNvSpPr>
            <p:nvPr/>
          </p:nvSpPr>
          <p:spPr bwMode="auto">
            <a:xfrm>
              <a:off x="3061" y="3702"/>
              <a:ext cx="2359"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sp>
          <p:nvSpPr>
            <p:cNvPr id="120847" name="Line 30"/>
            <p:cNvSpPr>
              <a:spLocks noChangeShapeType="1"/>
            </p:cNvSpPr>
            <p:nvPr/>
          </p:nvSpPr>
          <p:spPr bwMode="auto">
            <a:xfrm flipV="1">
              <a:off x="3061" y="1525"/>
              <a:ext cx="0" cy="2177"/>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dirty="0">
                <a:latin typeface="Arial" pitchFamily="34" charset="0"/>
                <a:cs typeface="Arial" pitchFamily="34" charset="0"/>
              </a:endParaRPr>
            </a:p>
          </p:txBody>
        </p:sp>
      </p:gr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108</a:t>
            </a:fld>
            <a:endParaRPr lang="ko-KR" altLang="en-US" dirty="0">
              <a:latin typeface="Arial" pitchFamily="34" charset="0"/>
              <a:cs typeface="Arial" pitchFamily="34" charset="0"/>
            </a:endParaRPr>
          </a:p>
        </p:txBody>
      </p:sp>
      <p:sp>
        <p:nvSpPr>
          <p:cNvPr id="120840" name="Text Box 26"/>
          <p:cNvSpPr txBox="1">
            <a:spLocks noChangeArrowheads="1"/>
          </p:cNvSpPr>
          <p:nvPr/>
        </p:nvSpPr>
        <p:spPr bwMode="auto">
          <a:xfrm>
            <a:off x="7715250" y="2276475"/>
            <a:ext cx="1997301" cy="923330"/>
          </a:xfrm>
          <a:prstGeom prst="rect">
            <a:avLst/>
          </a:prstGeom>
          <a:solidFill>
            <a:srgbClr val="EAD5F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dirty="0">
                <a:solidFill>
                  <a:srgbClr val="000099"/>
                </a:solidFill>
                <a:latin typeface="Arial" pitchFamily="34" charset="0"/>
                <a:ea typeface="HY견고딕" pitchFamily="18" charset="-127"/>
                <a:cs typeface="Arial" pitchFamily="34" charset="0"/>
              </a:rPr>
              <a:t>Product Name</a:t>
            </a:r>
            <a:r>
              <a:rPr lang="ko-KR" altLang="en-US" sz="900" dirty="0">
                <a:solidFill>
                  <a:srgbClr val="000099"/>
                </a:solidFill>
                <a:latin typeface="Arial" pitchFamily="34" charset="0"/>
                <a:ea typeface="HY견고딕" pitchFamily="18" charset="-127"/>
                <a:cs typeface="Arial" pitchFamily="34" charset="0"/>
              </a:rPr>
              <a:t> </a:t>
            </a:r>
            <a:r>
              <a:rPr lang="en-US" altLang="ko-KR" sz="900" dirty="0">
                <a:solidFill>
                  <a:srgbClr val="000099"/>
                </a:solidFill>
                <a:latin typeface="Arial" pitchFamily="34" charset="0"/>
                <a:ea typeface="HY견고딕" pitchFamily="18" charset="-127"/>
                <a:cs typeface="Arial" pitchFamily="34" charset="0"/>
              </a:rPr>
              <a:t>: A</a:t>
            </a:r>
          </a:p>
          <a:p>
            <a:pPr eaLnBrk="1" hangingPunct="1"/>
            <a:r>
              <a:rPr lang="en-US" altLang="ko-KR" sz="900" dirty="0">
                <a:solidFill>
                  <a:srgbClr val="000099"/>
                </a:solidFill>
                <a:latin typeface="Arial" pitchFamily="34" charset="0"/>
                <a:ea typeface="HY견고딕" pitchFamily="18" charset="-127"/>
                <a:cs typeface="Arial" pitchFamily="34" charset="0"/>
              </a:rPr>
              <a:t>Process Name</a:t>
            </a:r>
            <a:r>
              <a:rPr lang="ko-KR" altLang="en-US" sz="900" dirty="0">
                <a:solidFill>
                  <a:srgbClr val="000099"/>
                </a:solidFill>
                <a:latin typeface="Arial" pitchFamily="34" charset="0"/>
                <a:ea typeface="HY견고딕" pitchFamily="18" charset="-127"/>
                <a:cs typeface="Arial" pitchFamily="34" charset="0"/>
              </a:rPr>
              <a:t> </a:t>
            </a:r>
            <a:r>
              <a:rPr lang="en-US" altLang="ko-KR" sz="900" dirty="0">
                <a:solidFill>
                  <a:srgbClr val="000099"/>
                </a:solidFill>
                <a:latin typeface="Arial" pitchFamily="34" charset="0"/>
                <a:ea typeface="HY견고딕" pitchFamily="18" charset="-127"/>
                <a:cs typeface="Arial" pitchFamily="34" charset="0"/>
              </a:rPr>
              <a:t>: Process X</a:t>
            </a:r>
            <a:endParaRPr lang="ko-KR" altLang="en-US" sz="900" dirty="0">
              <a:solidFill>
                <a:srgbClr val="000099"/>
              </a:solidFill>
              <a:latin typeface="Arial" pitchFamily="34" charset="0"/>
              <a:ea typeface="HY견고딕" pitchFamily="18" charset="-127"/>
              <a:cs typeface="Arial" pitchFamily="34" charset="0"/>
            </a:endParaRPr>
          </a:p>
          <a:p>
            <a:pPr eaLnBrk="1" hangingPunct="1"/>
            <a:r>
              <a:rPr lang="en-US" altLang="ko-KR" sz="900" dirty="0">
                <a:solidFill>
                  <a:srgbClr val="000099"/>
                </a:solidFill>
                <a:latin typeface="Arial" pitchFamily="34" charset="0"/>
                <a:ea typeface="HY견고딕" pitchFamily="18" charset="-127"/>
                <a:cs typeface="Arial" pitchFamily="34" charset="0"/>
              </a:rPr>
              <a:t>Standard: 47.0±3</a:t>
            </a:r>
          </a:p>
          <a:p>
            <a:pPr eaLnBrk="1" hangingPunct="1"/>
            <a:r>
              <a:rPr lang="en-US" altLang="ko-KR" sz="900" dirty="0">
                <a:solidFill>
                  <a:srgbClr val="000099"/>
                </a:solidFill>
                <a:latin typeface="Arial" pitchFamily="34" charset="0"/>
                <a:ea typeface="HY견고딕" pitchFamily="18" charset="-127"/>
                <a:cs typeface="Arial" pitchFamily="34" charset="0"/>
              </a:rPr>
              <a:t>Period: 2014.7.15</a:t>
            </a:r>
          </a:p>
          <a:p>
            <a:pPr eaLnBrk="1" hangingPunct="1"/>
            <a:r>
              <a:rPr lang="en-US" altLang="ko-KR" sz="900" dirty="0">
                <a:solidFill>
                  <a:srgbClr val="000099"/>
                </a:solidFill>
                <a:latin typeface="Arial" pitchFamily="34" charset="0"/>
                <a:ea typeface="HY견고딕" pitchFamily="18" charset="-127"/>
                <a:cs typeface="Arial" pitchFamily="34" charset="0"/>
              </a:rPr>
              <a:t>Date of Creation</a:t>
            </a:r>
            <a:r>
              <a:rPr lang="ko-KR" altLang="en-US" sz="900" dirty="0">
                <a:solidFill>
                  <a:srgbClr val="000099"/>
                </a:solidFill>
                <a:latin typeface="Arial" pitchFamily="34" charset="0"/>
                <a:ea typeface="HY견고딕" pitchFamily="18" charset="-127"/>
                <a:cs typeface="Arial" pitchFamily="34" charset="0"/>
              </a:rPr>
              <a:t> </a:t>
            </a:r>
            <a:r>
              <a:rPr lang="en-US" altLang="ko-KR" sz="900" dirty="0">
                <a:solidFill>
                  <a:srgbClr val="000099"/>
                </a:solidFill>
                <a:latin typeface="Arial" pitchFamily="34" charset="0"/>
                <a:ea typeface="HY견고딕" pitchFamily="18" charset="-127"/>
                <a:cs typeface="Arial" pitchFamily="34" charset="0"/>
              </a:rPr>
              <a:t>: 2014.7.17</a:t>
            </a:r>
          </a:p>
          <a:p>
            <a:pPr eaLnBrk="1" hangingPunct="1"/>
            <a:r>
              <a:rPr lang="en-US" altLang="ko-KR" sz="900" dirty="0">
                <a:solidFill>
                  <a:srgbClr val="000099"/>
                </a:solidFill>
                <a:latin typeface="Arial" pitchFamily="34" charset="0"/>
                <a:ea typeface="HY견고딕" pitchFamily="18" charset="-127"/>
                <a:cs typeface="Arial" pitchFamily="34" charset="0"/>
              </a:rPr>
              <a:t>Author</a:t>
            </a:r>
            <a:r>
              <a:rPr lang="ko-KR" altLang="en-US" sz="900" dirty="0">
                <a:solidFill>
                  <a:srgbClr val="000099"/>
                </a:solidFill>
                <a:latin typeface="Arial" pitchFamily="34" charset="0"/>
                <a:ea typeface="HY견고딕" pitchFamily="18" charset="-127"/>
                <a:cs typeface="Arial" pitchFamily="34" charset="0"/>
              </a:rPr>
              <a:t> </a:t>
            </a:r>
            <a:r>
              <a:rPr lang="en-US" altLang="ko-KR" sz="900" dirty="0">
                <a:solidFill>
                  <a:srgbClr val="000099"/>
                </a:solidFill>
                <a:latin typeface="Arial" pitchFamily="34" charset="0"/>
                <a:ea typeface="HY견고딕" pitchFamily="18" charset="-127"/>
                <a:cs typeface="Arial" pitchFamily="34" charset="0"/>
              </a:rPr>
              <a:t>: Hong Kil Dong</a:t>
            </a:r>
            <a:endParaRPr lang="ko-KR" altLang="en-US" sz="900" dirty="0">
              <a:solidFill>
                <a:srgbClr val="000099"/>
              </a:solidFill>
              <a:latin typeface="Arial" pitchFamily="34" charset="0"/>
              <a:ea typeface="HY견고딕" pitchFamily="18" charset="-127"/>
              <a:cs typeface="Arial" pitchFamily="34" charset="0"/>
            </a:endParaRPr>
          </a:p>
        </p:txBody>
      </p:sp>
      <p:sp>
        <p:nvSpPr>
          <p:cNvPr id="23" name="Text Box 4"/>
          <p:cNvSpPr txBox="1">
            <a:spLocks noChangeArrowheads="1"/>
          </p:cNvSpPr>
          <p:nvPr/>
        </p:nvSpPr>
        <p:spPr bwMode="auto">
          <a:xfrm>
            <a:off x="128588" y="1158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24" name="Text Box 4"/>
          <p:cNvSpPr txBox="1">
            <a:spLocks noChangeArrowheads="1"/>
          </p:cNvSpPr>
          <p:nvPr/>
        </p:nvSpPr>
        <p:spPr bwMode="auto">
          <a:xfrm>
            <a:off x="5529263" y="2190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
        <p:nvSpPr>
          <p:cNvPr id="25" name="모서리가 둥근 직사각형 9"/>
          <p:cNvSpPr/>
          <p:nvPr/>
        </p:nvSpPr>
        <p:spPr>
          <a:xfrm>
            <a:off x="920750" y="909638"/>
            <a:ext cx="2376488" cy="287337"/>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Các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bước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xây</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dựng</a:t>
            </a:r>
            <a:endParaRPr kumimoji="0" lang="ko-KR" altLang="en-US" sz="1400" b="1" kern="0" dirty="0">
              <a:solidFill>
                <a:prstClr val="white"/>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95108030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Text Box 4"/>
          <p:cNvSpPr txBox="1">
            <a:spLocks noChangeArrowheads="1"/>
          </p:cNvSpPr>
          <p:nvPr/>
        </p:nvSpPr>
        <p:spPr bwMode="auto">
          <a:xfrm>
            <a:off x="128588" y="1793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
        <p:nvSpPr>
          <p:cNvPr id="126979" name="TextBox 2"/>
          <p:cNvSpPr txBox="1">
            <a:spLocks noChangeArrowheads="1"/>
          </p:cNvSpPr>
          <p:nvPr/>
        </p:nvSpPr>
        <p:spPr bwMode="auto">
          <a:xfrm>
            <a:off x="1424608" y="2996952"/>
            <a:ext cx="68820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dirty="0" err="1">
                <a:latin typeface="Arial" pitchFamily="34" charset="0"/>
                <a:ea typeface="맑은 고딕" pitchFamily="50" charset="-127"/>
                <a:cs typeface="Arial" pitchFamily="34" charset="0"/>
              </a:rPr>
              <a:t>Hình</a:t>
            </a:r>
            <a:r>
              <a:rPr lang="en-US" altLang="ko-KR" sz="2400" dirty="0">
                <a:latin typeface="Arial" pitchFamily="34" charset="0"/>
                <a:ea typeface="맑은 고딕" pitchFamily="50" charset="-127"/>
                <a:cs typeface="Arial" pitchFamily="34" charset="0"/>
              </a:rPr>
              <a:t> </a:t>
            </a:r>
            <a:r>
              <a:rPr lang="en-US" altLang="ko-KR" sz="2400" dirty="0" err="1">
                <a:latin typeface="Arial" pitchFamily="34" charset="0"/>
                <a:ea typeface="맑은 고딕" pitchFamily="50" charset="-127"/>
                <a:cs typeface="Arial" pitchFamily="34" charset="0"/>
              </a:rPr>
              <a:t>dạng</a:t>
            </a:r>
            <a:r>
              <a:rPr lang="en-US" altLang="ko-KR" sz="2400" dirty="0">
                <a:latin typeface="Arial" pitchFamily="34" charset="0"/>
                <a:ea typeface="맑은 고딕" pitchFamily="50" charset="-127"/>
                <a:cs typeface="Arial" pitchFamily="34" charset="0"/>
              </a:rPr>
              <a:t> </a:t>
            </a:r>
            <a:r>
              <a:rPr lang="en-US" altLang="ko-KR" sz="2400" dirty="0" err="1">
                <a:latin typeface="Arial" pitchFamily="34" charset="0"/>
                <a:ea typeface="맑은 고딕" pitchFamily="50" charset="-127"/>
                <a:cs typeface="Arial" pitchFamily="34" charset="0"/>
              </a:rPr>
              <a:t>của</a:t>
            </a:r>
            <a:r>
              <a:rPr lang="en-US" altLang="ko-KR" sz="2400" dirty="0">
                <a:latin typeface="Arial" pitchFamily="34" charset="0"/>
                <a:ea typeface="맑은 고딕" pitchFamily="50" charset="-127"/>
                <a:cs typeface="Arial" pitchFamily="34" charset="0"/>
              </a:rPr>
              <a:t> </a:t>
            </a:r>
            <a:r>
              <a:rPr lang="en-US" altLang="ko-KR" sz="2400" dirty="0" err="1">
                <a:latin typeface="Arial" pitchFamily="34" charset="0"/>
                <a:ea typeface="맑은 고딕" pitchFamily="50" charset="-127"/>
                <a:cs typeface="Arial" pitchFamily="34" charset="0"/>
              </a:rPr>
              <a:t>biểu</a:t>
            </a:r>
            <a:r>
              <a:rPr lang="en-US" altLang="ko-KR" sz="2400" dirty="0">
                <a:latin typeface="Arial" pitchFamily="34" charset="0"/>
                <a:ea typeface="맑은 고딕" pitchFamily="50" charset="-127"/>
                <a:cs typeface="Arial" pitchFamily="34" charset="0"/>
              </a:rPr>
              <a:t> </a:t>
            </a:r>
            <a:r>
              <a:rPr lang="en-US" altLang="ko-KR" sz="2400" dirty="0" err="1">
                <a:latin typeface="Arial" pitchFamily="34" charset="0"/>
                <a:ea typeface="맑은 고딕" pitchFamily="50" charset="-127"/>
                <a:cs typeface="Arial" pitchFamily="34" charset="0"/>
              </a:rPr>
              <a:t>đồ</a:t>
            </a:r>
            <a:r>
              <a:rPr lang="en-US" altLang="ko-KR" sz="2400" dirty="0">
                <a:latin typeface="Arial" pitchFamily="34" charset="0"/>
                <a:ea typeface="맑은 고딕" pitchFamily="50" charset="-127"/>
                <a:cs typeface="Arial" pitchFamily="34" charset="0"/>
              </a:rPr>
              <a:t> histogram </a:t>
            </a:r>
            <a:r>
              <a:rPr lang="en-US" altLang="ko-KR" sz="2400" dirty="0" err="1">
                <a:latin typeface="Arial" pitchFamily="34" charset="0"/>
                <a:ea typeface="맑은 고딕" pitchFamily="50" charset="-127"/>
                <a:cs typeface="Arial" pitchFamily="34" charset="0"/>
              </a:rPr>
              <a:t>nói</a:t>
            </a:r>
            <a:r>
              <a:rPr lang="en-US" altLang="ko-KR" sz="2400" dirty="0">
                <a:latin typeface="Arial" pitchFamily="34" charset="0"/>
                <a:ea typeface="맑은 고딕" pitchFamily="50" charset="-127"/>
                <a:cs typeface="Arial" pitchFamily="34" charset="0"/>
              </a:rPr>
              <a:t> </a:t>
            </a:r>
            <a:r>
              <a:rPr lang="en-US" altLang="ko-KR" sz="2400" dirty="0" err="1">
                <a:latin typeface="Arial" pitchFamily="34" charset="0"/>
                <a:ea typeface="맑은 고딕" pitchFamily="50" charset="-127"/>
                <a:cs typeface="Arial" pitchFamily="34" charset="0"/>
              </a:rPr>
              <a:t>lên</a:t>
            </a:r>
            <a:r>
              <a:rPr lang="en-US" altLang="ko-KR" sz="2400" dirty="0">
                <a:latin typeface="Arial" pitchFamily="34" charset="0"/>
                <a:ea typeface="맑은 고딕" pitchFamily="50" charset="-127"/>
                <a:cs typeface="Arial" pitchFamily="34" charset="0"/>
              </a:rPr>
              <a:t> </a:t>
            </a:r>
            <a:r>
              <a:rPr lang="en-US" altLang="ko-KR" sz="2400" dirty="0" err="1">
                <a:latin typeface="Arial" pitchFamily="34" charset="0"/>
                <a:ea typeface="맑은 고딕" pitchFamily="50" charset="-127"/>
                <a:cs typeface="Arial" pitchFamily="34" charset="0"/>
              </a:rPr>
              <a:t>điều</a:t>
            </a:r>
            <a:r>
              <a:rPr lang="en-US" altLang="ko-KR" sz="2400" dirty="0">
                <a:latin typeface="Arial" pitchFamily="34" charset="0"/>
                <a:ea typeface="맑은 고딕" pitchFamily="50" charset="-127"/>
                <a:cs typeface="Arial" pitchFamily="34" charset="0"/>
              </a:rPr>
              <a:t> </a:t>
            </a:r>
            <a:r>
              <a:rPr lang="en-US" altLang="ko-KR" sz="2400" dirty="0" err="1">
                <a:latin typeface="Arial" pitchFamily="34" charset="0"/>
                <a:ea typeface="맑은 고딕" pitchFamily="50" charset="-127"/>
                <a:cs typeface="Arial" pitchFamily="34" charset="0"/>
              </a:rPr>
              <a:t>gì</a:t>
            </a:r>
            <a:r>
              <a:rPr lang="en-US" altLang="ko-KR" sz="2400" dirty="0">
                <a:latin typeface="Arial" pitchFamily="34" charset="0"/>
                <a:ea typeface="맑은 고딕" pitchFamily="50" charset="-127"/>
                <a:cs typeface="Arial" pitchFamily="34" charset="0"/>
              </a:rPr>
              <a:t>?</a:t>
            </a:r>
            <a:endParaRPr lang="ko-KR" altLang="en-US" sz="2400" dirty="0">
              <a:latin typeface="Arial" pitchFamily="34" charset="0"/>
              <a:ea typeface="맑은 고딕" pitchFamily="50" charset="-127"/>
              <a:cs typeface="Arial" pitchFamily="34" charset="0"/>
            </a:endParaRPr>
          </a:p>
        </p:txBody>
      </p:sp>
      <p:sp>
        <p:nvSpPr>
          <p:cNvPr id="126980"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109</a:t>
            </a:fld>
            <a:endParaRPr lang="ko-KR" altLang="en-US" dirty="0">
              <a:latin typeface="Arial" pitchFamily="34" charset="0"/>
              <a:cs typeface="Arial" pitchFamily="34" charset="0"/>
            </a:endParaRPr>
          </a:p>
        </p:txBody>
      </p:sp>
      <p:sp>
        <p:nvSpPr>
          <p:cNvPr id="6" name="TextBox 2"/>
          <p:cNvSpPr txBox="1">
            <a:spLocks noChangeArrowheads="1"/>
          </p:cNvSpPr>
          <p:nvPr/>
        </p:nvSpPr>
        <p:spPr bwMode="auto">
          <a:xfrm>
            <a:off x="1496616" y="1484784"/>
            <a:ext cx="22557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dirty="0" err="1">
                <a:latin typeface="Arial" pitchFamily="34" charset="0"/>
                <a:ea typeface="맑은 고딕" pitchFamily="50" charset="-127"/>
                <a:cs typeface="Arial" pitchFamily="34" charset="0"/>
              </a:rPr>
              <a:t>Ví</a:t>
            </a:r>
            <a:r>
              <a:rPr lang="en-US" altLang="ko-KR" sz="2400" dirty="0">
                <a:latin typeface="Arial" pitchFamily="34" charset="0"/>
                <a:ea typeface="맑은 고딕" pitchFamily="50" charset="-127"/>
                <a:cs typeface="Arial" pitchFamily="34" charset="0"/>
              </a:rPr>
              <a:t> </a:t>
            </a:r>
            <a:r>
              <a:rPr lang="en-US" altLang="ko-KR" sz="2400" dirty="0" err="1">
                <a:latin typeface="Arial" pitchFamily="34" charset="0"/>
                <a:ea typeface="맑은 고딕" pitchFamily="50" charset="-127"/>
                <a:cs typeface="Arial" pitchFamily="34" charset="0"/>
              </a:rPr>
              <a:t>dụ</a:t>
            </a:r>
            <a:r>
              <a:rPr lang="en-US" altLang="ko-KR" sz="2400" dirty="0">
                <a:latin typeface="Arial" pitchFamily="34" charset="0"/>
                <a:ea typeface="맑은 고딕" pitchFamily="50" charset="-127"/>
                <a:cs typeface="Arial" pitchFamily="34" charset="0"/>
              </a:rPr>
              <a:t> minh </a:t>
            </a:r>
            <a:r>
              <a:rPr lang="en-US" altLang="ko-KR" sz="2400" dirty="0" err="1">
                <a:latin typeface="Arial" pitchFamily="34" charset="0"/>
                <a:ea typeface="맑은 고딕" pitchFamily="50" charset="-127"/>
                <a:cs typeface="Arial" pitchFamily="34" charset="0"/>
              </a:rPr>
              <a:t>họa</a:t>
            </a:r>
            <a:endParaRPr lang="ko-KR" altLang="en-US" sz="2400" dirty="0">
              <a:latin typeface="Arial" pitchFamily="34" charset="0"/>
              <a:ea typeface="맑은 고딕" pitchFamily="50" charset="-127"/>
              <a:cs typeface="Arial" pitchFamily="34" charset="0"/>
            </a:endParaRPr>
          </a:p>
        </p:txBody>
      </p:sp>
      <p:sp>
        <p:nvSpPr>
          <p:cNvPr id="7" name="Isosceles Triangle 6">
            <a:hlinkClick r:id="rId2" action="ppaction://hlinkpres?slideindex=1&amp;slidetitle="/>
          </p:cNvPr>
          <p:cNvSpPr/>
          <p:nvPr/>
        </p:nvSpPr>
        <p:spPr>
          <a:xfrm rot="5400000">
            <a:off x="1064568" y="1556792"/>
            <a:ext cx="360040" cy="288032"/>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75278617"/>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 name="표 45"/>
          <p:cNvGraphicFramePr>
            <a:graphicFrameLocks noGrp="1"/>
          </p:cNvGraphicFramePr>
          <p:nvPr>
            <p:extLst>
              <p:ext uri="{D42A27DB-BD31-4B8C-83A1-F6EECF244321}">
                <p14:modId xmlns:p14="http://schemas.microsoft.com/office/powerpoint/2010/main" val="209073243"/>
              </p:ext>
            </p:extLst>
          </p:nvPr>
        </p:nvGraphicFramePr>
        <p:xfrm>
          <a:off x="488504" y="1165225"/>
          <a:ext cx="8928992" cy="5072063"/>
        </p:xfrm>
        <a:graphic>
          <a:graphicData uri="http://schemas.openxmlformats.org/drawingml/2006/table">
            <a:tbl>
              <a:tblPr/>
              <a:tblGrid>
                <a:gridCol w="1873036">
                  <a:extLst>
                    <a:ext uri="{9D8B030D-6E8A-4147-A177-3AD203B41FA5}">
                      <a16:colId xmlns:a16="http://schemas.microsoft.com/office/drawing/2014/main" val="20000"/>
                    </a:ext>
                  </a:extLst>
                </a:gridCol>
                <a:gridCol w="2937844">
                  <a:extLst>
                    <a:ext uri="{9D8B030D-6E8A-4147-A177-3AD203B41FA5}">
                      <a16:colId xmlns:a16="http://schemas.microsoft.com/office/drawing/2014/main" val="20001"/>
                    </a:ext>
                  </a:extLst>
                </a:gridCol>
                <a:gridCol w="3053304">
                  <a:extLst>
                    <a:ext uri="{9D8B030D-6E8A-4147-A177-3AD203B41FA5}">
                      <a16:colId xmlns:a16="http://schemas.microsoft.com/office/drawing/2014/main" val="20002"/>
                    </a:ext>
                  </a:extLst>
                </a:gridCol>
                <a:gridCol w="1064808">
                  <a:extLst>
                    <a:ext uri="{9D8B030D-6E8A-4147-A177-3AD203B41FA5}">
                      <a16:colId xmlns:a16="http://schemas.microsoft.com/office/drawing/2014/main" val="20003"/>
                    </a:ext>
                  </a:extLst>
                </a:gridCol>
              </a:tblGrid>
              <a:tr h="4987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600" b="1" dirty="0" err="1">
                          <a:latin typeface="Arial" pitchFamily="34" charset="0"/>
                          <a:ea typeface="맑은 고딕" pitchFamily="50" charset="-127"/>
                          <a:cs typeface="Arial" pitchFamily="34" charset="0"/>
                        </a:rPr>
                        <a:t>Loại</a:t>
                      </a:r>
                      <a:endParaRPr lang="ko-KR" altLang="en-US" sz="1600" dirty="0">
                        <a:latin typeface="Arial" pitchFamily="34" charset="0"/>
                        <a:cs typeface="Arial" pitchFamily="34" charset="0"/>
                      </a:endParaRPr>
                    </a:p>
                  </a:txBody>
                  <a:tcPr marL="91432" marR="91432" marT="107999" marB="107999" anchor="ct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600" b="1" dirty="0" err="1">
                          <a:latin typeface="Arial" pitchFamily="34" charset="0"/>
                          <a:ea typeface="맑은 고딕" pitchFamily="50" charset="-127"/>
                          <a:cs typeface="Arial" pitchFamily="34" charset="0"/>
                        </a:rPr>
                        <a:t>Mô</a:t>
                      </a:r>
                      <a:r>
                        <a:rPr lang="en-US" altLang="ko-KR" sz="1600" b="1" baseline="0" dirty="0">
                          <a:latin typeface="Arial" pitchFamily="34" charset="0"/>
                          <a:ea typeface="맑은 고딕" pitchFamily="50" charset="-127"/>
                          <a:cs typeface="Arial" pitchFamily="34" charset="0"/>
                        </a:rPr>
                        <a:t> </a:t>
                      </a:r>
                      <a:r>
                        <a:rPr lang="en-US" altLang="ko-KR" sz="1600" b="1" baseline="0" dirty="0" err="1">
                          <a:latin typeface="Arial" pitchFamily="34" charset="0"/>
                          <a:ea typeface="맑은 고딕" pitchFamily="50" charset="-127"/>
                          <a:cs typeface="Arial" pitchFamily="34" charset="0"/>
                        </a:rPr>
                        <a:t>tả</a:t>
                      </a:r>
                      <a:endParaRPr lang="ko-KR" altLang="en-US" sz="1600" dirty="0">
                        <a:latin typeface="Arial" pitchFamily="34" charset="0"/>
                        <a:cs typeface="Arial" pitchFamily="34" charset="0"/>
                      </a:endParaRPr>
                    </a:p>
                  </a:txBody>
                  <a:tcPr marL="91432" marR="91432" marT="107999" marB="10799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600" b="1" dirty="0" err="1">
                          <a:latin typeface="Arial" pitchFamily="34" charset="0"/>
                          <a:ea typeface="맑은 고딕" pitchFamily="50" charset="-127"/>
                          <a:cs typeface="Arial" pitchFamily="34" charset="0"/>
                        </a:rPr>
                        <a:t>Vấn</a:t>
                      </a:r>
                      <a:r>
                        <a:rPr lang="en-US" altLang="ko-KR" sz="1600" b="1" baseline="0" dirty="0">
                          <a:latin typeface="Arial" pitchFamily="34" charset="0"/>
                          <a:ea typeface="맑은 고딕" pitchFamily="50" charset="-127"/>
                          <a:cs typeface="Arial" pitchFamily="34" charset="0"/>
                        </a:rPr>
                        <a:t> </a:t>
                      </a:r>
                      <a:r>
                        <a:rPr lang="en-US" altLang="ko-KR" sz="1600" b="1" baseline="0" dirty="0" err="1">
                          <a:latin typeface="Arial" pitchFamily="34" charset="0"/>
                          <a:ea typeface="맑은 고딕" pitchFamily="50" charset="-127"/>
                          <a:cs typeface="Arial" pitchFamily="34" charset="0"/>
                        </a:rPr>
                        <a:t>đề</a:t>
                      </a:r>
                      <a:endParaRPr lang="ko-KR" altLang="en-US" sz="1600" dirty="0">
                        <a:latin typeface="Arial" pitchFamily="34" charset="0"/>
                        <a:cs typeface="Arial" pitchFamily="34" charset="0"/>
                      </a:endParaRPr>
                    </a:p>
                  </a:txBody>
                  <a:tcPr marL="91432" marR="91432" marT="107999" marB="10799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r>
                        <a:rPr kumimoji="1" lang="en-US" altLang="ko-KR" sz="16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Ghi</a:t>
                      </a:r>
                      <a:r>
                        <a:rPr kumimoji="1" lang="en-US" altLang="ko-KR" sz="16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1" lang="en-US" altLang="ko-KR" sz="16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chú</a:t>
                      </a:r>
                      <a:endParaRPr kumimoji="1" lang="ko-KR" altLang="en-US" sz="16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endParaRPr>
                    </a:p>
                  </a:txBody>
                  <a:tcPr marL="91432" marR="91432" marT="107999" marB="107999" anchor="ctr">
                    <a:lnL w="12700" cap="flat" cmpd="sng" algn="ctr">
                      <a:solidFill>
                        <a:schemeClr val="tx1"/>
                      </a:solidFill>
                      <a:prstDash val="solid"/>
                      <a:round/>
                      <a:headEnd type="none" w="med" len="med"/>
                      <a:tailEnd type="none" w="med" len="med"/>
                    </a:lnL>
                    <a:lnR w="12700" cmpd="sng">
                      <a:solidFill>
                        <a:schemeClr val="tx1"/>
                      </a:solidFill>
                      <a:prstDash val="soli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1572928">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428750">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en-US" altLang="ko-KR" sz="900" b="1" baseline="0" dirty="0" err="1">
                          <a:latin typeface="Arial" pitchFamily="34" charset="0"/>
                          <a:ea typeface="맑은 고딕" pitchFamily="50" charset="-127"/>
                          <a:cs typeface="Arial" pitchFamily="34" charset="0"/>
                        </a:rPr>
                        <a:t>Sử</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dụng</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phân</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tầng</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dữ</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liệu</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để</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phân</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loại</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dữ</a:t>
                      </a:r>
                      <a:r>
                        <a:rPr lang="en-US" altLang="ko-KR" sz="900" b="1" baseline="0" dirty="0">
                          <a:latin typeface="Arial" pitchFamily="34" charset="0"/>
                          <a:ea typeface="맑은 고딕" pitchFamily="50" charset="-127"/>
                          <a:cs typeface="Arial" pitchFamily="34" charset="0"/>
                        </a:rPr>
                        <a:t> </a:t>
                      </a:r>
                      <a:r>
                        <a:rPr lang="en-US" altLang="ko-KR" sz="900" b="1" baseline="0" dirty="0" err="1">
                          <a:latin typeface="Arial" pitchFamily="34" charset="0"/>
                          <a:ea typeface="맑은 고딕" pitchFamily="50" charset="-127"/>
                          <a:cs typeface="Arial" pitchFamily="34" charset="0"/>
                        </a:rPr>
                        <a:t>liệu</a:t>
                      </a:r>
                      <a:endParaRPr lang="en-US" altLang="ko-KR" sz="900" b="1" dirty="0">
                        <a:latin typeface="Arial" pitchFamily="34" charset="0"/>
                        <a:ea typeface="맑은 고딕" pitchFamily="50" charset="-127"/>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571625">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tcPr>
                </a:tc>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tcPr>
                </a:tc>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tcPr>
                </a:tc>
                <a:tc>
                  <a:txBody>
                    <a:bodyPr/>
                    <a:lstStyle/>
                    <a:p>
                      <a:pPr latinLnBrk="1"/>
                      <a:endParaRPr lang="ko-KR" altLang="en-US" sz="1800" dirty="0">
                        <a:latin typeface="Arial" pitchFamily="34" charset="0"/>
                        <a:cs typeface="Arial" pitchFamily="34" charset="0"/>
                      </a:endParaRPr>
                    </a:p>
                  </a:txBody>
                  <a:tcPr marL="91432" marR="91432">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tcPr>
                </a:tc>
                <a:extLst>
                  <a:ext uri="{0D108BD9-81ED-4DB2-BD59-A6C34878D82A}">
                    <a16:rowId xmlns:a16="http://schemas.microsoft.com/office/drawing/2014/main" val="10003"/>
                  </a:ext>
                </a:extLst>
              </a:tr>
            </a:tbl>
          </a:graphicData>
        </a:graphic>
      </p:graphicFrame>
      <p:grpSp>
        <p:nvGrpSpPr>
          <p:cNvPr id="3" name="그룹 29"/>
          <p:cNvGrpSpPr>
            <a:grpSpLocks/>
          </p:cNvGrpSpPr>
          <p:nvPr/>
        </p:nvGrpSpPr>
        <p:grpSpPr bwMode="auto">
          <a:xfrm>
            <a:off x="848544" y="1801777"/>
            <a:ext cx="1143000" cy="1001713"/>
            <a:chOff x="1342558" y="1643050"/>
            <a:chExt cx="1333052" cy="1216066"/>
          </a:xfrm>
        </p:grpSpPr>
        <p:grpSp>
          <p:nvGrpSpPr>
            <p:cNvPr id="4" name="그룹 23"/>
            <p:cNvGrpSpPr>
              <a:grpSpLocks/>
            </p:cNvGrpSpPr>
            <p:nvPr/>
          </p:nvGrpSpPr>
          <p:grpSpPr bwMode="auto">
            <a:xfrm>
              <a:off x="1452538" y="1643050"/>
              <a:ext cx="1143008" cy="1214446"/>
              <a:chOff x="1452538" y="1643050"/>
              <a:chExt cx="1143008" cy="1357322"/>
            </a:xfrm>
          </p:grpSpPr>
          <p:sp>
            <p:nvSpPr>
              <p:cNvPr id="128068" name="직사각형 7"/>
              <p:cNvSpPr>
                <a:spLocks noChangeArrowheads="1"/>
              </p:cNvSpPr>
              <p:nvPr/>
            </p:nvSpPr>
            <p:spPr bwMode="auto">
              <a:xfrm>
                <a:off x="1452538" y="2819396"/>
                <a:ext cx="127015" cy="180976"/>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69" name="직사각형 8"/>
              <p:cNvSpPr>
                <a:spLocks noChangeArrowheads="1"/>
              </p:cNvSpPr>
              <p:nvPr/>
            </p:nvSpPr>
            <p:spPr bwMode="auto">
              <a:xfrm>
                <a:off x="1579553" y="2485791"/>
                <a:ext cx="127015" cy="514581"/>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70" name="직사각형 9"/>
              <p:cNvSpPr>
                <a:spLocks noChangeArrowheads="1"/>
              </p:cNvSpPr>
              <p:nvPr/>
            </p:nvSpPr>
            <p:spPr bwMode="auto">
              <a:xfrm>
                <a:off x="1706568" y="2276467"/>
                <a:ext cx="127015" cy="72390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71" name="직사각형 10"/>
              <p:cNvSpPr>
                <a:spLocks noChangeArrowheads="1"/>
              </p:cNvSpPr>
              <p:nvPr/>
            </p:nvSpPr>
            <p:spPr bwMode="auto">
              <a:xfrm>
                <a:off x="1835460" y="2005003"/>
                <a:ext cx="127015" cy="995369"/>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72" name="직사각형 15"/>
              <p:cNvSpPr>
                <a:spLocks noChangeArrowheads="1"/>
              </p:cNvSpPr>
              <p:nvPr/>
            </p:nvSpPr>
            <p:spPr bwMode="auto">
              <a:xfrm>
                <a:off x="1956830" y="1643050"/>
                <a:ext cx="127015" cy="135732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73" name="직사각형 16"/>
              <p:cNvSpPr>
                <a:spLocks noChangeArrowheads="1"/>
              </p:cNvSpPr>
              <p:nvPr/>
            </p:nvSpPr>
            <p:spPr bwMode="auto">
              <a:xfrm>
                <a:off x="2083845" y="1914514"/>
                <a:ext cx="127015" cy="1085858"/>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74" name="직사각형 17"/>
              <p:cNvSpPr>
                <a:spLocks noChangeArrowheads="1"/>
              </p:cNvSpPr>
              <p:nvPr/>
            </p:nvSpPr>
            <p:spPr bwMode="auto">
              <a:xfrm>
                <a:off x="2210860" y="2276467"/>
                <a:ext cx="127015" cy="72390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75" name="직사각형 18"/>
              <p:cNvSpPr>
                <a:spLocks noChangeArrowheads="1"/>
              </p:cNvSpPr>
              <p:nvPr/>
            </p:nvSpPr>
            <p:spPr bwMode="auto">
              <a:xfrm>
                <a:off x="2339220" y="2638419"/>
                <a:ext cx="127015" cy="361953"/>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76" name="직사각형 19"/>
              <p:cNvSpPr>
                <a:spLocks noChangeArrowheads="1"/>
              </p:cNvSpPr>
              <p:nvPr/>
            </p:nvSpPr>
            <p:spPr bwMode="auto">
              <a:xfrm>
                <a:off x="2468531" y="2819396"/>
                <a:ext cx="127015" cy="180976"/>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grpSp>
        <p:cxnSp>
          <p:nvCxnSpPr>
            <p:cNvPr id="128067" name="직선 연결선 22"/>
            <p:cNvCxnSpPr>
              <a:cxnSpLocks noChangeShapeType="1"/>
            </p:cNvCxnSpPr>
            <p:nvPr/>
          </p:nvCxnSpPr>
          <p:spPr bwMode="auto">
            <a:xfrm rot="16200000" flipH="1">
              <a:off x="2008274" y="2191780"/>
              <a:ext cx="1620" cy="133305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28003" name="TextBox 24"/>
          <p:cNvSpPr txBox="1">
            <a:spLocks noChangeArrowheads="1"/>
          </p:cNvSpPr>
          <p:nvPr/>
        </p:nvSpPr>
        <p:spPr bwMode="auto">
          <a:xfrm>
            <a:off x="595231" y="2851115"/>
            <a:ext cx="1483098"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228600" indent="-228600" eaLnBrk="1" hangingPunct="1">
              <a:buAutoNum type="alphaLcParenBoth"/>
            </a:pPr>
            <a:r>
              <a:rPr lang="en-US" altLang="ko-KR" sz="1100" b="1" dirty="0" err="1">
                <a:latin typeface="Arial" pitchFamily="34" charset="0"/>
                <a:ea typeface="맑은 고딕" pitchFamily="50" charset="-127"/>
                <a:cs typeface="Arial" pitchFamily="34" charset="0"/>
              </a:rPr>
              <a:t>Đối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xứng</a:t>
            </a:r>
            <a:r>
              <a:rPr lang="en-US" altLang="ko-KR" sz="1100" b="1" dirty="0">
                <a:latin typeface="Arial" pitchFamily="34" charset="0"/>
                <a:ea typeface="맑은 고딕" pitchFamily="50" charset="-127"/>
                <a:cs typeface="Arial" pitchFamily="34" charset="0"/>
              </a:rPr>
              <a:t> </a:t>
            </a:r>
          </a:p>
          <a:p>
            <a:pPr marL="228600" indent="-228600" eaLnBrk="1" hangingPunct="1"/>
            <a:r>
              <a:rPr lang="en-US" altLang="ko-KR" sz="1100" b="1" dirty="0">
                <a:latin typeface="Arial" pitchFamily="34" charset="0"/>
                <a:ea typeface="맑은 고딕" pitchFamily="50" charset="-127"/>
                <a:cs typeface="Arial" pitchFamily="34" charset="0"/>
              </a:rPr>
              <a:t>(Symmetrical Type)</a:t>
            </a:r>
            <a:endParaRPr lang="ko-KR" altLang="en-US" sz="1100" b="1" dirty="0">
              <a:latin typeface="Arial" pitchFamily="34" charset="0"/>
              <a:ea typeface="맑은 고딕" pitchFamily="50" charset="-127"/>
              <a:cs typeface="Arial" pitchFamily="34" charset="0"/>
            </a:endParaRPr>
          </a:p>
        </p:txBody>
      </p:sp>
      <p:sp>
        <p:nvSpPr>
          <p:cNvPr id="128004" name="TextBox 30"/>
          <p:cNvSpPr txBox="1">
            <a:spLocks noChangeArrowheads="1"/>
          </p:cNvSpPr>
          <p:nvPr/>
        </p:nvSpPr>
        <p:spPr bwMode="auto">
          <a:xfrm>
            <a:off x="2832389" y="1787456"/>
            <a:ext cx="255266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Đối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xứng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phải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và</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tương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tự</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như</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đường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phân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phối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chuẩn</a:t>
            </a:r>
            <a:r>
              <a:rPr lang="en-US" altLang="ko-KR" sz="1100" b="1" dirty="0">
                <a:latin typeface="Arial" pitchFamily="34" charset="0"/>
                <a:ea typeface="맑은 고딕" pitchFamily="50" charset="-127"/>
                <a:cs typeface="Arial" pitchFamily="34" charset="0"/>
              </a:rPr>
              <a:t>. </a:t>
            </a:r>
            <a:endParaRPr lang="ko-KR" altLang="en-US" sz="1100" b="1" dirty="0">
              <a:latin typeface="Arial" pitchFamily="34" charset="0"/>
              <a:ea typeface="맑은 고딕" pitchFamily="50" charset="-127"/>
              <a:cs typeface="Arial" pitchFamily="34" charset="0"/>
            </a:endParaRPr>
          </a:p>
        </p:txBody>
      </p:sp>
      <p:sp>
        <p:nvSpPr>
          <p:cNvPr id="128005" name="TextBox 31"/>
          <p:cNvSpPr txBox="1">
            <a:spLocks noChangeArrowheads="1"/>
          </p:cNvSpPr>
          <p:nvPr/>
        </p:nvSpPr>
        <p:spPr bwMode="auto">
          <a:xfrm>
            <a:off x="5542251" y="1779763"/>
            <a:ext cx="250709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Loại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phổ</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biến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nhất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Đối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với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loại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này</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kiểm</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tra</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xem</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có</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bao</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nhiêu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lỗi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vượt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quá</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tiêu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chuẩn</a:t>
            </a:r>
            <a:r>
              <a:rPr lang="en-US" altLang="ko-KR" sz="1100" b="1" dirty="0">
                <a:latin typeface="Arial" pitchFamily="34" charset="0"/>
                <a:ea typeface="맑은 고딕" pitchFamily="50" charset="-127"/>
                <a:cs typeface="Arial" pitchFamily="34" charset="0"/>
              </a:rPr>
              <a:t>. </a:t>
            </a:r>
            <a:endParaRPr lang="ko-KR" altLang="en-US" sz="1100" b="1" dirty="0">
              <a:latin typeface="Arial" pitchFamily="34" charset="0"/>
              <a:ea typeface="맑은 고딕" pitchFamily="50" charset="-127"/>
              <a:cs typeface="Arial" pitchFamily="34" charset="0"/>
            </a:endParaRPr>
          </a:p>
        </p:txBody>
      </p:sp>
      <p:grpSp>
        <p:nvGrpSpPr>
          <p:cNvPr id="5" name="그룹 59"/>
          <p:cNvGrpSpPr>
            <a:grpSpLocks/>
          </p:cNvGrpSpPr>
          <p:nvPr/>
        </p:nvGrpSpPr>
        <p:grpSpPr bwMode="auto">
          <a:xfrm>
            <a:off x="848544" y="3373402"/>
            <a:ext cx="1143000" cy="808038"/>
            <a:chOff x="1396306" y="3357562"/>
            <a:chExt cx="1143008" cy="808806"/>
          </a:xfrm>
        </p:grpSpPr>
        <p:sp>
          <p:nvSpPr>
            <p:cNvPr id="128056" name="직사각형 35"/>
            <p:cNvSpPr>
              <a:spLocks noChangeArrowheads="1"/>
            </p:cNvSpPr>
            <p:nvPr/>
          </p:nvSpPr>
          <p:spPr bwMode="auto">
            <a:xfrm>
              <a:off x="1490607" y="3957509"/>
              <a:ext cx="108907" cy="207528"/>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57" name="직사각형 36"/>
            <p:cNvSpPr>
              <a:spLocks noChangeArrowheads="1"/>
            </p:cNvSpPr>
            <p:nvPr/>
          </p:nvSpPr>
          <p:spPr bwMode="auto">
            <a:xfrm>
              <a:off x="1599514" y="3998884"/>
              <a:ext cx="108907" cy="16615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58" name="직사각형 37"/>
            <p:cNvSpPr>
              <a:spLocks noChangeArrowheads="1"/>
            </p:cNvSpPr>
            <p:nvPr/>
          </p:nvSpPr>
          <p:spPr bwMode="auto">
            <a:xfrm>
              <a:off x="1708422" y="3631480"/>
              <a:ext cx="108907" cy="533556"/>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59" name="직사각형 38"/>
            <p:cNvSpPr>
              <a:spLocks noChangeArrowheads="1"/>
            </p:cNvSpPr>
            <p:nvPr/>
          </p:nvSpPr>
          <p:spPr bwMode="auto">
            <a:xfrm>
              <a:off x="1818938" y="3676154"/>
              <a:ext cx="108907" cy="48888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60" name="직사각형 39"/>
            <p:cNvSpPr>
              <a:spLocks noChangeArrowheads="1"/>
            </p:cNvSpPr>
            <p:nvPr/>
          </p:nvSpPr>
          <p:spPr bwMode="auto">
            <a:xfrm>
              <a:off x="1923005" y="3357562"/>
              <a:ext cx="108907" cy="807473"/>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61" name="직사각형 40"/>
            <p:cNvSpPr>
              <a:spLocks noChangeArrowheads="1"/>
            </p:cNvSpPr>
            <p:nvPr/>
          </p:nvSpPr>
          <p:spPr bwMode="auto">
            <a:xfrm>
              <a:off x="2031913" y="3717530"/>
              <a:ext cx="108907" cy="447506"/>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62" name="직사각형 41"/>
            <p:cNvSpPr>
              <a:spLocks noChangeArrowheads="1"/>
            </p:cNvSpPr>
            <p:nvPr/>
          </p:nvSpPr>
          <p:spPr bwMode="auto">
            <a:xfrm>
              <a:off x="2140820" y="3631480"/>
              <a:ext cx="108907" cy="533556"/>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63" name="직사각형 42"/>
            <p:cNvSpPr>
              <a:spLocks noChangeArrowheads="1"/>
            </p:cNvSpPr>
            <p:nvPr/>
          </p:nvSpPr>
          <p:spPr bwMode="auto">
            <a:xfrm>
              <a:off x="2250881" y="4073360"/>
              <a:ext cx="108907" cy="91676"/>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64" name="직사각형 43"/>
            <p:cNvSpPr>
              <a:spLocks noChangeArrowheads="1"/>
            </p:cNvSpPr>
            <p:nvPr/>
          </p:nvSpPr>
          <p:spPr bwMode="auto">
            <a:xfrm>
              <a:off x="2357619" y="4031647"/>
              <a:ext cx="108907" cy="133389"/>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cxnSp>
          <p:nvCxnSpPr>
            <p:cNvPr id="128065" name="직선 연결선 34"/>
            <p:cNvCxnSpPr>
              <a:cxnSpLocks noChangeShapeType="1"/>
            </p:cNvCxnSpPr>
            <p:nvPr/>
          </p:nvCxnSpPr>
          <p:spPr bwMode="auto">
            <a:xfrm rot="16200000" flipH="1">
              <a:off x="1967143" y="3594197"/>
              <a:ext cx="1334" cy="114300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28007" name="TextBox 44"/>
          <p:cNvSpPr txBox="1">
            <a:spLocks noChangeArrowheads="1"/>
          </p:cNvSpPr>
          <p:nvPr/>
        </p:nvSpPr>
        <p:spPr bwMode="auto">
          <a:xfrm>
            <a:off x="595231" y="4230652"/>
            <a:ext cx="120097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a:latin typeface="맑은 고딕" pitchFamily="50" charset="-127"/>
                <a:ea typeface="맑은 고딕" pitchFamily="50" charset="-127"/>
              </a:rPr>
              <a:t>(b) </a:t>
            </a:r>
            <a:r>
              <a:rPr lang="en-US" altLang="ko-KR" sz="1100" b="1" dirty="0" err="1">
                <a:latin typeface="맑은 고딕" pitchFamily="50" charset="-127"/>
                <a:ea typeface="맑은 고딕" pitchFamily="50" charset="-127"/>
              </a:rPr>
              <a:t>Răng</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lược</a:t>
            </a:r>
            <a:endParaRPr lang="en-US" altLang="ko-KR" sz="1100" b="1" dirty="0">
              <a:latin typeface="맑은 고딕" pitchFamily="50" charset="-127"/>
              <a:ea typeface="맑은 고딕" pitchFamily="50" charset="-127"/>
            </a:endParaRPr>
          </a:p>
          <a:p>
            <a:pPr eaLnBrk="1" hangingPunct="1"/>
            <a:r>
              <a:rPr lang="en-US" altLang="ko-KR" sz="1100" b="1" dirty="0">
                <a:latin typeface="맑은 고딕" pitchFamily="50" charset="-127"/>
                <a:ea typeface="맑은 고딕" pitchFamily="50" charset="-127"/>
              </a:rPr>
              <a:t>Toothless Type</a:t>
            </a:r>
            <a:endParaRPr lang="ko-KR" altLang="en-US" sz="1100" b="1" dirty="0">
              <a:latin typeface="맑은 고딕" pitchFamily="50" charset="-127"/>
              <a:ea typeface="맑은 고딕" pitchFamily="50" charset="-127"/>
            </a:endParaRPr>
          </a:p>
        </p:txBody>
      </p:sp>
      <p:grpSp>
        <p:nvGrpSpPr>
          <p:cNvPr id="6" name="그룹 54"/>
          <p:cNvGrpSpPr>
            <a:grpSpLocks/>
          </p:cNvGrpSpPr>
          <p:nvPr/>
        </p:nvGrpSpPr>
        <p:grpSpPr bwMode="auto">
          <a:xfrm>
            <a:off x="848544" y="4730715"/>
            <a:ext cx="1143000" cy="1058862"/>
            <a:chOff x="-751682" y="4786313"/>
            <a:chExt cx="1143000" cy="1058862"/>
          </a:xfrm>
        </p:grpSpPr>
        <p:sp>
          <p:nvSpPr>
            <p:cNvPr id="128046" name="직사각형 48"/>
            <p:cNvSpPr>
              <a:spLocks noChangeArrowheads="1"/>
            </p:cNvSpPr>
            <p:nvPr/>
          </p:nvSpPr>
          <p:spPr bwMode="auto">
            <a:xfrm>
              <a:off x="-658019" y="5357813"/>
              <a:ext cx="109537" cy="48577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47" name="직사각형 49"/>
            <p:cNvSpPr>
              <a:spLocks noChangeArrowheads="1"/>
            </p:cNvSpPr>
            <p:nvPr/>
          </p:nvSpPr>
          <p:spPr bwMode="auto">
            <a:xfrm>
              <a:off x="-548482" y="5072063"/>
              <a:ext cx="107950" cy="77152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48" name="직사각형 50"/>
            <p:cNvSpPr>
              <a:spLocks noChangeArrowheads="1"/>
            </p:cNvSpPr>
            <p:nvPr/>
          </p:nvSpPr>
          <p:spPr bwMode="auto">
            <a:xfrm>
              <a:off x="-440532" y="4786313"/>
              <a:ext cx="109538" cy="105727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49" name="직사각형 51"/>
            <p:cNvSpPr>
              <a:spLocks noChangeArrowheads="1"/>
            </p:cNvSpPr>
            <p:nvPr/>
          </p:nvSpPr>
          <p:spPr bwMode="auto">
            <a:xfrm>
              <a:off x="-332582" y="4929188"/>
              <a:ext cx="109538" cy="91440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50" name="직사각형 52"/>
            <p:cNvSpPr>
              <a:spLocks noChangeArrowheads="1"/>
            </p:cNvSpPr>
            <p:nvPr/>
          </p:nvSpPr>
          <p:spPr bwMode="auto">
            <a:xfrm>
              <a:off x="-226219" y="5072063"/>
              <a:ext cx="106362" cy="77152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51" name="직사각형 53"/>
            <p:cNvSpPr>
              <a:spLocks noChangeArrowheads="1"/>
            </p:cNvSpPr>
            <p:nvPr/>
          </p:nvSpPr>
          <p:spPr bwMode="auto">
            <a:xfrm>
              <a:off x="-119857" y="5214938"/>
              <a:ext cx="109538" cy="62865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52" name="직사각형 54"/>
            <p:cNvSpPr>
              <a:spLocks noChangeArrowheads="1"/>
            </p:cNvSpPr>
            <p:nvPr/>
          </p:nvSpPr>
          <p:spPr bwMode="auto">
            <a:xfrm>
              <a:off x="-10319" y="5429250"/>
              <a:ext cx="107950" cy="414338"/>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53" name="직사각형 55"/>
            <p:cNvSpPr>
              <a:spLocks noChangeArrowheads="1"/>
            </p:cNvSpPr>
            <p:nvPr/>
          </p:nvSpPr>
          <p:spPr bwMode="auto">
            <a:xfrm>
              <a:off x="99218" y="5576888"/>
              <a:ext cx="109538" cy="26670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8054" name="직사각형 56"/>
            <p:cNvSpPr>
              <a:spLocks noChangeArrowheads="1"/>
            </p:cNvSpPr>
            <p:nvPr/>
          </p:nvSpPr>
          <p:spPr bwMode="auto">
            <a:xfrm>
              <a:off x="210343" y="5710238"/>
              <a:ext cx="109538" cy="13335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cxnSp>
          <p:nvCxnSpPr>
            <p:cNvPr id="128055" name="직선 연결선 47"/>
            <p:cNvCxnSpPr>
              <a:cxnSpLocks noChangeShapeType="1"/>
            </p:cNvCxnSpPr>
            <p:nvPr/>
          </p:nvCxnSpPr>
          <p:spPr bwMode="auto">
            <a:xfrm rot="16200000" flipH="1">
              <a:off x="-180976" y="5272882"/>
              <a:ext cx="1587" cy="11430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28009" name="TextBox 57"/>
          <p:cNvSpPr txBox="1">
            <a:spLocks noChangeArrowheads="1"/>
          </p:cNvSpPr>
          <p:nvPr/>
        </p:nvSpPr>
        <p:spPr bwMode="auto">
          <a:xfrm>
            <a:off x="560512" y="5837202"/>
            <a:ext cx="190949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a:latin typeface="맑은 고딕" pitchFamily="50" charset="-127"/>
                <a:ea typeface="맑은 고딕" pitchFamily="50" charset="-127"/>
              </a:rPr>
              <a:t>(c) </a:t>
            </a:r>
            <a:r>
              <a:rPr lang="en-US" altLang="ko-KR" sz="1100" b="1" dirty="0" err="1">
                <a:latin typeface="맑은 고딕" pitchFamily="50" charset="-127"/>
                <a:ea typeface="맑은 고딕" pitchFamily="50" charset="-127"/>
              </a:rPr>
              <a:t>Nghiêng</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Trái</a:t>
            </a:r>
            <a:r>
              <a:rPr lang="en-US" altLang="ko-KR" sz="1100" b="1" dirty="0">
                <a:latin typeface="맑은 고딕" pitchFamily="50" charset="-127"/>
                <a:ea typeface="맑은 고딕" pitchFamily="50" charset="-127"/>
              </a:rPr>
              <a:t>/</a:t>
            </a:r>
            <a:r>
              <a:rPr lang="en-US" altLang="ko-KR" sz="1100" b="1" dirty="0" err="1">
                <a:latin typeface="맑은 고딕" pitchFamily="50" charset="-127"/>
                <a:ea typeface="맑은 고딕" pitchFamily="50" charset="-127"/>
              </a:rPr>
              <a:t>Phải</a:t>
            </a:r>
            <a:endParaRPr lang="en-US" altLang="ko-KR" sz="1100" b="1" dirty="0">
              <a:latin typeface="맑은 고딕" pitchFamily="50" charset="-127"/>
              <a:ea typeface="맑은 고딕" pitchFamily="50" charset="-127"/>
            </a:endParaRPr>
          </a:p>
          <a:p>
            <a:pPr eaLnBrk="1" hangingPunct="1"/>
            <a:r>
              <a:rPr lang="en-US" altLang="ko-KR" sz="1100" b="1" dirty="0">
                <a:latin typeface="맑은 고딕" pitchFamily="50" charset="-127"/>
                <a:ea typeface="맑은 고딕" pitchFamily="50" charset="-127"/>
              </a:rPr>
              <a:t>(Left/Right Leaning Type)</a:t>
            </a:r>
            <a:endParaRPr lang="ko-KR" altLang="en-US" sz="1100" b="1" dirty="0">
              <a:latin typeface="맑은 고딕" pitchFamily="50" charset="-127"/>
              <a:ea typeface="맑은 고딕" pitchFamily="50" charset="-127"/>
            </a:endParaRPr>
          </a:p>
        </p:txBody>
      </p:sp>
      <p:sp>
        <p:nvSpPr>
          <p:cNvPr id="128010" name="TextBox 58"/>
          <p:cNvSpPr txBox="1">
            <a:spLocks noChangeArrowheads="1"/>
          </p:cNvSpPr>
          <p:nvPr/>
        </p:nvSpPr>
        <p:spPr bwMode="auto">
          <a:xfrm>
            <a:off x="2832389" y="3403526"/>
            <a:ext cx="2480652"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Các</a:t>
            </a:r>
            <a:r>
              <a:rPr lang="en-US" altLang="ko-KR" sz="1100" b="1" dirty="0">
                <a:latin typeface="Arial" pitchFamily="34" charset="0"/>
                <a:ea typeface="맑은 고딕" pitchFamily="50" charset="-127"/>
                <a:cs typeface="Arial" pitchFamily="34" charset="0"/>
              </a:rPr>
              <a:t> Class </a:t>
            </a:r>
            <a:r>
              <a:rPr lang="en-US" altLang="ko-KR" sz="1100" b="1" dirty="0" err="1">
                <a:latin typeface="Arial" pitchFamily="34" charset="0"/>
                <a:ea typeface="맑은 고딕" pitchFamily="50" charset="-127"/>
                <a:cs typeface="Arial" pitchFamily="34" charset="0"/>
              </a:rPr>
              <a:t>có</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tần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suất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nhau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hình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dáng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giống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như</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lược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chải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đầu</a:t>
            </a:r>
            <a:endParaRPr lang="ko-KR" altLang="en-US" sz="1100" b="1" dirty="0">
              <a:latin typeface="Arial" pitchFamily="34" charset="0"/>
              <a:ea typeface="맑은 고딕" pitchFamily="50" charset="-127"/>
              <a:cs typeface="Arial" pitchFamily="34" charset="0"/>
            </a:endParaRPr>
          </a:p>
        </p:txBody>
      </p:sp>
      <p:sp>
        <p:nvSpPr>
          <p:cNvPr id="128011" name="TextBox 60"/>
          <p:cNvSpPr txBox="1">
            <a:spLocks noChangeArrowheads="1"/>
          </p:cNvSpPr>
          <p:nvPr/>
        </p:nvSpPr>
        <p:spPr bwMode="auto">
          <a:xfrm>
            <a:off x="2832389" y="4717976"/>
            <a:ext cx="240864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Giá</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trị</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trung</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bình</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nằm</a:t>
            </a:r>
            <a:r>
              <a:rPr lang="en-US" altLang="ko-KR" sz="1100" b="1" dirty="0">
                <a:latin typeface="맑은 고딕" pitchFamily="50" charset="-127"/>
                <a:ea typeface="맑은 고딕" pitchFamily="50" charset="-127"/>
              </a:rPr>
              <a:t> ở </a:t>
            </a:r>
            <a:r>
              <a:rPr lang="en-US" altLang="ko-KR" sz="1100" b="1" dirty="0" err="1">
                <a:latin typeface="맑은 고딕" pitchFamily="50" charset="-127"/>
                <a:ea typeface="맑은 고딕" pitchFamily="50" charset="-127"/>
              </a:rPr>
              <a:t>bên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trái</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phải</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của</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trung</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tâm</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phân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bổ</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Hình</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dáng</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của</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biểu</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đồ</a:t>
            </a:r>
            <a:r>
              <a:rPr lang="en-US" altLang="ko-KR" sz="1100" b="1" dirty="0">
                <a:latin typeface="맑은 고딕" pitchFamily="50" charset="-127"/>
                <a:ea typeface="맑은 고딕" pitchFamily="50" charset="-127"/>
              </a:rPr>
              <a:t> do </a:t>
            </a:r>
            <a:r>
              <a:rPr lang="en-US" altLang="ko-KR" sz="1100" b="1" dirty="0" err="1">
                <a:latin typeface="맑은 고딕" pitchFamily="50" charset="-127"/>
                <a:ea typeface="맑은 고딕" pitchFamily="50" charset="-127"/>
              </a:rPr>
              <a:t>đó</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bất</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đối</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xứng</a:t>
            </a:r>
            <a:r>
              <a:rPr lang="en-US" altLang="ko-KR" sz="1100" b="1" dirty="0">
                <a:latin typeface="맑은 고딕" pitchFamily="50" charset="-127"/>
                <a:ea typeface="맑은 고딕" pitchFamily="50" charset="-127"/>
              </a:rPr>
              <a:t>. </a:t>
            </a:r>
            <a:endParaRPr lang="ko-KR" altLang="en-US" sz="1100" b="1" dirty="0">
              <a:latin typeface="맑은 고딕" pitchFamily="50" charset="-127"/>
              <a:ea typeface="맑은 고딕" pitchFamily="50" charset="-127"/>
            </a:endParaRPr>
          </a:p>
        </p:txBody>
      </p:sp>
      <p:sp>
        <p:nvSpPr>
          <p:cNvPr id="128012" name="TextBox 61"/>
          <p:cNvSpPr txBox="1">
            <a:spLocks noChangeArrowheads="1"/>
          </p:cNvSpPr>
          <p:nvPr/>
        </p:nvSpPr>
        <p:spPr bwMode="auto">
          <a:xfrm>
            <a:off x="5542250" y="3282369"/>
            <a:ext cx="2510624" cy="93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Kiểm</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tra</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xem</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số</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cột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và</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độ</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rộng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của</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cột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đã</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hợp</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lý</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chưa</a:t>
            </a:r>
            <a:r>
              <a:rPr lang="en-US" altLang="ko-KR" sz="1100" b="1" dirty="0">
                <a:latin typeface="Arial" pitchFamily="34" charset="0"/>
                <a:ea typeface="맑은 고딕" pitchFamily="50" charset="-127"/>
                <a:cs typeface="Arial" pitchFamily="34" charset="0"/>
              </a:rPr>
              <a:t>, hay </a:t>
            </a:r>
            <a:r>
              <a:rPr lang="en-US" altLang="ko-KR" sz="1100" b="1" dirty="0" err="1">
                <a:latin typeface="Arial" pitchFamily="34" charset="0"/>
                <a:ea typeface="맑은 고딕" pitchFamily="50" charset="-127"/>
                <a:cs typeface="Arial" pitchFamily="34" charset="0"/>
              </a:rPr>
              <a:t>người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đo</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lường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có</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sai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sót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gì</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không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thiết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bị</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đo</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lường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có</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vấn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đề</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gì</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không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vật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liệu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thủ</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tục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v.v</a:t>
            </a:r>
            <a:r>
              <a:rPr lang="en-US" altLang="ko-KR" sz="1100" b="1" dirty="0">
                <a:latin typeface="Arial" pitchFamily="34" charset="0"/>
                <a:ea typeface="맑은 고딕" pitchFamily="50" charset="-127"/>
                <a:cs typeface="Arial" pitchFamily="34" charset="0"/>
              </a:rPr>
              <a:t>…</a:t>
            </a:r>
            <a:endParaRPr lang="ko-KR" altLang="en-US" sz="1100" b="1" dirty="0">
              <a:latin typeface="Arial" pitchFamily="34" charset="0"/>
              <a:ea typeface="맑은 고딕" pitchFamily="50" charset="-127"/>
              <a:cs typeface="Arial" pitchFamily="34" charset="0"/>
            </a:endParaRPr>
          </a:p>
        </p:txBody>
      </p:sp>
      <p:sp>
        <p:nvSpPr>
          <p:cNvPr id="128013" name="TextBox 60"/>
          <p:cNvSpPr txBox="1">
            <a:spLocks noChangeArrowheads="1"/>
          </p:cNvSpPr>
          <p:nvPr/>
        </p:nvSpPr>
        <p:spPr bwMode="auto">
          <a:xfrm>
            <a:off x="5542250" y="4717976"/>
            <a:ext cx="2723118" cy="93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맑은 고딕" pitchFamily="50" charset="-127"/>
                <a:ea typeface="맑은 고딕" pitchFamily="50" charset="-127"/>
              </a:rPr>
              <a:t> Do </a:t>
            </a:r>
            <a:r>
              <a:rPr lang="en-US" altLang="ko-KR" sz="1100" b="1" dirty="0" err="1">
                <a:latin typeface="맑은 고딕" pitchFamily="50" charset="-127"/>
                <a:ea typeface="맑은 고딕" pitchFamily="50" charset="-127"/>
              </a:rPr>
              <a:t>lý</a:t>
            </a:r>
            <a:r>
              <a:rPr lang="en-US" altLang="ko-KR" sz="1100" b="1" dirty="0">
                <a:latin typeface="맑은 고딕" pitchFamily="50" charset="-127"/>
                <a:ea typeface="맑은 고딕" pitchFamily="50" charset="-127"/>
              </a:rPr>
              <a:t> do </a:t>
            </a:r>
            <a:r>
              <a:rPr lang="en-US" altLang="ko-KR" sz="1100" b="1" dirty="0" err="1">
                <a:latin typeface="맑은 고딕" pitchFamily="50" charset="-127"/>
                <a:ea typeface="맑은 고딕" pitchFamily="50" charset="-127"/>
              </a:rPr>
              <a:t>sai</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sót</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trong</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tiêu</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chuẩn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giá</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trị</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giới</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hạn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thấp</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hơn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bị</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khống</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chế</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và</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một</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số</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giá</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trị</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dữ</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liệu</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không</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được</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lựa</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chọn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Sản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phẩm</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lỗi</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gần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tới</a:t>
            </a:r>
            <a:r>
              <a:rPr lang="en-US" altLang="ko-KR" sz="1100" b="1" dirty="0">
                <a:latin typeface="맑은 고딕" pitchFamily="50" charset="-127"/>
                <a:ea typeface="맑은 고딕" pitchFamily="50" charset="-127"/>
              </a:rPr>
              <a:t> 0. </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110</a:t>
            </a:fld>
            <a:endParaRPr lang="ko-KR" altLang="en-US" dirty="0"/>
          </a:p>
        </p:txBody>
      </p:sp>
      <p:sp>
        <p:nvSpPr>
          <p:cNvPr id="49" name="Text Box 4"/>
          <p:cNvSpPr txBox="1">
            <a:spLocks noChangeArrowheads="1"/>
          </p:cNvSpPr>
          <p:nvPr/>
        </p:nvSpPr>
        <p:spPr bwMode="auto">
          <a:xfrm>
            <a:off x="128588" y="1793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Các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loại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biểu</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đồ</a:t>
            </a:r>
            <a:r>
              <a:rPr lang="en-US" altLang="ko-KR" sz="2000" b="1" dirty="0">
                <a:latin typeface="Arial" pitchFamily="34" charset="0"/>
                <a:ea typeface="맑은 고딕" pitchFamily="50" charset="-127"/>
                <a:cs typeface="Arial" pitchFamily="34" charset="0"/>
              </a:rPr>
              <a:t> Histogram</a:t>
            </a:r>
            <a:endParaRPr lang="ko-KR" altLang="en-US" sz="2000" b="1" dirty="0">
              <a:latin typeface="Arial" pitchFamily="34" charset="0"/>
              <a:ea typeface="맑은 고딕" pitchFamily="50" charset="-127"/>
              <a:cs typeface="Arial" pitchFamily="34" charset="0"/>
            </a:endParaRPr>
          </a:p>
        </p:txBody>
      </p:sp>
      <p:sp>
        <p:nvSpPr>
          <p:cNvPr id="50"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78277178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 name="표 59"/>
          <p:cNvGraphicFramePr>
            <a:graphicFrameLocks noGrp="1"/>
          </p:cNvGraphicFramePr>
          <p:nvPr>
            <p:extLst>
              <p:ext uri="{D42A27DB-BD31-4B8C-83A1-F6EECF244321}">
                <p14:modId xmlns:p14="http://schemas.microsoft.com/office/powerpoint/2010/main" val="3713023038"/>
              </p:ext>
            </p:extLst>
          </p:nvPr>
        </p:nvGraphicFramePr>
        <p:xfrm>
          <a:off x="1065213" y="981075"/>
          <a:ext cx="8088313" cy="5246050"/>
        </p:xfrm>
        <a:graphic>
          <a:graphicData uri="http://schemas.openxmlformats.org/drawingml/2006/table">
            <a:tbl>
              <a:tblPr/>
              <a:tblGrid>
                <a:gridCol w="1690648">
                  <a:extLst>
                    <a:ext uri="{9D8B030D-6E8A-4147-A177-3AD203B41FA5}">
                      <a16:colId xmlns:a16="http://schemas.microsoft.com/office/drawing/2014/main" val="20000"/>
                    </a:ext>
                  </a:extLst>
                </a:gridCol>
                <a:gridCol w="2658250">
                  <a:extLst>
                    <a:ext uri="{9D8B030D-6E8A-4147-A177-3AD203B41FA5}">
                      <a16:colId xmlns:a16="http://schemas.microsoft.com/office/drawing/2014/main" val="20001"/>
                    </a:ext>
                  </a:extLst>
                </a:gridCol>
                <a:gridCol w="2759734">
                  <a:extLst>
                    <a:ext uri="{9D8B030D-6E8A-4147-A177-3AD203B41FA5}">
                      <a16:colId xmlns:a16="http://schemas.microsoft.com/office/drawing/2014/main" val="20002"/>
                    </a:ext>
                  </a:extLst>
                </a:gridCol>
                <a:gridCol w="979681">
                  <a:extLst>
                    <a:ext uri="{9D8B030D-6E8A-4147-A177-3AD203B41FA5}">
                      <a16:colId xmlns:a16="http://schemas.microsoft.com/office/drawing/2014/main" val="20003"/>
                    </a:ext>
                  </a:extLst>
                </a:gridCol>
              </a:tblGrid>
              <a:tr h="45986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600" b="1" dirty="0">
                          <a:latin typeface="Arial" pitchFamily="34" charset="0"/>
                          <a:ea typeface="맑은 고딕" pitchFamily="50" charset="-127"/>
                          <a:cs typeface="Arial" pitchFamily="34" charset="0"/>
                        </a:rPr>
                        <a:t>Type</a:t>
                      </a:r>
                      <a:endParaRPr lang="ko-KR" altLang="en-US" sz="1600" dirty="0">
                        <a:latin typeface="Arial" pitchFamily="34" charset="0"/>
                        <a:cs typeface="Arial" pitchFamily="34" charset="0"/>
                      </a:endParaRPr>
                    </a:p>
                  </a:txBody>
                  <a:tcPr marL="91432" marR="91432" marT="107999" marB="107999" anchor="ct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600" b="1" dirty="0">
                          <a:latin typeface="Arial" pitchFamily="34" charset="0"/>
                          <a:ea typeface="맑은 고딕" pitchFamily="50" charset="-127"/>
                          <a:cs typeface="Arial" pitchFamily="34" charset="0"/>
                        </a:rPr>
                        <a:t>Type</a:t>
                      </a:r>
                      <a:r>
                        <a:rPr lang="en-US" altLang="ko-KR" sz="1600" b="1" baseline="0" dirty="0">
                          <a:latin typeface="Arial" pitchFamily="34" charset="0"/>
                          <a:ea typeface="맑은 고딕" pitchFamily="50" charset="-127"/>
                          <a:cs typeface="Arial" pitchFamily="34" charset="0"/>
                        </a:rPr>
                        <a:t> Description</a:t>
                      </a:r>
                      <a:endParaRPr lang="ko-KR" altLang="en-US" sz="1600" dirty="0">
                        <a:latin typeface="Arial" pitchFamily="34" charset="0"/>
                        <a:cs typeface="Arial" pitchFamily="34" charset="0"/>
                      </a:endParaRPr>
                    </a:p>
                  </a:txBody>
                  <a:tcPr marL="91432" marR="91432" marT="107999" marB="10799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600" b="1" dirty="0">
                          <a:latin typeface="Arial" pitchFamily="34" charset="0"/>
                          <a:ea typeface="맑은 고딕" pitchFamily="50" charset="-127"/>
                          <a:cs typeface="Arial" pitchFamily="34" charset="0"/>
                        </a:rPr>
                        <a:t>Problem Points</a:t>
                      </a:r>
                      <a:endParaRPr lang="ko-KR" altLang="en-US" sz="1600" dirty="0">
                        <a:latin typeface="Arial" pitchFamily="34" charset="0"/>
                        <a:cs typeface="Arial" pitchFamily="34" charset="0"/>
                      </a:endParaRPr>
                    </a:p>
                  </a:txBody>
                  <a:tcPr marL="91432" marR="91432" marT="107999" marB="10799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r>
                        <a:rPr kumimoji="1" lang="en-US" altLang="ko-KR" sz="16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Remark</a:t>
                      </a:r>
                      <a:endParaRPr kumimoji="1" lang="ko-KR" altLang="en-US" sz="16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endParaRPr>
                    </a:p>
                  </a:txBody>
                  <a:tcPr marL="91432" marR="91432" marT="107999" marB="107999" anchor="ctr">
                    <a:lnL w="12700" cap="flat" cmpd="sng" algn="ctr">
                      <a:solidFill>
                        <a:schemeClr val="tx1"/>
                      </a:solidFill>
                      <a:prstDash val="solid"/>
                      <a:round/>
                      <a:headEnd type="none" w="med" len="med"/>
                      <a:tailEnd type="none" w="med" len="med"/>
                    </a:lnL>
                    <a:lnR w="12700" cmpd="sng">
                      <a:solidFill>
                        <a:schemeClr val="tx1"/>
                      </a:solidFill>
                      <a:prstDash val="soli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1254713">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en-US" altLang="ko-KR" sz="800" b="1" baseline="0" dirty="0" err="1">
                          <a:latin typeface="Arial" pitchFamily="34" charset="0"/>
                          <a:ea typeface="맑은 고딕" pitchFamily="50" charset="-127"/>
                          <a:cs typeface="Arial" pitchFamily="34" charset="0"/>
                        </a:rPr>
                        <a:t>Nâng</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cao</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năng</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lực</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quá</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trình</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hoặc</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xem</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lại</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tiêu</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chuẩn</a:t>
                      </a:r>
                      <a:r>
                        <a:rPr lang="en-US" altLang="ko-KR" sz="800" b="1" baseline="0" dirty="0">
                          <a:latin typeface="Arial" pitchFamily="34" charset="0"/>
                          <a:ea typeface="맑은 고딕" pitchFamily="50" charset="-127"/>
                          <a:cs typeface="Arial" pitchFamily="34" charset="0"/>
                        </a:rPr>
                        <a:t>. </a:t>
                      </a:r>
                      <a:endParaRPr lang="en-US" altLang="ko-KR" sz="800" b="1" dirty="0">
                        <a:latin typeface="Arial" pitchFamily="34" charset="0"/>
                        <a:ea typeface="맑은 고딕" pitchFamily="50" charset="-127"/>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949370">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Sử</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dụng</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phương</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pháp</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phân</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tầng</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dữ</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liệu</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và</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vẽ</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lại</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histogram</a:t>
                      </a:r>
                    </a:p>
                    <a:p>
                      <a:pPr latinLnBrk="1"/>
                      <a:endParaRPr lang="ko-KR" altLang="en-US" sz="800" b="1" dirty="0">
                        <a:latin typeface="Arial" pitchFamily="34" charset="0"/>
                        <a:ea typeface="맑은 고딕" pitchFamily="50" charset="-127"/>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96144">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Sử</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dụng</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phân</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tầng</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dữ</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liệu</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và</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lưu</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ý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sự</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khác</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biệt</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giữa</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2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loại</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phân</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r>
                        <a:rPr kumimoji="0" lang="en-US" altLang="ko-KR" sz="800" b="1" i="0" u="none" strike="noStrike" kern="1200" cap="none" spc="0" normalizeH="0" baseline="0" noProof="0" dirty="0" err="1">
                          <a:ln>
                            <a:noFill/>
                          </a:ln>
                          <a:solidFill>
                            <a:srgbClr val="000000"/>
                          </a:solidFill>
                          <a:effectLst/>
                          <a:uLnTx/>
                          <a:uFillTx/>
                          <a:latin typeface="Arial" pitchFamily="34" charset="0"/>
                          <a:ea typeface="맑은 고딕" pitchFamily="50" charset="-127"/>
                          <a:cs typeface="Arial" pitchFamily="34" charset="0"/>
                        </a:rPr>
                        <a:t>bổ</a:t>
                      </a:r>
                      <a:r>
                        <a:rPr kumimoji="0" lang="en-US" altLang="ko-KR" sz="800" b="1" i="0" u="none" strike="noStrike" kern="1200" cap="none" spc="0" normalizeH="0" baseline="0" noProof="0" dirty="0">
                          <a:ln>
                            <a:noFill/>
                          </a:ln>
                          <a:solidFill>
                            <a:srgbClr val="000000"/>
                          </a:solidFill>
                          <a:effectLst/>
                          <a:uLnTx/>
                          <a:uFillTx/>
                          <a:latin typeface="Arial" pitchFamily="34" charset="0"/>
                          <a:ea typeface="맑은 고딕" pitchFamily="50" charset="-127"/>
                          <a:cs typeface="Arial" pitchFamily="34" charset="0"/>
                        </a:rPr>
                        <a:t>. </a:t>
                      </a:r>
                      <a:endParaRPr lang="ko-KR" altLang="en-US" sz="800" b="1" dirty="0">
                        <a:latin typeface="Arial" pitchFamily="34" charset="0"/>
                        <a:ea typeface="맑은 고딕" pitchFamily="50" charset="-127"/>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1285957">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tcPr>
                </a:tc>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endParaRPr lang="ko-KR" altLang="en-US" sz="1800" dirty="0">
                        <a:latin typeface="Arial" pitchFamily="34" charset="0"/>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en-US" altLang="ko-KR" sz="800" b="1" dirty="0" err="1">
                          <a:latin typeface="Arial" pitchFamily="34" charset="0"/>
                          <a:ea typeface="맑은 고딕" pitchFamily="50" charset="-127"/>
                          <a:cs typeface="Arial" pitchFamily="34" charset="0"/>
                        </a:rPr>
                        <a:t>Xác</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định</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nguyên</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nhân</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và</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phương</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pháp</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cải</a:t>
                      </a:r>
                      <a:r>
                        <a:rPr lang="en-US" altLang="ko-KR" sz="800" b="1" baseline="0" dirty="0">
                          <a:latin typeface="Arial" pitchFamily="34" charset="0"/>
                          <a:ea typeface="맑은 고딕" pitchFamily="50" charset="-127"/>
                          <a:cs typeface="Arial" pitchFamily="34" charset="0"/>
                        </a:rPr>
                        <a:t> </a:t>
                      </a:r>
                      <a:r>
                        <a:rPr lang="en-US" altLang="ko-KR" sz="800" b="1" baseline="0" dirty="0" err="1">
                          <a:latin typeface="Arial" pitchFamily="34" charset="0"/>
                          <a:ea typeface="맑은 고딕" pitchFamily="50" charset="-127"/>
                          <a:cs typeface="Arial" pitchFamily="34" charset="0"/>
                        </a:rPr>
                        <a:t>tiến</a:t>
                      </a:r>
                      <a:endParaRPr lang="en-US" altLang="ko-KR" sz="800" b="1" dirty="0">
                        <a:latin typeface="Arial" pitchFamily="34" charset="0"/>
                        <a:ea typeface="맑은 고딕" pitchFamily="50" charset="-127"/>
                        <a:cs typeface="Arial" pitchFamily="34" charset="0"/>
                      </a:endParaRPr>
                    </a:p>
                  </a:txBody>
                  <a:tcPr marL="91444" marR="91444" marT="45723" marB="4572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grpSp>
        <p:nvGrpSpPr>
          <p:cNvPr id="3" name="그룹 51"/>
          <p:cNvGrpSpPr>
            <a:grpSpLocks/>
          </p:cNvGrpSpPr>
          <p:nvPr/>
        </p:nvGrpSpPr>
        <p:grpSpPr bwMode="auto">
          <a:xfrm>
            <a:off x="1223963" y="2736216"/>
            <a:ext cx="1143000" cy="573087"/>
            <a:chOff x="1397000" y="3286125"/>
            <a:chExt cx="1143000" cy="573088"/>
          </a:xfrm>
        </p:grpSpPr>
        <p:sp>
          <p:nvSpPr>
            <p:cNvPr id="129112" name="직사각형 7"/>
            <p:cNvSpPr>
              <a:spLocks noChangeArrowheads="1"/>
            </p:cNvSpPr>
            <p:nvPr/>
          </p:nvSpPr>
          <p:spPr bwMode="auto">
            <a:xfrm>
              <a:off x="1490663" y="3571875"/>
              <a:ext cx="109537" cy="28575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13" name="직사각형 8"/>
            <p:cNvSpPr>
              <a:spLocks noChangeArrowheads="1"/>
            </p:cNvSpPr>
            <p:nvPr/>
          </p:nvSpPr>
          <p:spPr bwMode="auto">
            <a:xfrm>
              <a:off x="1600200" y="3471863"/>
              <a:ext cx="109538" cy="38576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14" name="직사각형 9"/>
            <p:cNvSpPr>
              <a:spLocks noChangeArrowheads="1"/>
            </p:cNvSpPr>
            <p:nvPr/>
          </p:nvSpPr>
          <p:spPr bwMode="auto">
            <a:xfrm>
              <a:off x="1709738" y="3408363"/>
              <a:ext cx="107950" cy="44926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15" name="직사각형 10"/>
            <p:cNvSpPr>
              <a:spLocks noChangeArrowheads="1"/>
            </p:cNvSpPr>
            <p:nvPr/>
          </p:nvSpPr>
          <p:spPr bwMode="auto">
            <a:xfrm>
              <a:off x="1819275" y="3357563"/>
              <a:ext cx="109538" cy="50006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16" name="직사각형 15"/>
            <p:cNvSpPr>
              <a:spLocks noChangeArrowheads="1"/>
            </p:cNvSpPr>
            <p:nvPr/>
          </p:nvSpPr>
          <p:spPr bwMode="auto">
            <a:xfrm>
              <a:off x="1924050" y="3286125"/>
              <a:ext cx="107950" cy="57150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17" name="직사각형 16"/>
            <p:cNvSpPr>
              <a:spLocks noChangeArrowheads="1"/>
            </p:cNvSpPr>
            <p:nvPr/>
          </p:nvSpPr>
          <p:spPr bwMode="auto">
            <a:xfrm>
              <a:off x="2032000" y="3429000"/>
              <a:ext cx="109538" cy="42862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18" name="직사각형 17"/>
            <p:cNvSpPr>
              <a:spLocks noChangeArrowheads="1"/>
            </p:cNvSpPr>
            <p:nvPr/>
          </p:nvSpPr>
          <p:spPr bwMode="auto">
            <a:xfrm>
              <a:off x="2141538" y="3357563"/>
              <a:ext cx="109537" cy="50006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19" name="직사각형 18"/>
            <p:cNvSpPr>
              <a:spLocks noChangeArrowheads="1"/>
            </p:cNvSpPr>
            <p:nvPr/>
          </p:nvSpPr>
          <p:spPr bwMode="auto">
            <a:xfrm>
              <a:off x="2247900" y="3482975"/>
              <a:ext cx="109538" cy="37465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20" name="직사각형 19"/>
            <p:cNvSpPr>
              <a:spLocks noChangeArrowheads="1"/>
            </p:cNvSpPr>
            <p:nvPr/>
          </p:nvSpPr>
          <p:spPr bwMode="auto">
            <a:xfrm>
              <a:off x="2354263" y="3571875"/>
              <a:ext cx="109537" cy="28575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cxnSp>
          <p:nvCxnSpPr>
            <p:cNvPr id="129121" name="직선 연결선 22"/>
            <p:cNvCxnSpPr>
              <a:cxnSpLocks noChangeShapeType="1"/>
            </p:cNvCxnSpPr>
            <p:nvPr/>
          </p:nvCxnSpPr>
          <p:spPr bwMode="auto">
            <a:xfrm rot="16200000" flipH="1">
              <a:off x="1967706" y="3286919"/>
              <a:ext cx="1588" cy="11430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29027" name="TextBox 24"/>
          <p:cNvSpPr txBox="1">
            <a:spLocks noChangeArrowheads="1"/>
          </p:cNvSpPr>
          <p:nvPr/>
        </p:nvSpPr>
        <p:spPr bwMode="auto">
          <a:xfrm>
            <a:off x="1133888" y="2276872"/>
            <a:ext cx="15868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Arial" pitchFamily="34" charset="0"/>
                <a:ea typeface="맑은 고딕" pitchFamily="50" charset="-127"/>
                <a:cs typeface="Arial" pitchFamily="34" charset="0"/>
              </a:rPr>
              <a:t>(d) </a:t>
            </a:r>
            <a:r>
              <a:rPr lang="en-US" altLang="ko-KR" sz="1000" b="1" dirty="0" err="1">
                <a:latin typeface="Arial" pitchFamily="34" charset="0"/>
                <a:ea typeface="맑은 고딕" pitchFamily="50" charset="-127"/>
                <a:cs typeface="Arial" pitchFamily="34" charset="0"/>
              </a:rPr>
              <a:t>Lệch</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Trái</a:t>
            </a:r>
            <a:r>
              <a:rPr lang="en-US" altLang="ko-KR" sz="1000" b="1" dirty="0">
                <a:latin typeface="Arial" pitchFamily="34" charset="0"/>
                <a:ea typeface="맑은 고딕" pitchFamily="50" charset="-127"/>
                <a:cs typeface="Arial" pitchFamily="34" charset="0"/>
              </a:rPr>
              <a:t>/</a:t>
            </a:r>
            <a:r>
              <a:rPr lang="en-US" altLang="ko-KR" sz="1000" b="1" dirty="0" err="1">
                <a:latin typeface="Arial" pitchFamily="34" charset="0"/>
                <a:ea typeface="맑은 고딕" pitchFamily="50" charset="-127"/>
                <a:cs typeface="Arial" pitchFamily="34" charset="0"/>
              </a:rPr>
              <a:t>Phải</a:t>
            </a:r>
            <a:endParaRPr lang="en-US" altLang="ko-KR" sz="1000" b="1" dirty="0">
              <a:latin typeface="Arial" pitchFamily="34" charset="0"/>
              <a:ea typeface="맑은 고딕" pitchFamily="50" charset="-127"/>
              <a:cs typeface="Arial" pitchFamily="34" charset="0"/>
            </a:endParaRPr>
          </a:p>
          <a:p>
            <a:pPr eaLnBrk="1" hangingPunct="1"/>
            <a:r>
              <a:rPr lang="en-US" altLang="ko-KR" sz="1000" b="1" dirty="0">
                <a:latin typeface="Arial" pitchFamily="34" charset="0"/>
                <a:ea typeface="맑은 고딕" pitchFamily="50" charset="-127"/>
                <a:cs typeface="Arial" pitchFamily="34" charset="0"/>
              </a:rPr>
              <a:t>(Truncated End Type)</a:t>
            </a:r>
            <a:endParaRPr lang="ko-KR" altLang="en-US" sz="1000" b="1" dirty="0">
              <a:latin typeface="Arial" pitchFamily="34" charset="0"/>
              <a:ea typeface="맑은 고딕" pitchFamily="50" charset="-127"/>
              <a:cs typeface="Arial" pitchFamily="34" charset="0"/>
            </a:endParaRPr>
          </a:p>
        </p:txBody>
      </p:sp>
      <p:sp>
        <p:nvSpPr>
          <p:cNvPr id="129028" name="TextBox 30"/>
          <p:cNvSpPr txBox="1">
            <a:spLocks noChangeArrowheads="1"/>
          </p:cNvSpPr>
          <p:nvPr/>
        </p:nvSpPr>
        <p:spPr bwMode="auto">
          <a:xfrm>
            <a:off x="2708275" y="1584325"/>
            <a:ext cx="2709863"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Giá</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trị</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trung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bình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phân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bổ</a:t>
            </a:r>
            <a:r>
              <a:rPr lang="en-US" altLang="ko-KR" sz="1100" b="1" dirty="0">
                <a:latin typeface="Arial" pitchFamily="34" charset="0"/>
                <a:ea typeface="맑은 고딕" pitchFamily="50" charset="-127"/>
                <a:cs typeface="Arial" pitchFamily="34" charset="0"/>
              </a:rPr>
              <a:t> ở </a:t>
            </a:r>
            <a:r>
              <a:rPr lang="en-US" altLang="ko-KR" sz="1100" b="1" dirty="0" err="1">
                <a:latin typeface="Arial" pitchFamily="34" charset="0"/>
                <a:ea typeface="맑은 고딕" pitchFamily="50" charset="-127"/>
                <a:cs typeface="Arial" pitchFamily="34" charset="0"/>
              </a:rPr>
              <a:t>cực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phải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Dốc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tần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suất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lệch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về</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bên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phải</a:t>
            </a:r>
            <a:r>
              <a:rPr lang="en-US" altLang="ko-KR" sz="1100" b="1" dirty="0">
                <a:latin typeface="Arial" pitchFamily="34" charset="0"/>
                <a:ea typeface="맑은 고딕" pitchFamily="50" charset="-127"/>
                <a:cs typeface="Arial" pitchFamily="34" charset="0"/>
              </a:rPr>
              <a:t>). </a:t>
            </a:r>
            <a:endParaRPr lang="ko-KR" altLang="en-US" sz="1100" b="1" dirty="0">
              <a:latin typeface="Arial" pitchFamily="34" charset="0"/>
              <a:ea typeface="맑은 고딕" pitchFamily="50" charset="-127"/>
              <a:cs typeface="Arial" pitchFamily="34" charset="0"/>
            </a:endParaRPr>
          </a:p>
        </p:txBody>
      </p:sp>
      <p:grpSp>
        <p:nvGrpSpPr>
          <p:cNvPr id="4" name="그룹 71"/>
          <p:cNvGrpSpPr>
            <a:grpSpLocks/>
          </p:cNvGrpSpPr>
          <p:nvPr/>
        </p:nvGrpSpPr>
        <p:grpSpPr bwMode="auto">
          <a:xfrm>
            <a:off x="1279525" y="3838575"/>
            <a:ext cx="1143000" cy="736600"/>
            <a:chOff x="1452564" y="3929066"/>
            <a:chExt cx="1143000" cy="736598"/>
          </a:xfrm>
        </p:grpSpPr>
        <p:sp>
          <p:nvSpPr>
            <p:cNvPr id="129102" name="직사각형 35"/>
            <p:cNvSpPr>
              <a:spLocks noChangeArrowheads="1"/>
            </p:cNvSpPr>
            <p:nvPr/>
          </p:nvSpPr>
          <p:spPr bwMode="auto">
            <a:xfrm>
              <a:off x="1546863" y="4500570"/>
              <a:ext cx="108906" cy="163764"/>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03" name="직사각형 36"/>
            <p:cNvSpPr>
              <a:spLocks noChangeArrowheads="1"/>
            </p:cNvSpPr>
            <p:nvPr/>
          </p:nvSpPr>
          <p:spPr bwMode="auto">
            <a:xfrm>
              <a:off x="1655770" y="4357694"/>
              <a:ext cx="108906" cy="306639"/>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04" name="직사각형 37"/>
            <p:cNvSpPr>
              <a:spLocks noChangeArrowheads="1"/>
            </p:cNvSpPr>
            <p:nvPr/>
          </p:nvSpPr>
          <p:spPr bwMode="auto">
            <a:xfrm>
              <a:off x="1764677" y="3929066"/>
              <a:ext cx="108906" cy="735267"/>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05" name="직사각형 38"/>
            <p:cNvSpPr>
              <a:spLocks noChangeArrowheads="1"/>
            </p:cNvSpPr>
            <p:nvPr/>
          </p:nvSpPr>
          <p:spPr bwMode="auto">
            <a:xfrm>
              <a:off x="1871251" y="4071943"/>
              <a:ext cx="108906" cy="59239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06" name="직사각형 39"/>
            <p:cNvSpPr>
              <a:spLocks noChangeArrowheads="1"/>
            </p:cNvSpPr>
            <p:nvPr/>
          </p:nvSpPr>
          <p:spPr bwMode="auto">
            <a:xfrm>
              <a:off x="1979258" y="4172934"/>
              <a:ext cx="108906" cy="491398"/>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07" name="직사각형 40"/>
            <p:cNvSpPr>
              <a:spLocks noChangeArrowheads="1"/>
            </p:cNvSpPr>
            <p:nvPr/>
          </p:nvSpPr>
          <p:spPr bwMode="auto">
            <a:xfrm>
              <a:off x="2088166" y="4255703"/>
              <a:ext cx="108906" cy="40863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08" name="직사각형 41"/>
            <p:cNvSpPr>
              <a:spLocks noChangeArrowheads="1"/>
            </p:cNvSpPr>
            <p:nvPr/>
          </p:nvSpPr>
          <p:spPr bwMode="auto">
            <a:xfrm>
              <a:off x="2197072" y="4027103"/>
              <a:ext cx="108906" cy="63723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09" name="직사각형 42"/>
            <p:cNvSpPr>
              <a:spLocks noChangeArrowheads="1"/>
            </p:cNvSpPr>
            <p:nvPr/>
          </p:nvSpPr>
          <p:spPr bwMode="auto">
            <a:xfrm>
              <a:off x="2293685" y="4286256"/>
              <a:ext cx="108906" cy="378079"/>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10" name="직사각형 43"/>
            <p:cNvSpPr>
              <a:spLocks noChangeArrowheads="1"/>
            </p:cNvSpPr>
            <p:nvPr/>
          </p:nvSpPr>
          <p:spPr bwMode="auto">
            <a:xfrm>
              <a:off x="2404363" y="4429132"/>
              <a:ext cx="108906" cy="235201"/>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cxnSp>
          <p:nvCxnSpPr>
            <p:cNvPr id="129111" name="직선 연결선 34"/>
            <p:cNvCxnSpPr>
              <a:cxnSpLocks noChangeShapeType="1"/>
            </p:cNvCxnSpPr>
            <p:nvPr/>
          </p:nvCxnSpPr>
          <p:spPr bwMode="auto">
            <a:xfrm rot="16200000" flipH="1">
              <a:off x="2023397" y="4093498"/>
              <a:ext cx="1333" cy="11430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29030" name="TextBox 44"/>
          <p:cNvSpPr txBox="1">
            <a:spLocks noChangeArrowheads="1"/>
          </p:cNvSpPr>
          <p:nvPr/>
        </p:nvSpPr>
        <p:spPr bwMode="auto">
          <a:xfrm>
            <a:off x="1280592" y="3284984"/>
            <a:ext cx="1152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Arial" pitchFamily="34" charset="0"/>
                <a:ea typeface="맑은 고딕" pitchFamily="50" charset="-127"/>
                <a:cs typeface="Arial" pitchFamily="34" charset="0"/>
              </a:rPr>
              <a:t>(e) </a:t>
            </a:r>
            <a:r>
              <a:rPr lang="en-US" altLang="ko-KR" sz="1000" b="1" dirty="0" err="1">
                <a:latin typeface="Arial" pitchFamily="34" charset="0"/>
                <a:ea typeface="맑은 고딕" pitchFamily="50" charset="-127"/>
                <a:cs typeface="Arial" pitchFamily="34" charset="0"/>
              </a:rPr>
              <a:t>Bình</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nguyên</a:t>
            </a:r>
            <a:endParaRPr lang="en-US" altLang="ko-KR" sz="1000" b="1" dirty="0">
              <a:latin typeface="Arial" pitchFamily="34" charset="0"/>
              <a:ea typeface="맑은 고딕" pitchFamily="50" charset="-127"/>
              <a:cs typeface="Arial" pitchFamily="34" charset="0"/>
            </a:endParaRPr>
          </a:p>
          <a:p>
            <a:pPr eaLnBrk="1" hangingPunct="1"/>
            <a:r>
              <a:rPr lang="en-US" altLang="ko-KR" sz="1000" b="1" dirty="0">
                <a:latin typeface="Arial" pitchFamily="34" charset="0"/>
                <a:ea typeface="맑은 고딕" pitchFamily="50" charset="-127"/>
                <a:cs typeface="Arial" pitchFamily="34" charset="0"/>
              </a:rPr>
              <a:t>(Plateau Type)</a:t>
            </a:r>
            <a:endParaRPr lang="ko-KR" altLang="en-US" sz="1000" b="1" dirty="0">
              <a:latin typeface="Arial" pitchFamily="34" charset="0"/>
              <a:ea typeface="맑은 고딕" pitchFamily="50" charset="-127"/>
              <a:cs typeface="Arial" pitchFamily="34" charset="0"/>
            </a:endParaRPr>
          </a:p>
        </p:txBody>
      </p:sp>
      <p:grpSp>
        <p:nvGrpSpPr>
          <p:cNvPr id="5" name="그룹 53"/>
          <p:cNvGrpSpPr>
            <a:grpSpLocks/>
          </p:cNvGrpSpPr>
          <p:nvPr/>
        </p:nvGrpSpPr>
        <p:grpSpPr bwMode="auto">
          <a:xfrm>
            <a:off x="1223963" y="1484784"/>
            <a:ext cx="1143000" cy="785812"/>
            <a:chOff x="1397000" y="1714488"/>
            <a:chExt cx="1143000" cy="1130300"/>
          </a:xfrm>
        </p:grpSpPr>
        <p:sp>
          <p:nvSpPr>
            <p:cNvPr id="129092" name="직사각형 48"/>
            <p:cNvSpPr>
              <a:spLocks noChangeArrowheads="1"/>
            </p:cNvSpPr>
            <p:nvPr/>
          </p:nvSpPr>
          <p:spPr bwMode="auto">
            <a:xfrm>
              <a:off x="1490663" y="1785926"/>
              <a:ext cx="109537" cy="105727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93" name="직사각형 49"/>
            <p:cNvSpPr>
              <a:spLocks noChangeArrowheads="1"/>
            </p:cNvSpPr>
            <p:nvPr/>
          </p:nvSpPr>
          <p:spPr bwMode="auto">
            <a:xfrm>
              <a:off x="1600200" y="1714488"/>
              <a:ext cx="107950" cy="1128713"/>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94" name="직사각형 50"/>
            <p:cNvSpPr>
              <a:spLocks noChangeArrowheads="1"/>
            </p:cNvSpPr>
            <p:nvPr/>
          </p:nvSpPr>
          <p:spPr bwMode="auto">
            <a:xfrm>
              <a:off x="1708150" y="1857364"/>
              <a:ext cx="109538" cy="985837"/>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95" name="직사각형 51"/>
            <p:cNvSpPr>
              <a:spLocks noChangeArrowheads="1"/>
            </p:cNvSpPr>
            <p:nvPr/>
          </p:nvSpPr>
          <p:spPr bwMode="auto">
            <a:xfrm>
              <a:off x="1816100" y="2143115"/>
              <a:ext cx="109538" cy="70008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96" name="직사각형 52"/>
            <p:cNvSpPr>
              <a:spLocks noChangeArrowheads="1"/>
            </p:cNvSpPr>
            <p:nvPr/>
          </p:nvSpPr>
          <p:spPr bwMode="auto">
            <a:xfrm>
              <a:off x="1922463" y="2357430"/>
              <a:ext cx="106362" cy="485771"/>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97" name="직사각형 53"/>
            <p:cNvSpPr>
              <a:spLocks noChangeArrowheads="1"/>
            </p:cNvSpPr>
            <p:nvPr/>
          </p:nvSpPr>
          <p:spPr bwMode="auto">
            <a:xfrm>
              <a:off x="2028825" y="2500305"/>
              <a:ext cx="109538" cy="34289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98" name="직사각형 54"/>
            <p:cNvSpPr>
              <a:spLocks noChangeArrowheads="1"/>
            </p:cNvSpPr>
            <p:nvPr/>
          </p:nvSpPr>
          <p:spPr bwMode="auto">
            <a:xfrm>
              <a:off x="2138363" y="2428869"/>
              <a:ext cx="107950" cy="41433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99" name="직사각형 55"/>
            <p:cNvSpPr>
              <a:spLocks noChangeArrowheads="1"/>
            </p:cNvSpPr>
            <p:nvPr/>
          </p:nvSpPr>
          <p:spPr bwMode="auto">
            <a:xfrm>
              <a:off x="2247900" y="2643181"/>
              <a:ext cx="109538" cy="200019"/>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100" name="직사각형 56"/>
            <p:cNvSpPr>
              <a:spLocks noChangeArrowheads="1"/>
            </p:cNvSpPr>
            <p:nvPr/>
          </p:nvSpPr>
          <p:spPr bwMode="auto">
            <a:xfrm>
              <a:off x="2359025" y="2709851"/>
              <a:ext cx="109538" cy="13335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cxnSp>
          <p:nvCxnSpPr>
            <p:cNvPr id="129101" name="직선 연결선 47"/>
            <p:cNvCxnSpPr>
              <a:cxnSpLocks noChangeShapeType="1"/>
            </p:cNvCxnSpPr>
            <p:nvPr/>
          </p:nvCxnSpPr>
          <p:spPr bwMode="auto">
            <a:xfrm rot="16200000" flipH="1">
              <a:off x="1967706" y="2272495"/>
              <a:ext cx="1587" cy="11430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29032" name="TextBox 57"/>
          <p:cNvSpPr txBox="1">
            <a:spLocks noChangeArrowheads="1"/>
          </p:cNvSpPr>
          <p:nvPr/>
        </p:nvSpPr>
        <p:spPr bwMode="auto">
          <a:xfrm>
            <a:off x="1339209" y="4594164"/>
            <a:ext cx="91884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a:latin typeface="Arial" pitchFamily="34" charset="0"/>
                <a:ea typeface="맑은 고딕" pitchFamily="50" charset="-127"/>
                <a:cs typeface="Arial" pitchFamily="34" charset="0"/>
              </a:rPr>
              <a:t>(f) Hai </a:t>
            </a:r>
            <a:r>
              <a:rPr lang="en-US" altLang="ko-KR" sz="1100" b="1" dirty="0" err="1">
                <a:latin typeface="Arial" pitchFamily="34" charset="0"/>
                <a:ea typeface="맑은 고딕" pitchFamily="50" charset="-127"/>
                <a:cs typeface="Arial" pitchFamily="34" charset="0"/>
              </a:rPr>
              <a:t>đỉnh</a:t>
            </a:r>
            <a:endParaRPr lang="ko-KR" altLang="en-US" sz="1100" b="1" dirty="0">
              <a:latin typeface="Arial" pitchFamily="34" charset="0"/>
              <a:ea typeface="맑은 고딕" pitchFamily="50" charset="-127"/>
              <a:cs typeface="Arial" pitchFamily="34" charset="0"/>
            </a:endParaRPr>
          </a:p>
        </p:txBody>
      </p:sp>
      <p:sp>
        <p:nvSpPr>
          <p:cNvPr id="129033" name="TextBox 58"/>
          <p:cNvSpPr txBox="1">
            <a:spLocks noChangeArrowheads="1"/>
          </p:cNvSpPr>
          <p:nvPr/>
        </p:nvSpPr>
        <p:spPr bwMode="auto">
          <a:xfrm>
            <a:off x="2708275" y="2828836"/>
            <a:ext cx="267677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giá</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trị</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tần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suất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không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thay</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đổi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nhiều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lắm</a:t>
            </a:r>
            <a:endParaRPr lang="en-US" altLang="ko-KR" sz="1100" b="1" dirty="0">
              <a:latin typeface="Arial" pitchFamily="34" charset="0"/>
              <a:ea typeface="맑은 고딕" pitchFamily="50" charset="-127"/>
              <a:cs typeface="Arial" pitchFamily="34" charset="0"/>
            </a:endParaRPr>
          </a:p>
        </p:txBody>
      </p:sp>
      <p:sp>
        <p:nvSpPr>
          <p:cNvPr id="129034" name="TextBox 60"/>
          <p:cNvSpPr txBox="1">
            <a:spLocks noChangeArrowheads="1"/>
          </p:cNvSpPr>
          <p:nvPr/>
        </p:nvSpPr>
        <p:spPr bwMode="auto">
          <a:xfrm>
            <a:off x="2708275" y="3883695"/>
            <a:ext cx="270986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mức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độ</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tần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suất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gần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trung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tâm</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phân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bổ</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là</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thấp</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trong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cao</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hơn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về</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phía</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bên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và</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phải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tạo</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thành</a:t>
            </a:r>
            <a:r>
              <a:rPr lang="en-US" altLang="ko-KR" sz="1100" b="1" dirty="0">
                <a:latin typeface="Arial" pitchFamily="34" charset="0"/>
                <a:ea typeface="맑은 고딕" pitchFamily="50" charset="-127"/>
                <a:cs typeface="Arial" pitchFamily="34" charset="0"/>
              </a:rPr>
              <a:t> 2 </a:t>
            </a:r>
            <a:r>
              <a:rPr lang="en-US" altLang="ko-KR" sz="1100" b="1" dirty="0" err="1">
                <a:latin typeface="Arial" pitchFamily="34" charset="0"/>
                <a:ea typeface="맑은 고딕" pitchFamily="50" charset="-127"/>
                <a:cs typeface="Arial" pitchFamily="34" charset="0"/>
              </a:rPr>
              <a:t>đỉnh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nhau</a:t>
            </a:r>
            <a:r>
              <a:rPr lang="en-US" altLang="ko-KR" sz="1100" b="1" dirty="0">
                <a:latin typeface="Arial" pitchFamily="34" charset="0"/>
                <a:ea typeface="맑은 고딕" pitchFamily="50" charset="-127"/>
                <a:cs typeface="Arial" pitchFamily="34" charset="0"/>
              </a:rPr>
              <a:t>. </a:t>
            </a:r>
          </a:p>
        </p:txBody>
      </p:sp>
      <p:sp>
        <p:nvSpPr>
          <p:cNvPr id="129035" name="TextBox 61"/>
          <p:cNvSpPr txBox="1">
            <a:spLocks noChangeArrowheads="1"/>
          </p:cNvSpPr>
          <p:nvPr/>
        </p:nvSpPr>
        <p:spPr bwMode="auto">
          <a:xfrm>
            <a:off x="5418138" y="2727911"/>
            <a:ext cx="263120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Dạng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này</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phát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sinh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nhiều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loại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dữ</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liệu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bị</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trộn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lẫn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với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nhau</a:t>
            </a:r>
            <a:r>
              <a:rPr lang="en-US" altLang="ko-KR" sz="1100" b="1" dirty="0">
                <a:latin typeface="Arial" pitchFamily="34" charset="0"/>
                <a:ea typeface="맑은 고딕" pitchFamily="50" charset="-127"/>
                <a:cs typeface="Arial" pitchFamily="34" charset="0"/>
              </a:rPr>
              <a:t>.</a:t>
            </a:r>
          </a:p>
        </p:txBody>
      </p:sp>
      <p:sp>
        <p:nvSpPr>
          <p:cNvPr id="129036" name="TextBox 60"/>
          <p:cNvSpPr txBox="1">
            <a:spLocks noChangeArrowheads="1"/>
          </p:cNvSpPr>
          <p:nvPr/>
        </p:nvSpPr>
        <p:spPr bwMode="auto">
          <a:xfrm>
            <a:off x="5418138" y="3645024"/>
            <a:ext cx="2703214" cy="93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Hình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dạng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này</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xuất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hiện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khi</a:t>
            </a:r>
            <a:r>
              <a:rPr lang="en-US" altLang="ko-KR" sz="1100" b="1" dirty="0">
                <a:latin typeface="Arial" pitchFamily="34" charset="0"/>
                <a:ea typeface="맑은 고딕" pitchFamily="50" charset="-127"/>
                <a:cs typeface="Arial" pitchFamily="34" charset="0"/>
              </a:rPr>
              <a:t> 2 </a:t>
            </a:r>
            <a:r>
              <a:rPr lang="en-US" altLang="ko-KR" sz="1100" b="1" dirty="0" err="1">
                <a:latin typeface="Arial" pitchFamily="34" charset="0"/>
                <a:ea typeface="맑은 고딕" pitchFamily="50" charset="-127"/>
                <a:cs typeface="Arial" pitchFamily="34" charset="0"/>
              </a:rPr>
              <a:t>sự</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phân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bổ</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có</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giá</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trị</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trung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bình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nhau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bị</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trộn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lẫn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với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nhau</a:t>
            </a:r>
            <a:r>
              <a:rPr lang="en-US" altLang="ko-KR" sz="1100" b="1" dirty="0">
                <a:latin typeface="Arial" pitchFamily="34" charset="0"/>
                <a:ea typeface="맑은 고딕" pitchFamily="50" charset="-127"/>
                <a:cs typeface="Arial" pitchFamily="34" charset="0"/>
              </a:rPr>
              <a:t>. </a:t>
            </a:r>
          </a:p>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Dữ</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liệu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có</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thể</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được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trộn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lẫn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từ</a:t>
            </a:r>
            <a:r>
              <a:rPr lang="en-US" altLang="ko-KR" sz="1100" b="1" dirty="0">
                <a:latin typeface="Arial" pitchFamily="34" charset="0"/>
                <a:ea typeface="맑은 고딕" pitchFamily="50" charset="-127"/>
                <a:cs typeface="Arial" pitchFamily="34" charset="0"/>
              </a:rPr>
              <a:t> 2 </a:t>
            </a:r>
            <a:r>
              <a:rPr lang="en-US" altLang="ko-KR" sz="1100" b="1" dirty="0" err="1">
                <a:latin typeface="Arial" pitchFamily="34" charset="0"/>
                <a:ea typeface="맑은 고딕" pitchFamily="50" charset="-127"/>
                <a:cs typeface="Arial" pitchFamily="34" charset="0"/>
              </a:rPr>
              <a:t>máy</a:t>
            </a:r>
            <a:r>
              <a:rPr lang="en-US" altLang="ko-KR" sz="1100" b="1" dirty="0">
                <a:latin typeface="Arial" pitchFamily="34" charset="0"/>
                <a:ea typeface="맑은 고딕" pitchFamily="50" charset="-127"/>
                <a:cs typeface="Arial" pitchFamily="34" charset="0"/>
              </a:rPr>
              <a:t>, 2 </a:t>
            </a:r>
            <a:r>
              <a:rPr lang="en-US" altLang="ko-KR" sz="1100" b="1" dirty="0" err="1">
                <a:latin typeface="Arial" pitchFamily="34" charset="0"/>
                <a:ea typeface="맑은 고딕" pitchFamily="50" charset="-127"/>
                <a:cs typeface="Arial" pitchFamily="34" charset="0"/>
              </a:rPr>
              <a:t>loại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dữ</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liệu</a:t>
            </a:r>
            <a:r>
              <a:rPr lang="en-US" altLang="ko-KR" sz="1100" b="1" dirty="0">
                <a:latin typeface="Arial" pitchFamily="34" charset="0"/>
                <a:ea typeface="맑은 고딕" pitchFamily="50" charset="-127"/>
                <a:cs typeface="Arial" pitchFamily="34" charset="0"/>
              </a:rPr>
              <a:t>, v.v.. </a:t>
            </a:r>
            <a:r>
              <a:rPr lang="en-US" altLang="ko-KR" sz="1100" b="1" dirty="0" err="1">
                <a:latin typeface="Arial" pitchFamily="34" charset="0"/>
                <a:ea typeface="맑은 고딕" pitchFamily="50" charset="-127"/>
                <a:cs typeface="Arial" pitchFamily="34" charset="0"/>
              </a:rPr>
              <a:t>khác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nhau</a:t>
            </a:r>
            <a:r>
              <a:rPr lang="en-US" altLang="ko-KR" sz="1100" b="1" dirty="0">
                <a:latin typeface="Arial" pitchFamily="34" charset="0"/>
                <a:ea typeface="맑은 고딕" pitchFamily="50" charset="-127"/>
                <a:cs typeface="Arial" pitchFamily="34" charset="0"/>
              </a:rPr>
              <a:t>. </a:t>
            </a:r>
            <a:endParaRPr lang="ko-KR" altLang="en-US" sz="1100" b="1" dirty="0">
              <a:latin typeface="Arial" pitchFamily="34" charset="0"/>
              <a:ea typeface="맑은 고딕" pitchFamily="50" charset="-127"/>
              <a:cs typeface="Arial" pitchFamily="34" charset="0"/>
            </a:endParaRPr>
          </a:p>
        </p:txBody>
      </p:sp>
      <p:sp>
        <p:nvSpPr>
          <p:cNvPr id="129037" name="TextBox 61"/>
          <p:cNvSpPr txBox="1">
            <a:spLocks noChangeArrowheads="1"/>
          </p:cNvSpPr>
          <p:nvPr/>
        </p:nvSpPr>
        <p:spPr bwMode="auto">
          <a:xfrm>
            <a:off x="5418138" y="1584325"/>
            <a:ext cx="2723823"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Dạng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này</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phát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sinh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mẫu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nằm</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dưới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tiêu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chuẩn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Rà</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soát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việc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kiểm</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tra</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và</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đo</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lường</a:t>
            </a:r>
            <a:r>
              <a:rPr lang="en-US" altLang="ko-KR" sz="1100" b="1" dirty="0">
                <a:latin typeface="Arial" pitchFamily="34" charset="0"/>
                <a:ea typeface="맑은 고딕" pitchFamily="50" charset="-127"/>
                <a:cs typeface="Arial" pitchFamily="34" charset="0"/>
              </a:rPr>
              <a:t>.</a:t>
            </a:r>
            <a:endParaRPr lang="ko-KR" altLang="en-US" sz="1100" b="1" dirty="0">
              <a:latin typeface="Arial" pitchFamily="34" charset="0"/>
              <a:ea typeface="맑은 고딕" pitchFamily="50" charset="-127"/>
              <a:cs typeface="Arial" pitchFamily="34" charset="0"/>
            </a:endParaRPr>
          </a:p>
        </p:txBody>
      </p:sp>
      <p:sp>
        <p:nvSpPr>
          <p:cNvPr id="129038" name="직사각형 35"/>
          <p:cNvSpPr>
            <a:spLocks noChangeArrowheads="1"/>
          </p:cNvSpPr>
          <p:nvPr/>
        </p:nvSpPr>
        <p:spPr bwMode="auto">
          <a:xfrm>
            <a:off x="1187450" y="5767388"/>
            <a:ext cx="107950" cy="10636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39" name="직사각형 36"/>
          <p:cNvSpPr>
            <a:spLocks noChangeArrowheads="1"/>
          </p:cNvSpPr>
          <p:nvPr/>
        </p:nvSpPr>
        <p:spPr bwMode="auto">
          <a:xfrm>
            <a:off x="1295400" y="5719763"/>
            <a:ext cx="109538" cy="153987"/>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40" name="직사각형 37"/>
          <p:cNvSpPr>
            <a:spLocks noChangeArrowheads="1"/>
          </p:cNvSpPr>
          <p:nvPr/>
        </p:nvSpPr>
        <p:spPr bwMode="auto">
          <a:xfrm>
            <a:off x="1404938" y="5481638"/>
            <a:ext cx="107950" cy="39211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41" name="직사각형 38"/>
          <p:cNvSpPr>
            <a:spLocks noChangeArrowheads="1"/>
          </p:cNvSpPr>
          <p:nvPr/>
        </p:nvSpPr>
        <p:spPr bwMode="auto">
          <a:xfrm>
            <a:off x="1511300" y="5395913"/>
            <a:ext cx="107950" cy="477837"/>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42" name="직사각형 39"/>
          <p:cNvSpPr>
            <a:spLocks noChangeArrowheads="1"/>
          </p:cNvSpPr>
          <p:nvPr/>
        </p:nvSpPr>
        <p:spPr bwMode="auto">
          <a:xfrm>
            <a:off x="1622425" y="5091113"/>
            <a:ext cx="109538" cy="782637"/>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43" name="직사각형 40"/>
          <p:cNvSpPr>
            <a:spLocks noChangeArrowheads="1"/>
          </p:cNvSpPr>
          <p:nvPr/>
        </p:nvSpPr>
        <p:spPr bwMode="auto">
          <a:xfrm>
            <a:off x="1731963" y="5211763"/>
            <a:ext cx="107950" cy="661987"/>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44" name="직사각형 41"/>
          <p:cNvSpPr>
            <a:spLocks noChangeArrowheads="1"/>
          </p:cNvSpPr>
          <p:nvPr/>
        </p:nvSpPr>
        <p:spPr bwMode="auto">
          <a:xfrm>
            <a:off x="1839913" y="5483225"/>
            <a:ext cx="109537" cy="390525"/>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45" name="직사각형 42"/>
          <p:cNvSpPr>
            <a:spLocks noChangeArrowheads="1"/>
          </p:cNvSpPr>
          <p:nvPr/>
        </p:nvSpPr>
        <p:spPr bwMode="auto">
          <a:xfrm>
            <a:off x="1951038" y="5716588"/>
            <a:ext cx="107950" cy="15716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46" name="직사각형 43"/>
          <p:cNvSpPr>
            <a:spLocks noChangeArrowheads="1"/>
          </p:cNvSpPr>
          <p:nvPr/>
        </p:nvSpPr>
        <p:spPr bwMode="auto">
          <a:xfrm>
            <a:off x="2060575" y="5638800"/>
            <a:ext cx="109538" cy="23495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cxnSp>
        <p:nvCxnSpPr>
          <p:cNvPr id="129047" name="직선 연결선 34"/>
          <p:cNvCxnSpPr>
            <a:cxnSpLocks noChangeShapeType="1"/>
          </p:cNvCxnSpPr>
          <p:nvPr/>
        </p:nvCxnSpPr>
        <p:spPr bwMode="auto">
          <a:xfrm flipV="1">
            <a:off x="1136650" y="5875338"/>
            <a:ext cx="1530350" cy="15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29048" name="TextBox 57"/>
          <p:cNvSpPr txBox="1">
            <a:spLocks noChangeArrowheads="1"/>
          </p:cNvSpPr>
          <p:nvPr/>
        </p:nvSpPr>
        <p:spPr bwMode="auto">
          <a:xfrm>
            <a:off x="1347398" y="5861710"/>
            <a:ext cx="10038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Arial" pitchFamily="34" charset="0"/>
                <a:ea typeface="맑은 고딕" pitchFamily="50" charset="-127"/>
                <a:cs typeface="Arial" pitchFamily="34" charset="0"/>
              </a:rPr>
              <a:t>(g) </a:t>
            </a:r>
            <a:r>
              <a:rPr lang="en-US" altLang="ko-KR" sz="1000" b="1" dirty="0" err="1">
                <a:latin typeface="Arial" pitchFamily="34" charset="0"/>
                <a:ea typeface="맑은 고딕" pitchFamily="50" charset="-127"/>
                <a:cs typeface="Arial" pitchFamily="34" charset="0"/>
              </a:rPr>
              <a:t>Dạng</a:t>
            </a:r>
            <a:r>
              <a:rPr lang="en-US" altLang="ko-KR" sz="1000" b="1" dirty="0">
                <a:latin typeface="Arial" pitchFamily="34" charset="0"/>
                <a:ea typeface="맑은 고딕" pitchFamily="50" charset="-127"/>
                <a:cs typeface="Arial" pitchFamily="34" charset="0"/>
              </a:rPr>
              <a:t> </a:t>
            </a:r>
            <a:r>
              <a:rPr lang="en-US" altLang="ko-KR" sz="1000" b="1" dirty="0" err="1">
                <a:latin typeface="Arial" pitchFamily="34" charset="0"/>
                <a:ea typeface="맑은 고딕" pitchFamily="50" charset="-127"/>
                <a:cs typeface="Arial" pitchFamily="34" charset="0"/>
              </a:rPr>
              <a:t>đảo</a:t>
            </a:r>
            <a:r>
              <a:rPr lang="en-US" altLang="ko-KR" sz="1000" b="1" dirty="0">
                <a:latin typeface="Arial" pitchFamily="34" charset="0"/>
                <a:ea typeface="맑은 고딕" pitchFamily="50" charset="-127"/>
                <a:cs typeface="Arial" pitchFamily="34" charset="0"/>
              </a:rPr>
              <a:t> </a:t>
            </a:r>
          </a:p>
          <a:p>
            <a:pPr eaLnBrk="1" hangingPunct="1"/>
            <a:r>
              <a:rPr lang="en-US" altLang="ko-KR" sz="1000" b="1" dirty="0">
                <a:latin typeface="Arial" pitchFamily="34" charset="0"/>
                <a:ea typeface="맑은 고딕" pitchFamily="50" charset="-127"/>
                <a:cs typeface="Arial" pitchFamily="34" charset="0"/>
              </a:rPr>
              <a:t>(Island Type)</a:t>
            </a:r>
            <a:endParaRPr lang="ko-KR" altLang="en-US" sz="1000" b="1" dirty="0">
              <a:latin typeface="Arial" pitchFamily="34" charset="0"/>
              <a:ea typeface="맑은 고딕" pitchFamily="50" charset="-127"/>
              <a:cs typeface="Arial" pitchFamily="34" charset="0"/>
            </a:endParaRPr>
          </a:p>
        </p:txBody>
      </p:sp>
      <p:sp>
        <p:nvSpPr>
          <p:cNvPr id="129049" name="TextBox 60"/>
          <p:cNvSpPr txBox="1">
            <a:spLocks noChangeArrowheads="1"/>
          </p:cNvSpPr>
          <p:nvPr/>
        </p:nvSpPr>
        <p:spPr bwMode="auto">
          <a:xfrm>
            <a:off x="2708275" y="5151438"/>
            <a:ext cx="260476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Có</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vực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cột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tách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rời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nhau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như</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hình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dạng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đảo</a:t>
            </a:r>
            <a:r>
              <a:rPr lang="en-US" altLang="ko-KR" sz="1100" b="1" dirty="0">
                <a:latin typeface="Arial" pitchFamily="34" charset="0"/>
                <a:ea typeface="맑은 고딕" pitchFamily="50" charset="-127"/>
                <a:cs typeface="Arial" pitchFamily="34" charset="0"/>
              </a:rPr>
              <a:t>. </a:t>
            </a:r>
          </a:p>
        </p:txBody>
      </p:sp>
      <p:sp>
        <p:nvSpPr>
          <p:cNvPr id="129050" name="TextBox 60"/>
          <p:cNvSpPr txBox="1">
            <a:spLocks noChangeArrowheads="1"/>
          </p:cNvSpPr>
          <p:nvPr/>
        </p:nvSpPr>
        <p:spPr bwMode="auto">
          <a:xfrm>
            <a:off x="5418138" y="5014337"/>
            <a:ext cx="270321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Dạng</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này</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phát</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sinh</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các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loại</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phân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bổ</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khác</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nhau</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bị</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trộn</a:t>
            </a:r>
            <a:r>
              <a:rPr lang="en-US" altLang="ko-KR" sz="1100" b="1" dirty="0">
                <a:latin typeface="Arial" pitchFamily="34" charset="0"/>
                <a:ea typeface="맑은 고딕" pitchFamily="50" charset="-127"/>
                <a:cs typeface="Arial" pitchFamily="34" charset="0"/>
              </a:rPr>
              <a:t> </a:t>
            </a:r>
            <a:r>
              <a:rPr lang="en-US" altLang="ko-KR" sz="1100" b="1" dirty="0" err="1">
                <a:latin typeface="Arial" pitchFamily="34" charset="0"/>
                <a:ea typeface="맑은 고딕" pitchFamily="50" charset="-127"/>
                <a:cs typeface="Arial" pitchFamily="34" charset="0"/>
              </a:rPr>
              <a:t>lẫn</a:t>
            </a:r>
            <a:r>
              <a:rPr lang="en-US" altLang="ko-KR" sz="1100" b="1" dirty="0">
                <a:latin typeface="Arial" pitchFamily="34" charset="0"/>
                <a:ea typeface="맑은 고딕" pitchFamily="50" charset="-127"/>
                <a:cs typeface="Arial" pitchFamily="34" charset="0"/>
              </a:rPr>
              <a:t>.</a:t>
            </a:r>
            <a:endParaRPr lang="ko-KR" altLang="en-US" sz="1100" b="1" dirty="0">
              <a:latin typeface="Arial" pitchFamily="34" charset="0"/>
              <a:ea typeface="맑은 고딕" pitchFamily="50" charset="-127"/>
              <a:cs typeface="Arial" pitchFamily="34" charset="0"/>
            </a:endParaRPr>
          </a:p>
        </p:txBody>
      </p:sp>
      <p:sp>
        <p:nvSpPr>
          <p:cNvPr id="129051" name="직사각형 41"/>
          <p:cNvSpPr>
            <a:spLocks noChangeArrowheads="1"/>
          </p:cNvSpPr>
          <p:nvPr/>
        </p:nvSpPr>
        <p:spPr bwMode="auto">
          <a:xfrm>
            <a:off x="2170113" y="5767388"/>
            <a:ext cx="109537" cy="10636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52" name="직사각형 42"/>
          <p:cNvSpPr>
            <a:spLocks noChangeArrowheads="1"/>
          </p:cNvSpPr>
          <p:nvPr/>
        </p:nvSpPr>
        <p:spPr bwMode="auto">
          <a:xfrm>
            <a:off x="2403475" y="5716588"/>
            <a:ext cx="107950" cy="157162"/>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129053" name="직사각형 43"/>
          <p:cNvSpPr>
            <a:spLocks noChangeArrowheads="1"/>
          </p:cNvSpPr>
          <p:nvPr/>
        </p:nvSpPr>
        <p:spPr bwMode="auto">
          <a:xfrm>
            <a:off x="2505075" y="5638800"/>
            <a:ext cx="109538" cy="234950"/>
          </a:xfrm>
          <a:prstGeom prst="rect">
            <a:avLst/>
          </a:prstGeom>
          <a:solidFill>
            <a:srgbClr val="EAEAEA"/>
          </a:solidFill>
          <a:ln w="9525" algn="ctr">
            <a:solidFill>
              <a:schemeClr val="tx1"/>
            </a:solidFill>
            <a:round/>
            <a:headEnd/>
            <a:tailEnd/>
          </a:ln>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111</a:t>
            </a:fld>
            <a:endParaRPr lang="ko-KR" altLang="en-US" dirty="0"/>
          </a:p>
        </p:txBody>
      </p:sp>
      <p:sp>
        <p:nvSpPr>
          <p:cNvPr id="66" name="Text Box 4"/>
          <p:cNvSpPr txBox="1">
            <a:spLocks noChangeArrowheads="1"/>
          </p:cNvSpPr>
          <p:nvPr/>
        </p:nvSpPr>
        <p:spPr bwMode="auto">
          <a:xfrm>
            <a:off x="128588" y="179388"/>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Các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loại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biểu</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đồ</a:t>
            </a:r>
            <a:r>
              <a:rPr lang="en-US" altLang="ko-KR" sz="2000" b="1" dirty="0">
                <a:latin typeface="Arial" pitchFamily="34" charset="0"/>
                <a:ea typeface="맑은 고딕" pitchFamily="50" charset="-127"/>
                <a:cs typeface="Arial" pitchFamily="34" charset="0"/>
              </a:rPr>
              <a:t> Histogram</a:t>
            </a:r>
            <a:endParaRPr lang="ko-KR" altLang="en-US" sz="2000" b="1" dirty="0">
              <a:latin typeface="Arial" pitchFamily="34" charset="0"/>
              <a:ea typeface="맑은 고딕" pitchFamily="50" charset="-127"/>
              <a:cs typeface="Arial" pitchFamily="34" charset="0"/>
            </a:endParaRPr>
          </a:p>
        </p:txBody>
      </p:sp>
      <p:sp>
        <p:nvSpPr>
          <p:cNvPr id="67"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Histogram</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85054576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Text Box 4"/>
          <p:cNvSpPr txBox="1">
            <a:spLocks noChangeArrowheads="1"/>
          </p:cNvSpPr>
          <p:nvPr/>
        </p:nvSpPr>
        <p:spPr bwMode="auto">
          <a:xfrm>
            <a:off x="217488" y="2506663"/>
            <a:ext cx="6823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13" tIns="45707" rIns="91413" bIns="4570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b="1" dirty="0">
                <a:solidFill>
                  <a:srgbClr val="000000"/>
                </a:solidFill>
                <a:latin typeface="맑은 고딕" pitchFamily="50" charset="-127"/>
                <a:ea typeface="맑은 고딕" pitchFamily="50" charset="-127"/>
              </a:rPr>
              <a:t>Check Sheet</a:t>
            </a:r>
            <a:endParaRPr lang="ko-KR" altLang="en-US" sz="2400" b="1" dirty="0">
              <a:solidFill>
                <a:srgbClr val="000000"/>
              </a:solidFill>
              <a:latin typeface="맑은 고딕" pitchFamily="50" charset="-127"/>
              <a:ea typeface="맑은 고딕" pitchFamily="50" charset="-127"/>
            </a:endParaRPr>
          </a:p>
        </p:txBody>
      </p:sp>
    </p:spTree>
    <p:extLst>
      <p:ext uri="{BB962C8B-B14F-4D97-AF65-F5344CB8AC3E}">
        <p14:creationId xmlns:p14="http://schemas.microsoft.com/office/powerpoint/2010/main" val="203798337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ko-KR" altLang="en-US" sz="2000" b="1" dirty="0">
              <a:latin typeface="Arial" pitchFamily="34" charset="0"/>
              <a:ea typeface="맑은 고딕" pitchFamily="50" charset="-127"/>
              <a:cs typeface="Arial" pitchFamily="34" charset="0"/>
            </a:endParaRPr>
          </a:p>
        </p:txBody>
      </p:sp>
      <p:sp>
        <p:nvSpPr>
          <p:cNvPr id="132099" name="AutoShape 20"/>
          <p:cNvSpPr>
            <a:spLocks noChangeArrowheads="1"/>
          </p:cNvSpPr>
          <p:nvPr/>
        </p:nvSpPr>
        <p:spPr bwMode="auto">
          <a:xfrm>
            <a:off x="704528" y="1007759"/>
            <a:ext cx="8784207" cy="786420"/>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square" anchor="ctr">
            <a:spAutoFit/>
          </a:bodyPr>
          <a:lstStyle/>
          <a:p>
            <a:pPr algn="just">
              <a:lnSpc>
                <a:spcPct val="120000"/>
              </a:lnSpc>
            </a:pPr>
            <a:r>
              <a:rPr lang="en-US" altLang="ko-KR" b="1" dirty="0" err="1">
                <a:latin typeface="Arial" pitchFamily="34" charset="0"/>
                <a:ea typeface="맑은 고딕" pitchFamily="50" charset="-127"/>
                <a:cs typeface="Arial" pitchFamily="34" charset="0"/>
              </a:rPr>
              <a:t>Bảng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biểu</a:t>
            </a:r>
            <a:r>
              <a:rPr lang="en-US" altLang="ko-KR" b="1" dirty="0">
                <a:latin typeface="Arial" pitchFamily="34" charset="0"/>
                <a:ea typeface="맑은 고딕" pitchFamily="50" charset="-127"/>
                <a:cs typeface="Arial" pitchFamily="34" charset="0"/>
              </a:rPr>
              <a:t> hay </a:t>
            </a:r>
            <a:r>
              <a:rPr lang="en-US" altLang="ko-KR" b="1" dirty="0" err="1">
                <a:latin typeface="Arial" pitchFamily="34" charset="0"/>
                <a:ea typeface="맑은 고딕" pitchFamily="50" charset="-127"/>
                <a:cs typeface="Arial" pitchFamily="34" charset="0"/>
              </a:rPr>
              <a:t>bản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ghi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nhằm</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mục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đích</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thập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dữ</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liệu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hỗ</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trợ</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cho</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việc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ra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quyết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định</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tìm</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kiếm</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giải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pháp</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cho</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vấn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đề</a:t>
            </a:r>
            <a:r>
              <a:rPr lang="en-US" altLang="ko-KR" b="1" dirty="0">
                <a:latin typeface="Arial" pitchFamily="34" charset="0"/>
                <a:ea typeface="맑은 고딕" pitchFamily="50" charset="-127"/>
                <a:cs typeface="Arial" pitchFamily="34" charset="0"/>
              </a:rPr>
              <a:t>.</a:t>
            </a:r>
          </a:p>
        </p:txBody>
      </p:sp>
      <p:sp>
        <p:nvSpPr>
          <p:cNvPr id="132100" name="AutoShape 20"/>
          <p:cNvSpPr>
            <a:spLocks noChangeArrowheads="1"/>
          </p:cNvSpPr>
          <p:nvPr/>
        </p:nvSpPr>
        <p:spPr bwMode="auto">
          <a:xfrm>
            <a:off x="1280593" y="2579688"/>
            <a:ext cx="8258175" cy="928687"/>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none" anchor="ctr"/>
          <a:lstStyle/>
          <a:p>
            <a:pPr marL="342900" indent="-342900">
              <a:lnSpc>
                <a:spcPct val="150000"/>
              </a:lnSpc>
            </a:pPr>
            <a:r>
              <a:rPr lang="en-US" altLang="ko-KR" sz="1400" b="1" dirty="0">
                <a:latin typeface="Arial" pitchFamily="34" charset="0"/>
                <a:ea typeface="맑은 고딕" pitchFamily="50" charset="-127"/>
                <a:cs typeface="Arial" pitchFamily="34" charset="0"/>
              </a:rPr>
              <a:t>1. </a:t>
            </a:r>
            <a:r>
              <a:rPr lang="en-US" altLang="ko-KR" sz="1400" b="1" dirty="0" err="1">
                <a:latin typeface="Arial" pitchFamily="34" charset="0"/>
                <a:ea typeface="맑은 고딕" pitchFamily="50" charset="-127"/>
                <a:cs typeface="Arial" pitchFamily="34" charset="0"/>
              </a:rPr>
              <a:t>Lưu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thập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mỗi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hạng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mục</a:t>
            </a:r>
            <a:endParaRPr lang="en-US" altLang="ko-KR" sz="1400" b="1" dirty="0">
              <a:latin typeface="Arial" pitchFamily="34" charset="0"/>
              <a:ea typeface="맑은 고딕" pitchFamily="50" charset="-127"/>
              <a:cs typeface="Arial" pitchFamily="34" charset="0"/>
            </a:endParaRPr>
          </a:p>
          <a:p>
            <a:pPr marL="342900" indent="-342900">
              <a:lnSpc>
                <a:spcPct val="150000"/>
              </a:lnSpc>
            </a:pPr>
            <a:r>
              <a:rPr lang="en-US" altLang="ko-KR" sz="1400" b="1" dirty="0">
                <a:latin typeface="Arial" pitchFamily="34" charset="0"/>
                <a:ea typeface="맑은 고딕" pitchFamily="50" charset="-127"/>
                <a:cs typeface="Arial" pitchFamily="34" charset="0"/>
              </a:rPr>
              <a:t>2. </a:t>
            </a:r>
            <a:r>
              <a:rPr lang="en-US" altLang="ko-KR" sz="1400" b="1" dirty="0" err="1">
                <a:latin typeface="Arial" pitchFamily="34" charset="0"/>
                <a:ea typeface="맑은 고딕" pitchFamily="50" charset="-127"/>
                <a:cs typeface="Arial" pitchFamily="34" charset="0"/>
              </a:rPr>
              <a:t>Kiểm</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bảng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biểu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bản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ghi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tình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trạng</a:t>
            </a:r>
            <a:endParaRPr lang="en-US" altLang="ko-KR" sz="1400" b="1" dirty="0">
              <a:latin typeface="Arial" pitchFamily="34" charset="0"/>
              <a:ea typeface="맑은 고딕" pitchFamily="50" charset="-127"/>
              <a:cs typeface="Arial" pitchFamily="34" charset="0"/>
            </a:endParaRPr>
          </a:p>
        </p:txBody>
      </p:sp>
      <p:sp>
        <p:nvSpPr>
          <p:cNvPr id="132101" name="Rectangle 9"/>
          <p:cNvSpPr>
            <a:spLocks noChangeArrowheads="1"/>
          </p:cNvSpPr>
          <p:nvPr/>
        </p:nvSpPr>
        <p:spPr bwMode="auto">
          <a:xfrm>
            <a:off x="992560" y="2286000"/>
            <a:ext cx="2547492" cy="289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285750" indent="-285750">
              <a:lnSpc>
                <a:spcPct val="80000"/>
              </a:lnSpc>
              <a:spcBef>
                <a:spcPct val="20000"/>
              </a:spcBef>
              <a:buFont typeface="Wingdings" pitchFamily="2" charset="2"/>
              <a:buChar char="u"/>
            </a:pPr>
            <a:r>
              <a:rPr lang="en-US" altLang="ko-KR" sz="1600" b="1" dirty="0" err="1">
                <a:latin typeface="Arial" pitchFamily="34" charset="0"/>
                <a:ea typeface="맑은 고딕" pitchFamily="50" charset="-127"/>
                <a:cs typeface="Arial" pitchFamily="34" charset="0"/>
              </a:rPr>
              <a:t>Các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loại</a:t>
            </a:r>
            <a:r>
              <a:rPr lang="en-US" altLang="ko-KR" sz="1600" b="1" dirty="0">
                <a:latin typeface="Arial" pitchFamily="34" charset="0"/>
                <a:ea typeface="맑은 고딕" pitchFamily="50" charset="-127"/>
                <a:cs typeface="Arial" pitchFamily="34" charset="0"/>
              </a:rPr>
              <a:t> Check Sheet</a:t>
            </a:r>
          </a:p>
        </p:txBody>
      </p:sp>
      <p:sp>
        <p:nvSpPr>
          <p:cNvPr id="132102" name="AutoShape 20"/>
          <p:cNvSpPr>
            <a:spLocks noChangeArrowheads="1"/>
          </p:cNvSpPr>
          <p:nvPr/>
        </p:nvSpPr>
        <p:spPr bwMode="auto">
          <a:xfrm>
            <a:off x="1280593" y="4286250"/>
            <a:ext cx="8352358" cy="1785938"/>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square" anchor="ctr"/>
          <a:lstStyle/>
          <a:p>
            <a:pPr marL="171450" indent="-171450" algn="just">
              <a:lnSpc>
                <a:spcPct val="150000"/>
              </a:lnSpc>
            </a:pPr>
            <a:r>
              <a:rPr lang="en-US" altLang="ko-KR" sz="1400" b="1" dirty="0">
                <a:latin typeface="Arial" pitchFamily="34" charset="0"/>
                <a:ea typeface="맑은 고딕" pitchFamily="50" charset="-127"/>
                <a:cs typeface="Arial" pitchFamily="34" charset="0"/>
              </a:rPr>
              <a:t>1. </a:t>
            </a:r>
            <a:r>
              <a:rPr lang="en-US" altLang="ko-KR" sz="1400" b="1" dirty="0" err="1">
                <a:latin typeface="Arial" pitchFamily="34" charset="0"/>
                <a:ea typeface="맑은 고딕" pitchFamily="50" charset="-127"/>
                <a:cs typeface="Arial" pitchFamily="34" charset="0"/>
              </a:rPr>
              <a:t>Phát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triển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ý </a:t>
            </a:r>
            <a:r>
              <a:rPr lang="en-US" altLang="ko-KR" sz="1400" b="1" dirty="0" err="1">
                <a:latin typeface="Arial" pitchFamily="34" charset="0"/>
                <a:ea typeface="맑은 고딕" pitchFamily="50" charset="-127"/>
                <a:cs typeface="Arial" pitchFamily="34" charset="0"/>
              </a:rPr>
              <a:t>tưởng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về</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hạng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mục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cần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được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thập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và</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điều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sau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đó</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tổ</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chức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endParaRPr lang="en-US" altLang="ko-KR" sz="1400" b="1" dirty="0">
              <a:latin typeface="Arial" pitchFamily="34" charset="0"/>
              <a:ea typeface="맑은 고딕" pitchFamily="50" charset="-127"/>
              <a:cs typeface="Arial" pitchFamily="34" charset="0"/>
            </a:endParaRPr>
          </a:p>
          <a:p>
            <a:pPr marL="171450" indent="-171450" algn="just">
              <a:lnSpc>
                <a:spcPct val="150000"/>
              </a:lnSpc>
            </a:pPr>
            <a:r>
              <a:rPr lang="en-US" altLang="ko-KR" sz="1400" b="1" dirty="0">
                <a:latin typeface="Arial" pitchFamily="34" charset="0"/>
                <a:ea typeface="맑은 고딕" pitchFamily="50" charset="-127"/>
                <a:cs typeface="Arial" pitchFamily="34" charset="0"/>
              </a:rPr>
              <a:t>2. </a:t>
            </a:r>
            <a:r>
              <a:rPr lang="en-US" altLang="ko-KR" sz="1400" b="1" dirty="0" err="1">
                <a:latin typeface="Arial" pitchFamily="34" charset="0"/>
                <a:ea typeface="맑은 고딕" pitchFamily="50" charset="-127"/>
                <a:cs typeface="Arial" pitchFamily="34" charset="0"/>
              </a:rPr>
              <a:t>Phát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triển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format </a:t>
            </a:r>
            <a:r>
              <a:rPr lang="en-US" altLang="ko-KR" sz="1400" b="1" dirty="0" err="1">
                <a:latin typeface="Arial" pitchFamily="34" charset="0"/>
                <a:ea typeface="맑은 고딕" pitchFamily="50" charset="-127"/>
                <a:cs typeface="Arial" pitchFamily="34" charset="0"/>
              </a:rPr>
              <a:t>để</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tạo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bản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ghi</a:t>
            </a:r>
            <a:r>
              <a:rPr lang="en-US" altLang="ko-KR" sz="1400" b="1" dirty="0">
                <a:latin typeface="Arial" pitchFamily="34" charset="0"/>
                <a:ea typeface="맑은 고딕" pitchFamily="50" charset="-127"/>
                <a:cs typeface="Arial" pitchFamily="34" charset="0"/>
              </a:rPr>
              <a:t>.</a:t>
            </a:r>
          </a:p>
          <a:p>
            <a:pPr marL="171450" indent="-171450" algn="just">
              <a:lnSpc>
                <a:spcPct val="150000"/>
              </a:lnSpc>
            </a:pPr>
            <a:r>
              <a:rPr lang="en-US" altLang="ko-KR" sz="1400" b="1" dirty="0">
                <a:latin typeface="Arial" pitchFamily="34" charset="0"/>
                <a:ea typeface="맑은 고딕" pitchFamily="50" charset="-127"/>
                <a:cs typeface="Arial" pitchFamily="34" charset="0"/>
              </a:rPr>
              <a:t>3. </a:t>
            </a:r>
            <a:r>
              <a:rPr lang="en-US" altLang="ko-KR" sz="1400" b="1" dirty="0" err="1">
                <a:latin typeface="Arial" pitchFamily="34" charset="0"/>
                <a:ea typeface="맑은 고딕" pitchFamily="50" charset="-127"/>
                <a:cs typeface="Arial" pitchFamily="34" charset="0"/>
              </a:rPr>
              <a:t>Đánh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dấu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a:t>
            </a:r>
          </a:p>
          <a:p>
            <a:pPr marL="171450" indent="-171450" algn="just">
              <a:lnSpc>
                <a:spcPct val="150000"/>
              </a:lnSpc>
            </a:pPr>
            <a:r>
              <a:rPr lang="en-US" altLang="ko-KR" sz="1400" b="1" dirty="0">
                <a:latin typeface="Arial" pitchFamily="34" charset="0"/>
                <a:ea typeface="맑은 고딕" pitchFamily="50" charset="-127"/>
                <a:cs typeface="Arial" pitchFamily="34" charset="0"/>
              </a:rPr>
              <a:t>4. </a:t>
            </a:r>
            <a:r>
              <a:rPr lang="en-US" altLang="ko-KR" sz="1400" b="1" dirty="0" err="1">
                <a:latin typeface="Arial" pitchFamily="34" charset="0"/>
                <a:ea typeface="맑은 고딕" pitchFamily="50" charset="-127"/>
                <a:cs typeface="Arial" pitchFamily="34" charset="0"/>
              </a:rPr>
              <a:t>Thực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hiện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phân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trên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cơ</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sở</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đã</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thập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được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và</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thực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hiện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các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biện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pháp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phù</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hợp</a:t>
            </a:r>
            <a:r>
              <a:rPr lang="en-US" altLang="ko-KR" sz="1400" b="1" dirty="0">
                <a:latin typeface="Arial" pitchFamily="34" charset="0"/>
                <a:ea typeface="맑은 고딕" pitchFamily="50" charset="-127"/>
                <a:cs typeface="Arial" pitchFamily="34" charset="0"/>
              </a:rPr>
              <a:t>. </a:t>
            </a:r>
          </a:p>
        </p:txBody>
      </p:sp>
      <p:sp>
        <p:nvSpPr>
          <p:cNvPr id="132103" name="Rectangle 9"/>
          <p:cNvSpPr>
            <a:spLocks noChangeArrowheads="1"/>
          </p:cNvSpPr>
          <p:nvPr/>
        </p:nvSpPr>
        <p:spPr bwMode="auto">
          <a:xfrm>
            <a:off x="992560" y="3929063"/>
            <a:ext cx="3699924" cy="289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285750" indent="-285750">
              <a:lnSpc>
                <a:spcPct val="80000"/>
              </a:lnSpc>
              <a:spcBef>
                <a:spcPct val="20000"/>
              </a:spcBef>
              <a:buFont typeface="Wingdings" pitchFamily="2" charset="2"/>
              <a:buChar char="u"/>
            </a:pPr>
            <a:r>
              <a:rPr lang="en-US" altLang="ko-KR" sz="1600" b="1" dirty="0" err="1">
                <a:latin typeface="Arial" pitchFamily="34" charset="0"/>
                <a:ea typeface="맑은 고딕" pitchFamily="50" charset="-127"/>
                <a:cs typeface="Arial" pitchFamily="34" charset="0"/>
              </a:rPr>
              <a:t>Trình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tự</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hoàn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thành</a:t>
            </a:r>
            <a:r>
              <a:rPr lang="en-US" altLang="ko-KR" sz="1600" b="1" dirty="0">
                <a:latin typeface="Arial" pitchFamily="34" charset="0"/>
                <a:ea typeface="맑은 고딕" pitchFamily="50" charset="-127"/>
                <a:cs typeface="Arial" pitchFamily="34" charset="0"/>
              </a:rPr>
              <a:t> Check Sheet</a:t>
            </a:r>
          </a:p>
        </p:txBody>
      </p:sp>
      <p:sp>
        <p:nvSpPr>
          <p:cNvPr id="132104"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Check Sheet</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113</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48431098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Text Box 19"/>
          <p:cNvSpPr txBox="1">
            <a:spLocks noChangeArrowheads="1"/>
          </p:cNvSpPr>
          <p:nvPr/>
        </p:nvSpPr>
        <p:spPr bwMode="auto">
          <a:xfrm>
            <a:off x="931863" y="1531938"/>
            <a:ext cx="32239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Arial" pitchFamily="34" charset="0"/>
                <a:ea typeface="맑은 고딕" pitchFamily="50" charset="-127"/>
                <a:cs typeface="Arial" pitchFamily="34" charset="0"/>
              </a:rPr>
              <a:t>* Injection Molding Defect List</a:t>
            </a:r>
            <a:endParaRPr lang="ko-KR" altLang="en-US" dirty="0">
              <a:latin typeface="Arial" pitchFamily="34" charset="0"/>
              <a:ea typeface="맑은 고딕" pitchFamily="50" charset="-127"/>
              <a:cs typeface="Arial" pitchFamily="34" charset="0"/>
            </a:endParaRPr>
          </a:p>
        </p:txBody>
      </p:sp>
      <p:sp>
        <p:nvSpPr>
          <p:cNvPr id="3" name="Rectangle 20"/>
          <p:cNvSpPr>
            <a:spLocks noChangeArrowheads="1"/>
          </p:cNvSpPr>
          <p:nvPr/>
        </p:nvSpPr>
        <p:spPr bwMode="auto">
          <a:xfrm>
            <a:off x="1063625" y="2032000"/>
            <a:ext cx="1439863" cy="503238"/>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Time Period</a:t>
            </a:r>
            <a:endParaRPr lang="ko-KR" altLang="en-US" sz="1400" dirty="0">
              <a:latin typeface="Arial" pitchFamily="34" charset="0"/>
              <a:ea typeface="맑은 고딕" panose="020B0503020000020004" pitchFamily="50" charset="-127"/>
              <a:cs typeface="Arial" pitchFamily="34" charset="0"/>
            </a:endParaRPr>
          </a:p>
        </p:txBody>
      </p:sp>
      <p:sp>
        <p:nvSpPr>
          <p:cNvPr id="4" name="Rectangle 21"/>
          <p:cNvSpPr>
            <a:spLocks noChangeArrowheads="1"/>
          </p:cNvSpPr>
          <p:nvPr/>
        </p:nvSpPr>
        <p:spPr bwMode="auto">
          <a:xfrm>
            <a:off x="2503488" y="2032000"/>
            <a:ext cx="1152525" cy="503238"/>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Short shot</a:t>
            </a:r>
            <a:endParaRPr lang="ko-KR" altLang="en-US" sz="1400" dirty="0">
              <a:latin typeface="Arial" pitchFamily="34" charset="0"/>
              <a:ea typeface="맑은 고딕" panose="020B0503020000020004" pitchFamily="50" charset="-127"/>
              <a:cs typeface="Arial" pitchFamily="34" charset="0"/>
            </a:endParaRPr>
          </a:p>
        </p:txBody>
      </p:sp>
      <p:sp>
        <p:nvSpPr>
          <p:cNvPr id="5" name="Rectangle 22"/>
          <p:cNvSpPr>
            <a:spLocks noChangeArrowheads="1"/>
          </p:cNvSpPr>
          <p:nvPr/>
        </p:nvSpPr>
        <p:spPr bwMode="auto">
          <a:xfrm>
            <a:off x="3656013" y="2032000"/>
            <a:ext cx="1079500" cy="503238"/>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Thickness</a:t>
            </a:r>
            <a:endParaRPr lang="ko-KR" altLang="en-US" sz="1400" dirty="0">
              <a:latin typeface="Arial" pitchFamily="34" charset="0"/>
              <a:ea typeface="맑은 고딕" panose="020B0503020000020004" pitchFamily="50" charset="-127"/>
              <a:cs typeface="Arial" pitchFamily="34" charset="0"/>
            </a:endParaRPr>
          </a:p>
        </p:txBody>
      </p:sp>
      <p:sp>
        <p:nvSpPr>
          <p:cNvPr id="6" name="Rectangle 23"/>
          <p:cNvSpPr>
            <a:spLocks noChangeArrowheads="1"/>
          </p:cNvSpPr>
          <p:nvPr/>
        </p:nvSpPr>
        <p:spPr bwMode="auto">
          <a:xfrm>
            <a:off x="4737100" y="2032000"/>
            <a:ext cx="1079500" cy="503238"/>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Length</a:t>
            </a:r>
            <a:endParaRPr lang="ko-KR" altLang="en-US" sz="1400" dirty="0">
              <a:latin typeface="Arial" pitchFamily="34" charset="0"/>
              <a:ea typeface="맑은 고딕" panose="020B0503020000020004" pitchFamily="50" charset="-127"/>
              <a:cs typeface="Arial" pitchFamily="34" charset="0"/>
            </a:endParaRPr>
          </a:p>
        </p:txBody>
      </p:sp>
      <p:sp>
        <p:nvSpPr>
          <p:cNvPr id="7" name="Rectangle 24"/>
          <p:cNvSpPr>
            <a:spLocks noChangeArrowheads="1"/>
          </p:cNvSpPr>
          <p:nvPr/>
        </p:nvSpPr>
        <p:spPr bwMode="auto">
          <a:xfrm>
            <a:off x="5816600" y="2032000"/>
            <a:ext cx="1079500" cy="503238"/>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Scratches</a:t>
            </a:r>
            <a:endParaRPr lang="ko-KR" altLang="en-US" sz="1400" dirty="0">
              <a:latin typeface="Arial" pitchFamily="34" charset="0"/>
              <a:ea typeface="맑은 고딕" panose="020B0503020000020004" pitchFamily="50" charset="-127"/>
              <a:cs typeface="Arial" pitchFamily="34" charset="0"/>
            </a:endParaRPr>
          </a:p>
        </p:txBody>
      </p:sp>
      <p:sp>
        <p:nvSpPr>
          <p:cNvPr id="8" name="Rectangle 25"/>
          <p:cNvSpPr>
            <a:spLocks noChangeArrowheads="1"/>
          </p:cNvSpPr>
          <p:nvPr/>
        </p:nvSpPr>
        <p:spPr bwMode="auto">
          <a:xfrm>
            <a:off x="6897688" y="2032000"/>
            <a:ext cx="1079500" cy="503238"/>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Finishing</a:t>
            </a:r>
            <a:endParaRPr lang="ko-KR" altLang="en-US" sz="1400" dirty="0">
              <a:latin typeface="Arial" pitchFamily="34" charset="0"/>
              <a:ea typeface="맑은 고딕" panose="020B0503020000020004" pitchFamily="50" charset="-127"/>
              <a:cs typeface="Arial" pitchFamily="34" charset="0"/>
            </a:endParaRPr>
          </a:p>
        </p:txBody>
      </p:sp>
      <p:sp>
        <p:nvSpPr>
          <p:cNvPr id="9" name="Rectangle 26"/>
          <p:cNvSpPr>
            <a:spLocks noChangeArrowheads="1"/>
          </p:cNvSpPr>
          <p:nvPr/>
        </p:nvSpPr>
        <p:spPr bwMode="auto">
          <a:xfrm>
            <a:off x="7977188" y="2032000"/>
            <a:ext cx="1079500" cy="503238"/>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Sum</a:t>
            </a:r>
            <a:endParaRPr lang="ko-KR" altLang="en-US" sz="1400" dirty="0">
              <a:latin typeface="Arial" pitchFamily="34" charset="0"/>
              <a:ea typeface="맑은 고딕" panose="020B0503020000020004" pitchFamily="50" charset="-127"/>
              <a:cs typeface="Arial" pitchFamily="34" charset="0"/>
            </a:endParaRPr>
          </a:p>
        </p:txBody>
      </p:sp>
      <p:sp>
        <p:nvSpPr>
          <p:cNvPr id="10" name="Rectangle 27"/>
          <p:cNvSpPr>
            <a:spLocks noChangeArrowheads="1"/>
          </p:cNvSpPr>
          <p:nvPr/>
        </p:nvSpPr>
        <p:spPr bwMode="auto">
          <a:xfrm>
            <a:off x="1063625" y="2565400"/>
            <a:ext cx="14398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08-10</a:t>
            </a:r>
          </a:p>
        </p:txBody>
      </p:sp>
      <p:sp>
        <p:nvSpPr>
          <p:cNvPr id="11" name="Rectangle 28"/>
          <p:cNvSpPr>
            <a:spLocks noChangeArrowheads="1"/>
          </p:cNvSpPr>
          <p:nvPr/>
        </p:nvSpPr>
        <p:spPr bwMode="auto">
          <a:xfrm>
            <a:off x="2503488" y="2563813"/>
            <a:ext cx="115252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12" name="Rectangle 29"/>
          <p:cNvSpPr>
            <a:spLocks noChangeArrowheads="1"/>
          </p:cNvSpPr>
          <p:nvPr/>
        </p:nvSpPr>
        <p:spPr bwMode="auto">
          <a:xfrm>
            <a:off x="3656013" y="25654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13" name="Rectangle 30"/>
          <p:cNvSpPr>
            <a:spLocks noChangeArrowheads="1"/>
          </p:cNvSpPr>
          <p:nvPr/>
        </p:nvSpPr>
        <p:spPr bwMode="auto">
          <a:xfrm>
            <a:off x="4737100" y="25654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14" name="Rectangle 31"/>
          <p:cNvSpPr>
            <a:spLocks noChangeArrowheads="1"/>
          </p:cNvSpPr>
          <p:nvPr/>
        </p:nvSpPr>
        <p:spPr bwMode="auto">
          <a:xfrm>
            <a:off x="5816600" y="25654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15" name="Rectangle 32"/>
          <p:cNvSpPr>
            <a:spLocks noChangeArrowheads="1"/>
          </p:cNvSpPr>
          <p:nvPr/>
        </p:nvSpPr>
        <p:spPr bwMode="auto">
          <a:xfrm>
            <a:off x="6897688" y="25654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16" name="Rectangle 33"/>
          <p:cNvSpPr>
            <a:spLocks noChangeArrowheads="1"/>
          </p:cNvSpPr>
          <p:nvPr/>
        </p:nvSpPr>
        <p:spPr bwMode="auto">
          <a:xfrm>
            <a:off x="7977188" y="25654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7</a:t>
            </a:r>
          </a:p>
        </p:txBody>
      </p:sp>
      <p:sp>
        <p:nvSpPr>
          <p:cNvPr id="17" name="Rectangle 34"/>
          <p:cNvSpPr>
            <a:spLocks noChangeArrowheads="1"/>
          </p:cNvSpPr>
          <p:nvPr/>
        </p:nvSpPr>
        <p:spPr bwMode="auto">
          <a:xfrm>
            <a:off x="1063625" y="2997200"/>
            <a:ext cx="14398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10-12</a:t>
            </a:r>
          </a:p>
        </p:txBody>
      </p:sp>
      <p:sp>
        <p:nvSpPr>
          <p:cNvPr id="18" name="Rectangle 35"/>
          <p:cNvSpPr>
            <a:spLocks noChangeArrowheads="1"/>
          </p:cNvSpPr>
          <p:nvPr/>
        </p:nvSpPr>
        <p:spPr bwMode="auto">
          <a:xfrm>
            <a:off x="2503488" y="2997200"/>
            <a:ext cx="115252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19" name="Rectangle 36"/>
          <p:cNvSpPr>
            <a:spLocks noChangeArrowheads="1"/>
          </p:cNvSpPr>
          <p:nvPr/>
        </p:nvSpPr>
        <p:spPr bwMode="auto">
          <a:xfrm>
            <a:off x="3656013" y="29972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20" name="Rectangle 37"/>
          <p:cNvSpPr>
            <a:spLocks noChangeArrowheads="1"/>
          </p:cNvSpPr>
          <p:nvPr/>
        </p:nvSpPr>
        <p:spPr bwMode="auto">
          <a:xfrm>
            <a:off x="4737100" y="29972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21" name="Rectangle 38"/>
          <p:cNvSpPr>
            <a:spLocks noChangeArrowheads="1"/>
          </p:cNvSpPr>
          <p:nvPr/>
        </p:nvSpPr>
        <p:spPr bwMode="auto">
          <a:xfrm>
            <a:off x="5816600" y="29972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22" name="Rectangle 39"/>
          <p:cNvSpPr>
            <a:spLocks noChangeArrowheads="1"/>
          </p:cNvSpPr>
          <p:nvPr/>
        </p:nvSpPr>
        <p:spPr bwMode="auto">
          <a:xfrm>
            <a:off x="6897688" y="29972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23" name="Rectangle 40"/>
          <p:cNvSpPr>
            <a:spLocks noChangeArrowheads="1"/>
          </p:cNvSpPr>
          <p:nvPr/>
        </p:nvSpPr>
        <p:spPr bwMode="auto">
          <a:xfrm>
            <a:off x="7977188" y="29972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5</a:t>
            </a:r>
          </a:p>
        </p:txBody>
      </p:sp>
      <p:sp>
        <p:nvSpPr>
          <p:cNvPr id="24" name="Rectangle 41"/>
          <p:cNvSpPr>
            <a:spLocks noChangeArrowheads="1"/>
          </p:cNvSpPr>
          <p:nvPr/>
        </p:nvSpPr>
        <p:spPr bwMode="auto">
          <a:xfrm>
            <a:off x="1063625" y="3429000"/>
            <a:ext cx="14398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14-16</a:t>
            </a:r>
          </a:p>
        </p:txBody>
      </p:sp>
      <p:sp>
        <p:nvSpPr>
          <p:cNvPr id="25" name="Rectangle 42"/>
          <p:cNvSpPr>
            <a:spLocks noChangeArrowheads="1"/>
          </p:cNvSpPr>
          <p:nvPr/>
        </p:nvSpPr>
        <p:spPr bwMode="auto">
          <a:xfrm>
            <a:off x="2503488" y="3429000"/>
            <a:ext cx="115252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26" name="Rectangle 43"/>
          <p:cNvSpPr>
            <a:spLocks noChangeArrowheads="1"/>
          </p:cNvSpPr>
          <p:nvPr/>
        </p:nvSpPr>
        <p:spPr bwMode="auto">
          <a:xfrm>
            <a:off x="3656013" y="34290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27" name="Rectangle 44"/>
          <p:cNvSpPr>
            <a:spLocks noChangeArrowheads="1"/>
          </p:cNvSpPr>
          <p:nvPr/>
        </p:nvSpPr>
        <p:spPr bwMode="auto">
          <a:xfrm>
            <a:off x="4737100" y="34290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28" name="Rectangle 45"/>
          <p:cNvSpPr>
            <a:spLocks noChangeArrowheads="1"/>
          </p:cNvSpPr>
          <p:nvPr/>
        </p:nvSpPr>
        <p:spPr bwMode="auto">
          <a:xfrm>
            <a:off x="5816600" y="34290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29" name="Rectangle 46"/>
          <p:cNvSpPr>
            <a:spLocks noChangeArrowheads="1"/>
          </p:cNvSpPr>
          <p:nvPr/>
        </p:nvSpPr>
        <p:spPr bwMode="auto">
          <a:xfrm>
            <a:off x="6897688" y="34290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30" name="Rectangle 47"/>
          <p:cNvSpPr>
            <a:spLocks noChangeArrowheads="1"/>
          </p:cNvSpPr>
          <p:nvPr/>
        </p:nvSpPr>
        <p:spPr bwMode="auto">
          <a:xfrm>
            <a:off x="7977188" y="34290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7</a:t>
            </a:r>
          </a:p>
        </p:txBody>
      </p:sp>
      <p:sp>
        <p:nvSpPr>
          <p:cNvPr id="31" name="Rectangle 48"/>
          <p:cNvSpPr>
            <a:spLocks noChangeArrowheads="1"/>
          </p:cNvSpPr>
          <p:nvPr/>
        </p:nvSpPr>
        <p:spPr bwMode="auto">
          <a:xfrm>
            <a:off x="1063625" y="3860800"/>
            <a:ext cx="14398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16-18</a:t>
            </a:r>
          </a:p>
        </p:txBody>
      </p:sp>
      <p:sp>
        <p:nvSpPr>
          <p:cNvPr id="32" name="Rectangle 49"/>
          <p:cNvSpPr>
            <a:spLocks noChangeArrowheads="1"/>
          </p:cNvSpPr>
          <p:nvPr/>
        </p:nvSpPr>
        <p:spPr bwMode="auto">
          <a:xfrm>
            <a:off x="2503488" y="3860800"/>
            <a:ext cx="115252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33" name="Rectangle 50"/>
          <p:cNvSpPr>
            <a:spLocks noChangeArrowheads="1"/>
          </p:cNvSpPr>
          <p:nvPr/>
        </p:nvSpPr>
        <p:spPr bwMode="auto">
          <a:xfrm>
            <a:off x="3656013" y="38608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34" name="Rectangle 51"/>
          <p:cNvSpPr>
            <a:spLocks noChangeArrowheads="1"/>
          </p:cNvSpPr>
          <p:nvPr/>
        </p:nvSpPr>
        <p:spPr bwMode="auto">
          <a:xfrm>
            <a:off x="4737100" y="38608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35" name="Rectangle 52"/>
          <p:cNvSpPr>
            <a:spLocks noChangeArrowheads="1"/>
          </p:cNvSpPr>
          <p:nvPr/>
        </p:nvSpPr>
        <p:spPr bwMode="auto">
          <a:xfrm>
            <a:off x="5816600" y="38608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36" name="Rectangle 53"/>
          <p:cNvSpPr>
            <a:spLocks noChangeArrowheads="1"/>
          </p:cNvSpPr>
          <p:nvPr/>
        </p:nvSpPr>
        <p:spPr bwMode="auto">
          <a:xfrm>
            <a:off x="6897688" y="38608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Arial" pitchFamily="34" charset="0"/>
              <a:ea typeface="맑은 고딕" panose="020B0503020000020004" pitchFamily="50" charset="-127"/>
              <a:cs typeface="Arial" pitchFamily="34" charset="0"/>
            </a:endParaRPr>
          </a:p>
        </p:txBody>
      </p:sp>
      <p:sp>
        <p:nvSpPr>
          <p:cNvPr id="37" name="Rectangle 54"/>
          <p:cNvSpPr>
            <a:spLocks noChangeArrowheads="1"/>
          </p:cNvSpPr>
          <p:nvPr/>
        </p:nvSpPr>
        <p:spPr bwMode="auto">
          <a:xfrm>
            <a:off x="7977188" y="38608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7</a:t>
            </a:r>
          </a:p>
        </p:txBody>
      </p:sp>
      <p:sp>
        <p:nvSpPr>
          <p:cNvPr id="38" name="Rectangle 55"/>
          <p:cNvSpPr>
            <a:spLocks noChangeArrowheads="1"/>
          </p:cNvSpPr>
          <p:nvPr/>
        </p:nvSpPr>
        <p:spPr bwMode="auto">
          <a:xfrm>
            <a:off x="1063625" y="4292600"/>
            <a:ext cx="14398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Total Sum</a:t>
            </a:r>
            <a:endParaRPr lang="ko-KR" altLang="en-US" sz="1400" dirty="0">
              <a:latin typeface="Arial" pitchFamily="34" charset="0"/>
              <a:ea typeface="맑은 고딕" panose="020B0503020000020004" pitchFamily="50" charset="-127"/>
              <a:cs typeface="Arial" pitchFamily="34" charset="0"/>
            </a:endParaRPr>
          </a:p>
        </p:txBody>
      </p:sp>
      <p:sp>
        <p:nvSpPr>
          <p:cNvPr id="39" name="Rectangle 56"/>
          <p:cNvSpPr>
            <a:spLocks noChangeArrowheads="1"/>
          </p:cNvSpPr>
          <p:nvPr/>
        </p:nvSpPr>
        <p:spPr bwMode="auto">
          <a:xfrm>
            <a:off x="2503488" y="4292600"/>
            <a:ext cx="115252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5</a:t>
            </a:r>
          </a:p>
        </p:txBody>
      </p:sp>
      <p:sp>
        <p:nvSpPr>
          <p:cNvPr id="40" name="Rectangle 57"/>
          <p:cNvSpPr>
            <a:spLocks noChangeArrowheads="1"/>
          </p:cNvSpPr>
          <p:nvPr/>
        </p:nvSpPr>
        <p:spPr bwMode="auto">
          <a:xfrm>
            <a:off x="3656013" y="42926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5</a:t>
            </a:r>
          </a:p>
        </p:txBody>
      </p:sp>
      <p:sp>
        <p:nvSpPr>
          <p:cNvPr id="41" name="Rectangle 58"/>
          <p:cNvSpPr>
            <a:spLocks noChangeArrowheads="1"/>
          </p:cNvSpPr>
          <p:nvPr/>
        </p:nvSpPr>
        <p:spPr bwMode="auto">
          <a:xfrm>
            <a:off x="4737100" y="42926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6</a:t>
            </a:r>
          </a:p>
        </p:txBody>
      </p:sp>
      <p:sp>
        <p:nvSpPr>
          <p:cNvPr id="42" name="Rectangle 59"/>
          <p:cNvSpPr>
            <a:spLocks noChangeArrowheads="1"/>
          </p:cNvSpPr>
          <p:nvPr/>
        </p:nvSpPr>
        <p:spPr bwMode="auto">
          <a:xfrm>
            <a:off x="5816600" y="42926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2</a:t>
            </a:r>
          </a:p>
        </p:txBody>
      </p:sp>
      <p:sp>
        <p:nvSpPr>
          <p:cNvPr id="43" name="Rectangle 60"/>
          <p:cNvSpPr>
            <a:spLocks noChangeArrowheads="1"/>
          </p:cNvSpPr>
          <p:nvPr/>
        </p:nvSpPr>
        <p:spPr bwMode="auto">
          <a:xfrm>
            <a:off x="6897688" y="42926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itchFamily="50" charset="-127"/>
                <a:cs typeface="Arial" pitchFamily="34" charset="0"/>
              </a:rPr>
              <a:t>6</a:t>
            </a:r>
          </a:p>
        </p:txBody>
      </p:sp>
      <p:sp>
        <p:nvSpPr>
          <p:cNvPr id="44" name="Rectangle 61"/>
          <p:cNvSpPr>
            <a:spLocks noChangeArrowheads="1"/>
          </p:cNvSpPr>
          <p:nvPr/>
        </p:nvSpPr>
        <p:spPr bwMode="auto">
          <a:xfrm>
            <a:off x="7977188" y="4292600"/>
            <a:ext cx="1079500"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400" dirty="0">
                <a:latin typeface="Arial" pitchFamily="34" charset="0"/>
                <a:ea typeface="맑은 고딕" panose="020B0503020000020004" pitchFamily="50" charset="-127"/>
                <a:cs typeface="Arial" pitchFamily="34" charset="0"/>
              </a:rPr>
              <a:t>26</a:t>
            </a:r>
          </a:p>
        </p:txBody>
      </p:sp>
      <p:sp>
        <p:nvSpPr>
          <p:cNvPr id="45" name="Line 63"/>
          <p:cNvSpPr>
            <a:spLocks noChangeShapeType="1"/>
          </p:cNvSpPr>
          <p:nvPr/>
        </p:nvSpPr>
        <p:spPr bwMode="auto">
          <a:xfrm flipH="1">
            <a:off x="2792413" y="2636838"/>
            <a:ext cx="144462" cy="287337"/>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46" name="Line 64"/>
          <p:cNvSpPr>
            <a:spLocks noChangeShapeType="1"/>
          </p:cNvSpPr>
          <p:nvPr/>
        </p:nvSpPr>
        <p:spPr bwMode="auto">
          <a:xfrm flipH="1">
            <a:off x="2936875" y="2636838"/>
            <a:ext cx="144463" cy="287337"/>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47" name="Line 65"/>
          <p:cNvSpPr>
            <a:spLocks noChangeShapeType="1"/>
          </p:cNvSpPr>
          <p:nvPr/>
        </p:nvSpPr>
        <p:spPr bwMode="auto">
          <a:xfrm flipH="1">
            <a:off x="3081338" y="2636838"/>
            <a:ext cx="144462" cy="287337"/>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48" name="Line 66"/>
          <p:cNvSpPr>
            <a:spLocks noChangeShapeType="1"/>
          </p:cNvSpPr>
          <p:nvPr/>
        </p:nvSpPr>
        <p:spPr bwMode="auto">
          <a:xfrm flipH="1">
            <a:off x="3224213" y="2636838"/>
            <a:ext cx="144462" cy="287337"/>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49" name="Line 67"/>
          <p:cNvSpPr>
            <a:spLocks noChangeShapeType="1"/>
          </p:cNvSpPr>
          <p:nvPr/>
        </p:nvSpPr>
        <p:spPr bwMode="auto">
          <a:xfrm flipH="1">
            <a:off x="4016375" y="4003675"/>
            <a:ext cx="144463"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0" name="Line 68"/>
          <p:cNvSpPr>
            <a:spLocks noChangeShapeType="1"/>
          </p:cNvSpPr>
          <p:nvPr/>
        </p:nvSpPr>
        <p:spPr bwMode="auto">
          <a:xfrm flipH="1">
            <a:off x="4160838" y="40036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1" name="Line 69"/>
          <p:cNvSpPr>
            <a:spLocks noChangeShapeType="1"/>
          </p:cNvSpPr>
          <p:nvPr/>
        </p:nvSpPr>
        <p:spPr bwMode="auto">
          <a:xfrm flipH="1">
            <a:off x="6175375" y="2708275"/>
            <a:ext cx="144463"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2" name="Line 70"/>
          <p:cNvSpPr>
            <a:spLocks noChangeShapeType="1"/>
          </p:cNvSpPr>
          <p:nvPr/>
        </p:nvSpPr>
        <p:spPr bwMode="auto">
          <a:xfrm flipH="1">
            <a:off x="6319838" y="27082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3" name="Line 71"/>
          <p:cNvSpPr>
            <a:spLocks noChangeShapeType="1"/>
          </p:cNvSpPr>
          <p:nvPr/>
        </p:nvSpPr>
        <p:spPr bwMode="auto">
          <a:xfrm flipH="1">
            <a:off x="7256463" y="31400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4" name="Line 72"/>
          <p:cNvSpPr>
            <a:spLocks noChangeShapeType="1"/>
          </p:cNvSpPr>
          <p:nvPr/>
        </p:nvSpPr>
        <p:spPr bwMode="auto">
          <a:xfrm flipH="1">
            <a:off x="7400925" y="3140075"/>
            <a:ext cx="144463"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5" name="Line 73"/>
          <p:cNvSpPr>
            <a:spLocks noChangeShapeType="1"/>
          </p:cNvSpPr>
          <p:nvPr/>
        </p:nvSpPr>
        <p:spPr bwMode="auto">
          <a:xfrm flipH="1">
            <a:off x="7112000" y="3571875"/>
            <a:ext cx="144463"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6" name="Line 74"/>
          <p:cNvSpPr>
            <a:spLocks noChangeShapeType="1"/>
          </p:cNvSpPr>
          <p:nvPr/>
        </p:nvSpPr>
        <p:spPr bwMode="auto">
          <a:xfrm flipH="1">
            <a:off x="7256463" y="35718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7" name="Line 75"/>
          <p:cNvSpPr>
            <a:spLocks noChangeShapeType="1"/>
          </p:cNvSpPr>
          <p:nvPr/>
        </p:nvSpPr>
        <p:spPr bwMode="auto">
          <a:xfrm flipH="1">
            <a:off x="7400925" y="3571875"/>
            <a:ext cx="144463"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8" name="Line 76"/>
          <p:cNvSpPr>
            <a:spLocks noChangeShapeType="1"/>
          </p:cNvSpPr>
          <p:nvPr/>
        </p:nvSpPr>
        <p:spPr bwMode="auto">
          <a:xfrm flipH="1">
            <a:off x="7545388" y="35718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59" name="Line 77"/>
          <p:cNvSpPr>
            <a:spLocks noChangeShapeType="1"/>
          </p:cNvSpPr>
          <p:nvPr/>
        </p:nvSpPr>
        <p:spPr bwMode="auto">
          <a:xfrm flipH="1">
            <a:off x="4017963" y="31400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0" name="Line 78"/>
          <p:cNvSpPr>
            <a:spLocks noChangeShapeType="1"/>
          </p:cNvSpPr>
          <p:nvPr/>
        </p:nvSpPr>
        <p:spPr bwMode="auto">
          <a:xfrm flipH="1">
            <a:off x="4160838" y="31400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1" name="Line 79"/>
          <p:cNvSpPr>
            <a:spLocks noChangeShapeType="1"/>
          </p:cNvSpPr>
          <p:nvPr/>
        </p:nvSpPr>
        <p:spPr bwMode="auto">
          <a:xfrm flipH="1">
            <a:off x="4305300" y="3140075"/>
            <a:ext cx="144463"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2" name="Line 80"/>
          <p:cNvSpPr>
            <a:spLocks noChangeShapeType="1"/>
          </p:cNvSpPr>
          <p:nvPr/>
        </p:nvSpPr>
        <p:spPr bwMode="auto">
          <a:xfrm flipH="1">
            <a:off x="5024438" y="35718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3" name="Line 81"/>
          <p:cNvSpPr>
            <a:spLocks noChangeShapeType="1"/>
          </p:cNvSpPr>
          <p:nvPr/>
        </p:nvSpPr>
        <p:spPr bwMode="auto">
          <a:xfrm flipH="1">
            <a:off x="5167313" y="3571875"/>
            <a:ext cx="144462"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4" name="Line 82"/>
          <p:cNvSpPr>
            <a:spLocks noChangeShapeType="1"/>
          </p:cNvSpPr>
          <p:nvPr/>
        </p:nvSpPr>
        <p:spPr bwMode="auto">
          <a:xfrm flipH="1">
            <a:off x="5311775" y="3571875"/>
            <a:ext cx="144463" cy="215900"/>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5" name="Line 83"/>
          <p:cNvSpPr>
            <a:spLocks noChangeShapeType="1"/>
          </p:cNvSpPr>
          <p:nvPr/>
        </p:nvSpPr>
        <p:spPr bwMode="auto">
          <a:xfrm>
            <a:off x="2719388" y="2708275"/>
            <a:ext cx="720725" cy="144463"/>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6" name="Line 84"/>
          <p:cNvSpPr>
            <a:spLocks noChangeShapeType="1"/>
          </p:cNvSpPr>
          <p:nvPr/>
        </p:nvSpPr>
        <p:spPr bwMode="auto">
          <a:xfrm flipH="1">
            <a:off x="4953000" y="3933825"/>
            <a:ext cx="144463" cy="287338"/>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7" name="Line 85"/>
          <p:cNvSpPr>
            <a:spLocks noChangeShapeType="1"/>
          </p:cNvSpPr>
          <p:nvPr/>
        </p:nvSpPr>
        <p:spPr bwMode="auto">
          <a:xfrm flipH="1">
            <a:off x="5097463" y="3933825"/>
            <a:ext cx="144462" cy="287338"/>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8" name="Line 86"/>
          <p:cNvSpPr>
            <a:spLocks noChangeShapeType="1"/>
          </p:cNvSpPr>
          <p:nvPr/>
        </p:nvSpPr>
        <p:spPr bwMode="auto">
          <a:xfrm flipH="1">
            <a:off x="5241925" y="3933825"/>
            <a:ext cx="144463" cy="287338"/>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69" name="Line 87"/>
          <p:cNvSpPr>
            <a:spLocks noChangeShapeType="1"/>
          </p:cNvSpPr>
          <p:nvPr/>
        </p:nvSpPr>
        <p:spPr bwMode="auto">
          <a:xfrm flipH="1">
            <a:off x="5384800" y="3933825"/>
            <a:ext cx="144463" cy="287338"/>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70" name="Line 88"/>
          <p:cNvSpPr>
            <a:spLocks noChangeShapeType="1"/>
          </p:cNvSpPr>
          <p:nvPr/>
        </p:nvSpPr>
        <p:spPr bwMode="auto">
          <a:xfrm>
            <a:off x="4879975" y="4003675"/>
            <a:ext cx="720725" cy="144463"/>
          </a:xfrm>
          <a:prstGeom prst="line">
            <a:avLst/>
          </a:prstGeom>
          <a:noFill/>
          <a:ln w="28575">
            <a:solidFill>
              <a:schemeClr val="tx1"/>
            </a:solidFill>
            <a:round/>
            <a:headEnd/>
            <a:tailEnd/>
          </a:ln>
          <a:effectLst/>
        </p:spPr>
        <p:txBody>
          <a:bodyPr/>
          <a:lstStyle/>
          <a:p>
            <a:pPr>
              <a:defRPr/>
            </a:pPr>
            <a:endParaRPr lang="ko-KR" altLang="en-US" sz="1400" dirty="0">
              <a:latin typeface="Arial" pitchFamily="34" charset="0"/>
              <a:ea typeface="맑은 고딕" panose="020B0503020000020004" pitchFamily="50" charset="-127"/>
              <a:cs typeface="Arial" pitchFamily="34" charset="0"/>
            </a:endParaRPr>
          </a:p>
        </p:txBody>
      </p:sp>
      <p:sp>
        <p:nvSpPr>
          <p:cNvPr id="134215" name="Text Box 42"/>
          <p:cNvSpPr txBox="1">
            <a:spLocks noChangeArrowheads="1"/>
          </p:cNvSpPr>
          <p:nvPr/>
        </p:nvSpPr>
        <p:spPr bwMode="auto">
          <a:xfrm>
            <a:off x="6286609" y="1620838"/>
            <a:ext cx="28935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dirty="0">
                <a:latin typeface="Arial" pitchFamily="34" charset="0"/>
                <a:ea typeface="맑은 고딕" pitchFamily="50" charset="-127"/>
                <a:cs typeface="Arial" pitchFamily="34" charset="0"/>
              </a:rPr>
              <a:t>XXXX</a:t>
            </a:r>
            <a:r>
              <a:rPr lang="ko-KR" altLang="en-US" sz="1600" dirty="0">
                <a:latin typeface="Arial" pitchFamily="34" charset="0"/>
                <a:ea typeface="맑은 고딕" pitchFamily="50" charset="-127"/>
                <a:cs typeface="Arial" pitchFamily="34" charset="0"/>
              </a:rPr>
              <a:t> </a:t>
            </a:r>
            <a:r>
              <a:rPr lang="en-US" altLang="ko-KR" sz="1600" dirty="0">
                <a:latin typeface="Arial" pitchFamily="34" charset="0"/>
                <a:ea typeface="맑은 고딕" pitchFamily="50" charset="-127"/>
                <a:cs typeface="Arial" pitchFamily="34" charset="0"/>
              </a:rPr>
              <a:t>Year</a:t>
            </a:r>
            <a:r>
              <a:rPr lang="ko-KR" altLang="en-US" sz="1600" dirty="0">
                <a:latin typeface="Arial" pitchFamily="34" charset="0"/>
                <a:ea typeface="맑은 고딕" pitchFamily="50" charset="-127"/>
                <a:cs typeface="Arial" pitchFamily="34" charset="0"/>
              </a:rPr>
              <a:t> </a:t>
            </a:r>
            <a:r>
              <a:rPr lang="en-US" altLang="ko-KR" sz="1600" dirty="0">
                <a:latin typeface="Arial" pitchFamily="34" charset="0"/>
                <a:ea typeface="맑은 고딕" pitchFamily="50" charset="-127"/>
                <a:cs typeface="Arial" pitchFamily="34" charset="0"/>
              </a:rPr>
              <a:t>XX Month</a:t>
            </a:r>
            <a:r>
              <a:rPr lang="ko-KR" altLang="en-US" sz="1600" dirty="0">
                <a:latin typeface="Arial" pitchFamily="34" charset="0"/>
                <a:ea typeface="맑은 고딕" pitchFamily="50" charset="-127"/>
                <a:cs typeface="Arial" pitchFamily="34" charset="0"/>
              </a:rPr>
              <a:t> </a:t>
            </a:r>
            <a:r>
              <a:rPr lang="en-US" altLang="ko-KR" sz="1600" dirty="0">
                <a:latin typeface="Arial" pitchFamily="34" charset="0"/>
                <a:ea typeface="맑은 고딕" pitchFamily="50" charset="-127"/>
                <a:cs typeface="Arial" pitchFamily="34" charset="0"/>
              </a:rPr>
              <a:t>XX Day</a:t>
            </a:r>
            <a:endParaRPr lang="ko-KR" altLang="en-US" sz="1600" dirty="0">
              <a:latin typeface="Arial" pitchFamily="34" charset="0"/>
              <a:ea typeface="맑은 고딕" pitchFamily="50" charset="-127"/>
              <a:cs typeface="Arial" pitchFamily="34" charset="0"/>
            </a:endParaRPr>
          </a:p>
        </p:txBody>
      </p:sp>
      <p:sp>
        <p:nvSpPr>
          <p:cNvPr id="134216" name="Text Box 4"/>
          <p:cNvSpPr txBox="1">
            <a:spLocks noChangeArrowheads="1"/>
          </p:cNvSpPr>
          <p:nvPr/>
        </p:nvSpPr>
        <p:spPr bwMode="auto">
          <a:xfrm>
            <a:off x="95250" y="250825"/>
            <a:ext cx="3994150"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134217"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Check Sheet</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114</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401931736"/>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Text Box 19"/>
          <p:cNvSpPr txBox="1">
            <a:spLocks noChangeArrowheads="1"/>
          </p:cNvSpPr>
          <p:nvPr/>
        </p:nvSpPr>
        <p:spPr bwMode="auto">
          <a:xfrm>
            <a:off x="747713" y="1801813"/>
            <a:ext cx="29225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a:latin typeface="맑은 고딕" pitchFamily="50" charset="-127"/>
                <a:ea typeface="맑은 고딕" pitchFamily="50" charset="-127"/>
              </a:rPr>
              <a:t>* Paint Process Defect List</a:t>
            </a:r>
            <a:endParaRPr lang="ko-KR" altLang="en-US" dirty="0">
              <a:latin typeface="맑은 고딕" pitchFamily="50" charset="-127"/>
              <a:ea typeface="맑은 고딕" pitchFamily="50" charset="-127"/>
            </a:endParaRPr>
          </a:p>
        </p:txBody>
      </p:sp>
      <p:sp>
        <p:nvSpPr>
          <p:cNvPr id="3" name="Rectangle 20"/>
          <p:cNvSpPr>
            <a:spLocks noChangeArrowheads="1"/>
          </p:cNvSpPr>
          <p:nvPr/>
        </p:nvSpPr>
        <p:spPr bwMode="auto">
          <a:xfrm>
            <a:off x="776288" y="2278063"/>
            <a:ext cx="1439862" cy="503237"/>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Product</a:t>
            </a:r>
            <a:endParaRPr lang="ko-KR" altLang="en-US" sz="1400" dirty="0">
              <a:latin typeface="맑은 고딕" panose="020B0503020000020004" pitchFamily="50" charset="-127"/>
              <a:ea typeface="맑은 고딕" panose="020B0503020000020004" pitchFamily="50" charset="-127"/>
            </a:endParaRPr>
          </a:p>
        </p:txBody>
      </p:sp>
      <p:sp>
        <p:nvSpPr>
          <p:cNvPr id="4" name="Rectangle 21"/>
          <p:cNvSpPr>
            <a:spLocks noChangeArrowheads="1"/>
          </p:cNvSpPr>
          <p:nvPr/>
        </p:nvSpPr>
        <p:spPr bwMode="auto">
          <a:xfrm>
            <a:off x="2216150" y="2278063"/>
            <a:ext cx="1081088" cy="503237"/>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Paint</a:t>
            </a:r>
          </a:p>
          <a:p>
            <a:pPr eaLnBrk="1" hangingPunct="1">
              <a:defRPr/>
            </a:pPr>
            <a:r>
              <a:rPr lang="en-US" altLang="ko-KR" sz="1400" dirty="0">
                <a:latin typeface="맑은 고딕" panose="020B0503020000020004" pitchFamily="50" charset="-127"/>
                <a:ea typeface="맑은 고딕" panose="020B0503020000020004" pitchFamily="50" charset="-127"/>
              </a:rPr>
              <a:t>Sagging</a:t>
            </a:r>
            <a:endParaRPr lang="ko-KR" altLang="en-US" sz="1400" dirty="0">
              <a:latin typeface="맑은 고딕" panose="020B0503020000020004" pitchFamily="50" charset="-127"/>
              <a:ea typeface="맑은 고딕" panose="020B0503020000020004" pitchFamily="50" charset="-127"/>
            </a:endParaRPr>
          </a:p>
        </p:txBody>
      </p:sp>
      <p:sp>
        <p:nvSpPr>
          <p:cNvPr id="5" name="Rectangle 22"/>
          <p:cNvSpPr>
            <a:spLocks noChangeArrowheads="1"/>
          </p:cNvSpPr>
          <p:nvPr/>
        </p:nvSpPr>
        <p:spPr bwMode="auto">
          <a:xfrm>
            <a:off x="3297238" y="2278063"/>
            <a:ext cx="917575" cy="503237"/>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Thickness</a:t>
            </a:r>
            <a:endParaRPr lang="ko-KR" altLang="en-US" sz="1400" dirty="0">
              <a:latin typeface="맑은 고딕" panose="020B0503020000020004" pitchFamily="50" charset="-127"/>
              <a:ea typeface="맑은 고딕" panose="020B0503020000020004" pitchFamily="50" charset="-127"/>
            </a:endParaRPr>
          </a:p>
        </p:txBody>
      </p:sp>
      <p:sp>
        <p:nvSpPr>
          <p:cNvPr id="6" name="Rectangle 23"/>
          <p:cNvSpPr>
            <a:spLocks noChangeArrowheads="1"/>
          </p:cNvSpPr>
          <p:nvPr/>
        </p:nvSpPr>
        <p:spPr bwMode="auto">
          <a:xfrm>
            <a:off x="4217988" y="2278063"/>
            <a:ext cx="1023937" cy="503237"/>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Color</a:t>
            </a:r>
          </a:p>
          <a:p>
            <a:pPr eaLnBrk="1" hangingPunct="1">
              <a:defRPr/>
            </a:pPr>
            <a:r>
              <a:rPr lang="en-US" altLang="ko-KR" sz="1400" dirty="0">
                <a:latin typeface="맑은 고딕" panose="020B0503020000020004" pitchFamily="50" charset="-127"/>
                <a:ea typeface="맑은 고딕" panose="020B0503020000020004" pitchFamily="50" charset="-127"/>
              </a:rPr>
              <a:t>Difference</a:t>
            </a:r>
            <a:endParaRPr lang="ko-KR" altLang="en-US" sz="1400" dirty="0">
              <a:latin typeface="맑은 고딕" panose="020B0503020000020004" pitchFamily="50" charset="-127"/>
              <a:ea typeface="맑은 고딕" panose="020B0503020000020004" pitchFamily="50" charset="-127"/>
            </a:endParaRPr>
          </a:p>
        </p:txBody>
      </p:sp>
      <p:sp>
        <p:nvSpPr>
          <p:cNvPr id="7" name="Rectangle 24"/>
          <p:cNvSpPr>
            <a:spLocks noChangeArrowheads="1"/>
          </p:cNvSpPr>
          <p:nvPr/>
        </p:nvSpPr>
        <p:spPr bwMode="auto">
          <a:xfrm>
            <a:off x="5224463" y="2278063"/>
            <a:ext cx="917575" cy="503237"/>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Scratch</a:t>
            </a:r>
            <a:endParaRPr lang="ko-KR" altLang="en-US" sz="1400" dirty="0">
              <a:latin typeface="맑은 고딕" panose="020B0503020000020004" pitchFamily="50" charset="-127"/>
              <a:ea typeface="맑은 고딕" panose="020B0503020000020004" pitchFamily="50" charset="-127"/>
            </a:endParaRPr>
          </a:p>
        </p:txBody>
      </p:sp>
      <p:sp>
        <p:nvSpPr>
          <p:cNvPr id="8" name="Rectangle 25"/>
          <p:cNvSpPr>
            <a:spLocks noChangeArrowheads="1"/>
          </p:cNvSpPr>
          <p:nvPr/>
        </p:nvSpPr>
        <p:spPr bwMode="auto">
          <a:xfrm>
            <a:off x="6105525" y="2278063"/>
            <a:ext cx="1008063" cy="503237"/>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Impurity</a:t>
            </a:r>
            <a:endParaRPr lang="ko-KR" altLang="en-US" sz="1400" dirty="0">
              <a:latin typeface="맑은 고딕" panose="020B0503020000020004" pitchFamily="50" charset="-127"/>
              <a:ea typeface="맑은 고딕" panose="020B0503020000020004" pitchFamily="50" charset="-127"/>
            </a:endParaRPr>
          </a:p>
        </p:txBody>
      </p:sp>
      <p:sp>
        <p:nvSpPr>
          <p:cNvPr id="9" name="Rectangle 26"/>
          <p:cNvSpPr>
            <a:spLocks noChangeArrowheads="1"/>
          </p:cNvSpPr>
          <p:nvPr/>
        </p:nvSpPr>
        <p:spPr bwMode="auto">
          <a:xfrm>
            <a:off x="7977188" y="2278063"/>
            <a:ext cx="792162" cy="503237"/>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Sum</a:t>
            </a:r>
            <a:endParaRPr lang="ko-KR" altLang="en-US" sz="1400" dirty="0">
              <a:latin typeface="맑은 고딕" panose="020B0503020000020004" pitchFamily="50" charset="-127"/>
              <a:ea typeface="맑은 고딕" panose="020B0503020000020004" pitchFamily="50" charset="-127"/>
            </a:endParaRPr>
          </a:p>
        </p:txBody>
      </p:sp>
      <p:sp>
        <p:nvSpPr>
          <p:cNvPr id="10" name="Rectangle 27"/>
          <p:cNvSpPr>
            <a:spLocks noChangeArrowheads="1"/>
          </p:cNvSpPr>
          <p:nvPr/>
        </p:nvSpPr>
        <p:spPr bwMode="auto">
          <a:xfrm>
            <a:off x="776288" y="2782888"/>
            <a:ext cx="14398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A</a:t>
            </a:r>
          </a:p>
        </p:txBody>
      </p:sp>
      <p:sp>
        <p:nvSpPr>
          <p:cNvPr id="11" name="Rectangle 28"/>
          <p:cNvSpPr>
            <a:spLocks noChangeArrowheads="1"/>
          </p:cNvSpPr>
          <p:nvPr/>
        </p:nvSpPr>
        <p:spPr bwMode="auto">
          <a:xfrm>
            <a:off x="7977188" y="2782888"/>
            <a:ext cx="7921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3</a:t>
            </a:r>
          </a:p>
        </p:txBody>
      </p:sp>
      <p:sp>
        <p:nvSpPr>
          <p:cNvPr id="12" name="Rectangle 29"/>
          <p:cNvSpPr>
            <a:spLocks noChangeArrowheads="1"/>
          </p:cNvSpPr>
          <p:nvPr/>
        </p:nvSpPr>
        <p:spPr bwMode="auto">
          <a:xfrm>
            <a:off x="776288" y="3214688"/>
            <a:ext cx="14398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B</a:t>
            </a:r>
          </a:p>
        </p:txBody>
      </p:sp>
      <p:sp>
        <p:nvSpPr>
          <p:cNvPr id="13" name="Rectangle 30"/>
          <p:cNvSpPr>
            <a:spLocks noChangeArrowheads="1"/>
          </p:cNvSpPr>
          <p:nvPr/>
        </p:nvSpPr>
        <p:spPr bwMode="auto">
          <a:xfrm>
            <a:off x="7977188" y="3214688"/>
            <a:ext cx="7921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14" name="Rectangle 31"/>
          <p:cNvSpPr>
            <a:spLocks noChangeArrowheads="1"/>
          </p:cNvSpPr>
          <p:nvPr/>
        </p:nvSpPr>
        <p:spPr bwMode="auto">
          <a:xfrm>
            <a:off x="776288" y="3646488"/>
            <a:ext cx="14398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C</a:t>
            </a:r>
          </a:p>
        </p:txBody>
      </p:sp>
      <p:sp>
        <p:nvSpPr>
          <p:cNvPr id="15" name="Rectangle 32"/>
          <p:cNvSpPr>
            <a:spLocks noChangeArrowheads="1"/>
          </p:cNvSpPr>
          <p:nvPr/>
        </p:nvSpPr>
        <p:spPr bwMode="auto">
          <a:xfrm>
            <a:off x="7977188" y="3646488"/>
            <a:ext cx="7921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5</a:t>
            </a:r>
          </a:p>
        </p:txBody>
      </p:sp>
      <p:sp>
        <p:nvSpPr>
          <p:cNvPr id="16" name="Rectangle 33"/>
          <p:cNvSpPr>
            <a:spLocks noChangeArrowheads="1"/>
          </p:cNvSpPr>
          <p:nvPr/>
        </p:nvSpPr>
        <p:spPr bwMode="auto">
          <a:xfrm>
            <a:off x="776288" y="4078288"/>
            <a:ext cx="14398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D</a:t>
            </a:r>
          </a:p>
        </p:txBody>
      </p:sp>
      <p:sp>
        <p:nvSpPr>
          <p:cNvPr id="17" name="Rectangle 34"/>
          <p:cNvSpPr>
            <a:spLocks noChangeArrowheads="1"/>
          </p:cNvSpPr>
          <p:nvPr/>
        </p:nvSpPr>
        <p:spPr bwMode="auto">
          <a:xfrm>
            <a:off x="7977188" y="4078288"/>
            <a:ext cx="7921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3</a:t>
            </a:r>
          </a:p>
        </p:txBody>
      </p:sp>
      <p:sp>
        <p:nvSpPr>
          <p:cNvPr id="18" name="Rectangle 35"/>
          <p:cNvSpPr>
            <a:spLocks noChangeArrowheads="1"/>
          </p:cNvSpPr>
          <p:nvPr/>
        </p:nvSpPr>
        <p:spPr bwMode="auto">
          <a:xfrm>
            <a:off x="776288" y="4510088"/>
            <a:ext cx="14398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Total Sum</a:t>
            </a:r>
            <a:endParaRPr lang="ko-KR" altLang="en-US" sz="1400" dirty="0">
              <a:latin typeface="맑은 고딕" panose="020B0503020000020004" pitchFamily="50" charset="-127"/>
              <a:ea typeface="맑은 고딕" panose="020B0503020000020004" pitchFamily="50" charset="-127"/>
            </a:endParaRPr>
          </a:p>
        </p:txBody>
      </p:sp>
      <p:sp>
        <p:nvSpPr>
          <p:cNvPr id="19" name="Rectangle 36"/>
          <p:cNvSpPr>
            <a:spLocks noChangeArrowheads="1"/>
          </p:cNvSpPr>
          <p:nvPr/>
        </p:nvSpPr>
        <p:spPr bwMode="auto">
          <a:xfrm>
            <a:off x="2216150" y="4510088"/>
            <a:ext cx="108108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20" name="Rectangle 37"/>
          <p:cNvSpPr>
            <a:spLocks noChangeArrowheads="1"/>
          </p:cNvSpPr>
          <p:nvPr/>
        </p:nvSpPr>
        <p:spPr bwMode="auto">
          <a:xfrm>
            <a:off x="3297238" y="4510088"/>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21" name="Rectangle 38"/>
          <p:cNvSpPr>
            <a:spLocks noChangeArrowheads="1"/>
          </p:cNvSpPr>
          <p:nvPr/>
        </p:nvSpPr>
        <p:spPr bwMode="auto">
          <a:xfrm>
            <a:off x="4217988" y="4510088"/>
            <a:ext cx="1023937"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3</a:t>
            </a:r>
          </a:p>
        </p:txBody>
      </p:sp>
      <p:sp>
        <p:nvSpPr>
          <p:cNvPr id="22" name="Rectangle 39"/>
          <p:cNvSpPr>
            <a:spLocks noChangeArrowheads="1"/>
          </p:cNvSpPr>
          <p:nvPr/>
        </p:nvSpPr>
        <p:spPr bwMode="auto">
          <a:xfrm>
            <a:off x="5224463" y="4510088"/>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23" name="Rectangle 40"/>
          <p:cNvSpPr>
            <a:spLocks noChangeArrowheads="1"/>
          </p:cNvSpPr>
          <p:nvPr/>
        </p:nvSpPr>
        <p:spPr bwMode="auto">
          <a:xfrm>
            <a:off x="6105525" y="4510088"/>
            <a:ext cx="10080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24" name="Rectangle 41"/>
          <p:cNvSpPr>
            <a:spLocks noChangeArrowheads="1"/>
          </p:cNvSpPr>
          <p:nvPr/>
        </p:nvSpPr>
        <p:spPr bwMode="auto">
          <a:xfrm>
            <a:off x="7977188" y="4510088"/>
            <a:ext cx="792162"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13</a:t>
            </a:r>
          </a:p>
        </p:txBody>
      </p:sp>
      <p:sp>
        <p:nvSpPr>
          <p:cNvPr id="26" name="Rectangle 43"/>
          <p:cNvSpPr>
            <a:spLocks noChangeArrowheads="1"/>
          </p:cNvSpPr>
          <p:nvPr/>
        </p:nvSpPr>
        <p:spPr bwMode="auto">
          <a:xfrm>
            <a:off x="7080250" y="2278063"/>
            <a:ext cx="896938" cy="503237"/>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anose="020B0503020000020004" pitchFamily="50" charset="-127"/>
                <a:ea typeface="맑은 고딕" panose="020B0503020000020004" pitchFamily="50" charset="-127"/>
              </a:rPr>
              <a:t>Others</a:t>
            </a:r>
            <a:endParaRPr lang="ko-KR" altLang="en-US" sz="1400" dirty="0">
              <a:latin typeface="맑은 고딕" panose="020B0503020000020004" pitchFamily="50" charset="-127"/>
              <a:ea typeface="맑은 고딕" panose="020B0503020000020004" pitchFamily="50" charset="-127"/>
            </a:endParaRPr>
          </a:p>
        </p:txBody>
      </p:sp>
      <p:sp>
        <p:nvSpPr>
          <p:cNvPr id="27" name="Rectangle 44"/>
          <p:cNvSpPr>
            <a:spLocks noChangeArrowheads="1"/>
          </p:cNvSpPr>
          <p:nvPr/>
        </p:nvSpPr>
        <p:spPr bwMode="auto">
          <a:xfrm>
            <a:off x="7080250" y="4510088"/>
            <a:ext cx="89693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28" name="Rectangle 45"/>
          <p:cNvSpPr>
            <a:spLocks noChangeArrowheads="1"/>
          </p:cNvSpPr>
          <p:nvPr/>
        </p:nvSpPr>
        <p:spPr bwMode="auto">
          <a:xfrm>
            <a:off x="2216150" y="2781300"/>
            <a:ext cx="108108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1</a:t>
            </a:r>
          </a:p>
        </p:txBody>
      </p:sp>
      <p:sp>
        <p:nvSpPr>
          <p:cNvPr id="29" name="Rectangle 46"/>
          <p:cNvSpPr>
            <a:spLocks noChangeArrowheads="1"/>
          </p:cNvSpPr>
          <p:nvPr/>
        </p:nvSpPr>
        <p:spPr bwMode="auto">
          <a:xfrm>
            <a:off x="3297238" y="2781300"/>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30" name="Rectangle 47"/>
          <p:cNvSpPr>
            <a:spLocks noChangeArrowheads="1"/>
          </p:cNvSpPr>
          <p:nvPr/>
        </p:nvSpPr>
        <p:spPr bwMode="auto">
          <a:xfrm>
            <a:off x="4217988" y="2781300"/>
            <a:ext cx="1023937"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31" name="Rectangle 48"/>
          <p:cNvSpPr>
            <a:spLocks noChangeArrowheads="1"/>
          </p:cNvSpPr>
          <p:nvPr/>
        </p:nvSpPr>
        <p:spPr bwMode="auto">
          <a:xfrm>
            <a:off x="5224463" y="2781300"/>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32" name="Rectangle 49"/>
          <p:cNvSpPr>
            <a:spLocks noChangeArrowheads="1"/>
          </p:cNvSpPr>
          <p:nvPr/>
        </p:nvSpPr>
        <p:spPr bwMode="auto">
          <a:xfrm>
            <a:off x="6105525" y="2781300"/>
            <a:ext cx="10080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33" name="Rectangle 50"/>
          <p:cNvSpPr>
            <a:spLocks noChangeArrowheads="1"/>
          </p:cNvSpPr>
          <p:nvPr/>
        </p:nvSpPr>
        <p:spPr bwMode="auto">
          <a:xfrm>
            <a:off x="7080250" y="2781300"/>
            <a:ext cx="89693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34" name="Rectangle 51"/>
          <p:cNvSpPr>
            <a:spLocks noChangeArrowheads="1"/>
          </p:cNvSpPr>
          <p:nvPr/>
        </p:nvSpPr>
        <p:spPr bwMode="auto">
          <a:xfrm>
            <a:off x="2216150" y="3644900"/>
            <a:ext cx="108108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35" name="Rectangle 52"/>
          <p:cNvSpPr>
            <a:spLocks noChangeArrowheads="1"/>
          </p:cNvSpPr>
          <p:nvPr/>
        </p:nvSpPr>
        <p:spPr bwMode="auto">
          <a:xfrm>
            <a:off x="3297238" y="3644900"/>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36" name="Rectangle 53"/>
          <p:cNvSpPr>
            <a:spLocks noChangeArrowheads="1"/>
          </p:cNvSpPr>
          <p:nvPr/>
        </p:nvSpPr>
        <p:spPr bwMode="auto">
          <a:xfrm>
            <a:off x="4217988" y="3644900"/>
            <a:ext cx="1023937"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3</a:t>
            </a:r>
          </a:p>
        </p:txBody>
      </p:sp>
      <p:sp>
        <p:nvSpPr>
          <p:cNvPr id="37" name="Rectangle 54"/>
          <p:cNvSpPr>
            <a:spLocks noChangeArrowheads="1"/>
          </p:cNvSpPr>
          <p:nvPr/>
        </p:nvSpPr>
        <p:spPr bwMode="auto">
          <a:xfrm>
            <a:off x="5224463" y="3644900"/>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38" name="Rectangle 55"/>
          <p:cNvSpPr>
            <a:spLocks noChangeArrowheads="1"/>
          </p:cNvSpPr>
          <p:nvPr/>
        </p:nvSpPr>
        <p:spPr bwMode="auto">
          <a:xfrm>
            <a:off x="6105525" y="3644900"/>
            <a:ext cx="10080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39" name="Rectangle 56"/>
          <p:cNvSpPr>
            <a:spLocks noChangeArrowheads="1"/>
          </p:cNvSpPr>
          <p:nvPr/>
        </p:nvSpPr>
        <p:spPr bwMode="auto">
          <a:xfrm>
            <a:off x="7080250" y="3644900"/>
            <a:ext cx="89693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40" name="Rectangle 57"/>
          <p:cNvSpPr>
            <a:spLocks noChangeArrowheads="1"/>
          </p:cNvSpPr>
          <p:nvPr/>
        </p:nvSpPr>
        <p:spPr bwMode="auto">
          <a:xfrm>
            <a:off x="2216150" y="3213100"/>
            <a:ext cx="108108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41" name="Rectangle 58"/>
          <p:cNvSpPr>
            <a:spLocks noChangeArrowheads="1"/>
          </p:cNvSpPr>
          <p:nvPr/>
        </p:nvSpPr>
        <p:spPr bwMode="auto">
          <a:xfrm>
            <a:off x="3297238" y="3213100"/>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42" name="Rectangle 59"/>
          <p:cNvSpPr>
            <a:spLocks noChangeArrowheads="1"/>
          </p:cNvSpPr>
          <p:nvPr/>
        </p:nvSpPr>
        <p:spPr bwMode="auto">
          <a:xfrm>
            <a:off x="4217988" y="3213100"/>
            <a:ext cx="1023937"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43" name="Rectangle 60"/>
          <p:cNvSpPr>
            <a:spLocks noChangeArrowheads="1"/>
          </p:cNvSpPr>
          <p:nvPr/>
        </p:nvSpPr>
        <p:spPr bwMode="auto">
          <a:xfrm>
            <a:off x="5224463" y="3213100"/>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44" name="Rectangle 61"/>
          <p:cNvSpPr>
            <a:spLocks noChangeArrowheads="1"/>
          </p:cNvSpPr>
          <p:nvPr/>
        </p:nvSpPr>
        <p:spPr bwMode="auto">
          <a:xfrm>
            <a:off x="6105525" y="3213100"/>
            <a:ext cx="10080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45" name="Rectangle 62"/>
          <p:cNvSpPr>
            <a:spLocks noChangeArrowheads="1"/>
          </p:cNvSpPr>
          <p:nvPr/>
        </p:nvSpPr>
        <p:spPr bwMode="auto">
          <a:xfrm>
            <a:off x="7080250" y="3213100"/>
            <a:ext cx="89693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46" name="Rectangle 63"/>
          <p:cNvSpPr>
            <a:spLocks noChangeArrowheads="1"/>
          </p:cNvSpPr>
          <p:nvPr/>
        </p:nvSpPr>
        <p:spPr bwMode="auto">
          <a:xfrm>
            <a:off x="2216150" y="4078288"/>
            <a:ext cx="108108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1</a:t>
            </a:r>
          </a:p>
        </p:txBody>
      </p:sp>
      <p:sp>
        <p:nvSpPr>
          <p:cNvPr id="47" name="Rectangle 64"/>
          <p:cNvSpPr>
            <a:spLocks noChangeArrowheads="1"/>
          </p:cNvSpPr>
          <p:nvPr/>
        </p:nvSpPr>
        <p:spPr bwMode="auto">
          <a:xfrm>
            <a:off x="3297238" y="4078288"/>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48" name="Rectangle 65"/>
          <p:cNvSpPr>
            <a:spLocks noChangeArrowheads="1"/>
          </p:cNvSpPr>
          <p:nvPr/>
        </p:nvSpPr>
        <p:spPr bwMode="auto">
          <a:xfrm>
            <a:off x="4217988" y="4078288"/>
            <a:ext cx="1023937"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49" name="Rectangle 66"/>
          <p:cNvSpPr>
            <a:spLocks noChangeArrowheads="1"/>
          </p:cNvSpPr>
          <p:nvPr/>
        </p:nvSpPr>
        <p:spPr bwMode="auto">
          <a:xfrm>
            <a:off x="5224463" y="4078288"/>
            <a:ext cx="917575"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a:latin typeface="맑은 고딕" pitchFamily="50" charset="-127"/>
                <a:ea typeface="맑은 고딕" pitchFamily="50" charset="-127"/>
              </a:rPr>
              <a:t>2</a:t>
            </a:r>
          </a:p>
        </p:txBody>
      </p:sp>
      <p:sp>
        <p:nvSpPr>
          <p:cNvPr id="50" name="Rectangle 67"/>
          <p:cNvSpPr>
            <a:spLocks noChangeArrowheads="1"/>
          </p:cNvSpPr>
          <p:nvPr/>
        </p:nvSpPr>
        <p:spPr bwMode="auto">
          <a:xfrm>
            <a:off x="6105525" y="4078288"/>
            <a:ext cx="1008063"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51" name="Rectangle 68"/>
          <p:cNvSpPr>
            <a:spLocks noChangeArrowheads="1"/>
          </p:cNvSpPr>
          <p:nvPr/>
        </p:nvSpPr>
        <p:spPr bwMode="auto">
          <a:xfrm>
            <a:off x="7080250" y="4078288"/>
            <a:ext cx="896938" cy="431800"/>
          </a:xfrm>
          <a:prstGeom prst="rect">
            <a:avLst/>
          </a:prstGeom>
          <a:noFill/>
          <a:ln w="9525">
            <a:solidFill>
              <a:schemeClr val="tx1"/>
            </a:solidFill>
            <a:miter lim="800000"/>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endParaRPr lang="ko-KR" altLang="ko-KR" sz="1400" dirty="0">
              <a:latin typeface="맑은 고딕" panose="020B0503020000020004" pitchFamily="50" charset="-127"/>
              <a:ea typeface="맑은 고딕" panose="020B0503020000020004"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115</a:t>
            </a:fld>
            <a:endParaRPr lang="ko-KR" altLang="en-US" dirty="0"/>
          </a:p>
        </p:txBody>
      </p:sp>
      <p:sp>
        <p:nvSpPr>
          <p:cNvPr id="56" name="Text Box 42"/>
          <p:cNvSpPr txBox="1">
            <a:spLocks noChangeArrowheads="1"/>
          </p:cNvSpPr>
          <p:nvPr/>
        </p:nvSpPr>
        <p:spPr bwMode="auto">
          <a:xfrm>
            <a:off x="5875801" y="1841669"/>
            <a:ext cx="28935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dirty="0">
                <a:latin typeface="맑은 고딕" pitchFamily="50" charset="-127"/>
                <a:ea typeface="맑은 고딕" pitchFamily="50" charset="-127"/>
              </a:rPr>
              <a:t>XXXX</a:t>
            </a:r>
            <a:r>
              <a:rPr lang="ko-KR" altLang="en-US" sz="1600" dirty="0">
                <a:latin typeface="맑은 고딕" pitchFamily="50" charset="-127"/>
                <a:ea typeface="맑은 고딕" pitchFamily="50" charset="-127"/>
              </a:rPr>
              <a:t> </a:t>
            </a:r>
            <a:r>
              <a:rPr lang="en-US" altLang="ko-KR" sz="1600" dirty="0">
                <a:latin typeface="맑은 고딕" pitchFamily="50" charset="-127"/>
                <a:ea typeface="맑은 고딕" pitchFamily="50" charset="-127"/>
              </a:rPr>
              <a:t>Year</a:t>
            </a:r>
            <a:r>
              <a:rPr lang="ko-KR" altLang="en-US" sz="1600" dirty="0">
                <a:latin typeface="맑은 고딕" pitchFamily="50" charset="-127"/>
                <a:ea typeface="맑은 고딕" pitchFamily="50" charset="-127"/>
              </a:rPr>
              <a:t> </a:t>
            </a:r>
            <a:r>
              <a:rPr lang="en-US" altLang="ko-KR" sz="1600" dirty="0">
                <a:latin typeface="맑은 고딕" pitchFamily="50" charset="-127"/>
                <a:ea typeface="맑은 고딕" pitchFamily="50" charset="-127"/>
              </a:rPr>
              <a:t>XX Month</a:t>
            </a:r>
            <a:r>
              <a:rPr lang="ko-KR" altLang="en-US" sz="1600" dirty="0">
                <a:latin typeface="맑은 고딕" pitchFamily="50" charset="-127"/>
                <a:ea typeface="맑은 고딕" pitchFamily="50" charset="-127"/>
              </a:rPr>
              <a:t> </a:t>
            </a:r>
            <a:r>
              <a:rPr lang="en-US" altLang="ko-KR" sz="1600" dirty="0">
                <a:latin typeface="맑은 고딕" pitchFamily="50" charset="-127"/>
                <a:ea typeface="맑은 고딕" pitchFamily="50" charset="-127"/>
              </a:rPr>
              <a:t>XX Day</a:t>
            </a:r>
            <a:endParaRPr lang="ko-KR" altLang="en-US" sz="1600" dirty="0">
              <a:latin typeface="맑은 고딕" pitchFamily="50" charset="-127"/>
              <a:ea typeface="맑은 고딕" pitchFamily="50" charset="-127"/>
            </a:endParaRPr>
          </a:p>
        </p:txBody>
      </p:sp>
      <p:sp>
        <p:nvSpPr>
          <p:cNvPr id="57" name="Text Box 4"/>
          <p:cNvSpPr txBox="1">
            <a:spLocks noChangeArrowheads="1"/>
          </p:cNvSpPr>
          <p:nvPr/>
        </p:nvSpPr>
        <p:spPr bwMode="auto">
          <a:xfrm>
            <a:off x="95250" y="250825"/>
            <a:ext cx="3994150"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5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Check Sheet</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321969107"/>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Text Box 4"/>
          <p:cNvSpPr txBox="1">
            <a:spLocks noChangeArrowheads="1"/>
          </p:cNvSpPr>
          <p:nvPr/>
        </p:nvSpPr>
        <p:spPr bwMode="auto">
          <a:xfrm>
            <a:off x="217488" y="2506663"/>
            <a:ext cx="6823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13" tIns="45707" rIns="91413" bIns="4570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b="1" dirty="0" err="1">
                <a:solidFill>
                  <a:srgbClr val="000000"/>
                </a:solidFill>
                <a:latin typeface="Arial" pitchFamily="34" charset="0"/>
                <a:ea typeface="맑은 고딕" pitchFamily="50" charset="-127"/>
                <a:cs typeface="Arial" pitchFamily="34" charset="0"/>
              </a:rPr>
              <a:t>Phân</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tầng</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dữ</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liệu</a:t>
            </a:r>
            <a:r>
              <a:rPr lang="en-US" altLang="ko-KR" sz="2400" b="1" dirty="0">
                <a:solidFill>
                  <a:srgbClr val="000000"/>
                </a:solidFill>
                <a:latin typeface="Arial" pitchFamily="34" charset="0"/>
                <a:ea typeface="맑은 고딕" pitchFamily="50" charset="-127"/>
                <a:cs typeface="Arial" pitchFamily="34" charset="0"/>
              </a:rPr>
              <a:t> (Stratification)</a:t>
            </a:r>
            <a:endParaRPr lang="ko-KR" altLang="en-US" sz="2400" b="1" dirty="0">
              <a:solidFill>
                <a:srgbClr val="000000"/>
              </a:solidFill>
              <a:latin typeface="Arial" pitchFamily="34" charset="0"/>
              <a:ea typeface="맑은 고딕" pitchFamily="50" charset="-127"/>
              <a:cs typeface="Arial" pitchFamily="34" charset="0"/>
            </a:endParaRPr>
          </a:p>
        </p:txBody>
      </p:sp>
      <p:sp>
        <p:nvSpPr>
          <p:cNvPr id="4" name="Text Box 4"/>
          <p:cNvSpPr txBox="1">
            <a:spLocks noChangeArrowheads="1"/>
          </p:cNvSpPr>
          <p:nvPr/>
        </p:nvSpPr>
        <p:spPr bwMode="auto">
          <a:xfrm>
            <a:off x="1361878" y="3578297"/>
            <a:ext cx="3168352" cy="1569626"/>
          </a:xfrm>
          <a:prstGeom prst="rect">
            <a:avLst/>
          </a:prstGeom>
          <a:noFill/>
          <a:ln w="12700" cap="rnd">
            <a:noFill/>
            <a:miter lim="800000"/>
            <a:headEnd type="none" w="sm" len="sm"/>
            <a:tailEnd type="none" w="sm" len="sm"/>
          </a:ln>
        </p:spPr>
        <p:txBody>
          <a:bodyPr wrap="square" lIns="91405" tIns="45703" rIns="91405" bIns="45703">
            <a:spAutoFit/>
          </a:bodyPr>
          <a:lstStyle/>
          <a:p>
            <a:pPr marL="87313" indent="-87313">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Giới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thiệu</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Định</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nghĩa</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Phương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pháp</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xây</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dựng</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Ví</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dụ</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Thực</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hành</a:t>
            </a:r>
          </a:p>
          <a:p>
            <a:pPr>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Tổng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kết</a:t>
            </a:r>
            <a:endParaRPr lang="ko-KR" altLang="en-US" sz="1600" b="1" dirty="0">
              <a:latin typeface="Arial" pitchFamily="34" charset="0"/>
              <a:ea typeface="맑은 고딕" panose="020B0503020000020004" pitchFamily="50" charset="-127"/>
              <a:cs typeface="Arial" pitchFamily="34" charset="0"/>
            </a:endParaRPr>
          </a:p>
        </p:txBody>
      </p:sp>
    </p:spTree>
    <p:extLst>
      <p:ext uri="{BB962C8B-B14F-4D97-AF65-F5344CB8AC3E}">
        <p14:creationId xmlns:p14="http://schemas.microsoft.com/office/powerpoint/2010/main" val="166606140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ko-KR" altLang="en-US" sz="2000" b="1" dirty="0">
              <a:latin typeface="Arial" pitchFamily="34" charset="0"/>
              <a:ea typeface="맑은 고딕" pitchFamily="50" charset="-127"/>
              <a:cs typeface="Arial" pitchFamily="34" charset="0"/>
            </a:endParaRPr>
          </a:p>
        </p:txBody>
      </p:sp>
      <p:sp>
        <p:nvSpPr>
          <p:cNvPr id="14233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
        <p:nvSpPr>
          <p:cNvPr id="142340" name="Text Box 7"/>
          <p:cNvSpPr txBox="1">
            <a:spLocks noChangeArrowheads="1"/>
          </p:cNvSpPr>
          <p:nvPr/>
        </p:nvSpPr>
        <p:spPr bwMode="auto">
          <a:xfrm>
            <a:off x="1281113" y="1498600"/>
            <a:ext cx="82803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kumimoji="0" lang="en-US" altLang="ko-KR" sz="1600" b="1" dirty="0" err="1">
                <a:latin typeface="Arial" pitchFamily="34" charset="0"/>
                <a:ea typeface="맑은 고딕" pitchFamily="50" charset="-127"/>
                <a:cs typeface="Arial" pitchFamily="34" charset="0"/>
              </a:rPr>
              <a:t>Để</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đánh</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giá</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chất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lượng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hàng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hoá</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sản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xuất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tại</a:t>
            </a:r>
            <a:r>
              <a:rPr kumimoji="0" lang="en-US" altLang="ko-KR" sz="1600" b="1" dirty="0">
                <a:latin typeface="Arial" pitchFamily="34" charset="0"/>
                <a:ea typeface="맑은 고딕" pitchFamily="50" charset="-127"/>
                <a:cs typeface="Arial" pitchFamily="34" charset="0"/>
              </a:rPr>
              <a:t> 1 </a:t>
            </a:r>
            <a:r>
              <a:rPr kumimoji="0" lang="en-US" altLang="ko-KR" sz="1600" b="1" dirty="0" err="1">
                <a:latin typeface="Arial" pitchFamily="34" charset="0"/>
                <a:ea typeface="맑은 고딕" pitchFamily="50" charset="-127"/>
                <a:cs typeface="Arial" pitchFamily="34" charset="0"/>
              </a:rPr>
              <a:t>vùng</a:t>
            </a:r>
            <a:r>
              <a:rPr kumimoji="0" lang="en-US" altLang="ko-KR" sz="1600" b="1" dirty="0">
                <a:latin typeface="Arial" pitchFamily="34" charset="0"/>
                <a:ea typeface="맑은 고딕" pitchFamily="50" charset="-127"/>
                <a:cs typeface="Arial" pitchFamily="34" charset="0"/>
              </a:rPr>
              <a:t> A. 5 </a:t>
            </a:r>
            <a:r>
              <a:rPr kumimoji="0" lang="en-US" altLang="ko-KR" sz="1600" b="1" dirty="0" err="1">
                <a:latin typeface="Arial" pitchFamily="34" charset="0"/>
                <a:ea typeface="맑은 고딕" pitchFamily="50" charset="-127"/>
                <a:cs typeface="Arial" pitchFamily="34" charset="0"/>
              </a:rPr>
              <a:t>dữ</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liệu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thập</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hàng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ngày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trong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vòng</a:t>
            </a:r>
            <a:r>
              <a:rPr kumimoji="0" lang="en-US" altLang="ko-KR" sz="1600" b="1" dirty="0">
                <a:latin typeface="Arial" pitchFamily="34" charset="0"/>
                <a:ea typeface="맑은 고딕" pitchFamily="50" charset="-127"/>
                <a:cs typeface="Arial" pitchFamily="34" charset="0"/>
              </a:rPr>
              <a:t> 20 </a:t>
            </a:r>
            <a:r>
              <a:rPr kumimoji="0" lang="en-US" altLang="ko-KR" sz="1600" b="1" dirty="0" err="1">
                <a:latin typeface="Arial" pitchFamily="34" charset="0"/>
                <a:ea typeface="맑은 고딕" pitchFamily="50" charset="-127"/>
                <a:cs typeface="Arial" pitchFamily="34" charset="0"/>
              </a:rPr>
              <a:t>ngày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sau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đó</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tập</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dữ</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liệu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thập</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sử</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dụng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để</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xây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dựng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biểu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đồ</a:t>
            </a:r>
            <a:r>
              <a:rPr kumimoji="0" lang="en-US" altLang="ko-KR" sz="1600" b="1" dirty="0">
                <a:latin typeface="Arial" pitchFamily="34" charset="0"/>
                <a:ea typeface="맑은 고딕" pitchFamily="50" charset="-127"/>
                <a:cs typeface="Arial" pitchFamily="34" charset="0"/>
              </a:rPr>
              <a:t> histogram.</a:t>
            </a:r>
          </a:p>
          <a:p>
            <a:pPr algn="just" eaLnBrk="1" hangingPunct="1"/>
            <a:r>
              <a:rPr kumimoji="0" lang="en-US" altLang="ko-KR" sz="1600" b="1" dirty="0" err="1">
                <a:latin typeface="Arial" pitchFamily="34" charset="0"/>
                <a:ea typeface="맑은 고딕" pitchFamily="50" charset="-127"/>
                <a:cs typeface="Arial" pitchFamily="34" charset="0"/>
              </a:rPr>
              <a:t>Có</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vấn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đề</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gì</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với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biểu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đồ</a:t>
            </a:r>
            <a:r>
              <a:rPr kumimoji="0" lang="en-US" altLang="ko-KR" sz="1600" b="1" dirty="0">
                <a:latin typeface="Arial" pitchFamily="34" charset="0"/>
                <a:ea typeface="맑은 고딕" pitchFamily="50" charset="-127"/>
                <a:cs typeface="Arial" pitchFamily="34" charset="0"/>
              </a:rPr>
              <a:t> histogram </a:t>
            </a:r>
            <a:r>
              <a:rPr kumimoji="0" lang="en-US" altLang="ko-KR" sz="1600" b="1" dirty="0" err="1">
                <a:latin typeface="Arial" pitchFamily="34" charset="0"/>
                <a:ea typeface="맑은 고딕" pitchFamily="50" charset="-127"/>
                <a:cs typeface="Arial" pitchFamily="34" charset="0"/>
              </a:rPr>
              <a:t>này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và</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cần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khắc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phục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như</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thế</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nào</a:t>
            </a:r>
            <a:r>
              <a:rPr kumimoji="0" lang="en-US" altLang="ko-KR" sz="1600" b="1" dirty="0">
                <a:latin typeface="Arial" pitchFamily="34" charset="0"/>
                <a:ea typeface="맑은 고딕" pitchFamily="50" charset="-127"/>
                <a:cs typeface="Arial" pitchFamily="34" charset="0"/>
              </a:rPr>
              <a:t>?</a:t>
            </a:r>
          </a:p>
        </p:txBody>
      </p:sp>
      <p:pic>
        <p:nvPicPr>
          <p:cNvPr id="142341" name="Picture 1"/>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2159000" y="2924175"/>
            <a:ext cx="5486400" cy="338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2" name="Picture 2" descr="C:\Users\Administrator\AppData\Local\Microsoft\Windows\Temporary Internet Files\Content.IE5\DG8HFB2Z\%ED%95%98%ED%8A%B8[1].jp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661005" y="764605"/>
            <a:ext cx="620108" cy="576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30"/>
          <p:cNvSpPr>
            <a:spLocks noChangeArrowheads="1"/>
          </p:cNvSpPr>
          <p:nvPr/>
        </p:nvSpPr>
        <p:spPr bwMode="auto">
          <a:xfrm>
            <a:off x="1281113" y="821533"/>
            <a:ext cx="3512180" cy="462307"/>
          </a:xfrm>
          <a:prstGeom prst="rect">
            <a:avLst/>
          </a:prstGeom>
          <a:noFill/>
          <a:ln w="9525">
            <a:noFill/>
            <a:miter lim="800000"/>
            <a:headEnd/>
            <a:tailEnd/>
          </a:ln>
          <a:effectLst/>
        </p:spPr>
        <p:txBody>
          <a:bodyPr wrap="none" lIns="92075" tIns="46038" rIns="92075" bIns="46038">
            <a:spAutoFit/>
          </a:bodyPr>
          <a:lstStyle/>
          <a:p>
            <a:pPr defTabSz="762000" latinLnBrk="0">
              <a:defRPr/>
            </a:pPr>
            <a:r>
              <a:rPr lang="en-US" altLang="ko-KR" sz="2400" b="1" dirty="0">
                <a:solidFill>
                  <a:srgbClr val="FF0000"/>
                </a:solidFill>
                <a:effectLst>
                  <a:outerShdw blurRad="38100" dist="38100" dir="2700000" algn="tl">
                    <a:srgbClr val="C0C0C0"/>
                  </a:outerShdw>
                </a:effectLst>
                <a:latin typeface="Arial" pitchFamily="34" charset="0"/>
                <a:ea typeface="맑은 고딕" panose="020B0503020000020004" pitchFamily="50" charset="-127"/>
                <a:cs typeface="Arial" pitchFamily="34" charset="0"/>
              </a:rPr>
              <a:t>Lets Think About This!</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117</a:t>
            </a:fld>
            <a:endParaRPr lang="ko-KR" altLang="en-US" dirty="0">
              <a:latin typeface="Arial" pitchFamily="34" charset="0"/>
              <a:cs typeface="Arial" pitchFamily="34" charset="0"/>
            </a:endParaRPr>
          </a:p>
        </p:txBody>
      </p:sp>
      <p:sp>
        <p:nvSpPr>
          <p:cNvPr id="3" name="TextBox 2"/>
          <p:cNvSpPr txBox="1"/>
          <p:nvPr/>
        </p:nvSpPr>
        <p:spPr>
          <a:xfrm>
            <a:off x="5367630" y="3014370"/>
            <a:ext cx="1002519" cy="276999"/>
          </a:xfrm>
          <a:prstGeom prst="rect">
            <a:avLst/>
          </a:prstGeom>
          <a:noFill/>
        </p:spPr>
        <p:txBody>
          <a:bodyPr wrap="none" rtlCol="0">
            <a:spAutoFit/>
          </a:bodyPr>
          <a:lstStyle/>
          <a:p>
            <a:r>
              <a:rPr lang="en-US" altLang="ko-KR" sz="1200" dirty="0">
                <a:latin typeface="Arial" pitchFamily="34" charset="0"/>
                <a:ea typeface="+mn-ea"/>
                <a:cs typeface="Arial" pitchFamily="34" charset="0"/>
              </a:rPr>
              <a:t>(Histogram)</a:t>
            </a:r>
            <a:endParaRPr lang="ko-KR" altLang="en-US" sz="1200" dirty="0">
              <a:latin typeface="Arial" pitchFamily="34" charset="0"/>
              <a:ea typeface="+mn-ea"/>
              <a:cs typeface="Arial" pitchFamily="34" charset="0"/>
            </a:endParaRPr>
          </a:p>
        </p:txBody>
      </p:sp>
    </p:spTree>
    <p:extLst>
      <p:ext uri="{BB962C8B-B14F-4D97-AF65-F5344CB8AC3E}">
        <p14:creationId xmlns:p14="http://schemas.microsoft.com/office/powerpoint/2010/main" val="220290750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Định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nghĩa</a:t>
            </a:r>
            <a:endParaRPr lang="ko-KR" altLang="en-US" sz="2000" b="1" dirty="0">
              <a:latin typeface="Arial" pitchFamily="34" charset="0"/>
              <a:ea typeface="맑은 고딕" pitchFamily="50" charset="-127"/>
              <a:cs typeface="Arial" pitchFamily="34" charset="0"/>
            </a:endParaRPr>
          </a:p>
        </p:txBody>
      </p:sp>
      <p:sp>
        <p:nvSpPr>
          <p:cNvPr id="143363"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
        <p:nvSpPr>
          <p:cNvPr id="143364" name="Text Box 7"/>
          <p:cNvSpPr txBox="1">
            <a:spLocks noChangeArrowheads="1"/>
          </p:cNvSpPr>
          <p:nvPr/>
        </p:nvSpPr>
        <p:spPr bwMode="auto">
          <a:xfrm>
            <a:off x="893763" y="1089025"/>
            <a:ext cx="8066087" cy="958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pPr>
            <a:r>
              <a:rPr kumimoji="0" lang="en-US" altLang="ko-KR" sz="2000" b="1" dirty="0" err="1">
                <a:latin typeface="Arial" pitchFamily="34" charset="0"/>
                <a:ea typeface="맑은 고딕" pitchFamily="50" charset="-127"/>
                <a:cs typeface="Arial" pitchFamily="34" charset="0"/>
              </a:rPr>
              <a:t>Sự</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phân</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tầng</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là</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một</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quá</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trình</a:t>
            </a:r>
            <a:r>
              <a:rPr kumimoji="0" lang="en-US" altLang="ko-KR" sz="2000" b="1" dirty="0">
                <a:latin typeface="Arial" pitchFamily="34" charset="0"/>
                <a:ea typeface="맑은 고딕" pitchFamily="50" charset="-127"/>
                <a:cs typeface="Arial" pitchFamily="34" charset="0"/>
              </a:rPr>
              <a:t> chia 1 </a:t>
            </a:r>
            <a:r>
              <a:rPr kumimoji="0" lang="en-US" altLang="ko-KR" sz="2000" b="1" dirty="0" err="1">
                <a:latin typeface="Arial" pitchFamily="34" charset="0"/>
                <a:ea typeface="맑은 고딕" pitchFamily="50" charset="-127"/>
                <a:cs typeface="Arial" pitchFamily="34" charset="0"/>
              </a:rPr>
              <a:t>nhóm</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dữ</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liệu</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lớn</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thành</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các</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nhóm</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dữ</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liệu</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nhỏ</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hơn</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trên</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cơ</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sở</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một</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đặc</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điểm</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chung</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nào</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đó</a:t>
            </a:r>
            <a:r>
              <a:rPr kumimoji="0" lang="en-US" altLang="ko-KR" sz="2000" b="1" dirty="0">
                <a:latin typeface="Arial" pitchFamily="34" charset="0"/>
                <a:ea typeface="맑은 고딕" pitchFamily="50" charset="-127"/>
                <a:cs typeface="Arial" pitchFamily="34" charset="0"/>
              </a:rPr>
              <a:t>. </a:t>
            </a:r>
          </a:p>
        </p:txBody>
      </p:sp>
      <p:sp>
        <p:nvSpPr>
          <p:cNvPr id="143365" name="Text Box 14"/>
          <p:cNvSpPr txBox="1">
            <a:spLocks noChangeArrowheads="1"/>
          </p:cNvSpPr>
          <p:nvPr/>
        </p:nvSpPr>
        <p:spPr bwMode="auto">
          <a:xfrm>
            <a:off x="1009650" y="5239378"/>
            <a:ext cx="7759700" cy="841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AutoNum type="circleNumDbPlain"/>
            </a:pPr>
            <a:r>
              <a:rPr lang="en-US" altLang="ko-KR" sz="1600" dirty="0" err="1">
                <a:latin typeface="Arial" pitchFamily="34" charset="0"/>
                <a:ea typeface="맑은 고딕" pitchFamily="50" charset="-127"/>
                <a:cs typeface="Arial" pitchFamily="34" charset="0"/>
              </a:rPr>
              <a:t>Điều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còn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mơ</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hồ</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khi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chưa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tầng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sẽ</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trở</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rõ</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ràng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cụ</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hơn</a:t>
            </a:r>
            <a:endParaRPr lang="en-US" altLang="ko-KR" sz="1600" dirty="0">
              <a:latin typeface="Arial" pitchFamily="34" charset="0"/>
              <a:ea typeface="맑은 고딕" pitchFamily="50" charset="-127"/>
              <a:cs typeface="Arial" pitchFamily="34" charset="0"/>
            </a:endParaRPr>
          </a:p>
          <a:p>
            <a:pPr eaLnBrk="1" hangingPunct="1">
              <a:buFont typeface="Wingdings" pitchFamily="2" charset="2"/>
              <a:buAutoNum type="circleNumDbPlain"/>
            </a:pPr>
            <a:r>
              <a:rPr lang="en-US" altLang="ko-KR" sz="1600" dirty="0" err="1">
                <a:latin typeface="Arial" pitchFamily="34" charset="0"/>
                <a:ea typeface="맑은 고딕" pitchFamily="50" charset="-127"/>
                <a:cs typeface="Arial" pitchFamily="34" charset="0"/>
              </a:rPr>
              <a:t>Thông</a:t>
            </a:r>
            <a:r>
              <a:rPr lang="en-US" altLang="ko-KR" sz="1600" dirty="0">
                <a:latin typeface="Arial" pitchFamily="34" charset="0"/>
                <a:ea typeface="맑은 고딕" pitchFamily="50" charset="-127"/>
                <a:cs typeface="Arial" pitchFamily="34" charset="0"/>
              </a:rPr>
              <a:t> tin </a:t>
            </a:r>
            <a:r>
              <a:rPr lang="en-US" altLang="ko-KR" sz="1600" dirty="0" err="1">
                <a:latin typeface="Arial" pitchFamily="34" charset="0"/>
                <a:ea typeface="맑은 고딕" pitchFamily="50" charset="-127"/>
                <a:cs typeface="Arial" pitchFamily="34" charset="0"/>
              </a:rPr>
              <a:t>cần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thiết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và</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hữu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ích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từ</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sẽ</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thập</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lại</a:t>
            </a:r>
            <a:endParaRPr lang="en-US" altLang="ko-KR" sz="1600" dirty="0">
              <a:latin typeface="Arial" pitchFamily="34" charset="0"/>
              <a:ea typeface="맑은 고딕" pitchFamily="50" charset="-127"/>
              <a:cs typeface="Arial" pitchFamily="34" charset="0"/>
            </a:endParaRPr>
          </a:p>
          <a:p>
            <a:pPr eaLnBrk="1" hangingPunct="1">
              <a:buFont typeface="Wingdings" pitchFamily="2" charset="2"/>
              <a:buAutoNum type="circleNumDbPlain"/>
            </a:pPr>
            <a:r>
              <a:rPr lang="en-US" altLang="ko-KR" sz="1600" dirty="0" err="1">
                <a:latin typeface="Arial" pitchFamily="34" charset="0"/>
                <a:ea typeface="맑은 고딕" pitchFamily="50" charset="-127"/>
                <a:cs typeface="Arial" pitchFamily="34" charset="0"/>
              </a:rPr>
              <a:t>Dễ</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dàng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hơn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trong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việc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tìm</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giải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pháp</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cho</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từng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loại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đặc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điểm</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riêng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biệt</a:t>
            </a:r>
            <a:r>
              <a:rPr lang="en-US" altLang="ko-KR" sz="1600" dirty="0">
                <a:latin typeface="Arial" pitchFamily="34" charset="0"/>
                <a:ea typeface="맑은 고딕" pitchFamily="50" charset="-127"/>
                <a:cs typeface="Arial" pitchFamily="34" charset="0"/>
              </a:rPr>
              <a:t>.</a:t>
            </a:r>
          </a:p>
        </p:txBody>
      </p:sp>
      <p:sp>
        <p:nvSpPr>
          <p:cNvPr id="143366" name="Text Box 3"/>
          <p:cNvSpPr txBox="1">
            <a:spLocks noChangeArrowheads="1"/>
          </p:cNvSpPr>
          <p:nvPr/>
        </p:nvSpPr>
        <p:spPr bwMode="auto">
          <a:xfrm>
            <a:off x="539750" y="4798053"/>
            <a:ext cx="26066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10000"/>
              </a:spcBef>
            </a:pPr>
            <a:r>
              <a:rPr lang="ko-KR" altLang="en-US"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Lợi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ích</a:t>
            </a:r>
            <a:endParaRPr lang="ko-KR" altLang="en-US" b="1" dirty="0">
              <a:latin typeface="Arial" pitchFamily="34" charset="0"/>
              <a:ea typeface="맑은 고딕" pitchFamily="50" charset="-127"/>
              <a:cs typeface="Arial" pitchFamily="34" charset="0"/>
            </a:endParaRPr>
          </a:p>
        </p:txBody>
      </p:sp>
      <p:sp>
        <p:nvSpPr>
          <p:cNvPr id="143367" name="Text Box 3"/>
          <p:cNvSpPr txBox="1">
            <a:spLocks noChangeArrowheads="1"/>
          </p:cNvSpPr>
          <p:nvPr/>
        </p:nvSpPr>
        <p:spPr bwMode="auto">
          <a:xfrm>
            <a:off x="539750" y="2564904"/>
            <a:ext cx="26066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10000"/>
              </a:spcBef>
            </a:pPr>
            <a:r>
              <a:rPr lang="ko-KR" altLang="en-US"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Mục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đích</a:t>
            </a:r>
            <a:endParaRPr lang="ko-KR" altLang="en-US" b="1" dirty="0">
              <a:latin typeface="Arial" pitchFamily="34" charset="0"/>
              <a:ea typeface="맑은 고딕" pitchFamily="50" charset="-127"/>
              <a:cs typeface="Arial" pitchFamily="34" charset="0"/>
            </a:endParaRPr>
          </a:p>
        </p:txBody>
      </p:sp>
      <p:sp>
        <p:nvSpPr>
          <p:cNvPr id="143368" name="Rectangle 8"/>
          <p:cNvSpPr>
            <a:spLocks noChangeArrowheads="1"/>
          </p:cNvSpPr>
          <p:nvPr/>
        </p:nvSpPr>
        <p:spPr bwMode="auto">
          <a:xfrm>
            <a:off x="1002506" y="3176056"/>
            <a:ext cx="7848600" cy="517525"/>
          </a:xfrm>
          <a:prstGeom prst="rect">
            <a:avLst/>
          </a:prstGeom>
          <a:noFill/>
          <a:ln>
            <a:noFill/>
          </a:ln>
          <a:effectLst>
            <a:prstShdw prst="shdw17" dist="17961" dir="2700000">
              <a:srgbClr val="7A8E99"/>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lIns="90000" tIns="46800" rIns="90000" bIns="46800"/>
          <a:lstStyle/>
          <a:p>
            <a:pPr algn="just"/>
            <a:r>
              <a:rPr lang="en-US" altLang="ko-KR" sz="1600" dirty="0" err="1">
                <a:latin typeface="Arial" pitchFamily="34" charset="0"/>
                <a:ea typeface="맑은 고딕" pitchFamily="50" charset="-127"/>
                <a:cs typeface="Arial" pitchFamily="34" charset="0"/>
              </a:rPr>
              <a:t>Mục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đích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của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sự</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tầng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là</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để</a:t>
            </a:r>
            <a:r>
              <a:rPr lang="en-US" altLang="ko-KR" sz="1600" dirty="0">
                <a:latin typeface="Arial" pitchFamily="34" charset="0"/>
                <a:ea typeface="맑은 고딕" pitchFamily="50" charset="-127"/>
                <a:cs typeface="Arial" pitchFamily="34" charset="0"/>
              </a:rPr>
              <a:t> so </a:t>
            </a:r>
            <a:r>
              <a:rPr lang="en-US" altLang="ko-KR" sz="1600" dirty="0" err="1">
                <a:latin typeface="Arial" pitchFamily="34" charset="0"/>
                <a:ea typeface="맑은 고딕" pitchFamily="50" charset="-127"/>
                <a:cs typeface="Arial" pitchFamily="34" charset="0"/>
              </a:rPr>
              <a:t>sánh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sự</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bổ</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chất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lượng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của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tổng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khi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chưa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tầng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với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sự</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bổ</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chất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lượng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của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nhóm</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nhỏ</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hơn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sau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khi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đã</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tầng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nhằm</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tìm</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ra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nguyên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ảnh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hưởng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đến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chất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lượng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hoặc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tìm</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ra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mức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độ</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của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sự</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ảnh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hưởng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đó</a:t>
            </a:r>
            <a:r>
              <a:rPr lang="en-US" altLang="ko-KR" sz="1600" dirty="0">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118</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234570037"/>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8" name="Text Box 7"/>
          <p:cNvSpPr txBox="1">
            <a:spLocks noChangeArrowheads="1"/>
          </p:cNvSpPr>
          <p:nvPr/>
        </p:nvSpPr>
        <p:spPr bwMode="auto">
          <a:xfrm>
            <a:off x="458788" y="1600200"/>
            <a:ext cx="424815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b="1" dirty="0" err="1">
                <a:solidFill>
                  <a:srgbClr val="0000CC"/>
                </a:solidFill>
                <a:latin typeface="Arial" pitchFamily="34" charset="0"/>
                <a:ea typeface="맑은 고딕" pitchFamily="50" charset="-127"/>
                <a:cs typeface="Arial" pitchFamily="34" charset="0"/>
              </a:rPr>
              <a:t>Xác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định</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rõ</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các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đặc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điểm</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chất</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lượng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để</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thực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hiện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tầng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dữ</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liệu</a:t>
            </a:r>
            <a:r>
              <a:rPr kumimoji="0" lang="en-US" altLang="ko-KR" sz="1400" b="1" dirty="0">
                <a:solidFill>
                  <a:srgbClr val="0000CC"/>
                </a:solidFill>
                <a:latin typeface="Arial" pitchFamily="34" charset="0"/>
                <a:ea typeface="맑은 고딕" pitchFamily="50" charset="-127"/>
                <a:cs typeface="Arial" pitchFamily="34" charset="0"/>
              </a:rPr>
              <a:t>.</a:t>
            </a:r>
            <a:endParaRPr kumimoji="0" lang="en-US" altLang="ko-KR" sz="1400" dirty="0">
              <a:solidFill>
                <a:srgbClr val="0000CC"/>
              </a:solidFill>
              <a:latin typeface="Arial" pitchFamily="34" charset="0"/>
              <a:ea typeface="맑은 고딕" pitchFamily="50" charset="-127"/>
              <a:cs typeface="Arial" pitchFamily="34" charset="0"/>
            </a:endParaRPr>
          </a:p>
          <a:p>
            <a:pPr eaLnBrk="1" hangingPunct="1"/>
            <a:r>
              <a:rPr kumimoji="0" lang="en-US" altLang="ko-KR" sz="1400" dirty="0">
                <a:latin typeface="Arial" pitchFamily="34" charset="0"/>
                <a:ea typeface="맑은 고딕" pitchFamily="50" charset="-127"/>
                <a:cs typeface="Arial" pitchFamily="34" charset="0"/>
              </a:rPr>
              <a:t>   - </a:t>
            </a:r>
            <a:r>
              <a:rPr kumimoji="0" lang="en-US" altLang="ko-KR" sz="1400" dirty="0" err="1">
                <a:latin typeface="Arial" pitchFamily="34" charset="0"/>
                <a:ea typeface="맑은 고딕" pitchFamily="50" charset="-127"/>
                <a:cs typeface="Arial" pitchFamily="34" charset="0"/>
              </a:rPr>
              <a:t>Đồng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thời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phạm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vị</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số</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lượng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làm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rõ</a:t>
            </a:r>
            <a:r>
              <a:rPr kumimoji="0" lang="en-US" altLang="ko-KR" sz="1400" dirty="0">
                <a:latin typeface="Arial" pitchFamily="34" charset="0"/>
                <a:ea typeface="맑은 고딕" pitchFamily="50" charset="-127"/>
                <a:cs typeface="Arial" pitchFamily="34" charset="0"/>
              </a:rPr>
              <a:t>. </a:t>
            </a:r>
          </a:p>
        </p:txBody>
      </p:sp>
      <p:sp>
        <p:nvSpPr>
          <p:cNvPr id="6" name="직사각형 5"/>
          <p:cNvSpPr/>
          <p:nvPr/>
        </p:nvSpPr>
        <p:spPr>
          <a:xfrm>
            <a:off x="4635500" y="1582738"/>
            <a:ext cx="5184775" cy="1815882"/>
          </a:xfrm>
          <a:prstGeom prst="rect">
            <a:avLst/>
          </a:prstGeom>
        </p:spPr>
        <p:txBody>
          <a:bodyPr wrap="square">
            <a:spAutoFit/>
          </a:bodyPr>
          <a:lstStyle/>
          <a:p>
            <a:pPr marL="342900" indent="-342900" fontAlgn="auto">
              <a:spcBef>
                <a:spcPts val="0"/>
              </a:spcBef>
              <a:spcAft>
                <a:spcPts val="0"/>
              </a:spcAft>
              <a:buFont typeface="+mj-ea"/>
              <a:buAutoNum type="circleNumDbPlain"/>
              <a:defRPr/>
            </a:pPr>
            <a:r>
              <a:rPr kumimoji="0" lang="en-US" altLang="ko-KR" sz="1400" dirty="0" err="1">
                <a:solidFill>
                  <a:srgbClr val="0000CC"/>
                </a:solidFill>
                <a:latin typeface="Arial" pitchFamily="34" charset="0"/>
                <a:ea typeface="맑은 고딕" panose="020B0503020000020004" pitchFamily="50" charset="-127"/>
                <a:cs typeface="Arial" pitchFamily="34" charset="0"/>
              </a:rPr>
              <a:t>Đặc</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điểm</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chất</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lượng</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là</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gì</a:t>
            </a:r>
            <a:r>
              <a:rPr kumimoji="0" lang="en-US" altLang="ko-KR" sz="1400" dirty="0">
                <a:solidFill>
                  <a:srgbClr val="0000CC"/>
                </a:solidFill>
                <a:latin typeface="Arial" pitchFamily="34" charset="0"/>
                <a:ea typeface="맑은 고딕" panose="020B0503020000020004" pitchFamily="50" charset="-127"/>
                <a:cs typeface="Arial" pitchFamily="34" charset="0"/>
              </a:rPr>
              <a:t>? </a:t>
            </a:r>
          </a:p>
          <a:p>
            <a:pPr fontAlgn="auto">
              <a:spcBef>
                <a:spcPts val="0"/>
              </a:spcBef>
              <a:spcAft>
                <a:spcPts val="0"/>
              </a:spcAft>
              <a:defRPr/>
            </a:pPr>
            <a:r>
              <a:rPr kumimoji="0" lang="en-US" altLang="ko-KR" sz="1400" dirty="0">
                <a:latin typeface="Arial" pitchFamily="34" charset="0"/>
                <a:ea typeface="맑은 고딕" panose="020B0503020000020004" pitchFamily="50" charset="-127"/>
                <a:cs typeface="Arial" pitchFamily="34" charset="0"/>
              </a:rPr>
              <a:t>   - </a:t>
            </a:r>
            <a:r>
              <a:rPr kumimoji="0" lang="en-US" altLang="ko-KR" sz="1400" dirty="0" err="1">
                <a:latin typeface="Arial" pitchFamily="34" charset="0"/>
                <a:ea typeface="맑은 고딕" panose="020B0503020000020004" pitchFamily="50" charset="-127"/>
                <a:cs typeface="Arial" pitchFamily="34" charset="0"/>
              </a:rPr>
              <a:t>Tỉ</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lệ</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lỗi</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sản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lượng</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độ</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dài</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độ</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cứng</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thành</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phần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hóa</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học</a:t>
            </a:r>
            <a:r>
              <a:rPr kumimoji="0" lang="en-US" altLang="ko-KR" sz="1400" dirty="0">
                <a:latin typeface="Arial" pitchFamily="34" charset="0"/>
                <a:ea typeface="맑은 고딕" panose="020B0503020000020004" pitchFamily="50" charset="-127"/>
                <a:cs typeface="Arial" pitchFamily="34" charset="0"/>
              </a:rPr>
              <a:t>. </a:t>
            </a:r>
            <a:endParaRPr kumimoji="0" lang="ko-KR" altLang="en-US" sz="1400" dirty="0">
              <a:latin typeface="Arial" pitchFamily="34" charset="0"/>
              <a:ea typeface="맑은 고딕" panose="020B0503020000020004" pitchFamily="50" charset="-127"/>
              <a:cs typeface="Arial" pitchFamily="34" charset="0"/>
            </a:endParaRPr>
          </a:p>
          <a:p>
            <a:pPr fontAlgn="auto">
              <a:spcBef>
                <a:spcPts val="0"/>
              </a:spcBef>
              <a:spcAft>
                <a:spcPts val="0"/>
              </a:spcAft>
              <a:defRPr/>
            </a:pPr>
            <a:r>
              <a:rPr kumimoji="0" lang="ko-KR" altLang="en-US" sz="1400" dirty="0">
                <a:latin typeface="Arial" pitchFamily="34" charset="0"/>
                <a:ea typeface="맑은 고딕" panose="020B0503020000020004" pitchFamily="50" charset="-127"/>
                <a:cs typeface="Arial" pitchFamily="34" charset="0"/>
              </a:rPr>
              <a:t>   </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Vận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chuyển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thời</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gian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hiệu</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suất</a:t>
            </a:r>
            <a:r>
              <a:rPr kumimoji="0" lang="en-US" altLang="ko-KR" sz="1400" dirty="0">
                <a:latin typeface="Arial" pitchFamily="34" charset="0"/>
                <a:ea typeface="맑은 고딕" panose="020B0503020000020004" pitchFamily="50" charset="-127"/>
                <a:cs typeface="Arial" pitchFamily="34" charset="0"/>
              </a:rPr>
              <a:t>. </a:t>
            </a:r>
            <a:endParaRPr kumimoji="0" lang="ko-KR" altLang="en-US" sz="1400" dirty="0">
              <a:latin typeface="Arial" pitchFamily="34" charset="0"/>
              <a:ea typeface="맑은 고딕" panose="020B0503020000020004" pitchFamily="50" charset="-127"/>
              <a:cs typeface="Arial" pitchFamily="34" charset="0"/>
            </a:endParaRPr>
          </a:p>
          <a:p>
            <a:pPr marL="342900" indent="-342900" fontAlgn="auto">
              <a:spcBef>
                <a:spcPts val="0"/>
              </a:spcBef>
              <a:spcAft>
                <a:spcPts val="0"/>
              </a:spcAft>
              <a:buFont typeface="+mj-ea"/>
              <a:buAutoNum type="circleNumDbPlain" startAt="2"/>
              <a:defRPr/>
            </a:pPr>
            <a:r>
              <a:rPr kumimoji="0" lang="en-US" altLang="ko-KR" sz="1400" dirty="0" err="1">
                <a:solidFill>
                  <a:srgbClr val="0000CC"/>
                </a:solidFill>
                <a:latin typeface="Arial" pitchFamily="34" charset="0"/>
                <a:ea typeface="맑은 고딕" panose="020B0503020000020004" pitchFamily="50" charset="-127"/>
                <a:cs typeface="Arial" pitchFamily="34" charset="0"/>
              </a:rPr>
              <a:t>Phạm</a:t>
            </a:r>
            <a:r>
              <a:rPr kumimoji="0" lang="en-US" altLang="ko-KR" sz="1400" dirty="0">
                <a:solidFill>
                  <a:srgbClr val="0000CC"/>
                </a:solidFill>
                <a:latin typeface="Arial" pitchFamily="34" charset="0"/>
                <a:ea typeface="맑은 고딕" panose="020B0503020000020004" pitchFamily="50" charset="-127"/>
                <a:cs typeface="Arial" pitchFamily="34" charset="0"/>
              </a:rPr>
              <a:t> vi </a:t>
            </a:r>
            <a:r>
              <a:rPr kumimoji="0" lang="en-US" altLang="ko-KR" sz="1400" dirty="0" err="1">
                <a:solidFill>
                  <a:srgbClr val="0000CC"/>
                </a:solidFill>
                <a:latin typeface="Arial" pitchFamily="34" charset="0"/>
                <a:ea typeface="맑은 고딕" panose="020B0503020000020004" pitchFamily="50" charset="-127"/>
                <a:cs typeface="Arial" pitchFamily="34" charset="0"/>
              </a:rPr>
              <a:t>số</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lượng</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như</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thế</a:t>
            </a:r>
            <a:r>
              <a:rPr kumimoji="0" lang="en-US" altLang="ko-KR" sz="1400" dirty="0">
                <a:solidFill>
                  <a:srgbClr val="0000CC"/>
                </a:solidFill>
                <a:latin typeface="Arial" pitchFamily="34" charset="0"/>
                <a:ea typeface="맑은 고딕" panose="020B0503020000020004" pitchFamily="50" charset="-127"/>
                <a:cs typeface="Arial" pitchFamily="34" charset="0"/>
              </a:rPr>
              <a:t> </a:t>
            </a:r>
            <a:r>
              <a:rPr kumimoji="0" lang="en-US" altLang="ko-KR" sz="1400" dirty="0" err="1">
                <a:solidFill>
                  <a:srgbClr val="0000CC"/>
                </a:solidFill>
                <a:latin typeface="Arial" pitchFamily="34" charset="0"/>
                <a:ea typeface="맑은 고딕" panose="020B0503020000020004" pitchFamily="50" charset="-127"/>
                <a:cs typeface="Arial" pitchFamily="34" charset="0"/>
              </a:rPr>
              <a:t>nào</a:t>
            </a:r>
            <a:r>
              <a:rPr kumimoji="0" lang="en-US" altLang="ko-KR" sz="1400" dirty="0">
                <a:solidFill>
                  <a:srgbClr val="0000CC"/>
                </a:solidFill>
                <a:latin typeface="Arial" pitchFamily="34" charset="0"/>
                <a:ea typeface="맑은 고딕" panose="020B0503020000020004" pitchFamily="50" charset="-127"/>
                <a:cs typeface="Arial" pitchFamily="34" charset="0"/>
              </a:rPr>
              <a:t>? </a:t>
            </a:r>
          </a:p>
          <a:p>
            <a:pPr fontAlgn="auto">
              <a:spcBef>
                <a:spcPts val="0"/>
              </a:spcBef>
              <a:spcAft>
                <a:spcPts val="0"/>
              </a:spcAft>
              <a:defRPr/>
            </a:pPr>
            <a:r>
              <a:rPr kumimoji="0" lang="en-US" altLang="ko-KR" sz="1400" dirty="0">
                <a:latin typeface="Arial" pitchFamily="34" charset="0"/>
                <a:ea typeface="맑은 고딕" panose="020B0503020000020004" pitchFamily="50" charset="-127"/>
                <a:cs typeface="Arial" pitchFamily="34" charset="0"/>
              </a:rPr>
              <a:t>   - </a:t>
            </a:r>
            <a:r>
              <a:rPr kumimoji="0" lang="en-US" altLang="ko-KR" sz="1400" dirty="0" err="1">
                <a:latin typeface="Arial" pitchFamily="34" charset="0"/>
                <a:ea typeface="맑은 고딕" panose="020B0503020000020004" pitchFamily="50" charset="-127"/>
                <a:cs typeface="Arial" pitchFamily="34" charset="0"/>
              </a:rPr>
              <a:t>Tổng</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số</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sản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lượng</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trong</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một</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tháng</a:t>
            </a:r>
            <a:r>
              <a:rPr kumimoji="0" lang="en-US" altLang="ko-KR" sz="1400" dirty="0">
                <a:latin typeface="Arial" pitchFamily="34" charset="0"/>
                <a:ea typeface="맑은 고딕" panose="020B0503020000020004" pitchFamily="50" charset="-127"/>
                <a:cs typeface="Arial" pitchFamily="34" charset="0"/>
              </a:rPr>
              <a:t>?</a:t>
            </a:r>
            <a:endParaRPr kumimoji="0" lang="ko-KR" altLang="en-US" sz="1400" dirty="0">
              <a:latin typeface="Arial" pitchFamily="34" charset="0"/>
              <a:ea typeface="맑은 고딕" panose="020B0503020000020004" pitchFamily="50" charset="-127"/>
              <a:cs typeface="Arial" pitchFamily="34" charset="0"/>
            </a:endParaRPr>
          </a:p>
          <a:p>
            <a:pPr fontAlgn="auto">
              <a:spcBef>
                <a:spcPts val="0"/>
              </a:spcBef>
              <a:spcAft>
                <a:spcPts val="0"/>
              </a:spcAft>
              <a:defRPr/>
            </a:pPr>
            <a:r>
              <a:rPr kumimoji="0" lang="ko-KR" altLang="en-US" sz="1400" dirty="0">
                <a:latin typeface="Arial" pitchFamily="34" charset="0"/>
                <a:ea typeface="맑은 고딕" panose="020B0503020000020004" pitchFamily="50" charset="-127"/>
                <a:cs typeface="Arial" pitchFamily="34" charset="0"/>
              </a:rPr>
              <a:t>   </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Có</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nên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giới</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hạn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sản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phẩm</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sản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xuất</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bởi</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một</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máy</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cụ</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thể</a:t>
            </a:r>
            <a:r>
              <a:rPr kumimoji="0" lang="en-US" altLang="ko-KR" sz="1400" dirty="0">
                <a:latin typeface="Arial" pitchFamily="34" charset="0"/>
                <a:ea typeface="맑은 고딕" panose="020B0503020000020004" pitchFamily="50" charset="-127"/>
                <a:cs typeface="Arial" pitchFamily="34" charset="0"/>
              </a:rPr>
              <a:t>?</a:t>
            </a:r>
            <a:endParaRPr kumimoji="0" lang="ko-KR" altLang="en-US" sz="1400" dirty="0">
              <a:latin typeface="Arial" pitchFamily="34" charset="0"/>
              <a:ea typeface="맑은 고딕" panose="020B0503020000020004" pitchFamily="50" charset="-127"/>
              <a:cs typeface="Arial" pitchFamily="34" charset="0"/>
            </a:endParaRPr>
          </a:p>
          <a:p>
            <a:pPr fontAlgn="auto">
              <a:spcBef>
                <a:spcPts val="0"/>
              </a:spcBef>
              <a:spcAft>
                <a:spcPts val="0"/>
              </a:spcAft>
              <a:defRPr/>
            </a:pPr>
            <a:r>
              <a:rPr kumimoji="0" lang="ko-KR" altLang="en-US" sz="1400" dirty="0">
                <a:latin typeface="Arial" pitchFamily="34" charset="0"/>
                <a:ea typeface="맑은 고딕" panose="020B0503020000020004" pitchFamily="50" charset="-127"/>
                <a:cs typeface="Arial" pitchFamily="34" charset="0"/>
              </a:rPr>
              <a:t>   </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Đảm</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bảo</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sản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lượng</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phản</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ảnh</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kết</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quả</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của</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một</a:t>
            </a:r>
            <a:r>
              <a:rPr kumimoji="0" lang="en-US" altLang="ko-KR" sz="1400" dirty="0">
                <a:latin typeface="Arial" pitchFamily="34" charset="0"/>
                <a:ea typeface="맑은 고딕" panose="020B0503020000020004" pitchFamily="50" charset="-127"/>
                <a:cs typeface="Arial" pitchFamily="34" charset="0"/>
              </a:rPr>
              <a:t> team </a:t>
            </a:r>
            <a:r>
              <a:rPr kumimoji="0" lang="en-US" altLang="ko-KR" sz="1400" dirty="0" err="1">
                <a:latin typeface="Arial" pitchFamily="34" charset="0"/>
                <a:ea typeface="맑은 고딕" panose="020B0503020000020004" pitchFamily="50" charset="-127"/>
                <a:cs typeface="Arial" pitchFamily="34" charset="0"/>
              </a:rPr>
              <a:t>trong</a:t>
            </a:r>
            <a:r>
              <a:rPr kumimoji="0" lang="en-US" altLang="ko-KR" sz="1400" dirty="0">
                <a:latin typeface="Arial" pitchFamily="34" charset="0"/>
                <a:ea typeface="맑은 고딕" panose="020B0503020000020004" pitchFamily="50" charset="-127"/>
                <a:cs typeface="Arial" pitchFamily="34" charset="0"/>
              </a:rPr>
              <a:t> </a:t>
            </a:r>
            <a:r>
              <a:rPr kumimoji="0" lang="en-US" altLang="ko-KR" sz="1400" dirty="0" err="1">
                <a:latin typeface="Arial" pitchFamily="34" charset="0"/>
                <a:ea typeface="맑은 고딕" panose="020B0503020000020004" pitchFamily="50" charset="-127"/>
                <a:cs typeface="Arial" pitchFamily="34" charset="0"/>
              </a:rPr>
              <a:t>tháng</a:t>
            </a:r>
            <a:r>
              <a:rPr kumimoji="0" lang="en-US" altLang="ko-KR" sz="1400" dirty="0">
                <a:latin typeface="Arial" pitchFamily="34" charset="0"/>
                <a:ea typeface="맑은 고딕" panose="020B0503020000020004" pitchFamily="50" charset="-127"/>
                <a:cs typeface="Arial" pitchFamily="34" charset="0"/>
              </a:rPr>
              <a:t>. </a:t>
            </a:r>
          </a:p>
        </p:txBody>
      </p:sp>
      <p:sp>
        <p:nvSpPr>
          <p:cNvPr id="144390" name="Text Box 7"/>
          <p:cNvSpPr txBox="1">
            <a:spLocks noChangeArrowheads="1"/>
          </p:cNvSpPr>
          <p:nvPr/>
        </p:nvSpPr>
        <p:spPr bwMode="auto">
          <a:xfrm>
            <a:off x="488950" y="4221163"/>
            <a:ext cx="4319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b="1" dirty="0" err="1">
                <a:solidFill>
                  <a:srgbClr val="0000CC"/>
                </a:solidFill>
                <a:latin typeface="Arial" pitchFamily="34" charset="0"/>
                <a:ea typeface="맑은 고딕" pitchFamily="50" charset="-127"/>
                <a:cs typeface="Arial" pitchFamily="34" charset="0"/>
              </a:rPr>
              <a:t>Việc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bổ</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chất</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lượng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cần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được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xác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định</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cho</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mỗi</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đặc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điểm</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chất</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lượng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của</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sự</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tầng</a:t>
            </a:r>
            <a:r>
              <a:rPr kumimoji="0" lang="en-US" altLang="ko-KR" sz="1400" b="1" dirty="0">
                <a:solidFill>
                  <a:srgbClr val="0000CC"/>
                </a:solidFill>
                <a:latin typeface="Arial" pitchFamily="34" charset="0"/>
                <a:ea typeface="맑은 고딕" pitchFamily="50" charset="-127"/>
                <a:cs typeface="Arial" pitchFamily="34" charset="0"/>
              </a:rPr>
              <a:t>. </a:t>
            </a:r>
            <a:endParaRPr kumimoji="0" lang="en-US" altLang="ko-KR" sz="1400" b="1" dirty="0">
              <a:latin typeface="Arial" pitchFamily="34" charset="0"/>
              <a:ea typeface="맑은 고딕" pitchFamily="50" charset="-127"/>
              <a:cs typeface="Arial" pitchFamily="34" charset="0"/>
            </a:endParaRPr>
          </a:p>
        </p:txBody>
      </p:sp>
      <p:sp>
        <p:nvSpPr>
          <p:cNvPr id="10" name="모서리가 둥근 직사각형 9"/>
          <p:cNvSpPr/>
          <p:nvPr/>
        </p:nvSpPr>
        <p:spPr>
          <a:xfrm>
            <a:off x="1352550" y="952500"/>
            <a:ext cx="2376488" cy="287338"/>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Các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bước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xây</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dựng</a:t>
            </a:r>
            <a:endParaRPr kumimoji="0" lang="ko-KR" altLang="en-US" sz="1400" b="1" kern="0" dirty="0">
              <a:solidFill>
                <a:prstClr val="white"/>
              </a:solidFill>
              <a:latin typeface="Arial" pitchFamily="34" charset="0"/>
              <a:ea typeface="맑은 고딕"/>
              <a:cs typeface="Arial" pitchFamily="34" charset="0"/>
            </a:endParaRPr>
          </a:p>
        </p:txBody>
      </p:sp>
      <p:sp>
        <p:nvSpPr>
          <p:cNvPr id="11" name="모서리가 둥근 직사각형 10"/>
          <p:cNvSpPr/>
          <p:nvPr/>
        </p:nvSpPr>
        <p:spPr>
          <a:xfrm>
            <a:off x="5616575" y="952500"/>
            <a:ext cx="2160588" cy="287338"/>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Lưu</a:t>
            </a:r>
            <a:r>
              <a:rPr kumimoji="0" lang="en-US" altLang="ko-KR" sz="1400" b="1" kern="0" dirty="0">
                <a:solidFill>
                  <a:prstClr val="white"/>
                </a:solidFill>
                <a:latin typeface="Arial" pitchFamily="34" charset="0"/>
                <a:ea typeface="맑은 고딕"/>
                <a:cs typeface="Arial" pitchFamily="34" charset="0"/>
              </a:rPr>
              <a:t> ý</a:t>
            </a:r>
            <a:endParaRPr kumimoji="0" lang="ko-KR" altLang="en-US" sz="1400" b="1" kern="0" dirty="0">
              <a:solidFill>
                <a:prstClr val="white"/>
              </a:solidFill>
              <a:latin typeface="Arial" pitchFamily="34" charset="0"/>
              <a:ea typeface="맑은 고딕"/>
              <a:cs typeface="Arial" pitchFamily="34" charset="0"/>
            </a:endParaRPr>
          </a:p>
        </p:txBody>
      </p:sp>
      <p:sp>
        <p:nvSpPr>
          <p:cNvPr id="12" name="직사각형 11"/>
          <p:cNvSpPr/>
          <p:nvPr/>
        </p:nvSpPr>
        <p:spPr>
          <a:xfrm>
            <a:off x="4895850" y="4189413"/>
            <a:ext cx="4278313" cy="523220"/>
          </a:xfrm>
          <a:prstGeom prst="rect">
            <a:avLst/>
          </a:prstGeom>
        </p:spPr>
        <p:txBody>
          <a:bodyPr>
            <a:spAutoFit/>
          </a:bodyPr>
          <a:lstStyle/>
          <a:p>
            <a:pPr marL="285750" indent="-285750">
              <a:defRPr/>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Thông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thường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biểu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đồ</a:t>
            </a:r>
            <a:r>
              <a:rPr kumimoji="0" lang="en-US" altLang="ko-KR" sz="1400" dirty="0">
                <a:latin typeface="Arial" pitchFamily="34" charset="0"/>
                <a:ea typeface="맑은 고딕" pitchFamily="50" charset="-127"/>
                <a:cs typeface="Arial" pitchFamily="34" charset="0"/>
              </a:rPr>
              <a:t> histogram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sử</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dụng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để</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xác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định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chất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lượng</a:t>
            </a:r>
            <a:r>
              <a:rPr kumimoji="0" lang="en-US" altLang="ko-KR" sz="1400" dirty="0">
                <a:latin typeface="Arial" pitchFamily="34" charset="0"/>
                <a:ea typeface="맑은 고딕" pitchFamily="50" charset="-127"/>
                <a:cs typeface="Arial" pitchFamily="34" charset="0"/>
              </a:rPr>
              <a:t>. </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119</a:t>
            </a:fld>
            <a:endParaRPr lang="ko-KR" altLang="en-US" dirty="0">
              <a:latin typeface="Arial" pitchFamily="34" charset="0"/>
              <a:cs typeface="Arial" pitchFamily="34" charset="0"/>
            </a:endParaRPr>
          </a:p>
        </p:txBody>
      </p:sp>
      <p:sp>
        <p:nvSpPr>
          <p:cNvPr id="13"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4"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12871337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4" name="Text Box 7"/>
          <p:cNvSpPr txBox="1">
            <a:spLocks noChangeArrowheads="1"/>
          </p:cNvSpPr>
          <p:nvPr/>
        </p:nvSpPr>
        <p:spPr bwMode="auto">
          <a:xfrm>
            <a:off x="1065213" y="1901825"/>
            <a:ext cx="290036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b="1" dirty="0" err="1">
                <a:solidFill>
                  <a:srgbClr val="0000CC"/>
                </a:solidFill>
                <a:latin typeface="Arial" pitchFamily="34" charset="0"/>
                <a:ea typeface="맑은 고딕" pitchFamily="50" charset="-127"/>
                <a:cs typeface="Arial" pitchFamily="34" charset="0"/>
              </a:rPr>
              <a:t>Điều</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tra</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nguyên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nhân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đằng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sau</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sự</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bổ</a:t>
            </a:r>
            <a:endParaRPr kumimoji="0" lang="en-US" altLang="ko-KR" sz="1400" b="1" dirty="0">
              <a:solidFill>
                <a:srgbClr val="0000CC"/>
              </a:solidFill>
              <a:latin typeface="Arial" pitchFamily="34" charset="0"/>
              <a:ea typeface="맑은 고딕" pitchFamily="50" charset="-127"/>
              <a:cs typeface="Arial" pitchFamily="34" charset="0"/>
            </a:endParaRPr>
          </a:p>
        </p:txBody>
      </p:sp>
      <p:sp>
        <p:nvSpPr>
          <p:cNvPr id="145415" name="Text Box 7"/>
          <p:cNvSpPr txBox="1">
            <a:spLocks noChangeArrowheads="1"/>
          </p:cNvSpPr>
          <p:nvPr/>
        </p:nvSpPr>
        <p:spPr bwMode="auto">
          <a:xfrm>
            <a:off x="1065213" y="2924175"/>
            <a:ext cx="30448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b="1" dirty="0" err="1">
                <a:solidFill>
                  <a:srgbClr val="0000CC"/>
                </a:solidFill>
                <a:latin typeface="Arial" pitchFamily="34" charset="0"/>
                <a:ea typeface="맑은 고딕" pitchFamily="50" charset="-127"/>
                <a:cs typeface="Arial" pitchFamily="34" charset="0"/>
              </a:rPr>
              <a:t>Tiến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hành</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tầng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dữ</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liệu</a:t>
            </a:r>
            <a:endParaRPr kumimoji="0" lang="en-US" altLang="ko-KR" sz="1400" b="1" dirty="0">
              <a:solidFill>
                <a:srgbClr val="0000CC"/>
              </a:solidFill>
              <a:latin typeface="Arial" pitchFamily="34" charset="0"/>
              <a:ea typeface="맑은 고딕" pitchFamily="50" charset="-127"/>
              <a:cs typeface="Arial" pitchFamily="34" charset="0"/>
            </a:endParaRPr>
          </a:p>
          <a:p>
            <a:pPr eaLnBrk="1" hangingPunct="1"/>
            <a:endParaRPr kumimoji="0" lang="en-US" altLang="ko-KR" sz="1400" b="1" dirty="0">
              <a:solidFill>
                <a:srgbClr val="0000CC"/>
              </a:solidFill>
              <a:latin typeface="Arial" pitchFamily="34" charset="0"/>
              <a:ea typeface="맑은 고딕" pitchFamily="50" charset="-127"/>
              <a:cs typeface="Arial" pitchFamily="34" charset="0"/>
            </a:endParaRPr>
          </a:p>
        </p:txBody>
      </p:sp>
      <p:sp>
        <p:nvSpPr>
          <p:cNvPr id="2" name="TextBox 1"/>
          <p:cNvSpPr txBox="1"/>
          <p:nvPr/>
        </p:nvSpPr>
        <p:spPr>
          <a:xfrm>
            <a:off x="4376739" y="1878013"/>
            <a:ext cx="5328790" cy="738664"/>
          </a:xfrm>
          <a:prstGeom prst="rect">
            <a:avLst/>
          </a:prstGeom>
          <a:noFill/>
        </p:spPr>
        <p:txBody>
          <a:bodyPr wrap="square">
            <a:spAutoFit/>
          </a:bodyPr>
          <a:lstStyle/>
          <a:p>
            <a:pPr algn="just">
              <a:defRPr/>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Xác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định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nguyên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và</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xác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định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nguyên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nào</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ảnh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hưởng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nhất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tới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tán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đến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việc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và</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lựa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chọn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chỉ</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số</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cho</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tầng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endParaRPr lang="ko-KR" altLang="en-US" sz="1400" dirty="0">
              <a:latin typeface="Arial" pitchFamily="34" charset="0"/>
              <a:cs typeface="Arial" pitchFamily="34" charset="0"/>
            </a:endParaRPr>
          </a:p>
        </p:txBody>
      </p:sp>
      <p:sp>
        <p:nvSpPr>
          <p:cNvPr id="15" name="TextBox 14"/>
          <p:cNvSpPr txBox="1"/>
          <p:nvPr/>
        </p:nvSpPr>
        <p:spPr>
          <a:xfrm>
            <a:off x="4376738" y="2968625"/>
            <a:ext cx="4896742" cy="523220"/>
          </a:xfrm>
          <a:prstGeom prst="rect">
            <a:avLst/>
          </a:prstGeom>
          <a:noFill/>
        </p:spPr>
        <p:txBody>
          <a:bodyPr wrap="square">
            <a:spAutoFit/>
          </a:bodyPr>
          <a:lstStyle>
            <a:defPPr>
              <a:defRPr lang="ko-KR"/>
            </a:defPPr>
            <a:lvl1pPr marL="285750" indent="-285750" eaLnBrk="1" hangingPunct="1">
              <a:buFontTx/>
              <a:buChar char="-"/>
              <a:defRPr kumimoji="0" sz="1600">
                <a:latin typeface="맑은 고딕" pitchFamily="50" charset="-127"/>
                <a:ea typeface="맑은 고딕" pitchFamily="50" charset="-127"/>
              </a:defRPr>
            </a:lvl1pPr>
          </a:lstStyle>
          <a:p>
            <a:pPr marL="0" indent="0">
              <a:buNone/>
              <a:defRPr/>
            </a:pP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Sự</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phân</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tầng</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dữ</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liệu</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nên</a:t>
            </a:r>
            <a:r>
              <a:rPr lang="en-US" altLang="ko-KR" sz="1400" dirty="0">
                <a:latin typeface="Arial" pitchFamily="34" charset="0"/>
                <a:cs typeface="Arial" pitchFamily="34" charset="0"/>
              </a:rPr>
              <a:t> chi </a:t>
            </a:r>
            <a:r>
              <a:rPr lang="en-US" altLang="ko-KR" sz="1400" dirty="0" err="1">
                <a:latin typeface="Arial" pitchFamily="34" charset="0"/>
                <a:cs typeface="Arial" pitchFamily="34" charset="0"/>
              </a:rPr>
              <a:t>tiết</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nhất</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có</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thể</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thời</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gian</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nhân</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công</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máy</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móc</a:t>
            </a:r>
            <a:r>
              <a:rPr lang="en-US" altLang="ko-KR" sz="1400" dirty="0">
                <a:latin typeface="Arial" pitchFamily="34" charset="0"/>
                <a:cs typeface="Arial" pitchFamily="34" charset="0"/>
              </a:rPr>
              <a:t>, v.v..)</a:t>
            </a:r>
            <a:endParaRPr lang="ko-KR" altLang="en-US" sz="1400" dirty="0">
              <a:latin typeface="Arial" pitchFamily="34" charset="0"/>
              <a:cs typeface="Arial" pitchFamily="34" charset="0"/>
            </a:endParaRPr>
          </a:p>
        </p:txBody>
      </p:sp>
      <p:sp>
        <p:nvSpPr>
          <p:cNvPr id="145418" name="Text Box 7"/>
          <p:cNvSpPr txBox="1">
            <a:spLocks noChangeArrowheads="1"/>
          </p:cNvSpPr>
          <p:nvPr/>
        </p:nvSpPr>
        <p:spPr bwMode="auto">
          <a:xfrm>
            <a:off x="1065213" y="3665538"/>
            <a:ext cx="33115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b="1" dirty="0" err="1">
                <a:solidFill>
                  <a:srgbClr val="0000CC"/>
                </a:solidFill>
                <a:latin typeface="Arial" pitchFamily="34" charset="0"/>
                <a:ea typeface="맑은 고딕" pitchFamily="50" charset="-127"/>
                <a:cs typeface="Arial" pitchFamily="34" charset="0"/>
              </a:rPr>
              <a:t>Kiểm</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tra</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sự</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bổ</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chất</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lượng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của</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các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nhóm</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đã</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được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tầng</a:t>
            </a:r>
            <a:endParaRPr kumimoji="0" lang="en-US" altLang="ko-KR" sz="1400" b="1" dirty="0">
              <a:solidFill>
                <a:srgbClr val="0000CC"/>
              </a:solidFill>
              <a:latin typeface="Arial" pitchFamily="34" charset="0"/>
              <a:ea typeface="맑은 고딕" pitchFamily="50" charset="-127"/>
              <a:cs typeface="Arial" pitchFamily="34" charset="0"/>
            </a:endParaRPr>
          </a:p>
        </p:txBody>
      </p:sp>
      <p:sp>
        <p:nvSpPr>
          <p:cNvPr id="20" name="TextBox 19"/>
          <p:cNvSpPr txBox="1"/>
          <p:nvPr/>
        </p:nvSpPr>
        <p:spPr>
          <a:xfrm>
            <a:off x="4376738" y="3636963"/>
            <a:ext cx="5256782" cy="523220"/>
          </a:xfrm>
          <a:prstGeom prst="rect">
            <a:avLst/>
          </a:prstGeom>
          <a:noFill/>
        </p:spPr>
        <p:txBody>
          <a:bodyPr wrap="square">
            <a:spAutoFit/>
          </a:bodyPr>
          <a:lstStyle>
            <a:defPPr>
              <a:defRPr lang="ko-KR"/>
            </a:defPPr>
            <a:lvl1pPr marL="285750" indent="-285750" eaLnBrk="1" hangingPunct="1">
              <a:buFontTx/>
              <a:buChar char="-"/>
              <a:defRPr kumimoji="0" sz="1600">
                <a:latin typeface="맑은 고딕" pitchFamily="50" charset="-127"/>
                <a:ea typeface="맑은 고딕" pitchFamily="50" charset="-127"/>
              </a:defRPr>
            </a:lvl1pPr>
          </a:lstStyle>
          <a:p>
            <a:pPr marL="0" indent="0">
              <a:defRPr/>
            </a:pP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Xây</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dựng</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các</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biểu</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đồ</a:t>
            </a:r>
            <a:r>
              <a:rPr lang="en-US" altLang="ko-KR" sz="1400" dirty="0">
                <a:latin typeface="Arial" pitchFamily="34" charset="0"/>
                <a:cs typeface="Arial" pitchFamily="34" charset="0"/>
              </a:rPr>
              <a:t> histogram </a:t>
            </a:r>
            <a:r>
              <a:rPr lang="en-US" altLang="ko-KR" sz="1400" dirty="0" err="1">
                <a:latin typeface="Arial" pitchFamily="34" charset="0"/>
                <a:cs typeface="Arial" pitchFamily="34" charset="0"/>
              </a:rPr>
              <a:t>sử</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dụng</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dữ</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liệu</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đã</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được</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phân</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tầng</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và</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kiểm</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tra</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sự</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phân</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bổ</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dữ</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liệu</a:t>
            </a:r>
            <a:r>
              <a:rPr lang="en-US" altLang="ko-KR" sz="1400" dirty="0">
                <a:latin typeface="Arial" pitchFamily="34" charset="0"/>
                <a:cs typeface="Arial" pitchFamily="34" charset="0"/>
              </a:rPr>
              <a:t>. </a:t>
            </a:r>
          </a:p>
        </p:txBody>
      </p:sp>
      <p:sp>
        <p:nvSpPr>
          <p:cNvPr id="145420" name="Text Box 7"/>
          <p:cNvSpPr txBox="1">
            <a:spLocks noChangeArrowheads="1"/>
          </p:cNvSpPr>
          <p:nvPr/>
        </p:nvSpPr>
        <p:spPr bwMode="auto">
          <a:xfrm>
            <a:off x="1065213" y="4572000"/>
            <a:ext cx="33829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b="1" dirty="0">
                <a:solidFill>
                  <a:srgbClr val="0000CC"/>
                </a:solidFill>
                <a:latin typeface="Arial" pitchFamily="34" charset="0"/>
                <a:ea typeface="맑은 고딕" pitchFamily="50" charset="-127"/>
                <a:cs typeface="Arial" pitchFamily="34" charset="0"/>
              </a:rPr>
              <a:t>So </a:t>
            </a:r>
            <a:r>
              <a:rPr kumimoji="0" lang="en-US" altLang="ko-KR" sz="1400" b="1" dirty="0" err="1">
                <a:solidFill>
                  <a:srgbClr val="0000CC"/>
                </a:solidFill>
                <a:latin typeface="Arial" pitchFamily="34" charset="0"/>
                <a:ea typeface="맑은 고딕" pitchFamily="50" charset="-127"/>
                <a:cs typeface="Arial" pitchFamily="34" charset="0"/>
              </a:rPr>
              <a:t>sánh</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sự</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bổ</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chất</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lượng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của</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các</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nhóm</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nhỏ</a:t>
            </a:r>
            <a:r>
              <a:rPr kumimoji="0" lang="en-US" altLang="ko-KR" sz="1400" b="1" dirty="0">
                <a:solidFill>
                  <a:srgbClr val="0000CC"/>
                </a:solidFill>
                <a:latin typeface="Arial" pitchFamily="34" charset="0"/>
                <a:ea typeface="맑은 고딕" pitchFamily="50" charset="-127"/>
                <a:cs typeface="Arial" pitchFamily="34" charset="0"/>
              </a:rPr>
              <a:t>, so </a:t>
            </a:r>
            <a:r>
              <a:rPr kumimoji="0" lang="en-US" altLang="ko-KR" sz="1400" b="1" dirty="0" err="1">
                <a:solidFill>
                  <a:srgbClr val="0000CC"/>
                </a:solidFill>
                <a:latin typeface="Arial" pitchFamily="34" charset="0"/>
                <a:ea typeface="맑은 고딕" pitchFamily="50" charset="-127"/>
                <a:cs typeface="Arial" pitchFamily="34" charset="0"/>
              </a:rPr>
              <a:t>sánh</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với</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sự</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phân</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bổ</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chất</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lượng</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của</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tập</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dữ</a:t>
            </a:r>
            <a:r>
              <a:rPr kumimoji="0" lang="en-US" altLang="ko-KR" sz="1400" b="1" dirty="0">
                <a:solidFill>
                  <a:srgbClr val="0000CC"/>
                </a:solidFill>
                <a:latin typeface="Arial" pitchFamily="34" charset="0"/>
                <a:ea typeface="맑은 고딕" pitchFamily="50" charset="-127"/>
                <a:cs typeface="Arial" pitchFamily="34" charset="0"/>
              </a:rPr>
              <a:t> </a:t>
            </a:r>
            <a:r>
              <a:rPr kumimoji="0" lang="en-US" altLang="ko-KR" sz="1400" b="1" dirty="0" err="1">
                <a:solidFill>
                  <a:srgbClr val="0000CC"/>
                </a:solidFill>
                <a:latin typeface="Arial" pitchFamily="34" charset="0"/>
                <a:ea typeface="맑은 고딕" pitchFamily="50" charset="-127"/>
                <a:cs typeface="Arial" pitchFamily="34" charset="0"/>
              </a:rPr>
              <a:t>liệu</a:t>
            </a:r>
            <a:r>
              <a:rPr kumimoji="0" lang="en-US" altLang="ko-KR" sz="1400" b="1" dirty="0">
                <a:solidFill>
                  <a:srgbClr val="0000CC"/>
                </a:solidFill>
                <a:latin typeface="Arial" pitchFamily="34" charset="0"/>
                <a:ea typeface="맑은 고딕" pitchFamily="50" charset="-127"/>
                <a:cs typeface="Arial" pitchFamily="34" charset="0"/>
              </a:rPr>
              <a:t> ban </a:t>
            </a:r>
            <a:r>
              <a:rPr kumimoji="0" lang="en-US" altLang="ko-KR" sz="1400" b="1" dirty="0" err="1">
                <a:solidFill>
                  <a:srgbClr val="0000CC"/>
                </a:solidFill>
                <a:latin typeface="Arial" pitchFamily="34" charset="0"/>
                <a:ea typeface="맑은 고딕" pitchFamily="50" charset="-127"/>
                <a:cs typeface="Arial" pitchFamily="34" charset="0"/>
              </a:rPr>
              <a:t>đầu</a:t>
            </a:r>
            <a:r>
              <a:rPr kumimoji="0" lang="en-US" altLang="ko-KR" sz="1400" b="1" dirty="0">
                <a:solidFill>
                  <a:srgbClr val="0000CC"/>
                </a:solidFill>
                <a:latin typeface="Arial" pitchFamily="34" charset="0"/>
                <a:ea typeface="맑은 고딕" pitchFamily="50" charset="-127"/>
                <a:cs typeface="Arial" pitchFamily="34" charset="0"/>
              </a:rPr>
              <a:t>. </a:t>
            </a:r>
          </a:p>
        </p:txBody>
      </p:sp>
      <p:sp>
        <p:nvSpPr>
          <p:cNvPr id="145421" name="TextBox 21"/>
          <p:cNvSpPr txBox="1">
            <a:spLocks noChangeArrowheads="1"/>
          </p:cNvSpPr>
          <p:nvPr/>
        </p:nvSpPr>
        <p:spPr bwMode="auto">
          <a:xfrm>
            <a:off x="4376738" y="4572000"/>
            <a:ext cx="532879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eaLnBrk="1" hangingPunct="1">
              <a:buFontTx/>
              <a:buChar char="-"/>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Có</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khác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biệt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nào</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giữa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giá</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trị</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trung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bình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của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nhóm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nhỏ</a:t>
            </a:r>
            <a:r>
              <a:rPr kumimoji="0" lang="en-US" altLang="ko-KR" sz="1400" dirty="0">
                <a:latin typeface="Arial" pitchFamily="34" charset="0"/>
                <a:ea typeface="맑은 고딕" pitchFamily="50" charset="-127"/>
                <a:cs typeface="Arial" pitchFamily="34" charset="0"/>
              </a:rPr>
              <a:t>?</a:t>
            </a:r>
          </a:p>
          <a:p>
            <a:pPr marL="0" indent="0" eaLnBrk="1" hangingPunct="1">
              <a:buFontTx/>
              <a:buChar char="-"/>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Có</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khác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biệt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nào</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giữa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đường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của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nhóm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nhỏ</a:t>
            </a:r>
            <a:r>
              <a:rPr kumimoji="0" lang="en-US" altLang="ko-KR" sz="1400" dirty="0">
                <a:latin typeface="Arial" pitchFamily="34" charset="0"/>
                <a:ea typeface="맑은 고딕" pitchFamily="50" charset="-127"/>
                <a:cs typeface="Arial" pitchFamily="34" charset="0"/>
              </a:rPr>
              <a:t>?</a:t>
            </a:r>
          </a:p>
          <a:p>
            <a:pPr marL="0" indent="0" eaLnBrk="1" hangingPunct="1">
              <a:buFontTx/>
              <a:buChar char="-"/>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Tại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sao</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có</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quá</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nhiều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tán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trong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đường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chất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lượng</a:t>
            </a:r>
            <a:r>
              <a:rPr kumimoji="0" lang="en-US" altLang="ko-KR" sz="1400" dirty="0">
                <a:latin typeface="Arial" pitchFamily="34" charset="0"/>
                <a:ea typeface="맑은 고딕" pitchFamily="50" charset="-127"/>
                <a:cs typeface="Arial" pitchFamily="34" charset="0"/>
              </a:rPr>
              <a:t>? </a:t>
            </a: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120</a:t>
            </a:fld>
            <a:endParaRPr lang="ko-KR" altLang="en-US" dirty="0">
              <a:latin typeface="Arial" pitchFamily="34" charset="0"/>
              <a:cs typeface="Arial" pitchFamily="34" charset="0"/>
            </a:endParaRPr>
          </a:p>
        </p:txBody>
      </p:sp>
      <p:sp>
        <p:nvSpPr>
          <p:cNvPr id="16"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ko-KR" altLang="en-US" sz="2000" b="1" dirty="0">
              <a:latin typeface="Arial" pitchFamily="34" charset="0"/>
              <a:ea typeface="맑은 고딕" pitchFamily="50" charset="-127"/>
              <a:cs typeface="Arial" pitchFamily="34" charset="0"/>
            </a:endParaRPr>
          </a:p>
        </p:txBody>
      </p:sp>
      <p:sp>
        <p:nvSpPr>
          <p:cNvPr id="17"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
        <p:nvSpPr>
          <p:cNvPr id="18" name="모서리가 둥근 직사각형 9"/>
          <p:cNvSpPr/>
          <p:nvPr/>
        </p:nvSpPr>
        <p:spPr>
          <a:xfrm>
            <a:off x="1352550" y="1269454"/>
            <a:ext cx="2376488" cy="287338"/>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Các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bước</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xây</a:t>
            </a:r>
            <a:r>
              <a:rPr kumimoji="0" lang="en-US" altLang="ko-KR" sz="1400" b="1" kern="0" dirty="0">
                <a:solidFill>
                  <a:prstClr val="white"/>
                </a:solidFill>
                <a:latin typeface="Arial" pitchFamily="34" charset="0"/>
                <a:ea typeface="맑은 고딕"/>
                <a:cs typeface="Arial" pitchFamily="34" charset="0"/>
              </a:rPr>
              <a:t> </a:t>
            </a:r>
            <a:r>
              <a:rPr kumimoji="0" lang="en-US" altLang="ko-KR" sz="1400" b="1" kern="0" dirty="0" err="1">
                <a:solidFill>
                  <a:prstClr val="white"/>
                </a:solidFill>
                <a:latin typeface="Arial" pitchFamily="34" charset="0"/>
                <a:ea typeface="맑은 고딕"/>
                <a:cs typeface="Arial" pitchFamily="34" charset="0"/>
              </a:rPr>
              <a:t>dựng</a:t>
            </a:r>
            <a:endParaRPr kumimoji="0" lang="ko-KR" altLang="en-US" sz="1400" b="1" kern="0" dirty="0">
              <a:solidFill>
                <a:prstClr val="white"/>
              </a:solidFill>
              <a:latin typeface="Arial" pitchFamily="34" charset="0"/>
              <a:ea typeface="맑은 고딕"/>
              <a:cs typeface="Arial" pitchFamily="34" charset="0"/>
            </a:endParaRPr>
          </a:p>
        </p:txBody>
      </p:sp>
      <p:sp>
        <p:nvSpPr>
          <p:cNvPr id="19" name="모서리가 둥근 직사각형 10"/>
          <p:cNvSpPr/>
          <p:nvPr/>
        </p:nvSpPr>
        <p:spPr>
          <a:xfrm>
            <a:off x="5616575" y="1269454"/>
            <a:ext cx="2160588" cy="287338"/>
          </a:xfrm>
          <a:prstGeom prst="roundRect">
            <a:avLst/>
          </a:prstGeom>
          <a:solidFill>
            <a:srgbClr val="EEECE1">
              <a:lumMod val="50000"/>
            </a:srgbClr>
          </a:solidFill>
          <a:ln w="25400" cap="flat" cmpd="sng" algn="ctr">
            <a:solidFill>
              <a:srgbClr val="4F81BD">
                <a:shade val="50000"/>
              </a:srgbClr>
            </a:solidFill>
            <a:prstDash val="solid"/>
          </a:ln>
          <a:effectLst/>
        </p:spPr>
        <p:txBody>
          <a:bodyPr anchor="ctr"/>
          <a:lstStyle/>
          <a:p>
            <a:pPr algn="ctr" fontAlgn="auto" latinLnBrk="0">
              <a:spcBef>
                <a:spcPts val="0"/>
              </a:spcBef>
              <a:spcAft>
                <a:spcPts val="0"/>
              </a:spcAft>
              <a:defRPr/>
            </a:pPr>
            <a:r>
              <a:rPr kumimoji="0" lang="en-US" altLang="ko-KR" sz="1400" b="1" kern="0" dirty="0" err="1">
                <a:solidFill>
                  <a:prstClr val="white"/>
                </a:solidFill>
                <a:latin typeface="Arial" pitchFamily="34" charset="0"/>
                <a:ea typeface="맑은 고딕"/>
                <a:cs typeface="Arial" pitchFamily="34" charset="0"/>
              </a:rPr>
              <a:t>Lưu</a:t>
            </a:r>
            <a:r>
              <a:rPr kumimoji="0" lang="en-US" altLang="ko-KR" sz="1400" b="1" kern="0" dirty="0">
                <a:solidFill>
                  <a:prstClr val="white"/>
                </a:solidFill>
                <a:latin typeface="Arial" pitchFamily="34" charset="0"/>
                <a:ea typeface="맑은 고딕"/>
                <a:cs typeface="Arial" pitchFamily="34" charset="0"/>
              </a:rPr>
              <a:t> ý</a:t>
            </a:r>
            <a:endParaRPr kumimoji="0" lang="ko-KR" altLang="en-US" sz="1400" b="1" kern="0" dirty="0">
              <a:solidFill>
                <a:prstClr val="white"/>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41506628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2"/>
          <p:cNvSpPr>
            <a:spLocks noChangeArrowheads="1"/>
          </p:cNvSpPr>
          <p:nvPr/>
        </p:nvSpPr>
        <p:spPr bwMode="auto">
          <a:xfrm>
            <a:off x="6156325" y="5087838"/>
            <a:ext cx="2160588" cy="790575"/>
          </a:xfrm>
          <a:prstGeom prst="ellipse">
            <a:avLst/>
          </a:prstGeom>
          <a:solidFill>
            <a:srgbClr val="FFFFCC"/>
          </a:solidFill>
          <a:ln w="9525">
            <a:solidFill>
              <a:schemeClr val="tx1"/>
            </a:solidFill>
            <a:round/>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6" name="Oval 3"/>
          <p:cNvSpPr>
            <a:spLocks noChangeArrowheads="1"/>
          </p:cNvSpPr>
          <p:nvPr/>
        </p:nvSpPr>
        <p:spPr bwMode="auto">
          <a:xfrm>
            <a:off x="3851275" y="1844576"/>
            <a:ext cx="4897438" cy="2016125"/>
          </a:xfrm>
          <a:prstGeom prst="ellipse">
            <a:avLst/>
          </a:prstGeom>
          <a:solidFill>
            <a:srgbClr val="FFFFCC"/>
          </a:solidFill>
          <a:ln w="9525">
            <a:solidFill>
              <a:schemeClr val="tx1"/>
            </a:solidFill>
            <a:round/>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7" name="Line 5"/>
          <p:cNvSpPr>
            <a:spLocks noChangeShapeType="1"/>
          </p:cNvSpPr>
          <p:nvPr/>
        </p:nvSpPr>
        <p:spPr bwMode="auto">
          <a:xfrm>
            <a:off x="827088" y="3568601"/>
            <a:ext cx="2590800" cy="0"/>
          </a:xfrm>
          <a:prstGeom prst="line">
            <a:avLst/>
          </a:prstGeom>
          <a:noFill/>
          <a:ln w="9525">
            <a:solidFill>
              <a:schemeClr val="tx1"/>
            </a:solidFill>
            <a:round/>
            <a:headEnd/>
            <a:tailEnd/>
          </a:ln>
          <a:effec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8" name="Rectangle 6"/>
          <p:cNvSpPr>
            <a:spLocks noChangeArrowheads="1"/>
          </p:cNvSpPr>
          <p:nvPr/>
        </p:nvSpPr>
        <p:spPr bwMode="auto">
          <a:xfrm>
            <a:off x="979488" y="3152676"/>
            <a:ext cx="228600" cy="415925"/>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9" name="Rectangle 7"/>
          <p:cNvSpPr>
            <a:spLocks noChangeArrowheads="1"/>
          </p:cNvSpPr>
          <p:nvPr/>
        </p:nvSpPr>
        <p:spPr bwMode="auto">
          <a:xfrm>
            <a:off x="1208088" y="2736751"/>
            <a:ext cx="228600" cy="831850"/>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0" name="Rectangle 8"/>
          <p:cNvSpPr>
            <a:spLocks noChangeArrowheads="1"/>
          </p:cNvSpPr>
          <p:nvPr/>
        </p:nvSpPr>
        <p:spPr bwMode="auto">
          <a:xfrm>
            <a:off x="1436688" y="1974751"/>
            <a:ext cx="228600" cy="1593850"/>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1" name="Rectangle 9"/>
          <p:cNvSpPr>
            <a:spLocks noChangeArrowheads="1"/>
          </p:cNvSpPr>
          <p:nvPr/>
        </p:nvSpPr>
        <p:spPr bwMode="auto">
          <a:xfrm>
            <a:off x="2579688" y="2182713"/>
            <a:ext cx="228600" cy="1385888"/>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2" name="Rectangle 10"/>
          <p:cNvSpPr>
            <a:spLocks noChangeArrowheads="1"/>
          </p:cNvSpPr>
          <p:nvPr/>
        </p:nvSpPr>
        <p:spPr bwMode="auto">
          <a:xfrm>
            <a:off x="2351088" y="2390676"/>
            <a:ext cx="228600" cy="1177925"/>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3" name="Rectangle 11"/>
          <p:cNvSpPr>
            <a:spLocks noChangeArrowheads="1"/>
          </p:cNvSpPr>
          <p:nvPr/>
        </p:nvSpPr>
        <p:spPr bwMode="auto">
          <a:xfrm>
            <a:off x="2122488" y="2736751"/>
            <a:ext cx="228600" cy="831850"/>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4" name="Rectangle 12"/>
          <p:cNvSpPr>
            <a:spLocks noChangeArrowheads="1"/>
          </p:cNvSpPr>
          <p:nvPr/>
        </p:nvSpPr>
        <p:spPr bwMode="auto">
          <a:xfrm>
            <a:off x="1893888" y="2598638"/>
            <a:ext cx="228600" cy="969963"/>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5" name="Rectangle 13"/>
          <p:cNvSpPr>
            <a:spLocks noChangeArrowheads="1"/>
          </p:cNvSpPr>
          <p:nvPr/>
        </p:nvSpPr>
        <p:spPr bwMode="auto">
          <a:xfrm>
            <a:off x="1665288" y="2320826"/>
            <a:ext cx="228600" cy="1247775"/>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6" name="Rectangle 14"/>
          <p:cNvSpPr>
            <a:spLocks noChangeArrowheads="1"/>
          </p:cNvSpPr>
          <p:nvPr/>
        </p:nvSpPr>
        <p:spPr bwMode="auto">
          <a:xfrm>
            <a:off x="3036888" y="3014563"/>
            <a:ext cx="228600" cy="554038"/>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7" name="Rectangle 15"/>
          <p:cNvSpPr>
            <a:spLocks noChangeArrowheads="1"/>
          </p:cNvSpPr>
          <p:nvPr/>
        </p:nvSpPr>
        <p:spPr bwMode="auto">
          <a:xfrm>
            <a:off x="2808288" y="2736751"/>
            <a:ext cx="228600" cy="831850"/>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18" name="Text Box 16"/>
          <p:cNvSpPr txBox="1">
            <a:spLocks noChangeArrowheads="1"/>
          </p:cNvSpPr>
          <p:nvPr/>
        </p:nvSpPr>
        <p:spPr bwMode="auto">
          <a:xfrm>
            <a:off x="427584" y="1341338"/>
            <a:ext cx="7261720" cy="369332"/>
          </a:xfrm>
          <a:prstGeom prst="rect">
            <a:avLst/>
          </a:prstGeom>
          <a:noFill/>
          <a:ln w="9525">
            <a:noFill/>
            <a:miter lim="800000"/>
            <a:headEnd/>
            <a:tailEnd/>
          </a:ln>
          <a:effectLst/>
        </p:spPr>
        <p:txBody>
          <a:bodyPr wrap="square">
            <a:spAutoFit/>
          </a:bodyPr>
          <a:lstStyle/>
          <a:p>
            <a:pPr algn="l">
              <a:spcBef>
                <a:spcPct val="50000"/>
              </a:spcBef>
            </a:pPr>
            <a:r>
              <a:rPr lang="en-US" altLang="ko-KR" sz="1800" b="0" dirty="0" err="1">
                <a:latin typeface="Arial" pitchFamily="34" charset="0"/>
                <a:ea typeface="맑은 고딕" panose="020B0503020000020004" pitchFamily="50" charset="-127"/>
                <a:cs typeface="Arial" pitchFamily="34" charset="0"/>
              </a:rPr>
              <a:t>Trong</a:t>
            </a:r>
            <a:r>
              <a:rPr lang="en-US" altLang="ko-KR" sz="1800" b="0" dirty="0">
                <a:latin typeface="Arial" pitchFamily="34" charset="0"/>
                <a:ea typeface="맑은 고딕" panose="020B0503020000020004" pitchFamily="50" charset="-127"/>
                <a:cs typeface="Arial" pitchFamily="34" charset="0"/>
              </a:rPr>
              <a:t> </a:t>
            </a:r>
            <a:r>
              <a:rPr lang="en-US" altLang="ko-KR" sz="1800" b="0" dirty="0" err="1">
                <a:latin typeface="Arial" pitchFamily="34" charset="0"/>
                <a:ea typeface="맑은 고딕" panose="020B0503020000020004" pitchFamily="50" charset="-127"/>
                <a:cs typeface="Arial" pitchFamily="34" charset="0"/>
              </a:rPr>
              <a:t>trường</a:t>
            </a:r>
            <a:r>
              <a:rPr lang="en-US" altLang="ko-KR" sz="1800" b="0" dirty="0">
                <a:latin typeface="Arial" pitchFamily="34" charset="0"/>
                <a:ea typeface="맑은 고딕" panose="020B0503020000020004" pitchFamily="50" charset="-127"/>
                <a:cs typeface="Arial" pitchFamily="34" charset="0"/>
              </a:rPr>
              <a:t> </a:t>
            </a:r>
            <a:r>
              <a:rPr lang="en-US" altLang="ko-KR" sz="1800" b="0" dirty="0" err="1">
                <a:latin typeface="Arial" pitchFamily="34" charset="0"/>
                <a:ea typeface="맑은 고딕" panose="020B0503020000020004" pitchFamily="50" charset="-127"/>
                <a:cs typeface="Arial" pitchFamily="34" charset="0"/>
              </a:rPr>
              <a:t>hợp</a:t>
            </a:r>
            <a:r>
              <a:rPr lang="en-US" altLang="ko-KR" sz="1800" b="0" dirty="0">
                <a:latin typeface="Arial" pitchFamily="34" charset="0"/>
                <a:ea typeface="맑은 고딕" panose="020B0503020000020004" pitchFamily="50" charset="-127"/>
                <a:cs typeface="Arial" pitchFamily="34" charset="0"/>
              </a:rPr>
              <a:t> </a:t>
            </a:r>
            <a:r>
              <a:rPr lang="en-US" altLang="ko-KR" sz="1800" b="0" dirty="0" err="1">
                <a:latin typeface="Arial" pitchFamily="34" charset="0"/>
                <a:ea typeface="맑은 고딕" panose="020B0503020000020004" pitchFamily="50" charset="-127"/>
                <a:cs typeface="Arial" pitchFamily="34" charset="0"/>
              </a:rPr>
              <a:t>xuất</a:t>
            </a:r>
            <a:r>
              <a:rPr lang="en-US" altLang="ko-KR" sz="1800" b="0" dirty="0">
                <a:latin typeface="Arial" pitchFamily="34" charset="0"/>
                <a:ea typeface="맑은 고딕" panose="020B0503020000020004" pitchFamily="50" charset="-127"/>
                <a:cs typeface="Arial" pitchFamily="34" charset="0"/>
              </a:rPr>
              <a:t> </a:t>
            </a:r>
            <a:r>
              <a:rPr lang="en-US" altLang="ko-KR" sz="1800" b="0" dirty="0" err="1">
                <a:latin typeface="Arial" pitchFamily="34" charset="0"/>
                <a:ea typeface="맑은 고딕" panose="020B0503020000020004" pitchFamily="50" charset="-127"/>
                <a:cs typeface="Arial" pitchFamily="34" charset="0"/>
              </a:rPr>
              <a:t>hiện</a:t>
            </a:r>
            <a:r>
              <a:rPr lang="en-US" altLang="ko-KR" sz="1800" b="0" dirty="0">
                <a:latin typeface="Arial" pitchFamily="34" charset="0"/>
                <a:ea typeface="맑은 고딕" panose="020B0503020000020004" pitchFamily="50" charset="-127"/>
                <a:cs typeface="Arial" pitchFamily="34" charset="0"/>
              </a:rPr>
              <a:t> </a:t>
            </a:r>
            <a:r>
              <a:rPr lang="en-US" altLang="ko-KR" sz="1800" b="0" dirty="0" err="1">
                <a:latin typeface="Arial" pitchFamily="34" charset="0"/>
                <a:ea typeface="맑은 고딕" panose="020B0503020000020004" pitchFamily="50" charset="-127"/>
                <a:cs typeface="Arial" pitchFamily="34" charset="0"/>
              </a:rPr>
              <a:t>biểu</a:t>
            </a:r>
            <a:r>
              <a:rPr lang="en-US" altLang="ko-KR" sz="1800" b="0" dirty="0">
                <a:latin typeface="Arial" pitchFamily="34" charset="0"/>
                <a:ea typeface="맑은 고딕" panose="020B0503020000020004" pitchFamily="50" charset="-127"/>
                <a:cs typeface="Arial" pitchFamily="34" charset="0"/>
              </a:rPr>
              <a:t> </a:t>
            </a:r>
            <a:r>
              <a:rPr lang="en-US" altLang="ko-KR" sz="1800" b="0" dirty="0" err="1">
                <a:latin typeface="Arial" pitchFamily="34" charset="0"/>
                <a:ea typeface="맑은 고딕" panose="020B0503020000020004" pitchFamily="50" charset="-127"/>
                <a:cs typeface="Arial" pitchFamily="34" charset="0"/>
              </a:rPr>
              <a:t>đồ</a:t>
            </a:r>
            <a:r>
              <a:rPr lang="en-US" altLang="ko-KR" sz="1800" b="0" dirty="0">
                <a:latin typeface="Arial" pitchFamily="34" charset="0"/>
                <a:ea typeface="맑은 고딕" panose="020B0503020000020004" pitchFamily="50" charset="-127"/>
                <a:cs typeface="Arial" pitchFamily="34" charset="0"/>
              </a:rPr>
              <a:t> histogram </a:t>
            </a:r>
            <a:r>
              <a:rPr lang="en-US" altLang="ko-KR" sz="1800" b="0" dirty="0" err="1">
                <a:latin typeface="Arial" pitchFamily="34" charset="0"/>
                <a:ea typeface="맑은 고딕" panose="020B0503020000020004" pitchFamily="50" charset="-127"/>
                <a:cs typeface="Arial" pitchFamily="34" charset="0"/>
              </a:rPr>
              <a:t>dạng</a:t>
            </a:r>
            <a:r>
              <a:rPr lang="en-US" altLang="ko-KR" sz="1800" b="0" dirty="0">
                <a:latin typeface="Arial" pitchFamily="34" charset="0"/>
                <a:ea typeface="맑은 고딕" panose="020B0503020000020004" pitchFamily="50" charset="-127"/>
                <a:cs typeface="Arial" pitchFamily="34" charset="0"/>
              </a:rPr>
              <a:t> </a:t>
            </a:r>
            <a:r>
              <a:rPr lang="en-US" altLang="ko-KR" sz="1800" b="0" dirty="0" err="1">
                <a:latin typeface="Arial" pitchFamily="34" charset="0"/>
                <a:ea typeface="맑은 고딕" panose="020B0503020000020004" pitchFamily="50" charset="-127"/>
                <a:cs typeface="Arial" pitchFamily="34" charset="0"/>
              </a:rPr>
              <a:t>hai</a:t>
            </a:r>
            <a:r>
              <a:rPr lang="en-US" altLang="ko-KR" sz="1800" b="0" dirty="0">
                <a:latin typeface="Arial" pitchFamily="34" charset="0"/>
                <a:ea typeface="맑은 고딕" panose="020B0503020000020004" pitchFamily="50" charset="-127"/>
                <a:cs typeface="Arial" pitchFamily="34" charset="0"/>
              </a:rPr>
              <a:t> </a:t>
            </a:r>
            <a:r>
              <a:rPr lang="en-US" altLang="ko-KR" dirty="0" err="1">
                <a:latin typeface="Arial" pitchFamily="34" charset="0"/>
                <a:ea typeface="맑은 고딕" panose="020B0503020000020004" pitchFamily="50" charset="-127"/>
                <a:cs typeface="Arial" pitchFamily="34" charset="0"/>
              </a:rPr>
              <a:t>đỉnh</a:t>
            </a:r>
            <a:r>
              <a:rPr lang="en-US" altLang="ko-KR" sz="1800" b="0" dirty="0">
                <a:latin typeface="Arial" pitchFamily="34" charset="0"/>
                <a:ea typeface="맑은 고딕" panose="020B0503020000020004" pitchFamily="50" charset="-127"/>
                <a:cs typeface="Arial" pitchFamily="34" charset="0"/>
              </a:rPr>
              <a:t>…</a:t>
            </a:r>
            <a:endParaRPr lang="ko-KR" altLang="en-US" sz="1800" b="0" dirty="0">
              <a:latin typeface="Arial" pitchFamily="34" charset="0"/>
              <a:ea typeface="맑은 고딕" panose="020B0503020000020004" pitchFamily="50" charset="-127"/>
              <a:cs typeface="Arial" pitchFamily="34" charset="0"/>
            </a:endParaRPr>
          </a:p>
        </p:txBody>
      </p:sp>
      <p:sp>
        <p:nvSpPr>
          <p:cNvPr id="19" name="Freeform 17"/>
          <p:cNvSpPr>
            <a:spLocks/>
          </p:cNvSpPr>
          <p:nvPr/>
        </p:nvSpPr>
        <p:spPr bwMode="auto">
          <a:xfrm>
            <a:off x="903288" y="1998563"/>
            <a:ext cx="2514600" cy="1292225"/>
          </a:xfrm>
          <a:custGeom>
            <a:avLst/>
            <a:gdLst/>
            <a:ahLst/>
            <a:cxnLst>
              <a:cxn ang="0">
                <a:pos x="0" y="848"/>
              </a:cxn>
              <a:cxn ang="0">
                <a:pos x="384" y="80"/>
              </a:cxn>
              <a:cxn ang="0">
                <a:pos x="720" y="368"/>
              </a:cxn>
              <a:cxn ang="0">
                <a:pos x="1104" y="224"/>
              </a:cxn>
              <a:cxn ang="0">
                <a:pos x="1392" y="560"/>
              </a:cxn>
              <a:cxn ang="0">
                <a:pos x="1584" y="896"/>
              </a:cxn>
            </a:cxnLst>
            <a:rect l="0" t="0" r="r" b="b"/>
            <a:pathLst>
              <a:path w="1584" h="896">
                <a:moveTo>
                  <a:pt x="0" y="848"/>
                </a:moveTo>
                <a:cubicBezTo>
                  <a:pt x="132" y="504"/>
                  <a:pt x="264" y="160"/>
                  <a:pt x="384" y="80"/>
                </a:cubicBezTo>
                <a:cubicBezTo>
                  <a:pt x="504" y="0"/>
                  <a:pt x="600" y="344"/>
                  <a:pt x="720" y="368"/>
                </a:cubicBezTo>
                <a:cubicBezTo>
                  <a:pt x="840" y="392"/>
                  <a:pt x="992" y="192"/>
                  <a:pt x="1104" y="224"/>
                </a:cubicBezTo>
                <a:cubicBezTo>
                  <a:pt x="1216" y="256"/>
                  <a:pt x="1312" y="448"/>
                  <a:pt x="1392" y="560"/>
                </a:cubicBezTo>
                <a:cubicBezTo>
                  <a:pt x="1472" y="672"/>
                  <a:pt x="1528" y="784"/>
                  <a:pt x="1584" y="896"/>
                </a:cubicBezTo>
              </a:path>
            </a:pathLst>
          </a:custGeom>
          <a:noFill/>
          <a:ln w="25400">
            <a:solidFill>
              <a:schemeClr val="tx1"/>
            </a:solidFill>
            <a:round/>
            <a:headEnd/>
            <a:tailEnd/>
          </a:ln>
          <a:effec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 name="Text Box 18"/>
          <p:cNvSpPr txBox="1">
            <a:spLocks noChangeArrowheads="1"/>
          </p:cNvSpPr>
          <p:nvPr/>
        </p:nvSpPr>
        <p:spPr bwMode="auto">
          <a:xfrm>
            <a:off x="4474939" y="2278554"/>
            <a:ext cx="4105275" cy="1169551"/>
          </a:xfrm>
          <a:prstGeom prst="rect">
            <a:avLst/>
          </a:prstGeom>
          <a:noFill/>
          <a:ln w="9525">
            <a:noFill/>
            <a:miter lim="800000"/>
            <a:headEnd/>
            <a:tailEnd/>
          </a:ln>
          <a:effectLst/>
        </p:spPr>
        <p:txBody>
          <a:bodyPr>
            <a:spAutoFit/>
          </a:bodyPr>
          <a:lstStyle/>
          <a:p>
            <a:pPr algn="l">
              <a:spcBef>
                <a:spcPct val="50000"/>
              </a:spcBef>
            </a:pPr>
            <a:r>
              <a:rPr lang="en-US" altLang="ko-KR" sz="1400" b="1" dirty="0">
                <a:latin typeface="Arial" pitchFamily="34" charset="0"/>
                <a:ea typeface="맑은 고딕" panose="020B0503020000020004" pitchFamily="50" charset="-127"/>
                <a:cs typeface="Arial" pitchFamily="34" charset="0"/>
              </a:rPr>
              <a:t>- Hai </a:t>
            </a:r>
            <a:r>
              <a:rPr lang="en-US" altLang="ko-KR" sz="1400" b="1" dirty="0" err="1">
                <a:latin typeface="Arial" pitchFamily="34" charset="0"/>
                <a:ea typeface="맑은 고딕" panose="020B0503020000020004" pitchFamily="50" charset="-127"/>
                <a:cs typeface="Arial" pitchFamily="34" charset="0"/>
              </a:rPr>
              <a:t>dữ</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liệu</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khác</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nhau</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bị</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trộn</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lẫn</a:t>
            </a:r>
            <a:r>
              <a:rPr lang="en-US" altLang="ko-KR" sz="1400" b="1" dirty="0">
                <a:latin typeface="Arial" pitchFamily="34" charset="0"/>
                <a:ea typeface="맑은 고딕" panose="020B0503020000020004" pitchFamily="50" charset="-127"/>
                <a:cs typeface="Arial" pitchFamily="34" charset="0"/>
              </a:rPr>
              <a:t>.</a:t>
            </a:r>
          </a:p>
          <a:p>
            <a:pPr algn="l">
              <a:spcBef>
                <a:spcPct val="50000"/>
              </a:spcBef>
            </a:pP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Dữ</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liệu</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không</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đồng</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nhất</a:t>
            </a:r>
            <a:endParaRPr lang="en-US" altLang="ko-KR" sz="1400" b="1" dirty="0">
              <a:latin typeface="Arial" pitchFamily="34" charset="0"/>
              <a:ea typeface="맑은 고딕" panose="020B0503020000020004" pitchFamily="50" charset="-127"/>
              <a:cs typeface="Arial" pitchFamily="34" charset="0"/>
            </a:endParaRPr>
          </a:p>
          <a:p>
            <a:pPr algn="l">
              <a:spcBef>
                <a:spcPct val="50000"/>
              </a:spcBef>
            </a:pP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Kết</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quả</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của</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các</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loại</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nguyên</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liệu</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nhân</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công</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máy</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móc</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phương</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pháp</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làm</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việc</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khác</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nhau</a:t>
            </a:r>
            <a:endParaRPr lang="ko-KR" altLang="en-US" sz="1400" b="1" dirty="0">
              <a:latin typeface="Arial" pitchFamily="34" charset="0"/>
              <a:ea typeface="맑은 고딕" panose="020B0503020000020004" pitchFamily="50" charset="-127"/>
              <a:cs typeface="Arial" pitchFamily="34" charset="0"/>
            </a:endParaRPr>
          </a:p>
        </p:txBody>
      </p:sp>
      <p:sp>
        <p:nvSpPr>
          <p:cNvPr id="21" name="Rectangle 19"/>
          <p:cNvSpPr>
            <a:spLocks noChangeArrowheads="1"/>
          </p:cNvSpPr>
          <p:nvPr/>
        </p:nvSpPr>
        <p:spPr bwMode="auto">
          <a:xfrm>
            <a:off x="1187450" y="5605363"/>
            <a:ext cx="228600" cy="415925"/>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2" name="Rectangle 20"/>
          <p:cNvSpPr>
            <a:spLocks noChangeArrowheads="1"/>
          </p:cNvSpPr>
          <p:nvPr/>
        </p:nvSpPr>
        <p:spPr bwMode="auto">
          <a:xfrm>
            <a:off x="1416050" y="5189438"/>
            <a:ext cx="228600" cy="831850"/>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3" name="Rectangle 21"/>
          <p:cNvSpPr>
            <a:spLocks noChangeArrowheads="1"/>
          </p:cNvSpPr>
          <p:nvPr/>
        </p:nvSpPr>
        <p:spPr bwMode="auto">
          <a:xfrm>
            <a:off x="1644650" y="4427438"/>
            <a:ext cx="228600" cy="1593850"/>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4" name="Rectangle 22"/>
          <p:cNvSpPr>
            <a:spLocks noChangeArrowheads="1"/>
          </p:cNvSpPr>
          <p:nvPr/>
        </p:nvSpPr>
        <p:spPr bwMode="auto">
          <a:xfrm>
            <a:off x="2101850" y="5051326"/>
            <a:ext cx="228600" cy="969962"/>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5" name="Rectangle 23"/>
          <p:cNvSpPr>
            <a:spLocks noChangeArrowheads="1"/>
          </p:cNvSpPr>
          <p:nvPr/>
        </p:nvSpPr>
        <p:spPr bwMode="auto">
          <a:xfrm>
            <a:off x="1873250" y="4773513"/>
            <a:ext cx="228600" cy="1247775"/>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6" name="Rectangle 24"/>
          <p:cNvSpPr>
            <a:spLocks noChangeArrowheads="1"/>
          </p:cNvSpPr>
          <p:nvPr/>
        </p:nvSpPr>
        <p:spPr bwMode="auto">
          <a:xfrm>
            <a:off x="2327275" y="5467251"/>
            <a:ext cx="228600" cy="554037"/>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7" name="Rectangle 25"/>
          <p:cNvSpPr>
            <a:spLocks noChangeArrowheads="1"/>
          </p:cNvSpPr>
          <p:nvPr/>
        </p:nvSpPr>
        <p:spPr bwMode="auto">
          <a:xfrm>
            <a:off x="2555875" y="5748238"/>
            <a:ext cx="215900" cy="265113"/>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8" name="Rectangle 26"/>
          <p:cNvSpPr>
            <a:spLocks noChangeArrowheads="1"/>
          </p:cNvSpPr>
          <p:nvPr/>
        </p:nvSpPr>
        <p:spPr bwMode="auto">
          <a:xfrm>
            <a:off x="971550" y="5748238"/>
            <a:ext cx="215900" cy="265113"/>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9" name="Rectangle 27"/>
          <p:cNvSpPr>
            <a:spLocks noChangeArrowheads="1"/>
          </p:cNvSpPr>
          <p:nvPr/>
        </p:nvSpPr>
        <p:spPr bwMode="auto">
          <a:xfrm>
            <a:off x="4527550" y="4635401"/>
            <a:ext cx="228600" cy="1385887"/>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0" name="Rectangle 28"/>
          <p:cNvSpPr>
            <a:spLocks noChangeArrowheads="1"/>
          </p:cNvSpPr>
          <p:nvPr/>
        </p:nvSpPr>
        <p:spPr bwMode="auto">
          <a:xfrm>
            <a:off x="4298950" y="4843363"/>
            <a:ext cx="228600" cy="1177925"/>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1" name="Rectangle 29"/>
          <p:cNvSpPr>
            <a:spLocks noChangeArrowheads="1"/>
          </p:cNvSpPr>
          <p:nvPr/>
        </p:nvSpPr>
        <p:spPr bwMode="auto">
          <a:xfrm>
            <a:off x="4984750" y="5467251"/>
            <a:ext cx="228600" cy="554037"/>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2" name="Rectangle 30"/>
          <p:cNvSpPr>
            <a:spLocks noChangeArrowheads="1"/>
          </p:cNvSpPr>
          <p:nvPr/>
        </p:nvSpPr>
        <p:spPr bwMode="auto">
          <a:xfrm>
            <a:off x="4756150" y="5189438"/>
            <a:ext cx="228600" cy="831850"/>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3" name="Rectangle 31"/>
          <p:cNvSpPr>
            <a:spLocks noChangeArrowheads="1"/>
          </p:cNvSpPr>
          <p:nvPr/>
        </p:nvSpPr>
        <p:spPr bwMode="auto">
          <a:xfrm>
            <a:off x="4070350" y="5459313"/>
            <a:ext cx="228600" cy="554038"/>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4" name="Rectangle 32"/>
          <p:cNvSpPr>
            <a:spLocks noChangeArrowheads="1"/>
          </p:cNvSpPr>
          <p:nvPr/>
        </p:nvSpPr>
        <p:spPr bwMode="auto">
          <a:xfrm>
            <a:off x="3851275" y="5733951"/>
            <a:ext cx="217488" cy="287337"/>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5" name="Rectangle 33"/>
          <p:cNvSpPr>
            <a:spLocks noChangeArrowheads="1"/>
          </p:cNvSpPr>
          <p:nvPr/>
        </p:nvSpPr>
        <p:spPr bwMode="auto">
          <a:xfrm>
            <a:off x="5219700" y="5805388"/>
            <a:ext cx="230188" cy="214313"/>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6" name="Rectangle 34"/>
          <p:cNvSpPr>
            <a:spLocks noChangeArrowheads="1"/>
          </p:cNvSpPr>
          <p:nvPr/>
        </p:nvSpPr>
        <p:spPr bwMode="auto">
          <a:xfrm>
            <a:off x="3635375" y="5878413"/>
            <a:ext cx="217488" cy="142875"/>
          </a:xfrm>
          <a:prstGeom prst="rect">
            <a:avLst/>
          </a:prstGeom>
          <a:solidFill>
            <a:schemeClr val="accent1"/>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7" name="Text Box 35"/>
          <p:cNvSpPr txBox="1">
            <a:spLocks noChangeArrowheads="1"/>
          </p:cNvSpPr>
          <p:nvPr/>
        </p:nvSpPr>
        <p:spPr bwMode="auto">
          <a:xfrm>
            <a:off x="3059113" y="4948138"/>
            <a:ext cx="503237" cy="641350"/>
          </a:xfrm>
          <a:prstGeom prst="rect">
            <a:avLst/>
          </a:prstGeom>
          <a:noFill/>
          <a:ln w="9525">
            <a:noFill/>
            <a:miter lim="800000"/>
            <a:headEnd/>
            <a:tailEnd/>
          </a:ln>
          <a:effectLst/>
        </p:spPr>
        <p:txBody>
          <a:bodyPr>
            <a:spAutoFit/>
          </a:bodyPr>
          <a:lstStyle/>
          <a:p>
            <a:pPr algn="l">
              <a:spcBef>
                <a:spcPct val="50000"/>
              </a:spcBef>
            </a:pPr>
            <a:r>
              <a:rPr lang="en-US" altLang="ko-KR" sz="3600" b="0">
                <a:latin typeface="Arial" pitchFamily="34" charset="0"/>
                <a:ea typeface="맑은 고딕" panose="020B0503020000020004" pitchFamily="50" charset="-127"/>
                <a:cs typeface="Arial" pitchFamily="34" charset="0"/>
              </a:rPr>
              <a:t>+</a:t>
            </a:r>
          </a:p>
        </p:txBody>
      </p:sp>
      <p:sp>
        <p:nvSpPr>
          <p:cNvPr id="38" name="AutoShape 36"/>
          <p:cNvSpPr>
            <a:spLocks noChangeArrowheads="1"/>
          </p:cNvSpPr>
          <p:nvPr/>
        </p:nvSpPr>
        <p:spPr bwMode="auto">
          <a:xfrm rot="4860476">
            <a:off x="2590800" y="3681313"/>
            <a:ext cx="504825" cy="7207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FFFFFF"/>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39" name="Text Box 37"/>
          <p:cNvSpPr txBox="1">
            <a:spLocks noChangeArrowheads="1"/>
          </p:cNvSpPr>
          <p:nvPr/>
        </p:nvSpPr>
        <p:spPr bwMode="auto">
          <a:xfrm>
            <a:off x="6380163" y="5313485"/>
            <a:ext cx="1873250" cy="523220"/>
          </a:xfrm>
          <a:prstGeom prst="rect">
            <a:avLst/>
          </a:prstGeom>
          <a:noFill/>
          <a:ln w="9525">
            <a:noFill/>
            <a:miter lim="800000"/>
            <a:headEnd/>
            <a:tailEnd/>
          </a:ln>
          <a:effectLst/>
        </p:spPr>
        <p:txBody>
          <a:bodyPr>
            <a:spAutoFit/>
          </a:bodyPr>
          <a:lstStyle/>
          <a:p>
            <a:pPr algn="ctr">
              <a:spcBef>
                <a:spcPct val="50000"/>
              </a:spcBef>
            </a:pPr>
            <a:r>
              <a:rPr lang="en-US" altLang="ko-KR" sz="1400" dirty="0" err="1">
                <a:latin typeface="Arial" pitchFamily="34" charset="0"/>
                <a:ea typeface="맑은 고딕" panose="020B0503020000020004" pitchFamily="50" charset="-127"/>
                <a:cs typeface="Arial" pitchFamily="34" charset="0"/>
              </a:rPr>
              <a:t>Dữ</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liệu</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được</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phân</a:t>
            </a:r>
            <a:r>
              <a:rPr lang="en-US" altLang="ko-KR" sz="1400" dirty="0">
                <a:latin typeface="Arial" pitchFamily="34" charset="0"/>
                <a:ea typeface="맑은 고딕" panose="020B0503020000020004" pitchFamily="50" charset="-127"/>
                <a:cs typeface="Arial" pitchFamily="34" charset="0"/>
              </a:rPr>
              <a:t> </a:t>
            </a:r>
            <a:r>
              <a:rPr lang="en-US" altLang="ko-KR" sz="1400" dirty="0" err="1">
                <a:latin typeface="Arial" pitchFamily="34" charset="0"/>
                <a:ea typeface="맑은 고딕" panose="020B0503020000020004" pitchFamily="50" charset="-127"/>
                <a:cs typeface="Arial" pitchFamily="34" charset="0"/>
              </a:rPr>
              <a:t>tầng</a:t>
            </a:r>
            <a:endParaRPr lang="en-US" altLang="ko-KR" sz="1400" dirty="0">
              <a:latin typeface="Arial" pitchFamily="34" charset="0"/>
              <a:ea typeface="맑은 고딕" panose="020B0503020000020004" pitchFamily="50" charset="-127"/>
              <a:cs typeface="Arial" pitchFamily="34" charset="0"/>
            </a:endParaRPr>
          </a:p>
        </p:txBody>
      </p:sp>
      <p:sp>
        <p:nvSpPr>
          <p:cNvPr id="40" name="AutoShape 38"/>
          <p:cNvSpPr>
            <a:spLocks noChangeArrowheads="1"/>
          </p:cNvSpPr>
          <p:nvPr/>
        </p:nvSpPr>
        <p:spPr bwMode="auto">
          <a:xfrm>
            <a:off x="5653088" y="5302151"/>
            <a:ext cx="287337" cy="358775"/>
          </a:xfrm>
          <a:prstGeom prst="leftArrow">
            <a:avLst>
              <a:gd name="adj1" fmla="val 50000"/>
              <a:gd name="adj2" fmla="val 25000"/>
            </a:avLst>
          </a:prstGeom>
          <a:solidFill>
            <a:srgbClr val="FFFFFF"/>
          </a:solidFill>
          <a:ln w="9525">
            <a:solidFill>
              <a:schemeClr val="tx1"/>
            </a:solidFill>
            <a:miter lim="800000"/>
            <a:headEnd/>
            <a:tailEnd/>
          </a:ln>
          <a:effectLst/>
        </p:spPr>
        <p:txBody>
          <a:bodyPr wrap="none" anchor="ctr"/>
          <a:lstStyle/>
          <a:p>
            <a:endParaRPr lang="ko-KR" altLang="en-US">
              <a:latin typeface="Arial" pitchFamily="34" charset="0"/>
              <a:ea typeface="맑은 고딕" panose="020B0503020000020004"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121</a:t>
            </a:fld>
            <a:endParaRPr lang="ko-KR" altLang="en-US" dirty="0">
              <a:latin typeface="Arial" pitchFamily="34" charset="0"/>
              <a:cs typeface="Arial" pitchFamily="34" charset="0"/>
            </a:endParaRPr>
          </a:p>
        </p:txBody>
      </p:sp>
      <p:sp>
        <p:nvSpPr>
          <p:cNvPr id="41"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42"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29611360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3"/>
          <p:cNvGrpSpPr>
            <a:grpSpLocks/>
          </p:cNvGrpSpPr>
          <p:nvPr/>
        </p:nvGrpSpPr>
        <p:grpSpPr bwMode="auto">
          <a:xfrm>
            <a:off x="180976" y="1013668"/>
            <a:ext cx="9091615" cy="5729288"/>
            <a:chOff x="112" y="250"/>
            <a:chExt cx="5727" cy="3609"/>
          </a:xfrm>
        </p:grpSpPr>
        <p:grpSp>
          <p:nvGrpSpPr>
            <p:cNvPr id="4" name="Group 14"/>
            <p:cNvGrpSpPr>
              <a:grpSpLocks/>
            </p:cNvGrpSpPr>
            <p:nvPr/>
          </p:nvGrpSpPr>
          <p:grpSpPr bwMode="auto">
            <a:xfrm>
              <a:off x="112" y="600"/>
              <a:ext cx="2744" cy="2944"/>
              <a:chOff x="112" y="705"/>
              <a:chExt cx="2744" cy="2944"/>
            </a:xfrm>
          </p:grpSpPr>
          <p:sp>
            <p:nvSpPr>
              <p:cNvPr id="195" name="Rectangle 15"/>
              <p:cNvSpPr>
                <a:spLocks noChangeArrowheads="1"/>
              </p:cNvSpPr>
              <p:nvPr/>
            </p:nvSpPr>
            <p:spPr bwMode="auto">
              <a:xfrm>
                <a:off x="892" y="2385"/>
                <a:ext cx="197" cy="804"/>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96" name="Rectangle 16"/>
              <p:cNvSpPr>
                <a:spLocks noChangeArrowheads="1"/>
              </p:cNvSpPr>
              <p:nvPr/>
            </p:nvSpPr>
            <p:spPr bwMode="auto">
              <a:xfrm>
                <a:off x="1089" y="1419"/>
                <a:ext cx="196" cy="1770"/>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97" name="Freeform 17"/>
              <p:cNvSpPr>
                <a:spLocks/>
              </p:cNvSpPr>
              <p:nvPr/>
            </p:nvSpPr>
            <p:spPr bwMode="auto">
              <a:xfrm>
                <a:off x="892" y="877"/>
                <a:ext cx="1964" cy="2312"/>
              </a:xfrm>
              <a:custGeom>
                <a:avLst/>
                <a:gdLst>
                  <a:gd name="T0" fmla="*/ 0 w 1814"/>
                  <a:gd name="T1" fmla="*/ 0 h 2233"/>
                  <a:gd name="T2" fmla="*/ 0 w 1814"/>
                  <a:gd name="T3" fmla="*/ 2312 h 2233"/>
                  <a:gd name="T4" fmla="*/ 1964 w 1814"/>
                  <a:gd name="T5" fmla="*/ 2312 h 2233"/>
                  <a:gd name="T6" fmla="*/ 0 60000 65536"/>
                  <a:gd name="T7" fmla="*/ 0 60000 65536"/>
                  <a:gd name="T8" fmla="*/ 0 60000 65536"/>
                </a:gdLst>
                <a:ahLst/>
                <a:cxnLst>
                  <a:cxn ang="T6">
                    <a:pos x="T0" y="T1"/>
                  </a:cxn>
                  <a:cxn ang="T7">
                    <a:pos x="T2" y="T3"/>
                  </a:cxn>
                  <a:cxn ang="T8">
                    <a:pos x="T4" y="T5"/>
                  </a:cxn>
                </a:cxnLst>
                <a:rect l="0" t="0" r="r" b="b"/>
                <a:pathLst>
                  <a:path w="1814" h="2233">
                    <a:moveTo>
                      <a:pt x="0" y="0"/>
                    </a:moveTo>
                    <a:lnTo>
                      <a:pt x="0" y="2233"/>
                    </a:lnTo>
                    <a:lnTo>
                      <a:pt x="1814" y="2233"/>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98" name="Rectangle 18"/>
              <p:cNvSpPr>
                <a:spLocks noChangeArrowheads="1"/>
              </p:cNvSpPr>
              <p:nvPr/>
            </p:nvSpPr>
            <p:spPr bwMode="auto">
              <a:xfrm>
                <a:off x="607" y="985"/>
                <a:ext cx="223" cy="2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r" eaLnBrk="1" hangingPunct="1"/>
                <a:r>
                  <a:rPr lang="en-US" altLang="ko-KR" sz="1200">
                    <a:latin typeface="Arial" pitchFamily="34" charset="0"/>
                    <a:ea typeface="맑은 고딕" panose="020B0503020000020004" pitchFamily="50" charset="-127"/>
                    <a:cs typeface="Arial" pitchFamily="34" charset="0"/>
                  </a:rPr>
                  <a:t>60</a:t>
                </a: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r>
                  <a:rPr lang="en-US" altLang="ko-KR" sz="1200">
                    <a:latin typeface="Arial" pitchFamily="34" charset="0"/>
                    <a:ea typeface="맑은 고딕" panose="020B0503020000020004" pitchFamily="50" charset="-127"/>
                    <a:cs typeface="Arial" pitchFamily="34" charset="0"/>
                  </a:rPr>
                  <a:t>50</a:t>
                </a: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r>
                  <a:rPr lang="en-US" altLang="ko-KR" sz="1200">
                    <a:latin typeface="Arial" pitchFamily="34" charset="0"/>
                    <a:ea typeface="맑은 고딕" panose="020B0503020000020004" pitchFamily="50" charset="-127"/>
                    <a:cs typeface="Arial" pitchFamily="34" charset="0"/>
                  </a:rPr>
                  <a:t>40</a:t>
                </a: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r>
                  <a:rPr lang="en-US" altLang="ko-KR" sz="1200">
                    <a:latin typeface="Arial" pitchFamily="34" charset="0"/>
                    <a:ea typeface="맑은 고딕" panose="020B0503020000020004" pitchFamily="50" charset="-127"/>
                    <a:cs typeface="Arial" pitchFamily="34" charset="0"/>
                  </a:rPr>
                  <a:t>30</a:t>
                </a: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r>
                  <a:rPr lang="en-US" altLang="ko-KR" sz="1200">
                    <a:latin typeface="Arial" pitchFamily="34" charset="0"/>
                    <a:ea typeface="맑은 고딕" panose="020B0503020000020004" pitchFamily="50" charset="-127"/>
                    <a:cs typeface="Arial" pitchFamily="34" charset="0"/>
                  </a:rPr>
                  <a:t>20</a:t>
                </a: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r>
                  <a:rPr lang="en-US" altLang="ko-KR" sz="1200">
                    <a:latin typeface="Arial" pitchFamily="34" charset="0"/>
                    <a:ea typeface="맑은 고딕" panose="020B0503020000020004" pitchFamily="50" charset="-127"/>
                    <a:cs typeface="Arial" pitchFamily="34" charset="0"/>
                  </a:rPr>
                  <a:t>10</a:t>
                </a: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endParaRPr lang="en-US" altLang="ko-KR" sz="1200">
                  <a:latin typeface="Arial" pitchFamily="34" charset="0"/>
                  <a:ea typeface="맑은 고딕" panose="020B0503020000020004" pitchFamily="50" charset="-127"/>
                  <a:cs typeface="Arial" pitchFamily="34" charset="0"/>
                </a:endParaRPr>
              </a:p>
              <a:p>
                <a:pPr algn="r" eaLnBrk="1" hangingPunct="1"/>
                <a:r>
                  <a:rPr lang="en-US" altLang="ko-KR" sz="1200">
                    <a:latin typeface="Arial" pitchFamily="34" charset="0"/>
                    <a:ea typeface="맑은 고딕" panose="020B0503020000020004" pitchFamily="50" charset="-127"/>
                    <a:cs typeface="Arial" pitchFamily="34" charset="0"/>
                  </a:rPr>
                  <a:t>0</a:t>
                </a:r>
              </a:p>
            </p:txBody>
          </p:sp>
          <p:sp>
            <p:nvSpPr>
              <p:cNvPr id="199" name="Rectangle 19"/>
              <p:cNvSpPr>
                <a:spLocks noChangeArrowheads="1"/>
              </p:cNvSpPr>
              <p:nvPr/>
            </p:nvSpPr>
            <p:spPr bwMode="auto">
              <a:xfrm>
                <a:off x="913" y="3241"/>
                <a:ext cx="1517"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200" dirty="0">
                    <a:latin typeface="Arial" pitchFamily="34" charset="0"/>
                    <a:ea typeface="맑은 고딕" panose="020B0503020000020004" pitchFamily="50" charset="-127"/>
                    <a:cs typeface="Arial" pitchFamily="34" charset="0"/>
                  </a:rPr>
                  <a:t>0   1   2   3   4   5   6   7   8</a:t>
                </a:r>
                <a:endParaRPr lang="ko-KR" altLang="en-US" sz="1200" dirty="0">
                  <a:latin typeface="Arial" pitchFamily="34" charset="0"/>
                  <a:ea typeface="맑은 고딕" panose="020B0503020000020004" pitchFamily="50" charset="-127"/>
                  <a:cs typeface="Arial" pitchFamily="34" charset="0"/>
                </a:endParaRPr>
              </a:p>
            </p:txBody>
          </p:sp>
          <p:sp>
            <p:nvSpPr>
              <p:cNvPr id="200" name="Line 20"/>
              <p:cNvSpPr>
                <a:spLocks noChangeShapeType="1"/>
              </p:cNvSpPr>
              <p:nvPr/>
            </p:nvSpPr>
            <p:spPr bwMode="auto">
              <a:xfrm>
                <a:off x="892" y="1067"/>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1" name="Line 21"/>
              <p:cNvSpPr>
                <a:spLocks noChangeShapeType="1"/>
              </p:cNvSpPr>
              <p:nvPr/>
            </p:nvSpPr>
            <p:spPr bwMode="auto">
              <a:xfrm>
                <a:off x="892" y="1420"/>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2" name="Line 22"/>
              <p:cNvSpPr>
                <a:spLocks noChangeShapeType="1"/>
              </p:cNvSpPr>
              <p:nvPr/>
            </p:nvSpPr>
            <p:spPr bwMode="auto">
              <a:xfrm>
                <a:off x="892" y="1774"/>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3" name="Line 23"/>
              <p:cNvSpPr>
                <a:spLocks noChangeShapeType="1"/>
              </p:cNvSpPr>
              <p:nvPr/>
            </p:nvSpPr>
            <p:spPr bwMode="auto">
              <a:xfrm>
                <a:off x="892" y="2128"/>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4" name="Line 24"/>
              <p:cNvSpPr>
                <a:spLocks noChangeShapeType="1"/>
              </p:cNvSpPr>
              <p:nvPr/>
            </p:nvSpPr>
            <p:spPr bwMode="auto">
              <a:xfrm>
                <a:off x="892" y="2457"/>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5" name="Line 25"/>
              <p:cNvSpPr>
                <a:spLocks noChangeShapeType="1"/>
              </p:cNvSpPr>
              <p:nvPr/>
            </p:nvSpPr>
            <p:spPr bwMode="auto">
              <a:xfrm>
                <a:off x="892" y="2817"/>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06" name="Rectangle 26"/>
              <p:cNvSpPr>
                <a:spLocks noChangeArrowheads="1"/>
              </p:cNvSpPr>
              <p:nvPr/>
            </p:nvSpPr>
            <p:spPr bwMode="auto">
              <a:xfrm>
                <a:off x="112" y="1645"/>
                <a:ext cx="488"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200" dirty="0">
                    <a:latin typeface="Arial" pitchFamily="34" charset="0"/>
                    <a:ea typeface="맑은 고딕" panose="020B0503020000020004" pitchFamily="50" charset="-127"/>
                    <a:cs typeface="Arial" pitchFamily="34" charset="0"/>
                  </a:rPr>
                  <a:t># of Lots</a:t>
                </a:r>
                <a:endParaRPr lang="ko-KR" altLang="en-US" sz="1200" dirty="0">
                  <a:latin typeface="Arial" pitchFamily="34" charset="0"/>
                  <a:ea typeface="맑은 고딕" panose="020B0503020000020004" pitchFamily="50" charset="-127"/>
                  <a:cs typeface="Arial" pitchFamily="34" charset="0"/>
                </a:endParaRPr>
              </a:p>
            </p:txBody>
          </p:sp>
          <p:sp>
            <p:nvSpPr>
              <p:cNvPr id="207" name="Rectangle 27"/>
              <p:cNvSpPr>
                <a:spLocks noChangeArrowheads="1"/>
              </p:cNvSpPr>
              <p:nvPr/>
            </p:nvSpPr>
            <p:spPr bwMode="auto">
              <a:xfrm>
                <a:off x="2430" y="3081"/>
                <a:ext cx="196" cy="108"/>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208" name="Rectangle 28"/>
              <p:cNvSpPr>
                <a:spLocks noChangeArrowheads="1"/>
              </p:cNvSpPr>
              <p:nvPr/>
            </p:nvSpPr>
            <p:spPr bwMode="auto">
              <a:xfrm>
                <a:off x="2238" y="2997"/>
                <a:ext cx="196" cy="192"/>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209" name="Rectangle 29"/>
              <p:cNvSpPr>
                <a:spLocks noChangeArrowheads="1"/>
              </p:cNvSpPr>
              <p:nvPr/>
            </p:nvSpPr>
            <p:spPr bwMode="auto">
              <a:xfrm>
                <a:off x="2046" y="2841"/>
                <a:ext cx="196" cy="348"/>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210" name="Rectangle 30"/>
              <p:cNvSpPr>
                <a:spLocks noChangeArrowheads="1"/>
              </p:cNvSpPr>
              <p:nvPr/>
            </p:nvSpPr>
            <p:spPr bwMode="auto">
              <a:xfrm>
                <a:off x="1860" y="2193"/>
                <a:ext cx="196" cy="996"/>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211" name="Rectangle 31"/>
              <p:cNvSpPr>
                <a:spLocks noChangeArrowheads="1"/>
              </p:cNvSpPr>
              <p:nvPr/>
            </p:nvSpPr>
            <p:spPr bwMode="auto">
              <a:xfrm>
                <a:off x="1668" y="1971"/>
                <a:ext cx="196" cy="1218"/>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212" name="Rectangle 32"/>
              <p:cNvSpPr>
                <a:spLocks noChangeArrowheads="1"/>
              </p:cNvSpPr>
              <p:nvPr/>
            </p:nvSpPr>
            <p:spPr bwMode="auto">
              <a:xfrm>
                <a:off x="1482" y="1467"/>
                <a:ext cx="196" cy="1722"/>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213" name="Rectangle 33"/>
              <p:cNvSpPr>
                <a:spLocks noChangeArrowheads="1"/>
              </p:cNvSpPr>
              <p:nvPr/>
            </p:nvSpPr>
            <p:spPr bwMode="auto">
              <a:xfrm>
                <a:off x="1285" y="945"/>
                <a:ext cx="197" cy="2244"/>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214" name="Rectangle 34"/>
              <p:cNvSpPr>
                <a:spLocks noChangeArrowheads="1"/>
              </p:cNvSpPr>
              <p:nvPr/>
            </p:nvSpPr>
            <p:spPr bwMode="auto">
              <a:xfrm>
                <a:off x="1369" y="3475"/>
                <a:ext cx="961"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200" dirty="0">
                    <a:latin typeface="Arial" pitchFamily="34" charset="0"/>
                    <a:ea typeface="맑은 고딕" panose="020B0503020000020004" pitchFamily="50" charset="-127"/>
                    <a:cs typeface="Arial" pitchFamily="34" charset="0"/>
                  </a:rPr>
                  <a:t># of Defects per Lot</a:t>
                </a:r>
                <a:endParaRPr lang="ko-KR" altLang="en-US" sz="1200" dirty="0">
                  <a:latin typeface="Arial" pitchFamily="34" charset="0"/>
                  <a:ea typeface="맑은 고딕" panose="020B0503020000020004" pitchFamily="50" charset="-127"/>
                  <a:cs typeface="Arial" pitchFamily="34" charset="0"/>
                </a:endParaRPr>
              </a:p>
            </p:txBody>
          </p:sp>
          <p:sp>
            <p:nvSpPr>
              <p:cNvPr id="215" name="Rectangle 35"/>
              <p:cNvSpPr>
                <a:spLocks noChangeArrowheads="1"/>
              </p:cNvSpPr>
              <p:nvPr/>
            </p:nvSpPr>
            <p:spPr bwMode="auto">
              <a:xfrm>
                <a:off x="1823" y="705"/>
                <a:ext cx="441"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r>
                  <a:rPr lang="en-US" altLang="ko-KR" sz="1200" dirty="0">
                    <a:latin typeface="Arial" pitchFamily="34" charset="0"/>
                    <a:ea typeface="맑은 고딕" panose="020B0503020000020004" pitchFamily="50" charset="-127"/>
                    <a:cs typeface="Arial" pitchFamily="34" charset="0"/>
                  </a:rPr>
                  <a:t>Total</a:t>
                </a:r>
                <a:endParaRPr lang="ko-KR" altLang="en-US" sz="1200" dirty="0">
                  <a:latin typeface="Arial" pitchFamily="34" charset="0"/>
                  <a:ea typeface="맑은 고딕" panose="020B0503020000020004" pitchFamily="50" charset="-127"/>
                  <a:cs typeface="Arial" pitchFamily="34" charset="0"/>
                </a:endParaRPr>
              </a:p>
              <a:p>
                <a:pPr algn="ctr" eaLnBrk="1" hangingPunct="1"/>
                <a:endParaRPr lang="ko-KR" altLang="en-US" sz="1200" dirty="0">
                  <a:latin typeface="Arial" pitchFamily="34" charset="0"/>
                  <a:ea typeface="맑은 고딕" panose="020B0503020000020004" pitchFamily="50" charset="-127"/>
                  <a:cs typeface="Arial" pitchFamily="34" charset="0"/>
                </a:endParaRPr>
              </a:p>
              <a:p>
                <a:pPr algn="ctr" eaLnBrk="1" hangingPunct="1"/>
                <a:r>
                  <a:rPr lang="en-US" altLang="ko-KR" sz="1200" dirty="0">
                    <a:latin typeface="Arial" pitchFamily="34" charset="0"/>
                    <a:ea typeface="맑은 고딕" panose="020B0503020000020004" pitchFamily="50" charset="-127"/>
                    <a:cs typeface="Arial" pitchFamily="34" charset="0"/>
                  </a:rPr>
                  <a:t>n = 265</a:t>
                </a:r>
              </a:p>
            </p:txBody>
          </p:sp>
        </p:grpSp>
        <p:grpSp>
          <p:nvGrpSpPr>
            <p:cNvPr id="5" name="Group 36"/>
            <p:cNvGrpSpPr>
              <a:grpSpLocks/>
            </p:cNvGrpSpPr>
            <p:nvPr/>
          </p:nvGrpSpPr>
          <p:grpSpPr bwMode="auto">
            <a:xfrm>
              <a:off x="3668" y="250"/>
              <a:ext cx="2171" cy="1708"/>
              <a:chOff x="3668" y="250"/>
              <a:chExt cx="2171" cy="1708"/>
            </a:xfrm>
          </p:grpSpPr>
          <p:sp>
            <p:nvSpPr>
              <p:cNvPr id="179" name="Rectangle 37"/>
              <p:cNvSpPr>
                <a:spLocks noChangeArrowheads="1"/>
              </p:cNvSpPr>
              <p:nvPr/>
            </p:nvSpPr>
            <p:spPr bwMode="auto">
              <a:xfrm>
                <a:off x="3953" y="1004"/>
                <a:ext cx="197" cy="534"/>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80" name="Rectangle 38"/>
              <p:cNvSpPr>
                <a:spLocks noChangeArrowheads="1"/>
              </p:cNvSpPr>
              <p:nvPr/>
            </p:nvSpPr>
            <p:spPr bwMode="auto">
              <a:xfrm>
                <a:off x="4150" y="718"/>
                <a:ext cx="196" cy="820"/>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81" name="Freeform 39"/>
              <p:cNvSpPr>
                <a:spLocks/>
              </p:cNvSpPr>
              <p:nvPr/>
            </p:nvSpPr>
            <p:spPr bwMode="auto">
              <a:xfrm>
                <a:off x="3953" y="285"/>
                <a:ext cx="1886" cy="1253"/>
              </a:xfrm>
              <a:custGeom>
                <a:avLst/>
                <a:gdLst>
                  <a:gd name="T0" fmla="*/ 0 w 1814"/>
                  <a:gd name="T1" fmla="*/ 0 h 2233"/>
                  <a:gd name="T2" fmla="*/ 0 w 1814"/>
                  <a:gd name="T3" fmla="*/ 1253 h 2233"/>
                  <a:gd name="T4" fmla="*/ 1886 w 1814"/>
                  <a:gd name="T5" fmla="*/ 1253 h 2233"/>
                  <a:gd name="T6" fmla="*/ 0 60000 65536"/>
                  <a:gd name="T7" fmla="*/ 0 60000 65536"/>
                  <a:gd name="T8" fmla="*/ 0 60000 65536"/>
                </a:gdLst>
                <a:ahLst/>
                <a:cxnLst>
                  <a:cxn ang="T6">
                    <a:pos x="T0" y="T1"/>
                  </a:cxn>
                  <a:cxn ang="T7">
                    <a:pos x="T2" y="T3"/>
                  </a:cxn>
                  <a:cxn ang="T8">
                    <a:pos x="T4" y="T5"/>
                  </a:cxn>
                </a:cxnLst>
                <a:rect l="0" t="0" r="r" b="b"/>
                <a:pathLst>
                  <a:path w="1814" h="2233">
                    <a:moveTo>
                      <a:pt x="0" y="0"/>
                    </a:moveTo>
                    <a:lnTo>
                      <a:pt x="0" y="2233"/>
                    </a:lnTo>
                    <a:lnTo>
                      <a:pt x="1814" y="2233"/>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2" name="Rectangle 40"/>
              <p:cNvSpPr>
                <a:spLocks noChangeArrowheads="1"/>
              </p:cNvSpPr>
              <p:nvPr/>
            </p:nvSpPr>
            <p:spPr bwMode="auto">
              <a:xfrm>
                <a:off x="3668" y="287"/>
                <a:ext cx="223" cy="1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40</a:t>
                </a: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30</a:t>
                </a: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20</a:t>
                </a: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10</a:t>
                </a: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0</a:t>
                </a:r>
              </a:p>
            </p:txBody>
          </p:sp>
          <p:sp>
            <p:nvSpPr>
              <p:cNvPr id="183" name="Rectangle 41"/>
              <p:cNvSpPr>
                <a:spLocks noChangeArrowheads="1"/>
              </p:cNvSpPr>
              <p:nvPr/>
            </p:nvSpPr>
            <p:spPr bwMode="auto">
              <a:xfrm>
                <a:off x="3974" y="1581"/>
                <a:ext cx="1252"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200">
                    <a:latin typeface="Arial" pitchFamily="34" charset="0"/>
                    <a:ea typeface="맑은 고딕" panose="020B0503020000020004" pitchFamily="50" charset="-127"/>
                    <a:cs typeface="Arial" pitchFamily="34" charset="0"/>
                  </a:rPr>
                  <a:t>0   1   2   3   4   5   6   7   8</a:t>
                </a:r>
              </a:p>
            </p:txBody>
          </p:sp>
          <p:sp>
            <p:nvSpPr>
              <p:cNvPr id="184" name="Line 42"/>
              <p:cNvSpPr>
                <a:spLocks noChangeShapeType="1"/>
              </p:cNvSpPr>
              <p:nvPr/>
            </p:nvSpPr>
            <p:spPr bwMode="auto">
              <a:xfrm>
                <a:off x="3953" y="355"/>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5" name="Line 43"/>
              <p:cNvSpPr>
                <a:spLocks noChangeShapeType="1"/>
              </p:cNvSpPr>
              <p:nvPr/>
            </p:nvSpPr>
            <p:spPr bwMode="auto">
              <a:xfrm>
                <a:off x="3953" y="651"/>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6" name="Line 44"/>
              <p:cNvSpPr>
                <a:spLocks noChangeShapeType="1"/>
              </p:cNvSpPr>
              <p:nvPr/>
            </p:nvSpPr>
            <p:spPr bwMode="auto">
              <a:xfrm>
                <a:off x="3953" y="926"/>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7" name="Line 45"/>
              <p:cNvSpPr>
                <a:spLocks noChangeShapeType="1"/>
              </p:cNvSpPr>
              <p:nvPr/>
            </p:nvSpPr>
            <p:spPr bwMode="auto">
              <a:xfrm>
                <a:off x="3953" y="1227"/>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88" name="Rectangle 46"/>
              <p:cNvSpPr>
                <a:spLocks noChangeArrowheads="1"/>
              </p:cNvSpPr>
              <p:nvPr/>
            </p:nvSpPr>
            <p:spPr bwMode="auto">
              <a:xfrm>
                <a:off x="5107" y="1431"/>
                <a:ext cx="196" cy="107"/>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89" name="Rectangle 47"/>
              <p:cNvSpPr>
                <a:spLocks noChangeArrowheads="1"/>
              </p:cNvSpPr>
              <p:nvPr/>
            </p:nvSpPr>
            <p:spPr bwMode="auto">
              <a:xfrm>
                <a:off x="4921" y="1305"/>
                <a:ext cx="196" cy="233"/>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90" name="Rectangle 48"/>
              <p:cNvSpPr>
                <a:spLocks noChangeArrowheads="1"/>
              </p:cNvSpPr>
              <p:nvPr/>
            </p:nvSpPr>
            <p:spPr bwMode="auto">
              <a:xfrm>
                <a:off x="4729" y="1178"/>
                <a:ext cx="196" cy="360"/>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91" name="Rectangle 49"/>
              <p:cNvSpPr>
                <a:spLocks noChangeArrowheads="1"/>
              </p:cNvSpPr>
              <p:nvPr/>
            </p:nvSpPr>
            <p:spPr bwMode="auto">
              <a:xfrm>
                <a:off x="4543" y="811"/>
                <a:ext cx="196" cy="727"/>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92" name="Rectangle 50"/>
              <p:cNvSpPr>
                <a:spLocks noChangeArrowheads="1"/>
              </p:cNvSpPr>
              <p:nvPr/>
            </p:nvSpPr>
            <p:spPr bwMode="auto">
              <a:xfrm>
                <a:off x="4346" y="250"/>
                <a:ext cx="197" cy="1288"/>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93" name="Rectangle 51"/>
              <p:cNvSpPr>
                <a:spLocks noChangeArrowheads="1"/>
              </p:cNvSpPr>
              <p:nvPr/>
            </p:nvSpPr>
            <p:spPr bwMode="auto">
              <a:xfrm>
                <a:off x="4310" y="1784"/>
                <a:ext cx="961"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200" dirty="0">
                    <a:latin typeface="Arial" pitchFamily="34" charset="0"/>
                    <a:ea typeface="맑은 고딕" panose="020B0503020000020004" pitchFamily="50" charset="-127"/>
                    <a:cs typeface="Arial" pitchFamily="34" charset="0"/>
                  </a:rPr>
                  <a:t># of Defects per Lot</a:t>
                </a:r>
                <a:endParaRPr lang="ko-KR" altLang="en-US" sz="1200" dirty="0">
                  <a:latin typeface="Arial" pitchFamily="34" charset="0"/>
                  <a:ea typeface="맑은 고딕" panose="020B0503020000020004" pitchFamily="50" charset="-127"/>
                  <a:cs typeface="Arial" pitchFamily="34" charset="0"/>
                </a:endParaRPr>
              </a:p>
            </p:txBody>
          </p:sp>
          <p:sp>
            <p:nvSpPr>
              <p:cNvPr id="194" name="Rectangle 52"/>
              <p:cNvSpPr>
                <a:spLocks noChangeArrowheads="1"/>
              </p:cNvSpPr>
              <p:nvPr/>
            </p:nvSpPr>
            <p:spPr bwMode="auto">
              <a:xfrm>
                <a:off x="5106" y="374"/>
                <a:ext cx="441"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r>
                  <a:rPr lang="en-US" altLang="ko-KR" sz="1200" dirty="0">
                    <a:latin typeface="Arial" pitchFamily="34" charset="0"/>
                    <a:ea typeface="맑은 고딕" panose="020B0503020000020004" pitchFamily="50" charset="-127"/>
                    <a:cs typeface="Arial" pitchFamily="34" charset="0"/>
                  </a:rPr>
                  <a:t>Team A</a:t>
                </a:r>
                <a:endParaRPr lang="ko-KR" altLang="en-US" sz="1200" dirty="0">
                  <a:latin typeface="Arial" pitchFamily="34" charset="0"/>
                  <a:ea typeface="맑은 고딕" panose="020B0503020000020004" pitchFamily="50" charset="-127"/>
                  <a:cs typeface="Arial" pitchFamily="34" charset="0"/>
                </a:endParaRPr>
              </a:p>
              <a:p>
                <a:pPr algn="ctr" eaLnBrk="1" hangingPunct="1"/>
                <a:endParaRPr lang="ko-KR" altLang="en-US" sz="1200" dirty="0">
                  <a:latin typeface="Arial" pitchFamily="34" charset="0"/>
                  <a:ea typeface="맑은 고딕" panose="020B0503020000020004" pitchFamily="50" charset="-127"/>
                  <a:cs typeface="Arial" pitchFamily="34" charset="0"/>
                </a:endParaRPr>
              </a:p>
              <a:p>
                <a:pPr algn="ctr" eaLnBrk="1" hangingPunct="1"/>
                <a:r>
                  <a:rPr lang="en-US" altLang="ko-KR" sz="1200" dirty="0">
                    <a:latin typeface="Arial" pitchFamily="34" charset="0"/>
                    <a:ea typeface="맑은 고딕" panose="020B0503020000020004" pitchFamily="50" charset="-127"/>
                    <a:cs typeface="Arial" pitchFamily="34" charset="0"/>
                  </a:rPr>
                  <a:t>n = 137</a:t>
                </a:r>
              </a:p>
            </p:txBody>
          </p:sp>
        </p:grpSp>
        <p:grpSp>
          <p:nvGrpSpPr>
            <p:cNvPr id="6" name="Group 53"/>
            <p:cNvGrpSpPr>
              <a:grpSpLocks/>
            </p:cNvGrpSpPr>
            <p:nvPr/>
          </p:nvGrpSpPr>
          <p:grpSpPr bwMode="auto">
            <a:xfrm>
              <a:off x="3668" y="2186"/>
              <a:ext cx="2171" cy="1673"/>
              <a:chOff x="3668" y="2186"/>
              <a:chExt cx="2171" cy="1673"/>
            </a:xfrm>
          </p:grpSpPr>
          <p:sp>
            <p:nvSpPr>
              <p:cNvPr id="161" name="Rectangle 54"/>
              <p:cNvSpPr>
                <a:spLocks noChangeArrowheads="1"/>
              </p:cNvSpPr>
              <p:nvPr/>
            </p:nvSpPr>
            <p:spPr bwMode="auto">
              <a:xfrm>
                <a:off x="3953" y="3220"/>
                <a:ext cx="197" cy="219"/>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62" name="Rectangle 55"/>
              <p:cNvSpPr>
                <a:spLocks noChangeArrowheads="1"/>
              </p:cNvSpPr>
              <p:nvPr/>
            </p:nvSpPr>
            <p:spPr bwMode="auto">
              <a:xfrm>
                <a:off x="4150" y="2989"/>
                <a:ext cx="196" cy="450"/>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63" name="Freeform 56"/>
              <p:cNvSpPr>
                <a:spLocks/>
              </p:cNvSpPr>
              <p:nvPr/>
            </p:nvSpPr>
            <p:spPr bwMode="auto">
              <a:xfrm>
                <a:off x="3953" y="2186"/>
                <a:ext cx="1886" cy="1253"/>
              </a:xfrm>
              <a:custGeom>
                <a:avLst/>
                <a:gdLst>
                  <a:gd name="T0" fmla="*/ 0 w 1814"/>
                  <a:gd name="T1" fmla="*/ 0 h 2233"/>
                  <a:gd name="T2" fmla="*/ 0 w 1814"/>
                  <a:gd name="T3" fmla="*/ 1253 h 2233"/>
                  <a:gd name="T4" fmla="*/ 1886 w 1814"/>
                  <a:gd name="T5" fmla="*/ 1253 h 2233"/>
                  <a:gd name="T6" fmla="*/ 0 60000 65536"/>
                  <a:gd name="T7" fmla="*/ 0 60000 65536"/>
                  <a:gd name="T8" fmla="*/ 0 60000 65536"/>
                </a:gdLst>
                <a:ahLst/>
                <a:cxnLst>
                  <a:cxn ang="T6">
                    <a:pos x="T0" y="T1"/>
                  </a:cxn>
                  <a:cxn ang="T7">
                    <a:pos x="T2" y="T3"/>
                  </a:cxn>
                  <a:cxn ang="T8">
                    <a:pos x="T4" y="T5"/>
                  </a:cxn>
                </a:cxnLst>
                <a:rect l="0" t="0" r="r" b="b"/>
                <a:pathLst>
                  <a:path w="1814" h="2233">
                    <a:moveTo>
                      <a:pt x="0" y="0"/>
                    </a:moveTo>
                    <a:lnTo>
                      <a:pt x="0" y="2233"/>
                    </a:lnTo>
                    <a:lnTo>
                      <a:pt x="1814" y="2233"/>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4" name="Rectangle 57"/>
              <p:cNvSpPr>
                <a:spLocks noChangeArrowheads="1"/>
              </p:cNvSpPr>
              <p:nvPr/>
            </p:nvSpPr>
            <p:spPr bwMode="auto">
              <a:xfrm>
                <a:off x="3668" y="2188"/>
                <a:ext cx="223" cy="1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40</a:t>
                </a: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30</a:t>
                </a: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20</a:t>
                </a: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10</a:t>
                </a: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endParaRPr lang="en-US" altLang="ko-KR" sz="1200">
                  <a:latin typeface="Arial" pitchFamily="34" charset="0"/>
                  <a:ea typeface="맑은 고딕" panose="020B0503020000020004" pitchFamily="50" charset="-127"/>
                  <a:cs typeface="Arial" pitchFamily="34" charset="0"/>
                </a:endParaRPr>
              </a:p>
              <a:p>
                <a:pPr algn="r" eaLnBrk="1" hangingPunct="1">
                  <a:lnSpc>
                    <a:spcPct val="85000"/>
                  </a:lnSpc>
                </a:pPr>
                <a:r>
                  <a:rPr lang="en-US" altLang="ko-KR" sz="1200">
                    <a:latin typeface="Arial" pitchFamily="34" charset="0"/>
                    <a:ea typeface="맑은 고딕" panose="020B0503020000020004" pitchFamily="50" charset="-127"/>
                    <a:cs typeface="Arial" pitchFamily="34" charset="0"/>
                  </a:rPr>
                  <a:t>0</a:t>
                </a:r>
              </a:p>
            </p:txBody>
          </p:sp>
          <p:sp>
            <p:nvSpPr>
              <p:cNvPr id="165" name="Rectangle 58"/>
              <p:cNvSpPr>
                <a:spLocks noChangeArrowheads="1"/>
              </p:cNvSpPr>
              <p:nvPr/>
            </p:nvSpPr>
            <p:spPr bwMode="auto">
              <a:xfrm>
                <a:off x="3974" y="3482"/>
                <a:ext cx="1252"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200">
                    <a:latin typeface="Arial" pitchFamily="34" charset="0"/>
                    <a:ea typeface="맑은 고딕" panose="020B0503020000020004" pitchFamily="50" charset="-127"/>
                    <a:cs typeface="Arial" pitchFamily="34" charset="0"/>
                  </a:rPr>
                  <a:t>0   1   2   3   4   5   6   7   8</a:t>
                </a:r>
              </a:p>
            </p:txBody>
          </p:sp>
          <p:sp>
            <p:nvSpPr>
              <p:cNvPr id="166" name="Line 59"/>
              <p:cNvSpPr>
                <a:spLocks noChangeShapeType="1"/>
              </p:cNvSpPr>
              <p:nvPr/>
            </p:nvSpPr>
            <p:spPr bwMode="auto">
              <a:xfrm>
                <a:off x="3953" y="2256"/>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7" name="Line 60"/>
              <p:cNvSpPr>
                <a:spLocks noChangeShapeType="1"/>
              </p:cNvSpPr>
              <p:nvPr/>
            </p:nvSpPr>
            <p:spPr bwMode="auto">
              <a:xfrm>
                <a:off x="3953" y="2552"/>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8" name="Line 61"/>
              <p:cNvSpPr>
                <a:spLocks noChangeShapeType="1"/>
              </p:cNvSpPr>
              <p:nvPr/>
            </p:nvSpPr>
            <p:spPr bwMode="auto">
              <a:xfrm>
                <a:off x="3953" y="2827"/>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69" name="Line 62"/>
              <p:cNvSpPr>
                <a:spLocks noChangeShapeType="1"/>
              </p:cNvSpPr>
              <p:nvPr/>
            </p:nvSpPr>
            <p:spPr bwMode="auto">
              <a:xfrm>
                <a:off x="3953" y="3128"/>
                <a:ext cx="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170" name="Rectangle 63"/>
              <p:cNvSpPr>
                <a:spLocks noChangeArrowheads="1"/>
              </p:cNvSpPr>
              <p:nvPr/>
            </p:nvSpPr>
            <p:spPr bwMode="auto">
              <a:xfrm>
                <a:off x="4346" y="2680"/>
                <a:ext cx="197" cy="759"/>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71" name="Rectangle 64"/>
              <p:cNvSpPr>
                <a:spLocks noChangeArrowheads="1"/>
              </p:cNvSpPr>
              <p:nvPr/>
            </p:nvSpPr>
            <p:spPr bwMode="auto">
              <a:xfrm>
                <a:off x="4310" y="3685"/>
                <a:ext cx="961"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200" dirty="0">
                    <a:latin typeface="Arial" pitchFamily="34" charset="0"/>
                    <a:ea typeface="맑은 고딕" panose="020B0503020000020004" pitchFamily="50" charset="-127"/>
                    <a:cs typeface="Arial" pitchFamily="34" charset="0"/>
                  </a:rPr>
                  <a:t># of Defects per Lot</a:t>
                </a:r>
                <a:endParaRPr lang="ko-KR" altLang="en-US" sz="1200" dirty="0">
                  <a:latin typeface="Arial" pitchFamily="34" charset="0"/>
                  <a:ea typeface="맑은 고딕" panose="020B0503020000020004" pitchFamily="50" charset="-127"/>
                  <a:cs typeface="Arial" pitchFamily="34" charset="0"/>
                </a:endParaRPr>
              </a:p>
            </p:txBody>
          </p:sp>
          <p:sp>
            <p:nvSpPr>
              <p:cNvPr id="172" name="Rectangle 65"/>
              <p:cNvSpPr>
                <a:spLocks noChangeArrowheads="1"/>
              </p:cNvSpPr>
              <p:nvPr/>
            </p:nvSpPr>
            <p:spPr bwMode="auto">
              <a:xfrm>
                <a:off x="5495" y="3347"/>
                <a:ext cx="196" cy="92"/>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73" name="Rectangle 66"/>
              <p:cNvSpPr>
                <a:spLocks noChangeArrowheads="1"/>
              </p:cNvSpPr>
              <p:nvPr/>
            </p:nvSpPr>
            <p:spPr bwMode="auto">
              <a:xfrm>
                <a:off x="5305" y="3253"/>
                <a:ext cx="196" cy="186"/>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74" name="Rectangle 67"/>
              <p:cNvSpPr>
                <a:spLocks noChangeArrowheads="1"/>
              </p:cNvSpPr>
              <p:nvPr/>
            </p:nvSpPr>
            <p:spPr bwMode="auto">
              <a:xfrm>
                <a:off x="5107" y="3158"/>
                <a:ext cx="196" cy="281"/>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75" name="Rectangle 68"/>
              <p:cNvSpPr>
                <a:spLocks noChangeArrowheads="1"/>
              </p:cNvSpPr>
              <p:nvPr/>
            </p:nvSpPr>
            <p:spPr bwMode="auto">
              <a:xfrm>
                <a:off x="4921" y="2836"/>
                <a:ext cx="196" cy="603"/>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76" name="Rectangle 69"/>
              <p:cNvSpPr>
                <a:spLocks noChangeArrowheads="1"/>
              </p:cNvSpPr>
              <p:nvPr/>
            </p:nvSpPr>
            <p:spPr bwMode="auto">
              <a:xfrm>
                <a:off x="4729" y="2740"/>
                <a:ext cx="196" cy="699"/>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77" name="Rectangle 70"/>
              <p:cNvSpPr>
                <a:spLocks noChangeArrowheads="1"/>
              </p:cNvSpPr>
              <p:nvPr/>
            </p:nvSpPr>
            <p:spPr bwMode="auto">
              <a:xfrm>
                <a:off x="4543" y="2602"/>
                <a:ext cx="196" cy="837"/>
              </a:xfrm>
              <a:prstGeom prst="rect">
                <a:avLst/>
              </a:prstGeom>
              <a:gradFill rotWithShape="1">
                <a:gsLst>
                  <a:gs pos="0">
                    <a:schemeClr val="bg2"/>
                  </a:gs>
                  <a:gs pos="50000">
                    <a:srgbClr val="DDDDDD"/>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ea typeface="맑은 고딕" panose="020B0503020000020004" pitchFamily="50" charset="-127"/>
                  <a:cs typeface="Arial" pitchFamily="34" charset="0"/>
                </a:endParaRPr>
              </a:p>
            </p:txBody>
          </p:sp>
          <p:sp>
            <p:nvSpPr>
              <p:cNvPr id="178" name="Rectangle 71"/>
              <p:cNvSpPr>
                <a:spLocks noChangeArrowheads="1"/>
              </p:cNvSpPr>
              <p:nvPr/>
            </p:nvSpPr>
            <p:spPr bwMode="auto">
              <a:xfrm>
                <a:off x="5102" y="2205"/>
                <a:ext cx="450"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ctr" eaLnBrk="1" hangingPunct="1"/>
                <a:r>
                  <a:rPr lang="en-US" altLang="ko-KR" sz="1200" dirty="0">
                    <a:latin typeface="Arial" pitchFamily="34" charset="0"/>
                    <a:ea typeface="맑은 고딕" panose="020B0503020000020004" pitchFamily="50" charset="-127"/>
                    <a:cs typeface="Arial" pitchFamily="34" charset="0"/>
                  </a:rPr>
                  <a:t>Team B</a:t>
                </a:r>
                <a:endParaRPr lang="ko-KR" altLang="en-US" sz="1200" dirty="0">
                  <a:latin typeface="Arial" pitchFamily="34" charset="0"/>
                  <a:ea typeface="맑은 고딕" panose="020B0503020000020004" pitchFamily="50" charset="-127"/>
                  <a:cs typeface="Arial" pitchFamily="34" charset="0"/>
                </a:endParaRPr>
              </a:p>
              <a:p>
                <a:pPr algn="ctr" eaLnBrk="1" hangingPunct="1"/>
                <a:endParaRPr lang="ko-KR" altLang="en-US" sz="1200" dirty="0">
                  <a:latin typeface="Arial" pitchFamily="34" charset="0"/>
                  <a:ea typeface="맑은 고딕" panose="020B0503020000020004" pitchFamily="50" charset="-127"/>
                  <a:cs typeface="Arial" pitchFamily="34" charset="0"/>
                </a:endParaRPr>
              </a:p>
              <a:p>
                <a:pPr algn="ctr" eaLnBrk="1" hangingPunct="1"/>
                <a:r>
                  <a:rPr lang="en-US" altLang="ko-KR" sz="1200" dirty="0">
                    <a:latin typeface="Arial" pitchFamily="34" charset="0"/>
                    <a:ea typeface="맑은 고딕" panose="020B0503020000020004" pitchFamily="50" charset="-127"/>
                    <a:cs typeface="Arial" pitchFamily="34" charset="0"/>
                  </a:rPr>
                  <a:t>n = 128</a:t>
                </a:r>
              </a:p>
            </p:txBody>
          </p:sp>
        </p:grpSp>
      </p:grpSp>
      <p:sp>
        <p:nvSpPr>
          <p:cNvPr id="216" name="AutoShape 72"/>
          <p:cNvSpPr>
            <a:spLocks/>
          </p:cNvSpPr>
          <p:nvPr/>
        </p:nvSpPr>
        <p:spPr bwMode="auto">
          <a:xfrm>
            <a:off x="4710113" y="2388443"/>
            <a:ext cx="725487" cy="2855912"/>
          </a:xfrm>
          <a:prstGeom prst="leftBrace">
            <a:avLst>
              <a:gd name="adj1" fmla="val 82941"/>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ea typeface="맑은 고딕" panose="020B0503020000020004"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122</a:t>
            </a:fld>
            <a:endParaRPr lang="ko-KR" altLang="en-US" dirty="0">
              <a:latin typeface="Arial" pitchFamily="34" charset="0"/>
              <a:cs typeface="Arial" pitchFamily="34" charset="0"/>
            </a:endParaRPr>
          </a:p>
        </p:txBody>
      </p:sp>
      <p:sp>
        <p:nvSpPr>
          <p:cNvPr id="6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6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03173585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86"/>
          <p:cNvSpPr>
            <a:spLocks noChangeArrowheads="1"/>
          </p:cNvSpPr>
          <p:nvPr/>
        </p:nvSpPr>
        <p:spPr bwMode="auto">
          <a:xfrm>
            <a:off x="1102568" y="1925365"/>
            <a:ext cx="7162800" cy="2871787"/>
          </a:xfrm>
          <a:prstGeom prst="roundRect">
            <a:avLst>
              <a:gd name="adj" fmla="val 16667"/>
            </a:avLst>
          </a:prstGeom>
          <a:solidFill>
            <a:schemeClr val="bg1"/>
          </a:solidFill>
          <a:ln w="9525">
            <a:solidFill>
              <a:schemeClr val="tx1"/>
            </a:solidFill>
            <a:round/>
            <a:headEnd/>
            <a:tailEnd/>
          </a:ln>
          <a:effectLst>
            <a:outerShdw dist="107763" dir="2700000" algn="ctr" rotWithShape="0">
              <a:schemeClr val="bg2"/>
            </a:outerShdw>
          </a:effectLst>
        </p:spPr>
        <p:txBody>
          <a:bodyPr wrap="none" anchor="ctr"/>
          <a:lstStyle/>
          <a:p>
            <a:pPr algn="l">
              <a:defRPr/>
            </a:pPr>
            <a:endParaRPr lang="ko-KR" altLang="en-US" sz="1800" b="0">
              <a:latin typeface="Arial" pitchFamily="34" charset="0"/>
              <a:ea typeface="맑은 고딕" panose="020B0503020000020004" pitchFamily="50" charset="-127"/>
              <a:cs typeface="Arial" pitchFamily="34" charset="0"/>
            </a:endParaRPr>
          </a:p>
        </p:txBody>
      </p:sp>
      <p:sp>
        <p:nvSpPr>
          <p:cNvPr id="4" name="Line 87"/>
          <p:cNvSpPr>
            <a:spLocks noChangeShapeType="1"/>
          </p:cNvSpPr>
          <p:nvPr/>
        </p:nvSpPr>
        <p:spPr bwMode="auto">
          <a:xfrm>
            <a:off x="2093168" y="2230165"/>
            <a:ext cx="1587" cy="1981200"/>
          </a:xfrm>
          <a:prstGeom prst="line">
            <a:avLst/>
          </a:prstGeom>
          <a:noFill/>
          <a:ln w="9525">
            <a:solidFill>
              <a:schemeClr val="tx1"/>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5" name="Line 88"/>
          <p:cNvSpPr>
            <a:spLocks noChangeShapeType="1"/>
          </p:cNvSpPr>
          <p:nvPr/>
        </p:nvSpPr>
        <p:spPr bwMode="auto">
          <a:xfrm>
            <a:off x="2093168" y="3754165"/>
            <a:ext cx="1524000" cy="0"/>
          </a:xfrm>
          <a:prstGeom prst="line">
            <a:avLst/>
          </a:prstGeom>
          <a:noFill/>
          <a:ln w="9525">
            <a:solidFill>
              <a:schemeClr val="tx1"/>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6" name="Oval 89"/>
          <p:cNvSpPr>
            <a:spLocks noChangeArrowheads="1"/>
          </p:cNvSpPr>
          <p:nvPr/>
        </p:nvSpPr>
        <p:spPr bwMode="auto">
          <a:xfrm>
            <a:off x="2550368" y="34493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7" name="Oval 90"/>
          <p:cNvSpPr>
            <a:spLocks noChangeArrowheads="1"/>
          </p:cNvSpPr>
          <p:nvPr/>
        </p:nvSpPr>
        <p:spPr bwMode="auto">
          <a:xfrm>
            <a:off x="2321768" y="34493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8" name="Oval 91"/>
          <p:cNvSpPr>
            <a:spLocks noChangeArrowheads="1"/>
          </p:cNvSpPr>
          <p:nvPr/>
        </p:nvSpPr>
        <p:spPr bwMode="auto">
          <a:xfrm>
            <a:off x="2321768" y="32969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9" name="Oval 92"/>
          <p:cNvSpPr>
            <a:spLocks noChangeArrowheads="1"/>
          </p:cNvSpPr>
          <p:nvPr/>
        </p:nvSpPr>
        <p:spPr bwMode="auto">
          <a:xfrm>
            <a:off x="2550368" y="36017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0" name="Oval 93"/>
          <p:cNvSpPr>
            <a:spLocks noChangeArrowheads="1"/>
          </p:cNvSpPr>
          <p:nvPr/>
        </p:nvSpPr>
        <p:spPr bwMode="auto">
          <a:xfrm>
            <a:off x="2702768" y="36017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1" name="Oval 94"/>
          <p:cNvSpPr>
            <a:spLocks noChangeArrowheads="1"/>
          </p:cNvSpPr>
          <p:nvPr/>
        </p:nvSpPr>
        <p:spPr bwMode="auto">
          <a:xfrm>
            <a:off x="2778968" y="34493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2" name="Oval 95"/>
          <p:cNvSpPr>
            <a:spLocks noChangeArrowheads="1"/>
          </p:cNvSpPr>
          <p:nvPr/>
        </p:nvSpPr>
        <p:spPr bwMode="auto">
          <a:xfrm>
            <a:off x="2474168" y="32207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3" name="Oval 96"/>
          <p:cNvSpPr>
            <a:spLocks noChangeArrowheads="1"/>
          </p:cNvSpPr>
          <p:nvPr/>
        </p:nvSpPr>
        <p:spPr bwMode="auto">
          <a:xfrm>
            <a:off x="2397968" y="3144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4" name="Oval 97"/>
          <p:cNvSpPr>
            <a:spLocks noChangeArrowheads="1"/>
          </p:cNvSpPr>
          <p:nvPr/>
        </p:nvSpPr>
        <p:spPr bwMode="auto">
          <a:xfrm>
            <a:off x="2550368" y="3144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5" name="Oval 98"/>
          <p:cNvSpPr>
            <a:spLocks noChangeArrowheads="1"/>
          </p:cNvSpPr>
          <p:nvPr/>
        </p:nvSpPr>
        <p:spPr bwMode="auto">
          <a:xfrm>
            <a:off x="2474168" y="29921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6" name="Oval 99"/>
          <p:cNvSpPr>
            <a:spLocks noChangeArrowheads="1"/>
          </p:cNvSpPr>
          <p:nvPr/>
        </p:nvSpPr>
        <p:spPr bwMode="auto">
          <a:xfrm>
            <a:off x="2702768" y="29159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7" name="Oval 100"/>
          <p:cNvSpPr>
            <a:spLocks noChangeArrowheads="1"/>
          </p:cNvSpPr>
          <p:nvPr/>
        </p:nvSpPr>
        <p:spPr bwMode="auto">
          <a:xfrm>
            <a:off x="2626568" y="28397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8" name="Oval 101"/>
          <p:cNvSpPr>
            <a:spLocks noChangeArrowheads="1"/>
          </p:cNvSpPr>
          <p:nvPr/>
        </p:nvSpPr>
        <p:spPr bwMode="auto">
          <a:xfrm>
            <a:off x="2626568" y="29921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19" name="Oval 102"/>
          <p:cNvSpPr>
            <a:spLocks noChangeArrowheads="1"/>
          </p:cNvSpPr>
          <p:nvPr/>
        </p:nvSpPr>
        <p:spPr bwMode="auto">
          <a:xfrm>
            <a:off x="2855168" y="32207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20" name="Oval 103"/>
          <p:cNvSpPr>
            <a:spLocks noChangeArrowheads="1"/>
          </p:cNvSpPr>
          <p:nvPr/>
        </p:nvSpPr>
        <p:spPr bwMode="auto">
          <a:xfrm>
            <a:off x="3083768" y="32969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21" name="Oval 104"/>
          <p:cNvSpPr>
            <a:spLocks noChangeArrowheads="1"/>
          </p:cNvSpPr>
          <p:nvPr/>
        </p:nvSpPr>
        <p:spPr bwMode="auto">
          <a:xfrm>
            <a:off x="2931368" y="3144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22" name="Oval 105"/>
          <p:cNvSpPr>
            <a:spLocks noChangeArrowheads="1"/>
          </p:cNvSpPr>
          <p:nvPr/>
        </p:nvSpPr>
        <p:spPr bwMode="auto">
          <a:xfrm>
            <a:off x="2778968" y="30683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23" name="Text Box 106"/>
          <p:cNvSpPr txBox="1">
            <a:spLocks noChangeArrowheads="1"/>
          </p:cNvSpPr>
          <p:nvPr/>
        </p:nvSpPr>
        <p:spPr bwMode="auto">
          <a:xfrm>
            <a:off x="1407368" y="2230165"/>
            <a:ext cx="685800" cy="240066"/>
          </a:xfrm>
          <a:prstGeom prst="rect">
            <a:avLst/>
          </a:prstGeom>
          <a:noFill/>
          <a:ln w="9525">
            <a:noFill/>
            <a:miter lim="800000"/>
            <a:headEnd/>
            <a:tailEnd/>
          </a:ln>
        </p:spPr>
        <p:txBody>
          <a:bodyPr wrap="square">
            <a:spAutoFit/>
          </a:bodyPr>
          <a:lstStyle/>
          <a:p>
            <a:pPr>
              <a:lnSpc>
                <a:spcPct val="80000"/>
              </a:lnSpc>
              <a:spcBef>
                <a:spcPct val="50000"/>
              </a:spcBef>
            </a:pPr>
            <a:r>
              <a:rPr lang="en-US" altLang="ko-KR" sz="1200" b="0" dirty="0">
                <a:latin typeface="Arial" pitchFamily="34" charset="0"/>
                <a:ea typeface="맑은 고딕" panose="020B0503020000020004" pitchFamily="50" charset="-127"/>
                <a:cs typeface="Arial" pitchFamily="34" charset="0"/>
              </a:rPr>
              <a:t>Height</a:t>
            </a:r>
            <a:endParaRPr lang="ko-KR" altLang="en-US" sz="1200" b="0" dirty="0">
              <a:latin typeface="Arial" pitchFamily="34" charset="0"/>
              <a:ea typeface="맑은 고딕" panose="020B0503020000020004" pitchFamily="50" charset="-127"/>
              <a:cs typeface="Arial" pitchFamily="34" charset="0"/>
            </a:endParaRPr>
          </a:p>
        </p:txBody>
      </p:sp>
      <p:sp>
        <p:nvSpPr>
          <p:cNvPr id="24" name="Text Box 107"/>
          <p:cNvSpPr txBox="1">
            <a:spLocks noChangeArrowheads="1"/>
          </p:cNvSpPr>
          <p:nvPr/>
        </p:nvSpPr>
        <p:spPr bwMode="auto">
          <a:xfrm>
            <a:off x="3693368" y="3601765"/>
            <a:ext cx="838200" cy="240066"/>
          </a:xfrm>
          <a:prstGeom prst="rect">
            <a:avLst/>
          </a:prstGeom>
          <a:noFill/>
          <a:ln w="9525">
            <a:noFill/>
            <a:miter lim="800000"/>
            <a:headEnd/>
            <a:tailEnd/>
          </a:ln>
        </p:spPr>
        <p:txBody>
          <a:bodyPr wrap="square">
            <a:spAutoFit/>
          </a:bodyPr>
          <a:lstStyle/>
          <a:p>
            <a:pPr algn="l">
              <a:lnSpc>
                <a:spcPct val="80000"/>
              </a:lnSpc>
              <a:spcBef>
                <a:spcPct val="50000"/>
              </a:spcBef>
            </a:pPr>
            <a:r>
              <a:rPr lang="en-US" altLang="ko-KR" sz="1200" b="0" dirty="0">
                <a:latin typeface="Arial" pitchFamily="34" charset="0"/>
                <a:ea typeface="맑은 고딕" panose="020B0503020000020004" pitchFamily="50" charset="-127"/>
                <a:cs typeface="Arial" pitchFamily="34" charset="0"/>
              </a:rPr>
              <a:t>Weight</a:t>
            </a:r>
            <a:endParaRPr lang="ko-KR" altLang="en-US" sz="1200" b="0" dirty="0">
              <a:latin typeface="Arial" pitchFamily="34" charset="0"/>
              <a:ea typeface="맑은 고딕" panose="020B0503020000020004" pitchFamily="50" charset="-127"/>
              <a:cs typeface="Arial" pitchFamily="34" charset="0"/>
            </a:endParaRPr>
          </a:p>
        </p:txBody>
      </p:sp>
      <p:sp>
        <p:nvSpPr>
          <p:cNvPr id="25" name="Text Box 108"/>
          <p:cNvSpPr txBox="1">
            <a:spLocks noChangeArrowheads="1"/>
          </p:cNvSpPr>
          <p:nvPr/>
        </p:nvSpPr>
        <p:spPr bwMode="auto">
          <a:xfrm>
            <a:off x="2093168" y="3830365"/>
            <a:ext cx="2590800" cy="240066"/>
          </a:xfrm>
          <a:prstGeom prst="rect">
            <a:avLst/>
          </a:prstGeom>
          <a:noFill/>
          <a:ln w="9525">
            <a:noFill/>
            <a:miter lim="800000"/>
            <a:headEnd/>
            <a:tailEnd/>
          </a:ln>
        </p:spPr>
        <p:txBody>
          <a:bodyPr wrap="square">
            <a:spAutoFit/>
          </a:bodyPr>
          <a:lstStyle/>
          <a:p>
            <a:pPr algn="l">
              <a:lnSpc>
                <a:spcPct val="80000"/>
              </a:lnSpc>
              <a:spcBef>
                <a:spcPct val="50000"/>
              </a:spcBef>
            </a:pPr>
            <a:r>
              <a:rPr lang="en-US" altLang="ko-KR" sz="1200" b="0" dirty="0" err="1">
                <a:latin typeface="Arial" pitchFamily="34" charset="0"/>
                <a:ea typeface="맑은 고딕" panose="020B0503020000020004" pitchFamily="50" charset="-127"/>
                <a:cs typeface="Arial" pitchFamily="34" charset="0"/>
              </a:rPr>
              <a:t>Chưa</a:t>
            </a:r>
            <a:r>
              <a:rPr lang="en-US" altLang="ko-KR" sz="1200" b="0" dirty="0">
                <a:latin typeface="Arial" pitchFamily="34" charset="0"/>
                <a:ea typeface="맑은 고딕" panose="020B0503020000020004" pitchFamily="50" charset="-127"/>
                <a:cs typeface="Arial" pitchFamily="34" charset="0"/>
              </a:rPr>
              <a:t> </a:t>
            </a:r>
            <a:r>
              <a:rPr lang="en-US" altLang="ko-KR" sz="1200" b="0" dirty="0" err="1">
                <a:latin typeface="Arial" pitchFamily="34" charset="0"/>
                <a:ea typeface="맑은 고딕" panose="020B0503020000020004" pitchFamily="50" charset="-127"/>
                <a:cs typeface="Arial" pitchFamily="34" charset="0"/>
              </a:rPr>
              <a:t>phân</a:t>
            </a:r>
            <a:r>
              <a:rPr lang="en-US" altLang="ko-KR" sz="1200" b="0" dirty="0">
                <a:latin typeface="Arial" pitchFamily="34" charset="0"/>
                <a:ea typeface="맑은 고딕" panose="020B0503020000020004" pitchFamily="50" charset="-127"/>
                <a:cs typeface="Arial" pitchFamily="34" charset="0"/>
              </a:rPr>
              <a:t> </a:t>
            </a:r>
            <a:r>
              <a:rPr lang="en-US" altLang="ko-KR" sz="1200" b="0" dirty="0" err="1">
                <a:latin typeface="Arial" pitchFamily="34" charset="0"/>
                <a:ea typeface="맑은 고딕" panose="020B0503020000020004" pitchFamily="50" charset="-127"/>
                <a:cs typeface="Arial" pitchFamily="34" charset="0"/>
              </a:rPr>
              <a:t>tầng</a:t>
            </a:r>
            <a:r>
              <a:rPr lang="en-US" altLang="ko-KR" sz="1200" b="0" dirty="0">
                <a:latin typeface="Arial" pitchFamily="34" charset="0"/>
                <a:ea typeface="맑은 고딕" panose="020B0503020000020004" pitchFamily="50" charset="-127"/>
                <a:cs typeface="Arial" pitchFamily="34" charset="0"/>
              </a:rPr>
              <a:t> </a:t>
            </a:r>
            <a:r>
              <a:rPr lang="en-US" altLang="ko-KR" sz="1200" b="0" dirty="0" err="1">
                <a:latin typeface="Arial" pitchFamily="34" charset="0"/>
                <a:ea typeface="맑은 고딕" panose="020B0503020000020004" pitchFamily="50" charset="-127"/>
                <a:cs typeface="Arial" pitchFamily="34" charset="0"/>
              </a:rPr>
              <a:t>dữ</a:t>
            </a:r>
            <a:r>
              <a:rPr lang="en-US" altLang="ko-KR" sz="1200" b="0" dirty="0">
                <a:latin typeface="Arial" pitchFamily="34" charset="0"/>
                <a:ea typeface="맑은 고딕" panose="020B0503020000020004" pitchFamily="50" charset="-127"/>
                <a:cs typeface="Arial" pitchFamily="34" charset="0"/>
              </a:rPr>
              <a:t> </a:t>
            </a:r>
            <a:r>
              <a:rPr lang="en-US" altLang="ko-KR" sz="1200" b="0" dirty="0" err="1">
                <a:latin typeface="Arial" pitchFamily="34" charset="0"/>
                <a:ea typeface="맑은 고딕" panose="020B0503020000020004" pitchFamily="50" charset="-127"/>
                <a:cs typeface="Arial" pitchFamily="34" charset="0"/>
              </a:rPr>
              <a:t>liệu</a:t>
            </a:r>
            <a:endParaRPr lang="ko-KR" altLang="en-US" sz="1200" b="0" dirty="0">
              <a:latin typeface="Arial" pitchFamily="34" charset="0"/>
              <a:ea typeface="맑은 고딕" panose="020B0503020000020004" pitchFamily="50" charset="-127"/>
              <a:cs typeface="Arial" pitchFamily="34" charset="0"/>
            </a:endParaRPr>
          </a:p>
        </p:txBody>
      </p:sp>
      <p:sp>
        <p:nvSpPr>
          <p:cNvPr id="26" name="Line 109"/>
          <p:cNvSpPr>
            <a:spLocks noChangeShapeType="1"/>
          </p:cNvSpPr>
          <p:nvPr/>
        </p:nvSpPr>
        <p:spPr bwMode="auto">
          <a:xfrm>
            <a:off x="5141168" y="2230165"/>
            <a:ext cx="1587" cy="1981200"/>
          </a:xfrm>
          <a:prstGeom prst="line">
            <a:avLst/>
          </a:prstGeom>
          <a:noFill/>
          <a:ln w="9525">
            <a:solidFill>
              <a:schemeClr val="tx1"/>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7" name="Line 110"/>
          <p:cNvSpPr>
            <a:spLocks noChangeShapeType="1"/>
          </p:cNvSpPr>
          <p:nvPr/>
        </p:nvSpPr>
        <p:spPr bwMode="auto">
          <a:xfrm>
            <a:off x="5141168" y="3754165"/>
            <a:ext cx="1524000" cy="0"/>
          </a:xfrm>
          <a:prstGeom prst="line">
            <a:avLst/>
          </a:prstGeom>
          <a:noFill/>
          <a:ln w="9525">
            <a:solidFill>
              <a:schemeClr val="tx1"/>
            </a:solidFill>
            <a:round/>
            <a:headEnd/>
            <a:tailEnd/>
          </a:ln>
        </p:spPr>
        <p:txBody>
          <a:bodyPr/>
          <a:lstStyle/>
          <a:p>
            <a:endParaRPr lang="ko-KR" altLang="en-US">
              <a:latin typeface="Arial" pitchFamily="34" charset="0"/>
              <a:ea typeface="맑은 고딕" panose="020B0503020000020004" pitchFamily="50" charset="-127"/>
              <a:cs typeface="Arial" pitchFamily="34" charset="0"/>
            </a:endParaRPr>
          </a:p>
        </p:txBody>
      </p:sp>
      <p:sp>
        <p:nvSpPr>
          <p:cNvPr id="28" name="Text Box 130"/>
          <p:cNvSpPr txBox="1">
            <a:spLocks noChangeArrowheads="1"/>
          </p:cNvSpPr>
          <p:nvPr/>
        </p:nvSpPr>
        <p:spPr bwMode="auto">
          <a:xfrm>
            <a:off x="5141168" y="3830365"/>
            <a:ext cx="2286000" cy="240066"/>
          </a:xfrm>
          <a:prstGeom prst="rect">
            <a:avLst/>
          </a:prstGeom>
          <a:noFill/>
          <a:ln w="9525">
            <a:noFill/>
            <a:miter lim="800000"/>
            <a:headEnd/>
            <a:tailEnd/>
          </a:ln>
        </p:spPr>
        <p:txBody>
          <a:bodyPr>
            <a:spAutoFit/>
          </a:bodyPr>
          <a:lstStyle/>
          <a:p>
            <a:pPr algn="l">
              <a:lnSpc>
                <a:spcPct val="80000"/>
              </a:lnSpc>
              <a:spcBef>
                <a:spcPct val="50000"/>
              </a:spcBef>
            </a:pPr>
            <a:r>
              <a:rPr lang="en-US" altLang="ko-KR" sz="1200" dirty="0" err="1">
                <a:latin typeface="Arial" pitchFamily="34" charset="0"/>
                <a:ea typeface="맑은 고딕" panose="020B0503020000020004" pitchFamily="50" charset="-127"/>
                <a:cs typeface="Arial" pitchFamily="34" charset="0"/>
              </a:rPr>
              <a:t>Đã</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phân</a:t>
            </a:r>
            <a:r>
              <a:rPr lang="en-US" altLang="ko-KR" sz="1200" dirty="0">
                <a:latin typeface="Arial" pitchFamily="34" charset="0"/>
                <a:ea typeface="맑은 고딕" panose="020B0503020000020004" pitchFamily="50" charset="-127"/>
                <a:cs typeface="Arial" pitchFamily="34" charset="0"/>
              </a:rPr>
              <a:t> </a:t>
            </a:r>
            <a:r>
              <a:rPr lang="en-US" altLang="ko-KR" sz="1200" dirty="0" err="1">
                <a:latin typeface="Arial" pitchFamily="34" charset="0"/>
                <a:ea typeface="맑은 고딕" panose="020B0503020000020004" pitchFamily="50" charset="-127"/>
                <a:cs typeface="Arial" pitchFamily="34" charset="0"/>
              </a:rPr>
              <a:t>tầng</a:t>
            </a:r>
            <a:endParaRPr lang="ko-KR" altLang="en-US" sz="1200" b="0" dirty="0">
              <a:latin typeface="Arial" pitchFamily="34" charset="0"/>
              <a:ea typeface="맑은 고딕" panose="020B0503020000020004" pitchFamily="50" charset="-127"/>
              <a:cs typeface="Arial" pitchFamily="34" charset="0"/>
            </a:endParaRPr>
          </a:p>
        </p:txBody>
      </p:sp>
      <p:sp>
        <p:nvSpPr>
          <p:cNvPr id="29" name="Text Box 131"/>
          <p:cNvSpPr txBox="1">
            <a:spLocks noChangeArrowheads="1"/>
          </p:cNvSpPr>
          <p:nvPr/>
        </p:nvSpPr>
        <p:spPr bwMode="auto">
          <a:xfrm>
            <a:off x="4495849" y="2230165"/>
            <a:ext cx="684213" cy="240066"/>
          </a:xfrm>
          <a:prstGeom prst="rect">
            <a:avLst/>
          </a:prstGeom>
          <a:noFill/>
          <a:ln w="9525">
            <a:noFill/>
            <a:miter lim="800000"/>
            <a:headEnd/>
            <a:tailEnd/>
          </a:ln>
        </p:spPr>
        <p:txBody>
          <a:bodyPr wrap="square">
            <a:spAutoFit/>
          </a:bodyPr>
          <a:lstStyle/>
          <a:p>
            <a:pPr>
              <a:lnSpc>
                <a:spcPct val="80000"/>
              </a:lnSpc>
              <a:spcBef>
                <a:spcPct val="50000"/>
              </a:spcBef>
            </a:pPr>
            <a:r>
              <a:rPr lang="en-US" altLang="ko-KR" sz="1200" b="0" dirty="0">
                <a:latin typeface="Arial" pitchFamily="34" charset="0"/>
                <a:ea typeface="맑은 고딕" panose="020B0503020000020004" pitchFamily="50" charset="-127"/>
                <a:cs typeface="Arial" pitchFamily="34" charset="0"/>
              </a:rPr>
              <a:t>Height</a:t>
            </a:r>
            <a:endParaRPr lang="ko-KR" altLang="en-US" sz="1200" b="0" dirty="0">
              <a:latin typeface="Arial" pitchFamily="34" charset="0"/>
              <a:ea typeface="맑은 고딕" panose="020B0503020000020004" pitchFamily="50" charset="-127"/>
              <a:cs typeface="Arial" pitchFamily="34" charset="0"/>
            </a:endParaRPr>
          </a:p>
        </p:txBody>
      </p:sp>
      <p:sp>
        <p:nvSpPr>
          <p:cNvPr id="30" name="Text Box 132"/>
          <p:cNvSpPr txBox="1">
            <a:spLocks noChangeArrowheads="1"/>
          </p:cNvSpPr>
          <p:nvPr/>
        </p:nvSpPr>
        <p:spPr bwMode="auto">
          <a:xfrm>
            <a:off x="6665167" y="3601765"/>
            <a:ext cx="912813" cy="240066"/>
          </a:xfrm>
          <a:prstGeom prst="rect">
            <a:avLst/>
          </a:prstGeom>
          <a:noFill/>
          <a:ln w="9525">
            <a:noFill/>
            <a:miter lim="800000"/>
            <a:headEnd/>
            <a:tailEnd/>
          </a:ln>
        </p:spPr>
        <p:txBody>
          <a:bodyPr wrap="square">
            <a:spAutoFit/>
          </a:bodyPr>
          <a:lstStyle/>
          <a:p>
            <a:pPr algn="l">
              <a:lnSpc>
                <a:spcPct val="80000"/>
              </a:lnSpc>
              <a:spcBef>
                <a:spcPct val="50000"/>
              </a:spcBef>
            </a:pPr>
            <a:r>
              <a:rPr lang="en-US" altLang="ko-KR" sz="1200" b="0" dirty="0">
                <a:latin typeface="Arial" pitchFamily="34" charset="0"/>
                <a:ea typeface="맑은 고딕" panose="020B0503020000020004" pitchFamily="50" charset="-127"/>
                <a:cs typeface="Arial" pitchFamily="34" charset="0"/>
              </a:rPr>
              <a:t>Weight</a:t>
            </a:r>
            <a:endParaRPr lang="ko-KR" altLang="en-US" sz="1200" b="0" dirty="0">
              <a:latin typeface="Arial" pitchFamily="34" charset="0"/>
              <a:ea typeface="맑은 고딕" panose="020B0503020000020004" pitchFamily="50" charset="-127"/>
              <a:cs typeface="Arial" pitchFamily="34" charset="0"/>
            </a:endParaRPr>
          </a:p>
        </p:txBody>
      </p:sp>
      <p:sp>
        <p:nvSpPr>
          <p:cNvPr id="31" name="Rectangle 133"/>
          <p:cNvSpPr>
            <a:spLocks noChangeArrowheads="1"/>
          </p:cNvSpPr>
          <p:nvPr/>
        </p:nvSpPr>
        <p:spPr bwMode="auto">
          <a:xfrm>
            <a:off x="7198568" y="2286571"/>
            <a:ext cx="914400" cy="1189037"/>
          </a:xfrm>
          <a:prstGeom prst="rect">
            <a:avLst/>
          </a:prstGeom>
          <a:solidFill>
            <a:schemeClr val="bg1"/>
          </a:solidFill>
          <a:ln w="9525">
            <a:solidFill>
              <a:schemeClr val="tx1"/>
            </a:solidFill>
            <a:miter lim="800000"/>
            <a:headEnd/>
            <a:tailEnd/>
          </a:ln>
        </p:spPr>
        <p:txBody>
          <a:bodyPr wrap="none" anchor="ctr"/>
          <a:lstStyle/>
          <a:p>
            <a:pPr algn="r">
              <a:lnSpc>
                <a:spcPct val="140000"/>
              </a:lnSpc>
            </a:pPr>
            <a:r>
              <a:rPr lang="en-US" altLang="ko-KR" sz="1200" b="0" dirty="0">
                <a:latin typeface="Arial" pitchFamily="34" charset="0"/>
                <a:ea typeface="맑은 고딕" panose="020B0503020000020004" pitchFamily="50" charset="-127"/>
                <a:cs typeface="Arial" pitchFamily="34" charset="0"/>
              </a:rPr>
              <a:t>Men</a:t>
            </a:r>
            <a:endParaRPr lang="ko-KR" altLang="en-US" sz="1200" b="0" dirty="0">
              <a:latin typeface="Arial" pitchFamily="34" charset="0"/>
              <a:ea typeface="맑은 고딕" panose="020B0503020000020004" pitchFamily="50" charset="-127"/>
              <a:cs typeface="Arial" pitchFamily="34" charset="0"/>
            </a:endParaRPr>
          </a:p>
          <a:p>
            <a:pPr algn="r">
              <a:lnSpc>
                <a:spcPct val="140000"/>
              </a:lnSpc>
            </a:pPr>
            <a:r>
              <a:rPr lang="en-US" altLang="ko-KR" sz="1200" b="0" dirty="0">
                <a:latin typeface="Arial" pitchFamily="34" charset="0"/>
                <a:ea typeface="맑은 고딕" panose="020B0503020000020004" pitchFamily="50" charset="-127"/>
                <a:cs typeface="Arial" pitchFamily="34" charset="0"/>
              </a:rPr>
              <a:t>Women</a:t>
            </a:r>
            <a:endParaRPr lang="ko-KR" altLang="en-US" sz="1200" b="0" dirty="0">
              <a:latin typeface="Arial" pitchFamily="34" charset="0"/>
              <a:ea typeface="맑은 고딕" panose="020B0503020000020004" pitchFamily="50" charset="-127"/>
              <a:cs typeface="Arial" pitchFamily="34" charset="0"/>
            </a:endParaRPr>
          </a:p>
        </p:txBody>
      </p:sp>
      <p:sp>
        <p:nvSpPr>
          <p:cNvPr id="32" name="Oval 134"/>
          <p:cNvSpPr>
            <a:spLocks noChangeArrowheads="1"/>
          </p:cNvSpPr>
          <p:nvPr/>
        </p:nvSpPr>
        <p:spPr bwMode="auto">
          <a:xfrm>
            <a:off x="7350968" y="26873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33" name="Oval 135"/>
          <p:cNvSpPr>
            <a:spLocks noChangeArrowheads="1"/>
          </p:cNvSpPr>
          <p:nvPr/>
        </p:nvSpPr>
        <p:spPr bwMode="auto">
          <a:xfrm>
            <a:off x="7350968" y="29921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34" name="Oval 136"/>
          <p:cNvSpPr>
            <a:spLocks noChangeArrowheads="1"/>
          </p:cNvSpPr>
          <p:nvPr/>
        </p:nvSpPr>
        <p:spPr bwMode="auto">
          <a:xfrm>
            <a:off x="3236168" y="30683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35" name="Oval 137"/>
          <p:cNvSpPr>
            <a:spLocks noChangeArrowheads="1"/>
          </p:cNvSpPr>
          <p:nvPr/>
        </p:nvSpPr>
        <p:spPr bwMode="auto">
          <a:xfrm>
            <a:off x="3312368" y="29159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36" name="Oval 138"/>
          <p:cNvSpPr>
            <a:spLocks noChangeArrowheads="1"/>
          </p:cNvSpPr>
          <p:nvPr/>
        </p:nvSpPr>
        <p:spPr bwMode="auto">
          <a:xfrm>
            <a:off x="3083768" y="29159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37" name="Oval 139"/>
          <p:cNvSpPr>
            <a:spLocks noChangeArrowheads="1"/>
          </p:cNvSpPr>
          <p:nvPr/>
        </p:nvSpPr>
        <p:spPr bwMode="auto">
          <a:xfrm>
            <a:off x="2931368" y="2763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38" name="Oval 140"/>
          <p:cNvSpPr>
            <a:spLocks noChangeArrowheads="1"/>
          </p:cNvSpPr>
          <p:nvPr/>
        </p:nvSpPr>
        <p:spPr bwMode="auto">
          <a:xfrm>
            <a:off x="2778968" y="26111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39" name="Oval 141"/>
          <p:cNvSpPr>
            <a:spLocks noChangeArrowheads="1"/>
          </p:cNvSpPr>
          <p:nvPr/>
        </p:nvSpPr>
        <p:spPr bwMode="auto">
          <a:xfrm>
            <a:off x="3083768" y="2382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0" name="Oval 142"/>
          <p:cNvSpPr>
            <a:spLocks noChangeArrowheads="1"/>
          </p:cNvSpPr>
          <p:nvPr/>
        </p:nvSpPr>
        <p:spPr bwMode="auto">
          <a:xfrm>
            <a:off x="3236168" y="26111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1" name="Oval 143"/>
          <p:cNvSpPr>
            <a:spLocks noChangeArrowheads="1"/>
          </p:cNvSpPr>
          <p:nvPr/>
        </p:nvSpPr>
        <p:spPr bwMode="auto">
          <a:xfrm>
            <a:off x="5598368" y="34493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2" name="Oval 144"/>
          <p:cNvSpPr>
            <a:spLocks noChangeArrowheads="1"/>
          </p:cNvSpPr>
          <p:nvPr/>
        </p:nvSpPr>
        <p:spPr bwMode="auto">
          <a:xfrm>
            <a:off x="5369768" y="34493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3" name="Oval 145"/>
          <p:cNvSpPr>
            <a:spLocks noChangeArrowheads="1"/>
          </p:cNvSpPr>
          <p:nvPr/>
        </p:nvSpPr>
        <p:spPr bwMode="auto">
          <a:xfrm>
            <a:off x="5369768" y="32969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4" name="Oval 146"/>
          <p:cNvSpPr>
            <a:spLocks noChangeArrowheads="1"/>
          </p:cNvSpPr>
          <p:nvPr/>
        </p:nvSpPr>
        <p:spPr bwMode="auto">
          <a:xfrm>
            <a:off x="5598368" y="36017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5" name="Oval 147"/>
          <p:cNvSpPr>
            <a:spLocks noChangeArrowheads="1"/>
          </p:cNvSpPr>
          <p:nvPr/>
        </p:nvSpPr>
        <p:spPr bwMode="auto">
          <a:xfrm>
            <a:off x="5750768" y="36017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6" name="Oval 148"/>
          <p:cNvSpPr>
            <a:spLocks noChangeArrowheads="1"/>
          </p:cNvSpPr>
          <p:nvPr/>
        </p:nvSpPr>
        <p:spPr bwMode="auto">
          <a:xfrm>
            <a:off x="5826968" y="34493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7" name="Oval 149"/>
          <p:cNvSpPr>
            <a:spLocks noChangeArrowheads="1"/>
          </p:cNvSpPr>
          <p:nvPr/>
        </p:nvSpPr>
        <p:spPr bwMode="auto">
          <a:xfrm>
            <a:off x="5522168" y="32207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8" name="Oval 150"/>
          <p:cNvSpPr>
            <a:spLocks noChangeArrowheads="1"/>
          </p:cNvSpPr>
          <p:nvPr/>
        </p:nvSpPr>
        <p:spPr bwMode="auto">
          <a:xfrm>
            <a:off x="5445968" y="3144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49" name="Oval 151"/>
          <p:cNvSpPr>
            <a:spLocks noChangeArrowheads="1"/>
          </p:cNvSpPr>
          <p:nvPr/>
        </p:nvSpPr>
        <p:spPr bwMode="auto">
          <a:xfrm>
            <a:off x="5598368" y="3144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0" name="Oval 152"/>
          <p:cNvSpPr>
            <a:spLocks noChangeArrowheads="1"/>
          </p:cNvSpPr>
          <p:nvPr/>
        </p:nvSpPr>
        <p:spPr bwMode="auto">
          <a:xfrm>
            <a:off x="5522168" y="29921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1" name="Oval 153"/>
          <p:cNvSpPr>
            <a:spLocks noChangeArrowheads="1"/>
          </p:cNvSpPr>
          <p:nvPr/>
        </p:nvSpPr>
        <p:spPr bwMode="auto">
          <a:xfrm>
            <a:off x="5750768" y="29159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2" name="Oval 154"/>
          <p:cNvSpPr>
            <a:spLocks noChangeArrowheads="1"/>
          </p:cNvSpPr>
          <p:nvPr/>
        </p:nvSpPr>
        <p:spPr bwMode="auto">
          <a:xfrm>
            <a:off x="5674568" y="28397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3" name="Oval 155"/>
          <p:cNvSpPr>
            <a:spLocks noChangeArrowheads="1"/>
          </p:cNvSpPr>
          <p:nvPr/>
        </p:nvSpPr>
        <p:spPr bwMode="auto">
          <a:xfrm>
            <a:off x="5674568" y="29921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4" name="Oval 156"/>
          <p:cNvSpPr>
            <a:spLocks noChangeArrowheads="1"/>
          </p:cNvSpPr>
          <p:nvPr/>
        </p:nvSpPr>
        <p:spPr bwMode="auto">
          <a:xfrm>
            <a:off x="5903168" y="32207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5" name="Oval 157"/>
          <p:cNvSpPr>
            <a:spLocks noChangeArrowheads="1"/>
          </p:cNvSpPr>
          <p:nvPr/>
        </p:nvSpPr>
        <p:spPr bwMode="auto">
          <a:xfrm>
            <a:off x="6131768" y="32969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6" name="Oval 158"/>
          <p:cNvSpPr>
            <a:spLocks noChangeArrowheads="1"/>
          </p:cNvSpPr>
          <p:nvPr/>
        </p:nvSpPr>
        <p:spPr bwMode="auto">
          <a:xfrm>
            <a:off x="5979368" y="31445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7" name="Oval 159"/>
          <p:cNvSpPr>
            <a:spLocks noChangeArrowheads="1"/>
          </p:cNvSpPr>
          <p:nvPr/>
        </p:nvSpPr>
        <p:spPr bwMode="auto">
          <a:xfrm>
            <a:off x="5826968" y="30683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8" name="Oval 160"/>
          <p:cNvSpPr>
            <a:spLocks noChangeArrowheads="1"/>
          </p:cNvSpPr>
          <p:nvPr/>
        </p:nvSpPr>
        <p:spPr bwMode="auto">
          <a:xfrm>
            <a:off x="6284168" y="30683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59" name="Oval 161"/>
          <p:cNvSpPr>
            <a:spLocks noChangeArrowheads="1"/>
          </p:cNvSpPr>
          <p:nvPr/>
        </p:nvSpPr>
        <p:spPr bwMode="auto">
          <a:xfrm>
            <a:off x="6360368" y="29159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60" name="Oval 162"/>
          <p:cNvSpPr>
            <a:spLocks noChangeArrowheads="1"/>
          </p:cNvSpPr>
          <p:nvPr/>
        </p:nvSpPr>
        <p:spPr bwMode="auto">
          <a:xfrm>
            <a:off x="6131768" y="29159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61" name="Oval 163"/>
          <p:cNvSpPr>
            <a:spLocks noChangeArrowheads="1"/>
          </p:cNvSpPr>
          <p:nvPr/>
        </p:nvSpPr>
        <p:spPr bwMode="auto">
          <a:xfrm>
            <a:off x="5979368" y="2763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62" name="Oval 164"/>
          <p:cNvSpPr>
            <a:spLocks noChangeArrowheads="1"/>
          </p:cNvSpPr>
          <p:nvPr/>
        </p:nvSpPr>
        <p:spPr bwMode="auto">
          <a:xfrm>
            <a:off x="5826968" y="26111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63" name="Oval 165"/>
          <p:cNvSpPr>
            <a:spLocks noChangeArrowheads="1"/>
          </p:cNvSpPr>
          <p:nvPr/>
        </p:nvSpPr>
        <p:spPr bwMode="auto">
          <a:xfrm>
            <a:off x="6131768" y="2382565"/>
            <a:ext cx="76200" cy="98425"/>
          </a:xfrm>
          <a:prstGeom prst="ellipse">
            <a:avLst/>
          </a:prstGeom>
          <a:solidFill>
            <a:srgbClr val="000000"/>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64" name="Oval 166"/>
          <p:cNvSpPr>
            <a:spLocks noChangeArrowheads="1"/>
          </p:cNvSpPr>
          <p:nvPr/>
        </p:nvSpPr>
        <p:spPr bwMode="auto">
          <a:xfrm>
            <a:off x="6284168" y="2611165"/>
            <a:ext cx="76200" cy="98425"/>
          </a:xfrm>
          <a:prstGeom prst="ellipse">
            <a:avLst/>
          </a:prstGeom>
          <a:solidFill>
            <a:schemeClr val="bg1"/>
          </a:solidFill>
          <a:ln w="9525">
            <a:solidFill>
              <a:schemeClr val="tx1"/>
            </a:solidFill>
            <a:round/>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65" name="AutoShape 167"/>
          <p:cNvSpPr>
            <a:spLocks noChangeArrowheads="1"/>
          </p:cNvSpPr>
          <p:nvPr/>
        </p:nvSpPr>
        <p:spPr bwMode="auto">
          <a:xfrm>
            <a:off x="4302968" y="2611165"/>
            <a:ext cx="381000" cy="1089025"/>
          </a:xfrm>
          <a:prstGeom prst="rightArrow">
            <a:avLst>
              <a:gd name="adj1" fmla="val 50000"/>
              <a:gd name="adj2" fmla="val 36111"/>
            </a:avLst>
          </a:prstGeom>
          <a:solidFill>
            <a:schemeClr val="bg1"/>
          </a:solidFill>
          <a:ln w="9525">
            <a:solidFill>
              <a:schemeClr val="tx1"/>
            </a:solidFill>
            <a:miter lim="800000"/>
            <a:headEnd/>
            <a:tailEnd/>
          </a:ln>
        </p:spPr>
        <p:txBody>
          <a:bodyPr wrap="none" anchor="ctr"/>
          <a:lstStyle/>
          <a:p>
            <a:pPr algn="l"/>
            <a:endParaRPr lang="ko-KR" altLang="en-US" sz="1800" b="0">
              <a:latin typeface="Arial" pitchFamily="34" charset="0"/>
              <a:ea typeface="맑은 고딕" panose="020B0503020000020004"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123</a:t>
            </a:fld>
            <a:endParaRPr lang="ko-KR" altLang="en-US" dirty="0">
              <a:latin typeface="Arial" pitchFamily="34" charset="0"/>
              <a:cs typeface="Arial" pitchFamily="34" charset="0"/>
            </a:endParaRPr>
          </a:p>
        </p:txBody>
      </p:sp>
      <p:sp>
        <p:nvSpPr>
          <p:cNvPr id="70"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ko-KR" altLang="en-US" sz="2000" b="1" dirty="0">
              <a:latin typeface="Arial" pitchFamily="34" charset="0"/>
              <a:ea typeface="맑은 고딕" pitchFamily="50" charset="-127"/>
              <a:cs typeface="Arial" pitchFamily="34" charset="0"/>
            </a:endParaRPr>
          </a:p>
        </p:txBody>
      </p:sp>
      <p:sp>
        <p:nvSpPr>
          <p:cNvPr id="71"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33894516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61" name="TextBox 2"/>
          <p:cNvSpPr txBox="1">
            <a:spLocks noChangeArrowheads="1"/>
          </p:cNvSpPr>
          <p:nvPr/>
        </p:nvSpPr>
        <p:spPr bwMode="auto">
          <a:xfrm>
            <a:off x="3711142" y="2924944"/>
            <a:ext cx="2538002"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err="1">
                <a:latin typeface="맑은 고딕" pitchFamily="50" charset="-127"/>
                <a:ea typeface="맑은 고딕" pitchFamily="50" charset="-127"/>
              </a:rPr>
              <a:t>Thực</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hành</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và</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thảo</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luận</a:t>
            </a:r>
            <a:endParaRPr lang="ko-KR" altLang="en-US" sz="16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124</a:t>
            </a:fld>
            <a:endParaRPr lang="ko-KR" altLang="en-US" dirty="0"/>
          </a:p>
        </p:txBody>
      </p:sp>
      <p:sp>
        <p:nvSpPr>
          <p:cNvPr id="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
        <p:nvSpPr>
          <p:cNvPr id="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
        <p:nvSpPr>
          <p:cNvPr id="9" name="Isosceles Triangle 8"/>
          <p:cNvSpPr/>
          <p:nvPr/>
        </p:nvSpPr>
        <p:spPr>
          <a:xfrm rot="5400000">
            <a:off x="3384936" y="2978026"/>
            <a:ext cx="288032" cy="288032"/>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8137300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Text Box 7"/>
          <p:cNvSpPr txBox="1">
            <a:spLocks noChangeArrowheads="1"/>
          </p:cNvSpPr>
          <p:nvPr/>
        </p:nvSpPr>
        <p:spPr bwMode="auto">
          <a:xfrm>
            <a:off x="1784351" y="981075"/>
            <a:ext cx="74171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kumimoji="0" lang="en-US" altLang="ko-KR" sz="1400" dirty="0">
                <a:latin typeface="Arial" pitchFamily="34" charset="0"/>
                <a:ea typeface="맑은 고딕" pitchFamily="50" charset="-127"/>
                <a:cs typeface="Arial" pitchFamily="34" charset="0"/>
              </a:rPr>
              <a:t>1) </a:t>
            </a:r>
            <a:r>
              <a:rPr kumimoji="0" lang="ko-KR" altLang="en-US"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Kiểm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kết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quả</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của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 qua </a:t>
            </a:r>
            <a:r>
              <a:rPr kumimoji="0" lang="en-US" altLang="ko-KR" sz="1400" dirty="0" err="1">
                <a:latin typeface="Arial" pitchFamily="34" charset="0"/>
                <a:ea typeface="맑은 고딕" pitchFamily="50" charset="-127"/>
                <a:cs typeface="Arial" pitchFamily="34" charset="0"/>
              </a:rPr>
              <a:t>quá</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trình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dựa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tố</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khác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nhau</a:t>
            </a:r>
            <a:r>
              <a:rPr kumimoji="0" lang="en-US" altLang="ko-KR" sz="1400" dirty="0">
                <a:latin typeface="Arial" pitchFamily="34" charset="0"/>
                <a:ea typeface="맑은 고딕" pitchFamily="50" charset="-127"/>
                <a:cs typeface="Arial" pitchFamily="34" charset="0"/>
              </a:rPr>
              <a:t>.</a:t>
            </a:r>
          </a:p>
        </p:txBody>
      </p:sp>
      <p:sp>
        <p:nvSpPr>
          <p:cNvPr id="148483" name="Text Box 7"/>
          <p:cNvSpPr txBox="1">
            <a:spLocks noChangeArrowheads="1"/>
          </p:cNvSpPr>
          <p:nvPr/>
        </p:nvSpPr>
        <p:spPr bwMode="auto">
          <a:xfrm>
            <a:off x="1784350" y="1465620"/>
            <a:ext cx="74171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282575" indent="-282575" algn="just" eaLnBrk="1" hangingPunct="1">
              <a:buFontTx/>
              <a:buAutoNum type="arabicParenR" startAt="2"/>
            </a:pP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tầng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chất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lượng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thành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nhiều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nhóm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dựa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tố</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nguyên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động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đến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a:t>
            </a:r>
          </a:p>
        </p:txBody>
      </p:sp>
      <p:sp>
        <p:nvSpPr>
          <p:cNvPr id="148484" name="Text Box 7"/>
          <p:cNvSpPr txBox="1">
            <a:spLocks noChangeArrowheads="1"/>
          </p:cNvSpPr>
          <p:nvPr/>
        </p:nvSpPr>
        <p:spPr bwMode="auto">
          <a:xfrm>
            <a:off x="2144712" y="1951038"/>
            <a:ext cx="734479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kumimoji="0" lang="ko-KR" altLang="en-US" sz="1200" dirty="0">
                <a:latin typeface="Arial" pitchFamily="34" charset="0"/>
                <a:ea typeface="맑은 고딕" pitchFamily="50" charset="-127"/>
                <a:cs typeface="Arial" pitchFamily="34" charset="0"/>
              </a:rPr>
              <a:t>   </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Nếu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chất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lượng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thay</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đổi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theo</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thời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gian</a:t>
            </a:r>
            <a:r>
              <a:rPr kumimoji="0" lang="ko-KR" altLang="en-US" sz="1200" dirty="0">
                <a:latin typeface="Arial" pitchFamily="34" charset="0"/>
                <a:ea typeface="맑은 고딕" pitchFamily="50" charset="-127"/>
                <a:cs typeface="Arial" pitchFamily="34" charset="0"/>
              </a:rPr>
              <a:t> </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phân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tầng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theo</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thời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gian</a:t>
            </a:r>
            <a:endParaRPr kumimoji="0" lang="ko-KR" altLang="en-US" sz="1200" dirty="0">
              <a:latin typeface="Arial" pitchFamily="34" charset="0"/>
              <a:ea typeface="맑은 고딕" pitchFamily="50" charset="-127"/>
              <a:cs typeface="Arial" pitchFamily="34" charset="0"/>
            </a:endParaRPr>
          </a:p>
          <a:p>
            <a:pPr algn="just" eaLnBrk="1" hangingPunct="1"/>
            <a:r>
              <a:rPr kumimoji="0" lang="ko-KR" altLang="en-US" sz="1200" dirty="0">
                <a:latin typeface="Arial" pitchFamily="34" charset="0"/>
                <a:ea typeface="맑은 고딕" pitchFamily="50" charset="-127"/>
                <a:cs typeface="Arial" pitchFamily="34" charset="0"/>
              </a:rPr>
              <a:t>   </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Nếu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chất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lượng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thay</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đổi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theo</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công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việc</a:t>
            </a:r>
            <a:r>
              <a:rPr kumimoji="0" lang="en-US" altLang="ko-KR" sz="1200" dirty="0">
                <a:latin typeface="Arial" pitchFamily="34" charset="0"/>
                <a:ea typeface="맑은 고딕" pitchFamily="50" charset="-127"/>
                <a:cs typeface="Arial" pitchFamily="34" charset="0"/>
              </a:rPr>
              <a:t>………………</a:t>
            </a:r>
            <a:r>
              <a:rPr kumimoji="0" lang="en-US" altLang="ko-KR" sz="1200" dirty="0" err="1">
                <a:latin typeface="Arial" pitchFamily="34" charset="0"/>
                <a:ea typeface="맑은 고딕" pitchFamily="50" charset="-127"/>
                <a:cs typeface="Arial" pitchFamily="34" charset="0"/>
              </a:rPr>
              <a:t>phân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tầng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theo</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nhân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công</a:t>
            </a:r>
            <a:endParaRPr kumimoji="0" lang="ko-KR" altLang="en-US" sz="1200" dirty="0">
              <a:latin typeface="Arial" pitchFamily="34" charset="0"/>
              <a:ea typeface="맑은 고딕" pitchFamily="50" charset="-127"/>
              <a:cs typeface="Arial" pitchFamily="34" charset="0"/>
            </a:endParaRPr>
          </a:p>
          <a:p>
            <a:pPr algn="just" eaLnBrk="1" hangingPunct="1"/>
            <a:r>
              <a:rPr kumimoji="0" lang="ko-KR" altLang="en-US" sz="1200" dirty="0">
                <a:latin typeface="Arial" pitchFamily="34" charset="0"/>
                <a:ea typeface="맑은 고딕" pitchFamily="50" charset="-127"/>
                <a:cs typeface="Arial" pitchFamily="34" charset="0"/>
              </a:rPr>
              <a:t>   </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Nếu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chất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lượng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thay</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đổi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theo</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máy</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móc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phân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tầng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theo</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máy</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móc</a:t>
            </a:r>
            <a:endParaRPr kumimoji="0" lang="ko-KR" altLang="en-US" sz="1200" dirty="0">
              <a:latin typeface="Arial" pitchFamily="34" charset="0"/>
              <a:ea typeface="맑은 고딕" pitchFamily="50" charset="-127"/>
              <a:cs typeface="Arial" pitchFamily="34" charset="0"/>
            </a:endParaRPr>
          </a:p>
        </p:txBody>
      </p:sp>
      <p:sp>
        <p:nvSpPr>
          <p:cNvPr id="148485" name="Text Box 7"/>
          <p:cNvSpPr txBox="1">
            <a:spLocks noChangeArrowheads="1"/>
          </p:cNvSpPr>
          <p:nvPr/>
        </p:nvSpPr>
        <p:spPr bwMode="auto">
          <a:xfrm>
            <a:off x="1784648" y="2780928"/>
            <a:ext cx="6515823"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algn="just" eaLnBrk="1" hangingPunct="1">
              <a:spcBef>
                <a:spcPts val="1200"/>
              </a:spcBef>
              <a:buFont typeface="맑은 고딕" pitchFamily="50" charset="-127"/>
              <a:buAutoNum type="arabicParenR" startAt="3"/>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phải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tồn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tại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tương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ứng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với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tố</a:t>
            </a:r>
            <a:r>
              <a:rPr kumimoji="0" lang="en-US" altLang="ko-KR" sz="1400" dirty="0">
                <a:latin typeface="Arial" pitchFamily="34" charset="0"/>
                <a:ea typeface="맑은 고딕" pitchFamily="50" charset="-127"/>
                <a:cs typeface="Arial" pitchFamily="34" charset="0"/>
              </a:rPr>
              <a:t>. </a:t>
            </a:r>
          </a:p>
          <a:p>
            <a:pPr marL="0" indent="0" algn="just" eaLnBrk="1" hangingPunct="1">
              <a:spcBef>
                <a:spcPts val="1200"/>
              </a:spcBef>
              <a:buFont typeface="맑은 고딕" pitchFamily="50" charset="-127"/>
              <a:buAutoNum type="arabicParenR" startAt="3"/>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Để</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thực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hiện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tầng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dựa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tố</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khác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nhau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có</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bản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ghi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của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tương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đương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với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chất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lượng</a:t>
            </a:r>
            <a:endParaRPr kumimoji="0" lang="en-US" altLang="ko-KR" sz="1400" dirty="0">
              <a:latin typeface="Arial" pitchFamily="34" charset="0"/>
              <a:ea typeface="맑은 고딕" pitchFamily="50" charset="-127"/>
              <a:cs typeface="Arial" pitchFamily="34" charset="0"/>
            </a:endParaRPr>
          </a:p>
          <a:p>
            <a:pPr marL="0" indent="0" algn="just" eaLnBrk="1" hangingPunct="1">
              <a:spcBef>
                <a:spcPts val="1200"/>
              </a:spcBef>
              <a:buFont typeface="맑은 고딕" pitchFamily="50" charset="-127"/>
              <a:buAutoNum type="arabicParenR" startAt="5"/>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Sự</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chất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lượng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chức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theo</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cùng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một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phương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pháp</a:t>
            </a:r>
            <a:r>
              <a:rPr kumimoji="0" lang="en-US" altLang="ko-KR" sz="1400" dirty="0">
                <a:latin typeface="Arial" pitchFamily="34" charset="0"/>
                <a:ea typeface="맑은 고딕" pitchFamily="50" charset="-127"/>
                <a:cs typeface="Arial" pitchFamily="34" charset="0"/>
              </a:rPr>
              <a:t>. </a:t>
            </a:r>
          </a:p>
          <a:p>
            <a:pPr marL="0" indent="0" algn="just" eaLnBrk="1" hangingPunct="1">
              <a:spcBef>
                <a:spcPts val="1200"/>
              </a:spcBef>
              <a:buFont typeface="맑은 고딕" pitchFamily="50" charset="-127"/>
              <a:buAutoNum type="arabicParenR" startAt="5"/>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Chất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lượng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thể</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hiện</a:t>
            </a:r>
            <a:r>
              <a:rPr kumimoji="0" lang="en-US" altLang="ko-KR" sz="1400" dirty="0">
                <a:latin typeface="Arial" pitchFamily="34" charset="0"/>
                <a:ea typeface="맑은 고딕" pitchFamily="50" charset="-127"/>
                <a:cs typeface="Arial" pitchFamily="34" charset="0"/>
              </a:rPr>
              <a:t> qua </a:t>
            </a:r>
            <a:r>
              <a:rPr kumimoji="0" lang="en-US" altLang="ko-KR" sz="1400" dirty="0" err="1">
                <a:latin typeface="Arial" pitchFamily="34" charset="0"/>
                <a:ea typeface="맑은 고딕" pitchFamily="50" charset="-127"/>
                <a:cs typeface="Arial" pitchFamily="34" charset="0"/>
              </a:rPr>
              <a:t>đường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Loại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này</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duy</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trì</a:t>
            </a:r>
            <a:r>
              <a:rPr kumimoji="0" lang="en-US" altLang="ko-KR" sz="1400" dirty="0">
                <a:latin typeface="Arial" pitchFamily="34" charset="0"/>
                <a:ea typeface="맑은 고딕" pitchFamily="50" charset="-127"/>
                <a:cs typeface="Arial" pitchFamily="34" charset="0"/>
              </a:rPr>
              <a:t> ở </a:t>
            </a:r>
            <a:r>
              <a:rPr kumimoji="0" lang="en-US" altLang="ko-KR" sz="1400" dirty="0" err="1">
                <a:latin typeface="Arial" pitchFamily="34" charset="0"/>
                <a:ea typeface="맑은 고딕" pitchFamily="50" charset="-127"/>
                <a:cs typeface="Arial" pitchFamily="34" charset="0"/>
              </a:rPr>
              <a:t>dạng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dễ</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dàng</a:t>
            </a:r>
            <a:r>
              <a:rPr kumimoji="0" lang="en-US" altLang="ko-KR" sz="1400" dirty="0">
                <a:latin typeface="Arial" pitchFamily="34" charset="0"/>
                <a:ea typeface="맑은 고딕" pitchFamily="50" charset="-127"/>
                <a:cs typeface="Arial" pitchFamily="34" charset="0"/>
              </a:rPr>
              <a:t> so </a:t>
            </a:r>
            <a:r>
              <a:rPr kumimoji="0" lang="en-US" altLang="ko-KR" sz="1400" dirty="0" err="1">
                <a:latin typeface="Arial" pitchFamily="34" charset="0"/>
                <a:ea typeface="맑은 고딕" pitchFamily="50" charset="-127"/>
                <a:cs typeface="Arial" pitchFamily="34" charset="0"/>
              </a:rPr>
              <a:t>sánh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Nếu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không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lợi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ích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của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việc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tầng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sẽ</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không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thể</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hiện</a:t>
            </a:r>
            <a:r>
              <a:rPr kumimoji="0" lang="en-US" altLang="ko-KR" sz="1400" dirty="0">
                <a:latin typeface="Arial" pitchFamily="34" charset="0"/>
                <a:ea typeface="맑은 고딕" pitchFamily="50" charset="-127"/>
                <a:cs typeface="Arial" pitchFamily="34" charset="0"/>
              </a:rPr>
              <a:t>. </a:t>
            </a:r>
          </a:p>
        </p:txBody>
      </p:sp>
      <p:sp>
        <p:nvSpPr>
          <p:cNvPr id="148486" name="Text Box 7"/>
          <p:cNvSpPr txBox="1">
            <a:spLocks noChangeArrowheads="1"/>
          </p:cNvSpPr>
          <p:nvPr/>
        </p:nvSpPr>
        <p:spPr bwMode="auto">
          <a:xfrm>
            <a:off x="1784648" y="4856643"/>
            <a:ext cx="402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dirty="0">
                <a:latin typeface="Arial" pitchFamily="34" charset="0"/>
                <a:ea typeface="맑은 고딕" pitchFamily="50" charset="-127"/>
                <a:cs typeface="Arial" pitchFamily="34" charset="0"/>
              </a:rPr>
              <a:t>7)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chức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theo</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sau</a:t>
            </a:r>
            <a:r>
              <a:rPr kumimoji="0" lang="en-US" altLang="ko-KR" sz="1400" dirty="0">
                <a:latin typeface="Arial" pitchFamily="34" charset="0"/>
                <a:ea typeface="맑은 고딕" pitchFamily="50" charset="-127"/>
                <a:cs typeface="Arial" pitchFamily="34" charset="0"/>
              </a:rPr>
              <a:t>:</a:t>
            </a:r>
          </a:p>
        </p:txBody>
      </p:sp>
      <p:sp>
        <p:nvSpPr>
          <p:cNvPr id="148487" name="Text Box 7"/>
          <p:cNvSpPr txBox="1">
            <a:spLocks noChangeArrowheads="1"/>
          </p:cNvSpPr>
          <p:nvPr/>
        </p:nvSpPr>
        <p:spPr bwMode="auto">
          <a:xfrm>
            <a:off x="1928664" y="5098305"/>
            <a:ext cx="7200900"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ko-KR" altLang="en-US" sz="1400" dirty="0">
                <a:latin typeface="Arial" pitchFamily="34" charset="0"/>
                <a:ea typeface="맑은 고딕" pitchFamily="50" charset="-127"/>
                <a:cs typeface="Arial" pitchFamily="34" charset="0"/>
              </a:rPr>
              <a:t>   </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Sử</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dụng</a:t>
            </a:r>
            <a:r>
              <a:rPr kumimoji="0" lang="en-US" altLang="ko-KR" sz="1400" dirty="0">
                <a:latin typeface="Arial" pitchFamily="34" charset="0"/>
                <a:ea typeface="맑은 고딕" pitchFamily="50" charset="-127"/>
                <a:cs typeface="Arial" pitchFamily="34" charset="0"/>
              </a:rPr>
              <a:t> histogram </a:t>
            </a:r>
            <a:r>
              <a:rPr kumimoji="0" lang="en-US" altLang="ko-KR" sz="1400" dirty="0" err="1">
                <a:latin typeface="Arial" pitchFamily="34" charset="0"/>
                <a:ea typeface="맑은 고딕" pitchFamily="50" charset="-127"/>
                <a:cs typeface="Arial" pitchFamily="34" charset="0"/>
              </a:rPr>
              <a:t>hoặc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bảng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bổ</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suất</a:t>
            </a:r>
            <a:r>
              <a:rPr kumimoji="0" lang="en-US" altLang="ko-KR" sz="1400" dirty="0">
                <a:latin typeface="Arial" pitchFamily="34" charset="0"/>
                <a:ea typeface="맑은 고딕" pitchFamily="50" charset="-127"/>
                <a:cs typeface="Arial" pitchFamily="34" charset="0"/>
              </a:rPr>
              <a:t>.</a:t>
            </a:r>
          </a:p>
          <a:p>
            <a:pPr eaLnBrk="1" hangingPunct="1"/>
            <a:r>
              <a:rPr kumimoji="0" lang="en-US" altLang="ko-KR" sz="1400" dirty="0">
                <a:latin typeface="Arial" pitchFamily="34" charset="0"/>
                <a:ea typeface="맑은 고딕" pitchFamily="50" charset="-127"/>
                <a:cs typeface="Arial" pitchFamily="34" charset="0"/>
              </a:rPr>
              <a:t>   - </a:t>
            </a:r>
            <a:r>
              <a:rPr kumimoji="0" lang="en-US" altLang="ko-KR" sz="1400" dirty="0" err="1">
                <a:latin typeface="Arial" pitchFamily="34" charset="0"/>
                <a:ea typeface="맑은 고딕" pitchFamily="50" charset="-127"/>
                <a:cs typeface="Arial" pitchFamily="34" charset="0"/>
              </a:rPr>
              <a:t>Trình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bày</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bằng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sử</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dụng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độ</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lệch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chuẩn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và</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giá</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trị</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trung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bình</a:t>
            </a:r>
            <a:r>
              <a:rPr kumimoji="0" lang="en-US" altLang="ko-KR" sz="1400" dirty="0">
                <a:latin typeface="Arial" pitchFamily="34" charset="0"/>
                <a:ea typeface="맑은 고딕" pitchFamily="50" charset="-127"/>
                <a:cs typeface="Arial" pitchFamily="34" charset="0"/>
              </a:rPr>
              <a:t>. </a:t>
            </a:r>
          </a:p>
          <a:p>
            <a:pPr eaLnBrk="1" hangingPunct="1"/>
            <a:r>
              <a:rPr kumimoji="0" lang="en-US" altLang="ko-KR" sz="1400" dirty="0">
                <a:latin typeface="Arial" pitchFamily="34" charset="0"/>
                <a:ea typeface="맑은 고딕" pitchFamily="50" charset="-127"/>
                <a:cs typeface="Arial" pitchFamily="34" charset="0"/>
              </a:rPr>
              <a:t>   - </a:t>
            </a:r>
            <a:r>
              <a:rPr kumimoji="0" lang="en-US" altLang="ko-KR" sz="1400" dirty="0" err="1">
                <a:latin typeface="Arial" pitchFamily="34" charset="0"/>
                <a:ea typeface="맑은 고딕" pitchFamily="50" charset="-127"/>
                <a:cs typeface="Arial" pitchFamily="34" charset="0"/>
              </a:rPr>
              <a:t>Trình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bày</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sử</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dụng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biểu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đồ</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kiểm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soát</a:t>
            </a:r>
            <a:r>
              <a:rPr kumimoji="0" lang="en-US" altLang="ko-KR" sz="1400" dirty="0">
                <a:latin typeface="Arial" pitchFamily="34" charset="0"/>
                <a:ea typeface="맑은 고딕" pitchFamily="50" charset="-127"/>
                <a:cs typeface="Arial" pitchFamily="34" charset="0"/>
              </a:rPr>
              <a:t>. </a:t>
            </a:r>
          </a:p>
          <a:p>
            <a:pPr eaLnBrk="1" hangingPunct="1"/>
            <a:r>
              <a:rPr kumimoji="0" lang="en-US" altLang="ko-KR" sz="1400" dirty="0">
                <a:latin typeface="Arial" pitchFamily="34" charset="0"/>
                <a:ea typeface="맑은 고딕" pitchFamily="50" charset="-127"/>
                <a:cs typeface="Arial" pitchFamily="34" charset="0"/>
              </a:rPr>
              <a:t>   </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Trong</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các</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phương</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pháp</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sử</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dụng</a:t>
            </a:r>
            <a:r>
              <a:rPr kumimoji="0" lang="en-US" altLang="ko-KR" sz="1400" dirty="0">
                <a:solidFill>
                  <a:srgbClr val="0000CC"/>
                </a:solidFill>
                <a:latin typeface="Arial" pitchFamily="34" charset="0"/>
                <a:ea typeface="맑은 고딕" pitchFamily="50" charset="-127"/>
                <a:cs typeface="Arial" pitchFamily="34" charset="0"/>
              </a:rPr>
              <a:t>, histogram </a:t>
            </a:r>
            <a:r>
              <a:rPr kumimoji="0" lang="en-US" altLang="ko-KR" sz="1400" dirty="0" err="1">
                <a:solidFill>
                  <a:srgbClr val="0000CC"/>
                </a:solidFill>
                <a:latin typeface="Arial" pitchFamily="34" charset="0"/>
                <a:ea typeface="맑은 고딕" pitchFamily="50" charset="-127"/>
                <a:cs typeface="Arial" pitchFamily="34" charset="0"/>
              </a:rPr>
              <a:t>là</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đơn</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giản</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dễ</a:t>
            </a:r>
            <a:r>
              <a:rPr kumimoji="0" lang="en-US" altLang="ko-KR" sz="1400" dirty="0">
                <a:solidFill>
                  <a:srgbClr val="0000CC"/>
                </a:solidFill>
                <a:latin typeface="Arial" pitchFamily="34" charset="0"/>
                <a:ea typeface="맑은 고딕" pitchFamily="50" charset="-127"/>
                <a:cs typeface="Arial" pitchFamily="34" charset="0"/>
              </a:rPr>
              <a:t> </a:t>
            </a:r>
            <a:r>
              <a:rPr kumimoji="0" lang="en-US" altLang="ko-KR" sz="1400" dirty="0" err="1">
                <a:solidFill>
                  <a:srgbClr val="0000CC"/>
                </a:solidFill>
                <a:latin typeface="Arial" pitchFamily="34" charset="0"/>
                <a:ea typeface="맑은 고딕" pitchFamily="50" charset="-127"/>
                <a:cs typeface="Arial" pitchFamily="34" charset="0"/>
              </a:rPr>
              <a:t>nhất</a:t>
            </a:r>
            <a:r>
              <a:rPr kumimoji="0" lang="en-US" altLang="ko-KR" sz="1400" dirty="0">
                <a:solidFill>
                  <a:srgbClr val="0000CC"/>
                </a:solidFill>
                <a:latin typeface="Arial" pitchFamily="34" charset="0"/>
                <a:ea typeface="맑은 고딕" pitchFamily="50" charset="-127"/>
                <a:cs typeface="Arial" pitchFamily="34" charset="0"/>
              </a:rPr>
              <a:t>. </a:t>
            </a:r>
            <a:endParaRPr kumimoji="0" lang="en-US" altLang="ko-KR" sz="1400" dirty="0">
              <a:latin typeface="Arial" pitchFamily="34" charset="0"/>
              <a:ea typeface="맑은 고딕" pitchFamily="50" charset="-127"/>
              <a:cs typeface="Arial" pitchFamily="34" charset="0"/>
            </a:endParaRPr>
          </a:p>
          <a:p>
            <a:pPr eaLnBrk="1" hangingPunct="1"/>
            <a:r>
              <a:rPr kumimoji="0" lang="ko-KR" altLang="en-US" sz="1400" dirty="0">
                <a:latin typeface="Arial" pitchFamily="34" charset="0"/>
                <a:ea typeface="맑은 고딕" pitchFamily="50" charset="-127"/>
                <a:cs typeface="Arial" pitchFamily="34" charset="0"/>
              </a:rPr>
              <a:t> </a:t>
            </a:r>
          </a:p>
        </p:txBody>
      </p:sp>
      <p:sp>
        <p:nvSpPr>
          <p:cNvPr id="148490" name="타원 9"/>
          <p:cNvSpPr>
            <a:spLocks noChangeArrowheads="1"/>
          </p:cNvSpPr>
          <p:nvPr/>
        </p:nvSpPr>
        <p:spPr bwMode="auto">
          <a:xfrm>
            <a:off x="488950" y="981075"/>
            <a:ext cx="1079500" cy="1079500"/>
          </a:xfrm>
          <a:prstGeom prst="ellipse">
            <a:avLst/>
          </a:prstGeom>
          <a:noFill/>
          <a:ln w="9525" algn="ctr">
            <a:solidFill>
              <a:schemeClr val="tx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cs typeface="Arial" pitchFamily="34" charset="0"/>
            </a:endParaRPr>
          </a:p>
        </p:txBody>
      </p:sp>
      <p:sp>
        <p:nvSpPr>
          <p:cNvPr id="148491" name="TextBox 10"/>
          <p:cNvSpPr txBox="1">
            <a:spLocks noChangeArrowheads="1"/>
          </p:cNvSpPr>
          <p:nvPr/>
        </p:nvSpPr>
        <p:spPr bwMode="auto">
          <a:xfrm>
            <a:off x="704528" y="1373385"/>
            <a:ext cx="6815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latin typeface="Arial" pitchFamily="34" charset="0"/>
                <a:ea typeface="맑은 고딕" pitchFamily="50" charset="-127"/>
                <a:cs typeface="Arial" pitchFamily="34" charset="0"/>
              </a:rPr>
              <a:t>Chú</a:t>
            </a:r>
            <a:r>
              <a:rPr lang="en-US" altLang="ko-KR" sz="1400" b="1" dirty="0">
                <a:latin typeface="Arial" pitchFamily="34" charset="0"/>
                <a:ea typeface="맑은 고딕" pitchFamily="50" charset="-127"/>
                <a:cs typeface="Arial" pitchFamily="34" charset="0"/>
              </a:rPr>
              <a:t> ý</a:t>
            </a:r>
            <a:endParaRPr lang="ko-KR" altLang="en-US" sz="14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125</a:t>
            </a:fld>
            <a:endParaRPr lang="ko-KR" altLang="en-US" dirty="0">
              <a:latin typeface="Arial" pitchFamily="34" charset="0"/>
              <a:cs typeface="Arial" pitchFamily="34" charset="0"/>
            </a:endParaRPr>
          </a:p>
        </p:txBody>
      </p:sp>
      <p:sp>
        <p:nvSpPr>
          <p:cNvPr id="15"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6. </a:t>
            </a:r>
            <a:r>
              <a:rPr lang="en-US" altLang="ko-KR" sz="2000" b="1" dirty="0" err="1">
                <a:latin typeface="Arial" pitchFamily="34" charset="0"/>
                <a:ea typeface="맑은 고딕" pitchFamily="50" charset="-127"/>
                <a:cs typeface="Arial" pitchFamily="34" charset="0"/>
              </a:rPr>
              <a:t>Tổng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kết</a:t>
            </a:r>
            <a:endParaRPr lang="ko-KR" altLang="en-US" sz="2000" b="1" dirty="0">
              <a:latin typeface="Arial" pitchFamily="34" charset="0"/>
              <a:ea typeface="맑은 고딕" pitchFamily="50" charset="-127"/>
              <a:cs typeface="Arial" pitchFamily="34" charset="0"/>
            </a:endParaRPr>
          </a:p>
        </p:txBody>
      </p:sp>
      <p:sp>
        <p:nvSpPr>
          <p:cNvPr id="16"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279577829"/>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8" name="Rectangle 3"/>
          <p:cNvSpPr>
            <a:spLocks noChangeArrowheads="1"/>
          </p:cNvSpPr>
          <p:nvPr/>
        </p:nvSpPr>
        <p:spPr bwMode="auto">
          <a:xfrm>
            <a:off x="631825" y="1090613"/>
            <a:ext cx="7099700" cy="413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lnSpc>
                <a:spcPct val="130000"/>
              </a:lnSpc>
            </a:pP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pháp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tầng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dữ</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sử</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dụng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trong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thực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tế</a:t>
            </a:r>
            <a:endParaRPr lang="en-US" altLang="ko-KR" sz="1600" b="1" dirty="0">
              <a:latin typeface="Arial" pitchFamily="34" charset="0"/>
              <a:ea typeface="맑은 고딕" pitchFamily="50" charset="-127"/>
              <a:cs typeface="Arial" pitchFamily="34" charset="0"/>
            </a:endParaRPr>
          </a:p>
        </p:txBody>
      </p:sp>
      <p:graphicFrame>
        <p:nvGraphicFramePr>
          <p:cNvPr id="5" name="Group 38"/>
          <p:cNvGraphicFramePr>
            <a:graphicFrameLocks noGrp="1"/>
          </p:cNvGraphicFramePr>
          <p:nvPr>
            <p:extLst>
              <p:ext uri="{D42A27DB-BD31-4B8C-83A1-F6EECF244321}">
                <p14:modId xmlns:p14="http://schemas.microsoft.com/office/powerpoint/2010/main" val="3188642573"/>
              </p:ext>
            </p:extLst>
          </p:nvPr>
        </p:nvGraphicFramePr>
        <p:xfrm>
          <a:off x="542510" y="1913210"/>
          <a:ext cx="8820980" cy="3820046"/>
        </p:xfrm>
        <a:graphic>
          <a:graphicData uri="http://schemas.openxmlformats.org/drawingml/2006/table">
            <a:tbl>
              <a:tblPr/>
              <a:tblGrid>
                <a:gridCol w="2016224">
                  <a:extLst>
                    <a:ext uri="{9D8B030D-6E8A-4147-A177-3AD203B41FA5}">
                      <a16:colId xmlns:a16="http://schemas.microsoft.com/office/drawing/2014/main" val="20000"/>
                    </a:ext>
                  </a:extLst>
                </a:gridCol>
                <a:gridCol w="6804756">
                  <a:extLst>
                    <a:ext uri="{9D8B030D-6E8A-4147-A177-3AD203B41FA5}">
                      <a16:colId xmlns:a16="http://schemas.microsoft.com/office/drawing/2014/main" val="20001"/>
                    </a:ext>
                  </a:extLst>
                </a:gridCol>
              </a:tblGrid>
              <a:tr h="33550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Mục</a:t>
                      </a:r>
                      <a:endParaRPr kumimoji="1" lang="ko-KR" altLang="en-US"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ECFF"/>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Mô</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tả</a:t>
                      </a:r>
                      <a:endParaRPr kumimoji="1" lang="ko-KR" altLang="en-US"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ECFF"/>
                    </a:solidFill>
                  </a:tcPr>
                </a:tc>
                <a:extLst>
                  <a:ext uri="{0D108BD9-81ED-4DB2-BD59-A6C34878D82A}">
                    <a16:rowId xmlns:a16="http://schemas.microsoft.com/office/drawing/2014/main" val="10000"/>
                  </a:ext>
                </a:extLst>
              </a:tr>
              <a:tr h="62829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thời</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gian</a:t>
                      </a:r>
                      <a:endPar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Tập</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hợp</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dữ</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được</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tạo</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trong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cùng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một</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khoảng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thời</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gian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vào</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một</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nhóm</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ngày</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ban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ngày</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và</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ban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đêm</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tuần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tháng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mùa</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39831">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nhân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công</a:t>
                      </a:r>
                      <a:endPar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team,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theo</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mức</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kĩ</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năng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theo</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nhân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công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mới</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cũ</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phụ</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nữ</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và</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đàn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ông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tuổi</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v.v</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39831">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máy</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móc</a:t>
                      </a:r>
                      <a:endPar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Chủng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loại</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cũ</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mới</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cấu</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trúc</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hoạt</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công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cụ</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dây</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chuyền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nhà</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máy</a:t>
                      </a:r>
                      <a:endPar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2829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phương</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pháp</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làm</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việc</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 </a:t>
                      </a: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điều</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kiện</a:t>
                      </a:r>
                      <a:b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b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làm</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việc</a:t>
                      </a:r>
                      <a:endPar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Nhiệt</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áp</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suất</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tốc</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phương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pháp</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nơi</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chốn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vòng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quay,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thời</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tiết</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ẩm</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ánh</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sáng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2806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nguyên</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endPar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Nhà</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cung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cấp</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thành</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phần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theo</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lô</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nhãn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ngày</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mua</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kích</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thước</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3550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việc</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kiểm</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tra</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Theo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việc</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đo</a:t>
                      </a:r>
                      <a:r>
                        <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4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lường</a:t>
                      </a:r>
                      <a:endParaRPr kumimoji="1" lang="en-US" altLang="ko-KR" sz="14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Người</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thực</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hiện</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công</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cụ</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cách</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thức</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kiểm</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tra</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cách</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thức</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đo</a:t>
                      </a:r>
                      <a:r>
                        <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2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lường</a:t>
                      </a:r>
                      <a:endParaRPr kumimoji="1" lang="en-US" altLang="ko-KR" sz="12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1444" marR="91444" marT="45754" marB="4575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126</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6. </a:t>
            </a:r>
            <a:r>
              <a:rPr lang="en-US" altLang="ko-KR" sz="2000" b="1" dirty="0" err="1">
                <a:latin typeface="Arial" pitchFamily="34" charset="0"/>
                <a:ea typeface="맑은 고딕" pitchFamily="50" charset="-127"/>
                <a:cs typeface="Arial" pitchFamily="34" charset="0"/>
              </a:rPr>
              <a:t>Tổng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kết</a:t>
            </a:r>
            <a:endParaRPr lang="ko-KR" altLang="en-US" sz="2000" b="1" dirty="0">
              <a:latin typeface="Arial" pitchFamily="34" charset="0"/>
              <a:ea typeface="맑은 고딕" pitchFamily="50" charset="-127"/>
              <a:cs typeface="Arial" pitchFamily="34" charset="0"/>
            </a:endParaRPr>
          </a:p>
        </p:txBody>
      </p:sp>
      <p:sp>
        <p:nvSpPr>
          <p:cNvPr id="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Stratification</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50391091"/>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Text Box 4"/>
          <p:cNvSpPr txBox="1">
            <a:spLocks noChangeArrowheads="1"/>
          </p:cNvSpPr>
          <p:nvPr/>
        </p:nvSpPr>
        <p:spPr bwMode="auto">
          <a:xfrm>
            <a:off x="217488" y="2506663"/>
            <a:ext cx="6823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13" tIns="45707" rIns="91413" bIns="4570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b="1" dirty="0" err="1">
                <a:solidFill>
                  <a:srgbClr val="000000"/>
                </a:solidFill>
                <a:latin typeface="Arial" pitchFamily="34" charset="0"/>
                <a:ea typeface="맑은 고딕" pitchFamily="50" charset="-127"/>
                <a:cs typeface="Arial" pitchFamily="34" charset="0"/>
              </a:rPr>
              <a:t>Biểu</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đồ</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tán</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xạ</a:t>
            </a:r>
            <a:r>
              <a:rPr lang="en-US" altLang="ko-KR" sz="2400" b="1" dirty="0">
                <a:solidFill>
                  <a:srgbClr val="000000"/>
                </a:solidFill>
                <a:latin typeface="Arial" pitchFamily="34" charset="0"/>
                <a:ea typeface="맑은 고딕" pitchFamily="50" charset="-127"/>
                <a:cs typeface="Arial" pitchFamily="34" charset="0"/>
              </a:rPr>
              <a:t> (Scatter</a:t>
            </a:r>
            <a:r>
              <a:rPr lang="ko-KR" altLang="en-US" sz="2400" b="1" dirty="0">
                <a:solidFill>
                  <a:srgbClr val="000000"/>
                </a:solidFill>
                <a:latin typeface="Arial" pitchFamily="34" charset="0"/>
                <a:ea typeface="맑은 고딕" pitchFamily="50" charset="-127"/>
                <a:cs typeface="Arial" pitchFamily="34" charset="0"/>
              </a:rPr>
              <a:t> </a:t>
            </a:r>
            <a:r>
              <a:rPr lang="en-US" altLang="ko-KR" sz="2400" b="1" dirty="0">
                <a:solidFill>
                  <a:srgbClr val="000000"/>
                </a:solidFill>
                <a:latin typeface="Arial" pitchFamily="34" charset="0"/>
                <a:ea typeface="맑은 고딕" pitchFamily="50" charset="-127"/>
                <a:cs typeface="Arial" pitchFamily="34" charset="0"/>
              </a:rPr>
              <a:t>Plot)</a:t>
            </a:r>
            <a:endParaRPr lang="ko-KR" altLang="en-US" sz="2400" b="1" dirty="0">
              <a:solidFill>
                <a:srgbClr val="000000"/>
              </a:solidFill>
              <a:latin typeface="Arial" pitchFamily="34" charset="0"/>
              <a:ea typeface="맑은 고딕" pitchFamily="50" charset="-127"/>
              <a:cs typeface="Arial" pitchFamily="34" charset="0"/>
            </a:endParaRPr>
          </a:p>
        </p:txBody>
      </p:sp>
      <p:sp>
        <p:nvSpPr>
          <p:cNvPr id="4" name="Text Box 4"/>
          <p:cNvSpPr txBox="1">
            <a:spLocks noChangeArrowheads="1"/>
          </p:cNvSpPr>
          <p:nvPr/>
        </p:nvSpPr>
        <p:spPr bwMode="auto">
          <a:xfrm>
            <a:off x="1361878" y="3578297"/>
            <a:ext cx="3168352" cy="1323405"/>
          </a:xfrm>
          <a:prstGeom prst="rect">
            <a:avLst/>
          </a:prstGeom>
          <a:noFill/>
          <a:ln w="12700" cap="rnd">
            <a:noFill/>
            <a:miter lim="800000"/>
            <a:headEnd type="none" w="sm" len="sm"/>
            <a:tailEnd type="none" w="sm" len="sm"/>
          </a:ln>
        </p:spPr>
        <p:txBody>
          <a:bodyPr wrap="square" lIns="91405" tIns="45703" rIns="91405" bIns="45703">
            <a:spAutoFit/>
          </a:bodyPr>
          <a:lstStyle/>
          <a:p>
            <a:pPr marL="87313" indent="-87313">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Giới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thiệu</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Định</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nghĩa</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Phương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pháp</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xây</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dựng</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Ví</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dụ</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Thực</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hành</a:t>
            </a:r>
            <a:endParaRPr lang="en-US" altLang="ko-KR" sz="1600" b="1" dirty="0">
              <a:latin typeface="Arial" pitchFamily="34" charset="0"/>
              <a:ea typeface="맑은 고딕" panose="020B0503020000020004" pitchFamily="50" charset="-127"/>
              <a:cs typeface="Arial" pitchFamily="34" charset="0"/>
            </a:endParaRPr>
          </a:p>
        </p:txBody>
      </p:sp>
    </p:spTree>
    <p:extLst>
      <p:ext uri="{BB962C8B-B14F-4D97-AF65-F5344CB8AC3E}">
        <p14:creationId xmlns:p14="http://schemas.microsoft.com/office/powerpoint/2010/main" val="2683702844"/>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en-US" altLang="ko-KR" sz="2000" b="1" dirty="0">
              <a:latin typeface="Arial" pitchFamily="34" charset="0"/>
              <a:ea typeface="맑은 고딕" pitchFamily="50" charset="-127"/>
              <a:cs typeface="Arial" pitchFamily="34" charset="0"/>
            </a:endParaRPr>
          </a:p>
        </p:txBody>
      </p:sp>
      <p:sp>
        <p:nvSpPr>
          <p:cNvPr id="151555"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
        <p:nvSpPr>
          <p:cNvPr id="151556" name="Text Box 7"/>
          <p:cNvSpPr txBox="1">
            <a:spLocks noChangeArrowheads="1"/>
          </p:cNvSpPr>
          <p:nvPr/>
        </p:nvSpPr>
        <p:spPr bwMode="auto">
          <a:xfrm>
            <a:off x="560388" y="1146175"/>
            <a:ext cx="8929687" cy="49859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FontTx/>
              <a:buChar char="•"/>
            </a:pPr>
            <a:r>
              <a:rPr kumimoji="0" lang="ko-KR" altLang="en-US"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Những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công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cụ</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như</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là</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biểu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đồ</a:t>
            </a:r>
            <a:r>
              <a:rPr kumimoji="0" lang="en-US" altLang="ko-KR" sz="1600" b="1" dirty="0">
                <a:latin typeface="Arial" pitchFamily="34" charset="0"/>
                <a:ea typeface="맑은 고딕" pitchFamily="50" charset="-127"/>
                <a:cs typeface="Arial" pitchFamily="34" charset="0"/>
              </a:rPr>
              <a:t> Pareto </a:t>
            </a:r>
            <a:r>
              <a:rPr kumimoji="0" lang="en-US" altLang="ko-KR" sz="1600" b="1" dirty="0" err="1">
                <a:latin typeface="Arial" pitchFamily="34" charset="0"/>
                <a:ea typeface="맑은 고딕" pitchFamily="50" charset="-127"/>
                <a:cs typeface="Arial" pitchFamily="34" charset="0"/>
              </a:rPr>
              <a:t>và</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Historgram</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sử</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dụng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để</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phân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tích</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một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loại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dữ</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liệu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Nhưng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trong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một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số</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trường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hợp</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cần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phải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cân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nhắc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đến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mối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liên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hệ</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giữa</a:t>
            </a:r>
            <a:r>
              <a:rPr kumimoji="0" lang="en-US" altLang="ko-KR" sz="1600" b="1" dirty="0">
                <a:latin typeface="Arial" pitchFamily="34" charset="0"/>
                <a:ea typeface="맑은 고딕" pitchFamily="50" charset="-127"/>
                <a:cs typeface="Arial" pitchFamily="34" charset="0"/>
              </a:rPr>
              <a:t> 2 </a:t>
            </a:r>
            <a:r>
              <a:rPr kumimoji="0" lang="en-US" altLang="ko-KR" sz="1600" b="1" dirty="0" err="1">
                <a:latin typeface="Arial" pitchFamily="34" charset="0"/>
                <a:ea typeface="맑은 고딕" pitchFamily="50" charset="-127"/>
                <a:cs typeface="Arial" pitchFamily="34" charset="0"/>
              </a:rPr>
              <a:t>loại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dữ</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liệu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khác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nhau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không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chỉ</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một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loại</a:t>
            </a:r>
            <a:r>
              <a:rPr kumimoji="0" lang="en-US" altLang="ko-KR" sz="1600" b="1" dirty="0">
                <a:latin typeface="Arial" pitchFamily="34" charset="0"/>
                <a:ea typeface="맑은 고딕" pitchFamily="50" charset="-127"/>
                <a:cs typeface="Arial" pitchFamily="34" charset="0"/>
              </a:rPr>
              <a:t>.</a:t>
            </a:r>
          </a:p>
          <a:p>
            <a:pPr eaLnBrk="1" hangingPunct="1">
              <a:lnSpc>
                <a:spcPct val="150000"/>
              </a:lnSpc>
              <a:buFontTx/>
              <a:buChar char="•"/>
            </a:pPr>
            <a:endParaRPr kumimoji="0" lang="en-US" altLang="ko-KR" sz="1600" b="1" dirty="0">
              <a:latin typeface="Arial" pitchFamily="34" charset="0"/>
              <a:ea typeface="맑은 고딕" pitchFamily="50" charset="-127"/>
              <a:cs typeface="Arial" pitchFamily="34" charset="0"/>
            </a:endParaRPr>
          </a:p>
          <a:p>
            <a:pPr eaLnBrk="1" hangingPunct="1">
              <a:lnSpc>
                <a:spcPct val="150000"/>
              </a:lnSpc>
              <a:buFontTx/>
              <a:buChar char="•"/>
            </a:pPr>
            <a:r>
              <a:rPr kumimoji="0" lang="ko-KR" altLang="en-US"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Khi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Biểu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đồ</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nhân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quả</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xây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dựng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rất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nhiều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nhân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tố</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có</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liên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quan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tới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đặc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điểm</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Trong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trường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hợp</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này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cần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phải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điều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kĩ</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càng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hơn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việc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có</a:t>
            </a:r>
            <a:r>
              <a:rPr kumimoji="0" lang="en-US" altLang="ko-KR" sz="1600" b="1" dirty="0">
                <a:latin typeface="Arial" pitchFamily="34" charset="0"/>
                <a:ea typeface="맑은 고딕" pitchFamily="50" charset="-127"/>
                <a:cs typeface="Arial" pitchFamily="34" charset="0"/>
              </a:rPr>
              <a:t> hay </a:t>
            </a:r>
            <a:r>
              <a:rPr kumimoji="0" lang="en-US" altLang="ko-KR" sz="1600" b="1" dirty="0" err="1">
                <a:latin typeface="Arial" pitchFamily="34" charset="0"/>
                <a:ea typeface="맑은 고딕" pitchFamily="50" charset="-127"/>
                <a:cs typeface="Arial" pitchFamily="34" charset="0"/>
              </a:rPr>
              <a:t>không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mối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liên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hệ</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giữa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đặc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điểm</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và</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các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nhân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tố</a:t>
            </a:r>
            <a:r>
              <a:rPr kumimoji="0" lang="en-US" altLang="ko-KR" sz="1600" b="1" dirty="0">
                <a:latin typeface="Arial" pitchFamily="34" charset="0"/>
                <a:ea typeface="맑은 고딕" pitchFamily="50" charset="-127"/>
                <a:cs typeface="Arial" pitchFamily="34" charset="0"/>
              </a:rPr>
              <a:t>, hay </a:t>
            </a:r>
            <a:r>
              <a:rPr kumimoji="0" lang="en-US" altLang="ko-KR" sz="1600" b="1" dirty="0" err="1">
                <a:latin typeface="Arial" pitchFamily="34" charset="0"/>
                <a:ea typeface="맑은 고딕" pitchFamily="50" charset="-127"/>
                <a:cs typeface="Arial" pitchFamily="34" charset="0"/>
              </a:rPr>
              <a:t>điều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gì</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sẽ</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xảy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đến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với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đặc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điểm</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nếu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các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nhân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tố</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quy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cho</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một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giá</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trị</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nhất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định</a:t>
            </a:r>
            <a:r>
              <a:rPr kumimoji="0" lang="en-US" altLang="ko-KR" sz="1600" b="1" dirty="0">
                <a:latin typeface="Arial" pitchFamily="34" charset="0"/>
                <a:ea typeface="맑은 고딕" pitchFamily="50" charset="-127"/>
                <a:cs typeface="Arial" pitchFamily="34" charset="0"/>
              </a:rPr>
              <a:t>. </a:t>
            </a:r>
          </a:p>
          <a:p>
            <a:pPr eaLnBrk="1" hangingPunct="1">
              <a:lnSpc>
                <a:spcPct val="150000"/>
              </a:lnSpc>
            </a:pPr>
            <a:endParaRPr kumimoji="0" lang="en-US" altLang="ko-KR" sz="1600" b="1" dirty="0">
              <a:latin typeface="Arial" pitchFamily="34" charset="0"/>
              <a:ea typeface="맑은 고딕" pitchFamily="50" charset="-127"/>
              <a:cs typeface="Arial" pitchFamily="34" charset="0"/>
            </a:endParaRPr>
          </a:p>
          <a:p>
            <a:pPr eaLnBrk="1" hangingPunct="1">
              <a:lnSpc>
                <a:spcPct val="150000"/>
              </a:lnSpc>
              <a:buFontTx/>
              <a:buChar char="•"/>
            </a:pPr>
            <a:r>
              <a:rPr kumimoji="0" lang="en-US" altLang="ko-KR" sz="16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Biểu</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đồ</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tán</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xạ</a:t>
            </a:r>
            <a:r>
              <a:rPr kumimoji="0" lang="en-US" altLang="ko-KR" sz="2000" b="1" dirty="0">
                <a:latin typeface="Arial" pitchFamily="34" charset="0"/>
                <a:ea typeface="맑은 고딕" pitchFamily="50" charset="-127"/>
                <a:cs typeface="Arial" pitchFamily="34" charset="0"/>
              </a:rPr>
              <a:t> </a:t>
            </a:r>
            <a:r>
              <a:rPr kumimoji="0" lang="en-US" altLang="ko-KR" sz="2000" b="1" dirty="0" err="1">
                <a:latin typeface="Arial" pitchFamily="34" charset="0"/>
                <a:ea typeface="맑은 고딕" pitchFamily="50" charset="-127"/>
                <a:cs typeface="Arial" pitchFamily="34" charset="0"/>
              </a:rPr>
              <a:t>là</a:t>
            </a:r>
            <a:r>
              <a:rPr kumimoji="0" lang="en-US" altLang="ko-KR" sz="20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công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cụ</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sử</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dụng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để</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xác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định</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mối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liên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hệ</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giữa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đặc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điểm</a:t>
            </a:r>
            <a:r>
              <a:rPr kumimoji="0" lang="en-US" altLang="ko-KR" sz="1600" b="1" dirty="0">
                <a:latin typeface="Arial" pitchFamily="34" charset="0"/>
                <a:ea typeface="맑은 고딕" pitchFamily="50" charset="-127"/>
                <a:cs typeface="Arial" pitchFamily="34" charset="0"/>
              </a:rPr>
              <a:t> (output) </a:t>
            </a:r>
            <a:r>
              <a:rPr kumimoji="0" lang="en-US" altLang="ko-KR" sz="1600" b="1" dirty="0" err="1">
                <a:latin typeface="Arial" pitchFamily="34" charset="0"/>
                <a:ea typeface="맑은 고딕" pitchFamily="50" charset="-127"/>
                <a:cs typeface="Arial" pitchFamily="34" charset="0"/>
              </a:rPr>
              <a:t>và</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nhân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tố</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nguyên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nhân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của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hai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biến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Mối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quan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hệ</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này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cần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minh </a:t>
            </a:r>
            <a:r>
              <a:rPr kumimoji="0" lang="en-US" altLang="ko-KR" sz="1600" b="1" dirty="0" err="1">
                <a:latin typeface="Arial" pitchFamily="34" charset="0"/>
                <a:ea typeface="맑은 고딕" pitchFamily="50" charset="-127"/>
                <a:cs typeface="Arial" pitchFamily="34" charset="0"/>
              </a:rPr>
              <a:t>họa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bằng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đồ</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thị</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Biểu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đồ</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tán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xạ</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sử</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dụng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trong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giai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đoạn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điều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nguyên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nhân</a:t>
            </a:r>
            <a:r>
              <a:rPr kumimoji="0" lang="en-US" altLang="ko-KR" sz="1600" b="1" dirty="0">
                <a:latin typeface="Arial" pitchFamily="34" charset="0"/>
                <a:ea typeface="맑은 고딕" pitchFamily="50" charset="-127"/>
                <a:cs typeface="Arial" pitchFamily="34" charset="0"/>
              </a:rPr>
              <a:t>.  </a:t>
            </a:r>
          </a:p>
          <a:p>
            <a:pPr eaLnBrk="1" hangingPunct="1">
              <a:lnSpc>
                <a:spcPct val="150000"/>
              </a:lnSpc>
              <a:buFontTx/>
              <a:buChar char="•"/>
            </a:pPr>
            <a:endParaRPr kumimoji="0" lang="en-US" altLang="ko-KR"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128</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4249703760"/>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2. </a:t>
            </a:r>
            <a:r>
              <a:rPr lang="en-US" altLang="ko-KR" sz="2000" b="1" dirty="0" err="1">
                <a:latin typeface="Arial" pitchFamily="34" charset="0"/>
                <a:ea typeface="맑은 고딕" pitchFamily="50" charset="-127"/>
                <a:cs typeface="Arial" pitchFamily="34" charset="0"/>
              </a:rPr>
              <a:t>Định</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nghĩa</a:t>
            </a:r>
            <a:endParaRPr lang="en-US" altLang="ko-KR" sz="2000" b="1" dirty="0">
              <a:latin typeface="Arial" pitchFamily="34" charset="0"/>
              <a:ea typeface="맑은 고딕" pitchFamily="50" charset="-127"/>
              <a:cs typeface="Arial" pitchFamily="34" charset="0"/>
            </a:endParaRPr>
          </a:p>
        </p:txBody>
      </p:sp>
      <p:sp>
        <p:nvSpPr>
          <p:cNvPr id="15257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
        <p:nvSpPr>
          <p:cNvPr id="152580" name="Text Box 7"/>
          <p:cNvSpPr txBox="1">
            <a:spLocks noChangeArrowheads="1"/>
          </p:cNvSpPr>
          <p:nvPr/>
        </p:nvSpPr>
        <p:spPr bwMode="auto">
          <a:xfrm>
            <a:off x="725488" y="908050"/>
            <a:ext cx="8878887"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FontTx/>
              <a:buChar char="•"/>
            </a:pP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Trong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biểu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đồ</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tán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xạ</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mối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quan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hệ</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giữa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hai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dữ</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liệu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đo</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lường</a:t>
            </a:r>
            <a:r>
              <a:rPr kumimoji="0" lang="en-US" altLang="ko-KR" sz="1600" b="1" dirty="0">
                <a:latin typeface="Arial" pitchFamily="34" charset="0"/>
                <a:ea typeface="맑은 고딕" pitchFamily="50" charset="-127"/>
                <a:cs typeface="Arial" pitchFamily="34" charset="0"/>
              </a:rPr>
              <a:t> X </a:t>
            </a:r>
            <a:r>
              <a:rPr kumimoji="0" lang="en-US" altLang="ko-KR" sz="1600" b="1" dirty="0" err="1">
                <a:latin typeface="Arial" pitchFamily="34" charset="0"/>
                <a:ea typeface="맑은 고딕" pitchFamily="50" charset="-127"/>
                <a:cs typeface="Arial" pitchFamily="34" charset="0"/>
              </a:rPr>
              <a:t>và</a:t>
            </a:r>
            <a:r>
              <a:rPr kumimoji="0" lang="en-US" altLang="ko-KR" sz="1600" b="1" dirty="0">
                <a:latin typeface="Arial" pitchFamily="34" charset="0"/>
                <a:ea typeface="맑은 고딕" pitchFamily="50" charset="-127"/>
                <a:cs typeface="Arial" pitchFamily="34" charset="0"/>
              </a:rPr>
              <a:t> Y (</a:t>
            </a:r>
            <a:r>
              <a:rPr kumimoji="0" lang="en-US" altLang="ko-KR" sz="1600" b="1" dirty="0" err="1">
                <a:latin typeface="Arial" pitchFamily="34" charset="0"/>
                <a:ea typeface="맑은 고딕" pitchFamily="50" charset="-127"/>
                <a:cs typeface="Arial" pitchFamily="34" charset="0"/>
              </a:rPr>
              <a:t>một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cặp</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dữ</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liệu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có</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thể</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thể</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hiện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bằng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các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chấm</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tròn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trên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hệ</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trục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tọa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độ</a:t>
            </a:r>
            <a:r>
              <a:rPr kumimoji="0" lang="en-US" altLang="ko-KR" sz="1600" b="1" dirty="0">
                <a:latin typeface="Arial" pitchFamily="34" charset="0"/>
                <a:ea typeface="맑은 고딕" pitchFamily="50" charset="-127"/>
                <a:cs typeface="Arial" pitchFamily="34" charset="0"/>
              </a:rPr>
              <a:t>. </a:t>
            </a:r>
          </a:p>
          <a:p>
            <a:pPr eaLnBrk="1" hangingPunct="1">
              <a:lnSpc>
                <a:spcPct val="150000"/>
              </a:lnSpc>
              <a:buFontTx/>
              <a:buChar char="•"/>
            </a:pP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Bằng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cách</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sử</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dụng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các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chấm</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tròn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như</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vậy</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dựa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vào</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hình</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dáng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tổng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thể</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và</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mức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độ</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tập</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trung</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của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các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chấm</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tròn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có</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thể</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biết</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được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mối</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quan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hệ</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giữa</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các</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biến</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dữ</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liệu</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là</a:t>
            </a:r>
            <a:r>
              <a:rPr kumimoji="0" lang="en-US" altLang="ko-KR" sz="1600" b="1" dirty="0">
                <a:latin typeface="Arial" pitchFamily="34" charset="0"/>
                <a:ea typeface="맑은 고딕" pitchFamily="50" charset="-127"/>
                <a:cs typeface="Arial" pitchFamily="34" charset="0"/>
              </a:rPr>
              <a:t> </a:t>
            </a:r>
            <a:r>
              <a:rPr kumimoji="0" lang="en-US" altLang="ko-KR" sz="1600" b="1" dirty="0" err="1">
                <a:latin typeface="Arial" pitchFamily="34" charset="0"/>
                <a:ea typeface="맑은 고딕" pitchFamily="50" charset="-127"/>
                <a:cs typeface="Arial" pitchFamily="34" charset="0"/>
              </a:rPr>
              <a:t>mạnh</a:t>
            </a:r>
            <a:r>
              <a:rPr kumimoji="0" lang="en-US" altLang="ko-KR" sz="1600" b="1" dirty="0">
                <a:latin typeface="Arial" pitchFamily="34" charset="0"/>
                <a:ea typeface="맑은 고딕" pitchFamily="50" charset="-127"/>
                <a:cs typeface="Arial" pitchFamily="34" charset="0"/>
              </a:rPr>
              <a:t> hay </a:t>
            </a:r>
            <a:r>
              <a:rPr kumimoji="0" lang="en-US" altLang="ko-KR" sz="1600" b="1" dirty="0" err="1">
                <a:latin typeface="Arial" pitchFamily="34" charset="0"/>
                <a:ea typeface="맑은 고딕" pitchFamily="50" charset="-127"/>
                <a:cs typeface="Arial" pitchFamily="34" charset="0"/>
              </a:rPr>
              <a:t>yếu</a:t>
            </a:r>
            <a:r>
              <a:rPr kumimoji="0" lang="en-US" altLang="ko-KR" sz="1600" b="1" dirty="0">
                <a:latin typeface="Arial" pitchFamily="34" charset="0"/>
                <a:ea typeface="맑은 고딕" pitchFamily="50" charset="-127"/>
                <a:cs typeface="Arial" pitchFamily="34" charset="0"/>
              </a:rPr>
              <a:t>. </a:t>
            </a:r>
          </a:p>
        </p:txBody>
      </p:sp>
      <p:pic>
        <p:nvPicPr>
          <p:cNvPr id="152581" name="Picture 2" descr="C:\DOCUME~1\김민수\LOCALS~1\Temp\Hnc\BinData\EMB035c.PN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778000" y="3356992"/>
            <a:ext cx="6645275" cy="29654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129</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423590623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en-US" altLang="ko-KR" sz="2000" b="1" dirty="0">
              <a:latin typeface="Arial" pitchFamily="34" charset="0"/>
              <a:ea typeface="맑은 고딕" pitchFamily="50" charset="-127"/>
              <a:cs typeface="Arial" pitchFamily="34" charset="0"/>
            </a:endParaRPr>
          </a:p>
        </p:txBody>
      </p:sp>
      <p:sp>
        <p:nvSpPr>
          <p:cNvPr id="153603"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
        <p:nvSpPr>
          <p:cNvPr id="153604" name="Text Box 114"/>
          <p:cNvSpPr txBox="1">
            <a:spLocks noChangeArrowheads="1"/>
          </p:cNvSpPr>
          <p:nvPr/>
        </p:nvSpPr>
        <p:spPr bwMode="auto">
          <a:xfrm>
            <a:off x="755649" y="908050"/>
            <a:ext cx="8478327"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20000"/>
              </a:lnSpc>
            </a:pPr>
            <a:r>
              <a:rPr lang="en-US" altLang="ko-KR" sz="1600" dirty="0">
                <a:latin typeface="Arial" pitchFamily="34" charset="0"/>
                <a:ea typeface="맑은 고딕" pitchFamily="50" charset="-127"/>
                <a:cs typeface="Arial" pitchFamily="34" charset="0"/>
              </a:rPr>
              <a:t>1. </a:t>
            </a:r>
            <a:r>
              <a:rPr lang="en-US" altLang="ko-KR" sz="1600" dirty="0" err="1">
                <a:latin typeface="Arial" pitchFamily="34" charset="0"/>
                <a:ea typeface="맑은 고딕" pitchFamily="50" charset="-127"/>
                <a:cs typeface="Arial" pitchFamily="34" charset="0"/>
              </a:rPr>
              <a:t>Tập</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hợp</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cặp</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và</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trình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bày</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vào</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bảng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p>
          <a:p>
            <a:pPr eaLnBrk="1" hangingPunct="1">
              <a:lnSpc>
                <a:spcPct val="120000"/>
              </a:lnSpc>
            </a:pPr>
            <a:r>
              <a:rPr lang="en-US" altLang="ko-KR" sz="1600" dirty="0">
                <a:latin typeface="Arial" pitchFamily="34" charset="0"/>
                <a:ea typeface="맑은 고딕" pitchFamily="50" charset="-127"/>
                <a:cs typeface="Arial" pitchFamily="34" charset="0"/>
              </a:rPr>
              <a:t>2. </a:t>
            </a:r>
            <a:r>
              <a:rPr lang="en-US" altLang="ko-KR" sz="1600" dirty="0" err="1">
                <a:latin typeface="Arial" pitchFamily="34" charset="0"/>
                <a:ea typeface="맑은 고딕" pitchFamily="50" charset="-127"/>
                <a:cs typeface="Arial" pitchFamily="34" charset="0"/>
              </a:rPr>
              <a:t>Vẽ</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biểu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đồ</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tán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xạ</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bằng</a:t>
            </a:r>
            <a:r>
              <a:rPr lang="en-US" altLang="ko-KR" sz="1600" dirty="0">
                <a:latin typeface="Arial" pitchFamily="34" charset="0"/>
                <a:ea typeface="맑은 고딕" pitchFamily="50" charset="-127"/>
                <a:cs typeface="Arial" pitchFamily="34" charset="0"/>
              </a:rPr>
              <a:t> Excel </a:t>
            </a:r>
            <a:r>
              <a:rPr lang="en-US" altLang="ko-KR" sz="1600" dirty="0" err="1">
                <a:latin typeface="Arial" pitchFamily="34" charset="0"/>
                <a:ea typeface="맑은 고딕" pitchFamily="50" charset="-127"/>
                <a:cs typeface="Arial" pitchFamily="34" charset="0"/>
              </a:rPr>
              <a:t>hoặc</a:t>
            </a:r>
            <a:r>
              <a:rPr lang="en-US" altLang="ko-KR" sz="1600" dirty="0">
                <a:latin typeface="Arial" pitchFamily="34" charset="0"/>
                <a:ea typeface="맑은 고딕" pitchFamily="50" charset="-127"/>
                <a:cs typeface="Arial" pitchFamily="34" charset="0"/>
              </a:rPr>
              <a:t> Minitab. </a:t>
            </a:r>
          </a:p>
        </p:txBody>
      </p:sp>
      <p:sp>
        <p:nvSpPr>
          <p:cNvPr id="153605" name="TextBox 6"/>
          <p:cNvSpPr txBox="1">
            <a:spLocks noChangeArrowheads="1"/>
          </p:cNvSpPr>
          <p:nvPr/>
        </p:nvSpPr>
        <p:spPr bwMode="auto">
          <a:xfrm>
            <a:off x="920553" y="1591314"/>
            <a:ext cx="864096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err="1">
                <a:latin typeface="Arial" pitchFamily="34" charset="0"/>
                <a:ea typeface="맑은 고딕" pitchFamily="50" charset="-127"/>
                <a:cs typeface="Arial" pitchFamily="34" charset="0"/>
              </a:rPr>
              <a:t>Bảng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dữ</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dưới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kết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quả</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độ</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dày</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nặng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của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một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kiện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sản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xuất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bởi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hai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trình</a:t>
            </a:r>
            <a:r>
              <a:rPr lang="en-US" altLang="ko-KR" sz="1600" b="1" dirty="0">
                <a:latin typeface="Arial" pitchFamily="34" charset="0"/>
                <a:ea typeface="맑은 고딕" pitchFamily="50" charset="-127"/>
                <a:cs typeface="Arial" pitchFamily="34" charset="0"/>
              </a:rPr>
              <a:t> A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B </a:t>
            </a:r>
            <a:r>
              <a:rPr lang="en-US" altLang="ko-KR" sz="1600" b="1" dirty="0" err="1">
                <a:latin typeface="Arial" pitchFamily="34" charset="0"/>
                <a:ea typeface="맑은 고딕" pitchFamily="50" charset="-127"/>
                <a:cs typeface="Arial" pitchFamily="34" charset="0"/>
              </a:rPr>
              <a:t>khác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nhau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định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mối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quan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hệ</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giữa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độ</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dày</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nặng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của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kiện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này</a:t>
            </a:r>
            <a:r>
              <a:rPr lang="en-US" altLang="ko-KR" sz="1600" b="1" dirty="0">
                <a:latin typeface="Arial" pitchFamily="34" charset="0"/>
                <a:ea typeface="맑은 고딕" pitchFamily="50" charset="-127"/>
                <a:cs typeface="Arial" pitchFamily="34" charset="0"/>
              </a:rPr>
              <a:t>.</a:t>
            </a:r>
            <a:endParaRPr lang="ko-KR" altLang="en-US" sz="1600" b="1" dirty="0">
              <a:latin typeface="Arial" pitchFamily="34" charset="0"/>
              <a:ea typeface="맑은 고딕" pitchFamily="50" charset="-127"/>
              <a:cs typeface="Arial" pitchFamily="34" charset="0"/>
            </a:endParaRPr>
          </a:p>
        </p:txBody>
      </p:sp>
      <p:pic>
        <p:nvPicPr>
          <p:cNvPr id="153606" name="Picture 10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720975" y="2697757"/>
            <a:ext cx="4248150" cy="3611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33977" y="76470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130</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969876349"/>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4628" name="Picture 9"/>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3440113" y="2181225"/>
            <a:ext cx="5976937" cy="3984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29" name="Picture 10"/>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73050" y="981075"/>
            <a:ext cx="3527425" cy="2303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33977" y="76470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131</a:t>
            </a:fld>
            <a:endParaRPr lang="ko-KR" altLang="en-US" dirty="0">
              <a:latin typeface="Arial" pitchFamily="34" charset="0"/>
              <a:cs typeface="Arial" pitchFamily="34" charset="0"/>
            </a:endParaRPr>
          </a:p>
        </p:txBody>
      </p:sp>
      <p:sp>
        <p:nvSpPr>
          <p:cNvPr id="8"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en-US" altLang="ko-KR" sz="2000" b="1" dirty="0">
              <a:latin typeface="Arial" pitchFamily="34" charset="0"/>
              <a:ea typeface="맑은 고딕" pitchFamily="50" charset="-127"/>
              <a:cs typeface="Arial" pitchFamily="34" charset="0"/>
            </a:endParaRPr>
          </a:p>
        </p:txBody>
      </p:sp>
      <p:sp>
        <p:nvSpPr>
          <p:cNvPr id="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178156676"/>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5650"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272480" y="1012825"/>
            <a:ext cx="3024188" cy="267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651"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3584575" y="2349500"/>
            <a:ext cx="4857750" cy="360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33977" y="76470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132</a:t>
            </a:fld>
            <a:endParaRPr lang="ko-KR" altLang="en-US" dirty="0">
              <a:latin typeface="Arial" pitchFamily="34" charset="0"/>
              <a:cs typeface="Arial" pitchFamily="34" charset="0"/>
            </a:endParaRPr>
          </a:p>
        </p:txBody>
      </p:sp>
      <p:sp>
        <p:nvSpPr>
          <p:cNvPr id="8"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en-US" altLang="ko-KR" sz="2000" b="1" dirty="0">
              <a:latin typeface="Arial" pitchFamily="34" charset="0"/>
              <a:ea typeface="맑은 고딕" pitchFamily="50" charset="-127"/>
              <a:cs typeface="Arial" pitchFamily="34" charset="0"/>
            </a:endParaRPr>
          </a:p>
        </p:txBody>
      </p:sp>
      <p:sp>
        <p:nvSpPr>
          <p:cNvPr id="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2395380067"/>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6674"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928813" y="1052513"/>
            <a:ext cx="5976937" cy="3984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675" name="TextBox 1"/>
          <p:cNvSpPr txBox="1">
            <a:spLocks noChangeArrowheads="1"/>
          </p:cNvSpPr>
          <p:nvPr/>
        </p:nvSpPr>
        <p:spPr bwMode="auto">
          <a:xfrm>
            <a:off x="1828800" y="5157788"/>
            <a:ext cx="708464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err="1">
                <a:latin typeface="Arial" pitchFamily="34" charset="0"/>
                <a:ea typeface="맑은 고딕" pitchFamily="50" charset="-127"/>
                <a:cs typeface="Arial" pitchFamily="34" charset="0"/>
              </a:rPr>
              <a:t>Dữ</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có</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cần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phân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tầng</a:t>
            </a:r>
            <a:r>
              <a:rPr lang="en-US" altLang="ko-KR" sz="1600" b="1" dirty="0">
                <a:latin typeface="Arial" pitchFamily="34" charset="0"/>
                <a:ea typeface="맑은 고딕" pitchFamily="50" charset="-127"/>
                <a:cs typeface="Arial" pitchFamily="34" charset="0"/>
              </a:rPr>
              <a:t> hay </a:t>
            </a:r>
            <a:r>
              <a:rPr lang="en-US" altLang="ko-KR" sz="1600" b="1" dirty="0" err="1">
                <a:latin typeface="Arial" pitchFamily="34" charset="0"/>
                <a:ea typeface="맑은 고딕" pitchFamily="50" charset="-127"/>
                <a:cs typeface="Arial" pitchFamily="34" charset="0"/>
              </a:rPr>
              <a:t>không</a:t>
            </a:r>
            <a:r>
              <a:rPr lang="en-US" altLang="ko-KR" sz="1600" b="1" dirty="0">
                <a:latin typeface="Arial" pitchFamily="34" charset="0"/>
                <a:ea typeface="맑은 고딕" pitchFamily="50" charset="-127"/>
                <a:cs typeface="Arial" pitchFamily="34" charset="0"/>
              </a:rPr>
              <a:t>?</a:t>
            </a:r>
          </a:p>
          <a:p>
            <a:pPr eaLnBrk="1" hangingPunct="1"/>
            <a:endParaRPr lang="en-US" altLang="ko-KR" sz="1600" b="1" dirty="0">
              <a:latin typeface="Arial" pitchFamily="34" charset="0"/>
              <a:ea typeface="맑은 고딕" pitchFamily="50" charset="-127"/>
              <a:cs typeface="Arial" pitchFamily="34" charset="0"/>
            </a:endParaRPr>
          </a:p>
          <a:p>
            <a:pPr eaLnBrk="1" hangingPunct="1"/>
            <a:r>
              <a:rPr lang="ko-KR" altLang="en-US"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Nếu</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dữ</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liệu</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phân</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tích</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có</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biểu</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đồ</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như</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trên</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chúng</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ta</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nên</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tiếp</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tục</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tiến</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hành</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các</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biện</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pháp</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phân</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tích</a:t>
            </a:r>
            <a:r>
              <a:rPr lang="en-US" altLang="ko-KR" sz="1600" b="1" dirty="0">
                <a:solidFill>
                  <a:srgbClr val="FF0000"/>
                </a:solidFill>
                <a:latin typeface="Arial" pitchFamily="34" charset="0"/>
                <a:ea typeface="맑은 고딕" pitchFamily="50" charset="-127"/>
                <a:cs typeface="Arial" pitchFamily="34" charset="0"/>
              </a:rPr>
              <a:t> </a:t>
            </a:r>
            <a:r>
              <a:rPr lang="en-US" altLang="ko-KR" sz="1600" b="1" dirty="0" err="1">
                <a:solidFill>
                  <a:srgbClr val="FF0000"/>
                </a:solidFill>
                <a:latin typeface="Arial" pitchFamily="34" charset="0"/>
                <a:ea typeface="맑은 고딕" pitchFamily="50" charset="-127"/>
                <a:cs typeface="Arial" pitchFamily="34" charset="0"/>
              </a:rPr>
              <a:t>bổ</a:t>
            </a:r>
            <a:r>
              <a:rPr lang="en-US" altLang="ko-KR" sz="1600" b="1" dirty="0">
                <a:solidFill>
                  <a:srgbClr val="FF0000"/>
                </a:solidFill>
                <a:latin typeface="Arial" pitchFamily="34" charset="0"/>
                <a:ea typeface="맑은 고딕" pitchFamily="50" charset="-127"/>
                <a:cs typeface="Arial" pitchFamily="34" charset="0"/>
              </a:rPr>
              <a:t> sung.</a:t>
            </a:r>
            <a:endParaRPr lang="ko-KR" altLang="en-US" sz="1600" b="1" dirty="0">
              <a:solidFill>
                <a:srgbClr val="FF0000"/>
              </a:solidFill>
              <a:latin typeface="Arial" pitchFamily="34" charset="0"/>
              <a:ea typeface="맑은 고딕" pitchFamily="50" charset="-127"/>
              <a:cs typeface="Arial" pitchFamily="34" charset="0"/>
            </a:endParaRPr>
          </a:p>
        </p:txBody>
      </p:sp>
      <p:sp>
        <p:nvSpPr>
          <p:cNvPr id="156676" name="타원 2"/>
          <p:cNvSpPr>
            <a:spLocks noChangeArrowheads="1"/>
          </p:cNvSpPr>
          <p:nvPr/>
        </p:nvSpPr>
        <p:spPr bwMode="auto">
          <a:xfrm rot="-2577729">
            <a:off x="4121150" y="2566988"/>
            <a:ext cx="2911475" cy="2016125"/>
          </a:xfrm>
          <a:prstGeom prst="ellipse">
            <a:avLst/>
          </a:prstGeom>
          <a:noFill/>
          <a:ln w="28575" algn="ctr">
            <a:solidFill>
              <a:srgbClr val="FF0000"/>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91413" tIns="45707" rIns="91413" bIns="45707" anchor="ctr"/>
          <a:lstStyle/>
          <a:p>
            <a:pPr algn="ctr" eaLnBrk="0">
              <a:lnSpc>
                <a:spcPct val="85000"/>
              </a:lnSpc>
              <a:spcBef>
                <a:spcPct val="30000"/>
              </a:spcBef>
              <a:spcAft>
                <a:spcPct val="30000"/>
              </a:spcAft>
              <a:buFont typeface="Wingdings" pitchFamily="2" charset="2"/>
              <a:buNone/>
            </a:pPr>
            <a:endParaRPr lang="ko-KR" altLang="en-US" sz="1200" b="1" dirty="0">
              <a:solidFill>
                <a:srgbClr val="404040"/>
              </a:solidFill>
              <a:latin typeface="Arial" pitchFamily="34" charset="0"/>
              <a:ea typeface="돋움" pitchFamily="50" charset="-127"/>
              <a:cs typeface="Arial" pitchFamily="34" charset="0"/>
            </a:endParaRPr>
          </a:p>
        </p:txBody>
      </p:sp>
      <p:pic>
        <p:nvPicPr>
          <p:cNvPr id="8"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233977" y="76470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133</a:t>
            </a:fld>
            <a:endParaRPr lang="ko-KR" altLang="en-US" dirty="0">
              <a:latin typeface="Arial" pitchFamily="34" charset="0"/>
              <a:cs typeface="Arial" pitchFamily="34" charset="0"/>
            </a:endParaRPr>
          </a:p>
        </p:txBody>
      </p:sp>
      <p:sp>
        <p:nvSpPr>
          <p:cNvPr id="9"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3. </a:t>
            </a:r>
            <a:r>
              <a:rPr lang="en-US" altLang="ko-KR" sz="2000" b="1" dirty="0" err="1">
                <a:latin typeface="Arial" pitchFamily="34" charset="0"/>
                <a:ea typeface="맑은 고딕" pitchFamily="50" charset="-127"/>
                <a:cs typeface="Arial" pitchFamily="34" charset="0"/>
              </a:rPr>
              <a:t>Phương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pháp</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xây</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dựng</a:t>
            </a:r>
            <a:endParaRPr lang="en-US" altLang="ko-KR" sz="2000" b="1" dirty="0">
              <a:latin typeface="Arial" pitchFamily="34" charset="0"/>
              <a:ea typeface="맑은 고딕" pitchFamily="50" charset="-127"/>
              <a:cs typeface="Arial" pitchFamily="34" charset="0"/>
            </a:endParaRPr>
          </a:p>
        </p:txBody>
      </p:sp>
      <p:sp>
        <p:nvSpPr>
          <p:cNvPr id="10"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92108800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en-US" altLang="ko-KR" sz="2000" b="1" dirty="0">
              <a:latin typeface="Arial" pitchFamily="34" charset="0"/>
              <a:ea typeface="맑은 고딕" pitchFamily="50" charset="-127"/>
              <a:cs typeface="Arial" pitchFamily="34" charset="0"/>
            </a:endParaRPr>
          </a:p>
        </p:txBody>
      </p:sp>
      <p:sp>
        <p:nvSpPr>
          <p:cNvPr id="15769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graphicFrame>
        <p:nvGraphicFramePr>
          <p:cNvPr id="157700" name="개체 3"/>
          <p:cNvGraphicFramePr>
            <a:graphicFrameLocks noChangeAspect="1"/>
          </p:cNvGraphicFramePr>
          <p:nvPr/>
        </p:nvGraphicFramePr>
        <p:xfrm>
          <a:off x="1778000" y="1484313"/>
          <a:ext cx="6630988" cy="4421187"/>
        </p:xfrm>
        <a:graphic>
          <a:graphicData uri="http://schemas.openxmlformats.org/presentationml/2006/ole">
            <mc:AlternateContent xmlns:mc="http://schemas.openxmlformats.org/markup-compatibility/2006">
              <mc:Choice xmlns:v="urn:schemas-microsoft-com:vml" Requires="v">
                <p:oleObj name="Graph" r:id="rId2" imgW="5486400" imgH="3657600" progId="">
                  <p:embed/>
                </p:oleObj>
              </mc:Choice>
              <mc:Fallback>
                <p:oleObj name="Graph" r:id="rId2" imgW="5486400" imgH="3657600" progId="">
                  <p:embed/>
                  <p:pic>
                    <p:nvPicPr>
                      <p:cNvPr id="157700" name="개체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8000" y="1484313"/>
                        <a:ext cx="6630988" cy="4421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7701" name="Text Box 64"/>
          <p:cNvSpPr txBox="1">
            <a:spLocks noChangeArrowheads="1"/>
          </p:cNvSpPr>
          <p:nvPr/>
        </p:nvSpPr>
        <p:spPr bwMode="auto">
          <a:xfrm>
            <a:off x="1568624" y="981075"/>
            <a:ext cx="7272808"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20000"/>
              </a:lnSpc>
            </a:pPr>
            <a:r>
              <a:rPr lang="en-US" altLang="ko-KR" b="1" dirty="0" err="1">
                <a:latin typeface="Arial" pitchFamily="34" charset="0"/>
                <a:ea typeface="맑은 고딕" pitchFamily="50" charset="-127"/>
                <a:cs typeface="Arial" pitchFamily="34" charset="0"/>
              </a:rPr>
              <a:t>Biểu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đồ</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tán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xạ</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của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Giá</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bán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trung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bình</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và</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Lợi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nhuận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trung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bình</a:t>
            </a:r>
            <a:endParaRPr lang="en-US" altLang="ko-KR" b="1" dirty="0">
              <a:latin typeface="Arial" pitchFamily="34" charset="0"/>
              <a:ea typeface="맑은 고딕" pitchFamily="50" charset="-127"/>
              <a:cs typeface="Arial" pitchFamily="34" charset="0"/>
            </a:endParaRPr>
          </a:p>
        </p:txBody>
      </p:sp>
      <p:sp>
        <p:nvSpPr>
          <p:cNvPr id="157702" name="TextBox 1"/>
          <p:cNvSpPr txBox="1">
            <a:spLocks noChangeArrowheads="1"/>
          </p:cNvSpPr>
          <p:nvPr/>
        </p:nvSpPr>
        <p:spPr bwMode="auto">
          <a:xfrm>
            <a:off x="1854869" y="5983288"/>
            <a:ext cx="662652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err="1">
                <a:latin typeface="Arial" pitchFamily="34" charset="0"/>
                <a:ea typeface="맑은 고딕" pitchFamily="50" charset="-127"/>
                <a:cs typeface="Arial" pitchFamily="34" charset="0"/>
              </a:rPr>
              <a:t>Dường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như</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có</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mối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quan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hệ</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tuyến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tính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tích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cực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giữa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bán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trung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bình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nhuận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trung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bình</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134</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68189832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8722" name="개체 1"/>
          <p:cNvGraphicFramePr>
            <a:graphicFrameLocks noChangeAspect="1"/>
          </p:cNvGraphicFramePr>
          <p:nvPr/>
        </p:nvGraphicFramePr>
        <p:xfrm>
          <a:off x="2043113" y="1498600"/>
          <a:ext cx="6435725" cy="4291013"/>
        </p:xfrm>
        <a:graphic>
          <a:graphicData uri="http://schemas.openxmlformats.org/presentationml/2006/ole">
            <mc:AlternateContent xmlns:mc="http://schemas.openxmlformats.org/markup-compatibility/2006">
              <mc:Choice xmlns:v="urn:schemas-microsoft-com:vml" Requires="v">
                <p:oleObj name="Graph" r:id="rId2" imgW="5486400" imgH="3657600" progId="">
                  <p:embed/>
                </p:oleObj>
              </mc:Choice>
              <mc:Fallback>
                <p:oleObj name="Graph" r:id="rId2" imgW="5486400" imgH="3657600" progId="">
                  <p:embed/>
                  <p:pic>
                    <p:nvPicPr>
                      <p:cNvPr id="158722" name="개체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43113" y="1498600"/>
                        <a:ext cx="6435725" cy="42910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8723" name="Text Box 64"/>
          <p:cNvSpPr txBox="1">
            <a:spLocks noChangeArrowheads="1"/>
          </p:cNvSpPr>
          <p:nvPr/>
        </p:nvSpPr>
        <p:spPr bwMode="auto">
          <a:xfrm>
            <a:off x="2000672" y="981075"/>
            <a:ext cx="6480721"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20000"/>
              </a:lnSpc>
            </a:pPr>
            <a:r>
              <a:rPr lang="en-US" altLang="ko-KR" b="1" dirty="0" err="1">
                <a:latin typeface="Arial" pitchFamily="34" charset="0"/>
                <a:ea typeface="맑은 고딕" pitchFamily="50" charset="-127"/>
                <a:cs typeface="Arial" pitchFamily="34" charset="0"/>
              </a:rPr>
              <a:t>Biểu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đồ</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tán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xạ</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giữa</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sự</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khác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biệt</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đo</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lường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và</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sức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bền</a:t>
            </a:r>
            <a:endParaRPr lang="en-US" altLang="ko-KR"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135</a:t>
            </a:fld>
            <a:endParaRPr lang="ko-KR" altLang="en-US" dirty="0">
              <a:latin typeface="Arial" pitchFamily="34" charset="0"/>
              <a:cs typeface="Arial" pitchFamily="34" charset="0"/>
            </a:endParaRPr>
          </a:p>
        </p:txBody>
      </p:sp>
      <p:sp>
        <p:nvSpPr>
          <p:cNvPr id="8"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Ví</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dụ</a:t>
            </a:r>
            <a:endParaRPr lang="en-US" altLang="ko-KR" sz="2000" b="1" dirty="0">
              <a:latin typeface="Arial" pitchFamily="34" charset="0"/>
              <a:ea typeface="맑은 고딕" pitchFamily="50" charset="-127"/>
              <a:cs typeface="Arial" pitchFamily="34" charset="0"/>
            </a:endParaRPr>
          </a:p>
        </p:txBody>
      </p:sp>
      <p:sp>
        <p:nvSpPr>
          <p:cNvPr id="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
        <p:nvSpPr>
          <p:cNvPr id="10" name="TextBox 1"/>
          <p:cNvSpPr txBox="1">
            <a:spLocks noChangeArrowheads="1"/>
          </p:cNvSpPr>
          <p:nvPr/>
        </p:nvSpPr>
        <p:spPr bwMode="auto">
          <a:xfrm>
            <a:off x="1854869" y="5983288"/>
            <a:ext cx="662652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err="1">
                <a:latin typeface="Arial" pitchFamily="34" charset="0"/>
                <a:ea typeface="맑은 고딕" pitchFamily="50" charset="-127"/>
                <a:cs typeface="Arial" pitchFamily="34" charset="0"/>
              </a:rPr>
              <a:t>Dường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như</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có</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mối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quan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hệ</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tuyến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tính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tích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cực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giữa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sự</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khác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biệt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sức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bền</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05461483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Text Box 7"/>
          <p:cNvSpPr txBox="1">
            <a:spLocks noChangeArrowheads="1"/>
          </p:cNvSpPr>
          <p:nvPr/>
        </p:nvSpPr>
        <p:spPr bwMode="auto">
          <a:xfrm>
            <a:off x="1208584" y="1988840"/>
            <a:ext cx="75608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kumimoji="0" lang="en-US" altLang="ko-KR" sz="1600" dirty="0" err="1">
                <a:latin typeface="Arial" pitchFamily="34" charset="0"/>
                <a:ea typeface="맑은 고딕" pitchFamily="50" charset="-127"/>
                <a:cs typeface="Arial" pitchFamily="34" charset="0"/>
              </a:rPr>
              <a:t>Nếu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hai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loại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dữ</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liệu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của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các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nhân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tố</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và</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đặc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điểm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tương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ứng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có</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mối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quan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hệ</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tuyến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tính</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có</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thể</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nói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có</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tồn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tại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sự</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tương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quan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giữa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chúng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Dựa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vào</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hình</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dạng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của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biểu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đồ</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mà</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có</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thể</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biết</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được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sự</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tương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quan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đó</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như</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thế</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nào</a:t>
            </a:r>
            <a:r>
              <a:rPr kumimoji="0" lang="en-US" altLang="ko-KR" sz="1600" dirty="0">
                <a:latin typeface="Arial" pitchFamily="34" charset="0"/>
                <a:ea typeface="맑은 고딕" pitchFamily="50" charset="-127"/>
                <a:cs typeface="Arial" pitchFamily="34" charset="0"/>
              </a:rPr>
              <a:t>.  </a:t>
            </a:r>
          </a:p>
        </p:txBody>
      </p:sp>
      <p:sp>
        <p:nvSpPr>
          <p:cNvPr id="159747" name="Text Box 7"/>
          <p:cNvSpPr txBox="1">
            <a:spLocks noChangeArrowheads="1"/>
          </p:cNvSpPr>
          <p:nvPr/>
        </p:nvSpPr>
        <p:spPr bwMode="auto">
          <a:xfrm>
            <a:off x="1187450" y="1125538"/>
            <a:ext cx="707791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600" dirty="0" err="1">
                <a:latin typeface="Arial" pitchFamily="34" charset="0"/>
                <a:ea typeface="맑은 고딕" pitchFamily="50" charset="-127"/>
                <a:cs typeface="Arial" pitchFamily="34" charset="0"/>
              </a:rPr>
              <a:t>Khi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biểu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đồ</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tán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xạ</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được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hình</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thành</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kiểm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tra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mối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quan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hệ</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giữa</a:t>
            </a:r>
            <a:r>
              <a:rPr kumimoji="0" lang="en-US" altLang="ko-KR" sz="1600" dirty="0">
                <a:latin typeface="Arial" pitchFamily="34" charset="0"/>
                <a:ea typeface="맑은 고딕" pitchFamily="50" charset="-127"/>
                <a:cs typeface="Arial" pitchFamily="34" charset="0"/>
              </a:rPr>
              <a:t> 2 </a:t>
            </a:r>
            <a:r>
              <a:rPr kumimoji="0" lang="en-US" altLang="ko-KR" sz="1600" dirty="0" err="1">
                <a:latin typeface="Arial" pitchFamily="34" charset="0"/>
                <a:ea typeface="맑은 고딕" pitchFamily="50" charset="-127"/>
                <a:cs typeface="Arial" pitchFamily="34" charset="0"/>
              </a:rPr>
              <a:t>loại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dữ</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liệu</a:t>
            </a:r>
            <a:endParaRPr kumimoji="0" lang="en-US" altLang="ko-KR" sz="1600" dirty="0">
              <a:latin typeface="Arial" pitchFamily="34" charset="0"/>
              <a:ea typeface="맑은 고딕" pitchFamily="50" charset="-127"/>
              <a:cs typeface="Arial" pitchFamily="34" charset="0"/>
            </a:endParaRPr>
          </a:p>
        </p:txBody>
      </p:sp>
      <p:sp>
        <p:nvSpPr>
          <p:cNvPr id="5" name="직사각형 4"/>
          <p:cNvSpPr/>
          <p:nvPr/>
        </p:nvSpPr>
        <p:spPr>
          <a:xfrm>
            <a:off x="1277938" y="4038163"/>
            <a:ext cx="3963094" cy="584775"/>
          </a:xfrm>
          <a:prstGeom prst="rect">
            <a:avLst/>
          </a:prstGeom>
        </p:spPr>
        <p:txBody>
          <a:bodyPr wrap="square">
            <a:spAutoFit/>
          </a:bodyPr>
          <a:lstStyle/>
          <a:p>
            <a:pPr marL="342900" indent="-342900" fontAlgn="auto">
              <a:spcBef>
                <a:spcPts val="0"/>
              </a:spcBef>
              <a:spcAft>
                <a:spcPts val="0"/>
              </a:spcAft>
              <a:buFont typeface="+mj-ea"/>
              <a:buAutoNum type="circleNumDbPlain"/>
              <a:defRPr/>
            </a:pPr>
            <a:r>
              <a:rPr kumimoji="0" lang="en-US" altLang="ko-KR" sz="1600" b="1" dirty="0" err="1">
                <a:solidFill>
                  <a:srgbClr val="0000CC"/>
                </a:solidFill>
                <a:latin typeface="Arial" pitchFamily="34" charset="0"/>
                <a:ea typeface="맑은 고딕" panose="020B0503020000020004" pitchFamily="50" charset="-127"/>
                <a:cs typeface="Arial" pitchFamily="34" charset="0"/>
              </a:rPr>
              <a:t>Mối</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tương</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quan</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tích</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cực</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p>
          <a:p>
            <a:pPr fontAlgn="auto">
              <a:spcBef>
                <a:spcPts val="0"/>
              </a:spcBef>
              <a:spcAft>
                <a:spcPts val="0"/>
              </a:spcAft>
              <a:defRPr/>
            </a:pPr>
            <a:r>
              <a:rPr kumimoji="0" lang="en-US" altLang="ko-KR" sz="1600" b="1" dirty="0">
                <a:latin typeface="Arial" pitchFamily="34" charset="0"/>
                <a:ea typeface="맑은 고딕" panose="020B0503020000020004" pitchFamily="50" charset="-127"/>
                <a:cs typeface="Arial" pitchFamily="34" charset="0"/>
              </a:rPr>
              <a:t>   - </a:t>
            </a:r>
            <a:r>
              <a:rPr kumimoji="0" lang="en-US" altLang="ko-KR" sz="1600" b="1" dirty="0" err="1">
                <a:latin typeface="Arial" pitchFamily="34" charset="0"/>
                <a:ea typeface="맑은 고딕" panose="020B0503020000020004" pitchFamily="50" charset="-127"/>
                <a:cs typeface="Arial" pitchFamily="34" charset="0"/>
              </a:rPr>
              <a:t>Nếu</a:t>
            </a:r>
            <a:r>
              <a:rPr kumimoji="0" lang="en-US" altLang="ko-KR" sz="1600" b="1" dirty="0">
                <a:latin typeface="Arial" pitchFamily="34" charset="0"/>
                <a:ea typeface="맑은 고딕" panose="020B0503020000020004" pitchFamily="50" charset="-127"/>
                <a:cs typeface="Arial" pitchFamily="34" charset="0"/>
              </a:rPr>
              <a:t> X </a:t>
            </a:r>
            <a:r>
              <a:rPr kumimoji="0" lang="en-US" altLang="ko-KR" sz="1600" b="1" dirty="0" err="1">
                <a:latin typeface="Arial" pitchFamily="34" charset="0"/>
                <a:ea typeface="맑은 고딕" panose="020B0503020000020004" pitchFamily="50" charset="-127"/>
                <a:cs typeface="Arial" pitchFamily="34" charset="0"/>
              </a:rPr>
              <a:t>tăng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thì</a:t>
            </a:r>
            <a:r>
              <a:rPr kumimoji="0" lang="en-US" altLang="ko-KR" sz="1600" b="1" dirty="0">
                <a:latin typeface="Arial" pitchFamily="34" charset="0"/>
                <a:ea typeface="맑은 고딕" panose="020B0503020000020004" pitchFamily="50" charset="-127"/>
                <a:cs typeface="Arial" pitchFamily="34" charset="0"/>
              </a:rPr>
              <a:t> Y </a:t>
            </a:r>
            <a:r>
              <a:rPr kumimoji="0" lang="en-US" altLang="ko-KR" sz="1600" b="1" dirty="0" err="1">
                <a:latin typeface="Arial" pitchFamily="34" charset="0"/>
                <a:ea typeface="맑은 고딕" panose="020B0503020000020004" pitchFamily="50" charset="-127"/>
                <a:cs typeface="Arial" pitchFamily="34" charset="0"/>
              </a:rPr>
              <a:t>cũng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tăng</a:t>
            </a:r>
            <a:endParaRPr kumimoji="0" lang="en-US" altLang="ko-KR" sz="1600" b="1" dirty="0">
              <a:latin typeface="Arial" pitchFamily="34" charset="0"/>
              <a:ea typeface="맑은 고딕" panose="020B0503020000020004" pitchFamily="50" charset="-127"/>
              <a:cs typeface="Arial" pitchFamily="34" charset="0"/>
            </a:endParaRPr>
          </a:p>
        </p:txBody>
      </p:sp>
      <p:pic>
        <p:nvPicPr>
          <p:cNvPr id="159749" name="그림 12" descr="1뚜렷한.jpg"/>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bwMode="auto">
          <a:xfrm>
            <a:off x="5580063" y="4076700"/>
            <a:ext cx="2879725" cy="203993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59750"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err="1">
                <a:latin typeface="Arial" pitchFamily="34" charset="0"/>
                <a:ea typeface="맑은 고딕" pitchFamily="50" charset="-127"/>
                <a:cs typeface="Arial" pitchFamily="34" charset="0"/>
              </a:rPr>
              <a:t>Các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loại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biểu</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đồ</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tán</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xạ</a:t>
            </a:r>
            <a:endParaRPr lang="en-US" altLang="ko-KR" sz="2000" b="1" dirty="0">
              <a:latin typeface="Arial" pitchFamily="34" charset="0"/>
              <a:ea typeface="맑은 고딕" pitchFamily="50" charset="-127"/>
              <a:cs typeface="Arial" pitchFamily="34" charset="0"/>
            </a:endParaRPr>
          </a:p>
        </p:txBody>
      </p:sp>
      <p:sp>
        <p:nvSpPr>
          <p:cNvPr id="159751"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136</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375115975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p:cNvSpPr/>
          <p:nvPr/>
        </p:nvSpPr>
        <p:spPr>
          <a:xfrm>
            <a:off x="1136650" y="1566863"/>
            <a:ext cx="4230688" cy="1323439"/>
          </a:xfrm>
          <a:prstGeom prst="rect">
            <a:avLst/>
          </a:prstGeom>
        </p:spPr>
        <p:txBody>
          <a:bodyPr>
            <a:spAutoFit/>
          </a:bodyPr>
          <a:lstStyle/>
          <a:p>
            <a:pPr marL="342900" indent="-342900" fontAlgn="auto">
              <a:spcBef>
                <a:spcPts val="0"/>
              </a:spcBef>
              <a:spcAft>
                <a:spcPts val="0"/>
              </a:spcAft>
              <a:buClr>
                <a:srgbClr val="0000CC"/>
              </a:buClr>
              <a:buFont typeface="+mj-ea"/>
              <a:buAutoNum type="circleNumDbPlain" startAt="2"/>
              <a:defRPr/>
            </a:pPr>
            <a:r>
              <a:rPr kumimoji="0" lang="en-US" altLang="ko-KR" sz="1600" b="1" dirty="0" err="1">
                <a:solidFill>
                  <a:srgbClr val="0000CC"/>
                </a:solidFill>
                <a:latin typeface="Arial" pitchFamily="34" charset="0"/>
                <a:ea typeface="맑은 고딕" panose="020B0503020000020004" pitchFamily="50" charset="-127"/>
                <a:cs typeface="Arial" pitchFamily="34" charset="0"/>
              </a:rPr>
              <a:t>Mối</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tương</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quan</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tích</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cực</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yếu</a:t>
            </a:r>
            <a:endParaRPr kumimoji="0" lang="en-US" altLang="ko-KR" sz="1600" b="1" dirty="0">
              <a:solidFill>
                <a:srgbClr val="0000CC"/>
              </a:solidFill>
              <a:latin typeface="Arial" pitchFamily="34" charset="0"/>
              <a:ea typeface="맑은 고딕" panose="020B0503020000020004" pitchFamily="50" charset="-127"/>
              <a:cs typeface="Arial" pitchFamily="34" charset="0"/>
            </a:endParaRPr>
          </a:p>
          <a:p>
            <a:pPr fontAlgn="auto">
              <a:spcBef>
                <a:spcPts val="0"/>
              </a:spcBef>
              <a:spcAft>
                <a:spcPts val="0"/>
              </a:spcAft>
              <a:defRPr/>
            </a:pPr>
            <a:r>
              <a:rPr kumimoji="0" lang="en-US" altLang="ko-KR" sz="1600" b="1" dirty="0">
                <a:latin typeface="Arial" pitchFamily="34" charset="0"/>
                <a:ea typeface="맑은 고딕" panose="020B0503020000020004" pitchFamily="50" charset="-127"/>
                <a:cs typeface="Arial" pitchFamily="34" charset="0"/>
              </a:rPr>
              <a:t>   - </a:t>
            </a:r>
            <a:r>
              <a:rPr kumimoji="0" lang="en-US" altLang="ko-KR" sz="1600" b="1" dirty="0" err="1">
                <a:latin typeface="Arial" pitchFamily="34" charset="0"/>
                <a:ea typeface="맑은 고딕" panose="020B0503020000020004" pitchFamily="50" charset="-127"/>
                <a:cs typeface="Arial" pitchFamily="34" charset="0"/>
              </a:rPr>
              <a:t>Nếu</a:t>
            </a:r>
            <a:r>
              <a:rPr kumimoji="0" lang="en-US" altLang="ko-KR" sz="1600" b="1" dirty="0">
                <a:latin typeface="Arial" pitchFamily="34" charset="0"/>
                <a:ea typeface="맑은 고딕" panose="020B0503020000020004" pitchFamily="50" charset="-127"/>
                <a:cs typeface="Arial" pitchFamily="34" charset="0"/>
              </a:rPr>
              <a:t> X </a:t>
            </a:r>
            <a:r>
              <a:rPr kumimoji="0" lang="en-US" altLang="ko-KR" sz="1600" b="1" dirty="0" err="1">
                <a:latin typeface="Arial" pitchFamily="34" charset="0"/>
                <a:ea typeface="맑은 고딕" panose="020B0503020000020004" pitchFamily="50" charset="-127"/>
                <a:cs typeface="Arial" pitchFamily="34" charset="0"/>
              </a:rPr>
              <a:t>tăng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thì</a:t>
            </a:r>
            <a:r>
              <a:rPr kumimoji="0" lang="en-US" altLang="ko-KR" sz="1600" b="1" dirty="0">
                <a:latin typeface="Arial" pitchFamily="34" charset="0"/>
                <a:ea typeface="맑은 고딕" panose="020B0503020000020004" pitchFamily="50" charset="-127"/>
                <a:cs typeface="Arial" pitchFamily="34" charset="0"/>
              </a:rPr>
              <a:t> Y </a:t>
            </a:r>
            <a:r>
              <a:rPr kumimoji="0" lang="en-US" altLang="ko-KR" sz="1600" b="1" dirty="0" err="1">
                <a:latin typeface="Arial" pitchFamily="34" charset="0"/>
                <a:ea typeface="맑은 고딕" panose="020B0503020000020004" pitchFamily="50" charset="-127"/>
                <a:cs typeface="Arial" pitchFamily="34" charset="0"/>
              </a:rPr>
              <a:t>cũng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tăng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nhưng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không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đáng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kể</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Như</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vậy</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ngoài</a:t>
            </a:r>
            <a:r>
              <a:rPr kumimoji="0" lang="en-US" altLang="ko-KR" sz="1600" b="1" dirty="0">
                <a:latin typeface="Arial" pitchFamily="34" charset="0"/>
                <a:ea typeface="맑은 고딕" panose="020B0503020000020004" pitchFamily="50" charset="-127"/>
                <a:cs typeface="Arial" pitchFamily="34" charset="0"/>
              </a:rPr>
              <a:t> X, </a:t>
            </a:r>
            <a:r>
              <a:rPr kumimoji="0" lang="en-US" altLang="ko-KR" sz="1600" b="1" dirty="0" err="1">
                <a:latin typeface="Arial" pitchFamily="34" charset="0"/>
                <a:ea typeface="맑은 고딕" panose="020B0503020000020004" pitchFamily="50" charset="-127"/>
                <a:cs typeface="Arial" pitchFamily="34" charset="0"/>
              </a:rPr>
              <a:t>các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nhân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tố</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khác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cũng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động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tới</a:t>
            </a:r>
            <a:r>
              <a:rPr kumimoji="0" lang="en-US" altLang="ko-KR" sz="1600" b="1" dirty="0">
                <a:latin typeface="Arial" pitchFamily="34" charset="0"/>
                <a:ea typeface="맑은 고딕" panose="020B0503020000020004" pitchFamily="50" charset="-127"/>
                <a:cs typeface="Arial" pitchFamily="34" charset="0"/>
              </a:rPr>
              <a:t> Y </a:t>
            </a:r>
            <a:r>
              <a:rPr kumimoji="0" lang="en-US" altLang="ko-KR" sz="1600" b="1" dirty="0" err="1">
                <a:latin typeface="Arial" pitchFamily="34" charset="0"/>
                <a:ea typeface="맑은 고딕" panose="020B0503020000020004" pitchFamily="50" charset="-127"/>
                <a:cs typeface="Arial" pitchFamily="34" charset="0"/>
              </a:rPr>
              <a:t>và</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cần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được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lưu</a:t>
            </a:r>
            <a:r>
              <a:rPr kumimoji="0" lang="en-US" altLang="ko-KR" sz="1600" b="1" dirty="0">
                <a:latin typeface="Arial" pitchFamily="34" charset="0"/>
                <a:ea typeface="맑은 고딕" panose="020B0503020000020004" pitchFamily="50" charset="-127"/>
                <a:cs typeface="Arial" pitchFamily="34" charset="0"/>
              </a:rPr>
              <a:t> ý.</a:t>
            </a:r>
          </a:p>
        </p:txBody>
      </p:sp>
      <p:pic>
        <p:nvPicPr>
          <p:cNvPr id="160771" name="그림 15" descr="2약한.jpg"/>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bwMode="auto">
          <a:xfrm>
            <a:off x="5508625" y="1855788"/>
            <a:ext cx="2879725" cy="19240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5" name="직사각형 4"/>
          <p:cNvSpPr/>
          <p:nvPr/>
        </p:nvSpPr>
        <p:spPr>
          <a:xfrm>
            <a:off x="1136650" y="3862388"/>
            <a:ext cx="4014788" cy="830997"/>
          </a:xfrm>
          <a:prstGeom prst="rect">
            <a:avLst/>
          </a:prstGeom>
        </p:spPr>
        <p:txBody>
          <a:bodyPr>
            <a:spAutoFit/>
          </a:bodyPr>
          <a:lstStyle/>
          <a:p>
            <a:pPr marL="342900" indent="-342900" fontAlgn="auto">
              <a:spcBef>
                <a:spcPts val="0"/>
              </a:spcBef>
              <a:spcAft>
                <a:spcPts val="0"/>
              </a:spcAft>
              <a:buClr>
                <a:srgbClr val="0000CC"/>
              </a:buClr>
              <a:buFont typeface="+mj-ea"/>
              <a:buAutoNum type="circleNumDbPlain" startAt="3"/>
              <a:defRPr/>
            </a:pPr>
            <a:r>
              <a:rPr kumimoji="0" lang="en-US" altLang="ko-KR" sz="1600" b="1" dirty="0" err="1">
                <a:solidFill>
                  <a:srgbClr val="0000CC"/>
                </a:solidFill>
                <a:latin typeface="Arial" pitchFamily="34" charset="0"/>
                <a:ea typeface="맑은 고딕" panose="020B0503020000020004" pitchFamily="50" charset="-127"/>
                <a:cs typeface="Arial" pitchFamily="34" charset="0"/>
              </a:rPr>
              <a:t>Mối</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tương</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quan</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tiêu</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cực</a:t>
            </a:r>
            <a:endParaRPr kumimoji="0" lang="en-US" altLang="ko-KR" sz="1600" b="1" dirty="0">
              <a:solidFill>
                <a:srgbClr val="0000CC"/>
              </a:solidFill>
              <a:latin typeface="Arial" pitchFamily="34" charset="0"/>
              <a:ea typeface="맑은 고딕" panose="020B0503020000020004" pitchFamily="50" charset="-127"/>
              <a:cs typeface="Arial" pitchFamily="34" charset="0"/>
            </a:endParaRPr>
          </a:p>
          <a:p>
            <a:pPr fontAlgn="auto">
              <a:spcBef>
                <a:spcPts val="0"/>
              </a:spcBef>
              <a:spcAft>
                <a:spcPts val="0"/>
              </a:spcAft>
              <a:defRPr/>
            </a:pPr>
            <a:r>
              <a:rPr kumimoji="0" lang="en-US" altLang="ko-KR" sz="1600" b="1" dirty="0">
                <a:latin typeface="Arial" pitchFamily="34" charset="0"/>
                <a:ea typeface="맑은 고딕" panose="020B0503020000020004" pitchFamily="50" charset="-127"/>
                <a:cs typeface="Arial" pitchFamily="34" charset="0"/>
              </a:rPr>
              <a:t>   - </a:t>
            </a:r>
            <a:r>
              <a:rPr kumimoji="0" lang="en-US" altLang="ko-KR" sz="1600" b="1" dirty="0" err="1">
                <a:latin typeface="Arial" pitchFamily="34" charset="0"/>
                <a:ea typeface="맑은 고딕" panose="020B0503020000020004" pitchFamily="50" charset="-127"/>
                <a:cs typeface="Arial" pitchFamily="34" charset="0"/>
              </a:rPr>
              <a:t>Nếu</a:t>
            </a:r>
            <a:r>
              <a:rPr kumimoji="0" lang="en-US" altLang="ko-KR" sz="1600" b="1" dirty="0">
                <a:latin typeface="Arial" pitchFamily="34" charset="0"/>
                <a:ea typeface="맑은 고딕" panose="020B0503020000020004" pitchFamily="50" charset="-127"/>
                <a:cs typeface="Arial" pitchFamily="34" charset="0"/>
              </a:rPr>
              <a:t> X </a:t>
            </a:r>
            <a:r>
              <a:rPr kumimoji="0" lang="en-US" altLang="ko-KR" sz="1600" b="1" dirty="0" err="1">
                <a:latin typeface="Arial" pitchFamily="34" charset="0"/>
                <a:ea typeface="맑은 고딕" panose="020B0503020000020004" pitchFamily="50" charset="-127"/>
                <a:cs typeface="Arial" pitchFamily="34" charset="0"/>
              </a:rPr>
              <a:t>tăng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thì</a:t>
            </a:r>
            <a:r>
              <a:rPr kumimoji="0" lang="en-US" altLang="ko-KR" sz="1600" b="1" dirty="0">
                <a:latin typeface="Arial" pitchFamily="34" charset="0"/>
                <a:ea typeface="맑은 고딕" panose="020B0503020000020004" pitchFamily="50" charset="-127"/>
                <a:cs typeface="Arial" pitchFamily="34" charset="0"/>
              </a:rPr>
              <a:t> Y </a:t>
            </a:r>
            <a:r>
              <a:rPr kumimoji="0" lang="en-US" altLang="ko-KR" sz="1600" b="1" dirty="0" err="1">
                <a:latin typeface="Arial" pitchFamily="34" charset="0"/>
                <a:ea typeface="맑은 고딕" panose="020B0503020000020004" pitchFamily="50" charset="-127"/>
                <a:cs typeface="Arial" pitchFamily="34" charset="0"/>
              </a:rPr>
              <a:t>giảm</a:t>
            </a:r>
            <a:r>
              <a:rPr kumimoji="0" lang="en-US" altLang="ko-KR" sz="1600" b="1" dirty="0">
                <a:latin typeface="Arial" pitchFamily="34" charset="0"/>
                <a:ea typeface="맑은 고딕" panose="020B0503020000020004" pitchFamily="50" charset="-127"/>
                <a:cs typeface="Arial" pitchFamily="34" charset="0"/>
              </a:rPr>
              <a:t>.  </a:t>
            </a:r>
          </a:p>
          <a:p>
            <a:pPr fontAlgn="auto">
              <a:spcBef>
                <a:spcPts val="0"/>
              </a:spcBef>
              <a:spcAft>
                <a:spcPts val="0"/>
              </a:spcAft>
              <a:defRPr/>
            </a:pPr>
            <a:r>
              <a:rPr kumimoji="0" lang="en-US" altLang="ko-KR" sz="1600" b="1" dirty="0">
                <a:latin typeface="Arial" pitchFamily="34" charset="0"/>
                <a:ea typeface="맑은 고딕" panose="020B0503020000020004" pitchFamily="50" charset="-127"/>
                <a:cs typeface="Arial" pitchFamily="34" charset="0"/>
              </a:rPr>
              <a:t>     </a:t>
            </a:r>
          </a:p>
        </p:txBody>
      </p:sp>
      <p:pic>
        <p:nvPicPr>
          <p:cNvPr id="160773" name="그림 17" descr="3뚜렷한 복사.jpg"/>
          <p:cNvPicPr>
            <a:picLocks noChangeAspect="1"/>
          </p:cNvPicPr>
          <p:nvPr/>
        </p:nvPicPr>
        <p:blipFill>
          <a:blip r:embed="rId3" cstate="print">
            <a:extLst>
              <a:ext uri="{28A0092B-C50C-407E-A947-70E740481C1C}">
                <a14:useLocalDpi xmlns:a14="http://schemas.microsoft.com/office/drawing/2010/main"/>
              </a:ext>
            </a:extLst>
          </a:blip>
          <a:srcRect/>
          <a:stretch>
            <a:fillRect/>
          </a:stretch>
        </p:blipFill>
        <p:spPr bwMode="auto">
          <a:xfrm>
            <a:off x="5491163" y="4170363"/>
            <a:ext cx="2879725" cy="19335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137</a:t>
            </a:fld>
            <a:endParaRPr lang="ko-KR" altLang="en-US" dirty="0">
              <a:latin typeface="Arial" pitchFamily="34" charset="0"/>
              <a:cs typeface="Arial" pitchFamily="34" charset="0"/>
            </a:endParaRPr>
          </a:p>
        </p:txBody>
      </p:sp>
      <p:sp>
        <p:nvSpPr>
          <p:cNvPr id="9"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err="1">
                <a:latin typeface="Arial" pitchFamily="34" charset="0"/>
                <a:ea typeface="맑은 고딕" pitchFamily="50" charset="-127"/>
                <a:cs typeface="Arial" pitchFamily="34" charset="0"/>
              </a:rPr>
              <a:t>Các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loại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biểu</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đồ</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tán</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xạ</a:t>
            </a:r>
            <a:endParaRPr lang="en-US" altLang="ko-KR" sz="2000" b="1" dirty="0">
              <a:latin typeface="Arial" pitchFamily="34" charset="0"/>
              <a:ea typeface="맑은 고딕" pitchFamily="50" charset="-127"/>
              <a:cs typeface="Arial" pitchFamily="34" charset="0"/>
            </a:endParaRPr>
          </a:p>
        </p:txBody>
      </p:sp>
      <p:sp>
        <p:nvSpPr>
          <p:cNvPr id="11"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414694272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1136650" y="1268413"/>
            <a:ext cx="4230688" cy="1569660"/>
          </a:xfrm>
          <a:prstGeom prst="rect">
            <a:avLst/>
          </a:prstGeom>
        </p:spPr>
        <p:txBody>
          <a:bodyPr>
            <a:spAutoFit/>
          </a:bodyPr>
          <a:lstStyle/>
          <a:p>
            <a:pPr marL="342900" indent="-342900" fontAlgn="auto">
              <a:spcBef>
                <a:spcPts val="0"/>
              </a:spcBef>
              <a:spcAft>
                <a:spcPts val="0"/>
              </a:spcAft>
              <a:buClr>
                <a:srgbClr val="0000CC"/>
              </a:buClr>
              <a:buFont typeface="+mj-ea"/>
              <a:buAutoNum type="circleNumDbPlain" startAt="4"/>
              <a:defRPr/>
            </a:pPr>
            <a:r>
              <a:rPr kumimoji="0" lang="en-US" altLang="ko-KR" sz="1600" b="1" dirty="0" err="1">
                <a:solidFill>
                  <a:srgbClr val="0000CC"/>
                </a:solidFill>
                <a:latin typeface="Arial" pitchFamily="34" charset="0"/>
                <a:ea typeface="맑은 고딕" panose="020B0503020000020004" pitchFamily="50" charset="-127"/>
                <a:cs typeface="Arial" pitchFamily="34" charset="0"/>
              </a:rPr>
              <a:t>Mối</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tương</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quan</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tiêu</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cực</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yếu</a:t>
            </a:r>
            <a:endParaRPr kumimoji="0" lang="en-US" altLang="ko-KR" sz="1600" b="1" dirty="0">
              <a:solidFill>
                <a:srgbClr val="0000CC"/>
              </a:solidFill>
              <a:latin typeface="Arial" pitchFamily="34" charset="0"/>
              <a:ea typeface="맑은 고딕" panose="020B0503020000020004" pitchFamily="50" charset="-127"/>
              <a:cs typeface="Arial" pitchFamily="34" charset="0"/>
            </a:endParaRPr>
          </a:p>
          <a:p>
            <a:pPr fontAlgn="auto">
              <a:spcBef>
                <a:spcPts val="0"/>
              </a:spcBef>
              <a:spcAft>
                <a:spcPts val="0"/>
              </a:spcAft>
              <a:defRPr/>
            </a:pPr>
            <a:r>
              <a:rPr kumimoji="0" lang="en-US" altLang="ko-KR" sz="1600" b="1" dirty="0">
                <a:latin typeface="Arial" pitchFamily="34" charset="0"/>
                <a:ea typeface="맑은 고딕" panose="020B0503020000020004" pitchFamily="50" charset="-127"/>
                <a:cs typeface="Arial" pitchFamily="34" charset="0"/>
              </a:rPr>
              <a:t>   - </a:t>
            </a:r>
            <a:r>
              <a:rPr kumimoji="0" lang="en-US" altLang="ko-KR" sz="1600" b="1" dirty="0" err="1">
                <a:latin typeface="Arial" pitchFamily="34" charset="0"/>
                <a:ea typeface="맑은 고딕" panose="020B0503020000020004" pitchFamily="50" charset="-127"/>
                <a:cs typeface="Arial" pitchFamily="34" charset="0"/>
              </a:rPr>
              <a:t>Nếu</a:t>
            </a:r>
            <a:r>
              <a:rPr kumimoji="0" lang="en-US" altLang="ko-KR" sz="1600" b="1" dirty="0">
                <a:latin typeface="Arial" pitchFamily="34" charset="0"/>
                <a:ea typeface="맑은 고딕" panose="020B0503020000020004" pitchFamily="50" charset="-127"/>
                <a:cs typeface="Arial" pitchFamily="34" charset="0"/>
              </a:rPr>
              <a:t> X </a:t>
            </a:r>
            <a:r>
              <a:rPr kumimoji="0" lang="en-US" altLang="ko-KR" sz="1600" b="1" dirty="0" err="1">
                <a:latin typeface="Arial" pitchFamily="34" charset="0"/>
                <a:ea typeface="맑은 고딕" panose="020B0503020000020004" pitchFamily="50" charset="-127"/>
                <a:cs typeface="Arial" pitchFamily="34" charset="0"/>
              </a:rPr>
              <a:t>tăng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thì</a:t>
            </a:r>
            <a:r>
              <a:rPr kumimoji="0" lang="en-US" altLang="ko-KR" sz="1600" b="1" dirty="0">
                <a:latin typeface="Arial" pitchFamily="34" charset="0"/>
                <a:ea typeface="맑은 고딕" panose="020B0503020000020004" pitchFamily="50" charset="-127"/>
                <a:cs typeface="Arial" pitchFamily="34" charset="0"/>
              </a:rPr>
              <a:t> Y </a:t>
            </a:r>
            <a:r>
              <a:rPr kumimoji="0" lang="en-US" altLang="ko-KR" sz="1600" b="1" dirty="0" err="1">
                <a:latin typeface="Arial" pitchFamily="34" charset="0"/>
                <a:ea typeface="맑은 고딕" panose="020B0503020000020004" pitchFamily="50" charset="-127"/>
                <a:cs typeface="Arial" pitchFamily="34" charset="0"/>
              </a:rPr>
              <a:t>giảm</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tuy</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nhiên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mức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độ</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không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lớn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Như</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vậy</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ngoài</a:t>
            </a:r>
            <a:r>
              <a:rPr kumimoji="0" lang="en-US" altLang="ko-KR" sz="1600" b="1" dirty="0">
                <a:latin typeface="Arial" pitchFamily="34" charset="0"/>
                <a:ea typeface="맑은 고딕" panose="020B0503020000020004" pitchFamily="50" charset="-127"/>
                <a:cs typeface="Arial" pitchFamily="34" charset="0"/>
              </a:rPr>
              <a:t> X, </a:t>
            </a:r>
            <a:r>
              <a:rPr kumimoji="0" lang="en-US" altLang="ko-KR" sz="1600" b="1" dirty="0" err="1">
                <a:latin typeface="Arial" pitchFamily="34" charset="0"/>
                <a:ea typeface="맑은 고딕" panose="020B0503020000020004" pitchFamily="50" charset="-127"/>
                <a:cs typeface="Arial" pitchFamily="34" charset="0"/>
              </a:rPr>
              <a:t>tồn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tại</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nhân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tố</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khác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cũng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động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tới</a:t>
            </a:r>
            <a:r>
              <a:rPr kumimoji="0" lang="en-US" altLang="ko-KR" sz="1600" b="1" dirty="0">
                <a:latin typeface="Arial" pitchFamily="34" charset="0"/>
                <a:ea typeface="맑은 고딕" panose="020B0503020000020004" pitchFamily="50" charset="-127"/>
                <a:cs typeface="Arial" pitchFamily="34" charset="0"/>
              </a:rPr>
              <a:t> Y </a:t>
            </a:r>
            <a:r>
              <a:rPr kumimoji="0" lang="en-US" altLang="ko-KR" sz="1600" b="1" dirty="0" err="1">
                <a:latin typeface="Arial" pitchFamily="34" charset="0"/>
                <a:ea typeface="맑은 고딕" panose="020B0503020000020004" pitchFamily="50" charset="-127"/>
                <a:cs typeface="Arial" pitchFamily="34" charset="0"/>
              </a:rPr>
              <a:t>và</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cần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được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lưu</a:t>
            </a:r>
            <a:r>
              <a:rPr kumimoji="0" lang="en-US" altLang="ko-KR" sz="1600" b="1" dirty="0">
                <a:latin typeface="Arial" pitchFamily="34" charset="0"/>
                <a:ea typeface="맑은 고딕" panose="020B0503020000020004" pitchFamily="50" charset="-127"/>
                <a:cs typeface="Arial" pitchFamily="34" charset="0"/>
              </a:rPr>
              <a:t> ý.</a:t>
            </a:r>
          </a:p>
          <a:p>
            <a:pPr fontAlgn="auto">
              <a:spcBef>
                <a:spcPts val="0"/>
              </a:spcBef>
              <a:spcAft>
                <a:spcPts val="0"/>
              </a:spcAft>
              <a:defRPr/>
            </a:pPr>
            <a:endParaRPr kumimoji="0" lang="en-US" altLang="ko-KR" sz="1600" b="1" dirty="0">
              <a:latin typeface="Arial" pitchFamily="34" charset="0"/>
              <a:ea typeface="맑은 고딕" panose="020B0503020000020004" pitchFamily="50" charset="-127"/>
              <a:cs typeface="Arial" pitchFamily="34" charset="0"/>
            </a:endParaRPr>
          </a:p>
        </p:txBody>
      </p:sp>
      <p:sp>
        <p:nvSpPr>
          <p:cNvPr id="3" name="직사각형 2"/>
          <p:cNvSpPr/>
          <p:nvPr/>
        </p:nvSpPr>
        <p:spPr>
          <a:xfrm>
            <a:off x="1136650" y="3563938"/>
            <a:ext cx="4014788" cy="1077218"/>
          </a:xfrm>
          <a:prstGeom prst="rect">
            <a:avLst/>
          </a:prstGeom>
        </p:spPr>
        <p:txBody>
          <a:bodyPr>
            <a:spAutoFit/>
          </a:bodyPr>
          <a:lstStyle/>
          <a:p>
            <a:pPr marL="342900" indent="-342900" fontAlgn="auto">
              <a:spcBef>
                <a:spcPts val="0"/>
              </a:spcBef>
              <a:spcAft>
                <a:spcPts val="0"/>
              </a:spcAft>
              <a:buClr>
                <a:srgbClr val="0000CC"/>
              </a:buClr>
              <a:buFont typeface="+mj-ea"/>
              <a:buAutoNum type="circleNumDbPlain" startAt="5"/>
              <a:defRPr/>
            </a:pPr>
            <a:r>
              <a:rPr kumimoji="0" lang="en-US" altLang="ko-KR" sz="1600" b="1" dirty="0" err="1">
                <a:solidFill>
                  <a:srgbClr val="0000CC"/>
                </a:solidFill>
                <a:latin typeface="Arial" pitchFamily="34" charset="0"/>
                <a:ea typeface="맑은 고딕" panose="020B0503020000020004" pitchFamily="50" charset="-127"/>
                <a:cs typeface="Arial" pitchFamily="34" charset="0"/>
              </a:rPr>
              <a:t>Không</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có</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sự</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tương</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quan</a:t>
            </a:r>
            <a:endParaRPr kumimoji="0" lang="en-US" altLang="ko-KR" sz="1600" b="1" dirty="0">
              <a:solidFill>
                <a:srgbClr val="0000CC"/>
              </a:solidFill>
              <a:latin typeface="Arial" pitchFamily="34" charset="0"/>
              <a:ea typeface="맑은 고딕" panose="020B0503020000020004" pitchFamily="50" charset="-127"/>
              <a:cs typeface="Arial" pitchFamily="34" charset="0"/>
            </a:endParaRPr>
          </a:p>
          <a:p>
            <a:pPr fontAlgn="auto">
              <a:spcBef>
                <a:spcPts val="0"/>
              </a:spcBef>
              <a:spcAft>
                <a:spcPts val="0"/>
              </a:spcAft>
              <a:defRPr/>
            </a:pPr>
            <a:r>
              <a:rPr kumimoji="0" lang="en-US" altLang="ko-KR" sz="1600" b="1" dirty="0">
                <a:latin typeface="Arial" pitchFamily="34" charset="0"/>
                <a:ea typeface="맑은 고딕" panose="020B0503020000020004" pitchFamily="50" charset="-127"/>
                <a:cs typeface="Arial" pitchFamily="34" charset="0"/>
              </a:rPr>
              <a:t>   - </a:t>
            </a:r>
            <a:r>
              <a:rPr kumimoji="0" lang="en-US" altLang="ko-KR" sz="1600" b="1" dirty="0" err="1">
                <a:latin typeface="Arial" pitchFamily="34" charset="0"/>
                <a:ea typeface="맑은 고딕" panose="020B0503020000020004" pitchFamily="50" charset="-127"/>
                <a:cs typeface="Arial" pitchFamily="34" charset="0"/>
              </a:rPr>
              <a:t>Nếu</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không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có</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sự</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tương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quan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giữa</a:t>
            </a:r>
            <a:r>
              <a:rPr kumimoji="0" lang="en-US" altLang="ko-KR" sz="1600" b="1" dirty="0">
                <a:latin typeface="Arial" pitchFamily="34" charset="0"/>
                <a:ea typeface="맑은 고딕" panose="020B0503020000020004" pitchFamily="50" charset="-127"/>
                <a:cs typeface="Arial" pitchFamily="34" charset="0"/>
              </a:rPr>
              <a:t> X </a:t>
            </a:r>
            <a:r>
              <a:rPr kumimoji="0" lang="en-US" altLang="ko-KR" sz="1600" b="1" dirty="0" err="1">
                <a:latin typeface="Arial" pitchFamily="34" charset="0"/>
                <a:ea typeface="맑은 고딕" panose="020B0503020000020004" pitchFamily="50" charset="-127"/>
                <a:cs typeface="Arial" pitchFamily="34" charset="0"/>
              </a:rPr>
              <a:t>và</a:t>
            </a:r>
            <a:r>
              <a:rPr kumimoji="0" lang="en-US" altLang="ko-KR" sz="1600" b="1" dirty="0">
                <a:latin typeface="Arial" pitchFamily="34" charset="0"/>
                <a:ea typeface="맑은 고딕" panose="020B0503020000020004" pitchFamily="50" charset="-127"/>
                <a:cs typeface="Arial" pitchFamily="34" charset="0"/>
              </a:rPr>
              <a:t> Y, </a:t>
            </a:r>
            <a:r>
              <a:rPr kumimoji="0" lang="en-US" altLang="ko-KR" sz="1600" b="1" dirty="0" err="1">
                <a:latin typeface="Arial" pitchFamily="34" charset="0"/>
                <a:ea typeface="맑은 고딕" panose="020B0503020000020004" pitchFamily="50" charset="-127"/>
                <a:cs typeface="Arial" pitchFamily="34" charset="0"/>
              </a:rPr>
              <a:t>các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điểm</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sẽ</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tập</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hợp</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lại</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giống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hình</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tròn</a:t>
            </a:r>
            <a:r>
              <a:rPr kumimoji="0" lang="en-US" altLang="ko-KR" sz="1600" b="1" dirty="0">
                <a:latin typeface="Arial" pitchFamily="34" charset="0"/>
                <a:ea typeface="맑은 고딕" panose="020B0503020000020004" pitchFamily="50" charset="-127"/>
                <a:cs typeface="Arial" pitchFamily="34" charset="0"/>
              </a:rPr>
              <a:t>. </a:t>
            </a:r>
          </a:p>
        </p:txBody>
      </p:sp>
      <p:pic>
        <p:nvPicPr>
          <p:cNvPr id="161796" name="그림 12" descr="4DIR.jpg"/>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bwMode="auto">
          <a:xfrm>
            <a:off x="5508625" y="1616075"/>
            <a:ext cx="2879725" cy="19573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61797" name="그림 19" descr="5상관.jpg"/>
          <p:cNvPicPr>
            <a:picLocks noChangeAspect="1"/>
          </p:cNvPicPr>
          <p:nvPr/>
        </p:nvPicPr>
        <p:blipFill>
          <a:blip r:embed="rId3" cstate="print">
            <a:extLst>
              <a:ext uri="{28A0092B-C50C-407E-A947-70E740481C1C}">
                <a14:useLocalDpi xmlns:a14="http://schemas.microsoft.com/office/drawing/2010/main"/>
              </a:ext>
            </a:extLst>
          </a:blip>
          <a:srcRect/>
          <a:stretch>
            <a:fillRect/>
          </a:stretch>
        </p:blipFill>
        <p:spPr bwMode="auto">
          <a:xfrm>
            <a:off x="5508625" y="3832225"/>
            <a:ext cx="2879725" cy="20447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 name="슬라이드 번호 개체 틀 3"/>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138</a:t>
            </a:fld>
            <a:endParaRPr lang="ko-KR" altLang="en-US" dirty="0">
              <a:latin typeface="Arial" pitchFamily="34" charset="0"/>
              <a:cs typeface="Arial" pitchFamily="34" charset="0"/>
            </a:endParaRPr>
          </a:p>
        </p:txBody>
      </p:sp>
      <p:sp>
        <p:nvSpPr>
          <p:cNvPr id="9"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err="1">
                <a:latin typeface="Arial" pitchFamily="34" charset="0"/>
                <a:ea typeface="맑은 고딕" pitchFamily="50" charset="-127"/>
                <a:cs typeface="Arial" pitchFamily="34" charset="0"/>
              </a:rPr>
              <a:t>Các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loại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biểu</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đồ</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tán</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xạ</a:t>
            </a:r>
            <a:endParaRPr lang="en-US" altLang="ko-KR" sz="2000" b="1" dirty="0">
              <a:latin typeface="Arial" pitchFamily="34" charset="0"/>
              <a:ea typeface="맑은 고딕" pitchFamily="50" charset="-127"/>
              <a:cs typeface="Arial" pitchFamily="34" charset="0"/>
            </a:endParaRPr>
          </a:p>
        </p:txBody>
      </p:sp>
      <p:sp>
        <p:nvSpPr>
          <p:cNvPr id="10"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412736004"/>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1136650" y="1481138"/>
            <a:ext cx="4230688" cy="1077218"/>
          </a:xfrm>
          <a:prstGeom prst="rect">
            <a:avLst/>
          </a:prstGeom>
        </p:spPr>
        <p:txBody>
          <a:bodyPr>
            <a:spAutoFit/>
          </a:bodyPr>
          <a:lstStyle/>
          <a:p>
            <a:pPr marL="342900" indent="-342900" fontAlgn="auto">
              <a:spcBef>
                <a:spcPts val="0"/>
              </a:spcBef>
              <a:spcAft>
                <a:spcPts val="0"/>
              </a:spcAft>
              <a:buClr>
                <a:srgbClr val="0000CC"/>
              </a:buClr>
              <a:buFont typeface="+mj-ea"/>
              <a:buAutoNum type="circleNumDbPlain" startAt="6"/>
              <a:defRPr/>
            </a:pPr>
            <a:r>
              <a:rPr kumimoji="0" lang="en-US" altLang="ko-KR" sz="1600" b="1" dirty="0" err="1">
                <a:solidFill>
                  <a:srgbClr val="0000CC"/>
                </a:solidFill>
                <a:latin typeface="Arial" pitchFamily="34" charset="0"/>
                <a:ea typeface="맑은 고딕" panose="020B0503020000020004" pitchFamily="50" charset="-127"/>
                <a:cs typeface="Arial" pitchFamily="34" charset="0"/>
              </a:rPr>
              <a:t>Không</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có</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mối</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tương</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quan</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tuyến</a:t>
            </a:r>
            <a:r>
              <a:rPr kumimoji="0" lang="en-US" altLang="ko-KR" sz="1600" b="1" dirty="0">
                <a:solidFill>
                  <a:srgbClr val="0000CC"/>
                </a:solidFill>
                <a:latin typeface="Arial" pitchFamily="34" charset="0"/>
                <a:ea typeface="맑은 고딕" panose="020B0503020000020004" pitchFamily="50" charset="-127"/>
                <a:cs typeface="Arial" pitchFamily="34" charset="0"/>
              </a:rPr>
              <a:t> </a:t>
            </a:r>
            <a:r>
              <a:rPr kumimoji="0" lang="en-US" altLang="ko-KR" sz="1600" b="1" dirty="0" err="1">
                <a:solidFill>
                  <a:srgbClr val="0000CC"/>
                </a:solidFill>
                <a:latin typeface="Arial" pitchFamily="34" charset="0"/>
                <a:ea typeface="맑은 고딕" panose="020B0503020000020004" pitchFamily="50" charset="-127"/>
                <a:cs typeface="Arial" pitchFamily="34" charset="0"/>
              </a:rPr>
              <a:t>tính</a:t>
            </a:r>
            <a:endParaRPr kumimoji="0" lang="en-US" altLang="ko-KR" sz="1600" b="1" dirty="0">
              <a:solidFill>
                <a:srgbClr val="0000CC"/>
              </a:solidFill>
              <a:latin typeface="Arial" pitchFamily="34" charset="0"/>
              <a:ea typeface="맑은 고딕" panose="020B0503020000020004" pitchFamily="50" charset="-127"/>
              <a:cs typeface="Arial" pitchFamily="34" charset="0"/>
            </a:endParaRPr>
          </a:p>
          <a:p>
            <a:pPr marL="171450" fontAlgn="auto">
              <a:spcBef>
                <a:spcPts val="0"/>
              </a:spcBef>
              <a:spcAft>
                <a:spcPts val="0"/>
              </a:spcAft>
              <a:buClr>
                <a:srgbClr val="0000CC"/>
              </a:buClr>
              <a:defRPr/>
            </a:pP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Mối</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tương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quan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giữa</a:t>
            </a:r>
            <a:r>
              <a:rPr kumimoji="0" lang="en-US" altLang="ko-KR" sz="1600" b="1" dirty="0">
                <a:latin typeface="Arial" pitchFamily="34" charset="0"/>
                <a:ea typeface="맑은 고딕" panose="020B0503020000020004" pitchFamily="50" charset="-127"/>
                <a:cs typeface="Arial" pitchFamily="34" charset="0"/>
              </a:rPr>
              <a:t> X </a:t>
            </a:r>
            <a:r>
              <a:rPr kumimoji="0" lang="en-US" altLang="ko-KR" sz="1600" b="1" dirty="0" err="1">
                <a:latin typeface="Arial" pitchFamily="34" charset="0"/>
                <a:ea typeface="맑은 고딕" panose="020B0503020000020004" pitchFamily="50" charset="-127"/>
                <a:cs typeface="Arial" pitchFamily="34" charset="0"/>
              </a:rPr>
              <a:t>và</a:t>
            </a:r>
            <a:r>
              <a:rPr kumimoji="0" lang="en-US" altLang="ko-KR" sz="1600" b="1" dirty="0">
                <a:latin typeface="Arial" pitchFamily="34" charset="0"/>
                <a:ea typeface="맑은 고딕" panose="020B0503020000020004" pitchFamily="50" charset="-127"/>
                <a:cs typeface="Arial" pitchFamily="34" charset="0"/>
              </a:rPr>
              <a:t> Y </a:t>
            </a:r>
            <a:r>
              <a:rPr kumimoji="0" lang="en-US" altLang="ko-KR" sz="1600" b="1" dirty="0" err="1">
                <a:latin typeface="Arial" pitchFamily="34" charset="0"/>
                <a:ea typeface="맑은 고딕" panose="020B0503020000020004" pitchFamily="50" charset="-127"/>
                <a:cs typeface="Arial" pitchFamily="34" charset="0"/>
              </a:rPr>
              <a:t>có</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thể</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được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diễn</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tả</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bằng</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thứ</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tự</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của</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đường</a:t>
            </a:r>
            <a:r>
              <a:rPr kumimoji="0" lang="en-US" altLang="ko-KR" sz="1600" b="1" dirty="0">
                <a:latin typeface="Arial" pitchFamily="34" charset="0"/>
                <a:ea typeface="맑은 고딕" panose="020B0503020000020004" pitchFamily="50" charset="-127"/>
                <a:cs typeface="Arial" pitchFamily="34" charset="0"/>
              </a:rPr>
              <a:t> cong </a:t>
            </a:r>
            <a:r>
              <a:rPr kumimoji="0" lang="en-US" altLang="ko-KR" sz="1600" b="1" dirty="0" err="1">
                <a:latin typeface="Arial" pitchFamily="34" charset="0"/>
                <a:ea typeface="맑은 고딕" panose="020B0503020000020004" pitchFamily="50" charset="-127"/>
                <a:cs typeface="Arial" pitchFamily="34" charset="0"/>
              </a:rPr>
              <a:t>thứ</a:t>
            </a:r>
            <a:r>
              <a:rPr kumimoji="0" lang="en-US" altLang="ko-KR" sz="1600" b="1" dirty="0">
                <a:latin typeface="Arial" pitchFamily="34" charset="0"/>
                <a:ea typeface="맑은 고딕" panose="020B0503020000020004" pitchFamily="50" charset="-127"/>
                <a:cs typeface="Arial" pitchFamily="34" charset="0"/>
              </a:rPr>
              <a:t> 2 </a:t>
            </a:r>
            <a:r>
              <a:rPr kumimoji="0" lang="en-US" altLang="ko-KR" sz="1600" b="1" dirty="0" err="1">
                <a:latin typeface="Arial" pitchFamily="34" charset="0"/>
                <a:ea typeface="맑은 고딕" panose="020B0503020000020004" pitchFamily="50" charset="-127"/>
                <a:cs typeface="Arial" pitchFamily="34" charset="0"/>
              </a:rPr>
              <a:t>hoặc</a:t>
            </a:r>
            <a:r>
              <a:rPr kumimoji="0" lang="en-US" altLang="ko-KR" sz="1600" b="1" dirty="0">
                <a:latin typeface="Arial" pitchFamily="34" charset="0"/>
                <a:ea typeface="맑은 고딕" panose="020B0503020000020004" pitchFamily="50" charset="-127"/>
                <a:cs typeface="Arial" pitchFamily="34" charset="0"/>
              </a:rPr>
              <a:t> </a:t>
            </a:r>
            <a:r>
              <a:rPr kumimoji="0" lang="en-US" altLang="ko-KR" sz="1600" b="1" dirty="0" err="1">
                <a:latin typeface="Arial" pitchFamily="34" charset="0"/>
                <a:ea typeface="맑은 고딕" panose="020B0503020000020004" pitchFamily="50" charset="-127"/>
                <a:cs typeface="Arial" pitchFamily="34" charset="0"/>
              </a:rPr>
              <a:t>thứ</a:t>
            </a:r>
            <a:r>
              <a:rPr kumimoji="0" lang="en-US" altLang="ko-KR" sz="1600" b="1" dirty="0">
                <a:latin typeface="Arial" pitchFamily="34" charset="0"/>
                <a:ea typeface="맑은 고딕" panose="020B0503020000020004" pitchFamily="50" charset="-127"/>
                <a:cs typeface="Arial" pitchFamily="34" charset="0"/>
              </a:rPr>
              <a:t> 3</a:t>
            </a:r>
          </a:p>
        </p:txBody>
      </p:sp>
      <p:pic>
        <p:nvPicPr>
          <p:cNvPr id="162819" name="그림 15" descr="6직선.jpg"/>
          <p:cNvPicPr>
            <a:picLocks noChangeAspect="1"/>
          </p:cNvPicPr>
          <p:nvPr/>
        </p:nvPicPr>
        <p:blipFill>
          <a:blip r:embed="rId3" cstate="print">
            <a:extLst>
              <a:ext uri="{28A0092B-C50C-407E-A947-70E740481C1C}">
                <a14:useLocalDpi xmlns:a14="http://schemas.microsoft.com/office/drawing/2010/main"/>
              </a:ext>
            </a:extLst>
          </a:blip>
          <a:srcRect/>
          <a:stretch>
            <a:fillRect/>
          </a:stretch>
        </p:blipFill>
        <p:spPr bwMode="auto">
          <a:xfrm>
            <a:off x="5367338" y="1770063"/>
            <a:ext cx="2879725" cy="20193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139</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err="1">
                <a:latin typeface="Arial" pitchFamily="34" charset="0"/>
                <a:ea typeface="맑은 고딕" pitchFamily="50" charset="-127"/>
                <a:cs typeface="Arial" pitchFamily="34" charset="0"/>
              </a:rPr>
              <a:t>Các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loại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biểu</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đồ</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tán</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xạ</a:t>
            </a:r>
            <a:endParaRPr lang="en-US" altLang="ko-KR" sz="2000" b="1" dirty="0">
              <a:latin typeface="Arial" pitchFamily="34" charset="0"/>
              <a:ea typeface="맑은 고딕" pitchFamily="50" charset="-127"/>
              <a:cs typeface="Arial" pitchFamily="34" charset="0"/>
            </a:endParaRPr>
          </a:p>
        </p:txBody>
      </p:sp>
      <p:sp>
        <p:nvSpPr>
          <p:cNvPr id="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607778003"/>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61" name="TextBox 2"/>
          <p:cNvSpPr txBox="1">
            <a:spLocks noChangeArrowheads="1"/>
          </p:cNvSpPr>
          <p:nvPr/>
        </p:nvSpPr>
        <p:spPr bwMode="auto">
          <a:xfrm>
            <a:off x="2254870" y="2924944"/>
            <a:ext cx="5469190" cy="736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3600" b="1" dirty="0" err="1">
                <a:latin typeface="Arial" pitchFamily="34" charset="0"/>
                <a:ea typeface="맑은 고딕" pitchFamily="50" charset="-127"/>
                <a:cs typeface="Arial" pitchFamily="34" charset="0"/>
              </a:rPr>
              <a:t>Thực</a:t>
            </a:r>
            <a:r>
              <a:rPr lang="en-US" altLang="ko-KR" sz="3600" b="1" dirty="0">
                <a:latin typeface="Arial" pitchFamily="34" charset="0"/>
                <a:ea typeface="맑은 고딕" pitchFamily="50" charset="-127"/>
                <a:cs typeface="Arial" pitchFamily="34" charset="0"/>
              </a:rPr>
              <a:t> </a:t>
            </a:r>
            <a:r>
              <a:rPr lang="en-US" altLang="ko-KR" sz="3600" b="1" dirty="0" err="1">
                <a:latin typeface="Arial" pitchFamily="34" charset="0"/>
                <a:ea typeface="맑은 고딕" pitchFamily="50" charset="-127"/>
                <a:cs typeface="Arial" pitchFamily="34" charset="0"/>
              </a:rPr>
              <a:t>hành</a:t>
            </a:r>
            <a:r>
              <a:rPr lang="en-US" altLang="ko-KR" sz="3600" b="1" dirty="0">
                <a:latin typeface="Arial" pitchFamily="34" charset="0"/>
                <a:ea typeface="맑은 고딕" pitchFamily="50" charset="-127"/>
                <a:cs typeface="Arial" pitchFamily="34" charset="0"/>
              </a:rPr>
              <a:t> </a:t>
            </a:r>
            <a:r>
              <a:rPr lang="en-US" altLang="ko-KR" sz="3600" b="1" dirty="0" err="1">
                <a:latin typeface="Arial" pitchFamily="34" charset="0"/>
                <a:ea typeface="맑은 고딕" pitchFamily="50" charset="-127"/>
                <a:cs typeface="Arial" pitchFamily="34" charset="0"/>
              </a:rPr>
              <a:t>và</a:t>
            </a:r>
            <a:r>
              <a:rPr lang="en-US" altLang="ko-KR" sz="3600" b="1" dirty="0">
                <a:latin typeface="Arial" pitchFamily="34" charset="0"/>
                <a:ea typeface="맑은 고딕" pitchFamily="50" charset="-127"/>
                <a:cs typeface="Arial" pitchFamily="34" charset="0"/>
              </a:rPr>
              <a:t> </a:t>
            </a:r>
            <a:r>
              <a:rPr lang="en-US" altLang="ko-KR" sz="3600" b="1" dirty="0" err="1">
                <a:latin typeface="Arial" pitchFamily="34" charset="0"/>
                <a:ea typeface="맑은 고딕" pitchFamily="50" charset="-127"/>
                <a:cs typeface="Arial" pitchFamily="34" charset="0"/>
              </a:rPr>
              <a:t>thảo</a:t>
            </a:r>
            <a:r>
              <a:rPr lang="en-US" altLang="ko-KR" sz="3600" b="1" dirty="0">
                <a:latin typeface="Arial" pitchFamily="34" charset="0"/>
                <a:ea typeface="맑은 고딕" pitchFamily="50" charset="-127"/>
                <a:cs typeface="Arial" pitchFamily="34" charset="0"/>
              </a:rPr>
              <a:t> </a:t>
            </a:r>
            <a:r>
              <a:rPr lang="en-US" altLang="ko-KR" sz="3600" b="1" dirty="0" err="1">
                <a:latin typeface="Arial" pitchFamily="34" charset="0"/>
                <a:ea typeface="맑은 고딕" pitchFamily="50" charset="-127"/>
                <a:cs typeface="Arial" pitchFamily="34" charset="0"/>
              </a:rPr>
              <a:t>luận</a:t>
            </a:r>
            <a:endParaRPr lang="ko-KR" altLang="en-US" sz="3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140</a:t>
            </a:fld>
            <a:endParaRPr lang="ko-KR" altLang="en-US" dirty="0"/>
          </a:p>
        </p:txBody>
      </p:sp>
      <p:sp>
        <p:nvSpPr>
          <p:cNvPr id="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
        <p:nvSpPr>
          <p:cNvPr id="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
        <p:nvSpPr>
          <p:cNvPr id="9" name="Isosceles Triangle 8"/>
          <p:cNvSpPr/>
          <p:nvPr/>
        </p:nvSpPr>
        <p:spPr>
          <a:xfrm rot="5400000">
            <a:off x="1208584" y="2924944"/>
            <a:ext cx="720080" cy="864096"/>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p>
        </p:txBody>
      </p:sp>
    </p:spTree>
    <p:extLst>
      <p:ext uri="{BB962C8B-B14F-4D97-AF65-F5344CB8AC3E}">
        <p14:creationId xmlns:p14="http://schemas.microsoft.com/office/powerpoint/2010/main" val="3281373007"/>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3"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맑은 고딕" pitchFamily="50" charset="-127"/>
                <a:ea typeface="맑은 고딕" pitchFamily="50" charset="-127"/>
              </a:rPr>
              <a:t>Scatter Plot</a:t>
            </a:r>
            <a:endParaRPr lang="ko-KR" altLang="en-US" sz="1600" b="1" dirty="0">
              <a:latin typeface="맑은 고딕" pitchFamily="50" charset="-127"/>
              <a:ea typeface="맑은 고딕" pitchFamily="50" charset="-127"/>
            </a:endParaRPr>
          </a:p>
        </p:txBody>
      </p:sp>
      <p:sp>
        <p:nvSpPr>
          <p:cNvPr id="4" name="TextBox 3"/>
          <p:cNvSpPr txBox="1"/>
          <p:nvPr/>
        </p:nvSpPr>
        <p:spPr>
          <a:xfrm>
            <a:off x="920750" y="1196975"/>
            <a:ext cx="8640762" cy="1061829"/>
          </a:xfrm>
          <a:prstGeom prst="rect">
            <a:avLst/>
          </a:prstGeom>
          <a:noFill/>
        </p:spPr>
        <p:txBody>
          <a:bodyPr wrap="square">
            <a:spAutoFit/>
          </a:bodyPr>
          <a:lstStyle/>
          <a:p>
            <a:pPr marL="266700" indent="-266700">
              <a:lnSpc>
                <a:spcPct val="150000"/>
              </a:lnSpc>
              <a:buClr>
                <a:srgbClr val="C5003D"/>
              </a:buClr>
              <a:buFont typeface="Wingdings" pitchFamily="2" charset="2"/>
              <a:buChar char="u"/>
              <a:defRPr/>
            </a:pPr>
            <a:r>
              <a:rPr lang="en-US" altLang="ko-KR" sz="1400" b="1" dirty="0" err="1">
                <a:latin typeface="맑은 고딕" panose="020B0503020000020004" pitchFamily="50" charset="-127"/>
                <a:ea typeface="맑은 고딕" panose="020B0503020000020004" pitchFamily="50" charset="-127"/>
              </a:rPr>
              <a:t>Dưới</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đây</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là</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dữ</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liệu</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từ</a:t>
            </a:r>
            <a:r>
              <a:rPr lang="en-US" altLang="ko-KR" sz="1400" b="1" dirty="0">
                <a:latin typeface="맑은 고딕" panose="020B0503020000020004" pitchFamily="50" charset="-127"/>
                <a:ea typeface="맑은 고딕" panose="020B0503020000020004" pitchFamily="50" charset="-127"/>
              </a:rPr>
              <a:t> 1 </a:t>
            </a:r>
            <a:r>
              <a:rPr lang="en-US" altLang="ko-KR" sz="1400" b="1" dirty="0" err="1">
                <a:latin typeface="맑은 고딕" panose="020B0503020000020004" pitchFamily="50" charset="-127"/>
                <a:ea typeface="맑은 고딕" panose="020B0503020000020004" pitchFamily="50" charset="-127"/>
              </a:rPr>
              <a:t>cuộc</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khảo</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sát</a:t>
            </a:r>
            <a:r>
              <a:rPr lang="en-US" altLang="ko-KR" sz="1400" b="1" dirty="0">
                <a:latin typeface="맑은 고딕" panose="020B0503020000020004" pitchFamily="50" charset="-127"/>
                <a:ea typeface="맑은 고딕" panose="020B0503020000020004" pitchFamily="50" charset="-127"/>
              </a:rPr>
              <a:t>.</a:t>
            </a:r>
          </a:p>
          <a:p>
            <a:pPr>
              <a:lnSpc>
                <a:spcPct val="150000"/>
              </a:lnSpc>
              <a:buClr>
                <a:srgbClr val="C5003D"/>
              </a:buClr>
              <a:defRPr/>
            </a:pP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Có</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mối</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liên</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hệ</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nào</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giữa</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độ</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tuổi</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và</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thu</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nhập</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hàng</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tháng</a:t>
            </a:r>
            <a:r>
              <a:rPr lang="en-US" altLang="ko-KR" sz="1400" b="1" dirty="0">
                <a:latin typeface="맑은 고딕" panose="020B0503020000020004" pitchFamily="50" charset="-127"/>
                <a:ea typeface="맑은 고딕" panose="020B0503020000020004" pitchFamily="50" charset="-127"/>
              </a:rPr>
              <a:t> hay </a:t>
            </a:r>
            <a:r>
              <a:rPr lang="en-US" altLang="ko-KR" sz="1400" b="1" dirty="0" err="1">
                <a:latin typeface="맑은 고딕" panose="020B0503020000020004" pitchFamily="50" charset="-127"/>
                <a:ea typeface="맑은 고딕" panose="020B0503020000020004" pitchFamily="50" charset="-127"/>
              </a:rPr>
              <a:t>không</a:t>
            </a:r>
            <a:r>
              <a:rPr lang="en-US" altLang="ko-KR" sz="1400" b="1" dirty="0">
                <a:latin typeface="맑은 고딕" panose="020B0503020000020004" pitchFamily="50" charset="-127"/>
                <a:ea typeface="맑은 고딕" panose="020B0503020000020004" pitchFamily="50" charset="-127"/>
              </a:rPr>
              <a:t>?</a:t>
            </a:r>
          </a:p>
          <a:p>
            <a:pPr>
              <a:lnSpc>
                <a:spcPct val="150000"/>
              </a:lnSpc>
              <a:buClr>
                <a:srgbClr val="C5003D"/>
              </a:buClr>
              <a:defRPr/>
            </a:pPr>
            <a:r>
              <a:rPr lang="en-US" altLang="ko-KR" sz="1400" b="1" dirty="0">
                <a:latin typeface="맑은 고딕" panose="020B0503020000020004" pitchFamily="50" charset="-127"/>
                <a:ea typeface="맑은 고딕" panose="020B0503020000020004" pitchFamily="50" charset="-127"/>
              </a:rPr>
              <a:t>     Thu </a:t>
            </a:r>
            <a:r>
              <a:rPr lang="en-US" altLang="ko-KR" sz="1400" b="1" dirty="0" err="1">
                <a:latin typeface="맑은 고딕" panose="020B0503020000020004" pitchFamily="50" charset="-127"/>
                <a:ea typeface="맑은 고딕" panose="020B0503020000020004" pitchFamily="50" charset="-127"/>
              </a:rPr>
              <a:t>nhập</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có</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tăng</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khi</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độ</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tuổi</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tăng</a:t>
            </a:r>
            <a:r>
              <a:rPr lang="en-US" altLang="ko-KR" sz="1400" b="1" dirty="0">
                <a:latin typeface="맑은 고딕" panose="020B0503020000020004" pitchFamily="50" charset="-127"/>
                <a:ea typeface="맑은 고딕" panose="020B0503020000020004" pitchFamily="50" charset="-127"/>
              </a:rPr>
              <a:t> </a:t>
            </a:r>
            <a:r>
              <a:rPr lang="en-US" altLang="ko-KR" sz="1400" b="1" dirty="0" err="1">
                <a:latin typeface="맑은 고딕" panose="020B0503020000020004" pitchFamily="50" charset="-127"/>
                <a:ea typeface="맑은 고딕" panose="020B0503020000020004" pitchFamily="50" charset="-127"/>
              </a:rPr>
              <a:t>không</a:t>
            </a:r>
            <a:r>
              <a:rPr lang="en-US" altLang="ko-KR" sz="1400" b="1" dirty="0">
                <a:latin typeface="맑은 고딕" panose="020B0503020000020004" pitchFamily="50" charset="-127"/>
                <a:ea typeface="맑은 고딕" panose="020B0503020000020004" pitchFamily="50" charset="-127"/>
              </a:rPr>
              <a:t>?</a:t>
            </a:r>
            <a:endParaRPr lang="ko-KR" altLang="en-US" sz="1400" b="1" dirty="0">
              <a:latin typeface="맑은 고딕" panose="020B0503020000020004" pitchFamily="50" charset="-127"/>
              <a:ea typeface="맑은 고딕" panose="020B0503020000020004" pitchFamily="50" charset="-127"/>
            </a:endParaRPr>
          </a:p>
        </p:txBody>
      </p:sp>
      <p:graphicFrame>
        <p:nvGraphicFramePr>
          <p:cNvPr id="5" name="표 4"/>
          <p:cNvGraphicFramePr>
            <a:graphicFrameLocks noGrp="1"/>
          </p:cNvGraphicFramePr>
          <p:nvPr/>
        </p:nvGraphicFramePr>
        <p:xfrm>
          <a:off x="1568624" y="2492375"/>
          <a:ext cx="1700040" cy="3722685"/>
        </p:xfrm>
        <a:graphic>
          <a:graphicData uri="http://schemas.openxmlformats.org/drawingml/2006/table">
            <a:tbl>
              <a:tblPr/>
              <a:tblGrid>
                <a:gridCol w="850020">
                  <a:extLst>
                    <a:ext uri="{9D8B030D-6E8A-4147-A177-3AD203B41FA5}">
                      <a16:colId xmlns:a16="http://schemas.microsoft.com/office/drawing/2014/main" val="20000"/>
                    </a:ext>
                  </a:extLst>
                </a:gridCol>
                <a:gridCol w="850020">
                  <a:extLst>
                    <a:ext uri="{9D8B030D-6E8A-4147-A177-3AD203B41FA5}">
                      <a16:colId xmlns:a16="http://schemas.microsoft.com/office/drawing/2014/main" val="20001"/>
                    </a:ext>
                  </a:extLst>
                </a:gridCol>
              </a:tblGrid>
              <a:tr h="248179">
                <a:tc>
                  <a:txBody>
                    <a:bodyPr/>
                    <a:lstStyle/>
                    <a:p>
                      <a:pPr algn="ctr" fontAlgn="ctr"/>
                      <a:r>
                        <a:rPr lang="en-US" sz="1400" b="1" i="0" u="none" strike="noStrike" dirty="0">
                          <a:effectLst/>
                          <a:latin typeface="돋움"/>
                        </a:rPr>
                        <a:t>age</a:t>
                      </a:r>
                    </a:p>
                  </a:txBody>
                  <a:tcPr marL="4327" marR="4327" marT="432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400" b="1" i="0" u="none" strike="noStrike" dirty="0">
                          <a:effectLst/>
                          <a:latin typeface="돋움"/>
                        </a:rPr>
                        <a:t>income</a:t>
                      </a:r>
                    </a:p>
                  </a:txBody>
                  <a:tcPr marL="4327" marR="4327" marT="432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8179">
                <a:tc>
                  <a:txBody>
                    <a:bodyPr/>
                    <a:lstStyle/>
                    <a:p>
                      <a:pPr algn="ctr" fontAlgn="b"/>
                      <a:r>
                        <a:rPr lang="en-US" altLang="ko-KR" sz="1400" b="1" i="0" u="none" strike="noStrike" dirty="0">
                          <a:effectLst/>
                          <a:latin typeface="돋움"/>
                        </a:rPr>
                        <a:t>33</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200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8179">
                <a:tc>
                  <a:txBody>
                    <a:bodyPr/>
                    <a:lstStyle/>
                    <a:p>
                      <a:pPr algn="ctr" fontAlgn="b"/>
                      <a:r>
                        <a:rPr lang="en-US" altLang="ko-KR" sz="1400" b="1" i="0" u="none" strike="noStrike" dirty="0">
                          <a:effectLst/>
                          <a:latin typeface="돋움"/>
                        </a:rPr>
                        <a:t>33</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120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48179">
                <a:tc>
                  <a:txBody>
                    <a:bodyPr/>
                    <a:lstStyle/>
                    <a:p>
                      <a:pPr algn="ctr" fontAlgn="b"/>
                      <a:r>
                        <a:rPr lang="en-US" altLang="ko-KR" sz="1400" b="1" i="0" u="none" strike="noStrike" dirty="0">
                          <a:effectLst/>
                          <a:latin typeface="돋움"/>
                        </a:rPr>
                        <a:t>31</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210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48179">
                <a:tc>
                  <a:txBody>
                    <a:bodyPr/>
                    <a:lstStyle/>
                    <a:p>
                      <a:pPr algn="ctr" fontAlgn="b"/>
                      <a:r>
                        <a:rPr lang="en-US" altLang="ko-KR" sz="1400" b="1" i="0" u="none" strike="noStrike" dirty="0">
                          <a:effectLst/>
                          <a:latin typeface="돋움"/>
                        </a:rPr>
                        <a:t>21</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80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48179">
                <a:tc>
                  <a:txBody>
                    <a:bodyPr/>
                    <a:lstStyle/>
                    <a:p>
                      <a:pPr algn="ctr" fontAlgn="b"/>
                      <a:r>
                        <a:rPr lang="en-US" altLang="ko-KR" sz="1400" b="1" i="0" u="none" strike="noStrike" dirty="0">
                          <a:effectLst/>
                          <a:latin typeface="돋움"/>
                        </a:rPr>
                        <a:t>35</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170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48179">
                <a:tc>
                  <a:txBody>
                    <a:bodyPr/>
                    <a:lstStyle/>
                    <a:p>
                      <a:pPr algn="ctr" fontAlgn="b"/>
                      <a:r>
                        <a:rPr lang="en-US" altLang="ko-KR" sz="1400" b="1" i="0" u="none" strike="noStrike" dirty="0">
                          <a:effectLst/>
                          <a:latin typeface="돋움"/>
                        </a:rPr>
                        <a:t>21</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100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48179">
                <a:tc>
                  <a:txBody>
                    <a:bodyPr/>
                    <a:lstStyle/>
                    <a:p>
                      <a:pPr algn="ctr" fontAlgn="b"/>
                      <a:r>
                        <a:rPr lang="en-US" altLang="ko-KR" sz="1400" b="1" i="0" u="none" strike="noStrike" dirty="0">
                          <a:effectLst/>
                          <a:latin typeface="돋움"/>
                        </a:rPr>
                        <a:t>39</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190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48179">
                <a:tc>
                  <a:txBody>
                    <a:bodyPr/>
                    <a:lstStyle/>
                    <a:p>
                      <a:pPr algn="ctr" fontAlgn="b"/>
                      <a:r>
                        <a:rPr lang="en-US" altLang="ko-KR" sz="1400" b="1" i="0" u="none" strike="noStrike" dirty="0">
                          <a:effectLst/>
                          <a:latin typeface="돋움"/>
                        </a:rPr>
                        <a:t>49</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300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48179">
                <a:tc>
                  <a:txBody>
                    <a:bodyPr/>
                    <a:lstStyle/>
                    <a:p>
                      <a:pPr algn="ctr" fontAlgn="b"/>
                      <a:r>
                        <a:rPr lang="en-US" altLang="ko-KR" sz="1400" b="1" i="0" u="none" strike="noStrike" dirty="0">
                          <a:effectLst/>
                          <a:latin typeface="돋움"/>
                        </a:rPr>
                        <a:t>56</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150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48179">
                <a:tc>
                  <a:txBody>
                    <a:bodyPr/>
                    <a:lstStyle/>
                    <a:p>
                      <a:pPr algn="ctr" fontAlgn="b"/>
                      <a:r>
                        <a:rPr lang="en-US" altLang="ko-KR" sz="1400" b="1" i="0" u="none" strike="noStrike" dirty="0">
                          <a:effectLst/>
                          <a:latin typeface="돋움"/>
                        </a:rPr>
                        <a:t>32</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100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48179">
                <a:tc>
                  <a:txBody>
                    <a:bodyPr/>
                    <a:lstStyle/>
                    <a:p>
                      <a:pPr algn="ctr" fontAlgn="b"/>
                      <a:r>
                        <a:rPr lang="en-US" altLang="ko-KR" sz="1400" b="1" i="0" u="none" strike="noStrike" dirty="0">
                          <a:effectLst/>
                          <a:latin typeface="돋움"/>
                        </a:rPr>
                        <a:t>22</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100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48179">
                <a:tc>
                  <a:txBody>
                    <a:bodyPr/>
                    <a:lstStyle/>
                    <a:p>
                      <a:pPr algn="ctr" fontAlgn="b"/>
                      <a:r>
                        <a:rPr lang="en-US" altLang="ko-KR" sz="1400" b="1" i="0" u="none" strike="noStrike" dirty="0">
                          <a:effectLst/>
                          <a:latin typeface="돋움"/>
                        </a:rPr>
                        <a:t>46</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150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48179">
                <a:tc>
                  <a:txBody>
                    <a:bodyPr/>
                    <a:lstStyle/>
                    <a:p>
                      <a:pPr algn="ctr" fontAlgn="b"/>
                      <a:r>
                        <a:rPr lang="en-US" altLang="ko-KR" sz="1400" b="1" i="0" u="none" strike="noStrike" dirty="0">
                          <a:effectLst/>
                          <a:latin typeface="돋움"/>
                        </a:rPr>
                        <a:t>27</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60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48179">
                <a:tc>
                  <a:txBody>
                    <a:bodyPr/>
                    <a:lstStyle/>
                    <a:p>
                      <a:pPr algn="ctr" fontAlgn="b"/>
                      <a:r>
                        <a:rPr lang="en-US" altLang="ko-KR" sz="1400" b="1" i="0" u="none" strike="noStrike" dirty="0">
                          <a:effectLst/>
                          <a:latin typeface="돋움"/>
                        </a:rPr>
                        <a:t>41</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250</a:t>
                      </a:r>
                    </a:p>
                  </a:txBody>
                  <a:tcPr marL="4327" marR="4327" marT="432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graphicFrame>
        <p:nvGraphicFramePr>
          <p:cNvPr id="6" name="표 5"/>
          <p:cNvGraphicFramePr>
            <a:graphicFrameLocks noGrp="1"/>
          </p:cNvGraphicFramePr>
          <p:nvPr/>
        </p:nvGraphicFramePr>
        <p:xfrm>
          <a:off x="3297238" y="2743200"/>
          <a:ext cx="1484312" cy="3475038"/>
        </p:xfrm>
        <a:graphic>
          <a:graphicData uri="http://schemas.openxmlformats.org/drawingml/2006/table">
            <a:tbl>
              <a:tblPr/>
              <a:tblGrid>
                <a:gridCol w="742156">
                  <a:extLst>
                    <a:ext uri="{9D8B030D-6E8A-4147-A177-3AD203B41FA5}">
                      <a16:colId xmlns:a16="http://schemas.microsoft.com/office/drawing/2014/main" val="20000"/>
                    </a:ext>
                  </a:extLst>
                </a:gridCol>
                <a:gridCol w="742156">
                  <a:extLst>
                    <a:ext uri="{9D8B030D-6E8A-4147-A177-3AD203B41FA5}">
                      <a16:colId xmlns:a16="http://schemas.microsoft.com/office/drawing/2014/main" val="20001"/>
                    </a:ext>
                  </a:extLst>
                </a:gridCol>
              </a:tblGrid>
              <a:tr h="248217">
                <a:tc>
                  <a:txBody>
                    <a:bodyPr/>
                    <a:lstStyle/>
                    <a:p>
                      <a:pPr algn="ctr" fontAlgn="b"/>
                      <a:r>
                        <a:rPr lang="en-US" altLang="ko-KR" sz="1400" b="1" i="0" u="none" strike="noStrike" dirty="0">
                          <a:effectLst/>
                          <a:latin typeface="돋움"/>
                        </a:rPr>
                        <a:t>27</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60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8217">
                <a:tc>
                  <a:txBody>
                    <a:bodyPr/>
                    <a:lstStyle/>
                    <a:p>
                      <a:pPr algn="ctr" fontAlgn="b"/>
                      <a:r>
                        <a:rPr lang="en-US" altLang="ko-KR" sz="1400" b="1" i="0" u="none" strike="noStrike" dirty="0">
                          <a:effectLst/>
                          <a:latin typeface="돋움"/>
                        </a:rPr>
                        <a:t>32</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150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8217">
                <a:tc>
                  <a:txBody>
                    <a:bodyPr/>
                    <a:lstStyle/>
                    <a:p>
                      <a:pPr algn="ctr" fontAlgn="b"/>
                      <a:r>
                        <a:rPr lang="en-US" altLang="ko-KR" sz="1400" b="1" i="0" u="none" strike="noStrike" dirty="0">
                          <a:effectLst/>
                          <a:latin typeface="돋움"/>
                        </a:rPr>
                        <a:t>28</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70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48217">
                <a:tc>
                  <a:txBody>
                    <a:bodyPr/>
                    <a:lstStyle/>
                    <a:p>
                      <a:pPr algn="ctr" fontAlgn="b"/>
                      <a:r>
                        <a:rPr lang="en-US" altLang="ko-KR" sz="1400" b="1" i="0" u="none" strike="noStrike" dirty="0">
                          <a:effectLst/>
                          <a:latin typeface="돋움"/>
                        </a:rPr>
                        <a:t>41</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130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48217">
                <a:tc>
                  <a:txBody>
                    <a:bodyPr/>
                    <a:lstStyle/>
                    <a:p>
                      <a:pPr algn="ctr" fontAlgn="b"/>
                      <a:r>
                        <a:rPr lang="en-US" altLang="ko-KR" sz="1400" b="1" i="0" u="none" strike="noStrike" dirty="0">
                          <a:effectLst/>
                          <a:latin typeface="돋움"/>
                        </a:rPr>
                        <a:t>22</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60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48217">
                <a:tc>
                  <a:txBody>
                    <a:bodyPr/>
                    <a:lstStyle/>
                    <a:p>
                      <a:pPr algn="ctr" fontAlgn="b"/>
                      <a:r>
                        <a:rPr lang="en-US" altLang="ko-KR" sz="1400" b="1" i="0" u="none" strike="noStrike" dirty="0">
                          <a:effectLst/>
                          <a:latin typeface="돋움"/>
                        </a:rPr>
                        <a:t>55</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110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48217">
                <a:tc>
                  <a:txBody>
                    <a:bodyPr/>
                    <a:lstStyle/>
                    <a:p>
                      <a:pPr algn="ctr" fontAlgn="b"/>
                      <a:r>
                        <a:rPr lang="en-US" altLang="ko-KR" sz="1400" b="1" i="0" u="none" strike="noStrike" dirty="0">
                          <a:effectLst/>
                          <a:latin typeface="돋움"/>
                        </a:rPr>
                        <a:t>22</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70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48217">
                <a:tc>
                  <a:txBody>
                    <a:bodyPr/>
                    <a:lstStyle/>
                    <a:p>
                      <a:pPr algn="ctr" fontAlgn="b"/>
                      <a:r>
                        <a:rPr lang="en-US" altLang="ko-KR" sz="1400" b="1" i="0" u="none" strike="noStrike" dirty="0">
                          <a:effectLst/>
                          <a:latin typeface="돋움"/>
                        </a:rPr>
                        <a:t>31</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220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48217">
                <a:tc>
                  <a:txBody>
                    <a:bodyPr/>
                    <a:lstStyle/>
                    <a:p>
                      <a:pPr algn="ctr" fontAlgn="b"/>
                      <a:r>
                        <a:rPr lang="en-US" altLang="ko-KR" sz="1400" b="1" i="0" u="none" strike="noStrike" dirty="0">
                          <a:effectLst/>
                          <a:latin typeface="돋움"/>
                        </a:rPr>
                        <a:t>21</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80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48217">
                <a:tc>
                  <a:txBody>
                    <a:bodyPr/>
                    <a:lstStyle/>
                    <a:p>
                      <a:pPr algn="ctr" fontAlgn="b"/>
                      <a:r>
                        <a:rPr lang="en-US" altLang="ko-KR" sz="1400" b="1" i="0" u="none" strike="noStrike" dirty="0">
                          <a:effectLst/>
                          <a:latin typeface="돋움"/>
                        </a:rPr>
                        <a:t>24</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50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48217">
                <a:tc>
                  <a:txBody>
                    <a:bodyPr/>
                    <a:lstStyle/>
                    <a:p>
                      <a:pPr algn="ctr" fontAlgn="b"/>
                      <a:r>
                        <a:rPr lang="en-US" altLang="ko-KR" sz="1400" b="1" i="0" u="none" strike="noStrike" dirty="0">
                          <a:effectLst/>
                          <a:latin typeface="돋움"/>
                        </a:rPr>
                        <a:t>26</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120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48217">
                <a:tc>
                  <a:txBody>
                    <a:bodyPr/>
                    <a:lstStyle/>
                    <a:p>
                      <a:pPr algn="ctr" fontAlgn="b"/>
                      <a:r>
                        <a:rPr lang="en-US" altLang="ko-KR" sz="1400" b="1" i="0" u="none" strike="noStrike" dirty="0">
                          <a:effectLst/>
                          <a:latin typeface="돋움"/>
                        </a:rPr>
                        <a:t>21</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80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48217">
                <a:tc>
                  <a:txBody>
                    <a:bodyPr/>
                    <a:lstStyle/>
                    <a:p>
                      <a:pPr algn="ctr" fontAlgn="b"/>
                      <a:r>
                        <a:rPr lang="en-US" altLang="ko-KR" sz="1400" b="1" i="0" u="none" strike="noStrike" dirty="0">
                          <a:effectLst/>
                          <a:latin typeface="돋움"/>
                        </a:rPr>
                        <a:t>20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120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48217">
                <a:tc>
                  <a:txBody>
                    <a:bodyPr/>
                    <a:lstStyle/>
                    <a:p>
                      <a:pPr algn="ctr" fontAlgn="b"/>
                      <a:r>
                        <a:rPr lang="en-US" altLang="ko-KR" sz="1400" b="1" i="0" u="none" strike="noStrike" dirty="0">
                          <a:effectLst/>
                          <a:latin typeface="돋움"/>
                        </a:rPr>
                        <a:t>22</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130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graphicFrame>
        <p:nvGraphicFramePr>
          <p:cNvPr id="7" name="표 6"/>
          <p:cNvGraphicFramePr>
            <a:graphicFrameLocks noGrp="1"/>
          </p:cNvGraphicFramePr>
          <p:nvPr/>
        </p:nvGraphicFramePr>
        <p:xfrm>
          <a:off x="4808538" y="2746375"/>
          <a:ext cx="1484312" cy="3475038"/>
        </p:xfrm>
        <a:graphic>
          <a:graphicData uri="http://schemas.openxmlformats.org/drawingml/2006/table">
            <a:tbl>
              <a:tblPr/>
              <a:tblGrid>
                <a:gridCol w="742156">
                  <a:extLst>
                    <a:ext uri="{9D8B030D-6E8A-4147-A177-3AD203B41FA5}">
                      <a16:colId xmlns:a16="http://schemas.microsoft.com/office/drawing/2014/main" val="20000"/>
                    </a:ext>
                  </a:extLst>
                </a:gridCol>
                <a:gridCol w="742156">
                  <a:extLst>
                    <a:ext uri="{9D8B030D-6E8A-4147-A177-3AD203B41FA5}">
                      <a16:colId xmlns:a16="http://schemas.microsoft.com/office/drawing/2014/main" val="20001"/>
                    </a:ext>
                  </a:extLst>
                </a:gridCol>
              </a:tblGrid>
              <a:tr h="248217">
                <a:tc>
                  <a:txBody>
                    <a:bodyPr/>
                    <a:lstStyle/>
                    <a:p>
                      <a:pPr algn="ctr" fontAlgn="b"/>
                      <a:r>
                        <a:rPr lang="en-US" altLang="ko-KR" sz="1400" b="1" i="0" u="none" strike="noStrike" dirty="0">
                          <a:effectLst/>
                          <a:latin typeface="돋움"/>
                        </a:rPr>
                        <a:t>29</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100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8217">
                <a:tc>
                  <a:txBody>
                    <a:bodyPr/>
                    <a:lstStyle/>
                    <a:p>
                      <a:pPr algn="ctr" fontAlgn="b"/>
                      <a:r>
                        <a:rPr lang="en-US" altLang="ko-KR" sz="1400" b="1" i="0" u="none" strike="noStrike" dirty="0">
                          <a:effectLst/>
                          <a:latin typeface="돋움"/>
                        </a:rPr>
                        <a:t>44</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120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8217">
                <a:tc>
                  <a:txBody>
                    <a:bodyPr/>
                    <a:lstStyle/>
                    <a:p>
                      <a:pPr algn="ctr" fontAlgn="b"/>
                      <a:r>
                        <a:rPr lang="en-US" altLang="ko-KR" sz="1400" b="1" i="0" u="none" strike="noStrike" dirty="0">
                          <a:effectLst/>
                          <a:latin typeface="돋움"/>
                        </a:rPr>
                        <a:t>32</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70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48217">
                <a:tc>
                  <a:txBody>
                    <a:bodyPr/>
                    <a:lstStyle/>
                    <a:p>
                      <a:pPr algn="ctr" fontAlgn="b"/>
                      <a:r>
                        <a:rPr lang="en-US" altLang="ko-KR" sz="1400" b="1" i="0" u="none" strike="noStrike" dirty="0">
                          <a:effectLst/>
                          <a:latin typeface="돋움"/>
                        </a:rPr>
                        <a:t>42</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200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48217">
                <a:tc>
                  <a:txBody>
                    <a:bodyPr/>
                    <a:lstStyle/>
                    <a:p>
                      <a:pPr algn="ctr" fontAlgn="b"/>
                      <a:r>
                        <a:rPr lang="en-US" altLang="ko-KR" sz="1400" b="1" i="0" u="none" strike="noStrike" dirty="0">
                          <a:effectLst/>
                          <a:latin typeface="돋움"/>
                        </a:rPr>
                        <a:t>26</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50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48217">
                <a:tc>
                  <a:txBody>
                    <a:bodyPr/>
                    <a:lstStyle/>
                    <a:p>
                      <a:pPr algn="ctr" fontAlgn="b"/>
                      <a:r>
                        <a:rPr lang="en-US" altLang="ko-KR" sz="1400" b="1" i="0" u="none" strike="noStrike" dirty="0">
                          <a:effectLst/>
                          <a:latin typeface="돋움"/>
                        </a:rPr>
                        <a:t>34</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100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48217">
                <a:tc>
                  <a:txBody>
                    <a:bodyPr/>
                    <a:lstStyle/>
                    <a:p>
                      <a:pPr algn="ctr" fontAlgn="b"/>
                      <a:r>
                        <a:rPr lang="en-US" altLang="ko-KR" sz="1400" b="1" i="0" u="none" strike="noStrike" dirty="0">
                          <a:effectLst/>
                          <a:latin typeface="돋움"/>
                        </a:rPr>
                        <a:t>43</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120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48217">
                <a:tc>
                  <a:txBody>
                    <a:bodyPr/>
                    <a:lstStyle/>
                    <a:p>
                      <a:pPr algn="ctr" fontAlgn="b"/>
                      <a:r>
                        <a:rPr lang="en-US" altLang="ko-KR" sz="1400" b="1" i="0" u="none" strike="noStrike" dirty="0">
                          <a:effectLst/>
                          <a:latin typeface="돋움"/>
                        </a:rPr>
                        <a:t>47</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130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48217">
                <a:tc>
                  <a:txBody>
                    <a:bodyPr/>
                    <a:lstStyle/>
                    <a:p>
                      <a:pPr algn="ctr" fontAlgn="b"/>
                      <a:r>
                        <a:rPr lang="en-US" altLang="ko-KR" sz="1400" b="1" i="0" u="none" strike="noStrike" dirty="0">
                          <a:effectLst/>
                          <a:latin typeface="돋움"/>
                        </a:rPr>
                        <a:t>35</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90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48217">
                <a:tc>
                  <a:txBody>
                    <a:bodyPr/>
                    <a:lstStyle/>
                    <a:p>
                      <a:pPr algn="ctr" fontAlgn="b"/>
                      <a:r>
                        <a:rPr lang="en-US" altLang="ko-KR" sz="1400" b="1" i="0" u="none" strike="noStrike" dirty="0">
                          <a:effectLst/>
                          <a:latin typeface="돋움"/>
                        </a:rPr>
                        <a:t>32</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80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48217">
                <a:tc>
                  <a:txBody>
                    <a:bodyPr/>
                    <a:lstStyle/>
                    <a:p>
                      <a:pPr algn="ctr" fontAlgn="b"/>
                      <a:r>
                        <a:rPr lang="en-US" altLang="ko-KR" sz="1400" b="1" i="0" u="none" strike="noStrike" dirty="0">
                          <a:effectLst/>
                          <a:latin typeface="돋움"/>
                        </a:rPr>
                        <a:t>26</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80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48217">
                <a:tc>
                  <a:txBody>
                    <a:bodyPr/>
                    <a:lstStyle/>
                    <a:p>
                      <a:pPr algn="ctr" fontAlgn="b"/>
                      <a:r>
                        <a:rPr lang="en-US" altLang="ko-KR" sz="1400" b="1" i="0" u="none" strike="noStrike" dirty="0">
                          <a:effectLst/>
                          <a:latin typeface="돋움"/>
                        </a:rPr>
                        <a:t>53</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150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48217">
                <a:tc>
                  <a:txBody>
                    <a:bodyPr/>
                    <a:lstStyle/>
                    <a:p>
                      <a:pPr algn="ctr" fontAlgn="b"/>
                      <a:r>
                        <a:rPr lang="en-US" altLang="ko-KR" sz="1400" b="1" i="0" u="none" strike="noStrike" dirty="0">
                          <a:effectLst/>
                          <a:latin typeface="돋움"/>
                        </a:rPr>
                        <a:t>52</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200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48217">
                <a:tc>
                  <a:txBody>
                    <a:bodyPr/>
                    <a:lstStyle/>
                    <a:p>
                      <a:pPr algn="ctr" fontAlgn="b"/>
                      <a:r>
                        <a:rPr lang="en-US" altLang="ko-KR" sz="1400" b="1" i="0" u="none" strike="noStrike" dirty="0">
                          <a:effectLst/>
                          <a:latin typeface="돋움"/>
                        </a:rPr>
                        <a:t>23</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100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graphicFrame>
        <p:nvGraphicFramePr>
          <p:cNvPr id="8" name="표 7"/>
          <p:cNvGraphicFramePr>
            <a:graphicFrameLocks noGrp="1"/>
          </p:cNvGraphicFramePr>
          <p:nvPr/>
        </p:nvGraphicFramePr>
        <p:xfrm>
          <a:off x="6292850" y="2746375"/>
          <a:ext cx="1484314" cy="1985960"/>
        </p:xfrm>
        <a:graphic>
          <a:graphicData uri="http://schemas.openxmlformats.org/drawingml/2006/table">
            <a:tbl>
              <a:tblPr/>
              <a:tblGrid>
                <a:gridCol w="742157">
                  <a:extLst>
                    <a:ext uri="{9D8B030D-6E8A-4147-A177-3AD203B41FA5}">
                      <a16:colId xmlns:a16="http://schemas.microsoft.com/office/drawing/2014/main" val="20000"/>
                    </a:ext>
                  </a:extLst>
                </a:gridCol>
                <a:gridCol w="742157">
                  <a:extLst>
                    <a:ext uri="{9D8B030D-6E8A-4147-A177-3AD203B41FA5}">
                      <a16:colId xmlns:a16="http://schemas.microsoft.com/office/drawing/2014/main" val="20001"/>
                    </a:ext>
                  </a:extLst>
                </a:gridCol>
              </a:tblGrid>
              <a:tr h="248245">
                <a:tc>
                  <a:txBody>
                    <a:bodyPr/>
                    <a:lstStyle/>
                    <a:p>
                      <a:pPr algn="ctr" fontAlgn="b"/>
                      <a:r>
                        <a:rPr lang="en-US" altLang="ko-KR" sz="1400" b="1" i="0" u="none" strike="noStrike" dirty="0">
                          <a:effectLst/>
                          <a:latin typeface="돋움"/>
                        </a:rPr>
                        <a:t>33</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110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8245">
                <a:tc>
                  <a:txBody>
                    <a:bodyPr/>
                    <a:lstStyle/>
                    <a:p>
                      <a:pPr algn="ctr" fontAlgn="b"/>
                      <a:r>
                        <a:rPr lang="en-US" altLang="ko-KR" sz="1400" b="1" i="0" u="none" strike="noStrike" dirty="0">
                          <a:effectLst/>
                          <a:latin typeface="돋움"/>
                        </a:rPr>
                        <a:t>56</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350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8245">
                <a:tc>
                  <a:txBody>
                    <a:bodyPr/>
                    <a:lstStyle/>
                    <a:p>
                      <a:pPr algn="ctr" fontAlgn="b"/>
                      <a:r>
                        <a:rPr lang="en-US" altLang="ko-KR" sz="1400" b="1" i="0" u="none" strike="noStrike" dirty="0">
                          <a:effectLst/>
                          <a:latin typeface="돋움"/>
                        </a:rPr>
                        <a:t>48</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230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48245">
                <a:tc>
                  <a:txBody>
                    <a:bodyPr/>
                    <a:lstStyle/>
                    <a:p>
                      <a:pPr algn="ctr" fontAlgn="b"/>
                      <a:r>
                        <a:rPr lang="en-US" altLang="ko-KR" sz="1400" b="1" i="0" u="none" strike="noStrike" dirty="0">
                          <a:effectLst/>
                          <a:latin typeface="돋움"/>
                        </a:rPr>
                        <a:t>34</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90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48245">
                <a:tc>
                  <a:txBody>
                    <a:bodyPr/>
                    <a:lstStyle/>
                    <a:p>
                      <a:pPr algn="ctr" fontAlgn="b"/>
                      <a:r>
                        <a:rPr lang="en-US" altLang="ko-KR" sz="1400" b="1" i="0" u="none" strike="noStrike" dirty="0">
                          <a:effectLst/>
                          <a:latin typeface="돋움"/>
                        </a:rPr>
                        <a:t>23</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70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48245">
                <a:tc>
                  <a:txBody>
                    <a:bodyPr/>
                    <a:lstStyle/>
                    <a:p>
                      <a:pPr algn="ctr" fontAlgn="b"/>
                      <a:r>
                        <a:rPr lang="en-US" altLang="ko-KR" sz="1400" b="1" i="0" u="none" strike="noStrike" dirty="0">
                          <a:effectLst/>
                          <a:latin typeface="돋움"/>
                        </a:rPr>
                        <a:t>37</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120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48245">
                <a:tc>
                  <a:txBody>
                    <a:bodyPr/>
                    <a:lstStyle/>
                    <a:p>
                      <a:pPr algn="ctr" fontAlgn="b"/>
                      <a:r>
                        <a:rPr lang="en-US" altLang="ko-KR" sz="1400" b="1" i="0" u="none" strike="noStrike" dirty="0">
                          <a:effectLst/>
                          <a:latin typeface="돋움"/>
                        </a:rPr>
                        <a:t>59</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230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48245">
                <a:tc>
                  <a:txBody>
                    <a:bodyPr/>
                    <a:lstStyle/>
                    <a:p>
                      <a:pPr algn="ctr" fontAlgn="b"/>
                      <a:r>
                        <a:rPr lang="en-US" altLang="ko-KR" sz="1400" b="1" i="0" u="none" strike="noStrike" dirty="0">
                          <a:effectLst/>
                          <a:latin typeface="돋움"/>
                        </a:rPr>
                        <a:t>38</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400" b="1" i="0" u="none" strike="noStrike" dirty="0">
                          <a:effectLst/>
                          <a:latin typeface="돋움"/>
                        </a:rPr>
                        <a:t>60</a:t>
                      </a:r>
                    </a:p>
                  </a:txBody>
                  <a:tcPr marL="4327" marR="4327" marT="432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141</a:t>
            </a:fld>
            <a:endParaRPr lang="ko-KR" altLang="en-US" dirty="0"/>
          </a:p>
        </p:txBody>
      </p:sp>
      <p:sp>
        <p:nvSpPr>
          <p:cNvPr id="11"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5.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924893976"/>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TextBox 2"/>
          <p:cNvSpPr txBox="1">
            <a:spLocks noChangeArrowheads="1"/>
          </p:cNvSpPr>
          <p:nvPr/>
        </p:nvSpPr>
        <p:spPr bwMode="auto">
          <a:xfrm>
            <a:off x="1287463" y="1700213"/>
            <a:ext cx="7462556"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Clr>
                <a:srgbClr val="C5003D"/>
              </a:buClr>
              <a:buFont typeface="Wingdings" pitchFamily="2" charset="2"/>
              <a:buChar char="u"/>
              <a:defRPr/>
            </a:pPr>
            <a:r>
              <a:rPr lang="en-US" altLang="ko-KR" b="1" dirty="0" err="1">
                <a:latin typeface="맑은 고딕" pitchFamily="50" charset="-127"/>
                <a:ea typeface="맑은 고딕" pitchFamily="50" charset="-127"/>
              </a:rPr>
              <a:t>Biểu</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đồ</a:t>
            </a:r>
            <a:r>
              <a:rPr lang="en-US" altLang="ko-KR" b="1" dirty="0">
                <a:latin typeface="맑은 고딕" pitchFamily="50" charset="-127"/>
                <a:ea typeface="맑은 고딕" pitchFamily="50" charset="-127"/>
              </a:rPr>
              <a:t> scatter plot </a:t>
            </a:r>
            <a:r>
              <a:rPr lang="en-US" altLang="ko-KR" b="1" dirty="0" err="1">
                <a:latin typeface="맑은 고딕" pitchFamily="50" charset="-127"/>
                <a:ea typeface="맑은 고딕" pitchFamily="50" charset="-127"/>
              </a:rPr>
              <a:t>có</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thể</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được</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áp</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dụng</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cho</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kiểu</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dữ</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liệu</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nào</a:t>
            </a:r>
            <a:r>
              <a:rPr lang="en-US" altLang="ko-KR" b="1" dirty="0">
                <a:latin typeface="맑은 고딕" pitchFamily="50" charset="-127"/>
                <a:ea typeface="맑은 고딕" pitchFamily="50" charset="-127"/>
              </a:rPr>
              <a:t>?</a:t>
            </a:r>
          </a:p>
          <a:p>
            <a:pPr eaLnBrk="1" hangingPunct="1">
              <a:lnSpc>
                <a:spcPct val="150000"/>
              </a:lnSpc>
              <a:buClr>
                <a:srgbClr val="C5003D"/>
              </a:buClr>
              <a:buFont typeface="Wingdings" pitchFamily="2" charset="2"/>
              <a:buChar char="u"/>
              <a:defRPr/>
            </a:pPr>
            <a:r>
              <a:rPr lang="en-GB" altLang="ko-KR" b="1" dirty="0" err="1">
                <a:latin typeface="맑은 고딕" pitchFamily="50" charset="-127"/>
                <a:ea typeface="맑은 고딕" pitchFamily="50" charset="-127"/>
              </a:rPr>
              <a:t>Xây</a:t>
            </a:r>
            <a:r>
              <a:rPr lang="en-GB" altLang="ko-KR" b="1" dirty="0">
                <a:latin typeface="맑은 고딕" pitchFamily="50" charset="-127"/>
                <a:ea typeface="맑은 고딕" pitchFamily="50" charset="-127"/>
              </a:rPr>
              <a:t> </a:t>
            </a:r>
            <a:r>
              <a:rPr lang="en-GB" altLang="ko-KR" b="1" dirty="0" err="1">
                <a:latin typeface="맑은 고딕" pitchFamily="50" charset="-127"/>
                <a:ea typeface="맑은 고딕" pitchFamily="50" charset="-127"/>
              </a:rPr>
              <a:t>dựng</a:t>
            </a:r>
            <a:r>
              <a:rPr lang="en-GB" altLang="ko-KR" b="1" dirty="0">
                <a:latin typeface="맑은 고딕" pitchFamily="50" charset="-127"/>
                <a:ea typeface="맑은 고딕" pitchFamily="50" charset="-127"/>
              </a:rPr>
              <a:t> 1 </a:t>
            </a:r>
            <a:r>
              <a:rPr lang="en-GB" altLang="ko-KR" b="1" dirty="0" err="1">
                <a:latin typeface="맑은 고딕" pitchFamily="50" charset="-127"/>
                <a:ea typeface="맑은 고딕" pitchFamily="50" charset="-127"/>
              </a:rPr>
              <a:t>tình</a:t>
            </a:r>
            <a:r>
              <a:rPr lang="en-GB" altLang="ko-KR" b="1" dirty="0">
                <a:latin typeface="맑은 고딕" pitchFamily="50" charset="-127"/>
                <a:ea typeface="맑은 고딕" pitchFamily="50" charset="-127"/>
              </a:rPr>
              <a:t> </a:t>
            </a:r>
            <a:r>
              <a:rPr lang="en-GB" altLang="ko-KR" b="1" dirty="0" err="1">
                <a:latin typeface="맑은 고딕" pitchFamily="50" charset="-127"/>
                <a:ea typeface="맑은 고딕" pitchFamily="50" charset="-127"/>
              </a:rPr>
              <a:t>huống</a:t>
            </a:r>
            <a:r>
              <a:rPr lang="en-GB" altLang="ko-KR" b="1" dirty="0">
                <a:latin typeface="맑은 고딕" pitchFamily="50" charset="-127"/>
                <a:ea typeface="맑은 고딕" pitchFamily="50" charset="-127"/>
              </a:rPr>
              <a:t> </a:t>
            </a:r>
            <a:r>
              <a:rPr lang="en-GB" altLang="ko-KR" b="1" dirty="0" err="1">
                <a:latin typeface="맑은 고딕" pitchFamily="50" charset="-127"/>
                <a:ea typeface="맑은 고딕" pitchFamily="50" charset="-127"/>
              </a:rPr>
              <a:t>có</a:t>
            </a:r>
            <a:r>
              <a:rPr lang="en-GB" altLang="ko-KR" b="1" dirty="0">
                <a:latin typeface="맑은 고딕" pitchFamily="50" charset="-127"/>
                <a:ea typeface="맑은 고딕" pitchFamily="50" charset="-127"/>
              </a:rPr>
              <a:t> </a:t>
            </a:r>
            <a:r>
              <a:rPr lang="en-GB" altLang="ko-KR" b="1" dirty="0" err="1">
                <a:latin typeface="맑은 고딕" pitchFamily="50" charset="-127"/>
                <a:ea typeface="맑은 고딕" pitchFamily="50" charset="-127"/>
              </a:rPr>
              <a:t>thể</a:t>
            </a:r>
            <a:r>
              <a:rPr lang="en-GB" altLang="ko-KR" b="1" dirty="0">
                <a:latin typeface="맑은 고딕" pitchFamily="50" charset="-127"/>
                <a:ea typeface="맑은 고딕" pitchFamily="50" charset="-127"/>
              </a:rPr>
              <a:t> </a:t>
            </a:r>
            <a:r>
              <a:rPr lang="en-GB" altLang="ko-KR" b="1" dirty="0" err="1">
                <a:latin typeface="맑은 고딕" pitchFamily="50" charset="-127"/>
                <a:ea typeface="맑은 고딕" pitchFamily="50" charset="-127"/>
              </a:rPr>
              <a:t>sử</a:t>
            </a:r>
            <a:r>
              <a:rPr lang="en-GB" altLang="ko-KR" b="1" dirty="0">
                <a:latin typeface="맑은 고딕" pitchFamily="50" charset="-127"/>
                <a:ea typeface="맑은 고딕" pitchFamily="50" charset="-127"/>
              </a:rPr>
              <a:t> </a:t>
            </a:r>
            <a:r>
              <a:rPr lang="en-GB" altLang="ko-KR" b="1" dirty="0" err="1">
                <a:latin typeface="맑은 고딕" pitchFamily="50" charset="-127"/>
                <a:ea typeface="맑은 고딕" pitchFamily="50" charset="-127"/>
              </a:rPr>
              <a:t>dụng</a:t>
            </a:r>
            <a:r>
              <a:rPr lang="en-GB" altLang="ko-KR" b="1" dirty="0">
                <a:latin typeface="맑은 고딕" pitchFamily="50" charset="-127"/>
                <a:ea typeface="맑은 고딕" pitchFamily="50" charset="-127"/>
              </a:rPr>
              <a:t> </a:t>
            </a:r>
            <a:r>
              <a:rPr lang="en-GB" altLang="ko-KR" b="1" dirty="0" err="1">
                <a:latin typeface="맑은 고딕" pitchFamily="50" charset="-127"/>
                <a:ea typeface="맑은 고딕" pitchFamily="50" charset="-127"/>
              </a:rPr>
              <a:t>catter</a:t>
            </a:r>
            <a:r>
              <a:rPr lang="en-GB" altLang="ko-KR" b="1" dirty="0">
                <a:latin typeface="맑은 고딕" pitchFamily="50" charset="-127"/>
                <a:ea typeface="맑은 고딕" pitchFamily="50" charset="-127"/>
              </a:rPr>
              <a:t> plot</a:t>
            </a:r>
            <a:r>
              <a:rPr lang="en-US" altLang="ko-KR" b="1" dirty="0">
                <a:latin typeface="맑은 고딕" pitchFamily="50" charset="-127"/>
                <a:ea typeface="맑은 고딕" pitchFamily="50" charset="-127"/>
              </a:rPr>
              <a:t>.</a:t>
            </a:r>
          </a:p>
          <a:p>
            <a:pPr marL="0" indent="0" eaLnBrk="1" hangingPunct="1">
              <a:lnSpc>
                <a:spcPct val="150000"/>
              </a:lnSpc>
              <a:buClr>
                <a:srgbClr val="C5003D"/>
              </a:buClr>
              <a:defRPr/>
            </a:pPr>
            <a:r>
              <a:rPr lang="en-US" altLang="ko-KR" b="1" dirty="0">
                <a:latin typeface="맑은 고딕" pitchFamily="50" charset="-127"/>
                <a:ea typeface="맑은 고딕" pitchFamily="50" charset="-127"/>
              </a:rPr>
              <a:t>   (20 min discussion, 10 min presentation)</a:t>
            </a:r>
            <a:endParaRPr lang="ko-KR" altLang="en-US" b="1" dirty="0">
              <a:latin typeface="맑은 고딕" pitchFamily="50" charset="-127"/>
              <a:ea typeface="맑은 고딕" pitchFamily="50" charset="-127"/>
            </a:endParaRPr>
          </a:p>
        </p:txBody>
      </p:sp>
      <p:sp>
        <p:nvSpPr>
          <p:cNvPr id="16486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맑은 고딕" pitchFamily="50" charset="-127"/>
                <a:ea typeface="맑은 고딕" pitchFamily="50" charset="-127"/>
              </a:rPr>
              <a:t>6. </a:t>
            </a:r>
            <a:r>
              <a:rPr lang="en-US" altLang="ko-KR" sz="2000" b="1" dirty="0" err="1">
                <a:latin typeface="맑은 고딕" pitchFamily="50" charset="-127"/>
                <a:ea typeface="맑은 고딕" pitchFamily="50" charset="-127"/>
              </a:rPr>
              <a:t>Thảo</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luận</a:t>
            </a:r>
            <a:endParaRPr lang="en-US" altLang="ko-KR" sz="2000" b="1" dirty="0">
              <a:latin typeface="맑은 고딕" pitchFamily="50" charset="-127"/>
              <a:ea typeface="맑은 고딕" pitchFamily="50" charset="-127"/>
            </a:endParaRPr>
          </a:p>
        </p:txBody>
      </p:sp>
      <p:sp>
        <p:nvSpPr>
          <p:cNvPr id="16486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맑은 고딕" pitchFamily="50" charset="-127"/>
                <a:ea typeface="맑은 고딕" pitchFamily="50" charset="-127"/>
              </a:rPr>
              <a:t>Scatter Plot</a:t>
            </a:r>
            <a:endParaRPr lang="ko-KR" altLang="en-US" sz="16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142</a:t>
            </a:fld>
            <a:endParaRPr lang="ko-KR" altLang="en-US" dirty="0"/>
          </a:p>
        </p:txBody>
      </p:sp>
    </p:spTree>
    <p:extLst>
      <p:ext uri="{BB962C8B-B14F-4D97-AF65-F5344CB8AC3E}">
        <p14:creationId xmlns:p14="http://schemas.microsoft.com/office/powerpoint/2010/main" val="343367871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맑은 고딕" pitchFamily="50" charset="-127"/>
                <a:ea typeface="맑은 고딕" pitchFamily="50" charset="-127"/>
              </a:rPr>
              <a:t>7. </a:t>
            </a:r>
            <a:r>
              <a:rPr lang="en-US" altLang="ko-KR" sz="2000" b="1" dirty="0" err="1">
                <a:latin typeface="맑은 고딕" pitchFamily="50" charset="-127"/>
                <a:ea typeface="맑은 고딕" pitchFamily="50" charset="-127"/>
              </a:rPr>
              <a:t>Tổng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kết</a:t>
            </a:r>
            <a:endParaRPr lang="en-US" altLang="ko-KR" sz="2000" b="1" dirty="0">
              <a:latin typeface="맑은 고딕" pitchFamily="50" charset="-127"/>
              <a:ea typeface="맑은 고딕" pitchFamily="50" charset="-127"/>
            </a:endParaRPr>
          </a:p>
        </p:txBody>
      </p:sp>
      <p:sp>
        <p:nvSpPr>
          <p:cNvPr id="165891"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맑은 고딕" pitchFamily="50" charset="-127"/>
                <a:ea typeface="맑은 고딕" pitchFamily="50" charset="-127"/>
              </a:rPr>
              <a:t>Scatter Plot</a:t>
            </a:r>
            <a:endParaRPr lang="ko-KR" altLang="en-US" sz="1600" b="1" dirty="0">
              <a:latin typeface="맑은 고딕" pitchFamily="50" charset="-127"/>
              <a:ea typeface="맑은 고딕" pitchFamily="50" charset="-127"/>
            </a:endParaRPr>
          </a:p>
        </p:txBody>
      </p:sp>
      <p:sp>
        <p:nvSpPr>
          <p:cNvPr id="165892" name="Text Box 7"/>
          <p:cNvSpPr txBox="1">
            <a:spLocks noChangeArrowheads="1"/>
          </p:cNvSpPr>
          <p:nvPr/>
        </p:nvSpPr>
        <p:spPr bwMode="auto">
          <a:xfrm>
            <a:off x="992188" y="1897063"/>
            <a:ext cx="37048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l"/>
            </a:pPr>
            <a:r>
              <a:rPr kumimoji="0" lang="en-US" altLang="ko-KR" sz="1600" dirty="0" err="1">
                <a:latin typeface="맑은 고딕" pitchFamily="50" charset="-127"/>
                <a:ea typeface="맑은 고딕" pitchFamily="50" charset="-127"/>
              </a:rPr>
              <a:t>Có</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điều</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gì</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bất</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thường</a:t>
            </a:r>
            <a:r>
              <a:rPr kumimoji="0" lang="en-US" altLang="ko-KR" sz="1600" dirty="0">
                <a:latin typeface="맑은 고딕" pitchFamily="50" charset="-127"/>
                <a:ea typeface="맑은 고딕" pitchFamily="50" charset="-127"/>
              </a:rPr>
              <a:t> hay </a:t>
            </a:r>
            <a:r>
              <a:rPr kumimoji="0" lang="en-US" altLang="ko-KR" sz="1600" dirty="0" err="1">
                <a:latin typeface="맑은 고딕" pitchFamily="50" charset="-127"/>
                <a:ea typeface="맑은 고딕" pitchFamily="50" charset="-127"/>
              </a:rPr>
              <a:t>không</a:t>
            </a:r>
            <a:r>
              <a:rPr kumimoji="0" lang="en-US" altLang="ko-KR" sz="1600" dirty="0">
                <a:latin typeface="맑은 고딕" pitchFamily="50" charset="-127"/>
                <a:ea typeface="맑은 고딕" pitchFamily="50" charset="-127"/>
              </a:rPr>
              <a:t>?</a:t>
            </a:r>
          </a:p>
        </p:txBody>
      </p:sp>
      <p:pic>
        <p:nvPicPr>
          <p:cNvPr id="165893" name="Picture 2" descr="C:\DOCUME~1\김민수\LOCALS~1\Temp\Hnc\BinData\EMB0476.PNG"/>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5529263" y="2349500"/>
            <a:ext cx="3987800" cy="2303463"/>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65894" name="Text Box 7"/>
          <p:cNvSpPr txBox="1">
            <a:spLocks noChangeArrowheads="1"/>
          </p:cNvSpPr>
          <p:nvPr/>
        </p:nvSpPr>
        <p:spPr bwMode="auto">
          <a:xfrm>
            <a:off x="992188" y="2411413"/>
            <a:ext cx="38042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l"/>
            </a:pPr>
            <a:r>
              <a:rPr kumimoji="0" lang="en-US" altLang="ko-KR" sz="1600" dirty="0" err="1">
                <a:latin typeface="맑은 고딕" pitchFamily="50" charset="-127"/>
                <a:ea typeface="맑은 고딕" pitchFamily="50" charset="-127"/>
              </a:rPr>
              <a:t>Kiểm</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tra</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nhu</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cầu</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phân</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tầng</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dữ</a:t>
            </a:r>
            <a:r>
              <a:rPr kumimoji="0" lang="en-US" altLang="ko-KR" sz="1600" dirty="0">
                <a:latin typeface="맑은 고딕" pitchFamily="50" charset="-127"/>
                <a:ea typeface="맑은 고딕" pitchFamily="50" charset="-127"/>
              </a:rPr>
              <a:t> </a:t>
            </a:r>
            <a:r>
              <a:rPr kumimoji="0" lang="en-US" altLang="ko-KR" sz="1600" dirty="0" err="1">
                <a:latin typeface="맑은 고딕" pitchFamily="50" charset="-127"/>
                <a:ea typeface="맑은 고딕" pitchFamily="50" charset="-127"/>
              </a:rPr>
              <a:t>liệu</a:t>
            </a:r>
            <a:endParaRPr kumimoji="0" lang="ko-KR" altLang="en-US" sz="1600" dirty="0">
              <a:latin typeface="맑은 고딕" pitchFamily="50" charset="-127"/>
              <a:ea typeface="맑은 고딕" pitchFamily="50" charset="-127"/>
            </a:endParaRPr>
          </a:p>
        </p:txBody>
      </p:sp>
      <p:sp>
        <p:nvSpPr>
          <p:cNvPr id="165895" name="TextBox 1"/>
          <p:cNvSpPr txBox="1">
            <a:spLocks noChangeArrowheads="1"/>
          </p:cNvSpPr>
          <p:nvPr/>
        </p:nvSpPr>
        <p:spPr bwMode="auto">
          <a:xfrm>
            <a:off x="606425" y="1052513"/>
            <a:ext cx="69169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dirty="0" err="1">
                <a:latin typeface="맑은 고딕" pitchFamily="50" charset="-127"/>
                <a:ea typeface="맑은 고딕" pitchFamily="50" charset="-127"/>
              </a:rPr>
              <a:t>Từ</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biểu</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đồ</a:t>
            </a:r>
            <a:r>
              <a:rPr lang="en-US" altLang="ko-KR" dirty="0">
                <a:latin typeface="맑은 고딕" pitchFamily="50" charset="-127"/>
                <a:ea typeface="맑은 고딕" pitchFamily="50" charset="-127"/>
              </a:rPr>
              <a:t> scatter plot, </a:t>
            </a:r>
            <a:r>
              <a:rPr lang="en-US" altLang="ko-KR" dirty="0" err="1">
                <a:latin typeface="맑은 고딕" pitchFamily="50" charset="-127"/>
                <a:ea typeface="맑은 고딕" pitchFamily="50" charset="-127"/>
              </a:rPr>
              <a:t>những</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hạng</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mục</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sau</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cần</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được</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kiểm</a:t>
            </a:r>
            <a:r>
              <a:rPr lang="en-US" altLang="ko-KR" dirty="0">
                <a:latin typeface="맑은 고딕" pitchFamily="50" charset="-127"/>
                <a:ea typeface="맑은 고딕" pitchFamily="50" charset="-127"/>
              </a:rPr>
              <a:t> </a:t>
            </a:r>
            <a:r>
              <a:rPr lang="en-US" altLang="ko-KR" dirty="0" err="1">
                <a:latin typeface="맑은 고딕" pitchFamily="50" charset="-127"/>
                <a:ea typeface="맑은 고딕" pitchFamily="50" charset="-127"/>
              </a:rPr>
              <a:t>tra</a:t>
            </a:r>
            <a:endParaRPr lang="ko-KR" altLang="en-US" dirty="0">
              <a:latin typeface="맑은 고딕" pitchFamily="50" charset="-127"/>
              <a:ea typeface="맑은 고딕" pitchFamily="50" charset="-127"/>
            </a:endParaRPr>
          </a:p>
        </p:txBody>
      </p:sp>
      <p:sp>
        <p:nvSpPr>
          <p:cNvPr id="165896" name="TextBox 2"/>
          <p:cNvSpPr txBox="1">
            <a:spLocks noChangeArrowheads="1"/>
          </p:cNvSpPr>
          <p:nvPr/>
        </p:nvSpPr>
        <p:spPr bwMode="auto">
          <a:xfrm>
            <a:off x="1130300" y="3502025"/>
            <a:ext cx="411073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err="1">
                <a:solidFill>
                  <a:srgbClr val="FF0000"/>
                </a:solidFill>
                <a:latin typeface="맑은 고딕" pitchFamily="50" charset="-127"/>
                <a:ea typeface="맑은 고딕" pitchFamily="50" charset="-127"/>
              </a:rPr>
              <a:t>Nếu</a:t>
            </a:r>
            <a:r>
              <a:rPr lang="en-US" altLang="ko-KR" b="1" dirty="0">
                <a:solidFill>
                  <a:srgbClr val="FF0000"/>
                </a:solidFill>
                <a:latin typeface="맑은 고딕" pitchFamily="50" charset="-127"/>
                <a:ea typeface="맑은 고딕" pitchFamily="50" charset="-127"/>
              </a:rPr>
              <a:t> data resume </a:t>
            </a:r>
            <a:r>
              <a:rPr lang="en-US" altLang="ko-KR" b="1" dirty="0" err="1">
                <a:solidFill>
                  <a:srgbClr val="FF0000"/>
                </a:solidFill>
                <a:latin typeface="맑은 고딕" pitchFamily="50" charset="-127"/>
                <a:ea typeface="맑은 고딕" pitchFamily="50" charset="-127"/>
              </a:rPr>
              <a:t>tồn</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tại</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phân</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tích</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và</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kiểm</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tra</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bổ</a:t>
            </a:r>
            <a:r>
              <a:rPr lang="en-US" altLang="ko-KR" b="1" dirty="0">
                <a:solidFill>
                  <a:srgbClr val="FF0000"/>
                </a:solidFill>
                <a:latin typeface="맑은 고딕" pitchFamily="50" charset="-127"/>
                <a:ea typeface="맑은 고딕" pitchFamily="50" charset="-127"/>
              </a:rPr>
              <a:t> sung </a:t>
            </a:r>
            <a:r>
              <a:rPr lang="en-US" altLang="ko-KR" b="1" dirty="0" err="1">
                <a:solidFill>
                  <a:srgbClr val="FF0000"/>
                </a:solidFill>
                <a:latin typeface="맑은 고딕" pitchFamily="50" charset="-127"/>
                <a:ea typeface="맑은 고딕" pitchFamily="50" charset="-127"/>
              </a:rPr>
              <a:t>có</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thể</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thực</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hiện</a:t>
            </a:r>
            <a:r>
              <a:rPr lang="en-US" altLang="ko-KR" b="1" dirty="0">
                <a:solidFill>
                  <a:srgbClr val="FF0000"/>
                </a:solidFill>
                <a:latin typeface="맑은 고딕" pitchFamily="50" charset="-127"/>
                <a:ea typeface="맑은 고딕" pitchFamily="50" charset="-127"/>
              </a:rPr>
              <a:t> </a:t>
            </a:r>
            <a:r>
              <a:rPr lang="en-US" altLang="ko-KR" b="1" dirty="0" err="1">
                <a:solidFill>
                  <a:srgbClr val="FF0000"/>
                </a:solidFill>
                <a:latin typeface="맑은 고딕" pitchFamily="50" charset="-127"/>
                <a:ea typeface="맑은 고딕" pitchFamily="50" charset="-127"/>
              </a:rPr>
              <a:t>được</a:t>
            </a:r>
            <a:r>
              <a:rPr lang="en-US" altLang="ko-KR" b="1" dirty="0">
                <a:solidFill>
                  <a:srgbClr val="FF0000"/>
                </a:solidFill>
                <a:latin typeface="맑은 고딕" pitchFamily="50" charset="-127"/>
                <a:ea typeface="맑은 고딕" pitchFamily="50" charset="-127"/>
              </a:rPr>
              <a:t>.</a:t>
            </a:r>
            <a:endParaRPr lang="ko-KR" altLang="en-US" b="1" dirty="0">
              <a:solidFill>
                <a:srgbClr val="FF0000"/>
              </a:solidFill>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143</a:t>
            </a:fld>
            <a:endParaRPr lang="ko-KR" altLang="en-US" dirty="0"/>
          </a:p>
        </p:txBody>
      </p:sp>
    </p:spTree>
    <p:extLst>
      <p:ext uri="{BB962C8B-B14F-4D97-AF65-F5344CB8AC3E}">
        <p14:creationId xmlns:p14="http://schemas.microsoft.com/office/powerpoint/2010/main" val="2725702762"/>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Text Box 4"/>
          <p:cNvSpPr txBox="1">
            <a:spLocks noChangeArrowheads="1"/>
          </p:cNvSpPr>
          <p:nvPr/>
        </p:nvSpPr>
        <p:spPr bwMode="auto">
          <a:xfrm>
            <a:off x="217488" y="2506663"/>
            <a:ext cx="6823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13" tIns="45707" rIns="91413" bIns="4570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b="1" dirty="0" err="1">
                <a:solidFill>
                  <a:srgbClr val="000000"/>
                </a:solidFill>
                <a:latin typeface="Arial" pitchFamily="34" charset="0"/>
                <a:ea typeface="맑은 고딕" pitchFamily="50" charset="-127"/>
                <a:cs typeface="Arial" pitchFamily="34" charset="0"/>
              </a:rPr>
              <a:t>Biểu</a:t>
            </a:r>
            <a:r>
              <a:rPr lang="en-US" altLang="ko-KR" sz="2400" b="1" dirty="0">
                <a:solidFill>
                  <a:srgbClr val="000000"/>
                </a:solidFill>
                <a:latin typeface="Arial" pitchFamily="34" charset="0"/>
                <a:ea typeface="맑은 고딕" pitchFamily="50" charset="-127"/>
                <a:cs typeface="Arial" pitchFamily="34" charset="0"/>
              </a:rPr>
              <a:t> </a:t>
            </a:r>
            <a:r>
              <a:rPr lang="en-US" altLang="ko-KR" sz="2400" b="1" dirty="0" err="1">
                <a:solidFill>
                  <a:srgbClr val="000000"/>
                </a:solidFill>
                <a:latin typeface="Arial" pitchFamily="34" charset="0"/>
                <a:ea typeface="맑은 고딕" pitchFamily="50" charset="-127"/>
                <a:cs typeface="Arial" pitchFamily="34" charset="0"/>
              </a:rPr>
              <a:t>đồ</a:t>
            </a:r>
            <a:r>
              <a:rPr lang="en-US" altLang="ko-KR" sz="2400" b="1" dirty="0">
                <a:solidFill>
                  <a:srgbClr val="000000"/>
                </a:solidFill>
                <a:latin typeface="Arial" pitchFamily="34" charset="0"/>
                <a:ea typeface="맑은 고딕" pitchFamily="50" charset="-127"/>
                <a:cs typeface="Arial" pitchFamily="34" charset="0"/>
              </a:rPr>
              <a:t> (Graph)</a:t>
            </a:r>
            <a:endParaRPr lang="ko-KR" altLang="en-US" sz="2400" b="1" dirty="0">
              <a:solidFill>
                <a:srgbClr val="000000"/>
              </a:solidFill>
              <a:latin typeface="Arial" pitchFamily="34" charset="0"/>
              <a:ea typeface="맑은 고딕" pitchFamily="50" charset="-127"/>
              <a:cs typeface="Arial" pitchFamily="34" charset="0"/>
            </a:endParaRPr>
          </a:p>
        </p:txBody>
      </p:sp>
      <p:sp>
        <p:nvSpPr>
          <p:cNvPr id="5" name="Text Box 4"/>
          <p:cNvSpPr txBox="1">
            <a:spLocks noChangeArrowheads="1"/>
          </p:cNvSpPr>
          <p:nvPr/>
        </p:nvSpPr>
        <p:spPr bwMode="auto">
          <a:xfrm>
            <a:off x="1361878" y="3578297"/>
            <a:ext cx="3168352" cy="1077184"/>
          </a:xfrm>
          <a:prstGeom prst="rect">
            <a:avLst/>
          </a:prstGeom>
          <a:noFill/>
          <a:ln w="12700" cap="rnd">
            <a:noFill/>
            <a:miter lim="800000"/>
            <a:headEnd type="none" w="sm" len="sm"/>
            <a:tailEnd type="none" w="sm" len="sm"/>
          </a:ln>
        </p:spPr>
        <p:txBody>
          <a:bodyPr wrap="square" lIns="91405" tIns="45703" rIns="91405" bIns="45703">
            <a:spAutoFit/>
          </a:bodyPr>
          <a:lstStyle/>
          <a:p>
            <a:pPr marL="87313" indent="-87313">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Giới</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thiệu</a:t>
            </a:r>
            <a:endParaRPr lang="en-US" altLang="ko-KR" sz="1600" b="1" dirty="0">
              <a:latin typeface="Arial" pitchFamily="34" charset="0"/>
              <a:ea typeface="맑은 고딕" panose="020B0503020000020004" pitchFamily="50" charset="-127"/>
              <a:cs typeface="Arial" pitchFamily="34" charset="0"/>
            </a:endParaRPr>
          </a:p>
          <a:p>
            <a:pPr>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Ví</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dụ</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ko-KR" altLang="en-US"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Thực</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hành</a:t>
            </a:r>
            <a:endParaRPr lang="en-US" altLang="ko-KR" sz="1600" b="1" dirty="0">
              <a:latin typeface="Arial" pitchFamily="34" charset="0"/>
              <a:ea typeface="맑은 고딕" panose="020B0503020000020004" pitchFamily="50" charset="-127"/>
              <a:cs typeface="Arial" pitchFamily="34" charset="0"/>
            </a:endParaRPr>
          </a:p>
          <a:p>
            <a:pPr marL="87313" indent="-87313">
              <a:buFontTx/>
              <a:buAutoNum type="arabicPeriod"/>
              <a:defRPr/>
            </a:pP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Tổng</a:t>
            </a:r>
            <a:r>
              <a:rPr lang="en-US" altLang="ko-KR" sz="1600" b="1" dirty="0">
                <a:latin typeface="Arial" pitchFamily="34" charset="0"/>
                <a:ea typeface="맑은 고딕" panose="020B0503020000020004" pitchFamily="50" charset="-127"/>
                <a:cs typeface="Arial" pitchFamily="34" charset="0"/>
              </a:rPr>
              <a:t> </a:t>
            </a:r>
            <a:r>
              <a:rPr lang="en-US" altLang="ko-KR" sz="1600" b="1" dirty="0" err="1">
                <a:latin typeface="Arial" pitchFamily="34" charset="0"/>
                <a:ea typeface="맑은 고딕" panose="020B0503020000020004" pitchFamily="50" charset="-127"/>
                <a:cs typeface="Arial" pitchFamily="34" charset="0"/>
              </a:rPr>
              <a:t>kết</a:t>
            </a:r>
            <a:endParaRPr lang="en-US" altLang="ko-KR" sz="1600" b="1" dirty="0">
              <a:latin typeface="Arial" pitchFamily="34" charset="0"/>
              <a:ea typeface="맑은 고딕" panose="020B0503020000020004" pitchFamily="50" charset="-127"/>
              <a:cs typeface="Arial" pitchFamily="34" charset="0"/>
            </a:endParaRPr>
          </a:p>
        </p:txBody>
      </p:sp>
    </p:spTree>
    <p:extLst>
      <p:ext uri="{BB962C8B-B14F-4D97-AF65-F5344CB8AC3E}">
        <p14:creationId xmlns:p14="http://schemas.microsoft.com/office/powerpoint/2010/main" val="1202110508"/>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en-US" altLang="ko-KR" sz="2000" b="1" dirty="0">
              <a:latin typeface="Arial" pitchFamily="34" charset="0"/>
              <a:ea typeface="맑은 고딕" pitchFamily="50" charset="-127"/>
              <a:cs typeface="Arial" pitchFamily="34" charset="0"/>
            </a:endParaRPr>
          </a:p>
        </p:txBody>
      </p:sp>
      <p:sp>
        <p:nvSpPr>
          <p:cNvPr id="16793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pic>
        <p:nvPicPr>
          <p:cNvPr id="167942" name="Picture 8"/>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28464" y="1916832"/>
            <a:ext cx="9587200" cy="4752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AutoShape 20"/>
          <p:cNvSpPr>
            <a:spLocks noChangeArrowheads="1"/>
          </p:cNvSpPr>
          <p:nvPr/>
        </p:nvSpPr>
        <p:spPr bwMode="auto">
          <a:xfrm>
            <a:off x="488504" y="980729"/>
            <a:ext cx="8784976" cy="720080"/>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square" anchor="ctr"/>
          <a:lstStyle/>
          <a:p>
            <a:pPr>
              <a:lnSpc>
                <a:spcPct val="150000"/>
              </a:lnSpc>
            </a:pP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thị</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diễn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trị</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đối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của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hai</a:t>
            </a:r>
            <a:r>
              <a:rPr lang="en-US" altLang="ko-KR" sz="1600" b="1" dirty="0">
                <a:latin typeface="Arial" pitchFamily="34" charset="0"/>
                <a:ea typeface="맑은 고딕" pitchFamily="50" charset="-127"/>
                <a:cs typeface="Arial" pitchFamily="34" charset="0"/>
              </a:rPr>
              <a:t> hay </a:t>
            </a:r>
            <a:r>
              <a:rPr lang="en-US" altLang="ko-KR" sz="1600" b="1" dirty="0" err="1">
                <a:latin typeface="Arial" pitchFamily="34" charset="0"/>
                <a:ea typeface="맑은 고딕" pitchFamily="50" charset="-127"/>
                <a:cs typeface="Arial" pitchFamily="34" charset="0"/>
              </a:rPr>
              <a:t>nhiều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đối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tượng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có</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quan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tới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nhau</a:t>
            </a:r>
            <a:r>
              <a:rPr lang="en-US" altLang="ko-KR" sz="1600" b="1" dirty="0">
                <a:latin typeface="Arial" pitchFamily="34" charset="0"/>
                <a:ea typeface="맑은 고딕" pitchFamily="50" charset="-127"/>
                <a:cs typeface="Arial" pitchFamily="34" charset="0"/>
              </a:rPr>
              <a:t>. Qua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thị</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việc</a:t>
            </a:r>
            <a:r>
              <a:rPr lang="en-US" altLang="ko-KR" sz="1600" b="1" dirty="0">
                <a:latin typeface="Arial" pitchFamily="34" charset="0"/>
                <a:ea typeface="맑은 고딕" pitchFamily="50" charset="-127"/>
                <a:cs typeface="Arial" pitchFamily="34" charset="0"/>
              </a:rPr>
              <a:t> so </a:t>
            </a:r>
            <a:r>
              <a:rPr lang="en-US" altLang="ko-KR" sz="1600" b="1" dirty="0" err="1">
                <a:latin typeface="Arial" pitchFamily="34" charset="0"/>
                <a:ea typeface="맑은 고딕" pitchFamily="50" charset="-127"/>
                <a:cs typeface="Arial" pitchFamily="34" charset="0"/>
              </a:rPr>
              <a:t>sánh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nhận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biết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sẽ</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trở</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nên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dễ</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dàng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hơn</a:t>
            </a:r>
            <a:r>
              <a:rPr lang="en-US" altLang="ko-KR" sz="1600" b="1" dirty="0">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145</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07977745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p:cNvGraphicFramePr>
            <a:graphicFrameLocks noGrp="1"/>
          </p:cNvGraphicFramePr>
          <p:nvPr>
            <p:extLst>
              <p:ext uri="{D42A27DB-BD31-4B8C-83A1-F6EECF244321}">
                <p14:modId xmlns:p14="http://schemas.microsoft.com/office/powerpoint/2010/main" val="4067018275"/>
              </p:ext>
            </p:extLst>
          </p:nvPr>
        </p:nvGraphicFramePr>
        <p:xfrm>
          <a:off x="1064568" y="1052736"/>
          <a:ext cx="8280400" cy="5569668"/>
        </p:xfrm>
        <a:graphic>
          <a:graphicData uri="http://schemas.openxmlformats.org/drawingml/2006/table">
            <a:tbl>
              <a:tblPr firstRow="1" bandRow="1">
                <a:tableStyleId>{5940675A-B579-460E-94D1-54222C63F5DA}</a:tableStyleId>
              </a:tblPr>
              <a:tblGrid>
                <a:gridCol w="2664129">
                  <a:extLst>
                    <a:ext uri="{9D8B030D-6E8A-4147-A177-3AD203B41FA5}">
                      <a16:colId xmlns:a16="http://schemas.microsoft.com/office/drawing/2014/main" val="20000"/>
                    </a:ext>
                  </a:extLst>
                </a:gridCol>
                <a:gridCol w="5616271">
                  <a:extLst>
                    <a:ext uri="{9D8B030D-6E8A-4147-A177-3AD203B41FA5}">
                      <a16:colId xmlns:a16="http://schemas.microsoft.com/office/drawing/2014/main" val="20001"/>
                    </a:ext>
                  </a:extLst>
                </a:gridCol>
              </a:tblGrid>
              <a:tr h="1006960">
                <a:tc>
                  <a:txBody>
                    <a:bodyPr/>
                    <a:lstStyle/>
                    <a:p>
                      <a:pPr algn="ctr" latinLnBrk="1"/>
                      <a:r>
                        <a:rPr lang="en-US" altLang="ko-KR" sz="1300" dirty="0" err="1">
                          <a:latin typeface="Arial" pitchFamily="34" charset="0"/>
                          <a:cs typeface="Arial" pitchFamily="34" charset="0"/>
                        </a:rPr>
                        <a:t>Để</a:t>
                      </a:r>
                      <a:r>
                        <a:rPr lang="en-US" altLang="ko-KR" sz="1300" baseline="0" dirty="0">
                          <a:latin typeface="Arial" pitchFamily="34" charset="0"/>
                          <a:cs typeface="Arial" pitchFamily="34" charset="0"/>
                        </a:rPr>
                        <a:t> so </a:t>
                      </a:r>
                      <a:r>
                        <a:rPr lang="en-US" altLang="ko-KR" sz="1300" baseline="0" dirty="0" err="1">
                          <a:latin typeface="Arial" pitchFamily="34" charset="0"/>
                          <a:cs typeface="Arial" pitchFamily="34" charset="0"/>
                        </a:rPr>
                        <a:t>sánh</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các</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nhóm</a:t>
                      </a:r>
                      <a:endParaRPr lang="ko-KR" altLang="en-US" sz="1300"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285750" indent="-285750" algn="l" latinLnBrk="1">
                        <a:lnSpc>
                          <a:spcPct val="150000"/>
                        </a:lnSpc>
                        <a:buFont typeface="Arial" panose="020B0604020202020204" pitchFamily="34" charset="0"/>
                        <a:buChar char="•"/>
                      </a:pPr>
                      <a:r>
                        <a:rPr lang="en-US" altLang="ko-KR" sz="1300" dirty="0" err="1">
                          <a:latin typeface="Arial" pitchFamily="34" charset="0"/>
                          <a:cs typeface="Arial" pitchFamily="34" charset="0"/>
                        </a:rPr>
                        <a:t>Biểu</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đồ</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cột</a:t>
                      </a:r>
                      <a:r>
                        <a:rPr lang="en-US" altLang="ko-KR" sz="1300" baseline="0" dirty="0">
                          <a:latin typeface="Arial" pitchFamily="34" charset="0"/>
                          <a:cs typeface="Arial" pitchFamily="34" charset="0"/>
                        </a:rPr>
                        <a:t> (</a:t>
                      </a:r>
                      <a:r>
                        <a:rPr lang="en-US" altLang="ko-KR" sz="1300" dirty="0">
                          <a:latin typeface="Arial" pitchFamily="34" charset="0"/>
                          <a:cs typeface="Arial" pitchFamily="34" charset="0"/>
                        </a:rPr>
                        <a:t>Bar Chart)</a:t>
                      </a:r>
                    </a:p>
                    <a:p>
                      <a:pPr marL="285750" indent="-285750" algn="l" latinLnBrk="1">
                        <a:lnSpc>
                          <a:spcPct val="150000"/>
                        </a:lnSpc>
                        <a:buFont typeface="Arial" panose="020B0604020202020204" pitchFamily="34" charset="0"/>
                        <a:buChar char="•"/>
                      </a:pPr>
                      <a:r>
                        <a:rPr lang="en-US" altLang="ko-KR" sz="1300" dirty="0" err="1">
                          <a:latin typeface="Arial" pitchFamily="34" charset="0"/>
                          <a:cs typeface="Arial" pitchFamily="34" charset="0"/>
                        </a:rPr>
                        <a:t>Biểu</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đồ</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phân</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bố</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xác</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suất</a:t>
                      </a:r>
                      <a:r>
                        <a:rPr lang="en-US" altLang="ko-KR" sz="1300" baseline="0" dirty="0">
                          <a:latin typeface="Arial" pitchFamily="34" charset="0"/>
                          <a:cs typeface="Arial" pitchFamily="34" charset="0"/>
                        </a:rPr>
                        <a:t> (</a:t>
                      </a:r>
                      <a:r>
                        <a:rPr lang="en-US" altLang="ko-KR" sz="1300" dirty="0">
                          <a:latin typeface="Arial" pitchFamily="34" charset="0"/>
                          <a:cs typeface="Arial" pitchFamily="34" charset="0"/>
                        </a:rPr>
                        <a:t>Histogram)</a:t>
                      </a:r>
                    </a:p>
                    <a:p>
                      <a:pPr marL="285750" indent="-285750" algn="l" latinLnBrk="1">
                        <a:lnSpc>
                          <a:spcPct val="150000"/>
                        </a:lnSpc>
                        <a:buFont typeface="Arial" panose="020B0604020202020204" pitchFamily="34" charset="0"/>
                        <a:buChar char="•"/>
                      </a:pPr>
                      <a:r>
                        <a:rPr lang="en-US" altLang="ko-KR" sz="1300" dirty="0" err="1">
                          <a:latin typeface="Arial" pitchFamily="34" charset="0"/>
                          <a:cs typeface="Arial" pitchFamily="34" charset="0"/>
                        </a:rPr>
                        <a:t>Biểu</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đồ</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tâm</a:t>
                      </a:r>
                      <a:r>
                        <a:rPr lang="en-US" altLang="ko-KR" sz="1300" baseline="0" dirty="0">
                          <a:latin typeface="Arial" pitchFamily="34" charset="0"/>
                          <a:cs typeface="Arial" pitchFamily="34" charset="0"/>
                        </a:rPr>
                        <a:t> (</a:t>
                      </a:r>
                      <a:r>
                        <a:rPr lang="en-US" altLang="ko-KR" sz="1300" dirty="0">
                          <a:latin typeface="Arial" pitchFamily="34" charset="0"/>
                          <a:cs typeface="Arial" pitchFamily="34" charset="0"/>
                        </a:rPr>
                        <a:t>Radial Chart)</a:t>
                      </a:r>
                      <a:br>
                        <a:rPr lang="en-US" altLang="ko-KR" sz="1300" dirty="0">
                          <a:latin typeface="Arial" pitchFamily="34" charset="0"/>
                          <a:cs typeface="Arial" pitchFamily="34" charset="0"/>
                        </a:rPr>
                      </a:br>
                      <a:endParaRPr lang="ko-KR" altLang="en-US" sz="1300"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1006960">
                <a:tc>
                  <a:txBody>
                    <a:bodyPr/>
                    <a:lstStyle/>
                    <a:p>
                      <a:pPr algn="ctr" latinLnBrk="1"/>
                      <a:r>
                        <a:rPr lang="en-US" altLang="ko-KR" sz="1300" dirty="0" err="1">
                          <a:latin typeface="Arial" pitchFamily="34" charset="0"/>
                          <a:cs typeface="Arial" pitchFamily="34" charset="0"/>
                        </a:rPr>
                        <a:t>Để</a:t>
                      </a:r>
                      <a:r>
                        <a:rPr lang="en-US" altLang="ko-KR" sz="1300" baseline="0" dirty="0">
                          <a:latin typeface="Arial" pitchFamily="34" charset="0"/>
                          <a:cs typeface="Arial" pitchFamily="34" charset="0"/>
                        </a:rPr>
                        <a:t> so </a:t>
                      </a:r>
                      <a:r>
                        <a:rPr lang="en-US" altLang="ko-KR" sz="1300" baseline="0" dirty="0" err="1">
                          <a:latin typeface="Arial" pitchFamily="34" charset="0"/>
                          <a:cs typeface="Arial" pitchFamily="34" charset="0"/>
                        </a:rPr>
                        <a:t>sánh</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thành</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phần</a:t>
                      </a:r>
                      <a:endParaRPr lang="ko-KR" altLang="en-US" sz="1300" b="1"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285750" indent="-285750" algn="l" latinLnBrk="1">
                        <a:lnSpc>
                          <a:spcPct val="150000"/>
                        </a:lnSpc>
                        <a:buFont typeface="Arial" panose="020B0604020202020204" pitchFamily="34" charset="0"/>
                        <a:buChar char="•"/>
                      </a:pPr>
                      <a:r>
                        <a:rPr lang="en-US" altLang="ko-KR" sz="1300" dirty="0" err="1">
                          <a:latin typeface="Arial" pitchFamily="34" charset="0"/>
                          <a:cs typeface="Arial" pitchFamily="34" charset="0"/>
                        </a:rPr>
                        <a:t>Biểu</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đồ</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quạt</a:t>
                      </a:r>
                      <a:r>
                        <a:rPr lang="en-US" altLang="ko-KR" sz="1300" baseline="0" dirty="0">
                          <a:latin typeface="Arial" pitchFamily="34" charset="0"/>
                          <a:cs typeface="Arial" pitchFamily="34" charset="0"/>
                        </a:rPr>
                        <a:t> (</a:t>
                      </a:r>
                      <a:r>
                        <a:rPr lang="en-US" altLang="ko-KR" sz="1300" dirty="0">
                          <a:latin typeface="Arial" pitchFamily="34" charset="0"/>
                          <a:cs typeface="Arial" pitchFamily="34" charset="0"/>
                        </a:rPr>
                        <a:t>Pie Chart)</a:t>
                      </a:r>
                    </a:p>
                    <a:p>
                      <a:pPr marL="285750" indent="-285750" algn="l" latinLnBrk="1">
                        <a:lnSpc>
                          <a:spcPct val="150000"/>
                        </a:lnSpc>
                        <a:buFont typeface="Arial" panose="020B0604020202020204" pitchFamily="34" charset="0"/>
                        <a:buChar char="•"/>
                      </a:pPr>
                      <a:r>
                        <a:rPr lang="en-US" altLang="ko-KR" sz="1300" dirty="0">
                          <a:latin typeface="Arial" pitchFamily="34" charset="0"/>
                          <a:cs typeface="Arial" pitchFamily="34" charset="0"/>
                        </a:rPr>
                        <a:t>Doughnut Chart</a:t>
                      </a:r>
                    </a:p>
                    <a:p>
                      <a:pPr marL="285750" indent="-285750" algn="l" latinLnBrk="1">
                        <a:lnSpc>
                          <a:spcPct val="150000"/>
                        </a:lnSpc>
                        <a:buFont typeface="Arial" panose="020B0604020202020204" pitchFamily="34" charset="0"/>
                        <a:buChar char="•"/>
                      </a:pPr>
                      <a:r>
                        <a:rPr lang="en-US" altLang="ko-KR" sz="1300" dirty="0" err="1">
                          <a:latin typeface="Arial" pitchFamily="34" charset="0"/>
                          <a:cs typeface="Arial" pitchFamily="34" charset="0"/>
                        </a:rPr>
                        <a:t>Biểu</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đồ</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cột</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chồng</a:t>
                      </a:r>
                      <a:r>
                        <a:rPr lang="en-US" altLang="ko-KR" sz="1300" baseline="0" dirty="0">
                          <a:latin typeface="Arial" pitchFamily="34" charset="0"/>
                          <a:cs typeface="Arial" pitchFamily="34" charset="0"/>
                        </a:rPr>
                        <a:t> (</a:t>
                      </a:r>
                      <a:r>
                        <a:rPr lang="en-US" altLang="ko-KR" sz="1300" dirty="0">
                          <a:latin typeface="Arial" pitchFamily="34" charset="0"/>
                          <a:cs typeface="Arial" pitchFamily="34" charset="0"/>
                        </a:rPr>
                        <a:t>Stacked Bar Chart)</a:t>
                      </a:r>
                      <a:endParaRPr lang="en-US" altLang="ko-KR" sz="1300" b="1"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1006960">
                <a:tc>
                  <a:txBody>
                    <a:bodyPr/>
                    <a:lstStyle/>
                    <a:p>
                      <a:pPr algn="ctr" latinLnBrk="1"/>
                      <a:r>
                        <a:rPr lang="en-US" altLang="ko-KR" sz="1300" dirty="0" err="1">
                          <a:latin typeface="Arial" pitchFamily="34" charset="0"/>
                          <a:cs typeface="Arial" pitchFamily="34" charset="0"/>
                        </a:rPr>
                        <a:t>Đánh</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giá</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dữ</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liệu</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theo</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thời</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gian</a:t>
                      </a:r>
                      <a:endParaRPr lang="ko-KR" altLang="en-US" sz="1300" b="1"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285750" indent="-285750" algn="l" latinLnBrk="1">
                        <a:lnSpc>
                          <a:spcPct val="150000"/>
                        </a:lnSpc>
                        <a:buFont typeface="Arial" panose="020B0604020202020204" pitchFamily="34" charset="0"/>
                        <a:buChar char="•"/>
                      </a:pPr>
                      <a:r>
                        <a:rPr lang="en-US" altLang="ko-KR" sz="1300" dirty="0" err="1">
                          <a:latin typeface="Arial" pitchFamily="34" charset="0"/>
                          <a:cs typeface="Arial" pitchFamily="34" charset="0"/>
                        </a:rPr>
                        <a:t>Biểu</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đồ</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đường</a:t>
                      </a:r>
                      <a:r>
                        <a:rPr lang="en-US" altLang="ko-KR" sz="1300" baseline="0" dirty="0">
                          <a:latin typeface="Arial" pitchFamily="34" charset="0"/>
                          <a:cs typeface="Arial" pitchFamily="34" charset="0"/>
                        </a:rPr>
                        <a:t> (</a:t>
                      </a:r>
                      <a:r>
                        <a:rPr lang="en-US" altLang="ko-KR" sz="1300" dirty="0">
                          <a:latin typeface="Arial" pitchFamily="34" charset="0"/>
                          <a:cs typeface="Arial" pitchFamily="34" charset="0"/>
                        </a:rPr>
                        <a:t>Line</a:t>
                      </a:r>
                      <a:r>
                        <a:rPr lang="en-US" altLang="ko-KR" sz="1300" baseline="0" dirty="0">
                          <a:latin typeface="Arial" pitchFamily="34" charset="0"/>
                          <a:cs typeface="Arial" pitchFamily="34" charset="0"/>
                        </a:rPr>
                        <a:t> </a:t>
                      </a:r>
                      <a:r>
                        <a:rPr lang="en-US" altLang="ko-KR" sz="1300" dirty="0">
                          <a:latin typeface="Arial" pitchFamily="34" charset="0"/>
                          <a:cs typeface="Arial" pitchFamily="34" charset="0"/>
                        </a:rPr>
                        <a:t>Chart)</a:t>
                      </a:r>
                    </a:p>
                    <a:p>
                      <a:pPr marL="285750" indent="-285750" algn="l" latinLnBrk="1">
                        <a:lnSpc>
                          <a:spcPct val="150000"/>
                        </a:lnSpc>
                        <a:buFont typeface="Arial" panose="020B0604020202020204" pitchFamily="34" charset="0"/>
                        <a:buChar char="•"/>
                      </a:pPr>
                      <a:r>
                        <a:rPr lang="en-US" altLang="ko-KR" sz="1300" dirty="0">
                          <a:latin typeface="Arial" pitchFamily="34" charset="0"/>
                          <a:cs typeface="Arial" pitchFamily="34" charset="0"/>
                        </a:rPr>
                        <a:t>Horizon Chart</a:t>
                      </a:r>
                    </a:p>
                    <a:p>
                      <a:pPr marL="285750" indent="-285750" algn="l" latinLnBrk="1">
                        <a:lnSpc>
                          <a:spcPct val="150000"/>
                        </a:lnSpc>
                        <a:buFont typeface="Arial" panose="020B0604020202020204" pitchFamily="34" charset="0"/>
                        <a:buChar char="•"/>
                      </a:pPr>
                      <a:r>
                        <a:rPr lang="en-US" altLang="ko-KR" sz="1300" dirty="0">
                          <a:latin typeface="Arial" pitchFamily="34" charset="0"/>
                          <a:cs typeface="Arial" pitchFamily="34" charset="0"/>
                        </a:rPr>
                        <a:t>Flow Map</a:t>
                      </a:r>
                      <a:endParaRPr lang="en-US" altLang="ko-KR" sz="1300" b="1"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1305317">
                <a:tc>
                  <a:txBody>
                    <a:bodyPr/>
                    <a:lstStyle/>
                    <a:p>
                      <a:pPr algn="ctr" latinLnBrk="1"/>
                      <a:r>
                        <a:rPr lang="en-US" altLang="ko-KR" sz="1300" dirty="0" err="1">
                          <a:latin typeface="Arial" pitchFamily="34" charset="0"/>
                          <a:cs typeface="Arial" pitchFamily="34" charset="0"/>
                        </a:rPr>
                        <a:t>Đánh</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giá</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mức</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độ</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phân</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tán</a:t>
                      </a:r>
                      <a:endParaRPr lang="ko-KR" altLang="en-US" sz="1300" b="1"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285750" indent="-285750" algn="l" latinLnBrk="1">
                        <a:lnSpc>
                          <a:spcPct val="150000"/>
                        </a:lnSpc>
                        <a:buFont typeface="Arial" panose="020B0604020202020204" pitchFamily="34" charset="0"/>
                        <a:buChar char="•"/>
                      </a:pPr>
                      <a:r>
                        <a:rPr lang="en-US" altLang="ko-KR" sz="1300" dirty="0">
                          <a:latin typeface="Arial" pitchFamily="34" charset="0"/>
                          <a:cs typeface="Arial" pitchFamily="34" charset="0"/>
                        </a:rPr>
                        <a:t>Scatter Plot</a:t>
                      </a:r>
                    </a:p>
                    <a:p>
                      <a:pPr marL="285750" indent="-285750" algn="l" latinLnBrk="1">
                        <a:lnSpc>
                          <a:spcPct val="150000"/>
                        </a:lnSpc>
                        <a:buFont typeface="Arial" panose="020B0604020202020204" pitchFamily="34" charset="0"/>
                        <a:buChar char="•"/>
                      </a:pPr>
                      <a:r>
                        <a:rPr lang="en-US" altLang="ko-KR" sz="1300" dirty="0">
                          <a:latin typeface="Arial" pitchFamily="34" charset="0"/>
                          <a:cs typeface="Arial" pitchFamily="34" charset="0"/>
                        </a:rPr>
                        <a:t>Bubble</a:t>
                      </a:r>
                      <a:r>
                        <a:rPr lang="en-US" altLang="ko-KR" sz="1300" baseline="0" dirty="0">
                          <a:latin typeface="Arial" pitchFamily="34" charset="0"/>
                          <a:cs typeface="Arial" pitchFamily="34" charset="0"/>
                        </a:rPr>
                        <a:t> Plot</a:t>
                      </a:r>
                    </a:p>
                    <a:p>
                      <a:pPr marL="285750" indent="-285750" algn="l" latinLnBrk="1">
                        <a:lnSpc>
                          <a:spcPct val="150000"/>
                        </a:lnSpc>
                        <a:buFont typeface="Arial" panose="020B0604020202020204" pitchFamily="34" charset="0"/>
                        <a:buChar char="•"/>
                      </a:pPr>
                      <a:r>
                        <a:rPr lang="en-US" altLang="ko-KR" sz="1300" dirty="0">
                          <a:latin typeface="Arial" pitchFamily="34" charset="0"/>
                          <a:cs typeface="Arial" pitchFamily="34" charset="0"/>
                        </a:rPr>
                        <a:t>Matrix Chart</a:t>
                      </a:r>
                    </a:p>
                    <a:p>
                      <a:pPr marL="285750" indent="-285750" algn="l" latinLnBrk="1">
                        <a:lnSpc>
                          <a:spcPct val="150000"/>
                        </a:lnSpc>
                        <a:buFont typeface="Arial" panose="020B0604020202020204" pitchFamily="34" charset="0"/>
                        <a:buChar char="•"/>
                      </a:pPr>
                      <a:r>
                        <a:rPr lang="en-US" altLang="ko-KR" sz="1300" dirty="0">
                          <a:latin typeface="Arial" pitchFamily="34" charset="0"/>
                          <a:cs typeface="Arial" pitchFamily="34" charset="0"/>
                        </a:rPr>
                        <a:t>Network Diagram</a:t>
                      </a:r>
                      <a:endParaRPr lang="ko-KR" altLang="en-US" sz="1300" b="1"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1006960">
                <a:tc>
                  <a:txBody>
                    <a:bodyPr/>
                    <a:lstStyle/>
                    <a:p>
                      <a:pPr algn="ctr" latinLnBrk="1"/>
                      <a:r>
                        <a:rPr lang="en-US" altLang="ko-KR" sz="1300" dirty="0" err="1">
                          <a:latin typeface="Arial" pitchFamily="34" charset="0"/>
                          <a:cs typeface="Arial" pitchFamily="34" charset="0"/>
                        </a:rPr>
                        <a:t>Diễn</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tả</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thông</a:t>
                      </a:r>
                      <a:r>
                        <a:rPr lang="en-US" altLang="ko-KR" sz="1300" baseline="0" dirty="0">
                          <a:latin typeface="Arial" pitchFamily="34" charset="0"/>
                          <a:cs typeface="Arial" pitchFamily="34" charset="0"/>
                        </a:rPr>
                        <a:t> tin </a:t>
                      </a:r>
                      <a:r>
                        <a:rPr lang="en-US" altLang="ko-KR" sz="1300" baseline="0" dirty="0" err="1">
                          <a:latin typeface="Arial" pitchFamily="34" charset="0"/>
                          <a:cs typeface="Arial" pitchFamily="34" charset="0"/>
                        </a:rPr>
                        <a:t>vị</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trí</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và</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kết</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nối</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dữ</a:t>
                      </a:r>
                      <a:r>
                        <a:rPr lang="en-US" altLang="ko-KR" sz="1300" baseline="0" dirty="0">
                          <a:latin typeface="Arial" pitchFamily="34" charset="0"/>
                          <a:cs typeface="Arial" pitchFamily="34" charset="0"/>
                        </a:rPr>
                        <a:t> </a:t>
                      </a:r>
                      <a:r>
                        <a:rPr lang="en-US" altLang="ko-KR" sz="1300" baseline="0" dirty="0" err="1">
                          <a:latin typeface="Arial" pitchFamily="34" charset="0"/>
                          <a:cs typeface="Arial" pitchFamily="34" charset="0"/>
                        </a:rPr>
                        <a:t>liệu</a:t>
                      </a:r>
                      <a:endParaRPr lang="en-US" altLang="ko-KR" sz="1300" b="1" dirty="0">
                        <a:solidFill>
                          <a:srgbClr val="FF0000"/>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marL="285750" indent="-285750" algn="l" latinLnBrk="1">
                        <a:lnSpc>
                          <a:spcPct val="150000"/>
                        </a:lnSpc>
                        <a:buFont typeface="Arial" panose="020B0604020202020204" pitchFamily="34" charset="0"/>
                        <a:buChar char="•"/>
                      </a:pPr>
                      <a:r>
                        <a:rPr lang="en-US" altLang="ko-KR" sz="1300" dirty="0">
                          <a:latin typeface="Arial" pitchFamily="34" charset="0"/>
                          <a:cs typeface="Arial" pitchFamily="34" charset="0"/>
                        </a:rPr>
                        <a:t>Density Map</a:t>
                      </a:r>
                    </a:p>
                    <a:p>
                      <a:pPr marL="285750" indent="-285750" algn="l" latinLnBrk="1">
                        <a:lnSpc>
                          <a:spcPct val="150000"/>
                        </a:lnSpc>
                        <a:buFont typeface="Arial" panose="020B0604020202020204" pitchFamily="34" charset="0"/>
                        <a:buChar char="•"/>
                      </a:pPr>
                      <a:r>
                        <a:rPr lang="en-US" altLang="ko-KR" sz="1300" dirty="0" err="1">
                          <a:latin typeface="Arial" pitchFamily="34" charset="0"/>
                          <a:cs typeface="Arial" pitchFamily="34" charset="0"/>
                        </a:rPr>
                        <a:t>Choropleth</a:t>
                      </a:r>
                      <a:r>
                        <a:rPr lang="en-US" altLang="ko-KR" sz="1300" baseline="0" dirty="0">
                          <a:latin typeface="Arial" pitchFamily="34" charset="0"/>
                          <a:cs typeface="Arial" pitchFamily="34" charset="0"/>
                        </a:rPr>
                        <a:t> Map</a:t>
                      </a:r>
                    </a:p>
                    <a:p>
                      <a:pPr marL="285750" indent="-285750" algn="l" latinLnBrk="1">
                        <a:lnSpc>
                          <a:spcPct val="150000"/>
                        </a:lnSpc>
                        <a:buFont typeface="Arial" panose="020B0604020202020204" pitchFamily="34" charset="0"/>
                        <a:buChar char="•"/>
                      </a:pPr>
                      <a:r>
                        <a:rPr lang="en-US" altLang="ko-KR" sz="1300" baseline="0" dirty="0">
                          <a:latin typeface="Arial" pitchFamily="34" charset="0"/>
                          <a:cs typeface="Arial" pitchFamily="34" charset="0"/>
                        </a:rPr>
                        <a:t>Dot Plot Map</a:t>
                      </a:r>
                      <a:endParaRPr lang="ko-KR" altLang="en-US" sz="1300" b="1" dirty="0">
                        <a:solidFill>
                          <a:schemeClr val="tx1"/>
                        </a:solidFill>
                        <a:latin typeface="Arial" pitchFamily="34" charset="0"/>
                        <a:ea typeface="맑은 고딕" panose="020B0503020000020004" pitchFamily="50" charset="-127"/>
                        <a:cs typeface="Arial" pitchFamily="34" charset="0"/>
                      </a:endParaRPr>
                    </a:p>
                  </a:txBody>
                  <a:tcPr marL="91434" marR="91434" marT="45727" marB="45727"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pic>
        <p:nvPicPr>
          <p:cNvPr id="13" name="Picture 12" descr="index.png"/>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6125860" y="1755724"/>
            <a:ext cx="754286" cy="491100"/>
          </a:xfrm>
          <a:prstGeom prst="rect">
            <a:avLst/>
          </a:prstGeom>
        </p:spPr>
      </p:pic>
      <p:sp>
        <p:nvSpPr>
          <p:cNvPr id="168964" name="AutoShape 20"/>
          <p:cNvSpPr>
            <a:spLocks noChangeArrowheads="1"/>
          </p:cNvSpPr>
          <p:nvPr/>
        </p:nvSpPr>
        <p:spPr bwMode="auto">
          <a:xfrm>
            <a:off x="849313" y="620688"/>
            <a:ext cx="8258175" cy="428625"/>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none" anchor="ctr"/>
          <a:lstStyle/>
          <a:p>
            <a:pPr>
              <a:lnSpc>
                <a:spcPct val="150000"/>
              </a:lnSpc>
            </a:pPr>
            <a:r>
              <a:rPr lang="ko-KR" altLang="en-US"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Phân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loại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biểu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đồ</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theo</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mục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đích</a:t>
            </a:r>
            <a:endParaRPr lang="en-US" altLang="ko-KR" sz="1600" b="1" dirty="0">
              <a:latin typeface="Arial" pitchFamily="34" charset="0"/>
              <a:ea typeface="맑은 고딕" pitchFamily="50" charset="-127"/>
              <a:cs typeface="Arial" pitchFamily="34" charset="0"/>
            </a:endParaRP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146</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en-US" altLang="ko-KR" sz="2000" b="1" dirty="0">
              <a:latin typeface="Arial" pitchFamily="34" charset="0"/>
              <a:ea typeface="맑은 고딕" pitchFamily="50" charset="-127"/>
              <a:cs typeface="Arial" pitchFamily="34" charset="0"/>
            </a:endParaRPr>
          </a:p>
        </p:txBody>
      </p:sp>
      <p:sp>
        <p:nvSpPr>
          <p:cNvPr id="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pic>
        <p:nvPicPr>
          <p:cNvPr id="9" name="Picture 8" descr="bar_chart_up-512.png"/>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5940380" y="764704"/>
            <a:ext cx="576064" cy="576064"/>
          </a:xfrm>
          <a:prstGeom prst="rect">
            <a:avLst/>
          </a:prstGeom>
        </p:spPr>
      </p:pic>
      <p:pic>
        <p:nvPicPr>
          <p:cNvPr id="10" name="Picture 9" descr="PlotMultipleHistogramsExample_01.png"/>
          <p:cNvPicPr>
            <a:picLocks noChangeAspect="1"/>
          </p:cNvPicPr>
          <p:nvPr/>
        </p:nvPicPr>
        <p:blipFill>
          <a:blip r:embed="rId4" cstate="print"/>
          <a:stretch>
            <a:fillRect/>
          </a:stretch>
        </p:blipFill>
        <p:spPr>
          <a:xfrm>
            <a:off x="6948492" y="1196752"/>
            <a:ext cx="672075" cy="504056"/>
          </a:xfrm>
          <a:prstGeom prst="rect">
            <a:avLst/>
          </a:prstGeom>
        </p:spPr>
      </p:pic>
      <p:pic>
        <p:nvPicPr>
          <p:cNvPr id="14" name="Picture 13" descr="index.jpg"/>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6062398" y="2331788"/>
            <a:ext cx="360039" cy="360039"/>
          </a:xfrm>
          <a:prstGeom prst="rect">
            <a:avLst/>
          </a:prstGeom>
        </p:spPr>
      </p:pic>
      <p:pic>
        <p:nvPicPr>
          <p:cNvPr id="15" name="Picture 14" descr="Donut-Chart.svg.png"/>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5380142" y="2645458"/>
            <a:ext cx="360040" cy="360040"/>
          </a:xfrm>
          <a:prstGeom prst="rect">
            <a:avLst/>
          </a:prstGeom>
        </p:spPr>
      </p:pic>
      <p:pic>
        <p:nvPicPr>
          <p:cNvPr id="16" name="Picture 15" descr="stackedbar.png"/>
          <p:cNvPicPr>
            <a:picLocks noChangeAspect="1"/>
          </p:cNvPicPr>
          <p:nvPr/>
        </p:nvPicPr>
        <p:blipFill>
          <a:blip r:embed="rId7" cstate="print">
            <a:extLst>
              <a:ext uri="{28A0092B-C50C-407E-A947-70E740481C1C}">
                <a14:useLocalDpi xmlns:a14="http://schemas.microsoft.com/office/drawing/2010/main"/>
              </a:ext>
            </a:extLst>
          </a:blip>
          <a:stretch>
            <a:fillRect/>
          </a:stretch>
        </p:blipFill>
        <p:spPr>
          <a:xfrm>
            <a:off x="7044872" y="2623220"/>
            <a:ext cx="1080120" cy="648072"/>
          </a:xfrm>
          <a:prstGeom prst="rect">
            <a:avLst/>
          </a:prstGeom>
        </p:spPr>
      </p:pic>
      <p:pic>
        <p:nvPicPr>
          <p:cNvPr id="17" name="Picture 16" descr="index.png"/>
          <p:cNvPicPr>
            <a:picLocks noChangeAspect="1"/>
          </p:cNvPicPr>
          <p:nvPr/>
        </p:nvPicPr>
        <p:blipFill>
          <a:blip r:embed="rId8" cstate="print">
            <a:extLst>
              <a:ext uri="{28A0092B-C50C-407E-A947-70E740481C1C}">
                <a14:useLocalDpi xmlns:a14="http://schemas.microsoft.com/office/drawing/2010/main"/>
              </a:ext>
            </a:extLst>
          </a:blip>
          <a:stretch>
            <a:fillRect/>
          </a:stretch>
        </p:blipFill>
        <p:spPr>
          <a:xfrm>
            <a:off x="6236958" y="3314262"/>
            <a:ext cx="360040" cy="360040"/>
          </a:xfrm>
          <a:prstGeom prst="rect">
            <a:avLst/>
          </a:prstGeom>
        </p:spPr>
      </p:pic>
      <p:pic>
        <p:nvPicPr>
          <p:cNvPr id="18" name="Picture 17" descr="J1PDO.png"/>
          <p:cNvPicPr>
            <a:picLocks noChangeAspect="1"/>
          </p:cNvPicPr>
          <p:nvPr/>
        </p:nvPicPr>
        <p:blipFill>
          <a:blip r:embed="rId9" cstate="print"/>
          <a:stretch>
            <a:fillRect/>
          </a:stretch>
        </p:blipFill>
        <p:spPr>
          <a:xfrm>
            <a:off x="5401495" y="3664978"/>
            <a:ext cx="1423713" cy="312597"/>
          </a:xfrm>
          <a:prstGeom prst="rect">
            <a:avLst/>
          </a:prstGeom>
        </p:spPr>
      </p:pic>
      <p:pic>
        <p:nvPicPr>
          <p:cNvPr id="19" name="Picture 18" descr="Flow_Map_2.jpg"/>
          <p:cNvPicPr>
            <a:picLocks noChangeAspect="1"/>
          </p:cNvPicPr>
          <p:nvPr/>
        </p:nvPicPr>
        <p:blipFill>
          <a:blip r:embed="rId10" cstate="print">
            <a:extLst>
              <a:ext uri="{28A0092B-C50C-407E-A947-70E740481C1C}">
                <a14:useLocalDpi xmlns:a14="http://schemas.microsoft.com/office/drawing/2010/main"/>
              </a:ext>
            </a:extLst>
          </a:blip>
          <a:srcRect/>
          <a:stretch>
            <a:fillRect/>
          </a:stretch>
        </p:blipFill>
        <p:spPr>
          <a:xfrm>
            <a:off x="5097016" y="3976132"/>
            <a:ext cx="720080" cy="318175"/>
          </a:xfrm>
          <a:prstGeom prst="rect">
            <a:avLst/>
          </a:prstGeom>
        </p:spPr>
      </p:pic>
      <p:pic>
        <p:nvPicPr>
          <p:cNvPr id="20" name="Picture 19" descr="index.png"/>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5385048" y="4330351"/>
            <a:ext cx="486964" cy="416077"/>
          </a:xfrm>
          <a:prstGeom prst="rect">
            <a:avLst/>
          </a:prstGeom>
        </p:spPr>
      </p:pic>
      <p:pic>
        <p:nvPicPr>
          <p:cNvPr id="21" name="Picture 20" descr="log-bubble-chart.png"/>
          <p:cNvPicPr>
            <a:picLocks noChangeAspect="1"/>
          </p:cNvPicPr>
          <p:nvPr/>
        </p:nvPicPr>
        <p:blipFill>
          <a:blip r:embed="rId12" cstate="print"/>
          <a:stretch>
            <a:fillRect/>
          </a:stretch>
        </p:blipFill>
        <p:spPr>
          <a:xfrm>
            <a:off x="6249144" y="4330921"/>
            <a:ext cx="1228396" cy="610248"/>
          </a:xfrm>
          <a:prstGeom prst="rect">
            <a:avLst/>
          </a:prstGeom>
        </p:spPr>
      </p:pic>
      <p:pic>
        <p:nvPicPr>
          <p:cNvPr id="22" name="Picture 21" descr="matrix_chart.jpg"/>
          <p:cNvPicPr>
            <a:picLocks noChangeAspect="1"/>
          </p:cNvPicPr>
          <p:nvPr/>
        </p:nvPicPr>
        <p:blipFill>
          <a:blip r:embed="rId13" cstate="print"/>
          <a:stretch>
            <a:fillRect/>
          </a:stretch>
        </p:blipFill>
        <p:spPr>
          <a:xfrm>
            <a:off x="7642980" y="4348012"/>
            <a:ext cx="884782" cy="936104"/>
          </a:xfrm>
          <a:prstGeom prst="rect">
            <a:avLst/>
          </a:prstGeom>
        </p:spPr>
      </p:pic>
      <p:pic>
        <p:nvPicPr>
          <p:cNvPr id="23" name="Picture 22" descr="index.jpg"/>
          <p:cNvPicPr>
            <a:picLocks noChangeAspect="1"/>
          </p:cNvPicPr>
          <p:nvPr/>
        </p:nvPicPr>
        <p:blipFill>
          <a:blip r:embed="rId14" cstate="print">
            <a:extLst>
              <a:ext uri="{28A0092B-C50C-407E-A947-70E740481C1C}">
                <a14:useLocalDpi xmlns:a14="http://schemas.microsoft.com/office/drawing/2010/main"/>
              </a:ext>
            </a:extLst>
          </a:blip>
          <a:stretch>
            <a:fillRect/>
          </a:stretch>
        </p:blipFill>
        <p:spPr>
          <a:xfrm>
            <a:off x="5457056" y="5637297"/>
            <a:ext cx="898258" cy="706535"/>
          </a:xfrm>
          <a:prstGeom prst="rect">
            <a:avLst/>
          </a:prstGeom>
        </p:spPr>
      </p:pic>
      <p:pic>
        <p:nvPicPr>
          <p:cNvPr id="24" name="Picture 23" descr="index.jpg"/>
          <p:cNvPicPr>
            <a:picLocks noChangeAspect="1"/>
          </p:cNvPicPr>
          <p:nvPr/>
        </p:nvPicPr>
        <p:blipFill>
          <a:blip r:embed="rId15" cstate="print">
            <a:extLst>
              <a:ext uri="{28A0092B-C50C-407E-A947-70E740481C1C}">
                <a14:useLocalDpi xmlns:a14="http://schemas.microsoft.com/office/drawing/2010/main"/>
              </a:ext>
            </a:extLst>
          </a:blip>
          <a:stretch>
            <a:fillRect/>
          </a:stretch>
        </p:blipFill>
        <p:spPr>
          <a:xfrm>
            <a:off x="6609184" y="5920626"/>
            <a:ext cx="884788" cy="532710"/>
          </a:xfrm>
          <a:prstGeom prst="rect">
            <a:avLst/>
          </a:prstGeom>
        </p:spPr>
      </p:pic>
      <p:pic>
        <p:nvPicPr>
          <p:cNvPr id="25" name="Picture 24" descr="user_distribution_map_continents.png"/>
          <p:cNvPicPr>
            <a:picLocks noChangeAspect="1"/>
          </p:cNvPicPr>
          <p:nvPr/>
        </p:nvPicPr>
        <p:blipFill>
          <a:blip r:embed="rId16" cstate="print">
            <a:extLst>
              <a:ext uri="{28A0092B-C50C-407E-A947-70E740481C1C}">
                <a14:useLocalDpi xmlns:a14="http://schemas.microsoft.com/office/drawing/2010/main"/>
              </a:ext>
            </a:extLst>
          </a:blip>
          <a:srcRect t="17089"/>
          <a:stretch>
            <a:fillRect/>
          </a:stretch>
        </p:blipFill>
        <p:spPr>
          <a:xfrm>
            <a:off x="7678459" y="5805264"/>
            <a:ext cx="1811045" cy="976089"/>
          </a:xfrm>
          <a:prstGeom prst="rect">
            <a:avLst/>
          </a:prstGeom>
        </p:spPr>
      </p:pic>
    </p:spTree>
    <p:extLst>
      <p:ext uri="{BB962C8B-B14F-4D97-AF65-F5344CB8AC3E}">
        <p14:creationId xmlns:p14="http://schemas.microsoft.com/office/powerpoint/2010/main" val="84013278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8" name="AutoShape 20"/>
          <p:cNvSpPr>
            <a:spLocks noChangeArrowheads="1"/>
          </p:cNvSpPr>
          <p:nvPr/>
        </p:nvSpPr>
        <p:spPr bwMode="auto">
          <a:xfrm>
            <a:off x="776537" y="1700212"/>
            <a:ext cx="8640960" cy="4897140"/>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square" anchor="ctr"/>
          <a:lstStyle/>
          <a:p>
            <a:pPr marL="174625" indent="-174625" algn="just">
              <a:lnSpc>
                <a:spcPct val="150000"/>
              </a:lnSpc>
              <a:buAutoNum type="arabicPeriod"/>
            </a:pP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cột</a:t>
            </a:r>
            <a:r>
              <a:rPr lang="en-US" altLang="ko-KR" sz="1600" b="1" dirty="0">
                <a:latin typeface="Arial" pitchFamily="34" charset="0"/>
                <a:ea typeface="맑은 고딕" pitchFamily="50" charset="-127"/>
                <a:cs typeface="Arial" pitchFamily="34" charset="0"/>
              </a:rPr>
              <a:t>:</a:t>
            </a:r>
          </a:p>
          <a:p>
            <a:pPr algn="just">
              <a:lnSpc>
                <a:spcPct val="150000"/>
              </a:lnSpc>
            </a:pP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Trong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biểu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đồ</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cột</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so </a:t>
            </a:r>
            <a:r>
              <a:rPr lang="en-US" altLang="ko-KR" sz="1600" dirty="0" err="1">
                <a:latin typeface="Arial" pitchFamily="34" charset="0"/>
                <a:ea typeface="맑은 고딕" pitchFamily="50" charset="-127"/>
                <a:cs typeface="Arial" pitchFamily="34" charset="0"/>
              </a:rPr>
              <a:t>sánh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dễ</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dàng</a:t>
            </a:r>
            <a:r>
              <a:rPr lang="en-US" altLang="ko-KR" sz="1600" dirty="0">
                <a:latin typeface="Arial" pitchFamily="34" charset="0"/>
                <a:ea typeface="맑은 고딕" pitchFamily="50" charset="-127"/>
                <a:cs typeface="Arial" pitchFamily="34" charset="0"/>
              </a:rPr>
              <a:t> qua </a:t>
            </a:r>
            <a:r>
              <a:rPr lang="en-US" altLang="ko-KR" sz="1600" dirty="0" err="1">
                <a:latin typeface="Arial" pitchFamily="34" charset="0"/>
                <a:ea typeface="맑은 고딕" pitchFamily="50" charset="-127"/>
                <a:cs typeface="Arial" pitchFamily="34" charset="0"/>
              </a:rPr>
              <a:t>kích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cỡ</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của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cột</a:t>
            </a:r>
            <a:r>
              <a:rPr lang="en-US" altLang="ko-KR" sz="1600" dirty="0">
                <a:latin typeface="Arial" pitchFamily="34" charset="0"/>
                <a:ea typeface="맑은 고딕" pitchFamily="50" charset="-127"/>
                <a:cs typeface="Arial" pitchFamily="34" charset="0"/>
              </a:rPr>
              <a:t>.</a:t>
            </a:r>
          </a:p>
          <a:p>
            <a:pPr marL="342900" indent="-342900" algn="just">
              <a:lnSpc>
                <a:spcPct val="150000"/>
              </a:lnSpc>
            </a:pPr>
            <a:r>
              <a:rPr lang="en-US" altLang="ko-KR" sz="1600" b="1" dirty="0">
                <a:latin typeface="Arial" pitchFamily="34" charset="0"/>
                <a:ea typeface="맑은 고딕" pitchFamily="50" charset="-127"/>
                <a:cs typeface="Arial" pitchFamily="34" charset="0"/>
              </a:rPr>
              <a:t>2. </a:t>
            </a: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đường</a:t>
            </a:r>
            <a:r>
              <a:rPr lang="en-US" altLang="ko-KR" sz="1600" b="1" dirty="0">
                <a:latin typeface="Arial" pitchFamily="34" charset="0"/>
                <a:ea typeface="맑은 고딕" pitchFamily="50" charset="-127"/>
                <a:cs typeface="Arial" pitchFamily="34" charset="0"/>
              </a:rPr>
              <a:t>: </a:t>
            </a:r>
          </a:p>
          <a:p>
            <a:pPr marL="342900" indent="-342900" algn="just">
              <a:lnSpc>
                <a:spcPct val="150000"/>
              </a:lnSpc>
            </a:pP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Biểu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đồ</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đường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sử</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dụng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trong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tình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huống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phân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tích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thay</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đổi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theo</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thời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gian</a:t>
            </a:r>
            <a:r>
              <a:rPr lang="en-US" altLang="ko-KR" sz="1600" dirty="0">
                <a:latin typeface="Arial" pitchFamily="34" charset="0"/>
                <a:ea typeface="맑은 고딕" pitchFamily="50" charset="-127"/>
                <a:cs typeface="Arial" pitchFamily="34" charset="0"/>
              </a:rPr>
              <a:t>.</a:t>
            </a:r>
          </a:p>
          <a:p>
            <a:pPr marL="342900" indent="-342900" algn="just">
              <a:lnSpc>
                <a:spcPct val="150000"/>
              </a:lnSpc>
            </a:pPr>
            <a:r>
              <a:rPr lang="en-US" altLang="ko-KR" sz="1600" b="1" dirty="0">
                <a:latin typeface="Arial" pitchFamily="34" charset="0"/>
                <a:ea typeface="맑은 고딕" pitchFamily="50" charset="-127"/>
                <a:cs typeface="Arial" pitchFamily="34" charset="0"/>
              </a:rPr>
              <a:t>3. </a:t>
            </a: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vùng</a:t>
            </a:r>
            <a:r>
              <a:rPr lang="en-US" altLang="ko-KR" sz="1600" b="1" dirty="0">
                <a:latin typeface="Arial" pitchFamily="34" charset="0"/>
                <a:ea typeface="맑은 고딕" pitchFamily="50" charset="-127"/>
                <a:cs typeface="Arial" pitchFamily="34" charset="0"/>
              </a:rPr>
              <a:t>:</a:t>
            </a:r>
          </a:p>
          <a:p>
            <a:pPr marL="342900" indent="-342900" algn="just">
              <a:lnSpc>
                <a:spcPct val="150000"/>
              </a:lnSpc>
            </a:pP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Biểu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đồ</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vùng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cũng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sử</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dụng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để</a:t>
            </a:r>
            <a:r>
              <a:rPr lang="en-US" altLang="ko-KR" sz="1600" dirty="0">
                <a:latin typeface="Arial" pitchFamily="34" charset="0"/>
                <a:ea typeface="맑은 고딕" pitchFamily="50" charset="-127"/>
                <a:cs typeface="Arial" pitchFamily="34" charset="0"/>
              </a:rPr>
              <a:t> so </a:t>
            </a:r>
            <a:r>
              <a:rPr lang="en-US" altLang="ko-KR" sz="1600" dirty="0" err="1">
                <a:latin typeface="Arial" pitchFamily="34" charset="0"/>
                <a:ea typeface="맑은 고딕" pitchFamily="50" charset="-127"/>
                <a:cs typeface="Arial" pitchFamily="34" charset="0"/>
              </a:rPr>
              <a:t>sánh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loại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theo</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kích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cỡ</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của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vùng</a:t>
            </a:r>
            <a:r>
              <a:rPr lang="en-US" altLang="ko-KR" sz="1600" dirty="0">
                <a:latin typeface="Arial" pitchFamily="34" charset="0"/>
                <a:ea typeface="맑은 고딕" pitchFamily="50" charset="-127"/>
                <a:cs typeface="Arial" pitchFamily="34" charset="0"/>
              </a:rPr>
              <a:t>.</a:t>
            </a:r>
          </a:p>
          <a:p>
            <a:pPr marL="342900" indent="-342900" algn="just">
              <a:lnSpc>
                <a:spcPct val="150000"/>
              </a:lnSpc>
            </a:pPr>
            <a:r>
              <a:rPr lang="en-US" altLang="ko-KR" sz="1600" b="1" dirty="0">
                <a:latin typeface="Arial" pitchFamily="34" charset="0"/>
                <a:ea typeface="맑은 고딕" pitchFamily="50" charset="-127"/>
                <a:cs typeface="Arial" pitchFamily="34" charset="0"/>
              </a:rPr>
              <a:t>4. </a:t>
            </a: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tán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xạ</a:t>
            </a:r>
            <a:r>
              <a:rPr lang="en-US" altLang="ko-KR" sz="1600" b="1" dirty="0">
                <a:latin typeface="Arial" pitchFamily="34" charset="0"/>
                <a:ea typeface="맑은 고딕" pitchFamily="50" charset="-127"/>
                <a:cs typeface="Arial" pitchFamily="34" charset="0"/>
              </a:rPr>
              <a:t>: </a:t>
            </a:r>
          </a:p>
          <a:p>
            <a:pPr marL="342900" indent="-342900" algn="just">
              <a:lnSpc>
                <a:spcPct val="150000"/>
              </a:lnSpc>
            </a:pP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Biểu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đồ</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tán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xạ</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dùng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để</a:t>
            </a:r>
            <a:r>
              <a:rPr lang="en-US" altLang="ko-KR" sz="1600" dirty="0">
                <a:latin typeface="Arial" pitchFamily="34" charset="0"/>
                <a:ea typeface="맑은 고딕" pitchFamily="50" charset="-127"/>
                <a:cs typeface="Arial" pitchFamily="34" charset="0"/>
              </a:rPr>
              <a:t> so </a:t>
            </a:r>
            <a:r>
              <a:rPr lang="en-US" altLang="ko-KR" sz="1600" dirty="0" err="1">
                <a:latin typeface="Arial" pitchFamily="34" charset="0"/>
                <a:ea typeface="맑은 고딕" pitchFamily="50" charset="-127"/>
                <a:cs typeface="Arial" pitchFamily="34" charset="0"/>
              </a:rPr>
              <a:t>sánh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giữa</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hai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loại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p>
          <a:p>
            <a:pPr marL="342900" indent="-342900" algn="just">
              <a:lnSpc>
                <a:spcPct val="150000"/>
              </a:lnSpc>
            </a:pPr>
            <a:r>
              <a:rPr lang="en-US" altLang="ko-KR" sz="1600" b="1" dirty="0">
                <a:latin typeface="Arial" pitchFamily="34" charset="0"/>
                <a:ea typeface="맑은 고딕" pitchFamily="50" charset="-127"/>
                <a:cs typeface="Arial" pitchFamily="34" charset="0"/>
              </a:rPr>
              <a:t>5. </a:t>
            </a: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tam </a:t>
            </a:r>
            <a:r>
              <a:rPr lang="en-US" altLang="ko-KR" sz="1600" b="1" dirty="0" err="1">
                <a:latin typeface="Arial" pitchFamily="34" charset="0"/>
                <a:ea typeface="맑은 고딕" pitchFamily="50" charset="-127"/>
                <a:cs typeface="Arial" pitchFamily="34" charset="0"/>
              </a:rPr>
              <a:t>giác</a:t>
            </a:r>
            <a:r>
              <a:rPr lang="en-US" altLang="ko-KR" sz="1600" b="1" dirty="0">
                <a:latin typeface="Arial" pitchFamily="34" charset="0"/>
                <a:ea typeface="맑은 고딕" pitchFamily="50" charset="-127"/>
                <a:cs typeface="Arial" pitchFamily="34" charset="0"/>
              </a:rPr>
              <a:t>: </a:t>
            </a:r>
          </a:p>
          <a:p>
            <a:pPr marL="342900" indent="-342900" algn="just">
              <a:lnSpc>
                <a:spcPct val="150000"/>
              </a:lnSpc>
            </a:pP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Biểu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đồ</a:t>
            </a:r>
            <a:r>
              <a:rPr lang="en-US" altLang="ko-KR" sz="1600" dirty="0">
                <a:latin typeface="Arial" pitchFamily="34" charset="0"/>
                <a:ea typeface="맑은 고딕" pitchFamily="50" charset="-127"/>
                <a:cs typeface="Arial" pitchFamily="34" charset="0"/>
              </a:rPr>
              <a:t> tam </a:t>
            </a:r>
            <a:r>
              <a:rPr lang="en-US" altLang="ko-KR" sz="1600" dirty="0" err="1">
                <a:latin typeface="Arial" pitchFamily="34" charset="0"/>
                <a:ea typeface="맑은 고딕" pitchFamily="50" charset="-127"/>
                <a:cs typeface="Arial" pitchFamily="34" charset="0"/>
              </a:rPr>
              <a:t>giác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sử</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dụng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khi</a:t>
            </a:r>
            <a:r>
              <a:rPr lang="en-US" altLang="ko-KR" sz="1600" dirty="0">
                <a:latin typeface="Arial" pitchFamily="34" charset="0"/>
                <a:ea typeface="맑은 고딕" pitchFamily="50" charset="-127"/>
                <a:cs typeface="Arial" pitchFamily="34" charset="0"/>
              </a:rPr>
              <a:t> 3 </a:t>
            </a:r>
            <a:r>
              <a:rPr lang="en-US" altLang="ko-KR" sz="1600" dirty="0" err="1">
                <a:latin typeface="Arial" pitchFamily="34" charset="0"/>
                <a:ea typeface="맑은 고딕" pitchFamily="50" charset="-127"/>
                <a:cs typeface="Arial" pitchFamily="34" charset="0"/>
              </a:rPr>
              <a:t>loại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có</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tương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quan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với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nhau</a:t>
            </a:r>
            <a:r>
              <a:rPr lang="en-US" altLang="ko-KR" sz="1600" dirty="0">
                <a:latin typeface="Arial" pitchFamily="34" charset="0"/>
                <a:ea typeface="맑은 고딕" pitchFamily="50" charset="-127"/>
                <a:cs typeface="Arial" pitchFamily="34" charset="0"/>
              </a:rPr>
              <a:t>.</a:t>
            </a:r>
          </a:p>
          <a:p>
            <a:pPr marL="342900" indent="-342900" algn="just">
              <a:lnSpc>
                <a:spcPct val="150000"/>
              </a:lnSpc>
            </a:pPr>
            <a:r>
              <a:rPr lang="en-US" altLang="ko-KR" sz="1600" b="1" dirty="0">
                <a:latin typeface="Arial" pitchFamily="34" charset="0"/>
                <a:ea typeface="맑은 고딕" pitchFamily="50" charset="-127"/>
                <a:cs typeface="Arial" pitchFamily="34" charset="0"/>
              </a:rPr>
              <a:t>6. Pictograph: </a:t>
            </a:r>
          </a:p>
          <a:p>
            <a:pPr marL="230188" indent="-230188" algn="just">
              <a:lnSpc>
                <a:spcPct val="150000"/>
              </a:lnSpc>
            </a:pPr>
            <a:r>
              <a:rPr lang="en-US" altLang="ko-KR" sz="1600" b="1" dirty="0">
                <a:latin typeface="Arial" pitchFamily="34" charset="0"/>
                <a:ea typeface="맑은 고딕" pitchFamily="50" charset="-127"/>
                <a:cs typeface="Arial" pitchFamily="34" charset="0"/>
              </a:rPr>
              <a:t>    </a:t>
            </a:r>
            <a:r>
              <a:rPr lang="en-US" altLang="ko-KR" sz="1600" dirty="0">
                <a:latin typeface="Arial" pitchFamily="34" charset="0"/>
                <a:ea typeface="맑은 고딕" pitchFamily="50" charset="-127"/>
                <a:cs typeface="Arial" pitchFamily="34" charset="0"/>
              </a:rPr>
              <a:t>Pictographs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sử</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dụng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khi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dữ</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liệu</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được</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diễn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tả</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dưới</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dạng</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hình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ảnh</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để</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tạo</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nên</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sự</a:t>
            </a:r>
            <a:r>
              <a:rPr lang="en-US" altLang="ko-KR" sz="1600" dirty="0">
                <a:latin typeface="Arial" pitchFamily="34" charset="0"/>
                <a:ea typeface="맑은 고딕" pitchFamily="50" charset="-127"/>
                <a:cs typeface="Arial" pitchFamily="34" charset="0"/>
              </a:rPr>
              <a:t> </a:t>
            </a:r>
            <a:r>
              <a:rPr lang="en-US" altLang="ko-KR" sz="1600" dirty="0" err="1">
                <a:latin typeface="Arial" pitchFamily="34" charset="0"/>
                <a:ea typeface="맑은 고딕" pitchFamily="50" charset="-127"/>
                <a:cs typeface="Arial" pitchFamily="34" charset="0"/>
              </a:rPr>
              <a:t>chú</a:t>
            </a:r>
            <a:r>
              <a:rPr lang="en-US" altLang="ko-KR" sz="1600" dirty="0">
                <a:latin typeface="Arial" pitchFamily="34" charset="0"/>
                <a:ea typeface="맑은 고딕" pitchFamily="50" charset="-127"/>
                <a:cs typeface="Arial" pitchFamily="34" charset="0"/>
              </a:rPr>
              <a:t> ý.</a:t>
            </a:r>
          </a:p>
        </p:txBody>
      </p:sp>
      <p:sp>
        <p:nvSpPr>
          <p:cNvPr id="169989" name="Rectangle 9"/>
          <p:cNvSpPr>
            <a:spLocks noChangeArrowheads="1"/>
          </p:cNvSpPr>
          <p:nvPr/>
        </p:nvSpPr>
        <p:spPr bwMode="auto">
          <a:xfrm>
            <a:off x="1119188" y="1196975"/>
            <a:ext cx="498085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80000"/>
              </a:lnSpc>
              <a:spcBef>
                <a:spcPct val="20000"/>
              </a:spcBef>
            </a:pPr>
            <a:r>
              <a:rPr lang="ko-KR" altLang="en-US"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Các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loại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biểu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đồ</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thông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và</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mục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đích</a:t>
            </a:r>
            <a:endParaRPr lang="en-US" altLang="ko-KR"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147</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en-US" altLang="ko-KR" sz="2000" b="1" dirty="0">
              <a:latin typeface="Arial" pitchFamily="34" charset="0"/>
              <a:ea typeface="맑은 고딕" pitchFamily="50" charset="-127"/>
              <a:cs typeface="Arial" pitchFamily="34" charset="0"/>
            </a:endParaRPr>
          </a:p>
        </p:txBody>
      </p:sp>
      <p:sp>
        <p:nvSpPr>
          <p:cNvPr id="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04534104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2" name="AutoShape 20"/>
          <p:cNvSpPr>
            <a:spLocks noChangeArrowheads="1"/>
          </p:cNvSpPr>
          <p:nvPr/>
        </p:nvSpPr>
        <p:spPr bwMode="auto">
          <a:xfrm>
            <a:off x="1447800" y="1700213"/>
            <a:ext cx="8258175" cy="2808287"/>
          </a:xfrm>
          <a:prstGeom prst="roundRect">
            <a:avLst>
              <a:gd name="adj" fmla="val 6829"/>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round/>
                <a:headEnd/>
                <a:tailEnd/>
              </a14:hiddenLine>
            </a:ext>
          </a:extLst>
        </p:spPr>
        <p:txBody>
          <a:bodyPr wrap="none" anchor="ctr"/>
          <a:lstStyle/>
          <a:p>
            <a:pPr marL="400050" indent="-400050">
              <a:lnSpc>
                <a:spcPct val="150000"/>
              </a:lnSpc>
              <a:buFont typeface="HY울릉도B"/>
              <a:buAutoNum type="romanUcPeriod"/>
            </a:pPr>
            <a:r>
              <a:rPr lang="en-US" altLang="ko-KR" sz="1600" b="1" dirty="0" err="1">
                <a:latin typeface="Arial" pitchFamily="34" charset="0"/>
                <a:ea typeface="맑은 고딕" pitchFamily="50" charset="-127"/>
                <a:cs typeface="Arial" pitchFamily="34" charset="0"/>
              </a:rPr>
              <a:t>Xác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định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thông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điệp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bạn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muốn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truyền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đạt</a:t>
            </a:r>
            <a:endParaRPr lang="en-US" altLang="ko-KR" sz="1600" b="1" dirty="0">
              <a:latin typeface="Arial" pitchFamily="34" charset="0"/>
              <a:ea typeface="맑은 고딕" pitchFamily="50" charset="-127"/>
              <a:cs typeface="Arial" pitchFamily="34" charset="0"/>
            </a:endParaRPr>
          </a:p>
          <a:p>
            <a:pPr marL="400050" indent="-400050">
              <a:lnSpc>
                <a:spcPct val="150000"/>
              </a:lnSpc>
              <a:buFont typeface="HY울릉도B"/>
              <a:buAutoNum type="romanUcPeriod"/>
            </a:pPr>
            <a:r>
              <a:rPr lang="en-US" altLang="ko-KR" sz="1600" b="1" dirty="0" err="1">
                <a:latin typeface="Arial" pitchFamily="34" charset="0"/>
                <a:ea typeface="맑은 고딕" pitchFamily="50" charset="-127"/>
                <a:cs typeface="Arial" pitchFamily="34" charset="0"/>
              </a:rPr>
              <a:t>Tập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trung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nội</a:t>
            </a:r>
            <a:r>
              <a:rPr lang="en-US" altLang="ko-KR" sz="1600" b="1" dirty="0">
                <a:latin typeface="Arial" pitchFamily="34" charset="0"/>
                <a:ea typeface="맑은 고딕" pitchFamily="50" charset="-127"/>
                <a:cs typeface="Arial" pitchFamily="34" charset="0"/>
              </a:rPr>
              <a:t> dung </a:t>
            </a:r>
            <a:r>
              <a:rPr lang="en-US" altLang="ko-KR" sz="1600" b="1" dirty="0" err="1">
                <a:latin typeface="Arial" pitchFamily="34" charset="0"/>
                <a:ea typeface="맑은 고딕" pitchFamily="50" charset="-127"/>
                <a:cs typeface="Arial" pitchFamily="34" charset="0"/>
              </a:rPr>
              <a:t>chính</a:t>
            </a:r>
            <a:r>
              <a:rPr lang="en-US" altLang="ko-KR" sz="1600" b="1" dirty="0">
                <a:latin typeface="Arial" pitchFamily="34" charset="0"/>
                <a:ea typeface="맑은 고딕" pitchFamily="50" charset="-127"/>
                <a:cs typeface="Arial" pitchFamily="34" charset="0"/>
              </a:rPr>
              <a:t>.</a:t>
            </a:r>
          </a:p>
          <a:p>
            <a:pPr marL="400050" indent="-400050">
              <a:lnSpc>
                <a:spcPct val="150000"/>
              </a:lnSpc>
              <a:buFont typeface="HY울릉도B"/>
              <a:buAutoNum type="romanUcPeriod"/>
            </a:pPr>
            <a:r>
              <a:rPr lang="en-US" altLang="ko-KR" sz="1600" b="1" dirty="0" err="1">
                <a:latin typeface="Arial" pitchFamily="34" charset="0"/>
                <a:ea typeface="맑은 고딕" pitchFamily="50" charset="-127"/>
                <a:cs typeface="Arial" pitchFamily="34" charset="0"/>
              </a:rPr>
              <a:t>Lựa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chọn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pháp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tối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ưu</a:t>
            </a:r>
            <a:r>
              <a:rPr lang="en-US" altLang="ko-KR" sz="1600" b="1" dirty="0">
                <a:latin typeface="Arial" pitchFamily="34" charset="0"/>
                <a:ea typeface="맑은 고딕" pitchFamily="50" charset="-127"/>
                <a:cs typeface="Arial" pitchFamily="34" charset="0"/>
              </a:rPr>
              <a:t>.</a:t>
            </a:r>
          </a:p>
          <a:p>
            <a:pPr marL="400050" indent="-400050">
              <a:lnSpc>
                <a:spcPct val="150000"/>
              </a:lnSpc>
              <a:buFont typeface="HY울릉도B"/>
              <a:buAutoNum type="romanUcPeriod"/>
            </a:pPr>
            <a:r>
              <a:rPr lang="en-US" altLang="ko-KR" sz="1600" b="1" dirty="0" err="1">
                <a:latin typeface="Arial" pitchFamily="34" charset="0"/>
                <a:ea typeface="맑은 고딕" pitchFamily="50" charset="-127"/>
                <a:cs typeface="Arial" pitchFamily="34" charset="0"/>
              </a:rPr>
              <a:t>Sử</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dụng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thiết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kế</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đơn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giản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rõ</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ràng</a:t>
            </a:r>
            <a:endParaRPr lang="en-US" altLang="ko-KR" sz="1600" b="1" dirty="0">
              <a:latin typeface="Arial" pitchFamily="34" charset="0"/>
              <a:ea typeface="맑은 고딕" pitchFamily="50" charset="-127"/>
              <a:cs typeface="Arial" pitchFamily="34" charset="0"/>
            </a:endParaRPr>
          </a:p>
          <a:p>
            <a:pPr marL="400050" indent="-400050">
              <a:lnSpc>
                <a:spcPct val="150000"/>
              </a:lnSpc>
              <a:buFont typeface="HY울릉도B"/>
              <a:buAutoNum type="romanUcPeriod"/>
            </a:pPr>
            <a:r>
              <a:rPr lang="en-US" altLang="ko-KR" sz="1600" b="1" dirty="0" err="1">
                <a:latin typeface="Arial" pitchFamily="34" charset="0"/>
                <a:ea typeface="맑은 고딕" pitchFamily="50" charset="-127"/>
                <a:cs typeface="Arial" pitchFamily="34" charset="0"/>
              </a:rPr>
              <a:t>Diễn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hành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động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cần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tiến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hành</a:t>
            </a:r>
            <a:r>
              <a:rPr lang="en-US" altLang="ko-KR" sz="1600" b="1" dirty="0">
                <a:latin typeface="Arial" pitchFamily="34" charset="0"/>
                <a:ea typeface="맑은 고딕" pitchFamily="50" charset="-127"/>
                <a:cs typeface="Arial" pitchFamily="34" charset="0"/>
              </a:rPr>
              <a:t>.</a:t>
            </a:r>
          </a:p>
        </p:txBody>
      </p:sp>
      <p:sp>
        <p:nvSpPr>
          <p:cNvPr id="171013" name="Rectangle 9"/>
          <p:cNvSpPr>
            <a:spLocks noChangeArrowheads="1"/>
          </p:cNvSpPr>
          <p:nvPr/>
        </p:nvSpPr>
        <p:spPr bwMode="auto">
          <a:xfrm>
            <a:off x="1119188" y="1196975"/>
            <a:ext cx="499463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80000"/>
              </a:lnSpc>
              <a:spcBef>
                <a:spcPct val="20000"/>
              </a:spcBef>
            </a:pPr>
            <a:r>
              <a:rPr lang="ko-KR" altLang="en-US"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Những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nguyên</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tắc</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khi</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sử</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biểu</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đồ</a:t>
            </a:r>
            <a:r>
              <a:rPr lang="en-US" altLang="ko-KR" b="1" dirty="0">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148</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1. </a:t>
            </a:r>
            <a:r>
              <a:rPr lang="en-US" altLang="ko-KR" sz="2000" b="1" dirty="0" err="1">
                <a:latin typeface="Arial" pitchFamily="34" charset="0"/>
                <a:ea typeface="맑은 고딕" pitchFamily="50" charset="-127"/>
                <a:cs typeface="Arial" pitchFamily="34" charset="0"/>
              </a:rPr>
              <a:t>Giới</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thiệu</a:t>
            </a:r>
            <a:endParaRPr lang="en-US" altLang="ko-KR" sz="2000" b="1" dirty="0">
              <a:latin typeface="Arial" pitchFamily="34" charset="0"/>
              <a:ea typeface="맑은 고딕" pitchFamily="50" charset="-127"/>
              <a:cs typeface="Arial" pitchFamily="34" charset="0"/>
            </a:endParaRPr>
          </a:p>
        </p:txBody>
      </p:sp>
      <p:sp>
        <p:nvSpPr>
          <p:cNvPr id="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02423306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Text Box 4"/>
          <p:cNvSpPr txBox="1">
            <a:spLocks noChangeArrowheads="1"/>
          </p:cNvSpPr>
          <p:nvPr/>
        </p:nvSpPr>
        <p:spPr bwMode="auto">
          <a:xfrm>
            <a:off x="95250" y="250825"/>
            <a:ext cx="2336800"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2. </a:t>
            </a:r>
            <a:r>
              <a:rPr lang="en-US" altLang="ko-KR" b="1" dirty="0" err="1">
                <a:latin typeface="Arial" pitchFamily="34" charset="0"/>
                <a:ea typeface="맑은 고딕" pitchFamily="50" charset="-127"/>
                <a:cs typeface="Arial" pitchFamily="34" charset="0"/>
              </a:rPr>
              <a:t>Ví</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a:t>
            </a:r>
            <a:endParaRPr lang="ko-KR" altLang="en-US" b="1" dirty="0">
              <a:latin typeface="Arial" pitchFamily="34" charset="0"/>
              <a:ea typeface="맑은 고딕" pitchFamily="50" charset="-127"/>
              <a:cs typeface="Arial" pitchFamily="34" charset="0"/>
            </a:endParaRPr>
          </a:p>
        </p:txBody>
      </p:sp>
      <p:sp>
        <p:nvSpPr>
          <p:cNvPr id="172035"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pic>
        <p:nvPicPr>
          <p:cNvPr id="172036" name="Picture 15"/>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3729038" y="836613"/>
            <a:ext cx="2447925" cy="547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233977" y="76470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149</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967465580"/>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60"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sp>
        <p:nvSpPr>
          <p:cNvPr id="5" name="Rectangle 13"/>
          <p:cNvSpPr>
            <a:spLocks noChangeArrowheads="1"/>
          </p:cNvSpPr>
          <p:nvPr/>
        </p:nvSpPr>
        <p:spPr bwMode="auto">
          <a:xfrm>
            <a:off x="1598613" y="1065237"/>
            <a:ext cx="120738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300" dirty="0">
                <a:latin typeface="Arial" pitchFamily="34" charset="0"/>
                <a:ea typeface="HY견고딕" pitchFamily="18" charset="-127"/>
                <a:cs typeface="Arial" pitchFamily="34" charset="0"/>
              </a:rPr>
              <a:t>(1) Bar Graph</a:t>
            </a:r>
            <a:endParaRPr lang="ko-KR" altLang="en-US" sz="1300" dirty="0">
              <a:latin typeface="Arial" pitchFamily="34" charset="0"/>
              <a:ea typeface="HY견고딕" pitchFamily="18" charset="-127"/>
              <a:cs typeface="Arial" pitchFamily="34" charset="0"/>
            </a:endParaRPr>
          </a:p>
        </p:txBody>
      </p:sp>
      <p:sp>
        <p:nvSpPr>
          <p:cNvPr id="6" name="Freeform 14"/>
          <p:cNvSpPr>
            <a:spLocks/>
          </p:cNvSpPr>
          <p:nvPr/>
        </p:nvSpPr>
        <p:spPr bwMode="auto">
          <a:xfrm>
            <a:off x="3282950" y="1615554"/>
            <a:ext cx="1301750" cy="946150"/>
          </a:xfrm>
          <a:custGeom>
            <a:avLst/>
            <a:gdLst>
              <a:gd name="T0" fmla="*/ 0 w 820"/>
              <a:gd name="T1" fmla="*/ 0 h 596"/>
              <a:gd name="T2" fmla="*/ 0 w 820"/>
              <a:gd name="T3" fmla="*/ 946150 h 596"/>
              <a:gd name="T4" fmla="*/ 1301750 w 820"/>
              <a:gd name="T5" fmla="*/ 946150 h 596"/>
              <a:gd name="T6" fmla="*/ 0 60000 65536"/>
              <a:gd name="T7" fmla="*/ 0 60000 65536"/>
              <a:gd name="T8" fmla="*/ 0 60000 65536"/>
            </a:gdLst>
            <a:ahLst/>
            <a:cxnLst>
              <a:cxn ang="T6">
                <a:pos x="T0" y="T1"/>
              </a:cxn>
              <a:cxn ang="T7">
                <a:pos x="T2" y="T3"/>
              </a:cxn>
              <a:cxn ang="T8">
                <a:pos x="T4" y="T5"/>
              </a:cxn>
            </a:cxnLst>
            <a:rect l="0" t="0" r="r" b="b"/>
            <a:pathLst>
              <a:path w="820" h="596">
                <a:moveTo>
                  <a:pt x="0" y="0"/>
                </a:moveTo>
                <a:lnTo>
                  <a:pt x="0" y="596"/>
                </a:lnTo>
                <a:lnTo>
                  <a:pt x="820" y="596"/>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cs typeface="Arial" pitchFamily="34" charset="0"/>
            </a:endParaRPr>
          </a:p>
        </p:txBody>
      </p:sp>
      <p:sp>
        <p:nvSpPr>
          <p:cNvPr id="7" name="Rectangle 15"/>
          <p:cNvSpPr>
            <a:spLocks noChangeArrowheads="1"/>
          </p:cNvSpPr>
          <p:nvPr/>
        </p:nvSpPr>
        <p:spPr bwMode="auto">
          <a:xfrm>
            <a:off x="3441700" y="2174354"/>
            <a:ext cx="234950" cy="387350"/>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cs typeface="Arial" pitchFamily="34" charset="0"/>
            </a:endParaRPr>
          </a:p>
        </p:txBody>
      </p:sp>
      <p:sp>
        <p:nvSpPr>
          <p:cNvPr id="8" name="Rectangle 16"/>
          <p:cNvSpPr>
            <a:spLocks noChangeArrowheads="1"/>
          </p:cNvSpPr>
          <p:nvPr/>
        </p:nvSpPr>
        <p:spPr bwMode="auto">
          <a:xfrm>
            <a:off x="3441700" y="1920354"/>
            <a:ext cx="234950" cy="260350"/>
          </a:xfrm>
          <a:prstGeom prst="rect">
            <a:avLst/>
          </a:prstGeom>
          <a:gradFill rotWithShape="1">
            <a:gsLst>
              <a:gs pos="0">
                <a:schemeClr val="tx1"/>
              </a:gs>
              <a:gs pos="50000">
                <a:schemeClr val="bg2"/>
              </a:gs>
              <a:gs pos="100000">
                <a:schemeClr val="tx1"/>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cs typeface="Arial" pitchFamily="34" charset="0"/>
            </a:endParaRPr>
          </a:p>
        </p:txBody>
      </p:sp>
      <p:sp>
        <p:nvSpPr>
          <p:cNvPr id="9" name="Rectangle 17"/>
          <p:cNvSpPr>
            <a:spLocks noChangeArrowheads="1"/>
          </p:cNvSpPr>
          <p:nvPr/>
        </p:nvSpPr>
        <p:spPr bwMode="auto">
          <a:xfrm>
            <a:off x="3886200" y="2250554"/>
            <a:ext cx="234950" cy="311150"/>
          </a:xfrm>
          <a:prstGeom prst="rect">
            <a:avLst/>
          </a:prstGeom>
          <a:gradFill rotWithShape="1">
            <a:gsLst>
              <a:gs pos="0">
                <a:schemeClr val="bg2"/>
              </a:gs>
              <a:gs pos="50000">
                <a:schemeClr val="bg1"/>
              </a:gs>
              <a:gs pos="100000">
                <a:schemeClr val="bg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cs typeface="Arial" pitchFamily="34" charset="0"/>
            </a:endParaRPr>
          </a:p>
        </p:txBody>
      </p:sp>
      <p:sp>
        <p:nvSpPr>
          <p:cNvPr id="10" name="Rectangle 18"/>
          <p:cNvSpPr>
            <a:spLocks noChangeArrowheads="1"/>
          </p:cNvSpPr>
          <p:nvPr/>
        </p:nvSpPr>
        <p:spPr bwMode="auto">
          <a:xfrm>
            <a:off x="3886200" y="1996554"/>
            <a:ext cx="234950" cy="260350"/>
          </a:xfrm>
          <a:prstGeom prst="rect">
            <a:avLst/>
          </a:prstGeom>
          <a:gradFill rotWithShape="1">
            <a:gsLst>
              <a:gs pos="0">
                <a:schemeClr val="tx1"/>
              </a:gs>
              <a:gs pos="50000">
                <a:schemeClr val="bg2"/>
              </a:gs>
              <a:gs pos="100000">
                <a:schemeClr val="tx1"/>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a:latin typeface="Arial" pitchFamily="34" charset="0"/>
              <a:cs typeface="Arial" pitchFamily="34" charset="0"/>
            </a:endParaRPr>
          </a:p>
        </p:txBody>
      </p:sp>
      <p:sp>
        <p:nvSpPr>
          <p:cNvPr id="11" name="Rectangle 19"/>
          <p:cNvSpPr>
            <a:spLocks noChangeArrowheads="1"/>
          </p:cNvSpPr>
          <p:nvPr/>
        </p:nvSpPr>
        <p:spPr bwMode="auto">
          <a:xfrm>
            <a:off x="5349875" y="1065237"/>
            <a:ext cx="129875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300" dirty="0">
                <a:latin typeface="Arial" pitchFamily="34" charset="0"/>
                <a:ea typeface="HY견고딕" pitchFamily="18" charset="-127"/>
                <a:cs typeface="Arial" pitchFamily="34" charset="0"/>
              </a:rPr>
              <a:t>(4) Scatter Plot</a:t>
            </a:r>
            <a:endParaRPr lang="ko-KR" altLang="en-US" sz="1300" dirty="0">
              <a:latin typeface="Arial" pitchFamily="34" charset="0"/>
              <a:ea typeface="HY견고딕" pitchFamily="18" charset="-127"/>
              <a:cs typeface="Arial" pitchFamily="34" charset="0"/>
            </a:endParaRPr>
          </a:p>
        </p:txBody>
      </p:sp>
      <p:sp>
        <p:nvSpPr>
          <p:cNvPr id="12" name="Freeform 20"/>
          <p:cNvSpPr>
            <a:spLocks/>
          </p:cNvSpPr>
          <p:nvPr/>
        </p:nvSpPr>
        <p:spPr bwMode="auto">
          <a:xfrm>
            <a:off x="6684963" y="1615554"/>
            <a:ext cx="1301750" cy="946150"/>
          </a:xfrm>
          <a:custGeom>
            <a:avLst/>
            <a:gdLst>
              <a:gd name="T0" fmla="*/ 0 w 820"/>
              <a:gd name="T1" fmla="*/ 0 h 596"/>
              <a:gd name="T2" fmla="*/ 0 w 820"/>
              <a:gd name="T3" fmla="*/ 946150 h 596"/>
              <a:gd name="T4" fmla="*/ 1301750 w 820"/>
              <a:gd name="T5" fmla="*/ 946150 h 596"/>
              <a:gd name="T6" fmla="*/ 0 60000 65536"/>
              <a:gd name="T7" fmla="*/ 0 60000 65536"/>
              <a:gd name="T8" fmla="*/ 0 60000 65536"/>
            </a:gdLst>
            <a:ahLst/>
            <a:cxnLst>
              <a:cxn ang="T6">
                <a:pos x="T0" y="T1"/>
              </a:cxn>
              <a:cxn ang="T7">
                <a:pos x="T2" y="T3"/>
              </a:cxn>
              <a:cxn ang="T8">
                <a:pos x="T4" y="T5"/>
              </a:cxn>
            </a:cxnLst>
            <a:rect l="0" t="0" r="r" b="b"/>
            <a:pathLst>
              <a:path w="820" h="596">
                <a:moveTo>
                  <a:pt x="0" y="0"/>
                </a:moveTo>
                <a:lnTo>
                  <a:pt x="0" y="596"/>
                </a:lnTo>
                <a:lnTo>
                  <a:pt x="820" y="596"/>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cs typeface="Arial" pitchFamily="34" charset="0"/>
            </a:endParaRPr>
          </a:p>
        </p:txBody>
      </p:sp>
      <p:sp>
        <p:nvSpPr>
          <p:cNvPr id="13" name="Oval 21"/>
          <p:cNvSpPr>
            <a:spLocks noChangeArrowheads="1"/>
          </p:cNvSpPr>
          <p:nvPr/>
        </p:nvSpPr>
        <p:spPr bwMode="auto">
          <a:xfrm>
            <a:off x="6781800" y="2380729"/>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14" name="Oval 22"/>
          <p:cNvSpPr>
            <a:spLocks noChangeArrowheads="1"/>
          </p:cNvSpPr>
          <p:nvPr/>
        </p:nvSpPr>
        <p:spPr bwMode="auto">
          <a:xfrm>
            <a:off x="6843713" y="2236266"/>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15" name="Oval 23"/>
          <p:cNvSpPr>
            <a:spLocks noChangeArrowheads="1"/>
          </p:cNvSpPr>
          <p:nvPr/>
        </p:nvSpPr>
        <p:spPr bwMode="auto">
          <a:xfrm>
            <a:off x="6894513" y="2317229"/>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16" name="Oval 24"/>
          <p:cNvSpPr>
            <a:spLocks noChangeArrowheads="1"/>
          </p:cNvSpPr>
          <p:nvPr/>
        </p:nvSpPr>
        <p:spPr bwMode="auto">
          <a:xfrm>
            <a:off x="6946900" y="2398191"/>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17" name="Oval 25"/>
          <p:cNvSpPr>
            <a:spLocks noChangeArrowheads="1"/>
          </p:cNvSpPr>
          <p:nvPr/>
        </p:nvSpPr>
        <p:spPr bwMode="auto">
          <a:xfrm>
            <a:off x="6981825" y="2166416"/>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18" name="Oval 26"/>
          <p:cNvSpPr>
            <a:spLocks noChangeArrowheads="1"/>
          </p:cNvSpPr>
          <p:nvPr/>
        </p:nvSpPr>
        <p:spPr bwMode="auto">
          <a:xfrm>
            <a:off x="7032625" y="2247379"/>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19" name="Oval 27"/>
          <p:cNvSpPr>
            <a:spLocks noChangeArrowheads="1"/>
          </p:cNvSpPr>
          <p:nvPr/>
        </p:nvSpPr>
        <p:spPr bwMode="auto">
          <a:xfrm>
            <a:off x="7085013" y="2328341"/>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0" name="Oval 28"/>
          <p:cNvSpPr>
            <a:spLocks noChangeArrowheads="1"/>
          </p:cNvSpPr>
          <p:nvPr/>
        </p:nvSpPr>
        <p:spPr bwMode="auto">
          <a:xfrm>
            <a:off x="7105650" y="2098154"/>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1" name="Oval 29"/>
          <p:cNvSpPr>
            <a:spLocks noChangeArrowheads="1"/>
          </p:cNvSpPr>
          <p:nvPr/>
        </p:nvSpPr>
        <p:spPr bwMode="auto">
          <a:xfrm>
            <a:off x="7156450" y="2179116"/>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2" name="Oval 30"/>
          <p:cNvSpPr>
            <a:spLocks noChangeArrowheads="1"/>
          </p:cNvSpPr>
          <p:nvPr/>
        </p:nvSpPr>
        <p:spPr bwMode="auto">
          <a:xfrm>
            <a:off x="7208838" y="2260079"/>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3" name="Oval 31"/>
          <p:cNvSpPr>
            <a:spLocks noChangeArrowheads="1"/>
          </p:cNvSpPr>
          <p:nvPr/>
        </p:nvSpPr>
        <p:spPr bwMode="auto">
          <a:xfrm>
            <a:off x="7242175" y="2045766"/>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4" name="Oval 32"/>
          <p:cNvSpPr>
            <a:spLocks noChangeArrowheads="1"/>
          </p:cNvSpPr>
          <p:nvPr/>
        </p:nvSpPr>
        <p:spPr bwMode="auto">
          <a:xfrm>
            <a:off x="7292975" y="2126729"/>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5" name="Oval 33"/>
          <p:cNvSpPr>
            <a:spLocks noChangeArrowheads="1"/>
          </p:cNvSpPr>
          <p:nvPr/>
        </p:nvSpPr>
        <p:spPr bwMode="auto">
          <a:xfrm>
            <a:off x="7345363" y="2207691"/>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6" name="Oval 34"/>
          <p:cNvSpPr>
            <a:spLocks noChangeArrowheads="1"/>
          </p:cNvSpPr>
          <p:nvPr/>
        </p:nvSpPr>
        <p:spPr bwMode="auto">
          <a:xfrm>
            <a:off x="7356475" y="1980679"/>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7" name="Oval 35"/>
          <p:cNvSpPr>
            <a:spLocks noChangeArrowheads="1"/>
          </p:cNvSpPr>
          <p:nvPr/>
        </p:nvSpPr>
        <p:spPr bwMode="auto">
          <a:xfrm>
            <a:off x="7407275" y="2061641"/>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8" name="Oval 36"/>
          <p:cNvSpPr>
            <a:spLocks noChangeArrowheads="1"/>
          </p:cNvSpPr>
          <p:nvPr/>
        </p:nvSpPr>
        <p:spPr bwMode="auto">
          <a:xfrm>
            <a:off x="7459663" y="2142604"/>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29" name="Oval 37"/>
          <p:cNvSpPr>
            <a:spLocks noChangeArrowheads="1"/>
          </p:cNvSpPr>
          <p:nvPr/>
        </p:nvSpPr>
        <p:spPr bwMode="auto">
          <a:xfrm>
            <a:off x="7461250" y="1947341"/>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30" name="Oval 38"/>
          <p:cNvSpPr>
            <a:spLocks noChangeArrowheads="1"/>
          </p:cNvSpPr>
          <p:nvPr/>
        </p:nvSpPr>
        <p:spPr bwMode="auto">
          <a:xfrm>
            <a:off x="7512050" y="2028304"/>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31" name="Oval 39"/>
          <p:cNvSpPr>
            <a:spLocks noChangeArrowheads="1"/>
          </p:cNvSpPr>
          <p:nvPr/>
        </p:nvSpPr>
        <p:spPr bwMode="auto">
          <a:xfrm>
            <a:off x="7564438" y="2109266"/>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32" name="Rectangle 40"/>
          <p:cNvSpPr>
            <a:spLocks noChangeArrowheads="1"/>
          </p:cNvSpPr>
          <p:nvPr/>
        </p:nvSpPr>
        <p:spPr bwMode="auto">
          <a:xfrm>
            <a:off x="1598613" y="2868637"/>
            <a:ext cx="1263487"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300" dirty="0">
                <a:latin typeface="Arial" pitchFamily="34" charset="0"/>
                <a:ea typeface="HY견고딕" pitchFamily="18" charset="-127"/>
                <a:cs typeface="Arial" pitchFamily="34" charset="0"/>
              </a:rPr>
              <a:t>(2) Line Graph</a:t>
            </a:r>
            <a:endParaRPr lang="ko-KR" altLang="en-US" sz="1300" dirty="0">
              <a:latin typeface="Arial" pitchFamily="34" charset="0"/>
              <a:ea typeface="HY견고딕" pitchFamily="18" charset="-127"/>
              <a:cs typeface="Arial" pitchFamily="34" charset="0"/>
            </a:endParaRPr>
          </a:p>
        </p:txBody>
      </p:sp>
      <p:sp>
        <p:nvSpPr>
          <p:cNvPr id="33" name="Freeform 41"/>
          <p:cNvSpPr>
            <a:spLocks/>
          </p:cNvSpPr>
          <p:nvPr/>
        </p:nvSpPr>
        <p:spPr bwMode="auto">
          <a:xfrm>
            <a:off x="3282950" y="3372916"/>
            <a:ext cx="1301750" cy="946150"/>
          </a:xfrm>
          <a:custGeom>
            <a:avLst/>
            <a:gdLst>
              <a:gd name="T0" fmla="*/ 0 w 820"/>
              <a:gd name="T1" fmla="*/ 0 h 596"/>
              <a:gd name="T2" fmla="*/ 0 w 820"/>
              <a:gd name="T3" fmla="*/ 946150 h 596"/>
              <a:gd name="T4" fmla="*/ 1301750 w 820"/>
              <a:gd name="T5" fmla="*/ 946150 h 596"/>
              <a:gd name="T6" fmla="*/ 0 60000 65536"/>
              <a:gd name="T7" fmla="*/ 0 60000 65536"/>
              <a:gd name="T8" fmla="*/ 0 60000 65536"/>
            </a:gdLst>
            <a:ahLst/>
            <a:cxnLst>
              <a:cxn ang="T6">
                <a:pos x="T0" y="T1"/>
              </a:cxn>
              <a:cxn ang="T7">
                <a:pos x="T2" y="T3"/>
              </a:cxn>
              <a:cxn ang="T8">
                <a:pos x="T4" y="T5"/>
              </a:cxn>
            </a:cxnLst>
            <a:rect l="0" t="0" r="r" b="b"/>
            <a:pathLst>
              <a:path w="820" h="596">
                <a:moveTo>
                  <a:pt x="0" y="0"/>
                </a:moveTo>
                <a:lnTo>
                  <a:pt x="0" y="596"/>
                </a:lnTo>
                <a:lnTo>
                  <a:pt x="820" y="596"/>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cs typeface="Arial" pitchFamily="34" charset="0"/>
            </a:endParaRPr>
          </a:p>
        </p:txBody>
      </p:sp>
      <p:sp>
        <p:nvSpPr>
          <p:cNvPr id="34" name="Freeform 42"/>
          <p:cNvSpPr>
            <a:spLocks/>
          </p:cNvSpPr>
          <p:nvPr/>
        </p:nvSpPr>
        <p:spPr bwMode="auto">
          <a:xfrm>
            <a:off x="3429000" y="3811066"/>
            <a:ext cx="1130300" cy="228600"/>
          </a:xfrm>
          <a:custGeom>
            <a:avLst/>
            <a:gdLst>
              <a:gd name="T0" fmla="*/ 0 w 712"/>
              <a:gd name="T1" fmla="*/ 222250 h 144"/>
              <a:gd name="T2" fmla="*/ 171450 w 712"/>
              <a:gd name="T3" fmla="*/ 76200 h 144"/>
              <a:gd name="T4" fmla="*/ 444500 w 712"/>
              <a:gd name="T5" fmla="*/ 228600 h 144"/>
              <a:gd name="T6" fmla="*/ 533400 w 712"/>
              <a:gd name="T7" fmla="*/ 38100 h 144"/>
              <a:gd name="T8" fmla="*/ 787400 w 712"/>
              <a:gd name="T9" fmla="*/ 38100 h 144"/>
              <a:gd name="T10" fmla="*/ 977900 w 712"/>
              <a:gd name="T11" fmla="*/ 222250 h 144"/>
              <a:gd name="T12" fmla="*/ 1130300 w 712"/>
              <a:gd name="T13" fmla="*/ 0 h 1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2" h="144">
                <a:moveTo>
                  <a:pt x="0" y="140"/>
                </a:moveTo>
                <a:lnTo>
                  <a:pt x="108" y="48"/>
                </a:lnTo>
                <a:lnTo>
                  <a:pt x="280" y="144"/>
                </a:lnTo>
                <a:lnTo>
                  <a:pt x="336" y="24"/>
                </a:lnTo>
                <a:lnTo>
                  <a:pt x="496" y="24"/>
                </a:lnTo>
                <a:lnTo>
                  <a:pt x="616" y="140"/>
                </a:lnTo>
                <a:lnTo>
                  <a:pt x="712"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cs typeface="Arial" pitchFamily="34" charset="0"/>
            </a:endParaRPr>
          </a:p>
        </p:txBody>
      </p:sp>
      <p:sp>
        <p:nvSpPr>
          <p:cNvPr id="35" name="Rectangle 43"/>
          <p:cNvSpPr>
            <a:spLocks noChangeArrowheads="1"/>
          </p:cNvSpPr>
          <p:nvPr/>
        </p:nvSpPr>
        <p:spPr bwMode="auto">
          <a:xfrm>
            <a:off x="5349875" y="2868637"/>
            <a:ext cx="1542858"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300" dirty="0">
                <a:latin typeface="Arial" pitchFamily="34" charset="0"/>
                <a:ea typeface="HY견고딕" pitchFamily="18" charset="-127"/>
                <a:cs typeface="Arial" pitchFamily="34" charset="0"/>
              </a:rPr>
              <a:t>(5) Triangle Graph</a:t>
            </a:r>
            <a:endParaRPr lang="ko-KR" altLang="en-US" sz="1300" dirty="0">
              <a:latin typeface="Arial" pitchFamily="34" charset="0"/>
              <a:ea typeface="HY견고딕" pitchFamily="18" charset="-127"/>
              <a:cs typeface="Arial" pitchFamily="34" charset="0"/>
            </a:endParaRPr>
          </a:p>
        </p:txBody>
      </p:sp>
      <p:sp>
        <p:nvSpPr>
          <p:cNvPr id="36" name="AutoShape 44"/>
          <p:cNvSpPr>
            <a:spLocks noChangeArrowheads="1"/>
          </p:cNvSpPr>
          <p:nvPr/>
        </p:nvSpPr>
        <p:spPr bwMode="auto">
          <a:xfrm>
            <a:off x="6675438" y="3320529"/>
            <a:ext cx="1271587" cy="1044575"/>
          </a:xfrm>
          <a:prstGeom prst="triangle">
            <a:avLst>
              <a:gd name="adj" fmla="val 50000"/>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37" name="Freeform 45"/>
          <p:cNvSpPr>
            <a:spLocks/>
          </p:cNvSpPr>
          <p:nvPr/>
        </p:nvSpPr>
        <p:spPr bwMode="auto">
          <a:xfrm>
            <a:off x="6997700" y="3841229"/>
            <a:ext cx="630238" cy="165100"/>
          </a:xfrm>
          <a:custGeom>
            <a:avLst/>
            <a:gdLst>
              <a:gd name="T0" fmla="*/ 0 w 397"/>
              <a:gd name="T1" fmla="*/ 0 h 104"/>
              <a:gd name="T2" fmla="*/ 292100 w 397"/>
              <a:gd name="T3" fmla="*/ 165100 h 104"/>
              <a:gd name="T4" fmla="*/ 630238 w 397"/>
              <a:gd name="T5" fmla="*/ 3175 h 104"/>
              <a:gd name="T6" fmla="*/ 0 60000 65536"/>
              <a:gd name="T7" fmla="*/ 0 60000 65536"/>
              <a:gd name="T8" fmla="*/ 0 60000 65536"/>
            </a:gdLst>
            <a:ahLst/>
            <a:cxnLst>
              <a:cxn ang="T6">
                <a:pos x="T0" y="T1"/>
              </a:cxn>
              <a:cxn ang="T7">
                <a:pos x="T2" y="T3"/>
              </a:cxn>
              <a:cxn ang="T8">
                <a:pos x="T4" y="T5"/>
              </a:cxn>
            </a:cxnLst>
            <a:rect l="0" t="0" r="r" b="b"/>
            <a:pathLst>
              <a:path w="397" h="104">
                <a:moveTo>
                  <a:pt x="0" y="0"/>
                </a:moveTo>
                <a:lnTo>
                  <a:pt x="184" y="104"/>
                </a:lnTo>
                <a:lnTo>
                  <a:pt x="397" y="2"/>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cs typeface="Arial" pitchFamily="34" charset="0"/>
            </a:endParaRPr>
          </a:p>
        </p:txBody>
      </p:sp>
      <p:sp>
        <p:nvSpPr>
          <p:cNvPr id="38" name="Oval 46"/>
          <p:cNvSpPr>
            <a:spLocks noChangeArrowheads="1"/>
          </p:cNvSpPr>
          <p:nvPr/>
        </p:nvSpPr>
        <p:spPr bwMode="auto">
          <a:xfrm>
            <a:off x="7269163" y="3984104"/>
            <a:ext cx="50800" cy="508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39" name="Line 47"/>
          <p:cNvSpPr>
            <a:spLocks noChangeShapeType="1"/>
          </p:cNvSpPr>
          <p:nvPr/>
        </p:nvSpPr>
        <p:spPr bwMode="auto">
          <a:xfrm>
            <a:off x="7294563" y="4030141"/>
            <a:ext cx="0" cy="3349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cs typeface="Arial" pitchFamily="34" charset="0"/>
            </a:endParaRPr>
          </a:p>
        </p:txBody>
      </p:sp>
      <p:sp>
        <p:nvSpPr>
          <p:cNvPr id="40" name="Rectangle 48"/>
          <p:cNvSpPr>
            <a:spLocks noChangeArrowheads="1"/>
          </p:cNvSpPr>
          <p:nvPr/>
        </p:nvSpPr>
        <p:spPr bwMode="auto">
          <a:xfrm>
            <a:off x="7185025" y="3609454"/>
            <a:ext cx="254000"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100">
                <a:latin typeface="Arial" pitchFamily="34" charset="0"/>
                <a:cs typeface="Arial" pitchFamily="34" charset="0"/>
              </a:rPr>
              <a:t>x</a:t>
            </a:r>
          </a:p>
        </p:txBody>
      </p:sp>
      <p:sp>
        <p:nvSpPr>
          <p:cNvPr id="41" name="Rectangle 49"/>
          <p:cNvSpPr>
            <a:spLocks noChangeArrowheads="1"/>
          </p:cNvSpPr>
          <p:nvPr/>
        </p:nvSpPr>
        <p:spPr bwMode="auto">
          <a:xfrm>
            <a:off x="6899275" y="4066654"/>
            <a:ext cx="254000"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100">
                <a:latin typeface="Arial" pitchFamily="34" charset="0"/>
                <a:cs typeface="Arial" pitchFamily="34" charset="0"/>
              </a:rPr>
              <a:t>y</a:t>
            </a:r>
          </a:p>
        </p:txBody>
      </p:sp>
      <p:sp>
        <p:nvSpPr>
          <p:cNvPr id="42" name="Rectangle 50"/>
          <p:cNvSpPr>
            <a:spLocks noChangeArrowheads="1"/>
          </p:cNvSpPr>
          <p:nvPr/>
        </p:nvSpPr>
        <p:spPr bwMode="auto">
          <a:xfrm>
            <a:off x="7442200" y="4066654"/>
            <a:ext cx="254000"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100">
                <a:latin typeface="Arial" pitchFamily="34" charset="0"/>
                <a:cs typeface="Arial" pitchFamily="34" charset="0"/>
              </a:rPr>
              <a:t>x</a:t>
            </a:r>
          </a:p>
        </p:txBody>
      </p:sp>
      <p:graphicFrame>
        <p:nvGraphicFramePr>
          <p:cNvPr id="43" name="Object 51"/>
          <p:cNvGraphicFramePr>
            <a:graphicFrameLocks noChangeAspect="1"/>
          </p:cNvGraphicFramePr>
          <p:nvPr>
            <p:extLst>
              <p:ext uri="{D42A27DB-BD31-4B8C-83A1-F6EECF244321}">
                <p14:modId xmlns:p14="http://schemas.microsoft.com/office/powerpoint/2010/main" val="2998045353"/>
              </p:ext>
            </p:extLst>
          </p:nvPr>
        </p:nvGraphicFramePr>
        <p:xfrm>
          <a:off x="6559550" y="5207025"/>
          <a:ext cx="1749425" cy="1016000"/>
        </p:xfrm>
        <a:graphic>
          <a:graphicData uri="http://schemas.openxmlformats.org/presentationml/2006/ole">
            <mc:AlternateContent xmlns:mc="http://schemas.openxmlformats.org/markup-compatibility/2006">
              <mc:Choice xmlns:v="urn:schemas-microsoft-com:vml" Requires="v">
                <p:oleObj name="Image" r:id="rId2" imgW="950736" imgH="552932" progId="">
                  <p:embed/>
                </p:oleObj>
              </mc:Choice>
              <mc:Fallback>
                <p:oleObj name="Image" r:id="rId2" imgW="950736" imgH="552932" progId="">
                  <p:embed/>
                  <p:pic>
                    <p:nvPicPr>
                      <p:cNvPr id="43" name="Object 5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59550" y="5207025"/>
                        <a:ext cx="1749425" cy="10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 name="Rectangle 52"/>
          <p:cNvSpPr>
            <a:spLocks noChangeArrowheads="1"/>
          </p:cNvSpPr>
          <p:nvPr/>
        </p:nvSpPr>
        <p:spPr bwMode="auto">
          <a:xfrm>
            <a:off x="1598613" y="4672037"/>
            <a:ext cx="1291187"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300" dirty="0">
                <a:latin typeface="Arial" pitchFamily="34" charset="0"/>
                <a:ea typeface="HY견고딕" pitchFamily="18" charset="-127"/>
                <a:cs typeface="Arial" pitchFamily="34" charset="0"/>
              </a:rPr>
              <a:t>(3) Area Graph</a:t>
            </a:r>
            <a:endParaRPr lang="ko-KR" altLang="en-US" sz="1300" dirty="0">
              <a:latin typeface="Arial" pitchFamily="34" charset="0"/>
              <a:ea typeface="HY견고딕" pitchFamily="18" charset="-127"/>
              <a:cs typeface="Arial" pitchFamily="34" charset="0"/>
            </a:endParaRPr>
          </a:p>
        </p:txBody>
      </p:sp>
      <p:sp>
        <p:nvSpPr>
          <p:cNvPr id="45" name="Oval 53"/>
          <p:cNvSpPr>
            <a:spLocks noChangeArrowheads="1"/>
          </p:cNvSpPr>
          <p:nvPr/>
        </p:nvSpPr>
        <p:spPr bwMode="auto">
          <a:xfrm>
            <a:off x="3263900" y="5136728"/>
            <a:ext cx="1244600" cy="1244600"/>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46" name="Freeform 54"/>
          <p:cNvSpPr>
            <a:spLocks/>
          </p:cNvSpPr>
          <p:nvPr/>
        </p:nvSpPr>
        <p:spPr bwMode="auto">
          <a:xfrm>
            <a:off x="3429000" y="5139903"/>
            <a:ext cx="463550" cy="1038225"/>
          </a:xfrm>
          <a:custGeom>
            <a:avLst/>
            <a:gdLst>
              <a:gd name="T0" fmla="*/ 0 w 280"/>
              <a:gd name="T1" fmla="*/ 1038225 h 656"/>
              <a:gd name="T2" fmla="*/ 463550 w 280"/>
              <a:gd name="T3" fmla="*/ 626733 h 656"/>
              <a:gd name="T4" fmla="*/ 463550 w 280"/>
              <a:gd name="T5" fmla="*/ 0 h 656"/>
              <a:gd name="T6" fmla="*/ 0 60000 65536"/>
              <a:gd name="T7" fmla="*/ 0 60000 65536"/>
              <a:gd name="T8" fmla="*/ 0 60000 65536"/>
            </a:gdLst>
            <a:ahLst/>
            <a:cxnLst>
              <a:cxn ang="T6">
                <a:pos x="T0" y="T1"/>
              </a:cxn>
              <a:cxn ang="T7">
                <a:pos x="T2" y="T3"/>
              </a:cxn>
              <a:cxn ang="T8">
                <a:pos x="T4" y="T5"/>
              </a:cxn>
            </a:cxnLst>
            <a:rect l="0" t="0" r="r" b="b"/>
            <a:pathLst>
              <a:path w="280" h="656">
                <a:moveTo>
                  <a:pt x="0" y="656"/>
                </a:moveTo>
                <a:lnTo>
                  <a:pt x="280" y="396"/>
                </a:lnTo>
                <a:lnTo>
                  <a:pt x="280"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cs typeface="Arial" pitchFamily="34" charset="0"/>
            </a:endParaRPr>
          </a:p>
        </p:txBody>
      </p:sp>
      <p:sp>
        <p:nvSpPr>
          <p:cNvPr id="47" name="Line 55"/>
          <p:cNvSpPr>
            <a:spLocks noChangeShapeType="1"/>
          </p:cNvSpPr>
          <p:nvPr/>
        </p:nvSpPr>
        <p:spPr bwMode="auto">
          <a:xfrm>
            <a:off x="3894138" y="5755853"/>
            <a:ext cx="382587" cy="482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Arial" pitchFamily="34" charset="0"/>
              <a:cs typeface="Arial" pitchFamily="34" charset="0"/>
            </a:endParaRPr>
          </a:p>
        </p:txBody>
      </p:sp>
      <p:sp>
        <p:nvSpPr>
          <p:cNvPr id="48" name="Oval 56"/>
          <p:cNvSpPr>
            <a:spLocks noChangeArrowheads="1"/>
          </p:cNvSpPr>
          <p:nvPr/>
        </p:nvSpPr>
        <p:spPr bwMode="auto">
          <a:xfrm>
            <a:off x="3841750" y="5714578"/>
            <a:ext cx="88900" cy="889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endParaRPr lang="ko-KR" altLang="en-US">
              <a:latin typeface="Arial" pitchFamily="34" charset="0"/>
              <a:cs typeface="Arial" pitchFamily="34" charset="0"/>
            </a:endParaRPr>
          </a:p>
        </p:txBody>
      </p:sp>
      <p:sp>
        <p:nvSpPr>
          <p:cNvPr id="49" name="Rectangle 57"/>
          <p:cNvSpPr>
            <a:spLocks noChangeArrowheads="1"/>
          </p:cNvSpPr>
          <p:nvPr/>
        </p:nvSpPr>
        <p:spPr bwMode="auto">
          <a:xfrm>
            <a:off x="5349875" y="4672037"/>
            <a:ext cx="123463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300" dirty="0">
                <a:latin typeface="Arial" pitchFamily="34" charset="0"/>
                <a:ea typeface="HY견고딕" pitchFamily="18" charset="-127"/>
                <a:cs typeface="Arial" pitchFamily="34" charset="0"/>
              </a:rPr>
              <a:t>(6) Pictograph</a:t>
            </a:r>
            <a:endParaRPr lang="ko-KR" altLang="en-US" sz="1300" dirty="0">
              <a:latin typeface="Arial" pitchFamily="34" charset="0"/>
              <a:ea typeface="HY견고딕" pitchFamily="18" charset="-127"/>
              <a:cs typeface="Arial" pitchFamily="34" charset="0"/>
            </a:endParaRPr>
          </a:p>
        </p:txBody>
      </p:sp>
      <p:sp>
        <p:nvSpPr>
          <p:cNvPr id="50" name="Rectangle 58"/>
          <p:cNvSpPr>
            <a:spLocks noChangeArrowheads="1"/>
          </p:cNvSpPr>
          <p:nvPr/>
        </p:nvSpPr>
        <p:spPr bwMode="auto">
          <a:xfrm>
            <a:off x="3455988" y="5474866"/>
            <a:ext cx="28725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100">
                <a:latin typeface="Arial" pitchFamily="34" charset="0"/>
                <a:cs typeface="Arial" pitchFamily="34" charset="0"/>
              </a:rPr>
              <a:t>C</a:t>
            </a:r>
          </a:p>
        </p:txBody>
      </p:sp>
      <p:sp>
        <p:nvSpPr>
          <p:cNvPr id="51" name="Rectangle 59"/>
          <p:cNvSpPr>
            <a:spLocks noChangeArrowheads="1"/>
          </p:cNvSpPr>
          <p:nvPr/>
        </p:nvSpPr>
        <p:spPr bwMode="auto">
          <a:xfrm>
            <a:off x="4056063" y="5474866"/>
            <a:ext cx="27924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100">
                <a:latin typeface="Arial" pitchFamily="34" charset="0"/>
                <a:cs typeface="Arial" pitchFamily="34" charset="0"/>
              </a:rPr>
              <a:t>A</a:t>
            </a:r>
          </a:p>
        </p:txBody>
      </p:sp>
      <p:sp>
        <p:nvSpPr>
          <p:cNvPr id="52" name="Rectangle 60"/>
          <p:cNvSpPr>
            <a:spLocks noChangeArrowheads="1"/>
          </p:cNvSpPr>
          <p:nvPr/>
        </p:nvSpPr>
        <p:spPr bwMode="auto">
          <a:xfrm>
            <a:off x="3732213" y="5998741"/>
            <a:ext cx="27924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eaLnBrk="1" hangingPunct="1"/>
            <a:r>
              <a:rPr lang="en-US" altLang="ko-KR" sz="1100">
                <a:latin typeface="Arial" pitchFamily="34" charset="0"/>
                <a:cs typeface="Arial" pitchFamily="34" charset="0"/>
              </a:rPr>
              <a:t>B</a:t>
            </a:r>
          </a:p>
        </p:txBody>
      </p:sp>
      <p:sp>
        <p:nvSpPr>
          <p:cNvPr id="53" name="Rectangle 61"/>
          <p:cNvSpPr>
            <a:spLocks noChangeArrowheads="1"/>
          </p:cNvSpPr>
          <p:nvPr/>
        </p:nvSpPr>
        <p:spPr bwMode="auto">
          <a:xfrm>
            <a:off x="5820571" y="5192737"/>
            <a:ext cx="705642" cy="1052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굴림체" pitchFamily="49" charset="-127"/>
                <a:ea typeface="굴림체" pitchFamily="49" charset="-127"/>
              </a:defRPr>
            </a:lvl1pPr>
            <a:lvl2pPr marL="742950" indent="-285750" eaLnBrk="0" hangingPunct="0">
              <a:defRPr kumimoji="1" sz="2400">
                <a:solidFill>
                  <a:schemeClr val="tx1"/>
                </a:solidFill>
                <a:latin typeface="굴림체" pitchFamily="49" charset="-127"/>
                <a:ea typeface="굴림체" pitchFamily="49" charset="-127"/>
              </a:defRPr>
            </a:lvl2pPr>
            <a:lvl3pPr marL="1143000" indent="-228600" eaLnBrk="0" hangingPunct="0">
              <a:defRPr kumimoji="1" sz="2400">
                <a:solidFill>
                  <a:schemeClr val="tx1"/>
                </a:solidFill>
                <a:latin typeface="굴림체" pitchFamily="49" charset="-127"/>
                <a:ea typeface="굴림체" pitchFamily="49" charset="-127"/>
              </a:defRPr>
            </a:lvl3pPr>
            <a:lvl4pPr marL="1600200" indent="-228600" eaLnBrk="0" hangingPunct="0">
              <a:defRPr kumimoji="1" sz="2400">
                <a:solidFill>
                  <a:schemeClr val="tx1"/>
                </a:solidFill>
                <a:latin typeface="굴림체" pitchFamily="49" charset="-127"/>
                <a:ea typeface="굴림체" pitchFamily="49" charset="-127"/>
              </a:defRPr>
            </a:lvl4pPr>
            <a:lvl5pPr marL="2057400" indent="-228600" eaLnBrk="0" hangingPunct="0">
              <a:defRPr kumimoji="1" sz="2400">
                <a:solidFill>
                  <a:schemeClr val="tx1"/>
                </a:solidFill>
                <a:latin typeface="굴림체" pitchFamily="49" charset="-127"/>
                <a:ea typeface="굴림체" pitchFamily="49" charset="-127"/>
              </a:defRPr>
            </a:lvl5pPr>
            <a:lvl6pPr marL="25146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6pPr>
            <a:lvl7pPr marL="29718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7pPr>
            <a:lvl8pPr marL="34290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8pPr>
            <a:lvl9pPr marL="3886200" indent="-228600" eaLnBrk="0" fontAlgn="base" hangingPunct="0">
              <a:spcBef>
                <a:spcPct val="0"/>
              </a:spcBef>
              <a:spcAft>
                <a:spcPct val="0"/>
              </a:spcAft>
              <a:defRPr kumimoji="1" sz="2400">
                <a:solidFill>
                  <a:schemeClr val="tx1"/>
                </a:solidFill>
                <a:latin typeface="굴림체" pitchFamily="49" charset="-127"/>
                <a:ea typeface="굴림체" pitchFamily="49" charset="-127"/>
              </a:defRPr>
            </a:lvl9pPr>
          </a:lstStyle>
          <a:p>
            <a:pPr algn="r" eaLnBrk="1" hangingPunct="1">
              <a:lnSpc>
                <a:spcPct val="160000"/>
              </a:lnSpc>
            </a:pPr>
            <a:r>
              <a:rPr lang="en-US" altLang="ko-KR" sz="1300" dirty="0">
                <a:latin typeface="Arial" pitchFamily="34" charset="0"/>
                <a:cs typeface="Arial" pitchFamily="34" charset="0"/>
              </a:rPr>
              <a:t>Japan</a:t>
            </a:r>
            <a:endParaRPr lang="ko-KR" altLang="en-US" sz="1300" dirty="0">
              <a:latin typeface="Arial" pitchFamily="34" charset="0"/>
              <a:cs typeface="Arial" pitchFamily="34" charset="0"/>
            </a:endParaRPr>
          </a:p>
          <a:p>
            <a:pPr algn="r" eaLnBrk="1" hangingPunct="1">
              <a:lnSpc>
                <a:spcPct val="160000"/>
              </a:lnSpc>
            </a:pPr>
            <a:r>
              <a:rPr lang="en-US" altLang="ko-KR" sz="1300" dirty="0">
                <a:latin typeface="Arial" pitchFamily="34" charset="0"/>
                <a:cs typeface="Arial" pitchFamily="34" charset="0"/>
              </a:rPr>
              <a:t>France</a:t>
            </a:r>
            <a:endParaRPr lang="ko-KR" altLang="en-US" sz="1300" dirty="0">
              <a:latin typeface="Arial" pitchFamily="34" charset="0"/>
              <a:cs typeface="Arial" pitchFamily="34" charset="0"/>
            </a:endParaRPr>
          </a:p>
          <a:p>
            <a:pPr algn="r" eaLnBrk="1" hangingPunct="1">
              <a:lnSpc>
                <a:spcPct val="160000"/>
              </a:lnSpc>
            </a:pPr>
            <a:r>
              <a:rPr lang="en-US" altLang="ko-KR" sz="1300" dirty="0">
                <a:latin typeface="Arial" pitchFamily="34" charset="0"/>
                <a:cs typeface="Arial" pitchFamily="34" charset="0"/>
              </a:rPr>
              <a:t>UK</a:t>
            </a:r>
            <a:endParaRPr lang="ko-KR" altLang="en-US" sz="1300"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150</a:t>
            </a:fld>
            <a:endParaRPr lang="ko-KR" altLang="en-US" dirty="0">
              <a:latin typeface="Arial" pitchFamily="34" charset="0"/>
              <a:cs typeface="Arial" pitchFamily="34" charset="0"/>
            </a:endParaRPr>
          </a:p>
        </p:txBody>
      </p:sp>
      <p:sp>
        <p:nvSpPr>
          <p:cNvPr id="54" name="Text Box 4"/>
          <p:cNvSpPr txBox="1">
            <a:spLocks noChangeArrowheads="1"/>
          </p:cNvSpPr>
          <p:nvPr/>
        </p:nvSpPr>
        <p:spPr bwMode="auto">
          <a:xfrm>
            <a:off x="95250" y="250825"/>
            <a:ext cx="2336800"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2. </a:t>
            </a:r>
            <a:r>
              <a:rPr lang="en-US" altLang="ko-KR" b="1" dirty="0" err="1">
                <a:latin typeface="Arial" pitchFamily="34" charset="0"/>
                <a:ea typeface="맑은 고딕" pitchFamily="50" charset="-127"/>
                <a:cs typeface="Arial" pitchFamily="34" charset="0"/>
              </a:rPr>
              <a:t>Ví</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a:t>
            </a:r>
            <a:endParaRPr lang="ko-KR" altLang="en-US"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983586567"/>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3058"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914400" y="1484784"/>
            <a:ext cx="8077200" cy="450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060"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151</a:t>
            </a:fld>
            <a:endParaRPr lang="ko-KR" altLang="en-US" dirty="0">
              <a:latin typeface="Arial" pitchFamily="34" charset="0"/>
              <a:cs typeface="Arial" pitchFamily="34" charset="0"/>
            </a:endParaRPr>
          </a:p>
        </p:txBody>
      </p:sp>
      <p:sp>
        <p:nvSpPr>
          <p:cNvPr id="3" name="TextBox 2"/>
          <p:cNvSpPr txBox="1"/>
          <p:nvPr/>
        </p:nvSpPr>
        <p:spPr>
          <a:xfrm>
            <a:off x="3512840" y="1196752"/>
            <a:ext cx="2634054" cy="276999"/>
          </a:xfrm>
          <a:prstGeom prst="rect">
            <a:avLst/>
          </a:prstGeom>
          <a:noFill/>
        </p:spPr>
        <p:txBody>
          <a:bodyPr wrap="none" rtlCol="0">
            <a:spAutoFit/>
          </a:bodyPr>
          <a:lstStyle/>
          <a:p>
            <a:r>
              <a:rPr lang="en-US" altLang="ko-KR" sz="1200" dirty="0" err="1">
                <a:latin typeface="Arial" pitchFamily="34" charset="0"/>
                <a:ea typeface="+mn-ea"/>
                <a:cs typeface="Arial" pitchFamily="34" charset="0"/>
              </a:rPr>
              <a:t>Mật</a:t>
            </a:r>
            <a:r>
              <a:rPr lang="en-US" altLang="ko-KR" sz="1200" dirty="0">
                <a:latin typeface="Arial" pitchFamily="34" charset="0"/>
                <a:ea typeface="+mn-ea"/>
                <a:cs typeface="Arial" pitchFamily="34" charset="0"/>
              </a:rPr>
              <a:t> </a:t>
            </a:r>
            <a:r>
              <a:rPr lang="en-US" altLang="ko-KR" sz="1200" dirty="0" err="1">
                <a:latin typeface="Arial" pitchFamily="34" charset="0"/>
                <a:ea typeface="+mn-ea"/>
                <a:cs typeface="Arial" pitchFamily="34" charset="0"/>
              </a:rPr>
              <a:t>độ</a:t>
            </a:r>
            <a:r>
              <a:rPr lang="en-US" altLang="ko-KR" sz="1200" dirty="0">
                <a:latin typeface="Arial" pitchFamily="34" charset="0"/>
                <a:ea typeface="+mn-ea"/>
                <a:cs typeface="Arial" pitchFamily="34" charset="0"/>
              </a:rPr>
              <a:t> </a:t>
            </a:r>
            <a:r>
              <a:rPr lang="en-US" altLang="ko-KR" sz="1200" dirty="0" err="1">
                <a:latin typeface="Arial" pitchFamily="34" charset="0"/>
                <a:ea typeface="+mn-ea"/>
                <a:cs typeface="Arial" pitchFamily="34" charset="0"/>
              </a:rPr>
              <a:t>dân</a:t>
            </a:r>
            <a:r>
              <a:rPr lang="en-US" altLang="ko-KR" sz="1200" dirty="0">
                <a:latin typeface="Arial" pitchFamily="34" charset="0"/>
                <a:ea typeface="+mn-ea"/>
                <a:cs typeface="Arial" pitchFamily="34" charset="0"/>
              </a:rPr>
              <a:t> </a:t>
            </a:r>
            <a:r>
              <a:rPr lang="en-US" altLang="ko-KR" sz="1200" dirty="0" err="1">
                <a:latin typeface="Arial" pitchFamily="34" charset="0"/>
                <a:ea typeface="+mn-ea"/>
                <a:cs typeface="Arial" pitchFamily="34" charset="0"/>
              </a:rPr>
              <a:t>cư</a:t>
            </a:r>
            <a:r>
              <a:rPr lang="en-US" altLang="ko-KR" sz="1200" dirty="0">
                <a:latin typeface="Arial" pitchFamily="34" charset="0"/>
                <a:ea typeface="+mn-ea"/>
                <a:cs typeface="Arial" pitchFamily="34" charset="0"/>
              </a:rPr>
              <a:t> </a:t>
            </a:r>
            <a:r>
              <a:rPr lang="en-US" altLang="ko-KR" sz="1200" dirty="0" err="1">
                <a:latin typeface="Arial" pitchFamily="34" charset="0"/>
                <a:ea typeface="+mn-ea"/>
                <a:cs typeface="Arial" pitchFamily="34" charset="0"/>
              </a:rPr>
              <a:t>Hàn</a:t>
            </a:r>
            <a:r>
              <a:rPr lang="en-US" altLang="ko-KR" sz="1200" dirty="0">
                <a:latin typeface="Arial" pitchFamily="34" charset="0"/>
                <a:ea typeface="+mn-ea"/>
                <a:cs typeface="Arial" pitchFamily="34" charset="0"/>
              </a:rPr>
              <a:t> </a:t>
            </a:r>
            <a:r>
              <a:rPr lang="en-US" altLang="ko-KR" sz="1200" dirty="0" err="1">
                <a:latin typeface="Arial" pitchFamily="34" charset="0"/>
                <a:ea typeface="+mn-ea"/>
                <a:cs typeface="Arial" pitchFamily="34" charset="0"/>
              </a:rPr>
              <a:t>Quốc</a:t>
            </a:r>
            <a:r>
              <a:rPr lang="en-US" altLang="ko-KR" sz="1200" dirty="0">
                <a:latin typeface="Arial" pitchFamily="34" charset="0"/>
                <a:ea typeface="+mn-ea"/>
                <a:cs typeface="Arial" pitchFamily="34" charset="0"/>
              </a:rPr>
              <a:t> </a:t>
            </a:r>
            <a:r>
              <a:rPr lang="en-US" altLang="ko-KR" sz="1200" dirty="0" err="1">
                <a:latin typeface="Arial" pitchFamily="34" charset="0"/>
                <a:ea typeface="+mn-ea"/>
                <a:cs typeface="Arial" pitchFamily="34" charset="0"/>
              </a:rPr>
              <a:t>năm</a:t>
            </a:r>
            <a:r>
              <a:rPr lang="en-US" altLang="ko-KR" sz="1200" dirty="0">
                <a:latin typeface="Arial" pitchFamily="34" charset="0"/>
                <a:ea typeface="+mn-ea"/>
                <a:cs typeface="Arial" pitchFamily="34" charset="0"/>
              </a:rPr>
              <a:t> 2010</a:t>
            </a:r>
          </a:p>
        </p:txBody>
      </p:sp>
      <p:sp>
        <p:nvSpPr>
          <p:cNvPr id="4" name="TextBox 3"/>
          <p:cNvSpPr txBox="1"/>
          <p:nvPr/>
        </p:nvSpPr>
        <p:spPr>
          <a:xfrm>
            <a:off x="8985448" y="1654927"/>
            <a:ext cx="596638" cy="400110"/>
          </a:xfrm>
          <a:prstGeom prst="rect">
            <a:avLst/>
          </a:prstGeom>
          <a:noFill/>
        </p:spPr>
        <p:txBody>
          <a:bodyPr wrap="none" rtlCol="0">
            <a:spAutoFit/>
          </a:bodyPr>
          <a:lstStyle/>
          <a:p>
            <a:r>
              <a:rPr lang="en-US" altLang="ko-KR" sz="1000" dirty="0">
                <a:latin typeface="Arial" pitchFamily="34" charset="0"/>
                <a:ea typeface="+mn-ea"/>
                <a:cs typeface="Arial" pitchFamily="34" charset="0"/>
              </a:rPr>
              <a:t>Man</a:t>
            </a:r>
          </a:p>
          <a:p>
            <a:r>
              <a:rPr lang="en-US" altLang="ko-KR" sz="1000" dirty="0">
                <a:latin typeface="Arial" pitchFamily="34" charset="0"/>
                <a:ea typeface="+mn-ea"/>
                <a:cs typeface="Arial" pitchFamily="34" charset="0"/>
              </a:rPr>
              <a:t>woman</a:t>
            </a:r>
            <a:endParaRPr lang="ko-KR" altLang="en-US" sz="1000" dirty="0">
              <a:latin typeface="Arial" pitchFamily="34" charset="0"/>
              <a:ea typeface="+mn-ea"/>
              <a:cs typeface="Arial" pitchFamily="34" charset="0"/>
            </a:endParaRPr>
          </a:p>
        </p:txBody>
      </p:sp>
      <p:sp>
        <p:nvSpPr>
          <p:cNvPr id="8" name="Text Box 4"/>
          <p:cNvSpPr txBox="1">
            <a:spLocks noChangeArrowheads="1"/>
          </p:cNvSpPr>
          <p:nvPr/>
        </p:nvSpPr>
        <p:spPr bwMode="auto">
          <a:xfrm>
            <a:off x="95250" y="250825"/>
            <a:ext cx="2336800"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2. </a:t>
            </a:r>
            <a:r>
              <a:rPr lang="en-US" altLang="ko-KR" b="1" dirty="0" err="1">
                <a:latin typeface="Arial" pitchFamily="34" charset="0"/>
                <a:ea typeface="맑은 고딕" pitchFamily="50" charset="-127"/>
                <a:cs typeface="Arial" pitchFamily="34" charset="0"/>
              </a:rPr>
              <a:t>Ví</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a:t>
            </a:r>
            <a:endParaRPr lang="ko-KR" altLang="en-US"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622913054"/>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5106"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776288" y="1628775"/>
            <a:ext cx="8562975" cy="439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107" name="TextBox 2"/>
          <p:cNvSpPr txBox="1">
            <a:spLocks noChangeArrowheads="1"/>
          </p:cNvSpPr>
          <p:nvPr/>
        </p:nvSpPr>
        <p:spPr bwMode="auto">
          <a:xfrm>
            <a:off x="992188" y="1196975"/>
            <a:ext cx="1335622"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a:latin typeface="Arial" pitchFamily="34" charset="0"/>
                <a:ea typeface="맑은 고딕" pitchFamily="50" charset="-127"/>
                <a:cs typeface="Arial" pitchFamily="34" charset="0"/>
              </a:rPr>
              <a:t>Stock Chart</a:t>
            </a:r>
            <a:endParaRPr lang="ko-KR" altLang="en-US" sz="1600" b="1" dirty="0">
              <a:latin typeface="Arial" pitchFamily="34" charset="0"/>
              <a:ea typeface="맑은 고딕" pitchFamily="50" charset="-127"/>
              <a:cs typeface="Arial" pitchFamily="34" charset="0"/>
            </a:endParaRPr>
          </a:p>
        </p:txBody>
      </p:sp>
      <p:sp>
        <p:nvSpPr>
          <p:cNvPr id="175109"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152</a:t>
            </a:fld>
            <a:endParaRPr lang="ko-KR" altLang="en-US" dirty="0">
              <a:latin typeface="Arial" pitchFamily="34" charset="0"/>
              <a:cs typeface="Arial" pitchFamily="34" charset="0"/>
            </a:endParaRPr>
          </a:p>
        </p:txBody>
      </p:sp>
      <p:sp>
        <p:nvSpPr>
          <p:cNvPr id="7" name="Text Box 4"/>
          <p:cNvSpPr txBox="1">
            <a:spLocks noChangeArrowheads="1"/>
          </p:cNvSpPr>
          <p:nvPr/>
        </p:nvSpPr>
        <p:spPr bwMode="auto">
          <a:xfrm>
            <a:off x="95250" y="250825"/>
            <a:ext cx="2336800"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2. </a:t>
            </a:r>
            <a:r>
              <a:rPr lang="en-US" altLang="ko-KR" b="1" dirty="0" err="1">
                <a:latin typeface="Arial" pitchFamily="34" charset="0"/>
                <a:ea typeface="맑은 고딕" pitchFamily="50" charset="-127"/>
                <a:cs typeface="Arial" pitchFamily="34" charset="0"/>
              </a:rPr>
              <a:t>Ví</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dụ</a:t>
            </a:r>
            <a:endParaRPr lang="ko-KR" altLang="en-US" b="1" dirty="0">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341120999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6130"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423988" y="2060575"/>
            <a:ext cx="7016750" cy="3773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131" name="Text Box 4"/>
          <p:cNvSpPr txBox="1">
            <a:spLocks noChangeArrowheads="1"/>
          </p:cNvSpPr>
          <p:nvPr/>
        </p:nvSpPr>
        <p:spPr bwMode="auto">
          <a:xfrm>
            <a:off x="95250" y="250825"/>
            <a:ext cx="6585942" cy="369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wrap="square"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Misuse – Pictographs</a:t>
            </a:r>
            <a:endParaRPr lang="ko-KR" altLang="en-US" b="1" dirty="0">
              <a:latin typeface="Arial" pitchFamily="34" charset="0"/>
              <a:ea typeface="맑은 고딕" pitchFamily="50" charset="-127"/>
              <a:cs typeface="Arial" pitchFamily="34" charset="0"/>
            </a:endParaRPr>
          </a:p>
        </p:txBody>
      </p:sp>
      <p:sp>
        <p:nvSpPr>
          <p:cNvPr id="176132"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153</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055857101"/>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0146"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344488" y="875989"/>
            <a:ext cx="9073008" cy="536132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154</a:t>
            </a:fld>
            <a:endParaRPr lang="ko-KR" altLang="en-US" dirty="0"/>
          </a:p>
        </p:txBody>
      </p:sp>
      <p:sp>
        <p:nvSpPr>
          <p:cNvPr id="3" name="TextBox 2"/>
          <p:cNvSpPr txBox="1"/>
          <p:nvPr/>
        </p:nvSpPr>
        <p:spPr>
          <a:xfrm>
            <a:off x="1568624" y="1068420"/>
            <a:ext cx="1475084" cy="246221"/>
          </a:xfrm>
          <a:prstGeom prst="rect">
            <a:avLst/>
          </a:prstGeom>
          <a:noFill/>
        </p:spPr>
        <p:txBody>
          <a:bodyPr wrap="none" rtlCol="0">
            <a:spAutoFit/>
          </a:bodyPr>
          <a:lstStyle/>
          <a:p>
            <a:r>
              <a:rPr lang="en-US" altLang="ko-KR" sz="1000" dirty="0">
                <a:latin typeface="+mn-ea"/>
                <a:ea typeface="+mn-ea"/>
              </a:rPr>
              <a:t>(English record graph)</a:t>
            </a:r>
            <a:endParaRPr lang="ko-KR" altLang="en-US" sz="1000" dirty="0">
              <a:latin typeface="+mn-ea"/>
              <a:ea typeface="+mn-ea"/>
            </a:endParaRPr>
          </a:p>
        </p:txBody>
      </p:sp>
      <p:sp>
        <p:nvSpPr>
          <p:cNvPr id="5" name="TextBox 4"/>
          <p:cNvSpPr txBox="1"/>
          <p:nvPr/>
        </p:nvSpPr>
        <p:spPr>
          <a:xfrm>
            <a:off x="4520952" y="1268760"/>
            <a:ext cx="1475084" cy="246221"/>
          </a:xfrm>
          <a:prstGeom prst="rect">
            <a:avLst/>
          </a:prstGeom>
          <a:noFill/>
        </p:spPr>
        <p:txBody>
          <a:bodyPr wrap="none" rtlCol="0">
            <a:spAutoFit/>
          </a:bodyPr>
          <a:lstStyle/>
          <a:p>
            <a:r>
              <a:rPr lang="en-US" altLang="ko-KR" sz="1000" dirty="0">
                <a:latin typeface="+mn-ea"/>
                <a:ea typeface="+mn-ea"/>
              </a:rPr>
              <a:t>(English record graph)</a:t>
            </a:r>
            <a:endParaRPr lang="ko-KR" altLang="en-US" sz="1000" dirty="0">
              <a:latin typeface="+mn-ea"/>
              <a:ea typeface="+mn-ea"/>
            </a:endParaRPr>
          </a:p>
        </p:txBody>
      </p:sp>
      <p:sp>
        <p:nvSpPr>
          <p:cNvPr id="6" name="TextBox 5"/>
          <p:cNvSpPr txBox="1"/>
          <p:nvPr/>
        </p:nvSpPr>
        <p:spPr>
          <a:xfrm>
            <a:off x="7473280" y="1124744"/>
            <a:ext cx="1475084" cy="246221"/>
          </a:xfrm>
          <a:prstGeom prst="rect">
            <a:avLst/>
          </a:prstGeom>
          <a:noFill/>
        </p:spPr>
        <p:txBody>
          <a:bodyPr wrap="none" rtlCol="0">
            <a:spAutoFit/>
          </a:bodyPr>
          <a:lstStyle/>
          <a:p>
            <a:r>
              <a:rPr lang="en-US" altLang="ko-KR" sz="1000" dirty="0">
                <a:latin typeface="+mn-ea"/>
                <a:ea typeface="+mn-ea"/>
              </a:rPr>
              <a:t>(English record graph)</a:t>
            </a:r>
            <a:endParaRPr lang="ko-KR" altLang="en-US" sz="1000" dirty="0">
              <a:latin typeface="+mn-ea"/>
              <a:ea typeface="+mn-ea"/>
            </a:endParaRPr>
          </a:p>
        </p:txBody>
      </p:sp>
      <p:sp>
        <p:nvSpPr>
          <p:cNvPr id="7" name="TextBox 6"/>
          <p:cNvSpPr txBox="1"/>
          <p:nvPr/>
        </p:nvSpPr>
        <p:spPr>
          <a:xfrm>
            <a:off x="4808984" y="3573016"/>
            <a:ext cx="1475084" cy="246221"/>
          </a:xfrm>
          <a:prstGeom prst="rect">
            <a:avLst/>
          </a:prstGeom>
          <a:noFill/>
        </p:spPr>
        <p:txBody>
          <a:bodyPr wrap="none" rtlCol="0">
            <a:spAutoFit/>
          </a:bodyPr>
          <a:lstStyle/>
          <a:p>
            <a:r>
              <a:rPr lang="en-US" altLang="ko-KR" sz="1000" dirty="0">
                <a:latin typeface="+mn-ea"/>
                <a:ea typeface="+mn-ea"/>
              </a:rPr>
              <a:t>(English record graph)</a:t>
            </a:r>
            <a:endParaRPr lang="ko-KR" altLang="en-US" sz="1000" dirty="0">
              <a:latin typeface="+mn-ea"/>
              <a:ea typeface="+mn-ea"/>
            </a:endParaRPr>
          </a:p>
        </p:txBody>
      </p:sp>
      <p:sp>
        <p:nvSpPr>
          <p:cNvPr id="8" name="TextBox 7"/>
          <p:cNvSpPr txBox="1"/>
          <p:nvPr/>
        </p:nvSpPr>
        <p:spPr>
          <a:xfrm>
            <a:off x="1712640" y="3573016"/>
            <a:ext cx="1475084" cy="246221"/>
          </a:xfrm>
          <a:prstGeom prst="rect">
            <a:avLst/>
          </a:prstGeom>
          <a:noFill/>
        </p:spPr>
        <p:txBody>
          <a:bodyPr wrap="none" rtlCol="0">
            <a:spAutoFit/>
          </a:bodyPr>
          <a:lstStyle/>
          <a:p>
            <a:r>
              <a:rPr lang="en-US" altLang="ko-KR" sz="1000" dirty="0">
                <a:latin typeface="+mn-ea"/>
                <a:ea typeface="+mn-ea"/>
              </a:rPr>
              <a:t>(English record graph)</a:t>
            </a:r>
            <a:endParaRPr lang="ko-KR" altLang="en-US" sz="1000" dirty="0">
              <a:latin typeface="+mn-ea"/>
              <a:ea typeface="+mn-ea"/>
            </a:endParaRPr>
          </a:p>
        </p:txBody>
      </p:sp>
    </p:spTree>
    <p:extLst>
      <p:ext uri="{BB962C8B-B14F-4D97-AF65-F5344CB8AC3E}">
        <p14:creationId xmlns:p14="http://schemas.microsoft.com/office/powerpoint/2010/main" val="421409075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61" name="TextBox 2"/>
          <p:cNvSpPr txBox="1">
            <a:spLocks noChangeArrowheads="1"/>
          </p:cNvSpPr>
          <p:nvPr/>
        </p:nvSpPr>
        <p:spPr bwMode="auto">
          <a:xfrm>
            <a:off x="2254870" y="2924944"/>
            <a:ext cx="5469190" cy="736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3600" b="1" dirty="0" err="1">
                <a:latin typeface="Arial" pitchFamily="34" charset="0"/>
                <a:ea typeface="맑은 고딕" pitchFamily="50" charset="-127"/>
                <a:cs typeface="Arial" pitchFamily="34" charset="0"/>
              </a:rPr>
              <a:t>Thực</a:t>
            </a:r>
            <a:r>
              <a:rPr lang="en-US" altLang="ko-KR" sz="3600" b="1" dirty="0">
                <a:latin typeface="Arial" pitchFamily="34" charset="0"/>
                <a:ea typeface="맑은 고딕" pitchFamily="50" charset="-127"/>
                <a:cs typeface="Arial" pitchFamily="34" charset="0"/>
              </a:rPr>
              <a:t> </a:t>
            </a:r>
            <a:r>
              <a:rPr lang="en-US" altLang="ko-KR" sz="3600" b="1" dirty="0" err="1">
                <a:latin typeface="Arial" pitchFamily="34" charset="0"/>
                <a:ea typeface="맑은 고딕" pitchFamily="50" charset="-127"/>
                <a:cs typeface="Arial" pitchFamily="34" charset="0"/>
              </a:rPr>
              <a:t>hành</a:t>
            </a:r>
            <a:r>
              <a:rPr lang="en-US" altLang="ko-KR" sz="3600" b="1" dirty="0">
                <a:latin typeface="Arial" pitchFamily="34" charset="0"/>
                <a:ea typeface="맑은 고딕" pitchFamily="50" charset="-127"/>
                <a:cs typeface="Arial" pitchFamily="34" charset="0"/>
              </a:rPr>
              <a:t> </a:t>
            </a:r>
            <a:r>
              <a:rPr lang="en-US" altLang="ko-KR" sz="3600" b="1" dirty="0" err="1">
                <a:latin typeface="Arial" pitchFamily="34" charset="0"/>
                <a:ea typeface="맑은 고딕" pitchFamily="50" charset="-127"/>
                <a:cs typeface="Arial" pitchFamily="34" charset="0"/>
              </a:rPr>
              <a:t>và</a:t>
            </a:r>
            <a:r>
              <a:rPr lang="en-US" altLang="ko-KR" sz="3600" b="1" dirty="0">
                <a:latin typeface="Arial" pitchFamily="34" charset="0"/>
                <a:ea typeface="맑은 고딕" pitchFamily="50" charset="-127"/>
                <a:cs typeface="Arial" pitchFamily="34" charset="0"/>
              </a:rPr>
              <a:t> </a:t>
            </a:r>
            <a:r>
              <a:rPr lang="en-US" altLang="ko-KR" sz="3600" b="1" dirty="0" err="1">
                <a:latin typeface="Arial" pitchFamily="34" charset="0"/>
                <a:ea typeface="맑은 고딕" pitchFamily="50" charset="-127"/>
                <a:cs typeface="Arial" pitchFamily="34" charset="0"/>
              </a:rPr>
              <a:t>thảo</a:t>
            </a:r>
            <a:r>
              <a:rPr lang="en-US" altLang="ko-KR" sz="3600" b="1" dirty="0">
                <a:latin typeface="Arial" pitchFamily="34" charset="0"/>
                <a:ea typeface="맑은 고딕" pitchFamily="50" charset="-127"/>
                <a:cs typeface="Arial" pitchFamily="34" charset="0"/>
              </a:rPr>
              <a:t> </a:t>
            </a:r>
            <a:r>
              <a:rPr lang="en-US" altLang="ko-KR" sz="3600" b="1" dirty="0" err="1">
                <a:latin typeface="Arial" pitchFamily="34" charset="0"/>
                <a:ea typeface="맑은 고딕" pitchFamily="50" charset="-127"/>
                <a:cs typeface="Arial" pitchFamily="34" charset="0"/>
              </a:rPr>
              <a:t>luận</a:t>
            </a:r>
            <a:endParaRPr lang="ko-KR" altLang="en-US" sz="3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155</a:t>
            </a:fld>
            <a:endParaRPr lang="ko-KR" altLang="en-US" dirty="0"/>
          </a:p>
        </p:txBody>
      </p:sp>
      <p:sp>
        <p:nvSpPr>
          <p:cNvPr id="7" name="Text Box 4"/>
          <p:cNvSpPr txBox="1">
            <a:spLocks noChangeArrowheads="1"/>
          </p:cNvSpPr>
          <p:nvPr/>
        </p:nvSpPr>
        <p:spPr bwMode="auto">
          <a:xfrm>
            <a:off x="95250" y="250825"/>
            <a:ext cx="3994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latin typeface="Arial" pitchFamily="34" charset="0"/>
                <a:ea typeface="맑은 고딕" pitchFamily="50" charset="-127"/>
                <a:cs typeface="Arial" pitchFamily="34" charset="0"/>
              </a:rPr>
              <a:t>4. </a:t>
            </a:r>
            <a:r>
              <a:rPr lang="en-US" altLang="ko-KR" sz="2000" b="1" dirty="0" err="1">
                <a:latin typeface="Arial" pitchFamily="34" charset="0"/>
                <a:ea typeface="맑은 고딕" pitchFamily="50" charset="-127"/>
                <a:cs typeface="Arial" pitchFamily="34" charset="0"/>
              </a:rPr>
              <a:t>Thực</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hành</a:t>
            </a:r>
            <a:endParaRPr lang="ko-KR" altLang="en-US" sz="2000" b="1" dirty="0">
              <a:latin typeface="Arial" pitchFamily="34" charset="0"/>
              <a:ea typeface="맑은 고딕" pitchFamily="50" charset="-127"/>
              <a:cs typeface="Arial" pitchFamily="34" charset="0"/>
            </a:endParaRPr>
          </a:p>
        </p:txBody>
      </p:sp>
      <p:sp>
        <p:nvSpPr>
          <p:cNvPr id="8"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Scatter Plot</a:t>
            </a:r>
            <a:endParaRPr lang="ko-KR" altLang="en-US" sz="1600" b="1" dirty="0">
              <a:latin typeface="Arial" pitchFamily="34" charset="0"/>
              <a:ea typeface="맑은 고딕" pitchFamily="50" charset="-127"/>
              <a:cs typeface="Arial" pitchFamily="34" charset="0"/>
            </a:endParaRPr>
          </a:p>
        </p:txBody>
      </p:sp>
      <p:sp>
        <p:nvSpPr>
          <p:cNvPr id="9" name="Isosceles Triangle 8"/>
          <p:cNvSpPr/>
          <p:nvPr/>
        </p:nvSpPr>
        <p:spPr>
          <a:xfrm rot="5400000">
            <a:off x="1208584" y="2924944"/>
            <a:ext cx="720080" cy="864096"/>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p>
        </p:txBody>
      </p:sp>
    </p:spTree>
    <p:extLst>
      <p:ext uri="{BB962C8B-B14F-4D97-AF65-F5344CB8AC3E}">
        <p14:creationId xmlns:p14="http://schemas.microsoft.com/office/powerpoint/2010/main" val="328137300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Text Box 4"/>
          <p:cNvSpPr txBox="1">
            <a:spLocks noChangeArrowheads="1"/>
          </p:cNvSpPr>
          <p:nvPr/>
        </p:nvSpPr>
        <p:spPr bwMode="auto">
          <a:xfrm>
            <a:off x="95250" y="250825"/>
            <a:ext cx="47132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a:latin typeface="Arial" pitchFamily="34" charset="0"/>
                <a:ea typeface="맑은 고딕" pitchFamily="50" charset="-127"/>
                <a:cs typeface="Arial" pitchFamily="34" charset="0"/>
              </a:rPr>
              <a:t>5. </a:t>
            </a:r>
            <a:r>
              <a:rPr lang="en-US" altLang="ko-KR" b="1" dirty="0" err="1">
                <a:latin typeface="Arial" pitchFamily="34" charset="0"/>
                <a:ea typeface="맑은 고딕" pitchFamily="50" charset="-127"/>
                <a:cs typeface="Arial" pitchFamily="34" charset="0"/>
              </a:rPr>
              <a:t>Tổng</a:t>
            </a:r>
            <a:r>
              <a:rPr lang="en-US" altLang="ko-KR" b="1" dirty="0">
                <a:latin typeface="Arial" pitchFamily="34" charset="0"/>
                <a:ea typeface="맑은 고딕" pitchFamily="50" charset="-127"/>
                <a:cs typeface="Arial" pitchFamily="34" charset="0"/>
              </a:rPr>
              <a:t> </a:t>
            </a:r>
            <a:r>
              <a:rPr lang="en-US" altLang="ko-KR" b="1" dirty="0" err="1">
                <a:latin typeface="Arial" pitchFamily="34" charset="0"/>
                <a:ea typeface="맑은 고딕" pitchFamily="50" charset="-127"/>
                <a:cs typeface="Arial" pitchFamily="34" charset="0"/>
              </a:rPr>
              <a:t>kết</a:t>
            </a:r>
            <a:endParaRPr lang="ko-KR" altLang="en-US" b="1" dirty="0">
              <a:latin typeface="Arial" pitchFamily="34" charset="0"/>
              <a:ea typeface="맑은 고딕" pitchFamily="50" charset="-127"/>
              <a:cs typeface="Arial" pitchFamily="34" charset="0"/>
            </a:endParaRPr>
          </a:p>
        </p:txBody>
      </p:sp>
      <p:sp>
        <p:nvSpPr>
          <p:cNvPr id="182275" name="Text Box 4"/>
          <p:cNvSpPr txBox="1">
            <a:spLocks noChangeArrowheads="1"/>
          </p:cNvSpPr>
          <p:nvPr/>
        </p:nvSpPr>
        <p:spPr bwMode="auto">
          <a:xfrm>
            <a:off x="5529263" y="282575"/>
            <a:ext cx="4319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a:latin typeface="Arial" pitchFamily="34" charset="0"/>
                <a:ea typeface="맑은 고딕" pitchFamily="50" charset="-127"/>
                <a:cs typeface="Arial" pitchFamily="34" charset="0"/>
              </a:rPr>
              <a:t>Graph</a:t>
            </a:r>
            <a:endParaRPr lang="ko-KR" altLang="en-US" sz="1600" b="1" dirty="0">
              <a:latin typeface="Arial" pitchFamily="34" charset="0"/>
              <a:ea typeface="맑은 고딕" pitchFamily="50" charset="-127"/>
              <a:cs typeface="Arial" pitchFamily="34" charset="0"/>
            </a:endParaRPr>
          </a:p>
        </p:txBody>
      </p:sp>
      <p:sp>
        <p:nvSpPr>
          <p:cNvPr id="182276" name="Text Box 7"/>
          <p:cNvSpPr txBox="1">
            <a:spLocks noChangeArrowheads="1"/>
          </p:cNvSpPr>
          <p:nvPr/>
        </p:nvSpPr>
        <p:spPr bwMode="auto">
          <a:xfrm>
            <a:off x="1476375" y="1362075"/>
            <a:ext cx="772477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Mục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đích</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cần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được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xác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định</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rõ</a:t>
            </a:r>
            <a:r>
              <a:rPr kumimoji="0" lang="en-US" altLang="ko-KR" sz="1600" dirty="0">
                <a:latin typeface="Arial" pitchFamily="34" charset="0"/>
                <a:ea typeface="맑은 고딕" pitchFamily="50" charset="-127"/>
                <a:cs typeface="Arial" pitchFamily="34" charset="0"/>
              </a:rPr>
              <a:t>.</a:t>
            </a:r>
          </a:p>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Thông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điệp</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cần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được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thể</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hiện</a:t>
            </a:r>
            <a:r>
              <a:rPr kumimoji="0" lang="en-US" altLang="ko-KR" sz="1600" dirty="0">
                <a:latin typeface="Arial" pitchFamily="34" charset="0"/>
                <a:ea typeface="맑은 고딕" pitchFamily="50" charset="-127"/>
                <a:cs typeface="Arial" pitchFamily="34" charset="0"/>
              </a:rPr>
              <a:t> qua </a:t>
            </a:r>
            <a:r>
              <a:rPr kumimoji="0" lang="en-US" altLang="ko-KR" sz="1600" dirty="0" err="1">
                <a:latin typeface="Arial" pitchFamily="34" charset="0"/>
                <a:ea typeface="맑은 고딕" pitchFamily="50" charset="-127"/>
                <a:cs typeface="Arial" pitchFamily="34" charset="0"/>
              </a:rPr>
              <a:t>các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điểm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chính</a:t>
            </a:r>
            <a:r>
              <a:rPr kumimoji="0" lang="en-US" altLang="ko-KR" sz="1600" dirty="0">
                <a:latin typeface="Arial" pitchFamily="34" charset="0"/>
                <a:ea typeface="맑은 고딕" pitchFamily="50" charset="-127"/>
                <a:cs typeface="Arial" pitchFamily="34" charset="0"/>
              </a:rPr>
              <a:t>.</a:t>
            </a:r>
          </a:p>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Càng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súc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tích</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càng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tốt</a:t>
            </a:r>
            <a:endParaRPr kumimoji="0" lang="en-US" altLang="ko-KR" sz="1600" dirty="0">
              <a:latin typeface="Arial" pitchFamily="34" charset="0"/>
              <a:ea typeface="맑은 고딕" pitchFamily="50" charset="-127"/>
              <a:cs typeface="Arial" pitchFamily="34" charset="0"/>
            </a:endParaRPr>
          </a:p>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Ghi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các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thông</a:t>
            </a:r>
            <a:r>
              <a:rPr kumimoji="0" lang="en-US" altLang="ko-KR" sz="1600" dirty="0">
                <a:latin typeface="Arial" pitchFamily="34" charset="0"/>
                <a:ea typeface="맑은 고딕" pitchFamily="50" charset="-127"/>
                <a:cs typeface="Arial" pitchFamily="34" charset="0"/>
              </a:rPr>
              <a:t> tin </a:t>
            </a:r>
            <a:r>
              <a:rPr kumimoji="0" lang="en-US" altLang="ko-KR" sz="1600" dirty="0" err="1">
                <a:latin typeface="Arial" pitchFamily="34" charset="0"/>
                <a:ea typeface="맑은 고딕" pitchFamily="50" charset="-127"/>
                <a:cs typeface="Arial" pitchFamily="34" charset="0"/>
              </a:rPr>
              <a:t>cần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thiết</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vào</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biểu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đồ</a:t>
            </a:r>
            <a:r>
              <a:rPr kumimoji="0" lang="en-US" altLang="ko-KR" sz="1600" dirty="0">
                <a:latin typeface="Arial" pitchFamily="34" charset="0"/>
                <a:ea typeface="맑은 고딕" pitchFamily="50" charset="-127"/>
                <a:cs typeface="Arial" pitchFamily="34" charset="0"/>
              </a:rPr>
              <a:t>.</a:t>
            </a:r>
          </a:p>
        </p:txBody>
      </p:sp>
      <p:sp>
        <p:nvSpPr>
          <p:cNvPr id="182277" name="Text Box 7"/>
          <p:cNvSpPr txBox="1">
            <a:spLocks noChangeArrowheads="1"/>
          </p:cNvSpPr>
          <p:nvPr/>
        </p:nvSpPr>
        <p:spPr bwMode="auto">
          <a:xfrm>
            <a:off x="1187450" y="1052513"/>
            <a:ext cx="42434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l"/>
            </a:pPr>
            <a:r>
              <a:rPr kumimoji="0" lang="en-US" altLang="ko-KR" b="1" dirty="0" err="1">
                <a:latin typeface="Arial" pitchFamily="34" charset="0"/>
                <a:ea typeface="맑은 고딕" pitchFamily="50" charset="-127"/>
                <a:cs typeface="Arial" pitchFamily="34" charset="0"/>
              </a:rPr>
              <a:t>Những</a:t>
            </a:r>
            <a:r>
              <a:rPr kumimoji="0" lang="en-US" altLang="ko-KR" b="1" dirty="0">
                <a:latin typeface="Arial" pitchFamily="34" charset="0"/>
                <a:ea typeface="맑은 고딕" pitchFamily="50" charset="-127"/>
                <a:cs typeface="Arial" pitchFamily="34" charset="0"/>
              </a:rPr>
              <a:t> </a:t>
            </a:r>
            <a:r>
              <a:rPr kumimoji="0" lang="en-US" altLang="ko-KR" b="1" dirty="0" err="1">
                <a:latin typeface="Arial" pitchFamily="34" charset="0"/>
                <a:ea typeface="맑은 고딕" pitchFamily="50" charset="-127"/>
                <a:cs typeface="Arial" pitchFamily="34" charset="0"/>
              </a:rPr>
              <a:t>lưu</a:t>
            </a:r>
            <a:r>
              <a:rPr kumimoji="0" lang="en-US" altLang="ko-KR" b="1" dirty="0">
                <a:latin typeface="Arial" pitchFamily="34" charset="0"/>
                <a:ea typeface="맑은 고딕" pitchFamily="50" charset="-127"/>
                <a:cs typeface="Arial" pitchFamily="34" charset="0"/>
              </a:rPr>
              <a:t> ý </a:t>
            </a:r>
            <a:r>
              <a:rPr kumimoji="0" lang="en-US" altLang="ko-KR" b="1" dirty="0" err="1">
                <a:latin typeface="Arial" pitchFamily="34" charset="0"/>
                <a:ea typeface="맑은 고딕" pitchFamily="50" charset="-127"/>
                <a:cs typeface="Arial" pitchFamily="34" charset="0"/>
              </a:rPr>
              <a:t>khi</a:t>
            </a:r>
            <a:r>
              <a:rPr kumimoji="0" lang="en-US" altLang="ko-KR" b="1" dirty="0">
                <a:latin typeface="Arial" pitchFamily="34" charset="0"/>
                <a:ea typeface="맑은 고딕" pitchFamily="50" charset="-127"/>
                <a:cs typeface="Arial" pitchFamily="34" charset="0"/>
              </a:rPr>
              <a:t> </a:t>
            </a:r>
            <a:r>
              <a:rPr kumimoji="0" lang="en-US" altLang="ko-KR" b="1" dirty="0" err="1">
                <a:latin typeface="Arial" pitchFamily="34" charset="0"/>
                <a:ea typeface="맑은 고딕" pitchFamily="50" charset="-127"/>
                <a:cs typeface="Arial" pitchFamily="34" charset="0"/>
              </a:rPr>
              <a:t>xây</a:t>
            </a:r>
            <a:r>
              <a:rPr kumimoji="0" lang="en-US" altLang="ko-KR" b="1" dirty="0">
                <a:latin typeface="Arial" pitchFamily="34" charset="0"/>
                <a:ea typeface="맑은 고딕" pitchFamily="50" charset="-127"/>
                <a:cs typeface="Arial" pitchFamily="34" charset="0"/>
              </a:rPr>
              <a:t> </a:t>
            </a:r>
            <a:r>
              <a:rPr kumimoji="0" lang="en-US" altLang="ko-KR" b="1" dirty="0" err="1">
                <a:latin typeface="Arial" pitchFamily="34" charset="0"/>
                <a:ea typeface="맑은 고딕" pitchFamily="50" charset="-127"/>
                <a:cs typeface="Arial" pitchFamily="34" charset="0"/>
              </a:rPr>
              <a:t>dựng</a:t>
            </a:r>
            <a:r>
              <a:rPr kumimoji="0" lang="en-US" altLang="ko-KR" b="1" dirty="0">
                <a:latin typeface="Arial" pitchFamily="34" charset="0"/>
                <a:ea typeface="맑은 고딕" pitchFamily="50" charset="-127"/>
                <a:cs typeface="Arial" pitchFamily="34" charset="0"/>
              </a:rPr>
              <a:t> </a:t>
            </a:r>
            <a:r>
              <a:rPr kumimoji="0" lang="en-US" altLang="ko-KR" b="1" dirty="0" err="1">
                <a:latin typeface="Arial" pitchFamily="34" charset="0"/>
                <a:ea typeface="맑은 고딕" pitchFamily="50" charset="-127"/>
                <a:cs typeface="Arial" pitchFamily="34" charset="0"/>
              </a:rPr>
              <a:t>biểu</a:t>
            </a:r>
            <a:r>
              <a:rPr kumimoji="0" lang="en-US" altLang="ko-KR" b="1" dirty="0">
                <a:latin typeface="Arial" pitchFamily="34" charset="0"/>
                <a:ea typeface="맑은 고딕" pitchFamily="50" charset="-127"/>
                <a:cs typeface="Arial" pitchFamily="34" charset="0"/>
              </a:rPr>
              <a:t> </a:t>
            </a:r>
            <a:r>
              <a:rPr kumimoji="0" lang="en-US" altLang="ko-KR" b="1" dirty="0" err="1">
                <a:latin typeface="Arial" pitchFamily="34" charset="0"/>
                <a:ea typeface="맑은 고딕" pitchFamily="50" charset="-127"/>
                <a:cs typeface="Arial" pitchFamily="34" charset="0"/>
              </a:rPr>
              <a:t>đồ</a:t>
            </a:r>
            <a:endParaRPr kumimoji="0" lang="ko-KR" altLang="en-US" b="1" dirty="0">
              <a:latin typeface="Arial" pitchFamily="34" charset="0"/>
              <a:ea typeface="맑은 고딕" pitchFamily="50" charset="-127"/>
              <a:cs typeface="Arial" pitchFamily="34" charset="0"/>
            </a:endParaRPr>
          </a:p>
        </p:txBody>
      </p:sp>
      <p:sp>
        <p:nvSpPr>
          <p:cNvPr id="182278" name="Text Box 7"/>
          <p:cNvSpPr txBox="1">
            <a:spLocks noChangeArrowheads="1"/>
          </p:cNvSpPr>
          <p:nvPr/>
        </p:nvSpPr>
        <p:spPr bwMode="auto">
          <a:xfrm>
            <a:off x="1476375" y="4130675"/>
            <a:ext cx="719931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Nhìn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vào</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toàn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cảnh</a:t>
            </a:r>
            <a:endParaRPr kumimoji="0" lang="en-US" altLang="ko-KR" sz="1600" dirty="0">
              <a:latin typeface="Arial" pitchFamily="34" charset="0"/>
              <a:ea typeface="맑은 고딕" pitchFamily="50" charset="-127"/>
              <a:cs typeface="Arial" pitchFamily="34" charset="0"/>
            </a:endParaRPr>
          </a:p>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Nhìn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vào</a:t>
            </a:r>
            <a:r>
              <a:rPr kumimoji="0" lang="en-US" altLang="ko-KR" sz="1600" dirty="0">
                <a:latin typeface="Arial" pitchFamily="34" charset="0"/>
                <a:ea typeface="맑은 고딕" pitchFamily="50" charset="-127"/>
                <a:cs typeface="Arial" pitchFamily="34" charset="0"/>
              </a:rPr>
              <a:t> chi </a:t>
            </a:r>
            <a:r>
              <a:rPr kumimoji="0" lang="en-US" altLang="ko-KR" sz="1600" dirty="0" err="1">
                <a:latin typeface="Arial" pitchFamily="34" charset="0"/>
                <a:ea typeface="맑은 고딕" pitchFamily="50" charset="-127"/>
                <a:cs typeface="Arial" pitchFamily="34" charset="0"/>
              </a:rPr>
              <a:t>tiết</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cùng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lúc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với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tổng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thể</a:t>
            </a:r>
            <a:endParaRPr kumimoji="0" lang="en-US" altLang="ko-KR" sz="1600" dirty="0">
              <a:latin typeface="Arial" pitchFamily="34" charset="0"/>
              <a:ea typeface="맑은 고딕" pitchFamily="50" charset="-127"/>
              <a:cs typeface="Arial" pitchFamily="34" charset="0"/>
            </a:endParaRPr>
          </a:p>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Tìm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kiếm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mối</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quan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hệ</a:t>
            </a:r>
            <a:r>
              <a:rPr kumimoji="0" lang="en-US" altLang="ko-KR" sz="1600" dirty="0">
                <a:latin typeface="Arial" pitchFamily="34" charset="0"/>
                <a:ea typeface="맑은 고딕" pitchFamily="50" charset="-127"/>
                <a:cs typeface="Arial" pitchFamily="34" charset="0"/>
              </a:rPr>
              <a:t> hay </a:t>
            </a:r>
            <a:r>
              <a:rPr kumimoji="0" lang="en-US" altLang="ko-KR" sz="1600" dirty="0" err="1">
                <a:latin typeface="Arial" pitchFamily="34" charset="0"/>
                <a:ea typeface="맑은 고딕" pitchFamily="50" charset="-127"/>
                <a:cs typeface="Arial" pitchFamily="34" charset="0"/>
              </a:rPr>
              <a:t>tỉ</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lệ</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giữa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các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điểm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dữ</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liệu</a:t>
            </a:r>
            <a:r>
              <a:rPr kumimoji="0" lang="en-US" altLang="ko-KR" sz="1600" dirty="0">
                <a:latin typeface="Arial" pitchFamily="34" charset="0"/>
                <a:ea typeface="맑은 고딕" pitchFamily="50" charset="-127"/>
                <a:cs typeface="Arial" pitchFamily="34" charset="0"/>
              </a:rPr>
              <a:t>. </a:t>
            </a:r>
          </a:p>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Kiểm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tra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nếu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biểu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đồ</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thỏa</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mãn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giá</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trị</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tiêu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chuẩn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giá</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trị</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tham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chiếu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giá</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trị</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mục</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tiêu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đã</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quy</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định</a:t>
            </a:r>
            <a:r>
              <a:rPr kumimoji="0" lang="en-US" altLang="ko-KR" sz="1600" dirty="0">
                <a:latin typeface="Arial" pitchFamily="34" charset="0"/>
                <a:ea typeface="맑은 고딕" pitchFamily="50" charset="-127"/>
                <a:cs typeface="Arial" pitchFamily="34" charset="0"/>
              </a:rPr>
              <a:t>. </a:t>
            </a:r>
          </a:p>
          <a:p>
            <a:pPr eaLnBrk="1" hangingPunct="1">
              <a:lnSpc>
                <a:spcPct val="150000"/>
              </a:lnSpc>
              <a:buFontTx/>
              <a:buChar char="-"/>
            </a:pP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Nếu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có</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bất</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cứ</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điều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gì</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bất</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thường</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cần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tìm</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hiểu</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rõ</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nguyên</a:t>
            </a:r>
            <a:r>
              <a:rPr kumimoji="0" lang="en-US" altLang="ko-KR" sz="1600" dirty="0">
                <a:latin typeface="Arial" pitchFamily="34" charset="0"/>
                <a:ea typeface="맑은 고딕" pitchFamily="50" charset="-127"/>
                <a:cs typeface="Arial" pitchFamily="34" charset="0"/>
              </a:rPr>
              <a:t> </a:t>
            </a:r>
            <a:r>
              <a:rPr kumimoji="0" lang="en-US" altLang="ko-KR" sz="1600" dirty="0" err="1">
                <a:latin typeface="Arial" pitchFamily="34" charset="0"/>
                <a:ea typeface="맑은 고딕" pitchFamily="50" charset="-127"/>
                <a:cs typeface="Arial" pitchFamily="34" charset="0"/>
              </a:rPr>
              <a:t>nhân</a:t>
            </a:r>
            <a:endParaRPr kumimoji="0" lang="en-US" altLang="ko-KR" sz="1600" dirty="0">
              <a:latin typeface="Arial" pitchFamily="34" charset="0"/>
              <a:ea typeface="맑은 고딕" pitchFamily="50" charset="-127"/>
              <a:cs typeface="Arial" pitchFamily="34" charset="0"/>
            </a:endParaRPr>
          </a:p>
        </p:txBody>
      </p:sp>
      <p:sp>
        <p:nvSpPr>
          <p:cNvPr id="182279" name="Text Box 7"/>
          <p:cNvSpPr txBox="1">
            <a:spLocks noChangeArrowheads="1"/>
          </p:cNvSpPr>
          <p:nvPr/>
        </p:nvSpPr>
        <p:spPr bwMode="auto">
          <a:xfrm>
            <a:off x="1187450" y="3759200"/>
            <a:ext cx="3256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l"/>
            </a:pPr>
            <a:r>
              <a:rPr kumimoji="0" lang="en-US" altLang="ko-KR" b="1" dirty="0" err="1">
                <a:latin typeface="Arial" pitchFamily="34" charset="0"/>
                <a:ea typeface="맑은 고딕" pitchFamily="50" charset="-127"/>
                <a:cs typeface="Arial" pitchFamily="34" charset="0"/>
              </a:rPr>
              <a:t>Những</a:t>
            </a:r>
            <a:r>
              <a:rPr kumimoji="0" lang="en-US" altLang="ko-KR" b="1" dirty="0">
                <a:latin typeface="Arial" pitchFamily="34" charset="0"/>
                <a:ea typeface="맑은 고딕" pitchFamily="50" charset="-127"/>
                <a:cs typeface="Arial" pitchFamily="34" charset="0"/>
              </a:rPr>
              <a:t> </a:t>
            </a:r>
            <a:r>
              <a:rPr kumimoji="0" lang="en-US" altLang="ko-KR" b="1" dirty="0" err="1">
                <a:latin typeface="Arial" pitchFamily="34" charset="0"/>
                <a:ea typeface="맑은 고딕" pitchFamily="50" charset="-127"/>
                <a:cs typeface="Arial" pitchFamily="34" charset="0"/>
              </a:rPr>
              <a:t>lưu</a:t>
            </a:r>
            <a:r>
              <a:rPr kumimoji="0" lang="en-US" altLang="ko-KR" b="1" dirty="0">
                <a:latin typeface="Arial" pitchFamily="34" charset="0"/>
                <a:ea typeface="맑은 고딕" pitchFamily="50" charset="-127"/>
                <a:cs typeface="Arial" pitchFamily="34" charset="0"/>
              </a:rPr>
              <a:t> ý </a:t>
            </a:r>
            <a:r>
              <a:rPr kumimoji="0" lang="en-US" altLang="ko-KR" b="1" dirty="0" err="1">
                <a:latin typeface="Arial" pitchFamily="34" charset="0"/>
                <a:ea typeface="맑은 고딕" pitchFamily="50" charset="-127"/>
                <a:cs typeface="Arial" pitchFamily="34" charset="0"/>
              </a:rPr>
              <a:t>khi</a:t>
            </a:r>
            <a:r>
              <a:rPr kumimoji="0" lang="en-US" altLang="ko-KR" b="1" dirty="0">
                <a:latin typeface="Arial" pitchFamily="34" charset="0"/>
                <a:ea typeface="맑은 고딕" pitchFamily="50" charset="-127"/>
                <a:cs typeface="Arial" pitchFamily="34" charset="0"/>
              </a:rPr>
              <a:t> </a:t>
            </a:r>
            <a:r>
              <a:rPr kumimoji="0" lang="en-US" altLang="ko-KR" b="1" dirty="0" err="1">
                <a:latin typeface="Arial" pitchFamily="34" charset="0"/>
                <a:ea typeface="맑은 고딕" pitchFamily="50" charset="-127"/>
                <a:cs typeface="Arial" pitchFamily="34" charset="0"/>
              </a:rPr>
              <a:t>diễn</a:t>
            </a:r>
            <a:r>
              <a:rPr kumimoji="0" lang="en-US" altLang="ko-KR" b="1" dirty="0">
                <a:latin typeface="Arial" pitchFamily="34" charset="0"/>
                <a:ea typeface="맑은 고딕" pitchFamily="50" charset="-127"/>
                <a:cs typeface="Arial" pitchFamily="34" charset="0"/>
              </a:rPr>
              <a:t> </a:t>
            </a:r>
            <a:r>
              <a:rPr kumimoji="0" lang="en-US" altLang="ko-KR" b="1" dirty="0" err="1">
                <a:latin typeface="Arial" pitchFamily="34" charset="0"/>
                <a:ea typeface="맑은 고딕" pitchFamily="50" charset="-127"/>
                <a:cs typeface="Arial" pitchFamily="34" charset="0"/>
              </a:rPr>
              <a:t>giải</a:t>
            </a:r>
            <a:endParaRPr kumimoji="0" lang="en-US" altLang="ko-KR" b="1" dirty="0">
              <a:latin typeface="Arial" pitchFamily="34" charset="0"/>
              <a:ea typeface="맑은 고딕" pitchFamily="50" charset="-127"/>
              <a:cs typeface="Arial" pitchFamily="34" charset="0"/>
            </a:endParaRPr>
          </a:p>
        </p:txBody>
      </p:sp>
      <p:sp>
        <p:nvSpPr>
          <p:cNvPr id="182280" name="TextBox 7"/>
          <p:cNvSpPr txBox="1">
            <a:spLocks noChangeArrowheads="1"/>
          </p:cNvSpPr>
          <p:nvPr/>
        </p:nvSpPr>
        <p:spPr bwMode="auto">
          <a:xfrm>
            <a:off x="6594668" y="1773238"/>
            <a:ext cx="260680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b="1" dirty="0">
                <a:latin typeface="Arial" pitchFamily="34" charset="0"/>
                <a:ea typeface="맑은 고딕" pitchFamily="50" charset="-127"/>
                <a:cs typeface="Arial" pitchFamily="34" charset="0"/>
              </a:rPr>
              <a:t>Meaningful Clue</a:t>
            </a:r>
            <a:endParaRPr lang="ko-KR" altLang="en-US" sz="2400" b="1" dirty="0">
              <a:latin typeface="Arial" pitchFamily="34" charset="0"/>
              <a:ea typeface="맑은 고딕" pitchFamily="50" charset="-127"/>
              <a:cs typeface="Arial" pitchFamily="34" charset="0"/>
            </a:endParaRPr>
          </a:p>
        </p:txBody>
      </p:sp>
      <p:sp>
        <p:nvSpPr>
          <p:cNvPr id="182281" name="TextBox 8"/>
          <p:cNvSpPr txBox="1">
            <a:spLocks noChangeArrowheads="1"/>
          </p:cNvSpPr>
          <p:nvPr/>
        </p:nvSpPr>
        <p:spPr bwMode="auto">
          <a:xfrm>
            <a:off x="6747068" y="2174875"/>
            <a:ext cx="217646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cs typeface="Arial" pitchFamily="34" charset="0"/>
              </a:rPr>
              <a:t>With Data Resume…</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156</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405958714"/>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제목 5"/>
          <p:cNvSpPr txBox="1">
            <a:spLocks/>
          </p:cNvSpPr>
          <p:nvPr/>
        </p:nvSpPr>
        <p:spPr bwMode="auto">
          <a:xfrm>
            <a:off x="1517651" y="1714450"/>
            <a:ext cx="6870699"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ash"/>
                <a:miter lim="800000"/>
                <a:headEnd/>
                <a:tailEnd/>
              </a14:hiddenLine>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kumimoji="0" lang="en-US" altLang="ko-KR" sz="3600" b="1" dirty="0">
                <a:solidFill>
                  <a:srgbClr val="C5003D"/>
                </a:solidFill>
                <a:latin typeface="arial" pitchFamily="34" charset="0"/>
                <a:ea typeface="맑은 고딕" pitchFamily="50" charset="-127"/>
              </a:rPr>
              <a:t>M4. </a:t>
            </a:r>
            <a:r>
              <a:rPr kumimoji="0" lang="en-US" altLang="ko-KR" sz="3600" b="1" dirty="0" err="1">
                <a:solidFill>
                  <a:srgbClr val="C5003D"/>
                </a:solidFill>
                <a:latin typeface="arial" pitchFamily="34" charset="0"/>
                <a:ea typeface="맑은 고딕" pitchFamily="50" charset="-127"/>
              </a:rPr>
              <a:t>Kiểm</a:t>
            </a:r>
            <a:r>
              <a:rPr kumimoji="0" lang="en-US" altLang="ko-KR" sz="3600" b="1" dirty="0">
                <a:solidFill>
                  <a:srgbClr val="C5003D"/>
                </a:solidFill>
                <a:latin typeface="arial" pitchFamily="34" charset="0"/>
                <a:ea typeface="맑은 고딕" pitchFamily="50" charset="-127"/>
              </a:rPr>
              <a:t> </a:t>
            </a:r>
            <a:r>
              <a:rPr kumimoji="0" lang="en-US" altLang="ko-KR" sz="3600" b="1" dirty="0" err="1">
                <a:solidFill>
                  <a:srgbClr val="C5003D"/>
                </a:solidFill>
                <a:latin typeface="arial" pitchFamily="34" charset="0"/>
                <a:ea typeface="맑은 고딕" pitchFamily="50" charset="-127"/>
              </a:rPr>
              <a:t>định</a:t>
            </a:r>
            <a:endParaRPr kumimoji="0" lang="ko-KR" altLang="en-US" sz="3600" b="1" dirty="0">
              <a:solidFill>
                <a:srgbClr val="C5003D"/>
              </a:solidFill>
              <a:latin typeface="arial" pitchFamily="34" charset="0"/>
              <a:ea typeface="맑은 고딕" pitchFamily="50" charset="-127"/>
            </a:endParaRPr>
          </a:p>
        </p:txBody>
      </p:sp>
      <p:sp>
        <p:nvSpPr>
          <p:cNvPr id="4" name="직사각형 3"/>
          <p:cNvSpPr/>
          <p:nvPr/>
        </p:nvSpPr>
        <p:spPr>
          <a:xfrm>
            <a:off x="2480469" y="3211711"/>
            <a:ext cx="4945062" cy="456535"/>
          </a:xfrm>
          <a:prstGeom prst="rect">
            <a:avLst/>
          </a:prstGeom>
        </p:spPr>
        <p:txBody>
          <a:bodyPr>
            <a:spAutoFit/>
          </a:bodyPr>
          <a:lstStyle/>
          <a:p>
            <a:pPr marL="342900" indent="-342900" algn="ctr" fontAlgn="auto">
              <a:lnSpc>
                <a:spcPct val="150000"/>
              </a:lnSpc>
              <a:spcBef>
                <a:spcPts val="200"/>
              </a:spcBef>
              <a:spcAft>
                <a:spcPts val="0"/>
              </a:spcAft>
              <a:defRPr/>
            </a:pPr>
            <a:r>
              <a:rPr kumimoji="0" lang="en-US" altLang="ko-KR" b="1" dirty="0" err="1">
                <a:solidFill>
                  <a:schemeClr val="tx1">
                    <a:lumMod val="75000"/>
                    <a:lumOff val="25000"/>
                  </a:schemeClr>
                </a:solidFill>
                <a:latin typeface="arial" pitchFamily="34" charset="0"/>
                <a:ea typeface="맑은 고딕" pitchFamily="50" charset="-127"/>
              </a:rPr>
              <a:t>Kiểm</a:t>
            </a:r>
            <a:r>
              <a:rPr kumimoji="0" lang="en-US" altLang="ko-KR" b="1" dirty="0">
                <a:solidFill>
                  <a:schemeClr val="tx1">
                    <a:lumMod val="75000"/>
                    <a:lumOff val="25000"/>
                  </a:schemeClr>
                </a:solidFill>
                <a:latin typeface="arial" pitchFamily="34" charset="0"/>
                <a:ea typeface="맑은 고딕" pitchFamily="50" charset="-127"/>
              </a:rPr>
              <a:t> </a:t>
            </a:r>
            <a:r>
              <a:rPr kumimoji="0" lang="en-US" altLang="ko-KR" b="1" dirty="0" err="1">
                <a:solidFill>
                  <a:schemeClr val="tx1">
                    <a:lumMod val="75000"/>
                    <a:lumOff val="25000"/>
                  </a:schemeClr>
                </a:solidFill>
                <a:latin typeface="arial" pitchFamily="34" charset="0"/>
                <a:ea typeface="맑은 고딕" pitchFamily="50" charset="-127"/>
              </a:rPr>
              <a:t>định</a:t>
            </a:r>
            <a:r>
              <a:rPr kumimoji="0" lang="en-US" altLang="ko-KR" b="1" dirty="0">
                <a:solidFill>
                  <a:schemeClr val="tx1">
                    <a:lumMod val="75000"/>
                    <a:lumOff val="25000"/>
                  </a:schemeClr>
                </a:solidFill>
                <a:latin typeface="arial" pitchFamily="34" charset="0"/>
                <a:ea typeface="맑은 고딕" pitchFamily="50" charset="-127"/>
              </a:rPr>
              <a:t> </a:t>
            </a:r>
            <a:r>
              <a:rPr kumimoji="0" lang="en-US" altLang="ko-KR" b="1" dirty="0" err="1">
                <a:solidFill>
                  <a:schemeClr val="tx1">
                    <a:lumMod val="75000"/>
                    <a:lumOff val="25000"/>
                  </a:schemeClr>
                </a:solidFill>
                <a:latin typeface="arial" pitchFamily="34" charset="0"/>
                <a:ea typeface="맑은 고딕" pitchFamily="50" charset="-127"/>
              </a:rPr>
              <a:t>giả</a:t>
            </a:r>
            <a:r>
              <a:rPr kumimoji="0" lang="en-US" altLang="ko-KR" b="1" dirty="0">
                <a:solidFill>
                  <a:schemeClr val="tx1">
                    <a:lumMod val="75000"/>
                    <a:lumOff val="25000"/>
                  </a:schemeClr>
                </a:solidFill>
                <a:latin typeface="arial" pitchFamily="34" charset="0"/>
                <a:ea typeface="맑은 고딕" pitchFamily="50" charset="-127"/>
              </a:rPr>
              <a:t> </a:t>
            </a:r>
            <a:r>
              <a:rPr kumimoji="0" lang="en-US" altLang="ko-KR" b="1" dirty="0" err="1">
                <a:solidFill>
                  <a:schemeClr val="tx1">
                    <a:lumMod val="75000"/>
                    <a:lumOff val="25000"/>
                  </a:schemeClr>
                </a:solidFill>
                <a:latin typeface="arial" pitchFamily="34" charset="0"/>
                <a:ea typeface="맑은 고딕" pitchFamily="50" charset="-127"/>
              </a:rPr>
              <a:t>thuyết</a:t>
            </a:r>
            <a:endParaRPr kumimoji="0" lang="en-US" altLang="ko-KR" b="1" dirty="0">
              <a:solidFill>
                <a:schemeClr val="tx1">
                  <a:lumMod val="75000"/>
                  <a:lumOff val="25000"/>
                </a:schemeClr>
              </a:solidFill>
              <a:latin typeface="arial" pitchFamily="34" charset="0"/>
              <a:ea typeface="맑은 고딕" pitchFamily="50" charset="-127"/>
            </a:endParaRPr>
          </a:p>
        </p:txBody>
      </p:sp>
      <p:cxnSp>
        <p:nvCxnSpPr>
          <p:cNvPr id="5" name="직선 연결선 4"/>
          <p:cNvCxnSpPr/>
          <p:nvPr/>
        </p:nvCxnSpPr>
        <p:spPr>
          <a:xfrm>
            <a:off x="2300288" y="2852936"/>
            <a:ext cx="5227637"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 name="직선 연결선 5"/>
          <p:cNvCxnSpPr/>
          <p:nvPr/>
        </p:nvCxnSpPr>
        <p:spPr>
          <a:xfrm>
            <a:off x="2300288" y="4897636"/>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300288" y="2925961"/>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8" name="슬라이드 번호 개체 틀 7"/>
          <p:cNvSpPr>
            <a:spLocks noGrp="1"/>
          </p:cNvSpPr>
          <p:nvPr>
            <p:ph type="sldNum" sz="quarter" idx="4"/>
          </p:nvPr>
        </p:nvSpPr>
        <p:spPr/>
        <p:txBody>
          <a:bodyPr/>
          <a:lstStyle/>
          <a:p>
            <a:pPr>
              <a:defRPr/>
            </a:pPr>
            <a:fld id="{BA3A7022-CBD4-4A06-BAFB-3534D8B9DC6A}" type="slidenum">
              <a:rPr lang="ko-KR" altLang="en-US" smtClean="0"/>
              <a:pPr>
                <a:defRPr/>
              </a:pPr>
              <a:t>157</a:t>
            </a:fld>
            <a:endParaRPr lang="ko-KR" altLang="en-US" dirty="0"/>
          </a:p>
        </p:txBody>
      </p:sp>
    </p:spTree>
    <p:extLst>
      <p:ext uri="{BB962C8B-B14F-4D97-AF65-F5344CB8AC3E}">
        <p14:creationId xmlns:p14="http://schemas.microsoft.com/office/powerpoint/2010/main" val="144861761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TextBox 2"/>
          <p:cNvSpPr txBox="1">
            <a:spLocks noChangeArrowheads="1"/>
          </p:cNvSpPr>
          <p:nvPr/>
        </p:nvSpPr>
        <p:spPr bwMode="auto">
          <a:xfrm>
            <a:off x="128588" y="260350"/>
            <a:ext cx="2464136" cy="450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2000" b="1" dirty="0" err="1">
                <a:latin typeface="arial" pitchFamily="34" charset="0"/>
                <a:ea typeface="맑은 고딕" pitchFamily="50" charset="-127"/>
              </a:rPr>
              <a:t>Đôi</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điều</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suy</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ngẫm</a:t>
            </a:r>
            <a:endParaRPr lang="ko-KR" altLang="en-US" sz="2000" b="1" dirty="0">
              <a:latin typeface="arial" pitchFamily="34" charset="0"/>
              <a:ea typeface="맑은 고딕" pitchFamily="50" charset="-127"/>
            </a:endParaRPr>
          </a:p>
        </p:txBody>
      </p:sp>
      <p:sp>
        <p:nvSpPr>
          <p:cNvPr id="4" name="타원 3"/>
          <p:cNvSpPr/>
          <p:nvPr/>
        </p:nvSpPr>
        <p:spPr>
          <a:xfrm>
            <a:off x="416497" y="4087470"/>
            <a:ext cx="1152524" cy="1128395"/>
          </a:xfrm>
          <a:prstGeom prst="ellipse">
            <a:avLst/>
          </a:prstGeom>
          <a:solidFill>
            <a:schemeClr val="tx1">
              <a:lumMod val="75000"/>
              <a:lumOff val="2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600" b="1" dirty="0" err="1">
                <a:latin typeface="arial" pitchFamily="34" charset="0"/>
              </a:rPr>
              <a:t>Thống</a:t>
            </a:r>
            <a:r>
              <a:rPr lang="en-US" altLang="ko-KR" sz="1600" b="1" dirty="0">
                <a:latin typeface="arial" pitchFamily="34" charset="0"/>
              </a:rPr>
              <a:t> </a:t>
            </a:r>
            <a:r>
              <a:rPr lang="en-US" altLang="ko-KR" sz="1600" b="1" dirty="0" err="1">
                <a:latin typeface="arial" pitchFamily="34" charset="0"/>
              </a:rPr>
              <a:t>kê</a:t>
            </a:r>
            <a:endParaRPr lang="ko-KR" altLang="en-US" sz="1600" b="1" dirty="0">
              <a:latin typeface="arial" pitchFamily="34" charset="0"/>
            </a:endParaRPr>
          </a:p>
        </p:txBody>
      </p:sp>
      <p:sp>
        <p:nvSpPr>
          <p:cNvPr id="5" name="모서리가 둥근 직사각형 4"/>
          <p:cNvSpPr/>
          <p:nvPr/>
        </p:nvSpPr>
        <p:spPr>
          <a:xfrm>
            <a:off x="2288157" y="3640430"/>
            <a:ext cx="1944688" cy="720725"/>
          </a:xfrm>
          <a:prstGeom prst="round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marL="0" lvl="1" indent="-165100" algn="ctr">
              <a:spcBef>
                <a:spcPct val="20000"/>
              </a:spcBef>
              <a:buSzPct val="75000"/>
              <a:defRPr/>
            </a:pPr>
            <a:r>
              <a:rPr lang="en-US" altLang="ko-KR" sz="1400" b="1" kern="0" dirty="0" err="1">
                <a:solidFill>
                  <a:prstClr val="black"/>
                </a:solidFill>
                <a:latin typeface="arial" pitchFamily="34" charset="0"/>
                <a:cs typeface="Arial" charset="0"/>
              </a:rPr>
              <a:t>Thống</a:t>
            </a:r>
            <a:r>
              <a:rPr lang="en-US" altLang="ko-KR" sz="1400" b="1" kern="0" dirty="0">
                <a:solidFill>
                  <a:prstClr val="black"/>
                </a:solidFill>
                <a:latin typeface="arial" pitchFamily="34" charset="0"/>
                <a:cs typeface="Arial" charset="0"/>
              </a:rPr>
              <a:t> </a:t>
            </a:r>
            <a:r>
              <a:rPr lang="en-US" altLang="ko-KR" sz="1400" b="1" kern="0" dirty="0" err="1">
                <a:solidFill>
                  <a:prstClr val="black"/>
                </a:solidFill>
                <a:latin typeface="arial" pitchFamily="34" charset="0"/>
                <a:cs typeface="Arial" charset="0"/>
              </a:rPr>
              <a:t>kê</a:t>
            </a:r>
            <a:r>
              <a:rPr lang="en-US" altLang="ko-KR" sz="1400" b="1" kern="0" dirty="0">
                <a:solidFill>
                  <a:prstClr val="black"/>
                </a:solidFill>
                <a:latin typeface="arial" pitchFamily="34" charset="0"/>
                <a:cs typeface="Arial" charset="0"/>
              </a:rPr>
              <a:t> </a:t>
            </a:r>
            <a:r>
              <a:rPr lang="en-US" altLang="ko-KR" sz="1400" b="1" kern="0" dirty="0" err="1">
                <a:solidFill>
                  <a:prstClr val="black"/>
                </a:solidFill>
                <a:latin typeface="arial" pitchFamily="34" charset="0"/>
                <a:cs typeface="Arial" charset="0"/>
              </a:rPr>
              <a:t>mô</a:t>
            </a:r>
            <a:r>
              <a:rPr lang="en-US" altLang="ko-KR" sz="1400" b="1" kern="0" dirty="0">
                <a:solidFill>
                  <a:prstClr val="black"/>
                </a:solidFill>
                <a:latin typeface="arial" pitchFamily="34" charset="0"/>
                <a:cs typeface="Arial" charset="0"/>
              </a:rPr>
              <a:t> </a:t>
            </a:r>
            <a:r>
              <a:rPr lang="en-US" altLang="ko-KR" sz="1400" b="1" kern="0" dirty="0" err="1">
                <a:solidFill>
                  <a:prstClr val="black"/>
                </a:solidFill>
                <a:latin typeface="arial" pitchFamily="34" charset="0"/>
                <a:cs typeface="Arial" charset="0"/>
              </a:rPr>
              <a:t>tả</a:t>
            </a:r>
            <a:endParaRPr lang="en-US" altLang="ko-KR" sz="1400" b="1" kern="0" dirty="0">
              <a:solidFill>
                <a:prstClr val="black"/>
              </a:solidFill>
              <a:latin typeface="arial" pitchFamily="34" charset="0"/>
              <a:cs typeface="Arial" charset="0"/>
            </a:endParaRPr>
          </a:p>
        </p:txBody>
      </p:sp>
      <p:sp>
        <p:nvSpPr>
          <p:cNvPr id="7" name="모서리가 둥근 직사각형 6"/>
          <p:cNvSpPr/>
          <p:nvPr/>
        </p:nvSpPr>
        <p:spPr>
          <a:xfrm>
            <a:off x="2288157" y="4942180"/>
            <a:ext cx="1944688" cy="720725"/>
          </a:xfrm>
          <a:prstGeom prst="round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marL="0" lvl="1" algn="ctr">
              <a:spcBef>
                <a:spcPct val="20000"/>
              </a:spcBef>
              <a:buSzPct val="75000"/>
              <a:defRPr/>
            </a:pPr>
            <a:r>
              <a:rPr lang="en-US" altLang="ko-KR" sz="1400" b="1" kern="0" dirty="0" err="1">
                <a:solidFill>
                  <a:prstClr val="black"/>
                </a:solidFill>
                <a:latin typeface="arial" pitchFamily="34" charset="0"/>
                <a:cs typeface="Arial" charset="0"/>
              </a:rPr>
              <a:t>Thống</a:t>
            </a:r>
            <a:r>
              <a:rPr lang="en-US" altLang="ko-KR" sz="1400" b="1" kern="0" dirty="0">
                <a:solidFill>
                  <a:prstClr val="black"/>
                </a:solidFill>
                <a:latin typeface="arial" pitchFamily="34" charset="0"/>
                <a:cs typeface="Arial" charset="0"/>
              </a:rPr>
              <a:t> </a:t>
            </a:r>
            <a:r>
              <a:rPr lang="en-US" altLang="ko-KR" sz="1400" b="1" kern="0" dirty="0" err="1">
                <a:solidFill>
                  <a:prstClr val="black"/>
                </a:solidFill>
                <a:latin typeface="arial" pitchFamily="34" charset="0"/>
                <a:cs typeface="Arial" charset="0"/>
              </a:rPr>
              <a:t>kê</a:t>
            </a:r>
            <a:r>
              <a:rPr lang="en-US" altLang="ko-KR" sz="1400" b="1" kern="0" dirty="0">
                <a:solidFill>
                  <a:prstClr val="black"/>
                </a:solidFill>
                <a:latin typeface="arial" pitchFamily="34" charset="0"/>
                <a:cs typeface="Arial" charset="0"/>
              </a:rPr>
              <a:t> </a:t>
            </a:r>
            <a:r>
              <a:rPr lang="en-US" altLang="ko-KR" sz="1400" b="1" kern="0" dirty="0" err="1">
                <a:solidFill>
                  <a:prstClr val="black"/>
                </a:solidFill>
                <a:latin typeface="arial" pitchFamily="34" charset="0"/>
                <a:cs typeface="Arial" charset="0"/>
              </a:rPr>
              <a:t>suy</a:t>
            </a:r>
            <a:r>
              <a:rPr lang="en-US" altLang="ko-KR" sz="1400" b="1" kern="0" dirty="0">
                <a:solidFill>
                  <a:prstClr val="black"/>
                </a:solidFill>
                <a:latin typeface="arial" pitchFamily="34" charset="0"/>
                <a:cs typeface="Arial" charset="0"/>
              </a:rPr>
              <a:t> </a:t>
            </a:r>
            <a:r>
              <a:rPr lang="en-US" altLang="ko-KR" sz="1400" b="1" kern="0" dirty="0" err="1">
                <a:solidFill>
                  <a:prstClr val="black"/>
                </a:solidFill>
                <a:latin typeface="arial" pitchFamily="34" charset="0"/>
                <a:cs typeface="Arial" charset="0"/>
              </a:rPr>
              <a:t>luận</a:t>
            </a:r>
            <a:endParaRPr lang="en-US" altLang="ko-KR" sz="1400" b="1" kern="0" dirty="0">
              <a:solidFill>
                <a:prstClr val="black"/>
              </a:solidFill>
              <a:latin typeface="arial" pitchFamily="34" charset="0"/>
              <a:cs typeface="Arial" charset="0"/>
            </a:endParaRPr>
          </a:p>
        </p:txBody>
      </p:sp>
      <p:sp>
        <p:nvSpPr>
          <p:cNvPr id="186374" name="직사각형 8"/>
          <p:cNvSpPr>
            <a:spLocks noChangeArrowheads="1"/>
          </p:cNvSpPr>
          <p:nvPr/>
        </p:nvSpPr>
        <p:spPr bwMode="auto">
          <a:xfrm>
            <a:off x="4304282" y="3629317"/>
            <a:ext cx="27368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lvl="2">
              <a:spcBef>
                <a:spcPct val="20000"/>
              </a:spcBef>
              <a:buSzPct val="75000"/>
            </a:pPr>
            <a:r>
              <a:rPr lang="en-US" altLang="ko-KR" sz="1200" dirty="0" err="1">
                <a:solidFill>
                  <a:srgbClr val="000000"/>
                </a:solidFill>
                <a:latin typeface="arial" pitchFamily="34" charset="0"/>
                <a:ea typeface="맑은 고딕" pitchFamily="50" charset="-127"/>
                <a:cs typeface="Arial" pitchFamily="34" charset="0"/>
              </a:rPr>
              <a:t>Thống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kê</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bằng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pháp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giải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thích</a:t>
            </a:r>
            <a:r>
              <a:rPr lang="en-US" altLang="ko-KR" sz="1200" dirty="0">
                <a:solidFill>
                  <a:srgbClr val="000000"/>
                </a:solidFill>
                <a:latin typeface="arial" pitchFamily="34" charset="0"/>
                <a:ea typeface="맑은 고딕" pitchFamily="50" charset="-127"/>
                <a:cs typeface="Arial" pitchFamily="34" charset="0"/>
              </a:rPr>
              <a:t> / </a:t>
            </a:r>
            <a:r>
              <a:rPr lang="en-US" altLang="ko-KR" sz="1200" dirty="0" err="1">
                <a:solidFill>
                  <a:srgbClr val="000000"/>
                </a:solidFill>
                <a:latin typeface="arial" pitchFamily="34" charset="0"/>
                <a:ea typeface="맑은 고딕" pitchFamily="50" charset="-127"/>
                <a:cs typeface="Arial" pitchFamily="34" charset="0"/>
              </a:rPr>
              <a:t>tóm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tắt</a:t>
            </a:r>
            <a:r>
              <a:rPr lang="en-US" altLang="ko-KR" sz="1200" dirty="0">
                <a:solidFill>
                  <a:srgbClr val="000000"/>
                </a:solidFill>
                <a:latin typeface="arial" pitchFamily="34" charset="0"/>
                <a:ea typeface="맑은 고딕" pitchFamily="50" charset="-127"/>
                <a:cs typeface="Arial" pitchFamily="34" charset="0"/>
              </a:rPr>
              <a:t> / </a:t>
            </a:r>
            <a:r>
              <a:rPr lang="en-US" altLang="ko-KR" sz="1200" dirty="0" err="1">
                <a:solidFill>
                  <a:srgbClr val="000000"/>
                </a:solidFill>
                <a:latin typeface="arial" pitchFamily="34" charset="0"/>
                <a:ea typeface="맑은 고딕" pitchFamily="50" charset="-127"/>
                <a:cs typeface="Arial" pitchFamily="34" charset="0"/>
              </a:rPr>
              <a:t>mô</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tả</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dữ</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liệu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pháp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lượng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hóa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đồ</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thị</a:t>
            </a:r>
            <a:r>
              <a:rPr lang="en-US" altLang="ko-KR" sz="1200" dirty="0">
                <a:solidFill>
                  <a:srgbClr val="000000"/>
                </a:solidFill>
                <a:latin typeface="arial" pitchFamily="34" charset="0"/>
                <a:ea typeface="맑은 고딕" pitchFamily="50" charset="-127"/>
                <a:cs typeface="Arial" pitchFamily="34" charset="0"/>
              </a:rPr>
              <a:t>)</a:t>
            </a:r>
          </a:p>
        </p:txBody>
      </p:sp>
      <p:sp>
        <p:nvSpPr>
          <p:cNvPr id="186375" name="직사각형 9"/>
          <p:cNvSpPr>
            <a:spLocks noChangeArrowheads="1"/>
          </p:cNvSpPr>
          <p:nvPr/>
        </p:nvSpPr>
        <p:spPr bwMode="auto">
          <a:xfrm>
            <a:off x="4304282" y="4892967"/>
            <a:ext cx="27368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lvl="2">
              <a:spcBef>
                <a:spcPct val="20000"/>
              </a:spcBef>
              <a:buSzPct val="75000"/>
            </a:pPr>
            <a:r>
              <a:rPr lang="vi-VN" altLang="ko-KR" sz="1200" dirty="0">
                <a:solidFill>
                  <a:srgbClr val="000000"/>
                </a:solidFill>
                <a:latin typeface="arial" pitchFamily="34" charset="0"/>
                <a:ea typeface="맑은 고딕" pitchFamily="50" charset="-127"/>
                <a:cs typeface="Arial" pitchFamily="34" charset="0"/>
              </a:rPr>
              <a:t>Thống kê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thực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hiện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mà</a:t>
            </a:r>
            <a:r>
              <a:rPr lang="en-US" altLang="ko-KR" sz="1200" dirty="0">
                <a:solidFill>
                  <a:srgbClr val="000000"/>
                </a:solidFill>
                <a:latin typeface="arial" pitchFamily="34" charset="0"/>
                <a:ea typeface="맑은 고딕" pitchFamily="50" charset="-127"/>
                <a:cs typeface="Arial" pitchFamily="34" charset="0"/>
              </a:rPr>
              <a:t> qua </a:t>
            </a:r>
            <a:r>
              <a:rPr lang="vi-VN" altLang="ko-KR" sz="1200" dirty="0">
                <a:solidFill>
                  <a:srgbClr val="000000"/>
                </a:solidFill>
                <a:latin typeface="arial" pitchFamily="34" charset="0"/>
                <a:ea typeface="맑은 고딕" pitchFamily="50" charset="-127"/>
                <a:cs typeface="Arial" pitchFamily="34" charset="0"/>
              </a:rPr>
              <a:t>đó rút ra kết luận về đặc điểm </a:t>
            </a:r>
            <a:r>
              <a:rPr lang="en-US" altLang="ko-KR" sz="1200" dirty="0" err="1">
                <a:solidFill>
                  <a:srgbClr val="000000"/>
                </a:solidFill>
                <a:latin typeface="arial" pitchFamily="34" charset="0"/>
                <a:ea typeface="맑은 고딕" pitchFamily="50" charset="-127"/>
                <a:cs typeface="Arial" pitchFamily="34" charset="0"/>
              </a:rPr>
              <a:t>tổng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thể</a:t>
            </a:r>
            <a:r>
              <a:rPr lang="vi-VN" altLang="ko-KR" sz="1200" dirty="0">
                <a:solidFill>
                  <a:srgbClr val="000000"/>
                </a:solidFill>
                <a:latin typeface="arial" pitchFamily="34" charset="0"/>
                <a:ea typeface="맑은 고딕" pitchFamily="50" charset="-127"/>
                <a:cs typeface="Arial" pitchFamily="34" charset="0"/>
              </a:rPr>
              <a:t> từ dữ liệu mẫu. Dựa trên thống kê suy luận, một loạt các quyết định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về</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tổng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thể</a:t>
            </a:r>
            <a:r>
              <a:rPr lang="vi-VN" altLang="ko-KR" sz="1200" dirty="0">
                <a:solidFill>
                  <a:srgbClr val="000000"/>
                </a:solidFill>
                <a:latin typeface="arial" pitchFamily="34" charset="0"/>
                <a:ea typeface="맑은 고딕" pitchFamily="50" charset="-127"/>
                <a:cs typeface="Arial" pitchFamily="34" charset="0"/>
              </a:rPr>
              <a:t> có thể được thực hiệ</a:t>
            </a:r>
            <a:r>
              <a:rPr lang="en-US" altLang="ko-KR" sz="1200" dirty="0">
                <a:solidFill>
                  <a:srgbClr val="000000"/>
                </a:solidFill>
                <a:latin typeface="arial" pitchFamily="34" charset="0"/>
                <a:ea typeface="맑은 고딕" pitchFamily="50" charset="-127"/>
                <a:cs typeface="Arial" pitchFamily="34" charset="0"/>
              </a:rPr>
              <a:t>n</a:t>
            </a:r>
            <a:endParaRPr lang="vi-VN" altLang="ko-KR" sz="1200" dirty="0">
              <a:solidFill>
                <a:srgbClr val="000000"/>
              </a:solidFill>
              <a:latin typeface="arial" pitchFamily="34" charset="0"/>
              <a:ea typeface="맑은 고딕" pitchFamily="50" charset="-127"/>
              <a:cs typeface="Arial" pitchFamily="34" charset="0"/>
            </a:endParaRPr>
          </a:p>
        </p:txBody>
      </p:sp>
      <p:sp>
        <p:nvSpPr>
          <p:cNvPr id="186376" name="직사각형 10"/>
          <p:cNvSpPr>
            <a:spLocks noChangeArrowheads="1"/>
          </p:cNvSpPr>
          <p:nvPr/>
        </p:nvSpPr>
        <p:spPr bwMode="auto">
          <a:xfrm>
            <a:off x="7041132" y="3740442"/>
            <a:ext cx="2592388" cy="66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lvl="2">
              <a:spcBef>
                <a:spcPct val="20000"/>
              </a:spcBef>
              <a:buSzPct val="75000"/>
              <a:buFont typeface="Arial" pitchFamily="34" charset="0"/>
              <a:buChar char="•"/>
            </a:pPr>
            <a:r>
              <a:rPr lang="ko-KR" altLang="en-US"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Tóm</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tắt</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dữ</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liệu</a:t>
            </a:r>
            <a:endParaRPr lang="en-US" altLang="ko-KR" sz="1100" b="1" dirty="0">
              <a:solidFill>
                <a:srgbClr val="000000"/>
              </a:solidFill>
              <a:latin typeface="arial" pitchFamily="34" charset="0"/>
              <a:ea typeface="맑은 고딕" pitchFamily="50" charset="-127"/>
              <a:cs typeface="Arial" pitchFamily="34" charset="0"/>
            </a:endParaRPr>
          </a:p>
          <a:p>
            <a:pPr marL="0" lvl="2">
              <a:spcBef>
                <a:spcPct val="20000"/>
              </a:spcBef>
              <a:buSzPct val="75000"/>
            </a:pP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Tổng</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trung</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bình</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phân</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phối</a:t>
            </a:r>
            <a:r>
              <a:rPr lang="en-US" altLang="ko-KR" sz="1100" b="1" dirty="0">
                <a:solidFill>
                  <a:srgbClr val="000000"/>
                </a:solidFill>
                <a:latin typeface="arial" pitchFamily="34" charset="0"/>
                <a:ea typeface="맑은 고딕" pitchFamily="50" charset="-127"/>
                <a:cs typeface="Arial" pitchFamily="34" charset="0"/>
              </a:rPr>
              <a:t>..)</a:t>
            </a:r>
          </a:p>
          <a:p>
            <a:pPr marL="0" lvl="2">
              <a:spcBef>
                <a:spcPct val="20000"/>
              </a:spcBef>
              <a:buSzPct val="75000"/>
              <a:buFont typeface="Arial" pitchFamily="34" charset="0"/>
              <a:buChar char="•"/>
            </a:pP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Phân</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tích</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đồ</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thị</a:t>
            </a:r>
            <a:endParaRPr lang="en-US" altLang="ko-KR" sz="1100" b="1" dirty="0">
              <a:solidFill>
                <a:srgbClr val="000000"/>
              </a:solidFill>
              <a:latin typeface="arial" pitchFamily="34" charset="0"/>
              <a:ea typeface="맑은 고딕" pitchFamily="50" charset="-127"/>
              <a:cs typeface="Arial" pitchFamily="34" charset="0"/>
            </a:endParaRPr>
          </a:p>
        </p:txBody>
      </p:sp>
      <p:sp>
        <p:nvSpPr>
          <p:cNvPr id="186377" name="직사각형 10"/>
          <p:cNvSpPr>
            <a:spLocks noChangeArrowheads="1"/>
          </p:cNvSpPr>
          <p:nvPr/>
        </p:nvSpPr>
        <p:spPr bwMode="auto">
          <a:xfrm>
            <a:off x="7041132" y="4970755"/>
            <a:ext cx="2520950" cy="464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lvl="2">
              <a:spcBef>
                <a:spcPct val="20000"/>
              </a:spcBef>
              <a:buSzPct val="75000"/>
              <a:buFont typeface="Arial" pitchFamily="34" charset="0"/>
              <a:buChar char="•"/>
            </a:pP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Xác</a:t>
            </a:r>
            <a:r>
              <a:rPr lang="en-US" altLang="ko-KR" sz="1100" b="1" dirty="0">
                <a:solidFill>
                  <a:srgbClr val="000000"/>
                </a:solidFill>
                <a:latin typeface="arial" pitchFamily="34" charset="0"/>
                <a:ea typeface="맑은 고딕" pitchFamily="50" charset="-127"/>
                <a:cs typeface="Arial" pitchFamily="34" charset="0"/>
              </a:rPr>
              <a:t> minh </a:t>
            </a:r>
            <a:r>
              <a:rPr lang="en-US" altLang="ko-KR" sz="1100" b="1" dirty="0" err="1">
                <a:solidFill>
                  <a:srgbClr val="000000"/>
                </a:solidFill>
                <a:latin typeface="arial" pitchFamily="34" charset="0"/>
                <a:ea typeface="맑은 고딕" pitchFamily="50" charset="-127"/>
                <a:cs typeface="Arial" pitchFamily="34" charset="0"/>
              </a:rPr>
              <a:t>giả</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thuyết</a:t>
            </a:r>
            <a:endParaRPr lang="en-US" altLang="ko-KR" sz="1100" b="1" dirty="0">
              <a:solidFill>
                <a:srgbClr val="000000"/>
              </a:solidFill>
              <a:latin typeface="arial" pitchFamily="34" charset="0"/>
              <a:ea typeface="맑은 고딕" pitchFamily="50" charset="-127"/>
              <a:cs typeface="Arial" pitchFamily="34" charset="0"/>
            </a:endParaRPr>
          </a:p>
          <a:p>
            <a:pPr marL="0" lvl="2">
              <a:spcBef>
                <a:spcPct val="20000"/>
              </a:spcBef>
              <a:buSzPct val="75000"/>
              <a:buFont typeface="Arial" pitchFamily="34" charset="0"/>
              <a:buChar char="•"/>
            </a:pP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Dự</a:t>
            </a:r>
            <a:r>
              <a:rPr lang="en-US" altLang="ko-KR" sz="1100" b="1" dirty="0">
                <a:solidFill>
                  <a:srgbClr val="000000"/>
                </a:solidFill>
                <a:latin typeface="arial" pitchFamily="34" charset="0"/>
                <a:ea typeface="맑은 고딕" pitchFamily="50" charset="-127"/>
                <a:cs typeface="Arial" pitchFamily="34" charset="0"/>
              </a:rPr>
              <a:t> </a:t>
            </a:r>
            <a:r>
              <a:rPr lang="en-US" altLang="ko-KR" sz="1100" b="1" dirty="0" err="1">
                <a:solidFill>
                  <a:srgbClr val="000000"/>
                </a:solidFill>
                <a:latin typeface="arial" pitchFamily="34" charset="0"/>
                <a:ea typeface="맑은 고딕" pitchFamily="50" charset="-127"/>
                <a:cs typeface="Arial" pitchFamily="34" charset="0"/>
              </a:rPr>
              <a:t>đoán</a:t>
            </a:r>
            <a:endParaRPr lang="en-US" altLang="ko-KR" sz="1100" b="1" dirty="0">
              <a:solidFill>
                <a:srgbClr val="000000"/>
              </a:solidFill>
              <a:latin typeface="arial" pitchFamily="34" charset="0"/>
              <a:ea typeface="맑은 고딕" pitchFamily="50" charset="-127"/>
              <a:cs typeface="Arial" pitchFamily="34" charset="0"/>
            </a:endParaRPr>
          </a:p>
        </p:txBody>
      </p:sp>
      <p:cxnSp>
        <p:nvCxnSpPr>
          <p:cNvPr id="13" name="꺾인 연결선 12"/>
          <p:cNvCxnSpPr>
            <a:stCxn id="4" idx="6"/>
            <a:endCxn id="5" idx="1"/>
          </p:cNvCxnSpPr>
          <p:nvPr/>
        </p:nvCxnSpPr>
        <p:spPr>
          <a:xfrm flipV="1">
            <a:off x="1569021" y="4000793"/>
            <a:ext cx="719136" cy="65087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4" idx="6"/>
            <a:endCxn id="7" idx="1"/>
          </p:cNvCxnSpPr>
          <p:nvPr/>
        </p:nvCxnSpPr>
        <p:spPr>
          <a:xfrm>
            <a:off x="1569021" y="4651668"/>
            <a:ext cx="719136" cy="65087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직사각형 18"/>
          <p:cNvSpPr/>
          <p:nvPr/>
        </p:nvSpPr>
        <p:spPr>
          <a:xfrm>
            <a:off x="236538" y="908720"/>
            <a:ext cx="9432925" cy="1296988"/>
          </a:xfrm>
          <a:prstGeom prst="rect">
            <a:avLst/>
          </a:prstGeom>
          <a:solidFill>
            <a:srgbClr val="CCE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86381" name="Text Box 67"/>
          <p:cNvSpPr txBox="1">
            <a:spLocks noChangeArrowheads="1"/>
          </p:cNvSpPr>
          <p:nvPr/>
        </p:nvSpPr>
        <p:spPr bwMode="auto">
          <a:xfrm>
            <a:off x="272480" y="899399"/>
            <a:ext cx="3816350" cy="127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vi-VN" altLang="ko-KR" sz="1100" dirty="0">
                <a:latin typeface="arial" pitchFamily="34" charset="0"/>
                <a:ea typeface="맑은 고딕" pitchFamily="50" charset="-127"/>
              </a:rPr>
              <a:t>Chiều dài của </a:t>
            </a:r>
            <a:r>
              <a:rPr lang="en-US" altLang="ko-KR" sz="1100" dirty="0" err="1">
                <a:latin typeface="arial" pitchFamily="34" charset="0"/>
                <a:ea typeface="맑은 고딕" pitchFamily="50" charset="-127"/>
              </a:rPr>
              <a:t>linh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kiện</a:t>
            </a:r>
            <a:r>
              <a:rPr lang="vi-VN" altLang="ko-KR" sz="1100" dirty="0">
                <a:latin typeface="arial" pitchFamily="34" charset="0"/>
                <a:ea typeface="맑은 고딕" pitchFamily="50" charset="-127"/>
              </a:rPr>
              <a:t> A được cho là gây ra </a:t>
            </a:r>
            <a:r>
              <a:rPr lang="en-US" altLang="ko-KR" sz="1100" dirty="0" err="1">
                <a:latin typeface="arial" pitchFamily="34" charset="0"/>
                <a:ea typeface="맑은 고딕" pitchFamily="50" charset="-127"/>
              </a:rPr>
              <a:t>lỗi</a:t>
            </a:r>
            <a:r>
              <a:rPr lang="vi-VN" altLang="ko-KR" sz="1100" dirty="0">
                <a:latin typeface="arial" pitchFamily="34" charset="0"/>
                <a:ea typeface="맑은 고딕" pitchFamily="50" charset="-127"/>
              </a:rPr>
              <a:t> trong </a:t>
            </a:r>
            <a:r>
              <a:rPr lang="en-US" altLang="ko-KR" sz="1100" dirty="0" err="1">
                <a:latin typeface="arial" pitchFamily="34" charset="0"/>
                <a:ea typeface="맑은 고딕" pitchFamily="50" charset="-127"/>
              </a:rPr>
              <a:t>thành</a:t>
            </a:r>
            <a:r>
              <a:rPr lang="vi-VN" altLang="ko-KR" sz="1100" dirty="0">
                <a:latin typeface="arial" pitchFamily="34" charset="0"/>
                <a:ea typeface="맑은 고딕" pitchFamily="50" charset="-127"/>
              </a:rPr>
              <a:t> phẩm.</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Người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tiến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hành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thập</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và</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đạc</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độ</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dài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của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linh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kiện</a:t>
            </a:r>
            <a:r>
              <a:rPr lang="en-US" altLang="ko-KR" sz="1100" dirty="0">
                <a:latin typeface="arial" pitchFamily="34" charset="0"/>
                <a:ea typeface="맑은 고딕" pitchFamily="50" charset="-127"/>
              </a:rPr>
              <a:t> A OK </a:t>
            </a:r>
            <a:r>
              <a:rPr lang="en-US" altLang="ko-KR" sz="1100" dirty="0" err="1">
                <a:latin typeface="arial" pitchFamily="34" charset="0"/>
                <a:ea typeface="맑은 고딕" pitchFamily="50" charset="-127"/>
              </a:rPr>
              <a:t>và</a:t>
            </a:r>
            <a:r>
              <a:rPr lang="en-US" altLang="ko-KR" sz="1100" dirty="0">
                <a:latin typeface="arial" pitchFamily="34" charset="0"/>
                <a:ea typeface="맑은 고딕" pitchFamily="50" charset="-127"/>
              </a:rPr>
              <a:t> NG.</a:t>
            </a:r>
            <a:r>
              <a:rPr lang="vi-VN" altLang="ko-KR" sz="1100" dirty="0">
                <a:latin typeface="arial" pitchFamily="34" charset="0"/>
                <a:ea typeface="맑은 고딕" pitchFamily="50" charset="-127"/>
              </a:rPr>
              <a:t> Các kết quả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đạc</a:t>
            </a:r>
            <a:r>
              <a:rPr lang="vi-VN" altLang="ko-KR" sz="1100" dirty="0">
                <a:latin typeface="arial" pitchFamily="34" charset="0"/>
                <a:ea typeface="맑은 고딕" pitchFamily="50" charset="-127"/>
              </a:rPr>
              <a:t> được trình bày trong bảng bên phải.</a:t>
            </a:r>
            <a:endParaRPr lang="en-US" altLang="ko-KR" sz="1100" dirty="0">
              <a:latin typeface="arial" pitchFamily="34" charset="0"/>
              <a:ea typeface="맑은 고딕" pitchFamily="50" charset="-127"/>
            </a:endParaRPr>
          </a:p>
          <a:p>
            <a:pPr eaLnBrk="1" hangingPunct="1"/>
            <a:br>
              <a:rPr lang="vi-VN" altLang="ko-KR" sz="1100" dirty="0">
                <a:latin typeface="arial" pitchFamily="34" charset="0"/>
                <a:ea typeface="맑은 고딕" pitchFamily="50" charset="-127"/>
              </a:rPr>
            </a:br>
            <a:r>
              <a:rPr lang="vi-VN" altLang="ko-KR" sz="1100" b="1" dirty="0">
                <a:latin typeface="arial" pitchFamily="34" charset="0"/>
                <a:ea typeface="맑은 고딕" pitchFamily="50" charset="-127"/>
              </a:rPr>
              <a:t>Có sự khác biệt </a:t>
            </a:r>
            <a:r>
              <a:rPr lang="en-US" altLang="ko-KR" sz="1100" b="1" dirty="0" err="1">
                <a:latin typeface="arial" pitchFamily="34" charset="0"/>
                <a:ea typeface="맑은 고딕" pitchFamily="50" charset="-127"/>
              </a:rPr>
              <a:t>nào</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về</a:t>
            </a:r>
            <a:r>
              <a:rPr lang="vi-VN" altLang="ko-KR" sz="1100" b="1" dirty="0">
                <a:latin typeface="arial" pitchFamily="34" charset="0"/>
                <a:ea typeface="맑은 고딕" pitchFamily="50" charset="-127"/>
              </a:rPr>
              <a:t> chiều dài của </a:t>
            </a:r>
            <a:r>
              <a:rPr lang="en-US" altLang="ko-KR" sz="1100" b="1" dirty="0" err="1">
                <a:latin typeface="arial" pitchFamily="34" charset="0"/>
                <a:ea typeface="맑은 고딕" pitchFamily="50" charset="-127"/>
              </a:rPr>
              <a:t>linh</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kiện</a:t>
            </a:r>
            <a:r>
              <a:rPr lang="vi-VN" altLang="ko-KR" sz="1100" b="1" dirty="0">
                <a:latin typeface="arial" pitchFamily="34" charset="0"/>
                <a:ea typeface="맑은 고딕" pitchFamily="50" charset="-127"/>
              </a:rPr>
              <a:t> A </a:t>
            </a:r>
            <a:r>
              <a:rPr lang="en-US" altLang="ko-KR" sz="1100" b="1" dirty="0">
                <a:latin typeface="arial" pitchFamily="34" charset="0"/>
                <a:ea typeface="맑은 고딕" pitchFamily="50" charset="-127"/>
              </a:rPr>
              <a:t>OK </a:t>
            </a:r>
            <a:r>
              <a:rPr lang="en-US" altLang="ko-KR" sz="1100" b="1" dirty="0" err="1">
                <a:latin typeface="arial" pitchFamily="34" charset="0"/>
                <a:ea typeface="맑은 고딕" pitchFamily="50" charset="-127"/>
              </a:rPr>
              <a:t>và</a:t>
            </a:r>
            <a:r>
              <a:rPr lang="en-US" altLang="ko-KR" sz="1100" b="1" dirty="0">
                <a:latin typeface="arial" pitchFamily="34" charset="0"/>
                <a:ea typeface="맑은 고딕" pitchFamily="50" charset="-127"/>
              </a:rPr>
              <a:t> NG hay </a:t>
            </a:r>
            <a:r>
              <a:rPr lang="en-US" altLang="ko-KR" sz="1100" b="1" dirty="0" err="1">
                <a:latin typeface="arial" pitchFamily="34" charset="0"/>
                <a:ea typeface="맑은 고딕" pitchFamily="50" charset="-127"/>
              </a:rPr>
              <a:t>không</a:t>
            </a:r>
            <a:r>
              <a:rPr lang="vi-VN" altLang="ko-KR" sz="1100" b="1" dirty="0">
                <a:latin typeface="arial" pitchFamily="34" charset="0"/>
                <a:ea typeface="맑은 고딕" pitchFamily="50" charset="-127"/>
              </a:rPr>
              <a:t>?</a:t>
            </a:r>
            <a:endParaRPr lang="ko-KR" altLang="en-US" sz="1100" b="1" dirty="0">
              <a:latin typeface="arial" pitchFamily="34" charset="0"/>
              <a:ea typeface="맑은 고딕" pitchFamily="50" charset="-127"/>
            </a:endParaRPr>
          </a:p>
        </p:txBody>
      </p:sp>
      <p:graphicFrame>
        <p:nvGraphicFramePr>
          <p:cNvPr id="22" name="Group 131"/>
          <p:cNvGraphicFramePr>
            <a:graphicFrameLocks noGrp="1"/>
          </p:cNvGraphicFramePr>
          <p:nvPr>
            <p:extLst>
              <p:ext uri="{D42A27DB-BD31-4B8C-83A1-F6EECF244321}">
                <p14:modId xmlns:p14="http://schemas.microsoft.com/office/powerpoint/2010/main" val="60139381"/>
              </p:ext>
            </p:extLst>
          </p:nvPr>
        </p:nvGraphicFramePr>
        <p:xfrm>
          <a:off x="4068763" y="1093788"/>
          <a:ext cx="5564187" cy="974732"/>
        </p:xfrm>
        <a:graphic>
          <a:graphicData uri="http://schemas.openxmlformats.org/drawingml/2006/table">
            <a:tbl>
              <a:tblPr/>
              <a:tblGrid>
                <a:gridCol w="812229">
                  <a:extLst>
                    <a:ext uri="{9D8B030D-6E8A-4147-A177-3AD203B41FA5}">
                      <a16:colId xmlns:a16="http://schemas.microsoft.com/office/drawing/2014/main" val="20000"/>
                    </a:ext>
                  </a:extLst>
                </a:gridCol>
                <a:gridCol w="3065079">
                  <a:extLst>
                    <a:ext uri="{9D8B030D-6E8A-4147-A177-3AD203B41FA5}">
                      <a16:colId xmlns:a16="http://schemas.microsoft.com/office/drawing/2014/main" val="20001"/>
                    </a:ext>
                  </a:extLst>
                </a:gridCol>
                <a:gridCol w="625793">
                  <a:extLst>
                    <a:ext uri="{9D8B030D-6E8A-4147-A177-3AD203B41FA5}">
                      <a16:colId xmlns:a16="http://schemas.microsoft.com/office/drawing/2014/main" val="20002"/>
                    </a:ext>
                  </a:extLst>
                </a:gridCol>
                <a:gridCol w="530543">
                  <a:extLst>
                    <a:ext uri="{9D8B030D-6E8A-4147-A177-3AD203B41FA5}">
                      <a16:colId xmlns:a16="http://schemas.microsoft.com/office/drawing/2014/main" val="20003"/>
                    </a:ext>
                  </a:extLst>
                </a:gridCol>
                <a:gridCol w="530543">
                  <a:extLst>
                    <a:ext uri="{9D8B030D-6E8A-4147-A177-3AD203B41FA5}">
                      <a16:colId xmlns:a16="http://schemas.microsoft.com/office/drawing/2014/main" val="20004"/>
                    </a:ext>
                  </a:extLst>
                </a:gridCol>
              </a:tblGrid>
              <a:tr h="274108">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Nhóm</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Kích</a:t>
                      </a: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 </a:t>
                      </a: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thước</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Trung</a:t>
                      </a: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 </a:t>
                      </a: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bình</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Min</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Max</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274108">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OK</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110, 108, 105, 102, 118, 101, 105, 110, 117</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108.4</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101</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118</a:t>
                      </a:r>
                    </a:p>
                  </a:txBody>
                  <a:tcPr marT="45618" marB="4561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74108">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NG</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105, 110, 113, 115, 108, 118, 109, 105, 120</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111.4</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105</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120</a:t>
                      </a:r>
                    </a:p>
                  </a:txBody>
                  <a:tcPr marT="45618" marB="4561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bl>
          </a:graphicData>
        </a:graphic>
      </p:graphicFrame>
      <p:sp>
        <p:nvSpPr>
          <p:cNvPr id="23" name="직사각형 22"/>
          <p:cNvSpPr/>
          <p:nvPr/>
        </p:nvSpPr>
        <p:spPr>
          <a:xfrm>
            <a:off x="236538" y="2420938"/>
            <a:ext cx="9432925" cy="647700"/>
          </a:xfrm>
          <a:prstGeom prst="rect">
            <a:avLst/>
          </a:prstGeom>
          <a:solidFill>
            <a:srgbClr val="CCE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86409" name="Text Box 67"/>
          <p:cNvSpPr txBox="1">
            <a:spLocks noChangeArrowheads="1"/>
          </p:cNvSpPr>
          <p:nvPr/>
        </p:nvSpPr>
        <p:spPr bwMode="auto">
          <a:xfrm>
            <a:off x="272257" y="2420888"/>
            <a:ext cx="9361487"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err="1">
                <a:latin typeface="arial" pitchFamily="34" charset="0"/>
                <a:ea typeface="맑은 고딕" pitchFamily="50" charset="-127"/>
              </a:rPr>
              <a:t>Báo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cáo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thấy</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có</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một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sự</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gia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tăng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đột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biến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về</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số</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lượng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sản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phẩm</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bán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ra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một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lỗi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điển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hình</a:t>
            </a:r>
            <a:r>
              <a:rPr lang="en-US" altLang="ko-KR" sz="1100" dirty="0">
                <a:latin typeface="arial" pitchFamily="34" charset="0"/>
                <a:ea typeface="맑은 고딕" pitchFamily="50" charset="-127"/>
              </a:rPr>
              <a:t>. Do </a:t>
            </a:r>
            <a:r>
              <a:rPr lang="en-US" altLang="ko-KR" sz="1100" dirty="0" err="1">
                <a:latin typeface="arial" pitchFamily="34" charset="0"/>
                <a:ea typeface="맑은 고딕" pitchFamily="50" charset="-127"/>
              </a:rPr>
              <a:t>đó</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người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tiến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hành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kiểm</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lại</a:t>
            </a:r>
            <a:r>
              <a:rPr lang="en-US" altLang="ko-KR" sz="1100" dirty="0">
                <a:latin typeface="arial" pitchFamily="34" charset="0"/>
                <a:ea typeface="맑은 고딕" pitchFamily="50" charset="-127"/>
              </a:rPr>
              <a:t> </a:t>
            </a:r>
            <a:r>
              <a:rPr lang="vi-VN" altLang="ko-KR" sz="1100" dirty="0">
                <a:latin typeface="arial" pitchFamily="34" charset="0"/>
                <a:ea typeface="맑은 고딕" pitchFamily="50" charset="-127"/>
              </a:rPr>
              <a:t>200 sản phẩm đang chờ</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xuất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kho</a:t>
            </a:r>
            <a:r>
              <a:rPr lang="en-US" altLang="ko-KR" sz="1100" dirty="0">
                <a:latin typeface="arial" pitchFamily="34" charset="0"/>
                <a:ea typeface="맑은 고딕" pitchFamily="50" charset="-127"/>
              </a:rPr>
              <a:t>,</a:t>
            </a:r>
            <a:r>
              <a:rPr lang="vi-VN" altLang="ko-KR" sz="1100" dirty="0">
                <a:latin typeface="arial" pitchFamily="34" charset="0"/>
                <a:ea typeface="맑은 고딕" pitchFamily="50" charset="-127"/>
              </a:rPr>
              <a:t> và phát hiện </a:t>
            </a:r>
            <a:r>
              <a:rPr lang="en-US" altLang="ko-KR" sz="1100" dirty="0" err="1">
                <a:latin typeface="arial" pitchFamily="34" charset="0"/>
                <a:ea typeface="맑은 고딕" pitchFamily="50" charset="-127"/>
              </a:rPr>
              <a:t>tỷ</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lệ</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lỗi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là</a:t>
            </a:r>
            <a:r>
              <a:rPr lang="vi-VN" altLang="ko-KR" sz="1100" dirty="0">
                <a:latin typeface="arial" pitchFamily="34" charset="0"/>
                <a:ea typeface="맑은 고딕" pitchFamily="50" charset="-127"/>
              </a:rPr>
              <a:t> 5000 ppm.</a:t>
            </a:r>
            <a:br>
              <a:rPr lang="vi-VN" altLang="ko-KR" sz="1100" dirty="0">
                <a:latin typeface="arial" pitchFamily="34" charset="0"/>
                <a:ea typeface="맑은 고딕" pitchFamily="50" charset="-127"/>
              </a:rPr>
            </a:br>
            <a:r>
              <a:rPr lang="en-US" altLang="ko-KR" sz="1100" b="1" dirty="0">
                <a:latin typeface="arial" pitchFamily="34" charset="0"/>
                <a:ea typeface="맑은 고딕" pitchFamily="50" charset="-127"/>
              </a:rPr>
              <a:t>C</a:t>
            </a:r>
            <a:r>
              <a:rPr lang="vi-VN" altLang="ko-KR" sz="1100" b="1" dirty="0">
                <a:latin typeface="arial" pitchFamily="34" charset="0"/>
                <a:ea typeface="맑은 고딕" pitchFamily="50" charset="-127"/>
              </a:rPr>
              <a:t>ó thể nói rằng </a:t>
            </a:r>
            <a:r>
              <a:rPr lang="en-US" altLang="ko-KR" sz="1100" b="1" dirty="0" err="1">
                <a:latin typeface="arial" pitchFamily="34" charset="0"/>
                <a:ea typeface="맑은 고딕" pitchFamily="50" charset="-127"/>
              </a:rPr>
              <a:t>tỷ</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lệ</a:t>
            </a:r>
            <a:r>
              <a:rPr lang="vi-VN"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lỗi</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trong</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tương</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lai</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sẽ</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là</a:t>
            </a:r>
            <a:r>
              <a:rPr lang="vi-VN" altLang="ko-KR" sz="1100" b="1" dirty="0">
                <a:latin typeface="arial" pitchFamily="34" charset="0"/>
                <a:ea typeface="맑은 고딕" pitchFamily="50" charset="-127"/>
              </a:rPr>
              <a:t> 5000 ppm?</a:t>
            </a:r>
            <a:endParaRPr lang="en-US" altLang="ko-KR" sz="11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158</a:t>
            </a:fld>
            <a:endParaRPr lang="ko-KR" altLang="en-US" dirty="0"/>
          </a:p>
        </p:txBody>
      </p:sp>
    </p:spTree>
    <p:extLst>
      <p:ext uri="{BB962C8B-B14F-4D97-AF65-F5344CB8AC3E}">
        <p14:creationId xmlns:p14="http://schemas.microsoft.com/office/powerpoint/2010/main" val="2327841129"/>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직사각형 19"/>
          <p:cNvSpPr/>
          <p:nvPr/>
        </p:nvSpPr>
        <p:spPr>
          <a:xfrm>
            <a:off x="273050" y="908050"/>
            <a:ext cx="9432925" cy="1296988"/>
          </a:xfrm>
          <a:prstGeom prst="rect">
            <a:avLst/>
          </a:prstGeom>
          <a:solidFill>
            <a:srgbClr val="CCE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25" name="타원 24"/>
          <p:cNvSpPr/>
          <p:nvPr/>
        </p:nvSpPr>
        <p:spPr>
          <a:xfrm>
            <a:off x="121597" y="3051175"/>
            <a:ext cx="1212850" cy="1214438"/>
          </a:xfrm>
          <a:prstGeom prst="ellipse">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050" dirty="0">
              <a:latin typeface="arial" pitchFamily="34" charset="0"/>
            </a:endParaRPr>
          </a:p>
        </p:txBody>
      </p:sp>
      <p:sp>
        <p:nvSpPr>
          <p:cNvPr id="26" name="타원 25"/>
          <p:cNvSpPr/>
          <p:nvPr/>
        </p:nvSpPr>
        <p:spPr>
          <a:xfrm>
            <a:off x="2721922" y="3302000"/>
            <a:ext cx="623888" cy="642938"/>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050" dirty="0">
              <a:latin typeface="arial" pitchFamily="34" charset="0"/>
            </a:endParaRPr>
          </a:p>
        </p:txBody>
      </p:sp>
      <p:sp>
        <p:nvSpPr>
          <p:cNvPr id="29" name="타원 28"/>
          <p:cNvSpPr/>
          <p:nvPr/>
        </p:nvSpPr>
        <p:spPr>
          <a:xfrm>
            <a:off x="631235" y="3159125"/>
            <a:ext cx="623887" cy="642938"/>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050" dirty="0">
              <a:latin typeface="arial" pitchFamily="34" charset="0"/>
            </a:endParaRPr>
          </a:p>
        </p:txBody>
      </p:sp>
      <p:sp>
        <p:nvSpPr>
          <p:cNvPr id="49" name="자유형 48"/>
          <p:cNvSpPr/>
          <p:nvPr/>
        </p:nvSpPr>
        <p:spPr>
          <a:xfrm>
            <a:off x="1072510" y="2811463"/>
            <a:ext cx="1752600" cy="614362"/>
          </a:xfrm>
          <a:custGeom>
            <a:avLst/>
            <a:gdLst>
              <a:gd name="connsiteX0" fmla="*/ 0 w 3906982"/>
              <a:gd name="connsiteY0" fmla="*/ 1043709 h 1237673"/>
              <a:gd name="connsiteX1" fmla="*/ 1759527 w 3906982"/>
              <a:gd name="connsiteY1" fmla="*/ 32327 h 1237673"/>
              <a:gd name="connsiteX2" fmla="*/ 3906982 w 3906982"/>
              <a:gd name="connsiteY2" fmla="*/ 1237673 h 1237673"/>
            </a:gdLst>
            <a:ahLst/>
            <a:cxnLst>
              <a:cxn ang="0">
                <a:pos x="connsiteX0" y="connsiteY0"/>
              </a:cxn>
              <a:cxn ang="0">
                <a:pos x="connsiteX1" y="connsiteY1"/>
              </a:cxn>
              <a:cxn ang="0">
                <a:pos x="connsiteX2" y="connsiteY2"/>
              </a:cxn>
            </a:cxnLst>
            <a:rect l="l" t="t" r="r" b="b"/>
            <a:pathLst>
              <a:path w="3906982" h="1237673">
                <a:moveTo>
                  <a:pt x="0" y="1043709"/>
                </a:moveTo>
                <a:cubicBezTo>
                  <a:pt x="554181" y="521854"/>
                  <a:pt x="1108363" y="0"/>
                  <a:pt x="1759527" y="32327"/>
                </a:cubicBezTo>
                <a:cubicBezTo>
                  <a:pt x="2410691" y="64654"/>
                  <a:pt x="3158836" y="651163"/>
                  <a:pt x="3906982" y="1237673"/>
                </a:cubicBezTo>
              </a:path>
            </a:pathLst>
          </a:cu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sz="1050" dirty="0">
              <a:latin typeface="arial" pitchFamily="34" charset="0"/>
            </a:endParaRPr>
          </a:p>
        </p:txBody>
      </p:sp>
      <p:sp>
        <p:nvSpPr>
          <p:cNvPr id="187398" name="TextBox 49"/>
          <p:cNvSpPr txBox="1">
            <a:spLocks noChangeArrowheads="1"/>
          </p:cNvSpPr>
          <p:nvPr/>
        </p:nvSpPr>
        <p:spPr bwMode="auto">
          <a:xfrm>
            <a:off x="1065218" y="2915408"/>
            <a:ext cx="1628971" cy="632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30000"/>
              </a:lnSpc>
              <a:buClr>
                <a:srgbClr val="C5003D"/>
              </a:buClr>
            </a:pPr>
            <a:r>
              <a:rPr lang="en-US" altLang="ko-KR" sz="1100" b="1" dirty="0" err="1">
                <a:latin typeface="arial" pitchFamily="34" charset="0"/>
                <a:ea typeface="맑은 고딕" pitchFamily="50" charset="-127"/>
              </a:rPr>
              <a:t>Lấy</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mẫu</a:t>
            </a:r>
            <a:endParaRPr lang="en-US" altLang="ko-KR" sz="1100" b="1" dirty="0">
              <a:latin typeface="arial" pitchFamily="34" charset="0"/>
              <a:ea typeface="맑은 고딕" pitchFamily="50" charset="-127"/>
            </a:endParaRPr>
          </a:p>
          <a:p>
            <a:pPr algn="ctr" eaLnBrk="1" hangingPunct="1">
              <a:lnSpc>
                <a:spcPct val="130000"/>
              </a:lnSpc>
              <a:buClr>
                <a:srgbClr val="C5003D"/>
              </a:buClr>
            </a:pPr>
            <a:r>
              <a:rPr lang="en-US" altLang="ko-KR" sz="800" dirty="0">
                <a:latin typeface="arial" pitchFamily="34" charset="0"/>
                <a:ea typeface="맑은 고딕" pitchFamily="50" charset="-127"/>
              </a:rPr>
              <a:t>(</a:t>
            </a:r>
            <a:r>
              <a:rPr lang="en-US" altLang="ko-KR" sz="800" dirty="0" err="1">
                <a:latin typeface="arial" pitchFamily="34" charset="0"/>
                <a:ea typeface="맑은 고딕" pitchFamily="50" charset="-127"/>
              </a:rPr>
              <a:t>Phương</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pháp</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và</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số</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lượng</a:t>
            </a:r>
            <a:br>
              <a:rPr lang="en-US" altLang="ko-KR" sz="800" dirty="0">
                <a:latin typeface="arial" pitchFamily="34" charset="0"/>
                <a:ea typeface="맑은 고딕" pitchFamily="50" charset="-127"/>
              </a:rPr>
            </a:br>
            <a:r>
              <a:rPr lang="en-US" altLang="ko-KR" sz="800" dirty="0" err="1">
                <a:latin typeface="arial" pitchFamily="34" charset="0"/>
                <a:ea typeface="맑은 고딕" pitchFamily="50" charset="-127"/>
              </a:rPr>
              <a:t>lấy</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mẫu</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là</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rất</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quan</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trọng</a:t>
            </a:r>
            <a:r>
              <a:rPr lang="en-US" altLang="ko-KR" sz="800" dirty="0">
                <a:latin typeface="arial" pitchFamily="34" charset="0"/>
                <a:ea typeface="맑은 고딕" pitchFamily="50" charset="-127"/>
              </a:rPr>
              <a:t>)</a:t>
            </a:r>
            <a:endParaRPr lang="ko-KR" altLang="en-US" sz="800" dirty="0">
              <a:latin typeface="arial" pitchFamily="34" charset="0"/>
              <a:ea typeface="맑은 고딕" pitchFamily="50" charset="-127"/>
            </a:endParaRPr>
          </a:p>
        </p:txBody>
      </p:sp>
      <p:sp>
        <p:nvSpPr>
          <p:cNvPr id="187399" name="TextBox 50"/>
          <p:cNvSpPr txBox="1">
            <a:spLocks noChangeArrowheads="1"/>
          </p:cNvSpPr>
          <p:nvPr/>
        </p:nvSpPr>
        <p:spPr bwMode="auto">
          <a:xfrm>
            <a:off x="171679" y="3815462"/>
            <a:ext cx="79541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buClr>
                <a:srgbClr val="C5003D"/>
              </a:buClr>
            </a:pPr>
            <a:r>
              <a:rPr lang="en-US" altLang="ko-KR" sz="1100" b="1" dirty="0" err="1">
                <a:latin typeface="arial" pitchFamily="34" charset="0"/>
                <a:ea typeface="맑은 고딕" pitchFamily="50" charset="-127"/>
              </a:rPr>
              <a:t>Tổng</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thể</a:t>
            </a:r>
            <a:endParaRPr lang="en-US" altLang="ko-KR" sz="1100" b="1" dirty="0">
              <a:latin typeface="arial" pitchFamily="34" charset="0"/>
              <a:ea typeface="맑은 고딕" pitchFamily="50" charset="-127"/>
            </a:endParaRPr>
          </a:p>
        </p:txBody>
      </p:sp>
      <p:sp>
        <p:nvSpPr>
          <p:cNvPr id="187400" name="TextBox 51"/>
          <p:cNvSpPr txBox="1">
            <a:spLocks noChangeArrowheads="1"/>
          </p:cNvSpPr>
          <p:nvPr/>
        </p:nvSpPr>
        <p:spPr bwMode="auto">
          <a:xfrm>
            <a:off x="2661466" y="3407755"/>
            <a:ext cx="753731" cy="471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algn="ctr" eaLnBrk="1" hangingPunct="1">
              <a:lnSpc>
                <a:spcPct val="130000"/>
              </a:lnSpc>
              <a:buClr>
                <a:srgbClr val="C5003D"/>
              </a:buClr>
            </a:pPr>
            <a:r>
              <a:rPr lang="en-US" altLang="ko-KR" sz="1000" b="1" dirty="0" err="1">
                <a:solidFill>
                  <a:schemeClr val="bg1"/>
                </a:solidFill>
                <a:latin typeface="arial" pitchFamily="34" charset="0"/>
                <a:ea typeface="맑은 고딕" pitchFamily="50" charset="-127"/>
              </a:rPr>
              <a:t>Thống</a:t>
            </a:r>
            <a:r>
              <a:rPr lang="en-US" altLang="ko-KR" sz="1000" b="1" dirty="0">
                <a:solidFill>
                  <a:schemeClr val="bg1"/>
                </a:solidFill>
                <a:latin typeface="arial" pitchFamily="34" charset="0"/>
                <a:ea typeface="맑은 고딕" pitchFamily="50" charset="-127"/>
              </a:rPr>
              <a:t> </a:t>
            </a:r>
            <a:r>
              <a:rPr lang="en-US" altLang="ko-KR" sz="1000" b="1" dirty="0" err="1">
                <a:solidFill>
                  <a:schemeClr val="bg1"/>
                </a:solidFill>
                <a:latin typeface="arial" pitchFamily="34" charset="0"/>
                <a:ea typeface="맑은 고딕" pitchFamily="50" charset="-127"/>
              </a:rPr>
              <a:t>kê</a:t>
            </a:r>
            <a:br>
              <a:rPr lang="en-US" altLang="ko-KR" sz="1000" b="1" dirty="0">
                <a:solidFill>
                  <a:schemeClr val="bg1"/>
                </a:solidFill>
                <a:latin typeface="arial" pitchFamily="34" charset="0"/>
                <a:ea typeface="맑은 고딕" pitchFamily="50" charset="-127"/>
              </a:rPr>
            </a:br>
            <a:r>
              <a:rPr lang="en-US" altLang="ko-KR" sz="1000" b="1" dirty="0" err="1">
                <a:solidFill>
                  <a:schemeClr val="bg1"/>
                </a:solidFill>
                <a:latin typeface="arial" pitchFamily="34" charset="0"/>
                <a:ea typeface="맑은 고딕" pitchFamily="50" charset="-127"/>
              </a:rPr>
              <a:t>mẫu</a:t>
            </a:r>
            <a:endParaRPr lang="ko-KR" altLang="en-US" sz="1000" b="1" dirty="0">
              <a:solidFill>
                <a:schemeClr val="bg1"/>
              </a:solidFill>
              <a:latin typeface="arial" pitchFamily="34" charset="0"/>
              <a:ea typeface="맑은 고딕" pitchFamily="50" charset="-127"/>
            </a:endParaRPr>
          </a:p>
        </p:txBody>
      </p:sp>
      <p:sp>
        <p:nvSpPr>
          <p:cNvPr id="10251" name="TextBox 53"/>
          <p:cNvSpPr txBox="1">
            <a:spLocks noChangeArrowheads="1"/>
          </p:cNvSpPr>
          <p:nvPr/>
        </p:nvSpPr>
        <p:spPr bwMode="auto">
          <a:xfrm>
            <a:off x="2717812" y="3933056"/>
            <a:ext cx="1595309" cy="512448"/>
          </a:xfrm>
          <a:prstGeom prst="rect">
            <a:avLst/>
          </a:prstGeom>
          <a:noFill/>
          <a:ln>
            <a:noFill/>
          </a:ln>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Arial" charset="0"/>
              <a:buChar char="•"/>
              <a:defRPr/>
            </a:pPr>
            <a:r>
              <a:rPr lang="en-US" altLang="ko-KR" sz="1050" dirty="0" err="1">
                <a:latin typeface="arial" pitchFamily="34" charset="0"/>
                <a:ea typeface="맑은 고딕" panose="020B0503020000020004" pitchFamily="50" charset="-127"/>
              </a:rPr>
              <a:t>Trung</a:t>
            </a:r>
            <a:r>
              <a:rPr lang="en-US" altLang="ko-KR" sz="1050" dirty="0">
                <a:latin typeface="arial" pitchFamily="34" charset="0"/>
                <a:ea typeface="맑은 고딕" panose="020B0503020000020004" pitchFamily="50" charset="-127"/>
              </a:rPr>
              <a:t> </a:t>
            </a:r>
            <a:r>
              <a:rPr lang="en-US" altLang="ko-KR" sz="1050" dirty="0" err="1">
                <a:latin typeface="arial" pitchFamily="34" charset="0"/>
                <a:ea typeface="맑은 고딕" panose="020B0503020000020004" pitchFamily="50" charset="-127"/>
              </a:rPr>
              <a:t>bình</a:t>
            </a:r>
            <a:r>
              <a:rPr lang="en-US" altLang="ko-KR" sz="1050" dirty="0">
                <a:latin typeface="arial" pitchFamily="34" charset="0"/>
                <a:ea typeface="맑은 고딕" panose="020B0503020000020004" pitchFamily="50" charset="-127"/>
              </a:rPr>
              <a:t> </a:t>
            </a:r>
            <a:r>
              <a:rPr lang="en-US" altLang="ko-KR" sz="1050" dirty="0" err="1">
                <a:latin typeface="arial" pitchFamily="34" charset="0"/>
                <a:ea typeface="맑은 고딕" panose="020B0503020000020004" pitchFamily="50" charset="-127"/>
              </a:rPr>
              <a:t>mẫu</a:t>
            </a:r>
            <a:r>
              <a:rPr lang="en-US" altLang="ko-KR" sz="1050" dirty="0">
                <a:latin typeface="arial" pitchFamily="34" charset="0"/>
                <a:ea typeface="맑은 고딕" panose="020B0503020000020004" pitchFamily="50" charset="-127"/>
              </a:rPr>
              <a:t> (Xbar)</a:t>
            </a:r>
          </a:p>
          <a:p>
            <a:pPr eaLnBrk="1" hangingPunct="1">
              <a:lnSpc>
                <a:spcPct val="130000"/>
              </a:lnSpc>
              <a:buClr>
                <a:srgbClr val="C5003D"/>
              </a:buClr>
              <a:buFont typeface="Arial" charset="0"/>
              <a:buChar char="•"/>
              <a:defRPr/>
            </a:pPr>
            <a:r>
              <a:rPr lang="en-US" altLang="ko-KR" sz="1050" dirty="0" err="1">
                <a:latin typeface="arial" pitchFamily="34" charset="0"/>
                <a:ea typeface="맑은 고딕" panose="020B0503020000020004" pitchFamily="50" charset="-127"/>
              </a:rPr>
              <a:t>Phương</a:t>
            </a:r>
            <a:r>
              <a:rPr lang="en-US" altLang="ko-KR" sz="1050" dirty="0">
                <a:latin typeface="arial" pitchFamily="34" charset="0"/>
                <a:ea typeface="맑은 고딕" panose="020B0503020000020004" pitchFamily="50" charset="-127"/>
              </a:rPr>
              <a:t> </a:t>
            </a:r>
            <a:r>
              <a:rPr lang="en-US" altLang="ko-KR" sz="1050" dirty="0" err="1">
                <a:latin typeface="arial" pitchFamily="34" charset="0"/>
                <a:ea typeface="맑은 고딕" panose="020B0503020000020004" pitchFamily="50" charset="-127"/>
              </a:rPr>
              <a:t>sai</a:t>
            </a:r>
            <a:r>
              <a:rPr lang="en-US" altLang="ko-KR" sz="1050" dirty="0">
                <a:latin typeface="arial" pitchFamily="34" charset="0"/>
                <a:ea typeface="맑은 고딕" panose="020B0503020000020004" pitchFamily="50" charset="-127"/>
              </a:rPr>
              <a:t> </a:t>
            </a:r>
            <a:r>
              <a:rPr lang="en-US" altLang="ko-KR" sz="1050" dirty="0" err="1">
                <a:latin typeface="arial" pitchFamily="34" charset="0"/>
                <a:ea typeface="맑은 고딕" panose="020B0503020000020004" pitchFamily="50" charset="-127"/>
              </a:rPr>
              <a:t>mẫu</a:t>
            </a:r>
            <a:endParaRPr lang="ko-KR" altLang="en-US" sz="1050" dirty="0">
              <a:latin typeface="arial" pitchFamily="34" charset="0"/>
              <a:ea typeface="맑은 고딕" panose="020B0503020000020004" pitchFamily="50" charset="-127"/>
            </a:endParaRPr>
          </a:p>
        </p:txBody>
      </p:sp>
      <p:sp>
        <p:nvSpPr>
          <p:cNvPr id="187403" name="TextBox 55"/>
          <p:cNvSpPr txBox="1">
            <a:spLocks noChangeArrowheads="1"/>
          </p:cNvSpPr>
          <p:nvPr/>
        </p:nvSpPr>
        <p:spPr bwMode="auto">
          <a:xfrm>
            <a:off x="1403140" y="3969516"/>
            <a:ext cx="1213795"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30000"/>
              </a:lnSpc>
              <a:buClr>
                <a:srgbClr val="C5003D"/>
              </a:buClr>
            </a:pPr>
            <a:r>
              <a:rPr lang="en-US" altLang="ko-KR" sz="1200" b="1" dirty="0">
                <a:solidFill>
                  <a:srgbClr val="FF0000"/>
                </a:solidFill>
                <a:latin typeface="arial" pitchFamily="34" charset="0"/>
                <a:ea typeface="맑은 고딕" pitchFamily="50" charset="-127"/>
              </a:rPr>
              <a:t>Ư</a:t>
            </a:r>
            <a:r>
              <a:rPr lang="vi-VN" altLang="ko-KR" sz="1200" b="1" dirty="0">
                <a:solidFill>
                  <a:srgbClr val="FF0000"/>
                </a:solidFill>
                <a:latin typeface="arial" pitchFamily="34" charset="0"/>
                <a:ea typeface="맑은 고딕" pitchFamily="50" charset="-127"/>
              </a:rPr>
              <a:t>ớc lượng</a:t>
            </a:r>
            <a:endParaRPr lang="en-US" altLang="ko-KR" sz="1200" b="1" dirty="0">
              <a:solidFill>
                <a:srgbClr val="FF0000"/>
              </a:solidFill>
              <a:latin typeface="arial" pitchFamily="34" charset="0"/>
              <a:ea typeface="맑은 고딕" pitchFamily="50" charset="-127"/>
            </a:endParaRPr>
          </a:p>
          <a:p>
            <a:pPr algn="ctr" eaLnBrk="1" hangingPunct="1">
              <a:lnSpc>
                <a:spcPct val="130000"/>
              </a:lnSpc>
              <a:buClr>
                <a:srgbClr val="C5003D"/>
              </a:buClr>
            </a:pPr>
            <a:r>
              <a:rPr lang="en-US" altLang="ko-KR" sz="1200" b="1" dirty="0">
                <a:solidFill>
                  <a:srgbClr val="FF0000"/>
                </a:solidFill>
                <a:latin typeface="arial" pitchFamily="34" charset="0"/>
                <a:ea typeface="맑은 고딕" pitchFamily="50" charset="-127"/>
                <a:sym typeface="Wingdings" pitchFamily="2" charset="2"/>
              </a:rPr>
              <a:t></a:t>
            </a:r>
            <a:r>
              <a:rPr lang="ko-KR" altLang="en-US" sz="1200" b="1" dirty="0">
                <a:solidFill>
                  <a:srgbClr val="FF0000"/>
                </a:solidFill>
                <a:latin typeface="arial" pitchFamily="34" charset="0"/>
                <a:ea typeface="맑은 고딕" pitchFamily="50" charset="-127"/>
                <a:sym typeface="Wingdings" pitchFamily="2" charset="2"/>
              </a:rPr>
              <a:t> </a:t>
            </a:r>
            <a:r>
              <a:rPr lang="en-US" altLang="ko-KR" sz="1200" b="1" dirty="0" err="1">
                <a:solidFill>
                  <a:srgbClr val="FF0000"/>
                </a:solidFill>
                <a:latin typeface="arial" pitchFamily="34" charset="0"/>
                <a:ea typeface="맑은 고딕" pitchFamily="50" charset="-127"/>
                <a:sym typeface="Wingdings" pitchFamily="2" charset="2"/>
              </a:rPr>
              <a:t>Hành</a:t>
            </a:r>
            <a:r>
              <a:rPr lang="en-US" altLang="ko-KR" sz="1200" b="1" dirty="0">
                <a:solidFill>
                  <a:srgbClr val="FF0000"/>
                </a:solidFill>
                <a:latin typeface="arial" pitchFamily="34" charset="0"/>
                <a:ea typeface="맑은 고딕" pitchFamily="50" charset="-127"/>
                <a:sym typeface="Wingdings" pitchFamily="2" charset="2"/>
              </a:rPr>
              <a:t> </a:t>
            </a:r>
            <a:r>
              <a:rPr lang="en-US" altLang="ko-KR" sz="1200" b="1" dirty="0" err="1">
                <a:solidFill>
                  <a:srgbClr val="FF0000"/>
                </a:solidFill>
                <a:latin typeface="arial" pitchFamily="34" charset="0"/>
                <a:ea typeface="맑은 고딕" pitchFamily="50" charset="-127"/>
                <a:sym typeface="Wingdings" pitchFamily="2" charset="2"/>
              </a:rPr>
              <a:t>động</a:t>
            </a:r>
            <a:endParaRPr lang="ko-KR" altLang="en-US" sz="1200" b="1" dirty="0">
              <a:solidFill>
                <a:srgbClr val="FF0000"/>
              </a:solidFill>
              <a:latin typeface="arial" pitchFamily="34" charset="0"/>
              <a:ea typeface="맑은 고딕" pitchFamily="50" charset="-127"/>
            </a:endParaRPr>
          </a:p>
        </p:txBody>
      </p:sp>
      <p:sp>
        <p:nvSpPr>
          <p:cNvPr id="55" name="자유형 54"/>
          <p:cNvSpPr/>
          <p:nvPr/>
        </p:nvSpPr>
        <p:spPr>
          <a:xfrm>
            <a:off x="985197" y="4076700"/>
            <a:ext cx="1814513" cy="576263"/>
          </a:xfrm>
          <a:custGeom>
            <a:avLst/>
            <a:gdLst>
              <a:gd name="connsiteX0" fmla="*/ 3837709 w 3837709"/>
              <a:gd name="connsiteY0" fmla="*/ 304800 h 1297709"/>
              <a:gd name="connsiteX1" fmla="*/ 2230582 w 3837709"/>
              <a:gd name="connsiteY1" fmla="*/ 1246909 h 1297709"/>
              <a:gd name="connsiteX2" fmla="*/ 0 w 3837709"/>
              <a:gd name="connsiteY2" fmla="*/ 0 h 1297709"/>
            </a:gdLst>
            <a:ahLst/>
            <a:cxnLst>
              <a:cxn ang="0">
                <a:pos x="connsiteX0" y="connsiteY0"/>
              </a:cxn>
              <a:cxn ang="0">
                <a:pos x="connsiteX1" y="connsiteY1"/>
              </a:cxn>
              <a:cxn ang="0">
                <a:pos x="connsiteX2" y="connsiteY2"/>
              </a:cxn>
            </a:cxnLst>
            <a:rect l="l" t="t" r="r" b="b"/>
            <a:pathLst>
              <a:path w="3837709" h="1297709">
                <a:moveTo>
                  <a:pt x="3837709" y="304800"/>
                </a:moveTo>
                <a:cubicBezTo>
                  <a:pt x="3353954" y="801254"/>
                  <a:pt x="2870200" y="1297709"/>
                  <a:pt x="2230582" y="1246909"/>
                </a:cubicBezTo>
                <a:cubicBezTo>
                  <a:pt x="1590964" y="1196109"/>
                  <a:pt x="795482" y="598054"/>
                  <a:pt x="0" y="0"/>
                </a:cubicBezTo>
              </a:path>
            </a:pathLst>
          </a:custGeom>
          <a:ln>
            <a:solidFill>
              <a:srgbClr val="FF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sz="1200" dirty="0">
              <a:latin typeface="arial" pitchFamily="34" charset="0"/>
            </a:endParaRPr>
          </a:p>
        </p:txBody>
      </p:sp>
      <p:sp>
        <p:nvSpPr>
          <p:cNvPr id="18" name="TextBox 17"/>
          <p:cNvSpPr txBox="1"/>
          <p:nvPr/>
        </p:nvSpPr>
        <p:spPr>
          <a:xfrm>
            <a:off x="4088904" y="2420938"/>
            <a:ext cx="5760640" cy="812530"/>
          </a:xfrm>
          <a:prstGeom prst="rect">
            <a:avLst/>
          </a:prstGeom>
          <a:noFill/>
        </p:spPr>
        <p:txBody>
          <a:bodyPr wrap="square">
            <a:spAutoFit/>
          </a:bodyPr>
          <a:lstStyle/>
          <a:p>
            <a:pPr marL="266700" indent="-266700">
              <a:lnSpc>
                <a:spcPct val="130000"/>
              </a:lnSpc>
              <a:buClr>
                <a:srgbClr val="C5003D"/>
              </a:buClr>
              <a:defRPr/>
            </a:pPr>
            <a:r>
              <a:rPr lang="ko-KR" altLang="en-US" sz="1200" dirty="0">
                <a:latin typeface="arial" pitchFamily="34" charset="0"/>
                <a:ea typeface="맑은 고딕" panose="020B0503020000020004" pitchFamily="50" charset="-127"/>
              </a:rPr>
              <a:t>① </a:t>
            </a:r>
            <a:r>
              <a:rPr lang="en-US" altLang="ko-KR" sz="1200" dirty="0" err="1">
                <a:latin typeface="arial" pitchFamily="34" charset="0"/>
                <a:ea typeface="맑은 고딕" panose="020B0503020000020004" pitchFamily="50" charset="-127"/>
              </a:rPr>
              <a:t>Nếu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phép</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đo</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được</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thực</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hiện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với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mỗi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phần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tử</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thuộc</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tổng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thể</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thì</a:t>
            </a:r>
            <a:r>
              <a:rPr lang="en-US" altLang="ko-KR" sz="1200" dirty="0">
                <a:latin typeface="arial" pitchFamily="34" charset="0"/>
                <a:ea typeface="맑은 고딕" panose="020B0503020000020004" pitchFamily="50" charset="-127"/>
              </a:rPr>
              <a:t>….</a:t>
            </a:r>
          </a:p>
          <a:p>
            <a:pPr marL="266700" indent="-266700">
              <a:lnSpc>
                <a:spcPct val="130000"/>
              </a:lnSpc>
              <a:buClr>
                <a:srgbClr val="C5003D"/>
              </a:buClr>
              <a:defRPr/>
            </a:pP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Chiều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dài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của</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linh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kiện</a:t>
            </a:r>
            <a:r>
              <a:rPr lang="en-US" altLang="ko-KR" sz="1200" dirty="0">
                <a:latin typeface="arial" pitchFamily="34" charset="0"/>
                <a:ea typeface="맑은 고딕" panose="020B0503020000020004" pitchFamily="50" charset="-127"/>
              </a:rPr>
              <a:t> A </a:t>
            </a:r>
            <a:r>
              <a:rPr lang="en-US" altLang="ko-KR" sz="1200" dirty="0" err="1">
                <a:latin typeface="arial" pitchFamily="34" charset="0"/>
                <a:ea typeface="맑은 고딕" panose="020B0503020000020004" pitchFamily="50" charset="-127"/>
              </a:rPr>
              <a:t>từ</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những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sản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phẩm</a:t>
            </a:r>
            <a:r>
              <a:rPr lang="en-US" altLang="ko-KR" sz="1200" dirty="0">
                <a:latin typeface="arial" pitchFamily="34" charset="0"/>
                <a:ea typeface="맑은 고딕" panose="020B0503020000020004" pitchFamily="50" charset="-127"/>
              </a:rPr>
              <a:t> OK </a:t>
            </a:r>
            <a:r>
              <a:rPr lang="en-US" altLang="ko-KR" sz="1200" dirty="0" err="1">
                <a:latin typeface="arial" pitchFamily="34" charset="0"/>
                <a:ea typeface="맑은 고딕" panose="020B0503020000020004" pitchFamily="50" charset="-127"/>
              </a:rPr>
              <a:t>ngắn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hơn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chiều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dài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của</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linh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kiện</a:t>
            </a:r>
            <a:r>
              <a:rPr lang="en-US" altLang="ko-KR" sz="1200" dirty="0">
                <a:latin typeface="arial" pitchFamily="34" charset="0"/>
                <a:ea typeface="맑은 고딕" panose="020B0503020000020004" pitchFamily="50" charset="-127"/>
              </a:rPr>
              <a:t> A </a:t>
            </a:r>
            <a:r>
              <a:rPr lang="en-US" altLang="ko-KR" sz="1200" dirty="0" err="1">
                <a:latin typeface="arial" pitchFamily="34" charset="0"/>
                <a:ea typeface="맑은 고딕" panose="020B0503020000020004" pitchFamily="50" charset="-127"/>
              </a:rPr>
              <a:t>từ</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những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sản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phẩm</a:t>
            </a:r>
            <a:r>
              <a:rPr lang="en-US" altLang="ko-KR" sz="1200" dirty="0">
                <a:latin typeface="arial" pitchFamily="34" charset="0"/>
                <a:ea typeface="맑은 고딕" panose="020B0503020000020004" pitchFamily="50" charset="-127"/>
              </a:rPr>
              <a:t> NG </a:t>
            </a:r>
            <a:r>
              <a:rPr lang="en-US" altLang="ko-KR" sz="1200" dirty="0" err="1">
                <a:latin typeface="arial" pitchFamily="34" charset="0"/>
                <a:ea typeface="맑은 고딕" panose="020B0503020000020004" pitchFamily="50" charset="-127"/>
              </a:rPr>
              <a:t>là</a:t>
            </a:r>
            <a:r>
              <a:rPr lang="en-US" altLang="ko-KR" sz="1200" dirty="0">
                <a:latin typeface="arial" pitchFamily="34" charset="0"/>
                <a:ea typeface="맑은 고딕" panose="020B0503020000020004" pitchFamily="50" charset="-127"/>
              </a:rPr>
              <a:t> 3 mm”</a:t>
            </a:r>
            <a:endParaRPr lang="ko-KR" altLang="en-US" sz="1200" dirty="0">
              <a:latin typeface="arial" pitchFamily="34" charset="0"/>
              <a:ea typeface="맑은 고딕" panose="020B0503020000020004" pitchFamily="50" charset="-127"/>
            </a:endParaRPr>
          </a:p>
        </p:txBody>
      </p:sp>
      <p:sp>
        <p:nvSpPr>
          <p:cNvPr id="19" name="TextBox 18"/>
          <p:cNvSpPr txBox="1"/>
          <p:nvPr/>
        </p:nvSpPr>
        <p:spPr>
          <a:xfrm>
            <a:off x="4088903" y="3311525"/>
            <a:ext cx="5760640" cy="2012859"/>
          </a:xfrm>
          <a:prstGeom prst="rect">
            <a:avLst/>
          </a:prstGeom>
          <a:noFill/>
        </p:spPr>
        <p:txBody>
          <a:bodyPr wrap="square">
            <a:spAutoFit/>
          </a:bodyPr>
          <a:lstStyle/>
          <a:p>
            <a:pPr marL="266700" indent="-266700">
              <a:lnSpc>
                <a:spcPct val="130000"/>
              </a:lnSpc>
              <a:buClr>
                <a:srgbClr val="C5003D"/>
              </a:buClr>
              <a:defRPr/>
            </a:pPr>
            <a:r>
              <a:rPr lang="ko-KR" altLang="en-US" sz="1200" dirty="0">
                <a:latin typeface="arial" pitchFamily="34" charset="0"/>
                <a:ea typeface="맑은 고딕" panose="020B0503020000020004" pitchFamily="50" charset="-127"/>
              </a:rPr>
              <a:t>② </a:t>
            </a:r>
            <a:r>
              <a:rPr lang="en-US" altLang="ko-KR" sz="1200" dirty="0" err="1">
                <a:latin typeface="arial" pitchFamily="34" charset="0"/>
                <a:ea typeface="맑은 고딕" panose="020B0503020000020004" pitchFamily="50" charset="-127"/>
              </a:rPr>
              <a:t>Nếu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phép</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đo</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được</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tiến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hành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với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mẫu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được</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rút</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ra</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từ</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tổng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thể</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thì</a:t>
            </a:r>
            <a:r>
              <a:rPr lang="en-US" altLang="ko-KR" sz="1200" dirty="0">
                <a:latin typeface="arial" pitchFamily="34" charset="0"/>
                <a:ea typeface="맑은 고딕" panose="020B0503020000020004" pitchFamily="50" charset="-127"/>
              </a:rPr>
              <a:t>…</a:t>
            </a:r>
          </a:p>
          <a:p>
            <a:pPr marL="266700" indent="-266700">
              <a:lnSpc>
                <a:spcPct val="130000"/>
              </a:lnSpc>
              <a:buClr>
                <a:srgbClr val="C5003D"/>
              </a:buClr>
              <a:defRPr/>
            </a:pPr>
            <a:r>
              <a:rPr lang="en-US" altLang="ko-KR" sz="1200" dirty="0">
                <a:latin typeface="arial" pitchFamily="34" charset="0"/>
                <a:ea typeface="맑은 고딕" panose="020B0503020000020004" pitchFamily="50" charset="-127"/>
              </a:rPr>
              <a:t>     (1) </a:t>
            </a:r>
            <a:r>
              <a:rPr lang="en-US" altLang="ko-KR" sz="1200" dirty="0" err="1">
                <a:latin typeface="arial" pitchFamily="34" charset="0"/>
                <a:ea typeface="맑은 고딕" panose="020B0503020000020004" pitchFamily="50" charset="-127"/>
              </a:rPr>
              <a:t>Chúng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ta</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có</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thể</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khẳng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định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chiều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dài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của</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linh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kiện</a:t>
            </a:r>
            <a:r>
              <a:rPr lang="en-US" altLang="ko-KR" sz="1200" dirty="0">
                <a:latin typeface="arial" pitchFamily="34" charset="0"/>
                <a:ea typeface="맑은 고딕" panose="020B0503020000020004" pitchFamily="50" charset="-127"/>
              </a:rPr>
              <a:t> A </a:t>
            </a:r>
            <a:r>
              <a:rPr lang="en-US" altLang="ko-KR" sz="1200" dirty="0" err="1">
                <a:latin typeface="arial" pitchFamily="34" charset="0"/>
                <a:ea typeface="맑은 고딕" panose="020B0503020000020004" pitchFamily="50" charset="-127"/>
              </a:rPr>
              <a:t>từ</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những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sản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phẩm</a:t>
            </a:r>
            <a:r>
              <a:rPr lang="en-US" altLang="ko-KR" sz="1200" dirty="0">
                <a:latin typeface="arial" pitchFamily="34" charset="0"/>
                <a:ea typeface="맑은 고딕" panose="020B0503020000020004" pitchFamily="50" charset="-127"/>
              </a:rPr>
              <a:t> OK </a:t>
            </a:r>
            <a:r>
              <a:rPr lang="en-US" altLang="ko-KR" sz="1200" dirty="0" err="1">
                <a:latin typeface="arial" pitchFamily="34" charset="0"/>
                <a:ea typeface="맑은 고딕" panose="020B0503020000020004" pitchFamily="50" charset="-127"/>
              </a:rPr>
              <a:t>ngắn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hơn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chiều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dài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của</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linh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kiện</a:t>
            </a:r>
            <a:r>
              <a:rPr lang="en-US" altLang="ko-KR" sz="1200" dirty="0">
                <a:latin typeface="arial" pitchFamily="34" charset="0"/>
                <a:ea typeface="맑은 고딕" panose="020B0503020000020004" pitchFamily="50" charset="-127"/>
              </a:rPr>
              <a:t> A </a:t>
            </a:r>
            <a:r>
              <a:rPr lang="en-US" altLang="ko-KR" sz="1200" dirty="0" err="1">
                <a:latin typeface="arial" pitchFamily="34" charset="0"/>
                <a:ea typeface="맑은 고딕" panose="020B0503020000020004" pitchFamily="50" charset="-127"/>
              </a:rPr>
              <a:t>từ</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những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sản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phẩm</a:t>
            </a:r>
            <a:r>
              <a:rPr lang="en-US" altLang="ko-KR" sz="1200" dirty="0">
                <a:latin typeface="arial" pitchFamily="34" charset="0"/>
                <a:ea typeface="맑은 고딕" panose="020B0503020000020004" pitchFamily="50" charset="-127"/>
              </a:rPr>
              <a:t> NG </a:t>
            </a:r>
            <a:r>
              <a:rPr lang="en-US" altLang="ko-KR" sz="1200" dirty="0" err="1">
                <a:latin typeface="arial" pitchFamily="34" charset="0"/>
                <a:ea typeface="맑은 고딕" panose="020B0503020000020004" pitchFamily="50" charset="-127"/>
              </a:rPr>
              <a:t>là</a:t>
            </a:r>
            <a:r>
              <a:rPr lang="en-US" altLang="ko-KR" sz="1200" dirty="0">
                <a:latin typeface="arial" pitchFamily="34" charset="0"/>
                <a:ea typeface="맑은 고딕" panose="020B0503020000020004" pitchFamily="50" charset="-127"/>
              </a:rPr>
              <a:t> 3 mm hay </a:t>
            </a:r>
            <a:r>
              <a:rPr lang="en-US" altLang="ko-KR" sz="1200" dirty="0" err="1">
                <a:latin typeface="arial" pitchFamily="34" charset="0"/>
                <a:ea typeface="맑은 고딕" panose="020B0503020000020004" pitchFamily="50" charset="-127"/>
              </a:rPr>
              <a:t>không</a:t>
            </a:r>
            <a:r>
              <a:rPr lang="en-US" altLang="ko-KR" sz="1200" dirty="0">
                <a:latin typeface="arial" pitchFamily="34" charset="0"/>
                <a:ea typeface="맑은 고딕" panose="020B0503020000020004" pitchFamily="50" charset="-127"/>
              </a:rPr>
              <a:t>?</a:t>
            </a:r>
          </a:p>
          <a:p>
            <a:pPr marL="266700" indent="-266700">
              <a:lnSpc>
                <a:spcPct val="130000"/>
              </a:lnSpc>
              <a:buClr>
                <a:srgbClr val="C5003D"/>
              </a:buClr>
              <a:defRPr/>
            </a:pP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Làm</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thế</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nào</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để</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bạn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phản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bác</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được</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rằng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điều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đó</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phụ</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thuộc</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vào</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mẫu</a:t>
            </a:r>
            <a:r>
              <a:rPr lang="en-US" altLang="ko-KR" sz="1200" dirty="0">
                <a:latin typeface="arial" pitchFamily="34" charset="0"/>
                <a:ea typeface="맑은 고딕" panose="020B0503020000020004" pitchFamily="50" charset="-127"/>
              </a:rPr>
              <a:t>?</a:t>
            </a:r>
          </a:p>
          <a:p>
            <a:pPr marL="266700" indent="-266700">
              <a:lnSpc>
                <a:spcPct val="130000"/>
              </a:lnSpc>
              <a:buClr>
                <a:srgbClr val="C5003D"/>
              </a:buClr>
              <a:defRPr/>
            </a:pPr>
            <a:r>
              <a:rPr lang="en-US" altLang="ko-KR" sz="1200" dirty="0">
                <a:latin typeface="arial" pitchFamily="34" charset="0"/>
                <a:ea typeface="맑은 고딕" panose="020B0503020000020004" pitchFamily="50" charset="-127"/>
              </a:rPr>
              <a:t>           </a:t>
            </a:r>
            <a:r>
              <a:rPr lang="en-US" altLang="ko-KR" sz="1200" dirty="0">
                <a:latin typeface="arial" pitchFamily="34" charset="0"/>
                <a:ea typeface="맑은 고딕" panose="020B0503020000020004" pitchFamily="50" charset="-127"/>
                <a:sym typeface="Wingdings" pitchFamily="2" charset="2"/>
              </a:rPr>
              <a:t> </a:t>
            </a:r>
            <a:r>
              <a:rPr lang="en-US" altLang="ko-KR" sz="1200" dirty="0" err="1">
                <a:latin typeface="arial" pitchFamily="34" charset="0"/>
                <a:ea typeface="맑은 고딕" panose="020B0503020000020004" pitchFamily="50" charset="-127"/>
                <a:sym typeface="Wingdings" pitchFamily="2" charset="2"/>
              </a:rPr>
              <a:t>Vấn</a:t>
            </a:r>
            <a:r>
              <a:rPr lang="en-US" altLang="ko-KR" sz="1200" dirty="0">
                <a:latin typeface="arial" pitchFamily="34" charset="0"/>
                <a:ea typeface="맑은 고딕" panose="020B0503020000020004" pitchFamily="50" charset="-127"/>
                <a:sym typeface="Wingdings" pitchFamily="2" charset="2"/>
              </a:rPr>
              <a:t> </a:t>
            </a:r>
            <a:r>
              <a:rPr lang="en-US" altLang="ko-KR" sz="1200" dirty="0" err="1">
                <a:latin typeface="arial" pitchFamily="34" charset="0"/>
                <a:ea typeface="맑은 고딕" panose="020B0503020000020004" pitchFamily="50" charset="-127"/>
                <a:sym typeface="Wingdings" pitchFamily="2" charset="2"/>
              </a:rPr>
              <a:t>đề</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kiểm</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định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giả</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thuyết</a:t>
            </a:r>
            <a:endParaRPr lang="en-US" altLang="ko-KR" sz="1200" dirty="0">
              <a:latin typeface="arial" pitchFamily="34" charset="0"/>
              <a:ea typeface="맑은 고딕" panose="020B0503020000020004" pitchFamily="50" charset="-127"/>
            </a:endParaRPr>
          </a:p>
          <a:p>
            <a:pPr marL="266700" indent="-266700">
              <a:lnSpc>
                <a:spcPct val="130000"/>
              </a:lnSpc>
              <a:buClr>
                <a:srgbClr val="C5003D"/>
              </a:buClr>
              <a:defRPr/>
            </a:pPr>
            <a:r>
              <a:rPr lang="en-US" altLang="ko-KR" sz="1200" dirty="0">
                <a:latin typeface="arial" pitchFamily="34" charset="0"/>
                <a:ea typeface="맑은 고딕" panose="020B0503020000020004" pitchFamily="50" charset="-127"/>
              </a:rPr>
              <a:t>     (2) </a:t>
            </a:r>
            <a:r>
              <a:rPr lang="en-US" altLang="ko-KR" sz="1200" dirty="0" err="1">
                <a:latin typeface="arial" pitchFamily="34" charset="0"/>
                <a:ea typeface="맑은 고딕" panose="020B0503020000020004" pitchFamily="50" charset="-127"/>
              </a:rPr>
              <a:t>Loại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phân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phối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nào</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mà</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những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linh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kiện</a:t>
            </a:r>
            <a:r>
              <a:rPr lang="en-US" altLang="ko-KR" sz="1200" dirty="0">
                <a:latin typeface="arial" pitchFamily="34" charset="0"/>
                <a:ea typeface="맑은 고딕" panose="020B0503020000020004" pitchFamily="50" charset="-127"/>
              </a:rPr>
              <a:t> A </a:t>
            </a:r>
            <a:r>
              <a:rPr lang="en-US" altLang="ko-KR" sz="1200" dirty="0" err="1">
                <a:latin typeface="arial" pitchFamily="34" charset="0"/>
                <a:ea typeface="맑은 고딕" panose="020B0503020000020004" pitchFamily="50" charset="-127"/>
              </a:rPr>
              <a:t>từ</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nhóm</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sản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phẩm</a:t>
            </a:r>
            <a:r>
              <a:rPr lang="en-US" altLang="ko-KR" sz="1200" dirty="0">
                <a:latin typeface="arial" pitchFamily="34" charset="0"/>
                <a:ea typeface="맑은 고딕" panose="020B0503020000020004" pitchFamily="50" charset="-127"/>
              </a:rPr>
              <a:t> OK </a:t>
            </a:r>
            <a:r>
              <a:rPr lang="en-US" altLang="ko-KR" sz="1200" dirty="0" err="1">
                <a:latin typeface="arial" pitchFamily="34" charset="0"/>
                <a:ea typeface="맑은 고딕" panose="020B0503020000020004" pitchFamily="50" charset="-127"/>
              </a:rPr>
              <a:t>nên</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có</a:t>
            </a:r>
            <a:r>
              <a:rPr lang="en-US" altLang="ko-KR" sz="1200" dirty="0">
                <a:latin typeface="arial" pitchFamily="34" charset="0"/>
                <a:ea typeface="맑은 고딕" panose="020B0503020000020004" pitchFamily="50" charset="-127"/>
              </a:rPr>
              <a:t>?</a:t>
            </a:r>
          </a:p>
          <a:p>
            <a:pPr marL="266700" indent="-266700">
              <a:lnSpc>
                <a:spcPct val="130000"/>
              </a:lnSpc>
              <a:buClr>
                <a:srgbClr val="C5003D"/>
              </a:buClr>
              <a:defRPr/>
            </a:pPr>
            <a:r>
              <a:rPr lang="en-US" altLang="ko-KR" sz="1200" dirty="0">
                <a:latin typeface="arial" pitchFamily="34" charset="0"/>
                <a:ea typeface="맑은 고딕" panose="020B0503020000020004" pitchFamily="50" charset="-127"/>
              </a:rPr>
              <a:t>           </a:t>
            </a:r>
            <a:r>
              <a:rPr lang="en-US" altLang="ko-KR" sz="1200" dirty="0">
                <a:latin typeface="arial" pitchFamily="34" charset="0"/>
                <a:ea typeface="맑은 고딕" panose="020B0503020000020004" pitchFamily="50" charset="-127"/>
                <a:sym typeface="Wingdings" pitchFamily="2" charset="2"/>
              </a:rPr>
              <a:t> </a:t>
            </a:r>
            <a:r>
              <a:rPr lang="en-US" altLang="ko-KR" sz="1200" dirty="0" err="1">
                <a:latin typeface="arial" pitchFamily="34" charset="0"/>
                <a:ea typeface="맑은 고딕" panose="020B0503020000020004" pitchFamily="50" charset="-127"/>
                <a:sym typeface="Wingdings" pitchFamily="2" charset="2"/>
              </a:rPr>
              <a:t>Vấn</a:t>
            </a:r>
            <a:r>
              <a:rPr lang="en-US" altLang="ko-KR" sz="1200" dirty="0">
                <a:latin typeface="arial" pitchFamily="34" charset="0"/>
                <a:ea typeface="맑은 고딕" panose="020B0503020000020004" pitchFamily="50" charset="-127"/>
                <a:sym typeface="Wingdings" pitchFamily="2" charset="2"/>
              </a:rPr>
              <a:t> </a:t>
            </a:r>
            <a:r>
              <a:rPr lang="en-US" altLang="ko-KR" sz="1200" dirty="0" err="1">
                <a:latin typeface="arial" pitchFamily="34" charset="0"/>
                <a:ea typeface="맑은 고딕" panose="020B0503020000020004" pitchFamily="50" charset="-127"/>
                <a:sym typeface="Wingdings" pitchFamily="2" charset="2"/>
              </a:rPr>
              <a:t>đề</a:t>
            </a:r>
            <a:r>
              <a:rPr lang="en-US" altLang="ko-KR" sz="1200" dirty="0">
                <a:latin typeface="arial" pitchFamily="34" charset="0"/>
                <a:ea typeface="맑은 고딕" panose="020B0503020000020004" pitchFamily="50" charset="-127"/>
                <a:sym typeface="Wingdings" pitchFamily="2" charset="2"/>
              </a:rPr>
              <a:t> </a:t>
            </a:r>
            <a:r>
              <a:rPr lang="en-US" altLang="ko-KR" sz="1200" dirty="0" err="1">
                <a:latin typeface="arial" pitchFamily="34" charset="0"/>
                <a:ea typeface="맑은 고딕" panose="020B0503020000020004" pitchFamily="50" charset="-127"/>
                <a:sym typeface="Wingdings" pitchFamily="2" charset="2"/>
              </a:rPr>
              <a:t>về</a:t>
            </a:r>
            <a:r>
              <a:rPr lang="en-US" altLang="ko-KR" sz="1200" dirty="0">
                <a:latin typeface="arial" pitchFamily="34" charset="0"/>
                <a:ea typeface="맑은 고딕" panose="020B0503020000020004" pitchFamily="50" charset="-127"/>
                <a:sym typeface="Wingdings" pitchFamily="2" charset="2"/>
              </a:rPr>
              <a:t> </a:t>
            </a:r>
            <a:r>
              <a:rPr lang="vi-VN" altLang="ko-KR" sz="1200" dirty="0">
                <a:latin typeface="arial" pitchFamily="34" charset="0"/>
                <a:ea typeface="맑은 고딕" panose="020B0503020000020004" pitchFamily="50" charset="-127"/>
                <a:sym typeface="Wingdings" pitchFamily="2" charset="2"/>
              </a:rPr>
              <a:t>ước lượng</a:t>
            </a:r>
            <a:endParaRPr lang="ko-KR" altLang="en-US" sz="1200" dirty="0">
              <a:latin typeface="arial" pitchFamily="34" charset="0"/>
              <a:ea typeface="맑은 고딕" panose="020B0503020000020004" pitchFamily="50" charset="-127"/>
            </a:endParaRPr>
          </a:p>
        </p:txBody>
      </p:sp>
      <p:sp>
        <p:nvSpPr>
          <p:cNvPr id="21" name="TextBox 50"/>
          <p:cNvSpPr txBox="1">
            <a:spLocks noChangeArrowheads="1"/>
          </p:cNvSpPr>
          <p:nvPr/>
        </p:nvSpPr>
        <p:spPr bwMode="auto">
          <a:xfrm>
            <a:off x="-15552" y="4221088"/>
            <a:ext cx="138050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buClr>
                <a:srgbClr val="C5003D"/>
              </a:buClr>
            </a:pPr>
            <a:r>
              <a:rPr lang="en-US" altLang="ko-KR" sz="900" b="1" dirty="0" err="1">
                <a:latin typeface="arial" pitchFamily="34" charset="0"/>
                <a:ea typeface="맑은 고딕" pitchFamily="50" charset="-127"/>
              </a:rPr>
              <a:t>Thang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đo</a:t>
            </a:r>
            <a:endParaRPr lang="en-US" altLang="ko-KR" sz="900" b="1" dirty="0">
              <a:latin typeface="arial" pitchFamily="34" charset="0"/>
              <a:ea typeface="맑은 고딕" pitchFamily="50" charset="-127"/>
            </a:endParaRPr>
          </a:p>
          <a:p>
            <a:pPr algn="ctr" eaLnBrk="1" hangingPunct="1">
              <a:buClr>
                <a:srgbClr val="C5003D"/>
              </a:buClr>
            </a:pPr>
            <a:r>
              <a:rPr lang="en-US" altLang="ko-KR" sz="900" b="1" dirty="0">
                <a:latin typeface="arial" pitchFamily="34" charset="0"/>
                <a:ea typeface="맑은 고딕" pitchFamily="50" charset="-127"/>
              </a:rPr>
              <a:t>(</a:t>
            </a:r>
            <a:r>
              <a:rPr lang="en-US" altLang="ko-KR" sz="900" b="1" dirty="0" err="1">
                <a:latin typeface="arial" pitchFamily="34" charset="0"/>
                <a:ea typeface="맑은 고딕" pitchFamily="50" charset="-127"/>
              </a:rPr>
              <a:t>Trung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bình</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tổng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thể</a:t>
            </a:r>
            <a:endParaRPr lang="en-US" altLang="ko-KR" sz="900" b="1" dirty="0">
              <a:latin typeface="arial" pitchFamily="34" charset="0"/>
              <a:ea typeface="맑은 고딕" pitchFamily="50" charset="-127"/>
            </a:endParaRPr>
          </a:p>
          <a:p>
            <a:pPr algn="ctr" eaLnBrk="1" hangingPunct="1">
              <a:buClr>
                <a:srgbClr val="C5003D"/>
              </a:buClr>
            </a:pPr>
            <a:r>
              <a:rPr lang="en-US" altLang="ko-KR" sz="900" b="1" dirty="0" err="1">
                <a:latin typeface="arial" pitchFamily="34" charset="0"/>
                <a:ea typeface="맑은 고딕" pitchFamily="50" charset="-127"/>
              </a:rPr>
              <a:t>Phương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sai</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tổng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thể</a:t>
            </a:r>
            <a:r>
              <a:rPr lang="en-US" altLang="ko-KR" sz="900" b="1" dirty="0">
                <a:latin typeface="arial" pitchFamily="34" charset="0"/>
                <a:ea typeface="맑은 고딕" pitchFamily="50" charset="-127"/>
              </a:rPr>
              <a:t>)</a:t>
            </a:r>
            <a:endParaRPr lang="ko-KR" altLang="en-US" sz="9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159</a:t>
            </a:fld>
            <a:endParaRPr lang="ko-KR" altLang="en-US" dirty="0"/>
          </a:p>
        </p:txBody>
      </p:sp>
      <p:sp>
        <p:nvSpPr>
          <p:cNvPr id="24" name="Text Box 67"/>
          <p:cNvSpPr txBox="1">
            <a:spLocks noChangeArrowheads="1"/>
          </p:cNvSpPr>
          <p:nvPr/>
        </p:nvSpPr>
        <p:spPr bwMode="auto">
          <a:xfrm>
            <a:off x="288454" y="1064791"/>
            <a:ext cx="381635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vi-VN" altLang="ko-KR" sz="1100" dirty="0">
                <a:latin typeface="arial" pitchFamily="34" charset="0"/>
                <a:ea typeface="맑은 고딕" pitchFamily="50" charset="-127"/>
              </a:rPr>
              <a:t>Chiều dài của </a:t>
            </a:r>
            <a:r>
              <a:rPr lang="en-US" altLang="ko-KR" sz="1100" dirty="0" err="1">
                <a:latin typeface="arial" pitchFamily="34" charset="0"/>
                <a:ea typeface="맑은 고딕" pitchFamily="50" charset="-127"/>
              </a:rPr>
              <a:t>linh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kiện</a:t>
            </a:r>
            <a:r>
              <a:rPr lang="vi-VN" altLang="ko-KR" sz="1100" dirty="0">
                <a:latin typeface="arial" pitchFamily="34" charset="0"/>
                <a:ea typeface="맑은 고딕" pitchFamily="50" charset="-127"/>
              </a:rPr>
              <a:t> A được cho là gây ra </a:t>
            </a:r>
            <a:r>
              <a:rPr lang="en-US" altLang="ko-KR" sz="1100" dirty="0" err="1">
                <a:latin typeface="arial" pitchFamily="34" charset="0"/>
                <a:ea typeface="맑은 고딕" pitchFamily="50" charset="-127"/>
              </a:rPr>
              <a:t>lỗi</a:t>
            </a:r>
            <a:r>
              <a:rPr lang="vi-VN" altLang="ko-KR" sz="1100" dirty="0">
                <a:latin typeface="arial" pitchFamily="34" charset="0"/>
                <a:ea typeface="맑은 고딕" pitchFamily="50" charset="-127"/>
              </a:rPr>
              <a:t> trong </a:t>
            </a:r>
            <a:r>
              <a:rPr lang="en-US" altLang="ko-KR" sz="1100" dirty="0" err="1">
                <a:latin typeface="arial" pitchFamily="34" charset="0"/>
                <a:ea typeface="맑은 고딕" pitchFamily="50" charset="-127"/>
              </a:rPr>
              <a:t>thành</a:t>
            </a:r>
            <a:r>
              <a:rPr lang="vi-VN" altLang="ko-KR" sz="1100" dirty="0">
                <a:latin typeface="arial" pitchFamily="34" charset="0"/>
                <a:ea typeface="맑은 고딕" pitchFamily="50" charset="-127"/>
              </a:rPr>
              <a:t> phẩm.</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Người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tiến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hành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thập</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và</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đạc</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độ</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dài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của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linh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kiện</a:t>
            </a:r>
            <a:r>
              <a:rPr lang="en-US" altLang="ko-KR" sz="1100" dirty="0">
                <a:latin typeface="arial" pitchFamily="34" charset="0"/>
                <a:ea typeface="맑은 고딕" pitchFamily="50" charset="-127"/>
              </a:rPr>
              <a:t> A OK </a:t>
            </a:r>
            <a:r>
              <a:rPr lang="en-US" altLang="ko-KR" sz="1100" dirty="0" err="1">
                <a:latin typeface="arial" pitchFamily="34" charset="0"/>
                <a:ea typeface="맑은 고딕" pitchFamily="50" charset="-127"/>
              </a:rPr>
              <a:t>và</a:t>
            </a:r>
            <a:r>
              <a:rPr lang="en-US" altLang="ko-KR" sz="1100" dirty="0">
                <a:latin typeface="arial" pitchFamily="34" charset="0"/>
                <a:ea typeface="맑은 고딕" pitchFamily="50" charset="-127"/>
              </a:rPr>
              <a:t> NG.</a:t>
            </a:r>
            <a:r>
              <a:rPr lang="vi-VN" altLang="ko-KR" sz="1100" dirty="0">
                <a:latin typeface="arial" pitchFamily="34" charset="0"/>
                <a:ea typeface="맑은 고딕" pitchFamily="50" charset="-127"/>
              </a:rPr>
              <a:t> Các kết quả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đạc</a:t>
            </a:r>
            <a:r>
              <a:rPr lang="vi-VN" altLang="ko-KR" sz="1100" dirty="0">
                <a:latin typeface="arial" pitchFamily="34" charset="0"/>
                <a:ea typeface="맑은 고딕" pitchFamily="50" charset="-127"/>
              </a:rPr>
              <a:t> được trình bày trong bảng bên phải.</a:t>
            </a:r>
            <a:endParaRPr lang="en-US" altLang="ko-KR" sz="1100" dirty="0">
              <a:latin typeface="arial" pitchFamily="34" charset="0"/>
              <a:ea typeface="맑은 고딕" pitchFamily="50" charset="-127"/>
            </a:endParaRPr>
          </a:p>
        </p:txBody>
      </p:sp>
      <p:sp>
        <p:nvSpPr>
          <p:cNvPr id="27" name="TextBox 2"/>
          <p:cNvSpPr txBox="1">
            <a:spLocks noChangeArrowheads="1"/>
          </p:cNvSpPr>
          <p:nvPr/>
        </p:nvSpPr>
        <p:spPr bwMode="auto">
          <a:xfrm>
            <a:off x="128588" y="260350"/>
            <a:ext cx="2464136" cy="450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2000" b="1" dirty="0" err="1">
                <a:latin typeface="arial" pitchFamily="34" charset="0"/>
                <a:ea typeface="맑은 고딕" pitchFamily="50" charset="-127"/>
              </a:rPr>
              <a:t>Đôi</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điều</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suy</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ngẫm</a:t>
            </a:r>
            <a:endParaRPr lang="ko-KR" altLang="en-US" sz="2000" b="1" dirty="0">
              <a:latin typeface="arial" pitchFamily="34" charset="0"/>
              <a:ea typeface="맑은 고딕" pitchFamily="50" charset="-127"/>
            </a:endParaRPr>
          </a:p>
        </p:txBody>
      </p:sp>
      <p:graphicFrame>
        <p:nvGraphicFramePr>
          <p:cNvPr id="28" name="Group 131"/>
          <p:cNvGraphicFramePr>
            <a:graphicFrameLocks noGrp="1"/>
          </p:cNvGraphicFramePr>
          <p:nvPr>
            <p:extLst>
              <p:ext uri="{D42A27DB-BD31-4B8C-83A1-F6EECF244321}">
                <p14:modId xmlns:p14="http://schemas.microsoft.com/office/powerpoint/2010/main" val="60139381"/>
              </p:ext>
            </p:extLst>
          </p:nvPr>
        </p:nvGraphicFramePr>
        <p:xfrm>
          <a:off x="4068763" y="1093788"/>
          <a:ext cx="5564187" cy="974732"/>
        </p:xfrm>
        <a:graphic>
          <a:graphicData uri="http://schemas.openxmlformats.org/drawingml/2006/table">
            <a:tbl>
              <a:tblPr/>
              <a:tblGrid>
                <a:gridCol w="812229">
                  <a:extLst>
                    <a:ext uri="{9D8B030D-6E8A-4147-A177-3AD203B41FA5}">
                      <a16:colId xmlns:a16="http://schemas.microsoft.com/office/drawing/2014/main" val="20000"/>
                    </a:ext>
                  </a:extLst>
                </a:gridCol>
                <a:gridCol w="3065079">
                  <a:extLst>
                    <a:ext uri="{9D8B030D-6E8A-4147-A177-3AD203B41FA5}">
                      <a16:colId xmlns:a16="http://schemas.microsoft.com/office/drawing/2014/main" val="20001"/>
                    </a:ext>
                  </a:extLst>
                </a:gridCol>
                <a:gridCol w="625793">
                  <a:extLst>
                    <a:ext uri="{9D8B030D-6E8A-4147-A177-3AD203B41FA5}">
                      <a16:colId xmlns:a16="http://schemas.microsoft.com/office/drawing/2014/main" val="20002"/>
                    </a:ext>
                  </a:extLst>
                </a:gridCol>
                <a:gridCol w="530543">
                  <a:extLst>
                    <a:ext uri="{9D8B030D-6E8A-4147-A177-3AD203B41FA5}">
                      <a16:colId xmlns:a16="http://schemas.microsoft.com/office/drawing/2014/main" val="20003"/>
                    </a:ext>
                  </a:extLst>
                </a:gridCol>
                <a:gridCol w="530543">
                  <a:extLst>
                    <a:ext uri="{9D8B030D-6E8A-4147-A177-3AD203B41FA5}">
                      <a16:colId xmlns:a16="http://schemas.microsoft.com/office/drawing/2014/main" val="20004"/>
                    </a:ext>
                  </a:extLst>
                </a:gridCol>
              </a:tblGrid>
              <a:tr h="274108">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Nhóm</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Kích</a:t>
                      </a: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 </a:t>
                      </a: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thước</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Trung</a:t>
                      </a: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 </a:t>
                      </a:r>
                      <a:r>
                        <a:rPr kumimoji="1" lang="en-US" altLang="ko-KR" sz="1100" b="1" i="0" u="none" strike="noStrike" cap="none" normalizeH="0" baseline="0" dirty="0" err="1">
                          <a:ln>
                            <a:noFill/>
                          </a:ln>
                          <a:solidFill>
                            <a:schemeClr val="tx1"/>
                          </a:solidFill>
                          <a:effectLst/>
                          <a:latin typeface="arial" pitchFamily="34" charset="0"/>
                          <a:ea typeface="맑은 고딕" panose="020B0503020000020004" pitchFamily="50" charset="-127"/>
                        </a:rPr>
                        <a:t>bình</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Min</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Max</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274108">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OK</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110, 108, 105, 102, 118, 101, 105, 110, 117</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108.4</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101</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118</a:t>
                      </a:r>
                    </a:p>
                  </a:txBody>
                  <a:tcPr marT="45618" marB="4561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74108">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NG</a:t>
                      </a:r>
                      <a:endParaRPr kumimoji="1" lang="ko-KR" altLang="en-US" sz="1100" b="1" i="0" u="none" strike="noStrike" cap="none" normalizeH="0" baseline="0" dirty="0">
                        <a:ln>
                          <a:noFill/>
                        </a:ln>
                        <a:solidFill>
                          <a:schemeClr val="tx1"/>
                        </a:solidFill>
                        <a:effectLst/>
                        <a:latin typeface="arial" pitchFamily="34" charset="0"/>
                        <a:ea typeface="맑은 고딕" panose="020B0503020000020004" pitchFamily="50" charset="-127"/>
                      </a:endParaRPr>
                    </a:p>
                  </a:txBody>
                  <a:tcPr marT="45618" marB="4561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105, 110, 113, 115, 108, 118, 109, 105, 120</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111.4</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105</a:t>
                      </a:r>
                    </a:p>
                  </a:txBody>
                  <a:tcPr marT="45618" marB="456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 typeface="Arial" pitchFamily="34" charset="0"/>
                        <a:buNone/>
                        <a:tabLst/>
                      </a:pPr>
                      <a:r>
                        <a:rPr kumimoji="1" lang="en-US" altLang="ko-KR" sz="1100" b="1" i="0" u="none" strike="noStrike" cap="none" normalizeH="0" baseline="0" dirty="0">
                          <a:ln>
                            <a:noFill/>
                          </a:ln>
                          <a:solidFill>
                            <a:schemeClr val="tx1"/>
                          </a:solidFill>
                          <a:effectLst/>
                          <a:latin typeface="arial" pitchFamily="34" charset="0"/>
                          <a:ea typeface="맑은 고딕" panose="020B0503020000020004" pitchFamily="50" charset="-127"/>
                        </a:rPr>
                        <a:t>120</a:t>
                      </a:r>
                    </a:p>
                  </a:txBody>
                  <a:tcPr marT="45618" marB="4561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845651604"/>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Text Box 4"/>
          <p:cNvSpPr txBox="1">
            <a:spLocks noChangeArrowheads="1"/>
          </p:cNvSpPr>
          <p:nvPr/>
        </p:nvSpPr>
        <p:spPr bwMode="auto">
          <a:xfrm>
            <a:off x="217488" y="2506663"/>
            <a:ext cx="6823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13" tIns="45707" rIns="91413" bIns="45707">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400" b="1" dirty="0" err="1">
                <a:solidFill>
                  <a:srgbClr val="000000"/>
                </a:solidFill>
                <a:latin typeface="arial" pitchFamily="34" charset="0"/>
                <a:ea typeface="맑은 고딕" pitchFamily="50" charset="-127"/>
              </a:rPr>
              <a:t>Kiểm</a:t>
            </a:r>
            <a:r>
              <a:rPr lang="en-US" altLang="ko-KR" sz="2400" b="1" dirty="0">
                <a:solidFill>
                  <a:srgbClr val="000000"/>
                </a:solidFill>
                <a:latin typeface="arial" pitchFamily="34" charset="0"/>
                <a:ea typeface="맑은 고딕" pitchFamily="50" charset="-127"/>
              </a:rPr>
              <a:t> </a:t>
            </a:r>
            <a:r>
              <a:rPr lang="en-US" altLang="ko-KR" sz="2400" b="1" dirty="0" err="1">
                <a:solidFill>
                  <a:srgbClr val="000000"/>
                </a:solidFill>
                <a:latin typeface="arial" pitchFamily="34" charset="0"/>
                <a:ea typeface="맑은 고딕" pitchFamily="50" charset="-127"/>
              </a:rPr>
              <a:t>định</a:t>
            </a:r>
            <a:r>
              <a:rPr lang="en-US" altLang="ko-KR" sz="2400" b="1" dirty="0">
                <a:solidFill>
                  <a:srgbClr val="000000"/>
                </a:solidFill>
                <a:latin typeface="arial" pitchFamily="34" charset="0"/>
                <a:ea typeface="맑은 고딕" pitchFamily="50" charset="-127"/>
              </a:rPr>
              <a:t> </a:t>
            </a:r>
            <a:r>
              <a:rPr lang="en-US" altLang="ko-KR" sz="2400" b="1" dirty="0" err="1">
                <a:solidFill>
                  <a:srgbClr val="000000"/>
                </a:solidFill>
                <a:latin typeface="arial" pitchFamily="34" charset="0"/>
                <a:ea typeface="맑은 고딕" pitchFamily="50" charset="-127"/>
              </a:rPr>
              <a:t>giả</a:t>
            </a:r>
            <a:r>
              <a:rPr lang="en-US" altLang="ko-KR" sz="2400" b="1" dirty="0">
                <a:solidFill>
                  <a:srgbClr val="000000"/>
                </a:solidFill>
                <a:latin typeface="arial" pitchFamily="34" charset="0"/>
                <a:ea typeface="맑은 고딕" pitchFamily="50" charset="-127"/>
              </a:rPr>
              <a:t> </a:t>
            </a:r>
            <a:r>
              <a:rPr lang="en-US" altLang="ko-KR" sz="2400" b="1" dirty="0" err="1">
                <a:solidFill>
                  <a:srgbClr val="000000"/>
                </a:solidFill>
                <a:latin typeface="arial" pitchFamily="34" charset="0"/>
                <a:ea typeface="맑은 고딕" pitchFamily="50" charset="-127"/>
              </a:rPr>
              <a:t>thuyết</a:t>
            </a:r>
            <a:r>
              <a:rPr lang="en-US" altLang="ko-KR" sz="2400" b="1" dirty="0">
                <a:solidFill>
                  <a:srgbClr val="000000"/>
                </a:solidFill>
                <a:latin typeface="arial" pitchFamily="34" charset="0"/>
                <a:ea typeface="맑은 고딕" pitchFamily="50" charset="-127"/>
              </a:rPr>
              <a:t> (Hypothesis verification)</a:t>
            </a:r>
            <a:endParaRPr lang="ko-KR" altLang="en-US" sz="2400" b="1" dirty="0">
              <a:solidFill>
                <a:srgbClr val="000000"/>
              </a:solidFill>
              <a:latin typeface="arial" pitchFamily="34" charset="0"/>
              <a:ea typeface="맑은 고딕" pitchFamily="50" charset="-127"/>
            </a:endParaRPr>
          </a:p>
        </p:txBody>
      </p:sp>
      <p:sp>
        <p:nvSpPr>
          <p:cNvPr id="5" name="Text Box 4"/>
          <p:cNvSpPr txBox="1">
            <a:spLocks noChangeArrowheads="1"/>
          </p:cNvSpPr>
          <p:nvPr/>
        </p:nvSpPr>
        <p:spPr bwMode="auto">
          <a:xfrm>
            <a:off x="2216150" y="3573463"/>
            <a:ext cx="4819502" cy="1323405"/>
          </a:xfrm>
          <a:prstGeom prst="rect">
            <a:avLst/>
          </a:prstGeom>
          <a:noFill/>
          <a:ln w="12700" cap="rnd">
            <a:noFill/>
            <a:miter lim="800000"/>
            <a:headEnd type="none" w="sm" len="sm"/>
            <a:tailEnd type="none" w="sm" len="sm"/>
          </a:ln>
        </p:spPr>
        <p:txBody>
          <a:bodyPr wrap="square" lIns="91405" tIns="45703" rIns="91405" bIns="45703">
            <a:spAutoFit/>
          </a:bodyPr>
          <a:lstStyle/>
          <a:p>
            <a:pPr marL="87313" indent="-87313">
              <a:buFontTx/>
              <a:buAutoNum type="arabicPeriod"/>
              <a:defRPr/>
            </a:pPr>
            <a:r>
              <a:rPr lang="en-US" altLang="ko-KR"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Giới</a:t>
            </a:r>
            <a:r>
              <a:rPr lang="en-US" altLang="ko-KR"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thiệu</a:t>
            </a:r>
            <a:endParaRPr lang="en-US" altLang="ko-KR" sz="1600" b="1" dirty="0">
              <a:solidFill>
                <a:srgbClr val="000000"/>
              </a:solidFill>
              <a:latin typeface="arial" pitchFamily="34" charset="0"/>
              <a:ea typeface="맑은 고딕" panose="020B0503020000020004" pitchFamily="50" charset="-127"/>
            </a:endParaRPr>
          </a:p>
          <a:p>
            <a:pPr marL="87313" indent="-87313">
              <a:buFontTx/>
              <a:buAutoNum type="arabicPeriod"/>
              <a:defRPr/>
            </a:pPr>
            <a:r>
              <a:rPr lang="ko-KR" altLang="en-US"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Định</a:t>
            </a:r>
            <a:r>
              <a:rPr lang="en-US" altLang="ko-KR"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nghĩa</a:t>
            </a:r>
            <a:endParaRPr lang="en-US" altLang="ko-KR" sz="1600" b="1" dirty="0">
              <a:solidFill>
                <a:srgbClr val="000000"/>
              </a:solidFill>
              <a:latin typeface="arial" pitchFamily="34" charset="0"/>
              <a:ea typeface="맑은 고딕" panose="020B0503020000020004" pitchFamily="50" charset="-127"/>
            </a:endParaRPr>
          </a:p>
          <a:p>
            <a:pPr>
              <a:buFontTx/>
              <a:buAutoNum type="arabicPeriod"/>
              <a:defRPr/>
            </a:pPr>
            <a:r>
              <a:rPr lang="ko-KR" altLang="en-US"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Các</a:t>
            </a:r>
            <a:r>
              <a:rPr lang="en-US" altLang="ko-KR"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loại</a:t>
            </a:r>
            <a:r>
              <a:rPr lang="en-US" altLang="ko-KR"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kiểm</a:t>
            </a:r>
            <a:r>
              <a:rPr lang="en-US" altLang="ko-KR"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định</a:t>
            </a:r>
            <a:r>
              <a:rPr lang="en-US" altLang="ko-KR"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giả</a:t>
            </a:r>
            <a:r>
              <a:rPr lang="en-US" altLang="ko-KR"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anose="020B0503020000020004" pitchFamily="50" charset="-127"/>
              </a:rPr>
              <a:t>thuyết</a:t>
            </a:r>
            <a:endParaRPr lang="en-US" altLang="ko-KR" sz="1600" b="1" dirty="0">
              <a:solidFill>
                <a:srgbClr val="000000"/>
              </a:solidFill>
              <a:latin typeface="arial" pitchFamily="34" charset="0"/>
              <a:ea typeface="맑은 고딕" panose="020B0503020000020004" pitchFamily="50" charset="-127"/>
            </a:endParaRPr>
          </a:p>
          <a:p>
            <a:pPr>
              <a:buFontTx/>
              <a:buAutoNum type="arabicPeriod"/>
              <a:defRPr/>
            </a:pPr>
            <a:r>
              <a:rPr lang="ko-KR" altLang="en-US"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itchFamily="50" charset="-127"/>
              </a:rPr>
              <a:t>Các</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bước</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en-US" altLang="ko-KR" sz="1600" b="1" dirty="0">
              <a:solidFill>
                <a:srgbClr val="000000"/>
              </a:solidFill>
              <a:latin typeface="arial" pitchFamily="34" charset="0"/>
              <a:ea typeface="맑은 고딕" panose="020B0503020000020004" pitchFamily="50" charset="-127"/>
            </a:endParaRPr>
          </a:p>
          <a:p>
            <a:pPr marL="87313" indent="-87313">
              <a:buFontTx/>
              <a:buAutoNum type="arabicPeriod"/>
              <a:defRPr/>
            </a:pPr>
            <a:r>
              <a:rPr lang="ko-KR" altLang="en-US" sz="1600" b="1" dirty="0">
                <a:solidFill>
                  <a:srgbClr val="000000"/>
                </a:solidFill>
                <a:latin typeface="arial" pitchFamily="34" charset="0"/>
                <a:ea typeface="맑은 고딕" panose="020B0503020000020004" pitchFamily="50" charset="-127"/>
              </a:rPr>
              <a:t> </a:t>
            </a:r>
            <a:r>
              <a:rPr lang="en-US" altLang="ko-KR" sz="1600" b="1" dirty="0" err="1">
                <a:solidFill>
                  <a:srgbClr val="000000"/>
                </a:solidFill>
                <a:latin typeface="arial" pitchFamily="34" charset="0"/>
                <a:ea typeface="맑은 고딕" pitchFamily="50" charset="-127"/>
              </a:rPr>
              <a:t>Sử</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dụng</a:t>
            </a:r>
            <a:r>
              <a:rPr lang="en-US" altLang="ko-KR" sz="1600" b="1" dirty="0">
                <a:solidFill>
                  <a:srgbClr val="000000"/>
                </a:solidFill>
                <a:latin typeface="arial" pitchFamily="34" charset="0"/>
                <a:ea typeface="맑은 고딕" pitchFamily="50" charset="-127"/>
              </a:rPr>
              <a:t> Minitab </a:t>
            </a:r>
            <a:r>
              <a:rPr lang="en-US" altLang="ko-KR" sz="1600" b="1" dirty="0" err="1">
                <a:solidFill>
                  <a:srgbClr val="000000"/>
                </a:solidFill>
                <a:latin typeface="arial" pitchFamily="34" charset="0"/>
                <a:ea typeface="맑은 고딕" pitchFamily="50" charset="-127"/>
              </a:rPr>
              <a:t>để</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tính</a:t>
            </a:r>
            <a:r>
              <a:rPr lang="en-US" altLang="ko-KR" sz="1600" b="1" dirty="0">
                <a:solidFill>
                  <a:srgbClr val="000000"/>
                </a:solidFill>
                <a:latin typeface="arial" pitchFamily="34" charset="0"/>
                <a:ea typeface="맑은 고딕" pitchFamily="50" charset="-127"/>
              </a:rPr>
              <a:t> P-value</a:t>
            </a:r>
          </a:p>
        </p:txBody>
      </p:sp>
      <p:grpSp>
        <p:nvGrpSpPr>
          <p:cNvPr id="2" name="그룹 98"/>
          <p:cNvGrpSpPr>
            <a:grpSpLocks/>
          </p:cNvGrpSpPr>
          <p:nvPr/>
        </p:nvGrpSpPr>
        <p:grpSpPr bwMode="auto">
          <a:xfrm>
            <a:off x="6465168" y="1878013"/>
            <a:ext cx="2951163" cy="2171700"/>
            <a:chOff x="5241032" y="1906092"/>
            <a:chExt cx="2038350" cy="1343025"/>
          </a:xfrm>
        </p:grpSpPr>
        <p:pic>
          <p:nvPicPr>
            <p:cNvPr id="188421" name="Picture 13" descr="j0254370"/>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5241032" y="2564904"/>
              <a:ext cx="990600" cy="67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14"/>
            <p:cNvGrpSpPr>
              <a:grpSpLocks/>
            </p:cNvGrpSpPr>
            <p:nvPr/>
          </p:nvGrpSpPr>
          <p:grpSpPr bwMode="auto">
            <a:xfrm>
              <a:off x="5985570" y="1906092"/>
              <a:ext cx="1293812" cy="1343025"/>
              <a:chOff x="1969" y="532"/>
              <a:chExt cx="752" cy="846"/>
            </a:xfrm>
          </p:grpSpPr>
          <p:sp>
            <p:nvSpPr>
              <p:cNvPr id="188423" name="Freeform 15"/>
              <p:cNvSpPr>
                <a:spLocks/>
              </p:cNvSpPr>
              <p:nvPr/>
            </p:nvSpPr>
            <p:spPr bwMode="auto">
              <a:xfrm>
                <a:off x="1973" y="547"/>
                <a:ext cx="746" cy="827"/>
              </a:xfrm>
              <a:custGeom>
                <a:avLst/>
                <a:gdLst>
                  <a:gd name="T0" fmla="*/ 1 w 1491"/>
                  <a:gd name="T1" fmla="*/ 1 h 1653"/>
                  <a:gd name="T2" fmla="*/ 1 w 1491"/>
                  <a:gd name="T3" fmla="*/ 1 h 1653"/>
                  <a:gd name="T4" fmla="*/ 1 w 1491"/>
                  <a:gd name="T5" fmla="*/ 1 h 1653"/>
                  <a:gd name="T6" fmla="*/ 1 w 1491"/>
                  <a:gd name="T7" fmla="*/ 2 h 1653"/>
                  <a:gd name="T8" fmla="*/ 1 w 1491"/>
                  <a:gd name="T9" fmla="*/ 3 h 1653"/>
                  <a:gd name="T10" fmla="*/ 1 w 1491"/>
                  <a:gd name="T11" fmla="*/ 3 h 1653"/>
                  <a:gd name="T12" fmla="*/ 1 w 1491"/>
                  <a:gd name="T13" fmla="*/ 3 h 1653"/>
                  <a:gd name="T14" fmla="*/ 1 w 1491"/>
                  <a:gd name="T15" fmla="*/ 3 h 1653"/>
                  <a:gd name="T16" fmla="*/ 1 w 1491"/>
                  <a:gd name="T17" fmla="*/ 3 h 1653"/>
                  <a:gd name="T18" fmla="*/ 1 w 1491"/>
                  <a:gd name="T19" fmla="*/ 3 h 1653"/>
                  <a:gd name="T20" fmla="*/ 1 w 1491"/>
                  <a:gd name="T21" fmla="*/ 3 h 1653"/>
                  <a:gd name="T22" fmla="*/ 1 w 1491"/>
                  <a:gd name="T23" fmla="*/ 4 h 1653"/>
                  <a:gd name="T24" fmla="*/ 1 w 1491"/>
                  <a:gd name="T25" fmla="*/ 5 h 1653"/>
                  <a:gd name="T26" fmla="*/ 1 w 1491"/>
                  <a:gd name="T27" fmla="*/ 6 h 1653"/>
                  <a:gd name="T28" fmla="*/ 2 w 1491"/>
                  <a:gd name="T29" fmla="*/ 6 h 1653"/>
                  <a:gd name="T30" fmla="*/ 2 w 1491"/>
                  <a:gd name="T31" fmla="*/ 7 h 1653"/>
                  <a:gd name="T32" fmla="*/ 3 w 1491"/>
                  <a:gd name="T33" fmla="*/ 7 h 1653"/>
                  <a:gd name="T34" fmla="*/ 3 w 1491"/>
                  <a:gd name="T35" fmla="*/ 7 h 1653"/>
                  <a:gd name="T36" fmla="*/ 4 w 1491"/>
                  <a:gd name="T37" fmla="*/ 6 h 1653"/>
                  <a:gd name="T38" fmla="*/ 4 w 1491"/>
                  <a:gd name="T39" fmla="*/ 6 h 1653"/>
                  <a:gd name="T40" fmla="*/ 5 w 1491"/>
                  <a:gd name="T41" fmla="*/ 6 h 1653"/>
                  <a:gd name="T42" fmla="*/ 5 w 1491"/>
                  <a:gd name="T43" fmla="*/ 6 h 1653"/>
                  <a:gd name="T44" fmla="*/ 5 w 1491"/>
                  <a:gd name="T45" fmla="*/ 6 h 1653"/>
                  <a:gd name="T46" fmla="*/ 6 w 1491"/>
                  <a:gd name="T47" fmla="*/ 5 h 1653"/>
                  <a:gd name="T48" fmla="*/ 6 w 1491"/>
                  <a:gd name="T49" fmla="*/ 5 h 1653"/>
                  <a:gd name="T50" fmla="*/ 6 w 1491"/>
                  <a:gd name="T51" fmla="*/ 5 h 1653"/>
                  <a:gd name="T52" fmla="*/ 6 w 1491"/>
                  <a:gd name="T53" fmla="*/ 4 h 1653"/>
                  <a:gd name="T54" fmla="*/ 6 w 1491"/>
                  <a:gd name="T55" fmla="*/ 4 h 1653"/>
                  <a:gd name="T56" fmla="*/ 5 w 1491"/>
                  <a:gd name="T57" fmla="*/ 4 h 1653"/>
                  <a:gd name="T58" fmla="*/ 6 w 1491"/>
                  <a:gd name="T59" fmla="*/ 4 h 1653"/>
                  <a:gd name="T60" fmla="*/ 6 w 1491"/>
                  <a:gd name="T61" fmla="*/ 4 h 1653"/>
                  <a:gd name="T62" fmla="*/ 5 w 1491"/>
                  <a:gd name="T63" fmla="*/ 4 h 1653"/>
                  <a:gd name="T64" fmla="*/ 5 w 1491"/>
                  <a:gd name="T65" fmla="*/ 3 h 1653"/>
                  <a:gd name="T66" fmla="*/ 5 w 1491"/>
                  <a:gd name="T67" fmla="*/ 2 h 1653"/>
                  <a:gd name="T68" fmla="*/ 1 w 1491"/>
                  <a:gd name="T69" fmla="*/ 0 h 16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91"/>
                  <a:gd name="T106" fmla="*/ 0 h 1653"/>
                  <a:gd name="T107" fmla="*/ 1491 w 1491"/>
                  <a:gd name="T108" fmla="*/ 1653 h 16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91" h="1653">
                    <a:moveTo>
                      <a:pt x="227" y="0"/>
                    </a:moveTo>
                    <a:lnTo>
                      <a:pt x="153" y="1"/>
                    </a:lnTo>
                    <a:lnTo>
                      <a:pt x="89" y="28"/>
                    </a:lnTo>
                    <a:lnTo>
                      <a:pt x="67" y="62"/>
                    </a:lnTo>
                    <a:lnTo>
                      <a:pt x="73" y="120"/>
                    </a:lnTo>
                    <a:lnTo>
                      <a:pt x="71" y="191"/>
                    </a:lnTo>
                    <a:lnTo>
                      <a:pt x="49" y="265"/>
                    </a:lnTo>
                    <a:lnTo>
                      <a:pt x="46" y="331"/>
                    </a:lnTo>
                    <a:lnTo>
                      <a:pt x="19" y="446"/>
                    </a:lnTo>
                    <a:lnTo>
                      <a:pt x="6" y="534"/>
                    </a:lnTo>
                    <a:lnTo>
                      <a:pt x="0" y="580"/>
                    </a:lnTo>
                    <a:lnTo>
                      <a:pt x="3" y="618"/>
                    </a:lnTo>
                    <a:lnTo>
                      <a:pt x="16" y="646"/>
                    </a:lnTo>
                    <a:lnTo>
                      <a:pt x="36" y="651"/>
                    </a:lnTo>
                    <a:lnTo>
                      <a:pt x="103" y="627"/>
                    </a:lnTo>
                    <a:lnTo>
                      <a:pt x="160" y="633"/>
                    </a:lnTo>
                    <a:lnTo>
                      <a:pt x="213" y="638"/>
                    </a:lnTo>
                    <a:lnTo>
                      <a:pt x="223" y="658"/>
                    </a:lnTo>
                    <a:lnTo>
                      <a:pt x="204" y="690"/>
                    </a:lnTo>
                    <a:lnTo>
                      <a:pt x="169" y="697"/>
                    </a:lnTo>
                    <a:lnTo>
                      <a:pt x="126" y="693"/>
                    </a:lnTo>
                    <a:lnTo>
                      <a:pt x="47" y="706"/>
                    </a:lnTo>
                    <a:lnTo>
                      <a:pt x="46" y="721"/>
                    </a:lnTo>
                    <a:lnTo>
                      <a:pt x="76" y="856"/>
                    </a:lnTo>
                    <a:lnTo>
                      <a:pt x="114" y="980"/>
                    </a:lnTo>
                    <a:lnTo>
                      <a:pt x="110" y="1112"/>
                    </a:lnTo>
                    <a:lnTo>
                      <a:pt x="129" y="1194"/>
                    </a:lnTo>
                    <a:lnTo>
                      <a:pt x="190" y="1332"/>
                    </a:lnTo>
                    <a:lnTo>
                      <a:pt x="242" y="1445"/>
                    </a:lnTo>
                    <a:lnTo>
                      <a:pt x="303" y="1490"/>
                    </a:lnTo>
                    <a:lnTo>
                      <a:pt x="342" y="1530"/>
                    </a:lnTo>
                    <a:lnTo>
                      <a:pt x="439" y="1575"/>
                    </a:lnTo>
                    <a:lnTo>
                      <a:pt x="496" y="1586"/>
                    </a:lnTo>
                    <a:lnTo>
                      <a:pt x="575" y="1642"/>
                    </a:lnTo>
                    <a:lnTo>
                      <a:pt x="613" y="1653"/>
                    </a:lnTo>
                    <a:lnTo>
                      <a:pt x="708" y="1575"/>
                    </a:lnTo>
                    <a:lnTo>
                      <a:pt x="773" y="1559"/>
                    </a:lnTo>
                    <a:lnTo>
                      <a:pt x="882" y="1506"/>
                    </a:lnTo>
                    <a:lnTo>
                      <a:pt x="919" y="1477"/>
                    </a:lnTo>
                    <a:lnTo>
                      <a:pt x="984" y="1436"/>
                    </a:lnTo>
                    <a:lnTo>
                      <a:pt x="1059" y="1415"/>
                    </a:lnTo>
                    <a:lnTo>
                      <a:pt x="1109" y="1395"/>
                    </a:lnTo>
                    <a:lnTo>
                      <a:pt x="1099" y="1336"/>
                    </a:lnTo>
                    <a:lnTo>
                      <a:pt x="1119" y="1320"/>
                    </a:lnTo>
                    <a:lnTo>
                      <a:pt x="1141" y="1332"/>
                    </a:lnTo>
                    <a:lnTo>
                      <a:pt x="1168" y="1370"/>
                    </a:lnTo>
                    <a:lnTo>
                      <a:pt x="1325" y="1277"/>
                    </a:lnTo>
                    <a:lnTo>
                      <a:pt x="1443" y="1206"/>
                    </a:lnTo>
                    <a:lnTo>
                      <a:pt x="1485" y="1194"/>
                    </a:lnTo>
                    <a:lnTo>
                      <a:pt x="1491" y="1172"/>
                    </a:lnTo>
                    <a:lnTo>
                      <a:pt x="1467" y="1114"/>
                    </a:lnTo>
                    <a:lnTo>
                      <a:pt x="1387" y="1027"/>
                    </a:lnTo>
                    <a:lnTo>
                      <a:pt x="1367" y="954"/>
                    </a:lnTo>
                    <a:lnTo>
                      <a:pt x="1358" y="933"/>
                    </a:lnTo>
                    <a:lnTo>
                      <a:pt x="1351" y="924"/>
                    </a:lnTo>
                    <a:lnTo>
                      <a:pt x="1325" y="934"/>
                    </a:lnTo>
                    <a:lnTo>
                      <a:pt x="1290" y="933"/>
                    </a:lnTo>
                    <a:lnTo>
                      <a:pt x="1272" y="920"/>
                    </a:lnTo>
                    <a:lnTo>
                      <a:pt x="1304" y="889"/>
                    </a:lnTo>
                    <a:lnTo>
                      <a:pt x="1338" y="871"/>
                    </a:lnTo>
                    <a:lnTo>
                      <a:pt x="1337" y="856"/>
                    </a:lnTo>
                    <a:lnTo>
                      <a:pt x="1300" y="789"/>
                    </a:lnTo>
                    <a:lnTo>
                      <a:pt x="1251" y="786"/>
                    </a:lnTo>
                    <a:lnTo>
                      <a:pt x="1244" y="773"/>
                    </a:lnTo>
                    <a:lnTo>
                      <a:pt x="1275" y="736"/>
                    </a:lnTo>
                    <a:lnTo>
                      <a:pt x="1245" y="650"/>
                    </a:lnTo>
                    <a:lnTo>
                      <a:pt x="1237" y="556"/>
                    </a:lnTo>
                    <a:lnTo>
                      <a:pt x="1237" y="494"/>
                    </a:lnTo>
                    <a:lnTo>
                      <a:pt x="1232" y="430"/>
                    </a:lnTo>
                    <a:lnTo>
                      <a:pt x="227" y="0"/>
                    </a:lnTo>
                    <a:close/>
                  </a:path>
                </a:pathLst>
              </a:custGeom>
              <a:solidFill>
                <a:srgbClr val="FFE6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24" name="Freeform 16"/>
              <p:cNvSpPr>
                <a:spLocks/>
              </p:cNvSpPr>
              <p:nvPr/>
            </p:nvSpPr>
            <p:spPr bwMode="auto">
              <a:xfrm>
                <a:off x="2058" y="634"/>
                <a:ext cx="100" cy="81"/>
              </a:xfrm>
              <a:custGeom>
                <a:avLst/>
                <a:gdLst>
                  <a:gd name="T0" fmla="*/ 1 w 200"/>
                  <a:gd name="T1" fmla="*/ 1 h 161"/>
                  <a:gd name="T2" fmla="*/ 1 w 200"/>
                  <a:gd name="T3" fmla="*/ 1 h 161"/>
                  <a:gd name="T4" fmla="*/ 1 w 200"/>
                  <a:gd name="T5" fmla="*/ 1 h 161"/>
                  <a:gd name="T6" fmla="*/ 1 w 200"/>
                  <a:gd name="T7" fmla="*/ 0 h 161"/>
                  <a:gd name="T8" fmla="*/ 1 w 200"/>
                  <a:gd name="T9" fmla="*/ 1 h 161"/>
                  <a:gd name="T10" fmla="*/ 1 w 200"/>
                  <a:gd name="T11" fmla="*/ 1 h 161"/>
                  <a:gd name="T12" fmla="*/ 0 w 200"/>
                  <a:gd name="T13" fmla="*/ 1 h 161"/>
                  <a:gd name="T14" fmla="*/ 1 w 200"/>
                  <a:gd name="T15" fmla="*/ 1 h 161"/>
                  <a:gd name="T16" fmla="*/ 1 w 200"/>
                  <a:gd name="T17" fmla="*/ 1 h 161"/>
                  <a:gd name="T18" fmla="*/ 1 w 200"/>
                  <a:gd name="T19" fmla="*/ 1 h 161"/>
                  <a:gd name="T20" fmla="*/ 1 w 200"/>
                  <a:gd name="T21" fmla="*/ 1 h 161"/>
                  <a:gd name="T22" fmla="*/ 1 w 200"/>
                  <a:gd name="T23" fmla="*/ 1 h 161"/>
                  <a:gd name="T24" fmla="*/ 1 w 200"/>
                  <a:gd name="T25" fmla="*/ 1 h 161"/>
                  <a:gd name="T26" fmla="*/ 1 w 200"/>
                  <a:gd name="T27" fmla="*/ 1 h 161"/>
                  <a:gd name="T28" fmla="*/ 1 w 200"/>
                  <a:gd name="T29" fmla="*/ 1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0"/>
                  <a:gd name="T46" fmla="*/ 0 h 161"/>
                  <a:gd name="T47" fmla="*/ 200 w 200"/>
                  <a:gd name="T48" fmla="*/ 161 h 1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0" h="161">
                    <a:moveTo>
                      <a:pt x="200" y="54"/>
                    </a:moveTo>
                    <a:lnTo>
                      <a:pt x="130" y="51"/>
                    </a:lnTo>
                    <a:lnTo>
                      <a:pt x="102" y="20"/>
                    </a:lnTo>
                    <a:lnTo>
                      <a:pt x="69" y="0"/>
                    </a:lnTo>
                    <a:lnTo>
                      <a:pt x="36" y="5"/>
                    </a:lnTo>
                    <a:lnTo>
                      <a:pt x="3" y="38"/>
                    </a:lnTo>
                    <a:lnTo>
                      <a:pt x="0" y="78"/>
                    </a:lnTo>
                    <a:lnTo>
                      <a:pt x="13" y="107"/>
                    </a:lnTo>
                    <a:lnTo>
                      <a:pt x="39" y="145"/>
                    </a:lnTo>
                    <a:lnTo>
                      <a:pt x="113" y="161"/>
                    </a:lnTo>
                    <a:lnTo>
                      <a:pt x="133" y="158"/>
                    </a:lnTo>
                    <a:lnTo>
                      <a:pt x="172" y="131"/>
                    </a:lnTo>
                    <a:lnTo>
                      <a:pt x="196" y="95"/>
                    </a:lnTo>
                    <a:lnTo>
                      <a:pt x="200" y="54"/>
                    </a:lnTo>
                    <a:close/>
                  </a:path>
                </a:pathLst>
              </a:custGeom>
              <a:solidFill>
                <a:srgbClr val="F2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25" name="Freeform 17"/>
              <p:cNvSpPr>
                <a:spLocks/>
              </p:cNvSpPr>
              <p:nvPr/>
            </p:nvSpPr>
            <p:spPr bwMode="auto">
              <a:xfrm>
                <a:off x="2403" y="1045"/>
                <a:ext cx="92" cy="189"/>
              </a:xfrm>
              <a:custGeom>
                <a:avLst/>
                <a:gdLst>
                  <a:gd name="T0" fmla="*/ 1 w 183"/>
                  <a:gd name="T1" fmla="*/ 0 h 379"/>
                  <a:gd name="T2" fmla="*/ 0 w 183"/>
                  <a:gd name="T3" fmla="*/ 0 h 379"/>
                  <a:gd name="T4" fmla="*/ 0 w 183"/>
                  <a:gd name="T5" fmla="*/ 0 h 379"/>
                  <a:gd name="T6" fmla="*/ 1 w 183"/>
                  <a:gd name="T7" fmla="*/ 0 h 379"/>
                  <a:gd name="T8" fmla="*/ 1 w 183"/>
                  <a:gd name="T9" fmla="*/ 0 h 379"/>
                  <a:gd name="T10" fmla="*/ 1 w 183"/>
                  <a:gd name="T11" fmla="*/ 0 h 379"/>
                  <a:gd name="T12" fmla="*/ 1 w 183"/>
                  <a:gd name="T13" fmla="*/ 0 h 379"/>
                  <a:gd name="T14" fmla="*/ 1 w 183"/>
                  <a:gd name="T15" fmla="*/ 0 h 379"/>
                  <a:gd name="T16" fmla="*/ 1 w 183"/>
                  <a:gd name="T17" fmla="*/ 0 h 379"/>
                  <a:gd name="T18" fmla="*/ 1 w 183"/>
                  <a:gd name="T19" fmla="*/ 0 h 379"/>
                  <a:gd name="T20" fmla="*/ 1 w 183"/>
                  <a:gd name="T21" fmla="*/ 0 h 379"/>
                  <a:gd name="T22" fmla="*/ 1 w 183"/>
                  <a:gd name="T23" fmla="*/ 0 h 379"/>
                  <a:gd name="T24" fmla="*/ 1 w 183"/>
                  <a:gd name="T25" fmla="*/ 0 h 379"/>
                  <a:gd name="T26" fmla="*/ 1 w 183"/>
                  <a:gd name="T27" fmla="*/ 0 h 379"/>
                  <a:gd name="T28" fmla="*/ 1 w 183"/>
                  <a:gd name="T29" fmla="*/ 0 h 379"/>
                  <a:gd name="T30" fmla="*/ 1 w 183"/>
                  <a:gd name="T31" fmla="*/ 0 h 379"/>
                  <a:gd name="T32" fmla="*/ 1 w 183"/>
                  <a:gd name="T33" fmla="*/ 0 h 379"/>
                  <a:gd name="T34" fmla="*/ 1 w 183"/>
                  <a:gd name="T35" fmla="*/ 0 h 379"/>
                  <a:gd name="T36" fmla="*/ 1 w 183"/>
                  <a:gd name="T37" fmla="*/ 1 h 379"/>
                  <a:gd name="T38" fmla="*/ 1 w 183"/>
                  <a:gd name="T39" fmla="*/ 1 h 379"/>
                  <a:gd name="T40" fmla="*/ 1 w 183"/>
                  <a:gd name="T41" fmla="*/ 1 h 379"/>
                  <a:gd name="T42" fmla="*/ 1 w 183"/>
                  <a:gd name="T43" fmla="*/ 1 h 379"/>
                  <a:gd name="T44" fmla="*/ 1 w 183"/>
                  <a:gd name="T45" fmla="*/ 1 h 379"/>
                  <a:gd name="T46" fmla="*/ 1 w 183"/>
                  <a:gd name="T47" fmla="*/ 1 h 379"/>
                  <a:gd name="T48" fmla="*/ 1 w 183"/>
                  <a:gd name="T49" fmla="*/ 1 h 379"/>
                  <a:gd name="T50" fmla="*/ 1 w 183"/>
                  <a:gd name="T51" fmla="*/ 1 h 379"/>
                  <a:gd name="T52" fmla="*/ 1 w 183"/>
                  <a:gd name="T53" fmla="*/ 1 h 379"/>
                  <a:gd name="T54" fmla="*/ 1 w 183"/>
                  <a:gd name="T55" fmla="*/ 1 h 379"/>
                  <a:gd name="T56" fmla="*/ 1 w 183"/>
                  <a:gd name="T57" fmla="*/ 1 h 379"/>
                  <a:gd name="T58" fmla="*/ 1 w 183"/>
                  <a:gd name="T59" fmla="*/ 0 h 379"/>
                  <a:gd name="T60" fmla="*/ 1 w 183"/>
                  <a:gd name="T61" fmla="*/ 0 h 379"/>
                  <a:gd name="T62" fmla="*/ 1 w 183"/>
                  <a:gd name="T63" fmla="*/ 0 h 379"/>
                  <a:gd name="T64" fmla="*/ 1 w 183"/>
                  <a:gd name="T65" fmla="*/ 0 h 379"/>
                  <a:gd name="T66" fmla="*/ 1 w 183"/>
                  <a:gd name="T67" fmla="*/ 0 h 379"/>
                  <a:gd name="T68" fmla="*/ 1 w 183"/>
                  <a:gd name="T69" fmla="*/ 0 h 379"/>
                  <a:gd name="T70" fmla="*/ 1 w 183"/>
                  <a:gd name="T71" fmla="*/ 0 h 379"/>
                  <a:gd name="T72" fmla="*/ 1 w 183"/>
                  <a:gd name="T73" fmla="*/ 0 h 379"/>
                  <a:gd name="T74" fmla="*/ 1 w 183"/>
                  <a:gd name="T75" fmla="*/ 0 h 379"/>
                  <a:gd name="T76" fmla="*/ 1 w 183"/>
                  <a:gd name="T77" fmla="*/ 0 h 379"/>
                  <a:gd name="T78" fmla="*/ 1 w 183"/>
                  <a:gd name="T79" fmla="*/ 0 h 379"/>
                  <a:gd name="T80" fmla="*/ 1 w 183"/>
                  <a:gd name="T81" fmla="*/ 0 h 379"/>
                  <a:gd name="T82" fmla="*/ 1 w 183"/>
                  <a:gd name="T83" fmla="*/ 0 h 379"/>
                  <a:gd name="T84" fmla="*/ 1 w 183"/>
                  <a:gd name="T85" fmla="*/ 0 h 379"/>
                  <a:gd name="T86" fmla="*/ 1 w 183"/>
                  <a:gd name="T87" fmla="*/ 0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83"/>
                  <a:gd name="T133" fmla="*/ 0 h 379"/>
                  <a:gd name="T134" fmla="*/ 183 w 183"/>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83" h="379">
                    <a:moveTo>
                      <a:pt x="5" y="0"/>
                    </a:moveTo>
                    <a:lnTo>
                      <a:pt x="3" y="3"/>
                    </a:lnTo>
                    <a:lnTo>
                      <a:pt x="1" y="6"/>
                    </a:lnTo>
                    <a:lnTo>
                      <a:pt x="0" y="9"/>
                    </a:lnTo>
                    <a:lnTo>
                      <a:pt x="0" y="12"/>
                    </a:lnTo>
                    <a:lnTo>
                      <a:pt x="0" y="15"/>
                    </a:lnTo>
                    <a:lnTo>
                      <a:pt x="0" y="18"/>
                    </a:lnTo>
                    <a:lnTo>
                      <a:pt x="1" y="22"/>
                    </a:lnTo>
                    <a:lnTo>
                      <a:pt x="3" y="25"/>
                    </a:lnTo>
                    <a:lnTo>
                      <a:pt x="4" y="29"/>
                    </a:lnTo>
                    <a:lnTo>
                      <a:pt x="5" y="32"/>
                    </a:lnTo>
                    <a:lnTo>
                      <a:pt x="8" y="36"/>
                    </a:lnTo>
                    <a:lnTo>
                      <a:pt x="10" y="39"/>
                    </a:lnTo>
                    <a:lnTo>
                      <a:pt x="11" y="43"/>
                    </a:lnTo>
                    <a:lnTo>
                      <a:pt x="14" y="46"/>
                    </a:lnTo>
                    <a:lnTo>
                      <a:pt x="15" y="49"/>
                    </a:lnTo>
                    <a:lnTo>
                      <a:pt x="17" y="53"/>
                    </a:lnTo>
                    <a:lnTo>
                      <a:pt x="20" y="63"/>
                    </a:lnTo>
                    <a:lnTo>
                      <a:pt x="24" y="75"/>
                    </a:lnTo>
                    <a:lnTo>
                      <a:pt x="28" y="85"/>
                    </a:lnTo>
                    <a:lnTo>
                      <a:pt x="33" y="96"/>
                    </a:lnTo>
                    <a:lnTo>
                      <a:pt x="38" y="108"/>
                    </a:lnTo>
                    <a:lnTo>
                      <a:pt x="43" y="118"/>
                    </a:lnTo>
                    <a:lnTo>
                      <a:pt x="48" y="129"/>
                    </a:lnTo>
                    <a:lnTo>
                      <a:pt x="54" y="140"/>
                    </a:lnTo>
                    <a:lnTo>
                      <a:pt x="58" y="150"/>
                    </a:lnTo>
                    <a:lnTo>
                      <a:pt x="64" y="162"/>
                    </a:lnTo>
                    <a:lnTo>
                      <a:pt x="68" y="172"/>
                    </a:lnTo>
                    <a:lnTo>
                      <a:pt x="74" y="183"/>
                    </a:lnTo>
                    <a:lnTo>
                      <a:pt x="78" y="193"/>
                    </a:lnTo>
                    <a:lnTo>
                      <a:pt x="84" y="205"/>
                    </a:lnTo>
                    <a:lnTo>
                      <a:pt x="88" y="216"/>
                    </a:lnTo>
                    <a:lnTo>
                      <a:pt x="93" y="228"/>
                    </a:lnTo>
                    <a:lnTo>
                      <a:pt x="98" y="236"/>
                    </a:lnTo>
                    <a:lnTo>
                      <a:pt x="104" y="245"/>
                    </a:lnTo>
                    <a:lnTo>
                      <a:pt x="108" y="255"/>
                    </a:lnTo>
                    <a:lnTo>
                      <a:pt x="114" y="265"/>
                    </a:lnTo>
                    <a:lnTo>
                      <a:pt x="118" y="273"/>
                    </a:lnTo>
                    <a:lnTo>
                      <a:pt x="124" y="283"/>
                    </a:lnTo>
                    <a:lnTo>
                      <a:pt x="128" y="293"/>
                    </a:lnTo>
                    <a:lnTo>
                      <a:pt x="134" y="303"/>
                    </a:lnTo>
                    <a:lnTo>
                      <a:pt x="138" y="312"/>
                    </a:lnTo>
                    <a:lnTo>
                      <a:pt x="143" y="322"/>
                    </a:lnTo>
                    <a:lnTo>
                      <a:pt x="148" y="331"/>
                    </a:lnTo>
                    <a:lnTo>
                      <a:pt x="153" y="341"/>
                    </a:lnTo>
                    <a:lnTo>
                      <a:pt x="158" y="349"/>
                    </a:lnTo>
                    <a:lnTo>
                      <a:pt x="164" y="359"/>
                    </a:lnTo>
                    <a:lnTo>
                      <a:pt x="170" y="369"/>
                    </a:lnTo>
                    <a:lnTo>
                      <a:pt x="175" y="379"/>
                    </a:lnTo>
                    <a:lnTo>
                      <a:pt x="180" y="378"/>
                    </a:lnTo>
                    <a:lnTo>
                      <a:pt x="183" y="378"/>
                    </a:lnTo>
                    <a:lnTo>
                      <a:pt x="175" y="362"/>
                    </a:lnTo>
                    <a:lnTo>
                      <a:pt x="167" y="348"/>
                    </a:lnTo>
                    <a:lnTo>
                      <a:pt x="160" y="332"/>
                    </a:lnTo>
                    <a:lnTo>
                      <a:pt x="153" y="318"/>
                    </a:lnTo>
                    <a:lnTo>
                      <a:pt x="144" y="302"/>
                    </a:lnTo>
                    <a:lnTo>
                      <a:pt x="137" y="288"/>
                    </a:lnTo>
                    <a:lnTo>
                      <a:pt x="130" y="273"/>
                    </a:lnTo>
                    <a:lnTo>
                      <a:pt x="123" y="259"/>
                    </a:lnTo>
                    <a:lnTo>
                      <a:pt x="114" y="243"/>
                    </a:lnTo>
                    <a:lnTo>
                      <a:pt x="107" y="229"/>
                    </a:lnTo>
                    <a:lnTo>
                      <a:pt x="100" y="213"/>
                    </a:lnTo>
                    <a:lnTo>
                      <a:pt x="93" y="199"/>
                    </a:lnTo>
                    <a:lnTo>
                      <a:pt x="84" y="185"/>
                    </a:lnTo>
                    <a:lnTo>
                      <a:pt x="78" y="170"/>
                    </a:lnTo>
                    <a:lnTo>
                      <a:pt x="71" y="155"/>
                    </a:lnTo>
                    <a:lnTo>
                      <a:pt x="65" y="140"/>
                    </a:lnTo>
                    <a:lnTo>
                      <a:pt x="60" y="132"/>
                    </a:lnTo>
                    <a:lnTo>
                      <a:pt x="55" y="125"/>
                    </a:lnTo>
                    <a:lnTo>
                      <a:pt x="51" y="116"/>
                    </a:lnTo>
                    <a:lnTo>
                      <a:pt x="48" y="109"/>
                    </a:lnTo>
                    <a:lnTo>
                      <a:pt x="45" y="100"/>
                    </a:lnTo>
                    <a:lnTo>
                      <a:pt x="43" y="92"/>
                    </a:lnTo>
                    <a:lnTo>
                      <a:pt x="38" y="85"/>
                    </a:lnTo>
                    <a:lnTo>
                      <a:pt x="35" y="78"/>
                    </a:lnTo>
                    <a:lnTo>
                      <a:pt x="33" y="69"/>
                    </a:lnTo>
                    <a:lnTo>
                      <a:pt x="30" y="62"/>
                    </a:lnTo>
                    <a:lnTo>
                      <a:pt x="27" y="53"/>
                    </a:lnTo>
                    <a:lnTo>
                      <a:pt x="24" y="46"/>
                    </a:lnTo>
                    <a:lnTo>
                      <a:pt x="20" y="39"/>
                    </a:lnTo>
                    <a:lnTo>
                      <a:pt x="17" y="30"/>
                    </a:lnTo>
                    <a:lnTo>
                      <a:pt x="14" y="23"/>
                    </a:lnTo>
                    <a:lnTo>
                      <a:pt x="10" y="16"/>
                    </a:lnTo>
                    <a:lnTo>
                      <a:pt x="8" y="12"/>
                    </a:lnTo>
                    <a:lnTo>
                      <a:pt x="8" y="8"/>
                    </a:lnTo>
                    <a:lnTo>
                      <a:pt x="7" y="3"/>
                    </a:lnTo>
                    <a:lnTo>
                      <a:pt x="5"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26" name="Freeform 18"/>
              <p:cNvSpPr>
                <a:spLocks/>
              </p:cNvSpPr>
              <p:nvPr/>
            </p:nvSpPr>
            <p:spPr bwMode="auto">
              <a:xfrm>
                <a:off x="2611" y="1152"/>
                <a:ext cx="27" cy="35"/>
              </a:xfrm>
              <a:custGeom>
                <a:avLst/>
                <a:gdLst>
                  <a:gd name="T0" fmla="*/ 0 w 56"/>
                  <a:gd name="T1" fmla="*/ 0 h 70"/>
                  <a:gd name="T2" fmla="*/ 0 w 56"/>
                  <a:gd name="T3" fmla="*/ 1 h 70"/>
                  <a:gd name="T4" fmla="*/ 0 w 56"/>
                  <a:gd name="T5" fmla="*/ 1 h 70"/>
                  <a:gd name="T6" fmla="*/ 0 w 56"/>
                  <a:gd name="T7" fmla="*/ 1 h 70"/>
                  <a:gd name="T8" fmla="*/ 0 w 56"/>
                  <a:gd name="T9" fmla="*/ 1 h 70"/>
                  <a:gd name="T10" fmla="*/ 0 w 56"/>
                  <a:gd name="T11" fmla="*/ 1 h 70"/>
                  <a:gd name="T12" fmla="*/ 0 w 56"/>
                  <a:gd name="T13" fmla="*/ 1 h 70"/>
                  <a:gd name="T14" fmla="*/ 0 w 56"/>
                  <a:gd name="T15" fmla="*/ 1 h 70"/>
                  <a:gd name="T16" fmla="*/ 0 w 56"/>
                  <a:gd name="T17" fmla="*/ 1 h 70"/>
                  <a:gd name="T18" fmla="*/ 0 w 56"/>
                  <a:gd name="T19" fmla="*/ 1 h 70"/>
                  <a:gd name="T20" fmla="*/ 0 w 56"/>
                  <a:gd name="T21" fmla="*/ 1 h 70"/>
                  <a:gd name="T22" fmla="*/ 0 w 56"/>
                  <a:gd name="T23" fmla="*/ 1 h 70"/>
                  <a:gd name="T24" fmla="*/ 0 w 56"/>
                  <a:gd name="T25" fmla="*/ 1 h 70"/>
                  <a:gd name="T26" fmla="*/ 0 w 56"/>
                  <a:gd name="T27" fmla="*/ 1 h 70"/>
                  <a:gd name="T28" fmla="*/ 0 w 56"/>
                  <a:gd name="T29" fmla="*/ 1 h 70"/>
                  <a:gd name="T30" fmla="*/ 0 w 56"/>
                  <a:gd name="T31" fmla="*/ 1 h 70"/>
                  <a:gd name="T32" fmla="*/ 0 w 56"/>
                  <a:gd name="T33" fmla="*/ 1 h 70"/>
                  <a:gd name="T34" fmla="*/ 0 w 56"/>
                  <a:gd name="T35" fmla="*/ 1 h 70"/>
                  <a:gd name="T36" fmla="*/ 0 w 56"/>
                  <a:gd name="T37" fmla="*/ 1 h 70"/>
                  <a:gd name="T38" fmla="*/ 0 w 56"/>
                  <a:gd name="T39" fmla="*/ 1 h 70"/>
                  <a:gd name="T40" fmla="*/ 0 w 56"/>
                  <a:gd name="T41" fmla="*/ 1 h 70"/>
                  <a:gd name="T42" fmla="*/ 0 w 56"/>
                  <a:gd name="T43" fmla="*/ 1 h 70"/>
                  <a:gd name="T44" fmla="*/ 0 w 56"/>
                  <a:gd name="T45" fmla="*/ 1 h 70"/>
                  <a:gd name="T46" fmla="*/ 0 w 56"/>
                  <a:gd name="T47" fmla="*/ 1 h 70"/>
                  <a:gd name="T48" fmla="*/ 0 w 56"/>
                  <a:gd name="T49" fmla="*/ 1 h 70"/>
                  <a:gd name="T50" fmla="*/ 0 w 56"/>
                  <a:gd name="T51" fmla="*/ 1 h 70"/>
                  <a:gd name="T52" fmla="*/ 0 w 56"/>
                  <a:gd name="T53" fmla="*/ 1 h 70"/>
                  <a:gd name="T54" fmla="*/ 0 w 56"/>
                  <a:gd name="T55" fmla="*/ 1 h 70"/>
                  <a:gd name="T56" fmla="*/ 0 w 56"/>
                  <a:gd name="T57" fmla="*/ 1 h 70"/>
                  <a:gd name="T58" fmla="*/ 0 w 56"/>
                  <a:gd name="T59" fmla="*/ 1 h 70"/>
                  <a:gd name="T60" fmla="*/ 0 w 56"/>
                  <a:gd name="T61" fmla="*/ 1 h 70"/>
                  <a:gd name="T62" fmla="*/ 0 w 56"/>
                  <a:gd name="T63" fmla="*/ 1 h 70"/>
                  <a:gd name="T64" fmla="*/ 0 w 56"/>
                  <a:gd name="T65" fmla="*/ 1 h 70"/>
                  <a:gd name="T66" fmla="*/ 0 w 56"/>
                  <a:gd name="T67" fmla="*/ 1 h 70"/>
                  <a:gd name="T68" fmla="*/ 0 w 56"/>
                  <a:gd name="T69" fmla="*/ 1 h 70"/>
                  <a:gd name="T70" fmla="*/ 0 w 56"/>
                  <a:gd name="T71" fmla="*/ 1 h 70"/>
                  <a:gd name="T72" fmla="*/ 0 w 56"/>
                  <a:gd name="T73" fmla="*/ 1 h 70"/>
                  <a:gd name="T74" fmla="*/ 0 w 56"/>
                  <a:gd name="T75" fmla="*/ 1 h 70"/>
                  <a:gd name="T76" fmla="*/ 0 w 56"/>
                  <a:gd name="T77" fmla="*/ 1 h 70"/>
                  <a:gd name="T78" fmla="*/ 0 w 56"/>
                  <a:gd name="T79" fmla="*/ 1 h 70"/>
                  <a:gd name="T80" fmla="*/ 0 w 56"/>
                  <a:gd name="T81" fmla="*/ 1 h 70"/>
                  <a:gd name="T82" fmla="*/ 0 w 56"/>
                  <a:gd name="T83" fmla="*/ 1 h 70"/>
                  <a:gd name="T84" fmla="*/ 0 w 56"/>
                  <a:gd name="T85" fmla="*/ 1 h 70"/>
                  <a:gd name="T86" fmla="*/ 0 w 56"/>
                  <a:gd name="T87" fmla="*/ 0 h 70"/>
                  <a:gd name="T88" fmla="*/ 0 w 56"/>
                  <a:gd name="T89" fmla="*/ 0 h 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6"/>
                  <a:gd name="T136" fmla="*/ 0 h 70"/>
                  <a:gd name="T137" fmla="*/ 56 w 56"/>
                  <a:gd name="T138" fmla="*/ 70 h 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6" h="70">
                    <a:moveTo>
                      <a:pt x="6" y="0"/>
                    </a:moveTo>
                    <a:lnTo>
                      <a:pt x="3" y="1"/>
                    </a:lnTo>
                    <a:lnTo>
                      <a:pt x="2" y="3"/>
                    </a:lnTo>
                    <a:lnTo>
                      <a:pt x="0" y="4"/>
                    </a:lnTo>
                    <a:lnTo>
                      <a:pt x="0" y="7"/>
                    </a:lnTo>
                    <a:lnTo>
                      <a:pt x="2" y="10"/>
                    </a:lnTo>
                    <a:lnTo>
                      <a:pt x="3" y="13"/>
                    </a:lnTo>
                    <a:lnTo>
                      <a:pt x="5" y="14"/>
                    </a:lnTo>
                    <a:lnTo>
                      <a:pt x="6" y="15"/>
                    </a:lnTo>
                    <a:lnTo>
                      <a:pt x="6" y="17"/>
                    </a:lnTo>
                    <a:lnTo>
                      <a:pt x="7" y="18"/>
                    </a:lnTo>
                    <a:lnTo>
                      <a:pt x="10" y="21"/>
                    </a:lnTo>
                    <a:lnTo>
                      <a:pt x="13" y="25"/>
                    </a:lnTo>
                    <a:lnTo>
                      <a:pt x="13" y="27"/>
                    </a:lnTo>
                    <a:lnTo>
                      <a:pt x="15" y="30"/>
                    </a:lnTo>
                    <a:lnTo>
                      <a:pt x="16" y="33"/>
                    </a:lnTo>
                    <a:lnTo>
                      <a:pt x="19" y="35"/>
                    </a:lnTo>
                    <a:lnTo>
                      <a:pt x="20" y="38"/>
                    </a:lnTo>
                    <a:lnTo>
                      <a:pt x="22" y="43"/>
                    </a:lnTo>
                    <a:lnTo>
                      <a:pt x="25" y="46"/>
                    </a:lnTo>
                    <a:lnTo>
                      <a:pt x="27" y="50"/>
                    </a:lnTo>
                    <a:lnTo>
                      <a:pt x="29" y="53"/>
                    </a:lnTo>
                    <a:lnTo>
                      <a:pt x="32" y="56"/>
                    </a:lnTo>
                    <a:lnTo>
                      <a:pt x="35" y="58"/>
                    </a:lnTo>
                    <a:lnTo>
                      <a:pt x="37" y="61"/>
                    </a:lnTo>
                    <a:lnTo>
                      <a:pt x="42" y="66"/>
                    </a:lnTo>
                    <a:lnTo>
                      <a:pt x="47" y="70"/>
                    </a:lnTo>
                    <a:lnTo>
                      <a:pt x="56" y="66"/>
                    </a:lnTo>
                    <a:lnTo>
                      <a:pt x="50" y="61"/>
                    </a:lnTo>
                    <a:lnTo>
                      <a:pt x="47" y="58"/>
                    </a:lnTo>
                    <a:lnTo>
                      <a:pt x="43" y="56"/>
                    </a:lnTo>
                    <a:lnTo>
                      <a:pt x="40" y="51"/>
                    </a:lnTo>
                    <a:lnTo>
                      <a:pt x="37" y="47"/>
                    </a:lnTo>
                    <a:lnTo>
                      <a:pt x="35" y="43"/>
                    </a:lnTo>
                    <a:lnTo>
                      <a:pt x="32" y="38"/>
                    </a:lnTo>
                    <a:lnTo>
                      <a:pt x="30" y="35"/>
                    </a:lnTo>
                    <a:lnTo>
                      <a:pt x="27" y="31"/>
                    </a:lnTo>
                    <a:lnTo>
                      <a:pt x="25" y="27"/>
                    </a:lnTo>
                    <a:lnTo>
                      <a:pt x="22" y="23"/>
                    </a:lnTo>
                    <a:lnTo>
                      <a:pt x="19" y="18"/>
                    </a:lnTo>
                    <a:lnTo>
                      <a:pt x="16" y="13"/>
                    </a:lnTo>
                    <a:lnTo>
                      <a:pt x="13" y="8"/>
                    </a:lnTo>
                    <a:lnTo>
                      <a:pt x="9" y="4"/>
                    </a:lnTo>
                    <a:lnTo>
                      <a:pt x="6"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27" name="Freeform 19"/>
              <p:cNvSpPr>
                <a:spLocks/>
              </p:cNvSpPr>
              <p:nvPr/>
            </p:nvSpPr>
            <p:spPr bwMode="auto">
              <a:xfrm>
                <a:off x="2273" y="1062"/>
                <a:ext cx="42" cy="118"/>
              </a:xfrm>
              <a:custGeom>
                <a:avLst/>
                <a:gdLst>
                  <a:gd name="T0" fmla="*/ 1 w 84"/>
                  <a:gd name="T1" fmla="*/ 0 h 237"/>
                  <a:gd name="T2" fmla="*/ 0 w 84"/>
                  <a:gd name="T3" fmla="*/ 0 h 237"/>
                  <a:gd name="T4" fmla="*/ 1 w 84"/>
                  <a:gd name="T5" fmla="*/ 0 h 237"/>
                  <a:gd name="T6" fmla="*/ 1 w 84"/>
                  <a:gd name="T7" fmla="*/ 0 h 237"/>
                  <a:gd name="T8" fmla="*/ 1 w 84"/>
                  <a:gd name="T9" fmla="*/ 0 h 237"/>
                  <a:gd name="T10" fmla="*/ 1 w 84"/>
                  <a:gd name="T11" fmla="*/ 0 h 237"/>
                  <a:gd name="T12" fmla="*/ 1 w 84"/>
                  <a:gd name="T13" fmla="*/ 0 h 237"/>
                  <a:gd name="T14" fmla="*/ 1 w 84"/>
                  <a:gd name="T15" fmla="*/ 0 h 237"/>
                  <a:gd name="T16" fmla="*/ 1 w 84"/>
                  <a:gd name="T17" fmla="*/ 0 h 237"/>
                  <a:gd name="T18" fmla="*/ 1 w 84"/>
                  <a:gd name="T19" fmla="*/ 0 h 237"/>
                  <a:gd name="T20" fmla="*/ 1 w 84"/>
                  <a:gd name="T21" fmla="*/ 0 h 237"/>
                  <a:gd name="T22" fmla="*/ 1 w 84"/>
                  <a:gd name="T23" fmla="*/ 0 h 237"/>
                  <a:gd name="T24" fmla="*/ 1 w 84"/>
                  <a:gd name="T25" fmla="*/ 0 h 237"/>
                  <a:gd name="T26" fmla="*/ 1 w 84"/>
                  <a:gd name="T27" fmla="*/ 0 h 237"/>
                  <a:gd name="T28" fmla="*/ 1 w 84"/>
                  <a:gd name="T29" fmla="*/ 0 h 237"/>
                  <a:gd name="T30" fmla="*/ 1 w 84"/>
                  <a:gd name="T31" fmla="*/ 0 h 237"/>
                  <a:gd name="T32" fmla="*/ 1 w 84"/>
                  <a:gd name="T33" fmla="*/ 0 h 237"/>
                  <a:gd name="T34" fmla="*/ 1 w 84"/>
                  <a:gd name="T35" fmla="*/ 0 h 237"/>
                  <a:gd name="T36" fmla="*/ 1 w 84"/>
                  <a:gd name="T37" fmla="*/ 0 h 237"/>
                  <a:gd name="T38" fmla="*/ 1 w 84"/>
                  <a:gd name="T39" fmla="*/ 0 h 237"/>
                  <a:gd name="T40" fmla="*/ 1 w 84"/>
                  <a:gd name="T41" fmla="*/ 0 h 237"/>
                  <a:gd name="T42" fmla="*/ 1 w 84"/>
                  <a:gd name="T43" fmla="*/ 0 h 237"/>
                  <a:gd name="T44" fmla="*/ 1 w 84"/>
                  <a:gd name="T45" fmla="*/ 0 h 237"/>
                  <a:gd name="T46" fmla="*/ 1 w 84"/>
                  <a:gd name="T47" fmla="*/ 0 h 237"/>
                  <a:gd name="T48" fmla="*/ 1 w 84"/>
                  <a:gd name="T49" fmla="*/ 0 h 237"/>
                  <a:gd name="T50" fmla="*/ 1 w 84"/>
                  <a:gd name="T51" fmla="*/ 0 h 237"/>
                  <a:gd name="T52" fmla="*/ 1 w 84"/>
                  <a:gd name="T53" fmla="*/ 0 h 237"/>
                  <a:gd name="T54" fmla="*/ 1 w 84"/>
                  <a:gd name="T55" fmla="*/ 0 h 237"/>
                  <a:gd name="T56" fmla="*/ 1 w 84"/>
                  <a:gd name="T57" fmla="*/ 0 h 237"/>
                  <a:gd name="T58" fmla="*/ 1 w 84"/>
                  <a:gd name="T59" fmla="*/ 0 h 237"/>
                  <a:gd name="T60" fmla="*/ 1 w 84"/>
                  <a:gd name="T61" fmla="*/ 0 h 237"/>
                  <a:gd name="T62" fmla="*/ 1 w 84"/>
                  <a:gd name="T63" fmla="*/ 0 h 237"/>
                  <a:gd name="T64" fmla="*/ 1 w 84"/>
                  <a:gd name="T65" fmla="*/ 0 h 237"/>
                  <a:gd name="T66" fmla="*/ 1 w 84"/>
                  <a:gd name="T67" fmla="*/ 0 h 237"/>
                  <a:gd name="T68" fmla="*/ 1 w 84"/>
                  <a:gd name="T69" fmla="*/ 0 h 237"/>
                  <a:gd name="T70" fmla="*/ 1 w 84"/>
                  <a:gd name="T71" fmla="*/ 0 h 237"/>
                  <a:gd name="T72" fmla="*/ 1 w 84"/>
                  <a:gd name="T73" fmla="*/ 0 h 237"/>
                  <a:gd name="T74" fmla="*/ 1 w 84"/>
                  <a:gd name="T75" fmla="*/ 0 h 237"/>
                  <a:gd name="T76" fmla="*/ 1 w 84"/>
                  <a:gd name="T77" fmla="*/ 0 h 237"/>
                  <a:gd name="T78" fmla="*/ 1 w 84"/>
                  <a:gd name="T79" fmla="*/ 0 h 237"/>
                  <a:gd name="T80" fmla="*/ 1 w 84"/>
                  <a:gd name="T81" fmla="*/ 0 h 237"/>
                  <a:gd name="T82" fmla="*/ 1 w 84"/>
                  <a:gd name="T83" fmla="*/ 0 h 237"/>
                  <a:gd name="T84" fmla="*/ 1 w 84"/>
                  <a:gd name="T85" fmla="*/ 0 h 237"/>
                  <a:gd name="T86" fmla="*/ 1 w 84"/>
                  <a:gd name="T87" fmla="*/ 0 h 237"/>
                  <a:gd name="T88" fmla="*/ 1 w 84"/>
                  <a:gd name="T89" fmla="*/ 0 h 237"/>
                  <a:gd name="T90" fmla="*/ 1 w 84"/>
                  <a:gd name="T91" fmla="*/ 0 h 237"/>
                  <a:gd name="T92" fmla="*/ 1 w 84"/>
                  <a:gd name="T93" fmla="*/ 0 h 237"/>
                  <a:gd name="T94" fmla="*/ 1 w 84"/>
                  <a:gd name="T95" fmla="*/ 0 h 237"/>
                  <a:gd name="T96" fmla="*/ 1 w 84"/>
                  <a:gd name="T97" fmla="*/ 0 h 237"/>
                  <a:gd name="T98" fmla="*/ 1 w 84"/>
                  <a:gd name="T99" fmla="*/ 0 h 237"/>
                  <a:gd name="T100" fmla="*/ 1 w 84"/>
                  <a:gd name="T101" fmla="*/ 0 h 2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
                  <a:gd name="T154" fmla="*/ 0 h 237"/>
                  <a:gd name="T155" fmla="*/ 84 w 84"/>
                  <a:gd name="T156" fmla="*/ 237 h 2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 h="237">
                    <a:moveTo>
                      <a:pt x="9" y="1"/>
                    </a:moveTo>
                    <a:lnTo>
                      <a:pt x="4" y="1"/>
                    </a:lnTo>
                    <a:lnTo>
                      <a:pt x="1" y="1"/>
                    </a:lnTo>
                    <a:lnTo>
                      <a:pt x="0" y="0"/>
                    </a:lnTo>
                    <a:lnTo>
                      <a:pt x="1" y="3"/>
                    </a:lnTo>
                    <a:lnTo>
                      <a:pt x="1" y="4"/>
                    </a:lnTo>
                    <a:lnTo>
                      <a:pt x="1" y="7"/>
                    </a:lnTo>
                    <a:lnTo>
                      <a:pt x="1" y="10"/>
                    </a:lnTo>
                    <a:lnTo>
                      <a:pt x="1" y="14"/>
                    </a:lnTo>
                    <a:lnTo>
                      <a:pt x="1" y="17"/>
                    </a:lnTo>
                    <a:lnTo>
                      <a:pt x="3" y="21"/>
                    </a:lnTo>
                    <a:lnTo>
                      <a:pt x="3" y="24"/>
                    </a:lnTo>
                    <a:lnTo>
                      <a:pt x="4" y="28"/>
                    </a:lnTo>
                    <a:lnTo>
                      <a:pt x="4" y="33"/>
                    </a:lnTo>
                    <a:lnTo>
                      <a:pt x="6" y="35"/>
                    </a:lnTo>
                    <a:lnTo>
                      <a:pt x="6" y="40"/>
                    </a:lnTo>
                    <a:lnTo>
                      <a:pt x="6" y="43"/>
                    </a:lnTo>
                    <a:lnTo>
                      <a:pt x="7" y="47"/>
                    </a:lnTo>
                    <a:lnTo>
                      <a:pt x="7" y="50"/>
                    </a:lnTo>
                    <a:lnTo>
                      <a:pt x="9" y="53"/>
                    </a:lnTo>
                    <a:lnTo>
                      <a:pt x="9" y="55"/>
                    </a:lnTo>
                    <a:lnTo>
                      <a:pt x="11" y="65"/>
                    </a:lnTo>
                    <a:lnTo>
                      <a:pt x="14" y="75"/>
                    </a:lnTo>
                    <a:lnTo>
                      <a:pt x="17" y="85"/>
                    </a:lnTo>
                    <a:lnTo>
                      <a:pt x="21" y="94"/>
                    </a:lnTo>
                    <a:lnTo>
                      <a:pt x="24" y="103"/>
                    </a:lnTo>
                    <a:lnTo>
                      <a:pt x="29" y="111"/>
                    </a:lnTo>
                    <a:lnTo>
                      <a:pt x="31" y="120"/>
                    </a:lnTo>
                    <a:lnTo>
                      <a:pt x="36" y="128"/>
                    </a:lnTo>
                    <a:lnTo>
                      <a:pt x="39" y="135"/>
                    </a:lnTo>
                    <a:lnTo>
                      <a:pt x="41" y="144"/>
                    </a:lnTo>
                    <a:lnTo>
                      <a:pt x="46" y="151"/>
                    </a:lnTo>
                    <a:lnTo>
                      <a:pt x="49" y="161"/>
                    </a:lnTo>
                    <a:lnTo>
                      <a:pt x="53" y="170"/>
                    </a:lnTo>
                    <a:lnTo>
                      <a:pt x="56" y="178"/>
                    </a:lnTo>
                    <a:lnTo>
                      <a:pt x="59" y="187"/>
                    </a:lnTo>
                    <a:lnTo>
                      <a:pt x="61" y="198"/>
                    </a:lnTo>
                    <a:lnTo>
                      <a:pt x="61" y="200"/>
                    </a:lnTo>
                    <a:lnTo>
                      <a:pt x="63" y="205"/>
                    </a:lnTo>
                    <a:lnTo>
                      <a:pt x="64" y="207"/>
                    </a:lnTo>
                    <a:lnTo>
                      <a:pt x="66" y="210"/>
                    </a:lnTo>
                    <a:lnTo>
                      <a:pt x="66" y="214"/>
                    </a:lnTo>
                    <a:lnTo>
                      <a:pt x="67" y="217"/>
                    </a:lnTo>
                    <a:lnTo>
                      <a:pt x="67" y="220"/>
                    </a:lnTo>
                    <a:lnTo>
                      <a:pt x="69" y="223"/>
                    </a:lnTo>
                    <a:lnTo>
                      <a:pt x="69" y="226"/>
                    </a:lnTo>
                    <a:lnTo>
                      <a:pt x="70" y="228"/>
                    </a:lnTo>
                    <a:lnTo>
                      <a:pt x="72" y="233"/>
                    </a:lnTo>
                    <a:lnTo>
                      <a:pt x="73" y="236"/>
                    </a:lnTo>
                    <a:lnTo>
                      <a:pt x="76" y="233"/>
                    </a:lnTo>
                    <a:lnTo>
                      <a:pt x="80" y="236"/>
                    </a:lnTo>
                    <a:lnTo>
                      <a:pt x="83" y="237"/>
                    </a:lnTo>
                    <a:lnTo>
                      <a:pt x="84" y="236"/>
                    </a:lnTo>
                    <a:lnTo>
                      <a:pt x="83" y="233"/>
                    </a:lnTo>
                    <a:lnTo>
                      <a:pt x="83" y="230"/>
                    </a:lnTo>
                    <a:lnTo>
                      <a:pt x="82" y="226"/>
                    </a:lnTo>
                    <a:lnTo>
                      <a:pt x="80" y="223"/>
                    </a:lnTo>
                    <a:lnTo>
                      <a:pt x="79" y="218"/>
                    </a:lnTo>
                    <a:lnTo>
                      <a:pt x="77" y="214"/>
                    </a:lnTo>
                    <a:lnTo>
                      <a:pt x="76" y="210"/>
                    </a:lnTo>
                    <a:lnTo>
                      <a:pt x="74" y="207"/>
                    </a:lnTo>
                    <a:lnTo>
                      <a:pt x="73" y="201"/>
                    </a:lnTo>
                    <a:lnTo>
                      <a:pt x="72" y="198"/>
                    </a:lnTo>
                    <a:lnTo>
                      <a:pt x="70" y="194"/>
                    </a:lnTo>
                    <a:lnTo>
                      <a:pt x="69" y="190"/>
                    </a:lnTo>
                    <a:lnTo>
                      <a:pt x="67" y="187"/>
                    </a:lnTo>
                    <a:lnTo>
                      <a:pt x="66" y="184"/>
                    </a:lnTo>
                    <a:lnTo>
                      <a:pt x="66" y="181"/>
                    </a:lnTo>
                    <a:lnTo>
                      <a:pt x="66" y="180"/>
                    </a:lnTo>
                    <a:lnTo>
                      <a:pt x="63" y="171"/>
                    </a:lnTo>
                    <a:lnTo>
                      <a:pt x="60" y="163"/>
                    </a:lnTo>
                    <a:lnTo>
                      <a:pt x="57" y="155"/>
                    </a:lnTo>
                    <a:lnTo>
                      <a:pt x="54" y="147"/>
                    </a:lnTo>
                    <a:lnTo>
                      <a:pt x="51" y="140"/>
                    </a:lnTo>
                    <a:lnTo>
                      <a:pt x="49" y="133"/>
                    </a:lnTo>
                    <a:lnTo>
                      <a:pt x="46" y="124"/>
                    </a:lnTo>
                    <a:lnTo>
                      <a:pt x="41" y="117"/>
                    </a:lnTo>
                    <a:lnTo>
                      <a:pt x="39" y="108"/>
                    </a:lnTo>
                    <a:lnTo>
                      <a:pt x="36" y="101"/>
                    </a:lnTo>
                    <a:lnTo>
                      <a:pt x="31" y="94"/>
                    </a:lnTo>
                    <a:lnTo>
                      <a:pt x="29" y="85"/>
                    </a:lnTo>
                    <a:lnTo>
                      <a:pt x="26" y="78"/>
                    </a:lnTo>
                    <a:lnTo>
                      <a:pt x="23" y="70"/>
                    </a:lnTo>
                    <a:lnTo>
                      <a:pt x="21" y="61"/>
                    </a:lnTo>
                    <a:lnTo>
                      <a:pt x="19" y="53"/>
                    </a:lnTo>
                    <a:lnTo>
                      <a:pt x="19" y="48"/>
                    </a:lnTo>
                    <a:lnTo>
                      <a:pt x="17" y="45"/>
                    </a:lnTo>
                    <a:lnTo>
                      <a:pt x="17" y="43"/>
                    </a:lnTo>
                    <a:lnTo>
                      <a:pt x="16" y="40"/>
                    </a:lnTo>
                    <a:lnTo>
                      <a:pt x="16" y="35"/>
                    </a:lnTo>
                    <a:lnTo>
                      <a:pt x="16" y="33"/>
                    </a:lnTo>
                    <a:lnTo>
                      <a:pt x="14" y="30"/>
                    </a:lnTo>
                    <a:lnTo>
                      <a:pt x="14" y="27"/>
                    </a:lnTo>
                    <a:lnTo>
                      <a:pt x="13" y="23"/>
                    </a:lnTo>
                    <a:lnTo>
                      <a:pt x="13" y="20"/>
                    </a:lnTo>
                    <a:lnTo>
                      <a:pt x="11" y="17"/>
                    </a:lnTo>
                    <a:lnTo>
                      <a:pt x="11" y="14"/>
                    </a:lnTo>
                    <a:lnTo>
                      <a:pt x="10" y="10"/>
                    </a:lnTo>
                    <a:lnTo>
                      <a:pt x="10" y="7"/>
                    </a:lnTo>
                    <a:lnTo>
                      <a:pt x="9" y="4"/>
                    </a:lnTo>
                    <a:lnTo>
                      <a:pt x="9" y="1"/>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28" name="Freeform 20"/>
              <p:cNvSpPr>
                <a:spLocks/>
              </p:cNvSpPr>
              <p:nvPr/>
            </p:nvSpPr>
            <p:spPr bwMode="auto">
              <a:xfrm>
                <a:off x="2240" y="919"/>
                <a:ext cx="18" cy="98"/>
              </a:xfrm>
              <a:custGeom>
                <a:avLst/>
                <a:gdLst>
                  <a:gd name="T0" fmla="*/ 1 w 35"/>
                  <a:gd name="T1" fmla="*/ 1 h 196"/>
                  <a:gd name="T2" fmla="*/ 0 w 35"/>
                  <a:gd name="T3" fmla="*/ 0 h 196"/>
                  <a:gd name="T4" fmla="*/ 0 w 35"/>
                  <a:gd name="T5" fmla="*/ 1 h 196"/>
                  <a:gd name="T6" fmla="*/ 0 w 35"/>
                  <a:gd name="T7" fmla="*/ 1 h 196"/>
                  <a:gd name="T8" fmla="*/ 1 w 35"/>
                  <a:gd name="T9" fmla="*/ 1 h 196"/>
                  <a:gd name="T10" fmla="*/ 1 w 35"/>
                  <a:gd name="T11" fmla="*/ 1 h 196"/>
                  <a:gd name="T12" fmla="*/ 1 w 35"/>
                  <a:gd name="T13" fmla="*/ 1 h 196"/>
                  <a:gd name="T14" fmla="*/ 1 w 35"/>
                  <a:gd name="T15" fmla="*/ 1 h 196"/>
                  <a:gd name="T16" fmla="*/ 1 w 35"/>
                  <a:gd name="T17" fmla="*/ 1 h 196"/>
                  <a:gd name="T18" fmla="*/ 1 w 35"/>
                  <a:gd name="T19" fmla="*/ 1 h 196"/>
                  <a:gd name="T20" fmla="*/ 1 w 35"/>
                  <a:gd name="T21" fmla="*/ 1 h 196"/>
                  <a:gd name="T22" fmla="*/ 1 w 35"/>
                  <a:gd name="T23" fmla="*/ 1 h 196"/>
                  <a:gd name="T24" fmla="*/ 1 w 35"/>
                  <a:gd name="T25" fmla="*/ 1 h 196"/>
                  <a:gd name="T26" fmla="*/ 1 w 35"/>
                  <a:gd name="T27" fmla="*/ 1 h 196"/>
                  <a:gd name="T28" fmla="*/ 1 w 35"/>
                  <a:gd name="T29" fmla="*/ 1 h 196"/>
                  <a:gd name="T30" fmla="*/ 1 w 35"/>
                  <a:gd name="T31" fmla="*/ 1 h 196"/>
                  <a:gd name="T32" fmla="*/ 1 w 35"/>
                  <a:gd name="T33" fmla="*/ 1 h 196"/>
                  <a:gd name="T34" fmla="*/ 1 w 35"/>
                  <a:gd name="T35" fmla="*/ 1 h 196"/>
                  <a:gd name="T36" fmla="*/ 1 w 35"/>
                  <a:gd name="T37" fmla="*/ 1 h 196"/>
                  <a:gd name="T38" fmla="*/ 1 w 35"/>
                  <a:gd name="T39" fmla="*/ 1 h 196"/>
                  <a:gd name="T40" fmla="*/ 1 w 35"/>
                  <a:gd name="T41" fmla="*/ 1 h 196"/>
                  <a:gd name="T42" fmla="*/ 1 w 35"/>
                  <a:gd name="T43" fmla="*/ 1 h 196"/>
                  <a:gd name="T44" fmla="*/ 1 w 35"/>
                  <a:gd name="T45" fmla="*/ 1 h 196"/>
                  <a:gd name="T46" fmla="*/ 1 w 35"/>
                  <a:gd name="T47" fmla="*/ 1 h 196"/>
                  <a:gd name="T48" fmla="*/ 1 w 35"/>
                  <a:gd name="T49" fmla="*/ 1 h 196"/>
                  <a:gd name="T50" fmla="*/ 1 w 35"/>
                  <a:gd name="T51" fmla="*/ 1 h 196"/>
                  <a:gd name="T52" fmla="*/ 1 w 35"/>
                  <a:gd name="T53" fmla="*/ 1 h 196"/>
                  <a:gd name="T54" fmla="*/ 1 w 35"/>
                  <a:gd name="T55" fmla="*/ 1 h 196"/>
                  <a:gd name="T56" fmla="*/ 1 w 35"/>
                  <a:gd name="T57" fmla="*/ 1 h 196"/>
                  <a:gd name="T58" fmla="*/ 1 w 35"/>
                  <a:gd name="T59" fmla="*/ 1 h 196"/>
                  <a:gd name="T60" fmla="*/ 1 w 35"/>
                  <a:gd name="T61" fmla="*/ 1 h 196"/>
                  <a:gd name="T62" fmla="*/ 1 w 35"/>
                  <a:gd name="T63" fmla="*/ 1 h 196"/>
                  <a:gd name="T64" fmla="*/ 1 w 35"/>
                  <a:gd name="T65" fmla="*/ 1 h 196"/>
                  <a:gd name="T66" fmla="*/ 1 w 35"/>
                  <a:gd name="T67" fmla="*/ 1 h 196"/>
                  <a:gd name="T68" fmla="*/ 1 w 35"/>
                  <a:gd name="T69" fmla="*/ 1 h 196"/>
                  <a:gd name="T70" fmla="*/ 1 w 35"/>
                  <a:gd name="T71" fmla="*/ 1 h 196"/>
                  <a:gd name="T72" fmla="*/ 1 w 35"/>
                  <a:gd name="T73" fmla="*/ 1 h 1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5"/>
                  <a:gd name="T112" fmla="*/ 0 h 196"/>
                  <a:gd name="T113" fmla="*/ 35 w 35"/>
                  <a:gd name="T114" fmla="*/ 196 h 1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5" h="196">
                    <a:moveTo>
                      <a:pt x="10" y="3"/>
                    </a:moveTo>
                    <a:lnTo>
                      <a:pt x="5" y="3"/>
                    </a:lnTo>
                    <a:lnTo>
                      <a:pt x="3" y="1"/>
                    </a:lnTo>
                    <a:lnTo>
                      <a:pt x="0" y="0"/>
                    </a:lnTo>
                    <a:lnTo>
                      <a:pt x="0" y="1"/>
                    </a:lnTo>
                    <a:lnTo>
                      <a:pt x="0" y="4"/>
                    </a:lnTo>
                    <a:lnTo>
                      <a:pt x="0" y="8"/>
                    </a:lnTo>
                    <a:lnTo>
                      <a:pt x="0" y="13"/>
                    </a:lnTo>
                    <a:lnTo>
                      <a:pt x="0" y="17"/>
                    </a:lnTo>
                    <a:lnTo>
                      <a:pt x="1" y="23"/>
                    </a:lnTo>
                    <a:lnTo>
                      <a:pt x="1" y="27"/>
                    </a:lnTo>
                    <a:lnTo>
                      <a:pt x="3" y="33"/>
                    </a:lnTo>
                    <a:lnTo>
                      <a:pt x="4" y="38"/>
                    </a:lnTo>
                    <a:lnTo>
                      <a:pt x="4" y="43"/>
                    </a:lnTo>
                    <a:lnTo>
                      <a:pt x="5" y="48"/>
                    </a:lnTo>
                    <a:lnTo>
                      <a:pt x="7" y="53"/>
                    </a:lnTo>
                    <a:lnTo>
                      <a:pt x="7" y="58"/>
                    </a:lnTo>
                    <a:lnTo>
                      <a:pt x="8" y="63"/>
                    </a:lnTo>
                    <a:lnTo>
                      <a:pt x="8" y="68"/>
                    </a:lnTo>
                    <a:lnTo>
                      <a:pt x="10" y="71"/>
                    </a:lnTo>
                    <a:lnTo>
                      <a:pt x="10" y="77"/>
                    </a:lnTo>
                    <a:lnTo>
                      <a:pt x="10" y="81"/>
                    </a:lnTo>
                    <a:lnTo>
                      <a:pt x="11" y="87"/>
                    </a:lnTo>
                    <a:lnTo>
                      <a:pt x="11" y="93"/>
                    </a:lnTo>
                    <a:lnTo>
                      <a:pt x="11" y="100"/>
                    </a:lnTo>
                    <a:lnTo>
                      <a:pt x="13" y="107"/>
                    </a:lnTo>
                    <a:lnTo>
                      <a:pt x="13" y="114"/>
                    </a:lnTo>
                    <a:lnTo>
                      <a:pt x="14" y="121"/>
                    </a:lnTo>
                    <a:lnTo>
                      <a:pt x="15" y="128"/>
                    </a:lnTo>
                    <a:lnTo>
                      <a:pt x="15" y="136"/>
                    </a:lnTo>
                    <a:lnTo>
                      <a:pt x="17" y="143"/>
                    </a:lnTo>
                    <a:lnTo>
                      <a:pt x="18" y="150"/>
                    </a:lnTo>
                    <a:lnTo>
                      <a:pt x="20" y="157"/>
                    </a:lnTo>
                    <a:lnTo>
                      <a:pt x="21" y="164"/>
                    </a:lnTo>
                    <a:lnTo>
                      <a:pt x="23" y="170"/>
                    </a:lnTo>
                    <a:lnTo>
                      <a:pt x="24" y="177"/>
                    </a:lnTo>
                    <a:lnTo>
                      <a:pt x="27" y="183"/>
                    </a:lnTo>
                    <a:lnTo>
                      <a:pt x="28" y="186"/>
                    </a:lnTo>
                    <a:lnTo>
                      <a:pt x="31" y="188"/>
                    </a:lnTo>
                    <a:lnTo>
                      <a:pt x="33" y="191"/>
                    </a:lnTo>
                    <a:lnTo>
                      <a:pt x="35" y="196"/>
                    </a:lnTo>
                    <a:lnTo>
                      <a:pt x="35" y="191"/>
                    </a:lnTo>
                    <a:lnTo>
                      <a:pt x="35" y="187"/>
                    </a:lnTo>
                    <a:lnTo>
                      <a:pt x="34" y="183"/>
                    </a:lnTo>
                    <a:lnTo>
                      <a:pt x="34" y="177"/>
                    </a:lnTo>
                    <a:lnTo>
                      <a:pt x="33" y="171"/>
                    </a:lnTo>
                    <a:lnTo>
                      <a:pt x="33" y="166"/>
                    </a:lnTo>
                    <a:lnTo>
                      <a:pt x="31" y="160"/>
                    </a:lnTo>
                    <a:lnTo>
                      <a:pt x="30" y="154"/>
                    </a:lnTo>
                    <a:lnTo>
                      <a:pt x="28" y="148"/>
                    </a:lnTo>
                    <a:lnTo>
                      <a:pt x="28" y="141"/>
                    </a:lnTo>
                    <a:lnTo>
                      <a:pt x="27" y="136"/>
                    </a:lnTo>
                    <a:lnTo>
                      <a:pt x="27" y="130"/>
                    </a:lnTo>
                    <a:lnTo>
                      <a:pt x="25" y="126"/>
                    </a:lnTo>
                    <a:lnTo>
                      <a:pt x="25" y="120"/>
                    </a:lnTo>
                    <a:lnTo>
                      <a:pt x="25" y="116"/>
                    </a:lnTo>
                    <a:lnTo>
                      <a:pt x="25" y="113"/>
                    </a:lnTo>
                    <a:lnTo>
                      <a:pt x="24" y="104"/>
                    </a:lnTo>
                    <a:lnTo>
                      <a:pt x="24" y="97"/>
                    </a:lnTo>
                    <a:lnTo>
                      <a:pt x="23" y="90"/>
                    </a:lnTo>
                    <a:lnTo>
                      <a:pt x="21" y="84"/>
                    </a:lnTo>
                    <a:lnTo>
                      <a:pt x="20" y="77"/>
                    </a:lnTo>
                    <a:lnTo>
                      <a:pt x="20" y="70"/>
                    </a:lnTo>
                    <a:lnTo>
                      <a:pt x="18" y="63"/>
                    </a:lnTo>
                    <a:lnTo>
                      <a:pt x="18" y="57"/>
                    </a:lnTo>
                    <a:lnTo>
                      <a:pt x="17" y="50"/>
                    </a:lnTo>
                    <a:lnTo>
                      <a:pt x="15" y="43"/>
                    </a:lnTo>
                    <a:lnTo>
                      <a:pt x="14" y="36"/>
                    </a:lnTo>
                    <a:lnTo>
                      <a:pt x="13" y="30"/>
                    </a:lnTo>
                    <a:lnTo>
                      <a:pt x="13" y="23"/>
                    </a:lnTo>
                    <a:lnTo>
                      <a:pt x="11" y="16"/>
                    </a:lnTo>
                    <a:lnTo>
                      <a:pt x="10" y="8"/>
                    </a:lnTo>
                    <a:lnTo>
                      <a:pt x="10" y="3"/>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29" name="Freeform 21"/>
              <p:cNvSpPr>
                <a:spLocks/>
              </p:cNvSpPr>
              <p:nvPr/>
            </p:nvSpPr>
            <p:spPr bwMode="auto">
              <a:xfrm>
                <a:off x="2017" y="923"/>
                <a:ext cx="200" cy="70"/>
              </a:xfrm>
              <a:custGeom>
                <a:avLst/>
                <a:gdLst>
                  <a:gd name="T0" fmla="*/ 1 w 402"/>
                  <a:gd name="T1" fmla="*/ 1 h 139"/>
                  <a:gd name="T2" fmla="*/ 1 w 402"/>
                  <a:gd name="T3" fmla="*/ 1 h 139"/>
                  <a:gd name="T4" fmla="*/ 1 w 402"/>
                  <a:gd name="T5" fmla="*/ 1 h 139"/>
                  <a:gd name="T6" fmla="*/ 1 w 402"/>
                  <a:gd name="T7" fmla="*/ 1 h 139"/>
                  <a:gd name="T8" fmla="*/ 1 w 402"/>
                  <a:gd name="T9" fmla="*/ 1 h 139"/>
                  <a:gd name="T10" fmla="*/ 1 w 402"/>
                  <a:gd name="T11" fmla="*/ 1 h 139"/>
                  <a:gd name="T12" fmla="*/ 0 w 402"/>
                  <a:gd name="T13" fmla="*/ 1 h 139"/>
                  <a:gd name="T14" fmla="*/ 0 w 402"/>
                  <a:gd name="T15" fmla="*/ 1 h 139"/>
                  <a:gd name="T16" fmla="*/ 0 w 402"/>
                  <a:gd name="T17" fmla="*/ 1 h 139"/>
                  <a:gd name="T18" fmla="*/ 0 w 402"/>
                  <a:gd name="T19" fmla="*/ 1 h 139"/>
                  <a:gd name="T20" fmla="*/ 0 w 402"/>
                  <a:gd name="T21" fmla="*/ 1 h 139"/>
                  <a:gd name="T22" fmla="*/ 0 w 402"/>
                  <a:gd name="T23" fmla="*/ 1 h 139"/>
                  <a:gd name="T24" fmla="*/ 0 w 402"/>
                  <a:gd name="T25" fmla="*/ 1 h 139"/>
                  <a:gd name="T26" fmla="*/ 0 w 402"/>
                  <a:gd name="T27" fmla="*/ 1 h 139"/>
                  <a:gd name="T28" fmla="*/ 0 w 402"/>
                  <a:gd name="T29" fmla="*/ 1 h 139"/>
                  <a:gd name="T30" fmla="*/ 0 w 402"/>
                  <a:gd name="T31" fmla="*/ 1 h 139"/>
                  <a:gd name="T32" fmla="*/ 0 w 402"/>
                  <a:gd name="T33" fmla="*/ 1 h 139"/>
                  <a:gd name="T34" fmla="*/ 0 w 402"/>
                  <a:gd name="T35" fmla="*/ 1 h 139"/>
                  <a:gd name="T36" fmla="*/ 0 w 402"/>
                  <a:gd name="T37" fmla="*/ 1 h 139"/>
                  <a:gd name="T38" fmla="*/ 0 w 402"/>
                  <a:gd name="T39" fmla="*/ 1 h 139"/>
                  <a:gd name="T40" fmla="*/ 0 w 402"/>
                  <a:gd name="T41" fmla="*/ 1 h 139"/>
                  <a:gd name="T42" fmla="*/ 0 w 402"/>
                  <a:gd name="T43" fmla="*/ 1 h 139"/>
                  <a:gd name="T44" fmla="*/ 0 w 402"/>
                  <a:gd name="T45" fmla="*/ 1 h 139"/>
                  <a:gd name="T46" fmla="*/ 0 w 402"/>
                  <a:gd name="T47" fmla="*/ 1 h 139"/>
                  <a:gd name="T48" fmla="*/ 0 w 402"/>
                  <a:gd name="T49" fmla="*/ 1 h 139"/>
                  <a:gd name="T50" fmla="*/ 0 w 402"/>
                  <a:gd name="T51" fmla="*/ 1 h 139"/>
                  <a:gd name="T52" fmla="*/ 0 w 402"/>
                  <a:gd name="T53" fmla="*/ 1 h 139"/>
                  <a:gd name="T54" fmla="*/ 0 w 402"/>
                  <a:gd name="T55" fmla="*/ 1 h 139"/>
                  <a:gd name="T56" fmla="*/ 0 w 402"/>
                  <a:gd name="T57" fmla="*/ 1 h 139"/>
                  <a:gd name="T58" fmla="*/ 0 w 402"/>
                  <a:gd name="T59" fmla="*/ 1 h 139"/>
                  <a:gd name="T60" fmla="*/ 0 w 402"/>
                  <a:gd name="T61" fmla="*/ 1 h 139"/>
                  <a:gd name="T62" fmla="*/ 0 w 402"/>
                  <a:gd name="T63" fmla="*/ 1 h 139"/>
                  <a:gd name="T64" fmla="*/ 0 w 402"/>
                  <a:gd name="T65" fmla="*/ 1 h 139"/>
                  <a:gd name="T66" fmla="*/ 0 w 402"/>
                  <a:gd name="T67" fmla="*/ 1 h 139"/>
                  <a:gd name="T68" fmla="*/ 0 w 402"/>
                  <a:gd name="T69" fmla="*/ 1 h 139"/>
                  <a:gd name="T70" fmla="*/ 0 w 402"/>
                  <a:gd name="T71" fmla="*/ 1 h 139"/>
                  <a:gd name="T72" fmla="*/ 0 w 402"/>
                  <a:gd name="T73" fmla="*/ 1 h 139"/>
                  <a:gd name="T74" fmla="*/ 0 w 402"/>
                  <a:gd name="T75" fmla="*/ 1 h 139"/>
                  <a:gd name="T76" fmla="*/ 0 w 402"/>
                  <a:gd name="T77" fmla="*/ 1 h 139"/>
                  <a:gd name="T78" fmla="*/ 0 w 402"/>
                  <a:gd name="T79" fmla="*/ 1 h 139"/>
                  <a:gd name="T80" fmla="*/ 0 w 402"/>
                  <a:gd name="T81" fmla="*/ 1 h 139"/>
                  <a:gd name="T82" fmla="*/ 1 w 402"/>
                  <a:gd name="T83" fmla="*/ 1 h 139"/>
                  <a:gd name="T84" fmla="*/ 1 w 402"/>
                  <a:gd name="T85" fmla="*/ 1 h 139"/>
                  <a:gd name="T86" fmla="*/ 1 w 402"/>
                  <a:gd name="T87" fmla="*/ 1 h 139"/>
                  <a:gd name="T88" fmla="*/ 1 w 402"/>
                  <a:gd name="T89" fmla="*/ 1 h 139"/>
                  <a:gd name="T90" fmla="*/ 1 w 402"/>
                  <a:gd name="T91" fmla="*/ 1 h 139"/>
                  <a:gd name="T92" fmla="*/ 1 w 402"/>
                  <a:gd name="T93" fmla="*/ 1 h 139"/>
                  <a:gd name="T94" fmla="*/ 1 w 402"/>
                  <a:gd name="T95" fmla="*/ 1 h 139"/>
                  <a:gd name="T96" fmla="*/ 1 w 402"/>
                  <a:gd name="T97" fmla="*/ 1 h 139"/>
                  <a:gd name="T98" fmla="*/ 1 w 402"/>
                  <a:gd name="T99" fmla="*/ 1 h 139"/>
                  <a:gd name="T100" fmla="*/ 1 w 402"/>
                  <a:gd name="T101" fmla="*/ 0 h 1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02"/>
                  <a:gd name="T154" fmla="*/ 0 h 139"/>
                  <a:gd name="T155" fmla="*/ 402 w 402"/>
                  <a:gd name="T156" fmla="*/ 139 h 1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02" h="139">
                    <a:moveTo>
                      <a:pt x="399" y="0"/>
                    </a:moveTo>
                    <a:lnTo>
                      <a:pt x="388" y="5"/>
                    </a:lnTo>
                    <a:lnTo>
                      <a:pt x="375" y="9"/>
                    </a:lnTo>
                    <a:lnTo>
                      <a:pt x="363" y="12"/>
                    </a:lnTo>
                    <a:lnTo>
                      <a:pt x="350" y="16"/>
                    </a:lnTo>
                    <a:lnTo>
                      <a:pt x="339" y="20"/>
                    </a:lnTo>
                    <a:lnTo>
                      <a:pt x="326" y="25"/>
                    </a:lnTo>
                    <a:lnTo>
                      <a:pt x="313" y="29"/>
                    </a:lnTo>
                    <a:lnTo>
                      <a:pt x="302" y="33"/>
                    </a:lnTo>
                    <a:lnTo>
                      <a:pt x="289" y="36"/>
                    </a:lnTo>
                    <a:lnTo>
                      <a:pt x="278" y="39"/>
                    </a:lnTo>
                    <a:lnTo>
                      <a:pt x="265" y="42"/>
                    </a:lnTo>
                    <a:lnTo>
                      <a:pt x="252" y="45"/>
                    </a:lnTo>
                    <a:lnTo>
                      <a:pt x="240" y="48"/>
                    </a:lnTo>
                    <a:lnTo>
                      <a:pt x="228" y="49"/>
                    </a:lnTo>
                    <a:lnTo>
                      <a:pt x="215" y="50"/>
                    </a:lnTo>
                    <a:lnTo>
                      <a:pt x="202" y="52"/>
                    </a:lnTo>
                    <a:lnTo>
                      <a:pt x="192" y="55"/>
                    </a:lnTo>
                    <a:lnTo>
                      <a:pt x="182" y="58"/>
                    </a:lnTo>
                    <a:lnTo>
                      <a:pt x="172" y="62"/>
                    </a:lnTo>
                    <a:lnTo>
                      <a:pt x="162" y="66"/>
                    </a:lnTo>
                    <a:lnTo>
                      <a:pt x="152" y="70"/>
                    </a:lnTo>
                    <a:lnTo>
                      <a:pt x="143" y="75"/>
                    </a:lnTo>
                    <a:lnTo>
                      <a:pt x="133" y="79"/>
                    </a:lnTo>
                    <a:lnTo>
                      <a:pt x="123" y="83"/>
                    </a:lnTo>
                    <a:lnTo>
                      <a:pt x="113" y="88"/>
                    </a:lnTo>
                    <a:lnTo>
                      <a:pt x="103" y="92"/>
                    </a:lnTo>
                    <a:lnTo>
                      <a:pt x="95" y="98"/>
                    </a:lnTo>
                    <a:lnTo>
                      <a:pt x="85" y="102"/>
                    </a:lnTo>
                    <a:lnTo>
                      <a:pt x="75" y="106"/>
                    </a:lnTo>
                    <a:lnTo>
                      <a:pt x="65" y="110"/>
                    </a:lnTo>
                    <a:lnTo>
                      <a:pt x="55" y="115"/>
                    </a:lnTo>
                    <a:lnTo>
                      <a:pt x="45" y="119"/>
                    </a:lnTo>
                    <a:lnTo>
                      <a:pt x="40" y="120"/>
                    </a:lnTo>
                    <a:lnTo>
                      <a:pt x="35" y="122"/>
                    </a:lnTo>
                    <a:lnTo>
                      <a:pt x="32" y="122"/>
                    </a:lnTo>
                    <a:lnTo>
                      <a:pt x="29" y="123"/>
                    </a:lnTo>
                    <a:lnTo>
                      <a:pt x="26" y="123"/>
                    </a:lnTo>
                    <a:lnTo>
                      <a:pt x="23" y="125"/>
                    </a:lnTo>
                    <a:lnTo>
                      <a:pt x="20" y="125"/>
                    </a:lnTo>
                    <a:lnTo>
                      <a:pt x="17" y="126"/>
                    </a:lnTo>
                    <a:lnTo>
                      <a:pt x="13" y="126"/>
                    </a:lnTo>
                    <a:lnTo>
                      <a:pt x="12" y="128"/>
                    </a:lnTo>
                    <a:lnTo>
                      <a:pt x="9" y="128"/>
                    </a:lnTo>
                    <a:lnTo>
                      <a:pt x="5" y="129"/>
                    </a:lnTo>
                    <a:lnTo>
                      <a:pt x="3" y="129"/>
                    </a:lnTo>
                    <a:lnTo>
                      <a:pt x="0" y="132"/>
                    </a:lnTo>
                    <a:lnTo>
                      <a:pt x="2" y="135"/>
                    </a:lnTo>
                    <a:lnTo>
                      <a:pt x="2" y="138"/>
                    </a:lnTo>
                    <a:lnTo>
                      <a:pt x="3" y="139"/>
                    </a:lnTo>
                    <a:lnTo>
                      <a:pt x="6" y="139"/>
                    </a:lnTo>
                    <a:lnTo>
                      <a:pt x="7" y="139"/>
                    </a:lnTo>
                    <a:lnTo>
                      <a:pt x="10" y="138"/>
                    </a:lnTo>
                    <a:lnTo>
                      <a:pt x="13" y="138"/>
                    </a:lnTo>
                    <a:lnTo>
                      <a:pt x="16" y="138"/>
                    </a:lnTo>
                    <a:lnTo>
                      <a:pt x="19" y="136"/>
                    </a:lnTo>
                    <a:lnTo>
                      <a:pt x="23" y="135"/>
                    </a:lnTo>
                    <a:lnTo>
                      <a:pt x="26" y="135"/>
                    </a:lnTo>
                    <a:lnTo>
                      <a:pt x="29" y="133"/>
                    </a:lnTo>
                    <a:lnTo>
                      <a:pt x="33" y="132"/>
                    </a:lnTo>
                    <a:lnTo>
                      <a:pt x="36" y="132"/>
                    </a:lnTo>
                    <a:lnTo>
                      <a:pt x="39" y="130"/>
                    </a:lnTo>
                    <a:lnTo>
                      <a:pt x="42" y="130"/>
                    </a:lnTo>
                    <a:lnTo>
                      <a:pt x="45" y="129"/>
                    </a:lnTo>
                    <a:lnTo>
                      <a:pt x="47" y="129"/>
                    </a:lnTo>
                    <a:lnTo>
                      <a:pt x="50" y="128"/>
                    </a:lnTo>
                    <a:lnTo>
                      <a:pt x="52" y="128"/>
                    </a:lnTo>
                    <a:lnTo>
                      <a:pt x="65" y="122"/>
                    </a:lnTo>
                    <a:lnTo>
                      <a:pt x="77" y="116"/>
                    </a:lnTo>
                    <a:lnTo>
                      <a:pt x="90" y="109"/>
                    </a:lnTo>
                    <a:lnTo>
                      <a:pt x="103" y="103"/>
                    </a:lnTo>
                    <a:lnTo>
                      <a:pt x="116" y="96"/>
                    </a:lnTo>
                    <a:lnTo>
                      <a:pt x="129" y="90"/>
                    </a:lnTo>
                    <a:lnTo>
                      <a:pt x="142" y="85"/>
                    </a:lnTo>
                    <a:lnTo>
                      <a:pt x="155" y="79"/>
                    </a:lnTo>
                    <a:lnTo>
                      <a:pt x="167" y="73"/>
                    </a:lnTo>
                    <a:lnTo>
                      <a:pt x="182" y="69"/>
                    </a:lnTo>
                    <a:lnTo>
                      <a:pt x="193" y="65"/>
                    </a:lnTo>
                    <a:lnTo>
                      <a:pt x="208" y="62"/>
                    </a:lnTo>
                    <a:lnTo>
                      <a:pt x="220" y="59"/>
                    </a:lnTo>
                    <a:lnTo>
                      <a:pt x="233" y="56"/>
                    </a:lnTo>
                    <a:lnTo>
                      <a:pt x="248" y="55"/>
                    </a:lnTo>
                    <a:lnTo>
                      <a:pt x="260" y="55"/>
                    </a:lnTo>
                    <a:lnTo>
                      <a:pt x="269" y="52"/>
                    </a:lnTo>
                    <a:lnTo>
                      <a:pt x="278" y="50"/>
                    </a:lnTo>
                    <a:lnTo>
                      <a:pt x="286" y="48"/>
                    </a:lnTo>
                    <a:lnTo>
                      <a:pt x="296" y="45"/>
                    </a:lnTo>
                    <a:lnTo>
                      <a:pt x="305" y="42"/>
                    </a:lnTo>
                    <a:lnTo>
                      <a:pt x="313" y="39"/>
                    </a:lnTo>
                    <a:lnTo>
                      <a:pt x="322" y="38"/>
                    </a:lnTo>
                    <a:lnTo>
                      <a:pt x="332" y="35"/>
                    </a:lnTo>
                    <a:lnTo>
                      <a:pt x="340" y="30"/>
                    </a:lnTo>
                    <a:lnTo>
                      <a:pt x="349" y="28"/>
                    </a:lnTo>
                    <a:lnTo>
                      <a:pt x="358" y="25"/>
                    </a:lnTo>
                    <a:lnTo>
                      <a:pt x="366" y="22"/>
                    </a:lnTo>
                    <a:lnTo>
                      <a:pt x="375" y="18"/>
                    </a:lnTo>
                    <a:lnTo>
                      <a:pt x="383" y="13"/>
                    </a:lnTo>
                    <a:lnTo>
                      <a:pt x="393" y="10"/>
                    </a:lnTo>
                    <a:lnTo>
                      <a:pt x="402" y="6"/>
                    </a:lnTo>
                    <a:lnTo>
                      <a:pt x="401" y="3"/>
                    </a:lnTo>
                    <a:lnTo>
                      <a:pt x="399"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0" name="Freeform 22"/>
              <p:cNvSpPr>
                <a:spLocks/>
              </p:cNvSpPr>
              <p:nvPr/>
            </p:nvSpPr>
            <p:spPr bwMode="auto">
              <a:xfrm>
                <a:off x="2255" y="857"/>
                <a:ext cx="289" cy="55"/>
              </a:xfrm>
              <a:custGeom>
                <a:avLst/>
                <a:gdLst>
                  <a:gd name="T0" fmla="*/ 58 w 362"/>
                  <a:gd name="T1" fmla="*/ 0 h 76"/>
                  <a:gd name="T2" fmla="*/ 54 w 362"/>
                  <a:gd name="T3" fmla="*/ 1 h 76"/>
                  <a:gd name="T4" fmla="*/ 49 w 362"/>
                  <a:gd name="T5" fmla="*/ 1 h 76"/>
                  <a:gd name="T6" fmla="*/ 43 w 362"/>
                  <a:gd name="T7" fmla="*/ 1 h 76"/>
                  <a:gd name="T8" fmla="*/ 38 w 362"/>
                  <a:gd name="T9" fmla="*/ 1 h 76"/>
                  <a:gd name="T10" fmla="*/ 33 w 362"/>
                  <a:gd name="T11" fmla="*/ 2 h 76"/>
                  <a:gd name="T12" fmla="*/ 27 w 362"/>
                  <a:gd name="T13" fmla="*/ 3 h 76"/>
                  <a:gd name="T14" fmla="*/ 24 w 362"/>
                  <a:gd name="T15" fmla="*/ 3 h 76"/>
                  <a:gd name="T16" fmla="*/ 22 w 362"/>
                  <a:gd name="T17" fmla="*/ 3 h 76"/>
                  <a:gd name="T18" fmla="*/ 19 w 362"/>
                  <a:gd name="T19" fmla="*/ 3 h 76"/>
                  <a:gd name="T20" fmla="*/ 16 w 362"/>
                  <a:gd name="T21" fmla="*/ 4 h 76"/>
                  <a:gd name="T22" fmla="*/ 14 w 362"/>
                  <a:gd name="T23" fmla="*/ 4 h 76"/>
                  <a:gd name="T24" fmla="*/ 11 w 362"/>
                  <a:gd name="T25" fmla="*/ 4 h 76"/>
                  <a:gd name="T26" fmla="*/ 8 w 362"/>
                  <a:gd name="T27" fmla="*/ 5 h 76"/>
                  <a:gd name="T28" fmla="*/ 5 w 362"/>
                  <a:gd name="T29" fmla="*/ 5 h 76"/>
                  <a:gd name="T30" fmla="*/ 2 w 362"/>
                  <a:gd name="T31" fmla="*/ 5 h 76"/>
                  <a:gd name="T32" fmla="*/ 2 w 362"/>
                  <a:gd name="T33" fmla="*/ 5 h 76"/>
                  <a:gd name="T34" fmla="*/ 2 w 362"/>
                  <a:gd name="T35" fmla="*/ 5 h 76"/>
                  <a:gd name="T36" fmla="*/ 2 w 362"/>
                  <a:gd name="T37" fmla="*/ 6 h 76"/>
                  <a:gd name="T38" fmla="*/ 2 w 362"/>
                  <a:gd name="T39" fmla="*/ 6 h 76"/>
                  <a:gd name="T40" fmla="*/ 5 w 362"/>
                  <a:gd name="T41" fmla="*/ 5 h 76"/>
                  <a:gd name="T42" fmla="*/ 7 w 362"/>
                  <a:gd name="T43" fmla="*/ 5 h 76"/>
                  <a:gd name="T44" fmla="*/ 10 w 362"/>
                  <a:gd name="T45" fmla="*/ 5 h 76"/>
                  <a:gd name="T46" fmla="*/ 12 w 362"/>
                  <a:gd name="T47" fmla="*/ 5 h 76"/>
                  <a:gd name="T48" fmla="*/ 15 w 362"/>
                  <a:gd name="T49" fmla="*/ 5 h 76"/>
                  <a:gd name="T50" fmla="*/ 18 w 362"/>
                  <a:gd name="T51" fmla="*/ 4 h 76"/>
                  <a:gd name="T52" fmla="*/ 19 w 362"/>
                  <a:gd name="T53" fmla="*/ 4 h 76"/>
                  <a:gd name="T54" fmla="*/ 24 w 362"/>
                  <a:gd name="T55" fmla="*/ 4 h 76"/>
                  <a:gd name="T56" fmla="*/ 30 w 362"/>
                  <a:gd name="T57" fmla="*/ 3 h 76"/>
                  <a:gd name="T58" fmla="*/ 35 w 362"/>
                  <a:gd name="T59" fmla="*/ 3 h 76"/>
                  <a:gd name="T60" fmla="*/ 42 w 362"/>
                  <a:gd name="T61" fmla="*/ 2 h 76"/>
                  <a:gd name="T62" fmla="*/ 47 w 362"/>
                  <a:gd name="T63" fmla="*/ 2 h 76"/>
                  <a:gd name="T64" fmla="*/ 52 w 362"/>
                  <a:gd name="T65" fmla="*/ 1 h 76"/>
                  <a:gd name="T66" fmla="*/ 57 w 362"/>
                  <a:gd name="T67" fmla="*/ 1 h 76"/>
                  <a:gd name="T68" fmla="*/ 59 w 362"/>
                  <a:gd name="T69" fmla="*/ 1 h 76"/>
                  <a:gd name="T70" fmla="*/ 59 w 362"/>
                  <a:gd name="T71" fmla="*/ 1 h 76"/>
                  <a:gd name="T72" fmla="*/ 59 w 362"/>
                  <a:gd name="T73" fmla="*/ 0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62"/>
                  <a:gd name="T112" fmla="*/ 0 h 76"/>
                  <a:gd name="T113" fmla="*/ 362 w 362"/>
                  <a:gd name="T114" fmla="*/ 76 h 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62" h="76">
                    <a:moveTo>
                      <a:pt x="362" y="0"/>
                    </a:moveTo>
                    <a:lnTo>
                      <a:pt x="352" y="0"/>
                    </a:lnTo>
                    <a:lnTo>
                      <a:pt x="341" y="3"/>
                    </a:lnTo>
                    <a:lnTo>
                      <a:pt x="328" y="4"/>
                    </a:lnTo>
                    <a:lnTo>
                      <a:pt x="313" y="7"/>
                    </a:lnTo>
                    <a:lnTo>
                      <a:pt x="298" y="10"/>
                    </a:lnTo>
                    <a:lnTo>
                      <a:pt x="282" y="12"/>
                    </a:lnTo>
                    <a:lnTo>
                      <a:pt x="263" y="14"/>
                    </a:lnTo>
                    <a:lnTo>
                      <a:pt x="246" y="19"/>
                    </a:lnTo>
                    <a:lnTo>
                      <a:pt x="229" y="20"/>
                    </a:lnTo>
                    <a:lnTo>
                      <a:pt x="212" y="23"/>
                    </a:lnTo>
                    <a:lnTo>
                      <a:pt x="195" y="26"/>
                    </a:lnTo>
                    <a:lnTo>
                      <a:pt x="180" y="29"/>
                    </a:lnTo>
                    <a:lnTo>
                      <a:pt x="166" y="30"/>
                    </a:lnTo>
                    <a:lnTo>
                      <a:pt x="153" y="33"/>
                    </a:lnTo>
                    <a:lnTo>
                      <a:pt x="143" y="34"/>
                    </a:lnTo>
                    <a:lnTo>
                      <a:pt x="135" y="36"/>
                    </a:lnTo>
                    <a:lnTo>
                      <a:pt x="128" y="36"/>
                    </a:lnTo>
                    <a:lnTo>
                      <a:pt x="120" y="37"/>
                    </a:lnTo>
                    <a:lnTo>
                      <a:pt x="112" y="40"/>
                    </a:lnTo>
                    <a:lnTo>
                      <a:pt x="105" y="42"/>
                    </a:lnTo>
                    <a:lnTo>
                      <a:pt x="96" y="43"/>
                    </a:lnTo>
                    <a:lnTo>
                      <a:pt x="87" y="46"/>
                    </a:lnTo>
                    <a:lnTo>
                      <a:pt x="80" y="49"/>
                    </a:lnTo>
                    <a:lnTo>
                      <a:pt x="72" y="52"/>
                    </a:lnTo>
                    <a:lnTo>
                      <a:pt x="63" y="53"/>
                    </a:lnTo>
                    <a:lnTo>
                      <a:pt x="55" y="56"/>
                    </a:lnTo>
                    <a:lnTo>
                      <a:pt x="46" y="59"/>
                    </a:lnTo>
                    <a:lnTo>
                      <a:pt x="39" y="62"/>
                    </a:lnTo>
                    <a:lnTo>
                      <a:pt x="30" y="63"/>
                    </a:lnTo>
                    <a:lnTo>
                      <a:pt x="23" y="64"/>
                    </a:lnTo>
                    <a:lnTo>
                      <a:pt x="16" y="67"/>
                    </a:lnTo>
                    <a:lnTo>
                      <a:pt x="9" y="69"/>
                    </a:lnTo>
                    <a:lnTo>
                      <a:pt x="6" y="70"/>
                    </a:lnTo>
                    <a:lnTo>
                      <a:pt x="5" y="73"/>
                    </a:lnTo>
                    <a:lnTo>
                      <a:pt x="2" y="74"/>
                    </a:lnTo>
                    <a:lnTo>
                      <a:pt x="0" y="76"/>
                    </a:lnTo>
                    <a:lnTo>
                      <a:pt x="5" y="76"/>
                    </a:lnTo>
                    <a:lnTo>
                      <a:pt x="10" y="76"/>
                    </a:lnTo>
                    <a:lnTo>
                      <a:pt x="16" y="76"/>
                    </a:lnTo>
                    <a:lnTo>
                      <a:pt x="23" y="74"/>
                    </a:lnTo>
                    <a:lnTo>
                      <a:pt x="30" y="72"/>
                    </a:lnTo>
                    <a:lnTo>
                      <a:pt x="37" y="70"/>
                    </a:lnTo>
                    <a:lnTo>
                      <a:pt x="45" y="69"/>
                    </a:lnTo>
                    <a:lnTo>
                      <a:pt x="52" y="66"/>
                    </a:lnTo>
                    <a:lnTo>
                      <a:pt x="59" y="64"/>
                    </a:lnTo>
                    <a:lnTo>
                      <a:pt x="67" y="62"/>
                    </a:lnTo>
                    <a:lnTo>
                      <a:pt x="75" y="59"/>
                    </a:lnTo>
                    <a:lnTo>
                      <a:pt x="82" y="57"/>
                    </a:lnTo>
                    <a:lnTo>
                      <a:pt x="89" y="56"/>
                    </a:lnTo>
                    <a:lnTo>
                      <a:pt x="96" y="54"/>
                    </a:lnTo>
                    <a:lnTo>
                      <a:pt x="102" y="54"/>
                    </a:lnTo>
                    <a:lnTo>
                      <a:pt x="108" y="54"/>
                    </a:lnTo>
                    <a:lnTo>
                      <a:pt x="118" y="52"/>
                    </a:lnTo>
                    <a:lnTo>
                      <a:pt x="130" y="49"/>
                    </a:lnTo>
                    <a:lnTo>
                      <a:pt x="143" y="46"/>
                    </a:lnTo>
                    <a:lnTo>
                      <a:pt x="159" y="43"/>
                    </a:lnTo>
                    <a:lnTo>
                      <a:pt x="176" y="40"/>
                    </a:lnTo>
                    <a:lnTo>
                      <a:pt x="193" y="37"/>
                    </a:lnTo>
                    <a:lnTo>
                      <a:pt x="212" y="34"/>
                    </a:lnTo>
                    <a:lnTo>
                      <a:pt x="230" y="32"/>
                    </a:lnTo>
                    <a:lnTo>
                      <a:pt x="249" y="29"/>
                    </a:lnTo>
                    <a:lnTo>
                      <a:pt x="268" y="26"/>
                    </a:lnTo>
                    <a:lnTo>
                      <a:pt x="285" y="23"/>
                    </a:lnTo>
                    <a:lnTo>
                      <a:pt x="302" y="20"/>
                    </a:lnTo>
                    <a:lnTo>
                      <a:pt x="318" y="17"/>
                    </a:lnTo>
                    <a:lnTo>
                      <a:pt x="333" y="14"/>
                    </a:lnTo>
                    <a:lnTo>
                      <a:pt x="346" y="13"/>
                    </a:lnTo>
                    <a:lnTo>
                      <a:pt x="358" y="12"/>
                    </a:lnTo>
                    <a:lnTo>
                      <a:pt x="358" y="7"/>
                    </a:lnTo>
                    <a:lnTo>
                      <a:pt x="359" y="4"/>
                    </a:lnTo>
                    <a:lnTo>
                      <a:pt x="361" y="1"/>
                    </a:lnTo>
                    <a:lnTo>
                      <a:pt x="362"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1" name="Freeform 23"/>
              <p:cNvSpPr>
                <a:spLocks/>
              </p:cNvSpPr>
              <p:nvPr/>
            </p:nvSpPr>
            <p:spPr bwMode="auto">
              <a:xfrm>
                <a:off x="2463" y="1074"/>
                <a:ext cx="227" cy="126"/>
              </a:xfrm>
              <a:custGeom>
                <a:avLst/>
                <a:gdLst>
                  <a:gd name="T0" fmla="*/ 2 w 453"/>
                  <a:gd name="T1" fmla="*/ 0 h 253"/>
                  <a:gd name="T2" fmla="*/ 2 w 453"/>
                  <a:gd name="T3" fmla="*/ 0 h 253"/>
                  <a:gd name="T4" fmla="*/ 2 w 453"/>
                  <a:gd name="T5" fmla="*/ 0 h 253"/>
                  <a:gd name="T6" fmla="*/ 1 w 453"/>
                  <a:gd name="T7" fmla="*/ 0 h 253"/>
                  <a:gd name="T8" fmla="*/ 1 w 453"/>
                  <a:gd name="T9" fmla="*/ 0 h 253"/>
                  <a:gd name="T10" fmla="*/ 1 w 453"/>
                  <a:gd name="T11" fmla="*/ 0 h 253"/>
                  <a:gd name="T12" fmla="*/ 0 w 453"/>
                  <a:gd name="T13" fmla="*/ 0 h 253"/>
                  <a:gd name="T14" fmla="*/ 0 w 453"/>
                  <a:gd name="T15" fmla="*/ 0 h 253"/>
                  <a:gd name="T16" fmla="*/ 0 w 453"/>
                  <a:gd name="T17" fmla="*/ 0 h 253"/>
                  <a:gd name="T18" fmla="*/ 1 w 453"/>
                  <a:gd name="T19" fmla="*/ 0 h 253"/>
                  <a:gd name="T20" fmla="*/ 1 w 453"/>
                  <a:gd name="T21" fmla="*/ 0 h 253"/>
                  <a:gd name="T22" fmla="*/ 1 w 453"/>
                  <a:gd name="T23" fmla="*/ 0 h 253"/>
                  <a:gd name="T24" fmla="*/ 1 w 453"/>
                  <a:gd name="T25" fmla="*/ 0 h 253"/>
                  <a:gd name="T26" fmla="*/ 1 w 453"/>
                  <a:gd name="T27" fmla="*/ 0 h 253"/>
                  <a:gd name="T28" fmla="*/ 1 w 453"/>
                  <a:gd name="T29" fmla="*/ 0 h 253"/>
                  <a:gd name="T30" fmla="*/ 1 w 453"/>
                  <a:gd name="T31" fmla="*/ 0 h 253"/>
                  <a:gd name="T32" fmla="*/ 1 w 453"/>
                  <a:gd name="T33" fmla="*/ 0 h 253"/>
                  <a:gd name="T34" fmla="*/ 1 w 453"/>
                  <a:gd name="T35" fmla="*/ 0 h 253"/>
                  <a:gd name="T36" fmla="*/ 1 w 453"/>
                  <a:gd name="T37" fmla="*/ 0 h 253"/>
                  <a:gd name="T38" fmla="*/ 1 w 453"/>
                  <a:gd name="T39" fmla="*/ 0 h 253"/>
                  <a:gd name="T40" fmla="*/ 1 w 453"/>
                  <a:gd name="T41" fmla="*/ 0 h 253"/>
                  <a:gd name="T42" fmla="*/ 1 w 453"/>
                  <a:gd name="T43" fmla="*/ 0 h 253"/>
                  <a:gd name="T44" fmla="*/ 1 w 453"/>
                  <a:gd name="T45" fmla="*/ 0 h 253"/>
                  <a:gd name="T46" fmla="*/ 1 w 453"/>
                  <a:gd name="T47" fmla="*/ 0 h 253"/>
                  <a:gd name="T48" fmla="*/ 1 w 453"/>
                  <a:gd name="T49" fmla="*/ 0 h 253"/>
                  <a:gd name="T50" fmla="*/ 1 w 453"/>
                  <a:gd name="T51" fmla="*/ 0 h 253"/>
                  <a:gd name="T52" fmla="*/ 1 w 453"/>
                  <a:gd name="T53" fmla="*/ 0 h 253"/>
                  <a:gd name="T54" fmla="*/ 1 w 453"/>
                  <a:gd name="T55" fmla="*/ 0 h 253"/>
                  <a:gd name="T56" fmla="*/ 1 w 453"/>
                  <a:gd name="T57" fmla="*/ 0 h 253"/>
                  <a:gd name="T58" fmla="*/ 1 w 453"/>
                  <a:gd name="T59" fmla="*/ 0 h 253"/>
                  <a:gd name="T60" fmla="*/ 1 w 453"/>
                  <a:gd name="T61" fmla="*/ 0 h 253"/>
                  <a:gd name="T62" fmla="*/ 1 w 453"/>
                  <a:gd name="T63" fmla="*/ 0 h 253"/>
                  <a:gd name="T64" fmla="*/ 1 w 453"/>
                  <a:gd name="T65" fmla="*/ 0 h 253"/>
                  <a:gd name="T66" fmla="*/ 1 w 453"/>
                  <a:gd name="T67" fmla="*/ 0 h 253"/>
                  <a:gd name="T68" fmla="*/ 1 w 453"/>
                  <a:gd name="T69" fmla="*/ 0 h 253"/>
                  <a:gd name="T70" fmla="*/ 1 w 453"/>
                  <a:gd name="T71" fmla="*/ 0 h 253"/>
                  <a:gd name="T72" fmla="*/ 2 w 453"/>
                  <a:gd name="T73" fmla="*/ 0 h 253"/>
                  <a:gd name="T74" fmla="*/ 2 w 453"/>
                  <a:gd name="T75" fmla="*/ 0 h 253"/>
                  <a:gd name="T76" fmla="*/ 2 w 453"/>
                  <a:gd name="T77" fmla="*/ 0 h 253"/>
                  <a:gd name="T78" fmla="*/ 2 w 453"/>
                  <a:gd name="T79" fmla="*/ 0 h 253"/>
                  <a:gd name="T80" fmla="*/ 2 w 453"/>
                  <a:gd name="T81" fmla="*/ 0 h 253"/>
                  <a:gd name="T82" fmla="*/ 2 w 453"/>
                  <a:gd name="T83" fmla="*/ 0 h 253"/>
                  <a:gd name="T84" fmla="*/ 2 w 453"/>
                  <a:gd name="T85" fmla="*/ 0 h 253"/>
                  <a:gd name="T86" fmla="*/ 2 w 453"/>
                  <a:gd name="T87" fmla="*/ 0 h 253"/>
                  <a:gd name="T88" fmla="*/ 2 w 453"/>
                  <a:gd name="T89" fmla="*/ 0 h 253"/>
                  <a:gd name="T90" fmla="*/ 2 w 453"/>
                  <a:gd name="T91" fmla="*/ 0 h 253"/>
                  <a:gd name="T92" fmla="*/ 2 w 453"/>
                  <a:gd name="T93" fmla="*/ 0 h 253"/>
                  <a:gd name="T94" fmla="*/ 2 w 453"/>
                  <a:gd name="T95" fmla="*/ 0 h 253"/>
                  <a:gd name="T96" fmla="*/ 2 w 453"/>
                  <a:gd name="T97" fmla="*/ 0 h 253"/>
                  <a:gd name="T98" fmla="*/ 2 w 453"/>
                  <a:gd name="T99" fmla="*/ 0 h 253"/>
                  <a:gd name="T100" fmla="*/ 2 w 453"/>
                  <a:gd name="T101" fmla="*/ 0 h 253"/>
                  <a:gd name="T102" fmla="*/ 2 w 453"/>
                  <a:gd name="T103" fmla="*/ 0 h 253"/>
                  <a:gd name="T104" fmla="*/ 2 w 453"/>
                  <a:gd name="T105" fmla="*/ 0 h 253"/>
                  <a:gd name="T106" fmla="*/ 2 w 453"/>
                  <a:gd name="T107" fmla="*/ 0 h 2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53"/>
                  <a:gd name="T163" fmla="*/ 0 h 253"/>
                  <a:gd name="T164" fmla="*/ 453 w 453"/>
                  <a:gd name="T165" fmla="*/ 253 h 2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53" h="253">
                    <a:moveTo>
                      <a:pt x="453" y="91"/>
                    </a:moveTo>
                    <a:lnTo>
                      <a:pt x="436" y="67"/>
                    </a:lnTo>
                    <a:lnTo>
                      <a:pt x="379" y="30"/>
                    </a:lnTo>
                    <a:lnTo>
                      <a:pt x="316" y="0"/>
                    </a:lnTo>
                    <a:lnTo>
                      <a:pt x="294" y="3"/>
                    </a:lnTo>
                    <a:lnTo>
                      <a:pt x="263" y="64"/>
                    </a:lnTo>
                    <a:lnTo>
                      <a:pt x="216" y="56"/>
                    </a:lnTo>
                    <a:lnTo>
                      <a:pt x="193" y="71"/>
                    </a:lnTo>
                    <a:lnTo>
                      <a:pt x="158" y="139"/>
                    </a:lnTo>
                    <a:lnTo>
                      <a:pt x="146" y="131"/>
                    </a:lnTo>
                    <a:lnTo>
                      <a:pt x="73" y="110"/>
                    </a:lnTo>
                    <a:lnTo>
                      <a:pt x="51" y="111"/>
                    </a:lnTo>
                    <a:lnTo>
                      <a:pt x="28" y="130"/>
                    </a:lnTo>
                    <a:lnTo>
                      <a:pt x="0" y="204"/>
                    </a:lnTo>
                    <a:lnTo>
                      <a:pt x="0" y="209"/>
                    </a:lnTo>
                    <a:lnTo>
                      <a:pt x="0" y="212"/>
                    </a:lnTo>
                    <a:lnTo>
                      <a:pt x="0" y="214"/>
                    </a:lnTo>
                    <a:lnTo>
                      <a:pt x="0" y="217"/>
                    </a:lnTo>
                    <a:lnTo>
                      <a:pt x="1" y="222"/>
                    </a:lnTo>
                    <a:lnTo>
                      <a:pt x="1" y="224"/>
                    </a:lnTo>
                    <a:lnTo>
                      <a:pt x="1" y="229"/>
                    </a:lnTo>
                    <a:lnTo>
                      <a:pt x="1" y="232"/>
                    </a:lnTo>
                    <a:lnTo>
                      <a:pt x="1" y="236"/>
                    </a:lnTo>
                    <a:lnTo>
                      <a:pt x="1" y="237"/>
                    </a:lnTo>
                    <a:lnTo>
                      <a:pt x="1" y="242"/>
                    </a:lnTo>
                    <a:lnTo>
                      <a:pt x="1" y="243"/>
                    </a:lnTo>
                    <a:lnTo>
                      <a:pt x="1" y="246"/>
                    </a:lnTo>
                    <a:lnTo>
                      <a:pt x="1" y="247"/>
                    </a:lnTo>
                    <a:lnTo>
                      <a:pt x="4" y="247"/>
                    </a:lnTo>
                    <a:lnTo>
                      <a:pt x="7" y="249"/>
                    </a:lnTo>
                    <a:lnTo>
                      <a:pt x="11" y="250"/>
                    </a:lnTo>
                    <a:lnTo>
                      <a:pt x="17" y="250"/>
                    </a:lnTo>
                    <a:lnTo>
                      <a:pt x="24" y="252"/>
                    </a:lnTo>
                    <a:lnTo>
                      <a:pt x="31" y="252"/>
                    </a:lnTo>
                    <a:lnTo>
                      <a:pt x="38" y="253"/>
                    </a:lnTo>
                    <a:lnTo>
                      <a:pt x="45" y="253"/>
                    </a:lnTo>
                    <a:lnTo>
                      <a:pt x="54" y="253"/>
                    </a:lnTo>
                    <a:lnTo>
                      <a:pt x="61" y="253"/>
                    </a:lnTo>
                    <a:lnTo>
                      <a:pt x="70" y="253"/>
                    </a:lnTo>
                    <a:lnTo>
                      <a:pt x="77" y="252"/>
                    </a:lnTo>
                    <a:lnTo>
                      <a:pt x="84" y="252"/>
                    </a:lnTo>
                    <a:lnTo>
                      <a:pt x="91" y="250"/>
                    </a:lnTo>
                    <a:lnTo>
                      <a:pt x="98" y="250"/>
                    </a:lnTo>
                    <a:lnTo>
                      <a:pt x="103" y="249"/>
                    </a:lnTo>
                    <a:lnTo>
                      <a:pt x="107" y="247"/>
                    </a:lnTo>
                    <a:lnTo>
                      <a:pt x="113" y="246"/>
                    </a:lnTo>
                    <a:lnTo>
                      <a:pt x="117" y="244"/>
                    </a:lnTo>
                    <a:lnTo>
                      <a:pt x="121" y="243"/>
                    </a:lnTo>
                    <a:lnTo>
                      <a:pt x="127" y="242"/>
                    </a:lnTo>
                    <a:lnTo>
                      <a:pt x="130" y="240"/>
                    </a:lnTo>
                    <a:lnTo>
                      <a:pt x="136" y="237"/>
                    </a:lnTo>
                    <a:lnTo>
                      <a:pt x="138" y="236"/>
                    </a:lnTo>
                    <a:lnTo>
                      <a:pt x="143" y="234"/>
                    </a:lnTo>
                    <a:lnTo>
                      <a:pt x="146" y="233"/>
                    </a:lnTo>
                    <a:lnTo>
                      <a:pt x="148" y="232"/>
                    </a:lnTo>
                    <a:lnTo>
                      <a:pt x="151" y="230"/>
                    </a:lnTo>
                    <a:lnTo>
                      <a:pt x="154" y="229"/>
                    </a:lnTo>
                    <a:lnTo>
                      <a:pt x="156" y="227"/>
                    </a:lnTo>
                    <a:lnTo>
                      <a:pt x="158" y="226"/>
                    </a:lnTo>
                    <a:lnTo>
                      <a:pt x="160" y="224"/>
                    </a:lnTo>
                    <a:lnTo>
                      <a:pt x="164" y="223"/>
                    </a:lnTo>
                    <a:lnTo>
                      <a:pt x="170" y="222"/>
                    </a:lnTo>
                    <a:lnTo>
                      <a:pt x="177" y="220"/>
                    </a:lnTo>
                    <a:lnTo>
                      <a:pt x="184" y="219"/>
                    </a:lnTo>
                    <a:lnTo>
                      <a:pt x="193" y="217"/>
                    </a:lnTo>
                    <a:lnTo>
                      <a:pt x="203" y="216"/>
                    </a:lnTo>
                    <a:lnTo>
                      <a:pt x="213" y="214"/>
                    </a:lnTo>
                    <a:lnTo>
                      <a:pt x="223" y="213"/>
                    </a:lnTo>
                    <a:lnTo>
                      <a:pt x="234" y="210"/>
                    </a:lnTo>
                    <a:lnTo>
                      <a:pt x="244" y="207"/>
                    </a:lnTo>
                    <a:lnTo>
                      <a:pt x="256" y="206"/>
                    </a:lnTo>
                    <a:lnTo>
                      <a:pt x="266" y="203"/>
                    </a:lnTo>
                    <a:lnTo>
                      <a:pt x="276" y="200"/>
                    </a:lnTo>
                    <a:lnTo>
                      <a:pt x="284" y="196"/>
                    </a:lnTo>
                    <a:lnTo>
                      <a:pt x="293" y="193"/>
                    </a:lnTo>
                    <a:lnTo>
                      <a:pt x="300" y="189"/>
                    </a:lnTo>
                    <a:lnTo>
                      <a:pt x="307" y="184"/>
                    </a:lnTo>
                    <a:lnTo>
                      <a:pt x="314" y="180"/>
                    </a:lnTo>
                    <a:lnTo>
                      <a:pt x="321" y="177"/>
                    </a:lnTo>
                    <a:lnTo>
                      <a:pt x="327" y="173"/>
                    </a:lnTo>
                    <a:lnTo>
                      <a:pt x="333" y="170"/>
                    </a:lnTo>
                    <a:lnTo>
                      <a:pt x="339" y="166"/>
                    </a:lnTo>
                    <a:lnTo>
                      <a:pt x="344" y="163"/>
                    </a:lnTo>
                    <a:lnTo>
                      <a:pt x="347" y="160"/>
                    </a:lnTo>
                    <a:lnTo>
                      <a:pt x="351" y="157"/>
                    </a:lnTo>
                    <a:lnTo>
                      <a:pt x="356" y="154"/>
                    </a:lnTo>
                    <a:lnTo>
                      <a:pt x="359" y="153"/>
                    </a:lnTo>
                    <a:lnTo>
                      <a:pt x="361" y="150"/>
                    </a:lnTo>
                    <a:lnTo>
                      <a:pt x="364" y="149"/>
                    </a:lnTo>
                    <a:lnTo>
                      <a:pt x="366" y="147"/>
                    </a:lnTo>
                    <a:lnTo>
                      <a:pt x="369" y="146"/>
                    </a:lnTo>
                    <a:lnTo>
                      <a:pt x="370" y="143"/>
                    </a:lnTo>
                    <a:lnTo>
                      <a:pt x="374" y="141"/>
                    </a:lnTo>
                    <a:lnTo>
                      <a:pt x="380" y="139"/>
                    </a:lnTo>
                    <a:lnTo>
                      <a:pt x="386" y="134"/>
                    </a:lnTo>
                    <a:lnTo>
                      <a:pt x="393" y="131"/>
                    </a:lnTo>
                    <a:lnTo>
                      <a:pt x="400" y="127"/>
                    </a:lnTo>
                    <a:lnTo>
                      <a:pt x="409" y="124"/>
                    </a:lnTo>
                    <a:lnTo>
                      <a:pt x="417" y="120"/>
                    </a:lnTo>
                    <a:lnTo>
                      <a:pt x="424" y="116"/>
                    </a:lnTo>
                    <a:lnTo>
                      <a:pt x="431" y="111"/>
                    </a:lnTo>
                    <a:lnTo>
                      <a:pt x="439" y="109"/>
                    </a:lnTo>
                    <a:lnTo>
                      <a:pt x="444" y="104"/>
                    </a:lnTo>
                    <a:lnTo>
                      <a:pt x="449" y="100"/>
                    </a:lnTo>
                    <a:lnTo>
                      <a:pt x="452" y="97"/>
                    </a:lnTo>
                    <a:lnTo>
                      <a:pt x="453" y="94"/>
                    </a:lnTo>
                    <a:lnTo>
                      <a:pt x="453" y="91"/>
                    </a:lnTo>
                    <a:close/>
                  </a:path>
                </a:pathLst>
              </a:custGeom>
              <a:solidFill>
                <a:srgbClr val="C9D49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2" name="Freeform 24"/>
              <p:cNvSpPr>
                <a:spLocks/>
              </p:cNvSpPr>
              <p:nvPr/>
            </p:nvSpPr>
            <p:spPr bwMode="auto">
              <a:xfrm>
                <a:off x="2130" y="897"/>
                <a:ext cx="7" cy="156"/>
              </a:xfrm>
              <a:custGeom>
                <a:avLst/>
                <a:gdLst>
                  <a:gd name="T0" fmla="*/ 1 w 14"/>
                  <a:gd name="T1" fmla="*/ 1 h 312"/>
                  <a:gd name="T2" fmla="*/ 1 w 14"/>
                  <a:gd name="T3" fmla="*/ 0 h 312"/>
                  <a:gd name="T4" fmla="*/ 0 w 14"/>
                  <a:gd name="T5" fmla="*/ 1 h 312"/>
                  <a:gd name="T6" fmla="*/ 0 w 14"/>
                  <a:gd name="T7" fmla="*/ 1 h 312"/>
                  <a:gd name="T8" fmla="*/ 0 w 14"/>
                  <a:gd name="T9" fmla="*/ 1 h 312"/>
                  <a:gd name="T10" fmla="*/ 0 w 14"/>
                  <a:gd name="T11" fmla="*/ 1 h 312"/>
                  <a:gd name="T12" fmla="*/ 1 w 14"/>
                  <a:gd name="T13" fmla="*/ 1 h 312"/>
                  <a:gd name="T14" fmla="*/ 1 w 14"/>
                  <a:gd name="T15" fmla="*/ 1 h 312"/>
                  <a:gd name="T16" fmla="*/ 1 w 14"/>
                  <a:gd name="T17" fmla="*/ 1 h 312"/>
                  <a:gd name="T18" fmla="*/ 1 w 14"/>
                  <a:gd name="T19" fmla="*/ 1 h 312"/>
                  <a:gd name="T20" fmla="*/ 1 w 14"/>
                  <a:gd name="T21" fmla="*/ 1 h 312"/>
                  <a:gd name="T22" fmla="*/ 0 w 14"/>
                  <a:gd name="T23" fmla="*/ 1 h 312"/>
                  <a:gd name="T24" fmla="*/ 0 w 14"/>
                  <a:gd name="T25" fmla="*/ 1 h 312"/>
                  <a:gd name="T26" fmla="*/ 0 w 14"/>
                  <a:gd name="T27" fmla="*/ 1 h 312"/>
                  <a:gd name="T28" fmla="*/ 0 w 14"/>
                  <a:gd name="T29" fmla="*/ 1 h 312"/>
                  <a:gd name="T30" fmla="*/ 1 w 14"/>
                  <a:gd name="T31" fmla="*/ 1 h 312"/>
                  <a:gd name="T32" fmla="*/ 1 w 14"/>
                  <a:gd name="T33" fmla="*/ 2 h 312"/>
                  <a:gd name="T34" fmla="*/ 1 w 14"/>
                  <a:gd name="T35" fmla="*/ 2 h 312"/>
                  <a:gd name="T36" fmla="*/ 1 w 14"/>
                  <a:gd name="T37" fmla="*/ 2 h 312"/>
                  <a:gd name="T38" fmla="*/ 1 w 14"/>
                  <a:gd name="T39" fmla="*/ 2 h 312"/>
                  <a:gd name="T40" fmla="*/ 1 w 14"/>
                  <a:gd name="T41" fmla="*/ 2 h 312"/>
                  <a:gd name="T42" fmla="*/ 1 w 14"/>
                  <a:gd name="T43" fmla="*/ 1 h 312"/>
                  <a:gd name="T44" fmla="*/ 1 w 14"/>
                  <a:gd name="T45" fmla="*/ 1 h 312"/>
                  <a:gd name="T46" fmla="*/ 1 w 14"/>
                  <a:gd name="T47" fmla="*/ 1 h 312"/>
                  <a:gd name="T48" fmla="*/ 1 w 14"/>
                  <a:gd name="T49" fmla="*/ 1 h 312"/>
                  <a:gd name="T50" fmla="*/ 1 w 14"/>
                  <a:gd name="T51" fmla="*/ 1 h 312"/>
                  <a:gd name="T52" fmla="*/ 1 w 14"/>
                  <a:gd name="T53" fmla="*/ 1 h 312"/>
                  <a:gd name="T54" fmla="*/ 1 w 14"/>
                  <a:gd name="T55" fmla="*/ 1 h 312"/>
                  <a:gd name="T56" fmla="*/ 1 w 14"/>
                  <a:gd name="T57" fmla="*/ 1 h 312"/>
                  <a:gd name="T58" fmla="*/ 1 w 14"/>
                  <a:gd name="T59" fmla="*/ 1 h 312"/>
                  <a:gd name="T60" fmla="*/ 1 w 14"/>
                  <a:gd name="T61" fmla="*/ 1 h 312"/>
                  <a:gd name="T62" fmla="*/ 1 w 14"/>
                  <a:gd name="T63" fmla="*/ 1 h 312"/>
                  <a:gd name="T64" fmla="*/ 1 w 14"/>
                  <a:gd name="T65" fmla="*/ 1 h 312"/>
                  <a:gd name="T66" fmla="*/ 1 w 14"/>
                  <a:gd name="T67" fmla="*/ 1 h 312"/>
                  <a:gd name="T68" fmla="*/ 1 w 14"/>
                  <a:gd name="T69" fmla="*/ 1 h 3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312"/>
                  <a:gd name="T107" fmla="*/ 14 w 14"/>
                  <a:gd name="T108" fmla="*/ 312 h 3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312">
                    <a:moveTo>
                      <a:pt x="8" y="3"/>
                    </a:moveTo>
                    <a:lnTo>
                      <a:pt x="5" y="3"/>
                    </a:lnTo>
                    <a:lnTo>
                      <a:pt x="4" y="1"/>
                    </a:lnTo>
                    <a:lnTo>
                      <a:pt x="1" y="0"/>
                    </a:lnTo>
                    <a:lnTo>
                      <a:pt x="1" y="1"/>
                    </a:lnTo>
                    <a:lnTo>
                      <a:pt x="0" y="4"/>
                    </a:lnTo>
                    <a:lnTo>
                      <a:pt x="0" y="7"/>
                    </a:lnTo>
                    <a:lnTo>
                      <a:pt x="0" y="11"/>
                    </a:lnTo>
                    <a:lnTo>
                      <a:pt x="0" y="16"/>
                    </a:lnTo>
                    <a:lnTo>
                      <a:pt x="0" y="20"/>
                    </a:lnTo>
                    <a:lnTo>
                      <a:pt x="0" y="24"/>
                    </a:lnTo>
                    <a:lnTo>
                      <a:pt x="0" y="29"/>
                    </a:lnTo>
                    <a:lnTo>
                      <a:pt x="1" y="33"/>
                    </a:lnTo>
                    <a:lnTo>
                      <a:pt x="1" y="37"/>
                    </a:lnTo>
                    <a:lnTo>
                      <a:pt x="1" y="43"/>
                    </a:lnTo>
                    <a:lnTo>
                      <a:pt x="1" y="46"/>
                    </a:lnTo>
                    <a:lnTo>
                      <a:pt x="1" y="51"/>
                    </a:lnTo>
                    <a:lnTo>
                      <a:pt x="1" y="54"/>
                    </a:lnTo>
                    <a:lnTo>
                      <a:pt x="1" y="59"/>
                    </a:lnTo>
                    <a:lnTo>
                      <a:pt x="1" y="61"/>
                    </a:lnTo>
                    <a:lnTo>
                      <a:pt x="2" y="66"/>
                    </a:lnTo>
                    <a:lnTo>
                      <a:pt x="1" y="80"/>
                    </a:lnTo>
                    <a:lnTo>
                      <a:pt x="0" y="96"/>
                    </a:lnTo>
                    <a:lnTo>
                      <a:pt x="0" y="110"/>
                    </a:lnTo>
                    <a:lnTo>
                      <a:pt x="0" y="126"/>
                    </a:lnTo>
                    <a:lnTo>
                      <a:pt x="0" y="141"/>
                    </a:lnTo>
                    <a:lnTo>
                      <a:pt x="0" y="157"/>
                    </a:lnTo>
                    <a:lnTo>
                      <a:pt x="0" y="173"/>
                    </a:lnTo>
                    <a:lnTo>
                      <a:pt x="0" y="189"/>
                    </a:lnTo>
                    <a:lnTo>
                      <a:pt x="0" y="204"/>
                    </a:lnTo>
                    <a:lnTo>
                      <a:pt x="0" y="220"/>
                    </a:lnTo>
                    <a:lnTo>
                      <a:pt x="1" y="234"/>
                    </a:lnTo>
                    <a:lnTo>
                      <a:pt x="1" y="250"/>
                    </a:lnTo>
                    <a:lnTo>
                      <a:pt x="1" y="266"/>
                    </a:lnTo>
                    <a:lnTo>
                      <a:pt x="2" y="282"/>
                    </a:lnTo>
                    <a:lnTo>
                      <a:pt x="2" y="296"/>
                    </a:lnTo>
                    <a:lnTo>
                      <a:pt x="2" y="312"/>
                    </a:lnTo>
                    <a:lnTo>
                      <a:pt x="14" y="310"/>
                    </a:lnTo>
                    <a:lnTo>
                      <a:pt x="12" y="297"/>
                    </a:lnTo>
                    <a:lnTo>
                      <a:pt x="12" y="286"/>
                    </a:lnTo>
                    <a:lnTo>
                      <a:pt x="12" y="273"/>
                    </a:lnTo>
                    <a:lnTo>
                      <a:pt x="11" y="260"/>
                    </a:lnTo>
                    <a:lnTo>
                      <a:pt x="11" y="246"/>
                    </a:lnTo>
                    <a:lnTo>
                      <a:pt x="10" y="231"/>
                    </a:lnTo>
                    <a:lnTo>
                      <a:pt x="10" y="217"/>
                    </a:lnTo>
                    <a:lnTo>
                      <a:pt x="10" y="203"/>
                    </a:lnTo>
                    <a:lnTo>
                      <a:pt x="10" y="187"/>
                    </a:lnTo>
                    <a:lnTo>
                      <a:pt x="10" y="173"/>
                    </a:lnTo>
                    <a:lnTo>
                      <a:pt x="10" y="157"/>
                    </a:lnTo>
                    <a:lnTo>
                      <a:pt x="10" y="143"/>
                    </a:lnTo>
                    <a:lnTo>
                      <a:pt x="10" y="129"/>
                    </a:lnTo>
                    <a:lnTo>
                      <a:pt x="10" y="114"/>
                    </a:lnTo>
                    <a:lnTo>
                      <a:pt x="10" y="100"/>
                    </a:lnTo>
                    <a:lnTo>
                      <a:pt x="11" y="86"/>
                    </a:lnTo>
                    <a:lnTo>
                      <a:pt x="11" y="80"/>
                    </a:lnTo>
                    <a:lnTo>
                      <a:pt x="11" y="76"/>
                    </a:lnTo>
                    <a:lnTo>
                      <a:pt x="11" y="70"/>
                    </a:lnTo>
                    <a:lnTo>
                      <a:pt x="12" y="66"/>
                    </a:lnTo>
                    <a:lnTo>
                      <a:pt x="12" y="60"/>
                    </a:lnTo>
                    <a:lnTo>
                      <a:pt x="12" y="54"/>
                    </a:lnTo>
                    <a:lnTo>
                      <a:pt x="12" y="49"/>
                    </a:lnTo>
                    <a:lnTo>
                      <a:pt x="12" y="44"/>
                    </a:lnTo>
                    <a:lnTo>
                      <a:pt x="11" y="39"/>
                    </a:lnTo>
                    <a:lnTo>
                      <a:pt x="11" y="33"/>
                    </a:lnTo>
                    <a:lnTo>
                      <a:pt x="11" y="29"/>
                    </a:lnTo>
                    <a:lnTo>
                      <a:pt x="11" y="23"/>
                    </a:lnTo>
                    <a:lnTo>
                      <a:pt x="10" y="17"/>
                    </a:lnTo>
                    <a:lnTo>
                      <a:pt x="10" y="13"/>
                    </a:lnTo>
                    <a:lnTo>
                      <a:pt x="10" y="7"/>
                    </a:lnTo>
                    <a:lnTo>
                      <a:pt x="8" y="3"/>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3" name="Freeform 25"/>
              <p:cNvSpPr>
                <a:spLocks/>
              </p:cNvSpPr>
              <p:nvPr/>
            </p:nvSpPr>
            <p:spPr bwMode="auto">
              <a:xfrm>
                <a:off x="2061" y="1162"/>
                <a:ext cx="400" cy="214"/>
              </a:xfrm>
              <a:custGeom>
                <a:avLst/>
                <a:gdLst>
                  <a:gd name="T0" fmla="*/ 4 w 800"/>
                  <a:gd name="T1" fmla="*/ 1 h 427"/>
                  <a:gd name="T2" fmla="*/ 3 w 800"/>
                  <a:gd name="T3" fmla="*/ 1 h 427"/>
                  <a:gd name="T4" fmla="*/ 3 w 800"/>
                  <a:gd name="T5" fmla="*/ 1 h 427"/>
                  <a:gd name="T6" fmla="*/ 3 w 800"/>
                  <a:gd name="T7" fmla="*/ 1 h 427"/>
                  <a:gd name="T8" fmla="*/ 3 w 800"/>
                  <a:gd name="T9" fmla="*/ 1 h 427"/>
                  <a:gd name="T10" fmla="*/ 3 w 800"/>
                  <a:gd name="T11" fmla="*/ 1 h 427"/>
                  <a:gd name="T12" fmla="*/ 3 w 800"/>
                  <a:gd name="T13" fmla="*/ 1 h 427"/>
                  <a:gd name="T14" fmla="*/ 3 w 800"/>
                  <a:gd name="T15" fmla="*/ 1 h 427"/>
                  <a:gd name="T16" fmla="*/ 2 w 800"/>
                  <a:gd name="T17" fmla="*/ 1 h 427"/>
                  <a:gd name="T18" fmla="*/ 2 w 800"/>
                  <a:gd name="T19" fmla="*/ 1 h 427"/>
                  <a:gd name="T20" fmla="*/ 2 w 800"/>
                  <a:gd name="T21" fmla="*/ 1 h 427"/>
                  <a:gd name="T22" fmla="*/ 2 w 800"/>
                  <a:gd name="T23" fmla="*/ 1 h 427"/>
                  <a:gd name="T24" fmla="*/ 2 w 800"/>
                  <a:gd name="T25" fmla="*/ 1 h 427"/>
                  <a:gd name="T26" fmla="*/ 2 w 800"/>
                  <a:gd name="T27" fmla="*/ 1 h 427"/>
                  <a:gd name="T28" fmla="*/ 1 w 800"/>
                  <a:gd name="T29" fmla="*/ 0 h 427"/>
                  <a:gd name="T30" fmla="*/ 1 w 800"/>
                  <a:gd name="T31" fmla="*/ 1 h 427"/>
                  <a:gd name="T32" fmla="*/ 1 w 800"/>
                  <a:gd name="T33" fmla="*/ 1 h 427"/>
                  <a:gd name="T34" fmla="*/ 0 w 800"/>
                  <a:gd name="T35" fmla="*/ 1 h 427"/>
                  <a:gd name="T36" fmla="*/ 1 w 800"/>
                  <a:gd name="T37" fmla="*/ 1 h 427"/>
                  <a:gd name="T38" fmla="*/ 1 w 800"/>
                  <a:gd name="T39" fmla="*/ 1 h 427"/>
                  <a:gd name="T40" fmla="*/ 1 w 800"/>
                  <a:gd name="T41" fmla="*/ 2 h 427"/>
                  <a:gd name="T42" fmla="*/ 1 w 800"/>
                  <a:gd name="T43" fmla="*/ 2 h 427"/>
                  <a:gd name="T44" fmla="*/ 1 w 800"/>
                  <a:gd name="T45" fmla="*/ 2 h 427"/>
                  <a:gd name="T46" fmla="*/ 2 w 800"/>
                  <a:gd name="T47" fmla="*/ 2 h 427"/>
                  <a:gd name="T48" fmla="*/ 2 w 800"/>
                  <a:gd name="T49" fmla="*/ 2 h 427"/>
                  <a:gd name="T50" fmla="*/ 2 w 800"/>
                  <a:gd name="T51" fmla="*/ 2 h 427"/>
                  <a:gd name="T52" fmla="*/ 2 w 800"/>
                  <a:gd name="T53" fmla="*/ 2 h 427"/>
                  <a:gd name="T54" fmla="*/ 2 w 800"/>
                  <a:gd name="T55" fmla="*/ 2 h 427"/>
                  <a:gd name="T56" fmla="*/ 3 w 800"/>
                  <a:gd name="T57" fmla="*/ 2 h 427"/>
                  <a:gd name="T58" fmla="*/ 3 w 800"/>
                  <a:gd name="T59" fmla="*/ 2 h 427"/>
                  <a:gd name="T60" fmla="*/ 3 w 800"/>
                  <a:gd name="T61" fmla="*/ 2 h 427"/>
                  <a:gd name="T62" fmla="*/ 3 w 800"/>
                  <a:gd name="T63" fmla="*/ 2 h 427"/>
                  <a:gd name="T64" fmla="*/ 4 w 800"/>
                  <a:gd name="T65" fmla="*/ 1 h 427"/>
                  <a:gd name="T66" fmla="*/ 4 w 800"/>
                  <a:gd name="T67" fmla="*/ 1 h 4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00"/>
                  <a:gd name="T103" fmla="*/ 0 h 427"/>
                  <a:gd name="T104" fmla="*/ 800 w 800"/>
                  <a:gd name="T105" fmla="*/ 427 h 4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00" h="427">
                    <a:moveTo>
                      <a:pt x="800" y="207"/>
                    </a:moveTo>
                    <a:lnTo>
                      <a:pt x="765" y="154"/>
                    </a:lnTo>
                    <a:lnTo>
                      <a:pt x="739" y="140"/>
                    </a:lnTo>
                    <a:lnTo>
                      <a:pt x="703" y="140"/>
                    </a:lnTo>
                    <a:lnTo>
                      <a:pt x="650" y="124"/>
                    </a:lnTo>
                    <a:lnTo>
                      <a:pt x="625" y="124"/>
                    </a:lnTo>
                    <a:lnTo>
                      <a:pt x="579" y="86"/>
                    </a:lnTo>
                    <a:lnTo>
                      <a:pt x="526" y="47"/>
                    </a:lnTo>
                    <a:lnTo>
                      <a:pt x="477" y="36"/>
                    </a:lnTo>
                    <a:lnTo>
                      <a:pt x="422" y="20"/>
                    </a:lnTo>
                    <a:lnTo>
                      <a:pt x="394" y="8"/>
                    </a:lnTo>
                    <a:lnTo>
                      <a:pt x="332" y="10"/>
                    </a:lnTo>
                    <a:lnTo>
                      <a:pt x="302" y="14"/>
                    </a:lnTo>
                    <a:lnTo>
                      <a:pt x="261" y="7"/>
                    </a:lnTo>
                    <a:lnTo>
                      <a:pt x="184" y="0"/>
                    </a:lnTo>
                    <a:lnTo>
                      <a:pt x="126" y="3"/>
                    </a:lnTo>
                    <a:lnTo>
                      <a:pt x="40" y="41"/>
                    </a:lnTo>
                    <a:lnTo>
                      <a:pt x="0" y="74"/>
                    </a:lnTo>
                    <a:lnTo>
                      <a:pt x="54" y="191"/>
                    </a:lnTo>
                    <a:lnTo>
                      <a:pt x="84" y="231"/>
                    </a:lnTo>
                    <a:lnTo>
                      <a:pt x="130" y="263"/>
                    </a:lnTo>
                    <a:lnTo>
                      <a:pt x="159" y="297"/>
                    </a:lnTo>
                    <a:lnTo>
                      <a:pt x="209" y="316"/>
                    </a:lnTo>
                    <a:lnTo>
                      <a:pt x="274" y="349"/>
                    </a:lnTo>
                    <a:lnTo>
                      <a:pt x="314" y="357"/>
                    </a:lnTo>
                    <a:lnTo>
                      <a:pt x="360" y="383"/>
                    </a:lnTo>
                    <a:lnTo>
                      <a:pt x="416" y="423"/>
                    </a:lnTo>
                    <a:lnTo>
                      <a:pt x="434" y="427"/>
                    </a:lnTo>
                    <a:lnTo>
                      <a:pt x="532" y="351"/>
                    </a:lnTo>
                    <a:lnTo>
                      <a:pt x="579" y="331"/>
                    </a:lnTo>
                    <a:lnTo>
                      <a:pt x="597" y="330"/>
                    </a:lnTo>
                    <a:lnTo>
                      <a:pt x="726" y="264"/>
                    </a:lnTo>
                    <a:lnTo>
                      <a:pt x="800" y="207"/>
                    </a:lnTo>
                    <a:close/>
                  </a:path>
                </a:pathLst>
              </a:custGeom>
              <a:solidFill>
                <a:srgbClr val="CFD1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4" name="Freeform 26"/>
              <p:cNvSpPr>
                <a:spLocks/>
              </p:cNvSpPr>
              <p:nvPr/>
            </p:nvSpPr>
            <p:spPr bwMode="auto">
              <a:xfrm>
                <a:off x="2096" y="633"/>
                <a:ext cx="65" cy="26"/>
              </a:xfrm>
              <a:custGeom>
                <a:avLst/>
                <a:gdLst>
                  <a:gd name="T0" fmla="*/ 1 w 130"/>
                  <a:gd name="T1" fmla="*/ 0 h 53"/>
                  <a:gd name="T2" fmla="*/ 1 w 130"/>
                  <a:gd name="T3" fmla="*/ 0 h 53"/>
                  <a:gd name="T4" fmla="*/ 0 w 130"/>
                  <a:gd name="T5" fmla="*/ 0 h 53"/>
                  <a:gd name="T6" fmla="*/ 1 w 130"/>
                  <a:gd name="T7" fmla="*/ 0 h 53"/>
                  <a:gd name="T8" fmla="*/ 1 w 130"/>
                  <a:gd name="T9" fmla="*/ 0 h 53"/>
                  <a:gd name="T10" fmla="*/ 1 w 130"/>
                  <a:gd name="T11" fmla="*/ 0 h 53"/>
                  <a:gd name="T12" fmla="*/ 1 w 130"/>
                  <a:gd name="T13" fmla="*/ 0 h 53"/>
                  <a:gd name="T14" fmla="*/ 1 w 130"/>
                  <a:gd name="T15" fmla="*/ 0 h 53"/>
                  <a:gd name="T16" fmla="*/ 0 60000 65536"/>
                  <a:gd name="T17" fmla="*/ 0 60000 65536"/>
                  <a:gd name="T18" fmla="*/ 0 60000 65536"/>
                  <a:gd name="T19" fmla="*/ 0 60000 65536"/>
                  <a:gd name="T20" fmla="*/ 0 60000 65536"/>
                  <a:gd name="T21" fmla="*/ 0 60000 65536"/>
                  <a:gd name="T22" fmla="*/ 0 60000 65536"/>
                  <a:gd name="T23" fmla="*/ 0 60000 65536"/>
                  <a:gd name="T24" fmla="*/ 0 w 130"/>
                  <a:gd name="T25" fmla="*/ 0 h 53"/>
                  <a:gd name="T26" fmla="*/ 130 w 130"/>
                  <a:gd name="T27" fmla="*/ 53 h 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0" h="53">
                    <a:moveTo>
                      <a:pt x="126" y="2"/>
                    </a:moveTo>
                    <a:lnTo>
                      <a:pt x="90" y="2"/>
                    </a:lnTo>
                    <a:lnTo>
                      <a:pt x="0" y="0"/>
                    </a:lnTo>
                    <a:lnTo>
                      <a:pt x="20" y="17"/>
                    </a:lnTo>
                    <a:lnTo>
                      <a:pt x="54" y="53"/>
                    </a:lnTo>
                    <a:lnTo>
                      <a:pt x="130" y="53"/>
                    </a:lnTo>
                    <a:lnTo>
                      <a:pt x="126" y="2"/>
                    </a:lnTo>
                    <a:close/>
                  </a:path>
                </a:pathLst>
              </a:custGeom>
              <a:solidFill>
                <a:srgbClr val="FFF7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5" name="Freeform 27"/>
              <p:cNvSpPr>
                <a:spLocks/>
              </p:cNvSpPr>
              <p:nvPr/>
            </p:nvSpPr>
            <p:spPr bwMode="auto">
              <a:xfrm>
                <a:off x="2056" y="534"/>
                <a:ext cx="614" cy="229"/>
              </a:xfrm>
              <a:custGeom>
                <a:avLst/>
                <a:gdLst>
                  <a:gd name="T0" fmla="*/ 5 w 1228"/>
                  <a:gd name="T1" fmla="*/ 2 h 457"/>
                  <a:gd name="T2" fmla="*/ 5 w 1228"/>
                  <a:gd name="T3" fmla="*/ 2 h 457"/>
                  <a:gd name="T4" fmla="*/ 5 w 1228"/>
                  <a:gd name="T5" fmla="*/ 2 h 457"/>
                  <a:gd name="T6" fmla="*/ 5 w 1228"/>
                  <a:gd name="T7" fmla="*/ 2 h 457"/>
                  <a:gd name="T8" fmla="*/ 5 w 1228"/>
                  <a:gd name="T9" fmla="*/ 2 h 457"/>
                  <a:gd name="T10" fmla="*/ 5 w 1228"/>
                  <a:gd name="T11" fmla="*/ 2 h 457"/>
                  <a:gd name="T12" fmla="*/ 4 w 1228"/>
                  <a:gd name="T13" fmla="*/ 2 h 457"/>
                  <a:gd name="T14" fmla="*/ 4 w 1228"/>
                  <a:gd name="T15" fmla="*/ 2 h 457"/>
                  <a:gd name="T16" fmla="*/ 4 w 1228"/>
                  <a:gd name="T17" fmla="*/ 2 h 457"/>
                  <a:gd name="T18" fmla="*/ 3 w 1228"/>
                  <a:gd name="T19" fmla="*/ 2 h 457"/>
                  <a:gd name="T20" fmla="*/ 3 w 1228"/>
                  <a:gd name="T21" fmla="*/ 2 h 457"/>
                  <a:gd name="T22" fmla="*/ 3 w 1228"/>
                  <a:gd name="T23" fmla="*/ 2 h 457"/>
                  <a:gd name="T24" fmla="*/ 3 w 1228"/>
                  <a:gd name="T25" fmla="*/ 2 h 457"/>
                  <a:gd name="T26" fmla="*/ 2 w 1228"/>
                  <a:gd name="T27" fmla="*/ 2 h 457"/>
                  <a:gd name="T28" fmla="*/ 1 w 1228"/>
                  <a:gd name="T29" fmla="*/ 2 h 457"/>
                  <a:gd name="T30" fmla="*/ 1 w 1228"/>
                  <a:gd name="T31" fmla="*/ 2 h 457"/>
                  <a:gd name="T32" fmla="*/ 1 w 1228"/>
                  <a:gd name="T33" fmla="*/ 2 h 457"/>
                  <a:gd name="T34" fmla="*/ 1 w 1228"/>
                  <a:gd name="T35" fmla="*/ 2 h 457"/>
                  <a:gd name="T36" fmla="*/ 1 w 1228"/>
                  <a:gd name="T37" fmla="*/ 1 h 457"/>
                  <a:gd name="T38" fmla="*/ 1 w 1228"/>
                  <a:gd name="T39" fmla="*/ 1 h 457"/>
                  <a:gd name="T40" fmla="*/ 1 w 1228"/>
                  <a:gd name="T41" fmla="*/ 1 h 457"/>
                  <a:gd name="T42" fmla="*/ 1 w 1228"/>
                  <a:gd name="T43" fmla="*/ 1 h 457"/>
                  <a:gd name="T44" fmla="*/ 1 w 1228"/>
                  <a:gd name="T45" fmla="*/ 1 h 457"/>
                  <a:gd name="T46" fmla="*/ 1 w 1228"/>
                  <a:gd name="T47" fmla="*/ 1 h 457"/>
                  <a:gd name="T48" fmla="*/ 0 w 1228"/>
                  <a:gd name="T49" fmla="*/ 1 h 457"/>
                  <a:gd name="T50" fmla="*/ 1 w 1228"/>
                  <a:gd name="T51" fmla="*/ 1 h 457"/>
                  <a:gd name="T52" fmla="*/ 2 w 1228"/>
                  <a:gd name="T53" fmla="*/ 1 h 457"/>
                  <a:gd name="T54" fmla="*/ 2 w 1228"/>
                  <a:gd name="T55" fmla="*/ 1 h 457"/>
                  <a:gd name="T56" fmla="*/ 2 w 1228"/>
                  <a:gd name="T57" fmla="*/ 0 h 457"/>
                  <a:gd name="T58" fmla="*/ 3 w 1228"/>
                  <a:gd name="T59" fmla="*/ 1 h 457"/>
                  <a:gd name="T60" fmla="*/ 3 w 1228"/>
                  <a:gd name="T61" fmla="*/ 1 h 457"/>
                  <a:gd name="T62" fmla="*/ 4 w 1228"/>
                  <a:gd name="T63" fmla="*/ 1 h 457"/>
                  <a:gd name="T64" fmla="*/ 5 w 1228"/>
                  <a:gd name="T65" fmla="*/ 1 h 457"/>
                  <a:gd name="T66" fmla="*/ 5 w 1228"/>
                  <a:gd name="T67" fmla="*/ 1 h 457"/>
                  <a:gd name="T68" fmla="*/ 5 w 1228"/>
                  <a:gd name="T69" fmla="*/ 1 h 457"/>
                  <a:gd name="T70" fmla="*/ 5 w 1228"/>
                  <a:gd name="T71" fmla="*/ 1 h 457"/>
                  <a:gd name="T72" fmla="*/ 5 w 1228"/>
                  <a:gd name="T73" fmla="*/ 1 h 457"/>
                  <a:gd name="T74" fmla="*/ 5 w 1228"/>
                  <a:gd name="T75" fmla="*/ 2 h 457"/>
                  <a:gd name="T76" fmla="*/ 5 w 1228"/>
                  <a:gd name="T77" fmla="*/ 2 h 457"/>
                  <a:gd name="T78" fmla="*/ 5 w 1228"/>
                  <a:gd name="T79" fmla="*/ 2 h 457"/>
                  <a:gd name="T80" fmla="*/ 5 w 1228"/>
                  <a:gd name="T81" fmla="*/ 2 h 457"/>
                  <a:gd name="T82" fmla="*/ 5 w 1228"/>
                  <a:gd name="T83" fmla="*/ 2 h 457"/>
                  <a:gd name="T84" fmla="*/ 5 w 1228"/>
                  <a:gd name="T85" fmla="*/ 2 h 4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28"/>
                  <a:gd name="T130" fmla="*/ 0 h 457"/>
                  <a:gd name="T131" fmla="*/ 1228 w 1228"/>
                  <a:gd name="T132" fmla="*/ 457 h 4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28" h="457">
                    <a:moveTo>
                      <a:pt x="1228" y="316"/>
                    </a:moveTo>
                    <a:lnTo>
                      <a:pt x="1218" y="424"/>
                    </a:lnTo>
                    <a:lnTo>
                      <a:pt x="1215" y="440"/>
                    </a:lnTo>
                    <a:lnTo>
                      <a:pt x="1198" y="452"/>
                    </a:lnTo>
                    <a:lnTo>
                      <a:pt x="1112" y="457"/>
                    </a:lnTo>
                    <a:lnTo>
                      <a:pt x="1065" y="453"/>
                    </a:lnTo>
                    <a:lnTo>
                      <a:pt x="1019" y="456"/>
                    </a:lnTo>
                    <a:lnTo>
                      <a:pt x="933" y="456"/>
                    </a:lnTo>
                    <a:lnTo>
                      <a:pt x="863" y="446"/>
                    </a:lnTo>
                    <a:lnTo>
                      <a:pt x="780" y="429"/>
                    </a:lnTo>
                    <a:lnTo>
                      <a:pt x="713" y="414"/>
                    </a:lnTo>
                    <a:lnTo>
                      <a:pt x="640" y="407"/>
                    </a:lnTo>
                    <a:lnTo>
                      <a:pt x="552" y="413"/>
                    </a:lnTo>
                    <a:lnTo>
                      <a:pt x="476" y="407"/>
                    </a:lnTo>
                    <a:lnTo>
                      <a:pt x="233" y="376"/>
                    </a:lnTo>
                    <a:lnTo>
                      <a:pt x="119" y="361"/>
                    </a:lnTo>
                    <a:lnTo>
                      <a:pt x="163" y="343"/>
                    </a:lnTo>
                    <a:lnTo>
                      <a:pt x="196" y="300"/>
                    </a:lnTo>
                    <a:lnTo>
                      <a:pt x="210" y="256"/>
                    </a:lnTo>
                    <a:lnTo>
                      <a:pt x="204" y="167"/>
                    </a:lnTo>
                    <a:lnTo>
                      <a:pt x="219" y="130"/>
                    </a:lnTo>
                    <a:lnTo>
                      <a:pt x="197" y="117"/>
                    </a:lnTo>
                    <a:lnTo>
                      <a:pt x="179" y="96"/>
                    </a:lnTo>
                    <a:lnTo>
                      <a:pt x="117" y="67"/>
                    </a:lnTo>
                    <a:lnTo>
                      <a:pt x="0" y="26"/>
                    </a:lnTo>
                    <a:lnTo>
                      <a:pt x="117" y="28"/>
                    </a:lnTo>
                    <a:lnTo>
                      <a:pt x="261" y="28"/>
                    </a:lnTo>
                    <a:lnTo>
                      <a:pt x="427" y="6"/>
                    </a:lnTo>
                    <a:lnTo>
                      <a:pt x="505" y="0"/>
                    </a:lnTo>
                    <a:lnTo>
                      <a:pt x="562" y="10"/>
                    </a:lnTo>
                    <a:lnTo>
                      <a:pt x="749" y="50"/>
                    </a:lnTo>
                    <a:lnTo>
                      <a:pt x="895" y="64"/>
                    </a:lnTo>
                    <a:lnTo>
                      <a:pt x="1031" y="87"/>
                    </a:lnTo>
                    <a:lnTo>
                      <a:pt x="1132" y="98"/>
                    </a:lnTo>
                    <a:lnTo>
                      <a:pt x="1164" y="130"/>
                    </a:lnTo>
                    <a:lnTo>
                      <a:pt x="1196" y="183"/>
                    </a:lnTo>
                    <a:lnTo>
                      <a:pt x="1204" y="229"/>
                    </a:lnTo>
                    <a:lnTo>
                      <a:pt x="1221" y="271"/>
                    </a:lnTo>
                    <a:lnTo>
                      <a:pt x="1209" y="281"/>
                    </a:lnTo>
                    <a:lnTo>
                      <a:pt x="1186" y="291"/>
                    </a:lnTo>
                    <a:lnTo>
                      <a:pt x="1191" y="303"/>
                    </a:lnTo>
                    <a:lnTo>
                      <a:pt x="1228" y="316"/>
                    </a:lnTo>
                    <a:close/>
                  </a:path>
                </a:pathLst>
              </a:custGeom>
              <a:solidFill>
                <a:srgbClr val="FFF7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6" name="Freeform 28"/>
              <p:cNvSpPr>
                <a:spLocks/>
              </p:cNvSpPr>
              <p:nvPr/>
            </p:nvSpPr>
            <p:spPr bwMode="auto">
              <a:xfrm>
                <a:off x="2197" y="532"/>
                <a:ext cx="470" cy="150"/>
              </a:xfrm>
              <a:custGeom>
                <a:avLst/>
                <a:gdLst>
                  <a:gd name="T0" fmla="*/ 3 w 941"/>
                  <a:gd name="T1" fmla="*/ 1 h 300"/>
                  <a:gd name="T2" fmla="*/ 2 w 941"/>
                  <a:gd name="T3" fmla="*/ 1 h 300"/>
                  <a:gd name="T4" fmla="*/ 2 w 941"/>
                  <a:gd name="T5" fmla="*/ 1 h 300"/>
                  <a:gd name="T6" fmla="*/ 2 w 941"/>
                  <a:gd name="T7" fmla="*/ 1 h 300"/>
                  <a:gd name="T8" fmla="*/ 2 w 941"/>
                  <a:gd name="T9" fmla="*/ 1 h 300"/>
                  <a:gd name="T10" fmla="*/ 1 w 941"/>
                  <a:gd name="T11" fmla="*/ 1 h 300"/>
                  <a:gd name="T12" fmla="*/ 1 w 941"/>
                  <a:gd name="T13" fmla="*/ 1 h 300"/>
                  <a:gd name="T14" fmla="*/ 1 w 941"/>
                  <a:gd name="T15" fmla="*/ 1 h 300"/>
                  <a:gd name="T16" fmla="*/ 0 w 941"/>
                  <a:gd name="T17" fmla="*/ 0 h 300"/>
                  <a:gd name="T18" fmla="*/ 0 w 941"/>
                  <a:gd name="T19" fmla="*/ 1 h 300"/>
                  <a:gd name="T20" fmla="*/ 0 w 941"/>
                  <a:gd name="T21" fmla="*/ 1 h 300"/>
                  <a:gd name="T22" fmla="*/ 0 w 941"/>
                  <a:gd name="T23" fmla="*/ 1 h 300"/>
                  <a:gd name="T24" fmla="*/ 0 w 941"/>
                  <a:gd name="T25" fmla="*/ 1 h 300"/>
                  <a:gd name="T26" fmla="*/ 0 w 941"/>
                  <a:gd name="T27" fmla="*/ 1 h 300"/>
                  <a:gd name="T28" fmla="*/ 0 w 941"/>
                  <a:gd name="T29" fmla="*/ 1 h 300"/>
                  <a:gd name="T30" fmla="*/ 0 w 941"/>
                  <a:gd name="T31" fmla="*/ 1 h 300"/>
                  <a:gd name="T32" fmla="*/ 1 w 941"/>
                  <a:gd name="T33" fmla="*/ 1 h 300"/>
                  <a:gd name="T34" fmla="*/ 1 w 941"/>
                  <a:gd name="T35" fmla="*/ 1 h 300"/>
                  <a:gd name="T36" fmla="*/ 1 w 941"/>
                  <a:gd name="T37" fmla="*/ 1 h 300"/>
                  <a:gd name="T38" fmla="*/ 1 w 941"/>
                  <a:gd name="T39" fmla="*/ 1 h 300"/>
                  <a:gd name="T40" fmla="*/ 1 w 941"/>
                  <a:gd name="T41" fmla="*/ 1 h 300"/>
                  <a:gd name="T42" fmla="*/ 2 w 941"/>
                  <a:gd name="T43" fmla="*/ 1 h 300"/>
                  <a:gd name="T44" fmla="*/ 2 w 941"/>
                  <a:gd name="T45" fmla="*/ 1 h 300"/>
                  <a:gd name="T46" fmla="*/ 2 w 941"/>
                  <a:gd name="T47" fmla="*/ 1 h 300"/>
                  <a:gd name="T48" fmla="*/ 2 w 941"/>
                  <a:gd name="T49" fmla="*/ 1 h 300"/>
                  <a:gd name="T50" fmla="*/ 2 w 941"/>
                  <a:gd name="T51" fmla="*/ 1 h 300"/>
                  <a:gd name="T52" fmla="*/ 2 w 941"/>
                  <a:gd name="T53" fmla="*/ 1 h 300"/>
                  <a:gd name="T54" fmla="*/ 2 w 941"/>
                  <a:gd name="T55" fmla="*/ 1 h 300"/>
                  <a:gd name="T56" fmla="*/ 2 w 941"/>
                  <a:gd name="T57" fmla="*/ 1 h 300"/>
                  <a:gd name="T58" fmla="*/ 3 w 941"/>
                  <a:gd name="T59" fmla="*/ 1 h 300"/>
                  <a:gd name="T60" fmla="*/ 3 w 941"/>
                  <a:gd name="T61" fmla="*/ 1 h 300"/>
                  <a:gd name="T62" fmla="*/ 3 w 941"/>
                  <a:gd name="T63" fmla="*/ 1 h 300"/>
                  <a:gd name="T64" fmla="*/ 3 w 941"/>
                  <a:gd name="T65" fmla="*/ 1 h 300"/>
                  <a:gd name="T66" fmla="*/ 3 w 941"/>
                  <a:gd name="T67" fmla="*/ 1 h 300"/>
                  <a:gd name="T68" fmla="*/ 3 w 941"/>
                  <a:gd name="T69" fmla="*/ 1 h 300"/>
                  <a:gd name="T70" fmla="*/ 3 w 941"/>
                  <a:gd name="T71" fmla="*/ 1 h 300"/>
                  <a:gd name="T72" fmla="*/ 3 w 941"/>
                  <a:gd name="T73" fmla="*/ 1 h 300"/>
                  <a:gd name="T74" fmla="*/ 3 w 941"/>
                  <a:gd name="T75" fmla="*/ 1 h 300"/>
                  <a:gd name="T76" fmla="*/ 3 w 941"/>
                  <a:gd name="T77" fmla="*/ 1 h 300"/>
                  <a:gd name="T78" fmla="*/ 3 w 941"/>
                  <a:gd name="T79" fmla="*/ 2 h 300"/>
                  <a:gd name="T80" fmla="*/ 3 w 941"/>
                  <a:gd name="T81" fmla="*/ 2 h 300"/>
                  <a:gd name="T82" fmla="*/ 3 w 941"/>
                  <a:gd name="T83" fmla="*/ 2 h 300"/>
                  <a:gd name="T84" fmla="*/ 3 w 941"/>
                  <a:gd name="T85" fmla="*/ 2 h 300"/>
                  <a:gd name="T86" fmla="*/ 3 w 941"/>
                  <a:gd name="T87" fmla="*/ 2 h 300"/>
                  <a:gd name="T88" fmla="*/ 3 w 941"/>
                  <a:gd name="T89" fmla="*/ 2 h 300"/>
                  <a:gd name="T90" fmla="*/ 3 w 941"/>
                  <a:gd name="T91" fmla="*/ 2 h 300"/>
                  <a:gd name="T92" fmla="*/ 3 w 941"/>
                  <a:gd name="T93" fmla="*/ 2 h 300"/>
                  <a:gd name="T94" fmla="*/ 3 w 941"/>
                  <a:gd name="T95" fmla="*/ 2 h 300"/>
                  <a:gd name="T96" fmla="*/ 3 w 941"/>
                  <a:gd name="T97" fmla="*/ 1 h 300"/>
                  <a:gd name="T98" fmla="*/ 3 w 941"/>
                  <a:gd name="T99" fmla="*/ 1 h 300"/>
                  <a:gd name="T100" fmla="*/ 3 w 941"/>
                  <a:gd name="T101" fmla="*/ 1 h 300"/>
                  <a:gd name="T102" fmla="*/ 3 w 941"/>
                  <a:gd name="T103" fmla="*/ 1 h 300"/>
                  <a:gd name="T104" fmla="*/ 3 w 941"/>
                  <a:gd name="T105" fmla="*/ 1 h 300"/>
                  <a:gd name="T106" fmla="*/ 3 w 941"/>
                  <a:gd name="T107" fmla="*/ 1 h 300"/>
                  <a:gd name="T108" fmla="*/ 3 w 941"/>
                  <a:gd name="T109" fmla="*/ 1 h 300"/>
                  <a:gd name="T110" fmla="*/ 3 w 941"/>
                  <a:gd name="T111" fmla="*/ 1 h 300"/>
                  <a:gd name="T112" fmla="*/ 3 w 941"/>
                  <a:gd name="T113" fmla="*/ 1 h 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1"/>
                  <a:gd name="T172" fmla="*/ 0 h 300"/>
                  <a:gd name="T173" fmla="*/ 941 w 941"/>
                  <a:gd name="T174" fmla="*/ 300 h 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1" h="300">
                    <a:moveTo>
                      <a:pt x="848" y="97"/>
                    </a:moveTo>
                    <a:lnTo>
                      <a:pt x="834" y="94"/>
                    </a:lnTo>
                    <a:lnTo>
                      <a:pt x="818" y="92"/>
                    </a:lnTo>
                    <a:lnTo>
                      <a:pt x="804" y="91"/>
                    </a:lnTo>
                    <a:lnTo>
                      <a:pt x="790" y="88"/>
                    </a:lnTo>
                    <a:lnTo>
                      <a:pt x="774" y="87"/>
                    </a:lnTo>
                    <a:lnTo>
                      <a:pt x="760" y="85"/>
                    </a:lnTo>
                    <a:lnTo>
                      <a:pt x="745" y="84"/>
                    </a:lnTo>
                    <a:lnTo>
                      <a:pt x="731" y="81"/>
                    </a:lnTo>
                    <a:lnTo>
                      <a:pt x="717" y="80"/>
                    </a:lnTo>
                    <a:lnTo>
                      <a:pt x="702" y="78"/>
                    </a:lnTo>
                    <a:lnTo>
                      <a:pt x="687" y="75"/>
                    </a:lnTo>
                    <a:lnTo>
                      <a:pt x="672" y="74"/>
                    </a:lnTo>
                    <a:lnTo>
                      <a:pt x="657" y="71"/>
                    </a:lnTo>
                    <a:lnTo>
                      <a:pt x="644" y="68"/>
                    </a:lnTo>
                    <a:lnTo>
                      <a:pt x="628" y="65"/>
                    </a:lnTo>
                    <a:lnTo>
                      <a:pt x="614" y="62"/>
                    </a:lnTo>
                    <a:lnTo>
                      <a:pt x="591" y="61"/>
                    </a:lnTo>
                    <a:lnTo>
                      <a:pt x="567" y="60"/>
                    </a:lnTo>
                    <a:lnTo>
                      <a:pt x="544" y="57"/>
                    </a:lnTo>
                    <a:lnTo>
                      <a:pt x="521" y="55"/>
                    </a:lnTo>
                    <a:lnTo>
                      <a:pt x="497" y="51"/>
                    </a:lnTo>
                    <a:lnTo>
                      <a:pt x="474" y="48"/>
                    </a:lnTo>
                    <a:lnTo>
                      <a:pt x="451" y="44"/>
                    </a:lnTo>
                    <a:lnTo>
                      <a:pt x="428" y="41"/>
                    </a:lnTo>
                    <a:lnTo>
                      <a:pt x="404" y="35"/>
                    </a:lnTo>
                    <a:lnTo>
                      <a:pt x="379" y="31"/>
                    </a:lnTo>
                    <a:lnTo>
                      <a:pt x="356" y="27"/>
                    </a:lnTo>
                    <a:lnTo>
                      <a:pt x="334" y="21"/>
                    </a:lnTo>
                    <a:lnTo>
                      <a:pt x="309" y="17"/>
                    </a:lnTo>
                    <a:lnTo>
                      <a:pt x="286" y="11"/>
                    </a:lnTo>
                    <a:lnTo>
                      <a:pt x="262" y="7"/>
                    </a:lnTo>
                    <a:lnTo>
                      <a:pt x="239" y="2"/>
                    </a:lnTo>
                    <a:lnTo>
                      <a:pt x="225" y="0"/>
                    </a:lnTo>
                    <a:lnTo>
                      <a:pt x="209" y="0"/>
                    </a:lnTo>
                    <a:lnTo>
                      <a:pt x="193" y="0"/>
                    </a:lnTo>
                    <a:lnTo>
                      <a:pt x="179" y="0"/>
                    </a:lnTo>
                    <a:lnTo>
                      <a:pt x="165" y="1"/>
                    </a:lnTo>
                    <a:lnTo>
                      <a:pt x="149" y="2"/>
                    </a:lnTo>
                    <a:lnTo>
                      <a:pt x="135" y="4"/>
                    </a:lnTo>
                    <a:lnTo>
                      <a:pt x="121" y="7"/>
                    </a:lnTo>
                    <a:lnTo>
                      <a:pt x="105" y="8"/>
                    </a:lnTo>
                    <a:lnTo>
                      <a:pt x="91" y="11"/>
                    </a:lnTo>
                    <a:lnTo>
                      <a:pt x="76" y="12"/>
                    </a:lnTo>
                    <a:lnTo>
                      <a:pt x="62" y="15"/>
                    </a:lnTo>
                    <a:lnTo>
                      <a:pt x="46" y="18"/>
                    </a:lnTo>
                    <a:lnTo>
                      <a:pt x="32" y="20"/>
                    </a:lnTo>
                    <a:lnTo>
                      <a:pt x="18" y="21"/>
                    </a:lnTo>
                    <a:lnTo>
                      <a:pt x="3" y="22"/>
                    </a:lnTo>
                    <a:lnTo>
                      <a:pt x="2" y="27"/>
                    </a:lnTo>
                    <a:lnTo>
                      <a:pt x="0" y="30"/>
                    </a:lnTo>
                    <a:lnTo>
                      <a:pt x="18" y="30"/>
                    </a:lnTo>
                    <a:lnTo>
                      <a:pt x="33" y="28"/>
                    </a:lnTo>
                    <a:lnTo>
                      <a:pt x="51" y="27"/>
                    </a:lnTo>
                    <a:lnTo>
                      <a:pt x="68" y="25"/>
                    </a:lnTo>
                    <a:lnTo>
                      <a:pt x="83" y="22"/>
                    </a:lnTo>
                    <a:lnTo>
                      <a:pt x="101" y="20"/>
                    </a:lnTo>
                    <a:lnTo>
                      <a:pt x="118" y="17"/>
                    </a:lnTo>
                    <a:lnTo>
                      <a:pt x="135" y="14"/>
                    </a:lnTo>
                    <a:lnTo>
                      <a:pt x="151" y="11"/>
                    </a:lnTo>
                    <a:lnTo>
                      <a:pt x="168" y="10"/>
                    </a:lnTo>
                    <a:lnTo>
                      <a:pt x="183" y="8"/>
                    </a:lnTo>
                    <a:lnTo>
                      <a:pt x="201" y="8"/>
                    </a:lnTo>
                    <a:lnTo>
                      <a:pt x="218" y="8"/>
                    </a:lnTo>
                    <a:lnTo>
                      <a:pt x="235" y="11"/>
                    </a:lnTo>
                    <a:lnTo>
                      <a:pt x="251" y="12"/>
                    </a:lnTo>
                    <a:lnTo>
                      <a:pt x="269" y="18"/>
                    </a:lnTo>
                    <a:lnTo>
                      <a:pt x="281" y="20"/>
                    </a:lnTo>
                    <a:lnTo>
                      <a:pt x="292" y="21"/>
                    </a:lnTo>
                    <a:lnTo>
                      <a:pt x="304" y="24"/>
                    </a:lnTo>
                    <a:lnTo>
                      <a:pt x="315" y="27"/>
                    </a:lnTo>
                    <a:lnTo>
                      <a:pt x="326" y="28"/>
                    </a:lnTo>
                    <a:lnTo>
                      <a:pt x="338" y="31"/>
                    </a:lnTo>
                    <a:lnTo>
                      <a:pt x="351" y="34"/>
                    </a:lnTo>
                    <a:lnTo>
                      <a:pt x="362" y="37"/>
                    </a:lnTo>
                    <a:lnTo>
                      <a:pt x="374" y="40"/>
                    </a:lnTo>
                    <a:lnTo>
                      <a:pt x="385" y="42"/>
                    </a:lnTo>
                    <a:lnTo>
                      <a:pt x="395" y="45"/>
                    </a:lnTo>
                    <a:lnTo>
                      <a:pt x="408" y="48"/>
                    </a:lnTo>
                    <a:lnTo>
                      <a:pt x="418" y="50"/>
                    </a:lnTo>
                    <a:lnTo>
                      <a:pt x="431" y="52"/>
                    </a:lnTo>
                    <a:lnTo>
                      <a:pt x="442" y="55"/>
                    </a:lnTo>
                    <a:lnTo>
                      <a:pt x="454" y="58"/>
                    </a:lnTo>
                    <a:lnTo>
                      <a:pt x="467" y="60"/>
                    </a:lnTo>
                    <a:lnTo>
                      <a:pt x="479" y="61"/>
                    </a:lnTo>
                    <a:lnTo>
                      <a:pt x="491" y="62"/>
                    </a:lnTo>
                    <a:lnTo>
                      <a:pt x="504" y="64"/>
                    </a:lnTo>
                    <a:lnTo>
                      <a:pt x="515" y="64"/>
                    </a:lnTo>
                    <a:lnTo>
                      <a:pt x="528" y="65"/>
                    </a:lnTo>
                    <a:lnTo>
                      <a:pt x="539" y="65"/>
                    </a:lnTo>
                    <a:lnTo>
                      <a:pt x="552" y="67"/>
                    </a:lnTo>
                    <a:lnTo>
                      <a:pt x="565" y="67"/>
                    </a:lnTo>
                    <a:lnTo>
                      <a:pt x="577" y="68"/>
                    </a:lnTo>
                    <a:lnTo>
                      <a:pt x="589" y="70"/>
                    </a:lnTo>
                    <a:lnTo>
                      <a:pt x="601" y="71"/>
                    </a:lnTo>
                    <a:lnTo>
                      <a:pt x="614" y="71"/>
                    </a:lnTo>
                    <a:lnTo>
                      <a:pt x="627" y="74"/>
                    </a:lnTo>
                    <a:lnTo>
                      <a:pt x="640" y="77"/>
                    </a:lnTo>
                    <a:lnTo>
                      <a:pt x="652" y="80"/>
                    </a:lnTo>
                    <a:lnTo>
                      <a:pt x="655" y="80"/>
                    </a:lnTo>
                    <a:lnTo>
                      <a:pt x="658" y="80"/>
                    </a:lnTo>
                    <a:lnTo>
                      <a:pt x="661" y="80"/>
                    </a:lnTo>
                    <a:lnTo>
                      <a:pt x="665" y="81"/>
                    </a:lnTo>
                    <a:lnTo>
                      <a:pt x="668" y="81"/>
                    </a:lnTo>
                    <a:lnTo>
                      <a:pt x="671" y="82"/>
                    </a:lnTo>
                    <a:lnTo>
                      <a:pt x="675" y="82"/>
                    </a:lnTo>
                    <a:lnTo>
                      <a:pt x="678" y="84"/>
                    </a:lnTo>
                    <a:lnTo>
                      <a:pt x="682" y="84"/>
                    </a:lnTo>
                    <a:lnTo>
                      <a:pt x="685" y="85"/>
                    </a:lnTo>
                    <a:lnTo>
                      <a:pt x="688" y="85"/>
                    </a:lnTo>
                    <a:lnTo>
                      <a:pt x="692" y="87"/>
                    </a:lnTo>
                    <a:lnTo>
                      <a:pt x="695" y="87"/>
                    </a:lnTo>
                    <a:lnTo>
                      <a:pt x="698" y="88"/>
                    </a:lnTo>
                    <a:lnTo>
                      <a:pt x="702" y="88"/>
                    </a:lnTo>
                    <a:lnTo>
                      <a:pt x="705" y="91"/>
                    </a:lnTo>
                    <a:lnTo>
                      <a:pt x="718" y="92"/>
                    </a:lnTo>
                    <a:lnTo>
                      <a:pt x="730" y="94"/>
                    </a:lnTo>
                    <a:lnTo>
                      <a:pt x="742" y="95"/>
                    </a:lnTo>
                    <a:lnTo>
                      <a:pt x="757" y="97"/>
                    </a:lnTo>
                    <a:lnTo>
                      <a:pt x="770" y="97"/>
                    </a:lnTo>
                    <a:lnTo>
                      <a:pt x="782" y="97"/>
                    </a:lnTo>
                    <a:lnTo>
                      <a:pt x="795" y="98"/>
                    </a:lnTo>
                    <a:lnTo>
                      <a:pt x="808" y="100"/>
                    </a:lnTo>
                    <a:lnTo>
                      <a:pt x="820" y="101"/>
                    </a:lnTo>
                    <a:lnTo>
                      <a:pt x="833" y="104"/>
                    </a:lnTo>
                    <a:lnTo>
                      <a:pt x="844" y="108"/>
                    </a:lnTo>
                    <a:lnTo>
                      <a:pt x="854" y="114"/>
                    </a:lnTo>
                    <a:lnTo>
                      <a:pt x="864" y="121"/>
                    </a:lnTo>
                    <a:lnTo>
                      <a:pt x="873" y="130"/>
                    </a:lnTo>
                    <a:lnTo>
                      <a:pt x="880" y="141"/>
                    </a:lnTo>
                    <a:lnTo>
                      <a:pt x="887" y="154"/>
                    </a:lnTo>
                    <a:lnTo>
                      <a:pt x="888" y="158"/>
                    </a:lnTo>
                    <a:lnTo>
                      <a:pt x="891" y="163"/>
                    </a:lnTo>
                    <a:lnTo>
                      <a:pt x="893" y="165"/>
                    </a:lnTo>
                    <a:lnTo>
                      <a:pt x="895" y="170"/>
                    </a:lnTo>
                    <a:lnTo>
                      <a:pt x="898" y="174"/>
                    </a:lnTo>
                    <a:lnTo>
                      <a:pt x="901" y="177"/>
                    </a:lnTo>
                    <a:lnTo>
                      <a:pt x="904" y="181"/>
                    </a:lnTo>
                    <a:lnTo>
                      <a:pt x="907" y="184"/>
                    </a:lnTo>
                    <a:lnTo>
                      <a:pt x="908" y="187"/>
                    </a:lnTo>
                    <a:lnTo>
                      <a:pt x="911" y="191"/>
                    </a:lnTo>
                    <a:lnTo>
                      <a:pt x="913" y="194"/>
                    </a:lnTo>
                    <a:lnTo>
                      <a:pt x="914" y="198"/>
                    </a:lnTo>
                    <a:lnTo>
                      <a:pt x="915" y="203"/>
                    </a:lnTo>
                    <a:lnTo>
                      <a:pt x="915" y="207"/>
                    </a:lnTo>
                    <a:lnTo>
                      <a:pt x="915" y="211"/>
                    </a:lnTo>
                    <a:lnTo>
                      <a:pt x="915" y="217"/>
                    </a:lnTo>
                    <a:lnTo>
                      <a:pt x="915" y="220"/>
                    </a:lnTo>
                    <a:lnTo>
                      <a:pt x="917" y="223"/>
                    </a:lnTo>
                    <a:lnTo>
                      <a:pt x="917" y="227"/>
                    </a:lnTo>
                    <a:lnTo>
                      <a:pt x="918" y="230"/>
                    </a:lnTo>
                    <a:lnTo>
                      <a:pt x="918" y="233"/>
                    </a:lnTo>
                    <a:lnTo>
                      <a:pt x="920" y="237"/>
                    </a:lnTo>
                    <a:lnTo>
                      <a:pt x="920" y="240"/>
                    </a:lnTo>
                    <a:lnTo>
                      <a:pt x="921" y="244"/>
                    </a:lnTo>
                    <a:lnTo>
                      <a:pt x="921" y="247"/>
                    </a:lnTo>
                    <a:lnTo>
                      <a:pt x="923" y="251"/>
                    </a:lnTo>
                    <a:lnTo>
                      <a:pt x="923" y="254"/>
                    </a:lnTo>
                    <a:lnTo>
                      <a:pt x="924" y="257"/>
                    </a:lnTo>
                    <a:lnTo>
                      <a:pt x="927" y="260"/>
                    </a:lnTo>
                    <a:lnTo>
                      <a:pt x="928" y="264"/>
                    </a:lnTo>
                    <a:lnTo>
                      <a:pt x="930" y="267"/>
                    </a:lnTo>
                    <a:lnTo>
                      <a:pt x="931" y="271"/>
                    </a:lnTo>
                    <a:lnTo>
                      <a:pt x="931" y="274"/>
                    </a:lnTo>
                    <a:lnTo>
                      <a:pt x="930" y="277"/>
                    </a:lnTo>
                    <a:lnTo>
                      <a:pt x="928" y="278"/>
                    </a:lnTo>
                    <a:lnTo>
                      <a:pt x="927" y="280"/>
                    </a:lnTo>
                    <a:lnTo>
                      <a:pt x="924" y="281"/>
                    </a:lnTo>
                    <a:lnTo>
                      <a:pt x="921" y="283"/>
                    </a:lnTo>
                    <a:lnTo>
                      <a:pt x="918" y="284"/>
                    </a:lnTo>
                    <a:lnTo>
                      <a:pt x="915" y="284"/>
                    </a:lnTo>
                    <a:lnTo>
                      <a:pt x="913" y="285"/>
                    </a:lnTo>
                    <a:lnTo>
                      <a:pt x="910" y="285"/>
                    </a:lnTo>
                    <a:lnTo>
                      <a:pt x="907" y="288"/>
                    </a:lnTo>
                    <a:lnTo>
                      <a:pt x="905" y="290"/>
                    </a:lnTo>
                    <a:lnTo>
                      <a:pt x="903" y="291"/>
                    </a:lnTo>
                    <a:lnTo>
                      <a:pt x="901" y="293"/>
                    </a:lnTo>
                    <a:lnTo>
                      <a:pt x="901" y="295"/>
                    </a:lnTo>
                    <a:lnTo>
                      <a:pt x="901" y="300"/>
                    </a:lnTo>
                    <a:lnTo>
                      <a:pt x="904" y="298"/>
                    </a:lnTo>
                    <a:lnTo>
                      <a:pt x="908" y="298"/>
                    </a:lnTo>
                    <a:lnTo>
                      <a:pt x="911" y="297"/>
                    </a:lnTo>
                    <a:lnTo>
                      <a:pt x="915" y="295"/>
                    </a:lnTo>
                    <a:lnTo>
                      <a:pt x="920" y="294"/>
                    </a:lnTo>
                    <a:lnTo>
                      <a:pt x="924" y="293"/>
                    </a:lnTo>
                    <a:lnTo>
                      <a:pt x="928" y="290"/>
                    </a:lnTo>
                    <a:lnTo>
                      <a:pt x="933" y="288"/>
                    </a:lnTo>
                    <a:lnTo>
                      <a:pt x="935" y="285"/>
                    </a:lnTo>
                    <a:lnTo>
                      <a:pt x="938" y="283"/>
                    </a:lnTo>
                    <a:lnTo>
                      <a:pt x="940" y="280"/>
                    </a:lnTo>
                    <a:lnTo>
                      <a:pt x="941" y="277"/>
                    </a:lnTo>
                    <a:lnTo>
                      <a:pt x="941" y="273"/>
                    </a:lnTo>
                    <a:lnTo>
                      <a:pt x="941" y="268"/>
                    </a:lnTo>
                    <a:lnTo>
                      <a:pt x="940" y="264"/>
                    </a:lnTo>
                    <a:lnTo>
                      <a:pt x="937" y="261"/>
                    </a:lnTo>
                    <a:lnTo>
                      <a:pt x="934" y="255"/>
                    </a:lnTo>
                    <a:lnTo>
                      <a:pt x="931" y="248"/>
                    </a:lnTo>
                    <a:lnTo>
                      <a:pt x="930" y="243"/>
                    </a:lnTo>
                    <a:lnTo>
                      <a:pt x="928" y="237"/>
                    </a:lnTo>
                    <a:lnTo>
                      <a:pt x="928" y="231"/>
                    </a:lnTo>
                    <a:lnTo>
                      <a:pt x="927" y="225"/>
                    </a:lnTo>
                    <a:lnTo>
                      <a:pt x="927" y="218"/>
                    </a:lnTo>
                    <a:lnTo>
                      <a:pt x="927" y="213"/>
                    </a:lnTo>
                    <a:lnTo>
                      <a:pt x="925" y="205"/>
                    </a:lnTo>
                    <a:lnTo>
                      <a:pt x="924" y="200"/>
                    </a:lnTo>
                    <a:lnTo>
                      <a:pt x="923" y="194"/>
                    </a:lnTo>
                    <a:lnTo>
                      <a:pt x="921" y="188"/>
                    </a:lnTo>
                    <a:lnTo>
                      <a:pt x="918" y="183"/>
                    </a:lnTo>
                    <a:lnTo>
                      <a:pt x="915" y="178"/>
                    </a:lnTo>
                    <a:lnTo>
                      <a:pt x="911" y="174"/>
                    </a:lnTo>
                    <a:lnTo>
                      <a:pt x="907" y="170"/>
                    </a:lnTo>
                    <a:lnTo>
                      <a:pt x="904" y="164"/>
                    </a:lnTo>
                    <a:lnTo>
                      <a:pt x="901" y="158"/>
                    </a:lnTo>
                    <a:lnTo>
                      <a:pt x="898" y="153"/>
                    </a:lnTo>
                    <a:lnTo>
                      <a:pt x="894" y="148"/>
                    </a:lnTo>
                    <a:lnTo>
                      <a:pt x="891" y="143"/>
                    </a:lnTo>
                    <a:lnTo>
                      <a:pt x="888" y="137"/>
                    </a:lnTo>
                    <a:lnTo>
                      <a:pt x="885" y="131"/>
                    </a:lnTo>
                    <a:lnTo>
                      <a:pt x="883" y="127"/>
                    </a:lnTo>
                    <a:lnTo>
                      <a:pt x="878" y="123"/>
                    </a:lnTo>
                    <a:lnTo>
                      <a:pt x="875" y="117"/>
                    </a:lnTo>
                    <a:lnTo>
                      <a:pt x="871" y="112"/>
                    </a:lnTo>
                    <a:lnTo>
                      <a:pt x="868" y="108"/>
                    </a:lnTo>
                    <a:lnTo>
                      <a:pt x="863" y="105"/>
                    </a:lnTo>
                    <a:lnTo>
                      <a:pt x="858" y="101"/>
                    </a:lnTo>
                    <a:lnTo>
                      <a:pt x="854" y="98"/>
                    </a:lnTo>
                    <a:lnTo>
                      <a:pt x="848"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7" name="Freeform 29"/>
              <p:cNvSpPr>
                <a:spLocks/>
              </p:cNvSpPr>
              <p:nvPr/>
            </p:nvSpPr>
            <p:spPr bwMode="auto">
              <a:xfrm>
                <a:off x="2052" y="547"/>
                <a:ext cx="120" cy="171"/>
              </a:xfrm>
              <a:custGeom>
                <a:avLst/>
                <a:gdLst>
                  <a:gd name="T0" fmla="*/ 1 w 238"/>
                  <a:gd name="T1" fmla="*/ 1 h 341"/>
                  <a:gd name="T2" fmla="*/ 1 w 238"/>
                  <a:gd name="T3" fmla="*/ 1 h 341"/>
                  <a:gd name="T4" fmla="*/ 1 w 238"/>
                  <a:gd name="T5" fmla="*/ 1 h 341"/>
                  <a:gd name="T6" fmla="*/ 1 w 238"/>
                  <a:gd name="T7" fmla="*/ 1 h 341"/>
                  <a:gd name="T8" fmla="*/ 1 w 238"/>
                  <a:gd name="T9" fmla="*/ 1 h 341"/>
                  <a:gd name="T10" fmla="*/ 1 w 238"/>
                  <a:gd name="T11" fmla="*/ 1 h 341"/>
                  <a:gd name="T12" fmla="*/ 1 w 238"/>
                  <a:gd name="T13" fmla="*/ 1 h 341"/>
                  <a:gd name="T14" fmla="*/ 1 w 238"/>
                  <a:gd name="T15" fmla="*/ 1 h 341"/>
                  <a:gd name="T16" fmla="*/ 1 w 238"/>
                  <a:gd name="T17" fmla="*/ 1 h 341"/>
                  <a:gd name="T18" fmla="*/ 1 w 238"/>
                  <a:gd name="T19" fmla="*/ 1 h 341"/>
                  <a:gd name="T20" fmla="*/ 1 w 238"/>
                  <a:gd name="T21" fmla="*/ 1 h 341"/>
                  <a:gd name="T22" fmla="*/ 1 w 238"/>
                  <a:gd name="T23" fmla="*/ 1 h 341"/>
                  <a:gd name="T24" fmla="*/ 1 w 238"/>
                  <a:gd name="T25" fmla="*/ 1 h 341"/>
                  <a:gd name="T26" fmla="*/ 1 w 238"/>
                  <a:gd name="T27" fmla="*/ 1 h 341"/>
                  <a:gd name="T28" fmla="*/ 1 w 238"/>
                  <a:gd name="T29" fmla="*/ 1 h 341"/>
                  <a:gd name="T30" fmla="*/ 1 w 238"/>
                  <a:gd name="T31" fmla="*/ 1 h 341"/>
                  <a:gd name="T32" fmla="*/ 1 w 238"/>
                  <a:gd name="T33" fmla="*/ 1 h 341"/>
                  <a:gd name="T34" fmla="*/ 1 w 238"/>
                  <a:gd name="T35" fmla="*/ 1 h 341"/>
                  <a:gd name="T36" fmla="*/ 1 w 238"/>
                  <a:gd name="T37" fmla="*/ 1 h 341"/>
                  <a:gd name="T38" fmla="*/ 1 w 238"/>
                  <a:gd name="T39" fmla="*/ 1 h 341"/>
                  <a:gd name="T40" fmla="*/ 1 w 238"/>
                  <a:gd name="T41" fmla="*/ 1 h 341"/>
                  <a:gd name="T42" fmla="*/ 1 w 238"/>
                  <a:gd name="T43" fmla="*/ 1 h 341"/>
                  <a:gd name="T44" fmla="*/ 1 w 238"/>
                  <a:gd name="T45" fmla="*/ 2 h 341"/>
                  <a:gd name="T46" fmla="*/ 1 w 238"/>
                  <a:gd name="T47" fmla="*/ 2 h 341"/>
                  <a:gd name="T48" fmla="*/ 1 w 238"/>
                  <a:gd name="T49" fmla="*/ 2 h 341"/>
                  <a:gd name="T50" fmla="*/ 1 w 238"/>
                  <a:gd name="T51" fmla="*/ 2 h 341"/>
                  <a:gd name="T52" fmla="*/ 1 w 238"/>
                  <a:gd name="T53" fmla="*/ 2 h 341"/>
                  <a:gd name="T54" fmla="*/ 1 w 238"/>
                  <a:gd name="T55" fmla="*/ 2 h 341"/>
                  <a:gd name="T56" fmla="*/ 1 w 238"/>
                  <a:gd name="T57" fmla="*/ 2 h 341"/>
                  <a:gd name="T58" fmla="*/ 1 w 238"/>
                  <a:gd name="T59" fmla="*/ 2 h 341"/>
                  <a:gd name="T60" fmla="*/ 1 w 238"/>
                  <a:gd name="T61" fmla="*/ 2 h 341"/>
                  <a:gd name="T62" fmla="*/ 1 w 238"/>
                  <a:gd name="T63" fmla="*/ 2 h 341"/>
                  <a:gd name="T64" fmla="*/ 1 w 238"/>
                  <a:gd name="T65" fmla="*/ 2 h 341"/>
                  <a:gd name="T66" fmla="*/ 1 w 238"/>
                  <a:gd name="T67" fmla="*/ 2 h 341"/>
                  <a:gd name="T68" fmla="*/ 1 w 238"/>
                  <a:gd name="T69" fmla="*/ 2 h 341"/>
                  <a:gd name="T70" fmla="*/ 1 w 238"/>
                  <a:gd name="T71" fmla="*/ 2 h 341"/>
                  <a:gd name="T72" fmla="*/ 1 w 238"/>
                  <a:gd name="T73" fmla="*/ 2 h 341"/>
                  <a:gd name="T74" fmla="*/ 1 w 238"/>
                  <a:gd name="T75" fmla="*/ 2 h 341"/>
                  <a:gd name="T76" fmla="*/ 1 w 238"/>
                  <a:gd name="T77" fmla="*/ 2 h 341"/>
                  <a:gd name="T78" fmla="*/ 1 w 238"/>
                  <a:gd name="T79" fmla="*/ 2 h 341"/>
                  <a:gd name="T80" fmla="*/ 1 w 238"/>
                  <a:gd name="T81" fmla="*/ 2 h 341"/>
                  <a:gd name="T82" fmla="*/ 1 w 238"/>
                  <a:gd name="T83" fmla="*/ 1 h 341"/>
                  <a:gd name="T84" fmla="*/ 1 w 238"/>
                  <a:gd name="T85" fmla="*/ 1 h 341"/>
                  <a:gd name="T86" fmla="*/ 1 w 238"/>
                  <a:gd name="T87" fmla="*/ 1 h 341"/>
                  <a:gd name="T88" fmla="*/ 1 w 238"/>
                  <a:gd name="T89" fmla="*/ 1 h 341"/>
                  <a:gd name="T90" fmla="*/ 1 w 238"/>
                  <a:gd name="T91" fmla="*/ 1 h 341"/>
                  <a:gd name="T92" fmla="*/ 1 w 238"/>
                  <a:gd name="T93" fmla="*/ 1 h 341"/>
                  <a:gd name="T94" fmla="*/ 1 w 238"/>
                  <a:gd name="T95" fmla="*/ 1 h 341"/>
                  <a:gd name="T96" fmla="*/ 1 w 238"/>
                  <a:gd name="T97" fmla="*/ 1 h 341"/>
                  <a:gd name="T98" fmla="*/ 1 w 238"/>
                  <a:gd name="T99" fmla="*/ 1 h 341"/>
                  <a:gd name="T100" fmla="*/ 1 w 238"/>
                  <a:gd name="T101" fmla="*/ 1 h 341"/>
                  <a:gd name="T102" fmla="*/ 1 w 238"/>
                  <a:gd name="T103" fmla="*/ 1 h 341"/>
                  <a:gd name="T104" fmla="*/ 1 w 238"/>
                  <a:gd name="T105" fmla="*/ 1 h 341"/>
                  <a:gd name="T106" fmla="*/ 1 w 238"/>
                  <a:gd name="T107" fmla="*/ 1 h 341"/>
                  <a:gd name="T108" fmla="*/ 1 w 238"/>
                  <a:gd name="T109" fmla="*/ 1 h 341"/>
                  <a:gd name="T110" fmla="*/ 1 w 238"/>
                  <a:gd name="T111" fmla="*/ 1 h 341"/>
                  <a:gd name="T112" fmla="*/ 1 w 238"/>
                  <a:gd name="T113" fmla="*/ 1 h 341"/>
                  <a:gd name="T114" fmla="*/ 1 w 238"/>
                  <a:gd name="T115" fmla="*/ 1 h 341"/>
                  <a:gd name="T116" fmla="*/ 1 w 238"/>
                  <a:gd name="T117" fmla="*/ 1 h 341"/>
                  <a:gd name="T118" fmla="*/ 1 w 238"/>
                  <a:gd name="T119" fmla="*/ 0 h 3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38"/>
                  <a:gd name="T181" fmla="*/ 0 h 341"/>
                  <a:gd name="T182" fmla="*/ 238 w 238"/>
                  <a:gd name="T183" fmla="*/ 341 h 34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38" h="341">
                    <a:moveTo>
                      <a:pt x="14" y="0"/>
                    </a:moveTo>
                    <a:lnTo>
                      <a:pt x="11" y="0"/>
                    </a:lnTo>
                    <a:lnTo>
                      <a:pt x="7" y="1"/>
                    </a:lnTo>
                    <a:lnTo>
                      <a:pt x="3" y="1"/>
                    </a:lnTo>
                    <a:lnTo>
                      <a:pt x="0" y="2"/>
                    </a:lnTo>
                    <a:lnTo>
                      <a:pt x="4" y="5"/>
                    </a:lnTo>
                    <a:lnTo>
                      <a:pt x="10" y="8"/>
                    </a:lnTo>
                    <a:lnTo>
                      <a:pt x="14" y="10"/>
                    </a:lnTo>
                    <a:lnTo>
                      <a:pt x="21" y="12"/>
                    </a:lnTo>
                    <a:lnTo>
                      <a:pt x="25" y="15"/>
                    </a:lnTo>
                    <a:lnTo>
                      <a:pt x="31" y="17"/>
                    </a:lnTo>
                    <a:lnTo>
                      <a:pt x="37" y="18"/>
                    </a:lnTo>
                    <a:lnTo>
                      <a:pt x="43" y="21"/>
                    </a:lnTo>
                    <a:lnTo>
                      <a:pt x="48" y="22"/>
                    </a:lnTo>
                    <a:lnTo>
                      <a:pt x="54" y="24"/>
                    </a:lnTo>
                    <a:lnTo>
                      <a:pt x="60" y="25"/>
                    </a:lnTo>
                    <a:lnTo>
                      <a:pt x="65" y="28"/>
                    </a:lnTo>
                    <a:lnTo>
                      <a:pt x="71" y="30"/>
                    </a:lnTo>
                    <a:lnTo>
                      <a:pt x="77" y="32"/>
                    </a:lnTo>
                    <a:lnTo>
                      <a:pt x="83" y="34"/>
                    </a:lnTo>
                    <a:lnTo>
                      <a:pt x="88" y="37"/>
                    </a:lnTo>
                    <a:lnTo>
                      <a:pt x="95" y="40"/>
                    </a:lnTo>
                    <a:lnTo>
                      <a:pt x="103" y="41"/>
                    </a:lnTo>
                    <a:lnTo>
                      <a:pt x="111" y="42"/>
                    </a:lnTo>
                    <a:lnTo>
                      <a:pt x="118" y="45"/>
                    </a:lnTo>
                    <a:lnTo>
                      <a:pt x="126" y="48"/>
                    </a:lnTo>
                    <a:lnTo>
                      <a:pt x="133" y="50"/>
                    </a:lnTo>
                    <a:lnTo>
                      <a:pt x="141" y="52"/>
                    </a:lnTo>
                    <a:lnTo>
                      <a:pt x="148" y="55"/>
                    </a:lnTo>
                    <a:lnTo>
                      <a:pt x="156" y="58"/>
                    </a:lnTo>
                    <a:lnTo>
                      <a:pt x="163" y="62"/>
                    </a:lnTo>
                    <a:lnTo>
                      <a:pt x="168" y="67"/>
                    </a:lnTo>
                    <a:lnTo>
                      <a:pt x="176" y="71"/>
                    </a:lnTo>
                    <a:lnTo>
                      <a:pt x="181" y="75"/>
                    </a:lnTo>
                    <a:lnTo>
                      <a:pt x="187" y="81"/>
                    </a:lnTo>
                    <a:lnTo>
                      <a:pt x="193" y="87"/>
                    </a:lnTo>
                    <a:lnTo>
                      <a:pt x="197" y="94"/>
                    </a:lnTo>
                    <a:lnTo>
                      <a:pt x="198" y="94"/>
                    </a:lnTo>
                    <a:lnTo>
                      <a:pt x="201" y="97"/>
                    </a:lnTo>
                    <a:lnTo>
                      <a:pt x="206" y="98"/>
                    </a:lnTo>
                    <a:lnTo>
                      <a:pt x="208" y="100"/>
                    </a:lnTo>
                    <a:lnTo>
                      <a:pt x="211" y="101"/>
                    </a:lnTo>
                    <a:lnTo>
                      <a:pt x="216" y="104"/>
                    </a:lnTo>
                    <a:lnTo>
                      <a:pt x="218" y="104"/>
                    </a:lnTo>
                    <a:lnTo>
                      <a:pt x="221" y="105"/>
                    </a:lnTo>
                    <a:lnTo>
                      <a:pt x="216" y="111"/>
                    </a:lnTo>
                    <a:lnTo>
                      <a:pt x="211" y="117"/>
                    </a:lnTo>
                    <a:lnTo>
                      <a:pt x="208" y="124"/>
                    </a:lnTo>
                    <a:lnTo>
                      <a:pt x="207" y="131"/>
                    </a:lnTo>
                    <a:lnTo>
                      <a:pt x="206" y="137"/>
                    </a:lnTo>
                    <a:lnTo>
                      <a:pt x="206" y="144"/>
                    </a:lnTo>
                    <a:lnTo>
                      <a:pt x="206" y="153"/>
                    </a:lnTo>
                    <a:lnTo>
                      <a:pt x="207" y="160"/>
                    </a:lnTo>
                    <a:lnTo>
                      <a:pt x="207" y="167"/>
                    </a:lnTo>
                    <a:lnTo>
                      <a:pt x="208" y="174"/>
                    </a:lnTo>
                    <a:lnTo>
                      <a:pt x="208" y="181"/>
                    </a:lnTo>
                    <a:lnTo>
                      <a:pt x="210" y="190"/>
                    </a:lnTo>
                    <a:lnTo>
                      <a:pt x="210" y="197"/>
                    </a:lnTo>
                    <a:lnTo>
                      <a:pt x="211" y="204"/>
                    </a:lnTo>
                    <a:lnTo>
                      <a:pt x="211" y="211"/>
                    </a:lnTo>
                    <a:lnTo>
                      <a:pt x="211" y="218"/>
                    </a:lnTo>
                    <a:lnTo>
                      <a:pt x="210" y="225"/>
                    </a:lnTo>
                    <a:lnTo>
                      <a:pt x="210" y="231"/>
                    </a:lnTo>
                    <a:lnTo>
                      <a:pt x="208" y="237"/>
                    </a:lnTo>
                    <a:lnTo>
                      <a:pt x="207" y="244"/>
                    </a:lnTo>
                    <a:lnTo>
                      <a:pt x="206" y="248"/>
                    </a:lnTo>
                    <a:lnTo>
                      <a:pt x="203" y="254"/>
                    </a:lnTo>
                    <a:lnTo>
                      <a:pt x="201" y="260"/>
                    </a:lnTo>
                    <a:lnTo>
                      <a:pt x="198" y="265"/>
                    </a:lnTo>
                    <a:lnTo>
                      <a:pt x="196" y="270"/>
                    </a:lnTo>
                    <a:lnTo>
                      <a:pt x="193" y="275"/>
                    </a:lnTo>
                    <a:lnTo>
                      <a:pt x="188" y="281"/>
                    </a:lnTo>
                    <a:lnTo>
                      <a:pt x="186" y="285"/>
                    </a:lnTo>
                    <a:lnTo>
                      <a:pt x="183" y="290"/>
                    </a:lnTo>
                    <a:lnTo>
                      <a:pt x="178" y="295"/>
                    </a:lnTo>
                    <a:lnTo>
                      <a:pt x="176" y="300"/>
                    </a:lnTo>
                    <a:lnTo>
                      <a:pt x="171" y="305"/>
                    </a:lnTo>
                    <a:lnTo>
                      <a:pt x="166" y="310"/>
                    </a:lnTo>
                    <a:lnTo>
                      <a:pt x="161" y="315"/>
                    </a:lnTo>
                    <a:lnTo>
                      <a:pt x="156" y="318"/>
                    </a:lnTo>
                    <a:lnTo>
                      <a:pt x="148" y="321"/>
                    </a:lnTo>
                    <a:lnTo>
                      <a:pt x="143" y="324"/>
                    </a:lnTo>
                    <a:lnTo>
                      <a:pt x="136" y="325"/>
                    </a:lnTo>
                    <a:lnTo>
                      <a:pt x="128" y="327"/>
                    </a:lnTo>
                    <a:lnTo>
                      <a:pt x="121" y="327"/>
                    </a:lnTo>
                    <a:lnTo>
                      <a:pt x="114" y="327"/>
                    </a:lnTo>
                    <a:lnTo>
                      <a:pt x="107" y="327"/>
                    </a:lnTo>
                    <a:lnTo>
                      <a:pt x="100" y="325"/>
                    </a:lnTo>
                    <a:lnTo>
                      <a:pt x="93" y="325"/>
                    </a:lnTo>
                    <a:lnTo>
                      <a:pt x="85" y="324"/>
                    </a:lnTo>
                    <a:lnTo>
                      <a:pt x="78" y="323"/>
                    </a:lnTo>
                    <a:lnTo>
                      <a:pt x="73" y="321"/>
                    </a:lnTo>
                    <a:lnTo>
                      <a:pt x="65" y="320"/>
                    </a:lnTo>
                    <a:lnTo>
                      <a:pt x="63" y="320"/>
                    </a:lnTo>
                    <a:lnTo>
                      <a:pt x="61" y="323"/>
                    </a:lnTo>
                    <a:lnTo>
                      <a:pt x="58" y="324"/>
                    </a:lnTo>
                    <a:lnTo>
                      <a:pt x="57" y="325"/>
                    </a:lnTo>
                    <a:lnTo>
                      <a:pt x="60" y="327"/>
                    </a:lnTo>
                    <a:lnTo>
                      <a:pt x="64" y="328"/>
                    </a:lnTo>
                    <a:lnTo>
                      <a:pt x="67" y="330"/>
                    </a:lnTo>
                    <a:lnTo>
                      <a:pt x="71" y="331"/>
                    </a:lnTo>
                    <a:lnTo>
                      <a:pt x="75" y="333"/>
                    </a:lnTo>
                    <a:lnTo>
                      <a:pt x="80" y="334"/>
                    </a:lnTo>
                    <a:lnTo>
                      <a:pt x="84" y="334"/>
                    </a:lnTo>
                    <a:lnTo>
                      <a:pt x="90" y="335"/>
                    </a:lnTo>
                    <a:lnTo>
                      <a:pt x="94" y="335"/>
                    </a:lnTo>
                    <a:lnTo>
                      <a:pt x="98" y="337"/>
                    </a:lnTo>
                    <a:lnTo>
                      <a:pt x="103" y="337"/>
                    </a:lnTo>
                    <a:lnTo>
                      <a:pt x="107" y="338"/>
                    </a:lnTo>
                    <a:lnTo>
                      <a:pt x="110" y="338"/>
                    </a:lnTo>
                    <a:lnTo>
                      <a:pt x="113" y="340"/>
                    </a:lnTo>
                    <a:lnTo>
                      <a:pt x="117" y="340"/>
                    </a:lnTo>
                    <a:lnTo>
                      <a:pt x="118" y="341"/>
                    </a:lnTo>
                    <a:lnTo>
                      <a:pt x="131" y="338"/>
                    </a:lnTo>
                    <a:lnTo>
                      <a:pt x="144" y="335"/>
                    </a:lnTo>
                    <a:lnTo>
                      <a:pt x="156" y="330"/>
                    </a:lnTo>
                    <a:lnTo>
                      <a:pt x="167" y="323"/>
                    </a:lnTo>
                    <a:lnTo>
                      <a:pt x="177" y="314"/>
                    </a:lnTo>
                    <a:lnTo>
                      <a:pt x="186" y="305"/>
                    </a:lnTo>
                    <a:lnTo>
                      <a:pt x="194" y="295"/>
                    </a:lnTo>
                    <a:lnTo>
                      <a:pt x="201" y="284"/>
                    </a:lnTo>
                    <a:lnTo>
                      <a:pt x="207" y="273"/>
                    </a:lnTo>
                    <a:lnTo>
                      <a:pt x="211" y="260"/>
                    </a:lnTo>
                    <a:lnTo>
                      <a:pt x="216" y="247"/>
                    </a:lnTo>
                    <a:lnTo>
                      <a:pt x="218" y="234"/>
                    </a:lnTo>
                    <a:lnTo>
                      <a:pt x="220" y="221"/>
                    </a:lnTo>
                    <a:lnTo>
                      <a:pt x="220" y="208"/>
                    </a:lnTo>
                    <a:lnTo>
                      <a:pt x="218" y="195"/>
                    </a:lnTo>
                    <a:lnTo>
                      <a:pt x="217" y="183"/>
                    </a:lnTo>
                    <a:lnTo>
                      <a:pt x="217" y="178"/>
                    </a:lnTo>
                    <a:lnTo>
                      <a:pt x="218" y="174"/>
                    </a:lnTo>
                    <a:lnTo>
                      <a:pt x="217" y="170"/>
                    </a:lnTo>
                    <a:lnTo>
                      <a:pt x="217" y="165"/>
                    </a:lnTo>
                    <a:lnTo>
                      <a:pt x="217" y="160"/>
                    </a:lnTo>
                    <a:lnTo>
                      <a:pt x="217" y="155"/>
                    </a:lnTo>
                    <a:lnTo>
                      <a:pt x="216" y="151"/>
                    </a:lnTo>
                    <a:lnTo>
                      <a:pt x="216" y="145"/>
                    </a:lnTo>
                    <a:lnTo>
                      <a:pt x="216" y="141"/>
                    </a:lnTo>
                    <a:lnTo>
                      <a:pt x="216" y="137"/>
                    </a:lnTo>
                    <a:lnTo>
                      <a:pt x="216" y="133"/>
                    </a:lnTo>
                    <a:lnTo>
                      <a:pt x="217" y="128"/>
                    </a:lnTo>
                    <a:lnTo>
                      <a:pt x="218" y="124"/>
                    </a:lnTo>
                    <a:lnTo>
                      <a:pt x="221" y="121"/>
                    </a:lnTo>
                    <a:lnTo>
                      <a:pt x="224" y="117"/>
                    </a:lnTo>
                    <a:lnTo>
                      <a:pt x="230" y="115"/>
                    </a:lnTo>
                    <a:lnTo>
                      <a:pt x="234" y="111"/>
                    </a:lnTo>
                    <a:lnTo>
                      <a:pt x="238" y="107"/>
                    </a:lnTo>
                    <a:lnTo>
                      <a:pt x="234" y="104"/>
                    </a:lnTo>
                    <a:lnTo>
                      <a:pt x="233" y="101"/>
                    </a:lnTo>
                    <a:lnTo>
                      <a:pt x="230" y="100"/>
                    </a:lnTo>
                    <a:lnTo>
                      <a:pt x="227" y="98"/>
                    </a:lnTo>
                    <a:lnTo>
                      <a:pt x="224" y="95"/>
                    </a:lnTo>
                    <a:lnTo>
                      <a:pt x="221" y="94"/>
                    </a:lnTo>
                    <a:lnTo>
                      <a:pt x="217" y="93"/>
                    </a:lnTo>
                    <a:lnTo>
                      <a:pt x="214" y="91"/>
                    </a:lnTo>
                    <a:lnTo>
                      <a:pt x="211" y="90"/>
                    </a:lnTo>
                    <a:lnTo>
                      <a:pt x="208" y="88"/>
                    </a:lnTo>
                    <a:lnTo>
                      <a:pt x="206" y="85"/>
                    </a:lnTo>
                    <a:lnTo>
                      <a:pt x="203" y="84"/>
                    </a:lnTo>
                    <a:lnTo>
                      <a:pt x="200" y="82"/>
                    </a:lnTo>
                    <a:lnTo>
                      <a:pt x="197" y="80"/>
                    </a:lnTo>
                    <a:lnTo>
                      <a:pt x="194" y="75"/>
                    </a:lnTo>
                    <a:lnTo>
                      <a:pt x="193" y="72"/>
                    </a:lnTo>
                    <a:lnTo>
                      <a:pt x="183" y="65"/>
                    </a:lnTo>
                    <a:lnTo>
                      <a:pt x="173" y="58"/>
                    </a:lnTo>
                    <a:lnTo>
                      <a:pt x="163" y="52"/>
                    </a:lnTo>
                    <a:lnTo>
                      <a:pt x="151" y="48"/>
                    </a:lnTo>
                    <a:lnTo>
                      <a:pt x="140" y="42"/>
                    </a:lnTo>
                    <a:lnTo>
                      <a:pt x="128" y="40"/>
                    </a:lnTo>
                    <a:lnTo>
                      <a:pt x="118" y="35"/>
                    </a:lnTo>
                    <a:lnTo>
                      <a:pt x="107" y="31"/>
                    </a:lnTo>
                    <a:lnTo>
                      <a:pt x="95" y="27"/>
                    </a:lnTo>
                    <a:lnTo>
                      <a:pt x="83" y="24"/>
                    </a:lnTo>
                    <a:lnTo>
                      <a:pt x="71" y="20"/>
                    </a:lnTo>
                    <a:lnTo>
                      <a:pt x="60" y="17"/>
                    </a:lnTo>
                    <a:lnTo>
                      <a:pt x="48" y="12"/>
                    </a:lnTo>
                    <a:lnTo>
                      <a:pt x="37" y="8"/>
                    </a:lnTo>
                    <a:lnTo>
                      <a:pt x="25" y="4"/>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8" name="Freeform 30"/>
              <p:cNvSpPr>
                <a:spLocks/>
              </p:cNvSpPr>
              <p:nvPr/>
            </p:nvSpPr>
            <p:spPr bwMode="auto">
              <a:xfrm>
                <a:off x="2090" y="634"/>
                <a:ext cx="71" cy="31"/>
              </a:xfrm>
              <a:custGeom>
                <a:avLst/>
                <a:gdLst>
                  <a:gd name="T0" fmla="*/ 0 w 143"/>
                  <a:gd name="T1" fmla="*/ 1 h 61"/>
                  <a:gd name="T2" fmla="*/ 0 w 143"/>
                  <a:gd name="T3" fmla="*/ 1 h 61"/>
                  <a:gd name="T4" fmla="*/ 0 w 143"/>
                  <a:gd name="T5" fmla="*/ 1 h 61"/>
                  <a:gd name="T6" fmla="*/ 0 w 143"/>
                  <a:gd name="T7" fmla="*/ 1 h 61"/>
                  <a:gd name="T8" fmla="*/ 0 w 143"/>
                  <a:gd name="T9" fmla="*/ 1 h 61"/>
                  <a:gd name="T10" fmla="*/ 0 w 143"/>
                  <a:gd name="T11" fmla="*/ 1 h 61"/>
                  <a:gd name="T12" fmla="*/ 0 w 143"/>
                  <a:gd name="T13" fmla="*/ 1 h 61"/>
                  <a:gd name="T14" fmla="*/ 0 w 143"/>
                  <a:gd name="T15" fmla="*/ 1 h 61"/>
                  <a:gd name="T16" fmla="*/ 0 w 143"/>
                  <a:gd name="T17" fmla="*/ 1 h 61"/>
                  <a:gd name="T18" fmla="*/ 0 w 143"/>
                  <a:gd name="T19" fmla="*/ 1 h 61"/>
                  <a:gd name="T20" fmla="*/ 0 w 143"/>
                  <a:gd name="T21" fmla="*/ 1 h 61"/>
                  <a:gd name="T22" fmla="*/ 0 w 143"/>
                  <a:gd name="T23" fmla="*/ 1 h 61"/>
                  <a:gd name="T24" fmla="*/ 0 w 143"/>
                  <a:gd name="T25" fmla="*/ 1 h 61"/>
                  <a:gd name="T26" fmla="*/ 0 w 143"/>
                  <a:gd name="T27" fmla="*/ 1 h 61"/>
                  <a:gd name="T28" fmla="*/ 0 w 143"/>
                  <a:gd name="T29" fmla="*/ 1 h 61"/>
                  <a:gd name="T30" fmla="*/ 0 w 143"/>
                  <a:gd name="T31" fmla="*/ 1 h 61"/>
                  <a:gd name="T32" fmla="*/ 0 w 143"/>
                  <a:gd name="T33" fmla="*/ 1 h 61"/>
                  <a:gd name="T34" fmla="*/ 0 w 143"/>
                  <a:gd name="T35" fmla="*/ 1 h 61"/>
                  <a:gd name="T36" fmla="*/ 0 w 143"/>
                  <a:gd name="T37" fmla="*/ 1 h 61"/>
                  <a:gd name="T38" fmla="*/ 0 w 143"/>
                  <a:gd name="T39" fmla="*/ 1 h 61"/>
                  <a:gd name="T40" fmla="*/ 0 w 143"/>
                  <a:gd name="T41" fmla="*/ 1 h 61"/>
                  <a:gd name="T42" fmla="*/ 0 w 143"/>
                  <a:gd name="T43" fmla="*/ 1 h 61"/>
                  <a:gd name="T44" fmla="*/ 0 w 143"/>
                  <a:gd name="T45" fmla="*/ 1 h 61"/>
                  <a:gd name="T46" fmla="*/ 0 w 143"/>
                  <a:gd name="T47" fmla="*/ 1 h 61"/>
                  <a:gd name="T48" fmla="*/ 0 w 143"/>
                  <a:gd name="T49" fmla="*/ 1 h 61"/>
                  <a:gd name="T50" fmla="*/ 0 w 143"/>
                  <a:gd name="T51" fmla="*/ 1 h 61"/>
                  <a:gd name="T52" fmla="*/ 0 w 143"/>
                  <a:gd name="T53" fmla="*/ 1 h 61"/>
                  <a:gd name="T54" fmla="*/ 0 w 143"/>
                  <a:gd name="T55" fmla="*/ 1 h 61"/>
                  <a:gd name="T56" fmla="*/ 0 w 143"/>
                  <a:gd name="T57" fmla="*/ 1 h 61"/>
                  <a:gd name="T58" fmla="*/ 0 w 143"/>
                  <a:gd name="T59" fmla="*/ 1 h 61"/>
                  <a:gd name="T60" fmla="*/ 0 w 143"/>
                  <a:gd name="T61" fmla="*/ 1 h 61"/>
                  <a:gd name="T62" fmla="*/ 0 w 143"/>
                  <a:gd name="T63" fmla="*/ 0 h 6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3"/>
                  <a:gd name="T97" fmla="*/ 0 h 61"/>
                  <a:gd name="T98" fmla="*/ 143 w 143"/>
                  <a:gd name="T99" fmla="*/ 61 h 6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3" h="61">
                    <a:moveTo>
                      <a:pt x="20" y="0"/>
                    </a:moveTo>
                    <a:lnTo>
                      <a:pt x="0" y="2"/>
                    </a:lnTo>
                    <a:lnTo>
                      <a:pt x="4" y="2"/>
                    </a:lnTo>
                    <a:lnTo>
                      <a:pt x="10" y="4"/>
                    </a:lnTo>
                    <a:lnTo>
                      <a:pt x="14" y="7"/>
                    </a:lnTo>
                    <a:lnTo>
                      <a:pt x="19" y="10"/>
                    </a:lnTo>
                    <a:lnTo>
                      <a:pt x="23" y="12"/>
                    </a:lnTo>
                    <a:lnTo>
                      <a:pt x="27" y="15"/>
                    </a:lnTo>
                    <a:lnTo>
                      <a:pt x="31" y="20"/>
                    </a:lnTo>
                    <a:lnTo>
                      <a:pt x="36" y="24"/>
                    </a:lnTo>
                    <a:lnTo>
                      <a:pt x="39" y="28"/>
                    </a:lnTo>
                    <a:lnTo>
                      <a:pt x="43" y="31"/>
                    </a:lnTo>
                    <a:lnTo>
                      <a:pt x="46" y="37"/>
                    </a:lnTo>
                    <a:lnTo>
                      <a:pt x="50" y="41"/>
                    </a:lnTo>
                    <a:lnTo>
                      <a:pt x="54" y="45"/>
                    </a:lnTo>
                    <a:lnTo>
                      <a:pt x="57" y="50"/>
                    </a:lnTo>
                    <a:lnTo>
                      <a:pt x="62" y="52"/>
                    </a:lnTo>
                    <a:lnTo>
                      <a:pt x="66" y="57"/>
                    </a:lnTo>
                    <a:lnTo>
                      <a:pt x="70" y="57"/>
                    </a:lnTo>
                    <a:lnTo>
                      <a:pt x="74" y="57"/>
                    </a:lnTo>
                    <a:lnTo>
                      <a:pt x="79" y="57"/>
                    </a:lnTo>
                    <a:lnTo>
                      <a:pt x="84" y="57"/>
                    </a:lnTo>
                    <a:lnTo>
                      <a:pt x="89" y="57"/>
                    </a:lnTo>
                    <a:lnTo>
                      <a:pt x="93" y="57"/>
                    </a:lnTo>
                    <a:lnTo>
                      <a:pt x="97" y="57"/>
                    </a:lnTo>
                    <a:lnTo>
                      <a:pt x="103" y="57"/>
                    </a:lnTo>
                    <a:lnTo>
                      <a:pt x="107" y="57"/>
                    </a:lnTo>
                    <a:lnTo>
                      <a:pt x="112" y="57"/>
                    </a:lnTo>
                    <a:lnTo>
                      <a:pt x="117" y="57"/>
                    </a:lnTo>
                    <a:lnTo>
                      <a:pt x="122" y="57"/>
                    </a:lnTo>
                    <a:lnTo>
                      <a:pt x="126" y="57"/>
                    </a:lnTo>
                    <a:lnTo>
                      <a:pt x="132" y="58"/>
                    </a:lnTo>
                    <a:lnTo>
                      <a:pt x="136" y="60"/>
                    </a:lnTo>
                    <a:lnTo>
                      <a:pt x="142" y="61"/>
                    </a:lnTo>
                    <a:lnTo>
                      <a:pt x="142" y="58"/>
                    </a:lnTo>
                    <a:lnTo>
                      <a:pt x="142" y="55"/>
                    </a:lnTo>
                    <a:lnTo>
                      <a:pt x="142" y="52"/>
                    </a:lnTo>
                    <a:lnTo>
                      <a:pt x="143" y="51"/>
                    </a:lnTo>
                    <a:lnTo>
                      <a:pt x="137" y="48"/>
                    </a:lnTo>
                    <a:lnTo>
                      <a:pt x="133" y="45"/>
                    </a:lnTo>
                    <a:lnTo>
                      <a:pt x="127" y="45"/>
                    </a:lnTo>
                    <a:lnTo>
                      <a:pt x="122" y="45"/>
                    </a:lnTo>
                    <a:lnTo>
                      <a:pt x="114" y="45"/>
                    </a:lnTo>
                    <a:lnTo>
                      <a:pt x="109" y="45"/>
                    </a:lnTo>
                    <a:lnTo>
                      <a:pt x="103" y="45"/>
                    </a:lnTo>
                    <a:lnTo>
                      <a:pt x="96" y="45"/>
                    </a:lnTo>
                    <a:lnTo>
                      <a:pt x="90" y="45"/>
                    </a:lnTo>
                    <a:lnTo>
                      <a:pt x="83" y="45"/>
                    </a:lnTo>
                    <a:lnTo>
                      <a:pt x="77" y="45"/>
                    </a:lnTo>
                    <a:lnTo>
                      <a:pt x="73" y="45"/>
                    </a:lnTo>
                    <a:lnTo>
                      <a:pt x="67" y="42"/>
                    </a:lnTo>
                    <a:lnTo>
                      <a:pt x="63" y="41"/>
                    </a:lnTo>
                    <a:lnTo>
                      <a:pt x="60" y="37"/>
                    </a:lnTo>
                    <a:lnTo>
                      <a:pt x="57" y="34"/>
                    </a:lnTo>
                    <a:lnTo>
                      <a:pt x="54" y="31"/>
                    </a:lnTo>
                    <a:lnTo>
                      <a:pt x="53" y="28"/>
                    </a:lnTo>
                    <a:lnTo>
                      <a:pt x="52" y="25"/>
                    </a:lnTo>
                    <a:lnTo>
                      <a:pt x="50" y="22"/>
                    </a:lnTo>
                    <a:lnTo>
                      <a:pt x="46" y="17"/>
                    </a:lnTo>
                    <a:lnTo>
                      <a:pt x="40" y="12"/>
                    </a:lnTo>
                    <a:lnTo>
                      <a:pt x="36" y="8"/>
                    </a:lnTo>
                    <a:lnTo>
                      <a:pt x="30" y="4"/>
                    </a:lnTo>
                    <a:lnTo>
                      <a:pt x="24" y="1"/>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39" name="Freeform 31"/>
              <p:cNvSpPr>
                <a:spLocks/>
              </p:cNvSpPr>
              <p:nvPr/>
            </p:nvSpPr>
            <p:spPr bwMode="auto">
              <a:xfrm>
                <a:off x="2606" y="678"/>
                <a:ext cx="68" cy="88"/>
              </a:xfrm>
              <a:custGeom>
                <a:avLst/>
                <a:gdLst>
                  <a:gd name="T0" fmla="*/ 1 w 134"/>
                  <a:gd name="T1" fmla="*/ 1 h 176"/>
                  <a:gd name="T2" fmla="*/ 1 w 134"/>
                  <a:gd name="T3" fmla="*/ 1 h 176"/>
                  <a:gd name="T4" fmla="*/ 1 w 134"/>
                  <a:gd name="T5" fmla="*/ 1 h 176"/>
                  <a:gd name="T6" fmla="*/ 1 w 134"/>
                  <a:gd name="T7" fmla="*/ 1 h 176"/>
                  <a:gd name="T8" fmla="*/ 1 w 134"/>
                  <a:gd name="T9" fmla="*/ 1 h 176"/>
                  <a:gd name="T10" fmla="*/ 1 w 134"/>
                  <a:gd name="T11" fmla="*/ 1 h 176"/>
                  <a:gd name="T12" fmla="*/ 1 w 134"/>
                  <a:gd name="T13" fmla="*/ 1 h 176"/>
                  <a:gd name="T14" fmla="*/ 1 w 134"/>
                  <a:gd name="T15" fmla="*/ 1 h 176"/>
                  <a:gd name="T16" fmla="*/ 1 w 134"/>
                  <a:gd name="T17" fmla="*/ 1 h 176"/>
                  <a:gd name="T18" fmla="*/ 1 w 134"/>
                  <a:gd name="T19" fmla="*/ 1 h 176"/>
                  <a:gd name="T20" fmla="*/ 1 w 134"/>
                  <a:gd name="T21" fmla="*/ 1 h 176"/>
                  <a:gd name="T22" fmla="*/ 1 w 134"/>
                  <a:gd name="T23" fmla="*/ 1 h 176"/>
                  <a:gd name="T24" fmla="*/ 1 w 134"/>
                  <a:gd name="T25" fmla="*/ 1 h 176"/>
                  <a:gd name="T26" fmla="*/ 1 w 134"/>
                  <a:gd name="T27" fmla="*/ 1 h 176"/>
                  <a:gd name="T28" fmla="*/ 1 w 134"/>
                  <a:gd name="T29" fmla="*/ 1 h 176"/>
                  <a:gd name="T30" fmla="*/ 1 w 134"/>
                  <a:gd name="T31" fmla="*/ 1 h 176"/>
                  <a:gd name="T32" fmla="*/ 1 w 134"/>
                  <a:gd name="T33" fmla="*/ 1 h 176"/>
                  <a:gd name="T34" fmla="*/ 1 w 134"/>
                  <a:gd name="T35" fmla="*/ 1 h 176"/>
                  <a:gd name="T36" fmla="*/ 1 w 134"/>
                  <a:gd name="T37" fmla="*/ 1 h 176"/>
                  <a:gd name="T38" fmla="*/ 1 w 134"/>
                  <a:gd name="T39" fmla="*/ 1 h 176"/>
                  <a:gd name="T40" fmla="*/ 1 w 134"/>
                  <a:gd name="T41" fmla="*/ 1 h 176"/>
                  <a:gd name="T42" fmla="*/ 1 w 134"/>
                  <a:gd name="T43" fmla="*/ 1 h 176"/>
                  <a:gd name="T44" fmla="*/ 1 w 134"/>
                  <a:gd name="T45" fmla="*/ 1 h 176"/>
                  <a:gd name="T46" fmla="*/ 1 w 134"/>
                  <a:gd name="T47" fmla="*/ 1 h 176"/>
                  <a:gd name="T48" fmla="*/ 1 w 134"/>
                  <a:gd name="T49" fmla="*/ 1 h 176"/>
                  <a:gd name="T50" fmla="*/ 1 w 134"/>
                  <a:gd name="T51" fmla="*/ 1 h 176"/>
                  <a:gd name="T52" fmla="*/ 1 w 134"/>
                  <a:gd name="T53" fmla="*/ 1 h 176"/>
                  <a:gd name="T54" fmla="*/ 1 w 134"/>
                  <a:gd name="T55" fmla="*/ 1 h 176"/>
                  <a:gd name="T56" fmla="*/ 1 w 134"/>
                  <a:gd name="T57" fmla="*/ 1 h 176"/>
                  <a:gd name="T58" fmla="*/ 0 w 134"/>
                  <a:gd name="T59" fmla="*/ 1 h 176"/>
                  <a:gd name="T60" fmla="*/ 1 w 134"/>
                  <a:gd name="T61" fmla="*/ 1 h 176"/>
                  <a:gd name="T62" fmla="*/ 1 w 134"/>
                  <a:gd name="T63" fmla="*/ 1 h 176"/>
                  <a:gd name="T64" fmla="*/ 1 w 134"/>
                  <a:gd name="T65" fmla="*/ 1 h 176"/>
                  <a:gd name="T66" fmla="*/ 1 w 134"/>
                  <a:gd name="T67" fmla="*/ 1 h 176"/>
                  <a:gd name="T68" fmla="*/ 1 w 134"/>
                  <a:gd name="T69" fmla="*/ 1 h 176"/>
                  <a:gd name="T70" fmla="*/ 1 w 134"/>
                  <a:gd name="T71" fmla="*/ 1 h 176"/>
                  <a:gd name="T72" fmla="*/ 1 w 134"/>
                  <a:gd name="T73" fmla="*/ 1 h 176"/>
                  <a:gd name="T74" fmla="*/ 1 w 134"/>
                  <a:gd name="T75" fmla="*/ 1 h 176"/>
                  <a:gd name="T76" fmla="*/ 1 w 134"/>
                  <a:gd name="T77" fmla="*/ 1 h 176"/>
                  <a:gd name="T78" fmla="*/ 1 w 134"/>
                  <a:gd name="T79" fmla="*/ 1 h 176"/>
                  <a:gd name="T80" fmla="*/ 1 w 134"/>
                  <a:gd name="T81" fmla="*/ 1 h 176"/>
                  <a:gd name="T82" fmla="*/ 1 w 134"/>
                  <a:gd name="T83" fmla="*/ 1 h 176"/>
                  <a:gd name="T84" fmla="*/ 1 w 134"/>
                  <a:gd name="T85" fmla="*/ 1 h 176"/>
                  <a:gd name="T86" fmla="*/ 1 w 134"/>
                  <a:gd name="T87" fmla="*/ 1 h 176"/>
                  <a:gd name="T88" fmla="*/ 1 w 134"/>
                  <a:gd name="T89" fmla="*/ 1 h 176"/>
                  <a:gd name="T90" fmla="*/ 1 w 134"/>
                  <a:gd name="T91" fmla="*/ 1 h 176"/>
                  <a:gd name="T92" fmla="*/ 1 w 134"/>
                  <a:gd name="T93" fmla="*/ 1 h 176"/>
                  <a:gd name="T94" fmla="*/ 1 w 134"/>
                  <a:gd name="T95" fmla="*/ 1 h 176"/>
                  <a:gd name="T96" fmla="*/ 1 w 134"/>
                  <a:gd name="T97" fmla="*/ 1 h 176"/>
                  <a:gd name="T98" fmla="*/ 1 w 134"/>
                  <a:gd name="T99" fmla="*/ 1 h 176"/>
                  <a:gd name="T100" fmla="*/ 1 w 134"/>
                  <a:gd name="T101" fmla="*/ 1 h 176"/>
                  <a:gd name="T102" fmla="*/ 1 w 134"/>
                  <a:gd name="T103" fmla="*/ 1 h 176"/>
                  <a:gd name="T104" fmla="*/ 1 w 134"/>
                  <a:gd name="T105" fmla="*/ 1 h 176"/>
                  <a:gd name="T106" fmla="*/ 1 w 134"/>
                  <a:gd name="T107" fmla="*/ 1 h 176"/>
                  <a:gd name="T108" fmla="*/ 1 w 134"/>
                  <a:gd name="T109" fmla="*/ 1 h 176"/>
                  <a:gd name="T110" fmla="*/ 1 w 134"/>
                  <a:gd name="T111" fmla="*/ 1 h 176"/>
                  <a:gd name="T112" fmla="*/ 1 w 134"/>
                  <a:gd name="T113" fmla="*/ 1 h 176"/>
                  <a:gd name="T114" fmla="*/ 1 w 134"/>
                  <a:gd name="T115" fmla="*/ 0 h 1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4"/>
                  <a:gd name="T175" fmla="*/ 0 h 176"/>
                  <a:gd name="T176" fmla="*/ 134 w 134"/>
                  <a:gd name="T177" fmla="*/ 176 h 1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4" h="176">
                    <a:moveTo>
                      <a:pt x="90" y="0"/>
                    </a:moveTo>
                    <a:lnTo>
                      <a:pt x="85" y="2"/>
                    </a:lnTo>
                    <a:lnTo>
                      <a:pt x="84" y="3"/>
                    </a:lnTo>
                    <a:lnTo>
                      <a:pt x="83" y="6"/>
                    </a:lnTo>
                    <a:lnTo>
                      <a:pt x="83" y="7"/>
                    </a:lnTo>
                    <a:lnTo>
                      <a:pt x="84" y="13"/>
                    </a:lnTo>
                    <a:lnTo>
                      <a:pt x="88" y="19"/>
                    </a:lnTo>
                    <a:lnTo>
                      <a:pt x="90" y="20"/>
                    </a:lnTo>
                    <a:lnTo>
                      <a:pt x="93" y="22"/>
                    </a:lnTo>
                    <a:lnTo>
                      <a:pt x="95" y="23"/>
                    </a:lnTo>
                    <a:lnTo>
                      <a:pt x="98" y="26"/>
                    </a:lnTo>
                    <a:lnTo>
                      <a:pt x="101" y="27"/>
                    </a:lnTo>
                    <a:lnTo>
                      <a:pt x="104" y="27"/>
                    </a:lnTo>
                    <a:lnTo>
                      <a:pt x="107" y="27"/>
                    </a:lnTo>
                    <a:lnTo>
                      <a:pt x="110" y="27"/>
                    </a:lnTo>
                    <a:lnTo>
                      <a:pt x="113" y="27"/>
                    </a:lnTo>
                    <a:lnTo>
                      <a:pt x="117" y="27"/>
                    </a:lnTo>
                    <a:lnTo>
                      <a:pt x="120" y="27"/>
                    </a:lnTo>
                    <a:lnTo>
                      <a:pt x="124" y="29"/>
                    </a:lnTo>
                    <a:lnTo>
                      <a:pt x="123" y="36"/>
                    </a:lnTo>
                    <a:lnTo>
                      <a:pt x="123" y="43"/>
                    </a:lnTo>
                    <a:lnTo>
                      <a:pt x="121" y="50"/>
                    </a:lnTo>
                    <a:lnTo>
                      <a:pt x="121" y="57"/>
                    </a:lnTo>
                    <a:lnTo>
                      <a:pt x="120" y="64"/>
                    </a:lnTo>
                    <a:lnTo>
                      <a:pt x="120" y="72"/>
                    </a:lnTo>
                    <a:lnTo>
                      <a:pt x="120" y="79"/>
                    </a:lnTo>
                    <a:lnTo>
                      <a:pt x="118" y="86"/>
                    </a:lnTo>
                    <a:lnTo>
                      <a:pt x="118" y="93"/>
                    </a:lnTo>
                    <a:lnTo>
                      <a:pt x="117" y="100"/>
                    </a:lnTo>
                    <a:lnTo>
                      <a:pt x="115" y="107"/>
                    </a:lnTo>
                    <a:lnTo>
                      <a:pt x="115" y="114"/>
                    </a:lnTo>
                    <a:lnTo>
                      <a:pt x="114" y="122"/>
                    </a:lnTo>
                    <a:lnTo>
                      <a:pt x="113" y="130"/>
                    </a:lnTo>
                    <a:lnTo>
                      <a:pt x="111" y="137"/>
                    </a:lnTo>
                    <a:lnTo>
                      <a:pt x="111" y="145"/>
                    </a:lnTo>
                    <a:lnTo>
                      <a:pt x="107" y="149"/>
                    </a:lnTo>
                    <a:lnTo>
                      <a:pt x="104" y="153"/>
                    </a:lnTo>
                    <a:lnTo>
                      <a:pt x="100" y="156"/>
                    </a:lnTo>
                    <a:lnTo>
                      <a:pt x="95" y="159"/>
                    </a:lnTo>
                    <a:lnTo>
                      <a:pt x="90" y="160"/>
                    </a:lnTo>
                    <a:lnTo>
                      <a:pt x="85" y="162"/>
                    </a:lnTo>
                    <a:lnTo>
                      <a:pt x="80" y="162"/>
                    </a:lnTo>
                    <a:lnTo>
                      <a:pt x="74" y="163"/>
                    </a:lnTo>
                    <a:lnTo>
                      <a:pt x="68" y="163"/>
                    </a:lnTo>
                    <a:lnTo>
                      <a:pt x="63" y="163"/>
                    </a:lnTo>
                    <a:lnTo>
                      <a:pt x="57" y="163"/>
                    </a:lnTo>
                    <a:lnTo>
                      <a:pt x="51" y="163"/>
                    </a:lnTo>
                    <a:lnTo>
                      <a:pt x="44" y="163"/>
                    </a:lnTo>
                    <a:lnTo>
                      <a:pt x="38" y="163"/>
                    </a:lnTo>
                    <a:lnTo>
                      <a:pt x="34" y="163"/>
                    </a:lnTo>
                    <a:lnTo>
                      <a:pt x="28" y="165"/>
                    </a:lnTo>
                    <a:lnTo>
                      <a:pt x="27" y="165"/>
                    </a:lnTo>
                    <a:lnTo>
                      <a:pt x="24" y="165"/>
                    </a:lnTo>
                    <a:lnTo>
                      <a:pt x="21" y="165"/>
                    </a:lnTo>
                    <a:lnTo>
                      <a:pt x="18" y="165"/>
                    </a:lnTo>
                    <a:lnTo>
                      <a:pt x="15" y="165"/>
                    </a:lnTo>
                    <a:lnTo>
                      <a:pt x="13" y="163"/>
                    </a:lnTo>
                    <a:lnTo>
                      <a:pt x="10" y="163"/>
                    </a:lnTo>
                    <a:lnTo>
                      <a:pt x="5" y="163"/>
                    </a:lnTo>
                    <a:lnTo>
                      <a:pt x="0" y="175"/>
                    </a:lnTo>
                    <a:lnTo>
                      <a:pt x="3" y="175"/>
                    </a:lnTo>
                    <a:lnTo>
                      <a:pt x="5" y="175"/>
                    </a:lnTo>
                    <a:lnTo>
                      <a:pt x="10" y="175"/>
                    </a:lnTo>
                    <a:lnTo>
                      <a:pt x="14" y="175"/>
                    </a:lnTo>
                    <a:lnTo>
                      <a:pt x="18" y="175"/>
                    </a:lnTo>
                    <a:lnTo>
                      <a:pt x="23" y="176"/>
                    </a:lnTo>
                    <a:lnTo>
                      <a:pt x="28" y="175"/>
                    </a:lnTo>
                    <a:lnTo>
                      <a:pt x="33" y="175"/>
                    </a:lnTo>
                    <a:lnTo>
                      <a:pt x="38" y="173"/>
                    </a:lnTo>
                    <a:lnTo>
                      <a:pt x="45" y="173"/>
                    </a:lnTo>
                    <a:lnTo>
                      <a:pt x="53" y="173"/>
                    </a:lnTo>
                    <a:lnTo>
                      <a:pt x="60" y="173"/>
                    </a:lnTo>
                    <a:lnTo>
                      <a:pt x="67" y="172"/>
                    </a:lnTo>
                    <a:lnTo>
                      <a:pt x="74" y="172"/>
                    </a:lnTo>
                    <a:lnTo>
                      <a:pt x="81" y="170"/>
                    </a:lnTo>
                    <a:lnTo>
                      <a:pt x="88" y="170"/>
                    </a:lnTo>
                    <a:lnTo>
                      <a:pt x="94" y="167"/>
                    </a:lnTo>
                    <a:lnTo>
                      <a:pt x="101" y="166"/>
                    </a:lnTo>
                    <a:lnTo>
                      <a:pt x="107" y="162"/>
                    </a:lnTo>
                    <a:lnTo>
                      <a:pt x="111" y="159"/>
                    </a:lnTo>
                    <a:lnTo>
                      <a:pt x="115" y="153"/>
                    </a:lnTo>
                    <a:lnTo>
                      <a:pt x="118" y="147"/>
                    </a:lnTo>
                    <a:lnTo>
                      <a:pt x="121" y="140"/>
                    </a:lnTo>
                    <a:lnTo>
                      <a:pt x="123" y="132"/>
                    </a:lnTo>
                    <a:lnTo>
                      <a:pt x="124" y="126"/>
                    </a:lnTo>
                    <a:lnTo>
                      <a:pt x="124" y="119"/>
                    </a:lnTo>
                    <a:lnTo>
                      <a:pt x="125" y="113"/>
                    </a:lnTo>
                    <a:lnTo>
                      <a:pt x="127" y="106"/>
                    </a:lnTo>
                    <a:lnTo>
                      <a:pt x="127" y="100"/>
                    </a:lnTo>
                    <a:lnTo>
                      <a:pt x="127" y="94"/>
                    </a:lnTo>
                    <a:lnTo>
                      <a:pt x="128" y="87"/>
                    </a:lnTo>
                    <a:lnTo>
                      <a:pt x="130" y="82"/>
                    </a:lnTo>
                    <a:lnTo>
                      <a:pt x="130" y="74"/>
                    </a:lnTo>
                    <a:lnTo>
                      <a:pt x="130" y="69"/>
                    </a:lnTo>
                    <a:lnTo>
                      <a:pt x="130" y="63"/>
                    </a:lnTo>
                    <a:lnTo>
                      <a:pt x="131" y="56"/>
                    </a:lnTo>
                    <a:lnTo>
                      <a:pt x="131" y="50"/>
                    </a:lnTo>
                    <a:lnTo>
                      <a:pt x="133" y="43"/>
                    </a:lnTo>
                    <a:lnTo>
                      <a:pt x="133" y="37"/>
                    </a:lnTo>
                    <a:lnTo>
                      <a:pt x="134" y="32"/>
                    </a:lnTo>
                    <a:lnTo>
                      <a:pt x="133" y="27"/>
                    </a:lnTo>
                    <a:lnTo>
                      <a:pt x="130" y="23"/>
                    </a:lnTo>
                    <a:lnTo>
                      <a:pt x="127" y="22"/>
                    </a:lnTo>
                    <a:lnTo>
                      <a:pt x="124" y="20"/>
                    </a:lnTo>
                    <a:lnTo>
                      <a:pt x="121" y="19"/>
                    </a:lnTo>
                    <a:lnTo>
                      <a:pt x="117" y="17"/>
                    </a:lnTo>
                    <a:lnTo>
                      <a:pt x="114" y="16"/>
                    </a:lnTo>
                    <a:lnTo>
                      <a:pt x="110" y="16"/>
                    </a:lnTo>
                    <a:lnTo>
                      <a:pt x="107" y="14"/>
                    </a:lnTo>
                    <a:lnTo>
                      <a:pt x="103" y="14"/>
                    </a:lnTo>
                    <a:lnTo>
                      <a:pt x="100" y="13"/>
                    </a:lnTo>
                    <a:lnTo>
                      <a:pt x="97" y="12"/>
                    </a:lnTo>
                    <a:lnTo>
                      <a:pt x="94" y="9"/>
                    </a:lnTo>
                    <a:lnTo>
                      <a:pt x="91" y="7"/>
                    </a:lnTo>
                    <a:lnTo>
                      <a:pt x="90" y="3"/>
                    </a:lnTo>
                    <a:lnTo>
                      <a:pt x="9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0" name="Freeform 32"/>
              <p:cNvSpPr>
                <a:spLocks/>
              </p:cNvSpPr>
              <p:nvPr/>
            </p:nvSpPr>
            <p:spPr bwMode="auto">
              <a:xfrm>
                <a:off x="2396" y="1143"/>
                <a:ext cx="36" cy="32"/>
              </a:xfrm>
              <a:custGeom>
                <a:avLst/>
                <a:gdLst>
                  <a:gd name="T0" fmla="*/ 1 w 72"/>
                  <a:gd name="T1" fmla="*/ 0 h 66"/>
                  <a:gd name="T2" fmla="*/ 1 w 72"/>
                  <a:gd name="T3" fmla="*/ 0 h 66"/>
                  <a:gd name="T4" fmla="*/ 1 w 72"/>
                  <a:gd name="T5" fmla="*/ 0 h 66"/>
                  <a:gd name="T6" fmla="*/ 1 w 72"/>
                  <a:gd name="T7" fmla="*/ 0 h 66"/>
                  <a:gd name="T8" fmla="*/ 1 w 72"/>
                  <a:gd name="T9" fmla="*/ 0 h 66"/>
                  <a:gd name="T10" fmla="*/ 1 w 72"/>
                  <a:gd name="T11" fmla="*/ 0 h 66"/>
                  <a:gd name="T12" fmla="*/ 1 w 72"/>
                  <a:gd name="T13" fmla="*/ 0 h 66"/>
                  <a:gd name="T14" fmla="*/ 1 w 72"/>
                  <a:gd name="T15" fmla="*/ 0 h 66"/>
                  <a:gd name="T16" fmla="*/ 1 w 72"/>
                  <a:gd name="T17" fmla="*/ 0 h 66"/>
                  <a:gd name="T18" fmla="*/ 1 w 72"/>
                  <a:gd name="T19" fmla="*/ 0 h 66"/>
                  <a:gd name="T20" fmla="*/ 1 w 72"/>
                  <a:gd name="T21" fmla="*/ 0 h 66"/>
                  <a:gd name="T22" fmla="*/ 1 w 72"/>
                  <a:gd name="T23" fmla="*/ 0 h 66"/>
                  <a:gd name="T24" fmla="*/ 1 w 72"/>
                  <a:gd name="T25" fmla="*/ 0 h 66"/>
                  <a:gd name="T26" fmla="*/ 1 w 72"/>
                  <a:gd name="T27" fmla="*/ 0 h 66"/>
                  <a:gd name="T28" fmla="*/ 1 w 72"/>
                  <a:gd name="T29" fmla="*/ 0 h 66"/>
                  <a:gd name="T30" fmla="*/ 1 w 72"/>
                  <a:gd name="T31" fmla="*/ 0 h 66"/>
                  <a:gd name="T32" fmla="*/ 1 w 72"/>
                  <a:gd name="T33" fmla="*/ 0 h 66"/>
                  <a:gd name="T34" fmla="*/ 1 w 72"/>
                  <a:gd name="T35" fmla="*/ 0 h 66"/>
                  <a:gd name="T36" fmla="*/ 1 w 72"/>
                  <a:gd name="T37" fmla="*/ 0 h 66"/>
                  <a:gd name="T38" fmla="*/ 1 w 72"/>
                  <a:gd name="T39" fmla="*/ 0 h 66"/>
                  <a:gd name="T40" fmla="*/ 0 w 72"/>
                  <a:gd name="T41" fmla="*/ 0 h 66"/>
                  <a:gd name="T42" fmla="*/ 0 w 72"/>
                  <a:gd name="T43" fmla="*/ 0 h 66"/>
                  <a:gd name="T44" fmla="*/ 0 w 72"/>
                  <a:gd name="T45" fmla="*/ 0 h 66"/>
                  <a:gd name="T46" fmla="*/ 1 w 72"/>
                  <a:gd name="T47" fmla="*/ 0 h 66"/>
                  <a:gd name="T48" fmla="*/ 1 w 72"/>
                  <a:gd name="T49" fmla="*/ 0 h 66"/>
                  <a:gd name="T50" fmla="*/ 1 w 72"/>
                  <a:gd name="T51" fmla="*/ 0 h 66"/>
                  <a:gd name="T52" fmla="*/ 1 w 72"/>
                  <a:gd name="T53" fmla="*/ 0 h 66"/>
                  <a:gd name="T54" fmla="*/ 1 w 72"/>
                  <a:gd name="T55" fmla="*/ 0 h 66"/>
                  <a:gd name="T56" fmla="*/ 1 w 72"/>
                  <a:gd name="T57" fmla="*/ 0 h 66"/>
                  <a:gd name="T58" fmla="*/ 1 w 72"/>
                  <a:gd name="T59" fmla="*/ 0 h 66"/>
                  <a:gd name="T60" fmla="*/ 1 w 72"/>
                  <a:gd name="T61" fmla="*/ 0 h 66"/>
                  <a:gd name="T62" fmla="*/ 1 w 72"/>
                  <a:gd name="T63" fmla="*/ 0 h 66"/>
                  <a:gd name="T64" fmla="*/ 1 w 72"/>
                  <a:gd name="T65" fmla="*/ 0 h 66"/>
                  <a:gd name="T66" fmla="*/ 1 w 72"/>
                  <a:gd name="T67" fmla="*/ 0 h 66"/>
                  <a:gd name="T68" fmla="*/ 1 w 72"/>
                  <a:gd name="T69" fmla="*/ 0 h 66"/>
                  <a:gd name="T70" fmla="*/ 1 w 72"/>
                  <a:gd name="T71" fmla="*/ 0 h 66"/>
                  <a:gd name="T72" fmla="*/ 1 w 72"/>
                  <a:gd name="T73" fmla="*/ 0 h 66"/>
                  <a:gd name="T74" fmla="*/ 1 w 72"/>
                  <a:gd name="T75" fmla="*/ 0 h 66"/>
                  <a:gd name="T76" fmla="*/ 1 w 72"/>
                  <a:gd name="T77" fmla="*/ 0 h 66"/>
                  <a:gd name="T78" fmla="*/ 1 w 72"/>
                  <a:gd name="T79" fmla="*/ 0 h 66"/>
                  <a:gd name="T80" fmla="*/ 1 w 72"/>
                  <a:gd name="T81" fmla="*/ 0 h 66"/>
                  <a:gd name="T82" fmla="*/ 1 w 72"/>
                  <a:gd name="T83" fmla="*/ 0 h 66"/>
                  <a:gd name="T84" fmla="*/ 1 w 72"/>
                  <a:gd name="T85" fmla="*/ 0 h 66"/>
                  <a:gd name="T86" fmla="*/ 1 w 72"/>
                  <a:gd name="T87" fmla="*/ 0 h 66"/>
                  <a:gd name="T88" fmla="*/ 1 w 72"/>
                  <a:gd name="T89" fmla="*/ 0 h 66"/>
                  <a:gd name="T90" fmla="*/ 1 w 72"/>
                  <a:gd name="T91" fmla="*/ 0 h 66"/>
                  <a:gd name="T92" fmla="*/ 1 w 72"/>
                  <a:gd name="T93" fmla="*/ 0 h 66"/>
                  <a:gd name="T94" fmla="*/ 1 w 72"/>
                  <a:gd name="T95" fmla="*/ 0 h 66"/>
                  <a:gd name="T96" fmla="*/ 1 w 72"/>
                  <a:gd name="T97" fmla="*/ 0 h 66"/>
                  <a:gd name="T98" fmla="*/ 1 w 72"/>
                  <a:gd name="T99" fmla="*/ 0 h 66"/>
                  <a:gd name="T100" fmla="*/ 1 w 72"/>
                  <a:gd name="T101" fmla="*/ 0 h 66"/>
                  <a:gd name="T102" fmla="*/ 1 w 72"/>
                  <a:gd name="T103" fmla="*/ 0 h 66"/>
                  <a:gd name="T104" fmla="*/ 1 w 72"/>
                  <a:gd name="T105" fmla="*/ 0 h 66"/>
                  <a:gd name="T106" fmla="*/ 1 w 72"/>
                  <a:gd name="T107" fmla="*/ 0 h 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2"/>
                  <a:gd name="T163" fmla="*/ 0 h 66"/>
                  <a:gd name="T164" fmla="*/ 72 w 72"/>
                  <a:gd name="T165" fmla="*/ 66 h 6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2" h="66">
                    <a:moveTo>
                      <a:pt x="62" y="3"/>
                    </a:moveTo>
                    <a:lnTo>
                      <a:pt x="59" y="4"/>
                    </a:lnTo>
                    <a:lnTo>
                      <a:pt x="56" y="6"/>
                    </a:lnTo>
                    <a:lnTo>
                      <a:pt x="53" y="9"/>
                    </a:lnTo>
                    <a:lnTo>
                      <a:pt x="50" y="12"/>
                    </a:lnTo>
                    <a:lnTo>
                      <a:pt x="46" y="16"/>
                    </a:lnTo>
                    <a:lnTo>
                      <a:pt x="43" y="19"/>
                    </a:lnTo>
                    <a:lnTo>
                      <a:pt x="40" y="22"/>
                    </a:lnTo>
                    <a:lnTo>
                      <a:pt x="38" y="26"/>
                    </a:lnTo>
                    <a:lnTo>
                      <a:pt x="33" y="29"/>
                    </a:lnTo>
                    <a:lnTo>
                      <a:pt x="29" y="32"/>
                    </a:lnTo>
                    <a:lnTo>
                      <a:pt x="26" y="34"/>
                    </a:lnTo>
                    <a:lnTo>
                      <a:pt x="22" y="39"/>
                    </a:lnTo>
                    <a:lnTo>
                      <a:pt x="18" y="42"/>
                    </a:lnTo>
                    <a:lnTo>
                      <a:pt x="15" y="44"/>
                    </a:lnTo>
                    <a:lnTo>
                      <a:pt x="10" y="47"/>
                    </a:lnTo>
                    <a:lnTo>
                      <a:pt x="8" y="52"/>
                    </a:lnTo>
                    <a:lnTo>
                      <a:pt x="6" y="52"/>
                    </a:lnTo>
                    <a:lnTo>
                      <a:pt x="3" y="54"/>
                    </a:lnTo>
                    <a:lnTo>
                      <a:pt x="2" y="56"/>
                    </a:lnTo>
                    <a:lnTo>
                      <a:pt x="0" y="60"/>
                    </a:lnTo>
                    <a:lnTo>
                      <a:pt x="0" y="62"/>
                    </a:lnTo>
                    <a:lnTo>
                      <a:pt x="0" y="65"/>
                    </a:lnTo>
                    <a:lnTo>
                      <a:pt x="2" y="65"/>
                    </a:lnTo>
                    <a:lnTo>
                      <a:pt x="3" y="65"/>
                    </a:lnTo>
                    <a:lnTo>
                      <a:pt x="5" y="65"/>
                    </a:lnTo>
                    <a:lnTo>
                      <a:pt x="8" y="66"/>
                    </a:lnTo>
                    <a:lnTo>
                      <a:pt x="10" y="63"/>
                    </a:lnTo>
                    <a:lnTo>
                      <a:pt x="15" y="62"/>
                    </a:lnTo>
                    <a:lnTo>
                      <a:pt x="18" y="60"/>
                    </a:lnTo>
                    <a:lnTo>
                      <a:pt x="22" y="57"/>
                    </a:lnTo>
                    <a:lnTo>
                      <a:pt x="26" y="54"/>
                    </a:lnTo>
                    <a:lnTo>
                      <a:pt x="29" y="53"/>
                    </a:lnTo>
                    <a:lnTo>
                      <a:pt x="33" y="49"/>
                    </a:lnTo>
                    <a:lnTo>
                      <a:pt x="38" y="47"/>
                    </a:lnTo>
                    <a:lnTo>
                      <a:pt x="40" y="43"/>
                    </a:lnTo>
                    <a:lnTo>
                      <a:pt x="43" y="40"/>
                    </a:lnTo>
                    <a:lnTo>
                      <a:pt x="46" y="37"/>
                    </a:lnTo>
                    <a:lnTo>
                      <a:pt x="50" y="33"/>
                    </a:lnTo>
                    <a:lnTo>
                      <a:pt x="53" y="30"/>
                    </a:lnTo>
                    <a:lnTo>
                      <a:pt x="56" y="27"/>
                    </a:lnTo>
                    <a:lnTo>
                      <a:pt x="59" y="24"/>
                    </a:lnTo>
                    <a:lnTo>
                      <a:pt x="62" y="23"/>
                    </a:lnTo>
                    <a:lnTo>
                      <a:pt x="65" y="17"/>
                    </a:lnTo>
                    <a:lnTo>
                      <a:pt x="68" y="13"/>
                    </a:lnTo>
                    <a:lnTo>
                      <a:pt x="70" y="9"/>
                    </a:lnTo>
                    <a:lnTo>
                      <a:pt x="72" y="6"/>
                    </a:lnTo>
                    <a:lnTo>
                      <a:pt x="72" y="3"/>
                    </a:lnTo>
                    <a:lnTo>
                      <a:pt x="70" y="2"/>
                    </a:lnTo>
                    <a:lnTo>
                      <a:pt x="68" y="0"/>
                    </a:lnTo>
                    <a:lnTo>
                      <a:pt x="65" y="2"/>
                    </a:lnTo>
                    <a:lnTo>
                      <a:pt x="62" y="2"/>
                    </a:lnTo>
                    <a:lnTo>
                      <a:pt x="6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1" name="Freeform 33"/>
              <p:cNvSpPr>
                <a:spLocks/>
              </p:cNvSpPr>
              <p:nvPr/>
            </p:nvSpPr>
            <p:spPr bwMode="auto">
              <a:xfrm>
                <a:off x="2351" y="1183"/>
                <a:ext cx="31" cy="26"/>
              </a:xfrm>
              <a:custGeom>
                <a:avLst/>
                <a:gdLst>
                  <a:gd name="T0" fmla="*/ 1 w 62"/>
                  <a:gd name="T1" fmla="*/ 0 h 51"/>
                  <a:gd name="T2" fmla="*/ 1 w 62"/>
                  <a:gd name="T3" fmla="*/ 1 h 51"/>
                  <a:gd name="T4" fmla="*/ 1 w 62"/>
                  <a:gd name="T5" fmla="*/ 1 h 51"/>
                  <a:gd name="T6" fmla="*/ 1 w 62"/>
                  <a:gd name="T7" fmla="*/ 1 h 51"/>
                  <a:gd name="T8" fmla="*/ 1 w 62"/>
                  <a:gd name="T9" fmla="*/ 1 h 51"/>
                  <a:gd name="T10" fmla="*/ 1 w 62"/>
                  <a:gd name="T11" fmla="*/ 1 h 51"/>
                  <a:gd name="T12" fmla="*/ 1 w 62"/>
                  <a:gd name="T13" fmla="*/ 1 h 51"/>
                  <a:gd name="T14" fmla="*/ 1 w 62"/>
                  <a:gd name="T15" fmla="*/ 1 h 51"/>
                  <a:gd name="T16" fmla="*/ 1 w 62"/>
                  <a:gd name="T17" fmla="*/ 1 h 51"/>
                  <a:gd name="T18" fmla="*/ 1 w 62"/>
                  <a:gd name="T19" fmla="*/ 1 h 51"/>
                  <a:gd name="T20" fmla="*/ 1 w 62"/>
                  <a:gd name="T21" fmla="*/ 1 h 51"/>
                  <a:gd name="T22" fmla="*/ 1 w 62"/>
                  <a:gd name="T23" fmla="*/ 1 h 51"/>
                  <a:gd name="T24" fmla="*/ 1 w 62"/>
                  <a:gd name="T25" fmla="*/ 1 h 51"/>
                  <a:gd name="T26" fmla="*/ 1 w 62"/>
                  <a:gd name="T27" fmla="*/ 1 h 51"/>
                  <a:gd name="T28" fmla="*/ 1 w 62"/>
                  <a:gd name="T29" fmla="*/ 1 h 51"/>
                  <a:gd name="T30" fmla="*/ 1 w 62"/>
                  <a:gd name="T31" fmla="*/ 1 h 51"/>
                  <a:gd name="T32" fmla="*/ 0 w 62"/>
                  <a:gd name="T33" fmla="*/ 1 h 51"/>
                  <a:gd name="T34" fmla="*/ 1 w 62"/>
                  <a:gd name="T35" fmla="*/ 1 h 51"/>
                  <a:gd name="T36" fmla="*/ 1 w 62"/>
                  <a:gd name="T37" fmla="*/ 1 h 51"/>
                  <a:gd name="T38" fmla="*/ 1 w 62"/>
                  <a:gd name="T39" fmla="*/ 1 h 51"/>
                  <a:gd name="T40" fmla="*/ 1 w 62"/>
                  <a:gd name="T41" fmla="*/ 1 h 51"/>
                  <a:gd name="T42" fmla="*/ 1 w 62"/>
                  <a:gd name="T43" fmla="*/ 1 h 51"/>
                  <a:gd name="T44" fmla="*/ 1 w 62"/>
                  <a:gd name="T45" fmla="*/ 1 h 51"/>
                  <a:gd name="T46" fmla="*/ 1 w 62"/>
                  <a:gd name="T47" fmla="*/ 1 h 51"/>
                  <a:gd name="T48" fmla="*/ 1 w 62"/>
                  <a:gd name="T49" fmla="*/ 1 h 51"/>
                  <a:gd name="T50" fmla="*/ 1 w 62"/>
                  <a:gd name="T51" fmla="*/ 1 h 51"/>
                  <a:gd name="T52" fmla="*/ 1 w 62"/>
                  <a:gd name="T53" fmla="*/ 1 h 51"/>
                  <a:gd name="T54" fmla="*/ 1 w 62"/>
                  <a:gd name="T55" fmla="*/ 1 h 51"/>
                  <a:gd name="T56" fmla="*/ 1 w 62"/>
                  <a:gd name="T57" fmla="*/ 1 h 51"/>
                  <a:gd name="T58" fmla="*/ 1 w 62"/>
                  <a:gd name="T59" fmla="*/ 1 h 51"/>
                  <a:gd name="T60" fmla="*/ 1 w 62"/>
                  <a:gd name="T61" fmla="*/ 1 h 51"/>
                  <a:gd name="T62" fmla="*/ 1 w 62"/>
                  <a:gd name="T63" fmla="*/ 1 h 51"/>
                  <a:gd name="T64" fmla="*/ 1 w 62"/>
                  <a:gd name="T65" fmla="*/ 1 h 51"/>
                  <a:gd name="T66" fmla="*/ 1 w 62"/>
                  <a:gd name="T67" fmla="*/ 1 h 51"/>
                  <a:gd name="T68" fmla="*/ 1 w 62"/>
                  <a:gd name="T69" fmla="*/ 1 h 51"/>
                  <a:gd name="T70" fmla="*/ 1 w 62"/>
                  <a:gd name="T71" fmla="*/ 1 h 51"/>
                  <a:gd name="T72" fmla="*/ 1 w 62"/>
                  <a:gd name="T73" fmla="*/ 1 h 51"/>
                  <a:gd name="T74" fmla="*/ 1 w 62"/>
                  <a:gd name="T75" fmla="*/ 1 h 51"/>
                  <a:gd name="T76" fmla="*/ 1 w 62"/>
                  <a:gd name="T77" fmla="*/ 1 h 51"/>
                  <a:gd name="T78" fmla="*/ 1 w 62"/>
                  <a:gd name="T79" fmla="*/ 1 h 51"/>
                  <a:gd name="T80" fmla="*/ 1 w 62"/>
                  <a:gd name="T81" fmla="*/ 0 h 51"/>
                  <a:gd name="T82" fmla="*/ 1 w 62"/>
                  <a:gd name="T83" fmla="*/ 0 h 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2"/>
                  <a:gd name="T127" fmla="*/ 0 h 51"/>
                  <a:gd name="T128" fmla="*/ 62 w 62"/>
                  <a:gd name="T129" fmla="*/ 51 h 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2" h="51">
                    <a:moveTo>
                      <a:pt x="56" y="0"/>
                    </a:moveTo>
                    <a:lnTo>
                      <a:pt x="53" y="1"/>
                    </a:lnTo>
                    <a:lnTo>
                      <a:pt x="50" y="3"/>
                    </a:lnTo>
                    <a:lnTo>
                      <a:pt x="46" y="4"/>
                    </a:lnTo>
                    <a:lnTo>
                      <a:pt x="43" y="8"/>
                    </a:lnTo>
                    <a:lnTo>
                      <a:pt x="39" y="10"/>
                    </a:lnTo>
                    <a:lnTo>
                      <a:pt x="36" y="13"/>
                    </a:lnTo>
                    <a:lnTo>
                      <a:pt x="32" y="17"/>
                    </a:lnTo>
                    <a:lnTo>
                      <a:pt x="29" y="20"/>
                    </a:lnTo>
                    <a:lnTo>
                      <a:pt x="25" y="23"/>
                    </a:lnTo>
                    <a:lnTo>
                      <a:pt x="20" y="25"/>
                    </a:lnTo>
                    <a:lnTo>
                      <a:pt x="16" y="28"/>
                    </a:lnTo>
                    <a:lnTo>
                      <a:pt x="13" y="31"/>
                    </a:lnTo>
                    <a:lnTo>
                      <a:pt x="9" y="34"/>
                    </a:lnTo>
                    <a:lnTo>
                      <a:pt x="6" y="37"/>
                    </a:lnTo>
                    <a:lnTo>
                      <a:pt x="3" y="40"/>
                    </a:lnTo>
                    <a:lnTo>
                      <a:pt x="0" y="43"/>
                    </a:lnTo>
                    <a:lnTo>
                      <a:pt x="2" y="44"/>
                    </a:lnTo>
                    <a:lnTo>
                      <a:pt x="6" y="47"/>
                    </a:lnTo>
                    <a:lnTo>
                      <a:pt x="9" y="48"/>
                    </a:lnTo>
                    <a:lnTo>
                      <a:pt x="12" y="51"/>
                    </a:lnTo>
                    <a:lnTo>
                      <a:pt x="16" y="48"/>
                    </a:lnTo>
                    <a:lnTo>
                      <a:pt x="20" y="45"/>
                    </a:lnTo>
                    <a:lnTo>
                      <a:pt x="23" y="43"/>
                    </a:lnTo>
                    <a:lnTo>
                      <a:pt x="27" y="41"/>
                    </a:lnTo>
                    <a:lnTo>
                      <a:pt x="30" y="38"/>
                    </a:lnTo>
                    <a:lnTo>
                      <a:pt x="33" y="37"/>
                    </a:lnTo>
                    <a:lnTo>
                      <a:pt x="36" y="33"/>
                    </a:lnTo>
                    <a:lnTo>
                      <a:pt x="39" y="31"/>
                    </a:lnTo>
                    <a:lnTo>
                      <a:pt x="43" y="28"/>
                    </a:lnTo>
                    <a:lnTo>
                      <a:pt x="46" y="25"/>
                    </a:lnTo>
                    <a:lnTo>
                      <a:pt x="47" y="23"/>
                    </a:lnTo>
                    <a:lnTo>
                      <a:pt x="52" y="21"/>
                    </a:lnTo>
                    <a:lnTo>
                      <a:pt x="53" y="18"/>
                    </a:lnTo>
                    <a:lnTo>
                      <a:pt x="56" y="17"/>
                    </a:lnTo>
                    <a:lnTo>
                      <a:pt x="60" y="13"/>
                    </a:lnTo>
                    <a:lnTo>
                      <a:pt x="62" y="8"/>
                    </a:lnTo>
                    <a:lnTo>
                      <a:pt x="60" y="5"/>
                    </a:lnTo>
                    <a:lnTo>
                      <a:pt x="60" y="3"/>
                    </a:lnTo>
                    <a:lnTo>
                      <a:pt x="59" y="1"/>
                    </a:lnTo>
                    <a:lnTo>
                      <a:pt x="5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2" name="Freeform 34"/>
              <p:cNvSpPr>
                <a:spLocks/>
              </p:cNvSpPr>
              <p:nvPr/>
            </p:nvSpPr>
            <p:spPr bwMode="auto">
              <a:xfrm>
                <a:off x="2083" y="1207"/>
                <a:ext cx="329" cy="94"/>
              </a:xfrm>
              <a:custGeom>
                <a:avLst/>
                <a:gdLst>
                  <a:gd name="T0" fmla="*/ 2 w 658"/>
                  <a:gd name="T1" fmla="*/ 1 h 188"/>
                  <a:gd name="T2" fmla="*/ 2 w 658"/>
                  <a:gd name="T3" fmla="*/ 1 h 188"/>
                  <a:gd name="T4" fmla="*/ 2 w 658"/>
                  <a:gd name="T5" fmla="*/ 1 h 188"/>
                  <a:gd name="T6" fmla="*/ 2 w 658"/>
                  <a:gd name="T7" fmla="*/ 1 h 188"/>
                  <a:gd name="T8" fmla="*/ 2 w 658"/>
                  <a:gd name="T9" fmla="*/ 1 h 188"/>
                  <a:gd name="T10" fmla="*/ 2 w 658"/>
                  <a:gd name="T11" fmla="*/ 1 h 188"/>
                  <a:gd name="T12" fmla="*/ 1 w 658"/>
                  <a:gd name="T13" fmla="*/ 0 h 188"/>
                  <a:gd name="T14" fmla="*/ 1 w 658"/>
                  <a:gd name="T15" fmla="*/ 1 h 188"/>
                  <a:gd name="T16" fmla="*/ 1 w 658"/>
                  <a:gd name="T17" fmla="*/ 1 h 188"/>
                  <a:gd name="T18" fmla="*/ 1 w 658"/>
                  <a:gd name="T19" fmla="*/ 1 h 188"/>
                  <a:gd name="T20" fmla="*/ 1 w 658"/>
                  <a:gd name="T21" fmla="*/ 1 h 188"/>
                  <a:gd name="T22" fmla="*/ 1 w 658"/>
                  <a:gd name="T23" fmla="*/ 1 h 188"/>
                  <a:gd name="T24" fmla="*/ 1 w 658"/>
                  <a:gd name="T25" fmla="*/ 1 h 188"/>
                  <a:gd name="T26" fmla="*/ 1 w 658"/>
                  <a:gd name="T27" fmla="*/ 1 h 188"/>
                  <a:gd name="T28" fmla="*/ 1 w 658"/>
                  <a:gd name="T29" fmla="*/ 1 h 188"/>
                  <a:gd name="T30" fmla="*/ 1 w 658"/>
                  <a:gd name="T31" fmla="*/ 1 h 188"/>
                  <a:gd name="T32" fmla="*/ 1 w 658"/>
                  <a:gd name="T33" fmla="*/ 1 h 188"/>
                  <a:gd name="T34" fmla="*/ 1 w 658"/>
                  <a:gd name="T35" fmla="*/ 1 h 188"/>
                  <a:gd name="T36" fmla="*/ 1 w 658"/>
                  <a:gd name="T37" fmla="*/ 1 h 188"/>
                  <a:gd name="T38" fmla="*/ 1 w 658"/>
                  <a:gd name="T39" fmla="*/ 1 h 188"/>
                  <a:gd name="T40" fmla="*/ 1 w 658"/>
                  <a:gd name="T41" fmla="*/ 1 h 188"/>
                  <a:gd name="T42" fmla="*/ 2 w 658"/>
                  <a:gd name="T43" fmla="*/ 1 h 188"/>
                  <a:gd name="T44" fmla="*/ 2 w 658"/>
                  <a:gd name="T45" fmla="*/ 1 h 188"/>
                  <a:gd name="T46" fmla="*/ 2 w 658"/>
                  <a:gd name="T47" fmla="*/ 1 h 188"/>
                  <a:gd name="T48" fmla="*/ 2 w 658"/>
                  <a:gd name="T49" fmla="*/ 1 h 188"/>
                  <a:gd name="T50" fmla="*/ 2 w 658"/>
                  <a:gd name="T51" fmla="*/ 1 h 188"/>
                  <a:gd name="T52" fmla="*/ 2 w 658"/>
                  <a:gd name="T53" fmla="*/ 1 h 188"/>
                  <a:gd name="T54" fmla="*/ 2 w 658"/>
                  <a:gd name="T55" fmla="*/ 1 h 188"/>
                  <a:gd name="T56" fmla="*/ 2 w 658"/>
                  <a:gd name="T57" fmla="*/ 1 h 188"/>
                  <a:gd name="T58" fmla="*/ 2 w 658"/>
                  <a:gd name="T59" fmla="*/ 1 h 188"/>
                  <a:gd name="T60" fmla="*/ 2 w 658"/>
                  <a:gd name="T61" fmla="*/ 1 h 188"/>
                  <a:gd name="T62" fmla="*/ 2 w 658"/>
                  <a:gd name="T63" fmla="*/ 1 h 188"/>
                  <a:gd name="T64" fmla="*/ 3 w 658"/>
                  <a:gd name="T65" fmla="*/ 1 h 188"/>
                  <a:gd name="T66" fmla="*/ 3 w 658"/>
                  <a:gd name="T67" fmla="*/ 1 h 188"/>
                  <a:gd name="T68" fmla="*/ 3 w 658"/>
                  <a:gd name="T69" fmla="*/ 1 h 188"/>
                  <a:gd name="T70" fmla="*/ 3 w 658"/>
                  <a:gd name="T71" fmla="*/ 1 h 188"/>
                  <a:gd name="T72" fmla="*/ 3 w 658"/>
                  <a:gd name="T73" fmla="*/ 1 h 188"/>
                  <a:gd name="T74" fmla="*/ 3 w 658"/>
                  <a:gd name="T75" fmla="*/ 1 h 188"/>
                  <a:gd name="T76" fmla="*/ 3 w 658"/>
                  <a:gd name="T77" fmla="*/ 1 h 188"/>
                  <a:gd name="T78" fmla="*/ 3 w 658"/>
                  <a:gd name="T79" fmla="*/ 1 h 188"/>
                  <a:gd name="T80" fmla="*/ 3 w 658"/>
                  <a:gd name="T81" fmla="*/ 1 h 188"/>
                  <a:gd name="T82" fmla="*/ 3 w 658"/>
                  <a:gd name="T83" fmla="*/ 1 h 188"/>
                  <a:gd name="T84" fmla="*/ 3 w 658"/>
                  <a:gd name="T85" fmla="*/ 1 h 188"/>
                  <a:gd name="T86" fmla="*/ 3 w 658"/>
                  <a:gd name="T87" fmla="*/ 1 h 188"/>
                  <a:gd name="T88" fmla="*/ 3 w 658"/>
                  <a:gd name="T89" fmla="*/ 1 h 188"/>
                  <a:gd name="T90" fmla="*/ 3 w 658"/>
                  <a:gd name="T91" fmla="*/ 1 h 188"/>
                  <a:gd name="T92" fmla="*/ 3 w 658"/>
                  <a:gd name="T93" fmla="*/ 1 h 188"/>
                  <a:gd name="T94" fmla="*/ 3 w 658"/>
                  <a:gd name="T95" fmla="*/ 1 h 188"/>
                  <a:gd name="T96" fmla="*/ 3 w 658"/>
                  <a:gd name="T97" fmla="*/ 1 h 188"/>
                  <a:gd name="T98" fmla="*/ 2 w 658"/>
                  <a:gd name="T99" fmla="*/ 1 h 188"/>
                  <a:gd name="T100" fmla="*/ 2 w 658"/>
                  <a:gd name="T101" fmla="*/ 1 h 188"/>
                  <a:gd name="T102" fmla="*/ 2 w 658"/>
                  <a:gd name="T103" fmla="*/ 1 h 188"/>
                  <a:gd name="T104" fmla="*/ 2 w 658"/>
                  <a:gd name="T105" fmla="*/ 1 h 188"/>
                  <a:gd name="T106" fmla="*/ 2 w 658"/>
                  <a:gd name="T107" fmla="*/ 1 h 188"/>
                  <a:gd name="T108" fmla="*/ 2 w 658"/>
                  <a:gd name="T109" fmla="*/ 1 h 188"/>
                  <a:gd name="T110" fmla="*/ 2 w 658"/>
                  <a:gd name="T111" fmla="*/ 1 h 18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58"/>
                  <a:gd name="T169" fmla="*/ 0 h 188"/>
                  <a:gd name="T170" fmla="*/ 658 w 658"/>
                  <a:gd name="T171" fmla="*/ 188 h 18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58" h="188">
                    <a:moveTo>
                      <a:pt x="418" y="33"/>
                    </a:moveTo>
                    <a:lnTo>
                      <a:pt x="409" y="30"/>
                    </a:lnTo>
                    <a:lnTo>
                      <a:pt x="402" y="30"/>
                    </a:lnTo>
                    <a:lnTo>
                      <a:pt x="393" y="28"/>
                    </a:lnTo>
                    <a:lnTo>
                      <a:pt x="386" y="28"/>
                    </a:lnTo>
                    <a:lnTo>
                      <a:pt x="378" y="27"/>
                    </a:lnTo>
                    <a:lnTo>
                      <a:pt x="370" y="27"/>
                    </a:lnTo>
                    <a:lnTo>
                      <a:pt x="363" y="26"/>
                    </a:lnTo>
                    <a:lnTo>
                      <a:pt x="355" y="26"/>
                    </a:lnTo>
                    <a:lnTo>
                      <a:pt x="348" y="24"/>
                    </a:lnTo>
                    <a:lnTo>
                      <a:pt x="340" y="23"/>
                    </a:lnTo>
                    <a:lnTo>
                      <a:pt x="332" y="21"/>
                    </a:lnTo>
                    <a:lnTo>
                      <a:pt x="325" y="21"/>
                    </a:lnTo>
                    <a:lnTo>
                      <a:pt x="316" y="18"/>
                    </a:lnTo>
                    <a:lnTo>
                      <a:pt x="309" y="16"/>
                    </a:lnTo>
                    <a:lnTo>
                      <a:pt x="302" y="13"/>
                    </a:lnTo>
                    <a:lnTo>
                      <a:pt x="295" y="10"/>
                    </a:lnTo>
                    <a:lnTo>
                      <a:pt x="276" y="6"/>
                    </a:lnTo>
                    <a:lnTo>
                      <a:pt x="258" y="1"/>
                    </a:lnTo>
                    <a:lnTo>
                      <a:pt x="237" y="0"/>
                    </a:lnTo>
                    <a:lnTo>
                      <a:pt x="220" y="0"/>
                    </a:lnTo>
                    <a:lnTo>
                      <a:pt x="200" y="1"/>
                    </a:lnTo>
                    <a:lnTo>
                      <a:pt x="182" y="4"/>
                    </a:lnTo>
                    <a:lnTo>
                      <a:pt x="163" y="7"/>
                    </a:lnTo>
                    <a:lnTo>
                      <a:pt x="145" y="11"/>
                    </a:lnTo>
                    <a:lnTo>
                      <a:pt x="126" y="17"/>
                    </a:lnTo>
                    <a:lnTo>
                      <a:pt x="107" y="23"/>
                    </a:lnTo>
                    <a:lnTo>
                      <a:pt x="89" y="31"/>
                    </a:lnTo>
                    <a:lnTo>
                      <a:pt x="72" y="40"/>
                    </a:lnTo>
                    <a:lnTo>
                      <a:pt x="53" y="48"/>
                    </a:lnTo>
                    <a:lnTo>
                      <a:pt x="36" y="58"/>
                    </a:lnTo>
                    <a:lnTo>
                      <a:pt x="19" y="70"/>
                    </a:lnTo>
                    <a:lnTo>
                      <a:pt x="2" y="81"/>
                    </a:lnTo>
                    <a:lnTo>
                      <a:pt x="0" y="83"/>
                    </a:lnTo>
                    <a:lnTo>
                      <a:pt x="2" y="84"/>
                    </a:lnTo>
                    <a:lnTo>
                      <a:pt x="3" y="86"/>
                    </a:lnTo>
                    <a:lnTo>
                      <a:pt x="4" y="88"/>
                    </a:lnTo>
                    <a:lnTo>
                      <a:pt x="7" y="87"/>
                    </a:lnTo>
                    <a:lnTo>
                      <a:pt x="10" y="87"/>
                    </a:lnTo>
                    <a:lnTo>
                      <a:pt x="14" y="86"/>
                    </a:lnTo>
                    <a:lnTo>
                      <a:pt x="17" y="84"/>
                    </a:lnTo>
                    <a:lnTo>
                      <a:pt x="20" y="83"/>
                    </a:lnTo>
                    <a:lnTo>
                      <a:pt x="24" y="81"/>
                    </a:lnTo>
                    <a:lnTo>
                      <a:pt x="27" y="78"/>
                    </a:lnTo>
                    <a:lnTo>
                      <a:pt x="30" y="77"/>
                    </a:lnTo>
                    <a:lnTo>
                      <a:pt x="34" y="74"/>
                    </a:lnTo>
                    <a:lnTo>
                      <a:pt x="37" y="71"/>
                    </a:lnTo>
                    <a:lnTo>
                      <a:pt x="40" y="70"/>
                    </a:lnTo>
                    <a:lnTo>
                      <a:pt x="44" y="67"/>
                    </a:lnTo>
                    <a:lnTo>
                      <a:pt x="47" y="66"/>
                    </a:lnTo>
                    <a:lnTo>
                      <a:pt x="52" y="63"/>
                    </a:lnTo>
                    <a:lnTo>
                      <a:pt x="54" y="61"/>
                    </a:lnTo>
                    <a:lnTo>
                      <a:pt x="59" y="60"/>
                    </a:lnTo>
                    <a:lnTo>
                      <a:pt x="75" y="51"/>
                    </a:lnTo>
                    <a:lnTo>
                      <a:pt x="92" y="43"/>
                    </a:lnTo>
                    <a:lnTo>
                      <a:pt x="109" y="34"/>
                    </a:lnTo>
                    <a:lnTo>
                      <a:pt x="125" y="28"/>
                    </a:lnTo>
                    <a:lnTo>
                      <a:pt x="142" y="23"/>
                    </a:lnTo>
                    <a:lnTo>
                      <a:pt x="159" y="18"/>
                    </a:lnTo>
                    <a:lnTo>
                      <a:pt x="176" y="14"/>
                    </a:lnTo>
                    <a:lnTo>
                      <a:pt x="195" y="13"/>
                    </a:lnTo>
                    <a:lnTo>
                      <a:pt x="210" y="10"/>
                    </a:lnTo>
                    <a:lnTo>
                      <a:pt x="229" y="10"/>
                    </a:lnTo>
                    <a:lnTo>
                      <a:pt x="246" y="11"/>
                    </a:lnTo>
                    <a:lnTo>
                      <a:pt x="263" y="14"/>
                    </a:lnTo>
                    <a:lnTo>
                      <a:pt x="280" y="17"/>
                    </a:lnTo>
                    <a:lnTo>
                      <a:pt x="298" y="21"/>
                    </a:lnTo>
                    <a:lnTo>
                      <a:pt x="315" y="27"/>
                    </a:lnTo>
                    <a:lnTo>
                      <a:pt x="333" y="34"/>
                    </a:lnTo>
                    <a:lnTo>
                      <a:pt x="340" y="34"/>
                    </a:lnTo>
                    <a:lnTo>
                      <a:pt x="348" y="36"/>
                    </a:lnTo>
                    <a:lnTo>
                      <a:pt x="355" y="36"/>
                    </a:lnTo>
                    <a:lnTo>
                      <a:pt x="362" y="37"/>
                    </a:lnTo>
                    <a:lnTo>
                      <a:pt x="369" y="37"/>
                    </a:lnTo>
                    <a:lnTo>
                      <a:pt x="378" y="37"/>
                    </a:lnTo>
                    <a:lnTo>
                      <a:pt x="385" y="37"/>
                    </a:lnTo>
                    <a:lnTo>
                      <a:pt x="392" y="38"/>
                    </a:lnTo>
                    <a:lnTo>
                      <a:pt x="398" y="38"/>
                    </a:lnTo>
                    <a:lnTo>
                      <a:pt x="405" y="40"/>
                    </a:lnTo>
                    <a:lnTo>
                      <a:pt x="412" y="41"/>
                    </a:lnTo>
                    <a:lnTo>
                      <a:pt x="419" y="44"/>
                    </a:lnTo>
                    <a:lnTo>
                      <a:pt x="426" y="46"/>
                    </a:lnTo>
                    <a:lnTo>
                      <a:pt x="433" y="48"/>
                    </a:lnTo>
                    <a:lnTo>
                      <a:pt x="439" y="53"/>
                    </a:lnTo>
                    <a:lnTo>
                      <a:pt x="446" y="57"/>
                    </a:lnTo>
                    <a:lnTo>
                      <a:pt x="452" y="60"/>
                    </a:lnTo>
                    <a:lnTo>
                      <a:pt x="458" y="63"/>
                    </a:lnTo>
                    <a:lnTo>
                      <a:pt x="463" y="66"/>
                    </a:lnTo>
                    <a:lnTo>
                      <a:pt x="469" y="70"/>
                    </a:lnTo>
                    <a:lnTo>
                      <a:pt x="475" y="74"/>
                    </a:lnTo>
                    <a:lnTo>
                      <a:pt x="481" y="77"/>
                    </a:lnTo>
                    <a:lnTo>
                      <a:pt x="486" y="81"/>
                    </a:lnTo>
                    <a:lnTo>
                      <a:pt x="492" y="86"/>
                    </a:lnTo>
                    <a:lnTo>
                      <a:pt x="498" y="87"/>
                    </a:lnTo>
                    <a:lnTo>
                      <a:pt x="505" y="90"/>
                    </a:lnTo>
                    <a:lnTo>
                      <a:pt x="511" y="93"/>
                    </a:lnTo>
                    <a:lnTo>
                      <a:pt x="516" y="94"/>
                    </a:lnTo>
                    <a:lnTo>
                      <a:pt x="523" y="96"/>
                    </a:lnTo>
                    <a:lnTo>
                      <a:pt x="531" y="96"/>
                    </a:lnTo>
                    <a:lnTo>
                      <a:pt x="536" y="96"/>
                    </a:lnTo>
                    <a:lnTo>
                      <a:pt x="545" y="96"/>
                    </a:lnTo>
                    <a:lnTo>
                      <a:pt x="553" y="96"/>
                    </a:lnTo>
                    <a:lnTo>
                      <a:pt x="562" y="97"/>
                    </a:lnTo>
                    <a:lnTo>
                      <a:pt x="571" y="100"/>
                    </a:lnTo>
                    <a:lnTo>
                      <a:pt x="579" y="103"/>
                    </a:lnTo>
                    <a:lnTo>
                      <a:pt x="586" y="107"/>
                    </a:lnTo>
                    <a:lnTo>
                      <a:pt x="593" y="113"/>
                    </a:lnTo>
                    <a:lnTo>
                      <a:pt x="601" y="118"/>
                    </a:lnTo>
                    <a:lnTo>
                      <a:pt x="609" y="124"/>
                    </a:lnTo>
                    <a:lnTo>
                      <a:pt x="615" y="131"/>
                    </a:lnTo>
                    <a:lnTo>
                      <a:pt x="621" y="138"/>
                    </a:lnTo>
                    <a:lnTo>
                      <a:pt x="626" y="146"/>
                    </a:lnTo>
                    <a:lnTo>
                      <a:pt x="632" y="154"/>
                    </a:lnTo>
                    <a:lnTo>
                      <a:pt x="636" y="161"/>
                    </a:lnTo>
                    <a:lnTo>
                      <a:pt x="641" y="170"/>
                    </a:lnTo>
                    <a:lnTo>
                      <a:pt x="645" y="180"/>
                    </a:lnTo>
                    <a:lnTo>
                      <a:pt x="649" y="188"/>
                    </a:lnTo>
                    <a:lnTo>
                      <a:pt x="651" y="188"/>
                    </a:lnTo>
                    <a:lnTo>
                      <a:pt x="652" y="188"/>
                    </a:lnTo>
                    <a:lnTo>
                      <a:pt x="655" y="187"/>
                    </a:lnTo>
                    <a:lnTo>
                      <a:pt x="658" y="187"/>
                    </a:lnTo>
                    <a:lnTo>
                      <a:pt x="656" y="180"/>
                    </a:lnTo>
                    <a:lnTo>
                      <a:pt x="654" y="173"/>
                    </a:lnTo>
                    <a:lnTo>
                      <a:pt x="651" y="166"/>
                    </a:lnTo>
                    <a:lnTo>
                      <a:pt x="648" y="158"/>
                    </a:lnTo>
                    <a:lnTo>
                      <a:pt x="645" y="151"/>
                    </a:lnTo>
                    <a:lnTo>
                      <a:pt x="641" y="146"/>
                    </a:lnTo>
                    <a:lnTo>
                      <a:pt x="636" y="140"/>
                    </a:lnTo>
                    <a:lnTo>
                      <a:pt x="634" y="134"/>
                    </a:lnTo>
                    <a:lnTo>
                      <a:pt x="628" y="128"/>
                    </a:lnTo>
                    <a:lnTo>
                      <a:pt x="623" y="123"/>
                    </a:lnTo>
                    <a:lnTo>
                      <a:pt x="619" y="118"/>
                    </a:lnTo>
                    <a:lnTo>
                      <a:pt x="613" y="114"/>
                    </a:lnTo>
                    <a:lnTo>
                      <a:pt x="609" y="110"/>
                    </a:lnTo>
                    <a:lnTo>
                      <a:pt x="605" y="106"/>
                    </a:lnTo>
                    <a:lnTo>
                      <a:pt x="601" y="101"/>
                    </a:lnTo>
                    <a:lnTo>
                      <a:pt x="596" y="98"/>
                    </a:lnTo>
                    <a:lnTo>
                      <a:pt x="589" y="94"/>
                    </a:lnTo>
                    <a:lnTo>
                      <a:pt x="582" y="91"/>
                    </a:lnTo>
                    <a:lnTo>
                      <a:pt x="576" y="88"/>
                    </a:lnTo>
                    <a:lnTo>
                      <a:pt x="569" y="88"/>
                    </a:lnTo>
                    <a:lnTo>
                      <a:pt x="562" y="87"/>
                    </a:lnTo>
                    <a:lnTo>
                      <a:pt x="555" y="86"/>
                    </a:lnTo>
                    <a:lnTo>
                      <a:pt x="548" y="86"/>
                    </a:lnTo>
                    <a:lnTo>
                      <a:pt x="541" y="86"/>
                    </a:lnTo>
                    <a:lnTo>
                      <a:pt x="533" y="86"/>
                    </a:lnTo>
                    <a:lnTo>
                      <a:pt x="526" y="86"/>
                    </a:lnTo>
                    <a:lnTo>
                      <a:pt x="519" y="84"/>
                    </a:lnTo>
                    <a:lnTo>
                      <a:pt x="512" y="83"/>
                    </a:lnTo>
                    <a:lnTo>
                      <a:pt x="505" y="81"/>
                    </a:lnTo>
                    <a:lnTo>
                      <a:pt x="499" y="78"/>
                    </a:lnTo>
                    <a:lnTo>
                      <a:pt x="492" y="74"/>
                    </a:lnTo>
                    <a:lnTo>
                      <a:pt x="486" y="71"/>
                    </a:lnTo>
                    <a:lnTo>
                      <a:pt x="483" y="67"/>
                    </a:lnTo>
                    <a:lnTo>
                      <a:pt x="479" y="64"/>
                    </a:lnTo>
                    <a:lnTo>
                      <a:pt x="475" y="61"/>
                    </a:lnTo>
                    <a:lnTo>
                      <a:pt x="471" y="60"/>
                    </a:lnTo>
                    <a:lnTo>
                      <a:pt x="466" y="57"/>
                    </a:lnTo>
                    <a:lnTo>
                      <a:pt x="462" y="54"/>
                    </a:lnTo>
                    <a:lnTo>
                      <a:pt x="458" y="51"/>
                    </a:lnTo>
                    <a:lnTo>
                      <a:pt x="453" y="50"/>
                    </a:lnTo>
                    <a:lnTo>
                      <a:pt x="449" y="47"/>
                    </a:lnTo>
                    <a:lnTo>
                      <a:pt x="445" y="46"/>
                    </a:lnTo>
                    <a:lnTo>
                      <a:pt x="439" y="43"/>
                    </a:lnTo>
                    <a:lnTo>
                      <a:pt x="435" y="41"/>
                    </a:lnTo>
                    <a:lnTo>
                      <a:pt x="430" y="38"/>
                    </a:lnTo>
                    <a:lnTo>
                      <a:pt x="426" y="37"/>
                    </a:lnTo>
                    <a:lnTo>
                      <a:pt x="420" y="34"/>
                    </a:lnTo>
                    <a:lnTo>
                      <a:pt x="418" y="33"/>
                    </a:lnTo>
                    <a:close/>
                  </a:path>
                </a:pathLst>
              </a:custGeom>
              <a:solidFill>
                <a:srgbClr val="A1A3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3" name="Freeform 35"/>
              <p:cNvSpPr>
                <a:spLocks/>
              </p:cNvSpPr>
              <p:nvPr/>
            </p:nvSpPr>
            <p:spPr bwMode="auto">
              <a:xfrm>
                <a:off x="2133" y="1254"/>
                <a:ext cx="223" cy="68"/>
              </a:xfrm>
              <a:custGeom>
                <a:avLst/>
                <a:gdLst>
                  <a:gd name="T0" fmla="*/ 1 w 446"/>
                  <a:gd name="T1" fmla="*/ 1 h 136"/>
                  <a:gd name="T2" fmla="*/ 1 w 446"/>
                  <a:gd name="T3" fmla="*/ 0 h 136"/>
                  <a:gd name="T4" fmla="*/ 1 w 446"/>
                  <a:gd name="T5" fmla="*/ 1 h 136"/>
                  <a:gd name="T6" fmla="*/ 1 w 446"/>
                  <a:gd name="T7" fmla="*/ 1 h 136"/>
                  <a:gd name="T8" fmla="*/ 1 w 446"/>
                  <a:gd name="T9" fmla="*/ 1 h 136"/>
                  <a:gd name="T10" fmla="*/ 1 w 446"/>
                  <a:gd name="T11" fmla="*/ 1 h 136"/>
                  <a:gd name="T12" fmla="*/ 1 w 446"/>
                  <a:gd name="T13" fmla="*/ 1 h 136"/>
                  <a:gd name="T14" fmla="*/ 1 w 446"/>
                  <a:gd name="T15" fmla="*/ 1 h 136"/>
                  <a:gd name="T16" fmla="*/ 1 w 446"/>
                  <a:gd name="T17" fmla="*/ 1 h 136"/>
                  <a:gd name="T18" fmla="*/ 1 w 446"/>
                  <a:gd name="T19" fmla="*/ 1 h 136"/>
                  <a:gd name="T20" fmla="*/ 1 w 446"/>
                  <a:gd name="T21" fmla="*/ 1 h 136"/>
                  <a:gd name="T22" fmla="*/ 0 w 446"/>
                  <a:gd name="T23" fmla="*/ 1 h 136"/>
                  <a:gd name="T24" fmla="*/ 1 w 446"/>
                  <a:gd name="T25" fmla="*/ 1 h 136"/>
                  <a:gd name="T26" fmla="*/ 1 w 446"/>
                  <a:gd name="T27" fmla="*/ 1 h 136"/>
                  <a:gd name="T28" fmla="*/ 1 w 446"/>
                  <a:gd name="T29" fmla="*/ 1 h 136"/>
                  <a:gd name="T30" fmla="*/ 1 w 446"/>
                  <a:gd name="T31" fmla="*/ 1 h 136"/>
                  <a:gd name="T32" fmla="*/ 1 w 446"/>
                  <a:gd name="T33" fmla="*/ 1 h 136"/>
                  <a:gd name="T34" fmla="*/ 1 w 446"/>
                  <a:gd name="T35" fmla="*/ 1 h 136"/>
                  <a:gd name="T36" fmla="*/ 1 w 446"/>
                  <a:gd name="T37" fmla="*/ 1 h 136"/>
                  <a:gd name="T38" fmla="*/ 1 w 446"/>
                  <a:gd name="T39" fmla="*/ 1 h 136"/>
                  <a:gd name="T40" fmla="*/ 1 w 446"/>
                  <a:gd name="T41" fmla="*/ 1 h 136"/>
                  <a:gd name="T42" fmla="*/ 1 w 446"/>
                  <a:gd name="T43" fmla="*/ 1 h 136"/>
                  <a:gd name="T44" fmla="*/ 1 w 446"/>
                  <a:gd name="T45" fmla="*/ 1 h 136"/>
                  <a:gd name="T46" fmla="*/ 2 w 446"/>
                  <a:gd name="T47" fmla="*/ 1 h 136"/>
                  <a:gd name="T48" fmla="*/ 2 w 446"/>
                  <a:gd name="T49" fmla="*/ 1 h 136"/>
                  <a:gd name="T50" fmla="*/ 2 w 446"/>
                  <a:gd name="T51" fmla="*/ 1 h 136"/>
                  <a:gd name="T52" fmla="*/ 2 w 446"/>
                  <a:gd name="T53" fmla="*/ 1 h 136"/>
                  <a:gd name="T54" fmla="*/ 2 w 446"/>
                  <a:gd name="T55" fmla="*/ 1 h 136"/>
                  <a:gd name="T56" fmla="*/ 2 w 446"/>
                  <a:gd name="T57" fmla="*/ 1 h 136"/>
                  <a:gd name="T58" fmla="*/ 2 w 446"/>
                  <a:gd name="T59" fmla="*/ 1 h 136"/>
                  <a:gd name="T60" fmla="*/ 2 w 446"/>
                  <a:gd name="T61" fmla="*/ 1 h 136"/>
                  <a:gd name="T62" fmla="*/ 2 w 446"/>
                  <a:gd name="T63" fmla="*/ 1 h 136"/>
                  <a:gd name="T64" fmla="*/ 2 w 446"/>
                  <a:gd name="T65" fmla="*/ 1 h 136"/>
                  <a:gd name="T66" fmla="*/ 2 w 446"/>
                  <a:gd name="T67" fmla="*/ 1 h 136"/>
                  <a:gd name="T68" fmla="*/ 2 w 446"/>
                  <a:gd name="T69" fmla="*/ 1 h 136"/>
                  <a:gd name="T70" fmla="*/ 2 w 446"/>
                  <a:gd name="T71" fmla="*/ 1 h 136"/>
                  <a:gd name="T72" fmla="*/ 2 w 446"/>
                  <a:gd name="T73" fmla="*/ 1 h 136"/>
                  <a:gd name="T74" fmla="*/ 2 w 446"/>
                  <a:gd name="T75" fmla="*/ 1 h 136"/>
                  <a:gd name="T76" fmla="*/ 2 w 446"/>
                  <a:gd name="T77" fmla="*/ 1 h 136"/>
                  <a:gd name="T78" fmla="*/ 2 w 446"/>
                  <a:gd name="T79" fmla="*/ 1 h 136"/>
                  <a:gd name="T80" fmla="*/ 2 w 446"/>
                  <a:gd name="T81" fmla="*/ 1 h 136"/>
                  <a:gd name="T82" fmla="*/ 2 w 446"/>
                  <a:gd name="T83" fmla="*/ 1 h 136"/>
                  <a:gd name="T84" fmla="*/ 2 w 446"/>
                  <a:gd name="T85" fmla="*/ 1 h 136"/>
                  <a:gd name="T86" fmla="*/ 2 w 446"/>
                  <a:gd name="T87" fmla="*/ 1 h 136"/>
                  <a:gd name="T88" fmla="*/ 2 w 446"/>
                  <a:gd name="T89" fmla="*/ 1 h 136"/>
                  <a:gd name="T90" fmla="*/ 1 w 446"/>
                  <a:gd name="T91" fmla="*/ 1 h 1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6"/>
                  <a:gd name="T139" fmla="*/ 0 h 136"/>
                  <a:gd name="T140" fmla="*/ 446 w 446"/>
                  <a:gd name="T141" fmla="*/ 136 h 1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6" h="136">
                    <a:moveTo>
                      <a:pt x="249" y="12"/>
                    </a:moveTo>
                    <a:lnTo>
                      <a:pt x="239" y="7"/>
                    </a:lnTo>
                    <a:lnTo>
                      <a:pt x="229" y="4"/>
                    </a:lnTo>
                    <a:lnTo>
                      <a:pt x="219" y="3"/>
                    </a:lnTo>
                    <a:lnTo>
                      <a:pt x="209" y="2"/>
                    </a:lnTo>
                    <a:lnTo>
                      <a:pt x="199" y="0"/>
                    </a:lnTo>
                    <a:lnTo>
                      <a:pt x="189" y="0"/>
                    </a:lnTo>
                    <a:lnTo>
                      <a:pt x="178" y="0"/>
                    </a:lnTo>
                    <a:lnTo>
                      <a:pt x="169" y="2"/>
                    </a:lnTo>
                    <a:lnTo>
                      <a:pt x="158" y="2"/>
                    </a:lnTo>
                    <a:lnTo>
                      <a:pt x="147" y="3"/>
                    </a:lnTo>
                    <a:lnTo>
                      <a:pt x="137" y="4"/>
                    </a:lnTo>
                    <a:lnTo>
                      <a:pt x="127" y="6"/>
                    </a:lnTo>
                    <a:lnTo>
                      <a:pt x="117" y="7"/>
                    </a:lnTo>
                    <a:lnTo>
                      <a:pt x="107" y="9"/>
                    </a:lnTo>
                    <a:lnTo>
                      <a:pt x="96" y="9"/>
                    </a:lnTo>
                    <a:lnTo>
                      <a:pt x="87" y="10"/>
                    </a:lnTo>
                    <a:lnTo>
                      <a:pt x="80" y="10"/>
                    </a:lnTo>
                    <a:lnTo>
                      <a:pt x="75" y="10"/>
                    </a:lnTo>
                    <a:lnTo>
                      <a:pt x="69" y="12"/>
                    </a:lnTo>
                    <a:lnTo>
                      <a:pt x="65" y="12"/>
                    </a:lnTo>
                    <a:lnTo>
                      <a:pt x="57" y="13"/>
                    </a:lnTo>
                    <a:lnTo>
                      <a:pt x="53" y="13"/>
                    </a:lnTo>
                    <a:lnTo>
                      <a:pt x="47" y="14"/>
                    </a:lnTo>
                    <a:lnTo>
                      <a:pt x="43" y="16"/>
                    </a:lnTo>
                    <a:lnTo>
                      <a:pt x="37" y="17"/>
                    </a:lnTo>
                    <a:lnTo>
                      <a:pt x="33" y="19"/>
                    </a:lnTo>
                    <a:lnTo>
                      <a:pt x="27" y="20"/>
                    </a:lnTo>
                    <a:lnTo>
                      <a:pt x="23" y="23"/>
                    </a:lnTo>
                    <a:lnTo>
                      <a:pt x="19" y="26"/>
                    </a:lnTo>
                    <a:lnTo>
                      <a:pt x="15" y="29"/>
                    </a:lnTo>
                    <a:lnTo>
                      <a:pt x="10" y="32"/>
                    </a:lnTo>
                    <a:lnTo>
                      <a:pt x="5" y="36"/>
                    </a:lnTo>
                    <a:lnTo>
                      <a:pt x="3" y="37"/>
                    </a:lnTo>
                    <a:lnTo>
                      <a:pt x="2" y="40"/>
                    </a:lnTo>
                    <a:lnTo>
                      <a:pt x="0" y="44"/>
                    </a:lnTo>
                    <a:lnTo>
                      <a:pt x="2" y="47"/>
                    </a:lnTo>
                    <a:lnTo>
                      <a:pt x="2" y="49"/>
                    </a:lnTo>
                    <a:lnTo>
                      <a:pt x="5" y="49"/>
                    </a:lnTo>
                    <a:lnTo>
                      <a:pt x="7" y="47"/>
                    </a:lnTo>
                    <a:lnTo>
                      <a:pt x="10" y="44"/>
                    </a:lnTo>
                    <a:lnTo>
                      <a:pt x="17" y="39"/>
                    </a:lnTo>
                    <a:lnTo>
                      <a:pt x="25" y="34"/>
                    </a:lnTo>
                    <a:lnTo>
                      <a:pt x="33" y="30"/>
                    </a:lnTo>
                    <a:lnTo>
                      <a:pt x="40" y="27"/>
                    </a:lnTo>
                    <a:lnTo>
                      <a:pt x="49" y="23"/>
                    </a:lnTo>
                    <a:lnTo>
                      <a:pt x="56" y="22"/>
                    </a:lnTo>
                    <a:lnTo>
                      <a:pt x="65" y="20"/>
                    </a:lnTo>
                    <a:lnTo>
                      <a:pt x="72" y="20"/>
                    </a:lnTo>
                    <a:lnTo>
                      <a:pt x="80" y="17"/>
                    </a:lnTo>
                    <a:lnTo>
                      <a:pt x="89" y="17"/>
                    </a:lnTo>
                    <a:lnTo>
                      <a:pt x="96" y="17"/>
                    </a:lnTo>
                    <a:lnTo>
                      <a:pt x="106" y="17"/>
                    </a:lnTo>
                    <a:lnTo>
                      <a:pt x="113" y="16"/>
                    </a:lnTo>
                    <a:lnTo>
                      <a:pt x="122" y="16"/>
                    </a:lnTo>
                    <a:lnTo>
                      <a:pt x="130" y="16"/>
                    </a:lnTo>
                    <a:lnTo>
                      <a:pt x="139" y="14"/>
                    </a:lnTo>
                    <a:lnTo>
                      <a:pt x="147" y="13"/>
                    </a:lnTo>
                    <a:lnTo>
                      <a:pt x="158" y="12"/>
                    </a:lnTo>
                    <a:lnTo>
                      <a:pt x="166" y="10"/>
                    </a:lnTo>
                    <a:lnTo>
                      <a:pt x="175" y="10"/>
                    </a:lnTo>
                    <a:lnTo>
                      <a:pt x="183" y="10"/>
                    </a:lnTo>
                    <a:lnTo>
                      <a:pt x="193" y="10"/>
                    </a:lnTo>
                    <a:lnTo>
                      <a:pt x="202" y="12"/>
                    </a:lnTo>
                    <a:lnTo>
                      <a:pt x="212" y="13"/>
                    </a:lnTo>
                    <a:lnTo>
                      <a:pt x="220" y="14"/>
                    </a:lnTo>
                    <a:lnTo>
                      <a:pt x="229" y="16"/>
                    </a:lnTo>
                    <a:lnTo>
                      <a:pt x="238" y="17"/>
                    </a:lnTo>
                    <a:lnTo>
                      <a:pt x="248" y="22"/>
                    </a:lnTo>
                    <a:lnTo>
                      <a:pt x="256" y="23"/>
                    </a:lnTo>
                    <a:lnTo>
                      <a:pt x="265" y="27"/>
                    </a:lnTo>
                    <a:lnTo>
                      <a:pt x="273" y="32"/>
                    </a:lnTo>
                    <a:lnTo>
                      <a:pt x="282" y="36"/>
                    </a:lnTo>
                    <a:lnTo>
                      <a:pt x="283" y="37"/>
                    </a:lnTo>
                    <a:lnTo>
                      <a:pt x="286" y="37"/>
                    </a:lnTo>
                    <a:lnTo>
                      <a:pt x="289" y="37"/>
                    </a:lnTo>
                    <a:lnTo>
                      <a:pt x="292" y="39"/>
                    </a:lnTo>
                    <a:lnTo>
                      <a:pt x="295" y="39"/>
                    </a:lnTo>
                    <a:lnTo>
                      <a:pt x="298" y="39"/>
                    </a:lnTo>
                    <a:lnTo>
                      <a:pt x="300" y="40"/>
                    </a:lnTo>
                    <a:lnTo>
                      <a:pt x="303" y="40"/>
                    </a:lnTo>
                    <a:lnTo>
                      <a:pt x="312" y="42"/>
                    </a:lnTo>
                    <a:lnTo>
                      <a:pt x="320" y="44"/>
                    </a:lnTo>
                    <a:lnTo>
                      <a:pt x="330" y="46"/>
                    </a:lnTo>
                    <a:lnTo>
                      <a:pt x="339" y="50"/>
                    </a:lnTo>
                    <a:lnTo>
                      <a:pt x="348" y="53"/>
                    </a:lnTo>
                    <a:lnTo>
                      <a:pt x="356" y="57"/>
                    </a:lnTo>
                    <a:lnTo>
                      <a:pt x="365" y="62"/>
                    </a:lnTo>
                    <a:lnTo>
                      <a:pt x="373" y="67"/>
                    </a:lnTo>
                    <a:lnTo>
                      <a:pt x="382" y="73"/>
                    </a:lnTo>
                    <a:lnTo>
                      <a:pt x="389" y="79"/>
                    </a:lnTo>
                    <a:lnTo>
                      <a:pt x="396" y="86"/>
                    </a:lnTo>
                    <a:lnTo>
                      <a:pt x="403" y="93"/>
                    </a:lnTo>
                    <a:lnTo>
                      <a:pt x="411" y="100"/>
                    </a:lnTo>
                    <a:lnTo>
                      <a:pt x="418" y="109"/>
                    </a:lnTo>
                    <a:lnTo>
                      <a:pt x="423" y="117"/>
                    </a:lnTo>
                    <a:lnTo>
                      <a:pt x="431" y="127"/>
                    </a:lnTo>
                    <a:lnTo>
                      <a:pt x="432" y="129"/>
                    </a:lnTo>
                    <a:lnTo>
                      <a:pt x="435" y="132"/>
                    </a:lnTo>
                    <a:lnTo>
                      <a:pt x="438" y="135"/>
                    </a:lnTo>
                    <a:lnTo>
                      <a:pt x="441" y="136"/>
                    </a:lnTo>
                    <a:lnTo>
                      <a:pt x="442" y="136"/>
                    </a:lnTo>
                    <a:lnTo>
                      <a:pt x="445" y="135"/>
                    </a:lnTo>
                    <a:lnTo>
                      <a:pt x="446" y="132"/>
                    </a:lnTo>
                    <a:lnTo>
                      <a:pt x="446" y="130"/>
                    </a:lnTo>
                    <a:lnTo>
                      <a:pt x="442" y="124"/>
                    </a:lnTo>
                    <a:lnTo>
                      <a:pt x="439" y="120"/>
                    </a:lnTo>
                    <a:lnTo>
                      <a:pt x="435" y="114"/>
                    </a:lnTo>
                    <a:lnTo>
                      <a:pt x="431" y="110"/>
                    </a:lnTo>
                    <a:lnTo>
                      <a:pt x="428" y="104"/>
                    </a:lnTo>
                    <a:lnTo>
                      <a:pt x="423" y="100"/>
                    </a:lnTo>
                    <a:lnTo>
                      <a:pt x="419" y="96"/>
                    </a:lnTo>
                    <a:lnTo>
                      <a:pt x="416" y="92"/>
                    </a:lnTo>
                    <a:lnTo>
                      <a:pt x="412" y="87"/>
                    </a:lnTo>
                    <a:lnTo>
                      <a:pt x="408" y="82"/>
                    </a:lnTo>
                    <a:lnTo>
                      <a:pt x="403" y="77"/>
                    </a:lnTo>
                    <a:lnTo>
                      <a:pt x="399" y="74"/>
                    </a:lnTo>
                    <a:lnTo>
                      <a:pt x="395" y="70"/>
                    </a:lnTo>
                    <a:lnTo>
                      <a:pt x="391" y="66"/>
                    </a:lnTo>
                    <a:lnTo>
                      <a:pt x="385" y="63"/>
                    </a:lnTo>
                    <a:lnTo>
                      <a:pt x="382" y="60"/>
                    </a:lnTo>
                    <a:lnTo>
                      <a:pt x="373" y="54"/>
                    </a:lnTo>
                    <a:lnTo>
                      <a:pt x="366" y="50"/>
                    </a:lnTo>
                    <a:lnTo>
                      <a:pt x="358" y="46"/>
                    </a:lnTo>
                    <a:lnTo>
                      <a:pt x="351" y="43"/>
                    </a:lnTo>
                    <a:lnTo>
                      <a:pt x="342" y="39"/>
                    </a:lnTo>
                    <a:lnTo>
                      <a:pt x="333" y="37"/>
                    </a:lnTo>
                    <a:lnTo>
                      <a:pt x="325" y="34"/>
                    </a:lnTo>
                    <a:lnTo>
                      <a:pt x="318" y="32"/>
                    </a:lnTo>
                    <a:lnTo>
                      <a:pt x="308" y="30"/>
                    </a:lnTo>
                    <a:lnTo>
                      <a:pt x="299" y="27"/>
                    </a:lnTo>
                    <a:lnTo>
                      <a:pt x="290" y="24"/>
                    </a:lnTo>
                    <a:lnTo>
                      <a:pt x="282" y="23"/>
                    </a:lnTo>
                    <a:lnTo>
                      <a:pt x="273" y="20"/>
                    </a:lnTo>
                    <a:lnTo>
                      <a:pt x="265" y="17"/>
                    </a:lnTo>
                    <a:lnTo>
                      <a:pt x="256" y="14"/>
                    </a:lnTo>
                    <a:lnTo>
                      <a:pt x="249" y="12"/>
                    </a:lnTo>
                    <a:close/>
                  </a:path>
                </a:pathLst>
              </a:custGeom>
              <a:solidFill>
                <a:srgbClr val="A1A3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4" name="Freeform 36"/>
              <p:cNvSpPr>
                <a:spLocks/>
              </p:cNvSpPr>
              <p:nvPr/>
            </p:nvSpPr>
            <p:spPr bwMode="auto">
              <a:xfrm>
                <a:off x="2189" y="1306"/>
                <a:ext cx="115" cy="28"/>
              </a:xfrm>
              <a:custGeom>
                <a:avLst/>
                <a:gdLst>
                  <a:gd name="T0" fmla="*/ 1 w 230"/>
                  <a:gd name="T1" fmla="*/ 1 h 56"/>
                  <a:gd name="T2" fmla="*/ 1 w 230"/>
                  <a:gd name="T3" fmla="*/ 0 h 56"/>
                  <a:gd name="T4" fmla="*/ 1 w 230"/>
                  <a:gd name="T5" fmla="*/ 0 h 56"/>
                  <a:gd name="T6" fmla="*/ 1 w 230"/>
                  <a:gd name="T7" fmla="*/ 0 h 56"/>
                  <a:gd name="T8" fmla="*/ 1 w 230"/>
                  <a:gd name="T9" fmla="*/ 1 h 56"/>
                  <a:gd name="T10" fmla="*/ 1 w 230"/>
                  <a:gd name="T11" fmla="*/ 1 h 56"/>
                  <a:gd name="T12" fmla="*/ 1 w 230"/>
                  <a:gd name="T13" fmla="*/ 1 h 56"/>
                  <a:gd name="T14" fmla="*/ 1 w 230"/>
                  <a:gd name="T15" fmla="*/ 1 h 56"/>
                  <a:gd name="T16" fmla="*/ 1 w 230"/>
                  <a:gd name="T17" fmla="*/ 1 h 56"/>
                  <a:gd name="T18" fmla="*/ 1 w 230"/>
                  <a:gd name="T19" fmla="*/ 1 h 56"/>
                  <a:gd name="T20" fmla="*/ 1 w 230"/>
                  <a:gd name="T21" fmla="*/ 1 h 56"/>
                  <a:gd name="T22" fmla="*/ 1 w 230"/>
                  <a:gd name="T23" fmla="*/ 1 h 56"/>
                  <a:gd name="T24" fmla="*/ 1 w 230"/>
                  <a:gd name="T25" fmla="*/ 1 h 56"/>
                  <a:gd name="T26" fmla="*/ 1 w 230"/>
                  <a:gd name="T27" fmla="*/ 1 h 56"/>
                  <a:gd name="T28" fmla="*/ 1 w 230"/>
                  <a:gd name="T29" fmla="*/ 1 h 56"/>
                  <a:gd name="T30" fmla="*/ 1 w 230"/>
                  <a:gd name="T31" fmla="*/ 1 h 56"/>
                  <a:gd name="T32" fmla="*/ 1 w 230"/>
                  <a:gd name="T33" fmla="*/ 1 h 56"/>
                  <a:gd name="T34" fmla="*/ 1 w 230"/>
                  <a:gd name="T35" fmla="*/ 1 h 56"/>
                  <a:gd name="T36" fmla="*/ 1 w 230"/>
                  <a:gd name="T37" fmla="*/ 1 h 56"/>
                  <a:gd name="T38" fmla="*/ 1 w 230"/>
                  <a:gd name="T39" fmla="*/ 1 h 56"/>
                  <a:gd name="T40" fmla="*/ 1 w 230"/>
                  <a:gd name="T41" fmla="*/ 1 h 56"/>
                  <a:gd name="T42" fmla="*/ 1 w 230"/>
                  <a:gd name="T43" fmla="*/ 1 h 56"/>
                  <a:gd name="T44" fmla="*/ 0 w 230"/>
                  <a:gd name="T45" fmla="*/ 1 h 56"/>
                  <a:gd name="T46" fmla="*/ 1 w 230"/>
                  <a:gd name="T47" fmla="*/ 1 h 56"/>
                  <a:gd name="T48" fmla="*/ 1 w 230"/>
                  <a:gd name="T49" fmla="*/ 1 h 56"/>
                  <a:gd name="T50" fmla="*/ 1 w 230"/>
                  <a:gd name="T51" fmla="*/ 1 h 56"/>
                  <a:gd name="T52" fmla="*/ 1 w 230"/>
                  <a:gd name="T53" fmla="*/ 1 h 56"/>
                  <a:gd name="T54" fmla="*/ 1 w 230"/>
                  <a:gd name="T55" fmla="*/ 1 h 56"/>
                  <a:gd name="T56" fmla="*/ 1 w 230"/>
                  <a:gd name="T57" fmla="*/ 1 h 56"/>
                  <a:gd name="T58" fmla="*/ 1 w 230"/>
                  <a:gd name="T59" fmla="*/ 1 h 56"/>
                  <a:gd name="T60" fmla="*/ 1 w 230"/>
                  <a:gd name="T61" fmla="*/ 1 h 56"/>
                  <a:gd name="T62" fmla="*/ 1 w 230"/>
                  <a:gd name="T63" fmla="*/ 1 h 56"/>
                  <a:gd name="T64" fmla="*/ 1 w 230"/>
                  <a:gd name="T65" fmla="*/ 1 h 56"/>
                  <a:gd name="T66" fmla="*/ 1 w 230"/>
                  <a:gd name="T67" fmla="*/ 1 h 56"/>
                  <a:gd name="T68" fmla="*/ 1 w 230"/>
                  <a:gd name="T69" fmla="*/ 1 h 56"/>
                  <a:gd name="T70" fmla="*/ 1 w 230"/>
                  <a:gd name="T71" fmla="*/ 1 h 56"/>
                  <a:gd name="T72" fmla="*/ 1 w 230"/>
                  <a:gd name="T73" fmla="*/ 1 h 56"/>
                  <a:gd name="T74" fmla="*/ 1 w 230"/>
                  <a:gd name="T75" fmla="*/ 1 h 56"/>
                  <a:gd name="T76" fmla="*/ 1 w 230"/>
                  <a:gd name="T77" fmla="*/ 1 h 56"/>
                  <a:gd name="T78" fmla="*/ 1 w 230"/>
                  <a:gd name="T79" fmla="*/ 1 h 56"/>
                  <a:gd name="T80" fmla="*/ 1 w 230"/>
                  <a:gd name="T81" fmla="*/ 1 h 56"/>
                  <a:gd name="T82" fmla="*/ 1 w 230"/>
                  <a:gd name="T83" fmla="*/ 1 h 56"/>
                  <a:gd name="T84" fmla="*/ 1 w 230"/>
                  <a:gd name="T85" fmla="*/ 1 h 56"/>
                  <a:gd name="T86" fmla="*/ 1 w 230"/>
                  <a:gd name="T87" fmla="*/ 1 h 56"/>
                  <a:gd name="T88" fmla="*/ 1 w 230"/>
                  <a:gd name="T89" fmla="*/ 1 h 56"/>
                  <a:gd name="T90" fmla="*/ 1 w 230"/>
                  <a:gd name="T91" fmla="*/ 1 h 56"/>
                  <a:gd name="T92" fmla="*/ 1 w 230"/>
                  <a:gd name="T93" fmla="*/ 1 h 56"/>
                  <a:gd name="T94" fmla="*/ 1 w 230"/>
                  <a:gd name="T95" fmla="*/ 1 h 56"/>
                  <a:gd name="T96" fmla="*/ 1 w 230"/>
                  <a:gd name="T97" fmla="*/ 1 h 56"/>
                  <a:gd name="T98" fmla="*/ 1 w 230"/>
                  <a:gd name="T99" fmla="*/ 1 h 56"/>
                  <a:gd name="T100" fmla="*/ 1 w 230"/>
                  <a:gd name="T101" fmla="*/ 1 h 56"/>
                  <a:gd name="T102" fmla="*/ 1 w 230"/>
                  <a:gd name="T103" fmla="*/ 1 h 56"/>
                  <a:gd name="T104" fmla="*/ 1 w 230"/>
                  <a:gd name="T105" fmla="*/ 1 h 56"/>
                  <a:gd name="T106" fmla="*/ 1 w 230"/>
                  <a:gd name="T107" fmla="*/ 1 h 5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30"/>
                  <a:gd name="T163" fmla="*/ 0 h 56"/>
                  <a:gd name="T164" fmla="*/ 230 w 230"/>
                  <a:gd name="T165" fmla="*/ 56 h 5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30" h="56">
                    <a:moveTo>
                      <a:pt x="176" y="5"/>
                    </a:moveTo>
                    <a:lnTo>
                      <a:pt x="173" y="2"/>
                    </a:lnTo>
                    <a:lnTo>
                      <a:pt x="170" y="2"/>
                    </a:lnTo>
                    <a:lnTo>
                      <a:pt x="167" y="0"/>
                    </a:lnTo>
                    <a:lnTo>
                      <a:pt x="164" y="0"/>
                    </a:lnTo>
                    <a:lnTo>
                      <a:pt x="158" y="0"/>
                    </a:lnTo>
                    <a:lnTo>
                      <a:pt x="154" y="0"/>
                    </a:lnTo>
                    <a:lnTo>
                      <a:pt x="148" y="0"/>
                    </a:lnTo>
                    <a:lnTo>
                      <a:pt x="144" y="2"/>
                    </a:lnTo>
                    <a:lnTo>
                      <a:pt x="140" y="2"/>
                    </a:lnTo>
                    <a:lnTo>
                      <a:pt x="138" y="2"/>
                    </a:lnTo>
                    <a:lnTo>
                      <a:pt x="136" y="2"/>
                    </a:lnTo>
                    <a:lnTo>
                      <a:pt x="133" y="3"/>
                    </a:lnTo>
                    <a:lnTo>
                      <a:pt x="128" y="3"/>
                    </a:lnTo>
                    <a:lnTo>
                      <a:pt x="124" y="3"/>
                    </a:lnTo>
                    <a:lnTo>
                      <a:pt x="121" y="3"/>
                    </a:lnTo>
                    <a:lnTo>
                      <a:pt x="117" y="5"/>
                    </a:lnTo>
                    <a:lnTo>
                      <a:pt x="114" y="5"/>
                    </a:lnTo>
                    <a:lnTo>
                      <a:pt x="110" y="5"/>
                    </a:lnTo>
                    <a:lnTo>
                      <a:pt x="106" y="5"/>
                    </a:lnTo>
                    <a:lnTo>
                      <a:pt x="103" y="5"/>
                    </a:lnTo>
                    <a:lnTo>
                      <a:pt x="98" y="3"/>
                    </a:lnTo>
                    <a:lnTo>
                      <a:pt x="94" y="3"/>
                    </a:lnTo>
                    <a:lnTo>
                      <a:pt x="90" y="3"/>
                    </a:lnTo>
                    <a:lnTo>
                      <a:pt x="87" y="3"/>
                    </a:lnTo>
                    <a:lnTo>
                      <a:pt x="83" y="3"/>
                    </a:lnTo>
                    <a:lnTo>
                      <a:pt x="78" y="2"/>
                    </a:lnTo>
                    <a:lnTo>
                      <a:pt x="76" y="2"/>
                    </a:lnTo>
                    <a:lnTo>
                      <a:pt x="73" y="2"/>
                    </a:lnTo>
                    <a:lnTo>
                      <a:pt x="68" y="2"/>
                    </a:lnTo>
                    <a:lnTo>
                      <a:pt x="63" y="2"/>
                    </a:lnTo>
                    <a:lnTo>
                      <a:pt x="57" y="2"/>
                    </a:lnTo>
                    <a:lnTo>
                      <a:pt x="53" y="2"/>
                    </a:lnTo>
                    <a:lnTo>
                      <a:pt x="47" y="2"/>
                    </a:lnTo>
                    <a:lnTo>
                      <a:pt x="43" y="2"/>
                    </a:lnTo>
                    <a:lnTo>
                      <a:pt x="37" y="3"/>
                    </a:lnTo>
                    <a:lnTo>
                      <a:pt x="33" y="5"/>
                    </a:lnTo>
                    <a:lnTo>
                      <a:pt x="27" y="6"/>
                    </a:lnTo>
                    <a:lnTo>
                      <a:pt x="21" y="8"/>
                    </a:lnTo>
                    <a:lnTo>
                      <a:pt x="17" y="9"/>
                    </a:lnTo>
                    <a:lnTo>
                      <a:pt x="13" y="12"/>
                    </a:lnTo>
                    <a:lnTo>
                      <a:pt x="8" y="15"/>
                    </a:lnTo>
                    <a:lnTo>
                      <a:pt x="5" y="18"/>
                    </a:lnTo>
                    <a:lnTo>
                      <a:pt x="1" y="22"/>
                    </a:lnTo>
                    <a:lnTo>
                      <a:pt x="0" y="26"/>
                    </a:lnTo>
                    <a:lnTo>
                      <a:pt x="0" y="29"/>
                    </a:lnTo>
                    <a:lnTo>
                      <a:pt x="1" y="31"/>
                    </a:lnTo>
                    <a:lnTo>
                      <a:pt x="1" y="32"/>
                    </a:lnTo>
                    <a:lnTo>
                      <a:pt x="3" y="33"/>
                    </a:lnTo>
                    <a:lnTo>
                      <a:pt x="5" y="32"/>
                    </a:lnTo>
                    <a:lnTo>
                      <a:pt x="8" y="31"/>
                    </a:lnTo>
                    <a:lnTo>
                      <a:pt x="15" y="25"/>
                    </a:lnTo>
                    <a:lnTo>
                      <a:pt x="23" y="19"/>
                    </a:lnTo>
                    <a:lnTo>
                      <a:pt x="30" y="15"/>
                    </a:lnTo>
                    <a:lnTo>
                      <a:pt x="38" y="13"/>
                    </a:lnTo>
                    <a:lnTo>
                      <a:pt x="47" y="12"/>
                    </a:lnTo>
                    <a:lnTo>
                      <a:pt x="56" y="12"/>
                    </a:lnTo>
                    <a:lnTo>
                      <a:pt x="64" y="12"/>
                    </a:lnTo>
                    <a:lnTo>
                      <a:pt x="74" y="12"/>
                    </a:lnTo>
                    <a:lnTo>
                      <a:pt x="84" y="12"/>
                    </a:lnTo>
                    <a:lnTo>
                      <a:pt x="93" y="13"/>
                    </a:lnTo>
                    <a:lnTo>
                      <a:pt x="103" y="13"/>
                    </a:lnTo>
                    <a:lnTo>
                      <a:pt x="113" y="15"/>
                    </a:lnTo>
                    <a:lnTo>
                      <a:pt x="121" y="15"/>
                    </a:lnTo>
                    <a:lnTo>
                      <a:pt x="131" y="15"/>
                    </a:lnTo>
                    <a:lnTo>
                      <a:pt x="140" y="13"/>
                    </a:lnTo>
                    <a:lnTo>
                      <a:pt x="150" y="12"/>
                    </a:lnTo>
                    <a:lnTo>
                      <a:pt x="154" y="12"/>
                    </a:lnTo>
                    <a:lnTo>
                      <a:pt x="160" y="12"/>
                    </a:lnTo>
                    <a:lnTo>
                      <a:pt x="164" y="12"/>
                    </a:lnTo>
                    <a:lnTo>
                      <a:pt x="170" y="13"/>
                    </a:lnTo>
                    <a:lnTo>
                      <a:pt x="176" y="15"/>
                    </a:lnTo>
                    <a:lnTo>
                      <a:pt x="181" y="16"/>
                    </a:lnTo>
                    <a:lnTo>
                      <a:pt x="186" y="18"/>
                    </a:lnTo>
                    <a:lnTo>
                      <a:pt x="191" y="20"/>
                    </a:lnTo>
                    <a:lnTo>
                      <a:pt x="196" y="23"/>
                    </a:lnTo>
                    <a:lnTo>
                      <a:pt x="200" y="26"/>
                    </a:lnTo>
                    <a:lnTo>
                      <a:pt x="204" y="29"/>
                    </a:lnTo>
                    <a:lnTo>
                      <a:pt x="208" y="33"/>
                    </a:lnTo>
                    <a:lnTo>
                      <a:pt x="213" y="36"/>
                    </a:lnTo>
                    <a:lnTo>
                      <a:pt x="216" y="42"/>
                    </a:lnTo>
                    <a:lnTo>
                      <a:pt x="218" y="46"/>
                    </a:lnTo>
                    <a:lnTo>
                      <a:pt x="221" y="52"/>
                    </a:lnTo>
                    <a:lnTo>
                      <a:pt x="223" y="55"/>
                    </a:lnTo>
                    <a:lnTo>
                      <a:pt x="226" y="56"/>
                    </a:lnTo>
                    <a:lnTo>
                      <a:pt x="227" y="56"/>
                    </a:lnTo>
                    <a:lnTo>
                      <a:pt x="230" y="55"/>
                    </a:lnTo>
                    <a:lnTo>
                      <a:pt x="230" y="52"/>
                    </a:lnTo>
                    <a:lnTo>
                      <a:pt x="230" y="49"/>
                    </a:lnTo>
                    <a:lnTo>
                      <a:pt x="230" y="46"/>
                    </a:lnTo>
                    <a:lnTo>
                      <a:pt x="228" y="42"/>
                    </a:lnTo>
                    <a:lnTo>
                      <a:pt x="227" y="39"/>
                    </a:lnTo>
                    <a:lnTo>
                      <a:pt x="226" y="35"/>
                    </a:lnTo>
                    <a:lnTo>
                      <a:pt x="221" y="32"/>
                    </a:lnTo>
                    <a:lnTo>
                      <a:pt x="220" y="29"/>
                    </a:lnTo>
                    <a:lnTo>
                      <a:pt x="216" y="26"/>
                    </a:lnTo>
                    <a:lnTo>
                      <a:pt x="213" y="23"/>
                    </a:lnTo>
                    <a:lnTo>
                      <a:pt x="208" y="20"/>
                    </a:lnTo>
                    <a:lnTo>
                      <a:pt x="206" y="18"/>
                    </a:lnTo>
                    <a:lnTo>
                      <a:pt x="201" y="15"/>
                    </a:lnTo>
                    <a:lnTo>
                      <a:pt x="197" y="13"/>
                    </a:lnTo>
                    <a:lnTo>
                      <a:pt x="193" y="12"/>
                    </a:lnTo>
                    <a:lnTo>
                      <a:pt x="190" y="9"/>
                    </a:lnTo>
                    <a:lnTo>
                      <a:pt x="186" y="8"/>
                    </a:lnTo>
                    <a:lnTo>
                      <a:pt x="183" y="6"/>
                    </a:lnTo>
                    <a:lnTo>
                      <a:pt x="178" y="5"/>
                    </a:lnTo>
                    <a:lnTo>
                      <a:pt x="176" y="5"/>
                    </a:lnTo>
                    <a:close/>
                  </a:path>
                </a:pathLst>
              </a:custGeom>
              <a:solidFill>
                <a:srgbClr val="A1A3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5" name="Freeform 37"/>
              <p:cNvSpPr>
                <a:spLocks/>
              </p:cNvSpPr>
              <p:nvPr/>
            </p:nvSpPr>
            <p:spPr bwMode="auto">
              <a:xfrm>
                <a:off x="2080" y="1245"/>
                <a:ext cx="276" cy="133"/>
              </a:xfrm>
              <a:custGeom>
                <a:avLst/>
                <a:gdLst>
                  <a:gd name="T0" fmla="*/ 1 w 552"/>
                  <a:gd name="T1" fmla="*/ 1 h 264"/>
                  <a:gd name="T2" fmla="*/ 1 w 552"/>
                  <a:gd name="T3" fmla="*/ 1 h 264"/>
                  <a:gd name="T4" fmla="*/ 1 w 552"/>
                  <a:gd name="T5" fmla="*/ 1 h 264"/>
                  <a:gd name="T6" fmla="*/ 1 w 552"/>
                  <a:gd name="T7" fmla="*/ 1 h 264"/>
                  <a:gd name="T8" fmla="*/ 1 w 552"/>
                  <a:gd name="T9" fmla="*/ 1 h 264"/>
                  <a:gd name="T10" fmla="*/ 1 w 552"/>
                  <a:gd name="T11" fmla="*/ 1 h 264"/>
                  <a:gd name="T12" fmla="*/ 1 w 552"/>
                  <a:gd name="T13" fmla="*/ 1 h 264"/>
                  <a:gd name="T14" fmla="*/ 1 w 552"/>
                  <a:gd name="T15" fmla="*/ 1 h 264"/>
                  <a:gd name="T16" fmla="*/ 1 w 552"/>
                  <a:gd name="T17" fmla="*/ 1 h 264"/>
                  <a:gd name="T18" fmla="*/ 1 w 552"/>
                  <a:gd name="T19" fmla="*/ 1 h 264"/>
                  <a:gd name="T20" fmla="*/ 1 w 552"/>
                  <a:gd name="T21" fmla="*/ 1 h 264"/>
                  <a:gd name="T22" fmla="*/ 1 w 552"/>
                  <a:gd name="T23" fmla="*/ 1 h 264"/>
                  <a:gd name="T24" fmla="*/ 1 w 552"/>
                  <a:gd name="T25" fmla="*/ 1 h 264"/>
                  <a:gd name="T26" fmla="*/ 1 w 552"/>
                  <a:gd name="T27" fmla="*/ 1 h 264"/>
                  <a:gd name="T28" fmla="*/ 1 w 552"/>
                  <a:gd name="T29" fmla="*/ 1 h 264"/>
                  <a:gd name="T30" fmla="*/ 1 w 552"/>
                  <a:gd name="T31" fmla="*/ 1 h 264"/>
                  <a:gd name="T32" fmla="*/ 1 w 552"/>
                  <a:gd name="T33" fmla="*/ 1 h 264"/>
                  <a:gd name="T34" fmla="*/ 1 w 552"/>
                  <a:gd name="T35" fmla="*/ 1 h 264"/>
                  <a:gd name="T36" fmla="*/ 2 w 552"/>
                  <a:gd name="T37" fmla="*/ 1 h 264"/>
                  <a:gd name="T38" fmla="*/ 2 w 552"/>
                  <a:gd name="T39" fmla="*/ 1 h 264"/>
                  <a:gd name="T40" fmla="*/ 2 w 552"/>
                  <a:gd name="T41" fmla="*/ 1 h 264"/>
                  <a:gd name="T42" fmla="*/ 2 w 552"/>
                  <a:gd name="T43" fmla="*/ 2 h 264"/>
                  <a:gd name="T44" fmla="*/ 2 w 552"/>
                  <a:gd name="T45" fmla="*/ 2 h 264"/>
                  <a:gd name="T46" fmla="*/ 2 w 552"/>
                  <a:gd name="T47" fmla="*/ 1 h 264"/>
                  <a:gd name="T48" fmla="*/ 2 w 552"/>
                  <a:gd name="T49" fmla="*/ 1 h 264"/>
                  <a:gd name="T50" fmla="*/ 2 w 552"/>
                  <a:gd name="T51" fmla="*/ 1 h 264"/>
                  <a:gd name="T52" fmla="*/ 2 w 552"/>
                  <a:gd name="T53" fmla="*/ 1 h 264"/>
                  <a:gd name="T54" fmla="*/ 3 w 552"/>
                  <a:gd name="T55" fmla="*/ 1 h 264"/>
                  <a:gd name="T56" fmla="*/ 3 w 552"/>
                  <a:gd name="T57" fmla="*/ 1 h 264"/>
                  <a:gd name="T58" fmla="*/ 3 w 552"/>
                  <a:gd name="T59" fmla="*/ 1 h 264"/>
                  <a:gd name="T60" fmla="*/ 2 w 552"/>
                  <a:gd name="T61" fmla="*/ 1 h 264"/>
                  <a:gd name="T62" fmla="*/ 2 w 552"/>
                  <a:gd name="T63" fmla="*/ 1 h 264"/>
                  <a:gd name="T64" fmla="*/ 2 w 552"/>
                  <a:gd name="T65" fmla="*/ 1 h 264"/>
                  <a:gd name="T66" fmla="*/ 2 w 552"/>
                  <a:gd name="T67" fmla="*/ 1 h 264"/>
                  <a:gd name="T68" fmla="*/ 2 w 552"/>
                  <a:gd name="T69" fmla="*/ 1 h 264"/>
                  <a:gd name="T70" fmla="*/ 2 w 552"/>
                  <a:gd name="T71" fmla="*/ 1 h 264"/>
                  <a:gd name="T72" fmla="*/ 2 w 552"/>
                  <a:gd name="T73" fmla="*/ 1 h 264"/>
                  <a:gd name="T74" fmla="*/ 2 w 552"/>
                  <a:gd name="T75" fmla="*/ 1 h 264"/>
                  <a:gd name="T76" fmla="*/ 1 w 552"/>
                  <a:gd name="T77" fmla="*/ 1 h 264"/>
                  <a:gd name="T78" fmla="*/ 1 w 552"/>
                  <a:gd name="T79" fmla="*/ 1 h 264"/>
                  <a:gd name="T80" fmla="*/ 1 w 552"/>
                  <a:gd name="T81" fmla="*/ 1 h 264"/>
                  <a:gd name="T82" fmla="*/ 1 w 552"/>
                  <a:gd name="T83" fmla="*/ 1 h 264"/>
                  <a:gd name="T84" fmla="*/ 1 w 552"/>
                  <a:gd name="T85" fmla="*/ 1 h 264"/>
                  <a:gd name="T86" fmla="*/ 1 w 552"/>
                  <a:gd name="T87" fmla="*/ 1 h 264"/>
                  <a:gd name="T88" fmla="*/ 1 w 552"/>
                  <a:gd name="T89" fmla="*/ 1 h 264"/>
                  <a:gd name="T90" fmla="*/ 1 w 552"/>
                  <a:gd name="T91" fmla="*/ 1 h 264"/>
                  <a:gd name="T92" fmla="*/ 1 w 552"/>
                  <a:gd name="T93" fmla="*/ 1 h 264"/>
                  <a:gd name="T94" fmla="*/ 1 w 552"/>
                  <a:gd name="T95" fmla="*/ 1 h 264"/>
                  <a:gd name="T96" fmla="*/ 1 w 552"/>
                  <a:gd name="T97" fmla="*/ 1 h 264"/>
                  <a:gd name="T98" fmla="*/ 1 w 552"/>
                  <a:gd name="T99" fmla="*/ 1 h 264"/>
                  <a:gd name="T100" fmla="*/ 1 w 552"/>
                  <a:gd name="T101" fmla="*/ 1 h 264"/>
                  <a:gd name="T102" fmla="*/ 1 w 552"/>
                  <a:gd name="T103" fmla="*/ 1 h 264"/>
                  <a:gd name="T104" fmla="*/ 1 w 552"/>
                  <a:gd name="T105" fmla="*/ 1 h 264"/>
                  <a:gd name="T106" fmla="*/ 1 w 552"/>
                  <a:gd name="T107" fmla="*/ 1 h 264"/>
                  <a:gd name="T108" fmla="*/ 1 w 552"/>
                  <a:gd name="T109" fmla="*/ 1 h 264"/>
                  <a:gd name="T110" fmla="*/ 1 w 552"/>
                  <a:gd name="T111" fmla="*/ 0 h 2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52"/>
                  <a:gd name="T169" fmla="*/ 0 h 264"/>
                  <a:gd name="T170" fmla="*/ 552 w 552"/>
                  <a:gd name="T171" fmla="*/ 264 h 2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52" h="264">
                    <a:moveTo>
                      <a:pt x="9" y="0"/>
                    </a:moveTo>
                    <a:lnTo>
                      <a:pt x="8" y="0"/>
                    </a:lnTo>
                    <a:lnTo>
                      <a:pt x="5" y="1"/>
                    </a:lnTo>
                    <a:lnTo>
                      <a:pt x="3" y="1"/>
                    </a:lnTo>
                    <a:lnTo>
                      <a:pt x="0" y="1"/>
                    </a:lnTo>
                    <a:lnTo>
                      <a:pt x="3" y="10"/>
                    </a:lnTo>
                    <a:lnTo>
                      <a:pt x="6" y="19"/>
                    </a:lnTo>
                    <a:lnTo>
                      <a:pt x="10" y="26"/>
                    </a:lnTo>
                    <a:lnTo>
                      <a:pt x="15" y="33"/>
                    </a:lnTo>
                    <a:lnTo>
                      <a:pt x="19" y="40"/>
                    </a:lnTo>
                    <a:lnTo>
                      <a:pt x="25" y="47"/>
                    </a:lnTo>
                    <a:lnTo>
                      <a:pt x="29" y="54"/>
                    </a:lnTo>
                    <a:lnTo>
                      <a:pt x="36" y="60"/>
                    </a:lnTo>
                    <a:lnTo>
                      <a:pt x="42" y="66"/>
                    </a:lnTo>
                    <a:lnTo>
                      <a:pt x="48" y="71"/>
                    </a:lnTo>
                    <a:lnTo>
                      <a:pt x="55" y="77"/>
                    </a:lnTo>
                    <a:lnTo>
                      <a:pt x="62" y="83"/>
                    </a:lnTo>
                    <a:lnTo>
                      <a:pt x="68" y="87"/>
                    </a:lnTo>
                    <a:lnTo>
                      <a:pt x="75" y="91"/>
                    </a:lnTo>
                    <a:lnTo>
                      <a:pt x="82" y="97"/>
                    </a:lnTo>
                    <a:lnTo>
                      <a:pt x="89" y="101"/>
                    </a:lnTo>
                    <a:lnTo>
                      <a:pt x="92" y="104"/>
                    </a:lnTo>
                    <a:lnTo>
                      <a:pt x="95" y="107"/>
                    </a:lnTo>
                    <a:lnTo>
                      <a:pt x="98" y="110"/>
                    </a:lnTo>
                    <a:lnTo>
                      <a:pt x="101" y="114"/>
                    </a:lnTo>
                    <a:lnTo>
                      <a:pt x="103" y="117"/>
                    </a:lnTo>
                    <a:lnTo>
                      <a:pt x="106" y="121"/>
                    </a:lnTo>
                    <a:lnTo>
                      <a:pt x="109" y="124"/>
                    </a:lnTo>
                    <a:lnTo>
                      <a:pt x="113" y="129"/>
                    </a:lnTo>
                    <a:lnTo>
                      <a:pt x="116" y="131"/>
                    </a:lnTo>
                    <a:lnTo>
                      <a:pt x="119" y="134"/>
                    </a:lnTo>
                    <a:lnTo>
                      <a:pt x="122" y="137"/>
                    </a:lnTo>
                    <a:lnTo>
                      <a:pt x="126" y="140"/>
                    </a:lnTo>
                    <a:lnTo>
                      <a:pt x="129" y="141"/>
                    </a:lnTo>
                    <a:lnTo>
                      <a:pt x="133" y="143"/>
                    </a:lnTo>
                    <a:lnTo>
                      <a:pt x="138" y="144"/>
                    </a:lnTo>
                    <a:lnTo>
                      <a:pt x="142" y="146"/>
                    </a:lnTo>
                    <a:lnTo>
                      <a:pt x="151" y="149"/>
                    </a:lnTo>
                    <a:lnTo>
                      <a:pt x="158" y="152"/>
                    </a:lnTo>
                    <a:lnTo>
                      <a:pt x="165" y="154"/>
                    </a:lnTo>
                    <a:lnTo>
                      <a:pt x="173" y="159"/>
                    </a:lnTo>
                    <a:lnTo>
                      <a:pt x="181" y="162"/>
                    </a:lnTo>
                    <a:lnTo>
                      <a:pt x="188" y="166"/>
                    </a:lnTo>
                    <a:lnTo>
                      <a:pt x="195" y="169"/>
                    </a:lnTo>
                    <a:lnTo>
                      <a:pt x="202" y="173"/>
                    </a:lnTo>
                    <a:lnTo>
                      <a:pt x="209" y="176"/>
                    </a:lnTo>
                    <a:lnTo>
                      <a:pt x="218" y="179"/>
                    </a:lnTo>
                    <a:lnTo>
                      <a:pt x="225" y="182"/>
                    </a:lnTo>
                    <a:lnTo>
                      <a:pt x="233" y="186"/>
                    </a:lnTo>
                    <a:lnTo>
                      <a:pt x="241" y="187"/>
                    </a:lnTo>
                    <a:lnTo>
                      <a:pt x="249" y="189"/>
                    </a:lnTo>
                    <a:lnTo>
                      <a:pt x="256" y="192"/>
                    </a:lnTo>
                    <a:lnTo>
                      <a:pt x="266" y="193"/>
                    </a:lnTo>
                    <a:lnTo>
                      <a:pt x="275" y="194"/>
                    </a:lnTo>
                    <a:lnTo>
                      <a:pt x="284" y="199"/>
                    </a:lnTo>
                    <a:lnTo>
                      <a:pt x="292" y="203"/>
                    </a:lnTo>
                    <a:lnTo>
                      <a:pt x="301" y="209"/>
                    </a:lnTo>
                    <a:lnTo>
                      <a:pt x="309" y="213"/>
                    </a:lnTo>
                    <a:lnTo>
                      <a:pt x="316" y="219"/>
                    </a:lnTo>
                    <a:lnTo>
                      <a:pt x="325" y="226"/>
                    </a:lnTo>
                    <a:lnTo>
                      <a:pt x="332" y="232"/>
                    </a:lnTo>
                    <a:lnTo>
                      <a:pt x="339" y="237"/>
                    </a:lnTo>
                    <a:lnTo>
                      <a:pt x="346" y="243"/>
                    </a:lnTo>
                    <a:lnTo>
                      <a:pt x="355" y="247"/>
                    </a:lnTo>
                    <a:lnTo>
                      <a:pt x="362" y="253"/>
                    </a:lnTo>
                    <a:lnTo>
                      <a:pt x="371" y="256"/>
                    </a:lnTo>
                    <a:lnTo>
                      <a:pt x="379" y="260"/>
                    </a:lnTo>
                    <a:lnTo>
                      <a:pt x="388" y="263"/>
                    </a:lnTo>
                    <a:lnTo>
                      <a:pt x="399" y="264"/>
                    </a:lnTo>
                    <a:lnTo>
                      <a:pt x="408" y="257"/>
                    </a:lnTo>
                    <a:lnTo>
                      <a:pt x="416" y="250"/>
                    </a:lnTo>
                    <a:lnTo>
                      <a:pt x="425" y="243"/>
                    </a:lnTo>
                    <a:lnTo>
                      <a:pt x="434" y="236"/>
                    </a:lnTo>
                    <a:lnTo>
                      <a:pt x="444" y="227"/>
                    </a:lnTo>
                    <a:lnTo>
                      <a:pt x="452" y="219"/>
                    </a:lnTo>
                    <a:lnTo>
                      <a:pt x="461" y="212"/>
                    </a:lnTo>
                    <a:lnTo>
                      <a:pt x="471" y="204"/>
                    </a:lnTo>
                    <a:lnTo>
                      <a:pt x="481" y="197"/>
                    </a:lnTo>
                    <a:lnTo>
                      <a:pt x="489" y="192"/>
                    </a:lnTo>
                    <a:lnTo>
                      <a:pt x="499" y="184"/>
                    </a:lnTo>
                    <a:lnTo>
                      <a:pt x="509" y="180"/>
                    </a:lnTo>
                    <a:lnTo>
                      <a:pt x="519" y="174"/>
                    </a:lnTo>
                    <a:lnTo>
                      <a:pt x="529" y="172"/>
                    </a:lnTo>
                    <a:lnTo>
                      <a:pt x="541" y="170"/>
                    </a:lnTo>
                    <a:lnTo>
                      <a:pt x="552" y="169"/>
                    </a:lnTo>
                    <a:lnTo>
                      <a:pt x="552" y="164"/>
                    </a:lnTo>
                    <a:lnTo>
                      <a:pt x="551" y="162"/>
                    </a:lnTo>
                    <a:lnTo>
                      <a:pt x="538" y="162"/>
                    </a:lnTo>
                    <a:lnTo>
                      <a:pt x="528" y="163"/>
                    </a:lnTo>
                    <a:lnTo>
                      <a:pt x="518" y="164"/>
                    </a:lnTo>
                    <a:lnTo>
                      <a:pt x="508" y="169"/>
                    </a:lnTo>
                    <a:lnTo>
                      <a:pt x="497" y="173"/>
                    </a:lnTo>
                    <a:lnTo>
                      <a:pt x="488" y="179"/>
                    </a:lnTo>
                    <a:lnTo>
                      <a:pt x="478" y="186"/>
                    </a:lnTo>
                    <a:lnTo>
                      <a:pt x="468" y="193"/>
                    </a:lnTo>
                    <a:lnTo>
                      <a:pt x="459" y="200"/>
                    </a:lnTo>
                    <a:lnTo>
                      <a:pt x="449" y="207"/>
                    </a:lnTo>
                    <a:lnTo>
                      <a:pt x="441" y="216"/>
                    </a:lnTo>
                    <a:lnTo>
                      <a:pt x="431" y="224"/>
                    </a:lnTo>
                    <a:lnTo>
                      <a:pt x="422" y="232"/>
                    </a:lnTo>
                    <a:lnTo>
                      <a:pt x="414" y="239"/>
                    </a:lnTo>
                    <a:lnTo>
                      <a:pt x="405" y="246"/>
                    </a:lnTo>
                    <a:lnTo>
                      <a:pt x="396" y="253"/>
                    </a:lnTo>
                    <a:lnTo>
                      <a:pt x="385" y="252"/>
                    </a:lnTo>
                    <a:lnTo>
                      <a:pt x="376" y="247"/>
                    </a:lnTo>
                    <a:lnTo>
                      <a:pt x="366" y="243"/>
                    </a:lnTo>
                    <a:lnTo>
                      <a:pt x="358" y="239"/>
                    </a:lnTo>
                    <a:lnTo>
                      <a:pt x="349" y="232"/>
                    </a:lnTo>
                    <a:lnTo>
                      <a:pt x="341" y="226"/>
                    </a:lnTo>
                    <a:lnTo>
                      <a:pt x="332" y="219"/>
                    </a:lnTo>
                    <a:lnTo>
                      <a:pt x="325" y="213"/>
                    </a:lnTo>
                    <a:lnTo>
                      <a:pt x="316" y="207"/>
                    </a:lnTo>
                    <a:lnTo>
                      <a:pt x="308" y="200"/>
                    </a:lnTo>
                    <a:lnTo>
                      <a:pt x="299" y="194"/>
                    </a:lnTo>
                    <a:lnTo>
                      <a:pt x="291" y="190"/>
                    </a:lnTo>
                    <a:lnTo>
                      <a:pt x="281" y="184"/>
                    </a:lnTo>
                    <a:lnTo>
                      <a:pt x="271" y="182"/>
                    </a:lnTo>
                    <a:lnTo>
                      <a:pt x="259" y="180"/>
                    </a:lnTo>
                    <a:lnTo>
                      <a:pt x="249" y="179"/>
                    </a:lnTo>
                    <a:lnTo>
                      <a:pt x="242" y="177"/>
                    </a:lnTo>
                    <a:lnTo>
                      <a:pt x="233" y="176"/>
                    </a:lnTo>
                    <a:lnTo>
                      <a:pt x="226" y="173"/>
                    </a:lnTo>
                    <a:lnTo>
                      <a:pt x="221" y="170"/>
                    </a:lnTo>
                    <a:lnTo>
                      <a:pt x="213" y="167"/>
                    </a:lnTo>
                    <a:lnTo>
                      <a:pt x="208" y="164"/>
                    </a:lnTo>
                    <a:lnTo>
                      <a:pt x="201" y="162"/>
                    </a:lnTo>
                    <a:lnTo>
                      <a:pt x="195" y="157"/>
                    </a:lnTo>
                    <a:lnTo>
                      <a:pt x="189" y="154"/>
                    </a:lnTo>
                    <a:lnTo>
                      <a:pt x="182" y="150"/>
                    </a:lnTo>
                    <a:lnTo>
                      <a:pt x="176" y="147"/>
                    </a:lnTo>
                    <a:lnTo>
                      <a:pt x="169" y="144"/>
                    </a:lnTo>
                    <a:lnTo>
                      <a:pt x="162" y="141"/>
                    </a:lnTo>
                    <a:lnTo>
                      <a:pt x="156" y="139"/>
                    </a:lnTo>
                    <a:lnTo>
                      <a:pt x="149" y="137"/>
                    </a:lnTo>
                    <a:lnTo>
                      <a:pt x="142" y="136"/>
                    </a:lnTo>
                    <a:lnTo>
                      <a:pt x="136" y="133"/>
                    </a:lnTo>
                    <a:lnTo>
                      <a:pt x="131" y="130"/>
                    </a:lnTo>
                    <a:lnTo>
                      <a:pt x="126" y="126"/>
                    </a:lnTo>
                    <a:lnTo>
                      <a:pt x="122" y="121"/>
                    </a:lnTo>
                    <a:lnTo>
                      <a:pt x="116" y="117"/>
                    </a:lnTo>
                    <a:lnTo>
                      <a:pt x="112" y="113"/>
                    </a:lnTo>
                    <a:lnTo>
                      <a:pt x="108" y="107"/>
                    </a:lnTo>
                    <a:lnTo>
                      <a:pt x="103" y="103"/>
                    </a:lnTo>
                    <a:lnTo>
                      <a:pt x="99" y="97"/>
                    </a:lnTo>
                    <a:lnTo>
                      <a:pt x="95" y="93"/>
                    </a:lnTo>
                    <a:lnTo>
                      <a:pt x="91" y="89"/>
                    </a:lnTo>
                    <a:lnTo>
                      <a:pt x="86" y="84"/>
                    </a:lnTo>
                    <a:lnTo>
                      <a:pt x="81" y="80"/>
                    </a:lnTo>
                    <a:lnTo>
                      <a:pt x="76" y="77"/>
                    </a:lnTo>
                    <a:lnTo>
                      <a:pt x="71" y="74"/>
                    </a:lnTo>
                    <a:lnTo>
                      <a:pt x="65" y="71"/>
                    </a:lnTo>
                    <a:lnTo>
                      <a:pt x="59" y="69"/>
                    </a:lnTo>
                    <a:lnTo>
                      <a:pt x="55" y="66"/>
                    </a:lnTo>
                    <a:lnTo>
                      <a:pt x="50" y="63"/>
                    </a:lnTo>
                    <a:lnTo>
                      <a:pt x="46" y="59"/>
                    </a:lnTo>
                    <a:lnTo>
                      <a:pt x="42" y="54"/>
                    </a:lnTo>
                    <a:lnTo>
                      <a:pt x="39" y="50"/>
                    </a:lnTo>
                    <a:lnTo>
                      <a:pt x="35" y="46"/>
                    </a:lnTo>
                    <a:lnTo>
                      <a:pt x="32" y="41"/>
                    </a:lnTo>
                    <a:lnTo>
                      <a:pt x="29" y="36"/>
                    </a:lnTo>
                    <a:lnTo>
                      <a:pt x="26" y="31"/>
                    </a:lnTo>
                    <a:lnTo>
                      <a:pt x="23" y="26"/>
                    </a:lnTo>
                    <a:lnTo>
                      <a:pt x="20" y="20"/>
                    </a:lnTo>
                    <a:lnTo>
                      <a:pt x="18" y="14"/>
                    </a:lnTo>
                    <a:lnTo>
                      <a:pt x="15" y="10"/>
                    </a:lnTo>
                    <a:lnTo>
                      <a:pt x="12" y="4"/>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6" name="Freeform 38"/>
              <p:cNvSpPr>
                <a:spLocks/>
              </p:cNvSpPr>
              <p:nvPr/>
            </p:nvSpPr>
            <p:spPr bwMode="auto">
              <a:xfrm>
                <a:off x="1969" y="762"/>
                <a:ext cx="116" cy="173"/>
              </a:xfrm>
              <a:custGeom>
                <a:avLst/>
                <a:gdLst>
                  <a:gd name="T0" fmla="*/ 1 w 231"/>
                  <a:gd name="T1" fmla="*/ 0 h 348"/>
                  <a:gd name="T2" fmla="*/ 1 w 231"/>
                  <a:gd name="T3" fmla="*/ 0 h 348"/>
                  <a:gd name="T4" fmla="*/ 1 w 231"/>
                  <a:gd name="T5" fmla="*/ 0 h 348"/>
                  <a:gd name="T6" fmla="*/ 1 w 231"/>
                  <a:gd name="T7" fmla="*/ 0 h 348"/>
                  <a:gd name="T8" fmla="*/ 1 w 231"/>
                  <a:gd name="T9" fmla="*/ 0 h 348"/>
                  <a:gd name="T10" fmla="*/ 1 w 231"/>
                  <a:gd name="T11" fmla="*/ 0 h 348"/>
                  <a:gd name="T12" fmla="*/ 1 w 231"/>
                  <a:gd name="T13" fmla="*/ 0 h 348"/>
                  <a:gd name="T14" fmla="*/ 0 w 231"/>
                  <a:gd name="T15" fmla="*/ 0 h 348"/>
                  <a:gd name="T16" fmla="*/ 1 w 231"/>
                  <a:gd name="T17" fmla="*/ 0 h 348"/>
                  <a:gd name="T18" fmla="*/ 1 w 231"/>
                  <a:gd name="T19" fmla="*/ 0 h 348"/>
                  <a:gd name="T20" fmla="*/ 1 w 231"/>
                  <a:gd name="T21" fmla="*/ 0 h 348"/>
                  <a:gd name="T22" fmla="*/ 1 w 231"/>
                  <a:gd name="T23" fmla="*/ 0 h 348"/>
                  <a:gd name="T24" fmla="*/ 1 w 231"/>
                  <a:gd name="T25" fmla="*/ 0 h 348"/>
                  <a:gd name="T26" fmla="*/ 1 w 231"/>
                  <a:gd name="T27" fmla="*/ 0 h 348"/>
                  <a:gd name="T28" fmla="*/ 1 w 231"/>
                  <a:gd name="T29" fmla="*/ 0 h 348"/>
                  <a:gd name="T30" fmla="*/ 1 w 231"/>
                  <a:gd name="T31" fmla="*/ 0 h 348"/>
                  <a:gd name="T32" fmla="*/ 1 w 231"/>
                  <a:gd name="T33" fmla="*/ 0 h 348"/>
                  <a:gd name="T34" fmla="*/ 1 w 231"/>
                  <a:gd name="T35" fmla="*/ 0 h 348"/>
                  <a:gd name="T36" fmla="*/ 1 w 231"/>
                  <a:gd name="T37" fmla="*/ 0 h 348"/>
                  <a:gd name="T38" fmla="*/ 1 w 231"/>
                  <a:gd name="T39" fmla="*/ 0 h 348"/>
                  <a:gd name="T40" fmla="*/ 1 w 231"/>
                  <a:gd name="T41" fmla="*/ 0 h 348"/>
                  <a:gd name="T42" fmla="*/ 1 w 231"/>
                  <a:gd name="T43" fmla="*/ 1 h 348"/>
                  <a:gd name="T44" fmla="*/ 1 w 231"/>
                  <a:gd name="T45" fmla="*/ 1 h 348"/>
                  <a:gd name="T46" fmla="*/ 1 w 231"/>
                  <a:gd name="T47" fmla="*/ 1 h 348"/>
                  <a:gd name="T48" fmla="*/ 1 w 231"/>
                  <a:gd name="T49" fmla="*/ 1 h 348"/>
                  <a:gd name="T50" fmla="*/ 1 w 231"/>
                  <a:gd name="T51" fmla="*/ 1 h 348"/>
                  <a:gd name="T52" fmla="*/ 1 w 231"/>
                  <a:gd name="T53" fmla="*/ 1 h 348"/>
                  <a:gd name="T54" fmla="*/ 1 w 231"/>
                  <a:gd name="T55" fmla="*/ 1 h 348"/>
                  <a:gd name="T56" fmla="*/ 1 w 231"/>
                  <a:gd name="T57" fmla="*/ 1 h 348"/>
                  <a:gd name="T58" fmla="*/ 1 w 231"/>
                  <a:gd name="T59" fmla="*/ 1 h 348"/>
                  <a:gd name="T60" fmla="*/ 1 w 231"/>
                  <a:gd name="T61" fmla="*/ 1 h 348"/>
                  <a:gd name="T62" fmla="*/ 1 w 231"/>
                  <a:gd name="T63" fmla="*/ 1 h 348"/>
                  <a:gd name="T64" fmla="*/ 1 w 231"/>
                  <a:gd name="T65" fmla="*/ 1 h 348"/>
                  <a:gd name="T66" fmla="*/ 1 w 231"/>
                  <a:gd name="T67" fmla="*/ 1 h 348"/>
                  <a:gd name="T68" fmla="*/ 1 w 231"/>
                  <a:gd name="T69" fmla="*/ 1 h 348"/>
                  <a:gd name="T70" fmla="*/ 1 w 231"/>
                  <a:gd name="T71" fmla="*/ 1 h 348"/>
                  <a:gd name="T72" fmla="*/ 1 w 231"/>
                  <a:gd name="T73" fmla="*/ 1 h 348"/>
                  <a:gd name="T74" fmla="*/ 1 w 231"/>
                  <a:gd name="T75" fmla="*/ 1 h 348"/>
                  <a:gd name="T76" fmla="*/ 1 w 231"/>
                  <a:gd name="T77" fmla="*/ 1 h 348"/>
                  <a:gd name="T78" fmla="*/ 1 w 231"/>
                  <a:gd name="T79" fmla="*/ 1 h 348"/>
                  <a:gd name="T80" fmla="*/ 1 w 231"/>
                  <a:gd name="T81" fmla="*/ 1 h 348"/>
                  <a:gd name="T82" fmla="*/ 1 w 231"/>
                  <a:gd name="T83" fmla="*/ 1 h 348"/>
                  <a:gd name="T84" fmla="*/ 1 w 231"/>
                  <a:gd name="T85" fmla="*/ 1 h 348"/>
                  <a:gd name="T86" fmla="*/ 1 w 231"/>
                  <a:gd name="T87" fmla="*/ 1 h 348"/>
                  <a:gd name="T88" fmla="*/ 1 w 231"/>
                  <a:gd name="T89" fmla="*/ 1 h 348"/>
                  <a:gd name="T90" fmla="*/ 1 w 231"/>
                  <a:gd name="T91" fmla="*/ 1 h 348"/>
                  <a:gd name="T92" fmla="*/ 1 w 231"/>
                  <a:gd name="T93" fmla="*/ 1 h 348"/>
                  <a:gd name="T94" fmla="*/ 1 w 231"/>
                  <a:gd name="T95" fmla="*/ 0 h 348"/>
                  <a:gd name="T96" fmla="*/ 1 w 231"/>
                  <a:gd name="T97" fmla="*/ 0 h 348"/>
                  <a:gd name="T98" fmla="*/ 1 w 231"/>
                  <a:gd name="T99" fmla="*/ 0 h 348"/>
                  <a:gd name="T100" fmla="*/ 1 w 231"/>
                  <a:gd name="T101" fmla="*/ 0 h 348"/>
                  <a:gd name="T102" fmla="*/ 1 w 231"/>
                  <a:gd name="T103" fmla="*/ 0 h 348"/>
                  <a:gd name="T104" fmla="*/ 1 w 231"/>
                  <a:gd name="T105" fmla="*/ 0 h 348"/>
                  <a:gd name="T106" fmla="*/ 1 w 231"/>
                  <a:gd name="T107" fmla="*/ 0 h 348"/>
                  <a:gd name="T108" fmla="*/ 1 w 231"/>
                  <a:gd name="T109" fmla="*/ 0 h 348"/>
                  <a:gd name="T110" fmla="*/ 1 w 231"/>
                  <a:gd name="T111" fmla="*/ 0 h 348"/>
                  <a:gd name="T112" fmla="*/ 1 w 231"/>
                  <a:gd name="T113" fmla="*/ 0 h 348"/>
                  <a:gd name="T114" fmla="*/ 1 w 231"/>
                  <a:gd name="T115" fmla="*/ 0 h 348"/>
                  <a:gd name="T116" fmla="*/ 1 w 231"/>
                  <a:gd name="T117" fmla="*/ 0 h 348"/>
                  <a:gd name="T118" fmla="*/ 1 w 231"/>
                  <a:gd name="T119" fmla="*/ 0 h 348"/>
                  <a:gd name="T120" fmla="*/ 1 w 231"/>
                  <a:gd name="T121" fmla="*/ 0 h 348"/>
                  <a:gd name="T122" fmla="*/ 1 w 231"/>
                  <a:gd name="T123" fmla="*/ 0 h 348"/>
                  <a:gd name="T124" fmla="*/ 1 w 231"/>
                  <a:gd name="T125" fmla="*/ 0 h 3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31"/>
                  <a:gd name="T190" fmla="*/ 0 h 348"/>
                  <a:gd name="T191" fmla="*/ 231 w 231"/>
                  <a:gd name="T192" fmla="*/ 348 h 3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31" h="348">
                    <a:moveTo>
                      <a:pt x="33" y="0"/>
                    </a:moveTo>
                    <a:lnTo>
                      <a:pt x="31" y="0"/>
                    </a:lnTo>
                    <a:lnTo>
                      <a:pt x="28" y="0"/>
                    </a:lnTo>
                    <a:lnTo>
                      <a:pt x="26" y="0"/>
                    </a:lnTo>
                    <a:lnTo>
                      <a:pt x="26" y="2"/>
                    </a:lnTo>
                    <a:lnTo>
                      <a:pt x="24" y="5"/>
                    </a:lnTo>
                    <a:lnTo>
                      <a:pt x="23" y="8"/>
                    </a:lnTo>
                    <a:lnTo>
                      <a:pt x="21" y="10"/>
                    </a:lnTo>
                    <a:lnTo>
                      <a:pt x="21" y="15"/>
                    </a:lnTo>
                    <a:lnTo>
                      <a:pt x="20" y="19"/>
                    </a:lnTo>
                    <a:lnTo>
                      <a:pt x="20" y="23"/>
                    </a:lnTo>
                    <a:lnTo>
                      <a:pt x="18" y="26"/>
                    </a:lnTo>
                    <a:lnTo>
                      <a:pt x="18" y="32"/>
                    </a:lnTo>
                    <a:lnTo>
                      <a:pt x="18" y="36"/>
                    </a:lnTo>
                    <a:lnTo>
                      <a:pt x="17" y="39"/>
                    </a:lnTo>
                    <a:lnTo>
                      <a:pt x="17" y="45"/>
                    </a:lnTo>
                    <a:lnTo>
                      <a:pt x="17" y="49"/>
                    </a:lnTo>
                    <a:lnTo>
                      <a:pt x="16" y="53"/>
                    </a:lnTo>
                    <a:lnTo>
                      <a:pt x="16" y="58"/>
                    </a:lnTo>
                    <a:lnTo>
                      <a:pt x="14" y="63"/>
                    </a:lnTo>
                    <a:lnTo>
                      <a:pt x="14" y="69"/>
                    </a:lnTo>
                    <a:lnTo>
                      <a:pt x="11" y="78"/>
                    </a:lnTo>
                    <a:lnTo>
                      <a:pt x="10" y="86"/>
                    </a:lnTo>
                    <a:lnTo>
                      <a:pt x="7" y="96"/>
                    </a:lnTo>
                    <a:lnTo>
                      <a:pt x="6" y="105"/>
                    </a:lnTo>
                    <a:lnTo>
                      <a:pt x="4" y="113"/>
                    </a:lnTo>
                    <a:lnTo>
                      <a:pt x="3" y="122"/>
                    </a:lnTo>
                    <a:lnTo>
                      <a:pt x="1" y="132"/>
                    </a:lnTo>
                    <a:lnTo>
                      <a:pt x="1" y="140"/>
                    </a:lnTo>
                    <a:lnTo>
                      <a:pt x="0" y="149"/>
                    </a:lnTo>
                    <a:lnTo>
                      <a:pt x="0" y="159"/>
                    </a:lnTo>
                    <a:lnTo>
                      <a:pt x="0" y="168"/>
                    </a:lnTo>
                    <a:lnTo>
                      <a:pt x="1" y="176"/>
                    </a:lnTo>
                    <a:lnTo>
                      <a:pt x="3" y="185"/>
                    </a:lnTo>
                    <a:lnTo>
                      <a:pt x="6" y="193"/>
                    </a:lnTo>
                    <a:lnTo>
                      <a:pt x="8" y="202"/>
                    </a:lnTo>
                    <a:lnTo>
                      <a:pt x="13" y="212"/>
                    </a:lnTo>
                    <a:lnTo>
                      <a:pt x="17" y="216"/>
                    </a:lnTo>
                    <a:lnTo>
                      <a:pt x="23" y="222"/>
                    </a:lnTo>
                    <a:lnTo>
                      <a:pt x="28" y="223"/>
                    </a:lnTo>
                    <a:lnTo>
                      <a:pt x="34" y="226"/>
                    </a:lnTo>
                    <a:lnTo>
                      <a:pt x="40" y="225"/>
                    </a:lnTo>
                    <a:lnTo>
                      <a:pt x="47" y="225"/>
                    </a:lnTo>
                    <a:lnTo>
                      <a:pt x="53" y="222"/>
                    </a:lnTo>
                    <a:lnTo>
                      <a:pt x="60" y="220"/>
                    </a:lnTo>
                    <a:lnTo>
                      <a:pt x="67" y="218"/>
                    </a:lnTo>
                    <a:lnTo>
                      <a:pt x="74" y="215"/>
                    </a:lnTo>
                    <a:lnTo>
                      <a:pt x="81" y="212"/>
                    </a:lnTo>
                    <a:lnTo>
                      <a:pt x="88" y="209"/>
                    </a:lnTo>
                    <a:lnTo>
                      <a:pt x="94" y="206"/>
                    </a:lnTo>
                    <a:lnTo>
                      <a:pt x="100" y="203"/>
                    </a:lnTo>
                    <a:lnTo>
                      <a:pt x="107" y="202"/>
                    </a:lnTo>
                    <a:lnTo>
                      <a:pt x="114" y="202"/>
                    </a:lnTo>
                    <a:lnTo>
                      <a:pt x="119" y="202"/>
                    </a:lnTo>
                    <a:lnTo>
                      <a:pt x="123" y="202"/>
                    </a:lnTo>
                    <a:lnTo>
                      <a:pt x="129" y="202"/>
                    </a:lnTo>
                    <a:lnTo>
                      <a:pt x="133" y="203"/>
                    </a:lnTo>
                    <a:lnTo>
                      <a:pt x="137" y="203"/>
                    </a:lnTo>
                    <a:lnTo>
                      <a:pt x="143" y="203"/>
                    </a:lnTo>
                    <a:lnTo>
                      <a:pt x="144" y="205"/>
                    </a:lnTo>
                    <a:lnTo>
                      <a:pt x="147" y="206"/>
                    </a:lnTo>
                    <a:lnTo>
                      <a:pt x="150" y="206"/>
                    </a:lnTo>
                    <a:lnTo>
                      <a:pt x="153" y="208"/>
                    </a:lnTo>
                    <a:lnTo>
                      <a:pt x="157" y="208"/>
                    </a:lnTo>
                    <a:lnTo>
                      <a:pt x="163" y="208"/>
                    </a:lnTo>
                    <a:lnTo>
                      <a:pt x="167" y="208"/>
                    </a:lnTo>
                    <a:lnTo>
                      <a:pt x="173" y="209"/>
                    </a:lnTo>
                    <a:lnTo>
                      <a:pt x="177" y="209"/>
                    </a:lnTo>
                    <a:lnTo>
                      <a:pt x="183" y="209"/>
                    </a:lnTo>
                    <a:lnTo>
                      <a:pt x="189" y="209"/>
                    </a:lnTo>
                    <a:lnTo>
                      <a:pt x="194" y="209"/>
                    </a:lnTo>
                    <a:lnTo>
                      <a:pt x="199" y="209"/>
                    </a:lnTo>
                    <a:lnTo>
                      <a:pt x="203" y="210"/>
                    </a:lnTo>
                    <a:lnTo>
                      <a:pt x="207" y="212"/>
                    </a:lnTo>
                    <a:lnTo>
                      <a:pt x="211" y="213"/>
                    </a:lnTo>
                    <a:lnTo>
                      <a:pt x="214" y="215"/>
                    </a:lnTo>
                    <a:lnTo>
                      <a:pt x="217" y="218"/>
                    </a:lnTo>
                    <a:lnTo>
                      <a:pt x="220" y="220"/>
                    </a:lnTo>
                    <a:lnTo>
                      <a:pt x="221" y="225"/>
                    </a:lnTo>
                    <a:lnTo>
                      <a:pt x="221" y="232"/>
                    </a:lnTo>
                    <a:lnTo>
                      <a:pt x="220" y="239"/>
                    </a:lnTo>
                    <a:lnTo>
                      <a:pt x="217" y="243"/>
                    </a:lnTo>
                    <a:lnTo>
                      <a:pt x="216" y="249"/>
                    </a:lnTo>
                    <a:lnTo>
                      <a:pt x="211" y="252"/>
                    </a:lnTo>
                    <a:lnTo>
                      <a:pt x="206" y="256"/>
                    </a:lnTo>
                    <a:lnTo>
                      <a:pt x="201" y="259"/>
                    </a:lnTo>
                    <a:lnTo>
                      <a:pt x="197" y="261"/>
                    </a:lnTo>
                    <a:lnTo>
                      <a:pt x="190" y="262"/>
                    </a:lnTo>
                    <a:lnTo>
                      <a:pt x="184" y="262"/>
                    </a:lnTo>
                    <a:lnTo>
                      <a:pt x="179" y="262"/>
                    </a:lnTo>
                    <a:lnTo>
                      <a:pt x="171" y="263"/>
                    </a:lnTo>
                    <a:lnTo>
                      <a:pt x="166" y="262"/>
                    </a:lnTo>
                    <a:lnTo>
                      <a:pt x="160" y="262"/>
                    </a:lnTo>
                    <a:lnTo>
                      <a:pt x="153" y="262"/>
                    </a:lnTo>
                    <a:lnTo>
                      <a:pt x="149" y="261"/>
                    </a:lnTo>
                    <a:lnTo>
                      <a:pt x="143" y="259"/>
                    </a:lnTo>
                    <a:lnTo>
                      <a:pt x="136" y="259"/>
                    </a:lnTo>
                    <a:lnTo>
                      <a:pt x="130" y="259"/>
                    </a:lnTo>
                    <a:lnTo>
                      <a:pt x="124" y="259"/>
                    </a:lnTo>
                    <a:lnTo>
                      <a:pt x="119" y="259"/>
                    </a:lnTo>
                    <a:lnTo>
                      <a:pt x="113" y="261"/>
                    </a:lnTo>
                    <a:lnTo>
                      <a:pt x="107" y="261"/>
                    </a:lnTo>
                    <a:lnTo>
                      <a:pt x="103" y="262"/>
                    </a:lnTo>
                    <a:lnTo>
                      <a:pt x="97" y="262"/>
                    </a:lnTo>
                    <a:lnTo>
                      <a:pt x="91" y="263"/>
                    </a:lnTo>
                    <a:lnTo>
                      <a:pt x="86" y="265"/>
                    </a:lnTo>
                    <a:lnTo>
                      <a:pt x="81" y="266"/>
                    </a:lnTo>
                    <a:lnTo>
                      <a:pt x="76" y="266"/>
                    </a:lnTo>
                    <a:lnTo>
                      <a:pt x="70" y="268"/>
                    </a:lnTo>
                    <a:lnTo>
                      <a:pt x="64" y="268"/>
                    </a:lnTo>
                    <a:lnTo>
                      <a:pt x="58" y="269"/>
                    </a:lnTo>
                    <a:lnTo>
                      <a:pt x="54" y="271"/>
                    </a:lnTo>
                    <a:lnTo>
                      <a:pt x="51" y="272"/>
                    </a:lnTo>
                    <a:lnTo>
                      <a:pt x="48" y="275"/>
                    </a:lnTo>
                    <a:lnTo>
                      <a:pt x="47" y="278"/>
                    </a:lnTo>
                    <a:lnTo>
                      <a:pt x="46" y="281"/>
                    </a:lnTo>
                    <a:lnTo>
                      <a:pt x="46" y="285"/>
                    </a:lnTo>
                    <a:lnTo>
                      <a:pt x="46" y="288"/>
                    </a:lnTo>
                    <a:lnTo>
                      <a:pt x="47" y="292"/>
                    </a:lnTo>
                    <a:lnTo>
                      <a:pt x="47" y="295"/>
                    </a:lnTo>
                    <a:lnTo>
                      <a:pt x="48" y="299"/>
                    </a:lnTo>
                    <a:lnTo>
                      <a:pt x="50" y="302"/>
                    </a:lnTo>
                    <a:lnTo>
                      <a:pt x="51" y="306"/>
                    </a:lnTo>
                    <a:lnTo>
                      <a:pt x="51" y="311"/>
                    </a:lnTo>
                    <a:lnTo>
                      <a:pt x="53" y="313"/>
                    </a:lnTo>
                    <a:lnTo>
                      <a:pt x="53" y="318"/>
                    </a:lnTo>
                    <a:lnTo>
                      <a:pt x="53" y="321"/>
                    </a:lnTo>
                    <a:lnTo>
                      <a:pt x="53" y="323"/>
                    </a:lnTo>
                    <a:lnTo>
                      <a:pt x="54" y="326"/>
                    </a:lnTo>
                    <a:lnTo>
                      <a:pt x="54" y="331"/>
                    </a:lnTo>
                    <a:lnTo>
                      <a:pt x="56" y="335"/>
                    </a:lnTo>
                    <a:lnTo>
                      <a:pt x="56" y="338"/>
                    </a:lnTo>
                    <a:lnTo>
                      <a:pt x="57" y="342"/>
                    </a:lnTo>
                    <a:lnTo>
                      <a:pt x="58" y="345"/>
                    </a:lnTo>
                    <a:lnTo>
                      <a:pt x="58" y="348"/>
                    </a:lnTo>
                    <a:lnTo>
                      <a:pt x="61" y="346"/>
                    </a:lnTo>
                    <a:lnTo>
                      <a:pt x="64" y="343"/>
                    </a:lnTo>
                    <a:lnTo>
                      <a:pt x="67" y="341"/>
                    </a:lnTo>
                    <a:lnTo>
                      <a:pt x="70" y="339"/>
                    </a:lnTo>
                    <a:lnTo>
                      <a:pt x="68" y="336"/>
                    </a:lnTo>
                    <a:lnTo>
                      <a:pt x="68" y="332"/>
                    </a:lnTo>
                    <a:lnTo>
                      <a:pt x="67" y="329"/>
                    </a:lnTo>
                    <a:lnTo>
                      <a:pt x="67" y="326"/>
                    </a:lnTo>
                    <a:lnTo>
                      <a:pt x="66" y="322"/>
                    </a:lnTo>
                    <a:lnTo>
                      <a:pt x="64" y="319"/>
                    </a:lnTo>
                    <a:lnTo>
                      <a:pt x="64" y="316"/>
                    </a:lnTo>
                    <a:lnTo>
                      <a:pt x="63" y="312"/>
                    </a:lnTo>
                    <a:lnTo>
                      <a:pt x="63" y="309"/>
                    </a:lnTo>
                    <a:lnTo>
                      <a:pt x="61" y="305"/>
                    </a:lnTo>
                    <a:lnTo>
                      <a:pt x="60" y="302"/>
                    </a:lnTo>
                    <a:lnTo>
                      <a:pt x="60" y="299"/>
                    </a:lnTo>
                    <a:lnTo>
                      <a:pt x="58" y="295"/>
                    </a:lnTo>
                    <a:lnTo>
                      <a:pt x="58" y="292"/>
                    </a:lnTo>
                    <a:lnTo>
                      <a:pt x="57" y="289"/>
                    </a:lnTo>
                    <a:lnTo>
                      <a:pt x="57" y="286"/>
                    </a:lnTo>
                    <a:lnTo>
                      <a:pt x="60" y="283"/>
                    </a:lnTo>
                    <a:lnTo>
                      <a:pt x="63" y="281"/>
                    </a:lnTo>
                    <a:lnTo>
                      <a:pt x="66" y="279"/>
                    </a:lnTo>
                    <a:lnTo>
                      <a:pt x="68" y="279"/>
                    </a:lnTo>
                    <a:lnTo>
                      <a:pt x="71" y="276"/>
                    </a:lnTo>
                    <a:lnTo>
                      <a:pt x="76" y="276"/>
                    </a:lnTo>
                    <a:lnTo>
                      <a:pt x="78" y="275"/>
                    </a:lnTo>
                    <a:lnTo>
                      <a:pt x="83" y="275"/>
                    </a:lnTo>
                    <a:lnTo>
                      <a:pt x="86" y="273"/>
                    </a:lnTo>
                    <a:lnTo>
                      <a:pt x="90" y="273"/>
                    </a:lnTo>
                    <a:lnTo>
                      <a:pt x="94" y="273"/>
                    </a:lnTo>
                    <a:lnTo>
                      <a:pt x="99" y="273"/>
                    </a:lnTo>
                    <a:lnTo>
                      <a:pt x="101" y="272"/>
                    </a:lnTo>
                    <a:lnTo>
                      <a:pt x="106" y="272"/>
                    </a:lnTo>
                    <a:lnTo>
                      <a:pt x="109" y="272"/>
                    </a:lnTo>
                    <a:lnTo>
                      <a:pt x="113" y="272"/>
                    </a:lnTo>
                    <a:lnTo>
                      <a:pt x="119" y="269"/>
                    </a:lnTo>
                    <a:lnTo>
                      <a:pt x="126" y="269"/>
                    </a:lnTo>
                    <a:lnTo>
                      <a:pt x="133" y="269"/>
                    </a:lnTo>
                    <a:lnTo>
                      <a:pt x="139" y="269"/>
                    </a:lnTo>
                    <a:lnTo>
                      <a:pt x="144" y="269"/>
                    </a:lnTo>
                    <a:lnTo>
                      <a:pt x="151" y="271"/>
                    </a:lnTo>
                    <a:lnTo>
                      <a:pt x="157" y="271"/>
                    </a:lnTo>
                    <a:lnTo>
                      <a:pt x="164" y="272"/>
                    </a:lnTo>
                    <a:lnTo>
                      <a:pt x="170" y="271"/>
                    </a:lnTo>
                    <a:lnTo>
                      <a:pt x="176" y="271"/>
                    </a:lnTo>
                    <a:lnTo>
                      <a:pt x="183" y="271"/>
                    </a:lnTo>
                    <a:lnTo>
                      <a:pt x="189" y="271"/>
                    </a:lnTo>
                    <a:lnTo>
                      <a:pt x="196" y="269"/>
                    </a:lnTo>
                    <a:lnTo>
                      <a:pt x="201" y="269"/>
                    </a:lnTo>
                    <a:lnTo>
                      <a:pt x="207" y="268"/>
                    </a:lnTo>
                    <a:lnTo>
                      <a:pt x="214" y="266"/>
                    </a:lnTo>
                    <a:lnTo>
                      <a:pt x="217" y="262"/>
                    </a:lnTo>
                    <a:lnTo>
                      <a:pt x="220" y="259"/>
                    </a:lnTo>
                    <a:lnTo>
                      <a:pt x="223" y="253"/>
                    </a:lnTo>
                    <a:lnTo>
                      <a:pt x="226" y="251"/>
                    </a:lnTo>
                    <a:lnTo>
                      <a:pt x="227" y="245"/>
                    </a:lnTo>
                    <a:lnTo>
                      <a:pt x="230" y="239"/>
                    </a:lnTo>
                    <a:lnTo>
                      <a:pt x="231" y="235"/>
                    </a:lnTo>
                    <a:lnTo>
                      <a:pt x="231" y="229"/>
                    </a:lnTo>
                    <a:lnTo>
                      <a:pt x="231" y="223"/>
                    </a:lnTo>
                    <a:lnTo>
                      <a:pt x="231" y="219"/>
                    </a:lnTo>
                    <a:lnTo>
                      <a:pt x="230" y="213"/>
                    </a:lnTo>
                    <a:lnTo>
                      <a:pt x="227" y="210"/>
                    </a:lnTo>
                    <a:lnTo>
                      <a:pt x="224" y="206"/>
                    </a:lnTo>
                    <a:lnTo>
                      <a:pt x="220" y="203"/>
                    </a:lnTo>
                    <a:lnTo>
                      <a:pt x="216" y="202"/>
                    </a:lnTo>
                    <a:lnTo>
                      <a:pt x="210" y="202"/>
                    </a:lnTo>
                    <a:lnTo>
                      <a:pt x="200" y="200"/>
                    </a:lnTo>
                    <a:lnTo>
                      <a:pt x="191" y="200"/>
                    </a:lnTo>
                    <a:lnTo>
                      <a:pt x="181" y="199"/>
                    </a:lnTo>
                    <a:lnTo>
                      <a:pt x="173" y="199"/>
                    </a:lnTo>
                    <a:lnTo>
                      <a:pt x="164" y="198"/>
                    </a:lnTo>
                    <a:lnTo>
                      <a:pt x="156" y="196"/>
                    </a:lnTo>
                    <a:lnTo>
                      <a:pt x="146" y="195"/>
                    </a:lnTo>
                    <a:lnTo>
                      <a:pt x="137" y="195"/>
                    </a:lnTo>
                    <a:lnTo>
                      <a:pt x="129" y="193"/>
                    </a:lnTo>
                    <a:lnTo>
                      <a:pt x="120" y="193"/>
                    </a:lnTo>
                    <a:lnTo>
                      <a:pt x="111" y="193"/>
                    </a:lnTo>
                    <a:lnTo>
                      <a:pt x="103" y="195"/>
                    </a:lnTo>
                    <a:lnTo>
                      <a:pt x="93" y="196"/>
                    </a:lnTo>
                    <a:lnTo>
                      <a:pt x="84" y="199"/>
                    </a:lnTo>
                    <a:lnTo>
                      <a:pt x="76" y="202"/>
                    </a:lnTo>
                    <a:lnTo>
                      <a:pt x="68" y="208"/>
                    </a:lnTo>
                    <a:lnTo>
                      <a:pt x="64" y="208"/>
                    </a:lnTo>
                    <a:lnTo>
                      <a:pt x="61" y="208"/>
                    </a:lnTo>
                    <a:lnTo>
                      <a:pt x="58" y="209"/>
                    </a:lnTo>
                    <a:lnTo>
                      <a:pt x="56" y="210"/>
                    </a:lnTo>
                    <a:lnTo>
                      <a:pt x="51" y="212"/>
                    </a:lnTo>
                    <a:lnTo>
                      <a:pt x="48" y="213"/>
                    </a:lnTo>
                    <a:lnTo>
                      <a:pt x="46" y="213"/>
                    </a:lnTo>
                    <a:lnTo>
                      <a:pt x="41" y="215"/>
                    </a:lnTo>
                    <a:lnTo>
                      <a:pt x="38" y="215"/>
                    </a:lnTo>
                    <a:lnTo>
                      <a:pt x="36" y="215"/>
                    </a:lnTo>
                    <a:lnTo>
                      <a:pt x="31" y="215"/>
                    </a:lnTo>
                    <a:lnTo>
                      <a:pt x="30" y="215"/>
                    </a:lnTo>
                    <a:lnTo>
                      <a:pt x="26" y="213"/>
                    </a:lnTo>
                    <a:lnTo>
                      <a:pt x="24" y="210"/>
                    </a:lnTo>
                    <a:lnTo>
                      <a:pt x="21" y="208"/>
                    </a:lnTo>
                    <a:lnTo>
                      <a:pt x="20" y="205"/>
                    </a:lnTo>
                    <a:lnTo>
                      <a:pt x="16" y="192"/>
                    </a:lnTo>
                    <a:lnTo>
                      <a:pt x="13" y="179"/>
                    </a:lnTo>
                    <a:lnTo>
                      <a:pt x="11" y="166"/>
                    </a:lnTo>
                    <a:lnTo>
                      <a:pt x="11" y="153"/>
                    </a:lnTo>
                    <a:lnTo>
                      <a:pt x="11" y="140"/>
                    </a:lnTo>
                    <a:lnTo>
                      <a:pt x="13" y="128"/>
                    </a:lnTo>
                    <a:lnTo>
                      <a:pt x="14" y="115"/>
                    </a:lnTo>
                    <a:lnTo>
                      <a:pt x="17" y="103"/>
                    </a:lnTo>
                    <a:lnTo>
                      <a:pt x="18" y="89"/>
                    </a:lnTo>
                    <a:lnTo>
                      <a:pt x="23" y="76"/>
                    </a:lnTo>
                    <a:lnTo>
                      <a:pt x="24" y="63"/>
                    </a:lnTo>
                    <a:lnTo>
                      <a:pt x="27" y="52"/>
                    </a:lnTo>
                    <a:lnTo>
                      <a:pt x="30" y="38"/>
                    </a:lnTo>
                    <a:lnTo>
                      <a:pt x="31" y="26"/>
                    </a:lnTo>
                    <a:lnTo>
                      <a:pt x="33" y="12"/>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7" name="Freeform 39"/>
              <p:cNvSpPr>
                <a:spLocks/>
              </p:cNvSpPr>
              <p:nvPr/>
            </p:nvSpPr>
            <p:spPr bwMode="auto">
              <a:xfrm>
                <a:off x="2502" y="760"/>
                <a:ext cx="16" cy="96"/>
              </a:xfrm>
              <a:custGeom>
                <a:avLst/>
                <a:gdLst>
                  <a:gd name="T0" fmla="*/ 0 w 33"/>
                  <a:gd name="T1" fmla="*/ 0 h 193"/>
                  <a:gd name="T2" fmla="*/ 0 w 33"/>
                  <a:gd name="T3" fmla="*/ 0 h 193"/>
                  <a:gd name="T4" fmla="*/ 0 w 33"/>
                  <a:gd name="T5" fmla="*/ 0 h 193"/>
                  <a:gd name="T6" fmla="*/ 0 w 33"/>
                  <a:gd name="T7" fmla="*/ 0 h 193"/>
                  <a:gd name="T8" fmla="*/ 0 w 33"/>
                  <a:gd name="T9" fmla="*/ 0 h 193"/>
                  <a:gd name="T10" fmla="*/ 0 w 33"/>
                  <a:gd name="T11" fmla="*/ 0 h 193"/>
                  <a:gd name="T12" fmla="*/ 0 w 33"/>
                  <a:gd name="T13" fmla="*/ 0 h 193"/>
                  <a:gd name="T14" fmla="*/ 0 w 33"/>
                  <a:gd name="T15" fmla="*/ 0 h 193"/>
                  <a:gd name="T16" fmla="*/ 0 w 33"/>
                  <a:gd name="T17" fmla="*/ 0 h 193"/>
                  <a:gd name="T18" fmla="*/ 0 w 33"/>
                  <a:gd name="T19" fmla="*/ 0 h 193"/>
                  <a:gd name="T20" fmla="*/ 0 w 33"/>
                  <a:gd name="T21" fmla="*/ 0 h 193"/>
                  <a:gd name="T22" fmla="*/ 0 w 33"/>
                  <a:gd name="T23" fmla="*/ 0 h 193"/>
                  <a:gd name="T24" fmla="*/ 0 w 33"/>
                  <a:gd name="T25" fmla="*/ 0 h 193"/>
                  <a:gd name="T26" fmla="*/ 0 w 33"/>
                  <a:gd name="T27" fmla="*/ 0 h 193"/>
                  <a:gd name="T28" fmla="*/ 0 w 33"/>
                  <a:gd name="T29" fmla="*/ 0 h 193"/>
                  <a:gd name="T30" fmla="*/ 0 w 33"/>
                  <a:gd name="T31" fmla="*/ 0 h 193"/>
                  <a:gd name="T32" fmla="*/ 0 w 33"/>
                  <a:gd name="T33" fmla="*/ 0 h 193"/>
                  <a:gd name="T34" fmla="*/ 0 w 33"/>
                  <a:gd name="T35" fmla="*/ 0 h 193"/>
                  <a:gd name="T36" fmla="*/ 0 w 33"/>
                  <a:gd name="T37" fmla="*/ 0 h 193"/>
                  <a:gd name="T38" fmla="*/ 0 w 33"/>
                  <a:gd name="T39" fmla="*/ 0 h 193"/>
                  <a:gd name="T40" fmla="*/ 0 w 33"/>
                  <a:gd name="T41" fmla="*/ 0 h 193"/>
                  <a:gd name="T42" fmla="*/ 0 w 33"/>
                  <a:gd name="T43" fmla="*/ 0 h 193"/>
                  <a:gd name="T44" fmla="*/ 0 w 33"/>
                  <a:gd name="T45" fmla="*/ 0 h 193"/>
                  <a:gd name="T46" fmla="*/ 0 w 33"/>
                  <a:gd name="T47" fmla="*/ 0 h 193"/>
                  <a:gd name="T48" fmla="*/ 0 w 33"/>
                  <a:gd name="T49" fmla="*/ 0 h 193"/>
                  <a:gd name="T50" fmla="*/ 0 w 33"/>
                  <a:gd name="T51" fmla="*/ 0 h 193"/>
                  <a:gd name="T52" fmla="*/ 0 w 33"/>
                  <a:gd name="T53" fmla="*/ 0 h 193"/>
                  <a:gd name="T54" fmla="*/ 0 w 33"/>
                  <a:gd name="T55" fmla="*/ 0 h 193"/>
                  <a:gd name="T56" fmla="*/ 0 w 33"/>
                  <a:gd name="T57" fmla="*/ 0 h 193"/>
                  <a:gd name="T58" fmla="*/ 0 w 33"/>
                  <a:gd name="T59" fmla="*/ 0 h 193"/>
                  <a:gd name="T60" fmla="*/ 0 w 33"/>
                  <a:gd name="T61" fmla="*/ 0 h 193"/>
                  <a:gd name="T62" fmla="*/ 0 w 33"/>
                  <a:gd name="T63" fmla="*/ 0 h 193"/>
                  <a:gd name="T64" fmla="*/ 0 w 33"/>
                  <a:gd name="T65" fmla="*/ 0 h 193"/>
                  <a:gd name="T66" fmla="*/ 0 w 33"/>
                  <a:gd name="T67" fmla="*/ 0 h 193"/>
                  <a:gd name="T68" fmla="*/ 0 w 33"/>
                  <a:gd name="T69" fmla="*/ 0 h 193"/>
                  <a:gd name="T70" fmla="*/ 0 w 33"/>
                  <a:gd name="T71" fmla="*/ 0 h 193"/>
                  <a:gd name="T72" fmla="*/ 0 w 33"/>
                  <a:gd name="T73" fmla="*/ 0 h 193"/>
                  <a:gd name="T74" fmla="*/ 0 w 33"/>
                  <a:gd name="T75" fmla="*/ 0 h 193"/>
                  <a:gd name="T76" fmla="*/ 0 w 33"/>
                  <a:gd name="T77" fmla="*/ 0 h 193"/>
                  <a:gd name="T78" fmla="*/ 0 w 33"/>
                  <a:gd name="T79" fmla="*/ 0 h 193"/>
                  <a:gd name="T80" fmla="*/ 0 w 33"/>
                  <a:gd name="T81" fmla="*/ 0 h 193"/>
                  <a:gd name="T82" fmla="*/ 0 w 33"/>
                  <a:gd name="T83" fmla="*/ 0 h 193"/>
                  <a:gd name="T84" fmla="*/ 0 w 33"/>
                  <a:gd name="T85" fmla="*/ 0 h 193"/>
                  <a:gd name="T86" fmla="*/ 0 w 33"/>
                  <a:gd name="T87" fmla="*/ 0 h 193"/>
                  <a:gd name="T88" fmla="*/ 0 w 33"/>
                  <a:gd name="T89" fmla="*/ 0 h 193"/>
                  <a:gd name="T90" fmla="*/ 0 w 33"/>
                  <a:gd name="T91" fmla="*/ 0 h 193"/>
                  <a:gd name="T92" fmla="*/ 0 w 33"/>
                  <a:gd name="T93" fmla="*/ 0 h 193"/>
                  <a:gd name="T94" fmla="*/ 0 w 33"/>
                  <a:gd name="T95" fmla="*/ 0 h 193"/>
                  <a:gd name="T96" fmla="*/ 0 w 33"/>
                  <a:gd name="T97" fmla="*/ 0 h 193"/>
                  <a:gd name="T98" fmla="*/ 0 w 33"/>
                  <a:gd name="T99" fmla="*/ 0 h 193"/>
                  <a:gd name="T100" fmla="*/ 0 w 33"/>
                  <a:gd name="T101" fmla="*/ 0 h 193"/>
                  <a:gd name="T102" fmla="*/ 0 w 33"/>
                  <a:gd name="T103" fmla="*/ 0 h 193"/>
                  <a:gd name="T104" fmla="*/ 0 w 33"/>
                  <a:gd name="T105" fmla="*/ 0 h 193"/>
                  <a:gd name="T106" fmla="*/ 0 w 33"/>
                  <a:gd name="T107" fmla="*/ 0 h 193"/>
                  <a:gd name="T108" fmla="*/ 0 w 33"/>
                  <a:gd name="T109" fmla="*/ 0 h 1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3"/>
                  <a:gd name="T166" fmla="*/ 0 h 193"/>
                  <a:gd name="T167" fmla="*/ 33 w 33"/>
                  <a:gd name="T168" fmla="*/ 193 h 1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3" h="193">
                    <a:moveTo>
                      <a:pt x="33" y="193"/>
                    </a:moveTo>
                    <a:lnTo>
                      <a:pt x="31" y="180"/>
                    </a:lnTo>
                    <a:lnTo>
                      <a:pt x="30" y="169"/>
                    </a:lnTo>
                    <a:lnTo>
                      <a:pt x="29" y="156"/>
                    </a:lnTo>
                    <a:lnTo>
                      <a:pt x="27" y="144"/>
                    </a:lnTo>
                    <a:lnTo>
                      <a:pt x="27" y="132"/>
                    </a:lnTo>
                    <a:lnTo>
                      <a:pt x="26" y="122"/>
                    </a:lnTo>
                    <a:lnTo>
                      <a:pt x="26" y="109"/>
                    </a:lnTo>
                    <a:lnTo>
                      <a:pt x="26" y="97"/>
                    </a:lnTo>
                    <a:lnTo>
                      <a:pt x="24" y="86"/>
                    </a:lnTo>
                    <a:lnTo>
                      <a:pt x="23" y="73"/>
                    </a:lnTo>
                    <a:lnTo>
                      <a:pt x="21" y="62"/>
                    </a:lnTo>
                    <a:lnTo>
                      <a:pt x="20" y="50"/>
                    </a:lnTo>
                    <a:lnTo>
                      <a:pt x="19" y="37"/>
                    </a:lnTo>
                    <a:lnTo>
                      <a:pt x="16" y="26"/>
                    </a:lnTo>
                    <a:lnTo>
                      <a:pt x="13" y="13"/>
                    </a:lnTo>
                    <a:lnTo>
                      <a:pt x="11" y="0"/>
                    </a:lnTo>
                    <a:lnTo>
                      <a:pt x="6" y="2"/>
                    </a:lnTo>
                    <a:lnTo>
                      <a:pt x="3" y="2"/>
                    </a:lnTo>
                    <a:lnTo>
                      <a:pt x="1" y="0"/>
                    </a:lnTo>
                    <a:lnTo>
                      <a:pt x="0" y="3"/>
                    </a:lnTo>
                    <a:lnTo>
                      <a:pt x="0" y="6"/>
                    </a:lnTo>
                    <a:lnTo>
                      <a:pt x="0" y="9"/>
                    </a:lnTo>
                    <a:lnTo>
                      <a:pt x="0" y="12"/>
                    </a:lnTo>
                    <a:lnTo>
                      <a:pt x="1" y="16"/>
                    </a:lnTo>
                    <a:lnTo>
                      <a:pt x="3" y="20"/>
                    </a:lnTo>
                    <a:lnTo>
                      <a:pt x="3" y="23"/>
                    </a:lnTo>
                    <a:lnTo>
                      <a:pt x="4" y="29"/>
                    </a:lnTo>
                    <a:lnTo>
                      <a:pt x="6" y="33"/>
                    </a:lnTo>
                    <a:lnTo>
                      <a:pt x="7" y="37"/>
                    </a:lnTo>
                    <a:lnTo>
                      <a:pt x="7" y="42"/>
                    </a:lnTo>
                    <a:lnTo>
                      <a:pt x="9" y="46"/>
                    </a:lnTo>
                    <a:lnTo>
                      <a:pt x="10" y="50"/>
                    </a:lnTo>
                    <a:lnTo>
                      <a:pt x="10" y="54"/>
                    </a:lnTo>
                    <a:lnTo>
                      <a:pt x="11" y="57"/>
                    </a:lnTo>
                    <a:lnTo>
                      <a:pt x="11" y="62"/>
                    </a:lnTo>
                    <a:lnTo>
                      <a:pt x="13" y="64"/>
                    </a:lnTo>
                    <a:lnTo>
                      <a:pt x="13" y="73"/>
                    </a:lnTo>
                    <a:lnTo>
                      <a:pt x="13" y="80"/>
                    </a:lnTo>
                    <a:lnTo>
                      <a:pt x="14" y="87"/>
                    </a:lnTo>
                    <a:lnTo>
                      <a:pt x="14" y="96"/>
                    </a:lnTo>
                    <a:lnTo>
                      <a:pt x="14" y="103"/>
                    </a:lnTo>
                    <a:lnTo>
                      <a:pt x="14" y="110"/>
                    </a:lnTo>
                    <a:lnTo>
                      <a:pt x="16" y="119"/>
                    </a:lnTo>
                    <a:lnTo>
                      <a:pt x="16" y="126"/>
                    </a:lnTo>
                    <a:lnTo>
                      <a:pt x="16" y="133"/>
                    </a:lnTo>
                    <a:lnTo>
                      <a:pt x="17" y="142"/>
                    </a:lnTo>
                    <a:lnTo>
                      <a:pt x="17" y="149"/>
                    </a:lnTo>
                    <a:lnTo>
                      <a:pt x="19" y="157"/>
                    </a:lnTo>
                    <a:lnTo>
                      <a:pt x="19" y="164"/>
                    </a:lnTo>
                    <a:lnTo>
                      <a:pt x="20" y="172"/>
                    </a:lnTo>
                    <a:lnTo>
                      <a:pt x="20" y="180"/>
                    </a:lnTo>
                    <a:lnTo>
                      <a:pt x="21" y="187"/>
                    </a:lnTo>
                    <a:lnTo>
                      <a:pt x="33" y="193"/>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8" name="Freeform 40"/>
              <p:cNvSpPr>
                <a:spLocks/>
              </p:cNvSpPr>
              <p:nvPr/>
            </p:nvSpPr>
            <p:spPr bwMode="auto">
              <a:xfrm>
                <a:off x="2362" y="738"/>
                <a:ext cx="47" cy="311"/>
              </a:xfrm>
              <a:custGeom>
                <a:avLst/>
                <a:gdLst>
                  <a:gd name="T0" fmla="*/ 0 w 94"/>
                  <a:gd name="T1" fmla="*/ 1 h 622"/>
                  <a:gd name="T2" fmla="*/ 1 w 94"/>
                  <a:gd name="T3" fmla="*/ 1 h 622"/>
                  <a:gd name="T4" fmla="*/ 1 w 94"/>
                  <a:gd name="T5" fmla="*/ 1 h 622"/>
                  <a:gd name="T6" fmla="*/ 1 w 94"/>
                  <a:gd name="T7" fmla="*/ 1 h 622"/>
                  <a:gd name="T8" fmla="*/ 1 w 94"/>
                  <a:gd name="T9" fmla="*/ 1 h 622"/>
                  <a:gd name="T10" fmla="*/ 1 w 94"/>
                  <a:gd name="T11" fmla="*/ 1 h 622"/>
                  <a:gd name="T12" fmla="*/ 0 w 94"/>
                  <a:gd name="T13" fmla="*/ 1 h 622"/>
                  <a:gd name="T14" fmla="*/ 1 w 94"/>
                  <a:gd name="T15" fmla="*/ 1 h 622"/>
                  <a:gd name="T16" fmla="*/ 1 w 94"/>
                  <a:gd name="T17" fmla="*/ 1 h 622"/>
                  <a:gd name="T18" fmla="*/ 1 w 94"/>
                  <a:gd name="T19" fmla="*/ 2 h 622"/>
                  <a:gd name="T20" fmla="*/ 1 w 94"/>
                  <a:gd name="T21" fmla="*/ 2 h 622"/>
                  <a:gd name="T22" fmla="*/ 1 w 94"/>
                  <a:gd name="T23" fmla="*/ 2 h 622"/>
                  <a:gd name="T24" fmla="*/ 1 w 94"/>
                  <a:gd name="T25" fmla="*/ 2 h 622"/>
                  <a:gd name="T26" fmla="*/ 1 w 94"/>
                  <a:gd name="T27" fmla="*/ 2 h 622"/>
                  <a:gd name="T28" fmla="*/ 1 w 94"/>
                  <a:gd name="T29" fmla="*/ 2 h 622"/>
                  <a:gd name="T30" fmla="*/ 1 w 94"/>
                  <a:gd name="T31" fmla="*/ 2 h 622"/>
                  <a:gd name="T32" fmla="*/ 1 w 94"/>
                  <a:gd name="T33" fmla="*/ 2 h 622"/>
                  <a:gd name="T34" fmla="*/ 1 w 94"/>
                  <a:gd name="T35" fmla="*/ 2 h 622"/>
                  <a:gd name="T36" fmla="*/ 1 w 94"/>
                  <a:gd name="T37" fmla="*/ 3 h 622"/>
                  <a:gd name="T38" fmla="*/ 1 w 94"/>
                  <a:gd name="T39" fmla="*/ 3 h 622"/>
                  <a:gd name="T40" fmla="*/ 1 w 94"/>
                  <a:gd name="T41" fmla="*/ 3 h 622"/>
                  <a:gd name="T42" fmla="*/ 1 w 94"/>
                  <a:gd name="T43" fmla="*/ 3 h 622"/>
                  <a:gd name="T44" fmla="*/ 1 w 94"/>
                  <a:gd name="T45" fmla="*/ 3 h 622"/>
                  <a:gd name="T46" fmla="*/ 1 w 94"/>
                  <a:gd name="T47" fmla="*/ 3 h 622"/>
                  <a:gd name="T48" fmla="*/ 1 w 94"/>
                  <a:gd name="T49" fmla="*/ 3 h 622"/>
                  <a:gd name="T50" fmla="*/ 1 w 94"/>
                  <a:gd name="T51" fmla="*/ 3 h 622"/>
                  <a:gd name="T52" fmla="*/ 1 w 94"/>
                  <a:gd name="T53" fmla="*/ 3 h 622"/>
                  <a:gd name="T54" fmla="*/ 1 w 94"/>
                  <a:gd name="T55" fmla="*/ 3 h 622"/>
                  <a:gd name="T56" fmla="*/ 1 w 94"/>
                  <a:gd name="T57" fmla="*/ 3 h 622"/>
                  <a:gd name="T58" fmla="*/ 1 w 94"/>
                  <a:gd name="T59" fmla="*/ 3 h 622"/>
                  <a:gd name="T60" fmla="*/ 1 w 94"/>
                  <a:gd name="T61" fmla="*/ 2 h 622"/>
                  <a:gd name="T62" fmla="*/ 1 w 94"/>
                  <a:gd name="T63" fmla="*/ 2 h 622"/>
                  <a:gd name="T64" fmla="*/ 1 w 94"/>
                  <a:gd name="T65" fmla="*/ 2 h 622"/>
                  <a:gd name="T66" fmla="*/ 1 w 94"/>
                  <a:gd name="T67" fmla="*/ 2 h 622"/>
                  <a:gd name="T68" fmla="*/ 1 w 94"/>
                  <a:gd name="T69" fmla="*/ 2 h 622"/>
                  <a:gd name="T70" fmla="*/ 1 w 94"/>
                  <a:gd name="T71" fmla="*/ 2 h 622"/>
                  <a:gd name="T72" fmla="*/ 1 w 94"/>
                  <a:gd name="T73" fmla="*/ 2 h 622"/>
                  <a:gd name="T74" fmla="*/ 1 w 94"/>
                  <a:gd name="T75" fmla="*/ 2 h 622"/>
                  <a:gd name="T76" fmla="*/ 1 w 94"/>
                  <a:gd name="T77" fmla="*/ 1 h 622"/>
                  <a:gd name="T78" fmla="*/ 1 w 94"/>
                  <a:gd name="T79" fmla="*/ 1 h 622"/>
                  <a:gd name="T80" fmla="*/ 1 w 94"/>
                  <a:gd name="T81" fmla="*/ 1 h 622"/>
                  <a:gd name="T82" fmla="*/ 1 w 94"/>
                  <a:gd name="T83" fmla="*/ 1 h 622"/>
                  <a:gd name="T84" fmla="*/ 1 w 94"/>
                  <a:gd name="T85" fmla="*/ 1 h 622"/>
                  <a:gd name="T86" fmla="*/ 1 w 94"/>
                  <a:gd name="T87" fmla="*/ 1 h 622"/>
                  <a:gd name="T88" fmla="*/ 1 w 94"/>
                  <a:gd name="T89" fmla="*/ 1 h 622"/>
                  <a:gd name="T90" fmla="*/ 1 w 94"/>
                  <a:gd name="T91" fmla="*/ 1 h 622"/>
                  <a:gd name="T92" fmla="*/ 1 w 94"/>
                  <a:gd name="T93" fmla="*/ 1 h 622"/>
                  <a:gd name="T94" fmla="*/ 1 w 94"/>
                  <a:gd name="T95" fmla="*/ 1 h 622"/>
                  <a:gd name="T96" fmla="*/ 1 w 94"/>
                  <a:gd name="T97" fmla="*/ 0 h 6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4"/>
                  <a:gd name="T148" fmla="*/ 0 h 622"/>
                  <a:gd name="T149" fmla="*/ 94 w 94"/>
                  <a:gd name="T150" fmla="*/ 622 h 62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4" h="622">
                    <a:moveTo>
                      <a:pt x="4" y="0"/>
                    </a:moveTo>
                    <a:lnTo>
                      <a:pt x="1" y="5"/>
                    </a:lnTo>
                    <a:lnTo>
                      <a:pt x="0" y="9"/>
                    </a:lnTo>
                    <a:lnTo>
                      <a:pt x="0" y="12"/>
                    </a:lnTo>
                    <a:lnTo>
                      <a:pt x="0" y="15"/>
                    </a:lnTo>
                    <a:lnTo>
                      <a:pt x="1" y="17"/>
                    </a:lnTo>
                    <a:lnTo>
                      <a:pt x="1" y="20"/>
                    </a:lnTo>
                    <a:lnTo>
                      <a:pt x="1" y="23"/>
                    </a:lnTo>
                    <a:lnTo>
                      <a:pt x="3" y="26"/>
                    </a:lnTo>
                    <a:lnTo>
                      <a:pt x="3" y="29"/>
                    </a:lnTo>
                    <a:lnTo>
                      <a:pt x="4" y="32"/>
                    </a:lnTo>
                    <a:lnTo>
                      <a:pt x="3" y="35"/>
                    </a:lnTo>
                    <a:lnTo>
                      <a:pt x="3" y="37"/>
                    </a:lnTo>
                    <a:lnTo>
                      <a:pt x="3" y="40"/>
                    </a:lnTo>
                    <a:lnTo>
                      <a:pt x="1" y="43"/>
                    </a:lnTo>
                    <a:lnTo>
                      <a:pt x="1" y="57"/>
                    </a:lnTo>
                    <a:lnTo>
                      <a:pt x="1" y="72"/>
                    </a:lnTo>
                    <a:lnTo>
                      <a:pt x="1" y="86"/>
                    </a:lnTo>
                    <a:lnTo>
                      <a:pt x="1" y="100"/>
                    </a:lnTo>
                    <a:lnTo>
                      <a:pt x="0" y="115"/>
                    </a:lnTo>
                    <a:lnTo>
                      <a:pt x="0" y="130"/>
                    </a:lnTo>
                    <a:lnTo>
                      <a:pt x="1" y="145"/>
                    </a:lnTo>
                    <a:lnTo>
                      <a:pt x="1" y="159"/>
                    </a:lnTo>
                    <a:lnTo>
                      <a:pt x="1" y="173"/>
                    </a:lnTo>
                    <a:lnTo>
                      <a:pt x="3" y="187"/>
                    </a:lnTo>
                    <a:lnTo>
                      <a:pt x="3" y="202"/>
                    </a:lnTo>
                    <a:lnTo>
                      <a:pt x="5" y="217"/>
                    </a:lnTo>
                    <a:lnTo>
                      <a:pt x="5" y="232"/>
                    </a:lnTo>
                    <a:lnTo>
                      <a:pt x="7" y="246"/>
                    </a:lnTo>
                    <a:lnTo>
                      <a:pt x="10" y="260"/>
                    </a:lnTo>
                    <a:lnTo>
                      <a:pt x="13" y="276"/>
                    </a:lnTo>
                    <a:lnTo>
                      <a:pt x="11" y="286"/>
                    </a:lnTo>
                    <a:lnTo>
                      <a:pt x="10" y="298"/>
                    </a:lnTo>
                    <a:lnTo>
                      <a:pt x="10" y="309"/>
                    </a:lnTo>
                    <a:lnTo>
                      <a:pt x="10" y="320"/>
                    </a:lnTo>
                    <a:lnTo>
                      <a:pt x="10" y="332"/>
                    </a:lnTo>
                    <a:lnTo>
                      <a:pt x="10" y="343"/>
                    </a:lnTo>
                    <a:lnTo>
                      <a:pt x="10" y="355"/>
                    </a:lnTo>
                    <a:lnTo>
                      <a:pt x="11" y="366"/>
                    </a:lnTo>
                    <a:lnTo>
                      <a:pt x="13" y="376"/>
                    </a:lnTo>
                    <a:lnTo>
                      <a:pt x="14" y="388"/>
                    </a:lnTo>
                    <a:lnTo>
                      <a:pt x="15" y="399"/>
                    </a:lnTo>
                    <a:lnTo>
                      <a:pt x="18" y="410"/>
                    </a:lnTo>
                    <a:lnTo>
                      <a:pt x="20" y="420"/>
                    </a:lnTo>
                    <a:lnTo>
                      <a:pt x="24" y="432"/>
                    </a:lnTo>
                    <a:lnTo>
                      <a:pt x="27" y="443"/>
                    </a:lnTo>
                    <a:lnTo>
                      <a:pt x="31" y="455"/>
                    </a:lnTo>
                    <a:lnTo>
                      <a:pt x="33" y="462"/>
                    </a:lnTo>
                    <a:lnTo>
                      <a:pt x="35" y="469"/>
                    </a:lnTo>
                    <a:lnTo>
                      <a:pt x="37" y="476"/>
                    </a:lnTo>
                    <a:lnTo>
                      <a:pt x="38" y="483"/>
                    </a:lnTo>
                    <a:lnTo>
                      <a:pt x="40" y="490"/>
                    </a:lnTo>
                    <a:lnTo>
                      <a:pt x="41" y="498"/>
                    </a:lnTo>
                    <a:lnTo>
                      <a:pt x="44" y="505"/>
                    </a:lnTo>
                    <a:lnTo>
                      <a:pt x="45" y="513"/>
                    </a:lnTo>
                    <a:lnTo>
                      <a:pt x="47" y="520"/>
                    </a:lnTo>
                    <a:lnTo>
                      <a:pt x="50" y="528"/>
                    </a:lnTo>
                    <a:lnTo>
                      <a:pt x="53" y="535"/>
                    </a:lnTo>
                    <a:lnTo>
                      <a:pt x="55" y="542"/>
                    </a:lnTo>
                    <a:lnTo>
                      <a:pt x="58" y="549"/>
                    </a:lnTo>
                    <a:lnTo>
                      <a:pt x="63" y="556"/>
                    </a:lnTo>
                    <a:lnTo>
                      <a:pt x="65" y="565"/>
                    </a:lnTo>
                    <a:lnTo>
                      <a:pt x="70" y="572"/>
                    </a:lnTo>
                    <a:lnTo>
                      <a:pt x="71" y="575"/>
                    </a:lnTo>
                    <a:lnTo>
                      <a:pt x="73" y="578"/>
                    </a:lnTo>
                    <a:lnTo>
                      <a:pt x="73" y="581"/>
                    </a:lnTo>
                    <a:lnTo>
                      <a:pt x="74" y="585"/>
                    </a:lnTo>
                    <a:lnTo>
                      <a:pt x="74" y="588"/>
                    </a:lnTo>
                    <a:lnTo>
                      <a:pt x="76" y="592"/>
                    </a:lnTo>
                    <a:lnTo>
                      <a:pt x="76" y="595"/>
                    </a:lnTo>
                    <a:lnTo>
                      <a:pt x="77" y="598"/>
                    </a:lnTo>
                    <a:lnTo>
                      <a:pt x="77" y="601"/>
                    </a:lnTo>
                    <a:lnTo>
                      <a:pt x="77" y="605"/>
                    </a:lnTo>
                    <a:lnTo>
                      <a:pt x="78" y="608"/>
                    </a:lnTo>
                    <a:lnTo>
                      <a:pt x="80" y="611"/>
                    </a:lnTo>
                    <a:lnTo>
                      <a:pt x="81" y="613"/>
                    </a:lnTo>
                    <a:lnTo>
                      <a:pt x="83" y="616"/>
                    </a:lnTo>
                    <a:lnTo>
                      <a:pt x="84" y="619"/>
                    </a:lnTo>
                    <a:lnTo>
                      <a:pt x="87" y="622"/>
                    </a:lnTo>
                    <a:lnTo>
                      <a:pt x="90" y="621"/>
                    </a:lnTo>
                    <a:lnTo>
                      <a:pt x="94" y="619"/>
                    </a:lnTo>
                    <a:lnTo>
                      <a:pt x="91" y="609"/>
                    </a:lnTo>
                    <a:lnTo>
                      <a:pt x="88" y="599"/>
                    </a:lnTo>
                    <a:lnTo>
                      <a:pt x="86" y="589"/>
                    </a:lnTo>
                    <a:lnTo>
                      <a:pt x="83" y="579"/>
                    </a:lnTo>
                    <a:lnTo>
                      <a:pt x="78" y="569"/>
                    </a:lnTo>
                    <a:lnTo>
                      <a:pt x="74" y="560"/>
                    </a:lnTo>
                    <a:lnTo>
                      <a:pt x="70" y="550"/>
                    </a:lnTo>
                    <a:lnTo>
                      <a:pt x="67" y="540"/>
                    </a:lnTo>
                    <a:lnTo>
                      <a:pt x="63" y="532"/>
                    </a:lnTo>
                    <a:lnTo>
                      <a:pt x="60" y="522"/>
                    </a:lnTo>
                    <a:lnTo>
                      <a:pt x="55" y="512"/>
                    </a:lnTo>
                    <a:lnTo>
                      <a:pt x="53" y="502"/>
                    </a:lnTo>
                    <a:lnTo>
                      <a:pt x="50" y="492"/>
                    </a:lnTo>
                    <a:lnTo>
                      <a:pt x="47" y="482"/>
                    </a:lnTo>
                    <a:lnTo>
                      <a:pt x="45" y="473"/>
                    </a:lnTo>
                    <a:lnTo>
                      <a:pt x="44" y="463"/>
                    </a:lnTo>
                    <a:lnTo>
                      <a:pt x="40" y="452"/>
                    </a:lnTo>
                    <a:lnTo>
                      <a:pt x="37" y="440"/>
                    </a:lnTo>
                    <a:lnTo>
                      <a:pt x="33" y="430"/>
                    </a:lnTo>
                    <a:lnTo>
                      <a:pt x="31" y="419"/>
                    </a:lnTo>
                    <a:lnTo>
                      <a:pt x="28" y="408"/>
                    </a:lnTo>
                    <a:lnTo>
                      <a:pt x="25" y="398"/>
                    </a:lnTo>
                    <a:lnTo>
                      <a:pt x="24" y="386"/>
                    </a:lnTo>
                    <a:lnTo>
                      <a:pt x="23" y="375"/>
                    </a:lnTo>
                    <a:lnTo>
                      <a:pt x="21" y="365"/>
                    </a:lnTo>
                    <a:lnTo>
                      <a:pt x="20" y="353"/>
                    </a:lnTo>
                    <a:lnTo>
                      <a:pt x="20" y="342"/>
                    </a:lnTo>
                    <a:lnTo>
                      <a:pt x="20" y="332"/>
                    </a:lnTo>
                    <a:lnTo>
                      <a:pt x="18" y="319"/>
                    </a:lnTo>
                    <a:lnTo>
                      <a:pt x="20" y="308"/>
                    </a:lnTo>
                    <a:lnTo>
                      <a:pt x="20" y="298"/>
                    </a:lnTo>
                    <a:lnTo>
                      <a:pt x="21" y="286"/>
                    </a:lnTo>
                    <a:lnTo>
                      <a:pt x="20" y="275"/>
                    </a:lnTo>
                    <a:lnTo>
                      <a:pt x="20" y="265"/>
                    </a:lnTo>
                    <a:lnTo>
                      <a:pt x="18" y="253"/>
                    </a:lnTo>
                    <a:lnTo>
                      <a:pt x="17" y="243"/>
                    </a:lnTo>
                    <a:lnTo>
                      <a:pt x="15" y="232"/>
                    </a:lnTo>
                    <a:lnTo>
                      <a:pt x="15" y="222"/>
                    </a:lnTo>
                    <a:lnTo>
                      <a:pt x="14" y="212"/>
                    </a:lnTo>
                    <a:lnTo>
                      <a:pt x="14" y="202"/>
                    </a:lnTo>
                    <a:lnTo>
                      <a:pt x="13" y="190"/>
                    </a:lnTo>
                    <a:lnTo>
                      <a:pt x="13" y="180"/>
                    </a:lnTo>
                    <a:lnTo>
                      <a:pt x="11" y="169"/>
                    </a:lnTo>
                    <a:lnTo>
                      <a:pt x="11" y="159"/>
                    </a:lnTo>
                    <a:lnTo>
                      <a:pt x="10" y="149"/>
                    </a:lnTo>
                    <a:lnTo>
                      <a:pt x="10" y="137"/>
                    </a:lnTo>
                    <a:lnTo>
                      <a:pt x="10" y="127"/>
                    </a:lnTo>
                    <a:lnTo>
                      <a:pt x="11" y="117"/>
                    </a:lnTo>
                    <a:lnTo>
                      <a:pt x="10" y="110"/>
                    </a:lnTo>
                    <a:lnTo>
                      <a:pt x="10" y="103"/>
                    </a:lnTo>
                    <a:lnTo>
                      <a:pt x="10" y="96"/>
                    </a:lnTo>
                    <a:lnTo>
                      <a:pt x="10" y="89"/>
                    </a:lnTo>
                    <a:lnTo>
                      <a:pt x="10" y="82"/>
                    </a:lnTo>
                    <a:lnTo>
                      <a:pt x="10" y="76"/>
                    </a:lnTo>
                    <a:lnTo>
                      <a:pt x="11" y="69"/>
                    </a:lnTo>
                    <a:lnTo>
                      <a:pt x="11" y="62"/>
                    </a:lnTo>
                    <a:lnTo>
                      <a:pt x="11" y="55"/>
                    </a:lnTo>
                    <a:lnTo>
                      <a:pt x="11" y="47"/>
                    </a:lnTo>
                    <a:lnTo>
                      <a:pt x="11" y="40"/>
                    </a:lnTo>
                    <a:lnTo>
                      <a:pt x="13" y="33"/>
                    </a:lnTo>
                    <a:lnTo>
                      <a:pt x="11" y="26"/>
                    </a:lnTo>
                    <a:lnTo>
                      <a:pt x="11" y="20"/>
                    </a:lnTo>
                    <a:lnTo>
                      <a:pt x="10" y="13"/>
                    </a:lnTo>
                    <a:lnTo>
                      <a:pt x="10" y="6"/>
                    </a:lnTo>
                    <a:lnTo>
                      <a:pt x="7" y="3"/>
                    </a:lnTo>
                    <a:lnTo>
                      <a:pt x="4"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49" name="Freeform 41"/>
              <p:cNvSpPr>
                <a:spLocks/>
              </p:cNvSpPr>
              <p:nvPr/>
            </p:nvSpPr>
            <p:spPr bwMode="auto">
              <a:xfrm>
                <a:off x="2512" y="861"/>
                <a:ext cx="71" cy="242"/>
              </a:xfrm>
              <a:custGeom>
                <a:avLst/>
                <a:gdLst>
                  <a:gd name="T0" fmla="*/ 1 w 97"/>
                  <a:gd name="T1" fmla="*/ 2 h 218"/>
                  <a:gd name="T2" fmla="*/ 1 w 97"/>
                  <a:gd name="T3" fmla="*/ 0 h 218"/>
                  <a:gd name="T4" fmla="*/ 0 w 97"/>
                  <a:gd name="T5" fmla="*/ 2 h 218"/>
                  <a:gd name="T6" fmla="*/ 1 w 97"/>
                  <a:gd name="T7" fmla="*/ 27 h 218"/>
                  <a:gd name="T8" fmla="*/ 1 w 97"/>
                  <a:gd name="T9" fmla="*/ 67 h 218"/>
                  <a:gd name="T10" fmla="*/ 1 w 97"/>
                  <a:gd name="T11" fmla="*/ 115 h 218"/>
                  <a:gd name="T12" fmla="*/ 1 w 97"/>
                  <a:gd name="T13" fmla="*/ 169 h 218"/>
                  <a:gd name="T14" fmla="*/ 2 w 97"/>
                  <a:gd name="T15" fmla="*/ 220 h 218"/>
                  <a:gd name="T16" fmla="*/ 3 w 97"/>
                  <a:gd name="T17" fmla="*/ 269 h 218"/>
                  <a:gd name="T18" fmla="*/ 3 w 97"/>
                  <a:gd name="T19" fmla="*/ 312 h 218"/>
                  <a:gd name="T20" fmla="*/ 4 w 97"/>
                  <a:gd name="T21" fmla="*/ 343 h 218"/>
                  <a:gd name="T22" fmla="*/ 4 w 97"/>
                  <a:gd name="T23" fmla="*/ 362 h 218"/>
                  <a:gd name="T24" fmla="*/ 4 w 97"/>
                  <a:gd name="T25" fmla="*/ 382 h 218"/>
                  <a:gd name="T26" fmla="*/ 5 w 97"/>
                  <a:gd name="T27" fmla="*/ 402 h 218"/>
                  <a:gd name="T28" fmla="*/ 5 w 97"/>
                  <a:gd name="T29" fmla="*/ 423 h 218"/>
                  <a:gd name="T30" fmla="*/ 5 w 97"/>
                  <a:gd name="T31" fmla="*/ 443 h 218"/>
                  <a:gd name="T32" fmla="*/ 6 w 97"/>
                  <a:gd name="T33" fmla="*/ 458 h 218"/>
                  <a:gd name="T34" fmla="*/ 7 w 97"/>
                  <a:gd name="T35" fmla="*/ 480 h 218"/>
                  <a:gd name="T36" fmla="*/ 7 w 97"/>
                  <a:gd name="T37" fmla="*/ 495 h 218"/>
                  <a:gd name="T38" fmla="*/ 8 w 97"/>
                  <a:gd name="T39" fmla="*/ 505 h 218"/>
                  <a:gd name="T40" fmla="*/ 8 w 97"/>
                  <a:gd name="T41" fmla="*/ 488 h 218"/>
                  <a:gd name="T42" fmla="*/ 7 w 97"/>
                  <a:gd name="T43" fmla="*/ 473 h 218"/>
                  <a:gd name="T44" fmla="*/ 7 w 97"/>
                  <a:gd name="T45" fmla="*/ 455 h 218"/>
                  <a:gd name="T46" fmla="*/ 7 w 97"/>
                  <a:gd name="T47" fmla="*/ 434 h 218"/>
                  <a:gd name="T48" fmla="*/ 6 w 97"/>
                  <a:gd name="T49" fmla="*/ 413 h 218"/>
                  <a:gd name="T50" fmla="*/ 5 w 97"/>
                  <a:gd name="T51" fmla="*/ 394 h 218"/>
                  <a:gd name="T52" fmla="*/ 5 w 97"/>
                  <a:gd name="T53" fmla="*/ 376 h 218"/>
                  <a:gd name="T54" fmla="*/ 5 w 97"/>
                  <a:gd name="T55" fmla="*/ 369 h 218"/>
                  <a:gd name="T56" fmla="*/ 4 w 97"/>
                  <a:gd name="T57" fmla="*/ 332 h 218"/>
                  <a:gd name="T58" fmla="*/ 4 w 97"/>
                  <a:gd name="T59" fmla="*/ 281 h 218"/>
                  <a:gd name="T60" fmla="*/ 3 w 97"/>
                  <a:gd name="T61" fmla="*/ 225 h 218"/>
                  <a:gd name="T62" fmla="*/ 2 w 97"/>
                  <a:gd name="T63" fmla="*/ 169 h 218"/>
                  <a:gd name="T64" fmla="*/ 2 w 97"/>
                  <a:gd name="T65" fmla="*/ 112 h 218"/>
                  <a:gd name="T66" fmla="*/ 1 w 97"/>
                  <a:gd name="T67" fmla="*/ 63 h 218"/>
                  <a:gd name="T68" fmla="*/ 1 w 97"/>
                  <a:gd name="T69" fmla="*/ 22 h 218"/>
                  <a:gd name="T70" fmla="*/ 1 w 97"/>
                  <a:gd name="T71" fmla="*/ 2 h 2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
                  <a:gd name="T109" fmla="*/ 0 h 218"/>
                  <a:gd name="T110" fmla="*/ 97 w 97"/>
                  <a:gd name="T111" fmla="*/ 218 h 2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 h="218">
                    <a:moveTo>
                      <a:pt x="12" y="2"/>
                    </a:moveTo>
                    <a:lnTo>
                      <a:pt x="9" y="2"/>
                    </a:lnTo>
                    <a:lnTo>
                      <a:pt x="6" y="0"/>
                    </a:lnTo>
                    <a:lnTo>
                      <a:pt x="3" y="0"/>
                    </a:lnTo>
                    <a:lnTo>
                      <a:pt x="2" y="0"/>
                    </a:lnTo>
                    <a:lnTo>
                      <a:pt x="0" y="2"/>
                    </a:lnTo>
                    <a:lnTo>
                      <a:pt x="0" y="5"/>
                    </a:lnTo>
                    <a:lnTo>
                      <a:pt x="2" y="12"/>
                    </a:lnTo>
                    <a:lnTo>
                      <a:pt x="3" y="20"/>
                    </a:lnTo>
                    <a:lnTo>
                      <a:pt x="5" y="29"/>
                    </a:lnTo>
                    <a:lnTo>
                      <a:pt x="7" y="40"/>
                    </a:lnTo>
                    <a:lnTo>
                      <a:pt x="10" y="50"/>
                    </a:lnTo>
                    <a:lnTo>
                      <a:pt x="13" y="62"/>
                    </a:lnTo>
                    <a:lnTo>
                      <a:pt x="17" y="73"/>
                    </a:lnTo>
                    <a:lnTo>
                      <a:pt x="20" y="85"/>
                    </a:lnTo>
                    <a:lnTo>
                      <a:pt x="23" y="95"/>
                    </a:lnTo>
                    <a:lnTo>
                      <a:pt x="27" y="106"/>
                    </a:lnTo>
                    <a:lnTo>
                      <a:pt x="30" y="116"/>
                    </a:lnTo>
                    <a:lnTo>
                      <a:pt x="35" y="126"/>
                    </a:lnTo>
                    <a:lnTo>
                      <a:pt x="37" y="135"/>
                    </a:lnTo>
                    <a:lnTo>
                      <a:pt x="40" y="142"/>
                    </a:lnTo>
                    <a:lnTo>
                      <a:pt x="43" y="149"/>
                    </a:lnTo>
                    <a:lnTo>
                      <a:pt x="46" y="153"/>
                    </a:lnTo>
                    <a:lnTo>
                      <a:pt x="47" y="158"/>
                    </a:lnTo>
                    <a:lnTo>
                      <a:pt x="50" y="162"/>
                    </a:lnTo>
                    <a:lnTo>
                      <a:pt x="52" y="166"/>
                    </a:lnTo>
                    <a:lnTo>
                      <a:pt x="55" y="170"/>
                    </a:lnTo>
                    <a:lnTo>
                      <a:pt x="56" y="175"/>
                    </a:lnTo>
                    <a:lnTo>
                      <a:pt x="59" y="179"/>
                    </a:lnTo>
                    <a:lnTo>
                      <a:pt x="62" y="183"/>
                    </a:lnTo>
                    <a:lnTo>
                      <a:pt x="65" y="188"/>
                    </a:lnTo>
                    <a:lnTo>
                      <a:pt x="66" y="192"/>
                    </a:lnTo>
                    <a:lnTo>
                      <a:pt x="69" y="196"/>
                    </a:lnTo>
                    <a:lnTo>
                      <a:pt x="72" y="199"/>
                    </a:lnTo>
                    <a:lnTo>
                      <a:pt x="75" y="203"/>
                    </a:lnTo>
                    <a:lnTo>
                      <a:pt x="77" y="208"/>
                    </a:lnTo>
                    <a:lnTo>
                      <a:pt x="80" y="210"/>
                    </a:lnTo>
                    <a:lnTo>
                      <a:pt x="83" y="215"/>
                    </a:lnTo>
                    <a:lnTo>
                      <a:pt x="86" y="218"/>
                    </a:lnTo>
                    <a:lnTo>
                      <a:pt x="97" y="218"/>
                    </a:lnTo>
                    <a:lnTo>
                      <a:pt x="95" y="215"/>
                    </a:lnTo>
                    <a:lnTo>
                      <a:pt x="93" y="212"/>
                    </a:lnTo>
                    <a:lnTo>
                      <a:pt x="90" y="209"/>
                    </a:lnTo>
                    <a:lnTo>
                      <a:pt x="89" y="205"/>
                    </a:lnTo>
                    <a:lnTo>
                      <a:pt x="86" y="200"/>
                    </a:lnTo>
                    <a:lnTo>
                      <a:pt x="83" y="196"/>
                    </a:lnTo>
                    <a:lnTo>
                      <a:pt x="80" y="192"/>
                    </a:lnTo>
                    <a:lnTo>
                      <a:pt x="77" y="188"/>
                    </a:lnTo>
                    <a:lnTo>
                      <a:pt x="75" y="183"/>
                    </a:lnTo>
                    <a:lnTo>
                      <a:pt x="72" y="179"/>
                    </a:lnTo>
                    <a:lnTo>
                      <a:pt x="69" y="175"/>
                    </a:lnTo>
                    <a:lnTo>
                      <a:pt x="66" y="170"/>
                    </a:lnTo>
                    <a:lnTo>
                      <a:pt x="63" y="166"/>
                    </a:lnTo>
                    <a:lnTo>
                      <a:pt x="62" y="163"/>
                    </a:lnTo>
                    <a:lnTo>
                      <a:pt x="59" y="160"/>
                    </a:lnTo>
                    <a:lnTo>
                      <a:pt x="59" y="159"/>
                    </a:lnTo>
                    <a:lnTo>
                      <a:pt x="55" y="152"/>
                    </a:lnTo>
                    <a:lnTo>
                      <a:pt x="52" y="143"/>
                    </a:lnTo>
                    <a:lnTo>
                      <a:pt x="49" y="133"/>
                    </a:lnTo>
                    <a:lnTo>
                      <a:pt x="45" y="122"/>
                    </a:lnTo>
                    <a:lnTo>
                      <a:pt x="40" y="110"/>
                    </a:lnTo>
                    <a:lnTo>
                      <a:pt x="37" y="98"/>
                    </a:lnTo>
                    <a:lnTo>
                      <a:pt x="33" y="85"/>
                    </a:lnTo>
                    <a:lnTo>
                      <a:pt x="29" y="73"/>
                    </a:lnTo>
                    <a:lnTo>
                      <a:pt x="25" y="60"/>
                    </a:lnTo>
                    <a:lnTo>
                      <a:pt x="22" y="49"/>
                    </a:lnTo>
                    <a:lnTo>
                      <a:pt x="19" y="36"/>
                    </a:lnTo>
                    <a:lnTo>
                      <a:pt x="16" y="27"/>
                    </a:lnTo>
                    <a:lnTo>
                      <a:pt x="13" y="17"/>
                    </a:lnTo>
                    <a:lnTo>
                      <a:pt x="13" y="10"/>
                    </a:lnTo>
                    <a:lnTo>
                      <a:pt x="12" y="5"/>
                    </a:lnTo>
                    <a:lnTo>
                      <a:pt x="12" y="2"/>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0" name="Freeform 42"/>
              <p:cNvSpPr>
                <a:spLocks/>
              </p:cNvSpPr>
              <p:nvPr/>
            </p:nvSpPr>
            <p:spPr bwMode="auto">
              <a:xfrm>
                <a:off x="2268" y="1040"/>
                <a:ext cx="393" cy="130"/>
              </a:xfrm>
              <a:custGeom>
                <a:avLst/>
                <a:gdLst>
                  <a:gd name="T0" fmla="*/ 2 w 787"/>
                  <a:gd name="T1" fmla="*/ 0 h 262"/>
                  <a:gd name="T2" fmla="*/ 2 w 787"/>
                  <a:gd name="T3" fmla="*/ 0 h 262"/>
                  <a:gd name="T4" fmla="*/ 2 w 787"/>
                  <a:gd name="T5" fmla="*/ 0 h 262"/>
                  <a:gd name="T6" fmla="*/ 2 w 787"/>
                  <a:gd name="T7" fmla="*/ 0 h 262"/>
                  <a:gd name="T8" fmla="*/ 2 w 787"/>
                  <a:gd name="T9" fmla="*/ 0 h 262"/>
                  <a:gd name="T10" fmla="*/ 2 w 787"/>
                  <a:gd name="T11" fmla="*/ 0 h 262"/>
                  <a:gd name="T12" fmla="*/ 2 w 787"/>
                  <a:gd name="T13" fmla="*/ 0 h 262"/>
                  <a:gd name="T14" fmla="*/ 1 w 787"/>
                  <a:gd name="T15" fmla="*/ 0 h 262"/>
                  <a:gd name="T16" fmla="*/ 1 w 787"/>
                  <a:gd name="T17" fmla="*/ 0 h 262"/>
                  <a:gd name="T18" fmla="*/ 1 w 787"/>
                  <a:gd name="T19" fmla="*/ 0 h 262"/>
                  <a:gd name="T20" fmla="*/ 1 w 787"/>
                  <a:gd name="T21" fmla="*/ 0 h 262"/>
                  <a:gd name="T22" fmla="*/ 1 w 787"/>
                  <a:gd name="T23" fmla="*/ 0 h 262"/>
                  <a:gd name="T24" fmla="*/ 1 w 787"/>
                  <a:gd name="T25" fmla="*/ 0 h 262"/>
                  <a:gd name="T26" fmla="*/ 1 w 787"/>
                  <a:gd name="T27" fmla="*/ 0 h 262"/>
                  <a:gd name="T28" fmla="*/ 0 w 787"/>
                  <a:gd name="T29" fmla="*/ 0 h 262"/>
                  <a:gd name="T30" fmla="*/ 0 w 787"/>
                  <a:gd name="T31" fmla="*/ 0 h 262"/>
                  <a:gd name="T32" fmla="*/ 0 w 787"/>
                  <a:gd name="T33" fmla="*/ 0 h 262"/>
                  <a:gd name="T34" fmla="*/ 0 w 787"/>
                  <a:gd name="T35" fmla="*/ 0 h 262"/>
                  <a:gd name="T36" fmla="*/ 0 w 787"/>
                  <a:gd name="T37" fmla="*/ 0 h 262"/>
                  <a:gd name="T38" fmla="*/ 0 w 787"/>
                  <a:gd name="T39" fmla="*/ 0 h 262"/>
                  <a:gd name="T40" fmla="*/ 0 w 787"/>
                  <a:gd name="T41" fmla="*/ 0 h 262"/>
                  <a:gd name="T42" fmla="*/ 0 w 787"/>
                  <a:gd name="T43" fmla="*/ 0 h 262"/>
                  <a:gd name="T44" fmla="*/ 0 w 787"/>
                  <a:gd name="T45" fmla="*/ 0 h 262"/>
                  <a:gd name="T46" fmla="*/ 0 w 787"/>
                  <a:gd name="T47" fmla="*/ 0 h 262"/>
                  <a:gd name="T48" fmla="*/ 0 w 787"/>
                  <a:gd name="T49" fmla="*/ 1 h 262"/>
                  <a:gd name="T50" fmla="*/ 0 w 787"/>
                  <a:gd name="T51" fmla="*/ 1 h 262"/>
                  <a:gd name="T52" fmla="*/ 0 w 787"/>
                  <a:gd name="T53" fmla="*/ 0 h 262"/>
                  <a:gd name="T54" fmla="*/ 0 w 787"/>
                  <a:gd name="T55" fmla="*/ 0 h 262"/>
                  <a:gd name="T56" fmla="*/ 0 w 787"/>
                  <a:gd name="T57" fmla="*/ 0 h 262"/>
                  <a:gd name="T58" fmla="*/ 0 w 787"/>
                  <a:gd name="T59" fmla="*/ 0 h 262"/>
                  <a:gd name="T60" fmla="*/ 0 w 787"/>
                  <a:gd name="T61" fmla="*/ 0 h 262"/>
                  <a:gd name="T62" fmla="*/ 0 w 787"/>
                  <a:gd name="T63" fmla="*/ 0 h 262"/>
                  <a:gd name="T64" fmla="*/ 0 w 787"/>
                  <a:gd name="T65" fmla="*/ 0 h 262"/>
                  <a:gd name="T66" fmla="*/ 0 w 787"/>
                  <a:gd name="T67" fmla="*/ 0 h 262"/>
                  <a:gd name="T68" fmla="*/ 0 w 787"/>
                  <a:gd name="T69" fmla="*/ 0 h 262"/>
                  <a:gd name="T70" fmla="*/ 1 w 787"/>
                  <a:gd name="T71" fmla="*/ 0 h 262"/>
                  <a:gd name="T72" fmla="*/ 1 w 787"/>
                  <a:gd name="T73" fmla="*/ 0 h 262"/>
                  <a:gd name="T74" fmla="*/ 1 w 787"/>
                  <a:gd name="T75" fmla="*/ 0 h 262"/>
                  <a:gd name="T76" fmla="*/ 1 w 787"/>
                  <a:gd name="T77" fmla="*/ 0 h 262"/>
                  <a:gd name="T78" fmla="*/ 1 w 787"/>
                  <a:gd name="T79" fmla="*/ 0 h 262"/>
                  <a:gd name="T80" fmla="*/ 1 w 787"/>
                  <a:gd name="T81" fmla="*/ 0 h 262"/>
                  <a:gd name="T82" fmla="*/ 1 w 787"/>
                  <a:gd name="T83" fmla="*/ 0 h 262"/>
                  <a:gd name="T84" fmla="*/ 1 w 787"/>
                  <a:gd name="T85" fmla="*/ 0 h 262"/>
                  <a:gd name="T86" fmla="*/ 2 w 787"/>
                  <a:gd name="T87" fmla="*/ 0 h 262"/>
                  <a:gd name="T88" fmla="*/ 2 w 787"/>
                  <a:gd name="T89" fmla="*/ 0 h 262"/>
                  <a:gd name="T90" fmla="*/ 2 w 787"/>
                  <a:gd name="T91" fmla="*/ 0 h 262"/>
                  <a:gd name="T92" fmla="*/ 2 w 787"/>
                  <a:gd name="T93" fmla="*/ 0 h 262"/>
                  <a:gd name="T94" fmla="*/ 2 w 787"/>
                  <a:gd name="T95" fmla="*/ 0 h 262"/>
                  <a:gd name="T96" fmla="*/ 2 w 787"/>
                  <a:gd name="T97" fmla="*/ 0 h 262"/>
                  <a:gd name="T98" fmla="*/ 2 w 787"/>
                  <a:gd name="T99" fmla="*/ 0 h 262"/>
                  <a:gd name="T100" fmla="*/ 2 w 787"/>
                  <a:gd name="T101" fmla="*/ 0 h 262"/>
                  <a:gd name="T102" fmla="*/ 2 w 787"/>
                  <a:gd name="T103" fmla="*/ 0 h 262"/>
                  <a:gd name="T104" fmla="*/ 3 w 787"/>
                  <a:gd name="T105" fmla="*/ 0 h 262"/>
                  <a:gd name="T106" fmla="*/ 3 w 787"/>
                  <a:gd name="T107" fmla="*/ 0 h 2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87"/>
                  <a:gd name="T163" fmla="*/ 0 h 262"/>
                  <a:gd name="T164" fmla="*/ 787 w 787"/>
                  <a:gd name="T165" fmla="*/ 262 h 2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87" h="262">
                    <a:moveTo>
                      <a:pt x="781" y="0"/>
                    </a:moveTo>
                    <a:lnTo>
                      <a:pt x="772" y="2"/>
                    </a:lnTo>
                    <a:lnTo>
                      <a:pt x="764" y="3"/>
                    </a:lnTo>
                    <a:lnTo>
                      <a:pt x="755" y="3"/>
                    </a:lnTo>
                    <a:lnTo>
                      <a:pt x="745" y="5"/>
                    </a:lnTo>
                    <a:lnTo>
                      <a:pt x="737" y="5"/>
                    </a:lnTo>
                    <a:lnTo>
                      <a:pt x="728" y="6"/>
                    </a:lnTo>
                    <a:lnTo>
                      <a:pt x="720" y="8"/>
                    </a:lnTo>
                    <a:lnTo>
                      <a:pt x="711" y="9"/>
                    </a:lnTo>
                    <a:lnTo>
                      <a:pt x="702" y="9"/>
                    </a:lnTo>
                    <a:lnTo>
                      <a:pt x="692" y="10"/>
                    </a:lnTo>
                    <a:lnTo>
                      <a:pt x="684" y="12"/>
                    </a:lnTo>
                    <a:lnTo>
                      <a:pt x="675" y="13"/>
                    </a:lnTo>
                    <a:lnTo>
                      <a:pt x="667" y="15"/>
                    </a:lnTo>
                    <a:lnTo>
                      <a:pt x="660" y="16"/>
                    </a:lnTo>
                    <a:lnTo>
                      <a:pt x="651" y="19"/>
                    </a:lnTo>
                    <a:lnTo>
                      <a:pt x="642" y="22"/>
                    </a:lnTo>
                    <a:lnTo>
                      <a:pt x="632" y="25"/>
                    </a:lnTo>
                    <a:lnTo>
                      <a:pt x="622" y="28"/>
                    </a:lnTo>
                    <a:lnTo>
                      <a:pt x="611" y="30"/>
                    </a:lnTo>
                    <a:lnTo>
                      <a:pt x="602" y="33"/>
                    </a:lnTo>
                    <a:lnTo>
                      <a:pt x="592" y="35"/>
                    </a:lnTo>
                    <a:lnTo>
                      <a:pt x="582" y="38"/>
                    </a:lnTo>
                    <a:lnTo>
                      <a:pt x="572" y="40"/>
                    </a:lnTo>
                    <a:lnTo>
                      <a:pt x="564" y="42"/>
                    </a:lnTo>
                    <a:lnTo>
                      <a:pt x="554" y="45"/>
                    </a:lnTo>
                    <a:lnTo>
                      <a:pt x="544" y="48"/>
                    </a:lnTo>
                    <a:lnTo>
                      <a:pt x="534" y="49"/>
                    </a:lnTo>
                    <a:lnTo>
                      <a:pt x="525" y="53"/>
                    </a:lnTo>
                    <a:lnTo>
                      <a:pt x="515" y="56"/>
                    </a:lnTo>
                    <a:lnTo>
                      <a:pt x="505" y="60"/>
                    </a:lnTo>
                    <a:lnTo>
                      <a:pt x="497" y="65"/>
                    </a:lnTo>
                    <a:lnTo>
                      <a:pt x="487" y="72"/>
                    </a:lnTo>
                    <a:lnTo>
                      <a:pt x="478" y="73"/>
                    </a:lnTo>
                    <a:lnTo>
                      <a:pt x="469" y="76"/>
                    </a:lnTo>
                    <a:lnTo>
                      <a:pt x="461" y="78"/>
                    </a:lnTo>
                    <a:lnTo>
                      <a:pt x="452" y="79"/>
                    </a:lnTo>
                    <a:lnTo>
                      <a:pt x="444" y="82"/>
                    </a:lnTo>
                    <a:lnTo>
                      <a:pt x="436" y="83"/>
                    </a:lnTo>
                    <a:lnTo>
                      <a:pt x="428" y="85"/>
                    </a:lnTo>
                    <a:lnTo>
                      <a:pt x="419" y="86"/>
                    </a:lnTo>
                    <a:lnTo>
                      <a:pt x="411" y="88"/>
                    </a:lnTo>
                    <a:lnTo>
                      <a:pt x="402" y="90"/>
                    </a:lnTo>
                    <a:lnTo>
                      <a:pt x="394" y="92"/>
                    </a:lnTo>
                    <a:lnTo>
                      <a:pt x="385" y="95"/>
                    </a:lnTo>
                    <a:lnTo>
                      <a:pt x="376" y="98"/>
                    </a:lnTo>
                    <a:lnTo>
                      <a:pt x="368" y="100"/>
                    </a:lnTo>
                    <a:lnTo>
                      <a:pt x="358" y="103"/>
                    </a:lnTo>
                    <a:lnTo>
                      <a:pt x="349" y="108"/>
                    </a:lnTo>
                    <a:lnTo>
                      <a:pt x="339" y="110"/>
                    </a:lnTo>
                    <a:lnTo>
                      <a:pt x="331" y="115"/>
                    </a:lnTo>
                    <a:lnTo>
                      <a:pt x="322" y="119"/>
                    </a:lnTo>
                    <a:lnTo>
                      <a:pt x="312" y="122"/>
                    </a:lnTo>
                    <a:lnTo>
                      <a:pt x="302" y="126"/>
                    </a:lnTo>
                    <a:lnTo>
                      <a:pt x="294" y="130"/>
                    </a:lnTo>
                    <a:lnTo>
                      <a:pt x="284" y="135"/>
                    </a:lnTo>
                    <a:lnTo>
                      <a:pt x="275" y="139"/>
                    </a:lnTo>
                    <a:lnTo>
                      <a:pt x="265" y="143"/>
                    </a:lnTo>
                    <a:lnTo>
                      <a:pt x="255" y="146"/>
                    </a:lnTo>
                    <a:lnTo>
                      <a:pt x="246" y="150"/>
                    </a:lnTo>
                    <a:lnTo>
                      <a:pt x="236" y="155"/>
                    </a:lnTo>
                    <a:lnTo>
                      <a:pt x="226" y="159"/>
                    </a:lnTo>
                    <a:lnTo>
                      <a:pt x="218" y="162"/>
                    </a:lnTo>
                    <a:lnTo>
                      <a:pt x="208" y="166"/>
                    </a:lnTo>
                    <a:lnTo>
                      <a:pt x="199" y="169"/>
                    </a:lnTo>
                    <a:lnTo>
                      <a:pt x="189" y="172"/>
                    </a:lnTo>
                    <a:lnTo>
                      <a:pt x="181" y="175"/>
                    </a:lnTo>
                    <a:lnTo>
                      <a:pt x="172" y="178"/>
                    </a:lnTo>
                    <a:lnTo>
                      <a:pt x="163" y="180"/>
                    </a:lnTo>
                    <a:lnTo>
                      <a:pt x="153" y="183"/>
                    </a:lnTo>
                    <a:lnTo>
                      <a:pt x="145" y="186"/>
                    </a:lnTo>
                    <a:lnTo>
                      <a:pt x="136" y="189"/>
                    </a:lnTo>
                    <a:lnTo>
                      <a:pt x="129" y="193"/>
                    </a:lnTo>
                    <a:lnTo>
                      <a:pt x="121" y="196"/>
                    </a:lnTo>
                    <a:lnTo>
                      <a:pt x="112" y="200"/>
                    </a:lnTo>
                    <a:lnTo>
                      <a:pt x="103" y="203"/>
                    </a:lnTo>
                    <a:lnTo>
                      <a:pt x="95" y="209"/>
                    </a:lnTo>
                    <a:lnTo>
                      <a:pt x="86" y="212"/>
                    </a:lnTo>
                    <a:lnTo>
                      <a:pt x="78" y="218"/>
                    </a:lnTo>
                    <a:lnTo>
                      <a:pt x="69" y="223"/>
                    </a:lnTo>
                    <a:lnTo>
                      <a:pt x="62" y="229"/>
                    </a:lnTo>
                    <a:lnTo>
                      <a:pt x="60" y="229"/>
                    </a:lnTo>
                    <a:lnTo>
                      <a:pt x="58" y="230"/>
                    </a:lnTo>
                    <a:lnTo>
                      <a:pt x="53" y="232"/>
                    </a:lnTo>
                    <a:lnTo>
                      <a:pt x="50" y="233"/>
                    </a:lnTo>
                    <a:lnTo>
                      <a:pt x="46" y="235"/>
                    </a:lnTo>
                    <a:lnTo>
                      <a:pt x="42" y="238"/>
                    </a:lnTo>
                    <a:lnTo>
                      <a:pt x="38" y="239"/>
                    </a:lnTo>
                    <a:lnTo>
                      <a:pt x="33" y="242"/>
                    </a:lnTo>
                    <a:lnTo>
                      <a:pt x="28" y="243"/>
                    </a:lnTo>
                    <a:lnTo>
                      <a:pt x="23" y="246"/>
                    </a:lnTo>
                    <a:lnTo>
                      <a:pt x="19" y="248"/>
                    </a:lnTo>
                    <a:lnTo>
                      <a:pt x="15" y="250"/>
                    </a:lnTo>
                    <a:lnTo>
                      <a:pt x="10" y="252"/>
                    </a:lnTo>
                    <a:lnTo>
                      <a:pt x="8" y="253"/>
                    </a:lnTo>
                    <a:lnTo>
                      <a:pt x="3" y="256"/>
                    </a:lnTo>
                    <a:lnTo>
                      <a:pt x="2" y="259"/>
                    </a:lnTo>
                    <a:lnTo>
                      <a:pt x="0" y="259"/>
                    </a:lnTo>
                    <a:lnTo>
                      <a:pt x="2" y="260"/>
                    </a:lnTo>
                    <a:lnTo>
                      <a:pt x="5" y="260"/>
                    </a:lnTo>
                    <a:lnTo>
                      <a:pt x="8" y="262"/>
                    </a:lnTo>
                    <a:lnTo>
                      <a:pt x="9" y="262"/>
                    </a:lnTo>
                    <a:lnTo>
                      <a:pt x="13" y="262"/>
                    </a:lnTo>
                    <a:lnTo>
                      <a:pt x="16" y="260"/>
                    </a:lnTo>
                    <a:lnTo>
                      <a:pt x="22" y="260"/>
                    </a:lnTo>
                    <a:lnTo>
                      <a:pt x="25" y="259"/>
                    </a:lnTo>
                    <a:lnTo>
                      <a:pt x="30" y="258"/>
                    </a:lnTo>
                    <a:lnTo>
                      <a:pt x="35" y="255"/>
                    </a:lnTo>
                    <a:lnTo>
                      <a:pt x="39" y="253"/>
                    </a:lnTo>
                    <a:lnTo>
                      <a:pt x="43" y="250"/>
                    </a:lnTo>
                    <a:lnTo>
                      <a:pt x="48" y="248"/>
                    </a:lnTo>
                    <a:lnTo>
                      <a:pt x="52" y="246"/>
                    </a:lnTo>
                    <a:lnTo>
                      <a:pt x="56" y="243"/>
                    </a:lnTo>
                    <a:lnTo>
                      <a:pt x="60" y="240"/>
                    </a:lnTo>
                    <a:lnTo>
                      <a:pt x="63" y="239"/>
                    </a:lnTo>
                    <a:lnTo>
                      <a:pt x="68" y="238"/>
                    </a:lnTo>
                    <a:lnTo>
                      <a:pt x="70" y="235"/>
                    </a:lnTo>
                    <a:lnTo>
                      <a:pt x="78" y="230"/>
                    </a:lnTo>
                    <a:lnTo>
                      <a:pt x="86" y="226"/>
                    </a:lnTo>
                    <a:lnTo>
                      <a:pt x="93" y="222"/>
                    </a:lnTo>
                    <a:lnTo>
                      <a:pt x="101" y="219"/>
                    </a:lnTo>
                    <a:lnTo>
                      <a:pt x="109" y="215"/>
                    </a:lnTo>
                    <a:lnTo>
                      <a:pt x="116" y="212"/>
                    </a:lnTo>
                    <a:lnTo>
                      <a:pt x="125" y="209"/>
                    </a:lnTo>
                    <a:lnTo>
                      <a:pt x="133" y="206"/>
                    </a:lnTo>
                    <a:lnTo>
                      <a:pt x="141" y="203"/>
                    </a:lnTo>
                    <a:lnTo>
                      <a:pt x="149" y="200"/>
                    </a:lnTo>
                    <a:lnTo>
                      <a:pt x="156" y="196"/>
                    </a:lnTo>
                    <a:lnTo>
                      <a:pt x="165" y="195"/>
                    </a:lnTo>
                    <a:lnTo>
                      <a:pt x="172" y="192"/>
                    </a:lnTo>
                    <a:lnTo>
                      <a:pt x="181" y="188"/>
                    </a:lnTo>
                    <a:lnTo>
                      <a:pt x="189" y="185"/>
                    </a:lnTo>
                    <a:lnTo>
                      <a:pt x="196" y="182"/>
                    </a:lnTo>
                    <a:lnTo>
                      <a:pt x="203" y="179"/>
                    </a:lnTo>
                    <a:lnTo>
                      <a:pt x="211" y="175"/>
                    </a:lnTo>
                    <a:lnTo>
                      <a:pt x="216" y="172"/>
                    </a:lnTo>
                    <a:lnTo>
                      <a:pt x="223" y="169"/>
                    </a:lnTo>
                    <a:lnTo>
                      <a:pt x="231" y="166"/>
                    </a:lnTo>
                    <a:lnTo>
                      <a:pt x="236" y="163"/>
                    </a:lnTo>
                    <a:lnTo>
                      <a:pt x="243" y="160"/>
                    </a:lnTo>
                    <a:lnTo>
                      <a:pt x="251" y="158"/>
                    </a:lnTo>
                    <a:lnTo>
                      <a:pt x="258" y="155"/>
                    </a:lnTo>
                    <a:lnTo>
                      <a:pt x="265" y="152"/>
                    </a:lnTo>
                    <a:lnTo>
                      <a:pt x="272" y="149"/>
                    </a:lnTo>
                    <a:lnTo>
                      <a:pt x="279" y="146"/>
                    </a:lnTo>
                    <a:lnTo>
                      <a:pt x="286" y="143"/>
                    </a:lnTo>
                    <a:lnTo>
                      <a:pt x="294" y="140"/>
                    </a:lnTo>
                    <a:lnTo>
                      <a:pt x="301" y="136"/>
                    </a:lnTo>
                    <a:lnTo>
                      <a:pt x="309" y="133"/>
                    </a:lnTo>
                    <a:lnTo>
                      <a:pt x="316" y="129"/>
                    </a:lnTo>
                    <a:lnTo>
                      <a:pt x="325" y="125"/>
                    </a:lnTo>
                    <a:lnTo>
                      <a:pt x="335" y="120"/>
                    </a:lnTo>
                    <a:lnTo>
                      <a:pt x="344" y="118"/>
                    </a:lnTo>
                    <a:lnTo>
                      <a:pt x="354" y="115"/>
                    </a:lnTo>
                    <a:lnTo>
                      <a:pt x="362" y="112"/>
                    </a:lnTo>
                    <a:lnTo>
                      <a:pt x="371" y="108"/>
                    </a:lnTo>
                    <a:lnTo>
                      <a:pt x="381" y="106"/>
                    </a:lnTo>
                    <a:lnTo>
                      <a:pt x="389" y="102"/>
                    </a:lnTo>
                    <a:lnTo>
                      <a:pt x="399" y="100"/>
                    </a:lnTo>
                    <a:lnTo>
                      <a:pt x="408" y="98"/>
                    </a:lnTo>
                    <a:lnTo>
                      <a:pt x="416" y="96"/>
                    </a:lnTo>
                    <a:lnTo>
                      <a:pt x="426" y="93"/>
                    </a:lnTo>
                    <a:lnTo>
                      <a:pt x="436" y="92"/>
                    </a:lnTo>
                    <a:lnTo>
                      <a:pt x="445" y="90"/>
                    </a:lnTo>
                    <a:lnTo>
                      <a:pt x="455" y="88"/>
                    </a:lnTo>
                    <a:lnTo>
                      <a:pt x="462" y="86"/>
                    </a:lnTo>
                    <a:lnTo>
                      <a:pt x="471" y="85"/>
                    </a:lnTo>
                    <a:lnTo>
                      <a:pt x="478" y="82"/>
                    </a:lnTo>
                    <a:lnTo>
                      <a:pt x="485" y="79"/>
                    </a:lnTo>
                    <a:lnTo>
                      <a:pt x="492" y="76"/>
                    </a:lnTo>
                    <a:lnTo>
                      <a:pt x="501" y="73"/>
                    </a:lnTo>
                    <a:lnTo>
                      <a:pt x="508" y="70"/>
                    </a:lnTo>
                    <a:lnTo>
                      <a:pt x="515" y="68"/>
                    </a:lnTo>
                    <a:lnTo>
                      <a:pt x="522" y="63"/>
                    </a:lnTo>
                    <a:lnTo>
                      <a:pt x="531" y="60"/>
                    </a:lnTo>
                    <a:lnTo>
                      <a:pt x="538" y="58"/>
                    </a:lnTo>
                    <a:lnTo>
                      <a:pt x="545" y="55"/>
                    </a:lnTo>
                    <a:lnTo>
                      <a:pt x="552" y="53"/>
                    </a:lnTo>
                    <a:lnTo>
                      <a:pt x="561" y="50"/>
                    </a:lnTo>
                    <a:lnTo>
                      <a:pt x="568" y="49"/>
                    </a:lnTo>
                    <a:lnTo>
                      <a:pt x="575" y="49"/>
                    </a:lnTo>
                    <a:lnTo>
                      <a:pt x="582" y="48"/>
                    </a:lnTo>
                    <a:lnTo>
                      <a:pt x="589" y="46"/>
                    </a:lnTo>
                    <a:lnTo>
                      <a:pt x="595" y="45"/>
                    </a:lnTo>
                    <a:lnTo>
                      <a:pt x="602" y="43"/>
                    </a:lnTo>
                    <a:lnTo>
                      <a:pt x="609" y="42"/>
                    </a:lnTo>
                    <a:lnTo>
                      <a:pt x="617" y="40"/>
                    </a:lnTo>
                    <a:lnTo>
                      <a:pt x="624" y="39"/>
                    </a:lnTo>
                    <a:lnTo>
                      <a:pt x="631" y="36"/>
                    </a:lnTo>
                    <a:lnTo>
                      <a:pt x="637" y="35"/>
                    </a:lnTo>
                    <a:lnTo>
                      <a:pt x="644" y="33"/>
                    </a:lnTo>
                    <a:lnTo>
                      <a:pt x="651" y="32"/>
                    </a:lnTo>
                    <a:lnTo>
                      <a:pt x="658" y="29"/>
                    </a:lnTo>
                    <a:lnTo>
                      <a:pt x="664" y="28"/>
                    </a:lnTo>
                    <a:lnTo>
                      <a:pt x="671" y="26"/>
                    </a:lnTo>
                    <a:lnTo>
                      <a:pt x="678" y="26"/>
                    </a:lnTo>
                    <a:lnTo>
                      <a:pt x="685" y="25"/>
                    </a:lnTo>
                    <a:lnTo>
                      <a:pt x="691" y="23"/>
                    </a:lnTo>
                    <a:lnTo>
                      <a:pt x="698" y="23"/>
                    </a:lnTo>
                    <a:lnTo>
                      <a:pt x="704" y="22"/>
                    </a:lnTo>
                    <a:lnTo>
                      <a:pt x="710" y="20"/>
                    </a:lnTo>
                    <a:lnTo>
                      <a:pt x="715" y="20"/>
                    </a:lnTo>
                    <a:lnTo>
                      <a:pt x="722" y="19"/>
                    </a:lnTo>
                    <a:lnTo>
                      <a:pt x="728" y="19"/>
                    </a:lnTo>
                    <a:lnTo>
                      <a:pt x="735" y="19"/>
                    </a:lnTo>
                    <a:lnTo>
                      <a:pt x="741" y="18"/>
                    </a:lnTo>
                    <a:lnTo>
                      <a:pt x="747" y="16"/>
                    </a:lnTo>
                    <a:lnTo>
                      <a:pt x="754" y="16"/>
                    </a:lnTo>
                    <a:lnTo>
                      <a:pt x="760" y="15"/>
                    </a:lnTo>
                    <a:lnTo>
                      <a:pt x="767" y="12"/>
                    </a:lnTo>
                    <a:lnTo>
                      <a:pt x="772" y="10"/>
                    </a:lnTo>
                    <a:lnTo>
                      <a:pt x="780" y="9"/>
                    </a:lnTo>
                    <a:lnTo>
                      <a:pt x="787" y="8"/>
                    </a:lnTo>
                    <a:lnTo>
                      <a:pt x="785" y="5"/>
                    </a:lnTo>
                    <a:lnTo>
                      <a:pt x="784" y="3"/>
                    </a:lnTo>
                    <a:lnTo>
                      <a:pt x="781"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1" name="Freeform 43"/>
              <p:cNvSpPr>
                <a:spLocks/>
              </p:cNvSpPr>
              <p:nvPr/>
            </p:nvSpPr>
            <p:spPr bwMode="auto">
              <a:xfrm>
                <a:off x="2562" y="947"/>
                <a:ext cx="63" cy="21"/>
              </a:xfrm>
              <a:custGeom>
                <a:avLst/>
                <a:gdLst>
                  <a:gd name="T0" fmla="*/ 0 w 126"/>
                  <a:gd name="T1" fmla="*/ 1 h 42"/>
                  <a:gd name="T2" fmla="*/ 1 w 126"/>
                  <a:gd name="T3" fmla="*/ 1 h 42"/>
                  <a:gd name="T4" fmla="*/ 1 w 126"/>
                  <a:gd name="T5" fmla="*/ 1 h 42"/>
                  <a:gd name="T6" fmla="*/ 1 w 126"/>
                  <a:gd name="T7" fmla="*/ 1 h 42"/>
                  <a:gd name="T8" fmla="*/ 1 w 126"/>
                  <a:gd name="T9" fmla="*/ 1 h 42"/>
                  <a:gd name="T10" fmla="*/ 1 w 126"/>
                  <a:gd name="T11" fmla="*/ 1 h 42"/>
                  <a:gd name="T12" fmla="*/ 1 w 126"/>
                  <a:gd name="T13" fmla="*/ 1 h 42"/>
                  <a:gd name="T14" fmla="*/ 1 w 126"/>
                  <a:gd name="T15" fmla="*/ 1 h 42"/>
                  <a:gd name="T16" fmla="*/ 1 w 126"/>
                  <a:gd name="T17" fmla="*/ 1 h 42"/>
                  <a:gd name="T18" fmla="*/ 1 w 126"/>
                  <a:gd name="T19" fmla="*/ 1 h 42"/>
                  <a:gd name="T20" fmla="*/ 1 w 126"/>
                  <a:gd name="T21" fmla="*/ 1 h 42"/>
                  <a:gd name="T22" fmla="*/ 1 w 126"/>
                  <a:gd name="T23" fmla="*/ 1 h 42"/>
                  <a:gd name="T24" fmla="*/ 1 w 126"/>
                  <a:gd name="T25" fmla="*/ 1 h 42"/>
                  <a:gd name="T26" fmla="*/ 1 w 126"/>
                  <a:gd name="T27" fmla="*/ 1 h 42"/>
                  <a:gd name="T28" fmla="*/ 1 w 126"/>
                  <a:gd name="T29" fmla="*/ 1 h 42"/>
                  <a:gd name="T30" fmla="*/ 1 w 126"/>
                  <a:gd name="T31" fmla="*/ 1 h 42"/>
                  <a:gd name="T32" fmla="*/ 1 w 126"/>
                  <a:gd name="T33" fmla="*/ 1 h 42"/>
                  <a:gd name="T34" fmla="*/ 1 w 126"/>
                  <a:gd name="T35" fmla="*/ 1 h 42"/>
                  <a:gd name="T36" fmla="*/ 1 w 126"/>
                  <a:gd name="T37" fmla="*/ 0 h 42"/>
                  <a:gd name="T38" fmla="*/ 1 w 126"/>
                  <a:gd name="T39" fmla="*/ 1 h 42"/>
                  <a:gd name="T40" fmla="*/ 1 w 126"/>
                  <a:gd name="T41" fmla="*/ 1 h 42"/>
                  <a:gd name="T42" fmla="*/ 1 w 126"/>
                  <a:gd name="T43" fmla="*/ 1 h 42"/>
                  <a:gd name="T44" fmla="*/ 1 w 126"/>
                  <a:gd name="T45" fmla="*/ 1 h 42"/>
                  <a:gd name="T46" fmla="*/ 1 w 126"/>
                  <a:gd name="T47" fmla="*/ 1 h 42"/>
                  <a:gd name="T48" fmla="*/ 1 w 126"/>
                  <a:gd name="T49" fmla="*/ 1 h 42"/>
                  <a:gd name="T50" fmla="*/ 1 w 126"/>
                  <a:gd name="T51" fmla="*/ 1 h 42"/>
                  <a:gd name="T52" fmla="*/ 1 w 126"/>
                  <a:gd name="T53" fmla="*/ 1 h 42"/>
                  <a:gd name="T54" fmla="*/ 1 w 126"/>
                  <a:gd name="T55" fmla="*/ 1 h 42"/>
                  <a:gd name="T56" fmla="*/ 1 w 126"/>
                  <a:gd name="T57" fmla="*/ 1 h 42"/>
                  <a:gd name="T58" fmla="*/ 1 w 126"/>
                  <a:gd name="T59" fmla="*/ 1 h 42"/>
                  <a:gd name="T60" fmla="*/ 1 w 126"/>
                  <a:gd name="T61" fmla="*/ 1 h 42"/>
                  <a:gd name="T62" fmla="*/ 1 w 126"/>
                  <a:gd name="T63" fmla="*/ 1 h 42"/>
                  <a:gd name="T64" fmla="*/ 1 w 126"/>
                  <a:gd name="T65" fmla="*/ 1 h 42"/>
                  <a:gd name="T66" fmla="*/ 1 w 126"/>
                  <a:gd name="T67" fmla="*/ 1 h 42"/>
                  <a:gd name="T68" fmla="*/ 0 w 126"/>
                  <a:gd name="T69" fmla="*/ 1 h 42"/>
                  <a:gd name="T70" fmla="*/ 0 w 126"/>
                  <a:gd name="T71" fmla="*/ 1 h 42"/>
                  <a:gd name="T72" fmla="*/ 0 w 126"/>
                  <a:gd name="T73" fmla="*/ 1 h 4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6"/>
                  <a:gd name="T112" fmla="*/ 0 h 42"/>
                  <a:gd name="T113" fmla="*/ 126 w 126"/>
                  <a:gd name="T114" fmla="*/ 42 h 4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6" h="42">
                    <a:moveTo>
                      <a:pt x="0" y="42"/>
                    </a:moveTo>
                    <a:lnTo>
                      <a:pt x="9" y="40"/>
                    </a:lnTo>
                    <a:lnTo>
                      <a:pt x="17" y="38"/>
                    </a:lnTo>
                    <a:lnTo>
                      <a:pt x="26" y="37"/>
                    </a:lnTo>
                    <a:lnTo>
                      <a:pt x="34" y="35"/>
                    </a:lnTo>
                    <a:lnTo>
                      <a:pt x="41" y="34"/>
                    </a:lnTo>
                    <a:lnTo>
                      <a:pt x="49" y="32"/>
                    </a:lnTo>
                    <a:lnTo>
                      <a:pt x="56" y="31"/>
                    </a:lnTo>
                    <a:lnTo>
                      <a:pt x="64" y="30"/>
                    </a:lnTo>
                    <a:lnTo>
                      <a:pt x="70" y="27"/>
                    </a:lnTo>
                    <a:lnTo>
                      <a:pt x="77" y="25"/>
                    </a:lnTo>
                    <a:lnTo>
                      <a:pt x="86" y="22"/>
                    </a:lnTo>
                    <a:lnTo>
                      <a:pt x="93" y="20"/>
                    </a:lnTo>
                    <a:lnTo>
                      <a:pt x="100" y="17"/>
                    </a:lnTo>
                    <a:lnTo>
                      <a:pt x="109" y="14"/>
                    </a:lnTo>
                    <a:lnTo>
                      <a:pt x="117" y="11"/>
                    </a:lnTo>
                    <a:lnTo>
                      <a:pt x="126" y="7"/>
                    </a:lnTo>
                    <a:lnTo>
                      <a:pt x="126" y="2"/>
                    </a:lnTo>
                    <a:lnTo>
                      <a:pt x="124" y="0"/>
                    </a:lnTo>
                    <a:lnTo>
                      <a:pt x="112" y="4"/>
                    </a:lnTo>
                    <a:lnTo>
                      <a:pt x="100" y="7"/>
                    </a:lnTo>
                    <a:lnTo>
                      <a:pt x="92" y="11"/>
                    </a:lnTo>
                    <a:lnTo>
                      <a:pt x="84" y="14"/>
                    </a:lnTo>
                    <a:lnTo>
                      <a:pt x="77" y="15"/>
                    </a:lnTo>
                    <a:lnTo>
                      <a:pt x="72" y="17"/>
                    </a:lnTo>
                    <a:lnTo>
                      <a:pt x="67" y="18"/>
                    </a:lnTo>
                    <a:lnTo>
                      <a:pt x="63" y="20"/>
                    </a:lnTo>
                    <a:lnTo>
                      <a:pt x="57" y="21"/>
                    </a:lnTo>
                    <a:lnTo>
                      <a:pt x="53" y="21"/>
                    </a:lnTo>
                    <a:lnTo>
                      <a:pt x="46" y="22"/>
                    </a:lnTo>
                    <a:lnTo>
                      <a:pt x="40" y="24"/>
                    </a:lnTo>
                    <a:lnTo>
                      <a:pt x="33" y="25"/>
                    </a:lnTo>
                    <a:lnTo>
                      <a:pt x="23" y="27"/>
                    </a:lnTo>
                    <a:lnTo>
                      <a:pt x="13" y="30"/>
                    </a:lnTo>
                    <a:lnTo>
                      <a:pt x="0" y="32"/>
                    </a:lnTo>
                    <a:lnTo>
                      <a:pt x="0" y="42"/>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2" name="Freeform 44"/>
              <p:cNvSpPr>
                <a:spLocks/>
              </p:cNvSpPr>
              <p:nvPr/>
            </p:nvSpPr>
            <p:spPr bwMode="auto">
              <a:xfrm>
                <a:off x="2284" y="976"/>
                <a:ext cx="216" cy="68"/>
              </a:xfrm>
              <a:custGeom>
                <a:avLst/>
                <a:gdLst>
                  <a:gd name="T0" fmla="*/ 2 w 432"/>
                  <a:gd name="T1" fmla="*/ 1 h 136"/>
                  <a:gd name="T2" fmla="*/ 2 w 432"/>
                  <a:gd name="T3" fmla="*/ 1 h 136"/>
                  <a:gd name="T4" fmla="*/ 2 w 432"/>
                  <a:gd name="T5" fmla="*/ 1 h 136"/>
                  <a:gd name="T6" fmla="*/ 2 w 432"/>
                  <a:gd name="T7" fmla="*/ 1 h 136"/>
                  <a:gd name="T8" fmla="*/ 2 w 432"/>
                  <a:gd name="T9" fmla="*/ 1 h 136"/>
                  <a:gd name="T10" fmla="*/ 2 w 432"/>
                  <a:gd name="T11" fmla="*/ 1 h 136"/>
                  <a:gd name="T12" fmla="*/ 2 w 432"/>
                  <a:gd name="T13" fmla="*/ 1 h 136"/>
                  <a:gd name="T14" fmla="*/ 1 w 432"/>
                  <a:gd name="T15" fmla="*/ 1 h 136"/>
                  <a:gd name="T16" fmla="*/ 1 w 432"/>
                  <a:gd name="T17" fmla="*/ 1 h 136"/>
                  <a:gd name="T18" fmla="*/ 1 w 432"/>
                  <a:gd name="T19" fmla="*/ 1 h 136"/>
                  <a:gd name="T20" fmla="*/ 1 w 432"/>
                  <a:gd name="T21" fmla="*/ 1 h 136"/>
                  <a:gd name="T22" fmla="*/ 1 w 432"/>
                  <a:gd name="T23" fmla="*/ 1 h 136"/>
                  <a:gd name="T24" fmla="*/ 1 w 432"/>
                  <a:gd name="T25" fmla="*/ 1 h 136"/>
                  <a:gd name="T26" fmla="*/ 1 w 432"/>
                  <a:gd name="T27" fmla="*/ 1 h 136"/>
                  <a:gd name="T28" fmla="*/ 1 w 432"/>
                  <a:gd name="T29" fmla="*/ 1 h 136"/>
                  <a:gd name="T30" fmla="*/ 1 w 432"/>
                  <a:gd name="T31" fmla="*/ 1 h 136"/>
                  <a:gd name="T32" fmla="*/ 0 w 432"/>
                  <a:gd name="T33" fmla="*/ 1 h 136"/>
                  <a:gd name="T34" fmla="*/ 1 w 432"/>
                  <a:gd name="T35" fmla="*/ 1 h 136"/>
                  <a:gd name="T36" fmla="*/ 1 w 432"/>
                  <a:gd name="T37" fmla="*/ 1 h 136"/>
                  <a:gd name="T38" fmla="*/ 1 w 432"/>
                  <a:gd name="T39" fmla="*/ 1 h 136"/>
                  <a:gd name="T40" fmla="*/ 1 w 432"/>
                  <a:gd name="T41" fmla="*/ 1 h 136"/>
                  <a:gd name="T42" fmla="*/ 1 w 432"/>
                  <a:gd name="T43" fmla="*/ 1 h 136"/>
                  <a:gd name="T44" fmla="*/ 1 w 432"/>
                  <a:gd name="T45" fmla="*/ 1 h 136"/>
                  <a:gd name="T46" fmla="*/ 1 w 432"/>
                  <a:gd name="T47" fmla="*/ 1 h 136"/>
                  <a:gd name="T48" fmla="*/ 1 w 432"/>
                  <a:gd name="T49" fmla="*/ 1 h 136"/>
                  <a:gd name="T50" fmla="*/ 1 w 432"/>
                  <a:gd name="T51" fmla="*/ 1 h 136"/>
                  <a:gd name="T52" fmla="*/ 1 w 432"/>
                  <a:gd name="T53" fmla="*/ 1 h 136"/>
                  <a:gd name="T54" fmla="*/ 1 w 432"/>
                  <a:gd name="T55" fmla="*/ 1 h 136"/>
                  <a:gd name="T56" fmla="*/ 1 w 432"/>
                  <a:gd name="T57" fmla="*/ 1 h 136"/>
                  <a:gd name="T58" fmla="*/ 1 w 432"/>
                  <a:gd name="T59" fmla="*/ 1 h 136"/>
                  <a:gd name="T60" fmla="*/ 2 w 432"/>
                  <a:gd name="T61" fmla="*/ 1 h 136"/>
                  <a:gd name="T62" fmla="*/ 2 w 432"/>
                  <a:gd name="T63" fmla="*/ 1 h 136"/>
                  <a:gd name="T64" fmla="*/ 2 w 432"/>
                  <a:gd name="T65" fmla="*/ 1 h 136"/>
                  <a:gd name="T66" fmla="*/ 2 w 432"/>
                  <a:gd name="T67" fmla="*/ 1 h 136"/>
                  <a:gd name="T68" fmla="*/ 2 w 432"/>
                  <a:gd name="T69" fmla="*/ 1 h 136"/>
                  <a:gd name="T70" fmla="*/ 2 w 432"/>
                  <a:gd name="T71" fmla="*/ 1 h 136"/>
                  <a:gd name="T72" fmla="*/ 2 w 432"/>
                  <a:gd name="T73" fmla="*/ 1 h 136"/>
                  <a:gd name="T74" fmla="*/ 2 w 432"/>
                  <a:gd name="T75" fmla="*/ 1 h 136"/>
                  <a:gd name="T76" fmla="*/ 2 w 432"/>
                  <a:gd name="T77" fmla="*/ 1 h 136"/>
                  <a:gd name="T78" fmla="*/ 2 w 432"/>
                  <a:gd name="T79" fmla="*/ 1 h 136"/>
                  <a:gd name="T80" fmla="*/ 2 w 432"/>
                  <a:gd name="T81" fmla="*/ 1 h 136"/>
                  <a:gd name="T82" fmla="*/ 2 w 432"/>
                  <a:gd name="T83" fmla="*/ 1 h 136"/>
                  <a:gd name="T84" fmla="*/ 2 w 432"/>
                  <a:gd name="T85" fmla="*/ 0 h 1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2"/>
                  <a:gd name="T130" fmla="*/ 0 h 136"/>
                  <a:gd name="T131" fmla="*/ 432 w 432"/>
                  <a:gd name="T132" fmla="*/ 136 h 1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2" h="136">
                    <a:moveTo>
                      <a:pt x="427" y="0"/>
                    </a:moveTo>
                    <a:lnTo>
                      <a:pt x="413" y="4"/>
                    </a:lnTo>
                    <a:lnTo>
                      <a:pt x="400" y="7"/>
                    </a:lnTo>
                    <a:lnTo>
                      <a:pt x="387" y="10"/>
                    </a:lnTo>
                    <a:lnTo>
                      <a:pt x="374" y="13"/>
                    </a:lnTo>
                    <a:lnTo>
                      <a:pt x="363" y="14"/>
                    </a:lnTo>
                    <a:lnTo>
                      <a:pt x="350" y="16"/>
                    </a:lnTo>
                    <a:lnTo>
                      <a:pt x="339" y="19"/>
                    </a:lnTo>
                    <a:lnTo>
                      <a:pt x="327" y="20"/>
                    </a:lnTo>
                    <a:lnTo>
                      <a:pt x="314" y="22"/>
                    </a:lnTo>
                    <a:lnTo>
                      <a:pt x="303" y="23"/>
                    </a:lnTo>
                    <a:lnTo>
                      <a:pt x="292" y="26"/>
                    </a:lnTo>
                    <a:lnTo>
                      <a:pt x="279" y="29"/>
                    </a:lnTo>
                    <a:lnTo>
                      <a:pt x="267" y="32"/>
                    </a:lnTo>
                    <a:lnTo>
                      <a:pt x="254" y="36"/>
                    </a:lnTo>
                    <a:lnTo>
                      <a:pt x="240" y="39"/>
                    </a:lnTo>
                    <a:lnTo>
                      <a:pt x="227" y="46"/>
                    </a:lnTo>
                    <a:lnTo>
                      <a:pt x="216" y="49"/>
                    </a:lnTo>
                    <a:lnTo>
                      <a:pt x="203" y="53"/>
                    </a:lnTo>
                    <a:lnTo>
                      <a:pt x="189" y="57"/>
                    </a:lnTo>
                    <a:lnTo>
                      <a:pt x="174" y="63"/>
                    </a:lnTo>
                    <a:lnTo>
                      <a:pt x="159" y="69"/>
                    </a:lnTo>
                    <a:lnTo>
                      <a:pt x="144" y="74"/>
                    </a:lnTo>
                    <a:lnTo>
                      <a:pt x="129" y="82"/>
                    </a:lnTo>
                    <a:lnTo>
                      <a:pt x="114" y="89"/>
                    </a:lnTo>
                    <a:lnTo>
                      <a:pt x="99" y="94"/>
                    </a:lnTo>
                    <a:lnTo>
                      <a:pt x="83" y="102"/>
                    </a:lnTo>
                    <a:lnTo>
                      <a:pt x="67" y="107"/>
                    </a:lnTo>
                    <a:lnTo>
                      <a:pt x="53" y="115"/>
                    </a:lnTo>
                    <a:lnTo>
                      <a:pt x="38" y="120"/>
                    </a:lnTo>
                    <a:lnTo>
                      <a:pt x="24" y="125"/>
                    </a:lnTo>
                    <a:lnTo>
                      <a:pt x="11" y="129"/>
                    </a:lnTo>
                    <a:lnTo>
                      <a:pt x="0" y="133"/>
                    </a:lnTo>
                    <a:lnTo>
                      <a:pt x="6" y="135"/>
                    </a:lnTo>
                    <a:lnTo>
                      <a:pt x="8" y="135"/>
                    </a:lnTo>
                    <a:lnTo>
                      <a:pt x="10" y="136"/>
                    </a:lnTo>
                    <a:lnTo>
                      <a:pt x="17" y="135"/>
                    </a:lnTo>
                    <a:lnTo>
                      <a:pt x="27" y="133"/>
                    </a:lnTo>
                    <a:lnTo>
                      <a:pt x="36" y="132"/>
                    </a:lnTo>
                    <a:lnTo>
                      <a:pt x="47" y="129"/>
                    </a:lnTo>
                    <a:lnTo>
                      <a:pt x="57" y="126"/>
                    </a:lnTo>
                    <a:lnTo>
                      <a:pt x="67" y="122"/>
                    </a:lnTo>
                    <a:lnTo>
                      <a:pt x="79" y="117"/>
                    </a:lnTo>
                    <a:lnTo>
                      <a:pt x="90" y="113"/>
                    </a:lnTo>
                    <a:lnTo>
                      <a:pt x="100" y="107"/>
                    </a:lnTo>
                    <a:lnTo>
                      <a:pt x="111" y="103"/>
                    </a:lnTo>
                    <a:lnTo>
                      <a:pt x="121" y="97"/>
                    </a:lnTo>
                    <a:lnTo>
                      <a:pt x="133" y="93"/>
                    </a:lnTo>
                    <a:lnTo>
                      <a:pt x="141" y="89"/>
                    </a:lnTo>
                    <a:lnTo>
                      <a:pt x="151" y="84"/>
                    </a:lnTo>
                    <a:lnTo>
                      <a:pt x="160" y="80"/>
                    </a:lnTo>
                    <a:lnTo>
                      <a:pt x="169" y="79"/>
                    </a:lnTo>
                    <a:lnTo>
                      <a:pt x="179" y="73"/>
                    </a:lnTo>
                    <a:lnTo>
                      <a:pt x="189" y="70"/>
                    </a:lnTo>
                    <a:lnTo>
                      <a:pt x="199" y="66"/>
                    </a:lnTo>
                    <a:lnTo>
                      <a:pt x="209" y="62"/>
                    </a:lnTo>
                    <a:lnTo>
                      <a:pt x="219" y="57"/>
                    </a:lnTo>
                    <a:lnTo>
                      <a:pt x="229" y="54"/>
                    </a:lnTo>
                    <a:lnTo>
                      <a:pt x="239" y="50"/>
                    </a:lnTo>
                    <a:lnTo>
                      <a:pt x="249" y="47"/>
                    </a:lnTo>
                    <a:lnTo>
                      <a:pt x="257" y="44"/>
                    </a:lnTo>
                    <a:lnTo>
                      <a:pt x="267" y="42"/>
                    </a:lnTo>
                    <a:lnTo>
                      <a:pt x="277" y="37"/>
                    </a:lnTo>
                    <a:lnTo>
                      <a:pt x="287" y="36"/>
                    </a:lnTo>
                    <a:lnTo>
                      <a:pt x="297" y="32"/>
                    </a:lnTo>
                    <a:lnTo>
                      <a:pt x="307" y="30"/>
                    </a:lnTo>
                    <a:lnTo>
                      <a:pt x="319" y="29"/>
                    </a:lnTo>
                    <a:lnTo>
                      <a:pt x="329" y="27"/>
                    </a:lnTo>
                    <a:lnTo>
                      <a:pt x="334" y="26"/>
                    </a:lnTo>
                    <a:lnTo>
                      <a:pt x="342" y="26"/>
                    </a:lnTo>
                    <a:lnTo>
                      <a:pt x="347" y="24"/>
                    </a:lnTo>
                    <a:lnTo>
                      <a:pt x="354" y="23"/>
                    </a:lnTo>
                    <a:lnTo>
                      <a:pt x="360" y="23"/>
                    </a:lnTo>
                    <a:lnTo>
                      <a:pt x="367" y="22"/>
                    </a:lnTo>
                    <a:lnTo>
                      <a:pt x="373" y="20"/>
                    </a:lnTo>
                    <a:lnTo>
                      <a:pt x="380" y="20"/>
                    </a:lnTo>
                    <a:lnTo>
                      <a:pt x="386" y="19"/>
                    </a:lnTo>
                    <a:lnTo>
                      <a:pt x="393" y="17"/>
                    </a:lnTo>
                    <a:lnTo>
                      <a:pt x="400" y="16"/>
                    </a:lnTo>
                    <a:lnTo>
                      <a:pt x="406" y="16"/>
                    </a:lnTo>
                    <a:lnTo>
                      <a:pt x="412" y="14"/>
                    </a:lnTo>
                    <a:lnTo>
                      <a:pt x="419" y="13"/>
                    </a:lnTo>
                    <a:lnTo>
                      <a:pt x="426" y="12"/>
                    </a:lnTo>
                    <a:lnTo>
                      <a:pt x="432" y="12"/>
                    </a:lnTo>
                    <a:lnTo>
                      <a:pt x="427"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3" name="Freeform 45"/>
              <p:cNvSpPr>
                <a:spLocks/>
              </p:cNvSpPr>
              <p:nvPr/>
            </p:nvSpPr>
            <p:spPr bwMode="auto">
              <a:xfrm>
                <a:off x="2074" y="565"/>
                <a:ext cx="30" cy="72"/>
              </a:xfrm>
              <a:custGeom>
                <a:avLst/>
                <a:gdLst>
                  <a:gd name="T0" fmla="*/ 1 w 60"/>
                  <a:gd name="T1" fmla="*/ 0 h 143"/>
                  <a:gd name="T2" fmla="*/ 1 w 60"/>
                  <a:gd name="T3" fmla="*/ 1 h 143"/>
                  <a:gd name="T4" fmla="*/ 1 w 60"/>
                  <a:gd name="T5" fmla="*/ 1 h 143"/>
                  <a:gd name="T6" fmla="*/ 1 w 60"/>
                  <a:gd name="T7" fmla="*/ 1 h 143"/>
                  <a:gd name="T8" fmla="*/ 1 w 60"/>
                  <a:gd name="T9" fmla="*/ 1 h 143"/>
                  <a:gd name="T10" fmla="*/ 1 w 60"/>
                  <a:gd name="T11" fmla="*/ 1 h 143"/>
                  <a:gd name="T12" fmla="*/ 1 w 60"/>
                  <a:gd name="T13" fmla="*/ 1 h 143"/>
                  <a:gd name="T14" fmla="*/ 1 w 60"/>
                  <a:gd name="T15" fmla="*/ 1 h 143"/>
                  <a:gd name="T16" fmla="*/ 1 w 60"/>
                  <a:gd name="T17" fmla="*/ 1 h 143"/>
                  <a:gd name="T18" fmla="*/ 1 w 60"/>
                  <a:gd name="T19" fmla="*/ 1 h 143"/>
                  <a:gd name="T20" fmla="*/ 1 w 60"/>
                  <a:gd name="T21" fmla="*/ 1 h 143"/>
                  <a:gd name="T22" fmla="*/ 1 w 60"/>
                  <a:gd name="T23" fmla="*/ 1 h 143"/>
                  <a:gd name="T24" fmla="*/ 1 w 60"/>
                  <a:gd name="T25" fmla="*/ 1 h 143"/>
                  <a:gd name="T26" fmla="*/ 1 w 60"/>
                  <a:gd name="T27" fmla="*/ 1 h 143"/>
                  <a:gd name="T28" fmla="*/ 1 w 60"/>
                  <a:gd name="T29" fmla="*/ 1 h 143"/>
                  <a:gd name="T30" fmla="*/ 1 w 60"/>
                  <a:gd name="T31" fmla="*/ 1 h 143"/>
                  <a:gd name="T32" fmla="*/ 0 w 60"/>
                  <a:gd name="T33" fmla="*/ 1 h 143"/>
                  <a:gd name="T34" fmla="*/ 1 w 60"/>
                  <a:gd name="T35" fmla="*/ 1 h 143"/>
                  <a:gd name="T36" fmla="*/ 1 w 60"/>
                  <a:gd name="T37" fmla="*/ 1 h 143"/>
                  <a:gd name="T38" fmla="*/ 1 w 60"/>
                  <a:gd name="T39" fmla="*/ 1 h 143"/>
                  <a:gd name="T40" fmla="*/ 1 w 60"/>
                  <a:gd name="T41" fmla="*/ 1 h 143"/>
                  <a:gd name="T42" fmla="*/ 1 w 60"/>
                  <a:gd name="T43" fmla="*/ 1 h 143"/>
                  <a:gd name="T44" fmla="*/ 1 w 60"/>
                  <a:gd name="T45" fmla="*/ 1 h 143"/>
                  <a:gd name="T46" fmla="*/ 1 w 60"/>
                  <a:gd name="T47" fmla="*/ 1 h 143"/>
                  <a:gd name="T48" fmla="*/ 1 w 60"/>
                  <a:gd name="T49" fmla="*/ 1 h 143"/>
                  <a:gd name="T50" fmla="*/ 1 w 60"/>
                  <a:gd name="T51" fmla="*/ 1 h 143"/>
                  <a:gd name="T52" fmla="*/ 1 w 60"/>
                  <a:gd name="T53" fmla="*/ 1 h 143"/>
                  <a:gd name="T54" fmla="*/ 1 w 60"/>
                  <a:gd name="T55" fmla="*/ 1 h 143"/>
                  <a:gd name="T56" fmla="*/ 1 w 60"/>
                  <a:gd name="T57" fmla="*/ 1 h 143"/>
                  <a:gd name="T58" fmla="*/ 1 w 60"/>
                  <a:gd name="T59" fmla="*/ 1 h 143"/>
                  <a:gd name="T60" fmla="*/ 1 w 60"/>
                  <a:gd name="T61" fmla="*/ 1 h 143"/>
                  <a:gd name="T62" fmla="*/ 1 w 60"/>
                  <a:gd name="T63" fmla="*/ 1 h 143"/>
                  <a:gd name="T64" fmla="*/ 1 w 60"/>
                  <a:gd name="T65" fmla="*/ 1 h 143"/>
                  <a:gd name="T66" fmla="*/ 1 w 60"/>
                  <a:gd name="T67" fmla="*/ 1 h 143"/>
                  <a:gd name="T68" fmla="*/ 1 w 60"/>
                  <a:gd name="T69" fmla="*/ 1 h 143"/>
                  <a:gd name="T70" fmla="*/ 1 w 60"/>
                  <a:gd name="T71" fmla="*/ 1 h 143"/>
                  <a:gd name="T72" fmla="*/ 1 w 60"/>
                  <a:gd name="T73" fmla="*/ 1 h 143"/>
                  <a:gd name="T74" fmla="*/ 1 w 60"/>
                  <a:gd name="T75" fmla="*/ 1 h 143"/>
                  <a:gd name="T76" fmla="*/ 1 w 60"/>
                  <a:gd name="T77" fmla="*/ 0 h 143"/>
                  <a:gd name="T78" fmla="*/ 1 w 60"/>
                  <a:gd name="T79" fmla="*/ 0 h 14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0"/>
                  <a:gd name="T121" fmla="*/ 0 h 143"/>
                  <a:gd name="T122" fmla="*/ 60 w 60"/>
                  <a:gd name="T123" fmla="*/ 143 h 14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0" h="143">
                    <a:moveTo>
                      <a:pt x="60" y="0"/>
                    </a:moveTo>
                    <a:lnTo>
                      <a:pt x="54" y="6"/>
                    </a:lnTo>
                    <a:lnTo>
                      <a:pt x="47" y="15"/>
                    </a:lnTo>
                    <a:lnTo>
                      <a:pt x="41" y="22"/>
                    </a:lnTo>
                    <a:lnTo>
                      <a:pt x="37" y="30"/>
                    </a:lnTo>
                    <a:lnTo>
                      <a:pt x="31" y="37"/>
                    </a:lnTo>
                    <a:lnTo>
                      <a:pt x="27" y="46"/>
                    </a:lnTo>
                    <a:lnTo>
                      <a:pt x="22" y="56"/>
                    </a:lnTo>
                    <a:lnTo>
                      <a:pt x="18" y="65"/>
                    </a:lnTo>
                    <a:lnTo>
                      <a:pt x="15" y="73"/>
                    </a:lnTo>
                    <a:lnTo>
                      <a:pt x="11" y="83"/>
                    </a:lnTo>
                    <a:lnTo>
                      <a:pt x="8" y="93"/>
                    </a:lnTo>
                    <a:lnTo>
                      <a:pt x="7" y="102"/>
                    </a:lnTo>
                    <a:lnTo>
                      <a:pt x="4" y="112"/>
                    </a:lnTo>
                    <a:lnTo>
                      <a:pt x="2" y="122"/>
                    </a:lnTo>
                    <a:lnTo>
                      <a:pt x="1" y="132"/>
                    </a:lnTo>
                    <a:lnTo>
                      <a:pt x="0" y="143"/>
                    </a:lnTo>
                    <a:lnTo>
                      <a:pt x="2" y="143"/>
                    </a:lnTo>
                    <a:lnTo>
                      <a:pt x="5" y="143"/>
                    </a:lnTo>
                    <a:lnTo>
                      <a:pt x="7" y="135"/>
                    </a:lnTo>
                    <a:lnTo>
                      <a:pt x="10" y="125"/>
                    </a:lnTo>
                    <a:lnTo>
                      <a:pt x="12" y="116"/>
                    </a:lnTo>
                    <a:lnTo>
                      <a:pt x="15" y="108"/>
                    </a:lnTo>
                    <a:lnTo>
                      <a:pt x="18" y="99"/>
                    </a:lnTo>
                    <a:lnTo>
                      <a:pt x="21" y="90"/>
                    </a:lnTo>
                    <a:lnTo>
                      <a:pt x="24" y="82"/>
                    </a:lnTo>
                    <a:lnTo>
                      <a:pt x="27" y="73"/>
                    </a:lnTo>
                    <a:lnTo>
                      <a:pt x="30" y="65"/>
                    </a:lnTo>
                    <a:lnTo>
                      <a:pt x="34" y="56"/>
                    </a:lnTo>
                    <a:lnTo>
                      <a:pt x="37" y="47"/>
                    </a:lnTo>
                    <a:lnTo>
                      <a:pt x="41" y="40"/>
                    </a:lnTo>
                    <a:lnTo>
                      <a:pt x="45" y="33"/>
                    </a:lnTo>
                    <a:lnTo>
                      <a:pt x="50" y="25"/>
                    </a:lnTo>
                    <a:lnTo>
                      <a:pt x="54" y="17"/>
                    </a:lnTo>
                    <a:lnTo>
                      <a:pt x="60" y="10"/>
                    </a:lnTo>
                    <a:lnTo>
                      <a:pt x="60" y="7"/>
                    </a:lnTo>
                    <a:lnTo>
                      <a:pt x="60" y="5"/>
                    </a:lnTo>
                    <a:lnTo>
                      <a:pt x="60" y="3"/>
                    </a:lnTo>
                    <a:lnTo>
                      <a:pt x="60"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4" name="Freeform 46"/>
              <p:cNvSpPr>
                <a:spLocks/>
              </p:cNvSpPr>
              <p:nvPr/>
            </p:nvSpPr>
            <p:spPr bwMode="auto">
              <a:xfrm>
                <a:off x="2047" y="702"/>
                <a:ext cx="31" cy="160"/>
              </a:xfrm>
              <a:custGeom>
                <a:avLst/>
                <a:gdLst>
                  <a:gd name="T0" fmla="*/ 1 w 61"/>
                  <a:gd name="T1" fmla="*/ 1 h 320"/>
                  <a:gd name="T2" fmla="*/ 1 w 61"/>
                  <a:gd name="T3" fmla="*/ 1 h 320"/>
                  <a:gd name="T4" fmla="*/ 1 w 61"/>
                  <a:gd name="T5" fmla="*/ 1 h 320"/>
                  <a:gd name="T6" fmla="*/ 1 w 61"/>
                  <a:gd name="T7" fmla="*/ 1 h 320"/>
                  <a:gd name="T8" fmla="*/ 1 w 61"/>
                  <a:gd name="T9" fmla="*/ 1 h 320"/>
                  <a:gd name="T10" fmla="*/ 1 w 61"/>
                  <a:gd name="T11" fmla="*/ 1 h 320"/>
                  <a:gd name="T12" fmla="*/ 1 w 61"/>
                  <a:gd name="T13" fmla="*/ 1 h 320"/>
                  <a:gd name="T14" fmla="*/ 1 w 61"/>
                  <a:gd name="T15" fmla="*/ 1 h 320"/>
                  <a:gd name="T16" fmla="*/ 1 w 61"/>
                  <a:gd name="T17" fmla="*/ 1 h 320"/>
                  <a:gd name="T18" fmla="*/ 1 w 61"/>
                  <a:gd name="T19" fmla="*/ 1 h 320"/>
                  <a:gd name="T20" fmla="*/ 1 w 61"/>
                  <a:gd name="T21" fmla="*/ 1 h 320"/>
                  <a:gd name="T22" fmla="*/ 1 w 61"/>
                  <a:gd name="T23" fmla="*/ 1 h 320"/>
                  <a:gd name="T24" fmla="*/ 1 w 61"/>
                  <a:gd name="T25" fmla="*/ 1 h 320"/>
                  <a:gd name="T26" fmla="*/ 1 w 61"/>
                  <a:gd name="T27" fmla="*/ 1 h 320"/>
                  <a:gd name="T28" fmla="*/ 1 w 61"/>
                  <a:gd name="T29" fmla="*/ 2 h 320"/>
                  <a:gd name="T30" fmla="*/ 1 w 61"/>
                  <a:gd name="T31" fmla="*/ 2 h 320"/>
                  <a:gd name="T32" fmla="*/ 1 w 61"/>
                  <a:gd name="T33" fmla="*/ 2 h 320"/>
                  <a:gd name="T34" fmla="*/ 1 w 61"/>
                  <a:gd name="T35" fmla="*/ 2 h 320"/>
                  <a:gd name="T36" fmla="*/ 1 w 61"/>
                  <a:gd name="T37" fmla="*/ 2 h 320"/>
                  <a:gd name="T38" fmla="*/ 1 w 61"/>
                  <a:gd name="T39" fmla="*/ 2 h 320"/>
                  <a:gd name="T40" fmla="*/ 1 w 61"/>
                  <a:gd name="T41" fmla="*/ 2 h 320"/>
                  <a:gd name="T42" fmla="*/ 1 w 61"/>
                  <a:gd name="T43" fmla="*/ 2 h 320"/>
                  <a:gd name="T44" fmla="*/ 1 w 61"/>
                  <a:gd name="T45" fmla="*/ 1 h 320"/>
                  <a:gd name="T46" fmla="*/ 1 w 61"/>
                  <a:gd name="T47" fmla="*/ 1 h 320"/>
                  <a:gd name="T48" fmla="*/ 1 w 61"/>
                  <a:gd name="T49" fmla="*/ 1 h 320"/>
                  <a:gd name="T50" fmla="*/ 1 w 61"/>
                  <a:gd name="T51" fmla="*/ 1 h 320"/>
                  <a:gd name="T52" fmla="*/ 1 w 61"/>
                  <a:gd name="T53" fmla="*/ 1 h 320"/>
                  <a:gd name="T54" fmla="*/ 1 w 61"/>
                  <a:gd name="T55" fmla="*/ 1 h 320"/>
                  <a:gd name="T56" fmla="*/ 1 w 61"/>
                  <a:gd name="T57" fmla="*/ 1 h 320"/>
                  <a:gd name="T58" fmla="*/ 1 w 61"/>
                  <a:gd name="T59" fmla="*/ 1 h 320"/>
                  <a:gd name="T60" fmla="*/ 1 w 61"/>
                  <a:gd name="T61" fmla="*/ 1 h 320"/>
                  <a:gd name="T62" fmla="*/ 1 w 61"/>
                  <a:gd name="T63" fmla="*/ 1 h 320"/>
                  <a:gd name="T64" fmla="*/ 1 w 61"/>
                  <a:gd name="T65" fmla="*/ 1 h 320"/>
                  <a:gd name="T66" fmla="*/ 1 w 61"/>
                  <a:gd name="T67" fmla="*/ 1 h 320"/>
                  <a:gd name="T68" fmla="*/ 1 w 61"/>
                  <a:gd name="T69" fmla="*/ 1 h 320"/>
                  <a:gd name="T70" fmla="*/ 1 w 61"/>
                  <a:gd name="T71" fmla="*/ 1 h 320"/>
                  <a:gd name="T72" fmla="*/ 1 w 61"/>
                  <a:gd name="T73" fmla="*/ 0 h 32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1"/>
                  <a:gd name="T112" fmla="*/ 0 h 320"/>
                  <a:gd name="T113" fmla="*/ 61 w 61"/>
                  <a:gd name="T114" fmla="*/ 320 h 32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1" h="320">
                    <a:moveTo>
                      <a:pt x="55" y="0"/>
                    </a:moveTo>
                    <a:lnTo>
                      <a:pt x="54" y="3"/>
                    </a:lnTo>
                    <a:lnTo>
                      <a:pt x="53" y="5"/>
                    </a:lnTo>
                    <a:lnTo>
                      <a:pt x="50" y="10"/>
                    </a:lnTo>
                    <a:lnTo>
                      <a:pt x="48" y="14"/>
                    </a:lnTo>
                    <a:lnTo>
                      <a:pt x="47" y="18"/>
                    </a:lnTo>
                    <a:lnTo>
                      <a:pt x="45" y="23"/>
                    </a:lnTo>
                    <a:lnTo>
                      <a:pt x="44" y="28"/>
                    </a:lnTo>
                    <a:lnTo>
                      <a:pt x="43" y="34"/>
                    </a:lnTo>
                    <a:lnTo>
                      <a:pt x="41" y="40"/>
                    </a:lnTo>
                    <a:lnTo>
                      <a:pt x="40" y="45"/>
                    </a:lnTo>
                    <a:lnTo>
                      <a:pt x="38" y="51"/>
                    </a:lnTo>
                    <a:lnTo>
                      <a:pt x="37" y="55"/>
                    </a:lnTo>
                    <a:lnTo>
                      <a:pt x="35" y="61"/>
                    </a:lnTo>
                    <a:lnTo>
                      <a:pt x="35" y="67"/>
                    </a:lnTo>
                    <a:lnTo>
                      <a:pt x="34" y="71"/>
                    </a:lnTo>
                    <a:lnTo>
                      <a:pt x="34" y="76"/>
                    </a:lnTo>
                    <a:lnTo>
                      <a:pt x="33" y="87"/>
                    </a:lnTo>
                    <a:lnTo>
                      <a:pt x="31" y="100"/>
                    </a:lnTo>
                    <a:lnTo>
                      <a:pt x="28" y="114"/>
                    </a:lnTo>
                    <a:lnTo>
                      <a:pt x="27" y="130"/>
                    </a:lnTo>
                    <a:lnTo>
                      <a:pt x="24" y="146"/>
                    </a:lnTo>
                    <a:lnTo>
                      <a:pt x="23" y="163"/>
                    </a:lnTo>
                    <a:lnTo>
                      <a:pt x="20" y="180"/>
                    </a:lnTo>
                    <a:lnTo>
                      <a:pt x="17" y="197"/>
                    </a:lnTo>
                    <a:lnTo>
                      <a:pt x="14" y="214"/>
                    </a:lnTo>
                    <a:lnTo>
                      <a:pt x="13" y="231"/>
                    </a:lnTo>
                    <a:lnTo>
                      <a:pt x="10" y="247"/>
                    </a:lnTo>
                    <a:lnTo>
                      <a:pt x="8" y="263"/>
                    </a:lnTo>
                    <a:lnTo>
                      <a:pt x="5" y="278"/>
                    </a:lnTo>
                    <a:lnTo>
                      <a:pt x="3" y="293"/>
                    </a:lnTo>
                    <a:lnTo>
                      <a:pt x="1" y="306"/>
                    </a:lnTo>
                    <a:lnTo>
                      <a:pt x="0" y="318"/>
                    </a:lnTo>
                    <a:lnTo>
                      <a:pt x="1" y="318"/>
                    </a:lnTo>
                    <a:lnTo>
                      <a:pt x="3" y="318"/>
                    </a:lnTo>
                    <a:lnTo>
                      <a:pt x="5" y="318"/>
                    </a:lnTo>
                    <a:lnTo>
                      <a:pt x="8" y="320"/>
                    </a:lnTo>
                    <a:lnTo>
                      <a:pt x="10" y="316"/>
                    </a:lnTo>
                    <a:lnTo>
                      <a:pt x="11" y="310"/>
                    </a:lnTo>
                    <a:lnTo>
                      <a:pt x="13" y="301"/>
                    </a:lnTo>
                    <a:lnTo>
                      <a:pt x="14" y="294"/>
                    </a:lnTo>
                    <a:lnTo>
                      <a:pt x="15" y="284"/>
                    </a:lnTo>
                    <a:lnTo>
                      <a:pt x="17" y="276"/>
                    </a:lnTo>
                    <a:lnTo>
                      <a:pt x="18" y="266"/>
                    </a:lnTo>
                    <a:lnTo>
                      <a:pt x="20" y="256"/>
                    </a:lnTo>
                    <a:lnTo>
                      <a:pt x="21" y="244"/>
                    </a:lnTo>
                    <a:lnTo>
                      <a:pt x="23" y="236"/>
                    </a:lnTo>
                    <a:lnTo>
                      <a:pt x="24" y="226"/>
                    </a:lnTo>
                    <a:lnTo>
                      <a:pt x="25" y="217"/>
                    </a:lnTo>
                    <a:lnTo>
                      <a:pt x="25" y="208"/>
                    </a:lnTo>
                    <a:lnTo>
                      <a:pt x="27" y="200"/>
                    </a:lnTo>
                    <a:lnTo>
                      <a:pt x="28" y="194"/>
                    </a:lnTo>
                    <a:lnTo>
                      <a:pt x="30" y="188"/>
                    </a:lnTo>
                    <a:lnTo>
                      <a:pt x="31" y="177"/>
                    </a:lnTo>
                    <a:lnTo>
                      <a:pt x="33" y="166"/>
                    </a:lnTo>
                    <a:lnTo>
                      <a:pt x="34" y="156"/>
                    </a:lnTo>
                    <a:lnTo>
                      <a:pt x="35" y="144"/>
                    </a:lnTo>
                    <a:lnTo>
                      <a:pt x="37" y="133"/>
                    </a:lnTo>
                    <a:lnTo>
                      <a:pt x="38" y="121"/>
                    </a:lnTo>
                    <a:lnTo>
                      <a:pt x="40" y="110"/>
                    </a:lnTo>
                    <a:lnTo>
                      <a:pt x="43" y="98"/>
                    </a:lnTo>
                    <a:lnTo>
                      <a:pt x="44" y="86"/>
                    </a:lnTo>
                    <a:lnTo>
                      <a:pt x="45" y="74"/>
                    </a:lnTo>
                    <a:lnTo>
                      <a:pt x="47" y="63"/>
                    </a:lnTo>
                    <a:lnTo>
                      <a:pt x="50" y="51"/>
                    </a:lnTo>
                    <a:lnTo>
                      <a:pt x="53" y="40"/>
                    </a:lnTo>
                    <a:lnTo>
                      <a:pt x="55" y="30"/>
                    </a:lnTo>
                    <a:lnTo>
                      <a:pt x="58" y="18"/>
                    </a:lnTo>
                    <a:lnTo>
                      <a:pt x="61" y="8"/>
                    </a:lnTo>
                    <a:lnTo>
                      <a:pt x="61" y="5"/>
                    </a:lnTo>
                    <a:lnTo>
                      <a:pt x="60" y="4"/>
                    </a:lnTo>
                    <a:lnTo>
                      <a:pt x="57" y="1"/>
                    </a:lnTo>
                    <a:lnTo>
                      <a:pt x="55"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5" name="Freeform 47"/>
              <p:cNvSpPr>
                <a:spLocks/>
              </p:cNvSpPr>
              <p:nvPr/>
            </p:nvSpPr>
            <p:spPr bwMode="auto">
              <a:xfrm>
                <a:off x="2044" y="895"/>
                <a:ext cx="48" cy="285"/>
              </a:xfrm>
              <a:custGeom>
                <a:avLst/>
                <a:gdLst>
                  <a:gd name="T0" fmla="*/ 0 w 97"/>
                  <a:gd name="T1" fmla="*/ 1 h 569"/>
                  <a:gd name="T2" fmla="*/ 0 w 97"/>
                  <a:gd name="T3" fmla="*/ 1 h 569"/>
                  <a:gd name="T4" fmla="*/ 0 w 97"/>
                  <a:gd name="T5" fmla="*/ 1 h 569"/>
                  <a:gd name="T6" fmla="*/ 0 w 97"/>
                  <a:gd name="T7" fmla="*/ 1 h 569"/>
                  <a:gd name="T8" fmla="*/ 0 w 97"/>
                  <a:gd name="T9" fmla="*/ 1 h 569"/>
                  <a:gd name="T10" fmla="*/ 0 w 97"/>
                  <a:gd name="T11" fmla="*/ 1 h 569"/>
                  <a:gd name="T12" fmla="*/ 0 w 97"/>
                  <a:gd name="T13" fmla="*/ 1 h 569"/>
                  <a:gd name="T14" fmla="*/ 0 w 97"/>
                  <a:gd name="T15" fmla="*/ 1 h 569"/>
                  <a:gd name="T16" fmla="*/ 0 w 97"/>
                  <a:gd name="T17" fmla="*/ 1 h 569"/>
                  <a:gd name="T18" fmla="*/ 0 w 97"/>
                  <a:gd name="T19" fmla="*/ 1 h 569"/>
                  <a:gd name="T20" fmla="*/ 0 w 97"/>
                  <a:gd name="T21" fmla="*/ 1 h 569"/>
                  <a:gd name="T22" fmla="*/ 0 w 97"/>
                  <a:gd name="T23" fmla="*/ 1 h 569"/>
                  <a:gd name="T24" fmla="*/ 0 w 97"/>
                  <a:gd name="T25" fmla="*/ 1 h 569"/>
                  <a:gd name="T26" fmla="*/ 0 w 97"/>
                  <a:gd name="T27" fmla="*/ 2 h 569"/>
                  <a:gd name="T28" fmla="*/ 0 w 97"/>
                  <a:gd name="T29" fmla="*/ 2 h 569"/>
                  <a:gd name="T30" fmla="*/ 0 w 97"/>
                  <a:gd name="T31" fmla="*/ 2 h 569"/>
                  <a:gd name="T32" fmla="*/ 0 w 97"/>
                  <a:gd name="T33" fmla="*/ 2 h 569"/>
                  <a:gd name="T34" fmla="*/ 0 w 97"/>
                  <a:gd name="T35" fmla="*/ 2 h 569"/>
                  <a:gd name="T36" fmla="*/ 0 w 97"/>
                  <a:gd name="T37" fmla="*/ 2 h 569"/>
                  <a:gd name="T38" fmla="*/ 0 w 97"/>
                  <a:gd name="T39" fmla="*/ 2 h 569"/>
                  <a:gd name="T40" fmla="*/ 0 w 97"/>
                  <a:gd name="T41" fmla="*/ 2 h 569"/>
                  <a:gd name="T42" fmla="*/ 0 w 97"/>
                  <a:gd name="T43" fmla="*/ 2 h 569"/>
                  <a:gd name="T44" fmla="*/ 0 w 97"/>
                  <a:gd name="T45" fmla="*/ 2 h 569"/>
                  <a:gd name="T46" fmla="*/ 0 w 97"/>
                  <a:gd name="T47" fmla="*/ 3 h 569"/>
                  <a:gd name="T48" fmla="*/ 0 w 97"/>
                  <a:gd name="T49" fmla="*/ 3 h 569"/>
                  <a:gd name="T50" fmla="*/ 0 w 97"/>
                  <a:gd name="T51" fmla="*/ 3 h 569"/>
                  <a:gd name="T52" fmla="*/ 0 w 97"/>
                  <a:gd name="T53" fmla="*/ 3 h 569"/>
                  <a:gd name="T54" fmla="*/ 0 w 97"/>
                  <a:gd name="T55" fmla="*/ 3 h 569"/>
                  <a:gd name="T56" fmla="*/ 0 w 97"/>
                  <a:gd name="T57" fmla="*/ 3 h 569"/>
                  <a:gd name="T58" fmla="*/ 0 w 97"/>
                  <a:gd name="T59" fmla="*/ 3 h 569"/>
                  <a:gd name="T60" fmla="*/ 0 w 97"/>
                  <a:gd name="T61" fmla="*/ 3 h 569"/>
                  <a:gd name="T62" fmla="*/ 0 w 97"/>
                  <a:gd name="T63" fmla="*/ 2 h 569"/>
                  <a:gd name="T64" fmla="*/ 0 w 97"/>
                  <a:gd name="T65" fmla="*/ 2 h 569"/>
                  <a:gd name="T66" fmla="*/ 0 w 97"/>
                  <a:gd name="T67" fmla="*/ 2 h 569"/>
                  <a:gd name="T68" fmla="*/ 0 w 97"/>
                  <a:gd name="T69" fmla="*/ 2 h 569"/>
                  <a:gd name="T70" fmla="*/ 0 w 97"/>
                  <a:gd name="T71" fmla="*/ 2 h 569"/>
                  <a:gd name="T72" fmla="*/ 0 w 97"/>
                  <a:gd name="T73" fmla="*/ 2 h 569"/>
                  <a:gd name="T74" fmla="*/ 0 w 97"/>
                  <a:gd name="T75" fmla="*/ 2 h 569"/>
                  <a:gd name="T76" fmla="*/ 0 w 97"/>
                  <a:gd name="T77" fmla="*/ 2 h 569"/>
                  <a:gd name="T78" fmla="*/ 0 w 97"/>
                  <a:gd name="T79" fmla="*/ 2 h 569"/>
                  <a:gd name="T80" fmla="*/ 0 w 97"/>
                  <a:gd name="T81" fmla="*/ 2 h 569"/>
                  <a:gd name="T82" fmla="*/ 0 w 97"/>
                  <a:gd name="T83" fmla="*/ 1 h 569"/>
                  <a:gd name="T84" fmla="*/ 0 w 97"/>
                  <a:gd name="T85" fmla="*/ 1 h 569"/>
                  <a:gd name="T86" fmla="*/ 0 w 97"/>
                  <a:gd name="T87" fmla="*/ 1 h 569"/>
                  <a:gd name="T88" fmla="*/ 0 w 97"/>
                  <a:gd name="T89" fmla="*/ 1 h 569"/>
                  <a:gd name="T90" fmla="*/ 0 w 97"/>
                  <a:gd name="T91" fmla="*/ 1 h 569"/>
                  <a:gd name="T92" fmla="*/ 0 w 97"/>
                  <a:gd name="T93" fmla="*/ 1 h 569"/>
                  <a:gd name="T94" fmla="*/ 0 w 97"/>
                  <a:gd name="T95" fmla="*/ 1 h 569"/>
                  <a:gd name="T96" fmla="*/ 0 w 97"/>
                  <a:gd name="T97" fmla="*/ 1 h 569"/>
                  <a:gd name="T98" fmla="*/ 0 w 97"/>
                  <a:gd name="T99" fmla="*/ 1 h 569"/>
                  <a:gd name="T100" fmla="*/ 0 w 97"/>
                  <a:gd name="T101" fmla="*/ 1 h 569"/>
                  <a:gd name="T102" fmla="*/ 0 w 97"/>
                  <a:gd name="T103" fmla="*/ 1 h 569"/>
                  <a:gd name="T104" fmla="*/ 0 w 97"/>
                  <a:gd name="T105" fmla="*/ 0 h 5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
                  <a:gd name="T160" fmla="*/ 0 h 569"/>
                  <a:gd name="T161" fmla="*/ 97 w 97"/>
                  <a:gd name="T162" fmla="*/ 569 h 56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 h="569">
                    <a:moveTo>
                      <a:pt x="10" y="0"/>
                    </a:moveTo>
                    <a:lnTo>
                      <a:pt x="1" y="1"/>
                    </a:lnTo>
                    <a:lnTo>
                      <a:pt x="1" y="5"/>
                    </a:lnTo>
                    <a:lnTo>
                      <a:pt x="0" y="11"/>
                    </a:lnTo>
                    <a:lnTo>
                      <a:pt x="0" y="17"/>
                    </a:lnTo>
                    <a:lnTo>
                      <a:pt x="0" y="24"/>
                    </a:lnTo>
                    <a:lnTo>
                      <a:pt x="0" y="30"/>
                    </a:lnTo>
                    <a:lnTo>
                      <a:pt x="0" y="37"/>
                    </a:lnTo>
                    <a:lnTo>
                      <a:pt x="0" y="44"/>
                    </a:lnTo>
                    <a:lnTo>
                      <a:pt x="1" y="51"/>
                    </a:lnTo>
                    <a:lnTo>
                      <a:pt x="1" y="58"/>
                    </a:lnTo>
                    <a:lnTo>
                      <a:pt x="1" y="65"/>
                    </a:lnTo>
                    <a:lnTo>
                      <a:pt x="1" y="73"/>
                    </a:lnTo>
                    <a:lnTo>
                      <a:pt x="1" y="78"/>
                    </a:lnTo>
                    <a:lnTo>
                      <a:pt x="1" y="84"/>
                    </a:lnTo>
                    <a:lnTo>
                      <a:pt x="1" y="90"/>
                    </a:lnTo>
                    <a:lnTo>
                      <a:pt x="1" y="93"/>
                    </a:lnTo>
                    <a:lnTo>
                      <a:pt x="2" y="97"/>
                    </a:lnTo>
                    <a:lnTo>
                      <a:pt x="1" y="113"/>
                    </a:lnTo>
                    <a:lnTo>
                      <a:pt x="1" y="128"/>
                    </a:lnTo>
                    <a:lnTo>
                      <a:pt x="2" y="145"/>
                    </a:lnTo>
                    <a:lnTo>
                      <a:pt x="2" y="161"/>
                    </a:lnTo>
                    <a:lnTo>
                      <a:pt x="4" y="177"/>
                    </a:lnTo>
                    <a:lnTo>
                      <a:pt x="5" y="193"/>
                    </a:lnTo>
                    <a:lnTo>
                      <a:pt x="7" y="210"/>
                    </a:lnTo>
                    <a:lnTo>
                      <a:pt x="8" y="225"/>
                    </a:lnTo>
                    <a:lnTo>
                      <a:pt x="10" y="241"/>
                    </a:lnTo>
                    <a:lnTo>
                      <a:pt x="11" y="258"/>
                    </a:lnTo>
                    <a:lnTo>
                      <a:pt x="12" y="274"/>
                    </a:lnTo>
                    <a:lnTo>
                      <a:pt x="14" y="290"/>
                    </a:lnTo>
                    <a:lnTo>
                      <a:pt x="15" y="306"/>
                    </a:lnTo>
                    <a:lnTo>
                      <a:pt x="17" y="323"/>
                    </a:lnTo>
                    <a:lnTo>
                      <a:pt x="18" y="338"/>
                    </a:lnTo>
                    <a:lnTo>
                      <a:pt x="20" y="356"/>
                    </a:lnTo>
                    <a:lnTo>
                      <a:pt x="24" y="367"/>
                    </a:lnTo>
                    <a:lnTo>
                      <a:pt x="27" y="380"/>
                    </a:lnTo>
                    <a:lnTo>
                      <a:pt x="31" y="393"/>
                    </a:lnTo>
                    <a:lnTo>
                      <a:pt x="34" y="404"/>
                    </a:lnTo>
                    <a:lnTo>
                      <a:pt x="38" y="417"/>
                    </a:lnTo>
                    <a:lnTo>
                      <a:pt x="41" y="430"/>
                    </a:lnTo>
                    <a:lnTo>
                      <a:pt x="44" y="441"/>
                    </a:lnTo>
                    <a:lnTo>
                      <a:pt x="48" y="454"/>
                    </a:lnTo>
                    <a:lnTo>
                      <a:pt x="51" y="467"/>
                    </a:lnTo>
                    <a:lnTo>
                      <a:pt x="54" y="480"/>
                    </a:lnTo>
                    <a:lnTo>
                      <a:pt x="58" y="491"/>
                    </a:lnTo>
                    <a:lnTo>
                      <a:pt x="62" y="504"/>
                    </a:lnTo>
                    <a:lnTo>
                      <a:pt x="67" y="517"/>
                    </a:lnTo>
                    <a:lnTo>
                      <a:pt x="71" y="530"/>
                    </a:lnTo>
                    <a:lnTo>
                      <a:pt x="75" y="543"/>
                    </a:lnTo>
                    <a:lnTo>
                      <a:pt x="82" y="556"/>
                    </a:lnTo>
                    <a:lnTo>
                      <a:pt x="84" y="559"/>
                    </a:lnTo>
                    <a:lnTo>
                      <a:pt x="85" y="561"/>
                    </a:lnTo>
                    <a:lnTo>
                      <a:pt x="87" y="564"/>
                    </a:lnTo>
                    <a:lnTo>
                      <a:pt x="88" y="569"/>
                    </a:lnTo>
                    <a:lnTo>
                      <a:pt x="90" y="569"/>
                    </a:lnTo>
                    <a:lnTo>
                      <a:pt x="91" y="567"/>
                    </a:lnTo>
                    <a:lnTo>
                      <a:pt x="94" y="567"/>
                    </a:lnTo>
                    <a:lnTo>
                      <a:pt x="97" y="566"/>
                    </a:lnTo>
                    <a:lnTo>
                      <a:pt x="92" y="557"/>
                    </a:lnTo>
                    <a:lnTo>
                      <a:pt x="90" y="548"/>
                    </a:lnTo>
                    <a:lnTo>
                      <a:pt x="87" y="538"/>
                    </a:lnTo>
                    <a:lnTo>
                      <a:pt x="84" y="530"/>
                    </a:lnTo>
                    <a:lnTo>
                      <a:pt x="81" y="521"/>
                    </a:lnTo>
                    <a:lnTo>
                      <a:pt x="77" y="511"/>
                    </a:lnTo>
                    <a:lnTo>
                      <a:pt x="74" y="503"/>
                    </a:lnTo>
                    <a:lnTo>
                      <a:pt x="71" y="494"/>
                    </a:lnTo>
                    <a:lnTo>
                      <a:pt x="67" y="486"/>
                    </a:lnTo>
                    <a:lnTo>
                      <a:pt x="64" y="477"/>
                    </a:lnTo>
                    <a:lnTo>
                      <a:pt x="61" y="467"/>
                    </a:lnTo>
                    <a:lnTo>
                      <a:pt x="58" y="458"/>
                    </a:lnTo>
                    <a:lnTo>
                      <a:pt x="55" y="450"/>
                    </a:lnTo>
                    <a:lnTo>
                      <a:pt x="52" y="440"/>
                    </a:lnTo>
                    <a:lnTo>
                      <a:pt x="51" y="431"/>
                    </a:lnTo>
                    <a:lnTo>
                      <a:pt x="50" y="423"/>
                    </a:lnTo>
                    <a:lnTo>
                      <a:pt x="42" y="404"/>
                    </a:lnTo>
                    <a:lnTo>
                      <a:pt x="38" y="386"/>
                    </a:lnTo>
                    <a:lnTo>
                      <a:pt x="34" y="367"/>
                    </a:lnTo>
                    <a:lnTo>
                      <a:pt x="31" y="348"/>
                    </a:lnTo>
                    <a:lnTo>
                      <a:pt x="27" y="330"/>
                    </a:lnTo>
                    <a:lnTo>
                      <a:pt x="25" y="313"/>
                    </a:lnTo>
                    <a:lnTo>
                      <a:pt x="24" y="294"/>
                    </a:lnTo>
                    <a:lnTo>
                      <a:pt x="22" y="276"/>
                    </a:lnTo>
                    <a:lnTo>
                      <a:pt x="20" y="257"/>
                    </a:lnTo>
                    <a:lnTo>
                      <a:pt x="18" y="238"/>
                    </a:lnTo>
                    <a:lnTo>
                      <a:pt x="18" y="220"/>
                    </a:lnTo>
                    <a:lnTo>
                      <a:pt x="17" y="201"/>
                    </a:lnTo>
                    <a:lnTo>
                      <a:pt x="15" y="183"/>
                    </a:lnTo>
                    <a:lnTo>
                      <a:pt x="15" y="165"/>
                    </a:lnTo>
                    <a:lnTo>
                      <a:pt x="14" y="147"/>
                    </a:lnTo>
                    <a:lnTo>
                      <a:pt x="12" y="128"/>
                    </a:lnTo>
                    <a:lnTo>
                      <a:pt x="11" y="121"/>
                    </a:lnTo>
                    <a:lnTo>
                      <a:pt x="11" y="114"/>
                    </a:lnTo>
                    <a:lnTo>
                      <a:pt x="11" y="105"/>
                    </a:lnTo>
                    <a:lnTo>
                      <a:pt x="11" y="98"/>
                    </a:lnTo>
                    <a:lnTo>
                      <a:pt x="11" y="90"/>
                    </a:lnTo>
                    <a:lnTo>
                      <a:pt x="11" y="80"/>
                    </a:lnTo>
                    <a:lnTo>
                      <a:pt x="11" y="71"/>
                    </a:lnTo>
                    <a:lnTo>
                      <a:pt x="11" y="63"/>
                    </a:lnTo>
                    <a:lnTo>
                      <a:pt x="11" y="53"/>
                    </a:lnTo>
                    <a:lnTo>
                      <a:pt x="11" y="44"/>
                    </a:lnTo>
                    <a:lnTo>
                      <a:pt x="11" y="35"/>
                    </a:lnTo>
                    <a:lnTo>
                      <a:pt x="11" y="27"/>
                    </a:lnTo>
                    <a:lnTo>
                      <a:pt x="11" y="20"/>
                    </a:lnTo>
                    <a:lnTo>
                      <a:pt x="11" y="13"/>
                    </a:lnTo>
                    <a:lnTo>
                      <a:pt x="10" y="5"/>
                    </a:lnTo>
                    <a:lnTo>
                      <a:pt x="10"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6" name="Freeform 48"/>
              <p:cNvSpPr>
                <a:spLocks/>
              </p:cNvSpPr>
              <p:nvPr/>
            </p:nvSpPr>
            <p:spPr bwMode="auto">
              <a:xfrm>
                <a:off x="2135" y="1065"/>
                <a:ext cx="31" cy="97"/>
              </a:xfrm>
              <a:custGeom>
                <a:avLst/>
                <a:gdLst>
                  <a:gd name="T0" fmla="*/ 0 w 63"/>
                  <a:gd name="T1" fmla="*/ 0 h 195"/>
                  <a:gd name="T2" fmla="*/ 0 w 63"/>
                  <a:gd name="T3" fmla="*/ 0 h 195"/>
                  <a:gd name="T4" fmla="*/ 0 w 63"/>
                  <a:gd name="T5" fmla="*/ 0 h 195"/>
                  <a:gd name="T6" fmla="*/ 0 w 63"/>
                  <a:gd name="T7" fmla="*/ 0 h 195"/>
                  <a:gd name="T8" fmla="*/ 0 w 63"/>
                  <a:gd name="T9" fmla="*/ 0 h 195"/>
                  <a:gd name="T10" fmla="*/ 0 w 63"/>
                  <a:gd name="T11" fmla="*/ 0 h 195"/>
                  <a:gd name="T12" fmla="*/ 0 w 63"/>
                  <a:gd name="T13" fmla="*/ 0 h 195"/>
                  <a:gd name="T14" fmla="*/ 0 w 63"/>
                  <a:gd name="T15" fmla="*/ 0 h 195"/>
                  <a:gd name="T16" fmla="*/ 0 w 63"/>
                  <a:gd name="T17" fmla="*/ 0 h 195"/>
                  <a:gd name="T18" fmla="*/ 0 w 63"/>
                  <a:gd name="T19" fmla="*/ 0 h 195"/>
                  <a:gd name="T20" fmla="*/ 0 w 63"/>
                  <a:gd name="T21" fmla="*/ 0 h 195"/>
                  <a:gd name="T22" fmla="*/ 0 w 63"/>
                  <a:gd name="T23" fmla="*/ 0 h 195"/>
                  <a:gd name="T24" fmla="*/ 0 w 63"/>
                  <a:gd name="T25" fmla="*/ 0 h 195"/>
                  <a:gd name="T26" fmla="*/ 0 w 63"/>
                  <a:gd name="T27" fmla="*/ 0 h 195"/>
                  <a:gd name="T28" fmla="*/ 0 w 63"/>
                  <a:gd name="T29" fmla="*/ 0 h 195"/>
                  <a:gd name="T30" fmla="*/ 0 w 63"/>
                  <a:gd name="T31" fmla="*/ 0 h 195"/>
                  <a:gd name="T32" fmla="*/ 0 w 63"/>
                  <a:gd name="T33" fmla="*/ 0 h 195"/>
                  <a:gd name="T34" fmla="*/ 0 w 63"/>
                  <a:gd name="T35" fmla="*/ 0 h 195"/>
                  <a:gd name="T36" fmla="*/ 0 w 63"/>
                  <a:gd name="T37" fmla="*/ 0 h 195"/>
                  <a:gd name="T38" fmla="*/ 0 w 63"/>
                  <a:gd name="T39" fmla="*/ 0 h 195"/>
                  <a:gd name="T40" fmla="*/ 0 w 63"/>
                  <a:gd name="T41" fmla="*/ 0 h 195"/>
                  <a:gd name="T42" fmla="*/ 0 w 63"/>
                  <a:gd name="T43" fmla="*/ 0 h 195"/>
                  <a:gd name="T44" fmla="*/ 0 w 63"/>
                  <a:gd name="T45" fmla="*/ 0 h 195"/>
                  <a:gd name="T46" fmla="*/ 0 w 63"/>
                  <a:gd name="T47" fmla="*/ 0 h 195"/>
                  <a:gd name="T48" fmla="*/ 0 w 63"/>
                  <a:gd name="T49" fmla="*/ 0 h 195"/>
                  <a:gd name="T50" fmla="*/ 0 w 63"/>
                  <a:gd name="T51" fmla="*/ 0 h 195"/>
                  <a:gd name="T52" fmla="*/ 0 w 63"/>
                  <a:gd name="T53" fmla="*/ 0 h 195"/>
                  <a:gd name="T54" fmla="*/ 0 w 63"/>
                  <a:gd name="T55" fmla="*/ 0 h 195"/>
                  <a:gd name="T56" fmla="*/ 0 w 63"/>
                  <a:gd name="T57" fmla="*/ 0 h 195"/>
                  <a:gd name="T58" fmla="*/ 0 w 63"/>
                  <a:gd name="T59" fmla="*/ 0 h 195"/>
                  <a:gd name="T60" fmla="*/ 0 w 63"/>
                  <a:gd name="T61" fmla="*/ 0 h 195"/>
                  <a:gd name="T62" fmla="*/ 0 w 63"/>
                  <a:gd name="T63" fmla="*/ 0 h 195"/>
                  <a:gd name="T64" fmla="*/ 0 w 63"/>
                  <a:gd name="T65" fmla="*/ 0 h 195"/>
                  <a:gd name="T66" fmla="*/ 0 w 63"/>
                  <a:gd name="T67" fmla="*/ 0 h 195"/>
                  <a:gd name="T68" fmla="*/ 0 w 63"/>
                  <a:gd name="T69" fmla="*/ 0 h 195"/>
                  <a:gd name="T70" fmla="*/ 0 w 63"/>
                  <a:gd name="T71" fmla="*/ 0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195"/>
                  <a:gd name="T110" fmla="*/ 63 w 63"/>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195">
                    <a:moveTo>
                      <a:pt x="7" y="0"/>
                    </a:moveTo>
                    <a:lnTo>
                      <a:pt x="4" y="0"/>
                    </a:lnTo>
                    <a:lnTo>
                      <a:pt x="3" y="0"/>
                    </a:lnTo>
                    <a:lnTo>
                      <a:pt x="2" y="2"/>
                    </a:lnTo>
                    <a:lnTo>
                      <a:pt x="0" y="3"/>
                    </a:lnTo>
                    <a:lnTo>
                      <a:pt x="0" y="6"/>
                    </a:lnTo>
                    <a:lnTo>
                      <a:pt x="0" y="9"/>
                    </a:lnTo>
                    <a:lnTo>
                      <a:pt x="0" y="12"/>
                    </a:lnTo>
                    <a:lnTo>
                      <a:pt x="2" y="16"/>
                    </a:lnTo>
                    <a:lnTo>
                      <a:pt x="2" y="20"/>
                    </a:lnTo>
                    <a:lnTo>
                      <a:pt x="3" y="25"/>
                    </a:lnTo>
                    <a:lnTo>
                      <a:pt x="4" y="29"/>
                    </a:lnTo>
                    <a:lnTo>
                      <a:pt x="6" y="33"/>
                    </a:lnTo>
                    <a:lnTo>
                      <a:pt x="7" y="38"/>
                    </a:lnTo>
                    <a:lnTo>
                      <a:pt x="7" y="42"/>
                    </a:lnTo>
                    <a:lnTo>
                      <a:pt x="9" y="45"/>
                    </a:lnTo>
                    <a:lnTo>
                      <a:pt x="10" y="49"/>
                    </a:lnTo>
                    <a:lnTo>
                      <a:pt x="10" y="53"/>
                    </a:lnTo>
                    <a:lnTo>
                      <a:pt x="12" y="56"/>
                    </a:lnTo>
                    <a:lnTo>
                      <a:pt x="12" y="59"/>
                    </a:lnTo>
                    <a:lnTo>
                      <a:pt x="13" y="63"/>
                    </a:lnTo>
                    <a:lnTo>
                      <a:pt x="14" y="70"/>
                    </a:lnTo>
                    <a:lnTo>
                      <a:pt x="16" y="79"/>
                    </a:lnTo>
                    <a:lnTo>
                      <a:pt x="19" y="88"/>
                    </a:lnTo>
                    <a:lnTo>
                      <a:pt x="22" y="96"/>
                    </a:lnTo>
                    <a:lnTo>
                      <a:pt x="23" y="103"/>
                    </a:lnTo>
                    <a:lnTo>
                      <a:pt x="26" y="112"/>
                    </a:lnTo>
                    <a:lnTo>
                      <a:pt x="29" y="120"/>
                    </a:lnTo>
                    <a:lnTo>
                      <a:pt x="32" y="129"/>
                    </a:lnTo>
                    <a:lnTo>
                      <a:pt x="33" y="136"/>
                    </a:lnTo>
                    <a:lnTo>
                      <a:pt x="36" y="145"/>
                    </a:lnTo>
                    <a:lnTo>
                      <a:pt x="39" y="153"/>
                    </a:lnTo>
                    <a:lnTo>
                      <a:pt x="42" y="162"/>
                    </a:lnTo>
                    <a:lnTo>
                      <a:pt x="44" y="169"/>
                    </a:lnTo>
                    <a:lnTo>
                      <a:pt x="49" y="178"/>
                    </a:lnTo>
                    <a:lnTo>
                      <a:pt x="52" y="186"/>
                    </a:lnTo>
                    <a:lnTo>
                      <a:pt x="56" y="195"/>
                    </a:lnTo>
                    <a:lnTo>
                      <a:pt x="60" y="193"/>
                    </a:lnTo>
                    <a:lnTo>
                      <a:pt x="63" y="193"/>
                    </a:lnTo>
                    <a:lnTo>
                      <a:pt x="60" y="185"/>
                    </a:lnTo>
                    <a:lnTo>
                      <a:pt x="59" y="178"/>
                    </a:lnTo>
                    <a:lnTo>
                      <a:pt x="56" y="169"/>
                    </a:lnTo>
                    <a:lnTo>
                      <a:pt x="53" y="162"/>
                    </a:lnTo>
                    <a:lnTo>
                      <a:pt x="50" y="155"/>
                    </a:lnTo>
                    <a:lnTo>
                      <a:pt x="47" y="148"/>
                    </a:lnTo>
                    <a:lnTo>
                      <a:pt x="44" y="140"/>
                    </a:lnTo>
                    <a:lnTo>
                      <a:pt x="43" y="133"/>
                    </a:lnTo>
                    <a:lnTo>
                      <a:pt x="39" y="125"/>
                    </a:lnTo>
                    <a:lnTo>
                      <a:pt x="37" y="118"/>
                    </a:lnTo>
                    <a:lnTo>
                      <a:pt x="34" y="110"/>
                    </a:lnTo>
                    <a:lnTo>
                      <a:pt x="32" y="103"/>
                    </a:lnTo>
                    <a:lnTo>
                      <a:pt x="30" y="96"/>
                    </a:lnTo>
                    <a:lnTo>
                      <a:pt x="29" y="89"/>
                    </a:lnTo>
                    <a:lnTo>
                      <a:pt x="27" y="82"/>
                    </a:lnTo>
                    <a:lnTo>
                      <a:pt x="26" y="75"/>
                    </a:lnTo>
                    <a:lnTo>
                      <a:pt x="24" y="70"/>
                    </a:lnTo>
                    <a:lnTo>
                      <a:pt x="23" y="65"/>
                    </a:lnTo>
                    <a:lnTo>
                      <a:pt x="22" y="60"/>
                    </a:lnTo>
                    <a:lnTo>
                      <a:pt x="20" y="56"/>
                    </a:lnTo>
                    <a:lnTo>
                      <a:pt x="19" y="50"/>
                    </a:lnTo>
                    <a:lnTo>
                      <a:pt x="19" y="46"/>
                    </a:lnTo>
                    <a:lnTo>
                      <a:pt x="17" y="42"/>
                    </a:lnTo>
                    <a:lnTo>
                      <a:pt x="16" y="38"/>
                    </a:lnTo>
                    <a:lnTo>
                      <a:pt x="14" y="32"/>
                    </a:lnTo>
                    <a:lnTo>
                      <a:pt x="13" y="28"/>
                    </a:lnTo>
                    <a:lnTo>
                      <a:pt x="13" y="22"/>
                    </a:lnTo>
                    <a:lnTo>
                      <a:pt x="12" y="18"/>
                    </a:lnTo>
                    <a:lnTo>
                      <a:pt x="10" y="13"/>
                    </a:lnTo>
                    <a:lnTo>
                      <a:pt x="9" y="9"/>
                    </a:lnTo>
                    <a:lnTo>
                      <a:pt x="9" y="5"/>
                    </a:lnTo>
                    <a:lnTo>
                      <a:pt x="7"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7" name="Freeform 49"/>
              <p:cNvSpPr>
                <a:spLocks/>
              </p:cNvSpPr>
              <p:nvPr/>
            </p:nvSpPr>
            <p:spPr bwMode="auto">
              <a:xfrm>
                <a:off x="2033" y="1080"/>
                <a:ext cx="128" cy="55"/>
              </a:xfrm>
              <a:custGeom>
                <a:avLst/>
                <a:gdLst>
                  <a:gd name="T0" fmla="*/ 1 w 256"/>
                  <a:gd name="T1" fmla="*/ 1 h 110"/>
                  <a:gd name="T2" fmla="*/ 1 w 256"/>
                  <a:gd name="T3" fmla="*/ 1 h 110"/>
                  <a:gd name="T4" fmla="*/ 1 w 256"/>
                  <a:gd name="T5" fmla="*/ 1 h 110"/>
                  <a:gd name="T6" fmla="*/ 1 w 256"/>
                  <a:gd name="T7" fmla="*/ 1 h 110"/>
                  <a:gd name="T8" fmla="*/ 1 w 256"/>
                  <a:gd name="T9" fmla="*/ 1 h 110"/>
                  <a:gd name="T10" fmla="*/ 1 w 256"/>
                  <a:gd name="T11" fmla="*/ 1 h 110"/>
                  <a:gd name="T12" fmla="*/ 1 w 256"/>
                  <a:gd name="T13" fmla="*/ 1 h 110"/>
                  <a:gd name="T14" fmla="*/ 1 w 256"/>
                  <a:gd name="T15" fmla="*/ 1 h 110"/>
                  <a:gd name="T16" fmla="*/ 1 w 256"/>
                  <a:gd name="T17" fmla="*/ 1 h 110"/>
                  <a:gd name="T18" fmla="*/ 1 w 256"/>
                  <a:gd name="T19" fmla="*/ 1 h 110"/>
                  <a:gd name="T20" fmla="*/ 1 w 256"/>
                  <a:gd name="T21" fmla="*/ 1 h 110"/>
                  <a:gd name="T22" fmla="*/ 1 w 256"/>
                  <a:gd name="T23" fmla="*/ 1 h 110"/>
                  <a:gd name="T24" fmla="*/ 1 w 256"/>
                  <a:gd name="T25" fmla="*/ 1 h 110"/>
                  <a:gd name="T26" fmla="*/ 1 w 256"/>
                  <a:gd name="T27" fmla="*/ 1 h 110"/>
                  <a:gd name="T28" fmla="*/ 1 w 256"/>
                  <a:gd name="T29" fmla="*/ 1 h 110"/>
                  <a:gd name="T30" fmla="*/ 1 w 256"/>
                  <a:gd name="T31" fmla="*/ 1 h 110"/>
                  <a:gd name="T32" fmla="*/ 1 w 256"/>
                  <a:gd name="T33" fmla="*/ 1 h 110"/>
                  <a:gd name="T34" fmla="*/ 1 w 256"/>
                  <a:gd name="T35" fmla="*/ 1 h 110"/>
                  <a:gd name="T36" fmla="*/ 1 w 256"/>
                  <a:gd name="T37" fmla="*/ 1 h 110"/>
                  <a:gd name="T38" fmla="*/ 1 w 256"/>
                  <a:gd name="T39" fmla="*/ 1 h 110"/>
                  <a:gd name="T40" fmla="*/ 1 w 256"/>
                  <a:gd name="T41" fmla="*/ 1 h 110"/>
                  <a:gd name="T42" fmla="*/ 1 w 256"/>
                  <a:gd name="T43" fmla="*/ 1 h 110"/>
                  <a:gd name="T44" fmla="*/ 1 w 256"/>
                  <a:gd name="T45" fmla="*/ 1 h 110"/>
                  <a:gd name="T46" fmla="*/ 1 w 256"/>
                  <a:gd name="T47" fmla="*/ 1 h 110"/>
                  <a:gd name="T48" fmla="*/ 1 w 256"/>
                  <a:gd name="T49" fmla="*/ 1 h 110"/>
                  <a:gd name="T50" fmla="*/ 1 w 256"/>
                  <a:gd name="T51" fmla="*/ 1 h 110"/>
                  <a:gd name="T52" fmla="*/ 1 w 256"/>
                  <a:gd name="T53" fmla="*/ 1 h 110"/>
                  <a:gd name="T54" fmla="*/ 1 w 256"/>
                  <a:gd name="T55" fmla="*/ 1 h 110"/>
                  <a:gd name="T56" fmla="*/ 1 w 256"/>
                  <a:gd name="T57" fmla="*/ 1 h 110"/>
                  <a:gd name="T58" fmla="*/ 1 w 256"/>
                  <a:gd name="T59" fmla="*/ 1 h 110"/>
                  <a:gd name="T60" fmla="*/ 1 w 256"/>
                  <a:gd name="T61" fmla="*/ 1 h 110"/>
                  <a:gd name="T62" fmla="*/ 1 w 256"/>
                  <a:gd name="T63" fmla="*/ 1 h 110"/>
                  <a:gd name="T64" fmla="*/ 1 w 256"/>
                  <a:gd name="T65" fmla="*/ 1 h 110"/>
                  <a:gd name="T66" fmla="*/ 1 w 256"/>
                  <a:gd name="T67" fmla="*/ 1 h 110"/>
                  <a:gd name="T68" fmla="*/ 1 w 256"/>
                  <a:gd name="T69" fmla="*/ 1 h 110"/>
                  <a:gd name="T70" fmla="*/ 1 w 256"/>
                  <a:gd name="T71" fmla="*/ 1 h 110"/>
                  <a:gd name="T72" fmla="*/ 1 w 256"/>
                  <a:gd name="T73" fmla="*/ 1 h 110"/>
                  <a:gd name="T74" fmla="*/ 1 w 256"/>
                  <a:gd name="T75" fmla="*/ 1 h 110"/>
                  <a:gd name="T76" fmla="*/ 1 w 256"/>
                  <a:gd name="T77" fmla="*/ 0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56"/>
                  <a:gd name="T118" fmla="*/ 0 h 110"/>
                  <a:gd name="T119" fmla="*/ 256 w 256"/>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56" h="110">
                    <a:moveTo>
                      <a:pt x="256" y="0"/>
                    </a:moveTo>
                    <a:lnTo>
                      <a:pt x="246" y="6"/>
                    </a:lnTo>
                    <a:lnTo>
                      <a:pt x="235" y="10"/>
                    </a:lnTo>
                    <a:lnTo>
                      <a:pt x="225" y="14"/>
                    </a:lnTo>
                    <a:lnTo>
                      <a:pt x="215" y="18"/>
                    </a:lnTo>
                    <a:lnTo>
                      <a:pt x="203" y="23"/>
                    </a:lnTo>
                    <a:lnTo>
                      <a:pt x="193" y="26"/>
                    </a:lnTo>
                    <a:lnTo>
                      <a:pt x="183" y="30"/>
                    </a:lnTo>
                    <a:lnTo>
                      <a:pt x="173" y="33"/>
                    </a:lnTo>
                    <a:lnTo>
                      <a:pt x="162" y="36"/>
                    </a:lnTo>
                    <a:lnTo>
                      <a:pt x="152" y="38"/>
                    </a:lnTo>
                    <a:lnTo>
                      <a:pt x="140" y="43"/>
                    </a:lnTo>
                    <a:lnTo>
                      <a:pt x="130" y="47"/>
                    </a:lnTo>
                    <a:lnTo>
                      <a:pt x="119" y="51"/>
                    </a:lnTo>
                    <a:lnTo>
                      <a:pt x="109" y="56"/>
                    </a:lnTo>
                    <a:lnTo>
                      <a:pt x="97" y="61"/>
                    </a:lnTo>
                    <a:lnTo>
                      <a:pt x="87" y="67"/>
                    </a:lnTo>
                    <a:lnTo>
                      <a:pt x="82" y="68"/>
                    </a:lnTo>
                    <a:lnTo>
                      <a:pt x="76" y="70"/>
                    </a:lnTo>
                    <a:lnTo>
                      <a:pt x="70" y="71"/>
                    </a:lnTo>
                    <a:lnTo>
                      <a:pt x="64" y="73"/>
                    </a:lnTo>
                    <a:lnTo>
                      <a:pt x="59" y="74"/>
                    </a:lnTo>
                    <a:lnTo>
                      <a:pt x="52" y="77"/>
                    </a:lnTo>
                    <a:lnTo>
                      <a:pt x="46" y="78"/>
                    </a:lnTo>
                    <a:lnTo>
                      <a:pt x="40" y="81"/>
                    </a:lnTo>
                    <a:lnTo>
                      <a:pt x="34" y="83"/>
                    </a:lnTo>
                    <a:lnTo>
                      <a:pt x="29" y="86"/>
                    </a:lnTo>
                    <a:lnTo>
                      <a:pt x="22" y="87"/>
                    </a:lnTo>
                    <a:lnTo>
                      <a:pt x="17" y="91"/>
                    </a:lnTo>
                    <a:lnTo>
                      <a:pt x="12" y="94"/>
                    </a:lnTo>
                    <a:lnTo>
                      <a:pt x="7" y="98"/>
                    </a:lnTo>
                    <a:lnTo>
                      <a:pt x="3" y="103"/>
                    </a:lnTo>
                    <a:lnTo>
                      <a:pt x="0" y="108"/>
                    </a:lnTo>
                    <a:lnTo>
                      <a:pt x="4" y="110"/>
                    </a:lnTo>
                    <a:lnTo>
                      <a:pt x="10" y="110"/>
                    </a:lnTo>
                    <a:lnTo>
                      <a:pt x="14" y="106"/>
                    </a:lnTo>
                    <a:lnTo>
                      <a:pt x="20" y="103"/>
                    </a:lnTo>
                    <a:lnTo>
                      <a:pt x="23" y="100"/>
                    </a:lnTo>
                    <a:lnTo>
                      <a:pt x="26" y="98"/>
                    </a:lnTo>
                    <a:lnTo>
                      <a:pt x="29" y="96"/>
                    </a:lnTo>
                    <a:lnTo>
                      <a:pt x="32" y="94"/>
                    </a:lnTo>
                    <a:lnTo>
                      <a:pt x="34" y="93"/>
                    </a:lnTo>
                    <a:lnTo>
                      <a:pt x="37" y="91"/>
                    </a:lnTo>
                    <a:lnTo>
                      <a:pt x="40" y="91"/>
                    </a:lnTo>
                    <a:lnTo>
                      <a:pt x="43" y="91"/>
                    </a:lnTo>
                    <a:lnTo>
                      <a:pt x="53" y="87"/>
                    </a:lnTo>
                    <a:lnTo>
                      <a:pt x="63" y="83"/>
                    </a:lnTo>
                    <a:lnTo>
                      <a:pt x="74" y="78"/>
                    </a:lnTo>
                    <a:lnTo>
                      <a:pt x="84" y="76"/>
                    </a:lnTo>
                    <a:lnTo>
                      <a:pt x="96" y="70"/>
                    </a:lnTo>
                    <a:lnTo>
                      <a:pt x="106" y="67"/>
                    </a:lnTo>
                    <a:lnTo>
                      <a:pt x="116" y="63"/>
                    </a:lnTo>
                    <a:lnTo>
                      <a:pt x="127" y="58"/>
                    </a:lnTo>
                    <a:lnTo>
                      <a:pt x="137" y="54"/>
                    </a:lnTo>
                    <a:lnTo>
                      <a:pt x="147" y="51"/>
                    </a:lnTo>
                    <a:lnTo>
                      <a:pt x="157" y="47"/>
                    </a:lnTo>
                    <a:lnTo>
                      <a:pt x="169" y="44"/>
                    </a:lnTo>
                    <a:lnTo>
                      <a:pt x="179" y="40"/>
                    </a:lnTo>
                    <a:lnTo>
                      <a:pt x="190" y="37"/>
                    </a:lnTo>
                    <a:lnTo>
                      <a:pt x="200" y="34"/>
                    </a:lnTo>
                    <a:lnTo>
                      <a:pt x="212" y="33"/>
                    </a:lnTo>
                    <a:lnTo>
                      <a:pt x="215" y="30"/>
                    </a:lnTo>
                    <a:lnTo>
                      <a:pt x="217" y="28"/>
                    </a:lnTo>
                    <a:lnTo>
                      <a:pt x="222" y="27"/>
                    </a:lnTo>
                    <a:lnTo>
                      <a:pt x="225" y="26"/>
                    </a:lnTo>
                    <a:lnTo>
                      <a:pt x="227" y="24"/>
                    </a:lnTo>
                    <a:lnTo>
                      <a:pt x="232" y="23"/>
                    </a:lnTo>
                    <a:lnTo>
                      <a:pt x="236" y="21"/>
                    </a:lnTo>
                    <a:lnTo>
                      <a:pt x="240" y="20"/>
                    </a:lnTo>
                    <a:lnTo>
                      <a:pt x="243" y="18"/>
                    </a:lnTo>
                    <a:lnTo>
                      <a:pt x="246" y="16"/>
                    </a:lnTo>
                    <a:lnTo>
                      <a:pt x="249" y="14"/>
                    </a:lnTo>
                    <a:lnTo>
                      <a:pt x="252" y="11"/>
                    </a:lnTo>
                    <a:lnTo>
                      <a:pt x="253" y="8"/>
                    </a:lnTo>
                    <a:lnTo>
                      <a:pt x="255" y="6"/>
                    </a:lnTo>
                    <a:lnTo>
                      <a:pt x="256" y="3"/>
                    </a:lnTo>
                    <a:lnTo>
                      <a:pt x="256"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8" name="Freeform 50"/>
              <p:cNvSpPr>
                <a:spLocks/>
              </p:cNvSpPr>
              <p:nvPr/>
            </p:nvSpPr>
            <p:spPr bwMode="auto">
              <a:xfrm>
                <a:off x="2523" y="854"/>
                <a:ext cx="71" cy="8"/>
              </a:xfrm>
              <a:custGeom>
                <a:avLst/>
                <a:gdLst>
                  <a:gd name="T0" fmla="*/ 0 w 143"/>
                  <a:gd name="T1" fmla="*/ 0 h 17"/>
                  <a:gd name="T2" fmla="*/ 0 w 143"/>
                  <a:gd name="T3" fmla="*/ 0 h 17"/>
                  <a:gd name="T4" fmla="*/ 0 w 143"/>
                  <a:gd name="T5" fmla="*/ 0 h 17"/>
                  <a:gd name="T6" fmla="*/ 0 w 143"/>
                  <a:gd name="T7" fmla="*/ 0 h 17"/>
                  <a:gd name="T8" fmla="*/ 0 w 143"/>
                  <a:gd name="T9" fmla="*/ 0 h 17"/>
                  <a:gd name="T10" fmla="*/ 0 w 143"/>
                  <a:gd name="T11" fmla="*/ 0 h 17"/>
                  <a:gd name="T12" fmla="*/ 0 w 143"/>
                  <a:gd name="T13" fmla="*/ 0 h 17"/>
                  <a:gd name="T14" fmla="*/ 0 w 143"/>
                  <a:gd name="T15" fmla="*/ 0 h 17"/>
                  <a:gd name="T16" fmla="*/ 0 w 143"/>
                  <a:gd name="T17" fmla="*/ 0 h 17"/>
                  <a:gd name="T18" fmla="*/ 0 w 143"/>
                  <a:gd name="T19" fmla="*/ 0 h 17"/>
                  <a:gd name="T20" fmla="*/ 0 w 143"/>
                  <a:gd name="T21" fmla="*/ 0 h 17"/>
                  <a:gd name="T22" fmla="*/ 0 w 143"/>
                  <a:gd name="T23" fmla="*/ 0 h 17"/>
                  <a:gd name="T24" fmla="*/ 0 w 143"/>
                  <a:gd name="T25" fmla="*/ 0 h 17"/>
                  <a:gd name="T26" fmla="*/ 0 w 143"/>
                  <a:gd name="T27" fmla="*/ 0 h 17"/>
                  <a:gd name="T28" fmla="*/ 0 w 143"/>
                  <a:gd name="T29" fmla="*/ 0 h 17"/>
                  <a:gd name="T30" fmla="*/ 0 w 143"/>
                  <a:gd name="T31" fmla="*/ 0 h 17"/>
                  <a:gd name="T32" fmla="*/ 0 w 143"/>
                  <a:gd name="T33" fmla="*/ 0 h 17"/>
                  <a:gd name="T34" fmla="*/ 0 w 143"/>
                  <a:gd name="T35" fmla="*/ 0 h 17"/>
                  <a:gd name="T36" fmla="*/ 0 w 143"/>
                  <a:gd name="T37" fmla="*/ 0 h 17"/>
                  <a:gd name="T38" fmla="*/ 0 w 143"/>
                  <a:gd name="T39" fmla="*/ 0 h 17"/>
                  <a:gd name="T40" fmla="*/ 0 w 143"/>
                  <a:gd name="T41" fmla="*/ 0 h 17"/>
                  <a:gd name="T42" fmla="*/ 0 w 143"/>
                  <a:gd name="T43" fmla="*/ 0 h 17"/>
                  <a:gd name="T44" fmla="*/ 0 w 143"/>
                  <a:gd name="T45" fmla="*/ 0 h 17"/>
                  <a:gd name="T46" fmla="*/ 0 w 143"/>
                  <a:gd name="T47" fmla="*/ 0 h 17"/>
                  <a:gd name="T48" fmla="*/ 0 w 143"/>
                  <a:gd name="T49" fmla="*/ 0 h 17"/>
                  <a:gd name="T50" fmla="*/ 0 w 143"/>
                  <a:gd name="T51" fmla="*/ 0 h 17"/>
                  <a:gd name="T52" fmla="*/ 0 w 143"/>
                  <a:gd name="T53" fmla="*/ 0 h 17"/>
                  <a:gd name="T54" fmla="*/ 0 w 143"/>
                  <a:gd name="T55" fmla="*/ 0 h 17"/>
                  <a:gd name="T56" fmla="*/ 0 w 143"/>
                  <a:gd name="T57" fmla="*/ 0 h 17"/>
                  <a:gd name="T58" fmla="*/ 0 w 143"/>
                  <a:gd name="T59" fmla="*/ 0 h 17"/>
                  <a:gd name="T60" fmla="*/ 0 w 143"/>
                  <a:gd name="T61" fmla="*/ 0 h 17"/>
                  <a:gd name="T62" fmla="*/ 0 w 143"/>
                  <a:gd name="T63" fmla="*/ 0 h 17"/>
                  <a:gd name="T64" fmla="*/ 0 w 143"/>
                  <a:gd name="T65" fmla="*/ 0 h 17"/>
                  <a:gd name="T66" fmla="*/ 0 w 143"/>
                  <a:gd name="T67" fmla="*/ 0 h 17"/>
                  <a:gd name="T68" fmla="*/ 0 w 143"/>
                  <a:gd name="T69" fmla="*/ 0 h 17"/>
                  <a:gd name="T70" fmla="*/ 0 w 143"/>
                  <a:gd name="T71" fmla="*/ 0 h 17"/>
                  <a:gd name="T72" fmla="*/ 0 w 143"/>
                  <a:gd name="T73" fmla="*/ 0 h 17"/>
                  <a:gd name="T74" fmla="*/ 0 w 143"/>
                  <a:gd name="T75" fmla="*/ 0 h 17"/>
                  <a:gd name="T76" fmla="*/ 0 w 143"/>
                  <a:gd name="T77" fmla="*/ 0 h 17"/>
                  <a:gd name="T78" fmla="*/ 0 w 143"/>
                  <a:gd name="T79" fmla="*/ 0 h 17"/>
                  <a:gd name="T80" fmla="*/ 0 w 143"/>
                  <a:gd name="T81" fmla="*/ 0 h 17"/>
                  <a:gd name="T82" fmla="*/ 0 w 143"/>
                  <a:gd name="T83" fmla="*/ 0 h 17"/>
                  <a:gd name="T84" fmla="*/ 0 w 143"/>
                  <a:gd name="T85" fmla="*/ 0 h 17"/>
                  <a:gd name="T86" fmla="*/ 0 w 143"/>
                  <a:gd name="T87" fmla="*/ 0 h 17"/>
                  <a:gd name="T88" fmla="*/ 0 w 143"/>
                  <a:gd name="T89" fmla="*/ 0 h 17"/>
                  <a:gd name="T90" fmla="*/ 0 w 143"/>
                  <a:gd name="T91" fmla="*/ 0 h 17"/>
                  <a:gd name="T92" fmla="*/ 0 w 143"/>
                  <a:gd name="T93" fmla="*/ 0 h 17"/>
                  <a:gd name="T94" fmla="*/ 0 w 143"/>
                  <a:gd name="T95" fmla="*/ 0 h 17"/>
                  <a:gd name="T96" fmla="*/ 0 w 143"/>
                  <a:gd name="T97" fmla="*/ 0 h 17"/>
                  <a:gd name="T98" fmla="*/ 0 w 143"/>
                  <a:gd name="T99" fmla="*/ 0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43"/>
                  <a:gd name="T151" fmla="*/ 0 h 17"/>
                  <a:gd name="T152" fmla="*/ 143 w 143"/>
                  <a:gd name="T153" fmla="*/ 17 h 1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43" h="17">
                    <a:moveTo>
                      <a:pt x="143" y="10"/>
                    </a:moveTo>
                    <a:lnTo>
                      <a:pt x="130" y="7"/>
                    </a:lnTo>
                    <a:lnTo>
                      <a:pt x="120" y="5"/>
                    </a:lnTo>
                    <a:lnTo>
                      <a:pt x="110" y="3"/>
                    </a:lnTo>
                    <a:lnTo>
                      <a:pt x="102" y="3"/>
                    </a:lnTo>
                    <a:lnTo>
                      <a:pt x="93" y="1"/>
                    </a:lnTo>
                    <a:lnTo>
                      <a:pt x="85" y="1"/>
                    </a:lnTo>
                    <a:lnTo>
                      <a:pt x="78" y="0"/>
                    </a:lnTo>
                    <a:lnTo>
                      <a:pt x="70" y="1"/>
                    </a:lnTo>
                    <a:lnTo>
                      <a:pt x="63" y="1"/>
                    </a:lnTo>
                    <a:lnTo>
                      <a:pt x="56" y="1"/>
                    </a:lnTo>
                    <a:lnTo>
                      <a:pt x="48" y="1"/>
                    </a:lnTo>
                    <a:lnTo>
                      <a:pt x="39" y="3"/>
                    </a:lnTo>
                    <a:lnTo>
                      <a:pt x="30" y="4"/>
                    </a:lnTo>
                    <a:lnTo>
                      <a:pt x="22" y="5"/>
                    </a:lnTo>
                    <a:lnTo>
                      <a:pt x="10" y="7"/>
                    </a:lnTo>
                    <a:lnTo>
                      <a:pt x="0" y="10"/>
                    </a:lnTo>
                    <a:lnTo>
                      <a:pt x="0" y="13"/>
                    </a:lnTo>
                    <a:lnTo>
                      <a:pt x="3" y="14"/>
                    </a:lnTo>
                    <a:lnTo>
                      <a:pt x="6" y="15"/>
                    </a:lnTo>
                    <a:lnTo>
                      <a:pt x="8" y="17"/>
                    </a:lnTo>
                    <a:lnTo>
                      <a:pt x="15" y="15"/>
                    </a:lnTo>
                    <a:lnTo>
                      <a:pt x="22" y="15"/>
                    </a:lnTo>
                    <a:lnTo>
                      <a:pt x="28" y="14"/>
                    </a:lnTo>
                    <a:lnTo>
                      <a:pt x="32" y="14"/>
                    </a:lnTo>
                    <a:lnTo>
                      <a:pt x="36" y="14"/>
                    </a:lnTo>
                    <a:lnTo>
                      <a:pt x="40" y="13"/>
                    </a:lnTo>
                    <a:lnTo>
                      <a:pt x="45" y="13"/>
                    </a:lnTo>
                    <a:lnTo>
                      <a:pt x="49" y="13"/>
                    </a:lnTo>
                    <a:lnTo>
                      <a:pt x="52" y="13"/>
                    </a:lnTo>
                    <a:lnTo>
                      <a:pt x="56" y="13"/>
                    </a:lnTo>
                    <a:lnTo>
                      <a:pt x="60" y="13"/>
                    </a:lnTo>
                    <a:lnTo>
                      <a:pt x="66" y="13"/>
                    </a:lnTo>
                    <a:lnTo>
                      <a:pt x="72" y="13"/>
                    </a:lnTo>
                    <a:lnTo>
                      <a:pt x="78" y="13"/>
                    </a:lnTo>
                    <a:lnTo>
                      <a:pt x="85" y="13"/>
                    </a:lnTo>
                    <a:lnTo>
                      <a:pt x="95" y="13"/>
                    </a:lnTo>
                    <a:lnTo>
                      <a:pt x="99" y="13"/>
                    </a:lnTo>
                    <a:lnTo>
                      <a:pt x="105" y="13"/>
                    </a:lnTo>
                    <a:lnTo>
                      <a:pt x="109" y="13"/>
                    </a:lnTo>
                    <a:lnTo>
                      <a:pt x="115" y="14"/>
                    </a:lnTo>
                    <a:lnTo>
                      <a:pt x="119" y="14"/>
                    </a:lnTo>
                    <a:lnTo>
                      <a:pt x="123" y="15"/>
                    </a:lnTo>
                    <a:lnTo>
                      <a:pt x="129" y="15"/>
                    </a:lnTo>
                    <a:lnTo>
                      <a:pt x="133" y="17"/>
                    </a:lnTo>
                    <a:lnTo>
                      <a:pt x="136" y="15"/>
                    </a:lnTo>
                    <a:lnTo>
                      <a:pt x="139" y="14"/>
                    </a:lnTo>
                    <a:lnTo>
                      <a:pt x="142" y="11"/>
                    </a:lnTo>
                    <a:lnTo>
                      <a:pt x="143" y="1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59" name="Freeform 51"/>
              <p:cNvSpPr>
                <a:spLocks/>
              </p:cNvSpPr>
              <p:nvPr/>
            </p:nvSpPr>
            <p:spPr bwMode="auto">
              <a:xfrm>
                <a:off x="2368" y="777"/>
                <a:ext cx="224" cy="21"/>
              </a:xfrm>
              <a:custGeom>
                <a:avLst/>
                <a:gdLst>
                  <a:gd name="T0" fmla="*/ 2 w 447"/>
                  <a:gd name="T1" fmla="*/ 1 h 41"/>
                  <a:gd name="T2" fmla="*/ 2 w 447"/>
                  <a:gd name="T3" fmla="*/ 1 h 41"/>
                  <a:gd name="T4" fmla="*/ 2 w 447"/>
                  <a:gd name="T5" fmla="*/ 1 h 41"/>
                  <a:gd name="T6" fmla="*/ 2 w 447"/>
                  <a:gd name="T7" fmla="*/ 1 h 41"/>
                  <a:gd name="T8" fmla="*/ 1 w 447"/>
                  <a:gd name="T9" fmla="*/ 1 h 41"/>
                  <a:gd name="T10" fmla="*/ 1 w 447"/>
                  <a:gd name="T11" fmla="*/ 0 h 41"/>
                  <a:gd name="T12" fmla="*/ 1 w 447"/>
                  <a:gd name="T13" fmla="*/ 1 h 41"/>
                  <a:gd name="T14" fmla="*/ 1 w 447"/>
                  <a:gd name="T15" fmla="*/ 1 h 41"/>
                  <a:gd name="T16" fmla="*/ 1 w 447"/>
                  <a:gd name="T17" fmla="*/ 1 h 41"/>
                  <a:gd name="T18" fmla="*/ 1 w 447"/>
                  <a:gd name="T19" fmla="*/ 1 h 41"/>
                  <a:gd name="T20" fmla="*/ 1 w 447"/>
                  <a:gd name="T21" fmla="*/ 1 h 41"/>
                  <a:gd name="T22" fmla="*/ 1 w 447"/>
                  <a:gd name="T23" fmla="*/ 1 h 41"/>
                  <a:gd name="T24" fmla="*/ 1 w 447"/>
                  <a:gd name="T25" fmla="*/ 1 h 41"/>
                  <a:gd name="T26" fmla="*/ 1 w 447"/>
                  <a:gd name="T27" fmla="*/ 1 h 41"/>
                  <a:gd name="T28" fmla="*/ 1 w 447"/>
                  <a:gd name="T29" fmla="*/ 1 h 41"/>
                  <a:gd name="T30" fmla="*/ 1 w 447"/>
                  <a:gd name="T31" fmla="*/ 1 h 41"/>
                  <a:gd name="T32" fmla="*/ 1 w 447"/>
                  <a:gd name="T33" fmla="*/ 1 h 41"/>
                  <a:gd name="T34" fmla="*/ 1 w 447"/>
                  <a:gd name="T35" fmla="*/ 1 h 41"/>
                  <a:gd name="T36" fmla="*/ 1 w 447"/>
                  <a:gd name="T37" fmla="*/ 1 h 41"/>
                  <a:gd name="T38" fmla="*/ 1 w 447"/>
                  <a:gd name="T39" fmla="*/ 1 h 41"/>
                  <a:gd name="T40" fmla="*/ 1 w 447"/>
                  <a:gd name="T41" fmla="*/ 1 h 41"/>
                  <a:gd name="T42" fmla="*/ 1 w 447"/>
                  <a:gd name="T43" fmla="*/ 1 h 41"/>
                  <a:gd name="T44" fmla="*/ 1 w 447"/>
                  <a:gd name="T45" fmla="*/ 1 h 41"/>
                  <a:gd name="T46" fmla="*/ 1 w 447"/>
                  <a:gd name="T47" fmla="*/ 1 h 41"/>
                  <a:gd name="T48" fmla="*/ 1 w 447"/>
                  <a:gd name="T49" fmla="*/ 1 h 41"/>
                  <a:gd name="T50" fmla="*/ 1 w 447"/>
                  <a:gd name="T51" fmla="*/ 1 h 41"/>
                  <a:gd name="T52" fmla="*/ 1 w 447"/>
                  <a:gd name="T53" fmla="*/ 1 h 41"/>
                  <a:gd name="T54" fmla="*/ 1 w 447"/>
                  <a:gd name="T55" fmla="*/ 1 h 41"/>
                  <a:gd name="T56" fmla="*/ 1 w 447"/>
                  <a:gd name="T57" fmla="*/ 1 h 41"/>
                  <a:gd name="T58" fmla="*/ 1 w 447"/>
                  <a:gd name="T59" fmla="*/ 1 h 41"/>
                  <a:gd name="T60" fmla="*/ 1 w 447"/>
                  <a:gd name="T61" fmla="*/ 1 h 41"/>
                  <a:gd name="T62" fmla="*/ 1 w 447"/>
                  <a:gd name="T63" fmla="*/ 1 h 41"/>
                  <a:gd name="T64" fmla="*/ 1 w 447"/>
                  <a:gd name="T65" fmla="*/ 1 h 41"/>
                  <a:gd name="T66" fmla="*/ 1 w 447"/>
                  <a:gd name="T67" fmla="*/ 1 h 41"/>
                  <a:gd name="T68" fmla="*/ 1 w 447"/>
                  <a:gd name="T69" fmla="*/ 1 h 41"/>
                  <a:gd name="T70" fmla="*/ 1 w 447"/>
                  <a:gd name="T71" fmla="*/ 1 h 41"/>
                  <a:gd name="T72" fmla="*/ 2 w 447"/>
                  <a:gd name="T73" fmla="*/ 1 h 41"/>
                  <a:gd name="T74" fmla="*/ 2 w 447"/>
                  <a:gd name="T75" fmla="*/ 1 h 41"/>
                  <a:gd name="T76" fmla="*/ 2 w 447"/>
                  <a:gd name="T77" fmla="*/ 1 h 41"/>
                  <a:gd name="T78" fmla="*/ 2 w 447"/>
                  <a:gd name="T79" fmla="*/ 1 h 41"/>
                  <a:gd name="T80" fmla="*/ 2 w 447"/>
                  <a:gd name="T81" fmla="*/ 1 h 41"/>
                  <a:gd name="T82" fmla="*/ 2 w 447"/>
                  <a:gd name="T83" fmla="*/ 1 h 41"/>
                  <a:gd name="T84" fmla="*/ 2 w 447"/>
                  <a:gd name="T85" fmla="*/ 1 h 41"/>
                  <a:gd name="T86" fmla="*/ 2 w 447"/>
                  <a:gd name="T87" fmla="*/ 1 h 41"/>
                  <a:gd name="T88" fmla="*/ 2 w 447"/>
                  <a:gd name="T89" fmla="*/ 1 h 41"/>
                  <a:gd name="T90" fmla="*/ 2 w 447"/>
                  <a:gd name="T91" fmla="*/ 1 h 41"/>
                  <a:gd name="T92" fmla="*/ 2 w 447"/>
                  <a:gd name="T93" fmla="*/ 1 h 41"/>
                  <a:gd name="T94" fmla="*/ 2 w 447"/>
                  <a:gd name="T95" fmla="*/ 1 h 41"/>
                  <a:gd name="T96" fmla="*/ 2 w 447"/>
                  <a:gd name="T97" fmla="*/ 1 h 41"/>
                  <a:gd name="T98" fmla="*/ 2 w 447"/>
                  <a:gd name="T99" fmla="*/ 1 h 41"/>
                  <a:gd name="T100" fmla="*/ 2 w 447"/>
                  <a:gd name="T101" fmla="*/ 1 h 41"/>
                  <a:gd name="T102" fmla="*/ 2 w 447"/>
                  <a:gd name="T103" fmla="*/ 1 h 41"/>
                  <a:gd name="T104" fmla="*/ 2 w 447"/>
                  <a:gd name="T105" fmla="*/ 1 h 41"/>
                  <a:gd name="T106" fmla="*/ 2 w 447"/>
                  <a:gd name="T107" fmla="*/ 1 h 41"/>
                  <a:gd name="T108" fmla="*/ 2 w 447"/>
                  <a:gd name="T109" fmla="*/ 1 h 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47"/>
                  <a:gd name="T166" fmla="*/ 0 h 41"/>
                  <a:gd name="T167" fmla="*/ 447 w 447"/>
                  <a:gd name="T168" fmla="*/ 41 h 4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47" h="41">
                    <a:moveTo>
                      <a:pt x="418" y="26"/>
                    </a:moveTo>
                    <a:lnTo>
                      <a:pt x="398" y="21"/>
                    </a:lnTo>
                    <a:lnTo>
                      <a:pt x="378" y="18"/>
                    </a:lnTo>
                    <a:lnTo>
                      <a:pt x="360" y="14"/>
                    </a:lnTo>
                    <a:lnTo>
                      <a:pt x="341" y="11"/>
                    </a:lnTo>
                    <a:lnTo>
                      <a:pt x="321" y="8"/>
                    </a:lnTo>
                    <a:lnTo>
                      <a:pt x="303" y="7"/>
                    </a:lnTo>
                    <a:lnTo>
                      <a:pt x="283" y="4"/>
                    </a:lnTo>
                    <a:lnTo>
                      <a:pt x="266" y="3"/>
                    </a:lnTo>
                    <a:lnTo>
                      <a:pt x="245" y="1"/>
                    </a:lnTo>
                    <a:lnTo>
                      <a:pt x="227" y="1"/>
                    </a:lnTo>
                    <a:lnTo>
                      <a:pt x="208" y="0"/>
                    </a:lnTo>
                    <a:lnTo>
                      <a:pt x="190" y="1"/>
                    </a:lnTo>
                    <a:lnTo>
                      <a:pt x="171" y="1"/>
                    </a:lnTo>
                    <a:lnTo>
                      <a:pt x="153" y="3"/>
                    </a:lnTo>
                    <a:lnTo>
                      <a:pt x="134" y="6"/>
                    </a:lnTo>
                    <a:lnTo>
                      <a:pt x="115" y="8"/>
                    </a:lnTo>
                    <a:lnTo>
                      <a:pt x="108" y="8"/>
                    </a:lnTo>
                    <a:lnTo>
                      <a:pt x="101" y="8"/>
                    </a:lnTo>
                    <a:lnTo>
                      <a:pt x="93" y="8"/>
                    </a:lnTo>
                    <a:lnTo>
                      <a:pt x="85" y="8"/>
                    </a:lnTo>
                    <a:lnTo>
                      <a:pt x="78" y="8"/>
                    </a:lnTo>
                    <a:lnTo>
                      <a:pt x="71" y="10"/>
                    </a:lnTo>
                    <a:lnTo>
                      <a:pt x="64" y="10"/>
                    </a:lnTo>
                    <a:lnTo>
                      <a:pt x="57" y="11"/>
                    </a:lnTo>
                    <a:lnTo>
                      <a:pt x="50" y="11"/>
                    </a:lnTo>
                    <a:lnTo>
                      <a:pt x="42" y="13"/>
                    </a:lnTo>
                    <a:lnTo>
                      <a:pt x="35" y="13"/>
                    </a:lnTo>
                    <a:lnTo>
                      <a:pt x="28" y="14"/>
                    </a:lnTo>
                    <a:lnTo>
                      <a:pt x="20" y="16"/>
                    </a:lnTo>
                    <a:lnTo>
                      <a:pt x="12" y="17"/>
                    </a:lnTo>
                    <a:lnTo>
                      <a:pt x="7" y="18"/>
                    </a:lnTo>
                    <a:lnTo>
                      <a:pt x="0" y="20"/>
                    </a:lnTo>
                    <a:lnTo>
                      <a:pt x="1" y="21"/>
                    </a:lnTo>
                    <a:lnTo>
                      <a:pt x="4" y="23"/>
                    </a:lnTo>
                    <a:lnTo>
                      <a:pt x="7" y="24"/>
                    </a:lnTo>
                    <a:lnTo>
                      <a:pt x="10" y="26"/>
                    </a:lnTo>
                    <a:lnTo>
                      <a:pt x="12" y="26"/>
                    </a:lnTo>
                    <a:lnTo>
                      <a:pt x="17" y="26"/>
                    </a:lnTo>
                    <a:lnTo>
                      <a:pt x="20" y="26"/>
                    </a:lnTo>
                    <a:lnTo>
                      <a:pt x="24" y="26"/>
                    </a:lnTo>
                    <a:lnTo>
                      <a:pt x="27" y="24"/>
                    </a:lnTo>
                    <a:lnTo>
                      <a:pt x="31" y="24"/>
                    </a:lnTo>
                    <a:lnTo>
                      <a:pt x="34" y="23"/>
                    </a:lnTo>
                    <a:lnTo>
                      <a:pt x="38" y="23"/>
                    </a:lnTo>
                    <a:lnTo>
                      <a:pt x="41" y="23"/>
                    </a:lnTo>
                    <a:lnTo>
                      <a:pt x="45" y="23"/>
                    </a:lnTo>
                    <a:lnTo>
                      <a:pt x="48" y="23"/>
                    </a:lnTo>
                    <a:lnTo>
                      <a:pt x="51" y="24"/>
                    </a:lnTo>
                    <a:lnTo>
                      <a:pt x="58" y="23"/>
                    </a:lnTo>
                    <a:lnTo>
                      <a:pt x="67" y="21"/>
                    </a:lnTo>
                    <a:lnTo>
                      <a:pt x="74" y="20"/>
                    </a:lnTo>
                    <a:lnTo>
                      <a:pt x="81" y="18"/>
                    </a:lnTo>
                    <a:lnTo>
                      <a:pt x="90" y="18"/>
                    </a:lnTo>
                    <a:lnTo>
                      <a:pt x="97" y="17"/>
                    </a:lnTo>
                    <a:lnTo>
                      <a:pt x="105" y="17"/>
                    </a:lnTo>
                    <a:lnTo>
                      <a:pt x="113" y="17"/>
                    </a:lnTo>
                    <a:lnTo>
                      <a:pt x="120" y="17"/>
                    </a:lnTo>
                    <a:lnTo>
                      <a:pt x="127" y="16"/>
                    </a:lnTo>
                    <a:lnTo>
                      <a:pt x="134" y="16"/>
                    </a:lnTo>
                    <a:lnTo>
                      <a:pt x="143" y="16"/>
                    </a:lnTo>
                    <a:lnTo>
                      <a:pt x="150" y="16"/>
                    </a:lnTo>
                    <a:lnTo>
                      <a:pt x="157" y="14"/>
                    </a:lnTo>
                    <a:lnTo>
                      <a:pt x="164" y="14"/>
                    </a:lnTo>
                    <a:lnTo>
                      <a:pt x="173" y="13"/>
                    </a:lnTo>
                    <a:lnTo>
                      <a:pt x="183" y="13"/>
                    </a:lnTo>
                    <a:lnTo>
                      <a:pt x="195" y="11"/>
                    </a:lnTo>
                    <a:lnTo>
                      <a:pt x="207" y="11"/>
                    </a:lnTo>
                    <a:lnTo>
                      <a:pt x="218" y="11"/>
                    </a:lnTo>
                    <a:lnTo>
                      <a:pt x="230" y="11"/>
                    </a:lnTo>
                    <a:lnTo>
                      <a:pt x="243" y="11"/>
                    </a:lnTo>
                    <a:lnTo>
                      <a:pt x="254" y="13"/>
                    </a:lnTo>
                    <a:lnTo>
                      <a:pt x="266" y="13"/>
                    </a:lnTo>
                    <a:lnTo>
                      <a:pt x="277" y="14"/>
                    </a:lnTo>
                    <a:lnTo>
                      <a:pt x="288" y="14"/>
                    </a:lnTo>
                    <a:lnTo>
                      <a:pt x="301" y="16"/>
                    </a:lnTo>
                    <a:lnTo>
                      <a:pt x="313" y="18"/>
                    </a:lnTo>
                    <a:lnTo>
                      <a:pt x="324" y="20"/>
                    </a:lnTo>
                    <a:lnTo>
                      <a:pt x="337" y="21"/>
                    </a:lnTo>
                    <a:lnTo>
                      <a:pt x="348" y="23"/>
                    </a:lnTo>
                    <a:lnTo>
                      <a:pt x="361" y="26"/>
                    </a:lnTo>
                    <a:lnTo>
                      <a:pt x="366" y="26"/>
                    </a:lnTo>
                    <a:lnTo>
                      <a:pt x="370" y="26"/>
                    </a:lnTo>
                    <a:lnTo>
                      <a:pt x="376" y="27"/>
                    </a:lnTo>
                    <a:lnTo>
                      <a:pt x="380" y="27"/>
                    </a:lnTo>
                    <a:lnTo>
                      <a:pt x="384" y="28"/>
                    </a:lnTo>
                    <a:lnTo>
                      <a:pt x="390" y="28"/>
                    </a:lnTo>
                    <a:lnTo>
                      <a:pt x="394" y="30"/>
                    </a:lnTo>
                    <a:lnTo>
                      <a:pt x="400" y="31"/>
                    </a:lnTo>
                    <a:lnTo>
                      <a:pt x="404" y="31"/>
                    </a:lnTo>
                    <a:lnTo>
                      <a:pt x="410" y="33"/>
                    </a:lnTo>
                    <a:lnTo>
                      <a:pt x="414" y="34"/>
                    </a:lnTo>
                    <a:lnTo>
                      <a:pt x="420" y="36"/>
                    </a:lnTo>
                    <a:lnTo>
                      <a:pt x="424" y="37"/>
                    </a:lnTo>
                    <a:lnTo>
                      <a:pt x="430" y="38"/>
                    </a:lnTo>
                    <a:lnTo>
                      <a:pt x="436" y="40"/>
                    </a:lnTo>
                    <a:lnTo>
                      <a:pt x="440" y="41"/>
                    </a:lnTo>
                    <a:lnTo>
                      <a:pt x="444" y="41"/>
                    </a:lnTo>
                    <a:lnTo>
                      <a:pt x="447" y="40"/>
                    </a:lnTo>
                    <a:lnTo>
                      <a:pt x="446" y="37"/>
                    </a:lnTo>
                    <a:lnTo>
                      <a:pt x="444" y="36"/>
                    </a:lnTo>
                    <a:lnTo>
                      <a:pt x="443" y="33"/>
                    </a:lnTo>
                    <a:lnTo>
                      <a:pt x="443" y="31"/>
                    </a:lnTo>
                    <a:lnTo>
                      <a:pt x="438" y="30"/>
                    </a:lnTo>
                    <a:lnTo>
                      <a:pt x="434" y="30"/>
                    </a:lnTo>
                    <a:lnTo>
                      <a:pt x="430" y="28"/>
                    </a:lnTo>
                    <a:lnTo>
                      <a:pt x="426" y="28"/>
                    </a:lnTo>
                    <a:lnTo>
                      <a:pt x="421" y="27"/>
                    </a:lnTo>
                    <a:lnTo>
                      <a:pt x="418" y="26"/>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0" name="Freeform 52"/>
              <p:cNvSpPr>
                <a:spLocks/>
              </p:cNvSpPr>
              <p:nvPr/>
            </p:nvSpPr>
            <p:spPr bwMode="auto">
              <a:xfrm>
                <a:off x="1997" y="682"/>
                <a:ext cx="65" cy="8"/>
              </a:xfrm>
              <a:custGeom>
                <a:avLst/>
                <a:gdLst>
                  <a:gd name="T0" fmla="*/ 0 w 132"/>
                  <a:gd name="T1" fmla="*/ 1 h 16"/>
                  <a:gd name="T2" fmla="*/ 0 w 132"/>
                  <a:gd name="T3" fmla="*/ 1 h 16"/>
                  <a:gd name="T4" fmla="*/ 0 w 132"/>
                  <a:gd name="T5" fmla="*/ 0 h 16"/>
                  <a:gd name="T6" fmla="*/ 0 w 132"/>
                  <a:gd name="T7" fmla="*/ 0 h 16"/>
                  <a:gd name="T8" fmla="*/ 0 w 132"/>
                  <a:gd name="T9" fmla="*/ 0 h 16"/>
                  <a:gd name="T10" fmla="*/ 0 w 132"/>
                  <a:gd name="T11" fmla="*/ 0 h 16"/>
                  <a:gd name="T12" fmla="*/ 0 w 132"/>
                  <a:gd name="T13" fmla="*/ 0 h 16"/>
                  <a:gd name="T14" fmla="*/ 0 w 132"/>
                  <a:gd name="T15" fmla="*/ 0 h 16"/>
                  <a:gd name="T16" fmla="*/ 0 w 132"/>
                  <a:gd name="T17" fmla="*/ 1 h 16"/>
                  <a:gd name="T18" fmla="*/ 0 w 132"/>
                  <a:gd name="T19" fmla="*/ 1 h 16"/>
                  <a:gd name="T20" fmla="*/ 0 w 132"/>
                  <a:gd name="T21" fmla="*/ 1 h 16"/>
                  <a:gd name="T22" fmla="*/ 0 w 132"/>
                  <a:gd name="T23" fmla="*/ 1 h 16"/>
                  <a:gd name="T24" fmla="*/ 0 w 132"/>
                  <a:gd name="T25" fmla="*/ 1 h 16"/>
                  <a:gd name="T26" fmla="*/ 0 w 132"/>
                  <a:gd name="T27" fmla="*/ 1 h 16"/>
                  <a:gd name="T28" fmla="*/ 0 w 132"/>
                  <a:gd name="T29" fmla="*/ 1 h 16"/>
                  <a:gd name="T30" fmla="*/ 0 w 132"/>
                  <a:gd name="T31" fmla="*/ 1 h 16"/>
                  <a:gd name="T32" fmla="*/ 0 w 132"/>
                  <a:gd name="T33" fmla="*/ 1 h 16"/>
                  <a:gd name="T34" fmla="*/ 0 w 132"/>
                  <a:gd name="T35" fmla="*/ 1 h 16"/>
                  <a:gd name="T36" fmla="*/ 0 w 132"/>
                  <a:gd name="T37" fmla="*/ 1 h 16"/>
                  <a:gd name="T38" fmla="*/ 0 w 132"/>
                  <a:gd name="T39" fmla="*/ 1 h 16"/>
                  <a:gd name="T40" fmla="*/ 0 w 132"/>
                  <a:gd name="T41" fmla="*/ 1 h 16"/>
                  <a:gd name="T42" fmla="*/ 0 w 132"/>
                  <a:gd name="T43" fmla="*/ 1 h 16"/>
                  <a:gd name="T44" fmla="*/ 0 w 132"/>
                  <a:gd name="T45" fmla="*/ 1 h 16"/>
                  <a:gd name="T46" fmla="*/ 0 w 132"/>
                  <a:gd name="T47" fmla="*/ 1 h 16"/>
                  <a:gd name="T48" fmla="*/ 0 w 132"/>
                  <a:gd name="T49" fmla="*/ 1 h 16"/>
                  <a:gd name="T50" fmla="*/ 0 w 132"/>
                  <a:gd name="T51" fmla="*/ 1 h 16"/>
                  <a:gd name="T52" fmla="*/ 0 w 132"/>
                  <a:gd name="T53" fmla="*/ 1 h 16"/>
                  <a:gd name="T54" fmla="*/ 0 w 132"/>
                  <a:gd name="T55" fmla="*/ 1 h 16"/>
                  <a:gd name="T56" fmla="*/ 0 w 132"/>
                  <a:gd name="T57" fmla="*/ 1 h 16"/>
                  <a:gd name="T58" fmla="*/ 0 w 132"/>
                  <a:gd name="T59" fmla="*/ 1 h 16"/>
                  <a:gd name="T60" fmla="*/ 0 w 132"/>
                  <a:gd name="T61" fmla="*/ 1 h 16"/>
                  <a:gd name="T62" fmla="*/ 0 w 132"/>
                  <a:gd name="T63" fmla="*/ 1 h 16"/>
                  <a:gd name="T64" fmla="*/ 0 w 132"/>
                  <a:gd name="T65" fmla="*/ 1 h 16"/>
                  <a:gd name="T66" fmla="*/ 0 w 132"/>
                  <a:gd name="T67" fmla="*/ 1 h 16"/>
                  <a:gd name="T68" fmla="*/ 0 w 132"/>
                  <a:gd name="T69" fmla="*/ 1 h 16"/>
                  <a:gd name="T70" fmla="*/ 0 w 132"/>
                  <a:gd name="T71" fmla="*/ 1 h 16"/>
                  <a:gd name="T72" fmla="*/ 0 w 132"/>
                  <a:gd name="T73" fmla="*/ 1 h 16"/>
                  <a:gd name="T74" fmla="*/ 0 w 132"/>
                  <a:gd name="T75" fmla="*/ 1 h 16"/>
                  <a:gd name="T76" fmla="*/ 0 w 132"/>
                  <a:gd name="T77" fmla="*/ 1 h 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32"/>
                  <a:gd name="T118" fmla="*/ 0 h 16"/>
                  <a:gd name="T119" fmla="*/ 132 w 132"/>
                  <a:gd name="T120" fmla="*/ 16 h 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32" h="16">
                    <a:moveTo>
                      <a:pt x="127" y="2"/>
                    </a:moveTo>
                    <a:lnTo>
                      <a:pt x="120" y="2"/>
                    </a:lnTo>
                    <a:lnTo>
                      <a:pt x="112" y="0"/>
                    </a:lnTo>
                    <a:lnTo>
                      <a:pt x="105" y="0"/>
                    </a:lnTo>
                    <a:lnTo>
                      <a:pt x="97" y="0"/>
                    </a:lnTo>
                    <a:lnTo>
                      <a:pt x="89" y="0"/>
                    </a:lnTo>
                    <a:lnTo>
                      <a:pt x="82" y="0"/>
                    </a:lnTo>
                    <a:lnTo>
                      <a:pt x="73" y="0"/>
                    </a:lnTo>
                    <a:lnTo>
                      <a:pt x="66" y="2"/>
                    </a:lnTo>
                    <a:lnTo>
                      <a:pt x="57" y="2"/>
                    </a:lnTo>
                    <a:lnTo>
                      <a:pt x="49" y="2"/>
                    </a:lnTo>
                    <a:lnTo>
                      <a:pt x="40" y="2"/>
                    </a:lnTo>
                    <a:lnTo>
                      <a:pt x="32" y="2"/>
                    </a:lnTo>
                    <a:lnTo>
                      <a:pt x="24" y="2"/>
                    </a:lnTo>
                    <a:lnTo>
                      <a:pt x="16" y="3"/>
                    </a:lnTo>
                    <a:lnTo>
                      <a:pt x="9" y="3"/>
                    </a:lnTo>
                    <a:lnTo>
                      <a:pt x="2" y="5"/>
                    </a:lnTo>
                    <a:lnTo>
                      <a:pt x="0" y="6"/>
                    </a:lnTo>
                    <a:lnTo>
                      <a:pt x="2" y="9"/>
                    </a:lnTo>
                    <a:lnTo>
                      <a:pt x="2" y="12"/>
                    </a:lnTo>
                    <a:lnTo>
                      <a:pt x="0" y="13"/>
                    </a:lnTo>
                    <a:lnTo>
                      <a:pt x="7" y="15"/>
                    </a:lnTo>
                    <a:lnTo>
                      <a:pt x="14" y="15"/>
                    </a:lnTo>
                    <a:lnTo>
                      <a:pt x="22" y="15"/>
                    </a:lnTo>
                    <a:lnTo>
                      <a:pt x="30" y="16"/>
                    </a:lnTo>
                    <a:lnTo>
                      <a:pt x="39" y="15"/>
                    </a:lnTo>
                    <a:lnTo>
                      <a:pt x="49" y="15"/>
                    </a:lnTo>
                    <a:lnTo>
                      <a:pt x="57" y="15"/>
                    </a:lnTo>
                    <a:lnTo>
                      <a:pt x="66" y="15"/>
                    </a:lnTo>
                    <a:lnTo>
                      <a:pt x="75" y="13"/>
                    </a:lnTo>
                    <a:lnTo>
                      <a:pt x="85" y="13"/>
                    </a:lnTo>
                    <a:lnTo>
                      <a:pt x="93" y="12"/>
                    </a:lnTo>
                    <a:lnTo>
                      <a:pt x="102" y="12"/>
                    </a:lnTo>
                    <a:lnTo>
                      <a:pt x="110" y="12"/>
                    </a:lnTo>
                    <a:lnTo>
                      <a:pt x="117" y="12"/>
                    </a:lnTo>
                    <a:lnTo>
                      <a:pt x="125" y="12"/>
                    </a:lnTo>
                    <a:lnTo>
                      <a:pt x="132" y="12"/>
                    </a:lnTo>
                    <a:lnTo>
                      <a:pt x="127" y="2"/>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1" name="Freeform 53"/>
              <p:cNvSpPr>
                <a:spLocks/>
              </p:cNvSpPr>
              <p:nvPr/>
            </p:nvSpPr>
            <p:spPr bwMode="auto">
              <a:xfrm>
                <a:off x="1976" y="825"/>
                <a:ext cx="163" cy="10"/>
              </a:xfrm>
              <a:custGeom>
                <a:avLst/>
                <a:gdLst>
                  <a:gd name="T0" fmla="*/ 2 w 326"/>
                  <a:gd name="T1" fmla="*/ 0 h 20"/>
                  <a:gd name="T2" fmla="*/ 2 w 326"/>
                  <a:gd name="T3" fmla="*/ 1 h 20"/>
                  <a:gd name="T4" fmla="*/ 2 w 326"/>
                  <a:gd name="T5" fmla="*/ 1 h 20"/>
                  <a:gd name="T6" fmla="*/ 2 w 326"/>
                  <a:gd name="T7" fmla="*/ 1 h 20"/>
                  <a:gd name="T8" fmla="*/ 1 w 326"/>
                  <a:gd name="T9" fmla="*/ 1 h 20"/>
                  <a:gd name="T10" fmla="*/ 1 w 326"/>
                  <a:gd name="T11" fmla="*/ 1 h 20"/>
                  <a:gd name="T12" fmla="*/ 1 w 326"/>
                  <a:gd name="T13" fmla="*/ 1 h 20"/>
                  <a:gd name="T14" fmla="*/ 1 w 326"/>
                  <a:gd name="T15" fmla="*/ 1 h 20"/>
                  <a:gd name="T16" fmla="*/ 1 w 326"/>
                  <a:gd name="T17" fmla="*/ 1 h 20"/>
                  <a:gd name="T18" fmla="*/ 1 w 326"/>
                  <a:gd name="T19" fmla="*/ 1 h 20"/>
                  <a:gd name="T20" fmla="*/ 1 w 326"/>
                  <a:gd name="T21" fmla="*/ 1 h 20"/>
                  <a:gd name="T22" fmla="*/ 1 w 326"/>
                  <a:gd name="T23" fmla="*/ 1 h 20"/>
                  <a:gd name="T24" fmla="*/ 1 w 326"/>
                  <a:gd name="T25" fmla="*/ 1 h 20"/>
                  <a:gd name="T26" fmla="*/ 1 w 326"/>
                  <a:gd name="T27" fmla="*/ 1 h 20"/>
                  <a:gd name="T28" fmla="*/ 1 w 326"/>
                  <a:gd name="T29" fmla="*/ 1 h 20"/>
                  <a:gd name="T30" fmla="*/ 1 w 326"/>
                  <a:gd name="T31" fmla="*/ 1 h 20"/>
                  <a:gd name="T32" fmla="*/ 1 w 326"/>
                  <a:gd name="T33" fmla="*/ 1 h 20"/>
                  <a:gd name="T34" fmla="*/ 1 w 326"/>
                  <a:gd name="T35" fmla="*/ 1 h 20"/>
                  <a:gd name="T36" fmla="*/ 0 w 326"/>
                  <a:gd name="T37" fmla="*/ 1 h 20"/>
                  <a:gd name="T38" fmla="*/ 1 w 326"/>
                  <a:gd name="T39" fmla="*/ 1 h 20"/>
                  <a:gd name="T40" fmla="*/ 1 w 326"/>
                  <a:gd name="T41" fmla="*/ 1 h 20"/>
                  <a:gd name="T42" fmla="*/ 1 w 326"/>
                  <a:gd name="T43" fmla="*/ 1 h 20"/>
                  <a:gd name="T44" fmla="*/ 1 w 326"/>
                  <a:gd name="T45" fmla="*/ 1 h 20"/>
                  <a:gd name="T46" fmla="*/ 1 w 326"/>
                  <a:gd name="T47" fmla="*/ 1 h 20"/>
                  <a:gd name="T48" fmla="*/ 1 w 326"/>
                  <a:gd name="T49" fmla="*/ 1 h 20"/>
                  <a:gd name="T50" fmla="*/ 1 w 326"/>
                  <a:gd name="T51" fmla="*/ 1 h 20"/>
                  <a:gd name="T52" fmla="*/ 1 w 326"/>
                  <a:gd name="T53" fmla="*/ 1 h 20"/>
                  <a:gd name="T54" fmla="*/ 1 w 326"/>
                  <a:gd name="T55" fmla="*/ 1 h 20"/>
                  <a:gd name="T56" fmla="*/ 1 w 326"/>
                  <a:gd name="T57" fmla="*/ 1 h 20"/>
                  <a:gd name="T58" fmla="*/ 1 w 326"/>
                  <a:gd name="T59" fmla="*/ 1 h 20"/>
                  <a:gd name="T60" fmla="*/ 1 w 326"/>
                  <a:gd name="T61" fmla="*/ 1 h 20"/>
                  <a:gd name="T62" fmla="*/ 2 w 326"/>
                  <a:gd name="T63" fmla="*/ 1 h 20"/>
                  <a:gd name="T64" fmla="*/ 2 w 326"/>
                  <a:gd name="T65" fmla="*/ 1 h 20"/>
                  <a:gd name="T66" fmla="*/ 2 w 326"/>
                  <a:gd name="T67" fmla="*/ 1 h 20"/>
                  <a:gd name="T68" fmla="*/ 2 w 326"/>
                  <a:gd name="T69" fmla="*/ 1 h 20"/>
                  <a:gd name="T70" fmla="*/ 2 w 326"/>
                  <a:gd name="T71" fmla="*/ 0 h 20"/>
                  <a:gd name="T72" fmla="*/ 2 w 326"/>
                  <a:gd name="T73" fmla="*/ 0 h 2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6"/>
                  <a:gd name="T112" fmla="*/ 0 h 20"/>
                  <a:gd name="T113" fmla="*/ 326 w 326"/>
                  <a:gd name="T114" fmla="*/ 20 h 2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6" h="20">
                    <a:moveTo>
                      <a:pt x="326" y="0"/>
                    </a:moveTo>
                    <a:lnTo>
                      <a:pt x="306" y="1"/>
                    </a:lnTo>
                    <a:lnTo>
                      <a:pt x="286" y="2"/>
                    </a:lnTo>
                    <a:lnTo>
                      <a:pt x="264" y="2"/>
                    </a:lnTo>
                    <a:lnTo>
                      <a:pt x="244" y="4"/>
                    </a:lnTo>
                    <a:lnTo>
                      <a:pt x="224" y="4"/>
                    </a:lnTo>
                    <a:lnTo>
                      <a:pt x="203" y="4"/>
                    </a:lnTo>
                    <a:lnTo>
                      <a:pt x="183" y="4"/>
                    </a:lnTo>
                    <a:lnTo>
                      <a:pt x="163" y="4"/>
                    </a:lnTo>
                    <a:lnTo>
                      <a:pt x="141" y="4"/>
                    </a:lnTo>
                    <a:lnTo>
                      <a:pt x="121" y="4"/>
                    </a:lnTo>
                    <a:lnTo>
                      <a:pt x="100" y="4"/>
                    </a:lnTo>
                    <a:lnTo>
                      <a:pt x="80" y="4"/>
                    </a:lnTo>
                    <a:lnTo>
                      <a:pt x="60" y="5"/>
                    </a:lnTo>
                    <a:lnTo>
                      <a:pt x="40" y="7"/>
                    </a:lnTo>
                    <a:lnTo>
                      <a:pt x="20" y="8"/>
                    </a:lnTo>
                    <a:lnTo>
                      <a:pt x="1" y="11"/>
                    </a:lnTo>
                    <a:lnTo>
                      <a:pt x="1" y="15"/>
                    </a:lnTo>
                    <a:lnTo>
                      <a:pt x="0" y="20"/>
                    </a:lnTo>
                    <a:lnTo>
                      <a:pt x="18" y="17"/>
                    </a:lnTo>
                    <a:lnTo>
                      <a:pt x="37" y="15"/>
                    </a:lnTo>
                    <a:lnTo>
                      <a:pt x="55" y="14"/>
                    </a:lnTo>
                    <a:lnTo>
                      <a:pt x="77" y="14"/>
                    </a:lnTo>
                    <a:lnTo>
                      <a:pt x="97" y="14"/>
                    </a:lnTo>
                    <a:lnTo>
                      <a:pt x="117" y="14"/>
                    </a:lnTo>
                    <a:lnTo>
                      <a:pt x="138" y="14"/>
                    </a:lnTo>
                    <a:lnTo>
                      <a:pt x="160" y="14"/>
                    </a:lnTo>
                    <a:lnTo>
                      <a:pt x="181" y="14"/>
                    </a:lnTo>
                    <a:lnTo>
                      <a:pt x="203" y="14"/>
                    </a:lnTo>
                    <a:lnTo>
                      <a:pt x="223" y="14"/>
                    </a:lnTo>
                    <a:lnTo>
                      <a:pt x="244" y="14"/>
                    </a:lnTo>
                    <a:lnTo>
                      <a:pt x="263" y="14"/>
                    </a:lnTo>
                    <a:lnTo>
                      <a:pt x="283" y="12"/>
                    </a:lnTo>
                    <a:lnTo>
                      <a:pt x="301" y="12"/>
                    </a:lnTo>
                    <a:lnTo>
                      <a:pt x="320" y="11"/>
                    </a:lnTo>
                    <a:lnTo>
                      <a:pt x="326"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2" name="Freeform 54"/>
              <p:cNvSpPr>
                <a:spLocks/>
              </p:cNvSpPr>
              <p:nvPr/>
            </p:nvSpPr>
            <p:spPr bwMode="auto">
              <a:xfrm>
                <a:off x="2298" y="1227"/>
                <a:ext cx="34" cy="33"/>
              </a:xfrm>
              <a:custGeom>
                <a:avLst/>
                <a:gdLst>
                  <a:gd name="T0" fmla="*/ 1 w 68"/>
                  <a:gd name="T1" fmla="*/ 1 h 66"/>
                  <a:gd name="T2" fmla="*/ 1 w 68"/>
                  <a:gd name="T3" fmla="*/ 1 h 66"/>
                  <a:gd name="T4" fmla="*/ 1 w 68"/>
                  <a:gd name="T5" fmla="*/ 1 h 66"/>
                  <a:gd name="T6" fmla="*/ 1 w 68"/>
                  <a:gd name="T7" fmla="*/ 1 h 66"/>
                  <a:gd name="T8" fmla="*/ 1 w 68"/>
                  <a:gd name="T9" fmla="*/ 1 h 66"/>
                  <a:gd name="T10" fmla="*/ 1 w 68"/>
                  <a:gd name="T11" fmla="*/ 1 h 66"/>
                  <a:gd name="T12" fmla="*/ 1 w 68"/>
                  <a:gd name="T13" fmla="*/ 1 h 66"/>
                  <a:gd name="T14" fmla="*/ 1 w 68"/>
                  <a:gd name="T15" fmla="*/ 1 h 66"/>
                  <a:gd name="T16" fmla="*/ 1 w 68"/>
                  <a:gd name="T17" fmla="*/ 1 h 66"/>
                  <a:gd name="T18" fmla="*/ 1 w 68"/>
                  <a:gd name="T19" fmla="*/ 1 h 66"/>
                  <a:gd name="T20" fmla="*/ 1 w 68"/>
                  <a:gd name="T21" fmla="*/ 1 h 66"/>
                  <a:gd name="T22" fmla="*/ 1 w 68"/>
                  <a:gd name="T23" fmla="*/ 1 h 66"/>
                  <a:gd name="T24" fmla="*/ 1 w 68"/>
                  <a:gd name="T25" fmla="*/ 1 h 66"/>
                  <a:gd name="T26" fmla="*/ 1 w 68"/>
                  <a:gd name="T27" fmla="*/ 1 h 66"/>
                  <a:gd name="T28" fmla="*/ 1 w 68"/>
                  <a:gd name="T29" fmla="*/ 1 h 66"/>
                  <a:gd name="T30" fmla="*/ 1 w 68"/>
                  <a:gd name="T31" fmla="*/ 1 h 66"/>
                  <a:gd name="T32" fmla="*/ 1 w 68"/>
                  <a:gd name="T33" fmla="*/ 1 h 66"/>
                  <a:gd name="T34" fmla="*/ 1 w 68"/>
                  <a:gd name="T35" fmla="*/ 1 h 66"/>
                  <a:gd name="T36" fmla="*/ 1 w 68"/>
                  <a:gd name="T37" fmla="*/ 1 h 66"/>
                  <a:gd name="T38" fmla="*/ 0 w 68"/>
                  <a:gd name="T39" fmla="*/ 1 h 66"/>
                  <a:gd name="T40" fmla="*/ 0 w 68"/>
                  <a:gd name="T41" fmla="*/ 1 h 66"/>
                  <a:gd name="T42" fmla="*/ 0 w 68"/>
                  <a:gd name="T43" fmla="*/ 1 h 66"/>
                  <a:gd name="T44" fmla="*/ 1 w 68"/>
                  <a:gd name="T45" fmla="*/ 1 h 66"/>
                  <a:gd name="T46" fmla="*/ 1 w 68"/>
                  <a:gd name="T47" fmla="*/ 1 h 66"/>
                  <a:gd name="T48" fmla="*/ 1 w 68"/>
                  <a:gd name="T49" fmla="*/ 1 h 66"/>
                  <a:gd name="T50" fmla="*/ 1 w 68"/>
                  <a:gd name="T51" fmla="*/ 1 h 66"/>
                  <a:gd name="T52" fmla="*/ 1 w 68"/>
                  <a:gd name="T53" fmla="*/ 1 h 66"/>
                  <a:gd name="T54" fmla="*/ 1 w 68"/>
                  <a:gd name="T55" fmla="*/ 1 h 66"/>
                  <a:gd name="T56" fmla="*/ 1 w 68"/>
                  <a:gd name="T57" fmla="*/ 1 h 66"/>
                  <a:gd name="T58" fmla="*/ 1 w 68"/>
                  <a:gd name="T59" fmla="*/ 1 h 66"/>
                  <a:gd name="T60" fmla="*/ 1 w 68"/>
                  <a:gd name="T61" fmla="*/ 1 h 66"/>
                  <a:gd name="T62" fmla="*/ 1 w 68"/>
                  <a:gd name="T63" fmla="*/ 1 h 66"/>
                  <a:gd name="T64" fmla="*/ 1 w 68"/>
                  <a:gd name="T65" fmla="*/ 1 h 66"/>
                  <a:gd name="T66" fmla="*/ 1 w 68"/>
                  <a:gd name="T67" fmla="*/ 1 h 66"/>
                  <a:gd name="T68" fmla="*/ 1 w 68"/>
                  <a:gd name="T69" fmla="*/ 1 h 66"/>
                  <a:gd name="T70" fmla="*/ 1 w 68"/>
                  <a:gd name="T71" fmla="*/ 1 h 66"/>
                  <a:gd name="T72" fmla="*/ 1 w 68"/>
                  <a:gd name="T73" fmla="*/ 1 h 66"/>
                  <a:gd name="T74" fmla="*/ 1 w 68"/>
                  <a:gd name="T75" fmla="*/ 1 h 66"/>
                  <a:gd name="T76" fmla="*/ 1 w 68"/>
                  <a:gd name="T77" fmla="*/ 1 h 66"/>
                  <a:gd name="T78" fmla="*/ 1 w 68"/>
                  <a:gd name="T79" fmla="*/ 1 h 66"/>
                  <a:gd name="T80" fmla="*/ 1 w 68"/>
                  <a:gd name="T81" fmla="*/ 1 h 66"/>
                  <a:gd name="T82" fmla="*/ 1 w 68"/>
                  <a:gd name="T83" fmla="*/ 1 h 66"/>
                  <a:gd name="T84" fmla="*/ 1 w 68"/>
                  <a:gd name="T85" fmla="*/ 1 h 66"/>
                  <a:gd name="T86" fmla="*/ 1 w 68"/>
                  <a:gd name="T87" fmla="*/ 1 h 66"/>
                  <a:gd name="T88" fmla="*/ 1 w 68"/>
                  <a:gd name="T89" fmla="*/ 1 h 66"/>
                  <a:gd name="T90" fmla="*/ 1 w 68"/>
                  <a:gd name="T91" fmla="*/ 1 h 66"/>
                  <a:gd name="T92" fmla="*/ 1 w 68"/>
                  <a:gd name="T93" fmla="*/ 1 h 66"/>
                  <a:gd name="T94" fmla="*/ 1 w 68"/>
                  <a:gd name="T95" fmla="*/ 0 h 66"/>
                  <a:gd name="T96" fmla="*/ 1 w 68"/>
                  <a:gd name="T97" fmla="*/ 0 h 66"/>
                  <a:gd name="T98" fmla="*/ 1 w 68"/>
                  <a:gd name="T99" fmla="*/ 1 h 66"/>
                  <a:gd name="T100" fmla="*/ 1 w 68"/>
                  <a:gd name="T101" fmla="*/ 1 h 66"/>
                  <a:gd name="T102" fmla="*/ 1 w 68"/>
                  <a:gd name="T103" fmla="*/ 1 h 6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8"/>
                  <a:gd name="T157" fmla="*/ 0 h 66"/>
                  <a:gd name="T158" fmla="*/ 68 w 68"/>
                  <a:gd name="T159" fmla="*/ 66 h 6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8" h="66">
                    <a:moveTo>
                      <a:pt x="56" y="1"/>
                    </a:moveTo>
                    <a:lnTo>
                      <a:pt x="53" y="3"/>
                    </a:lnTo>
                    <a:lnTo>
                      <a:pt x="51" y="6"/>
                    </a:lnTo>
                    <a:lnTo>
                      <a:pt x="48" y="8"/>
                    </a:lnTo>
                    <a:lnTo>
                      <a:pt x="46" y="11"/>
                    </a:lnTo>
                    <a:lnTo>
                      <a:pt x="42" y="14"/>
                    </a:lnTo>
                    <a:lnTo>
                      <a:pt x="39" y="17"/>
                    </a:lnTo>
                    <a:lnTo>
                      <a:pt x="36" y="20"/>
                    </a:lnTo>
                    <a:lnTo>
                      <a:pt x="33" y="24"/>
                    </a:lnTo>
                    <a:lnTo>
                      <a:pt x="29" y="27"/>
                    </a:lnTo>
                    <a:lnTo>
                      <a:pt x="26" y="31"/>
                    </a:lnTo>
                    <a:lnTo>
                      <a:pt x="22" y="34"/>
                    </a:lnTo>
                    <a:lnTo>
                      <a:pt x="19" y="37"/>
                    </a:lnTo>
                    <a:lnTo>
                      <a:pt x="15" y="40"/>
                    </a:lnTo>
                    <a:lnTo>
                      <a:pt x="12" y="43"/>
                    </a:lnTo>
                    <a:lnTo>
                      <a:pt x="9" y="47"/>
                    </a:lnTo>
                    <a:lnTo>
                      <a:pt x="5" y="50"/>
                    </a:lnTo>
                    <a:lnTo>
                      <a:pt x="3" y="50"/>
                    </a:lnTo>
                    <a:lnTo>
                      <a:pt x="2" y="54"/>
                    </a:lnTo>
                    <a:lnTo>
                      <a:pt x="0" y="56"/>
                    </a:lnTo>
                    <a:lnTo>
                      <a:pt x="0" y="60"/>
                    </a:lnTo>
                    <a:lnTo>
                      <a:pt x="0" y="61"/>
                    </a:lnTo>
                    <a:lnTo>
                      <a:pt x="2" y="64"/>
                    </a:lnTo>
                    <a:lnTo>
                      <a:pt x="3" y="66"/>
                    </a:lnTo>
                    <a:lnTo>
                      <a:pt x="9" y="66"/>
                    </a:lnTo>
                    <a:lnTo>
                      <a:pt x="12" y="63"/>
                    </a:lnTo>
                    <a:lnTo>
                      <a:pt x="15" y="61"/>
                    </a:lnTo>
                    <a:lnTo>
                      <a:pt x="18" y="60"/>
                    </a:lnTo>
                    <a:lnTo>
                      <a:pt x="22" y="57"/>
                    </a:lnTo>
                    <a:lnTo>
                      <a:pt x="25" y="54"/>
                    </a:lnTo>
                    <a:lnTo>
                      <a:pt x="28" y="51"/>
                    </a:lnTo>
                    <a:lnTo>
                      <a:pt x="32" y="48"/>
                    </a:lnTo>
                    <a:lnTo>
                      <a:pt x="35" y="47"/>
                    </a:lnTo>
                    <a:lnTo>
                      <a:pt x="38" y="43"/>
                    </a:lnTo>
                    <a:lnTo>
                      <a:pt x="41" y="40"/>
                    </a:lnTo>
                    <a:lnTo>
                      <a:pt x="45" y="37"/>
                    </a:lnTo>
                    <a:lnTo>
                      <a:pt x="48" y="34"/>
                    </a:lnTo>
                    <a:lnTo>
                      <a:pt x="51" y="31"/>
                    </a:lnTo>
                    <a:lnTo>
                      <a:pt x="53" y="27"/>
                    </a:lnTo>
                    <a:lnTo>
                      <a:pt x="56" y="26"/>
                    </a:lnTo>
                    <a:lnTo>
                      <a:pt x="59" y="24"/>
                    </a:lnTo>
                    <a:lnTo>
                      <a:pt x="62" y="17"/>
                    </a:lnTo>
                    <a:lnTo>
                      <a:pt x="65" y="13"/>
                    </a:lnTo>
                    <a:lnTo>
                      <a:pt x="66" y="10"/>
                    </a:lnTo>
                    <a:lnTo>
                      <a:pt x="68" y="7"/>
                    </a:lnTo>
                    <a:lnTo>
                      <a:pt x="66" y="3"/>
                    </a:lnTo>
                    <a:lnTo>
                      <a:pt x="65" y="1"/>
                    </a:lnTo>
                    <a:lnTo>
                      <a:pt x="62" y="0"/>
                    </a:lnTo>
                    <a:lnTo>
                      <a:pt x="59" y="0"/>
                    </a:lnTo>
                    <a:lnTo>
                      <a:pt x="5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3" name="Freeform 55"/>
              <p:cNvSpPr>
                <a:spLocks/>
              </p:cNvSpPr>
              <p:nvPr/>
            </p:nvSpPr>
            <p:spPr bwMode="auto">
              <a:xfrm>
                <a:off x="2268" y="1274"/>
                <a:ext cx="25" cy="42"/>
              </a:xfrm>
              <a:custGeom>
                <a:avLst/>
                <a:gdLst>
                  <a:gd name="T0" fmla="*/ 1 w 50"/>
                  <a:gd name="T1" fmla="*/ 1 h 83"/>
                  <a:gd name="T2" fmla="*/ 1 w 50"/>
                  <a:gd name="T3" fmla="*/ 1 h 83"/>
                  <a:gd name="T4" fmla="*/ 1 w 50"/>
                  <a:gd name="T5" fmla="*/ 1 h 83"/>
                  <a:gd name="T6" fmla="*/ 1 w 50"/>
                  <a:gd name="T7" fmla="*/ 1 h 83"/>
                  <a:gd name="T8" fmla="*/ 1 w 50"/>
                  <a:gd name="T9" fmla="*/ 1 h 83"/>
                  <a:gd name="T10" fmla="*/ 1 w 50"/>
                  <a:gd name="T11" fmla="*/ 1 h 83"/>
                  <a:gd name="T12" fmla="*/ 1 w 50"/>
                  <a:gd name="T13" fmla="*/ 1 h 83"/>
                  <a:gd name="T14" fmla="*/ 1 w 50"/>
                  <a:gd name="T15" fmla="*/ 1 h 83"/>
                  <a:gd name="T16" fmla="*/ 1 w 50"/>
                  <a:gd name="T17" fmla="*/ 1 h 83"/>
                  <a:gd name="T18" fmla="*/ 1 w 50"/>
                  <a:gd name="T19" fmla="*/ 1 h 83"/>
                  <a:gd name="T20" fmla="*/ 1 w 50"/>
                  <a:gd name="T21" fmla="*/ 1 h 83"/>
                  <a:gd name="T22" fmla="*/ 1 w 50"/>
                  <a:gd name="T23" fmla="*/ 1 h 83"/>
                  <a:gd name="T24" fmla="*/ 1 w 50"/>
                  <a:gd name="T25" fmla="*/ 1 h 83"/>
                  <a:gd name="T26" fmla="*/ 1 w 50"/>
                  <a:gd name="T27" fmla="*/ 1 h 83"/>
                  <a:gd name="T28" fmla="*/ 1 w 50"/>
                  <a:gd name="T29" fmla="*/ 1 h 83"/>
                  <a:gd name="T30" fmla="*/ 1 w 50"/>
                  <a:gd name="T31" fmla="*/ 1 h 83"/>
                  <a:gd name="T32" fmla="*/ 1 w 50"/>
                  <a:gd name="T33" fmla="*/ 1 h 83"/>
                  <a:gd name="T34" fmla="*/ 1 w 50"/>
                  <a:gd name="T35" fmla="*/ 1 h 83"/>
                  <a:gd name="T36" fmla="*/ 1 w 50"/>
                  <a:gd name="T37" fmla="*/ 1 h 83"/>
                  <a:gd name="T38" fmla="*/ 1 w 50"/>
                  <a:gd name="T39" fmla="*/ 1 h 83"/>
                  <a:gd name="T40" fmla="*/ 1 w 50"/>
                  <a:gd name="T41" fmla="*/ 1 h 83"/>
                  <a:gd name="T42" fmla="*/ 1 w 50"/>
                  <a:gd name="T43" fmla="*/ 1 h 83"/>
                  <a:gd name="T44" fmla="*/ 1 w 50"/>
                  <a:gd name="T45" fmla="*/ 1 h 83"/>
                  <a:gd name="T46" fmla="*/ 1 w 50"/>
                  <a:gd name="T47" fmla="*/ 0 h 83"/>
                  <a:gd name="T48" fmla="*/ 1 w 50"/>
                  <a:gd name="T49" fmla="*/ 1 h 83"/>
                  <a:gd name="T50" fmla="*/ 1 w 50"/>
                  <a:gd name="T51" fmla="*/ 1 h 83"/>
                  <a:gd name="T52" fmla="*/ 1 w 50"/>
                  <a:gd name="T53" fmla="*/ 1 h 83"/>
                  <a:gd name="T54" fmla="*/ 1 w 50"/>
                  <a:gd name="T55" fmla="*/ 1 h 83"/>
                  <a:gd name="T56" fmla="*/ 1 w 50"/>
                  <a:gd name="T57" fmla="*/ 1 h 83"/>
                  <a:gd name="T58" fmla="*/ 1 w 50"/>
                  <a:gd name="T59" fmla="*/ 1 h 83"/>
                  <a:gd name="T60" fmla="*/ 1 w 50"/>
                  <a:gd name="T61" fmla="*/ 1 h 83"/>
                  <a:gd name="T62" fmla="*/ 1 w 50"/>
                  <a:gd name="T63" fmla="*/ 1 h 83"/>
                  <a:gd name="T64" fmla="*/ 1 w 50"/>
                  <a:gd name="T65" fmla="*/ 1 h 83"/>
                  <a:gd name="T66" fmla="*/ 1 w 50"/>
                  <a:gd name="T67" fmla="*/ 1 h 83"/>
                  <a:gd name="T68" fmla="*/ 1 w 50"/>
                  <a:gd name="T69" fmla="*/ 1 h 83"/>
                  <a:gd name="T70" fmla="*/ 1 w 50"/>
                  <a:gd name="T71" fmla="*/ 1 h 83"/>
                  <a:gd name="T72" fmla="*/ 1 w 50"/>
                  <a:gd name="T73" fmla="*/ 1 h 83"/>
                  <a:gd name="T74" fmla="*/ 1 w 50"/>
                  <a:gd name="T75" fmla="*/ 1 h 83"/>
                  <a:gd name="T76" fmla="*/ 1 w 50"/>
                  <a:gd name="T77" fmla="*/ 1 h 83"/>
                  <a:gd name="T78" fmla="*/ 1 w 50"/>
                  <a:gd name="T79" fmla="*/ 1 h 83"/>
                  <a:gd name="T80" fmla="*/ 1 w 50"/>
                  <a:gd name="T81" fmla="*/ 1 h 83"/>
                  <a:gd name="T82" fmla="*/ 1 w 50"/>
                  <a:gd name="T83" fmla="*/ 1 h 83"/>
                  <a:gd name="T84" fmla="*/ 0 w 50"/>
                  <a:gd name="T85" fmla="*/ 1 h 83"/>
                  <a:gd name="T86" fmla="*/ 0 w 50"/>
                  <a:gd name="T87" fmla="*/ 1 h 83"/>
                  <a:gd name="T88" fmla="*/ 0 w 50"/>
                  <a:gd name="T89" fmla="*/ 1 h 83"/>
                  <a:gd name="T90" fmla="*/ 1 w 50"/>
                  <a:gd name="T91" fmla="*/ 1 h 83"/>
                  <a:gd name="T92" fmla="*/ 1 w 50"/>
                  <a:gd name="T93" fmla="*/ 1 h 83"/>
                  <a:gd name="T94" fmla="*/ 1 w 50"/>
                  <a:gd name="T95" fmla="*/ 1 h 83"/>
                  <a:gd name="T96" fmla="*/ 1 w 50"/>
                  <a:gd name="T97" fmla="*/ 1 h 83"/>
                  <a:gd name="T98" fmla="*/ 1 w 50"/>
                  <a:gd name="T99" fmla="*/ 1 h 83"/>
                  <a:gd name="T100" fmla="*/ 1 w 50"/>
                  <a:gd name="T101" fmla="*/ 1 h 83"/>
                  <a:gd name="T102" fmla="*/ 1 w 50"/>
                  <a:gd name="T103" fmla="*/ 1 h 8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0"/>
                  <a:gd name="T157" fmla="*/ 0 h 83"/>
                  <a:gd name="T158" fmla="*/ 50 w 50"/>
                  <a:gd name="T159" fmla="*/ 83 h 8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0" h="83">
                    <a:moveTo>
                      <a:pt x="13" y="77"/>
                    </a:moveTo>
                    <a:lnTo>
                      <a:pt x="15" y="74"/>
                    </a:lnTo>
                    <a:lnTo>
                      <a:pt x="16" y="72"/>
                    </a:lnTo>
                    <a:lnTo>
                      <a:pt x="18" y="67"/>
                    </a:lnTo>
                    <a:lnTo>
                      <a:pt x="20" y="64"/>
                    </a:lnTo>
                    <a:lnTo>
                      <a:pt x="22" y="60"/>
                    </a:lnTo>
                    <a:lnTo>
                      <a:pt x="23" y="57"/>
                    </a:lnTo>
                    <a:lnTo>
                      <a:pt x="25" y="53"/>
                    </a:lnTo>
                    <a:lnTo>
                      <a:pt x="28" y="49"/>
                    </a:lnTo>
                    <a:lnTo>
                      <a:pt x="29" y="44"/>
                    </a:lnTo>
                    <a:lnTo>
                      <a:pt x="32" y="40"/>
                    </a:lnTo>
                    <a:lnTo>
                      <a:pt x="33" y="36"/>
                    </a:lnTo>
                    <a:lnTo>
                      <a:pt x="36" y="33"/>
                    </a:lnTo>
                    <a:lnTo>
                      <a:pt x="38" y="29"/>
                    </a:lnTo>
                    <a:lnTo>
                      <a:pt x="40" y="24"/>
                    </a:lnTo>
                    <a:lnTo>
                      <a:pt x="43" y="20"/>
                    </a:lnTo>
                    <a:lnTo>
                      <a:pt x="46" y="17"/>
                    </a:lnTo>
                    <a:lnTo>
                      <a:pt x="48" y="14"/>
                    </a:lnTo>
                    <a:lnTo>
                      <a:pt x="49" y="13"/>
                    </a:lnTo>
                    <a:lnTo>
                      <a:pt x="49" y="10"/>
                    </a:lnTo>
                    <a:lnTo>
                      <a:pt x="50" y="6"/>
                    </a:lnTo>
                    <a:lnTo>
                      <a:pt x="50" y="3"/>
                    </a:lnTo>
                    <a:lnTo>
                      <a:pt x="49" y="2"/>
                    </a:lnTo>
                    <a:lnTo>
                      <a:pt x="46" y="0"/>
                    </a:lnTo>
                    <a:lnTo>
                      <a:pt x="42" y="3"/>
                    </a:lnTo>
                    <a:lnTo>
                      <a:pt x="39" y="4"/>
                    </a:lnTo>
                    <a:lnTo>
                      <a:pt x="36" y="7"/>
                    </a:lnTo>
                    <a:lnTo>
                      <a:pt x="33" y="10"/>
                    </a:lnTo>
                    <a:lnTo>
                      <a:pt x="30" y="14"/>
                    </a:lnTo>
                    <a:lnTo>
                      <a:pt x="28" y="17"/>
                    </a:lnTo>
                    <a:lnTo>
                      <a:pt x="25" y="22"/>
                    </a:lnTo>
                    <a:lnTo>
                      <a:pt x="22" y="26"/>
                    </a:lnTo>
                    <a:lnTo>
                      <a:pt x="20" y="30"/>
                    </a:lnTo>
                    <a:lnTo>
                      <a:pt x="18" y="34"/>
                    </a:lnTo>
                    <a:lnTo>
                      <a:pt x="16" y="39"/>
                    </a:lnTo>
                    <a:lnTo>
                      <a:pt x="13" y="43"/>
                    </a:lnTo>
                    <a:lnTo>
                      <a:pt x="12" y="47"/>
                    </a:lnTo>
                    <a:lnTo>
                      <a:pt x="9" y="50"/>
                    </a:lnTo>
                    <a:lnTo>
                      <a:pt x="8" y="54"/>
                    </a:lnTo>
                    <a:lnTo>
                      <a:pt x="6" y="57"/>
                    </a:lnTo>
                    <a:lnTo>
                      <a:pt x="5" y="62"/>
                    </a:lnTo>
                    <a:lnTo>
                      <a:pt x="2" y="67"/>
                    </a:lnTo>
                    <a:lnTo>
                      <a:pt x="0" y="73"/>
                    </a:lnTo>
                    <a:lnTo>
                      <a:pt x="0" y="76"/>
                    </a:lnTo>
                    <a:lnTo>
                      <a:pt x="0" y="79"/>
                    </a:lnTo>
                    <a:lnTo>
                      <a:pt x="2" y="82"/>
                    </a:lnTo>
                    <a:lnTo>
                      <a:pt x="5" y="83"/>
                    </a:lnTo>
                    <a:lnTo>
                      <a:pt x="8" y="82"/>
                    </a:lnTo>
                    <a:lnTo>
                      <a:pt x="10" y="80"/>
                    </a:lnTo>
                    <a:lnTo>
                      <a:pt x="12" y="77"/>
                    </a:lnTo>
                    <a:lnTo>
                      <a:pt x="13"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4" name="Freeform 56"/>
              <p:cNvSpPr>
                <a:spLocks/>
              </p:cNvSpPr>
              <p:nvPr/>
            </p:nvSpPr>
            <p:spPr bwMode="auto">
              <a:xfrm>
                <a:off x="2265" y="1331"/>
                <a:ext cx="9" cy="29"/>
              </a:xfrm>
              <a:custGeom>
                <a:avLst/>
                <a:gdLst>
                  <a:gd name="T0" fmla="*/ 1 w 17"/>
                  <a:gd name="T1" fmla="*/ 0 h 59"/>
                  <a:gd name="T2" fmla="*/ 1 w 17"/>
                  <a:gd name="T3" fmla="*/ 0 h 59"/>
                  <a:gd name="T4" fmla="*/ 1 w 17"/>
                  <a:gd name="T5" fmla="*/ 0 h 59"/>
                  <a:gd name="T6" fmla="*/ 1 w 17"/>
                  <a:gd name="T7" fmla="*/ 0 h 59"/>
                  <a:gd name="T8" fmla="*/ 1 w 17"/>
                  <a:gd name="T9" fmla="*/ 0 h 59"/>
                  <a:gd name="T10" fmla="*/ 1 w 17"/>
                  <a:gd name="T11" fmla="*/ 0 h 59"/>
                  <a:gd name="T12" fmla="*/ 1 w 17"/>
                  <a:gd name="T13" fmla="*/ 0 h 59"/>
                  <a:gd name="T14" fmla="*/ 1 w 17"/>
                  <a:gd name="T15" fmla="*/ 0 h 59"/>
                  <a:gd name="T16" fmla="*/ 1 w 17"/>
                  <a:gd name="T17" fmla="*/ 0 h 59"/>
                  <a:gd name="T18" fmla="*/ 1 w 17"/>
                  <a:gd name="T19" fmla="*/ 0 h 59"/>
                  <a:gd name="T20" fmla="*/ 1 w 17"/>
                  <a:gd name="T21" fmla="*/ 0 h 59"/>
                  <a:gd name="T22" fmla="*/ 1 w 17"/>
                  <a:gd name="T23" fmla="*/ 0 h 59"/>
                  <a:gd name="T24" fmla="*/ 1 w 17"/>
                  <a:gd name="T25" fmla="*/ 0 h 59"/>
                  <a:gd name="T26" fmla="*/ 1 w 17"/>
                  <a:gd name="T27" fmla="*/ 0 h 59"/>
                  <a:gd name="T28" fmla="*/ 1 w 17"/>
                  <a:gd name="T29" fmla="*/ 0 h 59"/>
                  <a:gd name="T30" fmla="*/ 1 w 17"/>
                  <a:gd name="T31" fmla="*/ 0 h 59"/>
                  <a:gd name="T32" fmla="*/ 1 w 17"/>
                  <a:gd name="T33" fmla="*/ 0 h 59"/>
                  <a:gd name="T34" fmla="*/ 1 w 17"/>
                  <a:gd name="T35" fmla="*/ 0 h 59"/>
                  <a:gd name="T36" fmla="*/ 1 w 17"/>
                  <a:gd name="T37" fmla="*/ 0 h 59"/>
                  <a:gd name="T38" fmla="*/ 1 w 17"/>
                  <a:gd name="T39" fmla="*/ 0 h 59"/>
                  <a:gd name="T40" fmla="*/ 1 w 17"/>
                  <a:gd name="T41" fmla="*/ 0 h 59"/>
                  <a:gd name="T42" fmla="*/ 0 w 17"/>
                  <a:gd name="T43" fmla="*/ 0 h 59"/>
                  <a:gd name="T44" fmla="*/ 0 w 17"/>
                  <a:gd name="T45" fmla="*/ 0 h 59"/>
                  <a:gd name="T46" fmla="*/ 0 w 17"/>
                  <a:gd name="T47" fmla="*/ 0 h 59"/>
                  <a:gd name="T48" fmla="*/ 0 w 17"/>
                  <a:gd name="T49" fmla="*/ 0 h 59"/>
                  <a:gd name="T50" fmla="*/ 0 w 17"/>
                  <a:gd name="T51" fmla="*/ 0 h 59"/>
                  <a:gd name="T52" fmla="*/ 0 w 17"/>
                  <a:gd name="T53" fmla="*/ 0 h 59"/>
                  <a:gd name="T54" fmla="*/ 0 w 17"/>
                  <a:gd name="T55" fmla="*/ 0 h 59"/>
                  <a:gd name="T56" fmla="*/ 0 w 17"/>
                  <a:gd name="T57" fmla="*/ 0 h 59"/>
                  <a:gd name="T58" fmla="*/ 0 w 17"/>
                  <a:gd name="T59" fmla="*/ 0 h 59"/>
                  <a:gd name="T60" fmla="*/ 0 w 17"/>
                  <a:gd name="T61" fmla="*/ 0 h 59"/>
                  <a:gd name="T62" fmla="*/ 1 w 17"/>
                  <a:gd name="T63" fmla="*/ 0 h 59"/>
                  <a:gd name="T64" fmla="*/ 1 w 17"/>
                  <a:gd name="T65" fmla="*/ 0 h 59"/>
                  <a:gd name="T66" fmla="*/ 1 w 17"/>
                  <a:gd name="T67" fmla="*/ 0 h 59"/>
                  <a:gd name="T68" fmla="*/ 1 w 17"/>
                  <a:gd name="T69" fmla="*/ 0 h 59"/>
                  <a:gd name="T70" fmla="*/ 1 w 17"/>
                  <a:gd name="T71" fmla="*/ 0 h 59"/>
                  <a:gd name="T72" fmla="*/ 1 w 17"/>
                  <a:gd name="T73" fmla="*/ 0 h 59"/>
                  <a:gd name="T74" fmla="*/ 1 w 17"/>
                  <a:gd name="T75" fmla="*/ 0 h 59"/>
                  <a:gd name="T76" fmla="*/ 1 w 17"/>
                  <a:gd name="T77" fmla="*/ 0 h 59"/>
                  <a:gd name="T78" fmla="*/ 1 w 17"/>
                  <a:gd name="T79" fmla="*/ 0 h 59"/>
                  <a:gd name="T80" fmla="*/ 1 w 17"/>
                  <a:gd name="T81" fmla="*/ 0 h 59"/>
                  <a:gd name="T82" fmla="*/ 1 w 17"/>
                  <a:gd name="T83" fmla="*/ 0 h 59"/>
                  <a:gd name="T84" fmla="*/ 1 w 17"/>
                  <a:gd name="T85" fmla="*/ 0 h 59"/>
                  <a:gd name="T86" fmla="*/ 1 w 17"/>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
                  <a:gd name="T133" fmla="*/ 0 h 59"/>
                  <a:gd name="T134" fmla="*/ 17 w 17"/>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 h="59">
                    <a:moveTo>
                      <a:pt x="17" y="53"/>
                    </a:moveTo>
                    <a:lnTo>
                      <a:pt x="17" y="49"/>
                    </a:lnTo>
                    <a:lnTo>
                      <a:pt x="17" y="43"/>
                    </a:lnTo>
                    <a:lnTo>
                      <a:pt x="15" y="40"/>
                    </a:lnTo>
                    <a:lnTo>
                      <a:pt x="15" y="37"/>
                    </a:lnTo>
                    <a:lnTo>
                      <a:pt x="15" y="33"/>
                    </a:lnTo>
                    <a:lnTo>
                      <a:pt x="15" y="30"/>
                    </a:lnTo>
                    <a:lnTo>
                      <a:pt x="15" y="27"/>
                    </a:lnTo>
                    <a:lnTo>
                      <a:pt x="14" y="23"/>
                    </a:lnTo>
                    <a:lnTo>
                      <a:pt x="14" y="20"/>
                    </a:lnTo>
                    <a:lnTo>
                      <a:pt x="14" y="17"/>
                    </a:lnTo>
                    <a:lnTo>
                      <a:pt x="14" y="13"/>
                    </a:lnTo>
                    <a:lnTo>
                      <a:pt x="14" y="10"/>
                    </a:lnTo>
                    <a:lnTo>
                      <a:pt x="14" y="7"/>
                    </a:lnTo>
                    <a:lnTo>
                      <a:pt x="15" y="4"/>
                    </a:lnTo>
                    <a:lnTo>
                      <a:pt x="14" y="2"/>
                    </a:lnTo>
                    <a:lnTo>
                      <a:pt x="10" y="0"/>
                    </a:lnTo>
                    <a:lnTo>
                      <a:pt x="8" y="0"/>
                    </a:lnTo>
                    <a:lnTo>
                      <a:pt x="7" y="0"/>
                    </a:lnTo>
                    <a:lnTo>
                      <a:pt x="4" y="2"/>
                    </a:lnTo>
                    <a:lnTo>
                      <a:pt x="1" y="4"/>
                    </a:lnTo>
                    <a:lnTo>
                      <a:pt x="0" y="9"/>
                    </a:lnTo>
                    <a:lnTo>
                      <a:pt x="0" y="14"/>
                    </a:lnTo>
                    <a:lnTo>
                      <a:pt x="0" y="16"/>
                    </a:lnTo>
                    <a:lnTo>
                      <a:pt x="0" y="19"/>
                    </a:lnTo>
                    <a:lnTo>
                      <a:pt x="0" y="22"/>
                    </a:lnTo>
                    <a:lnTo>
                      <a:pt x="0" y="24"/>
                    </a:lnTo>
                    <a:lnTo>
                      <a:pt x="0" y="27"/>
                    </a:lnTo>
                    <a:lnTo>
                      <a:pt x="0" y="30"/>
                    </a:lnTo>
                    <a:lnTo>
                      <a:pt x="0" y="33"/>
                    </a:lnTo>
                    <a:lnTo>
                      <a:pt x="0" y="36"/>
                    </a:lnTo>
                    <a:lnTo>
                      <a:pt x="1" y="42"/>
                    </a:lnTo>
                    <a:lnTo>
                      <a:pt x="1" y="46"/>
                    </a:lnTo>
                    <a:lnTo>
                      <a:pt x="4" y="50"/>
                    </a:lnTo>
                    <a:lnTo>
                      <a:pt x="5" y="53"/>
                    </a:lnTo>
                    <a:lnTo>
                      <a:pt x="7" y="56"/>
                    </a:lnTo>
                    <a:lnTo>
                      <a:pt x="8" y="57"/>
                    </a:lnTo>
                    <a:lnTo>
                      <a:pt x="11" y="59"/>
                    </a:lnTo>
                    <a:lnTo>
                      <a:pt x="14" y="59"/>
                    </a:lnTo>
                    <a:lnTo>
                      <a:pt x="14" y="57"/>
                    </a:lnTo>
                    <a:lnTo>
                      <a:pt x="15" y="54"/>
                    </a:lnTo>
                    <a:lnTo>
                      <a:pt x="17"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5" name="Freeform 57"/>
              <p:cNvSpPr>
                <a:spLocks/>
              </p:cNvSpPr>
              <p:nvPr/>
            </p:nvSpPr>
            <p:spPr bwMode="auto">
              <a:xfrm>
                <a:off x="2445" y="723"/>
                <a:ext cx="13" cy="22"/>
              </a:xfrm>
              <a:custGeom>
                <a:avLst/>
                <a:gdLst>
                  <a:gd name="T0" fmla="*/ 1 w 24"/>
                  <a:gd name="T1" fmla="*/ 0 h 45"/>
                  <a:gd name="T2" fmla="*/ 1 w 24"/>
                  <a:gd name="T3" fmla="*/ 0 h 45"/>
                  <a:gd name="T4" fmla="*/ 1 w 24"/>
                  <a:gd name="T5" fmla="*/ 0 h 45"/>
                  <a:gd name="T6" fmla="*/ 1 w 24"/>
                  <a:gd name="T7" fmla="*/ 0 h 45"/>
                  <a:gd name="T8" fmla="*/ 1 w 24"/>
                  <a:gd name="T9" fmla="*/ 0 h 45"/>
                  <a:gd name="T10" fmla="*/ 1 w 24"/>
                  <a:gd name="T11" fmla="*/ 0 h 45"/>
                  <a:gd name="T12" fmla="*/ 1 w 24"/>
                  <a:gd name="T13" fmla="*/ 0 h 45"/>
                  <a:gd name="T14" fmla="*/ 1 w 24"/>
                  <a:gd name="T15" fmla="*/ 0 h 45"/>
                  <a:gd name="T16" fmla="*/ 1 w 24"/>
                  <a:gd name="T17" fmla="*/ 0 h 45"/>
                  <a:gd name="T18" fmla="*/ 1 w 24"/>
                  <a:gd name="T19" fmla="*/ 0 h 45"/>
                  <a:gd name="T20" fmla="*/ 1 w 24"/>
                  <a:gd name="T21" fmla="*/ 0 h 45"/>
                  <a:gd name="T22" fmla="*/ 1 w 24"/>
                  <a:gd name="T23" fmla="*/ 0 h 45"/>
                  <a:gd name="T24" fmla="*/ 1 w 24"/>
                  <a:gd name="T25" fmla="*/ 0 h 45"/>
                  <a:gd name="T26" fmla="*/ 1 w 24"/>
                  <a:gd name="T27" fmla="*/ 0 h 45"/>
                  <a:gd name="T28" fmla="*/ 1 w 24"/>
                  <a:gd name="T29" fmla="*/ 0 h 45"/>
                  <a:gd name="T30" fmla="*/ 1 w 24"/>
                  <a:gd name="T31" fmla="*/ 0 h 45"/>
                  <a:gd name="T32" fmla="*/ 1 w 24"/>
                  <a:gd name="T33" fmla="*/ 0 h 45"/>
                  <a:gd name="T34" fmla="*/ 1 w 24"/>
                  <a:gd name="T35" fmla="*/ 0 h 45"/>
                  <a:gd name="T36" fmla="*/ 1 w 24"/>
                  <a:gd name="T37" fmla="*/ 0 h 45"/>
                  <a:gd name="T38" fmla="*/ 1 w 24"/>
                  <a:gd name="T39" fmla="*/ 0 h 45"/>
                  <a:gd name="T40" fmla="*/ 1 w 24"/>
                  <a:gd name="T41" fmla="*/ 0 h 45"/>
                  <a:gd name="T42" fmla="*/ 1 w 24"/>
                  <a:gd name="T43" fmla="*/ 0 h 45"/>
                  <a:gd name="T44" fmla="*/ 1 w 24"/>
                  <a:gd name="T45" fmla="*/ 0 h 45"/>
                  <a:gd name="T46" fmla="*/ 1 w 24"/>
                  <a:gd name="T47" fmla="*/ 0 h 45"/>
                  <a:gd name="T48" fmla="*/ 0 w 24"/>
                  <a:gd name="T49" fmla="*/ 0 h 45"/>
                  <a:gd name="T50" fmla="*/ 0 w 24"/>
                  <a:gd name="T51" fmla="*/ 0 h 45"/>
                  <a:gd name="T52" fmla="*/ 0 w 24"/>
                  <a:gd name="T53" fmla="*/ 0 h 45"/>
                  <a:gd name="T54" fmla="*/ 0 w 24"/>
                  <a:gd name="T55" fmla="*/ 0 h 45"/>
                  <a:gd name="T56" fmla="*/ 1 w 24"/>
                  <a:gd name="T57" fmla="*/ 0 h 45"/>
                  <a:gd name="T58" fmla="*/ 1 w 24"/>
                  <a:gd name="T59" fmla="*/ 0 h 45"/>
                  <a:gd name="T60" fmla="*/ 1 w 24"/>
                  <a:gd name="T61" fmla="*/ 0 h 45"/>
                  <a:gd name="T62" fmla="*/ 1 w 24"/>
                  <a:gd name="T63" fmla="*/ 0 h 4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
                  <a:gd name="T97" fmla="*/ 0 h 45"/>
                  <a:gd name="T98" fmla="*/ 24 w 24"/>
                  <a:gd name="T99" fmla="*/ 45 h 4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 h="45">
                    <a:moveTo>
                      <a:pt x="4" y="0"/>
                    </a:moveTo>
                    <a:lnTo>
                      <a:pt x="6" y="0"/>
                    </a:lnTo>
                    <a:lnTo>
                      <a:pt x="7" y="0"/>
                    </a:lnTo>
                    <a:lnTo>
                      <a:pt x="9" y="0"/>
                    </a:lnTo>
                    <a:lnTo>
                      <a:pt x="10" y="2"/>
                    </a:lnTo>
                    <a:lnTo>
                      <a:pt x="10" y="7"/>
                    </a:lnTo>
                    <a:lnTo>
                      <a:pt x="10" y="12"/>
                    </a:lnTo>
                    <a:lnTo>
                      <a:pt x="11" y="17"/>
                    </a:lnTo>
                    <a:lnTo>
                      <a:pt x="13" y="22"/>
                    </a:lnTo>
                    <a:lnTo>
                      <a:pt x="14" y="26"/>
                    </a:lnTo>
                    <a:lnTo>
                      <a:pt x="17" y="30"/>
                    </a:lnTo>
                    <a:lnTo>
                      <a:pt x="20" y="35"/>
                    </a:lnTo>
                    <a:lnTo>
                      <a:pt x="23" y="37"/>
                    </a:lnTo>
                    <a:lnTo>
                      <a:pt x="24" y="42"/>
                    </a:lnTo>
                    <a:lnTo>
                      <a:pt x="24" y="43"/>
                    </a:lnTo>
                    <a:lnTo>
                      <a:pt x="21" y="45"/>
                    </a:lnTo>
                    <a:lnTo>
                      <a:pt x="19" y="45"/>
                    </a:lnTo>
                    <a:lnTo>
                      <a:pt x="13" y="40"/>
                    </a:lnTo>
                    <a:lnTo>
                      <a:pt x="9" y="36"/>
                    </a:lnTo>
                    <a:lnTo>
                      <a:pt x="7" y="33"/>
                    </a:lnTo>
                    <a:lnTo>
                      <a:pt x="6" y="30"/>
                    </a:lnTo>
                    <a:lnTo>
                      <a:pt x="4" y="27"/>
                    </a:lnTo>
                    <a:lnTo>
                      <a:pt x="3" y="24"/>
                    </a:lnTo>
                    <a:lnTo>
                      <a:pt x="1" y="22"/>
                    </a:lnTo>
                    <a:lnTo>
                      <a:pt x="0" y="19"/>
                    </a:lnTo>
                    <a:lnTo>
                      <a:pt x="0" y="14"/>
                    </a:lnTo>
                    <a:lnTo>
                      <a:pt x="0" y="12"/>
                    </a:lnTo>
                    <a:lnTo>
                      <a:pt x="0" y="9"/>
                    </a:lnTo>
                    <a:lnTo>
                      <a:pt x="1" y="6"/>
                    </a:lnTo>
                    <a:lnTo>
                      <a:pt x="1" y="3"/>
                    </a:lnTo>
                    <a:lnTo>
                      <a:pt x="4" y="0"/>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6" name="Freeform 58"/>
              <p:cNvSpPr>
                <a:spLocks/>
              </p:cNvSpPr>
              <p:nvPr/>
            </p:nvSpPr>
            <p:spPr bwMode="auto">
              <a:xfrm>
                <a:off x="2466" y="731"/>
                <a:ext cx="12" cy="16"/>
              </a:xfrm>
              <a:custGeom>
                <a:avLst/>
                <a:gdLst>
                  <a:gd name="T0" fmla="*/ 0 w 25"/>
                  <a:gd name="T1" fmla="*/ 0 h 33"/>
                  <a:gd name="T2" fmla="*/ 0 w 25"/>
                  <a:gd name="T3" fmla="*/ 0 h 33"/>
                  <a:gd name="T4" fmla="*/ 0 w 25"/>
                  <a:gd name="T5" fmla="*/ 0 h 33"/>
                  <a:gd name="T6" fmla="*/ 0 w 25"/>
                  <a:gd name="T7" fmla="*/ 0 h 33"/>
                  <a:gd name="T8" fmla="*/ 0 w 25"/>
                  <a:gd name="T9" fmla="*/ 0 h 33"/>
                  <a:gd name="T10" fmla="*/ 0 w 25"/>
                  <a:gd name="T11" fmla="*/ 0 h 33"/>
                  <a:gd name="T12" fmla="*/ 0 w 25"/>
                  <a:gd name="T13" fmla="*/ 0 h 33"/>
                  <a:gd name="T14" fmla="*/ 0 w 25"/>
                  <a:gd name="T15" fmla="*/ 0 h 33"/>
                  <a:gd name="T16" fmla="*/ 0 w 25"/>
                  <a:gd name="T17" fmla="*/ 0 h 33"/>
                  <a:gd name="T18" fmla="*/ 0 w 25"/>
                  <a:gd name="T19" fmla="*/ 0 h 33"/>
                  <a:gd name="T20" fmla="*/ 0 w 25"/>
                  <a:gd name="T21" fmla="*/ 0 h 33"/>
                  <a:gd name="T22" fmla="*/ 0 w 25"/>
                  <a:gd name="T23" fmla="*/ 0 h 33"/>
                  <a:gd name="T24" fmla="*/ 0 w 25"/>
                  <a:gd name="T25" fmla="*/ 0 h 33"/>
                  <a:gd name="T26" fmla="*/ 0 w 25"/>
                  <a:gd name="T27" fmla="*/ 0 h 33"/>
                  <a:gd name="T28" fmla="*/ 0 w 25"/>
                  <a:gd name="T29" fmla="*/ 0 h 33"/>
                  <a:gd name="T30" fmla="*/ 0 w 25"/>
                  <a:gd name="T31" fmla="*/ 0 h 33"/>
                  <a:gd name="T32" fmla="*/ 0 w 25"/>
                  <a:gd name="T33" fmla="*/ 0 h 33"/>
                  <a:gd name="T34" fmla="*/ 0 w 25"/>
                  <a:gd name="T35" fmla="*/ 0 h 33"/>
                  <a:gd name="T36" fmla="*/ 0 w 25"/>
                  <a:gd name="T37" fmla="*/ 0 h 33"/>
                  <a:gd name="T38" fmla="*/ 0 w 25"/>
                  <a:gd name="T39" fmla="*/ 0 h 33"/>
                  <a:gd name="T40" fmla="*/ 0 w 25"/>
                  <a:gd name="T41" fmla="*/ 0 h 33"/>
                  <a:gd name="T42" fmla="*/ 0 w 25"/>
                  <a:gd name="T43" fmla="*/ 0 h 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3"/>
                  <a:gd name="T68" fmla="*/ 25 w 25"/>
                  <a:gd name="T69" fmla="*/ 33 h 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3">
                    <a:moveTo>
                      <a:pt x="16" y="3"/>
                    </a:moveTo>
                    <a:lnTo>
                      <a:pt x="19" y="3"/>
                    </a:lnTo>
                    <a:lnTo>
                      <a:pt x="22" y="1"/>
                    </a:lnTo>
                    <a:lnTo>
                      <a:pt x="25" y="0"/>
                    </a:lnTo>
                    <a:lnTo>
                      <a:pt x="25" y="3"/>
                    </a:lnTo>
                    <a:lnTo>
                      <a:pt x="23" y="7"/>
                    </a:lnTo>
                    <a:lnTo>
                      <a:pt x="22" y="11"/>
                    </a:lnTo>
                    <a:lnTo>
                      <a:pt x="19" y="17"/>
                    </a:lnTo>
                    <a:lnTo>
                      <a:pt x="16" y="21"/>
                    </a:lnTo>
                    <a:lnTo>
                      <a:pt x="12" y="26"/>
                    </a:lnTo>
                    <a:lnTo>
                      <a:pt x="9" y="30"/>
                    </a:lnTo>
                    <a:lnTo>
                      <a:pt x="6" y="33"/>
                    </a:lnTo>
                    <a:lnTo>
                      <a:pt x="3" y="33"/>
                    </a:lnTo>
                    <a:lnTo>
                      <a:pt x="0" y="33"/>
                    </a:lnTo>
                    <a:lnTo>
                      <a:pt x="0" y="30"/>
                    </a:lnTo>
                    <a:lnTo>
                      <a:pt x="0" y="26"/>
                    </a:lnTo>
                    <a:lnTo>
                      <a:pt x="3" y="23"/>
                    </a:lnTo>
                    <a:lnTo>
                      <a:pt x="6" y="17"/>
                    </a:lnTo>
                    <a:lnTo>
                      <a:pt x="10" y="11"/>
                    </a:lnTo>
                    <a:lnTo>
                      <a:pt x="13" y="7"/>
                    </a:lnTo>
                    <a:lnTo>
                      <a:pt x="16" y="3"/>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7" name="Freeform 59"/>
              <p:cNvSpPr>
                <a:spLocks/>
              </p:cNvSpPr>
              <p:nvPr/>
            </p:nvSpPr>
            <p:spPr bwMode="auto">
              <a:xfrm>
                <a:off x="2416" y="722"/>
                <a:ext cx="15" cy="18"/>
              </a:xfrm>
              <a:custGeom>
                <a:avLst/>
                <a:gdLst>
                  <a:gd name="T0" fmla="*/ 1 w 30"/>
                  <a:gd name="T1" fmla="*/ 1 h 34"/>
                  <a:gd name="T2" fmla="*/ 1 w 30"/>
                  <a:gd name="T3" fmla="*/ 1 h 34"/>
                  <a:gd name="T4" fmla="*/ 1 w 30"/>
                  <a:gd name="T5" fmla="*/ 1 h 34"/>
                  <a:gd name="T6" fmla="*/ 1 w 30"/>
                  <a:gd name="T7" fmla="*/ 1 h 34"/>
                  <a:gd name="T8" fmla="*/ 1 w 30"/>
                  <a:gd name="T9" fmla="*/ 1 h 34"/>
                  <a:gd name="T10" fmla="*/ 1 w 30"/>
                  <a:gd name="T11" fmla="*/ 1 h 34"/>
                  <a:gd name="T12" fmla="*/ 1 w 30"/>
                  <a:gd name="T13" fmla="*/ 1 h 34"/>
                  <a:gd name="T14" fmla="*/ 1 w 30"/>
                  <a:gd name="T15" fmla="*/ 1 h 34"/>
                  <a:gd name="T16" fmla="*/ 1 w 30"/>
                  <a:gd name="T17" fmla="*/ 1 h 34"/>
                  <a:gd name="T18" fmla="*/ 1 w 30"/>
                  <a:gd name="T19" fmla="*/ 1 h 34"/>
                  <a:gd name="T20" fmla="*/ 1 w 30"/>
                  <a:gd name="T21" fmla="*/ 1 h 34"/>
                  <a:gd name="T22" fmla="*/ 1 w 30"/>
                  <a:gd name="T23" fmla="*/ 1 h 34"/>
                  <a:gd name="T24" fmla="*/ 1 w 30"/>
                  <a:gd name="T25" fmla="*/ 1 h 34"/>
                  <a:gd name="T26" fmla="*/ 1 w 30"/>
                  <a:gd name="T27" fmla="*/ 1 h 34"/>
                  <a:gd name="T28" fmla="*/ 1 w 30"/>
                  <a:gd name="T29" fmla="*/ 1 h 34"/>
                  <a:gd name="T30" fmla="*/ 1 w 30"/>
                  <a:gd name="T31" fmla="*/ 1 h 34"/>
                  <a:gd name="T32" fmla="*/ 1 w 30"/>
                  <a:gd name="T33" fmla="*/ 1 h 34"/>
                  <a:gd name="T34" fmla="*/ 1 w 30"/>
                  <a:gd name="T35" fmla="*/ 1 h 34"/>
                  <a:gd name="T36" fmla="*/ 1 w 30"/>
                  <a:gd name="T37" fmla="*/ 1 h 34"/>
                  <a:gd name="T38" fmla="*/ 1 w 30"/>
                  <a:gd name="T39" fmla="*/ 1 h 34"/>
                  <a:gd name="T40" fmla="*/ 1 w 30"/>
                  <a:gd name="T41" fmla="*/ 1 h 34"/>
                  <a:gd name="T42" fmla="*/ 0 w 30"/>
                  <a:gd name="T43" fmla="*/ 1 h 34"/>
                  <a:gd name="T44" fmla="*/ 0 w 30"/>
                  <a:gd name="T45" fmla="*/ 1 h 34"/>
                  <a:gd name="T46" fmla="*/ 1 w 30"/>
                  <a:gd name="T47" fmla="*/ 0 h 34"/>
                  <a:gd name="T48" fmla="*/ 1 w 30"/>
                  <a:gd name="T49" fmla="*/ 0 h 34"/>
                  <a:gd name="T50" fmla="*/ 1 w 30"/>
                  <a:gd name="T51" fmla="*/ 1 h 34"/>
                  <a:gd name="T52" fmla="*/ 1 w 30"/>
                  <a:gd name="T53" fmla="*/ 1 h 34"/>
                  <a:gd name="T54" fmla="*/ 1 w 30"/>
                  <a:gd name="T55" fmla="*/ 1 h 3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
                  <a:gd name="T85" fmla="*/ 0 h 34"/>
                  <a:gd name="T86" fmla="*/ 30 w 30"/>
                  <a:gd name="T87" fmla="*/ 34 h 3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 h="34">
                    <a:moveTo>
                      <a:pt x="9" y="5"/>
                    </a:moveTo>
                    <a:lnTo>
                      <a:pt x="10" y="7"/>
                    </a:lnTo>
                    <a:lnTo>
                      <a:pt x="12" y="11"/>
                    </a:lnTo>
                    <a:lnTo>
                      <a:pt x="15" y="13"/>
                    </a:lnTo>
                    <a:lnTo>
                      <a:pt x="18" y="15"/>
                    </a:lnTo>
                    <a:lnTo>
                      <a:pt x="19" y="17"/>
                    </a:lnTo>
                    <a:lnTo>
                      <a:pt x="22" y="20"/>
                    </a:lnTo>
                    <a:lnTo>
                      <a:pt x="25" y="23"/>
                    </a:lnTo>
                    <a:lnTo>
                      <a:pt x="26" y="25"/>
                    </a:lnTo>
                    <a:lnTo>
                      <a:pt x="28" y="28"/>
                    </a:lnTo>
                    <a:lnTo>
                      <a:pt x="30" y="31"/>
                    </a:lnTo>
                    <a:lnTo>
                      <a:pt x="29" y="34"/>
                    </a:lnTo>
                    <a:lnTo>
                      <a:pt x="26" y="34"/>
                    </a:lnTo>
                    <a:lnTo>
                      <a:pt x="23" y="33"/>
                    </a:lnTo>
                    <a:lnTo>
                      <a:pt x="19" y="30"/>
                    </a:lnTo>
                    <a:lnTo>
                      <a:pt x="15" y="27"/>
                    </a:lnTo>
                    <a:lnTo>
                      <a:pt x="12" y="24"/>
                    </a:lnTo>
                    <a:lnTo>
                      <a:pt x="8" y="20"/>
                    </a:lnTo>
                    <a:lnTo>
                      <a:pt x="5" y="15"/>
                    </a:lnTo>
                    <a:lnTo>
                      <a:pt x="3" y="11"/>
                    </a:lnTo>
                    <a:lnTo>
                      <a:pt x="2" y="7"/>
                    </a:lnTo>
                    <a:lnTo>
                      <a:pt x="0" y="4"/>
                    </a:lnTo>
                    <a:lnTo>
                      <a:pt x="0" y="3"/>
                    </a:lnTo>
                    <a:lnTo>
                      <a:pt x="2" y="0"/>
                    </a:lnTo>
                    <a:lnTo>
                      <a:pt x="3" y="0"/>
                    </a:lnTo>
                    <a:lnTo>
                      <a:pt x="6" y="1"/>
                    </a:lnTo>
                    <a:lnTo>
                      <a:pt x="9" y="5"/>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8" name="Freeform 60"/>
              <p:cNvSpPr>
                <a:spLocks/>
              </p:cNvSpPr>
              <p:nvPr/>
            </p:nvSpPr>
            <p:spPr bwMode="auto">
              <a:xfrm>
                <a:off x="2493" y="726"/>
                <a:ext cx="18" cy="34"/>
              </a:xfrm>
              <a:custGeom>
                <a:avLst/>
                <a:gdLst>
                  <a:gd name="T0" fmla="*/ 1 w 34"/>
                  <a:gd name="T1" fmla="*/ 1 h 67"/>
                  <a:gd name="T2" fmla="*/ 1 w 34"/>
                  <a:gd name="T3" fmla="*/ 1 h 67"/>
                  <a:gd name="T4" fmla="*/ 1 w 34"/>
                  <a:gd name="T5" fmla="*/ 1 h 67"/>
                  <a:gd name="T6" fmla="*/ 1 w 34"/>
                  <a:gd name="T7" fmla="*/ 1 h 67"/>
                  <a:gd name="T8" fmla="*/ 1 w 34"/>
                  <a:gd name="T9" fmla="*/ 1 h 67"/>
                  <a:gd name="T10" fmla="*/ 1 w 34"/>
                  <a:gd name="T11" fmla="*/ 1 h 67"/>
                  <a:gd name="T12" fmla="*/ 1 w 34"/>
                  <a:gd name="T13" fmla="*/ 1 h 67"/>
                  <a:gd name="T14" fmla="*/ 1 w 34"/>
                  <a:gd name="T15" fmla="*/ 1 h 67"/>
                  <a:gd name="T16" fmla="*/ 1 w 34"/>
                  <a:gd name="T17" fmla="*/ 1 h 67"/>
                  <a:gd name="T18" fmla="*/ 1 w 34"/>
                  <a:gd name="T19" fmla="*/ 1 h 67"/>
                  <a:gd name="T20" fmla="*/ 1 w 34"/>
                  <a:gd name="T21" fmla="*/ 1 h 67"/>
                  <a:gd name="T22" fmla="*/ 1 w 34"/>
                  <a:gd name="T23" fmla="*/ 1 h 67"/>
                  <a:gd name="T24" fmla="*/ 1 w 34"/>
                  <a:gd name="T25" fmla="*/ 1 h 67"/>
                  <a:gd name="T26" fmla="*/ 1 w 34"/>
                  <a:gd name="T27" fmla="*/ 1 h 67"/>
                  <a:gd name="T28" fmla="*/ 1 w 34"/>
                  <a:gd name="T29" fmla="*/ 1 h 67"/>
                  <a:gd name="T30" fmla="*/ 1 w 34"/>
                  <a:gd name="T31" fmla="*/ 1 h 67"/>
                  <a:gd name="T32" fmla="*/ 1 w 34"/>
                  <a:gd name="T33" fmla="*/ 1 h 67"/>
                  <a:gd name="T34" fmla="*/ 1 w 34"/>
                  <a:gd name="T35" fmla="*/ 1 h 67"/>
                  <a:gd name="T36" fmla="*/ 1 w 34"/>
                  <a:gd name="T37" fmla="*/ 1 h 67"/>
                  <a:gd name="T38" fmla="*/ 1 w 34"/>
                  <a:gd name="T39" fmla="*/ 1 h 67"/>
                  <a:gd name="T40" fmla="*/ 1 w 34"/>
                  <a:gd name="T41" fmla="*/ 1 h 67"/>
                  <a:gd name="T42" fmla="*/ 1 w 34"/>
                  <a:gd name="T43" fmla="*/ 1 h 67"/>
                  <a:gd name="T44" fmla="*/ 1 w 34"/>
                  <a:gd name="T45" fmla="*/ 1 h 67"/>
                  <a:gd name="T46" fmla="*/ 1 w 34"/>
                  <a:gd name="T47" fmla="*/ 1 h 67"/>
                  <a:gd name="T48" fmla="*/ 1 w 34"/>
                  <a:gd name="T49" fmla="*/ 1 h 67"/>
                  <a:gd name="T50" fmla="*/ 1 w 34"/>
                  <a:gd name="T51" fmla="*/ 1 h 67"/>
                  <a:gd name="T52" fmla="*/ 1 w 34"/>
                  <a:gd name="T53" fmla="*/ 1 h 67"/>
                  <a:gd name="T54" fmla="*/ 1 w 34"/>
                  <a:gd name="T55" fmla="*/ 1 h 67"/>
                  <a:gd name="T56" fmla="*/ 1 w 34"/>
                  <a:gd name="T57" fmla="*/ 1 h 67"/>
                  <a:gd name="T58" fmla="*/ 1 w 34"/>
                  <a:gd name="T59" fmla="*/ 1 h 67"/>
                  <a:gd name="T60" fmla="*/ 1 w 34"/>
                  <a:gd name="T61" fmla="*/ 1 h 67"/>
                  <a:gd name="T62" fmla="*/ 1 w 34"/>
                  <a:gd name="T63" fmla="*/ 1 h 67"/>
                  <a:gd name="T64" fmla="*/ 1 w 34"/>
                  <a:gd name="T65" fmla="*/ 1 h 67"/>
                  <a:gd name="T66" fmla="*/ 1 w 34"/>
                  <a:gd name="T67" fmla="*/ 1 h 67"/>
                  <a:gd name="T68" fmla="*/ 1 w 34"/>
                  <a:gd name="T69" fmla="*/ 1 h 67"/>
                  <a:gd name="T70" fmla="*/ 1 w 34"/>
                  <a:gd name="T71" fmla="*/ 1 h 67"/>
                  <a:gd name="T72" fmla="*/ 1 w 34"/>
                  <a:gd name="T73" fmla="*/ 1 h 67"/>
                  <a:gd name="T74" fmla="*/ 0 w 34"/>
                  <a:gd name="T75" fmla="*/ 1 h 67"/>
                  <a:gd name="T76" fmla="*/ 1 w 34"/>
                  <a:gd name="T77" fmla="*/ 0 h 67"/>
                  <a:gd name="T78" fmla="*/ 1 w 34"/>
                  <a:gd name="T79" fmla="*/ 0 h 67"/>
                  <a:gd name="T80" fmla="*/ 1 w 34"/>
                  <a:gd name="T81" fmla="*/ 1 h 67"/>
                  <a:gd name="T82" fmla="*/ 1 w 34"/>
                  <a:gd name="T83" fmla="*/ 1 h 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
                  <a:gd name="T127" fmla="*/ 0 h 67"/>
                  <a:gd name="T128" fmla="*/ 34 w 34"/>
                  <a:gd name="T129" fmla="*/ 67 h 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 h="67">
                    <a:moveTo>
                      <a:pt x="8" y="3"/>
                    </a:moveTo>
                    <a:lnTo>
                      <a:pt x="10" y="6"/>
                    </a:lnTo>
                    <a:lnTo>
                      <a:pt x="13" y="8"/>
                    </a:lnTo>
                    <a:lnTo>
                      <a:pt x="16" y="13"/>
                    </a:lnTo>
                    <a:lnTo>
                      <a:pt x="17" y="16"/>
                    </a:lnTo>
                    <a:lnTo>
                      <a:pt x="20" y="18"/>
                    </a:lnTo>
                    <a:lnTo>
                      <a:pt x="21" y="23"/>
                    </a:lnTo>
                    <a:lnTo>
                      <a:pt x="23" y="26"/>
                    </a:lnTo>
                    <a:lnTo>
                      <a:pt x="24" y="30"/>
                    </a:lnTo>
                    <a:lnTo>
                      <a:pt x="26" y="34"/>
                    </a:lnTo>
                    <a:lnTo>
                      <a:pt x="27" y="37"/>
                    </a:lnTo>
                    <a:lnTo>
                      <a:pt x="28" y="41"/>
                    </a:lnTo>
                    <a:lnTo>
                      <a:pt x="30" y="46"/>
                    </a:lnTo>
                    <a:lnTo>
                      <a:pt x="31" y="49"/>
                    </a:lnTo>
                    <a:lnTo>
                      <a:pt x="31" y="53"/>
                    </a:lnTo>
                    <a:lnTo>
                      <a:pt x="33" y="57"/>
                    </a:lnTo>
                    <a:lnTo>
                      <a:pt x="34" y="61"/>
                    </a:lnTo>
                    <a:lnTo>
                      <a:pt x="34" y="64"/>
                    </a:lnTo>
                    <a:lnTo>
                      <a:pt x="31" y="67"/>
                    </a:lnTo>
                    <a:lnTo>
                      <a:pt x="28" y="66"/>
                    </a:lnTo>
                    <a:lnTo>
                      <a:pt x="27" y="64"/>
                    </a:lnTo>
                    <a:lnTo>
                      <a:pt x="24" y="60"/>
                    </a:lnTo>
                    <a:lnTo>
                      <a:pt x="23" y="57"/>
                    </a:lnTo>
                    <a:lnTo>
                      <a:pt x="20" y="53"/>
                    </a:lnTo>
                    <a:lnTo>
                      <a:pt x="18" y="50"/>
                    </a:lnTo>
                    <a:lnTo>
                      <a:pt x="17" y="46"/>
                    </a:lnTo>
                    <a:lnTo>
                      <a:pt x="16" y="43"/>
                    </a:lnTo>
                    <a:lnTo>
                      <a:pt x="14" y="39"/>
                    </a:lnTo>
                    <a:lnTo>
                      <a:pt x="13" y="36"/>
                    </a:lnTo>
                    <a:lnTo>
                      <a:pt x="10" y="31"/>
                    </a:lnTo>
                    <a:lnTo>
                      <a:pt x="8" y="27"/>
                    </a:lnTo>
                    <a:lnTo>
                      <a:pt x="7" y="24"/>
                    </a:lnTo>
                    <a:lnTo>
                      <a:pt x="6" y="20"/>
                    </a:lnTo>
                    <a:lnTo>
                      <a:pt x="4" y="16"/>
                    </a:lnTo>
                    <a:lnTo>
                      <a:pt x="3" y="13"/>
                    </a:lnTo>
                    <a:lnTo>
                      <a:pt x="1" y="8"/>
                    </a:lnTo>
                    <a:lnTo>
                      <a:pt x="1" y="6"/>
                    </a:lnTo>
                    <a:lnTo>
                      <a:pt x="0" y="3"/>
                    </a:lnTo>
                    <a:lnTo>
                      <a:pt x="1" y="0"/>
                    </a:lnTo>
                    <a:lnTo>
                      <a:pt x="4" y="0"/>
                    </a:lnTo>
                    <a:lnTo>
                      <a:pt x="8" y="3"/>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69" name="Freeform 61"/>
              <p:cNvSpPr>
                <a:spLocks/>
              </p:cNvSpPr>
              <p:nvPr/>
            </p:nvSpPr>
            <p:spPr bwMode="auto">
              <a:xfrm>
                <a:off x="2521" y="725"/>
                <a:ext cx="11" cy="37"/>
              </a:xfrm>
              <a:custGeom>
                <a:avLst/>
                <a:gdLst>
                  <a:gd name="T0" fmla="*/ 1 w 21"/>
                  <a:gd name="T1" fmla="*/ 0 h 75"/>
                  <a:gd name="T2" fmla="*/ 1 w 21"/>
                  <a:gd name="T3" fmla="*/ 0 h 75"/>
                  <a:gd name="T4" fmla="*/ 1 w 21"/>
                  <a:gd name="T5" fmla="*/ 0 h 75"/>
                  <a:gd name="T6" fmla="*/ 1 w 21"/>
                  <a:gd name="T7" fmla="*/ 0 h 75"/>
                  <a:gd name="T8" fmla="*/ 1 w 21"/>
                  <a:gd name="T9" fmla="*/ 0 h 75"/>
                  <a:gd name="T10" fmla="*/ 1 w 21"/>
                  <a:gd name="T11" fmla="*/ 0 h 75"/>
                  <a:gd name="T12" fmla="*/ 1 w 21"/>
                  <a:gd name="T13" fmla="*/ 0 h 75"/>
                  <a:gd name="T14" fmla="*/ 1 w 21"/>
                  <a:gd name="T15" fmla="*/ 0 h 75"/>
                  <a:gd name="T16" fmla="*/ 1 w 21"/>
                  <a:gd name="T17" fmla="*/ 0 h 75"/>
                  <a:gd name="T18" fmla="*/ 1 w 21"/>
                  <a:gd name="T19" fmla="*/ 0 h 75"/>
                  <a:gd name="T20" fmla="*/ 1 w 21"/>
                  <a:gd name="T21" fmla="*/ 0 h 75"/>
                  <a:gd name="T22" fmla="*/ 1 w 21"/>
                  <a:gd name="T23" fmla="*/ 0 h 75"/>
                  <a:gd name="T24" fmla="*/ 1 w 21"/>
                  <a:gd name="T25" fmla="*/ 0 h 75"/>
                  <a:gd name="T26" fmla="*/ 1 w 21"/>
                  <a:gd name="T27" fmla="*/ 0 h 75"/>
                  <a:gd name="T28" fmla="*/ 1 w 21"/>
                  <a:gd name="T29" fmla="*/ 0 h 75"/>
                  <a:gd name="T30" fmla="*/ 1 w 21"/>
                  <a:gd name="T31" fmla="*/ 0 h 75"/>
                  <a:gd name="T32" fmla="*/ 1 w 21"/>
                  <a:gd name="T33" fmla="*/ 0 h 75"/>
                  <a:gd name="T34" fmla="*/ 1 w 21"/>
                  <a:gd name="T35" fmla="*/ 0 h 75"/>
                  <a:gd name="T36" fmla="*/ 1 w 21"/>
                  <a:gd name="T37" fmla="*/ 0 h 75"/>
                  <a:gd name="T38" fmla="*/ 1 w 21"/>
                  <a:gd name="T39" fmla="*/ 0 h 75"/>
                  <a:gd name="T40" fmla="*/ 1 w 21"/>
                  <a:gd name="T41" fmla="*/ 0 h 75"/>
                  <a:gd name="T42" fmla="*/ 1 w 21"/>
                  <a:gd name="T43" fmla="*/ 0 h 75"/>
                  <a:gd name="T44" fmla="*/ 1 w 21"/>
                  <a:gd name="T45" fmla="*/ 0 h 75"/>
                  <a:gd name="T46" fmla="*/ 1 w 21"/>
                  <a:gd name="T47" fmla="*/ 0 h 75"/>
                  <a:gd name="T48" fmla="*/ 1 w 21"/>
                  <a:gd name="T49" fmla="*/ 0 h 75"/>
                  <a:gd name="T50" fmla="*/ 1 w 21"/>
                  <a:gd name="T51" fmla="*/ 0 h 75"/>
                  <a:gd name="T52" fmla="*/ 1 w 21"/>
                  <a:gd name="T53" fmla="*/ 0 h 75"/>
                  <a:gd name="T54" fmla="*/ 1 w 21"/>
                  <a:gd name="T55" fmla="*/ 0 h 75"/>
                  <a:gd name="T56" fmla="*/ 1 w 21"/>
                  <a:gd name="T57" fmla="*/ 0 h 75"/>
                  <a:gd name="T58" fmla="*/ 0 w 21"/>
                  <a:gd name="T59" fmla="*/ 0 h 75"/>
                  <a:gd name="T60" fmla="*/ 0 w 21"/>
                  <a:gd name="T61" fmla="*/ 0 h 75"/>
                  <a:gd name="T62" fmla="*/ 0 w 21"/>
                  <a:gd name="T63" fmla="*/ 0 h 75"/>
                  <a:gd name="T64" fmla="*/ 1 w 21"/>
                  <a:gd name="T65" fmla="*/ 0 h 75"/>
                  <a:gd name="T66" fmla="*/ 1 w 21"/>
                  <a:gd name="T67" fmla="*/ 0 h 75"/>
                  <a:gd name="T68" fmla="*/ 1 w 21"/>
                  <a:gd name="T69" fmla="*/ 0 h 75"/>
                  <a:gd name="T70" fmla="*/ 1 w 21"/>
                  <a:gd name="T71" fmla="*/ 0 h 75"/>
                  <a:gd name="T72" fmla="*/ 1 w 21"/>
                  <a:gd name="T73" fmla="*/ 0 h 75"/>
                  <a:gd name="T74" fmla="*/ 1 w 21"/>
                  <a:gd name="T75" fmla="*/ 0 h 75"/>
                  <a:gd name="T76" fmla="*/ 1 w 21"/>
                  <a:gd name="T77" fmla="*/ 0 h 75"/>
                  <a:gd name="T78" fmla="*/ 1 w 21"/>
                  <a:gd name="T79" fmla="*/ 0 h 75"/>
                  <a:gd name="T80" fmla="*/ 1 w 21"/>
                  <a:gd name="T81" fmla="*/ 0 h 75"/>
                  <a:gd name="T82" fmla="*/ 1 w 21"/>
                  <a:gd name="T83" fmla="*/ 0 h 75"/>
                  <a:gd name="T84" fmla="*/ 1 w 21"/>
                  <a:gd name="T85" fmla="*/ 0 h 75"/>
                  <a:gd name="T86" fmla="*/ 1 w 21"/>
                  <a:gd name="T87" fmla="*/ 0 h 75"/>
                  <a:gd name="T88" fmla="*/ 1 w 21"/>
                  <a:gd name="T89" fmla="*/ 0 h 75"/>
                  <a:gd name="T90" fmla="*/ 1 w 21"/>
                  <a:gd name="T91" fmla="*/ 0 h 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1"/>
                  <a:gd name="T139" fmla="*/ 0 h 75"/>
                  <a:gd name="T140" fmla="*/ 21 w 21"/>
                  <a:gd name="T141" fmla="*/ 75 h 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1" h="75">
                    <a:moveTo>
                      <a:pt x="14" y="2"/>
                    </a:moveTo>
                    <a:lnTo>
                      <a:pt x="17" y="0"/>
                    </a:lnTo>
                    <a:lnTo>
                      <a:pt x="18" y="0"/>
                    </a:lnTo>
                    <a:lnTo>
                      <a:pt x="20" y="2"/>
                    </a:lnTo>
                    <a:lnTo>
                      <a:pt x="21" y="5"/>
                    </a:lnTo>
                    <a:lnTo>
                      <a:pt x="21" y="8"/>
                    </a:lnTo>
                    <a:lnTo>
                      <a:pt x="20" y="10"/>
                    </a:lnTo>
                    <a:lnTo>
                      <a:pt x="20" y="13"/>
                    </a:lnTo>
                    <a:lnTo>
                      <a:pt x="20" y="18"/>
                    </a:lnTo>
                    <a:lnTo>
                      <a:pt x="18" y="20"/>
                    </a:lnTo>
                    <a:lnTo>
                      <a:pt x="17" y="25"/>
                    </a:lnTo>
                    <a:lnTo>
                      <a:pt x="17" y="29"/>
                    </a:lnTo>
                    <a:lnTo>
                      <a:pt x="15" y="33"/>
                    </a:lnTo>
                    <a:lnTo>
                      <a:pt x="14" y="36"/>
                    </a:lnTo>
                    <a:lnTo>
                      <a:pt x="12" y="41"/>
                    </a:lnTo>
                    <a:lnTo>
                      <a:pt x="11" y="45"/>
                    </a:lnTo>
                    <a:lnTo>
                      <a:pt x="11" y="49"/>
                    </a:lnTo>
                    <a:lnTo>
                      <a:pt x="10" y="52"/>
                    </a:lnTo>
                    <a:lnTo>
                      <a:pt x="10" y="56"/>
                    </a:lnTo>
                    <a:lnTo>
                      <a:pt x="10" y="59"/>
                    </a:lnTo>
                    <a:lnTo>
                      <a:pt x="10" y="63"/>
                    </a:lnTo>
                    <a:lnTo>
                      <a:pt x="10" y="65"/>
                    </a:lnTo>
                    <a:lnTo>
                      <a:pt x="10" y="68"/>
                    </a:lnTo>
                    <a:lnTo>
                      <a:pt x="10" y="71"/>
                    </a:lnTo>
                    <a:lnTo>
                      <a:pt x="10" y="73"/>
                    </a:lnTo>
                    <a:lnTo>
                      <a:pt x="5" y="75"/>
                    </a:lnTo>
                    <a:lnTo>
                      <a:pt x="2" y="73"/>
                    </a:lnTo>
                    <a:lnTo>
                      <a:pt x="1" y="72"/>
                    </a:lnTo>
                    <a:lnTo>
                      <a:pt x="1" y="69"/>
                    </a:lnTo>
                    <a:lnTo>
                      <a:pt x="0" y="65"/>
                    </a:lnTo>
                    <a:lnTo>
                      <a:pt x="0" y="61"/>
                    </a:lnTo>
                    <a:lnTo>
                      <a:pt x="0" y="55"/>
                    </a:lnTo>
                    <a:lnTo>
                      <a:pt x="1" y="51"/>
                    </a:lnTo>
                    <a:lnTo>
                      <a:pt x="1" y="46"/>
                    </a:lnTo>
                    <a:lnTo>
                      <a:pt x="1" y="42"/>
                    </a:lnTo>
                    <a:lnTo>
                      <a:pt x="2" y="38"/>
                    </a:lnTo>
                    <a:lnTo>
                      <a:pt x="4" y="33"/>
                    </a:lnTo>
                    <a:lnTo>
                      <a:pt x="4" y="29"/>
                    </a:lnTo>
                    <a:lnTo>
                      <a:pt x="5" y="23"/>
                    </a:lnTo>
                    <a:lnTo>
                      <a:pt x="5" y="19"/>
                    </a:lnTo>
                    <a:lnTo>
                      <a:pt x="7" y="16"/>
                    </a:lnTo>
                    <a:lnTo>
                      <a:pt x="10" y="12"/>
                    </a:lnTo>
                    <a:lnTo>
                      <a:pt x="11" y="9"/>
                    </a:lnTo>
                    <a:lnTo>
                      <a:pt x="12" y="6"/>
                    </a:lnTo>
                    <a:lnTo>
                      <a:pt x="14" y="2"/>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0" name="Freeform 62"/>
              <p:cNvSpPr>
                <a:spLocks/>
              </p:cNvSpPr>
              <p:nvPr/>
            </p:nvSpPr>
            <p:spPr bwMode="auto">
              <a:xfrm>
                <a:off x="2483" y="727"/>
                <a:ext cx="25" cy="25"/>
              </a:xfrm>
              <a:custGeom>
                <a:avLst/>
                <a:gdLst>
                  <a:gd name="T0" fmla="*/ 0 w 52"/>
                  <a:gd name="T1" fmla="*/ 0 h 52"/>
                  <a:gd name="T2" fmla="*/ 0 w 52"/>
                  <a:gd name="T3" fmla="*/ 0 h 52"/>
                  <a:gd name="T4" fmla="*/ 0 w 52"/>
                  <a:gd name="T5" fmla="*/ 0 h 52"/>
                  <a:gd name="T6" fmla="*/ 0 w 52"/>
                  <a:gd name="T7" fmla="*/ 0 h 52"/>
                  <a:gd name="T8" fmla="*/ 0 w 52"/>
                  <a:gd name="T9" fmla="*/ 0 h 52"/>
                  <a:gd name="T10" fmla="*/ 0 w 52"/>
                  <a:gd name="T11" fmla="*/ 0 h 52"/>
                  <a:gd name="T12" fmla="*/ 0 w 52"/>
                  <a:gd name="T13" fmla="*/ 0 h 52"/>
                  <a:gd name="T14" fmla="*/ 0 w 52"/>
                  <a:gd name="T15" fmla="*/ 0 h 52"/>
                  <a:gd name="T16" fmla="*/ 0 w 52"/>
                  <a:gd name="T17" fmla="*/ 0 h 52"/>
                  <a:gd name="T18" fmla="*/ 0 w 52"/>
                  <a:gd name="T19" fmla="*/ 0 h 52"/>
                  <a:gd name="T20" fmla="*/ 0 w 52"/>
                  <a:gd name="T21" fmla="*/ 0 h 52"/>
                  <a:gd name="T22" fmla="*/ 0 w 52"/>
                  <a:gd name="T23" fmla="*/ 0 h 52"/>
                  <a:gd name="T24" fmla="*/ 0 w 52"/>
                  <a:gd name="T25" fmla="*/ 0 h 52"/>
                  <a:gd name="T26" fmla="*/ 0 w 52"/>
                  <a:gd name="T27" fmla="*/ 0 h 52"/>
                  <a:gd name="T28" fmla="*/ 0 w 52"/>
                  <a:gd name="T29" fmla="*/ 0 h 52"/>
                  <a:gd name="T30" fmla="*/ 0 w 52"/>
                  <a:gd name="T31" fmla="*/ 0 h 52"/>
                  <a:gd name="T32" fmla="*/ 0 w 52"/>
                  <a:gd name="T33" fmla="*/ 0 h 52"/>
                  <a:gd name="T34" fmla="*/ 0 w 52"/>
                  <a:gd name="T35" fmla="*/ 0 h 52"/>
                  <a:gd name="T36" fmla="*/ 0 w 52"/>
                  <a:gd name="T37" fmla="*/ 0 h 52"/>
                  <a:gd name="T38" fmla="*/ 0 w 52"/>
                  <a:gd name="T39" fmla="*/ 0 h 52"/>
                  <a:gd name="T40" fmla="*/ 0 w 52"/>
                  <a:gd name="T41" fmla="*/ 0 h 52"/>
                  <a:gd name="T42" fmla="*/ 0 w 52"/>
                  <a:gd name="T43" fmla="*/ 0 h 52"/>
                  <a:gd name="T44" fmla="*/ 0 w 52"/>
                  <a:gd name="T45" fmla="*/ 0 h 52"/>
                  <a:gd name="T46" fmla="*/ 0 w 52"/>
                  <a:gd name="T47" fmla="*/ 0 h 52"/>
                  <a:gd name="T48" fmla="*/ 0 w 52"/>
                  <a:gd name="T49" fmla="*/ 0 h 52"/>
                  <a:gd name="T50" fmla="*/ 0 w 52"/>
                  <a:gd name="T51" fmla="*/ 0 h 52"/>
                  <a:gd name="T52" fmla="*/ 0 w 52"/>
                  <a:gd name="T53" fmla="*/ 0 h 52"/>
                  <a:gd name="T54" fmla="*/ 0 w 52"/>
                  <a:gd name="T55" fmla="*/ 0 h 52"/>
                  <a:gd name="T56" fmla="*/ 0 w 52"/>
                  <a:gd name="T57" fmla="*/ 0 h 52"/>
                  <a:gd name="T58" fmla="*/ 0 w 52"/>
                  <a:gd name="T59" fmla="*/ 0 h 52"/>
                  <a:gd name="T60" fmla="*/ 0 w 52"/>
                  <a:gd name="T61" fmla="*/ 0 h 52"/>
                  <a:gd name="T62" fmla="*/ 0 w 52"/>
                  <a:gd name="T63" fmla="*/ 0 h 52"/>
                  <a:gd name="T64" fmla="*/ 0 w 52"/>
                  <a:gd name="T65" fmla="*/ 0 h 52"/>
                  <a:gd name="T66" fmla="*/ 0 w 52"/>
                  <a:gd name="T67" fmla="*/ 0 h 52"/>
                  <a:gd name="T68" fmla="*/ 0 w 52"/>
                  <a:gd name="T69" fmla="*/ 0 h 52"/>
                  <a:gd name="T70" fmla="*/ 0 w 52"/>
                  <a:gd name="T71" fmla="*/ 0 h 5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2"/>
                  <a:gd name="T109" fmla="*/ 0 h 52"/>
                  <a:gd name="T110" fmla="*/ 52 w 52"/>
                  <a:gd name="T111" fmla="*/ 52 h 5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2" h="52">
                    <a:moveTo>
                      <a:pt x="45" y="3"/>
                    </a:moveTo>
                    <a:lnTo>
                      <a:pt x="49" y="0"/>
                    </a:lnTo>
                    <a:lnTo>
                      <a:pt x="50" y="2"/>
                    </a:lnTo>
                    <a:lnTo>
                      <a:pt x="52" y="6"/>
                    </a:lnTo>
                    <a:lnTo>
                      <a:pt x="50" y="10"/>
                    </a:lnTo>
                    <a:lnTo>
                      <a:pt x="48" y="15"/>
                    </a:lnTo>
                    <a:lnTo>
                      <a:pt x="43" y="19"/>
                    </a:lnTo>
                    <a:lnTo>
                      <a:pt x="38" y="23"/>
                    </a:lnTo>
                    <a:lnTo>
                      <a:pt x="32" y="29"/>
                    </a:lnTo>
                    <a:lnTo>
                      <a:pt x="28" y="33"/>
                    </a:lnTo>
                    <a:lnTo>
                      <a:pt x="22" y="39"/>
                    </a:lnTo>
                    <a:lnTo>
                      <a:pt x="17" y="42"/>
                    </a:lnTo>
                    <a:lnTo>
                      <a:pt x="15" y="46"/>
                    </a:lnTo>
                    <a:lnTo>
                      <a:pt x="10" y="49"/>
                    </a:lnTo>
                    <a:lnTo>
                      <a:pt x="7" y="52"/>
                    </a:lnTo>
                    <a:lnTo>
                      <a:pt x="5" y="52"/>
                    </a:lnTo>
                    <a:lnTo>
                      <a:pt x="3" y="52"/>
                    </a:lnTo>
                    <a:lnTo>
                      <a:pt x="0" y="49"/>
                    </a:lnTo>
                    <a:lnTo>
                      <a:pt x="3" y="46"/>
                    </a:lnTo>
                    <a:lnTo>
                      <a:pt x="5" y="43"/>
                    </a:lnTo>
                    <a:lnTo>
                      <a:pt x="6" y="40"/>
                    </a:lnTo>
                    <a:lnTo>
                      <a:pt x="7" y="38"/>
                    </a:lnTo>
                    <a:lnTo>
                      <a:pt x="12" y="35"/>
                    </a:lnTo>
                    <a:lnTo>
                      <a:pt x="13" y="32"/>
                    </a:lnTo>
                    <a:lnTo>
                      <a:pt x="16" y="29"/>
                    </a:lnTo>
                    <a:lnTo>
                      <a:pt x="20" y="28"/>
                    </a:lnTo>
                    <a:lnTo>
                      <a:pt x="23" y="25"/>
                    </a:lnTo>
                    <a:lnTo>
                      <a:pt x="26" y="22"/>
                    </a:lnTo>
                    <a:lnTo>
                      <a:pt x="29" y="19"/>
                    </a:lnTo>
                    <a:lnTo>
                      <a:pt x="32" y="16"/>
                    </a:lnTo>
                    <a:lnTo>
                      <a:pt x="35" y="15"/>
                    </a:lnTo>
                    <a:lnTo>
                      <a:pt x="38" y="12"/>
                    </a:lnTo>
                    <a:lnTo>
                      <a:pt x="39" y="9"/>
                    </a:lnTo>
                    <a:lnTo>
                      <a:pt x="42" y="6"/>
                    </a:lnTo>
                    <a:lnTo>
                      <a:pt x="45" y="3"/>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1" name="Freeform 63"/>
              <p:cNvSpPr>
                <a:spLocks/>
              </p:cNvSpPr>
              <p:nvPr/>
            </p:nvSpPr>
            <p:spPr bwMode="auto">
              <a:xfrm>
                <a:off x="2544" y="720"/>
                <a:ext cx="27" cy="36"/>
              </a:xfrm>
              <a:custGeom>
                <a:avLst/>
                <a:gdLst>
                  <a:gd name="T0" fmla="*/ 1 w 53"/>
                  <a:gd name="T1" fmla="*/ 0 h 73"/>
                  <a:gd name="T2" fmla="*/ 1 w 53"/>
                  <a:gd name="T3" fmla="*/ 0 h 73"/>
                  <a:gd name="T4" fmla="*/ 1 w 53"/>
                  <a:gd name="T5" fmla="*/ 0 h 73"/>
                  <a:gd name="T6" fmla="*/ 1 w 53"/>
                  <a:gd name="T7" fmla="*/ 0 h 73"/>
                  <a:gd name="T8" fmla="*/ 1 w 53"/>
                  <a:gd name="T9" fmla="*/ 0 h 73"/>
                  <a:gd name="T10" fmla="*/ 1 w 53"/>
                  <a:gd name="T11" fmla="*/ 0 h 73"/>
                  <a:gd name="T12" fmla="*/ 1 w 53"/>
                  <a:gd name="T13" fmla="*/ 0 h 73"/>
                  <a:gd name="T14" fmla="*/ 1 w 53"/>
                  <a:gd name="T15" fmla="*/ 0 h 73"/>
                  <a:gd name="T16" fmla="*/ 1 w 53"/>
                  <a:gd name="T17" fmla="*/ 0 h 73"/>
                  <a:gd name="T18" fmla="*/ 1 w 53"/>
                  <a:gd name="T19" fmla="*/ 0 h 73"/>
                  <a:gd name="T20" fmla="*/ 1 w 53"/>
                  <a:gd name="T21" fmla="*/ 0 h 73"/>
                  <a:gd name="T22" fmla="*/ 1 w 53"/>
                  <a:gd name="T23" fmla="*/ 0 h 73"/>
                  <a:gd name="T24" fmla="*/ 1 w 53"/>
                  <a:gd name="T25" fmla="*/ 0 h 73"/>
                  <a:gd name="T26" fmla="*/ 1 w 53"/>
                  <a:gd name="T27" fmla="*/ 0 h 73"/>
                  <a:gd name="T28" fmla="*/ 1 w 53"/>
                  <a:gd name="T29" fmla="*/ 0 h 73"/>
                  <a:gd name="T30" fmla="*/ 1 w 53"/>
                  <a:gd name="T31" fmla="*/ 0 h 73"/>
                  <a:gd name="T32" fmla="*/ 1 w 53"/>
                  <a:gd name="T33" fmla="*/ 0 h 73"/>
                  <a:gd name="T34" fmla="*/ 1 w 53"/>
                  <a:gd name="T35" fmla="*/ 0 h 73"/>
                  <a:gd name="T36" fmla="*/ 1 w 53"/>
                  <a:gd name="T37" fmla="*/ 0 h 73"/>
                  <a:gd name="T38" fmla="*/ 1 w 53"/>
                  <a:gd name="T39" fmla="*/ 0 h 73"/>
                  <a:gd name="T40" fmla="*/ 1 w 53"/>
                  <a:gd name="T41" fmla="*/ 0 h 73"/>
                  <a:gd name="T42" fmla="*/ 1 w 53"/>
                  <a:gd name="T43" fmla="*/ 0 h 73"/>
                  <a:gd name="T44" fmla="*/ 1 w 53"/>
                  <a:gd name="T45" fmla="*/ 0 h 73"/>
                  <a:gd name="T46" fmla="*/ 1 w 53"/>
                  <a:gd name="T47" fmla="*/ 0 h 73"/>
                  <a:gd name="T48" fmla="*/ 1 w 53"/>
                  <a:gd name="T49" fmla="*/ 0 h 73"/>
                  <a:gd name="T50" fmla="*/ 1 w 53"/>
                  <a:gd name="T51" fmla="*/ 0 h 73"/>
                  <a:gd name="T52" fmla="*/ 1 w 53"/>
                  <a:gd name="T53" fmla="*/ 0 h 73"/>
                  <a:gd name="T54" fmla="*/ 1 w 53"/>
                  <a:gd name="T55" fmla="*/ 0 h 73"/>
                  <a:gd name="T56" fmla="*/ 1 w 53"/>
                  <a:gd name="T57" fmla="*/ 0 h 73"/>
                  <a:gd name="T58" fmla="*/ 1 w 53"/>
                  <a:gd name="T59" fmla="*/ 0 h 73"/>
                  <a:gd name="T60" fmla="*/ 1 w 53"/>
                  <a:gd name="T61" fmla="*/ 0 h 73"/>
                  <a:gd name="T62" fmla="*/ 1 w 53"/>
                  <a:gd name="T63" fmla="*/ 0 h 73"/>
                  <a:gd name="T64" fmla="*/ 1 w 53"/>
                  <a:gd name="T65" fmla="*/ 0 h 73"/>
                  <a:gd name="T66" fmla="*/ 1 w 53"/>
                  <a:gd name="T67" fmla="*/ 0 h 73"/>
                  <a:gd name="T68" fmla="*/ 1 w 53"/>
                  <a:gd name="T69" fmla="*/ 0 h 73"/>
                  <a:gd name="T70" fmla="*/ 1 w 53"/>
                  <a:gd name="T71" fmla="*/ 0 h 73"/>
                  <a:gd name="T72" fmla="*/ 1 w 53"/>
                  <a:gd name="T73" fmla="*/ 0 h 73"/>
                  <a:gd name="T74" fmla="*/ 1 w 53"/>
                  <a:gd name="T75" fmla="*/ 0 h 73"/>
                  <a:gd name="T76" fmla="*/ 1 w 53"/>
                  <a:gd name="T77" fmla="*/ 0 h 73"/>
                  <a:gd name="T78" fmla="*/ 0 w 53"/>
                  <a:gd name="T79" fmla="*/ 0 h 73"/>
                  <a:gd name="T80" fmla="*/ 0 w 53"/>
                  <a:gd name="T81" fmla="*/ 0 h 73"/>
                  <a:gd name="T82" fmla="*/ 0 w 53"/>
                  <a:gd name="T83" fmla="*/ 0 h 73"/>
                  <a:gd name="T84" fmla="*/ 1 w 53"/>
                  <a:gd name="T85" fmla="*/ 0 h 73"/>
                  <a:gd name="T86" fmla="*/ 1 w 53"/>
                  <a:gd name="T87" fmla="*/ 0 h 73"/>
                  <a:gd name="T88" fmla="*/ 1 w 53"/>
                  <a:gd name="T89" fmla="*/ 0 h 73"/>
                  <a:gd name="T90" fmla="*/ 1 w 53"/>
                  <a:gd name="T91" fmla="*/ 0 h 7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3"/>
                  <a:gd name="T139" fmla="*/ 0 h 73"/>
                  <a:gd name="T140" fmla="*/ 53 w 53"/>
                  <a:gd name="T141" fmla="*/ 73 h 7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3" h="73">
                    <a:moveTo>
                      <a:pt x="7" y="3"/>
                    </a:moveTo>
                    <a:lnTo>
                      <a:pt x="9" y="7"/>
                    </a:lnTo>
                    <a:lnTo>
                      <a:pt x="12" y="11"/>
                    </a:lnTo>
                    <a:lnTo>
                      <a:pt x="15" y="14"/>
                    </a:lnTo>
                    <a:lnTo>
                      <a:pt x="17" y="19"/>
                    </a:lnTo>
                    <a:lnTo>
                      <a:pt x="20" y="23"/>
                    </a:lnTo>
                    <a:lnTo>
                      <a:pt x="23" y="27"/>
                    </a:lnTo>
                    <a:lnTo>
                      <a:pt x="26" y="31"/>
                    </a:lnTo>
                    <a:lnTo>
                      <a:pt x="30" y="36"/>
                    </a:lnTo>
                    <a:lnTo>
                      <a:pt x="33" y="40"/>
                    </a:lnTo>
                    <a:lnTo>
                      <a:pt x="36" y="44"/>
                    </a:lnTo>
                    <a:lnTo>
                      <a:pt x="39" y="49"/>
                    </a:lnTo>
                    <a:lnTo>
                      <a:pt x="42" y="53"/>
                    </a:lnTo>
                    <a:lnTo>
                      <a:pt x="45" y="57"/>
                    </a:lnTo>
                    <a:lnTo>
                      <a:pt x="47" y="62"/>
                    </a:lnTo>
                    <a:lnTo>
                      <a:pt x="50" y="64"/>
                    </a:lnTo>
                    <a:lnTo>
                      <a:pt x="53" y="70"/>
                    </a:lnTo>
                    <a:lnTo>
                      <a:pt x="53" y="72"/>
                    </a:lnTo>
                    <a:lnTo>
                      <a:pt x="52" y="73"/>
                    </a:lnTo>
                    <a:lnTo>
                      <a:pt x="49" y="73"/>
                    </a:lnTo>
                    <a:lnTo>
                      <a:pt x="46" y="72"/>
                    </a:lnTo>
                    <a:lnTo>
                      <a:pt x="43" y="70"/>
                    </a:lnTo>
                    <a:lnTo>
                      <a:pt x="40" y="67"/>
                    </a:lnTo>
                    <a:lnTo>
                      <a:pt x="39" y="64"/>
                    </a:lnTo>
                    <a:lnTo>
                      <a:pt x="36" y="63"/>
                    </a:lnTo>
                    <a:lnTo>
                      <a:pt x="33" y="60"/>
                    </a:lnTo>
                    <a:lnTo>
                      <a:pt x="32" y="56"/>
                    </a:lnTo>
                    <a:lnTo>
                      <a:pt x="29" y="53"/>
                    </a:lnTo>
                    <a:lnTo>
                      <a:pt x="27" y="50"/>
                    </a:lnTo>
                    <a:lnTo>
                      <a:pt x="25" y="47"/>
                    </a:lnTo>
                    <a:lnTo>
                      <a:pt x="23" y="44"/>
                    </a:lnTo>
                    <a:lnTo>
                      <a:pt x="20" y="42"/>
                    </a:lnTo>
                    <a:lnTo>
                      <a:pt x="19" y="39"/>
                    </a:lnTo>
                    <a:lnTo>
                      <a:pt x="15" y="33"/>
                    </a:lnTo>
                    <a:lnTo>
                      <a:pt x="12" y="30"/>
                    </a:lnTo>
                    <a:lnTo>
                      <a:pt x="9" y="26"/>
                    </a:lnTo>
                    <a:lnTo>
                      <a:pt x="6" y="21"/>
                    </a:lnTo>
                    <a:lnTo>
                      <a:pt x="3" y="19"/>
                    </a:lnTo>
                    <a:lnTo>
                      <a:pt x="2" y="14"/>
                    </a:lnTo>
                    <a:lnTo>
                      <a:pt x="0" y="11"/>
                    </a:lnTo>
                    <a:lnTo>
                      <a:pt x="0" y="10"/>
                    </a:lnTo>
                    <a:lnTo>
                      <a:pt x="0" y="6"/>
                    </a:lnTo>
                    <a:lnTo>
                      <a:pt x="2" y="3"/>
                    </a:lnTo>
                    <a:lnTo>
                      <a:pt x="5" y="0"/>
                    </a:lnTo>
                    <a:lnTo>
                      <a:pt x="7" y="3"/>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2" name="Freeform 64"/>
              <p:cNvSpPr>
                <a:spLocks/>
              </p:cNvSpPr>
              <p:nvPr/>
            </p:nvSpPr>
            <p:spPr bwMode="auto">
              <a:xfrm>
                <a:off x="2615" y="717"/>
                <a:ext cx="48" cy="25"/>
              </a:xfrm>
              <a:custGeom>
                <a:avLst/>
                <a:gdLst>
                  <a:gd name="T0" fmla="*/ 1 w 96"/>
                  <a:gd name="T1" fmla="*/ 0 h 52"/>
                  <a:gd name="T2" fmla="*/ 1 w 96"/>
                  <a:gd name="T3" fmla="*/ 0 h 52"/>
                  <a:gd name="T4" fmla="*/ 1 w 96"/>
                  <a:gd name="T5" fmla="*/ 0 h 52"/>
                  <a:gd name="T6" fmla="*/ 1 w 96"/>
                  <a:gd name="T7" fmla="*/ 0 h 52"/>
                  <a:gd name="T8" fmla="*/ 1 w 96"/>
                  <a:gd name="T9" fmla="*/ 0 h 52"/>
                  <a:gd name="T10" fmla="*/ 1 w 96"/>
                  <a:gd name="T11" fmla="*/ 0 h 52"/>
                  <a:gd name="T12" fmla="*/ 1 w 96"/>
                  <a:gd name="T13" fmla="*/ 0 h 52"/>
                  <a:gd name="T14" fmla="*/ 1 w 96"/>
                  <a:gd name="T15" fmla="*/ 0 h 52"/>
                  <a:gd name="T16" fmla="*/ 1 w 96"/>
                  <a:gd name="T17" fmla="*/ 0 h 52"/>
                  <a:gd name="T18" fmla="*/ 1 w 96"/>
                  <a:gd name="T19" fmla="*/ 0 h 52"/>
                  <a:gd name="T20" fmla="*/ 1 w 96"/>
                  <a:gd name="T21" fmla="*/ 0 h 52"/>
                  <a:gd name="T22" fmla="*/ 1 w 96"/>
                  <a:gd name="T23" fmla="*/ 0 h 52"/>
                  <a:gd name="T24" fmla="*/ 1 w 96"/>
                  <a:gd name="T25" fmla="*/ 0 h 52"/>
                  <a:gd name="T26" fmla="*/ 1 w 96"/>
                  <a:gd name="T27" fmla="*/ 0 h 52"/>
                  <a:gd name="T28" fmla="*/ 1 w 96"/>
                  <a:gd name="T29" fmla="*/ 0 h 52"/>
                  <a:gd name="T30" fmla="*/ 1 w 96"/>
                  <a:gd name="T31" fmla="*/ 0 h 52"/>
                  <a:gd name="T32" fmla="*/ 1 w 96"/>
                  <a:gd name="T33" fmla="*/ 0 h 52"/>
                  <a:gd name="T34" fmla="*/ 1 w 96"/>
                  <a:gd name="T35" fmla="*/ 0 h 52"/>
                  <a:gd name="T36" fmla="*/ 1 w 96"/>
                  <a:gd name="T37" fmla="*/ 0 h 52"/>
                  <a:gd name="T38" fmla="*/ 1 w 96"/>
                  <a:gd name="T39" fmla="*/ 0 h 52"/>
                  <a:gd name="T40" fmla="*/ 1 w 96"/>
                  <a:gd name="T41" fmla="*/ 0 h 52"/>
                  <a:gd name="T42" fmla="*/ 1 w 96"/>
                  <a:gd name="T43" fmla="*/ 0 h 52"/>
                  <a:gd name="T44" fmla="*/ 1 w 96"/>
                  <a:gd name="T45" fmla="*/ 0 h 52"/>
                  <a:gd name="T46" fmla="*/ 1 w 96"/>
                  <a:gd name="T47" fmla="*/ 0 h 52"/>
                  <a:gd name="T48" fmla="*/ 1 w 96"/>
                  <a:gd name="T49" fmla="*/ 0 h 52"/>
                  <a:gd name="T50" fmla="*/ 1 w 96"/>
                  <a:gd name="T51" fmla="*/ 0 h 52"/>
                  <a:gd name="T52" fmla="*/ 1 w 96"/>
                  <a:gd name="T53" fmla="*/ 0 h 52"/>
                  <a:gd name="T54" fmla="*/ 1 w 96"/>
                  <a:gd name="T55" fmla="*/ 0 h 52"/>
                  <a:gd name="T56" fmla="*/ 1 w 96"/>
                  <a:gd name="T57" fmla="*/ 0 h 52"/>
                  <a:gd name="T58" fmla="*/ 1 w 96"/>
                  <a:gd name="T59" fmla="*/ 0 h 52"/>
                  <a:gd name="T60" fmla="*/ 1 w 96"/>
                  <a:gd name="T61" fmla="*/ 0 h 52"/>
                  <a:gd name="T62" fmla="*/ 1 w 96"/>
                  <a:gd name="T63" fmla="*/ 0 h 52"/>
                  <a:gd name="T64" fmla="*/ 1 w 96"/>
                  <a:gd name="T65" fmla="*/ 0 h 52"/>
                  <a:gd name="T66" fmla="*/ 1 w 96"/>
                  <a:gd name="T67" fmla="*/ 0 h 52"/>
                  <a:gd name="T68" fmla="*/ 1 w 96"/>
                  <a:gd name="T69" fmla="*/ 0 h 52"/>
                  <a:gd name="T70" fmla="*/ 1 w 96"/>
                  <a:gd name="T71" fmla="*/ 0 h 52"/>
                  <a:gd name="T72" fmla="*/ 1 w 96"/>
                  <a:gd name="T73" fmla="*/ 0 h 52"/>
                  <a:gd name="T74" fmla="*/ 1 w 96"/>
                  <a:gd name="T75" fmla="*/ 0 h 52"/>
                  <a:gd name="T76" fmla="*/ 1 w 96"/>
                  <a:gd name="T77" fmla="*/ 0 h 52"/>
                  <a:gd name="T78" fmla="*/ 1 w 96"/>
                  <a:gd name="T79" fmla="*/ 0 h 52"/>
                  <a:gd name="T80" fmla="*/ 1 w 96"/>
                  <a:gd name="T81" fmla="*/ 0 h 52"/>
                  <a:gd name="T82" fmla="*/ 0 w 96"/>
                  <a:gd name="T83" fmla="*/ 0 h 52"/>
                  <a:gd name="T84" fmla="*/ 1 w 96"/>
                  <a:gd name="T85" fmla="*/ 0 h 52"/>
                  <a:gd name="T86" fmla="*/ 1 w 96"/>
                  <a:gd name="T87" fmla="*/ 0 h 52"/>
                  <a:gd name="T88" fmla="*/ 1 w 96"/>
                  <a:gd name="T89" fmla="*/ 0 h 52"/>
                  <a:gd name="T90" fmla="*/ 1 w 96"/>
                  <a:gd name="T91" fmla="*/ 0 h 52"/>
                  <a:gd name="T92" fmla="*/ 1 w 96"/>
                  <a:gd name="T93" fmla="*/ 0 h 52"/>
                  <a:gd name="T94" fmla="*/ 1 w 96"/>
                  <a:gd name="T95" fmla="*/ 0 h 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6"/>
                  <a:gd name="T145" fmla="*/ 0 h 52"/>
                  <a:gd name="T146" fmla="*/ 96 w 96"/>
                  <a:gd name="T147" fmla="*/ 52 h 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6" h="52">
                    <a:moveTo>
                      <a:pt x="10" y="5"/>
                    </a:moveTo>
                    <a:lnTo>
                      <a:pt x="11" y="6"/>
                    </a:lnTo>
                    <a:lnTo>
                      <a:pt x="14" y="9"/>
                    </a:lnTo>
                    <a:lnTo>
                      <a:pt x="18" y="10"/>
                    </a:lnTo>
                    <a:lnTo>
                      <a:pt x="23" y="13"/>
                    </a:lnTo>
                    <a:lnTo>
                      <a:pt x="27" y="16"/>
                    </a:lnTo>
                    <a:lnTo>
                      <a:pt x="31" y="19"/>
                    </a:lnTo>
                    <a:lnTo>
                      <a:pt x="36" y="23"/>
                    </a:lnTo>
                    <a:lnTo>
                      <a:pt x="43" y="26"/>
                    </a:lnTo>
                    <a:lnTo>
                      <a:pt x="47" y="27"/>
                    </a:lnTo>
                    <a:lnTo>
                      <a:pt x="54" y="30"/>
                    </a:lnTo>
                    <a:lnTo>
                      <a:pt x="60" y="33"/>
                    </a:lnTo>
                    <a:lnTo>
                      <a:pt x="66" y="36"/>
                    </a:lnTo>
                    <a:lnTo>
                      <a:pt x="71" y="39"/>
                    </a:lnTo>
                    <a:lnTo>
                      <a:pt x="78" y="40"/>
                    </a:lnTo>
                    <a:lnTo>
                      <a:pt x="84" y="42"/>
                    </a:lnTo>
                    <a:lnTo>
                      <a:pt x="90" y="43"/>
                    </a:lnTo>
                    <a:lnTo>
                      <a:pt x="93" y="43"/>
                    </a:lnTo>
                    <a:lnTo>
                      <a:pt x="96" y="45"/>
                    </a:lnTo>
                    <a:lnTo>
                      <a:pt x="96" y="46"/>
                    </a:lnTo>
                    <a:lnTo>
                      <a:pt x="96" y="48"/>
                    </a:lnTo>
                    <a:lnTo>
                      <a:pt x="94" y="49"/>
                    </a:lnTo>
                    <a:lnTo>
                      <a:pt x="93" y="52"/>
                    </a:lnTo>
                    <a:lnTo>
                      <a:pt x="86" y="52"/>
                    </a:lnTo>
                    <a:lnTo>
                      <a:pt x="80" y="52"/>
                    </a:lnTo>
                    <a:lnTo>
                      <a:pt x="74" y="49"/>
                    </a:lnTo>
                    <a:lnTo>
                      <a:pt x="68" y="49"/>
                    </a:lnTo>
                    <a:lnTo>
                      <a:pt x="63" y="46"/>
                    </a:lnTo>
                    <a:lnTo>
                      <a:pt x="57" y="45"/>
                    </a:lnTo>
                    <a:lnTo>
                      <a:pt x="51" y="42"/>
                    </a:lnTo>
                    <a:lnTo>
                      <a:pt x="47" y="40"/>
                    </a:lnTo>
                    <a:lnTo>
                      <a:pt x="41" y="36"/>
                    </a:lnTo>
                    <a:lnTo>
                      <a:pt x="36" y="33"/>
                    </a:lnTo>
                    <a:lnTo>
                      <a:pt x="31" y="29"/>
                    </a:lnTo>
                    <a:lnTo>
                      <a:pt x="26" y="26"/>
                    </a:lnTo>
                    <a:lnTo>
                      <a:pt x="21" y="23"/>
                    </a:lnTo>
                    <a:lnTo>
                      <a:pt x="17" y="19"/>
                    </a:lnTo>
                    <a:lnTo>
                      <a:pt x="11" y="16"/>
                    </a:lnTo>
                    <a:lnTo>
                      <a:pt x="7" y="12"/>
                    </a:lnTo>
                    <a:lnTo>
                      <a:pt x="4" y="9"/>
                    </a:lnTo>
                    <a:lnTo>
                      <a:pt x="1" y="6"/>
                    </a:lnTo>
                    <a:lnTo>
                      <a:pt x="0" y="3"/>
                    </a:lnTo>
                    <a:lnTo>
                      <a:pt x="1" y="2"/>
                    </a:lnTo>
                    <a:lnTo>
                      <a:pt x="1" y="0"/>
                    </a:lnTo>
                    <a:lnTo>
                      <a:pt x="3" y="0"/>
                    </a:lnTo>
                    <a:lnTo>
                      <a:pt x="6" y="2"/>
                    </a:lnTo>
                    <a:lnTo>
                      <a:pt x="10" y="5"/>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3" name="Freeform 65"/>
              <p:cNvSpPr>
                <a:spLocks/>
              </p:cNvSpPr>
              <p:nvPr/>
            </p:nvSpPr>
            <p:spPr bwMode="auto">
              <a:xfrm>
                <a:off x="2573" y="722"/>
                <a:ext cx="44" cy="33"/>
              </a:xfrm>
              <a:custGeom>
                <a:avLst/>
                <a:gdLst>
                  <a:gd name="T0" fmla="*/ 1 w 87"/>
                  <a:gd name="T1" fmla="*/ 0 h 66"/>
                  <a:gd name="T2" fmla="*/ 1 w 87"/>
                  <a:gd name="T3" fmla="*/ 1 h 66"/>
                  <a:gd name="T4" fmla="*/ 1 w 87"/>
                  <a:gd name="T5" fmla="*/ 1 h 66"/>
                  <a:gd name="T6" fmla="*/ 1 w 87"/>
                  <a:gd name="T7" fmla="*/ 1 h 66"/>
                  <a:gd name="T8" fmla="*/ 1 w 87"/>
                  <a:gd name="T9" fmla="*/ 1 h 66"/>
                  <a:gd name="T10" fmla="*/ 1 w 87"/>
                  <a:gd name="T11" fmla="*/ 1 h 66"/>
                  <a:gd name="T12" fmla="*/ 1 w 87"/>
                  <a:gd name="T13" fmla="*/ 1 h 66"/>
                  <a:gd name="T14" fmla="*/ 1 w 87"/>
                  <a:gd name="T15" fmla="*/ 1 h 66"/>
                  <a:gd name="T16" fmla="*/ 1 w 87"/>
                  <a:gd name="T17" fmla="*/ 1 h 66"/>
                  <a:gd name="T18" fmla="*/ 1 w 87"/>
                  <a:gd name="T19" fmla="*/ 1 h 66"/>
                  <a:gd name="T20" fmla="*/ 1 w 87"/>
                  <a:gd name="T21" fmla="*/ 1 h 66"/>
                  <a:gd name="T22" fmla="*/ 1 w 87"/>
                  <a:gd name="T23" fmla="*/ 1 h 66"/>
                  <a:gd name="T24" fmla="*/ 1 w 87"/>
                  <a:gd name="T25" fmla="*/ 1 h 66"/>
                  <a:gd name="T26" fmla="*/ 1 w 87"/>
                  <a:gd name="T27" fmla="*/ 1 h 66"/>
                  <a:gd name="T28" fmla="*/ 1 w 87"/>
                  <a:gd name="T29" fmla="*/ 1 h 66"/>
                  <a:gd name="T30" fmla="*/ 1 w 87"/>
                  <a:gd name="T31" fmla="*/ 1 h 66"/>
                  <a:gd name="T32" fmla="*/ 1 w 87"/>
                  <a:gd name="T33" fmla="*/ 1 h 66"/>
                  <a:gd name="T34" fmla="*/ 1 w 87"/>
                  <a:gd name="T35" fmla="*/ 1 h 66"/>
                  <a:gd name="T36" fmla="*/ 1 w 87"/>
                  <a:gd name="T37" fmla="*/ 1 h 66"/>
                  <a:gd name="T38" fmla="*/ 1 w 87"/>
                  <a:gd name="T39" fmla="*/ 1 h 66"/>
                  <a:gd name="T40" fmla="*/ 1 w 87"/>
                  <a:gd name="T41" fmla="*/ 1 h 66"/>
                  <a:gd name="T42" fmla="*/ 1 w 87"/>
                  <a:gd name="T43" fmla="*/ 1 h 66"/>
                  <a:gd name="T44" fmla="*/ 1 w 87"/>
                  <a:gd name="T45" fmla="*/ 1 h 66"/>
                  <a:gd name="T46" fmla="*/ 1 w 87"/>
                  <a:gd name="T47" fmla="*/ 1 h 66"/>
                  <a:gd name="T48" fmla="*/ 1 w 87"/>
                  <a:gd name="T49" fmla="*/ 1 h 66"/>
                  <a:gd name="T50" fmla="*/ 1 w 87"/>
                  <a:gd name="T51" fmla="*/ 1 h 66"/>
                  <a:gd name="T52" fmla="*/ 1 w 87"/>
                  <a:gd name="T53" fmla="*/ 1 h 66"/>
                  <a:gd name="T54" fmla="*/ 1 w 87"/>
                  <a:gd name="T55" fmla="*/ 1 h 66"/>
                  <a:gd name="T56" fmla="*/ 1 w 87"/>
                  <a:gd name="T57" fmla="*/ 1 h 66"/>
                  <a:gd name="T58" fmla="*/ 1 w 87"/>
                  <a:gd name="T59" fmla="*/ 1 h 66"/>
                  <a:gd name="T60" fmla="*/ 1 w 87"/>
                  <a:gd name="T61" fmla="*/ 1 h 66"/>
                  <a:gd name="T62" fmla="*/ 1 w 87"/>
                  <a:gd name="T63" fmla="*/ 1 h 66"/>
                  <a:gd name="T64" fmla="*/ 1 w 87"/>
                  <a:gd name="T65" fmla="*/ 1 h 66"/>
                  <a:gd name="T66" fmla="*/ 1 w 87"/>
                  <a:gd name="T67" fmla="*/ 1 h 66"/>
                  <a:gd name="T68" fmla="*/ 1 w 87"/>
                  <a:gd name="T69" fmla="*/ 1 h 66"/>
                  <a:gd name="T70" fmla="*/ 1 w 87"/>
                  <a:gd name="T71" fmla="*/ 1 h 66"/>
                  <a:gd name="T72" fmla="*/ 1 w 87"/>
                  <a:gd name="T73" fmla="*/ 1 h 66"/>
                  <a:gd name="T74" fmla="*/ 0 w 87"/>
                  <a:gd name="T75" fmla="*/ 1 h 66"/>
                  <a:gd name="T76" fmla="*/ 1 w 87"/>
                  <a:gd name="T77" fmla="*/ 1 h 66"/>
                  <a:gd name="T78" fmla="*/ 1 w 87"/>
                  <a:gd name="T79" fmla="*/ 0 h 66"/>
                  <a:gd name="T80" fmla="*/ 1 w 87"/>
                  <a:gd name="T81" fmla="*/ 0 h 66"/>
                  <a:gd name="T82" fmla="*/ 1 w 87"/>
                  <a:gd name="T83" fmla="*/ 0 h 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7"/>
                  <a:gd name="T127" fmla="*/ 0 h 66"/>
                  <a:gd name="T128" fmla="*/ 87 w 87"/>
                  <a:gd name="T129" fmla="*/ 66 h 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7" h="66">
                    <a:moveTo>
                      <a:pt x="7" y="0"/>
                    </a:moveTo>
                    <a:lnTo>
                      <a:pt x="11" y="4"/>
                    </a:lnTo>
                    <a:lnTo>
                      <a:pt x="16" y="8"/>
                    </a:lnTo>
                    <a:lnTo>
                      <a:pt x="20" y="13"/>
                    </a:lnTo>
                    <a:lnTo>
                      <a:pt x="26" y="17"/>
                    </a:lnTo>
                    <a:lnTo>
                      <a:pt x="30" y="21"/>
                    </a:lnTo>
                    <a:lnTo>
                      <a:pt x="34" y="25"/>
                    </a:lnTo>
                    <a:lnTo>
                      <a:pt x="39" y="30"/>
                    </a:lnTo>
                    <a:lnTo>
                      <a:pt x="44" y="34"/>
                    </a:lnTo>
                    <a:lnTo>
                      <a:pt x="49" y="37"/>
                    </a:lnTo>
                    <a:lnTo>
                      <a:pt x="53" y="41"/>
                    </a:lnTo>
                    <a:lnTo>
                      <a:pt x="57" y="44"/>
                    </a:lnTo>
                    <a:lnTo>
                      <a:pt x="63" y="47"/>
                    </a:lnTo>
                    <a:lnTo>
                      <a:pt x="69" y="50"/>
                    </a:lnTo>
                    <a:lnTo>
                      <a:pt x="73" y="53"/>
                    </a:lnTo>
                    <a:lnTo>
                      <a:pt x="79" y="56"/>
                    </a:lnTo>
                    <a:lnTo>
                      <a:pt x="84" y="58"/>
                    </a:lnTo>
                    <a:lnTo>
                      <a:pt x="87" y="60"/>
                    </a:lnTo>
                    <a:lnTo>
                      <a:pt x="87" y="63"/>
                    </a:lnTo>
                    <a:lnTo>
                      <a:pt x="84" y="64"/>
                    </a:lnTo>
                    <a:lnTo>
                      <a:pt x="80" y="66"/>
                    </a:lnTo>
                    <a:lnTo>
                      <a:pt x="74" y="63"/>
                    </a:lnTo>
                    <a:lnTo>
                      <a:pt x="69" y="60"/>
                    </a:lnTo>
                    <a:lnTo>
                      <a:pt x="63" y="58"/>
                    </a:lnTo>
                    <a:lnTo>
                      <a:pt x="59" y="56"/>
                    </a:lnTo>
                    <a:lnTo>
                      <a:pt x="53" y="53"/>
                    </a:lnTo>
                    <a:lnTo>
                      <a:pt x="49" y="50"/>
                    </a:lnTo>
                    <a:lnTo>
                      <a:pt x="43" y="47"/>
                    </a:lnTo>
                    <a:lnTo>
                      <a:pt x="39" y="43"/>
                    </a:lnTo>
                    <a:lnTo>
                      <a:pt x="33" y="40"/>
                    </a:lnTo>
                    <a:lnTo>
                      <a:pt x="28" y="36"/>
                    </a:lnTo>
                    <a:lnTo>
                      <a:pt x="24" y="31"/>
                    </a:lnTo>
                    <a:lnTo>
                      <a:pt x="20" y="27"/>
                    </a:lnTo>
                    <a:lnTo>
                      <a:pt x="14" y="23"/>
                    </a:lnTo>
                    <a:lnTo>
                      <a:pt x="11" y="18"/>
                    </a:lnTo>
                    <a:lnTo>
                      <a:pt x="7" y="13"/>
                    </a:lnTo>
                    <a:lnTo>
                      <a:pt x="3" y="8"/>
                    </a:lnTo>
                    <a:lnTo>
                      <a:pt x="0" y="4"/>
                    </a:lnTo>
                    <a:lnTo>
                      <a:pt x="1" y="1"/>
                    </a:lnTo>
                    <a:lnTo>
                      <a:pt x="4" y="0"/>
                    </a:lnTo>
                    <a:lnTo>
                      <a:pt x="7" y="0"/>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4" name="Freeform 66"/>
              <p:cNvSpPr>
                <a:spLocks/>
              </p:cNvSpPr>
              <p:nvPr/>
            </p:nvSpPr>
            <p:spPr bwMode="auto">
              <a:xfrm>
                <a:off x="2546" y="717"/>
                <a:ext cx="16" cy="43"/>
              </a:xfrm>
              <a:custGeom>
                <a:avLst/>
                <a:gdLst>
                  <a:gd name="T0" fmla="*/ 0 w 33"/>
                  <a:gd name="T1" fmla="*/ 1 h 86"/>
                  <a:gd name="T2" fmla="*/ 0 w 33"/>
                  <a:gd name="T3" fmla="*/ 0 h 86"/>
                  <a:gd name="T4" fmla="*/ 0 w 33"/>
                  <a:gd name="T5" fmla="*/ 1 h 86"/>
                  <a:gd name="T6" fmla="*/ 0 w 33"/>
                  <a:gd name="T7" fmla="*/ 1 h 86"/>
                  <a:gd name="T8" fmla="*/ 0 w 33"/>
                  <a:gd name="T9" fmla="*/ 1 h 86"/>
                  <a:gd name="T10" fmla="*/ 0 w 33"/>
                  <a:gd name="T11" fmla="*/ 1 h 86"/>
                  <a:gd name="T12" fmla="*/ 0 w 33"/>
                  <a:gd name="T13" fmla="*/ 1 h 86"/>
                  <a:gd name="T14" fmla="*/ 0 w 33"/>
                  <a:gd name="T15" fmla="*/ 1 h 86"/>
                  <a:gd name="T16" fmla="*/ 0 w 33"/>
                  <a:gd name="T17" fmla="*/ 1 h 86"/>
                  <a:gd name="T18" fmla="*/ 0 w 33"/>
                  <a:gd name="T19" fmla="*/ 1 h 86"/>
                  <a:gd name="T20" fmla="*/ 0 w 33"/>
                  <a:gd name="T21" fmla="*/ 1 h 86"/>
                  <a:gd name="T22" fmla="*/ 0 w 33"/>
                  <a:gd name="T23" fmla="*/ 1 h 86"/>
                  <a:gd name="T24" fmla="*/ 0 w 33"/>
                  <a:gd name="T25" fmla="*/ 1 h 86"/>
                  <a:gd name="T26" fmla="*/ 0 w 33"/>
                  <a:gd name="T27" fmla="*/ 1 h 86"/>
                  <a:gd name="T28" fmla="*/ 0 w 33"/>
                  <a:gd name="T29" fmla="*/ 1 h 86"/>
                  <a:gd name="T30" fmla="*/ 0 w 33"/>
                  <a:gd name="T31" fmla="*/ 1 h 86"/>
                  <a:gd name="T32" fmla="*/ 0 w 33"/>
                  <a:gd name="T33" fmla="*/ 1 h 86"/>
                  <a:gd name="T34" fmla="*/ 0 w 33"/>
                  <a:gd name="T35" fmla="*/ 1 h 86"/>
                  <a:gd name="T36" fmla="*/ 0 w 33"/>
                  <a:gd name="T37" fmla="*/ 1 h 86"/>
                  <a:gd name="T38" fmla="*/ 0 w 33"/>
                  <a:gd name="T39" fmla="*/ 1 h 86"/>
                  <a:gd name="T40" fmla="*/ 0 w 33"/>
                  <a:gd name="T41" fmla="*/ 1 h 86"/>
                  <a:gd name="T42" fmla="*/ 0 w 33"/>
                  <a:gd name="T43" fmla="*/ 1 h 86"/>
                  <a:gd name="T44" fmla="*/ 0 w 33"/>
                  <a:gd name="T45" fmla="*/ 1 h 86"/>
                  <a:gd name="T46" fmla="*/ 0 w 33"/>
                  <a:gd name="T47" fmla="*/ 1 h 86"/>
                  <a:gd name="T48" fmla="*/ 0 w 33"/>
                  <a:gd name="T49" fmla="*/ 1 h 86"/>
                  <a:gd name="T50" fmla="*/ 0 w 33"/>
                  <a:gd name="T51" fmla="*/ 1 h 86"/>
                  <a:gd name="T52" fmla="*/ 0 w 33"/>
                  <a:gd name="T53" fmla="*/ 1 h 86"/>
                  <a:gd name="T54" fmla="*/ 0 w 33"/>
                  <a:gd name="T55" fmla="*/ 1 h 86"/>
                  <a:gd name="T56" fmla="*/ 0 w 33"/>
                  <a:gd name="T57" fmla="*/ 1 h 86"/>
                  <a:gd name="T58" fmla="*/ 0 w 33"/>
                  <a:gd name="T59" fmla="*/ 1 h 86"/>
                  <a:gd name="T60" fmla="*/ 0 w 33"/>
                  <a:gd name="T61" fmla="*/ 1 h 86"/>
                  <a:gd name="T62" fmla="*/ 0 w 33"/>
                  <a:gd name="T63" fmla="*/ 1 h 86"/>
                  <a:gd name="T64" fmla="*/ 0 w 33"/>
                  <a:gd name="T65" fmla="*/ 1 h 86"/>
                  <a:gd name="T66" fmla="*/ 0 w 33"/>
                  <a:gd name="T67" fmla="*/ 1 h 86"/>
                  <a:gd name="T68" fmla="*/ 0 w 33"/>
                  <a:gd name="T69" fmla="*/ 1 h 86"/>
                  <a:gd name="T70" fmla="*/ 0 w 33"/>
                  <a:gd name="T71" fmla="*/ 1 h 86"/>
                  <a:gd name="T72" fmla="*/ 0 w 33"/>
                  <a:gd name="T73" fmla="*/ 1 h 86"/>
                  <a:gd name="T74" fmla="*/ 0 w 33"/>
                  <a:gd name="T75" fmla="*/ 1 h 86"/>
                  <a:gd name="T76" fmla="*/ 0 w 33"/>
                  <a:gd name="T77" fmla="*/ 1 h 86"/>
                  <a:gd name="T78" fmla="*/ 0 w 33"/>
                  <a:gd name="T79" fmla="*/ 1 h 86"/>
                  <a:gd name="T80" fmla="*/ 0 w 33"/>
                  <a:gd name="T81" fmla="*/ 1 h 86"/>
                  <a:gd name="T82" fmla="*/ 0 w 33"/>
                  <a:gd name="T83" fmla="*/ 1 h 86"/>
                  <a:gd name="T84" fmla="*/ 0 w 33"/>
                  <a:gd name="T85" fmla="*/ 1 h 86"/>
                  <a:gd name="T86" fmla="*/ 0 w 33"/>
                  <a:gd name="T87" fmla="*/ 1 h 86"/>
                  <a:gd name="T88" fmla="*/ 0 w 33"/>
                  <a:gd name="T89" fmla="*/ 1 h 86"/>
                  <a:gd name="T90" fmla="*/ 0 w 33"/>
                  <a:gd name="T91" fmla="*/ 1 h 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
                  <a:gd name="T139" fmla="*/ 0 h 86"/>
                  <a:gd name="T140" fmla="*/ 33 w 33"/>
                  <a:gd name="T141" fmla="*/ 86 h 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 h="86">
                    <a:moveTo>
                      <a:pt x="26" y="3"/>
                    </a:moveTo>
                    <a:lnTo>
                      <a:pt x="29" y="0"/>
                    </a:lnTo>
                    <a:lnTo>
                      <a:pt x="30" y="2"/>
                    </a:lnTo>
                    <a:lnTo>
                      <a:pt x="32" y="5"/>
                    </a:lnTo>
                    <a:lnTo>
                      <a:pt x="33" y="9"/>
                    </a:lnTo>
                    <a:lnTo>
                      <a:pt x="33" y="12"/>
                    </a:lnTo>
                    <a:lnTo>
                      <a:pt x="33" y="16"/>
                    </a:lnTo>
                    <a:lnTo>
                      <a:pt x="32" y="20"/>
                    </a:lnTo>
                    <a:lnTo>
                      <a:pt x="32" y="25"/>
                    </a:lnTo>
                    <a:lnTo>
                      <a:pt x="30" y="29"/>
                    </a:lnTo>
                    <a:lnTo>
                      <a:pt x="29" y="35"/>
                    </a:lnTo>
                    <a:lnTo>
                      <a:pt x="27" y="39"/>
                    </a:lnTo>
                    <a:lnTo>
                      <a:pt x="27" y="45"/>
                    </a:lnTo>
                    <a:lnTo>
                      <a:pt x="24" y="49"/>
                    </a:lnTo>
                    <a:lnTo>
                      <a:pt x="23" y="55"/>
                    </a:lnTo>
                    <a:lnTo>
                      <a:pt x="22" y="59"/>
                    </a:lnTo>
                    <a:lnTo>
                      <a:pt x="20" y="65"/>
                    </a:lnTo>
                    <a:lnTo>
                      <a:pt x="17" y="69"/>
                    </a:lnTo>
                    <a:lnTo>
                      <a:pt x="16" y="72"/>
                    </a:lnTo>
                    <a:lnTo>
                      <a:pt x="14" y="76"/>
                    </a:lnTo>
                    <a:lnTo>
                      <a:pt x="13" y="80"/>
                    </a:lnTo>
                    <a:lnTo>
                      <a:pt x="10" y="82"/>
                    </a:lnTo>
                    <a:lnTo>
                      <a:pt x="7" y="85"/>
                    </a:lnTo>
                    <a:lnTo>
                      <a:pt x="4" y="86"/>
                    </a:lnTo>
                    <a:lnTo>
                      <a:pt x="2" y="86"/>
                    </a:lnTo>
                    <a:lnTo>
                      <a:pt x="0" y="85"/>
                    </a:lnTo>
                    <a:lnTo>
                      <a:pt x="0" y="82"/>
                    </a:lnTo>
                    <a:lnTo>
                      <a:pt x="0" y="79"/>
                    </a:lnTo>
                    <a:lnTo>
                      <a:pt x="2" y="76"/>
                    </a:lnTo>
                    <a:lnTo>
                      <a:pt x="4" y="72"/>
                    </a:lnTo>
                    <a:lnTo>
                      <a:pt x="7" y="68"/>
                    </a:lnTo>
                    <a:lnTo>
                      <a:pt x="9" y="63"/>
                    </a:lnTo>
                    <a:lnTo>
                      <a:pt x="10" y="59"/>
                    </a:lnTo>
                    <a:lnTo>
                      <a:pt x="13" y="55"/>
                    </a:lnTo>
                    <a:lnTo>
                      <a:pt x="14" y="49"/>
                    </a:lnTo>
                    <a:lnTo>
                      <a:pt x="16" y="45"/>
                    </a:lnTo>
                    <a:lnTo>
                      <a:pt x="17" y="40"/>
                    </a:lnTo>
                    <a:lnTo>
                      <a:pt x="17" y="35"/>
                    </a:lnTo>
                    <a:lnTo>
                      <a:pt x="19" y="30"/>
                    </a:lnTo>
                    <a:lnTo>
                      <a:pt x="20" y="26"/>
                    </a:lnTo>
                    <a:lnTo>
                      <a:pt x="22" y="20"/>
                    </a:lnTo>
                    <a:lnTo>
                      <a:pt x="22" y="16"/>
                    </a:lnTo>
                    <a:lnTo>
                      <a:pt x="23" y="12"/>
                    </a:lnTo>
                    <a:lnTo>
                      <a:pt x="24" y="7"/>
                    </a:lnTo>
                    <a:lnTo>
                      <a:pt x="26" y="3"/>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5" name="Freeform 67"/>
              <p:cNvSpPr>
                <a:spLocks/>
              </p:cNvSpPr>
              <p:nvPr/>
            </p:nvSpPr>
            <p:spPr bwMode="auto">
              <a:xfrm>
                <a:off x="2619" y="708"/>
                <a:ext cx="14" cy="30"/>
              </a:xfrm>
              <a:custGeom>
                <a:avLst/>
                <a:gdLst>
                  <a:gd name="T0" fmla="*/ 0 w 29"/>
                  <a:gd name="T1" fmla="*/ 1 h 60"/>
                  <a:gd name="T2" fmla="*/ 0 w 29"/>
                  <a:gd name="T3" fmla="*/ 0 h 60"/>
                  <a:gd name="T4" fmla="*/ 0 w 29"/>
                  <a:gd name="T5" fmla="*/ 0 h 60"/>
                  <a:gd name="T6" fmla="*/ 0 w 29"/>
                  <a:gd name="T7" fmla="*/ 1 h 60"/>
                  <a:gd name="T8" fmla="*/ 0 w 29"/>
                  <a:gd name="T9" fmla="*/ 1 h 60"/>
                  <a:gd name="T10" fmla="*/ 0 w 29"/>
                  <a:gd name="T11" fmla="*/ 1 h 60"/>
                  <a:gd name="T12" fmla="*/ 0 w 29"/>
                  <a:gd name="T13" fmla="*/ 1 h 60"/>
                  <a:gd name="T14" fmla="*/ 0 w 29"/>
                  <a:gd name="T15" fmla="*/ 1 h 60"/>
                  <a:gd name="T16" fmla="*/ 0 w 29"/>
                  <a:gd name="T17" fmla="*/ 1 h 60"/>
                  <a:gd name="T18" fmla="*/ 0 w 29"/>
                  <a:gd name="T19" fmla="*/ 1 h 60"/>
                  <a:gd name="T20" fmla="*/ 0 w 29"/>
                  <a:gd name="T21" fmla="*/ 1 h 60"/>
                  <a:gd name="T22" fmla="*/ 0 w 29"/>
                  <a:gd name="T23" fmla="*/ 1 h 60"/>
                  <a:gd name="T24" fmla="*/ 0 w 29"/>
                  <a:gd name="T25" fmla="*/ 1 h 60"/>
                  <a:gd name="T26" fmla="*/ 0 w 29"/>
                  <a:gd name="T27" fmla="*/ 1 h 60"/>
                  <a:gd name="T28" fmla="*/ 0 w 29"/>
                  <a:gd name="T29" fmla="*/ 1 h 60"/>
                  <a:gd name="T30" fmla="*/ 0 w 29"/>
                  <a:gd name="T31" fmla="*/ 1 h 60"/>
                  <a:gd name="T32" fmla="*/ 0 w 29"/>
                  <a:gd name="T33" fmla="*/ 1 h 60"/>
                  <a:gd name="T34" fmla="*/ 0 w 29"/>
                  <a:gd name="T35" fmla="*/ 1 h 60"/>
                  <a:gd name="T36" fmla="*/ 0 w 29"/>
                  <a:gd name="T37" fmla="*/ 1 h 60"/>
                  <a:gd name="T38" fmla="*/ 0 w 29"/>
                  <a:gd name="T39" fmla="*/ 1 h 60"/>
                  <a:gd name="T40" fmla="*/ 0 w 29"/>
                  <a:gd name="T41" fmla="*/ 1 h 60"/>
                  <a:gd name="T42" fmla="*/ 0 w 29"/>
                  <a:gd name="T43" fmla="*/ 1 h 60"/>
                  <a:gd name="T44" fmla="*/ 0 w 29"/>
                  <a:gd name="T45" fmla="*/ 1 h 60"/>
                  <a:gd name="T46" fmla="*/ 0 w 29"/>
                  <a:gd name="T47" fmla="*/ 1 h 60"/>
                  <a:gd name="T48" fmla="*/ 0 w 29"/>
                  <a:gd name="T49" fmla="*/ 1 h 60"/>
                  <a:gd name="T50" fmla="*/ 0 w 29"/>
                  <a:gd name="T51" fmla="*/ 1 h 60"/>
                  <a:gd name="T52" fmla="*/ 0 w 29"/>
                  <a:gd name="T53" fmla="*/ 1 h 60"/>
                  <a:gd name="T54" fmla="*/ 0 w 29"/>
                  <a:gd name="T55" fmla="*/ 1 h 60"/>
                  <a:gd name="T56" fmla="*/ 0 w 29"/>
                  <a:gd name="T57" fmla="*/ 1 h 60"/>
                  <a:gd name="T58" fmla="*/ 0 w 29"/>
                  <a:gd name="T59" fmla="*/ 1 h 60"/>
                  <a:gd name="T60" fmla="*/ 0 w 29"/>
                  <a:gd name="T61" fmla="*/ 1 h 60"/>
                  <a:gd name="T62" fmla="*/ 0 w 29"/>
                  <a:gd name="T63" fmla="*/ 1 h 60"/>
                  <a:gd name="T64" fmla="*/ 0 w 29"/>
                  <a:gd name="T65" fmla="*/ 1 h 60"/>
                  <a:gd name="T66" fmla="*/ 0 w 29"/>
                  <a:gd name="T67" fmla="*/ 1 h 60"/>
                  <a:gd name="T68" fmla="*/ 0 w 29"/>
                  <a:gd name="T69" fmla="*/ 1 h 60"/>
                  <a:gd name="T70" fmla="*/ 0 w 29"/>
                  <a:gd name="T71" fmla="*/ 1 h 60"/>
                  <a:gd name="T72" fmla="*/ 0 w 29"/>
                  <a:gd name="T73" fmla="*/ 1 h 60"/>
                  <a:gd name="T74" fmla="*/ 0 w 29"/>
                  <a:gd name="T75" fmla="*/ 1 h 60"/>
                  <a:gd name="T76" fmla="*/ 0 w 29"/>
                  <a:gd name="T77" fmla="*/ 1 h 60"/>
                  <a:gd name="T78" fmla="*/ 0 w 29"/>
                  <a:gd name="T79" fmla="*/ 1 h 60"/>
                  <a:gd name="T80" fmla="*/ 0 w 29"/>
                  <a:gd name="T81" fmla="*/ 1 h 60"/>
                  <a:gd name="T82" fmla="*/ 0 w 29"/>
                  <a:gd name="T83" fmla="*/ 1 h 6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
                  <a:gd name="T127" fmla="*/ 0 h 60"/>
                  <a:gd name="T128" fmla="*/ 29 w 29"/>
                  <a:gd name="T129" fmla="*/ 60 h 6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 h="60">
                    <a:moveTo>
                      <a:pt x="22" y="4"/>
                    </a:moveTo>
                    <a:lnTo>
                      <a:pt x="25" y="0"/>
                    </a:lnTo>
                    <a:lnTo>
                      <a:pt x="28" y="0"/>
                    </a:lnTo>
                    <a:lnTo>
                      <a:pt x="28" y="2"/>
                    </a:lnTo>
                    <a:lnTo>
                      <a:pt x="29" y="3"/>
                    </a:lnTo>
                    <a:lnTo>
                      <a:pt x="29" y="6"/>
                    </a:lnTo>
                    <a:lnTo>
                      <a:pt x="29" y="9"/>
                    </a:lnTo>
                    <a:lnTo>
                      <a:pt x="28" y="12"/>
                    </a:lnTo>
                    <a:lnTo>
                      <a:pt x="28" y="14"/>
                    </a:lnTo>
                    <a:lnTo>
                      <a:pt x="26" y="17"/>
                    </a:lnTo>
                    <a:lnTo>
                      <a:pt x="26" y="20"/>
                    </a:lnTo>
                    <a:lnTo>
                      <a:pt x="25" y="24"/>
                    </a:lnTo>
                    <a:lnTo>
                      <a:pt x="23" y="27"/>
                    </a:lnTo>
                    <a:lnTo>
                      <a:pt x="20" y="30"/>
                    </a:lnTo>
                    <a:lnTo>
                      <a:pt x="20" y="34"/>
                    </a:lnTo>
                    <a:lnTo>
                      <a:pt x="18" y="37"/>
                    </a:lnTo>
                    <a:lnTo>
                      <a:pt x="16" y="42"/>
                    </a:lnTo>
                    <a:lnTo>
                      <a:pt x="15" y="44"/>
                    </a:lnTo>
                    <a:lnTo>
                      <a:pt x="13" y="47"/>
                    </a:lnTo>
                    <a:lnTo>
                      <a:pt x="12" y="50"/>
                    </a:lnTo>
                    <a:lnTo>
                      <a:pt x="10" y="53"/>
                    </a:lnTo>
                    <a:lnTo>
                      <a:pt x="9" y="56"/>
                    </a:lnTo>
                    <a:lnTo>
                      <a:pt x="8" y="57"/>
                    </a:lnTo>
                    <a:lnTo>
                      <a:pt x="3" y="60"/>
                    </a:lnTo>
                    <a:lnTo>
                      <a:pt x="2" y="59"/>
                    </a:lnTo>
                    <a:lnTo>
                      <a:pt x="0" y="54"/>
                    </a:lnTo>
                    <a:lnTo>
                      <a:pt x="2" y="50"/>
                    </a:lnTo>
                    <a:lnTo>
                      <a:pt x="2" y="46"/>
                    </a:lnTo>
                    <a:lnTo>
                      <a:pt x="3" y="43"/>
                    </a:lnTo>
                    <a:lnTo>
                      <a:pt x="5" y="40"/>
                    </a:lnTo>
                    <a:lnTo>
                      <a:pt x="6" y="37"/>
                    </a:lnTo>
                    <a:lnTo>
                      <a:pt x="9" y="32"/>
                    </a:lnTo>
                    <a:lnTo>
                      <a:pt x="12" y="27"/>
                    </a:lnTo>
                    <a:lnTo>
                      <a:pt x="12" y="24"/>
                    </a:lnTo>
                    <a:lnTo>
                      <a:pt x="13" y="22"/>
                    </a:lnTo>
                    <a:lnTo>
                      <a:pt x="15" y="19"/>
                    </a:lnTo>
                    <a:lnTo>
                      <a:pt x="16" y="16"/>
                    </a:lnTo>
                    <a:lnTo>
                      <a:pt x="18" y="13"/>
                    </a:lnTo>
                    <a:lnTo>
                      <a:pt x="19" y="10"/>
                    </a:lnTo>
                    <a:lnTo>
                      <a:pt x="20" y="7"/>
                    </a:lnTo>
                    <a:lnTo>
                      <a:pt x="22" y="4"/>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6" name="Freeform 68"/>
              <p:cNvSpPr>
                <a:spLocks/>
              </p:cNvSpPr>
              <p:nvPr/>
            </p:nvSpPr>
            <p:spPr bwMode="auto">
              <a:xfrm>
                <a:off x="2585" y="717"/>
                <a:ext cx="25" cy="44"/>
              </a:xfrm>
              <a:custGeom>
                <a:avLst/>
                <a:gdLst>
                  <a:gd name="T0" fmla="*/ 1 w 50"/>
                  <a:gd name="T1" fmla="*/ 1 h 87"/>
                  <a:gd name="T2" fmla="*/ 1 w 50"/>
                  <a:gd name="T3" fmla="*/ 0 h 87"/>
                  <a:gd name="T4" fmla="*/ 1 w 50"/>
                  <a:gd name="T5" fmla="*/ 0 h 87"/>
                  <a:gd name="T6" fmla="*/ 1 w 50"/>
                  <a:gd name="T7" fmla="*/ 0 h 87"/>
                  <a:gd name="T8" fmla="*/ 1 w 50"/>
                  <a:gd name="T9" fmla="*/ 1 h 87"/>
                  <a:gd name="T10" fmla="*/ 1 w 50"/>
                  <a:gd name="T11" fmla="*/ 1 h 87"/>
                  <a:gd name="T12" fmla="*/ 1 w 50"/>
                  <a:gd name="T13" fmla="*/ 1 h 87"/>
                  <a:gd name="T14" fmla="*/ 1 w 50"/>
                  <a:gd name="T15" fmla="*/ 1 h 87"/>
                  <a:gd name="T16" fmla="*/ 1 w 50"/>
                  <a:gd name="T17" fmla="*/ 1 h 87"/>
                  <a:gd name="T18" fmla="*/ 1 w 50"/>
                  <a:gd name="T19" fmla="*/ 1 h 87"/>
                  <a:gd name="T20" fmla="*/ 1 w 50"/>
                  <a:gd name="T21" fmla="*/ 1 h 87"/>
                  <a:gd name="T22" fmla="*/ 1 w 50"/>
                  <a:gd name="T23" fmla="*/ 1 h 87"/>
                  <a:gd name="T24" fmla="*/ 1 w 50"/>
                  <a:gd name="T25" fmla="*/ 1 h 87"/>
                  <a:gd name="T26" fmla="*/ 1 w 50"/>
                  <a:gd name="T27" fmla="*/ 1 h 87"/>
                  <a:gd name="T28" fmla="*/ 1 w 50"/>
                  <a:gd name="T29" fmla="*/ 1 h 87"/>
                  <a:gd name="T30" fmla="*/ 1 w 50"/>
                  <a:gd name="T31" fmla="*/ 1 h 87"/>
                  <a:gd name="T32" fmla="*/ 1 w 50"/>
                  <a:gd name="T33" fmla="*/ 1 h 87"/>
                  <a:gd name="T34" fmla="*/ 1 w 50"/>
                  <a:gd name="T35" fmla="*/ 1 h 87"/>
                  <a:gd name="T36" fmla="*/ 1 w 50"/>
                  <a:gd name="T37" fmla="*/ 1 h 87"/>
                  <a:gd name="T38" fmla="*/ 1 w 50"/>
                  <a:gd name="T39" fmla="*/ 1 h 87"/>
                  <a:gd name="T40" fmla="*/ 1 w 50"/>
                  <a:gd name="T41" fmla="*/ 1 h 87"/>
                  <a:gd name="T42" fmla="*/ 1 w 50"/>
                  <a:gd name="T43" fmla="*/ 1 h 87"/>
                  <a:gd name="T44" fmla="*/ 1 w 50"/>
                  <a:gd name="T45" fmla="*/ 1 h 87"/>
                  <a:gd name="T46" fmla="*/ 1 w 50"/>
                  <a:gd name="T47" fmla="*/ 1 h 87"/>
                  <a:gd name="T48" fmla="*/ 1 w 50"/>
                  <a:gd name="T49" fmla="*/ 1 h 87"/>
                  <a:gd name="T50" fmla="*/ 1 w 50"/>
                  <a:gd name="T51" fmla="*/ 1 h 87"/>
                  <a:gd name="T52" fmla="*/ 1 w 50"/>
                  <a:gd name="T53" fmla="*/ 1 h 87"/>
                  <a:gd name="T54" fmla="*/ 1 w 50"/>
                  <a:gd name="T55" fmla="*/ 1 h 87"/>
                  <a:gd name="T56" fmla="*/ 0 w 50"/>
                  <a:gd name="T57" fmla="*/ 1 h 87"/>
                  <a:gd name="T58" fmla="*/ 1 w 50"/>
                  <a:gd name="T59" fmla="*/ 1 h 87"/>
                  <a:gd name="T60" fmla="*/ 1 w 50"/>
                  <a:gd name="T61" fmla="*/ 1 h 87"/>
                  <a:gd name="T62" fmla="*/ 1 w 50"/>
                  <a:gd name="T63" fmla="*/ 1 h 87"/>
                  <a:gd name="T64" fmla="*/ 1 w 50"/>
                  <a:gd name="T65" fmla="*/ 1 h 87"/>
                  <a:gd name="T66" fmla="*/ 1 w 50"/>
                  <a:gd name="T67" fmla="*/ 1 h 87"/>
                  <a:gd name="T68" fmla="*/ 1 w 50"/>
                  <a:gd name="T69" fmla="*/ 1 h 87"/>
                  <a:gd name="T70" fmla="*/ 1 w 50"/>
                  <a:gd name="T71" fmla="*/ 1 h 87"/>
                  <a:gd name="T72" fmla="*/ 1 w 50"/>
                  <a:gd name="T73" fmla="*/ 1 h 87"/>
                  <a:gd name="T74" fmla="*/ 1 w 50"/>
                  <a:gd name="T75" fmla="*/ 1 h 87"/>
                  <a:gd name="T76" fmla="*/ 1 w 50"/>
                  <a:gd name="T77" fmla="*/ 1 h 87"/>
                  <a:gd name="T78" fmla="*/ 1 w 50"/>
                  <a:gd name="T79" fmla="*/ 1 h 87"/>
                  <a:gd name="T80" fmla="*/ 1 w 50"/>
                  <a:gd name="T81" fmla="*/ 1 h 87"/>
                  <a:gd name="T82" fmla="*/ 1 w 50"/>
                  <a:gd name="T83" fmla="*/ 1 h 87"/>
                  <a:gd name="T84" fmla="*/ 1 w 50"/>
                  <a:gd name="T85" fmla="*/ 1 h 87"/>
                  <a:gd name="T86" fmla="*/ 1 w 50"/>
                  <a:gd name="T87" fmla="*/ 1 h 87"/>
                  <a:gd name="T88" fmla="*/ 1 w 50"/>
                  <a:gd name="T89" fmla="*/ 1 h 87"/>
                  <a:gd name="T90" fmla="*/ 1 w 50"/>
                  <a:gd name="T91" fmla="*/ 1 h 8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0"/>
                  <a:gd name="T139" fmla="*/ 0 h 87"/>
                  <a:gd name="T140" fmla="*/ 50 w 50"/>
                  <a:gd name="T141" fmla="*/ 87 h 8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0" h="87">
                    <a:moveTo>
                      <a:pt x="43" y="1"/>
                    </a:moveTo>
                    <a:lnTo>
                      <a:pt x="46" y="0"/>
                    </a:lnTo>
                    <a:lnTo>
                      <a:pt x="48" y="0"/>
                    </a:lnTo>
                    <a:lnTo>
                      <a:pt x="50" y="0"/>
                    </a:lnTo>
                    <a:lnTo>
                      <a:pt x="50" y="1"/>
                    </a:lnTo>
                    <a:lnTo>
                      <a:pt x="50" y="5"/>
                    </a:lnTo>
                    <a:lnTo>
                      <a:pt x="48" y="10"/>
                    </a:lnTo>
                    <a:lnTo>
                      <a:pt x="47" y="13"/>
                    </a:lnTo>
                    <a:lnTo>
                      <a:pt x="46" y="15"/>
                    </a:lnTo>
                    <a:lnTo>
                      <a:pt x="43" y="20"/>
                    </a:lnTo>
                    <a:lnTo>
                      <a:pt x="41" y="24"/>
                    </a:lnTo>
                    <a:lnTo>
                      <a:pt x="38" y="28"/>
                    </a:lnTo>
                    <a:lnTo>
                      <a:pt x="36" y="33"/>
                    </a:lnTo>
                    <a:lnTo>
                      <a:pt x="33" y="37"/>
                    </a:lnTo>
                    <a:lnTo>
                      <a:pt x="33" y="41"/>
                    </a:lnTo>
                    <a:lnTo>
                      <a:pt x="30" y="46"/>
                    </a:lnTo>
                    <a:lnTo>
                      <a:pt x="27" y="51"/>
                    </a:lnTo>
                    <a:lnTo>
                      <a:pt x="24" y="56"/>
                    </a:lnTo>
                    <a:lnTo>
                      <a:pt x="20" y="61"/>
                    </a:lnTo>
                    <a:lnTo>
                      <a:pt x="17" y="66"/>
                    </a:lnTo>
                    <a:lnTo>
                      <a:pt x="14" y="71"/>
                    </a:lnTo>
                    <a:lnTo>
                      <a:pt x="13" y="74"/>
                    </a:lnTo>
                    <a:lnTo>
                      <a:pt x="11" y="77"/>
                    </a:lnTo>
                    <a:lnTo>
                      <a:pt x="10" y="80"/>
                    </a:lnTo>
                    <a:lnTo>
                      <a:pt x="8" y="84"/>
                    </a:lnTo>
                    <a:lnTo>
                      <a:pt x="5" y="87"/>
                    </a:lnTo>
                    <a:lnTo>
                      <a:pt x="4" y="87"/>
                    </a:lnTo>
                    <a:lnTo>
                      <a:pt x="1" y="86"/>
                    </a:lnTo>
                    <a:lnTo>
                      <a:pt x="0" y="83"/>
                    </a:lnTo>
                    <a:lnTo>
                      <a:pt x="1" y="77"/>
                    </a:lnTo>
                    <a:lnTo>
                      <a:pt x="3" y="71"/>
                    </a:lnTo>
                    <a:lnTo>
                      <a:pt x="4" y="66"/>
                    </a:lnTo>
                    <a:lnTo>
                      <a:pt x="7" y="61"/>
                    </a:lnTo>
                    <a:lnTo>
                      <a:pt x="10" y="56"/>
                    </a:lnTo>
                    <a:lnTo>
                      <a:pt x="11" y="50"/>
                    </a:lnTo>
                    <a:lnTo>
                      <a:pt x="14" y="46"/>
                    </a:lnTo>
                    <a:lnTo>
                      <a:pt x="18" y="40"/>
                    </a:lnTo>
                    <a:lnTo>
                      <a:pt x="21" y="35"/>
                    </a:lnTo>
                    <a:lnTo>
                      <a:pt x="24" y="30"/>
                    </a:lnTo>
                    <a:lnTo>
                      <a:pt x="27" y="25"/>
                    </a:lnTo>
                    <a:lnTo>
                      <a:pt x="31" y="21"/>
                    </a:lnTo>
                    <a:lnTo>
                      <a:pt x="34" y="15"/>
                    </a:lnTo>
                    <a:lnTo>
                      <a:pt x="37" y="11"/>
                    </a:lnTo>
                    <a:lnTo>
                      <a:pt x="40" y="7"/>
                    </a:lnTo>
                    <a:lnTo>
                      <a:pt x="43" y="1"/>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7" name="Freeform 69"/>
              <p:cNvSpPr>
                <a:spLocks/>
              </p:cNvSpPr>
              <p:nvPr/>
            </p:nvSpPr>
            <p:spPr bwMode="auto">
              <a:xfrm>
                <a:off x="2640" y="721"/>
                <a:ext cx="13" cy="32"/>
              </a:xfrm>
              <a:custGeom>
                <a:avLst/>
                <a:gdLst>
                  <a:gd name="T0" fmla="*/ 1 w 26"/>
                  <a:gd name="T1" fmla="*/ 0 h 64"/>
                  <a:gd name="T2" fmla="*/ 1 w 26"/>
                  <a:gd name="T3" fmla="*/ 1 h 64"/>
                  <a:gd name="T4" fmla="*/ 1 w 26"/>
                  <a:gd name="T5" fmla="*/ 1 h 64"/>
                  <a:gd name="T6" fmla="*/ 1 w 26"/>
                  <a:gd name="T7" fmla="*/ 1 h 64"/>
                  <a:gd name="T8" fmla="*/ 1 w 26"/>
                  <a:gd name="T9" fmla="*/ 1 h 64"/>
                  <a:gd name="T10" fmla="*/ 1 w 26"/>
                  <a:gd name="T11" fmla="*/ 1 h 64"/>
                  <a:gd name="T12" fmla="*/ 1 w 26"/>
                  <a:gd name="T13" fmla="*/ 1 h 64"/>
                  <a:gd name="T14" fmla="*/ 1 w 26"/>
                  <a:gd name="T15" fmla="*/ 1 h 64"/>
                  <a:gd name="T16" fmla="*/ 1 w 26"/>
                  <a:gd name="T17" fmla="*/ 1 h 64"/>
                  <a:gd name="T18" fmla="*/ 1 w 26"/>
                  <a:gd name="T19" fmla="*/ 1 h 64"/>
                  <a:gd name="T20" fmla="*/ 1 w 26"/>
                  <a:gd name="T21" fmla="*/ 1 h 64"/>
                  <a:gd name="T22" fmla="*/ 1 w 26"/>
                  <a:gd name="T23" fmla="*/ 1 h 64"/>
                  <a:gd name="T24" fmla="*/ 1 w 26"/>
                  <a:gd name="T25" fmla="*/ 1 h 64"/>
                  <a:gd name="T26" fmla="*/ 1 w 26"/>
                  <a:gd name="T27" fmla="*/ 1 h 64"/>
                  <a:gd name="T28" fmla="*/ 1 w 26"/>
                  <a:gd name="T29" fmla="*/ 1 h 64"/>
                  <a:gd name="T30" fmla="*/ 1 w 26"/>
                  <a:gd name="T31" fmla="*/ 1 h 64"/>
                  <a:gd name="T32" fmla="*/ 1 w 26"/>
                  <a:gd name="T33" fmla="*/ 1 h 64"/>
                  <a:gd name="T34" fmla="*/ 1 w 26"/>
                  <a:gd name="T35" fmla="*/ 1 h 64"/>
                  <a:gd name="T36" fmla="*/ 1 w 26"/>
                  <a:gd name="T37" fmla="*/ 1 h 64"/>
                  <a:gd name="T38" fmla="*/ 1 w 26"/>
                  <a:gd name="T39" fmla="*/ 1 h 64"/>
                  <a:gd name="T40" fmla="*/ 0 w 26"/>
                  <a:gd name="T41" fmla="*/ 1 h 64"/>
                  <a:gd name="T42" fmla="*/ 0 w 26"/>
                  <a:gd name="T43" fmla="*/ 1 h 64"/>
                  <a:gd name="T44" fmla="*/ 0 w 26"/>
                  <a:gd name="T45" fmla="*/ 1 h 64"/>
                  <a:gd name="T46" fmla="*/ 0 w 26"/>
                  <a:gd name="T47" fmla="*/ 1 h 64"/>
                  <a:gd name="T48" fmla="*/ 1 w 26"/>
                  <a:gd name="T49" fmla="*/ 1 h 64"/>
                  <a:gd name="T50" fmla="*/ 1 w 26"/>
                  <a:gd name="T51" fmla="*/ 1 h 64"/>
                  <a:gd name="T52" fmla="*/ 1 w 26"/>
                  <a:gd name="T53" fmla="*/ 1 h 64"/>
                  <a:gd name="T54" fmla="*/ 1 w 26"/>
                  <a:gd name="T55" fmla="*/ 1 h 64"/>
                  <a:gd name="T56" fmla="*/ 1 w 26"/>
                  <a:gd name="T57" fmla="*/ 1 h 64"/>
                  <a:gd name="T58" fmla="*/ 1 w 26"/>
                  <a:gd name="T59" fmla="*/ 1 h 64"/>
                  <a:gd name="T60" fmla="*/ 1 w 26"/>
                  <a:gd name="T61" fmla="*/ 1 h 64"/>
                  <a:gd name="T62" fmla="*/ 1 w 26"/>
                  <a:gd name="T63" fmla="*/ 1 h 64"/>
                  <a:gd name="T64" fmla="*/ 1 w 26"/>
                  <a:gd name="T65" fmla="*/ 1 h 64"/>
                  <a:gd name="T66" fmla="*/ 1 w 26"/>
                  <a:gd name="T67" fmla="*/ 1 h 64"/>
                  <a:gd name="T68" fmla="*/ 1 w 26"/>
                  <a:gd name="T69" fmla="*/ 1 h 64"/>
                  <a:gd name="T70" fmla="*/ 1 w 26"/>
                  <a:gd name="T71" fmla="*/ 1 h 64"/>
                  <a:gd name="T72" fmla="*/ 1 w 26"/>
                  <a:gd name="T73" fmla="*/ 1 h 64"/>
                  <a:gd name="T74" fmla="*/ 1 w 26"/>
                  <a:gd name="T75" fmla="*/ 1 h 64"/>
                  <a:gd name="T76" fmla="*/ 1 w 26"/>
                  <a:gd name="T77" fmla="*/ 0 h 64"/>
                  <a:gd name="T78" fmla="*/ 1 w 26"/>
                  <a:gd name="T79" fmla="*/ 0 h 6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6"/>
                  <a:gd name="T121" fmla="*/ 0 h 64"/>
                  <a:gd name="T122" fmla="*/ 26 w 26"/>
                  <a:gd name="T123" fmla="*/ 64 h 6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6" h="64">
                    <a:moveTo>
                      <a:pt x="21" y="0"/>
                    </a:moveTo>
                    <a:lnTo>
                      <a:pt x="23" y="3"/>
                    </a:lnTo>
                    <a:lnTo>
                      <a:pt x="24" y="7"/>
                    </a:lnTo>
                    <a:lnTo>
                      <a:pt x="24" y="10"/>
                    </a:lnTo>
                    <a:lnTo>
                      <a:pt x="26" y="14"/>
                    </a:lnTo>
                    <a:lnTo>
                      <a:pt x="24" y="18"/>
                    </a:lnTo>
                    <a:lnTo>
                      <a:pt x="24" y="23"/>
                    </a:lnTo>
                    <a:lnTo>
                      <a:pt x="23" y="26"/>
                    </a:lnTo>
                    <a:lnTo>
                      <a:pt x="23" y="30"/>
                    </a:lnTo>
                    <a:lnTo>
                      <a:pt x="20" y="33"/>
                    </a:lnTo>
                    <a:lnTo>
                      <a:pt x="18" y="37"/>
                    </a:lnTo>
                    <a:lnTo>
                      <a:pt x="17" y="40"/>
                    </a:lnTo>
                    <a:lnTo>
                      <a:pt x="16" y="44"/>
                    </a:lnTo>
                    <a:lnTo>
                      <a:pt x="13" y="49"/>
                    </a:lnTo>
                    <a:lnTo>
                      <a:pt x="11" y="51"/>
                    </a:lnTo>
                    <a:lnTo>
                      <a:pt x="10" y="56"/>
                    </a:lnTo>
                    <a:lnTo>
                      <a:pt x="8" y="59"/>
                    </a:lnTo>
                    <a:lnTo>
                      <a:pt x="6" y="60"/>
                    </a:lnTo>
                    <a:lnTo>
                      <a:pt x="3" y="61"/>
                    </a:lnTo>
                    <a:lnTo>
                      <a:pt x="1" y="63"/>
                    </a:lnTo>
                    <a:lnTo>
                      <a:pt x="0" y="64"/>
                    </a:lnTo>
                    <a:lnTo>
                      <a:pt x="0" y="60"/>
                    </a:lnTo>
                    <a:lnTo>
                      <a:pt x="0" y="57"/>
                    </a:lnTo>
                    <a:lnTo>
                      <a:pt x="0" y="53"/>
                    </a:lnTo>
                    <a:lnTo>
                      <a:pt x="1" y="49"/>
                    </a:lnTo>
                    <a:lnTo>
                      <a:pt x="3" y="44"/>
                    </a:lnTo>
                    <a:lnTo>
                      <a:pt x="4" y="41"/>
                    </a:lnTo>
                    <a:lnTo>
                      <a:pt x="7" y="37"/>
                    </a:lnTo>
                    <a:lnTo>
                      <a:pt x="8" y="34"/>
                    </a:lnTo>
                    <a:lnTo>
                      <a:pt x="10" y="30"/>
                    </a:lnTo>
                    <a:lnTo>
                      <a:pt x="13" y="26"/>
                    </a:lnTo>
                    <a:lnTo>
                      <a:pt x="14" y="23"/>
                    </a:lnTo>
                    <a:lnTo>
                      <a:pt x="16" y="18"/>
                    </a:lnTo>
                    <a:lnTo>
                      <a:pt x="17" y="14"/>
                    </a:lnTo>
                    <a:lnTo>
                      <a:pt x="18" y="10"/>
                    </a:lnTo>
                    <a:lnTo>
                      <a:pt x="18" y="7"/>
                    </a:lnTo>
                    <a:lnTo>
                      <a:pt x="18" y="3"/>
                    </a:lnTo>
                    <a:lnTo>
                      <a:pt x="20" y="1"/>
                    </a:lnTo>
                    <a:lnTo>
                      <a:pt x="21" y="0"/>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8" name="Freeform 70"/>
              <p:cNvSpPr>
                <a:spLocks/>
              </p:cNvSpPr>
              <p:nvPr/>
            </p:nvSpPr>
            <p:spPr bwMode="auto">
              <a:xfrm>
                <a:off x="2204" y="695"/>
                <a:ext cx="33" cy="27"/>
              </a:xfrm>
              <a:custGeom>
                <a:avLst/>
                <a:gdLst>
                  <a:gd name="T0" fmla="*/ 1 w 66"/>
                  <a:gd name="T1" fmla="*/ 0 h 55"/>
                  <a:gd name="T2" fmla="*/ 1 w 66"/>
                  <a:gd name="T3" fmla="*/ 0 h 55"/>
                  <a:gd name="T4" fmla="*/ 1 w 66"/>
                  <a:gd name="T5" fmla="*/ 0 h 55"/>
                  <a:gd name="T6" fmla="*/ 1 w 66"/>
                  <a:gd name="T7" fmla="*/ 0 h 55"/>
                  <a:gd name="T8" fmla="*/ 1 w 66"/>
                  <a:gd name="T9" fmla="*/ 0 h 55"/>
                  <a:gd name="T10" fmla="*/ 1 w 66"/>
                  <a:gd name="T11" fmla="*/ 0 h 55"/>
                  <a:gd name="T12" fmla="*/ 1 w 66"/>
                  <a:gd name="T13" fmla="*/ 0 h 55"/>
                  <a:gd name="T14" fmla="*/ 1 w 66"/>
                  <a:gd name="T15" fmla="*/ 0 h 55"/>
                  <a:gd name="T16" fmla="*/ 1 w 66"/>
                  <a:gd name="T17" fmla="*/ 0 h 55"/>
                  <a:gd name="T18" fmla="*/ 1 w 66"/>
                  <a:gd name="T19" fmla="*/ 0 h 55"/>
                  <a:gd name="T20" fmla="*/ 1 w 66"/>
                  <a:gd name="T21" fmla="*/ 0 h 55"/>
                  <a:gd name="T22" fmla="*/ 1 w 66"/>
                  <a:gd name="T23" fmla="*/ 0 h 55"/>
                  <a:gd name="T24" fmla="*/ 1 w 66"/>
                  <a:gd name="T25" fmla="*/ 0 h 55"/>
                  <a:gd name="T26" fmla="*/ 1 w 66"/>
                  <a:gd name="T27" fmla="*/ 0 h 55"/>
                  <a:gd name="T28" fmla="*/ 1 w 66"/>
                  <a:gd name="T29" fmla="*/ 0 h 55"/>
                  <a:gd name="T30" fmla="*/ 1 w 66"/>
                  <a:gd name="T31" fmla="*/ 0 h 55"/>
                  <a:gd name="T32" fmla="*/ 1 w 66"/>
                  <a:gd name="T33" fmla="*/ 0 h 55"/>
                  <a:gd name="T34" fmla="*/ 1 w 66"/>
                  <a:gd name="T35" fmla="*/ 0 h 55"/>
                  <a:gd name="T36" fmla="*/ 1 w 66"/>
                  <a:gd name="T37" fmla="*/ 0 h 55"/>
                  <a:gd name="T38" fmla="*/ 0 w 66"/>
                  <a:gd name="T39" fmla="*/ 0 h 55"/>
                  <a:gd name="T40" fmla="*/ 1 w 66"/>
                  <a:gd name="T41" fmla="*/ 0 h 55"/>
                  <a:gd name="T42" fmla="*/ 1 w 66"/>
                  <a:gd name="T43" fmla="*/ 0 h 55"/>
                  <a:gd name="T44" fmla="*/ 1 w 66"/>
                  <a:gd name="T45" fmla="*/ 0 h 55"/>
                  <a:gd name="T46" fmla="*/ 1 w 66"/>
                  <a:gd name="T47" fmla="*/ 0 h 55"/>
                  <a:gd name="T48" fmla="*/ 1 w 66"/>
                  <a:gd name="T49" fmla="*/ 0 h 55"/>
                  <a:gd name="T50" fmla="*/ 1 w 66"/>
                  <a:gd name="T51" fmla="*/ 0 h 55"/>
                  <a:gd name="T52" fmla="*/ 1 w 66"/>
                  <a:gd name="T53" fmla="*/ 0 h 55"/>
                  <a:gd name="T54" fmla="*/ 1 w 66"/>
                  <a:gd name="T55" fmla="*/ 0 h 55"/>
                  <a:gd name="T56" fmla="*/ 1 w 66"/>
                  <a:gd name="T57" fmla="*/ 0 h 55"/>
                  <a:gd name="T58" fmla="*/ 1 w 66"/>
                  <a:gd name="T59" fmla="*/ 0 h 55"/>
                  <a:gd name="T60" fmla="*/ 1 w 66"/>
                  <a:gd name="T61" fmla="*/ 0 h 55"/>
                  <a:gd name="T62" fmla="*/ 1 w 66"/>
                  <a:gd name="T63" fmla="*/ 0 h 55"/>
                  <a:gd name="T64" fmla="*/ 1 w 66"/>
                  <a:gd name="T65" fmla="*/ 0 h 55"/>
                  <a:gd name="T66" fmla="*/ 1 w 66"/>
                  <a:gd name="T67" fmla="*/ 0 h 55"/>
                  <a:gd name="T68" fmla="*/ 1 w 66"/>
                  <a:gd name="T69" fmla="*/ 0 h 55"/>
                  <a:gd name="T70" fmla="*/ 1 w 66"/>
                  <a:gd name="T71" fmla="*/ 0 h 55"/>
                  <a:gd name="T72" fmla="*/ 1 w 66"/>
                  <a:gd name="T73" fmla="*/ 0 h 55"/>
                  <a:gd name="T74" fmla="*/ 1 w 66"/>
                  <a:gd name="T75" fmla="*/ 0 h 55"/>
                  <a:gd name="T76" fmla="*/ 1 w 66"/>
                  <a:gd name="T77" fmla="*/ 0 h 55"/>
                  <a:gd name="T78" fmla="*/ 1 w 66"/>
                  <a:gd name="T79" fmla="*/ 0 h 55"/>
                  <a:gd name="T80" fmla="*/ 1 w 66"/>
                  <a:gd name="T81" fmla="*/ 0 h 55"/>
                  <a:gd name="T82" fmla="*/ 1 w 66"/>
                  <a:gd name="T83" fmla="*/ 0 h 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6"/>
                  <a:gd name="T127" fmla="*/ 0 h 55"/>
                  <a:gd name="T128" fmla="*/ 66 w 66"/>
                  <a:gd name="T129" fmla="*/ 55 h 5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6" h="55">
                    <a:moveTo>
                      <a:pt x="66" y="49"/>
                    </a:moveTo>
                    <a:lnTo>
                      <a:pt x="61" y="46"/>
                    </a:lnTo>
                    <a:lnTo>
                      <a:pt x="56" y="45"/>
                    </a:lnTo>
                    <a:lnTo>
                      <a:pt x="51" y="42"/>
                    </a:lnTo>
                    <a:lnTo>
                      <a:pt x="48" y="40"/>
                    </a:lnTo>
                    <a:lnTo>
                      <a:pt x="44" y="38"/>
                    </a:lnTo>
                    <a:lnTo>
                      <a:pt x="41" y="35"/>
                    </a:lnTo>
                    <a:lnTo>
                      <a:pt x="37" y="32"/>
                    </a:lnTo>
                    <a:lnTo>
                      <a:pt x="34" y="29"/>
                    </a:lnTo>
                    <a:lnTo>
                      <a:pt x="30" y="25"/>
                    </a:lnTo>
                    <a:lnTo>
                      <a:pt x="26" y="22"/>
                    </a:lnTo>
                    <a:lnTo>
                      <a:pt x="23" y="19"/>
                    </a:lnTo>
                    <a:lnTo>
                      <a:pt x="20" y="16"/>
                    </a:lnTo>
                    <a:lnTo>
                      <a:pt x="16" y="12"/>
                    </a:lnTo>
                    <a:lnTo>
                      <a:pt x="13" y="9"/>
                    </a:lnTo>
                    <a:lnTo>
                      <a:pt x="10" y="6"/>
                    </a:lnTo>
                    <a:lnTo>
                      <a:pt x="7" y="3"/>
                    </a:lnTo>
                    <a:lnTo>
                      <a:pt x="4" y="0"/>
                    </a:lnTo>
                    <a:lnTo>
                      <a:pt x="1" y="0"/>
                    </a:lnTo>
                    <a:lnTo>
                      <a:pt x="0" y="3"/>
                    </a:lnTo>
                    <a:lnTo>
                      <a:pt x="1" y="8"/>
                    </a:lnTo>
                    <a:lnTo>
                      <a:pt x="4" y="10"/>
                    </a:lnTo>
                    <a:lnTo>
                      <a:pt x="7" y="15"/>
                    </a:lnTo>
                    <a:lnTo>
                      <a:pt x="10" y="18"/>
                    </a:lnTo>
                    <a:lnTo>
                      <a:pt x="13" y="22"/>
                    </a:lnTo>
                    <a:lnTo>
                      <a:pt x="16" y="25"/>
                    </a:lnTo>
                    <a:lnTo>
                      <a:pt x="20" y="29"/>
                    </a:lnTo>
                    <a:lnTo>
                      <a:pt x="23" y="32"/>
                    </a:lnTo>
                    <a:lnTo>
                      <a:pt x="27" y="36"/>
                    </a:lnTo>
                    <a:lnTo>
                      <a:pt x="30" y="39"/>
                    </a:lnTo>
                    <a:lnTo>
                      <a:pt x="34" y="42"/>
                    </a:lnTo>
                    <a:lnTo>
                      <a:pt x="37" y="45"/>
                    </a:lnTo>
                    <a:lnTo>
                      <a:pt x="41" y="48"/>
                    </a:lnTo>
                    <a:lnTo>
                      <a:pt x="46" y="49"/>
                    </a:lnTo>
                    <a:lnTo>
                      <a:pt x="50" y="52"/>
                    </a:lnTo>
                    <a:lnTo>
                      <a:pt x="54" y="53"/>
                    </a:lnTo>
                    <a:lnTo>
                      <a:pt x="60" y="55"/>
                    </a:lnTo>
                    <a:lnTo>
                      <a:pt x="63" y="55"/>
                    </a:lnTo>
                    <a:lnTo>
                      <a:pt x="66" y="53"/>
                    </a:lnTo>
                    <a:lnTo>
                      <a:pt x="66" y="50"/>
                    </a:lnTo>
                    <a:lnTo>
                      <a:pt x="66" y="49"/>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79" name="Freeform 71"/>
              <p:cNvSpPr>
                <a:spLocks/>
              </p:cNvSpPr>
              <p:nvPr/>
            </p:nvSpPr>
            <p:spPr bwMode="auto">
              <a:xfrm>
                <a:off x="2247" y="695"/>
                <a:ext cx="27" cy="36"/>
              </a:xfrm>
              <a:custGeom>
                <a:avLst/>
                <a:gdLst>
                  <a:gd name="T0" fmla="*/ 1 w 54"/>
                  <a:gd name="T1" fmla="*/ 1 h 72"/>
                  <a:gd name="T2" fmla="*/ 1 w 54"/>
                  <a:gd name="T3" fmla="*/ 1 h 72"/>
                  <a:gd name="T4" fmla="*/ 1 w 54"/>
                  <a:gd name="T5" fmla="*/ 0 h 72"/>
                  <a:gd name="T6" fmla="*/ 1 w 54"/>
                  <a:gd name="T7" fmla="*/ 0 h 72"/>
                  <a:gd name="T8" fmla="*/ 1 w 54"/>
                  <a:gd name="T9" fmla="*/ 1 h 72"/>
                  <a:gd name="T10" fmla="*/ 1 w 54"/>
                  <a:gd name="T11" fmla="*/ 1 h 72"/>
                  <a:gd name="T12" fmla="*/ 1 w 54"/>
                  <a:gd name="T13" fmla="*/ 1 h 72"/>
                  <a:gd name="T14" fmla="*/ 1 w 54"/>
                  <a:gd name="T15" fmla="*/ 1 h 72"/>
                  <a:gd name="T16" fmla="*/ 1 w 54"/>
                  <a:gd name="T17" fmla="*/ 1 h 72"/>
                  <a:gd name="T18" fmla="*/ 1 w 54"/>
                  <a:gd name="T19" fmla="*/ 1 h 72"/>
                  <a:gd name="T20" fmla="*/ 1 w 54"/>
                  <a:gd name="T21" fmla="*/ 1 h 72"/>
                  <a:gd name="T22" fmla="*/ 1 w 54"/>
                  <a:gd name="T23" fmla="*/ 1 h 72"/>
                  <a:gd name="T24" fmla="*/ 1 w 54"/>
                  <a:gd name="T25" fmla="*/ 1 h 72"/>
                  <a:gd name="T26" fmla="*/ 1 w 54"/>
                  <a:gd name="T27" fmla="*/ 1 h 72"/>
                  <a:gd name="T28" fmla="*/ 1 w 54"/>
                  <a:gd name="T29" fmla="*/ 1 h 72"/>
                  <a:gd name="T30" fmla="*/ 1 w 54"/>
                  <a:gd name="T31" fmla="*/ 1 h 72"/>
                  <a:gd name="T32" fmla="*/ 1 w 54"/>
                  <a:gd name="T33" fmla="*/ 1 h 72"/>
                  <a:gd name="T34" fmla="*/ 1 w 54"/>
                  <a:gd name="T35" fmla="*/ 1 h 72"/>
                  <a:gd name="T36" fmla="*/ 1 w 54"/>
                  <a:gd name="T37" fmla="*/ 1 h 72"/>
                  <a:gd name="T38" fmla="*/ 1 w 54"/>
                  <a:gd name="T39" fmla="*/ 1 h 72"/>
                  <a:gd name="T40" fmla="*/ 1 w 54"/>
                  <a:gd name="T41" fmla="*/ 1 h 72"/>
                  <a:gd name="T42" fmla="*/ 1 w 54"/>
                  <a:gd name="T43" fmla="*/ 1 h 72"/>
                  <a:gd name="T44" fmla="*/ 1 w 54"/>
                  <a:gd name="T45" fmla="*/ 1 h 72"/>
                  <a:gd name="T46" fmla="*/ 1 w 54"/>
                  <a:gd name="T47" fmla="*/ 1 h 72"/>
                  <a:gd name="T48" fmla="*/ 1 w 54"/>
                  <a:gd name="T49" fmla="*/ 1 h 72"/>
                  <a:gd name="T50" fmla="*/ 1 w 54"/>
                  <a:gd name="T51" fmla="*/ 1 h 72"/>
                  <a:gd name="T52" fmla="*/ 1 w 54"/>
                  <a:gd name="T53" fmla="*/ 1 h 72"/>
                  <a:gd name="T54" fmla="*/ 0 w 54"/>
                  <a:gd name="T55" fmla="*/ 1 h 72"/>
                  <a:gd name="T56" fmla="*/ 0 w 54"/>
                  <a:gd name="T57" fmla="*/ 1 h 72"/>
                  <a:gd name="T58" fmla="*/ 0 w 54"/>
                  <a:gd name="T59" fmla="*/ 1 h 72"/>
                  <a:gd name="T60" fmla="*/ 1 w 54"/>
                  <a:gd name="T61" fmla="*/ 1 h 72"/>
                  <a:gd name="T62" fmla="*/ 1 w 54"/>
                  <a:gd name="T63" fmla="*/ 1 h 72"/>
                  <a:gd name="T64" fmla="*/ 1 w 54"/>
                  <a:gd name="T65" fmla="*/ 1 h 72"/>
                  <a:gd name="T66" fmla="*/ 1 w 54"/>
                  <a:gd name="T67" fmla="*/ 1 h 72"/>
                  <a:gd name="T68" fmla="*/ 1 w 54"/>
                  <a:gd name="T69" fmla="*/ 1 h 72"/>
                  <a:gd name="T70" fmla="*/ 1 w 54"/>
                  <a:gd name="T71" fmla="*/ 1 h 72"/>
                  <a:gd name="T72" fmla="*/ 1 w 54"/>
                  <a:gd name="T73" fmla="*/ 1 h 72"/>
                  <a:gd name="T74" fmla="*/ 1 w 54"/>
                  <a:gd name="T75" fmla="*/ 1 h 72"/>
                  <a:gd name="T76" fmla="*/ 1 w 54"/>
                  <a:gd name="T77" fmla="*/ 1 h 72"/>
                  <a:gd name="T78" fmla="*/ 1 w 54"/>
                  <a:gd name="T79" fmla="*/ 1 h 72"/>
                  <a:gd name="T80" fmla="*/ 1 w 54"/>
                  <a:gd name="T81" fmla="*/ 1 h 72"/>
                  <a:gd name="T82" fmla="*/ 1 w 54"/>
                  <a:gd name="T83" fmla="*/ 1 h 72"/>
                  <a:gd name="T84" fmla="*/ 1 w 54"/>
                  <a:gd name="T85" fmla="*/ 1 h 72"/>
                  <a:gd name="T86" fmla="*/ 1 w 54"/>
                  <a:gd name="T87" fmla="*/ 1 h 72"/>
                  <a:gd name="T88" fmla="*/ 1 w 54"/>
                  <a:gd name="T89" fmla="*/ 1 h 72"/>
                  <a:gd name="T90" fmla="*/ 1 w 54"/>
                  <a:gd name="T91" fmla="*/ 1 h 72"/>
                  <a:gd name="T92" fmla="*/ 1 w 54"/>
                  <a:gd name="T93" fmla="*/ 1 h 72"/>
                  <a:gd name="T94" fmla="*/ 1 w 54"/>
                  <a:gd name="T95" fmla="*/ 1 h 72"/>
                  <a:gd name="T96" fmla="*/ 1 w 54"/>
                  <a:gd name="T97" fmla="*/ 1 h 72"/>
                  <a:gd name="T98" fmla="*/ 1 w 54"/>
                  <a:gd name="T99" fmla="*/ 1 h 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4"/>
                  <a:gd name="T151" fmla="*/ 0 h 72"/>
                  <a:gd name="T152" fmla="*/ 54 w 54"/>
                  <a:gd name="T153" fmla="*/ 72 h 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4" h="72">
                    <a:moveTo>
                      <a:pt x="54" y="5"/>
                    </a:moveTo>
                    <a:lnTo>
                      <a:pt x="52" y="2"/>
                    </a:lnTo>
                    <a:lnTo>
                      <a:pt x="52" y="0"/>
                    </a:lnTo>
                    <a:lnTo>
                      <a:pt x="51" y="0"/>
                    </a:lnTo>
                    <a:lnTo>
                      <a:pt x="50" y="2"/>
                    </a:lnTo>
                    <a:lnTo>
                      <a:pt x="47" y="3"/>
                    </a:lnTo>
                    <a:lnTo>
                      <a:pt x="44" y="8"/>
                    </a:lnTo>
                    <a:lnTo>
                      <a:pt x="42" y="9"/>
                    </a:lnTo>
                    <a:lnTo>
                      <a:pt x="41" y="12"/>
                    </a:lnTo>
                    <a:lnTo>
                      <a:pt x="38" y="15"/>
                    </a:lnTo>
                    <a:lnTo>
                      <a:pt x="37" y="19"/>
                    </a:lnTo>
                    <a:lnTo>
                      <a:pt x="35" y="22"/>
                    </a:lnTo>
                    <a:lnTo>
                      <a:pt x="34" y="25"/>
                    </a:lnTo>
                    <a:lnTo>
                      <a:pt x="31" y="29"/>
                    </a:lnTo>
                    <a:lnTo>
                      <a:pt x="30" y="32"/>
                    </a:lnTo>
                    <a:lnTo>
                      <a:pt x="28" y="36"/>
                    </a:lnTo>
                    <a:lnTo>
                      <a:pt x="27" y="39"/>
                    </a:lnTo>
                    <a:lnTo>
                      <a:pt x="24" y="42"/>
                    </a:lnTo>
                    <a:lnTo>
                      <a:pt x="22" y="46"/>
                    </a:lnTo>
                    <a:lnTo>
                      <a:pt x="20" y="48"/>
                    </a:lnTo>
                    <a:lnTo>
                      <a:pt x="18" y="50"/>
                    </a:lnTo>
                    <a:lnTo>
                      <a:pt x="15" y="53"/>
                    </a:lnTo>
                    <a:lnTo>
                      <a:pt x="12" y="55"/>
                    </a:lnTo>
                    <a:lnTo>
                      <a:pt x="11" y="56"/>
                    </a:lnTo>
                    <a:lnTo>
                      <a:pt x="8" y="59"/>
                    </a:lnTo>
                    <a:lnTo>
                      <a:pt x="5" y="60"/>
                    </a:lnTo>
                    <a:lnTo>
                      <a:pt x="2" y="63"/>
                    </a:lnTo>
                    <a:lnTo>
                      <a:pt x="0" y="65"/>
                    </a:lnTo>
                    <a:lnTo>
                      <a:pt x="0" y="68"/>
                    </a:lnTo>
                    <a:lnTo>
                      <a:pt x="0" y="70"/>
                    </a:lnTo>
                    <a:lnTo>
                      <a:pt x="2" y="72"/>
                    </a:lnTo>
                    <a:lnTo>
                      <a:pt x="7" y="70"/>
                    </a:lnTo>
                    <a:lnTo>
                      <a:pt x="12" y="69"/>
                    </a:lnTo>
                    <a:lnTo>
                      <a:pt x="15" y="66"/>
                    </a:lnTo>
                    <a:lnTo>
                      <a:pt x="20" y="63"/>
                    </a:lnTo>
                    <a:lnTo>
                      <a:pt x="22" y="60"/>
                    </a:lnTo>
                    <a:lnTo>
                      <a:pt x="27" y="56"/>
                    </a:lnTo>
                    <a:lnTo>
                      <a:pt x="30" y="53"/>
                    </a:lnTo>
                    <a:lnTo>
                      <a:pt x="32" y="49"/>
                    </a:lnTo>
                    <a:lnTo>
                      <a:pt x="35" y="45"/>
                    </a:lnTo>
                    <a:lnTo>
                      <a:pt x="37" y="40"/>
                    </a:lnTo>
                    <a:lnTo>
                      <a:pt x="40" y="36"/>
                    </a:lnTo>
                    <a:lnTo>
                      <a:pt x="42" y="32"/>
                    </a:lnTo>
                    <a:lnTo>
                      <a:pt x="44" y="26"/>
                    </a:lnTo>
                    <a:lnTo>
                      <a:pt x="47" y="22"/>
                    </a:lnTo>
                    <a:lnTo>
                      <a:pt x="48" y="18"/>
                    </a:lnTo>
                    <a:lnTo>
                      <a:pt x="51" y="13"/>
                    </a:lnTo>
                    <a:lnTo>
                      <a:pt x="52" y="9"/>
                    </a:lnTo>
                    <a:lnTo>
                      <a:pt x="54" y="5"/>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0" name="Freeform 72"/>
              <p:cNvSpPr>
                <a:spLocks/>
              </p:cNvSpPr>
              <p:nvPr/>
            </p:nvSpPr>
            <p:spPr bwMode="auto">
              <a:xfrm>
                <a:off x="2232" y="696"/>
                <a:ext cx="49" cy="29"/>
              </a:xfrm>
              <a:custGeom>
                <a:avLst/>
                <a:gdLst>
                  <a:gd name="T0" fmla="*/ 1 w 98"/>
                  <a:gd name="T1" fmla="*/ 1 h 58"/>
                  <a:gd name="T2" fmla="*/ 1 w 98"/>
                  <a:gd name="T3" fmla="*/ 1 h 58"/>
                  <a:gd name="T4" fmla="*/ 1 w 98"/>
                  <a:gd name="T5" fmla="*/ 1 h 58"/>
                  <a:gd name="T6" fmla="*/ 1 w 98"/>
                  <a:gd name="T7" fmla="*/ 1 h 58"/>
                  <a:gd name="T8" fmla="*/ 1 w 98"/>
                  <a:gd name="T9" fmla="*/ 1 h 58"/>
                  <a:gd name="T10" fmla="*/ 1 w 98"/>
                  <a:gd name="T11" fmla="*/ 1 h 58"/>
                  <a:gd name="T12" fmla="*/ 1 w 98"/>
                  <a:gd name="T13" fmla="*/ 1 h 58"/>
                  <a:gd name="T14" fmla="*/ 1 w 98"/>
                  <a:gd name="T15" fmla="*/ 1 h 58"/>
                  <a:gd name="T16" fmla="*/ 1 w 98"/>
                  <a:gd name="T17" fmla="*/ 1 h 58"/>
                  <a:gd name="T18" fmla="*/ 1 w 98"/>
                  <a:gd name="T19" fmla="*/ 1 h 58"/>
                  <a:gd name="T20" fmla="*/ 1 w 98"/>
                  <a:gd name="T21" fmla="*/ 1 h 58"/>
                  <a:gd name="T22" fmla="*/ 1 w 98"/>
                  <a:gd name="T23" fmla="*/ 1 h 58"/>
                  <a:gd name="T24" fmla="*/ 1 w 98"/>
                  <a:gd name="T25" fmla="*/ 1 h 58"/>
                  <a:gd name="T26" fmla="*/ 1 w 98"/>
                  <a:gd name="T27" fmla="*/ 1 h 58"/>
                  <a:gd name="T28" fmla="*/ 1 w 98"/>
                  <a:gd name="T29" fmla="*/ 1 h 58"/>
                  <a:gd name="T30" fmla="*/ 1 w 98"/>
                  <a:gd name="T31" fmla="*/ 1 h 58"/>
                  <a:gd name="T32" fmla="*/ 1 w 98"/>
                  <a:gd name="T33" fmla="*/ 1 h 58"/>
                  <a:gd name="T34" fmla="*/ 1 w 98"/>
                  <a:gd name="T35" fmla="*/ 0 h 58"/>
                  <a:gd name="T36" fmla="*/ 0 w 98"/>
                  <a:gd name="T37" fmla="*/ 1 h 58"/>
                  <a:gd name="T38" fmla="*/ 0 w 98"/>
                  <a:gd name="T39" fmla="*/ 1 h 58"/>
                  <a:gd name="T40" fmla="*/ 0 w 98"/>
                  <a:gd name="T41" fmla="*/ 1 h 58"/>
                  <a:gd name="T42" fmla="*/ 1 w 98"/>
                  <a:gd name="T43" fmla="*/ 1 h 58"/>
                  <a:gd name="T44" fmla="*/ 1 w 98"/>
                  <a:gd name="T45" fmla="*/ 1 h 58"/>
                  <a:gd name="T46" fmla="*/ 1 w 98"/>
                  <a:gd name="T47" fmla="*/ 1 h 58"/>
                  <a:gd name="T48" fmla="*/ 1 w 98"/>
                  <a:gd name="T49" fmla="*/ 1 h 58"/>
                  <a:gd name="T50" fmla="*/ 1 w 98"/>
                  <a:gd name="T51" fmla="*/ 1 h 58"/>
                  <a:gd name="T52" fmla="*/ 1 w 98"/>
                  <a:gd name="T53" fmla="*/ 1 h 58"/>
                  <a:gd name="T54" fmla="*/ 1 w 98"/>
                  <a:gd name="T55" fmla="*/ 1 h 58"/>
                  <a:gd name="T56" fmla="*/ 1 w 98"/>
                  <a:gd name="T57" fmla="*/ 1 h 58"/>
                  <a:gd name="T58" fmla="*/ 1 w 98"/>
                  <a:gd name="T59" fmla="*/ 1 h 58"/>
                  <a:gd name="T60" fmla="*/ 1 w 98"/>
                  <a:gd name="T61" fmla="*/ 1 h 58"/>
                  <a:gd name="T62" fmla="*/ 1 w 98"/>
                  <a:gd name="T63" fmla="*/ 1 h 58"/>
                  <a:gd name="T64" fmla="*/ 1 w 98"/>
                  <a:gd name="T65" fmla="*/ 1 h 58"/>
                  <a:gd name="T66" fmla="*/ 1 w 98"/>
                  <a:gd name="T67" fmla="*/ 1 h 58"/>
                  <a:gd name="T68" fmla="*/ 1 w 98"/>
                  <a:gd name="T69" fmla="*/ 1 h 58"/>
                  <a:gd name="T70" fmla="*/ 1 w 98"/>
                  <a:gd name="T71" fmla="*/ 1 h 58"/>
                  <a:gd name="T72" fmla="*/ 1 w 98"/>
                  <a:gd name="T73" fmla="*/ 1 h 58"/>
                  <a:gd name="T74" fmla="*/ 1 w 98"/>
                  <a:gd name="T75" fmla="*/ 1 h 58"/>
                  <a:gd name="T76" fmla="*/ 1 w 98"/>
                  <a:gd name="T77" fmla="*/ 1 h 58"/>
                  <a:gd name="T78" fmla="*/ 1 w 98"/>
                  <a:gd name="T79" fmla="*/ 1 h 58"/>
                  <a:gd name="T80" fmla="*/ 1 w 98"/>
                  <a:gd name="T81" fmla="*/ 1 h 58"/>
                  <a:gd name="T82" fmla="*/ 1 w 98"/>
                  <a:gd name="T83" fmla="*/ 1 h 58"/>
                  <a:gd name="T84" fmla="*/ 1 w 98"/>
                  <a:gd name="T85" fmla="*/ 1 h 58"/>
                  <a:gd name="T86" fmla="*/ 1 w 98"/>
                  <a:gd name="T87" fmla="*/ 1 h 58"/>
                  <a:gd name="T88" fmla="*/ 1 w 98"/>
                  <a:gd name="T89" fmla="*/ 1 h 58"/>
                  <a:gd name="T90" fmla="*/ 1 w 98"/>
                  <a:gd name="T91" fmla="*/ 1 h 58"/>
                  <a:gd name="T92" fmla="*/ 1 w 98"/>
                  <a:gd name="T93" fmla="*/ 1 h 58"/>
                  <a:gd name="T94" fmla="*/ 1 w 98"/>
                  <a:gd name="T95" fmla="*/ 1 h 58"/>
                  <a:gd name="T96" fmla="*/ 1 w 98"/>
                  <a:gd name="T97" fmla="*/ 1 h 58"/>
                  <a:gd name="T98" fmla="*/ 1 w 98"/>
                  <a:gd name="T99" fmla="*/ 1 h 58"/>
                  <a:gd name="T100" fmla="*/ 1 w 98"/>
                  <a:gd name="T101" fmla="*/ 1 h 58"/>
                  <a:gd name="T102" fmla="*/ 1 w 98"/>
                  <a:gd name="T103" fmla="*/ 1 h 5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98"/>
                  <a:gd name="T157" fmla="*/ 0 h 58"/>
                  <a:gd name="T158" fmla="*/ 98 w 98"/>
                  <a:gd name="T159" fmla="*/ 58 h 5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98" h="58">
                    <a:moveTo>
                      <a:pt x="95" y="50"/>
                    </a:moveTo>
                    <a:lnTo>
                      <a:pt x="88" y="48"/>
                    </a:lnTo>
                    <a:lnTo>
                      <a:pt x="81" y="47"/>
                    </a:lnTo>
                    <a:lnTo>
                      <a:pt x="75" y="44"/>
                    </a:lnTo>
                    <a:lnTo>
                      <a:pt x="70" y="43"/>
                    </a:lnTo>
                    <a:lnTo>
                      <a:pt x="64" y="40"/>
                    </a:lnTo>
                    <a:lnTo>
                      <a:pt x="57" y="37"/>
                    </a:lnTo>
                    <a:lnTo>
                      <a:pt x="51" y="34"/>
                    </a:lnTo>
                    <a:lnTo>
                      <a:pt x="47" y="31"/>
                    </a:lnTo>
                    <a:lnTo>
                      <a:pt x="41" y="28"/>
                    </a:lnTo>
                    <a:lnTo>
                      <a:pt x="35" y="24"/>
                    </a:lnTo>
                    <a:lnTo>
                      <a:pt x="30" y="21"/>
                    </a:lnTo>
                    <a:lnTo>
                      <a:pt x="25" y="17"/>
                    </a:lnTo>
                    <a:lnTo>
                      <a:pt x="20" y="14"/>
                    </a:lnTo>
                    <a:lnTo>
                      <a:pt x="15" y="10"/>
                    </a:lnTo>
                    <a:lnTo>
                      <a:pt x="10" y="6"/>
                    </a:lnTo>
                    <a:lnTo>
                      <a:pt x="5" y="1"/>
                    </a:lnTo>
                    <a:lnTo>
                      <a:pt x="1" y="0"/>
                    </a:lnTo>
                    <a:lnTo>
                      <a:pt x="0" y="1"/>
                    </a:lnTo>
                    <a:lnTo>
                      <a:pt x="0" y="3"/>
                    </a:lnTo>
                    <a:lnTo>
                      <a:pt x="0" y="7"/>
                    </a:lnTo>
                    <a:lnTo>
                      <a:pt x="1" y="7"/>
                    </a:lnTo>
                    <a:lnTo>
                      <a:pt x="4" y="10"/>
                    </a:lnTo>
                    <a:lnTo>
                      <a:pt x="7" y="13"/>
                    </a:lnTo>
                    <a:lnTo>
                      <a:pt x="10" y="16"/>
                    </a:lnTo>
                    <a:lnTo>
                      <a:pt x="12" y="18"/>
                    </a:lnTo>
                    <a:lnTo>
                      <a:pt x="14" y="21"/>
                    </a:lnTo>
                    <a:lnTo>
                      <a:pt x="17" y="24"/>
                    </a:lnTo>
                    <a:lnTo>
                      <a:pt x="20" y="26"/>
                    </a:lnTo>
                    <a:lnTo>
                      <a:pt x="22" y="28"/>
                    </a:lnTo>
                    <a:lnTo>
                      <a:pt x="27" y="31"/>
                    </a:lnTo>
                    <a:lnTo>
                      <a:pt x="31" y="34"/>
                    </a:lnTo>
                    <a:lnTo>
                      <a:pt x="35" y="37"/>
                    </a:lnTo>
                    <a:lnTo>
                      <a:pt x="40" y="40"/>
                    </a:lnTo>
                    <a:lnTo>
                      <a:pt x="44" y="43"/>
                    </a:lnTo>
                    <a:lnTo>
                      <a:pt x="48" y="46"/>
                    </a:lnTo>
                    <a:lnTo>
                      <a:pt x="52" y="50"/>
                    </a:lnTo>
                    <a:lnTo>
                      <a:pt x="58" y="51"/>
                    </a:lnTo>
                    <a:lnTo>
                      <a:pt x="62" y="53"/>
                    </a:lnTo>
                    <a:lnTo>
                      <a:pt x="67" y="54"/>
                    </a:lnTo>
                    <a:lnTo>
                      <a:pt x="72" y="57"/>
                    </a:lnTo>
                    <a:lnTo>
                      <a:pt x="77" y="57"/>
                    </a:lnTo>
                    <a:lnTo>
                      <a:pt x="82" y="58"/>
                    </a:lnTo>
                    <a:lnTo>
                      <a:pt x="87" y="58"/>
                    </a:lnTo>
                    <a:lnTo>
                      <a:pt x="94" y="58"/>
                    </a:lnTo>
                    <a:lnTo>
                      <a:pt x="95" y="57"/>
                    </a:lnTo>
                    <a:lnTo>
                      <a:pt x="97" y="56"/>
                    </a:lnTo>
                    <a:lnTo>
                      <a:pt x="98" y="54"/>
                    </a:lnTo>
                    <a:lnTo>
                      <a:pt x="98" y="53"/>
                    </a:lnTo>
                    <a:lnTo>
                      <a:pt x="97" y="51"/>
                    </a:lnTo>
                    <a:lnTo>
                      <a:pt x="95" y="50"/>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1" name="Freeform 73"/>
              <p:cNvSpPr>
                <a:spLocks/>
              </p:cNvSpPr>
              <p:nvPr/>
            </p:nvSpPr>
            <p:spPr bwMode="auto">
              <a:xfrm>
                <a:off x="2182" y="685"/>
                <a:ext cx="34" cy="22"/>
              </a:xfrm>
              <a:custGeom>
                <a:avLst/>
                <a:gdLst>
                  <a:gd name="T0" fmla="*/ 0 w 69"/>
                  <a:gd name="T1" fmla="*/ 1 h 44"/>
                  <a:gd name="T2" fmla="*/ 0 w 69"/>
                  <a:gd name="T3" fmla="*/ 1 h 44"/>
                  <a:gd name="T4" fmla="*/ 0 w 69"/>
                  <a:gd name="T5" fmla="*/ 1 h 44"/>
                  <a:gd name="T6" fmla="*/ 0 w 69"/>
                  <a:gd name="T7" fmla="*/ 0 h 44"/>
                  <a:gd name="T8" fmla="*/ 0 w 69"/>
                  <a:gd name="T9" fmla="*/ 1 h 44"/>
                  <a:gd name="T10" fmla="*/ 0 w 69"/>
                  <a:gd name="T11" fmla="*/ 1 h 44"/>
                  <a:gd name="T12" fmla="*/ 0 w 69"/>
                  <a:gd name="T13" fmla="*/ 1 h 44"/>
                  <a:gd name="T14" fmla="*/ 0 w 69"/>
                  <a:gd name="T15" fmla="*/ 1 h 44"/>
                  <a:gd name="T16" fmla="*/ 0 w 69"/>
                  <a:gd name="T17" fmla="*/ 1 h 44"/>
                  <a:gd name="T18" fmla="*/ 0 w 69"/>
                  <a:gd name="T19" fmla="*/ 1 h 44"/>
                  <a:gd name="T20" fmla="*/ 0 w 69"/>
                  <a:gd name="T21" fmla="*/ 1 h 44"/>
                  <a:gd name="T22" fmla="*/ 0 w 69"/>
                  <a:gd name="T23" fmla="*/ 1 h 44"/>
                  <a:gd name="T24" fmla="*/ 0 w 69"/>
                  <a:gd name="T25" fmla="*/ 1 h 44"/>
                  <a:gd name="T26" fmla="*/ 0 w 69"/>
                  <a:gd name="T27" fmla="*/ 1 h 44"/>
                  <a:gd name="T28" fmla="*/ 0 w 69"/>
                  <a:gd name="T29" fmla="*/ 1 h 44"/>
                  <a:gd name="T30" fmla="*/ 0 w 69"/>
                  <a:gd name="T31" fmla="*/ 1 h 44"/>
                  <a:gd name="T32" fmla="*/ 0 w 69"/>
                  <a:gd name="T33" fmla="*/ 1 h 44"/>
                  <a:gd name="T34" fmla="*/ 0 w 69"/>
                  <a:gd name="T35" fmla="*/ 1 h 44"/>
                  <a:gd name="T36" fmla="*/ 0 w 69"/>
                  <a:gd name="T37" fmla="*/ 1 h 44"/>
                  <a:gd name="T38" fmla="*/ 0 w 69"/>
                  <a:gd name="T39" fmla="*/ 1 h 44"/>
                  <a:gd name="T40" fmla="*/ 0 w 69"/>
                  <a:gd name="T41" fmla="*/ 1 h 44"/>
                  <a:gd name="T42" fmla="*/ 0 w 69"/>
                  <a:gd name="T43" fmla="*/ 1 h 44"/>
                  <a:gd name="T44" fmla="*/ 0 w 69"/>
                  <a:gd name="T45" fmla="*/ 1 h 44"/>
                  <a:gd name="T46" fmla="*/ 0 w 69"/>
                  <a:gd name="T47" fmla="*/ 1 h 44"/>
                  <a:gd name="T48" fmla="*/ 0 w 69"/>
                  <a:gd name="T49" fmla="*/ 1 h 44"/>
                  <a:gd name="T50" fmla="*/ 0 w 69"/>
                  <a:gd name="T51" fmla="*/ 1 h 44"/>
                  <a:gd name="T52" fmla="*/ 0 w 69"/>
                  <a:gd name="T53" fmla="*/ 1 h 44"/>
                  <a:gd name="T54" fmla="*/ 0 w 69"/>
                  <a:gd name="T55" fmla="*/ 1 h 44"/>
                  <a:gd name="T56" fmla="*/ 0 w 69"/>
                  <a:gd name="T57" fmla="*/ 1 h 44"/>
                  <a:gd name="T58" fmla="*/ 0 w 69"/>
                  <a:gd name="T59" fmla="*/ 1 h 44"/>
                  <a:gd name="T60" fmla="*/ 0 w 69"/>
                  <a:gd name="T61" fmla="*/ 1 h 44"/>
                  <a:gd name="T62" fmla="*/ 0 w 69"/>
                  <a:gd name="T63" fmla="*/ 1 h 44"/>
                  <a:gd name="T64" fmla="*/ 0 w 69"/>
                  <a:gd name="T65" fmla="*/ 1 h 44"/>
                  <a:gd name="T66" fmla="*/ 0 w 69"/>
                  <a:gd name="T67" fmla="*/ 1 h 44"/>
                  <a:gd name="T68" fmla="*/ 0 w 69"/>
                  <a:gd name="T69" fmla="*/ 1 h 44"/>
                  <a:gd name="T70" fmla="*/ 0 w 69"/>
                  <a:gd name="T71" fmla="*/ 1 h 44"/>
                  <a:gd name="T72" fmla="*/ 0 w 69"/>
                  <a:gd name="T73" fmla="*/ 1 h 44"/>
                  <a:gd name="T74" fmla="*/ 0 w 69"/>
                  <a:gd name="T75" fmla="*/ 1 h 44"/>
                  <a:gd name="T76" fmla="*/ 0 w 69"/>
                  <a:gd name="T77" fmla="*/ 1 h 44"/>
                  <a:gd name="T78" fmla="*/ 0 w 69"/>
                  <a:gd name="T79" fmla="*/ 1 h 44"/>
                  <a:gd name="T80" fmla="*/ 0 w 69"/>
                  <a:gd name="T81" fmla="*/ 1 h 44"/>
                  <a:gd name="T82" fmla="*/ 0 w 69"/>
                  <a:gd name="T83" fmla="*/ 1 h 44"/>
                  <a:gd name="T84" fmla="*/ 0 w 69"/>
                  <a:gd name="T85" fmla="*/ 1 h 44"/>
                  <a:gd name="T86" fmla="*/ 0 w 69"/>
                  <a:gd name="T87" fmla="*/ 1 h 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9"/>
                  <a:gd name="T133" fmla="*/ 0 h 44"/>
                  <a:gd name="T134" fmla="*/ 69 w 69"/>
                  <a:gd name="T135" fmla="*/ 44 h 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9" h="44">
                    <a:moveTo>
                      <a:pt x="69" y="6"/>
                    </a:moveTo>
                    <a:lnTo>
                      <a:pt x="69" y="3"/>
                    </a:lnTo>
                    <a:lnTo>
                      <a:pt x="68" y="1"/>
                    </a:lnTo>
                    <a:lnTo>
                      <a:pt x="66" y="0"/>
                    </a:lnTo>
                    <a:lnTo>
                      <a:pt x="65" y="1"/>
                    </a:lnTo>
                    <a:lnTo>
                      <a:pt x="62" y="1"/>
                    </a:lnTo>
                    <a:lnTo>
                      <a:pt x="59" y="3"/>
                    </a:lnTo>
                    <a:lnTo>
                      <a:pt x="56" y="6"/>
                    </a:lnTo>
                    <a:lnTo>
                      <a:pt x="55" y="9"/>
                    </a:lnTo>
                    <a:lnTo>
                      <a:pt x="52" y="10"/>
                    </a:lnTo>
                    <a:lnTo>
                      <a:pt x="49" y="13"/>
                    </a:lnTo>
                    <a:lnTo>
                      <a:pt x="45" y="16"/>
                    </a:lnTo>
                    <a:lnTo>
                      <a:pt x="40" y="20"/>
                    </a:lnTo>
                    <a:lnTo>
                      <a:pt x="35" y="23"/>
                    </a:lnTo>
                    <a:lnTo>
                      <a:pt x="30" y="26"/>
                    </a:lnTo>
                    <a:lnTo>
                      <a:pt x="26" y="27"/>
                    </a:lnTo>
                    <a:lnTo>
                      <a:pt x="23" y="30"/>
                    </a:lnTo>
                    <a:lnTo>
                      <a:pt x="18" y="31"/>
                    </a:lnTo>
                    <a:lnTo>
                      <a:pt x="13" y="33"/>
                    </a:lnTo>
                    <a:lnTo>
                      <a:pt x="10" y="33"/>
                    </a:lnTo>
                    <a:lnTo>
                      <a:pt x="6" y="34"/>
                    </a:lnTo>
                    <a:lnTo>
                      <a:pt x="2" y="36"/>
                    </a:lnTo>
                    <a:lnTo>
                      <a:pt x="0" y="37"/>
                    </a:lnTo>
                    <a:lnTo>
                      <a:pt x="0" y="39"/>
                    </a:lnTo>
                    <a:lnTo>
                      <a:pt x="0" y="40"/>
                    </a:lnTo>
                    <a:lnTo>
                      <a:pt x="3" y="43"/>
                    </a:lnTo>
                    <a:lnTo>
                      <a:pt x="6" y="44"/>
                    </a:lnTo>
                    <a:lnTo>
                      <a:pt x="10" y="41"/>
                    </a:lnTo>
                    <a:lnTo>
                      <a:pt x="15" y="40"/>
                    </a:lnTo>
                    <a:lnTo>
                      <a:pt x="19" y="39"/>
                    </a:lnTo>
                    <a:lnTo>
                      <a:pt x="23" y="37"/>
                    </a:lnTo>
                    <a:lnTo>
                      <a:pt x="28" y="36"/>
                    </a:lnTo>
                    <a:lnTo>
                      <a:pt x="32" y="34"/>
                    </a:lnTo>
                    <a:lnTo>
                      <a:pt x="38" y="31"/>
                    </a:lnTo>
                    <a:lnTo>
                      <a:pt x="42" y="30"/>
                    </a:lnTo>
                    <a:lnTo>
                      <a:pt x="45" y="27"/>
                    </a:lnTo>
                    <a:lnTo>
                      <a:pt x="49" y="24"/>
                    </a:lnTo>
                    <a:lnTo>
                      <a:pt x="53" y="21"/>
                    </a:lnTo>
                    <a:lnTo>
                      <a:pt x="56" y="19"/>
                    </a:lnTo>
                    <a:lnTo>
                      <a:pt x="61" y="16"/>
                    </a:lnTo>
                    <a:lnTo>
                      <a:pt x="63" y="13"/>
                    </a:lnTo>
                    <a:lnTo>
                      <a:pt x="65" y="9"/>
                    </a:lnTo>
                    <a:lnTo>
                      <a:pt x="69" y="6"/>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2" name="Freeform 74"/>
              <p:cNvSpPr>
                <a:spLocks/>
              </p:cNvSpPr>
              <p:nvPr/>
            </p:nvSpPr>
            <p:spPr bwMode="auto">
              <a:xfrm>
                <a:off x="2210" y="688"/>
                <a:ext cx="26" cy="32"/>
              </a:xfrm>
              <a:custGeom>
                <a:avLst/>
                <a:gdLst>
                  <a:gd name="T0" fmla="*/ 0 w 53"/>
                  <a:gd name="T1" fmla="*/ 1 h 63"/>
                  <a:gd name="T2" fmla="*/ 0 w 53"/>
                  <a:gd name="T3" fmla="*/ 1 h 63"/>
                  <a:gd name="T4" fmla="*/ 0 w 53"/>
                  <a:gd name="T5" fmla="*/ 0 h 63"/>
                  <a:gd name="T6" fmla="*/ 0 w 53"/>
                  <a:gd name="T7" fmla="*/ 0 h 63"/>
                  <a:gd name="T8" fmla="*/ 0 w 53"/>
                  <a:gd name="T9" fmla="*/ 1 h 63"/>
                  <a:gd name="T10" fmla="*/ 0 w 53"/>
                  <a:gd name="T11" fmla="*/ 1 h 63"/>
                  <a:gd name="T12" fmla="*/ 0 w 53"/>
                  <a:gd name="T13" fmla="*/ 1 h 63"/>
                  <a:gd name="T14" fmla="*/ 0 w 53"/>
                  <a:gd name="T15" fmla="*/ 1 h 63"/>
                  <a:gd name="T16" fmla="*/ 0 w 53"/>
                  <a:gd name="T17" fmla="*/ 1 h 63"/>
                  <a:gd name="T18" fmla="*/ 0 w 53"/>
                  <a:gd name="T19" fmla="*/ 1 h 63"/>
                  <a:gd name="T20" fmla="*/ 0 w 53"/>
                  <a:gd name="T21" fmla="*/ 1 h 63"/>
                  <a:gd name="T22" fmla="*/ 0 w 53"/>
                  <a:gd name="T23" fmla="*/ 1 h 63"/>
                  <a:gd name="T24" fmla="*/ 0 w 53"/>
                  <a:gd name="T25" fmla="*/ 1 h 63"/>
                  <a:gd name="T26" fmla="*/ 0 w 53"/>
                  <a:gd name="T27" fmla="*/ 1 h 63"/>
                  <a:gd name="T28" fmla="*/ 0 w 53"/>
                  <a:gd name="T29" fmla="*/ 1 h 63"/>
                  <a:gd name="T30" fmla="*/ 0 w 53"/>
                  <a:gd name="T31" fmla="*/ 1 h 63"/>
                  <a:gd name="T32" fmla="*/ 0 w 53"/>
                  <a:gd name="T33" fmla="*/ 1 h 63"/>
                  <a:gd name="T34" fmla="*/ 0 w 53"/>
                  <a:gd name="T35" fmla="*/ 1 h 63"/>
                  <a:gd name="T36" fmla="*/ 0 w 53"/>
                  <a:gd name="T37" fmla="*/ 1 h 63"/>
                  <a:gd name="T38" fmla="*/ 0 w 53"/>
                  <a:gd name="T39" fmla="*/ 1 h 63"/>
                  <a:gd name="T40" fmla="*/ 0 w 53"/>
                  <a:gd name="T41" fmla="*/ 1 h 63"/>
                  <a:gd name="T42" fmla="*/ 0 w 53"/>
                  <a:gd name="T43" fmla="*/ 1 h 63"/>
                  <a:gd name="T44" fmla="*/ 0 w 53"/>
                  <a:gd name="T45" fmla="*/ 1 h 63"/>
                  <a:gd name="T46" fmla="*/ 0 w 53"/>
                  <a:gd name="T47" fmla="*/ 1 h 63"/>
                  <a:gd name="T48" fmla="*/ 0 w 53"/>
                  <a:gd name="T49" fmla="*/ 1 h 63"/>
                  <a:gd name="T50" fmla="*/ 0 w 53"/>
                  <a:gd name="T51" fmla="*/ 1 h 63"/>
                  <a:gd name="T52" fmla="*/ 0 w 53"/>
                  <a:gd name="T53" fmla="*/ 1 h 63"/>
                  <a:gd name="T54" fmla="*/ 0 w 53"/>
                  <a:gd name="T55" fmla="*/ 1 h 63"/>
                  <a:gd name="T56" fmla="*/ 0 w 53"/>
                  <a:gd name="T57" fmla="*/ 1 h 63"/>
                  <a:gd name="T58" fmla="*/ 0 w 53"/>
                  <a:gd name="T59" fmla="*/ 1 h 63"/>
                  <a:gd name="T60" fmla="*/ 0 w 53"/>
                  <a:gd name="T61" fmla="*/ 1 h 63"/>
                  <a:gd name="T62" fmla="*/ 0 w 53"/>
                  <a:gd name="T63" fmla="*/ 1 h 63"/>
                  <a:gd name="T64" fmla="*/ 0 w 53"/>
                  <a:gd name="T65" fmla="*/ 1 h 63"/>
                  <a:gd name="T66" fmla="*/ 0 w 53"/>
                  <a:gd name="T67" fmla="*/ 1 h 63"/>
                  <a:gd name="T68" fmla="*/ 0 w 53"/>
                  <a:gd name="T69" fmla="*/ 1 h 63"/>
                  <a:gd name="T70" fmla="*/ 0 w 53"/>
                  <a:gd name="T71" fmla="*/ 1 h 63"/>
                  <a:gd name="T72" fmla="*/ 0 w 53"/>
                  <a:gd name="T73" fmla="*/ 1 h 63"/>
                  <a:gd name="T74" fmla="*/ 0 w 53"/>
                  <a:gd name="T75" fmla="*/ 1 h 63"/>
                  <a:gd name="T76" fmla="*/ 0 w 53"/>
                  <a:gd name="T77" fmla="*/ 1 h 63"/>
                  <a:gd name="T78" fmla="*/ 0 w 53"/>
                  <a:gd name="T79" fmla="*/ 1 h 63"/>
                  <a:gd name="T80" fmla="*/ 0 w 53"/>
                  <a:gd name="T81" fmla="*/ 1 h 63"/>
                  <a:gd name="T82" fmla="*/ 0 w 53"/>
                  <a:gd name="T83" fmla="*/ 1 h 6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
                  <a:gd name="T127" fmla="*/ 0 h 63"/>
                  <a:gd name="T128" fmla="*/ 53 w 53"/>
                  <a:gd name="T129" fmla="*/ 63 h 6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 h="63">
                    <a:moveTo>
                      <a:pt x="53" y="6"/>
                    </a:moveTo>
                    <a:lnTo>
                      <a:pt x="52" y="2"/>
                    </a:lnTo>
                    <a:lnTo>
                      <a:pt x="52" y="0"/>
                    </a:lnTo>
                    <a:lnTo>
                      <a:pt x="50" y="0"/>
                    </a:lnTo>
                    <a:lnTo>
                      <a:pt x="47" y="2"/>
                    </a:lnTo>
                    <a:lnTo>
                      <a:pt x="46" y="3"/>
                    </a:lnTo>
                    <a:lnTo>
                      <a:pt x="45" y="6"/>
                    </a:lnTo>
                    <a:lnTo>
                      <a:pt x="43" y="9"/>
                    </a:lnTo>
                    <a:lnTo>
                      <a:pt x="42" y="12"/>
                    </a:lnTo>
                    <a:lnTo>
                      <a:pt x="39" y="16"/>
                    </a:lnTo>
                    <a:lnTo>
                      <a:pt x="37" y="19"/>
                    </a:lnTo>
                    <a:lnTo>
                      <a:pt x="35" y="23"/>
                    </a:lnTo>
                    <a:lnTo>
                      <a:pt x="30" y="27"/>
                    </a:lnTo>
                    <a:lnTo>
                      <a:pt x="27" y="32"/>
                    </a:lnTo>
                    <a:lnTo>
                      <a:pt x="23" y="37"/>
                    </a:lnTo>
                    <a:lnTo>
                      <a:pt x="20" y="40"/>
                    </a:lnTo>
                    <a:lnTo>
                      <a:pt x="17" y="44"/>
                    </a:lnTo>
                    <a:lnTo>
                      <a:pt x="13" y="46"/>
                    </a:lnTo>
                    <a:lnTo>
                      <a:pt x="10" y="49"/>
                    </a:lnTo>
                    <a:lnTo>
                      <a:pt x="7" y="52"/>
                    </a:lnTo>
                    <a:lnTo>
                      <a:pt x="5" y="54"/>
                    </a:lnTo>
                    <a:lnTo>
                      <a:pt x="0" y="59"/>
                    </a:lnTo>
                    <a:lnTo>
                      <a:pt x="0" y="62"/>
                    </a:lnTo>
                    <a:lnTo>
                      <a:pt x="3" y="63"/>
                    </a:lnTo>
                    <a:lnTo>
                      <a:pt x="7" y="62"/>
                    </a:lnTo>
                    <a:lnTo>
                      <a:pt x="10" y="59"/>
                    </a:lnTo>
                    <a:lnTo>
                      <a:pt x="15" y="56"/>
                    </a:lnTo>
                    <a:lnTo>
                      <a:pt x="17" y="53"/>
                    </a:lnTo>
                    <a:lnTo>
                      <a:pt x="22" y="50"/>
                    </a:lnTo>
                    <a:lnTo>
                      <a:pt x="25" y="47"/>
                    </a:lnTo>
                    <a:lnTo>
                      <a:pt x="29" y="44"/>
                    </a:lnTo>
                    <a:lnTo>
                      <a:pt x="32" y="40"/>
                    </a:lnTo>
                    <a:lnTo>
                      <a:pt x="36" y="37"/>
                    </a:lnTo>
                    <a:lnTo>
                      <a:pt x="39" y="33"/>
                    </a:lnTo>
                    <a:lnTo>
                      <a:pt x="42" y="30"/>
                    </a:lnTo>
                    <a:lnTo>
                      <a:pt x="45" y="26"/>
                    </a:lnTo>
                    <a:lnTo>
                      <a:pt x="46" y="22"/>
                    </a:lnTo>
                    <a:lnTo>
                      <a:pt x="49" y="17"/>
                    </a:lnTo>
                    <a:lnTo>
                      <a:pt x="50" y="14"/>
                    </a:lnTo>
                    <a:lnTo>
                      <a:pt x="52" y="10"/>
                    </a:lnTo>
                    <a:lnTo>
                      <a:pt x="53" y="6"/>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3" name="Freeform 75"/>
              <p:cNvSpPr>
                <a:spLocks/>
              </p:cNvSpPr>
              <p:nvPr/>
            </p:nvSpPr>
            <p:spPr bwMode="auto">
              <a:xfrm>
                <a:off x="2176" y="693"/>
                <a:ext cx="25" cy="34"/>
              </a:xfrm>
              <a:custGeom>
                <a:avLst/>
                <a:gdLst>
                  <a:gd name="T0" fmla="*/ 1 w 50"/>
                  <a:gd name="T1" fmla="*/ 1 h 67"/>
                  <a:gd name="T2" fmla="*/ 1 w 50"/>
                  <a:gd name="T3" fmla="*/ 1 h 67"/>
                  <a:gd name="T4" fmla="*/ 1 w 50"/>
                  <a:gd name="T5" fmla="*/ 1 h 67"/>
                  <a:gd name="T6" fmla="*/ 1 w 50"/>
                  <a:gd name="T7" fmla="*/ 1 h 67"/>
                  <a:gd name="T8" fmla="*/ 1 w 50"/>
                  <a:gd name="T9" fmla="*/ 1 h 67"/>
                  <a:gd name="T10" fmla="*/ 1 w 50"/>
                  <a:gd name="T11" fmla="*/ 1 h 67"/>
                  <a:gd name="T12" fmla="*/ 1 w 50"/>
                  <a:gd name="T13" fmla="*/ 1 h 67"/>
                  <a:gd name="T14" fmla="*/ 1 w 50"/>
                  <a:gd name="T15" fmla="*/ 1 h 67"/>
                  <a:gd name="T16" fmla="*/ 1 w 50"/>
                  <a:gd name="T17" fmla="*/ 1 h 67"/>
                  <a:gd name="T18" fmla="*/ 1 w 50"/>
                  <a:gd name="T19" fmla="*/ 1 h 67"/>
                  <a:gd name="T20" fmla="*/ 1 w 50"/>
                  <a:gd name="T21" fmla="*/ 1 h 67"/>
                  <a:gd name="T22" fmla="*/ 1 w 50"/>
                  <a:gd name="T23" fmla="*/ 1 h 67"/>
                  <a:gd name="T24" fmla="*/ 1 w 50"/>
                  <a:gd name="T25" fmla="*/ 1 h 67"/>
                  <a:gd name="T26" fmla="*/ 1 w 50"/>
                  <a:gd name="T27" fmla="*/ 1 h 67"/>
                  <a:gd name="T28" fmla="*/ 1 w 50"/>
                  <a:gd name="T29" fmla="*/ 1 h 67"/>
                  <a:gd name="T30" fmla="*/ 1 w 50"/>
                  <a:gd name="T31" fmla="*/ 1 h 67"/>
                  <a:gd name="T32" fmla="*/ 1 w 50"/>
                  <a:gd name="T33" fmla="*/ 1 h 67"/>
                  <a:gd name="T34" fmla="*/ 1 w 50"/>
                  <a:gd name="T35" fmla="*/ 0 h 67"/>
                  <a:gd name="T36" fmla="*/ 1 w 50"/>
                  <a:gd name="T37" fmla="*/ 0 h 67"/>
                  <a:gd name="T38" fmla="*/ 1 w 50"/>
                  <a:gd name="T39" fmla="*/ 0 h 67"/>
                  <a:gd name="T40" fmla="*/ 0 w 50"/>
                  <a:gd name="T41" fmla="*/ 1 h 67"/>
                  <a:gd name="T42" fmla="*/ 0 w 50"/>
                  <a:gd name="T43" fmla="*/ 1 h 67"/>
                  <a:gd name="T44" fmla="*/ 0 w 50"/>
                  <a:gd name="T45" fmla="*/ 1 h 67"/>
                  <a:gd name="T46" fmla="*/ 1 w 50"/>
                  <a:gd name="T47" fmla="*/ 1 h 67"/>
                  <a:gd name="T48" fmla="*/ 1 w 50"/>
                  <a:gd name="T49" fmla="*/ 1 h 67"/>
                  <a:gd name="T50" fmla="*/ 1 w 50"/>
                  <a:gd name="T51" fmla="*/ 1 h 67"/>
                  <a:gd name="T52" fmla="*/ 1 w 50"/>
                  <a:gd name="T53" fmla="*/ 1 h 67"/>
                  <a:gd name="T54" fmla="*/ 1 w 50"/>
                  <a:gd name="T55" fmla="*/ 1 h 67"/>
                  <a:gd name="T56" fmla="*/ 1 w 50"/>
                  <a:gd name="T57" fmla="*/ 1 h 67"/>
                  <a:gd name="T58" fmla="*/ 1 w 50"/>
                  <a:gd name="T59" fmla="*/ 1 h 67"/>
                  <a:gd name="T60" fmla="*/ 1 w 50"/>
                  <a:gd name="T61" fmla="*/ 1 h 67"/>
                  <a:gd name="T62" fmla="*/ 1 w 50"/>
                  <a:gd name="T63" fmla="*/ 1 h 67"/>
                  <a:gd name="T64" fmla="*/ 1 w 50"/>
                  <a:gd name="T65" fmla="*/ 1 h 67"/>
                  <a:gd name="T66" fmla="*/ 1 w 50"/>
                  <a:gd name="T67" fmla="*/ 1 h 67"/>
                  <a:gd name="T68" fmla="*/ 1 w 50"/>
                  <a:gd name="T69" fmla="*/ 1 h 67"/>
                  <a:gd name="T70" fmla="*/ 1 w 50"/>
                  <a:gd name="T71" fmla="*/ 1 h 67"/>
                  <a:gd name="T72" fmla="*/ 1 w 50"/>
                  <a:gd name="T73" fmla="*/ 1 h 67"/>
                  <a:gd name="T74" fmla="*/ 1 w 50"/>
                  <a:gd name="T75" fmla="*/ 1 h 67"/>
                  <a:gd name="T76" fmla="*/ 1 w 50"/>
                  <a:gd name="T77" fmla="*/ 1 h 67"/>
                  <a:gd name="T78" fmla="*/ 1 w 50"/>
                  <a:gd name="T79" fmla="*/ 1 h 67"/>
                  <a:gd name="T80" fmla="*/ 1 w 50"/>
                  <a:gd name="T81" fmla="*/ 1 h 67"/>
                  <a:gd name="T82" fmla="*/ 1 w 50"/>
                  <a:gd name="T83" fmla="*/ 1 h 67"/>
                  <a:gd name="T84" fmla="*/ 1 w 50"/>
                  <a:gd name="T85" fmla="*/ 1 h 67"/>
                  <a:gd name="T86" fmla="*/ 1 w 50"/>
                  <a:gd name="T87" fmla="*/ 1 h 6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
                  <a:gd name="T133" fmla="*/ 0 h 67"/>
                  <a:gd name="T134" fmla="*/ 50 w 50"/>
                  <a:gd name="T135" fmla="*/ 67 h 6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 h="67">
                    <a:moveTo>
                      <a:pt x="50" y="62"/>
                    </a:moveTo>
                    <a:lnTo>
                      <a:pt x="46" y="59"/>
                    </a:lnTo>
                    <a:lnTo>
                      <a:pt x="41" y="56"/>
                    </a:lnTo>
                    <a:lnTo>
                      <a:pt x="39" y="53"/>
                    </a:lnTo>
                    <a:lnTo>
                      <a:pt x="36" y="50"/>
                    </a:lnTo>
                    <a:lnTo>
                      <a:pt x="33" y="46"/>
                    </a:lnTo>
                    <a:lnTo>
                      <a:pt x="30" y="42"/>
                    </a:lnTo>
                    <a:lnTo>
                      <a:pt x="27" y="37"/>
                    </a:lnTo>
                    <a:lnTo>
                      <a:pt x="24" y="34"/>
                    </a:lnTo>
                    <a:lnTo>
                      <a:pt x="21" y="29"/>
                    </a:lnTo>
                    <a:lnTo>
                      <a:pt x="20" y="24"/>
                    </a:lnTo>
                    <a:lnTo>
                      <a:pt x="17" y="22"/>
                    </a:lnTo>
                    <a:lnTo>
                      <a:pt x="16" y="17"/>
                    </a:lnTo>
                    <a:lnTo>
                      <a:pt x="14" y="13"/>
                    </a:lnTo>
                    <a:lnTo>
                      <a:pt x="11" y="9"/>
                    </a:lnTo>
                    <a:lnTo>
                      <a:pt x="10" y="6"/>
                    </a:lnTo>
                    <a:lnTo>
                      <a:pt x="9" y="3"/>
                    </a:lnTo>
                    <a:lnTo>
                      <a:pt x="6" y="0"/>
                    </a:lnTo>
                    <a:lnTo>
                      <a:pt x="3" y="0"/>
                    </a:lnTo>
                    <a:lnTo>
                      <a:pt x="1" y="0"/>
                    </a:lnTo>
                    <a:lnTo>
                      <a:pt x="0" y="3"/>
                    </a:lnTo>
                    <a:lnTo>
                      <a:pt x="0" y="4"/>
                    </a:lnTo>
                    <a:lnTo>
                      <a:pt x="0" y="7"/>
                    </a:lnTo>
                    <a:lnTo>
                      <a:pt x="1" y="12"/>
                    </a:lnTo>
                    <a:lnTo>
                      <a:pt x="3" y="16"/>
                    </a:lnTo>
                    <a:lnTo>
                      <a:pt x="4" y="19"/>
                    </a:lnTo>
                    <a:lnTo>
                      <a:pt x="7" y="23"/>
                    </a:lnTo>
                    <a:lnTo>
                      <a:pt x="9" y="26"/>
                    </a:lnTo>
                    <a:lnTo>
                      <a:pt x="10" y="30"/>
                    </a:lnTo>
                    <a:lnTo>
                      <a:pt x="13" y="34"/>
                    </a:lnTo>
                    <a:lnTo>
                      <a:pt x="16" y="39"/>
                    </a:lnTo>
                    <a:lnTo>
                      <a:pt x="16" y="40"/>
                    </a:lnTo>
                    <a:lnTo>
                      <a:pt x="19" y="44"/>
                    </a:lnTo>
                    <a:lnTo>
                      <a:pt x="21" y="47"/>
                    </a:lnTo>
                    <a:lnTo>
                      <a:pt x="24" y="52"/>
                    </a:lnTo>
                    <a:lnTo>
                      <a:pt x="29" y="56"/>
                    </a:lnTo>
                    <a:lnTo>
                      <a:pt x="31" y="60"/>
                    </a:lnTo>
                    <a:lnTo>
                      <a:pt x="36" y="63"/>
                    </a:lnTo>
                    <a:lnTo>
                      <a:pt x="39" y="66"/>
                    </a:lnTo>
                    <a:lnTo>
                      <a:pt x="41" y="67"/>
                    </a:lnTo>
                    <a:lnTo>
                      <a:pt x="44" y="66"/>
                    </a:lnTo>
                    <a:lnTo>
                      <a:pt x="47" y="64"/>
                    </a:lnTo>
                    <a:lnTo>
                      <a:pt x="50" y="62"/>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4" name="Freeform 76"/>
              <p:cNvSpPr>
                <a:spLocks/>
              </p:cNvSpPr>
              <p:nvPr/>
            </p:nvSpPr>
            <p:spPr bwMode="auto">
              <a:xfrm>
                <a:off x="2157" y="690"/>
                <a:ext cx="8" cy="24"/>
              </a:xfrm>
              <a:custGeom>
                <a:avLst/>
                <a:gdLst>
                  <a:gd name="T0" fmla="*/ 1 w 16"/>
                  <a:gd name="T1" fmla="*/ 0 h 49"/>
                  <a:gd name="T2" fmla="*/ 1 w 16"/>
                  <a:gd name="T3" fmla="*/ 0 h 49"/>
                  <a:gd name="T4" fmla="*/ 1 w 16"/>
                  <a:gd name="T5" fmla="*/ 0 h 49"/>
                  <a:gd name="T6" fmla="*/ 1 w 16"/>
                  <a:gd name="T7" fmla="*/ 0 h 49"/>
                  <a:gd name="T8" fmla="*/ 1 w 16"/>
                  <a:gd name="T9" fmla="*/ 0 h 49"/>
                  <a:gd name="T10" fmla="*/ 1 w 16"/>
                  <a:gd name="T11" fmla="*/ 0 h 49"/>
                  <a:gd name="T12" fmla="*/ 1 w 16"/>
                  <a:gd name="T13" fmla="*/ 0 h 49"/>
                  <a:gd name="T14" fmla="*/ 1 w 16"/>
                  <a:gd name="T15" fmla="*/ 0 h 49"/>
                  <a:gd name="T16" fmla="*/ 1 w 16"/>
                  <a:gd name="T17" fmla="*/ 0 h 49"/>
                  <a:gd name="T18" fmla="*/ 1 w 16"/>
                  <a:gd name="T19" fmla="*/ 0 h 49"/>
                  <a:gd name="T20" fmla="*/ 1 w 16"/>
                  <a:gd name="T21" fmla="*/ 0 h 49"/>
                  <a:gd name="T22" fmla="*/ 1 w 16"/>
                  <a:gd name="T23" fmla="*/ 0 h 49"/>
                  <a:gd name="T24" fmla="*/ 1 w 16"/>
                  <a:gd name="T25" fmla="*/ 0 h 49"/>
                  <a:gd name="T26" fmla="*/ 1 w 16"/>
                  <a:gd name="T27" fmla="*/ 0 h 49"/>
                  <a:gd name="T28" fmla="*/ 1 w 16"/>
                  <a:gd name="T29" fmla="*/ 0 h 49"/>
                  <a:gd name="T30" fmla="*/ 1 w 16"/>
                  <a:gd name="T31" fmla="*/ 0 h 49"/>
                  <a:gd name="T32" fmla="*/ 1 w 16"/>
                  <a:gd name="T33" fmla="*/ 0 h 49"/>
                  <a:gd name="T34" fmla="*/ 1 w 16"/>
                  <a:gd name="T35" fmla="*/ 0 h 49"/>
                  <a:gd name="T36" fmla="*/ 1 w 16"/>
                  <a:gd name="T37" fmla="*/ 0 h 49"/>
                  <a:gd name="T38" fmla="*/ 1 w 16"/>
                  <a:gd name="T39" fmla="*/ 0 h 49"/>
                  <a:gd name="T40" fmla="*/ 1 w 16"/>
                  <a:gd name="T41" fmla="*/ 0 h 49"/>
                  <a:gd name="T42" fmla="*/ 1 w 16"/>
                  <a:gd name="T43" fmla="*/ 0 h 49"/>
                  <a:gd name="T44" fmla="*/ 1 w 16"/>
                  <a:gd name="T45" fmla="*/ 0 h 49"/>
                  <a:gd name="T46" fmla="*/ 1 w 16"/>
                  <a:gd name="T47" fmla="*/ 0 h 49"/>
                  <a:gd name="T48" fmla="*/ 1 w 16"/>
                  <a:gd name="T49" fmla="*/ 0 h 49"/>
                  <a:gd name="T50" fmla="*/ 1 w 16"/>
                  <a:gd name="T51" fmla="*/ 0 h 49"/>
                  <a:gd name="T52" fmla="*/ 1 w 16"/>
                  <a:gd name="T53" fmla="*/ 0 h 49"/>
                  <a:gd name="T54" fmla="*/ 0 w 16"/>
                  <a:gd name="T55" fmla="*/ 0 h 49"/>
                  <a:gd name="T56" fmla="*/ 0 w 16"/>
                  <a:gd name="T57" fmla="*/ 0 h 49"/>
                  <a:gd name="T58" fmla="*/ 1 w 16"/>
                  <a:gd name="T59" fmla="*/ 0 h 49"/>
                  <a:gd name="T60" fmla="*/ 1 w 16"/>
                  <a:gd name="T61" fmla="*/ 0 h 49"/>
                  <a:gd name="T62" fmla="*/ 1 w 16"/>
                  <a:gd name="T63" fmla="*/ 0 h 49"/>
                  <a:gd name="T64" fmla="*/ 1 w 16"/>
                  <a:gd name="T65" fmla="*/ 0 h 49"/>
                  <a:gd name="T66" fmla="*/ 1 w 16"/>
                  <a:gd name="T67" fmla="*/ 0 h 49"/>
                  <a:gd name="T68" fmla="*/ 1 w 16"/>
                  <a:gd name="T69" fmla="*/ 0 h 49"/>
                  <a:gd name="T70" fmla="*/ 1 w 16"/>
                  <a:gd name="T71" fmla="*/ 0 h 49"/>
                  <a:gd name="T72" fmla="*/ 1 w 16"/>
                  <a:gd name="T73" fmla="*/ 0 h 49"/>
                  <a:gd name="T74" fmla="*/ 1 w 16"/>
                  <a:gd name="T75" fmla="*/ 0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
                  <a:gd name="T115" fmla="*/ 0 h 49"/>
                  <a:gd name="T116" fmla="*/ 16 w 16"/>
                  <a:gd name="T117" fmla="*/ 49 h 4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 h="49">
                    <a:moveTo>
                      <a:pt x="10" y="47"/>
                    </a:moveTo>
                    <a:lnTo>
                      <a:pt x="13" y="49"/>
                    </a:lnTo>
                    <a:lnTo>
                      <a:pt x="15" y="49"/>
                    </a:lnTo>
                    <a:lnTo>
                      <a:pt x="16" y="49"/>
                    </a:lnTo>
                    <a:lnTo>
                      <a:pt x="16" y="47"/>
                    </a:lnTo>
                    <a:lnTo>
                      <a:pt x="16" y="46"/>
                    </a:lnTo>
                    <a:lnTo>
                      <a:pt x="16" y="43"/>
                    </a:lnTo>
                    <a:lnTo>
                      <a:pt x="16" y="40"/>
                    </a:lnTo>
                    <a:lnTo>
                      <a:pt x="15" y="37"/>
                    </a:lnTo>
                    <a:lnTo>
                      <a:pt x="13" y="33"/>
                    </a:lnTo>
                    <a:lnTo>
                      <a:pt x="13" y="30"/>
                    </a:lnTo>
                    <a:lnTo>
                      <a:pt x="12" y="26"/>
                    </a:lnTo>
                    <a:lnTo>
                      <a:pt x="10" y="23"/>
                    </a:lnTo>
                    <a:lnTo>
                      <a:pt x="10" y="20"/>
                    </a:lnTo>
                    <a:lnTo>
                      <a:pt x="10" y="16"/>
                    </a:lnTo>
                    <a:lnTo>
                      <a:pt x="9" y="13"/>
                    </a:lnTo>
                    <a:lnTo>
                      <a:pt x="10" y="11"/>
                    </a:lnTo>
                    <a:lnTo>
                      <a:pt x="10" y="9"/>
                    </a:lnTo>
                    <a:lnTo>
                      <a:pt x="10" y="6"/>
                    </a:lnTo>
                    <a:lnTo>
                      <a:pt x="10" y="3"/>
                    </a:lnTo>
                    <a:lnTo>
                      <a:pt x="9" y="1"/>
                    </a:lnTo>
                    <a:lnTo>
                      <a:pt x="8" y="0"/>
                    </a:lnTo>
                    <a:lnTo>
                      <a:pt x="6" y="1"/>
                    </a:lnTo>
                    <a:lnTo>
                      <a:pt x="5" y="1"/>
                    </a:lnTo>
                    <a:lnTo>
                      <a:pt x="3" y="4"/>
                    </a:lnTo>
                    <a:lnTo>
                      <a:pt x="2" y="9"/>
                    </a:lnTo>
                    <a:lnTo>
                      <a:pt x="2" y="14"/>
                    </a:lnTo>
                    <a:lnTo>
                      <a:pt x="0" y="17"/>
                    </a:lnTo>
                    <a:lnTo>
                      <a:pt x="0" y="20"/>
                    </a:lnTo>
                    <a:lnTo>
                      <a:pt x="2" y="23"/>
                    </a:lnTo>
                    <a:lnTo>
                      <a:pt x="2" y="26"/>
                    </a:lnTo>
                    <a:lnTo>
                      <a:pt x="2" y="29"/>
                    </a:lnTo>
                    <a:lnTo>
                      <a:pt x="3" y="31"/>
                    </a:lnTo>
                    <a:lnTo>
                      <a:pt x="3" y="34"/>
                    </a:lnTo>
                    <a:lnTo>
                      <a:pt x="5" y="37"/>
                    </a:lnTo>
                    <a:lnTo>
                      <a:pt x="8" y="41"/>
                    </a:lnTo>
                    <a:lnTo>
                      <a:pt x="10" y="47"/>
                    </a:lnTo>
                    <a:close/>
                  </a:path>
                </a:pathLst>
              </a:custGeom>
              <a:solidFill>
                <a:srgbClr val="E6B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5" name="Freeform 77"/>
              <p:cNvSpPr>
                <a:spLocks/>
              </p:cNvSpPr>
              <p:nvPr/>
            </p:nvSpPr>
            <p:spPr bwMode="auto">
              <a:xfrm>
                <a:off x="2110" y="714"/>
                <a:ext cx="506" cy="51"/>
              </a:xfrm>
              <a:custGeom>
                <a:avLst/>
                <a:gdLst>
                  <a:gd name="T0" fmla="*/ 4 w 1012"/>
                  <a:gd name="T1" fmla="*/ 0 h 103"/>
                  <a:gd name="T2" fmla="*/ 4 w 1012"/>
                  <a:gd name="T3" fmla="*/ 0 h 103"/>
                  <a:gd name="T4" fmla="*/ 4 w 1012"/>
                  <a:gd name="T5" fmla="*/ 0 h 103"/>
                  <a:gd name="T6" fmla="*/ 4 w 1012"/>
                  <a:gd name="T7" fmla="*/ 0 h 103"/>
                  <a:gd name="T8" fmla="*/ 4 w 1012"/>
                  <a:gd name="T9" fmla="*/ 0 h 103"/>
                  <a:gd name="T10" fmla="*/ 4 w 1012"/>
                  <a:gd name="T11" fmla="*/ 0 h 103"/>
                  <a:gd name="T12" fmla="*/ 4 w 1012"/>
                  <a:gd name="T13" fmla="*/ 0 h 103"/>
                  <a:gd name="T14" fmla="*/ 3 w 1012"/>
                  <a:gd name="T15" fmla="*/ 0 h 103"/>
                  <a:gd name="T16" fmla="*/ 3 w 1012"/>
                  <a:gd name="T17" fmla="*/ 0 h 103"/>
                  <a:gd name="T18" fmla="*/ 3 w 1012"/>
                  <a:gd name="T19" fmla="*/ 0 h 103"/>
                  <a:gd name="T20" fmla="*/ 2 w 1012"/>
                  <a:gd name="T21" fmla="*/ 0 h 103"/>
                  <a:gd name="T22" fmla="*/ 2 w 1012"/>
                  <a:gd name="T23" fmla="*/ 0 h 103"/>
                  <a:gd name="T24" fmla="*/ 2 w 1012"/>
                  <a:gd name="T25" fmla="*/ 0 h 103"/>
                  <a:gd name="T26" fmla="*/ 2 w 1012"/>
                  <a:gd name="T27" fmla="*/ 0 h 103"/>
                  <a:gd name="T28" fmla="*/ 1 w 1012"/>
                  <a:gd name="T29" fmla="*/ 0 h 103"/>
                  <a:gd name="T30" fmla="*/ 1 w 1012"/>
                  <a:gd name="T31" fmla="*/ 0 h 103"/>
                  <a:gd name="T32" fmla="*/ 1 w 1012"/>
                  <a:gd name="T33" fmla="*/ 0 h 103"/>
                  <a:gd name="T34" fmla="*/ 1 w 1012"/>
                  <a:gd name="T35" fmla="*/ 0 h 103"/>
                  <a:gd name="T36" fmla="*/ 1 w 1012"/>
                  <a:gd name="T37" fmla="*/ 0 h 103"/>
                  <a:gd name="T38" fmla="*/ 1 w 1012"/>
                  <a:gd name="T39" fmla="*/ 0 h 103"/>
                  <a:gd name="T40" fmla="*/ 1 w 1012"/>
                  <a:gd name="T41" fmla="*/ 0 h 103"/>
                  <a:gd name="T42" fmla="*/ 0 w 1012"/>
                  <a:gd name="T43" fmla="*/ 0 h 103"/>
                  <a:gd name="T44" fmla="*/ 1 w 1012"/>
                  <a:gd name="T45" fmla="*/ 0 h 103"/>
                  <a:gd name="T46" fmla="*/ 1 w 1012"/>
                  <a:gd name="T47" fmla="*/ 0 h 103"/>
                  <a:gd name="T48" fmla="*/ 1 w 1012"/>
                  <a:gd name="T49" fmla="*/ 0 h 103"/>
                  <a:gd name="T50" fmla="*/ 1 w 1012"/>
                  <a:gd name="T51" fmla="*/ 0 h 103"/>
                  <a:gd name="T52" fmla="*/ 1 w 1012"/>
                  <a:gd name="T53" fmla="*/ 0 h 103"/>
                  <a:gd name="T54" fmla="*/ 1 w 1012"/>
                  <a:gd name="T55" fmla="*/ 0 h 103"/>
                  <a:gd name="T56" fmla="*/ 1 w 1012"/>
                  <a:gd name="T57" fmla="*/ 0 h 103"/>
                  <a:gd name="T58" fmla="*/ 1 w 1012"/>
                  <a:gd name="T59" fmla="*/ 0 h 103"/>
                  <a:gd name="T60" fmla="*/ 2 w 1012"/>
                  <a:gd name="T61" fmla="*/ 0 h 103"/>
                  <a:gd name="T62" fmla="*/ 2 w 1012"/>
                  <a:gd name="T63" fmla="*/ 0 h 103"/>
                  <a:gd name="T64" fmla="*/ 2 w 1012"/>
                  <a:gd name="T65" fmla="*/ 0 h 103"/>
                  <a:gd name="T66" fmla="*/ 2 w 1012"/>
                  <a:gd name="T67" fmla="*/ 0 h 103"/>
                  <a:gd name="T68" fmla="*/ 2 w 1012"/>
                  <a:gd name="T69" fmla="*/ 0 h 103"/>
                  <a:gd name="T70" fmla="*/ 2 w 1012"/>
                  <a:gd name="T71" fmla="*/ 0 h 103"/>
                  <a:gd name="T72" fmla="*/ 2 w 1012"/>
                  <a:gd name="T73" fmla="*/ 0 h 103"/>
                  <a:gd name="T74" fmla="*/ 3 w 1012"/>
                  <a:gd name="T75" fmla="*/ 0 h 103"/>
                  <a:gd name="T76" fmla="*/ 3 w 1012"/>
                  <a:gd name="T77" fmla="*/ 0 h 103"/>
                  <a:gd name="T78" fmla="*/ 3 w 1012"/>
                  <a:gd name="T79" fmla="*/ 0 h 103"/>
                  <a:gd name="T80" fmla="*/ 3 w 1012"/>
                  <a:gd name="T81" fmla="*/ 0 h 103"/>
                  <a:gd name="T82" fmla="*/ 3 w 1012"/>
                  <a:gd name="T83" fmla="*/ 0 h 103"/>
                  <a:gd name="T84" fmla="*/ 3 w 1012"/>
                  <a:gd name="T85" fmla="*/ 0 h 103"/>
                  <a:gd name="T86" fmla="*/ 4 w 1012"/>
                  <a:gd name="T87" fmla="*/ 0 h 103"/>
                  <a:gd name="T88" fmla="*/ 4 w 1012"/>
                  <a:gd name="T89" fmla="*/ 0 h 103"/>
                  <a:gd name="T90" fmla="*/ 4 w 1012"/>
                  <a:gd name="T91" fmla="*/ 0 h 103"/>
                  <a:gd name="T92" fmla="*/ 4 w 1012"/>
                  <a:gd name="T93" fmla="*/ 0 h 103"/>
                  <a:gd name="T94" fmla="*/ 4 w 1012"/>
                  <a:gd name="T95" fmla="*/ 0 h 103"/>
                  <a:gd name="T96" fmla="*/ 4 w 1012"/>
                  <a:gd name="T97" fmla="*/ 0 h 103"/>
                  <a:gd name="T98" fmla="*/ 4 w 1012"/>
                  <a:gd name="T99" fmla="*/ 0 h 103"/>
                  <a:gd name="T100" fmla="*/ 4 w 1012"/>
                  <a:gd name="T101" fmla="*/ 0 h 103"/>
                  <a:gd name="T102" fmla="*/ 4 w 1012"/>
                  <a:gd name="T103" fmla="*/ 0 h 103"/>
                  <a:gd name="T104" fmla="*/ 4 w 1012"/>
                  <a:gd name="T105" fmla="*/ 0 h 103"/>
                  <a:gd name="T106" fmla="*/ 4 w 1012"/>
                  <a:gd name="T107" fmla="*/ 0 h 103"/>
                  <a:gd name="T108" fmla="*/ 4 w 1012"/>
                  <a:gd name="T109" fmla="*/ 0 h 1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12"/>
                  <a:gd name="T166" fmla="*/ 0 h 103"/>
                  <a:gd name="T167" fmla="*/ 1012 w 1012"/>
                  <a:gd name="T168" fmla="*/ 103 h 1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12" h="103">
                    <a:moveTo>
                      <a:pt x="1011" y="93"/>
                    </a:moveTo>
                    <a:lnTo>
                      <a:pt x="1002" y="91"/>
                    </a:lnTo>
                    <a:lnTo>
                      <a:pt x="994" y="90"/>
                    </a:lnTo>
                    <a:lnTo>
                      <a:pt x="985" y="88"/>
                    </a:lnTo>
                    <a:lnTo>
                      <a:pt x="977" y="88"/>
                    </a:lnTo>
                    <a:lnTo>
                      <a:pt x="968" y="88"/>
                    </a:lnTo>
                    <a:lnTo>
                      <a:pt x="961" y="88"/>
                    </a:lnTo>
                    <a:lnTo>
                      <a:pt x="951" y="88"/>
                    </a:lnTo>
                    <a:lnTo>
                      <a:pt x="944" y="90"/>
                    </a:lnTo>
                    <a:lnTo>
                      <a:pt x="935" y="90"/>
                    </a:lnTo>
                    <a:lnTo>
                      <a:pt x="926" y="90"/>
                    </a:lnTo>
                    <a:lnTo>
                      <a:pt x="918" y="91"/>
                    </a:lnTo>
                    <a:lnTo>
                      <a:pt x="911" y="91"/>
                    </a:lnTo>
                    <a:lnTo>
                      <a:pt x="902" y="91"/>
                    </a:lnTo>
                    <a:lnTo>
                      <a:pt x="894" y="91"/>
                    </a:lnTo>
                    <a:lnTo>
                      <a:pt x="885" y="90"/>
                    </a:lnTo>
                    <a:lnTo>
                      <a:pt x="876" y="90"/>
                    </a:lnTo>
                    <a:lnTo>
                      <a:pt x="852" y="91"/>
                    </a:lnTo>
                    <a:lnTo>
                      <a:pt x="829" y="90"/>
                    </a:lnTo>
                    <a:lnTo>
                      <a:pt x="805" y="88"/>
                    </a:lnTo>
                    <a:lnTo>
                      <a:pt x="782" y="85"/>
                    </a:lnTo>
                    <a:lnTo>
                      <a:pt x="759" y="81"/>
                    </a:lnTo>
                    <a:lnTo>
                      <a:pt x="735" y="77"/>
                    </a:lnTo>
                    <a:lnTo>
                      <a:pt x="711" y="71"/>
                    </a:lnTo>
                    <a:lnTo>
                      <a:pt x="688" y="67"/>
                    </a:lnTo>
                    <a:lnTo>
                      <a:pt x="665" y="61"/>
                    </a:lnTo>
                    <a:lnTo>
                      <a:pt x="641" y="55"/>
                    </a:lnTo>
                    <a:lnTo>
                      <a:pt x="618" y="51"/>
                    </a:lnTo>
                    <a:lnTo>
                      <a:pt x="593" y="48"/>
                    </a:lnTo>
                    <a:lnTo>
                      <a:pt x="569" y="45"/>
                    </a:lnTo>
                    <a:lnTo>
                      <a:pt x="546" y="45"/>
                    </a:lnTo>
                    <a:lnTo>
                      <a:pt x="523" y="45"/>
                    </a:lnTo>
                    <a:lnTo>
                      <a:pt x="500" y="48"/>
                    </a:lnTo>
                    <a:lnTo>
                      <a:pt x="473" y="48"/>
                    </a:lnTo>
                    <a:lnTo>
                      <a:pt x="448" y="48"/>
                    </a:lnTo>
                    <a:lnTo>
                      <a:pt x="420" y="47"/>
                    </a:lnTo>
                    <a:lnTo>
                      <a:pt x="395" y="45"/>
                    </a:lnTo>
                    <a:lnTo>
                      <a:pt x="367" y="42"/>
                    </a:lnTo>
                    <a:lnTo>
                      <a:pt x="342" y="40"/>
                    </a:lnTo>
                    <a:lnTo>
                      <a:pt x="316" y="37"/>
                    </a:lnTo>
                    <a:lnTo>
                      <a:pt x="289" y="32"/>
                    </a:lnTo>
                    <a:lnTo>
                      <a:pt x="262" y="28"/>
                    </a:lnTo>
                    <a:lnTo>
                      <a:pt x="236" y="24"/>
                    </a:lnTo>
                    <a:lnTo>
                      <a:pt x="209" y="21"/>
                    </a:lnTo>
                    <a:lnTo>
                      <a:pt x="183" y="17"/>
                    </a:lnTo>
                    <a:lnTo>
                      <a:pt x="156" y="14"/>
                    </a:lnTo>
                    <a:lnTo>
                      <a:pt x="129" y="10"/>
                    </a:lnTo>
                    <a:lnTo>
                      <a:pt x="102" y="8"/>
                    </a:lnTo>
                    <a:lnTo>
                      <a:pt x="76" y="7"/>
                    </a:lnTo>
                    <a:lnTo>
                      <a:pt x="72" y="5"/>
                    </a:lnTo>
                    <a:lnTo>
                      <a:pt x="69" y="5"/>
                    </a:lnTo>
                    <a:lnTo>
                      <a:pt x="66" y="5"/>
                    </a:lnTo>
                    <a:lnTo>
                      <a:pt x="63" y="5"/>
                    </a:lnTo>
                    <a:lnTo>
                      <a:pt x="59" y="4"/>
                    </a:lnTo>
                    <a:lnTo>
                      <a:pt x="56" y="4"/>
                    </a:lnTo>
                    <a:lnTo>
                      <a:pt x="53" y="2"/>
                    </a:lnTo>
                    <a:lnTo>
                      <a:pt x="50" y="2"/>
                    </a:lnTo>
                    <a:lnTo>
                      <a:pt x="46" y="2"/>
                    </a:lnTo>
                    <a:lnTo>
                      <a:pt x="43" y="2"/>
                    </a:lnTo>
                    <a:lnTo>
                      <a:pt x="40" y="1"/>
                    </a:lnTo>
                    <a:lnTo>
                      <a:pt x="36" y="1"/>
                    </a:lnTo>
                    <a:lnTo>
                      <a:pt x="33" y="1"/>
                    </a:lnTo>
                    <a:lnTo>
                      <a:pt x="30" y="0"/>
                    </a:lnTo>
                    <a:lnTo>
                      <a:pt x="27" y="0"/>
                    </a:lnTo>
                    <a:lnTo>
                      <a:pt x="23" y="0"/>
                    </a:lnTo>
                    <a:lnTo>
                      <a:pt x="0" y="7"/>
                    </a:lnTo>
                    <a:lnTo>
                      <a:pt x="12" y="8"/>
                    </a:lnTo>
                    <a:lnTo>
                      <a:pt x="22" y="10"/>
                    </a:lnTo>
                    <a:lnTo>
                      <a:pt x="33" y="11"/>
                    </a:lnTo>
                    <a:lnTo>
                      <a:pt x="43" y="14"/>
                    </a:lnTo>
                    <a:lnTo>
                      <a:pt x="54" y="14"/>
                    </a:lnTo>
                    <a:lnTo>
                      <a:pt x="66" y="15"/>
                    </a:lnTo>
                    <a:lnTo>
                      <a:pt x="77" y="15"/>
                    </a:lnTo>
                    <a:lnTo>
                      <a:pt x="87" y="17"/>
                    </a:lnTo>
                    <a:lnTo>
                      <a:pt x="99" y="18"/>
                    </a:lnTo>
                    <a:lnTo>
                      <a:pt x="110" y="18"/>
                    </a:lnTo>
                    <a:lnTo>
                      <a:pt x="120" y="20"/>
                    </a:lnTo>
                    <a:lnTo>
                      <a:pt x="132" y="21"/>
                    </a:lnTo>
                    <a:lnTo>
                      <a:pt x="143" y="22"/>
                    </a:lnTo>
                    <a:lnTo>
                      <a:pt x="154" y="24"/>
                    </a:lnTo>
                    <a:lnTo>
                      <a:pt x="166" y="27"/>
                    </a:lnTo>
                    <a:lnTo>
                      <a:pt x="177" y="30"/>
                    </a:lnTo>
                    <a:lnTo>
                      <a:pt x="184" y="31"/>
                    </a:lnTo>
                    <a:lnTo>
                      <a:pt x="193" y="32"/>
                    </a:lnTo>
                    <a:lnTo>
                      <a:pt x="200" y="32"/>
                    </a:lnTo>
                    <a:lnTo>
                      <a:pt x="207" y="34"/>
                    </a:lnTo>
                    <a:lnTo>
                      <a:pt x="216" y="34"/>
                    </a:lnTo>
                    <a:lnTo>
                      <a:pt x="223" y="35"/>
                    </a:lnTo>
                    <a:lnTo>
                      <a:pt x="230" y="37"/>
                    </a:lnTo>
                    <a:lnTo>
                      <a:pt x="239" y="38"/>
                    </a:lnTo>
                    <a:lnTo>
                      <a:pt x="246" y="38"/>
                    </a:lnTo>
                    <a:lnTo>
                      <a:pt x="253" y="40"/>
                    </a:lnTo>
                    <a:lnTo>
                      <a:pt x="262" y="40"/>
                    </a:lnTo>
                    <a:lnTo>
                      <a:pt x="269" y="41"/>
                    </a:lnTo>
                    <a:lnTo>
                      <a:pt x="276" y="42"/>
                    </a:lnTo>
                    <a:lnTo>
                      <a:pt x="285" y="44"/>
                    </a:lnTo>
                    <a:lnTo>
                      <a:pt x="292" y="45"/>
                    </a:lnTo>
                    <a:lnTo>
                      <a:pt x="300" y="47"/>
                    </a:lnTo>
                    <a:lnTo>
                      <a:pt x="316" y="48"/>
                    </a:lnTo>
                    <a:lnTo>
                      <a:pt x="332" y="51"/>
                    </a:lnTo>
                    <a:lnTo>
                      <a:pt x="347" y="53"/>
                    </a:lnTo>
                    <a:lnTo>
                      <a:pt x="365" y="54"/>
                    </a:lnTo>
                    <a:lnTo>
                      <a:pt x="380" y="54"/>
                    </a:lnTo>
                    <a:lnTo>
                      <a:pt x="396" y="57"/>
                    </a:lnTo>
                    <a:lnTo>
                      <a:pt x="413" y="57"/>
                    </a:lnTo>
                    <a:lnTo>
                      <a:pt x="429" y="58"/>
                    </a:lnTo>
                    <a:lnTo>
                      <a:pt x="445" y="58"/>
                    </a:lnTo>
                    <a:lnTo>
                      <a:pt x="460" y="58"/>
                    </a:lnTo>
                    <a:lnTo>
                      <a:pt x="476" y="58"/>
                    </a:lnTo>
                    <a:lnTo>
                      <a:pt x="492" y="60"/>
                    </a:lnTo>
                    <a:lnTo>
                      <a:pt x="508" y="58"/>
                    </a:lnTo>
                    <a:lnTo>
                      <a:pt x="525" y="58"/>
                    </a:lnTo>
                    <a:lnTo>
                      <a:pt x="540" y="58"/>
                    </a:lnTo>
                    <a:lnTo>
                      <a:pt x="556" y="57"/>
                    </a:lnTo>
                    <a:lnTo>
                      <a:pt x="569" y="57"/>
                    </a:lnTo>
                    <a:lnTo>
                      <a:pt x="583" y="58"/>
                    </a:lnTo>
                    <a:lnTo>
                      <a:pt x="598" y="60"/>
                    </a:lnTo>
                    <a:lnTo>
                      <a:pt x="611" y="61"/>
                    </a:lnTo>
                    <a:lnTo>
                      <a:pt x="625" y="63"/>
                    </a:lnTo>
                    <a:lnTo>
                      <a:pt x="638" y="65"/>
                    </a:lnTo>
                    <a:lnTo>
                      <a:pt x="652" y="68"/>
                    </a:lnTo>
                    <a:lnTo>
                      <a:pt x="665" y="71"/>
                    </a:lnTo>
                    <a:lnTo>
                      <a:pt x="679" y="74"/>
                    </a:lnTo>
                    <a:lnTo>
                      <a:pt x="692" y="77"/>
                    </a:lnTo>
                    <a:lnTo>
                      <a:pt x="706" y="80"/>
                    </a:lnTo>
                    <a:lnTo>
                      <a:pt x="719" y="83"/>
                    </a:lnTo>
                    <a:lnTo>
                      <a:pt x="733" y="87"/>
                    </a:lnTo>
                    <a:lnTo>
                      <a:pt x="748" y="90"/>
                    </a:lnTo>
                    <a:lnTo>
                      <a:pt x="761" y="93"/>
                    </a:lnTo>
                    <a:lnTo>
                      <a:pt x="775" y="95"/>
                    </a:lnTo>
                    <a:lnTo>
                      <a:pt x="788" y="95"/>
                    </a:lnTo>
                    <a:lnTo>
                      <a:pt x="799" y="97"/>
                    </a:lnTo>
                    <a:lnTo>
                      <a:pt x="811" y="98"/>
                    </a:lnTo>
                    <a:lnTo>
                      <a:pt x="822" y="98"/>
                    </a:lnTo>
                    <a:lnTo>
                      <a:pt x="835" y="100"/>
                    </a:lnTo>
                    <a:lnTo>
                      <a:pt x="846" y="100"/>
                    </a:lnTo>
                    <a:lnTo>
                      <a:pt x="858" y="100"/>
                    </a:lnTo>
                    <a:lnTo>
                      <a:pt x="871" y="101"/>
                    </a:lnTo>
                    <a:lnTo>
                      <a:pt x="881" y="101"/>
                    </a:lnTo>
                    <a:lnTo>
                      <a:pt x="894" y="101"/>
                    </a:lnTo>
                    <a:lnTo>
                      <a:pt x="905" y="101"/>
                    </a:lnTo>
                    <a:lnTo>
                      <a:pt x="916" y="101"/>
                    </a:lnTo>
                    <a:lnTo>
                      <a:pt x="928" y="100"/>
                    </a:lnTo>
                    <a:lnTo>
                      <a:pt x="941" y="100"/>
                    </a:lnTo>
                    <a:lnTo>
                      <a:pt x="952" y="98"/>
                    </a:lnTo>
                    <a:lnTo>
                      <a:pt x="964" y="98"/>
                    </a:lnTo>
                    <a:lnTo>
                      <a:pt x="967" y="98"/>
                    </a:lnTo>
                    <a:lnTo>
                      <a:pt x="969" y="98"/>
                    </a:lnTo>
                    <a:lnTo>
                      <a:pt x="972" y="98"/>
                    </a:lnTo>
                    <a:lnTo>
                      <a:pt x="977" y="98"/>
                    </a:lnTo>
                    <a:lnTo>
                      <a:pt x="978" y="98"/>
                    </a:lnTo>
                    <a:lnTo>
                      <a:pt x="982" y="100"/>
                    </a:lnTo>
                    <a:lnTo>
                      <a:pt x="985" y="100"/>
                    </a:lnTo>
                    <a:lnTo>
                      <a:pt x="988" y="101"/>
                    </a:lnTo>
                    <a:lnTo>
                      <a:pt x="991" y="101"/>
                    </a:lnTo>
                    <a:lnTo>
                      <a:pt x="994" y="101"/>
                    </a:lnTo>
                    <a:lnTo>
                      <a:pt x="997" y="103"/>
                    </a:lnTo>
                    <a:lnTo>
                      <a:pt x="999" y="103"/>
                    </a:lnTo>
                    <a:lnTo>
                      <a:pt x="1004" y="103"/>
                    </a:lnTo>
                    <a:lnTo>
                      <a:pt x="1007" y="103"/>
                    </a:lnTo>
                    <a:lnTo>
                      <a:pt x="1009" y="103"/>
                    </a:lnTo>
                    <a:lnTo>
                      <a:pt x="1012" y="103"/>
                    </a:lnTo>
                    <a:lnTo>
                      <a:pt x="1012" y="100"/>
                    </a:lnTo>
                    <a:lnTo>
                      <a:pt x="1011" y="97"/>
                    </a:lnTo>
                    <a:lnTo>
                      <a:pt x="1011" y="95"/>
                    </a:lnTo>
                    <a:lnTo>
                      <a:pt x="1011"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6" name="Freeform 78"/>
              <p:cNvSpPr>
                <a:spLocks/>
              </p:cNvSpPr>
              <p:nvPr/>
            </p:nvSpPr>
            <p:spPr bwMode="auto">
              <a:xfrm>
                <a:off x="1999" y="925"/>
                <a:ext cx="87" cy="326"/>
              </a:xfrm>
              <a:custGeom>
                <a:avLst/>
                <a:gdLst>
                  <a:gd name="T0" fmla="*/ 0 w 175"/>
                  <a:gd name="T1" fmla="*/ 1 h 651"/>
                  <a:gd name="T2" fmla="*/ 0 w 175"/>
                  <a:gd name="T3" fmla="*/ 1 h 651"/>
                  <a:gd name="T4" fmla="*/ 0 w 175"/>
                  <a:gd name="T5" fmla="*/ 1 h 651"/>
                  <a:gd name="T6" fmla="*/ 0 w 175"/>
                  <a:gd name="T7" fmla="*/ 1 h 651"/>
                  <a:gd name="T8" fmla="*/ 0 w 175"/>
                  <a:gd name="T9" fmla="*/ 1 h 651"/>
                  <a:gd name="T10" fmla="*/ 0 w 175"/>
                  <a:gd name="T11" fmla="*/ 1 h 651"/>
                  <a:gd name="T12" fmla="*/ 0 w 175"/>
                  <a:gd name="T13" fmla="*/ 1 h 651"/>
                  <a:gd name="T14" fmla="*/ 0 w 175"/>
                  <a:gd name="T15" fmla="*/ 1 h 651"/>
                  <a:gd name="T16" fmla="*/ 0 w 175"/>
                  <a:gd name="T17" fmla="*/ 1 h 651"/>
                  <a:gd name="T18" fmla="*/ 0 w 175"/>
                  <a:gd name="T19" fmla="*/ 1 h 651"/>
                  <a:gd name="T20" fmla="*/ 0 w 175"/>
                  <a:gd name="T21" fmla="*/ 1 h 651"/>
                  <a:gd name="T22" fmla="*/ 0 w 175"/>
                  <a:gd name="T23" fmla="*/ 1 h 651"/>
                  <a:gd name="T24" fmla="*/ 0 w 175"/>
                  <a:gd name="T25" fmla="*/ 2 h 651"/>
                  <a:gd name="T26" fmla="*/ 0 w 175"/>
                  <a:gd name="T27" fmla="*/ 2 h 651"/>
                  <a:gd name="T28" fmla="*/ 0 w 175"/>
                  <a:gd name="T29" fmla="*/ 2 h 651"/>
                  <a:gd name="T30" fmla="*/ 0 w 175"/>
                  <a:gd name="T31" fmla="*/ 2 h 651"/>
                  <a:gd name="T32" fmla="*/ 0 w 175"/>
                  <a:gd name="T33" fmla="*/ 2 h 651"/>
                  <a:gd name="T34" fmla="*/ 0 w 175"/>
                  <a:gd name="T35" fmla="*/ 2 h 651"/>
                  <a:gd name="T36" fmla="*/ 0 w 175"/>
                  <a:gd name="T37" fmla="*/ 2 h 651"/>
                  <a:gd name="T38" fmla="*/ 0 w 175"/>
                  <a:gd name="T39" fmla="*/ 2 h 651"/>
                  <a:gd name="T40" fmla="*/ 0 w 175"/>
                  <a:gd name="T41" fmla="*/ 2 h 651"/>
                  <a:gd name="T42" fmla="*/ 0 w 175"/>
                  <a:gd name="T43" fmla="*/ 2 h 651"/>
                  <a:gd name="T44" fmla="*/ 0 w 175"/>
                  <a:gd name="T45" fmla="*/ 3 h 651"/>
                  <a:gd name="T46" fmla="*/ 0 w 175"/>
                  <a:gd name="T47" fmla="*/ 3 h 651"/>
                  <a:gd name="T48" fmla="*/ 0 w 175"/>
                  <a:gd name="T49" fmla="*/ 3 h 651"/>
                  <a:gd name="T50" fmla="*/ 0 w 175"/>
                  <a:gd name="T51" fmla="*/ 3 h 651"/>
                  <a:gd name="T52" fmla="*/ 0 w 175"/>
                  <a:gd name="T53" fmla="*/ 3 h 651"/>
                  <a:gd name="T54" fmla="*/ 0 w 175"/>
                  <a:gd name="T55" fmla="*/ 3 h 651"/>
                  <a:gd name="T56" fmla="*/ 0 w 175"/>
                  <a:gd name="T57" fmla="*/ 3 h 651"/>
                  <a:gd name="T58" fmla="*/ 0 w 175"/>
                  <a:gd name="T59" fmla="*/ 3 h 651"/>
                  <a:gd name="T60" fmla="*/ 0 w 175"/>
                  <a:gd name="T61" fmla="*/ 3 h 651"/>
                  <a:gd name="T62" fmla="*/ 0 w 175"/>
                  <a:gd name="T63" fmla="*/ 3 h 651"/>
                  <a:gd name="T64" fmla="*/ 0 w 175"/>
                  <a:gd name="T65" fmla="*/ 3 h 651"/>
                  <a:gd name="T66" fmla="*/ 0 w 175"/>
                  <a:gd name="T67" fmla="*/ 3 h 651"/>
                  <a:gd name="T68" fmla="*/ 0 w 175"/>
                  <a:gd name="T69" fmla="*/ 2 h 651"/>
                  <a:gd name="T70" fmla="*/ 0 w 175"/>
                  <a:gd name="T71" fmla="*/ 2 h 651"/>
                  <a:gd name="T72" fmla="*/ 0 w 175"/>
                  <a:gd name="T73" fmla="*/ 2 h 651"/>
                  <a:gd name="T74" fmla="*/ 0 w 175"/>
                  <a:gd name="T75" fmla="*/ 2 h 651"/>
                  <a:gd name="T76" fmla="*/ 0 w 175"/>
                  <a:gd name="T77" fmla="*/ 2 h 651"/>
                  <a:gd name="T78" fmla="*/ 0 w 175"/>
                  <a:gd name="T79" fmla="*/ 2 h 651"/>
                  <a:gd name="T80" fmla="*/ 0 w 175"/>
                  <a:gd name="T81" fmla="*/ 2 h 651"/>
                  <a:gd name="T82" fmla="*/ 0 w 175"/>
                  <a:gd name="T83" fmla="*/ 2 h 651"/>
                  <a:gd name="T84" fmla="*/ 0 w 175"/>
                  <a:gd name="T85" fmla="*/ 2 h 651"/>
                  <a:gd name="T86" fmla="*/ 0 w 175"/>
                  <a:gd name="T87" fmla="*/ 2 h 651"/>
                  <a:gd name="T88" fmla="*/ 0 w 175"/>
                  <a:gd name="T89" fmla="*/ 1 h 651"/>
                  <a:gd name="T90" fmla="*/ 0 w 175"/>
                  <a:gd name="T91" fmla="*/ 1 h 651"/>
                  <a:gd name="T92" fmla="*/ 0 w 175"/>
                  <a:gd name="T93" fmla="*/ 1 h 651"/>
                  <a:gd name="T94" fmla="*/ 0 w 175"/>
                  <a:gd name="T95" fmla="*/ 1 h 651"/>
                  <a:gd name="T96" fmla="*/ 0 w 175"/>
                  <a:gd name="T97" fmla="*/ 1 h 651"/>
                  <a:gd name="T98" fmla="*/ 0 w 175"/>
                  <a:gd name="T99" fmla="*/ 1 h 651"/>
                  <a:gd name="T100" fmla="*/ 0 w 175"/>
                  <a:gd name="T101" fmla="*/ 1 h 651"/>
                  <a:gd name="T102" fmla="*/ 0 w 175"/>
                  <a:gd name="T103" fmla="*/ 0 h 65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5"/>
                  <a:gd name="T157" fmla="*/ 0 h 651"/>
                  <a:gd name="T158" fmla="*/ 175 w 175"/>
                  <a:gd name="T159" fmla="*/ 651 h 65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5" h="651">
                    <a:moveTo>
                      <a:pt x="10" y="0"/>
                    </a:moveTo>
                    <a:lnTo>
                      <a:pt x="8" y="1"/>
                    </a:lnTo>
                    <a:lnTo>
                      <a:pt x="5" y="3"/>
                    </a:lnTo>
                    <a:lnTo>
                      <a:pt x="3" y="3"/>
                    </a:lnTo>
                    <a:lnTo>
                      <a:pt x="2" y="3"/>
                    </a:lnTo>
                    <a:lnTo>
                      <a:pt x="0" y="3"/>
                    </a:lnTo>
                    <a:lnTo>
                      <a:pt x="0" y="4"/>
                    </a:lnTo>
                    <a:lnTo>
                      <a:pt x="0" y="5"/>
                    </a:lnTo>
                    <a:lnTo>
                      <a:pt x="0" y="8"/>
                    </a:lnTo>
                    <a:lnTo>
                      <a:pt x="0" y="11"/>
                    </a:lnTo>
                    <a:lnTo>
                      <a:pt x="0" y="14"/>
                    </a:lnTo>
                    <a:lnTo>
                      <a:pt x="0" y="18"/>
                    </a:lnTo>
                    <a:lnTo>
                      <a:pt x="2" y="23"/>
                    </a:lnTo>
                    <a:lnTo>
                      <a:pt x="2" y="27"/>
                    </a:lnTo>
                    <a:lnTo>
                      <a:pt x="3" y="31"/>
                    </a:lnTo>
                    <a:lnTo>
                      <a:pt x="3" y="35"/>
                    </a:lnTo>
                    <a:lnTo>
                      <a:pt x="5" y="40"/>
                    </a:lnTo>
                    <a:lnTo>
                      <a:pt x="5" y="44"/>
                    </a:lnTo>
                    <a:lnTo>
                      <a:pt x="6" y="48"/>
                    </a:lnTo>
                    <a:lnTo>
                      <a:pt x="8" y="51"/>
                    </a:lnTo>
                    <a:lnTo>
                      <a:pt x="9" y="57"/>
                    </a:lnTo>
                    <a:lnTo>
                      <a:pt x="9" y="60"/>
                    </a:lnTo>
                    <a:lnTo>
                      <a:pt x="10" y="64"/>
                    </a:lnTo>
                    <a:lnTo>
                      <a:pt x="10" y="67"/>
                    </a:lnTo>
                    <a:lnTo>
                      <a:pt x="12" y="70"/>
                    </a:lnTo>
                    <a:lnTo>
                      <a:pt x="16" y="85"/>
                    </a:lnTo>
                    <a:lnTo>
                      <a:pt x="20" y="103"/>
                    </a:lnTo>
                    <a:lnTo>
                      <a:pt x="26" y="118"/>
                    </a:lnTo>
                    <a:lnTo>
                      <a:pt x="30" y="135"/>
                    </a:lnTo>
                    <a:lnTo>
                      <a:pt x="36" y="151"/>
                    </a:lnTo>
                    <a:lnTo>
                      <a:pt x="41" y="167"/>
                    </a:lnTo>
                    <a:lnTo>
                      <a:pt x="45" y="183"/>
                    </a:lnTo>
                    <a:lnTo>
                      <a:pt x="49" y="198"/>
                    </a:lnTo>
                    <a:lnTo>
                      <a:pt x="53" y="216"/>
                    </a:lnTo>
                    <a:lnTo>
                      <a:pt x="56" y="231"/>
                    </a:lnTo>
                    <a:lnTo>
                      <a:pt x="58" y="247"/>
                    </a:lnTo>
                    <a:lnTo>
                      <a:pt x="59" y="264"/>
                    </a:lnTo>
                    <a:lnTo>
                      <a:pt x="59" y="280"/>
                    </a:lnTo>
                    <a:lnTo>
                      <a:pt x="59" y="297"/>
                    </a:lnTo>
                    <a:lnTo>
                      <a:pt x="56" y="314"/>
                    </a:lnTo>
                    <a:lnTo>
                      <a:pt x="53" y="331"/>
                    </a:lnTo>
                    <a:lnTo>
                      <a:pt x="52" y="337"/>
                    </a:lnTo>
                    <a:lnTo>
                      <a:pt x="52" y="343"/>
                    </a:lnTo>
                    <a:lnTo>
                      <a:pt x="52" y="350"/>
                    </a:lnTo>
                    <a:lnTo>
                      <a:pt x="52" y="356"/>
                    </a:lnTo>
                    <a:lnTo>
                      <a:pt x="53" y="363"/>
                    </a:lnTo>
                    <a:lnTo>
                      <a:pt x="55" y="368"/>
                    </a:lnTo>
                    <a:lnTo>
                      <a:pt x="56" y="374"/>
                    </a:lnTo>
                    <a:lnTo>
                      <a:pt x="59" y="381"/>
                    </a:lnTo>
                    <a:lnTo>
                      <a:pt x="61" y="387"/>
                    </a:lnTo>
                    <a:lnTo>
                      <a:pt x="62" y="394"/>
                    </a:lnTo>
                    <a:lnTo>
                      <a:pt x="63" y="400"/>
                    </a:lnTo>
                    <a:lnTo>
                      <a:pt x="66" y="406"/>
                    </a:lnTo>
                    <a:lnTo>
                      <a:pt x="68" y="413"/>
                    </a:lnTo>
                    <a:lnTo>
                      <a:pt x="68" y="418"/>
                    </a:lnTo>
                    <a:lnTo>
                      <a:pt x="68" y="426"/>
                    </a:lnTo>
                    <a:lnTo>
                      <a:pt x="69" y="433"/>
                    </a:lnTo>
                    <a:lnTo>
                      <a:pt x="71" y="438"/>
                    </a:lnTo>
                    <a:lnTo>
                      <a:pt x="73" y="446"/>
                    </a:lnTo>
                    <a:lnTo>
                      <a:pt x="76" y="453"/>
                    </a:lnTo>
                    <a:lnTo>
                      <a:pt x="79" y="460"/>
                    </a:lnTo>
                    <a:lnTo>
                      <a:pt x="82" y="467"/>
                    </a:lnTo>
                    <a:lnTo>
                      <a:pt x="86" y="474"/>
                    </a:lnTo>
                    <a:lnTo>
                      <a:pt x="91" y="480"/>
                    </a:lnTo>
                    <a:lnTo>
                      <a:pt x="93" y="487"/>
                    </a:lnTo>
                    <a:lnTo>
                      <a:pt x="98" y="494"/>
                    </a:lnTo>
                    <a:lnTo>
                      <a:pt x="101" y="501"/>
                    </a:lnTo>
                    <a:lnTo>
                      <a:pt x="105" y="509"/>
                    </a:lnTo>
                    <a:lnTo>
                      <a:pt x="108" y="514"/>
                    </a:lnTo>
                    <a:lnTo>
                      <a:pt x="109" y="521"/>
                    </a:lnTo>
                    <a:lnTo>
                      <a:pt x="112" y="529"/>
                    </a:lnTo>
                    <a:lnTo>
                      <a:pt x="113" y="537"/>
                    </a:lnTo>
                    <a:lnTo>
                      <a:pt x="115" y="544"/>
                    </a:lnTo>
                    <a:lnTo>
                      <a:pt x="118" y="551"/>
                    </a:lnTo>
                    <a:lnTo>
                      <a:pt x="122" y="557"/>
                    </a:lnTo>
                    <a:lnTo>
                      <a:pt x="125" y="564"/>
                    </a:lnTo>
                    <a:lnTo>
                      <a:pt x="128" y="571"/>
                    </a:lnTo>
                    <a:lnTo>
                      <a:pt x="131" y="577"/>
                    </a:lnTo>
                    <a:lnTo>
                      <a:pt x="133" y="584"/>
                    </a:lnTo>
                    <a:lnTo>
                      <a:pt x="138" y="591"/>
                    </a:lnTo>
                    <a:lnTo>
                      <a:pt x="141" y="599"/>
                    </a:lnTo>
                    <a:lnTo>
                      <a:pt x="143" y="606"/>
                    </a:lnTo>
                    <a:lnTo>
                      <a:pt x="146" y="611"/>
                    </a:lnTo>
                    <a:lnTo>
                      <a:pt x="149" y="619"/>
                    </a:lnTo>
                    <a:lnTo>
                      <a:pt x="153" y="626"/>
                    </a:lnTo>
                    <a:lnTo>
                      <a:pt x="156" y="631"/>
                    </a:lnTo>
                    <a:lnTo>
                      <a:pt x="159" y="639"/>
                    </a:lnTo>
                    <a:lnTo>
                      <a:pt x="163" y="644"/>
                    </a:lnTo>
                    <a:lnTo>
                      <a:pt x="168" y="651"/>
                    </a:lnTo>
                    <a:lnTo>
                      <a:pt x="172" y="651"/>
                    </a:lnTo>
                    <a:lnTo>
                      <a:pt x="175" y="650"/>
                    </a:lnTo>
                    <a:lnTo>
                      <a:pt x="171" y="640"/>
                    </a:lnTo>
                    <a:lnTo>
                      <a:pt x="166" y="630"/>
                    </a:lnTo>
                    <a:lnTo>
                      <a:pt x="161" y="620"/>
                    </a:lnTo>
                    <a:lnTo>
                      <a:pt x="156" y="610"/>
                    </a:lnTo>
                    <a:lnTo>
                      <a:pt x="152" y="600"/>
                    </a:lnTo>
                    <a:lnTo>
                      <a:pt x="148" y="590"/>
                    </a:lnTo>
                    <a:lnTo>
                      <a:pt x="143" y="580"/>
                    </a:lnTo>
                    <a:lnTo>
                      <a:pt x="139" y="570"/>
                    </a:lnTo>
                    <a:lnTo>
                      <a:pt x="135" y="560"/>
                    </a:lnTo>
                    <a:lnTo>
                      <a:pt x="131" y="550"/>
                    </a:lnTo>
                    <a:lnTo>
                      <a:pt x="126" y="540"/>
                    </a:lnTo>
                    <a:lnTo>
                      <a:pt x="122" y="530"/>
                    </a:lnTo>
                    <a:lnTo>
                      <a:pt x="118" y="520"/>
                    </a:lnTo>
                    <a:lnTo>
                      <a:pt x="115" y="510"/>
                    </a:lnTo>
                    <a:lnTo>
                      <a:pt x="111" y="500"/>
                    </a:lnTo>
                    <a:lnTo>
                      <a:pt x="106" y="490"/>
                    </a:lnTo>
                    <a:lnTo>
                      <a:pt x="101" y="481"/>
                    </a:lnTo>
                    <a:lnTo>
                      <a:pt x="96" y="474"/>
                    </a:lnTo>
                    <a:lnTo>
                      <a:pt x="92" y="466"/>
                    </a:lnTo>
                    <a:lnTo>
                      <a:pt x="89" y="457"/>
                    </a:lnTo>
                    <a:lnTo>
                      <a:pt x="86" y="448"/>
                    </a:lnTo>
                    <a:lnTo>
                      <a:pt x="83" y="440"/>
                    </a:lnTo>
                    <a:lnTo>
                      <a:pt x="81" y="433"/>
                    </a:lnTo>
                    <a:lnTo>
                      <a:pt x="79" y="424"/>
                    </a:lnTo>
                    <a:lnTo>
                      <a:pt x="78" y="416"/>
                    </a:lnTo>
                    <a:lnTo>
                      <a:pt x="75" y="407"/>
                    </a:lnTo>
                    <a:lnTo>
                      <a:pt x="73" y="400"/>
                    </a:lnTo>
                    <a:lnTo>
                      <a:pt x="72" y="391"/>
                    </a:lnTo>
                    <a:lnTo>
                      <a:pt x="69" y="383"/>
                    </a:lnTo>
                    <a:lnTo>
                      <a:pt x="68" y="374"/>
                    </a:lnTo>
                    <a:lnTo>
                      <a:pt x="65" y="366"/>
                    </a:lnTo>
                    <a:lnTo>
                      <a:pt x="62" y="358"/>
                    </a:lnTo>
                    <a:lnTo>
                      <a:pt x="62" y="348"/>
                    </a:lnTo>
                    <a:lnTo>
                      <a:pt x="62" y="340"/>
                    </a:lnTo>
                    <a:lnTo>
                      <a:pt x="63" y="330"/>
                    </a:lnTo>
                    <a:lnTo>
                      <a:pt x="65" y="321"/>
                    </a:lnTo>
                    <a:lnTo>
                      <a:pt x="65" y="313"/>
                    </a:lnTo>
                    <a:lnTo>
                      <a:pt x="66" y="304"/>
                    </a:lnTo>
                    <a:lnTo>
                      <a:pt x="68" y="296"/>
                    </a:lnTo>
                    <a:lnTo>
                      <a:pt x="69" y="287"/>
                    </a:lnTo>
                    <a:lnTo>
                      <a:pt x="69" y="277"/>
                    </a:lnTo>
                    <a:lnTo>
                      <a:pt x="71" y="268"/>
                    </a:lnTo>
                    <a:lnTo>
                      <a:pt x="71" y="260"/>
                    </a:lnTo>
                    <a:lnTo>
                      <a:pt x="71" y="251"/>
                    </a:lnTo>
                    <a:lnTo>
                      <a:pt x="69" y="241"/>
                    </a:lnTo>
                    <a:lnTo>
                      <a:pt x="68" y="233"/>
                    </a:lnTo>
                    <a:lnTo>
                      <a:pt x="66" y="224"/>
                    </a:lnTo>
                    <a:lnTo>
                      <a:pt x="63" y="217"/>
                    </a:lnTo>
                    <a:lnTo>
                      <a:pt x="62" y="203"/>
                    </a:lnTo>
                    <a:lnTo>
                      <a:pt x="59" y="188"/>
                    </a:lnTo>
                    <a:lnTo>
                      <a:pt x="56" y="175"/>
                    </a:lnTo>
                    <a:lnTo>
                      <a:pt x="53" y="163"/>
                    </a:lnTo>
                    <a:lnTo>
                      <a:pt x="48" y="148"/>
                    </a:lnTo>
                    <a:lnTo>
                      <a:pt x="45" y="135"/>
                    </a:lnTo>
                    <a:lnTo>
                      <a:pt x="41" y="121"/>
                    </a:lnTo>
                    <a:lnTo>
                      <a:pt x="36" y="108"/>
                    </a:lnTo>
                    <a:lnTo>
                      <a:pt x="32" y="94"/>
                    </a:lnTo>
                    <a:lnTo>
                      <a:pt x="26" y="81"/>
                    </a:lnTo>
                    <a:lnTo>
                      <a:pt x="22" y="68"/>
                    </a:lnTo>
                    <a:lnTo>
                      <a:pt x="19" y="55"/>
                    </a:lnTo>
                    <a:lnTo>
                      <a:pt x="16" y="41"/>
                    </a:lnTo>
                    <a:lnTo>
                      <a:pt x="13" y="27"/>
                    </a:lnTo>
                    <a:lnTo>
                      <a:pt x="12" y="14"/>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7" name="Freeform 79"/>
              <p:cNvSpPr>
                <a:spLocks/>
              </p:cNvSpPr>
              <p:nvPr/>
            </p:nvSpPr>
            <p:spPr bwMode="auto">
              <a:xfrm>
                <a:off x="2061" y="1160"/>
                <a:ext cx="403" cy="108"/>
              </a:xfrm>
              <a:custGeom>
                <a:avLst/>
                <a:gdLst>
                  <a:gd name="T0" fmla="*/ 2 w 806"/>
                  <a:gd name="T1" fmla="*/ 1 h 216"/>
                  <a:gd name="T2" fmla="*/ 2 w 806"/>
                  <a:gd name="T3" fmla="*/ 1 h 216"/>
                  <a:gd name="T4" fmla="*/ 2 w 806"/>
                  <a:gd name="T5" fmla="*/ 1 h 216"/>
                  <a:gd name="T6" fmla="*/ 2 w 806"/>
                  <a:gd name="T7" fmla="*/ 1 h 216"/>
                  <a:gd name="T8" fmla="*/ 1 w 806"/>
                  <a:gd name="T9" fmla="*/ 1 h 216"/>
                  <a:gd name="T10" fmla="*/ 1 w 806"/>
                  <a:gd name="T11" fmla="*/ 0 h 216"/>
                  <a:gd name="T12" fmla="*/ 1 w 806"/>
                  <a:gd name="T13" fmla="*/ 1 h 216"/>
                  <a:gd name="T14" fmla="*/ 1 w 806"/>
                  <a:gd name="T15" fmla="*/ 1 h 216"/>
                  <a:gd name="T16" fmla="*/ 1 w 806"/>
                  <a:gd name="T17" fmla="*/ 1 h 216"/>
                  <a:gd name="T18" fmla="*/ 1 w 806"/>
                  <a:gd name="T19" fmla="*/ 1 h 216"/>
                  <a:gd name="T20" fmla="*/ 1 w 806"/>
                  <a:gd name="T21" fmla="*/ 1 h 216"/>
                  <a:gd name="T22" fmla="*/ 1 w 806"/>
                  <a:gd name="T23" fmla="*/ 1 h 216"/>
                  <a:gd name="T24" fmla="*/ 1 w 806"/>
                  <a:gd name="T25" fmla="*/ 1 h 216"/>
                  <a:gd name="T26" fmla="*/ 1 w 806"/>
                  <a:gd name="T27" fmla="*/ 1 h 216"/>
                  <a:gd name="T28" fmla="*/ 1 w 806"/>
                  <a:gd name="T29" fmla="*/ 1 h 216"/>
                  <a:gd name="T30" fmla="*/ 1 w 806"/>
                  <a:gd name="T31" fmla="*/ 1 h 216"/>
                  <a:gd name="T32" fmla="*/ 1 w 806"/>
                  <a:gd name="T33" fmla="*/ 1 h 216"/>
                  <a:gd name="T34" fmla="*/ 1 w 806"/>
                  <a:gd name="T35" fmla="*/ 1 h 216"/>
                  <a:gd name="T36" fmla="*/ 1 w 806"/>
                  <a:gd name="T37" fmla="*/ 1 h 216"/>
                  <a:gd name="T38" fmla="*/ 2 w 806"/>
                  <a:gd name="T39" fmla="*/ 1 h 216"/>
                  <a:gd name="T40" fmla="*/ 2 w 806"/>
                  <a:gd name="T41" fmla="*/ 1 h 216"/>
                  <a:gd name="T42" fmla="*/ 2 w 806"/>
                  <a:gd name="T43" fmla="*/ 1 h 216"/>
                  <a:gd name="T44" fmla="*/ 2 w 806"/>
                  <a:gd name="T45" fmla="*/ 1 h 216"/>
                  <a:gd name="T46" fmla="*/ 2 w 806"/>
                  <a:gd name="T47" fmla="*/ 1 h 216"/>
                  <a:gd name="T48" fmla="*/ 2 w 806"/>
                  <a:gd name="T49" fmla="*/ 1 h 216"/>
                  <a:gd name="T50" fmla="*/ 2 w 806"/>
                  <a:gd name="T51" fmla="*/ 1 h 216"/>
                  <a:gd name="T52" fmla="*/ 2 w 806"/>
                  <a:gd name="T53" fmla="*/ 1 h 216"/>
                  <a:gd name="T54" fmla="*/ 3 w 806"/>
                  <a:gd name="T55" fmla="*/ 1 h 216"/>
                  <a:gd name="T56" fmla="*/ 3 w 806"/>
                  <a:gd name="T57" fmla="*/ 1 h 216"/>
                  <a:gd name="T58" fmla="*/ 3 w 806"/>
                  <a:gd name="T59" fmla="*/ 1 h 216"/>
                  <a:gd name="T60" fmla="*/ 3 w 806"/>
                  <a:gd name="T61" fmla="*/ 1 h 216"/>
                  <a:gd name="T62" fmla="*/ 3 w 806"/>
                  <a:gd name="T63" fmla="*/ 1 h 216"/>
                  <a:gd name="T64" fmla="*/ 3 w 806"/>
                  <a:gd name="T65" fmla="*/ 1 h 216"/>
                  <a:gd name="T66" fmla="*/ 3 w 806"/>
                  <a:gd name="T67" fmla="*/ 1 h 216"/>
                  <a:gd name="T68" fmla="*/ 3 w 806"/>
                  <a:gd name="T69" fmla="*/ 1 h 216"/>
                  <a:gd name="T70" fmla="*/ 3 w 806"/>
                  <a:gd name="T71" fmla="*/ 1 h 216"/>
                  <a:gd name="T72" fmla="*/ 3 w 806"/>
                  <a:gd name="T73" fmla="*/ 1 h 216"/>
                  <a:gd name="T74" fmla="*/ 3 w 806"/>
                  <a:gd name="T75" fmla="*/ 1 h 216"/>
                  <a:gd name="T76" fmla="*/ 4 w 806"/>
                  <a:gd name="T77" fmla="*/ 1 h 216"/>
                  <a:gd name="T78" fmla="*/ 4 w 806"/>
                  <a:gd name="T79" fmla="*/ 1 h 216"/>
                  <a:gd name="T80" fmla="*/ 4 w 806"/>
                  <a:gd name="T81" fmla="*/ 1 h 216"/>
                  <a:gd name="T82" fmla="*/ 4 w 806"/>
                  <a:gd name="T83" fmla="*/ 1 h 216"/>
                  <a:gd name="T84" fmla="*/ 4 w 806"/>
                  <a:gd name="T85" fmla="*/ 1 h 216"/>
                  <a:gd name="T86" fmla="*/ 3 w 806"/>
                  <a:gd name="T87" fmla="*/ 1 h 216"/>
                  <a:gd name="T88" fmla="*/ 3 w 806"/>
                  <a:gd name="T89" fmla="*/ 1 h 216"/>
                  <a:gd name="T90" fmla="*/ 3 w 806"/>
                  <a:gd name="T91" fmla="*/ 1 h 216"/>
                  <a:gd name="T92" fmla="*/ 3 w 806"/>
                  <a:gd name="T93" fmla="*/ 1 h 216"/>
                  <a:gd name="T94" fmla="*/ 3 w 806"/>
                  <a:gd name="T95" fmla="*/ 1 h 216"/>
                  <a:gd name="T96" fmla="*/ 3 w 806"/>
                  <a:gd name="T97" fmla="*/ 1 h 216"/>
                  <a:gd name="T98" fmla="*/ 3 w 806"/>
                  <a:gd name="T99" fmla="*/ 1 h 216"/>
                  <a:gd name="T100" fmla="*/ 3 w 806"/>
                  <a:gd name="T101" fmla="*/ 1 h 216"/>
                  <a:gd name="T102" fmla="*/ 3 w 806"/>
                  <a:gd name="T103" fmla="*/ 1 h 216"/>
                  <a:gd name="T104" fmla="*/ 3 w 806"/>
                  <a:gd name="T105" fmla="*/ 1 h 216"/>
                  <a:gd name="T106" fmla="*/ 3 w 806"/>
                  <a:gd name="T107" fmla="*/ 1 h 216"/>
                  <a:gd name="T108" fmla="*/ 2 w 806"/>
                  <a:gd name="T109" fmla="*/ 1 h 216"/>
                  <a:gd name="T110" fmla="*/ 2 w 806"/>
                  <a:gd name="T111" fmla="*/ 1 h 216"/>
                  <a:gd name="T112" fmla="*/ 2 w 806"/>
                  <a:gd name="T113" fmla="*/ 1 h 2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216"/>
                  <a:gd name="T173" fmla="*/ 806 w 806"/>
                  <a:gd name="T174" fmla="*/ 216 h 21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216">
                    <a:moveTo>
                      <a:pt x="412" y="13"/>
                    </a:moveTo>
                    <a:lnTo>
                      <a:pt x="402" y="10"/>
                    </a:lnTo>
                    <a:lnTo>
                      <a:pt x="392" y="8"/>
                    </a:lnTo>
                    <a:lnTo>
                      <a:pt x="383" y="8"/>
                    </a:lnTo>
                    <a:lnTo>
                      <a:pt x="373" y="8"/>
                    </a:lnTo>
                    <a:lnTo>
                      <a:pt x="363" y="6"/>
                    </a:lnTo>
                    <a:lnTo>
                      <a:pt x="354" y="8"/>
                    </a:lnTo>
                    <a:lnTo>
                      <a:pt x="344" y="8"/>
                    </a:lnTo>
                    <a:lnTo>
                      <a:pt x="336" y="9"/>
                    </a:lnTo>
                    <a:lnTo>
                      <a:pt x="326" y="10"/>
                    </a:lnTo>
                    <a:lnTo>
                      <a:pt x="317" y="10"/>
                    </a:lnTo>
                    <a:lnTo>
                      <a:pt x="307" y="10"/>
                    </a:lnTo>
                    <a:lnTo>
                      <a:pt x="299" y="12"/>
                    </a:lnTo>
                    <a:lnTo>
                      <a:pt x="289" y="10"/>
                    </a:lnTo>
                    <a:lnTo>
                      <a:pt x="280" y="10"/>
                    </a:lnTo>
                    <a:lnTo>
                      <a:pt x="270" y="8"/>
                    </a:lnTo>
                    <a:lnTo>
                      <a:pt x="260" y="6"/>
                    </a:lnTo>
                    <a:lnTo>
                      <a:pt x="246" y="5"/>
                    </a:lnTo>
                    <a:lnTo>
                      <a:pt x="233" y="3"/>
                    </a:lnTo>
                    <a:lnTo>
                      <a:pt x="220" y="3"/>
                    </a:lnTo>
                    <a:lnTo>
                      <a:pt x="207" y="2"/>
                    </a:lnTo>
                    <a:lnTo>
                      <a:pt x="194" y="0"/>
                    </a:lnTo>
                    <a:lnTo>
                      <a:pt x="181" y="0"/>
                    </a:lnTo>
                    <a:lnTo>
                      <a:pt x="169" y="0"/>
                    </a:lnTo>
                    <a:lnTo>
                      <a:pt x="156" y="0"/>
                    </a:lnTo>
                    <a:lnTo>
                      <a:pt x="143" y="0"/>
                    </a:lnTo>
                    <a:lnTo>
                      <a:pt x="130" y="3"/>
                    </a:lnTo>
                    <a:lnTo>
                      <a:pt x="117" y="6"/>
                    </a:lnTo>
                    <a:lnTo>
                      <a:pt x="104" y="9"/>
                    </a:lnTo>
                    <a:lnTo>
                      <a:pt x="93" y="13"/>
                    </a:lnTo>
                    <a:lnTo>
                      <a:pt x="80" y="20"/>
                    </a:lnTo>
                    <a:lnTo>
                      <a:pt x="67" y="28"/>
                    </a:lnTo>
                    <a:lnTo>
                      <a:pt x="56" y="36"/>
                    </a:lnTo>
                    <a:lnTo>
                      <a:pt x="51" y="38"/>
                    </a:lnTo>
                    <a:lnTo>
                      <a:pt x="48" y="41"/>
                    </a:lnTo>
                    <a:lnTo>
                      <a:pt x="44" y="42"/>
                    </a:lnTo>
                    <a:lnTo>
                      <a:pt x="41" y="43"/>
                    </a:lnTo>
                    <a:lnTo>
                      <a:pt x="37" y="45"/>
                    </a:lnTo>
                    <a:lnTo>
                      <a:pt x="33" y="46"/>
                    </a:lnTo>
                    <a:lnTo>
                      <a:pt x="28" y="49"/>
                    </a:lnTo>
                    <a:lnTo>
                      <a:pt x="26" y="51"/>
                    </a:lnTo>
                    <a:lnTo>
                      <a:pt x="21" y="52"/>
                    </a:lnTo>
                    <a:lnTo>
                      <a:pt x="18" y="53"/>
                    </a:lnTo>
                    <a:lnTo>
                      <a:pt x="14" y="56"/>
                    </a:lnTo>
                    <a:lnTo>
                      <a:pt x="11" y="59"/>
                    </a:lnTo>
                    <a:lnTo>
                      <a:pt x="8" y="61"/>
                    </a:lnTo>
                    <a:lnTo>
                      <a:pt x="6" y="65"/>
                    </a:lnTo>
                    <a:lnTo>
                      <a:pt x="3" y="68"/>
                    </a:lnTo>
                    <a:lnTo>
                      <a:pt x="0" y="71"/>
                    </a:lnTo>
                    <a:lnTo>
                      <a:pt x="3" y="75"/>
                    </a:lnTo>
                    <a:lnTo>
                      <a:pt x="6" y="79"/>
                    </a:lnTo>
                    <a:lnTo>
                      <a:pt x="11" y="73"/>
                    </a:lnTo>
                    <a:lnTo>
                      <a:pt x="17" y="69"/>
                    </a:lnTo>
                    <a:lnTo>
                      <a:pt x="24" y="65"/>
                    </a:lnTo>
                    <a:lnTo>
                      <a:pt x="31" y="61"/>
                    </a:lnTo>
                    <a:lnTo>
                      <a:pt x="37" y="56"/>
                    </a:lnTo>
                    <a:lnTo>
                      <a:pt x="44" y="51"/>
                    </a:lnTo>
                    <a:lnTo>
                      <a:pt x="53" y="46"/>
                    </a:lnTo>
                    <a:lnTo>
                      <a:pt x="60" y="43"/>
                    </a:lnTo>
                    <a:lnTo>
                      <a:pt x="67" y="38"/>
                    </a:lnTo>
                    <a:lnTo>
                      <a:pt x="74" y="35"/>
                    </a:lnTo>
                    <a:lnTo>
                      <a:pt x="81" y="31"/>
                    </a:lnTo>
                    <a:lnTo>
                      <a:pt x="90" y="28"/>
                    </a:lnTo>
                    <a:lnTo>
                      <a:pt x="97" y="23"/>
                    </a:lnTo>
                    <a:lnTo>
                      <a:pt x="104" y="20"/>
                    </a:lnTo>
                    <a:lnTo>
                      <a:pt x="111" y="18"/>
                    </a:lnTo>
                    <a:lnTo>
                      <a:pt x="120" y="15"/>
                    </a:lnTo>
                    <a:lnTo>
                      <a:pt x="130" y="13"/>
                    </a:lnTo>
                    <a:lnTo>
                      <a:pt x="141" y="12"/>
                    </a:lnTo>
                    <a:lnTo>
                      <a:pt x="151" y="12"/>
                    </a:lnTo>
                    <a:lnTo>
                      <a:pt x="163" y="12"/>
                    </a:lnTo>
                    <a:lnTo>
                      <a:pt x="173" y="10"/>
                    </a:lnTo>
                    <a:lnTo>
                      <a:pt x="184" y="10"/>
                    </a:lnTo>
                    <a:lnTo>
                      <a:pt x="194" y="10"/>
                    </a:lnTo>
                    <a:lnTo>
                      <a:pt x="206" y="12"/>
                    </a:lnTo>
                    <a:lnTo>
                      <a:pt x="216" y="12"/>
                    </a:lnTo>
                    <a:lnTo>
                      <a:pt x="227" y="13"/>
                    </a:lnTo>
                    <a:lnTo>
                      <a:pt x="237" y="13"/>
                    </a:lnTo>
                    <a:lnTo>
                      <a:pt x="249" y="15"/>
                    </a:lnTo>
                    <a:lnTo>
                      <a:pt x="260" y="18"/>
                    </a:lnTo>
                    <a:lnTo>
                      <a:pt x="271" y="19"/>
                    </a:lnTo>
                    <a:lnTo>
                      <a:pt x="281" y="20"/>
                    </a:lnTo>
                    <a:lnTo>
                      <a:pt x="294" y="22"/>
                    </a:lnTo>
                    <a:lnTo>
                      <a:pt x="302" y="22"/>
                    </a:lnTo>
                    <a:lnTo>
                      <a:pt x="310" y="22"/>
                    </a:lnTo>
                    <a:lnTo>
                      <a:pt x="319" y="20"/>
                    </a:lnTo>
                    <a:lnTo>
                      <a:pt x="327" y="20"/>
                    </a:lnTo>
                    <a:lnTo>
                      <a:pt x="336" y="19"/>
                    </a:lnTo>
                    <a:lnTo>
                      <a:pt x="344" y="19"/>
                    </a:lnTo>
                    <a:lnTo>
                      <a:pt x="354" y="18"/>
                    </a:lnTo>
                    <a:lnTo>
                      <a:pt x="363" y="18"/>
                    </a:lnTo>
                    <a:lnTo>
                      <a:pt x="372" y="18"/>
                    </a:lnTo>
                    <a:lnTo>
                      <a:pt x="380" y="18"/>
                    </a:lnTo>
                    <a:lnTo>
                      <a:pt x="387" y="18"/>
                    </a:lnTo>
                    <a:lnTo>
                      <a:pt x="396" y="20"/>
                    </a:lnTo>
                    <a:lnTo>
                      <a:pt x="404" y="22"/>
                    </a:lnTo>
                    <a:lnTo>
                      <a:pt x="413" y="25"/>
                    </a:lnTo>
                    <a:lnTo>
                      <a:pt x="420" y="29"/>
                    </a:lnTo>
                    <a:lnTo>
                      <a:pt x="429" y="35"/>
                    </a:lnTo>
                    <a:lnTo>
                      <a:pt x="436" y="36"/>
                    </a:lnTo>
                    <a:lnTo>
                      <a:pt x="444" y="38"/>
                    </a:lnTo>
                    <a:lnTo>
                      <a:pt x="453" y="39"/>
                    </a:lnTo>
                    <a:lnTo>
                      <a:pt x="462" y="41"/>
                    </a:lnTo>
                    <a:lnTo>
                      <a:pt x="469" y="42"/>
                    </a:lnTo>
                    <a:lnTo>
                      <a:pt x="477" y="43"/>
                    </a:lnTo>
                    <a:lnTo>
                      <a:pt x="486" y="45"/>
                    </a:lnTo>
                    <a:lnTo>
                      <a:pt x="495" y="48"/>
                    </a:lnTo>
                    <a:lnTo>
                      <a:pt x="503" y="49"/>
                    </a:lnTo>
                    <a:lnTo>
                      <a:pt x="510" y="52"/>
                    </a:lnTo>
                    <a:lnTo>
                      <a:pt x="517" y="55"/>
                    </a:lnTo>
                    <a:lnTo>
                      <a:pt x="526" y="58"/>
                    </a:lnTo>
                    <a:lnTo>
                      <a:pt x="533" y="61"/>
                    </a:lnTo>
                    <a:lnTo>
                      <a:pt x="540" y="66"/>
                    </a:lnTo>
                    <a:lnTo>
                      <a:pt x="547" y="71"/>
                    </a:lnTo>
                    <a:lnTo>
                      <a:pt x="555" y="76"/>
                    </a:lnTo>
                    <a:lnTo>
                      <a:pt x="559" y="79"/>
                    </a:lnTo>
                    <a:lnTo>
                      <a:pt x="565" y="83"/>
                    </a:lnTo>
                    <a:lnTo>
                      <a:pt x="569" y="86"/>
                    </a:lnTo>
                    <a:lnTo>
                      <a:pt x="573" y="91"/>
                    </a:lnTo>
                    <a:lnTo>
                      <a:pt x="577" y="95"/>
                    </a:lnTo>
                    <a:lnTo>
                      <a:pt x="582" y="101"/>
                    </a:lnTo>
                    <a:lnTo>
                      <a:pt x="586" y="105"/>
                    </a:lnTo>
                    <a:lnTo>
                      <a:pt x="590" y="109"/>
                    </a:lnTo>
                    <a:lnTo>
                      <a:pt x="595" y="113"/>
                    </a:lnTo>
                    <a:lnTo>
                      <a:pt x="599" y="118"/>
                    </a:lnTo>
                    <a:lnTo>
                      <a:pt x="603" y="122"/>
                    </a:lnTo>
                    <a:lnTo>
                      <a:pt x="609" y="125"/>
                    </a:lnTo>
                    <a:lnTo>
                      <a:pt x="615" y="128"/>
                    </a:lnTo>
                    <a:lnTo>
                      <a:pt x="620" y="131"/>
                    </a:lnTo>
                    <a:lnTo>
                      <a:pt x="626" y="132"/>
                    </a:lnTo>
                    <a:lnTo>
                      <a:pt x="633" y="133"/>
                    </a:lnTo>
                    <a:lnTo>
                      <a:pt x="639" y="132"/>
                    </a:lnTo>
                    <a:lnTo>
                      <a:pt x="645" y="132"/>
                    </a:lnTo>
                    <a:lnTo>
                      <a:pt x="650" y="133"/>
                    </a:lnTo>
                    <a:lnTo>
                      <a:pt x="656" y="135"/>
                    </a:lnTo>
                    <a:lnTo>
                      <a:pt x="662" y="136"/>
                    </a:lnTo>
                    <a:lnTo>
                      <a:pt x="667" y="138"/>
                    </a:lnTo>
                    <a:lnTo>
                      <a:pt x="673" y="141"/>
                    </a:lnTo>
                    <a:lnTo>
                      <a:pt x="679" y="143"/>
                    </a:lnTo>
                    <a:lnTo>
                      <a:pt x="685" y="145"/>
                    </a:lnTo>
                    <a:lnTo>
                      <a:pt x="690" y="146"/>
                    </a:lnTo>
                    <a:lnTo>
                      <a:pt x="696" y="148"/>
                    </a:lnTo>
                    <a:lnTo>
                      <a:pt x="702" y="149"/>
                    </a:lnTo>
                    <a:lnTo>
                      <a:pt x="708" y="149"/>
                    </a:lnTo>
                    <a:lnTo>
                      <a:pt x="715" y="151"/>
                    </a:lnTo>
                    <a:lnTo>
                      <a:pt x="720" y="149"/>
                    </a:lnTo>
                    <a:lnTo>
                      <a:pt x="726" y="149"/>
                    </a:lnTo>
                    <a:lnTo>
                      <a:pt x="732" y="149"/>
                    </a:lnTo>
                    <a:lnTo>
                      <a:pt x="739" y="151"/>
                    </a:lnTo>
                    <a:lnTo>
                      <a:pt x="745" y="152"/>
                    </a:lnTo>
                    <a:lnTo>
                      <a:pt x="750" y="155"/>
                    </a:lnTo>
                    <a:lnTo>
                      <a:pt x="755" y="158"/>
                    </a:lnTo>
                    <a:lnTo>
                      <a:pt x="760" y="162"/>
                    </a:lnTo>
                    <a:lnTo>
                      <a:pt x="765" y="166"/>
                    </a:lnTo>
                    <a:lnTo>
                      <a:pt x="769" y="171"/>
                    </a:lnTo>
                    <a:lnTo>
                      <a:pt x="772" y="176"/>
                    </a:lnTo>
                    <a:lnTo>
                      <a:pt x="776" y="181"/>
                    </a:lnTo>
                    <a:lnTo>
                      <a:pt x="779" y="186"/>
                    </a:lnTo>
                    <a:lnTo>
                      <a:pt x="783" y="192"/>
                    </a:lnTo>
                    <a:lnTo>
                      <a:pt x="786" y="198"/>
                    </a:lnTo>
                    <a:lnTo>
                      <a:pt x="789" y="205"/>
                    </a:lnTo>
                    <a:lnTo>
                      <a:pt x="793" y="211"/>
                    </a:lnTo>
                    <a:lnTo>
                      <a:pt x="798" y="216"/>
                    </a:lnTo>
                    <a:lnTo>
                      <a:pt x="802" y="216"/>
                    </a:lnTo>
                    <a:lnTo>
                      <a:pt x="806" y="216"/>
                    </a:lnTo>
                    <a:lnTo>
                      <a:pt x="803" y="209"/>
                    </a:lnTo>
                    <a:lnTo>
                      <a:pt x="799" y="202"/>
                    </a:lnTo>
                    <a:lnTo>
                      <a:pt x="796" y="195"/>
                    </a:lnTo>
                    <a:lnTo>
                      <a:pt x="792" y="186"/>
                    </a:lnTo>
                    <a:lnTo>
                      <a:pt x="788" y="179"/>
                    </a:lnTo>
                    <a:lnTo>
                      <a:pt x="783" y="173"/>
                    </a:lnTo>
                    <a:lnTo>
                      <a:pt x="778" y="166"/>
                    </a:lnTo>
                    <a:lnTo>
                      <a:pt x="773" y="161"/>
                    </a:lnTo>
                    <a:lnTo>
                      <a:pt x="768" y="155"/>
                    </a:lnTo>
                    <a:lnTo>
                      <a:pt x="762" y="151"/>
                    </a:lnTo>
                    <a:lnTo>
                      <a:pt x="755" y="146"/>
                    </a:lnTo>
                    <a:lnTo>
                      <a:pt x="748" y="143"/>
                    </a:lnTo>
                    <a:lnTo>
                      <a:pt x="740" y="141"/>
                    </a:lnTo>
                    <a:lnTo>
                      <a:pt x="733" y="139"/>
                    </a:lnTo>
                    <a:lnTo>
                      <a:pt x="725" y="139"/>
                    </a:lnTo>
                    <a:lnTo>
                      <a:pt x="718" y="139"/>
                    </a:lnTo>
                    <a:lnTo>
                      <a:pt x="712" y="139"/>
                    </a:lnTo>
                    <a:lnTo>
                      <a:pt x="706" y="139"/>
                    </a:lnTo>
                    <a:lnTo>
                      <a:pt x="700" y="139"/>
                    </a:lnTo>
                    <a:lnTo>
                      <a:pt x="696" y="138"/>
                    </a:lnTo>
                    <a:lnTo>
                      <a:pt x="692" y="136"/>
                    </a:lnTo>
                    <a:lnTo>
                      <a:pt x="686" y="135"/>
                    </a:lnTo>
                    <a:lnTo>
                      <a:pt x="682" y="133"/>
                    </a:lnTo>
                    <a:lnTo>
                      <a:pt x="678" y="132"/>
                    </a:lnTo>
                    <a:lnTo>
                      <a:pt x="672" y="129"/>
                    </a:lnTo>
                    <a:lnTo>
                      <a:pt x="666" y="128"/>
                    </a:lnTo>
                    <a:lnTo>
                      <a:pt x="662" y="126"/>
                    </a:lnTo>
                    <a:lnTo>
                      <a:pt x="656" y="125"/>
                    </a:lnTo>
                    <a:lnTo>
                      <a:pt x="650" y="123"/>
                    </a:lnTo>
                    <a:lnTo>
                      <a:pt x="646" y="123"/>
                    </a:lnTo>
                    <a:lnTo>
                      <a:pt x="640" y="123"/>
                    </a:lnTo>
                    <a:lnTo>
                      <a:pt x="635" y="123"/>
                    </a:lnTo>
                    <a:lnTo>
                      <a:pt x="627" y="122"/>
                    </a:lnTo>
                    <a:lnTo>
                      <a:pt x="622" y="119"/>
                    </a:lnTo>
                    <a:lnTo>
                      <a:pt x="615" y="116"/>
                    </a:lnTo>
                    <a:lnTo>
                      <a:pt x="609" y="112"/>
                    </a:lnTo>
                    <a:lnTo>
                      <a:pt x="603" y="108"/>
                    </a:lnTo>
                    <a:lnTo>
                      <a:pt x="597" y="102"/>
                    </a:lnTo>
                    <a:lnTo>
                      <a:pt x="593" y="98"/>
                    </a:lnTo>
                    <a:lnTo>
                      <a:pt x="589" y="92"/>
                    </a:lnTo>
                    <a:lnTo>
                      <a:pt x="583" y="86"/>
                    </a:lnTo>
                    <a:lnTo>
                      <a:pt x="577" y="81"/>
                    </a:lnTo>
                    <a:lnTo>
                      <a:pt x="572" y="76"/>
                    </a:lnTo>
                    <a:lnTo>
                      <a:pt x="567" y="72"/>
                    </a:lnTo>
                    <a:lnTo>
                      <a:pt x="562" y="66"/>
                    </a:lnTo>
                    <a:lnTo>
                      <a:pt x="556" y="63"/>
                    </a:lnTo>
                    <a:lnTo>
                      <a:pt x="549" y="59"/>
                    </a:lnTo>
                    <a:lnTo>
                      <a:pt x="543" y="56"/>
                    </a:lnTo>
                    <a:lnTo>
                      <a:pt x="536" y="52"/>
                    </a:lnTo>
                    <a:lnTo>
                      <a:pt x="527" y="46"/>
                    </a:lnTo>
                    <a:lnTo>
                      <a:pt x="520" y="43"/>
                    </a:lnTo>
                    <a:lnTo>
                      <a:pt x="512" y="41"/>
                    </a:lnTo>
                    <a:lnTo>
                      <a:pt x="503" y="38"/>
                    </a:lnTo>
                    <a:lnTo>
                      <a:pt x="495" y="36"/>
                    </a:lnTo>
                    <a:lnTo>
                      <a:pt x="486" y="35"/>
                    </a:lnTo>
                    <a:lnTo>
                      <a:pt x="477" y="33"/>
                    </a:lnTo>
                    <a:lnTo>
                      <a:pt x="469" y="31"/>
                    </a:lnTo>
                    <a:lnTo>
                      <a:pt x="460" y="29"/>
                    </a:lnTo>
                    <a:lnTo>
                      <a:pt x="452" y="28"/>
                    </a:lnTo>
                    <a:lnTo>
                      <a:pt x="443" y="26"/>
                    </a:lnTo>
                    <a:lnTo>
                      <a:pt x="434" y="23"/>
                    </a:lnTo>
                    <a:lnTo>
                      <a:pt x="426" y="20"/>
                    </a:lnTo>
                    <a:lnTo>
                      <a:pt x="419" y="18"/>
                    </a:lnTo>
                    <a:lnTo>
                      <a:pt x="41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8" name="Freeform 80"/>
              <p:cNvSpPr>
                <a:spLocks/>
              </p:cNvSpPr>
              <p:nvPr/>
            </p:nvSpPr>
            <p:spPr bwMode="auto">
              <a:xfrm>
                <a:off x="2534" y="1070"/>
                <a:ext cx="158" cy="112"/>
              </a:xfrm>
              <a:custGeom>
                <a:avLst/>
                <a:gdLst>
                  <a:gd name="T0" fmla="*/ 1 w 316"/>
                  <a:gd name="T1" fmla="*/ 1 h 223"/>
                  <a:gd name="T2" fmla="*/ 1 w 316"/>
                  <a:gd name="T3" fmla="*/ 0 h 223"/>
                  <a:gd name="T4" fmla="*/ 1 w 316"/>
                  <a:gd name="T5" fmla="*/ 1 h 223"/>
                  <a:gd name="T6" fmla="*/ 1 w 316"/>
                  <a:gd name="T7" fmla="*/ 1 h 223"/>
                  <a:gd name="T8" fmla="*/ 1 w 316"/>
                  <a:gd name="T9" fmla="*/ 1 h 223"/>
                  <a:gd name="T10" fmla="*/ 1 w 316"/>
                  <a:gd name="T11" fmla="*/ 1 h 223"/>
                  <a:gd name="T12" fmla="*/ 1 w 316"/>
                  <a:gd name="T13" fmla="*/ 1 h 223"/>
                  <a:gd name="T14" fmla="*/ 1 w 316"/>
                  <a:gd name="T15" fmla="*/ 1 h 223"/>
                  <a:gd name="T16" fmla="*/ 1 w 316"/>
                  <a:gd name="T17" fmla="*/ 1 h 223"/>
                  <a:gd name="T18" fmla="*/ 1 w 316"/>
                  <a:gd name="T19" fmla="*/ 1 h 223"/>
                  <a:gd name="T20" fmla="*/ 1 w 316"/>
                  <a:gd name="T21" fmla="*/ 1 h 223"/>
                  <a:gd name="T22" fmla="*/ 1 w 316"/>
                  <a:gd name="T23" fmla="*/ 1 h 223"/>
                  <a:gd name="T24" fmla="*/ 1 w 316"/>
                  <a:gd name="T25" fmla="*/ 1 h 223"/>
                  <a:gd name="T26" fmla="*/ 1 w 316"/>
                  <a:gd name="T27" fmla="*/ 1 h 223"/>
                  <a:gd name="T28" fmla="*/ 1 w 316"/>
                  <a:gd name="T29" fmla="*/ 1 h 223"/>
                  <a:gd name="T30" fmla="*/ 1 w 316"/>
                  <a:gd name="T31" fmla="*/ 1 h 223"/>
                  <a:gd name="T32" fmla="*/ 1 w 316"/>
                  <a:gd name="T33" fmla="*/ 1 h 223"/>
                  <a:gd name="T34" fmla="*/ 1 w 316"/>
                  <a:gd name="T35" fmla="*/ 1 h 223"/>
                  <a:gd name="T36" fmla="*/ 1 w 316"/>
                  <a:gd name="T37" fmla="*/ 1 h 223"/>
                  <a:gd name="T38" fmla="*/ 1 w 316"/>
                  <a:gd name="T39" fmla="*/ 1 h 223"/>
                  <a:gd name="T40" fmla="*/ 0 w 316"/>
                  <a:gd name="T41" fmla="*/ 1 h 223"/>
                  <a:gd name="T42" fmla="*/ 1 w 316"/>
                  <a:gd name="T43" fmla="*/ 1 h 223"/>
                  <a:gd name="T44" fmla="*/ 1 w 316"/>
                  <a:gd name="T45" fmla="*/ 1 h 223"/>
                  <a:gd name="T46" fmla="*/ 1 w 316"/>
                  <a:gd name="T47" fmla="*/ 1 h 223"/>
                  <a:gd name="T48" fmla="*/ 1 w 316"/>
                  <a:gd name="T49" fmla="*/ 1 h 223"/>
                  <a:gd name="T50" fmla="*/ 1 w 316"/>
                  <a:gd name="T51" fmla="*/ 1 h 223"/>
                  <a:gd name="T52" fmla="*/ 1 w 316"/>
                  <a:gd name="T53" fmla="*/ 1 h 223"/>
                  <a:gd name="T54" fmla="*/ 1 w 316"/>
                  <a:gd name="T55" fmla="*/ 1 h 223"/>
                  <a:gd name="T56" fmla="*/ 1 w 316"/>
                  <a:gd name="T57" fmla="*/ 1 h 223"/>
                  <a:gd name="T58" fmla="*/ 1 w 316"/>
                  <a:gd name="T59" fmla="*/ 1 h 223"/>
                  <a:gd name="T60" fmla="*/ 1 w 316"/>
                  <a:gd name="T61" fmla="*/ 1 h 223"/>
                  <a:gd name="T62" fmla="*/ 1 w 316"/>
                  <a:gd name="T63" fmla="*/ 1 h 223"/>
                  <a:gd name="T64" fmla="*/ 1 w 316"/>
                  <a:gd name="T65" fmla="*/ 1 h 223"/>
                  <a:gd name="T66" fmla="*/ 1 w 316"/>
                  <a:gd name="T67" fmla="*/ 1 h 223"/>
                  <a:gd name="T68" fmla="*/ 1 w 316"/>
                  <a:gd name="T69" fmla="*/ 1 h 223"/>
                  <a:gd name="T70" fmla="*/ 1 w 316"/>
                  <a:gd name="T71" fmla="*/ 1 h 223"/>
                  <a:gd name="T72" fmla="*/ 1 w 316"/>
                  <a:gd name="T73" fmla="*/ 1 h 223"/>
                  <a:gd name="T74" fmla="*/ 1 w 316"/>
                  <a:gd name="T75" fmla="*/ 1 h 223"/>
                  <a:gd name="T76" fmla="*/ 1 w 316"/>
                  <a:gd name="T77" fmla="*/ 1 h 223"/>
                  <a:gd name="T78" fmla="*/ 1 w 316"/>
                  <a:gd name="T79" fmla="*/ 1 h 223"/>
                  <a:gd name="T80" fmla="*/ 1 w 316"/>
                  <a:gd name="T81" fmla="*/ 1 h 223"/>
                  <a:gd name="T82" fmla="*/ 1 w 316"/>
                  <a:gd name="T83" fmla="*/ 1 h 223"/>
                  <a:gd name="T84" fmla="*/ 1 w 316"/>
                  <a:gd name="T85" fmla="*/ 1 h 223"/>
                  <a:gd name="T86" fmla="*/ 1 w 316"/>
                  <a:gd name="T87" fmla="*/ 1 h 223"/>
                  <a:gd name="T88" fmla="*/ 1 w 316"/>
                  <a:gd name="T89" fmla="*/ 1 h 223"/>
                  <a:gd name="T90" fmla="*/ 1 w 316"/>
                  <a:gd name="T91" fmla="*/ 1 h 223"/>
                  <a:gd name="T92" fmla="*/ 1 w 316"/>
                  <a:gd name="T93" fmla="*/ 1 h 223"/>
                  <a:gd name="T94" fmla="*/ 1 w 316"/>
                  <a:gd name="T95" fmla="*/ 1 h 223"/>
                  <a:gd name="T96" fmla="*/ 1 w 316"/>
                  <a:gd name="T97" fmla="*/ 1 h 223"/>
                  <a:gd name="T98" fmla="*/ 2 w 316"/>
                  <a:gd name="T99" fmla="*/ 1 h 223"/>
                  <a:gd name="T100" fmla="*/ 2 w 316"/>
                  <a:gd name="T101" fmla="*/ 1 h 223"/>
                  <a:gd name="T102" fmla="*/ 2 w 316"/>
                  <a:gd name="T103" fmla="*/ 1 h 223"/>
                  <a:gd name="T104" fmla="*/ 2 w 316"/>
                  <a:gd name="T105" fmla="*/ 1 h 223"/>
                  <a:gd name="T106" fmla="*/ 2 w 316"/>
                  <a:gd name="T107" fmla="*/ 1 h 223"/>
                  <a:gd name="T108" fmla="*/ 2 w 316"/>
                  <a:gd name="T109" fmla="*/ 1 h 223"/>
                  <a:gd name="T110" fmla="*/ 1 w 316"/>
                  <a:gd name="T111" fmla="*/ 1 h 223"/>
                  <a:gd name="T112" fmla="*/ 1 w 316"/>
                  <a:gd name="T113" fmla="*/ 1 h 223"/>
                  <a:gd name="T114" fmla="*/ 1 w 316"/>
                  <a:gd name="T115" fmla="*/ 1 h 2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16"/>
                  <a:gd name="T175" fmla="*/ 0 h 223"/>
                  <a:gd name="T176" fmla="*/ 316 w 316"/>
                  <a:gd name="T177" fmla="*/ 223 h 2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16" h="223">
                    <a:moveTo>
                      <a:pt x="188" y="6"/>
                    </a:moveTo>
                    <a:lnTo>
                      <a:pt x="183" y="3"/>
                    </a:lnTo>
                    <a:lnTo>
                      <a:pt x="180" y="1"/>
                    </a:lnTo>
                    <a:lnTo>
                      <a:pt x="176" y="1"/>
                    </a:lnTo>
                    <a:lnTo>
                      <a:pt x="173" y="1"/>
                    </a:lnTo>
                    <a:lnTo>
                      <a:pt x="170" y="0"/>
                    </a:lnTo>
                    <a:lnTo>
                      <a:pt x="168" y="0"/>
                    </a:lnTo>
                    <a:lnTo>
                      <a:pt x="165" y="1"/>
                    </a:lnTo>
                    <a:lnTo>
                      <a:pt x="162" y="1"/>
                    </a:lnTo>
                    <a:lnTo>
                      <a:pt x="156" y="3"/>
                    </a:lnTo>
                    <a:lnTo>
                      <a:pt x="152" y="7"/>
                    </a:lnTo>
                    <a:lnTo>
                      <a:pt x="148" y="11"/>
                    </a:lnTo>
                    <a:lnTo>
                      <a:pt x="143" y="16"/>
                    </a:lnTo>
                    <a:lnTo>
                      <a:pt x="140" y="18"/>
                    </a:lnTo>
                    <a:lnTo>
                      <a:pt x="139" y="21"/>
                    </a:lnTo>
                    <a:lnTo>
                      <a:pt x="136" y="24"/>
                    </a:lnTo>
                    <a:lnTo>
                      <a:pt x="135" y="28"/>
                    </a:lnTo>
                    <a:lnTo>
                      <a:pt x="133" y="31"/>
                    </a:lnTo>
                    <a:lnTo>
                      <a:pt x="132" y="36"/>
                    </a:lnTo>
                    <a:lnTo>
                      <a:pt x="130" y="38"/>
                    </a:lnTo>
                    <a:lnTo>
                      <a:pt x="129" y="43"/>
                    </a:lnTo>
                    <a:lnTo>
                      <a:pt x="128" y="46"/>
                    </a:lnTo>
                    <a:lnTo>
                      <a:pt x="126" y="50"/>
                    </a:lnTo>
                    <a:lnTo>
                      <a:pt x="123" y="53"/>
                    </a:lnTo>
                    <a:lnTo>
                      <a:pt x="122" y="57"/>
                    </a:lnTo>
                    <a:lnTo>
                      <a:pt x="120" y="58"/>
                    </a:lnTo>
                    <a:lnTo>
                      <a:pt x="119" y="61"/>
                    </a:lnTo>
                    <a:lnTo>
                      <a:pt x="116" y="64"/>
                    </a:lnTo>
                    <a:lnTo>
                      <a:pt x="115" y="66"/>
                    </a:lnTo>
                    <a:lnTo>
                      <a:pt x="113" y="66"/>
                    </a:lnTo>
                    <a:lnTo>
                      <a:pt x="112" y="66"/>
                    </a:lnTo>
                    <a:lnTo>
                      <a:pt x="109" y="64"/>
                    </a:lnTo>
                    <a:lnTo>
                      <a:pt x="106" y="64"/>
                    </a:lnTo>
                    <a:lnTo>
                      <a:pt x="102" y="61"/>
                    </a:lnTo>
                    <a:lnTo>
                      <a:pt x="99" y="61"/>
                    </a:lnTo>
                    <a:lnTo>
                      <a:pt x="95" y="60"/>
                    </a:lnTo>
                    <a:lnTo>
                      <a:pt x="90" y="58"/>
                    </a:lnTo>
                    <a:lnTo>
                      <a:pt x="85" y="57"/>
                    </a:lnTo>
                    <a:lnTo>
                      <a:pt x="80" y="57"/>
                    </a:lnTo>
                    <a:lnTo>
                      <a:pt x="75" y="57"/>
                    </a:lnTo>
                    <a:lnTo>
                      <a:pt x="70" y="58"/>
                    </a:lnTo>
                    <a:lnTo>
                      <a:pt x="66" y="58"/>
                    </a:lnTo>
                    <a:lnTo>
                      <a:pt x="60" y="61"/>
                    </a:lnTo>
                    <a:lnTo>
                      <a:pt x="56" y="64"/>
                    </a:lnTo>
                    <a:lnTo>
                      <a:pt x="52" y="68"/>
                    </a:lnTo>
                    <a:lnTo>
                      <a:pt x="46" y="74"/>
                    </a:lnTo>
                    <a:lnTo>
                      <a:pt x="39" y="81"/>
                    </a:lnTo>
                    <a:lnTo>
                      <a:pt x="35" y="88"/>
                    </a:lnTo>
                    <a:lnTo>
                      <a:pt x="30" y="97"/>
                    </a:lnTo>
                    <a:lnTo>
                      <a:pt x="26" y="106"/>
                    </a:lnTo>
                    <a:lnTo>
                      <a:pt x="22" y="114"/>
                    </a:lnTo>
                    <a:lnTo>
                      <a:pt x="19" y="123"/>
                    </a:lnTo>
                    <a:lnTo>
                      <a:pt x="16" y="133"/>
                    </a:lnTo>
                    <a:lnTo>
                      <a:pt x="13" y="141"/>
                    </a:lnTo>
                    <a:lnTo>
                      <a:pt x="10" y="150"/>
                    </a:lnTo>
                    <a:lnTo>
                      <a:pt x="9" y="160"/>
                    </a:lnTo>
                    <a:lnTo>
                      <a:pt x="7" y="170"/>
                    </a:lnTo>
                    <a:lnTo>
                      <a:pt x="6" y="178"/>
                    </a:lnTo>
                    <a:lnTo>
                      <a:pt x="5" y="190"/>
                    </a:lnTo>
                    <a:lnTo>
                      <a:pt x="3" y="198"/>
                    </a:lnTo>
                    <a:lnTo>
                      <a:pt x="2" y="209"/>
                    </a:lnTo>
                    <a:lnTo>
                      <a:pt x="0" y="211"/>
                    </a:lnTo>
                    <a:lnTo>
                      <a:pt x="0" y="216"/>
                    </a:lnTo>
                    <a:lnTo>
                      <a:pt x="0" y="220"/>
                    </a:lnTo>
                    <a:lnTo>
                      <a:pt x="3" y="223"/>
                    </a:lnTo>
                    <a:lnTo>
                      <a:pt x="5" y="223"/>
                    </a:lnTo>
                    <a:lnTo>
                      <a:pt x="7" y="223"/>
                    </a:lnTo>
                    <a:lnTo>
                      <a:pt x="10" y="220"/>
                    </a:lnTo>
                    <a:lnTo>
                      <a:pt x="12" y="219"/>
                    </a:lnTo>
                    <a:lnTo>
                      <a:pt x="13" y="207"/>
                    </a:lnTo>
                    <a:lnTo>
                      <a:pt x="15" y="197"/>
                    </a:lnTo>
                    <a:lnTo>
                      <a:pt x="16" y="186"/>
                    </a:lnTo>
                    <a:lnTo>
                      <a:pt x="19" y="176"/>
                    </a:lnTo>
                    <a:lnTo>
                      <a:pt x="20" y="164"/>
                    </a:lnTo>
                    <a:lnTo>
                      <a:pt x="22" y="154"/>
                    </a:lnTo>
                    <a:lnTo>
                      <a:pt x="25" y="143"/>
                    </a:lnTo>
                    <a:lnTo>
                      <a:pt x="27" y="133"/>
                    </a:lnTo>
                    <a:lnTo>
                      <a:pt x="30" y="123"/>
                    </a:lnTo>
                    <a:lnTo>
                      <a:pt x="33" y="113"/>
                    </a:lnTo>
                    <a:lnTo>
                      <a:pt x="37" y="103"/>
                    </a:lnTo>
                    <a:lnTo>
                      <a:pt x="43" y="94"/>
                    </a:lnTo>
                    <a:lnTo>
                      <a:pt x="49" y="86"/>
                    </a:lnTo>
                    <a:lnTo>
                      <a:pt x="55" y="78"/>
                    </a:lnTo>
                    <a:lnTo>
                      <a:pt x="63" y="73"/>
                    </a:lnTo>
                    <a:lnTo>
                      <a:pt x="73" y="67"/>
                    </a:lnTo>
                    <a:lnTo>
                      <a:pt x="83" y="67"/>
                    </a:lnTo>
                    <a:lnTo>
                      <a:pt x="95" y="68"/>
                    </a:lnTo>
                    <a:lnTo>
                      <a:pt x="106" y="73"/>
                    </a:lnTo>
                    <a:lnTo>
                      <a:pt x="119" y="77"/>
                    </a:lnTo>
                    <a:lnTo>
                      <a:pt x="130" y="83"/>
                    </a:lnTo>
                    <a:lnTo>
                      <a:pt x="142" y="88"/>
                    </a:lnTo>
                    <a:lnTo>
                      <a:pt x="153" y="96"/>
                    </a:lnTo>
                    <a:lnTo>
                      <a:pt x="165" y="103"/>
                    </a:lnTo>
                    <a:lnTo>
                      <a:pt x="175" y="108"/>
                    </a:lnTo>
                    <a:lnTo>
                      <a:pt x="185" y="116"/>
                    </a:lnTo>
                    <a:lnTo>
                      <a:pt x="193" y="121"/>
                    </a:lnTo>
                    <a:lnTo>
                      <a:pt x="202" y="127"/>
                    </a:lnTo>
                    <a:lnTo>
                      <a:pt x="208" y="133"/>
                    </a:lnTo>
                    <a:lnTo>
                      <a:pt x="213" y="137"/>
                    </a:lnTo>
                    <a:lnTo>
                      <a:pt x="219" y="140"/>
                    </a:lnTo>
                    <a:lnTo>
                      <a:pt x="222" y="143"/>
                    </a:lnTo>
                    <a:lnTo>
                      <a:pt x="225" y="146"/>
                    </a:lnTo>
                    <a:lnTo>
                      <a:pt x="228" y="147"/>
                    </a:lnTo>
                    <a:lnTo>
                      <a:pt x="230" y="147"/>
                    </a:lnTo>
                    <a:lnTo>
                      <a:pt x="232" y="146"/>
                    </a:lnTo>
                    <a:lnTo>
                      <a:pt x="233" y="141"/>
                    </a:lnTo>
                    <a:lnTo>
                      <a:pt x="233" y="138"/>
                    </a:lnTo>
                    <a:lnTo>
                      <a:pt x="226" y="133"/>
                    </a:lnTo>
                    <a:lnTo>
                      <a:pt x="220" y="127"/>
                    </a:lnTo>
                    <a:lnTo>
                      <a:pt x="213" y="123"/>
                    </a:lnTo>
                    <a:lnTo>
                      <a:pt x="206" y="118"/>
                    </a:lnTo>
                    <a:lnTo>
                      <a:pt x="199" y="113"/>
                    </a:lnTo>
                    <a:lnTo>
                      <a:pt x="193" y="108"/>
                    </a:lnTo>
                    <a:lnTo>
                      <a:pt x="186" y="104"/>
                    </a:lnTo>
                    <a:lnTo>
                      <a:pt x="180" y="100"/>
                    </a:lnTo>
                    <a:lnTo>
                      <a:pt x="173" y="96"/>
                    </a:lnTo>
                    <a:lnTo>
                      <a:pt x="166" y="91"/>
                    </a:lnTo>
                    <a:lnTo>
                      <a:pt x="159" y="87"/>
                    </a:lnTo>
                    <a:lnTo>
                      <a:pt x="152" y="83"/>
                    </a:lnTo>
                    <a:lnTo>
                      <a:pt x="145" y="80"/>
                    </a:lnTo>
                    <a:lnTo>
                      <a:pt x="138" y="76"/>
                    </a:lnTo>
                    <a:lnTo>
                      <a:pt x="130" y="73"/>
                    </a:lnTo>
                    <a:lnTo>
                      <a:pt x="123" y="68"/>
                    </a:lnTo>
                    <a:lnTo>
                      <a:pt x="128" y="66"/>
                    </a:lnTo>
                    <a:lnTo>
                      <a:pt x="130" y="61"/>
                    </a:lnTo>
                    <a:lnTo>
                      <a:pt x="133" y="57"/>
                    </a:lnTo>
                    <a:lnTo>
                      <a:pt x="136" y="53"/>
                    </a:lnTo>
                    <a:lnTo>
                      <a:pt x="138" y="47"/>
                    </a:lnTo>
                    <a:lnTo>
                      <a:pt x="140" y="43"/>
                    </a:lnTo>
                    <a:lnTo>
                      <a:pt x="142" y="37"/>
                    </a:lnTo>
                    <a:lnTo>
                      <a:pt x="145" y="33"/>
                    </a:lnTo>
                    <a:lnTo>
                      <a:pt x="146" y="27"/>
                    </a:lnTo>
                    <a:lnTo>
                      <a:pt x="149" y="23"/>
                    </a:lnTo>
                    <a:lnTo>
                      <a:pt x="152" y="18"/>
                    </a:lnTo>
                    <a:lnTo>
                      <a:pt x="155" y="16"/>
                    </a:lnTo>
                    <a:lnTo>
                      <a:pt x="159" y="13"/>
                    </a:lnTo>
                    <a:lnTo>
                      <a:pt x="163" y="11"/>
                    </a:lnTo>
                    <a:lnTo>
                      <a:pt x="169" y="11"/>
                    </a:lnTo>
                    <a:lnTo>
                      <a:pt x="176" y="13"/>
                    </a:lnTo>
                    <a:lnTo>
                      <a:pt x="183" y="16"/>
                    </a:lnTo>
                    <a:lnTo>
                      <a:pt x="193" y="21"/>
                    </a:lnTo>
                    <a:lnTo>
                      <a:pt x="202" y="24"/>
                    </a:lnTo>
                    <a:lnTo>
                      <a:pt x="210" y="30"/>
                    </a:lnTo>
                    <a:lnTo>
                      <a:pt x="219" y="33"/>
                    </a:lnTo>
                    <a:lnTo>
                      <a:pt x="229" y="37"/>
                    </a:lnTo>
                    <a:lnTo>
                      <a:pt x="238" y="41"/>
                    </a:lnTo>
                    <a:lnTo>
                      <a:pt x="246" y="47"/>
                    </a:lnTo>
                    <a:lnTo>
                      <a:pt x="255" y="51"/>
                    </a:lnTo>
                    <a:lnTo>
                      <a:pt x="263" y="57"/>
                    </a:lnTo>
                    <a:lnTo>
                      <a:pt x="272" y="61"/>
                    </a:lnTo>
                    <a:lnTo>
                      <a:pt x="279" y="68"/>
                    </a:lnTo>
                    <a:lnTo>
                      <a:pt x="286" y="74"/>
                    </a:lnTo>
                    <a:lnTo>
                      <a:pt x="295" y="83"/>
                    </a:lnTo>
                    <a:lnTo>
                      <a:pt x="302" y="90"/>
                    </a:lnTo>
                    <a:lnTo>
                      <a:pt x="308" y="100"/>
                    </a:lnTo>
                    <a:lnTo>
                      <a:pt x="311" y="101"/>
                    </a:lnTo>
                    <a:lnTo>
                      <a:pt x="315" y="103"/>
                    </a:lnTo>
                    <a:lnTo>
                      <a:pt x="316" y="101"/>
                    </a:lnTo>
                    <a:lnTo>
                      <a:pt x="316" y="98"/>
                    </a:lnTo>
                    <a:lnTo>
                      <a:pt x="311" y="88"/>
                    </a:lnTo>
                    <a:lnTo>
                      <a:pt x="305" y="80"/>
                    </a:lnTo>
                    <a:lnTo>
                      <a:pt x="299" y="71"/>
                    </a:lnTo>
                    <a:lnTo>
                      <a:pt x="292" y="64"/>
                    </a:lnTo>
                    <a:lnTo>
                      <a:pt x="283" y="57"/>
                    </a:lnTo>
                    <a:lnTo>
                      <a:pt x="276" y="51"/>
                    </a:lnTo>
                    <a:lnTo>
                      <a:pt x="268" y="46"/>
                    </a:lnTo>
                    <a:lnTo>
                      <a:pt x="259" y="41"/>
                    </a:lnTo>
                    <a:lnTo>
                      <a:pt x="250" y="37"/>
                    </a:lnTo>
                    <a:lnTo>
                      <a:pt x="240" y="31"/>
                    </a:lnTo>
                    <a:lnTo>
                      <a:pt x="232" y="27"/>
                    </a:lnTo>
                    <a:lnTo>
                      <a:pt x="223" y="23"/>
                    </a:lnTo>
                    <a:lnTo>
                      <a:pt x="213" y="18"/>
                    </a:lnTo>
                    <a:lnTo>
                      <a:pt x="205" y="14"/>
                    </a:lnTo>
                    <a:lnTo>
                      <a:pt x="196" y="10"/>
                    </a:lnTo>
                    <a:lnTo>
                      <a:pt x="18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89" name="Freeform 81"/>
              <p:cNvSpPr>
                <a:spLocks/>
              </p:cNvSpPr>
              <p:nvPr/>
            </p:nvSpPr>
            <p:spPr bwMode="auto">
              <a:xfrm>
                <a:off x="2586" y="759"/>
                <a:ext cx="135" cy="391"/>
              </a:xfrm>
              <a:custGeom>
                <a:avLst/>
                <a:gdLst>
                  <a:gd name="T0" fmla="*/ 0 w 268"/>
                  <a:gd name="T1" fmla="*/ 0 h 783"/>
                  <a:gd name="T2" fmla="*/ 1 w 268"/>
                  <a:gd name="T3" fmla="*/ 0 h 783"/>
                  <a:gd name="T4" fmla="*/ 1 w 268"/>
                  <a:gd name="T5" fmla="*/ 0 h 783"/>
                  <a:gd name="T6" fmla="*/ 1 w 268"/>
                  <a:gd name="T7" fmla="*/ 0 h 783"/>
                  <a:gd name="T8" fmla="*/ 1 w 268"/>
                  <a:gd name="T9" fmla="*/ 0 h 783"/>
                  <a:gd name="T10" fmla="*/ 1 w 268"/>
                  <a:gd name="T11" fmla="*/ 0 h 783"/>
                  <a:gd name="T12" fmla="*/ 1 w 268"/>
                  <a:gd name="T13" fmla="*/ 1 h 783"/>
                  <a:gd name="T14" fmla="*/ 1 w 268"/>
                  <a:gd name="T15" fmla="*/ 1 h 783"/>
                  <a:gd name="T16" fmla="*/ 1 w 268"/>
                  <a:gd name="T17" fmla="*/ 1 h 783"/>
                  <a:gd name="T18" fmla="*/ 1 w 268"/>
                  <a:gd name="T19" fmla="*/ 1 h 783"/>
                  <a:gd name="T20" fmla="*/ 1 w 268"/>
                  <a:gd name="T21" fmla="*/ 1 h 783"/>
                  <a:gd name="T22" fmla="*/ 1 w 268"/>
                  <a:gd name="T23" fmla="*/ 1 h 783"/>
                  <a:gd name="T24" fmla="*/ 1 w 268"/>
                  <a:gd name="T25" fmla="*/ 1 h 783"/>
                  <a:gd name="T26" fmla="*/ 1 w 268"/>
                  <a:gd name="T27" fmla="*/ 1 h 783"/>
                  <a:gd name="T28" fmla="*/ 1 w 268"/>
                  <a:gd name="T29" fmla="*/ 1 h 783"/>
                  <a:gd name="T30" fmla="*/ 1 w 268"/>
                  <a:gd name="T31" fmla="*/ 1 h 783"/>
                  <a:gd name="T32" fmla="*/ 1 w 268"/>
                  <a:gd name="T33" fmla="*/ 1 h 783"/>
                  <a:gd name="T34" fmla="*/ 1 w 268"/>
                  <a:gd name="T35" fmla="*/ 1 h 783"/>
                  <a:gd name="T36" fmla="*/ 1 w 268"/>
                  <a:gd name="T37" fmla="*/ 1 h 783"/>
                  <a:gd name="T38" fmla="*/ 1 w 268"/>
                  <a:gd name="T39" fmla="*/ 2 h 783"/>
                  <a:gd name="T40" fmla="*/ 1 w 268"/>
                  <a:gd name="T41" fmla="*/ 2 h 783"/>
                  <a:gd name="T42" fmla="*/ 1 w 268"/>
                  <a:gd name="T43" fmla="*/ 1 h 783"/>
                  <a:gd name="T44" fmla="*/ 1 w 268"/>
                  <a:gd name="T45" fmla="*/ 2 h 783"/>
                  <a:gd name="T46" fmla="*/ 1 w 268"/>
                  <a:gd name="T47" fmla="*/ 2 h 783"/>
                  <a:gd name="T48" fmla="*/ 1 w 268"/>
                  <a:gd name="T49" fmla="*/ 2 h 783"/>
                  <a:gd name="T50" fmla="*/ 1 w 268"/>
                  <a:gd name="T51" fmla="*/ 2 h 783"/>
                  <a:gd name="T52" fmla="*/ 1 w 268"/>
                  <a:gd name="T53" fmla="*/ 2 h 783"/>
                  <a:gd name="T54" fmla="*/ 2 w 268"/>
                  <a:gd name="T55" fmla="*/ 2 h 783"/>
                  <a:gd name="T56" fmla="*/ 1 w 268"/>
                  <a:gd name="T57" fmla="*/ 3 h 783"/>
                  <a:gd name="T58" fmla="*/ 1 w 268"/>
                  <a:gd name="T59" fmla="*/ 3 h 783"/>
                  <a:gd name="T60" fmla="*/ 2 w 268"/>
                  <a:gd name="T61" fmla="*/ 2 h 783"/>
                  <a:gd name="T62" fmla="*/ 2 w 268"/>
                  <a:gd name="T63" fmla="*/ 2 h 783"/>
                  <a:gd name="T64" fmla="*/ 1 w 268"/>
                  <a:gd name="T65" fmla="*/ 2 h 783"/>
                  <a:gd name="T66" fmla="*/ 1 w 268"/>
                  <a:gd name="T67" fmla="*/ 2 h 783"/>
                  <a:gd name="T68" fmla="*/ 1 w 268"/>
                  <a:gd name="T69" fmla="*/ 2 h 783"/>
                  <a:gd name="T70" fmla="*/ 1 w 268"/>
                  <a:gd name="T71" fmla="*/ 2 h 783"/>
                  <a:gd name="T72" fmla="*/ 1 w 268"/>
                  <a:gd name="T73" fmla="*/ 2 h 783"/>
                  <a:gd name="T74" fmla="*/ 1 w 268"/>
                  <a:gd name="T75" fmla="*/ 1 h 783"/>
                  <a:gd name="T76" fmla="*/ 1 w 268"/>
                  <a:gd name="T77" fmla="*/ 1 h 783"/>
                  <a:gd name="T78" fmla="*/ 1 w 268"/>
                  <a:gd name="T79" fmla="*/ 1 h 783"/>
                  <a:gd name="T80" fmla="*/ 1 w 268"/>
                  <a:gd name="T81" fmla="*/ 1 h 783"/>
                  <a:gd name="T82" fmla="*/ 1 w 268"/>
                  <a:gd name="T83" fmla="*/ 1 h 783"/>
                  <a:gd name="T84" fmla="*/ 1 w 268"/>
                  <a:gd name="T85" fmla="*/ 1 h 783"/>
                  <a:gd name="T86" fmla="*/ 1 w 268"/>
                  <a:gd name="T87" fmla="*/ 1 h 783"/>
                  <a:gd name="T88" fmla="*/ 1 w 268"/>
                  <a:gd name="T89" fmla="*/ 1 h 783"/>
                  <a:gd name="T90" fmla="*/ 1 w 268"/>
                  <a:gd name="T91" fmla="*/ 1 h 783"/>
                  <a:gd name="T92" fmla="*/ 1 w 268"/>
                  <a:gd name="T93" fmla="*/ 1 h 783"/>
                  <a:gd name="T94" fmla="*/ 1 w 268"/>
                  <a:gd name="T95" fmla="*/ 1 h 783"/>
                  <a:gd name="T96" fmla="*/ 1 w 268"/>
                  <a:gd name="T97" fmla="*/ 1 h 783"/>
                  <a:gd name="T98" fmla="*/ 1 w 268"/>
                  <a:gd name="T99" fmla="*/ 1 h 783"/>
                  <a:gd name="T100" fmla="*/ 1 w 268"/>
                  <a:gd name="T101" fmla="*/ 1 h 783"/>
                  <a:gd name="T102" fmla="*/ 1 w 268"/>
                  <a:gd name="T103" fmla="*/ 1 h 783"/>
                  <a:gd name="T104" fmla="*/ 1 w 268"/>
                  <a:gd name="T105" fmla="*/ 0 h 783"/>
                  <a:gd name="T106" fmla="*/ 1 w 268"/>
                  <a:gd name="T107" fmla="*/ 0 h 783"/>
                  <a:gd name="T108" fmla="*/ 1 w 268"/>
                  <a:gd name="T109" fmla="*/ 0 h 783"/>
                  <a:gd name="T110" fmla="*/ 1 w 268"/>
                  <a:gd name="T111" fmla="*/ 0 h 783"/>
                  <a:gd name="T112" fmla="*/ 1 w 268"/>
                  <a:gd name="T113" fmla="*/ 0 h 7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8"/>
                  <a:gd name="T172" fmla="*/ 0 h 783"/>
                  <a:gd name="T173" fmla="*/ 268 w 268"/>
                  <a:gd name="T174" fmla="*/ 783 h 7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8" h="783">
                    <a:moveTo>
                      <a:pt x="7" y="0"/>
                    </a:moveTo>
                    <a:lnTo>
                      <a:pt x="4" y="1"/>
                    </a:lnTo>
                    <a:lnTo>
                      <a:pt x="1" y="3"/>
                    </a:lnTo>
                    <a:lnTo>
                      <a:pt x="0" y="5"/>
                    </a:lnTo>
                    <a:lnTo>
                      <a:pt x="0" y="8"/>
                    </a:lnTo>
                    <a:lnTo>
                      <a:pt x="0" y="10"/>
                    </a:lnTo>
                    <a:lnTo>
                      <a:pt x="0" y="14"/>
                    </a:lnTo>
                    <a:lnTo>
                      <a:pt x="0" y="17"/>
                    </a:lnTo>
                    <a:lnTo>
                      <a:pt x="1" y="20"/>
                    </a:lnTo>
                    <a:lnTo>
                      <a:pt x="1" y="23"/>
                    </a:lnTo>
                    <a:lnTo>
                      <a:pt x="1" y="27"/>
                    </a:lnTo>
                    <a:lnTo>
                      <a:pt x="2" y="30"/>
                    </a:lnTo>
                    <a:lnTo>
                      <a:pt x="2" y="33"/>
                    </a:lnTo>
                    <a:lnTo>
                      <a:pt x="4" y="35"/>
                    </a:lnTo>
                    <a:lnTo>
                      <a:pt x="4" y="38"/>
                    </a:lnTo>
                    <a:lnTo>
                      <a:pt x="4" y="41"/>
                    </a:lnTo>
                    <a:lnTo>
                      <a:pt x="4" y="44"/>
                    </a:lnTo>
                    <a:lnTo>
                      <a:pt x="5" y="55"/>
                    </a:lnTo>
                    <a:lnTo>
                      <a:pt x="5" y="67"/>
                    </a:lnTo>
                    <a:lnTo>
                      <a:pt x="5" y="78"/>
                    </a:lnTo>
                    <a:lnTo>
                      <a:pt x="5" y="90"/>
                    </a:lnTo>
                    <a:lnTo>
                      <a:pt x="4" y="101"/>
                    </a:lnTo>
                    <a:lnTo>
                      <a:pt x="4" y="113"/>
                    </a:lnTo>
                    <a:lnTo>
                      <a:pt x="4" y="124"/>
                    </a:lnTo>
                    <a:lnTo>
                      <a:pt x="4" y="137"/>
                    </a:lnTo>
                    <a:lnTo>
                      <a:pt x="2" y="147"/>
                    </a:lnTo>
                    <a:lnTo>
                      <a:pt x="2" y="160"/>
                    </a:lnTo>
                    <a:lnTo>
                      <a:pt x="2" y="171"/>
                    </a:lnTo>
                    <a:lnTo>
                      <a:pt x="4" y="183"/>
                    </a:lnTo>
                    <a:lnTo>
                      <a:pt x="5" y="194"/>
                    </a:lnTo>
                    <a:lnTo>
                      <a:pt x="8" y="205"/>
                    </a:lnTo>
                    <a:lnTo>
                      <a:pt x="10" y="217"/>
                    </a:lnTo>
                    <a:lnTo>
                      <a:pt x="15" y="228"/>
                    </a:lnTo>
                    <a:lnTo>
                      <a:pt x="15" y="234"/>
                    </a:lnTo>
                    <a:lnTo>
                      <a:pt x="17" y="238"/>
                    </a:lnTo>
                    <a:lnTo>
                      <a:pt x="18" y="243"/>
                    </a:lnTo>
                    <a:lnTo>
                      <a:pt x="20" y="248"/>
                    </a:lnTo>
                    <a:lnTo>
                      <a:pt x="21" y="253"/>
                    </a:lnTo>
                    <a:lnTo>
                      <a:pt x="21" y="258"/>
                    </a:lnTo>
                    <a:lnTo>
                      <a:pt x="23" y="263"/>
                    </a:lnTo>
                    <a:lnTo>
                      <a:pt x="24" y="268"/>
                    </a:lnTo>
                    <a:lnTo>
                      <a:pt x="25" y="273"/>
                    </a:lnTo>
                    <a:lnTo>
                      <a:pt x="27" y="278"/>
                    </a:lnTo>
                    <a:lnTo>
                      <a:pt x="28" y="284"/>
                    </a:lnTo>
                    <a:lnTo>
                      <a:pt x="30" y="288"/>
                    </a:lnTo>
                    <a:lnTo>
                      <a:pt x="31" y="294"/>
                    </a:lnTo>
                    <a:lnTo>
                      <a:pt x="33" y="298"/>
                    </a:lnTo>
                    <a:lnTo>
                      <a:pt x="35" y="304"/>
                    </a:lnTo>
                    <a:lnTo>
                      <a:pt x="38" y="308"/>
                    </a:lnTo>
                    <a:lnTo>
                      <a:pt x="40" y="313"/>
                    </a:lnTo>
                    <a:lnTo>
                      <a:pt x="40" y="317"/>
                    </a:lnTo>
                    <a:lnTo>
                      <a:pt x="38" y="320"/>
                    </a:lnTo>
                    <a:lnTo>
                      <a:pt x="37" y="324"/>
                    </a:lnTo>
                    <a:lnTo>
                      <a:pt x="33" y="326"/>
                    </a:lnTo>
                    <a:lnTo>
                      <a:pt x="30" y="330"/>
                    </a:lnTo>
                    <a:lnTo>
                      <a:pt x="27" y="331"/>
                    </a:lnTo>
                    <a:lnTo>
                      <a:pt x="24" y="336"/>
                    </a:lnTo>
                    <a:lnTo>
                      <a:pt x="20" y="337"/>
                    </a:lnTo>
                    <a:lnTo>
                      <a:pt x="15" y="340"/>
                    </a:lnTo>
                    <a:lnTo>
                      <a:pt x="13" y="343"/>
                    </a:lnTo>
                    <a:lnTo>
                      <a:pt x="11" y="347"/>
                    </a:lnTo>
                    <a:lnTo>
                      <a:pt x="8" y="350"/>
                    </a:lnTo>
                    <a:lnTo>
                      <a:pt x="8" y="354"/>
                    </a:lnTo>
                    <a:lnTo>
                      <a:pt x="10" y="358"/>
                    </a:lnTo>
                    <a:lnTo>
                      <a:pt x="13" y="363"/>
                    </a:lnTo>
                    <a:lnTo>
                      <a:pt x="15" y="366"/>
                    </a:lnTo>
                    <a:lnTo>
                      <a:pt x="20" y="367"/>
                    </a:lnTo>
                    <a:lnTo>
                      <a:pt x="24" y="367"/>
                    </a:lnTo>
                    <a:lnTo>
                      <a:pt x="30" y="368"/>
                    </a:lnTo>
                    <a:lnTo>
                      <a:pt x="34" y="367"/>
                    </a:lnTo>
                    <a:lnTo>
                      <a:pt x="40" y="367"/>
                    </a:lnTo>
                    <a:lnTo>
                      <a:pt x="44" y="367"/>
                    </a:lnTo>
                    <a:lnTo>
                      <a:pt x="50" y="367"/>
                    </a:lnTo>
                    <a:lnTo>
                      <a:pt x="54" y="367"/>
                    </a:lnTo>
                    <a:lnTo>
                      <a:pt x="58" y="367"/>
                    </a:lnTo>
                    <a:lnTo>
                      <a:pt x="63" y="367"/>
                    </a:lnTo>
                    <a:lnTo>
                      <a:pt x="67" y="368"/>
                    </a:lnTo>
                    <a:lnTo>
                      <a:pt x="70" y="370"/>
                    </a:lnTo>
                    <a:lnTo>
                      <a:pt x="73" y="374"/>
                    </a:lnTo>
                    <a:lnTo>
                      <a:pt x="75" y="378"/>
                    </a:lnTo>
                    <a:lnTo>
                      <a:pt x="77" y="384"/>
                    </a:lnTo>
                    <a:lnTo>
                      <a:pt x="77" y="387"/>
                    </a:lnTo>
                    <a:lnTo>
                      <a:pt x="78" y="391"/>
                    </a:lnTo>
                    <a:lnTo>
                      <a:pt x="80" y="394"/>
                    </a:lnTo>
                    <a:lnTo>
                      <a:pt x="83" y="398"/>
                    </a:lnTo>
                    <a:lnTo>
                      <a:pt x="84" y="403"/>
                    </a:lnTo>
                    <a:lnTo>
                      <a:pt x="87" y="406"/>
                    </a:lnTo>
                    <a:lnTo>
                      <a:pt x="88" y="410"/>
                    </a:lnTo>
                    <a:lnTo>
                      <a:pt x="91" y="414"/>
                    </a:lnTo>
                    <a:lnTo>
                      <a:pt x="94" y="417"/>
                    </a:lnTo>
                    <a:lnTo>
                      <a:pt x="95" y="421"/>
                    </a:lnTo>
                    <a:lnTo>
                      <a:pt x="98" y="426"/>
                    </a:lnTo>
                    <a:lnTo>
                      <a:pt x="100" y="430"/>
                    </a:lnTo>
                    <a:lnTo>
                      <a:pt x="101" y="433"/>
                    </a:lnTo>
                    <a:lnTo>
                      <a:pt x="104" y="437"/>
                    </a:lnTo>
                    <a:lnTo>
                      <a:pt x="104" y="440"/>
                    </a:lnTo>
                    <a:lnTo>
                      <a:pt x="105" y="446"/>
                    </a:lnTo>
                    <a:lnTo>
                      <a:pt x="101" y="447"/>
                    </a:lnTo>
                    <a:lnTo>
                      <a:pt x="97" y="450"/>
                    </a:lnTo>
                    <a:lnTo>
                      <a:pt x="91" y="451"/>
                    </a:lnTo>
                    <a:lnTo>
                      <a:pt x="87" y="454"/>
                    </a:lnTo>
                    <a:lnTo>
                      <a:pt x="83" y="456"/>
                    </a:lnTo>
                    <a:lnTo>
                      <a:pt x="78" y="458"/>
                    </a:lnTo>
                    <a:lnTo>
                      <a:pt x="74" y="461"/>
                    </a:lnTo>
                    <a:lnTo>
                      <a:pt x="71" y="464"/>
                    </a:lnTo>
                    <a:lnTo>
                      <a:pt x="67" y="467"/>
                    </a:lnTo>
                    <a:lnTo>
                      <a:pt x="63" y="470"/>
                    </a:lnTo>
                    <a:lnTo>
                      <a:pt x="58" y="473"/>
                    </a:lnTo>
                    <a:lnTo>
                      <a:pt x="55" y="477"/>
                    </a:lnTo>
                    <a:lnTo>
                      <a:pt x="51" y="480"/>
                    </a:lnTo>
                    <a:lnTo>
                      <a:pt x="48" y="484"/>
                    </a:lnTo>
                    <a:lnTo>
                      <a:pt x="45" y="487"/>
                    </a:lnTo>
                    <a:lnTo>
                      <a:pt x="43" y="491"/>
                    </a:lnTo>
                    <a:lnTo>
                      <a:pt x="41" y="496"/>
                    </a:lnTo>
                    <a:lnTo>
                      <a:pt x="43" y="500"/>
                    </a:lnTo>
                    <a:lnTo>
                      <a:pt x="44" y="504"/>
                    </a:lnTo>
                    <a:lnTo>
                      <a:pt x="47" y="507"/>
                    </a:lnTo>
                    <a:lnTo>
                      <a:pt x="51" y="510"/>
                    </a:lnTo>
                    <a:lnTo>
                      <a:pt x="54" y="513"/>
                    </a:lnTo>
                    <a:lnTo>
                      <a:pt x="60" y="514"/>
                    </a:lnTo>
                    <a:lnTo>
                      <a:pt x="64" y="516"/>
                    </a:lnTo>
                    <a:lnTo>
                      <a:pt x="68" y="517"/>
                    </a:lnTo>
                    <a:lnTo>
                      <a:pt x="74" y="518"/>
                    </a:lnTo>
                    <a:lnTo>
                      <a:pt x="78" y="518"/>
                    </a:lnTo>
                    <a:lnTo>
                      <a:pt x="84" y="518"/>
                    </a:lnTo>
                    <a:lnTo>
                      <a:pt x="88" y="518"/>
                    </a:lnTo>
                    <a:lnTo>
                      <a:pt x="94" y="517"/>
                    </a:lnTo>
                    <a:lnTo>
                      <a:pt x="98" y="516"/>
                    </a:lnTo>
                    <a:lnTo>
                      <a:pt x="103" y="516"/>
                    </a:lnTo>
                    <a:lnTo>
                      <a:pt x="104" y="514"/>
                    </a:lnTo>
                    <a:lnTo>
                      <a:pt x="107" y="513"/>
                    </a:lnTo>
                    <a:lnTo>
                      <a:pt x="110" y="511"/>
                    </a:lnTo>
                    <a:lnTo>
                      <a:pt x="113" y="511"/>
                    </a:lnTo>
                    <a:lnTo>
                      <a:pt x="117" y="508"/>
                    </a:lnTo>
                    <a:lnTo>
                      <a:pt x="120" y="508"/>
                    </a:lnTo>
                    <a:lnTo>
                      <a:pt x="123" y="507"/>
                    </a:lnTo>
                    <a:lnTo>
                      <a:pt x="125" y="507"/>
                    </a:lnTo>
                    <a:lnTo>
                      <a:pt x="128" y="516"/>
                    </a:lnTo>
                    <a:lnTo>
                      <a:pt x="131" y="523"/>
                    </a:lnTo>
                    <a:lnTo>
                      <a:pt x="133" y="531"/>
                    </a:lnTo>
                    <a:lnTo>
                      <a:pt x="135" y="540"/>
                    </a:lnTo>
                    <a:lnTo>
                      <a:pt x="137" y="547"/>
                    </a:lnTo>
                    <a:lnTo>
                      <a:pt x="140" y="556"/>
                    </a:lnTo>
                    <a:lnTo>
                      <a:pt x="141" y="564"/>
                    </a:lnTo>
                    <a:lnTo>
                      <a:pt x="144" y="571"/>
                    </a:lnTo>
                    <a:lnTo>
                      <a:pt x="145" y="580"/>
                    </a:lnTo>
                    <a:lnTo>
                      <a:pt x="148" y="587"/>
                    </a:lnTo>
                    <a:lnTo>
                      <a:pt x="151" y="594"/>
                    </a:lnTo>
                    <a:lnTo>
                      <a:pt x="155" y="603"/>
                    </a:lnTo>
                    <a:lnTo>
                      <a:pt x="158" y="610"/>
                    </a:lnTo>
                    <a:lnTo>
                      <a:pt x="164" y="619"/>
                    </a:lnTo>
                    <a:lnTo>
                      <a:pt x="168" y="626"/>
                    </a:lnTo>
                    <a:lnTo>
                      <a:pt x="175" y="633"/>
                    </a:lnTo>
                    <a:lnTo>
                      <a:pt x="181" y="640"/>
                    </a:lnTo>
                    <a:lnTo>
                      <a:pt x="187" y="647"/>
                    </a:lnTo>
                    <a:lnTo>
                      <a:pt x="194" y="653"/>
                    </a:lnTo>
                    <a:lnTo>
                      <a:pt x="201" y="660"/>
                    </a:lnTo>
                    <a:lnTo>
                      <a:pt x="207" y="667"/>
                    </a:lnTo>
                    <a:lnTo>
                      <a:pt x="214" y="674"/>
                    </a:lnTo>
                    <a:lnTo>
                      <a:pt x="220" y="681"/>
                    </a:lnTo>
                    <a:lnTo>
                      <a:pt x="227" y="689"/>
                    </a:lnTo>
                    <a:lnTo>
                      <a:pt x="233" y="696"/>
                    </a:lnTo>
                    <a:lnTo>
                      <a:pt x="238" y="703"/>
                    </a:lnTo>
                    <a:lnTo>
                      <a:pt x="243" y="711"/>
                    </a:lnTo>
                    <a:lnTo>
                      <a:pt x="248" y="720"/>
                    </a:lnTo>
                    <a:lnTo>
                      <a:pt x="251" y="727"/>
                    </a:lnTo>
                    <a:lnTo>
                      <a:pt x="254" y="737"/>
                    </a:lnTo>
                    <a:lnTo>
                      <a:pt x="257" y="746"/>
                    </a:lnTo>
                    <a:lnTo>
                      <a:pt x="258" y="756"/>
                    </a:lnTo>
                    <a:lnTo>
                      <a:pt x="258" y="759"/>
                    </a:lnTo>
                    <a:lnTo>
                      <a:pt x="257" y="761"/>
                    </a:lnTo>
                    <a:lnTo>
                      <a:pt x="256" y="764"/>
                    </a:lnTo>
                    <a:lnTo>
                      <a:pt x="254" y="766"/>
                    </a:lnTo>
                    <a:lnTo>
                      <a:pt x="250" y="770"/>
                    </a:lnTo>
                    <a:lnTo>
                      <a:pt x="247" y="773"/>
                    </a:lnTo>
                    <a:lnTo>
                      <a:pt x="246" y="774"/>
                    </a:lnTo>
                    <a:lnTo>
                      <a:pt x="246" y="777"/>
                    </a:lnTo>
                    <a:lnTo>
                      <a:pt x="246" y="779"/>
                    </a:lnTo>
                    <a:lnTo>
                      <a:pt x="247" y="783"/>
                    </a:lnTo>
                    <a:lnTo>
                      <a:pt x="253" y="779"/>
                    </a:lnTo>
                    <a:lnTo>
                      <a:pt x="258" y="776"/>
                    </a:lnTo>
                    <a:lnTo>
                      <a:pt x="261" y="771"/>
                    </a:lnTo>
                    <a:lnTo>
                      <a:pt x="264" y="767"/>
                    </a:lnTo>
                    <a:lnTo>
                      <a:pt x="267" y="763"/>
                    </a:lnTo>
                    <a:lnTo>
                      <a:pt x="268" y="757"/>
                    </a:lnTo>
                    <a:lnTo>
                      <a:pt x="268" y="751"/>
                    </a:lnTo>
                    <a:lnTo>
                      <a:pt x="268" y="746"/>
                    </a:lnTo>
                    <a:lnTo>
                      <a:pt x="267" y="740"/>
                    </a:lnTo>
                    <a:lnTo>
                      <a:pt x="264" y="734"/>
                    </a:lnTo>
                    <a:lnTo>
                      <a:pt x="263" y="727"/>
                    </a:lnTo>
                    <a:lnTo>
                      <a:pt x="261" y="721"/>
                    </a:lnTo>
                    <a:lnTo>
                      <a:pt x="257" y="716"/>
                    </a:lnTo>
                    <a:lnTo>
                      <a:pt x="256" y="711"/>
                    </a:lnTo>
                    <a:lnTo>
                      <a:pt x="253" y="706"/>
                    </a:lnTo>
                    <a:lnTo>
                      <a:pt x="250" y="701"/>
                    </a:lnTo>
                    <a:lnTo>
                      <a:pt x="243" y="691"/>
                    </a:lnTo>
                    <a:lnTo>
                      <a:pt x="237" y="684"/>
                    </a:lnTo>
                    <a:lnTo>
                      <a:pt x="230" y="676"/>
                    </a:lnTo>
                    <a:lnTo>
                      <a:pt x="224" y="669"/>
                    </a:lnTo>
                    <a:lnTo>
                      <a:pt x="216" y="661"/>
                    </a:lnTo>
                    <a:lnTo>
                      <a:pt x="208" y="654"/>
                    </a:lnTo>
                    <a:lnTo>
                      <a:pt x="201" y="647"/>
                    </a:lnTo>
                    <a:lnTo>
                      <a:pt x="194" y="640"/>
                    </a:lnTo>
                    <a:lnTo>
                      <a:pt x="187" y="633"/>
                    </a:lnTo>
                    <a:lnTo>
                      <a:pt x="181" y="626"/>
                    </a:lnTo>
                    <a:lnTo>
                      <a:pt x="174" y="617"/>
                    </a:lnTo>
                    <a:lnTo>
                      <a:pt x="170" y="610"/>
                    </a:lnTo>
                    <a:lnTo>
                      <a:pt x="164" y="600"/>
                    </a:lnTo>
                    <a:lnTo>
                      <a:pt x="160" y="591"/>
                    </a:lnTo>
                    <a:lnTo>
                      <a:pt x="155" y="581"/>
                    </a:lnTo>
                    <a:lnTo>
                      <a:pt x="154" y="571"/>
                    </a:lnTo>
                    <a:lnTo>
                      <a:pt x="151" y="567"/>
                    </a:lnTo>
                    <a:lnTo>
                      <a:pt x="150" y="561"/>
                    </a:lnTo>
                    <a:lnTo>
                      <a:pt x="148" y="556"/>
                    </a:lnTo>
                    <a:lnTo>
                      <a:pt x="148" y="551"/>
                    </a:lnTo>
                    <a:lnTo>
                      <a:pt x="147" y="546"/>
                    </a:lnTo>
                    <a:lnTo>
                      <a:pt x="147" y="540"/>
                    </a:lnTo>
                    <a:lnTo>
                      <a:pt x="145" y="534"/>
                    </a:lnTo>
                    <a:lnTo>
                      <a:pt x="145" y="528"/>
                    </a:lnTo>
                    <a:lnTo>
                      <a:pt x="144" y="523"/>
                    </a:lnTo>
                    <a:lnTo>
                      <a:pt x="143" y="518"/>
                    </a:lnTo>
                    <a:lnTo>
                      <a:pt x="141" y="513"/>
                    </a:lnTo>
                    <a:lnTo>
                      <a:pt x="140" y="508"/>
                    </a:lnTo>
                    <a:lnTo>
                      <a:pt x="135" y="504"/>
                    </a:lnTo>
                    <a:lnTo>
                      <a:pt x="133" y="501"/>
                    </a:lnTo>
                    <a:lnTo>
                      <a:pt x="128" y="497"/>
                    </a:lnTo>
                    <a:lnTo>
                      <a:pt x="124" y="496"/>
                    </a:lnTo>
                    <a:lnTo>
                      <a:pt x="118" y="497"/>
                    </a:lnTo>
                    <a:lnTo>
                      <a:pt x="114" y="498"/>
                    </a:lnTo>
                    <a:lnTo>
                      <a:pt x="110" y="500"/>
                    </a:lnTo>
                    <a:lnTo>
                      <a:pt x="105" y="503"/>
                    </a:lnTo>
                    <a:lnTo>
                      <a:pt x="100" y="503"/>
                    </a:lnTo>
                    <a:lnTo>
                      <a:pt x="95" y="504"/>
                    </a:lnTo>
                    <a:lnTo>
                      <a:pt x="91" y="506"/>
                    </a:lnTo>
                    <a:lnTo>
                      <a:pt x="85" y="507"/>
                    </a:lnTo>
                    <a:lnTo>
                      <a:pt x="81" y="507"/>
                    </a:lnTo>
                    <a:lnTo>
                      <a:pt x="77" y="507"/>
                    </a:lnTo>
                    <a:lnTo>
                      <a:pt x="73" y="506"/>
                    </a:lnTo>
                    <a:lnTo>
                      <a:pt x="68" y="506"/>
                    </a:lnTo>
                    <a:lnTo>
                      <a:pt x="63" y="504"/>
                    </a:lnTo>
                    <a:lnTo>
                      <a:pt x="58" y="503"/>
                    </a:lnTo>
                    <a:lnTo>
                      <a:pt x="54" y="500"/>
                    </a:lnTo>
                    <a:lnTo>
                      <a:pt x="51" y="497"/>
                    </a:lnTo>
                    <a:lnTo>
                      <a:pt x="53" y="493"/>
                    </a:lnTo>
                    <a:lnTo>
                      <a:pt x="55" y="490"/>
                    </a:lnTo>
                    <a:lnTo>
                      <a:pt x="60" y="486"/>
                    </a:lnTo>
                    <a:lnTo>
                      <a:pt x="63" y="483"/>
                    </a:lnTo>
                    <a:lnTo>
                      <a:pt x="65" y="480"/>
                    </a:lnTo>
                    <a:lnTo>
                      <a:pt x="70" y="477"/>
                    </a:lnTo>
                    <a:lnTo>
                      <a:pt x="74" y="474"/>
                    </a:lnTo>
                    <a:lnTo>
                      <a:pt x="78" y="471"/>
                    </a:lnTo>
                    <a:lnTo>
                      <a:pt x="81" y="468"/>
                    </a:lnTo>
                    <a:lnTo>
                      <a:pt x="85" y="466"/>
                    </a:lnTo>
                    <a:lnTo>
                      <a:pt x="90" y="464"/>
                    </a:lnTo>
                    <a:lnTo>
                      <a:pt x="94" y="463"/>
                    </a:lnTo>
                    <a:lnTo>
                      <a:pt x="98" y="460"/>
                    </a:lnTo>
                    <a:lnTo>
                      <a:pt x="103" y="458"/>
                    </a:lnTo>
                    <a:lnTo>
                      <a:pt x="107" y="457"/>
                    </a:lnTo>
                    <a:lnTo>
                      <a:pt x="113" y="456"/>
                    </a:lnTo>
                    <a:lnTo>
                      <a:pt x="114" y="450"/>
                    </a:lnTo>
                    <a:lnTo>
                      <a:pt x="115" y="446"/>
                    </a:lnTo>
                    <a:lnTo>
                      <a:pt x="115" y="441"/>
                    </a:lnTo>
                    <a:lnTo>
                      <a:pt x="115" y="437"/>
                    </a:lnTo>
                    <a:lnTo>
                      <a:pt x="113" y="431"/>
                    </a:lnTo>
                    <a:lnTo>
                      <a:pt x="111" y="427"/>
                    </a:lnTo>
                    <a:lnTo>
                      <a:pt x="108" y="423"/>
                    </a:lnTo>
                    <a:lnTo>
                      <a:pt x="105" y="418"/>
                    </a:lnTo>
                    <a:lnTo>
                      <a:pt x="103" y="414"/>
                    </a:lnTo>
                    <a:lnTo>
                      <a:pt x="100" y="410"/>
                    </a:lnTo>
                    <a:lnTo>
                      <a:pt x="97" y="404"/>
                    </a:lnTo>
                    <a:lnTo>
                      <a:pt x="93" y="400"/>
                    </a:lnTo>
                    <a:lnTo>
                      <a:pt x="90" y="396"/>
                    </a:lnTo>
                    <a:lnTo>
                      <a:pt x="88" y="391"/>
                    </a:lnTo>
                    <a:lnTo>
                      <a:pt x="87" y="387"/>
                    </a:lnTo>
                    <a:lnTo>
                      <a:pt x="87" y="381"/>
                    </a:lnTo>
                    <a:lnTo>
                      <a:pt x="85" y="376"/>
                    </a:lnTo>
                    <a:lnTo>
                      <a:pt x="84" y="371"/>
                    </a:lnTo>
                    <a:lnTo>
                      <a:pt x="81" y="366"/>
                    </a:lnTo>
                    <a:lnTo>
                      <a:pt x="78" y="364"/>
                    </a:lnTo>
                    <a:lnTo>
                      <a:pt x="75" y="360"/>
                    </a:lnTo>
                    <a:lnTo>
                      <a:pt x="71" y="358"/>
                    </a:lnTo>
                    <a:lnTo>
                      <a:pt x="67" y="357"/>
                    </a:lnTo>
                    <a:lnTo>
                      <a:pt x="63" y="357"/>
                    </a:lnTo>
                    <a:lnTo>
                      <a:pt x="58" y="357"/>
                    </a:lnTo>
                    <a:lnTo>
                      <a:pt x="54" y="357"/>
                    </a:lnTo>
                    <a:lnTo>
                      <a:pt x="48" y="357"/>
                    </a:lnTo>
                    <a:lnTo>
                      <a:pt x="44" y="357"/>
                    </a:lnTo>
                    <a:lnTo>
                      <a:pt x="38" y="357"/>
                    </a:lnTo>
                    <a:lnTo>
                      <a:pt x="34" y="358"/>
                    </a:lnTo>
                    <a:lnTo>
                      <a:pt x="30" y="358"/>
                    </a:lnTo>
                    <a:lnTo>
                      <a:pt x="27" y="358"/>
                    </a:lnTo>
                    <a:lnTo>
                      <a:pt x="24" y="354"/>
                    </a:lnTo>
                    <a:lnTo>
                      <a:pt x="21" y="350"/>
                    </a:lnTo>
                    <a:lnTo>
                      <a:pt x="25" y="347"/>
                    </a:lnTo>
                    <a:lnTo>
                      <a:pt x="28" y="344"/>
                    </a:lnTo>
                    <a:lnTo>
                      <a:pt x="33" y="341"/>
                    </a:lnTo>
                    <a:lnTo>
                      <a:pt x="37" y="338"/>
                    </a:lnTo>
                    <a:lnTo>
                      <a:pt x="40" y="336"/>
                    </a:lnTo>
                    <a:lnTo>
                      <a:pt x="43" y="331"/>
                    </a:lnTo>
                    <a:lnTo>
                      <a:pt x="45" y="328"/>
                    </a:lnTo>
                    <a:lnTo>
                      <a:pt x="47" y="326"/>
                    </a:lnTo>
                    <a:lnTo>
                      <a:pt x="48" y="321"/>
                    </a:lnTo>
                    <a:lnTo>
                      <a:pt x="50" y="317"/>
                    </a:lnTo>
                    <a:lnTo>
                      <a:pt x="50" y="314"/>
                    </a:lnTo>
                    <a:lnTo>
                      <a:pt x="51" y="310"/>
                    </a:lnTo>
                    <a:lnTo>
                      <a:pt x="50" y="306"/>
                    </a:lnTo>
                    <a:lnTo>
                      <a:pt x="48" y="303"/>
                    </a:lnTo>
                    <a:lnTo>
                      <a:pt x="45" y="298"/>
                    </a:lnTo>
                    <a:lnTo>
                      <a:pt x="43" y="294"/>
                    </a:lnTo>
                    <a:lnTo>
                      <a:pt x="38" y="281"/>
                    </a:lnTo>
                    <a:lnTo>
                      <a:pt x="35" y="268"/>
                    </a:lnTo>
                    <a:lnTo>
                      <a:pt x="31" y="256"/>
                    </a:lnTo>
                    <a:lnTo>
                      <a:pt x="28" y="243"/>
                    </a:lnTo>
                    <a:lnTo>
                      <a:pt x="25" y="230"/>
                    </a:lnTo>
                    <a:lnTo>
                      <a:pt x="23" y="217"/>
                    </a:lnTo>
                    <a:lnTo>
                      <a:pt x="20" y="204"/>
                    </a:lnTo>
                    <a:lnTo>
                      <a:pt x="18" y="191"/>
                    </a:lnTo>
                    <a:lnTo>
                      <a:pt x="15" y="178"/>
                    </a:lnTo>
                    <a:lnTo>
                      <a:pt x="14" y="165"/>
                    </a:lnTo>
                    <a:lnTo>
                      <a:pt x="13" y="153"/>
                    </a:lnTo>
                    <a:lnTo>
                      <a:pt x="13" y="140"/>
                    </a:lnTo>
                    <a:lnTo>
                      <a:pt x="13" y="127"/>
                    </a:lnTo>
                    <a:lnTo>
                      <a:pt x="13" y="114"/>
                    </a:lnTo>
                    <a:lnTo>
                      <a:pt x="14" y="100"/>
                    </a:lnTo>
                    <a:lnTo>
                      <a:pt x="15" y="87"/>
                    </a:lnTo>
                    <a:lnTo>
                      <a:pt x="15" y="81"/>
                    </a:lnTo>
                    <a:lnTo>
                      <a:pt x="15" y="75"/>
                    </a:lnTo>
                    <a:lnTo>
                      <a:pt x="15" y="70"/>
                    </a:lnTo>
                    <a:lnTo>
                      <a:pt x="15" y="65"/>
                    </a:lnTo>
                    <a:lnTo>
                      <a:pt x="15" y="60"/>
                    </a:lnTo>
                    <a:lnTo>
                      <a:pt x="14" y="54"/>
                    </a:lnTo>
                    <a:lnTo>
                      <a:pt x="14" y="48"/>
                    </a:lnTo>
                    <a:lnTo>
                      <a:pt x="14" y="43"/>
                    </a:lnTo>
                    <a:lnTo>
                      <a:pt x="13" y="37"/>
                    </a:lnTo>
                    <a:lnTo>
                      <a:pt x="13" y="31"/>
                    </a:lnTo>
                    <a:lnTo>
                      <a:pt x="11" y="27"/>
                    </a:lnTo>
                    <a:lnTo>
                      <a:pt x="11" y="21"/>
                    </a:lnTo>
                    <a:lnTo>
                      <a:pt x="10" y="15"/>
                    </a:lnTo>
                    <a:lnTo>
                      <a:pt x="8" y="10"/>
                    </a:lnTo>
                    <a:lnTo>
                      <a:pt x="7" y="5"/>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90" name="Freeform 82"/>
              <p:cNvSpPr>
                <a:spLocks/>
              </p:cNvSpPr>
              <p:nvPr/>
            </p:nvSpPr>
            <p:spPr bwMode="auto">
              <a:xfrm>
                <a:off x="2055" y="629"/>
                <a:ext cx="103" cy="84"/>
              </a:xfrm>
              <a:custGeom>
                <a:avLst/>
                <a:gdLst>
                  <a:gd name="T0" fmla="*/ 1 w 206"/>
                  <a:gd name="T1" fmla="*/ 1 h 167"/>
                  <a:gd name="T2" fmla="*/ 1 w 206"/>
                  <a:gd name="T3" fmla="*/ 1 h 167"/>
                  <a:gd name="T4" fmla="*/ 1 w 206"/>
                  <a:gd name="T5" fmla="*/ 1 h 167"/>
                  <a:gd name="T6" fmla="*/ 1 w 206"/>
                  <a:gd name="T7" fmla="*/ 1 h 167"/>
                  <a:gd name="T8" fmla="*/ 1 w 206"/>
                  <a:gd name="T9" fmla="*/ 0 h 167"/>
                  <a:gd name="T10" fmla="*/ 1 w 206"/>
                  <a:gd name="T11" fmla="*/ 0 h 167"/>
                  <a:gd name="T12" fmla="*/ 1 w 206"/>
                  <a:gd name="T13" fmla="*/ 1 h 167"/>
                  <a:gd name="T14" fmla="*/ 1 w 206"/>
                  <a:gd name="T15" fmla="*/ 1 h 167"/>
                  <a:gd name="T16" fmla="*/ 1 w 206"/>
                  <a:gd name="T17" fmla="*/ 1 h 167"/>
                  <a:gd name="T18" fmla="*/ 1 w 206"/>
                  <a:gd name="T19" fmla="*/ 1 h 167"/>
                  <a:gd name="T20" fmla="*/ 1 w 206"/>
                  <a:gd name="T21" fmla="*/ 1 h 167"/>
                  <a:gd name="T22" fmla="*/ 1 w 206"/>
                  <a:gd name="T23" fmla="*/ 1 h 167"/>
                  <a:gd name="T24" fmla="*/ 1 w 206"/>
                  <a:gd name="T25" fmla="*/ 1 h 167"/>
                  <a:gd name="T26" fmla="*/ 1 w 206"/>
                  <a:gd name="T27" fmla="*/ 1 h 167"/>
                  <a:gd name="T28" fmla="*/ 0 w 206"/>
                  <a:gd name="T29" fmla="*/ 1 h 167"/>
                  <a:gd name="T30" fmla="*/ 0 w 206"/>
                  <a:gd name="T31" fmla="*/ 1 h 167"/>
                  <a:gd name="T32" fmla="*/ 1 w 206"/>
                  <a:gd name="T33" fmla="*/ 1 h 167"/>
                  <a:gd name="T34" fmla="*/ 1 w 206"/>
                  <a:gd name="T35" fmla="*/ 1 h 167"/>
                  <a:gd name="T36" fmla="*/ 1 w 206"/>
                  <a:gd name="T37" fmla="*/ 1 h 167"/>
                  <a:gd name="T38" fmla="*/ 1 w 206"/>
                  <a:gd name="T39" fmla="*/ 1 h 167"/>
                  <a:gd name="T40" fmla="*/ 1 w 206"/>
                  <a:gd name="T41" fmla="*/ 1 h 167"/>
                  <a:gd name="T42" fmla="*/ 1 w 206"/>
                  <a:gd name="T43" fmla="*/ 1 h 167"/>
                  <a:gd name="T44" fmla="*/ 1 w 206"/>
                  <a:gd name="T45" fmla="*/ 1 h 167"/>
                  <a:gd name="T46" fmla="*/ 1 w 206"/>
                  <a:gd name="T47" fmla="*/ 1 h 167"/>
                  <a:gd name="T48" fmla="*/ 1 w 206"/>
                  <a:gd name="T49" fmla="*/ 1 h 167"/>
                  <a:gd name="T50" fmla="*/ 1 w 206"/>
                  <a:gd name="T51" fmla="*/ 1 h 167"/>
                  <a:gd name="T52" fmla="*/ 1 w 206"/>
                  <a:gd name="T53" fmla="*/ 1 h 167"/>
                  <a:gd name="T54" fmla="*/ 1 w 206"/>
                  <a:gd name="T55" fmla="*/ 1 h 167"/>
                  <a:gd name="T56" fmla="*/ 1 w 206"/>
                  <a:gd name="T57" fmla="*/ 1 h 167"/>
                  <a:gd name="T58" fmla="*/ 1 w 206"/>
                  <a:gd name="T59" fmla="*/ 1 h 167"/>
                  <a:gd name="T60" fmla="*/ 1 w 206"/>
                  <a:gd name="T61" fmla="*/ 1 h 167"/>
                  <a:gd name="T62" fmla="*/ 1 w 206"/>
                  <a:gd name="T63" fmla="*/ 1 h 167"/>
                  <a:gd name="T64" fmla="*/ 1 w 206"/>
                  <a:gd name="T65" fmla="*/ 1 h 167"/>
                  <a:gd name="T66" fmla="*/ 1 w 206"/>
                  <a:gd name="T67" fmla="*/ 1 h 167"/>
                  <a:gd name="T68" fmla="*/ 1 w 206"/>
                  <a:gd name="T69" fmla="*/ 1 h 167"/>
                  <a:gd name="T70" fmla="*/ 1 w 206"/>
                  <a:gd name="T71" fmla="*/ 1 h 167"/>
                  <a:gd name="T72" fmla="*/ 1 w 206"/>
                  <a:gd name="T73" fmla="*/ 1 h 167"/>
                  <a:gd name="T74" fmla="*/ 1 w 206"/>
                  <a:gd name="T75" fmla="*/ 1 h 167"/>
                  <a:gd name="T76" fmla="*/ 1 w 206"/>
                  <a:gd name="T77" fmla="*/ 1 h 167"/>
                  <a:gd name="T78" fmla="*/ 1 w 206"/>
                  <a:gd name="T79" fmla="*/ 1 h 167"/>
                  <a:gd name="T80" fmla="*/ 1 w 206"/>
                  <a:gd name="T81" fmla="*/ 1 h 167"/>
                  <a:gd name="T82" fmla="*/ 1 w 206"/>
                  <a:gd name="T83" fmla="*/ 1 h 167"/>
                  <a:gd name="T84" fmla="*/ 1 w 206"/>
                  <a:gd name="T85" fmla="*/ 1 h 167"/>
                  <a:gd name="T86" fmla="*/ 1 w 206"/>
                  <a:gd name="T87" fmla="*/ 1 h 167"/>
                  <a:gd name="T88" fmla="*/ 1 w 206"/>
                  <a:gd name="T89" fmla="*/ 1 h 167"/>
                  <a:gd name="T90" fmla="*/ 1 w 206"/>
                  <a:gd name="T91" fmla="*/ 1 h 167"/>
                  <a:gd name="T92" fmla="*/ 1 w 206"/>
                  <a:gd name="T93" fmla="*/ 1 h 167"/>
                  <a:gd name="T94" fmla="*/ 1 w 206"/>
                  <a:gd name="T95" fmla="*/ 1 h 1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6"/>
                  <a:gd name="T145" fmla="*/ 0 h 167"/>
                  <a:gd name="T146" fmla="*/ 206 w 206"/>
                  <a:gd name="T147" fmla="*/ 167 h 16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6" h="167">
                    <a:moveTo>
                      <a:pt x="205" y="3"/>
                    </a:moveTo>
                    <a:lnTo>
                      <a:pt x="198" y="3"/>
                    </a:lnTo>
                    <a:lnTo>
                      <a:pt x="189" y="4"/>
                    </a:lnTo>
                    <a:lnTo>
                      <a:pt x="181" y="3"/>
                    </a:lnTo>
                    <a:lnTo>
                      <a:pt x="171" y="3"/>
                    </a:lnTo>
                    <a:lnTo>
                      <a:pt x="161" y="3"/>
                    </a:lnTo>
                    <a:lnTo>
                      <a:pt x="151" y="1"/>
                    </a:lnTo>
                    <a:lnTo>
                      <a:pt x="139" y="1"/>
                    </a:lnTo>
                    <a:lnTo>
                      <a:pt x="128" y="1"/>
                    </a:lnTo>
                    <a:lnTo>
                      <a:pt x="116" y="0"/>
                    </a:lnTo>
                    <a:lnTo>
                      <a:pt x="105" y="0"/>
                    </a:lnTo>
                    <a:lnTo>
                      <a:pt x="92" y="0"/>
                    </a:lnTo>
                    <a:lnTo>
                      <a:pt x="82" y="1"/>
                    </a:lnTo>
                    <a:lnTo>
                      <a:pt x="70" y="1"/>
                    </a:lnTo>
                    <a:lnTo>
                      <a:pt x="59" y="3"/>
                    </a:lnTo>
                    <a:lnTo>
                      <a:pt x="49" y="6"/>
                    </a:lnTo>
                    <a:lnTo>
                      <a:pt x="40" y="9"/>
                    </a:lnTo>
                    <a:lnTo>
                      <a:pt x="38" y="10"/>
                    </a:lnTo>
                    <a:lnTo>
                      <a:pt x="35" y="10"/>
                    </a:lnTo>
                    <a:lnTo>
                      <a:pt x="32" y="11"/>
                    </a:lnTo>
                    <a:lnTo>
                      <a:pt x="30" y="13"/>
                    </a:lnTo>
                    <a:lnTo>
                      <a:pt x="25" y="16"/>
                    </a:lnTo>
                    <a:lnTo>
                      <a:pt x="20" y="20"/>
                    </a:lnTo>
                    <a:lnTo>
                      <a:pt x="18" y="24"/>
                    </a:lnTo>
                    <a:lnTo>
                      <a:pt x="15" y="29"/>
                    </a:lnTo>
                    <a:lnTo>
                      <a:pt x="10" y="33"/>
                    </a:lnTo>
                    <a:lnTo>
                      <a:pt x="8" y="39"/>
                    </a:lnTo>
                    <a:lnTo>
                      <a:pt x="5" y="46"/>
                    </a:lnTo>
                    <a:lnTo>
                      <a:pt x="2" y="53"/>
                    </a:lnTo>
                    <a:lnTo>
                      <a:pt x="0" y="61"/>
                    </a:lnTo>
                    <a:lnTo>
                      <a:pt x="0" y="69"/>
                    </a:lnTo>
                    <a:lnTo>
                      <a:pt x="0" y="77"/>
                    </a:lnTo>
                    <a:lnTo>
                      <a:pt x="0" y="84"/>
                    </a:lnTo>
                    <a:lnTo>
                      <a:pt x="2" y="91"/>
                    </a:lnTo>
                    <a:lnTo>
                      <a:pt x="5" y="100"/>
                    </a:lnTo>
                    <a:lnTo>
                      <a:pt x="6" y="107"/>
                    </a:lnTo>
                    <a:lnTo>
                      <a:pt x="10" y="116"/>
                    </a:lnTo>
                    <a:lnTo>
                      <a:pt x="13" y="121"/>
                    </a:lnTo>
                    <a:lnTo>
                      <a:pt x="18" y="130"/>
                    </a:lnTo>
                    <a:lnTo>
                      <a:pt x="22" y="136"/>
                    </a:lnTo>
                    <a:lnTo>
                      <a:pt x="28" y="143"/>
                    </a:lnTo>
                    <a:lnTo>
                      <a:pt x="32" y="150"/>
                    </a:lnTo>
                    <a:lnTo>
                      <a:pt x="39" y="157"/>
                    </a:lnTo>
                    <a:lnTo>
                      <a:pt x="40" y="159"/>
                    </a:lnTo>
                    <a:lnTo>
                      <a:pt x="43" y="160"/>
                    </a:lnTo>
                    <a:lnTo>
                      <a:pt x="46" y="161"/>
                    </a:lnTo>
                    <a:lnTo>
                      <a:pt x="52" y="163"/>
                    </a:lnTo>
                    <a:lnTo>
                      <a:pt x="55" y="163"/>
                    </a:lnTo>
                    <a:lnTo>
                      <a:pt x="59" y="164"/>
                    </a:lnTo>
                    <a:lnTo>
                      <a:pt x="62" y="166"/>
                    </a:lnTo>
                    <a:lnTo>
                      <a:pt x="66" y="167"/>
                    </a:lnTo>
                    <a:lnTo>
                      <a:pt x="65" y="156"/>
                    </a:lnTo>
                    <a:lnTo>
                      <a:pt x="59" y="154"/>
                    </a:lnTo>
                    <a:lnTo>
                      <a:pt x="55" y="151"/>
                    </a:lnTo>
                    <a:lnTo>
                      <a:pt x="50" y="150"/>
                    </a:lnTo>
                    <a:lnTo>
                      <a:pt x="46" y="147"/>
                    </a:lnTo>
                    <a:lnTo>
                      <a:pt x="42" y="143"/>
                    </a:lnTo>
                    <a:lnTo>
                      <a:pt x="38" y="140"/>
                    </a:lnTo>
                    <a:lnTo>
                      <a:pt x="35" y="136"/>
                    </a:lnTo>
                    <a:lnTo>
                      <a:pt x="32" y="133"/>
                    </a:lnTo>
                    <a:lnTo>
                      <a:pt x="26" y="123"/>
                    </a:lnTo>
                    <a:lnTo>
                      <a:pt x="20" y="114"/>
                    </a:lnTo>
                    <a:lnTo>
                      <a:pt x="18" y="104"/>
                    </a:lnTo>
                    <a:lnTo>
                      <a:pt x="15" y="94"/>
                    </a:lnTo>
                    <a:lnTo>
                      <a:pt x="13" y="83"/>
                    </a:lnTo>
                    <a:lnTo>
                      <a:pt x="12" y="74"/>
                    </a:lnTo>
                    <a:lnTo>
                      <a:pt x="13" y="64"/>
                    </a:lnTo>
                    <a:lnTo>
                      <a:pt x="15" y="54"/>
                    </a:lnTo>
                    <a:lnTo>
                      <a:pt x="18" y="46"/>
                    </a:lnTo>
                    <a:lnTo>
                      <a:pt x="22" y="37"/>
                    </a:lnTo>
                    <a:lnTo>
                      <a:pt x="28" y="30"/>
                    </a:lnTo>
                    <a:lnTo>
                      <a:pt x="35" y="24"/>
                    </a:lnTo>
                    <a:lnTo>
                      <a:pt x="42" y="19"/>
                    </a:lnTo>
                    <a:lnTo>
                      <a:pt x="52" y="14"/>
                    </a:lnTo>
                    <a:lnTo>
                      <a:pt x="63" y="11"/>
                    </a:lnTo>
                    <a:lnTo>
                      <a:pt x="76" y="11"/>
                    </a:lnTo>
                    <a:lnTo>
                      <a:pt x="82" y="11"/>
                    </a:lnTo>
                    <a:lnTo>
                      <a:pt x="88" y="11"/>
                    </a:lnTo>
                    <a:lnTo>
                      <a:pt x="95" y="11"/>
                    </a:lnTo>
                    <a:lnTo>
                      <a:pt x="103" y="11"/>
                    </a:lnTo>
                    <a:lnTo>
                      <a:pt x="112" y="11"/>
                    </a:lnTo>
                    <a:lnTo>
                      <a:pt x="122" y="13"/>
                    </a:lnTo>
                    <a:lnTo>
                      <a:pt x="131" y="13"/>
                    </a:lnTo>
                    <a:lnTo>
                      <a:pt x="142" y="14"/>
                    </a:lnTo>
                    <a:lnTo>
                      <a:pt x="151" y="14"/>
                    </a:lnTo>
                    <a:lnTo>
                      <a:pt x="161" y="14"/>
                    </a:lnTo>
                    <a:lnTo>
                      <a:pt x="169" y="14"/>
                    </a:lnTo>
                    <a:lnTo>
                      <a:pt x="179" y="14"/>
                    </a:lnTo>
                    <a:lnTo>
                      <a:pt x="186" y="14"/>
                    </a:lnTo>
                    <a:lnTo>
                      <a:pt x="193" y="13"/>
                    </a:lnTo>
                    <a:lnTo>
                      <a:pt x="201" y="13"/>
                    </a:lnTo>
                    <a:lnTo>
                      <a:pt x="206" y="11"/>
                    </a:lnTo>
                    <a:lnTo>
                      <a:pt x="206" y="9"/>
                    </a:lnTo>
                    <a:lnTo>
                      <a:pt x="206" y="7"/>
                    </a:lnTo>
                    <a:lnTo>
                      <a:pt x="205" y="4"/>
                    </a:lnTo>
                    <a:lnTo>
                      <a:pt x="20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91" name="Freeform 83"/>
              <p:cNvSpPr>
                <a:spLocks/>
              </p:cNvSpPr>
              <p:nvPr/>
            </p:nvSpPr>
            <p:spPr bwMode="auto">
              <a:xfrm>
                <a:off x="2461" y="1125"/>
                <a:ext cx="83" cy="72"/>
              </a:xfrm>
              <a:custGeom>
                <a:avLst/>
                <a:gdLst>
                  <a:gd name="T0" fmla="*/ 0 w 167"/>
                  <a:gd name="T1" fmla="*/ 1 h 143"/>
                  <a:gd name="T2" fmla="*/ 0 w 167"/>
                  <a:gd name="T3" fmla="*/ 0 h 143"/>
                  <a:gd name="T4" fmla="*/ 0 w 167"/>
                  <a:gd name="T5" fmla="*/ 1 h 143"/>
                  <a:gd name="T6" fmla="*/ 0 w 167"/>
                  <a:gd name="T7" fmla="*/ 1 h 143"/>
                  <a:gd name="T8" fmla="*/ 0 w 167"/>
                  <a:gd name="T9" fmla="*/ 1 h 143"/>
                  <a:gd name="T10" fmla="*/ 0 w 167"/>
                  <a:gd name="T11" fmla="*/ 1 h 143"/>
                  <a:gd name="T12" fmla="*/ 0 w 167"/>
                  <a:gd name="T13" fmla="*/ 1 h 143"/>
                  <a:gd name="T14" fmla="*/ 0 w 167"/>
                  <a:gd name="T15" fmla="*/ 1 h 143"/>
                  <a:gd name="T16" fmla="*/ 0 w 167"/>
                  <a:gd name="T17" fmla="*/ 1 h 143"/>
                  <a:gd name="T18" fmla="*/ 0 w 167"/>
                  <a:gd name="T19" fmla="*/ 1 h 143"/>
                  <a:gd name="T20" fmla="*/ 0 w 167"/>
                  <a:gd name="T21" fmla="*/ 1 h 143"/>
                  <a:gd name="T22" fmla="*/ 0 w 167"/>
                  <a:gd name="T23" fmla="*/ 1 h 143"/>
                  <a:gd name="T24" fmla="*/ 0 w 167"/>
                  <a:gd name="T25" fmla="*/ 1 h 143"/>
                  <a:gd name="T26" fmla="*/ 0 w 167"/>
                  <a:gd name="T27" fmla="*/ 1 h 143"/>
                  <a:gd name="T28" fmla="*/ 0 w 167"/>
                  <a:gd name="T29" fmla="*/ 1 h 143"/>
                  <a:gd name="T30" fmla="*/ 0 w 167"/>
                  <a:gd name="T31" fmla="*/ 1 h 143"/>
                  <a:gd name="T32" fmla="*/ 0 w 167"/>
                  <a:gd name="T33" fmla="*/ 1 h 143"/>
                  <a:gd name="T34" fmla="*/ 0 w 167"/>
                  <a:gd name="T35" fmla="*/ 1 h 143"/>
                  <a:gd name="T36" fmla="*/ 0 w 167"/>
                  <a:gd name="T37" fmla="*/ 1 h 143"/>
                  <a:gd name="T38" fmla="*/ 0 w 167"/>
                  <a:gd name="T39" fmla="*/ 1 h 143"/>
                  <a:gd name="T40" fmla="*/ 0 w 167"/>
                  <a:gd name="T41" fmla="*/ 1 h 143"/>
                  <a:gd name="T42" fmla="*/ 0 w 167"/>
                  <a:gd name="T43" fmla="*/ 1 h 143"/>
                  <a:gd name="T44" fmla="*/ 0 w 167"/>
                  <a:gd name="T45" fmla="*/ 1 h 143"/>
                  <a:gd name="T46" fmla="*/ 0 w 167"/>
                  <a:gd name="T47" fmla="*/ 1 h 143"/>
                  <a:gd name="T48" fmla="*/ 0 w 167"/>
                  <a:gd name="T49" fmla="*/ 1 h 143"/>
                  <a:gd name="T50" fmla="*/ 0 w 167"/>
                  <a:gd name="T51" fmla="*/ 1 h 143"/>
                  <a:gd name="T52" fmla="*/ 0 w 167"/>
                  <a:gd name="T53" fmla="*/ 1 h 143"/>
                  <a:gd name="T54" fmla="*/ 0 w 167"/>
                  <a:gd name="T55" fmla="*/ 1 h 143"/>
                  <a:gd name="T56" fmla="*/ 0 w 167"/>
                  <a:gd name="T57" fmla="*/ 1 h 143"/>
                  <a:gd name="T58" fmla="*/ 0 w 167"/>
                  <a:gd name="T59" fmla="*/ 1 h 143"/>
                  <a:gd name="T60" fmla="*/ 0 w 167"/>
                  <a:gd name="T61" fmla="*/ 1 h 143"/>
                  <a:gd name="T62" fmla="*/ 0 w 167"/>
                  <a:gd name="T63" fmla="*/ 1 h 143"/>
                  <a:gd name="T64" fmla="*/ 0 w 167"/>
                  <a:gd name="T65" fmla="*/ 1 h 143"/>
                  <a:gd name="T66" fmla="*/ 0 w 167"/>
                  <a:gd name="T67" fmla="*/ 1 h 143"/>
                  <a:gd name="T68" fmla="*/ 0 w 167"/>
                  <a:gd name="T69" fmla="*/ 1 h 143"/>
                  <a:gd name="T70" fmla="*/ 0 w 167"/>
                  <a:gd name="T71" fmla="*/ 1 h 143"/>
                  <a:gd name="T72" fmla="*/ 0 w 167"/>
                  <a:gd name="T73" fmla="*/ 1 h 143"/>
                  <a:gd name="T74" fmla="*/ 0 w 167"/>
                  <a:gd name="T75" fmla="*/ 1 h 143"/>
                  <a:gd name="T76" fmla="*/ 0 w 167"/>
                  <a:gd name="T77" fmla="*/ 1 h 143"/>
                  <a:gd name="T78" fmla="*/ 0 w 167"/>
                  <a:gd name="T79" fmla="*/ 1 h 143"/>
                  <a:gd name="T80" fmla="*/ 0 w 167"/>
                  <a:gd name="T81" fmla="*/ 1 h 143"/>
                  <a:gd name="T82" fmla="*/ 0 w 167"/>
                  <a:gd name="T83" fmla="*/ 1 h 143"/>
                  <a:gd name="T84" fmla="*/ 0 w 167"/>
                  <a:gd name="T85" fmla="*/ 1 h 143"/>
                  <a:gd name="T86" fmla="*/ 0 w 167"/>
                  <a:gd name="T87" fmla="*/ 1 h 143"/>
                  <a:gd name="T88" fmla="*/ 0 w 167"/>
                  <a:gd name="T89" fmla="*/ 1 h 143"/>
                  <a:gd name="T90" fmla="*/ 0 w 167"/>
                  <a:gd name="T91" fmla="*/ 1 h 143"/>
                  <a:gd name="T92" fmla="*/ 0 w 167"/>
                  <a:gd name="T93" fmla="*/ 1 h 143"/>
                  <a:gd name="T94" fmla="*/ 0 w 167"/>
                  <a:gd name="T95" fmla="*/ 1 h 1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7"/>
                  <a:gd name="T145" fmla="*/ 0 h 143"/>
                  <a:gd name="T146" fmla="*/ 167 w 167"/>
                  <a:gd name="T147" fmla="*/ 143 h 14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7" h="143">
                    <a:moveTo>
                      <a:pt x="99" y="7"/>
                    </a:moveTo>
                    <a:lnTo>
                      <a:pt x="89" y="3"/>
                    </a:lnTo>
                    <a:lnTo>
                      <a:pt x="82" y="1"/>
                    </a:lnTo>
                    <a:lnTo>
                      <a:pt x="73" y="0"/>
                    </a:lnTo>
                    <a:lnTo>
                      <a:pt x="66" y="1"/>
                    </a:lnTo>
                    <a:lnTo>
                      <a:pt x="59" y="3"/>
                    </a:lnTo>
                    <a:lnTo>
                      <a:pt x="51" y="6"/>
                    </a:lnTo>
                    <a:lnTo>
                      <a:pt x="44" y="10"/>
                    </a:lnTo>
                    <a:lnTo>
                      <a:pt x="39" y="14"/>
                    </a:lnTo>
                    <a:lnTo>
                      <a:pt x="33" y="20"/>
                    </a:lnTo>
                    <a:lnTo>
                      <a:pt x="29" y="26"/>
                    </a:lnTo>
                    <a:lnTo>
                      <a:pt x="23" y="33"/>
                    </a:lnTo>
                    <a:lnTo>
                      <a:pt x="20" y="40"/>
                    </a:lnTo>
                    <a:lnTo>
                      <a:pt x="16" y="48"/>
                    </a:lnTo>
                    <a:lnTo>
                      <a:pt x="13" y="56"/>
                    </a:lnTo>
                    <a:lnTo>
                      <a:pt x="11" y="64"/>
                    </a:lnTo>
                    <a:lnTo>
                      <a:pt x="9" y="74"/>
                    </a:lnTo>
                    <a:lnTo>
                      <a:pt x="9" y="76"/>
                    </a:lnTo>
                    <a:lnTo>
                      <a:pt x="7" y="78"/>
                    </a:lnTo>
                    <a:lnTo>
                      <a:pt x="7" y="81"/>
                    </a:lnTo>
                    <a:lnTo>
                      <a:pt x="7" y="86"/>
                    </a:lnTo>
                    <a:lnTo>
                      <a:pt x="7" y="88"/>
                    </a:lnTo>
                    <a:lnTo>
                      <a:pt x="6" y="91"/>
                    </a:lnTo>
                    <a:lnTo>
                      <a:pt x="6" y="97"/>
                    </a:lnTo>
                    <a:lnTo>
                      <a:pt x="4" y="100"/>
                    </a:lnTo>
                    <a:lnTo>
                      <a:pt x="4" y="104"/>
                    </a:lnTo>
                    <a:lnTo>
                      <a:pt x="3" y="109"/>
                    </a:lnTo>
                    <a:lnTo>
                      <a:pt x="3" y="113"/>
                    </a:lnTo>
                    <a:lnTo>
                      <a:pt x="1" y="116"/>
                    </a:lnTo>
                    <a:lnTo>
                      <a:pt x="1" y="120"/>
                    </a:lnTo>
                    <a:lnTo>
                      <a:pt x="0" y="123"/>
                    </a:lnTo>
                    <a:lnTo>
                      <a:pt x="0" y="127"/>
                    </a:lnTo>
                    <a:lnTo>
                      <a:pt x="0" y="131"/>
                    </a:lnTo>
                    <a:lnTo>
                      <a:pt x="1" y="134"/>
                    </a:lnTo>
                    <a:lnTo>
                      <a:pt x="1" y="137"/>
                    </a:lnTo>
                    <a:lnTo>
                      <a:pt x="3" y="140"/>
                    </a:lnTo>
                    <a:lnTo>
                      <a:pt x="4" y="143"/>
                    </a:lnTo>
                    <a:lnTo>
                      <a:pt x="9" y="143"/>
                    </a:lnTo>
                    <a:lnTo>
                      <a:pt x="10" y="137"/>
                    </a:lnTo>
                    <a:lnTo>
                      <a:pt x="13" y="130"/>
                    </a:lnTo>
                    <a:lnTo>
                      <a:pt x="14" y="123"/>
                    </a:lnTo>
                    <a:lnTo>
                      <a:pt x="16" y="116"/>
                    </a:lnTo>
                    <a:lnTo>
                      <a:pt x="17" y="107"/>
                    </a:lnTo>
                    <a:lnTo>
                      <a:pt x="19" y="99"/>
                    </a:lnTo>
                    <a:lnTo>
                      <a:pt x="20" y="90"/>
                    </a:lnTo>
                    <a:lnTo>
                      <a:pt x="23" y="81"/>
                    </a:lnTo>
                    <a:lnTo>
                      <a:pt x="24" y="73"/>
                    </a:lnTo>
                    <a:lnTo>
                      <a:pt x="26" y="64"/>
                    </a:lnTo>
                    <a:lnTo>
                      <a:pt x="27" y="56"/>
                    </a:lnTo>
                    <a:lnTo>
                      <a:pt x="30" y="48"/>
                    </a:lnTo>
                    <a:lnTo>
                      <a:pt x="33" y="40"/>
                    </a:lnTo>
                    <a:lnTo>
                      <a:pt x="36" y="36"/>
                    </a:lnTo>
                    <a:lnTo>
                      <a:pt x="40" y="30"/>
                    </a:lnTo>
                    <a:lnTo>
                      <a:pt x="44" y="26"/>
                    </a:lnTo>
                    <a:lnTo>
                      <a:pt x="49" y="20"/>
                    </a:lnTo>
                    <a:lnTo>
                      <a:pt x="54" y="16"/>
                    </a:lnTo>
                    <a:lnTo>
                      <a:pt x="59" y="13"/>
                    </a:lnTo>
                    <a:lnTo>
                      <a:pt x="64" y="13"/>
                    </a:lnTo>
                    <a:lnTo>
                      <a:pt x="70" y="11"/>
                    </a:lnTo>
                    <a:lnTo>
                      <a:pt x="76" y="11"/>
                    </a:lnTo>
                    <a:lnTo>
                      <a:pt x="82" y="13"/>
                    </a:lnTo>
                    <a:lnTo>
                      <a:pt x="87" y="14"/>
                    </a:lnTo>
                    <a:lnTo>
                      <a:pt x="93" y="16"/>
                    </a:lnTo>
                    <a:lnTo>
                      <a:pt x="99" y="17"/>
                    </a:lnTo>
                    <a:lnTo>
                      <a:pt x="104" y="20"/>
                    </a:lnTo>
                    <a:lnTo>
                      <a:pt x="112" y="21"/>
                    </a:lnTo>
                    <a:lnTo>
                      <a:pt x="117" y="23"/>
                    </a:lnTo>
                    <a:lnTo>
                      <a:pt x="123" y="24"/>
                    </a:lnTo>
                    <a:lnTo>
                      <a:pt x="129" y="26"/>
                    </a:lnTo>
                    <a:lnTo>
                      <a:pt x="134" y="27"/>
                    </a:lnTo>
                    <a:lnTo>
                      <a:pt x="139" y="27"/>
                    </a:lnTo>
                    <a:lnTo>
                      <a:pt x="143" y="28"/>
                    </a:lnTo>
                    <a:lnTo>
                      <a:pt x="146" y="30"/>
                    </a:lnTo>
                    <a:lnTo>
                      <a:pt x="149" y="33"/>
                    </a:lnTo>
                    <a:lnTo>
                      <a:pt x="153" y="34"/>
                    </a:lnTo>
                    <a:lnTo>
                      <a:pt x="156" y="37"/>
                    </a:lnTo>
                    <a:lnTo>
                      <a:pt x="159" y="38"/>
                    </a:lnTo>
                    <a:lnTo>
                      <a:pt x="162" y="40"/>
                    </a:lnTo>
                    <a:lnTo>
                      <a:pt x="167" y="33"/>
                    </a:lnTo>
                    <a:lnTo>
                      <a:pt x="163" y="28"/>
                    </a:lnTo>
                    <a:lnTo>
                      <a:pt x="159" y="26"/>
                    </a:lnTo>
                    <a:lnTo>
                      <a:pt x="154" y="23"/>
                    </a:lnTo>
                    <a:lnTo>
                      <a:pt x="150" y="21"/>
                    </a:lnTo>
                    <a:lnTo>
                      <a:pt x="146" y="18"/>
                    </a:lnTo>
                    <a:lnTo>
                      <a:pt x="142" y="17"/>
                    </a:lnTo>
                    <a:lnTo>
                      <a:pt x="139" y="16"/>
                    </a:lnTo>
                    <a:lnTo>
                      <a:pt x="134" y="16"/>
                    </a:lnTo>
                    <a:lnTo>
                      <a:pt x="129" y="14"/>
                    </a:lnTo>
                    <a:lnTo>
                      <a:pt x="124" y="14"/>
                    </a:lnTo>
                    <a:lnTo>
                      <a:pt x="120" y="13"/>
                    </a:lnTo>
                    <a:lnTo>
                      <a:pt x="116" y="13"/>
                    </a:lnTo>
                    <a:lnTo>
                      <a:pt x="112" y="10"/>
                    </a:lnTo>
                    <a:lnTo>
                      <a:pt x="107" y="10"/>
                    </a:lnTo>
                    <a:lnTo>
                      <a:pt x="103" y="8"/>
                    </a:lnTo>
                    <a:lnTo>
                      <a:pt x="99"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92" name="Freeform 84"/>
              <p:cNvSpPr>
                <a:spLocks/>
              </p:cNvSpPr>
              <p:nvPr/>
            </p:nvSpPr>
            <p:spPr bwMode="auto">
              <a:xfrm>
                <a:off x="2353" y="1145"/>
                <a:ext cx="359" cy="186"/>
              </a:xfrm>
              <a:custGeom>
                <a:avLst/>
                <a:gdLst>
                  <a:gd name="T0" fmla="*/ 3 w 717"/>
                  <a:gd name="T1" fmla="*/ 1 h 372"/>
                  <a:gd name="T2" fmla="*/ 3 w 717"/>
                  <a:gd name="T3" fmla="*/ 1 h 372"/>
                  <a:gd name="T4" fmla="*/ 3 w 717"/>
                  <a:gd name="T5" fmla="*/ 1 h 372"/>
                  <a:gd name="T6" fmla="*/ 3 w 717"/>
                  <a:gd name="T7" fmla="*/ 1 h 372"/>
                  <a:gd name="T8" fmla="*/ 3 w 717"/>
                  <a:gd name="T9" fmla="*/ 1 h 372"/>
                  <a:gd name="T10" fmla="*/ 2 w 717"/>
                  <a:gd name="T11" fmla="*/ 1 h 372"/>
                  <a:gd name="T12" fmla="*/ 2 w 717"/>
                  <a:gd name="T13" fmla="*/ 1 h 372"/>
                  <a:gd name="T14" fmla="*/ 2 w 717"/>
                  <a:gd name="T15" fmla="*/ 1 h 372"/>
                  <a:gd name="T16" fmla="*/ 2 w 717"/>
                  <a:gd name="T17" fmla="*/ 1 h 372"/>
                  <a:gd name="T18" fmla="*/ 2 w 717"/>
                  <a:gd name="T19" fmla="*/ 1 h 372"/>
                  <a:gd name="T20" fmla="*/ 2 w 717"/>
                  <a:gd name="T21" fmla="*/ 1 h 372"/>
                  <a:gd name="T22" fmla="*/ 2 w 717"/>
                  <a:gd name="T23" fmla="*/ 1 h 372"/>
                  <a:gd name="T24" fmla="*/ 2 w 717"/>
                  <a:gd name="T25" fmla="*/ 1 h 372"/>
                  <a:gd name="T26" fmla="*/ 2 w 717"/>
                  <a:gd name="T27" fmla="*/ 1 h 372"/>
                  <a:gd name="T28" fmla="*/ 2 w 717"/>
                  <a:gd name="T29" fmla="*/ 1 h 372"/>
                  <a:gd name="T30" fmla="*/ 2 w 717"/>
                  <a:gd name="T31" fmla="*/ 1 h 372"/>
                  <a:gd name="T32" fmla="*/ 2 w 717"/>
                  <a:gd name="T33" fmla="*/ 1 h 372"/>
                  <a:gd name="T34" fmla="*/ 2 w 717"/>
                  <a:gd name="T35" fmla="*/ 1 h 372"/>
                  <a:gd name="T36" fmla="*/ 2 w 717"/>
                  <a:gd name="T37" fmla="*/ 1 h 372"/>
                  <a:gd name="T38" fmla="*/ 1 w 717"/>
                  <a:gd name="T39" fmla="*/ 1 h 372"/>
                  <a:gd name="T40" fmla="*/ 1 w 717"/>
                  <a:gd name="T41" fmla="*/ 1 h 372"/>
                  <a:gd name="T42" fmla="*/ 1 w 717"/>
                  <a:gd name="T43" fmla="*/ 2 h 372"/>
                  <a:gd name="T44" fmla="*/ 1 w 717"/>
                  <a:gd name="T45" fmla="*/ 2 h 372"/>
                  <a:gd name="T46" fmla="*/ 1 w 717"/>
                  <a:gd name="T47" fmla="*/ 2 h 372"/>
                  <a:gd name="T48" fmla="*/ 1 w 717"/>
                  <a:gd name="T49" fmla="*/ 2 h 372"/>
                  <a:gd name="T50" fmla="*/ 1 w 717"/>
                  <a:gd name="T51" fmla="*/ 2 h 372"/>
                  <a:gd name="T52" fmla="*/ 1 w 717"/>
                  <a:gd name="T53" fmla="*/ 2 h 372"/>
                  <a:gd name="T54" fmla="*/ 1 w 717"/>
                  <a:gd name="T55" fmla="*/ 2 h 372"/>
                  <a:gd name="T56" fmla="*/ 1 w 717"/>
                  <a:gd name="T57" fmla="*/ 2 h 372"/>
                  <a:gd name="T58" fmla="*/ 1 w 717"/>
                  <a:gd name="T59" fmla="*/ 2 h 372"/>
                  <a:gd name="T60" fmla="*/ 1 w 717"/>
                  <a:gd name="T61" fmla="*/ 2 h 372"/>
                  <a:gd name="T62" fmla="*/ 1 w 717"/>
                  <a:gd name="T63" fmla="*/ 2 h 372"/>
                  <a:gd name="T64" fmla="*/ 1 w 717"/>
                  <a:gd name="T65" fmla="*/ 1 h 372"/>
                  <a:gd name="T66" fmla="*/ 2 w 717"/>
                  <a:gd name="T67" fmla="*/ 1 h 372"/>
                  <a:gd name="T68" fmla="*/ 2 w 717"/>
                  <a:gd name="T69" fmla="*/ 1 h 372"/>
                  <a:gd name="T70" fmla="*/ 2 w 717"/>
                  <a:gd name="T71" fmla="*/ 1 h 372"/>
                  <a:gd name="T72" fmla="*/ 2 w 717"/>
                  <a:gd name="T73" fmla="*/ 1 h 372"/>
                  <a:gd name="T74" fmla="*/ 2 w 717"/>
                  <a:gd name="T75" fmla="*/ 1 h 372"/>
                  <a:gd name="T76" fmla="*/ 2 w 717"/>
                  <a:gd name="T77" fmla="*/ 1 h 372"/>
                  <a:gd name="T78" fmla="*/ 2 w 717"/>
                  <a:gd name="T79" fmla="*/ 1 h 372"/>
                  <a:gd name="T80" fmla="*/ 2 w 717"/>
                  <a:gd name="T81" fmla="*/ 1 h 372"/>
                  <a:gd name="T82" fmla="*/ 2 w 717"/>
                  <a:gd name="T83" fmla="*/ 1 h 372"/>
                  <a:gd name="T84" fmla="*/ 2 w 717"/>
                  <a:gd name="T85" fmla="*/ 1 h 372"/>
                  <a:gd name="T86" fmla="*/ 2 w 717"/>
                  <a:gd name="T87" fmla="*/ 1 h 372"/>
                  <a:gd name="T88" fmla="*/ 2 w 717"/>
                  <a:gd name="T89" fmla="*/ 1 h 372"/>
                  <a:gd name="T90" fmla="*/ 2 w 717"/>
                  <a:gd name="T91" fmla="*/ 1 h 372"/>
                  <a:gd name="T92" fmla="*/ 2 w 717"/>
                  <a:gd name="T93" fmla="*/ 1 h 372"/>
                  <a:gd name="T94" fmla="*/ 2 w 717"/>
                  <a:gd name="T95" fmla="*/ 1 h 372"/>
                  <a:gd name="T96" fmla="*/ 3 w 717"/>
                  <a:gd name="T97" fmla="*/ 1 h 372"/>
                  <a:gd name="T98" fmla="*/ 3 w 717"/>
                  <a:gd name="T99" fmla="*/ 1 h 372"/>
                  <a:gd name="T100" fmla="*/ 3 w 717"/>
                  <a:gd name="T101" fmla="*/ 1 h 372"/>
                  <a:gd name="T102" fmla="*/ 3 w 717"/>
                  <a:gd name="T103" fmla="*/ 1 h 372"/>
                  <a:gd name="T104" fmla="*/ 3 w 717"/>
                  <a:gd name="T105" fmla="*/ 1 h 372"/>
                  <a:gd name="T106" fmla="*/ 3 w 717"/>
                  <a:gd name="T107" fmla="*/ 1 h 372"/>
                  <a:gd name="T108" fmla="*/ 3 w 717"/>
                  <a:gd name="T109" fmla="*/ 1 h 372"/>
                  <a:gd name="T110" fmla="*/ 3 w 717"/>
                  <a:gd name="T111" fmla="*/ 0 h 3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17"/>
                  <a:gd name="T169" fmla="*/ 0 h 372"/>
                  <a:gd name="T170" fmla="*/ 717 w 717"/>
                  <a:gd name="T171" fmla="*/ 372 h 3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17" h="372">
                    <a:moveTo>
                      <a:pt x="716" y="0"/>
                    </a:moveTo>
                    <a:lnTo>
                      <a:pt x="704" y="0"/>
                    </a:lnTo>
                    <a:lnTo>
                      <a:pt x="694" y="3"/>
                    </a:lnTo>
                    <a:lnTo>
                      <a:pt x="686" y="6"/>
                    </a:lnTo>
                    <a:lnTo>
                      <a:pt x="677" y="9"/>
                    </a:lnTo>
                    <a:lnTo>
                      <a:pt x="670" y="13"/>
                    </a:lnTo>
                    <a:lnTo>
                      <a:pt x="663" y="18"/>
                    </a:lnTo>
                    <a:lnTo>
                      <a:pt x="656" y="22"/>
                    </a:lnTo>
                    <a:lnTo>
                      <a:pt x="649" y="28"/>
                    </a:lnTo>
                    <a:lnTo>
                      <a:pt x="641" y="32"/>
                    </a:lnTo>
                    <a:lnTo>
                      <a:pt x="636" y="36"/>
                    </a:lnTo>
                    <a:lnTo>
                      <a:pt x="629" y="42"/>
                    </a:lnTo>
                    <a:lnTo>
                      <a:pt x="621" y="48"/>
                    </a:lnTo>
                    <a:lnTo>
                      <a:pt x="614" y="52"/>
                    </a:lnTo>
                    <a:lnTo>
                      <a:pt x="607" y="56"/>
                    </a:lnTo>
                    <a:lnTo>
                      <a:pt x="599" y="61"/>
                    </a:lnTo>
                    <a:lnTo>
                      <a:pt x="591" y="65"/>
                    </a:lnTo>
                    <a:lnTo>
                      <a:pt x="583" y="69"/>
                    </a:lnTo>
                    <a:lnTo>
                      <a:pt x="576" y="73"/>
                    </a:lnTo>
                    <a:lnTo>
                      <a:pt x="569" y="78"/>
                    </a:lnTo>
                    <a:lnTo>
                      <a:pt x="561" y="82"/>
                    </a:lnTo>
                    <a:lnTo>
                      <a:pt x="554" y="86"/>
                    </a:lnTo>
                    <a:lnTo>
                      <a:pt x="547" y="91"/>
                    </a:lnTo>
                    <a:lnTo>
                      <a:pt x="540" y="95"/>
                    </a:lnTo>
                    <a:lnTo>
                      <a:pt x="533" y="99"/>
                    </a:lnTo>
                    <a:lnTo>
                      <a:pt x="526" y="103"/>
                    </a:lnTo>
                    <a:lnTo>
                      <a:pt x="519" y="108"/>
                    </a:lnTo>
                    <a:lnTo>
                      <a:pt x="510" y="111"/>
                    </a:lnTo>
                    <a:lnTo>
                      <a:pt x="503" y="116"/>
                    </a:lnTo>
                    <a:lnTo>
                      <a:pt x="496" y="119"/>
                    </a:lnTo>
                    <a:lnTo>
                      <a:pt x="489" y="123"/>
                    </a:lnTo>
                    <a:lnTo>
                      <a:pt x="480" y="128"/>
                    </a:lnTo>
                    <a:lnTo>
                      <a:pt x="473" y="132"/>
                    </a:lnTo>
                    <a:lnTo>
                      <a:pt x="468" y="135"/>
                    </a:lnTo>
                    <a:lnTo>
                      <a:pt x="464" y="138"/>
                    </a:lnTo>
                    <a:lnTo>
                      <a:pt x="460" y="139"/>
                    </a:lnTo>
                    <a:lnTo>
                      <a:pt x="456" y="142"/>
                    </a:lnTo>
                    <a:lnTo>
                      <a:pt x="453" y="143"/>
                    </a:lnTo>
                    <a:lnTo>
                      <a:pt x="448" y="146"/>
                    </a:lnTo>
                    <a:lnTo>
                      <a:pt x="444" y="149"/>
                    </a:lnTo>
                    <a:lnTo>
                      <a:pt x="440" y="152"/>
                    </a:lnTo>
                    <a:lnTo>
                      <a:pt x="436" y="153"/>
                    </a:lnTo>
                    <a:lnTo>
                      <a:pt x="433" y="156"/>
                    </a:lnTo>
                    <a:lnTo>
                      <a:pt x="428" y="159"/>
                    </a:lnTo>
                    <a:lnTo>
                      <a:pt x="424" y="162"/>
                    </a:lnTo>
                    <a:lnTo>
                      <a:pt x="420" y="163"/>
                    </a:lnTo>
                    <a:lnTo>
                      <a:pt x="416" y="166"/>
                    </a:lnTo>
                    <a:lnTo>
                      <a:pt x="411" y="169"/>
                    </a:lnTo>
                    <a:lnTo>
                      <a:pt x="407" y="172"/>
                    </a:lnTo>
                    <a:lnTo>
                      <a:pt x="404" y="166"/>
                    </a:lnTo>
                    <a:lnTo>
                      <a:pt x="401" y="162"/>
                    </a:lnTo>
                    <a:lnTo>
                      <a:pt x="397" y="156"/>
                    </a:lnTo>
                    <a:lnTo>
                      <a:pt x="394" y="152"/>
                    </a:lnTo>
                    <a:lnTo>
                      <a:pt x="390" y="146"/>
                    </a:lnTo>
                    <a:lnTo>
                      <a:pt x="386" y="141"/>
                    </a:lnTo>
                    <a:lnTo>
                      <a:pt x="383" y="136"/>
                    </a:lnTo>
                    <a:lnTo>
                      <a:pt x="378" y="132"/>
                    </a:lnTo>
                    <a:lnTo>
                      <a:pt x="373" y="128"/>
                    </a:lnTo>
                    <a:lnTo>
                      <a:pt x="368" y="125"/>
                    </a:lnTo>
                    <a:lnTo>
                      <a:pt x="363" y="122"/>
                    </a:lnTo>
                    <a:lnTo>
                      <a:pt x="358" y="122"/>
                    </a:lnTo>
                    <a:lnTo>
                      <a:pt x="353" y="121"/>
                    </a:lnTo>
                    <a:lnTo>
                      <a:pt x="348" y="122"/>
                    </a:lnTo>
                    <a:lnTo>
                      <a:pt x="343" y="125"/>
                    </a:lnTo>
                    <a:lnTo>
                      <a:pt x="337" y="129"/>
                    </a:lnTo>
                    <a:lnTo>
                      <a:pt x="334" y="133"/>
                    </a:lnTo>
                    <a:lnTo>
                      <a:pt x="334" y="138"/>
                    </a:lnTo>
                    <a:lnTo>
                      <a:pt x="334" y="142"/>
                    </a:lnTo>
                    <a:lnTo>
                      <a:pt x="334" y="148"/>
                    </a:lnTo>
                    <a:lnTo>
                      <a:pt x="334" y="152"/>
                    </a:lnTo>
                    <a:lnTo>
                      <a:pt x="336" y="156"/>
                    </a:lnTo>
                    <a:lnTo>
                      <a:pt x="336" y="161"/>
                    </a:lnTo>
                    <a:lnTo>
                      <a:pt x="338" y="165"/>
                    </a:lnTo>
                    <a:lnTo>
                      <a:pt x="338" y="169"/>
                    </a:lnTo>
                    <a:lnTo>
                      <a:pt x="340" y="173"/>
                    </a:lnTo>
                    <a:lnTo>
                      <a:pt x="341" y="178"/>
                    </a:lnTo>
                    <a:lnTo>
                      <a:pt x="343" y="182"/>
                    </a:lnTo>
                    <a:lnTo>
                      <a:pt x="343" y="186"/>
                    </a:lnTo>
                    <a:lnTo>
                      <a:pt x="343" y="191"/>
                    </a:lnTo>
                    <a:lnTo>
                      <a:pt x="343" y="196"/>
                    </a:lnTo>
                    <a:lnTo>
                      <a:pt x="343" y="201"/>
                    </a:lnTo>
                    <a:lnTo>
                      <a:pt x="337" y="201"/>
                    </a:lnTo>
                    <a:lnTo>
                      <a:pt x="331" y="202"/>
                    </a:lnTo>
                    <a:lnTo>
                      <a:pt x="327" y="203"/>
                    </a:lnTo>
                    <a:lnTo>
                      <a:pt x="323" y="206"/>
                    </a:lnTo>
                    <a:lnTo>
                      <a:pt x="317" y="208"/>
                    </a:lnTo>
                    <a:lnTo>
                      <a:pt x="313" y="211"/>
                    </a:lnTo>
                    <a:lnTo>
                      <a:pt x="307" y="212"/>
                    </a:lnTo>
                    <a:lnTo>
                      <a:pt x="303" y="213"/>
                    </a:lnTo>
                    <a:lnTo>
                      <a:pt x="297" y="215"/>
                    </a:lnTo>
                    <a:lnTo>
                      <a:pt x="293" y="218"/>
                    </a:lnTo>
                    <a:lnTo>
                      <a:pt x="287" y="219"/>
                    </a:lnTo>
                    <a:lnTo>
                      <a:pt x="283" y="221"/>
                    </a:lnTo>
                    <a:lnTo>
                      <a:pt x="277" y="222"/>
                    </a:lnTo>
                    <a:lnTo>
                      <a:pt x="271" y="222"/>
                    </a:lnTo>
                    <a:lnTo>
                      <a:pt x="267" y="223"/>
                    </a:lnTo>
                    <a:lnTo>
                      <a:pt x="261" y="223"/>
                    </a:lnTo>
                    <a:lnTo>
                      <a:pt x="253" y="225"/>
                    </a:lnTo>
                    <a:lnTo>
                      <a:pt x="244" y="228"/>
                    </a:lnTo>
                    <a:lnTo>
                      <a:pt x="235" y="231"/>
                    </a:lnTo>
                    <a:lnTo>
                      <a:pt x="227" y="233"/>
                    </a:lnTo>
                    <a:lnTo>
                      <a:pt x="218" y="236"/>
                    </a:lnTo>
                    <a:lnTo>
                      <a:pt x="208" y="241"/>
                    </a:lnTo>
                    <a:lnTo>
                      <a:pt x="200" y="245"/>
                    </a:lnTo>
                    <a:lnTo>
                      <a:pt x="193" y="249"/>
                    </a:lnTo>
                    <a:lnTo>
                      <a:pt x="184" y="255"/>
                    </a:lnTo>
                    <a:lnTo>
                      <a:pt x="175" y="259"/>
                    </a:lnTo>
                    <a:lnTo>
                      <a:pt x="168" y="265"/>
                    </a:lnTo>
                    <a:lnTo>
                      <a:pt x="161" y="271"/>
                    </a:lnTo>
                    <a:lnTo>
                      <a:pt x="154" y="278"/>
                    </a:lnTo>
                    <a:lnTo>
                      <a:pt x="147" y="283"/>
                    </a:lnTo>
                    <a:lnTo>
                      <a:pt x="140" y="291"/>
                    </a:lnTo>
                    <a:lnTo>
                      <a:pt x="134" y="298"/>
                    </a:lnTo>
                    <a:lnTo>
                      <a:pt x="128" y="301"/>
                    </a:lnTo>
                    <a:lnTo>
                      <a:pt x="121" y="305"/>
                    </a:lnTo>
                    <a:lnTo>
                      <a:pt x="115" y="308"/>
                    </a:lnTo>
                    <a:lnTo>
                      <a:pt x="110" y="311"/>
                    </a:lnTo>
                    <a:lnTo>
                      <a:pt x="103" y="313"/>
                    </a:lnTo>
                    <a:lnTo>
                      <a:pt x="97" y="318"/>
                    </a:lnTo>
                    <a:lnTo>
                      <a:pt x="91" y="321"/>
                    </a:lnTo>
                    <a:lnTo>
                      <a:pt x="85" y="325"/>
                    </a:lnTo>
                    <a:lnTo>
                      <a:pt x="78" y="328"/>
                    </a:lnTo>
                    <a:lnTo>
                      <a:pt x="72" y="331"/>
                    </a:lnTo>
                    <a:lnTo>
                      <a:pt x="67" y="332"/>
                    </a:lnTo>
                    <a:lnTo>
                      <a:pt x="61" y="336"/>
                    </a:lnTo>
                    <a:lnTo>
                      <a:pt x="54" y="338"/>
                    </a:lnTo>
                    <a:lnTo>
                      <a:pt x="48" y="341"/>
                    </a:lnTo>
                    <a:lnTo>
                      <a:pt x="42" y="342"/>
                    </a:lnTo>
                    <a:lnTo>
                      <a:pt x="37" y="345"/>
                    </a:lnTo>
                    <a:lnTo>
                      <a:pt x="31" y="348"/>
                    </a:lnTo>
                    <a:lnTo>
                      <a:pt x="27" y="351"/>
                    </a:lnTo>
                    <a:lnTo>
                      <a:pt x="22" y="352"/>
                    </a:lnTo>
                    <a:lnTo>
                      <a:pt x="18" y="355"/>
                    </a:lnTo>
                    <a:lnTo>
                      <a:pt x="14" y="356"/>
                    </a:lnTo>
                    <a:lnTo>
                      <a:pt x="10" y="359"/>
                    </a:lnTo>
                    <a:lnTo>
                      <a:pt x="4" y="361"/>
                    </a:lnTo>
                    <a:lnTo>
                      <a:pt x="0" y="365"/>
                    </a:lnTo>
                    <a:lnTo>
                      <a:pt x="2" y="368"/>
                    </a:lnTo>
                    <a:lnTo>
                      <a:pt x="4" y="372"/>
                    </a:lnTo>
                    <a:lnTo>
                      <a:pt x="12" y="368"/>
                    </a:lnTo>
                    <a:lnTo>
                      <a:pt x="22" y="364"/>
                    </a:lnTo>
                    <a:lnTo>
                      <a:pt x="31" y="359"/>
                    </a:lnTo>
                    <a:lnTo>
                      <a:pt x="41" y="355"/>
                    </a:lnTo>
                    <a:lnTo>
                      <a:pt x="50" y="351"/>
                    </a:lnTo>
                    <a:lnTo>
                      <a:pt x="58" y="346"/>
                    </a:lnTo>
                    <a:lnTo>
                      <a:pt x="68" y="343"/>
                    </a:lnTo>
                    <a:lnTo>
                      <a:pt x="77" y="339"/>
                    </a:lnTo>
                    <a:lnTo>
                      <a:pt x="85" y="335"/>
                    </a:lnTo>
                    <a:lnTo>
                      <a:pt x="94" y="331"/>
                    </a:lnTo>
                    <a:lnTo>
                      <a:pt x="104" y="325"/>
                    </a:lnTo>
                    <a:lnTo>
                      <a:pt x="113" y="321"/>
                    </a:lnTo>
                    <a:lnTo>
                      <a:pt x="121" y="315"/>
                    </a:lnTo>
                    <a:lnTo>
                      <a:pt x="130" y="311"/>
                    </a:lnTo>
                    <a:lnTo>
                      <a:pt x="138" y="305"/>
                    </a:lnTo>
                    <a:lnTo>
                      <a:pt x="148" y="299"/>
                    </a:lnTo>
                    <a:lnTo>
                      <a:pt x="154" y="291"/>
                    </a:lnTo>
                    <a:lnTo>
                      <a:pt x="163" y="283"/>
                    </a:lnTo>
                    <a:lnTo>
                      <a:pt x="170" y="276"/>
                    </a:lnTo>
                    <a:lnTo>
                      <a:pt x="180" y="271"/>
                    </a:lnTo>
                    <a:lnTo>
                      <a:pt x="188" y="263"/>
                    </a:lnTo>
                    <a:lnTo>
                      <a:pt x="197" y="259"/>
                    </a:lnTo>
                    <a:lnTo>
                      <a:pt x="207" y="253"/>
                    </a:lnTo>
                    <a:lnTo>
                      <a:pt x="215" y="249"/>
                    </a:lnTo>
                    <a:lnTo>
                      <a:pt x="225" y="245"/>
                    </a:lnTo>
                    <a:lnTo>
                      <a:pt x="235" y="242"/>
                    </a:lnTo>
                    <a:lnTo>
                      <a:pt x="244" y="239"/>
                    </a:lnTo>
                    <a:lnTo>
                      <a:pt x="255" y="236"/>
                    </a:lnTo>
                    <a:lnTo>
                      <a:pt x="264" y="233"/>
                    </a:lnTo>
                    <a:lnTo>
                      <a:pt x="274" y="232"/>
                    </a:lnTo>
                    <a:lnTo>
                      <a:pt x="284" y="229"/>
                    </a:lnTo>
                    <a:lnTo>
                      <a:pt x="294" y="229"/>
                    </a:lnTo>
                    <a:lnTo>
                      <a:pt x="297" y="226"/>
                    </a:lnTo>
                    <a:lnTo>
                      <a:pt x="303" y="223"/>
                    </a:lnTo>
                    <a:lnTo>
                      <a:pt x="307" y="222"/>
                    </a:lnTo>
                    <a:lnTo>
                      <a:pt x="313" y="221"/>
                    </a:lnTo>
                    <a:lnTo>
                      <a:pt x="318" y="218"/>
                    </a:lnTo>
                    <a:lnTo>
                      <a:pt x="324" y="216"/>
                    </a:lnTo>
                    <a:lnTo>
                      <a:pt x="330" y="215"/>
                    </a:lnTo>
                    <a:lnTo>
                      <a:pt x="336" y="213"/>
                    </a:lnTo>
                    <a:lnTo>
                      <a:pt x="340" y="211"/>
                    </a:lnTo>
                    <a:lnTo>
                      <a:pt x="344" y="208"/>
                    </a:lnTo>
                    <a:lnTo>
                      <a:pt x="347" y="205"/>
                    </a:lnTo>
                    <a:lnTo>
                      <a:pt x="351" y="203"/>
                    </a:lnTo>
                    <a:lnTo>
                      <a:pt x="353" y="199"/>
                    </a:lnTo>
                    <a:lnTo>
                      <a:pt x="354" y="195"/>
                    </a:lnTo>
                    <a:lnTo>
                      <a:pt x="354" y="189"/>
                    </a:lnTo>
                    <a:lnTo>
                      <a:pt x="354" y="185"/>
                    </a:lnTo>
                    <a:lnTo>
                      <a:pt x="353" y="181"/>
                    </a:lnTo>
                    <a:lnTo>
                      <a:pt x="353" y="178"/>
                    </a:lnTo>
                    <a:lnTo>
                      <a:pt x="351" y="173"/>
                    </a:lnTo>
                    <a:lnTo>
                      <a:pt x="350" y="171"/>
                    </a:lnTo>
                    <a:lnTo>
                      <a:pt x="348" y="166"/>
                    </a:lnTo>
                    <a:lnTo>
                      <a:pt x="347" y="163"/>
                    </a:lnTo>
                    <a:lnTo>
                      <a:pt x="347" y="159"/>
                    </a:lnTo>
                    <a:lnTo>
                      <a:pt x="346" y="156"/>
                    </a:lnTo>
                    <a:lnTo>
                      <a:pt x="346" y="152"/>
                    </a:lnTo>
                    <a:lnTo>
                      <a:pt x="344" y="149"/>
                    </a:lnTo>
                    <a:lnTo>
                      <a:pt x="344" y="146"/>
                    </a:lnTo>
                    <a:lnTo>
                      <a:pt x="346" y="142"/>
                    </a:lnTo>
                    <a:lnTo>
                      <a:pt x="346" y="139"/>
                    </a:lnTo>
                    <a:lnTo>
                      <a:pt x="347" y="136"/>
                    </a:lnTo>
                    <a:lnTo>
                      <a:pt x="350" y="133"/>
                    </a:lnTo>
                    <a:lnTo>
                      <a:pt x="354" y="132"/>
                    </a:lnTo>
                    <a:lnTo>
                      <a:pt x="357" y="132"/>
                    </a:lnTo>
                    <a:lnTo>
                      <a:pt x="361" y="133"/>
                    </a:lnTo>
                    <a:lnTo>
                      <a:pt x="366" y="135"/>
                    </a:lnTo>
                    <a:lnTo>
                      <a:pt x="370" y="138"/>
                    </a:lnTo>
                    <a:lnTo>
                      <a:pt x="373" y="139"/>
                    </a:lnTo>
                    <a:lnTo>
                      <a:pt x="376" y="142"/>
                    </a:lnTo>
                    <a:lnTo>
                      <a:pt x="378" y="146"/>
                    </a:lnTo>
                    <a:lnTo>
                      <a:pt x="381" y="149"/>
                    </a:lnTo>
                    <a:lnTo>
                      <a:pt x="383" y="153"/>
                    </a:lnTo>
                    <a:lnTo>
                      <a:pt x="386" y="156"/>
                    </a:lnTo>
                    <a:lnTo>
                      <a:pt x="388" y="161"/>
                    </a:lnTo>
                    <a:lnTo>
                      <a:pt x="390" y="165"/>
                    </a:lnTo>
                    <a:lnTo>
                      <a:pt x="393" y="169"/>
                    </a:lnTo>
                    <a:lnTo>
                      <a:pt x="394" y="172"/>
                    </a:lnTo>
                    <a:lnTo>
                      <a:pt x="397" y="176"/>
                    </a:lnTo>
                    <a:lnTo>
                      <a:pt x="400" y="181"/>
                    </a:lnTo>
                    <a:lnTo>
                      <a:pt x="403" y="181"/>
                    </a:lnTo>
                    <a:lnTo>
                      <a:pt x="406" y="181"/>
                    </a:lnTo>
                    <a:lnTo>
                      <a:pt x="410" y="181"/>
                    </a:lnTo>
                    <a:lnTo>
                      <a:pt x="414" y="179"/>
                    </a:lnTo>
                    <a:lnTo>
                      <a:pt x="418" y="176"/>
                    </a:lnTo>
                    <a:lnTo>
                      <a:pt x="424" y="173"/>
                    </a:lnTo>
                    <a:lnTo>
                      <a:pt x="428" y="171"/>
                    </a:lnTo>
                    <a:lnTo>
                      <a:pt x="436" y="168"/>
                    </a:lnTo>
                    <a:lnTo>
                      <a:pt x="440" y="163"/>
                    </a:lnTo>
                    <a:lnTo>
                      <a:pt x="447" y="159"/>
                    </a:lnTo>
                    <a:lnTo>
                      <a:pt x="453" y="155"/>
                    </a:lnTo>
                    <a:lnTo>
                      <a:pt x="458" y="152"/>
                    </a:lnTo>
                    <a:lnTo>
                      <a:pt x="464" y="148"/>
                    </a:lnTo>
                    <a:lnTo>
                      <a:pt x="470" y="145"/>
                    </a:lnTo>
                    <a:lnTo>
                      <a:pt x="477" y="141"/>
                    </a:lnTo>
                    <a:lnTo>
                      <a:pt x="483" y="139"/>
                    </a:lnTo>
                    <a:lnTo>
                      <a:pt x="489" y="136"/>
                    </a:lnTo>
                    <a:lnTo>
                      <a:pt x="494" y="133"/>
                    </a:lnTo>
                    <a:lnTo>
                      <a:pt x="500" y="131"/>
                    </a:lnTo>
                    <a:lnTo>
                      <a:pt x="506" y="126"/>
                    </a:lnTo>
                    <a:lnTo>
                      <a:pt x="511" y="123"/>
                    </a:lnTo>
                    <a:lnTo>
                      <a:pt x="517" y="119"/>
                    </a:lnTo>
                    <a:lnTo>
                      <a:pt x="523" y="116"/>
                    </a:lnTo>
                    <a:lnTo>
                      <a:pt x="529" y="113"/>
                    </a:lnTo>
                    <a:lnTo>
                      <a:pt x="534" y="109"/>
                    </a:lnTo>
                    <a:lnTo>
                      <a:pt x="540" y="105"/>
                    </a:lnTo>
                    <a:lnTo>
                      <a:pt x="546" y="102"/>
                    </a:lnTo>
                    <a:lnTo>
                      <a:pt x="551" y="99"/>
                    </a:lnTo>
                    <a:lnTo>
                      <a:pt x="557" y="95"/>
                    </a:lnTo>
                    <a:lnTo>
                      <a:pt x="564" y="92"/>
                    </a:lnTo>
                    <a:lnTo>
                      <a:pt x="570" y="89"/>
                    </a:lnTo>
                    <a:lnTo>
                      <a:pt x="576" y="86"/>
                    </a:lnTo>
                    <a:lnTo>
                      <a:pt x="581" y="82"/>
                    </a:lnTo>
                    <a:lnTo>
                      <a:pt x="589" y="78"/>
                    </a:lnTo>
                    <a:lnTo>
                      <a:pt x="596" y="73"/>
                    </a:lnTo>
                    <a:lnTo>
                      <a:pt x="601" y="71"/>
                    </a:lnTo>
                    <a:lnTo>
                      <a:pt x="609" y="66"/>
                    </a:lnTo>
                    <a:lnTo>
                      <a:pt x="614" y="62"/>
                    </a:lnTo>
                    <a:lnTo>
                      <a:pt x="621" y="58"/>
                    </a:lnTo>
                    <a:lnTo>
                      <a:pt x="627" y="53"/>
                    </a:lnTo>
                    <a:lnTo>
                      <a:pt x="633" y="49"/>
                    </a:lnTo>
                    <a:lnTo>
                      <a:pt x="640" y="45"/>
                    </a:lnTo>
                    <a:lnTo>
                      <a:pt x="646" y="40"/>
                    </a:lnTo>
                    <a:lnTo>
                      <a:pt x="651" y="36"/>
                    </a:lnTo>
                    <a:lnTo>
                      <a:pt x="659" y="32"/>
                    </a:lnTo>
                    <a:lnTo>
                      <a:pt x="664" y="28"/>
                    </a:lnTo>
                    <a:lnTo>
                      <a:pt x="670" y="23"/>
                    </a:lnTo>
                    <a:lnTo>
                      <a:pt x="676" y="19"/>
                    </a:lnTo>
                    <a:lnTo>
                      <a:pt x="682" y="16"/>
                    </a:lnTo>
                    <a:lnTo>
                      <a:pt x="686" y="15"/>
                    </a:lnTo>
                    <a:lnTo>
                      <a:pt x="690" y="13"/>
                    </a:lnTo>
                    <a:lnTo>
                      <a:pt x="696" y="13"/>
                    </a:lnTo>
                    <a:lnTo>
                      <a:pt x="700" y="12"/>
                    </a:lnTo>
                    <a:lnTo>
                      <a:pt x="706" y="10"/>
                    </a:lnTo>
                    <a:lnTo>
                      <a:pt x="709" y="9"/>
                    </a:lnTo>
                    <a:lnTo>
                      <a:pt x="712" y="9"/>
                    </a:lnTo>
                    <a:lnTo>
                      <a:pt x="714" y="9"/>
                    </a:lnTo>
                    <a:lnTo>
                      <a:pt x="717" y="9"/>
                    </a:lnTo>
                    <a:lnTo>
                      <a:pt x="717" y="6"/>
                    </a:lnTo>
                    <a:lnTo>
                      <a:pt x="716" y="3"/>
                    </a:lnTo>
                    <a:lnTo>
                      <a:pt x="7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93" name="Freeform 85"/>
              <p:cNvSpPr>
                <a:spLocks/>
              </p:cNvSpPr>
              <p:nvPr/>
            </p:nvSpPr>
            <p:spPr bwMode="auto">
              <a:xfrm>
                <a:off x="2449" y="1087"/>
                <a:ext cx="14" cy="37"/>
              </a:xfrm>
              <a:custGeom>
                <a:avLst/>
                <a:gdLst>
                  <a:gd name="T0" fmla="*/ 1 w 27"/>
                  <a:gd name="T1" fmla="*/ 0 h 74"/>
                  <a:gd name="T2" fmla="*/ 1 w 27"/>
                  <a:gd name="T3" fmla="*/ 1 h 74"/>
                  <a:gd name="T4" fmla="*/ 1 w 27"/>
                  <a:gd name="T5" fmla="*/ 1 h 74"/>
                  <a:gd name="T6" fmla="*/ 1 w 27"/>
                  <a:gd name="T7" fmla="*/ 1 h 74"/>
                  <a:gd name="T8" fmla="*/ 1 w 27"/>
                  <a:gd name="T9" fmla="*/ 1 h 74"/>
                  <a:gd name="T10" fmla="*/ 1 w 27"/>
                  <a:gd name="T11" fmla="*/ 1 h 74"/>
                  <a:gd name="T12" fmla="*/ 1 w 27"/>
                  <a:gd name="T13" fmla="*/ 1 h 74"/>
                  <a:gd name="T14" fmla="*/ 1 w 27"/>
                  <a:gd name="T15" fmla="*/ 1 h 74"/>
                  <a:gd name="T16" fmla="*/ 1 w 27"/>
                  <a:gd name="T17" fmla="*/ 1 h 74"/>
                  <a:gd name="T18" fmla="*/ 1 w 27"/>
                  <a:gd name="T19" fmla="*/ 1 h 74"/>
                  <a:gd name="T20" fmla="*/ 1 w 27"/>
                  <a:gd name="T21" fmla="*/ 1 h 74"/>
                  <a:gd name="T22" fmla="*/ 1 w 27"/>
                  <a:gd name="T23" fmla="*/ 1 h 74"/>
                  <a:gd name="T24" fmla="*/ 1 w 27"/>
                  <a:gd name="T25" fmla="*/ 1 h 74"/>
                  <a:gd name="T26" fmla="*/ 1 w 27"/>
                  <a:gd name="T27" fmla="*/ 1 h 74"/>
                  <a:gd name="T28" fmla="*/ 1 w 27"/>
                  <a:gd name="T29" fmla="*/ 1 h 74"/>
                  <a:gd name="T30" fmla="*/ 1 w 27"/>
                  <a:gd name="T31" fmla="*/ 1 h 74"/>
                  <a:gd name="T32" fmla="*/ 0 w 27"/>
                  <a:gd name="T33" fmla="*/ 1 h 74"/>
                  <a:gd name="T34" fmla="*/ 0 w 27"/>
                  <a:gd name="T35" fmla="*/ 1 h 74"/>
                  <a:gd name="T36" fmla="*/ 1 w 27"/>
                  <a:gd name="T37" fmla="*/ 1 h 74"/>
                  <a:gd name="T38" fmla="*/ 1 w 27"/>
                  <a:gd name="T39" fmla="*/ 1 h 74"/>
                  <a:gd name="T40" fmla="*/ 1 w 27"/>
                  <a:gd name="T41" fmla="*/ 1 h 74"/>
                  <a:gd name="T42" fmla="*/ 1 w 27"/>
                  <a:gd name="T43" fmla="*/ 1 h 74"/>
                  <a:gd name="T44" fmla="*/ 1 w 27"/>
                  <a:gd name="T45" fmla="*/ 1 h 74"/>
                  <a:gd name="T46" fmla="*/ 1 w 27"/>
                  <a:gd name="T47" fmla="*/ 1 h 74"/>
                  <a:gd name="T48" fmla="*/ 1 w 27"/>
                  <a:gd name="T49" fmla="*/ 1 h 74"/>
                  <a:gd name="T50" fmla="*/ 1 w 27"/>
                  <a:gd name="T51" fmla="*/ 1 h 74"/>
                  <a:gd name="T52" fmla="*/ 1 w 27"/>
                  <a:gd name="T53" fmla="*/ 1 h 74"/>
                  <a:gd name="T54" fmla="*/ 1 w 27"/>
                  <a:gd name="T55" fmla="*/ 1 h 74"/>
                  <a:gd name="T56" fmla="*/ 1 w 27"/>
                  <a:gd name="T57" fmla="*/ 1 h 74"/>
                  <a:gd name="T58" fmla="*/ 1 w 27"/>
                  <a:gd name="T59" fmla="*/ 1 h 74"/>
                  <a:gd name="T60" fmla="*/ 1 w 27"/>
                  <a:gd name="T61" fmla="*/ 1 h 74"/>
                  <a:gd name="T62" fmla="*/ 1 w 27"/>
                  <a:gd name="T63" fmla="*/ 1 h 74"/>
                  <a:gd name="T64" fmla="*/ 1 w 27"/>
                  <a:gd name="T65" fmla="*/ 1 h 74"/>
                  <a:gd name="T66" fmla="*/ 1 w 27"/>
                  <a:gd name="T67" fmla="*/ 1 h 74"/>
                  <a:gd name="T68" fmla="*/ 1 w 27"/>
                  <a:gd name="T69" fmla="*/ 1 h 74"/>
                  <a:gd name="T70" fmla="*/ 1 w 27"/>
                  <a:gd name="T71" fmla="*/ 1 h 74"/>
                  <a:gd name="T72" fmla="*/ 1 w 27"/>
                  <a:gd name="T73" fmla="*/ 1 h 74"/>
                  <a:gd name="T74" fmla="*/ 1 w 27"/>
                  <a:gd name="T75" fmla="*/ 1 h 74"/>
                  <a:gd name="T76" fmla="*/ 1 w 27"/>
                  <a:gd name="T77" fmla="*/ 1 h 74"/>
                  <a:gd name="T78" fmla="*/ 1 w 27"/>
                  <a:gd name="T79" fmla="*/ 1 h 74"/>
                  <a:gd name="T80" fmla="*/ 1 w 27"/>
                  <a:gd name="T81" fmla="*/ 1 h 74"/>
                  <a:gd name="T82" fmla="*/ 1 w 27"/>
                  <a:gd name="T83" fmla="*/ 1 h 74"/>
                  <a:gd name="T84" fmla="*/ 1 w 27"/>
                  <a:gd name="T85" fmla="*/ 1 h 74"/>
                  <a:gd name="T86" fmla="*/ 1 w 27"/>
                  <a:gd name="T87" fmla="*/ 0 h 74"/>
                  <a:gd name="T88" fmla="*/ 1 w 27"/>
                  <a:gd name="T89" fmla="*/ 0 h 74"/>
                  <a:gd name="T90" fmla="*/ 1 w 27"/>
                  <a:gd name="T91" fmla="*/ 0 h 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
                  <a:gd name="T139" fmla="*/ 0 h 74"/>
                  <a:gd name="T140" fmla="*/ 27 w 27"/>
                  <a:gd name="T141" fmla="*/ 74 h 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 h="74">
                    <a:moveTo>
                      <a:pt x="22" y="0"/>
                    </a:moveTo>
                    <a:lnTo>
                      <a:pt x="19" y="3"/>
                    </a:lnTo>
                    <a:lnTo>
                      <a:pt x="16" y="5"/>
                    </a:lnTo>
                    <a:lnTo>
                      <a:pt x="14" y="8"/>
                    </a:lnTo>
                    <a:lnTo>
                      <a:pt x="13" y="13"/>
                    </a:lnTo>
                    <a:lnTo>
                      <a:pt x="10" y="17"/>
                    </a:lnTo>
                    <a:lnTo>
                      <a:pt x="9" y="21"/>
                    </a:lnTo>
                    <a:lnTo>
                      <a:pt x="7" y="27"/>
                    </a:lnTo>
                    <a:lnTo>
                      <a:pt x="7" y="31"/>
                    </a:lnTo>
                    <a:lnTo>
                      <a:pt x="6" y="35"/>
                    </a:lnTo>
                    <a:lnTo>
                      <a:pt x="6" y="41"/>
                    </a:lnTo>
                    <a:lnTo>
                      <a:pt x="4" y="45"/>
                    </a:lnTo>
                    <a:lnTo>
                      <a:pt x="4" y="51"/>
                    </a:lnTo>
                    <a:lnTo>
                      <a:pt x="3" y="55"/>
                    </a:lnTo>
                    <a:lnTo>
                      <a:pt x="2" y="60"/>
                    </a:lnTo>
                    <a:lnTo>
                      <a:pt x="2" y="64"/>
                    </a:lnTo>
                    <a:lnTo>
                      <a:pt x="0" y="68"/>
                    </a:lnTo>
                    <a:lnTo>
                      <a:pt x="0" y="71"/>
                    </a:lnTo>
                    <a:lnTo>
                      <a:pt x="2" y="73"/>
                    </a:lnTo>
                    <a:lnTo>
                      <a:pt x="4" y="74"/>
                    </a:lnTo>
                    <a:lnTo>
                      <a:pt x="6" y="73"/>
                    </a:lnTo>
                    <a:lnTo>
                      <a:pt x="9" y="73"/>
                    </a:lnTo>
                    <a:lnTo>
                      <a:pt x="10" y="68"/>
                    </a:lnTo>
                    <a:lnTo>
                      <a:pt x="13" y="65"/>
                    </a:lnTo>
                    <a:lnTo>
                      <a:pt x="14" y="63"/>
                    </a:lnTo>
                    <a:lnTo>
                      <a:pt x="16" y="58"/>
                    </a:lnTo>
                    <a:lnTo>
                      <a:pt x="16" y="54"/>
                    </a:lnTo>
                    <a:lnTo>
                      <a:pt x="17" y="51"/>
                    </a:lnTo>
                    <a:lnTo>
                      <a:pt x="17" y="47"/>
                    </a:lnTo>
                    <a:lnTo>
                      <a:pt x="19" y="43"/>
                    </a:lnTo>
                    <a:lnTo>
                      <a:pt x="20" y="40"/>
                    </a:lnTo>
                    <a:lnTo>
                      <a:pt x="20" y="35"/>
                    </a:lnTo>
                    <a:lnTo>
                      <a:pt x="20" y="31"/>
                    </a:lnTo>
                    <a:lnTo>
                      <a:pt x="22" y="27"/>
                    </a:lnTo>
                    <a:lnTo>
                      <a:pt x="23" y="24"/>
                    </a:lnTo>
                    <a:lnTo>
                      <a:pt x="23" y="20"/>
                    </a:lnTo>
                    <a:lnTo>
                      <a:pt x="24" y="15"/>
                    </a:lnTo>
                    <a:lnTo>
                      <a:pt x="27" y="13"/>
                    </a:lnTo>
                    <a:lnTo>
                      <a:pt x="27" y="11"/>
                    </a:lnTo>
                    <a:lnTo>
                      <a:pt x="27" y="8"/>
                    </a:lnTo>
                    <a:lnTo>
                      <a:pt x="27" y="5"/>
                    </a:lnTo>
                    <a:lnTo>
                      <a:pt x="27" y="4"/>
                    </a:lnTo>
                    <a:lnTo>
                      <a:pt x="26" y="0"/>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94" name="Freeform 86"/>
              <p:cNvSpPr>
                <a:spLocks/>
              </p:cNvSpPr>
              <p:nvPr/>
            </p:nvSpPr>
            <p:spPr bwMode="auto">
              <a:xfrm>
                <a:off x="1981" y="543"/>
                <a:ext cx="228" cy="227"/>
              </a:xfrm>
              <a:custGeom>
                <a:avLst/>
                <a:gdLst>
                  <a:gd name="T0" fmla="*/ 2 w 456"/>
                  <a:gd name="T1" fmla="*/ 0 h 455"/>
                  <a:gd name="T2" fmla="*/ 2 w 456"/>
                  <a:gd name="T3" fmla="*/ 0 h 455"/>
                  <a:gd name="T4" fmla="*/ 2 w 456"/>
                  <a:gd name="T5" fmla="*/ 0 h 455"/>
                  <a:gd name="T6" fmla="*/ 2 w 456"/>
                  <a:gd name="T7" fmla="*/ 0 h 455"/>
                  <a:gd name="T8" fmla="*/ 2 w 456"/>
                  <a:gd name="T9" fmla="*/ 0 h 455"/>
                  <a:gd name="T10" fmla="*/ 1 w 456"/>
                  <a:gd name="T11" fmla="*/ 0 h 455"/>
                  <a:gd name="T12" fmla="*/ 1 w 456"/>
                  <a:gd name="T13" fmla="*/ 0 h 455"/>
                  <a:gd name="T14" fmla="*/ 1 w 456"/>
                  <a:gd name="T15" fmla="*/ 0 h 455"/>
                  <a:gd name="T16" fmla="*/ 1 w 456"/>
                  <a:gd name="T17" fmla="*/ 0 h 455"/>
                  <a:gd name="T18" fmla="*/ 1 w 456"/>
                  <a:gd name="T19" fmla="*/ 0 h 455"/>
                  <a:gd name="T20" fmla="*/ 1 w 456"/>
                  <a:gd name="T21" fmla="*/ 0 h 455"/>
                  <a:gd name="T22" fmla="*/ 1 w 456"/>
                  <a:gd name="T23" fmla="*/ 0 h 455"/>
                  <a:gd name="T24" fmla="*/ 1 w 456"/>
                  <a:gd name="T25" fmla="*/ 0 h 455"/>
                  <a:gd name="T26" fmla="*/ 1 w 456"/>
                  <a:gd name="T27" fmla="*/ 0 h 455"/>
                  <a:gd name="T28" fmla="*/ 1 w 456"/>
                  <a:gd name="T29" fmla="*/ 0 h 455"/>
                  <a:gd name="T30" fmla="*/ 1 w 456"/>
                  <a:gd name="T31" fmla="*/ 0 h 455"/>
                  <a:gd name="T32" fmla="*/ 1 w 456"/>
                  <a:gd name="T33" fmla="*/ 0 h 455"/>
                  <a:gd name="T34" fmla="*/ 1 w 456"/>
                  <a:gd name="T35" fmla="*/ 0 h 455"/>
                  <a:gd name="T36" fmla="*/ 1 w 456"/>
                  <a:gd name="T37" fmla="*/ 1 h 455"/>
                  <a:gd name="T38" fmla="*/ 1 w 456"/>
                  <a:gd name="T39" fmla="*/ 1 h 455"/>
                  <a:gd name="T40" fmla="*/ 1 w 456"/>
                  <a:gd name="T41" fmla="*/ 1 h 455"/>
                  <a:gd name="T42" fmla="*/ 1 w 456"/>
                  <a:gd name="T43" fmla="*/ 1 h 455"/>
                  <a:gd name="T44" fmla="*/ 1 w 456"/>
                  <a:gd name="T45" fmla="*/ 1 h 455"/>
                  <a:gd name="T46" fmla="*/ 1 w 456"/>
                  <a:gd name="T47" fmla="*/ 1 h 455"/>
                  <a:gd name="T48" fmla="*/ 1 w 456"/>
                  <a:gd name="T49" fmla="*/ 1 h 455"/>
                  <a:gd name="T50" fmla="*/ 1 w 456"/>
                  <a:gd name="T51" fmla="*/ 1 h 455"/>
                  <a:gd name="T52" fmla="*/ 0 w 456"/>
                  <a:gd name="T53" fmla="*/ 1 h 455"/>
                  <a:gd name="T54" fmla="*/ 1 w 456"/>
                  <a:gd name="T55" fmla="*/ 1 h 455"/>
                  <a:gd name="T56" fmla="*/ 1 w 456"/>
                  <a:gd name="T57" fmla="*/ 1 h 455"/>
                  <a:gd name="T58" fmla="*/ 1 w 456"/>
                  <a:gd name="T59" fmla="*/ 1 h 455"/>
                  <a:gd name="T60" fmla="*/ 1 w 456"/>
                  <a:gd name="T61" fmla="*/ 1 h 455"/>
                  <a:gd name="T62" fmla="*/ 1 w 456"/>
                  <a:gd name="T63" fmla="*/ 1 h 455"/>
                  <a:gd name="T64" fmla="*/ 1 w 456"/>
                  <a:gd name="T65" fmla="*/ 1 h 455"/>
                  <a:gd name="T66" fmla="*/ 1 w 456"/>
                  <a:gd name="T67" fmla="*/ 1 h 455"/>
                  <a:gd name="T68" fmla="*/ 1 w 456"/>
                  <a:gd name="T69" fmla="*/ 1 h 455"/>
                  <a:gd name="T70" fmla="*/ 1 w 456"/>
                  <a:gd name="T71" fmla="*/ 1 h 455"/>
                  <a:gd name="T72" fmla="*/ 1 w 456"/>
                  <a:gd name="T73" fmla="*/ 1 h 455"/>
                  <a:gd name="T74" fmla="*/ 1 w 456"/>
                  <a:gd name="T75" fmla="*/ 1 h 455"/>
                  <a:gd name="T76" fmla="*/ 1 w 456"/>
                  <a:gd name="T77" fmla="*/ 0 h 455"/>
                  <a:gd name="T78" fmla="*/ 1 w 456"/>
                  <a:gd name="T79" fmla="*/ 0 h 455"/>
                  <a:gd name="T80" fmla="*/ 1 w 456"/>
                  <a:gd name="T81" fmla="*/ 0 h 455"/>
                  <a:gd name="T82" fmla="*/ 1 w 456"/>
                  <a:gd name="T83" fmla="*/ 0 h 455"/>
                  <a:gd name="T84" fmla="*/ 1 w 456"/>
                  <a:gd name="T85" fmla="*/ 0 h 455"/>
                  <a:gd name="T86" fmla="*/ 1 w 456"/>
                  <a:gd name="T87" fmla="*/ 0 h 455"/>
                  <a:gd name="T88" fmla="*/ 1 w 456"/>
                  <a:gd name="T89" fmla="*/ 0 h 455"/>
                  <a:gd name="T90" fmla="*/ 1 w 456"/>
                  <a:gd name="T91" fmla="*/ 0 h 455"/>
                  <a:gd name="T92" fmla="*/ 1 w 456"/>
                  <a:gd name="T93" fmla="*/ 0 h 455"/>
                  <a:gd name="T94" fmla="*/ 1 w 456"/>
                  <a:gd name="T95" fmla="*/ 0 h 455"/>
                  <a:gd name="T96" fmla="*/ 1 w 456"/>
                  <a:gd name="T97" fmla="*/ 0 h 455"/>
                  <a:gd name="T98" fmla="*/ 1 w 456"/>
                  <a:gd name="T99" fmla="*/ 0 h 455"/>
                  <a:gd name="T100" fmla="*/ 2 w 456"/>
                  <a:gd name="T101" fmla="*/ 0 h 455"/>
                  <a:gd name="T102" fmla="*/ 2 w 456"/>
                  <a:gd name="T103" fmla="*/ 0 h 455"/>
                  <a:gd name="T104" fmla="*/ 2 w 456"/>
                  <a:gd name="T105" fmla="*/ 0 h 455"/>
                  <a:gd name="T106" fmla="*/ 2 w 456"/>
                  <a:gd name="T107" fmla="*/ 0 h 455"/>
                  <a:gd name="T108" fmla="*/ 2 w 456"/>
                  <a:gd name="T109" fmla="*/ 0 h 455"/>
                  <a:gd name="T110" fmla="*/ 2 w 456"/>
                  <a:gd name="T111" fmla="*/ 0 h 45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56"/>
                  <a:gd name="T169" fmla="*/ 0 h 455"/>
                  <a:gd name="T170" fmla="*/ 456 w 456"/>
                  <a:gd name="T171" fmla="*/ 455 h 45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56" h="455">
                    <a:moveTo>
                      <a:pt x="456" y="0"/>
                    </a:moveTo>
                    <a:lnTo>
                      <a:pt x="441" y="0"/>
                    </a:lnTo>
                    <a:lnTo>
                      <a:pt x="427" y="1"/>
                    </a:lnTo>
                    <a:lnTo>
                      <a:pt x="413" y="1"/>
                    </a:lnTo>
                    <a:lnTo>
                      <a:pt x="399" y="3"/>
                    </a:lnTo>
                    <a:lnTo>
                      <a:pt x="384" y="4"/>
                    </a:lnTo>
                    <a:lnTo>
                      <a:pt x="370" y="6"/>
                    </a:lnTo>
                    <a:lnTo>
                      <a:pt x="357" y="6"/>
                    </a:lnTo>
                    <a:lnTo>
                      <a:pt x="343" y="7"/>
                    </a:lnTo>
                    <a:lnTo>
                      <a:pt x="329" y="7"/>
                    </a:lnTo>
                    <a:lnTo>
                      <a:pt x="314" y="9"/>
                    </a:lnTo>
                    <a:lnTo>
                      <a:pt x="300" y="9"/>
                    </a:lnTo>
                    <a:lnTo>
                      <a:pt x="286" y="9"/>
                    </a:lnTo>
                    <a:lnTo>
                      <a:pt x="271" y="7"/>
                    </a:lnTo>
                    <a:lnTo>
                      <a:pt x="257" y="7"/>
                    </a:lnTo>
                    <a:lnTo>
                      <a:pt x="243" y="6"/>
                    </a:lnTo>
                    <a:lnTo>
                      <a:pt x="228" y="4"/>
                    </a:lnTo>
                    <a:lnTo>
                      <a:pt x="217" y="3"/>
                    </a:lnTo>
                    <a:lnTo>
                      <a:pt x="206" y="3"/>
                    </a:lnTo>
                    <a:lnTo>
                      <a:pt x="194" y="1"/>
                    </a:lnTo>
                    <a:lnTo>
                      <a:pt x="183" y="1"/>
                    </a:lnTo>
                    <a:lnTo>
                      <a:pt x="170" y="1"/>
                    </a:lnTo>
                    <a:lnTo>
                      <a:pt x="158" y="3"/>
                    </a:lnTo>
                    <a:lnTo>
                      <a:pt x="147" y="3"/>
                    </a:lnTo>
                    <a:lnTo>
                      <a:pt x="136" y="6"/>
                    </a:lnTo>
                    <a:lnTo>
                      <a:pt x="123" y="7"/>
                    </a:lnTo>
                    <a:lnTo>
                      <a:pt x="113" y="10"/>
                    </a:lnTo>
                    <a:lnTo>
                      <a:pt x="101" y="14"/>
                    </a:lnTo>
                    <a:lnTo>
                      <a:pt x="90" y="19"/>
                    </a:lnTo>
                    <a:lnTo>
                      <a:pt x="80" y="24"/>
                    </a:lnTo>
                    <a:lnTo>
                      <a:pt x="70" y="33"/>
                    </a:lnTo>
                    <a:lnTo>
                      <a:pt x="60" y="41"/>
                    </a:lnTo>
                    <a:lnTo>
                      <a:pt x="51" y="51"/>
                    </a:lnTo>
                    <a:lnTo>
                      <a:pt x="48" y="60"/>
                    </a:lnTo>
                    <a:lnTo>
                      <a:pt x="47" y="71"/>
                    </a:lnTo>
                    <a:lnTo>
                      <a:pt x="47" y="80"/>
                    </a:lnTo>
                    <a:lnTo>
                      <a:pt x="47" y="90"/>
                    </a:lnTo>
                    <a:lnTo>
                      <a:pt x="47" y="100"/>
                    </a:lnTo>
                    <a:lnTo>
                      <a:pt x="48" y="110"/>
                    </a:lnTo>
                    <a:lnTo>
                      <a:pt x="48" y="120"/>
                    </a:lnTo>
                    <a:lnTo>
                      <a:pt x="51" y="130"/>
                    </a:lnTo>
                    <a:lnTo>
                      <a:pt x="51" y="140"/>
                    </a:lnTo>
                    <a:lnTo>
                      <a:pt x="53" y="150"/>
                    </a:lnTo>
                    <a:lnTo>
                      <a:pt x="53" y="160"/>
                    </a:lnTo>
                    <a:lnTo>
                      <a:pt x="54" y="170"/>
                    </a:lnTo>
                    <a:lnTo>
                      <a:pt x="53" y="180"/>
                    </a:lnTo>
                    <a:lnTo>
                      <a:pt x="53" y="190"/>
                    </a:lnTo>
                    <a:lnTo>
                      <a:pt x="50" y="200"/>
                    </a:lnTo>
                    <a:lnTo>
                      <a:pt x="47" y="212"/>
                    </a:lnTo>
                    <a:lnTo>
                      <a:pt x="44" y="217"/>
                    </a:lnTo>
                    <a:lnTo>
                      <a:pt x="43" y="223"/>
                    </a:lnTo>
                    <a:lnTo>
                      <a:pt x="40" y="229"/>
                    </a:lnTo>
                    <a:lnTo>
                      <a:pt x="38" y="234"/>
                    </a:lnTo>
                    <a:lnTo>
                      <a:pt x="35" y="240"/>
                    </a:lnTo>
                    <a:lnTo>
                      <a:pt x="33" y="246"/>
                    </a:lnTo>
                    <a:lnTo>
                      <a:pt x="31" y="253"/>
                    </a:lnTo>
                    <a:lnTo>
                      <a:pt x="30" y="259"/>
                    </a:lnTo>
                    <a:lnTo>
                      <a:pt x="28" y="264"/>
                    </a:lnTo>
                    <a:lnTo>
                      <a:pt x="27" y="270"/>
                    </a:lnTo>
                    <a:lnTo>
                      <a:pt x="25" y="277"/>
                    </a:lnTo>
                    <a:lnTo>
                      <a:pt x="25" y="283"/>
                    </a:lnTo>
                    <a:lnTo>
                      <a:pt x="24" y="289"/>
                    </a:lnTo>
                    <a:lnTo>
                      <a:pt x="24" y="296"/>
                    </a:lnTo>
                    <a:lnTo>
                      <a:pt x="24" y="302"/>
                    </a:lnTo>
                    <a:lnTo>
                      <a:pt x="25" y="309"/>
                    </a:lnTo>
                    <a:lnTo>
                      <a:pt x="25" y="317"/>
                    </a:lnTo>
                    <a:lnTo>
                      <a:pt x="25" y="327"/>
                    </a:lnTo>
                    <a:lnTo>
                      <a:pt x="24" y="336"/>
                    </a:lnTo>
                    <a:lnTo>
                      <a:pt x="24" y="344"/>
                    </a:lnTo>
                    <a:lnTo>
                      <a:pt x="21" y="354"/>
                    </a:lnTo>
                    <a:lnTo>
                      <a:pt x="20" y="363"/>
                    </a:lnTo>
                    <a:lnTo>
                      <a:pt x="17" y="372"/>
                    </a:lnTo>
                    <a:lnTo>
                      <a:pt x="15" y="382"/>
                    </a:lnTo>
                    <a:lnTo>
                      <a:pt x="13" y="390"/>
                    </a:lnTo>
                    <a:lnTo>
                      <a:pt x="10" y="399"/>
                    </a:lnTo>
                    <a:lnTo>
                      <a:pt x="7" y="409"/>
                    </a:lnTo>
                    <a:lnTo>
                      <a:pt x="5" y="417"/>
                    </a:lnTo>
                    <a:lnTo>
                      <a:pt x="3" y="426"/>
                    </a:lnTo>
                    <a:lnTo>
                      <a:pt x="1" y="436"/>
                    </a:lnTo>
                    <a:lnTo>
                      <a:pt x="0" y="445"/>
                    </a:lnTo>
                    <a:lnTo>
                      <a:pt x="0" y="455"/>
                    </a:lnTo>
                    <a:lnTo>
                      <a:pt x="3" y="453"/>
                    </a:lnTo>
                    <a:lnTo>
                      <a:pt x="7" y="455"/>
                    </a:lnTo>
                    <a:lnTo>
                      <a:pt x="8" y="455"/>
                    </a:lnTo>
                    <a:lnTo>
                      <a:pt x="8" y="453"/>
                    </a:lnTo>
                    <a:lnTo>
                      <a:pt x="8" y="449"/>
                    </a:lnTo>
                    <a:lnTo>
                      <a:pt x="10" y="446"/>
                    </a:lnTo>
                    <a:lnTo>
                      <a:pt x="10" y="442"/>
                    </a:lnTo>
                    <a:lnTo>
                      <a:pt x="11" y="437"/>
                    </a:lnTo>
                    <a:lnTo>
                      <a:pt x="13" y="433"/>
                    </a:lnTo>
                    <a:lnTo>
                      <a:pt x="13" y="429"/>
                    </a:lnTo>
                    <a:lnTo>
                      <a:pt x="14" y="425"/>
                    </a:lnTo>
                    <a:lnTo>
                      <a:pt x="15" y="422"/>
                    </a:lnTo>
                    <a:lnTo>
                      <a:pt x="15" y="417"/>
                    </a:lnTo>
                    <a:lnTo>
                      <a:pt x="17" y="413"/>
                    </a:lnTo>
                    <a:lnTo>
                      <a:pt x="17" y="409"/>
                    </a:lnTo>
                    <a:lnTo>
                      <a:pt x="18" y="406"/>
                    </a:lnTo>
                    <a:lnTo>
                      <a:pt x="18" y="402"/>
                    </a:lnTo>
                    <a:lnTo>
                      <a:pt x="20" y="399"/>
                    </a:lnTo>
                    <a:lnTo>
                      <a:pt x="21" y="396"/>
                    </a:lnTo>
                    <a:lnTo>
                      <a:pt x="23" y="395"/>
                    </a:lnTo>
                    <a:lnTo>
                      <a:pt x="25" y="383"/>
                    </a:lnTo>
                    <a:lnTo>
                      <a:pt x="30" y="373"/>
                    </a:lnTo>
                    <a:lnTo>
                      <a:pt x="31" y="363"/>
                    </a:lnTo>
                    <a:lnTo>
                      <a:pt x="33" y="353"/>
                    </a:lnTo>
                    <a:lnTo>
                      <a:pt x="34" y="342"/>
                    </a:lnTo>
                    <a:lnTo>
                      <a:pt x="35" y="332"/>
                    </a:lnTo>
                    <a:lnTo>
                      <a:pt x="35" y="320"/>
                    </a:lnTo>
                    <a:lnTo>
                      <a:pt x="35" y="310"/>
                    </a:lnTo>
                    <a:lnTo>
                      <a:pt x="35" y="300"/>
                    </a:lnTo>
                    <a:lnTo>
                      <a:pt x="37" y="289"/>
                    </a:lnTo>
                    <a:lnTo>
                      <a:pt x="37" y="279"/>
                    </a:lnTo>
                    <a:lnTo>
                      <a:pt x="38" y="269"/>
                    </a:lnTo>
                    <a:lnTo>
                      <a:pt x="40" y="257"/>
                    </a:lnTo>
                    <a:lnTo>
                      <a:pt x="43" y="247"/>
                    </a:lnTo>
                    <a:lnTo>
                      <a:pt x="47" y="237"/>
                    </a:lnTo>
                    <a:lnTo>
                      <a:pt x="51" y="227"/>
                    </a:lnTo>
                    <a:lnTo>
                      <a:pt x="54" y="217"/>
                    </a:lnTo>
                    <a:lnTo>
                      <a:pt x="58" y="206"/>
                    </a:lnTo>
                    <a:lnTo>
                      <a:pt x="60" y="196"/>
                    </a:lnTo>
                    <a:lnTo>
                      <a:pt x="61" y="186"/>
                    </a:lnTo>
                    <a:lnTo>
                      <a:pt x="63" y="176"/>
                    </a:lnTo>
                    <a:lnTo>
                      <a:pt x="63" y="166"/>
                    </a:lnTo>
                    <a:lnTo>
                      <a:pt x="63" y="156"/>
                    </a:lnTo>
                    <a:lnTo>
                      <a:pt x="63" y="146"/>
                    </a:lnTo>
                    <a:lnTo>
                      <a:pt x="61" y="136"/>
                    </a:lnTo>
                    <a:lnTo>
                      <a:pt x="61" y="126"/>
                    </a:lnTo>
                    <a:lnTo>
                      <a:pt x="60" y="116"/>
                    </a:lnTo>
                    <a:lnTo>
                      <a:pt x="60" y="106"/>
                    </a:lnTo>
                    <a:lnTo>
                      <a:pt x="58" y="96"/>
                    </a:lnTo>
                    <a:lnTo>
                      <a:pt x="58" y="86"/>
                    </a:lnTo>
                    <a:lnTo>
                      <a:pt x="57" y="76"/>
                    </a:lnTo>
                    <a:lnTo>
                      <a:pt x="57" y="66"/>
                    </a:lnTo>
                    <a:lnTo>
                      <a:pt x="63" y="54"/>
                    </a:lnTo>
                    <a:lnTo>
                      <a:pt x="71" y="44"/>
                    </a:lnTo>
                    <a:lnTo>
                      <a:pt x="80" y="37"/>
                    </a:lnTo>
                    <a:lnTo>
                      <a:pt x="90" y="30"/>
                    </a:lnTo>
                    <a:lnTo>
                      <a:pt x="100" y="24"/>
                    </a:lnTo>
                    <a:lnTo>
                      <a:pt x="111" y="20"/>
                    </a:lnTo>
                    <a:lnTo>
                      <a:pt x="121" y="17"/>
                    </a:lnTo>
                    <a:lnTo>
                      <a:pt x="134" y="16"/>
                    </a:lnTo>
                    <a:lnTo>
                      <a:pt x="146" y="13"/>
                    </a:lnTo>
                    <a:lnTo>
                      <a:pt x="158" y="13"/>
                    </a:lnTo>
                    <a:lnTo>
                      <a:pt x="170" y="13"/>
                    </a:lnTo>
                    <a:lnTo>
                      <a:pt x="183" y="13"/>
                    </a:lnTo>
                    <a:lnTo>
                      <a:pt x="194" y="13"/>
                    </a:lnTo>
                    <a:lnTo>
                      <a:pt x="207" y="13"/>
                    </a:lnTo>
                    <a:lnTo>
                      <a:pt x="217" y="13"/>
                    </a:lnTo>
                    <a:lnTo>
                      <a:pt x="230" y="13"/>
                    </a:lnTo>
                    <a:lnTo>
                      <a:pt x="243" y="14"/>
                    </a:lnTo>
                    <a:lnTo>
                      <a:pt x="257" y="16"/>
                    </a:lnTo>
                    <a:lnTo>
                      <a:pt x="270" y="17"/>
                    </a:lnTo>
                    <a:lnTo>
                      <a:pt x="284" y="17"/>
                    </a:lnTo>
                    <a:lnTo>
                      <a:pt x="299" y="17"/>
                    </a:lnTo>
                    <a:lnTo>
                      <a:pt x="313" y="19"/>
                    </a:lnTo>
                    <a:lnTo>
                      <a:pt x="327" y="17"/>
                    </a:lnTo>
                    <a:lnTo>
                      <a:pt x="341" y="17"/>
                    </a:lnTo>
                    <a:lnTo>
                      <a:pt x="354" y="17"/>
                    </a:lnTo>
                    <a:lnTo>
                      <a:pt x="369" y="16"/>
                    </a:lnTo>
                    <a:lnTo>
                      <a:pt x="381" y="14"/>
                    </a:lnTo>
                    <a:lnTo>
                      <a:pt x="396" y="14"/>
                    </a:lnTo>
                    <a:lnTo>
                      <a:pt x="410" y="13"/>
                    </a:lnTo>
                    <a:lnTo>
                      <a:pt x="423" y="13"/>
                    </a:lnTo>
                    <a:lnTo>
                      <a:pt x="437" y="11"/>
                    </a:lnTo>
                    <a:lnTo>
                      <a:pt x="450" y="11"/>
                    </a:lnTo>
                    <a:lnTo>
                      <a:pt x="451" y="9"/>
                    </a:lnTo>
                    <a:lnTo>
                      <a:pt x="454" y="6"/>
                    </a:lnTo>
                    <a:lnTo>
                      <a:pt x="456" y="1"/>
                    </a:lnTo>
                    <a:lnTo>
                      <a:pt x="45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188495" name="Freeform 87"/>
              <p:cNvSpPr>
                <a:spLocks/>
              </p:cNvSpPr>
              <p:nvPr/>
            </p:nvSpPr>
            <p:spPr bwMode="auto">
              <a:xfrm>
                <a:off x="2126" y="790"/>
                <a:ext cx="236" cy="47"/>
              </a:xfrm>
              <a:custGeom>
                <a:avLst/>
                <a:gdLst>
                  <a:gd name="T0" fmla="*/ 0 w 230"/>
                  <a:gd name="T1" fmla="*/ 208 h 38"/>
                  <a:gd name="T2" fmla="*/ 96 w 230"/>
                  <a:gd name="T3" fmla="*/ 135 h 38"/>
                  <a:gd name="T4" fmla="*/ 231 w 230"/>
                  <a:gd name="T5" fmla="*/ 71 h 38"/>
                  <a:gd name="T6" fmla="*/ 268 w 230"/>
                  <a:gd name="T7" fmla="*/ 2 h 38"/>
                  <a:gd name="T8" fmla="*/ 282 w 230"/>
                  <a:gd name="T9" fmla="*/ 0 h 38"/>
                  <a:gd name="T10" fmla="*/ 0 60000 65536"/>
                  <a:gd name="T11" fmla="*/ 0 60000 65536"/>
                  <a:gd name="T12" fmla="*/ 0 60000 65536"/>
                  <a:gd name="T13" fmla="*/ 0 60000 65536"/>
                  <a:gd name="T14" fmla="*/ 0 60000 65536"/>
                  <a:gd name="T15" fmla="*/ 0 w 230"/>
                  <a:gd name="T16" fmla="*/ 0 h 38"/>
                  <a:gd name="T17" fmla="*/ 230 w 230"/>
                  <a:gd name="T18" fmla="*/ 38 h 38"/>
                </a:gdLst>
                <a:ahLst/>
                <a:cxnLst>
                  <a:cxn ang="T10">
                    <a:pos x="T0" y="T1"/>
                  </a:cxn>
                  <a:cxn ang="T11">
                    <a:pos x="T2" y="T3"/>
                  </a:cxn>
                  <a:cxn ang="T12">
                    <a:pos x="T4" y="T5"/>
                  </a:cxn>
                  <a:cxn ang="T13">
                    <a:pos x="T6" y="T7"/>
                  </a:cxn>
                  <a:cxn ang="T14">
                    <a:pos x="T8" y="T9"/>
                  </a:cxn>
                </a:cxnLst>
                <a:rect l="T15" t="T16" r="T17" b="T18"/>
                <a:pathLst>
                  <a:path w="230" h="38">
                    <a:moveTo>
                      <a:pt x="0" y="38"/>
                    </a:moveTo>
                    <a:cubicBezTo>
                      <a:pt x="31" y="36"/>
                      <a:pt x="49" y="26"/>
                      <a:pt x="80" y="24"/>
                    </a:cubicBezTo>
                    <a:cubicBezTo>
                      <a:pt x="114" y="13"/>
                      <a:pt x="152" y="16"/>
                      <a:pt x="188" y="12"/>
                    </a:cubicBezTo>
                    <a:cubicBezTo>
                      <a:pt x="198" y="9"/>
                      <a:pt x="208" y="5"/>
                      <a:pt x="218" y="2"/>
                    </a:cubicBezTo>
                    <a:cubicBezTo>
                      <a:pt x="222" y="1"/>
                      <a:pt x="230" y="0"/>
                      <a:pt x="230" y="0"/>
                    </a:cubicBezTo>
                  </a:path>
                </a:pathLst>
              </a:custGeom>
              <a:solidFill>
                <a:srgbClr val="FFA64D"/>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ko-KR" altLang="en-US" dirty="0"/>
              </a:p>
            </p:txBody>
          </p:sp>
          <p:sp>
            <p:nvSpPr>
              <p:cNvPr id="188496" name="Freeform 88"/>
              <p:cNvSpPr>
                <a:spLocks/>
              </p:cNvSpPr>
              <p:nvPr/>
            </p:nvSpPr>
            <p:spPr bwMode="auto">
              <a:xfrm>
                <a:off x="2132" y="726"/>
                <a:ext cx="24" cy="174"/>
              </a:xfrm>
              <a:custGeom>
                <a:avLst/>
                <a:gdLst>
                  <a:gd name="T0" fmla="*/ 0 w 24"/>
                  <a:gd name="T1" fmla="*/ 174 h 174"/>
                  <a:gd name="T2" fmla="*/ 2 w 24"/>
                  <a:gd name="T3" fmla="*/ 58 h 174"/>
                  <a:gd name="T4" fmla="*/ 14 w 24"/>
                  <a:gd name="T5" fmla="*/ 18 h 174"/>
                  <a:gd name="T6" fmla="*/ 24 w 24"/>
                  <a:gd name="T7" fmla="*/ 0 h 174"/>
                  <a:gd name="T8" fmla="*/ 0 60000 65536"/>
                  <a:gd name="T9" fmla="*/ 0 60000 65536"/>
                  <a:gd name="T10" fmla="*/ 0 60000 65536"/>
                  <a:gd name="T11" fmla="*/ 0 60000 65536"/>
                  <a:gd name="T12" fmla="*/ 0 w 24"/>
                  <a:gd name="T13" fmla="*/ 0 h 174"/>
                  <a:gd name="T14" fmla="*/ 24 w 24"/>
                  <a:gd name="T15" fmla="*/ 174 h 174"/>
                </a:gdLst>
                <a:ahLst/>
                <a:cxnLst>
                  <a:cxn ang="T8">
                    <a:pos x="T0" y="T1"/>
                  </a:cxn>
                  <a:cxn ang="T9">
                    <a:pos x="T2" y="T3"/>
                  </a:cxn>
                  <a:cxn ang="T10">
                    <a:pos x="T4" y="T5"/>
                  </a:cxn>
                  <a:cxn ang="T11">
                    <a:pos x="T6" y="T7"/>
                  </a:cxn>
                </a:cxnLst>
                <a:rect l="T12" t="T13" r="T14" b="T15"/>
                <a:pathLst>
                  <a:path w="24" h="174">
                    <a:moveTo>
                      <a:pt x="0" y="174"/>
                    </a:moveTo>
                    <a:cubicBezTo>
                      <a:pt x="1" y="135"/>
                      <a:pt x="0" y="97"/>
                      <a:pt x="2" y="58"/>
                    </a:cubicBezTo>
                    <a:cubicBezTo>
                      <a:pt x="3" y="47"/>
                      <a:pt x="10" y="28"/>
                      <a:pt x="14" y="18"/>
                    </a:cubicBezTo>
                    <a:cubicBezTo>
                      <a:pt x="16" y="12"/>
                      <a:pt x="24" y="0"/>
                      <a:pt x="24" y="0"/>
                    </a:cubicBezTo>
                  </a:path>
                </a:pathLst>
              </a:custGeom>
              <a:solidFill>
                <a:srgbClr val="FFA64D"/>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ko-KR" altLang="en-US" dirty="0"/>
              </a:p>
            </p:txBody>
          </p:sp>
          <p:sp>
            <p:nvSpPr>
              <p:cNvPr id="188497" name="Freeform 89"/>
              <p:cNvSpPr>
                <a:spLocks/>
              </p:cNvSpPr>
              <p:nvPr/>
            </p:nvSpPr>
            <p:spPr bwMode="auto">
              <a:xfrm>
                <a:off x="1982" y="814"/>
                <a:ext cx="256" cy="351"/>
              </a:xfrm>
              <a:custGeom>
                <a:avLst/>
                <a:gdLst>
                  <a:gd name="T0" fmla="*/ 0 w 182"/>
                  <a:gd name="T1" fmla="*/ 0 h 343"/>
                  <a:gd name="T2" fmla="*/ 911 w 182"/>
                  <a:gd name="T3" fmla="*/ 4 h 343"/>
                  <a:gd name="T4" fmla="*/ 1739 w 182"/>
                  <a:gd name="T5" fmla="*/ 38 h 343"/>
                  <a:gd name="T6" fmla="*/ 1926 w 182"/>
                  <a:gd name="T7" fmla="*/ 54 h 343"/>
                  <a:gd name="T8" fmla="*/ 2213 w 182"/>
                  <a:gd name="T9" fmla="*/ 82 h 343"/>
                  <a:gd name="T10" fmla="*/ 2491 w 182"/>
                  <a:gd name="T11" fmla="*/ 111 h 343"/>
                  <a:gd name="T12" fmla="*/ 2668 w 182"/>
                  <a:gd name="T13" fmla="*/ 148 h 343"/>
                  <a:gd name="T14" fmla="*/ 2785 w 182"/>
                  <a:gd name="T15" fmla="*/ 192 h 343"/>
                  <a:gd name="T16" fmla="*/ 2213 w 182"/>
                  <a:gd name="T17" fmla="*/ 367 h 343"/>
                  <a:gd name="T18" fmla="*/ 1897 w 182"/>
                  <a:gd name="T19" fmla="*/ 411 h 343"/>
                  <a:gd name="T20" fmla="*/ 1845 w 182"/>
                  <a:gd name="T21" fmla="*/ 411 h 3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2"/>
                  <a:gd name="T34" fmla="*/ 0 h 343"/>
                  <a:gd name="T35" fmla="*/ 182 w 182"/>
                  <a:gd name="T36" fmla="*/ 343 h 3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2" h="343">
                    <a:moveTo>
                      <a:pt x="0" y="0"/>
                    </a:moveTo>
                    <a:cubicBezTo>
                      <a:pt x="20" y="1"/>
                      <a:pt x="40" y="2"/>
                      <a:pt x="60" y="4"/>
                    </a:cubicBezTo>
                    <a:cubicBezTo>
                      <a:pt x="80" y="6"/>
                      <a:pt x="97" y="24"/>
                      <a:pt x="114" y="30"/>
                    </a:cubicBezTo>
                    <a:cubicBezTo>
                      <a:pt x="117" y="38"/>
                      <a:pt x="119" y="41"/>
                      <a:pt x="126" y="46"/>
                    </a:cubicBezTo>
                    <a:cubicBezTo>
                      <a:pt x="128" y="53"/>
                      <a:pt x="138" y="60"/>
                      <a:pt x="144" y="66"/>
                    </a:cubicBezTo>
                    <a:cubicBezTo>
                      <a:pt x="148" y="77"/>
                      <a:pt x="153" y="88"/>
                      <a:pt x="162" y="94"/>
                    </a:cubicBezTo>
                    <a:cubicBezTo>
                      <a:pt x="164" y="104"/>
                      <a:pt x="168" y="116"/>
                      <a:pt x="174" y="124"/>
                    </a:cubicBezTo>
                    <a:cubicBezTo>
                      <a:pt x="176" y="136"/>
                      <a:pt x="180" y="148"/>
                      <a:pt x="182" y="160"/>
                    </a:cubicBezTo>
                    <a:cubicBezTo>
                      <a:pt x="181" y="209"/>
                      <a:pt x="182" y="268"/>
                      <a:pt x="144" y="306"/>
                    </a:cubicBezTo>
                    <a:cubicBezTo>
                      <a:pt x="143" y="309"/>
                      <a:pt x="126" y="340"/>
                      <a:pt x="124" y="342"/>
                    </a:cubicBezTo>
                    <a:cubicBezTo>
                      <a:pt x="123" y="343"/>
                      <a:pt x="121" y="342"/>
                      <a:pt x="120" y="34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498" name="Freeform 90"/>
              <p:cNvSpPr>
                <a:spLocks/>
              </p:cNvSpPr>
              <p:nvPr/>
            </p:nvSpPr>
            <p:spPr bwMode="auto">
              <a:xfrm>
                <a:off x="1998" y="754"/>
                <a:ext cx="323" cy="430"/>
              </a:xfrm>
              <a:custGeom>
                <a:avLst/>
                <a:gdLst>
                  <a:gd name="T0" fmla="*/ 0 w 323"/>
                  <a:gd name="T1" fmla="*/ 0 h 430"/>
                  <a:gd name="T2" fmla="*/ 52 w 323"/>
                  <a:gd name="T3" fmla="*/ 10 h 430"/>
                  <a:gd name="T4" fmla="*/ 94 w 323"/>
                  <a:gd name="T5" fmla="*/ 22 h 430"/>
                  <a:gd name="T6" fmla="*/ 138 w 323"/>
                  <a:gd name="T7" fmla="*/ 40 h 430"/>
                  <a:gd name="T8" fmla="*/ 172 w 323"/>
                  <a:gd name="T9" fmla="*/ 52 h 430"/>
                  <a:gd name="T10" fmla="*/ 196 w 323"/>
                  <a:gd name="T11" fmla="*/ 64 h 430"/>
                  <a:gd name="T12" fmla="*/ 216 w 323"/>
                  <a:gd name="T13" fmla="*/ 80 h 430"/>
                  <a:gd name="T14" fmla="*/ 238 w 323"/>
                  <a:gd name="T15" fmla="*/ 98 h 430"/>
                  <a:gd name="T16" fmla="*/ 250 w 323"/>
                  <a:gd name="T17" fmla="*/ 112 h 430"/>
                  <a:gd name="T18" fmla="*/ 274 w 323"/>
                  <a:gd name="T19" fmla="*/ 154 h 430"/>
                  <a:gd name="T20" fmla="*/ 286 w 323"/>
                  <a:gd name="T21" fmla="*/ 184 h 430"/>
                  <a:gd name="T22" fmla="*/ 298 w 323"/>
                  <a:gd name="T23" fmla="*/ 226 h 430"/>
                  <a:gd name="T24" fmla="*/ 304 w 323"/>
                  <a:gd name="T25" fmla="*/ 254 h 430"/>
                  <a:gd name="T26" fmla="*/ 304 w 323"/>
                  <a:gd name="T27" fmla="*/ 394 h 430"/>
                  <a:gd name="T28" fmla="*/ 292 w 323"/>
                  <a:gd name="T29" fmla="*/ 430 h 4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3"/>
                  <a:gd name="T46" fmla="*/ 0 h 430"/>
                  <a:gd name="T47" fmla="*/ 323 w 323"/>
                  <a:gd name="T48" fmla="*/ 430 h 4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3" h="430">
                    <a:moveTo>
                      <a:pt x="0" y="0"/>
                    </a:moveTo>
                    <a:cubicBezTo>
                      <a:pt x="18" y="2"/>
                      <a:pt x="34" y="6"/>
                      <a:pt x="52" y="10"/>
                    </a:cubicBezTo>
                    <a:cubicBezTo>
                      <a:pt x="65" y="16"/>
                      <a:pt x="80" y="20"/>
                      <a:pt x="94" y="22"/>
                    </a:cubicBezTo>
                    <a:cubicBezTo>
                      <a:pt x="107" y="31"/>
                      <a:pt x="123" y="37"/>
                      <a:pt x="138" y="40"/>
                    </a:cubicBezTo>
                    <a:cubicBezTo>
                      <a:pt x="149" y="44"/>
                      <a:pt x="160" y="50"/>
                      <a:pt x="172" y="52"/>
                    </a:cubicBezTo>
                    <a:cubicBezTo>
                      <a:pt x="179" y="57"/>
                      <a:pt x="188" y="61"/>
                      <a:pt x="196" y="64"/>
                    </a:cubicBezTo>
                    <a:cubicBezTo>
                      <a:pt x="199" y="74"/>
                      <a:pt x="208" y="74"/>
                      <a:pt x="216" y="80"/>
                    </a:cubicBezTo>
                    <a:cubicBezTo>
                      <a:pt x="221" y="87"/>
                      <a:pt x="230" y="93"/>
                      <a:pt x="238" y="98"/>
                    </a:cubicBezTo>
                    <a:cubicBezTo>
                      <a:pt x="241" y="106"/>
                      <a:pt x="242" y="109"/>
                      <a:pt x="250" y="112"/>
                    </a:cubicBezTo>
                    <a:cubicBezTo>
                      <a:pt x="255" y="126"/>
                      <a:pt x="263" y="143"/>
                      <a:pt x="274" y="154"/>
                    </a:cubicBezTo>
                    <a:cubicBezTo>
                      <a:pt x="276" y="165"/>
                      <a:pt x="280" y="174"/>
                      <a:pt x="286" y="184"/>
                    </a:cubicBezTo>
                    <a:cubicBezTo>
                      <a:pt x="288" y="199"/>
                      <a:pt x="294" y="212"/>
                      <a:pt x="298" y="226"/>
                    </a:cubicBezTo>
                    <a:cubicBezTo>
                      <a:pt x="300" y="235"/>
                      <a:pt x="304" y="254"/>
                      <a:pt x="304" y="254"/>
                    </a:cubicBezTo>
                    <a:cubicBezTo>
                      <a:pt x="307" y="295"/>
                      <a:pt x="323" y="357"/>
                      <a:pt x="304" y="394"/>
                    </a:cubicBezTo>
                    <a:cubicBezTo>
                      <a:pt x="302" y="405"/>
                      <a:pt x="292" y="419"/>
                      <a:pt x="292" y="43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499" name="Freeform 91"/>
              <p:cNvSpPr>
                <a:spLocks/>
              </p:cNvSpPr>
              <p:nvPr/>
            </p:nvSpPr>
            <p:spPr bwMode="auto">
              <a:xfrm>
                <a:off x="2548" y="807"/>
                <a:ext cx="66" cy="195"/>
              </a:xfrm>
              <a:custGeom>
                <a:avLst/>
                <a:gdLst>
                  <a:gd name="T0" fmla="*/ 26 w 66"/>
                  <a:gd name="T1" fmla="*/ 3 h 195"/>
                  <a:gd name="T2" fmla="*/ 18 w 66"/>
                  <a:gd name="T3" fmla="*/ 11 h 195"/>
                  <a:gd name="T4" fmla="*/ 0 w 66"/>
                  <a:gd name="T5" fmla="*/ 51 h 195"/>
                  <a:gd name="T6" fmla="*/ 12 w 66"/>
                  <a:gd name="T7" fmla="*/ 129 h 195"/>
                  <a:gd name="T8" fmla="*/ 48 w 66"/>
                  <a:gd name="T9" fmla="*/ 179 h 195"/>
                  <a:gd name="T10" fmla="*/ 66 w 66"/>
                  <a:gd name="T11" fmla="*/ 195 h 195"/>
                  <a:gd name="T12" fmla="*/ 0 60000 65536"/>
                  <a:gd name="T13" fmla="*/ 0 60000 65536"/>
                  <a:gd name="T14" fmla="*/ 0 60000 65536"/>
                  <a:gd name="T15" fmla="*/ 0 60000 65536"/>
                  <a:gd name="T16" fmla="*/ 0 60000 65536"/>
                  <a:gd name="T17" fmla="*/ 0 60000 65536"/>
                  <a:gd name="T18" fmla="*/ 0 w 66"/>
                  <a:gd name="T19" fmla="*/ 0 h 195"/>
                  <a:gd name="T20" fmla="*/ 66 w 66"/>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66" h="195">
                    <a:moveTo>
                      <a:pt x="26" y="3"/>
                    </a:moveTo>
                    <a:cubicBezTo>
                      <a:pt x="21" y="19"/>
                      <a:pt x="29" y="0"/>
                      <a:pt x="18" y="11"/>
                    </a:cubicBezTo>
                    <a:cubicBezTo>
                      <a:pt x="10" y="19"/>
                      <a:pt x="4" y="40"/>
                      <a:pt x="0" y="51"/>
                    </a:cubicBezTo>
                    <a:cubicBezTo>
                      <a:pt x="2" y="94"/>
                      <a:pt x="0" y="99"/>
                      <a:pt x="12" y="129"/>
                    </a:cubicBezTo>
                    <a:cubicBezTo>
                      <a:pt x="16" y="151"/>
                      <a:pt x="26" y="172"/>
                      <a:pt x="48" y="179"/>
                    </a:cubicBezTo>
                    <a:cubicBezTo>
                      <a:pt x="51" y="189"/>
                      <a:pt x="59" y="188"/>
                      <a:pt x="66" y="19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00" name="Freeform 92"/>
              <p:cNvSpPr>
                <a:spLocks/>
              </p:cNvSpPr>
              <p:nvPr/>
            </p:nvSpPr>
            <p:spPr bwMode="auto">
              <a:xfrm>
                <a:off x="2566" y="876"/>
                <a:ext cx="62" cy="84"/>
              </a:xfrm>
              <a:custGeom>
                <a:avLst/>
                <a:gdLst>
                  <a:gd name="T0" fmla="*/ 24 w 62"/>
                  <a:gd name="T1" fmla="*/ 0 h 84"/>
                  <a:gd name="T2" fmla="*/ 0 w 62"/>
                  <a:gd name="T3" fmla="*/ 38 h 84"/>
                  <a:gd name="T4" fmla="*/ 30 w 62"/>
                  <a:gd name="T5" fmla="*/ 74 h 84"/>
                  <a:gd name="T6" fmla="*/ 62 w 62"/>
                  <a:gd name="T7" fmla="*/ 84 h 84"/>
                  <a:gd name="T8" fmla="*/ 0 60000 65536"/>
                  <a:gd name="T9" fmla="*/ 0 60000 65536"/>
                  <a:gd name="T10" fmla="*/ 0 60000 65536"/>
                  <a:gd name="T11" fmla="*/ 0 60000 65536"/>
                  <a:gd name="T12" fmla="*/ 0 w 62"/>
                  <a:gd name="T13" fmla="*/ 0 h 84"/>
                  <a:gd name="T14" fmla="*/ 62 w 62"/>
                  <a:gd name="T15" fmla="*/ 84 h 84"/>
                </a:gdLst>
                <a:ahLst/>
                <a:cxnLst>
                  <a:cxn ang="T8">
                    <a:pos x="T0" y="T1"/>
                  </a:cxn>
                  <a:cxn ang="T9">
                    <a:pos x="T2" y="T3"/>
                  </a:cxn>
                  <a:cxn ang="T10">
                    <a:pos x="T4" y="T5"/>
                  </a:cxn>
                  <a:cxn ang="T11">
                    <a:pos x="T6" y="T7"/>
                  </a:cxn>
                </a:cxnLst>
                <a:rect l="T12" t="T13" r="T14" b="T15"/>
                <a:pathLst>
                  <a:path w="62" h="84">
                    <a:moveTo>
                      <a:pt x="24" y="0"/>
                    </a:moveTo>
                    <a:cubicBezTo>
                      <a:pt x="12" y="4"/>
                      <a:pt x="7" y="27"/>
                      <a:pt x="0" y="38"/>
                    </a:cubicBezTo>
                    <a:cubicBezTo>
                      <a:pt x="2" y="64"/>
                      <a:pt x="5" y="70"/>
                      <a:pt x="30" y="74"/>
                    </a:cubicBezTo>
                    <a:cubicBezTo>
                      <a:pt x="41" y="81"/>
                      <a:pt x="49" y="84"/>
                      <a:pt x="62" y="8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01" name="Freeform 93"/>
              <p:cNvSpPr>
                <a:spLocks/>
              </p:cNvSpPr>
              <p:nvPr/>
            </p:nvSpPr>
            <p:spPr bwMode="auto">
              <a:xfrm>
                <a:off x="2523" y="786"/>
                <a:ext cx="135" cy="260"/>
              </a:xfrm>
              <a:custGeom>
                <a:avLst/>
                <a:gdLst>
                  <a:gd name="T0" fmla="*/ 59 w 135"/>
                  <a:gd name="T1" fmla="*/ 0 h 260"/>
                  <a:gd name="T2" fmla="*/ 31 w 135"/>
                  <a:gd name="T3" fmla="*/ 12 h 260"/>
                  <a:gd name="T4" fmla="*/ 19 w 135"/>
                  <a:gd name="T5" fmla="*/ 26 h 260"/>
                  <a:gd name="T6" fmla="*/ 7 w 135"/>
                  <a:gd name="T7" fmla="*/ 50 h 260"/>
                  <a:gd name="T8" fmla="*/ 49 w 135"/>
                  <a:gd name="T9" fmla="*/ 216 h 260"/>
                  <a:gd name="T10" fmla="*/ 135 w 135"/>
                  <a:gd name="T11" fmla="*/ 260 h 260"/>
                  <a:gd name="T12" fmla="*/ 0 60000 65536"/>
                  <a:gd name="T13" fmla="*/ 0 60000 65536"/>
                  <a:gd name="T14" fmla="*/ 0 60000 65536"/>
                  <a:gd name="T15" fmla="*/ 0 60000 65536"/>
                  <a:gd name="T16" fmla="*/ 0 60000 65536"/>
                  <a:gd name="T17" fmla="*/ 0 60000 65536"/>
                  <a:gd name="T18" fmla="*/ 0 w 135"/>
                  <a:gd name="T19" fmla="*/ 0 h 260"/>
                  <a:gd name="T20" fmla="*/ 135 w 135"/>
                  <a:gd name="T21" fmla="*/ 260 h 260"/>
                </a:gdLst>
                <a:ahLst/>
                <a:cxnLst>
                  <a:cxn ang="T12">
                    <a:pos x="T0" y="T1"/>
                  </a:cxn>
                  <a:cxn ang="T13">
                    <a:pos x="T2" y="T3"/>
                  </a:cxn>
                  <a:cxn ang="T14">
                    <a:pos x="T4" y="T5"/>
                  </a:cxn>
                  <a:cxn ang="T15">
                    <a:pos x="T6" y="T7"/>
                  </a:cxn>
                  <a:cxn ang="T16">
                    <a:pos x="T8" y="T9"/>
                  </a:cxn>
                  <a:cxn ang="T17">
                    <a:pos x="T10" y="T11"/>
                  </a:cxn>
                </a:cxnLst>
                <a:rect l="T18" t="T19" r="T20" b="T21"/>
                <a:pathLst>
                  <a:path w="135" h="260">
                    <a:moveTo>
                      <a:pt x="59" y="0"/>
                    </a:moveTo>
                    <a:cubicBezTo>
                      <a:pt x="49" y="2"/>
                      <a:pt x="40" y="6"/>
                      <a:pt x="31" y="12"/>
                    </a:cubicBezTo>
                    <a:cubicBezTo>
                      <a:pt x="28" y="21"/>
                      <a:pt x="23" y="17"/>
                      <a:pt x="19" y="26"/>
                    </a:cubicBezTo>
                    <a:cubicBezTo>
                      <a:pt x="15" y="34"/>
                      <a:pt x="12" y="42"/>
                      <a:pt x="7" y="50"/>
                    </a:cubicBezTo>
                    <a:cubicBezTo>
                      <a:pt x="0" y="92"/>
                      <a:pt x="4" y="186"/>
                      <a:pt x="49" y="216"/>
                    </a:cubicBezTo>
                    <a:cubicBezTo>
                      <a:pt x="57" y="247"/>
                      <a:pt x="108" y="260"/>
                      <a:pt x="135" y="2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02" name="Freeform 94"/>
              <p:cNvSpPr>
                <a:spLocks/>
              </p:cNvSpPr>
              <p:nvPr/>
            </p:nvSpPr>
            <p:spPr bwMode="auto">
              <a:xfrm>
                <a:off x="2476" y="766"/>
                <a:ext cx="138" cy="310"/>
              </a:xfrm>
              <a:custGeom>
                <a:avLst/>
                <a:gdLst>
                  <a:gd name="T0" fmla="*/ 76 w 138"/>
                  <a:gd name="T1" fmla="*/ 0 h 310"/>
                  <a:gd name="T2" fmla="*/ 36 w 138"/>
                  <a:gd name="T3" fmla="*/ 28 h 310"/>
                  <a:gd name="T4" fmla="*/ 6 w 138"/>
                  <a:gd name="T5" fmla="*/ 86 h 310"/>
                  <a:gd name="T6" fmla="*/ 12 w 138"/>
                  <a:gd name="T7" fmla="*/ 166 h 310"/>
                  <a:gd name="T8" fmla="*/ 18 w 138"/>
                  <a:gd name="T9" fmla="*/ 188 h 310"/>
                  <a:gd name="T10" fmla="*/ 60 w 138"/>
                  <a:gd name="T11" fmla="*/ 274 h 310"/>
                  <a:gd name="T12" fmla="*/ 138 w 138"/>
                  <a:gd name="T13" fmla="*/ 310 h 310"/>
                  <a:gd name="T14" fmla="*/ 0 60000 65536"/>
                  <a:gd name="T15" fmla="*/ 0 60000 65536"/>
                  <a:gd name="T16" fmla="*/ 0 60000 65536"/>
                  <a:gd name="T17" fmla="*/ 0 60000 65536"/>
                  <a:gd name="T18" fmla="*/ 0 60000 65536"/>
                  <a:gd name="T19" fmla="*/ 0 60000 65536"/>
                  <a:gd name="T20" fmla="*/ 0 60000 65536"/>
                  <a:gd name="T21" fmla="*/ 0 w 138"/>
                  <a:gd name="T22" fmla="*/ 0 h 310"/>
                  <a:gd name="T23" fmla="*/ 138 w 138"/>
                  <a:gd name="T24" fmla="*/ 310 h 3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8" h="310">
                    <a:moveTo>
                      <a:pt x="76" y="0"/>
                    </a:moveTo>
                    <a:cubicBezTo>
                      <a:pt x="58" y="6"/>
                      <a:pt x="50" y="23"/>
                      <a:pt x="36" y="28"/>
                    </a:cubicBezTo>
                    <a:cubicBezTo>
                      <a:pt x="22" y="42"/>
                      <a:pt x="13" y="67"/>
                      <a:pt x="6" y="86"/>
                    </a:cubicBezTo>
                    <a:cubicBezTo>
                      <a:pt x="2" y="112"/>
                      <a:pt x="0" y="142"/>
                      <a:pt x="12" y="166"/>
                    </a:cubicBezTo>
                    <a:cubicBezTo>
                      <a:pt x="18" y="200"/>
                      <a:pt x="10" y="158"/>
                      <a:pt x="18" y="188"/>
                    </a:cubicBezTo>
                    <a:cubicBezTo>
                      <a:pt x="23" y="208"/>
                      <a:pt x="38" y="267"/>
                      <a:pt x="60" y="274"/>
                    </a:cubicBezTo>
                    <a:cubicBezTo>
                      <a:pt x="74" y="288"/>
                      <a:pt x="119" y="310"/>
                      <a:pt x="138" y="31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03" name="Freeform 95"/>
              <p:cNvSpPr>
                <a:spLocks/>
              </p:cNvSpPr>
              <p:nvPr/>
            </p:nvSpPr>
            <p:spPr bwMode="auto">
              <a:xfrm>
                <a:off x="2391" y="762"/>
                <a:ext cx="121" cy="372"/>
              </a:xfrm>
              <a:custGeom>
                <a:avLst/>
                <a:gdLst>
                  <a:gd name="T0" fmla="*/ 105 w 121"/>
                  <a:gd name="T1" fmla="*/ 0 h 372"/>
                  <a:gd name="T2" fmla="*/ 73 w 121"/>
                  <a:gd name="T3" fmla="*/ 20 h 372"/>
                  <a:gd name="T4" fmla="*/ 49 w 121"/>
                  <a:gd name="T5" fmla="*/ 38 h 372"/>
                  <a:gd name="T6" fmla="*/ 31 w 121"/>
                  <a:gd name="T7" fmla="*/ 68 h 372"/>
                  <a:gd name="T8" fmla="*/ 7 w 121"/>
                  <a:gd name="T9" fmla="*/ 122 h 372"/>
                  <a:gd name="T10" fmla="*/ 31 w 121"/>
                  <a:gd name="T11" fmla="*/ 276 h 372"/>
                  <a:gd name="T12" fmla="*/ 55 w 121"/>
                  <a:gd name="T13" fmla="*/ 320 h 372"/>
                  <a:gd name="T14" fmla="*/ 73 w 121"/>
                  <a:gd name="T15" fmla="*/ 338 h 372"/>
                  <a:gd name="T16" fmla="*/ 99 w 121"/>
                  <a:gd name="T17" fmla="*/ 356 h 372"/>
                  <a:gd name="T18" fmla="*/ 115 w 121"/>
                  <a:gd name="T19" fmla="*/ 368 h 372"/>
                  <a:gd name="T20" fmla="*/ 121 w 121"/>
                  <a:gd name="T21" fmla="*/ 372 h 3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1"/>
                  <a:gd name="T34" fmla="*/ 0 h 372"/>
                  <a:gd name="T35" fmla="*/ 121 w 121"/>
                  <a:gd name="T36" fmla="*/ 372 h 3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1" h="372">
                    <a:moveTo>
                      <a:pt x="105" y="0"/>
                    </a:moveTo>
                    <a:cubicBezTo>
                      <a:pt x="92" y="3"/>
                      <a:pt x="86" y="16"/>
                      <a:pt x="73" y="20"/>
                    </a:cubicBezTo>
                    <a:cubicBezTo>
                      <a:pt x="66" y="27"/>
                      <a:pt x="58" y="35"/>
                      <a:pt x="49" y="38"/>
                    </a:cubicBezTo>
                    <a:cubicBezTo>
                      <a:pt x="45" y="49"/>
                      <a:pt x="36" y="58"/>
                      <a:pt x="31" y="68"/>
                    </a:cubicBezTo>
                    <a:cubicBezTo>
                      <a:pt x="22" y="86"/>
                      <a:pt x="16" y="104"/>
                      <a:pt x="7" y="122"/>
                    </a:cubicBezTo>
                    <a:cubicBezTo>
                      <a:pt x="0" y="167"/>
                      <a:pt x="3" y="234"/>
                      <a:pt x="31" y="276"/>
                    </a:cubicBezTo>
                    <a:cubicBezTo>
                      <a:pt x="35" y="291"/>
                      <a:pt x="44" y="309"/>
                      <a:pt x="55" y="320"/>
                    </a:cubicBezTo>
                    <a:cubicBezTo>
                      <a:pt x="58" y="330"/>
                      <a:pt x="63" y="335"/>
                      <a:pt x="73" y="338"/>
                    </a:cubicBezTo>
                    <a:cubicBezTo>
                      <a:pt x="76" y="348"/>
                      <a:pt x="89" y="353"/>
                      <a:pt x="99" y="356"/>
                    </a:cubicBezTo>
                    <a:cubicBezTo>
                      <a:pt x="104" y="364"/>
                      <a:pt x="107" y="364"/>
                      <a:pt x="115" y="368"/>
                    </a:cubicBezTo>
                    <a:cubicBezTo>
                      <a:pt x="117" y="369"/>
                      <a:pt x="121" y="372"/>
                      <a:pt x="121" y="37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04" name="Freeform 96"/>
              <p:cNvSpPr>
                <a:spLocks/>
              </p:cNvSpPr>
              <p:nvPr/>
            </p:nvSpPr>
            <p:spPr bwMode="auto">
              <a:xfrm>
                <a:off x="2322" y="750"/>
                <a:ext cx="142" cy="450"/>
              </a:xfrm>
              <a:custGeom>
                <a:avLst/>
                <a:gdLst>
                  <a:gd name="T0" fmla="*/ 78 w 142"/>
                  <a:gd name="T1" fmla="*/ 0 h 450"/>
                  <a:gd name="T2" fmla="*/ 64 w 142"/>
                  <a:gd name="T3" fmla="*/ 18 h 450"/>
                  <a:gd name="T4" fmla="*/ 22 w 142"/>
                  <a:gd name="T5" fmla="*/ 86 h 450"/>
                  <a:gd name="T6" fmla="*/ 16 w 142"/>
                  <a:gd name="T7" fmla="*/ 102 h 450"/>
                  <a:gd name="T8" fmla="*/ 10 w 142"/>
                  <a:gd name="T9" fmla="*/ 126 h 450"/>
                  <a:gd name="T10" fmla="*/ 16 w 142"/>
                  <a:gd name="T11" fmla="*/ 258 h 450"/>
                  <a:gd name="T12" fmla="*/ 58 w 142"/>
                  <a:gd name="T13" fmla="*/ 348 h 450"/>
                  <a:gd name="T14" fmla="*/ 84 w 142"/>
                  <a:gd name="T15" fmla="*/ 386 h 450"/>
                  <a:gd name="T16" fmla="*/ 106 w 142"/>
                  <a:gd name="T17" fmla="*/ 404 h 450"/>
                  <a:gd name="T18" fmla="*/ 124 w 142"/>
                  <a:gd name="T19" fmla="*/ 422 h 450"/>
                  <a:gd name="T20" fmla="*/ 142 w 142"/>
                  <a:gd name="T21" fmla="*/ 450 h 4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2"/>
                  <a:gd name="T34" fmla="*/ 0 h 450"/>
                  <a:gd name="T35" fmla="*/ 142 w 142"/>
                  <a:gd name="T36" fmla="*/ 450 h 4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2" h="450">
                    <a:moveTo>
                      <a:pt x="78" y="0"/>
                    </a:moveTo>
                    <a:cubicBezTo>
                      <a:pt x="68" y="14"/>
                      <a:pt x="73" y="9"/>
                      <a:pt x="64" y="18"/>
                    </a:cubicBezTo>
                    <a:cubicBezTo>
                      <a:pt x="56" y="43"/>
                      <a:pt x="32" y="62"/>
                      <a:pt x="22" y="86"/>
                    </a:cubicBezTo>
                    <a:cubicBezTo>
                      <a:pt x="20" y="91"/>
                      <a:pt x="18" y="97"/>
                      <a:pt x="16" y="102"/>
                    </a:cubicBezTo>
                    <a:cubicBezTo>
                      <a:pt x="14" y="110"/>
                      <a:pt x="10" y="126"/>
                      <a:pt x="10" y="126"/>
                    </a:cubicBezTo>
                    <a:cubicBezTo>
                      <a:pt x="7" y="168"/>
                      <a:pt x="0" y="218"/>
                      <a:pt x="16" y="258"/>
                    </a:cubicBezTo>
                    <a:cubicBezTo>
                      <a:pt x="19" y="278"/>
                      <a:pt x="40" y="336"/>
                      <a:pt x="58" y="348"/>
                    </a:cubicBezTo>
                    <a:cubicBezTo>
                      <a:pt x="62" y="359"/>
                      <a:pt x="73" y="382"/>
                      <a:pt x="84" y="386"/>
                    </a:cubicBezTo>
                    <a:cubicBezTo>
                      <a:pt x="90" y="392"/>
                      <a:pt x="98" y="401"/>
                      <a:pt x="106" y="404"/>
                    </a:cubicBezTo>
                    <a:cubicBezTo>
                      <a:pt x="109" y="412"/>
                      <a:pt x="116" y="419"/>
                      <a:pt x="124" y="422"/>
                    </a:cubicBezTo>
                    <a:cubicBezTo>
                      <a:pt x="127" y="430"/>
                      <a:pt x="136" y="444"/>
                      <a:pt x="142" y="45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05" name="Freeform 97"/>
              <p:cNvSpPr>
                <a:spLocks/>
              </p:cNvSpPr>
              <p:nvPr/>
            </p:nvSpPr>
            <p:spPr bwMode="auto">
              <a:xfrm>
                <a:off x="2268" y="742"/>
                <a:ext cx="54" cy="34"/>
              </a:xfrm>
              <a:custGeom>
                <a:avLst/>
                <a:gdLst>
                  <a:gd name="T0" fmla="*/ 0 w 54"/>
                  <a:gd name="T1" fmla="*/ 8 h 34"/>
                  <a:gd name="T2" fmla="*/ 16 w 54"/>
                  <a:gd name="T3" fmla="*/ 32 h 34"/>
                  <a:gd name="T4" fmla="*/ 54 w 54"/>
                  <a:gd name="T5" fmla="*/ 12 h 34"/>
                  <a:gd name="T6" fmla="*/ 38 w 54"/>
                  <a:gd name="T7" fmla="*/ 0 h 34"/>
                  <a:gd name="T8" fmla="*/ 8 w 54"/>
                  <a:gd name="T9" fmla="*/ 2 h 34"/>
                  <a:gd name="T10" fmla="*/ 4 w 54"/>
                  <a:gd name="T11" fmla="*/ 8 h 34"/>
                  <a:gd name="T12" fmla="*/ 0 w 54"/>
                  <a:gd name="T13" fmla="*/ 8 h 34"/>
                  <a:gd name="T14" fmla="*/ 0 60000 65536"/>
                  <a:gd name="T15" fmla="*/ 0 60000 65536"/>
                  <a:gd name="T16" fmla="*/ 0 60000 65536"/>
                  <a:gd name="T17" fmla="*/ 0 60000 65536"/>
                  <a:gd name="T18" fmla="*/ 0 60000 65536"/>
                  <a:gd name="T19" fmla="*/ 0 60000 65536"/>
                  <a:gd name="T20" fmla="*/ 0 60000 65536"/>
                  <a:gd name="T21" fmla="*/ 0 w 54"/>
                  <a:gd name="T22" fmla="*/ 0 h 34"/>
                  <a:gd name="T23" fmla="*/ 54 w 54"/>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4">
                    <a:moveTo>
                      <a:pt x="0" y="8"/>
                    </a:moveTo>
                    <a:cubicBezTo>
                      <a:pt x="6" y="17"/>
                      <a:pt x="8" y="24"/>
                      <a:pt x="16" y="32"/>
                    </a:cubicBezTo>
                    <a:cubicBezTo>
                      <a:pt x="45" y="30"/>
                      <a:pt x="47" y="34"/>
                      <a:pt x="54" y="12"/>
                    </a:cubicBezTo>
                    <a:cubicBezTo>
                      <a:pt x="51" y="3"/>
                      <a:pt x="47" y="2"/>
                      <a:pt x="38" y="0"/>
                    </a:cubicBezTo>
                    <a:cubicBezTo>
                      <a:pt x="28" y="1"/>
                      <a:pt x="18" y="0"/>
                      <a:pt x="8" y="2"/>
                    </a:cubicBezTo>
                    <a:cubicBezTo>
                      <a:pt x="6" y="3"/>
                      <a:pt x="6" y="7"/>
                      <a:pt x="4" y="8"/>
                    </a:cubicBezTo>
                    <a:cubicBezTo>
                      <a:pt x="3" y="9"/>
                      <a:pt x="1" y="8"/>
                      <a:pt x="0" y="8"/>
                    </a:cubicBezTo>
                    <a:close/>
                  </a:path>
                </a:pathLst>
              </a:custGeom>
              <a:solidFill>
                <a:srgbClr val="CCFFFF"/>
              </a:solidFill>
              <a:ln w="9525">
                <a:solidFill>
                  <a:schemeClr val="tx1"/>
                </a:solidFill>
                <a:round/>
                <a:headEnd/>
                <a:tailEnd/>
              </a:ln>
            </p:spPr>
            <p:txBody>
              <a:bodyPr/>
              <a:lstStyle/>
              <a:p>
                <a:endParaRPr lang="ko-KR" altLang="en-US" dirty="0"/>
              </a:p>
            </p:txBody>
          </p:sp>
          <p:sp>
            <p:nvSpPr>
              <p:cNvPr id="188506" name="Freeform 98"/>
              <p:cNvSpPr>
                <a:spLocks/>
              </p:cNvSpPr>
              <p:nvPr/>
            </p:nvSpPr>
            <p:spPr bwMode="auto">
              <a:xfrm>
                <a:off x="2242" y="738"/>
                <a:ext cx="114" cy="48"/>
              </a:xfrm>
              <a:custGeom>
                <a:avLst/>
                <a:gdLst>
                  <a:gd name="T0" fmla="*/ 0 w 114"/>
                  <a:gd name="T1" fmla="*/ 0 h 48"/>
                  <a:gd name="T2" fmla="*/ 14 w 114"/>
                  <a:gd name="T3" fmla="*/ 24 h 48"/>
                  <a:gd name="T4" fmla="*/ 44 w 114"/>
                  <a:gd name="T5" fmla="*/ 48 h 48"/>
                  <a:gd name="T6" fmla="*/ 90 w 114"/>
                  <a:gd name="T7" fmla="*/ 40 h 48"/>
                  <a:gd name="T8" fmla="*/ 114 w 114"/>
                  <a:gd name="T9" fmla="*/ 6 h 48"/>
                  <a:gd name="T10" fmla="*/ 0 60000 65536"/>
                  <a:gd name="T11" fmla="*/ 0 60000 65536"/>
                  <a:gd name="T12" fmla="*/ 0 60000 65536"/>
                  <a:gd name="T13" fmla="*/ 0 60000 65536"/>
                  <a:gd name="T14" fmla="*/ 0 60000 65536"/>
                  <a:gd name="T15" fmla="*/ 0 w 114"/>
                  <a:gd name="T16" fmla="*/ 0 h 48"/>
                  <a:gd name="T17" fmla="*/ 114 w 114"/>
                  <a:gd name="T18" fmla="*/ 48 h 48"/>
                </a:gdLst>
                <a:ahLst/>
                <a:cxnLst>
                  <a:cxn ang="T10">
                    <a:pos x="T0" y="T1"/>
                  </a:cxn>
                  <a:cxn ang="T11">
                    <a:pos x="T2" y="T3"/>
                  </a:cxn>
                  <a:cxn ang="T12">
                    <a:pos x="T4" y="T5"/>
                  </a:cxn>
                  <a:cxn ang="T13">
                    <a:pos x="T6" y="T7"/>
                  </a:cxn>
                  <a:cxn ang="T14">
                    <a:pos x="T8" y="T9"/>
                  </a:cxn>
                </a:cxnLst>
                <a:rect l="T15" t="T16" r="T17" b="T18"/>
                <a:pathLst>
                  <a:path w="114" h="48">
                    <a:moveTo>
                      <a:pt x="0" y="0"/>
                    </a:moveTo>
                    <a:cubicBezTo>
                      <a:pt x="3" y="9"/>
                      <a:pt x="6" y="19"/>
                      <a:pt x="14" y="24"/>
                    </a:cubicBezTo>
                    <a:cubicBezTo>
                      <a:pt x="22" y="36"/>
                      <a:pt x="32" y="40"/>
                      <a:pt x="44" y="48"/>
                    </a:cubicBezTo>
                    <a:cubicBezTo>
                      <a:pt x="82" y="46"/>
                      <a:pt x="69" y="47"/>
                      <a:pt x="90" y="40"/>
                    </a:cubicBezTo>
                    <a:cubicBezTo>
                      <a:pt x="102" y="28"/>
                      <a:pt x="104" y="16"/>
                      <a:pt x="114" y="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07" name="Freeform 99"/>
              <p:cNvSpPr>
                <a:spLocks/>
              </p:cNvSpPr>
              <p:nvPr/>
            </p:nvSpPr>
            <p:spPr bwMode="auto">
              <a:xfrm>
                <a:off x="2208" y="720"/>
                <a:ext cx="168" cy="90"/>
              </a:xfrm>
              <a:custGeom>
                <a:avLst/>
                <a:gdLst>
                  <a:gd name="T0" fmla="*/ 0 w 200"/>
                  <a:gd name="T1" fmla="*/ 0 h 80"/>
                  <a:gd name="T2" fmla="*/ 6 w 200"/>
                  <a:gd name="T3" fmla="*/ 114 h 80"/>
                  <a:gd name="T4" fmla="*/ 9 w 200"/>
                  <a:gd name="T5" fmla="*/ 149 h 80"/>
                  <a:gd name="T6" fmla="*/ 17 w 200"/>
                  <a:gd name="T7" fmla="*/ 190 h 80"/>
                  <a:gd name="T8" fmla="*/ 24 w 200"/>
                  <a:gd name="T9" fmla="*/ 205 h 80"/>
                  <a:gd name="T10" fmla="*/ 42 w 200"/>
                  <a:gd name="T11" fmla="*/ 183 h 80"/>
                  <a:gd name="T12" fmla="*/ 50 w 200"/>
                  <a:gd name="T13" fmla="*/ 158 h 80"/>
                  <a:gd name="T14" fmla="*/ 0 60000 65536"/>
                  <a:gd name="T15" fmla="*/ 0 60000 65536"/>
                  <a:gd name="T16" fmla="*/ 0 60000 65536"/>
                  <a:gd name="T17" fmla="*/ 0 60000 65536"/>
                  <a:gd name="T18" fmla="*/ 0 60000 65536"/>
                  <a:gd name="T19" fmla="*/ 0 60000 65536"/>
                  <a:gd name="T20" fmla="*/ 0 60000 65536"/>
                  <a:gd name="T21" fmla="*/ 0 w 200"/>
                  <a:gd name="T22" fmla="*/ 0 h 80"/>
                  <a:gd name="T23" fmla="*/ 200 w 200"/>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 h="80">
                    <a:moveTo>
                      <a:pt x="0" y="0"/>
                    </a:moveTo>
                    <a:cubicBezTo>
                      <a:pt x="4" y="14"/>
                      <a:pt x="11" y="35"/>
                      <a:pt x="24" y="44"/>
                    </a:cubicBezTo>
                    <a:cubicBezTo>
                      <a:pt x="27" y="52"/>
                      <a:pt x="28" y="55"/>
                      <a:pt x="36" y="58"/>
                    </a:cubicBezTo>
                    <a:cubicBezTo>
                      <a:pt x="40" y="69"/>
                      <a:pt x="58" y="72"/>
                      <a:pt x="68" y="74"/>
                    </a:cubicBezTo>
                    <a:cubicBezTo>
                      <a:pt x="79" y="76"/>
                      <a:pt x="102" y="80"/>
                      <a:pt x="102" y="80"/>
                    </a:cubicBezTo>
                    <a:cubicBezTo>
                      <a:pt x="134" y="79"/>
                      <a:pt x="142" y="76"/>
                      <a:pt x="168" y="72"/>
                    </a:cubicBezTo>
                    <a:cubicBezTo>
                      <a:pt x="177" y="66"/>
                      <a:pt x="189" y="60"/>
                      <a:pt x="200" y="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08" name="AutoShape 100"/>
              <p:cNvSpPr>
                <a:spLocks noChangeArrowheads="1"/>
              </p:cNvSpPr>
              <p:nvPr/>
            </p:nvSpPr>
            <p:spPr bwMode="auto">
              <a:xfrm>
                <a:off x="2271" y="712"/>
                <a:ext cx="47" cy="47"/>
              </a:xfrm>
              <a:prstGeom prst="triangle">
                <a:avLst>
                  <a:gd name="adj" fmla="val 50000"/>
                </a:avLst>
              </a:prstGeom>
              <a:solidFill>
                <a:srgbClr val="FF0000"/>
              </a:solidFill>
              <a:ln w="9525">
                <a:solidFill>
                  <a:schemeClr val="tx1"/>
                </a:solidFill>
                <a:miter lim="800000"/>
                <a:headEnd/>
                <a:tailEnd/>
              </a:ln>
            </p:spPr>
            <p:txBody>
              <a:bodyPr wrap="none" anchor="ctr"/>
              <a:lstStyle/>
              <a:p>
                <a:endParaRPr lang="ko-KR" altLang="en-US" dirty="0"/>
              </a:p>
            </p:txBody>
          </p:sp>
          <p:sp>
            <p:nvSpPr>
              <p:cNvPr id="188509" name="Freeform 101"/>
              <p:cNvSpPr>
                <a:spLocks/>
              </p:cNvSpPr>
              <p:nvPr/>
            </p:nvSpPr>
            <p:spPr bwMode="auto">
              <a:xfrm>
                <a:off x="2026" y="1000"/>
                <a:ext cx="61" cy="117"/>
              </a:xfrm>
              <a:custGeom>
                <a:avLst/>
                <a:gdLst>
                  <a:gd name="T0" fmla="*/ 0 w 61"/>
                  <a:gd name="T1" fmla="*/ 32 h 117"/>
                  <a:gd name="T2" fmla="*/ 18 w 61"/>
                  <a:gd name="T3" fmla="*/ 0 h 117"/>
                  <a:gd name="T4" fmla="*/ 32 w 61"/>
                  <a:gd name="T5" fmla="*/ 2 h 117"/>
                  <a:gd name="T6" fmla="*/ 38 w 61"/>
                  <a:gd name="T7" fmla="*/ 14 h 117"/>
                  <a:gd name="T8" fmla="*/ 54 w 61"/>
                  <a:gd name="T9" fmla="*/ 46 h 117"/>
                  <a:gd name="T10" fmla="*/ 34 w 61"/>
                  <a:gd name="T11" fmla="*/ 116 h 117"/>
                  <a:gd name="T12" fmla="*/ 4 w 61"/>
                  <a:gd name="T13" fmla="*/ 96 h 117"/>
                  <a:gd name="T14" fmla="*/ 0 60000 65536"/>
                  <a:gd name="T15" fmla="*/ 0 60000 65536"/>
                  <a:gd name="T16" fmla="*/ 0 60000 65536"/>
                  <a:gd name="T17" fmla="*/ 0 60000 65536"/>
                  <a:gd name="T18" fmla="*/ 0 60000 65536"/>
                  <a:gd name="T19" fmla="*/ 0 60000 65536"/>
                  <a:gd name="T20" fmla="*/ 0 60000 65536"/>
                  <a:gd name="T21" fmla="*/ 0 w 61"/>
                  <a:gd name="T22" fmla="*/ 0 h 117"/>
                  <a:gd name="T23" fmla="*/ 61 w 61"/>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17">
                    <a:moveTo>
                      <a:pt x="0" y="32"/>
                    </a:moveTo>
                    <a:cubicBezTo>
                      <a:pt x="3" y="20"/>
                      <a:pt x="6" y="4"/>
                      <a:pt x="18" y="0"/>
                    </a:cubicBezTo>
                    <a:cubicBezTo>
                      <a:pt x="23" y="1"/>
                      <a:pt x="28" y="0"/>
                      <a:pt x="32" y="2"/>
                    </a:cubicBezTo>
                    <a:cubicBezTo>
                      <a:pt x="36" y="4"/>
                      <a:pt x="37" y="11"/>
                      <a:pt x="38" y="14"/>
                    </a:cubicBezTo>
                    <a:cubicBezTo>
                      <a:pt x="43" y="25"/>
                      <a:pt x="49" y="35"/>
                      <a:pt x="54" y="46"/>
                    </a:cubicBezTo>
                    <a:cubicBezTo>
                      <a:pt x="52" y="90"/>
                      <a:pt x="61" y="98"/>
                      <a:pt x="34" y="116"/>
                    </a:cubicBezTo>
                    <a:cubicBezTo>
                      <a:pt x="14" y="114"/>
                      <a:pt x="4" y="117"/>
                      <a:pt x="4" y="9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10" name="Freeform 102"/>
              <p:cNvSpPr>
                <a:spLocks/>
              </p:cNvSpPr>
              <p:nvPr/>
            </p:nvSpPr>
            <p:spPr bwMode="auto">
              <a:xfrm>
                <a:off x="2012" y="964"/>
                <a:ext cx="96" cy="196"/>
              </a:xfrm>
              <a:custGeom>
                <a:avLst/>
                <a:gdLst>
                  <a:gd name="T0" fmla="*/ 0 w 96"/>
                  <a:gd name="T1" fmla="*/ 8 h 196"/>
                  <a:gd name="T2" fmla="*/ 20 w 96"/>
                  <a:gd name="T3" fmla="*/ 0 h 196"/>
                  <a:gd name="T4" fmla="*/ 68 w 96"/>
                  <a:gd name="T5" fmla="*/ 20 h 196"/>
                  <a:gd name="T6" fmla="*/ 86 w 96"/>
                  <a:gd name="T7" fmla="*/ 46 h 196"/>
                  <a:gd name="T8" fmla="*/ 56 w 96"/>
                  <a:gd name="T9" fmla="*/ 184 h 196"/>
                  <a:gd name="T10" fmla="*/ 32 w 96"/>
                  <a:gd name="T11" fmla="*/ 196 h 196"/>
                  <a:gd name="T12" fmla="*/ 0 60000 65536"/>
                  <a:gd name="T13" fmla="*/ 0 60000 65536"/>
                  <a:gd name="T14" fmla="*/ 0 60000 65536"/>
                  <a:gd name="T15" fmla="*/ 0 60000 65536"/>
                  <a:gd name="T16" fmla="*/ 0 60000 65536"/>
                  <a:gd name="T17" fmla="*/ 0 60000 65536"/>
                  <a:gd name="T18" fmla="*/ 0 w 96"/>
                  <a:gd name="T19" fmla="*/ 0 h 196"/>
                  <a:gd name="T20" fmla="*/ 96 w 96"/>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96" h="196">
                    <a:moveTo>
                      <a:pt x="0" y="8"/>
                    </a:moveTo>
                    <a:cubicBezTo>
                      <a:pt x="8" y="6"/>
                      <a:pt x="13" y="2"/>
                      <a:pt x="20" y="0"/>
                    </a:cubicBezTo>
                    <a:cubicBezTo>
                      <a:pt x="73" y="4"/>
                      <a:pt x="40" y="1"/>
                      <a:pt x="68" y="20"/>
                    </a:cubicBezTo>
                    <a:cubicBezTo>
                      <a:pt x="71" y="30"/>
                      <a:pt x="76" y="43"/>
                      <a:pt x="86" y="46"/>
                    </a:cubicBezTo>
                    <a:cubicBezTo>
                      <a:pt x="90" y="66"/>
                      <a:pt x="96" y="171"/>
                      <a:pt x="56" y="184"/>
                    </a:cubicBezTo>
                    <a:cubicBezTo>
                      <a:pt x="49" y="191"/>
                      <a:pt x="43" y="196"/>
                      <a:pt x="32" y="19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11" name="Freeform 103"/>
              <p:cNvSpPr>
                <a:spLocks/>
              </p:cNvSpPr>
              <p:nvPr/>
            </p:nvSpPr>
            <p:spPr bwMode="auto">
              <a:xfrm>
                <a:off x="2006" y="931"/>
                <a:ext cx="136" cy="259"/>
              </a:xfrm>
              <a:custGeom>
                <a:avLst/>
                <a:gdLst>
                  <a:gd name="T0" fmla="*/ 0 w 136"/>
                  <a:gd name="T1" fmla="*/ 5 h 259"/>
                  <a:gd name="T2" fmla="*/ 80 w 136"/>
                  <a:gd name="T3" fmla="*/ 7 h 259"/>
                  <a:gd name="T4" fmla="*/ 98 w 136"/>
                  <a:gd name="T5" fmla="*/ 17 h 259"/>
                  <a:gd name="T6" fmla="*/ 110 w 136"/>
                  <a:gd name="T7" fmla="*/ 31 h 259"/>
                  <a:gd name="T8" fmla="*/ 124 w 136"/>
                  <a:gd name="T9" fmla="*/ 61 h 259"/>
                  <a:gd name="T10" fmla="*/ 116 w 136"/>
                  <a:gd name="T11" fmla="*/ 167 h 259"/>
                  <a:gd name="T12" fmla="*/ 80 w 136"/>
                  <a:gd name="T13" fmla="*/ 239 h 259"/>
                  <a:gd name="T14" fmla="*/ 48 w 136"/>
                  <a:gd name="T15" fmla="*/ 259 h 259"/>
                  <a:gd name="T16" fmla="*/ 0 60000 65536"/>
                  <a:gd name="T17" fmla="*/ 0 60000 65536"/>
                  <a:gd name="T18" fmla="*/ 0 60000 65536"/>
                  <a:gd name="T19" fmla="*/ 0 60000 65536"/>
                  <a:gd name="T20" fmla="*/ 0 60000 65536"/>
                  <a:gd name="T21" fmla="*/ 0 60000 65536"/>
                  <a:gd name="T22" fmla="*/ 0 60000 65536"/>
                  <a:gd name="T23" fmla="*/ 0 60000 65536"/>
                  <a:gd name="T24" fmla="*/ 0 w 136"/>
                  <a:gd name="T25" fmla="*/ 0 h 259"/>
                  <a:gd name="T26" fmla="*/ 136 w 136"/>
                  <a:gd name="T27" fmla="*/ 259 h 2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6" h="259">
                    <a:moveTo>
                      <a:pt x="0" y="5"/>
                    </a:moveTo>
                    <a:cubicBezTo>
                      <a:pt x="26" y="0"/>
                      <a:pt x="54" y="2"/>
                      <a:pt x="80" y="7"/>
                    </a:cubicBezTo>
                    <a:cubicBezTo>
                      <a:pt x="86" y="11"/>
                      <a:pt x="92" y="13"/>
                      <a:pt x="98" y="17"/>
                    </a:cubicBezTo>
                    <a:cubicBezTo>
                      <a:pt x="101" y="25"/>
                      <a:pt x="102" y="28"/>
                      <a:pt x="110" y="31"/>
                    </a:cubicBezTo>
                    <a:cubicBezTo>
                      <a:pt x="114" y="42"/>
                      <a:pt x="120" y="50"/>
                      <a:pt x="124" y="61"/>
                    </a:cubicBezTo>
                    <a:cubicBezTo>
                      <a:pt x="123" y="96"/>
                      <a:pt x="136" y="138"/>
                      <a:pt x="116" y="167"/>
                    </a:cubicBezTo>
                    <a:cubicBezTo>
                      <a:pt x="112" y="182"/>
                      <a:pt x="94" y="230"/>
                      <a:pt x="80" y="239"/>
                    </a:cubicBezTo>
                    <a:cubicBezTo>
                      <a:pt x="70" y="246"/>
                      <a:pt x="57" y="250"/>
                      <a:pt x="48" y="259"/>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sp>
            <p:nvSpPr>
              <p:cNvPr id="188512" name="Freeform 104"/>
              <p:cNvSpPr>
                <a:spLocks/>
              </p:cNvSpPr>
              <p:nvPr/>
            </p:nvSpPr>
            <p:spPr bwMode="auto">
              <a:xfrm>
                <a:off x="2068" y="900"/>
                <a:ext cx="102" cy="266"/>
              </a:xfrm>
              <a:custGeom>
                <a:avLst/>
                <a:gdLst>
                  <a:gd name="T0" fmla="*/ 0 w 102"/>
                  <a:gd name="T1" fmla="*/ 0 h 266"/>
                  <a:gd name="T2" fmla="*/ 44 w 102"/>
                  <a:gd name="T3" fmla="*/ 8 h 266"/>
                  <a:gd name="T4" fmla="*/ 62 w 102"/>
                  <a:gd name="T5" fmla="*/ 18 h 266"/>
                  <a:gd name="T6" fmla="*/ 66 w 102"/>
                  <a:gd name="T7" fmla="*/ 24 h 266"/>
                  <a:gd name="T8" fmla="*/ 72 w 102"/>
                  <a:gd name="T9" fmla="*/ 26 h 266"/>
                  <a:gd name="T10" fmla="*/ 80 w 102"/>
                  <a:gd name="T11" fmla="*/ 44 h 266"/>
                  <a:gd name="T12" fmla="*/ 102 w 102"/>
                  <a:gd name="T13" fmla="*/ 96 h 266"/>
                  <a:gd name="T14" fmla="*/ 90 w 102"/>
                  <a:gd name="T15" fmla="*/ 170 h 266"/>
                  <a:gd name="T16" fmla="*/ 64 w 102"/>
                  <a:gd name="T17" fmla="*/ 236 h 266"/>
                  <a:gd name="T18" fmla="*/ 54 w 102"/>
                  <a:gd name="T19" fmla="*/ 254 h 266"/>
                  <a:gd name="T20" fmla="*/ 48 w 102"/>
                  <a:gd name="T21" fmla="*/ 266 h 2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2"/>
                  <a:gd name="T34" fmla="*/ 0 h 266"/>
                  <a:gd name="T35" fmla="*/ 102 w 102"/>
                  <a:gd name="T36" fmla="*/ 266 h 2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2" h="266">
                    <a:moveTo>
                      <a:pt x="0" y="0"/>
                    </a:moveTo>
                    <a:cubicBezTo>
                      <a:pt x="19" y="1"/>
                      <a:pt x="27" y="4"/>
                      <a:pt x="44" y="8"/>
                    </a:cubicBezTo>
                    <a:cubicBezTo>
                      <a:pt x="50" y="12"/>
                      <a:pt x="56" y="14"/>
                      <a:pt x="62" y="18"/>
                    </a:cubicBezTo>
                    <a:cubicBezTo>
                      <a:pt x="63" y="20"/>
                      <a:pt x="64" y="22"/>
                      <a:pt x="66" y="24"/>
                    </a:cubicBezTo>
                    <a:cubicBezTo>
                      <a:pt x="68" y="25"/>
                      <a:pt x="71" y="25"/>
                      <a:pt x="72" y="26"/>
                    </a:cubicBezTo>
                    <a:cubicBezTo>
                      <a:pt x="76" y="30"/>
                      <a:pt x="78" y="39"/>
                      <a:pt x="80" y="44"/>
                    </a:cubicBezTo>
                    <a:cubicBezTo>
                      <a:pt x="89" y="62"/>
                      <a:pt x="97" y="76"/>
                      <a:pt x="102" y="96"/>
                    </a:cubicBezTo>
                    <a:cubicBezTo>
                      <a:pt x="101" y="126"/>
                      <a:pt x="102" y="145"/>
                      <a:pt x="90" y="170"/>
                    </a:cubicBezTo>
                    <a:cubicBezTo>
                      <a:pt x="86" y="192"/>
                      <a:pt x="74" y="216"/>
                      <a:pt x="64" y="236"/>
                    </a:cubicBezTo>
                    <a:cubicBezTo>
                      <a:pt x="61" y="242"/>
                      <a:pt x="57" y="248"/>
                      <a:pt x="54" y="254"/>
                    </a:cubicBezTo>
                    <a:cubicBezTo>
                      <a:pt x="52" y="258"/>
                      <a:pt x="48" y="266"/>
                      <a:pt x="48" y="26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dirty="0"/>
              </a:p>
            </p:txBody>
          </p:sp>
        </p:grpSp>
      </p:grpSp>
    </p:spTree>
    <p:extLst>
      <p:ext uri="{BB962C8B-B14F-4D97-AF65-F5344CB8AC3E}">
        <p14:creationId xmlns:p14="http://schemas.microsoft.com/office/powerpoint/2010/main" val="428705809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9"/>
          <p:cNvSpPr>
            <a:spLocks noChangeArrowheads="1"/>
          </p:cNvSpPr>
          <p:nvPr/>
        </p:nvSpPr>
        <p:spPr bwMode="auto">
          <a:xfrm>
            <a:off x="500063" y="4275138"/>
            <a:ext cx="5116850" cy="289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80000"/>
              </a:lnSpc>
              <a:spcBef>
                <a:spcPct val="20000"/>
              </a:spcBef>
            </a:pPr>
            <a:r>
              <a:rPr lang="en-US" altLang="ko-KR" sz="1600" b="1" dirty="0">
                <a:solidFill>
                  <a:srgbClr val="000000"/>
                </a:solidFill>
                <a:latin typeface="arial" pitchFamily="34" charset="0"/>
                <a:ea typeface="맑은 고딕" pitchFamily="50" charset="-127"/>
              </a:rPr>
              <a:t>“</a:t>
            </a:r>
            <a:r>
              <a:rPr lang="en-US" altLang="ko-KR" sz="1600" b="1" dirty="0" err="1">
                <a:solidFill>
                  <a:srgbClr val="000000"/>
                </a:solidFill>
                <a:latin typeface="arial" pitchFamily="34" charset="0"/>
                <a:ea typeface="맑은 고딕" pitchFamily="50" charset="-127"/>
              </a:rPr>
              <a:t>Thống</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kê</a:t>
            </a:r>
            <a:r>
              <a:rPr lang="en-US" altLang="ko-KR" sz="1600" b="1" dirty="0">
                <a:solidFill>
                  <a:srgbClr val="000000"/>
                </a:solidFill>
                <a:latin typeface="arial" pitchFamily="34" charset="0"/>
                <a:ea typeface="맑은 고딕" pitchFamily="50" charset="-127"/>
              </a:rPr>
              <a:t>”</a:t>
            </a:r>
            <a:r>
              <a:rPr lang="ko-KR" altLang="en-US"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là</a:t>
            </a:r>
            <a:r>
              <a:rPr lang="ko-KR" altLang="en-US" sz="1600" b="1" dirty="0">
                <a:solidFill>
                  <a:srgbClr val="000000"/>
                </a:solidFill>
                <a:latin typeface="arial" pitchFamily="34" charset="0"/>
                <a:ea typeface="맑은 고딕" pitchFamily="50" charset="-127"/>
              </a:rPr>
              <a:t> </a:t>
            </a:r>
            <a:r>
              <a:rPr lang="en-US" altLang="ko-KR" sz="1600" b="1" dirty="0">
                <a:solidFill>
                  <a:srgbClr val="000000"/>
                </a:solidFill>
                <a:latin typeface="arial" pitchFamily="34" charset="0"/>
                <a:ea typeface="맑은 고딕" pitchFamily="50" charset="-127"/>
              </a:rPr>
              <a:t>“</a:t>
            </a:r>
            <a:r>
              <a:rPr lang="en-US" altLang="ko-KR" sz="1600" b="1" dirty="0" err="1">
                <a:solidFill>
                  <a:srgbClr val="000000"/>
                </a:solidFill>
                <a:latin typeface="arial" pitchFamily="34" charset="0"/>
                <a:ea typeface="맑은 고딕" pitchFamily="50" charset="-127"/>
              </a:rPr>
              <a:t>Nghệ</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thuật</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để</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đưa</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ra</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quyết</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a:t>
            </a:r>
          </a:p>
        </p:txBody>
      </p:sp>
      <p:sp>
        <p:nvSpPr>
          <p:cNvPr id="189443"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1. </a:t>
            </a:r>
            <a:r>
              <a:rPr lang="en-US" altLang="ko-KR" sz="2000" b="1" dirty="0" err="1">
                <a:solidFill>
                  <a:srgbClr val="000000"/>
                </a:solidFill>
                <a:latin typeface="arial" pitchFamily="34" charset="0"/>
                <a:ea typeface="맑은 고딕" pitchFamily="50" charset="-127"/>
              </a:rPr>
              <a:t>Giới</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thiệu</a:t>
            </a:r>
            <a:endParaRPr lang="ko-KR" altLang="en-US" sz="2000" b="1" dirty="0">
              <a:solidFill>
                <a:srgbClr val="000000"/>
              </a:solidFill>
              <a:latin typeface="arial" pitchFamily="34" charset="0"/>
              <a:ea typeface="맑은 고딕" pitchFamily="50" charset="-127"/>
            </a:endParaRPr>
          </a:p>
        </p:txBody>
      </p:sp>
      <p:sp>
        <p:nvSpPr>
          <p:cNvPr id="189444" name="Text Box 4"/>
          <p:cNvSpPr txBox="1">
            <a:spLocks noChangeArrowheads="1"/>
          </p:cNvSpPr>
          <p:nvPr/>
        </p:nvSpPr>
        <p:spPr bwMode="auto">
          <a:xfrm>
            <a:off x="776288" y="4634259"/>
            <a:ext cx="8929240" cy="124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177800" indent="-1778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50000"/>
              </a:lnSpc>
              <a:buFont typeface="Wingdings" pitchFamily="2" charset="2"/>
              <a:buChar char="§"/>
            </a:pPr>
            <a:r>
              <a:rPr lang="en-US" altLang="ko-KR" sz="1600" dirty="0" err="1">
                <a:solidFill>
                  <a:srgbClr val="000000"/>
                </a:solidFill>
                <a:latin typeface="arial" pitchFamily="34" charset="0"/>
                <a:ea typeface="맑은 고딕" pitchFamily="50" charset="-127"/>
              </a:rPr>
              <a:t>Thống</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kê</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giúp</a:t>
            </a:r>
            <a:r>
              <a:rPr lang="vi-VN" altLang="ko-KR" sz="1600" dirty="0">
                <a:solidFill>
                  <a:srgbClr val="000000"/>
                </a:solidFill>
                <a:latin typeface="arial" pitchFamily="34" charset="0"/>
                <a:ea typeface="맑은 고딕" pitchFamily="50" charset="-127"/>
              </a:rPr>
              <a:t> hỗ trợ việc ra quyết định trong </a:t>
            </a:r>
            <a:r>
              <a:rPr lang="en-US" altLang="ko-KR" sz="1600" dirty="0" err="1">
                <a:solidFill>
                  <a:srgbClr val="000000"/>
                </a:solidFill>
                <a:latin typeface="arial" pitchFamily="34" charset="0"/>
                <a:ea typeface="맑은 고딕" pitchFamily="50" charset="-127"/>
              </a:rPr>
              <a:t>những</a:t>
            </a:r>
            <a:r>
              <a:rPr lang="vi-VN" altLang="ko-KR" sz="1600" dirty="0">
                <a:solidFill>
                  <a:srgbClr val="000000"/>
                </a:solidFill>
                <a:latin typeface="arial" pitchFamily="34" charset="0"/>
                <a:ea typeface="맑은 고딕" pitchFamily="50" charset="-127"/>
              </a:rPr>
              <a:t> tình huống không rõ ràng.</a:t>
            </a:r>
            <a:endParaRPr lang="en-US" altLang="ko-KR" sz="1600" dirty="0">
              <a:solidFill>
                <a:srgbClr val="000000"/>
              </a:solidFill>
              <a:latin typeface="arial" pitchFamily="34" charset="0"/>
              <a:ea typeface="맑은 고딕" pitchFamily="50" charset="-127"/>
            </a:endParaRPr>
          </a:p>
          <a:p>
            <a:pPr eaLnBrk="1" hangingPunct="1">
              <a:lnSpc>
                <a:spcPct val="150000"/>
              </a:lnSpc>
              <a:buFont typeface="Wingdings" pitchFamily="2" charset="2"/>
              <a:buChar char="§"/>
            </a:pPr>
            <a:r>
              <a:rPr lang="en-US" altLang="ko-KR" sz="1600" dirty="0" err="1">
                <a:solidFill>
                  <a:srgbClr val="000000"/>
                </a:solidFill>
                <a:latin typeface="arial" pitchFamily="34" charset="0"/>
                <a:ea typeface="맑은 고딕" pitchFamily="50" charset="-127"/>
              </a:rPr>
              <a:t>Sử</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dụng</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những</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phân</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tích</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khoa</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học</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nhằm</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xác</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định</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tình</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trạng</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một</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cách</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rõ</a:t>
            </a:r>
            <a:r>
              <a:rPr lang="en-US" altLang="ko-KR" sz="1600" dirty="0">
                <a:solidFill>
                  <a:srgbClr val="000000"/>
                </a:solidFill>
                <a:latin typeface="arial" pitchFamily="34" charset="0"/>
                <a:ea typeface="맑은 고딕" pitchFamily="50" charset="-127"/>
              </a:rPr>
              <a:t> </a:t>
            </a:r>
            <a:r>
              <a:rPr lang="en-US" altLang="ko-KR" sz="1600" dirty="0" err="1">
                <a:solidFill>
                  <a:srgbClr val="000000"/>
                </a:solidFill>
                <a:latin typeface="arial" pitchFamily="34" charset="0"/>
                <a:ea typeface="맑은 고딕" pitchFamily="50" charset="-127"/>
              </a:rPr>
              <a:t>ràng</a:t>
            </a:r>
            <a:r>
              <a:rPr lang="en-US" altLang="ko-KR" sz="1600" dirty="0">
                <a:solidFill>
                  <a:srgbClr val="000000"/>
                </a:solidFill>
                <a:latin typeface="arial" pitchFamily="34" charset="0"/>
                <a:ea typeface="맑은 고딕" pitchFamily="50" charset="-127"/>
              </a:rPr>
              <a:t>.</a:t>
            </a:r>
            <a:endParaRPr lang="ko-KR" altLang="en-US" sz="1600" dirty="0">
              <a:solidFill>
                <a:srgbClr val="000000"/>
              </a:solidFill>
              <a:latin typeface="arial" pitchFamily="34" charset="0"/>
              <a:ea typeface="맑은 고딕" pitchFamily="50" charset="-127"/>
            </a:endParaRPr>
          </a:p>
        </p:txBody>
      </p:sp>
      <p:sp>
        <p:nvSpPr>
          <p:cNvPr id="189445"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sp>
        <p:nvSpPr>
          <p:cNvPr id="10" name="Text Box 4"/>
          <p:cNvSpPr txBox="1">
            <a:spLocks noChangeArrowheads="1"/>
          </p:cNvSpPr>
          <p:nvPr/>
        </p:nvSpPr>
        <p:spPr bwMode="auto">
          <a:xfrm>
            <a:off x="488950" y="1052513"/>
            <a:ext cx="8856663" cy="2732087"/>
          </a:xfrm>
          <a:prstGeom prst="rect">
            <a:avLst/>
          </a:prstGeom>
          <a:solidFill>
            <a:schemeClr val="accent5">
              <a:lumMod val="40000"/>
              <a:lumOff val="60000"/>
            </a:schemeClr>
          </a:solidFill>
          <a:ln w="9525">
            <a:noFill/>
            <a:miter lim="800000"/>
            <a:headEnd/>
            <a:tailEnd/>
          </a:ln>
        </p:spPr>
        <p:txBody>
          <a:bodyPr anchor="ctr"/>
          <a:lstStyle/>
          <a:p>
            <a:pPr marL="177800" indent="-177800">
              <a:buFont typeface="Wingdings" pitchFamily="2" charset="2"/>
              <a:buChar char="§"/>
              <a:defRPr/>
            </a:pPr>
            <a:r>
              <a:rPr lang="en-US" altLang="ko-KR" sz="1400" dirty="0">
                <a:solidFill>
                  <a:prstClr val="black"/>
                </a:solidFill>
                <a:latin typeface="arial" pitchFamily="34" charset="0"/>
                <a:ea typeface="맑은 고딕" pitchFamily="50" charset="-127"/>
              </a:rPr>
              <a:t>EX</a:t>
            </a:r>
            <a:r>
              <a:rPr lang="ko-KR" altLang="en-US" sz="1400" dirty="0">
                <a:solidFill>
                  <a:prstClr val="black"/>
                </a:solidFill>
                <a:latin typeface="arial" pitchFamily="34" charset="0"/>
                <a:ea typeface="맑은 고딕" pitchFamily="50" charset="-127"/>
              </a:rPr>
              <a:t> </a:t>
            </a:r>
            <a:r>
              <a:rPr lang="en-US" altLang="ko-KR" sz="1400" dirty="0">
                <a:solidFill>
                  <a:prstClr val="black"/>
                </a:solidFill>
                <a:latin typeface="arial" pitchFamily="34" charset="0"/>
                <a:ea typeface="맑은 고딕" pitchFamily="50" charset="-127"/>
              </a:rPr>
              <a:t>1 : </a:t>
            </a:r>
            <a:r>
              <a:rPr lang="en-US" altLang="ko-KR" sz="1400" dirty="0" err="1">
                <a:solidFill>
                  <a:prstClr val="black"/>
                </a:solidFill>
                <a:latin typeface="arial" pitchFamily="34" charset="0"/>
                <a:ea typeface="맑은 고딕" pitchFamily="50" charset="-127"/>
              </a:rPr>
              <a:t>Vấn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đề</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về</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xác</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định</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mức</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độ</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ồn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sau</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khi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đã</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thực</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hiện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giải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pháp</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nhằm</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cải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thiện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tiếng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ồn</a:t>
            </a:r>
            <a:r>
              <a:rPr lang="en-US" altLang="ko-KR" sz="1400" dirty="0">
                <a:solidFill>
                  <a:prstClr val="black"/>
                </a:solidFill>
                <a:latin typeface="arial" pitchFamily="34" charset="0"/>
                <a:ea typeface="맑은 고딕" pitchFamily="50" charset="-127"/>
              </a:rPr>
              <a:t>. </a:t>
            </a:r>
          </a:p>
          <a:p>
            <a:pPr marL="177800" indent="-177800">
              <a:buFont typeface="Wingdings" pitchFamily="2" charset="2"/>
              <a:buChar char="§"/>
              <a:defRPr/>
            </a:pPr>
            <a:endParaRPr lang="ko-KR" altLang="en-US" sz="1400" dirty="0">
              <a:solidFill>
                <a:prstClr val="black"/>
              </a:solidFill>
              <a:latin typeface="arial" pitchFamily="34" charset="0"/>
              <a:ea typeface="맑은 고딕" pitchFamily="50" charset="-127"/>
            </a:endParaRPr>
          </a:p>
          <a:p>
            <a:pPr marL="177800" indent="-177800">
              <a:buFont typeface="Wingdings" pitchFamily="2" charset="2"/>
              <a:buChar char="§"/>
              <a:defRPr/>
            </a:pPr>
            <a:r>
              <a:rPr lang="en-US" altLang="ko-KR" sz="1400" dirty="0">
                <a:solidFill>
                  <a:prstClr val="black"/>
                </a:solidFill>
                <a:latin typeface="arial" pitchFamily="34" charset="0"/>
                <a:ea typeface="맑은 고딕" pitchFamily="50" charset="-127"/>
              </a:rPr>
              <a:t>EX 2 : </a:t>
            </a:r>
            <a:r>
              <a:rPr lang="en-US" altLang="ko-KR" sz="1400" dirty="0" err="1">
                <a:solidFill>
                  <a:prstClr val="black"/>
                </a:solidFill>
                <a:latin typeface="arial" pitchFamily="34" charset="0"/>
                <a:ea typeface="맑은 고딕" pitchFamily="50" charset="-127"/>
              </a:rPr>
              <a:t>Vấn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đề</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kiểm</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tra</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lại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mức</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giảm</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thiểu</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tiếng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ồn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tối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thiểu</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phải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giảm</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được</a:t>
            </a:r>
            <a:r>
              <a:rPr lang="en-US" altLang="ko-KR" sz="1400" dirty="0">
                <a:solidFill>
                  <a:prstClr val="black"/>
                </a:solidFill>
                <a:latin typeface="arial" pitchFamily="34" charset="0"/>
                <a:ea typeface="맑은 고딕" pitchFamily="50" charset="-127"/>
              </a:rPr>
              <a:t> 28dB </a:t>
            </a:r>
            <a:r>
              <a:rPr lang="en-US" altLang="ko-KR" sz="1400" dirty="0" err="1">
                <a:solidFill>
                  <a:prstClr val="black"/>
                </a:solidFill>
                <a:latin typeface="arial" pitchFamily="34" charset="0"/>
                <a:ea typeface="맑은 고딕" pitchFamily="50" charset="-127"/>
              </a:rPr>
              <a:t>sau</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khi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thực</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hiện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giải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pháp</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để</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cải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thiện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vấn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đề</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tiếng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ồn</a:t>
            </a:r>
            <a:r>
              <a:rPr lang="en-US" altLang="ko-KR" sz="1400" dirty="0">
                <a:solidFill>
                  <a:prstClr val="black"/>
                </a:solidFill>
                <a:latin typeface="arial" pitchFamily="34" charset="0"/>
                <a:ea typeface="맑은 고딕" pitchFamily="50" charset="-127"/>
              </a:rPr>
              <a:t>.</a:t>
            </a:r>
          </a:p>
          <a:p>
            <a:pPr marL="177800" indent="-177800">
              <a:buFont typeface="Wingdings" pitchFamily="2" charset="2"/>
              <a:buChar char="§"/>
              <a:defRPr/>
            </a:pPr>
            <a:endParaRPr lang="en-US" altLang="ko-KR" sz="1400" dirty="0">
              <a:solidFill>
                <a:prstClr val="black"/>
              </a:solidFill>
              <a:latin typeface="arial" pitchFamily="34" charset="0"/>
              <a:ea typeface="맑은 고딕" pitchFamily="50" charset="-127"/>
            </a:endParaRPr>
          </a:p>
          <a:p>
            <a:pPr marL="177800" indent="-177800">
              <a:buFont typeface="Wingdings" pitchFamily="2" charset="2"/>
              <a:buChar char="§"/>
              <a:defRPr/>
            </a:pPr>
            <a:r>
              <a:rPr lang="en-US" altLang="ko-KR" sz="1400" dirty="0">
                <a:solidFill>
                  <a:prstClr val="black"/>
                </a:solidFill>
                <a:latin typeface="arial" pitchFamily="34" charset="0"/>
                <a:ea typeface="맑은 고딕" pitchFamily="50" charset="-127"/>
              </a:rPr>
              <a:t>EX</a:t>
            </a:r>
            <a:r>
              <a:rPr lang="ko-KR" altLang="en-US" sz="1400" dirty="0">
                <a:solidFill>
                  <a:prstClr val="black"/>
                </a:solidFill>
                <a:latin typeface="arial" pitchFamily="34" charset="0"/>
                <a:ea typeface="맑은 고딕" pitchFamily="50" charset="-127"/>
              </a:rPr>
              <a:t> </a:t>
            </a:r>
            <a:r>
              <a:rPr lang="en-US" altLang="ko-KR" sz="1400" dirty="0">
                <a:solidFill>
                  <a:prstClr val="black"/>
                </a:solidFill>
                <a:latin typeface="arial" pitchFamily="34" charset="0"/>
                <a:ea typeface="맑은 고딕" pitchFamily="50" charset="-127"/>
              </a:rPr>
              <a:t>3 : </a:t>
            </a:r>
            <a:r>
              <a:rPr lang="en-US" altLang="ko-KR" sz="1400" dirty="0" err="1">
                <a:solidFill>
                  <a:prstClr val="black"/>
                </a:solidFill>
                <a:latin typeface="arial" pitchFamily="34" charset="0"/>
                <a:ea typeface="맑은 고딕" pitchFamily="50" charset="-127"/>
              </a:rPr>
              <a:t>Vấn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đề</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tỷ</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lệ</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sản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phẩm</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lỗi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trên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dây</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chuyền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sản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xuất</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khi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sử</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dụng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linh</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kiện</a:t>
            </a:r>
            <a:r>
              <a:rPr lang="en-US" altLang="ko-KR" sz="1400" dirty="0">
                <a:solidFill>
                  <a:prstClr val="black"/>
                </a:solidFill>
                <a:latin typeface="arial" pitchFamily="34" charset="0"/>
                <a:ea typeface="맑은 고딕" pitchFamily="50" charset="-127"/>
              </a:rPr>
              <a:t> do </a:t>
            </a:r>
            <a:r>
              <a:rPr lang="en-US" altLang="ko-KR" sz="1400" dirty="0" err="1">
                <a:solidFill>
                  <a:prstClr val="black"/>
                </a:solidFill>
                <a:latin typeface="arial" pitchFamily="34" charset="0"/>
                <a:ea typeface="맑은 고딕" pitchFamily="50" charset="-127"/>
              </a:rPr>
              <a:t>nhà</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cung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cấp</a:t>
            </a:r>
            <a:r>
              <a:rPr lang="en-US" altLang="ko-KR" sz="1400" dirty="0">
                <a:solidFill>
                  <a:prstClr val="black"/>
                </a:solidFill>
                <a:latin typeface="arial" pitchFamily="34" charset="0"/>
                <a:ea typeface="맑은 고딕" pitchFamily="50" charset="-127"/>
              </a:rPr>
              <a:t> A </a:t>
            </a:r>
            <a:r>
              <a:rPr lang="en-US" altLang="ko-KR" sz="1400" dirty="0" err="1">
                <a:solidFill>
                  <a:prstClr val="black"/>
                </a:solidFill>
                <a:latin typeface="arial" pitchFamily="34" charset="0"/>
                <a:ea typeface="맑은 고딕" pitchFamily="50" charset="-127"/>
              </a:rPr>
              <a:t>sản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xuất</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có</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cao</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hơn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khi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sử</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dụng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linh</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kiện</a:t>
            </a:r>
            <a:r>
              <a:rPr lang="en-US" altLang="ko-KR" sz="1400" dirty="0">
                <a:solidFill>
                  <a:prstClr val="black"/>
                </a:solidFill>
                <a:latin typeface="arial" pitchFamily="34" charset="0"/>
                <a:ea typeface="맑은 고딕" pitchFamily="50" charset="-127"/>
              </a:rPr>
              <a:t> do </a:t>
            </a:r>
            <a:r>
              <a:rPr lang="en-US" altLang="ko-KR" sz="1400" dirty="0" err="1">
                <a:solidFill>
                  <a:prstClr val="black"/>
                </a:solidFill>
                <a:latin typeface="arial" pitchFamily="34" charset="0"/>
                <a:ea typeface="맑은 고딕" pitchFamily="50" charset="-127"/>
              </a:rPr>
              <a:t>nhà</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cung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cấp</a:t>
            </a:r>
            <a:r>
              <a:rPr lang="en-US" altLang="ko-KR" sz="1400" dirty="0">
                <a:solidFill>
                  <a:prstClr val="black"/>
                </a:solidFill>
                <a:latin typeface="arial" pitchFamily="34" charset="0"/>
                <a:ea typeface="맑은 고딕" pitchFamily="50" charset="-127"/>
              </a:rPr>
              <a:t> B </a:t>
            </a:r>
            <a:r>
              <a:rPr lang="en-US" altLang="ko-KR" sz="1400" dirty="0" err="1">
                <a:solidFill>
                  <a:prstClr val="black"/>
                </a:solidFill>
                <a:latin typeface="arial" pitchFamily="34" charset="0"/>
                <a:ea typeface="맑은 고딕" pitchFamily="50" charset="-127"/>
              </a:rPr>
              <a:t>sản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xuất</a:t>
            </a:r>
            <a:r>
              <a:rPr lang="en-US" altLang="ko-KR" sz="1400" dirty="0">
                <a:solidFill>
                  <a:prstClr val="black"/>
                </a:solidFill>
                <a:latin typeface="arial" pitchFamily="34" charset="0"/>
                <a:ea typeface="맑은 고딕" pitchFamily="50" charset="-127"/>
              </a:rPr>
              <a:t> hay </a:t>
            </a:r>
            <a:r>
              <a:rPr lang="en-US" altLang="ko-KR" sz="1400" dirty="0" err="1">
                <a:solidFill>
                  <a:prstClr val="black"/>
                </a:solidFill>
                <a:latin typeface="arial" pitchFamily="34" charset="0"/>
                <a:ea typeface="맑은 고딕" pitchFamily="50" charset="-127"/>
              </a:rPr>
              <a:t>không</a:t>
            </a:r>
            <a:r>
              <a:rPr lang="en-US" altLang="ko-KR" sz="1400" dirty="0">
                <a:solidFill>
                  <a:prstClr val="black"/>
                </a:solidFill>
                <a:latin typeface="arial" pitchFamily="34" charset="0"/>
                <a:ea typeface="맑은 고딕" pitchFamily="50" charset="-127"/>
              </a:rPr>
              <a:t>.</a:t>
            </a:r>
          </a:p>
          <a:p>
            <a:pPr marL="177800" indent="-177800">
              <a:defRPr/>
            </a:pPr>
            <a:endParaRPr lang="en-US" altLang="ko-KR" sz="1400" dirty="0">
              <a:solidFill>
                <a:prstClr val="black"/>
              </a:solidFill>
              <a:latin typeface="arial" pitchFamily="34" charset="0"/>
              <a:ea typeface="맑은 고딕" pitchFamily="50" charset="-127"/>
            </a:endParaRPr>
          </a:p>
          <a:p>
            <a:pPr marL="177800" indent="-177800">
              <a:buFont typeface="Wingdings" pitchFamily="2" charset="2"/>
              <a:buChar char="§"/>
              <a:defRPr/>
            </a:pPr>
            <a:r>
              <a:rPr lang="en-US" altLang="ko-KR" sz="1400" dirty="0">
                <a:solidFill>
                  <a:prstClr val="black"/>
                </a:solidFill>
                <a:latin typeface="arial" pitchFamily="34" charset="0"/>
                <a:ea typeface="맑은 고딕" pitchFamily="50" charset="-127"/>
              </a:rPr>
              <a:t>EX</a:t>
            </a:r>
            <a:r>
              <a:rPr lang="ko-KR" altLang="en-US" sz="1400" dirty="0">
                <a:solidFill>
                  <a:prstClr val="black"/>
                </a:solidFill>
                <a:latin typeface="arial" pitchFamily="34" charset="0"/>
                <a:ea typeface="맑은 고딕" pitchFamily="50" charset="-127"/>
              </a:rPr>
              <a:t> </a:t>
            </a:r>
            <a:r>
              <a:rPr lang="en-US" altLang="ko-KR" sz="1400" dirty="0">
                <a:solidFill>
                  <a:prstClr val="black"/>
                </a:solidFill>
                <a:latin typeface="arial" pitchFamily="34" charset="0"/>
                <a:ea typeface="맑은 고딕" pitchFamily="50" charset="-127"/>
              </a:rPr>
              <a:t>4 : </a:t>
            </a:r>
            <a:r>
              <a:rPr lang="en-US" altLang="ko-KR" sz="1400" dirty="0" err="1">
                <a:solidFill>
                  <a:prstClr val="black"/>
                </a:solidFill>
                <a:latin typeface="arial" pitchFamily="34" charset="0"/>
                <a:ea typeface="맑은 고딕" pitchFamily="50" charset="-127"/>
              </a:rPr>
              <a:t>Vấn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đề</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kiểm</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tra</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xem</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tỷ</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lệ</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lỗi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có</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giảm</a:t>
            </a:r>
            <a:r>
              <a:rPr lang="en-US" altLang="ko-KR" sz="1400" dirty="0">
                <a:solidFill>
                  <a:prstClr val="black"/>
                </a:solidFill>
                <a:latin typeface="arial" pitchFamily="34" charset="0"/>
                <a:ea typeface="맑은 고딕" pitchFamily="50" charset="-127"/>
              </a:rPr>
              <a:t> 5% </a:t>
            </a:r>
            <a:r>
              <a:rPr lang="en-US" altLang="ko-KR" sz="1400" dirty="0" err="1">
                <a:solidFill>
                  <a:prstClr val="black"/>
                </a:solidFill>
                <a:latin typeface="arial" pitchFamily="34" charset="0"/>
                <a:ea typeface="맑은 고딕" pitchFamily="50" charset="-127"/>
              </a:rPr>
              <a:t>khi</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sử</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dụng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linh</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kiện</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từ</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nhà</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cung</a:t>
            </a:r>
            <a:r>
              <a:rPr lang="en-US" altLang="ko-KR" sz="1400" dirty="0">
                <a:solidFill>
                  <a:prstClr val="black"/>
                </a:solidFill>
                <a:latin typeface="arial" pitchFamily="34" charset="0"/>
                <a:ea typeface="맑은 고딕" pitchFamily="50" charset="-127"/>
              </a:rPr>
              <a:t> </a:t>
            </a:r>
            <a:r>
              <a:rPr lang="en-US" altLang="ko-KR" sz="1400" dirty="0" err="1">
                <a:solidFill>
                  <a:prstClr val="black"/>
                </a:solidFill>
                <a:latin typeface="arial" pitchFamily="34" charset="0"/>
                <a:ea typeface="맑은 고딕" pitchFamily="50" charset="-127"/>
              </a:rPr>
              <a:t>cấp</a:t>
            </a:r>
            <a:r>
              <a:rPr lang="en-US" altLang="ko-KR" sz="1400" dirty="0">
                <a:solidFill>
                  <a:prstClr val="black"/>
                </a:solidFill>
                <a:latin typeface="arial" pitchFamily="34" charset="0"/>
                <a:ea typeface="맑은 고딕" pitchFamily="50" charset="-127"/>
              </a:rPr>
              <a:t> A hay </a:t>
            </a:r>
            <a:r>
              <a:rPr lang="en-US" altLang="ko-KR" sz="1400" dirty="0" err="1">
                <a:solidFill>
                  <a:prstClr val="black"/>
                </a:solidFill>
                <a:latin typeface="arial" pitchFamily="34" charset="0"/>
                <a:ea typeface="맑은 고딕" pitchFamily="50" charset="-127"/>
              </a:rPr>
              <a:t>không</a:t>
            </a:r>
            <a:r>
              <a:rPr lang="en-US" altLang="ko-KR" sz="1400" dirty="0">
                <a:solidFill>
                  <a:prstClr val="black"/>
                </a:solidFill>
                <a:latin typeface="arial" pitchFamily="34" charset="0"/>
                <a:ea typeface="맑은 고딕" pitchFamily="50" charset="-127"/>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161</a:t>
            </a:fld>
            <a:endParaRPr lang="ko-KR" altLang="en-US" dirty="0"/>
          </a:p>
        </p:txBody>
      </p:sp>
    </p:spTree>
    <p:extLst>
      <p:ext uri="{BB962C8B-B14F-4D97-AF65-F5344CB8AC3E}">
        <p14:creationId xmlns:p14="http://schemas.microsoft.com/office/powerpoint/2010/main" val="1882976274"/>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2. </a:t>
            </a:r>
            <a:r>
              <a:rPr lang="en-US" altLang="ko-KR" sz="2000" b="1" dirty="0" err="1">
                <a:solidFill>
                  <a:srgbClr val="000000"/>
                </a:solidFill>
                <a:latin typeface="arial" pitchFamily="34" charset="0"/>
                <a:ea typeface="맑은 고딕" pitchFamily="50" charset="-127"/>
              </a:rPr>
              <a:t>Định</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nghĩa</a:t>
            </a:r>
            <a:endParaRPr lang="ko-KR" altLang="en-US" sz="2000" b="1" dirty="0">
              <a:solidFill>
                <a:srgbClr val="000000"/>
              </a:solidFill>
              <a:latin typeface="arial" pitchFamily="34" charset="0"/>
              <a:ea typeface="맑은 고딕" pitchFamily="50" charset="-127"/>
            </a:endParaRPr>
          </a:p>
        </p:txBody>
      </p:sp>
      <p:sp>
        <p:nvSpPr>
          <p:cNvPr id="190467"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sp>
        <p:nvSpPr>
          <p:cNvPr id="190479" name="직사각형 18"/>
          <p:cNvSpPr>
            <a:spLocks noChangeArrowheads="1"/>
          </p:cNvSpPr>
          <p:nvPr/>
        </p:nvSpPr>
        <p:spPr bwMode="auto">
          <a:xfrm>
            <a:off x="488950" y="1196974"/>
            <a:ext cx="4032002" cy="2523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indent="111125"/>
            <a:r>
              <a:rPr lang="en-US" altLang="ko-KR" sz="1400" b="1" dirty="0" err="1">
                <a:solidFill>
                  <a:srgbClr val="000000"/>
                </a:solidFill>
                <a:latin typeface="arial" pitchFamily="34" charset="0"/>
                <a:ea typeface="맑은 고딕" pitchFamily="50" charset="-127"/>
              </a:rPr>
              <a:t>Kiểm</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định</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giả</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thuyết</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thống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kê</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là</a:t>
            </a:r>
            <a:r>
              <a:rPr lang="en-US" altLang="ko-KR" sz="1400" b="1" dirty="0">
                <a:solidFill>
                  <a:srgbClr val="000000"/>
                </a:solidFill>
                <a:latin typeface="arial" pitchFamily="34" charset="0"/>
                <a:ea typeface="맑은 고딕" pitchFamily="50" charset="-127"/>
              </a:rPr>
              <a:t>…</a:t>
            </a:r>
          </a:p>
          <a:p>
            <a:pPr indent="111125"/>
            <a:endParaRPr lang="en-US" altLang="ko-KR" sz="1200" dirty="0">
              <a:solidFill>
                <a:srgbClr val="000000"/>
              </a:solidFill>
              <a:latin typeface="arial" pitchFamily="34" charset="0"/>
              <a:ea typeface="맑은 고딕" pitchFamily="50" charset="-127"/>
            </a:endParaRPr>
          </a:p>
          <a:p>
            <a:pPr indent="111125"/>
            <a:r>
              <a:rPr lang="en-US" altLang="ko-KR" sz="1200" b="1" dirty="0" err="1">
                <a:solidFill>
                  <a:srgbClr val="000000"/>
                </a:solidFill>
                <a:latin typeface="arial" pitchFamily="34" charset="0"/>
                <a:ea typeface="맑은 고딕" pitchFamily="50" charset="-127"/>
              </a:rPr>
              <a:t>Thiết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lập</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giả</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thuyết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về</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đặc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điểm</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của</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tổng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thể</a:t>
            </a:r>
            <a:endParaRPr lang="en-US" altLang="ko-KR" sz="1200" b="1" dirty="0">
              <a:solidFill>
                <a:srgbClr val="000000"/>
              </a:solidFill>
              <a:latin typeface="arial" pitchFamily="34" charset="0"/>
              <a:ea typeface="맑은 고딕" pitchFamily="50" charset="-127"/>
            </a:endParaRPr>
          </a:p>
          <a:p>
            <a:pPr indent="111125"/>
            <a:r>
              <a:rPr lang="en-US" altLang="ko-KR" sz="1200" dirty="0">
                <a:solidFill>
                  <a:srgbClr val="000000"/>
                </a:solidFill>
                <a:latin typeface="arial" pitchFamily="34" charset="0"/>
                <a:ea typeface="맑은 고딕" pitchFamily="50" charset="-127"/>
              </a:rPr>
              <a:t>(</a:t>
            </a:r>
            <a:r>
              <a:rPr lang="en-US" altLang="ko-KR" sz="1200" dirty="0">
                <a:latin typeface="arial" pitchFamily="34" charset="0"/>
                <a:ea typeface="맑은 고딕" panose="020B0503020000020004" pitchFamily="50" charset="-127"/>
              </a:rPr>
              <a:t>VD: </a:t>
            </a:r>
            <a:r>
              <a:rPr lang="en-US" altLang="ko-KR" sz="1200" dirty="0" err="1">
                <a:latin typeface="arial" pitchFamily="34" charset="0"/>
                <a:ea typeface="맑은 고딕" panose="020B0503020000020004" pitchFamily="50" charset="-127"/>
              </a:rPr>
              <a:t>Chiều</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cao</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trung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bình</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của</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người</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trưởng</a:t>
            </a:r>
            <a:r>
              <a:rPr lang="en-US" altLang="ko-KR" sz="1200" dirty="0">
                <a:latin typeface="arial" pitchFamily="34" charset="0"/>
                <a:ea typeface="맑은 고딕" panose="020B0503020000020004" pitchFamily="50" charset="-127"/>
              </a:rPr>
              <a:t> </a:t>
            </a:r>
            <a:r>
              <a:rPr lang="en-US" altLang="ko-KR" sz="1200" dirty="0" err="1">
                <a:latin typeface="arial" pitchFamily="34" charset="0"/>
                <a:ea typeface="맑은 고딕" panose="020B0503020000020004" pitchFamily="50" charset="-127"/>
              </a:rPr>
              <a:t>thành</a:t>
            </a:r>
            <a:r>
              <a:rPr lang="en-US" altLang="ko-KR" sz="1200" dirty="0">
                <a:latin typeface="arial" pitchFamily="34" charset="0"/>
                <a:ea typeface="맑은 고딕" panose="020B0503020000020004" pitchFamily="50" charset="-127"/>
              </a:rPr>
              <a:t> ở Việt Nam </a:t>
            </a:r>
            <a:r>
              <a:rPr lang="en-US" altLang="ko-KR" sz="1200" dirty="0" err="1">
                <a:latin typeface="arial" pitchFamily="34" charset="0"/>
                <a:ea typeface="맑은 고딕" panose="020B0503020000020004" pitchFamily="50" charset="-127"/>
              </a:rPr>
              <a:t>là</a:t>
            </a:r>
            <a:r>
              <a:rPr lang="en-US" altLang="ko-KR" sz="1200" dirty="0">
                <a:latin typeface="arial" pitchFamily="34" charset="0"/>
                <a:ea typeface="맑은 고딕" panose="020B0503020000020004" pitchFamily="50" charset="-127"/>
              </a:rPr>
              <a:t> 180 cm</a:t>
            </a:r>
            <a:r>
              <a:rPr lang="en-US" altLang="ko-KR" sz="1200" dirty="0">
                <a:solidFill>
                  <a:srgbClr val="000000"/>
                </a:solidFill>
                <a:latin typeface="arial" pitchFamily="34" charset="0"/>
                <a:ea typeface="맑은 고딕" pitchFamily="50" charset="-127"/>
              </a:rPr>
              <a:t>)</a:t>
            </a:r>
          </a:p>
          <a:p>
            <a:pPr indent="111125"/>
            <a:endParaRPr lang="en-US" altLang="ko-KR" sz="1200" dirty="0">
              <a:solidFill>
                <a:srgbClr val="000000"/>
              </a:solidFill>
              <a:latin typeface="arial" pitchFamily="34" charset="0"/>
              <a:ea typeface="맑은 고딕" pitchFamily="50" charset="-127"/>
            </a:endParaRPr>
          </a:p>
          <a:p>
            <a:pPr indent="111125"/>
            <a:r>
              <a:rPr lang="en-US" altLang="ko-KR" sz="1200" b="1" dirty="0" err="1">
                <a:solidFill>
                  <a:srgbClr val="000000"/>
                </a:solidFill>
                <a:latin typeface="arial" pitchFamily="34" charset="0"/>
                <a:ea typeface="맑은 고딕" pitchFamily="50" charset="-127"/>
              </a:rPr>
              <a:t>Lấy</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mẫu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đại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diện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cho</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tổng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thể</a:t>
            </a:r>
            <a:endParaRPr lang="en-US" altLang="ko-KR" sz="1200" b="1" dirty="0">
              <a:solidFill>
                <a:srgbClr val="000000"/>
              </a:solidFill>
              <a:latin typeface="arial" pitchFamily="34" charset="0"/>
              <a:ea typeface="맑은 고딕" pitchFamily="50" charset="-127"/>
            </a:endParaRPr>
          </a:p>
          <a:p>
            <a:pPr indent="111125"/>
            <a:r>
              <a:rPr lang="en-US" altLang="ko-KR" sz="1200" dirty="0">
                <a:solidFill>
                  <a:srgbClr val="000000"/>
                </a:solidFill>
                <a:latin typeface="arial" pitchFamily="34" charset="0"/>
                <a:ea typeface="맑은 고딕" pitchFamily="50" charset="-127"/>
              </a:rPr>
              <a:t>(VD: </a:t>
            </a:r>
            <a:r>
              <a:rPr lang="en-US" altLang="ko-KR" sz="1200" dirty="0" err="1">
                <a:solidFill>
                  <a:srgbClr val="000000"/>
                </a:solidFill>
                <a:latin typeface="arial" pitchFamily="34" charset="0"/>
                <a:ea typeface="맑은 고딕" pitchFamily="50" charset="-127"/>
              </a:rPr>
              <a:t>Ngẫu</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nhiên</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lựa</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chọn</a:t>
            </a:r>
            <a:r>
              <a:rPr lang="en-US" altLang="ko-KR" sz="1200" dirty="0">
                <a:solidFill>
                  <a:srgbClr val="000000"/>
                </a:solidFill>
                <a:latin typeface="arial" pitchFamily="34" charset="0"/>
                <a:ea typeface="맑은 고딕" pitchFamily="50" charset="-127"/>
              </a:rPr>
              <a:t> 100 </a:t>
            </a:r>
            <a:r>
              <a:rPr lang="en-US" altLang="ko-KR" sz="1200" dirty="0" err="1">
                <a:solidFill>
                  <a:srgbClr val="000000"/>
                </a:solidFill>
                <a:latin typeface="arial" pitchFamily="34" charset="0"/>
                <a:ea typeface="맑은 고딕" pitchFamily="50" charset="-127"/>
              </a:rPr>
              <a:t>người</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trên</a:t>
            </a:r>
            <a:r>
              <a:rPr lang="en-US" altLang="ko-KR" sz="1200" dirty="0">
                <a:solidFill>
                  <a:srgbClr val="000000"/>
                </a:solidFill>
                <a:latin typeface="arial" pitchFamily="34" charset="0"/>
                <a:ea typeface="맑은 고딕" pitchFamily="50" charset="-127"/>
              </a:rPr>
              <a:t> 20 </a:t>
            </a:r>
            <a:r>
              <a:rPr lang="en-US" altLang="ko-KR" sz="1200" dirty="0" err="1">
                <a:solidFill>
                  <a:srgbClr val="000000"/>
                </a:solidFill>
                <a:latin typeface="arial" pitchFamily="34" charset="0"/>
                <a:ea typeface="맑은 고딕" pitchFamily="50" charset="-127"/>
              </a:rPr>
              <a:t>tuổi</a:t>
            </a:r>
            <a:r>
              <a:rPr lang="en-US" altLang="ko-KR" sz="1200" dirty="0">
                <a:solidFill>
                  <a:srgbClr val="000000"/>
                </a:solidFill>
                <a:latin typeface="arial" pitchFamily="34" charset="0"/>
                <a:ea typeface="맑은 고딕" pitchFamily="50" charset="-127"/>
              </a:rPr>
              <a:t>)</a:t>
            </a:r>
          </a:p>
          <a:p>
            <a:pPr indent="111125"/>
            <a:endParaRPr lang="en-US" altLang="ko-KR" sz="1200" dirty="0">
              <a:solidFill>
                <a:srgbClr val="000000"/>
              </a:solidFill>
              <a:latin typeface="arial" pitchFamily="34" charset="0"/>
              <a:ea typeface="맑은 고딕" pitchFamily="50" charset="-127"/>
            </a:endParaRPr>
          </a:p>
          <a:p>
            <a:pPr indent="111125"/>
            <a:r>
              <a:rPr lang="en-US" altLang="ko-KR" sz="1200" b="1" dirty="0" err="1">
                <a:solidFill>
                  <a:srgbClr val="000000"/>
                </a:solidFill>
                <a:latin typeface="arial" pitchFamily="34" charset="0"/>
                <a:ea typeface="맑은 고딕" pitchFamily="50" charset="-127"/>
              </a:rPr>
              <a:t>Đánh</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giá</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tính</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xác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thực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của</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giả</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thuyết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thông</a:t>
            </a:r>
            <a:r>
              <a:rPr lang="en-US" altLang="ko-KR" sz="1200" b="1" dirty="0">
                <a:solidFill>
                  <a:srgbClr val="000000"/>
                </a:solidFill>
                <a:latin typeface="arial" pitchFamily="34" charset="0"/>
                <a:ea typeface="맑은 고딕" pitchFamily="50" charset="-127"/>
              </a:rPr>
              <a:t> qua </a:t>
            </a:r>
            <a:r>
              <a:rPr lang="en-US" altLang="ko-KR" sz="1200" b="1" dirty="0" err="1">
                <a:solidFill>
                  <a:srgbClr val="000000"/>
                </a:solidFill>
                <a:latin typeface="arial" pitchFamily="34" charset="0"/>
                <a:ea typeface="맑은 고딕" pitchFamily="50" charset="-127"/>
              </a:rPr>
              <a:t>các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dữ</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liệu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mẫu</a:t>
            </a:r>
            <a:r>
              <a:rPr lang="en-US" altLang="ko-KR" sz="1200" b="1" dirty="0">
                <a:solidFill>
                  <a:srgbClr val="000000"/>
                </a:solidFill>
                <a:latin typeface="arial" pitchFamily="34" charset="0"/>
                <a:ea typeface="맑은 고딕" pitchFamily="50" charset="-127"/>
              </a:rPr>
              <a:t>.</a:t>
            </a:r>
          </a:p>
          <a:p>
            <a:pPr indent="111125"/>
            <a:r>
              <a:rPr lang="en-US" altLang="ko-KR" sz="1200" dirty="0">
                <a:solidFill>
                  <a:srgbClr val="000000"/>
                </a:solidFill>
                <a:latin typeface="arial" pitchFamily="34" charset="0"/>
                <a:ea typeface="맑은 고딕" pitchFamily="50" charset="-127"/>
              </a:rPr>
              <a:t>(</a:t>
            </a:r>
            <a:r>
              <a:rPr lang="en-US" altLang="ko-KR" sz="1200" dirty="0">
                <a:solidFill>
                  <a:prstClr val="black"/>
                </a:solidFill>
                <a:latin typeface="arial" pitchFamily="34" charset="0"/>
                <a:ea typeface="맑은 고딕" panose="020B0503020000020004" pitchFamily="50" charset="-127"/>
              </a:rPr>
              <a:t>VD: </a:t>
            </a:r>
            <a:r>
              <a:rPr lang="en-US" altLang="ko-KR" sz="1200" dirty="0" err="1">
                <a:solidFill>
                  <a:prstClr val="black"/>
                </a:solidFill>
                <a:latin typeface="arial" pitchFamily="34" charset="0"/>
                <a:ea typeface="맑은 고딕" panose="020B0503020000020004" pitchFamily="50" charset="-127"/>
              </a:rPr>
              <a:t>Chiều</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cao</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trung</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bình</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của</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người</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trưởng</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thành</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tại</a:t>
            </a:r>
            <a:r>
              <a:rPr lang="en-US" altLang="ko-KR" sz="1200" dirty="0">
                <a:solidFill>
                  <a:prstClr val="black"/>
                </a:solidFill>
                <a:latin typeface="arial" pitchFamily="34" charset="0"/>
                <a:ea typeface="맑은 고딕" panose="020B0503020000020004" pitchFamily="50" charset="-127"/>
              </a:rPr>
              <a:t> Việt Nam </a:t>
            </a:r>
            <a:r>
              <a:rPr lang="en-US" altLang="ko-KR" sz="1200" dirty="0" err="1">
                <a:solidFill>
                  <a:prstClr val="black"/>
                </a:solidFill>
                <a:latin typeface="arial" pitchFamily="34" charset="0"/>
                <a:ea typeface="맑은 고딕" panose="020B0503020000020004" pitchFamily="50" charset="-127"/>
              </a:rPr>
              <a:t>không</a:t>
            </a:r>
            <a:r>
              <a:rPr lang="en-US" altLang="ko-KR" sz="1200" dirty="0">
                <a:solidFill>
                  <a:prstClr val="black"/>
                </a:solidFill>
                <a:latin typeface="arial" pitchFamily="34" charset="0"/>
                <a:ea typeface="맑은 고딕" panose="020B0503020000020004" pitchFamily="50" charset="-127"/>
              </a:rPr>
              <a:t> </a:t>
            </a:r>
            <a:r>
              <a:rPr lang="en-US" altLang="ko-KR" sz="1200" dirty="0" err="1">
                <a:solidFill>
                  <a:prstClr val="black"/>
                </a:solidFill>
                <a:latin typeface="arial" pitchFamily="34" charset="0"/>
                <a:ea typeface="맑은 고딕" panose="020B0503020000020004" pitchFamily="50" charset="-127"/>
              </a:rPr>
              <a:t>phải</a:t>
            </a:r>
            <a:r>
              <a:rPr lang="en-US" altLang="ko-KR" sz="1200" dirty="0">
                <a:solidFill>
                  <a:prstClr val="black"/>
                </a:solidFill>
                <a:latin typeface="arial" pitchFamily="34" charset="0"/>
                <a:ea typeface="맑은 고딕" panose="020B0503020000020004" pitchFamily="50" charset="-127"/>
              </a:rPr>
              <a:t> 180cm)</a:t>
            </a:r>
            <a:endParaRPr lang="en-US" altLang="ko-KR" sz="1200" dirty="0">
              <a:solidFill>
                <a:srgbClr val="000000"/>
              </a:solidFill>
              <a:latin typeface="arial" pitchFamily="34" charset="0"/>
              <a:ea typeface="맑은 고딕" pitchFamily="50" charset="-127"/>
            </a:endParaRPr>
          </a:p>
        </p:txBody>
      </p:sp>
      <p:sp>
        <p:nvSpPr>
          <p:cNvPr id="20" name="직사각형 19"/>
          <p:cNvSpPr/>
          <p:nvPr/>
        </p:nvSpPr>
        <p:spPr>
          <a:xfrm>
            <a:off x="4737100" y="1341438"/>
            <a:ext cx="4968428" cy="1169551"/>
          </a:xfrm>
          <a:prstGeom prst="rect">
            <a:avLst/>
          </a:prstGeom>
        </p:spPr>
        <p:txBody>
          <a:bodyPr wrap="square">
            <a:spAutoFit/>
          </a:bodyPr>
          <a:lstStyle/>
          <a:p>
            <a:pPr indent="111125" algn="just">
              <a:buFont typeface="Arial" pitchFamily="34" charset="0"/>
              <a:buChar char="•"/>
              <a:defRPr/>
            </a:pPr>
            <a:r>
              <a:rPr lang="ko-KR" altLang="en-US" sz="1400"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Giả</a:t>
            </a:r>
            <a:r>
              <a:rPr lang="en-US" altLang="ko-KR" sz="1400" b="1"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thuyết</a:t>
            </a:r>
            <a:r>
              <a:rPr lang="en-US" altLang="ko-KR" sz="1400" b="1" dirty="0">
                <a:solidFill>
                  <a:prstClr val="black"/>
                </a:solidFill>
                <a:latin typeface="arial" pitchFamily="34" charset="0"/>
                <a:ea typeface="맑은 고딕" panose="020B0503020000020004" pitchFamily="50" charset="-127"/>
              </a:rPr>
              <a:t> H0 (Null Hypothesis)</a:t>
            </a:r>
          </a:p>
          <a:p>
            <a:pPr algn="just">
              <a:defRPr/>
            </a:pPr>
            <a:r>
              <a:rPr lang="en-US" altLang="ko-KR" sz="1400" dirty="0" err="1">
                <a:latin typeface="arial" pitchFamily="34" charset="0"/>
                <a:ea typeface="맑은 고딕" panose="020B0503020000020004" pitchFamily="50" charset="-127"/>
              </a:rPr>
              <a:t>Giả</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thuyết</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được</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dự</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báo</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là</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sẽ</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bị</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loại</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bỏ</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ngay</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từ</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đầu</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vì</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xác</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suất</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để</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nó</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xảy</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ra</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trong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thực</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tế</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là</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rất</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thấp</a:t>
            </a:r>
            <a:r>
              <a:rPr lang="en-US" altLang="ko-KR" sz="1400" dirty="0">
                <a:latin typeface="arial" pitchFamily="34" charset="0"/>
                <a:ea typeface="맑은 고딕" panose="020B0503020000020004" pitchFamily="50" charset="-127"/>
              </a:rPr>
              <a:t>.</a:t>
            </a:r>
          </a:p>
          <a:p>
            <a:pPr algn="just">
              <a:defRPr/>
            </a:pPr>
            <a:r>
              <a:rPr lang="en-US" altLang="ko-KR" sz="1400" dirty="0">
                <a:latin typeface="arial" pitchFamily="34" charset="0"/>
                <a:ea typeface="맑은 고딕" panose="020B0503020000020004" pitchFamily="50" charset="-127"/>
              </a:rPr>
              <a:t>VD: </a:t>
            </a:r>
            <a:r>
              <a:rPr lang="en-US" altLang="ko-KR" sz="1400" dirty="0" err="1">
                <a:latin typeface="arial" pitchFamily="34" charset="0"/>
                <a:ea typeface="맑은 고딕" panose="020B0503020000020004" pitchFamily="50" charset="-127"/>
              </a:rPr>
              <a:t>Chiều</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cao</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trung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bình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của</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người</a:t>
            </a:r>
            <a:r>
              <a:rPr lang="en-US" altLang="ko-KR" sz="1400" dirty="0">
                <a:latin typeface="arial" pitchFamily="34" charset="0"/>
                <a:ea typeface="맑은 고딕" panose="020B0503020000020004" pitchFamily="50" charset="-127"/>
              </a:rPr>
              <a:t> Việt Nam </a:t>
            </a:r>
            <a:r>
              <a:rPr lang="en-US" altLang="ko-KR" sz="1400" dirty="0" err="1">
                <a:latin typeface="arial" pitchFamily="34" charset="0"/>
                <a:ea typeface="맑은 고딕" panose="020B0503020000020004" pitchFamily="50" charset="-127"/>
              </a:rPr>
              <a:t>trưởng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thành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là</a:t>
            </a:r>
            <a:r>
              <a:rPr lang="en-US" altLang="ko-KR" sz="1400" dirty="0">
                <a:latin typeface="arial" pitchFamily="34" charset="0"/>
                <a:ea typeface="맑은 고딕" panose="020B0503020000020004" pitchFamily="50" charset="-127"/>
              </a:rPr>
              <a:t> 180 cm.</a:t>
            </a:r>
            <a:endParaRPr lang="en-US" altLang="ko-KR" sz="1400" dirty="0">
              <a:solidFill>
                <a:prstClr val="black"/>
              </a:solidFill>
              <a:latin typeface="arial" pitchFamily="34" charset="0"/>
              <a:ea typeface="맑은 고딕" panose="020B0503020000020004" pitchFamily="50" charset="-127"/>
            </a:endParaRPr>
          </a:p>
        </p:txBody>
      </p:sp>
      <p:sp>
        <p:nvSpPr>
          <p:cNvPr id="21" name="직사각형 20"/>
          <p:cNvSpPr/>
          <p:nvPr/>
        </p:nvSpPr>
        <p:spPr>
          <a:xfrm>
            <a:off x="4737100" y="2727325"/>
            <a:ext cx="4968428" cy="1384995"/>
          </a:xfrm>
          <a:prstGeom prst="rect">
            <a:avLst/>
          </a:prstGeom>
        </p:spPr>
        <p:txBody>
          <a:bodyPr wrap="square">
            <a:spAutoFit/>
          </a:bodyPr>
          <a:lstStyle/>
          <a:p>
            <a:pPr indent="111125" algn="just">
              <a:buFont typeface="Arial" pitchFamily="34" charset="0"/>
              <a:buChar char="•"/>
              <a:defRPr/>
            </a:pPr>
            <a:r>
              <a:rPr lang="ko-KR" altLang="en-US" sz="1400"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Giả</a:t>
            </a:r>
            <a:r>
              <a:rPr lang="en-US" altLang="ko-KR" sz="1400" b="1"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thuyết</a:t>
            </a:r>
            <a:r>
              <a:rPr lang="en-US" altLang="ko-KR" sz="1400" b="1" dirty="0">
                <a:solidFill>
                  <a:prstClr val="black"/>
                </a:solidFill>
                <a:latin typeface="arial" pitchFamily="34" charset="0"/>
                <a:ea typeface="맑은 고딕" panose="020B0503020000020004" pitchFamily="50" charset="-127"/>
              </a:rPr>
              <a:t> H1 (Alternative Hypothesis)</a:t>
            </a:r>
          </a:p>
          <a:p>
            <a:pPr algn="just">
              <a:defRPr/>
            </a:pPr>
            <a:r>
              <a:rPr lang="en-US" altLang="ko-KR" sz="1400" dirty="0" err="1">
                <a:solidFill>
                  <a:prstClr val="black"/>
                </a:solidFill>
                <a:latin typeface="arial" pitchFamily="34" charset="0"/>
                <a:ea typeface="맑은 고딕" panose="020B0503020000020004" pitchFamily="50" charset="-127"/>
              </a:rPr>
              <a:t>Giả</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thuyết</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được</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chấp</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nhận</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khi</a:t>
            </a:r>
            <a:r>
              <a:rPr lang="en-US" altLang="ko-KR" sz="1400" dirty="0">
                <a:solidFill>
                  <a:prstClr val="black"/>
                </a:solidFill>
                <a:latin typeface="arial" pitchFamily="34" charset="0"/>
                <a:ea typeface="맑은 고딕" panose="020B0503020000020004" pitchFamily="50" charset="-127"/>
              </a:rPr>
              <a:t> H0 </a:t>
            </a:r>
            <a:r>
              <a:rPr lang="en-US" altLang="ko-KR" sz="1400" dirty="0" err="1">
                <a:solidFill>
                  <a:prstClr val="black"/>
                </a:solidFill>
                <a:latin typeface="arial" pitchFamily="34" charset="0"/>
                <a:ea typeface="맑은 고딕" panose="020B0503020000020004" pitchFamily="50" charset="-127"/>
              </a:rPr>
              <a:t>bị</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bác</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bỏ</a:t>
            </a:r>
            <a:r>
              <a:rPr lang="en-US" altLang="ko-KR" sz="1400" dirty="0">
                <a:solidFill>
                  <a:prstClr val="black"/>
                </a:solidFill>
                <a:latin typeface="arial" pitchFamily="34" charset="0"/>
                <a:ea typeface="맑은 고딕" panose="020B0503020000020004" pitchFamily="50" charset="-127"/>
              </a:rPr>
              <a:t>.</a:t>
            </a:r>
          </a:p>
          <a:p>
            <a:pPr algn="just">
              <a:defRPr/>
            </a:pPr>
            <a:r>
              <a:rPr lang="en-US" altLang="ko-KR" sz="1400" dirty="0" err="1">
                <a:solidFill>
                  <a:prstClr val="black"/>
                </a:solidFill>
                <a:latin typeface="arial" pitchFamily="34" charset="0"/>
                <a:ea typeface="맑은 고딕" panose="020B0503020000020004" pitchFamily="50" charset="-127"/>
              </a:rPr>
              <a:t>Thông</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thường</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những</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gì</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chúng</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ta</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muốn</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khẳng</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định</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là</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chính</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xác</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sẽ</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được</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chọn</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làm</a:t>
            </a:r>
            <a:r>
              <a:rPr lang="en-US" altLang="ko-KR" sz="1400" dirty="0">
                <a:solidFill>
                  <a:prstClr val="black"/>
                </a:solidFill>
                <a:latin typeface="arial" pitchFamily="34" charset="0"/>
                <a:ea typeface="맑은 고딕" panose="020B0503020000020004" pitchFamily="50" charset="-127"/>
              </a:rPr>
              <a:t> H1.</a:t>
            </a:r>
          </a:p>
          <a:p>
            <a:pPr algn="just">
              <a:defRPr/>
            </a:pPr>
            <a:r>
              <a:rPr lang="en-US" altLang="ko-KR" sz="1400" dirty="0">
                <a:solidFill>
                  <a:prstClr val="black"/>
                </a:solidFill>
                <a:latin typeface="arial" pitchFamily="34" charset="0"/>
                <a:ea typeface="맑은 고딕" panose="020B0503020000020004" pitchFamily="50" charset="-127"/>
              </a:rPr>
              <a:t>VD: </a:t>
            </a:r>
            <a:r>
              <a:rPr lang="en-US" altLang="ko-KR" sz="1400" dirty="0" err="1">
                <a:latin typeface="arial" pitchFamily="34" charset="0"/>
                <a:ea typeface="맑은 고딕" panose="020B0503020000020004" pitchFamily="50" charset="-127"/>
              </a:rPr>
              <a:t>Chiều</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cao</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trung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bình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của</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người</a:t>
            </a:r>
            <a:r>
              <a:rPr lang="en-US" altLang="ko-KR" sz="1400" dirty="0">
                <a:latin typeface="arial" pitchFamily="34" charset="0"/>
                <a:ea typeface="맑은 고딕" panose="020B0503020000020004" pitchFamily="50" charset="-127"/>
              </a:rPr>
              <a:t> Việt Nam </a:t>
            </a:r>
            <a:r>
              <a:rPr lang="en-US" altLang="ko-KR" sz="1400" dirty="0" err="1">
                <a:latin typeface="arial" pitchFamily="34" charset="0"/>
                <a:ea typeface="맑은 고딕" panose="020B0503020000020004" pitchFamily="50" charset="-127"/>
              </a:rPr>
              <a:t>trưởng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thành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không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là</a:t>
            </a:r>
            <a:r>
              <a:rPr lang="en-US" altLang="ko-KR" sz="1400" dirty="0">
                <a:latin typeface="arial" pitchFamily="34" charset="0"/>
                <a:ea typeface="맑은 고딕" panose="020B0503020000020004" pitchFamily="50" charset="-127"/>
              </a:rPr>
              <a:t> 180 cm.</a:t>
            </a:r>
            <a:endParaRPr lang="en-US" altLang="ko-KR" sz="1400" dirty="0">
              <a:solidFill>
                <a:prstClr val="black"/>
              </a:solidFill>
              <a:latin typeface="arial" pitchFamily="34" charset="0"/>
              <a:ea typeface="맑은 고딕" panose="020B0503020000020004" pitchFamily="50" charset="-127"/>
            </a:endParaRPr>
          </a:p>
        </p:txBody>
      </p:sp>
      <p:sp>
        <p:nvSpPr>
          <p:cNvPr id="26" name="직사각형 25"/>
          <p:cNvSpPr/>
          <p:nvPr/>
        </p:nvSpPr>
        <p:spPr>
          <a:xfrm>
            <a:off x="4737100" y="4275112"/>
            <a:ext cx="4968428" cy="1384995"/>
          </a:xfrm>
          <a:prstGeom prst="rect">
            <a:avLst/>
          </a:prstGeom>
        </p:spPr>
        <p:txBody>
          <a:bodyPr wrap="square">
            <a:spAutoFit/>
          </a:bodyPr>
          <a:lstStyle/>
          <a:p>
            <a:pPr indent="111125" algn="just">
              <a:buFont typeface="Arial" pitchFamily="34" charset="0"/>
              <a:buChar char="•"/>
              <a:defRPr/>
            </a:pPr>
            <a:r>
              <a:rPr lang="ko-KR" altLang="en-US" sz="1400" b="1"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Mức</a:t>
            </a:r>
            <a:r>
              <a:rPr lang="en-US" altLang="ko-KR" sz="1400" b="1" dirty="0">
                <a:solidFill>
                  <a:prstClr val="black"/>
                </a:solidFill>
                <a:latin typeface="arial" pitchFamily="34" charset="0"/>
                <a:ea typeface="맑은 고딕" panose="020B0503020000020004" pitchFamily="50" charset="-127"/>
              </a:rPr>
              <a:t> ý </a:t>
            </a:r>
            <a:r>
              <a:rPr lang="en-US" altLang="ko-KR" sz="1400" b="1" dirty="0" err="1">
                <a:solidFill>
                  <a:prstClr val="black"/>
                </a:solidFill>
                <a:latin typeface="arial" pitchFamily="34" charset="0"/>
                <a:ea typeface="맑은 고딕" panose="020B0503020000020004" pitchFamily="50" charset="-127"/>
              </a:rPr>
              <a:t>nghĩa</a:t>
            </a:r>
            <a:r>
              <a:rPr lang="en-US" altLang="ko-KR" sz="1400" b="1"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sai</a:t>
            </a:r>
            <a:r>
              <a:rPr lang="en-US" altLang="ko-KR" sz="1400" b="1"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số</a:t>
            </a:r>
            <a:r>
              <a:rPr lang="en-US" altLang="ko-KR" sz="1400" b="1"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cho</a:t>
            </a:r>
            <a:r>
              <a:rPr lang="en-US" altLang="ko-KR" sz="1400" b="1"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phép</a:t>
            </a:r>
            <a:r>
              <a:rPr lang="en-US" altLang="ko-KR" sz="1400" b="1" dirty="0">
                <a:solidFill>
                  <a:prstClr val="black"/>
                </a:solidFill>
                <a:latin typeface="arial" pitchFamily="34" charset="0"/>
                <a:ea typeface="맑은 고딕" panose="020B0503020000020004" pitchFamily="50" charset="-127"/>
              </a:rPr>
              <a:t>) (Significant level) (</a:t>
            </a:r>
            <a:r>
              <a:rPr lang="el-GR" altLang="ko-KR" sz="1400" b="1" dirty="0">
                <a:solidFill>
                  <a:prstClr val="black"/>
                </a:solidFill>
                <a:latin typeface="arial" pitchFamily="34" charset="0"/>
                <a:ea typeface="맑은 고딕" panose="020B0503020000020004" pitchFamily="50" charset="-127"/>
              </a:rPr>
              <a:t>α)</a:t>
            </a:r>
            <a:endParaRPr lang="en-US" altLang="ko-KR" sz="1400" b="1" dirty="0">
              <a:solidFill>
                <a:prstClr val="black"/>
              </a:solidFill>
              <a:latin typeface="arial" pitchFamily="34" charset="0"/>
              <a:ea typeface="맑은 고딕" panose="020B0503020000020004" pitchFamily="50" charset="-127"/>
            </a:endParaRPr>
          </a:p>
          <a:p>
            <a:pPr algn="just">
              <a:defRPr/>
            </a:pPr>
            <a:r>
              <a:rPr lang="en-US" altLang="ko-KR" sz="1400" dirty="0" err="1">
                <a:latin typeface="arial" pitchFamily="34" charset="0"/>
                <a:ea typeface="맑은 고딕" panose="020B0503020000020004" pitchFamily="50" charset="-127"/>
              </a:rPr>
              <a:t>Là</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giới</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hạn</a:t>
            </a:r>
            <a:r>
              <a:rPr lang="en-US" altLang="ko-KR" sz="1400" dirty="0">
                <a:latin typeface="arial" pitchFamily="34" charset="0"/>
                <a:ea typeface="맑은 고딕" panose="020B0503020000020004" pitchFamily="50" charset="-127"/>
              </a:rPr>
              <a:t> dung </a:t>
            </a:r>
            <a:r>
              <a:rPr lang="en-US" altLang="ko-KR" sz="1400" dirty="0" err="1">
                <a:latin typeface="arial" pitchFamily="34" charset="0"/>
                <a:ea typeface="맑은 고딕" panose="020B0503020000020004" pitchFamily="50" charset="-127"/>
              </a:rPr>
              <a:t>sai</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của</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một</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nhận</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định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không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chính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xác</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rằng</a:t>
            </a:r>
            <a:r>
              <a:rPr lang="en-US" altLang="ko-KR" sz="1400" dirty="0">
                <a:latin typeface="arial" pitchFamily="34" charset="0"/>
                <a:ea typeface="맑은 고딕" panose="020B0503020000020004" pitchFamily="50" charset="-127"/>
              </a:rPr>
              <a:t> H0 </a:t>
            </a:r>
            <a:r>
              <a:rPr lang="en-US" altLang="ko-KR" sz="1400" dirty="0" err="1">
                <a:latin typeface="arial" pitchFamily="34" charset="0"/>
                <a:ea typeface="맑은 고딕" panose="020B0503020000020004" pitchFamily="50" charset="-127"/>
              </a:rPr>
              <a:t>là</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sai</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trong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khi</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thực</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tế</a:t>
            </a:r>
            <a:r>
              <a:rPr lang="en-US" altLang="ko-KR" sz="1400" dirty="0">
                <a:latin typeface="arial" pitchFamily="34" charset="0"/>
                <a:ea typeface="맑은 고딕" panose="020B0503020000020004" pitchFamily="50" charset="-127"/>
              </a:rPr>
              <a:t> H0 </a:t>
            </a:r>
            <a:r>
              <a:rPr lang="en-US" altLang="ko-KR" sz="1400" dirty="0" err="1">
                <a:latin typeface="arial" pitchFamily="34" charset="0"/>
                <a:ea typeface="맑은 고딕" panose="020B0503020000020004" pitchFamily="50" charset="-127"/>
              </a:rPr>
              <a:t>lại</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chính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xác</a:t>
            </a:r>
            <a:br>
              <a:rPr lang="en-US" altLang="ko-KR" sz="1400" dirty="0">
                <a:latin typeface="arial" pitchFamily="34" charset="0"/>
                <a:ea typeface="맑은 고딕" panose="020B0503020000020004" pitchFamily="50" charset="-127"/>
              </a:rPr>
            </a:br>
            <a:r>
              <a:rPr lang="en-US" altLang="ko-KR" sz="1400" dirty="0">
                <a:latin typeface="arial" pitchFamily="34" charset="0"/>
                <a:ea typeface="맑은 고딕" panose="020B0503020000020004" pitchFamily="50" charset="-127"/>
              </a:rPr>
              <a:t>VD: </a:t>
            </a:r>
            <a:r>
              <a:rPr lang="en-US" altLang="ko-KR" sz="1400" dirty="0" err="1">
                <a:latin typeface="arial" pitchFamily="34" charset="0"/>
                <a:ea typeface="맑은 고딕" panose="020B0503020000020004" pitchFamily="50" charset="-127"/>
              </a:rPr>
              <a:t>Xác</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suất</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để</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khẳng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định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chiều</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cao</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trung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bình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của</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người</a:t>
            </a:r>
            <a:r>
              <a:rPr lang="en-US" altLang="ko-KR" sz="1400" dirty="0">
                <a:latin typeface="arial" pitchFamily="34" charset="0"/>
                <a:ea typeface="맑은 고딕" panose="020B0503020000020004" pitchFamily="50" charset="-127"/>
              </a:rPr>
              <a:t> Việt Nam </a:t>
            </a:r>
            <a:r>
              <a:rPr lang="en-US" altLang="ko-KR" sz="1400" dirty="0" err="1">
                <a:latin typeface="arial" pitchFamily="34" charset="0"/>
                <a:ea typeface="맑은 고딕" panose="020B0503020000020004" pitchFamily="50" charset="-127"/>
              </a:rPr>
              <a:t>trưởng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thành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không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là</a:t>
            </a:r>
            <a:r>
              <a:rPr lang="en-US" altLang="ko-KR" sz="1400" dirty="0">
                <a:latin typeface="arial" pitchFamily="34" charset="0"/>
                <a:ea typeface="맑은 고딕" panose="020B0503020000020004" pitchFamily="50" charset="-127"/>
              </a:rPr>
              <a:t> 180 cm </a:t>
            </a:r>
            <a:r>
              <a:rPr lang="en-US" altLang="ko-KR" sz="1400" dirty="0" err="1">
                <a:latin typeface="arial" pitchFamily="34" charset="0"/>
                <a:ea typeface="맑은 고딕" panose="020B0503020000020004" pitchFamily="50" charset="-127"/>
              </a:rPr>
              <a:t>trong</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khi</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thực</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tế</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chính</a:t>
            </a:r>
            <a:r>
              <a:rPr lang="en-US" altLang="ko-KR" sz="1400" dirty="0">
                <a:latin typeface="arial" pitchFamily="34" charset="0"/>
                <a:ea typeface="맑은 고딕" panose="020B0503020000020004" pitchFamily="50" charset="-127"/>
              </a:rPr>
              <a:t> </a:t>
            </a:r>
            <a:r>
              <a:rPr lang="en-US" altLang="ko-KR" sz="1400" dirty="0" err="1">
                <a:latin typeface="arial" pitchFamily="34" charset="0"/>
                <a:ea typeface="맑은 고딕" panose="020B0503020000020004" pitchFamily="50" charset="-127"/>
              </a:rPr>
              <a:t>là</a:t>
            </a:r>
            <a:r>
              <a:rPr lang="en-US" altLang="ko-KR" sz="1400" dirty="0">
                <a:latin typeface="arial" pitchFamily="34" charset="0"/>
                <a:ea typeface="맑은 고딕" panose="020B0503020000020004" pitchFamily="50" charset="-127"/>
              </a:rPr>
              <a:t> 180 cm.</a:t>
            </a:r>
          </a:p>
        </p:txBody>
      </p:sp>
      <p:sp>
        <p:nvSpPr>
          <p:cNvPr id="27" name="직사각형 26"/>
          <p:cNvSpPr/>
          <p:nvPr/>
        </p:nvSpPr>
        <p:spPr>
          <a:xfrm>
            <a:off x="4737100" y="5770640"/>
            <a:ext cx="4968428" cy="738664"/>
          </a:xfrm>
          <a:prstGeom prst="rect">
            <a:avLst/>
          </a:prstGeom>
        </p:spPr>
        <p:txBody>
          <a:bodyPr wrap="square">
            <a:spAutoFit/>
          </a:bodyPr>
          <a:lstStyle/>
          <a:p>
            <a:pPr indent="111125" algn="just">
              <a:buFont typeface="Arial" pitchFamily="34" charset="0"/>
              <a:buChar char="•"/>
              <a:defRPr/>
            </a:pPr>
            <a:r>
              <a:rPr lang="ko-KR" altLang="en-US" sz="1400" dirty="0">
                <a:solidFill>
                  <a:prstClr val="black"/>
                </a:solidFill>
                <a:latin typeface="arial" pitchFamily="34" charset="0"/>
                <a:ea typeface="맑은 고딕" panose="020B0503020000020004" pitchFamily="50" charset="-127"/>
              </a:rPr>
              <a:t> </a:t>
            </a:r>
            <a:r>
              <a:rPr lang="en-US" altLang="ko-KR" sz="1400" b="1" dirty="0" err="1">
                <a:solidFill>
                  <a:prstClr val="black"/>
                </a:solidFill>
                <a:latin typeface="arial" pitchFamily="34" charset="0"/>
                <a:ea typeface="맑은 고딕" panose="020B0503020000020004" pitchFamily="50" charset="-127"/>
              </a:rPr>
              <a:t>Độ</a:t>
            </a:r>
            <a:r>
              <a:rPr lang="en-US" altLang="ko-KR" sz="1400" b="1" dirty="0">
                <a:solidFill>
                  <a:prstClr val="black"/>
                </a:solidFill>
                <a:latin typeface="arial" pitchFamily="34" charset="0"/>
                <a:ea typeface="맑은 고딕" panose="020B0503020000020004" pitchFamily="50" charset="-127"/>
              </a:rPr>
              <a:t> tin </a:t>
            </a:r>
            <a:r>
              <a:rPr lang="en-US" altLang="ko-KR" sz="1400" b="1" dirty="0" err="1">
                <a:solidFill>
                  <a:prstClr val="black"/>
                </a:solidFill>
                <a:latin typeface="arial" pitchFamily="34" charset="0"/>
                <a:ea typeface="맑은 고딕" panose="020B0503020000020004" pitchFamily="50" charset="-127"/>
              </a:rPr>
              <a:t>cậy</a:t>
            </a:r>
            <a:r>
              <a:rPr lang="en-US" altLang="ko-KR" sz="1400" b="1" dirty="0">
                <a:solidFill>
                  <a:prstClr val="black"/>
                </a:solidFill>
                <a:latin typeface="arial" pitchFamily="34" charset="0"/>
                <a:ea typeface="맑은 고딕" panose="020B0503020000020004" pitchFamily="50" charset="-127"/>
              </a:rPr>
              <a:t> (1-</a:t>
            </a:r>
            <a:r>
              <a:rPr lang="el-GR" altLang="ko-KR" sz="1400" b="1" dirty="0">
                <a:solidFill>
                  <a:prstClr val="black"/>
                </a:solidFill>
                <a:latin typeface="arial" pitchFamily="34" charset="0"/>
                <a:ea typeface="맑은 고딕" panose="020B0503020000020004" pitchFamily="50" charset="-127"/>
              </a:rPr>
              <a:t>α)</a:t>
            </a:r>
            <a:r>
              <a:rPr lang="en-US" altLang="ko-KR" sz="1400" b="1" dirty="0">
                <a:solidFill>
                  <a:prstClr val="black"/>
                </a:solidFill>
                <a:latin typeface="arial" pitchFamily="34" charset="0"/>
                <a:ea typeface="맑은 고딕" panose="020B0503020000020004" pitchFamily="50" charset="-127"/>
              </a:rPr>
              <a:t> (Confidence interval)</a:t>
            </a:r>
            <a:endParaRPr lang="en-US" altLang="ko-KR" sz="1400" dirty="0">
              <a:solidFill>
                <a:prstClr val="black"/>
              </a:solidFill>
              <a:latin typeface="arial" pitchFamily="34" charset="0"/>
              <a:ea typeface="맑은 고딕" panose="020B0503020000020004" pitchFamily="50" charset="-127"/>
            </a:endParaRPr>
          </a:p>
          <a:p>
            <a:pPr algn="just">
              <a:defRPr/>
            </a:pP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Là</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xác</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suất</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để</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nhận</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định</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chính</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xác</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khi</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giả</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thuyết</a:t>
            </a:r>
            <a:r>
              <a:rPr lang="en-US" altLang="ko-KR" sz="1400" dirty="0">
                <a:solidFill>
                  <a:prstClr val="black"/>
                </a:solidFill>
                <a:latin typeface="arial" pitchFamily="34" charset="0"/>
                <a:ea typeface="맑은 고딕" panose="020B0503020000020004" pitchFamily="50" charset="-127"/>
              </a:rPr>
              <a:t> H0 </a:t>
            </a:r>
            <a:r>
              <a:rPr lang="en-US" altLang="ko-KR" sz="1400" dirty="0" err="1">
                <a:solidFill>
                  <a:prstClr val="black"/>
                </a:solidFill>
                <a:latin typeface="arial" pitchFamily="34" charset="0"/>
                <a:ea typeface="맑은 고딕" panose="020B0503020000020004" pitchFamily="50" charset="-127"/>
              </a:rPr>
              <a:t>là</a:t>
            </a:r>
            <a:r>
              <a:rPr lang="en-US" altLang="ko-KR" sz="1400" dirty="0">
                <a:solidFill>
                  <a:prstClr val="black"/>
                </a:solidFill>
                <a:latin typeface="arial" pitchFamily="34" charset="0"/>
                <a:ea typeface="맑은 고딕" panose="020B0503020000020004" pitchFamily="50" charset="-127"/>
              </a:rPr>
              <a:t> </a:t>
            </a:r>
            <a:r>
              <a:rPr lang="en-US" altLang="ko-KR" sz="1400" dirty="0" err="1">
                <a:solidFill>
                  <a:prstClr val="black"/>
                </a:solidFill>
                <a:latin typeface="arial" pitchFamily="34" charset="0"/>
                <a:ea typeface="맑은 고딕" panose="020B0503020000020004" pitchFamily="50" charset="-127"/>
              </a:rPr>
              <a:t>đúng</a:t>
            </a:r>
            <a:r>
              <a:rPr lang="en-US" altLang="ko-KR" sz="1400" dirty="0">
                <a:solidFill>
                  <a:prstClr val="black"/>
                </a:solidFill>
                <a:latin typeface="arial" pitchFamily="34" charset="0"/>
                <a:ea typeface="맑은 고딕" panose="020B0503020000020004" pitchFamily="50" charset="-127"/>
              </a:rPr>
              <a:t>.</a:t>
            </a:r>
            <a:endParaRPr lang="en-US" altLang="ko-KR" sz="1400" dirty="0">
              <a:latin typeface="arial" pitchFamily="34" charset="0"/>
              <a:ea typeface="맑은 고딕" panose="020B0503020000020004"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162</a:t>
            </a:fld>
            <a:endParaRPr lang="ko-KR" altLang="en-US" dirty="0"/>
          </a:p>
        </p:txBody>
      </p:sp>
      <p:sp>
        <p:nvSpPr>
          <p:cNvPr id="47" name="타원 24"/>
          <p:cNvSpPr/>
          <p:nvPr/>
        </p:nvSpPr>
        <p:spPr>
          <a:xfrm>
            <a:off x="579115" y="4199528"/>
            <a:ext cx="1212850" cy="1214438"/>
          </a:xfrm>
          <a:prstGeom prst="ellipse">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050" dirty="0">
              <a:latin typeface="arial" pitchFamily="34" charset="0"/>
            </a:endParaRPr>
          </a:p>
        </p:txBody>
      </p:sp>
      <p:sp>
        <p:nvSpPr>
          <p:cNvPr id="48" name="타원 25"/>
          <p:cNvSpPr/>
          <p:nvPr/>
        </p:nvSpPr>
        <p:spPr>
          <a:xfrm>
            <a:off x="3179440" y="4450353"/>
            <a:ext cx="623888" cy="642938"/>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050" dirty="0">
              <a:latin typeface="arial" pitchFamily="34" charset="0"/>
            </a:endParaRPr>
          </a:p>
        </p:txBody>
      </p:sp>
      <p:sp>
        <p:nvSpPr>
          <p:cNvPr id="49" name="타원 28"/>
          <p:cNvSpPr/>
          <p:nvPr/>
        </p:nvSpPr>
        <p:spPr>
          <a:xfrm>
            <a:off x="1088753" y="4307478"/>
            <a:ext cx="623887" cy="642938"/>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050" dirty="0">
              <a:latin typeface="arial" pitchFamily="34" charset="0"/>
            </a:endParaRPr>
          </a:p>
        </p:txBody>
      </p:sp>
      <p:sp>
        <p:nvSpPr>
          <p:cNvPr id="50" name="자유형 48"/>
          <p:cNvSpPr/>
          <p:nvPr/>
        </p:nvSpPr>
        <p:spPr>
          <a:xfrm>
            <a:off x="1530028" y="3959816"/>
            <a:ext cx="1752600" cy="614362"/>
          </a:xfrm>
          <a:custGeom>
            <a:avLst/>
            <a:gdLst>
              <a:gd name="connsiteX0" fmla="*/ 0 w 3906982"/>
              <a:gd name="connsiteY0" fmla="*/ 1043709 h 1237673"/>
              <a:gd name="connsiteX1" fmla="*/ 1759527 w 3906982"/>
              <a:gd name="connsiteY1" fmla="*/ 32327 h 1237673"/>
              <a:gd name="connsiteX2" fmla="*/ 3906982 w 3906982"/>
              <a:gd name="connsiteY2" fmla="*/ 1237673 h 1237673"/>
            </a:gdLst>
            <a:ahLst/>
            <a:cxnLst>
              <a:cxn ang="0">
                <a:pos x="connsiteX0" y="connsiteY0"/>
              </a:cxn>
              <a:cxn ang="0">
                <a:pos x="connsiteX1" y="connsiteY1"/>
              </a:cxn>
              <a:cxn ang="0">
                <a:pos x="connsiteX2" y="connsiteY2"/>
              </a:cxn>
            </a:cxnLst>
            <a:rect l="l" t="t" r="r" b="b"/>
            <a:pathLst>
              <a:path w="3906982" h="1237673">
                <a:moveTo>
                  <a:pt x="0" y="1043709"/>
                </a:moveTo>
                <a:cubicBezTo>
                  <a:pt x="554181" y="521854"/>
                  <a:pt x="1108363" y="0"/>
                  <a:pt x="1759527" y="32327"/>
                </a:cubicBezTo>
                <a:cubicBezTo>
                  <a:pt x="2410691" y="64654"/>
                  <a:pt x="3158836" y="651163"/>
                  <a:pt x="3906982" y="1237673"/>
                </a:cubicBezTo>
              </a:path>
            </a:pathLst>
          </a:cu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sz="1050" dirty="0">
              <a:latin typeface="arial" pitchFamily="34" charset="0"/>
            </a:endParaRPr>
          </a:p>
        </p:txBody>
      </p:sp>
      <p:sp>
        <p:nvSpPr>
          <p:cNvPr id="51" name="TextBox 49"/>
          <p:cNvSpPr txBox="1">
            <a:spLocks noChangeArrowheads="1"/>
          </p:cNvSpPr>
          <p:nvPr/>
        </p:nvSpPr>
        <p:spPr bwMode="auto">
          <a:xfrm>
            <a:off x="1522736" y="4063761"/>
            <a:ext cx="1628971" cy="632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30000"/>
              </a:lnSpc>
              <a:buClr>
                <a:srgbClr val="C5003D"/>
              </a:buClr>
            </a:pPr>
            <a:r>
              <a:rPr lang="en-US" altLang="ko-KR" sz="1100" b="1" dirty="0" err="1">
                <a:latin typeface="arial" pitchFamily="34" charset="0"/>
                <a:ea typeface="맑은 고딕" pitchFamily="50" charset="-127"/>
              </a:rPr>
              <a:t>Lấy</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mẫu</a:t>
            </a:r>
            <a:endParaRPr lang="en-US" altLang="ko-KR" sz="1100" b="1" dirty="0">
              <a:latin typeface="arial" pitchFamily="34" charset="0"/>
              <a:ea typeface="맑은 고딕" pitchFamily="50" charset="-127"/>
            </a:endParaRPr>
          </a:p>
          <a:p>
            <a:pPr algn="ctr" eaLnBrk="1" hangingPunct="1">
              <a:lnSpc>
                <a:spcPct val="130000"/>
              </a:lnSpc>
              <a:buClr>
                <a:srgbClr val="C5003D"/>
              </a:buClr>
            </a:pPr>
            <a:r>
              <a:rPr lang="en-US" altLang="ko-KR" sz="800" dirty="0">
                <a:latin typeface="arial" pitchFamily="34" charset="0"/>
                <a:ea typeface="맑은 고딕" pitchFamily="50" charset="-127"/>
              </a:rPr>
              <a:t>(</a:t>
            </a:r>
            <a:r>
              <a:rPr lang="en-US" altLang="ko-KR" sz="800" dirty="0" err="1">
                <a:latin typeface="arial" pitchFamily="34" charset="0"/>
                <a:ea typeface="맑은 고딕" pitchFamily="50" charset="-127"/>
              </a:rPr>
              <a:t>Phương</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pháp</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và</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số</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lượng</a:t>
            </a:r>
            <a:br>
              <a:rPr lang="en-US" altLang="ko-KR" sz="800" dirty="0">
                <a:latin typeface="arial" pitchFamily="34" charset="0"/>
                <a:ea typeface="맑은 고딕" pitchFamily="50" charset="-127"/>
              </a:rPr>
            </a:br>
            <a:r>
              <a:rPr lang="en-US" altLang="ko-KR" sz="800" dirty="0" err="1">
                <a:latin typeface="arial" pitchFamily="34" charset="0"/>
                <a:ea typeface="맑은 고딕" pitchFamily="50" charset="-127"/>
              </a:rPr>
              <a:t>lấy</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mẫu</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là</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rất</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quan</a:t>
            </a:r>
            <a:r>
              <a:rPr lang="en-US" altLang="ko-KR" sz="800" dirty="0">
                <a:latin typeface="arial" pitchFamily="34" charset="0"/>
                <a:ea typeface="맑은 고딕" pitchFamily="50" charset="-127"/>
              </a:rPr>
              <a:t> </a:t>
            </a:r>
            <a:r>
              <a:rPr lang="en-US" altLang="ko-KR" sz="800" dirty="0" err="1">
                <a:latin typeface="arial" pitchFamily="34" charset="0"/>
                <a:ea typeface="맑은 고딕" pitchFamily="50" charset="-127"/>
              </a:rPr>
              <a:t>trọng</a:t>
            </a:r>
            <a:r>
              <a:rPr lang="en-US" altLang="ko-KR" sz="800" dirty="0">
                <a:latin typeface="arial" pitchFamily="34" charset="0"/>
                <a:ea typeface="맑은 고딕" pitchFamily="50" charset="-127"/>
              </a:rPr>
              <a:t>)</a:t>
            </a:r>
            <a:endParaRPr lang="ko-KR" altLang="en-US" sz="800" dirty="0">
              <a:latin typeface="arial" pitchFamily="34" charset="0"/>
              <a:ea typeface="맑은 고딕" pitchFamily="50" charset="-127"/>
            </a:endParaRPr>
          </a:p>
        </p:txBody>
      </p:sp>
      <p:sp>
        <p:nvSpPr>
          <p:cNvPr id="52" name="TextBox 50"/>
          <p:cNvSpPr txBox="1">
            <a:spLocks noChangeArrowheads="1"/>
          </p:cNvSpPr>
          <p:nvPr/>
        </p:nvSpPr>
        <p:spPr bwMode="auto">
          <a:xfrm>
            <a:off x="629197" y="4963815"/>
            <a:ext cx="79541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buClr>
                <a:srgbClr val="C5003D"/>
              </a:buClr>
            </a:pPr>
            <a:r>
              <a:rPr lang="en-US" altLang="ko-KR" sz="1100" b="1" dirty="0" err="1">
                <a:latin typeface="arial" pitchFamily="34" charset="0"/>
                <a:ea typeface="맑은 고딕" pitchFamily="50" charset="-127"/>
              </a:rPr>
              <a:t>Tổng</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thể</a:t>
            </a:r>
            <a:endParaRPr lang="en-US" altLang="ko-KR" sz="1100" b="1" dirty="0">
              <a:latin typeface="arial" pitchFamily="34" charset="0"/>
              <a:ea typeface="맑은 고딕" pitchFamily="50" charset="-127"/>
            </a:endParaRPr>
          </a:p>
        </p:txBody>
      </p:sp>
      <p:sp>
        <p:nvSpPr>
          <p:cNvPr id="53" name="TextBox 51"/>
          <p:cNvSpPr txBox="1">
            <a:spLocks noChangeArrowheads="1"/>
          </p:cNvSpPr>
          <p:nvPr/>
        </p:nvSpPr>
        <p:spPr bwMode="auto">
          <a:xfrm>
            <a:off x="3118984" y="4556108"/>
            <a:ext cx="753731" cy="471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algn="ctr" eaLnBrk="1" hangingPunct="1">
              <a:lnSpc>
                <a:spcPct val="130000"/>
              </a:lnSpc>
              <a:buClr>
                <a:srgbClr val="C5003D"/>
              </a:buClr>
            </a:pPr>
            <a:r>
              <a:rPr lang="en-US" altLang="ko-KR" sz="1000" b="1" dirty="0" err="1">
                <a:solidFill>
                  <a:schemeClr val="bg1"/>
                </a:solidFill>
                <a:latin typeface="arial" pitchFamily="34" charset="0"/>
                <a:ea typeface="맑은 고딕" pitchFamily="50" charset="-127"/>
              </a:rPr>
              <a:t>Thống</a:t>
            </a:r>
            <a:r>
              <a:rPr lang="en-US" altLang="ko-KR" sz="1000" b="1" dirty="0">
                <a:solidFill>
                  <a:schemeClr val="bg1"/>
                </a:solidFill>
                <a:latin typeface="arial" pitchFamily="34" charset="0"/>
                <a:ea typeface="맑은 고딕" pitchFamily="50" charset="-127"/>
              </a:rPr>
              <a:t> </a:t>
            </a:r>
            <a:r>
              <a:rPr lang="en-US" altLang="ko-KR" sz="1000" b="1" dirty="0" err="1">
                <a:solidFill>
                  <a:schemeClr val="bg1"/>
                </a:solidFill>
                <a:latin typeface="arial" pitchFamily="34" charset="0"/>
                <a:ea typeface="맑은 고딕" pitchFamily="50" charset="-127"/>
              </a:rPr>
              <a:t>kê</a:t>
            </a:r>
            <a:br>
              <a:rPr lang="en-US" altLang="ko-KR" sz="1000" b="1" dirty="0">
                <a:solidFill>
                  <a:schemeClr val="bg1"/>
                </a:solidFill>
                <a:latin typeface="arial" pitchFamily="34" charset="0"/>
                <a:ea typeface="맑은 고딕" pitchFamily="50" charset="-127"/>
              </a:rPr>
            </a:br>
            <a:r>
              <a:rPr lang="en-US" altLang="ko-KR" sz="1000" b="1" dirty="0" err="1">
                <a:solidFill>
                  <a:schemeClr val="bg1"/>
                </a:solidFill>
                <a:latin typeface="arial" pitchFamily="34" charset="0"/>
                <a:ea typeface="맑은 고딕" pitchFamily="50" charset="-127"/>
              </a:rPr>
              <a:t>mẫu</a:t>
            </a:r>
            <a:endParaRPr lang="ko-KR" altLang="en-US" sz="1000" b="1" dirty="0">
              <a:solidFill>
                <a:schemeClr val="bg1"/>
              </a:solidFill>
              <a:latin typeface="arial" pitchFamily="34" charset="0"/>
              <a:ea typeface="맑은 고딕" pitchFamily="50" charset="-127"/>
            </a:endParaRPr>
          </a:p>
        </p:txBody>
      </p:sp>
      <p:sp>
        <p:nvSpPr>
          <p:cNvPr id="54" name="TextBox 53"/>
          <p:cNvSpPr txBox="1">
            <a:spLocks noChangeArrowheads="1"/>
          </p:cNvSpPr>
          <p:nvPr/>
        </p:nvSpPr>
        <p:spPr bwMode="auto">
          <a:xfrm>
            <a:off x="3175330" y="5081409"/>
            <a:ext cx="1595309" cy="512448"/>
          </a:xfrm>
          <a:prstGeom prst="rect">
            <a:avLst/>
          </a:prstGeom>
          <a:noFill/>
          <a:ln>
            <a:noFill/>
          </a:ln>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Arial" charset="0"/>
              <a:buChar char="•"/>
              <a:defRPr/>
            </a:pPr>
            <a:r>
              <a:rPr lang="en-US" altLang="ko-KR" sz="1050" dirty="0" err="1">
                <a:latin typeface="arial" pitchFamily="34" charset="0"/>
                <a:ea typeface="맑은 고딕" panose="020B0503020000020004" pitchFamily="50" charset="-127"/>
              </a:rPr>
              <a:t>Trung</a:t>
            </a:r>
            <a:r>
              <a:rPr lang="en-US" altLang="ko-KR" sz="1050" dirty="0">
                <a:latin typeface="arial" pitchFamily="34" charset="0"/>
                <a:ea typeface="맑은 고딕" panose="020B0503020000020004" pitchFamily="50" charset="-127"/>
              </a:rPr>
              <a:t> </a:t>
            </a:r>
            <a:r>
              <a:rPr lang="en-US" altLang="ko-KR" sz="1050" dirty="0" err="1">
                <a:latin typeface="arial" pitchFamily="34" charset="0"/>
                <a:ea typeface="맑은 고딕" panose="020B0503020000020004" pitchFamily="50" charset="-127"/>
              </a:rPr>
              <a:t>bình</a:t>
            </a:r>
            <a:r>
              <a:rPr lang="en-US" altLang="ko-KR" sz="1050" dirty="0">
                <a:latin typeface="arial" pitchFamily="34" charset="0"/>
                <a:ea typeface="맑은 고딕" panose="020B0503020000020004" pitchFamily="50" charset="-127"/>
              </a:rPr>
              <a:t> </a:t>
            </a:r>
            <a:r>
              <a:rPr lang="en-US" altLang="ko-KR" sz="1050" dirty="0" err="1">
                <a:latin typeface="arial" pitchFamily="34" charset="0"/>
                <a:ea typeface="맑은 고딕" panose="020B0503020000020004" pitchFamily="50" charset="-127"/>
              </a:rPr>
              <a:t>mẫu</a:t>
            </a:r>
            <a:r>
              <a:rPr lang="en-US" altLang="ko-KR" sz="1050" dirty="0">
                <a:latin typeface="arial" pitchFamily="34" charset="0"/>
                <a:ea typeface="맑은 고딕" panose="020B0503020000020004" pitchFamily="50" charset="-127"/>
              </a:rPr>
              <a:t> (Xbar)</a:t>
            </a:r>
          </a:p>
          <a:p>
            <a:pPr eaLnBrk="1" hangingPunct="1">
              <a:lnSpc>
                <a:spcPct val="130000"/>
              </a:lnSpc>
              <a:buClr>
                <a:srgbClr val="C5003D"/>
              </a:buClr>
              <a:buFont typeface="Arial" charset="0"/>
              <a:buChar char="•"/>
              <a:defRPr/>
            </a:pPr>
            <a:r>
              <a:rPr lang="en-US" altLang="ko-KR" sz="1050" dirty="0" err="1">
                <a:latin typeface="arial" pitchFamily="34" charset="0"/>
                <a:ea typeface="맑은 고딕" panose="020B0503020000020004" pitchFamily="50" charset="-127"/>
              </a:rPr>
              <a:t>Phương</a:t>
            </a:r>
            <a:r>
              <a:rPr lang="en-US" altLang="ko-KR" sz="1050" dirty="0">
                <a:latin typeface="arial" pitchFamily="34" charset="0"/>
                <a:ea typeface="맑은 고딕" panose="020B0503020000020004" pitchFamily="50" charset="-127"/>
              </a:rPr>
              <a:t> </a:t>
            </a:r>
            <a:r>
              <a:rPr lang="en-US" altLang="ko-KR" sz="1050" dirty="0" err="1">
                <a:latin typeface="arial" pitchFamily="34" charset="0"/>
                <a:ea typeface="맑은 고딕" panose="020B0503020000020004" pitchFamily="50" charset="-127"/>
              </a:rPr>
              <a:t>sai</a:t>
            </a:r>
            <a:r>
              <a:rPr lang="en-US" altLang="ko-KR" sz="1050" dirty="0">
                <a:latin typeface="arial" pitchFamily="34" charset="0"/>
                <a:ea typeface="맑은 고딕" panose="020B0503020000020004" pitchFamily="50" charset="-127"/>
              </a:rPr>
              <a:t> </a:t>
            </a:r>
            <a:r>
              <a:rPr lang="en-US" altLang="ko-KR" sz="1050" dirty="0" err="1">
                <a:latin typeface="arial" pitchFamily="34" charset="0"/>
                <a:ea typeface="맑은 고딕" panose="020B0503020000020004" pitchFamily="50" charset="-127"/>
              </a:rPr>
              <a:t>mẫu</a:t>
            </a:r>
            <a:endParaRPr lang="ko-KR" altLang="en-US" sz="1050" dirty="0">
              <a:latin typeface="arial" pitchFamily="34" charset="0"/>
              <a:ea typeface="맑은 고딕" panose="020B0503020000020004" pitchFamily="50" charset="-127"/>
            </a:endParaRPr>
          </a:p>
        </p:txBody>
      </p:sp>
      <p:sp>
        <p:nvSpPr>
          <p:cNvPr id="55" name="TextBox 55"/>
          <p:cNvSpPr txBox="1">
            <a:spLocks noChangeArrowheads="1"/>
          </p:cNvSpPr>
          <p:nvPr/>
        </p:nvSpPr>
        <p:spPr bwMode="auto">
          <a:xfrm>
            <a:off x="1860658" y="5117869"/>
            <a:ext cx="1213795"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30000"/>
              </a:lnSpc>
              <a:buClr>
                <a:srgbClr val="C5003D"/>
              </a:buClr>
            </a:pPr>
            <a:r>
              <a:rPr lang="en-US" altLang="ko-KR" sz="1200" b="1" dirty="0" err="1">
                <a:solidFill>
                  <a:srgbClr val="FF0000"/>
                </a:solidFill>
                <a:latin typeface="arial" pitchFamily="34" charset="0"/>
                <a:ea typeface="맑은 고딕" pitchFamily="50" charset="-127"/>
              </a:rPr>
              <a:t>Ước</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lượng</a:t>
            </a:r>
            <a:endParaRPr lang="en-US" altLang="ko-KR" sz="1200" b="1" dirty="0">
              <a:solidFill>
                <a:srgbClr val="FF0000"/>
              </a:solidFill>
              <a:latin typeface="arial" pitchFamily="34" charset="0"/>
              <a:ea typeface="맑은 고딕" pitchFamily="50" charset="-127"/>
            </a:endParaRPr>
          </a:p>
          <a:p>
            <a:pPr algn="ctr" eaLnBrk="1" hangingPunct="1">
              <a:lnSpc>
                <a:spcPct val="130000"/>
              </a:lnSpc>
              <a:buClr>
                <a:srgbClr val="C5003D"/>
              </a:buClr>
            </a:pPr>
            <a:r>
              <a:rPr lang="en-US" altLang="ko-KR" sz="1200" b="1" dirty="0">
                <a:solidFill>
                  <a:srgbClr val="FF0000"/>
                </a:solidFill>
                <a:latin typeface="arial" pitchFamily="34" charset="0"/>
                <a:ea typeface="맑은 고딕" pitchFamily="50" charset="-127"/>
                <a:sym typeface="Wingdings" pitchFamily="2" charset="2"/>
              </a:rPr>
              <a:t></a:t>
            </a:r>
            <a:r>
              <a:rPr lang="ko-KR" altLang="en-US" sz="1200" b="1" dirty="0">
                <a:solidFill>
                  <a:srgbClr val="FF0000"/>
                </a:solidFill>
                <a:latin typeface="arial" pitchFamily="34" charset="0"/>
                <a:ea typeface="맑은 고딕" pitchFamily="50" charset="-127"/>
                <a:sym typeface="Wingdings" pitchFamily="2" charset="2"/>
              </a:rPr>
              <a:t> </a:t>
            </a:r>
            <a:r>
              <a:rPr lang="en-US" altLang="ko-KR" sz="1200" b="1" dirty="0" err="1">
                <a:solidFill>
                  <a:srgbClr val="FF0000"/>
                </a:solidFill>
                <a:latin typeface="arial" pitchFamily="34" charset="0"/>
                <a:ea typeface="맑은 고딕" pitchFamily="50" charset="-127"/>
                <a:sym typeface="Wingdings" pitchFamily="2" charset="2"/>
              </a:rPr>
              <a:t>Hành</a:t>
            </a:r>
            <a:r>
              <a:rPr lang="en-US" altLang="ko-KR" sz="1200" b="1" dirty="0">
                <a:solidFill>
                  <a:srgbClr val="FF0000"/>
                </a:solidFill>
                <a:latin typeface="arial" pitchFamily="34" charset="0"/>
                <a:ea typeface="맑은 고딕" pitchFamily="50" charset="-127"/>
                <a:sym typeface="Wingdings" pitchFamily="2" charset="2"/>
              </a:rPr>
              <a:t> </a:t>
            </a:r>
            <a:r>
              <a:rPr lang="en-US" altLang="ko-KR" sz="1200" b="1" dirty="0" err="1">
                <a:solidFill>
                  <a:srgbClr val="FF0000"/>
                </a:solidFill>
                <a:latin typeface="arial" pitchFamily="34" charset="0"/>
                <a:ea typeface="맑은 고딕" pitchFamily="50" charset="-127"/>
                <a:sym typeface="Wingdings" pitchFamily="2" charset="2"/>
              </a:rPr>
              <a:t>động</a:t>
            </a:r>
            <a:endParaRPr lang="ko-KR" altLang="en-US" sz="1200" b="1" dirty="0">
              <a:solidFill>
                <a:srgbClr val="FF0000"/>
              </a:solidFill>
              <a:latin typeface="arial" pitchFamily="34" charset="0"/>
              <a:ea typeface="맑은 고딕" pitchFamily="50" charset="-127"/>
            </a:endParaRPr>
          </a:p>
        </p:txBody>
      </p:sp>
      <p:sp>
        <p:nvSpPr>
          <p:cNvPr id="56" name="자유형 54"/>
          <p:cNvSpPr/>
          <p:nvPr/>
        </p:nvSpPr>
        <p:spPr>
          <a:xfrm>
            <a:off x="1442715" y="5225053"/>
            <a:ext cx="1814513" cy="576263"/>
          </a:xfrm>
          <a:custGeom>
            <a:avLst/>
            <a:gdLst>
              <a:gd name="connsiteX0" fmla="*/ 3837709 w 3837709"/>
              <a:gd name="connsiteY0" fmla="*/ 304800 h 1297709"/>
              <a:gd name="connsiteX1" fmla="*/ 2230582 w 3837709"/>
              <a:gd name="connsiteY1" fmla="*/ 1246909 h 1297709"/>
              <a:gd name="connsiteX2" fmla="*/ 0 w 3837709"/>
              <a:gd name="connsiteY2" fmla="*/ 0 h 1297709"/>
            </a:gdLst>
            <a:ahLst/>
            <a:cxnLst>
              <a:cxn ang="0">
                <a:pos x="connsiteX0" y="connsiteY0"/>
              </a:cxn>
              <a:cxn ang="0">
                <a:pos x="connsiteX1" y="connsiteY1"/>
              </a:cxn>
              <a:cxn ang="0">
                <a:pos x="connsiteX2" y="connsiteY2"/>
              </a:cxn>
            </a:cxnLst>
            <a:rect l="l" t="t" r="r" b="b"/>
            <a:pathLst>
              <a:path w="3837709" h="1297709">
                <a:moveTo>
                  <a:pt x="3837709" y="304800"/>
                </a:moveTo>
                <a:cubicBezTo>
                  <a:pt x="3353954" y="801254"/>
                  <a:pt x="2870200" y="1297709"/>
                  <a:pt x="2230582" y="1246909"/>
                </a:cubicBezTo>
                <a:cubicBezTo>
                  <a:pt x="1590964" y="1196109"/>
                  <a:pt x="795482" y="598054"/>
                  <a:pt x="0" y="0"/>
                </a:cubicBezTo>
              </a:path>
            </a:pathLst>
          </a:custGeom>
          <a:ln>
            <a:solidFill>
              <a:srgbClr val="FF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ko-KR" altLang="en-US" sz="1200" dirty="0">
              <a:latin typeface="arial" pitchFamily="34" charset="0"/>
            </a:endParaRPr>
          </a:p>
        </p:txBody>
      </p:sp>
      <p:sp>
        <p:nvSpPr>
          <p:cNvPr id="57" name="TextBox 50"/>
          <p:cNvSpPr txBox="1">
            <a:spLocks noChangeArrowheads="1"/>
          </p:cNvSpPr>
          <p:nvPr/>
        </p:nvSpPr>
        <p:spPr bwMode="auto">
          <a:xfrm>
            <a:off x="441966" y="5369441"/>
            <a:ext cx="138050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buClr>
                <a:srgbClr val="C5003D"/>
              </a:buClr>
            </a:pPr>
            <a:r>
              <a:rPr lang="en-US" altLang="ko-KR" sz="900" b="1" dirty="0" err="1">
                <a:latin typeface="arial" pitchFamily="34" charset="0"/>
                <a:ea typeface="맑은 고딕" pitchFamily="50" charset="-127"/>
              </a:rPr>
              <a:t>Thang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đo</a:t>
            </a:r>
            <a:endParaRPr lang="en-US" altLang="ko-KR" sz="900" b="1" dirty="0">
              <a:latin typeface="arial" pitchFamily="34" charset="0"/>
              <a:ea typeface="맑은 고딕" pitchFamily="50" charset="-127"/>
            </a:endParaRPr>
          </a:p>
          <a:p>
            <a:pPr algn="ctr" eaLnBrk="1" hangingPunct="1">
              <a:buClr>
                <a:srgbClr val="C5003D"/>
              </a:buClr>
            </a:pPr>
            <a:r>
              <a:rPr lang="en-US" altLang="ko-KR" sz="900" b="1" dirty="0">
                <a:latin typeface="arial" pitchFamily="34" charset="0"/>
                <a:ea typeface="맑은 고딕" pitchFamily="50" charset="-127"/>
              </a:rPr>
              <a:t>(</a:t>
            </a:r>
            <a:r>
              <a:rPr lang="en-US" altLang="ko-KR" sz="900" b="1" dirty="0" err="1">
                <a:latin typeface="arial" pitchFamily="34" charset="0"/>
                <a:ea typeface="맑은 고딕" pitchFamily="50" charset="-127"/>
              </a:rPr>
              <a:t>Trung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bình</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tổng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thể</a:t>
            </a:r>
            <a:endParaRPr lang="en-US" altLang="ko-KR" sz="900" b="1" dirty="0">
              <a:latin typeface="arial" pitchFamily="34" charset="0"/>
              <a:ea typeface="맑은 고딕" pitchFamily="50" charset="-127"/>
            </a:endParaRPr>
          </a:p>
          <a:p>
            <a:pPr algn="ctr" eaLnBrk="1" hangingPunct="1">
              <a:buClr>
                <a:srgbClr val="C5003D"/>
              </a:buClr>
            </a:pPr>
            <a:r>
              <a:rPr lang="en-US" altLang="ko-KR" sz="900" b="1" dirty="0" err="1">
                <a:latin typeface="arial" pitchFamily="34" charset="0"/>
                <a:ea typeface="맑은 고딕" pitchFamily="50" charset="-127"/>
              </a:rPr>
              <a:t>Phương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sai</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tổng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thể</a:t>
            </a:r>
            <a:r>
              <a:rPr lang="en-US" altLang="ko-KR" sz="900" b="1" dirty="0">
                <a:latin typeface="arial" pitchFamily="34" charset="0"/>
                <a:ea typeface="맑은 고딕" pitchFamily="50" charset="-127"/>
              </a:rPr>
              <a:t>)</a:t>
            </a:r>
            <a:endParaRPr lang="ko-KR" altLang="en-US" sz="900" b="1" dirty="0">
              <a:latin typeface="arial" pitchFamily="34" charset="0"/>
              <a:ea typeface="맑은 고딕" pitchFamily="50" charset="-127"/>
            </a:endParaRPr>
          </a:p>
        </p:txBody>
      </p:sp>
    </p:spTree>
    <p:extLst>
      <p:ext uri="{BB962C8B-B14F-4D97-AF65-F5344CB8AC3E}">
        <p14:creationId xmlns:p14="http://schemas.microsoft.com/office/powerpoint/2010/main" val="1819995744"/>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7" name="Text Box 23"/>
          <p:cNvSpPr txBox="1">
            <a:spLocks noChangeArrowheads="1"/>
          </p:cNvSpPr>
          <p:nvPr/>
        </p:nvSpPr>
        <p:spPr bwMode="auto">
          <a:xfrm>
            <a:off x="1271588" y="2079238"/>
            <a:ext cx="2376487" cy="276999"/>
          </a:xfrm>
          <a:prstGeom prst="rect">
            <a:avLst/>
          </a:prstGeom>
          <a:solidFill>
            <a:schemeClr val="bg2">
              <a:lumMod val="75000"/>
            </a:schemeClr>
          </a:solidFill>
          <a:ln w="9525">
            <a:solidFill>
              <a:schemeClr val="tx1"/>
            </a:solidFill>
            <a:miter lim="800000"/>
            <a:headEnd/>
            <a:tailEnd/>
          </a:ln>
        </p:spPr>
        <p:txBody>
          <a:bodyPr anchor="ctr">
            <a:spAutoFit/>
          </a:bodyPr>
          <a:lstStyle/>
          <a:p>
            <a:pPr algn="ctr">
              <a:spcBef>
                <a:spcPct val="50000"/>
              </a:spcBef>
              <a:defRPr/>
            </a:pPr>
            <a:r>
              <a:rPr lang="en-US" altLang="ko-KR" sz="1200" b="1" dirty="0">
                <a:latin typeface="arial" pitchFamily="34" charset="0"/>
                <a:ea typeface="맑은 고딕" pitchFamily="50" charset="-127"/>
              </a:rPr>
              <a:t>1 Sample t-Test</a:t>
            </a:r>
            <a:endParaRPr lang="ko-KR" altLang="ko-KR" sz="1200" b="1" dirty="0">
              <a:latin typeface="arial" pitchFamily="34" charset="0"/>
              <a:ea typeface="맑은 고딕" pitchFamily="50" charset="-127"/>
            </a:endParaRPr>
          </a:p>
        </p:txBody>
      </p:sp>
      <p:sp>
        <p:nvSpPr>
          <p:cNvPr id="8198" name="Text Box 24"/>
          <p:cNvSpPr txBox="1">
            <a:spLocks noChangeArrowheads="1"/>
          </p:cNvSpPr>
          <p:nvPr/>
        </p:nvSpPr>
        <p:spPr bwMode="auto">
          <a:xfrm>
            <a:off x="1271588" y="2555488"/>
            <a:ext cx="2376487" cy="276999"/>
          </a:xfrm>
          <a:prstGeom prst="rect">
            <a:avLst/>
          </a:prstGeom>
          <a:solidFill>
            <a:schemeClr val="bg2">
              <a:lumMod val="75000"/>
            </a:schemeClr>
          </a:solidFill>
          <a:ln w="9525">
            <a:solidFill>
              <a:schemeClr val="tx1"/>
            </a:solidFill>
            <a:miter lim="800000"/>
            <a:headEnd/>
            <a:tailEnd/>
          </a:ln>
        </p:spPr>
        <p:txBody>
          <a:bodyPr anchor="ctr">
            <a:spAutoFit/>
          </a:bodyPr>
          <a:lstStyle/>
          <a:p>
            <a:pPr algn="ctr">
              <a:spcBef>
                <a:spcPct val="50000"/>
              </a:spcBef>
              <a:defRPr/>
            </a:pPr>
            <a:r>
              <a:rPr lang="en-US" altLang="ko-KR" sz="1200" b="1" dirty="0">
                <a:latin typeface="arial" pitchFamily="34" charset="0"/>
                <a:ea typeface="맑은 고딕" pitchFamily="50" charset="-127"/>
              </a:rPr>
              <a:t>2 Sample t-Test</a:t>
            </a:r>
            <a:endParaRPr lang="ko-KR" altLang="ko-KR" sz="1200" b="1" dirty="0">
              <a:latin typeface="arial" pitchFamily="34" charset="0"/>
              <a:ea typeface="맑은 고딕" pitchFamily="50" charset="-127"/>
            </a:endParaRPr>
          </a:p>
        </p:txBody>
      </p:sp>
      <p:sp>
        <p:nvSpPr>
          <p:cNvPr id="8199" name="Text Box 25"/>
          <p:cNvSpPr txBox="1">
            <a:spLocks noChangeArrowheads="1"/>
          </p:cNvSpPr>
          <p:nvPr/>
        </p:nvSpPr>
        <p:spPr bwMode="auto">
          <a:xfrm>
            <a:off x="1281113" y="4997063"/>
            <a:ext cx="2376487" cy="276999"/>
          </a:xfrm>
          <a:prstGeom prst="rect">
            <a:avLst/>
          </a:prstGeom>
          <a:solidFill>
            <a:schemeClr val="bg2">
              <a:lumMod val="75000"/>
            </a:schemeClr>
          </a:solidFill>
          <a:ln w="9525">
            <a:solidFill>
              <a:schemeClr val="tx1"/>
            </a:solidFill>
            <a:miter lim="800000"/>
            <a:headEnd/>
            <a:tailEnd/>
          </a:ln>
        </p:spPr>
        <p:txBody>
          <a:bodyPr anchor="ctr">
            <a:spAutoFit/>
          </a:bodyPr>
          <a:lstStyle/>
          <a:p>
            <a:pPr algn="ctr">
              <a:spcBef>
                <a:spcPct val="50000"/>
              </a:spcBef>
              <a:defRPr/>
            </a:pPr>
            <a:r>
              <a:rPr lang="en-US" altLang="ko-KR" sz="1200" b="1" dirty="0">
                <a:latin typeface="arial" pitchFamily="34" charset="0"/>
                <a:ea typeface="맑은 고딕" pitchFamily="50" charset="-127"/>
              </a:rPr>
              <a:t>1 Proportion Test</a:t>
            </a:r>
            <a:endParaRPr lang="ko-KR" altLang="ko-KR" sz="1200" b="1" dirty="0">
              <a:latin typeface="arial" pitchFamily="34" charset="0"/>
              <a:ea typeface="맑은 고딕" pitchFamily="50" charset="-127"/>
            </a:endParaRPr>
          </a:p>
        </p:txBody>
      </p:sp>
      <p:sp>
        <p:nvSpPr>
          <p:cNvPr id="8200" name="Text Box 26"/>
          <p:cNvSpPr txBox="1">
            <a:spLocks noChangeArrowheads="1"/>
          </p:cNvSpPr>
          <p:nvPr/>
        </p:nvSpPr>
        <p:spPr bwMode="auto">
          <a:xfrm>
            <a:off x="1281113" y="5486013"/>
            <a:ext cx="2376487" cy="276999"/>
          </a:xfrm>
          <a:prstGeom prst="rect">
            <a:avLst/>
          </a:prstGeom>
          <a:solidFill>
            <a:schemeClr val="bg2">
              <a:lumMod val="75000"/>
            </a:schemeClr>
          </a:solidFill>
          <a:ln w="9525">
            <a:solidFill>
              <a:schemeClr val="tx1"/>
            </a:solidFill>
            <a:miter lim="800000"/>
            <a:headEnd/>
            <a:tailEnd/>
          </a:ln>
        </p:spPr>
        <p:txBody>
          <a:bodyPr anchor="ctr">
            <a:spAutoFit/>
          </a:bodyPr>
          <a:lstStyle/>
          <a:p>
            <a:pPr algn="ctr">
              <a:spcBef>
                <a:spcPct val="50000"/>
              </a:spcBef>
              <a:defRPr/>
            </a:pPr>
            <a:r>
              <a:rPr lang="en-US" altLang="ko-KR" sz="1200" b="1" dirty="0">
                <a:latin typeface="arial" pitchFamily="34" charset="0"/>
                <a:ea typeface="맑은 고딕" pitchFamily="50" charset="-127"/>
              </a:rPr>
              <a:t>2 Proportion Test</a:t>
            </a:r>
            <a:endParaRPr lang="ko-KR" altLang="ko-KR" sz="1200" b="1" dirty="0">
              <a:latin typeface="arial" pitchFamily="34" charset="0"/>
              <a:ea typeface="맑은 고딕" pitchFamily="50" charset="-127"/>
            </a:endParaRPr>
          </a:p>
        </p:txBody>
      </p:sp>
      <p:sp>
        <p:nvSpPr>
          <p:cNvPr id="191494" name="Text Box 23"/>
          <p:cNvSpPr txBox="1">
            <a:spLocks noChangeArrowheads="1"/>
          </p:cNvSpPr>
          <p:nvPr/>
        </p:nvSpPr>
        <p:spPr bwMode="auto">
          <a:xfrm>
            <a:off x="1271588" y="3042851"/>
            <a:ext cx="2376487" cy="27699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a:latin typeface="arial" pitchFamily="34" charset="0"/>
                <a:ea typeface="맑은 고딕" pitchFamily="50" charset="-127"/>
              </a:rPr>
              <a:t>Paired t-Test</a:t>
            </a:r>
            <a:endParaRPr lang="ko-KR" altLang="ko-KR" sz="1200" b="1" dirty="0">
              <a:latin typeface="arial" pitchFamily="34" charset="0"/>
              <a:ea typeface="맑은 고딕" pitchFamily="50" charset="-127"/>
            </a:endParaRPr>
          </a:p>
        </p:txBody>
      </p:sp>
      <p:sp>
        <p:nvSpPr>
          <p:cNvPr id="191495" name="Text Box 24"/>
          <p:cNvSpPr txBox="1">
            <a:spLocks noChangeArrowheads="1"/>
          </p:cNvSpPr>
          <p:nvPr/>
        </p:nvSpPr>
        <p:spPr bwMode="auto">
          <a:xfrm>
            <a:off x="1271588" y="3436293"/>
            <a:ext cx="2376487"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latin typeface="arial" pitchFamily="34" charset="0"/>
                <a:ea typeface="맑은 고딕" pitchFamily="50" charset="-127"/>
              </a:rPr>
              <a:t>Phân</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tích</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phương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sai</a:t>
            </a:r>
            <a:r>
              <a:rPr lang="en-US" altLang="ko-KR" sz="1200" b="1" dirty="0">
                <a:latin typeface="arial" pitchFamily="34" charset="0"/>
                <a:ea typeface="맑은 고딕" pitchFamily="50" charset="-127"/>
              </a:rPr>
              <a:t> (ANOVA)</a:t>
            </a:r>
            <a:endParaRPr lang="ko-KR" altLang="ko-KR" sz="1200" b="1" dirty="0">
              <a:latin typeface="arial" pitchFamily="34" charset="0"/>
              <a:ea typeface="맑은 고딕" pitchFamily="50" charset="-127"/>
            </a:endParaRPr>
          </a:p>
        </p:txBody>
      </p:sp>
      <p:sp>
        <p:nvSpPr>
          <p:cNvPr id="191496" name="Text Box 23"/>
          <p:cNvSpPr txBox="1">
            <a:spLocks noChangeArrowheads="1"/>
          </p:cNvSpPr>
          <p:nvPr/>
        </p:nvSpPr>
        <p:spPr bwMode="auto">
          <a:xfrm>
            <a:off x="1281113" y="4000113"/>
            <a:ext cx="2376487" cy="27699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a:latin typeface="arial" pitchFamily="34" charset="0"/>
                <a:ea typeface="맑은 고딕" pitchFamily="50" charset="-127"/>
              </a:rPr>
              <a:t>Test for Equal Variances</a:t>
            </a:r>
            <a:endParaRPr lang="ko-KR" altLang="ko-KR" sz="1200" b="1" dirty="0">
              <a:latin typeface="arial" pitchFamily="34" charset="0"/>
              <a:ea typeface="맑은 고딕" pitchFamily="50" charset="-127"/>
            </a:endParaRPr>
          </a:p>
        </p:txBody>
      </p:sp>
      <p:sp>
        <p:nvSpPr>
          <p:cNvPr id="191497" name="Text Box 25"/>
          <p:cNvSpPr txBox="1">
            <a:spLocks noChangeArrowheads="1"/>
          </p:cNvSpPr>
          <p:nvPr/>
        </p:nvSpPr>
        <p:spPr bwMode="auto">
          <a:xfrm>
            <a:off x="1281113" y="5944801"/>
            <a:ext cx="2376487" cy="27699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a:latin typeface="arial" pitchFamily="34" charset="0"/>
                <a:ea typeface="맑은 고딕" pitchFamily="50" charset="-127"/>
              </a:rPr>
              <a:t>Chi-sq. Test</a:t>
            </a:r>
            <a:endParaRPr lang="ko-KR" altLang="en-US" sz="1200" b="1" baseline="30000" dirty="0">
              <a:latin typeface="arial" pitchFamily="34" charset="0"/>
              <a:ea typeface="맑은 고딕" pitchFamily="50" charset="-127"/>
            </a:endParaRPr>
          </a:p>
        </p:txBody>
      </p:sp>
      <p:sp>
        <p:nvSpPr>
          <p:cNvPr id="191498" name="직사각형 75"/>
          <p:cNvSpPr>
            <a:spLocks noChangeArrowheads="1"/>
          </p:cNvSpPr>
          <p:nvPr/>
        </p:nvSpPr>
        <p:spPr bwMode="auto">
          <a:xfrm>
            <a:off x="488504" y="1018380"/>
            <a:ext cx="82629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600" b="1" dirty="0" err="1">
                <a:latin typeface="arial" pitchFamily="34" charset="0"/>
                <a:ea typeface="맑은 고딕" pitchFamily="50" charset="-127"/>
              </a:rPr>
              <a:t>Phương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pháp</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kiểm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định</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phụ</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thuộc</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vào</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kiểu</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dữ</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liệu</a:t>
            </a:r>
            <a:endParaRPr lang="ko-KR" altLang="en-US" sz="1600" b="1" dirty="0">
              <a:latin typeface="arial" pitchFamily="34" charset="0"/>
              <a:ea typeface="맑은 고딕" pitchFamily="50" charset="-127"/>
            </a:endParaRPr>
          </a:p>
        </p:txBody>
      </p:sp>
      <p:sp>
        <p:nvSpPr>
          <p:cNvPr id="28" name="직사각형 27"/>
          <p:cNvSpPr/>
          <p:nvPr/>
        </p:nvSpPr>
        <p:spPr>
          <a:xfrm>
            <a:off x="1437391" y="1479996"/>
            <a:ext cx="3781805" cy="441146"/>
          </a:xfrm>
          <a:prstGeom prst="rect">
            <a:avLst/>
          </a:prstGeom>
        </p:spPr>
        <p:txBody>
          <a:bodyPr wrap="none">
            <a:spAutoFit/>
          </a:bodyPr>
          <a:lstStyle/>
          <a:p>
            <a:pPr algn="ctr">
              <a:lnSpc>
                <a:spcPts val="1000"/>
              </a:lnSpc>
              <a:spcBef>
                <a:spcPct val="50000"/>
              </a:spcBef>
              <a:defRPr/>
            </a:pPr>
            <a:r>
              <a:rPr lang="en-US" altLang="ko-KR" sz="1200" b="1" u="sng" dirty="0" err="1">
                <a:latin typeface="arial" pitchFamily="34" charset="0"/>
                <a:ea typeface="맑은 고딕" pitchFamily="50" charset="-127"/>
              </a:rPr>
              <a:t>Phương</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pháp</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kiểm</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định</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giả</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thuyết</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khi</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tính</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chất</a:t>
            </a:r>
            <a:endParaRPr lang="en-US" altLang="ko-KR" sz="1200" b="1" u="sng" dirty="0">
              <a:latin typeface="arial" pitchFamily="34" charset="0"/>
              <a:ea typeface="맑은 고딕" pitchFamily="50" charset="-127"/>
            </a:endParaRPr>
          </a:p>
          <a:p>
            <a:pPr algn="ctr">
              <a:lnSpc>
                <a:spcPts val="1000"/>
              </a:lnSpc>
              <a:spcBef>
                <a:spcPct val="50000"/>
              </a:spcBef>
              <a:defRPr/>
            </a:pPr>
            <a:r>
              <a:rPr lang="en-US" altLang="ko-KR" sz="1200" b="1" u="sng" dirty="0" err="1">
                <a:latin typeface="arial" pitchFamily="34" charset="0"/>
                <a:ea typeface="맑은 고딕" pitchFamily="50" charset="-127"/>
              </a:rPr>
              <a:t>của</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phần</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tử</a:t>
            </a:r>
            <a:r>
              <a:rPr lang="en-US" altLang="ko-KR" sz="1200" b="1" u="sng" dirty="0">
                <a:latin typeface="arial" pitchFamily="34" charset="0"/>
                <a:ea typeface="맑은 고딕" pitchFamily="50" charset="-127"/>
              </a:rPr>
              <a:t> (Y) </a:t>
            </a:r>
            <a:r>
              <a:rPr lang="en-US" altLang="ko-KR" sz="1200" b="1" u="sng" dirty="0" err="1">
                <a:latin typeface="arial" pitchFamily="34" charset="0"/>
                <a:ea typeface="맑은 고딕" pitchFamily="50" charset="-127"/>
              </a:rPr>
              <a:t>là</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loại</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dữ</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liệu</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liên</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tục</a:t>
            </a:r>
            <a:endParaRPr lang="ko-KR" altLang="ko-KR" sz="1200" b="1" u="sng" dirty="0">
              <a:latin typeface="arial" pitchFamily="34" charset="0"/>
              <a:ea typeface="맑은 고딕" pitchFamily="50" charset="-127"/>
            </a:endParaRPr>
          </a:p>
        </p:txBody>
      </p:sp>
      <p:sp>
        <p:nvSpPr>
          <p:cNvPr id="191502" name="직사각형 29"/>
          <p:cNvSpPr>
            <a:spLocks noChangeArrowheads="1"/>
          </p:cNvSpPr>
          <p:nvPr/>
        </p:nvSpPr>
        <p:spPr bwMode="auto">
          <a:xfrm>
            <a:off x="3657600" y="1989138"/>
            <a:ext cx="208756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So </a:t>
            </a:r>
            <a:r>
              <a:rPr lang="en-US" altLang="ko-KR" sz="1000" dirty="0" err="1">
                <a:latin typeface="arial" pitchFamily="34" charset="0"/>
                <a:ea typeface="맑은 고딕" pitchFamily="50" charset="-127"/>
              </a:rPr>
              <a:t>sánh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sự</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biệt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giữa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trung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mẫu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và</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giá</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trị</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cụ</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đã</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biết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hoặc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ra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giả</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định</a:t>
            </a:r>
            <a:endParaRPr lang="ko-KR" altLang="en-US" sz="1000" dirty="0">
              <a:latin typeface="arial" pitchFamily="34" charset="0"/>
              <a:ea typeface="맑은 고딕" pitchFamily="50" charset="-127"/>
            </a:endParaRPr>
          </a:p>
        </p:txBody>
      </p:sp>
      <p:sp>
        <p:nvSpPr>
          <p:cNvPr id="191503" name="직사각형 30"/>
          <p:cNvSpPr>
            <a:spLocks noChangeArrowheads="1"/>
          </p:cNvSpPr>
          <p:nvPr/>
        </p:nvSpPr>
        <p:spPr bwMode="auto">
          <a:xfrm>
            <a:off x="3657600" y="2492896"/>
            <a:ext cx="20875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So </a:t>
            </a:r>
            <a:r>
              <a:rPr lang="en-US" altLang="ko-KR" sz="1000" dirty="0" err="1">
                <a:latin typeface="arial" pitchFamily="34" charset="0"/>
                <a:ea typeface="맑은 고딕" pitchFamily="50" charset="-127"/>
              </a:rPr>
              <a:t>sánh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giá</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trị</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trung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từ</a:t>
            </a:r>
            <a:r>
              <a:rPr lang="en-US" altLang="ko-KR" sz="1000" dirty="0">
                <a:latin typeface="arial" pitchFamily="34" charset="0"/>
                <a:ea typeface="맑은 고딕" pitchFamily="50" charset="-127"/>
              </a:rPr>
              <a:t> 2 </a:t>
            </a:r>
            <a:r>
              <a:rPr lang="en-US" altLang="ko-KR" sz="1000" dirty="0" err="1">
                <a:latin typeface="arial" pitchFamily="34" charset="0"/>
                <a:ea typeface="맑은 고딕" pitchFamily="50" charset="-127"/>
              </a:rPr>
              <a:t>tổng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nhau</a:t>
            </a:r>
            <a:endParaRPr lang="ko-KR" altLang="en-US" sz="1000" dirty="0">
              <a:latin typeface="arial" pitchFamily="34" charset="0"/>
              <a:ea typeface="맑은 고딕" pitchFamily="50" charset="-127"/>
            </a:endParaRPr>
          </a:p>
        </p:txBody>
      </p:sp>
      <p:sp>
        <p:nvSpPr>
          <p:cNvPr id="191504" name="직사각형 31"/>
          <p:cNvSpPr>
            <a:spLocks noChangeArrowheads="1"/>
          </p:cNvSpPr>
          <p:nvPr/>
        </p:nvSpPr>
        <p:spPr bwMode="auto">
          <a:xfrm>
            <a:off x="3657600" y="3547378"/>
            <a:ext cx="273526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So </a:t>
            </a:r>
            <a:r>
              <a:rPr lang="en-US" altLang="ko-KR" sz="1000" dirty="0" err="1">
                <a:latin typeface="arial" pitchFamily="34" charset="0"/>
                <a:ea typeface="맑은 고딕" pitchFamily="50" charset="-127"/>
              </a:rPr>
              <a:t>sánh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trung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của</a:t>
            </a:r>
            <a:r>
              <a:rPr lang="en-US" altLang="ko-KR" sz="1000" dirty="0">
                <a:latin typeface="arial" pitchFamily="34" charset="0"/>
                <a:ea typeface="맑은 고딕" pitchFamily="50" charset="-127"/>
              </a:rPr>
              <a:t> 3 </a:t>
            </a:r>
            <a:r>
              <a:rPr lang="en-US" altLang="ko-KR" sz="1000" dirty="0" err="1">
                <a:latin typeface="arial" pitchFamily="34" charset="0"/>
                <a:ea typeface="맑은 고딕" pitchFamily="50" charset="-127"/>
              </a:rPr>
              <a:t>tổng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trở</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lên</a:t>
            </a:r>
            <a:endParaRPr lang="ko-KR" altLang="en-US" sz="1000" dirty="0">
              <a:latin typeface="arial" pitchFamily="34" charset="0"/>
              <a:ea typeface="맑은 고딕" pitchFamily="50" charset="-127"/>
            </a:endParaRPr>
          </a:p>
        </p:txBody>
      </p:sp>
      <p:sp>
        <p:nvSpPr>
          <p:cNvPr id="191505" name="직사각형 32"/>
          <p:cNvSpPr>
            <a:spLocks noChangeArrowheads="1"/>
          </p:cNvSpPr>
          <p:nvPr/>
        </p:nvSpPr>
        <p:spPr bwMode="auto">
          <a:xfrm>
            <a:off x="3657600" y="2996952"/>
            <a:ext cx="23749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err="1">
                <a:latin typeface="arial" pitchFamily="34" charset="0"/>
                <a:ea typeface="맑은 고딕" pitchFamily="50" charset="-127"/>
              </a:rPr>
              <a:t>Kiểm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những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biệt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trong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cùng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một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tổng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endParaRPr lang="ko-KR" altLang="en-US" sz="1000" dirty="0">
              <a:latin typeface="arial" pitchFamily="34" charset="0"/>
              <a:ea typeface="맑은 고딕" pitchFamily="50" charset="-127"/>
            </a:endParaRPr>
          </a:p>
        </p:txBody>
      </p:sp>
      <p:sp>
        <p:nvSpPr>
          <p:cNvPr id="191506" name="직사각형 33"/>
          <p:cNvSpPr>
            <a:spLocks noChangeArrowheads="1"/>
          </p:cNvSpPr>
          <p:nvPr/>
        </p:nvSpPr>
        <p:spPr bwMode="auto">
          <a:xfrm>
            <a:off x="3657600" y="3933056"/>
            <a:ext cx="2159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So </a:t>
            </a:r>
            <a:r>
              <a:rPr lang="en-US" altLang="ko-KR" sz="1000" dirty="0" err="1">
                <a:latin typeface="arial" pitchFamily="34" charset="0"/>
                <a:ea typeface="맑은 고딕" pitchFamily="50" charset="-127"/>
              </a:rPr>
              <a:t>sánh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phân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phối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của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tổng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nhau</a:t>
            </a:r>
            <a:endParaRPr lang="ko-KR" altLang="en-US" sz="1000" dirty="0">
              <a:latin typeface="arial" pitchFamily="34" charset="0"/>
              <a:ea typeface="맑은 고딕" pitchFamily="50" charset="-127"/>
            </a:endParaRPr>
          </a:p>
        </p:txBody>
      </p:sp>
      <p:sp>
        <p:nvSpPr>
          <p:cNvPr id="191507" name="직사각형 34"/>
          <p:cNvSpPr>
            <a:spLocks noChangeArrowheads="1"/>
          </p:cNvSpPr>
          <p:nvPr/>
        </p:nvSpPr>
        <p:spPr bwMode="auto">
          <a:xfrm>
            <a:off x="3657600" y="4869160"/>
            <a:ext cx="20875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So </a:t>
            </a:r>
            <a:r>
              <a:rPr lang="en-US" altLang="ko-KR" sz="1000" dirty="0" err="1">
                <a:latin typeface="arial" pitchFamily="34" charset="0"/>
                <a:ea typeface="맑은 고딕" pitchFamily="50" charset="-127"/>
              </a:rPr>
              <a:t>sánh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tỷ</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lệ</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lỗi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trong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một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tổng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với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một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tỷ</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lệ</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lỗi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nhất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định</a:t>
            </a:r>
            <a:endParaRPr lang="ko-KR" altLang="en-US" sz="1000" dirty="0">
              <a:latin typeface="arial" pitchFamily="34" charset="0"/>
              <a:ea typeface="맑은 고딕" pitchFamily="50" charset="-127"/>
            </a:endParaRPr>
          </a:p>
        </p:txBody>
      </p:sp>
      <p:sp>
        <p:nvSpPr>
          <p:cNvPr id="191508" name="직사각형 35"/>
          <p:cNvSpPr>
            <a:spLocks noChangeArrowheads="1"/>
          </p:cNvSpPr>
          <p:nvPr/>
        </p:nvSpPr>
        <p:spPr bwMode="auto">
          <a:xfrm>
            <a:off x="3657600" y="5444032"/>
            <a:ext cx="20875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So </a:t>
            </a:r>
            <a:r>
              <a:rPr lang="en-US" altLang="ko-KR" sz="1000" dirty="0" err="1">
                <a:latin typeface="arial" pitchFamily="34" charset="0"/>
                <a:ea typeface="맑은 고딕" pitchFamily="50" charset="-127"/>
              </a:rPr>
              <a:t>sánh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tỷ</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lệ</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lỗi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giữa</a:t>
            </a:r>
            <a:r>
              <a:rPr lang="en-US" altLang="ko-KR" sz="1000" dirty="0">
                <a:latin typeface="arial" pitchFamily="34" charset="0"/>
                <a:ea typeface="맑은 고딕" pitchFamily="50" charset="-127"/>
              </a:rPr>
              <a:t> 2 </a:t>
            </a:r>
            <a:r>
              <a:rPr lang="en-US" altLang="ko-KR" sz="1000" dirty="0" err="1">
                <a:latin typeface="arial" pitchFamily="34" charset="0"/>
                <a:ea typeface="맑은 고딕" pitchFamily="50" charset="-127"/>
              </a:rPr>
              <a:t>tổng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nhau</a:t>
            </a:r>
            <a:endParaRPr lang="ko-KR" altLang="en-US" sz="1000" dirty="0">
              <a:latin typeface="arial" pitchFamily="34" charset="0"/>
              <a:ea typeface="맑은 고딕" pitchFamily="50" charset="-127"/>
            </a:endParaRPr>
          </a:p>
        </p:txBody>
      </p:sp>
      <p:grpSp>
        <p:nvGrpSpPr>
          <p:cNvPr id="3" name="그룹 46"/>
          <p:cNvGrpSpPr>
            <a:grpSpLocks/>
          </p:cNvGrpSpPr>
          <p:nvPr/>
        </p:nvGrpSpPr>
        <p:grpSpPr bwMode="auto">
          <a:xfrm>
            <a:off x="1281113" y="2463800"/>
            <a:ext cx="7920037" cy="3408363"/>
            <a:chOff x="1280592" y="2464321"/>
            <a:chExt cx="7920880" cy="3407618"/>
          </a:xfrm>
        </p:grpSpPr>
        <p:cxnSp>
          <p:nvCxnSpPr>
            <p:cNvPr id="40" name="직선 연결선 39"/>
            <p:cNvCxnSpPr/>
            <p:nvPr/>
          </p:nvCxnSpPr>
          <p:spPr>
            <a:xfrm>
              <a:off x="1280592" y="2464321"/>
              <a:ext cx="7920880"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직선 연결선 40"/>
            <p:cNvCxnSpPr/>
            <p:nvPr/>
          </p:nvCxnSpPr>
          <p:spPr>
            <a:xfrm>
              <a:off x="1280592" y="2934118"/>
              <a:ext cx="7920880"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직선 연결선 41"/>
            <p:cNvCxnSpPr/>
            <p:nvPr/>
          </p:nvCxnSpPr>
          <p:spPr>
            <a:xfrm>
              <a:off x="1280592" y="3429310"/>
              <a:ext cx="7920880"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직선 연결선 42"/>
            <p:cNvCxnSpPr/>
            <p:nvPr/>
          </p:nvCxnSpPr>
          <p:spPr>
            <a:xfrm>
              <a:off x="1280592" y="3894346"/>
              <a:ext cx="7920880"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직선 연결선 43"/>
            <p:cNvCxnSpPr/>
            <p:nvPr/>
          </p:nvCxnSpPr>
          <p:spPr>
            <a:xfrm>
              <a:off x="1280592" y="4394299"/>
              <a:ext cx="7920880"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5" name="직선 연결선 44"/>
            <p:cNvCxnSpPr/>
            <p:nvPr/>
          </p:nvCxnSpPr>
          <p:spPr>
            <a:xfrm>
              <a:off x="1280592" y="5373573"/>
              <a:ext cx="7920880"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직선 연결선 45"/>
            <p:cNvCxnSpPr/>
            <p:nvPr/>
          </p:nvCxnSpPr>
          <p:spPr>
            <a:xfrm>
              <a:off x="1280592" y="5871939"/>
              <a:ext cx="7920880"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191514" name="직사각형 50"/>
          <p:cNvSpPr>
            <a:spLocks noChangeArrowheads="1"/>
          </p:cNvSpPr>
          <p:nvPr/>
        </p:nvSpPr>
        <p:spPr bwMode="auto">
          <a:xfrm>
            <a:off x="6034088" y="1479996"/>
            <a:ext cx="36718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200"/>
              </a:lnSpc>
              <a:spcBef>
                <a:spcPct val="50000"/>
              </a:spcBef>
            </a:pPr>
            <a:r>
              <a:rPr lang="en-US" altLang="ko-KR" sz="1200" b="1" u="sng" dirty="0" err="1">
                <a:latin typeface="arial" pitchFamily="34" charset="0"/>
                <a:ea typeface="맑은 고딕" pitchFamily="50" charset="-127"/>
              </a:rPr>
              <a:t>Khi</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giả</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thuyết</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về</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chiều</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dài</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của</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một</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sản</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phẩm</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là</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quan</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trọng</a:t>
            </a:r>
            <a:endParaRPr lang="ko-KR" altLang="ko-KR" sz="1200" b="1" u="sng" dirty="0">
              <a:latin typeface="arial" pitchFamily="34" charset="0"/>
              <a:ea typeface="맑은 고딕" pitchFamily="50" charset="-127"/>
            </a:endParaRPr>
          </a:p>
        </p:txBody>
      </p:sp>
      <p:sp>
        <p:nvSpPr>
          <p:cNvPr id="191517" name="직사각형 53"/>
          <p:cNvSpPr>
            <a:spLocks noChangeArrowheads="1"/>
          </p:cNvSpPr>
          <p:nvPr/>
        </p:nvSpPr>
        <p:spPr bwMode="auto">
          <a:xfrm>
            <a:off x="6282878" y="4772434"/>
            <a:ext cx="34559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VD: </a:t>
            </a:r>
            <a:r>
              <a:rPr lang="vi-VN" altLang="ko-KR" sz="1000" dirty="0">
                <a:latin typeface="arial" pitchFamily="34" charset="0"/>
                <a:ea typeface="맑은 고딕" pitchFamily="50" charset="-127"/>
              </a:rPr>
              <a:t>Chúng t</a:t>
            </a:r>
            <a:r>
              <a:rPr lang="en-US" altLang="ko-KR" sz="1000" dirty="0">
                <a:latin typeface="arial" pitchFamily="34" charset="0"/>
                <a:ea typeface="맑은 고딕" pitchFamily="50" charset="-127"/>
              </a:rPr>
              <a:t>a </a:t>
            </a:r>
            <a:r>
              <a:rPr lang="vi-VN" altLang="ko-KR" sz="1000" dirty="0">
                <a:latin typeface="arial" pitchFamily="34" charset="0"/>
                <a:ea typeface="맑은 고딕" pitchFamily="50" charset="-127"/>
              </a:rPr>
              <a:t>muốn biết liệu các tỷ lệ </a:t>
            </a:r>
            <a:r>
              <a:rPr lang="en-US" altLang="ko-KR" sz="1000" dirty="0" err="1">
                <a:latin typeface="arial" pitchFamily="34" charset="0"/>
                <a:ea typeface="맑은 고딕" pitchFamily="50" charset="-127"/>
              </a:rPr>
              <a:t>lỗi</a:t>
            </a:r>
            <a:r>
              <a:rPr lang="vi-VN" altLang="ko-KR" sz="1000" dirty="0">
                <a:latin typeface="arial" pitchFamily="34" charset="0"/>
                <a:ea typeface="맑은 고딕" pitchFamily="50" charset="-127"/>
              </a:rPr>
              <a:t> cho chiều dài sản phẩm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giảm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xuống</a:t>
            </a:r>
            <a:r>
              <a:rPr lang="vi-VN" altLang="ko-KR" sz="1000" dirty="0">
                <a:latin typeface="arial" pitchFamily="34" charset="0"/>
                <a:ea typeface="맑은 고딕" pitchFamily="50" charset="-127"/>
              </a:rPr>
              <a:t> 3% nếu các phương pháp sản xuất mới được thực hiện.</a:t>
            </a:r>
            <a:endParaRPr lang="ko-KR" altLang="en-US" sz="1000" dirty="0">
              <a:latin typeface="arial" pitchFamily="34" charset="0"/>
              <a:ea typeface="맑은 고딕" pitchFamily="50" charset="-127"/>
            </a:endParaRPr>
          </a:p>
        </p:txBody>
      </p:sp>
      <p:sp>
        <p:nvSpPr>
          <p:cNvPr id="191518" name="직사각형 54"/>
          <p:cNvSpPr>
            <a:spLocks noChangeArrowheads="1"/>
          </p:cNvSpPr>
          <p:nvPr/>
        </p:nvSpPr>
        <p:spPr bwMode="auto">
          <a:xfrm>
            <a:off x="6282878" y="2495199"/>
            <a:ext cx="34559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VD: </a:t>
            </a:r>
            <a:r>
              <a:rPr lang="en-US" altLang="ko-KR" sz="1000" dirty="0" err="1">
                <a:latin typeface="arial" pitchFamily="34" charset="0"/>
                <a:ea typeface="맑은 고딕" pitchFamily="50" charset="-127"/>
              </a:rPr>
              <a:t>Chúng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muốn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biết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liệu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chiều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dài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sản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phẩm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thay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đổi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phương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pháp</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sản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xuất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mới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được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áp</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dụng</a:t>
            </a:r>
            <a:r>
              <a:rPr lang="en-US" altLang="ko-KR" sz="1000" dirty="0">
                <a:latin typeface="arial" pitchFamily="34" charset="0"/>
                <a:ea typeface="맑은 고딕" pitchFamily="50" charset="-127"/>
              </a:rPr>
              <a:t>.</a:t>
            </a:r>
            <a:endParaRPr lang="ko-KR" altLang="en-US" sz="1000" dirty="0">
              <a:latin typeface="arial" pitchFamily="34" charset="0"/>
              <a:ea typeface="맑은 고딕" pitchFamily="50" charset="-127"/>
            </a:endParaRPr>
          </a:p>
        </p:txBody>
      </p:sp>
      <p:sp>
        <p:nvSpPr>
          <p:cNvPr id="191519"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3. </a:t>
            </a:r>
            <a:r>
              <a:rPr lang="en-US" altLang="ko-KR" sz="2000" b="1" dirty="0" err="1">
                <a:solidFill>
                  <a:srgbClr val="000000"/>
                </a:solidFill>
                <a:latin typeface="arial" pitchFamily="34" charset="0"/>
                <a:ea typeface="맑은 고딕" pitchFamily="50" charset="-127"/>
              </a:rPr>
              <a:t>Các</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loại</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kiểm</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định</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giả</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thuyết</a:t>
            </a:r>
            <a:endParaRPr lang="ko-KR" altLang="en-US" sz="2000" b="1" dirty="0">
              <a:solidFill>
                <a:srgbClr val="000000"/>
              </a:solidFill>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163</a:t>
            </a:fld>
            <a:endParaRPr lang="ko-KR" altLang="en-US" dirty="0"/>
          </a:p>
        </p:txBody>
      </p:sp>
      <p:sp>
        <p:nvSpPr>
          <p:cNvPr id="47" name="직사각형 46"/>
          <p:cNvSpPr/>
          <p:nvPr/>
        </p:nvSpPr>
        <p:spPr>
          <a:xfrm>
            <a:off x="1437378" y="4477042"/>
            <a:ext cx="3781805" cy="441146"/>
          </a:xfrm>
          <a:prstGeom prst="rect">
            <a:avLst/>
          </a:prstGeom>
        </p:spPr>
        <p:txBody>
          <a:bodyPr wrap="none">
            <a:spAutoFit/>
          </a:bodyPr>
          <a:lstStyle/>
          <a:p>
            <a:pPr algn="ctr">
              <a:lnSpc>
                <a:spcPts val="1000"/>
              </a:lnSpc>
              <a:spcBef>
                <a:spcPct val="50000"/>
              </a:spcBef>
              <a:defRPr/>
            </a:pPr>
            <a:r>
              <a:rPr lang="en-US" altLang="ko-KR" sz="1200" b="1" u="sng" dirty="0" err="1">
                <a:latin typeface="arial" pitchFamily="34" charset="0"/>
                <a:ea typeface="맑은 고딕" pitchFamily="50" charset="-127"/>
              </a:rPr>
              <a:t>Phương</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pháp</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kiểm</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định</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giả</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thuyết</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khi</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tính</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chất</a:t>
            </a:r>
            <a:endParaRPr lang="en-US" altLang="ko-KR" sz="1200" b="1" u="sng" dirty="0">
              <a:latin typeface="arial" pitchFamily="34" charset="0"/>
              <a:ea typeface="맑은 고딕" pitchFamily="50" charset="-127"/>
            </a:endParaRPr>
          </a:p>
          <a:p>
            <a:pPr algn="ctr">
              <a:lnSpc>
                <a:spcPts val="1000"/>
              </a:lnSpc>
              <a:spcBef>
                <a:spcPct val="50000"/>
              </a:spcBef>
              <a:defRPr/>
            </a:pPr>
            <a:r>
              <a:rPr lang="en-US" altLang="ko-KR" sz="1200" b="1" u="sng" dirty="0" err="1">
                <a:latin typeface="arial" pitchFamily="34" charset="0"/>
                <a:ea typeface="맑은 고딕" pitchFamily="50" charset="-127"/>
              </a:rPr>
              <a:t>của</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phần</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tử</a:t>
            </a:r>
            <a:r>
              <a:rPr lang="en-US" altLang="ko-KR" sz="1200" b="1" u="sng" dirty="0">
                <a:latin typeface="arial" pitchFamily="34" charset="0"/>
                <a:ea typeface="맑은 고딕" pitchFamily="50" charset="-127"/>
              </a:rPr>
              <a:t> (Y) </a:t>
            </a:r>
            <a:r>
              <a:rPr lang="en-US" altLang="ko-KR" sz="1200" b="1" u="sng" dirty="0" err="1">
                <a:latin typeface="arial" pitchFamily="34" charset="0"/>
                <a:ea typeface="맑은 고딕" pitchFamily="50" charset="-127"/>
              </a:rPr>
              <a:t>là</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loại</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dữ</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liệu</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rời</a:t>
            </a:r>
            <a:r>
              <a:rPr lang="en-US" altLang="ko-KR" sz="1200" b="1" u="sng" dirty="0">
                <a:latin typeface="arial" pitchFamily="34" charset="0"/>
                <a:ea typeface="맑은 고딕" pitchFamily="50" charset="-127"/>
              </a:rPr>
              <a:t> </a:t>
            </a:r>
            <a:r>
              <a:rPr lang="en-US" altLang="ko-KR" sz="1200" b="1" u="sng" dirty="0" err="1">
                <a:latin typeface="arial" pitchFamily="34" charset="0"/>
                <a:ea typeface="맑은 고딕" pitchFamily="50" charset="-127"/>
              </a:rPr>
              <a:t>rạc</a:t>
            </a:r>
            <a:endParaRPr lang="ko-KR" altLang="ko-KR" sz="1200" b="1" u="sng" dirty="0">
              <a:latin typeface="arial" pitchFamily="34" charset="0"/>
              <a:ea typeface="맑은 고딕" pitchFamily="50" charset="-127"/>
            </a:endParaRPr>
          </a:p>
        </p:txBody>
      </p:sp>
      <p:sp>
        <p:nvSpPr>
          <p:cNvPr id="48" name="직사각형 35"/>
          <p:cNvSpPr>
            <a:spLocks noChangeArrowheads="1"/>
          </p:cNvSpPr>
          <p:nvPr/>
        </p:nvSpPr>
        <p:spPr bwMode="auto">
          <a:xfrm>
            <a:off x="3648075" y="5879829"/>
            <a:ext cx="20875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So </a:t>
            </a:r>
            <a:r>
              <a:rPr lang="en-US" altLang="ko-KR" sz="1000" dirty="0" err="1">
                <a:latin typeface="arial" pitchFamily="34" charset="0"/>
                <a:ea typeface="맑은 고딕" pitchFamily="50" charset="-127"/>
              </a:rPr>
              <a:t>sánh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phân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phối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lỗi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giữa</a:t>
            </a:r>
            <a:r>
              <a:rPr lang="en-US" altLang="ko-KR" sz="1000" dirty="0">
                <a:latin typeface="arial" pitchFamily="34" charset="0"/>
                <a:ea typeface="맑은 고딕" pitchFamily="50" charset="-127"/>
              </a:rPr>
              <a:t> 2 </a:t>
            </a:r>
            <a:r>
              <a:rPr lang="en-US" altLang="ko-KR" sz="1000" dirty="0" err="1">
                <a:latin typeface="arial" pitchFamily="34" charset="0"/>
                <a:ea typeface="맑은 고딕" pitchFamily="50" charset="-127"/>
              </a:rPr>
              <a:t>tổng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nhau</a:t>
            </a:r>
            <a:endParaRPr lang="ko-KR" altLang="en-US" sz="1000" dirty="0">
              <a:latin typeface="arial" pitchFamily="34" charset="0"/>
              <a:ea typeface="맑은 고딕" pitchFamily="50" charset="-127"/>
            </a:endParaRPr>
          </a:p>
        </p:txBody>
      </p:sp>
      <p:sp>
        <p:nvSpPr>
          <p:cNvPr id="49" name="직사각형 54"/>
          <p:cNvSpPr>
            <a:spLocks noChangeArrowheads="1"/>
          </p:cNvSpPr>
          <p:nvPr/>
        </p:nvSpPr>
        <p:spPr bwMode="auto">
          <a:xfrm>
            <a:off x="6287131" y="5886416"/>
            <a:ext cx="34559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VD: </a:t>
            </a:r>
            <a:r>
              <a:rPr lang="en-US" altLang="ko-KR" sz="1000" dirty="0" err="1">
                <a:latin typeface="arial" pitchFamily="34" charset="0"/>
                <a:ea typeface="맑은 고딕" pitchFamily="50" charset="-127"/>
              </a:rPr>
              <a:t>Chúng</a:t>
            </a:r>
            <a:r>
              <a:rPr lang="en-US" altLang="ko-KR" sz="1000" dirty="0">
                <a:latin typeface="arial" pitchFamily="34" charset="0"/>
                <a:ea typeface="맑은 고딕" pitchFamily="50" charset="-127"/>
              </a:rPr>
              <a:t> ta </a:t>
            </a:r>
            <a:r>
              <a:rPr lang="en-US" altLang="ko-KR" sz="1000" dirty="0" err="1">
                <a:latin typeface="arial" pitchFamily="34" charset="0"/>
                <a:ea typeface="맑은 고딕" pitchFamily="50" charset="-127"/>
              </a:rPr>
              <a:t>muốn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biết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liệu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sự</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biệt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giữa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sự</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phân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phối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loại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lỗi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của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mỗi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chuyền</a:t>
            </a:r>
            <a:r>
              <a:rPr lang="en-US" altLang="ko-KR" sz="1000" dirty="0">
                <a:latin typeface="arial" pitchFamily="34" charset="0"/>
                <a:ea typeface="맑은 고딕" pitchFamily="50" charset="-127"/>
              </a:rPr>
              <a:t> hay </a:t>
            </a:r>
            <a:r>
              <a:rPr lang="en-US" altLang="ko-KR" sz="1000" dirty="0" err="1">
                <a:latin typeface="arial" pitchFamily="34" charset="0"/>
                <a:ea typeface="맑은 고딕" pitchFamily="50" charset="-127"/>
              </a:rPr>
              <a:t>không</a:t>
            </a:r>
            <a:r>
              <a:rPr lang="en-US" altLang="ko-KR" sz="1000" dirty="0">
                <a:latin typeface="arial" pitchFamily="34" charset="0"/>
                <a:ea typeface="맑은 고딕" pitchFamily="50" charset="-127"/>
              </a:rPr>
              <a:t>.</a:t>
            </a:r>
            <a:endParaRPr lang="ko-KR" altLang="en-US" sz="1000" dirty="0">
              <a:latin typeface="arial" pitchFamily="34" charset="0"/>
              <a:ea typeface="맑은 고딕" pitchFamily="50" charset="-127"/>
            </a:endParaRPr>
          </a:p>
        </p:txBody>
      </p:sp>
      <p:sp>
        <p:nvSpPr>
          <p:cNvPr id="50" name="직사각형 53"/>
          <p:cNvSpPr>
            <a:spLocks noChangeArrowheads="1"/>
          </p:cNvSpPr>
          <p:nvPr/>
        </p:nvSpPr>
        <p:spPr bwMode="auto">
          <a:xfrm>
            <a:off x="6282878" y="1940738"/>
            <a:ext cx="34559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VD:</a:t>
            </a:r>
            <a:r>
              <a:rPr lang="vi-VN" altLang="ko-KR" sz="1000" dirty="0">
                <a:latin typeface="arial" pitchFamily="34" charset="0"/>
                <a:ea typeface="맑은 고딕" pitchFamily="50" charset="-127"/>
              </a:rPr>
              <a:t> Chúng t</a:t>
            </a:r>
            <a:r>
              <a:rPr lang="en-US" altLang="ko-KR" sz="1000" dirty="0">
                <a:latin typeface="arial" pitchFamily="34" charset="0"/>
                <a:ea typeface="맑은 고딕" pitchFamily="50" charset="-127"/>
              </a:rPr>
              <a:t>a</a:t>
            </a:r>
            <a:r>
              <a:rPr lang="vi-VN" altLang="ko-KR" sz="1000" dirty="0">
                <a:latin typeface="arial" pitchFamily="34" charset="0"/>
                <a:ea typeface="맑은 고딕" pitchFamily="50" charset="-127"/>
              </a:rPr>
              <a:t> muốn biết liệu chiều dài sản phẩm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vi-VN" altLang="ko-KR" sz="1000" dirty="0">
                <a:latin typeface="arial" pitchFamily="34" charset="0"/>
                <a:ea typeface="맑은 고딕" pitchFamily="50" charset="-127"/>
              </a:rPr>
              <a:t>là 25 cm </a:t>
            </a:r>
            <a:r>
              <a:rPr lang="en-US" altLang="ko-KR" sz="1000" dirty="0" err="1">
                <a:latin typeface="arial" pitchFamily="34" charset="0"/>
                <a:ea typeface="맑은 고딕" pitchFamily="50" charset="-127"/>
              </a:rPr>
              <a:t>khi</a:t>
            </a:r>
            <a:r>
              <a:rPr lang="vi-VN"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áp</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dụng</a:t>
            </a:r>
            <a:r>
              <a:rPr lang="vi-VN" altLang="ko-KR" sz="1000" dirty="0">
                <a:latin typeface="arial" pitchFamily="34" charset="0"/>
                <a:ea typeface="맑은 고딕" pitchFamily="50" charset="-127"/>
              </a:rPr>
              <a:t> phương pháp sản xuất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a:t>
            </a:r>
          </a:p>
        </p:txBody>
      </p:sp>
      <p:sp>
        <p:nvSpPr>
          <p:cNvPr id="52" name="직사각형 54"/>
          <p:cNvSpPr>
            <a:spLocks noChangeArrowheads="1"/>
          </p:cNvSpPr>
          <p:nvPr/>
        </p:nvSpPr>
        <p:spPr bwMode="auto">
          <a:xfrm>
            <a:off x="6270290" y="5439582"/>
            <a:ext cx="34559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VD: </a:t>
            </a:r>
            <a:r>
              <a:rPr lang="vi-VN" altLang="ko-KR" sz="1000" dirty="0">
                <a:latin typeface="arial" pitchFamily="34" charset="0"/>
                <a:ea typeface="맑은 고딕" pitchFamily="50" charset="-127"/>
              </a:rPr>
              <a:t>Chúng tôi muốn biết liệu tỷ lệ lỗi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thay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đổi</a:t>
            </a:r>
            <a:r>
              <a:rPr lang="vi-VN" altLang="ko-KR" sz="1000" dirty="0">
                <a:latin typeface="arial" pitchFamily="34" charset="0"/>
                <a:ea typeface="맑은 고딕" pitchFamily="50" charset="-127"/>
              </a:rPr>
              <a:t> nếu việc cải tiến mới được thực hiện.</a:t>
            </a:r>
            <a:endParaRPr lang="ko-KR" altLang="en-US" sz="1000" dirty="0">
              <a:latin typeface="arial" pitchFamily="34" charset="0"/>
              <a:ea typeface="맑은 고딕" pitchFamily="50" charset="-127"/>
            </a:endParaRPr>
          </a:p>
        </p:txBody>
      </p:sp>
      <p:sp>
        <p:nvSpPr>
          <p:cNvPr id="53" name="직사각형 54"/>
          <p:cNvSpPr>
            <a:spLocks noChangeArrowheads="1"/>
          </p:cNvSpPr>
          <p:nvPr/>
        </p:nvSpPr>
        <p:spPr bwMode="auto">
          <a:xfrm>
            <a:off x="6270290" y="2911160"/>
            <a:ext cx="34559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VD: </a:t>
            </a:r>
            <a:r>
              <a:rPr lang="en-US" altLang="ko-KR" sz="1000" dirty="0" err="1">
                <a:latin typeface="arial" pitchFamily="34" charset="0"/>
                <a:ea typeface="맑은 고딕" pitchFamily="50" charset="-127"/>
              </a:rPr>
              <a:t>Chúng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muốn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biết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liệu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chiều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dài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sản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phẩm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thay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đổi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với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những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sản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phẩm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được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xử</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lý</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nhiệt</a:t>
            </a:r>
            <a:r>
              <a:rPr lang="en-US" altLang="ko-KR" sz="1000" dirty="0">
                <a:latin typeface="arial" pitchFamily="34" charset="0"/>
                <a:ea typeface="맑은 고딕" pitchFamily="50" charset="-127"/>
              </a:rPr>
              <a:t> hay </a:t>
            </a:r>
            <a:r>
              <a:rPr lang="en-US" altLang="ko-KR" sz="1000" dirty="0" err="1">
                <a:latin typeface="arial" pitchFamily="34" charset="0"/>
                <a:ea typeface="맑은 고딕" pitchFamily="50" charset="-127"/>
              </a:rPr>
              <a:t>không</a:t>
            </a:r>
            <a:r>
              <a:rPr lang="en-US" altLang="ko-KR" sz="1000" dirty="0">
                <a:latin typeface="arial" pitchFamily="34" charset="0"/>
                <a:ea typeface="맑은 고딕" pitchFamily="50" charset="-127"/>
              </a:rPr>
              <a:t>.</a:t>
            </a:r>
            <a:endParaRPr lang="ko-KR" altLang="en-US" sz="1000" dirty="0">
              <a:latin typeface="arial" pitchFamily="34" charset="0"/>
              <a:ea typeface="맑은 고딕" pitchFamily="50" charset="-127"/>
            </a:endParaRPr>
          </a:p>
        </p:txBody>
      </p:sp>
      <p:sp>
        <p:nvSpPr>
          <p:cNvPr id="54" name="직사각형 54"/>
          <p:cNvSpPr>
            <a:spLocks noChangeArrowheads="1"/>
          </p:cNvSpPr>
          <p:nvPr/>
        </p:nvSpPr>
        <p:spPr bwMode="auto">
          <a:xfrm>
            <a:off x="6273148" y="3409634"/>
            <a:ext cx="34559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VD: </a:t>
            </a:r>
            <a:r>
              <a:rPr lang="vi-VN" altLang="ko-KR" sz="1000" dirty="0">
                <a:latin typeface="arial" pitchFamily="34" charset="0"/>
                <a:ea typeface="맑은 고딕" pitchFamily="50" charset="-127"/>
              </a:rPr>
              <a:t>Chúng t</a:t>
            </a:r>
            <a:r>
              <a:rPr lang="en-US" altLang="ko-KR" sz="1000" dirty="0">
                <a:latin typeface="arial" pitchFamily="34" charset="0"/>
                <a:ea typeface="맑은 고딕" pitchFamily="50" charset="-127"/>
              </a:rPr>
              <a:t>a</a:t>
            </a:r>
            <a:r>
              <a:rPr lang="vi-VN" altLang="ko-KR" sz="1000" dirty="0">
                <a:latin typeface="arial" pitchFamily="34" charset="0"/>
                <a:ea typeface="맑은 고딕" pitchFamily="50" charset="-127"/>
              </a:rPr>
              <a:t> muốn biết liệu chiều dài của các sản phẩm được sản xuất </a:t>
            </a:r>
            <a:r>
              <a:rPr lang="en-US" altLang="ko-KR" sz="1000" dirty="0" err="1">
                <a:latin typeface="arial" pitchFamily="34" charset="0"/>
                <a:ea typeface="맑은 고딕" pitchFamily="50" charset="-127"/>
              </a:rPr>
              <a:t>giữa</a:t>
            </a:r>
            <a:r>
              <a:rPr lang="vi-VN" altLang="ko-KR" sz="1000" dirty="0">
                <a:latin typeface="arial" pitchFamily="34" charset="0"/>
                <a:ea typeface="맑은 고딕" pitchFamily="50" charset="-127"/>
              </a:rPr>
              <a:t> ba máy khác nhau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giống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nhau</a:t>
            </a:r>
            <a:r>
              <a:rPr lang="en-US" altLang="ko-KR" sz="1000" dirty="0">
                <a:latin typeface="arial" pitchFamily="34" charset="0"/>
                <a:ea typeface="맑은 고딕" pitchFamily="50" charset="-127"/>
              </a:rPr>
              <a:t> hay </a:t>
            </a:r>
            <a:r>
              <a:rPr lang="en-US" altLang="ko-KR" sz="1000" dirty="0" err="1">
                <a:latin typeface="arial" pitchFamily="34" charset="0"/>
                <a:ea typeface="맑은 고딕" pitchFamily="50" charset="-127"/>
              </a:rPr>
              <a:t>không</a:t>
            </a:r>
            <a:r>
              <a:rPr lang="en-US" altLang="ko-KR" sz="1000" dirty="0">
                <a:latin typeface="arial" pitchFamily="34" charset="0"/>
                <a:ea typeface="맑은 고딕" pitchFamily="50" charset="-127"/>
              </a:rPr>
              <a:t>.</a:t>
            </a:r>
            <a:endParaRPr lang="ko-KR" altLang="en-US" sz="1000" dirty="0">
              <a:latin typeface="arial" pitchFamily="34" charset="0"/>
              <a:ea typeface="맑은 고딕" pitchFamily="50" charset="-127"/>
            </a:endParaRPr>
          </a:p>
        </p:txBody>
      </p:sp>
      <p:sp>
        <p:nvSpPr>
          <p:cNvPr id="55" name="직사각형 54"/>
          <p:cNvSpPr>
            <a:spLocks noChangeArrowheads="1"/>
          </p:cNvSpPr>
          <p:nvPr/>
        </p:nvSpPr>
        <p:spPr bwMode="auto">
          <a:xfrm>
            <a:off x="6282878" y="3874310"/>
            <a:ext cx="34559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000" dirty="0">
                <a:latin typeface="arial" pitchFamily="34" charset="0"/>
                <a:ea typeface="맑은 고딕" pitchFamily="50" charset="-127"/>
              </a:rPr>
              <a:t>VD: </a:t>
            </a:r>
            <a:r>
              <a:rPr lang="vi-VN" altLang="ko-KR" sz="1000" dirty="0">
                <a:latin typeface="arial" pitchFamily="34" charset="0"/>
                <a:ea typeface="맑은 고딕" pitchFamily="50" charset="-127"/>
              </a:rPr>
              <a:t>Chúng t</a:t>
            </a:r>
            <a:r>
              <a:rPr lang="en-US" altLang="ko-KR" sz="1000" dirty="0">
                <a:latin typeface="arial" pitchFamily="34" charset="0"/>
                <a:ea typeface="맑은 고딕" pitchFamily="50" charset="-127"/>
              </a:rPr>
              <a:t>a</a:t>
            </a:r>
            <a:r>
              <a:rPr lang="vi-VN" altLang="ko-KR" sz="1000" dirty="0">
                <a:latin typeface="arial" pitchFamily="34" charset="0"/>
                <a:ea typeface="맑은 고딕" pitchFamily="50" charset="-127"/>
              </a:rPr>
              <a:t> muốn biết liệu việc phân phối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của</a:t>
            </a:r>
            <a:r>
              <a:rPr lang="vi-VN" altLang="ko-KR" sz="1000" dirty="0">
                <a:latin typeface="arial" pitchFamily="34" charset="0"/>
                <a:ea typeface="맑은 고딕" pitchFamily="50" charset="-127"/>
              </a:rPr>
              <a:t> các sản phẩm được sản xuất </a:t>
            </a:r>
            <a:r>
              <a:rPr lang="en-US" altLang="ko-KR" sz="1000" dirty="0" err="1">
                <a:latin typeface="arial" pitchFamily="34" charset="0"/>
                <a:ea typeface="맑은 고딕" pitchFamily="50" charset="-127"/>
              </a:rPr>
              <a:t>bởi</a:t>
            </a:r>
            <a:r>
              <a:rPr lang="vi-VN" altLang="ko-KR" sz="1000" dirty="0">
                <a:latin typeface="arial" pitchFamily="34" charset="0"/>
                <a:ea typeface="맑은 고딕" pitchFamily="50" charset="-127"/>
              </a:rPr>
              <a:t> ba máy khác nhau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giống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nhau</a:t>
            </a:r>
            <a:r>
              <a:rPr lang="en-US" altLang="ko-KR" sz="1000" dirty="0">
                <a:latin typeface="arial" pitchFamily="34" charset="0"/>
                <a:ea typeface="맑은 고딕" pitchFamily="50" charset="-127"/>
              </a:rPr>
              <a:t> hay </a:t>
            </a:r>
            <a:r>
              <a:rPr lang="en-US" altLang="ko-KR" sz="1000" dirty="0" err="1">
                <a:latin typeface="arial" pitchFamily="34" charset="0"/>
                <a:ea typeface="맑은 고딕" pitchFamily="50" charset="-127"/>
              </a:rPr>
              <a:t>không</a:t>
            </a:r>
            <a:r>
              <a:rPr lang="vi-VN" altLang="ko-KR" sz="1000" dirty="0">
                <a:latin typeface="arial" pitchFamily="34" charset="0"/>
                <a:ea typeface="맑은 고딕" pitchFamily="50" charset="-127"/>
              </a:rPr>
              <a:t>.</a:t>
            </a:r>
            <a:endParaRPr lang="ko-KR" altLang="en-US" sz="1000" dirty="0">
              <a:latin typeface="arial" pitchFamily="34" charset="0"/>
              <a:ea typeface="맑은 고딕" pitchFamily="50" charset="-127"/>
            </a:endParaRPr>
          </a:p>
        </p:txBody>
      </p:sp>
      <p:sp>
        <p:nvSpPr>
          <p:cNvPr id="51"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spTree>
    <p:extLst>
      <p:ext uri="{BB962C8B-B14F-4D97-AF65-F5344CB8AC3E}">
        <p14:creationId xmlns:p14="http://schemas.microsoft.com/office/powerpoint/2010/main" val="3787596078"/>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오각형 64"/>
          <p:cNvSpPr/>
          <p:nvPr/>
        </p:nvSpPr>
        <p:spPr>
          <a:xfrm rot="5400000">
            <a:off x="1533525" y="4575176"/>
            <a:ext cx="574675" cy="1511300"/>
          </a:xfrm>
          <a:prstGeom prst="homePlate">
            <a:avLst>
              <a:gd name="adj" fmla="val 29420"/>
            </a:avLst>
          </a:prstGeom>
          <a:solidFill>
            <a:schemeClr val="bg2">
              <a:lumMod val="75000"/>
            </a:schemeClr>
          </a:solid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92515" name="Text Box 4"/>
          <p:cNvSpPr txBox="1">
            <a:spLocks noChangeArrowheads="1"/>
          </p:cNvSpPr>
          <p:nvPr/>
        </p:nvSpPr>
        <p:spPr bwMode="auto">
          <a:xfrm>
            <a:off x="128588" y="250825"/>
            <a:ext cx="5688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4. </a:t>
            </a:r>
            <a:r>
              <a:rPr lang="en-US" altLang="ko-KR" sz="2000" b="1" dirty="0" err="1">
                <a:solidFill>
                  <a:srgbClr val="000000"/>
                </a:solidFill>
                <a:latin typeface="arial" pitchFamily="34" charset="0"/>
                <a:ea typeface="맑은 고딕" pitchFamily="50" charset="-127"/>
              </a:rPr>
              <a:t>Các</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bước</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kiểm</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định</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giả</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thuyết</a:t>
            </a:r>
            <a:endParaRPr lang="ko-KR" altLang="en-US" sz="2000" b="1" dirty="0">
              <a:solidFill>
                <a:srgbClr val="000000"/>
              </a:solidFill>
              <a:latin typeface="arial" pitchFamily="34" charset="0"/>
              <a:ea typeface="맑은 고딕" pitchFamily="50" charset="-127"/>
            </a:endParaRPr>
          </a:p>
        </p:txBody>
      </p:sp>
      <p:sp>
        <p:nvSpPr>
          <p:cNvPr id="192516" name="Rectangle 20"/>
          <p:cNvSpPr>
            <a:spLocks noChangeArrowheads="1"/>
          </p:cNvSpPr>
          <p:nvPr/>
        </p:nvSpPr>
        <p:spPr bwMode="auto">
          <a:xfrm>
            <a:off x="345030" y="1639888"/>
            <a:ext cx="708528"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rPr>
              <a:t>Bước</a:t>
            </a:r>
            <a:r>
              <a:rPr lang="en-US" altLang="ko-KR" sz="1200" dirty="0">
                <a:latin typeface="arial" pitchFamily="34" charset="0"/>
                <a:ea typeface="맑은 고딕" pitchFamily="50" charset="-127"/>
              </a:rPr>
              <a:t> 1</a:t>
            </a:r>
          </a:p>
        </p:txBody>
      </p:sp>
      <p:sp>
        <p:nvSpPr>
          <p:cNvPr id="192517" name="Rectangle 39"/>
          <p:cNvSpPr>
            <a:spLocks noChangeArrowheads="1"/>
          </p:cNvSpPr>
          <p:nvPr/>
        </p:nvSpPr>
        <p:spPr bwMode="auto">
          <a:xfrm>
            <a:off x="1085038" y="1662959"/>
            <a:ext cx="1484381"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dirty="0" err="1">
                <a:latin typeface="arial" pitchFamily="34" charset="0"/>
                <a:ea typeface="맑은 고딕" pitchFamily="50" charset="-127"/>
              </a:rPr>
              <a:t>Làm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rõ</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nhận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định</a:t>
            </a:r>
            <a:endParaRPr lang="en-US" altLang="ko-KR" sz="1000" dirty="0">
              <a:latin typeface="arial" pitchFamily="34" charset="0"/>
              <a:ea typeface="맑은 고딕" pitchFamily="50" charset="-127"/>
            </a:endParaRPr>
          </a:p>
          <a:p>
            <a:pPr algn="ctr" defTabSz="762000" latinLnBrk="0"/>
            <a:r>
              <a:rPr lang="en-US" altLang="ko-KR" sz="1000" dirty="0" err="1">
                <a:latin typeface="arial" pitchFamily="34" charset="0"/>
                <a:ea typeface="맑은 고딕" pitchFamily="50" charset="-127"/>
              </a:rPr>
              <a:t>cần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được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kiểm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chứng</a:t>
            </a:r>
            <a:endParaRPr lang="en-US" altLang="ko-KR" sz="1000" dirty="0">
              <a:latin typeface="arial" pitchFamily="34" charset="0"/>
              <a:ea typeface="맑은 고딕" pitchFamily="50" charset="-127"/>
            </a:endParaRPr>
          </a:p>
        </p:txBody>
      </p:sp>
      <p:sp>
        <p:nvSpPr>
          <p:cNvPr id="19" name="모서리가 둥근 직사각형 18"/>
          <p:cNvSpPr/>
          <p:nvPr/>
        </p:nvSpPr>
        <p:spPr>
          <a:xfrm>
            <a:off x="344488" y="877088"/>
            <a:ext cx="2376487" cy="53578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1300"/>
              </a:lnSpc>
              <a:defRPr/>
            </a:pPr>
            <a:r>
              <a:rPr lang="en-US" altLang="ko-KR" sz="1200" b="1" dirty="0" err="1">
                <a:latin typeface="arial" pitchFamily="34" charset="0"/>
              </a:rPr>
              <a:t>Các</a:t>
            </a:r>
            <a:r>
              <a:rPr lang="en-US" altLang="ko-KR" sz="1200" b="1" dirty="0">
                <a:latin typeface="arial" pitchFamily="34" charset="0"/>
              </a:rPr>
              <a:t> </a:t>
            </a:r>
            <a:r>
              <a:rPr lang="en-US" altLang="ko-KR" sz="1200" b="1" dirty="0" err="1">
                <a:latin typeface="arial" pitchFamily="34" charset="0"/>
              </a:rPr>
              <a:t>bước</a:t>
            </a:r>
            <a:r>
              <a:rPr lang="en-US" altLang="ko-KR" sz="1200" b="1" dirty="0">
                <a:latin typeface="arial" pitchFamily="34" charset="0"/>
              </a:rPr>
              <a:t> </a:t>
            </a:r>
            <a:r>
              <a:rPr lang="en-US" altLang="ko-KR" sz="1200" b="1" dirty="0" err="1">
                <a:latin typeface="arial" pitchFamily="34" charset="0"/>
              </a:rPr>
              <a:t>kiểm</a:t>
            </a:r>
            <a:r>
              <a:rPr lang="en-US" altLang="ko-KR" sz="1200" b="1" dirty="0">
                <a:latin typeface="arial" pitchFamily="34" charset="0"/>
              </a:rPr>
              <a:t> </a:t>
            </a:r>
            <a:r>
              <a:rPr lang="en-US" altLang="ko-KR" sz="1200" b="1" dirty="0" err="1">
                <a:latin typeface="arial" pitchFamily="34" charset="0"/>
              </a:rPr>
              <a:t>định</a:t>
            </a:r>
            <a:r>
              <a:rPr lang="en-US" altLang="ko-KR" sz="1200" b="1" dirty="0">
                <a:latin typeface="arial" pitchFamily="34" charset="0"/>
              </a:rPr>
              <a:t> </a:t>
            </a:r>
            <a:r>
              <a:rPr lang="en-US" altLang="ko-KR" sz="1200" b="1" dirty="0" err="1">
                <a:latin typeface="arial" pitchFamily="34" charset="0"/>
              </a:rPr>
              <a:t>giả</a:t>
            </a:r>
            <a:r>
              <a:rPr lang="en-US" altLang="ko-KR" sz="1200" b="1" dirty="0">
                <a:latin typeface="arial" pitchFamily="34" charset="0"/>
              </a:rPr>
              <a:t> </a:t>
            </a:r>
            <a:r>
              <a:rPr lang="en-US" altLang="ko-KR" sz="1200" b="1" dirty="0" err="1">
                <a:latin typeface="arial" pitchFamily="34" charset="0"/>
              </a:rPr>
              <a:t>thuyết</a:t>
            </a:r>
            <a:endParaRPr lang="ko-KR" altLang="en-US" sz="1200" b="1" dirty="0">
              <a:latin typeface="arial" pitchFamily="34" charset="0"/>
            </a:endParaRPr>
          </a:p>
        </p:txBody>
      </p:sp>
      <p:sp>
        <p:nvSpPr>
          <p:cNvPr id="20" name="모서리가 둥근 직사각형 19"/>
          <p:cNvSpPr/>
          <p:nvPr/>
        </p:nvSpPr>
        <p:spPr>
          <a:xfrm>
            <a:off x="3008313" y="1125538"/>
            <a:ext cx="21605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b="1" dirty="0" err="1">
                <a:latin typeface="arial" pitchFamily="34" charset="0"/>
              </a:rPr>
              <a:t>Lưu</a:t>
            </a:r>
            <a:r>
              <a:rPr lang="en-US" altLang="ko-KR" sz="1200" b="1" dirty="0">
                <a:latin typeface="arial" pitchFamily="34" charset="0"/>
              </a:rPr>
              <a:t> ý</a:t>
            </a:r>
            <a:endParaRPr lang="ko-KR" altLang="en-US" sz="1200" b="1" dirty="0">
              <a:latin typeface="arial" pitchFamily="34" charset="0"/>
            </a:endParaRPr>
          </a:p>
        </p:txBody>
      </p:sp>
      <p:sp>
        <p:nvSpPr>
          <p:cNvPr id="24" name="모서리가 둥근 직사각형 23"/>
          <p:cNvSpPr/>
          <p:nvPr/>
        </p:nvSpPr>
        <p:spPr>
          <a:xfrm>
            <a:off x="5529263" y="1125538"/>
            <a:ext cx="4103687" cy="287337"/>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b="1" dirty="0" err="1">
                <a:latin typeface="arial" pitchFamily="34" charset="0"/>
              </a:rPr>
              <a:t>Tình</a:t>
            </a:r>
            <a:r>
              <a:rPr lang="en-US" altLang="ko-KR" sz="1200" b="1" dirty="0">
                <a:latin typeface="arial" pitchFamily="34" charset="0"/>
              </a:rPr>
              <a:t> </a:t>
            </a:r>
            <a:r>
              <a:rPr lang="en-US" altLang="ko-KR" sz="1200" b="1" dirty="0" err="1">
                <a:latin typeface="arial" pitchFamily="34" charset="0"/>
              </a:rPr>
              <a:t>huống</a:t>
            </a:r>
            <a:endParaRPr lang="ko-KR" altLang="en-US" sz="1200" b="1" dirty="0">
              <a:latin typeface="arial" pitchFamily="34" charset="0"/>
            </a:endParaRPr>
          </a:p>
        </p:txBody>
      </p:sp>
      <p:sp>
        <p:nvSpPr>
          <p:cNvPr id="31" name="오각형 30"/>
          <p:cNvSpPr/>
          <p:nvPr/>
        </p:nvSpPr>
        <p:spPr>
          <a:xfrm rot="5400000">
            <a:off x="1532731" y="1161257"/>
            <a:ext cx="576263"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cxnSp>
        <p:nvCxnSpPr>
          <p:cNvPr id="33" name="직선 연결선 32"/>
          <p:cNvCxnSpPr/>
          <p:nvPr/>
        </p:nvCxnSpPr>
        <p:spPr>
          <a:xfrm>
            <a:off x="344488" y="1543050"/>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a:off x="344488" y="2349500"/>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92525" name="Rectangle 20"/>
          <p:cNvSpPr>
            <a:spLocks noChangeArrowheads="1"/>
          </p:cNvSpPr>
          <p:nvPr/>
        </p:nvSpPr>
        <p:spPr bwMode="auto">
          <a:xfrm>
            <a:off x="345031" y="2533650"/>
            <a:ext cx="708528"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rPr>
              <a:t>Bước</a:t>
            </a:r>
            <a:r>
              <a:rPr lang="en-US" altLang="ko-KR" sz="1200" dirty="0">
                <a:latin typeface="arial" pitchFamily="34" charset="0"/>
                <a:ea typeface="맑은 고딕" pitchFamily="50" charset="-127"/>
              </a:rPr>
              <a:t> 2</a:t>
            </a:r>
          </a:p>
        </p:txBody>
      </p:sp>
      <p:sp>
        <p:nvSpPr>
          <p:cNvPr id="192526" name="Rectangle 39"/>
          <p:cNvSpPr>
            <a:spLocks noChangeArrowheads="1"/>
          </p:cNvSpPr>
          <p:nvPr/>
        </p:nvSpPr>
        <p:spPr bwMode="auto">
          <a:xfrm>
            <a:off x="1341510" y="2613669"/>
            <a:ext cx="971420" cy="24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dirty="0" err="1">
                <a:latin typeface="arial" pitchFamily="34" charset="0"/>
                <a:ea typeface="맑은 고딕" pitchFamily="50" charset="-127"/>
              </a:rPr>
              <a:t>Đặt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giả</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thuyết</a:t>
            </a:r>
            <a:endParaRPr lang="ko-KR" altLang="en-US" sz="1000" dirty="0">
              <a:latin typeface="arial" pitchFamily="34" charset="0"/>
              <a:ea typeface="맑은 고딕" pitchFamily="50" charset="-127"/>
            </a:endParaRPr>
          </a:p>
        </p:txBody>
      </p:sp>
      <p:sp>
        <p:nvSpPr>
          <p:cNvPr id="50" name="오각형 49"/>
          <p:cNvSpPr/>
          <p:nvPr/>
        </p:nvSpPr>
        <p:spPr>
          <a:xfrm rot="5400000">
            <a:off x="1532732" y="2055019"/>
            <a:ext cx="576262"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92528" name="Rectangle 41"/>
          <p:cNvSpPr>
            <a:spLocks noChangeArrowheads="1"/>
          </p:cNvSpPr>
          <p:nvPr/>
        </p:nvSpPr>
        <p:spPr bwMode="auto">
          <a:xfrm>
            <a:off x="3033713" y="2432440"/>
            <a:ext cx="1668727" cy="708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ko-KR" altLang="en-US" sz="1000" dirty="0">
                <a:latin typeface="arial" pitchFamily="34" charset="0"/>
                <a:ea typeface="맑은 고딕" pitchFamily="50" charset="-127"/>
              </a:rPr>
              <a:t> </a:t>
            </a:r>
            <a:r>
              <a:rPr lang="en-US" altLang="ko-KR" sz="1000" dirty="0">
                <a:latin typeface="arial" pitchFamily="34" charset="0"/>
                <a:ea typeface="맑은 고딕" pitchFamily="50" charset="-127"/>
              </a:rPr>
              <a:t>H0:</a:t>
            </a:r>
          </a:p>
          <a:p>
            <a:pPr defTabSz="762000" latinLnBrk="0"/>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Giống</a:t>
            </a:r>
            <a:r>
              <a:rPr lang="en-US" altLang="ko-KR" sz="1000" dirty="0">
                <a:latin typeface="arial" pitchFamily="34" charset="0"/>
                <a:ea typeface="맑은 고딕" pitchFamily="50" charset="-127"/>
              </a:rPr>
              <a:t>/</a:t>
            </a:r>
            <a:r>
              <a:rPr lang="en-US" altLang="ko-KR" sz="1000" dirty="0" err="1">
                <a:latin typeface="arial" pitchFamily="34" charset="0"/>
                <a:ea typeface="맑은 고딕" pitchFamily="50" charset="-127"/>
              </a:rPr>
              <a:t>không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thay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đổi</a:t>
            </a:r>
            <a:endParaRPr lang="en-US" altLang="ko-KR" sz="1000" dirty="0">
              <a:latin typeface="arial" pitchFamily="34" charset="0"/>
              <a:ea typeface="맑은 고딕" pitchFamily="50" charset="-127"/>
            </a:endParaRPr>
          </a:p>
          <a:p>
            <a:pPr defTabSz="762000" latinLnBrk="0">
              <a:buFont typeface="Arial" pitchFamily="34" charset="0"/>
              <a:buChar char="•"/>
            </a:pPr>
            <a:r>
              <a:rPr lang="ko-KR" altLang="en-US" sz="1000" dirty="0">
                <a:latin typeface="arial" pitchFamily="34" charset="0"/>
                <a:ea typeface="맑은 고딕" pitchFamily="50" charset="-127"/>
              </a:rPr>
              <a:t> </a:t>
            </a:r>
            <a:r>
              <a:rPr lang="en-US" altLang="ko-KR" sz="1000" dirty="0">
                <a:latin typeface="arial" pitchFamily="34" charset="0"/>
                <a:ea typeface="맑은 고딕" pitchFamily="50" charset="-127"/>
              </a:rPr>
              <a:t>H1:</a:t>
            </a:r>
          </a:p>
          <a:p>
            <a:pPr defTabSz="762000" latinLnBrk="0"/>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Khác</a:t>
            </a:r>
            <a:r>
              <a:rPr lang="en-US" altLang="ko-KR" sz="1000" dirty="0">
                <a:latin typeface="arial" pitchFamily="34" charset="0"/>
                <a:ea typeface="맑은 고딕" pitchFamily="50" charset="-127"/>
              </a:rPr>
              <a:t>/</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sự</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thay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đổi</a:t>
            </a:r>
            <a:endParaRPr lang="en-US" altLang="ko-KR" sz="1000" dirty="0">
              <a:latin typeface="arial" pitchFamily="34" charset="0"/>
              <a:ea typeface="맑은 고딕" pitchFamily="50" charset="-127"/>
            </a:endParaRPr>
          </a:p>
        </p:txBody>
      </p:sp>
      <p:cxnSp>
        <p:nvCxnSpPr>
          <p:cNvPr id="52" name="직선 연결선 51"/>
          <p:cNvCxnSpPr/>
          <p:nvPr/>
        </p:nvCxnSpPr>
        <p:spPr>
          <a:xfrm>
            <a:off x="344488" y="3182938"/>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92530" name="Rectangle 20"/>
          <p:cNvSpPr>
            <a:spLocks noChangeArrowheads="1"/>
          </p:cNvSpPr>
          <p:nvPr/>
        </p:nvSpPr>
        <p:spPr bwMode="auto">
          <a:xfrm>
            <a:off x="345031" y="3368675"/>
            <a:ext cx="708528"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rPr>
              <a:t>Bước</a:t>
            </a:r>
            <a:r>
              <a:rPr lang="en-US" altLang="ko-KR" sz="1200" dirty="0">
                <a:latin typeface="arial" pitchFamily="34" charset="0"/>
                <a:ea typeface="맑은 고딕" pitchFamily="50" charset="-127"/>
              </a:rPr>
              <a:t> 3</a:t>
            </a:r>
          </a:p>
        </p:txBody>
      </p:sp>
      <p:sp>
        <p:nvSpPr>
          <p:cNvPr id="192531" name="Rectangle 39"/>
          <p:cNvSpPr>
            <a:spLocks noChangeArrowheads="1"/>
          </p:cNvSpPr>
          <p:nvPr/>
        </p:nvSpPr>
        <p:spPr bwMode="auto">
          <a:xfrm>
            <a:off x="1073005" y="3429000"/>
            <a:ext cx="1508426" cy="24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dirty="0" err="1">
                <a:latin typeface="arial" pitchFamily="34" charset="0"/>
                <a:ea typeface="맑은 고딕" pitchFamily="50" charset="-127"/>
              </a:rPr>
              <a:t>Lựa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chọn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mức</a:t>
            </a:r>
            <a:r>
              <a:rPr lang="en-US" altLang="ko-KR" sz="1000" dirty="0">
                <a:latin typeface="arial" pitchFamily="34" charset="0"/>
                <a:ea typeface="맑은 고딕" pitchFamily="50" charset="-127"/>
              </a:rPr>
              <a:t> ý </a:t>
            </a:r>
            <a:r>
              <a:rPr lang="en-US" altLang="ko-KR" sz="1000" dirty="0" err="1">
                <a:latin typeface="arial" pitchFamily="34" charset="0"/>
                <a:ea typeface="맑은 고딕" pitchFamily="50" charset="-127"/>
              </a:rPr>
              <a:t>nghĩa</a:t>
            </a:r>
            <a:endParaRPr lang="ko-KR" altLang="en-US" sz="1000" dirty="0">
              <a:latin typeface="arial" pitchFamily="34" charset="0"/>
              <a:ea typeface="맑은 고딕" pitchFamily="50" charset="-127"/>
            </a:endParaRPr>
          </a:p>
        </p:txBody>
      </p:sp>
      <p:sp>
        <p:nvSpPr>
          <p:cNvPr id="55" name="오각형 54"/>
          <p:cNvSpPr/>
          <p:nvPr/>
        </p:nvSpPr>
        <p:spPr>
          <a:xfrm rot="5400000">
            <a:off x="1532732" y="2890044"/>
            <a:ext cx="576262"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92533" name="Rectangle 41"/>
          <p:cNvSpPr>
            <a:spLocks noChangeArrowheads="1"/>
          </p:cNvSpPr>
          <p:nvPr/>
        </p:nvSpPr>
        <p:spPr bwMode="auto">
          <a:xfrm>
            <a:off x="3033713" y="3327400"/>
            <a:ext cx="2639367" cy="708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buFont typeface="Arial" pitchFamily="34" charset="0"/>
              <a:buChar char="•"/>
            </a:pPr>
            <a:r>
              <a:rPr lang="ko-KR" altLang="en-US" sz="1000" dirty="0">
                <a:latin typeface="arial" pitchFamily="34" charset="0"/>
                <a:ea typeface="맑은 고딕" pitchFamily="50" charset="-127"/>
              </a:rPr>
              <a:t> </a:t>
            </a:r>
            <a:r>
              <a:rPr lang="en-US" altLang="ko-KR" sz="1000" dirty="0" err="1">
                <a:latin typeface="arial" pitchFamily="34" charset="0"/>
                <a:ea typeface="맑은 고딕" pitchFamily="50" charset="-127"/>
              </a:rPr>
              <a:t>Mức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sai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lệch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ra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quyết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định</a:t>
            </a:r>
            <a:endParaRPr lang="en-US" altLang="ko-KR" sz="1000" dirty="0">
              <a:latin typeface="arial" pitchFamily="34" charset="0"/>
              <a:ea typeface="맑은 고딕" pitchFamily="50" charset="-127"/>
            </a:endParaRPr>
          </a:p>
          <a:p>
            <a:pPr defTabSz="762000" latinLnBrk="0">
              <a:buFont typeface="Arial" pitchFamily="34" charset="0"/>
              <a:buChar char="•"/>
            </a:pP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là</a:t>
            </a:r>
            <a:r>
              <a:rPr lang="en-US" altLang="ko-KR" sz="1000" dirty="0">
                <a:latin typeface="arial" pitchFamily="34" charset="0"/>
                <a:ea typeface="맑은 고딕" pitchFamily="50" charset="-127"/>
              </a:rPr>
              <a:t> 1%, 5%, 10%,… </a:t>
            </a:r>
            <a:r>
              <a:rPr lang="en-US" altLang="ko-KR" sz="1000" dirty="0" err="1">
                <a:latin typeface="arial" pitchFamily="34" charset="0"/>
                <a:ea typeface="맑은 고딕" pitchFamily="50" charset="-127"/>
              </a:rPr>
              <a:t>nhưng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thông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thường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nếu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không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quy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định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đặc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biệt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thì</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mức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này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là</a:t>
            </a:r>
            <a:r>
              <a:rPr lang="en-US" altLang="ko-KR" sz="1000" dirty="0">
                <a:latin typeface="arial" pitchFamily="34" charset="0"/>
                <a:ea typeface="맑은 고딕" pitchFamily="50" charset="-127"/>
              </a:rPr>
              <a:t> 5%</a:t>
            </a:r>
          </a:p>
        </p:txBody>
      </p:sp>
      <p:cxnSp>
        <p:nvCxnSpPr>
          <p:cNvPr id="57" name="직선 연결선 56"/>
          <p:cNvCxnSpPr/>
          <p:nvPr/>
        </p:nvCxnSpPr>
        <p:spPr>
          <a:xfrm>
            <a:off x="344488" y="4005263"/>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92535" name="Rectangle 20"/>
          <p:cNvSpPr>
            <a:spLocks noChangeArrowheads="1"/>
          </p:cNvSpPr>
          <p:nvPr/>
        </p:nvSpPr>
        <p:spPr bwMode="auto">
          <a:xfrm>
            <a:off x="345031" y="4189413"/>
            <a:ext cx="708528"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rPr>
              <a:t>Bước</a:t>
            </a:r>
            <a:r>
              <a:rPr lang="en-US" altLang="ko-KR" sz="1200" dirty="0">
                <a:latin typeface="arial" pitchFamily="34" charset="0"/>
                <a:ea typeface="맑은 고딕" pitchFamily="50" charset="-127"/>
              </a:rPr>
              <a:t> 4</a:t>
            </a:r>
          </a:p>
        </p:txBody>
      </p:sp>
      <p:sp>
        <p:nvSpPr>
          <p:cNvPr id="192536" name="Rectangle 39"/>
          <p:cNvSpPr>
            <a:spLocks noChangeArrowheads="1"/>
          </p:cNvSpPr>
          <p:nvPr/>
        </p:nvSpPr>
        <p:spPr bwMode="auto">
          <a:xfrm>
            <a:off x="1266169" y="4178300"/>
            <a:ext cx="1122102"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dirty="0" err="1">
                <a:latin typeface="arial" pitchFamily="34" charset="0"/>
                <a:ea typeface="맑은 고딕" pitchFamily="50" charset="-127"/>
              </a:rPr>
              <a:t>Lấy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mẫu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và</a:t>
            </a:r>
            <a:br>
              <a:rPr lang="en-US" altLang="ko-KR" sz="1000" dirty="0">
                <a:latin typeface="arial" pitchFamily="34" charset="0"/>
                <a:ea typeface="맑은 고딕" pitchFamily="50" charset="-127"/>
              </a:rPr>
            </a:br>
            <a:r>
              <a:rPr lang="en-US" altLang="ko-KR" sz="1000" dirty="0" err="1">
                <a:latin typeface="arial" pitchFamily="34" charset="0"/>
                <a:ea typeface="맑은 고딕" pitchFamily="50" charset="-127"/>
              </a:rPr>
              <a:t>tiến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hành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đạt</a:t>
            </a:r>
            <a:endParaRPr lang="ko-KR" altLang="en-US" sz="1000" dirty="0">
              <a:latin typeface="arial" pitchFamily="34" charset="0"/>
              <a:ea typeface="맑은 고딕" pitchFamily="50" charset="-127"/>
            </a:endParaRPr>
          </a:p>
        </p:txBody>
      </p:sp>
      <p:sp>
        <p:nvSpPr>
          <p:cNvPr id="60" name="오각형 59"/>
          <p:cNvSpPr/>
          <p:nvPr/>
        </p:nvSpPr>
        <p:spPr>
          <a:xfrm rot="5400000">
            <a:off x="1532731" y="3710782"/>
            <a:ext cx="576263"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92538" name="Rectangle 41"/>
          <p:cNvSpPr>
            <a:spLocks noChangeArrowheads="1"/>
          </p:cNvSpPr>
          <p:nvPr/>
        </p:nvSpPr>
        <p:spPr bwMode="auto">
          <a:xfrm>
            <a:off x="3033713" y="4149725"/>
            <a:ext cx="2479846" cy="708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ko-KR" altLang="en-US" sz="1000" dirty="0">
                <a:latin typeface="arial" pitchFamily="34" charset="0"/>
                <a:ea typeface="맑은 고딕" pitchFamily="50" charset="-127"/>
              </a:rPr>
              <a:t> </a:t>
            </a:r>
            <a:r>
              <a:rPr lang="en-US" altLang="ko-KR" sz="1000" dirty="0" err="1">
                <a:latin typeface="arial" pitchFamily="34" charset="0"/>
                <a:ea typeface="맑은 고딕" pitchFamily="50" charset="-127"/>
              </a:rPr>
              <a:t>Mẫu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phải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đại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diện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tính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chất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chung</a:t>
            </a:r>
            <a:br>
              <a:rPr lang="en-US" altLang="ko-KR" sz="1000" dirty="0">
                <a:latin typeface="arial" pitchFamily="34" charset="0"/>
                <a:ea typeface="맑은 고딕" pitchFamily="50" charset="-127"/>
              </a:rPr>
            </a:br>
            <a:r>
              <a:rPr lang="en-US" altLang="ko-KR" sz="1000" dirty="0" err="1">
                <a:latin typeface="arial" pitchFamily="34" charset="0"/>
                <a:ea typeface="맑은 고딕" pitchFamily="50" charset="-127"/>
              </a:rPr>
              <a:t>của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tổng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endParaRPr lang="en-US" altLang="ko-KR" sz="1000" dirty="0">
              <a:latin typeface="arial" pitchFamily="34" charset="0"/>
              <a:ea typeface="맑은 고딕" pitchFamily="50" charset="-127"/>
            </a:endParaRPr>
          </a:p>
          <a:p>
            <a:pPr defTabSz="762000" latinLnBrk="0">
              <a:buFont typeface="Arial" pitchFamily="34" charset="0"/>
              <a:buChar char="•"/>
            </a:pPr>
            <a:r>
              <a:rPr lang="ko-KR" altLang="en-US" sz="1000" dirty="0">
                <a:latin typeface="arial" pitchFamily="34" charset="0"/>
                <a:ea typeface="맑은 고딕" pitchFamily="50" charset="-127"/>
              </a:rPr>
              <a:t> </a:t>
            </a:r>
            <a:r>
              <a:rPr lang="en-US" altLang="ko-KR" sz="1000" dirty="0" err="1">
                <a:latin typeface="arial" pitchFamily="34" charset="0"/>
                <a:ea typeface="맑은 고딕" pitchFamily="50" charset="-127"/>
              </a:rPr>
              <a:t>Dữ</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liệu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liên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tục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Tối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thiểu</a:t>
            </a:r>
            <a:r>
              <a:rPr lang="en-US" altLang="ko-KR" sz="1000" dirty="0">
                <a:latin typeface="arial" pitchFamily="34" charset="0"/>
                <a:ea typeface="맑은 고딕" pitchFamily="50" charset="-127"/>
              </a:rPr>
              <a:t> 12 </a:t>
            </a:r>
            <a:r>
              <a:rPr lang="en-US" altLang="ko-KR" sz="1000" dirty="0" err="1">
                <a:latin typeface="arial" pitchFamily="34" charset="0"/>
                <a:ea typeface="맑은 고딕" pitchFamily="50" charset="-127"/>
              </a:rPr>
              <a:t>mẫu</a:t>
            </a:r>
            <a:endParaRPr lang="en-US" altLang="ko-KR" sz="1000" dirty="0">
              <a:latin typeface="arial" pitchFamily="34" charset="0"/>
              <a:ea typeface="맑은 고딕" pitchFamily="50" charset="-127"/>
            </a:endParaRPr>
          </a:p>
          <a:p>
            <a:pPr defTabSz="762000" latinLnBrk="0"/>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Dữ</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liệu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rời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rạc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Tối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thiểu</a:t>
            </a:r>
            <a:r>
              <a:rPr lang="en-US" altLang="ko-KR" sz="1000" dirty="0">
                <a:latin typeface="arial" pitchFamily="34" charset="0"/>
                <a:ea typeface="맑은 고딕" pitchFamily="50" charset="-127"/>
              </a:rPr>
              <a:t> 100 </a:t>
            </a:r>
            <a:r>
              <a:rPr lang="en-US" altLang="ko-KR" sz="1000" dirty="0" err="1">
                <a:latin typeface="arial" pitchFamily="34" charset="0"/>
                <a:ea typeface="맑은 고딕" pitchFamily="50" charset="-127"/>
              </a:rPr>
              <a:t>mẫu</a:t>
            </a:r>
            <a:endParaRPr lang="en-US" altLang="ko-KR" sz="1000" dirty="0">
              <a:latin typeface="arial" pitchFamily="34" charset="0"/>
              <a:ea typeface="맑은 고딕" pitchFamily="50" charset="-127"/>
            </a:endParaRPr>
          </a:p>
        </p:txBody>
      </p:sp>
      <p:cxnSp>
        <p:nvCxnSpPr>
          <p:cNvPr id="62" name="직선 연결선 61"/>
          <p:cNvCxnSpPr/>
          <p:nvPr/>
        </p:nvCxnSpPr>
        <p:spPr>
          <a:xfrm>
            <a:off x="344488" y="4868863"/>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92540" name="Rectangle 20"/>
          <p:cNvSpPr>
            <a:spLocks noChangeArrowheads="1"/>
          </p:cNvSpPr>
          <p:nvPr/>
        </p:nvSpPr>
        <p:spPr bwMode="auto">
          <a:xfrm>
            <a:off x="345031" y="5054600"/>
            <a:ext cx="708528"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rPr>
              <a:t>Bước</a:t>
            </a:r>
            <a:r>
              <a:rPr lang="en-US" altLang="ko-KR" sz="1200" dirty="0">
                <a:latin typeface="arial" pitchFamily="34" charset="0"/>
                <a:ea typeface="맑은 고딕" pitchFamily="50" charset="-127"/>
              </a:rPr>
              <a:t> 5</a:t>
            </a:r>
          </a:p>
        </p:txBody>
      </p:sp>
      <p:sp>
        <p:nvSpPr>
          <p:cNvPr id="192541" name="Rectangle 39"/>
          <p:cNvSpPr>
            <a:spLocks noChangeArrowheads="1"/>
          </p:cNvSpPr>
          <p:nvPr/>
        </p:nvSpPr>
        <p:spPr bwMode="auto">
          <a:xfrm>
            <a:off x="1146745" y="5126353"/>
            <a:ext cx="1360950" cy="24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b="1" dirty="0" err="1">
                <a:latin typeface="arial" pitchFamily="34" charset="0"/>
                <a:ea typeface="맑은 고딕" pitchFamily="50" charset="-127"/>
              </a:rPr>
              <a:t>Tính</a:t>
            </a:r>
            <a:r>
              <a:rPr lang="en-US" altLang="ko-KR" sz="1000" b="1" dirty="0">
                <a:latin typeface="arial" pitchFamily="34" charset="0"/>
                <a:ea typeface="맑은 고딕" pitchFamily="50" charset="-127"/>
              </a:rPr>
              <a:t> </a:t>
            </a:r>
            <a:r>
              <a:rPr lang="en-US" altLang="ko-KR" sz="1000" b="1" dirty="0" err="1">
                <a:latin typeface="arial" pitchFamily="34" charset="0"/>
                <a:ea typeface="맑은 고딕" pitchFamily="50" charset="-127"/>
              </a:rPr>
              <a:t>giá</a:t>
            </a:r>
            <a:r>
              <a:rPr lang="en-US" altLang="ko-KR" sz="1000" b="1" dirty="0">
                <a:latin typeface="arial" pitchFamily="34" charset="0"/>
                <a:ea typeface="맑은 고딕" pitchFamily="50" charset="-127"/>
              </a:rPr>
              <a:t> </a:t>
            </a:r>
            <a:r>
              <a:rPr lang="en-US" altLang="ko-KR" sz="1000" b="1" dirty="0" err="1">
                <a:latin typeface="arial" pitchFamily="34" charset="0"/>
                <a:ea typeface="맑은 고딕" pitchFamily="50" charset="-127"/>
              </a:rPr>
              <a:t>trị</a:t>
            </a:r>
            <a:r>
              <a:rPr lang="en-US" altLang="ko-KR" sz="1000" b="1" dirty="0">
                <a:latin typeface="arial" pitchFamily="34" charset="0"/>
                <a:ea typeface="맑은 고딕" pitchFamily="50" charset="-127"/>
              </a:rPr>
              <a:t> P-value</a:t>
            </a:r>
            <a:endParaRPr lang="ko-KR" altLang="en-US" sz="1000" b="1" dirty="0">
              <a:latin typeface="arial" pitchFamily="34" charset="0"/>
              <a:ea typeface="맑은 고딕" pitchFamily="50" charset="-127"/>
            </a:endParaRPr>
          </a:p>
        </p:txBody>
      </p:sp>
      <p:sp>
        <p:nvSpPr>
          <p:cNvPr id="192542" name="Rectangle 41"/>
          <p:cNvSpPr>
            <a:spLocks noChangeArrowheads="1"/>
          </p:cNvSpPr>
          <p:nvPr/>
        </p:nvSpPr>
        <p:spPr bwMode="auto">
          <a:xfrm>
            <a:off x="3033713" y="5013325"/>
            <a:ext cx="1166986" cy="24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en-US" altLang="ko-KR" sz="1000" dirty="0" err="1">
                <a:latin typeface="arial" pitchFamily="34" charset="0"/>
                <a:ea typeface="맑은 고딕" pitchFamily="50" charset="-127"/>
              </a:rPr>
              <a:t>Sử</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dụng</a:t>
            </a:r>
            <a:r>
              <a:rPr lang="en-US" altLang="ko-KR" sz="1000" dirty="0">
                <a:latin typeface="arial" pitchFamily="34" charset="0"/>
                <a:ea typeface="맑은 고딕" pitchFamily="50" charset="-127"/>
              </a:rPr>
              <a:t> Minitab</a:t>
            </a:r>
          </a:p>
        </p:txBody>
      </p:sp>
      <p:sp>
        <p:nvSpPr>
          <p:cNvPr id="192543" name="Rectangle 41"/>
          <p:cNvSpPr>
            <a:spLocks noChangeArrowheads="1"/>
          </p:cNvSpPr>
          <p:nvPr/>
        </p:nvSpPr>
        <p:spPr bwMode="auto">
          <a:xfrm>
            <a:off x="5600700" y="5013325"/>
            <a:ext cx="1216680" cy="24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en-US" altLang="ko-KR" sz="1000" dirty="0">
                <a:latin typeface="arial" pitchFamily="34" charset="0"/>
                <a:ea typeface="맑은 고딕" pitchFamily="50" charset="-127"/>
              </a:rPr>
              <a:t> P-Value = 0.326</a:t>
            </a:r>
          </a:p>
        </p:txBody>
      </p:sp>
      <p:cxnSp>
        <p:nvCxnSpPr>
          <p:cNvPr id="68" name="직선 연결선 67"/>
          <p:cNvCxnSpPr/>
          <p:nvPr/>
        </p:nvCxnSpPr>
        <p:spPr>
          <a:xfrm>
            <a:off x="344488" y="5661025"/>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92545" name="Rectangle 20"/>
          <p:cNvSpPr>
            <a:spLocks noChangeArrowheads="1"/>
          </p:cNvSpPr>
          <p:nvPr/>
        </p:nvSpPr>
        <p:spPr bwMode="auto">
          <a:xfrm>
            <a:off x="345031" y="5846763"/>
            <a:ext cx="708528"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200" dirty="0" err="1">
                <a:latin typeface="arial" pitchFamily="34" charset="0"/>
                <a:ea typeface="맑은 고딕" pitchFamily="50" charset="-127"/>
              </a:rPr>
              <a:t>Bước</a:t>
            </a:r>
            <a:r>
              <a:rPr lang="en-US" altLang="ko-KR" sz="1200" dirty="0">
                <a:latin typeface="arial" pitchFamily="34" charset="0"/>
                <a:ea typeface="맑은 고딕" pitchFamily="50" charset="-127"/>
              </a:rPr>
              <a:t> 6</a:t>
            </a:r>
          </a:p>
        </p:txBody>
      </p:sp>
      <p:sp>
        <p:nvSpPr>
          <p:cNvPr id="192546" name="Rectangle 39"/>
          <p:cNvSpPr>
            <a:spLocks noChangeArrowheads="1"/>
          </p:cNvSpPr>
          <p:nvPr/>
        </p:nvSpPr>
        <p:spPr bwMode="auto">
          <a:xfrm>
            <a:off x="1491387" y="5959475"/>
            <a:ext cx="671659" cy="24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000" dirty="0" err="1">
                <a:latin typeface="arial" pitchFamily="34" charset="0"/>
                <a:ea typeface="맑은 고딕" pitchFamily="50" charset="-127"/>
              </a:rPr>
              <a:t>Kết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luận</a:t>
            </a:r>
            <a:endParaRPr lang="ko-KR" altLang="en-US" sz="1000" dirty="0">
              <a:latin typeface="arial" pitchFamily="34" charset="0"/>
              <a:ea typeface="맑은 고딕" pitchFamily="50" charset="-127"/>
            </a:endParaRPr>
          </a:p>
        </p:txBody>
      </p:sp>
      <p:sp>
        <p:nvSpPr>
          <p:cNvPr id="71" name="오각형 70"/>
          <p:cNvSpPr/>
          <p:nvPr/>
        </p:nvSpPr>
        <p:spPr>
          <a:xfrm rot="5400000">
            <a:off x="1584325" y="5316538"/>
            <a:ext cx="473075" cy="1511300"/>
          </a:xfrm>
          <a:prstGeom prst="homePlate">
            <a:avLst>
              <a:gd name="adj" fmla="val 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92548" name="Rectangle 41"/>
          <p:cNvSpPr>
            <a:spLocks noChangeArrowheads="1"/>
          </p:cNvSpPr>
          <p:nvPr/>
        </p:nvSpPr>
        <p:spPr bwMode="auto">
          <a:xfrm>
            <a:off x="3033713" y="5805488"/>
            <a:ext cx="2276264"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Nếu</a:t>
            </a:r>
            <a:r>
              <a:rPr lang="en-US" altLang="ko-KR" sz="1000" dirty="0">
                <a:latin typeface="arial" pitchFamily="34" charset="0"/>
                <a:ea typeface="맑은 고딕" pitchFamily="50" charset="-127"/>
              </a:rPr>
              <a:t> P&gt;α, </a:t>
            </a:r>
            <a:r>
              <a:rPr lang="en-US" altLang="ko-KR" sz="1000" dirty="0" err="1">
                <a:latin typeface="arial" pitchFamily="34" charset="0"/>
                <a:ea typeface="맑은 고딕" pitchFamily="50" charset="-127"/>
              </a:rPr>
              <a:t>Lựa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chọn</a:t>
            </a:r>
            <a:r>
              <a:rPr lang="en-US" altLang="ko-KR" sz="1000" dirty="0">
                <a:latin typeface="arial" pitchFamily="34" charset="0"/>
                <a:ea typeface="맑은 고딕" pitchFamily="50" charset="-127"/>
              </a:rPr>
              <a:t> H0</a:t>
            </a:r>
          </a:p>
          <a:p>
            <a:pPr defTabSz="762000" latinLnBrk="0">
              <a:buFont typeface="Arial" pitchFamily="34" charset="0"/>
              <a:buChar char="•"/>
            </a:pP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Nếu</a:t>
            </a:r>
            <a:r>
              <a:rPr lang="en-US" altLang="ko-KR" sz="1000" dirty="0">
                <a:latin typeface="arial" pitchFamily="34" charset="0"/>
                <a:ea typeface="맑은 고딕" pitchFamily="50" charset="-127"/>
              </a:rPr>
              <a:t> P&lt;α, </a:t>
            </a:r>
            <a:r>
              <a:rPr lang="en-US" altLang="ko-KR" sz="1000" dirty="0" err="1">
                <a:latin typeface="arial" pitchFamily="34" charset="0"/>
                <a:ea typeface="맑은 고딕" pitchFamily="50" charset="-127"/>
              </a:rPr>
              <a:t>Bác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bỏ</a:t>
            </a:r>
            <a:r>
              <a:rPr lang="en-US" altLang="ko-KR" sz="1000" dirty="0">
                <a:latin typeface="arial" pitchFamily="34" charset="0"/>
                <a:ea typeface="맑은 고딕" pitchFamily="50" charset="-127"/>
              </a:rPr>
              <a:t> H0, </a:t>
            </a:r>
            <a:r>
              <a:rPr lang="en-US" altLang="ko-KR" sz="1000" dirty="0" err="1">
                <a:latin typeface="arial" pitchFamily="34" charset="0"/>
                <a:ea typeface="맑은 고딕" pitchFamily="50" charset="-127"/>
              </a:rPr>
              <a:t>lựa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chọn</a:t>
            </a:r>
            <a:r>
              <a:rPr lang="en-US" altLang="ko-KR" sz="1000" dirty="0">
                <a:latin typeface="arial" pitchFamily="34" charset="0"/>
                <a:ea typeface="맑은 고딕" pitchFamily="50" charset="-127"/>
              </a:rPr>
              <a:t> H1</a:t>
            </a:r>
          </a:p>
        </p:txBody>
      </p:sp>
      <p:sp>
        <p:nvSpPr>
          <p:cNvPr id="192549" name="Rectangle 41"/>
          <p:cNvSpPr>
            <a:spLocks noChangeArrowheads="1"/>
          </p:cNvSpPr>
          <p:nvPr/>
        </p:nvSpPr>
        <p:spPr bwMode="auto">
          <a:xfrm>
            <a:off x="5600700" y="5805488"/>
            <a:ext cx="4305300" cy="55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buFont typeface="Arial" pitchFamily="34" charset="0"/>
              <a:buChar char="•"/>
            </a:pPr>
            <a:r>
              <a:rPr lang="en-US" altLang="ko-KR" sz="1000" dirty="0">
                <a:latin typeface="arial" pitchFamily="34" charset="0"/>
                <a:ea typeface="맑은 고딕" pitchFamily="50" charset="-127"/>
              </a:rPr>
              <a:t> P &gt; α, </a:t>
            </a:r>
            <a:r>
              <a:rPr lang="en-US" altLang="ko-KR" sz="1000" dirty="0" err="1">
                <a:latin typeface="arial" pitchFamily="34" charset="0"/>
                <a:ea typeface="맑은 고딕" pitchFamily="50" charset="-127"/>
              </a:rPr>
              <a:t>lựa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chọn</a:t>
            </a:r>
            <a:r>
              <a:rPr lang="en-US" altLang="ko-KR" sz="1000" dirty="0">
                <a:latin typeface="arial" pitchFamily="34" charset="0"/>
                <a:ea typeface="맑은 고딕" pitchFamily="50" charset="-127"/>
              </a:rPr>
              <a:t> H0</a:t>
            </a:r>
          </a:p>
          <a:p>
            <a:pPr defTabSz="762000" latinLnBrk="0"/>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nói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chiều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cao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trung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của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người</a:t>
            </a:r>
            <a:r>
              <a:rPr lang="en-US" altLang="ko-KR" sz="1000" dirty="0">
                <a:latin typeface="arial" pitchFamily="34" charset="0"/>
                <a:ea typeface="맑은 고딕" pitchFamily="50" charset="-127"/>
              </a:rPr>
              <a:t> Việt Nam </a:t>
            </a:r>
            <a:r>
              <a:rPr lang="en-US" altLang="ko-KR" sz="1000" dirty="0" err="1">
                <a:latin typeface="arial" pitchFamily="34" charset="0"/>
                <a:ea typeface="맑은 고딕" pitchFamily="50" charset="-127"/>
              </a:rPr>
              <a:t>trường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thành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là</a:t>
            </a:r>
            <a:r>
              <a:rPr lang="en-US" altLang="ko-KR" sz="1000" dirty="0">
                <a:latin typeface="arial" pitchFamily="34" charset="0"/>
                <a:ea typeface="맑은 고딕" pitchFamily="50" charset="-127"/>
              </a:rPr>
              <a:t> 180 cm.</a:t>
            </a:r>
          </a:p>
        </p:txBody>
      </p:sp>
      <p:sp>
        <p:nvSpPr>
          <p:cNvPr id="192550" name="Rectangle 41"/>
          <p:cNvSpPr>
            <a:spLocks noChangeArrowheads="1"/>
          </p:cNvSpPr>
          <p:nvPr/>
        </p:nvSpPr>
        <p:spPr bwMode="auto">
          <a:xfrm>
            <a:off x="5600700" y="1628775"/>
            <a:ext cx="3847207"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ko-KR" altLang="en-US" sz="1000" dirty="0">
                <a:latin typeface="arial" pitchFamily="34" charset="0"/>
                <a:ea typeface="맑은 고딕" pitchFamily="50" charset="-127"/>
              </a:rPr>
              <a:t> </a:t>
            </a:r>
            <a:r>
              <a:rPr lang="en-US" altLang="ko-KR" sz="1000" dirty="0" err="1">
                <a:latin typeface="arial" pitchFamily="34" charset="0"/>
                <a:ea typeface="맑은 고딕" pitchFamily="50" charset="-127"/>
              </a:rPr>
              <a:t>Chiều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cao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trung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của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người</a:t>
            </a:r>
            <a:r>
              <a:rPr lang="en-US" altLang="ko-KR" sz="1000" dirty="0">
                <a:latin typeface="arial" pitchFamily="34" charset="0"/>
                <a:ea typeface="맑은 고딕" pitchFamily="50" charset="-127"/>
              </a:rPr>
              <a:t> Việt Nam </a:t>
            </a:r>
            <a:r>
              <a:rPr lang="en-US" altLang="ko-KR" sz="1000" dirty="0" err="1">
                <a:latin typeface="arial" pitchFamily="34" charset="0"/>
                <a:ea typeface="맑은 고딕" pitchFamily="50" charset="-127"/>
              </a:rPr>
              <a:t>trường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thành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phải</a:t>
            </a:r>
            <a:br>
              <a:rPr lang="en-US" altLang="ko-KR" sz="1000" dirty="0">
                <a:latin typeface="arial" pitchFamily="34" charset="0"/>
                <a:ea typeface="맑은 고딕" pitchFamily="50" charset="-127"/>
              </a:rPr>
            </a:br>
            <a:r>
              <a:rPr lang="en-US" altLang="ko-KR" sz="1000" dirty="0">
                <a:latin typeface="arial" pitchFamily="34" charset="0"/>
                <a:ea typeface="맑은 고딕" pitchFamily="50" charset="-127"/>
              </a:rPr>
              <a:t>180 cm hay </a:t>
            </a:r>
            <a:r>
              <a:rPr lang="en-US" altLang="ko-KR" sz="1000" dirty="0" err="1">
                <a:latin typeface="arial" pitchFamily="34" charset="0"/>
                <a:ea typeface="맑은 고딕" pitchFamily="50" charset="-127"/>
              </a:rPr>
              <a:t>không</a:t>
            </a:r>
            <a:r>
              <a:rPr lang="en-US" altLang="ko-KR" sz="1000" dirty="0">
                <a:latin typeface="arial" pitchFamily="34" charset="0"/>
                <a:ea typeface="맑은 고딕" pitchFamily="50" charset="-127"/>
              </a:rPr>
              <a:t>?</a:t>
            </a:r>
          </a:p>
        </p:txBody>
      </p:sp>
      <p:sp>
        <p:nvSpPr>
          <p:cNvPr id="192551" name="Rectangle 41"/>
          <p:cNvSpPr>
            <a:spLocks noChangeArrowheads="1"/>
          </p:cNvSpPr>
          <p:nvPr/>
        </p:nvSpPr>
        <p:spPr bwMode="auto">
          <a:xfrm>
            <a:off x="5600700" y="2492375"/>
            <a:ext cx="934551"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en-US" altLang="ko-KR" sz="1000" dirty="0">
                <a:latin typeface="arial" pitchFamily="34" charset="0"/>
                <a:ea typeface="맑은 고딕" pitchFamily="50" charset="-127"/>
              </a:rPr>
              <a:t> H0: μ = 180</a:t>
            </a:r>
          </a:p>
          <a:p>
            <a:pPr defTabSz="762000" latinLnBrk="0">
              <a:buFont typeface="Arial" pitchFamily="34" charset="0"/>
              <a:buChar char="•"/>
            </a:pPr>
            <a:r>
              <a:rPr lang="en-US" altLang="ko-KR" sz="1000" dirty="0">
                <a:latin typeface="arial" pitchFamily="34" charset="0"/>
                <a:ea typeface="맑은 고딕" pitchFamily="50" charset="-127"/>
              </a:rPr>
              <a:t> H1: μ </a:t>
            </a:r>
            <a:r>
              <a:rPr lang="ko-KR" altLang="en-US" sz="1000" dirty="0">
                <a:latin typeface="arial" pitchFamily="34" charset="0"/>
                <a:ea typeface="맑은 고딕" pitchFamily="50" charset="-127"/>
              </a:rPr>
              <a:t>≠</a:t>
            </a:r>
            <a:r>
              <a:rPr lang="en-US" altLang="ko-KR" sz="1000" dirty="0">
                <a:latin typeface="arial" pitchFamily="34" charset="0"/>
                <a:ea typeface="맑은 고딕" pitchFamily="50" charset="-127"/>
              </a:rPr>
              <a:t>180</a:t>
            </a:r>
          </a:p>
        </p:txBody>
      </p:sp>
      <p:sp>
        <p:nvSpPr>
          <p:cNvPr id="192552" name="Rectangle 41"/>
          <p:cNvSpPr>
            <a:spLocks noChangeArrowheads="1"/>
          </p:cNvSpPr>
          <p:nvPr/>
        </p:nvSpPr>
        <p:spPr bwMode="auto">
          <a:xfrm>
            <a:off x="5600700" y="3357563"/>
            <a:ext cx="1030731" cy="24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latinLnBrk="0">
              <a:buFont typeface="Arial" pitchFamily="34" charset="0"/>
              <a:buChar char="•"/>
            </a:pPr>
            <a:r>
              <a:rPr lang="en-US" altLang="ko-KR" sz="1000" dirty="0">
                <a:latin typeface="arial" pitchFamily="34" charset="0"/>
                <a:ea typeface="맑은 고딕" pitchFamily="50" charset="-127"/>
              </a:rPr>
              <a:t> </a:t>
            </a:r>
            <a:r>
              <a:rPr lang="el-GR" altLang="ko-KR" sz="1000" dirty="0">
                <a:latin typeface="arial" pitchFamily="34" charset="0"/>
                <a:ea typeface="맑은 고딕" pitchFamily="50" charset="-127"/>
              </a:rPr>
              <a:t>α</a:t>
            </a:r>
            <a:r>
              <a:rPr lang="en-US" altLang="ko-KR" sz="1000" dirty="0">
                <a:latin typeface="arial" pitchFamily="34" charset="0"/>
                <a:ea typeface="맑은 고딕" pitchFamily="50" charset="-127"/>
              </a:rPr>
              <a:t>= 5% (0.05)</a:t>
            </a:r>
          </a:p>
        </p:txBody>
      </p:sp>
      <p:sp>
        <p:nvSpPr>
          <p:cNvPr id="192553" name="Rectangle 41"/>
          <p:cNvSpPr>
            <a:spLocks noChangeArrowheads="1"/>
          </p:cNvSpPr>
          <p:nvPr/>
        </p:nvSpPr>
        <p:spPr bwMode="auto">
          <a:xfrm>
            <a:off x="5600700" y="4303713"/>
            <a:ext cx="4176836"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buFont typeface="Arial" pitchFamily="34" charset="0"/>
              <a:buChar char="•"/>
            </a:pPr>
            <a:r>
              <a:rPr lang="ko-KR" altLang="en-US" sz="1000" dirty="0">
                <a:latin typeface="arial" pitchFamily="34" charset="0"/>
                <a:ea typeface="맑은 고딕" pitchFamily="50" charset="-127"/>
              </a:rPr>
              <a:t> </a:t>
            </a:r>
            <a:r>
              <a:rPr lang="en-US" altLang="ko-KR" sz="1000" dirty="0">
                <a:latin typeface="arial" pitchFamily="34" charset="0"/>
                <a:ea typeface="맑은 고딕" pitchFamily="50" charset="-127"/>
              </a:rPr>
              <a:t>Thu </a:t>
            </a:r>
            <a:r>
              <a:rPr lang="en-US" altLang="ko-KR" sz="1000" dirty="0" err="1">
                <a:latin typeface="arial" pitchFamily="34" charset="0"/>
                <a:ea typeface="맑은 고딕" pitchFamily="50" charset="-127"/>
              </a:rPr>
              <a:t>thập</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số</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liệu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về</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chiều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cao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một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cách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ngẫu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nhiên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từ</a:t>
            </a:r>
            <a:r>
              <a:rPr lang="en-US" altLang="ko-KR" sz="1000" dirty="0">
                <a:latin typeface="arial" pitchFamily="34" charset="0"/>
                <a:ea typeface="맑은 고딕" pitchFamily="50" charset="-127"/>
              </a:rPr>
              <a:t> 100 </a:t>
            </a:r>
            <a:r>
              <a:rPr lang="en-US" altLang="ko-KR" sz="1000" dirty="0" err="1">
                <a:latin typeface="arial" pitchFamily="34" charset="0"/>
                <a:ea typeface="맑은 고딕" pitchFamily="50" charset="-127"/>
              </a:rPr>
              <a:t>người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tại</a:t>
            </a:r>
            <a:r>
              <a:rPr lang="en-US" altLang="ko-KR" sz="1000" dirty="0">
                <a:latin typeface="arial" pitchFamily="34" charset="0"/>
                <a:ea typeface="맑은 고딕" pitchFamily="50" charset="-127"/>
              </a:rPr>
              <a:t> LG</a:t>
            </a:r>
          </a:p>
        </p:txBody>
      </p:sp>
      <p:sp>
        <p:nvSpPr>
          <p:cNvPr id="192554"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164</a:t>
            </a:fld>
            <a:endParaRPr lang="ko-KR" altLang="en-US" dirty="0"/>
          </a:p>
        </p:txBody>
      </p:sp>
      <p:sp>
        <p:nvSpPr>
          <p:cNvPr id="43" name="Rectangle 41"/>
          <p:cNvSpPr>
            <a:spLocks noChangeArrowheads="1"/>
          </p:cNvSpPr>
          <p:nvPr/>
        </p:nvSpPr>
        <p:spPr bwMode="auto">
          <a:xfrm>
            <a:off x="3033713" y="1650224"/>
            <a:ext cx="2207319" cy="55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pPr defTabSz="762000" latinLnBrk="0">
              <a:buFont typeface="Arial" pitchFamily="34" charset="0"/>
              <a:buChar char="•"/>
            </a:pP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Sắp</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xếp</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nhánh</a:t>
            </a:r>
            <a:r>
              <a:rPr lang="en-US" altLang="ko-KR" sz="1000" dirty="0">
                <a:latin typeface="arial" pitchFamily="34" charset="0"/>
                <a:ea typeface="맑은 고딕" pitchFamily="50" charset="-127"/>
              </a:rPr>
              <a:t> to </a:t>
            </a:r>
            <a:r>
              <a:rPr lang="en-US" altLang="ko-KR" sz="1000" dirty="0" err="1">
                <a:latin typeface="arial" pitchFamily="34" charset="0"/>
                <a:ea typeface="맑은 고딕" pitchFamily="50" charset="-127"/>
              </a:rPr>
              <a:t>theo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thứ</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tự</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của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nhân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tố</a:t>
            </a:r>
            <a:endParaRPr lang="en-US" altLang="ko-KR" sz="1000" dirty="0">
              <a:latin typeface="arial" pitchFamily="34" charset="0"/>
              <a:ea typeface="맑은 고딕" pitchFamily="50" charset="-127"/>
            </a:endParaRPr>
          </a:p>
          <a:p>
            <a:pPr defTabSz="762000" latinLnBrk="0">
              <a:buFont typeface="Arial" pitchFamily="34" charset="0"/>
              <a:buChar char="•"/>
            </a:pP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Đánh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dấu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nhân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tố</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quan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trọng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nhất</a:t>
            </a:r>
            <a:endParaRPr lang="en-US" altLang="ko-KR" sz="1000" dirty="0">
              <a:latin typeface="arial" pitchFamily="34" charset="0"/>
              <a:ea typeface="맑은 고딕" pitchFamily="50" charset="-127"/>
            </a:endParaRPr>
          </a:p>
        </p:txBody>
      </p:sp>
      <p:sp>
        <p:nvSpPr>
          <p:cNvPr id="3" name="Rectangle 2"/>
          <p:cNvSpPr/>
          <p:nvPr/>
        </p:nvSpPr>
        <p:spPr>
          <a:xfrm>
            <a:off x="369624" y="6061863"/>
            <a:ext cx="9272272" cy="661720"/>
          </a:xfrm>
          <a:prstGeom prst="rect">
            <a:avLst/>
          </a:prstGeom>
        </p:spPr>
        <p:txBody>
          <a:bodyPr wrap="square">
            <a:spAutoFit/>
          </a:bodyPr>
          <a:lstStyle/>
          <a:p>
            <a:endParaRPr lang="en-US" sz="1050" dirty="0">
              <a:solidFill>
                <a:srgbClr val="000000"/>
              </a:solidFill>
              <a:latin typeface="Times New Roman" panose="02020603050405020304" pitchFamily="18" charset="0"/>
            </a:endParaRPr>
          </a:p>
          <a:p>
            <a:endParaRPr lang="en-US" sz="1050" dirty="0">
              <a:latin typeface="Times New Roman" panose="02020603050405020304" pitchFamily="18" charset="0"/>
            </a:endParaRPr>
          </a:p>
          <a:p>
            <a:r>
              <a:rPr lang="vi-VN" sz="1600" dirty="0">
                <a:latin typeface="Times New Roman" panose="02020603050405020304" pitchFamily="18" charset="0"/>
              </a:rPr>
              <a:t>p</a:t>
            </a:r>
            <a:r>
              <a:rPr lang="vi-VN" sz="1100" dirty="0">
                <a:latin typeface="Times New Roman" panose="02020603050405020304" pitchFamily="18" charset="0"/>
              </a:rPr>
              <a:t>value </a:t>
            </a:r>
            <a:r>
              <a:rPr lang="vi-VN" sz="1600" dirty="0">
                <a:latin typeface="Times New Roman" panose="02020603050405020304" pitchFamily="18" charset="0"/>
              </a:rPr>
              <a:t>là giá trị nhỏ nhất của </a:t>
            </a:r>
            <a:r>
              <a:rPr lang="en-US" altLang="ko-KR" sz="1600" dirty="0">
                <a:latin typeface="arial" pitchFamily="34" charset="0"/>
                <a:ea typeface="맑은 고딕" pitchFamily="50" charset="-127"/>
              </a:rPr>
              <a:t>α</a:t>
            </a:r>
            <a:r>
              <a:rPr lang="vi-VN" sz="1600" dirty="0">
                <a:latin typeface="Times New Roman" panose="02020603050405020304" pitchFamily="18" charset="0"/>
              </a:rPr>
              <a:t> (</a:t>
            </a:r>
            <a:r>
              <a:rPr lang="vi-VN" sz="1600" i="1" dirty="0">
                <a:latin typeface="Times New Roman" panose="02020603050405020304" pitchFamily="18" charset="0"/>
              </a:rPr>
              <a:t>được tính từ trị thống kê</a:t>
            </a:r>
            <a:r>
              <a:rPr lang="vi-VN" sz="1600" dirty="0">
                <a:latin typeface="Times New Roman" panose="02020603050405020304" pitchFamily="18" charset="0"/>
              </a:rPr>
              <a:t>) mà qua đó kết quả kiểm định là có ý nghĩa thống kê </a:t>
            </a:r>
          </a:p>
        </p:txBody>
      </p:sp>
    </p:spTree>
    <p:extLst>
      <p:ext uri="{BB962C8B-B14F-4D97-AF65-F5344CB8AC3E}">
        <p14:creationId xmlns:p14="http://schemas.microsoft.com/office/powerpoint/2010/main" val="214834489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직사각형 17"/>
          <p:cNvSpPr/>
          <p:nvPr/>
        </p:nvSpPr>
        <p:spPr>
          <a:xfrm>
            <a:off x="273050" y="1557338"/>
            <a:ext cx="9432925" cy="12969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93539"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10"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1 Sample t-Test</a:t>
            </a:r>
            <a:endParaRPr lang="ko-KR" altLang="ko-KR" b="1" dirty="0">
              <a:latin typeface="arial" pitchFamily="34" charset="0"/>
            </a:endParaRPr>
          </a:p>
        </p:txBody>
      </p:sp>
      <p:sp>
        <p:nvSpPr>
          <p:cNvPr id="11"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193544" name="TextBox 1"/>
          <p:cNvSpPr txBox="1">
            <a:spLocks noChangeArrowheads="1"/>
          </p:cNvSpPr>
          <p:nvPr/>
        </p:nvSpPr>
        <p:spPr bwMode="auto">
          <a:xfrm>
            <a:off x="416149" y="1467692"/>
            <a:ext cx="9073703" cy="1492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30000"/>
              </a:lnSpc>
              <a:buClr>
                <a:srgbClr val="C5003D"/>
              </a:buClr>
            </a:pPr>
            <a:r>
              <a:rPr lang="en-US" altLang="ko-KR" sz="1400" b="1" dirty="0" err="1">
                <a:latin typeface="arial" pitchFamily="34" charset="0"/>
                <a:ea typeface="맑은 고딕" pitchFamily="50" charset="-127"/>
              </a:rPr>
              <a:t>Chúng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liệu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xuất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khối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lượng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tương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đương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mức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tiêu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chuẩn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150g hay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Tiến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hành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lấy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mẫu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đạt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số</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liệu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trên</a:t>
            </a:r>
            <a:r>
              <a:rPr lang="en-US" altLang="ko-KR" sz="1400" b="1" dirty="0">
                <a:latin typeface="arial" pitchFamily="34" charset="0"/>
                <a:ea typeface="맑은 고딕" pitchFamily="50" charset="-127"/>
              </a:rPr>
              <a:t> 15 </a:t>
            </a:r>
            <a:r>
              <a:rPr lang="en-US" altLang="ko-KR" sz="1400" b="1" dirty="0" err="1">
                <a:latin typeface="arial" pitchFamily="34" charset="0"/>
                <a:ea typeface="맑은 고딕" pitchFamily="50" charset="-127"/>
              </a:rPr>
              <a:t>mẫu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 </a:t>
            </a:r>
            <a:r>
              <a:rPr lang="en-US" altLang="ko-KR" sz="1400" b="1" dirty="0" err="1">
                <a:latin typeface="arial" pitchFamily="34" charset="0"/>
                <a:ea typeface="맑은 고딕" pitchFamily="50" charset="-127"/>
              </a:rPr>
              <a:t>thu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bảng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số</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liệu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dưới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đây</a:t>
            </a:r>
            <a:r>
              <a:rPr lang="en-US" altLang="ko-KR" sz="1400" b="1" dirty="0">
                <a:latin typeface="arial" pitchFamily="34" charset="0"/>
                <a:ea typeface="맑은 고딕" pitchFamily="50" charset="-127"/>
              </a:rPr>
              <a:t>.</a:t>
            </a:r>
          </a:p>
          <a:p>
            <a:pPr algn="just" eaLnBrk="1" hangingPunct="1">
              <a:lnSpc>
                <a:spcPct val="130000"/>
              </a:lnSpc>
              <a:buClr>
                <a:srgbClr val="C5003D"/>
              </a:buClr>
            </a:pPr>
            <a:r>
              <a:rPr lang="en-US" altLang="ko-KR" sz="1400" b="1" dirty="0" err="1">
                <a:latin typeface="arial" pitchFamily="34" charset="0"/>
                <a:ea typeface="맑은 고딕" pitchFamily="50" charset="-127"/>
              </a:rPr>
              <a:t>Biết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khối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lượng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của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 </a:t>
            </a:r>
            <a:r>
              <a:rPr lang="en-US" altLang="ko-KR" sz="1400" b="1" dirty="0" err="1">
                <a:latin typeface="arial" pitchFamily="34" charset="0"/>
                <a:ea typeface="맑은 고딕" pitchFamily="50" charset="-127"/>
              </a:rPr>
              <a:t>tuân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theo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phân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phối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chuẩn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Chúng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khẳng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khối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lượng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của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150g hay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pic>
        <p:nvPicPr>
          <p:cNvPr id="193545" name="Picture 1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76288" y="3079750"/>
            <a:ext cx="1104900" cy="308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546" name="TextBox 2"/>
          <p:cNvSpPr txBox="1">
            <a:spLocks noChangeArrowheads="1"/>
          </p:cNvSpPr>
          <p:nvPr/>
        </p:nvSpPr>
        <p:spPr bwMode="auto">
          <a:xfrm>
            <a:off x="2649538" y="3295650"/>
            <a:ext cx="363913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lập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193547" name="TextBox 14"/>
          <p:cNvSpPr txBox="1">
            <a:spLocks noChangeArrowheads="1"/>
          </p:cNvSpPr>
          <p:nvPr/>
        </p:nvSpPr>
        <p:spPr bwMode="auto">
          <a:xfrm>
            <a:off x="2662238" y="4108450"/>
            <a:ext cx="493115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Cần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sử</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dụng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phương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pháp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thống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kê</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nào</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193548" name="TextBox 15"/>
          <p:cNvSpPr txBox="1">
            <a:spLocks noChangeArrowheads="1"/>
          </p:cNvSpPr>
          <p:nvPr/>
        </p:nvSpPr>
        <p:spPr bwMode="auto">
          <a:xfrm>
            <a:off x="2990850" y="3703638"/>
            <a:ext cx="1540806"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l-GR" altLang="ko-KR" sz="1400" b="1" dirty="0">
                <a:latin typeface="arial" pitchFamily="34" charset="0"/>
                <a:ea typeface="맑은 고딕" pitchFamily="50" charset="-127"/>
              </a:rPr>
              <a:t>μ = 150 </a:t>
            </a:r>
            <a:r>
              <a:rPr lang="en-US" altLang="ko-KR" sz="1400" b="1" dirty="0" err="1">
                <a:latin typeface="arial" pitchFamily="34" charset="0"/>
                <a:ea typeface="맑은 고딕" pitchFamily="50" charset="-127"/>
              </a:rPr>
              <a:t>vs</a:t>
            </a:r>
            <a:r>
              <a:rPr lang="ko-KR" altLang="en-US" sz="1400" b="1" dirty="0">
                <a:latin typeface="arial" pitchFamily="34" charset="0"/>
                <a:ea typeface="맑은 고딕" pitchFamily="50" charset="-127"/>
              </a:rPr>
              <a:t> ≠ </a:t>
            </a:r>
            <a:r>
              <a:rPr lang="en-US" altLang="ko-KR" sz="1400" b="1" dirty="0">
                <a:latin typeface="arial" pitchFamily="34" charset="0"/>
                <a:ea typeface="맑은 고딕" pitchFamily="50" charset="-127"/>
              </a:rPr>
              <a:t>150</a:t>
            </a:r>
            <a:endParaRPr lang="ko-KR" altLang="en-US" sz="1400" b="1" dirty="0">
              <a:latin typeface="arial" pitchFamily="34" charset="0"/>
              <a:ea typeface="맑은 고딕" pitchFamily="50" charset="-127"/>
            </a:endParaRPr>
          </a:p>
        </p:txBody>
      </p:sp>
      <p:sp>
        <p:nvSpPr>
          <p:cNvPr id="193549" name="TextBox 16"/>
          <p:cNvSpPr txBox="1">
            <a:spLocks noChangeArrowheads="1"/>
          </p:cNvSpPr>
          <p:nvPr/>
        </p:nvSpPr>
        <p:spPr bwMode="auto">
          <a:xfrm>
            <a:off x="3008313" y="4519613"/>
            <a:ext cx="2160587" cy="341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1 Sample t-Test</a:t>
            </a:r>
            <a:endParaRPr lang="ko-KR" altLang="en-US" sz="14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165</a:t>
            </a:fld>
            <a:endParaRPr lang="ko-KR" altLang="en-US" dirty="0"/>
          </a:p>
        </p:txBody>
      </p:sp>
      <p:sp>
        <p:nvSpPr>
          <p:cNvPr id="16" name="직사각형 43"/>
          <p:cNvSpPr>
            <a:spLocks noChangeArrowheads="1"/>
          </p:cNvSpPr>
          <p:nvPr/>
        </p:nvSpPr>
        <p:spPr bwMode="auto">
          <a:xfrm>
            <a:off x="4089400" y="909770"/>
            <a:ext cx="5616128"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solidFill>
                  <a:srgbClr val="000000"/>
                </a:solidFill>
                <a:latin typeface="arial" pitchFamily="34" charset="0"/>
                <a:ea typeface="맑은 고딕" pitchFamily="50" charset="-127"/>
              </a:rPr>
              <a:t> </a:t>
            </a:r>
            <a:r>
              <a:rPr lang="vi-VN" altLang="ko-KR" sz="1100" dirty="0">
                <a:solidFill>
                  <a:srgbClr val="000000"/>
                </a:solidFill>
                <a:latin typeface="arial" pitchFamily="34" charset="0"/>
                <a:ea typeface="맑은 고딕" pitchFamily="50" charset="-127"/>
              </a:rPr>
              <a:t>So sánh sự khác biệt giữa trung bình mẫu và giá trị cụ thể đã biết hoặc đưa ra giả định</a:t>
            </a:r>
            <a:endParaRPr lang="ko-KR" altLang="ko-KR" sz="1100" b="1" dirty="0">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Giả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thuyết</a:t>
            </a:r>
            <a:r>
              <a:rPr lang="en-US" altLang="ko-KR" sz="1100" dirty="0">
                <a:latin typeface="arial" pitchFamily="34" charset="0"/>
                <a:ea typeface="맑은 고딕" pitchFamily="50" charset="-127"/>
              </a:rPr>
              <a:t>:</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H0 : μ =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trước</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H1: μ </a:t>
            </a:r>
            <a:r>
              <a:rPr lang="ko-KR" altLang="en-US" sz="1100" dirty="0">
                <a:latin typeface="arial" pitchFamily="34" charset="0"/>
                <a:ea typeface="맑은 고딕" pitchFamily="50" charset="-127"/>
              </a:rPr>
              <a: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trước</a:t>
            </a:r>
            <a:endParaRPr lang="ko-KR" altLang="en-US" sz="1100" dirty="0">
              <a:latin typeface="arial" pitchFamily="34" charset="0"/>
              <a:ea typeface="맑은 고딕" pitchFamily="50" charset="-127"/>
            </a:endParaRPr>
          </a:p>
        </p:txBody>
      </p:sp>
      <p:sp>
        <p:nvSpPr>
          <p:cNvPr id="17"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19"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852649"/>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166</a:t>
            </a:fld>
            <a:endParaRPr lang="ko-KR" altLang="en-US" dirty="0"/>
          </a:p>
        </p:txBody>
      </p:sp>
      <p:pic>
        <p:nvPicPr>
          <p:cNvPr id="137218" name="Picture 2"/>
          <p:cNvPicPr>
            <a:picLocks noChangeAspect="1" noChangeArrowheads="1"/>
          </p:cNvPicPr>
          <p:nvPr/>
        </p:nvPicPr>
        <p:blipFill rotWithShape="1">
          <a:blip r:embed="rId3" cstate="print">
            <a:extLst>
              <a:ext uri="{28A0092B-C50C-407E-A947-70E740481C1C}">
                <a14:useLocalDpi xmlns:a14="http://schemas.microsoft.com/office/drawing/2010/main"/>
              </a:ext>
            </a:extLst>
          </a:blip>
          <a:srcRect/>
          <a:stretch/>
        </p:blipFill>
        <p:spPr bwMode="auto">
          <a:xfrm>
            <a:off x="272480" y="1628800"/>
            <a:ext cx="4464496" cy="4539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7219" name="Picture 3"/>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5097016" y="1916832"/>
            <a:ext cx="4615444" cy="3744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18"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1 Sample t-Test</a:t>
            </a:r>
            <a:endParaRPr lang="ko-KR" altLang="ko-KR" b="1" dirty="0">
              <a:latin typeface="arial" pitchFamily="34" charset="0"/>
            </a:endParaRPr>
          </a:p>
        </p:txBody>
      </p:sp>
      <p:sp>
        <p:nvSpPr>
          <p:cNvPr id="19"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21" name="직사각형 43"/>
          <p:cNvSpPr>
            <a:spLocks noChangeArrowheads="1"/>
          </p:cNvSpPr>
          <p:nvPr/>
        </p:nvSpPr>
        <p:spPr bwMode="auto">
          <a:xfrm>
            <a:off x="4089400" y="909770"/>
            <a:ext cx="5616128"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solidFill>
                  <a:srgbClr val="000000"/>
                </a:solidFill>
                <a:latin typeface="arial" pitchFamily="34" charset="0"/>
                <a:ea typeface="맑은 고딕" pitchFamily="50" charset="-127"/>
              </a:rPr>
              <a:t> </a:t>
            </a:r>
            <a:r>
              <a:rPr lang="vi-VN" altLang="ko-KR" sz="1100" dirty="0">
                <a:solidFill>
                  <a:srgbClr val="000000"/>
                </a:solidFill>
                <a:latin typeface="arial" pitchFamily="34" charset="0"/>
                <a:ea typeface="맑은 고딕" pitchFamily="50" charset="-127"/>
              </a:rPr>
              <a:t>So sánh sự khác biệt giữa trung bình mẫu và giá trị cụ thể đã biết hoặc đưa ra giả định</a:t>
            </a:r>
            <a:endParaRPr lang="ko-KR" altLang="ko-KR" sz="1100" b="1" dirty="0">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Giả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thuyết</a:t>
            </a:r>
            <a:r>
              <a:rPr lang="en-US" altLang="ko-KR" sz="1100" dirty="0">
                <a:latin typeface="arial" pitchFamily="34" charset="0"/>
                <a:ea typeface="맑은 고딕" pitchFamily="50" charset="-127"/>
              </a:rPr>
              <a:t>:</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H0 : μ =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trước</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H1: μ </a:t>
            </a:r>
            <a:r>
              <a:rPr lang="ko-KR" altLang="en-US" sz="1100" dirty="0">
                <a:latin typeface="arial" pitchFamily="34" charset="0"/>
                <a:ea typeface="맑은 고딕" pitchFamily="50" charset="-127"/>
              </a:rPr>
              <a: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trước</a:t>
            </a:r>
            <a:endParaRPr lang="ko-KR" altLang="en-US" sz="1100" dirty="0">
              <a:latin typeface="arial" pitchFamily="34" charset="0"/>
              <a:ea typeface="맑은 고딕" pitchFamily="50" charset="-127"/>
            </a:endParaRPr>
          </a:p>
        </p:txBody>
      </p:sp>
      <p:sp>
        <p:nvSpPr>
          <p:cNvPr id="26"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7" name="Picture 67"/>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9906133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92" name="TextBox 10"/>
          <p:cNvSpPr txBox="1">
            <a:spLocks noChangeArrowheads="1"/>
          </p:cNvSpPr>
          <p:nvPr/>
        </p:nvSpPr>
        <p:spPr bwMode="auto">
          <a:xfrm>
            <a:off x="560512" y="5115300"/>
            <a:ext cx="8461696" cy="652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P-value </a:t>
            </a:r>
            <a:r>
              <a:rPr lang="en-US" altLang="ko-KR" sz="1400" b="1" dirty="0" err="1">
                <a:latin typeface="arial" pitchFamily="34" charset="0"/>
                <a:ea typeface="맑은 고딕" pitchFamily="50" charset="-127"/>
              </a:rPr>
              <a:t>nhỏ</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mức</a:t>
            </a:r>
            <a:r>
              <a:rPr lang="en-US" altLang="ko-KR" sz="1400" b="1" dirty="0">
                <a:latin typeface="arial" pitchFamily="34" charset="0"/>
                <a:ea typeface="맑은 고딕" pitchFamily="50" charset="-127"/>
              </a:rPr>
              <a:t> ý </a:t>
            </a:r>
            <a:r>
              <a:rPr lang="en-US" altLang="ko-KR" sz="1400" b="1" dirty="0" err="1">
                <a:latin typeface="arial" pitchFamily="34" charset="0"/>
                <a:ea typeface="맑은 고딕" pitchFamily="50" charset="-127"/>
              </a:rPr>
              <a:t>nghĩa</a:t>
            </a:r>
            <a:r>
              <a:rPr lang="en-US" altLang="ko-KR" sz="1400" b="1" dirty="0">
                <a:latin typeface="arial" pitchFamily="34" charset="0"/>
                <a:ea typeface="맑은 고딕" pitchFamily="50" charset="-127"/>
              </a:rPr>
              <a:t> α = 0.05, do </a:t>
            </a:r>
            <a:r>
              <a:rPr lang="en-US" altLang="ko-KR" sz="1400" b="1" dirty="0" err="1">
                <a:latin typeface="arial" pitchFamily="34" charset="0"/>
                <a:ea typeface="맑은 고딕" pitchFamily="50" charset="-127"/>
              </a:rPr>
              <a:t>đó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bỏ</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 H0</a:t>
            </a:r>
          </a:p>
          <a:p>
            <a:pPr eaLnBrk="1" hangingPunct="1">
              <a:lnSpc>
                <a:spcPct val="130000"/>
              </a:lnSpc>
              <a:buClr>
                <a:srgbClr val="C5003D"/>
              </a:buClr>
            </a:pP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Không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thể</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khẳng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định</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khối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lượng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của</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sản</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phẩm</a:t>
            </a:r>
            <a:r>
              <a:rPr lang="en-US" altLang="ko-KR" sz="1400" b="1" dirty="0">
                <a:latin typeface="arial" pitchFamily="34" charset="0"/>
                <a:ea typeface="맑은 고딕" pitchFamily="50" charset="-127"/>
                <a:sym typeface="Wingdings" pitchFamily="2" charset="2"/>
              </a:rPr>
              <a:t> A </a:t>
            </a:r>
            <a:r>
              <a:rPr lang="en-US" altLang="ko-KR" sz="1400" b="1" dirty="0" err="1">
                <a:latin typeface="arial" pitchFamily="34" charset="0"/>
                <a:ea typeface="맑은 고딕" pitchFamily="50" charset="-127"/>
                <a:sym typeface="Wingdings" pitchFamily="2" charset="2"/>
              </a:rPr>
              <a:t>đạt</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mức</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tiêu</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chuẩn</a:t>
            </a:r>
            <a:r>
              <a:rPr lang="en-US" altLang="ko-KR" sz="1400" b="1" dirty="0">
                <a:latin typeface="arial" pitchFamily="34" charset="0"/>
                <a:ea typeface="맑은 고딕" pitchFamily="50" charset="-127"/>
                <a:sym typeface="Wingdings" pitchFamily="2" charset="2"/>
              </a:rPr>
              <a:t> 150g.</a:t>
            </a:r>
            <a:endParaRPr lang="ko-KR" altLang="en-US" sz="14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167</a:t>
            </a:fld>
            <a:endParaRPr lang="ko-KR" altLang="en-US" dirty="0"/>
          </a:p>
        </p:txBody>
      </p:sp>
      <p:pic>
        <p:nvPicPr>
          <p:cNvPr id="138242"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668524" y="2204864"/>
            <a:ext cx="8568952" cy="2160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17"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1 Sample t-Test</a:t>
            </a:r>
            <a:endParaRPr lang="ko-KR" altLang="ko-KR" b="1" dirty="0">
              <a:latin typeface="arial" pitchFamily="34" charset="0"/>
            </a:endParaRPr>
          </a:p>
        </p:txBody>
      </p:sp>
      <p:sp>
        <p:nvSpPr>
          <p:cNvPr id="18"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20" name="직사각형 43"/>
          <p:cNvSpPr>
            <a:spLocks noChangeArrowheads="1"/>
          </p:cNvSpPr>
          <p:nvPr/>
        </p:nvSpPr>
        <p:spPr bwMode="auto">
          <a:xfrm>
            <a:off x="4089400" y="909770"/>
            <a:ext cx="5616128"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solidFill>
                  <a:srgbClr val="000000"/>
                </a:solidFill>
                <a:latin typeface="arial" pitchFamily="34" charset="0"/>
                <a:ea typeface="맑은 고딕" pitchFamily="50" charset="-127"/>
              </a:rPr>
              <a:t> </a:t>
            </a:r>
            <a:r>
              <a:rPr lang="vi-VN" altLang="ko-KR" sz="1100" dirty="0">
                <a:solidFill>
                  <a:srgbClr val="000000"/>
                </a:solidFill>
                <a:latin typeface="arial" pitchFamily="34" charset="0"/>
                <a:ea typeface="맑은 고딕" pitchFamily="50" charset="-127"/>
              </a:rPr>
              <a:t>So sánh sự khác biệt giữa trung bình mẫu và giá trị cụ thể đã biết hoặc đưa ra giả định</a:t>
            </a:r>
            <a:endParaRPr lang="ko-KR" altLang="ko-KR" sz="1100" b="1" dirty="0">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Giả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thuyết</a:t>
            </a:r>
            <a:r>
              <a:rPr lang="en-US" altLang="ko-KR" sz="1100" dirty="0">
                <a:latin typeface="arial" pitchFamily="34" charset="0"/>
                <a:ea typeface="맑은 고딕" pitchFamily="50" charset="-127"/>
              </a:rPr>
              <a:t>:</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H0 : μ =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trước</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H1: μ </a:t>
            </a:r>
            <a:r>
              <a:rPr lang="ko-KR" altLang="en-US" sz="1100" dirty="0">
                <a:latin typeface="arial" pitchFamily="34" charset="0"/>
                <a:ea typeface="맑은 고딕" pitchFamily="50" charset="-127"/>
              </a:rPr>
              <a: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trước</a:t>
            </a:r>
            <a:endParaRPr lang="ko-KR" altLang="en-US" sz="1100" dirty="0">
              <a:latin typeface="arial" pitchFamily="34" charset="0"/>
              <a:ea typeface="맑은 고딕" pitchFamily="50" charset="-127"/>
            </a:endParaRPr>
          </a:p>
        </p:txBody>
      </p:sp>
      <p:sp>
        <p:nvSpPr>
          <p:cNvPr id="21"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2"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16138221"/>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96616" name="TextBox 11"/>
          <p:cNvSpPr txBox="1">
            <a:spLocks noChangeArrowheads="1"/>
          </p:cNvSpPr>
          <p:nvPr/>
        </p:nvSpPr>
        <p:spPr bwMode="auto">
          <a:xfrm>
            <a:off x="1639888" y="5584825"/>
            <a:ext cx="6913562" cy="623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H0 </a:t>
            </a:r>
            <a:r>
              <a:rPr lang="en-US" altLang="ko-KR" sz="1400" b="1" dirty="0" err="1">
                <a:latin typeface="arial" pitchFamily="34" charset="0"/>
                <a:ea typeface="맑은 고딕" pitchFamily="50" charset="-127"/>
              </a:rPr>
              <a:t>bị</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bỏ</a:t>
            </a:r>
            <a:r>
              <a:rPr lang="en-US" altLang="ko-KR" sz="1400" b="1" dirty="0">
                <a:latin typeface="arial" pitchFamily="34" charset="0"/>
                <a:ea typeface="맑은 고딕" pitchFamily="50" charset="-127"/>
              </a:rPr>
              <a:t> do </a:t>
            </a:r>
            <a:r>
              <a:rPr lang="en-US" altLang="ko-KR" sz="1400" b="1" dirty="0" err="1">
                <a:latin typeface="arial" pitchFamily="34" charset="0"/>
                <a:ea typeface="맑은 고딕" pitchFamily="50" charset="-127"/>
              </a:rPr>
              <a:t>chủ</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H0(150g), </a:t>
            </a:r>
            <a:r>
              <a:rPr lang="en-US" altLang="ko-KR" sz="1400" b="1" dirty="0" err="1">
                <a:latin typeface="arial" pitchFamily="34" charset="0"/>
                <a:ea typeface="맑은 고딕" pitchFamily="50" charset="-127"/>
              </a:rPr>
              <a:t>nằm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ngoài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khoảng</a:t>
            </a:r>
            <a:r>
              <a:rPr lang="en-US" altLang="ko-KR" sz="1400" b="1" dirty="0">
                <a:latin typeface="arial" pitchFamily="34" charset="0"/>
                <a:ea typeface="맑은 고딕" pitchFamily="50" charset="-127"/>
              </a:rPr>
              <a:t> tin </a:t>
            </a:r>
            <a:r>
              <a:rPr lang="en-US" altLang="ko-KR" sz="1400" b="1" dirty="0" err="1">
                <a:latin typeface="arial" pitchFamily="34" charset="0"/>
                <a:ea typeface="맑은 고딕" pitchFamily="50" charset="-127"/>
              </a:rPr>
              <a:t>cậy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đường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màu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xanh</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168</a:t>
            </a:fld>
            <a:endParaRPr lang="ko-KR" altLang="en-US" dirty="0"/>
          </a:p>
        </p:txBody>
      </p:sp>
      <p:pic>
        <p:nvPicPr>
          <p:cNvPr id="139266"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856656" y="1790345"/>
            <a:ext cx="5688632" cy="37268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17"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1 Sample t-Test</a:t>
            </a:r>
            <a:endParaRPr lang="ko-KR" altLang="ko-KR" b="1" dirty="0">
              <a:latin typeface="arial" pitchFamily="34" charset="0"/>
            </a:endParaRPr>
          </a:p>
        </p:txBody>
      </p:sp>
      <p:sp>
        <p:nvSpPr>
          <p:cNvPr id="18"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20" name="직사각형 43"/>
          <p:cNvSpPr>
            <a:spLocks noChangeArrowheads="1"/>
          </p:cNvSpPr>
          <p:nvPr/>
        </p:nvSpPr>
        <p:spPr bwMode="auto">
          <a:xfrm>
            <a:off x="4089400" y="909770"/>
            <a:ext cx="5616128"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solidFill>
                  <a:srgbClr val="000000"/>
                </a:solidFill>
                <a:latin typeface="arial" pitchFamily="34" charset="0"/>
                <a:ea typeface="맑은 고딕" pitchFamily="50" charset="-127"/>
              </a:rPr>
              <a:t> </a:t>
            </a:r>
            <a:r>
              <a:rPr lang="vi-VN" altLang="ko-KR" sz="1100" dirty="0">
                <a:solidFill>
                  <a:srgbClr val="000000"/>
                </a:solidFill>
                <a:latin typeface="arial" pitchFamily="34" charset="0"/>
                <a:ea typeface="맑은 고딕" pitchFamily="50" charset="-127"/>
              </a:rPr>
              <a:t>So sánh sự khác biệt giữa trung bình mẫu và giá trị cụ thể đã biết hoặc đưa ra giả định</a:t>
            </a:r>
            <a:endParaRPr lang="ko-KR" altLang="ko-KR" sz="1100" b="1" dirty="0">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Giả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thuyết</a:t>
            </a:r>
            <a:r>
              <a:rPr lang="en-US" altLang="ko-KR" sz="1100" dirty="0">
                <a:latin typeface="arial" pitchFamily="34" charset="0"/>
                <a:ea typeface="맑은 고딕" pitchFamily="50" charset="-127"/>
              </a:rPr>
              <a:t>:</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H0 : μ =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trước</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H1: μ </a:t>
            </a:r>
            <a:r>
              <a:rPr lang="ko-KR" altLang="en-US" sz="1100" dirty="0">
                <a:latin typeface="arial" pitchFamily="34" charset="0"/>
                <a:ea typeface="맑은 고딕" pitchFamily="50" charset="-127"/>
              </a:rPr>
              <a: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trước</a:t>
            </a:r>
            <a:endParaRPr lang="ko-KR" altLang="en-US" sz="1100" dirty="0">
              <a:latin typeface="arial" pitchFamily="34" charset="0"/>
              <a:ea typeface="맑은 고딕" pitchFamily="50" charset="-127"/>
            </a:endParaRPr>
          </a:p>
        </p:txBody>
      </p:sp>
      <p:sp>
        <p:nvSpPr>
          <p:cNvPr id="21"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2"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9686451"/>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6" name="직사각형 43"/>
          <p:cNvSpPr>
            <a:spLocks noChangeArrowheads="1"/>
          </p:cNvSpPr>
          <p:nvPr/>
        </p:nvSpPr>
        <p:spPr bwMode="auto">
          <a:xfrm>
            <a:off x="3747314" y="952500"/>
            <a:ext cx="595866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en-US" altLang="ko-KR" sz="1100" dirty="0">
                <a:solidFill>
                  <a:srgbClr val="000000"/>
                </a:solidFill>
                <a:latin typeface="arial" pitchFamily="34" charset="0"/>
                <a:ea typeface="맑은 고딕" pitchFamily="50" charset="-127"/>
              </a:rPr>
              <a:t> So </a:t>
            </a:r>
            <a:r>
              <a:rPr lang="en-US" altLang="ko-KR" sz="1100" dirty="0" err="1">
                <a:solidFill>
                  <a:srgbClr val="000000"/>
                </a:solidFill>
                <a:latin typeface="arial" pitchFamily="34" charset="0"/>
                <a:ea typeface="맑은 고딕" pitchFamily="50" charset="-127"/>
              </a:rPr>
              <a:t>sánh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giá</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trị</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trung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bình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từ</a:t>
            </a:r>
            <a:r>
              <a:rPr lang="en-US" altLang="ko-KR" sz="1100" dirty="0">
                <a:solidFill>
                  <a:srgbClr val="000000"/>
                </a:solidFill>
                <a:latin typeface="arial" pitchFamily="34" charset="0"/>
                <a:ea typeface="맑은 고딕" pitchFamily="50" charset="-127"/>
              </a:rPr>
              <a:t> 2 </a:t>
            </a:r>
            <a:r>
              <a:rPr lang="en-US" altLang="ko-KR" sz="1100" dirty="0" err="1">
                <a:solidFill>
                  <a:srgbClr val="000000"/>
                </a:solidFill>
                <a:latin typeface="arial" pitchFamily="34" charset="0"/>
                <a:ea typeface="맑은 고딕" pitchFamily="50" charset="-127"/>
              </a:rPr>
              <a:t>tổng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thể</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khác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nhau</a:t>
            </a:r>
            <a:endParaRPr lang="en-US" altLang="ko-KR" sz="1100" dirty="0">
              <a:solidFill>
                <a:srgbClr val="000000"/>
              </a:solidFill>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Giả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thuyết</a:t>
            </a:r>
            <a:r>
              <a:rPr lang="en-US" altLang="ko-KR" sz="1100" dirty="0">
                <a:latin typeface="arial" pitchFamily="34" charset="0"/>
                <a:ea typeface="맑은 고딕" pitchFamily="50" charset="-127"/>
              </a:rPr>
              <a:t> H0 : μ1 = μ2</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H1 : μ1 </a:t>
            </a:r>
            <a:r>
              <a:rPr lang="ko-KR" altLang="en-US" sz="1100" dirty="0">
                <a:latin typeface="arial" pitchFamily="34" charset="0"/>
                <a:ea typeface="맑은 고딕" pitchFamily="50" charset="-127"/>
              </a:rPr>
              <a:t>≠</a:t>
            </a:r>
            <a:r>
              <a:rPr lang="en-US" altLang="ko-KR" sz="1100" dirty="0">
                <a:latin typeface="arial" pitchFamily="34" charset="0"/>
                <a:ea typeface="맑은 고딕" pitchFamily="50" charset="-127"/>
              </a:rPr>
              <a:t> μ2</a:t>
            </a:r>
            <a:endParaRPr lang="ko-KR" altLang="en-US" sz="1100" dirty="0">
              <a:latin typeface="arial" pitchFamily="34" charset="0"/>
              <a:ea typeface="맑은 고딕" pitchFamily="50" charset="-127"/>
            </a:endParaRPr>
          </a:p>
        </p:txBody>
      </p:sp>
      <p:sp>
        <p:nvSpPr>
          <p:cNvPr id="45" name="직사각형 44"/>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2 Sample t-Test</a:t>
            </a:r>
            <a:endParaRPr lang="ko-KR" altLang="ko-KR" b="1" dirty="0">
              <a:latin typeface="arial" pitchFamily="34" charset="0"/>
            </a:endParaRPr>
          </a:p>
        </p:txBody>
      </p:sp>
      <p:sp>
        <p:nvSpPr>
          <p:cNvPr id="47" name="직사각형 46"/>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197669" name="TextBox 13"/>
          <p:cNvSpPr txBox="1">
            <a:spLocks noChangeArrowheads="1"/>
          </p:cNvSpPr>
          <p:nvPr/>
        </p:nvSpPr>
        <p:spPr bwMode="auto">
          <a:xfrm>
            <a:off x="4324350" y="3856038"/>
            <a:ext cx="5237162"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latin typeface="arial" pitchFamily="34" charset="0"/>
                <a:ea typeface="맑은 고딕" pitchFamily="50" charset="-127"/>
              </a:rPr>
              <a:t>Khác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biệt</a:t>
            </a:r>
            <a:r>
              <a:rPr lang="en-US" altLang="ko-KR" sz="1400" b="1" dirty="0">
                <a:latin typeface="arial" pitchFamily="34" charset="0"/>
                <a:ea typeface="맑은 고딕" pitchFamily="50" charset="-127"/>
              </a:rPr>
              <a:t> = μ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tốt</a:t>
            </a:r>
            <a:r>
              <a:rPr lang="en-US" altLang="ko-KR" sz="1400" b="1" dirty="0">
                <a:latin typeface="arial" pitchFamily="34" charset="0"/>
                <a:ea typeface="맑은 고딕" pitchFamily="50" charset="-127"/>
              </a:rPr>
              <a:t>) - μ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lỗi</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197670" name="TextBox 14"/>
          <p:cNvSpPr txBox="1">
            <a:spLocks noChangeArrowheads="1"/>
          </p:cNvSpPr>
          <p:nvPr/>
        </p:nvSpPr>
        <p:spPr bwMode="auto">
          <a:xfrm>
            <a:off x="4343400" y="4672013"/>
            <a:ext cx="2159000" cy="342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2 Sample t-Test</a:t>
            </a:r>
            <a:endParaRPr lang="ko-KR" altLang="en-US" sz="14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169</a:t>
            </a:fld>
            <a:endParaRPr lang="ko-KR" altLang="en-US" dirty="0"/>
          </a:p>
        </p:txBody>
      </p:sp>
      <p:pic>
        <p:nvPicPr>
          <p:cNvPr id="140290"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776536" y="2996951"/>
            <a:ext cx="2232248" cy="32191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32" name="TextBox 2"/>
          <p:cNvSpPr txBox="1">
            <a:spLocks noChangeArrowheads="1"/>
          </p:cNvSpPr>
          <p:nvPr/>
        </p:nvSpPr>
        <p:spPr bwMode="auto">
          <a:xfrm>
            <a:off x="3874171" y="3539934"/>
            <a:ext cx="363913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lập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33" name="TextBox 14"/>
          <p:cNvSpPr txBox="1">
            <a:spLocks noChangeArrowheads="1"/>
          </p:cNvSpPr>
          <p:nvPr/>
        </p:nvSpPr>
        <p:spPr bwMode="auto">
          <a:xfrm>
            <a:off x="3886871" y="4352734"/>
            <a:ext cx="493115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Cần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sử</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dụng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phương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pháp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thống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kê</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nào</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34"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35"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직사각형 18"/>
          <p:cNvSpPr/>
          <p:nvPr/>
        </p:nvSpPr>
        <p:spPr>
          <a:xfrm>
            <a:off x="279234" y="1566113"/>
            <a:ext cx="9432925" cy="1296988"/>
          </a:xfrm>
          <a:prstGeom prst="rect">
            <a:avLst/>
          </a:prstGeom>
          <a:solidFill>
            <a:srgbClr val="CCE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defRPr/>
            </a:pPr>
            <a:endParaRPr lang="ko-KR" altLang="en-US" dirty="0">
              <a:latin typeface="arial" pitchFamily="34" charset="0"/>
            </a:endParaRPr>
          </a:p>
        </p:txBody>
      </p:sp>
      <p:sp>
        <p:nvSpPr>
          <p:cNvPr id="18" name="Text Box 67"/>
          <p:cNvSpPr txBox="1">
            <a:spLocks noChangeArrowheads="1"/>
          </p:cNvSpPr>
          <p:nvPr/>
        </p:nvSpPr>
        <p:spPr bwMode="auto">
          <a:xfrm>
            <a:off x="315176" y="1556792"/>
            <a:ext cx="3816350" cy="127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defPPr>
              <a:defRPr lang="ko-KR"/>
            </a:defPPr>
            <a:lvl1pPr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eaLnBrk="1" hangingPunct="1"/>
            <a:r>
              <a:rPr lang="vi-VN" altLang="ko-KR" sz="1100" dirty="0">
                <a:latin typeface="arial" pitchFamily="34" charset="0"/>
                <a:ea typeface="맑은 고딕" pitchFamily="50" charset="-127"/>
              </a:rPr>
              <a:t>Chiều dài của </a:t>
            </a:r>
            <a:r>
              <a:rPr lang="en-US" altLang="ko-KR" sz="1100" dirty="0" err="1">
                <a:latin typeface="arial" pitchFamily="34" charset="0"/>
                <a:ea typeface="맑은 고딕" pitchFamily="50" charset="-127"/>
              </a:rPr>
              <a:t>linh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kiện</a:t>
            </a:r>
            <a:r>
              <a:rPr lang="vi-VN" altLang="ko-KR" sz="1100" dirty="0">
                <a:latin typeface="arial" pitchFamily="34" charset="0"/>
                <a:ea typeface="맑은 고딕" pitchFamily="50" charset="-127"/>
              </a:rPr>
              <a:t> A được cho là gây ra </a:t>
            </a:r>
            <a:r>
              <a:rPr lang="en-US" altLang="ko-KR" sz="1100" dirty="0" err="1">
                <a:latin typeface="arial" pitchFamily="34" charset="0"/>
                <a:ea typeface="맑은 고딕" pitchFamily="50" charset="-127"/>
              </a:rPr>
              <a:t>lỗi</a:t>
            </a:r>
            <a:r>
              <a:rPr lang="vi-VN" altLang="ko-KR" sz="1100" dirty="0">
                <a:latin typeface="arial" pitchFamily="34" charset="0"/>
                <a:ea typeface="맑은 고딕" pitchFamily="50" charset="-127"/>
              </a:rPr>
              <a:t> trong </a:t>
            </a:r>
            <a:r>
              <a:rPr lang="en-US" altLang="ko-KR" sz="1100" dirty="0" err="1">
                <a:latin typeface="arial" pitchFamily="34" charset="0"/>
                <a:ea typeface="맑은 고딕" pitchFamily="50" charset="-127"/>
              </a:rPr>
              <a:t>thành</a:t>
            </a:r>
            <a:r>
              <a:rPr lang="vi-VN" altLang="ko-KR" sz="1100" dirty="0">
                <a:latin typeface="arial" pitchFamily="34" charset="0"/>
                <a:ea typeface="맑은 고딕" pitchFamily="50" charset="-127"/>
              </a:rPr>
              <a:t> phẩm.</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Người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tiến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hành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thập</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và</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đạc</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độ</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dài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của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linh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kiện</a:t>
            </a:r>
            <a:r>
              <a:rPr lang="en-US" altLang="ko-KR" sz="1100" dirty="0">
                <a:latin typeface="arial" pitchFamily="34" charset="0"/>
                <a:ea typeface="맑은 고딕" pitchFamily="50" charset="-127"/>
              </a:rPr>
              <a:t> A OK </a:t>
            </a:r>
            <a:r>
              <a:rPr lang="en-US" altLang="ko-KR" sz="1100" dirty="0" err="1">
                <a:latin typeface="arial" pitchFamily="34" charset="0"/>
                <a:ea typeface="맑은 고딕" pitchFamily="50" charset="-127"/>
              </a:rPr>
              <a:t>và</a:t>
            </a:r>
            <a:r>
              <a:rPr lang="en-US" altLang="ko-KR" sz="1100" dirty="0">
                <a:latin typeface="arial" pitchFamily="34" charset="0"/>
                <a:ea typeface="맑은 고딕" pitchFamily="50" charset="-127"/>
              </a:rPr>
              <a:t> NG.</a:t>
            </a:r>
            <a:r>
              <a:rPr lang="vi-VN" altLang="ko-KR" sz="1100" dirty="0">
                <a:latin typeface="arial" pitchFamily="34" charset="0"/>
                <a:ea typeface="맑은 고딕" pitchFamily="50" charset="-127"/>
              </a:rPr>
              <a:t> Các kết quả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đạc</a:t>
            </a:r>
            <a:r>
              <a:rPr lang="vi-VN" altLang="ko-KR" sz="1100" dirty="0">
                <a:latin typeface="arial" pitchFamily="34" charset="0"/>
                <a:ea typeface="맑은 고딕" pitchFamily="50" charset="-127"/>
              </a:rPr>
              <a:t> được trình bày trong bảng bên phải.</a:t>
            </a:r>
            <a:endParaRPr lang="en-US" altLang="ko-KR" sz="1100" dirty="0">
              <a:latin typeface="arial" pitchFamily="34" charset="0"/>
              <a:ea typeface="맑은 고딕" pitchFamily="50" charset="-127"/>
            </a:endParaRPr>
          </a:p>
          <a:p>
            <a:pPr eaLnBrk="1" hangingPunct="1"/>
            <a:br>
              <a:rPr lang="vi-VN" altLang="ko-KR" sz="1100" dirty="0">
                <a:latin typeface="arial" pitchFamily="34" charset="0"/>
                <a:ea typeface="맑은 고딕" pitchFamily="50" charset="-127"/>
              </a:rPr>
            </a:br>
            <a:r>
              <a:rPr lang="vi-VN" altLang="ko-KR" sz="1100" b="1" dirty="0">
                <a:latin typeface="arial" pitchFamily="34" charset="0"/>
                <a:ea typeface="맑은 고딕" pitchFamily="50" charset="-127"/>
              </a:rPr>
              <a:t>Có sự khác biệt </a:t>
            </a:r>
            <a:r>
              <a:rPr lang="en-US" altLang="ko-KR" sz="1100" b="1" dirty="0" err="1">
                <a:latin typeface="arial" pitchFamily="34" charset="0"/>
                <a:ea typeface="맑은 고딕" pitchFamily="50" charset="-127"/>
              </a:rPr>
              <a:t>nào</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về</a:t>
            </a:r>
            <a:r>
              <a:rPr lang="vi-VN" altLang="ko-KR" sz="1100" b="1" dirty="0">
                <a:latin typeface="arial" pitchFamily="34" charset="0"/>
                <a:ea typeface="맑은 고딕" pitchFamily="50" charset="-127"/>
              </a:rPr>
              <a:t> chiều dài của </a:t>
            </a:r>
            <a:r>
              <a:rPr lang="en-US" altLang="ko-KR" sz="1100" b="1" dirty="0" err="1">
                <a:latin typeface="arial" pitchFamily="34" charset="0"/>
                <a:ea typeface="맑은 고딕" pitchFamily="50" charset="-127"/>
              </a:rPr>
              <a:t>linh</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kiện</a:t>
            </a:r>
            <a:r>
              <a:rPr lang="vi-VN" altLang="ko-KR" sz="1100" b="1" dirty="0">
                <a:latin typeface="arial" pitchFamily="34" charset="0"/>
                <a:ea typeface="맑은 고딕" pitchFamily="50" charset="-127"/>
              </a:rPr>
              <a:t> A </a:t>
            </a:r>
            <a:r>
              <a:rPr lang="en-US" altLang="ko-KR" sz="1100" b="1" dirty="0">
                <a:latin typeface="arial" pitchFamily="34" charset="0"/>
                <a:ea typeface="맑은 고딕" pitchFamily="50" charset="-127"/>
              </a:rPr>
              <a:t>OK </a:t>
            </a:r>
            <a:r>
              <a:rPr lang="en-US" altLang="ko-KR" sz="1100" b="1" dirty="0" err="1">
                <a:latin typeface="arial" pitchFamily="34" charset="0"/>
                <a:ea typeface="맑은 고딕" pitchFamily="50" charset="-127"/>
              </a:rPr>
              <a:t>và</a:t>
            </a:r>
            <a:r>
              <a:rPr lang="en-US" altLang="ko-KR" sz="1100" b="1" dirty="0">
                <a:latin typeface="arial" pitchFamily="34" charset="0"/>
                <a:ea typeface="맑은 고딕" pitchFamily="50" charset="-127"/>
              </a:rPr>
              <a:t> NG hay </a:t>
            </a:r>
            <a:r>
              <a:rPr lang="en-US" altLang="ko-KR" sz="1100" b="1" dirty="0" err="1">
                <a:latin typeface="arial" pitchFamily="34" charset="0"/>
                <a:ea typeface="맑은 고딕" pitchFamily="50" charset="-127"/>
              </a:rPr>
              <a:t>không</a:t>
            </a:r>
            <a:r>
              <a:rPr lang="vi-VN" altLang="ko-KR" sz="1100" b="1" dirty="0">
                <a:latin typeface="arial" pitchFamily="34" charset="0"/>
                <a:ea typeface="맑은 고딕" pitchFamily="50" charset="-127"/>
              </a:rPr>
              <a:t>?</a:t>
            </a:r>
            <a:endParaRPr lang="ko-KR" altLang="en-US" sz="1100" b="1" dirty="0">
              <a:latin typeface="arial" pitchFamily="34" charset="0"/>
              <a:ea typeface="맑은 고딕" pitchFamily="50" charset="-127"/>
            </a:endParaRPr>
          </a:p>
        </p:txBody>
      </p:sp>
      <p:pic>
        <p:nvPicPr>
          <p:cNvPr id="19" name="table"/>
          <p:cNvPicPr>
            <a:picLocks noChangeAspect="1"/>
          </p:cNvPicPr>
          <p:nvPr/>
        </p:nvPicPr>
        <p:blipFill>
          <a:blip r:embed="rId4" cstate="print"/>
          <a:stretch>
            <a:fillRect/>
          </a:stretch>
        </p:blipFill>
        <p:spPr>
          <a:xfrm>
            <a:off x="4111459" y="1751181"/>
            <a:ext cx="5712447" cy="1121761"/>
          </a:xfrm>
          <a:prstGeom prst="rect">
            <a:avLst/>
          </a:prstGeom>
        </p:spPr>
      </p:pic>
    </p:spTree>
    <p:extLst>
      <p:ext uri="{BB962C8B-B14F-4D97-AF65-F5344CB8AC3E}">
        <p14:creationId xmlns:p14="http://schemas.microsoft.com/office/powerpoint/2010/main" val="368890320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170</a:t>
            </a:fld>
            <a:endParaRPr lang="ko-KR" altLang="en-US" dirty="0"/>
          </a:p>
        </p:txBody>
      </p:sp>
      <p:pic>
        <p:nvPicPr>
          <p:cNvPr id="141316" name="Picture 4"/>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5241032" y="1876425"/>
            <a:ext cx="4343400" cy="3105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1317" name="Picture 5"/>
          <p:cNvPicPr>
            <a:picLocks noChangeAspect="1" noChangeArrowheads="1"/>
          </p:cNvPicPr>
          <p:nvPr/>
        </p:nvPicPr>
        <p:blipFill rotWithShape="1">
          <a:blip r:embed="rId3" cstate="print">
            <a:extLst>
              <a:ext uri="{28A0092B-C50C-407E-A947-70E740481C1C}">
                <a14:useLocalDpi xmlns:a14="http://schemas.microsoft.com/office/drawing/2010/main"/>
              </a:ext>
            </a:extLst>
          </a:blip>
          <a:srcRect/>
          <a:stretch/>
        </p:blipFill>
        <p:spPr bwMode="auto">
          <a:xfrm>
            <a:off x="416496" y="1772816"/>
            <a:ext cx="4559943" cy="4104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 name="직사각형 43"/>
          <p:cNvSpPr>
            <a:spLocks noChangeArrowheads="1"/>
          </p:cNvSpPr>
          <p:nvPr/>
        </p:nvSpPr>
        <p:spPr bwMode="auto">
          <a:xfrm>
            <a:off x="3747314" y="952500"/>
            <a:ext cx="595866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en-US" altLang="ko-KR" sz="1100" dirty="0">
                <a:solidFill>
                  <a:srgbClr val="000000"/>
                </a:solidFill>
                <a:latin typeface="arial" pitchFamily="34" charset="0"/>
                <a:ea typeface="맑은 고딕" pitchFamily="50" charset="-127"/>
              </a:rPr>
              <a:t> So </a:t>
            </a:r>
            <a:r>
              <a:rPr lang="en-US" altLang="ko-KR" sz="1100" dirty="0" err="1">
                <a:solidFill>
                  <a:srgbClr val="000000"/>
                </a:solidFill>
                <a:latin typeface="arial" pitchFamily="34" charset="0"/>
                <a:ea typeface="맑은 고딕" pitchFamily="50" charset="-127"/>
              </a:rPr>
              <a:t>sánh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giá</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trị</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trung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bình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từ</a:t>
            </a:r>
            <a:r>
              <a:rPr lang="en-US" altLang="ko-KR" sz="1100" dirty="0">
                <a:solidFill>
                  <a:srgbClr val="000000"/>
                </a:solidFill>
                <a:latin typeface="arial" pitchFamily="34" charset="0"/>
                <a:ea typeface="맑은 고딕" pitchFamily="50" charset="-127"/>
              </a:rPr>
              <a:t> 2 </a:t>
            </a:r>
            <a:r>
              <a:rPr lang="en-US" altLang="ko-KR" sz="1100" dirty="0" err="1">
                <a:solidFill>
                  <a:srgbClr val="000000"/>
                </a:solidFill>
                <a:latin typeface="arial" pitchFamily="34" charset="0"/>
                <a:ea typeface="맑은 고딕" pitchFamily="50" charset="-127"/>
              </a:rPr>
              <a:t>tổng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thể</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khác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nhau</a:t>
            </a:r>
            <a:endParaRPr lang="en-US" altLang="ko-KR" sz="1100" dirty="0">
              <a:solidFill>
                <a:srgbClr val="000000"/>
              </a:solidFill>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Giả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thuyết</a:t>
            </a:r>
            <a:r>
              <a:rPr lang="en-US" altLang="ko-KR" sz="1100" dirty="0">
                <a:latin typeface="arial" pitchFamily="34" charset="0"/>
                <a:ea typeface="맑은 고딕" pitchFamily="50" charset="-127"/>
              </a:rPr>
              <a:t> H0 : μ1 = μ2</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H1 : μ1 </a:t>
            </a:r>
            <a:r>
              <a:rPr lang="ko-KR" altLang="en-US" sz="1100" dirty="0">
                <a:latin typeface="arial" pitchFamily="34" charset="0"/>
                <a:ea typeface="맑은 고딕" pitchFamily="50" charset="-127"/>
              </a:rPr>
              <a:t>≠</a:t>
            </a:r>
            <a:r>
              <a:rPr lang="en-US" altLang="ko-KR" sz="1100" dirty="0">
                <a:latin typeface="arial" pitchFamily="34" charset="0"/>
                <a:ea typeface="맑은 고딕" pitchFamily="50" charset="-127"/>
              </a:rPr>
              <a:t> μ2</a:t>
            </a:r>
            <a:endParaRPr lang="ko-KR" altLang="en-US" sz="1100" dirty="0">
              <a:latin typeface="arial" pitchFamily="34" charset="0"/>
              <a:ea typeface="맑은 고딕" pitchFamily="50" charset="-127"/>
            </a:endParaRPr>
          </a:p>
        </p:txBody>
      </p:sp>
      <p:sp>
        <p:nvSpPr>
          <p:cNvPr id="16" name="직사각형 44"/>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2 Sample t-Test</a:t>
            </a:r>
            <a:endParaRPr lang="ko-KR" altLang="ko-KR" b="1" dirty="0">
              <a:latin typeface="arial" pitchFamily="34" charset="0"/>
            </a:endParaRPr>
          </a:p>
        </p:txBody>
      </p:sp>
      <p:sp>
        <p:nvSpPr>
          <p:cNvPr id="17" name="직사각형 46"/>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20"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1"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2"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28912895"/>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8" name="TextBox 10"/>
          <p:cNvSpPr txBox="1">
            <a:spLocks noChangeArrowheads="1"/>
          </p:cNvSpPr>
          <p:nvPr/>
        </p:nvSpPr>
        <p:spPr bwMode="auto">
          <a:xfrm>
            <a:off x="632520" y="5445125"/>
            <a:ext cx="8784976" cy="903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P-value </a:t>
            </a:r>
            <a:r>
              <a:rPr lang="en-US" altLang="ko-KR" sz="1400" b="1" dirty="0" err="1">
                <a:latin typeface="arial" pitchFamily="34" charset="0"/>
                <a:ea typeface="맑은 고딕" pitchFamily="50" charset="-127"/>
              </a:rPr>
              <a:t>lớn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mức</a:t>
            </a:r>
            <a:r>
              <a:rPr lang="en-US" altLang="ko-KR" sz="1400" b="1" dirty="0">
                <a:latin typeface="arial" pitchFamily="34" charset="0"/>
                <a:ea typeface="맑은 고딕" pitchFamily="50" charset="-127"/>
              </a:rPr>
              <a:t> ý </a:t>
            </a:r>
            <a:r>
              <a:rPr lang="en-US" altLang="ko-KR" sz="1400" b="1" dirty="0" err="1">
                <a:latin typeface="arial" pitchFamily="34" charset="0"/>
                <a:ea typeface="맑은 고딕" pitchFamily="50" charset="-127"/>
              </a:rPr>
              <a:t>nghĩa</a:t>
            </a:r>
            <a:r>
              <a:rPr lang="en-US" altLang="ko-KR" sz="1400" b="1" dirty="0">
                <a:latin typeface="arial" pitchFamily="34" charset="0"/>
                <a:ea typeface="맑은 고딕" pitchFamily="50" charset="-127"/>
              </a:rPr>
              <a:t> α = 0.05, do </a:t>
            </a:r>
            <a:r>
              <a:rPr lang="en-US" altLang="ko-KR" sz="1400" b="1" dirty="0" err="1">
                <a:latin typeface="arial" pitchFamily="34" charset="0"/>
                <a:ea typeface="맑은 고딕" pitchFamily="50" charset="-127"/>
              </a:rPr>
              <a:t>đó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bỏ</a:t>
            </a:r>
            <a:r>
              <a:rPr lang="en-US" altLang="ko-KR" sz="1400" b="1" dirty="0">
                <a:latin typeface="arial" pitchFamily="34" charset="0"/>
                <a:ea typeface="맑은 고딕" pitchFamily="50" charset="-127"/>
              </a:rPr>
              <a:t> H0 </a:t>
            </a:r>
          </a:p>
          <a:p>
            <a:pPr eaLnBrk="1" hangingPunct="1">
              <a:lnSpc>
                <a:spcPct val="130000"/>
              </a:lnSpc>
              <a:buClr>
                <a:srgbClr val="C5003D"/>
              </a:buClr>
            </a:pP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Không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thể</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khẳng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định</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rằng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có</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sự</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khác</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biệt</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giữa</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chiều</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dài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của</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sản</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phẩm</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tốt</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với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chiều</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dài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của</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sản</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phẩm</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hỏng</a:t>
            </a:r>
            <a:r>
              <a:rPr lang="en-US" altLang="ko-KR" sz="1400" b="1" dirty="0">
                <a:latin typeface="arial" pitchFamily="34" charset="0"/>
                <a:ea typeface="맑은 고딕" pitchFamily="50" charset="-127"/>
                <a:sym typeface="Wingdings" pitchFamily="2" charset="2"/>
              </a:rPr>
              <a:t>.</a:t>
            </a:r>
            <a:endParaRPr lang="ko-KR" altLang="en-US" sz="14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171</a:t>
            </a:fld>
            <a:endParaRPr lang="ko-KR" altLang="en-US" dirty="0"/>
          </a:p>
        </p:txBody>
      </p:sp>
      <p:pic>
        <p:nvPicPr>
          <p:cNvPr id="142338"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20552" y="1916833"/>
            <a:ext cx="7560840" cy="3024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직사각형 43"/>
          <p:cNvSpPr>
            <a:spLocks noChangeArrowheads="1"/>
          </p:cNvSpPr>
          <p:nvPr/>
        </p:nvSpPr>
        <p:spPr bwMode="auto">
          <a:xfrm>
            <a:off x="3747314" y="952500"/>
            <a:ext cx="595866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en-US" altLang="ko-KR" sz="1100" dirty="0">
                <a:solidFill>
                  <a:srgbClr val="000000"/>
                </a:solidFill>
                <a:latin typeface="arial" pitchFamily="34" charset="0"/>
                <a:ea typeface="맑은 고딕" pitchFamily="50" charset="-127"/>
              </a:rPr>
              <a:t> So </a:t>
            </a:r>
            <a:r>
              <a:rPr lang="en-US" altLang="ko-KR" sz="1100" dirty="0" err="1">
                <a:solidFill>
                  <a:srgbClr val="000000"/>
                </a:solidFill>
                <a:latin typeface="arial" pitchFamily="34" charset="0"/>
                <a:ea typeface="맑은 고딕" pitchFamily="50" charset="-127"/>
              </a:rPr>
              <a:t>sánh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giá</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trị</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trung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bình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từ</a:t>
            </a:r>
            <a:r>
              <a:rPr lang="en-US" altLang="ko-KR" sz="1100" dirty="0">
                <a:solidFill>
                  <a:srgbClr val="000000"/>
                </a:solidFill>
                <a:latin typeface="arial" pitchFamily="34" charset="0"/>
                <a:ea typeface="맑은 고딕" pitchFamily="50" charset="-127"/>
              </a:rPr>
              <a:t> 2 </a:t>
            </a:r>
            <a:r>
              <a:rPr lang="en-US" altLang="ko-KR" sz="1100" dirty="0" err="1">
                <a:solidFill>
                  <a:srgbClr val="000000"/>
                </a:solidFill>
                <a:latin typeface="arial" pitchFamily="34" charset="0"/>
                <a:ea typeface="맑은 고딕" pitchFamily="50" charset="-127"/>
              </a:rPr>
              <a:t>tổng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thể</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khác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nhau</a:t>
            </a:r>
            <a:endParaRPr lang="en-US" altLang="ko-KR" sz="1100" dirty="0">
              <a:solidFill>
                <a:srgbClr val="000000"/>
              </a:solidFill>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Giả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thuyết</a:t>
            </a:r>
            <a:r>
              <a:rPr lang="en-US" altLang="ko-KR" sz="1100" dirty="0">
                <a:latin typeface="arial" pitchFamily="34" charset="0"/>
                <a:ea typeface="맑은 고딕" pitchFamily="50" charset="-127"/>
              </a:rPr>
              <a:t> H0 : μ1 = μ2</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H1 : μ1 </a:t>
            </a:r>
            <a:r>
              <a:rPr lang="ko-KR" altLang="en-US" sz="1100" dirty="0">
                <a:latin typeface="arial" pitchFamily="34" charset="0"/>
                <a:ea typeface="맑은 고딕" pitchFamily="50" charset="-127"/>
              </a:rPr>
              <a:t>≠</a:t>
            </a:r>
            <a:r>
              <a:rPr lang="en-US" altLang="ko-KR" sz="1100" dirty="0">
                <a:latin typeface="arial" pitchFamily="34" charset="0"/>
                <a:ea typeface="맑은 고딕" pitchFamily="50" charset="-127"/>
              </a:rPr>
              <a:t> μ2</a:t>
            </a:r>
            <a:endParaRPr lang="ko-KR" altLang="en-US" sz="1100" dirty="0">
              <a:latin typeface="arial" pitchFamily="34" charset="0"/>
              <a:ea typeface="맑은 고딕" pitchFamily="50" charset="-127"/>
            </a:endParaRPr>
          </a:p>
        </p:txBody>
      </p:sp>
      <p:sp>
        <p:nvSpPr>
          <p:cNvPr id="16" name="직사각형 44"/>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2 Sample t-Test</a:t>
            </a:r>
            <a:endParaRPr lang="ko-KR" altLang="ko-KR" b="1" dirty="0">
              <a:latin typeface="arial" pitchFamily="34" charset="0"/>
            </a:endParaRPr>
          </a:p>
        </p:txBody>
      </p:sp>
      <p:sp>
        <p:nvSpPr>
          <p:cNvPr id="17" name="직사각형 46"/>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20"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1"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2"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109150899"/>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11" name="TextBox 10"/>
          <p:cNvSpPr txBox="1">
            <a:spLocks noChangeArrowheads="1"/>
          </p:cNvSpPr>
          <p:nvPr/>
        </p:nvSpPr>
        <p:spPr bwMode="auto">
          <a:xfrm>
            <a:off x="2397125" y="5445125"/>
            <a:ext cx="5111750" cy="1212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latin typeface="arial" pitchFamily="34" charset="0"/>
                <a:ea typeface="맑은 고딕" pitchFamily="50" charset="-127"/>
              </a:rPr>
              <a:t>Bạn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rút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ra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điều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từ</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biểu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đồ</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trên</a:t>
            </a:r>
            <a:r>
              <a:rPr lang="en-US" altLang="ko-KR" sz="1400" b="1" dirty="0">
                <a:latin typeface="arial" pitchFamily="34" charset="0"/>
                <a:ea typeface="맑은 고딕" pitchFamily="50" charset="-127"/>
              </a:rPr>
              <a:t>?</a:t>
            </a:r>
          </a:p>
          <a:p>
            <a:pPr eaLnBrk="1" hangingPunct="1">
              <a:lnSpc>
                <a:spcPct val="130000"/>
              </a:lnSpc>
              <a:buClr>
                <a:srgbClr val="C5003D"/>
              </a:buClr>
            </a:pP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biệt</a:t>
            </a:r>
            <a:r>
              <a:rPr lang="en-US" altLang="ko-KR" sz="1400" b="1" dirty="0">
                <a:latin typeface="arial" pitchFamily="34" charset="0"/>
                <a:ea typeface="맑은 고딕" pitchFamily="50" charset="-127"/>
              </a:rPr>
              <a:t> hay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a:t>
            </a:r>
          </a:p>
          <a:p>
            <a:pPr eaLnBrk="1" hangingPunct="1">
              <a:lnSpc>
                <a:spcPct val="130000"/>
              </a:lnSpc>
              <a:buClr>
                <a:srgbClr val="C5003D"/>
              </a:buClr>
            </a:pP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Việc</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thực</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hiện</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kiểm</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định</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giả</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thuyết</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thống</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kê</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một</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cách</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khoa</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học</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là</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rất</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cần</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thiết</a:t>
            </a:r>
            <a:endParaRPr lang="ko-KR" altLang="en-US" sz="1400" b="1" dirty="0">
              <a:solidFill>
                <a:srgbClr val="FF0000"/>
              </a:solidFill>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172</a:t>
            </a:fld>
            <a:endParaRPr lang="ko-KR" altLang="en-US" dirty="0"/>
          </a:p>
        </p:txBody>
      </p:sp>
      <p:pic>
        <p:nvPicPr>
          <p:cNvPr id="143362"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2138661" y="1772816"/>
            <a:ext cx="5628679" cy="35283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직사각형 43"/>
          <p:cNvSpPr>
            <a:spLocks noChangeArrowheads="1"/>
          </p:cNvSpPr>
          <p:nvPr/>
        </p:nvSpPr>
        <p:spPr bwMode="auto">
          <a:xfrm>
            <a:off x="3747314" y="952500"/>
            <a:ext cx="595866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en-US" altLang="ko-KR" sz="1100" dirty="0">
                <a:solidFill>
                  <a:srgbClr val="000000"/>
                </a:solidFill>
                <a:latin typeface="arial" pitchFamily="34" charset="0"/>
                <a:ea typeface="맑은 고딕" pitchFamily="50" charset="-127"/>
              </a:rPr>
              <a:t> So </a:t>
            </a:r>
            <a:r>
              <a:rPr lang="en-US" altLang="ko-KR" sz="1100" dirty="0" err="1">
                <a:solidFill>
                  <a:srgbClr val="000000"/>
                </a:solidFill>
                <a:latin typeface="arial" pitchFamily="34" charset="0"/>
                <a:ea typeface="맑은 고딕" pitchFamily="50" charset="-127"/>
              </a:rPr>
              <a:t>sánh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giá</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trị</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trung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bình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từ</a:t>
            </a:r>
            <a:r>
              <a:rPr lang="en-US" altLang="ko-KR" sz="1100" dirty="0">
                <a:solidFill>
                  <a:srgbClr val="000000"/>
                </a:solidFill>
                <a:latin typeface="arial" pitchFamily="34" charset="0"/>
                <a:ea typeface="맑은 고딕" pitchFamily="50" charset="-127"/>
              </a:rPr>
              <a:t> 2 </a:t>
            </a:r>
            <a:r>
              <a:rPr lang="en-US" altLang="ko-KR" sz="1100" dirty="0" err="1">
                <a:solidFill>
                  <a:srgbClr val="000000"/>
                </a:solidFill>
                <a:latin typeface="arial" pitchFamily="34" charset="0"/>
                <a:ea typeface="맑은 고딕" pitchFamily="50" charset="-127"/>
              </a:rPr>
              <a:t>tổng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thể</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khác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nhau</a:t>
            </a:r>
            <a:endParaRPr lang="en-US" altLang="ko-KR" sz="1100" dirty="0">
              <a:solidFill>
                <a:srgbClr val="000000"/>
              </a:solidFill>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Giả</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thuyết</a:t>
            </a:r>
            <a:r>
              <a:rPr lang="en-US" altLang="ko-KR" sz="1100" dirty="0">
                <a:latin typeface="arial" pitchFamily="34" charset="0"/>
                <a:ea typeface="맑은 고딕" pitchFamily="50" charset="-127"/>
              </a:rPr>
              <a:t> H0 : μ1 = μ2</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H1 : μ1 </a:t>
            </a:r>
            <a:r>
              <a:rPr lang="ko-KR" altLang="en-US" sz="1100" dirty="0">
                <a:latin typeface="arial" pitchFamily="34" charset="0"/>
                <a:ea typeface="맑은 고딕" pitchFamily="50" charset="-127"/>
              </a:rPr>
              <a:t>≠</a:t>
            </a:r>
            <a:r>
              <a:rPr lang="en-US" altLang="ko-KR" sz="1100" dirty="0">
                <a:latin typeface="arial" pitchFamily="34" charset="0"/>
                <a:ea typeface="맑은 고딕" pitchFamily="50" charset="-127"/>
              </a:rPr>
              <a:t> μ2</a:t>
            </a:r>
            <a:endParaRPr lang="ko-KR" altLang="en-US" sz="1100" dirty="0">
              <a:latin typeface="arial" pitchFamily="34" charset="0"/>
              <a:ea typeface="맑은 고딕" pitchFamily="50" charset="-127"/>
            </a:endParaRPr>
          </a:p>
        </p:txBody>
      </p:sp>
      <p:sp>
        <p:nvSpPr>
          <p:cNvPr id="16" name="직사각형 44"/>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2 Sample t-Test</a:t>
            </a:r>
            <a:endParaRPr lang="ko-KR" altLang="ko-KR" b="1" dirty="0">
              <a:latin typeface="arial" pitchFamily="34" charset="0"/>
            </a:endParaRPr>
          </a:p>
        </p:txBody>
      </p:sp>
      <p:sp>
        <p:nvSpPr>
          <p:cNvPr id="17" name="직사각형 46"/>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20"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1"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2"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82159920"/>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직사각형 11"/>
          <p:cNvSpPr/>
          <p:nvPr/>
        </p:nvSpPr>
        <p:spPr>
          <a:xfrm>
            <a:off x="273050" y="1557338"/>
            <a:ext cx="9432925" cy="170852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201736" name="TextBox 13"/>
          <p:cNvSpPr txBox="1">
            <a:spLocks noChangeArrowheads="1"/>
          </p:cNvSpPr>
          <p:nvPr/>
        </p:nvSpPr>
        <p:spPr bwMode="auto">
          <a:xfrm>
            <a:off x="479263" y="1653158"/>
            <a:ext cx="9073703" cy="1492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30000"/>
              </a:lnSpc>
              <a:buClr>
                <a:srgbClr val="C5003D"/>
              </a:buClr>
            </a:pPr>
            <a:r>
              <a:rPr lang="en-US" altLang="ko-KR" sz="1400" b="1" dirty="0" err="1">
                <a:latin typeface="arial" pitchFamily="34" charset="0"/>
                <a:ea typeface="맑은 고딕" pitchFamily="50" charset="-127"/>
              </a:rPr>
              <a:t>Công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ty</a:t>
            </a:r>
            <a:r>
              <a:rPr lang="en-US" altLang="ko-KR" sz="1400" b="1" dirty="0">
                <a:latin typeface="arial" pitchFamily="34" charset="0"/>
                <a:ea typeface="맑은 고딕" pitchFamily="50" charset="-127"/>
              </a:rPr>
              <a:t> LG </a:t>
            </a:r>
            <a:r>
              <a:rPr lang="en-US" altLang="ko-KR" sz="1400" b="1" dirty="0" err="1">
                <a:latin typeface="arial" pitchFamily="34" charset="0"/>
                <a:ea typeface="맑은 고딕" pitchFamily="50" charset="-127"/>
              </a:rPr>
              <a:t>đã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mua</a:t>
            </a:r>
            <a:r>
              <a:rPr lang="en-US" altLang="ko-KR" sz="1400" b="1" dirty="0">
                <a:latin typeface="arial" pitchFamily="34" charset="0"/>
                <a:ea typeface="맑은 고딕" pitchFamily="50" charset="-127"/>
              </a:rPr>
              <a:t> 3 </a:t>
            </a:r>
            <a:r>
              <a:rPr lang="en-US" altLang="ko-KR" sz="1400" b="1" dirty="0" err="1">
                <a:latin typeface="arial" pitchFamily="34" charset="0"/>
                <a:ea typeface="맑은 고딕" pitchFamily="50" charset="-127"/>
              </a:rPr>
              <a:t>máy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lắp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ráp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từ</a:t>
            </a:r>
            <a:r>
              <a:rPr lang="en-US" altLang="ko-KR" sz="1400" b="1" dirty="0">
                <a:latin typeface="arial" pitchFamily="34" charset="0"/>
                <a:ea typeface="맑은 고딕" pitchFamily="50" charset="-127"/>
              </a:rPr>
              <a:t> 3 </a:t>
            </a:r>
            <a:r>
              <a:rPr lang="en-US" altLang="ko-KR" sz="1400" b="1" dirty="0" err="1">
                <a:latin typeface="arial" pitchFamily="34" charset="0"/>
                <a:ea typeface="맑은 고딕" pitchFamily="50" charset="-127"/>
              </a:rPr>
              <a:t>nhà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cung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cấp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nhau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cung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cấp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nào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tốt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nhất</a:t>
            </a:r>
            <a:r>
              <a:rPr lang="en-US" altLang="ko-KR" sz="1400" b="1" dirty="0">
                <a:latin typeface="arial" pitchFamily="34" charset="0"/>
                <a:ea typeface="맑은 고딕" pitchFamily="50" charset="-127"/>
              </a:rPr>
              <a:t>, LG </a:t>
            </a:r>
            <a:r>
              <a:rPr lang="en-US" altLang="ko-KR" sz="1400" b="1" dirty="0" err="1">
                <a:latin typeface="arial" pitchFamily="34" charset="0"/>
                <a:ea typeface="맑은 고딕" pitchFamily="50" charset="-127"/>
              </a:rPr>
              <a:t>đã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tiến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hành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chạy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thử</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cả</a:t>
            </a:r>
            <a:r>
              <a:rPr lang="en-US" altLang="ko-KR" sz="1400" b="1" dirty="0">
                <a:latin typeface="arial" pitchFamily="34" charset="0"/>
                <a:ea typeface="맑은 고딕" pitchFamily="50" charset="-127"/>
              </a:rPr>
              <a:t> 3 </a:t>
            </a:r>
            <a:r>
              <a:rPr lang="en-US" altLang="ko-KR" sz="1400" b="1" dirty="0" err="1">
                <a:latin typeface="arial" pitchFamily="34" charset="0"/>
                <a:ea typeface="맑은 고딕" pitchFamily="50" charset="-127"/>
              </a:rPr>
              <a:t>máy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lấy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liệu</a:t>
            </a:r>
            <a:r>
              <a:rPr lang="en-US" altLang="ko-KR" sz="1400" b="1" dirty="0">
                <a:latin typeface="arial" pitchFamily="34" charset="0"/>
                <a:ea typeface="맑은 고딕" pitchFamily="50" charset="-127"/>
              </a:rPr>
              <a:t> 5 </a:t>
            </a:r>
            <a:r>
              <a:rPr lang="en-US" altLang="ko-KR" sz="1400" b="1" dirty="0" err="1">
                <a:latin typeface="arial" pitchFamily="34" charset="0"/>
                <a:ea typeface="맑은 고딕" pitchFamily="50" charset="-127"/>
              </a:rPr>
              <a:t>lần</a:t>
            </a:r>
            <a:r>
              <a:rPr lang="en-US" altLang="ko-KR" sz="1400" b="1" dirty="0">
                <a:latin typeface="arial" pitchFamily="34" charset="0"/>
                <a:ea typeface="맑은 고딕" pitchFamily="50" charset="-127"/>
              </a:rPr>
              <a:t>/</a:t>
            </a:r>
            <a:r>
              <a:rPr lang="en-US" altLang="ko-KR" sz="1400" b="1" dirty="0" err="1">
                <a:latin typeface="arial" pitchFamily="34" charset="0"/>
                <a:ea typeface="맑은 고딕" pitchFamily="50" charset="-127"/>
              </a:rPr>
              <a:t>giờ</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mỗi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máy</a:t>
            </a:r>
            <a:r>
              <a:rPr lang="en-US" altLang="ko-KR" sz="1400" b="1" dirty="0">
                <a:latin typeface="arial" pitchFamily="34" charset="0"/>
                <a:ea typeface="맑은 고딕" pitchFamily="50" charset="-127"/>
              </a:rPr>
              <a:t>. </a:t>
            </a:r>
          </a:p>
          <a:p>
            <a:pPr algn="just" eaLnBrk="1" hangingPunct="1">
              <a:lnSpc>
                <a:spcPct val="130000"/>
              </a:lnSpc>
              <a:buClr>
                <a:srgbClr val="C5003D"/>
              </a:buClr>
            </a:pP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sự</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biệt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nào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giữa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năng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vận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hành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của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mỗi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máy</a:t>
            </a:r>
            <a:r>
              <a:rPr lang="en-US" altLang="ko-KR" sz="1400" b="1" dirty="0">
                <a:latin typeface="arial" pitchFamily="34" charset="0"/>
                <a:ea typeface="맑은 고딕" pitchFamily="50" charset="-127"/>
              </a:rPr>
              <a:t> hay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a:t>
            </a:r>
          </a:p>
          <a:p>
            <a:pPr algn="just" eaLnBrk="1" hangingPunct="1">
              <a:lnSpc>
                <a:spcPct val="130000"/>
              </a:lnSpc>
              <a:buClr>
                <a:srgbClr val="C5003D"/>
              </a:buClr>
            </a:pPr>
            <a:r>
              <a:rPr lang="en-US" altLang="ko-KR" sz="1400" b="1" dirty="0">
                <a:latin typeface="arial" pitchFamily="34" charset="0"/>
                <a:ea typeface="맑은 고딕" pitchFamily="50" charset="-127"/>
              </a:rPr>
              <a:t>(</a:t>
            </a:r>
            <a:r>
              <a:rPr lang="en-US" altLang="ko-KR" sz="1400" b="1" dirty="0" err="1">
                <a:latin typeface="arial" pitchFamily="34" charset="0"/>
                <a:ea typeface="맑은 고딕" pitchFamily="50" charset="-127"/>
              </a:rPr>
              <a:t>Biết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rằng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Máy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năng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lực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vận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hành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tốt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xuất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nhiều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trong</a:t>
            </a:r>
            <a:r>
              <a:rPr lang="en-US" altLang="ko-KR" sz="1400" b="1" dirty="0">
                <a:latin typeface="arial" pitchFamily="34" charset="0"/>
                <a:ea typeface="맑은 고딕" pitchFamily="50" charset="-127"/>
              </a:rPr>
              <a:t> 1 </a:t>
            </a:r>
            <a:r>
              <a:rPr lang="en-US" altLang="ko-KR" sz="1400" b="1" dirty="0" err="1">
                <a:latin typeface="arial" pitchFamily="34" charset="0"/>
                <a:ea typeface="맑은 고딕" pitchFamily="50" charset="-127"/>
              </a:rPr>
              <a:t>giờ</a:t>
            </a:r>
            <a:r>
              <a:rPr lang="en-US" altLang="ko-KR" sz="1400" b="1" dirty="0">
                <a:latin typeface="arial" pitchFamily="34" charset="0"/>
                <a:ea typeface="맑은 고딕" pitchFamily="50" charset="-127"/>
              </a:rPr>
              <a:t> so </a:t>
            </a:r>
            <a:r>
              <a:rPr lang="en-US" altLang="ko-KR" sz="1400" b="1" dirty="0" err="1">
                <a:latin typeface="arial" pitchFamily="34" charset="0"/>
                <a:ea typeface="맑은 고딕" pitchFamily="50" charset="-127"/>
              </a:rPr>
              <a:t>với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những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máy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khác</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01739" name="TextBox 16"/>
          <p:cNvSpPr txBox="1">
            <a:spLocks noChangeArrowheads="1"/>
          </p:cNvSpPr>
          <p:nvPr/>
        </p:nvSpPr>
        <p:spPr bwMode="auto">
          <a:xfrm>
            <a:off x="4324349" y="4349590"/>
            <a:ext cx="5381625" cy="623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H0 :  μA = μB = </a:t>
            </a:r>
            <a:r>
              <a:rPr lang="en-US" altLang="ko-KR" sz="1400" b="1" dirty="0" err="1">
                <a:latin typeface="arial" pitchFamily="34" charset="0"/>
                <a:ea typeface="맑은 고딕" pitchFamily="50" charset="-127"/>
              </a:rPr>
              <a:t>μC</a:t>
            </a:r>
            <a:r>
              <a:rPr lang="en-US" altLang="ko-KR" sz="1400" b="1" dirty="0">
                <a:latin typeface="arial" pitchFamily="34" charset="0"/>
                <a:ea typeface="맑은 고딕" pitchFamily="50" charset="-127"/>
              </a:rPr>
              <a:t> </a:t>
            </a:r>
          </a:p>
          <a:p>
            <a:pPr eaLnBrk="1" hangingPunct="1">
              <a:lnSpc>
                <a:spcPct val="130000"/>
              </a:lnSpc>
              <a:buClr>
                <a:srgbClr val="C5003D"/>
              </a:buClr>
            </a:pPr>
            <a:r>
              <a:rPr lang="en-US" altLang="ko-KR" sz="1400" b="1" dirty="0">
                <a:latin typeface="arial" pitchFamily="34" charset="0"/>
                <a:ea typeface="맑은 고딕" pitchFamily="50" charset="-127"/>
              </a:rPr>
              <a:t>H1 : </a:t>
            </a:r>
            <a:r>
              <a:rPr lang="en-US" altLang="ko-KR" sz="1400" b="1" dirty="0" err="1">
                <a:latin typeface="arial" pitchFamily="34" charset="0"/>
                <a:ea typeface="맑은 고딕" pitchFamily="50" charset="-127"/>
              </a:rPr>
              <a:t>Tồn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tại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ít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nhất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một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bất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đẳng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thức</a:t>
            </a:r>
            <a:endParaRPr lang="ko-KR" altLang="en-US" sz="1400" b="1" dirty="0">
              <a:latin typeface="arial" pitchFamily="34" charset="0"/>
              <a:ea typeface="맑은 고딕" pitchFamily="50" charset="-127"/>
            </a:endParaRPr>
          </a:p>
        </p:txBody>
      </p:sp>
      <p:sp>
        <p:nvSpPr>
          <p:cNvPr id="201740" name="TextBox 17"/>
          <p:cNvSpPr txBox="1">
            <a:spLocks noChangeArrowheads="1"/>
          </p:cNvSpPr>
          <p:nvPr/>
        </p:nvSpPr>
        <p:spPr bwMode="auto">
          <a:xfrm>
            <a:off x="4343400" y="5301035"/>
            <a:ext cx="2159000" cy="341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ANOVA</a:t>
            </a:r>
            <a:endParaRPr lang="ko-KR" altLang="en-US" sz="1400" b="1" dirty="0">
              <a:latin typeface="arial" pitchFamily="34" charset="0"/>
              <a:ea typeface="맑은 고딕" pitchFamily="50" charset="-127"/>
            </a:endParaRPr>
          </a:p>
        </p:txBody>
      </p:sp>
      <p:pic>
        <p:nvPicPr>
          <p:cNvPr id="201741" name="Picture 1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415925" y="4058022"/>
            <a:ext cx="3298825" cy="165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173</a:t>
            </a:fld>
            <a:endParaRPr lang="ko-KR" altLang="en-US" dirty="0"/>
          </a:p>
        </p:txBody>
      </p:sp>
      <p:sp>
        <p:nvSpPr>
          <p:cNvPr id="21"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2" name="TextBox 2"/>
          <p:cNvSpPr txBox="1">
            <a:spLocks noChangeArrowheads="1"/>
          </p:cNvSpPr>
          <p:nvPr/>
        </p:nvSpPr>
        <p:spPr bwMode="auto">
          <a:xfrm>
            <a:off x="4088904" y="4077072"/>
            <a:ext cx="363913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lập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3" name="TextBox 14"/>
          <p:cNvSpPr txBox="1">
            <a:spLocks noChangeArrowheads="1"/>
          </p:cNvSpPr>
          <p:nvPr/>
        </p:nvSpPr>
        <p:spPr bwMode="auto">
          <a:xfrm>
            <a:off x="4088904" y="5025342"/>
            <a:ext cx="493115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Cần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sử</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dụng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phương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pháp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thống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kê</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nào</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4"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5"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직사각형 43"/>
          <p:cNvSpPr>
            <a:spLocks noChangeArrowheads="1"/>
          </p:cNvSpPr>
          <p:nvPr/>
        </p:nvSpPr>
        <p:spPr bwMode="auto">
          <a:xfrm>
            <a:off x="4016896" y="978138"/>
            <a:ext cx="568907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So </a:t>
            </a:r>
            <a:r>
              <a:rPr lang="en-US" altLang="ko-KR" sz="1100" dirty="0" err="1">
                <a:latin typeface="arial" pitchFamily="34" charset="0"/>
                <a:ea typeface="맑은 고딕" pitchFamily="50" charset="-127"/>
              </a:rPr>
              <a:t>sánh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trung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bình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của</a:t>
            </a:r>
            <a:r>
              <a:rPr lang="en-US" altLang="ko-KR" sz="1100" dirty="0">
                <a:latin typeface="arial" pitchFamily="34" charset="0"/>
                <a:ea typeface="맑은 고딕" pitchFamily="50" charset="-127"/>
              </a:rPr>
              <a:t> 3 </a:t>
            </a:r>
            <a:r>
              <a:rPr lang="en-US" altLang="ko-KR" sz="1100" dirty="0" err="1">
                <a:latin typeface="arial" pitchFamily="34" charset="0"/>
                <a:ea typeface="맑은 고딕" pitchFamily="50" charset="-127"/>
              </a:rPr>
              <a:t>tổng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thể</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trở</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lên</a:t>
            </a:r>
            <a:endParaRPr lang="en-US" altLang="ko-KR" sz="1100" dirty="0">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b="1" dirty="0">
                <a:latin typeface="arial" pitchFamily="34" charset="0"/>
                <a:ea typeface="맑은 고딕" pitchFamily="50" charset="-127"/>
              </a:rPr>
              <a:t>H0  :  μ</a:t>
            </a:r>
            <a:r>
              <a:rPr lang="en-US" altLang="ko-KR" sz="1100" b="1" baseline="-10000" dirty="0">
                <a:latin typeface="arial" pitchFamily="34" charset="0"/>
                <a:ea typeface="맑은 고딕" pitchFamily="50" charset="-127"/>
              </a:rPr>
              <a:t>1</a:t>
            </a:r>
            <a:r>
              <a:rPr lang="en-US" altLang="ko-KR" sz="1100" b="1" dirty="0">
                <a:latin typeface="arial" pitchFamily="34" charset="0"/>
                <a:ea typeface="맑은 고딕" pitchFamily="50" charset="-127"/>
              </a:rPr>
              <a:t> = μ2 = μ3 = … = μn ,  H1  : </a:t>
            </a:r>
            <a:r>
              <a:rPr lang="en-US" altLang="ko-KR" sz="1100" b="1" dirty="0" err="1">
                <a:latin typeface="arial" pitchFamily="34" charset="0"/>
                <a:ea typeface="맑은 고딕" pitchFamily="50" charset="-127"/>
              </a:rPr>
              <a:t>Tồn</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tại</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ít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nhất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một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bất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đẳng</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thức</a:t>
            </a:r>
            <a:r>
              <a:rPr lang="en-US" altLang="ko-KR" sz="1100" b="1" dirty="0">
                <a:latin typeface="arial" pitchFamily="34" charset="0"/>
                <a:ea typeface="맑은 고딕" pitchFamily="50" charset="-127"/>
              </a:rPr>
              <a:t>. </a:t>
            </a:r>
          </a:p>
          <a:p>
            <a:pPr>
              <a:buFont typeface="Arial" pitchFamily="34" charset="0"/>
              <a:buChar char="•"/>
            </a:pPr>
            <a:endParaRPr lang="ko-KR" altLang="en-US" sz="1100" dirty="0">
              <a:latin typeface="arial" pitchFamily="34" charset="0"/>
              <a:ea typeface="맑은 고딕" pitchFamily="50" charset="-127"/>
            </a:endParaRPr>
          </a:p>
        </p:txBody>
      </p:sp>
      <p:sp>
        <p:nvSpPr>
          <p:cNvPr id="17"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ANOVA</a:t>
            </a:r>
            <a:endParaRPr lang="ko-KR" altLang="ko-KR" b="1" dirty="0">
              <a:latin typeface="arial" pitchFamily="34" charset="0"/>
            </a:endParaRPr>
          </a:p>
        </p:txBody>
      </p:sp>
      <p:sp>
        <p:nvSpPr>
          <p:cNvPr id="18"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Tree>
    <p:extLst>
      <p:ext uri="{BB962C8B-B14F-4D97-AF65-F5344CB8AC3E}">
        <p14:creationId xmlns:p14="http://schemas.microsoft.com/office/powerpoint/2010/main" val="193003022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174</a:t>
            </a:fld>
            <a:endParaRPr lang="ko-KR" altLang="en-US" dirty="0"/>
          </a:p>
        </p:txBody>
      </p:sp>
      <p:sp>
        <p:nvSpPr>
          <p:cNvPr id="16" name="TextBox 10"/>
          <p:cNvSpPr txBox="1">
            <a:spLocks noChangeArrowheads="1"/>
          </p:cNvSpPr>
          <p:nvPr/>
        </p:nvSpPr>
        <p:spPr bwMode="auto">
          <a:xfrm>
            <a:off x="2036676" y="5445125"/>
            <a:ext cx="5832648" cy="652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P-value </a:t>
            </a:r>
            <a:r>
              <a:rPr lang="en-US" altLang="ko-KR" sz="1400" b="1" dirty="0" err="1">
                <a:latin typeface="arial" pitchFamily="34" charset="0"/>
                <a:ea typeface="맑은 고딕" pitchFamily="50" charset="-127"/>
              </a:rPr>
              <a:t>nhỏ</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mức</a:t>
            </a:r>
            <a:r>
              <a:rPr lang="en-US" altLang="ko-KR" sz="1400" b="1" dirty="0">
                <a:latin typeface="arial" pitchFamily="34" charset="0"/>
                <a:ea typeface="맑은 고딕" pitchFamily="50" charset="-127"/>
              </a:rPr>
              <a:t> ý </a:t>
            </a:r>
            <a:r>
              <a:rPr lang="en-US" altLang="ko-KR" sz="1400" b="1" dirty="0" err="1">
                <a:latin typeface="arial" pitchFamily="34" charset="0"/>
                <a:ea typeface="맑은 고딕" pitchFamily="50" charset="-127"/>
              </a:rPr>
              <a:t>nghĩa</a:t>
            </a:r>
            <a:r>
              <a:rPr lang="en-US" altLang="ko-KR" sz="1400" b="1" dirty="0">
                <a:latin typeface="arial" pitchFamily="34" charset="0"/>
                <a:ea typeface="맑은 고딕" pitchFamily="50" charset="-127"/>
              </a:rPr>
              <a:t> α = 0.05, do </a:t>
            </a:r>
            <a:r>
              <a:rPr lang="en-US" altLang="ko-KR" sz="1400" b="1" dirty="0" err="1">
                <a:latin typeface="arial" pitchFamily="34" charset="0"/>
                <a:ea typeface="맑은 고딕" pitchFamily="50" charset="-127"/>
              </a:rPr>
              <a:t>đó</a:t>
            </a:r>
            <a:r>
              <a:rPr lang="en-US" altLang="ko-KR" sz="1400" b="1" dirty="0">
                <a:latin typeface="arial" pitchFamily="34" charset="0"/>
                <a:ea typeface="맑은 고딕" pitchFamily="50" charset="-127"/>
              </a:rPr>
              <a:t> H0 </a:t>
            </a:r>
            <a:r>
              <a:rPr lang="en-US" altLang="ko-KR" sz="1400" b="1" dirty="0" err="1">
                <a:latin typeface="arial" pitchFamily="34" charset="0"/>
                <a:ea typeface="맑은 고딕" pitchFamily="50" charset="-127"/>
              </a:rPr>
              <a:t>bị</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loại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bỏ</a:t>
            </a:r>
            <a:endParaRPr lang="en-US" altLang="ko-KR" sz="1400" b="1" dirty="0">
              <a:latin typeface="arial" pitchFamily="34" charset="0"/>
              <a:ea typeface="맑은 고딕" pitchFamily="50" charset="-127"/>
            </a:endParaRPr>
          </a:p>
          <a:p>
            <a:pPr eaLnBrk="1" hangingPunct="1">
              <a:lnSpc>
                <a:spcPct val="130000"/>
              </a:lnSpc>
              <a:buClr>
                <a:srgbClr val="C5003D"/>
              </a:buClr>
            </a:pP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Có</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thể</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nói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rằng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khả</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năng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vận</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hành</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của</a:t>
            </a:r>
            <a:r>
              <a:rPr lang="en-US" altLang="ko-KR" sz="1400" b="1" dirty="0">
                <a:latin typeface="arial" pitchFamily="34" charset="0"/>
                <a:ea typeface="맑은 고딕" pitchFamily="50" charset="-127"/>
                <a:sym typeface="Wingdings" pitchFamily="2" charset="2"/>
              </a:rPr>
              <a:t> 3 </a:t>
            </a:r>
            <a:r>
              <a:rPr lang="en-US" altLang="ko-KR" sz="1400" b="1" dirty="0" err="1">
                <a:latin typeface="arial" pitchFamily="34" charset="0"/>
                <a:ea typeface="맑은 고딕" pitchFamily="50" charset="-127"/>
                <a:sym typeface="Wingdings" pitchFamily="2" charset="2"/>
              </a:rPr>
              <a:t>máy</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có</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sự</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khác</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biệt</a:t>
            </a:r>
            <a:r>
              <a:rPr lang="en-US" altLang="ko-KR" sz="1400" b="1" dirty="0">
                <a:latin typeface="arial" pitchFamily="34" charset="0"/>
                <a:ea typeface="맑은 고딕" pitchFamily="50" charset="-127"/>
                <a:sym typeface="Wingdings" pitchFamily="2" charset="2"/>
              </a:rPr>
              <a:t>.</a:t>
            </a:r>
            <a:endParaRPr lang="ko-KR" altLang="en-US" sz="1400" b="1" dirty="0">
              <a:latin typeface="arial" pitchFamily="34" charset="0"/>
              <a:ea typeface="맑은 고딕" pitchFamily="50" charset="-127"/>
            </a:endParaRPr>
          </a:p>
        </p:txBody>
      </p:sp>
      <p:pic>
        <p:nvPicPr>
          <p:cNvPr id="154626"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928664" y="1709167"/>
            <a:ext cx="5839029" cy="323200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직사각형 43"/>
          <p:cNvSpPr>
            <a:spLocks noChangeArrowheads="1"/>
          </p:cNvSpPr>
          <p:nvPr/>
        </p:nvSpPr>
        <p:spPr bwMode="auto">
          <a:xfrm>
            <a:off x="4016896" y="978138"/>
            <a:ext cx="568907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So </a:t>
            </a:r>
            <a:r>
              <a:rPr lang="en-US" altLang="ko-KR" sz="1100" dirty="0" err="1">
                <a:latin typeface="arial" pitchFamily="34" charset="0"/>
                <a:ea typeface="맑은 고딕" pitchFamily="50" charset="-127"/>
              </a:rPr>
              <a:t>sánh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trung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bình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của</a:t>
            </a:r>
            <a:r>
              <a:rPr lang="en-US" altLang="ko-KR" sz="1100" dirty="0">
                <a:latin typeface="arial" pitchFamily="34" charset="0"/>
                <a:ea typeface="맑은 고딕" pitchFamily="50" charset="-127"/>
              </a:rPr>
              <a:t> 3 </a:t>
            </a:r>
            <a:r>
              <a:rPr lang="en-US" altLang="ko-KR" sz="1100" dirty="0" err="1">
                <a:latin typeface="arial" pitchFamily="34" charset="0"/>
                <a:ea typeface="맑은 고딕" pitchFamily="50" charset="-127"/>
              </a:rPr>
              <a:t>tổng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thể</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trở</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lên</a:t>
            </a:r>
            <a:endParaRPr lang="en-US" altLang="ko-KR" sz="1100" dirty="0">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b="1" dirty="0">
                <a:latin typeface="arial" pitchFamily="34" charset="0"/>
                <a:ea typeface="맑은 고딕" pitchFamily="50" charset="-127"/>
              </a:rPr>
              <a:t>H0  :  μ</a:t>
            </a:r>
            <a:r>
              <a:rPr lang="en-US" altLang="ko-KR" sz="1100" b="1" baseline="-10000" dirty="0">
                <a:latin typeface="arial" pitchFamily="34" charset="0"/>
                <a:ea typeface="맑은 고딕" pitchFamily="50" charset="-127"/>
              </a:rPr>
              <a:t>1</a:t>
            </a:r>
            <a:r>
              <a:rPr lang="en-US" altLang="ko-KR" sz="1100" b="1" dirty="0">
                <a:latin typeface="arial" pitchFamily="34" charset="0"/>
                <a:ea typeface="맑은 고딕" pitchFamily="50" charset="-127"/>
              </a:rPr>
              <a:t> = μ2 = μ3 = … = μn ,  H1  : </a:t>
            </a:r>
            <a:r>
              <a:rPr lang="en-US" altLang="ko-KR" sz="1100" b="1" dirty="0" err="1">
                <a:latin typeface="arial" pitchFamily="34" charset="0"/>
                <a:ea typeface="맑은 고딕" pitchFamily="50" charset="-127"/>
              </a:rPr>
              <a:t>Tồn</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tại</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ít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nhất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một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bất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đẳng</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thức</a:t>
            </a:r>
            <a:r>
              <a:rPr lang="en-US" altLang="ko-KR" sz="1100" b="1" dirty="0">
                <a:latin typeface="arial" pitchFamily="34" charset="0"/>
                <a:ea typeface="맑은 고딕" pitchFamily="50" charset="-127"/>
              </a:rPr>
              <a:t>. </a:t>
            </a:r>
          </a:p>
          <a:p>
            <a:pPr>
              <a:buFont typeface="Arial" pitchFamily="34" charset="0"/>
              <a:buChar char="•"/>
            </a:pPr>
            <a:endParaRPr lang="ko-KR" altLang="en-US" sz="1100" dirty="0">
              <a:latin typeface="arial" pitchFamily="34" charset="0"/>
              <a:ea typeface="맑은 고딕" pitchFamily="50" charset="-127"/>
            </a:endParaRPr>
          </a:p>
        </p:txBody>
      </p:sp>
      <p:sp>
        <p:nvSpPr>
          <p:cNvPr id="18"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ANOVA</a:t>
            </a:r>
            <a:endParaRPr lang="ko-KR" altLang="ko-KR" b="1" dirty="0">
              <a:latin typeface="arial" pitchFamily="34" charset="0"/>
            </a:endParaRPr>
          </a:p>
        </p:txBody>
      </p:sp>
      <p:sp>
        <p:nvSpPr>
          <p:cNvPr id="19"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22"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3"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4"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24570325"/>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175</a:t>
            </a:fld>
            <a:endParaRPr lang="ko-KR" altLang="en-US" dirty="0"/>
          </a:p>
        </p:txBody>
      </p:sp>
      <p:sp>
        <p:nvSpPr>
          <p:cNvPr id="16" name="TextBox 10"/>
          <p:cNvSpPr txBox="1">
            <a:spLocks noChangeArrowheads="1"/>
          </p:cNvSpPr>
          <p:nvPr/>
        </p:nvSpPr>
        <p:spPr bwMode="auto">
          <a:xfrm>
            <a:off x="1928812" y="5445125"/>
            <a:ext cx="6552580" cy="93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latin typeface="arial" pitchFamily="34" charset="0"/>
                <a:ea typeface="맑은 고딕" pitchFamily="50" charset="-127"/>
              </a:rPr>
              <a:t>Bạn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rút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ra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điều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từ</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biểu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đồ</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trên</a:t>
            </a:r>
            <a:r>
              <a:rPr lang="en-US" altLang="ko-KR" sz="1400" b="1" dirty="0">
                <a:latin typeface="arial" pitchFamily="34" charset="0"/>
                <a:ea typeface="맑은 고딕" pitchFamily="50" charset="-127"/>
              </a:rPr>
              <a:t>?</a:t>
            </a:r>
          </a:p>
          <a:p>
            <a:pPr eaLnBrk="1" hangingPunct="1">
              <a:lnSpc>
                <a:spcPct val="130000"/>
              </a:lnSpc>
              <a:buClr>
                <a:srgbClr val="C5003D"/>
              </a:buClr>
            </a:pP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biệt</a:t>
            </a:r>
            <a:r>
              <a:rPr lang="en-US" altLang="ko-KR" sz="1400" b="1" dirty="0">
                <a:latin typeface="arial" pitchFamily="34" charset="0"/>
                <a:ea typeface="맑은 고딕" pitchFamily="50" charset="-127"/>
              </a:rPr>
              <a:t> hay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a:t>
            </a:r>
          </a:p>
          <a:p>
            <a:pPr eaLnBrk="1" hangingPunct="1">
              <a:lnSpc>
                <a:spcPct val="130000"/>
              </a:lnSpc>
              <a:buClr>
                <a:srgbClr val="C5003D"/>
              </a:buClr>
            </a:pP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Năng</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lực</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vận</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hành</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của</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máy</a:t>
            </a:r>
            <a:r>
              <a:rPr lang="en-US" altLang="ko-KR" sz="1400" b="1" dirty="0">
                <a:solidFill>
                  <a:srgbClr val="FF0000"/>
                </a:solidFill>
                <a:latin typeface="arial" pitchFamily="34" charset="0"/>
                <a:ea typeface="맑은 고딕" pitchFamily="50" charset="-127"/>
                <a:sym typeface="Wingdings" pitchFamily="2" charset="2"/>
              </a:rPr>
              <a:t> do </a:t>
            </a:r>
            <a:r>
              <a:rPr lang="en-US" altLang="ko-KR" sz="1400" b="1" dirty="0" err="1">
                <a:solidFill>
                  <a:srgbClr val="FF0000"/>
                </a:solidFill>
                <a:latin typeface="arial" pitchFamily="34" charset="0"/>
                <a:ea typeface="맑은 고딕" pitchFamily="50" charset="-127"/>
                <a:sym typeface="Wingdings" pitchFamily="2" charset="2"/>
              </a:rPr>
              <a:t>công</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ty</a:t>
            </a:r>
            <a:r>
              <a:rPr lang="en-US" altLang="ko-KR" sz="1400" b="1" dirty="0">
                <a:solidFill>
                  <a:srgbClr val="FF0000"/>
                </a:solidFill>
                <a:latin typeface="arial" pitchFamily="34" charset="0"/>
                <a:ea typeface="맑은 고딕" pitchFamily="50" charset="-127"/>
                <a:sym typeface="Wingdings" pitchFamily="2" charset="2"/>
              </a:rPr>
              <a:t> A </a:t>
            </a:r>
            <a:r>
              <a:rPr lang="en-US" altLang="ko-KR" sz="1400" b="1" dirty="0" err="1">
                <a:solidFill>
                  <a:srgbClr val="FF0000"/>
                </a:solidFill>
                <a:latin typeface="arial" pitchFamily="34" charset="0"/>
                <a:ea typeface="맑은 고딕" pitchFamily="50" charset="-127"/>
                <a:sym typeface="Wingdings" pitchFamily="2" charset="2"/>
              </a:rPr>
              <a:t>sản</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xuất</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có</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thể</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coi</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là</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tốt</a:t>
            </a:r>
            <a:r>
              <a:rPr lang="en-US" altLang="ko-KR" sz="1400" b="1" dirty="0">
                <a:solidFill>
                  <a:srgbClr val="FF0000"/>
                </a:solidFill>
                <a:latin typeface="arial" pitchFamily="34" charset="0"/>
                <a:ea typeface="맑은 고딕" pitchFamily="50" charset="-127"/>
                <a:sym typeface="Wingdings" pitchFamily="2" charset="2"/>
              </a:rPr>
              <a:t> </a:t>
            </a:r>
            <a:r>
              <a:rPr lang="en-US" altLang="ko-KR" sz="1400" b="1" dirty="0" err="1">
                <a:solidFill>
                  <a:srgbClr val="FF0000"/>
                </a:solidFill>
                <a:latin typeface="arial" pitchFamily="34" charset="0"/>
                <a:ea typeface="맑은 고딕" pitchFamily="50" charset="-127"/>
                <a:sym typeface="Wingdings" pitchFamily="2" charset="2"/>
              </a:rPr>
              <a:t>nhất</a:t>
            </a:r>
            <a:r>
              <a:rPr lang="en-US" altLang="ko-KR" sz="1400" b="1" dirty="0">
                <a:solidFill>
                  <a:srgbClr val="FF0000"/>
                </a:solidFill>
                <a:latin typeface="arial" pitchFamily="34" charset="0"/>
                <a:ea typeface="맑은 고딕" pitchFamily="50" charset="-127"/>
                <a:sym typeface="Wingdings" pitchFamily="2" charset="2"/>
              </a:rPr>
              <a:t>.</a:t>
            </a:r>
            <a:endParaRPr lang="ko-KR" altLang="en-US" sz="1400" b="1" dirty="0">
              <a:solidFill>
                <a:srgbClr val="FF0000"/>
              </a:solidFill>
              <a:latin typeface="arial" pitchFamily="34" charset="0"/>
              <a:ea typeface="맑은 고딕" pitchFamily="50" charset="-127"/>
            </a:endParaRPr>
          </a:p>
        </p:txBody>
      </p:sp>
      <p:pic>
        <p:nvPicPr>
          <p:cNvPr id="155650"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928664" y="1653641"/>
            <a:ext cx="5400453" cy="355071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9"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30"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직사각형 43"/>
          <p:cNvSpPr>
            <a:spLocks noChangeArrowheads="1"/>
          </p:cNvSpPr>
          <p:nvPr/>
        </p:nvSpPr>
        <p:spPr bwMode="auto">
          <a:xfrm>
            <a:off x="4016896" y="978138"/>
            <a:ext cx="568907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So </a:t>
            </a:r>
            <a:r>
              <a:rPr lang="en-US" altLang="ko-KR" sz="1100" dirty="0" err="1">
                <a:latin typeface="arial" pitchFamily="34" charset="0"/>
                <a:ea typeface="맑은 고딕" pitchFamily="50" charset="-127"/>
              </a:rPr>
              <a:t>sánh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trung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bình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của</a:t>
            </a:r>
            <a:r>
              <a:rPr lang="en-US" altLang="ko-KR" sz="1100" dirty="0">
                <a:latin typeface="arial" pitchFamily="34" charset="0"/>
                <a:ea typeface="맑은 고딕" pitchFamily="50" charset="-127"/>
              </a:rPr>
              <a:t> 3 </a:t>
            </a:r>
            <a:r>
              <a:rPr lang="en-US" altLang="ko-KR" sz="1100" dirty="0" err="1">
                <a:latin typeface="arial" pitchFamily="34" charset="0"/>
                <a:ea typeface="맑은 고딕" pitchFamily="50" charset="-127"/>
              </a:rPr>
              <a:t>tổng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thể</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trở</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lên</a:t>
            </a:r>
            <a:endParaRPr lang="en-US" altLang="ko-KR" sz="1100" dirty="0">
              <a:latin typeface="arial" pitchFamily="34" charset="0"/>
              <a:ea typeface="맑은 고딕" pitchFamily="50" charset="-127"/>
            </a:endParaRPr>
          </a:p>
          <a:p>
            <a:pPr>
              <a:buFont typeface="Arial" pitchFamily="34" charset="0"/>
              <a:buChar char="•"/>
            </a:pPr>
            <a:r>
              <a:rPr lang="ko-KR" altLang="en-US" sz="1100" dirty="0">
                <a:latin typeface="arial" pitchFamily="34" charset="0"/>
                <a:ea typeface="맑은 고딕" pitchFamily="50" charset="-127"/>
              </a:rPr>
              <a:t> </a:t>
            </a:r>
            <a:r>
              <a:rPr lang="en-US" altLang="ko-KR" sz="1100" b="1" dirty="0">
                <a:latin typeface="arial" pitchFamily="34" charset="0"/>
                <a:ea typeface="맑은 고딕" pitchFamily="50" charset="-127"/>
              </a:rPr>
              <a:t>H0  :  μ</a:t>
            </a:r>
            <a:r>
              <a:rPr lang="en-US" altLang="ko-KR" sz="1100" b="1" baseline="-10000" dirty="0">
                <a:latin typeface="arial" pitchFamily="34" charset="0"/>
                <a:ea typeface="맑은 고딕" pitchFamily="50" charset="-127"/>
              </a:rPr>
              <a:t>1</a:t>
            </a:r>
            <a:r>
              <a:rPr lang="en-US" altLang="ko-KR" sz="1100" b="1" dirty="0">
                <a:latin typeface="arial" pitchFamily="34" charset="0"/>
                <a:ea typeface="맑은 고딕" pitchFamily="50" charset="-127"/>
              </a:rPr>
              <a:t> = μ2 = μ3 = … = μn ,  H1  : </a:t>
            </a:r>
            <a:r>
              <a:rPr lang="en-US" altLang="ko-KR" sz="1100" b="1" dirty="0" err="1">
                <a:latin typeface="arial" pitchFamily="34" charset="0"/>
                <a:ea typeface="맑은 고딕" pitchFamily="50" charset="-127"/>
              </a:rPr>
              <a:t>Tồn</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tại</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ít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nhất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một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bất</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đẳng</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thức</a:t>
            </a:r>
            <a:r>
              <a:rPr lang="en-US" altLang="ko-KR" sz="1100" b="1" dirty="0">
                <a:latin typeface="arial" pitchFamily="34" charset="0"/>
                <a:ea typeface="맑은 고딕" pitchFamily="50" charset="-127"/>
              </a:rPr>
              <a:t>. </a:t>
            </a:r>
          </a:p>
          <a:p>
            <a:pPr>
              <a:buFont typeface="Arial" pitchFamily="34" charset="0"/>
              <a:buChar char="•"/>
            </a:pPr>
            <a:endParaRPr lang="ko-KR" altLang="en-US" sz="1100" dirty="0">
              <a:latin typeface="arial" pitchFamily="34" charset="0"/>
              <a:ea typeface="맑은 고딕" pitchFamily="50" charset="-127"/>
            </a:endParaRPr>
          </a:p>
        </p:txBody>
      </p:sp>
      <p:sp>
        <p:nvSpPr>
          <p:cNvPr id="15"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ANOVA</a:t>
            </a:r>
            <a:endParaRPr lang="ko-KR" altLang="ko-KR" b="1" dirty="0">
              <a:latin typeface="arial" pitchFamily="34" charset="0"/>
            </a:endParaRPr>
          </a:p>
        </p:txBody>
      </p:sp>
      <p:sp>
        <p:nvSpPr>
          <p:cNvPr id="17"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Tree>
    <p:extLst>
      <p:ext uri="{BB962C8B-B14F-4D97-AF65-F5344CB8AC3E}">
        <p14:creationId xmlns:p14="http://schemas.microsoft.com/office/powerpoint/2010/main" val="2027041722"/>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176</a:t>
            </a:fld>
            <a:endParaRPr lang="ko-KR" altLang="en-US" dirty="0"/>
          </a:p>
        </p:txBody>
      </p:sp>
      <p:sp>
        <p:nvSpPr>
          <p:cNvPr id="4" name="TextBox 3"/>
          <p:cNvSpPr txBox="1"/>
          <p:nvPr/>
        </p:nvSpPr>
        <p:spPr>
          <a:xfrm>
            <a:off x="428625" y="827088"/>
            <a:ext cx="8970963" cy="3693319"/>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vi-VN" altLang="ko-KR" b="1" kern="0" dirty="0">
                <a:solidFill>
                  <a:sysClr val="windowText" lastClr="000000"/>
                </a:solidFill>
                <a:latin typeface="Arial" pitchFamily="34" charset="0"/>
                <a:ea typeface="맑은 고딕" pitchFamily="50" charset="-127"/>
                <a:cs typeface="Arial" pitchFamily="34" charset="0"/>
              </a:rPr>
              <a:t>Ví dụ: Một người quản lý muốn nâng cao năng suất tại công ty của mình bằng cách tăng tốc độ </a:t>
            </a:r>
            <a:r>
              <a:rPr kumimoji="0" lang="en-US" altLang="ko-KR" b="1" kern="0" dirty="0" err="1">
                <a:solidFill>
                  <a:sysClr val="windowText" lastClr="000000"/>
                </a:solidFill>
                <a:latin typeface="Arial" pitchFamily="34" charset="0"/>
                <a:ea typeface="맑은 고딕" pitchFamily="50" charset="-127"/>
                <a:cs typeface="Arial" pitchFamily="34" charset="0"/>
              </a:rPr>
              <a:t>sử</a:t>
            </a:r>
            <a:r>
              <a:rPr kumimoji="0" lang="en-US" altLang="ko-KR" b="1" kern="0" dirty="0">
                <a:solidFill>
                  <a:sysClr val="windowText" lastClr="000000"/>
                </a:solidFill>
                <a:latin typeface="Arial" pitchFamily="34" charset="0"/>
                <a:ea typeface="맑은 고딕" pitchFamily="50" charset="-127"/>
                <a:cs typeface="Arial" pitchFamily="34" charset="0"/>
              </a:rPr>
              <a:t> </a:t>
            </a:r>
            <a:r>
              <a:rPr kumimoji="0" lang="en-US" altLang="ko-KR" b="1" kern="0" dirty="0" err="1">
                <a:solidFill>
                  <a:sysClr val="windowText" lastClr="000000"/>
                </a:solidFill>
                <a:latin typeface="Arial" pitchFamily="34" charset="0"/>
                <a:ea typeface="맑은 고딕" pitchFamily="50" charset="-127"/>
                <a:cs typeface="Arial" pitchFamily="34" charset="0"/>
              </a:rPr>
              <a:t>dụng</a:t>
            </a:r>
            <a:r>
              <a:rPr kumimoji="0" lang="en-US" altLang="ko-KR" b="1" kern="0" dirty="0">
                <a:solidFill>
                  <a:sysClr val="windowText" lastClr="000000"/>
                </a:solidFill>
                <a:latin typeface="Arial" pitchFamily="34" charset="0"/>
                <a:ea typeface="맑은 고딕" pitchFamily="50" charset="-127"/>
                <a:cs typeface="Arial" pitchFamily="34" charset="0"/>
              </a:rPr>
              <a:t> Excel </a:t>
            </a:r>
            <a:r>
              <a:rPr kumimoji="0" lang="en-US" altLang="ko-KR" b="1" kern="0" dirty="0" err="1">
                <a:solidFill>
                  <a:sysClr val="windowText" lastClr="000000"/>
                </a:solidFill>
                <a:latin typeface="Arial" pitchFamily="34" charset="0"/>
                <a:ea typeface="맑은 고딕" pitchFamily="50" charset="-127"/>
                <a:cs typeface="Arial" pitchFamily="34" charset="0"/>
              </a:rPr>
              <a:t>của</a:t>
            </a:r>
            <a:r>
              <a:rPr kumimoji="0" lang="en-US" altLang="ko-KR" b="1" kern="0" dirty="0">
                <a:solidFill>
                  <a:sysClr val="windowText" lastClr="000000"/>
                </a:solidFill>
                <a:latin typeface="Arial" pitchFamily="34" charset="0"/>
                <a:ea typeface="맑은 고딕" pitchFamily="50" charset="-127"/>
                <a:cs typeface="Arial" pitchFamily="34" charset="0"/>
              </a:rPr>
              <a:t> </a:t>
            </a:r>
            <a:r>
              <a:rPr kumimoji="0" lang="vi-VN" altLang="ko-KR" b="1" kern="0" dirty="0">
                <a:solidFill>
                  <a:sysClr val="windowText" lastClr="000000"/>
                </a:solidFill>
                <a:latin typeface="Arial" pitchFamily="34" charset="0"/>
                <a:ea typeface="맑은 고딕" pitchFamily="50" charset="-127"/>
                <a:cs typeface="Arial" pitchFamily="34" charset="0"/>
              </a:rPr>
              <a:t>nhân viên. Vì anh ta không có các kỹ năng nội bộ, anh ta thuê một công ty bên ngoài cung cấp </a:t>
            </a:r>
            <a:r>
              <a:rPr kumimoji="0" lang="en-US" altLang="ko-KR" b="1" kern="0" dirty="0" err="1">
                <a:solidFill>
                  <a:sysClr val="windowText" lastClr="000000"/>
                </a:solidFill>
                <a:latin typeface="Arial" pitchFamily="34" charset="0"/>
                <a:ea typeface="맑은 고딕" pitchFamily="50" charset="-127"/>
                <a:cs typeface="Arial" pitchFamily="34" charset="0"/>
              </a:rPr>
              <a:t>khóa</a:t>
            </a:r>
            <a:r>
              <a:rPr kumimoji="0" lang="en-US" altLang="ko-KR" b="1" kern="0" dirty="0">
                <a:solidFill>
                  <a:sysClr val="windowText" lastClr="000000"/>
                </a:solidFill>
                <a:latin typeface="Arial" pitchFamily="34" charset="0"/>
                <a:ea typeface="맑은 고딕" pitchFamily="50" charset="-127"/>
                <a:cs typeface="Arial" pitchFamily="34" charset="0"/>
              </a:rPr>
              <a:t> </a:t>
            </a:r>
            <a:r>
              <a:rPr kumimoji="0" lang="vi-VN" altLang="ko-KR" b="1" kern="0" dirty="0">
                <a:solidFill>
                  <a:sysClr val="windowText" lastClr="000000"/>
                </a:solidFill>
                <a:latin typeface="Arial" pitchFamily="34" charset="0"/>
                <a:ea typeface="맑은 고딕" pitchFamily="50" charset="-127"/>
                <a:cs typeface="Arial" pitchFamily="34" charset="0"/>
              </a:rPr>
              <a:t>đào tạo </a:t>
            </a:r>
            <a:r>
              <a:rPr kumimoji="0" lang="en-US" altLang="ko-KR" b="1" kern="0" dirty="0">
                <a:solidFill>
                  <a:sysClr val="windowText" lastClr="000000"/>
                </a:solidFill>
                <a:latin typeface="Arial" pitchFamily="34" charset="0"/>
                <a:ea typeface="맑은 고딕" pitchFamily="50" charset="-127"/>
                <a:cs typeface="Arial" pitchFamily="34" charset="0"/>
              </a:rPr>
              <a:t>excel</a:t>
            </a:r>
            <a:r>
              <a:rPr kumimoji="0" lang="vi-VN" altLang="ko-KR" b="1" kern="0" dirty="0">
                <a:solidFill>
                  <a:sysClr val="windowText" lastClr="000000"/>
                </a:solidFill>
                <a:latin typeface="Arial" pitchFamily="34" charset="0"/>
                <a:ea typeface="맑은 고딕" pitchFamily="50" charset="-127"/>
                <a:cs typeface="Arial" pitchFamily="34" charset="0"/>
              </a:rPr>
              <a:t> này. Họ cung cấp 3 khóa học: </a:t>
            </a:r>
            <a:r>
              <a:rPr kumimoji="0" lang="vi-VN" altLang="ko-KR" b="1" kern="0" dirty="0">
                <a:solidFill>
                  <a:srgbClr val="FF0000"/>
                </a:solidFill>
                <a:latin typeface="Arial" pitchFamily="34" charset="0"/>
                <a:ea typeface="맑은 고딕" pitchFamily="50" charset="-127"/>
                <a:cs typeface="Arial" pitchFamily="34" charset="0"/>
              </a:rPr>
              <a:t>beginner</a:t>
            </a:r>
            <a:r>
              <a:rPr kumimoji="0" lang="en-US" altLang="ko-KR" b="1" kern="0" dirty="0">
                <a:solidFill>
                  <a:srgbClr val="FF0000"/>
                </a:solidFill>
                <a:latin typeface="Arial" pitchFamily="34" charset="0"/>
                <a:ea typeface="맑은 고딕" pitchFamily="50" charset="-127"/>
                <a:cs typeface="Arial" pitchFamily="34" charset="0"/>
              </a:rPr>
              <a:t> (1000$)</a:t>
            </a:r>
            <a:r>
              <a:rPr kumimoji="0" lang="vi-VN" altLang="ko-KR" b="1" kern="0" dirty="0">
                <a:solidFill>
                  <a:srgbClr val="FF0000"/>
                </a:solidFill>
                <a:latin typeface="Arial" pitchFamily="34" charset="0"/>
                <a:ea typeface="맑은 고딕" pitchFamily="50" charset="-127"/>
                <a:cs typeface="Arial" pitchFamily="34" charset="0"/>
              </a:rPr>
              <a:t>, intermediate</a:t>
            </a:r>
            <a:r>
              <a:rPr kumimoji="0" lang="vi-VN" altLang="ko-KR" b="1" kern="0" dirty="0">
                <a:solidFill>
                  <a:sysClr val="windowText" lastClr="000000"/>
                </a:solidFill>
                <a:latin typeface="Arial" pitchFamily="34" charset="0"/>
                <a:ea typeface="맑은 고딕" pitchFamily="50" charset="-127"/>
                <a:cs typeface="Arial" pitchFamily="34" charset="0"/>
              </a:rPr>
              <a:t> </a:t>
            </a:r>
            <a:r>
              <a:rPr kumimoji="0" lang="en-US" altLang="ko-KR" b="1" kern="0" dirty="0">
                <a:solidFill>
                  <a:srgbClr val="FF0000"/>
                </a:solidFill>
                <a:latin typeface="Arial" pitchFamily="34" charset="0"/>
                <a:ea typeface="맑은 고딕" pitchFamily="50" charset="-127"/>
                <a:cs typeface="Arial" pitchFamily="34" charset="0"/>
              </a:rPr>
              <a:t>(3000$)</a:t>
            </a:r>
            <a:r>
              <a:rPr kumimoji="0" lang="vi-VN" altLang="ko-KR" b="1" kern="0" dirty="0">
                <a:solidFill>
                  <a:srgbClr val="FF0000"/>
                </a:solidFill>
                <a:latin typeface="Arial" pitchFamily="34" charset="0"/>
                <a:ea typeface="맑은 고딕" pitchFamily="50" charset="-127"/>
                <a:cs typeface="Arial" pitchFamily="34" charset="0"/>
              </a:rPr>
              <a:t>và advanced</a:t>
            </a:r>
            <a:r>
              <a:rPr kumimoji="0" lang="en-US" altLang="ko-KR" b="1" kern="0" dirty="0">
                <a:solidFill>
                  <a:srgbClr val="FF0000"/>
                </a:solidFill>
                <a:latin typeface="Arial" pitchFamily="34" charset="0"/>
                <a:ea typeface="맑은 고딕" pitchFamily="50" charset="-127"/>
                <a:cs typeface="Arial" pitchFamily="34" charset="0"/>
              </a:rPr>
              <a:t> (5000$)</a:t>
            </a:r>
            <a:r>
              <a:rPr kumimoji="0" lang="vi-VN" altLang="ko-KR" b="1" kern="0" dirty="0">
                <a:solidFill>
                  <a:sysClr val="windowText" lastClr="000000"/>
                </a:solidFill>
                <a:latin typeface="Arial" pitchFamily="34" charset="0"/>
                <a:ea typeface="맑은 고딕" pitchFamily="50" charset="-127"/>
                <a:cs typeface="Arial" pitchFamily="34" charset="0"/>
              </a:rPr>
              <a:t>. </a:t>
            </a:r>
            <a:endParaRPr kumimoji="0" lang="en-US" altLang="ko-KR" b="1" kern="0" dirty="0">
              <a:solidFill>
                <a:sysClr val="windowText" lastClr="000000"/>
              </a:solidFill>
              <a:latin typeface="Arial" pitchFamily="34" charset="0"/>
              <a:ea typeface="맑은 고딕" pitchFamily="50" charset="-127"/>
              <a:cs typeface="Arial" pitchFamily="34" charset="0"/>
            </a:endParaRPr>
          </a:p>
          <a:p>
            <a:pPr fontAlgn="auto" latinLnBrk="0">
              <a:spcBef>
                <a:spcPts val="0"/>
              </a:spcBef>
              <a:spcAft>
                <a:spcPts val="0"/>
              </a:spcAft>
              <a:buClr>
                <a:srgbClr val="595959"/>
              </a:buClr>
              <a:buFont typeface="Wingdings" pitchFamily="2" charset="2"/>
              <a:buChar char="u"/>
              <a:defRPr/>
            </a:pPr>
            <a:endParaRPr kumimoji="0" lang="en-US" altLang="ko-KR" b="1" kern="0" dirty="0">
              <a:solidFill>
                <a:sysClr val="windowText" lastClr="000000"/>
              </a:solidFill>
              <a:latin typeface="Arial" pitchFamily="34" charset="0"/>
              <a:ea typeface="맑은 고딕" pitchFamily="50" charset="-127"/>
              <a:cs typeface="Arial" pitchFamily="34" charset="0"/>
            </a:endParaRPr>
          </a:p>
          <a:p>
            <a:pPr fontAlgn="auto" latinLnBrk="0">
              <a:spcBef>
                <a:spcPts val="0"/>
              </a:spcBef>
              <a:spcAft>
                <a:spcPts val="0"/>
              </a:spcAft>
              <a:buClr>
                <a:srgbClr val="595959"/>
              </a:buClr>
              <a:buFont typeface="Wingdings" pitchFamily="2" charset="2"/>
              <a:buChar char="u"/>
              <a:defRPr/>
            </a:pPr>
            <a:r>
              <a:rPr kumimoji="0" lang="vi-VN" altLang="ko-KR" b="1" kern="0" dirty="0">
                <a:solidFill>
                  <a:sysClr val="windowText" lastClr="000000"/>
                </a:solidFill>
                <a:latin typeface="Arial" pitchFamily="34" charset="0"/>
                <a:ea typeface="맑은 고딕" pitchFamily="50" charset="-127"/>
                <a:cs typeface="Arial" pitchFamily="34" charset="0"/>
              </a:rPr>
              <a:t>Người quản lý này không chắc chắn khóa học nào sẽ cần thiết cho loại công việc mà nhân viên của mình cần. Vì vậy anh ta gửi 10 nhân viên vào khóa học beginner, 10 ở intermediate và 10 cho khóa học advanced. </a:t>
            </a:r>
            <a:endParaRPr kumimoji="0" lang="en-US" altLang="ko-KR" b="1" kern="0" dirty="0">
              <a:solidFill>
                <a:sysClr val="windowText" lastClr="000000"/>
              </a:solidFill>
              <a:latin typeface="Arial" pitchFamily="34" charset="0"/>
              <a:ea typeface="맑은 고딕" pitchFamily="50" charset="-127"/>
              <a:cs typeface="Arial" pitchFamily="34" charset="0"/>
            </a:endParaRPr>
          </a:p>
          <a:p>
            <a:pPr fontAlgn="auto" latinLnBrk="0">
              <a:spcBef>
                <a:spcPts val="0"/>
              </a:spcBef>
              <a:spcAft>
                <a:spcPts val="0"/>
              </a:spcAft>
              <a:buClr>
                <a:srgbClr val="595959"/>
              </a:buClr>
              <a:buFont typeface="Wingdings" pitchFamily="2" charset="2"/>
              <a:buChar char="u"/>
              <a:defRPr/>
            </a:pPr>
            <a:endParaRPr kumimoji="0" lang="en-US" altLang="ko-KR" b="1" kern="0" dirty="0">
              <a:solidFill>
                <a:sysClr val="windowText" lastClr="000000"/>
              </a:solidFill>
              <a:latin typeface="Arial" pitchFamily="34" charset="0"/>
              <a:ea typeface="맑은 고딕" pitchFamily="50" charset="-127"/>
              <a:cs typeface="Arial" pitchFamily="34" charset="0"/>
            </a:endParaRPr>
          </a:p>
          <a:p>
            <a:pPr fontAlgn="auto" latinLnBrk="0">
              <a:spcBef>
                <a:spcPts val="0"/>
              </a:spcBef>
              <a:spcAft>
                <a:spcPts val="0"/>
              </a:spcAft>
              <a:buClr>
                <a:srgbClr val="595959"/>
              </a:buClr>
              <a:buFont typeface="Wingdings" pitchFamily="2" charset="2"/>
              <a:buChar char="u"/>
              <a:defRPr/>
            </a:pPr>
            <a:r>
              <a:rPr kumimoji="0" lang="vi-VN" altLang="ko-KR" b="1" kern="0" dirty="0">
                <a:solidFill>
                  <a:sysClr val="windowText" lastClr="000000"/>
                </a:solidFill>
                <a:latin typeface="Arial" pitchFamily="34" charset="0"/>
                <a:ea typeface="맑은 고딕" pitchFamily="50" charset="-127"/>
                <a:cs typeface="Arial" pitchFamily="34" charset="0"/>
              </a:rPr>
              <a:t>Khi tất cả họ trở về từ khóa đào tạo, anh ta đưa ra cho họ một vấn đề cần giải quyết bằng cách sử dụng chương trình </a:t>
            </a:r>
            <a:r>
              <a:rPr kumimoji="0" lang="en-US" altLang="ko-KR" b="1" kern="0" dirty="0">
                <a:solidFill>
                  <a:sysClr val="windowText" lastClr="000000"/>
                </a:solidFill>
                <a:latin typeface="Arial" pitchFamily="34" charset="0"/>
                <a:ea typeface="맑은 고딕" pitchFamily="50" charset="-127"/>
                <a:cs typeface="Arial" pitchFamily="34" charset="0"/>
              </a:rPr>
              <a:t>Excel </a:t>
            </a:r>
            <a:r>
              <a:rPr kumimoji="0" lang="vi-VN" altLang="ko-KR" b="1" kern="0" dirty="0">
                <a:solidFill>
                  <a:sysClr val="windowText" lastClr="000000"/>
                </a:solidFill>
                <a:latin typeface="Arial" pitchFamily="34" charset="0"/>
                <a:ea typeface="맑은 고딕" pitchFamily="50" charset="-127"/>
                <a:cs typeface="Arial" pitchFamily="34" charset="0"/>
              </a:rPr>
              <a:t>và </a:t>
            </a:r>
            <a:r>
              <a:rPr kumimoji="0" lang="en-US" altLang="ko-KR" b="1" kern="0" dirty="0" err="1">
                <a:solidFill>
                  <a:sysClr val="windowText" lastClr="000000"/>
                </a:solidFill>
                <a:latin typeface="Arial" pitchFamily="34" charset="0"/>
                <a:ea typeface="맑은 고딕" pitchFamily="50" charset="-127"/>
                <a:cs typeface="Arial" pitchFamily="34" charset="0"/>
              </a:rPr>
              <a:t>đo</a:t>
            </a:r>
            <a:r>
              <a:rPr kumimoji="0" lang="en-US" altLang="ko-KR" b="1" kern="0" dirty="0">
                <a:solidFill>
                  <a:sysClr val="windowText" lastClr="000000"/>
                </a:solidFill>
                <a:latin typeface="Arial" pitchFamily="34" charset="0"/>
                <a:ea typeface="맑은 고딕" pitchFamily="50" charset="-127"/>
                <a:cs typeface="Arial" pitchFamily="34" charset="0"/>
              </a:rPr>
              <a:t> </a:t>
            </a:r>
            <a:r>
              <a:rPr kumimoji="0" lang="vi-VN" altLang="ko-KR" b="1" kern="0" dirty="0">
                <a:solidFill>
                  <a:sysClr val="windowText" lastClr="000000"/>
                </a:solidFill>
                <a:latin typeface="Arial" pitchFamily="34" charset="0"/>
                <a:ea typeface="맑은 고딕" pitchFamily="50" charset="-127"/>
                <a:cs typeface="Arial" pitchFamily="34" charset="0"/>
              </a:rPr>
              <a:t>thời gian họ mất bao lâu để hoàn thành vấn đề. Sau đó, so sánh ba khóa học để xem liệu có bất kỳ sự khác biệt nào trong thời gian trung bình để hoàn thành vấn đề.</a:t>
            </a:r>
          </a:p>
        </p:txBody>
      </p:sp>
      <p:sp>
        <p:nvSpPr>
          <p:cNvPr id="5"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6.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549024508"/>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4" name="직사각형 43"/>
          <p:cNvSpPr>
            <a:spLocks noChangeArrowheads="1"/>
          </p:cNvSpPr>
          <p:nvPr/>
        </p:nvSpPr>
        <p:spPr bwMode="auto">
          <a:xfrm>
            <a:off x="4089400" y="978138"/>
            <a:ext cx="475203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en-US" altLang="ko-KR" sz="1100" dirty="0">
                <a:solidFill>
                  <a:srgbClr val="000000"/>
                </a:solidFill>
                <a:latin typeface="Arial" pitchFamily="34" charset="0"/>
                <a:ea typeface="돋움" pitchFamily="50" charset="-127"/>
                <a:cs typeface="Arial" pitchFamily="34" charset="0"/>
              </a:rPr>
              <a:t> So </a:t>
            </a:r>
            <a:r>
              <a:rPr lang="en-US" altLang="ko-KR" sz="1100" dirty="0" err="1">
                <a:solidFill>
                  <a:srgbClr val="000000"/>
                </a:solidFill>
                <a:latin typeface="Arial" pitchFamily="34" charset="0"/>
                <a:ea typeface="돋움" pitchFamily="50" charset="-127"/>
                <a:cs typeface="Arial" pitchFamily="34" charset="0"/>
              </a:rPr>
              <a:t>sánh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tỷ</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lệ</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trong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một</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endParaRPr lang="ko-KR" altLang="ko-KR" sz="1100" b="1" dirty="0">
              <a:latin typeface="Arial" pitchFamily="34" charset="0"/>
              <a:ea typeface="맑은 고딕" pitchFamily="50" charset="-127"/>
              <a:cs typeface="Arial" pitchFamily="34" charset="0"/>
            </a:endParaRPr>
          </a:p>
          <a:p>
            <a:pPr>
              <a:buFont typeface="Arial" pitchFamily="34" charset="0"/>
              <a:buChar char="•"/>
            </a:pPr>
            <a:r>
              <a:rPr lang="ko-KR" altLang="en-US"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Giả</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thuyết</a:t>
            </a:r>
            <a:r>
              <a:rPr lang="en-US" altLang="ko-KR" sz="1100" dirty="0">
                <a:latin typeface="Arial" pitchFamily="34" charset="0"/>
                <a:ea typeface="돋움" pitchFamily="50" charset="-127"/>
                <a:cs typeface="Arial" pitchFamily="34" charset="0"/>
              </a:rPr>
              <a:t>:</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H0: P = </a:t>
            </a:r>
            <a:r>
              <a:rPr lang="en-US" altLang="ko-KR" sz="1100" dirty="0" err="1">
                <a:latin typeface="Arial" pitchFamily="34" charset="0"/>
                <a:ea typeface="돋움" pitchFamily="50" charset="-127"/>
                <a:cs typeface="Arial" pitchFamily="34" charset="0"/>
              </a:rPr>
              <a:t>giá</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trị</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cho</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trước</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 H1: P </a:t>
            </a:r>
            <a:r>
              <a:rPr lang="en-US" altLang="ko-KR" sz="1100" dirty="0" err="1">
                <a:latin typeface="Arial" pitchFamily="34" charset="0"/>
                <a:ea typeface="돋움" pitchFamily="50" charset="-127"/>
                <a:cs typeface="Arial" pitchFamily="34" charset="0"/>
              </a:rPr>
              <a:t>khác</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giá</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trị</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cho</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trước</a:t>
            </a:r>
            <a:r>
              <a:rPr lang="en-US" altLang="ko-KR" sz="1100" dirty="0">
                <a:latin typeface="Arial" pitchFamily="34" charset="0"/>
                <a:ea typeface="돋움" pitchFamily="50" charset="-127"/>
                <a:cs typeface="Arial" pitchFamily="34" charset="0"/>
              </a:rPr>
              <a:t> </a:t>
            </a:r>
            <a:endParaRPr lang="ko-KR" altLang="en-US" sz="1100" dirty="0">
              <a:latin typeface="Arial" pitchFamily="34" charset="0"/>
              <a:ea typeface="돋움" pitchFamily="50" charset="-127"/>
              <a:cs typeface="Arial" pitchFamily="34" charset="0"/>
            </a:endParaRPr>
          </a:p>
        </p:txBody>
      </p:sp>
      <p:sp>
        <p:nvSpPr>
          <p:cNvPr id="10"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1 Proportion Test</a:t>
            </a:r>
            <a:endParaRPr lang="ko-KR" altLang="ko-KR" b="1" dirty="0">
              <a:latin typeface="arial" pitchFamily="34" charset="0"/>
            </a:endParaRPr>
          </a:p>
        </p:txBody>
      </p:sp>
      <p:sp>
        <p:nvSpPr>
          <p:cNvPr id="11"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12" name="직사각형 11"/>
          <p:cNvSpPr/>
          <p:nvPr/>
        </p:nvSpPr>
        <p:spPr>
          <a:xfrm>
            <a:off x="273050" y="1557338"/>
            <a:ext cx="9432925" cy="143961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204808" name="TextBox 13"/>
          <p:cNvSpPr txBox="1">
            <a:spLocks noChangeArrowheads="1"/>
          </p:cNvSpPr>
          <p:nvPr/>
        </p:nvSpPr>
        <p:spPr bwMode="auto">
          <a:xfrm>
            <a:off x="631825" y="1689013"/>
            <a:ext cx="9073703" cy="1212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latin typeface="arial" pitchFamily="34" charset="0"/>
                <a:ea typeface="맑은 고딕" pitchFamily="50" charset="-127"/>
              </a:rPr>
              <a:t>Tỷ</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lỗi</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dòng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TV OLED </a:t>
            </a:r>
            <a:r>
              <a:rPr lang="en-US" altLang="ko-KR" sz="1400" b="1" dirty="0" err="1">
                <a:latin typeface="arial" pitchFamily="34" charset="0"/>
                <a:ea typeface="맑은 고딕" pitchFamily="50" charset="-127"/>
              </a:rPr>
              <a:t>tại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máy</a:t>
            </a:r>
            <a:r>
              <a:rPr lang="en-US" altLang="ko-KR" sz="1400" b="1" dirty="0">
                <a:latin typeface="arial" pitchFamily="34" charset="0"/>
                <a:ea typeface="맑은 고딕" pitchFamily="50" charset="-127"/>
              </a:rPr>
              <a:t> LG </a:t>
            </a:r>
            <a:r>
              <a:rPr lang="en-US" altLang="ko-KR" sz="1400" b="1" dirty="0" err="1">
                <a:latin typeface="arial" pitchFamily="34" charset="0"/>
                <a:ea typeface="맑은 고딕" pitchFamily="50" charset="-127"/>
              </a:rPr>
              <a:t>đang</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mức</a:t>
            </a:r>
            <a:r>
              <a:rPr lang="en-US" altLang="ko-KR" sz="1400" b="1" dirty="0">
                <a:latin typeface="arial" pitchFamily="34" charset="0"/>
                <a:ea typeface="맑은 고딕" pitchFamily="50" charset="-127"/>
              </a:rPr>
              <a:t> 5.5%. </a:t>
            </a:r>
            <a:r>
              <a:rPr lang="en-US" altLang="ko-KR" sz="1400" b="1" dirty="0" err="1">
                <a:latin typeface="arial" pitchFamily="34" charset="0"/>
                <a:ea typeface="맑은 고딕" pitchFamily="50" charset="-127"/>
              </a:rPr>
              <a:t>Một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số</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cải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tiến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ứng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dụng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nhằm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tỷ</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lỗi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Sau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một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thời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gian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áp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dụng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cải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tiến</a:t>
            </a:r>
            <a:r>
              <a:rPr lang="en-US" altLang="ko-KR" sz="1400" b="1" dirty="0">
                <a:latin typeface="arial" pitchFamily="34" charset="0"/>
                <a:ea typeface="맑은 고딕" pitchFamily="50" charset="-127"/>
              </a:rPr>
              <a:t>, 200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TV OLED </a:t>
            </a:r>
            <a:r>
              <a:rPr lang="en-US" altLang="ko-KR" sz="1400" b="1" dirty="0" err="1">
                <a:latin typeface="arial" pitchFamily="34" charset="0"/>
                <a:ea typeface="맑은 고딕" pitchFamily="50" charset="-127"/>
              </a:rPr>
              <a:t>đã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lấy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mẫu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phát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hiện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4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lỗi</a:t>
            </a:r>
            <a:r>
              <a:rPr lang="en-US" altLang="ko-KR" sz="1400" b="1" dirty="0">
                <a:latin typeface="arial" pitchFamily="34" charset="0"/>
                <a:ea typeface="맑은 고딕" pitchFamily="50" charset="-127"/>
              </a:rPr>
              <a:t>.</a:t>
            </a:r>
          </a:p>
          <a:p>
            <a:pPr eaLnBrk="1" hangingPunct="1">
              <a:lnSpc>
                <a:spcPct val="130000"/>
              </a:lnSpc>
              <a:buClr>
                <a:srgbClr val="C5003D"/>
              </a:buClr>
            </a:pPr>
            <a:r>
              <a:rPr lang="en-US" altLang="ko-KR" sz="1400" b="1" dirty="0" err="1">
                <a:latin typeface="arial" pitchFamily="34" charset="0"/>
                <a:ea typeface="맑은 고딕" pitchFamily="50" charset="-127"/>
              </a:rPr>
              <a:t>Chúng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khẳng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rằng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tỷ</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lỗi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xuống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dưới</a:t>
            </a:r>
            <a:r>
              <a:rPr lang="en-US" altLang="ko-KR" sz="1400" b="1" dirty="0">
                <a:latin typeface="arial" pitchFamily="34" charset="0"/>
                <a:ea typeface="맑은 고딕" pitchFamily="50" charset="-127"/>
              </a:rPr>
              <a:t> 5.5% hay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a:t>
            </a:r>
          </a:p>
        </p:txBody>
      </p:sp>
      <p:sp>
        <p:nvSpPr>
          <p:cNvPr id="204811" name="TextBox 16"/>
          <p:cNvSpPr txBox="1">
            <a:spLocks noChangeArrowheads="1"/>
          </p:cNvSpPr>
          <p:nvPr/>
        </p:nvSpPr>
        <p:spPr bwMode="auto">
          <a:xfrm>
            <a:off x="4698381" y="4072607"/>
            <a:ext cx="4516438" cy="652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H0 : p0 &gt;= 0.055</a:t>
            </a:r>
          </a:p>
          <a:p>
            <a:pPr eaLnBrk="1" hangingPunct="1">
              <a:lnSpc>
                <a:spcPct val="130000"/>
              </a:lnSpc>
              <a:buClr>
                <a:srgbClr val="C5003D"/>
              </a:buClr>
            </a:pPr>
            <a:r>
              <a:rPr lang="en-US" altLang="ko-KR" sz="1400" b="1" dirty="0">
                <a:latin typeface="arial" pitchFamily="34" charset="0"/>
                <a:ea typeface="맑은 고딕" pitchFamily="50" charset="-127"/>
              </a:rPr>
              <a:t>H1 : p0 &lt; 0.055</a:t>
            </a:r>
            <a:endParaRPr lang="ko-KR" altLang="en-US" sz="1400" b="1" dirty="0">
              <a:latin typeface="arial" pitchFamily="34" charset="0"/>
              <a:ea typeface="맑은 고딕" pitchFamily="50" charset="-127"/>
            </a:endParaRPr>
          </a:p>
        </p:txBody>
      </p:sp>
      <p:sp>
        <p:nvSpPr>
          <p:cNvPr id="204812" name="TextBox 17"/>
          <p:cNvSpPr txBox="1">
            <a:spLocks noChangeArrowheads="1"/>
          </p:cNvSpPr>
          <p:nvPr/>
        </p:nvSpPr>
        <p:spPr bwMode="auto">
          <a:xfrm>
            <a:off x="4717431" y="5175919"/>
            <a:ext cx="2159000" cy="341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1 Proportion Test</a:t>
            </a:r>
            <a:endParaRPr lang="ko-KR" altLang="en-US" sz="1400" b="1" dirty="0">
              <a:latin typeface="arial" pitchFamily="34" charset="0"/>
              <a:ea typeface="맑은 고딕" pitchFamily="50" charset="-127"/>
            </a:endParaRPr>
          </a:p>
        </p:txBody>
      </p:sp>
      <p:sp>
        <p:nvSpPr>
          <p:cNvPr id="2" name="TextBox 1"/>
          <p:cNvSpPr txBox="1"/>
          <p:nvPr/>
        </p:nvSpPr>
        <p:spPr>
          <a:xfrm>
            <a:off x="415801" y="3933825"/>
            <a:ext cx="3529087" cy="1172629"/>
          </a:xfrm>
          <a:prstGeom prst="rect">
            <a:avLst/>
          </a:prstGeom>
          <a:noFill/>
        </p:spPr>
        <p:txBody>
          <a:bodyPr wrap="square">
            <a:spAutoFit/>
          </a:bodyPr>
          <a:lstStyle/>
          <a:p>
            <a:pPr>
              <a:lnSpc>
                <a:spcPct val="130000"/>
              </a:lnSpc>
              <a:buClr>
                <a:srgbClr val="C5003D"/>
              </a:buClr>
              <a:defRPr/>
            </a:pPr>
            <a:r>
              <a:rPr lang="en-US" altLang="ko-KR" b="1" dirty="0" err="1">
                <a:solidFill>
                  <a:schemeClr val="tx2">
                    <a:lumMod val="60000"/>
                    <a:lumOff val="40000"/>
                  </a:schemeClr>
                </a:solidFill>
                <a:latin typeface="arial" pitchFamily="34" charset="0"/>
                <a:ea typeface="맑은 고딕" panose="020B0503020000020004" pitchFamily="50" charset="-127"/>
              </a:rPr>
              <a:t>Tỷ</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lệ</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lỗi</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là</a:t>
            </a:r>
            <a:r>
              <a:rPr lang="en-US" altLang="ko-KR" b="1" dirty="0">
                <a:solidFill>
                  <a:schemeClr val="tx2">
                    <a:lumMod val="60000"/>
                    <a:lumOff val="40000"/>
                  </a:schemeClr>
                </a:solidFill>
                <a:latin typeface="arial" pitchFamily="34" charset="0"/>
                <a:ea typeface="맑은 고딕" panose="020B0503020000020004" pitchFamily="50" charset="-127"/>
              </a:rPr>
              <a:t> 2% </a:t>
            </a:r>
            <a:r>
              <a:rPr lang="en-US" altLang="ko-KR" b="1" dirty="0" err="1">
                <a:solidFill>
                  <a:schemeClr val="tx2">
                    <a:lumMod val="60000"/>
                    <a:lumOff val="40000"/>
                  </a:schemeClr>
                </a:solidFill>
                <a:latin typeface="arial" pitchFamily="34" charset="0"/>
                <a:ea typeface="맑은 고딕" panose="020B0503020000020004" pitchFamily="50" charset="-127"/>
              </a:rPr>
              <a:t>tương</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ứng</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với</a:t>
            </a:r>
            <a:r>
              <a:rPr lang="en-US" altLang="ko-KR" b="1" dirty="0">
                <a:solidFill>
                  <a:schemeClr val="tx2">
                    <a:lumMod val="60000"/>
                    <a:lumOff val="40000"/>
                  </a:schemeClr>
                </a:solidFill>
                <a:latin typeface="arial" pitchFamily="34" charset="0"/>
                <a:ea typeface="맑은 고딕" panose="020B0503020000020004" pitchFamily="50" charset="-127"/>
              </a:rPr>
              <a:t> 4 </a:t>
            </a:r>
            <a:r>
              <a:rPr lang="en-US" altLang="ko-KR" b="1" dirty="0" err="1">
                <a:solidFill>
                  <a:schemeClr val="tx2">
                    <a:lumMod val="60000"/>
                    <a:lumOff val="40000"/>
                  </a:schemeClr>
                </a:solidFill>
                <a:latin typeface="arial" pitchFamily="34" charset="0"/>
                <a:ea typeface="맑은 고딕" panose="020B0503020000020004" pitchFamily="50" charset="-127"/>
              </a:rPr>
              <a:t>sản</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phẩm</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lỗi</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trên</a:t>
            </a:r>
            <a:r>
              <a:rPr lang="en-US" altLang="ko-KR" b="1" dirty="0">
                <a:solidFill>
                  <a:schemeClr val="tx2">
                    <a:lumMod val="60000"/>
                    <a:lumOff val="40000"/>
                  </a:schemeClr>
                </a:solidFill>
                <a:latin typeface="arial" pitchFamily="34" charset="0"/>
                <a:ea typeface="맑은 고딕" panose="020B0503020000020004" pitchFamily="50" charset="-127"/>
              </a:rPr>
              <a:t> 200 </a:t>
            </a:r>
            <a:r>
              <a:rPr lang="en-US" altLang="ko-KR" b="1" dirty="0" err="1">
                <a:solidFill>
                  <a:schemeClr val="tx2">
                    <a:lumMod val="60000"/>
                    <a:lumOff val="40000"/>
                  </a:schemeClr>
                </a:solidFill>
                <a:latin typeface="arial" pitchFamily="34" charset="0"/>
                <a:ea typeface="맑은 고딕" panose="020B0503020000020004" pitchFamily="50" charset="-127"/>
              </a:rPr>
              <a:t>sản</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phẩm</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được</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lấy</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mẫu</a:t>
            </a:r>
            <a:r>
              <a:rPr lang="en-US" altLang="ko-KR" b="1" dirty="0">
                <a:solidFill>
                  <a:schemeClr val="tx2">
                    <a:lumMod val="60000"/>
                    <a:lumOff val="40000"/>
                  </a:schemeClr>
                </a:solidFill>
                <a:latin typeface="arial" pitchFamily="34" charset="0"/>
                <a:ea typeface="맑은 고딕" panose="020B0503020000020004" pitchFamily="50" charset="-127"/>
              </a:rPr>
              <a:t>…</a:t>
            </a:r>
            <a:endParaRPr lang="ko-KR" altLang="en-US" b="1" dirty="0">
              <a:solidFill>
                <a:schemeClr val="tx2">
                  <a:lumMod val="60000"/>
                  <a:lumOff val="40000"/>
                </a:schemeClr>
              </a:solidFill>
              <a:latin typeface="arial" pitchFamily="34" charset="0"/>
              <a:ea typeface="맑은 고딕" panose="020B0503020000020004" pitchFamily="50" charset="-127"/>
            </a:endParaRP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pPr>
                <a:defRPr/>
              </a:pPr>
              <a:t>177</a:t>
            </a:fld>
            <a:endParaRPr lang="ko-KR" altLang="en-US" dirty="0"/>
          </a:p>
        </p:txBody>
      </p:sp>
      <p:sp>
        <p:nvSpPr>
          <p:cNvPr id="22"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3" name="TextBox 2"/>
          <p:cNvSpPr txBox="1">
            <a:spLocks noChangeArrowheads="1"/>
          </p:cNvSpPr>
          <p:nvPr/>
        </p:nvSpPr>
        <p:spPr bwMode="auto">
          <a:xfrm>
            <a:off x="4462935" y="3807866"/>
            <a:ext cx="363913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lập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4" name="TextBox 14"/>
          <p:cNvSpPr txBox="1">
            <a:spLocks noChangeArrowheads="1"/>
          </p:cNvSpPr>
          <p:nvPr/>
        </p:nvSpPr>
        <p:spPr bwMode="auto">
          <a:xfrm>
            <a:off x="4462935" y="4875616"/>
            <a:ext cx="493115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Cần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sử</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dụng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phương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pháp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thống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kê</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nào</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5"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6" name="Picture 67"/>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2510372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178</a:t>
            </a:fld>
            <a:endParaRPr lang="ko-KR" altLang="en-US" dirty="0"/>
          </a:p>
        </p:txBody>
      </p:sp>
      <p:pic>
        <p:nvPicPr>
          <p:cNvPr id="144386"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5385047" y="1628800"/>
            <a:ext cx="3953535" cy="46085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4388" name="Picture 4"/>
          <p:cNvPicPr>
            <a:picLocks noChangeAspect="1" noChangeArrowheads="1"/>
          </p:cNvPicPr>
          <p:nvPr/>
        </p:nvPicPr>
        <p:blipFill rotWithShape="1">
          <a:blip r:embed="rId4" cstate="print">
            <a:extLst>
              <a:ext uri="{28A0092B-C50C-407E-A947-70E740481C1C}">
                <a14:useLocalDpi xmlns:a14="http://schemas.microsoft.com/office/drawing/2010/main"/>
              </a:ext>
            </a:extLst>
          </a:blip>
          <a:srcRect/>
          <a:stretch/>
        </p:blipFill>
        <p:spPr bwMode="auto">
          <a:xfrm>
            <a:off x="560512" y="1916832"/>
            <a:ext cx="4680520" cy="43428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2"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3" name="Picture 67"/>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직사각형 43"/>
          <p:cNvSpPr>
            <a:spLocks noChangeArrowheads="1"/>
          </p:cNvSpPr>
          <p:nvPr/>
        </p:nvSpPr>
        <p:spPr bwMode="auto">
          <a:xfrm>
            <a:off x="4089400" y="978138"/>
            <a:ext cx="475203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en-US" altLang="ko-KR" sz="1100" dirty="0">
                <a:solidFill>
                  <a:srgbClr val="000000"/>
                </a:solidFill>
                <a:latin typeface="Arial" pitchFamily="34" charset="0"/>
                <a:ea typeface="돋움" pitchFamily="50" charset="-127"/>
                <a:cs typeface="Arial" pitchFamily="34" charset="0"/>
              </a:rPr>
              <a:t> So </a:t>
            </a:r>
            <a:r>
              <a:rPr lang="en-US" altLang="ko-KR" sz="1100" dirty="0" err="1">
                <a:solidFill>
                  <a:srgbClr val="000000"/>
                </a:solidFill>
                <a:latin typeface="Arial" pitchFamily="34" charset="0"/>
                <a:ea typeface="돋움" pitchFamily="50" charset="-127"/>
                <a:cs typeface="Arial" pitchFamily="34" charset="0"/>
              </a:rPr>
              <a:t>sánh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tỷ</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lệ</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trong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một</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endParaRPr lang="ko-KR" altLang="ko-KR" sz="1100" b="1" dirty="0">
              <a:latin typeface="Arial" pitchFamily="34" charset="0"/>
              <a:ea typeface="맑은 고딕" pitchFamily="50" charset="-127"/>
              <a:cs typeface="Arial" pitchFamily="34" charset="0"/>
            </a:endParaRPr>
          </a:p>
          <a:p>
            <a:pPr>
              <a:buFont typeface="Arial" pitchFamily="34" charset="0"/>
              <a:buChar char="•"/>
            </a:pPr>
            <a:r>
              <a:rPr lang="ko-KR" altLang="en-US"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Giả</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thuyết</a:t>
            </a:r>
            <a:r>
              <a:rPr lang="en-US" altLang="ko-KR" sz="1100" dirty="0">
                <a:latin typeface="Arial" pitchFamily="34" charset="0"/>
                <a:ea typeface="돋움" pitchFamily="50" charset="-127"/>
                <a:cs typeface="Arial" pitchFamily="34" charset="0"/>
              </a:rPr>
              <a:t>:</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H0: P = </a:t>
            </a:r>
            <a:r>
              <a:rPr lang="en-US" altLang="ko-KR" sz="1100" dirty="0" err="1">
                <a:latin typeface="Arial" pitchFamily="34" charset="0"/>
                <a:ea typeface="돋움" pitchFamily="50" charset="-127"/>
                <a:cs typeface="Arial" pitchFamily="34" charset="0"/>
              </a:rPr>
              <a:t>giá</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trị</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cho</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trước</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 H1: P </a:t>
            </a:r>
            <a:r>
              <a:rPr lang="en-US" altLang="ko-KR" sz="1100" dirty="0" err="1">
                <a:latin typeface="Arial" pitchFamily="34" charset="0"/>
                <a:ea typeface="돋움" pitchFamily="50" charset="-127"/>
                <a:cs typeface="Arial" pitchFamily="34" charset="0"/>
              </a:rPr>
              <a:t>khác</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giá</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trị</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cho</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trước</a:t>
            </a:r>
            <a:r>
              <a:rPr lang="en-US" altLang="ko-KR" sz="1100" dirty="0">
                <a:latin typeface="Arial" pitchFamily="34" charset="0"/>
                <a:ea typeface="돋움" pitchFamily="50" charset="-127"/>
                <a:cs typeface="Arial" pitchFamily="34" charset="0"/>
              </a:rPr>
              <a:t> </a:t>
            </a:r>
            <a:endParaRPr lang="ko-KR" altLang="en-US" sz="1100" dirty="0">
              <a:latin typeface="Arial" pitchFamily="34" charset="0"/>
              <a:ea typeface="돋움" pitchFamily="50" charset="-127"/>
              <a:cs typeface="Arial" pitchFamily="34" charset="0"/>
            </a:endParaRPr>
          </a:p>
        </p:txBody>
      </p:sp>
      <p:sp>
        <p:nvSpPr>
          <p:cNvPr id="27"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1 Proportion Test</a:t>
            </a:r>
            <a:endParaRPr lang="ko-KR" altLang="ko-KR" b="1" dirty="0">
              <a:latin typeface="arial" pitchFamily="34" charset="0"/>
            </a:endParaRPr>
          </a:p>
        </p:txBody>
      </p:sp>
      <p:sp>
        <p:nvSpPr>
          <p:cNvPr id="28"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Tree>
    <p:extLst>
      <p:ext uri="{BB962C8B-B14F-4D97-AF65-F5344CB8AC3E}">
        <p14:creationId xmlns:p14="http://schemas.microsoft.com/office/powerpoint/2010/main" val="309113166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179</a:t>
            </a:fld>
            <a:endParaRPr lang="ko-KR" altLang="en-US" dirty="0"/>
          </a:p>
        </p:txBody>
      </p:sp>
      <p:sp>
        <p:nvSpPr>
          <p:cNvPr id="16" name="TextBox 10"/>
          <p:cNvSpPr txBox="1">
            <a:spLocks noChangeArrowheads="1"/>
          </p:cNvSpPr>
          <p:nvPr/>
        </p:nvSpPr>
        <p:spPr bwMode="auto">
          <a:xfrm>
            <a:off x="452500" y="5445125"/>
            <a:ext cx="9001000" cy="652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P-value </a:t>
            </a:r>
            <a:r>
              <a:rPr lang="en-US" altLang="ko-KR" sz="1400" b="1" dirty="0" err="1">
                <a:latin typeface="arial" pitchFamily="34" charset="0"/>
                <a:ea typeface="맑은 고딕" pitchFamily="50" charset="-127"/>
              </a:rPr>
              <a:t>nhỏ</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mức</a:t>
            </a:r>
            <a:r>
              <a:rPr lang="en-US" altLang="ko-KR" sz="1400" b="1" dirty="0">
                <a:latin typeface="arial" pitchFamily="34" charset="0"/>
                <a:ea typeface="맑은 고딕" pitchFamily="50" charset="-127"/>
              </a:rPr>
              <a:t> ý </a:t>
            </a:r>
            <a:r>
              <a:rPr lang="en-US" altLang="ko-KR" sz="1400" b="1" dirty="0" err="1">
                <a:latin typeface="arial" pitchFamily="34" charset="0"/>
                <a:ea typeface="맑은 고딕" pitchFamily="50" charset="-127"/>
              </a:rPr>
              <a:t>nghĩa</a:t>
            </a:r>
            <a:r>
              <a:rPr lang="en-US" altLang="ko-KR" sz="1400" b="1" dirty="0">
                <a:latin typeface="arial" pitchFamily="34" charset="0"/>
                <a:ea typeface="맑은 고딕" pitchFamily="50" charset="-127"/>
              </a:rPr>
              <a:t> α = 0.05, do </a:t>
            </a:r>
            <a:r>
              <a:rPr lang="en-US" altLang="ko-KR" sz="1400" b="1" dirty="0" err="1">
                <a:latin typeface="arial" pitchFamily="34" charset="0"/>
                <a:ea typeface="맑은 고딕" pitchFamily="50" charset="-127"/>
              </a:rPr>
              <a:t>đó</a:t>
            </a:r>
            <a:r>
              <a:rPr lang="en-US" altLang="ko-KR" sz="1400" b="1" dirty="0">
                <a:latin typeface="arial" pitchFamily="34" charset="0"/>
                <a:ea typeface="맑은 고딕" pitchFamily="50" charset="-127"/>
              </a:rPr>
              <a:t> H0 </a:t>
            </a:r>
            <a:r>
              <a:rPr lang="en-US" altLang="ko-KR" sz="1400" b="1" dirty="0" err="1">
                <a:latin typeface="arial" pitchFamily="34" charset="0"/>
                <a:ea typeface="맑은 고딕" pitchFamily="50" charset="-127"/>
              </a:rPr>
              <a:t>bị</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bỏ</a:t>
            </a:r>
            <a:endParaRPr lang="en-US" altLang="ko-KR" sz="1400" b="1" dirty="0">
              <a:latin typeface="arial" pitchFamily="34" charset="0"/>
              <a:ea typeface="맑은 고딕" pitchFamily="50" charset="-127"/>
            </a:endParaRPr>
          </a:p>
          <a:p>
            <a:pPr eaLnBrk="1" hangingPunct="1">
              <a:lnSpc>
                <a:spcPct val="130000"/>
              </a:lnSpc>
              <a:buClr>
                <a:srgbClr val="C5003D"/>
              </a:buClr>
            </a:pP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Có</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thể</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khẳng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định</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rằng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tỷ</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lệ</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lỗi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đã</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giảm</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xuống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dưới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mức</a:t>
            </a:r>
            <a:r>
              <a:rPr lang="en-US" altLang="ko-KR" sz="1400" b="1" dirty="0">
                <a:latin typeface="arial" pitchFamily="34" charset="0"/>
                <a:ea typeface="맑은 고딕" pitchFamily="50" charset="-127"/>
                <a:sym typeface="Wingdings" pitchFamily="2" charset="2"/>
              </a:rPr>
              <a:t> 5.5% </a:t>
            </a:r>
            <a:r>
              <a:rPr lang="en-US" altLang="ko-KR" sz="1400" b="1" dirty="0" err="1">
                <a:latin typeface="arial" pitchFamily="34" charset="0"/>
                <a:ea typeface="맑은 고딕" pitchFamily="50" charset="-127"/>
                <a:sym typeface="Wingdings" pitchFamily="2" charset="2"/>
              </a:rPr>
              <a:t>sau</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áp</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dụng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các</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biện</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pháp</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cải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tiến</a:t>
            </a:r>
            <a:r>
              <a:rPr lang="en-US" altLang="ko-KR" sz="1400" b="1" dirty="0">
                <a:latin typeface="arial" pitchFamily="34" charset="0"/>
                <a:ea typeface="맑은 고딕" pitchFamily="50" charset="-127"/>
                <a:sym typeface="Wingdings" pitchFamily="2" charset="2"/>
              </a:rPr>
              <a:t>.</a:t>
            </a:r>
            <a:endParaRPr lang="ko-KR" altLang="en-US" sz="1400" b="1" dirty="0">
              <a:latin typeface="arial" pitchFamily="34" charset="0"/>
              <a:ea typeface="맑은 고딕" pitchFamily="50" charset="-127"/>
            </a:endParaRPr>
          </a:p>
        </p:txBody>
      </p:sp>
      <p:pic>
        <p:nvPicPr>
          <p:cNvPr id="145410"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856655" y="2060848"/>
            <a:ext cx="6677105" cy="2448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3"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4"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직사각형 43"/>
          <p:cNvSpPr>
            <a:spLocks noChangeArrowheads="1"/>
          </p:cNvSpPr>
          <p:nvPr/>
        </p:nvSpPr>
        <p:spPr bwMode="auto">
          <a:xfrm>
            <a:off x="4089400" y="978138"/>
            <a:ext cx="475203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en-US" altLang="ko-KR" sz="1100" dirty="0">
                <a:solidFill>
                  <a:srgbClr val="000000"/>
                </a:solidFill>
                <a:latin typeface="Arial" pitchFamily="34" charset="0"/>
                <a:ea typeface="돋움" pitchFamily="50" charset="-127"/>
                <a:cs typeface="Arial" pitchFamily="34" charset="0"/>
              </a:rPr>
              <a:t> So </a:t>
            </a:r>
            <a:r>
              <a:rPr lang="en-US" altLang="ko-KR" sz="1100" dirty="0" err="1">
                <a:solidFill>
                  <a:srgbClr val="000000"/>
                </a:solidFill>
                <a:latin typeface="Arial" pitchFamily="34" charset="0"/>
                <a:ea typeface="돋움" pitchFamily="50" charset="-127"/>
                <a:cs typeface="Arial" pitchFamily="34" charset="0"/>
              </a:rPr>
              <a:t>sánh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tỷ</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lệ</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trong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một</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endParaRPr lang="ko-KR" altLang="ko-KR" sz="1100" b="1" dirty="0">
              <a:latin typeface="Arial" pitchFamily="34" charset="0"/>
              <a:ea typeface="맑은 고딕" pitchFamily="50" charset="-127"/>
              <a:cs typeface="Arial" pitchFamily="34" charset="0"/>
            </a:endParaRPr>
          </a:p>
          <a:p>
            <a:pPr>
              <a:buFont typeface="Arial" pitchFamily="34" charset="0"/>
              <a:buChar char="•"/>
            </a:pPr>
            <a:r>
              <a:rPr lang="ko-KR" altLang="en-US"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Giả</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thuyết</a:t>
            </a:r>
            <a:r>
              <a:rPr lang="en-US" altLang="ko-KR" sz="1100" dirty="0">
                <a:latin typeface="Arial" pitchFamily="34" charset="0"/>
                <a:ea typeface="돋움" pitchFamily="50" charset="-127"/>
                <a:cs typeface="Arial" pitchFamily="34" charset="0"/>
              </a:rPr>
              <a:t>:</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H0: P = </a:t>
            </a:r>
            <a:r>
              <a:rPr lang="en-US" altLang="ko-KR" sz="1100" dirty="0" err="1">
                <a:latin typeface="Arial" pitchFamily="34" charset="0"/>
                <a:ea typeface="돋움" pitchFamily="50" charset="-127"/>
                <a:cs typeface="Arial" pitchFamily="34" charset="0"/>
              </a:rPr>
              <a:t>giá</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trị</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cho</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trước</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 H1: P </a:t>
            </a:r>
            <a:r>
              <a:rPr lang="en-US" altLang="ko-KR" sz="1100" dirty="0" err="1">
                <a:latin typeface="Arial" pitchFamily="34" charset="0"/>
                <a:ea typeface="돋움" pitchFamily="50" charset="-127"/>
                <a:cs typeface="Arial" pitchFamily="34" charset="0"/>
              </a:rPr>
              <a:t>khác</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giá</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trị</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cho</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trước</a:t>
            </a:r>
            <a:r>
              <a:rPr lang="en-US" altLang="ko-KR" sz="1100" dirty="0">
                <a:latin typeface="Arial" pitchFamily="34" charset="0"/>
                <a:ea typeface="돋움" pitchFamily="50" charset="-127"/>
                <a:cs typeface="Arial" pitchFamily="34" charset="0"/>
              </a:rPr>
              <a:t> </a:t>
            </a:r>
            <a:endParaRPr lang="ko-KR" altLang="en-US" sz="1100" dirty="0">
              <a:latin typeface="Arial" pitchFamily="34" charset="0"/>
              <a:ea typeface="돋움" pitchFamily="50" charset="-127"/>
              <a:cs typeface="Arial" pitchFamily="34" charset="0"/>
            </a:endParaRPr>
          </a:p>
        </p:txBody>
      </p:sp>
      <p:sp>
        <p:nvSpPr>
          <p:cNvPr id="15" name="직사각형 9"/>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1 Proportion Test</a:t>
            </a:r>
            <a:endParaRPr lang="ko-KR" altLang="ko-KR" b="1" dirty="0">
              <a:latin typeface="arial" pitchFamily="34" charset="0"/>
            </a:endParaRPr>
          </a:p>
        </p:txBody>
      </p:sp>
      <p:sp>
        <p:nvSpPr>
          <p:cNvPr id="20" name="직사각형 10"/>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Tree>
    <p:extLst>
      <p:ext uri="{BB962C8B-B14F-4D97-AF65-F5344CB8AC3E}">
        <p14:creationId xmlns:p14="http://schemas.microsoft.com/office/powerpoint/2010/main" val="1789932732"/>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6" name="직사각형 43"/>
          <p:cNvSpPr>
            <a:spLocks noChangeArrowheads="1"/>
          </p:cNvSpPr>
          <p:nvPr/>
        </p:nvSpPr>
        <p:spPr bwMode="auto">
          <a:xfrm>
            <a:off x="3800872" y="908720"/>
            <a:ext cx="5832648"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solidFill>
                  <a:srgbClr val="000000"/>
                </a:solidFill>
                <a:latin typeface="Arial" pitchFamily="34" charset="0"/>
                <a:ea typeface="돋움" pitchFamily="50" charset="-127"/>
                <a:cs typeface="Arial" pitchFamily="34" charset="0"/>
              </a:rPr>
              <a:t> </a:t>
            </a:r>
            <a:r>
              <a:rPr lang="en-US" altLang="ko-KR" sz="1100" dirty="0">
                <a:solidFill>
                  <a:srgbClr val="000000"/>
                </a:solidFill>
                <a:latin typeface="Arial" pitchFamily="34" charset="0"/>
                <a:ea typeface="돋움" pitchFamily="50" charset="-127"/>
                <a:cs typeface="Arial" pitchFamily="34" charset="0"/>
              </a:rPr>
              <a:t>So </a:t>
            </a:r>
            <a:r>
              <a:rPr lang="en-US" altLang="ko-KR" sz="1100" dirty="0" err="1">
                <a:solidFill>
                  <a:srgbClr val="000000"/>
                </a:solidFill>
                <a:latin typeface="Arial" pitchFamily="34" charset="0"/>
                <a:ea typeface="돋움" pitchFamily="50" charset="-127"/>
                <a:cs typeface="Arial" pitchFamily="34" charset="0"/>
              </a:rPr>
              <a:t>sánh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tỷ</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lệ</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giữa</a:t>
            </a:r>
            <a:r>
              <a:rPr lang="en-US" altLang="ko-KR" sz="1100" dirty="0">
                <a:solidFill>
                  <a:srgbClr val="000000"/>
                </a:solidFill>
                <a:latin typeface="Arial" pitchFamily="34" charset="0"/>
                <a:ea typeface="돋움" pitchFamily="50" charset="-127"/>
                <a:cs typeface="Arial" pitchFamily="34" charset="0"/>
              </a:rPr>
              <a:t> 2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nhằm</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xác</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định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xem</a:t>
            </a:r>
            <a:r>
              <a:rPr lang="en-US" altLang="ko-KR" sz="1100" dirty="0">
                <a:solidFill>
                  <a:srgbClr val="000000"/>
                </a:solidFill>
                <a:latin typeface="Arial" pitchFamily="34" charset="0"/>
                <a:ea typeface="돋움" pitchFamily="50" charset="-127"/>
                <a:cs typeface="Arial" pitchFamily="34" charset="0"/>
              </a:rPr>
              <a:t> 2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đó</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có</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tương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đồng</a:t>
            </a:r>
            <a:r>
              <a:rPr lang="en-US" altLang="ko-KR" sz="1100" dirty="0">
                <a:solidFill>
                  <a:srgbClr val="000000"/>
                </a:solidFill>
                <a:latin typeface="Arial" pitchFamily="34" charset="0"/>
                <a:ea typeface="돋움" pitchFamily="50" charset="-127"/>
                <a:cs typeface="Arial" pitchFamily="34" charset="0"/>
              </a:rPr>
              <a:t> hay </a:t>
            </a:r>
            <a:r>
              <a:rPr lang="en-US" altLang="ko-KR" sz="1100" dirty="0" err="1">
                <a:solidFill>
                  <a:srgbClr val="000000"/>
                </a:solidFill>
                <a:latin typeface="Arial" pitchFamily="34" charset="0"/>
                <a:ea typeface="돋움" pitchFamily="50" charset="-127"/>
                <a:cs typeface="Arial" pitchFamily="34" charset="0"/>
              </a:rPr>
              <a:t>khác</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nhau</a:t>
            </a:r>
            <a:endParaRPr lang="ko-KR" altLang="ko-KR" sz="1100" b="1" dirty="0">
              <a:latin typeface="Arial" pitchFamily="34" charset="0"/>
              <a:ea typeface="맑은 고딕" pitchFamily="50" charset="-127"/>
              <a:cs typeface="Arial" pitchFamily="34" charset="0"/>
            </a:endParaRPr>
          </a:p>
          <a:p>
            <a:pPr>
              <a:buFont typeface="Arial" pitchFamily="34" charset="0"/>
              <a:buChar char="•"/>
            </a:pPr>
            <a:r>
              <a:rPr lang="ko-KR" altLang="en-US"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Giả</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thuyết</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H0: p1 = p2</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 H1: p1 </a:t>
            </a:r>
            <a:r>
              <a:rPr lang="ko-KR" altLang="en-US" sz="1100" dirty="0">
                <a:latin typeface="Arial" pitchFamily="34" charset="0"/>
                <a:ea typeface="돋움" pitchFamily="50" charset="-127"/>
                <a:cs typeface="Arial" pitchFamily="34" charset="0"/>
              </a:rPr>
              <a:t>≠</a:t>
            </a:r>
            <a:r>
              <a:rPr lang="en-US" altLang="ko-KR" sz="1100" dirty="0">
                <a:latin typeface="Arial" pitchFamily="34" charset="0"/>
                <a:ea typeface="돋움" pitchFamily="50" charset="-127"/>
                <a:cs typeface="Arial" pitchFamily="34" charset="0"/>
              </a:rPr>
              <a:t> p2</a:t>
            </a:r>
            <a:endParaRPr lang="ko-KR" altLang="en-US" sz="1100" dirty="0">
              <a:latin typeface="Arial" pitchFamily="34" charset="0"/>
              <a:ea typeface="돋움" pitchFamily="50" charset="-127"/>
              <a:cs typeface="Arial" pitchFamily="34" charset="0"/>
            </a:endParaRPr>
          </a:p>
        </p:txBody>
      </p:sp>
      <p:sp>
        <p:nvSpPr>
          <p:cNvPr id="47" name="직사각형 46"/>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10" name="직사각형 9"/>
          <p:cNvSpPr/>
          <p:nvPr/>
        </p:nvSpPr>
        <p:spPr>
          <a:xfrm>
            <a:off x="273050" y="1557338"/>
            <a:ext cx="9432925" cy="12969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207879" name="Text Box 67"/>
          <p:cNvSpPr txBox="1">
            <a:spLocks noChangeArrowheads="1"/>
          </p:cNvSpPr>
          <p:nvPr/>
        </p:nvSpPr>
        <p:spPr bwMode="auto">
          <a:xfrm>
            <a:off x="488157" y="1628800"/>
            <a:ext cx="8929687"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400" b="1" dirty="0">
                <a:latin typeface="arial" pitchFamily="34" charset="0"/>
                <a:ea typeface="맑은 고딕" pitchFamily="50" charset="-127"/>
              </a:rPr>
              <a:t>100 </a:t>
            </a:r>
            <a:r>
              <a:rPr lang="en-US" altLang="ko-KR" sz="1400" b="1" dirty="0" err="1">
                <a:latin typeface="arial" pitchFamily="34" charset="0"/>
                <a:ea typeface="맑은 고딕" pitchFamily="50" charset="-127"/>
              </a:rPr>
              <a:t>người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đàn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ông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và</a:t>
            </a:r>
            <a:r>
              <a:rPr lang="en-US" altLang="ko-KR" sz="1400" b="1" dirty="0">
                <a:latin typeface="arial" pitchFamily="34" charset="0"/>
                <a:ea typeface="맑은 고딕" pitchFamily="50" charset="-127"/>
              </a:rPr>
              <a:t> 64 </a:t>
            </a:r>
            <a:r>
              <a:rPr lang="en-US" altLang="ko-KR" sz="1400" b="1" dirty="0" err="1">
                <a:latin typeface="arial" pitchFamily="34" charset="0"/>
                <a:ea typeface="맑은 고딕" pitchFamily="50" charset="-127"/>
              </a:rPr>
              <a:t>phụ</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lựa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chọn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ngẫu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nhiên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nhằm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khảo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sát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về</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tình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trạng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thuốc</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người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trưởng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thành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Việc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lựa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chọn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ngẫu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nhiên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giữa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nhóm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nam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độc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lập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nhóm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Trong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tổng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số</a:t>
            </a:r>
            <a:r>
              <a:rPr lang="en-US" altLang="ko-KR" sz="1400" b="1" dirty="0">
                <a:latin typeface="arial" pitchFamily="34" charset="0"/>
                <a:ea typeface="맑은 고딕" pitchFamily="50" charset="-127"/>
              </a:rPr>
              <a:t> 100 </a:t>
            </a:r>
            <a:r>
              <a:rPr lang="en-US" altLang="ko-KR" sz="1400" b="1" dirty="0" err="1">
                <a:latin typeface="arial" pitchFamily="34" charset="0"/>
                <a:ea typeface="맑은 고딕" pitchFamily="50" charset="-127"/>
              </a:rPr>
              <a:t>nam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hỏi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33 </a:t>
            </a:r>
            <a:r>
              <a:rPr lang="en-US" altLang="ko-KR" sz="1400" b="1" dirty="0" err="1">
                <a:latin typeface="arial" pitchFamily="34" charset="0"/>
                <a:ea typeface="맑은 고딕" pitchFamily="50" charset="-127"/>
              </a:rPr>
              <a:t>người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thuốc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trong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số</a:t>
            </a:r>
            <a:r>
              <a:rPr lang="en-US" altLang="ko-KR" sz="1400" b="1" dirty="0">
                <a:latin typeface="arial" pitchFamily="34" charset="0"/>
                <a:ea typeface="맑은 고딕" pitchFamily="50" charset="-127"/>
              </a:rPr>
              <a:t> 64 </a:t>
            </a:r>
            <a:r>
              <a:rPr lang="en-US" altLang="ko-KR" sz="1400" b="1" dirty="0" err="1">
                <a:latin typeface="arial" pitchFamily="34" charset="0"/>
                <a:ea typeface="맑은 고딕" pitchFamily="50" charset="-127"/>
              </a:rPr>
              <a:t>người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hỏi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17 </a:t>
            </a:r>
            <a:r>
              <a:rPr lang="en-US" altLang="ko-KR" sz="1400" b="1" dirty="0" err="1">
                <a:latin typeface="arial" pitchFamily="34" charset="0"/>
                <a:ea typeface="맑은 고딕" pitchFamily="50" charset="-127"/>
              </a:rPr>
              <a:t>người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thuốc</a:t>
            </a:r>
            <a:r>
              <a:rPr lang="en-US" altLang="ko-KR" sz="1400" b="1" dirty="0">
                <a:latin typeface="arial" pitchFamily="34" charset="0"/>
                <a:ea typeface="맑은 고딕" pitchFamily="50" charset="-127"/>
              </a:rPr>
              <a:t>.</a:t>
            </a:r>
          </a:p>
          <a:p>
            <a:pPr algn="just" eaLnBrk="1" hangingPunct="1"/>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nói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rằng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tỷ</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những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người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thuốc</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nam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ngang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nhau</a:t>
            </a:r>
            <a:r>
              <a:rPr lang="en-US" altLang="ko-KR" sz="1400" b="1" dirty="0">
                <a:latin typeface="arial" pitchFamily="34" charset="0"/>
                <a:ea typeface="맑은 고딕" pitchFamily="50" charset="-127"/>
              </a:rPr>
              <a:t> hay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a:t>
            </a:r>
          </a:p>
        </p:txBody>
      </p:sp>
      <p:sp>
        <p:nvSpPr>
          <p:cNvPr id="13" name="직사각형 12"/>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2 Proportion Test</a:t>
            </a:r>
            <a:endParaRPr lang="ko-KR" altLang="ko-KR" b="1" dirty="0">
              <a:latin typeface="arial" pitchFamily="34" charset="0"/>
            </a:endParaRPr>
          </a:p>
        </p:txBody>
      </p:sp>
      <p:sp>
        <p:nvSpPr>
          <p:cNvPr id="207883" name="TextBox 14"/>
          <p:cNvSpPr txBox="1">
            <a:spLocks noChangeArrowheads="1"/>
          </p:cNvSpPr>
          <p:nvPr/>
        </p:nvSpPr>
        <p:spPr bwMode="auto">
          <a:xfrm>
            <a:off x="3878954" y="3864584"/>
            <a:ext cx="5106494" cy="652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H0 : </a:t>
            </a:r>
            <a:r>
              <a:rPr lang="en-US" altLang="ko-KR" sz="1400" b="1" dirty="0" err="1">
                <a:latin typeface="arial" pitchFamily="34" charset="0"/>
                <a:ea typeface="맑은 고딕" pitchFamily="50" charset="-127"/>
              </a:rPr>
              <a:t>tỷ</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thuốc</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nam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en-US" altLang="ko-KR" sz="1400" b="1" dirty="0">
                <a:latin typeface="arial" pitchFamily="34" charset="0"/>
                <a:ea typeface="맑은 고딕" pitchFamily="50" charset="-127"/>
              </a:rPr>
              <a:t> = </a:t>
            </a:r>
            <a:r>
              <a:rPr lang="en-US" altLang="ko-KR" sz="1400" b="1" dirty="0" err="1">
                <a:latin typeface="arial" pitchFamily="34" charset="0"/>
                <a:ea typeface="맑은 고딕" pitchFamily="50" charset="-127"/>
              </a:rPr>
              <a:t>tỷ</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thuốc</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nữ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endParaRPr lang="en-US" altLang="ko-KR" sz="1400" b="1" dirty="0">
              <a:latin typeface="arial" pitchFamily="34" charset="0"/>
              <a:ea typeface="맑은 고딕" pitchFamily="50" charset="-127"/>
            </a:endParaRPr>
          </a:p>
          <a:p>
            <a:pPr eaLnBrk="1" hangingPunct="1">
              <a:lnSpc>
                <a:spcPct val="130000"/>
              </a:lnSpc>
              <a:buClr>
                <a:srgbClr val="C5003D"/>
              </a:buClr>
            </a:pPr>
            <a:r>
              <a:rPr lang="en-US" altLang="ko-KR" sz="1400" b="1" dirty="0">
                <a:latin typeface="arial" pitchFamily="34" charset="0"/>
                <a:ea typeface="맑은 고딕" pitchFamily="50" charset="-127"/>
              </a:rPr>
              <a:t>H1 : </a:t>
            </a:r>
            <a:r>
              <a:rPr lang="en-US" altLang="ko-KR" sz="1400" b="1" dirty="0" err="1">
                <a:latin typeface="arial" pitchFamily="34" charset="0"/>
                <a:ea typeface="맑은 고딕" pitchFamily="50" charset="-127"/>
              </a:rPr>
              <a:t>tỷ</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thuốc</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nam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ko-KR" altLang="en-US" sz="1400" b="1" dirty="0">
                <a:latin typeface="arial" pitchFamily="34" charset="0"/>
                <a:ea typeface="맑은 고딕" pitchFamily="50" charset="-127"/>
              </a:rPr>
              <a:t> ≠</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tỷ</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hút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thuốc</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nữ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endParaRPr lang="ko-KR" altLang="en-US" sz="1400" b="1" dirty="0">
              <a:latin typeface="arial" pitchFamily="34" charset="0"/>
              <a:ea typeface="맑은 고딕" pitchFamily="50" charset="-127"/>
            </a:endParaRPr>
          </a:p>
        </p:txBody>
      </p:sp>
      <p:sp>
        <p:nvSpPr>
          <p:cNvPr id="207884" name="TextBox 15"/>
          <p:cNvSpPr txBox="1">
            <a:spLocks noChangeArrowheads="1"/>
          </p:cNvSpPr>
          <p:nvPr/>
        </p:nvSpPr>
        <p:spPr bwMode="auto">
          <a:xfrm>
            <a:off x="3898005" y="5156539"/>
            <a:ext cx="2159000" cy="342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2 Proportion Test</a:t>
            </a:r>
            <a:endParaRPr lang="ko-KR" altLang="en-US" sz="1400" b="1" dirty="0">
              <a:latin typeface="arial" pitchFamily="34" charset="0"/>
              <a:ea typeface="맑은 고딕" pitchFamily="50" charset="-127"/>
            </a:endParaRPr>
          </a:p>
        </p:txBody>
      </p:sp>
      <p:sp>
        <p:nvSpPr>
          <p:cNvPr id="17" name="TextBox 16"/>
          <p:cNvSpPr txBox="1"/>
          <p:nvPr/>
        </p:nvSpPr>
        <p:spPr>
          <a:xfrm>
            <a:off x="631825" y="3933825"/>
            <a:ext cx="2082621" cy="812530"/>
          </a:xfrm>
          <a:prstGeom prst="rect">
            <a:avLst/>
          </a:prstGeom>
          <a:noFill/>
        </p:spPr>
        <p:txBody>
          <a:bodyPr wrap="none">
            <a:spAutoFit/>
          </a:bodyPr>
          <a:lstStyle/>
          <a:p>
            <a:pPr>
              <a:lnSpc>
                <a:spcPct val="130000"/>
              </a:lnSpc>
              <a:buClr>
                <a:srgbClr val="C5003D"/>
              </a:buClr>
              <a:defRPr/>
            </a:pPr>
            <a:r>
              <a:rPr lang="en-US" altLang="ko-KR" b="1" dirty="0" err="1">
                <a:solidFill>
                  <a:schemeClr val="tx2">
                    <a:lumMod val="60000"/>
                    <a:lumOff val="40000"/>
                  </a:schemeClr>
                </a:solidFill>
                <a:latin typeface="arial" pitchFamily="34" charset="0"/>
                <a:ea typeface="맑은 고딕" panose="020B0503020000020004" pitchFamily="50" charset="-127"/>
              </a:rPr>
              <a:t>Đàn</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ông</a:t>
            </a:r>
            <a:r>
              <a:rPr lang="en-US" altLang="ko-KR" b="1" dirty="0">
                <a:solidFill>
                  <a:schemeClr val="tx2">
                    <a:lumMod val="60000"/>
                    <a:lumOff val="40000"/>
                  </a:schemeClr>
                </a:solidFill>
                <a:latin typeface="arial" pitchFamily="34" charset="0"/>
                <a:ea typeface="맑은 고딕" panose="020B0503020000020004" pitchFamily="50" charset="-127"/>
              </a:rPr>
              <a:t>: 33 / 100</a:t>
            </a:r>
          </a:p>
          <a:p>
            <a:pPr>
              <a:lnSpc>
                <a:spcPct val="130000"/>
              </a:lnSpc>
              <a:buClr>
                <a:srgbClr val="C5003D"/>
              </a:buClr>
              <a:defRPr/>
            </a:pPr>
            <a:r>
              <a:rPr lang="en-US" altLang="ko-KR" b="1" dirty="0" err="1">
                <a:solidFill>
                  <a:schemeClr val="tx2">
                    <a:lumMod val="60000"/>
                    <a:lumOff val="40000"/>
                  </a:schemeClr>
                </a:solidFill>
                <a:latin typeface="arial" pitchFamily="34" charset="0"/>
                <a:ea typeface="맑은 고딕" panose="020B0503020000020004" pitchFamily="50" charset="-127"/>
              </a:rPr>
              <a:t>Phụ</a:t>
            </a:r>
            <a:r>
              <a:rPr lang="en-US" altLang="ko-KR" b="1" dirty="0">
                <a:solidFill>
                  <a:schemeClr val="tx2">
                    <a:lumMod val="60000"/>
                    <a:lumOff val="40000"/>
                  </a:schemeClr>
                </a:solidFill>
                <a:latin typeface="arial" pitchFamily="34" charset="0"/>
                <a:ea typeface="맑은 고딕" panose="020B0503020000020004" pitchFamily="50" charset="-127"/>
              </a:rPr>
              <a:t> </a:t>
            </a:r>
            <a:r>
              <a:rPr lang="en-US" altLang="ko-KR" b="1" dirty="0" err="1">
                <a:solidFill>
                  <a:schemeClr val="tx2">
                    <a:lumMod val="60000"/>
                    <a:lumOff val="40000"/>
                  </a:schemeClr>
                </a:solidFill>
                <a:latin typeface="arial" pitchFamily="34" charset="0"/>
                <a:ea typeface="맑은 고딕" panose="020B0503020000020004" pitchFamily="50" charset="-127"/>
              </a:rPr>
              <a:t>nữ</a:t>
            </a:r>
            <a:r>
              <a:rPr lang="en-US" altLang="ko-KR" b="1" dirty="0">
                <a:solidFill>
                  <a:schemeClr val="tx2">
                    <a:lumMod val="60000"/>
                    <a:lumOff val="40000"/>
                  </a:schemeClr>
                </a:solidFill>
                <a:latin typeface="arial" pitchFamily="34" charset="0"/>
                <a:ea typeface="맑은 고딕" panose="020B0503020000020004" pitchFamily="50" charset="-127"/>
              </a:rPr>
              <a:t>: 17 / 64</a:t>
            </a:r>
            <a:endParaRPr lang="ko-KR" altLang="en-US" b="1" dirty="0">
              <a:solidFill>
                <a:schemeClr val="tx2">
                  <a:lumMod val="60000"/>
                  <a:lumOff val="40000"/>
                </a:schemeClr>
              </a:solidFill>
              <a:latin typeface="arial" pitchFamily="34" charset="0"/>
              <a:ea typeface="맑은 고딕" panose="020B0503020000020004"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180</a:t>
            </a:fld>
            <a:endParaRPr lang="ko-KR" altLang="en-US" dirty="0"/>
          </a:p>
        </p:txBody>
      </p:sp>
      <p:sp>
        <p:nvSpPr>
          <p:cNvPr id="24"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5" name="TextBox 2"/>
          <p:cNvSpPr txBox="1">
            <a:spLocks noChangeArrowheads="1"/>
          </p:cNvSpPr>
          <p:nvPr/>
        </p:nvSpPr>
        <p:spPr bwMode="auto">
          <a:xfrm>
            <a:off x="3728864" y="3573016"/>
            <a:ext cx="363913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Thiết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lập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thuyết</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6" name="TextBox 14"/>
          <p:cNvSpPr txBox="1">
            <a:spLocks noChangeArrowheads="1"/>
          </p:cNvSpPr>
          <p:nvPr/>
        </p:nvSpPr>
        <p:spPr bwMode="auto">
          <a:xfrm>
            <a:off x="3728864" y="4869160"/>
            <a:ext cx="493115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buFont typeface="Wingdings" pitchFamily="2" charset="2"/>
              <a:buChar char="u"/>
            </a:pPr>
            <a:r>
              <a:rPr lang="en-US" altLang="ko-KR" sz="1400" b="1" dirty="0" err="1">
                <a:latin typeface="arial" pitchFamily="34" charset="0"/>
                <a:ea typeface="맑은 고딕" pitchFamily="50" charset="-127"/>
              </a:rPr>
              <a:t>Cần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sử</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dụng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phương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pháp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thống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kê</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nào</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7"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8" name="Picture 67"/>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114026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181</a:t>
            </a:fld>
            <a:endParaRPr lang="ko-KR" altLang="en-US" dirty="0"/>
          </a:p>
        </p:txBody>
      </p:sp>
      <p:pic>
        <p:nvPicPr>
          <p:cNvPr id="146434" name="Picture 2"/>
          <p:cNvPicPr>
            <a:picLocks noChangeAspect="1" noChangeArrowheads="1"/>
          </p:cNvPicPr>
          <p:nvPr/>
        </p:nvPicPr>
        <p:blipFill rotWithShape="1">
          <a:blip r:embed="rId3" cstate="print">
            <a:extLst>
              <a:ext uri="{28A0092B-C50C-407E-A947-70E740481C1C}">
                <a14:useLocalDpi xmlns:a14="http://schemas.microsoft.com/office/drawing/2010/main"/>
              </a:ext>
            </a:extLst>
          </a:blip>
          <a:srcRect/>
          <a:stretch/>
        </p:blipFill>
        <p:spPr bwMode="auto">
          <a:xfrm>
            <a:off x="344488" y="1700808"/>
            <a:ext cx="4193104" cy="4176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6435" name="Picture 3"/>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5169024" y="1988840"/>
            <a:ext cx="4333875" cy="3162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2"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3" name="Picture 67"/>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직사각형 43"/>
          <p:cNvSpPr>
            <a:spLocks noChangeArrowheads="1"/>
          </p:cNvSpPr>
          <p:nvPr/>
        </p:nvSpPr>
        <p:spPr bwMode="auto">
          <a:xfrm>
            <a:off x="3800872" y="908720"/>
            <a:ext cx="5832648"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buFont typeface="Arial" pitchFamily="34" charset="0"/>
              <a:buChar char="•"/>
            </a:pPr>
            <a:r>
              <a:rPr lang="ko-KR" altLang="en-US" sz="1100" dirty="0">
                <a:solidFill>
                  <a:srgbClr val="000000"/>
                </a:solidFill>
                <a:latin typeface="Arial" pitchFamily="34" charset="0"/>
                <a:ea typeface="돋움" pitchFamily="50" charset="-127"/>
                <a:cs typeface="Arial" pitchFamily="34" charset="0"/>
              </a:rPr>
              <a:t> </a:t>
            </a:r>
            <a:r>
              <a:rPr lang="en-US" altLang="ko-KR" sz="1100" dirty="0">
                <a:solidFill>
                  <a:srgbClr val="000000"/>
                </a:solidFill>
                <a:latin typeface="Arial" pitchFamily="34" charset="0"/>
                <a:ea typeface="돋움" pitchFamily="50" charset="-127"/>
                <a:cs typeface="Arial" pitchFamily="34" charset="0"/>
              </a:rPr>
              <a:t>So </a:t>
            </a:r>
            <a:r>
              <a:rPr lang="en-US" altLang="ko-KR" sz="1100" dirty="0" err="1">
                <a:solidFill>
                  <a:srgbClr val="000000"/>
                </a:solidFill>
                <a:latin typeface="Arial" pitchFamily="34" charset="0"/>
                <a:ea typeface="돋움" pitchFamily="50" charset="-127"/>
                <a:cs typeface="Arial" pitchFamily="34" charset="0"/>
              </a:rPr>
              <a:t>sánh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tỷ</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lệ</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giữa</a:t>
            </a:r>
            <a:r>
              <a:rPr lang="en-US" altLang="ko-KR" sz="1100" dirty="0">
                <a:solidFill>
                  <a:srgbClr val="000000"/>
                </a:solidFill>
                <a:latin typeface="Arial" pitchFamily="34" charset="0"/>
                <a:ea typeface="돋움" pitchFamily="50" charset="-127"/>
                <a:cs typeface="Arial" pitchFamily="34" charset="0"/>
              </a:rPr>
              <a:t> 2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nhằm</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xác</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định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xem</a:t>
            </a:r>
            <a:r>
              <a:rPr lang="en-US" altLang="ko-KR" sz="1100" dirty="0">
                <a:solidFill>
                  <a:srgbClr val="000000"/>
                </a:solidFill>
                <a:latin typeface="Arial" pitchFamily="34" charset="0"/>
                <a:ea typeface="돋움" pitchFamily="50" charset="-127"/>
                <a:cs typeface="Arial" pitchFamily="34" charset="0"/>
              </a:rPr>
              <a:t> 2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đó</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có</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tương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đồng</a:t>
            </a:r>
            <a:r>
              <a:rPr lang="en-US" altLang="ko-KR" sz="1100" dirty="0">
                <a:solidFill>
                  <a:srgbClr val="000000"/>
                </a:solidFill>
                <a:latin typeface="Arial" pitchFamily="34" charset="0"/>
                <a:ea typeface="돋움" pitchFamily="50" charset="-127"/>
                <a:cs typeface="Arial" pitchFamily="34" charset="0"/>
              </a:rPr>
              <a:t> hay </a:t>
            </a:r>
            <a:r>
              <a:rPr lang="en-US" altLang="ko-KR" sz="1100" dirty="0" err="1">
                <a:solidFill>
                  <a:srgbClr val="000000"/>
                </a:solidFill>
                <a:latin typeface="Arial" pitchFamily="34" charset="0"/>
                <a:ea typeface="돋움" pitchFamily="50" charset="-127"/>
                <a:cs typeface="Arial" pitchFamily="34" charset="0"/>
              </a:rPr>
              <a:t>khác</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nhau</a:t>
            </a:r>
            <a:endParaRPr lang="ko-KR" altLang="ko-KR" sz="1100" b="1" dirty="0">
              <a:latin typeface="Arial" pitchFamily="34" charset="0"/>
              <a:ea typeface="맑은 고딕" pitchFamily="50" charset="-127"/>
              <a:cs typeface="Arial" pitchFamily="34" charset="0"/>
            </a:endParaRPr>
          </a:p>
          <a:p>
            <a:pPr>
              <a:buFont typeface="Arial" pitchFamily="34" charset="0"/>
              <a:buChar char="•"/>
            </a:pPr>
            <a:r>
              <a:rPr lang="ko-KR" altLang="en-US"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Giả</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thuyết</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H0: p1 = p2</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 H1: p1 </a:t>
            </a:r>
            <a:r>
              <a:rPr lang="ko-KR" altLang="en-US" sz="1100" dirty="0">
                <a:latin typeface="Arial" pitchFamily="34" charset="0"/>
                <a:ea typeface="돋움" pitchFamily="50" charset="-127"/>
                <a:cs typeface="Arial" pitchFamily="34" charset="0"/>
              </a:rPr>
              <a:t>≠</a:t>
            </a:r>
            <a:r>
              <a:rPr lang="en-US" altLang="ko-KR" sz="1100" dirty="0">
                <a:latin typeface="Arial" pitchFamily="34" charset="0"/>
                <a:ea typeface="돋움" pitchFamily="50" charset="-127"/>
                <a:cs typeface="Arial" pitchFamily="34" charset="0"/>
              </a:rPr>
              <a:t> p2</a:t>
            </a:r>
            <a:endParaRPr lang="ko-KR" altLang="en-US" sz="1100" dirty="0">
              <a:latin typeface="Arial" pitchFamily="34" charset="0"/>
              <a:ea typeface="돋움" pitchFamily="50" charset="-127"/>
              <a:cs typeface="Arial" pitchFamily="34" charset="0"/>
            </a:endParaRPr>
          </a:p>
        </p:txBody>
      </p:sp>
      <p:sp>
        <p:nvSpPr>
          <p:cNvPr id="12" name="직사각형 46"/>
          <p:cNvSpPr/>
          <p:nvPr/>
        </p:nvSpPr>
        <p:spPr>
          <a:xfrm>
            <a:off x="3729038" y="908050"/>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endParaRPr lang="ko-KR" altLang="ko-KR" b="1" dirty="0">
              <a:latin typeface="arial" pitchFamily="34" charset="0"/>
            </a:endParaRPr>
          </a:p>
        </p:txBody>
      </p:sp>
      <p:sp>
        <p:nvSpPr>
          <p:cNvPr id="13" name="직사각형 12"/>
          <p:cNvSpPr/>
          <p:nvPr/>
        </p:nvSpPr>
        <p:spPr>
          <a:xfrm>
            <a:off x="273050" y="908050"/>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US" altLang="ko-KR" b="1" dirty="0">
                <a:latin typeface="arial" pitchFamily="34" charset="0"/>
              </a:rPr>
              <a:t>2 Proportion Test</a:t>
            </a:r>
            <a:endParaRPr lang="ko-KR" altLang="ko-KR" b="1" dirty="0">
              <a:latin typeface="arial" pitchFamily="34" charset="0"/>
            </a:endParaRPr>
          </a:p>
        </p:txBody>
      </p:sp>
    </p:spTree>
    <p:extLst>
      <p:ext uri="{BB962C8B-B14F-4D97-AF65-F5344CB8AC3E}">
        <p14:creationId xmlns:p14="http://schemas.microsoft.com/office/powerpoint/2010/main" val="2368580098"/>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182</a:t>
            </a:fld>
            <a:endParaRPr lang="ko-KR" altLang="en-US" dirty="0"/>
          </a:p>
        </p:txBody>
      </p:sp>
      <p:sp>
        <p:nvSpPr>
          <p:cNvPr id="16" name="TextBox 10"/>
          <p:cNvSpPr txBox="1">
            <a:spLocks noChangeArrowheads="1"/>
          </p:cNvSpPr>
          <p:nvPr/>
        </p:nvSpPr>
        <p:spPr bwMode="auto">
          <a:xfrm>
            <a:off x="776536" y="5445125"/>
            <a:ext cx="8712968" cy="93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a:latin typeface="arial" pitchFamily="34" charset="0"/>
                <a:ea typeface="맑은 고딕" pitchFamily="50" charset="-127"/>
              </a:rPr>
              <a:t>P-value </a:t>
            </a:r>
            <a:r>
              <a:rPr lang="en-US" altLang="ko-KR" sz="1400" b="1" dirty="0" err="1">
                <a:latin typeface="arial" pitchFamily="34" charset="0"/>
                <a:ea typeface="맑은 고딕" pitchFamily="50" charset="-127"/>
              </a:rPr>
              <a:t>lớn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mức</a:t>
            </a:r>
            <a:r>
              <a:rPr lang="en-US" altLang="ko-KR" sz="1400" b="1" dirty="0">
                <a:latin typeface="arial" pitchFamily="34" charset="0"/>
                <a:ea typeface="맑은 고딕" pitchFamily="50" charset="-127"/>
              </a:rPr>
              <a:t> ý </a:t>
            </a:r>
            <a:r>
              <a:rPr lang="en-US" altLang="ko-KR" sz="1400" b="1" dirty="0" err="1">
                <a:latin typeface="arial" pitchFamily="34" charset="0"/>
                <a:ea typeface="맑은 고딕" pitchFamily="50" charset="-127"/>
              </a:rPr>
              <a:t>nghĩa</a:t>
            </a:r>
            <a:r>
              <a:rPr lang="en-US" altLang="ko-KR" sz="1400" b="1" dirty="0">
                <a:latin typeface="arial" pitchFamily="34" charset="0"/>
                <a:ea typeface="맑은 고딕" pitchFamily="50" charset="-127"/>
              </a:rPr>
              <a:t> α = 0.05, do </a:t>
            </a:r>
            <a:r>
              <a:rPr lang="en-US" altLang="ko-KR" sz="1400" b="1" dirty="0" err="1">
                <a:latin typeface="arial" pitchFamily="34" charset="0"/>
                <a:ea typeface="맑은 고딕" pitchFamily="50" charset="-127"/>
              </a:rPr>
              <a:t>đó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bỏ</a:t>
            </a:r>
            <a:r>
              <a:rPr lang="en-US" altLang="ko-KR" sz="1400" b="1" dirty="0">
                <a:latin typeface="arial" pitchFamily="34" charset="0"/>
                <a:ea typeface="맑은 고딕" pitchFamily="50" charset="-127"/>
              </a:rPr>
              <a:t> H0 </a:t>
            </a:r>
          </a:p>
          <a:p>
            <a:pPr eaLnBrk="1" hangingPunct="1">
              <a:lnSpc>
                <a:spcPct val="130000"/>
              </a:lnSpc>
              <a:buClr>
                <a:srgbClr val="C5003D"/>
              </a:buClr>
            </a:pP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Không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thể</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khẳng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định</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có</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sự</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khác</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biệt</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giữa</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tỷ</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lệ</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hút</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thuốc</a:t>
            </a:r>
            <a:r>
              <a:rPr lang="en-US" altLang="ko-KR" sz="1400" b="1" dirty="0">
                <a:latin typeface="arial" pitchFamily="34" charset="0"/>
                <a:ea typeface="맑은 고딕" pitchFamily="50" charset="-127"/>
                <a:sym typeface="Wingdings" pitchFamily="2" charset="2"/>
              </a:rPr>
              <a:t> ở </a:t>
            </a:r>
            <a:r>
              <a:rPr lang="en-US" altLang="ko-KR" sz="1400" b="1" dirty="0" err="1">
                <a:latin typeface="arial" pitchFamily="34" charset="0"/>
                <a:ea typeface="맑은 고딕" pitchFamily="50" charset="-127"/>
                <a:sym typeface="Wingdings" pitchFamily="2" charset="2"/>
              </a:rPr>
              <a:t>nam</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giới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và</a:t>
            </a:r>
            <a:r>
              <a:rPr lang="en-US" altLang="ko-KR" sz="1400" b="1" dirty="0">
                <a:latin typeface="arial" pitchFamily="34" charset="0"/>
                <a:ea typeface="맑은 고딕" pitchFamily="50" charset="-127"/>
                <a:sym typeface="Wingdings" pitchFamily="2" charset="2"/>
              </a:rPr>
              <a:t> ở </a:t>
            </a:r>
            <a:r>
              <a:rPr lang="en-US" altLang="ko-KR" sz="1400" b="1" dirty="0" err="1">
                <a:latin typeface="arial" pitchFamily="34" charset="0"/>
                <a:ea typeface="맑은 고딕" pitchFamily="50" charset="-127"/>
                <a:sym typeface="Wingdings" pitchFamily="2" charset="2"/>
              </a:rPr>
              <a:t>nữ</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giới</a:t>
            </a:r>
            <a:r>
              <a:rPr lang="en-US" altLang="ko-KR" sz="1400" b="1" dirty="0">
                <a:latin typeface="arial" pitchFamily="34" charset="0"/>
                <a:ea typeface="맑은 고딕" pitchFamily="50" charset="-127"/>
                <a:sym typeface="Wingdings" pitchFamily="2" charset="2"/>
              </a:rPr>
              <a:t> (ở </a:t>
            </a:r>
            <a:r>
              <a:rPr lang="en-US" altLang="ko-KR" sz="1400" b="1" dirty="0" err="1">
                <a:latin typeface="arial" pitchFamily="34" charset="0"/>
                <a:ea typeface="맑은 고딕" pitchFamily="50" charset="-127"/>
                <a:sym typeface="Wingdings" pitchFamily="2" charset="2"/>
              </a:rPr>
              <a:t>độ</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tuổi</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trường</a:t>
            </a:r>
            <a:r>
              <a:rPr lang="en-US" altLang="ko-KR" sz="1400" b="1" dirty="0">
                <a:latin typeface="arial" pitchFamily="34" charset="0"/>
                <a:ea typeface="맑은 고딕" pitchFamily="50" charset="-127"/>
                <a:sym typeface="Wingdings" pitchFamily="2" charset="2"/>
              </a:rPr>
              <a:t> </a:t>
            </a:r>
            <a:r>
              <a:rPr lang="en-US" altLang="ko-KR" sz="1400" b="1" dirty="0" err="1">
                <a:latin typeface="arial" pitchFamily="34" charset="0"/>
                <a:ea typeface="맑은 고딕" pitchFamily="50" charset="-127"/>
                <a:sym typeface="Wingdings" pitchFamily="2" charset="2"/>
              </a:rPr>
              <a:t>thành</a:t>
            </a:r>
            <a:r>
              <a:rPr lang="en-US" altLang="ko-KR" sz="1400" b="1" dirty="0">
                <a:latin typeface="arial" pitchFamily="34" charset="0"/>
                <a:ea typeface="맑은 고딕" pitchFamily="50" charset="-127"/>
                <a:sym typeface="Wingdings" pitchFamily="2" charset="2"/>
              </a:rPr>
              <a:t>).</a:t>
            </a:r>
            <a:endParaRPr lang="ko-KR" altLang="en-US" sz="1400" b="1" dirty="0">
              <a:latin typeface="arial" pitchFamily="34" charset="0"/>
              <a:ea typeface="맑은 고딕" pitchFamily="50" charset="-127"/>
            </a:endParaRPr>
          </a:p>
        </p:txBody>
      </p:sp>
      <p:pic>
        <p:nvPicPr>
          <p:cNvPr id="147458" name="Picture 2"/>
          <p:cNvPicPr>
            <a:picLocks noChangeAspect="1" noChangeArrowheads="1"/>
          </p:cNvPicPr>
          <p:nvPr/>
        </p:nvPicPr>
        <p:blipFill rotWithShape="1">
          <a:blip r:embed="rId2" cstate="print">
            <a:extLst>
              <a:ext uri="{28A0092B-C50C-407E-A947-70E740481C1C}">
                <a14:useLocalDpi xmlns:a14="http://schemas.microsoft.com/office/drawing/2010/main"/>
              </a:ext>
            </a:extLst>
          </a:blip>
          <a:srcRect/>
          <a:stretch/>
        </p:blipFill>
        <p:spPr bwMode="auto">
          <a:xfrm>
            <a:off x="905690" y="1844824"/>
            <a:ext cx="6495581" cy="292747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Text Box 4"/>
          <p:cNvSpPr txBox="1">
            <a:spLocks noChangeArrowheads="1"/>
          </p:cNvSpPr>
          <p:nvPr/>
        </p:nvSpPr>
        <p:spPr bwMode="auto">
          <a:xfrm>
            <a:off x="128588" y="250825"/>
            <a:ext cx="5688012"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2000" b="1" dirty="0">
                <a:solidFill>
                  <a:srgbClr val="000000"/>
                </a:solidFill>
                <a:latin typeface="arial" pitchFamily="34" charset="0"/>
                <a:ea typeface="맑은 고딕" pitchFamily="50" charset="-127"/>
              </a:rPr>
              <a:t>5. </a:t>
            </a:r>
            <a:r>
              <a:rPr lang="en-US" altLang="ko-KR" sz="2000" b="1" dirty="0" err="1">
                <a:solidFill>
                  <a:srgbClr val="000000"/>
                </a:solidFill>
                <a:latin typeface="arial" pitchFamily="34" charset="0"/>
                <a:ea typeface="맑은 고딕" pitchFamily="50" charset="-127"/>
              </a:rPr>
              <a:t>Sử</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dụng</a:t>
            </a:r>
            <a:r>
              <a:rPr lang="en-US" altLang="ko-KR" sz="2000" b="1" dirty="0">
                <a:solidFill>
                  <a:srgbClr val="000000"/>
                </a:solidFill>
                <a:latin typeface="arial" pitchFamily="34" charset="0"/>
                <a:ea typeface="맑은 고딕" pitchFamily="50" charset="-127"/>
              </a:rPr>
              <a:t> Minitab </a:t>
            </a:r>
            <a:r>
              <a:rPr lang="en-US" altLang="ko-KR" sz="2000" b="1" dirty="0" err="1">
                <a:solidFill>
                  <a:srgbClr val="000000"/>
                </a:solidFill>
                <a:latin typeface="arial" pitchFamily="34" charset="0"/>
                <a:ea typeface="맑은 고딕" pitchFamily="50" charset="-127"/>
              </a:rPr>
              <a:t>để</a:t>
            </a:r>
            <a:r>
              <a:rPr lang="en-US" altLang="ko-KR" sz="2000" b="1" dirty="0">
                <a:solidFill>
                  <a:srgbClr val="000000"/>
                </a:solidFill>
                <a:latin typeface="arial" pitchFamily="34" charset="0"/>
                <a:ea typeface="맑은 고딕" pitchFamily="50" charset="-127"/>
              </a:rPr>
              <a:t> </a:t>
            </a:r>
            <a:r>
              <a:rPr lang="en-US" altLang="ko-KR" sz="2000" b="1" dirty="0" err="1">
                <a:solidFill>
                  <a:srgbClr val="000000"/>
                </a:solidFill>
                <a:latin typeface="arial" pitchFamily="34" charset="0"/>
                <a:ea typeface="맑은 고딕" pitchFamily="50" charset="-127"/>
              </a:rPr>
              <a:t>tính</a:t>
            </a:r>
            <a:r>
              <a:rPr lang="en-US" altLang="ko-KR" sz="2000" b="1" dirty="0">
                <a:solidFill>
                  <a:srgbClr val="000000"/>
                </a:solidFill>
                <a:latin typeface="arial" pitchFamily="34" charset="0"/>
                <a:ea typeface="맑은 고딕" pitchFamily="50" charset="-127"/>
              </a:rPr>
              <a:t> P-value</a:t>
            </a:r>
            <a:endParaRPr lang="ko-KR" altLang="en-US" sz="2000" b="1" dirty="0">
              <a:solidFill>
                <a:srgbClr val="000000"/>
              </a:solidFill>
              <a:latin typeface="arial" pitchFamily="34" charset="0"/>
              <a:ea typeface="맑은 고딕" pitchFamily="50" charset="-127"/>
            </a:endParaRPr>
          </a:p>
        </p:txBody>
      </p:sp>
      <p:sp>
        <p:nvSpPr>
          <p:cNvPr id="23" name="Text Box 4"/>
          <p:cNvSpPr txBox="1">
            <a:spLocks noChangeArrowheads="1"/>
          </p:cNvSpPr>
          <p:nvPr/>
        </p:nvSpPr>
        <p:spPr bwMode="auto">
          <a:xfrm>
            <a:off x="5529263" y="354013"/>
            <a:ext cx="4319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r>
              <a:rPr lang="en-US" altLang="ko-KR" sz="1600" b="1" dirty="0" err="1">
                <a:solidFill>
                  <a:srgbClr val="000000"/>
                </a:solidFill>
                <a:latin typeface="arial" pitchFamily="34" charset="0"/>
                <a:ea typeface="맑은 고딕" pitchFamily="50" charset="-127"/>
              </a:rPr>
              <a:t>Kiểm</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định</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giả</a:t>
            </a:r>
            <a:r>
              <a:rPr lang="en-US" altLang="ko-KR" sz="1600" b="1" dirty="0">
                <a:solidFill>
                  <a:srgbClr val="000000"/>
                </a:solidFill>
                <a:latin typeface="arial" pitchFamily="34" charset="0"/>
                <a:ea typeface="맑은 고딕" pitchFamily="50" charset="-127"/>
              </a:rPr>
              <a:t> </a:t>
            </a:r>
            <a:r>
              <a:rPr lang="en-US" altLang="ko-KR" sz="1600" b="1" dirty="0" err="1">
                <a:solidFill>
                  <a:srgbClr val="000000"/>
                </a:solidFill>
                <a:latin typeface="arial" pitchFamily="34" charset="0"/>
                <a:ea typeface="맑은 고딕" pitchFamily="50" charset="-127"/>
              </a:rPr>
              <a:t>thuyết</a:t>
            </a:r>
            <a:endParaRPr lang="ko-KR" altLang="en-US" sz="1600" b="1" dirty="0">
              <a:solidFill>
                <a:srgbClr val="000000"/>
              </a:solidFill>
              <a:latin typeface="arial" pitchFamily="34" charset="0"/>
              <a:ea typeface="맑은 고딕" pitchFamily="50" charset="-127"/>
            </a:endParaRPr>
          </a:p>
        </p:txBody>
      </p:sp>
      <p:pic>
        <p:nvPicPr>
          <p:cNvPr id="24" name="Picture 6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041232" y="40432"/>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직사각형 43"/>
          <p:cNvSpPr>
            <a:spLocks noChangeArrowheads="1"/>
          </p:cNvSpPr>
          <p:nvPr/>
        </p:nvSpPr>
        <p:spPr bwMode="auto">
          <a:xfrm>
            <a:off x="3764360" y="981398"/>
            <a:ext cx="5832648"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ko-KR"/>
            </a:defPPr>
            <a:lvl1pPr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buFont typeface="Arial" pitchFamily="34" charset="0"/>
              <a:buChar char="•"/>
            </a:pPr>
            <a:r>
              <a:rPr lang="ko-KR" altLang="en-US" sz="1100" dirty="0">
                <a:solidFill>
                  <a:srgbClr val="000000"/>
                </a:solidFill>
                <a:latin typeface="Arial" pitchFamily="34" charset="0"/>
                <a:ea typeface="돋움" pitchFamily="50" charset="-127"/>
                <a:cs typeface="Arial" pitchFamily="34" charset="0"/>
              </a:rPr>
              <a:t> </a:t>
            </a:r>
            <a:r>
              <a:rPr lang="en-US" altLang="ko-KR" sz="1100" dirty="0">
                <a:solidFill>
                  <a:srgbClr val="000000"/>
                </a:solidFill>
                <a:latin typeface="Arial" pitchFamily="34" charset="0"/>
                <a:ea typeface="돋움" pitchFamily="50" charset="-127"/>
                <a:cs typeface="Arial" pitchFamily="34" charset="0"/>
              </a:rPr>
              <a:t>So </a:t>
            </a:r>
            <a:r>
              <a:rPr lang="en-US" altLang="ko-KR" sz="1100" dirty="0" err="1">
                <a:solidFill>
                  <a:srgbClr val="000000"/>
                </a:solidFill>
                <a:latin typeface="Arial" pitchFamily="34" charset="0"/>
                <a:ea typeface="돋움" pitchFamily="50" charset="-127"/>
                <a:cs typeface="Arial" pitchFamily="34" charset="0"/>
              </a:rPr>
              <a:t>sánh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tỷ</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lệ</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giữa</a:t>
            </a:r>
            <a:r>
              <a:rPr lang="en-US" altLang="ko-KR" sz="1100" dirty="0">
                <a:solidFill>
                  <a:srgbClr val="000000"/>
                </a:solidFill>
                <a:latin typeface="Arial" pitchFamily="34" charset="0"/>
                <a:ea typeface="돋움" pitchFamily="50" charset="-127"/>
                <a:cs typeface="Arial" pitchFamily="34" charset="0"/>
              </a:rPr>
              <a:t> 2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nhằm</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xác</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định</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xem</a:t>
            </a:r>
            <a:r>
              <a:rPr lang="en-US" altLang="ko-KR" sz="1100" dirty="0">
                <a:solidFill>
                  <a:srgbClr val="000000"/>
                </a:solidFill>
                <a:latin typeface="Arial" pitchFamily="34" charset="0"/>
                <a:ea typeface="돋움" pitchFamily="50" charset="-127"/>
                <a:cs typeface="Arial" pitchFamily="34" charset="0"/>
              </a:rPr>
              <a:t> 2 </a:t>
            </a:r>
            <a:r>
              <a:rPr lang="en-US" altLang="ko-KR" sz="1100" dirty="0" err="1">
                <a:solidFill>
                  <a:srgbClr val="000000"/>
                </a:solidFill>
                <a:latin typeface="Arial" pitchFamily="34" charset="0"/>
                <a:ea typeface="돋움" pitchFamily="50" charset="-127"/>
                <a:cs typeface="Arial" pitchFamily="34" charset="0"/>
              </a:rPr>
              <a:t>tổng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thể</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đó</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có</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tương</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đồng</a:t>
            </a:r>
            <a:r>
              <a:rPr lang="en-US" altLang="ko-KR" sz="1100" dirty="0">
                <a:solidFill>
                  <a:srgbClr val="000000"/>
                </a:solidFill>
                <a:latin typeface="Arial" pitchFamily="34" charset="0"/>
                <a:ea typeface="돋움" pitchFamily="50" charset="-127"/>
                <a:cs typeface="Arial" pitchFamily="34" charset="0"/>
              </a:rPr>
              <a:t> hay </a:t>
            </a:r>
            <a:r>
              <a:rPr lang="en-US" altLang="ko-KR" sz="1100" dirty="0" err="1">
                <a:solidFill>
                  <a:srgbClr val="000000"/>
                </a:solidFill>
                <a:latin typeface="Arial" pitchFamily="34" charset="0"/>
                <a:ea typeface="돋움" pitchFamily="50" charset="-127"/>
                <a:cs typeface="Arial" pitchFamily="34" charset="0"/>
              </a:rPr>
              <a:t>khác</a:t>
            </a:r>
            <a:r>
              <a:rPr lang="en-US" altLang="ko-KR" sz="1100" dirty="0">
                <a:solidFill>
                  <a:srgbClr val="000000"/>
                </a:solidFill>
                <a:latin typeface="Arial" pitchFamily="34" charset="0"/>
                <a:ea typeface="돋움" pitchFamily="50" charset="-127"/>
                <a:cs typeface="Arial" pitchFamily="34" charset="0"/>
              </a:rPr>
              <a:t> </a:t>
            </a:r>
            <a:r>
              <a:rPr lang="en-US" altLang="ko-KR" sz="1100" dirty="0" err="1">
                <a:solidFill>
                  <a:srgbClr val="000000"/>
                </a:solidFill>
                <a:latin typeface="Arial" pitchFamily="34" charset="0"/>
                <a:ea typeface="돋움" pitchFamily="50" charset="-127"/>
                <a:cs typeface="Arial" pitchFamily="34" charset="0"/>
              </a:rPr>
              <a:t>nhau</a:t>
            </a:r>
            <a:endParaRPr lang="ko-KR" altLang="ko-KR" sz="1100" b="1" dirty="0">
              <a:latin typeface="Arial" pitchFamily="34" charset="0"/>
              <a:ea typeface="맑은 고딕" pitchFamily="50" charset="-127"/>
              <a:cs typeface="Arial" pitchFamily="34" charset="0"/>
            </a:endParaRPr>
          </a:p>
          <a:p>
            <a:pPr>
              <a:buFont typeface="Arial" pitchFamily="34" charset="0"/>
              <a:buChar char="•"/>
            </a:pPr>
            <a:r>
              <a:rPr lang="ko-KR" altLang="en-US"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Giả</a:t>
            </a:r>
            <a:r>
              <a:rPr lang="en-US" altLang="ko-KR" sz="1100" dirty="0">
                <a:latin typeface="Arial" pitchFamily="34" charset="0"/>
                <a:ea typeface="돋움" pitchFamily="50" charset="-127"/>
                <a:cs typeface="Arial" pitchFamily="34" charset="0"/>
              </a:rPr>
              <a:t> </a:t>
            </a:r>
            <a:r>
              <a:rPr lang="en-US" altLang="ko-KR" sz="1100" dirty="0" err="1">
                <a:latin typeface="Arial" pitchFamily="34" charset="0"/>
                <a:ea typeface="돋움" pitchFamily="50" charset="-127"/>
                <a:cs typeface="Arial" pitchFamily="34" charset="0"/>
              </a:rPr>
              <a:t>thuyết</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H0: p1 = p2</a:t>
            </a:r>
            <a:r>
              <a:rPr lang="ko-KR" altLang="en-US" sz="1100" dirty="0">
                <a:latin typeface="Arial" pitchFamily="34" charset="0"/>
                <a:ea typeface="돋움" pitchFamily="50" charset="-127"/>
                <a:cs typeface="Arial" pitchFamily="34" charset="0"/>
              </a:rPr>
              <a:t> </a:t>
            </a:r>
            <a:r>
              <a:rPr lang="en-US" altLang="ko-KR" sz="1100" dirty="0">
                <a:latin typeface="Arial" pitchFamily="34" charset="0"/>
                <a:ea typeface="돋움" pitchFamily="50" charset="-127"/>
                <a:cs typeface="Arial" pitchFamily="34" charset="0"/>
              </a:rPr>
              <a:t>/ H1: p1 </a:t>
            </a:r>
            <a:r>
              <a:rPr lang="ko-KR" altLang="en-US" sz="1100" dirty="0">
                <a:latin typeface="Arial" pitchFamily="34" charset="0"/>
                <a:ea typeface="돋움" pitchFamily="50" charset="-127"/>
                <a:cs typeface="Arial" pitchFamily="34" charset="0"/>
              </a:rPr>
              <a:t>≠</a:t>
            </a:r>
            <a:r>
              <a:rPr lang="en-US" altLang="ko-KR" sz="1100" dirty="0">
                <a:latin typeface="Arial" pitchFamily="34" charset="0"/>
                <a:ea typeface="돋움" pitchFamily="50" charset="-127"/>
                <a:cs typeface="Arial" pitchFamily="34" charset="0"/>
              </a:rPr>
              <a:t> p2</a:t>
            </a:r>
            <a:endParaRPr lang="ko-KR" altLang="en-US" sz="1100" dirty="0">
              <a:latin typeface="Arial" pitchFamily="34" charset="0"/>
              <a:ea typeface="돋움" pitchFamily="50" charset="-127"/>
              <a:cs typeface="Arial" pitchFamily="34" charset="0"/>
            </a:endParaRPr>
          </a:p>
        </p:txBody>
      </p:sp>
      <p:sp>
        <p:nvSpPr>
          <p:cNvPr id="25" name="직사각형 46"/>
          <p:cNvSpPr/>
          <p:nvPr/>
        </p:nvSpPr>
        <p:spPr>
          <a:xfrm>
            <a:off x="3692526" y="980728"/>
            <a:ext cx="5976937" cy="57626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spcBef>
                <a:spcPct val="50000"/>
              </a:spcBef>
              <a:defRPr/>
            </a:pPr>
            <a:endParaRPr lang="ko-KR" altLang="ko-KR" b="1" dirty="0">
              <a:latin typeface="arial" pitchFamily="34" charset="0"/>
            </a:endParaRPr>
          </a:p>
        </p:txBody>
      </p:sp>
      <p:sp>
        <p:nvSpPr>
          <p:cNvPr id="26" name="직사각형 12"/>
          <p:cNvSpPr/>
          <p:nvPr/>
        </p:nvSpPr>
        <p:spPr>
          <a:xfrm>
            <a:off x="236538" y="980728"/>
            <a:ext cx="3455988" cy="576263"/>
          </a:xfrm>
          <a:prstGeom prst="rect">
            <a:avLst/>
          </a:prstGeom>
          <a:solidFill>
            <a:schemeClr val="bg2">
              <a:lumMod val="5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algn="l" rtl="0" fontAlgn="base" latinLnBrk="1">
              <a:spcBef>
                <a:spcPct val="0"/>
              </a:spcBef>
              <a:spcAft>
                <a:spcPct val="0"/>
              </a:spcAft>
              <a:defRPr kumimoji="1" kern="1200">
                <a:solidFill>
                  <a:schemeClr val="lt1"/>
                </a:solidFill>
                <a:latin typeface="+mn-lt"/>
                <a:ea typeface="+mn-ea"/>
                <a:cs typeface="+mn-cs"/>
              </a:defRPr>
            </a:lvl1pPr>
            <a:lvl2pPr marL="457200" algn="l" rtl="0" fontAlgn="base" latinLnBrk="1">
              <a:spcBef>
                <a:spcPct val="0"/>
              </a:spcBef>
              <a:spcAft>
                <a:spcPct val="0"/>
              </a:spcAft>
              <a:defRPr kumimoji="1" kern="1200">
                <a:solidFill>
                  <a:schemeClr val="lt1"/>
                </a:solidFill>
                <a:latin typeface="+mn-lt"/>
                <a:ea typeface="+mn-ea"/>
                <a:cs typeface="+mn-cs"/>
              </a:defRPr>
            </a:lvl2pPr>
            <a:lvl3pPr marL="914400" algn="l" rtl="0" fontAlgn="base" latinLnBrk="1">
              <a:spcBef>
                <a:spcPct val="0"/>
              </a:spcBef>
              <a:spcAft>
                <a:spcPct val="0"/>
              </a:spcAft>
              <a:defRPr kumimoji="1" kern="1200">
                <a:solidFill>
                  <a:schemeClr val="lt1"/>
                </a:solidFill>
                <a:latin typeface="+mn-lt"/>
                <a:ea typeface="+mn-ea"/>
                <a:cs typeface="+mn-cs"/>
              </a:defRPr>
            </a:lvl3pPr>
            <a:lvl4pPr marL="1371600" algn="l" rtl="0" fontAlgn="base" latinLnBrk="1">
              <a:spcBef>
                <a:spcPct val="0"/>
              </a:spcBef>
              <a:spcAft>
                <a:spcPct val="0"/>
              </a:spcAft>
              <a:defRPr kumimoji="1" kern="1200">
                <a:solidFill>
                  <a:schemeClr val="lt1"/>
                </a:solidFill>
                <a:latin typeface="+mn-lt"/>
                <a:ea typeface="+mn-ea"/>
                <a:cs typeface="+mn-cs"/>
              </a:defRPr>
            </a:lvl4pPr>
            <a:lvl5pPr marL="1828800" algn="l" rtl="0" fontAlgn="base" latinLnBrk="1">
              <a:spcBef>
                <a:spcPct val="0"/>
              </a:spcBef>
              <a:spcAft>
                <a:spcPct val="0"/>
              </a:spcAft>
              <a:defRPr kumimoji="1" kern="1200">
                <a:solidFill>
                  <a:schemeClr val="lt1"/>
                </a:solidFill>
                <a:latin typeface="+mn-lt"/>
                <a:ea typeface="+mn-ea"/>
                <a:cs typeface="+mn-cs"/>
              </a:defRPr>
            </a:lvl5pPr>
            <a:lvl6pPr marL="2286000" algn="l" defTabSz="914400" rtl="0" eaLnBrk="1" latinLnBrk="1" hangingPunct="1">
              <a:defRPr kumimoji="1" kern="1200">
                <a:solidFill>
                  <a:schemeClr val="lt1"/>
                </a:solidFill>
                <a:latin typeface="+mn-lt"/>
                <a:ea typeface="+mn-ea"/>
                <a:cs typeface="+mn-cs"/>
              </a:defRPr>
            </a:lvl6pPr>
            <a:lvl7pPr marL="2743200" algn="l" defTabSz="914400" rtl="0" eaLnBrk="1" latinLnBrk="1" hangingPunct="1">
              <a:defRPr kumimoji="1" kern="1200">
                <a:solidFill>
                  <a:schemeClr val="lt1"/>
                </a:solidFill>
                <a:latin typeface="+mn-lt"/>
                <a:ea typeface="+mn-ea"/>
                <a:cs typeface="+mn-cs"/>
              </a:defRPr>
            </a:lvl7pPr>
            <a:lvl8pPr marL="3200400" algn="l" defTabSz="914400" rtl="0" eaLnBrk="1" latinLnBrk="1" hangingPunct="1">
              <a:defRPr kumimoji="1" kern="1200">
                <a:solidFill>
                  <a:schemeClr val="lt1"/>
                </a:solidFill>
                <a:latin typeface="+mn-lt"/>
                <a:ea typeface="+mn-ea"/>
                <a:cs typeface="+mn-cs"/>
              </a:defRPr>
            </a:lvl8pPr>
            <a:lvl9pPr marL="3657600" algn="l" defTabSz="914400" rtl="0" eaLnBrk="1" latinLnBrk="1" hangingPunct="1">
              <a:defRPr kumimoji="1" kern="1200">
                <a:solidFill>
                  <a:schemeClr val="lt1"/>
                </a:solidFill>
                <a:latin typeface="+mn-lt"/>
                <a:ea typeface="+mn-ea"/>
                <a:cs typeface="+mn-cs"/>
              </a:defRPr>
            </a:lvl9pPr>
          </a:lstStyle>
          <a:p>
            <a:pPr algn="ctr">
              <a:spcBef>
                <a:spcPct val="50000"/>
              </a:spcBef>
              <a:defRPr/>
            </a:pPr>
            <a:r>
              <a:rPr lang="en-US" altLang="ko-KR" b="1" dirty="0">
                <a:latin typeface="arial" pitchFamily="34" charset="0"/>
              </a:rPr>
              <a:t>2 Proportion Test</a:t>
            </a:r>
            <a:endParaRPr lang="ko-KR" altLang="ko-KR" b="1" dirty="0">
              <a:latin typeface="arial" pitchFamily="34" charset="0"/>
            </a:endParaRPr>
          </a:p>
        </p:txBody>
      </p:sp>
    </p:spTree>
    <p:extLst>
      <p:ext uri="{BB962C8B-B14F-4D97-AF65-F5344CB8AC3E}">
        <p14:creationId xmlns:p14="http://schemas.microsoft.com/office/powerpoint/2010/main" val="2970180238"/>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제목 5"/>
          <p:cNvSpPr txBox="1">
            <a:spLocks/>
          </p:cNvSpPr>
          <p:nvPr/>
        </p:nvSpPr>
        <p:spPr bwMode="auto">
          <a:xfrm>
            <a:off x="488504" y="980728"/>
            <a:ext cx="9000999"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ash"/>
                <a:miter lim="800000"/>
                <a:headEnd/>
                <a:tailEnd/>
              </a14:hiddenLine>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3600" b="1" dirty="0">
                <a:solidFill>
                  <a:srgbClr val="C5003D"/>
                </a:solidFill>
                <a:latin typeface="Arial" pitchFamily="34" charset="0"/>
                <a:ea typeface="맑은 고딕" pitchFamily="50" charset="-127"/>
                <a:cs typeface="Arial" pitchFamily="34" charset="0"/>
              </a:rPr>
              <a:t>M5. </a:t>
            </a:r>
            <a:r>
              <a:rPr lang="en-US" altLang="ko-KR" sz="3600" b="1" dirty="0" err="1">
                <a:solidFill>
                  <a:srgbClr val="C5003D"/>
                </a:solidFill>
                <a:latin typeface="Arial" pitchFamily="34" charset="0"/>
                <a:ea typeface="맑은 고딕" pitchFamily="50" charset="-127"/>
                <a:cs typeface="Arial" pitchFamily="34" charset="0"/>
              </a:rPr>
              <a:t>Kiểm</a:t>
            </a:r>
            <a:r>
              <a:rPr lang="en-US" altLang="ko-KR" sz="3600" b="1" dirty="0">
                <a:solidFill>
                  <a:srgbClr val="C5003D"/>
                </a:solidFill>
                <a:latin typeface="Arial" pitchFamily="34" charset="0"/>
                <a:ea typeface="맑은 고딕" pitchFamily="50" charset="-127"/>
                <a:cs typeface="Arial" pitchFamily="34" charset="0"/>
              </a:rPr>
              <a:t> </a:t>
            </a:r>
            <a:r>
              <a:rPr lang="en-US" altLang="ko-KR" sz="3600" b="1" dirty="0" err="1">
                <a:solidFill>
                  <a:srgbClr val="C5003D"/>
                </a:solidFill>
                <a:latin typeface="Arial" pitchFamily="34" charset="0"/>
                <a:ea typeface="맑은 고딕" pitchFamily="50" charset="-127"/>
                <a:cs typeface="Arial" pitchFamily="34" charset="0"/>
              </a:rPr>
              <a:t>định</a:t>
            </a:r>
            <a:r>
              <a:rPr lang="en-US" altLang="ko-KR" sz="3600" b="1" dirty="0">
                <a:solidFill>
                  <a:srgbClr val="C5003D"/>
                </a:solidFill>
                <a:latin typeface="Arial" pitchFamily="34" charset="0"/>
                <a:ea typeface="맑은 고딕" pitchFamily="50" charset="-127"/>
                <a:cs typeface="Arial" pitchFamily="34" charset="0"/>
              </a:rPr>
              <a:t> </a:t>
            </a:r>
            <a:r>
              <a:rPr lang="en-US" altLang="ko-KR" sz="3600" b="1" dirty="0" err="1">
                <a:solidFill>
                  <a:srgbClr val="C5003D"/>
                </a:solidFill>
                <a:latin typeface="Arial" pitchFamily="34" charset="0"/>
                <a:ea typeface="맑은 고딕" pitchFamily="50" charset="-127"/>
                <a:cs typeface="Arial" pitchFamily="34" charset="0"/>
              </a:rPr>
              <a:t>hệ</a:t>
            </a:r>
            <a:r>
              <a:rPr lang="en-US" altLang="ko-KR" sz="3600" b="1" dirty="0">
                <a:solidFill>
                  <a:srgbClr val="C5003D"/>
                </a:solidFill>
                <a:latin typeface="Arial" pitchFamily="34" charset="0"/>
                <a:ea typeface="맑은 고딕" pitchFamily="50" charset="-127"/>
                <a:cs typeface="Arial" pitchFamily="34" charset="0"/>
              </a:rPr>
              <a:t> </a:t>
            </a:r>
            <a:r>
              <a:rPr lang="en-US" altLang="ko-KR" sz="3600" b="1" dirty="0" err="1">
                <a:solidFill>
                  <a:srgbClr val="C5003D"/>
                </a:solidFill>
                <a:latin typeface="Arial" pitchFamily="34" charset="0"/>
                <a:ea typeface="맑은 고딕" pitchFamily="50" charset="-127"/>
                <a:cs typeface="Arial" pitchFamily="34" charset="0"/>
              </a:rPr>
              <a:t>thống</a:t>
            </a:r>
            <a:r>
              <a:rPr lang="en-US" altLang="ko-KR" sz="3600" b="1" dirty="0">
                <a:solidFill>
                  <a:srgbClr val="C5003D"/>
                </a:solidFill>
                <a:latin typeface="Arial" pitchFamily="34" charset="0"/>
                <a:ea typeface="맑은 고딕" pitchFamily="50" charset="-127"/>
                <a:cs typeface="Arial" pitchFamily="34" charset="0"/>
              </a:rPr>
              <a:t> </a:t>
            </a:r>
            <a:r>
              <a:rPr lang="en-US" altLang="ko-KR" sz="3600" b="1" err="1">
                <a:solidFill>
                  <a:srgbClr val="C5003D"/>
                </a:solidFill>
                <a:latin typeface="Arial" pitchFamily="34" charset="0"/>
                <a:ea typeface="맑은 고딕" pitchFamily="50" charset="-127"/>
                <a:cs typeface="Arial" pitchFamily="34" charset="0"/>
              </a:rPr>
              <a:t>đo</a:t>
            </a:r>
            <a:r>
              <a:rPr lang="en-US" altLang="ko-KR" sz="3600" b="1">
                <a:solidFill>
                  <a:srgbClr val="C5003D"/>
                </a:solidFill>
                <a:latin typeface="Arial" pitchFamily="34" charset="0"/>
                <a:ea typeface="맑은 고딕" pitchFamily="50" charset="-127"/>
                <a:cs typeface="Arial" pitchFamily="34" charset="0"/>
              </a:rPr>
              <a:t> lường</a:t>
            </a:r>
            <a:endParaRPr lang="ko-KR" altLang="en-US" sz="3600" b="1" dirty="0">
              <a:solidFill>
                <a:srgbClr val="C5003D"/>
              </a:solidFill>
              <a:latin typeface="Arial" pitchFamily="34" charset="0"/>
              <a:ea typeface="맑은 고딕" pitchFamily="50" charset="-127"/>
              <a:cs typeface="Arial" pitchFamily="34" charset="0"/>
            </a:endParaRPr>
          </a:p>
        </p:txBody>
      </p:sp>
      <p:sp>
        <p:nvSpPr>
          <p:cNvPr id="19" name="직사각형 18"/>
          <p:cNvSpPr/>
          <p:nvPr/>
        </p:nvSpPr>
        <p:spPr>
          <a:xfrm>
            <a:off x="2429830" y="3984422"/>
            <a:ext cx="4968553" cy="2041585"/>
          </a:xfrm>
          <a:prstGeom prst="rect">
            <a:avLst/>
          </a:prstGeom>
        </p:spPr>
        <p:txBody>
          <a:bodyPr wrap="square">
            <a:spAutoFit/>
          </a:bodyPr>
          <a:lstStyle/>
          <a:p>
            <a:pPr marL="342900" indent="-342900" fontAlgn="auto" latinLnBrk="0">
              <a:lnSpc>
                <a:spcPct val="150000"/>
              </a:lnSpc>
              <a:spcBef>
                <a:spcPts val="200"/>
              </a:spcBef>
              <a:spcAft>
                <a:spcPts val="0"/>
              </a:spcAft>
              <a:buFontTx/>
              <a:buAutoNum type="arabicParenBoth"/>
              <a:defRPr/>
            </a:pP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Giới</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thiệu</a:t>
            </a:r>
            <a:endPar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endParaRPr>
          </a:p>
          <a:p>
            <a:pPr marL="342900" indent="-342900" fontAlgn="auto" latinLnBrk="0">
              <a:lnSpc>
                <a:spcPct val="150000"/>
              </a:lnSpc>
              <a:spcBef>
                <a:spcPts val="200"/>
              </a:spcBef>
              <a:spcAft>
                <a:spcPts val="0"/>
              </a:spcAft>
              <a:buFontTx/>
              <a:buAutoNum type="arabicParenBoth"/>
              <a:defRPr/>
            </a:pP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Khái</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niệm</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Thuật</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ngữ</a:t>
            </a:r>
            <a:endPar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endParaRPr>
          </a:p>
          <a:p>
            <a:pPr marL="342900" indent="-342900" fontAlgn="auto" latinLnBrk="0">
              <a:lnSpc>
                <a:spcPct val="150000"/>
              </a:lnSpc>
              <a:spcBef>
                <a:spcPts val="200"/>
              </a:spcBef>
              <a:spcAft>
                <a:spcPts val="0"/>
              </a:spcAft>
              <a:buFontTx/>
              <a:buAutoNum type="arabicParenBoth"/>
              <a:defRPr/>
            </a:pP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Phương</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pháp</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kiểm</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định</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trình</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bày</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kết</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quả</a:t>
            </a:r>
            <a:endPar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endParaRPr>
          </a:p>
          <a:p>
            <a:pPr marL="342900" indent="-342900" fontAlgn="auto" latinLnBrk="0">
              <a:lnSpc>
                <a:spcPct val="150000"/>
              </a:lnSpc>
              <a:spcBef>
                <a:spcPts val="200"/>
              </a:spcBef>
              <a:spcAft>
                <a:spcPts val="0"/>
              </a:spcAft>
              <a:buFontTx/>
              <a:buAutoNum type="arabicParenBoth"/>
              <a:defRPr/>
            </a:pP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hành</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Gage R&amp;R </a:t>
            </a:r>
          </a:p>
          <a:p>
            <a:pPr marL="342900" indent="-342900" fontAlgn="auto" latinLnBrk="0">
              <a:lnSpc>
                <a:spcPct val="150000"/>
              </a:lnSpc>
              <a:spcBef>
                <a:spcPts val="200"/>
              </a:spcBef>
              <a:spcAft>
                <a:spcPts val="0"/>
              </a:spcAft>
              <a:buFontTx/>
              <a:buAutoNum type="arabicParenBoth"/>
              <a:defRPr/>
            </a:pP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Tổng</a:t>
            </a:r>
            <a:r>
              <a:rPr kumimoji="0" lang="en-US" altLang="ko-KR" sz="16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1600" b="1" kern="0" dirty="0" err="1">
                <a:solidFill>
                  <a:sysClr val="windowText" lastClr="000000">
                    <a:lumMod val="75000"/>
                    <a:lumOff val="25000"/>
                  </a:sysClr>
                </a:solidFill>
                <a:latin typeface="Arial" pitchFamily="34" charset="0"/>
                <a:ea typeface="맑은 고딕" pitchFamily="50" charset="-127"/>
                <a:cs typeface="Arial" pitchFamily="34" charset="0"/>
              </a:rPr>
              <a:t>kết</a:t>
            </a:r>
            <a:endParaRPr kumimoji="0" lang="ko-KR" altLang="en-US" sz="1600" b="1" kern="0" dirty="0">
              <a:solidFill>
                <a:schemeClr val="bg1">
                  <a:lumMod val="75000"/>
                </a:schemeClr>
              </a:solidFill>
              <a:latin typeface="Arial" pitchFamily="34" charset="0"/>
              <a:ea typeface="맑은 고딕"/>
              <a:cs typeface="Arial" pitchFamily="34" charset="0"/>
            </a:endParaRPr>
          </a:p>
        </p:txBody>
      </p:sp>
      <p:cxnSp>
        <p:nvCxnSpPr>
          <p:cNvPr id="5124" name="직선 연결선 19"/>
          <p:cNvCxnSpPr>
            <a:cxnSpLocks noChangeShapeType="1"/>
          </p:cNvCxnSpPr>
          <p:nvPr/>
        </p:nvCxnSpPr>
        <p:spPr bwMode="auto">
          <a:xfrm>
            <a:off x="2300288" y="3628678"/>
            <a:ext cx="5227637" cy="0"/>
          </a:xfrm>
          <a:prstGeom prst="line">
            <a:avLst/>
          </a:prstGeom>
          <a:noFill/>
          <a:ln w="57150" algn="ctr">
            <a:solidFill>
              <a:srgbClr val="7F7F7F"/>
            </a:solidFill>
            <a:round/>
            <a:headEnd/>
            <a:tailEnd/>
          </a:ln>
          <a:extLst>
            <a:ext uri="{909E8E84-426E-40DD-AFC4-6F175D3DCCD1}">
              <a14:hiddenFill xmlns:a14="http://schemas.microsoft.com/office/drawing/2010/main">
                <a:noFill/>
              </a14:hiddenFill>
            </a:ext>
          </a:extLst>
        </p:spPr>
      </p:cxnSp>
      <p:cxnSp>
        <p:nvCxnSpPr>
          <p:cNvPr id="5125" name="직선 연결선 20"/>
          <p:cNvCxnSpPr>
            <a:cxnSpLocks noChangeShapeType="1"/>
          </p:cNvCxnSpPr>
          <p:nvPr/>
        </p:nvCxnSpPr>
        <p:spPr bwMode="auto">
          <a:xfrm>
            <a:off x="2300288" y="6308725"/>
            <a:ext cx="5227637"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5126" name="직선 연결선 21"/>
          <p:cNvCxnSpPr>
            <a:cxnSpLocks noChangeShapeType="1"/>
          </p:cNvCxnSpPr>
          <p:nvPr/>
        </p:nvCxnSpPr>
        <p:spPr bwMode="auto">
          <a:xfrm>
            <a:off x="2300288" y="3701703"/>
            <a:ext cx="5227637"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pic>
        <p:nvPicPr>
          <p:cNvPr id="5127"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028700" y="2195166"/>
            <a:ext cx="735013"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모서리가 둥근 직사각형 23"/>
          <p:cNvSpPr/>
          <p:nvPr/>
        </p:nvSpPr>
        <p:spPr>
          <a:xfrm>
            <a:off x="793750" y="1937991"/>
            <a:ext cx="8372475" cy="1526282"/>
          </a:xfrm>
          <a:prstGeom prst="roundRect">
            <a:avLst>
              <a:gd name="adj" fmla="val 8852"/>
            </a:avLst>
          </a:prstGeom>
          <a:noFill/>
          <a:ln w="25400" cap="flat" cmpd="sng" algn="ctr">
            <a:solidFill>
              <a:sysClr val="window" lastClr="FFFFFF">
                <a:lumMod val="50000"/>
              </a:sysClr>
            </a:solidFill>
            <a:prstDash val="sysDash"/>
          </a:ln>
          <a:effectLst/>
        </p:spPr>
        <p:txBody>
          <a:bodyPr anchor="ctr"/>
          <a:lstStyle/>
          <a:p>
            <a:pPr algn="ctr" fontAlgn="auto" latinLnBrk="0">
              <a:spcBef>
                <a:spcPts val="0"/>
              </a:spcBef>
              <a:spcAft>
                <a:spcPts val="0"/>
              </a:spcAft>
              <a:defRPr/>
            </a:pPr>
            <a:endParaRPr kumimoji="0" lang="ko-KR" altLang="en-US" kern="0" dirty="0">
              <a:solidFill>
                <a:sysClr val="window" lastClr="FFFFFF"/>
              </a:solidFill>
              <a:latin typeface="Arial" pitchFamily="34" charset="0"/>
              <a:ea typeface="맑은 고딕"/>
              <a:cs typeface="Arial" pitchFamily="34" charset="0"/>
            </a:endParaRPr>
          </a:p>
        </p:txBody>
      </p:sp>
      <p:sp>
        <p:nvSpPr>
          <p:cNvPr id="25" name="TextBox 24"/>
          <p:cNvSpPr txBox="1"/>
          <p:nvPr/>
        </p:nvSpPr>
        <p:spPr>
          <a:xfrm>
            <a:off x="1806575" y="2170218"/>
            <a:ext cx="7218363" cy="1061829"/>
          </a:xfrm>
          <a:prstGeom prst="rect">
            <a:avLst/>
          </a:prstGeom>
          <a:noFill/>
        </p:spPr>
        <p:txBody>
          <a:bodyPr>
            <a:spAutoFit/>
          </a:bodyPr>
          <a:lstStyle/>
          <a:p>
            <a:pPr marL="266700" indent="-266700" fontAlgn="auto" latinLnBrk="0">
              <a:lnSpc>
                <a:spcPct val="150000"/>
              </a:lnSpc>
              <a:spcBef>
                <a:spcPts val="0"/>
              </a:spcBef>
              <a:spcAft>
                <a:spcPts val="0"/>
              </a:spcAft>
              <a:buClr>
                <a:sysClr val="window" lastClr="FFFFFF">
                  <a:lumMod val="50000"/>
                </a:sysClr>
              </a:buClr>
              <a:buFont typeface="Wingdings" pitchFamily="2" charset="2"/>
              <a:buChar char="u"/>
              <a:defRPr/>
            </a:pPr>
            <a:r>
              <a:rPr kumimoji="0" lang="en-US" altLang="ko-KR" sz="1400" b="1" kern="0" dirty="0" err="1">
                <a:solidFill>
                  <a:sysClr val="windowText" lastClr="000000"/>
                </a:solidFill>
                <a:latin typeface="Arial" pitchFamily="34" charset="0"/>
                <a:ea typeface="맑은 고딕"/>
                <a:cs typeface="Arial" pitchFamily="34" charset="0"/>
              </a:rPr>
              <a:t>Hiểu</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được</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khái</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niệm</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biến</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đổi</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dữ</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liệu</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và</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quá</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trình</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kiểm</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định</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hệ</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thống</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đo</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lường</a:t>
            </a:r>
            <a:r>
              <a:rPr kumimoji="0" lang="en-US" altLang="ko-KR" sz="1400" b="1" kern="0" dirty="0">
                <a:solidFill>
                  <a:sysClr val="windowText" lastClr="000000"/>
                </a:solidFill>
                <a:latin typeface="Arial" pitchFamily="34" charset="0"/>
                <a:ea typeface="맑은 고딕"/>
                <a:cs typeface="Arial" pitchFamily="34" charset="0"/>
              </a:rPr>
              <a:t>. </a:t>
            </a:r>
          </a:p>
          <a:p>
            <a:pPr marL="266700" indent="-266700" fontAlgn="auto" latinLnBrk="0">
              <a:lnSpc>
                <a:spcPct val="150000"/>
              </a:lnSpc>
              <a:spcBef>
                <a:spcPts val="0"/>
              </a:spcBef>
              <a:spcAft>
                <a:spcPts val="0"/>
              </a:spcAft>
              <a:buClr>
                <a:sysClr val="window" lastClr="FFFFFF">
                  <a:lumMod val="50000"/>
                </a:sysClr>
              </a:buClr>
              <a:buFont typeface="Wingdings" pitchFamily="2" charset="2"/>
              <a:buChar char="u"/>
              <a:defRPr/>
            </a:pPr>
            <a:r>
              <a:rPr kumimoji="0" lang="en-US" altLang="ko-KR" sz="1400" b="1" kern="0" dirty="0" err="1">
                <a:solidFill>
                  <a:sysClr val="windowText" lastClr="000000"/>
                </a:solidFill>
                <a:latin typeface="Arial" pitchFamily="34" charset="0"/>
                <a:ea typeface="맑은 고딕"/>
                <a:cs typeface="Arial" pitchFamily="34" charset="0"/>
              </a:rPr>
              <a:t>Thông</a:t>
            </a:r>
            <a:r>
              <a:rPr kumimoji="0" lang="en-US" altLang="ko-KR" sz="1400" b="1" kern="0" dirty="0">
                <a:solidFill>
                  <a:sysClr val="windowText" lastClr="000000"/>
                </a:solidFill>
                <a:latin typeface="Arial" pitchFamily="34" charset="0"/>
                <a:ea typeface="맑은 고딕"/>
                <a:cs typeface="Arial" pitchFamily="34" charset="0"/>
              </a:rPr>
              <a:t> qua </a:t>
            </a:r>
            <a:r>
              <a:rPr kumimoji="0" lang="en-US" altLang="ko-KR" sz="1400" b="1" kern="0" dirty="0" err="1">
                <a:solidFill>
                  <a:sysClr val="windowText" lastClr="000000"/>
                </a:solidFill>
                <a:latin typeface="Arial" pitchFamily="34" charset="0"/>
                <a:ea typeface="맑은 고딕"/>
                <a:cs typeface="Arial" pitchFamily="34" charset="0"/>
              </a:rPr>
              <a:t>thực</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hành</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nắm</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được</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phương</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pháp</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tiến</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hành</a:t>
            </a:r>
            <a:r>
              <a:rPr kumimoji="0" lang="en-US" altLang="ko-KR" sz="1400" b="1" kern="0" dirty="0">
                <a:solidFill>
                  <a:sysClr val="windowText" lastClr="000000"/>
                </a:solidFill>
                <a:latin typeface="Arial" pitchFamily="34" charset="0"/>
                <a:ea typeface="맑은 고딕"/>
                <a:cs typeface="Arial" pitchFamily="34" charset="0"/>
              </a:rPr>
              <a:t> Gage R&amp;R </a:t>
            </a:r>
            <a:r>
              <a:rPr kumimoji="0" lang="en-US" altLang="ko-KR" sz="1400" b="1" kern="0" dirty="0" err="1">
                <a:solidFill>
                  <a:sysClr val="windowText" lastClr="000000"/>
                </a:solidFill>
                <a:latin typeface="Arial" pitchFamily="34" charset="0"/>
                <a:ea typeface="맑은 고딕"/>
                <a:cs typeface="Arial" pitchFamily="34" charset="0"/>
              </a:rPr>
              <a:t>với</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dữ</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liệu</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liên</a:t>
            </a:r>
            <a:r>
              <a:rPr kumimoji="0" lang="en-US" altLang="ko-KR" sz="1400" b="1" kern="0" dirty="0">
                <a:solidFill>
                  <a:sysClr val="windowText" lastClr="000000"/>
                </a:solidFill>
                <a:latin typeface="Arial" pitchFamily="34" charset="0"/>
                <a:ea typeface="맑은 고딕"/>
                <a:cs typeface="Arial" pitchFamily="34" charset="0"/>
              </a:rPr>
              <a:t> </a:t>
            </a:r>
            <a:r>
              <a:rPr kumimoji="0" lang="en-US" altLang="ko-KR" sz="1400" b="1" kern="0" dirty="0" err="1">
                <a:solidFill>
                  <a:sysClr val="windowText" lastClr="000000"/>
                </a:solidFill>
                <a:latin typeface="Arial" pitchFamily="34" charset="0"/>
                <a:ea typeface="맑은 고딕"/>
                <a:cs typeface="Arial" pitchFamily="34" charset="0"/>
              </a:rPr>
              <a:t>tục</a:t>
            </a:r>
            <a:r>
              <a:rPr kumimoji="0" lang="en-US" altLang="ko-KR" sz="1400" b="1" kern="0" dirty="0">
                <a:solidFill>
                  <a:sysClr val="windowText" lastClr="000000"/>
                </a:solidFill>
                <a:latin typeface="Arial" pitchFamily="34" charset="0"/>
                <a:ea typeface="맑은 고딕"/>
                <a:cs typeface="Arial" pitchFamily="34" charset="0"/>
              </a:rPr>
              <a:t>. </a:t>
            </a:r>
          </a:p>
        </p:txBody>
      </p:sp>
      <p:sp>
        <p:nvSpPr>
          <p:cNvPr id="4" name="슬라이드 번호 개체 틀 3"/>
          <p:cNvSpPr>
            <a:spLocks noGrp="1"/>
          </p:cNvSpPr>
          <p:nvPr>
            <p:ph type="sldNum" sz="quarter" idx="4"/>
          </p:nvPr>
        </p:nvSpPr>
        <p:spPr/>
        <p:txBody>
          <a:bodyPr/>
          <a:lstStyle/>
          <a:p>
            <a:pPr>
              <a:defRPr/>
            </a:pPr>
            <a:fld id="{BA3A7022-CBD4-4A06-BAFB-3534D8B9DC6A}" type="slidenum">
              <a:rPr lang="ko-KR" altLang="en-US" smtClean="0">
                <a:latin typeface="Arial" pitchFamily="34" charset="0"/>
                <a:cs typeface="Arial" pitchFamily="34" charset="0"/>
              </a:rPr>
              <a:pPr>
                <a:defRPr/>
              </a:pPr>
              <a:t>183</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674151889"/>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TextBox 51"/>
          <p:cNvSpPr txBox="1"/>
          <p:nvPr/>
        </p:nvSpPr>
        <p:spPr>
          <a:xfrm>
            <a:off x="488950" y="3622675"/>
            <a:ext cx="8856663" cy="2529923"/>
          </a:xfrm>
          <a:prstGeom prst="rect">
            <a:avLst/>
          </a:prstGeom>
          <a:noFill/>
        </p:spPr>
        <p:txBody>
          <a:bodyPr wrap="square">
            <a:spAutoFit/>
          </a:bodyPr>
          <a:lstStyle/>
          <a:p>
            <a:pPr algn="just" fontAlgn="auto" latinLnBrk="0">
              <a:lnSpc>
                <a:spcPct val="110000"/>
              </a:lnSpc>
              <a:spcBef>
                <a:spcPts val="0"/>
              </a:spcBef>
              <a:spcAft>
                <a:spcPts val="0"/>
              </a:spcAft>
              <a:buClr>
                <a:srgbClr val="595959"/>
              </a:buClr>
              <a:buFont typeface="Wingdings" pitchFamily="2" charset="2"/>
              <a:buChar char="u"/>
              <a:defRPr/>
            </a:pP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Phẩm</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chất</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cần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có</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nhất</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của</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chính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là</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tính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xác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định</a:t>
            </a:r>
            <a:r>
              <a:rPr kumimoji="0" lang="en-US" altLang="ko-KR" sz="1600" b="1" kern="0" dirty="0">
                <a:solidFill>
                  <a:sysClr val="windowText" lastClr="000000"/>
                </a:solidFill>
                <a:latin typeface="Arial" pitchFamily="34" charset="0"/>
                <a:ea typeface="맑은 고딕" pitchFamily="50" charset="-127"/>
                <a:cs typeface="Arial" pitchFamily="34" charset="0"/>
              </a:rPr>
              <a:t>”. </a:t>
            </a:r>
          </a:p>
          <a:p>
            <a:pPr algn="just" fontAlgn="auto" latinLnBrk="0">
              <a:lnSpc>
                <a:spcPct val="110000"/>
              </a:lnSpc>
              <a:spcBef>
                <a:spcPts val="0"/>
              </a:spcBef>
              <a:spcAft>
                <a:spcPts val="0"/>
              </a:spcAft>
              <a:buClr>
                <a:srgbClr val="595959"/>
              </a:buClr>
              <a:defRPr/>
            </a:pP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Lợi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ích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của</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tính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xác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định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là</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sự</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khác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biệt</a:t>
            </a:r>
            <a:r>
              <a:rPr kumimoji="0" lang="en-US" altLang="ko-KR" sz="1600" b="1" kern="0" dirty="0">
                <a:solidFill>
                  <a:sysClr val="windowText" lastClr="000000"/>
                </a:solidFill>
                <a:latin typeface="Arial" pitchFamily="34" charset="0"/>
                <a:ea typeface="맑은 고딕" pitchFamily="50" charset="-127"/>
                <a:cs typeface="Arial" pitchFamily="34" charset="0"/>
              </a:rPr>
              <a:t>”.</a:t>
            </a:r>
          </a:p>
          <a:p>
            <a:pPr algn="just" fontAlgn="auto" latinLnBrk="0">
              <a:lnSpc>
                <a:spcPct val="110000"/>
              </a:lnSpc>
              <a:spcBef>
                <a:spcPts val="0"/>
              </a:spcBef>
              <a:spcAft>
                <a:spcPts val="0"/>
              </a:spcAft>
              <a:buClr>
                <a:srgbClr val="595959"/>
              </a:buClr>
              <a:defRPr/>
            </a:pP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Nói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cách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khác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lợi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ích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và</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lý</a:t>
            </a:r>
            <a:r>
              <a:rPr kumimoji="0" lang="en-US" altLang="ko-KR" sz="1600" b="1" kern="0" dirty="0">
                <a:solidFill>
                  <a:sysClr val="windowText" lastClr="000000"/>
                </a:solidFill>
                <a:latin typeface="Arial" pitchFamily="34" charset="0"/>
                <a:ea typeface="맑은 고딕" pitchFamily="50" charset="-127"/>
                <a:cs typeface="Arial" pitchFamily="34" charset="0"/>
              </a:rPr>
              <a:t> do </a:t>
            </a:r>
            <a:r>
              <a:rPr kumimoji="0" lang="en-US" altLang="ko-KR" sz="1600" b="1" kern="0" dirty="0" err="1">
                <a:solidFill>
                  <a:sysClr val="windowText" lastClr="000000"/>
                </a:solidFill>
                <a:latin typeface="Arial" pitchFamily="34" charset="0"/>
                <a:ea typeface="맑은 고딕" pitchFamily="50" charset="-127"/>
                <a:cs typeface="Arial" pitchFamily="34" charset="0"/>
              </a:rPr>
              <a:t>cho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việc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chính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là</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nó</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có</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thể</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phân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biệt</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các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đặc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điểm</a:t>
            </a:r>
            <a:r>
              <a:rPr kumimoji="0" lang="en-US" altLang="ko-KR" sz="1600" b="1" kern="0" dirty="0">
                <a:solidFill>
                  <a:sysClr val="windowText" lastClr="000000"/>
                </a:solidFill>
                <a:latin typeface="Arial" pitchFamily="34" charset="0"/>
                <a:ea typeface="맑은 고딕" pitchFamily="50" charset="-127"/>
                <a:cs typeface="Arial" pitchFamily="34" charset="0"/>
              </a:rPr>
              <a:t> hay </a:t>
            </a:r>
            <a:r>
              <a:rPr kumimoji="0" lang="en-US" altLang="ko-KR" sz="1600" b="1" kern="0" dirty="0" err="1">
                <a:solidFill>
                  <a:sysClr val="windowText" lastClr="000000"/>
                </a:solidFill>
                <a:latin typeface="Arial" pitchFamily="34" charset="0"/>
                <a:ea typeface="맑은 고딕" pitchFamily="50" charset="-127"/>
                <a:cs typeface="Arial" pitchFamily="34" charset="0"/>
              </a:rPr>
              <a:t>hiện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tượng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từ</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đó</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loại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bỏ</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sự</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mơ</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hồ</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khó</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hiểu</a:t>
            </a:r>
            <a:r>
              <a:rPr kumimoji="0" lang="en-US" altLang="ko-KR" sz="1600" b="1" kern="0" dirty="0">
                <a:solidFill>
                  <a:sysClr val="windowText" lastClr="000000"/>
                </a:solidFill>
                <a:latin typeface="Arial" pitchFamily="34" charset="0"/>
                <a:ea typeface="맑은 고딕" pitchFamily="50" charset="-127"/>
                <a:cs typeface="Arial" pitchFamily="34" charset="0"/>
              </a:rPr>
              <a:t>.</a:t>
            </a:r>
          </a:p>
          <a:p>
            <a:pPr algn="just" fontAlgn="auto" latinLnBrk="0">
              <a:lnSpc>
                <a:spcPct val="110000"/>
              </a:lnSpc>
              <a:spcBef>
                <a:spcPts val="0"/>
              </a:spcBef>
              <a:spcAft>
                <a:spcPts val="0"/>
              </a:spcAft>
              <a:buClr>
                <a:srgbClr val="595959"/>
              </a:buClr>
              <a:defRPr/>
            </a:pP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Cần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phải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có</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những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tiêu</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chuẩn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nhất</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định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cho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việc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đặt</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các</a:t>
            </a:r>
            <a:r>
              <a:rPr kumimoji="0" lang="en-US" altLang="ko-KR" sz="1600" b="1" kern="0" dirty="0">
                <a:solidFill>
                  <a:sysClr val="windowText" lastClr="000000"/>
                </a:solidFill>
                <a:latin typeface="Arial" pitchFamily="34" charset="0"/>
                <a:ea typeface="맑은 고딕" pitchFamily="50" charset="-127"/>
                <a:cs typeface="Arial" pitchFamily="34" charset="0"/>
              </a:rPr>
              <a:t> con </a:t>
            </a:r>
            <a:r>
              <a:rPr kumimoji="0" lang="en-US" altLang="ko-KR" sz="1600" b="1" kern="0" dirty="0" err="1">
                <a:solidFill>
                  <a:sysClr val="windowText" lastClr="000000"/>
                </a:solidFill>
                <a:latin typeface="Arial" pitchFamily="34" charset="0"/>
                <a:ea typeface="맑은 고딕" pitchFamily="50" charset="-127"/>
                <a:cs typeface="Arial" pitchFamily="34" charset="0"/>
              </a:rPr>
              <a:t>số</a:t>
            </a:r>
            <a:r>
              <a:rPr kumimoji="0" lang="en-US" altLang="ko-KR" sz="1600" b="1" kern="0" dirty="0">
                <a:solidFill>
                  <a:sysClr val="windowText" lastClr="000000"/>
                </a:solidFill>
                <a:latin typeface="Arial" pitchFamily="34" charset="0"/>
                <a:ea typeface="맑은 고딕" pitchFamily="50" charset="-127"/>
                <a:cs typeface="Arial" pitchFamily="34" charset="0"/>
              </a:rPr>
              <a:t> hay </a:t>
            </a:r>
            <a:r>
              <a:rPr kumimoji="0" lang="en-US" altLang="ko-KR" sz="1600" b="1" kern="0" dirty="0" err="1">
                <a:solidFill>
                  <a:sysClr val="windowText" lastClr="000000"/>
                </a:solidFill>
                <a:latin typeface="Arial" pitchFamily="34" charset="0"/>
                <a:ea typeface="맑은 고딕" pitchFamily="50" charset="-127"/>
                <a:cs typeface="Arial" pitchFamily="34" charset="0"/>
              </a:rPr>
              <a:t>ký</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tự</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cho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đặc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điểm</a:t>
            </a:r>
            <a:r>
              <a:rPr kumimoji="0" lang="en-US" altLang="ko-KR" sz="1600" b="1" kern="0" dirty="0">
                <a:solidFill>
                  <a:sysClr val="windowText" lastClr="000000"/>
                </a:solidFill>
                <a:latin typeface="Arial" pitchFamily="34" charset="0"/>
                <a:ea typeface="맑은 고딕" pitchFamily="50" charset="-127"/>
                <a:cs typeface="Arial" pitchFamily="34" charset="0"/>
              </a:rPr>
              <a:t> hay </a:t>
            </a:r>
            <a:r>
              <a:rPr kumimoji="0" lang="en-US" altLang="ko-KR" sz="1600" b="1" kern="0" dirty="0" err="1">
                <a:solidFill>
                  <a:sysClr val="windowText" lastClr="000000"/>
                </a:solidFill>
                <a:latin typeface="Arial" pitchFamily="34" charset="0"/>
                <a:ea typeface="맑은 고딕" pitchFamily="50" charset="-127"/>
                <a:cs typeface="Arial" pitchFamily="34" charset="0"/>
              </a:rPr>
              <a:t>hiện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tượng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cụ</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thể</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Một</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tiêu</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chuẩn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nên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là</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một</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kiểu</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phân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loại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như</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là</a:t>
            </a:r>
            <a:r>
              <a:rPr kumimoji="0" lang="en-US" altLang="ko-KR" sz="1600" b="1" kern="0" dirty="0">
                <a:solidFill>
                  <a:sysClr val="windowText" lastClr="000000"/>
                </a:solidFill>
                <a:latin typeface="Arial" pitchFamily="34" charset="0"/>
                <a:ea typeface="맑은 고딕" pitchFamily="50" charset="-127"/>
                <a:cs typeface="Arial" pitchFamily="34" charset="0"/>
              </a:rPr>
              <a:t> “job”.</a:t>
            </a:r>
          </a:p>
          <a:p>
            <a:pPr algn="just" fontAlgn="auto" latinLnBrk="0">
              <a:lnSpc>
                <a:spcPct val="110000"/>
              </a:lnSpc>
              <a:spcBef>
                <a:spcPts val="0"/>
              </a:spcBef>
              <a:spcAft>
                <a:spcPts val="0"/>
              </a:spcAft>
              <a:buClr>
                <a:srgbClr val="595959"/>
              </a:buClr>
              <a:defRPr/>
            </a:pPr>
            <a:endParaRPr kumimoji="0" lang="en-US" altLang="ko-KR" sz="1600" b="1" kern="0" dirty="0">
              <a:solidFill>
                <a:sysClr val="windowText" lastClr="000000"/>
              </a:solidFill>
              <a:latin typeface="Arial" pitchFamily="34" charset="0"/>
              <a:ea typeface="맑은 고딕" pitchFamily="50" charset="-127"/>
              <a:cs typeface="Arial" pitchFamily="34" charset="0"/>
            </a:endParaRPr>
          </a:p>
          <a:p>
            <a:pPr algn="just" fontAlgn="auto" latinLnBrk="0">
              <a:lnSpc>
                <a:spcPct val="110000"/>
              </a:lnSpc>
              <a:spcBef>
                <a:spcPts val="0"/>
              </a:spcBef>
              <a:spcAft>
                <a:spcPts val="0"/>
              </a:spcAft>
              <a:buClr>
                <a:srgbClr val="595959"/>
              </a:buClr>
              <a:defRPr/>
            </a:pPr>
            <a:r>
              <a:rPr kumimoji="0" lang="en-US" altLang="ko-KR" sz="1600" b="1" kern="0" dirty="0">
                <a:solidFill>
                  <a:sysClr val="windowText" lastClr="000000"/>
                </a:solidFill>
                <a:latin typeface="Arial" pitchFamily="34" charset="0"/>
                <a:ea typeface="맑은 고딕" pitchFamily="50" charset="-127"/>
                <a:cs typeface="Arial" pitchFamily="34" charset="0"/>
              </a:rPr>
              <a:t>‘</a:t>
            </a:r>
            <a:r>
              <a:rPr kumimoji="0" lang="en-US" altLang="ko-KR" sz="1600" b="1" kern="0" dirty="0" err="1">
                <a:solidFill>
                  <a:sysClr val="windowText" lastClr="000000"/>
                </a:solidFill>
                <a:latin typeface="Arial" pitchFamily="34" charset="0"/>
                <a:ea typeface="맑은 고딕" pitchFamily="50" charset="-127"/>
                <a:cs typeface="Arial" pitchFamily="34" charset="0"/>
              </a:rPr>
              <a:t>Sự</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thành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thạo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trong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được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xác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định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bởi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việc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bạn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tuân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thủ</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các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tiêu</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chuẩn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như</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thế</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nào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Goh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Seung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Gon</a:t>
            </a:r>
            <a:r>
              <a:rPr kumimoji="0" lang="en-US" altLang="ko-KR" sz="1600" b="1" kern="0" dirty="0">
                <a:solidFill>
                  <a:sysClr val="windowText" lastClr="000000"/>
                </a:solidFill>
                <a:latin typeface="Arial" pitchFamily="34" charset="0"/>
                <a:ea typeface="맑은 고딕" pitchFamily="50" charset="-127"/>
                <a:cs typeface="Arial" pitchFamily="34" charset="0"/>
              </a:rPr>
              <a:t> / Lee Jong </a:t>
            </a:r>
            <a:r>
              <a:rPr kumimoji="0" lang="en-US" altLang="ko-KR" sz="1600" b="1" kern="0" dirty="0" err="1">
                <a:solidFill>
                  <a:sysClr val="windowText" lastClr="000000"/>
                </a:solidFill>
                <a:latin typeface="Arial" pitchFamily="34" charset="0"/>
                <a:ea typeface="맑은 고딕" pitchFamily="50" charset="-127"/>
                <a:cs typeface="Arial" pitchFamily="34" charset="0"/>
              </a:rPr>
              <a:t>Sul</a:t>
            </a:r>
            <a:r>
              <a:rPr kumimoji="0" lang="en-US" altLang="ko-KR" sz="1600" b="1" kern="0" dirty="0">
                <a:solidFill>
                  <a:sysClr val="windowText" lastClr="000000"/>
                </a:solidFill>
                <a:latin typeface="Arial" pitchFamily="34" charset="0"/>
                <a:ea typeface="맑은 고딕" pitchFamily="50" charset="-127"/>
                <a:cs typeface="Arial" pitchFamily="34" charset="0"/>
              </a:rPr>
              <a:t>)</a:t>
            </a:r>
            <a:endParaRPr kumimoji="0" lang="ko-KR" altLang="en-US" sz="1600" b="1" kern="0" dirty="0">
              <a:solidFill>
                <a:sysClr val="windowText" lastClr="000000"/>
              </a:solidFill>
              <a:latin typeface="Arial" pitchFamily="34" charset="0"/>
              <a:ea typeface="맑은 고딕" pitchFamily="50" charset="-127"/>
              <a:cs typeface="Arial" pitchFamily="34" charset="0"/>
            </a:endParaRPr>
          </a:p>
        </p:txBody>
      </p:sp>
      <p:sp>
        <p:nvSpPr>
          <p:cNvPr id="54"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1.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Giới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thiệu</a:t>
            </a:r>
            <a:endParaRPr lang="ko-KR" altLang="en-US" sz="2000" b="1" kern="0" dirty="0">
              <a:solidFill>
                <a:srgbClr val="000000"/>
              </a:solidFill>
              <a:latin typeface="Arial" pitchFamily="34" charset="0"/>
              <a:ea typeface="맑은 고딕"/>
              <a:cs typeface="Arial" pitchFamily="34" charset="0"/>
            </a:endParaRPr>
          </a:p>
        </p:txBody>
      </p:sp>
      <p:sp>
        <p:nvSpPr>
          <p:cNvPr id="30" name="직사각형 29"/>
          <p:cNvSpPr/>
          <p:nvPr/>
        </p:nvSpPr>
        <p:spPr>
          <a:xfrm>
            <a:off x="560388" y="1052513"/>
            <a:ext cx="8856662" cy="2304479"/>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31" name="TextBox 30"/>
          <p:cNvSpPr txBox="1"/>
          <p:nvPr/>
        </p:nvSpPr>
        <p:spPr>
          <a:xfrm>
            <a:off x="560388" y="1196975"/>
            <a:ext cx="7921625" cy="342145"/>
          </a:xfrm>
          <a:prstGeom prst="rect">
            <a:avLst/>
          </a:prstGeom>
          <a:noFill/>
        </p:spPr>
        <p:txBody>
          <a:bodyPr>
            <a:spAutoFit/>
          </a:bodyPr>
          <a:lstStyle/>
          <a:p>
            <a:pPr fontAlgn="auto" latinLnBrk="0">
              <a:lnSpc>
                <a:spcPct val="110000"/>
              </a:lnSpc>
              <a:spcBef>
                <a:spcPts val="0"/>
              </a:spcBef>
              <a:spcAft>
                <a:spcPts val="0"/>
              </a:spcAft>
              <a:buClr>
                <a:srgbClr val="595959"/>
              </a:buClr>
              <a:buFont typeface="Arial" pitchFamily="34" charset="0"/>
              <a:buChar char="•"/>
              <a:defRPr/>
            </a:pPr>
            <a:r>
              <a:rPr kumimoji="0" lang="ko-KR" altLang="en-US"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Không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phải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tất</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cả</a:t>
            </a:r>
            <a:r>
              <a:rPr kumimoji="0" lang="en-US" altLang="ko-KR" sz="1600" b="1" kern="0" dirty="0">
                <a:solidFill>
                  <a:sysClr val="windowText" lastClr="000000"/>
                </a:solidFill>
                <a:latin typeface="Arial" pitchFamily="34" charset="0"/>
                <a:ea typeface="맑은 고딕" pitchFamily="50" charset="-127"/>
                <a:cs typeface="Arial" pitchFamily="34" charset="0"/>
              </a:rPr>
              <a:t> “con </a:t>
            </a:r>
            <a:r>
              <a:rPr kumimoji="0" lang="en-US" altLang="ko-KR" sz="1600" b="1" kern="0" dirty="0" err="1">
                <a:solidFill>
                  <a:sysClr val="windowText" lastClr="000000"/>
                </a:solidFill>
                <a:latin typeface="Arial" pitchFamily="34" charset="0"/>
                <a:ea typeface="맑은 고딕" pitchFamily="50" charset="-127"/>
                <a:cs typeface="Arial" pitchFamily="34" charset="0"/>
              </a:rPr>
              <a:t>số</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đều</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là</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dữ</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liệu</a:t>
            </a:r>
            <a:r>
              <a:rPr kumimoji="0" lang="en-US" altLang="ko-KR" sz="1600" b="1" kern="0" dirty="0">
                <a:solidFill>
                  <a:sysClr val="windowText" lastClr="000000"/>
                </a:solidFill>
                <a:latin typeface="Arial" pitchFamily="34" charset="0"/>
                <a:ea typeface="맑은 고딕" pitchFamily="50" charset="-127"/>
                <a:cs typeface="Arial" pitchFamily="34" charset="0"/>
              </a:rPr>
              <a:t>”</a:t>
            </a:r>
          </a:p>
        </p:txBody>
      </p:sp>
      <p:sp>
        <p:nvSpPr>
          <p:cNvPr id="32" name="TextBox 31"/>
          <p:cNvSpPr txBox="1"/>
          <p:nvPr/>
        </p:nvSpPr>
        <p:spPr>
          <a:xfrm>
            <a:off x="560388" y="1556792"/>
            <a:ext cx="8713092" cy="634020"/>
          </a:xfrm>
          <a:prstGeom prst="rect">
            <a:avLst/>
          </a:prstGeom>
          <a:noFill/>
        </p:spPr>
        <p:txBody>
          <a:bodyPr wrap="square">
            <a:spAutoFit/>
          </a:bodyPr>
          <a:lstStyle/>
          <a:p>
            <a:pPr fontAlgn="auto" latinLnBrk="0">
              <a:lnSpc>
                <a:spcPct val="110000"/>
              </a:lnSpc>
              <a:spcBef>
                <a:spcPts val="0"/>
              </a:spcBef>
              <a:spcAft>
                <a:spcPts val="0"/>
              </a:spcAft>
              <a:buClr>
                <a:srgbClr val="595959"/>
              </a:buClr>
              <a:buFont typeface="Arial" pitchFamily="34" charset="0"/>
              <a:buChar char="•"/>
              <a:defRPr/>
            </a:pP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Dữ</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liệu</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là</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những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giá</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trị</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đo</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có</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mục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đích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phản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ánh</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thực</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tế</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tại</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hiện</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trường</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quá</a:t>
            </a:r>
            <a:r>
              <a:rPr kumimoji="0" lang="en-US" altLang="ko-KR" sz="1600" b="1" kern="0" dirty="0">
                <a:solidFill>
                  <a:sysClr val="windowText" lastClr="000000"/>
                </a:solidFill>
                <a:latin typeface="Arial" pitchFamily="34" charset="0"/>
                <a:ea typeface="맑은 고딕" pitchFamily="50" charset="-127"/>
                <a:cs typeface="Arial" pitchFamily="34" charset="0"/>
              </a:rPr>
              <a:t> </a:t>
            </a:r>
            <a:r>
              <a:rPr kumimoji="0" lang="en-US" altLang="ko-KR" sz="1600" b="1" kern="0" dirty="0" err="1">
                <a:solidFill>
                  <a:sysClr val="windowText" lastClr="000000"/>
                </a:solidFill>
                <a:latin typeface="Arial" pitchFamily="34" charset="0"/>
                <a:ea typeface="맑은 고딕" pitchFamily="50" charset="-127"/>
                <a:cs typeface="Arial" pitchFamily="34" charset="0"/>
              </a:rPr>
              <a:t>trình</a:t>
            </a:r>
            <a:r>
              <a:rPr kumimoji="0" lang="en-US" altLang="ko-KR" sz="1600" b="1" kern="0" dirty="0">
                <a:solidFill>
                  <a:sysClr val="windowText" lastClr="000000"/>
                </a:solidFill>
                <a:latin typeface="Arial" pitchFamily="34" charset="0"/>
                <a:ea typeface="맑은 고딕" pitchFamily="50" charset="-127"/>
                <a:cs typeface="Arial" pitchFamily="34" charset="0"/>
              </a:rPr>
              <a:t>.</a:t>
            </a:r>
            <a:endParaRPr kumimoji="0" lang="ko-KR" altLang="en-US" sz="1600" b="1" kern="0" dirty="0">
              <a:solidFill>
                <a:sysClr val="windowText" lastClr="000000"/>
              </a:solidFill>
              <a:latin typeface="Arial" pitchFamily="34" charset="0"/>
              <a:ea typeface="맑은 고딕" pitchFamily="50" charset="-127"/>
              <a:cs typeface="Arial" pitchFamily="34" charset="0"/>
            </a:endParaRPr>
          </a:p>
        </p:txBody>
      </p:sp>
      <p:sp>
        <p:nvSpPr>
          <p:cNvPr id="33" name="TextBox 32"/>
          <p:cNvSpPr txBox="1"/>
          <p:nvPr/>
        </p:nvSpPr>
        <p:spPr>
          <a:xfrm>
            <a:off x="920750" y="2204864"/>
            <a:ext cx="7920038" cy="803297"/>
          </a:xfrm>
          <a:prstGeom prst="rect">
            <a:avLst/>
          </a:prstGeom>
          <a:noFill/>
        </p:spPr>
        <p:txBody>
          <a:bodyPr>
            <a:spAutoFit/>
          </a:bodyPr>
          <a:lstStyle/>
          <a:p>
            <a:pPr marL="82550" indent="-82550" fontAlgn="auto" latinLnBrk="0">
              <a:lnSpc>
                <a:spcPct val="110000"/>
              </a:lnSpc>
              <a:spcBef>
                <a:spcPts val="0"/>
              </a:spcBef>
              <a:spcAft>
                <a:spcPts val="0"/>
              </a:spcAft>
              <a:buClr>
                <a:srgbClr val="595959"/>
              </a:buClr>
              <a:buFontTx/>
              <a:buAutoNum type="arabicPeriod"/>
              <a:defRPr/>
            </a:pPr>
            <a:r>
              <a:rPr kumimoji="0" lang="ko-KR" altLang="en-US"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Bạn</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phải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đo</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những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gì</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bạn</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muốn</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biết</a:t>
            </a:r>
            <a:r>
              <a:rPr kumimoji="0" lang="en-US" altLang="ko-KR" sz="1400" b="1" kern="0" dirty="0">
                <a:solidFill>
                  <a:sysClr val="windowText" lastClr="000000"/>
                </a:solidFill>
                <a:latin typeface="Arial" pitchFamily="34" charset="0"/>
                <a:ea typeface="맑은 고딕" pitchFamily="50" charset="-127"/>
                <a:cs typeface="Arial" pitchFamily="34" charset="0"/>
              </a:rPr>
              <a:t> (Validity)</a:t>
            </a:r>
          </a:p>
          <a:p>
            <a:pPr marL="82550" indent="-82550" fontAlgn="auto" latinLnBrk="0">
              <a:lnSpc>
                <a:spcPct val="110000"/>
              </a:lnSpc>
              <a:spcBef>
                <a:spcPts val="0"/>
              </a:spcBef>
              <a:spcAft>
                <a:spcPts val="0"/>
              </a:spcAft>
              <a:buClr>
                <a:srgbClr val="595959"/>
              </a:buClr>
              <a:buFontTx/>
              <a:buAutoNum type="arabicPeriod"/>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Kết</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quả</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đo</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phải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chính</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xác</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nhất</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có</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thể</a:t>
            </a:r>
            <a:r>
              <a:rPr kumimoji="0" lang="en-US" altLang="ko-KR" sz="1400" b="1" kern="0" dirty="0">
                <a:solidFill>
                  <a:sysClr val="windowText" lastClr="000000"/>
                </a:solidFill>
                <a:latin typeface="Arial" pitchFamily="34" charset="0"/>
                <a:ea typeface="맑은 고딕" pitchFamily="50" charset="-127"/>
                <a:cs typeface="Arial" pitchFamily="34" charset="0"/>
              </a:rPr>
              <a:t> (Accuracy)</a:t>
            </a:r>
          </a:p>
          <a:p>
            <a:pPr marL="82550" indent="-82550" fontAlgn="auto" latinLnBrk="0">
              <a:lnSpc>
                <a:spcPct val="110000"/>
              </a:lnSpc>
              <a:spcBef>
                <a:spcPts val="0"/>
              </a:spcBef>
              <a:spcAft>
                <a:spcPts val="0"/>
              </a:spcAft>
              <a:buClr>
                <a:srgbClr val="595959"/>
              </a:buClr>
              <a:buFontTx/>
              <a:buAutoNum type="arabicPeriod"/>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Bất</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kể</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ai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là</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người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đo</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bất</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kể</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đo</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bao</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nhiêu</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lần</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giá</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trị</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cần</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phải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giống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nhau</a:t>
            </a:r>
            <a:r>
              <a:rPr kumimoji="0" lang="en-US" altLang="ko-KR" sz="1400" b="1" kern="0" dirty="0">
                <a:solidFill>
                  <a:sysClr val="windowText" lastClr="000000"/>
                </a:solidFill>
                <a:latin typeface="Arial" pitchFamily="34" charset="0"/>
                <a:ea typeface="맑은 고딕" pitchFamily="50" charset="-127"/>
                <a:cs typeface="Arial" pitchFamily="34" charset="0"/>
              </a:rPr>
              <a:t> (Precision)</a:t>
            </a:r>
            <a:endParaRPr kumimoji="0" lang="ko-KR" altLang="en-US" sz="1400" b="1" kern="0" dirty="0">
              <a:solidFill>
                <a:sysClr val="windowText" lastClr="000000"/>
              </a:solidFill>
              <a:latin typeface="Arial" pitchFamily="34" charset="0"/>
              <a:ea typeface="맑은 고딕" pitchFamily="50" charset="-127"/>
              <a:cs typeface="Arial" pitchFamily="34" charset="0"/>
            </a:endParaRPr>
          </a:p>
        </p:txBody>
      </p:sp>
      <p:sp>
        <p:nvSpPr>
          <p:cNvPr id="10" name="제목 8"/>
          <p:cNvSpPr txBox="1">
            <a:spLocks/>
          </p:cNvSpPr>
          <p:nvPr/>
        </p:nvSpPr>
        <p:spPr bwMode="auto">
          <a:xfrm>
            <a:off x="4736976" y="260350"/>
            <a:ext cx="5040437" cy="488950"/>
          </a:xfrm>
          <a:prstGeom prst="rect">
            <a:avLst/>
          </a:prstGeom>
          <a:noFill/>
          <a:ln>
            <a:miter lim="800000"/>
            <a:headEnd/>
            <a:tailEnd/>
          </a:ln>
        </p:spPr>
        <p:txBody>
          <a:bodyPr anchor="ctr"/>
          <a:lstStyle/>
          <a:p>
            <a:pPr algn="r">
              <a:defRPr/>
            </a:pPr>
            <a:r>
              <a:rPr lang="en-US" altLang="ko-KR" sz="1600" b="1" kern="0" dirty="0" err="1">
                <a:solidFill>
                  <a:srgbClr val="000000"/>
                </a:solidFill>
                <a:latin typeface="Arial" pitchFamily="34" charset="0"/>
                <a:ea typeface="맑은 고딕"/>
                <a:cs typeface="Arial" pitchFamily="34" charset="0"/>
              </a:rPr>
              <a:t>Mối</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quan</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hệ</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giữa</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dữ</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liệu</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và</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đo</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lường</a:t>
            </a:r>
            <a:endParaRPr lang="ko-KR" altLang="en-US" sz="1600" b="1" kern="0" dirty="0">
              <a:solidFill>
                <a:srgbClr val="000000"/>
              </a:solidFill>
              <a:latin typeface="Arial" pitchFamily="34" charset="0"/>
              <a:ea typeface="맑은 고딕"/>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184</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189551684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1.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Giới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thiệu</a:t>
            </a:r>
            <a:endParaRPr lang="ko-KR" altLang="en-US" sz="2000" b="1" kern="0" dirty="0">
              <a:solidFill>
                <a:srgbClr val="000000"/>
              </a:solidFill>
              <a:latin typeface="Arial" pitchFamily="34" charset="0"/>
              <a:ea typeface="맑은 고딕"/>
              <a:cs typeface="Arial" pitchFamily="34" charset="0"/>
            </a:endParaRPr>
          </a:p>
        </p:txBody>
      </p:sp>
      <p:sp>
        <p:nvSpPr>
          <p:cNvPr id="35" name="모서리가 둥근 직사각형 34"/>
          <p:cNvSpPr/>
          <p:nvPr/>
        </p:nvSpPr>
        <p:spPr>
          <a:xfrm>
            <a:off x="4304928" y="3644900"/>
            <a:ext cx="1440235" cy="1080244"/>
          </a:xfrm>
          <a:prstGeom prst="round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42" name="모서리가 둥근 직사각형 41"/>
          <p:cNvSpPr/>
          <p:nvPr/>
        </p:nvSpPr>
        <p:spPr>
          <a:xfrm>
            <a:off x="4376738" y="2205038"/>
            <a:ext cx="1368425" cy="1008062"/>
          </a:xfrm>
          <a:prstGeom prst="round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45" name="직사각형 44"/>
          <p:cNvSpPr/>
          <p:nvPr/>
        </p:nvSpPr>
        <p:spPr>
          <a:xfrm>
            <a:off x="704850" y="1916113"/>
            <a:ext cx="647700" cy="151288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48" name="직사각형 47"/>
          <p:cNvSpPr/>
          <p:nvPr/>
        </p:nvSpPr>
        <p:spPr>
          <a:xfrm>
            <a:off x="704850" y="3789363"/>
            <a:ext cx="647700" cy="15113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cxnSp>
        <p:nvCxnSpPr>
          <p:cNvPr id="49" name="직선 연결선 48"/>
          <p:cNvCxnSpPr/>
          <p:nvPr/>
        </p:nvCxnSpPr>
        <p:spPr>
          <a:xfrm>
            <a:off x="1497013" y="1916113"/>
            <a:ext cx="4318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직선 연결선 49"/>
          <p:cNvCxnSpPr/>
          <p:nvPr/>
        </p:nvCxnSpPr>
        <p:spPr>
          <a:xfrm>
            <a:off x="1712913" y="1916113"/>
            <a:ext cx="0" cy="1512887"/>
          </a:xfrm>
          <a:prstGeom prst="line">
            <a:avLst/>
          </a:prstGeom>
          <a:ln>
            <a:solidFill>
              <a:schemeClr val="tx1"/>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직선 연결선 50"/>
          <p:cNvCxnSpPr/>
          <p:nvPr/>
        </p:nvCxnSpPr>
        <p:spPr>
          <a:xfrm>
            <a:off x="1497013" y="3429000"/>
            <a:ext cx="4318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직선 연결선 51"/>
          <p:cNvCxnSpPr/>
          <p:nvPr/>
        </p:nvCxnSpPr>
        <p:spPr>
          <a:xfrm>
            <a:off x="1497013" y="3789363"/>
            <a:ext cx="4318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1712913" y="3789363"/>
            <a:ext cx="0" cy="1511300"/>
          </a:xfrm>
          <a:prstGeom prst="line">
            <a:avLst/>
          </a:prstGeom>
          <a:ln>
            <a:solidFill>
              <a:schemeClr val="tx1"/>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5" name="직선 연결선 54"/>
          <p:cNvCxnSpPr/>
          <p:nvPr/>
        </p:nvCxnSpPr>
        <p:spPr>
          <a:xfrm>
            <a:off x="1497013" y="5300663"/>
            <a:ext cx="4318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183" name="TextBox 41"/>
          <p:cNvSpPr txBox="1">
            <a:spLocks noChangeArrowheads="1"/>
          </p:cNvSpPr>
          <p:nvPr/>
        </p:nvSpPr>
        <p:spPr bwMode="auto">
          <a:xfrm>
            <a:off x="1423988" y="2462213"/>
            <a:ext cx="780983" cy="3724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a:latin typeface="Arial" pitchFamily="34" charset="0"/>
                <a:ea typeface="MingLiU_HKSCS-ExtB" pitchFamily="18" charset="-120"/>
                <a:cs typeface="Arial" pitchFamily="34" charset="0"/>
              </a:rPr>
              <a:t>120mm</a:t>
            </a:r>
            <a:endParaRPr lang="ko-KR" altLang="en-US" sz="1400">
              <a:latin typeface="Arial" pitchFamily="34" charset="0"/>
              <a:cs typeface="Arial" pitchFamily="34" charset="0"/>
            </a:endParaRPr>
          </a:p>
        </p:txBody>
      </p:sp>
      <p:sp>
        <p:nvSpPr>
          <p:cNvPr id="7184" name="TextBox 42"/>
          <p:cNvSpPr txBox="1">
            <a:spLocks noChangeArrowheads="1"/>
          </p:cNvSpPr>
          <p:nvPr/>
        </p:nvSpPr>
        <p:spPr bwMode="auto">
          <a:xfrm>
            <a:off x="1423988" y="4365625"/>
            <a:ext cx="780983" cy="3724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a:latin typeface="Arial" pitchFamily="34" charset="0"/>
                <a:ea typeface="MingLiU_HKSCS-ExtB" pitchFamily="18" charset="-120"/>
                <a:cs typeface="Arial" pitchFamily="34" charset="0"/>
              </a:rPr>
              <a:t>121mm</a:t>
            </a:r>
            <a:endParaRPr lang="ko-KR" altLang="en-US" sz="1400">
              <a:latin typeface="Arial" pitchFamily="34" charset="0"/>
              <a:cs typeface="Arial" pitchFamily="34" charset="0"/>
            </a:endParaRPr>
          </a:p>
        </p:txBody>
      </p:sp>
      <p:sp>
        <p:nvSpPr>
          <p:cNvPr id="64" name="타원 63"/>
          <p:cNvSpPr/>
          <p:nvPr/>
        </p:nvSpPr>
        <p:spPr>
          <a:xfrm>
            <a:off x="2576513" y="2997200"/>
            <a:ext cx="1008062" cy="936625"/>
          </a:xfrm>
          <a:prstGeom prst="ellipse">
            <a:avLst/>
          </a:prstGeom>
          <a:solidFill>
            <a:schemeClr val="bg2">
              <a:lumMod val="2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dirty="0" err="1">
                <a:latin typeface="Arial" pitchFamily="34" charset="0"/>
                <a:cs typeface="Arial" pitchFamily="34" charset="0"/>
              </a:rPr>
              <a:t>Sai</a:t>
            </a:r>
            <a:r>
              <a:rPr lang="en-US" altLang="ko-KR" sz="1400" dirty="0">
                <a:latin typeface="Arial" pitchFamily="34" charset="0"/>
                <a:cs typeface="Arial" pitchFamily="34" charset="0"/>
              </a:rPr>
              <a:t> </a:t>
            </a:r>
            <a:r>
              <a:rPr lang="en-US" altLang="ko-KR" sz="1400" dirty="0" err="1">
                <a:latin typeface="Arial" pitchFamily="34" charset="0"/>
                <a:cs typeface="Arial" pitchFamily="34" charset="0"/>
              </a:rPr>
              <a:t>khác</a:t>
            </a:r>
            <a:endParaRPr lang="en-US" altLang="ko-KR" sz="1400" dirty="0">
              <a:latin typeface="Arial" pitchFamily="34" charset="0"/>
              <a:cs typeface="Arial" pitchFamily="34" charset="0"/>
            </a:endParaRPr>
          </a:p>
          <a:p>
            <a:pPr algn="ctr">
              <a:defRPr/>
            </a:pPr>
            <a:r>
              <a:rPr lang="en-US" altLang="ko-KR" sz="1400" dirty="0">
                <a:latin typeface="Arial" pitchFamily="34" charset="0"/>
                <a:cs typeface="Arial" pitchFamily="34" charset="0"/>
              </a:rPr>
              <a:t>1mm</a:t>
            </a:r>
            <a:endParaRPr lang="ko-KR" altLang="en-US" sz="1400" dirty="0">
              <a:latin typeface="Arial" pitchFamily="34" charset="0"/>
              <a:cs typeface="Arial" pitchFamily="34" charset="0"/>
            </a:endParaRPr>
          </a:p>
        </p:txBody>
      </p:sp>
      <p:cxnSp>
        <p:nvCxnSpPr>
          <p:cNvPr id="65" name="직선 연결선 64"/>
          <p:cNvCxnSpPr>
            <a:stCxn id="7184" idx="3"/>
            <a:endCxn id="64" idx="2"/>
          </p:cNvCxnSpPr>
          <p:nvPr/>
        </p:nvCxnSpPr>
        <p:spPr>
          <a:xfrm flipV="1">
            <a:off x="2204971" y="3465513"/>
            <a:ext cx="371542" cy="1086317"/>
          </a:xfrm>
          <a:prstGeom prst="line">
            <a:avLst/>
          </a:prstGeom>
        </p:spPr>
        <p:style>
          <a:lnRef idx="1">
            <a:schemeClr val="accent1"/>
          </a:lnRef>
          <a:fillRef idx="0">
            <a:schemeClr val="accent1"/>
          </a:fillRef>
          <a:effectRef idx="0">
            <a:schemeClr val="accent1"/>
          </a:effectRef>
          <a:fontRef idx="minor">
            <a:schemeClr val="tx1"/>
          </a:fontRef>
        </p:style>
      </p:cxnSp>
      <p:cxnSp>
        <p:nvCxnSpPr>
          <p:cNvPr id="69" name="직선 연결선 68"/>
          <p:cNvCxnSpPr>
            <a:stCxn id="7183" idx="3"/>
            <a:endCxn id="64" idx="2"/>
          </p:cNvCxnSpPr>
          <p:nvPr/>
        </p:nvCxnSpPr>
        <p:spPr>
          <a:xfrm>
            <a:off x="2204971" y="2648418"/>
            <a:ext cx="371542" cy="817095"/>
          </a:xfrm>
          <a:prstGeom prst="line">
            <a:avLst/>
          </a:prstGeom>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2282852" y="2158841"/>
            <a:ext cx="1523174" cy="450829"/>
          </a:xfrm>
          <a:prstGeom prst="rect">
            <a:avLst/>
          </a:prstGeom>
          <a:noFill/>
        </p:spPr>
        <p:txBody>
          <a:bodyPr wrap="none">
            <a:spAutoFit/>
          </a:bodyPr>
          <a:lstStyle/>
          <a:p>
            <a:pPr marL="266700" indent="-266700">
              <a:lnSpc>
                <a:spcPct val="130000"/>
              </a:lnSpc>
              <a:buClr>
                <a:srgbClr val="C5003D"/>
              </a:buClr>
              <a:defRPr/>
            </a:pPr>
            <a:r>
              <a:rPr lang="en-US" altLang="ko-KR" sz="2000" dirty="0" err="1">
                <a:effectLst>
                  <a:outerShdw blurRad="38100" dist="38100" dir="2700000" algn="tl">
                    <a:srgbClr val="000000">
                      <a:alpha val="43137"/>
                    </a:srgbClr>
                  </a:outerShdw>
                </a:effectLst>
                <a:latin typeface="Arial" pitchFamily="34" charset="0"/>
                <a:ea typeface="HY견고딕" pitchFamily="18" charset="-127"/>
                <a:cs typeface="Arial" pitchFamily="34" charset="0"/>
              </a:rPr>
              <a:t>Phương</a:t>
            </a:r>
            <a:r>
              <a:rPr lang="en-US" altLang="ko-KR" sz="2000" dirty="0">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2000" dirty="0" err="1">
                <a:effectLst>
                  <a:outerShdw blurRad="38100" dist="38100" dir="2700000" algn="tl">
                    <a:srgbClr val="000000">
                      <a:alpha val="43137"/>
                    </a:srgbClr>
                  </a:outerShdw>
                </a:effectLst>
                <a:latin typeface="Arial" pitchFamily="34" charset="0"/>
                <a:ea typeface="HY견고딕" pitchFamily="18" charset="-127"/>
                <a:cs typeface="Arial" pitchFamily="34" charset="0"/>
              </a:rPr>
              <a:t>sai</a:t>
            </a:r>
            <a:endParaRPr lang="ko-KR" altLang="en-US" sz="2000" dirty="0">
              <a:effectLst>
                <a:outerShdw blurRad="38100" dist="38100" dir="2700000" algn="tl">
                  <a:srgbClr val="000000">
                    <a:alpha val="43137"/>
                  </a:srgbClr>
                </a:outerShdw>
              </a:effectLst>
              <a:latin typeface="Arial" pitchFamily="34" charset="0"/>
              <a:ea typeface="HY견고딕" pitchFamily="18" charset="-127"/>
              <a:cs typeface="Arial" pitchFamily="34" charset="0"/>
            </a:endParaRPr>
          </a:p>
        </p:txBody>
      </p:sp>
      <p:sp>
        <p:nvSpPr>
          <p:cNvPr id="72" name="TextBox 71"/>
          <p:cNvSpPr txBox="1"/>
          <p:nvPr/>
        </p:nvSpPr>
        <p:spPr>
          <a:xfrm>
            <a:off x="4448944" y="2349500"/>
            <a:ext cx="1224136" cy="623312"/>
          </a:xfrm>
          <a:prstGeom prst="rect">
            <a:avLst/>
          </a:prstGeom>
          <a:solidFill>
            <a:schemeClr val="bg1">
              <a:lumMod val="95000"/>
            </a:schemeClr>
          </a:solidFill>
        </p:spPr>
        <p:txBody>
          <a:bodyPr wrap="square">
            <a:spAutoFit/>
          </a:bodyPr>
          <a:lstStyle/>
          <a:p>
            <a:pPr algn="ctr">
              <a:lnSpc>
                <a:spcPct val="130000"/>
              </a:lnSpc>
              <a:buClr>
                <a:srgbClr val="C5003D"/>
              </a:buClr>
              <a:defRPr/>
            </a:pPr>
            <a:r>
              <a:rPr lang="en-US" altLang="ko-KR" sz="1400" b="1" dirty="0" err="1">
                <a:latin typeface="Arial" pitchFamily="34" charset="0"/>
                <a:ea typeface="돋움" pitchFamily="50" charset="-127"/>
                <a:cs typeface="Arial" pitchFamily="34" charset="0"/>
              </a:rPr>
              <a:t>Sai</a:t>
            </a:r>
            <a:r>
              <a:rPr lang="en-US" altLang="ko-KR" sz="1400" b="1" dirty="0">
                <a:latin typeface="Arial" pitchFamily="34" charset="0"/>
                <a:ea typeface="돋움" pitchFamily="50" charset="-127"/>
                <a:cs typeface="Arial" pitchFamily="34" charset="0"/>
              </a:rPr>
              <a:t> </a:t>
            </a:r>
            <a:r>
              <a:rPr lang="en-US" altLang="ko-KR" sz="1400" b="1" dirty="0" err="1">
                <a:latin typeface="Arial" pitchFamily="34" charset="0"/>
                <a:ea typeface="돋움" pitchFamily="50" charset="-127"/>
                <a:cs typeface="Arial" pitchFamily="34" charset="0"/>
              </a:rPr>
              <a:t>số</a:t>
            </a:r>
            <a:r>
              <a:rPr lang="en-US" altLang="ko-KR" sz="1400" b="1" dirty="0">
                <a:latin typeface="Arial" pitchFamily="34" charset="0"/>
                <a:ea typeface="돋움" pitchFamily="50" charset="-127"/>
                <a:cs typeface="Arial" pitchFamily="34" charset="0"/>
              </a:rPr>
              <a:t> </a:t>
            </a:r>
            <a:r>
              <a:rPr lang="en-US" altLang="ko-KR" sz="1400" b="1" dirty="0" err="1">
                <a:latin typeface="Arial" pitchFamily="34" charset="0"/>
                <a:ea typeface="돋움" pitchFamily="50" charset="-127"/>
                <a:cs typeface="Arial" pitchFamily="34" charset="0"/>
              </a:rPr>
              <a:t>có</a:t>
            </a:r>
            <a:endParaRPr lang="en-US" altLang="ko-KR" sz="1400" b="1" dirty="0">
              <a:latin typeface="Arial" pitchFamily="34" charset="0"/>
              <a:ea typeface="돋움" pitchFamily="50" charset="-127"/>
              <a:cs typeface="Arial" pitchFamily="34" charset="0"/>
            </a:endParaRPr>
          </a:p>
          <a:p>
            <a:pPr algn="ctr">
              <a:lnSpc>
                <a:spcPct val="130000"/>
              </a:lnSpc>
              <a:buClr>
                <a:srgbClr val="C5003D"/>
              </a:buClr>
              <a:defRPr/>
            </a:pPr>
            <a:r>
              <a:rPr lang="en-US" altLang="ko-KR" sz="1400" b="1" dirty="0" err="1">
                <a:latin typeface="Arial" pitchFamily="34" charset="0"/>
                <a:ea typeface="돋움" pitchFamily="50" charset="-127"/>
                <a:cs typeface="Arial" pitchFamily="34" charset="0"/>
              </a:rPr>
              <a:t>chủ</a:t>
            </a:r>
            <a:r>
              <a:rPr lang="en-US" altLang="ko-KR" sz="1400" b="1" dirty="0">
                <a:latin typeface="Arial" pitchFamily="34" charset="0"/>
                <a:ea typeface="돋움" pitchFamily="50" charset="-127"/>
                <a:cs typeface="Arial" pitchFamily="34" charset="0"/>
              </a:rPr>
              <a:t> </a:t>
            </a:r>
            <a:r>
              <a:rPr lang="en-US" altLang="ko-KR" sz="1400" b="1" dirty="0" err="1">
                <a:latin typeface="Arial" pitchFamily="34" charset="0"/>
                <a:ea typeface="돋움" pitchFamily="50" charset="-127"/>
                <a:cs typeface="Arial" pitchFamily="34" charset="0"/>
              </a:rPr>
              <a:t>định</a:t>
            </a:r>
            <a:endParaRPr lang="ko-KR" altLang="en-US" sz="1400" b="1" dirty="0">
              <a:latin typeface="Arial" pitchFamily="34" charset="0"/>
              <a:ea typeface="돋움" pitchFamily="50" charset="-127"/>
              <a:cs typeface="Arial" pitchFamily="34" charset="0"/>
            </a:endParaRPr>
          </a:p>
        </p:txBody>
      </p:sp>
      <p:sp>
        <p:nvSpPr>
          <p:cNvPr id="73" name="TextBox 72"/>
          <p:cNvSpPr txBox="1"/>
          <p:nvPr/>
        </p:nvSpPr>
        <p:spPr>
          <a:xfrm>
            <a:off x="4404232" y="3703384"/>
            <a:ext cx="1268848" cy="932563"/>
          </a:xfrm>
          <a:prstGeom prst="rect">
            <a:avLst/>
          </a:prstGeom>
          <a:solidFill>
            <a:schemeClr val="bg1">
              <a:lumMod val="95000"/>
            </a:schemeClr>
          </a:solidFill>
        </p:spPr>
        <p:txBody>
          <a:bodyPr wrap="square">
            <a:spAutoFit/>
          </a:bodyPr>
          <a:lstStyle/>
          <a:p>
            <a:pPr algn="ctr">
              <a:lnSpc>
                <a:spcPct val="130000"/>
              </a:lnSpc>
              <a:buClr>
                <a:srgbClr val="C5003D"/>
              </a:buClr>
              <a:defRPr/>
            </a:pPr>
            <a:r>
              <a:rPr lang="en-US" altLang="ko-KR" sz="1400" b="1" dirty="0" err="1">
                <a:latin typeface="Arial" pitchFamily="34" charset="0"/>
                <a:ea typeface="돋움" pitchFamily="50" charset="-127"/>
                <a:cs typeface="Arial" pitchFamily="34" charset="0"/>
              </a:rPr>
              <a:t>Sai</a:t>
            </a:r>
            <a:r>
              <a:rPr lang="en-US" altLang="ko-KR" sz="1400" b="1" dirty="0">
                <a:latin typeface="Arial" pitchFamily="34" charset="0"/>
                <a:ea typeface="돋움" pitchFamily="50" charset="-127"/>
                <a:cs typeface="Arial" pitchFamily="34" charset="0"/>
              </a:rPr>
              <a:t> </a:t>
            </a:r>
            <a:r>
              <a:rPr lang="en-US" altLang="ko-KR" sz="1400" b="1" dirty="0" err="1">
                <a:latin typeface="Arial" pitchFamily="34" charset="0"/>
                <a:ea typeface="돋움" pitchFamily="50" charset="-127"/>
                <a:cs typeface="Arial" pitchFamily="34" charset="0"/>
              </a:rPr>
              <a:t>số</a:t>
            </a:r>
            <a:endParaRPr lang="en-US" altLang="ko-KR" sz="1400" b="1" dirty="0">
              <a:latin typeface="Arial" pitchFamily="34" charset="0"/>
              <a:ea typeface="돋움" pitchFamily="50" charset="-127"/>
              <a:cs typeface="Arial" pitchFamily="34" charset="0"/>
            </a:endParaRPr>
          </a:p>
          <a:p>
            <a:pPr algn="ctr">
              <a:lnSpc>
                <a:spcPct val="130000"/>
              </a:lnSpc>
              <a:buClr>
                <a:srgbClr val="C5003D"/>
              </a:buClr>
              <a:defRPr/>
            </a:pPr>
            <a:r>
              <a:rPr lang="en-US" altLang="ko-KR" sz="1400" b="1" dirty="0" err="1">
                <a:latin typeface="Arial" pitchFamily="34" charset="0"/>
                <a:ea typeface="돋움" pitchFamily="50" charset="-127"/>
                <a:cs typeface="Arial" pitchFamily="34" charset="0"/>
              </a:rPr>
              <a:t>không</a:t>
            </a:r>
            <a:r>
              <a:rPr lang="en-US" altLang="ko-KR" sz="1400" b="1" dirty="0">
                <a:latin typeface="Arial" pitchFamily="34" charset="0"/>
                <a:ea typeface="돋움" pitchFamily="50" charset="-127"/>
                <a:cs typeface="Arial" pitchFamily="34" charset="0"/>
              </a:rPr>
              <a:t> </a:t>
            </a:r>
            <a:r>
              <a:rPr lang="en-US" altLang="ko-KR" sz="1400" b="1" dirty="0" err="1">
                <a:latin typeface="Arial" pitchFamily="34" charset="0"/>
                <a:ea typeface="돋움" pitchFamily="50" charset="-127"/>
                <a:cs typeface="Arial" pitchFamily="34" charset="0"/>
              </a:rPr>
              <a:t>chủ</a:t>
            </a:r>
            <a:r>
              <a:rPr lang="en-US" altLang="ko-KR" sz="1400" b="1" dirty="0">
                <a:latin typeface="Arial" pitchFamily="34" charset="0"/>
                <a:ea typeface="돋움" pitchFamily="50" charset="-127"/>
                <a:cs typeface="Arial" pitchFamily="34" charset="0"/>
              </a:rPr>
              <a:t> </a:t>
            </a:r>
            <a:r>
              <a:rPr lang="en-US" altLang="ko-KR" sz="1400" b="1" dirty="0" err="1">
                <a:latin typeface="Arial" pitchFamily="34" charset="0"/>
                <a:ea typeface="돋움" pitchFamily="50" charset="-127"/>
                <a:cs typeface="Arial" pitchFamily="34" charset="0"/>
              </a:rPr>
              <a:t>định</a:t>
            </a:r>
            <a:endParaRPr lang="ko-KR" altLang="en-US" sz="1400" b="1" dirty="0">
              <a:latin typeface="Arial" pitchFamily="34" charset="0"/>
              <a:ea typeface="돋움" pitchFamily="50" charset="-127"/>
              <a:cs typeface="Arial" pitchFamily="34" charset="0"/>
            </a:endParaRPr>
          </a:p>
        </p:txBody>
      </p:sp>
      <p:cxnSp>
        <p:nvCxnSpPr>
          <p:cNvPr id="74" name="꺾인 연결선 73"/>
          <p:cNvCxnSpPr>
            <a:stCxn id="64" idx="6"/>
            <a:endCxn id="42" idx="1"/>
          </p:cNvCxnSpPr>
          <p:nvPr/>
        </p:nvCxnSpPr>
        <p:spPr>
          <a:xfrm flipV="1">
            <a:off x="3584575" y="2708275"/>
            <a:ext cx="792163" cy="757238"/>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꺾인 연결선 76"/>
          <p:cNvCxnSpPr/>
          <p:nvPr/>
        </p:nvCxnSpPr>
        <p:spPr>
          <a:xfrm>
            <a:off x="3615639" y="3465513"/>
            <a:ext cx="720353" cy="719509"/>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TextBox 79"/>
          <p:cNvSpPr txBox="1"/>
          <p:nvPr/>
        </p:nvSpPr>
        <p:spPr>
          <a:xfrm>
            <a:off x="6392863" y="3284538"/>
            <a:ext cx="1584473" cy="732508"/>
          </a:xfrm>
          <a:prstGeom prst="rect">
            <a:avLst/>
          </a:prstGeom>
          <a:solidFill>
            <a:schemeClr val="bg1">
              <a:lumMod val="95000"/>
            </a:schemeClr>
          </a:solidFill>
        </p:spPr>
        <p:txBody>
          <a:bodyPr wrap="square">
            <a:spAutoFit/>
          </a:bodyPr>
          <a:lstStyle/>
          <a:p>
            <a:pPr marL="266700" indent="-266700" algn="ctr">
              <a:lnSpc>
                <a:spcPct val="130000"/>
              </a:lnSpc>
              <a:buClr>
                <a:srgbClr val="C5003D"/>
              </a:buClr>
              <a:defRPr/>
            </a:pPr>
            <a:r>
              <a:rPr lang="en-US" altLang="ko-KR" sz="1600" b="1" dirty="0" err="1">
                <a:latin typeface="Arial" pitchFamily="34" charset="0"/>
                <a:ea typeface="돋움" pitchFamily="50" charset="-127"/>
                <a:cs typeface="Arial" pitchFamily="34" charset="0"/>
              </a:rPr>
              <a:t>Vấn</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đề</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về</a:t>
            </a:r>
            <a:endParaRPr lang="en-US" altLang="ko-KR" sz="1600" b="1" dirty="0">
              <a:latin typeface="Arial" pitchFamily="34" charset="0"/>
              <a:ea typeface="돋움" pitchFamily="50" charset="-127"/>
              <a:cs typeface="Arial" pitchFamily="34" charset="0"/>
            </a:endParaRPr>
          </a:p>
          <a:p>
            <a:pPr marL="266700" indent="-266700" algn="ctr">
              <a:lnSpc>
                <a:spcPct val="130000"/>
              </a:lnSpc>
              <a:buClr>
                <a:srgbClr val="C5003D"/>
              </a:buClr>
              <a:defRPr/>
            </a:pPr>
            <a:r>
              <a:rPr lang="en-US" altLang="ko-KR" sz="1600" b="1" dirty="0" err="1">
                <a:latin typeface="Arial" pitchFamily="34" charset="0"/>
                <a:ea typeface="돋움" pitchFamily="50" charset="-127"/>
                <a:cs typeface="Arial" pitchFamily="34" charset="0"/>
              </a:rPr>
              <a:t>đo</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lường</a:t>
            </a:r>
            <a:endParaRPr lang="ko-KR" altLang="en-US" sz="1600" b="1" dirty="0">
              <a:latin typeface="Arial" pitchFamily="34" charset="0"/>
              <a:ea typeface="돋움" pitchFamily="50" charset="-127"/>
              <a:cs typeface="Arial" pitchFamily="34" charset="0"/>
            </a:endParaRPr>
          </a:p>
        </p:txBody>
      </p:sp>
      <p:sp>
        <p:nvSpPr>
          <p:cNvPr id="81" name="TextBox 80"/>
          <p:cNvSpPr txBox="1"/>
          <p:nvPr/>
        </p:nvSpPr>
        <p:spPr>
          <a:xfrm>
            <a:off x="6392863" y="4540250"/>
            <a:ext cx="1584473" cy="699166"/>
          </a:xfrm>
          <a:prstGeom prst="rect">
            <a:avLst/>
          </a:prstGeom>
          <a:solidFill>
            <a:schemeClr val="bg1">
              <a:lumMod val="95000"/>
            </a:schemeClr>
          </a:solidFill>
        </p:spPr>
        <p:txBody>
          <a:bodyPr wrap="square">
            <a:spAutoFit/>
          </a:bodyPr>
          <a:lstStyle/>
          <a:p>
            <a:pPr algn="ctr">
              <a:lnSpc>
                <a:spcPct val="130000"/>
              </a:lnSpc>
              <a:buClr>
                <a:srgbClr val="C5003D"/>
              </a:buClr>
              <a:defRPr/>
            </a:pPr>
            <a:r>
              <a:rPr lang="en-US" altLang="ko-KR" sz="1600" b="1" dirty="0" err="1">
                <a:latin typeface="Arial" pitchFamily="34" charset="0"/>
                <a:ea typeface="돋움" pitchFamily="50" charset="-127"/>
                <a:cs typeface="Arial" pitchFamily="34" charset="0"/>
              </a:rPr>
              <a:t>Sai</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số</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thực</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tế</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trong</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thiết</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bị</a:t>
            </a:r>
            <a:endParaRPr lang="ko-KR" altLang="en-US" sz="1600" b="1" dirty="0">
              <a:latin typeface="Arial" pitchFamily="34" charset="0"/>
              <a:ea typeface="돋움" pitchFamily="50" charset="-127"/>
              <a:cs typeface="Arial" pitchFamily="34" charset="0"/>
            </a:endParaRPr>
          </a:p>
        </p:txBody>
      </p:sp>
      <p:cxnSp>
        <p:nvCxnSpPr>
          <p:cNvPr id="82" name="꺾인 연결선 81"/>
          <p:cNvCxnSpPr>
            <a:stCxn id="35" idx="3"/>
            <a:endCxn id="80" idx="1"/>
          </p:cNvCxnSpPr>
          <p:nvPr/>
        </p:nvCxnSpPr>
        <p:spPr>
          <a:xfrm flipV="1">
            <a:off x="5745163" y="3650792"/>
            <a:ext cx="647700" cy="534230"/>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35" idx="3"/>
            <a:endCxn id="81" idx="1"/>
          </p:cNvCxnSpPr>
          <p:nvPr/>
        </p:nvCxnSpPr>
        <p:spPr>
          <a:xfrm>
            <a:off x="5745163" y="4185022"/>
            <a:ext cx="647700" cy="704811"/>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TextBox 83"/>
          <p:cNvSpPr txBox="1"/>
          <p:nvPr/>
        </p:nvSpPr>
        <p:spPr>
          <a:xfrm>
            <a:off x="8124742" y="3337716"/>
            <a:ext cx="1274709" cy="812530"/>
          </a:xfrm>
          <a:prstGeom prst="rect">
            <a:avLst/>
          </a:prstGeom>
          <a:noFill/>
        </p:spPr>
        <p:txBody>
          <a:bodyPr wrap="none">
            <a:spAutoFit/>
          </a:bodyPr>
          <a:lstStyle/>
          <a:p>
            <a:pPr marL="266700" indent="-266700" algn="ctr">
              <a:lnSpc>
                <a:spcPct val="130000"/>
              </a:lnSpc>
              <a:buClr>
                <a:srgbClr val="C5003D"/>
              </a:buClr>
              <a:defRPr/>
            </a:pP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Lỗi</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đo</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lường</a:t>
            </a:r>
            <a:endPar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endParaRPr>
          </a:p>
          <a:p>
            <a:pPr marL="266700" indent="-266700" algn="ctr">
              <a:lnSpc>
                <a:spcPct val="130000"/>
              </a:lnSpc>
              <a:buClr>
                <a:srgbClr val="C5003D"/>
              </a:buClr>
              <a:defRPr/>
            </a:pP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Hoặc</a:t>
            </a:r>
            <a:endPar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endParaRPr>
          </a:p>
          <a:p>
            <a:pPr marL="266700" indent="-266700" algn="ctr">
              <a:lnSpc>
                <a:spcPct val="130000"/>
              </a:lnSpc>
              <a:buClr>
                <a:srgbClr val="C5003D"/>
              </a:buClr>
              <a:defRPr/>
            </a:pP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Sai</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số</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đo</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lường</a:t>
            </a:r>
            <a:endParaRPr lang="ko-KR" altLang="en-US"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endParaRPr>
          </a:p>
        </p:txBody>
      </p:sp>
      <p:sp>
        <p:nvSpPr>
          <p:cNvPr id="85" name="TextBox 84"/>
          <p:cNvSpPr txBox="1"/>
          <p:nvPr/>
        </p:nvSpPr>
        <p:spPr>
          <a:xfrm>
            <a:off x="7992497" y="4485335"/>
            <a:ext cx="1750800" cy="812530"/>
          </a:xfrm>
          <a:prstGeom prst="rect">
            <a:avLst/>
          </a:prstGeom>
          <a:noFill/>
        </p:spPr>
        <p:txBody>
          <a:bodyPr wrap="none">
            <a:spAutoFit/>
          </a:bodyPr>
          <a:lstStyle/>
          <a:p>
            <a:pPr marL="266700" indent="-266700" algn="ctr">
              <a:lnSpc>
                <a:spcPct val="130000"/>
              </a:lnSpc>
              <a:buClr>
                <a:srgbClr val="C5003D"/>
              </a:buClr>
              <a:defRPr/>
            </a:pP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Biến</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ngẫu</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nhiên</a:t>
            </a:r>
            <a:endPar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endParaRPr>
          </a:p>
          <a:p>
            <a:pPr marL="266700" indent="-266700" algn="ctr">
              <a:lnSpc>
                <a:spcPct val="130000"/>
              </a:lnSpc>
              <a:buClr>
                <a:srgbClr val="C5003D"/>
              </a:buClr>
              <a:defRPr/>
            </a:pP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Hoặc</a:t>
            </a:r>
            <a:endPar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endParaRPr>
          </a:p>
          <a:p>
            <a:pPr marL="266700" indent="-266700" algn="ctr">
              <a:lnSpc>
                <a:spcPct val="130000"/>
              </a:lnSpc>
              <a:buClr>
                <a:srgbClr val="C5003D"/>
              </a:buClr>
              <a:defRPr/>
            </a:pP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Biến</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không</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ngẫu</a:t>
            </a:r>
            <a:r>
              <a:rPr lang="en-US" altLang="ko-KR"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 </a:t>
            </a:r>
            <a:r>
              <a:rPr lang="en-US" altLang="ko-KR" sz="1200" dirty="0" err="1">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rPr>
              <a:t>nhiên</a:t>
            </a:r>
            <a:endParaRPr lang="ko-KR" altLang="en-US" sz="1200" dirty="0">
              <a:solidFill>
                <a:srgbClr val="FF0000"/>
              </a:solidFill>
              <a:effectLst>
                <a:outerShdw blurRad="38100" dist="38100" dir="2700000" algn="tl">
                  <a:srgbClr val="000000">
                    <a:alpha val="43137"/>
                  </a:srgbClr>
                </a:outerShdw>
              </a:effectLst>
              <a:latin typeface="Arial" pitchFamily="34" charset="0"/>
              <a:ea typeface="HY견고딕" pitchFamily="18" charset="-127"/>
              <a:cs typeface="Arial" pitchFamily="34" charset="0"/>
            </a:endParaRPr>
          </a:p>
        </p:txBody>
      </p:sp>
      <p:sp>
        <p:nvSpPr>
          <p:cNvPr id="86" name="TextBox 85"/>
          <p:cNvSpPr txBox="1"/>
          <p:nvPr/>
        </p:nvSpPr>
        <p:spPr>
          <a:xfrm>
            <a:off x="6392863" y="2418559"/>
            <a:ext cx="1600118" cy="379078"/>
          </a:xfrm>
          <a:prstGeom prst="rect">
            <a:avLst/>
          </a:prstGeom>
          <a:solidFill>
            <a:schemeClr val="bg1">
              <a:lumMod val="95000"/>
            </a:schemeClr>
          </a:solidFill>
        </p:spPr>
        <p:txBody>
          <a:bodyPr wrap="none">
            <a:spAutoFit/>
          </a:bodyPr>
          <a:lstStyle/>
          <a:p>
            <a:pPr marL="266700" indent="-266700" algn="ctr">
              <a:lnSpc>
                <a:spcPct val="130000"/>
              </a:lnSpc>
              <a:buClr>
                <a:srgbClr val="C5003D"/>
              </a:buClr>
              <a:defRPr/>
            </a:pPr>
            <a:r>
              <a:rPr lang="en-US" altLang="ko-KR" sz="1600" b="1" dirty="0" err="1">
                <a:latin typeface="Arial" pitchFamily="34" charset="0"/>
                <a:ea typeface="돋움" pitchFamily="50" charset="-127"/>
                <a:cs typeface="Arial" pitchFamily="34" charset="0"/>
              </a:rPr>
              <a:t>Thiết</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kế</a:t>
            </a:r>
            <a:r>
              <a:rPr lang="en-US" altLang="ko-KR" sz="1600" b="1" dirty="0">
                <a:latin typeface="Arial" pitchFamily="34" charset="0"/>
                <a:ea typeface="돋움" pitchFamily="50" charset="-127"/>
                <a:cs typeface="Arial" pitchFamily="34" charset="0"/>
              </a:rPr>
              <a:t> </a:t>
            </a:r>
            <a:r>
              <a:rPr lang="en-US" altLang="ko-KR" sz="1600" b="1" dirty="0" err="1">
                <a:latin typeface="Arial" pitchFamily="34" charset="0"/>
                <a:ea typeface="돋움" pitchFamily="50" charset="-127"/>
                <a:cs typeface="Arial" pitchFamily="34" charset="0"/>
              </a:rPr>
              <a:t>khác</a:t>
            </a:r>
            <a:r>
              <a:rPr lang="en-US" altLang="ko-KR" sz="1600" b="1" dirty="0">
                <a:latin typeface="Arial" pitchFamily="34" charset="0"/>
                <a:ea typeface="돋움" pitchFamily="50" charset="-127"/>
                <a:cs typeface="Arial" pitchFamily="34" charset="0"/>
              </a:rPr>
              <a:t>..</a:t>
            </a:r>
            <a:endParaRPr lang="ko-KR" altLang="en-US" sz="1600" b="1" dirty="0">
              <a:latin typeface="Arial" pitchFamily="34" charset="0"/>
              <a:ea typeface="돋움" pitchFamily="50" charset="-127"/>
              <a:cs typeface="Arial" pitchFamily="34" charset="0"/>
            </a:endParaRPr>
          </a:p>
        </p:txBody>
      </p:sp>
      <p:sp>
        <p:nvSpPr>
          <p:cNvPr id="7200" name="TextBox 41"/>
          <p:cNvSpPr txBox="1">
            <a:spLocks noChangeArrowheads="1"/>
          </p:cNvSpPr>
          <p:nvPr/>
        </p:nvSpPr>
        <p:spPr bwMode="auto">
          <a:xfrm>
            <a:off x="488950" y="908050"/>
            <a:ext cx="7574509"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174625" indent="-1746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chemeClr val="tx1"/>
              </a:buClr>
              <a:buFont typeface="Wingdings" pitchFamily="2" charset="2"/>
              <a:buChar char="u"/>
            </a:pP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Nếu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mẫu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a:t>
            </a:r>
            <a:r>
              <a:rPr lang="en-US" altLang="ko-KR" sz="1600" b="1" dirty="0">
                <a:latin typeface="Arial" pitchFamily="34" charset="0"/>
                <a:ea typeface="맑은 고딕" pitchFamily="50" charset="-127"/>
                <a:cs typeface="Arial" pitchFamily="34" charset="0"/>
              </a:rPr>
              <a:t> 2 </a:t>
            </a:r>
            <a:r>
              <a:rPr lang="en-US" altLang="ko-KR" sz="1600" b="1" dirty="0" err="1">
                <a:latin typeface="Arial" pitchFamily="34" charset="0"/>
                <a:ea typeface="맑은 고딕" pitchFamily="50" charset="-127"/>
                <a:cs typeface="Arial" pitchFamily="34" charset="0"/>
              </a:rPr>
              <a:t>thiết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bị</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sản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xuất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trong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cùng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một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trình</a:t>
            </a:r>
            <a:endParaRPr lang="ko-KR" altLang="en-US" sz="1600" b="1" dirty="0">
              <a:latin typeface="Arial" pitchFamily="34" charset="0"/>
              <a:ea typeface="맑은 고딕" pitchFamily="50" charset="-127"/>
              <a:cs typeface="Arial" pitchFamily="34" charset="0"/>
            </a:endParaRPr>
          </a:p>
        </p:txBody>
      </p:sp>
      <p:sp>
        <p:nvSpPr>
          <p:cNvPr id="88" name="제목 8"/>
          <p:cNvSpPr txBox="1">
            <a:spLocks/>
          </p:cNvSpPr>
          <p:nvPr/>
        </p:nvSpPr>
        <p:spPr bwMode="auto">
          <a:xfrm>
            <a:off x="5097016" y="260350"/>
            <a:ext cx="4680397" cy="488950"/>
          </a:xfrm>
          <a:prstGeom prst="rect">
            <a:avLst/>
          </a:prstGeom>
          <a:noFill/>
          <a:ln>
            <a:miter lim="800000"/>
            <a:headEnd/>
            <a:tailEnd/>
          </a:ln>
        </p:spPr>
        <p:txBody>
          <a:bodyPr anchor="ctr"/>
          <a:lstStyle/>
          <a:p>
            <a:pPr algn="r">
              <a:defRPr/>
            </a:pPr>
            <a:r>
              <a:rPr lang="en-US" altLang="ko-KR" sz="1600" b="1" kern="0" dirty="0" err="1">
                <a:solidFill>
                  <a:srgbClr val="000000"/>
                </a:solidFill>
                <a:latin typeface="Arial" pitchFamily="34" charset="0"/>
                <a:ea typeface="맑은 고딕"/>
                <a:cs typeface="Arial" pitchFamily="34" charset="0"/>
              </a:rPr>
              <a:t>Mối</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quan</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hệ</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giữa</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Phương</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sai</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và</a:t>
            </a:r>
            <a:r>
              <a:rPr lang="en-US" altLang="ko-KR" sz="1600" b="1" kern="0" dirty="0">
                <a:solidFill>
                  <a:srgbClr val="000000"/>
                </a:solidFill>
                <a:latin typeface="Arial" pitchFamily="34" charset="0"/>
                <a:ea typeface="맑은 고딕"/>
                <a:cs typeface="Arial" pitchFamily="34" charset="0"/>
              </a:rPr>
              <a:t> MSA</a:t>
            </a:r>
            <a:endParaRPr lang="ko-KR" altLang="en-US" sz="1600" b="1" kern="0" dirty="0">
              <a:solidFill>
                <a:srgbClr val="000000"/>
              </a:solidFill>
              <a:latin typeface="Arial" pitchFamily="34" charset="0"/>
              <a:ea typeface="맑은 고딕"/>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185</a:t>
            </a:fld>
            <a:endParaRPr lang="ko-KR" altLang="en-US" dirty="0">
              <a:latin typeface="Arial" pitchFamily="34" charset="0"/>
              <a:cs typeface="Arial" pitchFamily="34" charset="0"/>
            </a:endParaRPr>
          </a:p>
        </p:txBody>
      </p:sp>
      <p:sp>
        <p:nvSpPr>
          <p:cNvPr id="33" name="TextBox 29"/>
          <p:cNvSpPr txBox="1">
            <a:spLocks noChangeArrowheads="1"/>
          </p:cNvSpPr>
          <p:nvPr/>
        </p:nvSpPr>
        <p:spPr bwMode="auto">
          <a:xfrm>
            <a:off x="858838" y="5661025"/>
            <a:ext cx="764331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Bao</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nhiêu</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phần</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trăm</a:t>
            </a:r>
            <a:r>
              <a:rPr lang="en-US" altLang="ko-KR" sz="1600" b="1" dirty="0">
                <a:solidFill>
                  <a:srgbClr val="FF0000"/>
                </a:solidFill>
                <a:latin typeface="맑은 고딕" pitchFamily="50" charset="-127"/>
                <a:ea typeface="맑은 고딕" pitchFamily="50" charset="-127"/>
              </a:rPr>
              <a:t> 1mm ‘</a:t>
            </a:r>
            <a:r>
              <a:rPr lang="en-US" altLang="ko-KR" sz="1600" b="1" dirty="0" err="1">
                <a:solidFill>
                  <a:srgbClr val="FF0000"/>
                </a:solidFill>
                <a:latin typeface="맑은 고딕" pitchFamily="50" charset="-127"/>
                <a:ea typeface="맑은 고딕" pitchFamily="50" charset="-127"/>
              </a:rPr>
              <a:t>sai</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khác</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đến</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từ</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lỗi</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đo</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lường</a:t>
            </a:r>
            <a:r>
              <a:rPr lang="en-US" altLang="ko-KR" sz="1600" b="1" dirty="0">
                <a:solidFill>
                  <a:srgbClr val="FF0000"/>
                </a:solidFill>
                <a:latin typeface="맑은 고딕" pitchFamily="50" charset="-127"/>
                <a:ea typeface="맑은 고딕" pitchFamily="50" charset="-127"/>
              </a:rPr>
              <a:t>?</a:t>
            </a:r>
          </a:p>
          <a:p>
            <a:pPr eaLnBrk="1" hangingPunct="1"/>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Vấn</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đề</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trên</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sẽ</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được</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giải</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quyết</a:t>
            </a:r>
            <a:r>
              <a:rPr lang="en-US" altLang="ko-KR" sz="1600" b="1" dirty="0">
                <a:solidFill>
                  <a:srgbClr val="FF0000"/>
                </a:solidFill>
                <a:latin typeface="맑은 고딕" pitchFamily="50" charset="-127"/>
                <a:ea typeface="맑은 고딕" pitchFamily="50" charset="-127"/>
              </a:rPr>
              <a:t> </a:t>
            </a:r>
            <a:r>
              <a:rPr lang="en-US" altLang="ko-KR" sz="1600" b="1" dirty="0" err="1">
                <a:solidFill>
                  <a:srgbClr val="FF0000"/>
                </a:solidFill>
                <a:latin typeface="맑은 고딕" pitchFamily="50" charset="-127"/>
                <a:ea typeface="맑은 고딕" pitchFamily="50" charset="-127"/>
              </a:rPr>
              <a:t>nhờ</a:t>
            </a:r>
            <a:r>
              <a:rPr lang="en-US" altLang="ko-KR" sz="1600" b="1" dirty="0">
                <a:solidFill>
                  <a:srgbClr val="FF0000"/>
                </a:solidFill>
                <a:latin typeface="맑은 고딕" pitchFamily="50" charset="-127"/>
                <a:ea typeface="맑은 고딕" pitchFamily="50" charset="-127"/>
              </a:rPr>
              <a:t> Measurement System Analysis (MSA)</a:t>
            </a:r>
            <a:endParaRPr lang="ko-KR" altLang="en-US" sz="1600" b="1" dirty="0">
              <a:solidFill>
                <a:srgbClr val="FF0000"/>
              </a:solidFill>
              <a:latin typeface="맑은 고딕" pitchFamily="50" charset="-127"/>
              <a:ea typeface="맑은 고딕" pitchFamily="50" charset="-127"/>
            </a:endParaRPr>
          </a:p>
        </p:txBody>
      </p:sp>
      <p:pic>
        <p:nvPicPr>
          <p:cNvPr id="3" name="Picture 2"/>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10088324" y="653567"/>
            <a:ext cx="3914737" cy="5219649"/>
          </a:xfrm>
          <a:prstGeom prst="rect">
            <a:avLst/>
          </a:prstGeom>
        </p:spPr>
      </p:pic>
    </p:spTree>
    <p:extLst>
      <p:ext uri="{BB962C8B-B14F-4D97-AF65-F5344CB8AC3E}">
        <p14:creationId xmlns:p14="http://schemas.microsoft.com/office/powerpoint/2010/main" val="4146006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82"/>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3" grpId="0" animBg="1"/>
      <p:bldP spid="80" grpId="0" animBg="1"/>
      <p:bldP spid="81" grpId="0" animBg="1"/>
      <p:bldP spid="84" grpId="0"/>
      <p:bldP spid="85" grpId="0"/>
      <p:bldP spid="86"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a:defRPr/>
            </a:pPr>
            <a:fld id="{336E293E-7793-468B-AB4C-49C46432963A}" type="slidenum">
              <a:rPr lang="ko-KR" altLang="en-US" smtClean="0"/>
              <a:pPr>
                <a:defRPr/>
              </a:pPr>
              <a:t>186</a:t>
            </a:fld>
            <a:endParaRPr lang="ko-KR" altLang="en-US" dirty="0"/>
          </a:p>
        </p:txBody>
      </p:sp>
      <p:sp>
        <p:nvSpPr>
          <p:cNvPr id="4" name="Rectangle 3"/>
          <p:cNvSpPr/>
          <p:nvPr/>
        </p:nvSpPr>
        <p:spPr>
          <a:xfrm>
            <a:off x="1138014" y="764704"/>
            <a:ext cx="7629973" cy="769441"/>
          </a:xfrm>
          <a:prstGeom prst="rect">
            <a:avLst/>
          </a:prstGeom>
          <a:noFill/>
        </p:spPr>
        <p:txBody>
          <a:bodyPr wrap="none" lIns="91440" tIns="45720" rIns="91440" bIns="45720">
            <a:spAutoFit/>
          </a:bodyPr>
          <a:lstStyle/>
          <a:p>
            <a:pPr algn="ctr"/>
            <a:r>
              <a:rPr lang="en-US" sz="4400" b="1" dirty="0" err="1">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Định</a:t>
            </a:r>
            <a:r>
              <a:rPr lang="en-US" sz="4400" b="1" dirty="0">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 </a:t>
            </a:r>
            <a:r>
              <a:rPr lang="en-US" sz="4400" b="1" dirty="0" err="1">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nghĩa</a:t>
            </a:r>
            <a:r>
              <a:rPr lang="en-US" sz="4400" b="1" dirty="0">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 </a:t>
            </a:r>
            <a:r>
              <a:rPr lang="en-US" sz="4400" b="1" dirty="0" err="1">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chiều</a:t>
            </a:r>
            <a:r>
              <a:rPr lang="en-US" sz="4400" b="1" dirty="0">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 </a:t>
            </a:r>
            <a:r>
              <a:rPr lang="en-US" sz="4400" b="1" dirty="0" err="1">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dài</a:t>
            </a:r>
            <a:r>
              <a:rPr lang="en-US" sz="4400" b="1" dirty="0">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 </a:t>
            </a:r>
            <a:r>
              <a:rPr lang="en-US" sz="4400" b="1" dirty="0" err="1">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của</a:t>
            </a:r>
            <a:r>
              <a:rPr lang="en-US" sz="4400" b="1" dirty="0">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 1 </a:t>
            </a:r>
            <a:r>
              <a:rPr lang="en-US" sz="4400" b="1" dirty="0" err="1">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mét</a:t>
            </a:r>
            <a:r>
              <a:rPr lang="en-US" sz="4400" b="1" dirty="0">
                <a:ln w="22225">
                  <a:solidFill>
                    <a:schemeClr val="accent2"/>
                  </a:solidFill>
                  <a:prstDash val="solid"/>
                </a:ln>
                <a:solidFill>
                  <a:schemeClr val="accent2">
                    <a:lumMod val="40000"/>
                    <a:lumOff val="60000"/>
                  </a:schemeClr>
                </a:solidFill>
                <a:latin typeface="Calibri" panose="020F0502020204030204" pitchFamily="34" charset="0"/>
                <a:cs typeface="Calibri" panose="020F0502020204030204" pitchFamily="34" charset="0"/>
              </a:rPr>
              <a:t>?</a:t>
            </a:r>
            <a:endParaRPr lang="en-US" sz="4400" b="1" cap="none" spc="0" dirty="0">
              <a:ln w="22225">
                <a:solidFill>
                  <a:schemeClr val="accent2"/>
                </a:solidFill>
                <a:prstDash val="solid"/>
              </a:ln>
              <a:solidFill>
                <a:schemeClr val="accent2">
                  <a:lumMod val="40000"/>
                  <a:lumOff val="60000"/>
                </a:schemeClr>
              </a:solidFill>
              <a:effectLst/>
              <a:latin typeface="Calibri" panose="020F0502020204030204" pitchFamily="34" charset="0"/>
              <a:cs typeface="Calibri" panose="020F0502020204030204" pitchFamily="34" charset="0"/>
            </a:endParaRPr>
          </a:p>
        </p:txBody>
      </p:sp>
      <p:sp>
        <p:nvSpPr>
          <p:cNvPr id="5" name="Rectangle 4"/>
          <p:cNvSpPr/>
          <p:nvPr/>
        </p:nvSpPr>
        <p:spPr>
          <a:xfrm>
            <a:off x="416496" y="1844824"/>
            <a:ext cx="9145016" cy="4247317"/>
          </a:xfrm>
          <a:prstGeom prst="rect">
            <a:avLst/>
          </a:prstGeom>
        </p:spPr>
        <p:txBody>
          <a:bodyPr wrap="square">
            <a:spAutoFit/>
          </a:bodyPr>
          <a:lstStyle/>
          <a:p>
            <a:pPr marL="285750" indent="-285750" algn="just" latinLnBrk="0">
              <a:buFont typeface="Wingdings" panose="05000000000000000000" pitchFamily="2" charset="2"/>
              <a:buChar char="q"/>
            </a:pPr>
            <a:r>
              <a:rPr lang="vi-VN" dirty="0">
                <a:solidFill>
                  <a:srgbClr val="222222"/>
                </a:solidFill>
                <a:latin typeface="Arial" panose="020B0604020202020204" pitchFamily="34" charset="0"/>
              </a:rPr>
              <a:t>1790: Một ủy ban được thành lập tại </a:t>
            </a:r>
            <a:r>
              <a:rPr lang="vi-VN" dirty="0">
                <a:solidFill>
                  <a:srgbClr val="0B0080"/>
                </a:solidFill>
                <a:latin typeface="Arial" panose="020B0604020202020204" pitchFamily="34" charset="0"/>
                <a:hlinkClick r:id="rId3" tooltip="Pháp"/>
              </a:rPr>
              <a:t>Pháp</a:t>
            </a:r>
            <a:r>
              <a:rPr lang="vi-VN" dirty="0">
                <a:solidFill>
                  <a:srgbClr val="222222"/>
                </a:solidFill>
                <a:latin typeface="Arial" panose="020B0604020202020204" pitchFamily="34" charset="0"/>
              </a:rPr>
              <a:t> đã quyết định chọn độ dài một phần mười triệu của đoạn </a:t>
            </a:r>
            <a:r>
              <a:rPr lang="vi-VN" dirty="0">
                <a:solidFill>
                  <a:srgbClr val="0B0080"/>
                </a:solidFill>
                <a:latin typeface="Arial" panose="020B0604020202020204" pitchFamily="34" charset="0"/>
                <a:hlinkClick r:id="rId4" tooltip="Kinh tuyến"/>
              </a:rPr>
              <a:t>kinh tuyến</a:t>
            </a:r>
            <a:r>
              <a:rPr lang="vi-VN" dirty="0">
                <a:solidFill>
                  <a:srgbClr val="222222"/>
                </a:solidFill>
                <a:latin typeface="Arial" panose="020B0604020202020204" pitchFamily="34" charset="0"/>
              </a:rPr>
              <a:t> từ </a:t>
            </a:r>
            <a:r>
              <a:rPr lang="vi-VN" dirty="0">
                <a:solidFill>
                  <a:srgbClr val="0B0080"/>
                </a:solidFill>
                <a:latin typeface="Arial" panose="020B0604020202020204" pitchFamily="34" charset="0"/>
                <a:hlinkClick r:id="rId5" tooltip="Xích đạo"/>
              </a:rPr>
              <a:t>xích đạo</a:t>
            </a:r>
            <a:r>
              <a:rPr lang="vi-VN" dirty="0">
                <a:solidFill>
                  <a:srgbClr val="222222"/>
                </a:solidFill>
                <a:latin typeface="Arial" panose="020B0604020202020204" pitchFamily="34" charset="0"/>
              </a:rPr>
              <a:t> qua </a:t>
            </a:r>
            <a:r>
              <a:rPr lang="vi-VN" dirty="0">
                <a:solidFill>
                  <a:srgbClr val="0B0080"/>
                </a:solidFill>
                <a:latin typeface="Arial" panose="020B0604020202020204" pitchFamily="34" charset="0"/>
                <a:hlinkClick r:id="rId6" tooltip="Paris"/>
              </a:rPr>
              <a:t>Paris</a:t>
            </a:r>
            <a:r>
              <a:rPr lang="vi-VN" dirty="0">
                <a:solidFill>
                  <a:srgbClr val="222222"/>
                </a:solidFill>
                <a:latin typeface="Arial" panose="020B0604020202020204" pitchFamily="34" charset="0"/>
              </a:rPr>
              <a:t> đến </a:t>
            </a:r>
            <a:r>
              <a:rPr lang="vi-VN" dirty="0">
                <a:solidFill>
                  <a:srgbClr val="0B0080"/>
                </a:solidFill>
                <a:latin typeface="Arial" panose="020B0604020202020204" pitchFamily="34" charset="0"/>
                <a:hlinkClick r:id="rId7" tooltip="Bắc Cực"/>
              </a:rPr>
              <a:t>Bắc Cực</a:t>
            </a:r>
            <a:r>
              <a:rPr lang="vi-VN" dirty="0">
                <a:solidFill>
                  <a:srgbClr val="222222"/>
                </a:solidFill>
                <a:latin typeface="Arial" panose="020B0604020202020204" pitchFamily="34" charset="0"/>
              </a:rPr>
              <a:t> làm một độ dài chuẩn </a:t>
            </a:r>
            <a:r>
              <a:rPr lang="en-US" dirty="0">
                <a:solidFill>
                  <a:srgbClr val="222222"/>
                </a:solidFill>
                <a:latin typeface="Arial" panose="020B0604020202020204" pitchFamily="34" charset="0"/>
              </a:rPr>
              <a:t> </a:t>
            </a:r>
            <a:r>
              <a:rPr lang="vi-VN" dirty="0">
                <a:solidFill>
                  <a:srgbClr val="222222"/>
                </a:solidFill>
                <a:latin typeface="Arial" panose="020B0604020202020204" pitchFamily="34" charset="0"/>
              </a:rPr>
              <a:t>gọi là mét.</a:t>
            </a:r>
          </a:p>
          <a:p>
            <a:pPr marL="285750" indent="-285750" algn="just" latinLnBrk="0">
              <a:buFont typeface="Wingdings" panose="05000000000000000000" pitchFamily="2" charset="2"/>
              <a:buChar char="q"/>
            </a:pPr>
            <a:r>
              <a:rPr lang="vi-VN" dirty="0">
                <a:solidFill>
                  <a:srgbClr val="222222"/>
                </a:solidFill>
                <a:latin typeface="Arial" panose="020B0604020202020204" pitchFamily="34" charset="0"/>
              </a:rPr>
              <a:t>1799: Ủy ban chế tạo thước mét chuẩn đầu tiên làm bằng 90% </a:t>
            </a:r>
            <a:r>
              <a:rPr lang="vi-VN" dirty="0">
                <a:solidFill>
                  <a:srgbClr val="0B0080"/>
                </a:solidFill>
                <a:latin typeface="Arial" panose="020B0604020202020204" pitchFamily="34" charset="0"/>
                <a:hlinkClick r:id="rId8" tooltip="Platin"/>
              </a:rPr>
              <a:t>platin</a:t>
            </a:r>
            <a:r>
              <a:rPr lang="vi-VN" dirty="0">
                <a:solidFill>
                  <a:srgbClr val="222222"/>
                </a:solidFill>
                <a:latin typeface="Arial" panose="020B0604020202020204" pitchFamily="34" charset="0"/>
              </a:rPr>
              <a:t> và 10% </a:t>
            </a:r>
            <a:r>
              <a:rPr lang="vi-VN" dirty="0">
                <a:solidFill>
                  <a:srgbClr val="0B0080"/>
                </a:solidFill>
                <a:latin typeface="Arial" panose="020B0604020202020204" pitchFamily="34" charset="0"/>
                <a:hlinkClick r:id="rId9" tooltip="Iridi"/>
              </a:rPr>
              <a:t>iridi</a:t>
            </a:r>
            <a:r>
              <a:rPr lang="vi-VN" dirty="0">
                <a:solidFill>
                  <a:srgbClr val="222222"/>
                </a:solidFill>
                <a:latin typeface="Arial" panose="020B0604020202020204" pitchFamily="34" charset="0"/>
              </a:rPr>
              <a:t>.</a:t>
            </a:r>
          </a:p>
          <a:p>
            <a:pPr marL="285750" indent="-285750" algn="just" latinLnBrk="0">
              <a:buFont typeface="Wingdings" panose="05000000000000000000" pitchFamily="2" charset="2"/>
              <a:buChar char="q"/>
            </a:pPr>
            <a:r>
              <a:rPr lang="vi-VN" dirty="0">
                <a:solidFill>
                  <a:srgbClr val="222222"/>
                </a:solidFill>
                <a:latin typeface="Arial" panose="020B0604020202020204" pitchFamily="34" charset="0"/>
              </a:rPr>
              <a:t>Thế kỉ 19: các </a:t>
            </a:r>
            <a:r>
              <a:rPr lang="vi-VN" dirty="0">
                <a:solidFill>
                  <a:srgbClr val="A55858"/>
                </a:solidFill>
                <a:latin typeface="Arial" panose="020B0604020202020204" pitchFamily="34" charset="0"/>
                <a:hlinkClick r:id="rId10" tooltip="Phép đo chính xác (trang chưa được viết)"/>
              </a:rPr>
              <a:t>phép đo chính xác</a:t>
            </a:r>
            <a:r>
              <a:rPr lang="vi-VN" dirty="0">
                <a:solidFill>
                  <a:srgbClr val="222222"/>
                </a:solidFill>
                <a:latin typeface="Arial" panose="020B0604020202020204" pitchFamily="34" charset="0"/>
              </a:rPr>
              <a:t> hơn cho thấy rằng độ dài của thước mét bằng platin ngắn hơn độ dài 1/10 triệu đoạn </a:t>
            </a:r>
            <a:r>
              <a:rPr lang="vi-VN" dirty="0">
                <a:solidFill>
                  <a:srgbClr val="0B0080"/>
                </a:solidFill>
                <a:latin typeface="Arial" panose="020B0604020202020204" pitchFamily="34" charset="0"/>
                <a:hlinkClick r:id="rId4" tooltip="Kinh tuyến"/>
              </a:rPr>
              <a:t>kinh tuyến</a:t>
            </a:r>
            <a:r>
              <a:rPr lang="vi-VN" dirty="0">
                <a:solidFill>
                  <a:srgbClr val="222222"/>
                </a:solidFill>
                <a:latin typeface="Arial" panose="020B0604020202020204" pitchFamily="34" charset="0"/>
              </a:rPr>
              <a:t> trên một đoạn 0,08 </a:t>
            </a:r>
            <a:r>
              <a:rPr lang="vi-VN" dirty="0">
                <a:solidFill>
                  <a:srgbClr val="0B0080"/>
                </a:solidFill>
                <a:latin typeface="Arial" panose="020B0604020202020204" pitchFamily="34" charset="0"/>
                <a:hlinkClick r:id="rId11" tooltip="MM"/>
              </a:rPr>
              <a:t>mm</a:t>
            </a:r>
            <a:r>
              <a:rPr lang="vi-VN" dirty="0">
                <a:solidFill>
                  <a:srgbClr val="222222"/>
                </a:solidFill>
                <a:latin typeface="Arial" panose="020B0604020202020204" pitchFamily="34" charset="0"/>
              </a:rPr>
              <a:t>.</a:t>
            </a:r>
          </a:p>
          <a:p>
            <a:pPr marL="285750" indent="-285750" algn="just" latinLnBrk="0">
              <a:buFont typeface="Wingdings" panose="05000000000000000000" pitchFamily="2" charset="2"/>
              <a:buChar char="q"/>
            </a:pPr>
            <a:r>
              <a:rPr lang="vi-VN" dirty="0">
                <a:solidFill>
                  <a:srgbClr val="222222"/>
                </a:solidFill>
                <a:latin typeface="Arial" panose="020B0604020202020204" pitchFamily="34" charset="0"/>
              </a:rPr>
              <a:t>1889: </a:t>
            </a:r>
            <a:r>
              <a:rPr lang="vi-VN" dirty="0">
                <a:solidFill>
                  <a:srgbClr val="A55858"/>
                </a:solidFill>
                <a:latin typeface="Arial" panose="020B0604020202020204" pitchFamily="34" charset="0"/>
                <a:hlinkClick r:id="rId12" tooltip="Hội nghị Đo lường Quốc tế (trang chưa được viết)"/>
              </a:rPr>
              <a:t>Hội nghị Đo lường Quốc tế</a:t>
            </a:r>
            <a:r>
              <a:rPr lang="vi-VN" dirty="0">
                <a:solidFill>
                  <a:srgbClr val="222222"/>
                </a:solidFill>
                <a:latin typeface="Arial" panose="020B0604020202020204" pitchFamily="34" charset="0"/>
              </a:rPr>
              <a:t> quyết định chọn độ dài thước mét bằng platin làm </a:t>
            </a:r>
            <a:r>
              <a:rPr lang="en-US" dirty="0">
                <a:solidFill>
                  <a:srgbClr val="222222"/>
                </a:solidFill>
                <a:latin typeface="Arial" panose="020B0604020202020204" pitchFamily="34" charset="0"/>
              </a:rPr>
              <a:t> </a:t>
            </a:r>
            <a:r>
              <a:rPr lang="vi-VN" dirty="0">
                <a:solidFill>
                  <a:srgbClr val="222222"/>
                </a:solidFill>
                <a:latin typeface="Arial" panose="020B0604020202020204" pitchFamily="34" charset="0"/>
              </a:rPr>
              <a:t>cơ sở để chế tạo một thước mét bằng platin-</a:t>
            </a:r>
            <a:r>
              <a:rPr lang="vi-VN" dirty="0">
                <a:solidFill>
                  <a:srgbClr val="0B0080"/>
                </a:solidFill>
                <a:latin typeface="Arial" panose="020B0604020202020204" pitchFamily="34" charset="0"/>
                <a:hlinkClick r:id="rId9" tooltip="Iridi"/>
              </a:rPr>
              <a:t>iridi</a:t>
            </a:r>
            <a:r>
              <a:rPr lang="vi-VN" dirty="0">
                <a:solidFill>
                  <a:srgbClr val="222222"/>
                </a:solidFill>
                <a:latin typeface="Arial" panose="020B0604020202020204" pitchFamily="34" charset="0"/>
              </a:rPr>
              <a:t>, có mặt cắt hình chữ X để làm </a:t>
            </a:r>
            <a:r>
              <a:rPr lang="vi-VN" dirty="0">
                <a:solidFill>
                  <a:srgbClr val="A55858"/>
                </a:solidFill>
                <a:latin typeface="Arial" panose="020B0604020202020204" pitchFamily="34" charset="0"/>
                <a:hlinkClick r:id="rId13" tooltip="Thước mét tiêu chuẩn quốc tế (trang chưa được viết)"/>
              </a:rPr>
              <a:t>thước mét tiêu chuẩn quốc tế</a:t>
            </a:r>
            <a:r>
              <a:rPr lang="vi-VN" dirty="0">
                <a:solidFill>
                  <a:srgbClr val="222222"/>
                </a:solidFill>
                <a:latin typeface="Arial" panose="020B0604020202020204" pitchFamily="34" charset="0"/>
              </a:rPr>
              <a:t>, cất giữ tại Viện Đo lường Quốc tế ở Paris.</a:t>
            </a:r>
          </a:p>
          <a:p>
            <a:pPr marL="285750" indent="-285750" algn="just" latinLnBrk="0">
              <a:buFont typeface="Wingdings" panose="05000000000000000000" pitchFamily="2" charset="2"/>
              <a:buChar char="q"/>
            </a:pPr>
            <a:r>
              <a:rPr lang="vi-VN" dirty="0">
                <a:solidFill>
                  <a:srgbClr val="222222"/>
                </a:solidFill>
                <a:latin typeface="Arial" panose="020B0604020202020204" pitchFamily="34" charset="0"/>
              </a:rPr>
              <a:t>Tháng 10 năm 1960: Hội nghị Đo lường Quốc tế khóa 11 quyết định: "độ dài một mét bằng 1.650.763,73 lần độ dài </a:t>
            </a:r>
            <a:r>
              <a:rPr lang="vi-VN" dirty="0">
                <a:solidFill>
                  <a:srgbClr val="0B0080"/>
                </a:solidFill>
                <a:latin typeface="Arial" panose="020B0604020202020204" pitchFamily="34" charset="0"/>
                <a:hlinkClick r:id="rId14" tooltip="Bước sóng"/>
              </a:rPr>
              <a:t>bước sóng</a:t>
            </a:r>
            <a:r>
              <a:rPr lang="vi-VN" dirty="0">
                <a:solidFill>
                  <a:srgbClr val="222222"/>
                </a:solidFill>
                <a:latin typeface="Arial" panose="020B0604020202020204" pitchFamily="34" charset="0"/>
              </a:rPr>
              <a:t> ánh sáng </a:t>
            </a:r>
            <a:r>
              <a:rPr lang="vi-VN" dirty="0">
                <a:solidFill>
                  <a:srgbClr val="A55858"/>
                </a:solidFill>
                <a:latin typeface="Arial" panose="020B0604020202020204" pitchFamily="34" charset="0"/>
                <a:hlinkClick r:id="rId15" tooltip="Màu vàng cam (trang chưa được viết)"/>
              </a:rPr>
              <a:t>màu vàng cam</a:t>
            </a:r>
            <a:r>
              <a:rPr lang="vi-VN" dirty="0">
                <a:solidFill>
                  <a:srgbClr val="222222"/>
                </a:solidFill>
                <a:latin typeface="Arial" panose="020B0604020202020204" pitchFamily="34" charset="0"/>
              </a:rPr>
              <a:t> của </a:t>
            </a:r>
            <a:r>
              <a:rPr lang="vi-VN" dirty="0">
                <a:solidFill>
                  <a:srgbClr val="A55858"/>
                </a:solidFill>
                <a:latin typeface="Arial" panose="020B0604020202020204" pitchFamily="34" charset="0"/>
                <a:hlinkClick r:id="rId16" tooltip="Kprypton-86 (trang chưa được viết)"/>
              </a:rPr>
              <a:t>Kprypton-86</a:t>
            </a:r>
            <a:r>
              <a:rPr lang="vi-VN" dirty="0">
                <a:solidFill>
                  <a:srgbClr val="222222"/>
                </a:solidFill>
                <a:latin typeface="Arial" panose="020B0604020202020204" pitchFamily="34" charset="0"/>
              </a:rPr>
              <a:t> </a:t>
            </a:r>
            <a:r>
              <a:rPr lang="en-US" dirty="0">
                <a:solidFill>
                  <a:srgbClr val="222222"/>
                </a:solidFill>
                <a:latin typeface="Arial" panose="020B0604020202020204" pitchFamily="34" charset="0"/>
              </a:rPr>
              <a:t> </a:t>
            </a:r>
            <a:r>
              <a:rPr lang="vi-VN" dirty="0">
                <a:solidFill>
                  <a:srgbClr val="222222"/>
                </a:solidFill>
                <a:latin typeface="Arial" panose="020B0604020202020204" pitchFamily="34" charset="0"/>
              </a:rPr>
              <a:t>phát ra trong chân không".</a:t>
            </a:r>
          </a:p>
          <a:p>
            <a:pPr marL="285750" indent="-285750" algn="just" latinLnBrk="0">
              <a:buFont typeface="Wingdings" panose="05000000000000000000" pitchFamily="2" charset="2"/>
              <a:buChar char="q"/>
            </a:pPr>
            <a:r>
              <a:rPr lang="vi-VN" dirty="0">
                <a:solidFill>
                  <a:srgbClr val="222222"/>
                </a:solidFill>
                <a:latin typeface="Arial" panose="020B0604020202020204" pitchFamily="34" charset="0"/>
              </a:rPr>
              <a:t>Ngày 20 tháng 10 năm 1983: Hội nghị Đo lường Quốc tế khóa 17 định nghĩa lại mét: </a:t>
            </a:r>
            <a:r>
              <a:rPr lang="vi-VN" i="1" dirty="0">
                <a:solidFill>
                  <a:srgbClr val="FF0000"/>
                </a:solidFill>
                <a:latin typeface="Arial" panose="020B0604020202020204" pitchFamily="34" charset="0"/>
              </a:rPr>
              <a:t>"một mét là khoảng cách mà ánh sáng truyền được trong chân không trong khoảng thời gian của 1 / 299 792 458 giây".</a:t>
            </a:r>
            <a:endParaRPr lang="vi-VN" b="0" i="1" dirty="0">
              <a:solidFill>
                <a:srgbClr val="FF0000"/>
              </a:solidFill>
              <a:effectLst/>
              <a:latin typeface="Arial" panose="020B0604020202020204" pitchFamily="34" charset="0"/>
            </a:endParaRPr>
          </a:p>
        </p:txBody>
      </p:sp>
    </p:spTree>
    <p:extLst>
      <p:ext uri="{BB962C8B-B14F-4D97-AF65-F5344CB8AC3E}">
        <p14:creationId xmlns:p14="http://schemas.microsoft.com/office/powerpoint/2010/main" val="309805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1.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Giới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thiệu</a:t>
            </a:r>
            <a:endParaRPr lang="ko-KR" altLang="en-US" sz="2000" b="1" kern="0" dirty="0">
              <a:solidFill>
                <a:srgbClr val="000000"/>
              </a:solidFill>
              <a:latin typeface="Arial" pitchFamily="34" charset="0"/>
              <a:ea typeface="맑은 고딕"/>
              <a:cs typeface="Arial" pitchFamily="34" charset="0"/>
            </a:endParaRPr>
          </a:p>
        </p:txBody>
      </p:sp>
      <p:sp>
        <p:nvSpPr>
          <p:cNvPr id="38" name="제목 8"/>
          <p:cNvSpPr txBox="1">
            <a:spLocks/>
          </p:cNvSpPr>
          <p:nvPr/>
        </p:nvSpPr>
        <p:spPr bwMode="auto">
          <a:xfrm>
            <a:off x="4448944" y="260350"/>
            <a:ext cx="5328469" cy="488950"/>
          </a:xfrm>
          <a:prstGeom prst="rect">
            <a:avLst/>
          </a:prstGeom>
          <a:noFill/>
          <a:ln>
            <a:miter lim="800000"/>
            <a:headEnd/>
            <a:tailEnd/>
          </a:ln>
        </p:spPr>
        <p:txBody>
          <a:bodyPr anchor="ctr"/>
          <a:lstStyle/>
          <a:p>
            <a:pPr algn="r">
              <a:defRPr/>
            </a:pPr>
            <a:r>
              <a:rPr lang="en-US" altLang="ko-KR" sz="1600" b="1" kern="0" dirty="0">
                <a:solidFill>
                  <a:srgbClr val="000000"/>
                </a:solidFill>
                <a:latin typeface="Arial" pitchFamily="34" charset="0"/>
                <a:ea typeface="맑은 고딕"/>
                <a:cs typeface="Arial" pitchFamily="34" charset="0"/>
              </a:rPr>
              <a:t>Ý </a:t>
            </a:r>
            <a:r>
              <a:rPr lang="en-US" altLang="ko-KR" sz="1600" b="1" kern="0" dirty="0" err="1">
                <a:solidFill>
                  <a:srgbClr val="000000"/>
                </a:solidFill>
                <a:latin typeface="Arial" pitchFamily="34" charset="0"/>
                <a:ea typeface="맑은 고딕"/>
                <a:cs typeface="Arial" pitchFamily="34" charset="0"/>
              </a:rPr>
              <a:t>nghĩa</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của</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Kiểm</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định</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hệ</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thống</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đo</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lường</a:t>
            </a:r>
            <a:endParaRPr lang="ko-KR" altLang="en-US" sz="1600" b="1" kern="0" dirty="0">
              <a:solidFill>
                <a:srgbClr val="000000"/>
              </a:solidFill>
              <a:latin typeface="Arial" pitchFamily="34" charset="0"/>
              <a:ea typeface="맑은 고딕"/>
              <a:cs typeface="Arial" pitchFamily="34" charset="0"/>
            </a:endParaRPr>
          </a:p>
        </p:txBody>
      </p:sp>
      <p:sp>
        <p:nvSpPr>
          <p:cNvPr id="39" name="Freeform 2"/>
          <p:cNvSpPr>
            <a:spLocks/>
          </p:cNvSpPr>
          <p:nvPr/>
        </p:nvSpPr>
        <p:spPr bwMode="auto">
          <a:xfrm>
            <a:off x="1492250" y="4579938"/>
            <a:ext cx="1436688" cy="1357312"/>
          </a:xfrm>
          <a:custGeom>
            <a:avLst/>
            <a:gdLst/>
            <a:ahLst/>
            <a:cxnLst>
              <a:cxn ang="0">
                <a:pos x="0" y="391"/>
              </a:cxn>
              <a:cxn ang="0">
                <a:pos x="609" y="0"/>
              </a:cxn>
              <a:cxn ang="0">
                <a:pos x="906" y="414"/>
              </a:cxn>
              <a:cxn ang="0">
                <a:pos x="861" y="447"/>
              </a:cxn>
              <a:cxn ang="0">
                <a:pos x="162" y="855"/>
              </a:cxn>
              <a:cxn ang="0">
                <a:pos x="0" y="391"/>
              </a:cxn>
            </a:cxnLst>
            <a:rect l="0" t="0" r="r" b="b"/>
            <a:pathLst>
              <a:path w="906" h="855">
                <a:moveTo>
                  <a:pt x="0" y="391"/>
                </a:moveTo>
                <a:lnTo>
                  <a:pt x="609" y="0"/>
                </a:lnTo>
                <a:lnTo>
                  <a:pt x="906" y="414"/>
                </a:lnTo>
                <a:lnTo>
                  <a:pt x="861" y="447"/>
                </a:lnTo>
                <a:lnTo>
                  <a:pt x="162" y="855"/>
                </a:lnTo>
                <a:lnTo>
                  <a:pt x="0" y="391"/>
                </a:lnTo>
                <a:close/>
              </a:path>
            </a:pathLst>
          </a:custGeom>
          <a:gradFill rotWithShape="0">
            <a:gsLst>
              <a:gs pos="0">
                <a:schemeClr val="bg1"/>
              </a:gs>
              <a:gs pos="100000">
                <a:schemeClr val="bg1">
                  <a:gamma/>
                  <a:shade val="81961"/>
                  <a:invGamma/>
                </a:schemeClr>
              </a:gs>
            </a:gsLst>
            <a:lin ang="18900000" scaled="1"/>
          </a:gradFill>
          <a:ln w="25400" cap="flat" cmpd="sng">
            <a:solidFill>
              <a:schemeClr val="tx1"/>
            </a:solidFill>
            <a:prstDash val="solid"/>
            <a:round/>
            <a:headEnd type="none" w="med" len="med"/>
            <a:tailEnd type="none" w="med" len="med"/>
          </a:ln>
          <a:effectLst/>
        </p:spPr>
        <p:txBody>
          <a:bodyPr/>
          <a:lstStyle/>
          <a:p>
            <a:pPr>
              <a:defRPr/>
            </a:pPr>
            <a:endParaRPr lang="ko-KR" altLang="en-US">
              <a:latin typeface="Arial" pitchFamily="34" charset="0"/>
              <a:cs typeface="Arial" pitchFamily="34" charset="0"/>
            </a:endParaRPr>
          </a:p>
        </p:txBody>
      </p:sp>
      <p:sp>
        <p:nvSpPr>
          <p:cNvPr id="8198" name="Rectangle 3"/>
          <p:cNvSpPr>
            <a:spLocks noChangeArrowheads="1"/>
          </p:cNvSpPr>
          <p:nvPr/>
        </p:nvSpPr>
        <p:spPr bwMode="auto">
          <a:xfrm>
            <a:off x="506413" y="947738"/>
            <a:ext cx="9210675" cy="1977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defTabSz="952500" eaLnBrk="0" hangingPunct="0">
              <a:defRPr kumimoji="1">
                <a:solidFill>
                  <a:schemeClr val="tx1"/>
                </a:solidFill>
                <a:latin typeface="굴림" pitchFamily="50" charset="-127"/>
                <a:ea typeface="굴림" pitchFamily="50" charset="-127"/>
              </a:defRPr>
            </a:lvl1pPr>
            <a:lvl2pPr marL="374650" indent="-147638" defTabSz="952500" eaLnBrk="0" hangingPunct="0">
              <a:defRPr kumimoji="1">
                <a:solidFill>
                  <a:schemeClr val="tx1"/>
                </a:solidFill>
                <a:latin typeface="굴림" pitchFamily="50" charset="-127"/>
                <a:ea typeface="굴림" pitchFamily="50" charset="-127"/>
              </a:defRPr>
            </a:lvl2pPr>
            <a:lvl3pPr marL="1143000" indent="-228600" defTabSz="952500" eaLnBrk="0" hangingPunct="0">
              <a:defRPr kumimoji="1">
                <a:solidFill>
                  <a:schemeClr val="tx1"/>
                </a:solidFill>
                <a:latin typeface="굴림" pitchFamily="50" charset="-127"/>
                <a:ea typeface="굴림" pitchFamily="50" charset="-127"/>
              </a:defRPr>
            </a:lvl3pPr>
            <a:lvl4pPr marL="1600200" indent="-228600" defTabSz="952500" eaLnBrk="0" hangingPunct="0">
              <a:defRPr kumimoji="1">
                <a:solidFill>
                  <a:schemeClr val="tx1"/>
                </a:solidFill>
                <a:latin typeface="굴림" pitchFamily="50" charset="-127"/>
                <a:ea typeface="굴림" pitchFamily="50" charset="-127"/>
              </a:defRPr>
            </a:lvl4pPr>
            <a:lvl5pPr marL="2057400" indent="-228600" defTabSz="952500" eaLnBrk="0" hangingPunct="0">
              <a:defRPr kumimoji="1">
                <a:solidFill>
                  <a:schemeClr val="tx1"/>
                </a:solidFill>
                <a:latin typeface="굴림" pitchFamily="50" charset="-127"/>
                <a:ea typeface="굴림" pitchFamily="50" charset="-127"/>
              </a:defRPr>
            </a:lvl5pPr>
            <a:lvl6pPr marL="2514600" indent="-228600" defTabSz="9525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525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525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525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Aft>
                <a:spcPct val="30000"/>
              </a:spcAft>
              <a:buClr>
                <a:schemeClr val="tx1"/>
              </a:buClr>
              <a:buSzPct val="120000"/>
              <a:buFont typeface="Wingdings" pitchFamily="2" charset="2"/>
              <a:buChar char="u"/>
            </a:pPr>
            <a:r>
              <a:rPr lang="en-US" altLang="ko-KR" sz="2000" b="1" dirty="0" err="1">
                <a:latin typeface="Arial" pitchFamily="34" charset="0"/>
                <a:ea typeface="맑은 고딕" pitchFamily="50" charset="-127"/>
                <a:cs typeface="Arial" pitchFamily="34" charset="0"/>
              </a:rPr>
              <a:t>Liệu</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chúng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ta</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có</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thể</a:t>
            </a:r>
            <a:r>
              <a:rPr lang="en-US" altLang="ko-KR" sz="2000" b="1" dirty="0">
                <a:latin typeface="Arial" pitchFamily="34" charset="0"/>
                <a:ea typeface="맑은 고딕" pitchFamily="50" charset="-127"/>
                <a:cs typeface="Arial" pitchFamily="34" charset="0"/>
              </a:rPr>
              <a:t> tin </a:t>
            </a:r>
            <a:r>
              <a:rPr lang="en-US" altLang="ko-KR" sz="2000" b="1" dirty="0" err="1">
                <a:latin typeface="Arial" pitchFamily="34" charset="0"/>
                <a:ea typeface="맑은 고딕" pitchFamily="50" charset="-127"/>
                <a:cs typeface="Arial" pitchFamily="34" charset="0"/>
              </a:rPr>
              <a:t>tưởng</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giá</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trị</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đo</a:t>
            </a:r>
            <a:r>
              <a:rPr lang="en-US" altLang="ko-KR" sz="2000" b="1" dirty="0">
                <a:latin typeface="Arial" pitchFamily="34" charset="0"/>
                <a:ea typeface="맑은 고딕" pitchFamily="50" charset="-127"/>
                <a:cs typeface="Arial" pitchFamily="34" charset="0"/>
              </a:rPr>
              <a:t> </a:t>
            </a:r>
            <a:r>
              <a:rPr lang="en-US" altLang="ko-KR" sz="2000" b="1" dirty="0" err="1">
                <a:latin typeface="Arial" pitchFamily="34" charset="0"/>
                <a:ea typeface="맑은 고딕" pitchFamily="50" charset="-127"/>
                <a:cs typeface="Arial" pitchFamily="34" charset="0"/>
              </a:rPr>
              <a:t>lường</a:t>
            </a:r>
            <a:r>
              <a:rPr lang="en-US" altLang="ko-KR" sz="2000" b="1" dirty="0">
                <a:latin typeface="Arial" pitchFamily="34" charset="0"/>
                <a:ea typeface="맑은 고딕" pitchFamily="50" charset="-127"/>
                <a:cs typeface="Arial" pitchFamily="34" charset="0"/>
              </a:rPr>
              <a:t> hay </a:t>
            </a:r>
            <a:r>
              <a:rPr lang="en-US" altLang="ko-KR" sz="2000" b="1" dirty="0" err="1">
                <a:latin typeface="Arial" pitchFamily="34" charset="0"/>
                <a:ea typeface="맑은 고딕" pitchFamily="50" charset="-127"/>
                <a:cs typeface="Arial" pitchFamily="34" charset="0"/>
              </a:rPr>
              <a:t>không</a:t>
            </a:r>
            <a:r>
              <a:rPr lang="en-US" altLang="ko-KR" sz="2000" b="1" dirty="0">
                <a:latin typeface="Arial" pitchFamily="34" charset="0"/>
                <a:ea typeface="맑은 고딕" pitchFamily="50" charset="-127"/>
                <a:cs typeface="Arial" pitchFamily="34" charset="0"/>
              </a:rPr>
              <a:t>?</a:t>
            </a:r>
          </a:p>
          <a:p>
            <a:pPr lvl="1" eaLnBrk="1" hangingPunct="1">
              <a:spcBef>
                <a:spcPct val="50000"/>
              </a:spcBef>
              <a:buSzPct val="75000"/>
              <a:buFont typeface="Arial" pitchFamily="34" charset="0"/>
              <a:buChar char="–"/>
            </a:pPr>
            <a:r>
              <a:rPr lang="en-US" altLang="ko-KR" sz="1600" b="1" dirty="0" err="1">
                <a:latin typeface="Arial" pitchFamily="34" charset="0"/>
                <a:ea typeface="맑은 고딕" pitchFamily="50" charset="-127"/>
                <a:cs typeface="Arial" pitchFamily="34" charset="0"/>
              </a:rPr>
              <a:t>Giá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trị</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không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tuyệt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đối</a:t>
            </a:r>
            <a:r>
              <a:rPr lang="en-US" altLang="ko-KR" sz="1600" b="1" dirty="0">
                <a:latin typeface="Arial" pitchFamily="34" charset="0"/>
                <a:ea typeface="맑은 고딕" pitchFamily="50" charset="-127"/>
                <a:cs typeface="Arial" pitchFamily="34" charset="0"/>
              </a:rPr>
              <a:t>.</a:t>
            </a:r>
          </a:p>
          <a:p>
            <a:pPr lvl="1" eaLnBrk="1" hangingPunct="1">
              <a:spcBef>
                <a:spcPct val="50000"/>
              </a:spcBef>
              <a:buSzPct val="75000"/>
              <a:buFont typeface="Arial" pitchFamily="34" charset="0"/>
              <a:buChar char="–"/>
            </a:pPr>
            <a:r>
              <a:rPr lang="en-US" altLang="ko-KR" sz="1600" b="1" dirty="0" err="1">
                <a:latin typeface="Arial" pitchFamily="34" charset="0"/>
                <a:ea typeface="맑은 고딕" pitchFamily="50" charset="-127"/>
                <a:cs typeface="Arial" pitchFamily="34" charset="0"/>
              </a:rPr>
              <a:t>Giá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trị</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kết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quả</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của</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cả</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quá</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trình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nhiều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loại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sai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số</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phản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ánh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trong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dữ</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r>
              <a:rPr lang="en-US" altLang="ko-KR" sz="1600" b="1" dirty="0">
                <a:latin typeface="Arial" pitchFamily="34" charset="0"/>
                <a:ea typeface="맑은 고딕" pitchFamily="50" charset="-127"/>
                <a:cs typeface="Arial" pitchFamily="34" charset="0"/>
              </a:rPr>
              <a:t>.</a:t>
            </a:r>
          </a:p>
          <a:p>
            <a:pPr lvl="1" eaLnBrk="1" hangingPunct="1">
              <a:spcBef>
                <a:spcPct val="50000"/>
              </a:spcBef>
              <a:buSzPct val="75000"/>
              <a:buFont typeface="Arial" pitchFamily="34" charset="0"/>
              <a:buNone/>
            </a:pPr>
            <a:r>
              <a:rPr lang="en-US" altLang="ko-KR" sz="1600" b="1" dirty="0">
                <a:latin typeface="Arial" pitchFamily="34" charset="0"/>
                <a:ea typeface="맑은 고딕" pitchFamily="50" charset="-127"/>
                <a:cs typeface="Arial" pitchFamily="34" charset="0"/>
              </a:rPr>
              <a:t>  Do </a:t>
            </a:r>
            <a:r>
              <a:rPr lang="en-US" altLang="ko-KR" sz="1600" b="1" dirty="0" err="1">
                <a:latin typeface="Arial" pitchFamily="34" charset="0"/>
                <a:ea typeface="맑은 고딕" pitchFamily="50" charset="-127"/>
                <a:cs typeface="Arial" pitchFamily="34" charset="0"/>
              </a:rPr>
              <a:t>đó</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cho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đến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khi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mọi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thứ</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kiểm</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định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việc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phải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được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coi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một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phương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sai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chính</a:t>
            </a:r>
            <a:r>
              <a:rPr lang="en-US" altLang="ko-KR" sz="1600" b="1" dirty="0">
                <a:latin typeface="Arial" pitchFamily="34" charset="0"/>
                <a:ea typeface="맑은 고딕" pitchFamily="50" charset="-127"/>
                <a:cs typeface="Arial" pitchFamily="34" charset="0"/>
              </a:rPr>
              <a:t>.</a:t>
            </a:r>
          </a:p>
        </p:txBody>
      </p:sp>
      <p:sp>
        <p:nvSpPr>
          <p:cNvPr id="41" name="Oval 4"/>
          <p:cNvSpPr>
            <a:spLocks noChangeArrowheads="1"/>
          </p:cNvSpPr>
          <p:nvPr/>
        </p:nvSpPr>
        <p:spPr bwMode="auto">
          <a:xfrm>
            <a:off x="2344738" y="3471863"/>
            <a:ext cx="3487737" cy="1976437"/>
          </a:xfrm>
          <a:prstGeom prst="ellipse">
            <a:avLst/>
          </a:prstGeom>
          <a:gradFill rotWithShape="0">
            <a:gsLst>
              <a:gs pos="0">
                <a:schemeClr val="bg1"/>
              </a:gs>
              <a:gs pos="100000">
                <a:schemeClr val="bg1">
                  <a:gamma/>
                  <a:shade val="81961"/>
                  <a:invGamma/>
                </a:schemeClr>
              </a:gs>
            </a:gsLst>
            <a:lin ang="18900000" scaled="1"/>
          </a:gradFill>
          <a:ln w="25400" algn="ctr">
            <a:solidFill>
              <a:schemeClr val="tx1"/>
            </a:solidFill>
            <a:round/>
            <a:headEnd/>
            <a:tailEnd/>
          </a:ln>
          <a:effectLst/>
        </p:spPr>
        <p:txBody>
          <a:bodyPr/>
          <a:lstStyle/>
          <a:p>
            <a:pPr>
              <a:defRPr/>
            </a:pPr>
            <a:endParaRPr lang="ko-KR" altLang="en-US">
              <a:latin typeface="Arial" pitchFamily="34" charset="0"/>
              <a:cs typeface="Arial" pitchFamily="34" charset="0"/>
            </a:endParaRPr>
          </a:p>
        </p:txBody>
      </p:sp>
      <p:sp>
        <p:nvSpPr>
          <p:cNvPr id="8200" name="Oval 5"/>
          <p:cNvSpPr>
            <a:spLocks noChangeArrowheads="1"/>
          </p:cNvSpPr>
          <p:nvPr/>
        </p:nvSpPr>
        <p:spPr bwMode="auto">
          <a:xfrm>
            <a:off x="2395538" y="3573463"/>
            <a:ext cx="3384550" cy="1806575"/>
          </a:xfrm>
          <a:prstGeom prst="ellipse">
            <a:avLst/>
          </a:prstGeom>
          <a:solidFill>
            <a:schemeClr val="bg1"/>
          </a:solidFill>
          <a:ln w="25400">
            <a:solidFill>
              <a:schemeClr val="tx1"/>
            </a:solidFill>
            <a:round/>
            <a:headEnd/>
            <a:tailEnd/>
          </a:ln>
        </p:spPr>
        <p:txBody>
          <a:bodyPr wrap="none" lIns="91434" tIns="45717" rIns="91434" bIns="45717"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20000"/>
              </a:spcBef>
            </a:pPr>
            <a:endParaRPr lang="en-US" altLang="ko-KR" sz="1200">
              <a:solidFill>
                <a:srgbClr val="000000"/>
              </a:solidFill>
              <a:latin typeface="Arial" pitchFamily="34" charset="0"/>
              <a:ea typeface="돋움" pitchFamily="50" charset="-127"/>
              <a:cs typeface="Arial" pitchFamily="34" charset="0"/>
            </a:endParaRPr>
          </a:p>
          <a:p>
            <a:pPr algn="ctr" eaLnBrk="1" hangingPunct="1">
              <a:spcBef>
                <a:spcPct val="20000"/>
              </a:spcBef>
            </a:pPr>
            <a:endParaRPr lang="en-US" altLang="ko-KR" sz="1200">
              <a:solidFill>
                <a:srgbClr val="000000"/>
              </a:solidFill>
              <a:latin typeface="Arial" pitchFamily="34" charset="0"/>
              <a:ea typeface="돋움" pitchFamily="50" charset="-127"/>
              <a:cs typeface="Arial" pitchFamily="34" charset="0"/>
            </a:endParaRPr>
          </a:p>
        </p:txBody>
      </p:sp>
      <p:sp>
        <p:nvSpPr>
          <p:cNvPr id="8201" name="AutoShape 7"/>
          <p:cNvSpPr>
            <a:spLocks noChangeArrowheads="1"/>
          </p:cNvSpPr>
          <p:nvPr/>
        </p:nvSpPr>
        <p:spPr bwMode="auto">
          <a:xfrm>
            <a:off x="5864225" y="3295650"/>
            <a:ext cx="3224213" cy="1655763"/>
          </a:xfrm>
          <a:prstGeom prst="cloudCallout">
            <a:avLst>
              <a:gd name="adj1" fmla="val -82024"/>
              <a:gd name="adj2" fmla="val 9888"/>
            </a:avLst>
          </a:prstGeom>
          <a:solidFill>
            <a:srgbClr val="CCECFF"/>
          </a:solidFill>
          <a:ln w="9525">
            <a:solidFill>
              <a:schemeClr val="bg2"/>
            </a:solidFill>
            <a:round/>
            <a:headEnd/>
            <a:tailEnd/>
          </a:ln>
          <a:effectLst>
            <a:outerShdw dist="35921" dir="2700000" algn="ctr" rotWithShape="0">
              <a:schemeClr val="bg2"/>
            </a:outerShdw>
          </a:effectLst>
        </p:spPr>
        <p:txBody>
          <a:bodyPr wrap="square" lIns="91434" tIns="45717" rIns="91434" bIns="45717"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400" b="1" dirty="0" err="1">
                <a:solidFill>
                  <a:srgbClr val="000000"/>
                </a:solidFill>
                <a:latin typeface="Arial" pitchFamily="34" charset="0"/>
                <a:ea typeface="돋움" pitchFamily="50" charset="-127"/>
                <a:cs typeface="Arial" pitchFamily="34" charset="0"/>
              </a:rPr>
              <a:t>Chúng</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ta</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cần</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cố</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gắng</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hết</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sức</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để</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tránh</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những</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ảnh</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hưởng</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tiềm</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ẩn</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từ</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hệ</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thống</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đo</a:t>
            </a:r>
            <a:r>
              <a:rPr lang="en-US" altLang="ko-KR" sz="1400" b="1" dirty="0">
                <a:solidFill>
                  <a:srgbClr val="000000"/>
                </a:solidFill>
                <a:latin typeface="Arial" pitchFamily="34" charset="0"/>
                <a:ea typeface="돋움" pitchFamily="50" charset="-127"/>
                <a:cs typeface="Arial" pitchFamily="34" charset="0"/>
              </a:rPr>
              <a:t> </a:t>
            </a:r>
            <a:r>
              <a:rPr lang="en-US" altLang="ko-KR" sz="1400" b="1" dirty="0" err="1">
                <a:solidFill>
                  <a:srgbClr val="000000"/>
                </a:solidFill>
                <a:latin typeface="Arial" pitchFamily="34" charset="0"/>
                <a:ea typeface="돋움" pitchFamily="50" charset="-127"/>
                <a:cs typeface="Arial" pitchFamily="34" charset="0"/>
              </a:rPr>
              <a:t>lường</a:t>
            </a:r>
            <a:endParaRPr lang="en-US" altLang="ko-KR" sz="1400" b="1" dirty="0">
              <a:solidFill>
                <a:srgbClr val="000000"/>
              </a:solidFill>
              <a:latin typeface="Arial" pitchFamily="34" charset="0"/>
              <a:ea typeface="돋움" pitchFamily="50" charset="-127"/>
              <a:cs typeface="Arial" pitchFamily="34" charset="0"/>
            </a:endParaRPr>
          </a:p>
        </p:txBody>
      </p:sp>
      <p:sp>
        <p:nvSpPr>
          <p:cNvPr id="46" name="Arc 8"/>
          <p:cNvSpPr>
            <a:spLocks/>
          </p:cNvSpPr>
          <p:nvPr/>
        </p:nvSpPr>
        <p:spPr bwMode="auto">
          <a:xfrm>
            <a:off x="615950" y="3295650"/>
            <a:ext cx="1355725" cy="3125788"/>
          </a:xfrm>
          <a:custGeom>
            <a:avLst/>
            <a:gdLst>
              <a:gd name="G0" fmla="+- 4823 0 0"/>
              <a:gd name="G1" fmla="+- 21600 0 0"/>
              <a:gd name="G2" fmla="+- 21600 0 0"/>
              <a:gd name="T0" fmla="*/ 0 w 26423"/>
              <a:gd name="T1" fmla="*/ 545 h 25743"/>
              <a:gd name="T2" fmla="*/ 26022 w 26423"/>
              <a:gd name="T3" fmla="*/ 25743 h 25743"/>
              <a:gd name="T4" fmla="*/ 4823 w 26423"/>
              <a:gd name="T5" fmla="*/ 21600 h 25743"/>
            </a:gdLst>
            <a:ahLst/>
            <a:cxnLst>
              <a:cxn ang="0">
                <a:pos x="T0" y="T1"/>
              </a:cxn>
              <a:cxn ang="0">
                <a:pos x="T2" y="T3"/>
              </a:cxn>
              <a:cxn ang="0">
                <a:pos x="T4" y="T5"/>
              </a:cxn>
            </a:cxnLst>
            <a:rect l="0" t="0" r="r" b="b"/>
            <a:pathLst>
              <a:path w="26423" h="25743" fill="none" extrusionOk="0">
                <a:moveTo>
                  <a:pt x="0" y="545"/>
                </a:moveTo>
                <a:cubicBezTo>
                  <a:pt x="1582" y="182"/>
                  <a:pt x="3199" y="-1"/>
                  <a:pt x="4823" y="0"/>
                </a:cubicBezTo>
                <a:cubicBezTo>
                  <a:pt x="16752" y="0"/>
                  <a:pt x="26423" y="9670"/>
                  <a:pt x="26423" y="21600"/>
                </a:cubicBezTo>
                <a:cubicBezTo>
                  <a:pt x="26423" y="22990"/>
                  <a:pt x="26288" y="24378"/>
                  <a:pt x="26021" y="25742"/>
                </a:cubicBezTo>
              </a:path>
              <a:path w="26423" h="25743" stroke="0" extrusionOk="0">
                <a:moveTo>
                  <a:pt x="0" y="545"/>
                </a:moveTo>
                <a:cubicBezTo>
                  <a:pt x="1582" y="182"/>
                  <a:pt x="3199" y="-1"/>
                  <a:pt x="4823" y="0"/>
                </a:cubicBezTo>
                <a:cubicBezTo>
                  <a:pt x="16752" y="0"/>
                  <a:pt x="26423" y="9670"/>
                  <a:pt x="26423" y="21600"/>
                </a:cubicBezTo>
                <a:cubicBezTo>
                  <a:pt x="26423" y="22990"/>
                  <a:pt x="26288" y="24378"/>
                  <a:pt x="26021" y="25742"/>
                </a:cubicBezTo>
                <a:lnTo>
                  <a:pt x="4823" y="21600"/>
                </a:lnTo>
                <a:close/>
              </a:path>
            </a:pathLst>
          </a:custGeom>
          <a:gradFill rotWithShape="0">
            <a:gsLst>
              <a:gs pos="0">
                <a:schemeClr val="bg1"/>
              </a:gs>
              <a:gs pos="100000">
                <a:schemeClr val="bg1">
                  <a:gamma/>
                  <a:shade val="81961"/>
                  <a:invGamma/>
                </a:schemeClr>
              </a:gs>
            </a:gsLst>
            <a:lin ang="18900000" scaled="1"/>
          </a:gradFill>
          <a:ln w="25400">
            <a:solidFill>
              <a:schemeClr val="tx1"/>
            </a:solidFill>
            <a:round/>
            <a:headEnd/>
            <a:tailEnd/>
          </a:ln>
          <a:effectLst/>
        </p:spPr>
        <p:txBody>
          <a:bodyPr/>
          <a:lstStyle/>
          <a:p>
            <a:pPr>
              <a:defRPr/>
            </a:pPr>
            <a:endParaRPr lang="ko-KR" altLang="en-US">
              <a:latin typeface="Arial" pitchFamily="34" charset="0"/>
              <a:cs typeface="Arial" pitchFamily="34" charset="0"/>
            </a:endParaRPr>
          </a:p>
        </p:txBody>
      </p:sp>
      <p:pic>
        <p:nvPicPr>
          <p:cNvPr id="8203" name="그림 1"/>
          <p:cNvPicPr>
            <a:picLocks noChangeAspect="1"/>
          </p:cNvPicPr>
          <p:nvPr/>
        </p:nvPicPr>
        <p:blipFill>
          <a:blip r:embed="rId3" cstate="print">
            <a:extLst>
              <a:ext uri="{28A0092B-C50C-407E-A947-70E740481C1C}">
                <a14:useLocalDpi xmlns:a14="http://schemas.microsoft.com/office/drawing/2010/main"/>
              </a:ext>
            </a:extLst>
          </a:blip>
          <a:srcRect/>
          <a:stretch>
            <a:fillRect/>
          </a:stretch>
        </p:blipFill>
        <p:spPr bwMode="auto">
          <a:xfrm>
            <a:off x="3135313" y="3813175"/>
            <a:ext cx="1722437" cy="129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187</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1695454511"/>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2.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Khái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niệm</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Thuật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ngữ</a:t>
            </a:r>
            <a:endPar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endParaRPr>
          </a:p>
        </p:txBody>
      </p:sp>
      <p:sp>
        <p:nvSpPr>
          <p:cNvPr id="36" name="제목 8"/>
          <p:cNvSpPr txBox="1">
            <a:spLocks/>
          </p:cNvSpPr>
          <p:nvPr/>
        </p:nvSpPr>
        <p:spPr bwMode="auto">
          <a:xfrm>
            <a:off x="5673080" y="260350"/>
            <a:ext cx="4104333" cy="488950"/>
          </a:xfrm>
          <a:prstGeom prst="rect">
            <a:avLst/>
          </a:prstGeom>
          <a:noFill/>
          <a:ln>
            <a:miter lim="800000"/>
            <a:headEnd/>
            <a:tailEnd/>
          </a:ln>
        </p:spPr>
        <p:txBody>
          <a:bodyPr anchor="ctr"/>
          <a:lstStyle/>
          <a:p>
            <a:pPr algn="r">
              <a:defRPr/>
            </a:pPr>
            <a:r>
              <a:rPr lang="en-US" altLang="ko-KR" sz="1600" b="1" kern="0" dirty="0" err="1">
                <a:solidFill>
                  <a:srgbClr val="000000"/>
                </a:solidFill>
                <a:latin typeface="Arial" pitchFamily="34" charset="0"/>
                <a:ea typeface="맑은 고딕"/>
                <a:cs typeface="Arial" pitchFamily="34" charset="0"/>
              </a:rPr>
              <a:t>Thiết</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lập</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hệ</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thống</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đo</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lường</a:t>
            </a:r>
            <a:endParaRPr lang="ko-KR" altLang="en-US" sz="1600" b="1" kern="0" dirty="0">
              <a:solidFill>
                <a:srgbClr val="000000"/>
              </a:solidFill>
              <a:latin typeface="Arial" pitchFamily="34" charset="0"/>
              <a:ea typeface="맑은 고딕"/>
              <a:cs typeface="Arial" pitchFamily="34" charset="0"/>
            </a:endParaRPr>
          </a:p>
        </p:txBody>
      </p:sp>
      <p:sp>
        <p:nvSpPr>
          <p:cNvPr id="5" name="Text Box 65"/>
          <p:cNvSpPr txBox="1">
            <a:spLocks noChangeArrowheads="1"/>
          </p:cNvSpPr>
          <p:nvPr/>
        </p:nvSpPr>
        <p:spPr bwMode="auto">
          <a:xfrm>
            <a:off x="5745163" y="1628775"/>
            <a:ext cx="2687637" cy="628650"/>
          </a:xfrm>
          <a:prstGeom prst="rect">
            <a:avLst/>
          </a:prstGeom>
          <a:solidFill>
            <a:schemeClr val="tx1">
              <a:lumMod val="50000"/>
              <a:lumOff val="50000"/>
            </a:schemeClr>
          </a:solidFill>
          <a:ln>
            <a:noFill/>
          </a:ln>
          <a:effectLst>
            <a:prstShdw prst="shdw17" dist="17961" dir="2700000">
              <a:schemeClr val="accent1">
                <a:gamma/>
                <a:shade val="60000"/>
                <a:invGamma/>
              </a:schemeClr>
            </a:prstShdw>
          </a:effectLst>
        </p:spPr>
        <p:txBody>
          <a:bodyPr anchor="ctr"/>
          <a:lstStyle/>
          <a:p>
            <a:pPr algn="ctr">
              <a:lnSpc>
                <a:spcPct val="110000"/>
              </a:lnSpc>
              <a:defRPr/>
            </a:pPr>
            <a:r>
              <a:rPr lang="en-US" altLang="ko-KR" sz="1600" b="1" dirty="0" err="1">
                <a:solidFill>
                  <a:schemeClr val="bg1"/>
                </a:solidFill>
                <a:latin typeface="Arial" pitchFamily="34" charset="0"/>
                <a:ea typeface="맑은 고딕" pitchFamily="50" charset="-127"/>
                <a:cs typeface="Arial" pitchFamily="34" charset="0"/>
              </a:rPr>
              <a:t>Thiết</a:t>
            </a:r>
            <a:r>
              <a:rPr lang="en-US" altLang="ko-KR" sz="1600" b="1" dirty="0">
                <a:solidFill>
                  <a:schemeClr val="bg1"/>
                </a:solidFill>
                <a:latin typeface="Arial" pitchFamily="34" charset="0"/>
                <a:ea typeface="맑은 고딕" pitchFamily="50" charset="-127"/>
                <a:cs typeface="Arial" pitchFamily="34" charset="0"/>
              </a:rPr>
              <a:t> </a:t>
            </a:r>
            <a:r>
              <a:rPr lang="en-US" altLang="ko-KR" sz="1600" b="1" dirty="0" err="1">
                <a:solidFill>
                  <a:schemeClr val="bg1"/>
                </a:solidFill>
                <a:latin typeface="Arial" pitchFamily="34" charset="0"/>
                <a:ea typeface="맑은 고딕" pitchFamily="50" charset="-127"/>
                <a:cs typeface="Arial" pitchFamily="34" charset="0"/>
              </a:rPr>
              <a:t>lập</a:t>
            </a:r>
            <a:r>
              <a:rPr lang="en-US" altLang="ko-KR" sz="1600" b="1" dirty="0">
                <a:solidFill>
                  <a:schemeClr val="bg1"/>
                </a:solidFill>
                <a:latin typeface="Arial" pitchFamily="34" charset="0"/>
                <a:ea typeface="맑은 고딕" pitchFamily="50" charset="-127"/>
                <a:cs typeface="Arial" pitchFamily="34" charset="0"/>
              </a:rPr>
              <a:t> </a:t>
            </a:r>
            <a:r>
              <a:rPr lang="en-US" altLang="ko-KR" sz="1600" b="1" dirty="0" err="1">
                <a:solidFill>
                  <a:schemeClr val="bg1"/>
                </a:solidFill>
                <a:latin typeface="Arial" pitchFamily="34" charset="0"/>
                <a:ea typeface="맑은 고딕" pitchFamily="50" charset="-127"/>
                <a:cs typeface="Arial" pitchFamily="34" charset="0"/>
              </a:rPr>
              <a:t>hệ</a:t>
            </a:r>
            <a:r>
              <a:rPr lang="en-US" altLang="ko-KR" sz="1600" b="1" dirty="0">
                <a:solidFill>
                  <a:schemeClr val="bg1"/>
                </a:solidFill>
                <a:latin typeface="Arial" pitchFamily="34" charset="0"/>
                <a:ea typeface="맑은 고딕" pitchFamily="50" charset="-127"/>
                <a:cs typeface="Arial" pitchFamily="34" charset="0"/>
              </a:rPr>
              <a:t> </a:t>
            </a:r>
            <a:r>
              <a:rPr lang="en-US" altLang="ko-KR" sz="1600" b="1" dirty="0" err="1">
                <a:solidFill>
                  <a:schemeClr val="bg1"/>
                </a:solidFill>
                <a:latin typeface="Arial" pitchFamily="34" charset="0"/>
                <a:ea typeface="맑은 고딕" pitchFamily="50" charset="-127"/>
                <a:cs typeface="Arial" pitchFamily="34" charset="0"/>
              </a:rPr>
              <a:t>thống</a:t>
            </a:r>
            <a:r>
              <a:rPr lang="en-US" altLang="ko-KR" sz="1600" b="1" dirty="0">
                <a:solidFill>
                  <a:schemeClr val="bg1"/>
                </a:solidFill>
                <a:latin typeface="Arial" pitchFamily="34" charset="0"/>
                <a:ea typeface="맑은 고딕" pitchFamily="50" charset="-127"/>
                <a:cs typeface="Arial" pitchFamily="34" charset="0"/>
              </a:rPr>
              <a:t> </a:t>
            </a:r>
            <a:r>
              <a:rPr lang="en-US" altLang="ko-KR" sz="1600" b="1" dirty="0" err="1">
                <a:solidFill>
                  <a:schemeClr val="bg1"/>
                </a:solidFill>
                <a:latin typeface="Arial" pitchFamily="34" charset="0"/>
                <a:ea typeface="맑은 고딕" pitchFamily="50" charset="-127"/>
                <a:cs typeface="Arial" pitchFamily="34" charset="0"/>
              </a:rPr>
              <a:t>đo</a:t>
            </a:r>
            <a:r>
              <a:rPr lang="en-US" altLang="ko-KR" sz="1600" b="1" dirty="0">
                <a:solidFill>
                  <a:schemeClr val="bg1"/>
                </a:solidFill>
                <a:latin typeface="Arial" pitchFamily="34" charset="0"/>
                <a:ea typeface="맑은 고딕" pitchFamily="50" charset="-127"/>
                <a:cs typeface="Arial" pitchFamily="34" charset="0"/>
              </a:rPr>
              <a:t> </a:t>
            </a:r>
            <a:r>
              <a:rPr lang="en-US" altLang="ko-KR" sz="1600" b="1" dirty="0" err="1">
                <a:solidFill>
                  <a:schemeClr val="bg1"/>
                </a:solidFill>
                <a:latin typeface="Arial" pitchFamily="34" charset="0"/>
                <a:ea typeface="맑은 고딕" pitchFamily="50" charset="-127"/>
                <a:cs typeface="Arial" pitchFamily="34" charset="0"/>
              </a:rPr>
              <a:t>lường</a:t>
            </a:r>
            <a:endParaRPr lang="en-US" altLang="ko-KR" sz="1600" b="1" dirty="0">
              <a:solidFill>
                <a:schemeClr val="bg1"/>
              </a:solidFill>
              <a:latin typeface="Arial" pitchFamily="34" charset="0"/>
              <a:ea typeface="맑은 고딕" pitchFamily="50" charset="-127"/>
              <a:cs typeface="Arial" pitchFamily="34" charset="0"/>
            </a:endParaRPr>
          </a:p>
        </p:txBody>
      </p:sp>
      <p:sp>
        <p:nvSpPr>
          <p:cNvPr id="9222" name="AutoShape 42"/>
          <p:cNvSpPr>
            <a:spLocks noChangeArrowheads="1"/>
          </p:cNvSpPr>
          <p:nvPr/>
        </p:nvSpPr>
        <p:spPr bwMode="auto">
          <a:xfrm>
            <a:off x="5911850" y="2516188"/>
            <a:ext cx="2305050" cy="433387"/>
          </a:xfrm>
          <a:prstGeom prst="homePlate">
            <a:avLst>
              <a:gd name="adj" fmla="val 0"/>
            </a:avLst>
          </a:prstGeom>
          <a:solidFill>
            <a:srgbClr val="E0E0E0"/>
          </a:solidFill>
          <a:ln>
            <a:noFill/>
          </a:ln>
          <a:effectLst>
            <a:prstShdw prst="shdw17" dist="17961" dir="2700000">
              <a:srgbClr val="6B6B6B"/>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latin typeface="Arial" pitchFamily="34" charset="0"/>
                <a:ea typeface="맑은 고딕" pitchFamily="50" charset="-127"/>
                <a:cs typeface="Arial" pitchFamily="34" charset="0"/>
              </a:rPr>
              <a:t>Tiêu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chuẩn</a:t>
            </a:r>
            <a:endParaRPr lang="en-US" altLang="ko-KR" sz="1400" b="1" dirty="0">
              <a:latin typeface="Arial" pitchFamily="34" charset="0"/>
              <a:ea typeface="맑은 고딕" pitchFamily="50" charset="-127"/>
              <a:cs typeface="Arial" pitchFamily="34" charset="0"/>
            </a:endParaRPr>
          </a:p>
        </p:txBody>
      </p:sp>
      <p:sp>
        <p:nvSpPr>
          <p:cNvPr id="9223" name="AutoShape 42"/>
          <p:cNvSpPr>
            <a:spLocks noChangeArrowheads="1"/>
          </p:cNvSpPr>
          <p:nvPr/>
        </p:nvSpPr>
        <p:spPr bwMode="auto">
          <a:xfrm>
            <a:off x="5911850" y="3163888"/>
            <a:ext cx="2305050" cy="433387"/>
          </a:xfrm>
          <a:prstGeom prst="homePlate">
            <a:avLst>
              <a:gd name="adj" fmla="val 0"/>
            </a:avLst>
          </a:prstGeom>
          <a:solidFill>
            <a:srgbClr val="E0E0E0"/>
          </a:solidFill>
          <a:ln>
            <a:noFill/>
          </a:ln>
          <a:effectLst>
            <a:prstShdw prst="shdw17" dist="17961" dir="2700000">
              <a:srgbClr val="6B6B6B"/>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latin typeface="Arial" pitchFamily="34" charset="0"/>
                <a:ea typeface="맑은 고딕" pitchFamily="50" charset="-127"/>
                <a:cs typeface="Arial" pitchFamily="34" charset="0"/>
              </a:rPr>
              <a:t>Đối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tượng</a:t>
            </a:r>
            <a:endParaRPr lang="en-US" altLang="ko-KR" sz="1400" b="1" dirty="0">
              <a:latin typeface="Arial" pitchFamily="34" charset="0"/>
              <a:ea typeface="맑은 고딕" pitchFamily="50" charset="-127"/>
              <a:cs typeface="Arial" pitchFamily="34" charset="0"/>
            </a:endParaRPr>
          </a:p>
        </p:txBody>
      </p:sp>
      <p:sp>
        <p:nvSpPr>
          <p:cNvPr id="9224" name="AutoShape 42"/>
          <p:cNvSpPr>
            <a:spLocks noChangeArrowheads="1"/>
          </p:cNvSpPr>
          <p:nvPr/>
        </p:nvSpPr>
        <p:spPr bwMode="auto">
          <a:xfrm>
            <a:off x="5911850" y="3884613"/>
            <a:ext cx="2305050" cy="433387"/>
          </a:xfrm>
          <a:prstGeom prst="homePlate">
            <a:avLst>
              <a:gd name="adj" fmla="val 0"/>
            </a:avLst>
          </a:prstGeom>
          <a:solidFill>
            <a:srgbClr val="E0E0E0"/>
          </a:solidFill>
          <a:ln>
            <a:noFill/>
          </a:ln>
          <a:effectLst>
            <a:prstShdw prst="shdw17" dist="17961" dir="2700000">
              <a:srgbClr val="6B6B6B"/>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latin typeface="Arial" pitchFamily="34" charset="0"/>
                <a:ea typeface="맑은 고딕" pitchFamily="50" charset="-127"/>
                <a:cs typeface="Arial" pitchFamily="34" charset="0"/>
              </a:rPr>
              <a:t>Thiết</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bị</a:t>
            </a:r>
            <a:endParaRPr lang="en-US" altLang="ko-KR" sz="1400" b="1" dirty="0">
              <a:latin typeface="Arial" pitchFamily="34" charset="0"/>
              <a:ea typeface="맑은 고딕" pitchFamily="50" charset="-127"/>
              <a:cs typeface="Arial" pitchFamily="34" charset="0"/>
            </a:endParaRPr>
          </a:p>
        </p:txBody>
      </p:sp>
      <p:sp>
        <p:nvSpPr>
          <p:cNvPr id="9225" name="AutoShape 42"/>
          <p:cNvSpPr>
            <a:spLocks noChangeArrowheads="1"/>
          </p:cNvSpPr>
          <p:nvPr/>
        </p:nvSpPr>
        <p:spPr bwMode="auto">
          <a:xfrm>
            <a:off x="5911850" y="4603750"/>
            <a:ext cx="2305050" cy="433388"/>
          </a:xfrm>
          <a:prstGeom prst="homePlate">
            <a:avLst>
              <a:gd name="adj" fmla="val 0"/>
            </a:avLst>
          </a:prstGeom>
          <a:solidFill>
            <a:srgbClr val="E0E0E0"/>
          </a:solidFill>
          <a:ln>
            <a:noFill/>
          </a:ln>
          <a:effectLst>
            <a:prstShdw prst="shdw17" dist="17961" dir="2700000">
              <a:srgbClr val="6B6B6B"/>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latin typeface="Arial" pitchFamily="34" charset="0"/>
                <a:ea typeface="맑은 고딕" pitchFamily="50" charset="-127"/>
                <a:cs typeface="Arial" pitchFamily="34" charset="0"/>
              </a:rPr>
              <a:t>Nhân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lực</a:t>
            </a:r>
            <a:endParaRPr lang="en-US" altLang="ko-KR" sz="1400" b="1" dirty="0">
              <a:latin typeface="Arial" pitchFamily="34" charset="0"/>
              <a:ea typeface="맑은 고딕" pitchFamily="50" charset="-127"/>
              <a:cs typeface="Arial" pitchFamily="34" charset="0"/>
            </a:endParaRPr>
          </a:p>
        </p:txBody>
      </p:sp>
      <p:sp>
        <p:nvSpPr>
          <p:cNvPr id="9226" name="AutoShape 42"/>
          <p:cNvSpPr>
            <a:spLocks noChangeArrowheads="1"/>
          </p:cNvSpPr>
          <p:nvPr/>
        </p:nvSpPr>
        <p:spPr bwMode="auto">
          <a:xfrm>
            <a:off x="5911850" y="5324475"/>
            <a:ext cx="2305050" cy="433388"/>
          </a:xfrm>
          <a:prstGeom prst="homePlate">
            <a:avLst>
              <a:gd name="adj" fmla="val 0"/>
            </a:avLst>
          </a:prstGeom>
          <a:solidFill>
            <a:srgbClr val="E0E0E0"/>
          </a:solidFill>
          <a:ln>
            <a:noFill/>
          </a:ln>
          <a:effectLst>
            <a:prstShdw prst="shdw17" dist="17961" dir="2700000">
              <a:srgbClr val="6B6B6B"/>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latin typeface="Arial" pitchFamily="34" charset="0"/>
                <a:ea typeface="맑은 고딕" pitchFamily="50" charset="-127"/>
                <a:cs typeface="Arial" pitchFamily="34" charset="0"/>
              </a:rPr>
              <a:t>Trình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tự</a:t>
            </a:r>
            <a:endParaRPr lang="en-US" altLang="ko-KR" sz="1400" b="1" dirty="0">
              <a:latin typeface="Arial" pitchFamily="34" charset="0"/>
              <a:ea typeface="맑은 고딕" pitchFamily="50" charset="-127"/>
              <a:cs typeface="Arial" pitchFamily="34" charset="0"/>
            </a:endParaRPr>
          </a:p>
        </p:txBody>
      </p:sp>
      <p:sp>
        <p:nvSpPr>
          <p:cNvPr id="9227" name="AutoShape 42"/>
          <p:cNvSpPr>
            <a:spLocks noChangeArrowheads="1"/>
          </p:cNvSpPr>
          <p:nvPr/>
        </p:nvSpPr>
        <p:spPr bwMode="auto">
          <a:xfrm>
            <a:off x="5911850" y="5972175"/>
            <a:ext cx="2305050" cy="433388"/>
          </a:xfrm>
          <a:prstGeom prst="homePlate">
            <a:avLst>
              <a:gd name="adj" fmla="val 0"/>
            </a:avLst>
          </a:prstGeom>
          <a:solidFill>
            <a:srgbClr val="E0E0E0"/>
          </a:solidFill>
          <a:ln>
            <a:noFill/>
          </a:ln>
          <a:effectLst>
            <a:prstShdw prst="shdw17" dist="17961" dir="2700000">
              <a:srgbClr val="6B6B6B"/>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latin typeface="Arial" pitchFamily="34" charset="0"/>
                <a:ea typeface="맑은 고딕" pitchFamily="50" charset="-127"/>
                <a:cs typeface="Arial" pitchFamily="34" charset="0"/>
              </a:rPr>
              <a:t>Môi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trường</a:t>
            </a:r>
            <a:endParaRPr lang="en-US" altLang="ko-KR" sz="1400" b="1" dirty="0">
              <a:latin typeface="Arial" pitchFamily="34" charset="0"/>
              <a:ea typeface="맑은 고딕" pitchFamily="50" charset="-127"/>
              <a:cs typeface="Arial" pitchFamily="34" charset="0"/>
            </a:endParaRPr>
          </a:p>
        </p:txBody>
      </p:sp>
      <p:sp>
        <p:nvSpPr>
          <p:cNvPr id="9228" name="TextBox 3"/>
          <p:cNvSpPr txBox="1">
            <a:spLocks noChangeArrowheads="1"/>
          </p:cNvSpPr>
          <p:nvPr/>
        </p:nvSpPr>
        <p:spPr bwMode="auto">
          <a:xfrm>
            <a:off x="488950" y="908050"/>
            <a:ext cx="1572866"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174625" indent="-174625"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chemeClr val="tx1"/>
              </a:buClr>
              <a:buFont typeface="Wingdings" pitchFamily="2" charset="2"/>
              <a:buChar char="u"/>
            </a:pPr>
            <a:r>
              <a:rPr lang="en-US" altLang="ko-KR" sz="1600" b="1" dirty="0" err="1">
                <a:latin typeface="Arial" pitchFamily="34" charset="0"/>
                <a:ea typeface="맑은 고딕" pitchFamily="50" charset="-127"/>
                <a:cs typeface="Arial" pitchFamily="34" charset="0"/>
              </a:rPr>
              <a:t>Định</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nghĩa</a:t>
            </a:r>
            <a:r>
              <a:rPr lang="ko-KR" altLang="en-US" sz="1600" b="1" dirty="0">
                <a:latin typeface="Arial" pitchFamily="34" charset="0"/>
                <a:ea typeface="맑은 고딕" pitchFamily="50" charset="-127"/>
                <a:cs typeface="Arial" pitchFamily="34" charset="0"/>
              </a:rPr>
              <a:t> </a:t>
            </a:r>
            <a:r>
              <a:rPr lang="en-US" altLang="ko-KR" sz="1600" b="1" dirty="0">
                <a:latin typeface="Arial" pitchFamily="34" charset="0"/>
                <a:ea typeface="맑은 고딕" pitchFamily="50" charset="-127"/>
                <a:cs typeface="Arial" pitchFamily="34" charset="0"/>
              </a:rPr>
              <a:t>:</a:t>
            </a:r>
            <a:endParaRPr lang="ko-KR" altLang="en-US" sz="1600" b="1" dirty="0">
              <a:latin typeface="Arial" pitchFamily="34" charset="0"/>
              <a:ea typeface="맑은 고딕" pitchFamily="50" charset="-127"/>
              <a:cs typeface="Arial" pitchFamily="34" charset="0"/>
            </a:endParaRPr>
          </a:p>
        </p:txBody>
      </p:sp>
      <p:pic>
        <p:nvPicPr>
          <p:cNvPr id="9229" name="그림 1"/>
          <p:cNvPicPr>
            <a:picLocks noChangeAspect="1"/>
          </p:cNvPicPr>
          <p:nvPr/>
        </p:nvPicPr>
        <p:blipFill>
          <a:blip r:embed="rId3" cstate="print">
            <a:extLst>
              <a:ext uri="{28A0092B-C50C-407E-A947-70E740481C1C}">
                <a14:useLocalDpi xmlns:a14="http://schemas.microsoft.com/office/drawing/2010/main"/>
              </a:ext>
            </a:extLst>
          </a:blip>
          <a:srcRect/>
          <a:stretch>
            <a:fillRect/>
          </a:stretch>
        </p:blipFill>
        <p:spPr bwMode="auto">
          <a:xfrm>
            <a:off x="860425" y="2760663"/>
            <a:ext cx="3948113" cy="326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30" name="TextBox 5"/>
          <p:cNvSpPr txBox="1">
            <a:spLocks noChangeArrowheads="1"/>
          </p:cNvSpPr>
          <p:nvPr/>
        </p:nvSpPr>
        <p:spPr bwMode="auto">
          <a:xfrm>
            <a:off x="8432800" y="2511425"/>
            <a:ext cx="1090363"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đặt</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ra</a:t>
            </a:r>
            <a:r>
              <a:rPr lang="ko-KR" altLang="en-US" sz="1200" b="1" dirty="0">
                <a:latin typeface="Arial" pitchFamily="34" charset="0"/>
                <a:ea typeface="맑은 고딕" pitchFamily="50" charset="-127"/>
                <a:cs typeface="Arial" pitchFamily="34" charset="0"/>
              </a:rPr>
              <a:t> </a:t>
            </a:r>
            <a:r>
              <a:rPr lang="en-US" altLang="ko-KR" sz="1200" b="1" dirty="0">
                <a:latin typeface="Arial" pitchFamily="34" charset="0"/>
                <a:ea typeface="맑은 고딕" pitchFamily="50" charset="-127"/>
                <a:cs typeface="Arial" pitchFamily="34" charset="0"/>
              </a:rPr>
              <a:t>spec</a:t>
            </a:r>
            <a:endParaRPr lang="ko-KR" altLang="en-US" sz="1200" b="1" dirty="0">
              <a:latin typeface="Arial" pitchFamily="34" charset="0"/>
              <a:ea typeface="맑은 고딕" pitchFamily="50" charset="-127"/>
              <a:cs typeface="Arial" pitchFamily="34" charset="0"/>
            </a:endParaRPr>
          </a:p>
        </p:txBody>
      </p:sp>
      <p:sp>
        <p:nvSpPr>
          <p:cNvPr id="9231" name="TextBox 16"/>
          <p:cNvSpPr txBox="1">
            <a:spLocks noChangeArrowheads="1"/>
          </p:cNvSpPr>
          <p:nvPr/>
        </p:nvSpPr>
        <p:spPr bwMode="auto">
          <a:xfrm>
            <a:off x="8432800" y="3154363"/>
            <a:ext cx="1245854"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tay</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lái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xe</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đạp</a:t>
            </a:r>
            <a:endParaRPr lang="ko-KR" altLang="en-US" sz="1200" b="1" dirty="0">
              <a:latin typeface="Arial" pitchFamily="34" charset="0"/>
              <a:ea typeface="맑은 고딕" pitchFamily="50" charset="-127"/>
              <a:cs typeface="Arial" pitchFamily="34" charset="0"/>
            </a:endParaRPr>
          </a:p>
        </p:txBody>
      </p:sp>
      <p:sp>
        <p:nvSpPr>
          <p:cNvPr id="9232" name="TextBox 18"/>
          <p:cNvSpPr txBox="1">
            <a:spLocks noChangeArrowheads="1"/>
          </p:cNvSpPr>
          <p:nvPr/>
        </p:nvSpPr>
        <p:spPr bwMode="auto">
          <a:xfrm>
            <a:off x="8432800" y="3884613"/>
            <a:ext cx="1039067"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thước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dây</a:t>
            </a:r>
            <a:endParaRPr lang="ko-KR" altLang="en-US" sz="1200" b="1" dirty="0">
              <a:latin typeface="Arial" pitchFamily="34" charset="0"/>
              <a:ea typeface="맑은 고딕" pitchFamily="50" charset="-127"/>
              <a:cs typeface="Arial" pitchFamily="34" charset="0"/>
            </a:endParaRPr>
          </a:p>
        </p:txBody>
      </p:sp>
      <p:sp>
        <p:nvSpPr>
          <p:cNvPr id="9233" name="TextBox 19"/>
          <p:cNvSpPr txBox="1">
            <a:spLocks noChangeArrowheads="1"/>
          </p:cNvSpPr>
          <p:nvPr/>
        </p:nvSpPr>
        <p:spPr bwMode="auto">
          <a:xfrm>
            <a:off x="8432800" y="4624388"/>
            <a:ext cx="981359"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Người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đo</a:t>
            </a:r>
            <a:endParaRPr lang="ko-KR" altLang="en-US" sz="1200" b="1" dirty="0">
              <a:latin typeface="Arial" pitchFamily="34" charset="0"/>
              <a:ea typeface="맑은 고딕" pitchFamily="50" charset="-127"/>
              <a:cs typeface="Arial" pitchFamily="34" charset="0"/>
            </a:endParaRPr>
          </a:p>
        </p:txBody>
      </p:sp>
      <p:sp>
        <p:nvSpPr>
          <p:cNvPr id="9234" name="TextBox 20"/>
          <p:cNvSpPr txBox="1">
            <a:spLocks noChangeArrowheads="1"/>
          </p:cNvSpPr>
          <p:nvPr/>
        </p:nvSpPr>
        <p:spPr bwMode="auto">
          <a:xfrm>
            <a:off x="8432800" y="5324475"/>
            <a:ext cx="1558440"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trình</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tự</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lường</a:t>
            </a:r>
            <a:endParaRPr lang="ko-KR" altLang="en-US" sz="1200" b="1" dirty="0">
              <a:latin typeface="Arial" pitchFamily="34" charset="0"/>
              <a:ea typeface="맑은 고딕" pitchFamily="50" charset="-127"/>
              <a:cs typeface="Arial" pitchFamily="34" charset="0"/>
            </a:endParaRPr>
          </a:p>
        </p:txBody>
      </p:sp>
      <p:sp>
        <p:nvSpPr>
          <p:cNvPr id="9235" name="TextBox 21"/>
          <p:cNvSpPr txBox="1">
            <a:spLocks noChangeArrowheads="1"/>
          </p:cNvSpPr>
          <p:nvPr/>
        </p:nvSpPr>
        <p:spPr bwMode="auto">
          <a:xfrm>
            <a:off x="8432800" y="5973763"/>
            <a:ext cx="12727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pP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nơi</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thực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hiện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đo</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lường</a:t>
            </a:r>
            <a:endParaRPr lang="ko-KR" altLang="en-US" sz="1200" b="1" dirty="0">
              <a:latin typeface="Arial" pitchFamily="34" charset="0"/>
              <a:ea typeface="맑은 고딕" pitchFamily="50" charset="-127"/>
              <a:cs typeface="Arial" pitchFamily="34" charset="0"/>
            </a:endParaRPr>
          </a:p>
        </p:txBody>
      </p:sp>
      <p:sp>
        <p:nvSpPr>
          <p:cNvPr id="9236" name="TextBox 7"/>
          <p:cNvSpPr txBox="1">
            <a:spLocks noChangeArrowheads="1"/>
          </p:cNvSpPr>
          <p:nvPr/>
        </p:nvSpPr>
        <p:spPr bwMode="auto">
          <a:xfrm>
            <a:off x="769351" y="2133600"/>
            <a:ext cx="4255657"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err="1">
                <a:latin typeface="Arial" pitchFamily="34" charset="0"/>
                <a:ea typeface="맑은 고딕" pitchFamily="50" charset="-127"/>
                <a:cs typeface="Arial" pitchFamily="34" charset="0"/>
              </a:rPr>
              <a:t>Ví</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dụ</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chiều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dài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tay</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lái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xe</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đạp</a:t>
            </a:r>
            <a:endParaRPr lang="ko-KR" altLang="en-US" sz="1600" b="1" dirty="0">
              <a:latin typeface="Arial" pitchFamily="34" charset="0"/>
              <a:ea typeface="맑은 고딕" pitchFamily="50" charset="-127"/>
              <a:cs typeface="Arial" pitchFamily="34" charset="0"/>
            </a:endParaRPr>
          </a:p>
        </p:txBody>
      </p:sp>
      <p:cxnSp>
        <p:nvCxnSpPr>
          <p:cNvPr id="21" name="직선 연결선 20"/>
          <p:cNvCxnSpPr/>
          <p:nvPr/>
        </p:nvCxnSpPr>
        <p:spPr>
          <a:xfrm flipH="1">
            <a:off x="4808538" y="2516188"/>
            <a:ext cx="1103312" cy="244475"/>
          </a:xfrm>
          <a:prstGeom prst="line">
            <a:avLst/>
          </a:prstGeom>
          <a:ln w="285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직선 연결선 21"/>
          <p:cNvCxnSpPr/>
          <p:nvPr/>
        </p:nvCxnSpPr>
        <p:spPr>
          <a:xfrm flipH="1" flipV="1">
            <a:off x="4808538" y="6021388"/>
            <a:ext cx="1103312" cy="384175"/>
          </a:xfrm>
          <a:prstGeom prst="line">
            <a:avLst/>
          </a:prstGeom>
          <a:ln w="285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9239" name="TextBox 3"/>
          <p:cNvSpPr txBox="1">
            <a:spLocks noChangeArrowheads="1"/>
          </p:cNvSpPr>
          <p:nvPr/>
        </p:nvSpPr>
        <p:spPr bwMode="auto">
          <a:xfrm>
            <a:off x="2144688" y="908050"/>
            <a:ext cx="7416824" cy="732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chemeClr val="tx1"/>
              </a:buClr>
              <a:buFont typeface="Arial" pitchFamily="34" charset="0"/>
              <a:buNone/>
            </a:pPr>
            <a:r>
              <a:rPr lang="en-US" altLang="ko-KR" sz="1600" b="1" dirty="0" err="1">
                <a:latin typeface="Arial" pitchFamily="34" charset="0"/>
                <a:ea typeface="맑은 고딕" pitchFamily="50" charset="-127"/>
                <a:cs typeface="Arial" pitchFamily="34" charset="0"/>
              </a:rPr>
              <a:t>Hệ</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thống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là</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tất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cả</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nguồn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lực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từ</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vật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thiết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bị</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tới</a:t>
            </a:r>
            <a:r>
              <a:rPr lang="en-US" altLang="ko-KR" sz="1600" b="1" dirty="0">
                <a:latin typeface="Arial" pitchFamily="34" charset="0"/>
                <a:ea typeface="맑은 고딕" pitchFamily="50" charset="-127"/>
                <a:cs typeface="Arial" pitchFamily="34" charset="0"/>
              </a:rPr>
              <a:t> con </a:t>
            </a:r>
            <a:r>
              <a:rPr lang="en-US" altLang="ko-KR" sz="1600" b="1" dirty="0" err="1">
                <a:latin typeface="Arial" pitchFamily="34" charset="0"/>
                <a:ea typeface="맑은 고딕" pitchFamily="50" charset="-127"/>
                <a:cs typeface="Arial" pitchFamily="34" charset="0"/>
              </a:rPr>
              <a:t>người</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dùng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trong</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việc</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thập</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dữ</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liệu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đo</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lường</a:t>
            </a:r>
            <a:endParaRPr lang="ko-KR" altLang="en-US" sz="16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188</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338923096"/>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488950" y="876300"/>
            <a:ext cx="6480274" cy="1040285"/>
          </a:xfrm>
          <a:prstGeom prst="rect">
            <a:avLst/>
          </a:prstGeom>
          <a:noFill/>
        </p:spPr>
        <p:txBody>
          <a:bodyPr wrap="square">
            <a:spAutoFit/>
          </a:bodyPr>
          <a:lstStyle/>
          <a:p>
            <a:pPr marL="174625" indent="-174625" fontAlgn="auto" latinLnBrk="0">
              <a:lnSpc>
                <a:spcPct val="110000"/>
              </a:lnSpc>
              <a:spcBef>
                <a:spcPts val="0"/>
              </a:spcBef>
              <a:spcAft>
                <a:spcPts val="0"/>
              </a:spcAft>
              <a:buClr>
                <a:srgbClr val="595959"/>
              </a:buClr>
              <a:buFont typeface="Wingdings" panose="05000000000000000000" pitchFamily="2" charset="2"/>
              <a:buChar char="u"/>
              <a:defRPr/>
            </a:pPr>
            <a:r>
              <a:rPr kumimoji="0" lang="ko-KR" altLang="en-US"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Đo</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lường</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chính</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xác</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là</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điều</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kiện</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tiên</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quyết</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cho</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mọi</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loại</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phân</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tích</a:t>
            </a:r>
            <a:endParaRPr kumimoji="0" lang="en-US" altLang="ko-KR" sz="1400" kern="0" dirty="0">
              <a:solidFill>
                <a:srgbClr val="000000"/>
              </a:solidFill>
              <a:latin typeface="Arial" pitchFamily="34" charset="0"/>
              <a:ea typeface="맑은 고딕" pitchFamily="50" charset="-127"/>
              <a:cs typeface="Arial" pitchFamily="34" charset="0"/>
            </a:endParaRPr>
          </a:p>
          <a:p>
            <a:pPr marL="174625" indent="-174625" fontAlgn="auto" latinLnBrk="0">
              <a:lnSpc>
                <a:spcPct val="110000"/>
              </a:lnSpc>
              <a:spcBef>
                <a:spcPts val="0"/>
              </a:spcBef>
              <a:spcAft>
                <a:spcPts val="0"/>
              </a:spcAft>
              <a:buClr>
                <a:srgbClr val="595959"/>
              </a:buClr>
              <a:buFont typeface="Wingdings" panose="05000000000000000000" pitchFamily="2" charset="2"/>
              <a:buChar char="u"/>
              <a:defRPr/>
            </a:pP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Mục</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đích</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của</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kiểm</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định</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hệ</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thống</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đo</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lường</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là</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xác</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định</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độ</a:t>
            </a:r>
            <a:r>
              <a:rPr kumimoji="0" lang="en-US" altLang="ko-KR" sz="1400" kern="0" dirty="0">
                <a:solidFill>
                  <a:srgbClr val="000000"/>
                </a:solidFill>
                <a:latin typeface="Arial" pitchFamily="34" charset="0"/>
                <a:ea typeface="맑은 고딕" pitchFamily="50" charset="-127"/>
                <a:cs typeface="Arial" pitchFamily="34" charset="0"/>
              </a:rPr>
              <a:t> tin </a:t>
            </a:r>
            <a:r>
              <a:rPr kumimoji="0" lang="en-US" altLang="ko-KR" sz="1400" kern="0" dirty="0" err="1">
                <a:solidFill>
                  <a:srgbClr val="000000"/>
                </a:solidFill>
                <a:latin typeface="Arial" pitchFamily="34" charset="0"/>
                <a:ea typeface="맑은 고딕" pitchFamily="50" charset="-127"/>
                <a:cs typeface="Arial" pitchFamily="34" charset="0"/>
              </a:rPr>
              <a:t>cậy</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của</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hệ</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thống</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đo</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lường</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Việc</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này</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phải</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được</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xác</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định</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thông</a:t>
            </a:r>
            <a:r>
              <a:rPr kumimoji="0" lang="en-US" altLang="ko-KR" sz="1400" kern="0" dirty="0">
                <a:solidFill>
                  <a:srgbClr val="000000"/>
                </a:solidFill>
                <a:latin typeface="Arial" pitchFamily="34" charset="0"/>
                <a:ea typeface="맑은 고딕" pitchFamily="50" charset="-127"/>
                <a:cs typeface="Arial" pitchFamily="34" charset="0"/>
              </a:rPr>
              <a:t> qua </a:t>
            </a:r>
            <a:r>
              <a:rPr kumimoji="0" lang="en-US" altLang="ko-KR" sz="1400" kern="0" dirty="0" err="1">
                <a:solidFill>
                  <a:srgbClr val="000000"/>
                </a:solidFill>
                <a:latin typeface="Arial" pitchFamily="34" charset="0"/>
                <a:ea typeface="맑은 고딕" pitchFamily="50" charset="-127"/>
                <a:cs typeface="Arial" pitchFamily="34" charset="0"/>
              </a:rPr>
              <a:t>quy</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trình</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tính</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hợp</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lệ</a:t>
            </a:r>
            <a:r>
              <a:rPr kumimoji="0" lang="en-US" altLang="ko-KR" sz="1400" kern="0" dirty="0">
                <a:solidFill>
                  <a:srgbClr val="000000"/>
                </a:solidFill>
                <a:latin typeface="Arial" pitchFamily="34" charset="0"/>
                <a:ea typeface="맑은 고딕" pitchFamily="50" charset="-127"/>
                <a:cs typeface="Arial" pitchFamily="34" charset="0"/>
              </a:rPr>
              <a:t> -&gt; </a:t>
            </a:r>
            <a:r>
              <a:rPr kumimoji="0" lang="en-US" altLang="ko-KR" sz="1400" kern="0" dirty="0" err="1">
                <a:solidFill>
                  <a:srgbClr val="000000"/>
                </a:solidFill>
                <a:latin typeface="Arial" pitchFamily="34" charset="0"/>
                <a:ea typeface="맑은 고딕" pitchFamily="50" charset="-127"/>
                <a:cs typeface="Arial" pitchFamily="34" charset="0"/>
              </a:rPr>
              <a:t>độ</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đúng</a:t>
            </a:r>
            <a:r>
              <a:rPr kumimoji="0" lang="en-US" altLang="ko-KR" sz="1400" kern="0" dirty="0">
                <a:solidFill>
                  <a:srgbClr val="000000"/>
                </a:solidFill>
                <a:latin typeface="Arial" pitchFamily="34" charset="0"/>
                <a:ea typeface="맑은 고딕" pitchFamily="50" charset="-127"/>
                <a:cs typeface="Arial" pitchFamily="34" charset="0"/>
              </a:rPr>
              <a:t> -&gt; </a:t>
            </a:r>
            <a:r>
              <a:rPr kumimoji="0" lang="en-US" altLang="ko-KR" sz="1400" kern="0" dirty="0" err="1">
                <a:solidFill>
                  <a:srgbClr val="000000"/>
                </a:solidFill>
                <a:latin typeface="Arial" pitchFamily="34" charset="0"/>
                <a:ea typeface="맑은 고딕" pitchFamily="50" charset="-127"/>
                <a:cs typeface="Arial" pitchFamily="34" charset="0"/>
              </a:rPr>
              <a:t>độ</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chính</a:t>
            </a:r>
            <a:r>
              <a:rPr kumimoji="0" lang="en-US" altLang="ko-KR" sz="1400" kern="0" dirty="0">
                <a:solidFill>
                  <a:srgbClr val="000000"/>
                </a:solidFill>
                <a:latin typeface="Arial" pitchFamily="34" charset="0"/>
                <a:ea typeface="맑은 고딕" pitchFamily="50" charset="-127"/>
                <a:cs typeface="Arial" pitchFamily="34" charset="0"/>
              </a:rPr>
              <a:t> </a:t>
            </a:r>
            <a:r>
              <a:rPr kumimoji="0" lang="en-US" altLang="ko-KR" sz="1400" kern="0" dirty="0" err="1">
                <a:solidFill>
                  <a:srgbClr val="000000"/>
                </a:solidFill>
                <a:latin typeface="Arial" pitchFamily="34" charset="0"/>
                <a:ea typeface="맑은 고딕" pitchFamily="50" charset="-127"/>
                <a:cs typeface="Arial" pitchFamily="34" charset="0"/>
              </a:rPr>
              <a:t>xác</a:t>
            </a:r>
            <a:r>
              <a:rPr kumimoji="0" lang="en-US" altLang="ko-KR" sz="1400" kern="0" dirty="0">
                <a:solidFill>
                  <a:srgbClr val="000000"/>
                </a:solidFill>
                <a:latin typeface="Arial" pitchFamily="34" charset="0"/>
                <a:ea typeface="맑은 고딕" pitchFamily="50" charset="-127"/>
                <a:cs typeface="Arial" pitchFamily="34" charset="0"/>
              </a:rPr>
              <a:t> (validity -&gt; accuracy -&gt; precision)</a:t>
            </a:r>
            <a:endParaRPr kumimoji="0" lang="ko-KR" altLang="en-US" sz="1400" kern="0" dirty="0">
              <a:solidFill>
                <a:srgbClr val="000000"/>
              </a:solidFill>
              <a:latin typeface="Arial" pitchFamily="34" charset="0"/>
              <a:ea typeface="맑은 고딕" pitchFamily="50" charset="-127"/>
              <a:cs typeface="Arial" pitchFamily="34" charset="0"/>
            </a:endParaRPr>
          </a:p>
        </p:txBody>
      </p:sp>
      <p:sp>
        <p:nvSpPr>
          <p:cNvPr id="10244" name="Rectangle 14"/>
          <p:cNvSpPr>
            <a:spLocks noChangeArrowheads="1"/>
          </p:cNvSpPr>
          <p:nvPr/>
        </p:nvSpPr>
        <p:spPr bwMode="auto">
          <a:xfrm>
            <a:off x="7497763" y="792163"/>
            <a:ext cx="2312987" cy="4578350"/>
          </a:xfrm>
          <a:prstGeom prst="rect">
            <a:avLst/>
          </a:prstGeom>
          <a:solidFill>
            <a:schemeClr val="bg1"/>
          </a:solidFill>
          <a:ln w="9525" algn="ctr">
            <a:solidFill>
              <a:schemeClr val="bg2"/>
            </a:solidFill>
            <a:miter lim="800000"/>
            <a:headEnd/>
            <a:tailEnd/>
          </a:ln>
        </p:spPr>
        <p:txBody>
          <a:bodyPr tIns="72000" bIns="72000"/>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000" b="1" dirty="0" err="1">
                <a:solidFill>
                  <a:srgbClr val="FF0000"/>
                </a:solidFill>
                <a:latin typeface="Arial" pitchFamily="34" charset="0"/>
                <a:ea typeface="맑은 고딕" pitchFamily="50" charset="-127"/>
                <a:cs typeface="Arial" pitchFamily="34" charset="0"/>
              </a:rPr>
              <a:t>Đo</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lường</a:t>
            </a:r>
            <a:endParaRPr lang="en-US" altLang="ko-KR" sz="1000" b="1" dirty="0">
              <a:solidFill>
                <a:srgbClr val="FF0000"/>
              </a:solidFill>
              <a:latin typeface="Arial" pitchFamily="34" charset="0"/>
              <a:ea typeface="맑은 고딕" pitchFamily="50" charset="-127"/>
              <a:cs typeface="Arial" pitchFamily="34" charset="0"/>
            </a:endParaRPr>
          </a:p>
          <a:p>
            <a:pPr eaLnBrk="1" hangingPunct="1">
              <a:spcBef>
                <a:spcPct val="50000"/>
              </a:spcBef>
            </a:pPr>
            <a:r>
              <a:rPr lang="en-US" altLang="ko-KR" sz="1000" dirty="0" err="1">
                <a:solidFill>
                  <a:srgbClr val="000000"/>
                </a:solidFill>
                <a:latin typeface="Arial" pitchFamily="34" charset="0"/>
                <a:ea typeface="맑은 고딕" pitchFamily="50" charset="-127"/>
                <a:cs typeface="Arial" pitchFamily="34" charset="0"/>
              </a:rPr>
              <a:t>Gán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con </a:t>
            </a:r>
            <a:r>
              <a:rPr lang="en-US" altLang="ko-KR" sz="1000" dirty="0" err="1">
                <a:solidFill>
                  <a:srgbClr val="000000"/>
                </a:solidFill>
                <a:latin typeface="Arial" pitchFamily="34" charset="0"/>
                <a:ea typeface="맑은 고딕" pitchFamily="50" charset="-127"/>
                <a:cs typeface="Arial" pitchFamily="34" charset="0"/>
              </a:rPr>
              <a:t>số</a:t>
            </a:r>
            <a:r>
              <a:rPr lang="en-US" altLang="ko-KR" sz="1000" dirty="0">
                <a:solidFill>
                  <a:srgbClr val="000000"/>
                </a:solidFill>
                <a:latin typeface="Arial" pitchFamily="34" charset="0"/>
                <a:ea typeface="맑은 고딕" pitchFamily="50" charset="-127"/>
                <a:cs typeface="Arial" pitchFamily="34" charset="0"/>
              </a:rPr>
              <a:t> hay </a:t>
            </a:r>
            <a:r>
              <a:rPr lang="en-US" altLang="ko-KR" sz="1000" dirty="0" err="1">
                <a:solidFill>
                  <a:srgbClr val="000000"/>
                </a:solidFill>
                <a:latin typeface="Arial" pitchFamily="34" charset="0"/>
                <a:ea typeface="맑은 고딕" pitchFamily="50" charset="-127"/>
                <a:cs typeface="Arial" pitchFamily="34" charset="0"/>
              </a:rPr>
              <a:t>chữ</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một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đối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tượng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cụ</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theo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một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tiêu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chuẩn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nhất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định</a:t>
            </a:r>
            <a:r>
              <a:rPr lang="en-US" altLang="ko-KR" sz="1000" dirty="0">
                <a:solidFill>
                  <a:srgbClr val="000000"/>
                </a:solidFill>
                <a:latin typeface="Arial" pitchFamily="34" charset="0"/>
                <a:ea typeface="맑은 고딕" pitchFamily="50" charset="-127"/>
                <a:cs typeface="Arial" pitchFamily="34" charset="0"/>
              </a:rPr>
              <a:t>.</a:t>
            </a:r>
          </a:p>
          <a:p>
            <a:pPr eaLnBrk="1" hangingPunct="1">
              <a:spcBef>
                <a:spcPct val="50000"/>
              </a:spcBef>
            </a:pPr>
            <a:r>
              <a:rPr lang="en-US" altLang="ko-KR" sz="1000" b="1" dirty="0" err="1">
                <a:solidFill>
                  <a:srgbClr val="FF0000"/>
                </a:solidFill>
                <a:latin typeface="Arial" pitchFamily="34" charset="0"/>
                <a:ea typeface="맑은 고딕" pitchFamily="50" charset="-127"/>
                <a:cs typeface="Arial" pitchFamily="34" charset="0"/>
              </a:rPr>
              <a:t>Hệ</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thống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đo</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lường</a:t>
            </a:r>
            <a:endParaRPr lang="en-US" altLang="ko-KR" sz="1000" b="1" dirty="0">
              <a:solidFill>
                <a:srgbClr val="FF0000"/>
              </a:solidFill>
              <a:latin typeface="Arial" pitchFamily="34" charset="0"/>
              <a:ea typeface="맑은 고딕" pitchFamily="50" charset="-127"/>
              <a:cs typeface="Arial" pitchFamily="34" charset="0"/>
            </a:endParaRPr>
          </a:p>
          <a:p>
            <a:pPr eaLnBrk="1" hangingPunct="1">
              <a:spcBef>
                <a:spcPct val="50000"/>
              </a:spcBef>
            </a:pPr>
            <a:r>
              <a:rPr lang="en-US" altLang="ko-KR" sz="1000" dirty="0">
                <a:solidFill>
                  <a:srgbClr val="000000"/>
                </a:solidFill>
                <a:latin typeface="Arial" pitchFamily="34" charset="0"/>
                <a:ea typeface="맑은 고딕" pitchFamily="50" charset="-127"/>
                <a:cs typeface="Arial" pitchFamily="34" charset="0"/>
              </a:rPr>
              <a:t>Thu </a:t>
            </a:r>
            <a:r>
              <a:rPr lang="en-US" altLang="ko-KR" sz="1000" dirty="0" err="1">
                <a:solidFill>
                  <a:srgbClr val="000000"/>
                </a:solidFill>
                <a:latin typeface="Arial" pitchFamily="34" charset="0"/>
                <a:ea typeface="맑은 고딕" pitchFamily="50" charset="-127"/>
                <a:cs typeface="Arial" pitchFamily="34" charset="0"/>
              </a:rPr>
              <a:t>thập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tất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yếu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tố</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tham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vào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việc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điều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a:t>
            </a:r>
            <a:endParaRPr lang="ko-KR" altLang="en-US" sz="1000" dirty="0">
              <a:solidFill>
                <a:srgbClr val="000000"/>
              </a:solidFill>
              <a:latin typeface="Arial" pitchFamily="34" charset="0"/>
              <a:ea typeface="맑은 고딕" pitchFamily="50" charset="-127"/>
              <a:cs typeface="Arial" pitchFamily="34" charset="0"/>
            </a:endParaRPr>
          </a:p>
          <a:p>
            <a:pPr eaLnBrk="1" hangingPunct="1">
              <a:spcBef>
                <a:spcPct val="50000"/>
              </a:spcBef>
            </a:pPr>
            <a:r>
              <a:rPr lang="en-US" altLang="ko-KR" sz="1000" dirty="0">
                <a:solidFill>
                  <a:srgbClr val="000000"/>
                </a:solidFill>
                <a:latin typeface="Arial" pitchFamily="34" charset="0"/>
                <a:ea typeface="맑은 고딕" pitchFamily="50" charset="-127"/>
                <a:cs typeface="Arial" pitchFamily="34" charset="0"/>
              </a:rPr>
              <a:t>(EX) </a:t>
            </a:r>
            <a:r>
              <a:rPr lang="en-US" altLang="ko-KR" sz="1000" dirty="0" err="1">
                <a:solidFill>
                  <a:srgbClr val="000000"/>
                </a:solidFill>
                <a:latin typeface="Arial" pitchFamily="34" charset="0"/>
                <a:ea typeface="맑은 고딕" pitchFamily="50" charset="-127"/>
                <a:cs typeface="Arial" pitchFamily="34" charset="0"/>
              </a:rPr>
              <a:t>Dụng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cụ</a:t>
            </a:r>
            <a:r>
              <a:rPr lang="en-US" altLang="ko-KR" sz="1000" dirty="0">
                <a:solidFill>
                  <a:srgbClr val="000000"/>
                </a:solidFill>
                <a:latin typeface="Arial" pitchFamily="34" charset="0"/>
                <a:ea typeface="맑은 고딕" pitchFamily="50" charset="-127"/>
                <a:cs typeface="Arial" pitchFamily="34" charset="0"/>
              </a:rPr>
              <a:t>/</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tất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thiết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vô</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hình</a:t>
            </a:r>
            <a:r>
              <a:rPr lang="en-US" altLang="ko-KR" sz="1000" dirty="0">
                <a:solidFill>
                  <a:srgbClr val="000000"/>
                </a:solidFill>
                <a:latin typeface="Arial" pitchFamily="34" charset="0"/>
                <a:ea typeface="맑은 고딕" pitchFamily="50" charset="-127"/>
                <a:cs typeface="Arial" pitchFamily="34" charset="0"/>
              </a:rPr>
              <a:t>/</a:t>
            </a:r>
            <a:r>
              <a:rPr lang="en-US" altLang="ko-KR" sz="1000" dirty="0" err="1">
                <a:solidFill>
                  <a:srgbClr val="000000"/>
                </a:solidFill>
                <a:latin typeface="Arial" pitchFamily="34" charset="0"/>
                <a:ea typeface="맑은 고딕" pitchFamily="50" charset="-127"/>
                <a:cs typeface="Arial" pitchFamily="34" charset="0"/>
              </a:rPr>
              <a:t>hữu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hình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liên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quan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tới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việc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a:t>
            </a:r>
          </a:p>
          <a:p>
            <a:pPr eaLnBrk="1" hangingPunct="1">
              <a:spcBef>
                <a:spcPct val="50000"/>
              </a:spcBef>
            </a:pPr>
            <a:r>
              <a:rPr lang="en-US" altLang="ko-KR" sz="1000" b="1" dirty="0">
                <a:solidFill>
                  <a:srgbClr val="FF0000"/>
                </a:solidFill>
                <a:latin typeface="Arial" pitchFamily="34" charset="0"/>
                <a:ea typeface="맑은 고딕" pitchFamily="50" charset="-127"/>
                <a:cs typeface="Arial" pitchFamily="34" charset="0"/>
              </a:rPr>
              <a:t>Validity</a:t>
            </a:r>
          </a:p>
          <a:p>
            <a:pPr eaLnBrk="1" hangingPunct="1">
              <a:spcBef>
                <a:spcPct val="50000"/>
              </a:spcBef>
            </a:pPr>
            <a:r>
              <a:rPr lang="en-US" altLang="ko-KR" sz="1000" dirty="0" err="1">
                <a:latin typeface="Arial" pitchFamily="34" charset="0"/>
                <a:ea typeface="맑은 고딕" pitchFamily="50" charset="-127"/>
                <a:cs typeface="Arial" pitchFamily="34" charset="0"/>
              </a:rPr>
              <a:t>Nền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tảng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việc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định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xem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đối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tượng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khái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niệm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đặc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điểm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của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việc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lường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phù</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hợp</a:t>
            </a:r>
            <a:r>
              <a:rPr lang="en-US" altLang="ko-KR" sz="1000" dirty="0">
                <a:latin typeface="Arial" pitchFamily="34" charset="0"/>
                <a:ea typeface="맑은 고딕" pitchFamily="50" charset="-127"/>
                <a:cs typeface="Arial" pitchFamily="34" charset="0"/>
              </a:rPr>
              <a:t> hay </a:t>
            </a:r>
            <a:r>
              <a:rPr lang="en-US" altLang="ko-KR" sz="1000" dirty="0" err="1">
                <a:latin typeface="Arial" pitchFamily="34" charset="0"/>
                <a:ea typeface="맑은 고딕" pitchFamily="50" charset="-127"/>
                <a:cs typeface="Arial" pitchFamily="34" charset="0"/>
              </a:rPr>
              <a:t>không</a:t>
            </a:r>
            <a:endParaRPr lang="en-US" altLang="ko-KR" sz="1000" dirty="0">
              <a:latin typeface="Arial" pitchFamily="34" charset="0"/>
              <a:ea typeface="맑은 고딕" pitchFamily="50" charset="-127"/>
              <a:cs typeface="Arial" pitchFamily="34" charset="0"/>
            </a:endParaRPr>
          </a:p>
          <a:p>
            <a:pPr eaLnBrk="1" hangingPunct="1">
              <a:spcBef>
                <a:spcPct val="50000"/>
              </a:spcBef>
            </a:pPr>
            <a:r>
              <a:rPr lang="en-US" altLang="ko-KR" sz="1000" b="1" dirty="0">
                <a:solidFill>
                  <a:srgbClr val="FF0000"/>
                </a:solidFill>
                <a:latin typeface="Arial" pitchFamily="34" charset="0"/>
                <a:ea typeface="맑은 고딕" pitchFamily="50" charset="-127"/>
                <a:cs typeface="Arial" pitchFamily="34" charset="0"/>
              </a:rPr>
              <a:t>Accuracy</a:t>
            </a:r>
          </a:p>
          <a:p>
            <a:pPr eaLnBrk="1" hangingPunct="1">
              <a:spcBef>
                <a:spcPct val="50000"/>
              </a:spcBef>
            </a:pP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độ</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tuẩn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thủ</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độ</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chấp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nhận</a:t>
            </a:r>
            <a:r>
              <a:rPr lang="en-US" altLang="ko-KR" sz="1000" dirty="0">
                <a:solidFill>
                  <a:srgbClr val="000000"/>
                </a:solidFill>
                <a:latin typeface="Arial" pitchFamily="34" charset="0"/>
                <a:ea typeface="맑은 고딕" pitchFamily="50" charset="-127"/>
                <a:cs typeface="Arial" pitchFamily="34" charset="0"/>
              </a:rPr>
              <a:t>. </a:t>
            </a:r>
            <a:endParaRPr lang="ko-KR" altLang="en-US" sz="1000" dirty="0">
              <a:solidFill>
                <a:srgbClr val="000000"/>
              </a:solidFill>
              <a:latin typeface="Arial" pitchFamily="34" charset="0"/>
              <a:ea typeface="맑은 고딕" pitchFamily="50" charset="-127"/>
              <a:cs typeface="Arial" pitchFamily="34" charset="0"/>
            </a:endParaRPr>
          </a:p>
          <a:p>
            <a:pPr eaLnBrk="1" hangingPunct="1">
              <a:lnSpc>
                <a:spcPct val="90000"/>
              </a:lnSpc>
              <a:spcBef>
                <a:spcPct val="50000"/>
              </a:spcBef>
            </a:pPr>
            <a:r>
              <a:rPr lang="en-US" altLang="ko-KR" sz="1000" b="1" dirty="0">
                <a:solidFill>
                  <a:srgbClr val="FF0000"/>
                </a:solidFill>
                <a:latin typeface="Arial" pitchFamily="34" charset="0"/>
                <a:ea typeface="맑은 고딕" pitchFamily="50" charset="-127"/>
                <a:cs typeface="Arial" pitchFamily="34" charset="0"/>
              </a:rPr>
              <a:t>Precision</a:t>
            </a:r>
          </a:p>
          <a:p>
            <a:pPr eaLnBrk="1" hangingPunct="1">
              <a:lnSpc>
                <a:spcPct val="90000"/>
              </a:lnSpc>
              <a:spcBef>
                <a:spcPct val="50000"/>
              </a:spcBef>
            </a:pPr>
            <a:r>
              <a:rPr lang="en-US" altLang="ko-KR" sz="1000" dirty="0" err="1">
                <a:latin typeface="Arial" pitchFamily="34" charset="0"/>
                <a:ea typeface="맑은 고딕" pitchFamily="50" charset="-127"/>
                <a:cs typeface="Arial" pitchFamily="34" charset="0"/>
              </a:rPr>
              <a:t>Mức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độ</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giá</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trị</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lường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tương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đồng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nhau</a:t>
            </a:r>
            <a:endParaRPr lang="en-US" altLang="ko-KR" sz="1000" dirty="0">
              <a:latin typeface="Arial" pitchFamily="34" charset="0"/>
              <a:ea typeface="맑은 고딕" pitchFamily="50" charset="-127"/>
              <a:cs typeface="Arial" pitchFamily="34" charset="0"/>
            </a:endParaRPr>
          </a:p>
          <a:p>
            <a:pPr eaLnBrk="1" hangingPunct="1">
              <a:lnSpc>
                <a:spcPct val="90000"/>
              </a:lnSpc>
              <a:spcBef>
                <a:spcPct val="50000"/>
              </a:spcBef>
            </a:pPr>
            <a:endParaRPr lang="en-US" altLang="ko-KR" sz="1000" b="1" dirty="0">
              <a:solidFill>
                <a:srgbClr val="FF0000"/>
              </a:solidFill>
              <a:latin typeface="Arial" pitchFamily="34" charset="0"/>
              <a:ea typeface="맑은 고딕" pitchFamily="50" charset="-127"/>
              <a:cs typeface="Arial" pitchFamily="34" charset="0"/>
            </a:endParaRPr>
          </a:p>
        </p:txBody>
      </p:sp>
      <p:sp>
        <p:nvSpPr>
          <p:cNvPr id="10245" name="Rectangle 125"/>
          <p:cNvSpPr>
            <a:spLocks noChangeArrowheads="1"/>
          </p:cNvSpPr>
          <p:nvPr/>
        </p:nvSpPr>
        <p:spPr bwMode="auto">
          <a:xfrm>
            <a:off x="1676400" y="2276475"/>
            <a:ext cx="941388" cy="431800"/>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30000"/>
              </a:lnSpc>
              <a:spcBef>
                <a:spcPct val="50000"/>
              </a:spcBef>
            </a:pPr>
            <a:r>
              <a:rPr lang="en-US" altLang="ko-KR" sz="1200" b="1" dirty="0">
                <a:solidFill>
                  <a:srgbClr val="FFFFFF"/>
                </a:solidFill>
                <a:latin typeface="Arial" pitchFamily="34" charset="0"/>
                <a:ea typeface="맑은 고딕" pitchFamily="50" charset="-127"/>
                <a:cs typeface="Arial" pitchFamily="34" charset="0"/>
              </a:rPr>
              <a:t>Validity</a:t>
            </a:r>
          </a:p>
        </p:txBody>
      </p:sp>
      <p:sp>
        <p:nvSpPr>
          <p:cNvPr id="10246" name="Rectangle 126"/>
          <p:cNvSpPr>
            <a:spLocks noChangeArrowheads="1"/>
          </p:cNvSpPr>
          <p:nvPr/>
        </p:nvSpPr>
        <p:spPr bwMode="auto">
          <a:xfrm>
            <a:off x="1670050" y="3275013"/>
            <a:ext cx="941388" cy="431800"/>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20000"/>
              </a:lnSpc>
              <a:spcBef>
                <a:spcPct val="50000"/>
              </a:spcBef>
            </a:pPr>
            <a:r>
              <a:rPr lang="en-US" altLang="ko-KR" sz="1200" b="1" dirty="0">
                <a:solidFill>
                  <a:srgbClr val="FFFFFF"/>
                </a:solidFill>
                <a:latin typeface="Arial" pitchFamily="34" charset="0"/>
                <a:ea typeface="맑은 고딕" pitchFamily="50" charset="-127"/>
                <a:cs typeface="Arial" pitchFamily="34" charset="0"/>
              </a:rPr>
              <a:t>Accuracy</a:t>
            </a:r>
          </a:p>
        </p:txBody>
      </p:sp>
      <p:sp>
        <p:nvSpPr>
          <p:cNvPr id="10247" name="Rectangle 127"/>
          <p:cNvSpPr>
            <a:spLocks noChangeArrowheads="1"/>
          </p:cNvSpPr>
          <p:nvPr/>
        </p:nvSpPr>
        <p:spPr bwMode="auto">
          <a:xfrm>
            <a:off x="1679575" y="4283075"/>
            <a:ext cx="941388" cy="431800"/>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30000"/>
              </a:lnSpc>
              <a:spcBef>
                <a:spcPct val="50000"/>
              </a:spcBef>
            </a:pPr>
            <a:r>
              <a:rPr lang="en-US" altLang="ko-KR" sz="1200" b="1" dirty="0">
                <a:solidFill>
                  <a:srgbClr val="FFFFFF"/>
                </a:solidFill>
                <a:latin typeface="Arial" pitchFamily="34" charset="0"/>
                <a:ea typeface="맑은 고딕" pitchFamily="50" charset="-127"/>
                <a:cs typeface="Arial" pitchFamily="34" charset="0"/>
              </a:rPr>
              <a:t>Precision</a:t>
            </a:r>
          </a:p>
        </p:txBody>
      </p:sp>
      <p:sp>
        <p:nvSpPr>
          <p:cNvPr id="10248" name="Rectangle 128"/>
          <p:cNvSpPr>
            <a:spLocks noChangeArrowheads="1"/>
          </p:cNvSpPr>
          <p:nvPr/>
        </p:nvSpPr>
        <p:spPr bwMode="auto">
          <a:xfrm>
            <a:off x="920750" y="2286000"/>
            <a:ext cx="677863" cy="2447925"/>
          </a:xfrm>
          <a:prstGeom prst="rect">
            <a:avLst/>
          </a:prstGeom>
          <a:solidFill>
            <a:schemeClr val="bg1"/>
          </a:solidFill>
          <a:ln w="9525" algn="ctr">
            <a:solidFill>
              <a:schemeClr val="tx1"/>
            </a:solidFill>
            <a:miter lim="800000"/>
            <a:headEnd/>
            <a:tailEnd/>
          </a:ln>
        </p:spPr>
        <p:txBody>
          <a:bodyPr vert="vert270" lIns="0" tIns="0" rIns="0" bIns="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400" b="1" dirty="0" err="1">
                <a:solidFill>
                  <a:srgbClr val="000000"/>
                </a:solidFill>
                <a:latin typeface="Arial" pitchFamily="34" charset="0"/>
                <a:ea typeface="맑은 고딕" pitchFamily="50" charset="-127"/>
                <a:cs typeface="Arial" pitchFamily="34" charset="0"/>
              </a:rPr>
              <a:t>Kiểm</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định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hệ</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thống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đo</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lường</a:t>
            </a:r>
            <a:endParaRPr lang="en-US" altLang="ko-KR" sz="1400" b="1" dirty="0">
              <a:solidFill>
                <a:srgbClr val="000000"/>
              </a:solidFill>
              <a:latin typeface="Arial" pitchFamily="34" charset="0"/>
              <a:ea typeface="맑은 고딕" pitchFamily="50" charset="-127"/>
              <a:cs typeface="Arial" pitchFamily="34" charset="0"/>
            </a:endParaRPr>
          </a:p>
        </p:txBody>
      </p:sp>
      <p:sp>
        <p:nvSpPr>
          <p:cNvPr id="10249" name="Rectangle 134"/>
          <p:cNvSpPr>
            <a:spLocks noChangeArrowheads="1"/>
          </p:cNvSpPr>
          <p:nvPr/>
        </p:nvSpPr>
        <p:spPr bwMode="auto">
          <a:xfrm>
            <a:off x="2973388" y="2876550"/>
            <a:ext cx="1716087" cy="360363"/>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Độ</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chệch</a:t>
            </a:r>
            <a:r>
              <a:rPr lang="en-US" altLang="ko-KR" sz="1200" b="1" dirty="0">
                <a:solidFill>
                  <a:srgbClr val="4D4D4D"/>
                </a:solidFill>
                <a:latin typeface="Arial" pitchFamily="34" charset="0"/>
                <a:ea typeface="맑은 고딕" pitchFamily="50" charset="-127"/>
                <a:cs typeface="Arial" pitchFamily="34" charset="0"/>
              </a:rPr>
              <a:t> (Bias)</a:t>
            </a:r>
          </a:p>
        </p:txBody>
      </p:sp>
      <p:sp>
        <p:nvSpPr>
          <p:cNvPr id="10250" name="Rectangle 135"/>
          <p:cNvSpPr>
            <a:spLocks noChangeArrowheads="1"/>
          </p:cNvSpPr>
          <p:nvPr/>
        </p:nvSpPr>
        <p:spPr bwMode="auto">
          <a:xfrm>
            <a:off x="2973388" y="3308350"/>
            <a:ext cx="1716087" cy="360363"/>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Tuyến</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tính</a:t>
            </a:r>
            <a:r>
              <a:rPr lang="en-US" altLang="ko-KR" sz="1200" b="1" dirty="0">
                <a:solidFill>
                  <a:srgbClr val="4D4D4D"/>
                </a:solidFill>
                <a:latin typeface="Arial" pitchFamily="34" charset="0"/>
                <a:ea typeface="맑은 고딕" pitchFamily="50" charset="-127"/>
                <a:cs typeface="Arial" pitchFamily="34" charset="0"/>
              </a:rPr>
              <a:t> (Linearity)</a:t>
            </a:r>
          </a:p>
        </p:txBody>
      </p:sp>
      <p:sp>
        <p:nvSpPr>
          <p:cNvPr id="10251" name="Rectangle 136"/>
          <p:cNvSpPr>
            <a:spLocks noChangeArrowheads="1"/>
          </p:cNvSpPr>
          <p:nvPr/>
        </p:nvSpPr>
        <p:spPr bwMode="auto">
          <a:xfrm>
            <a:off x="2973388" y="3729038"/>
            <a:ext cx="1716087" cy="360362"/>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Độ</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ổn</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định</a:t>
            </a:r>
            <a:r>
              <a:rPr lang="en-US" altLang="ko-KR" sz="1200" b="1" dirty="0">
                <a:solidFill>
                  <a:srgbClr val="4D4D4D"/>
                </a:solidFill>
                <a:latin typeface="Arial" pitchFamily="34" charset="0"/>
                <a:ea typeface="맑은 고딕" pitchFamily="50" charset="-127"/>
                <a:cs typeface="Arial" pitchFamily="34" charset="0"/>
              </a:rPr>
              <a:t> (Stability)</a:t>
            </a:r>
          </a:p>
        </p:txBody>
      </p:sp>
      <p:sp>
        <p:nvSpPr>
          <p:cNvPr id="10252" name="Rectangle 137"/>
          <p:cNvSpPr>
            <a:spLocks noChangeArrowheads="1"/>
          </p:cNvSpPr>
          <p:nvPr/>
        </p:nvSpPr>
        <p:spPr bwMode="auto">
          <a:xfrm>
            <a:off x="2951163" y="4221089"/>
            <a:ext cx="1716087" cy="460450"/>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Khả</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năng</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lặp</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lại</a:t>
            </a:r>
            <a:endParaRPr lang="en-US" altLang="ko-KR" sz="1200" b="1" dirty="0">
              <a:solidFill>
                <a:srgbClr val="4D4D4D"/>
              </a:solidFill>
              <a:latin typeface="Arial" pitchFamily="34" charset="0"/>
              <a:ea typeface="맑은 고딕" pitchFamily="50" charset="-127"/>
              <a:cs typeface="Arial" pitchFamily="34" charset="0"/>
            </a:endParaRPr>
          </a:p>
          <a:p>
            <a:pPr algn="ctr" eaLnBrk="1" hangingPunct="1">
              <a:spcBef>
                <a:spcPct val="50000"/>
              </a:spcBef>
            </a:pPr>
            <a:r>
              <a:rPr lang="en-US" altLang="ko-KR" sz="1200" b="1" dirty="0">
                <a:solidFill>
                  <a:srgbClr val="4D4D4D"/>
                </a:solidFill>
                <a:latin typeface="Arial" pitchFamily="34" charset="0"/>
                <a:ea typeface="맑은 고딕" pitchFamily="50" charset="-127"/>
                <a:cs typeface="Arial" pitchFamily="34" charset="0"/>
              </a:rPr>
              <a:t>(Repeatability)</a:t>
            </a:r>
          </a:p>
        </p:txBody>
      </p:sp>
      <p:sp>
        <p:nvSpPr>
          <p:cNvPr id="10253" name="Rectangle 138"/>
          <p:cNvSpPr>
            <a:spLocks noChangeArrowheads="1"/>
          </p:cNvSpPr>
          <p:nvPr/>
        </p:nvSpPr>
        <p:spPr bwMode="auto">
          <a:xfrm>
            <a:off x="2951163" y="4724400"/>
            <a:ext cx="1716087" cy="504800"/>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Khả</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năng</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tái</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tạo</a:t>
            </a:r>
            <a:endParaRPr lang="en-US" altLang="ko-KR" sz="1200" b="1" dirty="0">
              <a:solidFill>
                <a:srgbClr val="4D4D4D"/>
              </a:solidFill>
              <a:latin typeface="Arial" pitchFamily="34" charset="0"/>
              <a:ea typeface="맑은 고딕" pitchFamily="50" charset="-127"/>
              <a:cs typeface="Arial" pitchFamily="34" charset="0"/>
            </a:endParaRPr>
          </a:p>
          <a:p>
            <a:pPr algn="ctr" eaLnBrk="1" hangingPunct="1">
              <a:spcBef>
                <a:spcPct val="50000"/>
              </a:spcBef>
            </a:pPr>
            <a:r>
              <a:rPr lang="en-US" altLang="ko-KR" sz="1200" b="1" dirty="0">
                <a:solidFill>
                  <a:srgbClr val="4D4D4D"/>
                </a:solidFill>
                <a:latin typeface="Arial" pitchFamily="34" charset="0"/>
                <a:ea typeface="맑은 고딕" pitchFamily="50" charset="-127"/>
                <a:cs typeface="Arial" pitchFamily="34" charset="0"/>
              </a:rPr>
              <a:t>(Reproducibility)</a:t>
            </a:r>
          </a:p>
        </p:txBody>
      </p:sp>
      <p:sp>
        <p:nvSpPr>
          <p:cNvPr id="10254" name="Rectangle 139"/>
          <p:cNvSpPr>
            <a:spLocks noChangeArrowheads="1"/>
          </p:cNvSpPr>
          <p:nvPr/>
        </p:nvSpPr>
        <p:spPr bwMode="auto">
          <a:xfrm>
            <a:off x="2946400" y="2132856"/>
            <a:ext cx="1716088" cy="542083"/>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Xét</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duyệt</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kỹ</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thuật</a:t>
            </a:r>
            <a:endParaRPr lang="en-US" altLang="ko-KR" sz="1200" b="1" dirty="0">
              <a:solidFill>
                <a:srgbClr val="4D4D4D"/>
              </a:solidFill>
              <a:latin typeface="Arial" pitchFamily="34" charset="0"/>
              <a:ea typeface="맑은 고딕" pitchFamily="50" charset="-127"/>
              <a:cs typeface="Arial" pitchFamily="34" charset="0"/>
            </a:endParaRPr>
          </a:p>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Xét</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duyệt</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thực</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tế</a:t>
            </a:r>
            <a:endParaRPr lang="en-US" altLang="ko-KR" sz="1200" b="1" dirty="0">
              <a:solidFill>
                <a:srgbClr val="4D4D4D"/>
              </a:solidFill>
              <a:latin typeface="Arial" pitchFamily="34" charset="0"/>
              <a:ea typeface="맑은 고딕" pitchFamily="50" charset="-127"/>
              <a:cs typeface="Arial" pitchFamily="34" charset="0"/>
            </a:endParaRPr>
          </a:p>
        </p:txBody>
      </p:sp>
      <p:cxnSp>
        <p:nvCxnSpPr>
          <p:cNvPr id="10255" name="AutoShape 140"/>
          <p:cNvCxnSpPr>
            <a:cxnSpLocks noChangeShapeType="1"/>
            <a:stCxn id="10246" idx="3"/>
            <a:endCxn id="10249" idx="1"/>
          </p:cNvCxnSpPr>
          <p:nvPr/>
        </p:nvCxnSpPr>
        <p:spPr bwMode="auto">
          <a:xfrm flipV="1">
            <a:off x="2611438" y="3057525"/>
            <a:ext cx="361950" cy="433388"/>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0256" name="AutoShape 141"/>
          <p:cNvCxnSpPr>
            <a:cxnSpLocks noChangeShapeType="1"/>
            <a:stCxn id="10246" idx="3"/>
            <a:endCxn id="10250" idx="1"/>
          </p:cNvCxnSpPr>
          <p:nvPr/>
        </p:nvCxnSpPr>
        <p:spPr bwMode="auto">
          <a:xfrm flipV="1">
            <a:off x="2611438" y="3489325"/>
            <a:ext cx="361950" cy="1588"/>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0257" name="AutoShape 142"/>
          <p:cNvCxnSpPr>
            <a:cxnSpLocks noChangeShapeType="1"/>
            <a:stCxn id="10246" idx="3"/>
            <a:endCxn id="10251" idx="1"/>
          </p:cNvCxnSpPr>
          <p:nvPr/>
        </p:nvCxnSpPr>
        <p:spPr bwMode="auto">
          <a:xfrm>
            <a:off x="2611438" y="3490913"/>
            <a:ext cx="361950" cy="419100"/>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0258" name="AutoShape 143"/>
          <p:cNvCxnSpPr>
            <a:cxnSpLocks noChangeShapeType="1"/>
            <a:stCxn id="10247" idx="3"/>
            <a:endCxn id="10252" idx="1"/>
          </p:cNvCxnSpPr>
          <p:nvPr/>
        </p:nvCxnSpPr>
        <p:spPr bwMode="auto">
          <a:xfrm flipV="1">
            <a:off x="2620963" y="4451314"/>
            <a:ext cx="330200" cy="47661"/>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0259" name="AutoShape 144"/>
          <p:cNvCxnSpPr>
            <a:cxnSpLocks noChangeShapeType="1"/>
            <a:stCxn id="10247" idx="3"/>
            <a:endCxn id="10253" idx="1"/>
          </p:cNvCxnSpPr>
          <p:nvPr/>
        </p:nvCxnSpPr>
        <p:spPr bwMode="auto">
          <a:xfrm>
            <a:off x="2620963" y="4498975"/>
            <a:ext cx="330200" cy="477825"/>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0260" name="Rectangle 146"/>
          <p:cNvSpPr>
            <a:spLocks noChangeArrowheads="1"/>
          </p:cNvSpPr>
          <p:nvPr/>
        </p:nvSpPr>
        <p:spPr bwMode="auto">
          <a:xfrm>
            <a:off x="1177132" y="5878433"/>
            <a:ext cx="755173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400" b="1" dirty="0" err="1">
                <a:solidFill>
                  <a:srgbClr val="FF0000"/>
                </a:solidFill>
                <a:latin typeface="Arial" pitchFamily="34" charset="0"/>
                <a:ea typeface="맑은 고딕" pitchFamily="50" charset="-127"/>
                <a:cs typeface="Arial" pitchFamily="34" charset="0"/>
              </a:rPr>
              <a:t>Đo</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lường</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cần</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được</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thực</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hiện</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hợp</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lý</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trên</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quan</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điểm</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kỹ</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thuật</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và</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thực</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tế</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sử</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dụng</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chính</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xác</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dụng</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cụ</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đo</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và</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áp</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dụng</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tiêu</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chuẩn</a:t>
            </a:r>
            <a:r>
              <a:rPr lang="en-US" altLang="ko-KR" sz="1400" b="1" dirty="0">
                <a:solidFill>
                  <a:srgbClr val="FF0000"/>
                </a:solidFill>
                <a:latin typeface="Arial" pitchFamily="34" charset="0"/>
                <a:ea typeface="맑은 고딕" pitchFamily="50" charset="-127"/>
                <a:cs typeface="Arial" pitchFamily="34" charset="0"/>
              </a:rPr>
              <a:t>/</a:t>
            </a:r>
            <a:r>
              <a:rPr lang="en-US" altLang="ko-KR" sz="1400" b="1" dirty="0" err="1">
                <a:solidFill>
                  <a:srgbClr val="FF0000"/>
                </a:solidFill>
                <a:latin typeface="Arial" pitchFamily="34" charset="0"/>
                <a:ea typeface="맑은 고딕" pitchFamily="50" charset="-127"/>
                <a:cs typeface="Arial" pitchFamily="34" charset="0"/>
              </a:rPr>
              <a:t>phương</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pháp</a:t>
            </a:r>
            <a:r>
              <a:rPr lang="en-US" altLang="ko-KR" sz="1400" b="1" dirty="0">
                <a:solidFill>
                  <a:srgbClr val="FF0000"/>
                </a:solidFill>
                <a:latin typeface="Arial" pitchFamily="34" charset="0"/>
                <a:ea typeface="맑은 고딕" pitchFamily="50" charset="-127"/>
                <a:cs typeface="Arial" pitchFamily="34" charset="0"/>
              </a:rPr>
              <a:t>/</a:t>
            </a:r>
            <a:r>
              <a:rPr lang="en-US" altLang="ko-KR" sz="1400" b="1" dirty="0" err="1">
                <a:solidFill>
                  <a:srgbClr val="FF0000"/>
                </a:solidFill>
                <a:latin typeface="Arial" pitchFamily="34" charset="0"/>
                <a:ea typeface="맑은 고딕" pitchFamily="50" charset="-127"/>
                <a:cs typeface="Arial" pitchFamily="34" charset="0"/>
              </a:rPr>
              <a:t>trình</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tự</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đúng</a:t>
            </a:r>
            <a:r>
              <a:rPr lang="en-US" altLang="ko-KR" sz="1400" b="1" dirty="0">
                <a:solidFill>
                  <a:srgbClr val="FF0000"/>
                </a:solidFill>
                <a:latin typeface="Arial" pitchFamily="34" charset="0"/>
                <a:ea typeface="맑은 고딕" pitchFamily="50" charset="-127"/>
                <a:cs typeface="Arial" pitchFamily="34" charset="0"/>
              </a:rPr>
              <a:t> </a:t>
            </a:r>
            <a:r>
              <a:rPr lang="en-US" altLang="ko-KR" sz="1400" b="1" dirty="0" err="1">
                <a:solidFill>
                  <a:srgbClr val="FF0000"/>
                </a:solidFill>
                <a:latin typeface="Arial" pitchFamily="34" charset="0"/>
                <a:ea typeface="맑은 고딕" pitchFamily="50" charset="-127"/>
                <a:cs typeface="Arial" pitchFamily="34" charset="0"/>
              </a:rPr>
              <a:t>đắn</a:t>
            </a:r>
            <a:endParaRPr lang="en-US" altLang="ko-KR" sz="1400" b="1" dirty="0">
              <a:solidFill>
                <a:srgbClr val="FF0000"/>
              </a:solidFill>
              <a:latin typeface="Arial" pitchFamily="34" charset="0"/>
              <a:ea typeface="맑은 고딕" pitchFamily="50" charset="-127"/>
              <a:cs typeface="Arial" pitchFamily="34" charset="0"/>
            </a:endParaRPr>
          </a:p>
        </p:txBody>
      </p:sp>
      <p:cxnSp>
        <p:nvCxnSpPr>
          <p:cNvPr id="10261" name="AutoShape 87"/>
          <p:cNvCxnSpPr>
            <a:cxnSpLocks noChangeShapeType="1"/>
            <a:stCxn id="10245" idx="3"/>
            <a:endCxn id="10254" idx="1"/>
          </p:cNvCxnSpPr>
          <p:nvPr/>
        </p:nvCxnSpPr>
        <p:spPr bwMode="auto">
          <a:xfrm flipV="1">
            <a:off x="2617788" y="2403898"/>
            <a:ext cx="328612" cy="88477"/>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6" name="아래쪽 화살표 5"/>
          <p:cNvSpPr/>
          <p:nvPr/>
        </p:nvSpPr>
        <p:spPr>
          <a:xfrm>
            <a:off x="2019300" y="2708275"/>
            <a:ext cx="242888" cy="566738"/>
          </a:xfrm>
          <a:prstGeom prst="downArrow">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116" name="아래쪽 화살표 115"/>
          <p:cNvSpPr/>
          <p:nvPr/>
        </p:nvSpPr>
        <p:spPr>
          <a:xfrm>
            <a:off x="2019300" y="3711575"/>
            <a:ext cx="242888" cy="566738"/>
          </a:xfrm>
          <a:prstGeom prst="downArrow">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10264" name="TextBox 8"/>
          <p:cNvSpPr txBox="1">
            <a:spLocks noChangeArrowheads="1"/>
          </p:cNvSpPr>
          <p:nvPr/>
        </p:nvSpPr>
        <p:spPr bwMode="auto">
          <a:xfrm>
            <a:off x="4678925" y="2869883"/>
            <a:ext cx="2722347" cy="374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1100"/>
              </a:lnSpc>
              <a:buClr>
                <a:srgbClr val="C5003D"/>
              </a:buClr>
            </a:pPr>
            <a:r>
              <a:rPr lang="en-US" altLang="ko-KR" sz="1000" dirty="0" err="1">
                <a:latin typeface="Arial" pitchFamily="34" charset="0"/>
                <a:ea typeface="맑은 고딕" pitchFamily="50" charset="-127"/>
                <a:cs typeface="Arial" pitchFamily="34" charset="0"/>
              </a:rPr>
              <a:t>Sự</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biệt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giữa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giá</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trị</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tham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khảo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và</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trung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bình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của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giá</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trị</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lường</a:t>
            </a:r>
            <a:r>
              <a:rPr lang="en-US" altLang="ko-KR" sz="1000" dirty="0">
                <a:latin typeface="Arial" pitchFamily="34" charset="0"/>
                <a:ea typeface="맑은 고딕" pitchFamily="50" charset="-127"/>
                <a:cs typeface="Arial" pitchFamily="34" charset="0"/>
              </a:rPr>
              <a:t>.</a:t>
            </a:r>
            <a:endParaRPr lang="ko-KR" altLang="en-US" sz="1000" dirty="0">
              <a:latin typeface="Arial" pitchFamily="34" charset="0"/>
              <a:ea typeface="맑은 고딕" pitchFamily="50" charset="-127"/>
              <a:cs typeface="Arial" pitchFamily="34" charset="0"/>
            </a:endParaRPr>
          </a:p>
        </p:txBody>
      </p:sp>
      <p:sp>
        <p:nvSpPr>
          <p:cNvPr id="10265" name="TextBox 94"/>
          <p:cNvSpPr txBox="1">
            <a:spLocks noChangeArrowheads="1"/>
          </p:cNvSpPr>
          <p:nvPr/>
        </p:nvSpPr>
        <p:spPr bwMode="auto">
          <a:xfrm>
            <a:off x="4678925" y="3717925"/>
            <a:ext cx="2716212" cy="38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1100"/>
              </a:lnSpc>
              <a:spcBef>
                <a:spcPct val="50000"/>
              </a:spcBef>
            </a:pPr>
            <a:r>
              <a:rPr lang="en-US" altLang="ko-KR" sz="1000" dirty="0" err="1">
                <a:latin typeface="Arial" pitchFamily="34" charset="0"/>
                <a:ea typeface="맑은 고딕" pitchFamily="50" charset="-127"/>
                <a:cs typeface="Arial" pitchFamily="34" charset="0"/>
              </a:rPr>
              <a:t>Sự</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biệt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giữa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những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giá</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trị</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trung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bình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của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lần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nhau</a:t>
            </a:r>
            <a:endParaRPr lang="ko-KR" altLang="en-US" sz="1000" dirty="0">
              <a:latin typeface="Arial" pitchFamily="34" charset="0"/>
              <a:ea typeface="맑은 고딕" pitchFamily="50" charset="-127"/>
              <a:cs typeface="Arial" pitchFamily="34" charset="0"/>
            </a:endParaRPr>
          </a:p>
        </p:txBody>
      </p:sp>
      <p:sp>
        <p:nvSpPr>
          <p:cNvPr id="10266" name="TextBox 95"/>
          <p:cNvSpPr txBox="1">
            <a:spLocks noChangeArrowheads="1"/>
          </p:cNvSpPr>
          <p:nvPr/>
        </p:nvSpPr>
        <p:spPr bwMode="auto">
          <a:xfrm>
            <a:off x="4678925" y="4211361"/>
            <a:ext cx="27162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1100"/>
              </a:lnSpc>
              <a:spcBef>
                <a:spcPct val="50000"/>
              </a:spcBef>
            </a:pPr>
            <a:r>
              <a:rPr lang="en-US" altLang="ko-KR" sz="1000" dirty="0" err="1">
                <a:latin typeface="Arial" pitchFamily="34" charset="0"/>
                <a:ea typeface="맑은 고딕" pitchFamily="50" charset="-127"/>
                <a:cs typeface="Arial" pitchFamily="34" charset="0"/>
              </a:rPr>
              <a:t>Sai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trong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thiết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bị</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lường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một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sản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phẩm</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đơn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lẻ</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được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bởi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một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người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cụ</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thể</a:t>
            </a:r>
            <a:r>
              <a:rPr lang="en-US" altLang="ko-KR" sz="1000" dirty="0">
                <a:latin typeface="Arial" pitchFamily="34" charset="0"/>
                <a:ea typeface="맑은 고딕" pitchFamily="50" charset="-127"/>
                <a:cs typeface="Arial" pitchFamily="34" charset="0"/>
              </a:rPr>
              <a:t>.</a:t>
            </a:r>
            <a:endParaRPr lang="ko-KR" altLang="en-US" sz="1000" dirty="0">
              <a:latin typeface="Arial" pitchFamily="34" charset="0"/>
              <a:ea typeface="맑은 고딕" pitchFamily="50" charset="-127"/>
              <a:cs typeface="Arial" pitchFamily="34" charset="0"/>
            </a:endParaRPr>
          </a:p>
          <a:p>
            <a:pPr eaLnBrk="1" hangingPunct="1">
              <a:lnSpc>
                <a:spcPts val="1100"/>
              </a:lnSpc>
              <a:buClr>
                <a:srgbClr val="C5003D"/>
              </a:buClr>
            </a:pPr>
            <a:endParaRPr lang="ko-KR" altLang="en-US" sz="1000" dirty="0">
              <a:latin typeface="Arial" pitchFamily="34" charset="0"/>
              <a:ea typeface="맑은 고딕" pitchFamily="50" charset="-127"/>
              <a:cs typeface="Arial" pitchFamily="34" charset="0"/>
            </a:endParaRPr>
          </a:p>
        </p:txBody>
      </p:sp>
      <p:sp>
        <p:nvSpPr>
          <p:cNvPr id="10267" name="TextBox 96"/>
          <p:cNvSpPr txBox="1">
            <a:spLocks noChangeArrowheads="1"/>
          </p:cNvSpPr>
          <p:nvPr/>
        </p:nvSpPr>
        <p:spPr bwMode="auto">
          <a:xfrm>
            <a:off x="4678925" y="4725144"/>
            <a:ext cx="27162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1100"/>
              </a:lnSpc>
              <a:spcBef>
                <a:spcPct val="50000"/>
              </a:spcBef>
            </a:pPr>
            <a:r>
              <a:rPr lang="en-US" altLang="ko-KR" sz="1000" dirty="0" err="1">
                <a:latin typeface="Arial" pitchFamily="34" charset="0"/>
                <a:ea typeface="맑은 고딕" pitchFamily="50" charset="-127"/>
                <a:cs typeface="Arial" pitchFamily="34" charset="0"/>
              </a:rPr>
              <a:t>Sai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khác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giữa</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những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người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sử</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dụng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cùng</a:t>
            </a:r>
            <a:r>
              <a:rPr lang="en-US" altLang="ko-KR" sz="1000" dirty="0">
                <a:latin typeface="Arial" pitchFamily="34" charset="0"/>
                <a:ea typeface="맑은 고딕" pitchFamily="50" charset="-127"/>
                <a:cs typeface="Arial" pitchFamily="34" charset="0"/>
              </a:rPr>
              <a:t> 1 </a:t>
            </a:r>
            <a:r>
              <a:rPr lang="en-US" altLang="ko-KR" sz="1000" dirty="0" err="1">
                <a:latin typeface="Arial" pitchFamily="34" charset="0"/>
                <a:ea typeface="맑은 고딕" pitchFamily="50" charset="-127"/>
                <a:cs typeface="Arial" pitchFamily="34" charset="0"/>
              </a:rPr>
              <a:t>loại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dụng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cụ</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để</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cùng</a:t>
            </a:r>
            <a:r>
              <a:rPr lang="en-US" altLang="ko-KR" sz="1000" dirty="0">
                <a:latin typeface="Arial" pitchFamily="34" charset="0"/>
                <a:ea typeface="맑은 고딕" pitchFamily="50" charset="-127"/>
                <a:cs typeface="Arial" pitchFamily="34" charset="0"/>
              </a:rPr>
              <a:t> 1 </a:t>
            </a:r>
            <a:r>
              <a:rPr lang="en-US" altLang="ko-KR" sz="1000" dirty="0" err="1">
                <a:latin typeface="Arial" pitchFamily="34" charset="0"/>
                <a:ea typeface="맑은 고딕" pitchFamily="50" charset="-127"/>
                <a:cs typeface="Arial" pitchFamily="34" charset="0"/>
              </a:rPr>
              <a:t>sản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phẩm</a:t>
            </a:r>
            <a:r>
              <a:rPr lang="en-US" altLang="ko-KR" sz="1000" dirty="0">
                <a:latin typeface="Arial" pitchFamily="34" charset="0"/>
                <a:ea typeface="맑은 고딕" pitchFamily="50" charset="-127"/>
                <a:cs typeface="Arial" pitchFamily="34" charset="0"/>
              </a:rPr>
              <a:t> </a:t>
            </a:r>
            <a:endParaRPr lang="ko-KR" altLang="en-US" sz="1000" dirty="0">
              <a:latin typeface="Arial" pitchFamily="34" charset="0"/>
              <a:ea typeface="맑은 고딕" pitchFamily="50" charset="-127"/>
              <a:cs typeface="Arial" pitchFamily="34" charset="0"/>
            </a:endParaRPr>
          </a:p>
        </p:txBody>
      </p:sp>
      <p:sp>
        <p:nvSpPr>
          <p:cNvPr id="10268" name="TextBox 97"/>
          <p:cNvSpPr txBox="1">
            <a:spLocks noChangeArrowheads="1"/>
          </p:cNvSpPr>
          <p:nvPr/>
        </p:nvSpPr>
        <p:spPr bwMode="auto">
          <a:xfrm>
            <a:off x="4678925" y="3308350"/>
            <a:ext cx="271621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ts val="1100"/>
              </a:lnSpc>
              <a:buClr>
                <a:srgbClr val="C5003D"/>
              </a:buClr>
            </a:pPr>
            <a:r>
              <a:rPr lang="en-US" altLang="ko-KR" sz="1000" dirty="0" err="1">
                <a:latin typeface="Arial" pitchFamily="34" charset="0"/>
                <a:ea typeface="맑은 고딕" pitchFamily="50" charset="-127"/>
                <a:cs typeface="Arial" pitchFamily="34" charset="0"/>
              </a:rPr>
              <a:t>Sự</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sai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lệch</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từ</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khoảng</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thiết</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bị</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đo</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hoặc</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giới</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hạn</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chỉ</a:t>
            </a:r>
            <a:r>
              <a:rPr lang="en-US" altLang="ko-KR" sz="1000" dirty="0">
                <a:latin typeface="Arial" pitchFamily="34" charset="0"/>
                <a:ea typeface="맑은 고딕" pitchFamily="50" charset="-127"/>
                <a:cs typeface="Arial" pitchFamily="34" charset="0"/>
              </a:rPr>
              <a:t> </a:t>
            </a:r>
            <a:r>
              <a:rPr lang="en-US" altLang="ko-KR" sz="1000" dirty="0" err="1">
                <a:latin typeface="Arial" pitchFamily="34" charset="0"/>
                <a:ea typeface="맑은 고딕" pitchFamily="50" charset="-127"/>
                <a:cs typeface="Arial" pitchFamily="34" charset="0"/>
              </a:rPr>
              <a:t>định</a:t>
            </a:r>
            <a:endParaRPr lang="ko-KR" altLang="en-US" sz="1000" dirty="0">
              <a:latin typeface="Arial" pitchFamily="34" charset="0"/>
              <a:ea typeface="맑은 고딕" pitchFamily="50" charset="-127"/>
              <a:cs typeface="Arial" pitchFamily="34" charset="0"/>
            </a:endParaRPr>
          </a:p>
        </p:txBody>
      </p:sp>
      <p:sp>
        <p:nvSpPr>
          <p:cNvPr id="31" name="제목 8"/>
          <p:cNvSpPr txBox="1">
            <a:spLocks/>
          </p:cNvSpPr>
          <p:nvPr/>
        </p:nvSpPr>
        <p:spPr bwMode="auto">
          <a:xfrm>
            <a:off x="5385048" y="260350"/>
            <a:ext cx="4392365" cy="488950"/>
          </a:xfrm>
          <a:prstGeom prst="rect">
            <a:avLst/>
          </a:prstGeom>
          <a:noFill/>
          <a:ln>
            <a:miter lim="800000"/>
            <a:headEnd/>
            <a:tailEnd/>
          </a:ln>
        </p:spPr>
        <p:txBody>
          <a:bodyPr anchor="ctr"/>
          <a:lstStyle/>
          <a:p>
            <a:pPr algn="r">
              <a:defRPr/>
            </a:pPr>
            <a:r>
              <a:rPr lang="en-US" altLang="ko-KR" sz="1600" b="1" kern="0" dirty="0" err="1">
                <a:solidFill>
                  <a:srgbClr val="000000"/>
                </a:solidFill>
                <a:latin typeface="Arial" pitchFamily="34" charset="0"/>
                <a:ea typeface="맑은 고딕"/>
                <a:cs typeface="Arial" pitchFamily="34" charset="0"/>
              </a:rPr>
              <a:t>Thuật</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ngữ</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và</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trình</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tự</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cơ</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bản</a:t>
            </a:r>
            <a:endParaRPr lang="ko-KR" altLang="en-US" sz="1600" b="1" kern="0" dirty="0">
              <a:solidFill>
                <a:srgbClr val="000000"/>
              </a:solidFill>
              <a:latin typeface="Arial" pitchFamily="34" charset="0"/>
              <a:ea typeface="맑은 고딕"/>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189</a:t>
            </a:fld>
            <a:endParaRPr lang="ko-KR" altLang="en-US" dirty="0">
              <a:latin typeface="Arial" pitchFamily="34" charset="0"/>
              <a:cs typeface="Arial" pitchFamily="34" charset="0"/>
            </a:endParaRPr>
          </a:p>
        </p:txBody>
      </p:sp>
      <p:sp>
        <p:nvSpPr>
          <p:cNvPr id="32"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2.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Khái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niệm</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Thuật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ngữ</a:t>
            </a:r>
            <a:endPar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endParaRPr>
          </a:p>
        </p:txBody>
      </p:sp>
      <p:pic>
        <p:nvPicPr>
          <p:cNvPr id="3" name="Picture 2"/>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10203424" y="2166938"/>
            <a:ext cx="2836757" cy="3782342"/>
          </a:xfrm>
          <a:prstGeom prst="rect">
            <a:avLst/>
          </a:prstGeom>
        </p:spPr>
      </p:pic>
    </p:spTree>
    <p:extLst>
      <p:ext uri="{BB962C8B-B14F-4D97-AF65-F5344CB8AC3E}">
        <p14:creationId xmlns:p14="http://schemas.microsoft.com/office/powerpoint/2010/main" val="2849411722"/>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8" name="TextBox 4"/>
          <p:cNvSpPr txBox="1">
            <a:spLocks noChangeArrowheads="1"/>
          </p:cNvSpPr>
          <p:nvPr/>
        </p:nvSpPr>
        <p:spPr bwMode="auto">
          <a:xfrm>
            <a:off x="1042684" y="1809576"/>
            <a:ext cx="29022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chệch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a:solidFill>
                  <a:srgbClr val="4D4D4D"/>
                </a:solidFill>
                <a:latin typeface="Arial" pitchFamily="34" charset="0"/>
                <a:ea typeface="맑은 고딕" pitchFamily="50" charset="-127"/>
                <a:cs typeface="Arial" pitchFamily="34" charset="0"/>
              </a:rPr>
              <a:t>(Bias) </a:t>
            </a:r>
            <a:r>
              <a:rPr lang="en-US" altLang="ko-KR" sz="1400" b="1" dirty="0" err="1">
                <a:solidFill>
                  <a:srgbClr val="000000"/>
                </a:solidFill>
                <a:latin typeface="Arial" pitchFamily="34" charset="0"/>
                <a:ea typeface="맑은 고딕" pitchFamily="50" charset="-127"/>
                <a:cs typeface="Arial" pitchFamily="34" charset="0"/>
              </a:rPr>
              <a:t>là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gì</a:t>
            </a:r>
            <a:r>
              <a:rPr lang="en-US" altLang="ko-KR" sz="1400" b="1" dirty="0">
                <a:solidFill>
                  <a:srgbClr val="000000"/>
                </a:solidFill>
                <a:latin typeface="Arial" pitchFamily="34" charset="0"/>
                <a:ea typeface="맑은 고딕" pitchFamily="50" charset="-127"/>
                <a:cs typeface="Arial" pitchFamily="34" charset="0"/>
              </a:rPr>
              <a:t>?</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1269" name="TextBox 6"/>
          <p:cNvSpPr txBox="1">
            <a:spLocks noChangeArrowheads="1"/>
          </p:cNvSpPr>
          <p:nvPr/>
        </p:nvSpPr>
        <p:spPr bwMode="auto">
          <a:xfrm>
            <a:off x="1352600" y="2132856"/>
            <a:ext cx="4249737" cy="1116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giữa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tham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khảo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trung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bình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của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lần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p>
          <a:p>
            <a:pPr algn="just"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Một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bộ</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phận</a:t>
            </a:r>
            <a:r>
              <a:rPr lang="en-US" altLang="ko-KR" sz="1200" dirty="0">
                <a:solidFill>
                  <a:srgbClr val="000000"/>
                </a:solidFill>
                <a:latin typeface="Arial" pitchFamily="34" charset="0"/>
                <a:ea typeface="맑은 고딕" pitchFamily="50" charset="-127"/>
                <a:cs typeface="Arial" pitchFamily="34" charset="0"/>
              </a:rPr>
              <a:t>/</a:t>
            </a:r>
            <a:r>
              <a:rPr lang="en-US" altLang="ko-KR" sz="1200" dirty="0" err="1">
                <a:solidFill>
                  <a:srgbClr val="000000"/>
                </a:solidFill>
                <a:latin typeface="Arial" pitchFamily="34" charset="0"/>
                <a:ea typeface="맑은 고딕" pitchFamily="50" charset="-127"/>
                <a:cs typeface="Arial" pitchFamily="34" charset="0"/>
              </a:rPr>
              <a:t>sản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phẩm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với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tham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khảo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biết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trước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lặp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lặp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lại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bởi</a:t>
            </a:r>
            <a:r>
              <a:rPr lang="en-US" altLang="ko-KR" sz="1200" dirty="0">
                <a:solidFill>
                  <a:srgbClr val="000000"/>
                </a:solidFill>
                <a:latin typeface="Arial" pitchFamily="34" charset="0"/>
                <a:ea typeface="맑은 고딕" pitchFamily="50" charset="-127"/>
                <a:cs typeface="Arial" pitchFamily="34" charset="0"/>
              </a:rPr>
              <a:t> 1 </a:t>
            </a:r>
            <a:r>
              <a:rPr lang="en-US" altLang="ko-KR" sz="1200" dirty="0" err="1">
                <a:solidFill>
                  <a:srgbClr val="000000"/>
                </a:solidFill>
                <a:latin typeface="Arial" pitchFamily="34" charset="0"/>
                <a:ea typeface="맑은 고딕" pitchFamily="50" charset="-127"/>
                <a:cs typeface="Arial" pitchFamily="34" charset="0"/>
              </a:rPr>
              <a:t>người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duy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nhất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trung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bình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của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lần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sẽ</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so </a:t>
            </a:r>
            <a:r>
              <a:rPr lang="en-US" altLang="ko-KR" sz="1200" dirty="0" err="1">
                <a:solidFill>
                  <a:srgbClr val="000000"/>
                </a:solidFill>
                <a:latin typeface="Arial" pitchFamily="34" charset="0"/>
                <a:ea typeface="맑은 고딕" pitchFamily="50" charset="-127"/>
                <a:cs typeface="Arial" pitchFamily="34" charset="0"/>
              </a:rPr>
              <a:t>sánh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với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tham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khảo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trước</a:t>
            </a:r>
            <a:r>
              <a:rPr lang="en-US" altLang="ko-KR" sz="1200" dirty="0">
                <a:solidFill>
                  <a:srgbClr val="000000"/>
                </a:solidFill>
                <a:latin typeface="Arial" pitchFamily="34" charset="0"/>
                <a:ea typeface="맑은 고딕" pitchFamily="50" charset="-127"/>
                <a:cs typeface="Arial" pitchFamily="34" charset="0"/>
              </a:rPr>
              <a:t>.</a:t>
            </a:r>
            <a:endParaRPr lang="ko-KR" altLang="en-US" sz="1200" dirty="0">
              <a:solidFill>
                <a:srgbClr val="000000"/>
              </a:solidFill>
              <a:latin typeface="Arial" pitchFamily="34" charset="0"/>
              <a:ea typeface="맑은 고딕" pitchFamily="50" charset="-127"/>
              <a:cs typeface="Arial" pitchFamily="34" charset="0"/>
            </a:endParaRPr>
          </a:p>
        </p:txBody>
      </p:sp>
      <p:grpSp>
        <p:nvGrpSpPr>
          <p:cNvPr id="3" name="Group 2"/>
          <p:cNvGrpSpPr>
            <a:grpSpLocks/>
          </p:cNvGrpSpPr>
          <p:nvPr/>
        </p:nvGrpSpPr>
        <p:grpSpPr bwMode="auto">
          <a:xfrm>
            <a:off x="5935663" y="1628775"/>
            <a:ext cx="2809875" cy="1368425"/>
            <a:chOff x="217" y="440"/>
            <a:chExt cx="1770" cy="862"/>
          </a:xfrm>
        </p:grpSpPr>
        <p:grpSp>
          <p:nvGrpSpPr>
            <p:cNvPr id="4" name="Group 3"/>
            <p:cNvGrpSpPr>
              <a:grpSpLocks/>
            </p:cNvGrpSpPr>
            <p:nvPr/>
          </p:nvGrpSpPr>
          <p:grpSpPr bwMode="auto">
            <a:xfrm>
              <a:off x="226" y="440"/>
              <a:ext cx="1761" cy="816"/>
              <a:chOff x="232" y="304"/>
              <a:chExt cx="1761" cy="816"/>
            </a:xfrm>
          </p:grpSpPr>
          <p:sp>
            <p:nvSpPr>
              <p:cNvPr id="11312" name="Line 4"/>
              <p:cNvSpPr>
                <a:spLocks noChangeShapeType="1"/>
              </p:cNvSpPr>
              <p:nvPr/>
            </p:nvSpPr>
            <p:spPr bwMode="auto">
              <a:xfrm>
                <a:off x="452" y="971"/>
                <a:ext cx="1005" cy="0"/>
              </a:xfrm>
              <a:prstGeom prst="line">
                <a:avLst/>
              </a:prstGeom>
              <a:noFill/>
              <a:ln w="9525">
                <a:solidFill>
                  <a:schemeClr val="bg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none" anchor="ctr"/>
              <a:lstStyle/>
              <a:p>
                <a:endParaRPr lang="ko-KR" altLang="en-US">
                  <a:latin typeface="Arial" pitchFamily="34" charset="0"/>
                  <a:cs typeface="Arial" pitchFamily="34" charset="0"/>
                </a:endParaRPr>
              </a:p>
            </p:txBody>
          </p:sp>
          <p:pic>
            <p:nvPicPr>
              <p:cNvPr id="11313" name="Picture 5"/>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rot="-5400000">
                <a:off x="648" y="357"/>
                <a:ext cx="453" cy="7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314" name="Line 6"/>
              <p:cNvSpPr>
                <a:spLocks noChangeShapeType="1"/>
              </p:cNvSpPr>
              <p:nvPr/>
            </p:nvSpPr>
            <p:spPr bwMode="auto">
              <a:xfrm>
                <a:off x="506" y="494"/>
                <a:ext cx="0" cy="477"/>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none" anchor="ctr"/>
              <a:lstStyle/>
              <a:p>
                <a:endParaRPr lang="ko-KR" altLang="en-US">
                  <a:latin typeface="Arial" pitchFamily="34" charset="0"/>
                  <a:cs typeface="Arial" pitchFamily="34" charset="0"/>
                </a:endParaRPr>
              </a:p>
            </p:txBody>
          </p:sp>
          <p:sp>
            <p:nvSpPr>
              <p:cNvPr id="11315" name="Text Box 7"/>
              <p:cNvSpPr txBox="1">
                <a:spLocks noChangeArrowheads="1"/>
              </p:cNvSpPr>
              <p:nvPr/>
            </p:nvSpPr>
            <p:spPr bwMode="auto">
              <a:xfrm>
                <a:off x="232" y="948"/>
                <a:ext cx="776" cy="15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err="1">
                    <a:latin typeface="Arial" pitchFamily="34" charset="0"/>
                    <a:ea typeface="굴림체" pitchFamily="49" charset="-127"/>
                    <a:cs typeface="Arial" pitchFamily="34" charset="0"/>
                  </a:rPr>
                  <a:t>Giá</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trị</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tham</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khảo</a:t>
                </a:r>
                <a:endParaRPr lang="ko-KR" altLang="en-US" sz="1000" dirty="0">
                  <a:latin typeface="Arial" pitchFamily="34" charset="0"/>
                  <a:ea typeface="굴림체" pitchFamily="49" charset="-127"/>
                  <a:cs typeface="Arial" pitchFamily="34" charset="0"/>
                </a:endParaRPr>
              </a:p>
            </p:txBody>
          </p:sp>
          <p:sp>
            <p:nvSpPr>
              <p:cNvPr id="11316" name="Text Box 8"/>
              <p:cNvSpPr txBox="1">
                <a:spLocks noChangeArrowheads="1"/>
              </p:cNvSpPr>
              <p:nvPr/>
            </p:nvSpPr>
            <p:spPr bwMode="auto">
              <a:xfrm>
                <a:off x="1237" y="965"/>
                <a:ext cx="756" cy="15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err="1">
                    <a:latin typeface="Arial" pitchFamily="34" charset="0"/>
                    <a:ea typeface="굴림체" pitchFamily="49" charset="-127"/>
                    <a:cs typeface="Arial" pitchFamily="34" charset="0"/>
                  </a:rPr>
                  <a:t>Giá</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trị</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đo</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lường</a:t>
                </a:r>
                <a:endParaRPr lang="ko-KR" altLang="en-US" sz="1000" dirty="0">
                  <a:latin typeface="Arial" pitchFamily="34" charset="0"/>
                  <a:ea typeface="굴림체" pitchFamily="49" charset="-127"/>
                  <a:cs typeface="Arial" pitchFamily="34" charset="0"/>
                </a:endParaRPr>
              </a:p>
            </p:txBody>
          </p:sp>
          <p:sp>
            <p:nvSpPr>
              <p:cNvPr id="11317" name="Oval 9"/>
              <p:cNvSpPr>
                <a:spLocks noChangeArrowheads="1"/>
              </p:cNvSpPr>
              <p:nvPr/>
            </p:nvSpPr>
            <p:spPr bwMode="auto">
              <a:xfrm>
                <a:off x="634" y="869"/>
                <a:ext cx="58" cy="70"/>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18" name="Oval 10"/>
              <p:cNvSpPr>
                <a:spLocks noChangeArrowheads="1"/>
              </p:cNvSpPr>
              <p:nvPr/>
            </p:nvSpPr>
            <p:spPr bwMode="auto">
              <a:xfrm>
                <a:off x="749" y="869"/>
                <a:ext cx="59" cy="70"/>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19" name="Oval 11"/>
              <p:cNvSpPr>
                <a:spLocks noChangeArrowheads="1"/>
              </p:cNvSpPr>
              <p:nvPr/>
            </p:nvSpPr>
            <p:spPr bwMode="auto">
              <a:xfrm>
                <a:off x="930" y="869"/>
                <a:ext cx="58" cy="70"/>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0" name="Oval 12"/>
              <p:cNvSpPr>
                <a:spLocks noChangeArrowheads="1"/>
              </p:cNvSpPr>
              <p:nvPr/>
            </p:nvSpPr>
            <p:spPr bwMode="auto">
              <a:xfrm>
                <a:off x="1039" y="869"/>
                <a:ext cx="58" cy="70"/>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1" name="Oval 13"/>
              <p:cNvSpPr>
                <a:spLocks noChangeArrowheads="1"/>
              </p:cNvSpPr>
              <p:nvPr/>
            </p:nvSpPr>
            <p:spPr bwMode="auto">
              <a:xfrm>
                <a:off x="634" y="794"/>
                <a:ext cx="58" cy="68"/>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2" name="Oval 14"/>
              <p:cNvSpPr>
                <a:spLocks noChangeArrowheads="1"/>
              </p:cNvSpPr>
              <p:nvPr/>
            </p:nvSpPr>
            <p:spPr bwMode="auto">
              <a:xfrm>
                <a:off x="749" y="794"/>
                <a:ext cx="59" cy="68"/>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3" name="Oval 15"/>
              <p:cNvSpPr>
                <a:spLocks noChangeArrowheads="1"/>
              </p:cNvSpPr>
              <p:nvPr/>
            </p:nvSpPr>
            <p:spPr bwMode="auto">
              <a:xfrm>
                <a:off x="930" y="794"/>
                <a:ext cx="58" cy="68"/>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4" name="Oval 16"/>
              <p:cNvSpPr>
                <a:spLocks noChangeArrowheads="1"/>
              </p:cNvSpPr>
              <p:nvPr/>
            </p:nvSpPr>
            <p:spPr bwMode="auto">
              <a:xfrm>
                <a:off x="1039" y="794"/>
                <a:ext cx="58" cy="68"/>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5" name="Oval 17"/>
              <p:cNvSpPr>
                <a:spLocks noChangeArrowheads="1"/>
              </p:cNvSpPr>
              <p:nvPr/>
            </p:nvSpPr>
            <p:spPr bwMode="auto">
              <a:xfrm>
                <a:off x="934" y="725"/>
                <a:ext cx="59" cy="69"/>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6" name="Oval 18"/>
              <p:cNvSpPr>
                <a:spLocks noChangeArrowheads="1"/>
              </p:cNvSpPr>
              <p:nvPr/>
            </p:nvSpPr>
            <p:spPr bwMode="auto">
              <a:xfrm>
                <a:off x="853" y="807"/>
                <a:ext cx="58" cy="69"/>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7" name="Oval 19"/>
              <p:cNvSpPr>
                <a:spLocks noChangeArrowheads="1"/>
              </p:cNvSpPr>
              <p:nvPr/>
            </p:nvSpPr>
            <p:spPr bwMode="auto">
              <a:xfrm>
                <a:off x="756" y="716"/>
                <a:ext cx="59" cy="69"/>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8" name="Oval 20"/>
              <p:cNvSpPr>
                <a:spLocks noChangeArrowheads="1"/>
              </p:cNvSpPr>
              <p:nvPr/>
            </p:nvSpPr>
            <p:spPr bwMode="auto">
              <a:xfrm>
                <a:off x="686" y="869"/>
                <a:ext cx="59" cy="70"/>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29" name="Oval 21"/>
              <p:cNvSpPr>
                <a:spLocks noChangeArrowheads="1"/>
              </p:cNvSpPr>
              <p:nvPr/>
            </p:nvSpPr>
            <p:spPr bwMode="auto">
              <a:xfrm>
                <a:off x="853" y="869"/>
                <a:ext cx="58" cy="70"/>
              </a:xfrm>
              <a:prstGeom prst="ellipse">
                <a:avLst/>
              </a:prstGeom>
              <a:solidFill>
                <a:schemeClr val="tx1"/>
              </a:solidFill>
              <a:ln w="9525" algn="ctr">
                <a:solidFill>
                  <a:srgbClr val="4D4D4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1330" name="Line 22"/>
              <p:cNvSpPr>
                <a:spLocks noChangeShapeType="1"/>
              </p:cNvSpPr>
              <p:nvPr/>
            </p:nvSpPr>
            <p:spPr bwMode="auto">
              <a:xfrm>
                <a:off x="526" y="613"/>
                <a:ext cx="346" cy="0"/>
              </a:xfrm>
              <a:prstGeom prst="line">
                <a:avLst/>
              </a:prstGeom>
              <a:noFill/>
              <a:ln w="9525">
                <a:solidFill>
                  <a:srgbClr val="FF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Arial" pitchFamily="34" charset="0"/>
                  <a:cs typeface="Arial" pitchFamily="34" charset="0"/>
                </a:endParaRPr>
              </a:p>
            </p:txBody>
          </p:sp>
          <p:sp>
            <p:nvSpPr>
              <p:cNvPr id="11331" name="Text Box 23"/>
              <p:cNvSpPr txBox="1">
                <a:spLocks noChangeArrowheads="1"/>
              </p:cNvSpPr>
              <p:nvPr/>
            </p:nvSpPr>
            <p:spPr bwMode="auto">
              <a:xfrm>
                <a:off x="526" y="304"/>
                <a:ext cx="890" cy="233"/>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rgbClr val="3366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dirty="0" err="1">
                    <a:solidFill>
                      <a:srgbClr val="FF0000"/>
                    </a:solidFill>
                    <a:latin typeface="Arial" pitchFamily="34" charset="0"/>
                    <a:cs typeface="Arial" pitchFamily="34" charset="0"/>
                  </a:rPr>
                  <a:t>Độ</a:t>
                </a:r>
                <a:r>
                  <a:rPr lang="en-US" altLang="ko-KR" sz="900" dirty="0">
                    <a:solidFill>
                      <a:srgbClr val="FF0000"/>
                    </a:solidFill>
                    <a:latin typeface="Arial" pitchFamily="34" charset="0"/>
                    <a:cs typeface="Arial" pitchFamily="34" charset="0"/>
                  </a:rPr>
                  <a:t> </a:t>
                </a:r>
                <a:r>
                  <a:rPr lang="en-US" altLang="ko-KR" sz="900" dirty="0" err="1">
                    <a:solidFill>
                      <a:srgbClr val="FF0000"/>
                    </a:solidFill>
                    <a:latin typeface="Arial" pitchFamily="34" charset="0"/>
                    <a:cs typeface="Arial" pitchFamily="34" charset="0"/>
                  </a:rPr>
                  <a:t>lệch</a:t>
                </a:r>
                <a:r>
                  <a:rPr lang="en-US" altLang="ko-KR" sz="900" dirty="0">
                    <a:solidFill>
                      <a:srgbClr val="FF0000"/>
                    </a:solidFill>
                    <a:latin typeface="Arial" pitchFamily="34" charset="0"/>
                    <a:cs typeface="Arial" pitchFamily="34" charset="0"/>
                  </a:rPr>
                  <a:t> </a:t>
                </a:r>
                <a:r>
                  <a:rPr lang="en-US" altLang="ko-KR" sz="900" dirty="0" err="1">
                    <a:solidFill>
                      <a:srgbClr val="FF0000"/>
                    </a:solidFill>
                    <a:latin typeface="Arial" pitchFamily="34" charset="0"/>
                    <a:cs typeface="Arial" pitchFamily="34" charset="0"/>
                  </a:rPr>
                  <a:t>chuẩn</a:t>
                </a:r>
                <a:endParaRPr lang="en-US" altLang="ko-KR" sz="900" dirty="0">
                  <a:solidFill>
                    <a:srgbClr val="FF0000"/>
                  </a:solidFill>
                  <a:latin typeface="Arial" pitchFamily="34" charset="0"/>
                  <a:cs typeface="Arial" pitchFamily="34" charset="0"/>
                </a:endParaRPr>
              </a:p>
              <a:p>
                <a:pPr eaLnBrk="1" hangingPunct="1"/>
                <a:r>
                  <a:rPr lang="en-US" altLang="ko-KR" sz="900" dirty="0">
                    <a:solidFill>
                      <a:srgbClr val="FF0000"/>
                    </a:solidFill>
                    <a:latin typeface="Arial" pitchFamily="34" charset="0"/>
                    <a:cs typeface="Arial" pitchFamily="34" charset="0"/>
                  </a:rPr>
                  <a:t>(Standard Deviation)</a:t>
                </a:r>
                <a:endParaRPr lang="ko-KR" altLang="en-US" sz="900" dirty="0">
                  <a:solidFill>
                    <a:srgbClr val="FF0000"/>
                  </a:solidFill>
                  <a:latin typeface="Arial" pitchFamily="34" charset="0"/>
                  <a:cs typeface="Arial" pitchFamily="34" charset="0"/>
                </a:endParaRPr>
              </a:p>
            </p:txBody>
          </p:sp>
        </p:grpSp>
        <p:sp>
          <p:nvSpPr>
            <p:cNvPr id="11311" name="Rectangle 24"/>
            <p:cNvSpPr>
              <a:spLocks noChangeArrowheads="1"/>
            </p:cNvSpPr>
            <p:nvPr/>
          </p:nvSpPr>
          <p:spPr bwMode="auto">
            <a:xfrm>
              <a:off x="217" y="440"/>
              <a:ext cx="1678" cy="862"/>
            </a:xfrm>
            <a:prstGeom prst="rect">
              <a:avLst/>
            </a:prstGeom>
            <a:noFill/>
            <a:ln w="9525" algn="ctr">
              <a:solidFill>
                <a:srgbClr val="4D4D4D"/>
              </a:solidFill>
              <a:miter lim="800000"/>
              <a:headEnd/>
              <a:tailEnd/>
            </a:ln>
            <a:effectLst/>
            <a:extLst>
              <a:ext uri="{909E8E84-426E-40DD-AFC4-6F175D3DCCD1}">
                <a14:hiddenFill xmlns:a14="http://schemas.microsoft.com/office/drawing/2010/main">
                  <a:solidFill>
                    <a:srgbClr val="FFFFCC"/>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sp>
        <p:nvSpPr>
          <p:cNvPr id="11271" name="TextBox 4"/>
          <p:cNvSpPr txBox="1">
            <a:spLocks noChangeArrowheads="1"/>
          </p:cNvSpPr>
          <p:nvPr/>
        </p:nvSpPr>
        <p:spPr bwMode="auto">
          <a:xfrm>
            <a:off x="952500" y="3391445"/>
            <a:ext cx="27922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400" b="1" dirty="0" err="1">
                <a:solidFill>
                  <a:srgbClr val="000000"/>
                </a:solidFill>
                <a:latin typeface="Arial" pitchFamily="34" charset="0"/>
                <a:ea typeface="맑은 고딕" pitchFamily="50" charset="-127"/>
                <a:cs typeface="Arial" pitchFamily="34" charset="0"/>
              </a:rPr>
              <a:t>Tuyến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tính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a:solidFill>
                  <a:srgbClr val="4D4D4D"/>
                </a:solidFill>
                <a:latin typeface="Arial" pitchFamily="34" charset="0"/>
                <a:ea typeface="맑은 고딕" pitchFamily="50" charset="-127"/>
                <a:cs typeface="Arial" pitchFamily="34" charset="0"/>
              </a:rPr>
              <a:t>(Linearity) </a:t>
            </a:r>
            <a:r>
              <a:rPr lang="en-US" altLang="ko-KR" sz="1400" b="1" dirty="0" err="1">
                <a:solidFill>
                  <a:srgbClr val="000000"/>
                </a:solidFill>
                <a:latin typeface="Arial" pitchFamily="34" charset="0"/>
                <a:ea typeface="맑은 고딕" pitchFamily="50" charset="-127"/>
                <a:cs typeface="Arial" pitchFamily="34" charset="0"/>
              </a:rPr>
              <a:t>là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gì</a:t>
            </a:r>
            <a:r>
              <a:rPr lang="en-US" altLang="ko-KR" sz="1400" b="1" dirty="0">
                <a:solidFill>
                  <a:srgbClr val="000000"/>
                </a:solidFill>
                <a:latin typeface="Arial" pitchFamily="34" charset="0"/>
                <a:ea typeface="맑은 고딕" pitchFamily="50" charset="-127"/>
                <a:cs typeface="Arial" pitchFamily="34" charset="0"/>
              </a:rPr>
              <a:t>?</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1272" name="TextBox 6"/>
          <p:cNvSpPr txBox="1">
            <a:spLocks noChangeArrowheads="1"/>
          </p:cNvSpPr>
          <p:nvPr/>
        </p:nvSpPr>
        <p:spPr bwMode="auto">
          <a:xfrm>
            <a:off x="1352600" y="3725837"/>
            <a:ext cx="4249737" cy="1041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Độ</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lệch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chuẩn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từ</a:t>
            </a:r>
            <a:r>
              <a:rPr lang="en-US" altLang="ko-KR" sz="1200" dirty="0">
                <a:solidFill>
                  <a:srgbClr val="000000"/>
                </a:solidFill>
                <a:latin typeface="Arial" pitchFamily="34" charset="0"/>
                <a:ea typeface="맑은 고딕" pitchFamily="50" charset="-127"/>
                <a:cs typeface="Arial" pitchFamily="34" charset="0"/>
              </a:rPr>
              <a:t> Gage Range </a:t>
            </a:r>
            <a:r>
              <a:rPr lang="en-US" altLang="ko-KR" sz="1200" dirty="0" err="1">
                <a:solidFill>
                  <a:srgbClr val="000000"/>
                </a:solidFill>
                <a:latin typeface="Arial" pitchFamily="34" charset="0"/>
                <a:ea typeface="맑은 고딕" pitchFamily="50" charset="-127"/>
                <a:cs typeface="Arial" pitchFamily="34" charset="0"/>
              </a:rPr>
              <a:t>hoặc</a:t>
            </a:r>
            <a:r>
              <a:rPr lang="en-US" altLang="ko-KR" sz="1200" dirty="0">
                <a:solidFill>
                  <a:srgbClr val="000000"/>
                </a:solidFill>
                <a:latin typeface="Arial" pitchFamily="34" charset="0"/>
                <a:ea typeface="맑은 고딕" pitchFamily="50" charset="-127"/>
                <a:cs typeface="Arial" pitchFamily="34" charset="0"/>
              </a:rPr>
              <a:t> spec limit</a:t>
            </a:r>
            <a:endParaRPr lang="ko-KR" altLang="en-US" sz="1200" dirty="0">
              <a:solidFill>
                <a:srgbClr val="000000"/>
              </a:solidFill>
              <a:latin typeface="Arial" pitchFamily="34" charset="0"/>
              <a:ea typeface="맑은 고딕" pitchFamily="50" charset="-127"/>
              <a:cs typeface="Arial" pitchFamily="34" charset="0"/>
            </a:endParaRPr>
          </a:p>
          <a:p>
            <a:pPr algn="just"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Chọn</a:t>
            </a:r>
            <a:r>
              <a:rPr lang="en-US" altLang="ko-KR" sz="1200" dirty="0">
                <a:solidFill>
                  <a:srgbClr val="000000"/>
                </a:solidFill>
                <a:latin typeface="Arial" pitchFamily="34" charset="0"/>
                <a:ea typeface="맑은 고딕" pitchFamily="50" charset="-127"/>
                <a:cs typeface="Arial" pitchFamily="34" charset="0"/>
              </a:rPr>
              <a:t> 3 </a:t>
            </a:r>
            <a:r>
              <a:rPr lang="en-US" altLang="ko-KR" sz="1200" dirty="0" err="1">
                <a:solidFill>
                  <a:srgbClr val="000000"/>
                </a:solidFill>
                <a:latin typeface="Arial" pitchFamily="34" charset="0"/>
                <a:ea typeface="맑은 고딕" pitchFamily="50" charset="-127"/>
                <a:cs typeface="Arial" pitchFamily="34" charset="0"/>
              </a:rPr>
              <a:t>vị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trên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linh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kiện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để</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lường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nên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nằm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trong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khoảng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trung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bình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Lặp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lại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việc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lường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xem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độ</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dốc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của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đường</a:t>
            </a:r>
            <a:r>
              <a:rPr lang="en-US" altLang="ko-KR" sz="1200" dirty="0">
                <a:solidFill>
                  <a:srgbClr val="000000"/>
                </a:solidFill>
                <a:latin typeface="Arial" pitchFamily="34" charset="0"/>
                <a:ea typeface="맑은 고딕" pitchFamily="50" charset="-127"/>
                <a:cs typeface="Arial" pitchFamily="34" charset="0"/>
              </a:rPr>
              <a:t> cong </a:t>
            </a:r>
            <a:r>
              <a:rPr lang="en-US" altLang="ko-KR" sz="1200" dirty="0" err="1">
                <a:solidFill>
                  <a:srgbClr val="000000"/>
                </a:solidFill>
                <a:latin typeface="Arial" pitchFamily="34" charset="0"/>
                <a:ea typeface="맑은 고딕" pitchFamily="50" charset="-127"/>
                <a:cs typeface="Arial" pitchFamily="34" charset="0"/>
              </a:rPr>
              <a:t>kết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nối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dữ</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liệu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tuyến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tính</a:t>
            </a:r>
            <a:r>
              <a:rPr lang="en-US" altLang="ko-KR" sz="1200" dirty="0">
                <a:solidFill>
                  <a:srgbClr val="000000"/>
                </a:solidFill>
                <a:latin typeface="Arial" pitchFamily="34" charset="0"/>
                <a:ea typeface="맑은 고딕" pitchFamily="50" charset="-127"/>
                <a:cs typeface="Arial" pitchFamily="34" charset="0"/>
              </a:rPr>
              <a:t> hay </a:t>
            </a:r>
            <a:r>
              <a:rPr lang="en-US" altLang="ko-KR" sz="1200" dirty="0" err="1">
                <a:solidFill>
                  <a:srgbClr val="000000"/>
                </a:solidFill>
                <a:latin typeface="Arial" pitchFamily="34" charset="0"/>
                <a:ea typeface="맑은 고딕" pitchFamily="50" charset="-127"/>
                <a:cs typeface="Arial" pitchFamily="34" charset="0"/>
              </a:rPr>
              <a:t>không</a:t>
            </a:r>
            <a:r>
              <a:rPr lang="en-US" altLang="ko-KR" sz="1200" dirty="0">
                <a:solidFill>
                  <a:srgbClr val="000000"/>
                </a:solidFill>
                <a:latin typeface="Arial" pitchFamily="34" charset="0"/>
                <a:ea typeface="맑은 고딕" pitchFamily="50" charset="-127"/>
                <a:cs typeface="Arial" pitchFamily="34" charset="0"/>
              </a:rPr>
              <a:t>. </a:t>
            </a:r>
            <a:endParaRPr lang="ko-KR" altLang="en-US" sz="1200" dirty="0">
              <a:solidFill>
                <a:srgbClr val="000000"/>
              </a:solidFill>
              <a:latin typeface="Arial" pitchFamily="34" charset="0"/>
              <a:ea typeface="맑은 고딕" pitchFamily="50" charset="-127"/>
              <a:cs typeface="Arial" pitchFamily="34" charset="0"/>
            </a:endParaRPr>
          </a:p>
        </p:txBody>
      </p:sp>
      <p:sp>
        <p:nvSpPr>
          <p:cNvPr id="11273" name="TextBox 4"/>
          <p:cNvSpPr txBox="1">
            <a:spLocks noChangeArrowheads="1"/>
          </p:cNvSpPr>
          <p:nvPr/>
        </p:nvSpPr>
        <p:spPr bwMode="auto">
          <a:xfrm>
            <a:off x="952500" y="5013176"/>
            <a:ext cx="28360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ổn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định</a:t>
            </a:r>
            <a:r>
              <a:rPr lang="en-US" altLang="ko-KR" sz="1400" b="1" dirty="0">
                <a:solidFill>
                  <a:srgbClr val="000000"/>
                </a:solidFill>
                <a:latin typeface="Arial" pitchFamily="34" charset="0"/>
                <a:ea typeface="맑은 고딕" pitchFamily="50" charset="-127"/>
                <a:cs typeface="Arial" pitchFamily="34" charset="0"/>
              </a:rPr>
              <a:t> ( Stability) </a:t>
            </a:r>
            <a:r>
              <a:rPr lang="en-US" altLang="ko-KR" sz="1400" b="1" dirty="0" err="1">
                <a:solidFill>
                  <a:srgbClr val="000000"/>
                </a:solidFill>
                <a:latin typeface="Arial" pitchFamily="34" charset="0"/>
                <a:ea typeface="맑은 고딕" pitchFamily="50" charset="-127"/>
                <a:cs typeface="Arial" pitchFamily="34" charset="0"/>
              </a:rPr>
              <a:t>là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gì</a:t>
            </a:r>
            <a:r>
              <a:rPr lang="en-US" altLang="ko-KR" sz="1400" b="1" dirty="0">
                <a:solidFill>
                  <a:srgbClr val="000000"/>
                </a:solidFill>
                <a:latin typeface="Arial" pitchFamily="34" charset="0"/>
                <a:ea typeface="맑은 고딕" pitchFamily="50" charset="-127"/>
                <a:cs typeface="Arial" pitchFamily="34" charset="0"/>
              </a:rPr>
              <a:t>?</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1274" name="TextBox 6"/>
          <p:cNvSpPr txBox="1">
            <a:spLocks noChangeArrowheads="1"/>
          </p:cNvSpPr>
          <p:nvPr/>
        </p:nvSpPr>
        <p:spPr bwMode="auto">
          <a:xfrm>
            <a:off x="1352600" y="5345981"/>
            <a:ext cx="4249737" cy="1189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giữa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trung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bình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lường</a:t>
            </a:r>
            <a:r>
              <a:rPr lang="en-US" altLang="ko-KR" sz="1200" dirty="0">
                <a:solidFill>
                  <a:srgbClr val="000000"/>
                </a:solidFill>
                <a:latin typeface="Arial" pitchFamily="34" charset="0"/>
                <a:ea typeface="맑은 고딕" pitchFamily="50" charset="-127"/>
                <a:cs typeface="Arial" pitchFamily="34" charset="0"/>
              </a:rPr>
              <a:t> ở </a:t>
            </a:r>
            <a:r>
              <a:rPr lang="en-US" altLang="ko-KR" sz="1200" dirty="0" err="1">
                <a:solidFill>
                  <a:srgbClr val="000000"/>
                </a:solidFill>
                <a:latin typeface="Arial" pitchFamily="34" charset="0"/>
                <a:ea typeface="맑은 고딕" pitchFamily="50" charset="-127"/>
                <a:cs typeface="Arial" pitchFamily="34" charset="0"/>
              </a:rPr>
              <a:t>các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thời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nhau</a:t>
            </a:r>
            <a:r>
              <a:rPr lang="en-US" altLang="ko-KR" sz="1200" dirty="0">
                <a:solidFill>
                  <a:srgbClr val="000000"/>
                </a:solidFill>
                <a:latin typeface="Arial" pitchFamily="34" charset="0"/>
                <a:ea typeface="맑은 고딕" pitchFamily="50" charset="-127"/>
                <a:cs typeface="Arial" pitchFamily="34" charset="0"/>
              </a:rPr>
              <a:t>. </a:t>
            </a:r>
          </a:p>
          <a:p>
            <a:pPr algn="just"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Lựa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chọn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một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số</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linh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kiện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tiến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hành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lường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nhiều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lần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khoảng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thời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gian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nhất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định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xem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quá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trình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đang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soát</a:t>
            </a:r>
            <a:r>
              <a:rPr lang="en-US" altLang="ko-KR" sz="1200" dirty="0">
                <a:solidFill>
                  <a:srgbClr val="000000"/>
                </a:solidFill>
                <a:latin typeface="Arial" pitchFamily="34" charset="0"/>
                <a:ea typeface="맑은 고딕" pitchFamily="50" charset="-127"/>
                <a:cs typeface="Arial" pitchFamily="34" charset="0"/>
              </a:rPr>
              <a:t> hay </a:t>
            </a:r>
            <a:r>
              <a:rPr lang="en-US" altLang="ko-KR" sz="1200" dirty="0" err="1">
                <a:solidFill>
                  <a:srgbClr val="000000"/>
                </a:solidFill>
                <a:latin typeface="Arial" pitchFamily="34" charset="0"/>
                <a:ea typeface="맑은 고딕" pitchFamily="50" charset="-127"/>
                <a:cs typeface="Arial" pitchFamily="34" charset="0"/>
              </a:rPr>
              <a:t>không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bằng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cách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xây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dựng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biểu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đồ</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soát</a:t>
            </a:r>
            <a:r>
              <a:rPr lang="en-US" altLang="ko-KR" sz="1200" dirty="0">
                <a:solidFill>
                  <a:srgbClr val="000000"/>
                </a:solidFill>
                <a:latin typeface="Arial" pitchFamily="34" charset="0"/>
                <a:ea typeface="맑은 고딕" pitchFamily="50" charset="-127"/>
                <a:cs typeface="Arial" pitchFamily="34" charset="0"/>
              </a:rPr>
              <a:t> (control chart)</a:t>
            </a:r>
            <a:endParaRPr lang="ko-KR" altLang="en-US" sz="1200" dirty="0">
              <a:solidFill>
                <a:srgbClr val="000000"/>
              </a:solidFill>
              <a:latin typeface="Arial" pitchFamily="34" charset="0"/>
              <a:ea typeface="맑은 고딕" pitchFamily="50" charset="-127"/>
              <a:cs typeface="Arial" pitchFamily="34" charset="0"/>
            </a:endParaRPr>
          </a:p>
        </p:txBody>
      </p:sp>
      <p:grpSp>
        <p:nvGrpSpPr>
          <p:cNvPr id="5" name="Group 25"/>
          <p:cNvGrpSpPr>
            <a:grpSpLocks/>
          </p:cNvGrpSpPr>
          <p:nvPr/>
        </p:nvGrpSpPr>
        <p:grpSpPr bwMode="auto">
          <a:xfrm>
            <a:off x="5945188" y="3059113"/>
            <a:ext cx="2900363" cy="3074456"/>
            <a:chOff x="217" y="1427"/>
            <a:chExt cx="1827" cy="2008"/>
          </a:xfrm>
        </p:grpSpPr>
        <p:grpSp>
          <p:nvGrpSpPr>
            <p:cNvPr id="6" name="Group 26"/>
            <p:cNvGrpSpPr>
              <a:grpSpLocks/>
            </p:cNvGrpSpPr>
            <p:nvPr/>
          </p:nvGrpSpPr>
          <p:grpSpPr bwMode="auto">
            <a:xfrm>
              <a:off x="227" y="1474"/>
              <a:ext cx="1817" cy="1961"/>
              <a:chOff x="219" y="1267"/>
              <a:chExt cx="1817" cy="1961"/>
            </a:xfrm>
          </p:grpSpPr>
          <p:sp>
            <p:nvSpPr>
              <p:cNvPr id="11293" name="Text Box 27"/>
              <p:cNvSpPr txBox="1">
                <a:spLocks noChangeArrowheads="1"/>
              </p:cNvSpPr>
              <p:nvPr/>
            </p:nvSpPr>
            <p:spPr bwMode="auto">
              <a:xfrm>
                <a:off x="252" y="1267"/>
                <a:ext cx="450" cy="26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err="1">
                    <a:latin typeface="Arial" pitchFamily="34" charset="0"/>
                    <a:ea typeface="굴림체" pitchFamily="49" charset="-127"/>
                    <a:cs typeface="Arial" pitchFamily="34" charset="0"/>
                  </a:rPr>
                  <a:t>Giá</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trị</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đo</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lường</a:t>
                </a:r>
                <a:endParaRPr lang="ko-KR" altLang="en-US" sz="1000" dirty="0">
                  <a:latin typeface="Arial" pitchFamily="34" charset="0"/>
                  <a:ea typeface="굴림체" pitchFamily="49" charset="-127"/>
                  <a:cs typeface="Arial" pitchFamily="34" charset="0"/>
                </a:endParaRPr>
              </a:p>
            </p:txBody>
          </p:sp>
          <p:grpSp>
            <p:nvGrpSpPr>
              <p:cNvPr id="7" name="Group 28"/>
              <p:cNvGrpSpPr>
                <a:grpSpLocks/>
              </p:cNvGrpSpPr>
              <p:nvPr/>
            </p:nvGrpSpPr>
            <p:grpSpPr bwMode="auto">
              <a:xfrm>
                <a:off x="297" y="1389"/>
                <a:ext cx="1739" cy="1839"/>
                <a:chOff x="297" y="1389"/>
                <a:chExt cx="1739" cy="1839"/>
              </a:xfrm>
            </p:grpSpPr>
            <p:sp>
              <p:nvSpPr>
                <p:cNvPr id="11295" name="Line 29"/>
                <p:cNvSpPr>
                  <a:spLocks noChangeShapeType="1"/>
                </p:cNvSpPr>
                <p:nvPr/>
              </p:nvSpPr>
              <p:spPr bwMode="auto">
                <a:xfrm flipV="1">
                  <a:off x="488" y="1389"/>
                  <a:ext cx="954" cy="82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none" anchor="ctr"/>
                <a:lstStyle/>
                <a:p>
                  <a:endParaRPr lang="ko-KR" altLang="en-US">
                    <a:latin typeface="Arial" pitchFamily="34" charset="0"/>
                    <a:cs typeface="Arial" pitchFamily="34" charset="0"/>
                  </a:endParaRPr>
                </a:p>
              </p:txBody>
            </p:sp>
            <p:pic>
              <p:nvPicPr>
                <p:cNvPr id="11296" name="Picture 30"/>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730" y="1975"/>
                  <a:ext cx="202"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297" name="Picture 31"/>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376" y="1769"/>
                  <a:ext cx="202"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98" name="Text Box 32"/>
                <p:cNvSpPr txBox="1">
                  <a:spLocks noChangeArrowheads="1"/>
                </p:cNvSpPr>
                <p:nvPr/>
              </p:nvSpPr>
              <p:spPr bwMode="auto">
                <a:xfrm>
                  <a:off x="1441" y="2244"/>
                  <a:ext cx="502" cy="26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err="1">
                      <a:latin typeface="Arial" pitchFamily="34" charset="0"/>
                      <a:ea typeface="굴림체" pitchFamily="49" charset="-127"/>
                      <a:cs typeface="Arial" pitchFamily="34" charset="0"/>
                    </a:rPr>
                    <a:t>Giá</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trị</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tham</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khảo</a:t>
                  </a:r>
                  <a:endParaRPr lang="ko-KR" altLang="en-US" sz="1000" dirty="0">
                    <a:latin typeface="Arial" pitchFamily="34" charset="0"/>
                    <a:ea typeface="굴림체" pitchFamily="49" charset="-127"/>
                    <a:cs typeface="Arial" pitchFamily="34" charset="0"/>
                  </a:endParaRPr>
                </a:p>
              </p:txBody>
            </p:sp>
            <p:pic>
              <p:nvPicPr>
                <p:cNvPr id="11299" name="Picture 33"/>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013" y="1881"/>
                  <a:ext cx="202"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300" name="Line 34"/>
                <p:cNvSpPr>
                  <a:spLocks noChangeShapeType="1"/>
                </p:cNvSpPr>
                <p:nvPr/>
              </p:nvSpPr>
              <p:spPr bwMode="auto">
                <a:xfrm>
                  <a:off x="716" y="2341"/>
                  <a:ext cx="680" cy="0"/>
                </a:xfrm>
                <a:prstGeom prst="line">
                  <a:avLst/>
                </a:prstGeom>
                <a:noFill/>
                <a:ln w="9525">
                  <a:solidFill>
                    <a:srgbClr val="FF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Arial" pitchFamily="34" charset="0"/>
                    <a:cs typeface="Arial" pitchFamily="34" charset="0"/>
                  </a:endParaRPr>
                </a:p>
              </p:txBody>
            </p:sp>
            <p:sp>
              <p:nvSpPr>
                <p:cNvPr id="11301" name="Text Box 35"/>
                <p:cNvSpPr txBox="1">
                  <a:spLocks noChangeArrowheads="1"/>
                </p:cNvSpPr>
                <p:nvPr/>
              </p:nvSpPr>
              <p:spPr bwMode="auto">
                <a:xfrm>
                  <a:off x="709" y="2327"/>
                  <a:ext cx="771" cy="16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rgbClr val="3366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000" dirty="0">
                      <a:solidFill>
                        <a:srgbClr val="FF0000"/>
                      </a:solidFill>
                      <a:latin typeface="Arial" pitchFamily="34" charset="0"/>
                      <a:cs typeface="Arial" pitchFamily="34" charset="0"/>
                    </a:rPr>
                    <a:t>Gage Range</a:t>
                  </a:r>
                </a:p>
              </p:txBody>
            </p:sp>
            <p:sp>
              <p:nvSpPr>
                <p:cNvPr id="11302" name="Line 36"/>
                <p:cNvSpPr>
                  <a:spLocks noChangeShapeType="1"/>
                </p:cNvSpPr>
                <p:nvPr/>
              </p:nvSpPr>
              <p:spPr bwMode="auto">
                <a:xfrm flipV="1">
                  <a:off x="488" y="1851"/>
                  <a:ext cx="1089" cy="363"/>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07763" dir="18900000" algn="ctr" rotWithShape="0">
                          <a:schemeClr val="bg2">
                            <a:alpha val="50000"/>
                          </a:schemeClr>
                        </a:outerShdw>
                      </a:effectLst>
                    </a14:hiddenEffects>
                  </a:ext>
                </a:extLst>
              </p:spPr>
              <p:txBody>
                <a:bodyPr wrap="none" anchor="ctr"/>
                <a:lstStyle/>
                <a:p>
                  <a:endParaRPr lang="ko-KR" altLang="en-US">
                    <a:latin typeface="Arial" pitchFamily="34" charset="0"/>
                    <a:cs typeface="Arial" pitchFamily="34" charset="0"/>
                  </a:endParaRPr>
                </a:p>
              </p:txBody>
            </p:sp>
            <p:sp>
              <p:nvSpPr>
                <p:cNvPr id="11303" name="Line 37"/>
                <p:cNvSpPr>
                  <a:spLocks noChangeShapeType="1"/>
                </p:cNvSpPr>
                <p:nvPr/>
              </p:nvSpPr>
              <p:spPr bwMode="auto">
                <a:xfrm>
                  <a:off x="716" y="2024"/>
                  <a:ext cx="0" cy="91"/>
                </a:xfrm>
                <a:prstGeom prst="line">
                  <a:avLst/>
                </a:prstGeom>
                <a:noFill/>
                <a:ln w="9525">
                  <a:solidFill>
                    <a:srgbClr val="FF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Arial" pitchFamily="34" charset="0"/>
                    <a:cs typeface="Arial" pitchFamily="34" charset="0"/>
                  </a:endParaRPr>
                </a:p>
              </p:txBody>
            </p:sp>
            <p:sp>
              <p:nvSpPr>
                <p:cNvPr id="11304" name="Line 38"/>
                <p:cNvSpPr>
                  <a:spLocks noChangeShapeType="1"/>
                </p:cNvSpPr>
                <p:nvPr/>
              </p:nvSpPr>
              <p:spPr bwMode="auto">
                <a:xfrm>
                  <a:off x="988" y="1797"/>
                  <a:ext cx="0" cy="227"/>
                </a:xfrm>
                <a:prstGeom prst="line">
                  <a:avLst/>
                </a:prstGeom>
                <a:noFill/>
                <a:ln w="9525">
                  <a:solidFill>
                    <a:srgbClr val="FF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Arial" pitchFamily="34" charset="0"/>
                    <a:cs typeface="Arial" pitchFamily="34" charset="0"/>
                  </a:endParaRPr>
                </a:p>
              </p:txBody>
            </p:sp>
            <p:sp>
              <p:nvSpPr>
                <p:cNvPr id="11305" name="Line 39"/>
                <p:cNvSpPr>
                  <a:spLocks noChangeShapeType="1"/>
                </p:cNvSpPr>
                <p:nvPr/>
              </p:nvSpPr>
              <p:spPr bwMode="auto">
                <a:xfrm>
                  <a:off x="1351" y="1525"/>
                  <a:ext cx="0" cy="408"/>
                </a:xfrm>
                <a:prstGeom prst="line">
                  <a:avLst/>
                </a:prstGeom>
                <a:noFill/>
                <a:ln w="9525">
                  <a:solidFill>
                    <a:srgbClr val="FF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Arial" pitchFamily="34" charset="0"/>
                    <a:cs typeface="Arial" pitchFamily="34" charset="0"/>
                  </a:endParaRPr>
                </a:p>
              </p:txBody>
            </p:sp>
            <p:sp>
              <p:nvSpPr>
                <p:cNvPr id="11306" name="Freeform 40"/>
                <p:cNvSpPr>
                  <a:spLocks/>
                </p:cNvSpPr>
                <p:nvPr/>
              </p:nvSpPr>
              <p:spPr bwMode="auto">
                <a:xfrm>
                  <a:off x="488" y="1397"/>
                  <a:ext cx="1134" cy="817"/>
                </a:xfrm>
                <a:custGeom>
                  <a:avLst/>
                  <a:gdLst>
                    <a:gd name="T0" fmla="*/ 0 w 1134"/>
                    <a:gd name="T1" fmla="*/ 0 h 817"/>
                    <a:gd name="T2" fmla="*/ 0 w 1134"/>
                    <a:gd name="T3" fmla="*/ 817 h 817"/>
                    <a:gd name="T4" fmla="*/ 1134 w 1134"/>
                    <a:gd name="T5" fmla="*/ 817 h 817"/>
                    <a:gd name="T6" fmla="*/ 0 60000 65536"/>
                    <a:gd name="T7" fmla="*/ 0 60000 65536"/>
                    <a:gd name="T8" fmla="*/ 0 60000 65536"/>
                  </a:gdLst>
                  <a:ahLst/>
                  <a:cxnLst>
                    <a:cxn ang="T6">
                      <a:pos x="T0" y="T1"/>
                    </a:cxn>
                    <a:cxn ang="T7">
                      <a:pos x="T2" y="T3"/>
                    </a:cxn>
                    <a:cxn ang="T8">
                      <a:pos x="T4" y="T5"/>
                    </a:cxn>
                  </a:cxnLst>
                  <a:rect l="0" t="0" r="r" b="b"/>
                  <a:pathLst>
                    <a:path w="1134" h="817">
                      <a:moveTo>
                        <a:pt x="0" y="0"/>
                      </a:moveTo>
                      <a:lnTo>
                        <a:pt x="0" y="817"/>
                      </a:lnTo>
                      <a:lnTo>
                        <a:pt x="1134" y="817"/>
                      </a:lnTo>
                    </a:path>
                  </a:pathLst>
                </a:custGeom>
                <a:noFill/>
                <a:ln w="9525" cap="flat" cmpd="sng">
                  <a:solidFill>
                    <a:schemeClr val="bg2"/>
                  </a:solidFill>
                  <a:prstDash val="solid"/>
                  <a:round/>
                  <a:headEnd type="triangle" w="med" len="med"/>
                  <a:tailEnd type="triangle" w="med" len="med"/>
                </a:ln>
                <a:effectLst/>
                <a:extLst>
                  <a:ext uri="{909E8E84-426E-40DD-AFC4-6F175D3DCCD1}">
                    <a14:hiddenFill xmlns:a14="http://schemas.microsoft.com/office/drawing/2010/main">
                      <a:solidFill>
                        <a:srgbClr val="FFFFCC"/>
                      </a:solidFill>
                    </a14:hiddenFill>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none" anchor="ctr"/>
                <a:lstStyle/>
                <a:p>
                  <a:endParaRPr lang="ko-KR" altLang="en-US">
                    <a:latin typeface="Arial" pitchFamily="34" charset="0"/>
                    <a:cs typeface="Arial" pitchFamily="34" charset="0"/>
                  </a:endParaRPr>
                </a:p>
              </p:txBody>
            </p:sp>
            <p:sp>
              <p:nvSpPr>
                <p:cNvPr id="11307" name="Text Box 41"/>
                <p:cNvSpPr txBox="1">
                  <a:spLocks noChangeArrowheads="1"/>
                </p:cNvSpPr>
                <p:nvPr/>
              </p:nvSpPr>
              <p:spPr bwMode="auto">
                <a:xfrm>
                  <a:off x="1327" y="1630"/>
                  <a:ext cx="486" cy="15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rgbClr val="3366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dirty="0">
                      <a:solidFill>
                        <a:srgbClr val="FF0000"/>
                      </a:solidFill>
                      <a:latin typeface="Arial" pitchFamily="34" charset="0"/>
                      <a:cs typeface="Arial" pitchFamily="34" charset="0"/>
                    </a:rPr>
                    <a:t>Deviation</a:t>
                  </a:r>
                  <a:endParaRPr lang="ko-KR" altLang="en-US" sz="900" dirty="0">
                    <a:solidFill>
                      <a:srgbClr val="FF0000"/>
                    </a:solidFill>
                    <a:latin typeface="Arial" pitchFamily="34" charset="0"/>
                    <a:cs typeface="Arial" pitchFamily="34" charset="0"/>
                  </a:endParaRPr>
                </a:p>
              </p:txBody>
            </p:sp>
            <p:sp>
              <p:nvSpPr>
                <p:cNvPr id="11308" name="Text Box 42"/>
                <p:cNvSpPr txBox="1">
                  <a:spLocks noChangeArrowheads="1"/>
                </p:cNvSpPr>
                <p:nvPr/>
              </p:nvSpPr>
              <p:spPr bwMode="auto">
                <a:xfrm>
                  <a:off x="953" y="1831"/>
                  <a:ext cx="527" cy="15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rgbClr val="3366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dirty="0">
                      <a:solidFill>
                        <a:srgbClr val="FF0000"/>
                      </a:solidFill>
                      <a:latin typeface="Arial" pitchFamily="34" charset="0"/>
                      <a:cs typeface="Arial" pitchFamily="34" charset="0"/>
                    </a:rPr>
                    <a:t>Deviation</a:t>
                  </a:r>
                  <a:endParaRPr lang="ko-KR" altLang="en-US" sz="900" dirty="0">
                    <a:solidFill>
                      <a:srgbClr val="FF0000"/>
                    </a:solidFill>
                    <a:latin typeface="Arial" pitchFamily="34" charset="0"/>
                    <a:cs typeface="Arial" pitchFamily="34" charset="0"/>
                  </a:endParaRPr>
                </a:p>
              </p:txBody>
            </p:sp>
            <p:sp>
              <p:nvSpPr>
                <p:cNvPr id="11309" name="Text Box 43"/>
                <p:cNvSpPr txBox="1">
                  <a:spLocks noChangeArrowheads="1"/>
                </p:cNvSpPr>
                <p:nvPr/>
              </p:nvSpPr>
              <p:spPr bwMode="auto">
                <a:xfrm>
                  <a:off x="297" y="1992"/>
                  <a:ext cx="531" cy="15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rgbClr val="3366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dirty="0">
                      <a:solidFill>
                        <a:srgbClr val="FF0000"/>
                      </a:solidFill>
                      <a:latin typeface="Arial" pitchFamily="34" charset="0"/>
                      <a:cs typeface="Arial" pitchFamily="34" charset="0"/>
                    </a:rPr>
                    <a:t>Deviation</a:t>
                  </a:r>
                  <a:endParaRPr lang="ko-KR" altLang="en-US" sz="900" dirty="0">
                    <a:solidFill>
                      <a:srgbClr val="FF0000"/>
                    </a:solidFill>
                    <a:latin typeface="Arial" pitchFamily="34" charset="0"/>
                    <a:cs typeface="Arial" pitchFamily="34" charset="0"/>
                  </a:endParaRPr>
                </a:p>
              </p:txBody>
            </p:sp>
            <p:sp>
              <p:nvSpPr>
                <p:cNvPr id="70" name="Text Box 32"/>
                <p:cNvSpPr txBox="1">
                  <a:spLocks noChangeArrowheads="1"/>
                </p:cNvSpPr>
                <p:nvPr/>
              </p:nvSpPr>
              <p:spPr bwMode="auto">
                <a:xfrm>
                  <a:off x="1534" y="2967"/>
                  <a:ext cx="502" cy="26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err="1">
                      <a:latin typeface="Arial" pitchFamily="34" charset="0"/>
                      <a:ea typeface="굴림체" pitchFamily="49" charset="-127"/>
                      <a:cs typeface="Arial" pitchFamily="34" charset="0"/>
                    </a:rPr>
                    <a:t>Giá</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trị</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tham</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khảo</a:t>
                  </a:r>
                  <a:endParaRPr lang="ko-KR" altLang="en-US" sz="1000" dirty="0">
                    <a:latin typeface="Arial" pitchFamily="34" charset="0"/>
                    <a:ea typeface="굴림체" pitchFamily="49" charset="-127"/>
                    <a:cs typeface="Arial" pitchFamily="34" charset="0"/>
                  </a:endParaRPr>
                </a:p>
              </p:txBody>
            </p:sp>
          </p:grpSp>
          <p:sp>
            <p:nvSpPr>
              <p:cNvPr id="69" name="Text Box 27"/>
              <p:cNvSpPr txBox="1">
                <a:spLocks noChangeArrowheads="1"/>
              </p:cNvSpPr>
              <p:nvPr/>
            </p:nvSpPr>
            <p:spPr bwMode="auto">
              <a:xfrm>
                <a:off x="219" y="2590"/>
                <a:ext cx="450" cy="26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err="1">
                    <a:latin typeface="Arial" pitchFamily="34" charset="0"/>
                    <a:ea typeface="굴림체" pitchFamily="49" charset="-127"/>
                    <a:cs typeface="Arial" pitchFamily="34" charset="0"/>
                  </a:rPr>
                  <a:t>Giá</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trị</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đo</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lường</a:t>
                </a:r>
                <a:endParaRPr lang="ko-KR" altLang="en-US" sz="1000" dirty="0">
                  <a:latin typeface="Arial" pitchFamily="34" charset="0"/>
                  <a:ea typeface="굴림체" pitchFamily="49" charset="-127"/>
                  <a:cs typeface="Arial" pitchFamily="34" charset="0"/>
                </a:endParaRPr>
              </a:p>
            </p:txBody>
          </p:sp>
        </p:grpSp>
        <p:sp>
          <p:nvSpPr>
            <p:cNvPr id="11292" name="Rectangle 44"/>
            <p:cNvSpPr>
              <a:spLocks noChangeArrowheads="1"/>
            </p:cNvSpPr>
            <p:nvPr/>
          </p:nvSpPr>
          <p:spPr bwMode="auto">
            <a:xfrm>
              <a:off x="217" y="1427"/>
              <a:ext cx="1678" cy="1323"/>
            </a:xfrm>
            <a:prstGeom prst="rect">
              <a:avLst/>
            </a:prstGeom>
            <a:noFill/>
            <a:ln w="9525" algn="ctr">
              <a:solidFill>
                <a:srgbClr val="4D4D4D"/>
              </a:solidFill>
              <a:miter lim="800000"/>
              <a:headEnd/>
              <a:tailEnd/>
            </a:ln>
            <a:effectLst/>
            <a:extLst>
              <a:ext uri="{909E8E84-426E-40DD-AFC4-6F175D3DCCD1}">
                <a14:hiddenFill xmlns:a14="http://schemas.microsoft.com/office/drawing/2010/main">
                  <a:solidFill>
                    <a:srgbClr val="FFFFCC"/>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grpSp>
        <p:nvGrpSpPr>
          <p:cNvPr id="8" name="Group 45"/>
          <p:cNvGrpSpPr>
            <a:grpSpLocks/>
          </p:cNvGrpSpPr>
          <p:nvPr/>
        </p:nvGrpSpPr>
        <p:grpSpPr bwMode="auto">
          <a:xfrm>
            <a:off x="5972175" y="5111750"/>
            <a:ext cx="2886075" cy="1557338"/>
            <a:chOff x="133" y="2721"/>
            <a:chExt cx="1818" cy="981"/>
          </a:xfrm>
        </p:grpSpPr>
        <p:sp>
          <p:nvSpPr>
            <p:cNvPr id="11279" name="Freeform 46"/>
            <p:cNvSpPr>
              <a:spLocks/>
            </p:cNvSpPr>
            <p:nvPr/>
          </p:nvSpPr>
          <p:spPr bwMode="auto">
            <a:xfrm>
              <a:off x="406" y="2926"/>
              <a:ext cx="1134" cy="595"/>
            </a:xfrm>
            <a:custGeom>
              <a:avLst/>
              <a:gdLst>
                <a:gd name="T0" fmla="*/ 0 w 1134"/>
                <a:gd name="T1" fmla="*/ 0 h 817"/>
                <a:gd name="T2" fmla="*/ 0 w 1134"/>
                <a:gd name="T3" fmla="*/ 65 h 817"/>
                <a:gd name="T4" fmla="*/ 1134 w 1134"/>
                <a:gd name="T5" fmla="*/ 65 h 817"/>
                <a:gd name="T6" fmla="*/ 0 60000 65536"/>
                <a:gd name="T7" fmla="*/ 0 60000 65536"/>
                <a:gd name="T8" fmla="*/ 0 60000 65536"/>
              </a:gdLst>
              <a:ahLst/>
              <a:cxnLst>
                <a:cxn ang="T6">
                  <a:pos x="T0" y="T1"/>
                </a:cxn>
                <a:cxn ang="T7">
                  <a:pos x="T2" y="T3"/>
                </a:cxn>
                <a:cxn ang="T8">
                  <a:pos x="T4" y="T5"/>
                </a:cxn>
              </a:cxnLst>
              <a:rect l="0" t="0" r="r" b="b"/>
              <a:pathLst>
                <a:path w="1134" h="817">
                  <a:moveTo>
                    <a:pt x="0" y="0"/>
                  </a:moveTo>
                  <a:lnTo>
                    <a:pt x="0" y="817"/>
                  </a:lnTo>
                  <a:lnTo>
                    <a:pt x="1134" y="817"/>
                  </a:lnTo>
                </a:path>
              </a:pathLst>
            </a:custGeom>
            <a:noFill/>
            <a:ln w="9525" cap="flat" cmpd="sng">
              <a:solidFill>
                <a:schemeClr val="bg2"/>
              </a:solidFill>
              <a:prstDash val="solid"/>
              <a:round/>
              <a:headEnd type="triangle" w="med" len="med"/>
              <a:tailEnd type="triangle" w="med" len="med"/>
            </a:ln>
            <a:effectLst/>
            <a:extLst>
              <a:ext uri="{909E8E84-426E-40DD-AFC4-6F175D3DCCD1}">
                <a14:hiddenFill xmlns:a14="http://schemas.microsoft.com/office/drawing/2010/main">
                  <a:solidFill>
                    <a:srgbClr val="FFFFCC"/>
                  </a:solidFill>
                </a14:hiddenFill>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none" anchor="ctr"/>
            <a:lstStyle/>
            <a:p>
              <a:endParaRPr lang="ko-KR" altLang="en-US">
                <a:latin typeface="Arial" pitchFamily="34" charset="0"/>
                <a:cs typeface="Arial" pitchFamily="34" charset="0"/>
              </a:endParaRPr>
            </a:p>
          </p:txBody>
        </p:sp>
        <p:pic>
          <p:nvPicPr>
            <p:cNvPr id="11280" name="Picture 47"/>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634" y="3009"/>
              <a:ext cx="202"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281" name="Picture 48"/>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906" y="3145"/>
              <a:ext cx="202"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82" name="Text Box 49"/>
            <p:cNvSpPr txBox="1">
              <a:spLocks noChangeArrowheads="1"/>
            </p:cNvSpPr>
            <p:nvPr/>
          </p:nvSpPr>
          <p:spPr bwMode="auto">
            <a:xfrm>
              <a:off x="1225" y="3521"/>
              <a:ext cx="726" cy="154"/>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err="1">
                  <a:latin typeface="Arial" pitchFamily="34" charset="0"/>
                  <a:ea typeface="굴림체" pitchFamily="49" charset="-127"/>
                  <a:cs typeface="Arial" pitchFamily="34" charset="0"/>
                </a:rPr>
                <a:t>Thời</a:t>
              </a:r>
              <a:r>
                <a:rPr lang="en-US" altLang="ko-KR" sz="1000" dirty="0">
                  <a:latin typeface="Arial" pitchFamily="34" charset="0"/>
                  <a:ea typeface="굴림체" pitchFamily="49" charset="-127"/>
                  <a:cs typeface="Arial" pitchFamily="34" charset="0"/>
                </a:rPr>
                <a:t> </a:t>
              </a:r>
              <a:r>
                <a:rPr lang="en-US" altLang="ko-KR" sz="1000" dirty="0" err="1">
                  <a:latin typeface="Arial" pitchFamily="34" charset="0"/>
                  <a:ea typeface="굴림체" pitchFamily="49" charset="-127"/>
                  <a:cs typeface="Arial" pitchFamily="34" charset="0"/>
                </a:rPr>
                <a:t>gian</a:t>
              </a:r>
              <a:endParaRPr lang="ko-KR" altLang="en-US" sz="1000" dirty="0">
                <a:latin typeface="Arial" pitchFamily="34" charset="0"/>
                <a:ea typeface="굴림체" pitchFamily="49" charset="-127"/>
                <a:cs typeface="Arial" pitchFamily="34" charset="0"/>
              </a:endParaRPr>
            </a:p>
          </p:txBody>
        </p:sp>
        <p:sp>
          <p:nvSpPr>
            <p:cNvPr id="11284" name="Line 51"/>
            <p:cNvSpPr>
              <a:spLocks noChangeShapeType="1"/>
            </p:cNvSpPr>
            <p:nvPr/>
          </p:nvSpPr>
          <p:spPr bwMode="auto">
            <a:xfrm>
              <a:off x="407" y="3281"/>
              <a:ext cx="1044" cy="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wrap="none" anchor="ctr"/>
            <a:lstStyle/>
            <a:p>
              <a:endParaRPr lang="ko-KR" altLang="en-US">
                <a:latin typeface="Arial" pitchFamily="34" charset="0"/>
                <a:cs typeface="Arial" pitchFamily="34" charset="0"/>
              </a:endParaRPr>
            </a:p>
          </p:txBody>
        </p:sp>
        <p:pic>
          <p:nvPicPr>
            <p:cNvPr id="11285" name="Picture 52"/>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179" y="2964"/>
              <a:ext cx="202"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87" name="Line 54"/>
            <p:cNvSpPr>
              <a:spLocks noChangeShapeType="1"/>
            </p:cNvSpPr>
            <p:nvPr/>
          </p:nvSpPr>
          <p:spPr bwMode="auto">
            <a:xfrm>
              <a:off x="575" y="3170"/>
              <a:ext cx="136" cy="0"/>
            </a:xfrm>
            <a:prstGeom prst="line">
              <a:avLst/>
            </a:prstGeom>
            <a:noFill/>
            <a:ln w="952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Arial" pitchFamily="34" charset="0"/>
                <a:cs typeface="Arial" pitchFamily="34" charset="0"/>
              </a:endParaRPr>
            </a:p>
          </p:txBody>
        </p:sp>
        <p:sp>
          <p:nvSpPr>
            <p:cNvPr id="11288" name="Line 55"/>
            <p:cNvSpPr>
              <a:spLocks noChangeShapeType="1"/>
            </p:cNvSpPr>
            <p:nvPr/>
          </p:nvSpPr>
          <p:spPr bwMode="auto">
            <a:xfrm>
              <a:off x="840" y="3299"/>
              <a:ext cx="136" cy="0"/>
            </a:xfrm>
            <a:prstGeom prst="line">
              <a:avLst/>
            </a:prstGeom>
            <a:noFill/>
            <a:ln w="952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Arial" pitchFamily="34" charset="0"/>
                <a:cs typeface="Arial" pitchFamily="34" charset="0"/>
              </a:endParaRPr>
            </a:p>
          </p:txBody>
        </p:sp>
        <p:sp>
          <p:nvSpPr>
            <p:cNvPr id="11289" name="Line 56"/>
            <p:cNvSpPr>
              <a:spLocks noChangeShapeType="1"/>
            </p:cNvSpPr>
            <p:nvPr/>
          </p:nvSpPr>
          <p:spPr bwMode="auto">
            <a:xfrm>
              <a:off x="1116" y="3117"/>
              <a:ext cx="136" cy="0"/>
            </a:xfrm>
            <a:prstGeom prst="line">
              <a:avLst/>
            </a:prstGeom>
            <a:noFill/>
            <a:ln w="952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Arial" pitchFamily="34" charset="0"/>
                <a:cs typeface="Arial" pitchFamily="34" charset="0"/>
              </a:endParaRPr>
            </a:p>
          </p:txBody>
        </p:sp>
        <p:sp>
          <p:nvSpPr>
            <p:cNvPr id="11290" name="Rectangle 57"/>
            <p:cNvSpPr>
              <a:spLocks noChangeArrowheads="1"/>
            </p:cNvSpPr>
            <p:nvPr/>
          </p:nvSpPr>
          <p:spPr bwMode="auto">
            <a:xfrm>
              <a:off x="133" y="2721"/>
              <a:ext cx="1678" cy="981"/>
            </a:xfrm>
            <a:prstGeom prst="rect">
              <a:avLst/>
            </a:prstGeom>
            <a:noFill/>
            <a:ln w="9525" algn="ctr">
              <a:solidFill>
                <a:srgbClr val="4D4D4D"/>
              </a:solidFill>
              <a:miter lim="800000"/>
              <a:headEnd/>
              <a:tailEnd/>
            </a:ln>
            <a:effectLst/>
            <a:extLst>
              <a:ext uri="{909E8E84-426E-40DD-AFC4-6F175D3DCCD1}">
                <a14:hiddenFill xmlns:a14="http://schemas.microsoft.com/office/drawing/2010/main">
                  <a:solidFill>
                    <a:srgbClr val="FFFFCC"/>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sp>
        <p:nvSpPr>
          <p:cNvPr id="98" name="TextBox 73"/>
          <p:cNvSpPr txBox="1">
            <a:spLocks noChangeArrowheads="1"/>
          </p:cNvSpPr>
          <p:nvPr/>
        </p:nvSpPr>
        <p:spPr bwMode="auto">
          <a:xfrm>
            <a:off x="488950" y="908050"/>
            <a:ext cx="8280474"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74625" indent="-174625" eaLnBrk="0" hangingPunct="0">
              <a:spcBef>
                <a:spcPct val="20000"/>
              </a:spcBef>
              <a:buFont typeface="Arial" pitchFamily="34" charset="0"/>
              <a:buChar char="•"/>
              <a:defRPr sz="2400">
                <a:solidFill>
                  <a:srgbClr val="7F7F7F"/>
                </a:solidFill>
                <a:latin typeface="Century Gothic" pitchFamily="34" charset="0"/>
                <a:ea typeface="맑은 고딕" pitchFamily="50" charset="-127"/>
              </a:defRPr>
            </a:lvl1pPr>
            <a:lvl2pPr marL="742950" indent="-285750" eaLnBrk="0" hangingPunct="0">
              <a:spcBef>
                <a:spcPct val="20000"/>
              </a:spcBef>
              <a:buFont typeface="Courier New" pitchFamily="49" charset="0"/>
              <a:buChar char="o"/>
              <a:defRPr sz="1600">
                <a:solidFill>
                  <a:srgbClr val="7F7F7F"/>
                </a:solidFill>
                <a:latin typeface="Century Gothic" pitchFamily="34" charset="0"/>
                <a:ea typeface="맑은 고딕" pitchFamily="50" charset="-127"/>
              </a:defRPr>
            </a:lvl2pPr>
            <a:lvl3pPr marL="1143000" indent="-228600" eaLnBrk="0" hangingPunct="0">
              <a:spcBef>
                <a:spcPct val="20000"/>
              </a:spcBef>
              <a:buFont typeface="Arial" pitchFamily="34" charset="0"/>
              <a:buChar char="•"/>
              <a:defRPr sz="1600">
                <a:solidFill>
                  <a:srgbClr val="7F7F7F"/>
                </a:solidFill>
                <a:latin typeface="Century Gothic" pitchFamily="34" charset="0"/>
                <a:ea typeface="맑은 고딕" pitchFamily="50" charset="-127"/>
              </a:defRPr>
            </a:lvl3pPr>
            <a:lvl4pPr marL="1600200" indent="-228600" eaLnBrk="0" hangingPunct="0">
              <a:spcBef>
                <a:spcPct val="20000"/>
              </a:spcBef>
              <a:buFont typeface="Courier New" pitchFamily="49" charset="0"/>
              <a:buChar char="o"/>
              <a:defRPr sz="1600">
                <a:solidFill>
                  <a:srgbClr val="7F7F7F"/>
                </a:solidFill>
                <a:latin typeface="Century Gothic" pitchFamily="34" charset="0"/>
                <a:ea typeface="맑은 고딕" pitchFamily="50" charset="-127"/>
              </a:defRPr>
            </a:lvl4pPr>
            <a:lvl5pPr marL="2057400" indent="-228600" eaLnBrk="0" hangingPunct="0">
              <a:spcBef>
                <a:spcPct val="20000"/>
              </a:spcBef>
              <a:buFont typeface="Arial" pitchFamily="34" charset="0"/>
              <a:buChar char="•"/>
              <a:defRPr sz="1600">
                <a:solidFill>
                  <a:srgbClr val="7F7F7F"/>
                </a:solidFill>
                <a:latin typeface="Century Gothic" pitchFamily="34" charset="0"/>
                <a:ea typeface="맑은 고딕" pitchFamily="50" charset="-127"/>
              </a:defRPr>
            </a:lvl5pPr>
            <a:lvl6pPr marL="25146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6pPr>
            <a:lvl7pPr marL="29718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7pPr>
            <a:lvl8pPr marL="34290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8pPr>
            <a:lvl9pPr marL="38862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9pPr>
          </a:lstStyle>
          <a:p>
            <a:pPr eaLnBrk="1" hangingPunct="1">
              <a:spcBef>
                <a:spcPct val="0"/>
              </a:spcBef>
              <a:buClr>
                <a:schemeClr val="tx1"/>
              </a:buClr>
              <a:buFont typeface="Wingdings" pitchFamily="2" charset="2"/>
              <a:buChar char="u"/>
              <a:defRPr/>
            </a:pPr>
            <a:r>
              <a:rPr lang="ko-KR" altLang="en-US"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Kiểm</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định</a:t>
            </a:r>
            <a:r>
              <a:rPr lang="en-US" altLang="ko-KR" sz="1600" b="1" dirty="0">
                <a:solidFill>
                  <a:schemeClr val="tx1"/>
                </a:solidFill>
                <a:latin typeface="Arial" pitchFamily="34" charset="0"/>
                <a:cs typeface="Arial" pitchFamily="34" charset="0"/>
              </a:rPr>
              <a:t> Accuracy </a:t>
            </a:r>
            <a:r>
              <a:rPr lang="en-US" altLang="ko-KR" sz="1600" b="1" dirty="0" err="1">
                <a:solidFill>
                  <a:schemeClr val="tx1"/>
                </a:solidFill>
                <a:latin typeface="Arial" pitchFamily="34" charset="0"/>
                <a:cs typeface="Arial" pitchFamily="34" charset="0"/>
              </a:rPr>
              <a:t>hệ</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thống</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đo</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lường</a:t>
            </a:r>
            <a:endParaRPr lang="en-US" altLang="ko-KR" sz="1600" b="1" dirty="0">
              <a:solidFill>
                <a:schemeClr val="tx1"/>
              </a:solidFill>
              <a:latin typeface="Arial" pitchFamily="34" charset="0"/>
              <a:cs typeface="Arial" pitchFamily="34" charset="0"/>
            </a:endParaRPr>
          </a:p>
          <a:p>
            <a:pPr marL="0" indent="0" eaLnBrk="1" hangingPunct="1">
              <a:spcBef>
                <a:spcPct val="0"/>
              </a:spcBef>
              <a:buClr>
                <a:schemeClr val="tx1"/>
              </a:buClr>
              <a:buNone/>
              <a:defRPr/>
            </a:pPr>
            <a:r>
              <a:rPr lang="en-US" altLang="ko-KR" sz="2000" b="1" dirty="0">
                <a:solidFill>
                  <a:schemeClr val="tx1"/>
                </a:solidFill>
                <a:latin typeface="Arial" pitchFamily="34" charset="0"/>
                <a:cs typeface="Arial" pitchFamily="34" charset="0"/>
              </a:rPr>
              <a:t>   </a:t>
            </a:r>
            <a:r>
              <a:rPr lang="en-US" altLang="ko-KR" sz="1400" dirty="0">
                <a:solidFill>
                  <a:schemeClr val="tx1"/>
                </a:solidFill>
                <a:latin typeface="Arial" pitchFamily="34" charset="0"/>
                <a:cs typeface="Arial" pitchFamily="34" charset="0"/>
              </a:rPr>
              <a:t>: </a:t>
            </a:r>
            <a:r>
              <a:rPr lang="vi-VN" altLang="ko-KR" sz="1400" dirty="0">
                <a:solidFill>
                  <a:schemeClr val="tx1"/>
                </a:solidFill>
                <a:latin typeface="Arial" pitchFamily="34" charset="0"/>
                <a:cs typeface="Arial" pitchFamily="34" charset="0"/>
              </a:rPr>
              <a:t>hành động xác minh xem liệu thiết bị có hoạt động đúng hay không và được xác định thông qua quy trình xác minh / hiệu ch</a:t>
            </a:r>
            <a:r>
              <a:rPr lang="en-US" altLang="ko-KR" sz="1400" dirty="0" err="1">
                <a:solidFill>
                  <a:schemeClr val="tx1"/>
                </a:solidFill>
                <a:latin typeface="Arial" pitchFamily="34" charset="0"/>
                <a:cs typeface="Arial" pitchFamily="34" charset="0"/>
              </a:rPr>
              <a:t>ỉnh</a:t>
            </a:r>
            <a:r>
              <a:rPr lang="en-US" altLang="ko-KR" sz="1400" dirty="0">
                <a:solidFill>
                  <a:schemeClr val="tx1"/>
                </a:solidFill>
                <a:latin typeface="Arial" pitchFamily="34" charset="0"/>
                <a:cs typeface="Arial" pitchFamily="34" charset="0"/>
              </a:rPr>
              <a:t> (calibration)</a:t>
            </a:r>
            <a:endParaRPr lang="ko-KR" altLang="en-US" sz="1400" dirty="0">
              <a:solidFill>
                <a:schemeClr val="tx1"/>
              </a:solidFill>
              <a:latin typeface="Arial" pitchFamily="34" charset="0"/>
              <a:cs typeface="Arial" pitchFamily="34" charset="0"/>
            </a:endParaRPr>
          </a:p>
        </p:txBody>
      </p:sp>
      <p:sp>
        <p:nvSpPr>
          <p:cNvPr id="99" name="제목 8"/>
          <p:cNvSpPr txBox="1">
            <a:spLocks/>
          </p:cNvSpPr>
          <p:nvPr/>
        </p:nvSpPr>
        <p:spPr bwMode="auto">
          <a:xfrm>
            <a:off x="7832725" y="260350"/>
            <a:ext cx="1944688" cy="488950"/>
          </a:xfrm>
          <a:prstGeom prst="rect">
            <a:avLst/>
          </a:prstGeom>
          <a:noFill/>
          <a:ln>
            <a:miter lim="800000"/>
            <a:headEnd/>
            <a:tailEnd/>
          </a:ln>
        </p:spPr>
        <p:txBody>
          <a:bodyPr anchor="ctr"/>
          <a:lstStyle/>
          <a:p>
            <a:pPr algn="r">
              <a:defRPr/>
            </a:pPr>
            <a:r>
              <a:rPr lang="en-US" altLang="ko-KR" sz="1600" b="1" kern="0" dirty="0">
                <a:solidFill>
                  <a:srgbClr val="000000"/>
                </a:solidFill>
                <a:latin typeface="Arial" pitchFamily="34" charset="0"/>
                <a:ea typeface="맑은 고딕"/>
                <a:cs typeface="Arial" pitchFamily="34" charset="0"/>
              </a:rPr>
              <a:t>Accuracy</a:t>
            </a:r>
            <a:endParaRPr lang="ko-KR" altLang="en-US" sz="1600" b="1" kern="0" dirty="0">
              <a:solidFill>
                <a:srgbClr val="000000"/>
              </a:solidFill>
              <a:latin typeface="Arial" pitchFamily="34" charset="0"/>
              <a:ea typeface="맑은 고딕"/>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190</a:t>
            </a:fld>
            <a:endParaRPr lang="ko-KR" altLang="en-US" dirty="0">
              <a:latin typeface="Arial" pitchFamily="34" charset="0"/>
              <a:cs typeface="Arial" pitchFamily="34" charset="0"/>
            </a:endParaRPr>
          </a:p>
        </p:txBody>
      </p:sp>
      <p:sp>
        <p:nvSpPr>
          <p:cNvPr id="68"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2.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Khái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niệm</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Thuật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ngữ</a:t>
            </a:r>
            <a:endPar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endParaRPr>
          </a:p>
        </p:txBody>
      </p:sp>
      <p:pic>
        <p:nvPicPr>
          <p:cNvPr id="9" name="Picture 8"/>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204821" y="1584325"/>
            <a:ext cx="3350419" cy="4467225"/>
          </a:xfrm>
          <a:prstGeom prst="rect">
            <a:avLst/>
          </a:prstGeom>
        </p:spPr>
      </p:pic>
    </p:spTree>
    <p:extLst>
      <p:ext uri="{BB962C8B-B14F-4D97-AF65-F5344CB8AC3E}">
        <p14:creationId xmlns:p14="http://schemas.microsoft.com/office/powerpoint/2010/main" val="3292004324"/>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3" name="TextBox 4"/>
          <p:cNvSpPr txBox="1">
            <a:spLocks noChangeArrowheads="1"/>
          </p:cNvSpPr>
          <p:nvPr/>
        </p:nvSpPr>
        <p:spPr bwMode="auto">
          <a:xfrm>
            <a:off x="952500" y="1862004"/>
            <a:ext cx="3640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400" b="1" dirty="0" err="1">
                <a:solidFill>
                  <a:srgbClr val="000000"/>
                </a:solidFill>
                <a:latin typeface="Arial" pitchFamily="34" charset="0"/>
                <a:ea typeface="맑은 고딕" pitchFamily="50" charset="-127"/>
                <a:cs typeface="Arial" pitchFamily="34" charset="0"/>
              </a:rPr>
              <a:t>Khả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năng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lặp</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lại</a:t>
            </a:r>
            <a:r>
              <a:rPr lang="en-US" altLang="ko-KR" sz="1400" b="1" dirty="0">
                <a:solidFill>
                  <a:srgbClr val="000000"/>
                </a:solidFill>
                <a:latin typeface="Arial" pitchFamily="34" charset="0"/>
                <a:ea typeface="맑은 고딕" pitchFamily="50" charset="-127"/>
                <a:cs typeface="Arial" pitchFamily="34" charset="0"/>
              </a:rPr>
              <a:t> (Repeatability) </a:t>
            </a:r>
            <a:r>
              <a:rPr lang="en-US" altLang="ko-KR" sz="1400" b="1" dirty="0" err="1">
                <a:solidFill>
                  <a:srgbClr val="000000"/>
                </a:solidFill>
                <a:latin typeface="Arial" pitchFamily="34" charset="0"/>
                <a:ea typeface="맑은 고딕" pitchFamily="50" charset="-127"/>
                <a:cs typeface="Arial" pitchFamily="34" charset="0"/>
              </a:rPr>
              <a:t>là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gì</a:t>
            </a:r>
            <a:r>
              <a:rPr lang="en-US" altLang="ko-KR" sz="1400" b="1" dirty="0">
                <a:solidFill>
                  <a:srgbClr val="000000"/>
                </a:solidFill>
                <a:latin typeface="Arial" pitchFamily="34" charset="0"/>
                <a:ea typeface="맑은 고딕" pitchFamily="50" charset="-127"/>
                <a:cs typeface="Arial" pitchFamily="34" charset="0"/>
              </a:rPr>
              <a:t>?</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2294" name="TextBox 5"/>
          <p:cNvSpPr txBox="1">
            <a:spLocks noChangeArrowheads="1"/>
          </p:cNvSpPr>
          <p:nvPr/>
        </p:nvSpPr>
        <p:spPr bwMode="auto">
          <a:xfrm>
            <a:off x="952500" y="4149865"/>
            <a:ext cx="38988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400" b="1" dirty="0" err="1">
                <a:solidFill>
                  <a:srgbClr val="000000"/>
                </a:solidFill>
                <a:latin typeface="Arial" pitchFamily="34" charset="0"/>
                <a:ea typeface="맑은 고딕" pitchFamily="50" charset="-127"/>
                <a:cs typeface="Arial" pitchFamily="34" charset="0"/>
              </a:rPr>
              <a:t>Khả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năng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tái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tạo</a:t>
            </a:r>
            <a:r>
              <a:rPr lang="en-US" altLang="ko-KR" sz="1400" b="1" dirty="0">
                <a:solidFill>
                  <a:srgbClr val="000000"/>
                </a:solidFill>
                <a:latin typeface="Arial" pitchFamily="34" charset="0"/>
                <a:ea typeface="맑은 고딕" pitchFamily="50" charset="-127"/>
                <a:cs typeface="Arial" pitchFamily="34" charset="0"/>
              </a:rPr>
              <a:t> (Reproducibility) </a:t>
            </a:r>
            <a:r>
              <a:rPr lang="en-US" altLang="ko-KR" sz="1400" b="1" dirty="0" err="1">
                <a:solidFill>
                  <a:srgbClr val="000000"/>
                </a:solidFill>
                <a:latin typeface="Arial" pitchFamily="34" charset="0"/>
                <a:ea typeface="맑은 고딕" pitchFamily="50" charset="-127"/>
                <a:cs typeface="Arial" pitchFamily="34" charset="0"/>
              </a:rPr>
              <a:t>là</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gì</a:t>
            </a:r>
            <a:r>
              <a:rPr lang="en-US" altLang="ko-KR" sz="1400" b="1" dirty="0">
                <a:solidFill>
                  <a:srgbClr val="000000"/>
                </a:solidFill>
                <a:latin typeface="Arial" pitchFamily="34" charset="0"/>
                <a:ea typeface="맑은 고딕" pitchFamily="50" charset="-127"/>
                <a:cs typeface="Arial" pitchFamily="34" charset="0"/>
              </a:rPr>
              <a:t>?</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2295" name="TextBox 6"/>
          <p:cNvSpPr txBox="1">
            <a:spLocks noChangeArrowheads="1"/>
          </p:cNvSpPr>
          <p:nvPr/>
        </p:nvSpPr>
        <p:spPr bwMode="auto">
          <a:xfrm>
            <a:off x="1278731" y="2246178"/>
            <a:ext cx="4297680" cy="82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Lỗi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lường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xảy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ra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khi</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người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nhiều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lần</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đối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tượng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dụng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cụ</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và</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thang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duy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nhất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trong</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khoảng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thời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gian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đối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ngắn</a:t>
            </a:r>
            <a:r>
              <a:rPr lang="en-US" altLang="ko-KR" sz="1200" dirty="0">
                <a:solidFill>
                  <a:srgbClr val="000000"/>
                </a:solidFill>
                <a:latin typeface="Arial" pitchFamily="34" charset="0"/>
                <a:ea typeface="맑은 고딕" pitchFamily="50" charset="-127"/>
                <a:cs typeface="Arial" pitchFamily="34" charset="0"/>
              </a:rPr>
              <a:t>.</a:t>
            </a:r>
            <a:endParaRPr lang="ko-KR" altLang="en-US" sz="1200" dirty="0">
              <a:solidFill>
                <a:srgbClr val="000000"/>
              </a:solidFill>
              <a:latin typeface="Arial" pitchFamily="34" charset="0"/>
              <a:ea typeface="맑은 고딕" pitchFamily="50" charset="-127"/>
              <a:cs typeface="Arial" pitchFamily="34" charset="0"/>
            </a:endParaRPr>
          </a:p>
        </p:txBody>
      </p:sp>
      <p:sp>
        <p:nvSpPr>
          <p:cNvPr id="12296" name="TextBox 7"/>
          <p:cNvSpPr txBox="1">
            <a:spLocks noChangeArrowheads="1"/>
          </p:cNvSpPr>
          <p:nvPr/>
        </p:nvSpPr>
        <p:spPr bwMode="auto">
          <a:xfrm>
            <a:off x="1342231" y="3065329"/>
            <a:ext cx="23711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err="1">
                <a:solidFill>
                  <a:srgbClr val="000000"/>
                </a:solidFill>
                <a:latin typeface="Arial" pitchFamily="34" charset="0"/>
                <a:ea typeface="맑은 고딕" pitchFamily="50" charset="-127"/>
                <a:cs typeface="Arial" pitchFamily="34" charset="0"/>
              </a:rPr>
              <a:t>Sai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khác</a:t>
            </a:r>
            <a:r>
              <a:rPr lang="en-US" altLang="ko-KR" sz="1200" b="1" dirty="0">
                <a:solidFill>
                  <a:srgbClr val="000000"/>
                </a:solidFill>
                <a:latin typeface="Arial" pitchFamily="34" charset="0"/>
                <a:ea typeface="맑은 고딕" pitchFamily="50" charset="-127"/>
                <a:cs typeface="Arial" pitchFamily="34" charset="0"/>
              </a:rPr>
              <a:t> do </a:t>
            </a:r>
            <a:r>
              <a:rPr lang="en-US" altLang="ko-KR" sz="1200" b="1" dirty="0" err="1">
                <a:solidFill>
                  <a:srgbClr val="000000"/>
                </a:solidFill>
                <a:latin typeface="Arial" pitchFamily="34" charset="0"/>
                <a:ea typeface="맑은 고딕" pitchFamily="50" charset="-127"/>
                <a:cs typeface="Arial" pitchFamily="34" charset="0"/>
              </a:rPr>
              <a:t>thiết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bị</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lường</a:t>
            </a:r>
            <a:endParaRPr lang="ko-KR" altLang="en-US" sz="1200" b="1" dirty="0">
              <a:solidFill>
                <a:srgbClr val="000000"/>
              </a:solidFill>
              <a:latin typeface="Arial" pitchFamily="34" charset="0"/>
              <a:ea typeface="맑은 고딕" pitchFamily="50" charset="-127"/>
              <a:cs typeface="Arial" pitchFamily="34" charset="0"/>
            </a:endParaRPr>
          </a:p>
        </p:txBody>
      </p:sp>
      <p:sp>
        <p:nvSpPr>
          <p:cNvPr id="12297" name="TextBox 8"/>
          <p:cNvSpPr txBox="1">
            <a:spLocks noChangeArrowheads="1"/>
          </p:cNvSpPr>
          <p:nvPr/>
        </p:nvSpPr>
        <p:spPr bwMode="auto">
          <a:xfrm>
            <a:off x="1278731" y="4507448"/>
            <a:ext cx="4297680" cy="82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Lỗi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lường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xảy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ra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khi</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nhiều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người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cùng</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đối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tượng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cùng</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thang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bởi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cùng</a:t>
            </a:r>
            <a:r>
              <a:rPr lang="en-US" altLang="ko-KR" sz="1200"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dụng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cụ</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endParaRPr lang="ko-KR" altLang="en-US" sz="1200" b="1" dirty="0">
              <a:solidFill>
                <a:srgbClr val="000000"/>
              </a:solidFill>
              <a:latin typeface="Arial" pitchFamily="34" charset="0"/>
              <a:ea typeface="맑은 고딕" pitchFamily="50" charset="-127"/>
              <a:cs typeface="Arial" pitchFamily="34" charset="0"/>
            </a:endParaRPr>
          </a:p>
        </p:txBody>
      </p:sp>
      <p:sp>
        <p:nvSpPr>
          <p:cNvPr id="12298" name="TextBox 9"/>
          <p:cNvSpPr txBox="1">
            <a:spLocks noChangeArrowheads="1"/>
          </p:cNvSpPr>
          <p:nvPr/>
        </p:nvSpPr>
        <p:spPr bwMode="auto">
          <a:xfrm>
            <a:off x="1450181" y="5337315"/>
            <a:ext cx="17700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err="1">
                <a:solidFill>
                  <a:srgbClr val="000000"/>
                </a:solidFill>
                <a:latin typeface="Arial" pitchFamily="34" charset="0"/>
                <a:ea typeface="맑은 고딕" pitchFamily="50" charset="-127"/>
                <a:cs typeface="Arial" pitchFamily="34" charset="0"/>
              </a:rPr>
              <a:t>Sai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khác</a:t>
            </a:r>
            <a:r>
              <a:rPr lang="en-US" altLang="ko-KR" sz="1200" b="1" dirty="0">
                <a:solidFill>
                  <a:srgbClr val="000000"/>
                </a:solidFill>
                <a:latin typeface="Arial" pitchFamily="34" charset="0"/>
                <a:ea typeface="맑은 고딕" pitchFamily="50" charset="-127"/>
                <a:cs typeface="Arial" pitchFamily="34" charset="0"/>
              </a:rPr>
              <a:t> do </a:t>
            </a:r>
            <a:r>
              <a:rPr lang="en-US" altLang="ko-KR" sz="1200" b="1" dirty="0" err="1">
                <a:solidFill>
                  <a:srgbClr val="000000"/>
                </a:solidFill>
                <a:latin typeface="Arial" pitchFamily="34" charset="0"/>
                <a:ea typeface="맑은 고딕" pitchFamily="50" charset="-127"/>
                <a:cs typeface="Arial" pitchFamily="34" charset="0"/>
              </a:rPr>
              <a:t>người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endParaRPr lang="ko-KR" altLang="en-US" sz="1200" b="1" dirty="0">
              <a:solidFill>
                <a:srgbClr val="000000"/>
              </a:solidFill>
              <a:latin typeface="Arial" pitchFamily="34" charset="0"/>
              <a:ea typeface="맑은 고딕" pitchFamily="50" charset="-127"/>
              <a:cs typeface="Arial" pitchFamily="34" charset="0"/>
            </a:endParaRPr>
          </a:p>
        </p:txBody>
      </p:sp>
      <p:grpSp>
        <p:nvGrpSpPr>
          <p:cNvPr id="3" name="Group 9"/>
          <p:cNvGrpSpPr>
            <a:grpSpLocks/>
          </p:cNvGrpSpPr>
          <p:nvPr/>
        </p:nvGrpSpPr>
        <p:grpSpPr bwMode="auto">
          <a:xfrm>
            <a:off x="6227763" y="4146550"/>
            <a:ext cx="2746375" cy="1606151"/>
            <a:chOff x="172" y="2069"/>
            <a:chExt cx="1730" cy="873"/>
          </a:xfrm>
        </p:grpSpPr>
        <p:pic>
          <p:nvPicPr>
            <p:cNvPr id="12309" name="Picture 10"/>
            <p:cNvPicPr>
              <a:picLocks noChangeAspect="1" noChangeArrowheads="1"/>
            </p:cNvPicPr>
            <p:nvPr/>
          </p:nvPicPr>
          <p:blipFill>
            <a:blip r:embed="rId3" cstate="print">
              <a:clrChange>
                <a:clrFrom>
                  <a:srgbClr val="FEFEFE"/>
                </a:clrFrom>
                <a:clrTo>
                  <a:srgbClr val="FEFEFE">
                    <a:alpha val="0"/>
                  </a:srgbClr>
                </a:clrTo>
              </a:clrChange>
              <a:extLst>
                <a:ext uri="{28A0092B-C50C-407E-A947-70E740481C1C}">
                  <a14:useLocalDpi xmlns:a14="http://schemas.microsoft.com/office/drawing/2010/main"/>
                </a:ext>
              </a:extLst>
            </a:blip>
            <a:srcRect/>
            <a:stretch>
              <a:fillRect/>
            </a:stretch>
          </p:blipFill>
          <p:spPr bwMode="auto">
            <a:xfrm>
              <a:off x="729" y="2348"/>
              <a:ext cx="730" cy="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10" name="Picture 11"/>
            <p:cNvPicPr>
              <a:picLocks noChangeAspect="1" noChangeArrowheads="1"/>
            </p:cNvPicPr>
            <p:nvPr/>
          </p:nvPicPr>
          <p:blipFill>
            <a:blip r:embed="rId3" cstate="print">
              <a:clrChange>
                <a:clrFrom>
                  <a:srgbClr val="FEFEFE"/>
                </a:clrFrom>
                <a:clrTo>
                  <a:srgbClr val="FEFEFE">
                    <a:alpha val="0"/>
                  </a:srgbClr>
                </a:clrTo>
              </a:clrChange>
              <a:extLst>
                <a:ext uri="{28A0092B-C50C-407E-A947-70E740481C1C}">
                  <a14:useLocalDpi xmlns:a14="http://schemas.microsoft.com/office/drawing/2010/main"/>
                </a:ext>
              </a:extLst>
            </a:blip>
            <a:srcRect/>
            <a:stretch>
              <a:fillRect/>
            </a:stretch>
          </p:blipFill>
          <p:spPr bwMode="auto">
            <a:xfrm>
              <a:off x="286" y="2355"/>
              <a:ext cx="730" cy="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11" name="Text Box 13"/>
            <p:cNvSpPr txBox="1">
              <a:spLocks noChangeArrowheads="1"/>
            </p:cNvSpPr>
            <p:nvPr/>
          </p:nvSpPr>
          <p:spPr bwMode="auto">
            <a:xfrm>
              <a:off x="1410" y="2725"/>
              <a:ext cx="492"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b="1" dirty="0">
                  <a:solidFill>
                    <a:srgbClr val="000000"/>
                  </a:solidFill>
                  <a:latin typeface="Arial" pitchFamily="34" charset="0"/>
                  <a:ea typeface="굴림체" pitchFamily="49" charset="-127"/>
                  <a:cs typeface="Arial" pitchFamily="34" charset="0"/>
                </a:rPr>
                <a:t>Measured value</a:t>
              </a:r>
              <a:endParaRPr lang="ko-KR" altLang="en-US" sz="1000" b="1" dirty="0">
                <a:solidFill>
                  <a:srgbClr val="000000"/>
                </a:solidFill>
                <a:latin typeface="Arial" pitchFamily="34" charset="0"/>
                <a:ea typeface="굴림체" pitchFamily="49" charset="-127"/>
                <a:cs typeface="Arial" pitchFamily="34" charset="0"/>
              </a:endParaRPr>
            </a:p>
          </p:txBody>
        </p:sp>
        <p:sp>
          <p:nvSpPr>
            <p:cNvPr id="12312" name="Rectangle 14"/>
            <p:cNvSpPr>
              <a:spLocks noChangeArrowheads="1"/>
            </p:cNvSpPr>
            <p:nvPr/>
          </p:nvSpPr>
          <p:spPr bwMode="auto">
            <a:xfrm>
              <a:off x="172" y="2069"/>
              <a:ext cx="1678" cy="862"/>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pic>
          <p:nvPicPr>
            <p:cNvPr id="12313" name="Picture 15"/>
            <p:cNvPicPr>
              <a:picLocks noChangeAspect="1" noChangeArrowheads="1"/>
            </p:cNvPicPr>
            <p:nvPr/>
          </p:nvPicPr>
          <p:blipFill>
            <a:blip r:embed="rId3" cstate="print">
              <a:clrChange>
                <a:clrFrom>
                  <a:srgbClr val="FEFEFE"/>
                </a:clrFrom>
                <a:clrTo>
                  <a:srgbClr val="FEFEFE">
                    <a:alpha val="0"/>
                  </a:srgbClr>
                </a:clrTo>
              </a:clrChange>
              <a:extLst>
                <a:ext uri="{28A0092B-C50C-407E-A947-70E740481C1C}">
                  <a14:useLocalDpi xmlns:a14="http://schemas.microsoft.com/office/drawing/2010/main"/>
                </a:ext>
              </a:extLst>
            </a:blip>
            <a:srcRect/>
            <a:stretch>
              <a:fillRect/>
            </a:stretch>
          </p:blipFill>
          <p:spPr bwMode="auto">
            <a:xfrm>
              <a:off x="960" y="2355"/>
              <a:ext cx="730" cy="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14" name="Text Box 16"/>
            <p:cNvSpPr txBox="1">
              <a:spLocks noChangeArrowheads="1"/>
            </p:cNvSpPr>
            <p:nvPr/>
          </p:nvSpPr>
          <p:spPr bwMode="auto">
            <a:xfrm>
              <a:off x="559" y="2233"/>
              <a:ext cx="13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000" b="1">
                  <a:solidFill>
                    <a:srgbClr val="000000"/>
                  </a:solidFill>
                  <a:latin typeface="Arial" pitchFamily="34" charset="0"/>
                  <a:cs typeface="Arial" pitchFamily="34" charset="0"/>
                </a:rPr>
                <a:t>A</a:t>
              </a:r>
            </a:p>
          </p:txBody>
        </p:sp>
        <p:sp>
          <p:nvSpPr>
            <p:cNvPr id="12315" name="Text Box 17"/>
            <p:cNvSpPr txBox="1">
              <a:spLocks noChangeArrowheads="1"/>
            </p:cNvSpPr>
            <p:nvPr/>
          </p:nvSpPr>
          <p:spPr bwMode="auto">
            <a:xfrm>
              <a:off x="1009" y="2233"/>
              <a:ext cx="13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000" b="1">
                  <a:solidFill>
                    <a:srgbClr val="000000"/>
                  </a:solidFill>
                  <a:latin typeface="Arial" pitchFamily="34" charset="0"/>
                  <a:cs typeface="Arial" pitchFamily="34" charset="0"/>
                </a:rPr>
                <a:t>C</a:t>
              </a:r>
            </a:p>
          </p:txBody>
        </p:sp>
        <p:sp>
          <p:nvSpPr>
            <p:cNvPr id="12316" name="Text Box 18"/>
            <p:cNvSpPr txBox="1">
              <a:spLocks noChangeArrowheads="1"/>
            </p:cNvSpPr>
            <p:nvPr/>
          </p:nvSpPr>
          <p:spPr bwMode="auto">
            <a:xfrm>
              <a:off x="1257" y="2233"/>
              <a:ext cx="13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000" b="1">
                  <a:solidFill>
                    <a:srgbClr val="000000"/>
                  </a:solidFill>
                  <a:latin typeface="Arial" pitchFamily="34" charset="0"/>
                  <a:cs typeface="Arial" pitchFamily="34" charset="0"/>
                </a:rPr>
                <a:t>B</a:t>
              </a:r>
            </a:p>
          </p:txBody>
        </p:sp>
        <p:sp>
          <p:nvSpPr>
            <p:cNvPr id="12317" name="Line 19"/>
            <p:cNvSpPr>
              <a:spLocks noChangeShapeType="1"/>
            </p:cNvSpPr>
            <p:nvPr/>
          </p:nvSpPr>
          <p:spPr bwMode="auto">
            <a:xfrm>
              <a:off x="671" y="2491"/>
              <a:ext cx="408" cy="0"/>
            </a:xfrm>
            <a:prstGeom prst="line">
              <a:avLst/>
            </a:prstGeom>
            <a:noFill/>
            <a:ln w="9525">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anchor="ctr"/>
            <a:lstStyle/>
            <a:p>
              <a:endParaRPr lang="ko-KR" altLang="en-US">
                <a:latin typeface="Arial" pitchFamily="34" charset="0"/>
                <a:cs typeface="Arial" pitchFamily="34" charset="0"/>
              </a:endParaRPr>
            </a:p>
          </p:txBody>
        </p:sp>
        <p:sp>
          <p:nvSpPr>
            <p:cNvPr id="12318" name="Line 20"/>
            <p:cNvSpPr>
              <a:spLocks noChangeShapeType="1"/>
            </p:cNvSpPr>
            <p:nvPr/>
          </p:nvSpPr>
          <p:spPr bwMode="auto">
            <a:xfrm>
              <a:off x="1093" y="2568"/>
              <a:ext cx="227" cy="0"/>
            </a:xfrm>
            <a:prstGeom prst="line">
              <a:avLst/>
            </a:prstGeom>
            <a:noFill/>
            <a:ln w="9525">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anchor="ctr"/>
            <a:lstStyle/>
            <a:p>
              <a:endParaRPr lang="ko-KR" altLang="en-US">
                <a:latin typeface="Arial" pitchFamily="34" charset="0"/>
                <a:cs typeface="Arial" pitchFamily="34" charset="0"/>
              </a:endParaRPr>
            </a:p>
          </p:txBody>
        </p:sp>
        <p:sp>
          <p:nvSpPr>
            <p:cNvPr id="12319" name="Line 21"/>
            <p:cNvSpPr>
              <a:spLocks noChangeShapeType="1"/>
            </p:cNvSpPr>
            <p:nvPr/>
          </p:nvSpPr>
          <p:spPr bwMode="auto">
            <a:xfrm>
              <a:off x="671" y="2673"/>
              <a:ext cx="635" cy="0"/>
            </a:xfrm>
            <a:prstGeom prst="line">
              <a:avLst/>
            </a:prstGeom>
            <a:noFill/>
            <a:ln w="9525">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anchor="ctr"/>
            <a:lstStyle/>
            <a:p>
              <a:endParaRPr lang="ko-KR" altLang="en-US">
                <a:latin typeface="Arial" pitchFamily="34" charset="0"/>
                <a:cs typeface="Arial" pitchFamily="34" charset="0"/>
              </a:endParaRPr>
            </a:p>
          </p:txBody>
        </p:sp>
      </p:grpSp>
      <p:grpSp>
        <p:nvGrpSpPr>
          <p:cNvPr id="4" name="그룹 1"/>
          <p:cNvGrpSpPr>
            <a:grpSpLocks/>
          </p:cNvGrpSpPr>
          <p:nvPr/>
        </p:nvGrpSpPr>
        <p:grpSpPr bwMode="auto">
          <a:xfrm>
            <a:off x="6223000" y="1916113"/>
            <a:ext cx="2663825" cy="1574860"/>
            <a:chOff x="6223446" y="2370138"/>
            <a:chExt cx="2663825" cy="1574860"/>
          </a:xfrm>
        </p:grpSpPr>
        <p:pic>
          <p:nvPicPr>
            <p:cNvPr id="12302" name="Picture 4"/>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6563171" y="2681288"/>
              <a:ext cx="1655763" cy="92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03" name="Text Box 6"/>
            <p:cNvSpPr txBox="1">
              <a:spLocks noChangeArrowheads="1"/>
            </p:cNvSpPr>
            <p:nvPr/>
          </p:nvSpPr>
          <p:spPr bwMode="auto">
            <a:xfrm>
              <a:off x="7937946" y="3544888"/>
              <a:ext cx="8319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b="1" dirty="0">
                  <a:solidFill>
                    <a:srgbClr val="000000"/>
                  </a:solidFill>
                  <a:latin typeface="Arial" pitchFamily="34" charset="0"/>
                  <a:ea typeface="굴림체" pitchFamily="49" charset="-127"/>
                  <a:cs typeface="Arial" pitchFamily="34" charset="0"/>
                </a:rPr>
                <a:t>Measured value</a:t>
              </a:r>
              <a:endParaRPr lang="ko-KR" altLang="en-US" sz="1000" b="1" dirty="0">
                <a:solidFill>
                  <a:srgbClr val="000000"/>
                </a:solidFill>
                <a:latin typeface="Arial" pitchFamily="34" charset="0"/>
                <a:ea typeface="굴림체" pitchFamily="49" charset="-127"/>
                <a:cs typeface="Arial" pitchFamily="34" charset="0"/>
              </a:endParaRPr>
            </a:p>
          </p:txBody>
        </p:sp>
        <p:sp>
          <p:nvSpPr>
            <p:cNvPr id="12304" name="Rectangle 7"/>
            <p:cNvSpPr>
              <a:spLocks noChangeArrowheads="1"/>
            </p:cNvSpPr>
            <p:nvPr/>
          </p:nvSpPr>
          <p:spPr bwMode="auto">
            <a:xfrm>
              <a:off x="6223446" y="2370138"/>
              <a:ext cx="2663825" cy="156368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2305" name="Line 8"/>
            <p:cNvSpPr>
              <a:spLocks noChangeShapeType="1"/>
            </p:cNvSpPr>
            <p:nvPr/>
          </p:nvSpPr>
          <p:spPr bwMode="auto">
            <a:xfrm>
              <a:off x="6837809" y="3678238"/>
              <a:ext cx="865187" cy="0"/>
            </a:xfrm>
            <a:prstGeom prst="line">
              <a:avLst/>
            </a:prstGeom>
            <a:noFill/>
            <a:ln w="9525">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anchor="ctr"/>
            <a:lstStyle/>
            <a:p>
              <a:endParaRPr lang="ko-KR" altLang="en-US">
                <a:latin typeface="Arial" pitchFamily="34" charset="0"/>
                <a:cs typeface="Arial" pitchFamily="34" charset="0"/>
              </a:endParaRPr>
            </a:p>
          </p:txBody>
        </p:sp>
        <p:pic>
          <p:nvPicPr>
            <p:cNvPr id="12306" name="Picture 4"/>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6425059" y="2681288"/>
              <a:ext cx="1655762" cy="92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07" name="TextBox 43"/>
            <p:cNvSpPr txBox="1">
              <a:spLocks noChangeArrowheads="1"/>
            </p:cNvSpPr>
            <p:nvPr/>
          </p:nvSpPr>
          <p:spPr bwMode="auto">
            <a:xfrm>
              <a:off x="6536184" y="2779713"/>
              <a:ext cx="4032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a:solidFill>
                    <a:srgbClr val="000000"/>
                  </a:solidFill>
                  <a:latin typeface="Arial" pitchFamily="34" charset="0"/>
                  <a:ea typeface="맑은 고딕" pitchFamily="50" charset="-127"/>
                  <a:cs typeface="Arial" pitchFamily="34" charset="0"/>
                </a:rPr>
                <a:t>1st</a:t>
              </a:r>
            </a:p>
          </p:txBody>
        </p:sp>
        <p:sp>
          <p:nvSpPr>
            <p:cNvPr id="12308" name="TextBox 44"/>
            <p:cNvSpPr txBox="1">
              <a:spLocks noChangeArrowheads="1"/>
            </p:cNvSpPr>
            <p:nvPr/>
          </p:nvSpPr>
          <p:spPr bwMode="auto">
            <a:xfrm>
              <a:off x="7649021" y="2779713"/>
              <a:ext cx="4635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a:solidFill>
                    <a:srgbClr val="000000"/>
                  </a:solidFill>
                  <a:latin typeface="Arial" pitchFamily="34" charset="0"/>
                  <a:ea typeface="맑은 고딕" pitchFamily="50" charset="-127"/>
                  <a:cs typeface="Arial" pitchFamily="34" charset="0"/>
                </a:rPr>
                <a:t>2nd</a:t>
              </a:r>
            </a:p>
          </p:txBody>
        </p:sp>
      </p:grpSp>
      <p:sp>
        <p:nvSpPr>
          <p:cNvPr id="62" name="TextBox 37"/>
          <p:cNvSpPr txBox="1">
            <a:spLocks noChangeArrowheads="1"/>
          </p:cNvSpPr>
          <p:nvPr/>
        </p:nvSpPr>
        <p:spPr bwMode="auto">
          <a:xfrm>
            <a:off x="488950" y="908050"/>
            <a:ext cx="755822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174625" indent="-174625" eaLnBrk="0" hangingPunct="0">
              <a:spcBef>
                <a:spcPct val="20000"/>
              </a:spcBef>
              <a:buFont typeface="Arial" pitchFamily="34" charset="0"/>
              <a:buChar char="•"/>
              <a:defRPr sz="2400">
                <a:solidFill>
                  <a:srgbClr val="7F7F7F"/>
                </a:solidFill>
                <a:latin typeface="Century Gothic" pitchFamily="34" charset="0"/>
                <a:ea typeface="맑은 고딕" pitchFamily="50" charset="-127"/>
              </a:defRPr>
            </a:lvl1pPr>
            <a:lvl2pPr marL="742950" indent="-285750" eaLnBrk="0" hangingPunct="0">
              <a:spcBef>
                <a:spcPct val="20000"/>
              </a:spcBef>
              <a:buFont typeface="Courier New" pitchFamily="49" charset="0"/>
              <a:buChar char="o"/>
              <a:defRPr sz="1600">
                <a:solidFill>
                  <a:srgbClr val="7F7F7F"/>
                </a:solidFill>
                <a:latin typeface="Century Gothic" pitchFamily="34" charset="0"/>
                <a:ea typeface="맑은 고딕" pitchFamily="50" charset="-127"/>
              </a:defRPr>
            </a:lvl2pPr>
            <a:lvl3pPr marL="1143000" indent="-228600" eaLnBrk="0" hangingPunct="0">
              <a:spcBef>
                <a:spcPct val="20000"/>
              </a:spcBef>
              <a:buFont typeface="Arial" pitchFamily="34" charset="0"/>
              <a:buChar char="•"/>
              <a:defRPr sz="1600">
                <a:solidFill>
                  <a:srgbClr val="7F7F7F"/>
                </a:solidFill>
                <a:latin typeface="Century Gothic" pitchFamily="34" charset="0"/>
                <a:ea typeface="맑은 고딕" pitchFamily="50" charset="-127"/>
              </a:defRPr>
            </a:lvl3pPr>
            <a:lvl4pPr marL="1600200" indent="-228600" eaLnBrk="0" hangingPunct="0">
              <a:spcBef>
                <a:spcPct val="20000"/>
              </a:spcBef>
              <a:buFont typeface="Courier New" pitchFamily="49" charset="0"/>
              <a:buChar char="o"/>
              <a:defRPr sz="1600">
                <a:solidFill>
                  <a:srgbClr val="7F7F7F"/>
                </a:solidFill>
                <a:latin typeface="Century Gothic" pitchFamily="34" charset="0"/>
                <a:ea typeface="맑은 고딕" pitchFamily="50" charset="-127"/>
              </a:defRPr>
            </a:lvl4pPr>
            <a:lvl5pPr marL="2057400" indent="-228600" eaLnBrk="0" hangingPunct="0">
              <a:spcBef>
                <a:spcPct val="20000"/>
              </a:spcBef>
              <a:buFont typeface="Arial" pitchFamily="34" charset="0"/>
              <a:buChar char="•"/>
              <a:defRPr sz="1600">
                <a:solidFill>
                  <a:srgbClr val="7F7F7F"/>
                </a:solidFill>
                <a:latin typeface="Century Gothic" pitchFamily="34" charset="0"/>
                <a:ea typeface="맑은 고딕" pitchFamily="50" charset="-127"/>
              </a:defRPr>
            </a:lvl5pPr>
            <a:lvl6pPr marL="25146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6pPr>
            <a:lvl7pPr marL="29718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7pPr>
            <a:lvl8pPr marL="34290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8pPr>
            <a:lvl9pPr marL="38862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9pPr>
          </a:lstStyle>
          <a:p>
            <a:pPr eaLnBrk="1" hangingPunct="1">
              <a:spcBef>
                <a:spcPct val="0"/>
              </a:spcBef>
              <a:buClr>
                <a:schemeClr val="tx1"/>
              </a:buClr>
              <a:buFont typeface="Wingdings" pitchFamily="2" charset="2"/>
              <a:buChar char="u"/>
              <a:defRPr/>
            </a:pPr>
            <a:r>
              <a:rPr lang="ko-KR" altLang="en-US"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Kiểm</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định</a:t>
            </a:r>
            <a:r>
              <a:rPr lang="en-US" altLang="ko-KR" sz="1600" b="1" dirty="0">
                <a:solidFill>
                  <a:schemeClr val="tx1"/>
                </a:solidFill>
                <a:latin typeface="Arial" pitchFamily="34" charset="0"/>
                <a:cs typeface="Arial" pitchFamily="34" charset="0"/>
              </a:rPr>
              <a:t> Precision </a:t>
            </a:r>
            <a:r>
              <a:rPr lang="en-US" altLang="ko-KR" sz="1600" b="1" dirty="0" err="1">
                <a:solidFill>
                  <a:schemeClr val="tx1"/>
                </a:solidFill>
                <a:latin typeface="Arial" pitchFamily="34" charset="0"/>
                <a:cs typeface="Arial" pitchFamily="34" charset="0"/>
              </a:rPr>
              <a:t>của</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hệ</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thống</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đo</a:t>
            </a:r>
            <a:r>
              <a:rPr lang="en-US" altLang="ko-KR" sz="1600" b="1" dirty="0">
                <a:solidFill>
                  <a:schemeClr val="tx1"/>
                </a:solidFill>
                <a:latin typeface="Arial" pitchFamily="34" charset="0"/>
                <a:cs typeface="Arial" pitchFamily="34" charset="0"/>
              </a:rPr>
              <a:t> </a:t>
            </a:r>
            <a:r>
              <a:rPr lang="en-US" altLang="ko-KR" sz="1600" b="1" dirty="0" err="1">
                <a:solidFill>
                  <a:schemeClr val="tx1"/>
                </a:solidFill>
                <a:latin typeface="Arial" pitchFamily="34" charset="0"/>
                <a:cs typeface="Arial" pitchFamily="34" charset="0"/>
              </a:rPr>
              <a:t>lường</a:t>
            </a:r>
            <a:endParaRPr lang="en-US" altLang="ko-KR" sz="1600" b="1" dirty="0">
              <a:solidFill>
                <a:schemeClr val="tx1"/>
              </a:solidFill>
              <a:latin typeface="Arial" pitchFamily="34" charset="0"/>
              <a:cs typeface="Arial" pitchFamily="34" charset="0"/>
            </a:endParaRPr>
          </a:p>
          <a:p>
            <a:pPr marL="0" indent="0" eaLnBrk="1" hangingPunct="1">
              <a:spcBef>
                <a:spcPct val="0"/>
              </a:spcBef>
              <a:buClr>
                <a:schemeClr val="tx1"/>
              </a:buClr>
              <a:buFont typeface="Arial" pitchFamily="34" charset="0"/>
              <a:buNone/>
              <a:defRPr/>
            </a:pPr>
            <a:r>
              <a:rPr lang="en-US" altLang="ko-KR" sz="1800" b="1" dirty="0">
                <a:solidFill>
                  <a:schemeClr val="tx1"/>
                </a:solidFill>
                <a:latin typeface="Arial" pitchFamily="34" charset="0"/>
                <a:cs typeface="Arial" pitchFamily="34" charset="0"/>
              </a:rPr>
              <a:t>    </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tiến</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hành</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khi</a:t>
            </a:r>
            <a:r>
              <a:rPr lang="en-US" altLang="ko-KR" sz="1400" dirty="0">
                <a:solidFill>
                  <a:schemeClr val="tx1"/>
                </a:solidFill>
                <a:latin typeface="Arial" pitchFamily="34" charset="0"/>
                <a:cs typeface="Arial" pitchFamily="34" charset="0"/>
              </a:rPr>
              <a:t> Accuracy </a:t>
            </a:r>
            <a:r>
              <a:rPr lang="en-US" altLang="ko-KR" sz="1400" dirty="0" err="1">
                <a:solidFill>
                  <a:schemeClr val="tx1"/>
                </a:solidFill>
                <a:latin typeface="Arial" pitchFamily="34" charset="0"/>
                <a:cs typeface="Arial" pitchFamily="34" charset="0"/>
              </a:rPr>
              <a:t>của</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dụng</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cụ</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đã</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được</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kiểm</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định</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còn</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được</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gọi</a:t>
            </a:r>
            <a:r>
              <a:rPr lang="en-US" altLang="ko-KR" sz="1400" dirty="0">
                <a:solidFill>
                  <a:schemeClr val="tx1"/>
                </a:solidFill>
                <a:latin typeface="Arial" pitchFamily="34" charset="0"/>
                <a:cs typeface="Arial" pitchFamily="34" charset="0"/>
              </a:rPr>
              <a:t> </a:t>
            </a:r>
            <a:r>
              <a:rPr lang="en-US" altLang="ko-KR" sz="1400" dirty="0" err="1">
                <a:solidFill>
                  <a:schemeClr val="tx1"/>
                </a:solidFill>
                <a:latin typeface="Arial" pitchFamily="34" charset="0"/>
                <a:cs typeface="Arial" pitchFamily="34" charset="0"/>
              </a:rPr>
              <a:t>là</a:t>
            </a:r>
            <a:r>
              <a:rPr lang="en-US" altLang="ko-KR" sz="1400" dirty="0">
                <a:solidFill>
                  <a:schemeClr val="tx1"/>
                </a:solidFill>
                <a:latin typeface="Arial" pitchFamily="34" charset="0"/>
                <a:cs typeface="Arial" pitchFamily="34" charset="0"/>
              </a:rPr>
              <a:t> </a:t>
            </a:r>
            <a:r>
              <a:rPr lang="en-US" altLang="ko-KR" sz="2000" b="1" i="1" dirty="0">
                <a:solidFill>
                  <a:schemeClr val="tx1"/>
                </a:solidFill>
                <a:latin typeface="Arial" pitchFamily="34" charset="0"/>
                <a:cs typeface="Arial" pitchFamily="34" charset="0"/>
              </a:rPr>
              <a:t>Gage R&amp;R</a:t>
            </a:r>
            <a:endParaRPr lang="ko-KR" altLang="en-US" sz="2000" b="1" i="1" dirty="0">
              <a:solidFill>
                <a:schemeClr val="tx1"/>
              </a:solidFill>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191</a:t>
            </a:fld>
            <a:endParaRPr lang="ko-KR" altLang="en-US" dirty="0">
              <a:latin typeface="Arial" pitchFamily="34" charset="0"/>
              <a:cs typeface="Arial" pitchFamily="34" charset="0"/>
            </a:endParaRPr>
          </a:p>
        </p:txBody>
      </p:sp>
      <p:sp>
        <p:nvSpPr>
          <p:cNvPr id="32" name="제목 8"/>
          <p:cNvSpPr txBox="1">
            <a:spLocks/>
          </p:cNvSpPr>
          <p:nvPr/>
        </p:nvSpPr>
        <p:spPr bwMode="auto">
          <a:xfrm>
            <a:off x="7832725" y="260350"/>
            <a:ext cx="1944688" cy="488950"/>
          </a:xfrm>
          <a:prstGeom prst="rect">
            <a:avLst/>
          </a:prstGeom>
          <a:noFill/>
          <a:ln>
            <a:miter lim="800000"/>
            <a:headEnd/>
            <a:tailEnd/>
          </a:ln>
        </p:spPr>
        <p:txBody>
          <a:bodyPr anchor="ctr"/>
          <a:lstStyle/>
          <a:p>
            <a:pPr algn="r">
              <a:defRPr/>
            </a:pPr>
            <a:r>
              <a:rPr lang="en-US" altLang="ko-KR" sz="1600" b="1" kern="0" dirty="0">
                <a:solidFill>
                  <a:srgbClr val="000000"/>
                </a:solidFill>
                <a:latin typeface="Arial" pitchFamily="34" charset="0"/>
                <a:ea typeface="맑은 고딕"/>
                <a:cs typeface="Arial" pitchFamily="34" charset="0"/>
              </a:rPr>
              <a:t>Precision</a:t>
            </a:r>
            <a:endParaRPr lang="ko-KR" altLang="en-US" sz="1600" b="1" kern="0" dirty="0">
              <a:solidFill>
                <a:srgbClr val="000000"/>
              </a:solidFill>
              <a:latin typeface="Arial" pitchFamily="34" charset="0"/>
              <a:ea typeface="맑은 고딕"/>
              <a:cs typeface="Arial" pitchFamily="34" charset="0"/>
            </a:endParaRPr>
          </a:p>
        </p:txBody>
      </p:sp>
      <p:sp>
        <p:nvSpPr>
          <p:cNvPr id="33"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2.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Khái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niệm</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Thuật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ngữ</a:t>
            </a:r>
            <a:endPar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endParaRPr>
          </a:p>
        </p:txBody>
      </p:sp>
    </p:spTree>
    <p:extLst>
      <p:ext uri="{BB962C8B-B14F-4D97-AF65-F5344CB8AC3E}">
        <p14:creationId xmlns:p14="http://schemas.microsoft.com/office/powerpoint/2010/main" val="100095815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Rectangle 3"/>
          <p:cNvSpPr>
            <a:spLocks noChangeArrowheads="1"/>
          </p:cNvSpPr>
          <p:nvPr/>
        </p:nvSpPr>
        <p:spPr bwMode="auto">
          <a:xfrm>
            <a:off x="1352550" y="2060575"/>
            <a:ext cx="1716088" cy="431800"/>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a:solidFill>
                  <a:schemeClr val="bg1"/>
                </a:solidFill>
                <a:latin typeface="Arial" pitchFamily="34" charset="0"/>
                <a:ea typeface="맑은 고딕" pitchFamily="50" charset="-127"/>
                <a:cs typeface="Arial" pitchFamily="34" charset="0"/>
              </a:rPr>
              <a:t>Accuracy</a:t>
            </a:r>
          </a:p>
        </p:txBody>
      </p:sp>
      <p:sp>
        <p:nvSpPr>
          <p:cNvPr id="13316" name="Rectangle 4"/>
          <p:cNvSpPr>
            <a:spLocks noChangeArrowheads="1"/>
          </p:cNvSpPr>
          <p:nvPr/>
        </p:nvSpPr>
        <p:spPr bwMode="auto">
          <a:xfrm>
            <a:off x="1352550" y="2708275"/>
            <a:ext cx="1716088" cy="360363"/>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Độ</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chệch</a:t>
            </a:r>
            <a:r>
              <a:rPr lang="en-US" altLang="ko-KR" sz="1200" b="1" dirty="0">
                <a:solidFill>
                  <a:srgbClr val="4D4D4D"/>
                </a:solidFill>
                <a:latin typeface="Arial" pitchFamily="34" charset="0"/>
                <a:ea typeface="맑은 고딕" pitchFamily="50" charset="-127"/>
                <a:cs typeface="Arial" pitchFamily="34" charset="0"/>
              </a:rPr>
              <a:t> (Bias)</a:t>
            </a:r>
          </a:p>
        </p:txBody>
      </p:sp>
      <p:sp>
        <p:nvSpPr>
          <p:cNvPr id="13317" name="Rectangle 5"/>
          <p:cNvSpPr>
            <a:spLocks noChangeArrowheads="1"/>
          </p:cNvSpPr>
          <p:nvPr/>
        </p:nvSpPr>
        <p:spPr bwMode="auto">
          <a:xfrm>
            <a:off x="1352550" y="3140075"/>
            <a:ext cx="1716088" cy="360363"/>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Tuyến</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tính</a:t>
            </a:r>
            <a:r>
              <a:rPr lang="en-US" altLang="ko-KR" sz="1200" b="1" dirty="0">
                <a:solidFill>
                  <a:srgbClr val="4D4D4D"/>
                </a:solidFill>
                <a:latin typeface="Arial" pitchFamily="34" charset="0"/>
                <a:ea typeface="맑은 고딕" pitchFamily="50" charset="-127"/>
                <a:cs typeface="Arial" pitchFamily="34" charset="0"/>
              </a:rPr>
              <a:t> (Linearity)</a:t>
            </a:r>
          </a:p>
        </p:txBody>
      </p:sp>
      <p:sp>
        <p:nvSpPr>
          <p:cNvPr id="13318" name="Rectangle 6"/>
          <p:cNvSpPr>
            <a:spLocks noChangeArrowheads="1"/>
          </p:cNvSpPr>
          <p:nvPr/>
        </p:nvSpPr>
        <p:spPr bwMode="auto">
          <a:xfrm>
            <a:off x="1352550" y="3560763"/>
            <a:ext cx="1716088" cy="360362"/>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Độ</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ổn</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định</a:t>
            </a:r>
            <a:r>
              <a:rPr lang="en-US" altLang="ko-KR" sz="1200" b="1" dirty="0">
                <a:solidFill>
                  <a:srgbClr val="4D4D4D"/>
                </a:solidFill>
                <a:latin typeface="Arial" pitchFamily="34" charset="0"/>
                <a:ea typeface="맑은 고딕" pitchFamily="50" charset="-127"/>
                <a:cs typeface="Arial" pitchFamily="34" charset="0"/>
              </a:rPr>
              <a:t> (Stability)</a:t>
            </a:r>
          </a:p>
        </p:txBody>
      </p:sp>
      <p:sp>
        <p:nvSpPr>
          <p:cNvPr id="13319" name="Text Box 7"/>
          <p:cNvSpPr txBox="1">
            <a:spLocks noChangeArrowheads="1"/>
          </p:cNvSpPr>
          <p:nvPr/>
        </p:nvSpPr>
        <p:spPr bwMode="auto">
          <a:xfrm>
            <a:off x="3080793" y="2755900"/>
            <a:ext cx="12961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latin typeface="Arial" pitchFamily="34" charset="0"/>
                <a:cs typeface="Arial" pitchFamily="34" charset="0"/>
              </a:rPr>
              <a:t>1 Sample t Test</a:t>
            </a:r>
            <a:endParaRPr lang="ko-KR" altLang="en-US" sz="1200" b="1" dirty="0">
              <a:latin typeface="Arial" pitchFamily="34" charset="0"/>
              <a:cs typeface="Arial" pitchFamily="34" charset="0"/>
            </a:endParaRPr>
          </a:p>
        </p:txBody>
      </p:sp>
      <p:sp>
        <p:nvSpPr>
          <p:cNvPr id="13320" name="Text Box 8"/>
          <p:cNvSpPr txBox="1">
            <a:spLocks noChangeArrowheads="1"/>
          </p:cNvSpPr>
          <p:nvPr/>
        </p:nvSpPr>
        <p:spPr bwMode="auto">
          <a:xfrm>
            <a:off x="4665663" y="2952750"/>
            <a:ext cx="25304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err="1">
                <a:latin typeface="Arial" pitchFamily="34" charset="0"/>
                <a:cs typeface="Arial" pitchFamily="34" charset="0"/>
              </a:rPr>
              <a:t>Nghiên</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cứu</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độ</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chệch</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và</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tuyến</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tính</a:t>
            </a:r>
            <a:r>
              <a:rPr lang="en-US" altLang="ko-KR" sz="1200" b="1" dirty="0">
                <a:latin typeface="Arial" pitchFamily="34" charset="0"/>
                <a:cs typeface="Arial" pitchFamily="34" charset="0"/>
              </a:rPr>
              <a:t> Gage</a:t>
            </a:r>
            <a:endParaRPr lang="ko-KR" altLang="en-US" sz="1200" b="1" dirty="0">
              <a:latin typeface="Arial" pitchFamily="34" charset="0"/>
              <a:cs typeface="Arial" pitchFamily="34" charset="0"/>
            </a:endParaRPr>
          </a:p>
        </p:txBody>
      </p:sp>
      <p:sp>
        <p:nvSpPr>
          <p:cNvPr id="13321" name="Text Box 9"/>
          <p:cNvSpPr txBox="1">
            <a:spLocks noChangeArrowheads="1"/>
          </p:cNvSpPr>
          <p:nvPr/>
        </p:nvSpPr>
        <p:spPr bwMode="auto">
          <a:xfrm>
            <a:off x="3152775" y="3611563"/>
            <a:ext cx="37444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err="1">
                <a:latin typeface="Arial" pitchFamily="34" charset="0"/>
                <a:cs typeface="Arial" pitchFamily="34" charset="0"/>
              </a:rPr>
              <a:t>Biểu</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đồ</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kiểm</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soát</a:t>
            </a:r>
            <a:r>
              <a:rPr lang="en-US" altLang="ko-KR" sz="1200" b="1" dirty="0">
                <a:latin typeface="Arial" pitchFamily="34" charset="0"/>
                <a:cs typeface="Arial" pitchFamily="34" charset="0"/>
              </a:rPr>
              <a:t> (Control Chart): </a:t>
            </a:r>
            <a:r>
              <a:rPr lang="en-US" altLang="ko-KR" sz="1200" b="1" dirty="0" err="1">
                <a:latin typeface="Arial" pitchFamily="34" charset="0"/>
                <a:cs typeface="Arial" pitchFamily="34" charset="0"/>
              </a:rPr>
              <a:t>Xbar</a:t>
            </a:r>
            <a:r>
              <a:rPr lang="en-US" altLang="ko-KR" sz="1200" b="1" dirty="0">
                <a:latin typeface="Arial" pitchFamily="34" charset="0"/>
                <a:cs typeface="Arial" pitchFamily="34" charset="0"/>
              </a:rPr>
              <a:t>-R, IMR</a:t>
            </a:r>
            <a:endParaRPr lang="ko-KR" altLang="en-US" sz="1200" b="1" dirty="0">
              <a:latin typeface="Arial" pitchFamily="34" charset="0"/>
              <a:cs typeface="Arial" pitchFamily="34" charset="0"/>
            </a:endParaRPr>
          </a:p>
        </p:txBody>
      </p:sp>
      <p:sp>
        <p:nvSpPr>
          <p:cNvPr id="13322" name="Text Box 10"/>
          <p:cNvSpPr txBox="1">
            <a:spLocks noChangeArrowheads="1"/>
          </p:cNvSpPr>
          <p:nvPr/>
        </p:nvSpPr>
        <p:spPr bwMode="auto">
          <a:xfrm>
            <a:off x="3152775" y="2132013"/>
            <a:ext cx="33115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err="1">
                <a:latin typeface="Arial" pitchFamily="34" charset="0"/>
                <a:cs typeface="Arial" pitchFamily="34" charset="0"/>
              </a:rPr>
              <a:t>Đánh</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giá</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và</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điều</a:t>
            </a:r>
            <a:r>
              <a:rPr lang="en-US" altLang="ko-KR" sz="1200" b="1" dirty="0">
                <a:latin typeface="Arial" pitchFamily="34" charset="0"/>
                <a:cs typeface="Arial" pitchFamily="34" charset="0"/>
              </a:rPr>
              <a:t> </a:t>
            </a:r>
            <a:r>
              <a:rPr lang="en-US" altLang="ko-KR" sz="1200" b="1" dirty="0" err="1">
                <a:latin typeface="Arial" pitchFamily="34" charset="0"/>
                <a:cs typeface="Arial" pitchFamily="34" charset="0"/>
              </a:rPr>
              <a:t>chỉnh</a:t>
            </a:r>
            <a:r>
              <a:rPr lang="en-US" altLang="ko-KR" sz="1200" b="1" dirty="0">
                <a:latin typeface="Arial" pitchFamily="34" charset="0"/>
                <a:cs typeface="Arial" pitchFamily="34" charset="0"/>
              </a:rPr>
              <a:t> Gage</a:t>
            </a:r>
          </a:p>
        </p:txBody>
      </p:sp>
      <p:cxnSp>
        <p:nvCxnSpPr>
          <p:cNvPr id="13323" name="AutoShape 11"/>
          <p:cNvCxnSpPr>
            <a:cxnSpLocks noChangeShapeType="1"/>
            <a:stCxn id="13315" idx="2"/>
            <a:endCxn id="13316" idx="0"/>
          </p:cNvCxnSpPr>
          <p:nvPr/>
        </p:nvCxnSpPr>
        <p:spPr bwMode="auto">
          <a:xfrm rot="5400000">
            <a:off x="2103438" y="2600325"/>
            <a:ext cx="215900" cy="0"/>
          </a:xfrm>
          <a:prstGeom prst="straightConnector1">
            <a:avLst/>
          </a:prstGeom>
          <a:noFill/>
          <a:ln w="9525">
            <a:solidFill>
              <a:srgbClr val="3366FF"/>
            </a:solidFill>
            <a:round/>
            <a:headEnd/>
            <a:tailEnd type="triangle" w="med" len="med"/>
          </a:ln>
          <a:extLst>
            <a:ext uri="{909E8E84-426E-40DD-AFC4-6F175D3DCCD1}">
              <a14:hiddenFill xmlns:a14="http://schemas.microsoft.com/office/drawing/2010/main">
                <a:noFill/>
              </a14:hiddenFill>
            </a:ext>
          </a:extLst>
        </p:spPr>
      </p:cxnSp>
      <p:sp>
        <p:nvSpPr>
          <p:cNvPr id="13325" name="Rectangle 13"/>
          <p:cNvSpPr>
            <a:spLocks noChangeArrowheads="1"/>
          </p:cNvSpPr>
          <p:nvPr/>
        </p:nvSpPr>
        <p:spPr bwMode="auto">
          <a:xfrm>
            <a:off x="1336675" y="5002212"/>
            <a:ext cx="1716088" cy="515019"/>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Khả</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năng</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lặp</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lại</a:t>
            </a:r>
            <a:endParaRPr lang="en-US" altLang="ko-KR" sz="1200" b="1" dirty="0">
              <a:solidFill>
                <a:srgbClr val="4D4D4D"/>
              </a:solidFill>
              <a:latin typeface="Arial" pitchFamily="34" charset="0"/>
              <a:ea typeface="맑은 고딕" pitchFamily="50" charset="-127"/>
              <a:cs typeface="Arial" pitchFamily="34" charset="0"/>
            </a:endParaRPr>
          </a:p>
          <a:p>
            <a:pPr algn="ctr" eaLnBrk="1" hangingPunct="1">
              <a:spcBef>
                <a:spcPct val="50000"/>
              </a:spcBef>
            </a:pPr>
            <a:r>
              <a:rPr lang="en-US" altLang="ko-KR" sz="1200" b="1" dirty="0">
                <a:solidFill>
                  <a:srgbClr val="4D4D4D"/>
                </a:solidFill>
                <a:latin typeface="Arial" pitchFamily="34" charset="0"/>
                <a:ea typeface="맑은 고딕" pitchFamily="50" charset="-127"/>
                <a:cs typeface="Arial" pitchFamily="34" charset="0"/>
              </a:rPr>
              <a:t>(Repeatability)</a:t>
            </a:r>
          </a:p>
        </p:txBody>
      </p:sp>
      <p:sp>
        <p:nvSpPr>
          <p:cNvPr id="13326" name="Rectangle 14"/>
          <p:cNvSpPr>
            <a:spLocks noChangeArrowheads="1"/>
          </p:cNvSpPr>
          <p:nvPr/>
        </p:nvSpPr>
        <p:spPr bwMode="auto">
          <a:xfrm>
            <a:off x="1336675" y="5661025"/>
            <a:ext cx="1716088" cy="576287"/>
          </a:xfrm>
          <a:prstGeom prst="rect">
            <a:avLst/>
          </a:prstGeom>
          <a:noFill/>
          <a:ln w="9525"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4D4D4D"/>
                </a:solidFill>
                <a:latin typeface="Arial" pitchFamily="34" charset="0"/>
                <a:ea typeface="맑은 고딕" pitchFamily="50" charset="-127"/>
                <a:cs typeface="Arial" pitchFamily="34" charset="0"/>
              </a:rPr>
              <a:t>Khả</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năng</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tái</a:t>
            </a:r>
            <a:r>
              <a:rPr lang="en-US" altLang="ko-KR" sz="1200" b="1" dirty="0">
                <a:solidFill>
                  <a:srgbClr val="4D4D4D"/>
                </a:solidFill>
                <a:latin typeface="Arial" pitchFamily="34" charset="0"/>
                <a:ea typeface="맑은 고딕" pitchFamily="50" charset="-127"/>
                <a:cs typeface="Arial" pitchFamily="34" charset="0"/>
              </a:rPr>
              <a:t> </a:t>
            </a:r>
            <a:r>
              <a:rPr lang="en-US" altLang="ko-KR" sz="1200" b="1" dirty="0" err="1">
                <a:solidFill>
                  <a:srgbClr val="4D4D4D"/>
                </a:solidFill>
                <a:latin typeface="Arial" pitchFamily="34" charset="0"/>
                <a:ea typeface="맑은 고딕" pitchFamily="50" charset="-127"/>
                <a:cs typeface="Arial" pitchFamily="34" charset="0"/>
              </a:rPr>
              <a:t>tạo</a:t>
            </a:r>
            <a:endParaRPr lang="en-US" altLang="ko-KR" sz="1200" b="1" dirty="0">
              <a:solidFill>
                <a:srgbClr val="4D4D4D"/>
              </a:solidFill>
              <a:latin typeface="Arial" pitchFamily="34" charset="0"/>
              <a:ea typeface="맑은 고딕" pitchFamily="50" charset="-127"/>
              <a:cs typeface="Arial" pitchFamily="34" charset="0"/>
            </a:endParaRPr>
          </a:p>
          <a:p>
            <a:pPr algn="ctr" eaLnBrk="1" hangingPunct="1">
              <a:spcBef>
                <a:spcPct val="50000"/>
              </a:spcBef>
            </a:pPr>
            <a:r>
              <a:rPr lang="en-US" altLang="ko-KR" sz="1200" b="1" dirty="0">
                <a:solidFill>
                  <a:srgbClr val="4D4D4D"/>
                </a:solidFill>
                <a:latin typeface="Arial" pitchFamily="34" charset="0"/>
                <a:ea typeface="맑은 고딕" pitchFamily="50" charset="-127"/>
                <a:cs typeface="Arial" pitchFamily="34" charset="0"/>
              </a:rPr>
              <a:t>(Reproducibility)</a:t>
            </a:r>
          </a:p>
        </p:txBody>
      </p:sp>
      <p:sp>
        <p:nvSpPr>
          <p:cNvPr id="13327" name="Text Box 15"/>
          <p:cNvSpPr txBox="1">
            <a:spLocks noChangeArrowheads="1"/>
          </p:cNvSpPr>
          <p:nvPr/>
        </p:nvSpPr>
        <p:spPr bwMode="auto">
          <a:xfrm>
            <a:off x="3152775" y="4449763"/>
            <a:ext cx="237648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a:latin typeface="Arial" pitchFamily="34" charset="0"/>
                <a:cs typeface="Arial" pitchFamily="34" charset="0"/>
              </a:rPr>
              <a:t>Gage R&amp;R</a:t>
            </a:r>
          </a:p>
        </p:txBody>
      </p:sp>
      <p:cxnSp>
        <p:nvCxnSpPr>
          <p:cNvPr id="13328" name="AutoShape 18"/>
          <p:cNvCxnSpPr>
            <a:cxnSpLocks noChangeShapeType="1"/>
            <a:stCxn id="13324" idx="2"/>
            <a:endCxn id="13325" idx="0"/>
          </p:cNvCxnSpPr>
          <p:nvPr/>
        </p:nvCxnSpPr>
        <p:spPr bwMode="auto">
          <a:xfrm>
            <a:off x="2194719" y="4829175"/>
            <a:ext cx="0" cy="173037"/>
          </a:xfrm>
          <a:prstGeom prst="straightConnector1">
            <a:avLst/>
          </a:prstGeom>
          <a:noFill/>
          <a:ln w="9525">
            <a:solidFill>
              <a:srgbClr val="3366FF"/>
            </a:solidFill>
            <a:round/>
            <a:headEnd/>
            <a:tailEnd type="triangle" w="med" len="med"/>
          </a:ln>
          <a:extLst>
            <a:ext uri="{909E8E84-426E-40DD-AFC4-6F175D3DCCD1}">
              <a14:hiddenFill xmlns:a14="http://schemas.microsoft.com/office/drawing/2010/main">
                <a:noFill/>
              </a14:hiddenFill>
            </a:ext>
          </a:extLst>
        </p:spPr>
      </p:cxnSp>
      <p:sp>
        <p:nvSpPr>
          <p:cNvPr id="13329" name="Rectangle 19"/>
          <p:cNvSpPr>
            <a:spLocks noChangeArrowheads="1"/>
          </p:cNvSpPr>
          <p:nvPr/>
        </p:nvSpPr>
        <p:spPr bwMode="auto">
          <a:xfrm>
            <a:off x="776288" y="2060575"/>
            <a:ext cx="431800" cy="1871663"/>
          </a:xfrm>
          <a:prstGeom prst="rect">
            <a:avLst/>
          </a:prstGeom>
          <a:noFill/>
          <a:ln w="9525" algn="ctr">
            <a:solidFill>
              <a:srgbClr val="4D4D4D"/>
            </a:solidFill>
            <a:miter lim="800000"/>
            <a:headEnd/>
            <a:tailEnd/>
          </a:ln>
          <a:extLst>
            <a:ext uri="{909E8E84-426E-40DD-AFC4-6F175D3DCCD1}">
              <a14:hiddenFill xmlns:a14="http://schemas.microsoft.com/office/drawing/2010/main">
                <a:solidFill>
                  <a:srgbClr val="FFFFFF"/>
                </a:solidFill>
              </a14:hiddenFill>
            </a:ext>
          </a:extLst>
        </p:spPr>
        <p:txBody>
          <a:bodyPr vert="vert270"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latin typeface="Arial" pitchFamily="34" charset="0"/>
                <a:ea typeface="맑은 고딕" pitchFamily="50" charset="-127"/>
                <a:cs typeface="Arial" pitchFamily="34" charset="0"/>
              </a:rPr>
              <a:t>Điều</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kiện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tiên</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quyết</a:t>
            </a:r>
            <a:endParaRPr lang="ko-KR" altLang="en-US" sz="1200" b="1" dirty="0">
              <a:latin typeface="Arial" pitchFamily="34" charset="0"/>
              <a:ea typeface="맑은 고딕" pitchFamily="50" charset="-127"/>
              <a:cs typeface="Arial" pitchFamily="34" charset="0"/>
            </a:endParaRPr>
          </a:p>
        </p:txBody>
      </p:sp>
      <p:sp>
        <p:nvSpPr>
          <p:cNvPr id="13330" name="Rectangle 20"/>
          <p:cNvSpPr>
            <a:spLocks noChangeArrowheads="1"/>
          </p:cNvSpPr>
          <p:nvPr/>
        </p:nvSpPr>
        <p:spPr bwMode="auto">
          <a:xfrm>
            <a:off x="776288" y="4403725"/>
            <a:ext cx="431800" cy="1616075"/>
          </a:xfrm>
          <a:prstGeom prst="rect">
            <a:avLst/>
          </a:prstGeom>
          <a:noFill/>
          <a:ln w="9525" algn="ctr">
            <a:solidFill>
              <a:srgbClr val="4D4D4D"/>
            </a:solidFill>
            <a:miter lim="800000"/>
            <a:headEnd/>
            <a:tailEnd/>
          </a:ln>
          <a:extLst>
            <a:ext uri="{909E8E84-426E-40DD-AFC4-6F175D3DCCD1}">
              <a14:hiddenFill xmlns:a14="http://schemas.microsoft.com/office/drawing/2010/main">
                <a:solidFill>
                  <a:srgbClr val="FFFFFF"/>
                </a:solidFill>
              </a14:hiddenFill>
            </a:ext>
          </a:extLst>
        </p:spPr>
        <p:txBody>
          <a:bodyPr vert="vert270"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latin typeface="Arial" pitchFamily="34" charset="0"/>
                <a:ea typeface="맑은 고딕" pitchFamily="50" charset="-127"/>
                <a:cs typeface="Arial" pitchFamily="34" charset="0"/>
              </a:rPr>
              <a:t>Mục</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kiểm</a:t>
            </a:r>
            <a:r>
              <a:rPr lang="en-US" altLang="ko-KR" sz="1200" b="1" dirty="0">
                <a:latin typeface="Arial" pitchFamily="34" charset="0"/>
                <a:ea typeface="맑은 고딕" pitchFamily="50" charset="-127"/>
                <a:cs typeface="Arial" pitchFamily="34" charset="0"/>
              </a:rPr>
              <a:t> </a:t>
            </a:r>
            <a:r>
              <a:rPr lang="en-US" altLang="ko-KR" sz="1200" b="1" dirty="0" err="1">
                <a:latin typeface="Arial" pitchFamily="34" charset="0"/>
                <a:ea typeface="맑은 고딕" pitchFamily="50" charset="-127"/>
                <a:cs typeface="Arial" pitchFamily="34" charset="0"/>
              </a:rPr>
              <a:t>định</a:t>
            </a:r>
            <a:endParaRPr lang="ko-KR" altLang="en-US" sz="1200" b="1" dirty="0">
              <a:latin typeface="Arial" pitchFamily="34" charset="0"/>
              <a:ea typeface="맑은 고딕" pitchFamily="50" charset="-127"/>
              <a:cs typeface="Arial" pitchFamily="34" charset="0"/>
            </a:endParaRPr>
          </a:p>
        </p:txBody>
      </p:sp>
      <p:cxnSp>
        <p:nvCxnSpPr>
          <p:cNvPr id="13331" name="AutoShape 21"/>
          <p:cNvCxnSpPr>
            <a:cxnSpLocks noChangeShapeType="1"/>
            <a:stCxn id="13329" idx="2"/>
            <a:endCxn id="13330" idx="0"/>
          </p:cNvCxnSpPr>
          <p:nvPr/>
        </p:nvCxnSpPr>
        <p:spPr bwMode="auto">
          <a:xfrm rot="5400000">
            <a:off x="756444" y="4167982"/>
            <a:ext cx="471487" cy="0"/>
          </a:xfrm>
          <a:prstGeom prst="straightConnector1">
            <a:avLst/>
          </a:prstGeom>
          <a:noFill/>
          <a:ln w="9525">
            <a:solidFill>
              <a:srgbClr val="4D4D4D"/>
            </a:solidFill>
            <a:round/>
            <a:headEnd/>
            <a:tailEnd type="triangle" w="med" len="med"/>
          </a:ln>
          <a:extLst>
            <a:ext uri="{909E8E84-426E-40DD-AFC4-6F175D3DCCD1}">
              <a14:hiddenFill xmlns:a14="http://schemas.microsoft.com/office/drawing/2010/main">
                <a:noFill/>
              </a14:hiddenFill>
            </a:ext>
          </a:extLst>
        </p:spPr>
      </p:cxnSp>
      <p:cxnSp>
        <p:nvCxnSpPr>
          <p:cNvPr id="5" name="꺾인 연결선 4"/>
          <p:cNvCxnSpPr>
            <a:stCxn id="13319" idx="3"/>
            <a:endCxn id="13317" idx="3"/>
          </p:cNvCxnSpPr>
          <p:nvPr/>
        </p:nvCxnSpPr>
        <p:spPr>
          <a:xfrm flipH="1">
            <a:off x="3068638" y="2894400"/>
            <a:ext cx="1308299" cy="425857"/>
          </a:xfrm>
          <a:prstGeom prst="bentConnector3">
            <a:avLst>
              <a:gd name="adj1" fmla="val -17473"/>
            </a:avLst>
          </a:prstGeom>
        </p:spPr>
        <p:style>
          <a:lnRef idx="1">
            <a:schemeClr val="accent1"/>
          </a:lnRef>
          <a:fillRef idx="0">
            <a:schemeClr val="accent1"/>
          </a:fillRef>
          <a:effectRef idx="0">
            <a:schemeClr val="accent1"/>
          </a:effectRef>
          <a:fontRef idx="minor">
            <a:schemeClr val="tx1"/>
          </a:fontRef>
        </p:style>
      </p:cxnSp>
      <p:sp>
        <p:nvSpPr>
          <p:cNvPr id="13333" name="Text Box 7"/>
          <p:cNvSpPr txBox="1">
            <a:spLocks noChangeArrowheads="1"/>
          </p:cNvSpPr>
          <p:nvPr/>
        </p:nvSpPr>
        <p:spPr bwMode="auto">
          <a:xfrm>
            <a:off x="3152775" y="4940300"/>
            <a:ext cx="1189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latin typeface="Arial" pitchFamily="34" charset="0"/>
                <a:cs typeface="Arial" pitchFamily="34" charset="0"/>
              </a:rPr>
              <a:t>Gage </a:t>
            </a:r>
            <a:r>
              <a:rPr lang="en-US" altLang="ko-KR" sz="1200" b="1" dirty="0" err="1">
                <a:latin typeface="Arial" pitchFamily="34" charset="0"/>
                <a:cs typeface="Arial" pitchFamily="34" charset="0"/>
              </a:rPr>
              <a:t>loại</a:t>
            </a:r>
            <a:r>
              <a:rPr lang="en-US" altLang="ko-KR" sz="1200" b="1" dirty="0">
                <a:latin typeface="Arial" pitchFamily="34" charset="0"/>
                <a:cs typeface="Arial" pitchFamily="34" charset="0"/>
              </a:rPr>
              <a:t> 1</a:t>
            </a:r>
            <a:endParaRPr lang="ko-KR" altLang="en-US" sz="1200" b="1" dirty="0">
              <a:latin typeface="Arial" pitchFamily="34" charset="0"/>
              <a:cs typeface="Arial" pitchFamily="34" charset="0"/>
            </a:endParaRPr>
          </a:p>
        </p:txBody>
      </p:sp>
      <p:sp>
        <p:nvSpPr>
          <p:cNvPr id="13334" name="Text Box 8"/>
          <p:cNvSpPr txBox="1">
            <a:spLocks noChangeArrowheads="1"/>
          </p:cNvSpPr>
          <p:nvPr/>
        </p:nvSpPr>
        <p:spPr bwMode="auto">
          <a:xfrm>
            <a:off x="4665663" y="5365750"/>
            <a:ext cx="283845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a:latin typeface="Arial" pitchFamily="34" charset="0"/>
                <a:cs typeface="Arial" pitchFamily="34" charset="0"/>
              </a:rPr>
              <a:t>Gage </a:t>
            </a:r>
            <a:r>
              <a:rPr lang="ko-KR" altLang="en-US" sz="1200" b="1">
                <a:latin typeface="Arial" pitchFamily="34" charset="0"/>
                <a:cs typeface="Arial" pitchFamily="34" charset="0"/>
              </a:rPr>
              <a:t> </a:t>
            </a:r>
            <a:r>
              <a:rPr lang="en-US" altLang="ko-KR" sz="1200" b="1">
                <a:latin typeface="Arial" pitchFamily="34" charset="0"/>
                <a:cs typeface="Arial" pitchFamily="34" charset="0"/>
              </a:rPr>
              <a:t>R&amp;R Study (Crossed/*Nested)</a:t>
            </a:r>
            <a:endParaRPr lang="ko-KR" altLang="en-US" sz="1200" b="1">
              <a:latin typeface="Arial" pitchFamily="34" charset="0"/>
              <a:cs typeface="Arial" pitchFamily="34" charset="0"/>
            </a:endParaRPr>
          </a:p>
        </p:txBody>
      </p:sp>
      <p:cxnSp>
        <p:nvCxnSpPr>
          <p:cNvPr id="60" name="꺾인 연결선 59"/>
          <p:cNvCxnSpPr>
            <a:stCxn id="13333" idx="3"/>
            <a:endCxn id="13326" idx="3"/>
          </p:cNvCxnSpPr>
          <p:nvPr/>
        </p:nvCxnSpPr>
        <p:spPr>
          <a:xfrm flipH="1">
            <a:off x="3052763" y="5078800"/>
            <a:ext cx="1289050" cy="870369"/>
          </a:xfrm>
          <a:prstGeom prst="bentConnector3">
            <a:avLst>
              <a:gd name="adj1" fmla="val -17734"/>
            </a:avLst>
          </a:prstGeom>
        </p:spPr>
        <p:style>
          <a:lnRef idx="1">
            <a:schemeClr val="accent1"/>
          </a:lnRef>
          <a:fillRef idx="0">
            <a:schemeClr val="accent1"/>
          </a:fillRef>
          <a:effectRef idx="0">
            <a:schemeClr val="accent1"/>
          </a:effectRef>
          <a:fontRef idx="minor">
            <a:schemeClr val="tx1"/>
          </a:fontRef>
        </p:style>
      </p:cxnSp>
      <p:grpSp>
        <p:nvGrpSpPr>
          <p:cNvPr id="3" name="Group 5"/>
          <p:cNvGrpSpPr>
            <a:grpSpLocks/>
          </p:cNvGrpSpPr>
          <p:nvPr/>
        </p:nvGrpSpPr>
        <p:grpSpPr bwMode="auto">
          <a:xfrm>
            <a:off x="7400914" y="2224088"/>
            <a:ext cx="2151059" cy="2574925"/>
            <a:chOff x="4683" y="482"/>
            <a:chExt cx="1355" cy="1622"/>
          </a:xfrm>
        </p:grpSpPr>
        <p:sp>
          <p:nvSpPr>
            <p:cNvPr id="13340" name="Text Box 6"/>
            <p:cNvSpPr txBox="1">
              <a:spLocks noChangeArrowheads="1"/>
            </p:cNvSpPr>
            <p:nvPr/>
          </p:nvSpPr>
          <p:spPr bwMode="auto">
            <a:xfrm>
              <a:off x="4683" y="1008"/>
              <a:ext cx="62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Accuracy </a:t>
              </a:r>
              <a:r>
                <a:rPr lang="en-US" altLang="ko-KR" sz="1000" dirty="0" err="1">
                  <a:latin typeface="Arial" pitchFamily="34" charset="0"/>
                  <a:cs typeface="Arial" pitchFamily="34" charset="0"/>
                </a:rPr>
                <a:t>thấp</a:t>
              </a:r>
              <a:endParaRPr lang="en-US" altLang="ko-KR" sz="1000" dirty="0">
                <a:latin typeface="Arial" pitchFamily="34" charset="0"/>
                <a:cs typeface="Arial" pitchFamily="34" charset="0"/>
              </a:endParaRPr>
            </a:p>
            <a:p>
              <a:pPr eaLnBrk="1" hangingPunct="1"/>
              <a:r>
                <a:rPr lang="en-US" altLang="ko-KR" sz="1000" dirty="0">
                  <a:latin typeface="Arial" pitchFamily="34" charset="0"/>
                  <a:cs typeface="Arial" pitchFamily="34" charset="0"/>
                </a:rPr>
                <a:t>Precision </a:t>
              </a:r>
              <a:r>
                <a:rPr lang="en-US" altLang="ko-KR" sz="1000" dirty="0" err="1">
                  <a:latin typeface="Arial" pitchFamily="34" charset="0"/>
                  <a:cs typeface="Arial" pitchFamily="34" charset="0"/>
                </a:rPr>
                <a:t>thấp</a:t>
              </a:r>
              <a:endParaRPr lang="ko-KR" altLang="en-US" sz="1000" dirty="0">
                <a:latin typeface="Arial" pitchFamily="34" charset="0"/>
                <a:cs typeface="Arial" pitchFamily="34" charset="0"/>
              </a:endParaRPr>
            </a:p>
          </p:txBody>
        </p:sp>
        <p:grpSp>
          <p:nvGrpSpPr>
            <p:cNvPr id="4" name="Group 7"/>
            <p:cNvGrpSpPr>
              <a:grpSpLocks/>
            </p:cNvGrpSpPr>
            <p:nvPr/>
          </p:nvGrpSpPr>
          <p:grpSpPr bwMode="auto">
            <a:xfrm>
              <a:off x="4773" y="482"/>
              <a:ext cx="547" cy="525"/>
              <a:chOff x="4796" y="436"/>
              <a:chExt cx="547" cy="525"/>
            </a:xfrm>
          </p:grpSpPr>
          <p:grpSp>
            <p:nvGrpSpPr>
              <p:cNvPr id="6" name="Group 8"/>
              <p:cNvGrpSpPr>
                <a:grpSpLocks/>
              </p:cNvGrpSpPr>
              <p:nvPr/>
            </p:nvGrpSpPr>
            <p:grpSpPr bwMode="auto">
              <a:xfrm>
                <a:off x="4869" y="505"/>
                <a:ext cx="401" cy="388"/>
                <a:chOff x="920" y="2104"/>
                <a:chExt cx="520" cy="520"/>
              </a:xfrm>
            </p:grpSpPr>
            <p:sp>
              <p:nvSpPr>
                <p:cNvPr id="13396" name="Oval 9"/>
                <p:cNvSpPr>
                  <a:spLocks noChangeArrowheads="1"/>
                </p:cNvSpPr>
                <p:nvPr/>
              </p:nvSpPr>
              <p:spPr bwMode="auto">
                <a:xfrm>
                  <a:off x="1104" y="2288"/>
                  <a:ext cx="152" cy="1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97" name="Oval 10"/>
                <p:cNvSpPr>
                  <a:spLocks noChangeArrowheads="1"/>
                </p:cNvSpPr>
                <p:nvPr/>
              </p:nvSpPr>
              <p:spPr bwMode="auto">
                <a:xfrm>
                  <a:off x="1040" y="2224"/>
                  <a:ext cx="280" cy="28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98" name="Oval 11"/>
                <p:cNvSpPr>
                  <a:spLocks noChangeArrowheads="1"/>
                </p:cNvSpPr>
                <p:nvPr/>
              </p:nvSpPr>
              <p:spPr bwMode="auto">
                <a:xfrm>
                  <a:off x="980" y="2164"/>
                  <a:ext cx="400" cy="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99" name="Oval 12"/>
                <p:cNvSpPr>
                  <a:spLocks noChangeArrowheads="1"/>
                </p:cNvSpPr>
                <p:nvPr/>
              </p:nvSpPr>
              <p:spPr bwMode="auto">
                <a:xfrm>
                  <a:off x="920" y="2104"/>
                  <a:ext cx="520" cy="52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sp>
            <p:nvSpPr>
              <p:cNvPr id="13389" name="Rectangle 13"/>
              <p:cNvSpPr>
                <a:spLocks noChangeArrowheads="1"/>
              </p:cNvSpPr>
              <p:nvPr/>
            </p:nvSpPr>
            <p:spPr bwMode="auto">
              <a:xfrm>
                <a:off x="4796" y="436"/>
                <a:ext cx="547" cy="5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90" name="Oval 14"/>
              <p:cNvSpPr>
                <a:spLocks noChangeArrowheads="1"/>
              </p:cNvSpPr>
              <p:nvPr/>
            </p:nvSpPr>
            <p:spPr bwMode="auto">
              <a:xfrm>
                <a:off x="4988" y="536"/>
                <a:ext cx="24"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91" name="Oval 15"/>
              <p:cNvSpPr>
                <a:spLocks noChangeArrowheads="1"/>
              </p:cNvSpPr>
              <p:nvPr/>
            </p:nvSpPr>
            <p:spPr bwMode="auto">
              <a:xfrm>
                <a:off x="4962" y="585"/>
                <a:ext cx="24"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92" name="Oval 16"/>
              <p:cNvSpPr>
                <a:spLocks noChangeArrowheads="1"/>
              </p:cNvSpPr>
              <p:nvPr/>
            </p:nvSpPr>
            <p:spPr bwMode="auto">
              <a:xfrm>
                <a:off x="4885" y="734"/>
                <a:ext cx="26"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93" name="Oval 17"/>
              <p:cNvSpPr>
                <a:spLocks noChangeArrowheads="1"/>
              </p:cNvSpPr>
              <p:nvPr/>
            </p:nvSpPr>
            <p:spPr bwMode="auto">
              <a:xfrm>
                <a:off x="5065" y="784"/>
                <a:ext cx="25"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94" name="Oval 18"/>
              <p:cNvSpPr>
                <a:spLocks noChangeArrowheads="1"/>
              </p:cNvSpPr>
              <p:nvPr/>
            </p:nvSpPr>
            <p:spPr bwMode="auto">
              <a:xfrm>
                <a:off x="5193" y="808"/>
                <a:ext cx="25"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95" name="Oval 19"/>
              <p:cNvSpPr>
                <a:spLocks noChangeArrowheads="1"/>
              </p:cNvSpPr>
              <p:nvPr/>
            </p:nvSpPr>
            <p:spPr bwMode="auto">
              <a:xfrm>
                <a:off x="5193" y="610"/>
                <a:ext cx="25"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grpSp>
        <p:sp>
          <p:nvSpPr>
            <p:cNvPr id="13342" name="Text Box 20"/>
            <p:cNvSpPr txBox="1">
              <a:spLocks noChangeArrowheads="1"/>
            </p:cNvSpPr>
            <p:nvPr/>
          </p:nvSpPr>
          <p:spPr bwMode="auto">
            <a:xfrm>
              <a:off x="5413" y="1008"/>
              <a:ext cx="62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Precision </a:t>
              </a:r>
              <a:r>
                <a:rPr lang="en-US" altLang="ko-KR" sz="1000" dirty="0" err="1">
                  <a:latin typeface="Arial" pitchFamily="34" charset="0"/>
                  <a:cs typeface="Arial" pitchFamily="34" charset="0"/>
                </a:rPr>
                <a:t>thấp</a:t>
              </a:r>
              <a:endParaRPr lang="en-US" altLang="ko-KR" sz="1000" dirty="0">
                <a:latin typeface="Arial" pitchFamily="34" charset="0"/>
                <a:cs typeface="Arial" pitchFamily="34" charset="0"/>
              </a:endParaRPr>
            </a:p>
            <a:p>
              <a:pPr eaLnBrk="1" hangingPunct="1"/>
              <a:r>
                <a:rPr lang="en-US" altLang="ko-KR" sz="1000" dirty="0">
                  <a:latin typeface="Arial" pitchFamily="34" charset="0"/>
                  <a:cs typeface="Arial" pitchFamily="34" charset="0"/>
                </a:rPr>
                <a:t>Accuracy </a:t>
              </a:r>
              <a:r>
                <a:rPr lang="en-US" altLang="ko-KR" sz="1000" dirty="0" err="1">
                  <a:latin typeface="Arial" pitchFamily="34" charset="0"/>
                  <a:cs typeface="Arial" pitchFamily="34" charset="0"/>
                </a:rPr>
                <a:t>cao</a:t>
              </a:r>
              <a:endParaRPr lang="ko-KR" altLang="en-US" sz="1000" dirty="0">
                <a:latin typeface="Arial" pitchFamily="34" charset="0"/>
                <a:cs typeface="Arial" pitchFamily="34" charset="0"/>
              </a:endParaRPr>
            </a:p>
          </p:txBody>
        </p:sp>
        <p:sp>
          <p:nvSpPr>
            <p:cNvPr id="13343" name="Text Box 21"/>
            <p:cNvSpPr txBox="1">
              <a:spLocks noChangeArrowheads="1"/>
            </p:cNvSpPr>
            <p:nvPr/>
          </p:nvSpPr>
          <p:spPr bwMode="auto">
            <a:xfrm>
              <a:off x="4683" y="1852"/>
              <a:ext cx="62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Precision </a:t>
              </a:r>
              <a:r>
                <a:rPr lang="en-US" altLang="ko-KR" sz="1000" dirty="0" err="1">
                  <a:latin typeface="Arial" pitchFamily="34" charset="0"/>
                  <a:cs typeface="Arial" pitchFamily="34" charset="0"/>
                </a:rPr>
                <a:t>cao</a:t>
              </a:r>
              <a:endParaRPr lang="en-US" altLang="ko-KR" sz="1000" dirty="0">
                <a:latin typeface="Arial" pitchFamily="34" charset="0"/>
                <a:cs typeface="Arial" pitchFamily="34" charset="0"/>
              </a:endParaRPr>
            </a:p>
            <a:p>
              <a:pPr eaLnBrk="1" hangingPunct="1"/>
              <a:r>
                <a:rPr lang="en-US" altLang="ko-KR" sz="1000" dirty="0">
                  <a:latin typeface="Arial" pitchFamily="34" charset="0"/>
                  <a:cs typeface="Arial" pitchFamily="34" charset="0"/>
                </a:rPr>
                <a:t>Accuracy </a:t>
              </a:r>
              <a:r>
                <a:rPr lang="en-US" altLang="ko-KR" sz="1000" dirty="0" err="1">
                  <a:latin typeface="Arial" pitchFamily="34" charset="0"/>
                  <a:cs typeface="Arial" pitchFamily="34" charset="0"/>
                </a:rPr>
                <a:t>thấp</a:t>
              </a:r>
              <a:endParaRPr lang="ko-KR" altLang="en-US" sz="1000" dirty="0">
                <a:latin typeface="Arial" pitchFamily="34" charset="0"/>
                <a:cs typeface="Arial" pitchFamily="34" charset="0"/>
              </a:endParaRPr>
            </a:p>
          </p:txBody>
        </p:sp>
        <p:sp>
          <p:nvSpPr>
            <p:cNvPr id="13344" name="Text Box 22"/>
            <p:cNvSpPr txBox="1">
              <a:spLocks noChangeArrowheads="1"/>
            </p:cNvSpPr>
            <p:nvPr/>
          </p:nvSpPr>
          <p:spPr bwMode="auto">
            <a:xfrm>
              <a:off x="5414" y="1852"/>
              <a:ext cx="59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Arial" pitchFamily="34" charset="0"/>
                  <a:cs typeface="Arial" pitchFamily="34" charset="0"/>
                </a:rPr>
                <a:t>Accuracy </a:t>
              </a:r>
              <a:r>
                <a:rPr lang="en-US" altLang="ko-KR" sz="1000" dirty="0" err="1">
                  <a:latin typeface="Arial" pitchFamily="34" charset="0"/>
                  <a:cs typeface="Arial" pitchFamily="34" charset="0"/>
                </a:rPr>
                <a:t>cao</a:t>
              </a:r>
              <a:endParaRPr lang="en-US" altLang="ko-KR" sz="1000" dirty="0">
                <a:latin typeface="Arial" pitchFamily="34" charset="0"/>
                <a:cs typeface="Arial" pitchFamily="34" charset="0"/>
              </a:endParaRPr>
            </a:p>
            <a:p>
              <a:pPr eaLnBrk="1" hangingPunct="1"/>
              <a:r>
                <a:rPr lang="en-US" altLang="ko-KR" sz="1000" dirty="0">
                  <a:latin typeface="Arial" pitchFamily="34" charset="0"/>
                  <a:cs typeface="Arial" pitchFamily="34" charset="0"/>
                </a:rPr>
                <a:t>Precision </a:t>
              </a:r>
              <a:r>
                <a:rPr lang="en-US" altLang="ko-KR" sz="1000" dirty="0" err="1">
                  <a:latin typeface="Arial" pitchFamily="34" charset="0"/>
                  <a:cs typeface="Arial" pitchFamily="34" charset="0"/>
                </a:rPr>
                <a:t>cao</a:t>
              </a:r>
              <a:endParaRPr lang="ko-KR" altLang="en-US" sz="1000" dirty="0">
                <a:latin typeface="Arial" pitchFamily="34" charset="0"/>
                <a:cs typeface="Arial" pitchFamily="34" charset="0"/>
              </a:endParaRPr>
            </a:p>
          </p:txBody>
        </p:sp>
        <p:grpSp>
          <p:nvGrpSpPr>
            <p:cNvPr id="7" name="Group 23"/>
            <p:cNvGrpSpPr>
              <a:grpSpLocks/>
            </p:cNvGrpSpPr>
            <p:nvPr/>
          </p:nvGrpSpPr>
          <p:grpSpPr bwMode="auto">
            <a:xfrm>
              <a:off x="5438" y="482"/>
              <a:ext cx="547" cy="525"/>
              <a:chOff x="5447" y="436"/>
              <a:chExt cx="547" cy="525"/>
            </a:xfrm>
          </p:grpSpPr>
          <p:sp>
            <p:nvSpPr>
              <p:cNvPr id="13374" name="Oval 24"/>
              <p:cNvSpPr>
                <a:spLocks noChangeArrowheads="1"/>
              </p:cNvSpPr>
              <p:nvPr/>
            </p:nvSpPr>
            <p:spPr bwMode="auto">
              <a:xfrm>
                <a:off x="5666" y="555"/>
                <a:ext cx="26"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75" name="Oval 25"/>
              <p:cNvSpPr>
                <a:spLocks noChangeArrowheads="1"/>
              </p:cNvSpPr>
              <p:nvPr/>
            </p:nvSpPr>
            <p:spPr bwMode="auto">
              <a:xfrm>
                <a:off x="5707" y="684"/>
                <a:ext cx="26" cy="26"/>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76" name="Oval 26"/>
              <p:cNvSpPr>
                <a:spLocks noChangeArrowheads="1"/>
              </p:cNvSpPr>
              <p:nvPr/>
            </p:nvSpPr>
            <p:spPr bwMode="auto">
              <a:xfrm>
                <a:off x="5719" y="603"/>
                <a:ext cx="26"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77" name="Oval 27"/>
              <p:cNvSpPr>
                <a:spLocks noChangeArrowheads="1"/>
              </p:cNvSpPr>
              <p:nvPr/>
            </p:nvSpPr>
            <p:spPr bwMode="auto">
              <a:xfrm>
                <a:off x="5782" y="737"/>
                <a:ext cx="25"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78" name="Oval 28"/>
              <p:cNvSpPr>
                <a:spLocks noChangeArrowheads="1"/>
              </p:cNvSpPr>
              <p:nvPr/>
            </p:nvSpPr>
            <p:spPr bwMode="auto">
              <a:xfrm>
                <a:off x="5844" y="710"/>
                <a:ext cx="25" cy="26"/>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79" name="Oval 29"/>
              <p:cNvSpPr>
                <a:spLocks noChangeArrowheads="1"/>
              </p:cNvSpPr>
              <p:nvPr/>
            </p:nvSpPr>
            <p:spPr bwMode="auto">
              <a:xfrm>
                <a:off x="5746" y="852"/>
                <a:ext cx="25"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80" name="Oval 30"/>
              <p:cNvSpPr>
                <a:spLocks noChangeArrowheads="1"/>
              </p:cNvSpPr>
              <p:nvPr/>
            </p:nvSpPr>
            <p:spPr bwMode="auto">
              <a:xfrm>
                <a:off x="5648" y="728"/>
                <a:ext cx="26"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81" name="Oval 31"/>
              <p:cNvSpPr>
                <a:spLocks noChangeArrowheads="1"/>
              </p:cNvSpPr>
              <p:nvPr/>
            </p:nvSpPr>
            <p:spPr bwMode="auto">
              <a:xfrm>
                <a:off x="5579" y="659"/>
                <a:ext cx="26"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82" name="Rectangle 32"/>
              <p:cNvSpPr>
                <a:spLocks noChangeArrowheads="1"/>
              </p:cNvSpPr>
              <p:nvPr/>
            </p:nvSpPr>
            <p:spPr bwMode="auto">
              <a:xfrm>
                <a:off x="5447" y="436"/>
                <a:ext cx="547" cy="5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nvGrpSpPr>
              <p:cNvPr id="8" name="Group 33"/>
              <p:cNvGrpSpPr>
                <a:grpSpLocks/>
              </p:cNvGrpSpPr>
              <p:nvPr/>
            </p:nvGrpSpPr>
            <p:grpSpPr bwMode="auto">
              <a:xfrm>
                <a:off x="5520" y="504"/>
                <a:ext cx="401" cy="388"/>
                <a:chOff x="920" y="2104"/>
                <a:chExt cx="520" cy="520"/>
              </a:xfrm>
            </p:grpSpPr>
            <p:sp>
              <p:nvSpPr>
                <p:cNvPr id="13384" name="Oval 34"/>
                <p:cNvSpPr>
                  <a:spLocks noChangeArrowheads="1"/>
                </p:cNvSpPr>
                <p:nvPr/>
              </p:nvSpPr>
              <p:spPr bwMode="auto">
                <a:xfrm>
                  <a:off x="1104" y="2288"/>
                  <a:ext cx="152" cy="1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85" name="Oval 35"/>
                <p:cNvSpPr>
                  <a:spLocks noChangeArrowheads="1"/>
                </p:cNvSpPr>
                <p:nvPr/>
              </p:nvSpPr>
              <p:spPr bwMode="auto">
                <a:xfrm>
                  <a:off x="1040" y="2224"/>
                  <a:ext cx="280" cy="28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86" name="Oval 36"/>
                <p:cNvSpPr>
                  <a:spLocks noChangeArrowheads="1"/>
                </p:cNvSpPr>
                <p:nvPr/>
              </p:nvSpPr>
              <p:spPr bwMode="auto">
                <a:xfrm>
                  <a:off x="980" y="2164"/>
                  <a:ext cx="400" cy="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87" name="Oval 37"/>
                <p:cNvSpPr>
                  <a:spLocks noChangeArrowheads="1"/>
                </p:cNvSpPr>
                <p:nvPr/>
              </p:nvSpPr>
              <p:spPr bwMode="auto">
                <a:xfrm>
                  <a:off x="920" y="2104"/>
                  <a:ext cx="520" cy="52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grpSp>
        <p:grpSp>
          <p:nvGrpSpPr>
            <p:cNvPr id="9" name="Group 38"/>
            <p:cNvGrpSpPr>
              <a:grpSpLocks/>
            </p:cNvGrpSpPr>
            <p:nvPr/>
          </p:nvGrpSpPr>
          <p:grpSpPr bwMode="auto">
            <a:xfrm>
              <a:off x="4773" y="1323"/>
              <a:ext cx="547" cy="525"/>
              <a:chOff x="4796" y="1998"/>
              <a:chExt cx="547" cy="525"/>
            </a:xfrm>
          </p:grpSpPr>
          <p:sp>
            <p:nvSpPr>
              <p:cNvPr id="13361" name="Oval 39"/>
              <p:cNvSpPr>
                <a:spLocks noChangeArrowheads="1"/>
              </p:cNvSpPr>
              <p:nvPr/>
            </p:nvSpPr>
            <p:spPr bwMode="auto">
              <a:xfrm>
                <a:off x="4920" y="2115"/>
                <a:ext cx="49"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62" name="Oval 40"/>
              <p:cNvSpPr>
                <a:spLocks noChangeArrowheads="1"/>
              </p:cNvSpPr>
              <p:nvPr/>
            </p:nvSpPr>
            <p:spPr bwMode="auto">
              <a:xfrm>
                <a:off x="4952" y="2115"/>
                <a:ext cx="49"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63" name="Oval 41"/>
              <p:cNvSpPr>
                <a:spLocks noChangeArrowheads="1"/>
              </p:cNvSpPr>
              <p:nvPr/>
            </p:nvSpPr>
            <p:spPr bwMode="auto">
              <a:xfrm>
                <a:off x="4917" y="2141"/>
                <a:ext cx="49"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64" name="Oval 42"/>
              <p:cNvSpPr>
                <a:spLocks noChangeArrowheads="1"/>
              </p:cNvSpPr>
              <p:nvPr/>
            </p:nvSpPr>
            <p:spPr bwMode="auto">
              <a:xfrm>
                <a:off x="4938" y="2137"/>
                <a:ext cx="49"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65" name="Oval 43"/>
              <p:cNvSpPr>
                <a:spLocks noChangeArrowheads="1"/>
              </p:cNvSpPr>
              <p:nvPr/>
            </p:nvSpPr>
            <p:spPr bwMode="auto">
              <a:xfrm>
                <a:off x="4963" y="2137"/>
                <a:ext cx="49"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66" name="Oval 44"/>
              <p:cNvSpPr>
                <a:spLocks noChangeArrowheads="1"/>
              </p:cNvSpPr>
              <p:nvPr/>
            </p:nvSpPr>
            <p:spPr bwMode="auto">
              <a:xfrm>
                <a:off x="4931" y="2162"/>
                <a:ext cx="49"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67" name="Oval 45"/>
              <p:cNvSpPr>
                <a:spLocks noChangeArrowheads="1"/>
              </p:cNvSpPr>
              <p:nvPr/>
            </p:nvSpPr>
            <p:spPr bwMode="auto">
              <a:xfrm>
                <a:off x="4958" y="2165"/>
                <a:ext cx="49"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68" name="Rectangle 46"/>
              <p:cNvSpPr>
                <a:spLocks noChangeArrowheads="1"/>
              </p:cNvSpPr>
              <p:nvPr/>
            </p:nvSpPr>
            <p:spPr bwMode="auto">
              <a:xfrm>
                <a:off x="4796" y="1998"/>
                <a:ext cx="547" cy="5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nvGrpSpPr>
              <p:cNvPr id="10" name="Group 47"/>
              <p:cNvGrpSpPr>
                <a:grpSpLocks/>
              </p:cNvGrpSpPr>
              <p:nvPr/>
            </p:nvGrpSpPr>
            <p:grpSpPr bwMode="auto">
              <a:xfrm>
                <a:off x="4869" y="2067"/>
                <a:ext cx="401" cy="388"/>
                <a:chOff x="920" y="2104"/>
                <a:chExt cx="520" cy="520"/>
              </a:xfrm>
            </p:grpSpPr>
            <p:sp>
              <p:nvSpPr>
                <p:cNvPr id="13370" name="Oval 48"/>
                <p:cNvSpPr>
                  <a:spLocks noChangeArrowheads="1"/>
                </p:cNvSpPr>
                <p:nvPr/>
              </p:nvSpPr>
              <p:spPr bwMode="auto">
                <a:xfrm>
                  <a:off x="1104" y="2288"/>
                  <a:ext cx="152" cy="1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71" name="Oval 49"/>
                <p:cNvSpPr>
                  <a:spLocks noChangeArrowheads="1"/>
                </p:cNvSpPr>
                <p:nvPr/>
              </p:nvSpPr>
              <p:spPr bwMode="auto">
                <a:xfrm>
                  <a:off x="1040" y="2224"/>
                  <a:ext cx="280" cy="28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72" name="Oval 50"/>
                <p:cNvSpPr>
                  <a:spLocks noChangeArrowheads="1"/>
                </p:cNvSpPr>
                <p:nvPr/>
              </p:nvSpPr>
              <p:spPr bwMode="auto">
                <a:xfrm>
                  <a:off x="980" y="2164"/>
                  <a:ext cx="400" cy="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73" name="Oval 51"/>
                <p:cNvSpPr>
                  <a:spLocks noChangeArrowheads="1"/>
                </p:cNvSpPr>
                <p:nvPr/>
              </p:nvSpPr>
              <p:spPr bwMode="auto">
                <a:xfrm>
                  <a:off x="920" y="2104"/>
                  <a:ext cx="520" cy="52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grpSp>
        <p:grpSp>
          <p:nvGrpSpPr>
            <p:cNvPr id="11" name="Group 52"/>
            <p:cNvGrpSpPr>
              <a:grpSpLocks/>
            </p:cNvGrpSpPr>
            <p:nvPr/>
          </p:nvGrpSpPr>
          <p:grpSpPr bwMode="auto">
            <a:xfrm>
              <a:off x="5438" y="1323"/>
              <a:ext cx="547" cy="525"/>
              <a:chOff x="4798" y="2750"/>
              <a:chExt cx="547" cy="525"/>
            </a:xfrm>
          </p:grpSpPr>
          <p:sp>
            <p:nvSpPr>
              <p:cNvPr id="13348" name="Oval 53"/>
              <p:cNvSpPr>
                <a:spLocks noChangeArrowheads="1"/>
              </p:cNvSpPr>
              <p:nvPr/>
            </p:nvSpPr>
            <p:spPr bwMode="auto">
              <a:xfrm>
                <a:off x="5034" y="2982"/>
                <a:ext cx="26"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49" name="Oval 54"/>
              <p:cNvSpPr>
                <a:spLocks noChangeArrowheads="1"/>
              </p:cNvSpPr>
              <p:nvPr/>
            </p:nvSpPr>
            <p:spPr bwMode="auto">
              <a:xfrm>
                <a:off x="5075" y="2982"/>
                <a:ext cx="24" cy="24"/>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50" name="Oval 55"/>
              <p:cNvSpPr>
                <a:spLocks noChangeArrowheads="1"/>
              </p:cNvSpPr>
              <p:nvPr/>
            </p:nvSpPr>
            <p:spPr bwMode="auto">
              <a:xfrm>
                <a:off x="5030" y="3007"/>
                <a:ext cx="25"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51" name="Oval 56"/>
              <p:cNvSpPr>
                <a:spLocks noChangeArrowheads="1"/>
              </p:cNvSpPr>
              <p:nvPr/>
            </p:nvSpPr>
            <p:spPr bwMode="auto">
              <a:xfrm>
                <a:off x="5057" y="3003"/>
                <a:ext cx="25"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52" name="Oval 57"/>
              <p:cNvSpPr>
                <a:spLocks noChangeArrowheads="1"/>
              </p:cNvSpPr>
              <p:nvPr/>
            </p:nvSpPr>
            <p:spPr bwMode="auto">
              <a:xfrm>
                <a:off x="5088" y="3003"/>
                <a:ext cx="26"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53" name="Oval 58"/>
              <p:cNvSpPr>
                <a:spLocks noChangeArrowheads="1"/>
              </p:cNvSpPr>
              <p:nvPr/>
            </p:nvSpPr>
            <p:spPr bwMode="auto">
              <a:xfrm>
                <a:off x="5048" y="3028"/>
                <a:ext cx="26"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54" name="Oval 59"/>
              <p:cNvSpPr>
                <a:spLocks noChangeArrowheads="1"/>
              </p:cNvSpPr>
              <p:nvPr/>
            </p:nvSpPr>
            <p:spPr bwMode="auto">
              <a:xfrm>
                <a:off x="5082" y="3032"/>
                <a:ext cx="27" cy="25"/>
              </a:xfrm>
              <a:prstGeom prst="ellipse">
                <a:avLst/>
              </a:pr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ko-KR" sz="1000">
                  <a:solidFill>
                    <a:srgbClr val="CC0000"/>
                  </a:solidFill>
                  <a:latin typeface="Arial" pitchFamily="34" charset="0"/>
                  <a:cs typeface="Arial" pitchFamily="34" charset="0"/>
                </a:endParaRPr>
              </a:p>
            </p:txBody>
          </p:sp>
          <p:sp>
            <p:nvSpPr>
              <p:cNvPr id="13355" name="Rectangle 60"/>
              <p:cNvSpPr>
                <a:spLocks noChangeArrowheads="1"/>
              </p:cNvSpPr>
              <p:nvPr/>
            </p:nvSpPr>
            <p:spPr bwMode="auto">
              <a:xfrm>
                <a:off x="4798" y="2750"/>
                <a:ext cx="547" cy="5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nvGrpSpPr>
              <p:cNvPr id="12" name="Group 61"/>
              <p:cNvGrpSpPr>
                <a:grpSpLocks/>
              </p:cNvGrpSpPr>
              <p:nvPr/>
            </p:nvGrpSpPr>
            <p:grpSpPr bwMode="auto">
              <a:xfrm>
                <a:off x="4871" y="2819"/>
                <a:ext cx="401" cy="388"/>
                <a:chOff x="920" y="2104"/>
                <a:chExt cx="520" cy="520"/>
              </a:xfrm>
            </p:grpSpPr>
            <p:sp>
              <p:nvSpPr>
                <p:cNvPr id="13357" name="Oval 62"/>
                <p:cNvSpPr>
                  <a:spLocks noChangeArrowheads="1"/>
                </p:cNvSpPr>
                <p:nvPr/>
              </p:nvSpPr>
              <p:spPr bwMode="auto">
                <a:xfrm>
                  <a:off x="1104" y="2288"/>
                  <a:ext cx="152" cy="1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58" name="Oval 63"/>
                <p:cNvSpPr>
                  <a:spLocks noChangeArrowheads="1"/>
                </p:cNvSpPr>
                <p:nvPr/>
              </p:nvSpPr>
              <p:spPr bwMode="auto">
                <a:xfrm>
                  <a:off x="1040" y="2224"/>
                  <a:ext cx="280" cy="28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59" name="Oval 64"/>
                <p:cNvSpPr>
                  <a:spLocks noChangeArrowheads="1"/>
                </p:cNvSpPr>
                <p:nvPr/>
              </p:nvSpPr>
              <p:spPr bwMode="auto">
                <a:xfrm>
                  <a:off x="980" y="2164"/>
                  <a:ext cx="400" cy="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sp>
              <p:nvSpPr>
                <p:cNvPr id="13360" name="Oval 65"/>
                <p:cNvSpPr>
                  <a:spLocks noChangeArrowheads="1"/>
                </p:cNvSpPr>
                <p:nvPr/>
              </p:nvSpPr>
              <p:spPr bwMode="auto">
                <a:xfrm>
                  <a:off x="920" y="2104"/>
                  <a:ext cx="520" cy="52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a:latin typeface="Arial" pitchFamily="34" charset="0"/>
                    <a:cs typeface="Arial" pitchFamily="34" charset="0"/>
                  </a:endParaRPr>
                </a:p>
              </p:txBody>
            </p:sp>
          </p:grpSp>
        </p:grpSp>
      </p:grpSp>
      <p:sp>
        <p:nvSpPr>
          <p:cNvPr id="89" name="제목 8"/>
          <p:cNvSpPr txBox="1">
            <a:spLocks/>
          </p:cNvSpPr>
          <p:nvPr/>
        </p:nvSpPr>
        <p:spPr bwMode="auto">
          <a:xfrm>
            <a:off x="195263" y="188913"/>
            <a:ext cx="8027558"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3.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Trình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tự</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tiến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Diễn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giải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kết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quả</a:t>
            </a:r>
            <a:endParaRPr lang="ko-KR" altLang="en-US" sz="2000" b="1" kern="0" dirty="0">
              <a:solidFill>
                <a:srgbClr val="000000"/>
              </a:solidFill>
              <a:latin typeface="Arial" pitchFamily="34" charset="0"/>
              <a:ea typeface="맑은 고딕"/>
              <a:cs typeface="Arial" pitchFamily="34" charset="0"/>
            </a:endParaRPr>
          </a:p>
        </p:txBody>
      </p:sp>
      <p:sp>
        <p:nvSpPr>
          <p:cNvPr id="90" name="제목 8"/>
          <p:cNvSpPr txBox="1">
            <a:spLocks/>
          </p:cNvSpPr>
          <p:nvPr/>
        </p:nvSpPr>
        <p:spPr bwMode="auto">
          <a:xfrm>
            <a:off x="6681192" y="260350"/>
            <a:ext cx="3096221" cy="488950"/>
          </a:xfrm>
          <a:prstGeom prst="rect">
            <a:avLst/>
          </a:prstGeom>
          <a:noFill/>
          <a:ln>
            <a:miter lim="800000"/>
            <a:headEnd/>
            <a:tailEnd/>
          </a:ln>
        </p:spPr>
        <p:txBody>
          <a:bodyPr anchor="ctr"/>
          <a:lstStyle/>
          <a:p>
            <a:pPr algn="r">
              <a:defRPr/>
            </a:pPr>
            <a:r>
              <a:rPr lang="en-US" altLang="ko-KR" sz="1600" b="1" kern="0" dirty="0" err="1">
                <a:solidFill>
                  <a:srgbClr val="000000"/>
                </a:solidFill>
                <a:latin typeface="Arial" pitchFamily="34" charset="0"/>
                <a:ea typeface="맑은 고딕"/>
                <a:cs typeface="Arial" pitchFamily="34" charset="0"/>
              </a:rPr>
              <a:t>Phương</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pháp</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kiểm</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định</a:t>
            </a:r>
            <a:endParaRPr lang="ko-KR" altLang="en-US" sz="1600" b="1" kern="0" dirty="0">
              <a:solidFill>
                <a:srgbClr val="000000"/>
              </a:solidFill>
              <a:latin typeface="Arial" pitchFamily="34" charset="0"/>
              <a:ea typeface="맑은 고딕"/>
              <a:cs typeface="Arial" pitchFamily="34" charset="0"/>
            </a:endParaRPr>
          </a:p>
        </p:txBody>
      </p:sp>
      <p:sp>
        <p:nvSpPr>
          <p:cNvPr id="91" name="TextBox 37"/>
          <p:cNvSpPr txBox="1">
            <a:spLocks noChangeArrowheads="1"/>
          </p:cNvSpPr>
          <p:nvPr/>
        </p:nvSpPr>
        <p:spPr bwMode="auto">
          <a:xfrm>
            <a:off x="488951" y="908050"/>
            <a:ext cx="8928546"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74625" indent="-174625" eaLnBrk="0" hangingPunct="0">
              <a:spcBef>
                <a:spcPct val="20000"/>
              </a:spcBef>
              <a:buFont typeface="Arial" pitchFamily="34" charset="0"/>
              <a:buChar char="•"/>
              <a:defRPr sz="2400">
                <a:solidFill>
                  <a:srgbClr val="7F7F7F"/>
                </a:solidFill>
                <a:latin typeface="Century Gothic" pitchFamily="34" charset="0"/>
                <a:ea typeface="맑은 고딕" pitchFamily="50" charset="-127"/>
              </a:defRPr>
            </a:lvl1pPr>
            <a:lvl2pPr marL="742950" indent="-285750" eaLnBrk="0" hangingPunct="0">
              <a:spcBef>
                <a:spcPct val="20000"/>
              </a:spcBef>
              <a:buFont typeface="Courier New" pitchFamily="49" charset="0"/>
              <a:buChar char="o"/>
              <a:defRPr sz="1600">
                <a:solidFill>
                  <a:srgbClr val="7F7F7F"/>
                </a:solidFill>
                <a:latin typeface="Century Gothic" pitchFamily="34" charset="0"/>
                <a:ea typeface="맑은 고딕" pitchFamily="50" charset="-127"/>
              </a:defRPr>
            </a:lvl2pPr>
            <a:lvl3pPr marL="1143000" indent="-228600" eaLnBrk="0" hangingPunct="0">
              <a:spcBef>
                <a:spcPct val="20000"/>
              </a:spcBef>
              <a:buFont typeface="Arial" pitchFamily="34" charset="0"/>
              <a:buChar char="•"/>
              <a:defRPr sz="1600">
                <a:solidFill>
                  <a:srgbClr val="7F7F7F"/>
                </a:solidFill>
                <a:latin typeface="Century Gothic" pitchFamily="34" charset="0"/>
                <a:ea typeface="맑은 고딕" pitchFamily="50" charset="-127"/>
              </a:defRPr>
            </a:lvl3pPr>
            <a:lvl4pPr marL="1600200" indent="-228600" eaLnBrk="0" hangingPunct="0">
              <a:spcBef>
                <a:spcPct val="20000"/>
              </a:spcBef>
              <a:buFont typeface="Courier New" pitchFamily="49" charset="0"/>
              <a:buChar char="o"/>
              <a:defRPr sz="1600">
                <a:solidFill>
                  <a:srgbClr val="7F7F7F"/>
                </a:solidFill>
                <a:latin typeface="Century Gothic" pitchFamily="34" charset="0"/>
                <a:ea typeface="맑은 고딕" pitchFamily="50" charset="-127"/>
              </a:defRPr>
            </a:lvl4pPr>
            <a:lvl5pPr marL="2057400" indent="-228600" eaLnBrk="0" hangingPunct="0">
              <a:spcBef>
                <a:spcPct val="20000"/>
              </a:spcBef>
              <a:buFont typeface="Arial" pitchFamily="34" charset="0"/>
              <a:buChar char="•"/>
              <a:defRPr sz="1600">
                <a:solidFill>
                  <a:srgbClr val="7F7F7F"/>
                </a:solidFill>
                <a:latin typeface="Century Gothic" pitchFamily="34" charset="0"/>
                <a:ea typeface="맑은 고딕" pitchFamily="50" charset="-127"/>
              </a:defRPr>
            </a:lvl5pPr>
            <a:lvl6pPr marL="25146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6pPr>
            <a:lvl7pPr marL="29718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7pPr>
            <a:lvl8pPr marL="34290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8pPr>
            <a:lvl9pPr marL="3886200" indent="-228600" eaLnBrk="0" fontAlgn="base" hangingPunct="0">
              <a:spcBef>
                <a:spcPct val="20000"/>
              </a:spcBef>
              <a:spcAft>
                <a:spcPct val="0"/>
              </a:spcAft>
              <a:buFont typeface="Arial" pitchFamily="34" charset="0"/>
              <a:buChar char="•"/>
              <a:defRPr sz="1600">
                <a:solidFill>
                  <a:srgbClr val="7F7F7F"/>
                </a:solidFill>
                <a:latin typeface="Century Gothic" pitchFamily="34" charset="0"/>
                <a:ea typeface="맑은 고딕" pitchFamily="50" charset="-127"/>
              </a:defRPr>
            </a:lvl9pPr>
          </a:lstStyle>
          <a:p>
            <a:pPr eaLnBrk="1" hangingPunct="1">
              <a:spcBef>
                <a:spcPct val="0"/>
              </a:spcBef>
              <a:buClr>
                <a:schemeClr val="tx1"/>
              </a:buClr>
              <a:buFont typeface="Wingdings" pitchFamily="2" charset="2"/>
              <a:buChar char="u"/>
              <a:defRPr/>
            </a:pPr>
            <a:r>
              <a:rPr lang="ko-KR" altLang="en-US" sz="1800" b="1" dirty="0">
                <a:solidFill>
                  <a:schemeClr val="tx1"/>
                </a:solidFill>
                <a:latin typeface="Arial" pitchFamily="34" charset="0"/>
                <a:cs typeface="Arial" pitchFamily="34" charset="0"/>
              </a:rPr>
              <a:t> </a:t>
            </a:r>
            <a:r>
              <a:rPr lang="en-US" altLang="ko-KR" sz="1800" b="1" dirty="0" err="1">
                <a:solidFill>
                  <a:schemeClr val="tx1"/>
                </a:solidFill>
                <a:latin typeface="Arial" pitchFamily="34" charset="0"/>
                <a:cs typeface="Arial" pitchFamily="34" charset="0"/>
              </a:rPr>
              <a:t>Kiểm</a:t>
            </a:r>
            <a:r>
              <a:rPr lang="en-US" altLang="ko-KR" sz="1800" b="1" dirty="0">
                <a:solidFill>
                  <a:schemeClr val="tx1"/>
                </a:solidFill>
                <a:latin typeface="Arial" pitchFamily="34" charset="0"/>
                <a:cs typeface="Arial" pitchFamily="34" charset="0"/>
              </a:rPr>
              <a:t> </a:t>
            </a:r>
            <a:r>
              <a:rPr lang="en-US" altLang="ko-KR" sz="1800" b="1" dirty="0" err="1">
                <a:solidFill>
                  <a:schemeClr val="tx1"/>
                </a:solidFill>
                <a:latin typeface="Arial" pitchFamily="34" charset="0"/>
                <a:cs typeface="Arial" pitchFamily="34" charset="0"/>
              </a:rPr>
              <a:t>định</a:t>
            </a:r>
            <a:r>
              <a:rPr lang="en-US" altLang="ko-KR" sz="1800" b="1" dirty="0">
                <a:solidFill>
                  <a:schemeClr val="tx1"/>
                </a:solidFill>
                <a:latin typeface="Arial" pitchFamily="34" charset="0"/>
                <a:cs typeface="Arial" pitchFamily="34" charset="0"/>
              </a:rPr>
              <a:t> </a:t>
            </a:r>
            <a:r>
              <a:rPr lang="en-US" altLang="ko-KR" sz="1800" b="1" dirty="0" err="1">
                <a:solidFill>
                  <a:schemeClr val="tx1"/>
                </a:solidFill>
                <a:latin typeface="Arial" pitchFamily="34" charset="0"/>
                <a:cs typeface="Arial" pitchFamily="34" charset="0"/>
              </a:rPr>
              <a:t>sử</a:t>
            </a:r>
            <a:r>
              <a:rPr lang="en-US" altLang="ko-KR" sz="1800" b="1" dirty="0">
                <a:solidFill>
                  <a:schemeClr val="tx1"/>
                </a:solidFill>
                <a:latin typeface="Arial" pitchFamily="34" charset="0"/>
                <a:cs typeface="Arial" pitchFamily="34" charset="0"/>
              </a:rPr>
              <a:t> </a:t>
            </a:r>
            <a:r>
              <a:rPr lang="en-US" altLang="ko-KR" sz="1800" b="1" dirty="0" err="1">
                <a:solidFill>
                  <a:schemeClr val="tx1"/>
                </a:solidFill>
                <a:latin typeface="Arial" pitchFamily="34" charset="0"/>
                <a:cs typeface="Arial" pitchFamily="34" charset="0"/>
              </a:rPr>
              <a:t>dụng</a:t>
            </a:r>
            <a:r>
              <a:rPr lang="en-US" altLang="ko-KR" sz="1800" b="1" dirty="0">
                <a:solidFill>
                  <a:schemeClr val="tx1"/>
                </a:solidFill>
                <a:latin typeface="Arial" pitchFamily="34" charset="0"/>
                <a:cs typeface="Arial" pitchFamily="34" charset="0"/>
              </a:rPr>
              <a:t> </a:t>
            </a:r>
            <a:r>
              <a:rPr lang="en-US" altLang="ko-KR" sz="1800" b="1" dirty="0" err="1">
                <a:solidFill>
                  <a:schemeClr val="tx1"/>
                </a:solidFill>
                <a:latin typeface="Arial" pitchFamily="34" charset="0"/>
                <a:cs typeface="Arial" pitchFamily="34" charset="0"/>
              </a:rPr>
              <a:t>phân</a:t>
            </a:r>
            <a:r>
              <a:rPr lang="en-US" altLang="ko-KR" sz="1800" b="1" dirty="0">
                <a:solidFill>
                  <a:schemeClr val="tx1"/>
                </a:solidFill>
                <a:latin typeface="Arial" pitchFamily="34" charset="0"/>
                <a:cs typeface="Arial" pitchFamily="34" charset="0"/>
              </a:rPr>
              <a:t> </a:t>
            </a:r>
            <a:r>
              <a:rPr lang="en-US" altLang="ko-KR" sz="1800" b="1" dirty="0" err="1">
                <a:solidFill>
                  <a:schemeClr val="tx1"/>
                </a:solidFill>
                <a:latin typeface="Arial" pitchFamily="34" charset="0"/>
                <a:cs typeface="Arial" pitchFamily="34" charset="0"/>
              </a:rPr>
              <a:t>tích</a:t>
            </a:r>
            <a:r>
              <a:rPr lang="en-US" altLang="ko-KR" sz="1800" b="1" dirty="0">
                <a:solidFill>
                  <a:schemeClr val="tx1"/>
                </a:solidFill>
                <a:latin typeface="Arial" pitchFamily="34" charset="0"/>
                <a:cs typeface="Arial" pitchFamily="34" charset="0"/>
              </a:rPr>
              <a:t> </a:t>
            </a:r>
            <a:r>
              <a:rPr lang="en-US" altLang="ko-KR" sz="1800" b="1" dirty="0" err="1">
                <a:solidFill>
                  <a:schemeClr val="tx1"/>
                </a:solidFill>
                <a:latin typeface="Arial" pitchFamily="34" charset="0"/>
                <a:cs typeface="Arial" pitchFamily="34" charset="0"/>
              </a:rPr>
              <a:t>thống</a:t>
            </a:r>
            <a:r>
              <a:rPr lang="en-US" altLang="ko-KR" sz="1800" b="1" dirty="0">
                <a:solidFill>
                  <a:schemeClr val="tx1"/>
                </a:solidFill>
                <a:latin typeface="Arial" pitchFamily="34" charset="0"/>
                <a:cs typeface="Arial" pitchFamily="34" charset="0"/>
              </a:rPr>
              <a:t> </a:t>
            </a:r>
            <a:r>
              <a:rPr lang="en-US" altLang="ko-KR" sz="1800" b="1" dirty="0" err="1">
                <a:solidFill>
                  <a:schemeClr val="tx1"/>
                </a:solidFill>
                <a:latin typeface="Arial" pitchFamily="34" charset="0"/>
                <a:cs typeface="Arial" pitchFamily="34" charset="0"/>
              </a:rPr>
              <a:t>kê</a:t>
            </a:r>
            <a:endParaRPr lang="en-US" altLang="ko-KR" sz="1800" b="1" dirty="0">
              <a:solidFill>
                <a:schemeClr val="tx1"/>
              </a:solidFill>
              <a:latin typeface="Arial" pitchFamily="34" charset="0"/>
              <a:cs typeface="Arial" pitchFamily="34" charset="0"/>
            </a:endParaRPr>
          </a:p>
          <a:p>
            <a:pPr marL="0" indent="0" eaLnBrk="1" hangingPunct="1">
              <a:spcBef>
                <a:spcPct val="0"/>
              </a:spcBef>
              <a:buClr>
                <a:schemeClr val="tx1"/>
              </a:buClr>
              <a:buFont typeface="Arial" pitchFamily="34" charset="0"/>
              <a:buNone/>
              <a:defRPr/>
            </a:pPr>
            <a:r>
              <a:rPr lang="en-US" altLang="ko-KR" sz="2000" dirty="0">
                <a:solidFill>
                  <a:schemeClr val="tx1"/>
                </a:solidFill>
                <a:latin typeface="Arial" pitchFamily="34" charset="0"/>
                <a:cs typeface="Arial" pitchFamily="34" charset="0"/>
              </a:rPr>
              <a:t>   </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Lựa</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chọn</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phương</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pháp</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kiểm</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định</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phù</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hợp</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với</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hệ</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thống</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đo</a:t>
            </a:r>
            <a:r>
              <a:rPr lang="en-US" altLang="ko-KR" sz="1600" dirty="0">
                <a:solidFill>
                  <a:schemeClr val="tx1"/>
                </a:solidFill>
                <a:latin typeface="Arial" pitchFamily="34" charset="0"/>
                <a:cs typeface="Arial" pitchFamily="34" charset="0"/>
              </a:rPr>
              <a:t> </a:t>
            </a:r>
            <a:r>
              <a:rPr lang="en-US" altLang="ko-KR" sz="1600" dirty="0" err="1">
                <a:solidFill>
                  <a:schemeClr val="tx1"/>
                </a:solidFill>
                <a:latin typeface="Arial" pitchFamily="34" charset="0"/>
                <a:cs typeface="Arial" pitchFamily="34" charset="0"/>
              </a:rPr>
              <a:t>lường</a:t>
            </a:r>
            <a:r>
              <a:rPr lang="en-US" altLang="ko-KR" sz="1600" dirty="0">
                <a:solidFill>
                  <a:schemeClr val="tx1"/>
                </a:solidFill>
                <a:latin typeface="Arial" pitchFamily="34" charset="0"/>
                <a:cs typeface="Arial" pitchFamily="34" charset="0"/>
              </a:rPr>
              <a:t>.</a:t>
            </a:r>
            <a:endParaRPr lang="ko-KR" altLang="en-US" sz="1800" dirty="0">
              <a:solidFill>
                <a:schemeClr val="tx1"/>
              </a:solidFill>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192</a:t>
            </a:fld>
            <a:endParaRPr lang="ko-KR" altLang="en-US" dirty="0">
              <a:latin typeface="Arial" pitchFamily="34" charset="0"/>
              <a:cs typeface="Arial" pitchFamily="34" charset="0"/>
            </a:endParaRPr>
          </a:p>
        </p:txBody>
      </p:sp>
      <p:sp>
        <p:nvSpPr>
          <p:cNvPr id="13324" name="Rectangle 12"/>
          <p:cNvSpPr>
            <a:spLocks noChangeArrowheads="1"/>
          </p:cNvSpPr>
          <p:nvPr/>
        </p:nvSpPr>
        <p:spPr bwMode="auto">
          <a:xfrm>
            <a:off x="1336675" y="4397375"/>
            <a:ext cx="1716088" cy="431800"/>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a:solidFill>
                  <a:schemeClr val="bg1"/>
                </a:solidFill>
                <a:latin typeface="Arial" pitchFamily="34" charset="0"/>
                <a:ea typeface="맑은 고딕" pitchFamily="50" charset="-127"/>
                <a:cs typeface="Arial" pitchFamily="34" charset="0"/>
              </a:rPr>
              <a:t>Precision</a:t>
            </a:r>
          </a:p>
        </p:txBody>
      </p:sp>
    </p:spTree>
    <p:extLst>
      <p:ext uri="{BB962C8B-B14F-4D97-AF65-F5344CB8AC3E}">
        <p14:creationId xmlns:p14="http://schemas.microsoft.com/office/powerpoint/2010/main" val="315475394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62"/>
          <p:cNvSpPr>
            <a:spLocks noChangeArrowheads="1"/>
          </p:cNvSpPr>
          <p:nvPr/>
        </p:nvSpPr>
        <p:spPr bwMode="auto">
          <a:xfrm>
            <a:off x="1654796" y="1562100"/>
            <a:ext cx="1223962" cy="427038"/>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Loại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dữ</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liệu</a:t>
            </a:r>
            <a:endParaRPr lang="en-US" altLang="ko-KR" sz="1200" b="1" dirty="0">
              <a:solidFill>
                <a:srgbClr val="000000"/>
              </a:solidFill>
              <a:latin typeface="Arial" pitchFamily="34" charset="0"/>
              <a:ea typeface="맑은 고딕" pitchFamily="50" charset="-127"/>
              <a:cs typeface="Arial" pitchFamily="34" charset="0"/>
            </a:endParaRPr>
          </a:p>
        </p:txBody>
      </p:sp>
      <p:sp>
        <p:nvSpPr>
          <p:cNvPr id="4" name="Rectangle 63"/>
          <p:cNvSpPr>
            <a:spLocks noChangeArrowheads="1"/>
          </p:cNvSpPr>
          <p:nvPr/>
        </p:nvSpPr>
        <p:spPr bwMode="auto">
          <a:xfrm>
            <a:off x="3037508" y="1550988"/>
            <a:ext cx="3654425"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Dữ</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liệu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liên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tục</a:t>
            </a:r>
            <a:endParaRPr lang="en-US" altLang="ko-KR" sz="1200" b="1" dirty="0">
              <a:solidFill>
                <a:srgbClr val="000000"/>
              </a:solidFill>
              <a:latin typeface="Arial" pitchFamily="34" charset="0"/>
              <a:ea typeface="맑은 고딕" pitchFamily="50" charset="-127"/>
              <a:cs typeface="Arial" pitchFamily="34" charset="0"/>
            </a:endParaRPr>
          </a:p>
        </p:txBody>
      </p:sp>
      <p:sp>
        <p:nvSpPr>
          <p:cNvPr id="5" name="Rectangle 64"/>
          <p:cNvSpPr>
            <a:spLocks noChangeArrowheads="1"/>
          </p:cNvSpPr>
          <p:nvPr/>
        </p:nvSpPr>
        <p:spPr bwMode="auto">
          <a:xfrm>
            <a:off x="6716688" y="1550988"/>
            <a:ext cx="1404664"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Dữ</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liệu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thuộc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tính</a:t>
            </a:r>
            <a:endParaRPr lang="en-US" altLang="ko-KR" sz="1200" b="1" dirty="0">
              <a:solidFill>
                <a:srgbClr val="000000"/>
              </a:solidFill>
              <a:latin typeface="Arial" pitchFamily="34" charset="0"/>
              <a:ea typeface="맑은 고딕" pitchFamily="50" charset="-127"/>
              <a:cs typeface="Arial" pitchFamily="34" charset="0"/>
            </a:endParaRPr>
          </a:p>
        </p:txBody>
      </p:sp>
      <p:sp>
        <p:nvSpPr>
          <p:cNvPr id="6" name="Rectangle 65"/>
          <p:cNvSpPr>
            <a:spLocks noChangeArrowheads="1"/>
          </p:cNvSpPr>
          <p:nvPr/>
        </p:nvSpPr>
        <p:spPr bwMode="auto">
          <a:xfrm>
            <a:off x="1661146" y="2420888"/>
            <a:ext cx="1223962" cy="504055"/>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Các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loại</a:t>
            </a:r>
            <a:r>
              <a:rPr lang="en-US" altLang="ko-KR" sz="1200" b="1" dirty="0">
                <a:solidFill>
                  <a:srgbClr val="000000"/>
                </a:solidFill>
                <a:latin typeface="Arial" pitchFamily="34" charset="0"/>
                <a:ea typeface="맑은 고딕" pitchFamily="50" charset="-127"/>
                <a:cs typeface="Arial" pitchFamily="34" charset="0"/>
              </a:rPr>
              <a:t> </a:t>
            </a:r>
          </a:p>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nghiên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cứu</a:t>
            </a:r>
            <a:endParaRPr lang="en-US" altLang="ko-KR" sz="1200" b="1" dirty="0">
              <a:solidFill>
                <a:srgbClr val="000000"/>
              </a:solidFill>
              <a:latin typeface="Arial" pitchFamily="34" charset="0"/>
              <a:ea typeface="맑은 고딕" pitchFamily="50" charset="-127"/>
              <a:cs typeface="Arial" pitchFamily="34" charset="0"/>
            </a:endParaRPr>
          </a:p>
        </p:txBody>
      </p:sp>
      <p:sp>
        <p:nvSpPr>
          <p:cNvPr id="7" name="Rectangle 66"/>
          <p:cNvSpPr>
            <a:spLocks noChangeArrowheads="1"/>
          </p:cNvSpPr>
          <p:nvPr/>
        </p:nvSpPr>
        <p:spPr bwMode="auto">
          <a:xfrm>
            <a:off x="3043858" y="2476500"/>
            <a:ext cx="1776413"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Arial" pitchFamily="34" charset="0"/>
                <a:ea typeface="맑은 고딕" pitchFamily="50" charset="-127"/>
                <a:cs typeface="Arial" pitchFamily="34" charset="0"/>
              </a:rPr>
              <a:t>Crossed Studies</a:t>
            </a:r>
          </a:p>
        </p:txBody>
      </p:sp>
      <p:sp>
        <p:nvSpPr>
          <p:cNvPr id="9" name="Rectangle 68"/>
          <p:cNvSpPr>
            <a:spLocks noChangeArrowheads="1"/>
          </p:cNvSpPr>
          <p:nvPr/>
        </p:nvSpPr>
        <p:spPr bwMode="auto">
          <a:xfrm>
            <a:off x="4891708" y="2474913"/>
            <a:ext cx="1800225"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Arial" pitchFamily="34" charset="0"/>
                <a:ea typeface="맑은 고딕" pitchFamily="50" charset="-127"/>
                <a:cs typeface="Arial" pitchFamily="34" charset="0"/>
              </a:rPr>
              <a:t>Nested Studies</a:t>
            </a:r>
          </a:p>
        </p:txBody>
      </p:sp>
      <p:sp>
        <p:nvSpPr>
          <p:cNvPr id="10" name="Rectangle 69"/>
          <p:cNvSpPr>
            <a:spLocks noChangeArrowheads="1"/>
          </p:cNvSpPr>
          <p:nvPr/>
        </p:nvSpPr>
        <p:spPr bwMode="auto">
          <a:xfrm>
            <a:off x="1661146" y="3306762"/>
            <a:ext cx="1223962" cy="482277"/>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Phương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pháp</a:t>
            </a:r>
            <a:r>
              <a:rPr lang="en-US" altLang="ko-KR" sz="1200" b="1" dirty="0">
                <a:solidFill>
                  <a:srgbClr val="000000"/>
                </a:solidFill>
                <a:latin typeface="Arial" pitchFamily="34" charset="0"/>
                <a:ea typeface="맑은 고딕" pitchFamily="50" charset="-127"/>
                <a:cs typeface="Arial" pitchFamily="34" charset="0"/>
              </a:rPr>
              <a:t> </a:t>
            </a:r>
          </a:p>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phân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tích</a:t>
            </a:r>
            <a:endParaRPr lang="en-US" altLang="ko-KR" sz="1200" b="1" dirty="0">
              <a:solidFill>
                <a:srgbClr val="000000"/>
              </a:solidFill>
              <a:latin typeface="Arial" pitchFamily="34" charset="0"/>
              <a:ea typeface="맑은 고딕" pitchFamily="50" charset="-127"/>
              <a:cs typeface="Arial" pitchFamily="34" charset="0"/>
            </a:endParaRPr>
          </a:p>
        </p:txBody>
      </p:sp>
      <p:sp>
        <p:nvSpPr>
          <p:cNvPr id="11" name="Rectangle 70"/>
          <p:cNvSpPr>
            <a:spLocks noChangeArrowheads="1"/>
          </p:cNvSpPr>
          <p:nvPr/>
        </p:nvSpPr>
        <p:spPr bwMode="auto">
          <a:xfrm>
            <a:off x="3008933" y="3290888"/>
            <a:ext cx="865188"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Arial" pitchFamily="34" charset="0"/>
                <a:ea typeface="맑은 고딕" pitchFamily="50" charset="-127"/>
                <a:cs typeface="Arial" pitchFamily="34" charset="0"/>
              </a:rPr>
              <a:t>ANOVA</a:t>
            </a:r>
          </a:p>
        </p:txBody>
      </p:sp>
      <p:sp>
        <p:nvSpPr>
          <p:cNvPr id="12" name="Rectangle 71"/>
          <p:cNvSpPr>
            <a:spLocks noChangeArrowheads="1"/>
          </p:cNvSpPr>
          <p:nvPr/>
        </p:nvSpPr>
        <p:spPr bwMode="auto">
          <a:xfrm>
            <a:off x="3939208" y="3289300"/>
            <a:ext cx="865188"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Arial" pitchFamily="34" charset="0"/>
                <a:ea typeface="맑은 고딕" pitchFamily="50" charset="-127"/>
                <a:cs typeface="Arial" pitchFamily="34" charset="0"/>
              </a:rPr>
              <a:t>Xbar-R</a:t>
            </a:r>
          </a:p>
        </p:txBody>
      </p:sp>
      <p:sp>
        <p:nvSpPr>
          <p:cNvPr id="13" name="Rectangle 72"/>
          <p:cNvSpPr>
            <a:spLocks noChangeArrowheads="1"/>
          </p:cNvSpPr>
          <p:nvPr/>
        </p:nvSpPr>
        <p:spPr bwMode="auto">
          <a:xfrm>
            <a:off x="4891708" y="3267075"/>
            <a:ext cx="1800225"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Arial" pitchFamily="34" charset="0"/>
                <a:ea typeface="맑은 고딕" pitchFamily="50" charset="-127"/>
                <a:cs typeface="Arial" pitchFamily="34" charset="0"/>
              </a:rPr>
              <a:t>ANOVA</a:t>
            </a:r>
          </a:p>
        </p:txBody>
      </p:sp>
      <p:sp>
        <p:nvSpPr>
          <p:cNvPr id="14" name="Rectangle 73"/>
          <p:cNvSpPr>
            <a:spLocks noChangeArrowheads="1"/>
          </p:cNvSpPr>
          <p:nvPr/>
        </p:nvSpPr>
        <p:spPr bwMode="auto">
          <a:xfrm>
            <a:off x="6795120" y="3271838"/>
            <a:ext cx="1649760"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Kiểm</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tra</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mức</a:t>
            </a:r>
            <a:r>
              <a:rPr lang="en-US" altLang="ko-KR" sz="1200" b="1" dirty="0">
                <a:solidFill>
                  <a:srgbClr val="000000"/>
                </a:solidFill>
                <a:latin typeface="Arial" pitchFamily="34" charset="0"/>
                <a:ea typeface="맑은 고딕" pitchFamily="50" charset="-127"/>
                <a:cs typeface="Arial" pitchFamily="34" charset="0"/>
              </a:rPr>
              <a:t> ý </a:t>
            </a:r>
            <a:r>
              <a:rPr lang="en-US" altLang="ko-KR" sz="1200" b="1" dirty="0" err="1">
                <a:solidFill>
                  <a:srgbClr val="000000"/>
                </a:solidFill>
                <a:latin typeface="Arial" pitchFamily="34" charset="0"/>
                <a:ea typeface="맑은 고딕" pitchFamily="50" charset="-127"/>
                <a:cs typeface="Arial" pitchFamily="34" charset="0"/>
              </a:rPr>
              <a:t>nghĩa</a:t>
            </a:r>
            <a:endParaRPr lang="en-US" altLang="ko-KR" sz="1200" b="1" dirty="0">
              <a:solidFill>
                <a:srgbClr val="000000"/>
              </a:solidFill>
              <a:latin typeface="Arial" pitchFamily="34" charset="0"/>
              <a:ea typeface="맑은 고딕" pitchFamily="50" charset="-127"/>
              <a:cs typeface="Arial" pitchFamily="34" charset="0"/>
            </a:endParaRPr>
          </a:p>
        </p:txBody>
      </p:sp>
      <p:cxnSp>
        <p:nvCxnSpPr>
          <p:cNvPr id="15" name="AutoShape 74"/>
          <p:cNvCxnSpPr>
            <a:cxnSpLocks noChangeShapeType="1"/>
            <a:stCxn id="4" idx="2"/>
            <a:endCxn id="7" idx="0"/>
          </p:cNvCxnSpPr>
          <p:nvPr/>
        </p:nvCxnSpPr>
        <p:spPr bwMode="auto">
          <a:xfrm rot="5400000">
            <a:off x="4115421" y="1727200"/>
            <a:ext cx="566737" cy="931863"/>
          </a:xfrm>
          <a:prstGeom prst="bentConnector3">
            <a:avLst>
              <a:gd name="adj1" fmla="val 49861"/>
            </a:avLst>
          </a:prstGeom>
          <a:noFill/>
          <a:ln w="9525">
            <a:solidFill>
              <a:schemeClr val="bg1">
                <a:lumMod val="65000"/>
              </a:schemeClr>
            </a:solidFill>
            <a:miter lim="800000"/>
            <a:headEnd/>
            <a:tailEnd type="triangle" w="med" len="med"/>
          </a:ln>
        </p:spPr>
      </p:cxnSp>
      <p:cxnSp>
        <p:nvCxnSpPr>
          <p:cNvPr id="16" name="AutoShape 75"/>
          <p:cNvCxnSpPr>
            <a:cxnSpLocks noChangeShapeType="1"/>
            <a:stCxn id="4" idx="2"/>
            <a:endCxn id="9" idx="0"/>
          </p:cNvCxnSpPr>
          <p:nvPr/>
        </p:nvCxnSpPr>
        <p:spPr bwMode="auto">
          <a:xfrm rot="16200000" flipH="1">
            <a:off x="5045696" y="1728788"/>
            <a:ext cx="565150" cy="927100"/>
          </a:xfrm>
          <a:prstGeom prst="bentConnector3">
            <a:avLst>
              <a:gd name="adj1" fmla="val 50000"/>
            </a:avLst>
          </a:prstGeom>
          <a:noFill/>
          <a:ln w="9525">
            <a:solidFill>
              <a:schemeClr val="bg1">
                <a:lumMod val="65000"/>
              </a:schemeClr>
            </a:solidFill>
            <a:miter lim="800000"/>
            <a:headEnd/>
            <a:tailEnd type="triangle" w="med" len="med"/>
          </a:ln>
        </p:spPr>
      </p:cxnSp>
      <p:cxnSp>
        <p:nvCxnSpPr>
          <p:cNvPr id="19" name="AutoShape 78"/>
          <p:cNvCxnSpPr>
            <a:cxnSpLocks noChangeShapeType="1"/>
            <a:stCxn id="7" idx="2"/>
            <a:endCxn id="11" idx="0"/>
          </p:cNvCxnSpPr>
          <p:nvPr/>
        </p:nvCxnSpPr>
        <p:spPr bwMode="auto">
          <a:xfrm rot="5400000">
            <a:off x="3459783" y="2817813"/>
            <a:ext cx="455613" cy="490537"/>
          </a:xfrm>
          <a:prstGeom prst="bentConnector3">
            <a:avLst>
              <a:gd name="adj1" fmla="val 49824"/>
            </a:avLst>
          </a:prstGeom>
          <a:noFill/>
          <a:ln w="9525">
            <a:solidFill>
              <a:schemeClr val="bg1">
                <a:lumMod val="65000"/>
              </a:schemeClr>
            </a:solidFill>
            <a:miter lim="800000"/>
            <a:headEnd/>
            <a:tailEnd type="triangle" w="med" len="med"/>
          </a:ln>
        </p:spPr>
      </p:cxnSp>
      <p:cxnSp>
        <p:nvCxnSpPr>
          <p:cNvPr id="20" name="AutoShape 79"/>
          <p:cNvCxnSpPr>
            <a:cxnSpLocks noChangeShapeType="1"/>
            <a:stCxn id="7" idx="2"/>
            <a:endCxn id="12" idx="0"/>
          </p:cNvCxnSpPr>
          <p:nvPr/>
        </p:nvCxnSpPr>
        <p:spPr bwMode="auto">
          <a:xfrm rot="16200000" flipH="1">
            <a:off x="3925714" y="2842419"/>
            <a:ext cx="454025" cy="439738"/>
          </a:xfrm>
          <a:prstGeom prst="bentConnector3">
            <a:avLst>
              <a:gd name="adj1" fmla="val 50000"/>
            </a:avLst>
          </a:prstGeom>
          <a:noFill/>
          <a:ln w="9525">
            <a:solidFill>
              <a:schemeClr val="bg1">
                <a:lumMod val="65000"/>
              </a:schemeClr>
            </a:solidFill>
            <a:miter lim="800000"/>
            <a:headEnd/>
            <a:tailEnd type="triangle" w="med" len="med"/>
          </a:ln>
        </p:spPr>
      </p:cxnSp>
      <p:cxnSp>
        <p:nvCxnSpPr>
          <p:cNvPr id="21" name="AutoShape 80"/>
          <p:cNvCxnSpPr>
            <a:cxnSpLocks noChangeShapeType="1"/>
            <a:stCxn id="9" idx="2"/>
            <a:endCxn id="13" idx="0"/>
          </p:cNvCxnSpPr>
          <p:nvPr/>
        </p:nvCxnSpPr>
        <p:spPr bwMode="auto">
          <a:xfrm rot="5400000">
            <a:off x="5575127" y="3050382"/>
            <a:ext cx="433387" cy="0"/>
          </a:xfrm>
          <a:prstGeom prst="straightConnector1">
            <a:avLst/>
          </a:prstGeom>
          <a:noFill/>
          <a:ln w="9525">
            <a:solidFill>
              <a:schemeClr val="bg1">
                <a:lumMod val="65000"/>
              </a:schemeClr>
            </a:solidFill>
            <a:round/>
            <a:headEnd/>
            <a:tailEnd type="triangle" w="med" len="med"/>
          </a:ln>
        </p:spPr>
      </p:cxnSp>
      <p:sp>
        <p:nvSpPr>
          <p:cNvPr id="22" name="Rectangle 81"/>
          <p:cNvSpPr>
            <a:spLocks noChangeArrowheads="1"/>
          </p:cNvSpPr>
          <p:nvPr/>
        </p:nvSpPr>
        <p:spPr bwMode="auto">
          <a:xfrm>
            <a:off x="1661146" y="4230688"/>
            <a:ext cx="1223962" cy="358775"/>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Thông</a:t>
            </a:r>
            <a:r>
              <a:rPr lang="en-US" altLang="ko-KR" sz="1200" b="1" dirty="0">
                <a:solidFill>
                  <a:srgbClr val="000000"/>
                </a:solidFill>
                <a:latin typeface="Arial" pitchFamily="34" charset="0"/>
                <a:ea typeface="맑은 고딕" pitchFamily="50" charset="-127"/>
                <a:cs typeface="Arial" pitchFamily="34" charset="0"/>
              </a:rPr>
              <a:t> tin</a:t>
            </a:r>
          </a:p>
        </p:txBody>
      </p:sp>
      <p:sp>
        <p:nvSpPr>
          <p:cNvPr id="14358" name="Text Box 82"/>
          <p:cNvSpPr txBox="1">
            <a:spLocks noChangeArrowheads="1"/>
          </p:cNvSpPr>
          <p:nvPr/>
        </p:nvSpPr>
        <p:spPr bwMode="auto">
          <a:xfrm>
            <a:off x="1424608" y="4753615"/>
            <a:ext cx="15843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spcBef>
                <a:spcPct val="50000"/>
              </a:spcBef>
            </a:pPr>
            <a:r>
              <a:rPr lang="en-US" altLang="ko-KR" sz="1200" b="1" dirty="0">
                <a:solidFill>
                  <a:srgbClr val="000000"/>
                </a:solidFill>
                <a:latin typeface="Arial" pitchFamily="34" charset="0"/>
                <a:ea typeface="맑은 고딕" pitchFamily="50" charset="-127"/>
                <a:cs typeface="Arial" pitchFamily="34" charset="0"/>
              </a:rPr>
              <a:t>Repeatability</a:t>
            </a:r>
          </a:p>
        </p:txBody>
      </p:sp>
      <p:sp>
        <p:nvSpPr>
          <p:cNvPr id="14359" name="Text Box 83"/>
          <p:cNvSpPr txBox="1">
            <a:spLocks noChangeArrowheads="1"/>
          </p:cNvSpPr>
          <p:nvPr/>
        </p:nvSpPr>
        <p:spPr bwMode="auto">
          <a:xfrm>
            <a:off x="1429371" y="5035550"/>
            <a:ext cx="1584325"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spcBef>
                <a:spcPct val="50000"/>
              </a:spcBef>
            </a:pPr>
            <a:r>
              <a:rPr lang="en-US" altLang="ko-KR" sz="1200" b="1" dirty="0">
                <a:solidFill>
                  <a:srgbClr val="000000"/>
                </a:solidFill>
                <a:latin typeface="Arial" pitchFamily="34" charset="0"/>
                <a:ea typeface="맑은 고딕" pitchFamily="50" charset="-127"/>
                <a:cs typeface="Arial" pitchFamily="34" charset="0"/>
              </a:rPr>
              <a:t>Reproducibility</a:t>
            </a:r>
          </a:p>
          <a:p>
            <a:pPr algn="r" eaLnBrk="1" hangingPunct="1">
              <a:lnSpc>
                <a:spcPct val="70000"/>
              </a:lnSpc>
              <a:spcBef>
                <a:spcPct val="50000"/>
              </a:spcBef>
            </a:pPr>
            <a:r>
              <a:rPr lang="en-US" altLang="ko-KR" sz="1200" b="1" dirty="0">
                <a:solidFill>
                  <a:srgbClr val="008000"/>
                </a:solidFill>
                <a:latin typeface="Arial" pitchFamily="34" charset="0"/>
                <a:ea typeface="맑은 고딕" pitchFamily="50" charset="-127"/>
                <a:cs typeface="Arial" pitchFamily="34" charset="0"/>
              </a:rPr>
              <a:t>Operators</a:t>
            </a:r>
          </a:p>
          <a:p>
            <a:pPr algn="r" eaLnBrk="1" hangingPunct="1">
              <a:spcBef>
                <a:spcPct val="50000"/>
              </a:spcBef>
            </a:pPr>
            <a:r>
              <a:rPr lang="en-US" altLang="ko-KR" sz="1200" b="1" u="sng" dirty="0">
                <a:solidFill>
                  <a:srgbClr val="008000"/>
                </a:solidFill>
                <a:latin typeface="Arial" pitchFamily="34" charset="0"/>
                <a:ea typeface="맑은 고딕" pitchFamily="50" charset="-127"/>
                <a:cs typeface="Arial" pitchFamily="34" charset="0"/>
              </a:rPr>
              <a:t>Operators X Parts</a:t>
            </a:r>
          </a:p>
        </p:txBody>
      </p:sp>
      <p:sp>
        <p:nvSpPr>
          <p:cNvPr id="25" name="Rectangle 84"/>
          <p:cNvSpPr>
            <a:spLocks noChangeArrowheads="1"/>
          </p:cNvSpPr>
          <p:nvPr/>
        </p:nvSpPr>
        <p:spPr bwMode="auto">
          <a:xfrm>
            <a:off x="3018458" y="3725863"/>
            <a:ext cx="4968875" cy="433387"/>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err="1">
                <a:solidFill>
                  <a:srgbClr val="000000"/>
                </a:solidFill>
                <a:latin typeface="Arial" pitchFamily="34" charset="0"/>
                <a:ea typeface="맑은 고딕" pitchFamily="50" charset="-127"/>
                <a:cs typeface="Arial" pitchFamily="34" charset="0"/>
              </a:rPr>
              <a:t>Đồ</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thị</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tóm</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tắt</a:t>
            </a:r>
            <a:endParaRPr lang="en-US" altLang="ko-KR" sz="1200" b="1" dirty="0">
              <a:solidFill>
                <a:srgbClr val="000000"/>
              </a:solidFill>
              <a:latin typeface="Arial" pitchFamily="34" charset="0"/>
              <a:ea typeface="맑은 고딕" pitchFamily="50" charset="-127"/>
              <a:cs typeface="Arial" pitchFamily="34" charset="0"/>
            </a:endParaRPr>
          </a:p>
        </p:txBody>
      </p:sp>
      <p:sp>
        <p:nvSpPr>
          <p:cNvPr id="26" name="Rectangle 85"/>
          <p:cNvSpPr>
            <a:spLocks noChangeArrowheads="1"/>
          </p:cNvSpPr>
          <p:nvPr/>
        </p:nvSpPr>
        <p:spPr bwMode="auto">
          <a:xfrm>
            <a:off x="3058146" y="4746625"/>
            <a:ext cx="792162"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27" name="Rectangle 86"/>
          <p:cNvSpPr>
            <a:spLocks noChangeArrowheads="1"/>
          </p:cNvSpPr>
          <p:nvPr/>
        </p:nvSpPr>
        <p:spPr bwMode="auto">
          <a:xfrm>
            <a:off x="3058146" y="5289550"/>
            <a:ext cx="792162"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28" name="Rectangle 87"/>
          <p:cNvSpPr>
            <a:spLocks noChangeArrowheads="1"/>
          </p:cNvSpPr>
          <p:nvPr/>
        </p:nvSpPr>
        <p:spPr bwMode="auto">
          <a:xfrm>
            <a:off x="3058146" y="5576888"/>
            <a:ext cx="792162"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29" name="Rectangle 88"/>
          <p:cNvSpPr>
            <a:spLocks noChangeArrowheads="1"/>
          </p:cNvSpPr>
          <p:nvPr/>
        </p:nvSpPr>
        <p:spPr bwMode="auto">
          <a:xfrm>
            <a:off x="3928096" y="4746625"/>
            <a:ext cx="792162"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30" name="Rectangle 89"/>
          <p:cNvSpPr>
            <a:spLocks noChangeArrowheads="1"/>
          </p:cNvSpPr>
          <p:nvPr/>
        </p:nvSpPr>
        <p:spPr bwMode="auto">
          <a:xfrm>
            <a:off x="3928096" y="5289550"/>
            <a:ext cx="792162"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31" name="Rectangle 90"/>
          <p:cNvSpPr>
            <a:spLocks noChangeArrowheads="1"/>
          </p:cNvSpPr>
          <p:nvPr/>
        </p:nvSpPr>
        <p:spPr bwMode="auto">
          <a:xfrm>
            <a:off x="3928096" y="5576888"/>
            <a:ext cx="792162"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X</a:t>
            </a:r>
          </a:p>
        </p:txBody>
      </p:sp>
      <p:sp>
        <p:nvSpPr>
          <p:cNvPr id="32" name="Rectangle 91"/>
          <p:cNvSpPr>
            <a:spLocks noChangeArrowheads="1"/>
          </p:cNvSpPr>
          <p:nvPr/>
        </p:nvSpPr>
        <p:spPr bwMode="auto">
          <a:xfrm>
            <a:off x="4934571" y="4745038"/>
            <a:ext cx="1684337" cy="211137"/>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33" name="Rectangle 92"/>
          <p:cNvSpPr>
            <a:spLocks noChangeArrowheads="1"/>
          </p:cNvSpPr>
          <p:nvPr/>
        </p:nvSpPr>
        <p:spPr bwMode="auto">
          <a:xfrm>
            <a:off x="4934571" y="5287963"/>
            <a:ext cx="1684337" cy="211137"/>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34" name="Rectangle 93"/>
          <p:cNvSpPr>
            <a:spLocks noChangeArrowheads="1"/>
          </p:cNvSpPr>
          <p:nvPr/>
        </p:nvSpPr>
        <p:spPr bwMode="auto">
          <a:xfrm>
            <a:off x="4934571" y="5575300"/>
            <a:ext cx="1684337" cy="211138"/>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X</a:t>
            </a:r>
          </a:p>
        </p:txBody>
      </p:sp>
      <p:sp>
        <p:nvSpPr>
          <p:cNvPr id="35" name="Rectangle 94"/>
          <p:cNvSpPr>
            <a:spLocks noChangeArrowheads="1"/>
          </p:cNvSpPr>
          <p:nvPr/>
        </p:nvSpPr>
        <p:spPr bwMode="auto">
          <a:xfrm>
            <a:off x="6896721" y="4713288"/>
            <a:ext cx="1041400"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36" name="Rectangle 95"/>
          <p:cNvSpPr>
            <a:spLocks noChangeArrowheads="1"/>
          </p:cNvSpPr>
          <p:nvPr/>
        </p:nvSpPr>
        <p:spPr bwMode="auto">
          <a:xfrm>
            <a:off x="6896721" y="5256213"/>
            <a:ext cx="1041400"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O</a:t>
            </a:r>
          </a:p>
        </p:txBody>
      </p:sp>
      <p:sp>
        <p:nvSpPr>
          <p:cNvPr id="37" name="Rectangle 96"/>
          <p:cNvSpPr>
            <a:spLocks noChangeArrowheads="1"/>
          </p:cNvSpPr>
          <p:nvPr/>
        </p:nvSpPr>
        <p:spPr bwMode="auto">
          <a:xfrm>
            <a:off x="6896721" y="5543550"/>
            <a:ext cx="1041400"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defRPr/>
            </a:pPr>
            <a:r>
              <a:rPr lang="en-US" altLang="ko-KR" sz="1200" b="1">
                <a:solidFill>
                  <a:srgbClr val="000000"/>
                </a:solidFill>
                <a:latin typeface="Arial" pitchFamily="34" charset="0"/>
                <a:ea typeface="맑은 고딕" pitchFamily="50" charset="-127"/>
                <a:cs typeface="Arial" pitchFamily="34" charset="0"/>
              </a:rPr>
              <a:t>X</a:t>
            </a:r>
          </a:p>
        </p:txBody>
      </p:sp>
      <p:sp>
        <p:nvSpPr>
          <p:cNvPr id="38" name="Line 97"/>
          <p:cNvSpPr>
            <a:spLocks noChangeShapeType="1"/>
          </p:cNvSpPr>
          <p:nvPr/>
        </p:nvSpPr>
        <p:spPr bwMode="auto">
          <a:xfrm>
            <a:off x="2920033" y="5040313"/>
            <a:ext cx="5040313" cy="0"/>
          </a:xfrm>
          <a:prstGeom prst="line">
            <a:avLst/>
          </a:prstGeom>
          <a:noFill/>
          <a:ln w="19050">
            <a:solidFill>
              <a:schemeClr val="bg1">
                <a:lumMod val="65000"/>
              </a:schemeClr>
            </a:solidFill>
            <a:prstDash val="sysDot"/>
            <a:round/>
            <a:headEnd/>
            <a:tailEnd/>
          </a:ln>
        </p:spPr>
        <p:txBody>
          <a:bodyPr anchor="ctr"/>
          <a:lstStyle/>
          <a:p>
            <a:pPr algn="ctr">
              <a:defRPr/>
            </a:pPr>
            <a:endParaRPr lang="ko-KR" altLang="en-US" sz="1000" dirty="0">
              <a:solidFill>
                <a:srgbClr val="000000"/>
              </a:solidFill>
              <a:latin typeface="Arial" pitchFamily="34" charset="0"/>
              <a:ea typeface="맑은 고딕" pitchFamily="50" charset="-127"/>
              <a:cs typeface="Arial" pitchFamily="34" charset="0"/>
            </a:endParaRPr>
          </a:p>
        </p:txBody>
      </p:sp>
      <p:cxnSp>
        <p:nvCxnSpPr>
          <p:cNvPr id="39" name="AutoShape 98"/>
          <p:cNvCxnSpPr>
            <a:cxnSpLocks noChangeShapeType="1"/>
            <a:stCxn id="3" idx="2"/>
            <a:endCxn id="6" idx="0"/>
          </p:cNvCxnSpPr>
          <p:nvPr/>
        </p:nvCxnSpPr>
        <p:spPr bwMode="auto">
          <a:xfrm>
            <a:off x="2266777" y="1989138"/>
            <a:ext cx="6350" cy="431750"/>
          </a:xfrm>
          <a:prstGeom prst="straightConnector1">
            <a:avLst/>
          </a:prstGeom>
          <a:noFill/>
          <a:ln w="9525">
            <a:solidFill>
              <a:schemeClr val="bg1">
                <a:lumMod val="65000"/>
              </a:schemeClr>
            </a:solidFill>
            <a:round/>
            <a:headEnd/>
            <a:tailEnd type="triangle" w="med" len="med"/>
          </a:ln>
        </p:spPr>
      </p:cxnSp>
      <p:cxnSp>
        <p:nvCxnSpPr>
          <p:cNvPr id="40" name="AutoShape 99"/>
          <p:cNvCxnSpPr>
            <a:cxnSpLocks noChangeShapeType="1"/>
            <a:stCxn id="6" idx="2"/>
            <a:endCxn id="10" idx="0"/>
          </p:cNvCxnSpPr>
          <p:nvPr/>
        </p:nvCxnSpPr>
        <p:spPr bwMode="auto">
          <a:xfrm>
            <a:off x="2273127" y="2924943"/>
            <a:ext cx="0" cy="381819"/>
          </a:xfrm>
          <a:prstGeom prst="straightConnector1">
            <a:avLst/>
          </a:prstGeom>
          <a:noFill/>
          <a:ln w="9525">
            <a:solidFill>
              <a:schemeClr val="bg1">
                <a:lumMod val="65000"/>
              </a:schemeClr>
            </a:solidFill>
            <a:round/>
            <a:headEnd/>
            <a:tailEnd type="triangle" w="med" len="med"/>
          </a:ln>
        </p:spPr>
      </p:cxnSp>
      <p:cxnSp>
        <p:nvCxnSpPr>
          <p:cNvPr id="41" name="AutoShape 100"/>
          <p:cNvCxnSpPr>
            <a:cxnSpLocks noChangeShapeType="1"/>
            <a:stCxn id="10" idx="2"/>
            <a:endCxn id="22" idx="0"/>
          </p:cNvCxnSpPr>
          <p:nvPr/>
        </p:nvCxnSpPr>
        <p:spPr bwMode="auto">
          <a:xfrm>
            <a:off x="2273127" y="3789039"/>
            <a:ext cx="0" cy="441649"/>
          </a:xfrm>
          <a:prstGeom prst="straightConnector1">
            <a:avLst/>
          </a:prstGeom>
          <a:noFill/>
          <a:ln w="9525">
            <a:solidFill>
              <a:schemeClr val="bg1">
                <a:lumMod val="65000"/>
              </a:schemeClr>
            </a:solidFill>
            <a:round/>
            <a:headEnd/>
            <a:tailEnd type="triangle" w="med" len="med"/>
          </a:ln>
        </p:spPr>
      </p:cxnSp>
      <p:sp>
        <p:nvSpPr>
          <p:cNvPr id="42" name="TextBox 41"/>
          <p:cNvSpPr txBox="1"/>
          <p:nvPr/>
        </p:nvSpPr>
        <p:spPr>
          <a:xfrm>
            <a:off x="428625" y="827088"/>
            <a:ext cx="9167813" cy="397032"/>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Trình</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tự</a:t>
            </a:r>
            <a:r>
              <a:rPr kumimoji="0" lang="en-US" altLang="ko-KR" b="1" kern="0" dirty="0">
                <a:latin typeface="Arial" pitchFamily="34" charset="0"/>
                <a:ea typeface="맑은 고딕" pitchFamily="50" charset="-127"/>
                <a:cs typeface="Arial" pitchFamily="34" charset="0"/>
              </a:rPr>
              <a:t> Gage R&amp;R </a:t>
            </a:r>
            <a:r>
              <a:rPr kumimoji="0" lang="en-US" altLang="ko-KR" b="1" kern="0" dirty="0" err="1">
                <a:latin typeface="Arial" pitchFamily="34" charset="0"/>
                <a:ea typeface="맑은 고딕" pitchFamily="50" charset="-127"/>
                <a:cs typeface="Arial" pitchFamily="34" charset="0"/>
              </a:rPr>
              <a:t>cho</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mỗi</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loại</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đo</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lường</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và</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phương</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pháp</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thiết</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kế</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dữ</a:t>
            </a:r>
            <a:r>
              <a:rPr kumimoji="0" lang="en-US" altLang="ko-KR" b="1" kern="0" dirty="0">
                <a:latin typeface="Arial" pitchFamily="34" charset="0"/>
                <a:ea typeface="맑은 고딕" pitchFamily="50" charset="-127"/>
                <a:cs typeface="Arial" pitchFamily="34" charset="0"/>
              </a:rPr>
              <a:t> </a:t>
            </a:r>
            <a:r>
              <a:rPr kumimoji="0" lang="en-US" altLang="ko-KR" b="1" kern="0" dirty="0" err="1">
                <a:latin typeface="Arial" pitchFamily="34" charset="0"/>
                <a:ea typeface="맑은 고딕" pitchFamily="50" charset="-127"/>
                <a:cs typeface="Arial" pitchFamily="34" charset="0"/>
              </a:rPr>
              <a:t>liệu</a:t>
            </a:r>
            <a:endParaRPr kumimoji="0" lang="ko-KR" altLang="en-US" kern="0" dirty="0">
              <a:latin typeface="Arial" pitchFamily="34" charset="0"/>
              <a:ea typeface="맑은 고딕" pitchFamily="50" charset="-127"/>
              <a:cs typeface="Arial" pitchFamily="34" charset="0"/>
            </a:endParaRPr>
          </a:p>
        </p:txBody>
      </p:sp>
      <p:sp>
        <p:nvSpPr>
          <p:cNvPr id="50" name="제목 8"/>
          <p:cNvSpPr txBox="1">
            <a:spLocks/>
          </p:cNvSpPr>
          <p:nvPr/>
        </p:nvSpPr>
        <p:spPr bwMode="auto">
          <a:xfrm>
            <a:off x="6916738" y="260350"/>
            <a:ext cx="2860675" cy="488950"/>
          </a:xfrm>
          <a:prstGeom prst="rect">
            <a:avLst/>
          </a:prstGeom>
          <a:noFill/>
          <a:ln>
            <a:miter lim="800000"/>
            <a:headEnd/>
            <a:tailEnd/>
          </a:ln>
        </p:spPr>
        <p:txBody>
          <a:bodyPr anchor="ctr"/>
          <a:lstStyle/>
          <a:p>
            <a:pPr algn="r">
              <a:defRPr/>
            </a:pPr>
            <a:r>
              <a:rPr lang="en-US" altLang="ko-KR" sz="1600" b="1" kern="0" dirty="0">
                <a:solidFill>
                  <a:srgbClr val="000000"/>
                </a:solidFill>
                <a:latin typeface="Arial" pitchFamily="34" charset="0"/>
                <a:ea typeface="맑은 고딕"/>
                <a:cs typeface="Arial" pitchFamily="34" charset="0"/>
              </a:rPr>
              <a:t>Gage R&amp;R</a:t>
            </a:r>
            <a:endParaRPr lang="ko-KR" altLang="en-US" sz="1600" b="1" kern="0" dirty="0">
              <a:solidFill>
                <a:srgbClr val="000000"/>
              </a:solidFill>
              <a:latin typeface="Arial" pitchFamily="34" charset="0"/>
              <a:ea typeface="맑은 고딕"/>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193</a:t>
            </a:fld>
            <a:endParaRPr lang="ko-KR" altLang="en-US" dirty="0">
              <a:latin typeface="Arial" pitchFamily="34" charset="0"/>
              <a:cs typeface="Arial" pitchFamily="34" charset="0"/>
            </a:endParaRPr>
          </a:p>
        </p:txBody>
      </p:sp>
      <p:sp>
        <p:nvSpPr>
          <p:cNvPr id="48" name="제목 8"/>
          <p:cNvSpPr txBox="1">
            <a:spLocks/>
          </p:cNvSpPr>
          <p:nvPr/>
        </p:nvSpPr>
        <p:spPr bwMode="auto">
          <a:xfrm>
            <a:off x="195263" y="188913"/>
            <a:ext cx="8027558"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3.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Trình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tự</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tiến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Sự</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tích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hợp</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của</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kết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quả</a:t>
            </a:r>
            <a:endParaRPr lang="ko-KR" altLang="en-US" sz="2000" b="1" kern="0" dirty="0">
              <a:solidFill>
                <a:srgbClr val="000000"/>
              </a:solidFill>
              <a:latin typeface="Arial" pitchFamily="34" charset="0"/>
              <a:ea typeface="맑은 고딕"/>
              <a:cs typeface="Arial" pitchFamily="34" charset="0"/>
            </a:endParaRPr>
          </a:p>
        </p:txBody>
      </p:sp>
      <p:cxnSp>
        <p:nvCxnSpPr>
          <p:cNvPr id="67" name="AutoShape 98"/>
          <p:cNvCxnSpPr>
            <a:cxnSpLocks noChangeShapeType="1"/>
          </p:cNvCxnSpPr>
          <p:nvPr/>
        </p:nvCxnSpPr>
        <p:spPr bwMode="auto">
          <a:xfrm>
            <a:off x="7364760" y="1906951"/>
            <a:ext cx="6350" cy="548640"/>
          </a:xfrm>
          <a:prstGeom prst="straightConnector1">
            <a:avLst/>
          </a:prstGeom>
          <a:noFill/>
          <a:ln w="9525">
            <a:solidFill>
              <a:schemeClr val="bg1">
                <a:lumMod val="65000"/>
              </a:schemeClr>
            </a:solidFill>
            <a:round/>
            <a:headEnd/>
            <a:tailEnd type="triangle" w="med" len="med"/>
          </a:ln>
        </p:spPr>
      </p:cxnSp>
      <p:cxnSp>
        <p:nvCxnSpPr>
          <p:cNvPr id="68" name="AutoShape 98"/>
          <p:cNvCxnSpPr>
            <a:cxnSpLocks noChangeShapeType="1"/>
          </p:cNvCxnSpPr>
          <p:nvPr/>
        </p:nvCxnSpPr>
        <p:spPr bwMode="auto">
          <a:xfrm>
            <a:off x="7364760" y="2821872"/>
            <a:ext cx="6350" cy="457200"/>
          </a:xfrm>
          <a:prstGeom prst="straightConnector1">
            <a:avLst/>
          </a:prstGeom>
          <a:noFill/>
          <a:ln w="9525">
            <a:solidFill>
              <a:schemeClr val="bg1">
                <a:lumMod val="65000"/>
              </a:schemeClr>
            </a:solidFill>
            <a:round/>
            <a:headEnd/>
            <a:tailEnd type="triangle" w="med" len="med"/>
          </a:ln>
        </p:spPr>
      </p:cxnSp>
      <p:sp>
        <p:nvSpPr>
          <p:cNvPr id="8" name="Rectangle 67"/>
          <p:cNvSpPr>
            <a:spLocks noChangeArrowheads="1"/>
          </p:cNvSpPr>
          <p:nvPr/>
        </p:nvSpPr>
        <p:spPr bwMode="auto">
          <a:xfrm>
            <a:off x="6787183" y="2476500"/>
            <a:ext cx="1223963"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Arial" pitchFamily="34" charset="0"/>
                <a:ea typeface="맑은 고딕" pitchFamily="50" charset="-127"/>
                <a:cs typeface="Arial" pitchFamily="34" charset="0"/>
              </a:rPr>
              <a:t>Crossed Studies</a:t>
            </a:r>
          </a:p>
        </p:txBody>
      </p:sp>
      <p:sp>
        <p:nvSpPr>
          <p:cNvPr id="45" name="TextBox 1"/>
          <p:cNvSpPr txBox="1">
            <a:spLocks noChangeArrowheads="1"/>
          </p:cNvSpPr>
          <p:nvPr/>
        </p:nvSpPr>
        <p:spPr bwMode="auto">
          <a:xfrm>
            <a:off x="3008933" y="5997576"/>
            <a:ext cx="5108643"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latin typeface="맑은 고딕" pitchFamily="50" charset="-127"/>
                <a:ea typeface="맑은 고딕" pitchFamily="50" charset="-127"/>
              </a:rPr>
              <a:t>* Interaction</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 Effect generated from the interaction of 2 factors.</a:t>
            </a:r>
            <a:endParaRPr lang="ko-KR" altLang="en-US" sz="1200" b="1" dirty="0">
              <a:latin typeface="맑은 고딕" pitchFamily="50" charset="-127"/>
              <a:ea typeface="맑은 고딕" pitchFamily="50" charset="-127"/>
            </a:endParaRPr>
          </a:p>
        </p:txBody>
      </p:sp>
      <p:cxnSp>
        <p:nvCxnSpPr>
          <p:cNvPr id="46" name="꺾인 연결선 23"/>
          <p:cNvCxnSpPr>
            <a:endCxn id="45" idx="1"/>
          </p:cNvCxnSpPr>
          <p:nvPr/>
        </p:nvCxnSpPr>
        <p:spPr>
          <a:xfrm rot="16200000" flipH="1">
            <a:off x="2421803" y="5576645"/>
            <a:ext cx="364637" cy="809624"/>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8808100"/>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7" name="Rectangle 19"/>
          <p:cNvSpPr>
            <a:spLocks noChangeArrowheads="1"/>
          </p:cNvSpPr>
          <p:nvPr/>
        </p:nvSpPr>
        <p:spPr bwMode="auto">
          <a:xfrm>
            <a:off x="1065212" y="1400175"/>
            <a:ext cx="1511301"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000" b="1" dirty="0" err="1">
                <a:latin typeface="Arial" pitchFamily="34" charset="0"/>
                <a:ea typeface="맑은 고딕" panose="020B0503020000020004" pitchFamily="50" charset="-127"/>
                <a:cs typeface="Arial" pitchFamily="34" charset="0"/>
              </a:rPr>
              <a:t>Lựa</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chọn</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dụng</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cụ</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và</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đối</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tượng</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đo</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lường</a:t>
            </a:r>
            <a:endParaRPr lang="ko-KR" altLang="en-US" sz="1000" b="1" dirty="0">
              <a:latin typeface="Arial" pitchFamily="34" charset="0"/>
              <a:ea typeface="맑은 고딕" panose="020B0503020000020004" pitchFamily="50" charset="-127"/>
              <a:cs typeface="Arial" pitchFamily="34" charset="0"/>
            </a:endParaRPr>
          </a:p>
        </p:txBody>
      </p:sp>
      <p:sp>
        <p:nvSpPr>
          <p:cNvPr id="13318" name="Rectangle 20"/>
          <p:cNvSpPr>
            <a:spLocks noChangeArrowheads="1"/>
          </p:cNvSpPr>
          <p:nvPr/>
        </p:nvSpPr>
        <p:spPr bwMode="auto">
          <a:xfrm>
            <a:off x="333811" y="1368425"/>
            <a:ext cx="730970"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200" b="1" dirty="0" err="1">
                <a:latin typeface="Arial" pitchFamily="34" charset="0"/>
                <a:ea typeface="맑은 고딕" panose="020B0503020000020004" pitchFamily="50" charset="-127"/>
                <a:cs typeface="Arial" pitchFamily="34" charset="0"/>
              </a:rPr>
              <a:t>Bước</a:t>
            </a:r>
            <a:r>
              <a:rPr lang="en-US" altLang="ko-KR" sz="1200" b="1" dirty="0">
                <a:latin typeface="Arial" pitchFamily="34" charset="0"/>
                <a:ea typeface="맑은 고딕" panose="020B0503020000020004" pitchFamily="50" charset="-127"/>
                <a:cs typeface="Arial" pitchFamily="34" charset="0"/>
              </a:rPr>
              <a:t> 1</a:t>
            </a:r>
          </a:p>
        </p:txBody>
      </p:sp>
      <p:sp>
        <p:nvSpPr>
          <p:cNvPr id="13319" name="Rectangle 21"/>
          <p:cNvSpPr>
            <a:spLocks noChangeArrowheads="1"/>
          </p:cNvSpPr>
          <p:nvPr/>
        </p:nvSpPr>
        <p:spPr bwMode="auto">
          <a:xfrm>
            <a:off x="2865438" y="1357313"/>
            <a:ext cx="3167062" cy="66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Arial" panose="020B0604020202020204" pitchFamily="34" charset="0"/>
              <a:buChar char="•"/>
              <a:defRPr/>
            </a:pP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Kiểm</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dụng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cụ</a:t>
            </a:r>
            <a:r>
              <a:rPr lang="en-US" altLang="ko-KR" sz="900" dirty="0">
                <a:latin typeface="Arial" pitchFamily="34" charset="0"/>
                <a:ea typeface="맑은 고딕" panose="020B0503020000020004" pitchFamily="50" charset="-127"/>
                <a:cs typeface="Arial" pitchFamily="34" charset="0"/>
              </a:rPr>
              <a:t>/</a:t>
            </a:r>
            <a:r>
              <a:rPr lang="en-US" altLang="ko-KR" sz="900" dirty="0" err="1">
                <a:latin typeface="Arial" pitchFamily="34" charset="0"/>
                <a:ea typeface="맑은 고딕" panose="020B0503020000020004" pitchFamily="50" charset="-127"/>
                <a:cs typeface="Arial" pitchFamily="34" charset="0"/>
              </a:rPr>
              <a:t>đối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tượng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để</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đảm</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bảo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tính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chính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xác</a:t>
            </a:r>
            <a:r>
              <a:rPr lang="en-US" altLang="ko-KR" sz="900" dirty="0">
                <a:latin typeface="Arial" pitchFamily="34" charset="0"/>
                <a:ea typeface="맑은 고딕" panose="020B0503020000020004" pitchFamily="50" charset="-127"/>
                <a:cs typeface="Arial" pitchFamily="34" charset="0"/>
              </a:rPr>
              <a:t>. </a:t>
            </a:r>
          </a:p>
          <a:p>
            <a:pPr marL="87313" indent="-87313" eaLnBrk="1" latinLnBrk="0" hangingPunct="1">
              <a:buFont typeface="Arial" panose="020B0604020202020204" pitchFamily="34" charset="0"/>
              <a:buChar char="•"/>
              <a:defRPr/>
            </a:pP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Tiêu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chuẩn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dụng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cụ</a:t>
            </a:r>
            <a:r>
              <a:rPr lang="en-US" altLang="ko-KR" sz="900" dirty="0">
                <a:latin typeface="Arial" pitchFamily="34" charset="0"/>
                <a:ea typeface="맑은 고딕" panose="020B0503020000020004" pitchFamily="50" charset="-127"/>
                <a:cs typeface="Arial" pitchFamily="34" charset="0"/>
              </a:rPr>
              <a:t> : </a:t>
            </a:r>
            <a:r>
              <a:rPr lang="en-US" altLang="ko-KR" sz="900" dirty="0" err="1">
                <a:latin typeface="Arial" pitchFamily="34" charset="0"/>
                <a:ea typeface="맑은 고딕" panose="020B0503020000020004" pitchFamily="50" charset="-127"/>
                <a:cs typeface="Arial" pitchFamily="34" charset="0"/>
              </a:rPr>
              <a:t>nhỏ</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hơn</a:t>
            </a:r>
            <a:r>
              <a:rPr lang="en-US" altLang="ko-KR" sz="900" dirty="0">
                <a:latin typeface="Arial" pitchFamily="34" charset="0"/>
                <a:ea typeface="맑은 고딕" panose="020B0503020000020004" pitchFamily="50" charset="-127"/>
                <a:cs typeface="Arial" pitchFamily="34" charset="0"/>
              </a:rPr>
              <a:t> spec </a:t>
            </a:r>
            <a:r>
              <a:rPr lang="en-US" altLang="ko-KR" sz="900" dirty="0" err="1">
                <a:latin typeface="Arial" pitchFamily="34" charset="0"/>
                <a:ea typeface="맑은 고딕" panose="020B0503020000020004" pitchFamily="50" charset="-127"/>
                <a:cs typeface="Arial" pitchFamily="34" charset="0"/>
              </a:rPr>
              <a:t>của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sản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phẩm</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và</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dưới</a:t>
            </a:r>
            <a:r>
              <a:rPr lang="en-US" altLang="ko-KR" sz="900" dirty="0">
                <a:latin typeface="Arial" pitchFamily="34" charset="0"/>
                <a:ea typeface="맑은 고딕" panose="020B0503020000020004" pitchFamily="50" charset="-127"/>
                <a:cs typeface="Arial" pitchFamily="34" charset="0"/>
              </a:rPr>
              <a:t> 10% </a:t>
            </a:r>
            <a:r>
              <a:rPr lang="en-US" altLang="ko-KR" sz="900" dirty="0" err="1">
                <a:latin typeface="Arial" pitchFamily="34" charset="0"/>
                <a:ea typeface="맑은 고딕" panose="020B0503020000020004" pitchFamily="50" charset="-127"/>
                <a:cs typeface="Arial" pitchFamily="34" charset="0"/>
              </a:rPr>
              <a:t>mức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độ</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phân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bổ</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quá</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trình</a:t>
            </a:r>
            <a:endParaRPr lang="en-US" altLang="ko-KR" sz="900" dirty="0">
              <a:latin typeface="Arial" pitchFamily="34" charset="0"/>
              <a:ea typeface="맑은 고딕" panose="020B0503020000020004" pitchFamily="50" charset="-127"/>
              <a:cs typeface="Arial" pitchFamily="34" charset="0"/>
            </a:endParaRPr>
          </a:p>
        </p:txBody>
      </p:sp>
      <p:sp>
        <p:nvSpPr>
          <p:cNvPr id="53" name="모서리가 둥근 직사각형 52"/>
          <p:cNvSpPr/>
          <p:nvPr/>
        </p:nvSpPr>
        <p:spPr>
          <a:xfrm>
            <a:off x="344488" y="854075"/>
            <a:ext cx="2376487" cy="287338"/>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ea typeface="맑은 고딕" panose="020B0503020000020004" pitchFamily="50" charset="-127"/>
                <a:cs typeface="Arial" pitchFamily="34" charset="0"/>
              </a:rPr>
              <a:t>Trình</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tự</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tiến</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hành</a:t>
            </a:r>
            <a:endParaRPr lang="ko-KR" altLang="en-US" sz="1400" b="1" dirty="0">
              <a:latin typeface="Arial" pitchFamily="34" charset="0"/>
              <a:ea typeface="맑은 고딕" panose="020B0503020000020004" pitchFamily="50" charset="-127"/>
              <a:cs typeface="Arial" pitchFamily="34" charset="0"/>
            </a:endParaRPr>
          </a:p>
        </p:txBody>
      </p:sp>
      <p:sp>
        <p:nvSpPr>
          <p:cNvPr id="54" name="모서리가 둥근 직사각형 53"/>
          <p:cNvSpPr/>
          <p:nvPr/>
        </p:nvSpPr>
        <p:spPr>
          <a:xfrm>
            <a:off x="2865438" y="854075"/>
            <a:ext cx="3167062" cy="287338"/>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ea typeface="맑은 고딕" panose="020B0503020000020004" pitchFamily="50" charset="-127"/>
                <a:cs typeface="Arial" pitchFamily="34" charset="0"/>
              </a:rPr>
              <a:t>Lưu</a:t>
            </a:r>
            <a:r>
              <a:rPr lang="en-US" altLang="ko-KR" sz="1400" b="1" dirty="0">
                <a:latin typeface="Arial" pitchFamily="34" charset="0"/>
                <a:ea typeface="맑은 고딕" panose="020B0503020000020004" pitchFamily="50" charset="-127"/>
                <a:cs typeface="Arial" pitchFamily="34" charset="0"/>
              </a:rPr>
              <a:t> ý</a:t>
            </a:r>
            <a:endParaRPr lang="ko-KR" altLang="en-US" sz="1400" b="1" dirty="0">
              <a:latin typeface="Arial" pitchFamily="34" charset="0"/>
              <a:ea typeface="맑은 고딕" panose="020B0503020000020004" pitchFamily="50" charset="-127"/>
              <a:cs typeface="Arial" pitchFamily="34" charset="0"/>
            </a:endParaRPr>
          </a:p>
        </p:txBody>
      </p:sp>
      <p:sp>
        <p:nvSpPr>
          <p:cNvPr id="55" name="모서리가 둥근 직사각형 54"/>
          <p:cNvSpPr/>
          <p:nvPr/>
        </p:nvSpPr>
        <p:spPr>
          <a:xfrm>
            <a:off x="6176963" y="854075"/>
            <a:ext cx="3455987" cy="287338"/>
          </a:xfrm>
          <a:prstGeom prst="roundRect">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latin typeface="Arial" pitchFamily="34" charset="0"/>
                <a:ea typeface="맑은 고딕" panose="020B0503020000020004" pitchFamily="50" charset="-127"/>
                <a:cs typeface="Arial" pitchFamily="34" charset="0"/>
              </a:rPr>
              <a:t>Trường</a:t>
            </a:r>
            <a:r>
              <a:rPr lang="en-US" altLang="ko-KR" sz="1400" b="1" dirty="0">
                <a:latin typeface="Arial" pitchFamily="34" charset="0"/>
                <a:ea typeface="맑은 고딕" panose="020B0503020000020004" pitchFamily="50" charset="-127"/>
                <a:cs typeface="Arial" pitchFamily="34" charset="0"/>
              </a:rPr>
              <a:t> </a:t>
            </a:r>
            <a:r>
              <a:rPr lang="en-US" altLang="ko-KR" sz="1400" b="1" dirty="0" err="1">
                <a:latin typeface="Arial" pitchFamily="34" charset="0"/>
                <a:ea typeface="맑은 고딕" panose="020B0503020000020004" pitchFamily="50" charset="-127"/>
                <a:cs typeface="Arial" pitchFamily="34" charset="0"/>
              </a:rPr>
              <a:t>hợp</a:t>
            </a:r>
            <a:endParaRPr lang="ko-KR" altLang="en-US" sz="1400" b="1" dirty="0">
              <a:latin typeface="Arial" pitchFamily="34" charset="0"/>
              <a:ea typeface="맑은 고딕" panose="020B0503020000020004" pitchFamily="50" charset="-127"/>
              <a:cs typeface="Arial" pitchFamily="34" charset="0"/>
            </a:endParaRPr>
          </a:p>
        </p:txBody>
      </p:sp>
      <p:sp>
        <p:nvSpPr>
          <p:cNvPr id="56" name="오각형 55"/>
          <p:cNvSpPr/>
          <p:nvPr/>
        </p:nvSpPr>
        <p:spPr>
          <a:xfrm rot="5400000">
            <a:off x="1497013" y="925513"/>
            <a:ext cx="647700"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ea typeface="맑은 고딕" panose="020B0503020000020004" pitchFamily="50" charset="-127"/>
              <a:cs typeface="Arial" pitchFamily="34" charset="0"/>
            </a:endParaRPr>
          </a:p>
        </p:txBody>
      </p:sp>
      <p:cxnSp>
        <p:nvCxnSpPr>
          <p:cNvPr id="57" name="직선 연결선 56"/>
          <p:cNvCxnSpPr/>
          <p:nvPr/>
        </p:nvCxnSpPr>
        <p:spPr>
          <a:xfrm>
            <a:off x="344488" y="1271588"/>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8" name="직선 연결선 57"/>
          <p:cNvCxnSpPr/>
          <p:nvPr/>
        </p:nvCxnSpPr>
        <p:spPr>
          <a:xfrm>
            <a:off x="344488" y="2078038"/>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3326" name="Rectangle 39"/>
          <p:cNvSpPr>
            <a:spLocks noChangeArrowheads="1"/>
          </p:cNvSpPr>
          <p:nvPr/>
        </p:nvSpPr>
        <p:spPr bwMode="auto">
          <a:xfrm>
            <a:off x="6176963" y="1357313"/>
            <a:ext cx="3414712" cy="66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Wingdings" panose="05000000000000000000" pitchFamily="2" charset="2"/>
              <a:buChar char="ü"/>
              <a:defRPr/>
            </a:pPr>
            <a:r>
              <a:rPr lang="ko-KR" altLang="en-US"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Độ</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dài</a:t>
            </a:r>
            <a:r>
              <a:rPr lang="en-US" altLang="ko-KR" sz="900" dirty="0">
                <a:latin typeface="Arial" pitchFamily="34" charset="0"/>
                <a:ea typeface="맑은 고딕" panose="020B0503020000020004" pitchFamily="50" charset="-127"/>
                <a:cs typeface="Arial" pitchFamily="34" charset="0"/>
              </a:rPr>
              <a:t> spec </a:t>
            </a:r>
            <a:r>
              <a:rPr lang="en-US" altLang="ko-KR" sz="900" dirty="0" err="1">
                <a:latin typeface="Arial" pitchFamily="34" charset="0"/>
                <a:ea typeface="맑은 고딕" panose="020B0503020000020004" pitchFamily="50" charset="-127"/>
                <a:cs typeface="Arial" pitchFamily="34" charset="0"/>
              </a:rPr>
              <a:t>của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thiết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bị</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là</a:t>
            </a:r>
            <a:r>
              <a:rPr lang="en-US" altLang="ko-KR" sz="900" dirty="0">
                <a:latin typeface="Arial" pitchFamily="34" charset="0"/>
                <a:ea typeface="맑은 고딕" panose="020B0503020000020004" pitchFamily="50" charset="-127"/>
                <a:cs typeface="Arial" pitchFamily="34" charset="0"/>
              </a:rPr>
              <a:t> 10±0.1mm </a:t>
            </a:r>
            <a:r>
              <a:rPr lang="en-US" altLang="ko-KR" sz="900" dirty="0" err="1">
                <a:latin typeface="Arial" pitchFamily="34" charset="0"/>
                <a:ea typeface="맑은 고딕" panose="020B0503020000020004" pitchFamily="50" charset="-127"/>
                <a:cs typeface="Arial" pitchFamily="34" charset="0"/>
              </a:rPr>
              <a:t>nhưng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lại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được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bởi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thước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kẹp</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chia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khoảng</a:t>
            </a:r>
            <a:r>
              <a:rPr lang="en-US" altLang="ko-KR" sz="900" dirty="0">
                <a:latin typeface="Arial" pitchFamily="34" charset="0"/>
                <a:ea typeface="맑은 고딕" panose="020B0503020000020004" pitchFamily="50" charset="-127"/>
                <a:cs typeface="Arial" pitchFamily="34" charset="0"/>
              </a:rPr>
              <a:t>  0.1mm</a:t>
            </a:r>
            <a:endPar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endParaRPr>
          </a:p>
          <a:p>
            <a:pPr eaLnBrk="1" latinLnBrk="0" hangingPunct="1">
              <a:defRPr/>
            </a:pP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Không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phân</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biệt</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được</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các</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đối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tượng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vì</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vấn</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đề</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làm</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tròn</a:t>
            </a:r>
            <a:endParaRPr lang="ko-KR" altLang="en-US" sz="900" b="1" dirty="0">
              <a:solidFill>
                <a:srgbClr val="FF0000"/>
              </a:solidFill>
              <a:latin typeface="Arial" pitchFamily="34" charset="0"/>
              <a:ea typeface="맑은 고딕" panose="020B0503020000020004" pitchFamily="50" charset="-127"/>
              <a:cs typeface="Arial" pitchFamily="34" charset="0"/>
            </a:endParaRPr>
          </a:p>
        </p:txBody>
      </p:sp>
      <p:sp>
        <p:nvSpPr>
          <p:cNvPr id="16" name="Rectangle 19"/>
          <p:cNvSpPr>
            <a:spLocks noChangeArrowheads="1"/>
          </p:cNvSpPr>
          <p:nvPr/>
        </p:nvSpPr>
        <p:spPr bwMode="auto">
          <a:xfrm>
            <a:off x="1065212" y="2324100"/>
            <a:ext cx="1511301"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000" b="1" dirty="0" err="1">
                <a:latin typeface="Arial" pitchFamily="34" charset="0"/>
                <a:ea typeface="맑은 고딕" panose="020B0503020000020004" pitchFamily="50" charset="-127"/>
                <a:cs typeface="Arial" pitchFamily="34" charset="0"/>
              </a:rPr>
              <a:t>Chọn</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mẫu</a:t>
            </a:r>
            <a:br>
              <a:rPr lang="en-US" altLang="ko-KR" sz="1000" b="1" dirty="0">
                <a:latin typeface="Arial" pitchFamily="34" charset="0"/>
                <a:ea typeface="맑은 고딕" panose="020B0503020000020004" pitchFamily="50" charset="-127"/>
                <a:cs typeface="Arial" pitchFamily="34" charset="0"/>
              </a:rPr>
            </a:br>
            <a:r>
              <a:rPr lang="en-US" altLang="ko-KR" sz="1000" b="1" dirty="0" err="1">
                <a:latin typeface="Arial" pitchFamily="34" charset="0"/>
                <a:ea typeface="맑은 고딕" panose="020B0503020000020004" pitchFamily="50" charset="-127"/>
                <a:cs typeface="Arial" pitchFamily="34" charset="0"/>
              </a:rPr>
              <a:t>và</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người</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đo</a:t>
            </a:r>
            <a:endParaRPr lang="ko-KR" altLang="en-US" sz="1000" b="1" dirty="0">
              <a:latin typeface="Arial" pitchFamily="34" charset="0"/>
              <a:ea typeface="맑은 고딕" panose="020B0503020000020004" pitchFamily="50" charset="-127"/>
              <a:cs typeface="Arial" pitchFamily="34" charset="0"/>
            </a:endParaRPr>
          </a:p>
        </p:txBody>
      </p:sp>
      <p:sp>
        <p:nvSpPr>
          <p:cNvPr id="17" name="Rectangle 20"/>
          <p:cNvSpPr>
            <a:spLocks noChangeArrowheads="1"/>
          </p:cNvSpPr>
          <p:nvPr/>
        </p:nvSpPr>
        <p:spPr bwMode="auto">
          <a:xfrm>
            <a:off x="333811" y="2174875"/>
            <a:ext cx="730970"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200" b="1" dirty="0" err="1">
                <a:latin typeface="Arial" pitchFamily="34" charset="0"/>
                <a:ea typeface="맑은 고딕" panose="020B0503020000020004" pitchFamily="50" charset="-127"/>
                <a:cs typeface="Arial" pitchFamily="34" charset="0"/>
              </a:rPr>
              <a:t>Bước</a:t>
            </a:r>
            <a:r>
              <a:rPr lang="en-US" altLang="ko-KR" sz="1200" b="1" dirty="0">
                <a:latin typeface="Arial" pitchFamily="34" charset="0"/>
                <a:ea typeface="맑은 고딕" panose="020B0503020000020004" pitchFamily="50" charset="-127"/>
                <a:cs typeface="Arial" pitchFamily="34" charset="0"/>
              </a:rPr>
              <a:t> 2</a:t>
            </a:r>
          </a:p>
        </p:txBody>
      </p:sp>
      <p:sp>
        <p:nvSpPr>
          <p:cNvPr id="19" name="오각형 18"/>
          <p:cNvSpPr/>
          <p:nvPr/>
        </p:nvSpPr>
        <p:spPr>
          <a:xfrm rot="5400000">
            <a:off x="1335088" y="1893888"/>
            <a:ext cx="971550"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ea typeface="맑은 고딕" panose="020B0503020000020004" pitchFamily="50" charset="-127"/>
              <a:cs typeface="Arial" pitchFamily="34" charset="0"/>
            </a:endParaRPr>
          </a:p>
        </p:txBody>
      </p:sp>
      <p:cxnSp>
        <p:nvCxnSpPr>
          <p:cNvPr id="20" name="직선 연결선 19"/>
          <p:cNvCxnSpPr/>
          <p:nvPr/>
        </p:nvCxnSpPr>
        <p:spPr>
          <a:xfrm>
            <a:off x="344488" y="3179763"/>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22" name="Rectangle 19"/>
          <p:cNvSpPr>
            <a:spLocks noChangeArrowheads="1"/>
          </p:cNvSpPr>
          <p:nvPr/>
        </p:nvSpPr>
        <p:spPr bwMode="auto">
          <a:xfrm>
            <a:off x="1231900" y="3429256"/>
            <a:ext cx="11604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000" b="1" dirty="0">
                <a:latin typeface="Arial" pitchFamily="34" charset="0"/>
                <a:ea typeface="맑은 고딕" panose="020B0503020000020004" pitchFamily="50" charset="-127"/>
                <a:cs typeface="Arial" pitchFamily="34" charset="0"/>
              </a:rPr>
              <a:t>Tiến </a:t>
            </a:r>
            <a:r>
              <a:rPr lang="en-US" altLang="ko-KR" sz="1000" b="1" dirty="0" err="1">
                <a:latin typeface="Arial" pitchFamily="34" charset="0"/>
                <a:ea typeface="맑은 고딕" panose="020B0503020000020004" pitchFamily="50" charset="-127"/>
                <a:cs typeface="Arial" pitchFamily="34" charset="0"/>
              </a:rPr>
              <a:t>hành</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đo</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lường</a:t>
            </a:r>
            <a:endParaRPr lang="ko-KR" altLang="en-US" sz="1000" b="1" dirty="0">
              <a:latin typeface="Arial" pitchFamily="34" charset="0"/>
              <a:ea typeface="맑은 고딕" panose="020B0503020000020004" pitchFamily="50" charset="-127"/>
              <a:cs typeface="Arial" pitchFamily="34" charset="0"/>
            </a:endParaRPr>
          </a:p>
        </p:txBody>
      </p:sp>
      <p:sp>
        <p:nvSpPr>
          <p:cNvPr id="23" name="Rectangle 20"/>
          <p:cNvSpPr>
            <a:spLocks noChangeArrowheads="1"/>
          </p:cNvSpPr>
          <p:nvPr/>
        </p:nvSpPr>
        <p:spPr bwMode="auto">
          <a:xfrm>
            <a:off x="333811" y="3246438"/>
            <a:ext cx="730970"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200" b="1" dirty="0" err="1">
                <a:latin typeface="Arial" pitchFamily="34" charset="0"/>
                <a:ea typeface="맑은 고딕" panose="020B0503020000020004" pitchFamily="50" charset="-127"/>
                <a:cs typeface="Arial" pitchFamily="34" charset="0"/>
              </a:rPr>
              <a:t>Bước</a:t>
            </a:r>
            <a:r>
              <a:rPr lang="en-US" altLang="ko-KR" sz="1200" b="1" dirty="0">
                <a:latin typeface="Arial" pitchFamily="34" charset="0"/>
                <a:ea typeface="맑은 고딕" panose="020B0503020000020004" pitchFamily="50" charset="-127"/>
                <a:cs typeface="Arial" pitchFamily="34" charset="0"/>
              </a:rPr>
              <a:t> 3</a:t>
            </a:r>
          </a:p>
        </p:txBody>
      </p:sp>
      <p:sp>
        <p:nvSpPr>
          <p:cNvPr id="25" name="오각형 24"/>
          <p:cNvSpPr/>
          <p:nvPr/>
        </p:nvSpPr>
        <p:spPr>
          <a:xfrm rot="5400000">
            <a:off x="1319213" y="2981325"/>
            <a:ext cx="1003300"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ea typeface="맑은 고딕" panose="020B0503020000020004" pitchFamily="50" charset="-127"/>
              <a:cs typeface="Arial" pitchFamily="34" charset="0"/>
            </a:endParaRPr>
          </a:p>
        </p:txBody>
      </p:sp>
      <p:cxnSp>
        <p:nvCxnSpPr>
          <p:cNvPr id="26" name="직선 연결선 25"/>
          <p:cNvCxnSpPr/>
          <p:nvPr/>
        </p:nvCxnSpPr>
        <p:spPr>
          <a:xfrm>
            <a:off x="344488" y="4255766"/>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28" name="Rectangle 19"/>
          <p:cNvSpPr>
            <a:spLocks noChangeArrowheads="1"/>
          </p:cNvSpPr>
          <p:nvPr/>
        </p:nvSpPr>
        <p:spPr bwMode="auto">
          <a:xfrm>
            <a:off x="1065212" y="4454525"/>
            <a:ext cx="1511301"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000" b="1" dirty="0" err="1">
                <a:latin typeface="Arial" pitchFamily="34" charset="0"/>
                <a:ea typeface="맑은 고딕" panose="020B0503020000020004" pitchFamily="50" charset="-127"/>
                <a:cs typeface="Arial" pitchFamily="34" charset="0"/>
              </a:rPr>
              <a:t>Phân</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tích</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kết</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quả</a:t>
            </a:r>
            <a:endParaRPr lang="en-US" altLang="ko-KR" sz="1000" b="1" dirty="0">
              <a:latin typeface="Arial" pitchFamily="34" charset="0"/>
              <a:ea typeface="맑은 고딕" panose="020B0503020000020004" pitchFamily="50" charset="-127"/>
              <a:cs typeface="Arial" pitchFamily="34" charset="0"/>
            </a:endParaRPr>
          </a:p>
          <a:p>
            <a:pPr algn="ctr" eaLnBrk="1" latinLnBrk="0" hangingPunct="1">
              <a:defRPr/>
            </a:pPr>
            <a:r>
              <a:rPr lang="en-US" altLang="ko-KR" sz="1000" b="1" dirty="0">
                <a:latin typeface="Arial" pitchFamily="34" charset="0"/>
                <a:ea typeface="맑은 고딕" panose="020B0503020000020004" pitchFamily="50" charset="-127"/>
                <a:cs typeface="Arial" pitchFamily="34" charset="0"/>
              </a:rPr>
              <a:t>(Gage R&amp;R)</a:t>
            </a:r>
            <a:endParaRPr lang="ko-KR" altLang="en-US" sz="1000" b="1" dirty="0">
              <a:latin typeface="Arial" pitchFamily="34" charset="0"/>
              <a:ea typeface="맑은 고딕" panose="020B0503020000020004" pitchFamily="50" charset="-127"/>
              <a:cs typeface="Arial" pitchFamily="34" charset="0"/>
            </a:endParaRPr>
          </a:p>
        </p:txBody>
      </p:sp>
      <p:sp>
        <p:nvSpPr>
          <p:cNvPr id="29" name="Rectangle 20"/>
          <p:cNvSpPr>
            <a:spLocks noChangeArrowheads="1"/>
          </p:cNvSpPr>
          <p:nvPr/>
        </p:nvSpPr>
        <p:spPr bwMode="auto">
          <a:xfrm>
            <a:off x="333811" y="4375150"/>
            <a:ext cx="730970"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200" b="1" dirty="0" err="1">
                <a:latin typeface="Arial" pitchFamily="34" charset="0"/>
                <a:ea typeface="맑은 고딕" panose="020B0503020000020004" pitchFamily="50" charset="-127"/>
                <a:cs typeface="Arial" pitchFamily="34" charset="0"/>
              </a:rPr>
              <a:t>Bước</a:t>
            </a:r>
            <a:r>
              <a:rPr lang="en-US" altLang="ko-KR" sz="1200" b="1" dirty="0">
                <a:latin typeface="Arial" pitchFamily="34" charset="0"/>
                <a:ea typeface="맑은 고딕" panose="020B0503020000020004" pitchFamily="50" charset="-127"/>
                <a:cs typeface="Arial" pitchFamily="34" charset="0"/>
              </a:rPr>
              <a:t> 4</a:t>
            </a:r>
          </a:p>
        </p:txBody>
      </p:sp>
      <p:sp>
        <p:nvSpPr>
          <p:cNvPr id="31" name="오각형 30"/>
          <p:cNvSpPr/>
          <p:nvPr/>
        </p:nvSpPr>
        <p:spPr>
          <a:xfrm rot="5400000">
            <a:off x="1275556" y="4088607"/>
            <a:ext cx="1090613"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ea typeface="맑은 고딕" panose="020B0503020000020004" pitchFamily="50" charset="-127"/>
              <a:cs typeface="Arial" pitchFamily="34" charset="0"/>
            </a:endParaRPr>
          </a:p>
        </p:txBody>
      </p:sp>
      <p:cxnSp>
        <p:nvCxnSpPr>
          <p:cNvPr id="32" name="직선 연결선 31"/>
          <p:cNvCxnSpPr/>
          <p:nvPr/>
        </p:nvCxnSpPr>
        <p:spPr>
          <a:xfrm>
            <a:off x="303213" y="5492751"/>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34" name="Rectangle 19"/>
          <p:cNvSpPr>
            <a:spLocks noChangeArrowheads="1"/>
          </p:cNvSpPr>
          <p:nvPr/>
        </p:nvSpPr>
        <p:spPr bwMode="auto">
          <a:xfrm>
            <a:off x="1231900" y="5688013"/>
            <a:ext cx="11604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000" b="1" dirty="0" err="1">
                <a:latin typeface="Arial" pitchFamily="34" charset="0"/>
                <a:ea typeface="맑은 고딕" panose="020B0503020000020004" pitchFamily="50" charset="-127"/>
                <a:cs typeface="Arial" pitchFamily="34" charset="0"/>
              </a:rPr>
              <a:t>Hoạt</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động</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cải</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tiến</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và</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xác</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nhận</a:t>
            </a:r>
            <a:r>
              <a:rPr lang="en-US" altLang="ko-KR" sz="1000" b="1" dirty="0">
                <a:latin typeface="Arial" pitchFamily="34" charset="0"/>
                <a:ea typeface="맑은 고딕" panose="020B0503020000020004" pitchFamily="50" charset="-127"/>
                <a:cs typeface="Arial" pitchFamily="34" charset="0"/>
              </a:rPr>
              <a:t> </a:t>
            </a:r>
            <a:r>
              <a:rPr lang="en-US" altLang="ko-KR" sz="1000" b="1" dirty="0" err="1">
                <a:latin typeface="Arial" pitchFamily="34" charset="0"/>
                <a:ea typeface="맑은 고딕" panose="020B0503020000020004" pitchFamily="50" charset="-127"/>
                <a:cs typeface="Arial" pitchFamily="34" charset="0"/>
              </a:rPr>
              <a:t>lại</a:t>
            </a:r>
            <a:endParaRPr lang="ko-KR" altLang="en-US" sz="1000" b="1" dirty="0">
              <a:latin typeface="Arial" pitchFamily="34" charset="0"/>
              <a:ea typeface="맑은 고딕" panose="020B0503020000020004" pitchFamily="50" charset="-127"/>
              <a:cs typeface="Arial" pitchFamily="34" charset="0"/>
            </a:endParaRPr>
          </a:p>
        </p:txBody>
      </p:sp>
      <p:sp>
        <p:nvSpPr>
          <p:cNvPr id="35" name="Rectangle 20"/>
          <p:cNvSpPr>
            <a:spLocks noChangeArrowheads="1"/>
          </p:cNvSpPr>
          <p:nvPr/>
        </p:nvSpPr>
        <p:spPr bwMode="auto">
          <a:xfrm>
            <a:off x="333811" y="5527675"/>
            <a:ext cx="730970"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200" b="1" dirty="0" err="1">
                <a:latin typeface="Arial" pitchFamily="34" charset="0"/>
                <a:ea typeface="맑은 고딕" panose="020B0503020000020004" pitchFamily="50" charset="-127"/>
                <a:cs typeface="Arial" pitchFamily="34" charset="0"/>
              </a:rPr>
              <a:t>Bước</a:t>
            </a:r>
            <a:r>
              <a:rPr lang="en-US" altLang="ko-KR" sz="1200" b="1" dirty="0">
                <a:latin typeface="Arial" pitchFamily="34" charset="0"/>
                <a:ea typeface="맑은 고딕" panose="020B0503020000020004" pitchFamily="50" charset="-127"/>
                <a:cs typeface="Arial" pitchFamily="34" charset="0"/>
              </a:rPr>
              <a:t> 5</a:t>
            </a:r>
          </a:p>
        </p:txBody>
      </p:sp>
      <p:sp>
        <p:nvSpPr>
          <p:cNvPr id="37" name="오각형 36"/>
          <p:cNvSpPr/>
          <p:nvPr/>
        </p:nvSpPr>
        <p:spPr>
          <a:xfrm rot="5400000">
            <a:off x="1367632" y="5214144"/>
            <a:ext cx="906462" cy="1511300"/>
          </a:xfrm>
          <a:prstGeom prst="homePlate">
            <a:avLst>
              <a:gd name="adj" fmla="val 29420"/>
            </a:avLst>
          </a:prstGeom>
          <a:noFill/>
          <a:ln w="3175">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ea typeface="맑은 고딕" panose="020B0503020000020004" pitchFamily="50" charset="-127"/>
              <a:cs typeface="Arial" pitchFamily="34" charset="0"/>
            </a:endParaRPr>
          </a:p>
        </p:txBody>
      </p:sp>
      <p:cxnSp>
        <p:nvCxnSpPr>
          <p:cNvPr id="38" name="직선 연결선 37"/>
          <p:cNvCxnSpPr/>
          <p:nvPr/>
        </p:nvCxnSpPr>
        <p:spPr>
          <a:xfrm>
            <a:off x="344488" y="6470650"/>
            <a:ext cx="9288462" cy="0"/>
          </a:xfrm>
          <a:prstGeom prst="line">
            <a:avLst/>
          </a:prstGeom>
          <a:ln>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40" name="Rectangle 21"/>
          <p:cNvSpPr>
            <a:spLocks noChangeArrowheads="1"/>
          </p:cNvSpPr>
          <p:nvPr/>
        </p:nvSpPr>
        <p:spPr bwMode="auto">
          <a:xfrm>
            <a:off x="2865438" y="2132013"/>
            <a:ext cx="3167062" cy="1003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Arial" panose="020B0604020202020204" pitchFamily="34" charset="0"/>
              <a:buChar char="•"/>
              <a:defRPr/>
            </a:pPr>
            <a:r>
              <a:rPr lang="en-US" altLang="ko-KR" sz="900" dirty="0" err="1">
                <a:latin typeface="Arial" pitchFamily="34" charset="0"/>
                <a:ea typeface="맑은 고딕" panose="020B0503020000020004" pitchFamily="50" charset="-127"/>
                <a:cs typeface="Arial" pitchFamily="34" charset="0"/>
              </a:rPr>
              <a:t>Mẫu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lựa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chọn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từ</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các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khoảng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tương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đương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từ</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cùng</a:t>
            </a:r>
            <a:r>
              <a:rPr lang="en-US" altLang="ko-KR" sz="900" dirty="0">
                <a:latin typeface="Arial" pitchFamily="34" charset="0"/>
                <a:ea typeface="맑은 고딕" panose="020B0503020000020004" pitchFamily="50" charset="-127"/>
                <a:cs typeface="Arial" pitchFamily="34" charset="0"/>
              </a:rPr>
              <a:t> 1 </a:t>
            </a:r>
            <a:r>
              <a:rPr lang="en-US" altLang="ko-KR" sz="900" dirty="0" err="1">
                <a:latin typeface="Arial" pitchFamily="34" charset="0"/>
                <a:ea typeface="맑은 고딕" panose="020B0503020000020004" pitchFamily="50" charset="-127"/>
                <a:cs typeface="Arial" pitchFamily="34" charset="0"/>
              </a:rPr>
              <a:t>vùng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bao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gồm</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phân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bổ</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quá</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trình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hoặc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toàn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bộ</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phạm</a:t>
            </a:r>
            <a:r>
              <a:rPr lang="en-US" altLang="ko-KR" sz="900" dirty="0">
                <a:latin typeface="Arial" pitchFamily="34" charset="0"/>
                <a:ea typeface="맑은 고딕" panose="020B0503020000020004" pitchFamily="50" charset="-127"/>
                <a:cs typeface="Arial" pitchFamily="34" charset="0"/>
              </a:rPr>
              <a:t> vi </a:t>
            </a:r>
            <a:r>
              <a:rPr lang="en-US" altLang="ko-KR" sz="900" dirty="0" err="1">
                <a:latin typeface="Arial" pitchFamily="34" charset="0"/>
                <a:ea typeface="맑은 고딕" panose="020B0503020000020004" pitchFamily="50" charset="-127"/>
                <a:cs typeface="Arial" pitchFamily="34" charset="0"/>
              </a:rPr>
              <a:t>của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đăc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điểm</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lường</a:t>
            </a:r>
            <a:r>
              <a:rPr lang="en-US" altLang="ko-KR" sz="900" dirty="0">
                <a:latin typeface="Arial" pitchFamily="34" charset="0"/>
                <a:ea typeface="맑은 고딕" panose="020B0503020000020004" pitchFamily="50" charset="-127"/>
                <a:cs typeface="Arial" pitchFamily="34" charset="0"/>
              </a:rPr>
              <a:t>. </a:t>
            </a:r>
          </a:p>
          <a:p>
            <a:pPr marL="87313" indent="-87313" eaLnBrk="1" latinLnBrk="0" hangingPunct="1">
              <a:buFont typeface="Arial" panose="020B0604020202020204" pitchFamily="34" charset="0"/>
              <a:buChar char="•"/>
              <a:defRPr/>
            </a:pPr>
            <a:r>
              <a:rPr lang="en-US" altLang="ko-KR" sz="900" dirty="0" err="1">
                <a:latin typeface="Arial" pitchFamily="34" charset="0"/>
                <a:ea typeface="맑은 고딕" panose="020B0503020000020004" pitchFamily="50" charset="-127"/>
                <a:cs typeface="Arial" pitchFamily="34" charset="0"/>
              </a:rPr>
              <a:t>Cần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có</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ít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nhất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hai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người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là</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chuyên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gia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hoặc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cá</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nhân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chịu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trách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nhiệm</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lường</a:t>
            </a:r>
            <a:r>
              <a:rPr lang="en-US" altLang="ko-KR" sz="900" dirty="0">
                <a:latin typeface="Arial" pitchFamily="34" charset="0"/>
                <a:ea typeface="맑은 고딕" panose="020B0503020000020004" pitchFamily="50" charset="-127"/>
                <a:cs typeface="Arial" pitchFamily="34" charset="0"/>
              </a:rPr>
              <a:t>.</a:t>
            </a:r>
          </a:p>
        </p:txBody>
      </p:sp>
      <p:sp>
        <p:nvSpPr>
          <p:cNvPr id="41" name="Rectangle 21"/>
          <p:cNvSpPr>
            <a:spLocks noChangeArrowheads="1"/>
          </p:cNvSpPr>
          <p:nvPr/>
        </p:nvSpPr>
        <p:spPr bwMode="auto">
          <a:xfrm>
            <a:off x="2865438" y="3225800"/>
            <a:ext cx="3167062" cy="101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Arial" panose="020B0604020202020204" pitchFamily="34" charset="0"/>
              <a:buChar char="•"/>
              <a:defRPr/>
            </a:pPr>
            <a:r>
              <a:rPr lang="en-US" altLang="ko-KR" sz="900" dirty="0" err="1">
                <a:solidFill>
                  <a:srgbClr val="FF0000"/>
                </a:solidFill>
                <a:latin typeface="Arial" pitchFamily="34" charset="0"/>
                <a:ea typeface="맑은 고딕" panose="020B0503020000020004" pitchFamily="50" charset="-127"/>
                <a:cs typeface="Arial" pitchFamily="34" charset="0"/>
              </a:rPr>
              <a:t>Thử</a:t>
            </a:r>
            <a:r>
              <a:rPr lang="en-US" altLang="ko-KR" sz="900" dirty="0">
                <a:solidFill>
                  <a:srgbClr val="FF0000"/>
                </a:solidFill>
                <a:latin typeface="Arial" pitchFamily="34" charset="0"/>
                <a:ea typeface="맑은 고딕" panose="020B0503020000020004" pitchFamily="50" charset="-127"/>
                <a:cs typeface="Arial" pitchFamily="34" charset="0"/>
              </a:rPr>
              <a:t> </a:t>
            </a:r>
            <a:r>
              <a:rPr lang="en-US" altLang="ko-KR" sz="900" dirty="0" err="1">
                <a:solidFill>
                  <a:srgbClr val="FF0000"/>
                </a:solidFill>
                <a:latin typeface="Arial" pitchFamily="34" charset="0"/>
                <a:ea typeface="맑은 고딕" panose="020B0503020000020004" pitchFamily="50" charset="-127"/>
                <a:cs typeface="Arial" pitchFamily="34" charset="0"/>
              </a:rPr>
              <a:t>nghiệm</a:t>
            </a:r>
            <a:r>
              <a:rPr lang="en-US" altLang="ko-KR" sz="900" dirty="0">
                <a:solidFill>
                  <a:srgbClr val="FF0000"/>
                </a:solidFill>
                <a:latin typeface="Arial" pitchFamily="34" charset="0"/>
                <a:ea typeface="맑은 고딕" panose="020B0503020000020004" pitchFamily="50" charset="-127"/>
                <a:cs typeface="Arial" pitchFamily="34" charset="0"/>
              </a:rPr>
              <a:t> </a:t>
            </a:r>
            <a:r>
              <a:rPr lang="en-US" altLang="ko-KR" sz="900" dirty="0" err="1">
                <a:solidFill>
                  <a:srgbClr val="FF0000"/>
                </a:solidFill>
                <a:latin typeface="Arial" pitchFamily="34" charset="0"/>
                <a:ea typeface="맑은 고딕" panose="020B0503020000020004" pitchFamily="50" charset="-127"/>
                <a:cs typeface="Arial" pitchFamily="34" charset="0"/>
              </a:rPr>
              <a:t>ngẫu</a:t>
            </a:r>
            <a:r>
              <a:rPr lang="en-US" altLang="ko-KR" sz="900" dirty="0">
                <a:solidFill>
                  <a:srgbClr val="FF0000"/>
                </a:solidFill>
                <a:latin typeface="Arial" pitchFamily="34" charset="0"/>
                <a:ea typeface="맑은 고딕" panose="020B0503020000020004" pitchFamily="50" charset="-127"/>
                <a:cs typeface="Arial" pitchFamily="34" charset="0"/>
              </a:rPr>
              <a:t> </a:t>
            </a:r>
            <a:r>
              <a:rPr lang="en-US" altLang="ko-KR" sz="900" dirty="0" err="1">
                <a:solidFill>
                  <a:srgbClr val="FF0000"/>
                </a:solidFill>
                <a:latin typeface="Arial" pitchFamily="34" charset="0"/>
                <a:ea typeface="맑은 고딕" panose="020B0503020000020004" pitchFamily="50" charset="-127"/>
                <a:cs typeface="Arial" pitchFamily="34" charset="0"/>
              </a:rPr>
              <a:t>nhiên</a:t>
            </a:r>
            <a:r>
              <a:rPr lang="en-US" altLang="ko-KR" sz="900" dirty="0">
                <a:solidFill>
                  <a:srgbClr val="FF0000"/>
                </a:solidFill>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Việc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lựa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chọn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mẫu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lường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thứ</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tự</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lường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được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tiến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hành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ngẫu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nhiên</a:t>
            </a:r>
            <a:r>
              <a:rPr lang="en-US" altLang="ko-KR" sz="900" dirty="0">
                <a:latin typeface="Arial" pitchFamily="34" charset="0"/>
                <a:ea typeface="맑은 고딕" panose="020B0503020000020004" pitchFamily="50" charset="-127"/>
                <a:cs typeface="Arial" pitchFamily="34" charset="0"/>
              </a:rPr>
              <a:t>. </a:t>
            </a:r>
          </a:p>
          <a:p>
            <a:pPr marL="87313" indent="-87313" eaLnBrk="1" latinLnBrk="0" hangingPunct="1">
              <a:buFont typeface="Arial" panose="020B0604020202020204" pitchFamily="34" charset="0"/>
              <a:buChar char="•"/>
              <a:defRPr/>
            </a:pPr>
            <a:r>
              <a:rPr lang="en-US" altLang="ko-KR" sz="900" dirty="0">
                <a:solidFill>
                  <a:srgbClr val="FF0000"/>
                </a:solidFill>
                <a:latin typeface="Arial" pitchFamily="34" charset="0"/>
                <a:ea typeface="맑은 고딕" panose="020B0503020000020004" pitchFamily="50" charset="-127"/>
                <a:cs typeface="Arial" pitchFamily="34" charset="0"/>
              </a:rPr>
              <a:t>Blind Test : </a:t>
            </a:r>
            <a:r>
              <a:rPr lang="en-US" altLang="ko-KR" sz="900" dirty="0" err="1">
                <a:latin typeface="Arial" pitchFamily="34" charset="0"/>
                <a:ea typeface="맑은 고딕" panose="020B0503020000020004" pitchFamily="50" charset="-127"/>
                <a:cs typeface="Arial" pitchFamily="34" charset="0"/>
              </a:rPr>
              <a:t>Người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không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được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biết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bất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cứ</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thông</a:t>
            </a:r>
            <a:r>
              <a:rPr lang="en-US" altLang="ko-KR" sz="900" dirty="0">
                <a:latin typeface="Arial" pitchFamily="34" charset="0"/>
                <a:ea typeface="맑은 고딕" panose="020B0503020000020004" pitchFamily="50" charset="-127"/>
                <a:cs typeface="Arial" pitchFamily="34" charset="0"/>
              </a:rPr>
              <a:t> tin </a:t>
            </a:r>
            <a:r>
              <a:rPr lang="en-US" altLang="ko-KR" sz="900" dirty="0" err="1">
                <a:latin typeface="Arial" pitchFamily="34" charset="0"/>
                <a:ea typeface="맑은 고딕" panose="020B0503020000020004" pitchFamily="50" charset="-127"/>
                <a:cs typeface="Arial" pitchFamily="34" charset="0"/>
              </a:rPr>
              <a:t>gì</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liên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quan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đến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mẫu</a:t>
            </a:r>
            <a:r>
              <a:rPr lang="en-US" altLang="ko-KR" sz="900" dirty="0">
                <a:latin typeface="Arial" pitchFamily="34" charset="0"/>
                <a:ea typeface="맑은 고딕" panose="020B0503020000020004" pitchFamily="50" charset="-127"/>
                <a:cs typeface="Arial" pitchFamily="34" charset="0"/>
              </a:rPr>
              <a:t>. </a:t>
            </a:r>
          </a:p>
        </p:txBody>
      </p:sp>
      <p:sp>
        <p:nvSpPr>
          <p:cNvPr id="42" name="Rectangle 21"/>
          <p:cNvSpPr>
            <a:spLocks noChangeArrowheads="1"/>
          </p:cNvSpPr>
          <p:nvPr/>
        </p:nvSpPr>
        <p:spPr bwMode="auto">
          <a:xfrm>
            <a:off x="2865438" y="4287838"/>
            <a:ext cx="3167062" cy="1174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Arial" panose="020B0604020202020204" pitchFamily="34" charset="0"/>
              <a:buChar char="•"/>
              <a:defRPr/>
            </a:pPr>
            <a:r>
              <a:rPr lang="en-US" altLang="ko-KR" sz="900" dirty="0" err="1">
                <a:latin typeface="Arial" pitchFamily="34" charset="0"/>
                <a:ea typeface="맑은 고딕" panose="020B0503020000020004" pitchFamily="50" charset="-127"/>
                <a:cs typeface="Arial" pitchFamily="34" charset="0"/>
              </a:rPr>
              <a:t>Xác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định</a:t>
            </a:r>
            <a:r>
              <a:rPr lang="en-US" altLang="ko-KR" sz="900" dirty="0">
                <a:latin typeface="Arial" pitchFamily="34" charset="0"/>
                <a:ea typeface="맑은 고딕" panose="020B0503020000020004" pitchFamily="50" charset="-127"/>
                <a:cs typeface="Arial" pitchFamily="34" charset="0"/>
              </a:rPr>
              <a:t> ý </a:t>
            </a:r>
            <a:r>
              <a:rPr lang="en-US" altLang="ko-KR" sz="900" dirty="0" err="1">
                <a:latin typeface="Arial" pitchFamily="34" charset="0"/>
                <a:ea typeface="맑은 고딕" panose="020B0503020000020004" pitchFamily="50" charset="-127"/>
                <a:cs typeface="Arial" pitchFamily="34" charset="0"/>
              </a:rPr>
              <a:t>nghĩa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của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các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hạng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mục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lường</a:t>
            </a:r>
            <a:endParaRPr lang="en-US" altLang="ko-KR" sz="900" dirty="0">
              <a:latin typeface="Arial" pitchFamily="34" charset="0"/>
              <a:ea typeface="맑은 고딕" panose="020B0503020000020004" pitchFamily="50" charset="-127"/>
              <a:cs typeface="Arial" pitchFamily="34" charset="0"/>
            </a:endParaRPr>
          </a:p>
          <a:p>
            <a:pPr eaLnBrk="1" latinLnBrk="0" hangingPunct="1">
              <a:defRPr/>
            </a:pPr>
            <a:r>
              <a:rPr lang="en-US" altLang="ko-KR" sz="900" dirty="0" err="1">
                <a:latin typeface="Arial" pitchFamily="34" charset="0"/>
                <a:ea typeface="맑은 고딕" panose="020B0503020000020004" pitchFamily="50" charset="-127"/>
                <a:cs typeface="Arial" pitchFamily="34" charset="0"/>
              </a:rPr>
              <a:t>Sử</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dụng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giá</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trị</a:t>
            </a:r>
            <a:r>
              <a:rPr lang="en-US" altLang="ko-KR" sz="900" dirty="0">
                <a:latin typeface="Arial" pitchFamily="34" charset="0"/>
                <a:ea typeface="맑은 고딕" panose="020B0503020000020004" pitchFamily="50" charset="-127"/>
                <a:cs typeface="Arial" pitchFamily="34" charset="0"/>
              </a:rPr>
              <a:t> P (P-value). P-value </a:t>
            </a:r>
            <a:r>
              <a:rPr lang="en-US" altLang="ko-KR" sz="900" dirty="0" err="1">
                <a:latin typeface="Arial" pitchFamily="34" charset="0"/>
                <a:ea typeface="맑은 고딕" panose="020B0503020000020004" pitchFamily="50" charset="-127"/>
                <a:cs typeface="Arial" pitchFamily="34" charset="0"/>
              </a:rPr>
              <a:t>cần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nhỏ</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hơn</a:t>
            </a:r>
            <a:r>
              <a:rPr lang="en-US" altLang="ko-KR" sz="900" dirty="0">
                <a:latin typeface="Arial" pitchFamily="34" charset="0"/>
                <a:ea typeface="맑은 고딕" panose="020B0503020000020004" pitchFamily="50" charset="-127"/>
                <a:cs typeface="Arial" pitchFamily="34" charset="0"/>
              </a:rPr>
              <a:t> 0.05</a:t>
            </a:r>
          </a:p>
          <a:p>
            <a:pPr eaLnBrk="1" latinLnBrk="0" hangingPunct="1">
              <a:defRPr/>
            </a:pPr>
            <a:r>
              <a:rPr lang="en-US" altLang="ko-KR" sz="900" dirty="0" err="1">
                <a:latin typeface="Arial" pitchFamily="34" charset="0"/>
                <a:ea typeface="맑은 고딕" panose="020B0503020000020004" pitchFamily="50" charset="-127"/>
                <a:cs typeface="Arial" pitchFamily="34" charset="0"/>
              </a:rPr>
              <a:t>Kiểm</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tỉ</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lệ</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phương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sai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của</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phương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sai</a:t>
            </a:r>
            <a:r>
              <a:rPr lang="en-US" altLang="ko-KR" sz="900" dirty="0">
                <a:latin typeface="Arial" pitchFamily="34" charset="0"/>
                <a:ea typeface="맑은 고딕" panose="020B0503020000020004" pitchFamily="50" charset="-127"/>
                <a:cs typeface="Arial" pitchFamily="34" charset="0"/>
              </a:rPr>
              <a:t> Gage</a:t>
            </a:r>
          </a:p>
          <a:p>
            <a:pPr eaLnBrk="1" latinLnBrk="0" hangingPunct="1">
              <a:defRPr/>
            </a:pPr>
            <a:r>
              <a:rPr lang="en-US" altLang="ko-KR" sz="900" dirty="0">
                <a:latin typeface="Arial" pitchFamily="34" charset="0"/>
                <a:ea typeface="맑은 고딕" panose="020B0503020000020004" pitchFamily="50" charset="-127"/>
                <a:cs typeface="Arial" pitchFamily="34" charset="0"/>
              </a:rPr>
              <a:t>   %Study Var., %Process, %</a:t>
            </a:r>
            <a:r>
              <a:rPr lang="en-US" altLang="ko-KR" sz="900" dirty="0" err="1">
                <a:latin typeface="Arial" pitchFamily="34" charset="0"/>
                <a:ea typeface="맑은 고딕" panose="020B0503020000020004" pitchFamily="50" charset="-127"/>
                <a:cs typeface="Arial" pitchFamily="34" charset="0"/>
              </a:rPr>
              <a:t>Tol</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cần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trong</a:t>
            </a:r>
            <a:r>
              <a:rPr lang="en-US" altLang="ko-KR" sz="900" dirty="0">
                <a:latin typeface="Arial" pitchFamily="34" charset="0"/>
                <a:ea typeface="맑은 고딕" panose="020B0503020000020004" pitchFamily="50" charset="-127"/>
                <a:cs typeface="Arial" pitchFamily="34" charset="0"/>
              </a:rPr>
              <a:t> khoảng10%</a:t>
            </a:r>
          </a:p>
          <a:p>
            <a:pPr marL="87313" indent="-87313" eaLnBrk="1" latinLnBrk="0" hangingPunct="1">
              <a:buFont typeface="Arial" panose="020B0604020202020204" pitchFamily="34" charset="0"/>
              <a:buChar char="•"/>
              <a:defRPr/>
            </a:pPr>
            <a:r>
              <a:rPr lang="en-US" altLang="ko-KR" sz="900" dirty="0" err="1">
                <a:latin typeface="Arial" pitchFamily="34" charset="0"/>
                <a:ea typeface="맑은 고딕" panose="020B0503020000020004" pitchFamily="50" charset="-127"/>
                <a:cs typeface="Arial" pitchFamily="34" charset="0"/>
              </a:rPr>
              <a:t>Số</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hạng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mục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phân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loại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ít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nhất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là</a:t>
            </a:r>
            <a:r>
              <a:rPr lang="en-US" altLang="ko-KR" sz="900" dirty="0">
                <a:latin typeface="Arial" pitchFamily="34" charset="0"/>
                <a:ea typeface="맑은 고딕" panose="020B0503020000020004" pitchFamily="50" charset="-127"/>
                <a:cs typeface="Arial" pitchFamily="34" charset="0"/>
              </a:rPr>
              <a:t> 5</a:t>
            </a:r>
          </a:p>
        </p:txBody>
      </p:sp>
      <p:sp>
        <p:nvSpPr>
          <p:cNvPr id="43" name="Rectangle 39"/>
          <p:cNvSpPr>
            <a:spLocks noChangeArrowheads="1"/>
          </p:cNvSpPr>
          <p:nvPr/>
        </p:nvSpPr>
        <p:spPr bwMode="auto">
          <a:xfrm>
            <a:off x="6176963" y="2141538"/>
            <a:ext cx="3414712" cy="973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Wingdings" panose="05000000000000000000" pitchFamily="2" charset="2"/>
              <a:buChar char="ü"/>
              <a:defRPr/>
            </a:pP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Mẫu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lường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được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từng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phần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hoặc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trong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phạm</a:t>
            </a:r>
            <a:r>
              <a:rPr lang="en-US" altLang="ko-KR" sz="900" dirty="0">
                <a:latin typeface="Arial" pitchFamily="34" charset="0"/>
                <a:ea typeface="맑은 고딕" panose="020B0503020000020004" pitchFamily="50" charset="-127"/>
                <a:cs typeface="Arial" pitchFamily="34" charset="0"/>
              </a:rPr>
              <a:t> vi </a:t>
            </a:r>
            <a:r>
              <a:rPr lang="en-US" altLang="ko-KR" sz="900" dirty="0" err="1">
                <a:latin typeface="Arial" pitchFamily="34" charset="0"/>
                <a:ea typeface="맑은 고딕" panose="020B0503020000020004" pitchFamily="50" charset="-127"/>
                <a:cs typeface="Arial" pitchFamily="34" charset="0"/>
              </a:rPr>
              <a:t>lớn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hơn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tiêu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chuẩn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cho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phép</a:t>
            </a:r>
            <a:r>
              <a:rPr lang="en-US" altLang="ko-KR" sz="900" dirty="0">
                <a:latin typeface="Arial" pitchFamily="34" charset="0"/>
                <a:ea typeface="맑은 고딕" panose="020B0503020000020004" pitchFamily="50" charset="-127"/>
                <a:cs typeface="Arial" pitchFamily="34" charset="0"/>
              </a:rPr>
              <a:t> </a:t>
            </a:r>
          </a:p>
          <a:p>
            <a:pPr marL="87313" indent="-87313" eaLnBrk="1" latinLnBrk="0" hangingPunct="1">
              <a:defRPr/>
            </a:pP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Sự</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phân</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bổ</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bị</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sai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lệch</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a:t>
            </a:r>
          </a:p>
          <a:p>
            <a:pPr marL="87313" indent="-87313" eaLnBrk="1" latinLnBrk="0" hangingPunct="1">
              <a:buFont typeface="Wingdings" panose="05000000000000000000" pitchFamily="2" charset="2"/>
              <a:buChar char="ü"/>
              <a:defRPr/>
            </a:pPr>
            <a:r>
              <a:rPr lang="ko-KR" altLang="en-US"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Người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không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biết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cách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endParaRPr lang="en-US" altLang="ko-KR" sz="900" dirty="0">
              <a:latin typeface="Arial" pitchFamily="34" charset="0"/>
              <a:ea typeface="맑은 고딕" panose="020B0503020000020004" pitchFamily="50" charset="-127"/>
              <a:cs typeface="Arial" pitchFamily="34" charset="0"/>
            </a:endParaRPr>
          </a:p>
          <a:p>
            <a:pPr eaLnBrk="1" latinLnBrk="0" hangingPunct="1">
              <a:defRPr/>
            </a:pP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Ảnh</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hưởng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của</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người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đo</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tác</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động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tới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phương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sai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tổng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thể</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và</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sai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lệch</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kết</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quả</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endParaRPr lang="ko-KR" altLang="en-US" sz="900" b="1" dirty="0">
              <a:solidFill>
                <a:srgbClr val="FF0000"/>
              </a:solidFill>
              <a:latin typeface="Arial" pitchFamily="34" charset="0"/>
              <a:ea typeface="맑은 고딕" panose="020B0503020000020004" pitchFamily="50" charset="-127"/>
              <a:cs typeface="Arial" pitchFamily="34" charset="0"/>
            </a:endParaRPr>
          </a:p>
        </p:txBody>
      </p:sp>
      <p:sp>
        <p:nvSpPr>
          <p:cNvPr id="44" name="Rectangle 39"/>
          <p:cNvSpPr>
            <a:spLocks noChangeArrowheads="1"/>
          </p:cNvSpPr>
          <p:nvPr/>
        </p:nvSpPr>
        <p:spPr bwMode="auto">
          <a:xfrm>
            <a:off x="6176963" y="3225800"/>
            <a:ext cx="3414712" cy="868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Wingdings" panose="05000000000000000000" pitchFamily="2" charset="2"/>
              <a:buChar char="ü"/>
              <a:defRPr/>
            </a:pPr>
            <a:r>
              <a:rPr lang="ko-KR" altLang="en-US"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Thứ</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tự</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lường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không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ngẫu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nhiên</a:t>
            </a:r>
            <a:endParaRPr lang="en-US" altLang="ko-KR" sz="900" dirty="0">
              <a:latin typeface="Arial" pitchFamily="34" charset="0"/>
              <a:ea typeface="맑은 고딕" panose="020B0503020000020004" pitchFamily="50" charset="-127"/>
              <a:cs typeface="Arial" pitchFamily="34" charset="0"/>
            </a:endParaRPr>
          </a:p>
          <a:p>
            <a:pPr eaLnBrk="1" latinLnBrk="0" hangingPunct="1">
              <a:defRPr/>
            </a:pP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Những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yếu</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tố</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môi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trường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không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được</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phân</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bổ</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đều</a:t>
            </a:r>
            <a:endPar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endParaRPr>
          </a:p>
          <a:p>
            <a:pPr marL="87313" indent="-87313" eaLnBrk="1" latinLnBrk="0" hangingPunct="1">
              <a:buFont typeface="Wingdings" panose="05000000000000000000" pitchFamily="2" charset="2"/>
              <a:buChar char="ü"/>
              <a:defRPr/>
            </a:pPr>
            <a:r>
              <a:rPr lang="ko-KR" altLang="en-US"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Người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biết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trước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về</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mẫu</a:t>
            </a:r>
            <a:endParaRPr lang="en-US" altLang="ko-KR" sz="900" dirty="0">
              <a:latin typeface="Arial" pitchFamily="34" charset="0"/>
              <a:ea typeface="맑은 고딕" panose="020B0503020000020004" pitchFamily="50" charset="-127"/>
              <a:cs typeface="Arial" pitchFamily="34" charset="0"/>
            </a:endParaRPr>
          </a:p>
          <a:p>
            <a:pPr eaLnBrk="1" latinLnBrk="0" hangingPunct="1">
              <a:defRPr/>
            </a:pPr>
            <a:r>
              <a:rPr lang="en-US" altLang="ko-KR" sz="900" dirty="0">
                <a:latin typeface="Arial" pitchFamily="34" charset="0"/>
                <a:ea typeface="맑은 고딕" panose="020B0503020000020004" pitchFamily="50" charset="-127"/>
                <a:cs typeface="Arial" pitchFamily="34" charset="0"/>
              </a:rPr>
              <a:t> </a:t>
            </a:r>
            <a:r>
              <a:rPr lang="ko-KR" altLang="en-US" sz="900" dirty="0">
                <a:latin typeface="Arial" pitchFamily="34" charset="0"/>
                <a:ea typeface="맑은 고딕" panose="020B0503020000020004" pitchFamily="50" charset="-127"/>
                <a:cs typeface="Arial" pitchFamily="34" charset="0"/>
              </a:rPr>
              <a:t> </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Phương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sai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có</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thể</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bị</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sai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lệch</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a:t>
            </a:r>
            <a:endParaRPr lang="ko-KR" altLang="en-US" sz="900" b="1" dirty="0">
              <a:solidFill>
                <a:srgbClr val="FF0000"/>
              </a:solidFill>
              <a:latin typeface="Arial" pitchFamily="34" charset="0"/>
              <a:ea typeface="맑은 고딕" panose="020B0503020000020004" pitchFamily="50" charset="-127"/>
              <a:cs typeface="Arial" pitchFamily="34" charset="0"/>
            </a:endParaRPr>
          </a:p>
        </p:txBody>
      </p:sp>
      <p:sp>
        <p:nvSpPr>
          <p:cNvPr id="45" name="Rectangle 39"/>
          <p:cNvSpPr>
            <a:spLocks noChangeArrowheads="1"/>
          </p:cNvSpPr>
          <p:nvPr/>
        </p:nvSpPr>
        <p:spPr bwMode="auto">
          <a:xfrm>
            <a:off x="6176963" y="4221088"/>
            <a:ext cx="3414712" cy="1179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Wingdings" panose="05000000000000000000" pitchFamily="2" charset="2"/>
              <a:buChar char="ü"/>
              <a:defRPr/>
            </a:pP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Không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có</a:t>
            </a:r>
            <a:r>
              <a:rPr lang="en-US" altLang="ko-KR" sz="900" dirty="0">
                <a:latin typeface="Arial" pitchFamily="34" charset="0"/>
                <a:ea typeface="맑은 고딕" panose="020B0503020000020004" pitchFamily="50" charset="-127"/>
                <a:cs typeface="Arial" pitchFamily="34" charset="0"/>
              </a:rPr>
              <a:t> ý </a:t>
            </a:r>
            <a:r>
              <a:rPr lang="en-US" altLang="ko-KR" sz="900" dirty="0" err="1">
                <a:latin typeface="Arial" pitchFamily="34" charset="0"/>
                <a:ea typeface="맑은 고딕" panose="020B0503020000020004" pitchFamily="50" charset="-127"/>
                <a:cs typeface="Arial" pitchFamily="34" charset="0"/>
              </a:rPr>
              <a:t>nghĩa</a:t>
            </a:r>
            <a:endParaRPr lang="en-US" altLang="ko-KR" sz="900" dirty="0">
              <a:latin typeface="Arial" pitchFamily="34" charset="0"/>
              <a:ea typeface="맑은 고딕" panose="020B0503020000020004" pitchFamily="50" charset="-127"/>
              <a:cs typeface="Arial" pitchFamily="34" charset="0"/>
            </a:endParaRPr>
          </a:p>
          <a:p>
            <a:pPr eaLnBrk="1" latinLnBrk="0" hangingPunct="1">
              <a:defRPr/>
            </a:pP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Có</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vấn</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đề</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trong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việc</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chọn</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mẫu</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hoặc</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dụng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cụ</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đo</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lường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a:t>
            </a:r>
            <a:r>
              <a:rPr lang="ko-KR" altLang="en-US"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endParaRPr lang="en-US" altLang="ko-KR" sz="900" dirty="0">
              <a:latin typeface="Arial" pitchFamily="34" charset="0"/>
              <a:ea typeface="맑은 고딕" panose="020B0503020000020004" pitchFamily="50" charset="-127"/>
              <a:cs typeface="Arial" pitchFamily="34" charset="0"/>
            </a:endParaRPr>
          </a:p>
          <a:p>
            <a:pPr marL="87313" indent="-87313" eaLnBrk="1" latinLnBrk="0" hangingPunct="1">
              <a:buFont typeface="Wingdings" panose="05000000000000000000" pitchFamily="2" charset="2"/>
              <a:buChar char="ü"/>
              <a:defRPr/>
            </a:pPr>
            <a:r>
              <a:rPr lang="en-US" altLang="ko-KR" sz="900" dirty="0" err="1">
                <a:latin typeface="Arial" pitchFamily="34" charset="0"/>
                <a:ea typeface="맑은 고딕" panose="020B0503020000020004" pitchFamily="50" charset="-127"/>
                <a:cs typeface="Arial" pitchFamily="34" charset="0"/>
              </a:rPr>
              <a:t>Tỉ</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lệ</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phương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sai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lớn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hơn</a:t>
            </a:r>
            <a:r>
              <a:rPr lang="en-US" altLang="ko-KR" sz="900" dirty="0">
                <a:latin typeface="Arial" pitchFamily="34" charset="0"/>
                <a:ea typeface="맑은 고딕" panose="020B0503020000020004" pitchFamily="50" charset="-127"/>
                <a:cs typeface="Arial" pitchFamily="34" charset="0"/>
              </a:rPr>
              <a:t> 20%</a:t>
            </a:r>
          </a:p>
          <a:p>
            <a:pPr eaLnBrk="1" latinLnBrk="0" hangingPunct="1">
              <a:defRPr/>
            </a:pPr>
            <a:r>
              <a:rPr lang="en-US" altLang="ko-KR" sz="900" dirty="0">
                <a:latin typeface="Arial" pitchFamily="34" charset="0"/>
                <a:ea typeface="맑은 고딕" panose="020B0503020000020004" pitchFamily="50" charset="-127"/>
                <a:cs typeface="Arial" pitchFamily="34" charset="0"/>
              </a:rPr>
              <a:t>  </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Phương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sai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Gage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lớn</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hệ</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thống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đo</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lường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cần</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được</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cải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tiến</a:t>
            </a:r>
            <a:endParaRPr lang="ko-KR" altLang="en-US" sz="900" b="1" dirty="0">
              <a:solidFill>
                <a:srgbClr val="FF0000"/>
              </a:solidFill>
              <a:latin typeface="Arial" pitchFamily="34" charset="0"/>
              <a:ea typeface="맑은 고딕" panose="020B0503020000020004" pitchFamily="50" charset="-127"/>
              <a:cs typeface="Arial" pitchFamily="34" charset="0"/>
            </a:endParaRPr>
          </a:p>
        </p:txBody>
      </p:sp>
      <p:sp>
        <p:nvSpPr>
          <p:cNvPr id="46" name="Rectangle 21"/>
          <p:cNvSpPr>
            <a:spLocks noChangeArrowheads="1"/>
          </p:cNvSpPr>
          <p:nvPr/>
        </p:nvSpPr>
        <p:spPr bwMode="auto">
          <a:xfrm>
            <a:off x="2865438" y="5634038"/>
            <a:ext cx="3167062" cy="69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Arial" panose="020B0604020202020204" pitchFamily="34" charset="0"/>
              <a:buChar char="•"/>
              <a:defRPr/>
            </a:pPr>
            <a:r>
              <a:rPr lang="en-US" altLang="ko-KR" sz="900" dirty="0" err="1">
                <a:latin typeface="Arial" pitchFamily="34" charset="0"/>
                <a:ea typeface="맑은 고딕" panose="020B0503020000020004" pitchFamily="50" charset="-127"/>
                <a:cs typeface="Arial" pitchFamily="34" charset="0"/>
              </a:rPr>
              <a:t>Sau</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xác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nhận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lại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tiến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hành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phân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tích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nguyên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nhân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cốt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lõi</a:t>
            </a:r>
            <a:r>
              <a:rPr lang="en-US" altLang="ko-KR" sz="900" dirty="0">
                <a:latin typeface="Arial" pitchFamily="34" charset="0"/>
                <a:ea typeface="맑은 고딕" panose="020B0503020000020004" pitchFamily="50" charset="-127"/>
                <a:cs typeface="Arial" pitchFamily="34" charset="0"/>
              </a:rPr>
              <a:t>. </a:t>
            </a:r>
          </a:p>
          <a:p>
            <a:pPr marL="87313" indent="-87313" eaLnBrk="1" latinLnBrk="0" hangingPunct="1">
              <a:buFont typeface="Arial" panose="020B0604020202020204" pitchFamily="34" charset="0"/>
              <a:buChar char="•"/>
              <a:defRPr/>
            </a:pPr>
            <a:r>
              <a:rPr lang="en-US" altLang="ko-KR" sz="900" dirty="0" err="1">
                <a:latin typeface="Arial" pitchFamily="34" charset="0"/>
                <a:ea typeface="맑은 고딕" panose="020B0503020000020004" pitchFamily="50" charset="-127"/>
                <a:cs typeface="Arial" pitchFamily="34" charset="0"/>
              </a:rPr>
              <a:t>Lên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kế</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hoạch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hợp</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lý</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và</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thực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hiện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các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hoạt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động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cải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tiến</a:t>
            </a:r>
            <a:endParaRPr lang="en-US" altLang="ko-KR" sz="900" dirty="0">
              <a:latin typeface="Arial" pitchFamily="34" charset="0"/>
              <a:ea typeface="맑은 고딕" panose="020B0503020000020004" pitchFamily="50" charset="-127"/>
              <a:cs typeface="Arial" pitchFamily="34" charset="0"/>
            </a:endParaRPr>
          </a:p>
          <a:p>
            <a:pPr marL="87313" indent="-87313" eaLnBrk="1" latinLnBrk="0" hangingPunct="1">
              <a:buFont typeface="Arial" panose="020B0604020202020204" pitchFamily="34" charset="0"/>
              <a:buChar char="•"/>
              <a:defRPr/>
            </a:pPr>
            <a:r>
              <a:rPr lang="en-US" altLang="ko-KR" sz="900" dirty="0" err="1">
                <a:latin typeface="Arial" pitchFamily="34" charset="0"/>
                <a:ea typeface="맑은 고딕" panose="020B0503020000020004" pitchFamily="50" charset="-127"/>
                <a:cs typeface="Arial" pitchFamily="34" charset="0"/>
              </a:rPr>
              <a:t>Áp</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dụng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việc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cải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tiến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và</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tiến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hành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xác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nhận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lại</a:t>
            </a:r>
            <a:r>
              <a:rPr lang="en-US" altLang="ko-KR" sz="900" dirty="0">
                <a:latin typeface="Arial" pitchFamily="34" charset="0"/>
                <a:ea typeface="맑은 고딕" panose="020B0503020000020004" pitchFamily="50" charset="-127"/>
                <a:cs typeface="Arial" pitchFamily="34" charset="0"/>
              </a:rPr>
              <a:t>. </a:t>
            </a:r>
          </a:p>
        </p:txBody>
      </p:sp>
      <p:sp>
        <p:nvSpPr>
          <p:cNvPr id="47" name="Rectangle 39"/>
          <p:cNvSpPr>
            <a:spLocks noChangeArrowheads="1"/>
          </p:cNvSpPr>
          <p:nvPr/>
        </p:nvSpPr>
        <p:spPr bwMode="auto">
          <a:xfrm>
            <a:off x="6176963" y="5562178"/>
            <a:ext cx="3414712"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87313" indent="-87313" eaLnBrk="1" latinLnBrk="0" hangingPunct="1">
              <a:buFont typeface="Wingdings" panose="05000000000000000000" pitchFamily="2" charset="2"/>
              <a:buChar char="ü"/>
              <a:defRPr/>
            </a:pP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Việc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cải</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tiến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được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thực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hiện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mà</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không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xác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định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nguyên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nhân</a:t>
            </a:r>
            <a:r>
              <a:rPr lang="en-US" altLang="ko-KR" sz="900" dirty="0">
                <a:latin typeface="Arial" pitchFamily="34" charset="0"/>
                <a:ea typeface="맑은 고딕" panose="020B0503020000020004" pitchFamily="50" charset="-127"/>
                <a:cs typeface="Arial" pitchFamily="34" charset="0"/>
              </a:rPr>
              <a:t>. </a:t>
            </a:r>
          </a:p>
          <a:p>
            <a:pPr eaLnBrk="1" latinLnBrk="0" hangingPunct="1">
              <a:defRPr/>
            </a:pP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Lỗi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bất</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thường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có</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thể</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tiếp</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tục</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xảy</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ra</a:t>
            </a:r>
            <a:endParaRPr lang="en-US" altLang="ko-KR" sz="900" dirty="0">
              <a:latin typeface="Arial" pitchFamily="34" charset="0"/>
              <a:ea typeface="맑은 고딕" panose="020B0503020000020004" pitchFamily="50" charset="-127"/>
              <a:cs typeface="Arial" pitchFamily="34" charset="0"/>
            </a:endParaRPr>
          </a:p>
          <a:p>
            <a:pPr marL="87313" indent="-87313" eaLnBrk="1" latinLnBrk="0" hangingPunct="1">
              <a:buFont typeface="Wingdings" panose="05000000000000000000" pitchFamily="2" charset="2"/>
              <a:buChar char="ü"/>
              <a:defRPr/>
            </a:pPr>
            <a:r>
              <a:rPr lang="ko-KR" altLang="en-US"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Không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xác</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nhận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hệ</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thống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đo</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lường</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một</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cách</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toàn</a:t>
            </a:r>
            <a:r>
              <a:rPr lang="en-US" altLang="ko-KR" sz="900" dirty="0">
                <a:latin typeface="Arial" pitchFamily="34" charset="0"/>
                <a:ea typeface="맑은 고딕" panose="020B0503020000020004" pitchFamily="50" charset="-127"/>
                <a:cs typeface="Arial" pitchFamily="34" charset="0"/>
              </a:rPr>
              <a:t> </a:t>
            </a:r>
            <a:r>
              <a:rPr lang="en-US" altLang="ko-KR" sz="900" dirty="0" err="1">
                <a:latin typeface="Arial" pitchFamily="34" charset="0"/>
                <a:ea typeface="맑은 고딕" panose="020B0503020000020004" pitchFamily="50" charset="-127"/>
                <a:cs typeface="Arial" pitchFamily="34" charset="0"/>
              </a:rPr>
              <a:t>diện</a:t>
            </a:r>
            <a:endParaRPr lang="en-US" altLang="ko-KR" sz="900" dirty="0">
              <a:latin typeface="Arial" pitchFamily="34" charset="0"/>
              <a:ea typeface="맑은 고딕" panose="020B0503020000020004" pitchFamily="50" charset="-127"/>
              <a:cs typeface="Arial" pitchFamily="34" charset="0"/>
            </a:endParaRPr>
          </a:p>
          <a:p>
            <a:pPr eaLnBrk="1" latinLnBrk="0" hangingPunct="1">
              <a:defRPr/>
            </a:pP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Kết</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quả</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đo</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lường</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có</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thể</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bị</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sai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lệch</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và</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có</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thể</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đưa</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ra</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quyết</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định</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sai</a:t>
            </a:r>
            <a:r>
              <a:rPr lang="en-US" altLang="ko-KR" sz="900" b="1" dirty="0">
                <a:solidFill>
                  <a:srgbClr val="FF0000"/>
                </a:solidFill>
                <a:latin typeface="Arial" pitchFamily="34" charset="0"/>
                <a:ea typeface="맑은 고딕" panose="020B0503020000020004" pitchFamily="50" charset="-127"/>
                <a:cs typeface="Arial" pitchFamily="34" charset="0"/>
                <a:sym typeface="Wingdings" pitchFamily="2" charset="2"/>
              </a:rPr>
              <a:t> </a:t>
            </a:r>
            <a:r>
              <a:rPr lang="en-US" altLang="ko-KR" sz="900" b="1" dirty="0" err="1">
                <a:solidFill>
                  <a:srgbClr val="FF0000"/>
                </a:solidFill>
                <a:latin typeface="Arial" pitchFamily="34" charset="0"/>
                <a:ea typeface="맑은 고딕" panose="020B0503020000020004" pitchFamily="50" charset="-127"/>
                <a:cs typeface="Arial" pitchFamily="34" charset="0"/>
                <a:sym typeface="Wingdings" pitchFamily="2" charset="2"/>
              </a:rPr>
              <a:t>lầm</a:t>
            </a:r>
            <a:endParaRPr lang="ko-KR" altLang="en-US" sz="900" b="1" dirty="0">
              <a:solidFill>
                <a:srgbClr val="FF0000"/>
              </a:solidFill>
              <a:latin typeface="Arial" pitchFamily="34" charset="0"/>
              <a:ea typeface="맑은 고딕" panose="020B0503020000020004" pitchFamily="50" charset="-127"/>
              <a:cs typeface="Arial" pitchFamily="34" charset="0"/>
            </a:endParaRPr>
          </a:p>
        </p:txBody>
      </p:sp>
      <p:sp>
        <p:nvSpPr>
          <p:cNvPr id="39" name="제목 8"/>
          <p:cNvSpPr txBox="1">
            <a:spLocks/>
          </p:cNvSpPr>
          <p:nvPr/>
        </p:nvSpPr>
        <p:spPr bwMode="auto">
          <a:xfrm>
            <a:off x="7185248" y="260350"/>
            <a:ext cx="2592165" cy="488950"/>
          </a:xfrm>
          <a:prstGeom prst="rect">
            <a:avLst/>
          </a:prstGeom>
          <a:noFill/>
          <a:ln>
            <a:miter lim="800000"/>
            <a:headEnd/>
            <a:tailEnd/>
          </a:ln>
        </p:spPr>
        <p:txBody>
          <a:bodyPr anchor="ctr"/>
          <a:lstStyle/>
          <a:p>
            <a:pPr algn="r">
              <a:defRPr/>
            </a:pPr>
            <a:r>
              <a:rPr lang="en-US" altLang="ko-KR" sz="1600" b="1" kern="0" dirty="0">
                <a:solidFill>
                  <a:srgbClr val="000000"/>
                </a:solidFill>
                <a:latin typeface="Arial" pitchFamily="34" charset="0"/>
                <a:ea typeface="맑은 고딕" panose="020B0503020000020004" pitchFamily="50" charset="-127"/>
                <a:cs typeface="Arial" pitchFamily="34" charset="0"/>
              </a:rPr>
              <a:t>Gage R&amp;R</a:t>
            </a:r>
            <a:endParaRPr lang="ko-KR" altLang="en-US" sz="1600" b="1" kern="0" dirty="0">
              <a:solidFill>
                <a:srgbClr val="000000"/>
              </a:solidFill>
              <a:latin typeface="Arial" pitchFamily="34" charset="0"/>
              <a:ea typeface="맑은 고딕" panose="020B0503020000020004"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194</a:t>
            </a:fld>
            <a:endParaRPr lang="ko-KR" altLang="en-US" dirty="0">
              <a:latin typeface="Arial" pitchFamily="34" charset="0"/>
              <a:cs typeface="Arial" pitchFamily="34" charset="0"/>
            </a:endParaRPr>
          </a:p>
        </p:txBody>
      </p:sp>
      <p:sp>
        <p:nvSpPr>
          <p:cNvPr id="48" name="제목 8"/>
          <p:cNvSpPr txBox="1">
            <a:spLocks/>
          </p:cNvSpPr>
          <p:nvPr/>
        </p:nvSpPr>
        <p:spPr bwMode="auto">
          <a:xfrm>
            <a:off x="195263" y="188913"/>
            <a:ext cx="8027558"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3.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Trình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tự</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tiến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Diễn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giải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kết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quả</a:t>
            </a:r>
            <a:endParaRPr lang="ko-KR" altLang="en-US" sz="2000" b="1" kern="0" dirty="0">
              <a:solidFill>
                <a:srgbClr val="000000"/>
              </a:solidFill>
              <a:latin typeface="Arial" pitchFamily="34" charset="0"/>
              <a:ea typeface="맑은 고딕"/>
              <a:cs typeface="Arial" pitchFamily="34" charset="0"/>
            </a:endParaRPr>
          </a:p>
        </p:txBody>
      </p:sp>
      <p:pic>
        <p:nvPicPr>
          <p:cNvPr id="49" name="Picture 48"/>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10253405" y="1631156"/>
            <a:ext cx="2979995" cy="3973326"/>
          </a:xfrm>
          <a:prstGeom prst="rect">
            <a:avLst/>
          </a:prstGeom>
        </p:spPr>
      </p:pic>
      <p:pic>
        <p:nvPicPr>
          <p:cNvPr id="3" name="Picture 2"/>
          <p:cNvPicPr>
            <a:picLocks noChangeAspect="1"/>
          </p:cNvPicPr>
          <p:nvPr/>
        </p:nvPicPr>
        <p:blipFill>
          <a:blip r:embed="rId4"/>
          <a:stretch>
            <a:fillRect/>
          </a:stretch>
        </p:blipFill>
        <p:spPr>
          <a:xfrm>
            <a:off x="10253405" y="4824294"/>
            <a:ext cx="2616059" cy="1962044"/>
          </a:xfrm>
          <a:prstGeom prst="rect">
            <a:avLst/>
          </a:prstGeom>
        </p:spPr>
      </p:pic>
    </p:spTree>
    <p:extLst>
      <p:ext uri="{BB962C8B-B14F-4D97-AF65-F5344CB8AC3E}">
        <p14:creationId xmlns:p14="http://schemas.microsoft.com/office/powerpoint/2010/main" val="2159675397"/>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052513" y="2270125"/>
            <a:ext cx="8329612" cy="1068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그룹 2"/>
          <p:cNvGrpSpPr>
            <a:grpSpLocks/>
          </p:cNvGrpSpPr>
          <p:nvPr/>
        </p:nvGrpSpPr>
        <p:grpSpPr bwMode="auto">
          <a:xfrm>
            <a:off x="2108200" y="2052638"/>
            <a:ext cx="5954713" cy="1795462"/>
            <a:chOff x="1817615" y="2754385"/>
            <a:chExt cx="5955579" cy="2286000"/>
          </a:xfrm>
        </p:grpSpPr>
        <p:cxnSp>
          <p:nvCxnSpPr>
            <p:cNvPr id="16462" name="직선 연결선 3"/>
            <p:cNvCxnSpPr>
              <a:cxnSpLocks noChangeShapeType="1"/>
            </p:cNvCxnSpPr>
            <p:nvPr/>
          </p:nvCxnSpPr>
          <p:spPr bwMode="auto">
            <a:xfrm rot="5400000">
              <a:off x="675409" y="3896591"/>
              <a:ext cx="2286000" cy="1588"/>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cxnSp>
          <p:nvCxnSpPr>
            <p:cNvPr id="16463" name="직선 연결선 4"/>
            <p:cNvCxnSpPr>
              <a:cxnSpLocks noChangeShapeType="1"/>
            </p:cNvCxnSpPr>
            <p:nvPr/>
          </p:nvCxnSpPr>
          <p:spPr bwMode="auto">
            <a:xfrm rot="5400000">
              <a:off x="6629400" y="3896591"/>
              <a:ext cx="2286000" cy="1588"/>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grpSp>
      <p:sp>
        <p:nvSpPr>
          <p:cNvPr id="16388" name="TextBox 5"/>
          <p:cNvSpPr txBox="1">
            <a:spLocks noChangeArrowheads="1"/>
          </p:cNvSpPr>
          <p:nvPr/>
        </p:nvSpPr>
        <p:spPr bwMode="auto">
          <a:xfrm>
            <a:off x="1885950" y="1766888"/>
            <a:ext cx="4571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LSL</a:t>
            </a:r>
            <a:endParaRPr lang="ko-KR" altLang="en-US" sz="1200">
              <a:solidFill>
                <a:srgbClr val="000000"/>
              </a:solidFill>
              <a:latin typeface="Arial" pitchFamily="34" charset="0"/>
              <a:ea typeface="맑은 고딕" pitchFamily="50" charset="-127"/>
              <a:cs typeface="Arial" pitchFamily="34" charset="0"/>
            </a:endParaRPr>
          </a:p>
        </p:txBody>
      </p:sp>
      <p:sp>
        <p:nvSpPr>
          <p:cNvPr id="16389" name="TextBox 6"/>
          <p:cNvSpPr txBox="1">
            <a:spLocks noChangeArrowheads="1"/>
          </p:cNvSpPr>
          <p:nvPr/>
        </p:nvSpPr>
        <p:spPr bwMode="auto">
          <a:xfrm>
            <a:off x="7829550" y="1766888"/>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USL</a:t>
            </a:r>
            <a:endParaRPr lang="ko-KR" altLang="en-US" sz="1200">
              <a:solidFill>
                <a:srgbClr val="000000"/>
              </a:solidFill>
              <a:latin typeface="Arial" pitchFamily="34" charset="0"/>
              <a:ea typeface="맑은 고딕" pitchFamily="50" charset="-127"/>
              <a:cs typeface="Arial" pitchFamily="34" charset="0"/>
            </a:endParaRPr>
          </a:p>
        </p:txBody>
      </p:sp>
      <p:cxnSp>
        <p:nvCxnSpPr>
          <p:cNvPr id="16390" name="직선 화살표 연결선 7"/>
          <p:cNvCxnSpPr>
            <a:cxnSpLocks noChangeShapeType="1"/>
          </p:cNvCxnSpPr>
          <p:nvPr/>
        </p:nvCxnSpPr>
        <p:spPr bwMode="auto">
          <a:xfrm>
            <a:off x="2119313" y="3578225"/>
            <a:ext cx="5943600" cy="1588"/>
          </a:xfrm>
          <a:prstGeom prst="straightConnector1">
            <a:avLst/>
          </a:prstGeom>
          <a:noFill/>
          <a:ln w="12700" algn="ctr">
            <a:solidFill>
              <a:schemeClr val="tx1"/>
            </a:solidFill>
            <a:round/>
            <a:headEnd type="arrow" w="med" len="med"/>
            <a:tailEnd type="arrow" w="med" len="med"/>
          </a:ln>
          <a:extLst>
            <a:ext uri="{909E8E84-426E-40DD-AFC4-6F175D3DCCD1}">
              <a14:hiddenFill xmlns:a14="http://schemas.microsoft.com/office/drawing/2010/main">
                <a:noFill/>
              </a14:hiddenFill>
            </a:ext>
          </a:extLst>
        </p:spPr>
      </p:cxnSp>
      <p:cxnSp>
        <p:nvCxnSpPr>
          <p:cNvPr id="16391" name="직선 화살표 연결선 8"/>
          <p:cNvCxnSpPr>
            <a:cxnSpLocks noChangeShapeType="1"/>
          </p:cNvCxnSpPr>
          <p:nvPr/>
        </p:nvCxnSpPr>
        <p:spPr bwMode="auto">
          <a:xfrm>
            <a:off x="8093075" y="3587750"/>
            <a:ext cx="1143000" cy="1588"/>
          </a:xfrm>
          <a:prstGeom prst="straightConnector1">
            <a:avLst/>
          </a:prstGeom>
          <a:noFill/>
          <a:ln w="12700"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6392" name="직선 화살표 연결선 9"/>
          <p:cNvCxnSpPr>
            <a:cxnSpLocks noChangeShapeType="1"/>
          </p:cNvCxnSpPr>
          <p:nvPr/>
        </p:nvCxnSpPr>
        <p:spPr bwMode="auto">
          <a:xfrm rot="10800000">
            <a:off x="1204913" y="3578225"/>
            <a:ext cx="914400" cy="1588"/>
          </a:xfrm>
          <a:prstGeom prst="straightConnector1">
            <a:avLst/>
          </a:prstGeom>
          <a:noFill/>
          <a:ln w="12700"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1" name="타원 10"/>
          <p:cNvSpPr/>
          <p:nvPr/>
        </p:nvSpPr>
        <p:spPr bwMode="auto">
          <a:xfrm>
            <a:off x="27352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2" name="타원 11"/>
          <p:cNvSpPr/>
          <p:nvPr/>
        </p:nvSpPr>
        <p:spPr bwMode="auto">
          <a:xfrm>
            <a:off x="29130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3" name="타원 12"/>
          <p:cNvSpPr/>
          <p:nvPr/>
        </p:nvSpPr>
        <p:spPr bwMode="auto">
          <a:xfrm>
            <a:off x="307181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4" name="타원 13"/>
          <p:cNvSpPr/>
          <p:nvPr/>
        </p:nvSpPr>
        <p:spPr bwMode="auto">
          <a:xfrm>
            <a:off x="32432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5" name="타원 14"/>
          <p:cNvSpPr/>
          <p:nvPr/>
        </p:nvSpPr>
        <p:spPr bwMode="auto">
          <a:xfrm>
            <a:off x="34083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6" name="타원 15"/>
          <p:cNvSpPr/>
          <p:nvPr/>
        </p:nvSpPr>
        <p:spPr bwMode="auto">
          <a:xfrm>
            <a:off x="357981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7" name="타원 16"/>
          <p:cNvSpPr/>
          <p:nvPr/>
        </p:nvSpPr>
        <p:spPr bwMode="auto">
          <a:xfrm>
            <a:off x="37385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8" name="타원 17"/>
          <p:cNvSpPr/>
          <p:nvPr/>
        </p:nvSpPr>
        <p:spPr bwMode="auto">
          <a:xfrm>
            <a:off x="389731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9" name="타원 18"/>
          <p:cNvSpPr/>
          <p:nvPr/>
        </p:nvSpPr>
        <p:spPr bwMode="auto">
          <a:xfrm>
            <a:off x="40560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20" name="타원 19"/>
          <p:cNvSpPr/>
          <p:nvPr/>
        </p:nvSpPr>
        <p:spPr bwMode="auto">
          <a:xfrm>
            <a:off x="42465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6403" name="타원 20"/>
          <p:cNvSpPr>
            <a:spLocks noChangeArrowheads="1"/>
          </p:cNvSpPr>
          <p:nvPr/>
        </p:nvSpPr>
        <p:spPr bwMode="auto">
          <a:xfrm>
            <a:off x="1381125" y="5673725"/>
            <a:ext cx="93663"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04" name="타원 21"/>
          <p:cNvSpPr>
            <a:spLocks noChangeArrowheads="1"/>
          </p:cNvSpPr>
          <p:nvPr/>
        </p:nvSpPr>
        <p:spPr bwMode="auto">
          <a:xfrm>
            <a:off x="2219325" y="5673725"/>
            <a:ext cx="93663"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05" name="타원 22"/>
          <p:cNvSpPr>
            <a:spLocks noChangeArrowheads="1"/>
          </p:cNvSpPr>
          <p:nvPr/>
        </p:nvSpPr>
        <p:spPr bwMode="auto">
          <a:xfrm>
            <a:off x="3059113" y="5673725"/>
            <a:ext cx="93662"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06" name="타원 23"/>
          <p:cNvSpPr>
            <a:spLocks noChangeArrowheads="1"/>
          </p:cNvSpPr>
          <p:nvPr/>
        </p:nvSpPr>
        <p:spPr bwMode="auto">
          <a:xfrm>
            <a:off x="3897313" y="5673725"/>
            <a:ext cx="93662"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07" name="타원 24"/>
          <p:cNvSpPr>
            <a:spLocks noChangeArrowheads="1"/>
          </p:cNvSpPr>
          <p:nvPr/>
        </p:nvSpPr>
        <p:spPr bwMode="auto">
          <a:xfrm>
            <a:off x="4737100" y="5673725"/>
            <a:ext cx="93663"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08" name="타원 25"/>
          <p:cNvSpPr>
            <a:spLocks noChangeArrowheads="1"/>
          </p:cNvSpPr>
          <p:nvPr/>
        </p:nvSpPr>
        <p:spPr bwMode="auto">
          <a:xfrm>
            <a:off x="5575300" y="5673725"/>
            <a:ext cx="93663"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09" name="타원 26"/>
          <p:cNvSpPr>
            <a:spLocks noChangeArrowheads="1"/>
          </p:cNvSpPr>
          <p:nvPr/>
        </p:nvSpPr>
        <p:spPr bwMode="auto">
          <a:xfrm>
            <a:off x="6415088" y="5673725"/>
            <a:ext cx="93662"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10" name="타원 27"/>
          <p:cNvSpPr>
            <a:spLocks noChangeArrowheads="1"/>
          </p:cNvSpPr>
          <p:nvPr/>
        </p:nvSpPr>
        <p:spPr bwMode="auto">
          <a:xfrm>
            <a:off x="7253288" y="5673725"/>
            <a:ext cx="93662"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11" name="타원 28"/>
          <p:cNvSpPr>
            <a:spLocks noChangeArrowheads="1"/>
          </p:cNvSpPr>
          <p:nvPr/>
        </p:nvSpPr>
        <p:spPr bwMode="auto">
          <a:xfrm>
            <a:off x="8093075" y="5673725"/>
            <a:ext cx="93663"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12" name="타원 29"/>
          <p:cNvSpPr>
            <a:spLocks noChangeArrowheads="1"/>
          </p:cNvSpPr>
          <p:nvPr/>
        </p:nvSpPr>
        <p:spPr bwMode="auto">
          <a:xfrm>
            <a:off x="8931275" y="5673725"/>
            <a:ext cx="93663" cy="93663"/>
          </a:xfrm>
          <a:prstGeom prst="ellipse">
            <a:avLst/>
          </a:prstGeom>
          <a:solidFill>
            <a:srgbClr val="FF9966"/>
          </a:solidFill>
          <a:ln w="12700" algn="ctr">
            <a:solidFill>
              <a:schemeClr val="tx1"/>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6413" name="TextBox 30"/>
          <p:cNvSpPr txBox="1">
            <a:spLocks noChangeArrowheads="1"/>
          </p:cNvSpPr>
          <p:nvPr/>
        </p:nvSpPr>
        <p:spPr bwMode="auto">
          <a:xfrm>
            <a:off x="523875" y="1409700"/>
            <a:ext cx="25923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00"/>
                </a:solidFill>
                <a:latin typeface="Arial" pitchFamily="34" charset="0"/>
                <a:ea typeface="맑은 고딕" pitchFamily="50" charset="-127"/>
                <a:cs typeface="Arial" pitchFamily="34" charset="0"/>
              </a:rPr>
              <a:t>1. </a:t>
            </a:r>
            <a:r>
              <a:rPr lang="en-US" altLang="ko-KR" sz="1200" dirty="0" err="1">
                <a:solidFill>
                  <a:srgbClr val="000000"/>
                </a:solidFill>
                <a:latin typeface="Arial" pitchFamily="34" charset="0"/>
                <a:ea typeface="맑은 고딕" pitchFamily="50" charset="-127"/>
                <a:cs typeface="Arial" pitchFamily="34" charset="0"/>
              </a:rPr>
              <a:t>Lấy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mẫu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trên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một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phần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của</a:t>
            </a:r>
            <a:r>
              <a:rPr lang="en-US" altLang="ko-KR" sz="1200" dirty="0">
                <a:solidFill>
                  <a:srgbClr val="000000"/>
                </a:solidFill>
                <a:latin typeface="Arial" pitchFamily="34" charset="0"/>
                <a:ea typeface="맑은 고딕" pitchFamily="50" charset="-127"/>
                <a:cs typeface="Arial" pitchFamily="34" charset="0"/>
              </a:rPr>
              <a:t> spec</a:t>
            </a:r>
            <a:endParaRPr lang="ko-KR" altLang="en-US" sz="1200" dirty="0">
              <a:solidFill>
                <a:srgbClr val="000000"/>
              </a:solidFill>
              <a:latin typeface="Arial" pitchFamily="34" charset="0"/>
              <a:ea typeface="맑은 고딕" pitchFamily="50" charset="-127"/>
              <a:cs typeface="Arial" pitchFamily="34" charset="0"/>
            </a:endParaRPr>
          </a:p>
        </p:txBody>
      </p:sp>
      <p:sp>
        <p:nvSpPr>
          <p:cNvPr id="16414" name="TextBox 31"/>
          <p:cNvSpPr txBox="1">
            <a:spLocks noChangeArrowheads="1"/>
          </p:cNvSpPr>
          <p:nvPr/>
        </p:nvSpPr>
        <p:spPr bwMode="auto">
          <a:xfrm>
            <a:off x="523875" y="4052888"/>
            <a:ext cx="3001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00"/>
                </a:solidFill>
                <a:latin typeface="Arial" pitchFamily="34" charset="0"/>
                <a:ea typeface="맑은 고딕" pitchFamily="50" charset="-127"/>
                <a:cs typeface="Arial" pitchFamily="34" charset="0"/>
              </a:rPr>
              <a:t>2. </a:t>
            </a:r>
            <a:r>
              <a:rPr lang="en-US" altLang="ko-KR" sz="1200" dirty="0" err="1">
                <a:solidFill>
                  <a:srgbClr val="000000"/>
                </a:solidFill>
                <a:latin typeface="Arial" pitchFamily="34" charset="0"/>
                <a:ea typeface="맑은 고딕" pitchFamily="50" charset="-127"/>
                <a:cs typeface="Arial" pitchFamily="34" charset="0"/>
              </a:rPr>
              <a:t>Lấy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mẫu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trên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một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vùng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rộng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hơn</a:t>
            </a:r>
            <a:r>
              <a:rPr lang="en-US" altLang="ko-KR" sz="1200" dirty="0">
                <a:solidFill>
                  <a:srgbClr val="000000"/>
                </a:solidFill>
                <a:latin typeface="Arial" pitchFamily="34" charset="0"/>
                <a:ea typeface="맑은 고딕" pitchFamily="50" charset="-127"/>
                <a:cs typeface="Arial" pitchFamily="34" charset="0"/>
              </a:rPr>
              <a:t> spec</a:t>
            </a:r>
            <a:endParaRPr lang="ko-KR" altLang="en-US" sz="1200" dirty="0">
              <a:solidFill>
                <a:srgbClr val="000000"/>
              </a:solidFill>
              <a:latin typeface="Arial" pitchFamily="34" charset="0"/>
              <a:ea typeface="맑은 고딕" pitchFamily="50" charset="-127"/>
              <a:cs typeface="Arial" pitchFamily="34" charset="0"/>
            </a:endParaRPr>
          </a:p>
        </p:txBody>
      </p:sp>
      <p:pic>
        <p:nvPicPr>
          <p:cNvPr id="16415" name="Picture 2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3795713" y="4784725"/>
            <a:ext cx="2844800" cy="1068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416" name="직선 연결선 34"/>
          <p:cNvCxnSpPr>
            <a:cxnSpLocks noChangeShapeType="1"/>
          </p:cNvCxnSpPr>
          <p:nvPr/>
        </p:nvCxnSpPr>
        <p:spPr bwMode="auto">
          <a:xfrm>
            <a:off x="1257300" y="5822950"/>
            <a:ext cx="7897813" cy="1588"/>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grpSp>
        <p:nvGrpSpPr>
          <p:cNvPr id="4" name="그룹 35"/>
          <p:cNvGrpSpPr>
            <a:grpSpLocks/>
          </p:cNvGrpSpPr>
          <p:nvPr/>
        </p:nvGrpSpPr>
        <p:grpSpPr bwMode="auto">
          <a:xfrm>
            <a:off x="4021138" y="4691063"/>
            <a:ext cx="2360612" cy="1504950"/>
            <a:chOff x="1817615" y="2754385"/>
            <a:chExt cx="5955579" cy="2286000"/>
          </a:xfrm>
        </p:grpSpPr>
        <p:cxnSp>
          <p:nvCxnSpPr>
            <p:cNvPr id="16460" name="직선 연결선 36"/>
            <p:cNvCxnSpPr>
              <a:cxnSpLocks noChangeShapeType="1"/>
            </p:cNvCxnSpPr>
            <p:nvPr/>
          </p:nvCxnSpPr>
          <p:spPr bwMode="auto">
            <a:xfrm rot="5400000">
              <a:off x="675409" y="3896591"/>
              <a:ext cx="2286000" cy="1588"/>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cxnSp>
          <p:nvCxnSpPr>
            <p:cNvPr id="16461" name="직선 연결선 37"/>
            <p:cNvCxnSpPr>
              <a:cxnSpLocks noChangeShapeType="1"/>
            </p:cNvCxnSpPr>
            <p:nvPr/>
          </p:nvCxnSpPr>
          <p:spPr bwMode="auto">
            <a:xfrm rot="5400000">
              <a:off x="6629400" y="3896591"/>
              <a:ext cx="2286000" cy="1588"/>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grpSp>
      <p:sp>
        <p:nvSpPr>
          <p:cNvPr id="16418" name="TextBox 38"/>
          <p:cNvSpPr txBox="1">
            <a:spLocks noChangeArrowheads="1"/>
          </p:cNvSpPr>
          <p:nvPr/>
        </p:nvSpPr>
        <p:spPr bwMode="auto">
          <a:xfrm>
            <a:off x="3814763" y="4416425"/>
            <a:ext cx="4571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LSL</a:t>
            </a:r>
            <a:endParaRPr lang="ko-KR" altLang="en-US" sz="1200">
              <a:solidFill>
                <a:srgbClr val="000000"/>
              </a:solidFill>
              <a:latin typeface="Arial" pitchFamily="34" charset="0"/>
              <a:ea typeface="맑은 고딕" pitchFamily="50" charset="-127"/>
              <a:cs typeface="Arial" pitchFamily="34" charset="0"/>
            </a:endParaRPr>
          </a:p>
        </p:txBody>
      </p:sp>
      <p:sp>
        <p:nvSpPr>
          <p:cNvPr id="16419" name="TextBox 39"/>
          <p:cNvSpPr txBox="1">
            <a:spLocks noChangeArrowheads="1"/>
          </p:cNvSpPr>
          <p:nvPr/>
        </p:nvSpPr>
        <p:spPr bwMode="auto">
          <a:xfrm>
            <a:off x="6145213" y="441642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USL</a:t>
            </a:r>
            <a:endParaRPr lang="ko-KR" altLang="en-US" sz="1200">
              <a:solidFill>
                <a:srgbClr val="000000"/>
              </a:solidFill>
              <a:latin typeface="Arial" pitchFamily="34" charset="0"/>
              <a:ea typeface="맑은 고딕" pitchFamily="50" charset="-127"/>
              <a:cs typeface="Arial" pitchFamily="34" charset="0"/>
            </a:endParaRPr>
          </a:p>
        </p:txBody>
      </p:sp>
      <p:sp>
        <p:nvSpPr>
          <p:cNvPr id="41" name="타원 40"/>
          <p:cNvSpPr/>
          <p:nvPr/>
        </p:nvSpPr>
        <p:spPr bwMode="auto">
          <a:xfrm>
            <a:off x="71675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42" name="타원 41"/>
          <p:cNvSpPr/>
          <p:nvPr/>
        </p:nvSpPr>
        <p:spPr bwMode="auto">
          <a:xfrm>
            <a:off x="73453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43" name="타원 42"/>
          <p:cNvSpPr/>
          <p:nvPr/>
        </p:nvSpPr>
        <p:spPr bwMode="auto">
          <a:xfrm>
            <a:off x="750411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44" name="타원 43"/>
          <p:cNvSpPr/>
          <p:nvPr/>
        </p:nvSpPr>
        <p:spPr bwMode="auto">
          <a:xfrm>
            <a:off x="76755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45" name="타원 44"/>
          <p:cNvSpPr/>
          <p:nvPr/>
        </p:nvSpPr>
        <p:spPr bwMode="auto">
          <a:xfrm>
            <a:off x="78406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46" name="타원 45"/>
          <p:cNvSpPr/>
          <p:nvPr/>
        </p:nvSpPr>
        <p:spPr bwMode="auto">
          <a:xfrm>
            <a:off x="801211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47" name="타원 46"/>
          <p:cNvSpPr/>
          <p:nvPr/>
        </p:nvSpPr>
        <p:spPr bwMode="auto">
          <a:xfrm>
            <a:off x="81708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48" name="타원 47"/>
          <p:cNvSpPr/>
          <p:nvPr/>
        </p:nvSpPr>
        <p:spPr bwMode="auto">
          <a:xfrm>
            <a:off x="832961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49" name="타원 48"/>
          <p:cNvSpPr/>
          <p:nvPr/>
        </p:nvSpPr>
        <p:spPr bwMode="auto">
          <a:xfrm>
            <a:off x="84883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50" name="타원 49"/>
          <p:cNvSpPr/>
          <p:nvPr/>
        </p:nvSpPr>
        <p:spPr bwMode="auto">
          <a:xfrm>
            <a:off x="8678863" y="3190875"/>
            <a:ext cx="93662"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pitchFamily="34" charset="0"/>
              <a:cs typeface="Arial" pitchFamily="34" charset="0"/>
            </a:endParaRPr>
          </a:p>
        </p:txBody>
      </p:sp>
      <p:sp>
        <p:nvSpPr>
          <p:cNvPr id="16430" name="TextBox 50"/>
          <p:cNvSpPr txBox="1">
            <a:spLocks noChangeArrowheads="1"/>
          </p:cNvSpPr>
          <p:nvPr/>
        </p:nvSpPr>
        <p:spPr bwMode="auto">
          <a:xfrm>
            <a:off x="5002213" y="1547813"/>
            <a:ext cx="11334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Gage R&amp;R = </a:t>
            </a:r>
            <a:endParaRPr lang="ko-KR" altLang="en-US" sz="1200">
              <a:solidFill>
                <a:srgbClr val="000000"/>
              </a:solidFill>
              <a:latin typeface="Arial" pitchFamily="34" charset="0"/>
              <a:ea typeface="맑은 고딕" pitchFamily="50" charset="-127"/>
              <a:cs typeface="Arial" pitchFamily="34" charset="0"/>
            </a:endParaRPr>
          </a:p>
        </p:txBody>
      </p:sp>
      <p:cxnSp>
        <p:nvCxnSpPr>
          <p:cNvPr id="16431" name="직선 연결선 52"/>
          <p:cNvCxnSpPr>
            <a:cxnSpLocks noChangeShapeType="1"/>
          </p:cNvCxnSpPr>
          <p:nvPr/>
        </p:nvCxnSpPr>
        <p:spPr bwMode="auto">
          <a:xfrm>
            <a:off x="6073775" y="1695450"/>
            <a:ext cx="866775" cy="1588"/>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sp>
        <p:nvSpPr>
          <p:cNvPr id="16432" name="TextBox 53"/>
          <p:cNvSpPr txBox="1">
            <a:spLocks noChangeArrowheads="1"/>
          </p:cNvSpPr>
          <p:nvPr/>
        </p:nvSpPr>
        <p:spPr bwMode="auto">
          <a:xfrm>
            <a:off x="6248400" y="1647825"/>
            <a:ext cx="520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total</a:t>
            </a:r>
            <a:endParaRPr lang="ko-KR" altLang="en-US" sz="1200" baseline="-25000">
              <a:solidFill>
                <a:srgbClr val="000000"/>
              </a:solidFill>
              <a:latin typeface="Arial" pitchFamily="34" charset="0"/>
              <a:ea typeface="맑은 고딕" pitchFamily="50" charset="-127"/>
              <a:cs typeface="Arial" pitchFamily="34" charset="0"/>
            </a:endParaRPr>
          </a:p>
        </p:txBody>
      </p:sp>
      <p:sp>
        <p:nvSpPr>
          <p:cNvPr id="16433" name="TextBox 54"/>
          <p:cNvSpPr txBox="1">
            <a:spLocks noChangeArrowheads="1"/>
          </p:cNvSpPr>
          <p:nvPr/>
        </p:nvSpPr>
        <p:spPr bwMode="auto">
          <a:xfrm>
            <a:off x="6248400" y="1409700"/>
            <a:ext cx="5245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R&amp;R</a:t>
            </a:r>
            <a:endParaRPr lang="ko-KR" altLang="en-US" sz="1200" baseline="-25000">
              <a:solidFill>
                <a:srgbClr val="000000"/>
              </a:solidFill>
              <a:latin typeface="Arial" pitchFamily="34" charset="0"/>
              <a:ea typeface="맑은 고딕" pitchFamily="50" charset="-127"/>
              <a:cs typeface="Arial" pitchFamily="34" charset="0"/>
            </a:endParaRPr>
          </a:p>
        </p:txBody>
      </p:sp>
      <p:pic>
        <p:nvPicPr>
          <p:cNvPr id="16434" name="Picture 2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b="5023"/>
          <a:stretch>
            <a:fillRect/>
          </a:stretch>
        </p:blipFill>
        <p:spPr bwMode="auto">
          <a:xfrm>
            <a:off x="2667000" y="2155825"/>
            <a:ext cx="1770063"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35" name="Picture 2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b="5023"/>
          <a:stretch>
            <a:fillRect/>
          </a:stretch>
        </p:blipFill>
        <p:spPr bwMode="auto">
          <a:xfrm>
            <a:off x="1227138" y="5230813"/>
            <a:ext cx="7999412"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436" name="직선 화살표 연결선 65"/>
          <p:cNvCxnSpPr>
            <a:cxnSpLocks noChangeShapeType="1"/>
          </p:cNvCxnSpPr>
          <p:nvPr/>
        </p:nvCxnSpPr>
        <p:spPr bwMode="auto">
          <a:xfrm>
            <a:off x="5238750" y="2624138"/>
            <a:ext cx="785813" cy="1587"/>
          </a:xfrm>
          <a:prstGeom prst="straightConnector1">
            <a:avLst/>
          </a:prstGeom>
          <a:noFill/>
          <a:ln w="12700" algn="ctr">
            <a:solidFill>
              <a:schemeClr val="tx1"/>
            </a:solidFill>
            <a:round/>
            <a:headEnd type="arrow" w="med" len="med"/>
            <a:tailEnd type="arrow" w="med" len="med"/>
          </a:ln>
          <a:extLst>
            <a:ext uri="{909E8E84-426E-40DD-AFC4-6F175D3DCCD1}">
              <a14:hiddenFill xmlns:a14="http://schemas.microsoft.com/office/drawing/2010/main">
                <a:noFill/>
              </a14:hiddenFill>
            </a:ext>
          </a:extLst>
        </p:spPr>
      </p:cxnSp>
      <p:cxnSp>
        <p:nvCxnSpPr>
          <p:cNvPr id="16437" name="직선 화살표 연결선 66"/>
          <p:cNvCxnSpPr>
            <a:cxnSpLocks noChangeShapeType="1"/>
          </p:cNvCxnSpPr>
          <p:nvPr/>
        </p:nvCxnSpPr>
        <p:spPr bwMode="auto">
          <a:xfrm>
            <a:off x="3565525" y="2522538"/>
            <a:ext cx="173038" cy="0"/>
          </a:xfrm>
          <a:prstGeom prst="straightConnector1">
            <a:avLst/>
          </a:prstGeom>
          <a:noFill/>
          <a:ln w="12700" algn="ctr">
            <a:solidFill>
              <a:schemeClr val="tx1"/>
            </a:solidFill>
            <a:round/>
            <a:headEnd type="arrow" w="sm" len="sm"/>
            <a:tailEnd type="arrow" w="sm" len="sm"/>
          </a:ln>
          <a:extLst>
            <a:ext uri="{909E8E84-426E-40DD-AFC4-6F175D3DCCD1}">
              <a14:hiddenFill xmlns:a14="http://schemas.microsoft.com/office/drawing/2010/main">
                <a:noFill/>
              </a14:hiddenFill>
            </a:ext>
          </a:extLst>
        </p:spPr>
      </p:cxnSp>
      <p:sp>
        <p:nvSpPr>
          <p:cNvPr id="16438" name="TextBox 68"/>
          <p:cNvSpPr txBox="1">
            <a:spLocks noChangeArrowheads="1"/>
          </p:cNvSpPr>
          <p:nvPr/>
        </p:nvSpPr>
        <p:spPr bwMode="auto">
          <a:xfrm>
            <a:off x="4711700" y="5416550"/>
            <a:ext cx="5245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R&amp;R</a:t>
            </a:r>
            <a:endParaRPr lang="ko-KR" altLang="en-US" sz="1200" baseline="-25000">
              <a:solidFill>
                <a:srgbClr val="000000"/>
              </a:solidFill>
              <a:latin typeface="Arial" pitchFamily="34" charset="0"/>
              <a:ea typeface="맑은 고딕" pitchFamily="50" charset="-127"/>
              <a:cs typeface="Arial" pitchFamily="34" charset="0"/>
            </a:endParaRPr>
          </a:p>
        </p:txBody>
      </p:sp>
      <p:sp>
        <p:nvSpPr>
          <p:cNvPr id="16439" name="TextBox 69"/>
          <p:cNvSpPr txBox="1">
            <a:spLocks noChangeArrowheads="1"/>
          </p:cNvSpPr>
          <p:nvPr/>
        </p:nvSpPr>
        <p:spPr bwMode="auto">
          <a:xfrm>
            <a:off x="3360738" y="2474913"/>
            <a:ext cx="520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total</a:t>
            </a:r>
            <a:endParaRPr lang="ko-KR" altLang="en-US" sz="1200" baseline="-25000">
              <a:solidFill>
                <a:srgbClr val="000000"/>
              </a:solidFill>
              <a:latin typeface="Arial" pitchFamily="34" charset="0"/>
              <a:ea typeface="맑은 고딕" pitchFamily="50" charset="-127"/>
              <a:cs typeface="Arial" pitchFamily="34" charset="0"/>
            </a:endParaRPr>
          </a:p>
        </p:txBody>
      </p:sp>
      <p:sp>
        <p:nvSpPr>
          <p:cNvPr id="16440" name="TextBox 70"/>
          <p:cNvSpPr txBox="1">
            <a:spLocks noChangeArrowheads="1"/>
          </p:cNvSpPr>
          <p:nvPr/>
        </p:nvSpPr>
        <p:spPr bwMode="auto">
          <a:xfrm>
            <a:off x="5268913" y="2568575"/>
            <a:ext cx="7397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Historical</a:t>
            </a:r>
            <a:endParaRPr lang="ko-KR" altLang="en-US" sz="1200" baseline="-25000">
              <a:solidFill>
                <a:srgbClr val="000000"/>
              </a:solidFill>
              <a:latin typeface="Arial" pitchFamily="34" charset="0"/>
              <a:ea typeface="맑은 고딕" pitchFamily="50" charset="-127"/>
              <a:cs typeface="Arial" pitchFamily="34" charset="0"/>
            </a:endParaRPr>
          </a:p>
        </p:txBody>
      </p:sp>
      <p:pic>
        <p:nvPicPr>
          <p:cNvPr id="16441" name="Picture 2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b="5023"/>
          <a:stretch>
            <a:fillRect/>
          </a:stretch>
        </p:blipFill>
        <p:spPr bwMode="auto">
          <a:xfrm>
            <a:off x="4711700" y="5581650"/>
            <a:ext cx="150813" cy="7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442" name="직선 화살표 연결선 75"/>
          <p:cNvCxnSpPr>
            <a:cxnSpLocks noChangeShapeType="1"/>
          </p:cNvCxnSpPr>
          <p:nvPr/>
        </p:nvCxnSpPr>
        <p:spPr bwMode="auto">
          <a:xfrm>
            <a:off x="5162550" y="5084763"/>
            <a:ext cx="301625" cy="3175"/>
          </a:xfrm>
          <a:prstGeom prst="straightConnector1">
            <a:avLst/>
          </a:prstGeom>
          <a:noFill/>
          <a:ln w="12700" algn="ctr">
            <a:solidFill>
              <a:schemeClr val="tx1"/>
            </a:solidFill>
            <a:round/>
            <a:headEnd type="arrow" w="med" len="med"/>
            <a:tailEnd type="arrow" w="med" len="med"/>
          </a:ln>
          <a:extLst>
            <a:ext uri="{909E8E84-426E-40DD-AFC4-6F175D3DCCD1}">
              <a14:hiddenFill xmlns:a14="http://schemas.microsoft.com/office/drawing/2010/main">
                <a:noFill/>
              </a14:hiddenFill>
            </a:ext>
          </a:extLst>
        </p:spPr>
      </p:cxnSp>
      <p:sp>
        <p:nvSpPr>
          <p:cNvPr id="16443" name="TextBox 76"/>
          <p:cNvSpPr txBox="1">
            <a:spLocks noChangeArrowheads="1"/>
          </p:cNvSpPr>
          <p:nvPr/>
        </p:nvSpPr>
        <p:spPr bwMode="auto">
          <a:xfrm>
            <a:off x="5192713" y="5029200"/>
            <a:ext cx="7397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Historical</a:t>
            </a:r>
            <a:endParaRPr lang="ko-KR" altLang="en-US" sz="1200" baseline="-25000">
              <a:solidFill>
                <a:srgbClr val="000000"/>
              </a:solidFill>
              <a:latin typeface="Arial" pitchFamily="34" charset="0"/>
              <a:ea typeface="맑은 고딕" pitchFamily="50" charset="-127"/>
              <a:cs typeface="Arial" pitchFamily="34" charset="0"/>
            </a:endParaRPr>
          </a:p>
        </p:txBody>
      </p:sp>
      <p:cxnSp>
        <p:nvCxnSpPr>
          <p:cNvPr id="16444" name="직선 화살표 연결선 79"/>
          <p:cNvCxnSpPr>
            <a:cxnSpLocks noChangeShapeType="1"/>
          </p:cNvCxnSpPr>
          <p:nvPr/>
        </p:nvCxnSpPr>
        <p:spPr bwMode="auto">
          <a:xfrm>
            <a:off x="5197475" y="5434013"/>
            <a:ext cx="1041400" cy="1587"/>
          </a:xfrm>
          <a:prstGeom prst="straightConnector1">
            <a:avLst/>
          </a:prstGeom>
          <a:noFill/>
          <a:ln w="12700" algn="ctr">
            <a:solidFill>
              <a:schemeClr val="tx1"/>
            </a:solidFill>
            <a:round/>
            <a:headEnd type="arrow" w="med" len="med"/>
            <a:tailEnd type="arrow" w="med" len="med"/>
          </a:ln>
          <a:extLst>
            <a:ext uri="{909E8E84-426E-40DD-AFC4-6F175D3DCCD1}">
              <a14:hiddenFill xmlns:a14="http://schemas.microsoft.com/office/drawing/2010/main">
                <a:noFill/>
              </a14:hiddenFill>
            </a:ext>
          </a:extLst>
        </p:spPr>
      </p:cxnSp>
      <p:sp>
        <p:nvSpPr>
          <p:cNvPr id="16445" name="TextBox 80"/>
          <p:cNvSpPr txBox="1">
            <a:spLocks noChangeArrowheads="1"/>
          </p:cNvSpPr>
          <p:nvPr/>
        </p:nvSpPr>
        <p:spPr bwMode="auto">
          <a:xfrm>
            <a:off x="5289550" y="5338763"/>
            <a:ext cx="520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total</a:t>
            </a:r>
            <a:endParaRPr lang="ko-KR" altLang="en-US" sz="1200" baseline="-25000">
              <a:solidFill>
                <a:srgbClr val="000000"/>
              </a:solidFill>
              <a:latin typeface="Arial" pitchFamily="34" charset="0"/>
              <a:ea typeface="맑은 고딕" pitchFamily="50" charset="-127"/>
              <a:cs typeface="Arial" pitchFamily="34" charset="0"/>
            </a:endParaRPr>
          </a:p>
        </p:txBody>
      </p:sp>
      <p:sp>
        <p:nvSpPr>
          <p:cNvPr id="16446" name="TextBox 82"/>
          <p:cNvSpPr txBox="1">
            <a:spLocks noChangeArrowheads="1"/>
          </p:cNvSpPr>
          <p:nvPr/>
        </p:nvSpPr>
        <p:spPr bwMode="auto">
          <a:xfrm>
            <a:off x="3552825" y="2922588"/>
            <a:ext cx="520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R&amp;R</a:t>
            </a:r>
            <a:endParaRPr lang="ko-KR" altLang="en-US" sz="1200" baseline="-25000">
              <a:solidFill>
                <a:srgbClr val="000000"/>
              </a:solidFill>
              <a:latin typeface="Arial" pitchFamily="34" charset="0"/>
              <a:ea typeface="맑은 고딕" pitchFamily="50" charset="-127"/>
              <a:cs typeface="Arial" pitchFamily="34" charset="0"/>
            </a:endParaRPr>
          </a:p>
        </p:txBody>
      </p:sp>
      <p:pic>
        <p:nvPicPr>
          <p:cNvPr id="16447" name="Picture 2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b="5023"/>
          <a:stretch>
            <a:fillRect/>
          </a:stretch>
        </p:blipFill>
        <p:spPr bwMode="auto">
          <a:xfrm>
            <a:off x="3552825" y="3087688"/>
            <a:ext cx="150813" cy="7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48" name="TextBox 84"/>
          <p:cNvSpPr txBox="1">
            <a:spLocks noChangeArrowheads="1"/>
          </p:cNvSpPr>
          <p:nvPr/>
        </p:nvSpPr>
        <p:spPr bwMode="auto">
          <a:xfrm>
            <a:off x="2881313" y="1909763"/>
            <a:ext cx="27895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000" dirty="0">
                <a:solidFill>
                  <a:srgbClr val="000000"/>
                </a:solidFill>
                <a:latin typeface="Arial" pitchFamily="34" charset="0"/>
                <a:ea typeface="맑은 고딕" pitchFamily="50" charset="-127"/>
                <a:cs typeface="Arial" pitchFamily="34" charset="0"/>
              </a:rPr>
              <a:t>① </a:t>
            </a:r>
            <a:r>
              <a:rPr lang="en-US" altLang="ko-KR" sz="1000" dirty="0" err="1">
                <a:solidFill>
                  <a:srgbClr val="000000"/>
                </a:solidFill>
                <a:latin typeface="Arial" pitchFamily="34" charset="0"/>
                <a:ea typeface="맑은 고딕" pitchFamily="50" charset="-127"/>
                <a:cs typeface="Arial" pitchFamily="34" charset="0"/>
              </a:rPr>
              <a:t>nằm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trong</a:t>
            </a:r>
            <a:r>
              <a:rPr lang="en-US" altLang="ko-KR" sz="1000" dirty="0">
                <a:solidFill>
                  <a:srgbClr val="000000"/>
                </a:solidFill>
                <a:latin typeface="Arial" pitchFamily="34" charset="0"/>
                <a:ea typeface="맑은 고딕" pitchFamily="50" charset="-127"/>
                <a:cs typeface="Arial" pitchFamily="34" charset="0"/>
              </a:rPr>
              <a:t> spec. </a:t>
            </a:r>
            <a:r>
              <a:rPr lang="en-US" altLang="ko-KR" sz="1000" dirty="0" err="1">
                <a:solidFill>
                  <a:srgbClr val="000000"/>
                </a:solidFill>
                <a:latin typeface="Arial" pitchFamily="34" charset="0"/>
                <a:ea typeface="맑은 고딕" pitchFamily="50" charset="-127"/>
                <a:cs typeface="Arial" pitchFamily="34" charset="0"/>
              </a:rPr>
              <a:t>nhưng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tập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trung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tại</a:t>
            </a:r>
            <a:r>
              <a:rPr lang="en-US" altLang="ko-KR" sz="1000" dirty="0">
                <a:solidFill>
                  <a:srgbClr val="000000"/>
                </a:solidFill>
                <a:latin typeface="Arial" pitchFamily="34" charset="0"/>
                <a:ea typeface="맑은 고딕" pitchFamily="50" charset="-127"/>
                <a:cs typeface="Arial" pitchFamily="34" charset="0"/>
              </a:rPr>
              <a:t> 1 </a:t>
            </a:r>
            <a:r>
              <a:rPr lang="en-US" altLang="ko-KR" sz="1000" dirty="0" err="1">
                <a:solidFill>
                  <a:srgbClr val="000000"/>
                </a:solidFill>
                <a:latin typeface="Arial" pitchFamily="34" charset="0"/>
                <a:ea typeface="맑은 고딕" pitchFamily="50" charset="-127"/>
                <a:cs typeface="Arial" pitchFamily="34" charset="0"/>
              </a:rPr>
              <a:t>vùng</a:t>
            </a:r>
            <a:endParaRPr lang="ko-KR" altLang="en-US" sz="1000" dirty="0">
              <a:solidFill>
                <a:srgbClr val="000000"/>
              </a:solidFill>
              <a:latin typeface="Arial" pitchFamily="34" charset="0"/>
              <a:ea typeface="맑은 고딕" pitchFamily="50" charset="-127"/>
              <a:cs typeface="Arial" pitchFamily="34" charset="0"/>
            </a:endParaRPr>
          </a:p>
        </p:txBody>
      </p:sp>
      <p:sp>
        <p:nvSpPr>
          <p:cNvPr id="16449" name="TextBox 85"/>
          <p:cNvSpPr txBox="1">
            <a:spLocks noChangeArrowheads="1"/>
          </p:cNvSpPr>
          <p:nvPr/>
        </p:nvSpPr>
        <p:spPr bwMode="auto">
          <a:xfrm>
            <a:off x="8105800" y="2636912"/>
            <a:ext cx="1800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000" dirty="0">
                <a:solidFill>
                  <a:srgbClr val="000000"/>
                </a:solidFill>
                <a:latin typeface="Arial" pitchFamily="34" charset="0"/>
                <a:ea typeface="맑은 고딕" pitchFamily="50" charset="-127"/>
                <a:cs typeface="Arial" pitchFamily="34" charset="0"/>
              </a:rPr>
              <a:t>② </a:t>
            </a:r>
            <a:r>
              <a:rPr lang="en-US" altLang="ko-KR" sz="1000" dirty="0" err="1">
                <a:solidFill>
                  <a:srgbClr val="000000"/>
                </a:solidFill>
                <a:latin typeface="Arial" pitchFamily="34" charset="0"/>
                <a:ea typeface="맑은 고딕" pitchFamily="50" charset="-127"/>
                <a:cs typeface="Arial" pitchFamily="34" charset="0"/>
              </a:rPr>
              <a:t>vượt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ngoài</a:t>
            </a:r>
            <a:r>
              <a:rPr lang="en-US" altLang="ko-KR" sz="1000" dirty="0">
                <a:solidFill>
                  <a:srgbClr val="000000"/>
                </a:solidFill>
                <a:latin typeface="Arial" pitchFamily="34" charset="0"/>
                <a:ea typeface="맑은 고딕" pitchFamily="50" charset="-127"/>
                <a:cs typeface="Arial" pitchFamily="34" charset="0"/>
              </a:rPr>
              <a:t> spec, </a:t>
            </a:r>
            <a:r>
              <a:rPr lang="en-US" altLang="ko-KR" sz="1000" dirty="0" err="1">
                <a:solidFill>
                  <a:srgbClr val="000000"/>
                </a:solidFill>
                <a:latin typeface="Arial" pitchFamily="34" charset="0"/>
                <a:ea typeface="맑은 고딕" pitchFamily="50" charset="-127"/>
                <a:cs typeface="Arial" pitchFamily="34" charset="0"/>
              </a:rPr>
              <a:t>tập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trung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tại</a:t>
            </a:r>
            <a:r>
              <a:rPr lang="en-US" altLang="ko-KR" sz="1000" dirty="0">
                <a:solidFill>
                  <a:srgbClr val="000000"/>
                </a:solidFill>
                <a:latin typeface="Arial" pitchFamily="34" charset="0"/>
                <a:ea typeface="맑은 고딕" pitchFamily="50" charset="-127"/>
                <a:cs typeface="Arial" pitchFamily="34" charset="0"/>
              </a:rPr>
              <a:t> 1 </a:t>
            </a:r>
            <a:r>
              <a:rPr lang="en-US" altLang="ko-KR" sz="1000" dirty="0" err="1">
                <a:solidFill>
                  <a:srgbClr val="000000"/>
                </a:solidFill>
                <a:latin typeface="Arial" pitchFamily="34" charset="0"/>
                <a:ea typeface="맑은 고딕" pitchFamily="50" charset="-127"/>
                <a:cs typeface="Arial" pitchFamily="34" charset="0"/>
              </a:rPr>
              <a:t>vùng</a:t>
            </a:r>
            <a:endParaRPr lang="ko-KR" altLang="en-US" sz="1000" dirty="0">
              <a:solidFill>
                <a:srgbClr val="000000"/>
              </a:solidFill>
              <a:latin typeface="Arial" pitchFamily="34" charset="0"/>
              <a:ea typeface="맑은 고딕" pitchFamily="50" charset="-127"/>
              <a:cs typeface="Arial" pitchFamily="34" charset="0"/>
            </a:endParaRPr>
          </a:p>
        </p:txBody>
      </p:sp>
      <p:sp>
        <p:nvSpPr>
          <p:cNvPr id="73" name="TextBox 72"/>
          <p:cNvSpPr txBox="1"/>
          <p:nvPr/>
        </p:nvSpPr>
        <p:spPr>
          <a:xfrm>
            <a:off x="428625" y="827088"/>
            <a:ext cx="8970963" cy="397032"/>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Vấn</a:t>
            </a: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đề</a:t>
            </a: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nảy</a:t>
            </a: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sinh</a:t>
            </a:r>
            <a:r>
              <a:rPr kumimoji="0" lang="en-US" altLang="ko-KR" b="1" kern="0" dirty="0">
                <a:solidFill>
                  <a:srgbClr val="000000"/>
                </a:solidFill>
                <a:latin typeface="Arial" pitchFamily="34" charset="0"/>
                <a:ea typeface="맑은 고딕" pitchFamily="50" charset="-127"/>
                <a:cs typeface="Arial" pitchFamily="34" charset="0"/>
              </a:rPr>
              <a:t> do </a:t>
            </a:r>
            <a:r>
              <a:rPr kumimoji="0" lang="en-US" altLang="ko-KR" b="1" kern="0" dirty="0" err="1">
                <a:solidFill>
                  <a:srgbClr val="000000"/>
                </a:solidFill>
                <a:latin typeface="Arial" pitchFamily="34" charset="0"/>
                <a:ea typeface="맑은 고딕" pitchFamily="50" charset="-127"/>
                <a:cs typeface="Arial" pitchFamily="34" charset="0"/>
              </a:rPr>
              <a:t>lỗi</a:t>
            </a: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chọn</a:t>
            </a: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mẫu</a:t>
            </a:r>
            <a:endParaRPr kumimoji="0" lang="ko-KR" altLang="en-US" b="1" kern="0" dirty="0">
              <a:solidFill>
                <a:srgbClr val="000000"/>
              </a:solidFill>
              <a:latin typeface="Arial" pitchFamily="34" charset="0"/>
              <a:ea typeface="맑은 고딕" pitchFamily="50" charset="-127"/>
              <a:cs typeface="Arial" pitchFamily="34" charset="0"/>
            </a:endParaRPr>
          </a:p>
        </p:txBody>
      </p:sp>
      <p:sp>
        <p:nvSpPr>
          <p:cNvPr id="16451" name="TextBox 73"/>
          <p:cNvSpPr txBox="1">
            <a:spLocks noChangeArrowheads="1"/>
          </p:cNvSpPr>
          <p:nvPr/>
        </p:nvSpPr>
        <p:spPr bwMode="auto">
          <a:xfrm>
            <a:off x="6851650" y="4706938"/>
            <a:ext cx="11334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Gage R&amp;R = </a:t>
            </a:r>
            <a:endParaRPr lang="ko-KR" altLang="en-US" sz="1200">
              <a:solidFill>
                <a:srgbClr val="000000"/>
              </a:solidFill>
              <a:latin typeface="Arial" pitchFamily="34" charset="0"/>
              <a:ea typeface="맑은 고딕" pitchFamily="50" charset="-127"/>
              <a:cs typeface="Arial" pitchFamily="34" charset="0"/>
            </a:endParaRPr>
          </a:p>
        </p:txBody>
      </p:sp>
      <p:cxnSp>
        <p:nvCxnSpPr>
          <p:cNvPr id="16452" name="직선 연결선 74"/>
          <p:cNvCxnSpPr>
            <a:cxnSpLocks noChangeShapeType="1"/>
          </p:cNvCxnSpPr>
          <p:nvPr/>
        </p:nvCxnSpPr>
        <p:spPr bwMode="auto">
          <a:xfrm>
            <a:off x="7923213" y="4854575"/>
            <a:ext cx="866775" cy="1588"/>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sp>
        <p:nvSpPr>
          <p:cNvPr id="16453" name="TextBox 77"/>
          <p:cNvSpPr txBox="1">
            <a:spLocks noChangeArrowheads="1"/>
          </p:cNvSpPr>
          <p:nvPr/>
        </p:nvSpPr>
        <p:spPr bwMode="auto">
          <a:xfrm>
            <a:off x="8097838" y="4806950"/>
            <a:ext cx="520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total</a:t>
            </a:r>
            <a:endParaRPr lang="ko-KR" altLang="en-US" sz="1200" baseline="-25000">
              <a:solidFill>
                <a:srgbClr val="000000"/>
              </a:solidFill>
              <a:latin typeface="Arial" pitchFamily="34" charset="0"/>
              <a:ea typeface="맑은 고딕" pitchFamily="50" charset="-127"/>
              <a:cs typeface="Arial" pitchFamily="34" charset="0"/>
            </a:endParaRPr>
          </a:p>
        </p:txBody>
      </p:sp>
      <p:sp>
        <p:nvSpPr>
          <p:cNvPr id="16454" name="TextBox 78"/>
          <p:cNvSpPr txBox="1">
            <a:spLocks noChangeArrowheads="1"/>
          </p:cNvSpPr>
          <p:nvPr/>
        </p:nvSpPr>
        <p:spPr bwMode="auto">
          <a:xfrm>
            <a:off x="8097838" y="4567238"/>
            <a:ext cx="5245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σ</a:t>
            </a:r>
            <a:r>
              <a:rPr lang="en-US" altLang="ko-KR" sz="1200" baseline="-25000">
                <a:solidFill>
                  <a:srgbClr val="000000"/>
                </a:solidFill>
                <a:latin typeface="Arial" pitchFamily="34" charset="0"/>
                <a:ea typeface="맑은 고딕" pitchFamily="50" charset="-127"/>
                <a:cs typeface="Arial" pitchFamily="34" charset="0"/>
              </a:rPr>
              <a:t> R&amp;R</a:t>
            </a:r>
            <a:endParaRPr lang="ko-KR" altLang="en-US" sz="1200" baseline="-25000">
              <a:solidFill>
                <a:srgbClr val="000000"/>
              </a:solidFill>
              <a:latin typeface="Arial" pitchFamily="34" charset="0"/>
              <a:ea typeface="맑은 고딕" pitchFamily="50" charset="-127"/>
              <a:cs typeface="Arial" pitchFamily="34" charset="0"/>
            </a:endParaRPr>
          </a:p>
        </p:txBody>
      </p:sp>
      <p:sp>
        <p:nvSpPr>
          <p:cNvPr id="16455" name="TextBox 81"/>
          <p:cNvSpPr txBox="1">
            <a:spLocks noChangeArrowheads="1"/>
          </p:cNvSpPr>
          <p:nvPr/>
        </p:nvSpPr>
        <p:spPr bwMode="auto">
          <a:xfrm>
            <a:off x="6983413" y="1539875"/>
            <a:ext cx="54133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 ?? </a:t>
            </a:r>
            <a:endParaRPr lang="ko-KR" altLang="en-US" sz="1200">
              <a:solidFill>
                <a:srgbClr val="000000"/>
              </a:solidFill>
              <a:latin typeface="Arial" pitchFamily="34" charset="0"/>
              <a:ea typeface="맑은 고딕" pitchFamily="50" charset="-127"/>
              <a:cs typeface="Arial" pitchFamily="34" charset="0"/>
            </a:endParaRPr>
          </a:p>
        </p:txBody>
      </p:sp>
      <p:sp>
        <p:nvSpPr>
          <p:cNvPr id="16456" name="TextBox 87"/>
          <p:cNvSpPr txBox="1">
            <a:spLocks noChangeArrowheads="1"/>
          </p:cNvSpPr>
          <p:nvPr/>
        </p:nvSpPr>
        <p:spPr bwMode="auto">
          <a:xfrm>
            <a:off x="8780463" y="4710113"/>
            <a:ext cx="5429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solidFill>
                  <a:srgbClr val="000000"/>
                </a:solidFill>
                <a:latin typeface="Arial" pitchFamily="34" charset="0"/>
                <a:ea typeface="맑은 고딕" pitchFamily="50" charset="-127"/>
                <a:cs typeface="Arial" pitchFamily="34" charset="0"/>
              </a:rPr>
              <a:t>= ?? </a:t>
            </a:r>
            <a:endParaRPr lang="ko-KR" altLang="en-US" sz="1200">
              <a:solidFill>
                <a:srgbClr val="000000"/>
              </a:solidFill>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195</a:t>
            </a:fld>
            <a:endParaRPr lang="ko-KR" altLang="en-US" dirty="0">
              <a:latin typeface="Arial" pitchFamily="34" charset="0"/>
              <a:cs typeface="Arial" pitchFamily="34" charset="0"/>
            </a:endParaRPr>
          </a:p>
        </p:txBody>
      </p:sp>
      <p:sp>
        <p:nvSpPr>
          <p:cNvPr id="80" name="제목 8"/>
          <p:cNvSpPr txBox="1">
            <a:spLocks/>
          </p:cNvSpPr>
          <p:nvPr/>
        </p:nvSpPr>
        <p:spPr bwMode="auto">
          <a:xfrm>
            <a:off x="195263" y="188913"/>
            <a:ext cx="8027558"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3.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Trình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tự</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tiến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Diễn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giải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kết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quả</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804798270"/>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Box 4"/>
          <p:cNvSpPr txBox="1">
            <a:spLocks noChangeArrowheads="1"/>
          </p:cNvSpPr>
          <p:nvPr/>
        </p:nvSpPr>
        <p:spPr bwMode="auto">
          <a:xfrm>
            <a:off x="848544" y="1857375"/>
            <a:ext cx="122413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pitchFamily="34" charset="0"/>
              <a:buChar char="•"/>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Xác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nhận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phương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sai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quá</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trình</a:t>
            </a:r>
            <a:endParaRPr lang="en-US" altLang="ko-KR" sz="1400" b="1" dirty="0">
              <a:solidFill>
                <a:srgbClr val="000000"/>
              </a:solidFill>
              <a:latin typeface="Arial" pitchFamily="34" charset="0"/>
              <a:ea typeface="맑은 고딕" pitchFamily="50" charset="-127"/>
              <a:cs typeface="Arial" pitchFamily="34" charset="0"/>
            </a:endParaRPr>
          </a:p>
          <a:p>
            <a:pPr algn="ctr" eaLnBrk="1" hangingPunct="1"/>
            <a:r>
              <a:rPr lang="en-US" altLang="ko-KR" sz="1400" b="1" dirty="0">
                <a:solidFill>
                  <a:srgbClr val="000000"/>
                </a:solidFill>
                <a:latin typeface="Arial" pitchFamily="34" charset="0"/>
                <a:ea typeface="맑은 고딕" pitchFamily="50" charset="-127"/>
                <a:cs typeface="Arial" pitchFamily="34" charset="0"/>
              </a:rPr>
              <a:t>(%R&amp;R)</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7411" name="TextBox 5"/>
          <p:cNvSpPr txBox="1">
            <a:spLocks noChangeArrowheads="1"/>
          </p:cNvSpPr>
          <p:nvPr/>
        </p:nvSpPr>
        <p:spPr bwMode="auto">
          <a:xfrm>
            <a:off x="671513" y="3409950"/>
            <a:ext cx="1550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pitchFamily="34" charset="0"/>
              <a:buChar char="•"/>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Spec Pass/Fail</a:t>
            </a:r>
          </a:p>
          <a:p>
            <a:pPr eaLnBrk="1" hangingPunct="1"/>
            <a:r>
              <a:rPr lang="en-US" altLang="ko-KR" sz="1400" b="1" dirty="0">
                <a:solidFill>
                  <a:srgbClr val="000000"/>
                </a:solidFill>
                <a:latin typeface="Arial" pitchFamily="34" charset="0"/>
                <a:ea typeface="맑은 고딕" pitchFamily="50" charset="-127"/>
                <a:cs typeface="Arial" pitchFamily="34" charset="0"/>
              </a:rPr>
              <a:t>  Decision</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7412" name="TextBox 6"/>
          <p:cNvSpPr txBox="1">
            <a:spLocks noChangeArrowheads="1"/>
          </p:cNvSpPr>
          <p:nvPr/>
        </p:nvSpPr>
        <p:spPr bwMode="auto">
          <a:xfrm>
            <a:off x="2624138" y="1966913"/>
            <a:ext cx="15716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pitchFamily="34" charset="0"/>
              <a:buChar char="•"/>
            </a:pPr>
            <a:r>
              <a:rPr lang="ko-KR" altLang="en-US" sz="1400" b="1">
                <a:solidFill>
                  <a:srgbClr val="000000"/>
                </a:solidFill>
                <a:latin typeface="Arial" pitchFamily="34" charset="0"/>
                <a:ea typeface="맑은 고딕" pitchFamily="50" charset="-127"/>
                <a:cs typeface="Arial" pitchFamily="34" charset="0"/>
              </a:rPr>
              <a:t> </a:t>
            </a:r>
            <a:r>
              <a:rPr lang="en-US" altLang="ko-KR" sz="1400" b="1">
                <a:solidFill>
                  <a:srgbClr val="000000"/>
                </a:solidFill>
                <a:latin typeface="Arial" pitchFamily="34" charset="0"/>
                <a:ea typeface="맑은 고딕" pitchFamily="50" charset="-127"/>
                <a:cs typeface="Arial" pitchFamily="34" charset="0"/>
              </a:rPr>
              <a:t>% Study Var. =</a:t>
            </a:r>
            <a:endParaRPr lang="ko-KR" altLang="en-US" sz="1400" b="1">
              <a:solidFill>
                <a:srgbClr val="000000"/>
              </a:solidFill>
              <a:latin typeface="Arial" pitchFamily="34" charset="0"/>
              <a:ea typeface="맑은 고딕" pitchFamily="50" charset="-127"/>
              <a:cs typeface="Arial" pitchFamily="34" charset="0"/>
            </a:endParaRPr>
          </a:p>
        </p:txBody>
      </p:sp>
      <p:sp>
        <p:nvSpPr>
          <p:cNvPr id="17413" name="TextBox 7"/>
          <p:cNvSpPr txBox="1">
            <a:spLocks noChangeArrowheads="1"/>
          </p:cNvSpPr>
          <p:nvPr/>
        </p:nvSpPr>
        <p:spPr bwMode="auto">
          <a:xfrm>
            <a:off x="2624138" y="2665413"/>
            <a:ext cx="13668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pitchFamily="34" charset="0"/>
              <a:buChar char="•"/>
            </a:pPr>
            <a:r>
              <a:rPr lang="ko-KR" altLang="en-US" sz="1400" b="1">
                <a:solidFill>
                  <a:srgbClr val="000000"/>
                </a:solidFill>
                <a:latin typeface="Arial" pitchFamily="34" charset="0"/>
                <a:ea typeface="맑은 고딕" pitchFamily="50" charset="-127"/>
                <a:cs typeface="Arial" pitchFamily="34" charset="0"/>
              </a:rPr>
              <a:t> </a:t>
            </a:r>
            <a:r>
              <a:rPr lang="en-US" altLang="ko-KR" sz="1400" b="1">
                <a:solidFill>
                  <a:srgbClr val="000000"/>
                </a:solidFill>
                <a:latin typeface="Arial" pitchFamily="34" charset="0"/>
                <a:ea typeface="맑은 고딕" pitchFamily="50" charset="-127"/>
                <a:cs typeface="Arial" pitchFamily="34" charset="0"/>
              </a:rPr>
              <a:t>% Process =</a:t>
            </a:r>
            <a:endParaRPr lang="ko-KR" altLang="en-US" sz="1400" b="1">
              <a:solidFill>
                <a:srgbClr val="000000"/>
              </a:solidFill>
              <a:latin typeface="Arial" pitchFamily="34" charset="0"/>
              <a:ea typeface="맑은 고딕" pitchFamily="50" charset="-127"/>
              <a:cs typeface="Arial" pitchFamily="34" charset="0"/>
            </a:endParaRPr>
          </a:p>
        </p:txBody>
      </p:sp>
      <p:sp>
        <p:nvSpPr>
          <p:cNvPr id="17414" name="TextBox 8"/>
          <p:cNvSpPr txBox="1">
            <a:spLocks noChangeArrowheads="1"/>
          </p:cNvSpPr>
          <p:nvPr/>
        </p:nvSpPr>
        <p:spPr bwMode="auto">
          <a:xfrm>
            <a:off x="2624138" y="3409950"/>
            <a:ext cx="153352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pitchFamily="34" charset="0"/>
              <a:buChar char="•"/>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 Tolerance =</a:t>
            </a:r>
            <a:endParaRPr lang="ko-KR" altLang="en-US" sz="1400" b="1" dirty="0">
              <a:solidFill>
                <a:srgbClr val="000000"/>
              </a:solidFill>
              <a:latin typeface="Arial" pitchFamily="34" charset="0"/>
              <a:ea typeface="맑은 고딕" pitchFamily="50" charset="-127"/>
              <a:cs typeface="Arial" pitchFamily="34" charset="0"/>
            </a:endParaRPr>
          </a:p>
        </p:txBody>
      </p:sp>
      <p:cxnSp>
        <p:nvCxnSpPr>
          <p:cNvPr id="17415" name="꺾인 연결선 10"/>
          <p:cNvCxnSpPr>
            <a:cxnSpLocks noChangeShapeType="1"/>
            <a:stCxn id="17410" idx="3"/>
            <a:endCxn id="17413" idx="1"/>
          </p:cNvCxnSpPr>
          <p:nvPr/>
        </p:nvCxnSpPr>
        <p:spPr bwMode="auto">
          <a:xfrm>
            <a:off x="2072680" y="2334429"/>
            <a:ext cx="551458" cy="484972"/>
          </a:xfrm>
          <a:prstGeom prst="bentConnector3">
            <a:avLst>
              <a:gd name="adj1" fmla="val 50000"/>
            </a:avLst>
          </a:prstGeom>
          <a:noFill/>
          <a:ln w="12700" algn="ctr">
            <a:solidFill>
              <a:schemeClr val="tx1"/>
            </a:solidFill>
            <a:round/>
            <a:headEnd/>
            <a:tailEnd/>
          </a:ln>
          <a:extLst>
            <a:ext uri="{909E8E84-426E-40DD-AFC4-6F175D3DCCD1}">
              <a14:hiddenFill xmlns:a14="http://schemas.microsoft.com/office/drawing/2010/main">
                <a:noFill/>
              </a14:hiddenFill>
            </a:ext>
          </a:extLst>
        </p:spPr>
      </p:cxnSp>
      <p:cxnSp>
        <p:nvCxnSpPr>
          <p:cNvPr id="17416" name="직선 연결선 12"/>
          <p:cNvCxnSpPr>
            <a:cxnSpLocks noChangeShapeType="1"/>
            <a:stCxn id="17410" idx="3"/>
            <a:endCxn id="17412" idx="1"/>
          </p:cNvCxnSpPr>
          <p:nvPr/>
        </p:nvCxnSpPr>
        <p:spPr bwMode="auto">
          <a:xfrm flipV="1">
            <a:off x="2072680" y="2120901"/>
            <a:ext cx="551458" cy="213528"/>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cxnSp>
        <p:nvCxnSpPr>
          <p:cNvPr id="17417" name="직선 연결선 14"/>
          <p:cNvCxnSpPr>
            <a:cxnSpLocks noChangeShapeType="1"/>
            <a:stCxn id="17411" idx="3"/>
            <a:endCxn id="17414" idx="1"/>
          </p:cNvCxnSpPr>
          <p:nvPr/>
        </p:nvCxnSpPr>
        <p:spPr bwMode="auto">
          <a:xfrm flipV="1">
            <a:off x="2221937" y="3563144"/>
            <a:ext cx="402201" cy="108416"/>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sp>
        <p:nvSpPr>
          <p:cNvPr id="17457" name="TextBox 13"/>
          <p:cNvSpPr txBox="1">
            <a:spLocks noChangeArrowheads="1"/>
          </p:cNvSpPr>
          <p:nvPr/>
        </p:nvSpPr>
        <p:spPr bwMode="auto">
          <a:xfrm>
            <a:off x="4229039" y="1844675"/>
            <a:ext cx="12346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Gage variance</a:t>
            </a:r>
          </a:p>
        </p:txBody>
      </p:sp>
      <p:sp>
        <p:nvSpPr>
          <p:cNvPr id="17458" name="TextBox 15"/>
          <p:cNvSpPr txBox="1">
            <a:spLocks noChangeArrowheads="1"/>
          </p:cNvSpPr>
          <p:nvPr/>
        </p:nvSpPr>
        <p:spPr bwMode="auto">
          <a:xfrm>
            <a:off x="4160912" y="2121694"/>
            <a:ext cx="13708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Overall variance</a:t>
            </a:r>
          </a:p>
        </p:txBody>
      </p:sp>
      <p:cxnSp>
        <p:nvCxnSpPr>
          <p:cNvPr id="17459" name="직선 연결선 17"/>
          <p:cNvCxnSpPr>
            <a:cxnSpLocks noChangeShapeType="1"/>
          </p:cNvCxnSpPr>
          <p:nvPr/>
        </p:nvCxnSpPr>
        <p:spPr bwMode="auto">
          <a:xfrm>
            <a:off x="4317115" y="2121694"/>
            <a:ext cx="1058481" cy="0"/>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sp>
        <p:nvSpPr>
          <p:cNvPr id="17454" name="TextBox 18"/>
          <p:cNvSpPr txBox="1">
            <a:spLocks noChangeArrowheads="1"/>
          </p:cNvSpPr>
          <p:nvPr/>
        </p:nvSpPr>
        <p:spPr bwMode="auto">
          <a:xfrm>
            <a:off x="4119942" y="2541588"/>
            <a:ext cx="12346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Gage variance</a:t>
            </a:r>
          </a:p>
        </p:txBody>
      </p:sp>
      <p:sp>
        <p:nvSpPr>
          <p:cNvPr id="17455" name="TextBox 19"/>
          <p:cNvSpPr txBox="1">
            <a:spLocks noChangeArrowheads="1"/>
          </p:cNvSpPr>
          <p:nvPr/>
        </p:nvSpPr>
        <p:spPr bwMode="auto">
          <a:xfrm>
            <a:off x="3696749" y="2818607"/>
            <a:ext cx="20810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Known process variances</a:t>
            </a:r>
          </a:p>
        </p:txBody>
      </p:sp>
      <p:cxnSp>
        <p:nvCxnSpPr>
          <p:cNvPr id="17456" name="직선 연결선 20"/>
          <p:cNvCxnSpPr>
            <a:cxnSpLocks noChangeShapeType="1"/>
          </p:cNvCxnSpPr>
          <p:nvPr/>
        </p:nvCxnSpPr>
        <p:spPr bwMode="auto">
          <a:xfrm>
            <a:off x="4016794" y="2818607"/>
            <a:ext cx="1440929" cy="695"/>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sp>
        <p:nvSpPr>
          <p:cNvPr id="17420" name="TextBox 21"/>
          <p:cNvSpPr txBox="1">
            <a:spLocks noChangeArrowheads="1"/>
          </p:cNvSpPr>
          <p:nvPr/>
        </p:nvSpPr>
        <p:spPr bwMode="auto">
          <a:xfrm>
            <a:off x="3944888" y="3284538"/>
            <a:ext cx="14895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6*×Gage variance</a:t>
            </a:r>
          </a:p>
        </p:txBody>
      </p:sp>
      <p:sp>
        <p:nvSpPr>
          <p:cNvPr id="17421" name="TextBox 22"/>
          <p:cNvSpPr txBox="1">
            <a:spLocks noChangeArrowheads="1"/>
          </p:cNvSpPr>
          <p:nvPr/>
        </p:nvSpPr>
        <p:spPr bwMode="auto">
          <a:xfrm>
            <a:off x="4210762" y="3562350"/>
            <a:ext cx="11769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Product</a:t>
            </a:r>
            <a:r>
              <a:rPr lang="ko-KR" altLang="en-US" sz="1200" b="1" dirty="0">
                <a:solidFill>
                  <a:srgbClr val="000000"/>
                </a:solidFill>
                <a:latin typeface="Arial" pitchFamily="34" charset="0"/>
                <a:ea typeface="맑은 고딕" pitchFamily="50" charset="-127"/>
                <a:cs typeface="Arial" pitchFamily="34" charset="0"/>
              </a:rPr>
              <a:t> </a:t>
            </a:r>
            <a:r>
              <a:rPr lang="en-US" altLang="ko-KR" sz="1200" b="1" dirty="0">
                <a:solidFill>
                  <a:srgbClr val="000000"/>
                </a:solidFill>
                <a:latin typeface="Arial" pitchFamily="34" charset="0"/>
                <a:ea typeface="맑은 고딕" pitchFamily="50" charset="-127"/>
                <a:cs typeface="Arial" pitchFamily="34" charset="0"/>
              </a:rPr>
              <a:t>Spec</a:t>
            </a:r>
          </a:p>
        </p:txBody>
      </p:sp>
      <p:cxnSp>
        <p:nvCxnSpPr>
          <p:cNvPr id="17422" name="직선 연결선 23"/>
          <p:cNvCxnSpPr>
            <a:cxnSpLocks noChangeShapeType="1"/>
          </p:cNvCxnSpPr>
          <p:nvPr/>
        </p:nvCxnSpPr>
        <p:spPr bwMode="auto">
          <a:xfrm>
            <a:off x="4115148" y="3562350"/>
            <a:ext cx="1368152" cy="0"/>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sp>
        <p:nvSpPr>
          <p:cNvPr id="17423" name="TextBox 28"/>
          <p:cNvSpPr txBox="1">
            <a:spLocks noChangeArrowheads="1"/>
          </p:cNvSpPr>
          <p:nvPr/>
        </p:nvSpPr>
        <p:spPr bwMode="auto">
          <a:xfrm>
            <a:off x="5457825" y="1966913"/>
            <a:ext cx="6912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400" b="1">
                <a:solidFill>
                  <a:srgbClr val="000000"/>
                </a:solidFill>
                <a:latin typeface="Arial" pitchFamily="34" charset="0"/>
                <a:ea typeface="맑은 고딕" pitchFamily="50" charset="-127"/>
                <a:cs typeface="Arial" pitchFamily="34" charset="0"/>
              </a:rPr>
              <a:t>≤</a:t>
            </a:r>
            <a:r>
              <a:rPr lang="en-US" altLang="ko-KR" sz="1400" b="1">
                <a:solidFill>
                  <a:srgbClr val="000000"/>
                </a:solidFill>
                <a:latin typeface="Arial" pitchFamily="34" charset="0"/>
                <a:ea typeface="맑은 고딕" pitchFamily="50" charset="-127"/>
                <a:cs typeface="Arial" pitchFamily="34" charset="0"/>
              </a:rPr>
              <a:t> 10%</a:t>
            </a:r>
            <a:endParaRPr lang="ko-KR" altLang="en-US" sz="1400" b="1">
              <a:solidFill>
                <a:srgbClr val="000000"/>
              </a:solidFill>
              <a:latin typeface="Arial" pitchFamily="34" charset="0"/>
              <a:ea typeface="맑은 고딕" pitchFamily="50" charset="-127"/>
              <a:cs typeface="Arial" pitchFamily="34" charset="0"/>
            </a:endParaRPr>
          </a:p>
        </p:txBody>
      </p:sp>
      <p:sp>
        <p:nvSpPr>
          <p:cNvPr id="17424" name="TextBox 29"/>
          <p:cNvSpPr txBox="1">
            <a:spLocks noChangeArrowheads="1"/>
          </p:cNvSpPr>
          <p:nvPr/>
        </p:nvSpPr>
        <p:spPr bwMode="auto">
          <a:xfrm>
            <a:off x="5457825" y="2665413"/>
            <a:ext cx="6912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400" b="1">
                <a:solidFill>
                  <a:srgbClr val="000000"/>
                </a:solidFill>
                <a:latin typeface="Arial" pitchFamily="34" charset="0"/>
                <a:ea typeface="맑은 고딕" pitchFamily="50" charset="-127"/>
                <a:cs typeface="Arial" pitchFamily="34" charset="0"/>
              </a:rPr>
              <a:t>≤</a:t>
            </a:r>
            <a:r>
              <a:rPr lang="en-US" altLang="ko-KR" sz="1400" b="1">
                <a:solidFill>
                  <a:srgbClr val="000000"/>
                </a:solidFill>
                <a:latin typeface="Arial" pitchFamily="34" charset="0"/>
                <a:ea typeface="맑은 고딕" pitchFamily="50" charset="-127"/>
                <a:cs typeface="Arial" pitchFamily="34" charset="0"/>
              </a:rPr>
              <a:t> 10%</a:t>
            </a:r>
            <a:endParaRPr lang="ko-KR" altLang="en-US" sz="1400" b="1">
              <a:solidFill>
                <a:srgbClr val="000000"/>
              </a:solidFill>
              <a:latin typeface="Arial" pitchFamily="34" charset="0"/>
              <a:ea typeface="맑은 고딕" pitchFamily="50" charset="-127"/>
              <a:cs typeface="Arial" pitchFamily="34" charset="0"/>
            </a:endParaRPr>
          </a:p>
        </p:txBody>
      </p:sp>
      <p:sp>
        <p:nvSpPr>
          <p:cNvPr id="17425" name="TextBox 30"/>
          <p:cNvSpPr txBox="1">
            <a:spLocks noChangeArrowheads="1"/>
          </p:cNvSpPr>
          <p:nvPr/>
        </p:nvSpPr>
        <p:spPr bwMode="auto">
          <a:xfrm>
            <a:off x="5457825" y="3398838"/>
            <a:ext cx="6912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400" b="1">
                <a:solidFill>
                  <a:srgbClr val="000000"/>
                </a:solidFill>
                <a:latin typeface="Arial" pitchFamily="34" charset="0"/>
                <a:ea typeface="맑은 고딕" pitchFamily="50" charset="-127"/>
                <a:cs typeface="Arial" pitchFamily="34" charset="0"/>
              </a:rPr>
              <a:t>≤</a:t>
            </a:r>
            <a:r>
              <a:rPr lang="en-US" altLang="ko-KR" sz="1400" b="1">
                <a:solidFill>
                  <a:srgbClr val="000000"/>
                </a:solidFill>
                <a:latin typeface="Arial" pitchFamily="34" charset="0"/>
                <a:ea typeface="맑은 고딕" pitchFamily="50" charset="-127"/>
                <a:cs typeface="Arial" pitchFamily="34" charset="0"/>
              </a:rPr>
              <a:t> 10%</a:t>
            </a:r>
            <a:endParaRPr lang="ko-KR" altLang="en-US" sz="1400" b="1">
              <a:solidFill>
                <a:srgbClr val="000000"/>
              </a:solidFill>
              <a:latin typeface="Arial" pitchFamily="34" charset="0"/>
              <a:ea typeface="맑은 고딕" pitchFamily="50" charset="-127"/>
              <a:cs typeface="Arial" pitchFamily="34" charset="0"/>
            </a:endParaRPr>
          </a:p>
        </p:txBody>
      </p:sp>
      <p:sp>
        <p:nvSpPr>
          <p:cNvPr id="17426" name="TextBox 31"/>
          <p:cNvSpPr txBox="1">
            <a:spLocks noChangeArrowheads="1"/>
          </p:cNvSpPr>
          <p:nvPr/>
        </p:nvSpPr>
        <p:spPr bwMode="auto">
          <a:xfrm>
            <a:off x="6178550" y="1869130"/>
            <a:ext cx="3727450"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Trong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phương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sai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tổng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lỗi</a:t>
            </a:r>
            <a:r>
              <a:rPr lang="en-US" altLang="ko-KR" sz="1100" dirty="0">
                <a:solidFill>
                  <a:srgbClr val="000000"/>
                </a:solidFill>
                <a:latin typeface="Arial" pitchFamily="34" charset="0"/>
                <a:ea typeface="맑은 고딕" pitchFamily="50" charset="-127"/>
                <a:cs typeface="Arial" pitchFamily="34" charset="0"/>
              </a:rPr>
              <a:t> do </a:t>
            </a:r>
            <a:r>
              <a:rPr lang="en-US" altLang="ko-KR" sz="1100" dirty="0" err="1">
                <a:solidFill>
                  <a:srgbClr val="000000"/>
                </a:solidFill>
                <a:latin typeface="Arial" pitchFamily="34" charset="0"/>
                <a:ea typeface="맑은 고딕" pitchFamily="50" charset="-127"/>
                <a:cs typeface="Arial" pitchFamily="34" charset="0"/>
              </a:rPr>
              <a:t>hệ</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thống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cần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nhỏ</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hơn</a:t>
            </a:r>
            <a:r>
              <a:rPr lang="en-US" altLang="ko-KR" sz="1100" dirty="0">
                <a:solidFill>
                  <a:srgbClr val="000000"/>
                </a:solidFill>
                <a:latin typeface="Arial" pitchFamily="34" charset="0"/>
                <a:ea typeface="맑은 고딕" pitchFamily="50" charset="-127"/>
                <a:cs typeface="Arial" pitchFamily="34" charset="0"/>
              </a:rPr>
              <a:t> 10% </a:t>
            </a:r>
            <a:r>
              <a:rPr lang="en-US" altLang="ko-KR" sz="1100" dirty="0" err="1">
                <a:solidFill>
                  <a:srgbClr val="000000"/>
                </a:solidFill>
                <a:latin typeface="Arial" pitchFamily="34" charset="0"/>
                <a:ea typeface="맑은 고딕" pitchFamily="50" charset="-127"/>
                <a:cs typeface="Arial" pitchFamily="34" charset="0"/>
              </a:rPr>
              <a:t>để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có</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sử</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dụng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việc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kiểm</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phương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sai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trình</a:t>
            </a:r>
            <a:r>
              <a:rPr lang="en-US" altLang="ko-KR" sz="1100" dirty="0">
                <a:solidFill>
                  <a:srgbClr val="000000"/>
                </a:solidFill>
                <a:latin typeface="Arial" pitchFamily="34" charset="0"/>
                <a:ea typeface="맑은 고딕" pitchFamily="50" charset="-127"/>
                <a:cs typeface="Arial" pitchFamily="34" charset="0"/>
              </a:rPr>
              <a:t>.</a:t>
            </a:r>
          </a:p>
        </p:txBody>
      </p:sp>
      <p:sp>
        <p:nvSpPr>
          <p:cNvPr id="17427" name="TextBox 32"/>
          <p:cNvSpPr txBox="1">
            <a:spLocks noChangeArrowheads="1"/>
          </p:cNvSpPr>
          <p:nvPr/>
        </p:nvSpPr>
        <p:spPr bwMode="auto">
          <a:xfrm>
            <a:off x="6178550" y="2586987"/>
            <a:ext cx="3727450"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a:solidFill>
                  <a:srgbClr val="000000"/>
                </a:solidFill>
                <a:latin typeface="Arial" pitchFamily="34" charset="0"/>
                <a:ea typeface="맑은 고딕" pitchFamily="50" charset="-127"/>
                <a:cs typeface="Arial" pitchFamily="34" charset="0"/>
              </a:rPr>
              <a:t>: So </a:t>
            </a:r>
            <a:r>
              <a:rPr lang="en-US" altLang="ko-KR" sz="1100" dirty="0" err="1">
                <a:solidFill>
                  <a:srgbClr val="000000"/>
                </a:solidFill>
                <a:latin typeface="Arial" pitchFamily="34" charset="0"/>
                <a:ea typeface="맑은 고딕" pitchFamily="50" charset="-127"/>
                <a:cs typeface="Arial" pitchFamily="34" charset="0"/>
              </a:rPr>
              <a:t>sánh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với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sự</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phân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bổ</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của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trình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hiện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tại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lỗi</a:t>
            </a:r>
            <a:r>
              <a:rPr lang="en-US" altLang="ko-KR" sz="1100" dirty="0">
                <a:solidFill>
                  <a:srgbClr val="000000"/>
                </a:solidFill>
                <a:latin typeface="Arial" pitchFamily="34" charset="0"/>
                <a:ea typeface="맑은 고딕" pitchFamily="50" charset="-127"/>
                <a:cs typeface="Arial" pitchFamily="34" charset="0"/>
              </a:rPr>
              <a:t> do </a:t>
            </a:r>
            <a:r>
              <a:rPr lang="en-US" altLang="ko-KR" sz="1100" dirty="0" err="1">
                <a:solidFill>
                  <a:srgbClr val="000000"/>
                </a:solidFill>
                <a:latin typeface="Arial" pitchFamily="34" charset="0"/>
                <a:ea typeface="맑은 고딕" pitchFamily="50" charset="-127"/>
                <a:cs typeface="Arial" pitchFamily="34" charset="0"/>
              </a:rPr>
              <a:t>hệ</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thống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cần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nhỏ</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hơn</a:t>
            </a:r>
            <a:r>
              <a:rPr lang="en-US" altLang="ko-KR" sz="1100" dirty="0">
                <a:solidFill>
                  <a:srgbClr val="000000"/>
                </a:solidFill>
                <a:latin typeface="Arial" pitchFamily="34" charset="0"/>
                <a:ea typeface="맑은 고딕" pitchFamily="50" charset="-127"/>
                <a:cs typeface="Arial" pitchFamily="34" charset="0"/>
              </a:rPr>
              <a:t> 10% </a:t>
            </a:r>
            <a:r>
              <a:rPr lang="en-US" altLang="ko-KR" sz="1100" dirty="0" err="1">
                <a:solidFill>
                  <a:srgbClr val="000000"/>
                </a:solidFill>
                <a:latin typeface="Arial" pitchFamily="34" charset="0"/>
                <a:ea typeface="맑은 고딕" pitchFamily="50" charset="-127"/>
                <a:cs typeface="Arial" pitchFamily="34" charset="0"/>
              </a:rPr>
              <a:t>có</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sử</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dụng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việc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kiểm</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phương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sai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trình</a:t>
            </a:r>
            <a:r>
              <a:rPr lang="en-US" altLang="ko-KR" sz="1100" dirty="0">
                <a:solidFill>
                  <a:srgbClr val="000000"/>
                </a:solidFill>
                <a:latin typeface="Arial" pitchFamily="34" charset="0"/>
                <a:ea typeface="맑은 고딕" pitchFamily="50" charset="-127"/>
                <a:cs typeface="Arial" pitchFamily="34" charset="0"/>
              </a:rPr>
              <a:t>.</a:t>
            </a:r>
          </a:p>
        </p:txBody>
      </p:sp>
      <p:sp>
        <p:nvSpPr>
          <p:cNvPr id="17428" name="TextBox 33"/>
          <p:cNvSpPr txBox="1">
            <a:spLocks noChangeArrowheads="1"/>
          </p:cNvSpPr>
          <p:nvPr/>
        </p:nvSpPr>
        <p:spPr bwMode="auto">
          <a:xfrm>
            <a:off x="6178550" y="3406059"/>
            <a:ext cx="3727450"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a:solidFill>
                  <a:srgbClr val="000000"/>
                </a:solidFill>
                <a:latin typeface="Arial" pitchFamily="34" charset="0"/>
                <a:ea typeface="맑은 고딕" pitchFamily="50" charset="-127"/>
                <a:cs typeface="Arial" pitchFamily="34" charset="0"/>
              </a:rPr>
              <a:t>: So </a:t>
            </a:r>
            <a:r>
              <a:rPr lang="en-US" altLang="ko-KR" sz="1100" dirty="0" err="1">
                <a:solidFill>
                  <a:srgbClr val="000000"/>
                </a:solidFill>
                <a:latin typeface="Arial" pitchFamily="34" charset="0"/>
                <a:ea typeface="맑은 고딕" pitchFamily="50" charset="-127"/>
                <a:cs typeface="Arial" pitchFamily="34" charset="0"/>
              </a:rPr>
              <a:t>sánh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với</a:t>
            </a:r>
            <a:r>
              <a:rPr lang="en-US" altLang="ko-KR" sz="1100" dirty="0">
                <a:solidFill>
                  <a:srgbClr val="000000"/>
                </a:solidFill>
                <a:latin typeface="Arial" pitchFamily="34" charset="0"/>
                <a:ea typeface="맑은 고딕" pitchFamily="50" charset="-127"/>
                <a:cs typeface="Arial" pitchFamily="34" charset="0"/>
              </a:rPr>
              <a:t> spec </a:t>
            </a:r>
            <a:r>
              <a:rPr lang="en-US" altLang="ko-KR" sz="1100" dirty="0" err="1">
                <a:solidFill>
                  <a:srgbClr val="000000"/>
                </a:solidFill>
                <a:latin typeface="Arial" pitchFamily="34" charset="0"/>
                <a:ea typeface="맑은 고딕" pitchFamily="50" charset="-127"/>
                <a:cs typeface="Arial" pitchFamily="34" charset="0"/>
              </a:rPr>
              <a:t>sản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phẩm</a:t>
            </a:r>
            <a:r>
              <a:rPr lang="en-US" altLang="ko-KR" sz="1100" dirty="0">
                <a:solidFill>
                  <a:srgbClr val="000000"/>
                </a:solidFill>
                <a:latin typeface="Arial" pitchFamily="34" charset="0"/>
                <a:ea typeface="맑은 고딕" pitchFamily="50" charset="-127"/>
                <a:cs typeface="Arial" pitchFamily="34" charset="0"/>
              </a:rPr>
              <a:t> (dung </a:t>
            </a:r>
            <a:r>
              <a:rPr lang="en-US" altLang="ko-KR" sz="1100" dirty="0" err="1">
                <a:solidFill>
                  <a:srgbClr val="000000"/>
                </a:solidFill>
                <a:latin typeface="Arial" pitchFamily="34" charset="0"/>
                <a:ea typeface="맑은 고딕" pitchFamily="50" charset="-127"/>
                <a:cs typeface="Arial" pitchFamily="34" charset="0"/>
              </a:rPr>
              <a:t>sai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lỗi</a:t>
            </a:r>
            <a:r>
              <a:rPr lang="en-US" altLang="ko-KR" sz="1100" dirty="0">
                <a:solidFill>
                  <a:srgbClr val="000000"/>
                </a:solidFill>
                <a:latin typeface="Arial" pitchFamily="34" charset="0"/>
                <a:ea typeface="맑은 고딕" pitchFamily="50" charset="-127"/>
                <a:cs typeface="Arial" pitchFamily="34" charset="0"/>
              </a:rPr>
              <a:t> do </a:t>
            </a:r>
            <a:r>
              <a:rPr lang="en-US" altLang="ko-KR" sz="1100" dirty="0" err="1">
                <a:solidFill>
                  <a:srgbClr val="000000"/>
                </a:solidFill>
                <a:latin typeface="Arial" pitchFamily="34" charset="0"/>
                <a:ea typeface="맑은 고딕" pitchFamily="50" charset="-127"/>
                <a:cs typeface="Arial" pitchFamily="34" charset="0"/>
              </a:rPr>
              <a:t>hệ</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thống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cần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nhỏ</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hơn</a:t>
            </a:r>
            <a:r>
              <a:rPr lang="en-US" altLang="ko-KR" sz="1100" dirty="0">
                <a:solidFill>
                  <a:srgbClr val="000000"/>
                </a:solidFill>
                <a:latin typeface="Arial" pitchFamily="34" charset="0"/>
                <a:ea typeface="맑은 고딕" pitchFamily="50" charset="-127"/>
                <a:cs typeface="Arial" pitchFamily="34" charset="0"/>
              </a:rPr>
              <a:t> 10% </a:t>
            </a:r>
            <a:r>
              <a:rPr lang="en-US" altLang="ko-KR" sz="1100" dirty="0" err="1">
                <a:solidFill>
                  <a:srgbClr val="000000"/>
                </a:solidFill>
                <a:latin typeface="Arial" pitchFamily="34" charset="0"/>
                <a:ea typeface="맑은 고딕" pitchFamily="50" charset="-127"/>
                <a:cs typeface="Arial" pitchFamily="34" charset="0"/>
              </a:rPr>
              <a:t>có</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sử</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dụng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việc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ra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quyết</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định</a:t>
            </a:r>
            <a:r>
              <a:rPr lang="en-US" altLang="ko-KR" sz="1100" dirty="0">
                <a:solidFill>
                  <a:srgbClr val="000000"/>
                </a:solidFill>
                <a:latin typeface="Arial" pitchFamily="34" charset="0"/>
                <a:ea typeface="맑은 고딕" pitchFamily="50" charset="-127"/>
                <a:cs typeface="Arial" pitchFamily="34" charset="0"/>
              </a:rPr>
              <a:t> pass/fail</a:t>
            </a:r>
          </a:p>
        </p:txBody>
      </p:sp>
      <p:sp>
        <p:nvSpPr>
          <p:cNvPr id="17429" name="TextBox 35"/>
          <p:cNvSpPr txBox="1">
            <a:spLocks noChangeArrowheads="1"/>
          </p:cNvSpPr>
          <p:nvPr/>
        </p:nvSpPr>
        <p:spPr bwMode="auto">
          <a:xfrm>
            <a:off x="671513" y="5308600"/>
            <a:ext cx="204923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pitchFamily="34" charset="0"/>
              <a:buChar char="•"/>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Kiểm</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tra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mức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độ</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phân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biệt</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của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hệ</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thống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đo</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lường</a:t>
            </a:r>
            <a:endParaRPr lang="en-US" altLang="ko-KR" sz="1400" b="1" dirty="0">
              <a:solidFill>
                <a:srgbClr val="000000"/>
              </a:solidFill>
              <a:latin typeface="Arial" pitchFamily="34" charset="0"/>
              <a:ea typeface="맑은 고딕" pitchFamily="50" charset="-127"/>
              <a:cs typeface="Arial" pitchFamily="34" charset="0"/>
            </a:endParaRPr>
          </a:p>
        </p:txBody>
      </p:sp>
      <p:sp>
        <p:nvSpPr>
          <p:cNvPr id="17430" name="TextBox 37"/>
          <p:cNvSpPr txBox="1">
            <a:spLocks noChangeArrowheads="1"/>
          </p:cNvSpPr>
          <p:nvPr/>
        </p:nvSpPr>
        <p:spPr bwMode="auto">
          <a:xfrm>
            <a:off x="2624138" y="5308600"/>
            <a:ext cx="3018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Arial" pitchFamily="34" charset="0"/>
              <a:buChar char="•"/>
            </a:pPr>
            <a:r>
              <a:rPr lang="ko-KR" altLang="en-US" sz="1400" b="1" dirty="0">
                <a:solidFill>
                  <a:srgbClr val="000000"/>
                </a:solidFill>
                <a:latin typeface="Arial" pitchFamily="34" charset="0"/>
                <a:ea typeface="맑은 고딕" pitchFamily="50" charset="-127"/>
                <a:cs typeface="Arial" pitchFamily="34" charset="0"/>
              </a:rPr>
              <a:t> </a:t>
            </a:r>
            <a:r>
              <a:rPr lang="en-US" altLang="ko-KR" sz="1400" b="1" dirty="0">
                <a:solidFill>
                  <a:srgbClr val="000000"/>
                </a:solidFill>
                <a:latin typeface="Arial" pitchFamily="34" charset="0"/>
                <a:ea typeface="맑은 고딕" pitchFamily="50" charset="-127"/>
                <a:cs typeface="Arial" pitchFamily="34" charset="0"/>
              </a:rPr>
              <a:t>Number of distinct category  </a:t>
            </a:r>
            <a:r>
              <a:rPr lang="ko-KR" altLang="en-US" sz="1400" b="1" dirty="0">
                <a:solidFill>
                  <a:srgbClr val="000000"/>
                </a:solidFill>
                <a:latin typeface="Arial" pitchFamily="34" charset="0"/>
                <a:ea typeface="맑은 고딕" pitchFamily="50" charset="-127"/>
                <a:cs typeface="Arial" pitchFamily="34" charset="0"/>
              </a:rPr>
              <a:t>≥</a:t>
            </a:r>
            <a:r>
              <a:rPr lang="en-US" altLang="ko-KR" sz="1400" b="1" dirty="0">
                <a:solidFill>
                  <a:srgbClr val="000000"/>
                </a:solidFill>
                <a:latin typeface="Arial" pitchFamily="34" charset="0"/>
                <a:ea typeface="맑은 고딕" pitchFamily="50" charset="-127"/>
                <a:cs typeface="Arial" pitchFamily="34" charset="0"/>
              </a:rPr>
              <a:t> 5</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7431" name="TextBox 39"/>
          <p:cNvSpPr txBox="1">
            <a:spLocks noChangeArrowheads="1"/>
          </p:cNvSpPr>
          <p:nvPr/>
        </p:nvSpPr>
        <p:spPr bwMode="auto">
          <a:xfrm>
            <a:off x="6178551" y="5294313"/>
            <a:ext cx="372745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Đây</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là</a:t>
            </a:r>
            <a:r>
              <a:rPr lang="en-US" altLang="ko-KR" sz="1100" dirty="0">
                <a:solidFill>
                  <a:srgbClr val="000000"/>
                </a:solidFill>
                <a:latin typeface="Arial" pitchFamily="34" charset="0"/>
                <a:ea typeface="맑은 고딕" pitchFamily="50" charset="-127"/>
                <a:cs typeface="Arial" pitchFamily="34" charset="0"/>
              </a:rPr>
              <a:t> con </a:t>
            </a:r>
            <a:r>
              <a:rPr lang="en-US" altLang="ko-KR" sz="1100" dirty="0" err="1">
                <a:solidFill>
                  <a:srgbClr val="000000"/>
                </a:solidFill>
                <a:latin typeface="Arial" pitchFamily="34" charset="0"/>
                <a:ea typeface="맑은 고딕" pitchFamily="50" charset="-127"/>
                <a:cs typeface="Arial" pitchFamily="34" charset="0"/>
              </a:rPr>
              <a:t>số</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của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các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hạng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mục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phân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bổ</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mà</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hệ</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thống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có</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phân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biệt</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Nếu</a:t>
            </a:r>
            <a:r>
              <a:rPr lang="en-US" altLang="ko-KR" sz="1100" dirty="0">
                <a:solidFill>
                  <a:srgbClr val="000000"/>
                </a:solidFill>
                <a:latin typeface="Arial" pitchFamily="34" charset="0"/>
                <a:ea typeface="맑은 고딕" pitchFamily="50" charset="-127"/>
                <a:cs typeface="Arial" pitchFamily="34" charset="0"/>
              </a:rPr>
              <a:t> NDC = 5,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trình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có</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chia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thành</a:t>
            </a:r>
            <a:r>
              <a:rPr lang="en-US" altLang="ko-KR" sz="1100" dirty="0">
                <a:solidFill>
                  <a:srgbClr val="000000"/>
                </a:solidFill>
                <a:latin typeface="Arial" pitchFamily="34" charset="0"/>
                <a:ea typeface="맑은 고딕" pitchFamily="50" charset="-127"/>
                <a:cs typeface="Arial" pitchFamily="34" charset="0"/>
              </a:rPr>
              <a:t> 5 </a:t>
            </a:r>
            <a:r>
              <a:rPr lang="en-US" altLang="ko-KR" sz="1100" dirty="0" err="1">
                <a:solidFill>
                  <a:srgbClr val="000000"/>
                </a:solidFill>
                <a:latin typeface="Arial" pitchFamily="34" charset="0"/>
                <a:ea typeface="맑은 고딕" pitchFamily="50" charset="-127"/>
                <a:cs typeface="Arial" pitchFamily="34" charset="0"/>
              </a:rPr>
              <a:t>hạng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mục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có</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dùng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kiểm</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soát</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trình</a:t>
            </a:r>
            <a:r>
              <a:rPr lang="en-US" altLang="ko-KR" sz="1100" dirty="0">
                <a:solidFill>
                  <a:srgbClr val="000000"/>
                </a:solidFill>
                <a:latin typeface="Arial" pitchFamily="34" charset="0"/>
                <a:ea typeface="맑은 고딕" pitchFamily="50" charset="-127"/>
                <a:cs typeface="Arial" pitchFamily="34" charset="0"/>
              </a:rPr>
              <a:t>, NDC </a:t>
            </a:r>
            <a:r>
              <a:rPr lang="en-US" altLang="ko-KR" sz="1100" dirty="0" err="1">
                <a:solidFill>
                  <a:srgbClr val="000000"/>
                </a:solidFill>
                <a:latin typeface="Arial" pitchFamily="34" charset="0"/>
                <a:ea typeface="맑은 고딕" pitchFamily="50" charset="-127"/>
                <a:cs typeface="Arial" pitchFamily="34" charset="0"/>
              </a:rPr>
              <a:t>nên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có</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giá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trị</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thấp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nhất</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là</a:t>
            </a:r>
            <a:r>
              <a:rPr lang="en-US" altLang="ko-KR" sz="1100" dirty="0">
                <a:solidFill>
                  <a:srgbClr val="000000"/>
                </a:solidFill>
                <a:latin typeface="Arial" pitchFamily="34" charset="0"/>
                <a:ea typeface="맑은 고딕" pitchFamily="50" charset="-127"/>
                <a:cs typeface="Arial" pitchFamily="34" charset="0"/>
              </a:rPr>
              <a:t> 5.</a:t>
            </a:r>
          </a:p>
        </p:txBody>
      </p:sp>
      <p:cxnSp>
        <p:nvCxnSpPr>
          <p:cNvPr id="17432" name="직선 연결선 41"/>
          <p:cNvCxnSpPr>
            <a:cxnSpLocks noChangeShapeType="1"/>
          </p:cNvCxnSpPr>
          <p:nvPr/>
        </p:nvCxnSpPr>
        <p:spPr bwMode="auto">
          <a:xfrm>
            <a:off x="195263" y="5157788"/>
            <a:ext cx="9386887" cy="0"/>
          </a:xfrm>
          <a:prstGeom prst="line">
            <a:avLst/>
          </a:prstGeom>
          <a:noFill/>
          <a:ln w="12700" algn="ctr">
            <a:solidFill>
              <a:schemeClr val="bg2"/>
            </a:solidFill>
            <a:prstDash val="dash"/>
            <a:round/>
            <a:headEnd/>
            <a:tailEnd/>
          </a:ln>
          <a:extLst>
            <a:ext uri="{909E8E84-426E-40DD-AFC4-6F175D3DCCD1}">
              <a14:hiddenFill xmlns:a14="http://schemas.microsoft.com/office/drawing/2010/main">
                <a:noFill/>
              </a14:hiddenFill>
            </a:ext>
          </a:extLst>
        </p:spPr>
      </p:cxnSp>
      <p:sp>
        <p:nvSpPr>
          <p:cNvPr id="17433" name="TextBox 42"/>
          <p:cNvSpPr txBox="1">
            <a:spLocks noChangeArrowheads="1"/>
          </p:cNvSpPr>
          <p:nvPr/>
        </p:nvSpPr>
        <p:spPr bwMode="auto">
          <a:xfrm>
            <a:off x="715963" y="4292600"/>
            <a:ext cx="531715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Tại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lại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nhân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với</a:t>
            </a:r>
            <a:r>
              <a:rPr lang="en-US" altLang="ko-KR" sz="1200" dirty="0">
                <a:solidFill>
                  <a:srgbClr val="000000"/>
                </a:solidFill>
                <a:latin typeface="Arial" pitchFamily="34" charset="0"/>
                <a:ea typeface="맑은 고딕" pitchFamily="50" charset="-127"/>
                <a:cs typeface="Arial" pitchFamily="34" charset="0"/>
              </a:rPr>
              <a:t> 6? </a:t>
            </a:r>
            <a:r>
              <a:rPr lang="en-US" altLang="ko-KR" sz="1200" dirty="0" err="1">
                <a:solidFill>
                  <a:srgbClr val="000000"/>
                </a:solidFill>
                <a:latin typeface="Arial" pitchFamily="34" charset="0"/>
                <a:ea typeface="맑은 고딕" pitchFamily="50" charset="-127"/>
                <a:cs typeface="Arial" pitchFamily="34" charset="0"/>
              </a:rPr>
              <a:t>Đặc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kỹ</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thuật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xác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định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rõ</a:t>
            </a:r>
            <a:r>
              <a:rPr lang="en-US" altLang="ko-KR" sz="1200" dirty="0">
                <a:solidFill>
                  <a:srgbClr val="000000"/>
                </a:solidFill>
                <a:latin typeface="Arial" pitchFamily="34" charset="0"/>
                <a:ea typeface="맑은 고딕" pitchFamily="50" charset="-127"/>
                <a:cs typeface="Arial" pitchFamily="34" charset="0"/>
              </a:rPr>
              <a:t> USL </a:t>
            </a:r>
            <a:r>
              <a:rPr lang="en-US" altLang="ko-KR" sz="1200" dirty="0" err="1">
                <a:solidFill>
                  <a:srgbClr val="000000"/>
                </a:solidFill>
                <a:latin typeface="Arial" pitchFamily="34" charset="0"/>
                <a:ea typeface="맑은 고딕" pitchFamily="50" charset="-127"/>
                <a:cs typeface="Arial" pitchFamily="34" charset="0"/>
              </a:rPr>
              <a:t>và</a:t>
            </a:r>
            <a:r>
              <a:rPr lang="en-US" altLang="ko-KR" sz="1200" dirty="0">
                <a:solidFill>
                  <a:srgbClr val="000000"/>
                </a:solidFill>
                <a:latin typeface="Arial" pitchFamily="34" charset="0"/>
                <a:ea typeface="맑은 고딕" pitchFamily="50" charset="-127"/>
                <a:cs typeface="Arial" pitchFamily="34" charset="0"/>
              </a:rPr>
              <a:t> LSL</a:t>
            </a:r>
          </a:p>
          <a:p>
            <a:pPr eaLnBrk="1" hangingPunct="1"/>
            <a:r>
              <a:rPr lang="en-US" altLang="ko-KR" sz="1200" dirty="0">
                <a:solidFill>
                  <a:srgbClr val="000000"/>
                </a:solidFill>
                <a:latin typeface="Arial" pitchFamily="34" charset="0"/>
                <a:ea typeface="맑은 고딕" pitchFamily="50" charset="-127"/>
                <a:cs typeface="Arial" pitchFamily="34" charset="0"/>
              </a:rPr>
              <a:t>    –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Gage </a:t>
            </a:r>
            <a:r>
              <a:rPr lang="en-US" altLang="ko-KR" sz="1200" dirty="0" err="1">
                <a:solidFill>
                  <a:srgbClr val="000000"/>
                </a:solidFill>
                <a:latin typeface="Arial" pitchFamily="34" charset="0"/>
                <a:ea typeface="맑은 고딕" pitchFamily="50" charset="-127"/>
                <a:cs typeface="Arial" pitchFamily="34" charset="0"/>
              </a:rPr>
              <a:t>diễn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tả</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sự</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phân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phối</a:t>
            </a:r>
            <a:r>
              <a:rPr lang="en-US" altLang="ko-KR" sz="1200" dirty="0">
                <a:solidFill>
                  <a:srgbClr val="000000"/>
                </a:solidFill>
                <a:latin typeface="Arial" pitchFamily="34" charset="0"/>
                <a:ea typeface="맑은 고딕" pitchFamily="50" charset="-127"/>
                <a:cs typeface="Arial" pitchFamily="34" charset="0"/>
              </a:rPr>
              <a:t> (σ), </a:t>
            </a:r>
            <a:r>
              <a:rPr lang="en-US" altLang="ko-KR" sz="1200" dirty="0" err="1">
                <a:solidFill>
                  <a:srgbClr val="000000"/>
                </a:solidFill>
                <a:latin typeface="Arial" pitchFamily="34" charset="0"/>
                <a:ea typeface="맑은 고딕" pitchFamily="50" charset="-127"/>
                <a:cs typeface="Arial" pitchFamily="34" charset="0"/>
              </a:rPr>
              <a:t>khi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nhân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với</a:t>
            </a:r>
            <a:r>
              <a:rPr lang="en-US" altLang="ko-KR" sz="1200" dirty="0">
                <a:solidFill>
                  <a:srgbClr val="000000"/>
                </a:solidFill>
                <a:latin typeface="Arial" pitchFamily="34" charset="0"/>
                <a:ea typeface="맑은 고딕" pitchFamily="50" charset="-127"/>
                <a:cs typeface="Arial" pitchFamily="34" charset="0"/>
              </a:rPr>
              <a:t> 6 </a:t>
            </a:r>
            <a:r>
              <a:rPr lang="en-US" altLang="ko-KR" sz="1200" dirty="0" err="1">
                <a:solidFill>
                  <a:srgbClr val="000000"/>
                </a:solidFill>
                <a:latin typeface="Arial" pitchFamily="34" charset="0"/>
                <a:ea typeface="맑은 고딕" pitchFamily="50" charset="-127"/>
                <a:cs typeface="Arial" pitchFamily="34" charset="0"/>
              </a:rPr>
              <a:t>sẽ</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đảm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bảo</a:t>
            </a:r>
            <a:r>
              <a:rPr lang="en-US" altLang="ko-KR" sz="1200" dirty="0">
                <a:solidFill>
                  <a:srgbClr val="000000"/>
                </a:solidFill>
                <a:latin typeface="Arial" pitchFamily="34" charset="0"/>
                <a:ea typeface="맑은 고딕" pitchFamily="50" charset="-127"/>
                <a:cs typeface="Arial" pitchFamily="34" charset="0"/>
              </a:rPr>
              <a:t> 99.73% </a:t>
            </a:r>
            <a:r>
              <a:rPr lang="en-US" altLang="ko-KR" sz="1200" dirty="0" err="1">
                <a:solidFill>
                  <a:srgbClr val="000000"/>
                </a:solidFill>
                <a:latin typeface="Arial" pitchFamily="34" charset="0"/>
                <a:ea typeface="맑은 고딕" pitchFamily="50" charset="-127"/>
                <a:cs typeface="Arial" pitchFamily="34" charset="0"/>
              </a:rPr>
              <a:t>phạm</a:t>
            </a:r>
            <a:r>
              <a:rPr lang="en-US" altLang="ko-KR" sz="1200" dirty="0">
                <a:solidFill>
                  <a:srgbClr val="000000"/>
                </a:solidFill>
                <a:latin typeface="Arial" pitchFamily="34" charset="0"/>
                <a:ea typeface="맑은 고딕" pitchFamily="50" charset="-127"/>
                <a:cs typeface="Arial" pitchFamily="34" charset="0"/>
              </a:rPr>
              <a:t> vi </a:t>
            </a:r>
            <a:r>
              <a:rPr lang="en-US" altLang="ko-KR" sz="1200" dirty="0" err="1">
                <a:solidFill>
                  <a:srgbClr val="000000"/>
                </a:solidFill>
                <a:latin typeface="Arial" pitchFamily="34" charset="0"/>
                <a:ea typeface="맑은 고딕" pitchFamily="50" charset="-127"/>
                <a:cs typeface="Arial" pitchFamily="34" charset="0"/>
              </a:rPr>
              <a:t>tổng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thể</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bao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phủ</a:t>
            </a:r>
            <a:r>
              <a:rPr lang="en-US" altLang="ko-KR" sz="1200" dirty="0">
                <a:solidFill>
                  <a:srgbClr val="000000"/>
                </a:solidFill>
                <a:latin typeface="Arial" pitchFamily="34" charset="0"/>
                <a:ea typeface="맑은 고딕" pitchFamily="50" charset="-127"/>
                <a:cs typeface="Arial" pitchFamily="34" charset="0"/>
              </a:rPr>
              <a:t>. </a:t>
            </a:r>
          </a:p>
        </p:txBody>
      </p:sp>
      <p:grpSp>
        <p:nvGrpSpPr>
          <p:cNvPr id="5" name="Group 17"/>
          <p:cNvGrpSpPr>
            <a:grpSpLocks/>
          </p:cNvGrpSpPr>
          <p:nvPr/>
        </p:nvGrpSpPr>
        <p:grpSpPr bwMode="auto">
          <a:xfrm>
            <a:off x="7162800" y="4005263"/>
            <a:ext cx="1462088" cy="1164705"/>
            <a:chOff x="4875" y="3301"/>
            <a:chExt cx="988" cy="765"/>
          </a:xfrm>
        </p:grpSpPr>
        <p:grpSp>
          <p:nvGrpSpPr>
            <p:cNvPr id="6" name="Group 18"/>
            <p:cNvGrpSpPr>
              <a:grpSpLocks/>
            </p:cNvGrpSpPr>
            <p:nvPr/>
          </p:nvGrpSpPr>
          <p:grpSpPr bwMode="auto">
            <a:xfrm>
              <a:off x="4875" y="3301"/>
              <a:ext cx="988" cy="595"/>
              <a:chOff x="4875" y="3329"/>
              <a:chExt cx="988" cy="595"/>
            </a:xfrm>
          </p:grpSpPr>
          <p:grpSp>
            <p:nvGrpSpPr>
              <p:cNvPr id="7" name="Group 19"/>
              <p:cNvGrpSpPr>
                <a:grpSpLocks/>
              </p:cNvGrpSpPr>
              <p:nvPr/>
            </p:nvGrpSpPr>
            <p:grpSpPr bwMode="auto">
              <a:xfrm>
                <a:off x="4980" y="3329"/>
                <a:ext cx="816" cy="464"/>
                <a:chOff x="4998" y="3427"/>
                <a:chExt cx="816" cy="464"/>
              </a:xfrm>
            </p:grpSpPr>
            <p:pic>
              <p:nvPicPr>
                <p:cNvPr id="17451" name="Picture 20"/>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4998" y="3427"/>
                  <a:ext cx="816" cy="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52" name="Line 21"/>
                <p:cNvSpPr>
                  <a:spLocks noChangeShapeType="1"/>
                </p:cNvSpPr>
                <p:nvPr/>
              </p:nvSpPr>
              <p:spPr bwMode="auto">
                <a:xfrm>
                  <a:off x="5109" y="3748"/>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Arial" pitchFamily="34" charset="0"/>
                    <a:cs typeface="Arial" pitchFamily="34" charset="0"/>
                  </a:endParaRPr>
                </a:p>
              </p:txBody>
            </p:sp>
            <p:sp>
              <p:nvSpPr>
                <p:cNvPr id="17453" name="Line 22"/>
                <p:cNvSpPr>
                  <a:spLocks noChangeShapeType="1"/>
                </p:cNvSpPr>
                <p:nvPr/>
              </p:nvSpPr>
              <p:spPr bwMode="auto">
                <a:xfrm>
                  <a:off x="5681" y="3755"/>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Arial" pitchFamily="34" charset="0"/>
                    <a:cs typeface="Arial" pitchFamily="34" charset="0"/>
                  </a:endParaRPr>
                </a:p>
              </p:txBody>
            </p:sp>
          </p:grpSp>
          <p:sp>
            <p:nvSpPr>
              <p:cNvPr id="17447" name="Text Box 23"/>
              <p:cNvSpPr txBox="1">
                <a:spLocks noChangeArrowheads="1"/>
              </p:cNvSpPr>
              <p:nvPr/>
            </p:nvSpPr>
            <p:spPr bwMode="auto">
              <a:xfrm>
                <a:off x="4875" y="3762"/>
                <a:ext cx="408"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dirty="0">
                    <a:solidFill>
                      <a:srgbClr val="000000"/>
                    </a:solidFill>
                    <a:latin typeface="Arial" pitchFamily="34" charset="0"/>
                    <a:cs typeface="Arial" pitchFamily="34" charset="0"/>
                  </a:rPr>
                  <a:t>-3</a:t>
                </a:r>
              </a:p>
            </p:txBody>
          </p:sp>
          <p:sp>
            <p:nvSpPr>
              <p:cNvPr id="17448" name="Text Box 24"/>
              <p:cNvSpPr txBox="1">
                <a:spLocks noChangeArrowheads="1"/>
              </p:cNvSpPr>
              <p:nvPr/>
            </p:nvSpPr>
            <p:spPr bwMode="auto">
              <a:xfrm>
                <a:off x="5455" y="3762"/>
                <a:ext cx="408"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dirty="0">
                    <a:solidFill>
                      <a:srgbClr val="000000"/>
                    </a:solidFill>
                    <a:latin typeface="Arial" pitchFamily="34" charset="0"/>
                    <a:cs typeface="Arial" pitchFamily="34" charset="0"/>
                  </a:rPr>
                  <a:t>3</a:t>
                </a:r>
              </a:p>
            </p:txBody>
          </p:sp>
          <p:sp>
            <p:nvSpPr>
              <p:cNvPr id="17449" name="Text Box 25"/>
              <p:cNvSpPr txBox="1">
                <a:spLocks noChangeArrowheads="1"/>
              </p:cNvSpPr>
              <p:nvPr/>
            </p:nvSpPr>
            <p:spPr bwMode="auto">
              <a:xfrm>
                <a:off x="5175" y="3549"/>
                <a:ext cx="408"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dirty="0">
                    <a:solidFill>
                      <a:srgbClr val="000000"/>
                    </a:solidFill>
                    <a:latin typeface="Arial" pitchFamily="34" charset="0"/>
                    <a:cs typeface="Arial" pitchFamily="34" charset="0"/>
                  </a:rPr>
                  <a:t>0.9973</a:t>
                </a:r>
              </a:p>
            </p:txBody>
          </p:sp>
          <p:sp>
            <p:nvSpPr>
              <p:cNvPr id="17450" name="Line 26"/>
              <p:cNvSpPr>
                <a:spLocks noChangeShapeType="1"/>
              </p:cNvSpPr>
              <p:nvPr/>
            </p:nvSpPr>
            <p:spPr bwMode="auto">
              <a:xfrm>
                <a:off x="5091" y="3922"/>
                <a:ext cx="590" cy="0"/>
              </a:xfrm>
              <a:prstGeom prst="line">
                <a:avLst/>
              </a:prstGeom>
              <a:noFill/>
              <a:ln w="9525">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nchor="ctr"/>
              <a:lstStyle/>
              <a:p>
                <a:endParaRPr lang="ko-KR" altLang="en-US">
                  <a:latin typeface="Arial" pitchFamily="34" charset="0"/>
                  <a:cs typeface="Arial" pitchFamily="34" charset="0"/>
                </a:endParaRPr>
              </a:p>
            </p:txBody>
          </p:sp>
        </p:grpSp>
        <p:sp>
          <p:nvSpPr>
            <p:cNvPr id="17445" name="Text Box 27"/>
            <p:cNvSpPr txBox="1">
              <a:spLocks noChangeArrowheads="1"/>
            </p:cNvSpPr>
            <p:nvPr/>
          </p:nvSpPr>
          <p:spPr bwMode="auto">
            <a:xfrm>
              <a:off x="5186" y="3904"/>
              <a:ext cx="408"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dirty="0">
                  <a:solidFill>
                    <a:srgbClr val="000000"/>
                  </a:solidFill>
                  <a:latin typeface="Arial" pitchFamily="34" charset="0"/>
                  <a:cs typeface="Arial" pitchFamily="34" charset="0"/>
                </a:rPr>
                <a:t>6</a:t>
              </a:r>
            </a:p>
          </p:txBody>
        </p:sp>
      </p:grpSp>
      <p:sp>
        <p:nvSpPr>
          <p:cNvPr id="47" name="TextBox 46"/>
          <p:cNvSpPr txBox="1"/>
          <p:nvPr/>
        </p:nvSpPr>
        <p:spPr>
          <a:xfrm>
            <a:off x="428625" y="827088"/>
            <a:ext cx="8970963" cy="668337"/>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Tiêu</a:t>
            </a: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chuẩn</a:t>
            </a: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quyết</a:t>
            </a:r>
            <a:r>
              <a:rPr kumimoji="0" lang="en-US" altLang="ko-KR" b="1" kern="0" dirty="0">
                <a:solidFill>
                  <a:srgbClr val="000000"/>
                </a:solidFill>
                <a:latin typeface="Arial" pitchFamily="34" charset="0"/>
                <a:ea typeface="맑은 고딕" pitchFamily="50" charset="-127"/>
                <a:cs typeface="Arial" pitchFamily="34" charset="0"/>
              </a:rPr>
              <a:t> </a:t>
            </a:r>
            <a:r>
              <a:rPr kumimoji="0" lang="en-US" altLang="ko-KR" b="1" kern="0" dirty="0" err="1">
                <a:solidFill>
                  <a:srgbClr val="000000"/>
                </a:solidFill>
                <a:latin typeface="Arial" pitchFamily="34" charset="0"/>
                <a:ea typeface="맑은 고딕" pitchFamily="50" charset="-127"/>
                <a:cs typeface="Arial" pitchFamily="34" charset="0"/>
              </a:rPr>
              <a:t>định</a:t>
            </a:r>
            <a:r>
              <a:rPr kumimoji="0" lang="en-US" altLang="ko-KR" b="1" kern="0" dirty="0">
                <a:solidFill>
                  <a:srgbClr val="000000"/>
                </a:solidFill>
                <a:latin typeface="Arial" pitchFamily="34" charset="0"/>
                <a:ea typeface="맑은 고딕" pitchFamily="50" charset="-127"/>
                <a:cs typeface="Arial" pitchFamily="34" charset="0"/>
              </a:rPr>
              <a:t> Gage R&amp;R</a:t>
            </a:r>
          </a:p>
          <a:p>
            <a:pPr marL="365125" fontAlgn="auto" latinLnBrk="0">
              <a:lnSpc>
                <a:spcPct val="110000"/>
              </a:lnSpc>
              <a:spcBef>
                <a:spcPts val="0"/>
              </a:spcBef>
              <a:spcAft>
                <a:spcPts val="0"/>
              </a:spcAft>
              <a:buClr>
                <a:srgbClr val="595959"/>
              </a:buClr>
              <a:defRPr/>
            </a:pPr>
            <a:r>
              <a:rPr kumimoji="0" lang="en-US" altLang="ko-KR" sz="1600" kern="0" dirty="0">
                <a:solidFill>
                  <a:srgbClr val="000000"/>
                </a:solidFill>
                <a:latin typeface="Arial" pitchFamily="34" charset="0"/>
                <a:ea typeface="맑은 고딕" pitchFamily="50" charset="-127"/>
                <a:cs typeface="Arial" pitchFamily="34" charset="0"/>
              </a:rPr>
              <a:t>: </a:t>
            </a:r>
            <a:r>
              <a:rPr kumimoji="0" lang="en-US" altLang="ko-KR" sz="1600" kern="0" dirty="0" err="1">
                <a:solidFill>
                  <a:srgbClr val="000000"/>
                </a:solidFill>
                <a:latin typeface="Arial" pitchFamily="34" charset="0"/>
                <a:ea typeface="맑은 고딕" pitchFamily="50" charset="-127"/>
                <a:cs typeface="Arial" pitchFamily="34" charset="0"/>
              </a:rPr>
              <a:t>xác</a:t>
            </a:r>
            <a:r>
              <a:rPr kumimoji="0" lang="en-US" altLang="ko-KR" sz="1600" kern="0" dirty="0">
                <a:solidFill>
                  <a:srgbClr val="000000"/>
                </a:solidFill>
                <a:latin typeface="Arial" pitchFamily="34" charset="0"/>
                <a:ea typeface="맑은 고딕" pitchFamily="50" charset="-127"/>
                <a:cs typeface="Arial" pitchFamily="34" charset="0"/>
              </a:rPr>
              <a:t> </a:t>
            </a:r>
            <a:r>
              <a:rPr kumimoji="0" lang="en-US" altLang="ko-KR" sz="1600" kern="0" dirty="0" err="1">
                <a:solidFill>
                  <a:srgbClr val="000000"/>
                </a:solidFill>
                <a:latin typeface="Arial" pitchFamily="34" charset="0"/>
                <a:ea typeface="맑은 고딕" pitchFamily="50" charset="-127"/>
                <a:cs typeface="Arial" pitchFamily="34" charset="0"/>
              </a:rPr>
              <a:t>định</a:t>
            </a:r>
            <a:r>
              <a:rPr kumimoji="0" lang="en-US" altLang="ko-KR" sz="1600" kern="0" dirty="0">
                <a:solidFill>
                  <a:srgbClr val="000000"/>
                </a:solidFill>
                <a:latin typeface="Arial" pitchFamily="34" charset="0"/>
                <a:ea typeface="맑은 고딕" pitchFamily="50" charset="-127"/>
                <a:cs typeface="Arial" pitchFamily="34" charset="0"/>
              </a:rPr>
              <a:t> </a:t>
            </a:r>
            <a:r>
              <a:rPr kumimoji="0" lang="en-US" altLang="ko-KR" sz="1600" kern="0" dirty="0" err="1">
                <a:solidFill>
                  <a:srgbClr val="000000"/>
                </a:solidFill>
                <a:latin typeface="Arial" pitchFamily="34" charset="0"/>
                <a:ea typeface="맑은 고딕" pitchFamily="50" charset="-127"/>
                <a:cs typeface="Arial" pitchFamily="34" charset="0"/>
              </a:rPr>
              <a:t>độ</a:t>
            </a:r>
            <a:r>
              <a:rPr kumimoji="0" lang="en-US" altLang="ko-KR" sz="1600" kern="0" dirty="0">
                <a:solidFill>
                  <a:srgbClr val="000000"/>
                </a:solidFill>
                <a:latin typeface="Arial" pitchFamily="34" charset="0"/>
                <a:ea typeface="맑은 고딕" pitchFamily="50" charset="-127"/>
                <a:cs typeface="Arial" pitchFamily="34" charset="0"/>
              </a:rPr>
              <a:t> tin </a:t>
            </a:r>
            <a:r>
              <a:rPr kumimoji="0" lang="en-US" altLang="ko-KR" sz="1600" kern="0" dirty="0" err="1">
                <a:solidFill>
                  <a:srgbClr val="000000"/>
                </a:solidFill>
                <a:latin typeface="Arial" pitchFamily="34" charset="0"/>
                <a:ea typeface="맑은 고딕" pitchFamily="50" charset="-127"/>
                <a:cs typeface="Arial" pitchFamily="34" charset="0"/>
              </a:rPr>
              <a:t>cậy</a:t>
            </a:r>
            <a:r>
              <a:rPr kumimoji="0" lang="en-US" altLang="ko-KR" sz="1600" kern="0" dirty="0">
                <a:solidFill>
                  <a:srgbClr val="000000"/>
                </a:solidFill>
                <a:latin typeface="Arial" pitchFamily="34" charset="0"/>
                <a:ea typeface="맑은 고딕" pitchFamily="50" charset="-127"/>
                <a:cs typeface="Arial" pitchFamily="34" charset="0"/>
              </a:rPr>
              <a:t> Gage R&amp;R</a:t>
            </a:r>
            <a:endParaRPr kumimoji="0" lang="ko-KR" altLang="en-US" sz="1600" kern="0" dirty="0">
              <a:solidFill>
                <a:srgbClr val="000000"/>
              </a:solidFill>
              <a:latin typeface="Arial" pitchFamily="34" charset="0"/>
              <a:ea typeface="맑은 고딕" pitchFamily="50" charset="-127"/>
              <a:cs typeface="Arial" pitchFamily="34" charset="0"/>
            </a:endParaRPr>
          </a:p>
        </p:txBody>
      </p:sp>
      <p:sp>
        <p:nvSpPr>
          <p:cNvPr id="50" name="제목 8"/>
          <p:cNvSpPr txBox="1">
            <a:spLocks/>
          </p:cNvSpPr>
          <p:nvPr/>
        </p:nvSpPr>
        <p:spPr bwMode="auto">
          <a:xfrm>
            <a:off x="7473950" y="260350"/>
            <a:ext cx="2303463" cy="488950"/>
          </a:xfrm>
          <a:prstGeom prst="rect">
            <a:avLst/>
          </a:prstGeom>
          <a:noFill/>
          <a:ln>
            <a:miter lim="800000"/>
            <a:headEnd/>
            <a:tailEnd/>
          </a:ln>
        </p:spPr>
        <p:txBody>
          <a:bodyPr anchor="ctr"/>
          <a:lstStyle/>
          <a:p>
            <a:pPr algn="r">
              <a:defRPr/>
            </a:pPr>
            <a:r>
              <a:rPr lang="en-US" altLang="ko-KR" sz="1600" b="1" kern="0" dirty="0" err="1">
                <a:solidFill>
                  <a:srgbClr val="000000"/>
                </a:solidFill>
                <a:latin typeface="Arial" pitchFamily="34" charset="0"/>
                <a:ea typeface="맑은 고딕"/>
                <a:cs typeface="Arial" pitchFamily="34" charset="0"/>
              </a:rPr>
              <a:t>Tiêu</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chuẩn</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quyết</a:t>
            </a:r>
            <a:r>
              <a:rPr lang="en-US" altLang="ko-KR" sz="1600" b="1" kern="0" dirty="0">
                <a:solidFill>
                  <a:srgbClr val="000000"/>
                </a:solidFill>
                <a:latin typeface="Arial" pitchFamily="34" charset="0"/>
                <a:ea typeface="맑은 고딕"/>
                <a:cs typeface="Arial" pitchFamily="34" charset="0"/>
              </a:rPr>
              <a:t> </a:t>
            </a:r>
            <a:r>
              <a:rPr lang="en-US" altLang="ko-KR" sz="1600" b="1" kern="0" dirty="0" err="1">
                <a:solidFill>
                  <a:srgbClr val="000000"/>
                </a:solidFill>
                <a:latin typeface="Arial" pitchFamily="34" charset="0"/>
                <a:ea typeface="맑은 고딕"/>
                <a:cs typeface="Arial" pitchFamily="34" charset="0"/>
              </a:rPr>
              <a:t>định</a:t>
            </a:r>
            <a:r>
              <a:rPr lang="en-US" altLang="ko-KR" sz="1600" b="1" kern="0" dirty="0">
                <a:solidFill>
                  <a:srgbClr val="000000"/>
                </a:solidFill>
                <a:latin typeface="Arial" pitchFamily="34" charset="0"/>
                <a:ea typeface="맑은 고딕"/>
                <a:cs typeface="Arial" pitchFamily="34" charset="0"/>
              </a:rPr>
              <a:t> Gage R&amp;R</a:t>
            </a:r>
            <a:endParaRPr lang="ko-KR" altLang="en-US" sz="1600" b="1" kern="0" dirty="0">
              <a:solidFill>
                <a:srgbClr val="000000"/>
              </a:solidFill>
              <a:latin typeface="Arial" pitchFamily="34" charset="0"/>
              <a:ea typeface="맑은 고딕"/>
              <a:cs typeface="Arial" pitchFamily="34" charset="0"/>
            </a:endParaRPr>
          </a:p>
        </p:txBody>
      </p:sp>
      <p:sp>
        <p:nvSpPr>
          <p:cNvPr id="17441" name="TextBox 13"/>
          <p:cNvSpPr txBox="1">
            <a:spLocks noChangeArrowheads="1"/>
          </p:cNvSpPr>
          <p:nvPr/>
        </p:nvSpPr>
        <p:spPr bwMode="auto">
          <a:xfrm>
            <a:off x="3728864" y="5732463"/>
            <a:ext cx="17425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1.414 x Part Variance</a:t>
            </a:r>
          </a:p>
        </p:txBody>
      </p:sp>
      <p:sp>
        <p:nvSpPr>
          <p:cNvPr id="17442" name="TextBox 15"/>
          <p:cNvSpPr txBox="1">
            <a:spLocks noChangeArrowheads="1"/>
          </p:cNvSpPr>
          <p:nvPr/>
        </p:nvSpPr>
        <p:spPr bwMode="auto">
          <a:xfrm>
            <a:off x="3982844" y="6009492"/>
            <a:ext cx="12346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Gage variance</a:t>
            </a:r>
          </a:p>
        </p:txBody>
      </p:sp>
      <p:cxnSp>
        <p:nvCxnSpPr>
          <p:cNvPr id="17443" name="직선 연결선 17"/>
          <p:cNvCxnSpPr>
            <a:cxnSpLocks noChangeShapeType="1"/>
          </p:cNvCxnSpPr>
          <p:nvPr/>
        </p:nvCxnSpPr>
        <p:spPr bwMode="auto">
          <a:xfrm>
            <a:off x="3748715" y="6009492"/>
            <a:ext cx="1702891" cy="0"/>
          </a:xfrm>
          <a:prstGeom prst="line">
            <a:avLst/>
          </a:prstGeom>
          <a:noFill/>
          <a:ln w="12700" algn="ctr">
            <a:solidFill>
              <a:schemeClr val="tx1"/>
            </a:solidFill>
            <a:round/>
            <a:headEnd/>
            <a:tailEnd/>
          </a:ln>
          <a:extLst>
            <a:ext uri="{909E8E84-426E-40DD-AFC4-6F175D3DCCD1}">
              <a14:hiddenFill xmlns:a14="http://schemas.microsoft.com/office/drawing/2010/main">
                <a:noFill/>
              </a14:hiddenFill>
            </a:ext>
          </a:extLst>
        </p:spPr>
      </p:cxnSp>
      <p:sp>
        <p:nvSpPr>
          <p:cNvPr id="17440" name="TextBox 3"/>
          <p:cNvSpPr txBox="1">
            <a:spLocks noChangeArrowheads="1"/>
          </p:cNvSpPr>
          <p:nvPr/>
        </p:nvSpPr>
        <p:spPr bwMode="auto">
          <a:xfrm>
            <a:off x="3025775" y="5827713"/>
            <a:ext cx="777777" cy="3724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a:latin typeface="Arial" pitchFamily="34" charset="0"/>
                <a:ea typeface="맑은 고딕" pitchFamily="50" charset="-127"/>
                <a:cs typeface="Arial" pitchFamily="34" charset="0"/>
              </a:rPr>
              <a:t>NDC = </a:t>
            </a:r>
            <a:endParaRPr lang="ko-KR" altLang="en-US" sz="1400" b="1">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196</a:t>
            </a:fld>
            <a:endParaRPr lang="ko-KR" altLang="en-US" dirty="0">
              <a:latin typeface="Arial" pitchFamily="34" charset="0"/>
              <a:cs typeface="Arial" pitchFamily="34" charset="0"/>
            </a:endParaRPr>
          </a:p>
        </p:txBody>
      </p:sp>
      <p:sp>
        <p:nvSpPr>
          <p:cNvPr id="53" name="제목 8"/>
          <p:cNvSpPr txBox="1">
            <a:spLocks/>
          </p:cNvSpPr>
          <p:nvPr/>
        </p:nvSpPr>
        <p:spPr bwMode="auto">
          <a:xfrm>
            <a:off x="195263" y="188913"/>
            <a:ext cx="8027558"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3.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Trình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tự</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tiến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Diễn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giải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kết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quả</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837220350"/>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428625" y="827088"/>
            <a:ext cx="9204895" cy="342145"/>
          </a:xfrm>
          <a:prstGeom prst="rect">
            <a:avLst/>
          </a:prstGeom>
          <a:noFill/>
        </p:spPr>
        <p:txBody>
          <a:bodyPr wrap="square">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Đối</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phó</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trong</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các</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tình</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huống</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mà</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tiêu</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chuẩn</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quyết</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định</a:t>
            </a:r>
            <a:r>
              <a:rPr kumimoji="0" lang="en-US" altLang="ko-KR" sz="1600" b="1" kern="0" dirty="0">
                <a:solidFill>
                  <a:srgbClr val="000000"/>
                </a:solidFill>
                <a:latin typeface="Arial" pitchFamily="34" charset="0"/>
                <a:ea typeface="맑은 고딕" pitchFamily="50" charset="-127"/>
                <a:cs typeface="Arial" pitchFamily="34" charset="0"/>
              </a:rPr>
              <a:t> Gage R&amp;R </a:t>
            </a:r>
            <a:r>
              <a:rPr kumimoji="0" lang="en-US" altLang="ko-KR" sz="1600" b="1" kern="0" dirty="0" err="1">
                <a:solidFill>
                  <a:srgbClr val="000000"/>
                </a:solidFill>
                <a:latin typeface="Arial" pitchFamily="34" charset="0"/>
                <a:ea typeface="맑은 고딕" pitchFamily="50" charset="-127"/>
                <a:cs typeface="Arial" pitchFamily="34" charset="0"/>
              </a:rPr>
              <a:t>không</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được</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thỏa</a:t>
            </a:r>
            <a:r>
              <a:rPr kumimoji="0" lang="en-US" altLang="ko-KR" sz="1600" b="1" kern="0" dirty="0">
                <a:solidFill>
                  <a:srgbClr val="000000"/>
                </a:solidFill>
                <a:latin typeface="Arial" pitchFamily="34" charset="0"/>
                <a:ea typeface="맑은 고딕" pitchFamily="50" charset="-127"/>
                <a:cs typeface="Arial" pitchFamily="34" charset="0"/>
              </a:rPr>
              <a:t> </a:t>
            </a:r>
            <a:r>
              <a:rPr kumimoji="0" lang="en-US" altLang="ko-KR" sz="1600" b="1" kern="0" dirty="0" err="1">
                <a:solidFill>
                  <a:srgbClr val="000000"/>
                </a:solidFill>
                <a:latin typeface="Arial" pitchFamily="34" charset="0"/>
                <a:ea typeface="맑은 고딕" pitchFamily="50" charset="-127"/>
                <a:cs typeface="Arial" pitchFamily="34" charset="0"/>
              </a:rPr>
              <a:t>mãn</a:t>
            </a:r>
            <a:endParaRPr kumimoji="0" lang="ko-KR" altLang="en-US" sz="1600" b="1" kern="0" dirty="0">
              <a:solidFill>
                <a:srgbClr val="000000"/>
              </a:solidFill>
              <a:latin typeface="Arial" pitchFamily="34" charset="0"/>
              <a:ea typeface="맑은 고딕" pitchFamily="50" charset="-127"/>
              <a:cs typeface="Arial" pitchFamily="34" charset="0"/>
            </a:endParaRPr>
          </a:p>
        </p:txBody>
      </p:sp>
      <p:sp>
        <p:nvSpPr>
          <p:cNvPr id="18435" name="직사각형 4"/>
          <p:cNvSpPr>
            <a:spLocks noChangeArrowheads="1"/>
          </p:cNvSpPr>
          <p:nvPr/>
        </p:nvSpPr>
        <p:spPr bwMode="auto">
          <a:xfrm>
            <a:off x="1238250" y="1273175"/>
            <a:ext cx="7675563" cy="482600"/>
          </a:xfrm>
          <a:prstGeom prst="rect">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200">
              <a:solidFill>
                <a:srgbClr val="000000"/>
              </a:solidFill>
              <a:latin typeface="Arial" pitchFamily="34" charset="0"/>
              <a:cs typeface="Arial" pitchFamily="34" charset="0"/>
            </a:endParaRPr>
          </a:p>
        </p:txBody>
      </p:sp>
      <p:sp>
        <p:nvSpPr>
          <p:cNvPr id="18436" name="TextBox 5"/>
          <p:cNvSpPr txBox="1">
            <a:spLocks noChangeArrowheads="1"/>
          </p:cNvSpPr>
          <p:nvPr/>
        </p:nvSpPr>
        <p:spPr bwMode="auto">
          <a:xfrm>
            <a:off x="1346828" y="1374775"/>
            <a:ext cx="74225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1. </a:t>
            </a:r>
            <a:r>
              <a:rPr lang="en-US" altLang="ko-KR" sz="1200" b="1" dirty="0" err="1">
                <a:solidFill>
                  <a:srgbClr val="000000"/>
                </a:solidFill>
                <a:latin typeface="Arial" pitchFamily="34" charset="0"/>
                <a:ea typeface="맑은 고딕" pitchFamily="50" charset="-127"/>
                <a:cs typeface="Arial" pitchFamily="34" charset="0"/>
              </a:rPr>
              <a:t>Phân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tích</a:t>
            </a:r>
            <a:r>
              <a:rPr lang="en-US" altLang="ko-KR" sz="1200" b="1" dirty="0">
                <a:solidFill>
                  <a:srgbClr val="000000"/>
                </a:solidFill>
                <a:latin typeface="Arial" pitchFamily="34" charset="0"/>
                <a:ea typeface="맑은 고딕" pitchFamily="50" charset="-127"/>
                <a:cs typeface="Arial" pitchFamily="34" charset="0"/>
              </a:rPr>
              <a:t> % R&amp;R </a:t>
            </a:r>
            <a:r>
              <a:rPr lang="en-US" altLang="ko-KR" sz="1200" b="1" dirty="0" err="1">
                <a:solidFill>
                  <a:srgbClr val="000000"/>
                </a:solidFill>
                <a:latin typeface="Arial" pitchFamily="34" charset="0"/>
                <a:ea typeface="맑은 고딕" pitchFamily="50" charset="-127"/>
                <a:cs typeface="Arial" pitchFamily="34" charset="0"/>
              </a:rPr>
              <a:t>và</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xác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định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Khả</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năng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tái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tạo</a:t>
            </a:r>
            <a:r>
              <a:rPr lang="en-US" altLang="ko-KR" sz="1200" b="1" dirty="0">
                <a:solidFill>
                  <a:srgbClr val="000000"/>
                </a:solidFill>
                <a:latin typeface="Arial" pitchFamily="34" charset="0"/>
                <a:ea typeface="맑은 고딕" pitchFamily="50" charset="-127"/>
                <a:cs typeface="Arial" pitchFamily="34" charset="0"/>
              </a:rPr>
              <a:t> hay </a:t>
            </a:r>
            <a:r>
              <a:rPr lang="en-US" altLang="ko-KR" sz="1200" b="1" dirty="0" err="1">
                <a:solidFill>
                  <a:srgbClr val="000000"/>
                </a:solidFill>
                <a:latin typeface="Arial" pitchFamily="34" charset="0"/>
                <a:ea typeface="맑은 고딕" pitchFamily="50" charset="-127"/>
                <a:cs typeface="Arial" pitchFamily="34" charset="0"/>
              </a:rPr>
              <a:t>khả</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năng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lặp</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lại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là</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vấn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đề</a:t>
            </a:r>
            <a:endParaRPr lang="ko-KR" altLang="en-US" sz="1200" b="1" dirty="0">
              <a:solidFill>
                <a:srgbClr val="000000"/>
              </a:solidFill>
              <a:latin typeface="Arial" pitchFamily="34" charset="0"/>
              <a:ea typeface="맑은 고딕" pitchFamily="50" charset="-127"/>
              <a:cs typeface="Arial" pitchFamily="34" charset="0"/>
            </a:endParaRPr>
          </a:p>
        </p:txBody>
      </p:sp>
      <p:sp>
        <p:nvSpPr>
          <p:cNvPr id="18437" name="직사각형 6"/>
          <p:cNvSpPr>
            <a:spLocks noChangeArrowheads="1"/>
          </p:cNvSpPr>
          <p:nvPr/>
        </p:nvSpPr>
        <p:spPr bwMode="auto">
          <a:xfrm>
            <a:off x="1238250" y="1955800"/>
            <a:ext cx="7675563" cy="671513"/>
          </a:xfrm>
          <a:prstGeom prst="rect">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200">
              <a:solidFill>
                <a:srgbClr val="000000"/>
              </a:solidFill>
              <a:latin typeface="Arial" pitchFamily="34" charset="0"/>
              <a:cs typeface="Arial" pitchFamily="34" charset="0"/>
            </a:endParaRPr>
          </a:p>
        </p:txBody>
      </p:sp>
      <p:sp>
        <p:nvSpPr>
          <p:cNvPr id="18438" name="TextBox 7"/>
          <p:cNvSpPr txBox="1">
            <a:spLocks noChangeArrowheads="1"/>
          </p:cNvSpPr>
          <p:nvPr/>
        </p:nvSpPr>
        <p:spPr bwMode="auto">
          <a:xfrm>
            <a:off x="1346829" y="2000685"/>
            <a:ext cx="75666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2. </a:t>
            </a:r>
            <a:r>
              <a:rPr lang="en-US" altLang="ko-KR" sz="1200" b="1" dirty="0" err="1">
                <a:solidFill>
                  <a:srgbClr val="000000"/>
                </a:solidFill>
                <a:latin typeface="Arial" pitchFamily="34" charset="0"/>
                <a:ea typeface="맑은 고딕" pitchFamily="50" charset="-127"/>
                <a:cs typeface="Arial" pitchFamily="34" charset="0"/>
              </a:rPr>
              <a:t>Khả</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năng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tái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tạo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là</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vấn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đề</a:t>
            </a:r>
            <a:endParaRPr lang="ko-KR" altLang="en-US" sz="1200" b="1" dirty="0">
              <a:solidFill>
                <a:srgbClr val="000000"/>
              </a:solidFill>
              <a:latin typeface="Arial" pitchFamily="34" charset="0"/>
              <a:ea typeface="맑은 고딕" pitchFamily="50" charset="-127"/>
              <a:cs typeface="Arial" pitchFamily="34" charset="0"/>
            </a:endParaRPr>
          </a:p>
          <a:p>
            <a:pPr eaLnBrk="1" hangingPunct="1"/>
            <a:r>
              <a:rPr lang="en-US" altLang="ko-KR" sz="1200" dirty="0" err="1">
                <a:solidFill>
                  <a:srgbClr val="000000"/>
                </a:solidFill>
                <a:latin typeface="Arial" pitchFamily="34" charset="0"/>
                <a:ea typeface="맑은 고딕" pitchFamily="50" charset="-127"/>
                <a:cs typeface="Arial" pitchFamily="34" charset="0"/>
              </a:rPr>
              <a:t>Kiểm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sự</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tiêu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chuẩn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hóa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của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pháp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lường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độ</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ổn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định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của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trình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tự</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tiêu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chuẩn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hóa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chất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lượng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đào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tạo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người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tiếp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thu</a:t>
            </a:r>
            <a:r>
              <a:rPr lang="en-US" altLang="ko-KR" sz="1200" dirty="0">
                <a:solidFill>
                  <a:srgbClr val="000000"/>
                </a:solidFill>
                <a:latin typeface="Arial" pitchFamily="34" charset="0"/>
                <a:ea typeface="맑은 고딕" pitchFamily="50" charset="-127"/>
                <a:cs typeface="Arial" pitchFamily="34" charset="0"/>
              </a:rPr>
              <a:t>.</a:t>
            </a:r>
          </a:p>
        </p:txBody>
      </p:sp>
      <p:sp>
        <p:nvSpPr>
          <p:cNvPr id="18439" name="직사각형 8"/>
          <p:cNvSpPr>
            <a:spLocks noChangeArrowheads="1"/>
          </p:cNvSpPr>
          <p:nvPr/>
        </p:nvSpPr>
        <p:spPr bwMode="auto">
          <a:xfrm>
            <a:off x="1238250" y="2803525"/>
            <a:ext cx="7675563" cy="1273547"/>
          </a:xfrm>
          <a:prstGeom prst="rect">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a:solidFill>
                  <a:srgbClr val="000000"/>
                </a:solidFill>
                <a:latin typeface="Arial" pitchFamily="34" charset="0"/>
                <a:cs typeface="Arial" pitchFamily="34" charset="0"/>
              </a:rPr>
              <a:t>                          </a:t>
            </a:r>
            <a:endParaRPr lang="ko-KR" altLang="en-US" sz="1200">
              <a:solidFill>
                <a:srgbClr val="000000"/>
              </a:solidFill>
              <a:latin typeface="Arial" pitchFamily="34" charset="0"/>
              <a:cs typeface="Arial" pitchFamily="34" charset="0"/>
            </a:endParaRPr>
          </a:p>
        </p:txBody>
      </p:sp>
      <p:sp>
        <p:nvSpPr>
          <p:cNvPr id="18440" name="TextBox 9"/>
          <p:cNvSpPr txBox="1">
            <a:spLocks noChangeArrowheads="1"/>
          </p:cNvSpPr>
          <p:nvPr/>
        </p:nvSpPr>
        <p:spPr bwMode="auto">
          <a:xfrm>
            <a:off x="1343759" y="2924944"/>
            <a:ext cx="756968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3. </a:t>
            </a:r>
            <a:r>
              <a:rPr lang="en-US" altLang="ko-KR" sz="1200" b="1" dirty="0" err="1">
                <a:solidFill>
                  <a:srgbClr val="000000"/>
                </a:solidFill>
                <a:latin typeface="Arial" pitchFamily="34" charset="0"/>
                <a:ea typeface="맑은 고딕" pitchFamily="50" charset="-127"/>
                <a:cs typeface="Arial" pitchFamily="34" charset="0"/>
              </a:rPr>
              <a:t>Khả</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năng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lặp</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lại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là</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vấn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đề</a:t>
            </a:r>
            <a:endParaRPr lang="ko-KR" altLang="en-US" sz="1200" b="1" dirty="0">
              <a:solidFill>
                <a:srgbClr val="000000"/>
              </a:solidFill>
              <a:latin typeface="Arial" pitchFamily="34" charset="0"/>
              <a:ea typeface="맑은 고딕" pitchFamily="50" charset="-127"/>
              <a:cs typeface="Arial" pitchFamily="34" charset="0"/>
            </a:endParaRPr>
          </a:p>
          <a:p>
            <a:pPr eaLnBrk="1" hangingPunct="1"/>
            <a:r>
              <a:rPr lang="en-US" altLang="ko-KR" sz="1200" dirty="0">
                <a:solidFill>
                  <a:srgbClr val="000000"/>
                </a:solidFill>
                <a:latin typeface="Arial" pitchFamily="34" charset="0"/>
                <a:ea typeface="맑은 고딕" pitchFamily="50" charset="-127"/>
                <a:cs typeface="Arial" pitchFamily="34" charset="0"/>
              </a:rPr>
              <a:t> - </a:t>
            </a:r>
            <a:r>
              <a:rPr lang="en-US" altLang="ko-KR" sz="1200" dirty="0" err="1">
                <a:solidFill>
                  <a:srgbClr val="000000"/>
                </a:solidFill>
                <a:latin typeface="Arial" pitchFamily="34" charset="0"/>
                <a:ea typeface="맑은 고딕" pitchFamily="50" charset="-127"/>
                <a:cs typeface="Arial" pitchFamily="34" charset="0"/>
              </a:rPr>
              <a:t>Đảm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bảo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cụ</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phù</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hợp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bảo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quản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không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vấn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đề</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liên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quan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đến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trữ</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cất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giữ</a:t>
            </a:r>
            <a:r>
              <a:rPr lang="en-US" altLang="ko-KR" sz="1200" dirty="0">
                <a:solidFill>
                  <a:srgbClr val="000000"/>
                </a:solidFill>
                <a:latin typeface="Arial" pitchFamily="34" charset="0"/>
                <a:ea typeface="맑은 고딕" pitchFamily="50" charset="-127"/>
                <a:cs typeface="Arial" pitchFamily="34" charset="0"/>
              </a:rPr>
              <a:t>.</a:t>
            </a:r>
          </a:p>
          <a:p>
            <a:pPr eaLnBrk="1" hangingPunct="1"/>
            <a:r>
              <a:rPr lang="ko-KR" altLang="en-US" sz="1200" dirty="0">
                <a:solidFill>
                  <a:srgbClr val="000000"/>
                </a:solidFill>
                <a:latin typeface="Arial" pitchFamily="34" charset="0"/>
                <a:ea typeface="맑은 고딕" pitchFamily="50" charset="-127"/>
                <a:cs typeface="Arial" pitchFamily="34" charset="0"/>
              </a:rPr>
              <a:t> </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Nếu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cần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thiết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chia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độ</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cụ</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để</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đảm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bảo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tính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chính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xác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hoặc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thay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thế</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với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một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cụ</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mức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chia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độ</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phù</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hợp</a:t>
            </a:r>
            <a:r>
              <a:rPr lang="en-US" altLang="ko-KR" sz="1200" dirty="0">
                <a:solidFill>
                  <a:srgbClr val="000000"/>
                </a:solidFill>
                <a:latin typeface="Arial" pitchFamily="34" charset="0"/>
                <a:ea typeface="맑은 고딕" pitchFamily="50" charset="-127"/>
                <a:cs typeface="Arial" pitchFamily="34" charset="0"/>
              </a:rPr>
              <a:t>. </a:t>
            </a:r>
          </a:p>
        </p:txBody>
      </p:sp>
      <p:sp>
        <p:nvSpPr>
          <p:cNvPr id="18441" name="직사각형 10"/>
          <p:cNvSpPr>
            <a:spLocks noChangeArrowheads="1"/>
          </p:cNvSpPr>
          <p:nvPr/>
        </p:nvSpPr>
        <p:spPr bwMode="auto">
          <a:xfrm>
            <a:off x="1238250" y="4310063"/>
            <a:ext cx="7675563" cy="471487"/>
          </a:xfrm>
          <a:prstGeom prst="rect">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200">
              <a:solidFill>
                <a:srgbClr val="000000"/>
              </a:solidFill>
              <a:latin typeface="Arial" pitchFamily="34" charset="0"/>
              <a:cs typeface="Arial" pitchFamily="34" charset="0"/>
            </a:endParaRPr>
          </a:p>
        </p:txBody>
      </p:sp>
      <p:sp>
        <p:nvSpPr>
          <p:cNvPr id="18442" name="TextBox 11"/>
          <p:cNvSpPr txBox="1">
            <a:spLocks noChangeArrowheads="1"/>
          </p:cNvSpPr>
          <p:nvPr/>
        </p:nvSpPr>
        <p:spPr bwMode="auto">
          <a:xfrm>
            <a:off x="1343759" y="4407306"/>
            <a:ext cx="59334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4. Tiến </a:t>
            </a:r>
            <a:r>
              <a:rPr lang="en-US" altLang="ko-KR" sz="1200" b="1" dirty="0" err="1">
                <a:solidFill>
                  <a:srgbClr val="000000"/>
                </a:solidFill>
                <a:latin typeface="Arial" pitchFamily="34" charset="0"/>
                <a:ea typeface="맑은 고딕" pitchFamily="50" charset="-127"/>
                <a:cs typeface="Arial" pitchFamily="34" charset="0"/>
              </a:rPr>
              <a:t>hành</a:t>
            </a:r>
            <a:r>
              <a:rPr lang="en-US" altLang="ko-KR" sz="1200" b="1" dirty="0">
                <a:solidFill>
                  <a:srgbClr val="000000"/>
                </a:solidFill>
                <a:latin typeface="Arial" pitchFamily="34" charset="0"/>
                <a:ea typeface="맑은 고딕" pitchFamily="50" charset="-127"/>
                <a:cs typeface="Arial" pitchFamily="34" charset="0"/>
              </a:rPr>
              <a:t> 2-3 </a:t>
            </a:r>
            <a:r>
              <a:rPr lang="en-US" altLang="ko-KR" sz="1200" b="1" dirty="0" err="1">
                <a:solidFill>
                  <a:srgbClr val="000000"/>
                </a:solidFill>
                <a:latin typeface="Arial" pitchFamily="34" charset="0"/>
                <a:ea typeface="맑은 고딕" pitchFamily="50" charset="-127"/>
                <a:cs typeface="Arial" pitchFamily="34" charset="0"/>
              </a:rPr>
              <a:t>lần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thực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hiện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lại</a:t>
            </a:r>
            <a:r>
              <a:rPr lang="en-US" altLang="ko-KR" sz="1200" b="1" dirty="0">
                <a:solidFill>
                  <a:srgbClr val="000000"/>
                </a:solidFill>
                <a:latin typeface="Arial" pitchFamily="34" charset="0"/>
                <a:ea typeface="맑은 고딕" pitchFamily="50" charset="-127"/>
                <a:cs typeface="Arial" pitchFamily="34" charset="0"/>
              </a:rPr>
              <a:t> Gage R&amp;R </a:t>
            </a:r>
            <a:r>
              <a:rPr lang="en-US" altLang="ko-KR" sz="1200" b="1" dirty="0" err="1">
                <a:solidFill>
                  <a:srgbClr val="000000"/>
                </a:solidFill>
                <a:latin typeface="Arial" pitchFamily="34" charset="0"/>
                <a:ea typeface="맑은 고딕" pitchFamily="50" charset="-127"/>
                <a:cs typeface="Arial" pitchFamily="34" charset="0"/>
              </a:rPr>
              <a:t>và</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nếu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nó</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nhỏ</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hơn</a:t>
            </a:r>
            <a:r>
              <a:rPr lang="en-US" altLang="ko-KR" sz="1200" b="1" dirty="0">
                <a:solidFill>
                  <a:srgbClr val="000000"/>
                </a:solidFill>
                <a:latin typeface="Arial" pitchFamily="34" charset="0"/>
                <a:ea typeface="맑은 고딕" pitchFamily="50" charset="-127"/>
                <a:cs typeface="Arial" pitchFamily="34" charset="0"/>
              </a:rPr>
              <a:t> 10%, </a:t>
            </a:r>
            <a:r>
              <a:rPr lang="en-US" altLang="ko-KR" sz="1200" b="1" dirty="0" err="1">
                <a:solidFill>
                  <a:srgbClr val="000000"/>
                </a:solidFill>
                <a:latin typeface="Arial" pitchFamily="34" charset="0"/>
                <a:ea typeface="맑은 고딕" pitchFamily="50" charset="-127"/>
                <a:cs typeface="Arial" pitchFamily="34" charset="0"/>
              </a:rPr>
              <a:t>bổ</a:t>
            </a:r>
            <a:r>
              <a:rPr lang="en-US" altLang="ko-KR" sz="1200" b="1" dirty="0">
                <a:solidFill>
                  <a:srgbClr val="000000"/>
                </a:solidFill>
                <a:latin typeface="Arial" pitchFamily="34" charset="0"/>
                <a:ea typeface="맑은 고딕" pitchFamily="50" charset="-127"/>
                <a:cs typeface="Arial" pitchFamily="34" charset="0"/>
              </a:rPr>
              <a:t> sung.</a:t>
            </a:r>
          </a:p>
        </p:txBody>
      </p:sp>
      <p:sp>
        <p:nvSpPr>
          <p:cNvPr id="18443" name="직사각형 12"/>
          <p:cNvSpPr>
            <a:spLocks noChangeArrowheads="1"/>
          </p:cNvSpPr>
          <p:nvPr/>
        </p:nvSpPr>
        <p:spPr bwMode="auto">
          <a:xfrm>
            <a:off x="1238250" y="4864100"/>
            <a:ext cx="7675563" cy="1425575"/>
          </a:xfrm>
          <a:prstGeom prst="rect">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200">
              <a:solidFill>
                <a:srgbClr val="000000"/>
              </a:solidFill>
              <a:latin typeface="Arial" pitchFamily="34" charset="0"/>
              <a:cs typeface="Arial" pitchFamily="34" charset="0"/>
            </a:endParaRPr>
          </a:p>
        </p:txBody>
      </p:sp>
      <p:sp>
        <p:nvSpPr>
          <p:cNvPr id="18444" name="TextBox 13"/>
          <p:cNvSpPr txBox="1">
            <a:spLocks noChangeArrowheads="1"/>
          </p:cNvSpPr>
          <p:nvPr/>
        </p:nvSpPr>
        <p:spPr bwMode="auto">
          <a:xfrm>
            <a:off x="1347881" y="4924325"/>
            <a:ext cx="749355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cs typeface="Arial" pitchFamily="34" charset="0"/>
              </a:rPr>
              <a:t>5. </a:t>
            </a:r>
            <a:r>
              <a:rPr lang="en-US" altLang="ko-KR" sz="1200" b="1" dirty="0" err="1">
                <a:solidFill>
                  <a:srgbClr val="000000"/>
                </a:solidFill>
                <a:latin typeface="Arial" pitchFamily="34" charset="0"/>
                <a:ea typeface="맑은 고딕" pitchFamily="50" charset="-127"/>
                <a:cs typeface="Arial" pitchFamily="34" charset="0"/>
              </a:rPr>
              <a:t>Nếu</a:t>
            </a:r>
            <a:r>
              <a:rPr lang="en-US" altLang="ko-KR" sz="1200" b="1" dirty="0">
                <a:solidFill>
                  <a:srgbClr val="000000"/>
                </a:solidFill>
                <a:latin typeface="Arial" pitchFamily="34" charset="0"/>
                <a:ea typeface="맑은 고딕" pitchFamily="50" charset="-127"/>
                <a:cs typeface="Arial" pitchFamily="34" charset="0"/>
              </a:rPr>
              <a:t> Gage R&amp;R </a:t>
            </a:r>
            <a:r>
              <a:rPr lang="en-US" altLang="ko-KR" sz="1200" b="1" dirty="0" err="1">
                <a:solidFill>
                  <a:srgbClr val="000000"/>
                </a:solidFill>
                <a:latin typeface="Arial" pitchFamily="34" charset="0"/>
                <a:ea typeface="맑은 고딕" pitchFamily="50" charset="-127"/>
                <a:cs typeface="Arial" pitchFamily="34" charset="0"/>
              </a:rPr>
              <a:t>cho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giá</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trị</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cao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hơn</a:t>
            </a:r>
            <a:r>
              <a:rPr lang="en-US" altLang="ko-KR" sz="1200" b="1" dirty="0">
                <a:solidFill>
                  <a:srgbClr val="000000"/>
                </a:solidFill>
                <a:latin typeface="Arial" pitchFamily="34" charset="0"/>
                <a:ea typeface="맑은 고딕" pitchFamily="50" charset="-127"/>
                <a:cs typeface="Arial" pitchFamily="34" charset="0"/>
              </a:rPr>
              <a:t> 10%</a:t>
            </a:r>
          </a:p>
          <a:p>
            <a:pPr eaLnBrk="1" hangingPunct="1"/>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Nếu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không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vấn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đề</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gì</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với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người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hoặc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tiêu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chuẩn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lường</a:t>
            </a:r>
            <a:endParaRPr lang="en-US" altLang="ko-KR" sz="1200" dirty="0">
              <a:solidFill>
                <a:srgbClr val="000000"/>
              </a:solidFill>
              <a:latin typeface="Arial" pitchFamily="34" charset="0"/>
              <a:ea typeface="맑은 고딕" pitchFamily="50" charset="-127"/>
              <a:cs typeface="Arial" pitchFamily="34" charset="0"/>
            </a:endParaRPr>
          </a:p>
          <a:p>
            <a:pPr eaLnBrk="1" hangingPunct="1">
              <a:buFontTx/>
              <a:buChar char="-"/>
            </a:pP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khả</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năng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vấn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đề</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về</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cụ</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đo</a:t>
            </a:r>
            <a:r>
              <a:rPr lang="en-US" altLang="ko-KR" sz="1200" dirty="0">
                <a:solidFill>
                  <a:srgbClr val="000000"/>
                </a:solidFill>
                <a:latin typeface="Arial" pitchFamily="34" charset="0"/>
                <a:ea typeface="맑은 고딕" pitchFamily="50" charset="-127"/>
                <a:cs typeface="Arial" pitchFamily="34" charset="0"/>
              </a:rPr>
              <a:t>. </a:t>
            </a:r>
          </a:p>
          <a:p>
            <a:pPr eaLnBrk="1" hangingPunct="1">
              <a:buFontTx/>
              <a:buChar char="-"/>
            </a:pP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Kết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quả</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của</a:t>
            </a:r>
            <a:r>
              <a:rPr lang="en-US" altLang="ko-KR" sz="1200" dirty="0">
                <a:solidFill>
                  <a:srgbClr val="000000"/>
                </a:solidFill>
                <a:latin typeface="Arial" pitchFamily="34" charset="0"/>
                <a:ea typeface="맑은 고딕" pitchFamily="50" charset="-127"/>
                <a:cs typeface="Arial" pitchFamily="34" charset="0"/>
              </a:rPr>
              <a:t> Gage R&amp;R </a:t>
            </a:r>
            <a:r>
              <a:rPr lang="en-US" altLang="ko-KR" sz="1200" dirty="0" err="1">
                <a:solidFill>
                  <a:srgbClr val="000000"/>
                </a:solidFill>
                <a:latin typeface="Arial" pitchFamily="34" charset="0"/>
                <a:ea typeface="맑은 고딕" pitchFamily="50" charset="-127"/>
                <a:cs typeface="Arial" pitchFamily="34" charset="0"/>
              </a:rPr>
              <a:t>từ</a:t>
            </a:r>
            <a:r>
              <a:rPr lang="en-US" altLang="ko-KR" sz="1200" dirty="0">
                <a:solidFill>
                  <a:srgbClr val="000000"/>
                </a:solidFill>
                <a:latin typeface="Arial" pitchFamily="34" charset="0"/>
                <a:ea typeface="맑은 고딕" pitchFamily="50" charset="-127"/>
                <a:cs typeface="Arial" pitchFamily="34" charset="0"/>
              </a:rPr>
              <a:t> 10~30% </a:t>
            </a:r>
            <a:r>
              <a:rPr lang="en-US" altLang="ko-KR" sz="1200" dirty="0" err="1">
                <a:solidFill>
                  <a:srgbClr val="000000"/>
                </a:solidFill>
                <a:latin typeface="Arial" pitchFamily="34" charset="0"/>
                <a:ea typeface="맑은 고딕" pitchFamily="50" charset="-127"/>
                <a:cs typeface="Arial" pitchFamily="34" charset="0"/>
              </a:rPr>
              <a:t>vẫn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thể</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chấp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nhận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với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điều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kiện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các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biện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pháp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cải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thiện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bất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khả</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thi</a:t>
            </a:r>
            <a:r>
              <a:rPr lang="en-US" altLang="ko-KR" sz="1200" dirty="0">
                <a:solidFill>
                  <a:srgbClr val="000000"/>
                </a:solidFill>
                <a:latin typeface="Arial" pitchFamily="34" charset="0"/>
                <a:ea typeface="맑은 고딕" pitchFamily="50" charset="-127"/>
                <a:cs typeface="Arial" pitchFamily="34" charset="0"/>
              </a:rPr>
              <a:t> (do chi </a:t>
            </a:r>
            <a:r>
              <a:rPr lang="en-US" altLang="ko-KR" sz="1200" dirty="0" err="1">
                <a:solidFill>
                  <a:srgbClr val="000000"/>
                </a:solidFill>
                <a:latin typeface="Arial" pitchFamily="34" charset="0"/>
                <a:ea typeface="맑은 고딕" pitchFamily="50" charset="-127"/>
                <a:cs typeface="Arial" pitchFamily="34" charset="0"/>
              </a:rPr>
              <a:t>phí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đầu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tư</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cao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thời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gian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vận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chuyển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lâu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dài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với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trình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độ</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kỹ</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thuật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hiện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tại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không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sự</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thay</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thế</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về</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nguồn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hàng</a:t>
            </a:r>
            <a:endParaRPr lang="en-US" altLang="ko-KR" sz="1200" dirty="0">
              <a:solidFill>
                <a:srgbClr val="000000"/>
              </a:solidFill>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197</a:t>
            </a:fld>
            <a:endParaRPr lang="ko-KR" altLang="en-US" dirty="0">
              <a:latin typeface="Arial" pitchFamily="34" charset="0"/>
              <a:cs typeface="Arial" pitchFamily="34" charset="0"/>
            </a:endParaRPr>
          </a:p>
        </p:txBody>
      </p:sp>
      <p:sp>
        <p:nvSpPr>
          <p:cNvPr id="18" name="제목 8"/>
          <p:cNvSpPr txBox="1">
            <a:spLocks/>
          </p:cNvSpPr>
          <p:nvPr/>
        </p:nvSpPr>
        <p:spPr bwMode="auto">
          <a:xfrm>
            <a:off x="195263" y="188913"/>
            <a:ext cx="8027558"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3.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Trình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tự</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tiến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và</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Diễn</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giải</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kết</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quả</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528435190"/>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그림 29" descr="107p 수정그림.wmf"/>
          <p:cNvPicPr>
            <a:picLocks noChangeAspect="1"/>
          </p:cNvPicPr>
          <p:nvPr/>
        </p:nvPicPr>
        <p:blipFill>
          <a:blip r:embed="rId3" cstate="print">
            <a:extLst>
              <a:ext uri="{28A0092B-C50C-407E-A947-70E740481C1C}">
                <a14:useLocalDpi xmlns:a14="http://schemas.microsoft.com/office/drawing/2010/main"/>
              </a:ext>
            </a:extLst>
          </a:blip>
          <a:srcRect/>
          <a:stretch>
            <a:fillRect/>
          </a:stretch>
        </p:blipFill>
        <p:spPr bwMode="auto">
          <a:xfrm>
            <a:off x="3368675" y="3910012"/>
            <a:ext cx="3240088" cy="230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Dữ</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liệu</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liên</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tục</a:t>
            </a:r>
            <a:r>
              <a:rPr kumimoji="0" lang="en-US" altLang="ko-KR" sz="1400" b="1" kern="0" dirty="0">
                <a:solidFill>
                  <a:sysClr val="windowText" lastClr="000000"/>
                </a:solidFill>
                <a:latin typeface="Arial" pitchFamily="34" charset="0"/>
                <a:ea typeface="맑은 고딕" pitchFamily="50" charset="-127"/>
                <a:cs typeface="Arial" pitchFamily="34" charset="0"/>
              </a:rPr>
              <a:t> Gage R&amp;R (Crossed)</a:t>
            </a:r>
          </a:p>
        </p:txBody>
      </p:sp>
      <p:sp>
        <p:nvSpPr>
          <p:cNvPr id="19460" name="Oval 8"/>
          <p:cNvSpPr>
            <a:spLocks noChangeArrowheads="1"/>
          </p:cNvSpPr>
          <p:nvPr/>
        </p:nvSpPr>
        <p:spPr bwMode="auto">
          <a:xfrm>
            <a:off x="3687763" y="3921125"/>
            <a:ext cx="71437" cy="71437"/>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endParaRPr lang="ko-KR" altLang="ko-KR" sz="1200" b="1">
              <a:solidFill>
                <a:srgbClr val="000000"/>
              </a:solidFill>
              <a:latin typeface="Arial" pitchFamily="34" charset="0"/>
              <a:cs typeface="Arial" pitchFamily="34" charset="0"/>
            </a:endParaRPr>
          </a:p>
        </p:txBody>
      </p:sp>
      <p:sp>
        <p:nvSpPr>
          <p:cNvPr id="19461" name="Oval 9"/>
          <p:cNvSpPr>
            <a:spLocks noChangeArrowheads="1"/>
          </p:cNvSpPr>
          <p:nvPr/>
        </p:nvSpPr>
        <p:spPr bwMode="auto">
          <a:xfrm>
            <a:off x="4352925" y="3921125"/>
            <a:ext cx="71438" cy="71437"/>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endParaRPr lang="ko-KR" altLang="ko-KR" sz="1200" b="1">
              <a:solidFill>
                <a:srgbClr val="000000"/>
              </a:solidFill>
              <a:latin typeface="Arial" pitchFamily="34" charset="0"/>
              <a:cs typeface="Arial" pitchFamily="34" charset="0"/>
            </a:endParaRPr>
          </a:p>
        </p:txBody>
      </p:sp>
      <p:sp>
        <p:nvSpPr>
          <p:cNvPr id="19462" name="Oval 10"/>
          <p:cNvSpPr>
            <a:spLocks noChangeArrowheads="1"/>
          </p:cNvSpPr>
          <p:nvPr/>
        </p:nvSpPr>
        <p:spPr bwMode="auto">
          <a:xfrm>
            <a:off x="5075238" y="3932237"/>
            <a:ext cx="71437" cy="71438"/>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endParaRPr lang="ko-KR" altLang="ko-KR" sz="1200" b="1">
              <a:solidFill>
                <a:srgbClr val="000000"/>
              </a:solidFill>
              <a:latin typeface="Arial" pitchFamily="34" charset="0"/>
              <a:cs typeface="Arial" pitchFamily="34" charset="0"/>
            </a:endParaRPr>
          </a:p>
        </p:txBody>
      </p:sp>
      <p:cxnSp>
        <p:nvCxnSpPr>
          <p:cNvPr id="19463" name="AutoShape 12"/>
          <p:cNvCxnSpPr>
            <a:cxnSpLocks noChangeShapeType="1"/>
            <a:stCxn id="19460" idx="0"/>
            <a:endCxn id="19477" idx="2"/>
          </p:cNvCxnSpPr>
          <p:nvPr/>
        </p:nvCxnSpPr>
        <p:spPr bwMode="auto">
          <a:xfrm rot="16200000" flipV="1">
            <a:off x="3422966" y="3620609"/>
            <a:ext cx="212081" cy="388952"/>
          </a:xfrm>
          <a:prstGeom prst="curvedConnector3">
            <a:avLst>
              <a:gd name="adj1" fmla="val 50000"/>
            </a:avLst>
          </a:prstGeom>
          <a:noFill/>
          <a:ln w="9525">
            <a:solidFill>
              <a:srgbClr val="0000FF"/>
            </a:solidFill>
            <a:round/>
            <a:headEnd/>
            <a:tailEnd type="triangle" w="med" len="med"/>
          </a:ln>
          <a:extLst>
            <a:ext uri="{909E8E84-426E-40DD-AFC4-6F175D3DCCD1}">
              <a14:hiddenFill xmlns:a14="http://schemas.microsoft.com/office/drawing/2010/main">
                <a:noFill/>
              </a14:hiddenFill>
            </a:ext>
          </a:extLst>
        </p:spPr>
      </p:cxnSp>
      <p:cxnSp>
        <p:nvCxnSpPr>
          <p:cNvPr id="19464" name="AutoShape 13"/>
          <p:cNvCxnSpPr>
            <a:cxnSpLocks noChangeShapeType="1"/>
            <a:stCxn id="19461" idx="0"/>
            <a:endCxn id="19478" idx="2"/>
          </p:cNvCxnSpPr>
          <p:nvPr/>
        </p:nvCxnSpPr>
        <p:spPr bwMode="auto">
          <a:xfrm rot="16200000" flipV="1">
            <a:off x="4157771" y="3690251"/>
            <a:ext cx="232718" cy="229029"/>
          </a:xfrm>
          <a:prstGeom prst="curvedConnector3">
            <a:avLst>
              <a:gd name="adj1" fmla="val 50000"/>
            </a:avLst>
          </a:prstGeom>
          <a:noFill/>
          <a:ln w="9525">
            <a:solidFill>
              <a:srgbClr val="0000FF"/>
            </a:solidFill>
            <a:round/>
            <a:headEnd/>
            <a:tailEnd type="triangle" w="med" len="med"/>
          </a:ln>
          <a:extLst>
            <a:ext uri="{909E8E84-426E-40DD-AFC4-6F175D3DCCD1}">
              <a14:hiddenFill xmlns:a14="http://schemas.microsoft.com/office/drawing/2010/main">
                <a:noFill/>
              </a14:hiddenFill>
            </a:ext>
          </a:extLst>
        </p:spPr>
      </p:cxnSp>
      <p:cxnSp>
        <p:nvCxnSpPr>
          <p:cNvPr id="19465" name="AutoShape 14"/>
          <p:cNvCxnSpPr>
            <a:cxnSpLocks noChangeShapeType="1"/>
            <a:stCxn id="19462" idx="0"/>
            <a:endCxn id="19479" idx="2"/>
          </p:cNvCxnSpPr>
          <p:nvPr/>
        </p:nvCxnSpPr>
        <p:spPr bwMode="auto">
          <a:xfrm rot="16200000" flipV="1">
            <a:off x="4969092" y="3790371"/>
            <a:ext cx="243830" cy="39901"/>
          </a:xfrm>
          <a:prstGeom prst="curvedConnector3">
            <a:avLst>
              <a:gd name="adj1" fmla="val 50000"/>
            </a:avLst>
          </a:prstGeom>
          <a:noFill/>
          <a:ln w="9525">
            <a:solidFill>
              <a:srgbClr val="0000FF"/>
            </a:solidFill>
            <a:round/>
            <a:headEnd/>
            <a:tailEnd type="triangle" w="med" len="med"/>
          </a:ln>
          <a:extLst>
            <a:ext uri="{909E8E84-426E-40DD-AFC4-6F175D3DCCD1}">
              <a14:hiddenFill xmlns:a14="http://schemas.microsoft.com/office/drawing/2010/main">
                <a:noFill/>
              </a14:hiddenFill>
            </a:ext>
          </a:extLst>
        </p:spPr>
      </p:cxnSp>
      <p:sp>
        <p:nvSpPr>
          <p:cNvPr id="19466" name="Rectangle 15"/>
          <p:cNvSpPr>
            <a:spLocks noChangeArrowheads="1"/>
          </p:cNvSpPr>
          <p:nvPr/>
        </p:nvSpPr>
        <p:spPr bwMode="auto">
          <a:xfrm>
            <a:off x="3905250" y="6110287"/>
            <a:ext cx="73025" cy="71438"/>
          </a:xfrm>
          <a:prstGeom prst="rect">
            <a:avLst/>
          </a:prstGeom>
          <a:solidFill>
            <a:srgbClr val="FF0000"/>
          </a:solidFill>
          <a:ln w="9525" algn="ctr">
            <a:solidFill>
              <a:srgbClr val="FF0000"/>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9467" name="Rectangle 16"/>
          <p:cNvSpPr>
            <a:spLocks noChangeArrowheads="1"/>
          </p:cNvSpPr>
          <p:nvPr/>
        </p:nvSpPr>
        <p:spPr bwMode="auto">
          <a:xfrm>
            <a:off x="2311400" y="6294437"/>
            <a:ext cx="2160588" cy="371475"/>
          </a:xfrm>
          <a:prstGeom prst="rect">
            <a:avLst/>
          </a:prstGeom>
          <a:solidFill>
            <a:schemeClr val="bg1"/>
          </a:solidFill>
          <a:ln w="9525" algn="ctr">
            <a:solidFill>
              <a:srgbClr val="FF0000"/>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a:solidFill>
                  <a:srgbClr val="FF0000"/>
                </a:solidFill>
                <a:latin typeface="Arial" pitchFamily="34" charset="0"/>
                <a:cs typeface="Arial" pitchFamily="34" charset="0"/>
              </a:rPr>
              <a:t>Attribute Data</a:t>
            </a:r>
          </a:p>
        </p:txBody>
      </p:sp>
      <p:sp>
        <p:nvSpPr>
          <p:cNvPr id="19468" name="Rectangle 17"/>
          <p:cNvSpPr>
            <a:spLocks noChangeArrowheads="1"/>
          </p:cNvSpPr>
          <p:nvPr/>
        </p:nvSpPr>
        <p:spPr bwMode="auto">
          <a:xfrm>
            <a:off x="4432300" y="6103937"/>
            <a:ext cx="73025" cy="71438"/>
          </a:xfrm>
          <a:prstGeom prst="rect">
            <a:avLst/>
          </a:prstGeom>
          <a:solidFill>
            <a:srgbClr val="FF0000"/>
          </a:solidFill>
          <a:ln w="9525" algn="ctr">
            <a:solidFill>
              <a:srgbClr val="FF0000"/>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cxnSp>
        <p:nvCxnSpPr>
          <p:cNvPr id="19469" name="AutoShape 18"/>
          <p:cNvCxnSpPr>
            <a:cxnSpLocks noChangeShapeType="1"/>
            <a:stCxn id="19468" idx="2"/>
            <a:endCxn id="19467" idx="0"/>
          </p:cNvCxnSpPr>
          <p:nvPr/>
        </p:nvCxnSpPr>
        <p:spPr bwMode="auto">
          <a:xfrm rot="5400000">
            <a:off x="3871120" y="5696743"/>
            <a:ext cx="119062" cy="1076325"/>
          </a:xfrm>
          <a:prstGeom prst="curvedConnector3">
            <a:avLst>
              <a:gd name="adj1" fmla="val 49333"/>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cxnSp>
      <p:cxnSp>
        <p:nvCxnSpPr>
          <p:cNvPr id="19470" name="AutoShape 19"/>
          <p:cNvCxnSpPr>
            <a:cxnSpLocks noChangeShapeType="1"/>
            <a:stCxn id="19466" idx="2"/>
            <a:endCxn id="19467" idx="0"/>
          </p:cNvCxnSpPr>
          <p:nvPr/>
        </p:nvCxnSpPr>
        <p:spPr bwMode="auto">
          <a:xfrm rot="5400000">
            <a:off x="3610770" y="5963443"/>
            <a:ext cx="112712" cy="549275"/>
          </a:xfrm>
          <a:prstGeom prst="curvedConnector3">
            <a:avLst>
              <a:gd name="adj1" fmla="val 49296"/>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cxnSp>
      <p:sp>
        <p:nvSpPr>
          <p:cNvPr id="19471" name="Rectangle 31"/>
          <p:cNvSpPr>
            <a:spLocks noChangeArrowheads="1"/>
          </p:cNvSpPr>
          <p:nvPr/>
        </p:nvSpPr>
        <p:spPr bwMode="auto">
          <a:xfrm>
            <a:off x="6359525" y="4627562"/>
            <a:ext cx="1185863" cy="371475"/>
          </a:xfrm>
          <a:prstGeom prst="rect">
            <a:avLst/>
          </a:prstGeom>
          <a:solidFill>
            <a:schemeClr val="bg1"/>
          </a:solidFill>
          <a:ln w="9525" algn="ctr">
            <a:solidFill>
              <a:srgbClr val="008000"/>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a:solidFill>
                  <a:srgbClr val="008000"/>
                </a:solidFill>
                <a:latin typeface="Arial" pitchFamily="34" charset="0"/>
                <a:cs typeface="Arial" pitchFamily="34" charset="0"/>
              </a:rPr>
              <a:t>Data Resume</a:t>
            </a:r>
          </a:p>
        </p:txBody>
      </p:sp>
      <p:sp>
        <p:nvSpPr>
          <p:cNvPr id="19472" name="Rectangle 32"/>
          <p:cNvSpPr>
            <a:spLocks noChangeArrowheads="1"/>
          </p:cNvSpPr>
          <p:nvPr/>
        </p:nvSpPr>
        <p:spPr bwMode="auto">
          <a:xfrm>
            <a:off x="4913313" y="6299200"/>
            <a:ext cx="2160587" cy="371475"/>
          </a:xfrm>
          <a:prstGeom prst="rect">
            <a:avLst/>
          </a:prstGeom>
          <a:solidFill>
            <a:schemeClr val="bg1"/>
          </a:solidFill>
          <a:ln w="9525" algn="ctr">
            <a:solidFill>
              <a:srgbClr val="FF0000"/>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a:solidFill>
                  <a:srgbClr val="FF0000"/>
                </a:solidFill>
                <a:latin typeface="Arial" pitchFamily="34" charset="0"/>
                <a:cs typeface="Arial" pitchFamily="34" charset="0"/>
              </a:rPr>
              <a:t>Continuous Data</a:t>
            </a:r>
          </a:p>
        </p:txBody>
      </p:sp>
      <p:sp>
        <p:nvSpPr>
          <p:cNvPr id="19473" name="Rectangle 33"/>
          <p:cNvSpPr>
            <a:spLocks noChangeArrowheads="1"/>
          </p:cNvSpPr>
          <p:nvPr/>
        </p:nvSpPr>
        <p:spPr bwMode="auto">
          <a:xfrm>
            <a:off x="5184775" y="6122987"/>
            <a:ext cx="73025" cy="71438"/>
          </a:xfrm>
          <a:prstGeom prst="rect">
            <a:avLst/>
          </a:prstGeom>
          <a:solidFill>
            <a:srgbClr val="FF0000"/>
          </a:solidFill>
          <a:ln w="9525" algn="ctr">
            <a:solidFill>
              <a:srgbClr val="FF0000"/>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cxnSp>
        <p:nvCxnSpPr>
          <p:cNvPr id="19474" name="AutoShape 34"/>
          <p:cNvCxnSpPr>
            <a:cxnSpLocks noChangeShapeType="1"/>
            <a:stCxn id="19473" idx="3"/>
            <a:endCxn id="19472" idx="0"/>
          </p:cNvCxnSpPr>
          <p:nvPr/>
        </p:nvCxnSpPr>
        <p:spPr bwMode="auto">
          <a:xfrm>
            <a:off x="5257800" y="6159500"/>
            <a:ext cx="736600" cy="139700"/>
          </a:xfrm>
          <a:prstGeom prst="curvedConnector2">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cxnSp>
      <p:sp>
        <p:nvSpPr>
          <p:cNvPr id="21" name="Rectangle 5"/>
          <p:cNvSpPr>
            <a:spLocks noChangeArrowheads="1"/>
          </p:cNvSpPr>
          <p:nvPr/>
        </p:nvSpPr>
        <p:spPr bwMode="auto">
          <a:xfrm>
            <a:off x="1403350" y="1214438"/>
            <a:ext cx="7870130" cy="1532727"/>
          </a:xfrm>
          <a:prstGeom prst="rect">
            <a:avLst/>
          </a:prstGeom>
          <a:solidFill>
            <a:srgbClr val="FFFFFF"/>
          </a:solidFill>
          <a:ln w="9525" algn="ctr">
            <a:solidFill>
              <a:schemeClr val="bg1">
                <a:lumMod val="65000"/>
              </a:schemeClr>
            </a:solidFill>
            <a:miter lim="800000"/>
            <a:headEnd/>
            <a:tailEnd/>
          </a:ln>
        </p:spPr>
        <p:txBody>
          <a:bodyPr wrap="square">
            <a:spAutoFit/>
          </a:bodyPr>
          <a:lstStyle/>
          <a:p>
            <a:pPr>
              <a:lnSpc>
                <a:spcPct val="120000"/>
              </a:lnSpc>
              <a:defRPr/>
            </a:pPr>
            <a:r>
              <a:rPr lang="en-US" altLang="ko-KR" sz="1200" b="1" dirty="0" err="1">
                <a:solidFill>
                  <a:srgbClr val="000000"/>
                </a:solidFill>
                <a:latin typeface="Arial" pitchFamily="34" charset="0"/>
                <a:ea typeface="맑은 고딕" pitchFamily="50" charset="-127"/>
                <a:cs typeface="Arial" pitchFamily="34" charset="0"/>
              </a:rPr>
              <a:t>Dữ</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liệu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được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tập</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hợp</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với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mục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đích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tiến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hành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kiểm</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định</a:t>
            </a:r>
            <a:r>
              <a:rPr lang="en-US" altLang="ko-KR" sz="1200" b="1" dirty="0">
                <a:solidFill>
                  <a:srgbClr val="000000"/>
                </a:solidFill>
                <a:latin typeface="Arial" pitchFamily="34" charset="0"/>
                <a:ea typeface="맑은 고딕" pitchFamily="50" charset="-127"/>
                <a:cs typeface="Arial" pitchFamily="34" charset="0"/>
              </a:rPr>
              <a:t> Gage R&amp;R</a:t>
            </a:r>
          </a:p>
          <a:p>
            <a:pPr>
              <a:lnSpc>
                <a:spcPct val="120000"/>
              </a:lnSpc>
              <a:defRPr/>
            </a:pPr>
            <a:endParaRPr lang="en-US" altLang="ko-KR" sz="1100" dirty="0">
              <a:solidFill>
                <a:srgbClr val="000000"/>
              </a:solidFill>
              <a:latin typeface="Arial" pitchFamily="34" charset="0"/>
              <a:ea typeface="맑은 고딕" pitchFamily="50" charset="-127"/>
              <a:cs typeface="Arial" pitchFamily="34" charset="0"/>
            </a:endParaRPr>
          </a:p>
          <a:p>
            <a:pPr>
              <a:lnSpc>
                <a:spcPct val="120000"/>
              </a:lnSpc>
              <a:defRPr/>
            </a:pPr>
            <a:r>
              <a:rPr lang="en-US" altLang="ko-KR" sz="1100" dirty="0">
                <a:solidFill>
                  <a:srgbClr val="000000"/>
                </a:solidFill>
                <a:latin typeface="Arial" pitchFamily="34" charset="0"/>
                <a:ea typeface="맑은 고딕" pitchFamily="50" charset="-127"/>
                <a:cs typeface="Arial" pitchFamily="34" charset="0"/>
              </a:rPr>
              <a:t>- Parts: </a:t>
            </a:r>
            <a:r>
              <a:rPr lang="en-US" altLang="ko-KR" sz="1100" dirty="0" err="1">
                <a:solidFill>
                  <a:srgbClr val="000000"/>
                </a:solidFill>
                <a:latin typeface="Arial" pitchFamily="34" charset="0"/>
                <a:ea typeface="맑은 고딕" pitchFamily="50" charset="-127"/>
                <a:cs typeface="Arial" pitchFamily="34" charset="0"/>
              </a:rPr>
              <a:t>Phạm</a:t>
            </a:r>
            <a:r>
              <a:rPr lang="en-US" altLang="ko-KR" sz="1100" dirty="0">
                <a:solidFill>
                  <a:srgbClr val="000000"/>
                </a:solidFill>
                <a:latin typeface="Arial" pitchFamily="34" charset="0"/>
                <a:ea typeface="맑은 고딕" pitchFamily="50" charset="-127"/>
                <a:cs typeface="Arial" pitchFamily="34" charset="0"/>
              </a:rPr>
              <a:t> vi </a:t>
            </a:r>
            <a:r>
              <a:rPr lang="en-US" altLang="ko-KR" sz="1100" dirty="0" err="1">
                <a:solidFill>
                  <a:srgbClr val="000000"/>
                </a:solidFill>
                <a:latin typeface="Arial" pitchFamily="34" charset="0"/>
                <a:ea typeface="맑은 고딕" pitchFamily="50" charset="-127"/>
                <a:cs typeface="Arial" pitchFamily="34" charset="0"/>
              </a:rPr>
              <a:t>đặc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điểm</a:t>
            </a:r>
            <a:r>
              <a:rPr lang="en-US" altLang="ko-KR" sz="1100" dirty="0">
                <a:solidFill>
                  <a:srgbClr val="000000"/>
                </a:solidFill>
                <a:latin typeface="Arial" pitchFamily="34" charset="0"/>
                <a:ea typeface="맑은 고딕" pitchFamily="50" charset="-127"/>
                <a:cs typeface="Arial" pitchFamily="34" charset="0"/>
              </a:rPr>
              <a:t> (16.5±0.8 mm)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phân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chia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thành</a:t>
            </a:r>
            <a:r>
              <a:rPr lang="en-US" altLang="ko-KR" sz="1100" dirty="0">
                <a:solidFill>
                  <a:srgbClr val="000000"/>
                </a:solidFill>
                <a:latin typeface="Arial" pitchFamily="34" charset="0"/>
                <a:ea typeface="맑은 고딕" pitchFamily="50" charset="-127"/>
                <a:cs typeface="Arial" pitchFamily="34" charset="0"/>
              </a:rPr>
              <a:t> 10 </a:t>
            </a:r>
            <a:r>
              <a:rPr lang="en-US" altLang="ko-KR" sz="1100" dirty="0" err="1">
                <a:solidFill>
                  <a:srgbClr val="000000"/>
                </a:solidFill>
                <a:latin typeface="Arial" pitchFamily="34" charset="0"/>
                <a:ea typeface="맑은 고딕" pitchFamily="50" charset="-127"/>
                <a:cs typeface="Arial" pitchFamily="34" charset="0"/>
              </a:rPr>
              <a:t>công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đoạn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và</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mỗi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công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đoạn</a:t>
            </a:r>
            <a:r>
              <a:rPr lang="en-US" altLang="ko-KR" sz="1100" dirty="0">
                <a:solidFill>
                  <a:srgbClr val="000000"/>
                </a:solidFill>
                <a:latin typeface="Arial" pitchFamily="34" charset="0"/>
                <a:ea typeface="맑은 고딕" pitchFamily="50" charset="-127"/>
                <a:cs typeface="Arial" pitchFamily="34" charset="0"/>
              </a:rPr>
              <a:t>, 1 part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tách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ra</a:t>
            </a:r>
            <a:r>
              <a:rPr lang="en-US" altLang="ko-KR" sz="1100" dirty="0">
                <a:solidFill>
                  <a:srgbClr val="000000"/>
                </a:solidFill>
                <a:latin typeface="Arial" pitchFamily="34" charset="0"/>
                <a:ea typeface="맑은 고딕" pitchFamily="50" charset="-127"/>
                <a:cs typeface="Arial" pitchFamily="34" charset="0"/>
              </a:rPr>
              <a:t>. </a:t>
            </a:r>
            <a:endParaRPr lang="ko-KR" altLang="en-US" sz="1100" dirty="0">
              <a:solidFill>
                <a:srgbClr val="000000"/>
              </a:solidFill>
              <a:latin typeface="Arial" pitchFamily="34" charset="0"/>
              <a:ea typeface="맑은 고딕" pitchFamily="50" charset="-127"/>
              <a:cs typeface="Arial" pitchFamily="34" charset="0"/>
            </a:endParaRPr>
          </a:p>
          <a:p>
            <a:pPr>
              <a:lnSpc>
                <a:spcPct val="120000"/>
              </a:lnSpc>
              <a:defRPr/>
            </a:pP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Nhân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lực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Chọn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ngẫu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nhiên</a:t>
            </a:r>
            <a:r>
              <a:rPr lang="en-US" altLang="ko-KR" sz="1100" dirty="0">
                <a:solidFill>
                  <a:srgbClr val="000000"/>
                </a:solidFill>
                <a:latin typeface="Arial" pitchFamily="34" charset="0"/>
                <a:ea typeface="맑은 고딕" pitchFamily="50" charset="-127"/>
                <a:cs typeface="Arial" pitchFamily="34" charset="0"/>
              </a:rPr>
              <a:t> 3 </a:t>
            </a:r>
            <a:r>
              <a:rPr lang="en-US" altLang="ko-KR" sz="1100" dirty="0" err="1">
                <a:solidFill>
                  <a:srgbClr val="000000"/>
                </a:solidFill>
                <a:latin typeface="Arial" pitchFamily="34" charset="0"/>
                <a:ea typeface="맑은 고딕" pitchFamily="50" charset="-127"/>
                <a:cs typeface="Arial" pitchFamily="34" charset="0"/>
              </a:rPr>
              <a:t>người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tình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hiện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tại</a:t>
            </a:r>
            <a:r>
              <a:rPr lang="en-US" altLang="ko-KR" sz="1100" dirty="0">
                <a:solidFill>
                  <a:srgbClr val="000000"/>
                </a:solidFill>
                <a:latin typeface="Arial" pitchFamily="34" charset="0"/>
                <a:ea typeface="맑은 고딕" pitchFamily="50" charset="-127"/>
                <a:cs typeface="Arial" pitchFamily="34" charset="0"/>
              </a:rPr>
              <a:t>.  </a:t>
            </a:r>
            <a:endParaRPr lang="ko-KR" altLang="en-US" sz="1100" dirty="0">
              <a:solidFill>
                <a:srgbClr val="000000"/>
              </a:solidFill>
              <a:latin typeface="Arial" pitchFamily="34" charset="0"/>
              <a:ea typeface="맑은 고딕" pitchFamily="50" charset="-127"/>
              <a:cs typeface="Arial" pitchFamily="34" charset="0"/>
            </a:endParaRPr>
          </a:p>
          <a:p>
            <a:pPr>
              <a:lnSpc>
                <a:spcPct val="120000"/>
              </a:lnSpc>
              <a:buFontTx/>
              <a:buChar char="-"/>
              <a:defRPr/>
            </a:pPr>
            <a:r>
              <a:rPr lang="en-US" altLang="ko-KR" sz="1100" dirty="0">
                <a:solidFill>
                  <a:srgbClr val="000000"/>
                </a:solidFill>
                <a:latin typeface="Arial" pitchFamily="34" charset="0"/>
                <a:ea typeface="맑은 고딕" pitchFamily="50" charset="-127"/>
                <a:cs typeface="Arial" pitchFamily="34" charset="0"/>
              </a:rPr>
              <a:t>Thu </a:t>
            </a:r>
            <a:r>
              <a:rPr lang="en-US" altLang="ko-KR" sz="1100" dirty="0" err="1">
                <a:solidFill>
                  <a:srgbClr val="000000"/>
                </a:solidFill>
                <a:latin typeface="Arial" pitchFamily="34" charset="0"/>
                <a:ea typeface="맑은 고딕" pitchFamily="50" charset="-127"/>
                <a:cs typeface="Arial" pitchFamily="34" charset="0"/>
              </a:rPr>
              <a:t>thập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dữ</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liệu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Sắp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xếp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ngẫu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nhiên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thứ</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tự</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của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nhân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lực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và</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mẫu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Thực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hiện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theo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kiểu</a:t>
            </a:r>
            <a:r>
              <a:rPr lang="en-US" altLang="ko-KR" sz="1100" dirty="0">
                <a:solidFill>
                  <a:srgbClr val="000000"/>
                </a:solidFill>
                <a:latin typeface="Arial" pitchFamily="34" charset="0"/>
                <a:ea typeface="맑은 고딕" pitchFamily="50" charset="-127"/>
                <a:cs typeface="Arial" pitchFamily="34" charset="0"/>
              </a:rPr>
              <a:t> “blind test”. </a:t>
            </a:r>
            <a:r>
              <a:rPr lang="en-US" altLang="ko-KR" sz="1100" dirty="0" err="1">
                <a:solidFill>
                  <a:srgbClr val="000000"/>
                </a:solidFill>
                <a:latin typeface="Arial" pitchFamily="34" charset="0"/>
                <a:ea typeface="맑은 고딕" pitchFamily="50" charset="-127"/>
                <a:cs typeface="Arial" pitchFamily="34" charset="0"/>
              </a:rPr>
              <a:t>Người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phải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theo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phương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pháp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tiêu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chuẩn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Họ</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không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thay</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đổi</a:t>
            </a:r>
            <a:endParaRPr lang="en-US" altLang="ko-KR" sz="1100" dirty="0">
              <a:solidFill>
                <a:srgbClr val="000000"/>
              </a:solidFill>
              <a:latin typeface="Arial" pitchFamily="34" charset="0"/>
              <a:ea typeface="맑은 고딕" pitchFamily="50" charset="-127"/>
              <a:cs typeface="Arial" pitchFamily="34" charset="0"/>
            </a:endParaRPr>
          </a:p>
          <a:p>
            <a:pPr>
              <a:lnSpc>
                <a:spcPct val="120000"/>
              </a:lnSpc>
              <a:buFontTx/>
              <a:buChar char="-"/>
              <a:defRPr/>
            </a:pP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Thông</a:t>
            </a:r>
            <a:r>
              <a:rPr lang="en-US" altLang="ko-KR" sz="1100" dirty="0">
                <a:solidFill>
                  <a:srgbClr val="000000"/>
                </a:solidFill>
                <a:latin typeface="Arial" pitchFamily="34" charset="0"/>
                <a:ea typeface="맑은 고딕" pitchFamily="50" charset="-127"/>
                <a:cs typeface="Arial" pitchFamily="34" charset="0"/>
              </a:rPr>
              <a:t> tin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trình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Sự</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phân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bổ</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của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trình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sản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xuất</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hiện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tại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độ</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lệch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chuẩn</a:t>
            </a:r>
            <a:r>
              <a:rPr lang="en-US" altLang="ko-KR" sz="1100" dirty="0">
                <a:solidFill>
                  <a:srgbClr val="000000"/>
                </a:solidFill>
                <a:latin typeface="Arial" pitchFamily="34" charset="0"/>
                <a:ea typeface="맑은 고딕" pitchFamily="50" charset="-127"/>
                <a:cs typeface="Arial" pitchFamily="34" charset="0"/>
              </a:rPr>
              <a:t>): Historical Sigma = 0.35(mm) </a:t>
            </a:r>
          </a:p>
        </p:txBody>
      </p:sp>
      <p:sp>
        <p:nvSpPr>
          <p:cNvPr id="19476" name="TextBox 21"/>
          <p:cNvSpPr txBox="1">
            <a:spLocks noChangeArrowheads="1"/>
          </p:cNvSpPr>
          <p:nvPr/>
        </p:nvSpPr>
        <p:spPr bwMode="auto">
          <a:xfrm>
            <a:off x="908050" y="3429000"/>
            <a:ext cx="12682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v"/>
            </a:pPr>
            <a:r>
              <a:rPr lang="en-US" altLang="ko-KR" sz="1400" b="1" dirty="0">
                <a:solidFill>
                  <a:srgbClr val="000000"/>
                </a:solidFill>
                <a:latin typeface="Arial" pitchFamily="34" charset="0"/>
                <a:ea typeface="맑은 고딕" pitchFamily="50" charset="-127"/>
                <a:cs typeface="Arial" pitchFamily="34" charset="0"/>
              </a:rPr>
              <a:t> Data Input</a:t>
            </a:r>
            <a:endParaRPr lang="ko-KR" altLang="en-US" sz="1400" b="1" dirty="0">
              <a:solidFill>
                <a:srgbClr val="000000"/>
              </a:solidFill>
              <a:latin typeface="Arial" pitchFamily="34" charset="0"/>
              <a:ea typeface="맑은 고딕" pitchFamily="50" charset="-127"/>
              <a:cs typeface="Arial" pitchFamily="34" charset="0"/>
            </a:endParaRPr>
          </a:p>
        </p:txBody>
      </p:sp>
      <p:sp>
        <p:nvSpPr>
          <p:cNvPr id="19477" name="TextBox 24"/>
          <p:cNvSpPr txBox="1">
            <a:spLocks noChangeArrowheads="1"/>
          </p:cNvSpPr>
          <p:nvPr/>
        </p:nvSpPr>
        <p:spPr bwMode="auto">
          <a:xfrm>
            <a:off x="3024188" y="3478212"/>
            <a:ext cx="62068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b="1">
                <a:solidFill>
                  <a:srgbClr val="000000"/>
                </a:solidFill>
                <a:latin typeface="Arial" pitchFamily="34" charset="0"/>
                <a:ea typeface="맑은 고딕" pitchFamily="50" charset="-127"/>
                <a:cs typeface="Arial" pitchFamily="34" charset="0"/>
              </a:rPr>
              <a:t>Part no.</a:t>
            </a:r>
            <a:endParaRPr lang="ko-KR" altLang="en-US" sz="900" b="1">
              <a:solidFill>
                <a:srgbClr val="000000"/>
              </a:solidFill>
              <a:latin typeface="Arial" pitchFamily="34" charset="0"/>
              <a:ea typeface="맑은 고딕" pitchFamily="50" charset="-127"/>
              <a:cs typeface="Arial" pitchFamily="34" charset="0"/>
            </a:endParaRPr>
          </a:p>
        </p:txBody>
      </p:sp>
      <p:sp>
        <p:nvSpPr>
          <p:cNvPr id="19478" name="TextBox 28"/>
          <p:cNvSpPr txBox="1">
            <a:spLocks noChangeArrowheads="1"/>
          </p:cNvSpPr>
          <p:nvPr/>
        </p:nvSpPr>
        <p:spPr bwMode="auto">
          <a:xfrm>
            <a:off x="3810000" y="3457575"/>
            <a:ext cx="69923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b="1" dirty="0">
                <a:solidFill>
                  <a:srgbClr val="000000"/>
                </a:solidFill>
                <a:latin typeface="Arial" pitchFamily="34" charset="0"/>
                <a:ea typeface="맑은 고딕" pitchFamily="50" charset="-127"/>
                <a:cs typeface="Arial" pitchFamily="34" charset="0"/>
              </a:rPr>
              <a:t>Measurer</a:t>
            </a:r>
            <a:endParaRPr lang="ko-KR" altLang="en-US" sz="900" b="1" dirty="0">
              <a:solidFill>
                <a:srgbClr val="000000"/>
              </a:solidFill>
              <a:latin typeface="Arial" pitchFamily="34" charset="0"/>
              <a:ea typeface="맑은 고딕" pitchFamily="50" charset="-127"/>
              <a:cs typeface="Arial" pitchFamily="34" charset="0"/>
            </a:endParaRPr>
          </a:p>
        </p:txBody>
      </p:sp>
      <p:sp>
        <p:nvSpPr>
          <p:cNvPr id="19479" name="TextBox 29"/>
          <p:cNvSpPr txBox="1">
            <a:spLocks noChangeArrowheads="1"/>
          </p:cNvSpPr>
          <p:nvPr/>
        </p:nvSpPr>
        <p:spPr bwMode="auto">
          <a:xfrm>
            <a:off x="4452938" y="3457575"/>
            <a:ext cx="123623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b="1" dirty="0">
                <a:solidFill>
                  <a:srgbClr val="000000"/>
                </a:solidFill>
                <a:latin typeface="Arial" pitchFamily="34" charset="0"/>
                <a:ea typeface="맑은 고딕" pitchFamily="50" charset="-127"/>
                <a:cs typeface="Arial" pitchFamily="34" charset="0"/>
              </a:rPr>
              <a:t>Measurement</a:t>
            </a:r>
            <a:r>
              <a:rPr lang="ko-KR" altLang="en-US" sz="900" b="1" dirty="0">
                <a:solidFill>
                  <a:srgbClr val="000000"/>
                </a:solidFill>
                <a:latin typeface="Arial" pitchFamily="34" charset="0"/>
                <a:ea typeface="맑은 고딕" pitchFamily="50" charset="-127"/>
                <a:cs typeface="Arial" pitchFamily="34" charset="0"/>
              </a:rPr>
              <a:t> </a:t>
            </a:r>
            <a:r>
              <a:rPr lang="en-US" altLang="ko-KR" sz="900" b="1" dirty="0">
                <a:solidFill>
                  <a:srgbClr val="000000"/>
                </a:solidFill>
                <a:latin typeface="Arial" pitchFamily="34" charset="0"/>
                <a:ea typeface="맑은 고딕" pitchFamily="50" charset="-127"/>
                <a:cs typeface="Arial" pitchFamily="34" charset="0"/>
              </a:rPr>
              <a:t>Data</a:t>
            </a:r>
            <a:endParaRPr lang="ko-KR" altLang="en-US" sz="900" b="1" dirty="0">
              <a:solidFill>
                <a:srgbClr val="000000"/>
              </a:solidFill>
              <a:latin typeface="Arial" pitchFamily="34" charset="0"/>
              <a:ea typeface="맑은 고딕" pitchFamily="50" charset="-127"/>
              <a:cs typeface="Arial" pitchFamily="34" charset="0"/>
            </a:endParaRPr>
          </a:p>
        </p:txBody>
      </p:sp>
      <p:sp>
        <p:nvSpPr>
          <p:cNvPr id="19480" name="TextBox 30"/>
          <p:cNvSpPr txBox="1">
            <a:spLocks noChangeArrowheads="1"/>
          </p:cNvSpPr>
          <p:nvPr/>
        </p:nvSpPr>
        <p:spPr bwMode="auto">
          <a:xfrm>
            <a:off x="5753467" y="3457575"/>
            <a:ext cx="132043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b="1" dirty="0">
                <a:solidFill>
                  <a:srgbClr val="000000"/>
                </a:solidFill>
                <a:latin typeface="Arial" pitchFamily="34" charset="0"/>
                <a:ea typeface="맑은 고딕" pitchFamily="50" charset="-127"/>
                <a:cs typeface="Arial" pitchFamily="34" charset="0"/>
              </a:rPr>
              <a:t>Repetition no.</a:t>
            </a:r>
            <a:endParaRPr lang="ko-KR" altLang="en-US" sz="900" b="1" dirty="0">
              <a:solidFill>
                <a:srgbClr val="000000"/>
              </a:solidFill>
              <a:latin typeface="Arial" pitchFamily="34" charset="0"/>
              <a:ea typeface="맑은 고딕" pitchFamily="50" charset="-127"/>
              <a:cs typeface="Arial" pitchFamily="34" charset="0"/>
            </a:endParaRPr>
          </a:p>
        </p:txBody>
      </p:sp>
      <p:cxnSp>
        <p:nvCxnSpPr>
          <p:cNvPr id="19483" name="AutoShape 14"/>
          <p:cNvCxnSpPr>
            <a:cxnSpLocks noChangeShapeType="1"/>
            <a:endCxn id="19480" idx="2"/>
          </p:cNvCxnSpPr>
          <p:nvPr/>
        </p:nvCxnSpPr>
        <p:spPr bwMode="auto">
          <a:xfrm flipV="1">
            <a:off x="5670551" y="3688407"/>
            <a:ext cx="743133" cy="285106"/>
          </a:xfrm>
          <a:prstGeom prst="curvedConnector2">
            <a:avLst/>
          </a:prstGeom>
          <a:noFill/>
          <a:ln w="9525">
            <a:solidFill>
              <a:srgbClr val="0000FF"/>
            </a:solidFill>
            <a:round/>
            <a:headEnd/>
            <a:tailEnd type="triangle" w="med" len="med"/>
          </a:ln>
          <a:extLst>
            <a:ext uri="{909E8E84-426E-40DD-AFC4-6F175D3DCCD1}">
              <a14:hiddenFill xmlns:a14="http://schemas.microsoft.com/office/drawing/2010/main">
                <a:noFill/>
              </a14:hiddenFill>
            </a:ext>
          </a:extLst>
        </p:spPr>
      </p:cxnSp>
      <p:sp>
        <p:nvSpPr>
          <p:cNvPr id="19484" name="Oval 10"/>
          <p:cNvSpPr>
            <a:spLocks noChangeArrowheads="1"/>
          </p:cNvSpPr>
          <p:nvPr/>
        </p:nvSpPr>
        <p:spPr bwMode="auto">
          <a:xfrm>
            <a:off x="5637213" y="3944937"/>
            <a:ext cx="71437" cy="71438"/>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endParaRPr lang="ko-KR" altLang="ko-KR" sz="1200" b="1">
              <a:solidFill>
                <a:srgbClr val="000000"/>
              </a:solidFill>
              <a:latin typeface="Arial" pitchFamily="34" charset="0"/>
              <a:cs typeface="Arial" pitchFamily="34" charset="0"/>
            </a:endParaRPr>
          </a:p>
        </p:txBody>
      </p:sp>
      <p:sp>
        <p:nvSpPr>
          <p:cNvPr id="32"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pic>
        <p:nvPicPr>
          <p:cNvPr id="19487"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198</a:t>
            </a:fld>
            <a:endParaRPr lang="ko-KR" altLang="en-US" dirty="0">
              <a:latin typeface="Arial" pitchFamily="34" charset="0"/>
              <a:cs typeface="Arial" pitchFamily="34" charset="0"/>
            </a:endParaRPr>
          </a:p>
        </p:txBody>
      </p:sp>
      <p:sp>
        <p:nvSpPr>
          <p:cNvPr id="30" name="TextBox 27"/>
          <p:cNvSpPr txBox="1">
            <a:spLocks noChangeArrowheads="1"/>
          </p:cNvSpPr>
          <p:nvPr/>
        </p:nvSpPr>
        <p:spPr bwMode="auto">
          <a:xfrm>
            <a:off x="300984" y="1257300"/>
            <a:ext cx="92044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a:solidFill>
                  <a:srgbClr val="FF0000"/>
                </a:solidFill>
                <a:latin typeface="맑은 고딕" pitchFamily="50" charset="-127"/>
                <a:ea typeface="맑은 고딕" pitchFamily="50" charset="-127"/>
              </a:rPr>
              <a:t>Case File</a:t>
            </a:r>
          </a:p>
          <a:p>
            <a:pPr algn="ctr" eaLnBrk="1" hangingPunct="1"/>
            <a:r>
              <a:rPr lang="en-US" altLang="ko-KR" sz="1000" b="1" dirty="0">
                <a:solidFill>
                  <a:srgbClr val="FF0000"/>
                </a:solidFill>
                <a:latin typeface="맑은 고딕" pitchFamily="50" charset="-127"/>
                <a:ea typeface="맑은 고딕" pitchFamily="50" charset="-127"/>
              </a:rPr>
              <a:t>Gage 1.mtw</a:t>
            </a:r>
          </a:p>
          <a:p>
            <a:pPr algn="ctr" eaLnBrk="1" hangingPunct="1"/>
            <a:r>
              <a:rPr lang="en-US" altLang="ko-KR" sz="1000" b="1" dirty="0">
                <a:solidFill>
                  <a:srgbClr val="FF0000"/>
                </a:solidFill>
                <a:latin typeface="맑은 고딕" pitchFamily="50" charset="-127"/>
                <a:ea typeface="맑은 고딕" pitchFamily="50" charset="-127"/>
              </a:rPr>
              <a:t>Gage1.xls </a:t>
            </a:r>
            <a:endParaRPr lang="ko-KR" altLang="en-US" sz="1000" b="1" dirty="0">
              <a:solidFill>
                <a:srgbClr val="FF0000"/>
              </a:solidFill>
              <a:latin typeface="맑은 고딕" pitchFamily="50" charset="-127"/>
              <a:ea typeface="맑은 고딕" pitchFamily="50" charset="-127"/>
            </a:endParaRPr>
          </a:p>
        </p:txBody>
      </p:sp>
      <p:graphicFrame>
        <p:nvGraphicFramePr>
          <p:cNvPr id="31" name="개체 1"/>
          <p:cNvGraphicFramePr>
            <a:graphicFrameLocks noChangeAspect="1"/>
          </p:cNvGraphicFramePr>
          <p:nvPr>
            <p:extLst>
              <p:ext uri="{D42A27DB-BD31-4B8C-83A1-F6EECF244321}">
                <p14:modId xmlns:p14="http://schemas.microsoft.com/office/powerpoint/2010/main" val="2217528546"/>
              </p:ext>
            </p:extLst>
          </p:nvPr>
        </p:nvGraphicFramePr>
        <p:xfrm>
          <a:off x="301625" y="1866900"/>
          <a:ext cx="914400" cy="842020"/>
        </p:xfrm>
        <a:graphic>
          <a:graphicData uri="http://schemas.openxmlformats.org/presentationml/2006/ole">
            <mc:AlternateContent xmlns:mc="http://schemas.openxmlformats.org/markup-compatibility/2006">
              <mc:Choice xmlns:v="urn:schemas-microsoft-com:vml" Requires="v">
                <p:oleObj name="Worksheet" showAsIcon="1" r:id="rId5" imgW="914400" imgH="771480" progId="Excel.Sheet.8">
                  <p:embed/>
                </p:oleObj>
              </mc:Choice>
              <mc:Fallback>
                <p:oleObj name="Worksheet" showAsIcon="1" r:id="rId5" imgW="914400" imgH="771480" progId="Excel.Sheet.8">
                  <p:embed/>
                  <p:pic>
                    <p:nvPicPr>
                      <p:cNvPr id="31" name="개체 1"/>
                      <p:cNvPicPr>
                        <a:picLocks noChangeAspect="1" noChangeArrowheads="1"/>
                      </p:cNvPicPr>
                      <p:nvPr/>
                    </p:nvPicPr>
                    <p:blipFill>
                      <a:blip r:embed="rId6"/>
                      <a:srcRect/>
                      <a:stretch>
                        <a:fillRect/>
                      </a:stretch>
                    </p:blipFill>
                    <p:spPr bwMode="auto">
                      <a:xfrm>
                        <a:off x="301625" y="1866900"/>
                        <a:ext cx="914400" cy="84202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375413941"/>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p:cNvGraphicFramePr>
            <a:graphicFrameLocks noGrp="1"/>
          </p:cNvGraphicFramePr>
          <p:nvPr>
            <p:extLst>
              <p:ext uri="{D42A27DB-BD31-4B8C-83A1-F6EECF244321}">
                <p14:modId xmlns:p14="http://schemas.microsoft.com/office/powerpoint/2010/main" val="791211474"/>
              </p:ext>
            </p:extLst>
          </p:nvPr>
        </p:nvGraphicFramePr>
        <p:xfrm>
          <a:off x="790575" y="1341438"/>
          <a:ext cx="8502649" cy="5040315"/>
        </p:xfrm>
        <a:graphic>
          <a:graphicData uri="http://schemas.openxmlformats.org/drawingml/2006/table">
            <a:tbl>
              <a:tblPr firstRow="1" bandRow="1">
                <a:tableStyleId>{5C22544A-7EE6-4342-B048-85BDC9FD1C3A}</a:tableStyleId>
              </a:tblPr>
              <a:tblGrid>
                <a:gridCol w="1713621">
                  <a:extLst>
                    <a:ext uri="{9D8B030D-6E8A-4147-A177-3AD203B41FA5}">
                      <a16:colId xmlns:a16="http://schemas.microsoft.com/office/drawing/2014/main" val="20000"/>
                    </a:ext>
                  </a:extLst>
                </a:gridCol>
                <a:gridCol w="4608485">
                  <a:extLst>
                    <a:ext uri="{9D8B030D-6E8A-4147-A177-3AD203B41FA5}">
                      <a16:colId xmlns:a16="http://schemas.microsoft.com/office/drawing/2014/main" val="20001"/>
                    </a:ext>
                  </a:extLst>
                </a:gridCol>
                <a:gridCol w="2180543">
                  <a:extLst>
                    <a:ext uri="{9D8B030D-6E8A-4147-A177-3AD203B41FA5}">
                      <a16:colId xmlns:a16="http://schemas.microsoft.com/office/drawing/2014/main" val="20002"/>
                    </a:ext>
                  </a:extLst>
                </a:gridCol>
              </a:tblGrid>
              <a:tr h="720045">
                <a:tc>
                  <a:txBody>
                    <a:bodyPr/>
                    <a:lstStyle/>
                    <a:p>
                      <a:pPr algn="ctr" latinLnBrk="1"/>
                      <a:r>
                        <a:rPr lang="en-US" altLang="ko-KR" sz="1400" b="1" dirty="0" err="1">
                          <a:solidFill>
                            <a:schemeClr val="tx1"/>
                          </a:solidFill>
                          <a:latin typeface="Arial" pitchFamily="34" charset="0"/>
                          <a:cs typeface="Arial" pitchFamily="34" charset="0"/>
                        </a:rPr>
                        <a:t>Hạng</a:t>
                      </a:r>
                      <a:r>
                        <a:rPr lang="en-US" altLang="ko-KR" sz="1400" b="1" baseline="0" dirty="0">
                          <a:solidFill>
                            <a:schemeClr val="tx1"/>
                          </a:solidFill>
                          <a:latin typeface="Arial" pitchFamily="34" charset="0"/>
                          <a:cs typeface="Arial" pitchFamily="34" charset="0"/>
                        </a:rPr>
                        <a:t> </a:t>
                      </a:r>
                      <a:r>
                        <a:rPr lang="en-US" altLang="ko-KR" sz="1400" b="1" baseline="0" dirty="0" err="1">
                          <a:solidFill>
                            <a:schemeClr val="tx1"/>
                          </a:solidFill>
                          <a:latin typeface="Arial" pitchFamily="34" charset="0"/>
                          <a:cs typeface="Arial" pitchFamily="34" charset="0"/>
                        </a:rPr>
                        <a:t>mục</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en-US" altLang="ko-KR" sz="1400" b="1" dirty="0" err="1">
                          <a:solidFill>
                            <a:schemeClr val="tx1"/>
                          </a:solidFill>
                          <a:latin typeface="Arial" pitchFamily="34" charset="0"/>
                          <a:cs typeface="Arial" pitchFamily="34" charset="0"/>
                        </a:rPr>
                        <a:t>Mô</a:t>
                      </a:r>
                      <a:r>
                        <a:rPr lang="en-US" altLang="ko-KR" sz="1400" b="1" baseline="0" dirty="0">
                          <a:solidFill>
                            <a:schemeClr val="tx1"/>
                          </a:solidFill>
                          <a:latin typeface="Arial" pitchFamily="34" charset="0"/>
                          <a:cs typeface="Arial" pitchFamily="34" charset="0"/>
                        </a:rPr>
                        <a:t> </a:t>
                      </a:r>
                      <a:r>
                        <a:rPr lang="en-US" altLang="ko-KR" sz="1400" b="1" baseline="0" dirty="0" err="1">
                          <a:solidFill>
                            <a:schemeClr val="tx1"/>
                          </a:solidFill>
                          <a:latin typeface="Arial" pitchFamily="34" charset="0"/>
                          <a:cs typeface="Arial" pitchFamily="34" charset="0"/>
                        </a:rPr>
                        <a:t>tả</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en-US" altLang="ko-KR" sz="1400" b="1" dirty="0" err="1">
                          <a:solidFill>
                            <a:schemeClr val="tx1"/>
                          </a:solidFill>
                          <a:latin typeface="Arial" pitchFamily="34" charset="0"/>
                          <a:cs typeface="Arial" pitchFamily="34" charset="0"/>
                        </a:rPr>
                        <a:t>Lưu</a:t>
                      </a:r>
                      <a:r>
                        <a:rPr lang="en-US" altLang="ko-KR" sz="1400" b="1" baseline="0" dirty="0">
                          <a:solidFill>
                            <a:schemeClr val="tx1"/>
                          </a:solidFill>
                          <a:latin typeface="Arial" pitchFamily="34" charset="0"/>
                          <a:cs typeface="Arial" pitchFamily="34" charset="0"/>
                        </a:rPr>
                        <a:t> ý</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720045">
                <a:tc>
                  <a:txBody>
                    <a:bodyPr/>
                    <a:lstStyle/>
                    <a:p>
                      <a:pPr algn="ctr" latinLnBrk="1"/>
                      <a:r>
                        <a:rPr lang="en-US" altLang="ko-KR" sz="1200" b="1" dirty="0" err="1">
                          <a:solidFill>
                            <a:schemeClr val="tx1"/>
                          </a:solidFill>
                          <a:latin typeface="Arial" pitchFamily="34" charset="0"/>
                          <a:cs typeface="Arial" pitchFamily="34" charset="0"/>
                        </a:rPr>
                        <a:t>Tiêu</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chuẩn</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Loại</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Độ</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dài</a:t>
                      </a:r>
                      <a:r>
                        <a:rPr lang="en-US" altLang="ko-KR" sz="1200" b="1" baseline="0" dirty="0">
                          <a:solidFill>
                            <a:srgbClr val="7030A0"/>
                          </a:solidFill>
                          <a:latin typeface="Arial" pitchFamily="34" charset="0"/>
                          <a:cs typeface="Arial" pitchFamily="34" charset="0"/>
                        </a:rPr>
                        <a:t>, </a:t>
                      </a:r>
                      <a:r>
                        <a:rPr lang="en-US" altLang="ko-KR" sz="1200" b="1" dirty="0" err="1">
                          <a:solidFill>
                            <a:srgbClr val="7030A0"/>
                          </a:solidFill>
                          <a:latin typeface="Arial" pitchFamily="34" charset="0"/>
                          <a:cs typeface="Arial" pitchFamily="34" charset="0"/>
                        </a:rPr>
                        <a:t>Mục</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tiêu</a:t>
                      </a:r>
                      <a:r>
                        <a:rPr lang="en-US" altLang="ko-KR" sz="1200" b="1" dirty="0">
                          <a:solidFill>
                            <a:srgbClr val="7030A0"/>
                          </a:solidFill>
                          <a:latin typeface="Arial" pitchFamily="34" charset="0"/>
                          <a:cs typeface="Arial" pitchFamily="34" charset="0"/>
                        </a:rPr>
                        <a:t> : 16.5mm</a:t>
                      </a:r>
                    </a:p>
                    <a:p>
                      <a:pPr algn="l" latinLnBrk="1"/>
                      <a:r>
                        <a:rPr lang="en-US" altLang="ko-KR" sz="1200" b="1" dirty="0">
                          <a:solidFill>
                            <a:srgbClr val="7030A0"/>
                          </a:solidFill>
                          <a:latin typeface="Arial" pitchFamily="34" charset="0"/>
                          <a:ea typeface="맑은 고딕" pitchFamily="50" charset="-127"/>
                          <a:cs typeface="Arial" pitchFamily="34" charset="0"/>
                        </a:rPr>
                        <a:t>Dung </a:t>
                      </a:r>
                      <a:r>
                        <a:rPr lang="en-US" altLang="ko-KR" sz="1200" b="1" dirty="0" err="1">
                          <a:solidFill>
                            <a:srgbClr val="7030A0"/>
                          </a:solidFill>
                          <a:latin typeface="Arial" pitchFamily="34" charset="0"/>
                          <a:ea typeface="맑은 고딕" pitchFamily="50" charset="-127"/>
                          <a:cs typeface="Arial" pitchFamily="34" charset="0"/>
                        </a:rPr>
                        <a:t>sai</a:t>
                      </a:r>
                      <a:r>
                        <a:rPr lang="en-US" altLang="ko-KR" sz="1200" b="1" dirty="0">
                          <a:solidFill>
                            <a:srgbClr val="7030A0"/>
                          </a:solidFill>
                          <a:latin typeface="Arial" pitchFamily="34" charset="0"/>
                          <a:ea typeface="맑은 고딕" pitchFamily="50" charset="-127"/>
                          <a:cs typeface="Arial" pitchFamily="34" charset="0"/>
                        </a:rPr>
                        <a:t> : ±0.8 mm, </a:t>
                      </a:r>
                      <a:r>
                        <a:rPr lang="en-US" altLang="ko-KR" sz="1200" b="1" dirty="0" err="1">
                          <a:solidFill>
                            <a:srgbClr val="7030A0"/>
                          </a:solidFill>
                          <a:latin typeface="Arial" pitchFamily="34" charset="0"/>
                          <a:ea typeface="맑은 고딕" pitchFamily="50" charset="-127"/>
                          <a:cs typeface="Arial" pitchFamily="34" charset="0"/>
                        </a:rPr>
                        <a:t>độ</a:t>
                      </a:r>
                      <a:r>
                        <a:rPr lang="en-US" altLang="ko-KR" sz="1200" b="1" baseline="0" dirty="0">
                          <a:solidFill>
                            <a:srgbClr val="7030A0"/>
                          </a:solidFill>
                          <a:latin typeface="Arial" pitchFamily="34" charset="0"/>
                          <a:ea typeface="맑은 고딕" pitchFamily="50" charset="-127"/>
                          <a:cs typeface="Arial" pitchFamily="34" charset="0"/>
                        </a:rPr>
                        <a:t> </a:t>
                      </a:r>
                      <a:r>
                        <a:rPr lang="en-US" altLang="ko-KR" sz="1200" b="1" baseline="0" dirty="0" err="1">
                          <a:solidFill>
                            <a:srgbClr val="7030A0"/>
                          </a:solidFill>
                          <a:latin typeface="Arial" pitchFamily="34" charset="0"/>
                          <a:ea typeface="맑은 고딕" pitchFamily="50" charset="-127"/>
                          <a:cs typeface="Arial" pitchFamily="34" charset="0"/>
                        </a:rPr>
                        <a:t>lệch</a:t>
                      </a:r>
                      <a:r>
                        <a:rPr lang="en-US" altLang="ko-KR" sz="1200" b="1" baseline="0" dirty="0">
                          <a:solidFill>
                            <a:srgbClr val="7030A0"/>
                          </a:solidFill>
                          <a:latin typeface="Arial" pitchFamily="34" charset="0"/>
                          <a:ea typeface="맑은 고딕" pitchFamily="50" charset="-127"/>
                          <a:cs typeface="Arial" pitchFamily="34" charset="0"/>
                        </a:rPr>
                        <a:t> </a:t>
                      </a:r>
                      <a:r>
                        <a:rPr lang="en-US" altLang="ko-KR" sz="1200" b="1" baseline="0" dirty="0" err="1">
                          <a:solidFill>
                            <a:srgbClr val="7030A0"/>
                          </a:solidFill>
                          <a:latin typeface="Arial" pitchFamily="34" charset="0"/>
                          <a:ea typeface="맑은 고딕" pitchFamily="50" charset="-127"/>
                          <a:cs typeface="Arial" pitchFamily="34" charset="0"/>
                        </a:rPr>
                        <a:t>chuẩn</a:t>
                      </a:r>
                      <a:r>
                        <a:rPr lang="en-US" altLang="ko-KR" sz="1200" b="1" baseline="0" dirty="0">
                          <a:solidFill>
                            <a:srgbClr val="7030A0"/>
                          </a:solidFill>
                          <a:latin typeface="Arial" pitchFamily="34" charset="0"/>
                          <a:ea typeface="맑은 고딕" pitchFamily="50" charset="-127"/>
                          <a:cs typeface="Arial" pitchFamily="34" charset="0"/>
                        </a:rPr>
                        <a:t> </a:t>
                      </a:r>
                      <a:r>
                        <a:rPr lang="en-US" altLang="ko-KR" sz="1200" b="1" dirty="0">
                          <a:solidFill>
                            <a:srgbClr val="7030A0"/>
                          </a:solidFill>
                          <a:latin typeface="Arial" pitchFamily="34" charset="0"/>
                          <a:ea typeface="맑은 고딕" pitchFamily="50" charset="-127"/>
                          <a:cs typeface="Arial" pitchFamily="34" charset="0"/>
                        </a:rPr>
                        <a:t>(σ)</a:t>
                      </a:r>
                      <a:r>
                        <a:rPr lang="ko-KR" altLang="en-US" sz="1200" b="1" dirty="0">
                          <a:solidFill>
                            <a:srgbClr val="7030A0"/>
                          </a:solidFill>
                          <a:latin typeface="Arial" pitchFamily="34" charset="0"/>
                          <a:ea typeface="맑은 고딕" pitchFamily="50" charset="-127"/>
                          <a:cs typeface="Arial" pitchFamily="34" charset="0"/>
                        </a:rPr>
                        <a:t> </a:t>
                      </a:r>
                      <a:r>
                        <a:rPr lang="en-US" altLang="ko-KR" sz="1200" b="1" dirty="0">
                          <a:solidFill>
                            <a:srgbClr val="7030A0"/>
                          </a:solidFill>
                          <a:latin typeface="Arial" pitchFamily="34" charset="0"/>
                          <a:ea typeface="맑은 고딕" pitchFamily="50" charset="-127"/>
                          <a:cs typeface="Arial" pitchFamily="34" charset="0"/>
                        </a:rPr>
                        <a:t>: 0.35 mm</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Tham</a:t>
                      </a:r>
                      <a:r>
                        <a:rPr lang="en-US" altLang="ko-KR" sz="1200" b="1" dirty="0">
                          <a:solidFill>
                            <a:srgbClr val="7030A0"/>
                          </a:solidFill>
                          <a:latin typeface="Arial" pitchFamily="34" charset="0"/>
                          <a:cs typeface="Arial" pitchFamily="34" charset="0"/>
                        </a:rPr>
                        <a:t> </a:t>
                      </a:r>
                      <a:r>
                        <a:rPr lang="en-US" altLang="ko-KR" sz="1200" b="1" dirty="0" err="1">
                          <a:solidFill>
                            <a:srgbClr val="7030A0"/>
                          </a:solidFill>
                          <a:latin typeface="Arial" pitchFamily="34" charset="0"/>
                          <a:cs typeface="Arial" pitchFamily="34" charset="0"/>
                        </a:rPr>
                        <a:t>khảo</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biểu</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đồ</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720045">
                <a:tc>
                  <a:txBody>
                    <a:bodyPr/>
                    <a:lstStyle/>
                    <a:p>
                      <a:pPr algn="ctr" latinLnBrk="1"/>
                      <a:r>
                        <a:rPr lang="en-US" altLang="ko-KR" sz="1200" b="1" dirty="0" err="1">
                          <a:solidFill>
                            <a:schemeClr val="tx1"/>
                          </a:solidFill>
                          <a:latin typeface="Arial" pitchFamily="34" charset="0"/>
                          <a:cs typeface="Arial" pitchFamily="34" charset="0"/>
                        </a:rPr>
                        <a:t>Mẫu</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Tay</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lái</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xe</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đạp</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a:solidFill>
                            <a:srgbClr val="7030A0"/>
                          </a:solidFill>
                          <a:latin typeface="Arial" pitchFamily="34" charset="0"/>
                          <a:cs typeface="Arial" pitchFamily="34" charset="0"/>
                        </a:rPr>
                        <a:t>Vi </a:t>
                      </a:r>
                      <a:r>
                        <a:rPr lang="en-US" altLang="ko-KR" sz="1200" b="1" dirty="0" err="1">
                          <a:solidFill>
                            <a:srgbClr val="7030A0"/>
                          </a:solidFill>
                          <a:latin typeface="Arial" pitchFamily="34" charset="0"/>
                          <a:cs typeface="Arial" pitchFamily="34" charset="0"/>
                        </a:rPr>
                        <a:t>trí</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đo</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cần</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được</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làm</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rõ</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720045">
                <a:tc>
                  <a:txBody>
                    <a:bodyPr/>
                    <a:lstStyle/>
                    <a:p>
                      <a:pPr algn="ctr" latinLnBrk="1"/>
                      <a:r>
                        <a:rPr lang="en-US" altLang="ko-KR" sz="1200" b="1" dirty="0" err="1">
                          <a:solidFill>
                            <a:schemeClr val="tx1"/>
                          </a:solidFill>
                          <a:latin typeface="Arial" pitchFamily="34" charset="0"/>
                          <a:cs typeface="Arial" pitchFamily="34" charset="0"/>
                        </a:rPr>
                        <a:t>Dụng</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cụ</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Thước</a:t>
                      </a:r>
                      <a:r>
                        <a:rPr lang="en-US" altLang="ko-KR" sz="1200" b="1" dirty="0">
                          <a:solidFill>
                            <a:srgbClr val="7030A0"/>
                          </a:solidFill>
                          <a:latin typeface="Arial" pitchFamily="34" charset="0"/>
                          <a:cs typeface="Arial" pitchFamily="34" charset="0"/>
                        </a:rPr>
                        <a:t> </a:t>
                      </a:r>
                      <a:r>
                        <a:rPr lang="en-US" altLang="ko-KR" sz="1200" b="1" dirty="0" err="1">
                          <a:solidFill>
                            <a:srgbClr val="7030A0"/>
                          </a:solidFill>
                          <a:latin typeface="Arial" pitchFamily="34" charset="0"/>
                          <a:cs typeface="Arial" pitchFamily="34" charset="0"/>
                        </a:rPr>
                        <a:t>kẹp</a:t>
                      </a:r>
                      <a:r>
                        <a:rPr lang="en-US" altLang="ko-KR" sz="1200" b="1" dirty="0">
                          <a:solidFill>
                            <a:srgbClr val="7030A0"/>
                          </a:solidFill>
                          <a:latin typeface="Arial" pitchFamily="34" charset="0"/>
                          <a:cs typeface="Arial" pitchFamily="34" charset="0"/>
                        </a:rPr>
                        <a:t>, </a:t>
                      </a:r>
                      <a:r>
                        <a:rPr lang="en-US" altLang="ko-KR" sz="1200" b="1" dirty="0" err="1">
                          <a:solidFill>
                            <a:srgbClr val="7030A0"/>
                          </a:solidFill>
                          <a:latin typeface="Arial" pitchFamily="34" charset="0"/>
                          <a:cs typeface="Arial" pitchFamily="34" charset="0"/>
                        </a:rPr>
                        <a:t>chia</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độ</a:t>
                      </a:r>
                      <a:r>
                        <a:rPr lang="en-US" altLang="ko-KR" sz="1200" b="1" baseline="0" dirty="0">
                          <a:solidFill>
                            <a:srgbClr val="7030A0"/>
                          </a:solidFill>
                          <a:latin typeface="Arial" pitchFamily="34" charset="0"/>
                          <a:cs typeface="Arial" pitchFamily="34" charset="0"/>
                        </a:rPr>
                        <a:t> : 0.01mm</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Kiểm</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tra</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mức</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chia</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độ</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720045">
                <a:tc>
                  <a:txBody>
                    <a:bodyPr/>
                    <a:lstStyle/>
                    <a:p>
                      <a:pPr algn="ctr" latinLnBrk="1"/>
                      <a:r>
                        <a:rPr lang="en-US" altLang="ko-KR" sz="1200" b="1" dirty="0" err="1">
                          <a:solidFill>
                            <a:schemeClr val="tx1"/>
                          </a:solidFill>
                          <a:latin typeface="Arial" pitchFamily="34" charset="0"/>
                          <a:cs typeface="Arial" pitchFamily="34" charset="0"/>
                        </a:rPr>
                        <a:t>Người</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đo</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a:solidFill>
                            <a:srgbClr val="7030A0"/>
                          </a:solidFill>
                          <a:latin typeface="Arial" pitchFamily="34" charset="0"/>
                          <a:cs typeface="Arial" pitchFamily="34" charset="0"/>
                        </a:rPr>
                        <a:t>Hong Gil Dong </a:t>
                      </a:r>
                      <a:r>
                        <a:rPr lang="en-US" altLang="ko-KR" sz="1200" b="1" dirty="0" err="1">
                          <a:solidFill>
                            <a:srgbClr val="7030A0"/>
                          </a:solidFill>
                          <a:latin typeface="Arial" pitchFamily="34" charset="0"/>
                          <a:cs typeface="Arial" pitchFamily="34" charset="0"/>
                        </a:rPr>
                        <a:t>và</a:t>
                      </a:r>
                      <a:r>
                        <a:rPr lang="en-US" altLang="ko-KR" sz="1200" b="1" baseline="0" dirty="0">
                          <a:solidFill>
                            <a:srgbClr val="7030A0"/>
                          </a:solidFill>
                          <a:latin typeface="Arial" pitchFamily="34" charset="0"/>
                          <a:cs typeface="Arial" pitchFamily="34" charset="0"/>
                        </a:rPr>
                        <a:t> 2 </a:t>
                      </a:r>
                      <a:r>
                        <a:rPr lang="en-US" altLang="ko-KR" sz="1200" b="1" baseline="0" dirty="0" err="1">
                          <a:solidFill>
                            <a:srgbClr val="7030A0"/>
                          </a:solidFill>
                          <a:latin typeface="Arial" pitchFamily="34" charset="0"/>
                          <a:cs typeface="Arial" pitchFamily="34" charset="0"/>
                        </a:rPr>
                        <a:t>người</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bạn</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Người</a:t>
                      </a:r>
                      <a:r>
                        <a:rPr lang="en-US" altLang="ko-KR" sz="1200" b="1" dirty="0">
                          <a:solidFill>
                            <a:srgbClr val="7030A0"/>
                          </a:solidFill>
                          <a:latin typeface="Arial" pitchFamily="34" charset="0"/>
                          <a:cs typeface="Arial" pitchFamily="34" charset="0"/>
                        </a:rPr>
                        <a:t> </a:t>
                      </a:r>
                      <a:r>
                        <a:rPr lang="en-US" altLang="ko-KR" sz="1200" b="1" dirty="0" err="1">
                          <a:solidFill>
                            <a:srgbClr val="7030A0"/>
                          </a:solidFill>
                          <a:latin typeface="Arial" pitchFamily="34" charset="0"/>
                          <a:cs typeface="Arial" pitchFamily="34" charset="0"/>
                        </a:rPr>
                        <a:t>đo</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cần</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biết</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rõ</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cách</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đo</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lường</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720045">
                <a:tc>
                  <a:txBody>
                    <a:bodyPr/>
                    <a:lstStyle/>
                    <a:p>
                      <a:pPr algn="ctr" latinLnBrk="1"/>
                      <a:r>
                        <a:rPr lang="en-US" altLang="ko-KR" sz="1200" b="1" dirty="0" err="1">
                          <a:solidFill>
                            <a:schemeClr val="tx1"/>
                          </a:solidFill>
                          <a:latin typeface="Arial" pitchFamily="34" charset="0"/>
                          <a:cs typeface="Arial" pitchFamily="34" charset="0"/>
                        </a:rPr>
                        <a:t>Trình</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tự</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Đánh</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số</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mẫu</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và</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làm</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lần</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lượt</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theo</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thứ</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tự</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200" b="1" dirty="0" err="1">
                          <a:solidFill>
                            <a:srgbClr val="7030A0"/>
                          </a:solidFill>
                          <a:latin typeface="Arial" pitchFamily="34" charset="0"/>
                          <a:cs typeface="Arial" pitchFamily="34" charset="0"/>
                        </a:rPr>
                        <a:t>Thử</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nghiệm</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ngẫu</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nhiên</a:t>
                      </a:r>
                      <a:r>
                        <a:rPr lang="en-US" altLang="ko-KR" sz="1200" b="1" dirty="0">
                          <a:solidFill>
                            <a:srgbClr val="7030A0"/>
                          </a:solidFill>
                          <a:latin typeface="Arial" pitchFamily="34" charset="0"/>
                          <a:cs typeface="Arial" pitchFamily="34" charset="0"/>
                        </a:rPr>
                        <a:t>,</a:t>
                      </a:r>
                      <a:r>
                        <a:rPr lang="en-US" altLang="ko-KR" sz="1200" b="1" baseline="0" dirty="0">
                          <a:solidFill>
                            <a:srgbClr val="7030A0"/>
                          </a:solidFill>
                          <a:latin typeface="Arial" pitchFamily="34" charset="0"/>
                          <a:cs typeface="Arial" pitchFamily="34" charset="0"/>
                        </a:rPr>
                        <a:t> blind testing</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720045">
                <a:tc>
                  <a:txBody>
                    <a:bodyPr/>
                    <a:lstStyle/>
                    <a:p>
                      <a:pPr algn="ctr" latinLnBrk="1"/>
                      <a:r>
                        <a:rPr lang="en-US" altLang="ko-KR" sz="1200" b="1" dirty="0" err="1">
                          <a:solidFill>
                            <a:schemeClr val="tx1"/>
                          </a:solidFill>
                          <a:latin typeface="Arial" pitchFamily="34" charset="0"/>
                          <a:cs typeface="Arial" pitchFamily="34" charset="0"/>
                        </a:rPr>
                        <a:t>Môi</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trường</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Phòng</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thí</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nghiệm</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phòng</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thực</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nghiệm</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r>
                        <a:rPr lang="en-US" altLang="ko-KR" sz="1200" b="1" dirty="0" err="1">
                          <a:solidFill>
                            <a:srgbClr val="7030A0"/>
                          </a:solidFill>
                          <a:latin typeface="Arial" pitchFamily="34" charset="0"/>
                          <a:cs typeface="Arial" pitchFamily="34" charset="0"/>
                        </a:rPr>
                        <a:t>Nhiệt</a:t>
                      </a:r>
                      <a:r>
                        <a:rPr lang="en-US" altLang="ko-KR" sz="1200" b="1" dirty="0">
                          <a:solidFill>
                            <a:srgbClr val="7030A0"/>
                          </a:solidFill>
                          <a:latin typeface="Arial" pitchFamily="34" charset="0"/>
                          <a:cs typeface="Arial" pitchFamily="34" charset="0"/>
                        </a:rPr>
                        <a:t> </a:t>
                      </a:r>
                      <a:r>
                        <a:rPr lang="en-US" altLang="ko-KR" sz="1200" b="1" dirty="0" err="1">
                          <a:solidFill>
                            <a:srgbClr val="7030A0"/>
                          </a:solidFill>
                          <a:latin typeface="Arial" pitchFamily="34" charset="0"/>
                          <a:cs typeface="Arial" pitchFamily="34" charset="0"/>
                        </a:rPr>
                        <a:t>độ</a:t>
                      </a:r>
                      <a:r>
                        <a:rPr lang="en-US" altLang="ko-KR" sz="1200" b="1" dirty="0">
                          <a:solidFill>
                            <a:srgbClr val="7030A0"/>
                          </a:solidFill>
                          <a:latin typeface="Arial" pitchFamily="34" charset="0"/>
                          <a:cs typeface="Arial" pitchFamily="34" charset="0"/>
                        </a:rPr>
                        <a:t>,</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độ</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ẩm</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phải</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được</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kiểm</a:t>
                      </a:r>
                      <a:r>
                        <a:rPr lang="en-US" altLang="ko-KR" sz="1200" b="1" baseline="0" dirty="0">
                          <a:solidFill>
                            <a:srgbClr val="7030A0"/>
                          </a:solidFill>
                          <a:latin typeface="Arial" pitchFamily="34" charset="0"/>
                          <a:cs typeface="Arial" pitchFamily="34" charset="0"/>
                        </a:rPr>
                        <a:t> </a:t>
                      </a:r>
                      <a:r>
                        <a:rPr lang="en-US" altLang="ko-KR" sz="1200" b="1" baseline="0" dirty="0" err="1">
                          <a:solidFill>
                            <a:srgbClr val="7030A0"/>
                          </a:solidFill>
                          <a:latin typeface="Arial" pitchFamily="34" charset="0"/>
                          <a:cs typeface="Arial" pitchFamily="34" charset="0"/>
                        </a:rPr>
                        <a:t>soát</a:t>
                      </a:r>
                      <a:endParaRPr lang="ko-KR" altLang="en-US" sz="1200" b="1" dirty="0">
                        <a:solidFill>
                          <a:srgbClr val="7030A0"/>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sp>
        <p:nvSpPr>
          <p:cNvPr id="6" name="TextBox 5"/>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Ví</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dụ</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về</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hệ</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thống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đo</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400" b="1" kern="0" dirty="0">
                <a:solidFill>
                  <a:sysClr val="windowText" lastClr="000000"/>
                </a:solidFill>
                <a:latin typeface="Arial" pitchFamily="34" charset="0"/>
                <a:ea typeface="맑은 고딕" pitchFamily="50" charset="-127"/>
                <a:cs typeface="Arial" pitchFamily="34" charset="0"/>
              </a:rPr>
              <a:t> – </a:t>
            </a:r>
            <a:r>
              <a:rPr kumimoji="0" lang="en-US" altLang="ko-KR" sz="1400" b="1" kern="0" dirty="0" err="1">
                <a:solidFill>
                  <a:sysClr val="windowText" lastClr="000000"/>
                </a:solidFill>
                <a:latin typeface="Arial" pitchFamily="34" charset="0"/>
                <a:ea typeface="맑은 고딕" pitchFamily="50" charset="-127"/>
                <a:cs typeface="Arial" pitchFamily="34" charset="0"/>
              </a:rPr>
              <a:t>tay</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lái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xe</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đạp</a:t>
            </a:r>
            <a:endParaRPr kumimoji="0" lang="en-US" altLang="ko-KR" sz="1400" b="1" kern="0" dirty="0">
              <a:solidFill>
                <a:sysClr val="windowText" lastClr="000000"/>
              </a:solidFill>
              <a:latin typeface="Arial" pitchFamily="34" charset="0"/>
              <a:ea typeface="맑은 고딕" pitchFamily="50" charset="-127"/>
              <a:cs typeface="Arial" pitchFamily="34" charset="0"/>
            </a:endParaRP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199</a:t>
            </a:fld>
            <a:endParaRPr lang="ko-KR" altLang="en-US" dirty="0">
              <a:latin typeface="Arial" pitchFamily="34" charset="0"/>
              <a:cs typeface="Arial" pitchFamily="34" charset="0"/>
            </a:endParaRPr>
          </a:p>
        </p:txBody>
      </p:sp>
      <p:sp>
        <p:nvSpPr>
          <p:cNvPr id="7"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119154476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38188" y="1522413"/>
            <a:ext cx="8240712" cy="4692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Thực</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hành</a:t>
            </a:r>
            <a:r>
              <a:rPr kumimoji="0" lang="en-US" altLang="ko-KR" sz="1400" b="1" kern="0" dirty="0">
                <a:solidFill>
                  <a:sysClr val="windowText" lastClr="000000"/>
                </a:solidFill>
                <a:latin typeface="Arial" pitchFamily="34" charset="0"/>
                <a:ea typeface="맑은 고딕" pitchFamily="50" charset="-127"/>
                <a:cs typeface="Arial" pitchFamily="34" charset="0"/>
              </a:rPr>
              <a:t> Minitab</a:t>
            </a:r>
          </a:p>
        </p:txBody>
      </p:sp>
      <p:sp>
        <p:nvSpPr>
          <p:cNvPr id="8" name="Rectangle 31"/>
          <p:cNvSpPr>
            <a:spLocks noChangeArrowheads="1"/>
          </p:cNvSpPr>
          <p:nvPr/>
        </p:nvSpPr>
        <p:spPr bwMode="auto">
          <a:xfrm>
            <a:off x="722313" y="1122363"/>
            <a:ext cx="6075362" cy="336550"/>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solidFill>
                  <a:srgbClr val="000000"/>
                </a:solidFill>
                <a:latin typeface="Arial" pitchFamily="34" charset="0"/>
                <a:ea typeface="맑은 고딕" pitchFamily="50" charset="-127"/>
                <a:cs typeface="Arial" pitchFamily="34" charset="0"/>
              </a:rPr>
              <a:t>Stat  &gt; Quality Tools &gt;  Gage Study &gt; Gage R&amp;R Studies(Crossed)</a:t>
            </a:r>
          </a:p>
        </p:txBody>
      </p:sp>
      <p:pic>
        <p:nvPicPr>
          <p:cNvPr id="21512"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200</a:t>
            </a:fld>
            <a:endParaRPr lang="ko-KR" altLang="en-US" dirty="0">
              <a:latin typeface="Arial" pitchFamily="34" charset="0"/>
              <a:cs typeface="Arial" pitchFamily="34" charset="0"/>
            </a:endParaRPr>
          </a:p>
        </p:txBody>
      </p:sp>
      <p:sp>
        <p:nvSpPr>
          <p:cNvPr id="10"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407755600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20552" y="1484784"/>
            <a:ext cx="3445296" cy="18831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4" name="Picture 1"/>
          <p:cNvPicPr>
            <a:picLocks noChangeAspect="1" noChangeArrowheads="1"/>
          </p:cNvPicPr>
          <p:nvPr/>
        </p:nvPicPr>
        <p:blipFill rotWithShape="1">
          <a:blip r:embed="rId4" cstate="print">
            <a:extLst>
              <a:ext uri="{28A0092B-C50C-407E-A947-70E740481C1C}">
                <a14:useLocalDpi xmlns:a14="http://schemas.microsoft.com/office/drawing/2010/main"/>
              </a:ext>
            </a:extLst>
          </a:blip>
          <a:srcRect l="-204"/>
          <a:stretch/>
        </p:blipFill>
        <p:spPr bwMode="auto">
          <a:xfrm>
            <a:off x="963613" y="3222171"/>
            <a:ext cx="4275137" cy="1791154"/>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pic>
      <p:sp>
        <p:nvSpPr>
          <p:cNvPr id="23555" name="Text Box 2"/>
          <p:cNvSpPr txBox="1">
            <a:spLocks noChangeArrowheads="1"/>
          </p:cNvSpPr>
          <p:nvPr/>
        </p:nvSpPr>
        <p:spPr bwMode="auto">
          <a:xfrm>
            <a:off x="642938" y="1225550"/>
            <a:ext cx="14243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000000"/>
                </a:solidFill>
                <a:latin typeface="Arial" pitchFamily="34" charset="0"/>
                <a:ea typeface="맑은 고딕" pitchFamily="50" charset="-127"/>
                <a:cs typeface="Arial" pitchFamily="34" charset="0"/>
              </a:rPr>
              <a:t>(1)  </a:t>
            </a:r>
            <a:r>
              <a:rPr lang="en-US" altLang="ko-KR" sz="1200" b="1" dirty="0" err="1">
                <a:solidFill>
                  <a:srgbClr val="000000"/>
                </a:solidFill>
                <a:latin typeface="Arial" pitchFamily="34" charset="0"/>
                <a:ea typeface="맑은 고딕" pitchFamily="50" charset="-127"/>
                <a:cs typeface="Arial" pitchFamily="34" charset="0"/>
              </a:rPr>
              <a:t>Bảng</a:t>
            </a:r>
            <a:r>
              <a:rPr lang="en-US" altLang="ko-KR" sz="1200" b="1" dirty="0">
                <a:solidFill>
                  <a:srgbClr val="000000"/>
                </a:solidFill>
                <a:latin typeface="Arial" pitchFamily="34" charset="0"/>
                <a:ea typeface="맑은 고딕" pitchFamily="50" charset="-127"/>
                <a:cs typeface="Arial" pitchFamily="34" charset="0"/>
              </a:rPr>
              <a:t> ANOVA</a:t>
            </a:r>
          </a:p>
        </p:txBody>
      </p:sp>
      <p:sp>
        <p:nvSpPr>
          <p:cNvPr id="23556" name="Text Box 4"/>
          <p:cNvSpPr txBox="1">
            <a:spLocks noChangeArrowheads="1"/>
          </p:cNvSpPr>
          <p:nvPr/>
        </p:nvSpPr>
        <p:spPr bwMode="auto">
          <a:xfrm>
            <a:off x="5024438" y="1166813"/>
            <a:ext cx="2089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endParaRPr lang="ko-KR" altLang="ko-KR" sz="1200" b="1">
              <a:solidFill>
                <a:srgbClr val="000000"/>
              </a:solidFill>
              <a:latin typeface="Arial" pitchFamily="34" charset="0"/>
              <a:ea typeface="맑은 고딕" pitchFamily="50" charset="-127"/>
              <a:cs typeface="Arial" pitchFamily="34" charset="0"/>
            </a:endParaRPr>
          </a:p>
        </p:txBody>
      </p:sp>
      <p:sp>
        <p:nvSpPr>
          <p:cNvPr id="23557" name="Text Box 8"/>
          <p:cNvSpPr txBox="1">
            <a:spLocks noChangeArrowheads="1"/>
          </p:cNvSpPr>
          <p:nvPr/>
        </p:nvSpPr>
        <p:spPr bwMode="auto">
          <a:xfrm>
            <a:off x="976313" y="5612283"/>
            <a:ext cx="7721103" cy="498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r>
              <a:rPr lang="ko-KR" altLang="en-US"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Việc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chọn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mẫu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được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thực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hiện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đúng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như</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có</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vài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vấn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đề</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với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tiêu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chuẩn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lường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Điều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này</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cho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thấy</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dường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như</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người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thực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hiện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lấy</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số</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khác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nhau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của</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một</a:t>
            </a:r>
            <a:r>
              <a:rPr lang="en-US" altLang="ko-KR" sz="1200" b="1" dirty="0">
                <a:solidFill>
                  <a:srgbClr val="000000"/>
                </a:solidFill>
                <a:latin typeface="Arial" pitchFamily="34" charset="0"/>
                <a:ea typeface="맑은 고딕" pitchFamily="50" charset="-127"/>
                <a:cs typeface="Arial" pitchFamily="34" charset="0"/>
              </a:rPr>
              <a:t> part </a:t>
            </a:r>
            <a:r>
              <a:rPr lang="en-US" altLang="ko-KR" sz="1200" b="1" dirty="0" err="1">
                <a:solidFill>
                  <a:srgbClr val="000000"/>
                </a:solidFill>
                <a:latin typeface="Arial" pitchFamily="34" charset="0"/>
                <a:ea typeface="맑은 고딕" pitchFamily="50" charset="-127"/>
                <a:cs typeface="Arial" pitchFamily="34" charset="0"/>
              </a:rPr>
              <a:t>cụ</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thể</a:t>
            </a:r>
            <a:r>
              <a:rPr lang="en-US" altLang="ko-KR" sz="1200" b="1" dirty="0">
                <a:solidFill>
                  <a:srgbClr val="000000"/>
                </a:solidFill>
                <a:latin typeface="Arial" pitchFamily="34" charset="0"/>
                <a:ea typeface="맑은 고딕" pitchFamily="50" charset="-127"/>
                <a:cs typeface="Arial" pitchFamily="34" charset="0"/>
              </a:rPr>
              <a:t>.</a:t>
            </a:r>
          </a:p>
        </p:txBody>
      </p:sp>
      <p:sp>
        <p:nvSpPr>
          <p:cNvPr id="10" name="Text Box 3"/>
          <p:cNvSpPr txBox="1">
            <a:spLocks noChangeArrowheads="1"/>
          </p:cNvSpPr>
          <p:nvPr/>
        </p:nvSpPr>
        <p:spPr bwMode="auto">
          <a:xfrm>
            <a:off x="6404986" y="1122363"/>
            <a:ext cx="3214254" cy="1107996"/>
          </a:xfrm>
          <a:prstGeom prst="rect">
            <a:avLst/>
          </a:prstGeom>
          <a:noFill/>
          <a:ln w="9525" algn="ctr">
            <a:noFill/>
            <a:miter lim="800000"/>
            <a:headEnd/>
            <a:tailEnd/>
          </a:ln>
        </p:spPr>
        <p:txBody>
          <a:bodyPr wrap="square">
            <a:spAutoFit/>
          </a:bodyPr>
          <a:lstStyle/>
          <a:p>
            <a:pPr algn="ctr">
              <a:lnSpc>
                <a:spcPct val="110000"/>
              </a:lnSpc>
              <a:spcBef>
                <a:spcPts val="0"/>
              </a:spcBef>
              <a:defRPr/>
            </a:pPr>
            <a:r>
              <a:rPr lang="en-US" altLang="ko-KR" sz="1000" b="1" dirty="0" err="1">
                <a:solidFill>
                  <a:srgbClr val="FF0000"/>
                </a:solidFill>
                <a:latin typeface="Arial" pitchFamily="34" charset="0"/>
                <a:ea typeface="맑은 고딕" pitchFamily="50" charset="-127"/>
                <a:cs typeface="Arial" pitchFamily="34" charset="0"/>
              </a:rPr>
              <a:t>Diễn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giải</a:t>
            </a:r>
            <a:endParaRPr lang="ko-KR" altLang="en-US" sz="1000" b="1" dirty="0">
              <a:solidFill>
                <a:srgbClr val="FF0000"/>
              </a:solidFill>
              <a:latin typeface="Arial" pitchFamily="34" charset="0"/>
              <a:ea typeface="맑은 고딕" pitchFamily="50" charset="-127"/>
              <a:cs typeface="Arial" pitchFamily="34" charset="0"/>
            </a:endParaRPr>
          </a:p>
          <a:p>
            <a:pPr marL="228600" indent="-228600">
              <a:lnSpc>
                <a:spcPct val="110000"/>
              </a:lnSpc>
              <a:spcBef>
                <a:spcPts val="0"/>
              </a:spcBef>
              <a:buFontTx/>
              <a:buAutoNum type="arabicParenBoth"/>
              <a:defRPr/>
            </a:pPr>
            <a:r>
              <a:rPr lang="en-US" altLang="ko-KR" sz="1000" dirty="0">
                <a:solidFill>
                  <a:srgbClr val="000000"/>
                </a:solidFill>
                <a:latin typeface="Arial" pitchFamily="34" charset="0"/>
                <a:ea typeface="맑은 고딕" pitchFamily="50" charset="-127"/>
                <a:cs typeface="Arial" pitchFamily="34" charset="0"/>
              </a:rPr>
              <a:t>ANOVA </a:t>
            </a:r>
          </a:p>
          <a:p>
            <a:pPr marL="228600" indent="-228600">
              <a:lnSpc>
                <a:spcPct val="110000"/>
              </a:lnSpc>
              <a:spcBef>
                <a:spcPts val="0"/>
              </a:spcBef>
              <a:defRPr/>
            </a:pPr>
            <a:r>
              <a:rPr lang="en-US" altLang="ko-KR" sz="1000" dirty="0">
                <a:solidFill>
                  <a:srgbClr val="000000"/>
                </a:solidFill>
                <a:latin typeface="Arial" pitchFamily="34" charset="0"/>
                <a:ea typeface="맑은 고딕" pitchFamily="50" charset="-127"/>
                <a:cs typeface="Arial" pitchFamily="34" charset="0"/>
              </a:rPr>
              <a:t>   - </a:t>
            </a:r>
            <a:r>
              <a:rPr lang="en-US" altLang="ko-KR" sz="1000" dirty="0" err="1">
                <a:solidFill>
                  <a:srgbClr val="000000"/>
                </a:solidFill>
                <a:latin typeface="Arial" pitchFamily="34" charset="0"/>
                <a:ea typeface="맑은 고딕" pitchFamily="50" charset="-127"/>
                <a:cs typeface="Arial" pitchFamily="34" charset="0"/>
              </a:rPr>
              <a:t>Xác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định</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mỗi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nguyên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nhân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phương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sai</a:t>
            </a:r>
            <a:endParaRPr lang="en-US" altLang="ko-KR" sz="1000" dirty="0">
              <a:solidFill>
                <a:srgbClr val="000000"/>
              </a:solidFill>
              <a:latin typeface="Arial" pitchFamily="34" charset="0"/>
              <a:ea typeface="맑은 고딕" pitchFamily="50" charset="-127"/>
              <a:cs typeface="Arial" pitchFamily="34" charset="0"/>
            </a:endParaRPr>
          </a:p>
          <a:p>
            <a:pPr marL="228600" indent="-228600">
              <a:lnSpc>
                <a:spcPct val="110000"/>
              </a:lnSpc>
              <a:spcBef>
                <a:spcPts val="0"/>
              </a:spcBef>
              <a:defRPr/>
            </a:pPr>
            <a:r>
              <a:rPr lang="ko-KR" altLang="en-US" sz="1000" dirty="0">
                <a:solidFill>
                  <a:srgbClr val="000000"/>
                </a:solidFill>
                <a:latin typeface="Arial" pitchFamily="34" charset="0"/>
                <a:ea typeface="맑은 고딕" pitchFamily="50" charset="-127"/>
                <a:cs typeface="Arial" pitchFamily="34" charset="0"/>
              </a:rPr>
              <a:t>   </a:t>
            </a:r>
            <a:r>
              <a:rPr lang="en-US" altLang="ko-KR" sz="1000" dirty="0">
                <a:solidFill>
                  <a:srgbClr val="000000"/>
                </a:solidFill>
                <a:latin typeface="Arial" pitchFamily="34" charset="0"/>
                <a:ea typeface="맑은 고딕" pitchFamily="50" charset="-127"/>
                <a:cs typeface="Arial" pitchFamily="34" charset="0"/>
              </a:rPr>
              <a:t>-</a:t>
            </a:r>
            <a:r>
              <a:rPr lang="ko-KR" altLang="en-US"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Mục</a:t>
            </a:r>
            <a:r>
              <a:rPr lang="en-US" altLang="ko-KR" sz="1000" dirty="0">
                <a:solidFill>
                  <a:srgbClr val="000000"/>
                </a:solidFill>
                <a:latin typeface="Arial" pitchFamily="34" charset="0"/>
                <a:ea typeface="맑은 고딕" pitchFamily="50" charset="-127"/>
                <a:cs typeface="Arial" pitchFamily="34" charset="0"/>
              </a:rPr>
              <a:t> ‘Parts’ </a:t>
            </a:r>
            <a:r>
              <a:rPr lang="en-US" altLang="ko-KR" sz="1000" dirty="0" err="1">
                <a:solidFill>
                  <a:srgbClr val="000000"/>
                </a:solidFill>
                <a:latin typeface="Arial" pitchFamily="34" charset="0"/>
                <a:ea typeface="맑은 고딕" pitchFamily="50" charset="-127"/>
                <a:cs typeface="Arial" pitchFamily="34" charset="0"/>
              </a:rPr>
              <a:t>cần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endParaRPr lang="en-US" altLang="ko-KR" sz="1000" dirty="0">
              <a:solidFill>
                <a:srgbClr val="000000"/>
              </a:solidFill>
              <a:latin typeface="Arial" pitchFamily="34" charset="0"/>
              <a:ea typeface="맑은 고딕" pitchFamily="50" charset="-127"/>
              <a:cs typeface="Arial" pitchFamily="34" charset="0"/>
            </a:endParaRPr>
          </a:p>
          <a:p>
            <a:pPr>
              <a:lnSpc>
                <a:spcPct val="110000"/>
              </a:lnSpc>
              <a:spcBef>
                <a:spcPts val="0"/>
              </a:spcBef>
              <a:defRPr/>
            </a:pPr>
            <a:r>
              <a:rPr lang="en-US" altLang="ko-KR" sz="1000" dirty="0">
                <a:solidFill>
                  <a:srgbClr val="000000"/>
                </a:solidFill>
                <a:latin typeface="Arial" pitchFamily="34" charset="0"/>
                <a:ea typeface="맑은 고딕" pitchFamily="50" charset="-127"/>
                <a:cs typeface="Arial" pitchFamily="34" charset="0"/>
              </a:rPr>
              <a:t>   -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mục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endParaRPr lang="en-US" altLang="ko-KR" sz="1000" dirty="0">
              <a:solidFill>
                <a:srgbClr val="000000"/>
              </a:solidFill>
              <a:latin typeface="Arial" pitchFamily="34" charset="0"/>
              <a:ea typeface="맑은 고딕" pitchFamily="50" charset="-127"/>
              <a:cs typeface="Arial" pitchFamily="34" charset="0"/>
            </a:endParaRPr>
          </a:p>
        </p:txBody>
      </p:sp>
      <p:sp>
        <p:nvSpPr>
          <p:cNvPr id="15" name="자유형 14"/>
          <p:cNvSpPr/>
          <p:nvPr/>
        </p:nvSpPr>
        <p:spPr bwMode="auto">
          <a:xfrm rot="16200000">
            <a:off x="5066506" y="2386807"/>
            <a:ext cx="796925" cy="166688"/>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sz="1000" dirty="0">
              <a:solidFill>
                <a:srgbClr val="000000"/>
              </a:solidFill>
              <a:latin typeface="Arial" pitchFamily="34" charset="0"/>
              <a:ea typeface="맑은 고딕" pitchFamily="50" charset="-127"/>
              <a:cs typeface="Arial" pitchFamily="34" charset="0"/>
            </a:endParaRPr>
          </a:p>
        </p:txBody>
      </p:sp>
      <p:sp>
        <p:nvSpPr>
          <p:cNvPr id="23561" name="Rectangle 5"/>
          <p:cNvSpPr>
            <a:spLocks noChangeArrowheads="1"/>
          </p:cNvSpPr>
          <p:nvPr/>
        </p:nvSpPr>
        <p:spPr bwMode="auto">
          <a:xfrm>
            <a:off x="5637212" y="2327275"/>
            <a:ext cx="2124099" cy="309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thông</a:t>
            </a:r>
            <a:r>
              <a:rPr lang="en-US" altLang="ko-KR" sz="1000" dirty="0">
                <a:solidFill>
                  <a:srgbClr val="000000"/>
                </a:solidFill>
                <a:latin typeface="Arial" pitchFamily="34" charset="0"/>
                <a:ea typeface="맑은 고딕" pitchFamily="50" charset="-127"/>
                <a:cs typeface="Arial" pitchFamily="34" charset="0"/>
              </a:rPr>
              <a:t> tin Gage</a:t>
            </a:r>
            <a:endParaRPr lang="en-US" altLang="ko-KR" sz="1000" b="1" dirty="0">
              <a:solidFill>
                <a:srgbClr val="000000"/>
              </a:solidFill>
              <a:latin typeface="Arial" pitchFamily="34" charset="0"/>
              <a:ea typeface="맑은 고딕" pitchFamily="50" charset="-127"/>
              <a:cs typeface="Arial" pitchFamily="34" charset="0"/>
            </a:endParaRPr>
          </a:p>
        </p:txBody>
      </p:sp>
      <p:cxnSp>
        <p:nvCxnSpPr>
          <p:cNvPr id="18" name="직선 연결선 17"/>
          <p:cNvCxnSpPr/>
          <p:nvPr/>
        </p:nvCxnSpPr>
        <p:spPr bwMode="auto">
          <a:xfrm rot="5400000">
            <a:off x="5045075" y="3348038"/>
            <a:ext cx="641350" cy="36830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3563" name="Rectangle 5"/>
          <p:cNvSpPr>
            <a:spLocks noChangeArrowheads="1"/>
          </p:cNvSpPr>
          <p:nvPr/>
        </p:nvSpPr>
        <p:spPr bwMode="auto">
          <a:xfrm>
            <a:off x="5637213" y="3100898"/>
            <a:ext cx="42687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Part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0.000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Do </a:t>
            </a:r>
            <a:r>
              <a:rPr lang="en-US" altLang="ko-KR" sz="1000" dirty="0" err="1">
                <a:solidFill>
                  <a:srgbClr val="000000"/>
                </a:solidFill>
                <a:latin typeface="Arial" pitchFamily="34" charset="0"/>
                <a:ea typeface="맑은 고딕" pitchFamily="50" charset="-127"/>
                <a:cs typeface="Arial" pitchFamily="34" charset="0"/>
              </a:rPr>
              <a:t>đó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biệt</a:t>
            </a:r>
            <a:r>
              <a:rPr lang="en-US" altLang="ko-KR" sz="1000" dirty="0">
                <a:solidFill>
                  <a:srgbClr val="000000"/>
                </a:solidFill>
                <a:latin typeface="Arial" pitchFamily="34" charset="0"/>
                <a:ea typeface="맑은 고딕" pitchFamily="50" charset="-127"/>
                <a:cs typeface="Arial" pitchFamily="34" charset="0"/>
              </a:rPr>
              <a:t> Part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a:t>
            </a:r>
          </a:p>
        </p:txBody>
      </p:sp>
      <p:sp>
        <p:nvSpPr>
          <p:cNvPr id="23564" name="Rectangle 5"/>
          <p:cNvSpPr>
            <a:spLocks noChangeArrowheads="1"/>
          </p:cNvSpPr>
          <p:nvPr/>
        </p:nvSpPr>
        <p:spPr bwMode="auto">
          <a:xfrm>
            <a:off x="5637213" y="3837007"/>
            <a:ext cx="426878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Operator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0.931 </a:t>
            </a:r>
            <a:r>
              <a:rPr lang="en-US" altLang="ko-KR" sz="1000" dirty="0" err="1">
                <a:solidFill>
                  <a:srgbClr val="000000"/>
                </a:solidFill>
                <a:latin typeface="Arial" pitchFamily="34" charset="0"/>
                <a:ea typeface="맑은 고딕" pitchFamily="50" charset="-127"/>
                <a:cs typeface="Arial" pitchFamily="34" charset="0"/>
              </a:rPr>
              <a:t>cao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a:t>
            </a:r>
          </a:p>
          <a:p>
            <a:pPr eaLnBrk="1" hangingPunct="1"/>
            <a:r>
              <a:rPr lang="en-US" altLang="ko-KR" sz="1000" dirty="0">
                <a:solidFill>
                  <a:srgbClr val="000000"/>
                </a:solidFill>
                <a:latin typeface="Arial" pitchFamily="34" charset="0"/>
                <a:ea typeface="맑은 고딕" pitchFamily="50" charset="-127"/>
                <a:cs typeface="Arial" pitchFamily="34" charset="0"/>
              </a:rPr>
              <a:t>   </a:t>
            </a:r>
            <a:r>
              <a:rPr lang="en-US" altLang="ko-KR" sz="1000" dirty="0">
                <a:solidFill>
                  <a:srgbClr val="000000"/>
                </a:solidFill>
                <a:latin typeface="Arial" pitchFamily="34" charset="0"/>
                <a:ea typeface="맑은 고딕" pitchFamily="50" charset="-127"/>
                <a:cs typeface="Arial" pitchFamily="34" charset="0"/>
                <a:sym typeface="Wingdings" pitchFamily="2" charset="2"/>
              </a:rPr>
              <a: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Đây</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điều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bình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vì</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số</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nhau</a:t>
            </a:r>
            <a:endParaRPr lang="en-US" altLang="ko-KR" sz="1000" dirty="0">
              <a:solidFill>
                <a:srgbClr val="000000"/>
              </a:solidFill>
              <a:latin typeface="Arial" pitchFamily="34" charset="0"/>
              <a:ea typeface="맑은 고딕" pitchFamily="50" charset="-127"/>
              <a:cs typeface="Arial" pitchFamily="34" charset="0"/>
            </a:endParaRPr>
          </a:p>
        </p:txBody>
      </p:sp>
      <p:cxnSp>
        <p:nvCxnSpPr>
          <p:cNvPr id="24" name="직선 연결선 23"/>
          <p:cNvCxnSpPr/>
          <p:nvPr/>
        </p:nvCxnSpPr>
        <p:spPr bwMode="auto">
          <a:xfrm rot="10800000" flipV="1">
            <a:off x="5183188" y="4005263"/>
            <a:ext cx="328612"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3566" name="Rectangle 5"/>
          <p:cNvSpPr>
            <a:spLocks noChangeArrowheads="1"/>
          </p:cNvSpPr>
          <p:nvPr/>
        </p:nvSpPr>
        <p:spPr bwMode="auto">
          <a:xfrm>
            <a:off x="5637213" y="4576038"/>
            <a:ext cx="426878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Part * Operator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0.000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do </a:t>
            </a:r>
            <a:r>
              <a:rPr lang="en-US" altLang="ko-KR" sz="1000" dirty="0" err="1">
                <a:solidFill>
                  <a:srgbClr val="000000"/>
                </a:solidFill>
                <a:latin typeface="Arial" pitchFamily="34" charset="0"/>
                <a:ea typeface="맑은 고딕" pitchFamily="50" charset="-127"/>
                <a:cs typeface="Arial" pitchFamily="34" charset="0"/>
              </a:rPr>
              <a:t>đó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cần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cuộc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nghiên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cứu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bổ</a:t>
            </a:r>
            <a:r>
              <a:rPr lang="en-US" altLang="ko-KR" sz="1000" dirty="0">
                <a:solidFill>
                  <a:srgbClr val="000000"/>
                </a:solidFill>
                <a:latin typeface="Arial" pitchFamily="34" charset="0"/>
                <a:ea typeface="맑은 고딕" pitchFamily="50" charset="-127"/>
                <a:cs typeface="Arial" pitchFamily="34" charset="0"/>
              </a:rPr>
              <a:t> sung. </a:t>
            </a:r>
          </a:p>
          <a:p>
            <a:pPr eaLnBrk="1" hangingPunct="1"/>
            <a:r>
              <a:rPr lang="en-US" altLang="ko-KR" sz="1000" dirty="0">
                <a:solidFill>
                  <a:srgbClr val="000000"/>
                </a:solidFill>
                <a:latin typeface="Arial" pitchFamily="34" charset="0"/>
                <a:ea typeface="맑은 고딕" pitchFamily="50" charset="-127"/>
                <a:cs typeface="Arial" pitchFamily="34" charset="0"/>
              </a:rPr>
              <a:t>     </a:t>
            </a:r>
            <a:r>
              <a:rPr lang="en-US" altLang="ko-KR" sz="1000" dirty="0">
                <a:solidFill>
                  <a:srgbClr val="000000"/>
                </a:solidFill>
                <a:latin typeface="Arial" pitchFamily="34" charset="0"/>
                <a:ea typeface="맑은 고딕" pitchFamily="50" charset="-127"/>
                <a:cs typeface="Arial" pitchFamily="34" charset="0"/>
                <a:sym typeface="Wingdings" pitchFamily="2" charset="2"/>
              </a:rPr>
              <a: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Điều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tương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giữa</a:t>
            </a:r>
            <a:r>
              <a:rPr lang="en-US" altLang="ko-KR" sz="1000" dirty="0">
                <a:solidFill>
                  <a:srgbClr val="000000"/>
                </a:solidFill>
                <a:latin typeface="Arial" pitchFamily="34" charset="0"/>
                <a:ea typeface="맑은 고딕" pitchFamily="50" charset="-127"/>
                <a:cs typeface="Arial" pitchFamily="34" charset="0"/>
              </a:rPr>
              <a:t> Operator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Part </a:t>
            </a:r>
            <a:r>
              <a:rPr lang="en-US" altLang="ko-KR" sz="1000" dirty="0" err="1">
                <a:solidFill>
                  <a:srgbClr val="000000"/>
                </a:solidFill>
                <a:latin typeface="Arial" pitchFamily="34" charset="0"/>
                <a:ea typeface="맑은 고딕" pitchFamily="50" charset="-127"/>
                <a:cs typeface="Arial" pitchFamily="34" charset="0"/>
              </a:rPr>
              <a:t>dẫn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đến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việc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nhau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điều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này</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đòi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hỏi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cần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cải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tiến</a:t>
            </a:r>
            <a:r>
              <a:rPr lang="en-US" altLang="ko-KR" sz="1000" dirty="0">
                <a:solidFill>
                  <a:srgbClr val="000000"/>
                </a:solidFill>
                <a:latin typeface="Arial" pitchFamily="34" charset="0"/>
                <a:ea typeface="맑은 고딕" pitchFamily="50" charset="-127"/>
                <a:cs typeface="Arial" pitchFamily="34" charset="0"/>
              </a:rPr>
              <a:t>. </a:t>
            </a:r>
          </a:p>
        </p:txBody>
      </p:sp>
      <p:cxnSp>
        <p:nvCxnSpPr>
          <p:cNvPr id="28" name="직선 연결선 27"/>
          <p:cNvCxnSpPr/>
          <p:nvPr/>
        </p:nvCxnSpPr>
        <p:spPr bwMode="auto">
          <a:xfrm rot="16200000" flipV="1">
            <a:off x="5164138" y="4156075"/>
            <a:ext cx="461962" cy="427038"/>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pic>
        <p:nvPicPr>
          <p:cNvPr id="23571" name="Picture 67"/>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201</a:t>
            </a:fld>
            <a:endParaRPr lang="ko-KR" altLang="en-US" dirty="0">
              <a:latin typeface="Arial" pitchFamily="34" charset="0"/>
              <a:cs typeface="Arial" pitchFamily="34" charset="0"/>
            </a:endParaRPr>
          </a:p>
        </p:txBody>
      </p:sp>
      <p:sp>
        <p:nvSpPr>
          <p:cNvPr id="25" name="TextBox 24"/>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Thực</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hành</a:t>
            </a:r>
            <a:r>
              <a:rPr kumimoji="0" lang="en-US" altLang="ko-KR" sz="1400" b="1" kern="0" dirty="0">
                <a:solidFill>
                  <a:sysClr val="windowText" lastClr="000000"/>
                </a:solidFill>
                <a:latin typeface="Arial" pitchFamily="34" charset="0"/>
                <a:ea typeface="맑은 고딕" pitchFamily="50" charset="-127"/>
                <a:cs typeface="Arial" pitchFamily="34" charset="0"/>
              </a:rPr>
              <a:t> Minitab</a:t>
            </a:r>
          </a:p>
        </p:txBody>
      </p:sp>
      <p:sp>
        <p:nvSpPr>
          <p:cNvPr id="26"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972538526"/>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8" name="Picture 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92188" y="1628775"/>
            <a:ext cx="3748087" cy="1955800"/>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pic>
      <p:sp>
        <p:nvSpPr>
          <p:cNvPr id="24580" name="Rectangle 6"/>
          <p:cNvSpPr>
            <a:spLocks noChangeArrowheads="1"/>
          </p:cNvSpPr>
          <p:nvPr/>
        </p:nvSpPr>
        <p:spPr bwMode="auto">
          <a:xfrm>
            <a:off x="738188" y="1214438"/>
            <a:ext cx="2198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000000"/>
                </a:solidFill>
                <a:latin typeface="Arial" pitchFamily="34" charset="0"/>
                <a:ea typeface="맑은 고딕" pitchFamily="50" charset="-127"/>
                <a:cs typeface="Arial" pitchFamily="34" charset="0"/>
              </a:rPr>
              <a:t>(2) </a:t>
            </a:r>
            <a:r>
              <a:rPr lang="en-US" altLang="ko-KR" sz="1200" b="1" dirty="0" err="1">
                <a:solidFill>
                  <a:srgbClr val="000000"/>
                </a:solidFill>
                <a:latin typeface="Arial" pitchFamily="34" charset="0"/>
                <a:ea typeface="맑은 고딕" pitchFamily="50" charset="-127"/>
                <a:cs typeface="Arial" pitchFamily="34" charset="0"/>
              </a:rPr>
              <a:t>Thành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phần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Phương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sai</a:t>
            </a:r>
            <a:endParaRPr lang="en-US" altLang="ko-KR" sz="1200" b="1" dirty="0">
              <a:solidFill>
                <a:srgbClr val="000000"/>
              </a:solidFill>
              <a:latin typeface="Arial" pitchFamily="34" charset="0"/>
              <a:ea typeface="맑은 고딕" pitchFamily="50" charset="-127"/>
              <a:cs typeface="Arial" pitchFamily="34" charset="0"/>
            </a:endParaRPr>
          </a:p>
        </p:txBody>
      </p:sp>
      <p:sp>
        <p:nvSpPr>
          <p:cNvPr id="24581" name="Text Box 3"/>
          <p:cNvSpPr txBox="1">
            <a:spLocks noChangeArrowheads="1"/>
          </p:cNvSpPr>
          <p:nvPr/>
        </p:nvSpPr>
        <p:spPr bwMode="auto">
          <a:xfrm>
            <a:off x="5725536" y="1122363"/>
            <a:ext cx="4177290" cy="93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000" b="1" dirty="0" err="1">
                <a:solidFill>
                  <a:srgbClr val="FF0000"/>
                </a:solidFill>
                <a:latin typeface="Arial" pitchFamily="34" charset="0"/>
                <a:ea typeface="맑은 고딕" pitchFamily="50" charset="-127"/>
                <a:cs typeface="Arial" pitchFamily="34" charset="0"/>
              </a:rPr>
              <a:t>Diễn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giải</a:t>
            </a:r>
            <a:endParaRPr lang="ko-KR" altLang="en-US" sz="1000" b="1" dirty="0">
              <a:solidFill>
                <a:srgbClr val="FF0000"/>
              </a:solidFill>
              <a:latin typeface="Arial" pitchFamily="34" charset="0"/>
              <a:ea typeface="맑은 고딕" pitchFamily="50" charset="-127"/>
              <a:cs typeface="Arial" pitchFamily="34" charset="0"/>
            </a:endParaRPr>
          </a:p>
          <a:p>
            <a:pPr eaLnBrk="1" hangingPunct="1">
              <a:lnSpc>
                <a:spcPct val="110000"/>
              </a:lnSpc>
            </a:pPr>
            <a:r>
              <a:rPr lang="en-US" altLang="ko-KR" sz="1000" dirty="0">
                <a:solidFill>
                  <a:srgbClr val="000000"/>
                </a:solidFill>
                <a:latin typeface="Arial" pitchFamily="34" charset="0"/>
                <a:ea typeface="맑은 고딕" pitchFamily="50" charset="-127"/>
                <a:cs typeface="Arial" pitchFamily="34" charset="0"/>
              </a:rPr>
              <a:t>(2) </a:t>
            </a:r>
            <a:r>
              <a:rPr lang="en-US" sz="1000" dirty="0" err="1">
                <a:latin typeface="Arial" pitchFamily="34" charset="0"/>
                <a:cs typeface="Arial" pitchFamily="34" charset="0"/>
              </a:rPr>
              <a:t>Thành</a:t>
            </a:r>
            <a:r>
              <a:rPr lang="en-US" sz="1000" dirty="0">
                <a:latin typeface="Arial" pitchFamily="34" charset="0"/>
                <a:cs typeface="Arial" pitchFamily="34" charset="0"/>
              </a:rPr>
              <a:t> </a:t>
            </a:r>
            <a:r>
              <a:rPr lang="en-US" sz="1000" dirty="0" err="1">
                <a:latin typeface="Arial" pitchFamily="34" charset="0"/>
                <a:cs typeface="Arial" pitchFamily="34" charset="0"/>
              </a:rPr>
              <a:t>phần</a:t>
            </a:r>
            <a:r>
              <a:rPr lang="en-US" sz="1000" dirty="0">
                <a:latin typeface="Arial" pitchFamily="34" charset="0"/>
                <a:cs typeface="Arial" pitchFamily="34" charset="0"/>
              </a:rPr>
              <a:t> </a:t>
            </a:r>
            <a:r>
              <a:rPr lang="en-US" sz="1000" dirty="0" err="1">
                <a:latin typeface="Arial" pitchFamily="34" charset="0"/>
                <a:cs typeface="Arial" pitchFamily="34" charset="0"/>
              </a:rPr>
              <a:t>phương</a:t>
            </a:r>
            <a:r>
              <a:rPr lang="en-US" sz="1000" dirty="0">
                <a:latin typeface="Arial" pitchFamily="34" charset="0"/>
                <a:cs typeface="Arial" pitchFamily="34" charset="0"/>
              </a:rPr>
              <a:t> </a:t>
            </a:r>
            <a:r>
              <a:rPr lang="en-US" sz="1000" dirty="0" err="1">
                <a:latin typeface="Arial" pitchFamily="34" charset="0"/>
                <a:cs typeface="Arial" pitchFamily="34" charset="0"/>
              </a:rPr>
              <a:t>sai</a:t>
            </a:r>
            <a:br>
              <a:rPr lang="vi-VN" sz="1000" dirty="0">
                <a:latin typeface="Arial" pitchFamily="34" charset="0"/>
                <a:cs typeface="Arial" pitchFamily="34" charset="0"/>
              </a:rPr>
            </a:br>
            <a:r>
              <a:rPr lang="vi-VN" sz="1000" dirty="0">
                <a:latin typeface="Arial" pitchFamily="34" charset="0"/>
                <a:cs typeface="Arial" pitchFamily="34" charset="0"/>
              </a:rPr>
              <a:t>     - Nghiên cứu sự đóng góp của mỗi nguyên nhân </a:t>
            </a:r>
            <a:r>
              <a:rPr lang="en-US" sz="1000" dirty="0" err="1">
                <a:latin typeface="Arial" pitchFamily="34" charset="0"/>
                <a:cs typeface="Arial" pitchFamily="34" charset="0"/>
              </a:rPr>
              <a:t>biến</a:t>
            </a:r>
            <a:r>
              <a:rPr lang="en-US" sz="1000" dirty="0">
                <a:latin typeface="Arial" pitchFamily="34" charset="0"/>
                <a:cs typeface="Arial" pitchFamily="34" charset="0"/>
              </a:rPr>
              <a:t> </a:t>
            </a:r>
            <a:r>
              <a:rPr lang="en-US" sz="1000" dirty="0" err="1">
                <a:latin typeface="Arial" pitchFamily="34" charset="0"/>
                <a:cs typeface="Arial" pitchFamily="34" charset="0"/>
              </a:rPr>
              <a:t>đổi</a:t>
            </a:r>
            <a:br>
              <a:rPr lang="vi-VN" sz="1000" dirty="0">
                <a:latin typeface="Arial" pitchFamily="34" charset="0"/>
                <a:cs typeface="Arial" pitchFamily="34" charset="0"/>
              </a:rPr>
            </a:br>
            <a:r>
              <a:rPr lang="vi-VN" sz="1000" dirty="0">
                <a:latin typeface="Arial" pitchFamily="34" charset="0"/>
                <a:cs typeface="Arial" pitchFamily="34" charset="0"/>
              </a:rPr>
              <a:t>     - Đóng góp của các đặc điểm Gage phải là nhỏ,</a:t>
            </a:r>
            <a:br>
              <a:rPr lang="vi-VN" sz="1000" dirty="0">
                <a:latin typeface="Arial" pitchFamily="34" charset="0"/>
                <a:cs typeface="Arial" pitchFamily="34" charset="0"/>
              </a:rPr>
            </a:br>
            <a:r>
              <a:rPr lang="vi-VN" sz="1000" dirty="0">
                <a:latin typeface="Arial" pitchFamily="34" charset="0"/>
                <a:cs typeface="Arial" pitchFamily="34" charset="0"/>
              </a:rPr>
              <a:t>     - Đóng góp Part-to-</a:t>
            </a:r>
            <a:r>
              <a:rPr lang="en-US" sz="1000" dirty="0">
                <a:latin typeface="Arial" pitchFamily="34" charset="0"/>
                <a:cs typeface="Arial" pitchFamily="34" charset="0"/>
              </a:rPr>
              <a:t>Part</a:t>
            </a:r>
            <a:r>
              <a:rPr lang="vi-VN" sz="1000" dirty="0">
                <a:latin typeface="Arial" pitchFamily="34" charset="0"/>
                <a:cs typeface="Arial" pitchFamily="34" charset="0"/>
              </a:rPr>
              <a:t> phải lớn.</a:t>
            </a:r>
            <a:endParaRPr lang="en-US" altLang="ko-KR" sz="1000" dirty="0">
              <a:solidFill>
                <a:srgbClr val="000000"/>
              </a:solidFill>
              <a:latin typeface="Arial" pitchFamily="34" charset="0"/>
              <a:ea typeface="맑은 고딕" pitchFamily="50" charset="-127"/>
              <a:cs typeface="Arial" pitchFamily="34" charset="0"/>
            </a:endParaRPr>
          </a:p>
        </p:txBody>
      </p:sp>
      <p:sp>
        <p:nvSpPr>
          <p:cNvPr id="24582" name="Rectangle 5"/>
          <p:cNvSpPr>
            <a:spLocks noChangeArrowheads="1"/>
          </p:cNvSpPr>
          <p:nvPr/>
        </p:nvSpPr>
        <p:spPr bwMode="auto">
          <a:xfrm>
            <a:off x="952500" y="4258440"/>
            <a:ext cx="275908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Part-To-Part </a:t>
            </a:r>
            <a:r>
              <a:rPr lang="en-US" altLang="ko-KR" sz="1000" dirty="0" err="1">
                <a:solidFill>
                  <a:srgbClr val="000000"/>
                </a:solidFill>
                <a:latin typeface="Arial" pitchFamily="34" charset="0"/>
                <a:ea typeface="맑은 고딕" pitchFamily="50" charset="-127"/>
                <a:cs typeface="Arial" pitchFamily="34" charset="0"/>
              </a:rPr>
              <a:t>chiếm</a:t>
            </a:r>
            <a:r>
              <a:rPr lang="en-US" altLang="ko-KR" sz="1000" dirty="0">
                <a:solidFill>
                  <a:srgbClr val="000000"/>
                </a:solidFill>
                <a:latin typeface="Arial" pitchFamily="34" charset="0"/>
                <a:ea typeface="맑은 고딕" pitchFamily="50" charset="-127"/>
                <a:cs typeface="Arial" pitchFamily="34" charset="0"/>
              </a:rPr>
              <a:t> 99.46% </a:t>
            </a:r>
            <a:r>
              <a:rPr lang="en-US" altLang="ko-KR" sz="1000" dirty="0" err="1">
                <a:solidFill>
                  <a:srgbClr val="000000"/>
                </a:solidFill>
                <a:latin typeface="Arial" pitchFamily="34" charset="0"/>
                <a:ea typeface="맑은 고딕" pitchFamily="50" charset="-127"/>
                <a:cs typeface="Arial" pitchFamily="34" charset="0"/>
              </a:rPr>
              <a:t>tổng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chênh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lệch</a:t>
            </a:r>
            <a:endParaRPr lang="en-US" altLang="ko-KR" sz="1000" dirty="0">
              <a:solidFill>
                <a:srgbClr val="000000"/>
              </a:solidFill>
              <a:latin typeface="Arial" pitchFamily="34" charset="0"/>
              <a:ea typeface="맑은 고딕" pitchFamily="50" charset="-127"/>
              <a:cs typeface="Arial" pitchFamily="34" charset="0"/>
            </a:endParaRPr>
          </a:p>
          <a:p>
            <a:pPr eaLnBrk="1" hangingPunct="1"/>
            <a:r>
              <a:rPr lang="en-US" altLang="ko-KR" sz="1000" dirty="0">
                <a:solidFill>
                  <a:srgbClr val="000000"/>
                </a:solidFill>
                <a:latin typeface="Arial" pitchFamily="34" charset="0"/>
                <a:ea typeface="맑은 고딕" pitchFamily="50" charset="-127"/>
                <a:cs typeface="Arial" pitchFamily="34" charset="0"/>
              </a:rPr>
              <a:t>   </a:t>
            </a:r>
          </a:p>
        </p:txBody>
      </p:sp>
      <p:cxnSp>
        <p:nvCxnSpPr>
          <p:cNvPr id="14" name="직선 연결선 13"/>
          <p:cNvCxnSpPr/>
          <p:nvPr/>
        </p:nvCxnSpPr>
        <p:spPr bwMode="auto">
          <a:xfrm rot="10800000" flipV="1">
            <a:off x="4662488" y="2443163"/>
            <a:ext cx="330200"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4584" name="Rectangle 5"/>
          <p:cNvSpPr>
            <a:spLocks noChangeArrowheads="1"/>
          </p:cNvSpPr>
          <p:nvPr/>
        </p:nvSpPr>
        <p:spPr bwMode="auto">
          <a:xfrm>
            <a:off x="5035550" y="2308810"/>
            <a:ext cx="48704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Trong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toàn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bộ</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chênh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lệch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đóng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góp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Gage R&amp;R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0.54%. </a:t>
            </a:r>
            <a:r>
              <a:rPr lang="en-US" altLang="ko-KR" sz="1000" dirty="0" err="1">
                <a:solidFill>
                  <a:srgbClr val="000000"/>
                </a:solidFill>
                <a:latin typeface="Arial" pitchFamily="34" charset="0"/>
                <a:ea typeface="맑은 고딕" pitchFamily="50" charset="-127"/>
                <a:cs typeface="Arial" pitchFamily="34" charset="0"/>
              </a:rPr>
              <a:t>Đây</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tổng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Repeatability (0.20%)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Reproducibility (0.34%)</a:t>
            </a:r>
          </a:p>
        </p:txBody>
      </p:sp>
      <p:cxnSp>
        <p:nvCxnSpPr>
          <p:cNvPr id="20" name="꺾인 연결선 19"/>
          <p:cNvCxnSpPr>
            <a:endCxn id="24582" idx="1"/>
          </p:cNvCxnSpPr>
          <p:nvPr/>
        </p:nvCxnSpPr>
        <p:spPr bwMode="auto">
          <a:xfrm rot="16200000" flipH="1">
            <a:off x="209152" y="3715147"/>
            <a:ext cx="1258096" cy="228600"/>
          </a:xfrm>
          <a:prstGeom prst="bentConnector2">
            <a:avLst/>
          </a:prstGeom>
          <a:solidFill>
            <a:schemeClr val="accent1"/>
          </a:solidFill>
          <a:ln w="12700" cap="flat" cmpd="sng" algn="ctr">
            <a:solidFill>
              <a:schemeClr val="bg1">
                <a:lumMod val="50000"/>
              </a:schemeClr>
            </a:solidFill>
            <a:prstDash val="solid"/>
            <a:round/>
            <a:headEnd type="none" w="med" len="med"/>
            <a:tailEnd type="oval" w="med" len="med"/>
          </a:ln>
          <a:effectLst/>
        </p:spPr>
      </p:cxnSp>
      <p:cxnSp>
        <p:nvCxnSpPr>
          <p:cNvPr id="26" name="직선 연결선 25"/>
          <p:cNvCxnSpPr/>
          <p:nvPr/>
        </p:nvCxnSpPr>
        <p:spPr bwMode="auto">
          <a:xfrm flipV="1">
            <a:off x="723900" y="3181350"/>
            <a:ext cx="254000" cy="1905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24587" name="Rectangle 5"/>
          <p:cNvSpPr>
            <a:spLocks noChangeArrowheads="1"/>
          </p:cNvSpPr>
          <p:nvPr/>
        </p:nvSpPr>
        <p:spPr bwMode="auto">
          <a:xfrm>
            <a:off x="5035550" y="3199690"/>
            <a:ext cx="431881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Trong</a:t>
            </a:r>
            <a:r>
              <a:rPr lang="en-US" altLang="ko-KR" sz="1000" dirty="0">
                <a:solidFill>
                  <a:srgbClr val="000000"/>
                </a:solidFill>
                <a:latin typeface="Arial" pitchFamily="34" charset="0"/>
                <a:ea typeface="맑은 고딕" pitchFamily="50" charset="-127"/>
                <a:cs typeface="Arial" pitchFamily="34" charset="0"/>
                <a:sym typeface="Wingdings" pitchFamily="2" charset="2"/>
              </a:rPr>
              <a:t> Reproducibility (0.34%),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chênh</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lệch</a:t>
            </a:r>
            <a:r>
              <a:rPr lang="en-US" altLang="ko-KR" sz="1000" dirty="0">
                <a:solidFill>
                  <a:srgbClr val="000000"/>
                </a:solidFill>
                <a:latin typeface="Arial" pitchFamily="34" charset="0"/>
                <a:ea typeface="맑은 고딕" pitchFamily="50" charset="-127"/>
                <a:cs typeface="Arial" pitchFamily="34" charset="0"/>
                <a:sym typeface="Wingdings" pitchFamily="2" charset="2"/>
              </a:rPr>
              <a:t> do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tương</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tác</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Appraiser*Part </a:t>
            </a:r>
          </a:p>
          <a:p>
            <a:pPr eaLnBrk="1" hangingPunct="1"/>
            <a:r>
              <a:rPr lang="en-US" altLang="ko-KR" sz="1000" dirty="0">
                <a:solidFill>
                  <a:srgbClr val="000000"/>
                </a:solidFill>
                <a:latin typeface="Arial" pitchFamily="34" charset="0"/>
                <a:ea typeface="맑은 고딕" pitchFamily="50" charset="-127"/>
                <a:cs typeface="Arial" pitchFamily="34" charset="0"/>
                <a:sym typeface="Wingdings" pitchFamily="2" charset="2"/>
              </a:rPr>
              <a:t>  (0.34%)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lớn</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hơn</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chênh</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lệch</a:t>
            </a:r>
            <a:r>
              <a:rPr lang="en-US" altLang="ko-KR" sz="1000" dirty="0">
                <a:solidFill>
                  <a:srgbClr val="000000"/>
                </a:solidFill>
                <a:latin typeface="Arial" pitchFamily="34" charset="0"/>
                <a:ea typeface="맑은 고딕" pitchFamily="50" charset="-127"/>
                <a:cs typeface="Arial" pitchFamily="34" charset="0"/>
                <a:sym typeface="Wingdings" pitchFamily="2" charset="2"/>
              </a:rPr>
              <a:t> do Appraiser (Operator) (0.00%) </a:t>
            </a:r>
          </a:p>
          <a:p>
            <a:pPr eaLnBrk="1" hangingPunct="1"/>
            <a:r>
              <a:rPr lang="en-US" altLang="ko-KR" sz="1000" dirty="0">
                <a:solidFill>
                  <a:srgbClr val="000000"/>
                </a:solidFill>
                <a:latin typeface="Arial" pitchFamily="34" charset="0"/>
                <a:ea typeface="맑은 고딕" pitchFamily="50" charset="-127"/>
                <a:cs typeface="Arial" pitchFamily="34" charset="0"/>
                <a:sym typeface="Wingdings" pitchFamily="2" charset="2"/>
              </a:rPr>
              <a:t>    Appraiser*Part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cần</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kiêm</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tra</a:t>
            </a:r>
            <a:r>
              <a:rPr lang="en-US" altLang="ko-KR" sz="1000" dirty="0">
                <a:solidFill>
                  <a:srgbClr val="000000"/>
                </a:solidFill>
                <a:latin typeface="Arial" pitchFamily="34" charset="0"/>
                <a:ea typeface="맑은 고딕" pitchFamily="50" charset="-127"/>
                <a:cs typeface="Arial" pitchFamily="34" charset="0"/>
                <a:sym typeface="Wingdings" pitchFamily="2" charset="2"/>
              </a:rPr>
              <a:t> </a:t>
            </a:r>
            <a:r>
              <a:rPr lang="en-US" altLang="ko-KR" sz="1000" dirty="0" err="1">
                <a:solidFill>
                  <a:srgbClr val="000000"/>
                </a:solidFill>
                <a:latin typeface="Arial" pitchFamily="34" charset="0"/>
                <a:ea typeface="맑은 고딕" pitchFamily="50" charset="-127"/>
                <a:cs typeface="Arial" pitchFamily="34" charset="0"/>
                <a:sym typeface="Wingdings" pitchFamily="2" charset="2"/>
              </a:rPr>
              <a:t>lại</a:t>
            </a:r>
            <a:endParaRPr lang="en-US" altLang="ko-KR" sz="1000" dirty="0">
              <a:solidFill>
                <a:srgbClr val="000000"/>
              </a:solidFill>
              <a:latin typeface="Arial" pitchFamily="34" charset="0"/>
              <a:ea typeface="맑은 고딕" pitchFamily="50" charset="-127"/>
              <a:cs typeface="Arial" pitchFamily="34" charset="0"/>
            </a:endParaRPr>
          </a:p>
        </p:txBody>
      </p:sp>
      <p:cxnSp>
        <p:nvCxnSpPr>
          <p:cNvPr id="28" name="직선 연결선 27"/>
          <p:cNvCxnSpPr/>
          <p:nvPr/>
        </p:nvCxnSpPr>
        <p:spPr bwMode="auto">
          <a:xfrm rot="10800000">
            <a:off x="4662488" y="2797175"/>
            <a:ext cx="346075" cy="341313"/>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pic>
        <p:nvPicPr>
          <p:cNvPr id="24592"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202</a:t>
            </a:fld>
            <a:endParaRPr lang="ko-KR" altLang="en-US" dirty="0">
              <a:latin typeface="Arial" pitchFamily="34" charset="0"/>
              <a:cs typeface="Arial" pitchFamily="34" charset="0"/>
            </a:endParaRPr>
          </a:p>
        </p:txBody>
      </p:sp>
      <p:sp>
        <p:nvSpPr>
          <p:cNvPr id="17" name="TextBox 16"/>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Thực</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hành</a:t>
            </a:r>
            <a:r>
              <a:rPr kumimoji="0" lang="en-US" altLang="ko-KR" sz="1400" b="1" kern="0" dirty="0">
                <a:solidFill>
                  <a:sysClr val="windowText" lastClr="000000"/>
                </a:solidFill>
                <a:latin typeface="Arial" pitchFamily="34" charset="0"/>
                <a:ea typeface="맑은 고딕" pitchFamily="50" charset="-127"/>
                <a:cs typeface="Arial" pitchFamily="34" charset="0"/>
              </a:rPr>
              <a:t> Minitab</a:t>
            </a:r>
          </a:p>
        </p:txBody>
      </p:sp>
      <p:sp>
        <p:nvSpPr>
          <p:cNvPr id="21"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557877200"/>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63613" y="1700213"/>
            <a:ext cx="5991225" cy="1812925"/>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pic>
      <p:sp>
        <p:nvSpPr>
          <p:cNvPr id="25603" name="Rectangle 3"/>
          <p:cNvSpPr>
            <a:spLocks noChangeArrowheads="1"/>
          </p:cNvSpPr>
          <p:nvPr/>
        </p:nvSpPr>
        <p:spPr bwMode="auto">
          <a:xfrm>
            <a:off x="2030412" y="3567113"/>
            <a:ext cx="5082828" cy="466725"/>
          </a:xfrm>
          <a:prstGeom prst="rect">
            <a:avLst/>
          </a:prstGeom>
          <a:solidFill>
            <a:srgbClr val="FFFFFF"/>
          </a:solidFill>
          <a:ln w="9525" algn="ctr">
            <a:solidFill>
              <a:schemeClr val="bg2"/>
            </a:solidFill>
            <a:miter lim="800000"/>
            <a:headEnd/>
            <a:tailEnd/>
          </a:ln>
        </p:spPr>
        <p:txBody>
          <a:bodyPr wrap="squar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buFont typeface="Wingdings" pitchFamily="2" charset="2"/>
              <a:buChar char="§"/>
            </a:pPr>
            <a:r>
              <a:rPr lang="en-US" altLang="ko-KR" sz="1200" dirty="0">
                <a:solidFill>
                  <a:srgbClr val="000000"/>
                </a:solidFill>
                <a:latin typeface="Arial" pitchFamily="34" charset="0"/>
                <a:ea typeface="맑은 고딕" pitchFamily="50" charset="-127"/>
                <a:cs typeface="Arial" pitchFamily="34" charset="0"/>
              </a:rPr>
              <a:t> %Study Var. :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Gage R&amp;R </a:t>
            </a:r>
            <a:r>
              <a:rPr lang="en-US" altLang="ko-KR" sz="1200" dirty="0" err="1">
                <a:solidFill>
                  <a:srgbClr val="000000"/>
                </a:solidFill>
                <a:latin typeface="Arial" pitchFamily="34" charset="0"/>
                <a:ea typeface="맑은 고딕" pitchFamily="50" charset="-127"/>
                <a:cs typeface="Arial" pitchFamily="34" charset="0"/>
              </a:rPr>
              <a:t>là</a:t>
            </a:r>
            <a:r>
              <a:rPr lang="en-US" altLang="ko-KR" sz="1200" dirty="0">
                <a:solidFill>
                  <a:srgbClr val="000000"/>
                </a:solidFill>
                <a:latin typeface="Arial" pitchFamily="34" charset="0"/>
                <a:ea typeface="맑은 고딕" pitchFamily="50" charset="-127"/>
                <a:cs typeface="Arial" pitchFamily="34" charset="0"/>
              </a:rPr>
              <a:t> 7.36(%) </a:t>
            </a:r>
            <a:r>
              <a:rPr lang="en-US" altLang="ko-KR" sz="1200" dirty="0" err="1">
                <a:solidFill>
                  <a:srgbClr val="000000"/>
                </a:solidFill>
                <a:latin typeface="Arial" pitchFamily="34" charset="0"/>
                <a:ea typeface="맑은 고딕" pitchFamily="50" charset="-127"/>
                <a:cs typeface="Arial" pitchFamily="34" charset="0"/>
              </a:rPr>
              <a:t>trong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tổng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số</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nghiên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cứu</a:t>
            </a:r>
            <a:r>
              <a:rPr lang="en-US" altLang="ko-KR" sz="1200" dirty="0">
                <a:solidFill>
                  <a:srgbClr val="000000"/>
                </a:solidFill>
                <a:latin typeface="Arial" pitchFamily="34" charset="0"/>
                <a:ea typeface="맑은 고딕" pitchFamily="50" charset="-127"/>
                <a:cs typeface="Arial" pitchFamily="34" charset="0"/>
              </a:rPr>
              <a:t> &gt;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thể</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soát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quá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trình</a:t>
            </a:r>
            <a:endParaRPr lang="en-US" altLang="ko-KR" sz="1200" dirty="0">
              <a:solidFill>
                <a:srgbClr val="000000"/>
              </a:solidFill>
              <a:latin typeface="Arial" pitchFamily="34" charset="0"/>
              <a:ea typeface="맑은 고딕" pitchFamily="50" charset="-127"/>
              <a:cs typeface="Arial" pitchFamily="34" charset="0"/>
            </a:endParaRPr>
          </a:p>
        </p:txBody>
      </p:sp>
      <p:sp>
        <p:nvSpPr>
          <p:cNvPr id="25606" name="Text Box 6"/>
          <p:cNvSpPr txBox="1">
            <a:spLocks noChangeArrowheads="1"/>
          </p:cNvSpPr>
          <p:nvPr/>
        </p:nvSpPr>
        <p:spPr bwMode="auto">
          <a:xfrm>
            <a:off x="4502944" y="1203595"/>
            <a:ext cx="8821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800" dirty="0" err="1">
                <a:solidFill>
                  <a:srgbClr val="000000"/>
                </a:solidFill>
                <a:latin typeface="Arial" pitchFamily="34" charset="0"/>
                <a:ea typeface="맑은 고딕" pitchFamily="50" charset="-127"/>
                <a:cs typeface="Arial" pitchFamily="34" charset="0"/>
              </a:rPr>
              <a:t>Tỉ</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lệ</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chênh</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lệch</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nghiên</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cứu</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tổng</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thể</a:t>
            </a:r>
            <a:endParaRPr lang="ko-KR" altLang="en-US" sz="800" dirty="0">
              <a:solidFill>
                <a:srgbClr val="000000"/>
              </a:solidFill>
              <a:latin typeface="Arial" pitchFamily="34" charset="0"/>
              <a:ea typeface="맑은 고딕" pitchFamily="50" charset="-127"/>
              <a:cs typeface="Arial" pitchFamily="34" charset="0"/>
            </a:endParaRPr>
          </a:p>
        </p:txBody>
      </p:sp>
      <p:sp>
        <p:nvSpPr>
          <p:cNvPr id="25607" name="Text Box 7"/>
          <p:cNvSpPr txBox="1">
            <a:spLocks noChangeArrowheads="1"/>
          </p:cNvSpPr>
          <p:nvPr/>
        </p:nvSpPr>
        <p:spPr bwMode="auto">
          <a:xfrm>
            <a:off x="5283597" y="1264454"/>
            <a:ext cx="9080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800" dirty="0" err="1">
                <a:solidFill>
                  <a:srgbClr val="000000"/>
                </a:solidFill>
                <a:latin typeface="Arial" pitchFamily="34" charset="0"/>
                <a:ea typeface="맑은 고딕" pitchFamily="50" charset="-127"/>
                <a:cs typeface="Arial" pitchFamily="34" charset="0"/>
              </a:rPr>
              <a:t>Tỉ</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lệ</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giới</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hạn</a:t>
            </a:r>
            <a:r>
              <a:rPr lang="en-US" altLang="ko-KR" sz="800" dirty="0">
                <a:solidFill>
                  <a:srgbClr val="000000"/>
                </a:solidFill>
                <a:latin typeface="Arial" pitchFamily="34" charset="0"/>
                <a:ea typeface="맑은 고딕" pitchFamily="50" charset="-127"/>
                <a:cs typeface="Arial" pitchFamily="34" charset="0"/>
              </a:rPr>
              <a:t> dung </a:t>
            </a:r>
            <a:r>
              <a:rPr lang="en-US" altLang="ko-KR" sz="800" dirty="0" err="1">
                <a:solidFill>
                  <a:srgbClr val="000000"/>
                </a:solidFill>
                <a:latin typeface="Arial" pitchFamily="34" charset="0"/>
                <a:ea typeface="맑은 고딕" pitchFamily="50" charset="-127"/>
                <a:cs typeface="Arial" pitchFamily="34" charset="0"/>
              </a:rPr>
              <a:t>sai</a:t>
            </a:r>
            <a:endParaRPr lang="ko-KR" altLang="en-US" sz="800" dirty="0">
              <a:solidFill>
                <a:srgbClr val="000000"/>
              </a:solidFill>
              <a:latin typeface="Arial" pitchFamily="34" charset="0"/>
              <a:ea typeface="맑은 고딕" pitchFamily="50" charset="-127"/>
              <a:cs typeface="Arial" pitchFamily="34" charset="0"/>
            </a:endParaRPr>
          </a:p>
        </p:txBody>
      </p:sp>
      <p:sp>
        <p:nvSpPr>
          <p:cNvPr id="25608" name="Text Box 8"/>
          <p:cNvSpPr txBox="1">
            <a:spLocks noChangeArrowheads="1"/>
          </p:cNvSpPr>
          <p:nvPr/>
        </p:nvSpPr>
        <p:spPr bwMode="auto">
          <a:xfrm>
            <a:off x="6035814" y="1250283"/>
            <a:ext cx="11525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800" dirty="0">
                <a:solidFill>
                  <a:srgbClr val="000000"/>
                </a:solidFill>
                <a:latin typeface="Arial" pitchFamily="34" charset="0"/>
                <a:ea typeface="맑은 고딕" pitchFamily="50" charset="-127"/>
                <a:cs typeface="Arial" pitchFamily="34" charset="0"/>
              </a:rPr>
              <a:t>TỈ </a:t>
            </a:r>
            <a:r>
              <a:rPr lang="en-US" altLang="ko-KR" sz="800" dirty="0" err="1">
                <a:solidFill>
                  <a:srgbClr val="000000"/>
                </a:solidFill>
                <a:latin typeface="Arial" pitchFamily="34" charset="0"/>
                <a:ea typeface="맑은 고딕" pitchFamily="50" charset="-127"/>
                <a:cs typeface="Arial" pitchFamily="34" charset="0"/>
              </a:rPr>
              <a:t>lệ</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của</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chênh</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lệch</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quá</a:t>
            </a:r>
            <a:r>
              <a:rPr lang="en-US" altLang="ko-KR" sz="800" dirty="0">
                <a:solidFill>
                  <a:srgbClr val="000000"/>
                </a:solidFill>
                <a:latin typeface="Arial" pitchFamily="34" charset="0"/>
                <a:ea typeface="맑은 고딕" pitchFamily="50" charset="-127"/>
                <a:cs typeface="Arial" pitchFamily="34" charset="0"/>
              </a:rPr>
              <a:t> </a:t>
            </a:r>
            <a:r>
              <a:rPr lang="en-US" altLang="ko-KR" sz="800" dirty="0" err="1">
                <a:solidFill>
                  <a:srgbClr val="000000"/>
                </a:solidFill>
                <a:latin typeface="Arial" pitchFamily="34" charset="0"/>
                <a:ea typeface="맑은 고딕" pitchFamily="50" charset="-127"/>
                <a:cs typeface="Arial" pitchFamily="34" charset="0"/>
              </a:rPr>
              <a:t>trình</a:t>
            </a:r>
            <a:endParaRPr lang="ko-KR" altLang="en-US" sz="800" dirty="0">
              <a:solidFill>
                <a:srgbClr val="000000"/>
              </a:solidFill>
              <a:latin typeface="Arial" pitchFamily="34" charset="0"/>
              <a:ea typeface="맑은 고딕" pitchFamily="50" charset="-127"/>
              <a:cs typeface="Arial" pitchFamily="34" charset="0"/>
            </a:endParaRPr>
          </a:p>
        </p:txBody>
      </p:sp>
      <p:sp>
        <p:nvSpPr>
          <p:cNvPr id="25609" name="Rectangle 9"/>
          <p:cNvSpPr>
            <a:spLocks noChangeArrowheads="1"/>
          </p:cNvSpPr>
          <p:nvPr/>
        </p:nvSpPr>
        <p:spPr bwMode="auto">
          <a:xfrm>
            <a:off x="2030412" y="4092575"/>
            <a:ext cx="5082827" cy="465138"/>
          </a:xfrm>
          <a:prstGeom prst="rect">
            <a:avLst/>
          </a:prstGeom>
          <a:solidFill>
            <a:srgbClr val="FFFFFF"/>
          </a:solidFill>
          <a:ln w="9525" algn="ctr">
            <a:solidFill>
              <a:schemeClr val="bg2"/>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buFont typeface="Wingdings" pitchFamily="2" charset="2"/>
              <a:buChar char="§"/>
            </a:pPr>
            <a:r>
              <a:rPr lang="en-US" altLang="ko-KR" sz="1200" dirty="0">
                <a:solidFill>
                  <a:srgbClr val="000000"/>
                </a:solidFill>
                <a:latin typeface="Arial" pitchFamily="34" charset="0"/>
                <a:ea typeface="맑은 고딕" pitchFamily="50" charset="-127"/>
                <a:cs typeface="Arial" pitchFamily="34" charset="0"/>
              </a:rPr>
              <a:t> %Tolerance :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Gage R&amp;R </a:t>
            </a:r>
            <a:r>
              <a:rPr lang="en-US" altLang="ko-KR" sz="1200" dirty="0" err="1">
                <a:solidFill>
                  <a:srgbClr val="000000"/>
                </a:solidFill>
                <a:latin typeface="Arial" pitchFamily="34" charset="0"/>
                <a:ea typeface="맑은 고딕" pitchFamily="50" charset="-127"/>
                <a:cs typeface="Arial" pitchFamily="34" charset="0"/>
              </a:rPr>
              <a:t>là</a:t>
            </a:r>
            <a:r>
              <a:rPr lang="en-US" altLang="ko-KR" sz="1200" dirty="0">
                <a:solidFill>
                  <a:srgbClr val="000000"/>
                </a:solidFill>
                <a:latin typeface="Arial" pitchFamily="34" charset="0"/>
                <a:ea typeface="맑은 고딕" pitchFamily="50" charset="-127"/>
                <a:cs typeface="Arial" pitchFamily="34" charset="0"/>
              </a:rPr>
              <a:t> 7.59(%) </a:t>
            </a:r>
            <a:r>
              <a:rPr lang="en-US" altLang="ko-KR" sz="1200" dirty="0" err="1">
                <a:solidFill>
                  <a:srgbClr val="000000"/>
                </a:solidFill>
                <a:latin typeface="Arial" pitchFamily="34" charset="0"/>
                <a:ea typeface="맑은 고딕" pitchFamily="50" charset="-127"/>
                <a:cs typeface="Arial" pitchFamily="34" charset="0"/>
              </a:rPr>
              <a:t>của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giới</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hạn</a:t>
            </a:r>
            <a:r>
              <a:rPr lang="en-US" altLang="ko-KR" sz="1200" dirty="0">
                <a:solidFill>
                  <a:srgbClr val="000000"/>
                </a:solidFill>
                <a:latin typeface="Arial" pitchFamily="34" charset="0"/>
                <a:ea typeface="맑은 고딕" pitchFamily="50" charset="-127"/>
                <a:cs typeface="Arial" pitchFamily="34" charset="0"/>
              </a:rPr>
              <a:t> dung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a:t>
            </a:r>
          </a:p>
          <a:p>
            <a:pPr eaLnBrk="1" hangingPunct="1">
              <a:lnSpc>
                <a:spcPct val="110000"/>
              </a:lnSpc>
            </a:pPr>
            <a:r>
              <a:rPr lang="ko-KR" altLang="en-US" sz="1200" dirty="0">
                <a:solidFill>
                  <a:srgbClr val="000000"/>
                </a:solidFill>
                <a:latin typeface="Arial" pitchFamily="34" charset="0"/>
                <a:ea typeface="맑은 고딕" pitchFamily="50" charset="-127"/>
                <a:cs typeface="Arial" pitchFamily="34" charset="0"/>
              </a:rPr>
              <a:t>   </a:t>
            </a:r>
            <a:r>
              <a:rPr lang="en-US" altLang="ko-KR" sz="1200" dirty="0">
                <a:solidFill>
                  <a:srgbClr val="000000"/>
                </a:solidFill>
                <a:latin typeface="Arial" pitchFamily="34" charset="0"/>
                <a:ea typeface="맑은 고딕" pitchFamily="50" charset="-127"/>
                <a:cs typeface="Arial" pitchFamily="34" charset="0"/>
              </a:rPr>
              <a:t>&gt;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thể</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việc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ra</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quyết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định</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chấp</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nhận</a:t>
            </a:r>
            <a:r>
              <a:rPr lang="en-US" altLang="ko-KR" sz="1200" dirty="0">
                <a:solidFill>
                  <a:srgbClr val="000000"/>
                </a:solidFill>
                <a:latin typeface="Arial" pitchFamily="34" charset="0"/>
                <a:ea typeface="맑은 고딕" pitchFamily="50" charset="-127"/>
                <a:cs typeface="Arial" pitchFamily="34" charset="0"/>
              </a:rPr>
              <a:t>.</a:t>
            </a:r>
          </a:p>
        </p:txBody>
      </p:sp>
      <p:sp>
        <p:nvSpPr>
          <p:cNvPr id="25610" name="Rectangle 10"/>
          <p:cNvSpPr>
            <a:spLocks noChangeArrowheads="1"/>
          </p:cNvSpPr>
          <p:nvPr/>
        </p:nvSpPr>
        <p:spPr bwMode="auto">
          <a:xfrm>
            <a:off x="2030412" y="4622800"/>
            <a:ext cx="5082827" cy="463550"/>
          </a:xfrm>
          <a:prstGeom prst="rect">
            <a:avLst/>
          </a:prstGeom>
          <a:solidFill>
            <a:srgbClr val="FFFFFF"/>
          </a:solidFill>
          <a:ln w="9525" algn="ctr">
            <a:solidFill>
              <a:schemeClr val="bg2"/>
            </a:solidFill>
            <a:miter lim="800000"/>
            <a:headEnd/>
            <a:tailEnd/>
          </a:ln>
        </p:spPr>
        <p:txBody>
          <a:bodyPr wrap="squar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buFont typeface="Wingdings" pitchFamily="2" charset="2"/>
              <a:buChar char="§"/>
            </a:pPr>
            <a:r>
              <a:rPr lang="en-US" altLang="ko-KR" sz="1200" dirty="0">
                <a:solidFill>
                  <a:srgbClr val="000000"/>
                </a:solidFill>
                <a:latin typeface="Arial" pitchFamily="34" charset="0"/>
                <a:ea typeface="맑은 고딕" pitchFamily="50" charset="-127"/>
                <a:cs typeface="Arial" pitchFamily="34" charset="0"/>
              </a:rPr>
              <a:t> % Process: </a:t>
            </a:r>
            <a:r>
              <a:rPr lang="en-US" altLang="ko-KR" sz="1200" dirty="0" err="1">
                <a:solidFill>
                  <a:srgbClr val="000000"/>
                </a:solidFill>
                <a:latin typeface="Arial" pitchFamily="34" charset="0"/>
                <a:ea typeface="맑은 고딕" pitchFamily="50" charset="-127"/>
                <a:cs typeface="Arial" pitchFamily="34" charset="0"/>
              </a:rPr>
              <a:t>Phương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sai</a:t>
            </a:r>
            <a:r>
              <a:rPr lang="en-US" altLang="ko-KR" sz="1200" dirty="0">
                <a:solidFill>
                  <a:srgbClr val="000000"/>
                </a:solidFill>
                <a:latin typeface="Arial" pitchFamily="34" charset="0"/>
                <a:ea typeface="맑은 고딕" pitchFamily="50" charset="-127"/>
                <a:cs typeface="Arial" pitchFamily="34" charset="0"/>
              </a:rPr>
              <a:t> Gage R&amp;R </a:t>
            </a:r>
            <a:r>
              <a:rPr lang="en-US" altLang="ko-KR" sz="1200" dirty="0" err="1">
                <a:solidFill>
                  <a:srgbClr val="000000"/>
                </a:solidFill>
                <a:latin typeface="Arial" pitchFamily="34" charset="0"/>
                <a:ea typeface="맑은 고딕" pitchFamily="50" charset="-127"/>
                <a:cs typeface="Arial" pitchFamily="34" charset="0"/>
              </a:rPr>
              <a:t>là</a:t>
            </a:r>
            <a:r>
              <a:rPr lang="en-US" altLang="ko-KR" sz="1200" dirty="0">
                <a:solidFill>
                  <a:srgbClr val="000000"/>
                </a:solidFill>
                <a:latin typeface="Arial" pitchFamily="34" charset="0"/>
                <a:ea typeface="맑은 고딕" pitchFamily="50" charset="-127"/>
                <a:cs typeface="Arial" pitchFamily="34" charset="0"/>
              </a:rPr>
              <a:t> 6.73(%). &gt; </a:t>
            </a:r>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thể</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soát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quá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trình</a:t>
            </a:r>
            <a:endParaRPr lang="en-US" altLang="ko-KR" sz="1200" dirty="0">
              <a:solidFill>
                <a:srgbClr val="000000"/>
              </a:solidFill>
              <a:latin typeface="Arial" pitchFamily="34" charset="0"/>
              <a:ea typeface="맑은 고딕" pitchFamily="50" charset="-127"/>
              <a:cs typeface="Arial" pitchFamily="34" charset="0"/>
            </a:endParaRPr>
          </a:p>
        </p:txBody>
      </p:sp>
      <p:sp>
        <p:nvSpPr>
          <p:cNvPr id="25611" name="Rectangle 11"/>
          <p:cNvSpPr>
            <a:spLocks noChangeArrowheads="1"/>
          </p:cNvSpPr>
          <p:nvPr/>
        </p:nvSpPr>
        <p:spPr bwMode="auto">
          <a:xfrm>
            <a:off x="2030412" y="5143500"/>
            <a:ext cx="5082827" cy="465138"/>
          </a:xfrm>
          <a:prstGeom prst="rect">
            <a:avLst/>
          </a:prstGeom>
          <a:solidFill>
            <a:srgbClr val="FFFFFF"/>
          </a:solidFill>
          <a:ln w="9525" algn="ctr">
            <a:solidFill>
              <a:schemeClr val="bg2"/>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buFont typeface="Wingdings" pitchFamily="2" charset="2"/>
              <a:buChar char="§"/>
            </a:pPr>
            <a:r>
              <a:rPr lang="en-US" altLang="ko-KR" sz="1200" dirty="0">
                <a:solidFill>
                  <a:srgbClr val="000000"/>
                </a:solidFill>
                <a:latin typeface="Arial" pitchFamily="34" charset="0"/>
                <a:ea typeface="맑은 고딕" pitchFamily="50" charset="-127"/>
                <a:cs typeface="Arial" pitchFamily="34" charset="0"/>
              </a:rPr>
              <a:t> Number of Distinct Categories : </a:t>
            </a:r>
          </a:p>
          <a:p>
            <a:pPr eaLnBrk="1" hangingPunct="1">
              <a:lnSpc>
                <a:spcPct val="110000"/>
              </a:lnSpc>
            </a:pP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Lớn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hơn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giá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trị</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tiêu</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chuẩn</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là</a:t>
            </a:r>
            <a:r>
              <a:rPr lang="en-US" altLang="ko-KR" sz="1200" dirty="0">
                <a:solidFill>
                  <a:srgbClr val="000000"/>
                </a:solidFill>
                <a:latin typeface="Arial" pitchFamily="34" charset="0"/>
                <a:ea typeface="맑은 고딕" pitchFamily="50" charset="-127"/>
                <a:cs typeface="Arial" pitchFamily="34" charset="0"/>
              </a:rPr>
              <a:t> 5, </a:t>
            </a:r>
            <a:r>
              <a:rPr lang="en-US" altLang="ko-KR" sz="1200" dirty="0" err="1">
                <a:solidFill>
                  <a:srgbClr val="000000"/>
                </a:solidFill>
                <a:latin typeface="Arial" pitchFamily="34" charset="0"/>
                <a:ea typeface="맑은 고딕" pitchFamily="50" charset="-127"/>
                <a:cs typeface="Arial" pitchFamily="34" charset="0"/>
              </a:rPr>
              <a:t>nên</a:t>
            </a:r>
            <a:r>
              <a:rPr lang="en-US" altLang="ko-KR" sz="1200" dirty="0">
                <a:solidFill>
                  <a:srgbClr val="000000"/>
                </a:solidFill>
                <a:latin typeface="Arial" pitchFamily="34" charset="0"/>
                <a:ea typeface="맑은 고딕" pitchFamily="50" charset="-127"/>
                <a:cs typeface="Arial" pitchFamily="34" charset="0"/>
              </a:rPr>
              <a:t> Gage </a:t>
            </a:r>
            <a:r>
              <a:rPr lang="en-US" altLang="ko-KR" sz="1200" dirty="0" err="1">
                <a:solidFill>
                  <a:srgbClr val="000000"/>
                </a:solidFill>
                <a:latin typeface="Arial" pitchFamily="34" charset="0"/>
                <a:ea typeface="맑은 고딕" pitchFamily="50" charset="-127"/>
                <a:cs typeface="Arial" pitchFamily="34" charset="0"/>
              </a:rPr>
              <a:t>là</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phù</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hợp</a:t>
            </a:r>
            <a:endParaRPr lang="en-US" altLang="ko-KR" sz="1200" dirty="0">
              <a:solidFill>
                <a:srgbClr val="000000"/>
              </a:solidFill>
              <a:latin typeface="Arial" pitchFamily="34" charset="0"/>
              <a:ea typeface="맑은 고딕" pitchFamily="50" charset="-127"/>
              <a:cs typeface="Arial" pitchFamily="34" charset="0"/>
            </a:endParaRPr>
          </a:p>
        </p:txBody>
      </p:sp>
      <p:sp>
        <p:nvSpPr>
          <p:cNvPr id="12" name="Rectangle 12"/>
          <p:cNvSpPr>
            <a:spLocks noChangeArrowheads="1"/>
          </p:cNvSpPr>
          <p:nvPr/>
        </p:nvSpPr>
        <p:spPr bwMode="auto">
          <a:xfrm>
            <a:off x="989013" y="3567113"/>
            <a:ext cx="936625" cy="465137"/>
          </a:xfrm>
          <a:prstGeom prst="rect">
            <a:avLst/>
          </a:prstGeom>
          <a:solidFill>
            <a:srgbClr val="FFFFFF"/>
          </a:solidFill>
          <a:ln w="9525" algn="ctr">
            <a:solidFill>
              <a:schemeClr val="bg1">
                <a:lumMod val="50000"/>
              </a:schemeClr>
            </a:solidFill>
            <a:miter lim="800000"/>
            <a:headEnd/>
            <a:tailEnd/>
          </a:ln>
        </p:spPr>
        <p:txBody>
          <a:bodyPr wrap="none" anchor="ctr"/>
          <a:lstStyle/>
          <a:p>
            <a:pPr algn="ctr">
              <a:lnSpc>
                <a:spcPct val="110000"/>
              </a:lnSpc>
              <a:spcBef>
                <a:spcPts val="0"/>
              </a:spcBef>
              <a:defRPr/>
            </a:pPr>
            <a:r>
              <a:rPr lang="en-US" altLang="ko-KR" sz="1200" b="1" dirty="0">
                <a:solidFill>
                  <a:srgbClr val="000000"/>
                </a:solidFill>
                <a:latin typeface="Arial" pitchFamily="34" charset="0"/>
                <a:ea typeface="맑은 고딕" pitchFamily="50" charset="-127"/>
                <a:cs typeface="Arial" pitchFamily="34" charset="0"/>
              </a:rPr>
              <a:t>Possible</a:t>
            </a:r>
            <a:endParaRPr lang="ko-KR" altLang="en-US" sz="1200" b="1" dirty="0">
              <a:solidFill>
                <a:srgbClr val="000000"/>
              </a:solidFill>
              <a:latin typeface="Arial" pitchFamily="34" charset="0"/>
              <a:ea typeface="맑은 고딕" pitchFamily="50" charset="-127"/>
              <a:cs typeface="Arial" pitchFamily="34" charset="0"/>
            </a:endParaRPr>
          </a:p>
          <a:p>
            <a:pPr algn="ctr">
              <a:lnSpc>
                <a:spcPct val="110000"/>
              </a:lnSpc>
              <a:spcBef>
                <a:spcPts val="0"/>
              </a:spcBef>
              <a:defRPr/>
            </a:pPr>
            <a:r>
              <a:rPr lang="ko-KR" altLang="en-US" sz="1200" b="1" dirty="0">
                <a:solidFill>
                  <a:srgbClr val="000000"/>
                </a:solidFill>
                <a:latin typeface="Arial" pitchFamily="34" charset="0"/>
                <a:ea typeface="맑은 고딕" pitchFamily="50" charset="-127"/>
                <a:cs typeface="Arial" pitchFamily="34" charset="0"/>
              </a:rPr>
              <a:t>≤</a:t>
            </a:r>
            <a:r>
              <a:rPr lang="en-US" altLang="ko-KR" sz="1200" b="1" dirty="0">
                <a:solidFill>
                  <a:srgbClr val="000000"/>
                </a:solidFill>
                <a:latin typeface="Arial" pitchFamily="34" charset="0"/>
                <a:ea typeface="맑은 고딕" pitchFamily="50" charset="-127"/>
                <a:cs typeface="Arial" pitchFamily="34" charset="0"/>
              </a:rPr>
              <a:t> 10%</a:t>
            </a:r>
          </a:p>
        </p:txBody>
      </p:sp>
      <p:sp>
        <p:nvSpPr>
          <p:cNvPr id="13" name="Rectangle 13"/>
          <p:cNvSpPr>
            <a:spLocks noChangeArrowheads="1"/>
          </p:cNvSpPr>
          <p:nvPr/>
        </p:nvSpPr>
        <p:spPr bwMode="auto">
          <a:xfrm>
            <a:off x="989013" y="5143500"/>
            <a:ext cx="936625" cy="465138"/>
          </a:xfrm>
          <a:prstGeom prst="rect">
            <a:avLst/>
          </a:prstGeom>
          <a:solidFill>
            <a:srgbClr val="FFFFFF"/>
          </a:solidFill>
          <a:ln w="9525" algn="ctr">
            <a:solidFill>
              <a:schemeClr val="bg1">
                <a:lumMod val="50000"/>
              </a:schemeClr>
            </a:solidFill>
            <a:miter lim="800000"/>
            <a:headEnd/>
            <a:tailEnd/>
          </a:ln>
        </p:spPr>
        <p:txBody>
          <a:bodyPr wrap="none" anchor="ctr"/>
          <a:lstStyle/>
          <a:p>
            <a:pPr algn="ctr">
              <a:lnSpc>
                <a:spcPct val="110000"/>
              </a:lnSpc>
              <a:spcBef>
                <a:spcPts val="0"/>
              </a:spcBef>
              <a:defRPr/>
            </a:pPr>
            <a:r>
              <a:rPr lang="en-US" altLang="ko-KR" sz="1200" b="1" dirty="0">
                <a:solidFill>
                  <a:srgbClr val="000000"/>
                </a:solidFill>
                <a:latin typeface="Arial" pitchFamily="34" charset="0"/>
                <a:ea typeface="맑은 고딕" pitchFamily="50" charset="-127"/>
                <a:cs typeface="Arial" pitchFamily="34" charset="0"/>
              </a:rPr>
              <a:t>Possible</a:t>
            </a:r>
            <a:endParaRPr lang="ko-KR" altLang="en-US" sz="1200" b="1" dirty="0">
              <a:solidFill>
                <a:srgbClr val="000000"/>
              </a:solidFill>
              <a:latin typeface="Arial" pitchFamily="34" charset="0"/>
              <a:ea typeface="맑은 고딕" pitchFamily="50" charset="-127"/>
              <a:cs typeface="Arial" pitchFamily="34" charset="0"/>
            </a:endParaRPr>
          </a:p>
          <a:p>
            <a:pPr algn="ctr">
              <a:lnSpc>
                <a:spcPct val="110000"/>
              </a:lnSpc>
              <a:spcBef>
                <a:spcPts val="0"/>
              </a:spcBef>
              <a:defRPr/>
            </a:pPr>
            <a:r>
              <a:rPr lang="ko-KR" altLang="en-US" sz="1200" b="1" dirty="0">
                <a:solidFill>
                  <a:srgbClr val="000000"/>
                </a:solidFill>
                <a:latin typeface="Arial" pitchFamily="34" charset="0"/>
                <a:ea typeface="맑은 고딕" pitchFamily="50" charset="-127"/>
                <a:cs typeface="Arial" pitchFamily="34" charset="0"/>
              </a:rPr>
              <a:t>≥</a:t>
            </a:r>
            <a:r>
              <a:rPr lang="en-US" altLang="ko-KR" sz="1200" b="1" dirty="0">
                <a:solidFill>
                  <a:srgbClr val="000000"/>
                </a:solidFill>
                <a:latin typeface="Arial" pitchFamily="34" charset="0"/>
                <a:ea typeface="맑은 고딕" pitchFamily="50" charset="-127"/>
                <a:cs typeface="Arial" pitchFamily="34" charset="0"/>
              </a:rPr>
              <a:t> 5</a:t>
            </a:r>
          </a:p>
        </p:txBody>
      </p:sp>
      <p:sp>
        <p:nvSpPr>
          <p:cNvPr id="15" name="Rectangle 17"/>
          <p:cNvSpPr>
            <a:spLocks noChangeArrowheads="1"/>
          </p:cNvSpPr>
          <p:nvPr/>
        </p:nvSpPr>
        <p:spPr bwMode="auto">
          <a:xfrm>
            <a:off x="989013" y="4092575"/>
            <a:ext cx="936625" cy="465138"/>
          </a:xfrm>
          <a:prstGeom prst="rect">
            <a:avLst/>
          </a:prstGeom>
          <a:solidFill>
            <a:srgbClr val="FFFFFF"/>
          </a:solidFill>
          <a:ln w="9525" algn="ctr">
            <a:solidFill>
              <a:schemeClr val="bg1">
                <a:lumMod val="50000"/>
              </a:schemeClr>
            </a:solidFill>
            <a:miter lim="800000"/>
            <a:headEnd/>
            <a:tailEnd/>
          </a:ln>
        </p:spPr>
        <p:txBody>
          <a:bodyPr wrap="none" anchor="ctr"/>
          <a:lstStyle/>
          <a:p>
            <a:pPr algn="ctr">
              <a:lnSpc>
                <a:spcPct val="110000"/>
              </a:lnSpc>
              <a:spcBef>
                <a:spcPts val="0"/>
              </a:spcBef>
              <a:defRPr/>
            </a:pPr>
            <a:r>
              <a:rPr lang="en-US" altLang="ko-KR" sz="1200" b="1" dirty="0">
                <a:solidFill>
                  <a:srgbClr val="000000"/>
                </a:solidFill>
                <a:latin typeface="Arial" pitchFamily="34" charset="0"/>
                <a:ea typeface="맑은 고딕" pitchFamily="50" charset="-127"/>
                <a:cs typeface="Arial" pitchFamily="34" charset="0"/>
              </a:rPr>
              <a:t>Possible</a:t>
            </a:r>
            <a:endParaRPr lang="ko-KR" altLang="en-US" sz="1200" b="1" dirty="0">
              <a:solidFill>
                <a:srgbClr val="000000"/>
              </a:solidFill>
              <a:latin typeface="Arial" pitchFamily="34" charset="0"/>
              <a:ea typeface="맑은 고딕" pitchFamily="50" charset="-127"/>
              <a:cs typeface="Arial" pitchFamily="34" charset="0"/>
            </a:endParaRPr>
          </a:p>
          <a:p>
            <a:pPr algn="ctr">
              <a:lnSpc>
                <a:spcPct val="110000"/>
              </a:lnSpc>
              <a:spcBef>
                <a:spcPts val="0"/>
              </a:spcBef>
              <a:defRPr/>
            </a:pPr>
            <a:r>
              <a:rPr lang="ko-KR" altLang="en-US" sz="1200" b="1" dirty="0">
                <a:solidFill>
                  <a:srgbClr val="000000"/>
                </a:solidFill>
                <a:latin typeface="Arial" pitchFamily="34" charset="0"/>
                <a:ea typeface="맑은 고딕" pitchFamily="50" charset="-127"/>
                <a:cs typeface="Arial" pitchFamily="34" charset="0"/>
              </a:rPr>
              <a:t>≤</a:t>
            </a:r>
            <a:r>
              <a:rPr lang="en-US" altLang="ko-KR" sz="1200" b="1" dirty="0">
                <a:solidFill>
                  <a:srgbClr val="000000"/>
                </a:solidFill>
                <a:latin typeface="Arial" pitchFamily="34" charset="0"/>
                <a:ea typeface="맑은 고딕" pitchFamily="50" charset="-127"/>
                <a:cs typeface="Arial" pitchFamily="34" charset="0"/>
              </a:rPr>
              <a:t> 10%</a:t>
            </a:r>
          </a:p>
        </p:txBody>
      </p:sp>
      <p:sp>
        <p:nvSpPr>
          <p:cNvPr id="16" name="Rectangle 18"/>
          <p:cNvSpPr>
            <a:spLocks noChangeArrowheads="1"/>
          </p:cNvSpPr>
          <p:nvPr/>
        </p:nvSpPr>
        <p:spPr bwMode="auto">
          <a:xfrm>
            <a:off x="995363" y="4622800"/>
            <a:ext cx="936625" cy="463550"/>
          </a:xfrm>
          <a:prstGeom prst="rect">
            <a:avLst/>
          </a:prstGeom>
          <a:solidFill>
            <a:srgbClr val="FFFFFF"/>
          </a:solidFill>
          <a:ln w="9525" algn="ctr">
            <a:solidFill>
              <a:schemeClr val="bg1">
                <a:lumMod val="50000"/>
              </a:schemeClr>
            </a:solidFill>
            <a:miter lim="800000"/>
            <a:headEnd/>
            <a:tailEnd/>
          </a:ln>
        </p:spPr>
        <p:txBody>
          <a:bodyPr wrap="none" anchor="ctr"/>
          <a:lstStyle/>
          <a:p>
            <a:pPr algn="ctr">
              <a:lnSpc>
                <a:spcPct val="110000"/>
              </a:lnSpc>
              <a:spcBef>
                <a:spcPts val="0"/>
              </a:spcBef>
              <a:defRPr/>
            </a:pPr>
            <a:r>
              <a:rPr lang="en-US" altLang="ko-KR" sz="1200" b="1" dirty="0">
                <a:solidFill>
                  <a:srgbClr val="000000"/>
                </a:solidFill>
                <a:latin typeface="Arial" pitchFamily="34" charset="0"/>
                <a:ea typeface="맑은 고딕" pitchFamily="50" charset="-127"/>
                <a:cs typeface="Arial" pitchFamily="34" charset="0"/>
              </a:rPr>
              <a:t>Possible</a:t>
            </a:r>
            <a:endParaRPr lang="ko-KR" altLang="en-US" sz="1200" b="1" dirty="0">
              <a:solidFill>
                <a:srgbClr val="000000"/>
              </a:solidFill>
              <a:latin typeface="Arial" pitchFamily="34" charset="0"/>
              <a:ea typeface="맑은 고딕" pitchFamily="50" charset="-127"/>
              <a:cs typeface="Arial" pitchFamily="34" charset="0"/>
            </a:endParaRPr>
          </a:p>
          <a:p>
            <a:pPr algn="ctr">
              <a:lnSpc>
                <a:spcPct val="110000"/>
              </a:lnSpc>
              <a:spcBef>
                <a:spcPts val="0"/>
              </a:spcBef>
              <a:defRPr/>
            </a:pPr>
            <a:r>
              <a:rPr lang="ko-KR" altLang="en-US" sz="1200" b="1" dirty="0">
                <a:solidFill>
                  <a:srgbClr val="000000"/>
                </a:solidFill>
                <a:latin typeface="Arial" pitchFamily="34" charset="0"/>
                <a:ea typeface="맑은 고딕" pitchFamily="50" charset="-127"/>
                <a:cs typeface="Arial" pitchFamily="34" charset="0"/>
              </a:rPr>
              <a:t>≤</a:t>
            </a:r>
            <a:r>
              <a:rPr lang="en-US" altLang="ko-KR" sz="1200" b="1" dirty="0">
                <a:solidFill>
                  <a:srgbClr val="000000"/>
                </a:solidFill>
                <a:latin typeface="Arial" pitchFamily="34" charset="0"/>
                <a:ea typeface="맑은 고딕" pitchFamily="50" charset="-127"/>
                <a:cs typeface="Arial" pitchFamily="34" charset="0"/>
              </a:rPr>
              <a:t> 10%</a:t>
            </a:r>
          </a:p>
        </p:txBody>
      </p:sp>
      <p:pic>
        <p:nvPicPr>
          <p:cNvPr id="25617" name="Picture 43"/>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7381875" y="1974850"/>
            <a:ext cx="2346325" cy="2030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pic>
      <p:sp>
        <p:nvSpPr>
          <p:cNvPr id="25618" name="Rectangle 6"/>
          <p:cNvSpPr>
            <a:spLocks noChangeArrowheads="1"/>
          </p:cNvSpPr>
          <p:nvPr/>
        </p:nvSpPr>
        <p:spPr bwMode="auto">
          <a:xfrm>
            <a:off x="738188" y="1214438"/>
            <a:ext cx="22461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000000"/>
                </a:solidFill>
                <a:latin typeface="Arial" pitchFamily="34" charset="0"/>
                <a:ea typeface="맑은 고딕" pitchFamily="50" charset="-127"/>
                <a:cs typeface="Arial" pitchFamily="34" charset="0"/>
              </a:rPr>
              <a:t>(3) </a:t>
            </a:r>
            <a:r>
              <a:rPr lang="en-US" altLang="ko-KR" sz="1200" b="1" dirty="0" err="1">
                <a:solidFill>
                  <a:srgbClr val="000000"/>
                </a:solidFill>
                <a:latin typeface="Arial" pitchFamily="34" charset="0"/>
                <a:ea typeface="맑은 고딕" pitchFamily="50" charset="-127"/>
                <a:cs typeface="Arial" pitchFamily="34" charset="0"/>
              </a:rPr>
              <a:t>Các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đặc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điểm</a:t>
            </a:r>
            <a:r>
              <a:rPr lang="en-US" altLang="ko-KR" sz="1200" b="1" dirty="0">
                <a:solidFill>
                  <a:srgbClr val="000000"/>
                </a:solidFill>
                <a:latin typeface="Arial" pitchFamily="34" charset="0"/>
                <a:ea typeface="맑은 고딕" pitchFamily="50" charset="-127"/>
                <a:cs typeface="Arial" pitchFamily="34" charset="0"/>
              </a:rPr>
              <a:t> Gage R&amp;R</a:t>
            </a:r>
          </a:p>
        </p:txBody>
      </p:sp>
      <p:sp>
        <p:nvSpPr>
          <p:cNvPr id="25619" name="Text Box 3"/>
          <p:cNvSpPr txBox="1">
            <a:spLocks noChangeArrowheads="1"/>
          </p:cNvSpPr>
          <p:nvPr/>
        </p:nvSpPr>
        <p:spPr bwMode="auto">
          <a:xfrm>
            <a:off x="7132638" y="1192971"/>
            <a:ext cx="2770187"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000" b="1" dirty="0" err="1">
                <a:solidFill>
                  <a:srgbClr val="FF0000"/>
                </a:solidFill>
                <a:latin typeface="Arial" pitchFamily="34" charset="0"/>
                <a:ea typeface="맑은 고딕" pitchFamily="50" charset="-127"/>
                <a:cs typeface="Arial" pitchFamily="34" charset="0"/>
              </a:rPr>
              <a:t>Diễn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giải</a:t>
            </a:r>
            <a:endParaRPr lang="ko-KR" altLang="en-US" sz="1000" b="1" dirty="0">
              <a:solidFill>
                <a:srgbClr val="FF0000"/>
              </a:solidFill>
              <a:latin typeface="Arial" pitchFamily="34" charset="0"/>
              <a:ea typeface="맑은 고딕" pitchFamily="50" charset="-127"/>
              <a:cs typeface="Arial" pitchFamily="34" charset="0"/>
            </a:endParaRPr>
          </a:p>
          <a:p>
            <a:pPr eaLnBrk="1" hangingPunct="1">
              <a:lnSpc>
                <a:spcPct val="110000"/>
              </a:lnSpc>
            </a:pPr>
            <a:r>
              <a:rPr lang="en-US" altLang="ko-KR" sz="1000" dirty="0">
                <a:solidFill>
                  <a:srgbClr val="000000"/>
                </a:solidFill>
                <a:latin typeface="Arial" pitchFamily="34" charset="0"/>
                <a:ea typeface="맑은 고딕" pitchFamily="50" charset="-127"/>
                <a:cs typeface="Arial" pitchFamily="34" charset="0"/>
              </a:rPr>
              <a:t>(3)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đặc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điểm</a:t>
            </a:r>
            <a:r>
              <a:rPr lang="en-US" altLang="ko-KR" sz="1000" dirty="0">
                <a:solidFill>
                  <a:srgbClr val="000000"/>
                </a:solidFill>
                <a:latin typeface="Arial" pitchFamily="34" charset="0"/>
                <a:ea typeface="맑은 고딕" pitchFamily="50" charset="-127"/>
                <a:cs typeface="Arial" pitchFamily="34" charset="0"/>
              </a:rPr>
              <a:t> Gage R&amp;R</a:t>
            </a:r>
          </a:p>
          <a:p>
            <a:pPr eaLnBrk="1" hangingPunct="1">
              <a:lnSpc>
                <a:spcPct val="110000"/>
              </a:lnSpc>
            </a:pPr>
            <a:r>
              <a:rPr lang="en-US" altLang="ko-KR" sz="1000" dirty="0">
                <a:solidFill>
                  <a:srgbClr val="000000"/>
                </a:solidFill>
                <a:latin typeface="Arial" pitchFamily="34" charset="0"/>
                <a:ea typeface="맑은 고딕" pitchFamily="50" charset="-127"/>
                <a:cs typeface="Arial" pitchFamily="34" charset="0"/>
              </a:rPr>
              <a:t>      -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đặc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điểm</a:t>
            </a:r>
            <a:r>
              <a:rPr lang="en-US" altLang="ko-KR" sz="1000" dirty="0">
                <a:solidFill>
                  <a:srgbClr val="000000"/>
                </a:solidFill>
                <a:latin typeface="Arial" pitchFamily="34" charset="0"/>
                <a:ea typeface="맑은 고딕" pitchFamily="50" charset="-127"/>
                <a:cs typeface="Arial" pitchFamily="34" charset="0"/>
              </a:rPr>
              <a:t> Gage</a:t>
            </a:r>
            <a:endParaRPr lang="ko-KR" altLang="en-US" sz="1000" dirty="0">
              <a:solidFill>
                <a:srgbClr val="000000"/>
              </a:solidFill>
              <a:latin typeface="Arial" pitchFamily="34" charset="0"/>
              <a:ea typeface="맑은 고딕" pitchFamily="50" charset="-127"/>
              <a:cs typeface="Arial" pitchFamily="34" charset="0"/>
            </a:endParaRPr>
          </a:p>
          <a:p>
            <a:pPr eaLnBrk="1" hangingPunct="1">
              <a:lnSpc>
                <a:spcPct val="110000"/>
              </a:lnSpc>
            </a:pPr>
            <a:r>
              <a:rPr lang="ko-KR" altLang="en-US" sz="1000" dirty="0">
                <a:solidFill>
                  <a:srgbClr val="000000"/>
                </a:solidFill>
                <a:latin typeface="Arial" pitchFamily="34" charset="0"/>
                <a:ea typeface="맑은 고딕" pitchFamily="50" charset="-127"/>
                <a:cs typeface="Arial" pitchFamily="34" charset="0"/>
              </a:rPr>
              <a:t>      </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tuẩn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thủ</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tiêu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chuẩn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đưa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ra</a:t>
            </a:r>
            <a:endParaRPr lang="en-US" altLang="ko-KR" sz="1000" dirty="0">
              <a:solidFill>
                <a:srgbClr val="000000"/>
              </a:solidFill>
              <a:latin typeface="Arial" pitchFamily="34" charset="0"/>
              <a:ea typeface="맑은 고딕" pitchFamily="50" charset="-127"/>
              <a:cs typeface="Arial" pitchFamily="34" charset="0"/>
            </a:endParaRPr>
          </a:p>
        </p:txBody>
      </p:sp>
      <p:sp>
        <p:nvSpPr>
          <p:cNvPr id="27" name="Rectangle 13"/>
          <p:cNvSpPr>
            <a:spLocks noChangeArrowheads="1"/>
          </p:cNvSpPr>
          <p:nvPr/>
        </p:nvSpPr>
        <p:spPr bwMode="auto">
          <a:xfrm>
            <a:off x="989013" y="5675313"/>
            <a:ext cx="936625" cy="706015"/>
          </a:xfrm>
          <a:prstGeom prst="rect">
            <a:avLst/>
          </a:prstGeom>
          <a:solidFill>
            <a:srgbClr val="FFFFFF"/>
          </a:solidFill>
          <a:ln w="9525" algn="ctr">
            <a:solidFill>
              <a:schemeClr val="bg1">
                <a:lumMod val="50000"/>
              </a:schemeClr>
            </a:solidFill>
            <a:miter lim="800000"/>
            <a:headEnd/>
            <a:tailEnd/>
          </a:ln>
        </p:spPr>
        <p:txBody>
          <a:bodyPr wrap="none" anchor="ctr"/>
          <a:lstStyle/>
          <a:p>
            <a:pPr algn="ctr">
              <a:lnSpc>
                <a:spcPct val="110000"/>
              </a:lnSpc>
              <a:spcBef>
                <a:spcPts val="0"/>
              </a:spcBef>
              <a:defRPr/>
            </a:pPr>
            <a:r>
              <a:rPr lang="en-US" altLang="ko-KR" sz="1200" b="1" dirty="0" err="1">
                <a:solidFill>
                  <a:srgbClr val="000000"/>
                </a:solidFill>
                <a:latin typeface="Arial" pitchFamily="34" charset="0"/>
                <a:ea typeface="맑은 고딕" pitchFamily="50" charset="-127"/>
                <a:cs typeface="Arial" pitchFamily="34" charset="0"/>
              </a:rPr>
              <a:t>Kết</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luận</a:t>
            </a:r>
            <a:endParaRPr lang="en-US" altLang="ko-KR" sz="1200" b="1" dirty="0">
              <a:solidFill>
                <a:srgbClr val="000000"/>
              </a:solidFill>
              <a:latin typeface="Arial" pitchFamily="34" charset="0"/>
              <a:ea typeface="맑은 고딕" pitchFamily="50" charset="-127"/>
              <a:cs typeface="Arial" pitchFamily="34" charset="0"/>
            </a:endParaRPr>
          </a:p>
        </p:txBody>
      </p:sp>
      <p:sp>
        <p:nvSpPr>
          <p:cNvPr id="25621" name="Rectangle 11"/>
          <p:cNvSpPr>
            <a:spLocks noChangeArrowheads="1"/>
          </p:cNvSpPr>
          <p:nvPr/>
        </p:nvSpPr>
        <p:spPr bwMode="auto">
          <a:xfrm>
            <a:off x="2030412" y="5664200"/>
            <a:ext cx="5082827" cy="717128"/>
          </a:xfrm>
          <a:prstGeom prst="rect">
            <a:avLst/>
          </a:prstGeom>
          <a:solidFill>
            <a:srgbClr val="FFFFFF"/>
          </a:solidFill>
          <a:ln w="9525" algn="ctr">
            <a:solidFill>
              <a:schemeClr val="bg2"/>
            </a:solidFill>
            <a:miter lim="800000"/>
            <a:headEnd/>
            <a:tailEnd/>
          </a:ln>
        </p:spPr>
        <p:txBody>
          <a:bodyPr wrap="squar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err="1">
                <a:solidFill>
                  <a:srgbClr val="000000"/>
                </a:solidFill>
                <a:latin typeface="Arial" pitchFamily="34" charset="0"/>
                <a:ea typeface="맑은 고딕" pitchFamily="50" charset="-127"/>
                <a:cs typeface="Arial" pitchFamily="34" charset="0"/>
              </a:rPr>
              <a:t>Có</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thể</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được</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sử</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dụng</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cho</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kiểm</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soát</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quá</a:t>
            </a:r>
            <a:r>
              <a:rPr lang="en-US" altLang="ko-KR" sz="1200" dirty="0">
                <a:solidFill>
                  <a:srgbClr val="000000"/>
                </a:solidFill>
                <a:latin typeface="Arial" pitchFamily="34" charset="0"/>
                <a:ea typeface="맑은 고딕" pitchFamily="50" charset="-127"/>
                <a:cs typeface="Arial" pitchFamily="34" charset="0"/>
              </a:rPr>
              <a:t> </a:t>
            </a:r>
            <a:r>
              <a:rPr lang="en-US" altLang="ko-KR" sz="1200" dirty="0" err="1">
                <a:solidFill>
                  <a:srgbClr val="000000"/>
                </a:solidFill>
                <a:latin typeface="Arial" pitchFamily="34" charset="0"/>
                <a:ea typeface="맑은 고딕" pitchFamily="50" charset="-127"/>
                <a:cs typeface="Arial" pitchFamily="34" charset="0"/>
              </a:rPr>
              <a:t>trình</a:t>
            </a:r>
            <a:r>
              <a:rPr lang="en-US" altLang="ko-KR" sz="1200" dirty="0">
                <a:solidFill>
                  <a:srgbClr val="000000"/>
                </a:solidFill>
                <a:latin typeface="Arial" pitchFamily="34" charset="0"/>
                <a:ea typeface="맑은 고딕" pitchFamily="50" charset="-127"/>
                <a:cs typeface="Arial" pitchFamily="34" charset="0"/>
              </a:rPr>
              <a:t> </a:t>
            </a:r>
          </a:p>
        </p:txBody>
      </p:sp>
      <p:pic>
        <p:nvPicPr>
          <p:cNvPr id="25625" name="Picture 67"/>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203</a:t>
            </a:fld>
            <a:endParaRPr lang="ko-KR" altLang="en-US" dirty="0">
              <a:latin typeface="Arial" pitchFamily="34" charset="0"/>
              <a:cs typeface="Arial" pitchFamily="34" charset="0"/>
            </a:endParaRPr>
          </a:p>
        </p:txBody>
      </p:sp>
      <p:sp>
        <p:nvSpPr>
          <p:cNvPr id="29" name="TextBox 28"/>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Thực</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hành</a:t>
            </a:r>
            <a:r>
              <a:rPr kumimoji="0" lang="en-US" altLang="ko-KR" sz="1400" b="1" kern="0" dirty="0">
                <a:solidFill>
                  <a:sysClr val="windowText" lastClr="000000"/>
                </a:solidFill>
                <a:latin typeface="Arial" pitchFamily="34" charset="0"/>
                <a:ea typeface="맑은 고딕" pitchFamily="50" charset="-127"/>
                <a:cs typeface="Arial" pitchFamily="34" charset="0"/>
              </a:rPr>
              <a:t> Minitab</a:t>
            </a:r>
          </a:p>
        </p:txBody>
      </p:sp>
      <p:sp>
        <p:nvSpPr>
          <p:cNvPr id="30"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329935506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136650" y="1484313"/>
            <a:ext cx="4760913" cy="311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7" name="Oval 4"/>
          <p:cNvSpPr>
            <a:spLocks noChangeArrowheads="1"/>
          </p:cNvSpPr>
          <p:nvPr/>
        </p:nvSpPr>
        <p:spPr bwMode="auto">
          <a:xfrm>
            <a:off x="1271588" y="2346325"/>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A</a:t>
            </a:r>
          </a:p>
        </p:txBody>
      </p:sp>
      <p:sp>
        <p:nvSpPr>
          <p:cNvPr id="26628" name="Oval 5"/>
          <p:cNvSpPr>
            <a:spLocks noChangeArrowheads="1"/>
          </p:cNvSpPr>
          <p:nvPr/>
        </p:nvSpPr>
        <p:spPr bwMode="auto">
          <a:xfrm>
            <a:off x="1271588" y="3205163"/>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B</a:t>
            </a:r>
          </a:p>
        </p:txBody>
      </p:sp>
      <p:sp>
        <p:nvSpPr>
          <p:cNvPr id="26629" name="Oval 6"/>
          <p:cNvSpPr>
            <a:spLocks noChangeArrowheads="1"/>
          </p:cNvSpPr>
          <p:nvPr/>
        </p:nvSpPr>
        <p:spPr bwMode="auto">
          <a:xfrm>
            <a:off x="1271588" y="3971925"/>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C</a:t>
            </a:r>
          </a:p>
        </p:txBody>
      </p:sp>
      <p:sp>
        <p:nvSpPr>
          <p:cNvPr id="26630" name="Oval 7"/>
          <p:cNvSpPr>
            <a:spLocks noChangeArrowheads="1"/>
          </p:cNvSpPr>
          <p:nvPr/>
        </p:nvSpPr>
        <p:spPr bwMode="auto">
          <a:xfrm>
            <a:off x="3627438" y="2343150"/>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D</a:t>
            </a:r>
          </a:p>
        </p:txBody>
      </p:sp>
      <p:sp>
        <p:nvSpPr>
          <p:cNvPr id="26631" name="Oval 8"/>
          <p:cNvSpPr>
            <a:spLocks noChangeArrowheads="1"/>
          </p:cNvSpPr>
          <p:nvPr/>
        </p:nvSpPr>
        <p:spPr bwMode="auto">
          <a:xfrm>
            <a:off x="3627438" y="3201988"/>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E</a:t>
            </a:r>
          </a:p>
        </p:txBody>
      </p:sp>
      <p:sp>
        <p:nvSpPr>
          <p:cNvPr id="26632" name="Oval 9"/>
          <p:cNvSpPr>
            <a:spLocks noChangeArrowheads="1"/>
          </p:cNvSpPr>
          <p:nvPr/>
        </p:nvSpPr>
        <p:spPr bwMode="auto">
          <a:xfrm>
            <a:off x="3627438" y="3968750"/>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F</a:t>
            </a:r>
          </a:p>
        </p:txBody>
      </p:sp>
      <p:sp>
        <p:nvSpPr>
          <p:cNvPr id="11" name="Rectangle 11"/>
          <p:cNvSpPr>
            <a:spLocks noChangeArrowheads="1"/>
          </p:cNvSpPr>
          <p:nvPr/>
        </p:nvSpPr>
        <p:spPr bwMode="auto">
          <a:xfrm>
            <a:off x="1412875" y="4654550"/>
            <a:ext cx="4332288" cy="457200"/>
          </a:xfrm>
          <a:prstGeom prst="rect">
            <a:avLst/>
          </a:prstGeom>
          <a:solidFill>
            <a:schemeClr val="bg1"/>
          </a:solidFill>
          <a:ln w="9525" algn="ctr">
            <a:solidFill>
              <a:schemeClr val="bg1">
                <a:lumMod val="50000"/>
              </a:schemeClr>
            </a:solidFill>
            <a:miter lim="800000"/>
            <a:headEnd/>
            <a:tailEnd/>
          </a:ln>
        </p:spPr>
        <p:txBody>
          <a:bodyPr anchor="ctr"/>
          <a:lstStyle/>
          <a:p>
            <a:pPr marL="171450" indent="-171450">
              <a:spcBef>
                <a:spcPts val="0"/>
              </a:spcBef>
              <a:buFontTx/>
              <a:buChar char="-"/>
              <a:defRPr/>
            </a:pP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hiện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tỉ</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lệ</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phương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sai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mỗi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mục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liên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quan</a:t>
            </a:r>
            <a:r>
              <a:rPr lang="en-US" altLang="ko-KR" sz="1000" dirty="0">
                <a:solidFill>
                  <a:srgbClr val="000000"/>
                </a:solidFill>
                <a:latin typeface="Arial" pitchFamily="34" charset="0"/>
                <a:ea typeface="맑은 고딕" pitchFamily="50" charset="-127"/>
                <a:cs typeface="Arial" pitchFamily="34" charset="0"/>
              </a:rPr>
              <a:t>.</a:t>
            </a:r>
          </a:p>
          <a:p>
            <a:pPr marL="171450" indent="-171450">
              <a:spcBef>
                <a:spcPts val="0"/>
              </a:spcBef>
              <a:buFontTx/>
              <a:buChar char="-"/>
              <a:defRPr/>
            </a:pPr>
            <a:r>
              <a:rPr lang="en-US" altLang="ko-KR" sz="1000" dirty="0" err="1">
                <a:solidFill>
                  <a:srgbClr val="000000"/>
                </a:solidFill>
                <a:latin typeface="Arial" pitchFamily="34" charset="0"/>
                <a:ea typeface="맑은 고딕" pitchFamily="50" charset="-127"/>
                <a:cs typeface="Arial" pitchFamily="34" charset="0"/>
              </a:rPr>
              <a:t>Tỉ</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lệ</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Gage R&amp;R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Part-To-Part.</a:t>
            </a:r>
            <a:endParaRPr lang="ko-KR" altLang="en-US" sz="1000" dirty="0">
              <a:solidFill>
                <a:srgbClr val="000000"/>
              </a:solidFill>
              <a:latin typeface="Arial" pitchFamily="34" charset="0"/>
              <a:ea typeface="맑은 고딕" pitchFamily="50" charset="-127"/>
              <a:cs typeface="Arial" pitchFamily="34" charset="0"/>
            </a:endParaRPr>
          </a:p>
        </p:txBody>
      </p:sp>
      <p:sp>
        <p:nvSpPr>
          <p:cNvPr id="26634" name="Oval 12"/>
          <p:cNvSpPr>
            <a:spLocks noChangeArrowheads="1"/>
          </p:cNvSpPr>
          <p:nvPr/>
        </p:nvSpPr>
        <p:spPr bwMode="auto">
          <a:xfrm>
            <a:off x="1077913" y="4765675"/>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A</a:t>
            </a:r>
          </a:p>
        </p:txBody>
      </p:sp>
      <p:sp>
        <p:nvSpPr>
          <p:cNvPr id="13" name="Rectangle 13"/>
          <p:cNvSpPr>
            <a:spLocks noChangeArrowheads="1"/>
          </p:cNvSpPr>
          <p:nvPr/>
        </p:nvSpPr>
        <p:spPr bwMode="auto">
          <a:xfrm>
            <a:off x="1412875" y="5173663"/>
            <a:ext cx="4332288" cy="579437"/>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hiện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từng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endParaRPr lang="ko-KR" altLang="en-US" sz="1000" dirty="0">
              <a:solidFill>
                <a:srgbClr val="000000"/>
              </a:solidFill>
              <a:latin typeface="Arial" pitchFamily="34" charset="0"/>
              <a:ea typeface="맑은 고딕" pitchFamily="50" charset="-127"/>
              <a:cs typeface="Arial" pitchFamily="34" charset="0"/>
            </a:endParaRPr>
          </a:p>
          <a:p>
            <a:pPr>
              <a:spcBef>
                <a:spcPts val="0"/>
              </a:spcBef>
              <a:buFontTx/>
              <a:buChar char="-"/>
              <a:defRP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Tính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nhất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việc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năng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lặp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lại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được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Tất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cần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nằm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trong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phạm</a:t>
            </a:r>
            <a:r>
              <a:rPr lang="en-US" altLang="ko-KR" sz="1000" dirty="0">
                <a:solidFill>
                  <a:srgbClr val="000000"/>
                </a:solidFill>
                <a:latin typeface="Arial" pitchFamily="34" charset="0"/>
                <a:ea typeface="맑은 고딕" pitchFamily="50" charset="-127"/>
                <a:cs typeface="Arial" pitchFamily="34" charset="0"/>
              </a:rPr>
              <a:t> vi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soát</a:t>
            </a:r>
            <a:r>
              <a:rPr lang="en-US" altLang="ko-KR" sz="1000" dirty="0">
                <a:solidFill>
                  <a:srgbClr val="000000"/>
                </a:solidFill>
                <a:latin typeface="Arial" pitchFamily="34" charset="0"/>
                <a:ea typeface="맑은 고딕" pitchFamily="50" charset="-127"/>
                <a:cs typeface="Arial" pitchFamily="34" charset="0"/>
              </a:rPr>
              <a:t>.</a:t>
            </a:r>
            <a:endParaRPr lang="ko-KR" altLang="en-US" sz="1000" dirty="0">
              <a:solidFill>
                <a:srgbClr val="000000"/>
              </a:solidFill>
              <a:latin typeface="Arial" pitchFamily="34" charset="0"/>
              <a:ea typeface="맑은 고딕" pitchFamily="50" charset="-127"/>
              <a:cs typeface="Arial" pitchFamily="34" charset="0"/>
            </a:endParaRPr>
          </a:p>
        </p:txBody>
      </p:sp>
      <p:sp>
        <p:nvSpPr>
          <p:cNvPr id="26636" name="Oval 14"/>
          <p:cNvSpPr>
            <a:spLocks noChangeArrowheads="1"/>
          </p:cNvSpPr>
          <p:nvPr/>
        </p:nvSpPr>
        <p:spPr bwMode="auto">
          <a:xfrm>
            <a:off x="1065213" y="5354638"/>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B</a:t>
            </a:r>
          </a:p>
        </p:txBody>
      </p:sp>
      <p:sp>
        <p:nvSpPr>
          <p:cNvPr id="15" name="Rectangle 15"/>
          <p:cNvSpPr>
            <a:spLocks noChangeArrowheads="1"/>
          </p:cNvSpPr>
          <p:nvPr/>
        </p:nvSpPr>
        <p:spPr bwMode="auto">
          <a:xfrm>
            <a:off x="1412875" y="5818188"/>
            <a:ext cx="4332288" cy="746125"/>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hiện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trung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bình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từng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endParaRPr lang="ko-KR" altLang="en-US" sz="1000" dirty="0">
              <a:solidFill>
                <a:srgbClr val="000000"/>
              </a:solidFill>
              <a:latin typeface="Arial" pitchFamily="34" charset="0"/>
              <a:ea typeface="맑은 고딕" pitchFamily="50" charset="-127"/>
              <a:cs typeface="Arial" pitchFamily="34" charset="0"/>
            </a:endParaRPr>
          </a:p>
          <a:p>
            <a:pPr>
              <a:spcBef>
                <a:spcPts val="0"/>
              </a:spcBef>
              <a:defRP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Tính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nhất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việc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dụng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cụ</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được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tra</a:t>
            </a:r>
            <a:r>
              <a:rPr lang="en-US" altLang="ko-KR" sz="1000" dirty="0">
                <a:solidFill>
                  <a:srgbClr val="000000"/>
                </a:solidFill>
                <a:latin typeface="Arial" pitchFamily="34" charset="0"/>
                <a:ea typeface="맑은 고딕" pitchFamily="50" charset="-127"/>
                <a:cs typeface="Arial" pitchFamily="34" charset="0"/>
              </a:rPr>
              <a:t>. </a:t>
            </a:r>
            <a:endParaRPr lang="ko-KR" altLang="en-US" sz="1000" dirty="0">
              <a:solidFill>
                <a:srgbClr val="000000"/>
              </a:solidFill>
              <a:latin typeface="Arial" pitchFamily="34" charset="0"/>
              <a:ea typeface="맑은 고딕" pitchFamily="50" charset="-127"/>
              <a:cs typeface="Arial" pitchFamily="34" charset="0"/>
            </a:endParaRPr>
          </a:p>
          <a:p>
            <a:pPr>
              <a:spcBef>
                <a:spcPts val="0"/>
              </a:spcBef>
              <a:buFontTx/>
              <a:buChar char="-"/>
              <a:defRPr/>
            </a:pPr>
            <a:r>
              <a:rPr lang="ko-KR" altLang="en-US"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ít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nhất</a:t>
            </a:r>
            <a:r>
              <a:rPr lang="en-US" altLang="ko-KR" sz="1000" dirty="0">
                <a:solidFill>
                  <a:srgbClr val="000000"/>
                </a:solidFill>
                <a:latin typeface="Arial" pitchFamily="34" charset="0"/>
                <a:ea typeface="맑은 고딕" pitchFamily="50" charset="-127"/>
                <a:cs typeface="Arial" pitchFamily="34" charset="0"/>
              </a:rPr>
              <a:t> 50%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trung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bình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nằm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ngoài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phạm</a:t>
            </a:r>
            <a:r>
              <a:rPr lang="en-US" altLang="ko-KR" sz="1000" dirty="0">
                <a:solidFill>
                  <a:srgbClr val="000000"/>
                </a:solidFill>
                <a:latin typeface="Arial" pitchFamily="34" charset="0"/>
                <a:ea typeface="맑은 고딕" pitchFamily="50" charset="-127"/>
                <a:cs typeface="Arial" pitchFamily="34" charset="0"/>
              </a:rPr>
              <a:t> vi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soát</a:t>
            </a:r>
            <a:r>
              <a:rPr lang="en-US" altLang="ko-KR" sz="1000" dirty="0">
                <a:solidFill>
                  <a:srgbClr val="000000"/>
                </a:solidFill>
                <a:latin typeface="Arial" pitchFamily="34" charset="0"/>
                <a:ea typeface="맑은 고딕" pitchFamily="50" charset="-127"/>
                <a:cs typeface="Arial" pitchFamily="34" charset="0"/>
              </a:rPr>
              <a:t>. </a:t>
            </a:r>
            <a:endParaRPr lang="ko-KR" altLang="en-US" sz="1000" dirty="0">
              <a:solidFill>
                <a:srgbClr val="000000"/>
              </a:solidFill>
              <a:latin typeface="Arial" pitchFamily="34" charset="0"/>
              <a:ea typeface="맑은 고딕" pitchFamily="50" charset="-127"/>
              <a:cs typeface="Arial" pitchFamily="34" charset="0"/>
            </a:endParaRPr>
          </a:p>
        </p:txBody>
      </p:sp>
      <p:sp>
        <p:nvSpPr>
          <p:cNvPr id="26638" name="Oval 16"/>
          <p:cNvSpPr>
            <a:spLocks noChangeArrowheads="1"/>
          </p:cNvSpPr>
          <p:nvPr/>
        </p:nvSpPr>
        <p:spPr bwMode="auto">
          <a:xfrm>
            <a:off x="1076325" y="6053138"/>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C</a:t>
            </a:r>
          </a:p>
        </p:txBody>
      </p:sp>
      <p:sp>
        <p:nvSpPr>
          <p:cNvPr id="17" name="Rectangle 17"/>
          <p:cNvSpPr>
            <a:spLocks noChangeArrowheads="1"/>
          </p:cNvSpPr>
          <p:nvPr/>
        </p:nvSpPr>
        <p:spPr bwMode="auto">
          <a:xfrm>
            <a:off x="6196013" y="4293096"/>
            <a:ext cx="3378200" cy="972641"/>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hiện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mỗi</a:t>
            </a:r>
            <a:r>
              <a:rPr lang="en-US" altLang="ko-KR" sz="1000" dirty="0">
                <a:solidFill>
                  <a:srgbClr val="000000"/>
                </a:solidFill>
                <a:latin typeface="Arial" pitchFamily="34" charset="0"/>
                <a:ea typeface="맑은 고딕" pitchFamily="50" charset="-127"/>
                <a:cs typeface="Arial" pitchFamily="34" charset="0"/>
              </a:rPr>
              <a:t> part,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phân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biệt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nhân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endParaRPr lang="ko-KR" altLang="en-US" sz="1000" dirty="0">
              <a:solidFill>
                <a:srgbClr val="000000"/>
              </a:solidFill>
              <a:latin typeface="Arial" pitchFamily="34" charset="0"/>
              <a:ea typeface="맑은 고딕" pitchFamily="50" charset="-127"/>
              <a:cs typeface="Arial" pitchFamily="34" charset="0"/>
            </a:endParaRPr>
          </a:p>
          <a:p>
            <a:pPr>
              <a:spcBef>
                <a:spcPts val="0"/>
              </a:spcBef>
              <a:buFontTx/>
              <a:buChar char="-"/>
              <a:defRPr/>
            </a:pPr>
            <a:r>
              <a:rPr lang="ko-KR" altLang="en-US"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phân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bố</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part.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biệt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lớn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trong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trung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bình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part. </a:t>
            </a:r>
            <a:endParaRPr lang="ko-KR" altLang="en-US" sz="1000" dirty="0">
              <a:solidFill>
                <a:srgbClr val="000000"/>
              </a:solidFill>
              <a:latin typeface="Arial" pitchFamily="34" charset="0"/>
              <a:ea typeface="맑은 고딕" pitchFamily="50" charset="-127"/>
              <a:cs typeface="Arial" pitchFamily="34" charset="0"/>
            </a:endParaRPr>
          </a:p>
        </p:txBody>
      </p:sp>
      <p:sp>
        <p:nvSpPr>
          <p:cNvPr id="26640" name="Oval 18"/>
          <p:cNvSpPr>
            <a:spLocks noChangeArrowheads="1"/>
          </p:cNvSpPr>
          <p:nvPr/>
        </p:nvSpPr>
        <p:spPr bwMode="auto">
          <a:xfrm>
            <a:off x="5888038" y="4786313"/>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D</a:t>
            </a:r>
          </a:p>
        </p:txBody>
      </p:sp>
      <p:sp>
        <p:nvSpPr>
          <p:cNvPr id="19" name="Rectangle 19"/>
          <p:cNvSpPr>
            <a:spLocks noChangeArrowheads="1"/>
          </p:cNvSpPr>
          <p:nvPr/>
        </p:nvSpPr>
        <p:spPr bwMode="auto">
          <a:xfrm>
            <a:off x="6189663" y="5321200"/>
            <a:ext cx="3378200" cy="700088"/>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hiện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mỗi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phân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biệt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giữa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part. </a:t>
            </a:r>
            <a:endParaRPr lang="ko-KR" altLang="en-US" sz="1000" dirty="0">
              <a:solidFill>
                <a:srgbClr val="000000"/>
              </a:solidFill>
              <a:latin typeface="Arial" pitchFamily="34" charset="0"/>
              <a:ea typeface="맑은 고딕" pitchFamily="50" charset="-127"/>
              <a:cs typeface="Arial" pitchFamily="34" charset="0"/>
            </a:endParaRPr>
          </a:p>
          <a:p>
            <a:pPr>
              <a:spcBef>
                <a:spcPts val="0"/>
              </a:spcBef>
              <a:defRP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thẳng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nối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giữa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trung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bình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mỗi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endParaRPr lang="ko-KR" altLang="en-US" sz="1000" dirty="0">
              <a:solidFill>
                <a:srgbClr val="000000"/>
              </a:solidFill>
              <a:latin typeface="Arial" pitchFamily="34" charset="0"/>
              <a:ea typeface="맑은 고딕" pitchFamily="50" charset="-127"/>
              <a:cs typeface="Arial" pitchFamily="34" charset="0"/>
            </a:endParaRPr>
          </a:p>
        </p:txBody>
      </p:sp>
      <p:sp>
        <p:nvSpPr>
          <p:cNvPr id="26642" name="Oval 20"/>
          <p:cNvSpPr>
            <a:spLocks noChangeArrowheads="1"/>
          </p:cNvSpPr>
          <p:nvPr/>
        </p:nvSpPr>
        <p:spPr bwMode="auto">
          <a:xfrm>
            <a:off x="5881688" y="5443538"/>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E</a:t>
            </a:r>
          </a:p>
        </p:txBody>
      </p:sp>
      <p:sp>
        <p:nvSpPr>
          <p:cNvPr id="21" name="Rectangle 21"/>
          <p:cNvSpPr>
            <a:spLocks noChangeArrowheads="1"/>
          </p:cNvSpPr>
          <p:nvPr/>
        </p:nvSpPr>
        <p:spPr bwMode="auto">
          <a:xfrm>
            <a:off x="6199188" y="6093296"/>
            <a:ext cx="3378200" cy="487362"/>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buFontTx/>
              <a:buChar char="-"/>
              <a:defRP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Với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mỗi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phần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nếu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nhiều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trung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bình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giao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với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nhau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thể</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kết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luận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rằng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tồn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tại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tương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tác</a:t>
            </a:r>
            <a:r>
              <a:rPr lang="en-US" altLang="ko-KR" sz="1000" dirty="0">
                <a:solidFill>
                  <a:srgbClr val="000000"/>
                </a:solidFill>
                <a:latin typeface="Arial" pitchFamily="34" charset="0"/>
                <a:ea typeface="맑은 고딕" pitchFamily="50" charset="-127"/>
                <a:cs typeface="Arial" pitchFamily="34" charset="0"/>
              </a:rPr>
              <a:t>.</a:t>
            </a:r>
          </a:p>
        </p:txBody>
      </p:sp>
      <p:sp>
        <p:nvSpPr>
          <p:cNvPr id="26644" name="Oval 22"/>
          <p:cNvSpPr>
            <a:spLocks noChangeArrowheads="1"/>
          </p:cNvSpPr>
          <p:nvPr/>
        </p:nvSpPr>
        <p:spPr bwMode="auto">
          <a:xfrm>
            <a:off x="5892800" y="6172671"/>
            <a:ext cx="254000" cy="254000"/>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100">
                <a:solidFill>
                  <a:srgbClr val="FFFFFF"/>
                </a:solidFill>
                <a:latin typeface="Arial" pitchFamily="34" charset="0"/>
                <a:ea typeface="맑은 고딕" pitchFamily="50" charset="-127"/>
                <a:cs typeface="Arial" pitchFamily="34" charset="0"/>
              </a:rPr>
              <a:t>F</a:t>
            </a:r>
          </a:p>
        </p:txBody>
      </p:sp>
      <p:sp>
        <p:nvSpPr>
          <p:cNvPr id="23" name="Rectangle 23"/>
          <p:cNvSpPr>
            <a:spLocks noChangeArrowheads="1"/>
          </p:cNvSpPr>
          <p:nvPr/>
        </p:nvSpPr>
        <p:spPr bwMode="auto">
          <a:xfrm>
            <a:off x="6096001" y="2430246"/>
            <a:ext cx="3809999" cy="1345048"/>
          </a:xfrm>
          <a:prstGeom prst="rect">
            <a:avLst/>
          </a:prstGeom>
          <a:solidFill>
            <a:schemeClr val="bg1"/>
          </a:solidFill>
          <a:ln w="28575" algn="ctr">
            <a:solidFill>
              <a:schemeClr val="bg1">
                <a:lumMod val="50000"/>
              </a:schemeClr>
            </a:solidFill>
            <a:miter lim="800000"/>
            <a:headEnd/>
            <a:tailEnd/>
          </a:ln>
        </p:spPr>
        <p:txBody>
          <a:bodyPr wrap="square" lIns="54000" rIns="54000" anchor="ctr">
            <a:spAutoFit/>
          </a:bodyPr>
          <a:lstStyle/>
          <a:p>
            <a:pPr>
              <a:lnSpc>
                <a:spcPct val="150000"/>
              </a:lnSpc>
              <a:spcBef>
                <a:spcPts val="0"/>
              </a:spcBef>
              <a:defRPr/>
            </a:pPr>
            <a:r>
              <a:rPr lang="en-US" altLang="ko-KR" sz="1400" b="1" dirty="0" err="1">
                <a:solidFill>
                  <a:srgbClr val="000000"/>
                </a:solidFill>
                <a:latin typeface="Arial" pitchFamily="34" charset="0"/>
                <a:ea typeface="맑은 고딕" pitchFamily="50" charset="-127"/>
                <a:cs typeface="Arial" pitchFamily="34" charset="0"/>
              </a:rPr>
              <a:t>Ngay</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khi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tất</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cả</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các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đặc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điểm</a:t>
            </a:r>
            <a:r>
              <a:rPr lang="en-US" altLang="ko-KR" sz="1400" b="1" dirty="0">
                <a:solidFill>
                  <a:srgbClr val="000000"/>
                </a:solidFill>
                <a:latin typeface="Arial" pitchFamily="34" charset="0"/>
                <a:ea typeface="맑은 고딕" pitchFamily="50" charset="-127"/>
                <a:cs typeface="Arial" pitchFamily="34" charset="0"/>
              </a:rPr>
              <a:t> gage R&amp;R </a:t>
            </a:r>
            <a:r>
              <a:rPr lang="en-US" altLang="ko-KR" sz="1400" b="1" dirty="0" err="1">
                <a:solidFill>
                  <a:srgbClr val="000000"/>
                </a:solidFill>
                <a:latin typeface="Arial" pitchFamily="34" charset="0"/>
                <a:ea typeface="맑은 고딕" pitchFamily="50" charset="-127"/>
                <a:cs typeface="Arial" pitchFamily="34" charset="0"/>
              </a:rPr>
              <a:t>được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thỏa</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mãn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biểu</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đồ</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cần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được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sử</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dụng</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để</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phát</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hiện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các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vấn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đề</a:t>
            </a:r>
            <a:r>
              <a:rPr lang="en-US" altLang="ko-KR" sz="1400" b="1" dirty="0">
                <a:solidFill>
                  <a:srgbClr val="000000"/>
                </a:solidFill>
                <a:latin typeface="Arial" pitchFamily="34" charset="0"/>
                <a:ea typeface="맑은 고딕" pitchFamily="50" charset="-127"/>
                <a:cs typeface="Arial" pitchFamily="34" charset="0"/>
              </a:rPr>
              <a:t> hay </a:t>
            </a:r>
            <a:r>
              <a:rPr lang="en-US" altLang="ko-KR" sz="1400" b="1" dirty="0" err="1">
                <a:solidFill>
                  <a:srgbClr val="000000"/>
                </a:solidFill>
                <a:latin typeface="Arial" pitchFamily="34" charset="0"/>
                <a:ea typeface="맑은 고딕" pitchFamily="50" charset="-127"/>
                <a:cs typeface="Arial" pitchFamily="34" charset="0"/>
              </a:rPr>
              <a:t>lĩnh</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vực</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cần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cải</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tiến</a:t>
            </a:r>
            <a:r>
              <a:rPr lang="en-US" altLang="ko-KR" sz="1400" b="1" dirty="0">
                <a:solidFill>
                  <a:srgbClr val="000000"/>
                </a:solidFill>
                <a:latin typeface="Arial" pitchFamily="34" charset="0"/>
                <a:ea typeface="맑은 고딕" pitchFamily="50" charset="-127"/>
                <a:cs typeface="Arial" pitchFamily="34" charset="0"/>
              </a:rPr>
              <a:t> </a:t>
            </a:r>
            <a:r>
              <a:rPr lang="en-US" altLang="ko-KR" sz="1400" b="1" dirty="0" err="1">
                <a:solidFill>
                  <a:srgbClr val="000000"/>
                </a:solidFill>
                <a:latin typeface="Arial" pitchFamily="34" charset="0"/>
                <a:ea typeface="맑은 고딕" pitchFamily="50" charset="-127"/>
                <a:cs typeface="Arial" pitchFamily="34" charset="0"/>
              </a:rPr>
              <a:t>khác</a:t>
            </a:r>
            <a:r>
              <a:rPr lang="en-US" altLang="ko-KR" sz="1400" b="1" dirty="0">
                <a:solidFill>
                  <a:srgbClr val="000000"/>
                </a:solidFill>
                <a:latin typeface="Arial" pitchFamily="34" charset="0"/>
                <a:ea typeface="맑은 고딕" pitchFamily="50" charset="-127"/>
                <a:cs typeface="Arial" pitchFamily="34" charset="0"/>
              </a:rPr>
              <a:t>. </a:t>
            </a:r>
          </a:p>
        </p:txBody>
      </p:sp>
      <p:sp>
        <p:nvSpPr>
          <p:cNvPr id="26647" name="Rectangle 6"/>
          <p:cNvSpPr>
            <a:spLocks noChangeArrowheads="1"/>
          </p:cNvSpPr>
          <p:nvPr/>
        </p:nvSpPr>
        <p:spPr bwMode="auto">
          <a:xfrm>
            <a:off x="738188" y="1214438"/>
            <a:ext cx="18838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000000"/>
                </a:solidFill>
                <a:latin typeface="Arial" pitchFamily="34" charset="0"/>
                <a:ea typeface="맑은 고딕" pitchFamily="50" charset="-127"/>
                <a:cs typeface="Arial" pitchFamily="34" charset="0"/>
              </a:rPr>
              <a:t>(4) </a:t>
            </a:r>
            <a:r>
              <a:rPr lang="en-US" altLang="ko-KR" sz="1200" b="1" dirty="0" err="1">
                <a:solidFill>
                  <a:srgbClr val="000000"/>
                </a:solidFill>
                <a:latin typeface="Arial" pitchFamily="34" charset="0"/>
                <a:ea typeface="맑은 고딕" pitchFamily="50" charset="-127"/>
                <a:cs typeface="Arial" pitchFamily="34" charset="0"/>
              </a:rPr>
              <a:t>Phân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tích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biểu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đồ</a:t>
            </a:r>
            <a:r>
              <a:rPr lang="en-US" altLang="ko-KR" sz="1200" b="1" dirty="0">
                <a:solidFill>
                  <a:srgbClr val="000000"/>
                </a:solidFill>
                <a:latin typeface="Arial" pitchFamily="34" charset="0"/>
                <a:ea typeface="맑은 고딕" pitchFamily="50" charset="-127"/>
                <a:cs typeface="Arial" pitchFamily="34" charset="0"/>
              </a:rPr>
              <a:t> - I</a:t>
            </a:r>
          </a:p>
        </p:txBody>
      </p:sp>
      <p:sp>
        <p:nvSpPr>
          <p:cNvPr id="26648" name="Text Box 3"/>
          <p:cNvSpPr txBox="1">
            <a:spLocks noChangeArrowheads="1"/>
          </p:cNvSpPr>
          <p:nvPr/>
        </p:nvSpPr>
        <p:spPr bwMode="auto">
          <a:xfrm>
            <a:off x="6196013" y="1196975"/>
            <a:ext cx="3077617" cy="93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000" b="1" dirty="0" err="1">
                <a:solidFill>
                  <a:srgbClr val="FF0000"/>
                </a:solidFill>
                <a:latin typeface="Arial" pitchFamily="34" charset="0"/>
                <a:ea typeface="맑은 고딕" pitchFamily="50" charset="-127"/>
                <a:cs typeface="Arial" pitchFamily="34" charset="0"/>
              </a:rPr>
              <a:t>Diễn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giải</a:t>
            </a:r>
            <a:endParaRPr lang="ko-KR" altLang="en-US" sz="1000" b="1" dirty="0">
              <a:solidFill>
                <a:srgbClr val="FF0000"/>
              </a:solidFill>
              <a:latin typeface="Arial" pitchFamily="34" charset="0"/>
              <a:ea typeface="맑은 고딕" pitchFamily="50" charset="-127"/>
              <a:cs typeface="Arial" pitchFamily="34" charset="0"/>
            </a:endParaRPr>
          </a:p>
          <a:p>
            <a:pPr eaLnBrk="1" hangingPunct="1">
              <a:lnSpc>
                <a:spcPct val="110000"/>
              </a:lnSpc>
            </a:pPr>
            <a:r>
              <a:rPr lang="en-US" altLang="ko-KR" sz="1000" dirty="0">
                <a:solidFill>
                  <a:srgbClr val="000000"/>
                </a:solidFill>
                <a:latin typeface="Arial" pitchFamily="34" charset="0"/>
                <a:ea typeface="맑은 고딕" pitchFamily="50" charset="-127"/>
                <a:cs typeface="Arial" pitchFamily="34" charset="0"/>
              </a:rPr>
              <a:t>(4) </a:t>
            </a:r>
            <a:r>
              <a:rPr lang="en-US" altLang="ko-KR" sz="1000" dirty="0" err="1">
                <a:solidFill>
                  <a:srgbClr val="000000"/>
                </a:solidFill>
                <a:latin typeface="Arial" pitchFamily="34" charset="0"/>
                <a:ea typeface="맑은 고딕" pitchFamily="50" charset="-127"/>
                <a:cs typeface="Arial" pitchFamily="34" charset="0"/>
              </a:rPr>
              <a:t>Phân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tích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biểu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đồ</a:t>
            </a:r>
            <a:endParaRPr lang="en-US" altLang="ko-KR" sz="1000" dirty="0">
              <a:solidFill>
                <a:srgbClr val="000000"/>
              </a:solidFill>
              <a:latin typeface="Arial" pitchFamily="34" charset="0"/>
              <a:ea typeface="맑은 고딕" pitchFamily="50" charset="-127"/>
              <a:cs typeface="Arial" pitchFamily="34" charset="0"/>
            </a:endParaRPr>
          </a:p>
          <a:p>
            <a:pPr eaLnBrk="1" hangingPunct="1">
              <a:lnSpc>
                <a:spcPct val="110000"/>
              </a:lnSpc>
            </a:pPr>
            <a:r>
              <a:rPr lang="en-US" altLang="ko-KR" sz="1000" dirty="0">
                <a:solidFill>
                  <a:srgbClr val="000000"/>
                </a:solidFill>
                <a:latin typeface="Arial" pitchFamily="34" charset="0"/>
                <a:ea typeface="맑은 고딕" pitchFamily="50" charset="-127"/>
                <a:cs typeface="Arial" pitchFamily="34" charset="0"/>
              </a:rPr>
              <a:t>      - </a:t>
            </a:r>
            <a:r>
              <a:rPr lang="en-US" altLang="ko-KR" sz="1000" dirty="0" err="1">
                <a:solidFill>
                  <a:srgbClr val="000000"/>
                </a:solidFill>
                <a:latin typeface="Arial" pitchFamily="34" charset="0"/>
                <a:ea typeface="맑은 고딕" pitchFamily="50" charset="-127"/>
                <a:cs typeface="Arial" pitchFamily="34" charset="0"/>
              </a:rPr>
              <a:t>Nghiên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cứu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nguyên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nhân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cải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tiến</a:t>
            </a:r>
            <a:endParaRPr lang="ko-KR" altLang="en-US" sz="1000" dirty="0">
              <a:solidFill>
                <a:srgbClr val="000000"/>
              </a:solidFill>
              <a:latin typeface="Arial" pitchFamily="34" charset="0"/>
              <a:ea typeface="맑은 고딕" pitchFamily="50" charset="-127"/>
              <a:cs typeface="Arial" pitchFamily="34" charset="0"/>
            </a:endParaRPr>
          </a:p>
          <a:p>
            <a:pPr eaLnBrk="1" hangingPunct="1">
              <a:lnSpc>
                <a:spcPct val="110000"/>
              </a:lnSpc>
            </a:pPr>
            <a:r>
              <a:rPr lang="ko-KR" altLang="en-US" sz="1000" dirty="0">
                <a:solidFill>
                  <a:srgbClr val="000000"/>
                </a:solidFill>
                <a:latin typeface="Arial" pitchFamily="34" charset="0"/>
                <a:ea typeface="맑은 고딕" pitchFamily="50" charset="-127"/>
                <a:cs typeface="Arial" pitchFamily="34" charset="0"/>
              </a:rPr>
              <a:t>      </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Ngay</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nếu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tiêu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chuẩn</a:t>
            </a:r>
            <a:r>
              <a:rPr lang="en-US" altLang="ko-KR" sz="1000" dirty="0">
                <a:solidFill>
                  <a:srgbClr val="000000"/>
                </a:solidFill>
                <a:latin typeface="Arial" pitchFamily="34" charset="0"/>
                <a:ea typeface="맑은 고딕" pitchFamily="50" charset="-127"/>
                <a:cs typeface="Arial" pitchFamily="34" charset="0"/>
              </a:rPr>
              <a:t> ở </a:t>
            </a:r>
            <a:r>
              <a:rPr lang="en-US" altLang="ko-KR" sz="1000" dirty="0" err="1">
                <a:solidFill>
                  <a:srgbClr val="000000"/>
                </a:solidFill>
                <a:latin typeface="Arial" pitchFamily="34" charset="0"/>
                <a:ea typeface="맑은 고딕" pitchFamily="50" charset="-127"/>
                <a:cs typeface="Arial" pitchFamily="34" charset="0"/>
              </a:rPr>
              <a:t>bước</a:t>
            </a:r>
            <a:r>
              <a:rPr lang="en-US" altLang="ko-KR" sz="1000" dirty="0">
                <a:solidFill>
                  <a:srgbClr val="000000"/>
                </a:solidFill>
                <a:latin typeface="Arial" pitchFamily="34" charset="0"/>
                <a:ea typeface="맑은 고딕" pitchFamily="50" charset="-127"/>
                <a:cs typeface="Arial" pitchFamily="34" charset="0"/>
              </a:rPr>
              <a:t> 3 </a:t>
            </a:r>
            <a:r>
              <a:rPr lang="en-US" altLang="ko-KR" sz="1000" dirty="0" err="1">
                <a:solidFill>
                  <a:srgbClr val="000000"/>
                </a:solidFill>
                <a:latin typeface="Arial" pitchFamily="34" charset="0"/>
                <a:ea typeface="맑은 고딕" pitchFamily="50" charset="-127"/>
                <a:cs typeface="Arial" pitchFamily="34" charset="0"/>
              </a:rPr>
              <a:t>được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ứng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kết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từng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mục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phải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chính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xác</a:t>
            </a:r>
            <a:endParaRPr lang="en-US" altLang="ko-KR" sz="1000" dirty="0">
              <a:solidFill>
                <a:srgbClr val="000000"/>
              </a:solidFill>
              <a:latin typeface="Arial" pitchFamily="34" charset="0"/>
              <a:ea typeface="맑은 고딕" pitchFamily="50" charset="-127"/>
              <a:cs typeface="Arial" pitchFamily="34" charset="0"/>
            </a:endParaRPr>
          </a:p>
        </p:txBody>
      </p:sp>
      <p:pic>
        <p:nvPicPr>
          <p:cNvPr id="26652"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204</a:t>
            </a:fld>
            <a:endParaRPr lang="ko-KR" altLang="en-US" dirty="0">
              <a:latin typeface="Arial" pitchFamily="34" charset="0"/>
              <a:cs typeface="Arial" pitchFamily="34" charset="0"/>
            </a:endParaRPr>
          </a:p>
        </p:txBody>
      </p:sp>
      <p:sp>
        <p:nvSpPr>
          <p:cNvPr id="29" name="TextBox 28"/>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Thực</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hành</a:t>
            </a:r>
            <a:r>
              <a:rPr kumimoji="0" lang="en-US" altLang="ko-KR" sz="1400" b="1" kern="0" dirty="0">
                <a:solidFill>
                  <a:sysClr val="windowText" lastClr="000000"/>
                </a:solidFill>
                <a:latin typeface="Arial" pitchFamily="34" charset="0"/>
                <a:ea typeface="맑은 고딕" pitchFamily="50" charset="-127"/>
                <a:cs typeface="Arial" pitchFamily="34" charset="0"/>
              </a:rPr>
              <a:t> Minitab</a:t>
            </a:r>
          </a:p>
        </p:txBody>
      </p:sp>
      <p:sp>
        <p:nvSpPr>
          <p:cNvPr id="31"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111483700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92188" y="1946275"/>
            <a:ext cx="6113462" cy="4075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15"/>
          <p:cNvSpPr>
            <a:spLocks noChangeArrowheads="1"/>
          </p:cNvSpPr>
          <p:nvPr/>
        </p:nvSpPr>
        <p:spPr bwMode="auto">
          <a:xfrm>
            <a:off x="1020763" y="1500188"/>
            <a:ext cx="6075362" cy="385762"/>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solidFill>
                  <a:srgbClr val="000000"/>
                </a:solidFill>
                <a:latin typeface="Arial" pitchFamily="34" charset="0"/>
                <a:ea typeface="맑은 고딕" pitchFamily="50" charset="-127"/>
                <a:cs typeface="Arial" pitchFamily="34" charset="0"/>
              </a:rPr>
              <a:t>Stat  &gt; Quality Tools &gt;  Gage Study &gt; Gage Run Chart</a:t>
            </a:r>
          </a:p>
        </p:txBody>
      </p:sp>
      <p:sp>
        <p:nvSpPr>
          <p:cNvPr id="27652" name="Text Box 18"/>
          <p:cNvSpPr txBox="1">
            <a:spLocks noChangeArrowheads="1"/>
          </p:cNvSpPr>
          <p:nvPr/>
        </p:nvSpPr>
        <p:spPr bwMode="auto">
          <a:xfrm>
            <a:off x="3051174" y="2667000"/>
            <a:ext cx="15417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dirty="0" err="1">
                <a:solidFill>
                  <a:srgbClr val="0000FF"/>
                </a:solidFill>
                <a:latin typeface="Arial" pitchFamily="34" charset="0"/>
                <a:ea typeface="맑은 고딕" pitchFamily="50" charset="-127"/>
                <a:cs typeface="Arial" pitchFamily="34" charset="0"/>
              </a:rPr>
              <a:t>Khả</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năng</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tái</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tạo</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có</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thể</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trở</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thành</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vấn</a:t>
            </a:r>
            <a:r>
              <a:rPr lang="en-US" altLang="ko-KR" sz="1000" dirty="0">
                <a:solidFill>
                  <a:srgbClr val="0000FF"/>
                </a:solidFill>
                <a:latin typeface="Arial" pitchFamily="34" charset="0"/>
                <a:ea typeface="맑은 고딕" pitchFamily="50" charset="-127"/>
                <a:cs typeface="Arial" pitchFamily="34" charset="0"/>
              </a:rPr>
              <a:t> </a:t>
            </a:r>
            <a:r>
              <a:rPr lang="en-US" altLang="ko-KR" sz="1000" dirty="0" err="1">
                <a:solidFill>
                  <a:srgbClr val="0000FF"/>
                </a:solidFill>
                <a:latin typeface="Arial" pitchFamily="34" charset="0"/>
                <a:ea typeface="맑은 고딕" pitchFamily="50" charset="-127"/>
                <a:cs typeface="Arial" pitchFamily="34" charset="0"/>
              </a:rPr>
              <a:t>đề</a:t>
            </a:r>
            <a:endParaRPr lang="ko-KR" altLang="en-US" sz="1000" dirty="0">
              <a:solidFill>
                <a:srgbClr val="0000FF"/>
              </a:solidFill>
              <a:latin typeface="Arial" pitchFamily="34" charset="0"/>
              <a:ea typeface="맑은 고딕" pitchFamily="50" charset="-127"/>
              <a:cs typeface="Arial" pitchFamily="34" charset="0"/>
            </a:endParaRPr>
          </a:p>
        </p:txBody>
      </p:sp>
      <p:sp>
        <p:nvSpPr>
          <p:cNvPr id="27653" name="Oval 19"/>
          <p:cNvSpPr>
            <a:spLocks noChangeArrowheads="1"/>
          </p:cNvSpPr>
          <p:nvPr/>
        </p:nvSpPr>
        <p:spPr bwMode="auto">
          <a:xfrm>
            <a:off x="2803525" y="3044825"/>
            <a:ext cx="168275" cy="168275"/>
          </a:xfrm>
          <a:prstGeom prst="ellipse">
            <a:avLst/>
          </a:prstGeom>
          <a:noFill/>
          <a:ln w="28575" algn="ctr">
            <a:solidFill>
              <a:srgbClr val="0000FF"/>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cxnSp>
        <p:nvCxnSpPr>
          <p:cNvPr id="27654" name="AutoShape 20"/>
          <p:cNvCxnSpPr>
            <a:cxnSpLocks noChangeShapeType="1"/>
            <a:stCxn id="27652" idx="1"/>
            <a:endCxn id="27653" idx="0"/>
          </p:cNvCxnSpPr>
          <p:nvPr/>
        </p:nvCxnSpPr>
        <p:spPr bwMode="auto">
          <a:xfrm rot="10800000" flipV="1">
            <a:off x="2887664" y="2867055"/>
            <a:ext cx="163511" cy="177770"/>
          </a:xfrm>
          <a:prstGeom prst="curvedConnector2">
            <a:avLst/>
          </a:prstGeom>
          <a:noFill/>
          <a:ln w="28575">
            <a:solidFill>
              <a:srgbClr val="0000FF"/>
            </a:solidFill>
            <a:prstDash val="sysDot"/>
            <a:round/>
            <a:headEnd/>
            <a:tailEnd type="triangle" w="med" len="med"/>
          </a:ln>
          <a:extLst>
            <a:ext uri="{909E8E84-426E-40DD-AFC4-6F175D3DCCD1}">
              <a14:hiddenFill xmlns:a14="http://schemas.microsoft.com/office/drawing/2010/main">
                <a:noFill/>
              </a14:hiddenFill>
            </a:ext>
          </a:extLst>
        </p:spPr>
      </p:cxnSp>
      <p:sp>
        <p:nvSpPr>
          <p:cNvPr id="27656" name="Rectangle 6"/>
          <p:cNvSpPr>
            <a:spLocks noChangeArrowheads="1"/>
          </p:cNvSpPr>
          <p:nvPr/>
        </p:nvSpPr>
        <p:spPr bwMode="auto">
          <a:xfrm>
            <a:off x="738188" y="1214438"/>
            <a:ext cx="19271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200" b="1" dirty="0">
                <a:solidFill>
                  <a:srgbClr val="000000"/>
                </a:solidFill>
                <a:latin typeface="Arial" pitchFamily="34" charset="0"/>
                <a:ea typeface="맑은 고딕" pitchFamily="50" charset="-127"/>
                <a:cs typeface="Arial" pitchFamily="34" charset="0"/>
              </a:rPr>
              <a:t>(5) </a:t>
            </a:r>
            <a:r>
              <a:rPr lang="en-US" altLang="ko-KR" sz="1200" b="1" dirty="0" err="1">
                <a:solidFill>
                  <a:srgbClr val="000000"/>
                </a:solidFill>
                <a:latin typeface="Arial" pitchFamily="34" charset="0"/>
                <a:ea typeface="맑은 고딕" pitchFamily="50" charset="-127"/>
                <a:cs typeface="Arial" pitchFamily="34" charset="0"/>
              </a:rPr>
              <a:t>Phân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tích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biểu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đồ</a:t>
            </a:r>
            <a:r>
              <a:rPr lang="en-US" altLang="ko-KR" sz="1200" b="1" dirty="0">
                <a:solidFill>
                  <a:srgbClr val="000000"/>
                </a:solidFill>
                <a:latin typeface="Arial" pitchFamily="34" charset="0"/>
                <a:ea typeface="맑은 고딕" pitchFamily="50" charset="-127"/>
                <a:cs typeface="Arial" pitchFamily="34" charset="0"/>
              </a:rPr>
              <a:t> - II</a:t>
            </a:r>
          </a:p>
        </p:txBody>
      </p:sp>
      <p:sp>
        <p:nvSpPr>
          <p:cNvPr id="27657" name="Text Box 3"/>
          <p:cNvSpPr txBox="1">
            <a:spLocks noChangeArrowheads="1"/>
          </p:cNvSpPr>
          <p:nvPr/>
        </p:nvSpPr>
        <p:spPr bwMode="auto">
          <a:xfrm>
            <a:off x="7378700" y="1112838"/>
            <a:ext cx="25241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10000"/>
              </a:lnSpc>
            </a:pPr>
            <a:r>
              <a:rPr lang="en-US" altLang="ko-KR" sz="1000" b="1" dirty="0" err="1">
                <a:solidFill>
                  <a:srgbClr val="FF0000"/>
                </a:solidFill>
                <a:latin typeface="Arial" pitchFamily="34" charset="0"/>
                <a:ea typeface="맑은 고딕" pitchFamily="50" charset="-127"/>
                <a:cs typeface="Arial" pitchFamily="34" charset="0"/>
              </a:rPr>
              <a:t>Diễn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giải</a:t>
            </a:r>
            <a:endParaRPr lang="ko-KR" altLang="en-US" sz="1000" b="1" dirty="0">
              <a:solidFill>
                <a:srgbClr val="FF0000"/>
              </a:solidFill>
              <a:latin typeface="Arial" pitchFamily="34" charset="0"/>
              <a:ea typeface="맑은 고딕" pitchFamily="50" charset="-127"/>
              <a:cs typeface="Arial" pitchFamily="34" charset="0"/>
            </a:endParaRPr>
          </a:p>
          <a:p>
            <a:pPr eaLnBrk="1" hangingPunct="1">
              <a:spcBef>
                <a:spcPct val="50000"/>
              </a:spcBef>
            </a:pPr>
            <a:r>
              <a:rPr lang="en-US" altLang="ko-KR" sz="1000" dirty="0">
                <a:solidFill>
                  <a:srgbClr val="000000"/>
                </a:solidFill>
                <a:latin typeface="Arial" pitchFamily="34" charset="0"/>
                <a:ea typeface="맑은 고딕" pitchFamily="50" charset="-127"/>
                <a:cs typeface="Arial" pitchFamily="34" charset="0"/>
              </a:rPr>
              <a:t>(5) Qua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bước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từ</a:t>
            </a:r>
            <a:r>
              <a:rPr lang="en-US" altLang="ko-KR" sz="1000" dirty="0">
                <a:solidFill>
                  <a:srgbClr val="000000"/>
                </a:solidFill>
                <a:latin typeface="Arial" pitchFamily="34" charset="0"/>
                <a:ea typeface="맑은 고딕" pitchFamily="50" charset="-127"/>
                <a:cs typeface="Arial" pitchFamily="34" charset="0"/>
              </a:rPr>
              <a:t> 1 – 4, </a:t>
            </a:r>
            <a:r>
              <a:rPr lang="en-US" altLang="ko-KR" sz="1000" dirty="0" err="1">
                <a:solidFill>
                  <a:srgbClr val="000000"/>
                </a:solidFill>
                <a:latin typeface="Arial" pitchFamily="34" charset="0"/>
                <a:ea typeface="맑은 고딕" pitchFamily="50" charset="-127"/>
                <a:cs typeface="Arial" pitchFamily="34" charset="0"/>
              </a:rPr>
              <a:t>kết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luận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về</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định</a:t>
            </a:r>
            <a:r>
              <a:rPr lang="en-US" altLang="ko-KR" sz="1000" dirty="0">
                <a:solidFill>
                  <a:srgbClr val="000000"/>
                </a:solidFill>
                <a:latin typeface="Arial" pitchFamily="34" charset="0"/>
                <a:ea typeface="맑은 고딕" pitchFamily="50" charset="-127"/>
                <a:cs typeface="Arial" pitchFamily="34" charset="0"/>
              </a:rPr>
              <a:t> Gage </a:t>
            </a:r>
            <a:r>
              <a:rPr lang="en-US" altLang="ko-KR" sz="1000" dirty="0" err="1">
                <a:solidFill>
                  <a:srgbClr val="000000"/>
                </a:solidFill>
                <a:latin typeface="Arial" pitchFamily="34" charset="0"/>
                <a:ea typeface="맑은 고딕" pitchFamily="50" charset="-127"/>
                <a:cs typeface="Arial" pitchFamily="34" charset="0"/>
              </a:rPr>
              <a:t>được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đưa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ra</a:t>
            </a:r>
            <a:endParaRPr lang="en-US" altLang="ko-KR" sz="1000" dirty="0">
              <a:solidFill>
                <a:srgbClr val="000000"/>
              </a:solidFill>
              <a:latin typeface="Arial" pitchFamily="34" charset="0"/>
              <a:ea typeface="맑은 고딕" pitchFamily="50" charset="-127"/>
              <a:cs typeface="Arial" pitchFamily="34" charset="0"/>
            </a:endParaRPr>
          </a:p>
        </p:txBody>
      </p:sp>
      <p:sp>
        <p:nvSpPr>
          <p:cNvPr id="27658" name="직사각형 15"/>
          <p:cNvSpPr>
            <a:spLocks noChangeArrowheads="1"/>
          </p:cNvSpPr>
          <p:nvPr/>
        </p:nvSpPr>
        <p:spPr bwMode="auto">
          <a:xfrm>
            <a:off x="2505075" y="3194050"/>
            <a:ext cx="793750" cy="260350"/>
          </a:xfrm>
          <a:prstGeom prst="rect">
            <a:avLst/>
          </a:prstGeom>
          <a:noFill/>
          <a:ln w="19050" algn="ctr">
            <a:solidFill>
              <a:srgbClr val="FF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1000">
              <a:solidFill>
                <a:srgbClr val="000000"/>
              </a:solidFill>
              <a:latin typeface="Arial" pitchFamily="34" charset="0"/>
              <a:cs typeface="Arial" pitchFamily="34" charset="0"/>
            </a:endParaRPr>
          </a:p>
        </p:txBody>
      </p:sp>
      <p:sp>
        <p:nvSpPr>
          <p:cNvPr id="17" name="TextBox 16"/>
          <p:cNvSpPr txBox="1"/>
          <p:nvPr/>
        </p:nvSpPr>
        <p:spPr>
          <a:xfrm>
            <a:off x="2393623" y="3564305"/>
            <a:ext cx="1119217" cy="584775"/>
          </a:xfrm>
          <a:prstGeom prst="rect">
            <a:avLst/>
          </a:prstGeom>
          <a:noFill/>
        </p:spPr>
        <p:txBody>
          <a:bodyPr wrap="none">
            <a:spAutoFit/>
          </a:bodyPr>
          <a:lstStyle/>
          <a:p>
            <a:pPr>
              <a:defRPr/>
            </a:pPr>
            <a:r>
              <a:rPr lang="en-US" altLang="ko-KR" sz="800" dirty="0">
                <a:solidFill>
                  <a:srgbClr val="000000"/>
                </a:solidFill>
                <a:latin typeface="Arial" pitchFamily="34" charset="0"/>
                <a:ea typeface="맑은 고딕" pitchFamily="50" charset="-127"/>
                <a:cs typeface="Arial" pitchFamily="34" charset="0"/>
              </a:rPr>
              <a:t>There are </a:t>
            </a:r>
          </a:p>
          <a:p>
            <a:pPr>
              <a:defRPr/>
            </a:pPr>
            <a:r>
              <a:rPr lang="en-US" altLang="ko-KR" sz="800" dirty="0">
                <a:solidFill>
                  <a:srgbClr val="000000"/>
                </a:solidFill>
                <a:latin typeface="Arial" pitchFamily="34" charset="0"/>
                <a:ea typeface="맑은 고딕" pitchFamily="50" charset="-127"/>
                <a:cs typeface="Arial" pitchFamily="34" charset="0"/>
              </a:rPr>
              <a:t>differences in the </a:t>
            </a:r>
          </a:p>
          <a:p>
            <a:pPr>
              <a:defRPr/>
            </a:pPr>
            <a:r>
              <a:rPr lang="en-US" altLang="ko-KR" sz="800" dirty="0">
                <a:solidFill>
                  <a:srgbClr val="000000"/>
                </a:solidFill>
                <a:latin typeface="Arial" pitchFamily="34" charset="0"/>
                <a:ea typeface="맑은 고딕" pitchFamily="50" charset="-127"/>
                <a:cs typeface="Arial" pitchFamily="34" charset="0"/>
              </a:rPr>
              <a:t>mean measured </a:t>
            </a:r>
          </a:p>
          <a:p>
            <a:pPr>
              <a:defRPr/>
            </a:pPr>
            <a:r>
              <a:rPr lang="en-US" altLang="ko-KR" sz="800" dirty="0">
                <a:solidFill>
                  <a:srgbClr val="000000"/>
                </a:solidFill>
                <a:latin typeface="Arial" pitchFamily="34" charset="0"/>
                <a:ea typeface="맑은 고딕" pitchFamily="50" charset="-127"/>
                <a:cs typeface="Arial" pitchFamily="34" charset="0"/>
              </a:rPr>
              <a:t>values of operators </a:t>
            </a:r>
          </a:p>
        </p:txBody>
      </p:sp>
      <p:cxnSp>
        <p:nvCxnSpPr>
          <p:cNvPr id="27660" name="직선 화살표 연결선 18"/>
          <p:cNvCxnSpPr>
            <a:cxnSpLocks noChangeShapeType="1"/>
            <a:stCxn id="27658" idx="2"/>
            <a:endCxn id="17" idx="0"/>
          </p:cNvCxnSpPr>
          <p:nvPr/>
        </p:nvCxnSpPr>
        <p:spPr bwMode="auto">
          <a:xfrm>
            <a:off x="2901950" y="3454400"/>
            <a:ext cx="51282" cy="109905"/>
          </a:xfrm>
          <a:prstGeom prst="straightConnector1">
            <a:avLst/>
          </a:prstGeom>
          <a:noFill/>
          <a:ln w="19050" algn="ctr">
            <a:solidFill>
              <a:srgbClr val="FF0000"/>
            </a:solidFill>
            <a:prstDash val="dash"/>
            <a:round/>
            <a:headEnd/>
            <a:tailEnd type="triangle" w="med" len="med"/>
          </a:ln>
          <a:extLst>
            <a:ext uri="{909E8E84-426E-40DD-AFC4-6F175D3DCCD1}">
              <a14:hiddenFill xmlns:a14="http://schemas.microsoft.com/office/drawing/2010/main">
                <a:noFill/>
              </a14:hiddenFill>
            </a:ext>
          </a:extLst>
        </p:spPr>
      </p:cxnSp>
      <p:pic>
        <p:nvPicPr>
          <p:cNvPr id="27664"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205</a:t>
            </a:fld>
            <a:endParaRPr lang="ko-KR" altLang="en-US" dirty="0">
              <a:latin typeface="Arial" pitchFamily="34" charset="0"/>
              <a:cs typeface="Arial" pitchFamily="34" charset="0"/>
            </a:endParaRPr>
          </a:p>
        </p:txBody>
      </p:sp>
      <p:sp>
        <p:nvSpPr>
          <p:cNvPr id="18" name="TextBox 17"/>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Thực</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hành</a:t>
            </a:r>
            <a:r>
              <a:rPr kumimoji="0" lang="en-US" altLang="ko-KR" sz="1400" b="1" kern="0" dirty="0">
                <a:solidFill>
                  <a:sysClr val="windowText" lastClr="000000"/>
                </a:solidFill>
                <a:latin typeface="Arial" pitchFamily="34" charset="0"/>
                <a:ea typeface="맑은 고딕" pitchFamily="50" charset="-127"/>
                <a:cs typeface="Arial" pitchFamily="34" charset="0"/>
              </a:rPr>
              <a:t> Minitab</a:t>
            </a:r>
          </a:p>
        </p:txBody>
      </p:sp>
      <p:sp>
        <p:nvSpPr>
          <p:cNvPr id="20"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78496505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674" name="Object 3"/>
          <p:cNvGraphicFramePr>
            <a:graphicFrameLocks noChangeAspect="1"/>
          </p:cNvGraphicFramePr>
          <p:nvPr/>
        </p:nvGraphicFramePr>
        <p:xfrm>
          <a:off x="3095625" y="1217613"/>
          <a:ext cx="3673475" cy="2449512"/>
        </p:xfrm>
        <a:graphic>
          <a:graphicData uri="http://schemas.openxmlformats.org/presentationml/2006/ole">
            <mc:AlternateContent xmlns:mc="http://schemas.openxmlformats.org/markup-compatibility/2006">
              <mc:Choice xmlns:v="urn:schemas-microsoft-com:vml" Requires="v">
                <p:oleObj name="Graph" r:id="rId3" imgW="5486400" imgH="3657600" progId="">
                  <p:embed/>
                </p:oleObj>
              </mc:Choice>
              <mc:Fallback>
                <p:oleObj name="Graph" r:id="rId3" imgW="5486400" imgH="3657600" progId="">
                  <p:embed/>
                  <p:pic>
                    <p:nvPicPr>
                      <p:cNvPr id="28674"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95625" y="1217613"/>
                        <a:ext cx="3673475" cy="2449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675" name="Object 5"/>
          <p:cNvGraphicFramePr>
            <a:graphicFrameLocks noChangeAspect="1"/>
          </p:cNvGraphicFramePr>
          <p:nvPr/>
        </p:nvGraphicFramePr>
        <p:xfrm>
          <a:off x="1439863" y="3894138"/>
          <a:ext cx="3457575" cy="2305050"/>
        </p:xfrm>
        <a:graphic>
          <a:graphicData uri="http://schemas.openxmlformats.org/presentationml/2006/ole">
            <mc:AlternateContent xmlns:mc="http://schemas.openxmlformats.org/markup-compatibility/2006">
              <mc:Choice xmlns:v="urn:schemas-microsoft-com:vml" Requires="v">
                <p:oleObj name="Graph" r:id="rId5" imgW="5486400" imgH="3657600" progId="">
                  <p:embed/>
                </p:oleObj>
              </mc:Choice>
              <mc:Fallback>
                <p:oleObj name="Graph" r:id="rId5" imgW="5486400" imgH="3657600" progId="">
                  <p:embed/>
                  <p:pic>
                    <p:nvPicPr>
                      <p:cNvPr id="28675"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39863" y="3894138"/>
                        <a:ext cx="3457575" cy="230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676" name="Object 6"/>
          <p:cNvGraphicFramePr>
            <a:graphicFrameLocks noChangeAspect="1"/>
          </p:cNvGraphicFramePr>
          <p:nvPr/>
        </p:nvGraphicFramePr>
        <p:xfrm>
          <a:off x="4995863" y="3894138"/>
          <a:ext cx="3457575" cy="2305050"/>
        </p:xfrm>
        <a:graphic>
          <a:graphicData uri="http://schemas.openxmlformats.org/presentationml/2006/ole">
            <mc:AlternateContent xmlns:mc="http://schemas.openxmlformats.org/markup-compatibility/2006">
              <mc:Choice xmlns:v="urn:schemas-microsoft-com:vml" Requires="v">
                <p:oleObj name="Graph" r:id="rId7" imgW="5486400" imgH="3657600" progId="">
                  <p:embed/>
                </p:oleObj>
              </mc:Choice>
              <mc:Fallback>
                <p:oleObj name="Graph" r:id="rId7" imgW="5486400" imgH="3657600" progId="">
                  <p:embed/>
                  <p:pic>
                    <p:nvPicPr>
                      <p:cNvPr id="28676"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95863" y="3894138"/>
                        <a:ext cx="3457575" cy="230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677" name="Text Box 7"/>
          <p:cNvSpPr txBox="1">
            <a:spLocks noChangeArrowheads="1"/>
          </p:cNvSpPr>
          <p:nvPr/>
        </p:nvSpPr>
        <p:spPr bwMode="auto">
          <a:xfrm>
            <a:off x="1439864" y="1217613"/>
            <a:ext cx="1624012" cy="430887"/>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a:solidFill>
                  <a:srgbClr val="0000FF"/>
                </a:solidFill>
                <a:latin typeface="Arial" pitchFamily="34" charset="0"/>
                <a:ea typeface="맑은 고딕" pitchFamily="50" charset="-127"/>
                <a:cs typeface="Arial" pitchFamily="34" charset="0"/>
              </a:rPr>
              <a:t>Repeatability</a:t>
            </a:r>
            <a:r>
              <a:rPr lang="ko-KR" altLang="en-US" sz="1100" b="1" dirty="0">
                <a:solidFill>
                  <a:srgbClr val="0000FF"/>
                </a:solidFill>
                <a:latin typeface="Arial" pitchFamily="34" charset="0"/>
                <a:ea typeface="맑은 고딕" pitchFamily="50" charset="-127"/>
                <a:cs typeface="Arial" pitchFamily="34" charset="0"/>
              </a:rPr>
              <a:t> </a:t>
            </a:r>
            <a:r>
              <a:rPr lang="en-US" altLang="ko-KR" sz="1100" b="1" dirty="0">
                <a:solidFill>
                  <a:srgbClr val="0000FF"/>
                </a:solidFill>
                <a:latin typeface="Arial" pitchFamily="34" charset="0"/>
                <a:ea typeface="맑은 고딕" pitchFamily="50" charset="-127"/>
                <a:cs typeface="Arial" pitchFamily="34" charset="0"/>
              </a:rPr>
              <a:t>OK,</a:t>
            </a:r>
          </a:p>
          <a:p>
            <a:pPr eaLnBrk="1" hangingPunct="1"/>
            <a:r>
              <a:rPr lang="en-US" altLang="ko-KR" sz="1100" b="1" dirty="0">
                <a:solidFill>
                  <a:srgbClr val="0000FF"/>
                </a:solidFill>
                <a:latin typeface="Arial" pitchFamily="34" charset="0"/>
                <a:ea typeface="맑은 고딕" pitchFamily="50" charset="-127"/>
                <a:cs typeface="Arial" pitchFamily="34" charset="0"/>
              </a:rPr>
              <a:t>Reproducibility</a:t>
            </a:r>
            <a:r>
              <a:rPr lang="ko-KR" altLang="en-US" sz="1100" b="1" dirty="0">
                <a:solidFill>
                  <a:srgbClr val="0000FF"/>
                </a:solidFill>
                <a:latin typeface="Arial" pitchFamily="34" charset="0"/>
                <a:ea typeface="맑은 고딕" pitchFamily="50" charset="-127"/>
                <a:cs typeface="Arial" pitchFamily="34" charset="0"/>
              </a:rPr>
              <a:t> </a:t>
            </a:r>
            <a:r>
              <a:rPr lang="en-US" altLang="ko-KR" sz="1100" b="1" dirty="0">
                <a:solidFill>
                  <a:srgbClr val="0000FF"/>
                </a:solidFill>
                <a:latin typeface="Arial" pitchFamily="34" charset="0"/>
                <a:ea typeface="맑은 고딕" pitchFamily="50" charset="-127"/>
                <a:cs typeface="Arial" pitchFamily="34" charset="0"/>
              </a:rPr>
              <a:t>OK</a:t>
            </a:r>
            <a:endParaRPr lang="ko-KR" altLang="en-US" sz="1100" b="1" dirty="0">
              <a:solidFill>
                <a:srgbClr val="0000FF"/>
              </a:solidFill>
              <a:latin typeface="Arial" pitchFamily="34" charset="0"/>
              <a:ea typeface="맑은 고딕" pitchFamily="50" charset="-127"/>
              <a:cs typeface="Arial" pitchFamily="34" charset="0"/>
            </a:endParaRPr>
          </a:p>
        </p:txBody>
      </p:sp>
      <p:sp>
        <p:nvSpPr>
          <p:cNvPr id="10" name="TextBox 9"/>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Biểu</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đồ</a:t>
            </a:r>
            <a:r>
              <a:rPr kumimoji="0" lang="en-US" altLang="ko-KR" sz="1400" b="1" kern="0" dirty="0">
                <a:solidFill>
                  <a:sysClr val="windowText" lastClr="000000"/>
                </a:solidFill>
                <a:latin typeface="Arial" pitchFamily="34" charset="0"/>
                <a:ea typeface="맑은 고딕" pitchFamily="50" charset="-127"/>
                <a:cs typeface="Arial" pitchFamily="34" charset="0"/>
              </a:rPr>
              <a:t> Gage</a:t>
            </a:r>
          </a:p>
        </p:txBody>
      </p:sp>
      <p:pic>
        <p:nvPicPr>
          <p:cNvPr id="28684" name="Picture 67"/>
          <p:cNvPicPr>
            <a:picLocks noChangeAspect="1" noChangeArrowheads="1"/>
          </p:cNvPicPr>
          <p:nvPr/>
        </p:nvPicPr>
        <p:blipFill>
          <a:blip r:embed="rId9"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206</a:t>
            </a:fld>
            <a:endParaRPr lang="ko-KR" altLang="en-US" dirty="0">
              <a:latin typeface="Arial" pitchFamily="34" charset="0"/>
              <a:cs typeface="Arial" pitchFamily="34" charset="0"/>
            </a:endParaRPr>
          </a:p>
        </p:txBody>
      </p:sp>
      <p:sp>
        <p:nvSpPr>
          <p:cNvPr id="13" name="Text Box 7"/>
          <p:cNvSpPr txBox="1">
            <a:spLocks noChangeArrowheads="1"/>
          </p:cNvSpPr>
          <p:nvPr/>
        </p:nvSpPr>
        <p:spPr bwMode="auto">
          <a:xfrm>
            <a:off x="638654" y="3436938"/>
            <a:ext cx="1624012" cy="430887"/>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a:solidFill>
                  <a:srgbClr val="FF0000"/>
                </a:solidFill>
                <a:latin typeface="Arial" pitchFamily="34" charset="0"/>
                <a:ea typeface="맑은 고딕" pitchFamily="50" charset="-127"/>
                <a:cs typeface="Arial" pitchFamily="34" charset="0"/>
              </a:rPr>
              <a:t>Repeatability</a:t>
            </a:r>
            <a:r>
              <a:rPr lang="ko-KR" altLang="en-US" sz="1100" b="1" dirty="0">
                <a:solidFill>
                  <a:srgbClr val="FF0000"/>
                </a:solidFill>
                <a:latin typeface="Arial" pitchFamily="34" charset="0"/>
                <a:ea typeface="맑은 고딕" pitchFamily="50" charset="-127"/>
                <a:cs typeface="Arial" pitchFamily="34" charset="0"/>
              </a:rPr>
              <a:t> </a:t>
            </a:r>
            <a:r>
              <a:rPr lang="en-US" altLang="ko-KR" sz="1100" b="1" dirty="0">
                <a:solidFill>
                  <a:srgbClr val="FF0000"/>
                </a:solidFill>
                <a:latin typeface="Arial" pitchFamily="34" charset="0"/>
                <a:ea typeface="맑은 고딕" pitchFamily="50" charset="-127"/>
                <a:cs typeface="Arial" pitchFamily="34" charset="0"/>
              </a:rPr>
              <a:t>NG,</a:t>
            </a:r>
          </a:p>
          <a:p>
            <a:pPr eaLnBrk="1" hangingPunct="1"/>
            <a:r>
              <a:rPr lang="en-US" altLang="ko-KR" sz="1100" b="1" dirty="0">
                <a:solidFill>
                  <a:srgbClr val="FF0000"/>
                </a:solidFill>
                <a:latin typeface="Arial" pitchFamily="34" charset="0"/>
                <a:ea typeface="맑은 고딕" pitchFamily="50" charset="-127"/>
                <a:cs typeface="Arial" pitchFamily="34" charset="0"/>
              </a:rPr>
              <a:t>Reproducibility</a:t>
            </a:r>
            <a:r>
              <a:rPr lang="ko-KR" altLang="en-US" sz="1100" b="1" dirty="0">
                <a:solidFill>
                  <a:srgbClr val="FF0000"/>
                </a:solidFill>
                <a:latin typeface="Arial" pitchFamily="34" charset="0"/>
                <a:ea typeface="맑은 고딕" pitchFamily="50" charset="-127"/>
                <a:cs typeface="Arial" pitchFamily="34" charset="0"/>
              </a:rPr>
              <a:t> </a:t>
            </a:r>
            <a:r>
              <a:rPr lang="en-US" altLang="ko-KR" sz="1100" b="1" dirty="0">
                <a:solidFill>
                  <a:srgbClr val="FF0000"/>
                </a:solidFill>
                <a:latin typeface="Arial" pitchFamily="34" charset="0"/>
                <a:ea typeface="맑은 고딕" pitchFamily="50" charset="-127"/>
                <a:cs typeface="Arial" pitchFamily="34" charset="0"/>
              </a:rPr>
              <a:t>OK</a:t>
            </a:r>
            <a:endParaRPr lang="ko-KR" altLang="en-US" sz="1100" b="1" dirty="0">
              <a:solidFill>
                <a:srgbClr val="FF0000"/>
              </a:solidFill>
              <a:latin typeface="Arial" pitchFamily="34" charset="0"/>
              <a:ea typeface="맑은 고딕" pitchFamily="50" charset="-127"/>
              <a:cs typeface="Arial" pitchFamily="34" charset="0"/>
            </a:endParaRPr>
          </a:p>
        </p:txBody>
      </p:sp>
      <p:sp>
        <p:nvSpPr>
          <p:cNvPr id="15" name="Text Box 7"/>
          <p:cNvSpPr txBox="1">
            <a:spLocks noChangeArrowheads="1"/>
          </p:cNvSpPr>
          <p:nvPr/>
        </p:nvSpPr>
        <p:spPr bwMode="auto">
          <a:xfrm>
            <a:off x="7775576" y="3449419"/>
            <a:ext cx="1624012" cy="430887"/>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a:solidFill>
                  <a:srgbClr val="FF0000"/>
                </a:solidFill>
                <a:latin typeface="Arial" pitchFamily="34" charset="0"/>
                <a:ea typeface="맑은 고딕" pitchFamily="50" charset="-127"/>
                <a:cs typeface="Arial" pitchFamily="34" charset="0"/>
              </a:rPr>
              <a:t>Repeatability</a:t>
            </a:r>
            <a:r>
              <a:rPr lang="ko-KR" altLang="en-US" sz="1100" b="1" dirty="0">
                <a:solidFill>
                  <a:srgbClr val="FF0000"/>
                </a:solidFill>
                <a:latin typeface="Arial" pitchFamily="34" charset="0"/>
                <a:ea typeface="맑은 고딕" pitchFamily="50" charset="-127"/>
                <a:cs typeface="Arial" pitchFamily="34" charset="0"/>
              </a:rPr>
              <a:t> </a:t>
            </a:r>
            <a:r>
              <a:rPr lang="en-US" altLang="ko-KR" sz="1100" b="1" dirty="0">
                <a:solidFill>
                  <a:srgbClr val="FF0000"/>
                </a:solidFill>
                <a:latin typeface="Arial" pitchFamily="34" charset="0"/>
                <a:ea typeface="맑은 고딕" pitchFamily="50" charset="-127"/>
                <a:cs typeface="Arial" pitchFamily="34" charset="0"/>
              </a:rPr>
              <a:t>OK,</a:t>
            </a:r>
          </a:p>
          <a:p>
            <a:pPr eaLnBrk="1" hangingPunct="1"/>
            <a:r>
              <a:rPr lang="en-US" altLang="ko-KR" sz="1100" b="1" dirty="0">
                <a:solidFill>
                  <a:srgbClr val="FF0000"/>
                </a:solidFill>
                <a:latin typeface="Arial" pitchFamily="34" charset="0"/>
                <a:ea typeface="맑은 고딕" pitchFamily="50" charset="-127"/>
                <a:cs typeface="Arial" pitchFamily="34" charset="0"/>
              </a:rPr>
              <a:t>Reproducibility</a:t>
            </a:r>
            <a:r>
              <a:rPr lang="ko-KR" altLang="en-US" sz="1100" b="1" dirty="0">
                <a:solidFill>
                  <a:srgbClr val="FF0000"/>
                </a:solidFill>
                <a:latin typeface="Arial" pitchFamily="34" charset="0"/>
                <a:ea typeface="맑은 고딕" pitchFamily="50" charset="-127"/>
                <a:cs typeface="Arial" pitchFamily="34" charset="0"/>
              </a:rPr>
              <a:t> </a:t>
            </a:r>
            <a:r>
              <a:rPr lang="en-US" altLang="ko-KR" sz="1100" b="1" dirty="0">
                <a:solidFill>
                  <a:srgbClr val="FF0000"/>
                </a:solidFill>
                <a:latin typeface="Arial" pitchFamily="34" charset="0"/>
                <a:ea typeface="맑은 고딕" pitchFamily="50" charset="-127"/>
                <a:cs typeface="Arial" pitchFamily="34" charset="0"/>
              </a:rPr>
              <a:t>NG</a:t>
            </a:r>
            <a:endParaRPr lang="ko-KR" altLang="en-US" sz="1100" b="1" dirty="0">
              <a:solidFill>
                <a:srgbClr val="FF0000"/>
              </a:solidFill>
              <a:latin typeface="Arial" pitchFamily="34" charset="0"/>
              <a:ea typeface="맑은 고딕" pitchFamily="50" charset="-127"/>
              <a:cs typeface="Arial" pitchFamily="34" charset="0"/>
            </a:endParaRPr>
          </a:p>
        </p:txBody>
      </p:sp>
      <p:sp>
        <p:nvSpPr>
          <p:cNvPr id="16"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1528911797"/>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9" name="Picture 6"/>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73050" y="1196975"/>
            <a:ext cx="3965575" cy="522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9" name="TextBox 8"/>
          <p:cNvSpPr txBox="1"/>
          <p:nvPr/>
        </p:nvSpPr>
        <p:spPr>
          <a:xfrm>
            <a:off x="428625" y="827088"/>
            <a:ext cx="9276903" cy="307777"/>
          </a:xfrm>
          <a:prstGeom prst="rect">
            <a:avLst/>
          </a:prstGeom>
          <a:noFill/>
        </p:spPr>
        <p:txBody>
          <a:bodyPr wrap="square">
            <a:spAutoFit/>
          </a:bodyPr>
          <a:lstStyle/>
          <a:p>
            <a:pPr marL="174625" indent="-174625"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Gage R&amp;R: 10 part, 3 Operators (</a:t>
            </a:r>
            <a:r>
              <a:rPr kumimoji="0" lang="en-US" altLang="ko-KR" sz="1400" b="1" kern="0" dirty="0" err="1">
                <a:solidFill>
                  <a:sysClr val="windowText" lastClr="000000"/>
                </a:solidFill>
                <a:latin typeface="Arial" pitchFamily="34" charset="0"/>
                <a:ea typeface="맑은 고딕" pitchFamily="50" charset="-127"/>
                <a:cs typeface="Arial" pitchFamily="34" charset="0"/>
              </a:rPr>
              <a:t>người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đánh</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giá</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lặp</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lại</a:t>
            </a:r>
            <a:r>
              <a:rPr kumimoji="0" lang="en-US" altLang="ko-KR" sz="1400" b="1" kern="0" dirty="0">
                <a:solidFill>
                  <a:sysClr val="windowText" lastClr="000000"/>
                </a:solidFill>
                <a:latin typeface="Arial" pitchFamily="34" charset="0"/>
                <a:ea typeface="맑은 고딕" pitchFamily="50" charset="-127"/>
                <a:cs typeface="Arial" pitchFamily="34" charset="0"/>
              </a:rPr>
              <a:t> 3 </a:t>
            </a:r>
            <a:r>
              <a:rPr kumimoji="0" lang="en-US" altLang="ko-KR" sz="1400" b="1" kern="0" dirty="0" err="1">
                <a:solidFill>
                  <a:sysClr val="windowText" lastClr="000000"/>
                </a:solidFill>
                <a:latin typeface="Arial" pitchFamily="34" charset="0"/>
                <a:ea typeface="맑은 고딕" pitchFamily="50" charset="-127"/>
                <a:cs typeface="Arial" pitchFamily="34" charset="0"/>
              </a:rPr>
              <a:t>lần</a:t>
            </a:r>
            <a:r>
              <a:rPr kumimoji="0" lang="en-US" altLang="ko-KR" sz="1400" b="1" kern="0" dirty="0">
                <a:solidFill>
                  <a:sysClr val="windowText" lastClr="000000"/>
                </a:solidFill>
                <a:latin typeface="Arial" pitchFamily="34" charset="0"/>
                <a:ea typeface="맑은 고딕" pitchFamily="50" charset="-127"/>
                <a:cs typeface="Arial" pitchFamily="34" charset="0"/>
              </a:rPr>
              <a:t> (Good Case)</a:t>
            </a:r>
          </a:p>
        </p:txBody>
      </p:sp>
      <p:cxnSp>
        <p:nvCxnSpPr>
          <p:cNvPr id="10" name="직선 연결선 9"/>
          <p:cNvCxnSpPr/>
          <p:nvPr/>
        </p:nvCxnSpPr>
        <p:spPr bwMode="auto">
          <a:xfrm flipH="1">
            <a:off x="4224338" y="1400175"/>
            <a:ext cx="809625" cy="373063"/>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cxnSp>
        <p:nvCxnSpPr>
          <p:cNvPr id="13" name="직선 연결선 12"/>
          <p:cNvCxnSpPr/>
          <p:nvPr/>
        </p:nvCxnSpPr>
        <p:spPr bwMode="auto">
          <a:xfrm flipH="1">
            <a:off x="4160838" y="1976438"/>
            <a:ext cx="873125"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cxnSp>
        <p:nvCxnSpPr>
          <p:cNvPr id="18" name="직선 연결선 17"/>
          <p:cNvCxnSpPr/>
          <p:nvPr/>
        </p:nvCxnSpPr>
        <p:spPr bwMode="auto">
          <a:xfrm flipH="1" flipV="1">
            <a:off x="4175125" y="2095500"/>
            <a:ext cx="858838" cy="396875"/>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9707" name="Rectangle 5"/>
          <p:cNvSpPr>
            <a:spLocks noChangeArrowheads="1"/>
          </p:cNvSpPr>
          <p:nvPr/>
        </p:nvSpPr>
        <p:spPr bwMode="auto">
          <a:xfrm>
            <a:off x="5121597" y="4820414"/>
            <a:ext cx="40798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%Study Variation= 9.35%</a:t>
            </a:r>
            <a:r>
              <a:rPr lang="ko-KR" altLang="en-US"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10%, </a:t>
            </a:r>
            <a:r>
              <a:rPr lang="en-US" altLang="ko-KR" sz="1000" dirty="0" err="1">
                <a:solidFill>
                  <a:srgbClr val="000000"/>
                </a:solidFill>
                <a:latin typeface="Arial" pitchFamily="34" charset="0"/>
                <a:ea typeface="맑은 고딕" pitchFamily="50" charset="-127"/>
                <a:cs typeface="Arial" pitchFamily="34" charset="0"/>
              </a:rPr>
              <a:t>hệ</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thống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này</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phù</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hợp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với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soát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trình</a:t>
            </a:r>
            <a:endParaRPr lang="en-US" altLang="ko-KR" sz="1000" dirty="0">
              <a:solidFill>
                <a:srgbClr val="000000"/>
              </a:solidFill>
              <a:latin typeface="Arial" pitchFamily="34" charset="0"/>
              <a:ea typeface="맑은 고딕" pitchFamily="50" charset="-127"/>
              <a:cs typeface="Arial" pitchFamily="34" charset="0"/>
            </a:endParaRPr>
          </a:p>
        </p:txBody>
      </p:sp>
      <p:sp>
        <p:nvSpPr>
          <p:cNvPr id="20" name="직사각형 19"/>
          <p:cNvSpPr/>
          <p:nvPr/>
        </p:nvSpPr>
        <p:spPr>
          <a:xfrm>
            <a:off x="3297238" y="4900613"/>
            <a:ext cx="576262" cy="215900"/>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21" name="직사각형 20"/>
          <p:cNvSpPr/>
          <p:nvPr/>
        </p:nvSpPr>
        <p:spPr>
          <a:xfrm>
            <a:off x="3646488" y="1728788"/>
            <a:ext cx="577850" cy="495300"/>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22" name="직사각형 21"/>
          <p:cNvSpPr/>
          <p:nvPr/>
        </p:nvSpPr>
        <p:spPr>
          <a:xfrm>
            <a:off x="2144713" y="6056313"/>
            <a:ext cx="576262" cy="215900"/>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29711" name="Rectangle 5"/>
          <p:cNvSpPr>
            <a:spLocks noChangeArrowheads="1"/>
          </p:cNvSpPr>
          <p:nvPr/>
        </p:nvSpPr>
        <p:spPr bwMode="auto">
          <a:xfrm>
            <a:off x="4913312" y="6049884"/>
            <a:ext cx="45761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NDC=15 </a:t>
            </a:r>
            <a:r>
              <a:rPr lang="en-US" altLang="ko-KR" sz="1000" dirty="0" err="1">
                <a:solidFill>
                  <a:srgbClr val="000000"/>
                </a:solidFill>
                <a:latin typeface="Arial" pitchFamily="34" charset="0"/>
                <a:ea typeface="맑은 고딕" pitchFamily="50" charset="-127"/>
                <a:cs typeface="Arial" pitchFamily="34" charset="0"/>
              </a:rPr>
              <a:t>lớn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5, </a:t>
            </a:r>
            <a:r>
              <a:rPr lang="en-US" altLang="ko-KR" sz="1000" dirty="0" err="1">
                <a:solidFill>
                  <a:srgbClr val="000000"/>
                </a:solidFill>
                <a:latin typeface="Arial" pitchFamily="34" charset="0"/>
                <a:ea typeface="맑은 고딕" pitchFamily="50" charset="-127"/>
                <a:cs typeface="Arial" pitchFamily="34" charset="0"/>
              </a:rPr>
              <a:t>phù</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hợp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với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soát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trình</a:t>
            </a:r>
            <a:endParaRPr lang="en-US" altLang="ko-KR" sz="1000" dirty="0">
              <a:solidFill>
                <a:srgbClr val="000000"/>
              </a:solidFill>
              <a:latin typeface="Arial" pitchFamily="34" charset="0"/>
              <a:ea typeface="맑은 고딕" pitchFamily="50" charset="-127"/>
              <a:cs typeface="Arial" pitchFamily="34" charset="0"/>
            </a:endParaRPr>
          </a:p>
        </p:txBody>
      </p:sp>
      <p:cxnSp>
        <p:nvCxnSpPr>
          <p:cNvPr id="25" name="직선 연결선 24"/>
          <p:cNvCxnSpPr/>
          <p:nvPr/>
        </p:nvCxnSpPr>
        <p:spPr bwMode="auto">
          <a:xfrm flipH="1">
            <a:off x="3873500" y="5021263"/>
            <a:ext cx="1060450"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cxnSp>
        <p:nvCxnSpPr>
          <p:cNvPr id="26" name="직선 연결선 25"/>
          <p:cNvCxnSpPr/>
          <p:nvPr/>
        </p:nvCxnSpPr>
        <p:spPr bwMode="auto">
          <a:xfrm flipH="1">
            <a:off x="2719388" y="6164263"/>
            <a:ext cx="1925637" cy="7937"/>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7" name="직사각형 26"/>
          <p:cNvSpPr/>
          <p:nvPr/>
        </p:nvSpPr>
        <p:spPr>
          <a:xfrm>
            <a:off x="2360613" y="3500438"/>
            <a:ext cx="576262" cy="792162"/>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cxnSp>
        <p:nvCxnSpPr>
          <p:cNvPr id="29" name="직선 연결선 28"/>
          <p:cNvCxnSpPr/>
          <p:nvPr/>
        </p:nvCxnSpPr>
        <p:spPr bwMode="auto">
          <a:xfrm flipH="1">
            <a:off x="2936875" y="3897313"/>
            <a:ext cx="1997075"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207</a:t>
            </a:fld>
            <a:endParaRPr lang="ko-KR" altLang="en-US" dirty="0">
              <a:latin typeface="Arial" pitchFamily="34" charset="0"/>
              <a:cs typeface="Arial" pitchFamily="34" charset="0"/>
            </a:endParaRPr>
          </a:p>
        </p:txBody>
      </p:sp>
      <p:sp>
        <p:nvSpPr>
          <p:cNvPr id="28" name="Rectangle 5"/>
          <p:cNvSpPr>
            <a:spLocks noChangeArrowheads="1"/>
          </p:cNvSpPr>
          <p:nvPr/>
        </p:nvSpPr>
        <p:spPr bwMode="auto">
          <a:xfrm>
            <a:off x="5103276" y="1219240"/>
            <a:ext cx="48027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 (P-value)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Part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0.000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Do </a:t>
            </a:r>
            <a:r>
              <a:rPr lang="en-US" altLang="ko-KR" sz="1000" dirty="0" err="1">
                <a:solidFill>
                  <a:srgbClr val="000000"/>
                </a:solidFill>
                <a:latin typeface="Arial" pitchFamily="34" charset="0"/>
                <a:ea typeface="맑은 고딕" pitchFamily="50" charset="-127"/>
                <a:cs typeface="Arial" pitchFamily="34" charset="0"/>
              </a:rPr>
              <a:t>đó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biệt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giữa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Part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kể</a:t>
            </a:r>
            <a:r>
              <a:rPr lang="en-US" altLang="ko-KR" sz="1000" dirty="0">
                <a:solidFill>
                  <a:srgbClr val="000000"/>
                </a:solidFill>
                <a:latin typeface="Arial" pitchFamily="34" charset="0"/>
                <a:ea typeface="맑은 고딕" pitchFamily="50" charset="-127"/>
                <a:cs typeface="Arial" pitchFamily="34" charset="0"/>
              </a:rPr>
              <a:t>. </a:t>
            </a:r>
          </a:p>
        </p:txBody>
      </p:sp>
      <p:sp>
        <p:nvSpPr>
          <p:cNvPr id="30" name="Rectangle 5"/>
          <p:cNvSpPr>
            <a:spLocks noChangeArrowheads="1"/>
          </p:cNvSpPr>
          <p:nvPr/>
        </p:nvSpPr>
        <p:spPr bwMode="auto">
          <a:xfrm>
            <a:off x="5103276" y="1820039"/>
            <a:ext cx="48027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Operator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0.184 </a:t>
            </a:r>
            <a:r>
              <a:rPr lang="en-US" altLang="ko-KR" sz="1000" dirty="0" err="1">
                <a:solidFill>
                  <a:srgbClr val="000000"/>
                </a:solidFill>
                <a:latin typeface="Arial" pitchFamily="34" charset="0"/>
                <a:ea typeface="맑은 고딕" pitchFamily="50" charset="-127"/>
                <a:cs typeface="Arial" pitchFamily="34" charset="0"/>
              </a:rPr>
              <a:t>lớn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biệt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giữa</a:t>
            </a:r>
            <a:r>
              <a:rPr lang="en-US" altLang="ko-KR" sz="1000" dirty="0">
                <a:solidFill>
                  <a:srgbClr val="000000"/>
                </a:solidFill>
                <a:latin typeface="Arial" pitchFamily="34" charset="0"/>
                <a:ea typeface="맑은 고딕" pitchFamily="50" charset="-127"/>
                <a:cs typeface="Arial" pitchFamily="34" charset="0"/>
              </a:rPr>
              <a:t> Operators</a:t>
            </a:r>
          </a:p>
        </p:txBody>
      </p:sp>
      <p:sp>
        <p:nvSpPr>
          <p:cNvPr id="31" name="Rectangle 5"/>
          <p:cNvSpPr>
            <a:spLocks noChangeArrowheads="1"/>
          </p:cNvSpPr>
          <p:nvPr/>
        </p:nvSpPr>
        <p:spPr bwMode="auto">
          <a:xfrm>
            <a:off x="5121275" y="2329678"/>
            <a:ext cx="47847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Part * Operator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0.899 </a:t>
            </a:r>
            <a:r>
              <a:rPr lang="en-US" altLang="ko-KR" sz="1000" dirty="0" err="1">
                <a:solidFill>
                  <a:srgbClr val="000000"/>
                </a:solidFill>
                <a:latin typeface="Arial" pitchFamily="34" charset="0"/>
                <a:ea typeface="맑은 고딕" pitchFamily="50" charset="-127"/>
                <a:cs typeface="Arial" pitchFamily="34" charset="0"/>
              </a:rPr>
              <a:t>lớn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a:t>
            </a:r>
            <a:r>
              <a:rPr lang="en-US" altLang="ko-KR" sz="1000" dirty="0" err="1">
                <a:solidFill>
                  <a:srgbClr val="000000"/>
                </a:solidFill>
                <a:latin typeface="Arial" pitchFamily="34" charset="0"/>
                <a:ea typeface="맑은 고딕" pitchFamily="50" charset="-127"/>
                <a:cs typeface="Arial" pitchFamily="34" charset="0"/>
              </a:rPr>
              <a:t>Nó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thông</a:t>
            </a:r>
            <a:r>
              <a:rPr lang="en-US" altLang="ko-KR" sz="1000" dirty="0">
                <a:solidFill>
                  <a:srgbClr val="000000"/>
                </a:solidFill>
                <a:latin typeface="Arial" pitchFamily="34" charset="0"/>
                <a:ea typeface="맑은 고딕" pitchFamily="50" charset="-127"/>
                <a:cs typeface="Arial" pitchFamily="34" charset="0"/>
              </a:rPr>
              <a:t> qua.</a:t>
            </a:r>
          </a:p>
        </p:txBody>
      </p:sp>
      <p:sp>
        <p:nvSpPr>
          <p:cNvPr id="33" name="Rectangle 5"/>
          <p:cNvSpPr>
            <a:spLocks noChangeArrowheads="1"/>
          </p:cNvSpPr>
          <p:nvPr/>
        </p:nvSpPr>
        <p:spPr bwMode="auto">
          <a:xfrm>
            <a:off x="5121275" y="3703803"/>
            <a:ext cx="478472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Trong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tổng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số</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chênh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lệch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phân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bổ</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Gage R&amp;R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rất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thấp</a:t>
            </a:r>
            <a:r>
              <a:rPr lang="en-US" altLang="ko-KR" sz="1000">
                <a:solidFill>
                  <a:srgbClr val="000000"/>
                </a:solidFill>
                <a:latin typeface="Arial" pitchFamily="34" charset="0"/>
                <a:ea typeface="맑은 고딕" pitchFamily="50" charset="-127"/>
                <a:cs typeface="Arial" pitchFamily="34" charset="0"/>
              </a:rPr>
              <a:t>, 0.87% </a:t>
            </a:r>
            <a:r>
              <a:rPr lang="en-US" altLang="ko-KR" sz="1000" dirty="0" err="1">
                <a:solidFill>
                  <a:srgbClr val="000000"/>
                </a:solidFill>
                <a:latin typeface="Arial" pitchFamily="34" charset="0"/>
                <a:ea typeface="맑은 고딕" pitchFamily="50" charset="-127"/>
                <a:cs typeface="Arial" pitchFamily="34" charset="0"/>
              </a:rPr>
              <a:t>Thông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phương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sai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năng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tái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tạo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0.01% </a:t>
            </a:r>
          </a:p>
          <a:p>
            <a:pPr eaLnBrk="1" hangingPunct="1"/>
            <a:r>
              <a:rPr lang="en-US" altLang="ko-KR" sz="1000" dirty="0">
                <a:solidFill>
                  <a:srgbClr val="000000"/>
                </a:solidFill>
                <a:latin typeface="Arial" pitchFamily="34" charset="0"/>
                <a:ea typeface="맑은 고딕" pitchFamily="50" charset="-127"/>
                <a:cs typeface="Arial" pitchFamily="34" charset="0"/>
                <a:sym typeface="Wingdings" pitchFamily="2" charset="2"/>
              </a:rPr>
              <a: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biệt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giữa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những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người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endParaRPr lang="en-US" altLang="ko-KR" sz="1000" dirty="0">
              <a:solidFill>
                <a:srgbClr val="000000"/>
              </a:solidFill>
              <a:latin typeface="Arial" pitchFamily="34" charset="0"/>
              <a:ea typeface="맑은 고딕" pitchFamily="50" charset="-127"/>
              <a:cs typeface="Arial" pitchFamily="34" charset="0"/>
            </a:endParaRPr>
          </a:p>
        </p:txBody>
      </p:sp>
      <p:sp>
        <p:nvSpPr>
          <p:cNvPr id="32"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1603627360"/>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465138" y="1682750"/>
            <a:ext cx="4632325" cy="42672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8" name="직선 연결선 7"/>
          <p:cNvCxnSpPr/>
          <p:nvPr/>
        </p:nvCxnSpPr>
        <p:spPr bwMode="auto">
          <a:xfrm rot="5400000">
            <a:off x="4978400" y="1719263"/>
            <a:ext cx="641350" cy="36830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cxnSp>
        <p:nvCxnSpPr>
          <p:cNvPr id="11" name="직선 연결선 10"/>
          <p:cNvCxnSpPr/>
          <p:nvPr/>
        </p:nvCxnSpPr>
        <p:spPr bwMode="auto">
          <a:xfrm rot="10800000" flipV="1">
            <a:off x="5116513" y="2376488"/>
            <a:ext cx="328612"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cxnSp>
        <p:nvCxnSpPr>
          <p:cNvPr id="13" name="직선 연결선 12"/>
          <p:cNvCxnSpPr/>
          <p:nvPr/>
        </p:nvCxnSpPr>
        <p:spPr bwMode="auto">
          <a:xfrm rot="16200000" flipV="1">
            <a:off x="5097463" y="2527300"/>
            <a:ext cx="461962" cy="427038"/>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cxnSp>
        <p:nvCxnSpPr>
          <p:cNvPr id="14" name="직선 연결선 13"/>
          <p:cNvCxnSpPr>
            <a:endCxn id="3" idx="3"/>
          </p:cNvCxnSpPr>
          <p:nvPr/>
        </p:nvCxnSpPr>
        <p:spPr bwMode="auto">
          <a:xfrm flipH="1">
            <a:off x="4448175" y="4900613"/>
            <a:ext cx="1062038"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3" name="직사각형 2"/>
          <p:cNvSpPr/>
          <p:nvPr/>
        </p:nvSpPr>
        <p:spPr>
          <a:xfrm>
            <a:off x="3873500" y="4792663"/>
            <a:ext cx="574675" cy="215900"/>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19" name="직사각형 18"/>
          <p:cNvSpPr/>
          <p:nvPr/>
        </p:nvSpPr>
        <p:spPr>
          <a:xfrm>
            <a:off x="4448175" y="2154238"/>
            <a:ext cx="649288" cy="425450"/>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20" name="직사각형 19"/>
          <p:cNvSpPr/>
          <p:nvPr/>
        </p:nvSpPr>
        <p:spPr>
          <a:xfrm>
            <a:off x="3008313" y="5732463"/>
            <a:ext cx="576262" cy="217487"/>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cxnSp>
        <p:nvCxnSpPr>
          <p:cNvPr id="22" name="직선 연결선 21"/>
          <p:cNvCxnSpPr>
            <a:endCxn id="20" idx="3"/>
          </p:cNvCxnSpPr>
          <p:nvPr/>
        </p:nvCxnSpPr>
        <p:spPr bwMode="auto">
          <a:xfrm flipH="1">
            <a:off x="3584575" y="5832475"/>
            <a:ext cx="1925638" cy="9525"/>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5" name="직사각형 24"/>
          <p:cNvSpPr/>
          <p:nvPr/>
        </p:nvSpPr>
        <p:spPr>
          <a:xfrm>
            <a:off x="2997200" y="3500438"/>
            <a:ext cx="576263" cy="792162"/>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cxnSp>
        <p:nvCxnSpPr>
          <p:cNvPr id="27" name="직선 연결선 26"/>
          <p:cNvCxnSpPr/>
          <p:nvPr/>
        </p:nvCxnSpPr>
        <p:spPr bwMode="auto">
          <a:xfrm flipH="1" flipV="1">
            <a:off x="3573463" y="3897313"/>
            <a:ext cx="1997075" cy="144462"/>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208</a:t>
            </a:fld>
            <a:endParaRPr lang="ko-KR" altLang="en-US" dirty="0">
              <a:latin typeface="Arial" pitchFamily="34" charset="0"/>
              <a:cs typeface="Arial" pitchFamily="34" charset="0"/>
            </a:endParaRPr>
          </a:p>
        </p:txBody>
      </p:sp>
      <p:sp>
        <p:nvSpPr>
          <p:cNvPr id="29" name="TextBox 28"/>
          <p:cNvSpPr txBox="1"/>
          <p:nvPr/>
        </p:nvSpPr>
        <p:spPr>
          <a:xfrm>
            <a:off x="428625" y="827088"/>
            <a:ext cx="9276903" cy="307777"/>
          </a:xfrm>
          <a:prstGeom prst="rect">
            <a:avLst/>
          </a:prstGeom>
          <a:noFill/>
        </p:spPr>
        <p:txBody>
          <a:bodyPr wrap="square">
            <a:spAutoFit/>
          </a:bodyPr>
          <a:lstStyle/>
          <a:p>
            <a:pPr marL="174625" indent="-174625"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Gage R&amp;R: 10 Part, 3 Operators (Appraisers), </a:t>
            </a:r>
            <a:r>
              <a:rPr kumimoji="0" lang="en-US" altLang="ko-KR" sz="1400" b="1" kern="0" dirty="0" err="1">
                <a:solidFill>
                  <a:sysClr val="windowText" lastClr="000000"/>
                </a:solidFill>
                <a:latin typeface="Arial" pitchFamily="34" charset="0"/>
                <a:ea typeface="맑은 고딕" pitchFamily="50" charset="-127"/>
                <a:cs typeface="Arial" pitchFamily="34" charset="0"/>
              </a:rPr>
              <a:t>lặp</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lại</a:t>
            </a:r>
            <a:r>
              <a:rPr kumimoji="0" lang="en-US" altLang="ko-KR" sz="1400" b="1" kern="0" dirty="0">
                <a:solidFill>
                  <a:sysClr val="windowText" lastClr="000000"/>
                </a:solidFill>
                <a:latin typeface="Arial" pitchFamily="34" charset="0"/>
                <a:ea typeface="맑은 고딕" pitchFamily="50" charset="-127"/>
                <a:cs typeface="Arial" pitchFamily="34" charset="0"/>
              </a:rPr>
              <a:t> 3 </a:t>
            </a:r>
            <a:r>
              <a:rPr kumimoji="0" lang="en-US" altLang="ko-KR" sz="1400" b="1" kern="0" dirty="0" err="1">
                <a:solidFill>
                  <a:sysClr val="windowText" lastClr="000000"/>
                </a:solidFill>
                <a:latin typeface="Arial" pitchFamily="34" charset="0"/>
                <a:ea typeface="맑은 고딕" pitchFamily="50" charset="-127"/>
                <a:cs typeface="Arial" pitchFamily="34" charset="0"/>
              </a:rPr>
              <a:t>lần</a:t>
            </a:r>
            <a:r>
              <a:rPr kumimoji="0" lang="en-US" altLang="ko-KR" sz="1400" b="1" kern="0" dirty="0">
                <a:solidFill>
                  <a:sysClr val="windowText" lastClr="000000"/>
                </a:solidFill>
                <a:latin typeface="Arial" pitchFamily="34" charset="0"/>
                <a:ea typeface="맑은 고딕" pitchFamily="50" charset="-127"/>
                <a:cs typeface="Arial" pitchFamily="34" charset="0"/>
              </a:rPr>
              <a:t> (Bad Case)</a:t>
            </a:r>
          </a:p>
        </p:txBody>
      </p:sp>
      <p:sp>
        <p:nvSpPr>
          <p:cNvPr id="30" name="Rectangle 5"/>
          <p:cNvSpPr>
            <a:spLocks noChangeArrowheads="1"/>
          </p:cNvSpPr>
          <p:nvPr/>
        </p:nvSpPr>
        <p:spPr bwMode="auto">
          <a:xfrm>
            <a:off x="5574298" y="1396990"/>
            <a:ext cx="43317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P-value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0.000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Do </a:t>
            </a:r>
            <a:r>
              <a:rPr lang="en-US" altLang="ko-KR" sz="1000" dirty="0" err="1">
                <a:solidFill>
                  <a:srgbClr val="000000"/>
                </a:solidFill>
                <a:latin typeface="Arial" pitchFamily="34" charset="0"/>
                <a:ea typeface="맑은 고딕" pitchFamily="50" charset="-127"/>
                <a:cs typeface="Arial" pitchFamily="34" charset="0"/>
              </a:rPr>
              <a:t>đó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sự</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biệt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giữa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Part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kể</a:t>
            </a:r>
            <a:endParaRPr lang="en-US" altLang="ko-KR" sz="1000" dirty="0">
              <a:solidFill>
                <a:srgbClr val="000000"/>
              </a:solidFill>
              <a:latin typeface="Arial" pitchFamily="34" charset="0"/>
              <a:ea typeface="맑은 고딕" pitchFamily="50" charset="-127"/>
              <a:cs typeface="Arial" pitchFamily="34" charset="0"/>
            </a:endParaRPr>
          </a:p>
        </p:txBody>
      </p:sp>
      <p:sp>
        <p:nvSpPr>
          <p:cNvPr id="31" name="Rectangle 5"/>
          <p:cNvSpPr>
            <a:spLocks noChangeArrowheads="1"/>
          </p:cNvSpPr>
          <p:nvPr/>
        </p:nvSpPr>
        <p:spPr bwMode="auto">
          <a:xfrm>
            <a:off x="5574243" y="2145395"/>
            <a:ext cx="433175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Operator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0.03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a:t>
            </a:r>
            <a:r>
              <a:rPr lang="en-US" altLang="ko-KR" sz="1000" b="1" dirty="0">
                <a:solidFill>
                  <a:srgbClr val="FF0000"/>
                </a:solidFill>
                <a:latin typeface="Arial" pitchFamily="34" charset="0"/>
                <a:ea typeface="맑은 고딕" pitchFamily="50" charset="-127"/>
                <a:cs typeface="Arial" pitchFamily="34" charset="0"/>
                <a:sym typeface="Wingdings" pitchFamily="2" charset="2"/>
              </a:rPr>
              <a:t></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Có</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sự</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khác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biệt</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giữa</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những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người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đánh</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giá</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có</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vấn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đề</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với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Khả</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năng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tái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tạo</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Xác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định</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nguyên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nhân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thông</a:t>
            </a:r>
            <a:r>
              <a:rPr lang="en-US" altLang="ko-KR" sz="1000" b="1" dirty="0">
                <a:solidFill>
                  <a:srgbClr val="FF0000"/>
                </a:solidFill>
                <a:latin typeface="Arial" pitchFamily="34" charset="0"/>
                <a:ea typeface="맑은 고딕" pitchFamily="50" charset="-127"/>
                <a:cs typeface="Arial" pitchFamily="34" charset="0"/>
              </a:rPr>
              <a:t> qua </a:t>
            </a:r>
            <a:r>
              <a:rPr lang="en-US" altLang="ko-KR" sz="1000" b="1" dirty="0" err="1">
                <a:solidFill>
                  <a:srgbClr val="FF0000"/>
                </a:solidFill>
                <a:latin typeface="Arial" pitchFamily="34" charset="0"/>
                <a:ea typeface="맑은 고딕" pitchFamily="50" charset="-127"/>
                <a:cs typeface="Arial" pitchFamily="34" charset="0"/>
              </a:rPr>
              <a:t>phân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tích</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biểu</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đồ</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và</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tiến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hành</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đo</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lường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phù</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hợp</a:t>
            </a:r>
            <a:r>
              <a:rPr lang="en-US" altLang="ko-KR" sz="1000" b="1" dirty="0">
                <a:solidFill>
                  <a:srgbClr val="FF0000"/>
                </a:solidFill>
                <a:latin typeface="Arial" pitchFamily="34" charset="0"/>
                <a:ea typeface="맑은 고딕" pitchFamily="50" charset="-127"/>
                <a:cs typeface="Arial" pitchFamily="34" charset="0"/>
              </a:rPr>
              <a:t>. </a:t>
            </a:r>
            <a:endParaRPr lang="en-US" altLang="ko-KR" sz="1000" dirty="0">
              <a:solidFill>
                <a:srgbClr val="000000"/>
              </a:solidFill>
              <a:latin typeface="Arial" pitchFamily="34" charset="0"/>
              <a:ea typeface="맑은 고딕" pitchFamily="50" charset="-127"/>
              <a:cs typeface="Arial" pitchFamily="34" charset="0"/>
            </a:endParaRPr>
          </a:p>
        </p:txBody>
      </p:sp>
      <p:sp>
        <p:nvSpPr>
          <p:cNvPr id="32" name="Rectangle 5"/>
          <p:cNvSpPr>
            <a:spLocks noChangeArrowheads="1"/>
          </p:cNvSpPr>
          <p:nvPr/>
        </p:nvSpPr>
        <p:spPr bwMode="auto">
          <a:xfrm>
            <a:off x="5569432" y="2966433"/>
            <a:ext cx="415530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Giá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trị</a:t>
            </a:r>
            <a:r>
              <a:rPr lang="en-US" altLang="ko-KR" sz="1000" dirty="0">
                <a:solidFill>
                  <a:srgbClr val="000000"/>
                </a:solidFill>
                <a:latin typeface="Arial" pitchFamily="34" charset="0"/>
                <a:ea typeface="맑은 고딕" pitchFamily="50" charset="-127"/>
                <a:cs typeface="Arial" pitchFamily="34" charset="0"/>
              </a:rPr>
              <a:t> P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Part * Operator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0.000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mức</a:t>
            </a:r>
            <a:r>
              <a:rPr lang="en-US" altLang="ko-KR" sz="1000" dirty="0">
                <a:solidFill>
                  <a:srgbClr val="000000"/>
                </a:solidFill>
                <a:latin typeface="Arial" pitchFamily="34" charset="0"/>
                <a:ea typeface="맑은 고딕" pitchFamily="50" charset="-127"/>
                <a:cs typeface="Arial" pitchFamily="34" charset="0"/>
              </a:rPr>
              <a:t> ý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0.05, </a:t>
            </a:r>
            <a:r>
              <a:rPr lang="en-US" altLang="ko-KR" sz="1000" dirty="0" err="1">
                <a:solidFill>
                  <a:srgbClr val="000000"/>
                </a:solidFill>
                <a:latin typeface="Arial" pitchFamily="34" charset="0"/>
                <a:ea typeface="맑은 고딕" pitchFamily="50" charset="-127"/>
                <a:cs typeface="Arial" pitchFamily="34" charset="0"/>
              </a:rPr>
              <a:t>nên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có</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nghĩa</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các</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nghiên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cứu</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bổ</a:t>
            </a:r>
            <a:r>
              <a:rPr lang="en-US" altLang="ko-KR" sz="1000" dirty="0">
                <a:solidFill>
                  <a:srgbClr val="000000"/>
                </a:solidFill>
                <a:latin typeface="Arial" pitchFamily="34" charset="0"/>
                <a:ea typeface="맑은 고딕" pitchFamily="50" charset="-127"/>
                <a:cs typeface="Arial" pitchFamily="34" charset="0"/>
              </a:rPr>
              <a:t> sung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cần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thiết</a:t>
            </a:r>
            <a:r>
              <a:rPr lang="en-US" altLang="ko-KR" sz="1000" dirty="0">
                <a:solidFill>
                  <a:srgbClr val="000000"/>
                </a:solidFill>
                <a:latin typeface="Arial" pitchFamily="34" charset="0"/>
                <a:ea typeface="맑은 고딕" pitchFamily="50" charset="-127"/>
                <a:cs typeface="Arial" pitchFamily="34" charset="0"/>
              </a:rPr>
              <a:t>.. </a:t>
            </a:r>
            <a:r>
              <a:rPr lang="en-US" altLang="ko-KR" sz="1000" b="1" dirty="0">
                <a:solidFill>
                  <a:srgbClr val="FF0000"/>
                </a:solidFill>
                <a:latin typeface="Arial" pitchFamily="34" charset="0"/>
                <a:ea typeface="맑은 고딕" pitchFamily="50" charset="-127"/>
                <a:cs typeface="Arial" pitchFamily="34" charset="0"/>
                <a:sym typeface="Wingdings" pitchFamily="2" charset="2"/>
              </a:rPr>
              <a:t></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Điều</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này</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có</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nghĩa</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là</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có</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sự</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tương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tác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giữa</a:t>
            </a:r>
            <a:r>
              <a:rPr lang="en-US" altLang="ko-KR" sz="1000" b="1" dirty="0">
                <a:solidFill>
                  <a:srgbClr val="FF0000"/>
                </a:solidFill>
                <a:latin typeface="Arial" pitchFamily="34" charset="0"/>
                <a:ea typeface="맑은 고딕" pitchFamily="50" charset="-127"/>
                <a:cs typeface="Arial" pitchFamily="34" charset="0"/>
              </a:rPr>
              <a:t> Part </a:t>
            </a:r>
            <a:r>
              <a:rPr lang="en-US" altLang="ko-KR" sz="1000" b="1" dirty="0" err="1">
                <a:solidFill>
                  <a:srgbClr val="FF0000"/>
                </a:solidFill>
                <a:latin typeface="Arial" pitchFamily="34" charset="0"/>
                <a:ea typeface="맑은 고딕" pitchFamily="50" charset="-127"/>
                <a:cs typeface="Arial" pitchFamily="34" charset="0"/>
              </a:rPr>
              <a:t>và</a:t>
            </a:r>
            <a:r>
              <a:rPr lang="en-US" altLang="ko-KR" sz="1000" b="1" dirty="0">
                <a:solidFill>
                  <a:srgbClr val="FF0000"/>
                </a:solidFill>
                <a:latin typeface="Arial" pitchFamily="34" charset="0"/>
                <a:ea typeface="맑은 고딕" pitchFamily="50" charset="-127"/>
                <a:cs typeface="Arial" pitchFamily="34" charset="0"/>
              </a:rPr>
              <a:t> Operator. </a:t>
            </a:r>
            <a:r>
              <a:rPr lang="en-US" altLang="ko-KR" sz="1000" b="1" dirty="0" err="1">
                <a:solidFill>
                  <a:srgbClr val="FF0000"/>
                </a:solidFill>
                <a:latin typeface="Arial" pitchFamily="34" charset="0"/>
                <a:ea typeface="맑은 고딕" pitchFamily="50" charset="-127"/>
                <a:cs typeface="Arial" pitchFamily="34" charset="0"/>
              </a:rPr>
              <a:t>Nguyên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nhân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cần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được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điều</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tra</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xác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định</a:t>
            </a:r>
            <a:endParaRPr lang="en-US" altLang="ko-KR" sz="1000" b="1" dirty="0">
              <a:solidFill>
                <a:srgbClr val="FF0000"/>
              </a:solidFill>
              <a:latin typeface="Arial" pitchFamily="34" charset="0"/>
              <a:ea typeface="맑은 고딕" pitchFamily="50" charset="-127"/>
              <a:cs typeface="Arial" pitchFamily="34" charset="0"/>
            </a:endParaRPr>
          </a:p>
        </p:txBody>
      </p:sp>
      <p:sp>
        <p:nvSpPr>
          <p:cNvPr id="34" name="Rectangle 5"/>
          <p:cNvSpPr>
            <a:spLocks noChangeArrowheads="1"/>
          </p:cNvSpPr>
          <p:nvPr/>
        </p:nvSpPr>
        <p:spPr bwMode="auto">
          <a:xfrm>
            <a:off x="5585187" y="4726189"/>
            <a:ext cx="407987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%Study Variation = 32.66%</a:t>
            </a:r>
            <a:r>
              <a:rPr lang="ko-KR" altLang="en-US"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lớn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30%,Hệ </a:t>
            </a:r>
            <a:r>
              <a:rPr lang="en-US" altLang="ko-KR" sz="1000" dirty="0" err="1">
                <a:solidFill>
                  <a:srgbClr val="000000"/>
                </a:solidFill>
                <a:latin typeface="Arial" pitchFamily="34" charset="0"/>
                <a:ea typeface="맑은 고딕" pitchFamily="50" charset="-127"/>
                <a:cs typeface="Arial" pitchFamily="34" charset="0"/>
              </a:rPr>
              <a:t>thống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đo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lường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này</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phù</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hợp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với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soát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trình</a:t>
            </a:r>
            <a:r>
              <a:rPr lang="en-US" altLang="ko-KR" sz="1000" dirty="0">
                <a:solidFill>
                  <a:srgbClr val="000000"/>
                </a:solidFill>
                <a:latin typeface="Arial" pitchFamily="34" charset="0"/>
                <a:ea typeface="맑은 고딕" pitchFamily="50" charset="-127"/>
                <a:cs typeface="Arial" pitchFamily="34" charset="0"/>
              </a:rPr>
              <a:t>.</a:t>
            </a:r>
            <a:r>
              <a:rPr lang="en-US" altLang="ko-KR" sz="1000" b="1" dirty="0">
                <a:solidFill>
                  <a:srgbClr val="FF0000"/>
                </a:solidFill>
                <a:latin typeface="Arial" pitchFamily="34" charset="0"/>
                <a:ea typeface="맑은 고딕" pitchFamily="50" charset="-127"/>
                <a:cs typeface="Arial" pitchFamily="34" charset="0"/>
                <a:sym typeface="Wingdings" pitchFamily="2" charset="2"/>
              </a:rPr>
              <a:t> </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Sau</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khi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vấn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đề</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của</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khả</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năng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tái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tạo</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được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điều</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chỉnh</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mục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này</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cần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được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kiểm</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tra</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lại</a:t>
            </a:r>
            <a:r>
              <a:rPr lang="en-US" altLang="ko-KR" sz="1000" b="1" dirty="0">
                <a:solidFill>
                  <a:srgbClr val="FF0000"/>
                </a:solidFill>
                <a:latin typeface="Arial" pitchFamily="34" charset="0"/>
                <a:ea typeface="맑은 고딕" pitchFamily="50" charset="-127"/>
                <a:cs typeface="Arial" pitchFamily="34" charset="0"/>
              </a:rPr>
              <a:t>. </a:t>
            </a:r>
            <a:endParaRPr lang="en-US" altLang="ko-KR" sz="1000" dirty="0">
              <a:solidFill>
                <a:srgbClr val="000000"/>
              </a:solidFill>
              <a:latin typeface="Arial" pitchFamily="34" charset="0"/>
              <a:ea typeface="맑은 고딕" pitchFamily="50" charset="-127"/>
              <a:cs typeface="Arial" pitchFamily="34" charset="0"/>
            </a:endParaRPr>
          </a:p>
        </p:txBody>
      </p:sp>
      <p:sp>
        <p:nvSpPr>
          <p:cNvPr id="35" name="Rectangle 5"/>
          <p:cNvSpPr>
            <a:spLocks noChangeArrowheads="1"/>
          </p:cNvSpPr>
          <p:nvPr/>
        </p:nvSpPr>
        <p:spPr bwMode="auto">
          <a:xfrm>
            <a:off x="5601072" y="5683993"/>
            <a:ext cx="416011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NDC = 4 </a:t>
            </a:r>
            <a:r>
              <a:rPr lang="en-US" altLang="ko-KR" sz="1000" dirty="0" err="1">
                <a:solidFill>
                  <a:srgbClr val="000000"/>
                </a:solidFill>
                <a:latin typeface="Arial" pitchFamily="34" charset="0"/>
                <a:ea typeface="맑은 고딕" pitchFamily="50" charset="-127"/>
                <a:cs typeface="Arial" pitchFamily="34" charset="0"/>
              </a:rPr>
              <a:t>nhỏ</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5, </a:t>
            </a:r>
            <a:r>
              <a:rPr lang="en-US" altLang="ko-KR" sz="1000" dirty="0" err="1">
                <a:solidFill>
                  <a:srgbClr val="000000"/>
                </a:solidFill>
                <a:latin typeface="Arial" pitchFamily="34" charset="0"/>
                <a:ea typeface="맑은 고딕" pitchFamily="50" charset="-127"/>
                <a:cs typeface="Arial" pitchFamily="34" charset="0"/>
              </a:rPr>
              <a:t>không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phù</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hợp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với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kiểm</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soát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quá</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trình</a:t>
            </a:r>
            <a:r>
              <a:rPr lang="en-US" altLang="ko-KR" sz="1000" dirty="0">
                <a:solidFill>
                  <a:srgbClr val="000000"/>
                </a:solidFill>
                <a:latin typeface="Arial" pitchFamily="34" charset="0"/>
                <a:ea typeface="맑은 고딕" pitchFamily="50" charset="-127"/>
                <a:cs typeface="Arial" pitchFamily="34" charset="0"/>
              </a:rPr>
              <a:t>.</a:t>
            </a:r>
            <a:r>
              <a:rPr lang="en-US" altLang="ko-KR" sz="1000" b="1" dirty="0">
                <a:solidFill>
                  <a:srgbClr val="FF0000"/>
                </a:solidFill>
                <a:latin typeface="Arial" pitchFamily="34" charset="0"/>
                <a:ea typeface="맑은 고딕" pitchFamily="50" charset="-127"/>
                <a:cs typeface="Arial" pitchFamily="34" charset="0"/>
                <a:sym typeface="Wingdings" pitchFamily="2" charset="2"/>
              </a:rPr>
              <a:t> </a:t>
            </a:r>
          </a:p>
          <a:p>
            <a:pPr eaLnBrk="1" hangingPunct="1"/>
            <a:r>
              <a:rPr lang="en-US" altLang="ko-KR" sz="1000" b="1" dirty="0">
                <a:solidFill>
                  <a:srgbClr val="FF0000"/>
                </a:solidFill>
                <a:latin typeface="Arial" pitchFamily="34" charset="0"/>
                <a:ea typeface="맑은 고딕" pitchFamily="50" charset="-127"/>
                <a:cs typeface="Arial" pitchFamily="34" charset="0"/>
                <a:sym typeface="Wingdings" pitchFamily="2" charset="2"/>
              </a:rPr>
              <a:t>  </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Sau</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khi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vấn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đề</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Khả</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năng</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tái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tạo</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được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điều</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chỉnh</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mục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này</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cần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được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kiểm</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tra</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lại</a:t>
            </a:r>
            <a:r>
              <a:rPr lang="en-US" altLang="ko-KR" sz="1000" b="1" dirty="0">
                <a:solidFill>
                  <a:srgbClr val="FF0000"/>
                </a:solidFill>
                <a:latin typeface="Arial" pitchFamily="34" charset="0"/>
                <a:ea typeface="맑은 고딕" pitchFamily="50" charset="-127"/>
                <a:cs typeface="Arial" pitchFamily="34" charset="0"/>
              </a:rPr>
              <a:t>. </a:t>
            </a:r>
            <a:endParaRPr lang="en-US" altLang="ko-KR" sz="1000" dirty="0">
              <a:solidFill>
                <a:srgbClr val="000000"/>
              </a:solidFill>
              <a:latin typeface="Arial" pitchFamily="34" charset="0"/>
              <a:ea typeface="맑은 고딕" pitchFamily="50" charset="-127"/>
              <a:cs typeface="Arial" pitchFamily="34" charset="0"/>
            </a:endParaRPr>
          </a:p>
        </p:txBody>
      </p:sp>
      <p:sp>
        <p:nvSpPr>
          <p:cNvPr id="36" name="Rectangle 5"/>
          <p:cNvSpPr>
            <a:spLocks noChangeArrowheads="1"/>
          </p:cNvSpPr>
          <p:nvPr/>
        </p:nvSpPr>
        <p:spPr bwMode="auto">
          <a:xfrm>
            <a:off x="5585187" y="3780066"/>
            <a:ext cx="432081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Trong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tổng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số</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chênh</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lệch</a:t>
            </a:r>
            <a:r>
              <a:rPr lang="en-US" altLang="ko-KR" sz="1000" dirty="0">
                <a:solidFill>
                  <a:srgbClr val="000000"/>
                </a:solidFill>
                <a:latin typeface="Arial" pitchFamily="34" charset="0"/>
                <a:ea typeface="맑은 고딕" pitchFamily="50" charset="-127"/>
                <a:cs typeface="Arial" pitchFamily="34" charset="0"/>
              </a:rPr>
              <a:t> , </a:t>
            </a:r>
            <a:r>
              <a:rPr lang="en-US" altLang="ko-KR" sz="1000" dirty="0" err="1">
                <a:solidFill>
                  <a:srgbClr val="000000"/>
                </a:solidFill>
                <a:latin typeface="Arial" pitchFamily="34" charset="0"/>
                <a:ea typeface="맑은 고딕" pitchFamily="50" charset="-127"/>
                <a:cs typeface="Arial" pitchFamily="34" charset="0"/>
              </a:rPr>
              <a:t>tỉ</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lệ</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của</a:t>
            </a:r>
            <a:r>
              <a:rPr lang="en-US" altLang="ko-KR" sz="1000" dirty="0">
                <a:solidFill>
                  <a:srgbClr val="000000"/>
                </a:solidFill>
                <a:latin typeface="Arial" pitchFamily="34" charset="0"/>
                <a:ea typeface="맑은 고딕" pitchFamily="50" charset="-127"/>
                <a:cs typeface="Arial" pitchFamily="34" charset="0"/>
              </a:rPr>
              <a:t> Gage R&amp;R </a:t>
            </a:r>
            <a:r>
              <a:rPr lang="en-US" altLang="ko-KR" sz="1000" dirty="0" err="1">
                <a:solidFill>
                  <a:srgbClr val="000000"/>
                </a:solidFill>
                <a:latin typeface="Arial" pitchFamily="34" charset="0"/>
                <a:ea typeface="맑은 고딕" pitchFamily="50" charset="-127"/>
                <a:cs typeface="Arial" pitchFamily="34" charset="0"/>
              </a:rPr>
              <a:t>là</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rất</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cao</a:t>
            </a:r>
            <a:r>
              <a:rPr lang="en-US" altLang="ko-KR" sz="1000" dirty="0">
                <a:solidFill>
                  <a:srgbClr val="000000"/>
                </a:solidFill>
                <a:latin typeface="Arial" pitchFamily="34" charset="0"/>
                <a:ea typeface="맑은 고딕" pitchFamily="50" charset="-127"/>
                <a:cs typeface="Arial" pitchFamily="34" charset="0"/>
              </a:rPr>
              <a:t> 10.67%. </a:t>
            </a:r>
            <a:r>
              <a:rPr lang="en-US" altLang="ko-KR" sz="1000" dirty="0" err="1">
                <a:solidFill>
                  <a:srgbClr val="000000"/>
                </a:solidFill>
                <a:latin typeface="Arial" pitchFamily="34" charset="0"/>
                <a:ea typeface="맑은 고딕" pitchFamily="50" charset="-127"/>
                <a:cs typeface="Arial" pitchFamily="34" charset="0"/>
              </a:rPr>
              <a:t>Phương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sai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năng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tái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tạo</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lớn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hơn</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phương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sai</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Khả</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năng</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lặp</a:t>
            </a:r>
            <a:r>
              <a:rPr lang="en-US" altLang="ko-KR" sz="1000" dirty="0">
                <a:solidFill>
                  <a:srgbClr val="000000"/>
                </a:solidFill>
                <a:latin typeface="Arial" pitchFamily="34" charset="0"/>
                <a:ea typeface="맑은 고딕" pitchFamily="50" charset="-127"/>
                <a:cs typeface="Arial" pitchFamily="34" charset="0"/>
              </a:rPr>
              <a:t> </a:t>
            </a:r>
            <a:r>
              <a:rPr lang="en-US" altLang="ko-KR" sz="1000" dirty="0" err="1">
                <a:solidFill>
                  <a:srgbClr val="000000"/>
                </a:solidFill>
                <a:latin typeface="Arial" pitchFamily="34" charset="0"/>
                <a:ea typeface="맑은 고딕" pitchFamily="50" charset="-127"/>
                <a:cs typeface="Arial" pitchFamily="34" charset="0"/>
              </a:rPr>
              <a:t>lại</a:t>
            </a:r>
            <a:r>
              <a:rPr lang="en-US" altLang="ko-KR" sz="1000" dirty="0">
                <a:solidFill>
                  <a:srgbClr val="000000"/>
                </a:solidFill>
                <a:latin typeface="Arial" pitchFamily="34" charset="0"/>
                <a:ea typeface="맑은 고딕" pitchFamily="50" charset="-127"/>
                <a:cs typeface="Arial" pitchFamily="34" charset="0"/>
              </a:rPr>
              <a:t>.</a:t>
            </a:r>
            <a:br>
              <a:rPr lang="en-US" altLang="ko-KR" sz="1000" dirty="0">
                <a:solidFill>
                  <a:srgbClr val="000000"/>
                </a:solidFill>
                <a:latin typeface="Arial" pitchFamily="34" charset="0"/>
                <a:ea typeface="맑은 고딕" pitchFamily="50" charset="-127"/>
                <a:cs typeface="Arial" pitchFamily="34" charset="0"/>
              </a:rPr>
            </a:br>
            <a:r>
              <a:rPr lang="en-US" altLang="ko-KR" sz="1000" b="1" dirty="0">
                <a:solidFill>
                  <a:srgbClr val="FF0000"/>
                </a:solidFill>
                <a:latin typeface="Arial" pitchFamily="34" charset="0"/>
                <a:ea typeface="맑은 고딕" pitchFamily="50" charset="-127"/>
                <a:cs typeface="Arial" pitchFamily="34" charset="0"/>
                <a:sym typeface="Wingdings" pitchFamily="2" charset="2"/>
              </a:rPr>
              <a:t></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Có</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sự</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khác</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biệt</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lớn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giữa</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người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đo</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Xem</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lại,cải</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tiến</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tiêu</a:t>
            </a:r>
            <a:r>
              <a:rPr lang="en-US" altLang="ko-KR" sz="1000" b="1" dirty="0">
                <a:solidFill>
                  <a:srgbClr val="FF0000"/>
                </a:solidFill>
                <a:latin typeface="Arial" pitchFamily="34" charset="0"/>
                <a:ea typeface="맑은 고딕" pitchFamily="50" charset="-127"/>
                <a:cs typeface="Arial" pitchFamily="34" charset="0"/>
              </a:rPr>
              <a:t> </a:t>
            </a:r>
            <a:r>
              <a:rPr lang="en-US" altLang="ko-KR" sz="1000" b="1" dirty="0" err="1">
                <a:solidFill>
                  <a:srgbClr val="FF0000"/>
                </a:solidFill>
                <a:latin typeface="Arial" pitchFamily="34" charset="0"/>
                <a:ea typeface="맑은 고딕" pitchFamily="50" charset="-127"/>
                <a:cs typeface="Arial" pitchFamily="34" charset="0"/>
              </a:rPr>
              <a:t>chuẩn</a:t>
            </a:r>
            <a:r>
              <a:rPr lang="en-US" altLang="ko-KR" sz="1000" b="1" dirty="0">
                <a:solidFill>
                  <a:srgbClr val="FF0000"/>
                </a:solidFill>
                <a:latin typeface="Arial" pitchFamily="34" charset="0"/>
                <a:ea typeface="맑은 고딕" pitchFamily="50" charset="-127"/>
                <a:cs typeface="Arial" pitchFamily="34" charset="0"/>
              </a:rPr>
              <a:t> Gage R&amp;R. </a:t>
            </a:r>
          </a:p>
        </p:txBody>
      </p:sp>
      <p:sp>
        <p:nvSpPr>
          <p:cNvPr id="24"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021910644"/>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5"/>
          <p:cNvSpPr>
            <a:spLocks noChangeArrowheads="1"/>
          </p:cNvSpPr>
          <p:nvPr/>
        </p:nvSpPr>
        <p:spPr bwMode="auto">
          <a:xfrm>
            <a:off x="1403350" y="1506537"/>
            <a:ext cx="8013700" cy="2354511"/>
          </a:xfrm>
          <a:prstGeom prst="rect">
            <a:avLst/>
          </a:prstGeom>
          <a:solidFill>
            <a:srgbClr val="FFFFFF"/>
          </a:solidFill>
          <a:ln w="9525" algn="ctr">
            <a:solidFill>
              <a:schemeClr val="bg1">
                <a:lumMod val="65000"/>
              </a:schemeClr>
            </a:solidFill>
            <a:miter lim="800000"/>
            <a:headEnd/>
            <a:tailEnd/>
          </a:ln>
        </p:spPr>
        <p:txBody>
          <a:bodyPr/>
          <a:lstStyle/>
          <a:p>
            <a:pPr>
              <a:lnSpc>
                <a:spcPct val="120000"/>
              </a:lnSpc>
              <a:defRPr/>
            </a:pPr>
            <a:r>
              <a:rPr lang="en-US" altLang="ko-KR" sz="1200" b="1" dirty="0" err="1">
                <a:solidFill>
                  <a:srgbClr val="000000"/>
                </a:solidFill>
                <a:latin typeface="Arial" pitchFamily="34" charset="0"/>
                <a:ea typeface="맑은 고딕" pitchFamily="50" charset="-127"/>
                <a:cs typeface="Arial" pitchFamily="34" charset="0"/>
              </a:rPr>
              <a:t>Giá</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trị</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điện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trở</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của</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mạch</a:t>
            </a:r>
            <a:r>
              <a:rPr lang="en-US" altLang="ko-KR" sz="1200" b="1" dirty="0">
                <a:solidFill>
                  <a:srgbClr val="000000"/>
                </a:solidFill>
                <a:latin typeface="Arial" pitchFamily="34" charset="0"/>
                <a:ea typeface="맑은 고딕" pitchFamily="50" charset="-127"/>
                <a:cs typeface="Arial" pitchFamily="34" charset="0"/>
              </a:rPr>
              <a:t> IGBT </a:t>
            </a:r>
            <a:r>
              <a:rPr lang="en-US" altLang="ko-KR" sz="1200" b="1" dirty="0" err="1">
                <a:solidFill>
                  <a:srgbClr val="000000"/>
                </a:solidFill>
                <a:latin typeface="Arial" pitchFamily="34" charset="0"/>
                <a:ea typeface="맑은 고딕" pitchFamily="50" charset="-127"/>
                <a:cs typeface="Arial" pitchFamily="34" charset="0"/>
              </a:rPr>
              <a:t>có</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tác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động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lớn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tới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năng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lượng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tiêu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thụ</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của</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sản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phẩm</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Giá</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trị</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điện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trở</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được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lựa</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chọn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cho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dự</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án</a:t>
            </a:r>
            <a:r>
              <a:rPr lang="en-US" altLang="ko-KR" sz="1200" b="1" dirty="0">
                <a:solidFill>
                  <a:srgbClr val="000000"/>
                </a:solidFill>
                <a:latin typeface="Arial" pitchFamily="34" charset="0"/>
                <a:ea typeface="맑은 고딕" pitchFamily="50" charset="-127"/>
                <a:cs typeface="Arial" pitchFamily="34" charset="0"/>
              </a:rPr>
              <a:t> Y. </a:t>
            </a:r>
            <a:r>
              <a:rPr lang="en-US" altLang="ko-KR" sz="1200" b="1" dirty="0" err="1">
                <a:solidFill>
                  <a:srgbClr val="000000"/>
                </a:solidFill>
                <a:latin typeface="Arial" pitchFamily="34" charset="0"/>
                <a:ea typeface="맑은 고딕" pitchFamily="50" charset="-127"/>
                <a:cs typeface="Arial" pitchFamily="34" charset="0"/>
              </a:rPr>
              <a:t>Dữ</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liệu</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bên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dưới</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được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tập</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hợp</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nhằm</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xác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định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mức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độ</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chính</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xác</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của</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máy</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dao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động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đo</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lường</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giá</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trị</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điện</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trở</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sử</a:t>
            </a:r>
            <a:r>
              <a:rPr lang="en-US" altLang="ko-KR" sz="1200" b="1" dirty="0">
                <a:solidFill>
                  <a:srgbClr val="000000"/>
                </a:solidFill>
                <a:latin typeface="Arial" pitchFamily="34" charset="0"/>
                <a:ea typeface="맑은 고딕" pitchFamily="50" charset="-127"/>
                <a:cs typeface="Arial" pitchFamily="34" charset="0"/>
              </a:rPr>
              <a:t> </a:t>
            </a:r>
            <a:r>
              <a:rPr lang="en-US" altLang="ko-KR" sz="1200" b="1" dirty="0" err="1">
                <a:solidFill>
                  <a:srgbClr val="000000"/>
                </a:solidFill>
                <a:latin typeface="Arial" pitchFamily="34" charset="0"/>
                <a:ea typeface="맑은 고딕" pitchFamily="50" charset="-127"/>
                <a:cs typeface="Arial" pitchFamily="34" charset="0"/>
              </a:rPr>
              <a:t>dụng</a:t>
            </a:r>
            <a:r>
              <a:rPr lang="en-US" altLang="ko-KR" sz="1200" b="1" dirty="0">
                <a:solidFill>
                  <a:srgbClr val="000000"/>
                </a:solidFill>
                <a:latin typeface="Arial" pitchFamily="34" charset="0"/>
                <a:ea typeface="맑은 고딕" pitchFamily="50" charset="-127"/>
                <a:cs typeface="Arial" pitchFamily="34" charset="0"/>
              </a:rPr>
              <a:t> Gage R&amp;R.</a:t>
            </a:r>
          </a:p>
          <a:p>
            <a:pPr>
              <a:lnSpc>
                <a:spcPct val="120000"/>
              </a:lnSpc>
              <a:defRPr/>
            </a:pPr>
            <a:endParaRPr lang="en-US" altLang="ko-KR" sz="1200" dirty="0">
              <a:solidFill>
                <a:srgbClr val="000000"/>
              </a:solidFill>
              <a:latin typeface="Arial" pitchFamily="34" charset="0"/>
              <a:ea typeface="맑은 고딕" pitchFamily="50" charset="-127"/>
              <a:cs typeface="Arial" pitchFamily="34" charset="0"/>
            </a:endParaRPr>
          </a:p>
          <a:p>
            <a:pPr marL="171450" indent="-171450">
              <a:lnSpc>
                <a:spcPct val="120000"/>
              </a:lnSpc>
              <a:defRPr/>
            </a:pPr>
            <a:r>
              <a:rPr lang="en-US" altLang="ko-KR" sz="1100" dirty="0">
                <a:solidFill>
                  <a:srgbClr val="000000"/>
                </a:solidFill>
                <a:latin typeface="Arial" pitchFamily="34" charset="0"/>
                <a:ea typeface="맑은 고딕" pitchFamily="50" charset="-127"/>
                <a:cs typeface="Arial" pitchFamily="34" charset="0"/>
              </a:rPr>
              <a:t>- Spec : 1.0±0.005 </a:t>
            </a:r>
            <a:r>
              <a:rPr lang="en-US" altLang="ko-KR" sz="1100" dirty="0" err="1">
                <a:solidFill>
                  <a:srgbClr val="000000"/>
                </a:solidFill>
                <a:latin typeface="Arial" pitchFamily="34" charset="0"/>
                <a:ea typeface="맑은 고딕" pitchFamily="50" charset="-127"/>
                <a:cs typeface="Arial" pitchFamily="34" charset="0"/>
              </a:rPr>
              <a:t>kΩ</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dụng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cụ</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chia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khoảng</a:t>
            </a:r>
            <a:r>
              <a:rPr lang="en-US" altLang="ko-KR" sz="1100" dirty="0">
                <a:solidFill>
                  <a:srgbClr val="000000"/>
                </a:solidFill>
                <a:latin typeface="Arial" pitchFamily="34" charset="0"/>
                <a:ea typeface="맑은 고딕" pitchFamily="50" charset="-127"/>
                <a:cs typeface="Arial" pitchFamily="34" charset="0"/>
              </a:rPr>
              <a:t> 0.1 Ω]</a:t>
            </a:r>
          </a:p>
          <a:p>
            <a:pPr marL="171450" indent="-171450">
              <a:lnSpc>
                <a:spcPct val="120000"/>
              </a:lnSpc>
              <a:defRPr/>
            </a:pP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3 </a:t>
            </a:r>
            <a:r>
              <a:rPr lang="en-US" altLang="ko-KR" sz="1100" dirty="0" err="1">
                <a:solidFill>
                  <a:srgbClr val="000000"/>
                </a:solidFill>
                <a:latin typeface="Arial" pitchFamily="34" charset="0"/>
                <a:ea typeface="맑은 고딕" pitchFamily="50" charset="-127"/>
                <a:cs typeface="Arial" pitchFamily="34" charset="0"/>
              </a:rPr>
              <a:t>người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lựa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chọn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phụ</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trách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việc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việc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tiến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hành</a:t>
            </a:r>
            <a:r>
              <a:rPr lang="en-US" altLang="ko-KR" sz="1100" dirty="0">
                <a:solidFill>
                  <a:srgbClr val="000000"/>
                </a:solidFill>
                <a:latin typeface="Arial" pitchFamily="34" charset="0"/>
                <a:ea typeface="맑은 고딕" pitchFamily="50" charset="-127"/>
                <a:cs typeface="Arial" pitchFamily="34" charset="0"/>
              </a:rPr>
              <a:t> 2 </a:t>
            </a:r>
            <a:r>
              <a:rPr lang="en-US" altLang="ko-KR" sz="1100" dirty="0" err="1">
                <a:solidFill>
                  <a:srgbClr val="000000"/>
                </a:solidFill>
                <a:latin typeface="Arial" pitchFamily="34" charset="0"/>
                <a:ea typeface="맑은 고딕" pitchFamily="50" charset="-127"/>
                <a:cs typeface="Arial" pitchFamily="34" charset="0"/>
              </a:rPr>
              <a:t>lần</a:t>
            </a:r>
            <a:r>
              <a:rPr lang="en-US" altLang="ko-KR" sz="1100" dirty="0">
                <a:solidFill>
                  <a:srgbClr val="000000"/>
                </a:solidFill>
                <a:latin typeface="Arial" pitchFamily="34" charset="0"/>
                <a:ea typeface="맑은 고딕" pitchFamily="50" charset="-127"/>
                <a:cs typeface="Arial" pitchFamily="34" charset="0"/>
              </a:rPr>
              <a:t>. </a:t>
            </a:r>
          </a:p>
          <a:p>
            <a:pPr marL="171450" indent="-171450">
              <a:lnSpc>
                <a:spcPct val="120000"/>
              </a:lnSpc>
              <a:defRPr/>
            </a:pP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Tập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hợp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dữ</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liệu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Thứ</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tự</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người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và</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thứ</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tự</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của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các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linh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kiện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sắp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xếp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ngẫu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nhiên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Người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sử</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dụng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phương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pháp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tiêu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chuẩn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để</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không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thay</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đổi</a:t>
            </a:r>
            <a:r>
              <a:rPr lang="en-US" altLang="ko-KR" sz="1100" dirty="0">
                <a:solidFill>
                  <a:srgbClr val="000000"/>
                </a:solidFill>
                <a:latin typeface="Arial" pitchFamily="34" charset="0"/>
                <a:ea typeface="맑은 고딕" pitchFamily="50" charset="-127"/>
                <a:cs typeface="Arial" pitchFamily="34" charset="0"/>
              </a:rPr>
              <a:t> Gage </a:t>
            </a:r>
            <a:r>
              <a:rPr lang="en-US" altLang="ko-KR" sz="1100" dirty="0" err="1">
                <a:solidFill>
                  <a:srgbClr val="000000"/>
                </a:solidFill>
                <a:latin typeface="Arial" pitchFamily="34" charset="0"/>
                <a:ea typeface="맑은 고딕" pitchFamily="50" charset="-127"/>
                <a:cs typeface="Arial" pitchFamily="34" charset="0"/>
              </a:rPr>
              <a:t>khi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a:t>
            </a:r>
          </a:p>
        </p:txBody>
      </p:sp>
      <p:pic>
        <p:nvPicPr>
          <p:cNvPr id="31751" name="Picture 11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183787" y="4060515"/>
            <a:ext cx="5395551" cy="2414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pic>
        <p:nvPicPr>
          <p:cNvPr id="31754"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209</a:t>
            </a:fld>
            <a:endParaRPr lang="ko-KR" altLang="en-US" dirty="0">
              <a:latin typeface="Arial" pitchFamily="34" charset="0"/>
              <a:cs typeface="Arial" pitchFamily="34" charset="0"/>
            </a:endParaRPr>
          </a:p>
        </p:txBody>
      </p:sp>
      <p:sp>
        <p:nvSpPr>
          <p:cNvPr id="11"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
        <p:nvSpPr>
          <p:cNvPr id="13" name="직사각형 30"/>
          <p:cNvSpPr>
            <a:spLocks noChangeArrowheads="1"/>
          </p:cNvSpPr>
          <p:nvPr/>
        </p:nvSpPr>
        <p:spPr bwMode="auto">
          <a:xfrm>
            <a:off x="344488" y="836613"/>
            <a:ext cx="8784976" cy="584775"/>
          </a:xfrm>
          <a:prstGeom prst="rect">
            <a:avLst/>
          </a:prstGeom>
          <a:noFill/>
          <a:ln>
            <a:noFill/>
          </a:ln>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kumimoji="0" lang="en-US" altLang="ko-KR" sz="1600" b="1" dirty="0" err="1">
                <a:latin typeface="Arial" pitchFamily="34" charset="0"/>
                <a:ea typeface="+mn-ea"/>
                <a:cs typeface="Arial" pitchFamily="34" charset="0"/>
              </a:rPr>
              <a:t>Sử</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dụng</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thông</a:t>
            </a:r>
            <a:r>
              <a:rPr kumimoji="0" lang="en-US" altLang="ko-KR" sz="1600" b="1" dirty="0">
                <a:latin typeface="Arial" pitchFamily="34" charset="0"/>
                <a:ea typeface="+mn-ea"/>
                <a:cs typeface="Arial" pitchFamily="34" charset="0"/>
              </a:rPr>
              <a:t> tin </a:t>
            </a:r>
            <a:r>
              <a:rPr kumimoji="0" lang="en-US" altLang="ko-KR" sz="1600" b="1" dirty="0" err="1">
                <a:latin typeface="Arial" pitchFamily="34" charset="0"/>
                <a:ea typeface="+mn-ea"/>
                <a:cs typeface="Arial" pitchFamily="34" charset="0"/>
              </a:rPr>
              <a:t>được</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cho</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bên</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dưới</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tiến</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hành</a:t>
            </a:r>
            <a:r>
              <a:rPr kumimoji="0" lang="en-US" altLang="ko-KR" sz="1600" b="1" dirty="0">
                <a:latin typeface="Arial" pitchFamily="34" charset="0"/>
                <a:ea typeface="+mn-ea"/>
                <a:cs typeface="Arial" pitchFamily="34" charset="0"/>
              </a:rPr>
              <a:t> Crossed Gage R&amp;R </a:t>
            </a:r>
            <a:r>
              <a:rPr kumimoji="0" lang="en-US" altLang="ko-KR" sz="1600" b="1" dirty="0" err="1">
                <a:latin typeface="Arial" pitchFamily="34" charset="0"/>
                <a:ea typeface="+mn-ea"/>
                <a:cs typeface="Arial" pitchFamily="34" charset="0"/>
              </a:rPr>
              <a:t>và</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báo</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cáo</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kết</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quả</a:t>
            </a:r>
            <a:r>
              <a:rPr kumimoji="0" lang="en-US" altLang="ko-KR" sz="1600" b="1" dirty="0">
                <a:latin typeface="Arial" pitchFamily="34" charset="0"/>
                <a:ea typeface="+mn-ea"/>
                <a:cs typeface="Arial" pitchFamily="34" charset="0"/>
              </a:rPr>
              <a:t> (50 </a:t>
            </a:r>
            <a:r>
              <a:rPr kumimoji="0" lang="en-US" altLang="ko-KR" sz="1600" b="1" dirty="0" err="1">
                <a:latin typeface="Arial" pitchFamily="34" charset="0"/>
                <a:ea typeface="+mn-ea"/>
                <a:cs typeface="Arial" pitchFamily="34" charset="0"/>
              </a:rPr>
              <a:t>phút</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thực</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hành</a:t>
            </a:r>
            <a:r>
              <a:rPr kumimoji="0" lang="en-US" altLang="ko-KR" sz="1600" b="1" dirty="0">
                <a:latin typeface="Arial" pitchFamily="34" charset="0"/>
                <a:ea typeface="+mn-ea"/>
                <a:cs typeface="Arial" pitchFamily="34" charset="0"/>
              </a:rPr>
              <a:t>, 10 </a:t>
            </a:r>
            <a:r>
              <a:rPr kumimoji="0" lang="en-US" altLang="ko-KR" sz="1600" b="1" dirty="0" err="1">
                <a:latin typeface="Arial" pitchFamily="34" charset="0"/>
                <a:ea typeface="+mn-ea"/>
                <a:cs typeface="Arial" pitchFamily="34" charset="0"/>
              </a:rPr>
              <a:t>phút</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thuyết</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trình</a:t>
            </a:r>
            <a:r>
              <a:rPr kumimoji="0" lang="en-US" altLang="ko-KR" sz="1600" b="1" dirty="0">
                <a:latin typeface="Arial" pitchFamily="34" charset="0"/>
                <a:ea typeface="+mn-ea"/>
                <a:cs typeface="Arial" pitchFamily="34" charset="0"/>
              </a:rPr>
              <a:t>)</a:t>
            </a:r>
            <a:endParaRPr kumimoji="0" lang="ko-KR" altLang="en-US" sz="1600" dirty="0">
              <a:latin typeface="Arial" pitchFamily="34" charset="0"/>
              <a:ea typeface="+mn-ea"/>
              <a:cs typeface="Arial" pitchFamily="34" charset="0"/>
            </a:endParaRPr>
          </a:p>
        </p:txBody>
      </p:sp>
      <p:sp>
        <p:nvSpPr>
          <p:cNvPr id="8" name="TextBox 27"/>
          <p:cNvSpPr txBox="1">
            <a:spLocks noChangeArrowheads="1"/>
          </p:cNvSpPr>
          <p:nvPr/>
        </p:nvSpPr>
        <p:spPr bwMode="auto">
          <a:xfrm>
            <a:off x="336550" y="1557338"/>
            <a:ext cx="8242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FF0066"/>
                </a:solidFill>
                <a:latin typeface="맑은 고딕" pitchFamily="50" charset="-127"/>
                <a:ea typeface="맑은 고딕" pitchFamily="50" charset="-127"/>
              </a:rPr>
              <a:t>Case File</a:t>
            </a:r>
            <a:endParaRPr lang="ko-KR" altLang="en-US" sz="1200" b="1" dirty="0">
              <a:solidFill>
                <a:srgbClr val="FF0066"/>
              </a:solidFill>
              <a:latin typeface="맑은 고딕" pitchFamily="50" charset="-127"/>
              <a:ea typeface="맑은 고딕" pitchFamily="50" charset="-127"/>
            </a:endParaRPr>
          </a:p>
        </p:txBody>
      </p:sp>
      <p:graphicFrame>
        <p:nvGraphicFramePr>
          <p:cNvPr id="10" name="개체 2"/>
          <p:cNvGraphicFramePr>
            <a:graphicFrameLocks noChangeAspect="1"/>
          </p:cNvGraphicFramePr>
          <p:nvPr>
            <p:extLst>
              <p:ext uri="{D42A27DB-BD31-4B8C-83A1-F6EECF244321}">
                <p14:modId xmlns:p14="http://schemas.microsoft.com/office/powerpoint/2010/main" val="1758380479"/>
              </p:ext>
            </p:extLst>
          </p:nvPr>
        </p:nvGraphicFramePr>
        <p:xfrm>
          <a:off x="279400" y="1890713"/>
          <a:ext cx="914400" cy="771525"/>
        </p:xfrm>
        <a:graphic>
          <a:graphicData uri="http://schemas.openxmlformats.org/presentationml/2006/ole">
            <mc:AlternateContent xmlns:mc="http://schemas.openxmlformats.org/markup-compatibility/2006">
              <mc:Choice xmlns:v="urn:schemas-microsoft-com:vml" Requires="v">
                <p:oleObj name="Worksheet" showAsIcon="1" r:id="rId5" imgW="914400" imgH="771480" progId="Excel.Sheet.8">
                  <p:embed/>
                </p:oleObj>
              </mc:Choice>
              <mc:Fallback>
                <p:oleObj name="Worksheet" showAsIcon="1" r:id="rId5" imgW="914400" imgH="771480" progId="Excel.Sheet.8">
                  <p:embed/>
                  <p:pic>
                    <p:nvPicPr>
                      <p:cNvPr id="10" name="개체 2"/>
                      <p:cNvPicPr>
                        <a:picLocks noChangeAspect="1" noChangeArrowheads="1"/>
                      </p:cNvPicPr>
                      <p:nvPr/>
                    </p:nvPicPr>
                    <p:blipFill>
                      <a:blip r:embed="rId6"/>
                      <a:srcRect/>
                      <a:stretch>
                        <a:fillRect/>
                      </a:stretch>
                    </p:blipFill>
                    <p:spPr bwMode="auto">
                      <a:xfrm>
                        <a:off x="279400" y="1890713"/>
                        <a:ext cx="914400" cy="771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851505210"/>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표 10"/>
          <p:cNvGraphicFramePr>
            <a:graphicFrameLocks noGrp="1"/>
          </p:cNvGraphicFramePr>
          <p:nvPr/>
        </p:nvGraphicFramePr>
        <p:xfrm>
          <a:off x="790575" y="1341438"/>
          <a:ext cx="8502649" cy="5040315"/>
        </p:xfrm>
        <a:graphic>
          <a:graphicData uri="http://schemas.openxmlformats.org/drawingml/2006/table">
            <a:tbl>
              <a:tblPr firstRow="1" bandRow="1">
                <a:tableStyleId>{5C22544A-7EE6-4342-B048-85BDC9FD1C3A}</a:tableStyleId>
              </a:tblPr>
              <a:tblGrid>
                <a:gridCol w="1713621">
                  <a:extLst>
                    <a:ext uri="{9D8B030D-6E8A-4147-A177-3AD203B41FA5}">
                      <a16:colId xmlns:a16="http://schemas.microsoft.com/office/drawing/2014/main" val="20000"/>
                    </a:ext>
                  </a:extLst>
                </a:gridCol>
                <a:gridCol w="4608485">
                  <a:extLst>
                    <a:ext uri="{9D8B030D-6E8A-4147-A177-3AD203B41FA5}">
                      <a16:colId xmlns:a16="http://schemas.microsoft.com/office/drawing/2014/main" val="20001"/>
                    </a:ext>
                  </a:extLst>
                </a:gridCol>
                <a:gridCol w="2180543">
                  <a:extLst>
                    <a:ext uri="{9D8B030D-6E8A-4147-A177-3AD203B41FA5}">
                      <a16:colId xmlns:a16="http://schemas.microsoft.com/office/drawing/2014/main" val="20002"/>
                    </a:ext>
                  </a:extLst>
                </a:gridCol>
              </a:tblGrid>
              <a:tr h="720045">
                <a:tc>
                  <a:txBody>
                    <a:bodyPr/>
                    <a:lstStyle/>
                    <a:p>
                      <a:pPr algn="ctr" latinLnBrk="1"/>
                      <a:r>
                        <a:rPr lang="en-US" altLang="ko-KR" sz="1400" b="1" dirty="0" err="1">
                          <a:solidFill>
                            <a:schemeClr val="tx1"/>
                          </a:solidFill>
                          <a:latin typeface="Arial" pitchFamily="34" charset="0"/>
                          <a:cs typeface="Arial" pitchFamily="34" charset="0"/>
                        </a:rPr>
                        <a:t>Hạng</a:t>
                      </a:r>
                      <a:r>
                        <a:rPr lang="en-US" altLang="ko-KR" sz="1400" b="1" baseline="0" dirty="0">
                          <a:solidFill>
                            <a:schemeClr val="tx1"/>
                          </a:solidFill>
                          <a:latin typeface="Arial" pitchFamily="34" charset="0"/>
                          <a:cs typeface="Arial" pitchFamily="34" charset="0"/>
                        </a:rPr>
                        <a:t> </a:t>
                      </a:r>
                      <a:r>
                        <a:rPr lang="en-US" altLang="ko-KR" sz="1400" b="1" baseline="0" dirty="0" err="1">
                          <a:solidFill>
                            <a:schemeClr val="tx1"/>
                          </a:solidFill>
                          <a:latin typeface="Arial" pitchFamily="34" charset="0"/>
                          <a:cs typeface="Arial" pitchFamily="34" charset="0"/>
                        </a:rPr>
                        <a:t>mục</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en-US" altLang="ko-KR" sz="1400" b="1" dirty="0" err="1">
                          <a:solidFill>
                            <a:schemeClr val="tx1"/>
                          </a:solidFill>
                          <a:latin typeface="Arial" pitchFamily="34" charset="0"/>
                          <a:cs typeface="Arial" pitchFamily="34" charset="0"/>
                        </a:rPr>
                        <a:t>Mô</a:t>
                      </a:r>
                      <a:r>
                        <a:rPr lang="en-US" altLang="ko-KR" sz="1400" b="1" baseline="0" dirty="0">
                          <a:solidFill>
                            <a:schemeClr val="tx1"/>
                          </a:solidFill>
                          <a:latin typeface="Arial" pitchFamily="34" charset="0"/>
                          <a:cs typeface="Arial" pitchFamily="34" charset="0"/>
                        </a:rPr>
                        <a:t> </a:t>
                      </a:r>
                      <a:r>
                        <a:rPr lang="en-US" altLang="ko-KR" sz="1400" b="1" baseline="0" dirty="0" err="1">
                          <a:solidFill>
                            <a:schemeClr val="tx1"/>
                          </a:solidFill>
                          <a:latin typeface="Arial" pitchFamily="34" charset="0"/>
                          <a:cs typeface="Arial" pitchFamily="34" charset="0"/>
                        </a:rPr>
                        <a:t>tả</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en-US" altLang="ko-KR" sz="1400" b="1" dirty="0" err="1">
                          <a:solidFill>
                            <a:schemeClr val="tx1"/>
                          </a:solidFill>
                          <a:latin typeface="Arial" pitchFamily="34" charset="0"/>
                          <a:cs typeface="Arial" pitchFamily="34" charset="0"/>
                        </a:rPr>
                        <a:t>Lưu</a:t>
                      </a:r>
                      <a:r>
                        <a:rPr lang="en-US" altLang="ko-KR" sz="1400" b="1" baseline="0" dirty="0">
                          <a:solidFill>
                            <a:schemeClr val="tx1"/>
                          </a:solidFill>
                          <a:latin typeface="Arial" pitchFamily="34" charset="0"/>
                          <a:cs typeface="Arial" pitchFamily="34" charset="0"/>
                        </a:rPr>
                        <a:t> ý</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720045">
                <a:tc>
                  <a:txBody>
                    <a:bodyPr/>
                    <a:lstStyle/>
                    <a:p>
                      <a:pPr algn="ctr" latinLnBrk="1"/>
                      <a:r>
                        <a:rPr lang="en-US" altLang="ko-KR" sz="1200" b="1" dirty="0" err="1">
                          <a:solidFill>
                            <a:schemeClr val="tx1"/>
                          </a:solidFill>
                          <a:latin typeface="Arial" pitchFamily="34" charset="0"/>
                          <a:cs typeface="Arial" pitchFamily="34" charset="0"/>
                        </a:rPr>
                        <a:t>Tiêu</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chuẩn</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720045">
                <a:tc>
                  <a:txBody>
                    <a:bodyPr/>
                    <a:lstStyle/>
                    <a:p>
                      <a:pPr algn="ctr" latinLnBrk="1"/>
                      <a:r>
                        <a:rPr lang="en-US" altLang="ko-KR" sz="1200" b="1" dirty="0" err="1">
                          <a:solidFill>
                            <a:schemeClr val="tx1"/>
                          </a:solidFill>
                          <a:latin typeface="Arial" pitchFamily="34" charset="0"/>
                          <a:cs typeface="Arial" pitchFamily="34" charset="0"/>
                        </a:rPr>
                        <a:t>Mẫu</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720045">
                <a:tc>
                  <a:txBody>
                    <a:bodyPr/>
                    <a:lstStyle/>
                    <a:p>
                      <a:pPr algn="ctr" latinLnBrk="1"/>
                      <a:r>
                        <a:rPr lang="en-US" altLang="ko-KR" sz="1200" b="1" dirty="0" err="1">
                          <a:solidFill>
                            <a:schemeClr val="tx1"/>
                          </a:solidFill>
                          <a:latin typeface="Arial" pitchFamily="34" charset="0"/>
                          <a:cs typeface="Arial" pitchFamily="34" charset="0"/>
                        </a:rPr>
                        <a:t>Dụng</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cụ</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720045">
                <a:tc>
                  <a:txBody>
                    <a:bodyPr/>
                    <a:lstStyle/>
                    <a:p>
                      <a:pPr algn="ctr" latinLnBrk="1"/>
                      <a:r>
                        <a:rPr lang="en-US" altLang="ko-KR" sz="1200" b="1" dirty="0" err="1">
                          <a:solidFill>
                            <a:schemeClr val="tx1"/>
                          </a:solidFill>
                          <a:latin typeface="Arial" pitchFamily="34" charset="0"/>
                          <a:cs typeface="Arial" pitchFamily="34" charset="0"/>
                        </a:rPr>
                        <a:t>Người</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đo</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720045">
                <a:tc>
                  <a:txBody>
                    <a:bodyPr/>
                    <a:lstStyle/>
                    <a:p>
                      <a:pPr algn="ctr" latinLnBrk="1"/>
                      <a:r>
                        <a:rPr lang="en-US" altLang="ko-KR" sz="1200" b="1" dirty="0" err="1">
                          <a:solidFill>
                            <a:schemeClr val="tx1"/>
                          </a:solidFill>
                          <a:latin typeface="Arial" pitchFamily="34" charset="0"/>
                          <a:cs typeface="Arial" pitchFamily="34" charset="0"/>
                        </a:rPr>
                        <a:t>Trình</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tự</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720045">
                <a:tc>
                  <a:txBody>
                    <a:bodyPr/>
                    <a:lstStyle/>
                    <a:p>
                      <a:pPr algn="ctr" latinLnBrk="1"/>
                      <a:r>
                        <a:rPr lang="en-US" altLang="ko-KR" sz="1200" b="1" dirty="0" err="1">
                          <a:solidFill>
                            <a:schemeClr val="tx1"/>
                          </a:solidFill>
                          <a:latin typeface="Arial" pitchFamily="34" charset="0"/>
                          <a:cs typeface="Arial" pitchFamily="34" charset="0"/>
                        </a:rPr>
                        <a:t>Môi</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trường</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sp>
        <p:nvSpPr>
          <p:cNvPr id="13" name="TextBox 12"/>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Hoàn</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thành</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bảng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hệ</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thống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đo</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dưới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đây</a:t>
            </a:r>
            <a:endParaRPr kumimoji="0" lang="en-US" altLang="ko-KR" sz="1400" b="1" kern="0" dirty="0">
              <a:solidFill>
                <a:sysClr val="windowText" lastClr="000000"/>
              </a:solidFill>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210</a:t>
            </a:fld>
            <a:endParaRPr lang="ko-KR" altLang="en-US" dirty="0">
              <a:latin typeface="Arial" pitchFamily="34" charset="0"/>
              <a:cs typeface="Arial" pitchFamily="34" charset="0"/>
            </a:endParaRPr>
          </a:p>
        </p:txBody>
      </p:sp>
      <p:sp>
        <p:nvSpPr>
          <p:cNvPr id="7"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3621244623"/>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16"/>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893763" y="2297113"/>
            <a:ext cx="3508375" cy="24780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796" name="Rectangle 15"/>
          <p:cNvSpPr>
            <a:spLocks noChangeArrowheads="1"/>
          </p:cNvSpPr>
          <p:nvPr/>
        </p:nvSpPr>
        <p:spPr bwMode="auto">
          <a:xfrm>
            <a:off x="4684713" y="1341438"/>
            <a:ext cx="34210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r>
              <a:rPr lang="en-US" altLang="ko-KR" sz="1400" b="1">
                <a:latin typeface="Arial" pitchFamily="34" charset="0"/>
                <a:ea typeface="맑은 고딕" pitchFamily="50" charset="-127"/>
                <a:cs typeface="Arial" pitchFamily="34" charset="0"/>
              </a:rPr>
              <a:t>(2) Stat &gt; Quality Tools &gt; Gage Study</a:t>
            </a:r>
          </a:p>
          <a:p>
            <a:pPr latinLnBrk="0"/>
            <a:r>
              <a:rPr lang="en-US" altLang="ko-KR" sz="1400" b="1">
                <a:latin typeface="Arial" pitchFamily="34" charset="0"/>
                <a:ea typeface="맑은 고딕" pitchFamily="50" charset="-127"/>
                <a:cs typeface="Arial" pitchFamily="34" charset="0"/>
              </a:rPr>
              <a:t>      &gt; Gage R&amp;R Study (Crossed)</a:t>
            </a:r>
          </a:p>
        </p:txBody>
      </p:sp>
      <p:sp>
        <p:nvSpPr>
          <p:cNvPr id="33797" name="Rectangle 28"/>
          <p:cNvSpPr>
            <a:spLocks noChangeArrowheads="1"/>
          </p:cNvSpPr>
          <p:nvPr/>
        </p:nvSpPr>
        <p:spPr bwMode="auto">
          <a:xfrm>
            <a:off x="741363" y="1360488"/>
            <a:ext cx="3563565" cy="5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342900" indent="-342900" latinLnBrk="0">
              <a:buAutoNum type="arabicParenBoth"/>
            </a:pPr>
            <a:r>
              <a:rPr lang="en-US" altLang="ko-KR" sz="1400" b="1" dirty="0" err="1">
                <a:latin typeface="Arial" pitchFamily="34" charset="0"/>
                <a:ea typeface="맑은 고딕" pitchFamily="50" charset="-127"/>
                <a:cs typeface="Arial" pitchFamily="34" charset="0"/>
              </a:rPr>
              <a:t>Chuyển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từ</a:t>
            </a:r>
            <a:r>
              <a:rPr lang="en-US" altLang="ko-KR" sz="1400" b="1" dirty="0">
                <a:latin typeface="Arial" pitchFamily="34" charset="0"/>
                <a:ea typeface="맑은 고딕" pitchFamily="50" charset="-127"/>
                <a:cs typeface="Arial" pitchFamily="34" charset="0"/>
              </a:rPr>
              <a:t> sheet </a:t>
            </a:r>
            <a:r>
              <a:rPr lang="en-US" altLang="ko-KR" sz="1400" b="1" dirty="0" err="1">
                <a:latin typeface="Arial" pitchFamily="34" charset="0"/>
                <a:ea typeface="맑은 고딕" pitchFamily="50" charset="-127"/>
                <a:cs typeface="Arial" pitchFamily="34" charset="0"/>
              </a:rPr>
              <a:t>đánh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giá</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vào</a:t>
            </a:r>
            <a:r>
              <a:rPr lang="en-US" altLang="ko-KR" sz="1400" b="1" dirty="0">
                <a:latin typeface="Arial" pitchFamily="34" charset="0"/>
                <a:ea typeface="맑은 고딕" pitchFamily="50" charset="-127"/>
                <a:cs typeface="Arial" pitchFamily="34" charset="0"/>
              </a:rPr>
              <a:t> Minitab Worksheet</a:t>
            </a:r>
            <a:endParaRPr lang="ko-KR" altLang="en-US" sz="1400" b="1" dirty="0">
              <a:latin typeface="Arial" pitchFamily="34" charset="0"/>
              <a:ea typeface="맑은 고딕" pitchFamily="50" charset="-127"/>
              <a:cs typeface="Arial" pitchFamily="34" charset="0"/>
            </a:endParaRPr>
          </a:p>
        </p:txBody>
      </p:sp>
      <p:sp>
        <p:nvSpPr>
          <p:cNvPr id="33798" name="Rectangle 22"/>
          <p:cNvSpPr>
            <a:spLocks noChangeArrowheads="1"/>
          </p:cNvSpPr>
          <p:nvPr/>
        </p:nvSpPr>
        <p:spPr bwMode="auto">
          <a:xfrm flipV="1">
            <a:off x="2106613" y="2614613"/>
            <a:ext cx="2295525" cy="2160587"/>
          </a:xfrm>
          <a:prstGeom prst="rect">
            <a:avLst/>
          </a:prstGeom>
          <a:noFill/>
          <a:ln w="28575">
            <a:solidFill>
              <a:srgbClr val="CC33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rot="10800000"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endParaRPr lang="ko-KR" altLang="ko-KR" sz="1000">
              <a:latin typeface="Arial" pitchFamily="34" charset="0"/>
              <a:ea typeface="돋움" pitchFamily="50" charset="-127"/>
              <a:cs typeface="Arial" pitchFamily="34" charset="0"/>
            </a:endParaRPr>
          </a:p>
        </p:txBody>
      </p:sp>
      <p:sp>
        <p:nvSpPr>
          <p:cNvPr id="33799" name="Rectangle 3"/>
          <p:cNvSpPr>
            <a:spLocks noChangeArrowheads="1"/>
          </p:cNvSpPr>
          <p:nvPr/>
        </p:nvSpPr>
        <p:spPr bwMode="auto">
          <a:xfrm>
            <a:off x="560388" y="960438"/>
            <a:ext cx="1635053" cy="308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0" tIns="46036" rIns="92070" bIns="46036">
            <a:spAutoFit/>
          </a:bodyPr>
          <a:lstStyle>
            <a:lvl1pPr marL="285750" indent="-285750"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buFont typeface="Wingdings" pitchFamily="2" charset="2"/>
              <a:buChar char="u"/>
            </a:pPr>
            <a:r>
              <a:rPr lang="en-US" altLang="en-US" sz="1400" b="1" dirty="0">
                <a:solidFill>
                  <a:srgbClr val="000000"/>
                </a:solidFill>
                <a:latin typeface="Arial" pitchFamily="34" charset="0"/>
                <a:ea typeface="맑은 고딕" pitchFamily="50" charset="-127"/>
                <a:cs typeface="Arial" pitchFamily="34" charset="0"/>
              </a:rPr>
              <a:t> Minitab </a:t>
            </a:r>
            <a:r>
              <a:rPr lang="en-US" altLang="ko-KR" sz="1400" b="1" dirty="0">
                <a:solidFill>
                  <a:srgbClr val="000000"/>
                </a:solidFill>
                <a:latin typeface="Arial" pitchFamily="34" charset="0"/>
                <a:ea typeface="맑은 고딕" pitchFamily="50" charset="-127"/>
                <a:cs typeface="Arial" pitchFamily="34" charset="0"/>
              </a:rPr>
              <a:t>Input</a:t>
            </a:r>
            <a:endParaRPr lang="en-US" altLang="en-US" sz="1400" b="1" dirty="0">
              <a:solidFill>
                <a:srgbClr val="000000"/>
              </a:solidFill>
              <a:latin typeface="Arial" pitchFamily="34" charset="0"/>
              <a:ea typeface="맑은 고딕" pitchFamily="50" charset="-127"/>
              <a:cs typeface="Arial" pitchFamily="34" charset="0"/>
            </a:endParaRPr>
          </a:p>
        </p:txBody>
      </p:sp>
      <p:pic>
        <p:nvPicPr>
          <p:cNvPr id="33802"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3" name="Picture 17"/>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4818063" y="2297113"/>
            <a:ext cx="4806950" cy="34194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211</a:t>
            </a:fld>
            <a:endParaRPr lang="ko-KR" altLang="en-US" dirty="0">
              <a:latin typeface="Arial" pitchFamily="34" charset="0"/>
              <a:cs typeface="Arial" pitchFamily="34" charset="0"/>
            </a:endParaRPr>
          </a:p>
        </p:txBody>
      </p:sp>
      <p:sp>
        <p:nvSpPr>
          <p:cNvPr id="12"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2840323913"/>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Picture 2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447800" y="3695700"/>
            <a:ext cx="3289300" cy="30432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19" name="Picture 21"/>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1450975" y="1808163"/>
            <a:ext cx="3286125" cy="17684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821" name="Rectangle 5"/>
          <p:cNvSpPr>
            <a:spLocks noChangeArrowheads="1"/>
          </p:cNvSpPr>
          <p:nvPr/>
        </p:nvSpPr>
        <p:spPr bwMode="auto">
          <a:xfrm>
            <a:off x="5097463" y="1730375"/>
            <a:ext cx="4114909"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r>
              <a:rPr lang="en-US" altLang="ko-KR" sz="1400" b="1" dirty="0">
                <a:latin typeface="Arial" pitchFamily="34" charset="0"/>
                <a:ea typeface="맑은 고딕" pitchFamily="50" charset="-127"/>
                <a:cs typeface="Arial" pitchFamily="34" charset="0"/>
              </a:rPr>
              <a:t>Input</a:t>
            </a:r>
            <a:r>
              <a:rPr lang="ko-KR" altLang="en-US" sz="1400" b="1" dirty="0">
                <a:latin typeface="Arial" pitchFamily="34" charset="0"/>
                <a:ea typeface="맑은 고딕" pitchFamily="50" charset="-127"/>
                <a:cs typeface="Arial" pitchFamily="34" charset="0"/>
              </a:rPr>
              <a:t> </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dữ</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liệu</a:t>
            </a:r>
            <a:r>
              <a:rPr lang="en-US" altLang="ko-KR" sz="1400" b="1" dirty="0">
                <a:latin typeface="Arial" pitchFamily="34" charset="0"/>
                <a:ea typeface="맑은 고딕" pitchFamily="50" charset="-127"/>
                <a:cs typeface="Arial" pitchFamily="34" charset="0"/>
              </a:rPr>
              <a:t> Parts, Operator &amp; Measurement</a:t>
            </a:r>
          </a:p>
        </p:txBody>
      </p:sp>
      <p:sp>
        <p:nvSpPr>
          <p:cNvPr id="34822" name="Line 7"/>
          <p:cNvSpPr>
            <a:spLocks noChangeShapeType="1"/>
          </p:cNvSpPr>
          <p:nvPr/>
        </p:nvSpPr>
        <p:spPr bwMode="auto">
          <a:xfrm flipH="1">
            <a:off x="3944938" y="1851025"/>
            <a:ext cx="1163637" cy="361950"/>
          </a:xfrm>
          <a:prstGeom prst="line">
            <a:avLst/>
          </a:prstGeom>
          <a:noFill/>
          <a:ln w="25400">
            <a:solidFill>
              <a:srgbClr val="CC3300"/>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ko-KR" altLang="en-US">
              <a:latin typeface="Arial" pitchFamily="34" charset="0"/>
              <a:cs typeface="Arial" pitchFamily="34" charset="0"/>
            </a:endParaRPr>
          </a:p>
        </p:txBody>
      </p:sp>
      <p:sp>
        <p:nvSpPr>
          <p:cNvPr id="34823" name="AutoShape 10"/>
          <p:cNvSpPr>
            <a:spLocks noChangeArrowheads="1"/>
          </p:cNvSpPr>
          <p:nvPr/>
        </p:nvSpPr>
        <p:spPr bwMode="auto">
          <a:xfrm>
            <a:off x="3762375" y="2800350"/>
            <a:ext cx="1189038" cy="304800"/>
          </a:xfrm>
          <a:prstGeom prst="roundRect">
            <a:avLst>
              <a:gd name="adj" fmla="val 12495"/>
            </a:avLst>
          </a:prstGeom>
          <a:solidFill>
            <a:schemeClr val="bg1"/>
          </a:solidFill>
          <a:ln w="12700">
            <a:solidFill>
              <a:schemeClr val="bg2"/>
            </a:solidFill>
            <a:round/>
            <a:headEnd/>
            <a:tailEnd/>
          </a:ln>
          <a:effectLst>
            <a:outerShdw dist="107763" dir="2700000" algn="ctr" rotWithShape="0">
              <a:schemeClr val="bg2"/>
            </a:outerShdw>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endParaRPr lang="ko-KR" altLang="en-US" sz="1000">
              <a:latin typeface="Arial" pitchFamily="34" charset="0"/>
              <a:ea typeface="돋움" pitchFamily="50" charset="-127"/>
              <a:cs typeface="Arial" pitchFamily="34" charset="0"/>
            </a:endParaRPr>
          </a:p>
        </p:txBody>
      </p:sp>
      <p:sp>
        <p:nvSpPr>
          <p:cNvPr id="34824" name="Rectangle 11"/>
          <p:cNvSpPr>
            <a:spLocks noChangeArrowheads="1"/>
          </p:cNvSpPr>
          <p:nvPr/>
        </p:nvSpPr>
        <p:spPr bwMode="auto">
          <a:xfrm>
            <a:off x="3775075" y="2816225"/>
            <a:ext cx="1349375"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r>
              <a:rPr lang="en-US" altLang="ko-KR" sz="1200" b="1" dirty="0" err="1">
                <a:solidFill>
                  <a:srgbClr val="CC3300"/>
                </a:solidFill>
                <a:latin typeface="Arial" pitchFamily="34" charset="0"/>
                <a:ea typeface="맑은 고딕" pitchFamily="50" charset="-127"/>
                <a:cs typeface="Arial" pitchFamily="34" charset="0"/>
              </a:rPr>
              <a:t>Chọn</a:t>
            </a:r>
            <a:r>
              <a:rPr lang="ko-KR" altLang="en-US" sz="1200" b="1" dirty="0">
                <a:solidFill>
                  <a:srgbClr val="CC3300"/>
                </a:solidFill>
                <a:latin typeface="Arial" pitchFamily="34" charset="0"/>
                <a:ea typeface="맑은 고딕" pitchFamily="50" charset="-127"/>
                <a:cs typeface="Arial" pitchFamily="34" charset="0"/>
              </a:rPr>
              <a:t> </a:t>
            </a:r>
            <a:r>
              <a:rPr lang="en-US" altLang="ko-KR" sz="1200" b="1" dirty="0">
                <a:solidFill>
                  <a:srgbClr val="CC3300"/>
                </a:solidFill>
                <a:latin typeface="Arial" pitchFamily="34" charset="0"/>
                <a:ea typeface="맑은 고딕" pitchFamily="50" charset="-127"/>
                <a:cs typeface="Arial" pitchFamily="34" charset="0"/>
              </a:rPr>
              <a:t>: </a:t>
            </a:r>
            <a:r>
              <a:rPr lang="en-US" altLang="ko-KR" sz="1200" b="1" u="sng" dirty="0">
                <a:solidFill>
                  <a:srgbClr val="CC3300"/>
                </a:solidFill>
                <a:latin typeface="Arial" pitchFamily="34" charset="0"/>
                <a:ea typeface="맑은 고딕" pitchFamily="50" charset="-127"/>
                <a:cs typeface="Arial" pitchFamily="34" charset="0"/>
              </a:rPr>
              <a:t>ANOVA</a:t>
            </a:r>
          </a:p>
        </p:txBody>
      </p:sp>
      <p:sp>
        <p:nvSpPr>
          <p:cNvPr id="34825" name="Line 12"/>
          <p:cNvSpPr>
            <a:spLocks noChangeShapeType="1"/>
          </p:cNvSpPr>
          <p:nvPr/>
        </p:nvSpPr>
        <p:spPr bwMode="auto">
          <a:xfrm flipH="1" flipV="1">
            <a:off x="2824163" y="2913063"/>
            <a:ext cx="787400" cy="0"/>
          </a:xfrm>
          <a:prstGeom prst="line">
            <a:avLst/>
          </a:prstGeom>
          <a:noFill/>
          <a:ln w="25400">
            <a:solidFill>
              <a:srgbClr val="CC3300"/>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ko-KR" altLang="en-US">
              <a:latin typeface="Arial" pitchFamily="34" charset="0"/>
              <a:cs typeface="Arial" pitchFamily="34" charset="0"/>
            </a:endParaRPr>
          </a:p>
        </p:txBody>
      </p:sp>
      <p:sp>
        <p:nvSpPr>
          <p:cNvPr id="34826" name="Line 14"/>
          <p:cNvSpPr>
            <a:spLocks noChangeShapeType="1"/>
          </p:cNvSpPr>
          <p:nvPr/>
        </p:nvSpPr>
        <p:spPr bwMode="auto">
          <a:xfrm flipV="1">
            <a:off x="2935288" y="2301875"/>
            <a:ext cx="1541462" cy="1400175"/>
          </a:xfrm>
          <a:prstGeom prst="line">
            <a:avLst/>
          </a:prstGeom>
          <a:noFill/>
          <a:ln w="12700">
            <a:solidFill>
              <a:srgbClr val="CC3300"/>
            </a:solidFill>
            <a:round/>
            <a:headEnd type="stealth" w="med" len="lg"/>
            <a:tailEnd type="none" w="sm" len="sm"/>
          </a:ln>
          <a:extLst>
            <a:ext uri="{909E8E84-426E-40DD-AFC4-6F175D3DCCD1}">
              <a14:hiddenFill xmlns:a14="http://schemas.microsoft.com/office/drawing/2010/main">
                <a:noFill/>
              </a14:hiddenFill>
            </a:ext>
          </a:extLst>
        </p:spPr>
        <p:txBody>
          <a:bodyPr wrap="none" anchor="ctr"/>
          <a:lstStyle/>
          <a:p>
            <a:endParaRPr lang="ko-KR" altLang="en-US">
              <a:latin typeface="Arial" pitchFamily="34" charset="0"/>
              <a:cs typeface="Arial" pitchFamily="34" charset="0"/>
            </a:endParaRPr>
          </a:p>
        </p:txBody>
      </p:sp>
      <p:sp>
        <p:nvSpPr>
          <p:cNvPr id="34827" name="Text Box 24"/>
          <p:cNvSpPr txBox="1">
            <a:spLocks noChangeArrowheads="1"/>
          </p:cNvSpPr>
          <p:nvPr/>
        </p:nvSpPr>
        <p:spPr bwMode="auto">
          <a:xfrm>
            <a:off x="5097463" y="2781300"/>
            <a:ext cx="4608065" cy="585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20000"/>
              </a:lnSpc>
            </a:pPr>
            <a:r>
              <a:rPr lang="en-US" altLang="ko-KR" sz="1400" b="1" dirty="0">
                <a:latin typeface="Arial" pitchFamily="34" charset="0"/>
                <a:ea typeface="맑은 고딕" pitchFamily="50" charset="-127"/>
                <a:cs typeface="Arial" pitchFamily="34" charset="0"/>
              </a:rPr>
              <a:t>ANOVA </a:t>
            </a:r>
            <a:r>
              <a:rPr lang="en-US" altLang="ko-KR" sz="1400" b="1" dirty="0" err="1">
                <a:latin typeface="Arial" pitchFamily="34" charset="0"/>
                <a:ea typeface="맑은 고딕" pitchFamily="50" charset="-127"/>
                <a:cs typeface="Arial" pitchFamily="34" charset="0"/>
              </a:rPr>
              <a:t>là</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phân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tích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cho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việc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đánh</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giá</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sự</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tương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tác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giữa</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hai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nhân</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tố</a:t>
            </a:r>
            <a:r>
              <a:rPr lang="en-US" altLang="ko-KR" sz="1400" b="1" dirty="0">
                <a:latin typeface="Arial" pitchFamily="34" charset="0"/>
                <a:ea typeface="맑은 고딕" pitchFamily="50" charset="-127"/>
                <a:cs typeface="Arial" pitchFamily="34" charset="0"/>
              </a:rPr>
              <a:t>. </a:t>
            </a:r>
          </a:p>
        </p:txBody>
      </p:sp>
      <p:sp>
        <p:nvSpPr>
          <p:cNvPr id="34828" name="Text Box 25"/>
          <p:cNvSpPr txBox="1">
            <a:spLocks noChangeArrowheads="1"/>
          </p:cNvSpPr>
          <p:nvPr/>
        </p:nvSpPr>
        <p:spPr bwMode="auto">
          <a:xfrm>
            <a:off x="5097463" y="3830638"/>
            <a:ext cx="48085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cs typeface="Arial" pitchFamily="34" charset="0"/>
              </a:rPr>
              <a:t>5.15: </a:t>
            </a:r>
            <a:r>
              <a:rPr lang="en-US" altLang="ko-KR" sz="1400" b="1" dirty="0" err="1">
                <a:latin typeface="Arial" pitchFamily="34" charset="0"/>
                <a:ea typeface="맑은 고딕" pitchFamily="50" charset="-127"/>
                <a:cs typeface="Arial" pitchFamily="34" charset="0"/>
              </a:rPr>
              <a:t>sử</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dụng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khi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ước</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lượng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với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khoảng</a:t>
            </a:r>
            <a:r>
              <a:rPr lang="en-US" altLang="ko-KR" sz="1400" b="1" dirty="0">
                <a:latin typeface="Arial" pitchFamily="34" charset="0"/>
                <a:ea typeface="맑은 고딕" pitchFamily="50" charset="-127"/>
                <a:cs typeface="Arial" pitchFamily="34" charset="0"/>
              </a:rPr>
              <a:t> tin 99% </a:t>
            </a:r>
            <a:r>
              <a:rPr lang="en-US" altLang="ko-KR" sz="1400" b="1" dirty="0" err="1">
                <a:latin typeface="Arial" pitchFamily="34" charset="0"/>
                <a:ea typeface="맑은 고딕" pitchFamily="50" charset="-127"/>
                <a:cs typeface="Arial" pitchFamily="34" charset="0"/>
              </a:rPr>
              <a:t>cho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lỗi</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đo</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lường</a:t>
            </a:r>
            <a:endParaRPr lang="ko-KR" altLang="en-US" sz="1400" b="1" dirty="0">
              <a:latin typeface="Arial" pitchFamily="34" charset="0"/>
              <a:ea typeface="맑은 고딕" pitchFamily="50" charset="-127"/>
              <a:cs typeface="Arial" pitchFamily="34" charset="0"/>
            </a:endParaRPr>
          </a:p>
        </p:txBody>
      </p:sp>
      <p:sp>
        <p:nvSpPr>
          <p:cNvPr id="34829" name="Text Box 28"/>
          <p:cNvSpPr txBox="1">
            <a:spLocks noChangeArrowheads="1"/>
          </p:cNvSpPr>
          <p:nvPr/>
        </p:nvSpPr>
        <p:spPr bwMode="auto">
          <a:xfrm>
            <a:off x="3368675" y="4371522"/>
            <a:ext cx="3095719" cy="293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type="none" w="sm" len="sm"/>
                <a:tailEnd type="none" w="sm" len="sm"/>
              </a14:hiddenLine>
            </a:ext>
          </a:extLst>
        </p:spPr>
        <p:txBody>
          <a:bodyPr wrap="non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20000"/>
              </a:lnSpc>
            </a:pPr>
            <a:r>
              <a:rPr lang="en-US" altLang="ko-KR" sz="1200" b="1" dirty="0" err="1">
                <a:solidFill>
                  <a:srgbClr val="CC3300"/>
                </a:solidFill>
                <a:latin typeface="Arial" pitchFamily="34" charset="0"/>
                <a:ea typeface="맑은 고딕" pitchFamily="50" charset="-127"/>
                <a:cs typeface="Arial" pitchFamily="34" charset="0"/>
              </a:rPr>
              <a:t>Nhập</a:t>
            </a:r>
            <a:r>
              <a:rPr lang="en-US" altLang="ko-KR" sz="1200" b="1" dirty="0">
                <a:solidFill>
                  <a:srgbClr val="CC3300"/>
                </a:solidFill>
                <a:latin typeface="Arial" pitchFamily="34" charset="0"/>
                <a:ea typeface="맑은 고딕" pitchFamily="50" charset="-127"/>
                <a:cs typeface="Arial" pitchFamily="34" charset="0"/>
              </a:rPr>
              <a:t> </a:t>
            </a:r>
            <a:r>
              <a:rPr lang="en-US" altLang="ko-KR" sz="1200" b="1" dirty="0" err="1">
                <a:solidFill>
                  <a:srgbClr val="CC3300"/>
                </a:solidFill>
                <a:latin typeface="Arial" pitchFamily="34" charset="0"/>
                <a:ea typeface="맑은 고딕" pitchFamily="50" charset="-127"/>
                <a:cs typeface="Arial" pitchFamily="34" charset="0"/>
              </a:rPr>
              <a:t>giá</a:t>
            </a:r>
            <a:r>
              <a:rPr lang="en-US" altLang="ko-KR" sz="1200" b="1" dirty="0">
                <a:solidFill>
                  <a:srgbClr val="CC3300"/>
                </a:solidFill>
                <a:latin typeface="Arial" pitchFamily="34" charset="0"/>
                <a:ea typeface="맑은 고딕" pitchFamily="50" charset="-127"/>
                <a:cs typeface="Arial" pitchFamily="34" charset="0"/>
              </a:rPr>
              <a:t> </a:t>
            </a:r>
            <a:r>
              <a:rPr lang="en-US" altLang="ko-KR" sz="1200" b="1" dirty="0" err="1">
                <a:solidFill>
                  <a:srgbClr val="CC3300"/>
                </a:solidFill>
                <a:latin typeface="Arial" pitchFamily="34" charset="0"/>
                <a:ea typeface="맑은 고딕" pitchFamily="50" charset="-127"/>
                <a:cs typeface="Arial" pitchFamily="34" charset="0"/>
              </a:rPr>
              <a:t>trị</a:t>
            </a:r>
            <a:r>
              <a:rPr lang="en-US" altLang="ko-KR" sz="1200" b="1" dirty="0">
                <a:solidFill>
                  <a:srgbClr val="CC3300"/>
                </a:solidFill>
                <a:latin typeface="Arial" pitchFamily="34" charset="0"/>
                <a:ea typeface="맑은 고딕" pitchFamily="50" charset="-127"/>
                <a:cs typeface="Arial" pitchFamily="34" charset="0"/>
              </a:rPr>
              <a:t> </a:t>
            </a:r>
            <a:r>
              <a:rPr lang="en-US" altLang="ko-KR" sz="1200" b="1" dirty="0" err="1">
                <a:solidFill>
                  <a:srgbClr val="CC3300"/>
                </a:solidFill>
                <a:latin typeface="Arial" pitchFamily="34" charset="0"/>
                <a:ea typeface="맑은 고딕" pitchFamily="50" charset="-127"/>
                <a:cs typeface="Arial" pitchFamily="34" charset="0"/>
              </a:rPr>
              <a:t>cho</a:t>
            </a:r>
            <a:r>
              <a:rPr lang="en-US" altLang="ko-KR" sz="1200" b="1" dirty="0">
                <a:solidFill>
                  <a:srgbClr val="CC3300"/>
                </a:solidFill>
                <a:latin typeface="Arial" pitchFamily="34" charset="0"/>
                <a:ea typeface="맑은 고딕" pitchFamily="50" charset="-127"/>
                <a:cs typeface="Arial" pitchFamily="34" charset="0"/>
              </a:rPr>
              <a:t> lower spec/higher spec</a:t>
            </a:r>
            <a:endParaRPr lang="ko-KR" altLang="en-US" sz="1200" b="1" dirty="0">
              <a:solidFill>
                <a:srgbClr val="CC3300"/>
              </a:solidFill>
              <a:latin typeface="Arial" pitchFamily="34" charset="0"/>
              <a:ea typeface="맑은 고딕" pitchFamily="50" charset="-127"/>
              <a:cs typeface="Arial" pitchFamily="34" charset="0"/>
            </a:endParaRPr>
          </a:p>
        </p:txBody>
      </p:sp>
      <p:sp>
        <p:nvSpPr>
          <p:cNvPr id="34830" name="Rectangle 21"/>
          <p:cNvSpPr>
            <a:spLocks noChangeArrowheads="1"/>
          </p:cNvSpPr>
          <p:nvPr/>
        </p:nvSpPr>
        <p:spPr bwMode="auto">
          <a:xfrm>
            <a:off x="2779713" y="4430713"/>
            <a:ext cx="587375" cy="395287"/>
          </a:xfrm>
          <a:prstGeom prst="rect">
            <a:avLst/>
          </a:prstGeom>
          <a:noFill/>
          <a:ln w="28575">
            <a:solidFill>
              <a:srgbClr val="CC33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endParaRPr lang="ko-KR" altLang="ko-KR" sz="1000">
              <a:latin typeface="Arial" pitchFamily="34" charset="0"/>
              <a:ea typeface="돋움" pitchFamily="50" charset="-127"/>
              <a:cs typeface="Arial" pitchFamily="34" charset="0"/>
            </a:endParaRPr>
          </a:p>
        </p:txBody>
      </p:sp>
      <p:sp>
        <p:nvSpPr>
          <p:cNvPr id="34831" name="Rectangle 22"/>
          <p:cNvSpPr>
            <a:spLocks noChangeArrowheads="1"/>
          </p:cNvSpPr>
          <p:nvPr/>
        </p:nvSpPr>
        <p:spPr bwMode="auto">
          <a:xfrm>
            <a:off x="2228850" y="3932238"/>
            <a:ext cx="588963" cy="204787"/>
          </a:xfrm>
          <a:prstGeom prst="rect">
            <a:avLst/>
          </a:prstGeom>
          <a:noFill/>
          <a:ln w="28575">
            <a:solidFill>
              <a:srgbClr val="CC33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endParaRPr lang="ko-KR" altLang="ko-KR" sz="1000">
              <a:latin typeface="Arial" pitchFamily="34" charset="0"/>
              <a:ea typeface="돋움" pitchFamily="50" charset="-127"/>
              <a:cs typeface="Arial" pitchFamily="34" charset="0"/>
            </a:endParaRPr>
          </a:p>
        </p:txBody>
      </p:sp>
      <p:sp>
        <p:nvSpPr>
          <p:cNvPr id="34832" name="AutoShape 33"/>
          <p:cNvSpPr>
            <a:spLocks/>
          </p:cNvSpPr>
          <p:nvPr/>
        </p:nvSpPr>
        <p:spPr bwMode="auto">
          <a:xfrm>
            <a:off x="3800475" y="1989138"/>
            <a:ext cx="215900" cy="576262"/>
          </a:xfrm>
          <a:prstGeom prst="rightBrace">
            <a:avLst>
              <a:gd name="adj1" fmla="val 22243"/>
              <a:gd name="adj2" fmla="val 50000"/>
            </a:avLst>
          </a:prstGeom>
          <a:noFill/>
          <a:ln w="25400">
            <a:solidFill>
              <a:srgbClr val="CC3300"/>
            </a:solidFill>
            <a:round/>
            <a:headEnd type="none" w="sm" len="sm"/>
            <a:tailEnd type="stealth" w="med" len="lg"/>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400" baseline="-25000">
              <a:latin typeface="Arial" pitchFamily="34" charset="0"/>
              <a:ea typeface="맑은 고딕" pitchFamily="50" charset="-127"/>
              <a:cs typeface="Arial" pitchFamily="34" charset="0"/>
            </a:endParaRPr>
          </a:p>
        </p:txBody>
      </p:sp>
      <p:pic>
        <p:nvPicPr>
          <p:cNvPr id="34835" name="Picture 67"/>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9271000" y="749300"/>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36" name="Rectangle 3"/>
          <p:cNvSpPr>
            <a:spLocks noChangeArrowheads="1"/>
          </p:cNvSpPr>
          <p:nvPr/>
        </p:nvSpPr>
        <p:spPr bwMode="auto">
          <a:xfrm>
            <a:off x="560388" y="960438"/>
            <a:ext cx="1635053" cy="308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0" tIns="46036" rIns="92070" bIns="46036">
            <a:spAutoFit/>
          </a:bodyPr>
          <a:lstStyle>
            <a:lvl1pPr marL="285750" indent="-285750"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buFont typeface="Wingdings" pitchFamily="2" charset="2"/>
              <a:buChar char="u"/>
            </a:pPr>
            <a:r>
              <a:rPr lang="en-US" altLang="en-US" sz="1400" b="1" dirty="0">
                <a:solidFill>
                  <a:srgbClr val="000000"/>
                </a:solidFill>
                <a:latin typeface="Arial" pitchFamily="34" charset="0"/>
                <a:ea typeface="맑은 고딕" pitchFamily="50" charset="-127"/>
                <a:cs typeface="Arial" pitchFamily="34" charset="0"/>
              </a:rPr>
              <a:t> Minitab </a:t>
            </a:r>
            <a:r>
              <a:rPr lang="en-US" altLang="ko-KR" sz="1400" b="1" dirty="0">
                <a:solidFill>
                  <a:srgbClr val="000000"/>
                </a:solidFill>
                <a:latin typeface="Arial" pitchFamily="34" charset="0"/>
                <a:ea typeface="맑은 고딕" pitchFamily="50" charset="-127"/>
                <a:cs typeface="Arial" pitchFamily="34" charset="0"/>
              </a:rPr>
              <a:t>Input</a:t>
            </a:r>
            <a:endParaRPr lang="en-US" altLang="en-US" sz="1400" b="1" dirty="0">
              <a:solidFill>
                <a:srgbClr val="000000"/>
              </a:solidFill>
              <a:latin typeface="Arial" pitchFamily="34" charset="0"/>
              <a:ea typeface="맑은 고딕" pitchFamily="50" charset="-127"/>
              <a:cs typeface="Arial" pitchFamily="34" charset="0"/>
            </a:endParaRPr>
          </a:p>
        </p:txBody>
      </p:sp>
      <p:sp>
        <p:nvSpPr>
          <p:cNvPr id="34837" name="Rectangle 28"/>
          <p:cNvSpPr>
            <a:spLocks noChangeArrowheads="1"/>
          </p:cNvSpPr>
          <p:nvPr/>
        </p:nvSpPr>
        <p:spPr bwMode="auto">
          <a:xfrm>
            <a:off x="741363" y="1341438"/>
            <a:ext cx="326371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r>
              <a:rPr lang="en-US" altLang="ko-KR" sz="1400" b="1" dirty="0">
                <a:latin typeface="Arial" pitchFamily="34" charset="0"/>
                <a:ea typeface="맑은 고딕" pitchFamily="50" charset="-127"/>
                <a:cs typeface="Arial" pitchFamily="34" charset="0"/>
              </a:rPr>
              <a:t>(3) </a:t>
            </a:r>
            <a:r>
              <a:rPr lang="en-US" altLang="ko-KR" sz="1400" b="1" dirty="0" err="1">
                <a:latin typeface="Arial" pitchFamily="34" charset="0"/>
                <a:ea typeface="맑은 고딕" pitchFamily="50" charset="-127"/>
                <a:cs typeface="Arial" pitchFamily="34" charset="0"/>
              </a:rPr>
              <a:t>Nhập</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thông</a:t>
            </a:r>
            <a:r>
              <a:rPr lang="en-US" altLang="ko-KR" sz="1400" b="1" dirty="0">
                <a:latin typeface="Arial" pitchFamily="34" charset="0"/>
                <a:ea typeface="맑은 고딕" pitchFamily="50" charset="-127"/>
                <a:cs typeface="Arial" pitchFamily="34" charset="0"/>
              </a:rPr>
              <a:t> tin </a:t>
            </a:r>
            <a:r>
              <a:rPr lang="en-US" altLang="ko-KR" sz="1400" b="1" dirty="0" err="1">
                <a:latin typeface="Arial" pitchFamily="34" charset="0"/>
                <a:ea typeface="맑은 고딕" pitchFamily="50" charset="-127"/>
                <a:cs typeface="Arial" pitchFamily="34" charset="0"/>
              </a:rPr>
              <a:t>trong</a:t>
            </a:r>
            <a:r>
              <a:rPr lang="en-US" altLang="ko-KR" sz="1400" b="1" dirty="0">
                <a:latin typeface="Arial" pitchFamily="34" charset="0"/>
                <a:ea typeface="맑은 고딕" pitchFamily="50" charset="-127"/>
                <a:cs typeface="Arial" pitchFamily="34" charset="0"/>
              </a:rPr>
              <a:t> </a:t>
            </a:r>
            <a:r>
              <a:rPr lang="en-US" altLang="ko-KR" sz="1400" b="1" dirty="0" err="1">
                <a:latin typeface="Arial" pitchFamily="34" charset="0"/>
                <a:ea typeface="맑은 고딕" pitchFamily="50" charset="-127"/>
                <a:cs typeface="Arial" pitchFamily="34" charset="0"/>
              </a:rPr>
              <a:t>mục</a:t>
            </a:r>
            <a:r>
              <a:rPr lang="en-US" altLang="ko-KR" sz="1400" b="1" dirty="0">
                <a:latin typeface="Arial" pitchFamily="34" charset="0"/>
                <a:ea typeface="맑은 고딕" pitchFamily="50" charset="-127"/>
                <a:cs typeface="Arial" pitchFamily="34" charset="0"/>
              </a:rPr>
              <a:t> Option</a:t>
            </a:r>
            <a:endParaRPr lang="ko-KR" altLang="en-US" sz="1400" b="1" dirty="0">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212</a:t>
            </a:fld>
            <a:endParaRPr lang="ko-KR" altLang="en-US" dirty="0">
              <a:latin typeface="Arial" pitchFamily="34" charset="0"/>
              <a:cs typeface="Arial" pitchFamily="34" charset="0"/>
            </a:endParaRPr>
          </a:p>
        </p:txBody>
      </p:sp>
      <p:sp>
        <p:nvSpPr>
          <p:cNvPr id="23"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3485029865"/>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
          <p:cNvSpPr>
            <a:spLocks noChangeArrowheads="1"/>
          </p:cNvSpPr>
          <p:nvPr/>
        </p:nvSpPr>
        <p:spPr bwMode="auto">
          <a:xfrm>
            <a:off x="1403350" y="1484785"/>
            <a:ext cx="8013700" cy="1512168"/>
          </a:xfrm>
          <a:prstGeom prst="rect">
            <a:avLst/>
          </a:prstGeom>
          <a:solidFill>
            <a:srgbClr val="FFFFFF"/>
          </a:solidFill>
          <a:ln w="9525" algn="ctr">
            <a:solidFill>
              <a:schemeClr val="bg1">
                <a:lumMod val="65000"/>
              </a:schemeClr>
            </a:solidFill>
            <a:miter lim="800000"/>
            <a:headEnd/>
            <a:tailEnd/>
          </a:ln>
        </p:spPr>
        <p:txBody>
          <a:bodyPr/>
          <a:lstStyle/>
          <a:p>
            <a:pPr marL="171450" indent="-171450">
              <a:lnSpc>
                <a:spcPct val="120000"/>
              </a:lnSpc>
              <a:buFontTx/>
              <a:buChar char="-"/>
              <a:defRPr/>
            </a:pPr>
            <a:r>
              <a:rPr lang="en-US" altLang="ko-KR" sz="1100" dirty="0" err="1">
                <a:solidFill>
                  <a:srgbClr val="000000"/>
                </a:solidFill>
                <a:latin typeface="Arial" pitchFamily="34" charset="0"/>
                <a:ea typeface="+mn-ea"/>
                <a:cs typeface="Arial" pitchFamily="34" charset="0"/>
              </a:rPr>
              <a:t>Người</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đo</a:t>
            </a:r>
            <a:r>
              <a:rPr lang="en-US" altLang="ko-KR" sz="1100" dirty="0">
                <a:solidFill>
                  <a:srgbClr val="000000"/>
                </a:solidFill>
                <a:latin typeface="Arial" pitchFamily="34" charset="0"/>
                <a:ea typeface="+mn-ea"/>
                <a:cs typeface="Arial" pitchFamily="34" charset="0"/>
              </a:rPr>
              <a:t>: 2 ~ 3</a:t>
            </a:r>
            <a:r>
              <a:rPr lang="ko-KR" altLang="en-US"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người</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một</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nhóm</a:t>
            </a:r>
            <a:endParaRPr lang="en-US" altLang="ko-KR" sz="1100" dirty="0">
              <a:solidFill>
                <a:srgbClr val="000000"/>
              </a:solidFill>
              <a:latin typeface="Arial" pitchFamily="34" charset="0"/>
              <a:ea typeface="+mn-ea"/>
              <a:cs typeface="Arial" pitchFamily="34" charset="0"/>
            </a:endParaRPr>
          </a:p>
          <a:p>
            <a:pPr marL="171450" indent="-171450">
              <a:lnSpc>
                <a:spcPct val="120000"/>
              </a:lnSpc>
              <a:buFontTx/>
              <a:buChar char="-"/>
              <a:defRPr/>
            </a:pPr>
            <a:r>
              <a:rPr lang="en-US" altLang="ko-KR" sz="1100" dirty="0" err="1">
                <a:solidFill>
                  <a:srgbClr val="000000"/>
                </a:solidFill>
                <a:latin typeface="Arial" pitchFamily="34" charset="0"/>
                <a:ea typeface="+mn-ea"/>
                <a:cs typeface="Arial" pitchFamily="34" charset="0"/>
              </a:rPr>
              <a:t>Dụng</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cụ</a:t>
            </a:r>
            <a:r>
              <a:rPr lang="ko-KR" altLang="en-US" sz="1100" dirty="0">
                <a:solidFill>
                  <a:srgbClr val="000000"/>
                </a:solidFill>
                <a:latin typeface="Arial" pitchFamily="34" charset="0"/>
                <a:ea typeface="+mn-ea"/>
                <a:cs typeface="Arial" pitchFamily="34" charset="0"/>
              </a:rPr>
              <a:t> </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Thước</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kẻ</a:t>
            </a:r>
            <a:r>
              <a:rPr lang="en-US" altLang="ko-KR" sz="1100" dirty="0">
                <a:solidFill>
                  <a:srgbClr val="000000"/>
                </a:solidFill>
                <a:latin typeface="Arial" pitchFamily="34" charset="0"/>
                <a:ea typeface="+mn-ea"/>
                <a:cs typeface="Arial" pitchFamily="34" charset="0"/>
              </a:rPr>
              <a:t> or </a:t>
            </a:r>
            <a:r>
              <a:rPr lang="en-US" altLang="ko-KR" sz="1100" dirty="0" err="1">
                <a:solidFill>
                  <a:srgbClr val="000000"/>
                </a:solidFill>
                <a:latin typeface="Arial" pitchFamily="34" charset="0"/>
                <a:ea typeface="+mn-ea"/>
                <a:cs typeface="Arial" pitchFamily="34" charset="0"/>
              </a:rPr>
              <a:t>Thước</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kẹp</a:t>
            </a:r>
            <a:endParaRPr lang="en-US" altLang="ko-KR" sz="1100" dirty="0">
              <a:solidFill>
                <a:srgbClr val="000000"/>
              </a:solidFill>
              <a:latin typeface="Arial" pitchFamily="34" charset="0"/>
              <a:ea typeface="+mn-ea"/>
              <a:cs typeface="Arial" pitchFamily="34" charset="0"/>
            </a:endParaRPr>
          </a:p>
          <a:p>
            <a:pPr marL="171450" indent="-171450">
              <a:lnSpc>
                <a:spcPct val="120000"/>
              </a:lnSpc>
              <a:buFontTx/>
              <a:buChar char="-"/>
              <a:defRPr/>
            </a:pPr>
            <a:r>
              <a:rPr lang="en-US" altLang="ko-KR" sz="1100" dirty="0" err="1">
                <a:solidFill>
                  <a:srgbClr val="000000"/>
                </a:solidFill>
                <a:latin typeface="Arial" pitchFamily="34" charset="0"/>
                <a:ea typeface="+mn-ea"/>
                <a:cs typeface="Arial" pitchFamily="34" charset="0"/>
              </a:rPr>
              <a:t>Sản</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phẩm</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Chuẩn</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bị</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sản</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phẩm</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phù</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hợp</a:t>
            </a:r>
            <a:r>
              <a:rPr lang="en-US" altLang="ko-KR" sz="1100" dirty="0">
                <a:solidFill>
                  <a:srgbClr val="000000"/>
                </a:solidFill>
                <a:latin typeface="Arial" pitchFamily="34" charset="0"/>
                <a:ea typeface="+mn-ea"/>
                <a:cs typeface="Arial" pitchFamily="34" charset="0"/>
              </a:rPr>
              <a:t> 5-10 </a:t>
            </a:r>
            <a:r>
              <a:rPr lang="en-US" altLang="ko-KR" sz="1100" dirty="0" err="1">
                <a:solidFill>
                  <a:srgbClr val="000000"/>
                </a:solidFill>
                <a:latin typeface="Arial" pitchFamily="34" charset="0"/>
                <a:ea typeface="+mn-ea"/>
                <a:cs typeface="Arial" pitchFamily="34" charset="0"/>
              </a:rPr>
              <a:t>cái</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có</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thể</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đo</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được</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ví</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dụ</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vỏ</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điện</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thoại</a:t>
            </a:r>
            <a:r>
              <a:rPr lang="en-US" altLang="ko-KR" sz="1100" dirty="0">
                <a:solidFill>
                  <a:srgbClr val="000000"/>
                </a:solidFill>
                <a:latin typeface="Arial" pitchFamily="34" charset="0"/>
                <a:ea typeface="+mn-ea"/>
                <a:cs typeface="Arial" pitchFamily="34" charset="0"/>
              </a:rPr>
              <a:t>)</a:t>
            </a:r>
          </a:p>
          <a:p>
            <a:pPr marL="171450" indent="-171450">
              <a:lnSpc>
                <a:spcPct val="120000"/>
              </a:lnSpc>
              <a:buFontTx/>
              <a:buChar char="-"/>
              <a:defRPr/>
            </a:pPr>
            <a:r>
              <a:rPr lang="en-US" altLang="ko-KR" sz="1100" dirty="0" err="1">
                <a:solidFill>
                  <a:srgbClr val="000000"/>
                </a:solidFill>
                <a:latin typeface="Arial" pitchFamily="34" charset="0"/>
                <a:ea typeface="+mn-ea"/>
                <a:cs typeface="Arial" pitchFamily="34" charset="0"/>
              </a:rPr>
              <a:t>Cách</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đo</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mỗi</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người</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tiến</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hành</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đo</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hai</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lần</a:t>
            </a:r>
            <a:endParaRPr lang="en-US" altLang="ko-KR" sz="1100" dirty="0">
              <a:solidFill>
                <a:srgbClr val="000000"/>
              </a:solidFill>
              <a:latin typeface="Arial" pitchFamily="34" charset="0"/>
              <a:ea typeface="+mn-ea"/>
              <a:cs typeface="Arial" pitchFamily="34" charset="0"/>
            </a:endParaRPr>
          </a:p>
          <a:p>
            <a:pPr marL="171450" indent="-171450">
              <a:lnSpc>
                <a:spcPct val="120000"/>
              </a:lnSpc>
              <a:buFontTx/>
              <a:buChar char="-"/>
              <a:defRPr/>
            </a:pPr>
            <a:r>
              <a:rPr lang="en-US" altLang="ko-KR" sz="1100" dirty="0" err="1">
                <a:solidFill>
                  <a:srgbClr val="000000"/>
                </a:solidFill>
                <a:latin typeface="Arial" pitchFamily="34" charset="0"/>
                <a:ea typeface="+mn-ea"/>
                <a:cs typeface="Arial" pitchFamily="34" charset="0"/>
              </a:rPr>
              <a:t>Tập</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hợp</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dữ</a:t>
            </a:r>
            <a:r>
              <a:rPr lang="en-US" altLang="ko-KR" sz="1100" dirty="0">
                <a:solidFill>
                  <a:srgbClr val="000000"/>
                </a:solidFill>
                <a:latin typeface="Arial" pitchFamily="34" charset="0"/>
                <a:ea typeface="+mn-ea"/>
                <a:cs typeface="Arial" pitchFamily="34" charset="0"/>
              </a:rPr>
              <a:t> </a:t>
            </a:r>
            <a:r>
              <a:rPr lang="en-US" altLang="ko-KR" sz="1100" dirty="0" err="1">
                <a:solidFill>
                  <a:srgbClr val="000000"/>
                </a:solidFill>
                <a:latin typeface="Arial" pitchFamily="34" charset="0"/>
                <a:ea typeface="+mn-ea"/>
                <a:cs typeface="Arial" pitchFamily="34" charset="0"/>
              </a:rPr>
              <a:t>liệu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Thứ</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tự</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của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người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đánh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giá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và</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thứ</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tự</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của</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các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bộ</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phận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cần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phải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sắp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xếp</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ngẫu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nhiên</a:t>
            </a:r>
            <a:r>
              <a:rPr lang="en-US" altLang="ko-KR" sz="1100" dirty="0">
                <a:solidFill>
                  <a:srgbClr val="000000"/>
                </a:solidFill>
                <a:latin typeface="Arial" pitchFamily="34" charset="0"/>
                <a:ea typeface="맑은 고딕" pitchFamily="50" charset="-127"/>
                <a:cs typeface="Arial" pitchFamily="34" charset="0"/>
              </a:rPr>
              <a:t>. </a:t>
            </a:r>
          </a:p>
          <a:p>
            <a:pPr>
              <a:lnSpc>
                <a:spcPct val="120000"/>
              </a:lnSpc>
              <a:defRPr/>
            </a:pP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Thực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hiện</a:t>
            </a:r>
            <a:r>
              <a:rPr lang="en-US" altLang="ko-KR" sz="1100" dirty="0">
                <a:solidFill>
                  <a:srgbClr val="000000"/>
                </a:solidFill>
                <a:latin typeface="Arial" pitchFamily="34" charset="0"/>
                <a:ea typeface="맑은 고딕" pitchFamily="50" charset="-127"/>
                <a:cs typeface="Arial" pitchFamily="34" charset="0"/>
              </a:rPr>
              <a:t> blind test. </a:t>
            </a:r>
            <a:r>
              <a:rPr lang="en-US" altLang="ko-KR" sz="1100" dirty="0" err="1">
                <a:solidFill>
                  <a:srgbClr val="000000"/>
                </a:solidFill>
                <a:latin typeface="Arial" pitchFamily="34" charset="0"/>
                <a:ea typeface="맑은 고딕" pitchFamily="50" charset="-127"/>
                <a:cs typeface="Arial" pitchFamily="34" charset="0"/>
              </a:rPr>
              <a:t>Sử</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dụng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tiêu</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chuẩn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đo</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lường</a:t>
            </a:r>
            <a:r>
              <a:rPr lang="en-US" altLang="ko-KR" sz="1100" dirty="0">
                <a:solidFill>
                  <a:srgbClr val="000000"/>
                </a:solidFill>
                <a:latin typeface="Arial" pitchFamily="34" charset="0"/>
                <a:ea typeface="맑은 고딕" pitchFamily="50" charset="-127"/>
                <a:cs typeface="Arial" pitchFamily="34" charset="0"/>
              </a:rPr>
              <a:t> Gage </a:t>
            </a:r>
            <a:r>
              <a:rPr lang="en-US" altLang="ko-KR" sz="1100" dirty="0" err="1">
                <a:solidFill>
                  <a:srgbClr val="000000"/>
                </a:solidFill>
                <a:latin typeface="Arial" pitchFamily="34" charset="0"/>
                <a:ea typeface="맑은 고딕" pitchFamily="50" charset="-127"/>
                <a:cs typeface="Arial" pitchFamily="34" charset="0"/>
              </a:rPr>
              <a:t>và</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không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được</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thay</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đổi</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trong</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quá</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trình</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tiến</a:t>
            </a:r>
            <a:r>
              <a:rPr lang="en-US" altLang="ko-KR" sz="1100" dirty="0">
                <a:solidFill>
                  <a:srgbClr val="000000"/>
                </a:solidFill>
                <a:latin typeface="Arial" pitchFamily="34" charset="0"/>
                <a:ea typeface="맑은 고딕" pitchFamily="50" charset="-127"/>
                <a:cs typeface="Arial" pitchFamily="34" charset="0"/>
              </a:rPr>
              <a:t> </a:t>
            </a:r>
            <a:r>
              <a:rPr lang="en-US" altLang="ko-KR" sz="1100" dirty="0" err="1">
                <a:solidFill>
                  <a:srgbClr val="000000"/>
                </a:solidFill>
                <a:latin typeface="Arial" pitchFamily="34" charset="0"/>
                <a:ea typeface="맑은 고딕" pitchFamily="50" charset="-127"/>
                <a:cs typeface="Arial" pitchFamily="34" charset="0"/>
              </a:rPr>
              <a:t>hành</a:t>
            </a:r>
            <a:r>
              <a:rPr lang="en-US" altLang="ko-KR" sz="1100" dirty="0">
                <a:solidFill>
                  <a:srgbClr val="000000"/>
                </a:solidFill>
                <a:latin typeface="Arial" pitchFamily="34" charset="0"/>
                <a:ea typeface="맑은 고딕" pitchFamily="50" charset="-127"/>
                <a:cs typeface="Arial" pitchFamily="34" charset="0"/>
              </a:rPr>
              <a:t>.</a:t>
            </a:r>
            <a:endParaRPr lang="en-US" altLang="ko-KR" sz="1100" dirty="0">
              <a:solidFill>
                <a:srgbClr val="000000"/>
              </a:solidFill>
              <a:latin typeface="Arial" pitchFamily="34" charset="0"/>
              <a:ea typeface="+mn-ea"/>
              <a:cs typeface="Arial" pitchFamily="34" charset="0"/>
            </a:endParaRPr>
          </a:p>
          <a:p>
            <a:pPr>
              <a:lnSpc>
                <a:spcPct val="120000"/>
              </a:lnSpc>
              <a:defRPr/>
            </a:pPr>
            <a:r>
              <a:rPr lang="en-US" altLang="ko-KR" sz="1100" dirty="0">
                <a:solidFill>
                  <a:srgbClr val="000000"/>
                </a:solidFill>
                <a:latin typeface="Arial" pitchFamily="34" charset="0"/>
                <a:ea typeface="+mn-ea"/>
                <a:cs typeface="Arial" pitchFamily="34" charset="0"/>
              </a:rPr>
              <a:t>     </a:t>
            </a:r>
          </a:p>
        </p:txBody>
      </p:sp>
      <p:pic>
        <p:nvPicPr>
          <p:cNvPr id="35847" name="Picture 128"/>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504727" y="4005064"/>
            <a:ext cx="4847869" cy="26736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213</a:t>
            </a:fld>
            <a:endParaRPr lang="ko-KR" altLang="en-US" dirty="0">
              <a:latin typeface="Arial" pitchFamily="34" charset="0"/>
              <a:cs typeface="Arial" pitchFamily="34" charset="0"/>
            </a:endParaRPr>
          </a:p>
        </p:txBody>
      </p:sp>
      <p:sp>
        <p:nvSpPr>
          <p:cNvPr id="10" name="직사각형 30"/>
          <p:cNvSpPr>
            <a:spLocks noChangeArrowheads="1"/>
          </p:cNvSpPr>
          <p:nvPr/>
        </p:nvSpPr>
        <p:spPr bwMode="auto">
          <a:xfrm>
            <a:off x="344488" y="836613"/>
            <a:ext cx="8928992" cy="584775"/>
          </a:xfrm>
          <a:prstGeom prst="rect">
            <a:avLst/>
          </a:prstGeom>
          <a:noFill/>
          <a:ln>
            <a:noFill/>
          </a:ln>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kumimoji="0" lang="en-US" altLang="ko-KR" sz="1600" b="1" dirty="0" err="1">
                <a:latin typeface="Arial" pitchFamily="34" charset="0"/>
                <a:ea typeface="+mn-ea"/>
                <a:cs typeface="Arial" pitchFamily="34" charset="0"/>
              </a:rPr>
              <a:t>Sử</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dụng</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thông</a:t>
            </a:r>
            <a:r>
              <a:rPr kumimoji="0" lang="en-US" altLang="ko-KR" sz="1600" b="1" dirty="0">
                <a:latin typeface="Arial" pitchFamily="34" charset="0"/>
                <a:ea typeface="+mn-ea"/>
                <a:cs typeface="Arial" pitchFamily="34" charset="0"/>
              </a:rPr>
              <a:t> tin </a:t>
            </a:r>
            <a:r>
              <a:rPr kumimoji="0" lang="en-US" altLang="ko-KR" sz="1600" b="1" dirty="0" err="1">
                <a:latin typeface="Arial" pitchFamily="34" charset="0"/>
                <a:ea typeface="+mn-ea"/>
                <a:cs typeface="Arial" pitchFamily="34" charset="0"/>
              </a:rPr>
              <a:t>được</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cho</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bên</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dưới</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tiến</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hành</a:t>
            </a:r>
            <a:r>
              <a:rPr kumimoji="0" lang="en-US" altLang="ko-KR" sz="1600" b="1" dirty="0">
                <a:latin typeface="Arial" pitchFamily="34" charset="0"/>
                <a:ea typeface="+mn-ea"/>
                <a:cs typeface="Arial" pitchFamily="34" charset="0"/>
              </a:rPr>
              <a:t> Crossed Gage R&amp;R </a:t>
            </a:r>
            <a:r>
              <a:rPr kumimoji="0" lang="en-US" altLang="ko-KR" sz="1600" b="1" dirty="0" err="1">
                <a:latin typeface="Arial" pitchFamily="34" charset="0"/>
                <a:ea typeface="+mn-ea"/>
                <a:cs typeface="Arial" pitchFamily="34" charset="0"/>
              </a:rPr>
              <a:t>và</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báo</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cáo</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kết</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quả</a:t>
            </a:r>
            <a:r>
              <a:rPr kumimoji="0" lang="en-US" altLang="ko-KR" sz="1600" b="1" dirty="0">
                <a:latin typeface="Arial" pitchFamily="34" charset="0"/>
                <a:ea typeface="+mn-ea"/>
                <a:cs typeface="Arial" pitchFamily="34" charset="0"/>
              </a:rPr>
              <a:t> (50 </a:t>
            </a:r>
            <a:r>
              <a:rPr kumimoji="0" lang="en-US" altLang="ko-KR" sz="1600" b="1" dirty="0" err="1">
                <a:latin typeface="Arial" pitchFamily="34" charset="0"/>
                <a:ea typeface="+mn-ea"/>
                <a:cs typeface="Arial" pitchFamily="34" charset="0"/>
              </a:rPr>
              <a:t>phút</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thực</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hành</a:t>
            </a:r>
            <a:r>
              <a:rPr kumimoji="0" lang="en-US" altLang="ko-KR" sz="1600" b="1" dirty="0">
                <a:latin typeface="Arial" pitchFamily="34" charset="0"/>
                <a:ea typeface="+mn-ea"/>
                <a:cs typeface="Arial" pitchFamily="34" charset="0"/>
              </a:rPr>
              <a:t>, 10 </a:t>
            </a:r>
            <a:r>
              <a:rPr kumimoji="0" lang="en-US" altLang="ko-KR" sz="1600" b="1" dirty="0" err="1">
                <a:latin typeface="Arial" pitchFamily="34" charset="0"/>
                <a:ea typeface="+mn-ea"/>
                <a:cs typeface="Arial" pitchFamily="34" charset="0"/>
              </a:rPr>
              <a:t>phút</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thuyết</a:t>
            </a:r>
            <a:r>
              <a:rPr kumimoji="0" lang="en-US" altLang="ko-KR" sz="1600" b="1" dirty="0">
                <a:latin typeface="Arial" pitchFamily="34" charset="0"/>
                <a:ea typeface="+mn-ea"/>
                <a:cs typeface="Arial" pitchFamily="34" charset="0"/>
              </a:rPr>
              <a:t> </a:t>
            </a:r>
            <a:r>
              <a:rPr kumimoji="0" lang="en-US" altLang="ko-KR" sz="1600" b="1" dirty="0" err="1">
                <a:latin typeface="Arial" pitchFamily="34" charset="0"/>
                <a:ea typeface="+mn-ea"/>
                <a:cs typeface="Arial" pitchFamily="34" charset="0"/>
              </a:rPr>
              <a:t>trình</a:t>
            </a:r>
            <a:r>
              <a:rPr kumimoji="0" lang="en-US" altLang="ko-KR" sz="1600" b="1" dirty="0">
                <a:latin typeface="Arial" pitchFamily="34" charset="0"/>
                <a:ea typeface="+mn-ea"/>
                <a:cs typeface="Arial" pitchFamily="34" charset="0"/>
              </a:rPr>
              <a:t>)</a:t>
            </a:r>
            <a:endParaRPr kumimoji="0" lang="ko-KR" altLang="en-US" sz="1600" dirty="0">
              <a:latin typeface="Arial" pitchFamily="34" charset="0"/>
              <a:ea typeface="+mn-ea"/>
              <a:cs typeface="Arial" pitchFamily="34" charset="0"/>
            </a:endParaRPr>
          </a:p>
        </p:txBody>
      </p:sp>
      <p:sp>
        <p:nvSpPr>
          <p:cNvPr id="11"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3156920025"/>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표 10"/>
          <p:cNvGraphicFramePr>
            <a:graphicFrameLocks noGrp="1"/>
          </p:cNvGraphicFramePr>
          <p:nvPr/>
        </p:nvGraphicFramePr>
        <p:xfrm>
          <a:off x="790575" y="1341438"/>
          <a:ext cx="8502649" cy="5040315"/>
        </p:xfrm>
        <a:graphic>
          <a:graphicData uri="http://schemas.openxmlformats.org/drawingml/2006/table">
            <a:tbl>
              <a:tblPr firstRow="1" bandRow="1">
                <a:tableStyleId>{5C22544A-7EE6-4342-B048-85BDC9FD1C3A}</a:tableStyleId>
              </a:tblPr>
              <a:tblGrid>
                <a:gridCol w="1713621">
                  <a:extLst>
                    <a:ext uri="{9D8B030D-6E8A-4147-A177-3AD203B41FA5}">
                      <a16:colId xmlns:a16="http://schemas.microsoft.com/office/drawing/2014/main" val="20000"/>
                    </a:ext>
                  </a:extLst>
                </a:gridCol>
                <a:gridCol w="4608485">
                  <a:extLst>
                    <a:ext uri="{9D8B030D-6E8A-4147-A177-3AD203B41FA5}">
                      <a16:colId xmlns:a16="http://schemas.microsoft.com/office/drawing/2014/main" val="20001"/>
                    </a:ext>
                  </a:extLst>
                </a:gridCol>
                <a:gridCol w="2180543">
                  <a:extLst>
                    <a:ext uri="{9D8B030D-6E8A-4147-A177-3AD203B41FA5}">
                      <a16:colId xmlns:a16="http://schemas.microsoft.com/office/drawing/2014/main" val="20002"/>
                    </a:ext>
                  </a:extLst>
                </a:gridCol>
              </a:tblGrid>
              <a:tr h="720045">
                <a:tc>
                  <a:txBody>
                    <a:bodyPr/>
                    <a:lstStyle/>
                    <a:p>
                      <a:pPr algn="ctr" latinLnBrk="1"/>
                      <a:r>
                        <a:rPr lang="en-US" altLang="ko-KR" sz="1400" b="1" dirty="0" err="1">
                          <a:solidFill>
                            <a:schemeClr val="tx1"/>
                          </a:solidFill>
                          <a:latin typeface="Arial" pitchFamily="34" charset="0"/>
                          <a:cs typeface="Arial" pitchFamily="34" charset="0"/>
                        </a:rPr>
                        <a:t>Hạng</a:t>
                      </a:r>
                      <a:r>
                        <a:rPr lang="en-US" altLang="ko-KR" sz="1400" b="1" baseline="0" dirty="0">
                          <a:solidFill>
                            <a:schemeClr val="tx1"/>
                          </a:solidFill>
                          <a:latin typeface="Arial" pitchFamily="34" charset="0"/>
                          <a:cs typeface="Arial" pitchFamily="34" charset="0"/>
                        </a:rPr>
                        <a:t> </a:t>
                      </a:r>
                      <a:r>
                        <a:rPr lang="en-US" altLang="ko-KR" sz="1400" b="1" baseline="0" dirty="0" err="1">
                          <a:solidFill>
                            <a:schemeClr val="tx1"/>
                          </a:solidFill>
                          <a:latin typeface="Arial" pitchFamily="34" charset="0"/>
                          <a:cs typeface="Arial" pitchFamily="34" charset="0"/>
                        </a:rPr>
                        <a:t>mục</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en-US" altLang="ko-KR" sz="1400" b="1" dirty="0" err="1">
                          <a:solidFill>
                            <a:schemeClr val="tx1"/>
                          </a:solidFill>
                          <a:latin typeface="Arial" pitchFamily="34" charset="0"/>
                          <a:cs typeface="Arial" pitchFamily="34" charset="0"/>
                        </a:rPr>
                        <a:t>Mô</a:t>
                      </a:r>
                      <a:r>
                        <a:rPr lang="en-US" altLang="ko-KR" sz="1400" b="1" baseline="0" dirty="0">
                          <a:solidFill>
                            <a:schemeClr val="tx1"/>
                          </a:solidFill>
                          <a:latin typeface="Arial" pitchFamily="34" charset="0"/>
                          <a:cs typeface="Arial" pitchFamily="34" charset="0"/>
                        </a:rPr>
                        <a:t> </a:t>
                      </a:r>
                      <a:r>
                        <a:rPr lang="en-US" altLang="ko-KR" sz="1400" b="1" baseline="0" dirty="0" err="1">
                          <a:solidFill>
                            <a:schemeClr val="tx1"/>
                          </a:solidFill>
                          <a:latin typeface="Arial" pitchFamily="34" charset="0"/>
                          <a:cs typeface="Arial" pitchFamily="34" charset="0"/>
                        </a:rPr>
                        <a:t>tả</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en-US" altLang="ko-KR" sz="1400" b="1" dirty="0" err="1">
                          <a:solidFill>
                            <a:schemeClr val="tx1"/>
                          </a:solidFill>
                          <a:latin typeface="Arial" pitchFamily="34" charset="0"/>
                          <a:cs typeface="Arial" pitchFamily="34" charset="0"/>
                        </a:rPr>
                        <a:t>Lưu</a:t>
                      </a:r>
                      <a:r>
                        <a:rPr lang="en-US" altLang="ko-KR" sz="1400" b="1" baseline="0" dirty="0">
                          <a:solidFill>
                            <a:schemeClr val="tx1"/>
                          </a:solidFill>
                          <a:latin typeface="Arial" pitchFamily="34" charset="0"/>
                          <a:cs typeface="Arial" pitchFamily="34" charset="0"/>
                        </a:rPr>
                        <a:t> ý</a:t>
                      </a:r>
                      <a:endParaRPr lang="ko-KR" altLang="en-US" sz="14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720045">
                <a:tc>
                  <a:txBody>
                    <a:bodyPr/>
                    <a:lstStyle/>
                    <a:p>
                      <a:pPr algn="ctr" latinLnBrk="1"/>
                      <a:r>
                        <a:rPr lang="en-US" altLang="ko-KR" sz="1200" b="1" dirty="0" err="1">
                          <a:solidFill>
                            <a:schemeClr val="tx1"/>
                          </a:solidFill>
                          <a:latin typeface="Arial" pitchFamily="34" charset="0"/>
                          <a:cs typeface="Arial" pitchFamily="34" charset="0"/>
                        </a:rPr>
                        <a:t>Tiêu</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chuẩn</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720045">
                <a:tc>
                  <a:txBody>
                    <a:bodyPr/>
                    <a:lstStyle/>
                    <a:p>
                      <a:pPr algn="ctr" latinLnBrk="1"/>
                      <a:r>
                        <a:rPr lang="en-US" altLang="ko-KR" sz="1200" b="1" dirty="0" err="1">
                          <a:solidFill>
                            <a:schemeClr val="tx1"/>
                          </a:solidFill>
                          <a:latin typeface="Arial" pitchFamily="34" charset="0"/>
                          <a:cs typeface="Arial" pitchFamily="34" charset="0"/>
                        </a:rPr>
                        <a:t>Mẫu</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720045">
                <a:tc>
                  <a:txBody>
                    <a:bodyPr/>
                    <a:lstStyle/>
                    <a:p>
                      <a:pPr algn="ctr" latinLnBrk="1"/>
                      <a:r>
                        <a:rPr lang="en-US" altLang="ko-KR" sz="1200" b="1" dirty="0" err="1">
                          <a:solidFill>
                            <a:schemeClr val="tx1"/>
                          </a:solidFill>
                          <a:latin typeface="Arial" pitchFamily="34" charset="0"/>
                          <a:cs typeface="Arial" pitchFamily="34" charset="0"/>
                        </a:rPr>
                        <a:t>Dụng</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cụ</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720045">
                <a:tc>
                  <a:txBody>
                    <a:bodyPr/>
                    <a:lstStyle/>
                    <a:p>
                      <a:pPr algn="ctr" latinLnBrk="1"/>
                      <a:r>
                        <a:rPr lang="en-US" altLang="ko-KR" sz="1200" b="1" dirty="0" err="1">
                          <a:solidFill>
                            <a:schemeClr val="tx1"/>
                          </a:solidFill>
                          <a:latin typeface="Arial" pitchFamily="34" charset="0"/>
                          <a:cs typeface="Arial" pitchFamily="34" charset="0"/>
                        </a:rPr>
                        <a:t>Người</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đo</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720045">
                <a:tc>
                  <a:txBody>
                    <a:bodyPr/>
                    <a:lstStyle/>
                    <a:p>
                      <a:pPr algn="ctr" latinLnBrk="1"/>
                      <a:r>
                        <a:rPr lang="en-US" altLang="ko-KR" sz="1200" b="1" dirty="0" err="1">
                          <a:solidFill>
                            <a:schemeClr val="tx1"/>
                          </a:solidFill>
                          <a:latin typeface="Arial" pitchFamily="34" charset="0"/>
                          <a:cs typeface="Arial" pitchFamily="34" charset="0"/>
                        </a:rPr>
                        <a:t>Trình</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tự</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720045">
                <a:tc>
                  <a:txBody>
                    <a:bodyPr/>
                    <a:lstStyle/>
                    <a:p>
                      <a:pPr algn="ctr" latinLnBrk="1"/>
                      <a:r>
                        <a:rPr lang="en-US" altLang="ko-KR" sz="1200" b="1" dirty="0" err="1">
                          <a:solidFill>
                            <a:schemeClr val="tx1"/>
                          </a:solidFill>
                          <a:latin typeface="Arial" pitchFamily="34" charset="0"/>
                          <a:cs typeface="Arial" pitchFamily="34" charset="0"/>
                        </a:rPr>
                        <a:t>Môi</a:t>
                      </a:r>
                      <a:r>
                        <a:rPr lang="en-US" altLang="ko-KR" sz="1200" b="1" baseline="0" dirty="0">
                          <a:solidFill>
                            <a:schemeClr val="tx1"/>
                          </a:solidFill>
                          <a:latin typeface="Arial" pitchFamily="34" charset="0"/>
                          <a:cs typeface="Arial" pitchFamily="34" charset="0"/>
                        </a:rPr>
                        <a:t> </a:t>
                      </a:r>
                      <a:r>
                        <a:rPr lang="en-US" altLang="ko-KR" sz="1200" b="1" baseline="0" dirty="0" err="1">
                          <a:solidFill>
                            <a:schemeClr val="tx1"/>
                          </a:solidFill>
                          <a:latin typeface="Arial" pitchFamily="34" charset="0"/>
                          <a:cs typeface="Arial" pitchFamily="34" charset="0"/>
                        </a:rPr>
                        <a:t>trường</a:t>
                      </a:r>
                      <a:endParaRPr lang="en-US" altLang="ko-KR" sz="1200" b="1"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latinLnBrk="1"/>
                      <a:endParaRPr lang="ko-KR" altLang="en-US" sz="1400" dirty="0">
                        <a:solidFill>
                          <a:schemeClr val="tx1"/>
                        </a:solidFill>
                        <a:latin typeface="Arial" pitchFamily="34" charset="0"/>
                        <a:cs typeface="Arial" pitchFamily="34" charset="0"/>
                      </a:endParaRPr>
                    </a:p>
                  </a:txBody>
                  <a:tcPr marL="91439" marR="91439" marT="45718"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sp>
        <p:nvSpPr>
          <p:cNvPr id="13" name="TextBox 12"/>
          <p:cNvSpPr txBox="1"/>
          <p:nvPr/>
        </p:nvSpPr>
        <p:spPr>
          <a:xfrm>
            <a:off x="428625"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Hoàn</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thành</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bảng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hệ</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thống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đo</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lường</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dưới</a:t>
            </a:r>
            <a:r>
              <a:rPr kumimoji="0" lang="en-US" altLang="ko-KR" sz="1400" b="1" kern="0" dirty="0">
                <a:solidFill>
                  <a:sysClr val="windowText" lastClr="000000"/>
                </a:solidFill>
                <a:latin typeface="Arial" pitchFamily="34" charset="0"/>
                <a:ea typeface="맑은 고딕" pitchFamily="50" charset="-127"/>
                <a:cs typeface="Arial" pitchFamily="34" charset="0"/>
              </a:rPr>
              <a:t> </a:t>
            </a:r>
            <a:r>
              <a:rPr kumimoji="0" lang="en-US" altLang="ko-KR" sz="1400" b="1" kern="0" dirty="0" err="1">
                <a:solidFill>
                  <a:sysClr val="windowText" lastClr="000000"/>
                </a:solidFill>
                <a:latin typeface="Arial" pitchFamily="34" charset="0"/>
                <a:ea typeface="맑은 고딕" pitchFamily="50" charset="-127"/>
                <a:cs typeface="Arial" pitchFamily="34" charset="0"/>
              </a:rPr>
              <a:t>đây</a:t>
            </a:r>
            <a:endParaRPr kumimoji="0" lang="en-US" altLang="ko-KR" sz="1400" b="1" kern="0" dirty="0">
              <a:solidFill>
                <a:sysClr val="windowText" lastClr="000000"/>
              </a:solidFill>
              <a:latin typeface="Arial" pitchFamily="34" charset="0"/>
              <a:ea typeface="맑은 고딕" pitchFamily="50" charset="-127"/>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214</a:t>
            </a:fld>
            <a:endParaRPr lang="ko-KR" altLang="en-US" dirty="0">
              <a:latin typeface="Arial" pitchFamily="34" charset="0"/>
              <a:cs typeface="Arial" pitchFamily="34" charset="0"/>
            </a:endParaRPr>
          </a:p>
        </p:txBody>
      </p:sp>
      <p:sp>
        <p:nvSpPr>
          <p:cNvPr id="7" name="제목 8"/>
          <p:cNvSpPr txBox="1">
            <a:spLocks/>
          </p:cNvSpPr>
          <p:nvPr/>
        </p:nvSpPr>
        <p:spPr bwMode="auto">
          <a:xfrm>
            <a:off x="195263" y="188913"/>
            <a:ext cx="4686300"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4.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Thực</a:t>
            </a:r>
            <a:r>
              <a:rPr kumimoji="0" lang="en-US" altLang="ko-KR" sz="2000" b="1" kern="0" dirty="0">
                <a:solidFill>
                  <a:sysClr val="windowText" lastClr="000000">
                    <a:lumMod val="75000"/>
                    <a:lumOff val="25000"/>
                  </a:sysClr>
                </a:solidFill>
                <a:latin typeface="Arial" pitchFamily="34" charset="0"/>
                <a:ea typeface="맑은 고딕" pitchFamily="50" charset="-127"/>
                <a:cs typeface="Arial" pitchFamily="34" charset="0"/>
              </a:rPr>
              <a:t> </a:t>
            </a:r>
            <a:r>
              <a:rPr kumimoji="0" lang="en-US" altLang="ko-KR" sz="2000" b="1" kern="0" dirty="0" err="1">
                <a:solidFill>
                  <a:sysClr val="windowText" lastClr="000000">
                    <a:lumMod val="75000"/>
                    <a:lumOff val="25000"/>
                  </a:sysClr>
                </a:solidFill>
                <a:latin typeface="Arial" pitchFamily="34" charset="0"/>
                <a:ea typeface="맑은 고딕" pitchFamily="50" charset="-127"/>
                <a:cs typeface="Arial" pitchFamily="34" charset="0"/>
              </a:rPr>
              <a:t>hành</a:t>
            </a:r>
            <a:endParaRPr lang="ko-KR" altLang="en-US" sz="2000" b="1" kern="0" dirty="0">
              <a:solidFill>
                <a:srgbClr val="000000"/>
              </a:solidFill>
              <a:latin typeface="Arial" pitchFamily="34" charset="0"/>
              <a:ea typeface="맑은 고딕"/>
              <a:cs typeface="Arial" pitchFamily="34" charset="0"/>
            </a:endParaRPr>
          </a:p>
        </p:txBody>
      </p:sp>
    </p:spTree>
    <p:extLst>
      <p:ext uri="{BB962C8B-B14F-4D97-AF65-F5344CB8AC3E}">
        <p14:creationId xmlns:p14="http://schemas.microsoft.com/office/powerpoint/2010/main" val="3621244623"/>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p:cNvSpPr txBox="1"/>
          <p:nvPr/>
        </p:nvSpPr>
        <p:spPr>
          <a:xfrm>
            <a:off x="251619" y="1032243"/>
            <a:ext cx="6611938" cy="1717393"/>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
              <a:defRPr/>
            </a:pPr>
            <a:r>
              <a:rPr kumimoji="0" lang="ko-KR" altLang="en-US"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Đo</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lường</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đúng</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cách</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là</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tiền</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đề</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cơ</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bản</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cho</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tất</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cả</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các</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loại</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phân</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tích</a:t>
            </a:r>
            <a:endParaRPr kumimoji="0" lang="en-US" altLang="ko-KR" sz="1200" b="1" kern="0" dirty="0">
              <a:solidFill>
                <a:srgbClr val="000000"/>
              </a:solidFill>
              <a:latin typeface="Arial" pitchFamily="34" charset="0"/>
              <a:ea typeface="맑은 고딕" pitchFamily="50" charset="-127"/>
              <a:cs typeface="Arial" pitchFamily="34" charset="0"/>
            </a:endParaRPr>
          </a:p>
          <a:p>
            <a:pPr fontAlgn="auto" latinLnBrk="0">
              <a:lnSpc>
                <a:spcPct val="110000"/>
              </a:lnSpc>
              <a:spcBef>
                <a:spcPts val="0"/>
              </a:spcBef>
              <a:spcAft>
                <a:spcPts val="0"/>
              </a:spcAft>
              <a:buClr>
                <a:srgbClr val="595959"/>
              </a:buClr>
              <a:buFont typeface="Wingdings" pitchFamily="2" charset="2"/>
              <a:buChar char="§"/>
              <a:defRPr/>
            </a:pPr>
            <a:endParaRPr kumimoji="0" lang="en-US" altLang="ko-KR" sz="1200" b="1" kern="0" dirty="0">
              <a:solidFill>
                <a:srgbClr val="000000"/>
              </a:solidFill>
              <a:latin typeface="Arial" pitchFamily="34" charset="0"/>
              <a:ea typeface="맑은 고딕" pitchFamily="50" charset="-127"/>
              <a:cs typeface="Arial" pitchFamily="34" charset="0"/>
            </a:endParaRPr>
          </a:p>
          <a:p>
            <a:pPr fontAlgn="auto" latinLnBrk="0">
              <a:lnSpc>
                <a:spcPct val="110000"/>
              </a:lnSpc>
              <a:spcBef>
                <a:spcPts val="0"/>
              </a:spcBef>
              <a:spcAft>
                <a:spcPts val="0"/>
              </a:spcAft>
              <a:buClr>
                <a:srgbClr val="595959"/>
              </a:buClr>
              <a:buFont typeface="Wingdings" pitchFamily="2" charset="2"/>
              <a:buChar char="§"/>
              <a:defRPr/>
            </a:pPr>
            <a:r>
              <a:rPr kumimoji="0" lang="ko-KR" altLang="en-US"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Kiểm</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định</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hệ</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thống</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đo</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lường</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là</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quá</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trình</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kiểm</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tra</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xem</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hệ</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thống</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đo</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lường</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của</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chúng</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ta</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đáng</a:t>
            </a:r>
            <a:r>
              <a:rPr kumimoji="0" lang="en-US" altLang="ko-KR" sz="1200" b="1" kern="0" dirty="0">
                <a:solidFill>
                  <a:srgbClr val="000000"/>
                </a:solidFill>
                <a:latin typeface="Arial" pitchFamily="34" charset="0"/>
                <a:ea typeface="맑은 고딕" pitchFamily="50" charset="-127"/>
                <a:cs typeface="Arial" pitchFamily="34" charset="0"/>
              </a:rPr>
              <a:t> tin </a:t>
            </a:r>
            <a:r>
              <a:rPr kumimoji="0" lang="en-US" altLang="ko-KR" sz="1200" b="1" kern="0" dirty="0" err="1">
                <a:solidFill>
                  <a:srgbClr val="000000"/>
                </a:solidFill>
                <a:latin typeface="Arial" pitchFamily="34" charset="0"/>
                <a:ea typeface="맑은 고딕" pitchFamily="50" charset="-127"/>
                <a:cs typeface="Arial" pitchFamily="34" charset="0"/>
              </a:rPr>
              <a:t>cậy</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đến</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đâu</a:t>
            </a:r>
            <a:r>
              <a:rPr kumimoji="0" lang="en-US" altLang="ko-KR" sz="1200" b="1" kern="0" dirty="0">
                <a:solidFill>
                  <a:srgbClr val="000000"/>
                </a:solidFill>
                <a:latin typeface="Arial" pitchFamily="34" charset="0"/>
                <a:ea typeface="맑은 고딕" pitchFamily="50" charset="-127"/>
                <a:cs typeface="Arial" pitchFamily="34" charset="0"/>
              </a:rPr>
              <a:t>. </a:t>
            </a:r>
          </a:p>
          <a:p>
            <a:pPr marL="177800" indent="-177800" fontAlgn="auto" latinLnBrk="0">
              <a:lnSpc>
                <a:spcPct val="110000"/>
              </a:lnSpc>
              <a:spcBef>
                <a:spcPts val="0"/>
              </a:spcBef>
              <a:spcAft>
                <a:spcPts val="0"/>
              </a:spcAft>
              <a:buClr>
                <a:srgbClr val="595959"/>
              </a:buClr>
              <a:buFont typeface="Wingdings" panose="05000000000000000000" pitchFamily="2" charset="2"/>
              <a:buChar char="§"/>
              <a:defRPr/>
            </a:pPr>
            <a:r>
              <a:rPr kumimoji="0" lang="en-US" altLang="ko-KR" sz="1200" b="1" kern="0" dirty="0" err="1">
                <a:solidFill>
                  <a:srgbClr val="000000"/>
                </a:solidFill>
                <a:latin typeface="Arial" pitchFamily="34" charset="0"/>
                <a:ea typeface="맑은 고딕" pitchFamily="50" charset="-127"/>
                <a:cs typeface="Arial" pitchFamily="34" charset="0"/>
              </a:rPr>
              <a:t>Tính</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hợp</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lệ</a:t>
            </a:r>
            <a:endParaRPr kumimoji="0" lang="en-US" altLang="ko-KR" sz="1200" b="1" kern="0" dirty="0">
              <a:solidFill>
                <a:srgbClr val="000000"/>
              </a:solidFill>
              <a:latin typeface="Arial" pitchFamily="34" charset="0"/>
              <a:ea typeface="맑은 고딕" pitchFamily="50" charset="-127"/>
              <a:cs typeface="Arial" pitchFamily="34" charset="0"/>
            </a:endParaRPr>
          </a:p>
          <a:p>
            <a:pPr fontAlgn="auto" latinLnBrk="0">
              <a:lnSpc>
                <a:spcPct val="110000"/>
              </a:lnSpc>
              <a:spcBef>
                <a:spcPts val="0"/>
              </a:spcBef>
              <a:spcAft>
                <a:spcPts val="0"/>
              </a:spcAft>
              <a:buClr>
                <a:srgbClr val="595959"/>
              </a:buClr>
              <a:defRPr/>
            </a:pP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kumimoji="0" lang="en-US" altLang="ko-KR" sz="1200" b="1" kern="0" dirty="0" err="1">
                <a:solidFill>
                  <a:srgbClr val="000000"/>
                </a:solidFill>
                <a:latin typeface="Arial" pitchFamily="34" charset="0"/>
                <a:ea typeface="맑은 고딕" pitchFamily="50" charset="-127"/>
                <a:cs typeface="Arial" pitchFamily="34" charset="0"/>
                <a:sym typeface="Wingdings" panose="05000000000000000000" pitchFamily="2" charset="2"/>
              </a:rPr>
              <a:t>Độ</a:t>
            </a:r>
            <a:r>
              <a:rPr kumimoji="0" lang="en-US" altLang="ko-KR" sz="1200" b="1" kern="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kumimoji="0" lang="en-US" altLang="ko-KR" sz="1200" b="1" kern="0" dirty="0" err="1">
                <a:solidFill>
                  <a:srgbClr val="000000"/>
                </a:solidFill>
                <a:latin typeface="Arial" pitchFamily="34" charset="0"/>
                <a:ea typeface="맑은 고딕" pitchFamily="50" charset="-127"/>
                <a:cs typeface="Arial" pitchFamily="34" charset="0"/>
                <a:sym typeface="Wingdings" panose="05000000000000000000" pitchFamily="2" charset="2"/>
              </a:rPr>
              <a:t>đúng</a:t>
            </a:r>
            <a:endParaRPr kumimoji="0" lang="en-US" altLang="ko-KR" sz="1200" b="1" kern="0" dirty="0">
              <a:solidFill>
                <a:srgbClr val="000000"/>
              </a:solidFill>
              <a:latin typeface="Arial" pitchFamily="34" charset="0"/>
              <a:ea typeface="맑은 고딕" pitchFamily="50" charset="-127"/>
              <a:cs typeface="Arial" pitchFamily="34" charset="0"/>
            </a:endParaRPr>
          </a:p>
          <a:p>
            <a:pPr fontAlgn="auto" latinLnBrk="0">
              <a:lnSpc>
                <a:spcPct val="110000"/>
              </a:lnSpc>
              <a:spcBef>
                <a:spcPts val="0"/>
              </a:spcBef>
              <a:spcAft>
                <a:spcPts val="0"/>
              </a:spcAft>
              <a:buClr>
                <a:srgbClr val="595959"/>
              </a:buClr>
              <a:defRPr/>
            </a:pP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kumimoji="0" lang="en-US" altLang="ko-KR" sz="1200" b="1" kern="0" dirty="0" err="1">
                <a:solidFill>
                  <a:srgbClr val="000000"/>
                </a:solidFill>
                <a:latin typeface="Arial" pitchFamily="34" charset="0"/>
                <a:ea typeface="맑은 고딕" pitchFamily="50" charset="-127"/>
                <a:cs typeface="Arial" pitchFamily="34" charset="0"/>
                <a:sym typeface="Wingdings" panose="05000000000000000000" pitchFamily="2" charset="2"/>
              </a:rPr>
              <a:t>Độ</a:t>
            </a:r>
            <a:r>
              <a:rPr kumimoji="0" lang="en-US" altLang="ko-KR" sz="1200" b="1" kern="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kumimoji="0" lang="en-US" altLang="ko-KR" sz="1200" b="1" kern="0" dirty="0" err="1">
                <a:solidFill>
                  <a:srgbClr val="000000"/>
                </a:solidFill>
                <a:latin typeface="Arial" pitchFamily="34" charset="0"/>
                <a:ea typeface="맑은 고딕" pitchFamily="50" charset="-127"/>
                <a:cs typeface="Arial" pitchFamily="34" charset="0"/>
                <a:sym typeface="Wingdings" panose="05000000000000000000" pitchFamily="2" charset="2"/>
              </a:rPr>
              <a:t>chính</a:t>
            </a:r>
            <a:r>
              <a:rPr kumimoji="0" lang="en-US" altLang="ko-KR" sz="1200" b="1" kern="0" dirty="0">
                <a:solidFill>
                  <a:srgbClr val="000000"/>
                </a:solidFill>
                <a:latin typeface="Arial" pitchFamily="34" charset="0"/>
                <a:ea typeface="맑은 고딕" pitchFamily="50" charset="-127"/>
                <a:cs typeface="Arial" pitchFamily="34" charset="0"/>
                <a:sym typeface="Wingdings" panose="05000000000000000000" pitchFamily="2" charset="2"/>
              </a:rPr>
              <a:t> </a:t>
            </a:r>
            <a:r>
              <a:rPr kumimoji="0" lang="en-US" altLang="ko-KR" sz="1200" b="1" kern="0" dirty="0" err="1">
                <a:solidFill>
                  <a:srgbClr val="000000"/>
                </a:solidFill>
                <a:latin typeface="Arial" pitchFamily="34" charset="0"/>
                <a:ea typeface="맑은 고딕" pitchFamily="50" charset="-127"/>
                <a:cs typeface="Arial" pitchFamily="34" charset="0"/>
                <a:sym typeface="Wingdings" panose="05000000000000000000" pitchFamily="2" charset="2"/>
              </a:rPr>
              <a:t>xác</a:t>
            </a:r>
            <a:endParaRPr kumimoji="0" lang="en-US" altLang="ko-KR" sz="1200" b="1" kern="0" dirty="0">
              <a:solidFill>
                <a:srgbClr val="000000"/>
              </a:solidFill>
              <a:latin typeface="Arial" pitchFamily="34" charset="0"/>
              <a:ea typeface="맑은 고딕" pitchFamily="50" charset="-127"/>
              <a:cs typeface="Arial" pitchFamily="34" charset="0"/>
            </a:endParaRPr>
          </a:p>
          <a:p>
            <a:pPr fontAlgn="auto" latinLnBrk="0">
              <a:lnSpc>
                <a:spcPct val="110000"/>
              </a:lnSpc>
              <a:spcBef>
                <a:spcPts val="0"/>
              </a:spcBef>
              <a:spcAft>
                <a:spcPts val="0"/>
              </a:spcAft>
              <a:buClr>
                <a:srgbClr val="595959"/>
              </a:buClr>
              <a:defRPr/>
            </a:pP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Là</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thứ</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tự</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của</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quá</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trình</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kiểm</a:t>
            </a:r>
            <a:r>
              <a:rPr kumimoji="0" lang="en-US" altLang="ko-KR" sz="1200" b="1" kern="0" dirty="0">
                <a:solidFill>
                  <a:srgbClr val="000000"/>
                </a:solidFill>
                <a:latin typeface="Arial" pitchFamily="34" charset="0"/>
                <a:ea typeface="맑은 고딕" pitchFamily="50" charset="-127"/>
                <a:cs typeface="Arial" pitchFamily="34" charset="0"/>
              </a:rPr>
              <a:t> </a:t>
            </a:r>
            <a:r>
              <a:rPr kumimoji="0" lang="en-US" altLang="ko-KR" sz="1200" b="1" kern="0" dirty="0" err="1">
                <a:solidFill>
                  <a:srgbClr val="000000"/>
                </a:solidFill>
                <a:latin typeface="Arial" pitchFamily="34" charset="0"/>
                <a:ea typeface="맑은 고딕" pitchFamily="50" charset="-127"/>
                <a:cs typeface="Arial" pitchFamily="34" charset="0"/>
              </a:rPr>
              <a:t>định</a:t>
            </a:r>
            <a:endParaRPr kumimoji="0" lang="ko-KR" altLang="en-US" sz="1200" b="1" kern="0" dirty="0">
              <a:solidFill>
                <a:srgbClr val="000000"/>
              </a:solidFill>
              <a:latin typeface="Arial" pitchFamily="34" charset="0"/>
              <a:ea typeface="맑은 고딕" pitchFamily="50" charset="-127"/>
              <a:cs typeface="Arial" pitchFamily="34" charset="0"/>
            </a:endParaRPr>
          </a:p>
        </p:txBody>
      </p:sp>
      <p:sp>
        <p:nvSpPr>
          <p:cNvPr id="37890" name="Text Box 5"/>
          <p:cNvSpPr txBox="1">
            <a:spLocks noChangeArrowheads="1"/>
          </p:cNvSpPr>
          <p:nvPr/>
        </p:nvSpPr>
        <p:spPr bwMode="auto">
          <a:xfrm>
            <a:off x="5111750" y="1793875"/>
            <a:ext cx="2376488" cy="431800"/>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latin typeface="Arial" pitchFamily="34" charset="0"/>
                <a:ea typeface="굴림체" pitchFamily="49" charset="-127"/>
                <a:cs typeface="Arial" pitchFamily="34" charset="0"/>
              </a:rPr>
              <a:t>Chênh</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lệch</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quan</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sát</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trong</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quá</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trình</a:t>
            </a:r>
            <a:r>
              <a:rPr lang="en-US" altLang="ko-KR" sz="1200" dirty="0">
                <a:latin typeface="Arial" pitchFamily="34" charset="0"/>
                <a:ea typeface="굴림체" pitchFamily="49" charset="-127"/>
                <a:cs typeface="Arial" pitchFamily="34" charset="0"/>
              </a:rPr>
              <a:t>/</a:t>
            </a:r>
            <a:r>
              <a:rPr lang="en-US" altLang="ko-KR" sz="1200" dirty="0" err="1">
                <a:latin typeface="Arial" pitchFamily="34" charset="0"/>
                <a:ea typeface="굴림체" pitchFamily="49" charset="-127"/>
                <a:cs typeface="Arial" pitchFamily="34" charset="0"/>
              </a:rPr>
              <a:t>sản</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phẩm</a:t>
            </a:r>
            <a:endParaRPr lang="ko-KR" altLang="ko-KR" dirty="0">
              <a:latin typeface="Arial" pitchFamily="34" charset="0"/>
              <a:cs typeface="Arial" pitchFamily="34" charset="0"/>
            </a:endParaRPr>
          </a:p>
        </p:txBody>
      </p:sp>
      <p:sp>
        <p:nvSpPr>
          <p:cNvPr id="37891" name="Text Box 6"/>
          <p:cNvSpPr txBox="1">
            <a:spLocks noChangeArrowheads="1"/>
          </p:cNvSpPr>
          <p:nvPr/>
        </p:nvSpPr>
        <p:spPr bwMode="auto">
          <a:xfrm>
            <a:off x="3524250" y="2814638"/>
            <a:ext cx="2057400" cy="431800"/>
          </a:xfrm>
          <a:prstGeom prst="rect">
            <a:avLst/>
          </a:prstGeom>
          <a:solidFill>
            <a:schemeClr val="bg1"/>
          </a:solidFill>
          <a:ln w="9525">
            <a:solidFill>
              <a:srgbClr val="292929"/>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latin typeface="Arial" pitchFamily="34" charset="0"/>
                <a:ea typeface="굴림체" pitchFamily="49" charset="-127"/>
                <a:cs typeface="Arial" pitchFamily="34" charset="0"/>
              </a:rPr>
              <a:t>Chênh</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lệch</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thực</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tế</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trong</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quá</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trình</a:t>
            </a:r>
            <a:r>
              <a:rPr lang="en-US" altLang="ko-KR" sz="1200" dirty="0">
                <a:latin typeface="Arial" pitchFamily="34" charset="0"/>
                <a:ea typeface="굴림체" pitchFamily="49" charset="-127"/>
                <a:cs typeface="Arial" pitchFamily="34" charset="0"/>
              </a:rPr>
              <a:t>/</a:t>
            </a:r>
            <a:r>
              <a:rPr lang="en-US" altLang="ko-KR" sz="1200" dirty="0" err="1">
                <a:latin typeface="Arial" pitchFamily="34" charset="0"/>
                <a:ea typeface="굴림체" pitchFamily="49" charset="-127"/>
                <a:cs typeface="Arial" pitchFamily="34" charset="0"/>
              </a:rPr>
              <a:t>sản</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phẩm</a:t>
            </a:r>
            <a:r>
              <a:rPr lang="en-US" altLang="ko-KR" sz="1200" dirty="0">
                <a:latin typeface="Arial" pitchFamily="34" charset="0"/>
                <a:ea typeface="굴림체" pitchFamily="49" charset="-127"/>
                <a:cs typeface="Arial" pitchFamily="34" charset="0"/>
              </a:rPr>
              <a:t> </a:t>
            </a:r>
            <a:endParaRPr lang="ko-KR" altLang="ko-KR" sz="1200" dirty="0">
              <a:latin typeface="Arial" pitchFamily="34" charset="0"/>
              <a:ea typeface="굴림체" pitchFamily="49" charset="-127"/>
              <a:cs typeface="Arial" pitchFamily="34" charset="0"/>
            </a:endParaRPr>
          </a:p>
        </p:txBody>
      </p:sp>
      <p:sp>
        <p:nvSpPr>
          <p:cNvPr id="37892" name="Text Box 7"/>
          <p:cNvSpPr txBox="1">
            <a:spLocks noChangeArrowheads="1"/>
          </p:cNvSpPr>
          <p:nvPr/>
        </p:nvSpPr>
        <p:spPr bwMode="auto">
          <a:xfrm>
            <a:off x="6904038" y="2814638"/>
            <a:ext cx="2168525" cy="431800"/>
          </a:xfrm>
          <a:prstGeom prst="rect">
            <a:avLst/>
          </a:prstGeom>
          <a:solidFill>
            <a:schemeClr val="bg1"/>
          </a:solidFill>
          <a:ln w="9525">
            <a:solidFill>
              <a:srgbClr val="292929"/>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latin typeface="Arial" pitchFamily="34" charset="0"/>
                <a:ea typeface="굴림체" pitchFamily="49" charset="-127"/>
                <a:cs typeface="Arial" pitchFamily="34" charset="0"/>
              </a:rPr>
              <a:t>Chênh</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lệch</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đo</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lường</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được</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trong</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quá</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trình</a:t>
            </a:r>
            <a:r>
              <a:rPr lang="en-US" altLang="ko-KR" sz="1200" dirty="0">
                <a:latin typeface="Arial" pitchFamily="34" charset="0"/>
                <a:ea typeface="굴림체" pitchFamily="49" charset="-127"/>
                <a:cs typeface="Arial" pitchFamily="34" charset="0"/>
              </a:rPr>
              <a:t>/</a:t>
            </a:r>
            <a:r>
              <a:rPr lang="en-US" altLang="ko-KR" sz="1200" dirty="0" err="1">
                <a:latin typeface="Arial" pitchFamily="34" charset="0"/>
                <a:ea typeface="굴림체" pitchFamily="49" charset="-127"/>
                <a:cs typeface="Arial" pitchFamily="34" charset="0"/>
              </a:rPr>
              <a:t>sản</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phẩm</a:t>
            </a:r>
            <a:r>
              <a:rPr lang="en-US" altLang="ko-KR" sz="1200" dirty="0">
                <a:latin typeface="Arial" pitchFamily="34" charset="0"/>
                <a:ea typeface="굴림체" pitchFamily="49" charset="-127"/>
                <a:cs typeface="Arial" pitchFamily="34" charset="0"/>
              </a:rPr>
              <a:t> </a:t>
            </a:r>
            <a:endParaRPr lang="ko-KR" altLang="ko-KR" dirty="0">
              <a:latin typeface="Arial" pitchFamily="34" charset="0"/>
              <a:cs typeface="Arial" pitchFamily="34" charset="0"/>
            </a:endParaRPr>
          </a:p>
        </p:txBody>
      </p:sp>
      <p:cxnSp>
        <p:nvCxnSpPr>
          <p:cNvPr id="37893" name="AutoShape 8"/>
          <p:cNvCxnSpPr>
            <a:cxnSpLocks noChangeShapeType="1"/>
          </p:cNvCxnSpPr>
          <p:nvPr/>
        </p:nvCxnSpPr>
        <p:spPr bwMode="auto">
          <a:xfrm rot="5400000">
            <a:off x="5132387" y="1646238"/>
            <a:ext cx="588963" cy="1747838"/>
          </a:xfrm>
          <a:prstGeom prst="bentConnector3">
            <a:avLst>
              <a:gd name="adj1" fmla="val 49866"/>
            </a:avLst>
          </a:prstGeom>
          <a:noFill/>
          <a:ln w="9525">
            <a:solidFill>
              <a:srgbClr val="292929"/>
            </a:solidFill>
            <a:miter lim="800000"/>
            <a:headEnd/>
            <a:tailEnd/>
          </a:ln>
          <a:extLst>
            <a:ext uri="{909E8E84-426E-40DD-AFC4-6F175D3DCCD1}">
              <a14:hiddenFill xmlns:a14="http://schemas.microsoft.com/office/drawing/2010/main">
                <a:noFill/>
              </a14:hiddenFill>
            </a:ext>
          </a:extLst>
        </p:spPr>
      </p:cxnSp>
      <p:cxnSp>
        <p:nvCxnSpPr>
          <p:cNvPr id="37894" name="AutoShape 9"/>
          <p:cNvCxnSpPr>
            <a:cxnSpLocks noChangeShapeType="1"/>
          </p:cNvCxnSpPr>
          <p:nvPr/>
        </p:nvCxnSpPr>
        <p:spPr bwMode="auto">
          <a:xfrm rot="16200000" flipH="1">
            <a:off x="6850062" y="1676401"/>
            <a:ext cx="588963" cy="1687512"/>
          </a:xfrm>
          <a:prstGeom prst="bentConnector3">
            <a:avLst>
              <a:gd name="adj1" fmla="val 49866"/>
            </a:avLst>
          </a:prstGeom>
          <a:noFill/>
          <a:ln w="9525">
            <a:solidFill>
              <a:srgbClr val="292929"/>
            </a:solidFill>
            <a:miter lim="800000"/>
            <a:headEnd/>
            <a:tailEnd/>
          </a:ln>
          <a:extLst>
            <a:ext uri="{909E8E84-426E-40DD-AFC4-6F175D3DCCD1}">
              <a14:hiddenFill xmlns:a14="http://schemas.microsoft.com/office/drawing/2010/main">
                <a:noFill/>
              </a14:hiddenFill>
            </a:ext>
          </a:extLst>
        </p:spPr>
      </p:cxnSp>
      <p:sp>
        <p:nvSpPr>
          <p:cNvPr id="37895" name="Text Box 10"/>
          <p:cNvSpPr txBox="1">
            <a:spLocks noChangeArrowheads="1"/>
          </p:cNvSpPr>
          <p:nvPr/>
        </p:nvSpPr>
        <p:spPr bwMode="auto">
          <a:xfrm>
            <a:off x="3368675" y="3678238"/>
            <a:ext cx="1008063" cy="431800"/>
          </a:xfrm>
          <a:prstGeom prst="rect">
            <a:avLst/>
          </a:prstGeom>
          <a:solidFill>
            <a:schemeClr val="bg1"/>
          </a:solidFill>
          <a:ln w="9525">
            <a:solidFill>
              <a:srgbClr val="292929"/>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굴림체" pitchFamily="49" charset="-127"/>
                <a:cs typeface="Arial" pitchFamily="34" charset="0"/>
              </a:rPr>
              <a:t>Chance</a:t>
            </a:r>
          </a:p>
          <a:p>
            <a:pPr algn="ctr" eaLnBrk="1" hangingPunct="1"/>
            <a:r>
              <a:rPr lang="en-US" altLang="ko-KR" sz="1200" dirty="0">
                <a:latin typeface="Arial" pitchFamily="34" charset="0"/>
                <a:ea typeface="굴림체" pitchFamily="49" charset="-127"/>
                <a:cs typeface="Arial" pitchFamily="34" charset="0"/>
              </a:rPr>
              <a:t>Variance</a:t>
            </a:r>
            <a:endParaRPr lang="ko-KR" altLang="ko-KR" sz="1200" dirty="0">
              <a:latin typeface="Arial" pitchFamily="34" charset="0"/>
              <a:ea typeface="굴림체" pitchFamily="49" charset="-127"/>
              <a:cs typeface="Arial" pitchFamily="34" charset="0"/>
            </a:endParaRPr>
          </a:p>
        </p:txBody>
      </p:sp>
      <p:sp>
        <p:nvSpPr>
          <p:cNvPr id="37896" name="Text Box 11"/>
          <p:cNvSpPr txBox="1">
            <a:spLocks noChangeArrowheads="1"/>
          </p:cNvSpPr>
          <p:nvPr/>
        </p:nvSpPr>
        <p:spPr bwMode="auto">
          <a:xfrm>
            <a:off x="4745038" y="3678238"/>
            <a:ext cx="1008062" cy="431800"/>
          </a:xfrm>
          <a:prstGeom prst="rect">
            <a:avLst/>
          </a:prstGeom>
          <a:solidFill>
            <a:schemeClr val="bg1"/>
          </a:solidFill>
          <a:ln w="9525">
            <a:solidFill>
              <a:srgbClr val="292929"/>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a:latin typeface="Arial" pitchFamily="34" charset="0"/>
                <a:ea typeface="굴림체" pitchFamily="49" charset="-127"/>
                <a:cs typeface="Arial" pitchFamily="34" charset="0"/>
              </a:rPr>
              <a:t>Assignable</a:t>
            </a:r>
          </a:p>
          <a:p>
            <a:pPr algn="ctr" eaLnBrk="1" hangingPunct="1"/>
            <a:r>
              <a:rPr lang="en-US" altLang="ko-KR" sz="1200" dirty="0">
                <a:latin typeface="Arial" pitchFamily="34" charset="0"/>
                <a:ea typeface="굴림체" pitchFamily="49" charset="-127"/>
                <a:cs typeface="Arial" pitchFamily="34" charset="0"/>
              </a:rPr>
              <a:t>Variance</a:t>
            </a:r>
            <a:endParaRPr lang="ko-KR" altLang="ko-KR" sz="1200" dirty="0">
              <a:latin typeface="Arial" pitchFamily="34" charset="0"/>
              <a:ea typeface="굴림체" pitchFamily="49" charset="-127"/>
              <a:cs typeface="Arial" pitchFamily="34" charset="0"/>
            </a:endParaRPr>
          </a:p>
        </p:txBody>
      </p:sp>
      <p:cxnSp>
        <p:nvCxnSpPr>
          <p:cNvPr id="37897" name="AutoShape 12"/>
          <p:cNvCxnSpPr>
            <a:cxnSpLocks noChangeShapeType="1"/>
          </p:cNvCxnSpPr>
          <p:nvPr/>
        </p:nvCxnSpPr>
        <p:spPr bwMode="auto">
          <a:xfrm rot="-5400000">
            <a:off x="3997325" y="3122613"/>
            <a:ext cx="431800" cy="679450"/>
          </a:xfrm>
          <a:prstGeom prst="bentConnector3">
            <a:avLst>
              <a:gd name="adj1" fmla="val 50000"/>
            </a:avLst>
          </a:prstGeom>
          <a:noFill/>
          <a:ln w="9525">
            <a:solidFill>
              <a:srgbClr val="292929"/>
            </a:solidFill>
            <a:miter lim="800000"/>
            <a:headEnd/>
            <a:tailEnd/>
          </a:ln>
          <a:extLst>
            <a:ext uri="{909E8E84-426E-40DD-AFC4-6F175D3DCCD1}">
              <a14:hiddenFill xmlns:a14="http://schemas.microsoft.com/office/drawing/2010/main">
                <a:noFill/>
              </a14:hiddenFill>
            </a:ext>
          </a:extLst>
        </p:spPr>
      </p:cxnSp>
      <p:cxnSp>
        <p:nvCxnSpPr>
          <p:cNvPr id="37898" name="AutoShape 13"/>
          <p:cNvCxnSpPr>
            <a:cxnSpLocks noChangeShapeType="1"/>
          </p:cNvCxnSpPr>
          <p:nvPr/>
        </p:nvCxnSpPr>
        <p:spPr bwMode="auto">
          <a:xfrm rot="5400000" flipH="1">
            <a:off x="4685507" y="3113881"/>
            <a:ext cx="431800" cy="696913"/>
          </a:xfrm>
          <a:prstGeom prst="bentConnector3">
            <a:avLst>
              <a:gd name="adj1" fmla="val 50000"/>
            </a:avLst>
          </a:prstGeom>
          <a:noFill/>
          <a:ln w="9525">
            <a:solidFill>
              <a:srgbClr val="292929"/>
            </a:solidFill>
            <a:miter lim="800000"/>
            <a:headEnd/>
            <a:tailEnd/>
          </a:ln>
          <a:extLst>
            <a:ext uri="{909E8E84-426E-40DD-AFC4-6F175D3DCCD1}">
              <a14:hiddenFill xmlns:a14="http://schemas.microsoft.com/office/drawing/2010/main">
                <a:noFill/>
              </a14:hiddenFill>
            </a:ext>
          </a:extLst>
        </p:spPr>
      </p:cxnSp>
      <p:sp>
        <p:nvSpPr>
          <p:cNvPr id="37899" name="Text Box 14"/>
          <p:cNvSpPr txBox="1">
            <a:spLocks noChangeArrowheads="1"/>
          </p:cNvSpPr>
          <p:nvPr/>
        </p:nvSpPr>
        <p:spPr bwMode="auto">
          <a:xfrm>
            <a:off x="6537176" y="3694113"/>
            <a:ext cx="1224136" cy="431800"/>
          </a:xfrm>
          <a:prstGeom prst="rect">
            <a:avLst/>
          </a:prstGeom>
          <a:noFill/>
          <a:ln w="9525">
            <a:solidFill>
              <a:srgbClr val="292929"/>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Chênh</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lệch</a:t>
            </a:r>
            <a:r>
              <a:rPr lang="en-US" altLang="ko-KR" sz="1200" dirty="0">
                <a:latin typeface="Arial" pitchFamily="34" charset="0"/>
                <a:ea typeface="굴림체" pitchFamily="49" charset="-127"/>
                <a:cs typeface="Arial" pitchFamily="34" charset="0"/>
              </a:rPr>
              <a:t> do </a:t>
            </a:r>
            <a:r>
              <a:rPr lang="en-US" altLang="ko-KR" sz="1200" dirty="0" err="1">
                <a:latin typeface="Arial" pitchFamily="34" charset="0"/>
                <a:ea typeface="굴림체" pitchFamily="49" charset="-127"/>
                <a:cs typeface="Arial" pitchFamily="34" charset="0"/>
              </a:rPr>
              <a:t>dụng</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cụ</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đo</a:t>
            </a:r>
            <a:endParaRPr lang="ko-KR" altLang="ko-KR" sz="1200" dirty="0">
              <a:latin typeface="Arial" pitchFamily="34" charset="0"/>
              <a:ea typeface="굴림체" pitchFamily="49" charset="-127"/>
              <a:cs typeface="Arial" pitchFamily="34" charset="0"/>
            </a:endParaRPr>
          </a:p>
        </p:txBody>
      </p:sp>
      <p:sp>
        <p:nvSpPr>
          <p:cNvPr id="37900" name="Text Box 15"/>
          <p:cNvSpPr txBox="1">
            <a:spLocks noChangeArrowheads="1"/>
          </p:cNvSpPr>
          <p:nvPr/>
        </p:nvSpPr>
        <p:spPr bwMode="auto">
          <a:xfrm>
            <a:off x="8193360" y="3694113"/>
            <a:ext cx="1224136" cy="431800"/>
          </a:xfrm>
          <a:prstGeom prst="rect">
            <a:avLst/>
          </a:prstGeom>
          <a:solidFill>
            <a:schemeClr val="bg1"/>
          </a:solidFill>
          <a:ln w="9525">
            <a:solidFill>
              <a:srgbClr val="292929"/>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latin typeface="Arial" pitchFamily="34" charset="0"/>
                <a:ea typeface="굴림체" pitchFamily="49" charset="-127"/>
                <a:cs typeface="Arial" pitchFamily="34" charset="0"/>
              </a:rPr>
              <a:t>Chênh</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lệch</a:t>
            </a:r>
            <a:r>
              <a:rPr lang="en-US" altLang="ko-KR" sz="1200" dirty="0">
                <a:latin typeface="Arial" pitchFamily="34" charset="0"/>
                <a:ea typeface="굴림체" pitchFamily="49" charset="-127"/>
                <a:cs typeface="Arial" pitchFamily="34" charset="0"/>
              </a:rPr>
              <a:t> do </a:t>
            </a:r>
            <a:r>
              <a:rPr lang="en-US" altLang="ko-KR" sz="1200" dirty="0" err="1">
                <a:latin typeface="Arial" pitchFamily="34" charset="0"/>
                <a:ea typeface="굴림체" pitchFamily="49" charset="-127"/>
                <a:cs typeface="Arial" pitchFamily="34" charset="0"/>
              </a:rPr>
              <a:t>người</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đo</a:t>
            </a:r>
            <a:endParaRPr lang="ko-KR" altLang="ko-KR" sz="1200" dirty="0">
              <a:latin typeface="Arial" pitchFamily="34" charset="0"/>
              <a:ea typeface="굴림체" pitchFamily="49" charset="-127"/>
              <a:cs typeface="Arial" pitchFamily="34" charset="0"/>
            </a:endParaRPr>
          </a:p>
        </p:txBody>
      </p:sp>
      <p:cxnSp>
        <p:nvCxnSpPr>
          <p:cNvPr id="37901" name="AutoShape 16"/>
          <p:cNvCxnSpPr>
            <a:cxnSpLocks noChangeShapeType="1"/>
            <a:stCxn id="37899" idx="0"/>
            <a:endCxn id="37892" idx="2"/>
          </p:cNvCxnSpPr>
          <p:nvPr/>
        </p:nvCxnSpPr>
        <p:spPr bwMode="auto">
          <a:xfrm rot="5400000" flipH="1" flipV="1">
            <a:off x="7344935" y="3050748"/>
            <a:ext cx="447675" cy="839057"/>
          </a:xfrm>
          <a:prstGeom prst="bentConnector3">
            <a:avLst>
              <a:gd name="adj1" fmla="val 50000"/>
            </a:avLst>
          </a:prstGeom>
          <a:noFill/>
          <a:ln w="9525">
            <a:solidFill>
              <a:srgbClr val="292929"/>
            </a:solidFill>
            <a:miter lim="800000"/>
            <a:headEnd/>
            <a:tailEnd/>
          </a:ln>
          <a:extLst>
            <a:ext uri="{909E8E84-426E-40DD-AFC4-6F175D3DCCD1}">
              <a14:hiddenFill xmlns:a14="http://schemas.microsoft.com/office/drawing/2010/main">
                <a:noFill/>
              </a14:hiddenFill>
            </a:ext>
          </a:extLst>
        </p:spPr>
      </p:cxnSp>
      <p:cxnSp>
        <p:nvCxnSpPr>
          <p:cNvPr id="37902" name="AutoShape 17"/>
          <p:cNvCxnSpPr>
            <a:cxnSpLocks noChangeShapeType="1"/>
            <a:stCxn id="37900" idx="0"/>
            <a:endCxn id="37892" idx="2"/>
          </p:cNvCxnSpPr>
          <p:nvPr/>
        </p:nvCxnSpPr>
        <p:spPr bwMode="auto">
          <a:xfrm rot="16200000" flipV="1">
            <a:off x="8173028" y="3061712"/>
            <a:ext cx="447675" cy="817127"/>
          </a:xfrm>
          <a:prstGeom prst="bentConnector3">
            <a:avLst>
              <a:gd name="adj1" fmla="val 50000"/>
            </a:avLst>
          </a:prstGeom>
          <a:noFill/>
          <a:ln w="9525">
            <a:solidFill>
              <a:srgbClr val="292929"/>
            </a:solidFill>
            <a:miter lim="800000"/>
            <a:headEnd/>
            <a:tailEnd/>
          </a:ln>
          <a:extLst>
            <a:ext uri="{909E8E84-426E-40DD-AFC4-6F175D3DCCD1}">
              <a14:hiddenFill xmlns:a14="http://schemas.microsoft.com/office/drawing/2010/main">
                <a:noFill/>
              </a14:hiddenFill>
            </a:ext>
          </a:extLst>
        </p:spPr>
      </p:cxnSp>
      <p:sp>
        <p:nvSpPr>
          <p:cNvPr id="37903" name="Text Box 19"/>
          <p:cNvSpPr txBox="1">
            <a:spLocks noChangeArrowheads="1"/>
          </p:cNvSpPr>
          <p:nvPr/>
        </p:nvSpPr>
        <p:spPr bwMode="auto">
          <a:xfrm>
            <a:off x="6440488" y="5240233"/>
            <a:ext cx="1439862" cy="276999"/>
          </a:xfrm>
          <a:prstGeom prst="rect">
            <a:avLst/>
          </a:prstGeom>
          <a:noFill/>
          <a:ln w="9525" algn="ctr">
            <a:solidFill>
              <a:srgbClr val="29292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latin typeface="Arial" pitchFamily="34" charset="0"/>
                <a:ea typeface="굴림체" pitchFamily="49" charset="-127"/>
                <a:cs typeface="Arial" pitchFamily="34" charset="0"/>
              </a:rPr>
              <a:t>Khả</a:t>
            </a:r>
            <a:r>
              <a:rPr lang="en-US" altLang="ko-KR" sz="1200" b="1" dirty="0">
                <a:latin typeface="Arial" pitchFamily="34" charset="0"/>
                <a:ea typeface="굴림체" pitchFamily="49" charset="-127"/>
                <a:cs typeface="Arial" pitchFamily="34" charset="0"/>
              </a:rPr>
              <a:t> </a:t>
            </a:r>
            <a:r>
              <a:rPr lang="en-US" altLang="ko-KR" sz="1200" b="1" dirty="0" err="1">
                <a:latin typeface="Arial" pitchFamily="34" charset="0"/>
                <a:ea typeface="굴림체" pitchFamily="49" charset="-127"/>
                <a:cs typeface="Arial" pitchFamily="34" charset="0"/>
              </a:rPr>
              <a:t>năng</a:t>
            </a:r>
            <a:r>
              <a:rPr lang="en-US" altLang="ko-KR" sz="1200" b="1" dirty="0">
                <a:latin typeface="Arial" pitchFamily="34" charset="0"/>
                <a:ea typeface="굴림체" pitchFamily="49" charset="-127"/>
                <a:cs typeface="Arial" pitchFamily="34" charset="0"/>
              </a:rPr>
              <a:t> </a:t>
            </a:r>
            <a:r>
              <a:rPr lang="en-US" altLang="ko-KR" sz="1200" b="1" dirty="0" err="1">
                <a:latin typeface="Arial" pitchFamily="34" charset="0"/>
                <a:ea typeface="굴림체" pitchFamily="49" charset="-127"/>
                <a:cs typeface="Arial" pitchFamily="34" charset="0"/>
              </a:rPr>
              <a:t>lặp</a:t>
            </a:r>
            <a:r>
              <a:rPr lang="en-US" altLang="ko-KR" sz="1200" b="1" dirty="0">
                <a:latin typeface="Arial" pitchFamily="34" charset="0"/>
                <a:ea typeface="굴림체" pitchFamily="49" charset="-127"/>
                <a:cs typeface="Arial" pitchFamily="34" charset="0"/>
              </a:rPr>
              <a:t> </a:t>
            </a:r>
            <a:r>
              <a:rPr lang="en-US" altLang="ko-KR" sz="1200" b="1" dirty="0" err="1">
                <a:latin typeface="Arial" pitchFamily="34" charset="0"/>
                <a:ea typeface="굴림체" pitchFamily="49" charset="-127"/>
                <a:cs typeface="Arial" pitchFamily="34" charset="0"/>
              </a:rPr>
              <a:t>lại</a:t>
            </a:r>
            <a:endParaRPr lang="ko-KR" altLang="ko-KR" dirty="0">
              <a:latin typeface="Arial" pitchFamily="34" charset="0"/>
              <a:cs typeface="Arial" pitchFamily="34" charset="0"/>
            </a:endParaRPr>
          </a:p>
        </p:txBody>
      </p:sp>
      <p:sp>
        <p:nvSpPr>
          <p:cNvPr id="37904" name="Text Box 20"/>
          <p:cNvSpPr txBox="1">
            <a:spLocks noChangeArrowheads="1"/>
          </p:cNvSpPr>
          <p:nvPr/>
        </p:nvSpPr>
        <p:spPr bwMode="auto">
          <a:xfrm>
            <a:off x="8091488" y="5237058"/>
            <a:ext cx="1439862" cy="276999"/>
          </a:xfrm>
          <a:prstGeom prst="rect">
            <a:avLst/>
          </a:prstGeom>
          <a:noFill/>
          <a:ln w="9525" algn="ctr">
            <a:solidFill>
              <a:srgbClr val="29292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latin typeface="Arial" pitchFamily="34" charset="0"/>
                <a:ea typeface="굴림체" pitchFamily="49" charset="-127"/>
                <a:cs typeface="Arial" pitchFamily="34" charset="0"/>
              </a:rPr>
              <a:t>Khả</a:t>
            </a:r>
            <a:r>
              <a:rPr lang="en-US" altLang="ko-KR" sz="1200" b="1" dirty="0">
                <a:latin typeface="Arial" pitchFamily="34" charset="0"/>
                <a:ea typeface="굴림체" pitchFamily="49" charset="-127"/>
                <a:cs typeface="Arial" pitchFamily="34" charset="0"/>
              </a:rPr>
              <a:t> </a:t>
            </a:r>
            <a:r>
              <a:rPr lang="en-US" altLang="ko-KR" sz="1200" b="1" dirty="0" err="1">
                <a:latin typeface="Arial" pitchFamily="34" charset="0"/>
                <a:ea typeface="굴림체" pitchFamily="49" charset="-127"/>
                <a:cs typeface="Arial" pitchFamily="34" charset="0"/>
              </a:rPr>
              <a:t>năng</a:t>
            </a:r>
            <a:r>
              <a:rPr lang="en-US" altLang="ko-KR" sz="1200" b="1" dirty="0">
                <a:latin typeface="Arial" pitchFamily="34" charset="0"/>
                <a:ea typeface="굴림체" pitchFamily="49" charset="-127"/>
                <a:cs typeface="Arial" pitchFamily="34" charset="0"/>
              </a:rPr>
              <a:t> </a:t>
            </a:r>
            <a:r>
              <a:rPr lang="en-US" altLang="ko-KR" sz="1200" b="1" dirty="0" err="1">
                <a:latin typeface="Arial" pitchFamily="34" charset="0"/>
                <a:ea typeface="굴림체" pitchFamily="49" charset="-127"/>
                <a:cs typeface="Arial" pitchFamily="34" charset="0"/>
              </a:rPr>
              <a:t>tái</a:t>
            </a:r>
            <a:r>
              <a:rPr lang="en-US" altLang="ko-KR" sz="1200" b="1" dirty="0">
                <a:latin typeface="Arial" pitchFamily="34" charset="0"/>
                <a:ea typeface="굴림체" pitchFamily="49" charset="-127"/>
                <a:cs typeface="Arial" pitchFamily="34" charset="0"/>
              </a:rPr>
              <a:t> </a:t>
            </a:r>
            <a:r>
              <a:rPr lang="en-US" altLang="ko-KR" sz="1200" b="1" dirty="0" err="1">
                <a:latin typeface="Arial" pitchFamily="34" charset="0"/>
                <a:ea typeface="굴림체" pitchFamily="49" charset="-127"/>
                <a:cs typeface="Arial" pitchFamily="34" charset="0"/>
              </a:rPr>
              <a:t>tạo</a:t>
            </a:r>
            <a:endParaRPr lang="ko-KR" altLang="ko-KR" dirty="0">
              <a:latin typeface="Arial" pitchFamily="34" charset="0"/>
              <a:cs typeface="Arial" pitchFamily="34" charset="0"/>
            </a:endParaRPr>
          </a:p>
        </p:txBody>
      </p:sp>
      <p:pic>
        <p:nvPicPr>
          <p:cNvPr id="37905" name="Picture 2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7637463" y="1636713"/>
            <a:ext cx="106997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907" name="Text Box 36"/>
          <p:cNvSpPr txBox="1">
            <a:spLocks noChangeArrowheads="1"/>
          </p:cNvSpPr>
          <p:nvPr/>
        </p:nvSpPr>
        <p:spPr bwMode="auto">
          <a:xfrm>
            <a:off x="6435725" y="4400550"/>
            <a:ext cx="1439863" cy="646331"/>
          </a:xfrm>
          <a:prstGeom prst="rect">
            <a:avLst/>
          </a:prstGeom>
          <a:noFill/>
          <a:ln w="9525" algn="ctr">
            <a:solidFill>
              <a:srgbClr val="29292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latin typeface="Arial" pitchFamily="34" charset="0"/>
                <a:ea typeface="굴림체" pitchFamily="49" charset="-127"/>
                <a:cs typeface="Arial" pitchFamily="34" charset="0"/>
              </a:rPr>
              <a:t>Độ</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chệch</a:t>
            </a:r>
            <a:endParaRPr lang="en-US" altLang="ko-KR" sz="1200" dirty="0">
              <a:latin typeface="Arial" pitchFamily="34" charset="0"/>
              <a:ea typeface="굴림체" pitchFamily="49" charset="-127"/>
              <a:cs typeface="Arial" pitchFamily="34" charset="0"/>
            </a:endParaRPr>
          </a:p>
          <a:p>
            <a:pPr algn="ctr" eaLnBrk="1" hangingPunct="1"/>
            <a:r>
              <a:rPr lang="en-US" altLang="ko-KR" sz="1200" dirty="0" err="1">
                <a:latin typeface="Arial" pitchFamily="34" charset="0"/>
                <a:ea typeface="굴림체" pitchFamily="49" charset="-127"/>
                <a:cs typeface="Arial" pitchFamily="34" charset="0"/>
              </a:rPr>
              <a:t>Tuyến</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tính</a:t>
            </a:r>
            <a:endParaRPr lang="ko-KR" altLang="ko-KR" sz="1200" dirty="0">
              <a:latin typeface="Arial" pitchFamily="34" charset="0"/>
              <a:ea typeface="굴림체" pitchFamily="49" charset="-127"/>
              <a:cs typeface="Arial" pitchFamily="34" charset="0"/>
            </a:endParaRPr>
          </a:p>
          <a:p>
            <a:pPr algn="ctr" eaLnBrk="1" hangingPunct="1"/>
            <a:r>
              <a:rPr lang="en-US" altLang="ko-KR" sz="1200" dirty="0" err="1">
                <a:latin typeface="Arial" pitchFamily="34" charset="0"/>
                <a:ea typeface="굴림체" pitchFamily="49" charset="-127"/>
                <a:cs typeface="Arial" pitchFamily="34" charset="0"/>
              </a:rPr>
              <a:t>Độ</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ổn</a:t>
            </a:r>
            <a:r>
              <a:rPr lang="en-US" altLang="ko-KR" sz="1200" dirty="0">
                <a:latin typeface="Arial" pitchFamily="34" charset="0"/>
                <a:ea typeface="굴림체" pitchFamily="49" charset="-127"/>
                <a:cs typeface="Arial" pitchFamily="34" charset="0"/>
              </a:rPr>
              <a:t> </a:t>
            </a:r>
            <a:r>
              <a:rPr lang="en-US" altLang="ko-KR" sz="1200" dirty="0" err="1">
                <a:latin typeface="Arial" pitchFamily="34" charset="0"/>
                <a:ea typeface="굴림체" pitchFamily="49" charset="-127"/>
                <a:cs typeface="Arial" pitchFamily="34" charset="0"/>
              </a:rPr>
              <a:t>định</a:t>
            </a:r>
            <a:endParaRPr lang="ko-KR" altLang="ko-KR" sz="1200" dirty="0">
              <a:latin typeface="Arial" pitchFamily="34" charset="0"/>
              <a:ea typeface="굴림체" pitchFamily="49" charset="-127"/>
              <a:cs typeface="Arial" pitchFamily="34" charset="0"/>
            </a:endParaRPr>
          </a:p>
        </p:txBody>
      </p:sp>
      <p:sp>
        <p:nvSpPr>
          <p:cNvPr id="37909" name="Line 44"/>
          <p:cNvSpPr>
            <a:spLocks noChangeShapeType="1"/>
          </p:cNvSpPr>
          <p:nvPr/>
        </p:nvSpPr>
        <p:spPr bwMode="auto">
          <a:xfrm>
            <a:off x="7666038" y="2235200"/>
            <a:ext cx="10080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Arial" pitchFamily="34" charset="0"/>
              <a:cs typeface="Arial" pitchFamily="34" charset="0"/>
            </a:endParaRPr>
          </a:p>
        </p:txBody>
      </p:sp>
      <p:sp>
        <p:nvSpPr>
          <p:cNvPr id="54" name="제목 8"/>
          <p:cNvSpPr txBox="1">
            <a:spLocks/>
          </p:cNvSpPr>
          <p:nvPr/>
        </p:nvSpPr>
        <p:spPr bwMode="auto">
          <a:xfrm>
            <a:off x="195263" y="188913"/>
            <a:ext cx="8813800" cy="488950"/>
          </a:xfrm>
          <a:prstGeom prst="rect">
            <a:avLst/>
          </a:prstGeom>
          <a:noFill/>
          <a:ln>
            <a:miter lim="800000"/>
            <a:headEnd/>
            <a:tailEnd/>
          </a:ln>
        </p:spPr>
        <p:txBody>
          <a:bodyPr/>
          <a:lstStyle/>
          <a:p>
            <a:pPr>
              <a:defRPr/>
            </a:pPr>
            <a:r>
              <a:rPr lang="en-US" altLang="ko-KR" sz="2000" b="1" kern="0" dirty="0">
                <a:solidFill>
                  <a:srgbClr val="000000"/>
                </a:solidFill>
                <a:latin typeface="Arial" pitchFamily="34" charset="0"/>
                <a:ea typeface="맑은 고딕"/>
                <a:cs typeface="Arial" pitchFamily="34" charset="0"/>
              </a:rPr>
              <a:t>5. </a:t>
            </a:r>
            <a:r>
              <a:rPr lang="en-US" altLang="ko-KR" sz="2000" b="1" kern="0" dirty="0" err="1">
                <a:solidFill>
                  <a:srgbClr val="000000"/>
                </a:solidFill>
                <a:latin typeface="Arial" pitchFamily="34" charset="0"/>
                <a:ea typeface="맑은 고딕"/>
                <a:cs typeface="Arial" pitchFamily="34" charset="0"/>
              </a:rPr>
              <a:t>Tổng</a:t>
            </a:r>
            <a:r>
              <a:rPr lang="en-US" altLang="ko-KR" sz="2000" b="1" kern="0" dirty="0">
                <a:solidFill>
                  <a:srgbClr val="000000"/>
                </a:solidFill>
                <a:latin typeface="Arial" pitchFamily="34" charset="0"/>
                <a:ea typeface="맑은 고딕"/>
                <a:cs typeface="Arial" pitchFamily="34" charset="0"/>
              </a:rPr>
              <a:t> </a:t>
            </a:r>
            <a:r>
              <a:rPr lang="en-US" altLang="ko-KR" sz="2000" b="1" kern="0" dirty="0" err="1">
                <a:solidFill>
                  <a:srgbClr val="000000"/>
                </a:solidFill>
                <a:latin typeface="Arial" pitchFamily="34" charset="0"/>
                <a:ea typeface="맑은 고딕"/>
                <a:cs typeface="Arial" pitchFamily="34" charset="0"/>
              </a:rPr>
              <a:t>kết</a:t>
            </a:r>
            <a:endParaRPr lang="ko-KR" altLang="en-US" sz="2000" b="1" kern="0" dirty="0">
              <a:solidFill>
                <a:srgbClr val="000000"/>
              </a:solidFill>
              <a:latin typeface="Arial" pitchFamily="34" charset="0"/>
              <a:ea typeface="맑은 고딕"/>
              <a:cs typeface="Arial" pitchFamily="34" charset="0"/>
            </a:endParaRPr>
          </a:p>
        </p:txBody>
      </p:sp>
      <p:sp>
        <p:nvSpPr>
          <p:cNvPr id="37912" name="TextBox 29"/>
          <p:cNvSpPr txBox="1">
            <a:spLocks noChangeArrowheads="1"/>
          </p:cNvSpPr>
          <p:nvPr/>
        </p:nvSpPr>
        <p:spPr bwMode="auto">
          <a:xfrm>
            <a:off x="415925" y="5876925"/>
            <a:ext cx="288766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a:latin typeface="Arial" pitchFamily="34" charset="0"/>
                <a:ea typeface="맑은 고딕" pitchFamily="50" charset="-127"/>
                <a:cs typeface="Arial" pitchFamily="34" charset="0"/>
              </a:rPr>
              <a:t>* MSA (Measurement System Analysis)</a:t>
            </a:r>
            <a:endParaRPr lang="ko-KR" altLang="en-US" sz="1200">
              <a:latin typeface="Arial" pitchFamily="34" charset="0"/>
              <a:ea typeface="맑은 고딕" pitchFamily="50" charset="-127"/>
              <a:cs typeface="Arial" pitchFamily="34" charset="0"/>
            </a:endParaRPr>
          </a:p>
        </p:txBody>
      </p:sp>
      <p:sp>
        <p:nvSpPr>
          <p:cNvPr id="37913" name="Text Box 11"/>
          <p:cNvSpPr txBox="1">
            <a:spLocks noChangeArrowheads="1"/>
          </p:cNvSpPr>
          <p:nvPr/>
        </p:nvSpPr>
        <p:spPr bwMode="auto">
          <a:xfrm>
            <a:off x="5025008" y="4471988"/>
            <a:ext cx="1302767" cy="488950"/>
          </a:xfrm>
          <a:prstGeom prst="rect">
            <a:avLst/>
          </a:prstGeom>
          <a:solidFill>
            <a:schemeClr val="bg1"/>
          </a:solidFill>
          <a:ln w="9525">
            <a:solidFill>
              <a:srgbClr val="292929"/>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latin typeface="Arial" pitchFamily="34" charset="0"/>
                <a:ea typeface="돋움" pitchFamily="50" charset="-127"/>
                <a:cs typeface="Arial" pitchFamily="34" charset="0"/>
              </a:rPr>
              <a:t>Điều</a:t>
            </a:r>
            <a:r>
              <a:rPr lang="en-US" altLang="ko-KR" sz="1200" b="1" dirty="0">
                <a:latin typeface="Arial" pitchFamily="34" charset="0"/>
                <a:ea typeface="돋움" pitchFamily="50" charset="-127"/>
                <a:cs typeface="Arial" pitchFamily="34" charset="0"/>
              </a:rPr>
              <a:t> </a:t>
            </a:r>
            <a:r>
              <a:rPr lang="en-US" altLang="ko-KR" sz="1200" b="1" dirty="0" err="1">
                <a:latin typeface="Arial" pitchFamily="34" charset="0"/>
                <a:ea typeface="돋움" pitchFamily="50" charset="-127"/>
                <a:cs typeface="Arial" pitchFamily="34" charset="0"/>
              </a:rPr>
              <a:t>kiện</a:t>
            </a:r>
            <a:r>
              <a:rPr lang="en-US" altLang="ko-KR" sz="1200" b="1" dirty="0">
                <a:latin typeface="Arial" pitchFamily="34" charset="0"/>
                <a:ea typeface="돋움" pitchFamily="50" charset="-127"/>
                <a:cs typeface="Arial" pitchFamily="34" charset="0"/>
              </a:rPr>
              <a:t> </a:t>
            </a:r>
            <a:r>
              <a:rPr lang="en-US" altLang="ko-KR" sz="1200" b="1" dirty="0" err="1">
                <a:latin typeface="Arial" pitchFamily="34" charset="0"/>
                <a:ea typeface="돋움" pitchFamily="50" charset="-127"/>
                <a:cs typeface="Arial" pitchFamily="34" charset="0"/>
              </a:rPr>
              <a:t>tiên</a:t>
            </a:r>
            <a:r>
              <a:rPr lang="en-US" altLang="ko-KR" sz="1200" b="1" dirty="0">
                <a:latin typeface="Arial" pitchFamily="34" charset="0"/>
                <a:ea typeface="돋움" pitchFamily="50" charset="-127"/>
                <a:cs typeface="Arial" pitchFamily="34" charset="0"/>
              </a:rPr>
              <a:t> </a:t>
            </a:r>
            <a:r>
              <a:rPr lang="en-US" altLang="ko-KR" sz="1200" b="1" dirty="0" err="1">
                <a:latin typeface="Arial" pitchFamily="34" charset="0"/>
                <a:ea typeface="돋움" pitchFamily="50" charset="-127"/>
                <a:cs typeface="Arial" pitchFamily="34" charset="0"/>
              </a:rPr>
              <a:t>quyết</a:t>
            </a:r>
            <a:endParaRPr lang="ko-KR" altLang="ko-KR" dirty="0">
              <a:latin typeface="Arial" pitchFamily="34" charset="0"/>
              <a:ea typeface="돋움" pitchFamily="50" charset="-127"/>
              <a:cs typeface="Arial" pitchFamily="34" charset="0"/>
            </a:endParaRPr>
          </a:p>
        </p:txBody>
      </p:sp>
      <p:sp>
        <p:nvSpPr>
          <p:cNvPr id="37914" name="Text Box 11"/>
          <p:cNvSpPr txBox="1">
            <a:spLocks noChangeArrowheads="1"/>
          </p:cNvSpPr>
          <p:nvPr/>
        </p:nvSpPr>
        <p:spPr bwMode="auto">
          <a:xfrm>
            <a:off x="5025008" y="5116513"/>
            <a:ext cx="1302767" cy="488950"/>
          </a:xfrm>
          <a:prstGeom prst="rect">
            <a:avLst/>
          </a:prstGeom>
          <a:solidFill>
            <a:schemeClr val="bg1"/>
          </a:solidFill>
          <a:ln w="9525">
            <a:solidFill>
              <a:srgbClr val="292929"/>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latin typeface="Arial" pitchFamily="34" charset="0"/>
                <a:ea typeface="돋움" pitchFamily="50" charset="-127"/>
                <a:cs typeface="Arial" pitchFamily="34" charset="0"/>
              </a:rPr>
              <a:t>Hạng</a:t>
            </a:r>
            <a:r>
              <a:rPr lang="en-US" altLang="ko-KR" sz="1200" b="1" dirty="0">
                <a:latin typeface="Arial" pitchFamily="34" charset="0"/>
                <a:ea typeface="돋움" pitchFamily="50" charset="-127"/>
                <a:cs typeface="Arial" pitchFamily="34" charset="0"/>
              </a:rPr>
              <a:t> </a:t>
            </a:r>
            <a:r>
              <a:rPr lang="en-US" altLang="ko-KR" sz="1200" b="1" dirty="0" err="1">
                <a:latin typeface="Arial" pitchFamily="34" charset="0"/>
                <a:ea typeface="돋움" pitchFamily="50" charset="-127"/>
                <a:cs typeface="Arial" pitchFamily="34" charset="0"/>
              </a:rPr>
              <a:t>mục</a:t>
            </a:r>
            <a:r>
              <a:rPr lang="en-US" altLang="ko-KR" sz="1200" b="1" dirty="0">
                <a:latin typeface="Arial" pitchFamily="34" charset="0"/>
                <a:ea typeface="돋움" pitchFamily="50" charset="-127"/>
                <a:cs typeface="Arial" pitchFamily="34" charset="0"/>
              </a:rPr>
              <a:t> </a:t>
            </a:r>
            <a:r>
              <a:rPr lang="en-US" altLang="ko-KR" sz="1200" b="1" dirty="0" err="1">
                <a:latin typeface="Arial" pitchFamily="34" charset="0"/>
                <a:ea typeface="돋움" pitchFamily="50" charset="-127"/>
                <a:cs typeface="Arial" pitchFamily="34" charset="0"/>
              </a:rPr>
              <a:t>kiểm</a:t>
            </a:r>
            <a:r>
              <a:rPr lang="en-US" altLang="ko-KR" sz="1200" b="1" dirty="0">
                <a:latin typeface="Arial" pitchFamily="34" charset="0"/>
                <a:ea typeface="돋움" pitchFamily="50" charset="-127"/>
                <a:cs typeface="Arial" pitchFamily="34" charset="0"/>
              </a:rPr>
              <a:t> </a:t>
            </a:r>
            <a:r>
              <a:rPr lang="en-US" altLang="ko-KR" sz="1200" b="1" dirty="0" err="1">
                <a:latin typeface="Arial" pitchFamily="34" charset="0"/>
                <a:ea typeface="돋움" pitchFamily="50" charset="-127"/>
                <a:cs typeface="Arial" pitchFamily="34" charset="0"/>
              </a:rPr>
              <a:t>tra</a:t>
            </a:r>
            <a:endParaRPr lang="ko-KR" altLang="ko-KR" sz="1200" b="1" dirty="0">
              <a:latin typeface="Arial" pitchFamily="34" charset="0"/>
              <a:ea typeface="돋움" pitchFamily="50" charset="-127"/>
              <a:cs typeface="Arial" pitchFamily="34" charset="0"/>
            </a:endParaRPr>
          </a:p>
        </p:txBody>
      </p:sp>
      <p:sp>
        <p:nvSpPr>
          <p:cNvPr id="2" name="직사각형 1"/>
          <p:cNvSpPr/>
          <p:nvPr/>
        </p:nvSpPr>
        <p:spPr>
          <a:xfrm>
            <a:off x="6381750" y="2749550"/>
            <a:ext cx="3295650" cy="2911475"/>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latin typeface="Arial" pitchFamily="34" charset="0"/>
              <a:cs typeface="Arial" pitchFamily="34" charset="0"/>
            </a:endParaRPr>
          </a:p>
        </p:txBody>
      </p:sp>
      <p:sp>
        <p:nvSpPr>
          <p:cNvPr id="37916" name="TextBox 2"/>
          <p:cNvSpPr txBox="1">
            <a:spLocks noChangeArrowheads="1"/>
          </p:cNvSpPr>
          <p:nvPr/>
        </p:nvSpPr>
        <p:spPr bwMode="auto">
          <a:xfrm>
            <a:off x="8594725" y="2381250"/>
            <a:ext cx="1359668"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solidFill>
                  <a:srgbClr val="FF0000"/>
                </a:solidFill>
                <a:latin typeface="Arial" pitchFamily="34" charset="0"/>
                <a:ea typeface="돋움" pitchFamily="50" charset="-127"/>
                <a:cs typeface="Arial" pitchFamily="34" charset="0"/>
              </a:rPr>
              <a:t>Khu</a:t>
            </a:r>
            <a:r>
              <a:rPr lang="en-US" altLang="ko-KR" sz="1400" b="1" dirty="0">
                <a:solidFill>
                  <a:srgbClr val="FF0000"/>
                </a:solidFill>
                <a:latin typeface="Arial" pitchFamily="34" charset="0"/>
                <a:ea typeface="돋움" pitchFamily="50" charset="-127"/>
                <a:cs typeface="Arial" pitchFamily="34" charset="0"/>
              </a:rPr>
              <a:t> </a:t>
            </a:r>
            <a:r>
              <a:rPr lang="en-US" altLang="ko-KR" sz="1400" b="1" dirty="0" err="1">
                <a:solidFill>
                  <a:srgbClr val="FF0000"/>
                </a:solidFill>
                <a:latin typeface="Arial" pitchFamily="34" charset="0"/>
                <a:ea typeface="돋움" pitchFamily="50" charset="-127"/>
                <a:cs typeface="Arial" pitchFamily="34" charset="0"/>
              </a:rPr>
              <a:t>vực</a:t>
            </a:r>
            <a:r>
              <a:rPr lang="en-US" altLang="ko-KR" sz="1400" b="1" dirty="0">
                <a:solidFill>
                  <a:srgbClr val="FF0000"/>
                </a:solidFill>
                <a:latin typeface="Arial" pitchFamily="34" charset="0"/>
                <a:ea typeface="돋움" pitchFamily="50" charset="-127"/>
                <a:cs typeface="Arial" pitchFamily="34" charset="0"/>
              </a:rPr>
              <a:t> MSA</a:t>
            </a:r>
            <a:endParaRPr lang="ko-KR" altLang="en-US" sz="1400" b="1" dirty="0">
              <a:solidFill>
                <a:srgbClr val="FF0000"/>
              </a:solidFill>
              <a:latin typeface="Arial" pitchFamily="34" charset="0"/>
              <a:ea typeface="돋움" pitchFamily="50" charset="-127"/>
              <a:cs typeface="Arial" pitchFamily="34" charset="0"/>
            </a:endParaRPr>
          </a:p>
        </p:txBody>
      </p: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215</a:t>
            </a:fld>
            <a:endParaRPr lang="ko-KR" altLang="en-US" dirty="0">
              <a:latin typeface="Arial" pitchFamily="34" charset="0"/>
              <a:cs typeface="Arial" pitchFamily="34" charset="0"/>
            </a:endParaRPr>
          </a:p>
        </p:txBody>
      </p:sp>
      <p:cxnSp>
        <p:nvCxnSpPr>
          <p:cNvPr id="43" name="Straight Arrow Connector 42"/>
          <p:cNvCxnSpPr>
            <a:stCxn id="37900" idx="2"/>
            <a:endCxn id="37904" idx="0"/>
          </p:cNvCxnSpPr>
          <p:nvPr/>
        </p:nvCxnSpPr>
        <p:spPr>
          <a:xfrm>
            <a:off x="8805428" y="4125913"/>
            <a:ext cx="5991" cy="1111145"/>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45" name="Straight Arrow Connector 44"/>
          <p:cNvCxnSpPr>
            <a:stCxn id="37899" idx="2"/>
            <a:endCxn id="37907" idx="0"/>
          </p:cNvCxnSpPr>
          <p:nvPr/>
        </p:nvCxnSpPr>
        <p:spPr>
          <a:xfrm>
            <a:off x="7149244" y="4125913"/>
            <a:ext cx="6413" cy="274637"/>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5991623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제목 5"/>
          <p:cNvSpPr txBox="1">
            <a:spLocks/>
          </p:cNvSpPr>
          <p:nvPr/>
        </p:nvSpPr>
        <p:spPr bwMode="auto">
          <a:xfrm>
            <a:off x="704528" y="1428750"/>
            <a:ext cx="8606160"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ash"/>
                <a:miter lim="800000"/>
                <a:headEnd/>
                <a:tailEnd/>
              </a14:hiddenLine>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3600" b="1" dirty="0">
                <a:solidFill>
                  <a:srgbClr val="C5003D"/>
                </a:solidFill>
                <a:latin typeface="arial" pitchFamily="34" charset="0"/>
                <a:ea typeface="맑은 고딕" pitchFamily="50" charset="-127"/>
              </a:rPr>
              <a:t>M6. </a:t>
            </a:r>
            <a:r>
              <a:rPr lang="en-US" altLang="ko-KR" sz="3600" b="1" dirty="0" err="1">
                <a:solidFill>
                  <a:srgbClr val="C5003D"/>
                </a:solidFill>
                <a:latin typeface="arial" pitchFamily="34" charset="0"/>
                <a:ea typeface="맑은 고딕" pitchFamily="50" charset="-127"/>
              </a:rPr>
              <a:t>Đánh</a:t>
            </a:r>
            <a:r>
              <a:rPr lang="en-US" altLang="ko-KR" sz="3600" b="1" dirty="0">
                <a:solidFill>
                  <a:srgbClr val="C5003D"/>
                </a:solidFill>
                <a:latin typeface="arial" pitchFamily="34" charset="0"/>
                <a:ea typeface="맑은 고딕" pitchFamily="50" charset="-127"/>
              </a:rPr>
              <a:t> </a:t>
            </a:r>
            <a:r>
              <a:rPr lang="en-US" altLang="ko-KR" sz="3600" b="1" dirty="0" err="1">
                <a:solidFill>
                  <a:srgbClr val="C5003D"/>
                </a:solidFill>
                <a:latin typeface="arial" pitchFamily="34" charset="0"/>
                <a:ea typeface="맑은 고딕" pitchFamily="50" charset="-127"/>
              </a:rPr>
              <a:t>giá</a:t>
            </a:r>
            <a:r>
              <a:rPr lang="en-US" altLang="ko-KR" sz="3600" b="1" dirty="0">
                <a:solidFill>
                  <a:srgbClr val="C5003D"/>
                </a:solidFill>
                <a:latin typeface="arial" pitchFamily="34" charset="0"/>
                <a:ea typeface="맑은 고딕" pitchFamily="50" charset="-127"/>
              </a:rPr>
              <a:t> </a:t>
            </a:r>
            <a:r>
              <a:rPr lang="en-US" altLang="ko-KR" sz="3600" b="1" dirty="0" err="1">
                <a:solidFill>
                  <a:srgbClr val="C5003D"/>
                </a:solidFill>
                <a:latin typeface="arial" pitchFamily="34" charset="0"/>
                <a:ea typeface="맑은 고딕" pitchFamily="50" charset="-127"/>
              </a:rPr>
              <a:t>năng</a:t>
            </a:r>
            <a:r>
              <a:rPr lang="en-US" altLang="ko-KR" sz="3600" b="1" dirty="0">
                <a:solidFill>
                  <a:srgbClr val="C5003D"/>
                </a:solidFill>
                <a:latin typeface="arial" pitchFamily="34" charset="0"/>
                <a:ea typeface="맑은 고딕" pitchFamily="50" charset="-127"/>
              </a:rPr>
              <a:t> </a:t>
            </a:r>
            <a:r>
              <a:rPr lang="en-US" altLang="ko-KR" sz="3600" b="1" dirty="0" err="1">
                <a:solidFill>
                  <a:srgbClr val="C5003D"/>
                </a:solidFill>
                <a:latin typeface="arial" pitchFamily="34" charset="0"/>
                <a:ea typeface="맑은 고딕" pitchFamily="50" charset="-127"/>
              </a:rPr>
              <a:t>lực</a:t>
            </a:r>
            <a:r>
              <a:rPr lang="en-US" altLang="ko-KR" sz="3600" b="1" dirty="0">
                <a:solidFill>
                  <a:srgbClr val="C5003D"/>
                </a:solidFill>
                <a:latin typeface="arial" pitchFamily="34" charset="0"/>
                <a:ea typeface="맑은 고딕" pitchFamily="50" charset="-127"/>
              </a:rPr>
              <a:t> </a:t>
            </a:r>
            <a:r>
              <a:rPr lang="en-US" altLang="ko-KR" sz="3600" b="1" dirty="0" err="1">
                <a:solidFill>
                  <a:srgbClr val="C5003D"/>
                </a:solidFill>
                <a:latin typeface="arial" pitchFamily="34" charset="0"/>
                <a:ea typeface="맑은 고딕" pitchFamily="50" charset="-127"/>
              </a:rPr>
              <a:t>quá</a:t>
            </a:r>
            <a:r>
              <a:rPr lang="en-US" altLang="ko-KR" sz="3600" b="1" dirty="0">
                <a:solidFill>
                  <a:srgbClr val="C5003D"/>
                </a:solidFill>
                <a:latin typeface="arial" pitchFamily="34" charset="0"/>
                <a:ea typeface="맑은 고딕" pitchFamily="50" charset="-127"/>
              </a:rPr>
              <a:t> </a:t>
            </a:r>
            <a:r>
              <a:rPr lang="en-US" altLang="ko-KR" sz="3600" b="1" dirty="0" err="1">
                <a:solidFill>
                  <a:srgbClr val="C5003D"/>
                </a:solidFill>
                <a:latin typeface="arial" pitchFamily="34" charset="0"/>
                <a:ea typeface="맑은 고딕" pitchFamily="50" charset="-127"/>
              </a:rPr>
              <a:t>trình</a:t>
            </a:r>
            <a:endParaRPr lang="ko-KR" altLang="en-US" sz="3600" b="1" dirty="0">
              <a:solidFill>
                <a:srgbClr val="C5003D"/>
              </a:solidFill>
              <a:latin typeface="arial" pitchFamily="34" charset="0"/>
              <a:ea typeface="맑은 고딕" pitchFamily="50" charset="-127"/>
            </a:endParaRPr>
          </a:p>
        </p:txBody>
      </p:sp>
      <p:cxnSp>
        <p:nvCxnSpPr>
          <p:cNvPr id="284675" name="직선 연결선 19"/>
          <p:cNvCxnSpPr>
            <a:cxnSpLocks noChangeShapeType="1"/>
          </p:cNvCxnSpPr>
          <p:nvPr/>
        </p:nvCxnSpPr>
        <p:spPr bwMode="auto">
          <a:xfrm>
            <a:off x="2288704" y="4221088"/>
            <a:ext cx="5227637" cy="0"/>
          </a:xfrm>
          <a:prstGeom prst="line">
            <a:avLst/>
          </a:prstGeom>
          <a:noFill/>
          <a:ln w="57150" algn="ctr">
            <a:solidFill>
              <a:srgbClr val="7F7F7F"/>
            </a:solidFill>
            <a:round/>
            <a:headEnd/>
            <a:tailEnd/>
          </a:ln>
          <a:extLst>
            <a:ext uri="{909E8E84-426E-40DD-AFC4-6F175D3DCCD1}">
              <a14:hiddenFill xmlns:a14="http://schemas.microsoft.com/office/drawing/2010/main">
                <a:noFill/>
              </a14:hiddenFill>
            </a:ext>
          </a:extLst>
        </p:spPr>
      </p:cxnSp>
      <p:cxnSp>
        <p:nvCxnSpPr>
          <p:cNvPr id="284676" name="직선 연결선 20"/>
          <p:cNvCxnSpPr>
            <a:cxnSpLocks noChangeShapeType="1"/>
          </p:cNvCxnSpPr>
          <p:nvPr/>
        </p:nvCxnSpPr>
        <p:spPr bwMode="auto">
          <a:xfrm>
            <a:off x="2288704" y="6525890"/>
            <a:ext cx="5227637"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84677" name="직선 연결선 21"/>
          <p:cNvCxnSpPr>
            <a:cxnSpLocks noChangeShapeType="1"/>
          </p:cNvCxnSpPr>
          <p:nvPr/>
        </p:nvCxnSpPr>
        <p:spPr bwMode="auto">
          <a:xfrm>
            <a:off x="2288704" y="4280396"/>
            <a:ext cx="5227637"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pic>
        <p:nvPicPr>
          <p:cNvPr id="284678"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028700" y="2643188"/>
            <a:ext cx="735013"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모서리가 둥근 직사각형 23"/>
          <p:cNvSpPr/>
          <p:nvPr/>
        </p:nvSpPr>
        <p:spPr>
          <a:xfrm>
            <a:off x="793750" y="2386013"/>
            <a:ext cx="8372475" cy="1619051"/>
          </a:xfrm>
          <a:prstGeom prst="roundRect">
            <a:avLst>
              <a:gd name="adj" fmla="val 8852"/>
            </a:avLst>
          </a:prstGeom>
          <a:noFill/>
          <a:ln w="25400" cap="flat" cmpd="sng" algn="ctr">
            <a:solidFill>
              <a:sysClr val="window" lastClr="FFFFFF">
                <a:lumMod val="50000"/>
              </a:sysClr>
            </a:solidFill>
            <a:prstDash val="sysDash"/>
          </a:ln>
          <a:effectLst/>
        </p:spPr>
        <p:txBody>
          <a:bodyPr anchor="ctr"/>
          <a:lstStyle/>
          <a:p>
            <a:pPr algn="ctr" fontAlgn="auto" latinLnBrk="0">
              <a:spcBef>
                <a:spcPts val="0"/>
              </a:spcBef>
              <a:spcAft>
                <a:spcPts val="0"/>
              </a:spcAft>
              <a:defRPr/>
            </a:pPr>
            <a:endParaRPr kumimoji="0" lang="ko-KR" altLang="en-US" kern="0" dirty="0">
              <a:solidFill>
                <a:sysClr val="window" lastClr="FFFFFF"/>
              </a:solidFill>
              <a:latin typeface="arial" pitchFamily="34" charset="0"/>
              <a:ea typeface="맑은 고딕"/>
            </a:endParaRPr>
          </a:p>
        </p:txBody>
      </p:sp>
      <p:sp>
        <p:nvSpPr>
          <p:cNvPr id="25" name="TextBox 24"/>
          <p:cNvSpPr txBox="1"/>
          <p:nvPr/>
        </p:nvSpPr>
        <p:spPr>
          <a:xfrm>
            <a:off x="1712569" y="2418312"/>
            <a:ext cx="7416895" cy="1569660"/>
          </a:xfrm>
          <a:prstGeom prst="rect">
            <a:avLst/>
          </a:prstGeom>
          <a:noFill/>
        </p:spPr>
        <p:txBody>
          <a:bodyPr wrap="square">
            <a:spAutoFit/>
          </a:bodyPr>
          <a:lstStyle/>
          <a:p>
            <a:pPr marL="266700" indent="-266700" algn="just" fontAlgn="auto" latinLnBrk="0">
              <a:lnSpc>
                <a:spcPct val="150000"/>
              </a:lnSpc>
              <a:spcBef>
                <a:spcPts val="0"/>
              </a:spcBef>
              <a:spcAft>
                <a:spcPts val="0"/>
              </a:spcAft>
              <a:buClr>
                <a:sysClr val="window" lastClr="FFFFFF">
                  <a:lumMod val="50000"/>
                </a:sysClr>
              </a:buClr>
              <a:buFont typeface="Wingdings" pitchFamily="2" charset="2"/>
              <a:buChar char="u"/>
              <a:defRPr/>
            </a:pPr>
            <a:r>
              <a:rPr kumimoji="0" lang="en-US" altLang="ko-KR" sz="1600" b="1" kern="0" dirty="0" err="1">
                <a:solidFill>
                  <a:sysClr val="windowText" lastClr="000000"/>
                </a:solidFill>
                <a:latin typeface="arial" pitchFamily="34" charset="0"/>
                <a:ea typeface="맑은 고딕"/>
              </a:rPr>
              <a:t>Hiểu</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được</a:t>
            </a:r>
            <a:r>
              <a:rPr kumimoji="0" lang="en-US" altLang="ko-KR" sz="1600" b="1" kern="0" dirty="0">
                <a:solidFill>
                  <a:sysClr val="windowText" lastClr="000000"/>
                </a:solidFill>
                <a:latin typeface="arial" pitchFamily="34" charset="0"/>
                <a:ea typeface="맑은 고딕"/>
              </a:rPr>
              <a:t> ý </a:t>
            </a:r>
            <a:r>
              <a:rPr kumimoji="0" lang="en-US" altLang="ko-KR" sz="1600" b="1" kern="0" dirty="0" err="1">
                <a:solidFill>
                  <a:sysClr val="windowText" lastClr="000000"/>
                </a:solidFill>
                <a:latin typeface="arial" pitchFamily="34" charset="0"/>
                <a:ea typeface="맑은 고딕"/>
              </a:rPr>
              <a:t>nghĩa</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của</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công</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tác</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đánh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giá</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năng</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lực</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quá</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trình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và</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biết</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cách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tính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chỉ</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số</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năng</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lực</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quá</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trình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với</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từng</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tình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huống</a:t>
            </a:r>
            <a:r>
              <a:rPr kumimoji="0" lang="en-US" altLang="ko-KR" sz="1600" b="1" kern="0" dirty="0">
                <a:solidFill>
                  <a:sysClr val="windowText" lastClr="000000"/>
                </a:solidFill>
                <a:latin typeface="arial" pitchFamily="34" charset="0"/>
                <a:ea typeface="맑은 고딕"/>
              </a:rPr>
              <a:t>.</a:t>
            </a:r>
          </a:p>
          <a:p>
            <a:pPr marL="266700" indent="-266700" algn="just" fontAlgn="auto" latinLnBrk="0">
              <a:lnSpc>
                <a:spcPct val="150000"/>
              </a:lnSpc>
              <a:spcBef>
                <a:spcPts val="0"/>
              </a:spcBef>
              <a:spcAft>
                <a:spcPts val="0"/>
              </a:spcAft>
              <a:buClr>
                <a:sysClr val="window" lastClr="FFFFFF">
                  <a:lumMod val="50000"/>
                </a:sysClr>
              </a:buClr>
              <a:buFont typeface="Wingdings" pitchFamily="2" charset="2"/>
              <a:buChar char="u"/>
              <a:defRPr/>
            </a:pPr>
            <a:r>
              <a:rPr kumimoji="0" lang="en-US" altLang="ko-KR" sz="1600" b="1" kern="0" dirty="0" err="1">
                <a:solidFill>
                  <a:sysClr val="windowText" lastClr="000000"/>
                </a:solidFill>
                <a:latin typeface="arial" pitchFamily="34" charset="0"/>
                <a:ea typeface="맑은 고딕"/>
              </a:rPr>
              <a:t>Biết</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cách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đánh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giá</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năng</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lực</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quá</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trình</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của</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các</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biến</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liên</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tục</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thông</a:t>
            </a:r>
            <a:r>
              <a:rPr kumimoji="0" lang="en-US" altLang="ko-KR" sz="1600" b="1" kern="0" dirty="0">
                <a:solidFill>
                  <a:sysClr val="windowText" lastClr="000000"/>
                </a:solidFill>
                <a:latin typeface="arial" pitchFamily="34" charset="0"/>
                <a:ea typeface="맑은 고딕"/>
              </a:rPr>
              <a:t> qua </a:t>
            </a:r>
            <a:r>
              <a:rPr kumimoji="0" lang="en-US" altLang="ko-KR" sz="1600" b="1" kern="0" dirty="0" err="1">
                <a:solidFill>
                  <a:sysClr val="windowText" lastClr="000000"/>
                </a:solidFill>
                <a:latin typeface="arial" pitchFamily="34" charset="0"/>
                <a:ea typeface="맑은 고딕"/>
              </a:rPr>
              <a:t>các</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ví</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dụ</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thực</a:t>
            </a:r>
            <a:r>
              <a:rPr kumimoji="0" lang="en-US" altLang="ko-KR" sz="1600" b="1" kern="0" dirty="0">
                <a:solidFill>
                  <a:sysClr val="windowText" lastClr="000000"/>
                </a:solidFill>
                <a:latin typeface="arial" pitchFamily="34" charset="0"/>
                <a:ea typeface="맑은 고딕"/>
              </a:rPr>
              <a:t> </a:t>
            </a:r>
            <a:r>
              <a:rPr kumimoji="0" lang="en-US" altLang="ko-KR" sz="1600" b="1" kern="0" dirty="0" err="1">
                <a:solidFill>
                  <a:sysClr val="windowText" lastClr="000000"/>
                </a:solidFill>
                <a:latin typeface="arial" pitchFamily="34" charset="0"/>
                <a:ea typeface="맑은 고딕"/>
              </a:rPr>
              <a:t>hành</a:t>
            </a:r>
            <a:r>
              <a:rPr kumimoji="0" lang="en-US" altLang="ko-KR" sz="1600" b="1" kern="0" dirty="0">
                <a:solidFill>
                  <a:sysClr val="windowText" lastClr="000000"/>
                </a:solidFill>
                <a:latin typeface="arial" pitchFamily="34" charset="0"/>
                <a:ea typeface="맑은 고딕"/>
              </a:rPr>
              <a:t>.</a:t>
            </a:r>
          </a:p>
        </p:txBody>
      </p:sp>
      <p:sp>
        <p:nvSpPr>
          <p:cNvPr id="9" name="직사각형 8"/>
          <p:cNvSpPr/>
          <p:nvPr/>
        </p:nvSpPr>
        <p:spPr>
          <a:xfrm>
            <a:off x="2555404" y="4613183"/>
            <a:ext cx="4945062" cy="1579920"/>
          </a:xfrm>
          <a:prstGeom prst="rect">
            <a:avLst/>
          </a:prstGeom>
        </p:spPr>
        <p:txBody>
          <a:bodyPr>
            <a:spAutoFit/>
          </a:bodyPr>
          <a:lstStyle/>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1. </a:t>
            </a:r>
            <a:r>
              <a:rPr kumimoji="0" lang="en-US" altLang="ko-KR" b="1" dirty="0" err="1">
                <a:solidFill>
                  <a:schemeClr val="tx1">
                    <a:lumMod val="75000"/>
                    <a:lumOff val="25000"/>
                  </a:schemeClr>
                </a:solidFill>
                <a:latin typeface="arial" pitchFamily="34" charset="0"/>
                <a:ea typeface="+mn-ea"/>
              </a:rPr>
              <a:t>Giới</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thiệu</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2. </a:t>
            </a:r>
            <a:r>
              <a:rPr kumimoji="0" lang="en-US" altLang="ko-KR" b="1" dirty="0" err="1">
                <a:solidFill>
                  <a:schemeClr val="tx1">
                    <a:lumMod val="75000"/>
                    <a:lumOff val="25000"/>
                  </a:schemeClr>
                </a:solidFill>
                <a:latin typeface="arial" pitchFamily="34" charset="0"/>
                <a:ea typeface="+mn-ea"/>
              </a:rPr>
              <a:t>Năng</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lực</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quá</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trình</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3. </a:t>
            </a:r>
            <a:r>
              <a:rPr kumimoji="0" lang="en-US" altLang="ko-KR" b="1" dirty="0" err="1">
                <a:solidFill>
                  <a:schemeClr val="tx1">
                    <a:lumMod val="75000"/>
                    <a:lumOff val="25000"/>
                  </a:schemeClr>
                </a:solidFill>
                <a:latin typeface="arial" pitchFamily="34" charset="0"/>
                <a:ea typeface="+mn-ea"/>
              </a:rPr>
              <a:t>Đánh</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giá</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năng</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lực</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của</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quá</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trình</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4. </a:t>
            </a:r>
            <a:r>
              <a:rPr kumimoji="0" lang="en-US" altLang="ko-KR" b="1" dirty="0" err="1">
                <a:solidFill>
                  <a:schemeClr val="tx1">
                    <a:lumMod val="75000"/>
                    <a:lumOff val="25000"/>
                  </a:schemeClr>
                </a:solidFill>
                <a:latin typeface="arial" pitchFamily="34" charset="0"/>
                <a:ea typeface="+mn-ea"/>
              </a:rPr>
              <a:t>Tình</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huống</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5. </a:t>
            </a:r>
            <a:r>
              <a:rPr kumimoji="0" lang="en-US" altLang="ko-KR" b="1" dirty="0" err="1">
                <a:solidFill>
                  <a:schemeClr val="tx1">
                    <a:lumMod val="75000"/>
                    <a:lumOff val="25000"/>
                  </a:schemeClr>
                </a:solidFill>
                <a:latin typeface="arial" pitchFamily="34" charset="0"/>
                <a:ea typeface="+mn-ea"/>
              </a:rPr>
              <a:t>Thực</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hành</a:t>
            </a:r>
            <a:endParaRPr kumimoji="0" lang="en-US" altLang="ko-KR" b="1" dirty="0">
              <a:solidFill>
                <a:schemeClr val="tx1">
                  <a:lumMod val="75000"/>
                  <a:lumOff val="25000"/>
                </a:schemeClr>
              </a:solidFill>
              <a:latin typeface="arial" pitchFamily="34" charset="0"/>
              <a:ea typeface="+mn-ea"/>
            </a:endParaRPr>
          </a:p>
        </p:txBody>
      </p:sp>
    </p:spTree>
    <p:extLst>
      <p:ext uri="{BB962C8B-B14F-4D97-AF65-F5344CB8AC3E}">
        <p14:creationId xmlns:p14="http://schemas.microsoft.com/office/powerpoint/2010/main" val="3639967743"/>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arial" pitchFamily="34" charset="0"/>
                <a:ea typeface="맑은 고딕" pitchFamily="50" charset="-127"/>
              </a:rPr>
              <a:t> 1. </a:t>
            </a:r>
            <a:r>
              <a:rPr lang="en-US" altLang="ko-KR" sz="2000" b="1" dirty="0" err="1">
                <a:latin typeface="arial" pitchFamily="34" charset="0"/>
                <a:ea typeface="맑은 고딕" pitchFamily="50" charset="-127"/>
              </a:rPr>
              <a:t>Giới</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thiệu</a:t>
            </a:r>
            <a:endParaRPr lang="ko-KR" altLang="en-US" sz="2000" b="1" dirty="0">
              <a:latin typeface="arial" pitchFamily="34" charset="0"/>
              <a:ea typeface="맑은 고딕" pitchFamily="50" charset="-127"/>
            </a:endParaRPr>
          </a:p>
        </p:txBody>
      </p:sp>
      <p:pic>
        <p:nvPicPr>
          <p:cNvPr id="285699" name="Picture 2" descr="C:\Users\Administrator\AppData\Local\Microsoft\Windows\Temporary Internet Files\Content.IE5\TFXTNQNH\5[1].jp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8007350" y="1598613"/>
            <a:ext cx="1625600" cy="348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344488" y="1196975"/>
            <a:ext cx="7488832" cy="2052870"/>
          </a:xfrm>
          <a:prstGeom prst="rect">
            <a:avLst/>
          </a:prstGeom>
          <a:noFill/>
        </p:spPr>
        <p:txBody>
          <a:bodyPr wrap="square">
            <a:spAutoFit/>
          </a:bodyPr>
          <a:lstStyle/>
          <a:p>
            <a:pPr marL="266700" indent="-266700">
              <a:lnSpc>
                <a:spcPct val="130000"/>
              </a:lnSpc>
              <a:buClr>
                <a:srgbClr val="C5003D"/>
              </a:buClr>
              <a:buFont typeface="Wingdings" pitchFamily="2" charset="2"/>
              <a:buChar char="u"/>
              <a:defRPr/>
            </a:pPr>
            <a:r>
              <a:rPr lang="en-US" altLang="ko-KR" sz="1400" b="1" dirty="0" err="1">
                <a:latin typeface="arial" pitchFamily="34" charset="0"/>
                <a:ea typeface="맑은 고딕" pitchFamily="50" charset="-127"/>
              </a:rPr>
              <a:t>Kết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quả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từ</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một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cuộc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khảo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sát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thấy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khách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hàng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hiện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đang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thấy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thất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vọng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về</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sự</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lệch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chiều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cao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của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cánh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cửa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tủ</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lạnh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trên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những</a:t>
            </a:r>
            <a:r>
              <a:rPr lang="en-US" altLang="ko-KR" sz="1400" b="1" dirty="0">
                <a:latin typeface="arial" pitchFamily="34" charset="0"/>
                <a:ea typeface="맑은 고딕" pitchFamily="50" charset="-127"/>
              </a:rPr>
              <a:t> model </a:t>
            </a:r>
            <a:r>
              <a:rPr lang="en-US" altLang="ko-KR" sz="1400" b="1" dirty="0" err="1">
                <a:latin typeface="arial" pitchFamily="34" charset="0"/>
                <a:ea typeface="맑은 고딕" pitchFamily="50" charset="-127"/>
              </a:rPr>
              <a:t>gần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đây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Ông</a:t>
            </a:r>
            <a:r>
              <a:rPr lang="en-US" altLang="ko-KR" sz="1400" b="1" dirty="0">
                <a:latin typeface="arial" pitchFamily="34" charset="0"/>
                <a:ea typeface="맑은 고딕" pitchFamily="50" charset="-127"/>
              </a:rPr>
              <a:t> Minh </a:t>
            </a:r>
            <a:r>
              <a:rPr lang="en-US" altLang="ko-KR" sz="1400" b="1" dirty="0" err="1">
                <a:latin typeface="arial" pitchFamily="34" charset="0"/>
                <a:ea typeface="맑은 고딕" pitchFamily="50" charset="-127"/>
              </a:rPr>
              <a:t>muốn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phát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động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một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dự</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nhằm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cải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tiến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điều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chỉnh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lại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chiều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cao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của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dòng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phẩm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này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Trước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ông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ấy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phải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vấn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đề</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nằm</a:t>
            </a:r>
            <a:r>
              <a:rPr lang="en-US" altLang="ko-KR" sz="1400" b="1" dirty="0">
                <a:latin typeface="arial" pitchFamily="34" charset="0"/>
                <a:ea typeface="맑은 고딕" pitchFamily="50" charset="-127"/>
              </a:rPr>
              <a:t> ở </a:t>
            </a:r>
            <a:r>
              <a:rPr lang="en-US" altLang="ko-KR" sz="1400" b="1" dirty="0" err="1">
                <a:latin typeface="arial" pitchFamily="34" charset="0"/>
                <a:ea typeface="맑은 고딕" pitchFamily="50" charset="-127"/>
              </a:rPr>
              <a:t>đâu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đánh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giá</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mức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độ</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tình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hình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hiện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tại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Ông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cuộc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trao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đổi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quản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lý</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cấp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cao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thảo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luận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về</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cách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thức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thập</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liệu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nhằm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định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tình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huống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hiện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tại</a:t>
            </a:r>
            <a:r>
              <a:rPr lang="en-US" altLang="ko-KR" sz="1400" b="1" dirty="0">
                <a:latin typeface="arial" pitchFamily="34" charset="0"/>
                <a:ea typeface="맑은 고딕" pitchFamily="50" charset="-127"/>
              </a:rPr>
              <a:t>. Ý </a:t>
            </a:r>
            <a:r>
              <a:rPr lang="en-US" altLang="ko-KR" sz="1400" b="1" dirty="0" err="1">
                <a:latin typeface="arial" pitchFamily="34" charset="0"/>
                <a:ea typeface="맑은 고딕" pitchFamily="50" charset="-127"/>
              </a:rPr>
              <a:t>kiến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của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a:t>
            </a:r>
          </a:p>
        </p:txBody>
      </p:sp>
      <p:sp>
        <p:nvSpPr>
          <p:cNvPr id="285701" name="TextBox 160"/>
          <p:cNvSpPr txBox="1">
            <a:spLocks noChangeArrowheads="1"/>
          </p:cNvSpPr>
          <p:nvPr/>
        </p:nvSpPr>
        <p:spPr bwMode="auto">
          <a:xfrm>
            <a:off x="657225" y="3284984"/>
            <a:ext cx="7320111"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dirty="0" err="1">
                <a:latin typeface="arial" pitchFamily="34" charset="0"/>
                <a:ea typeface="맑은 고딕" pitchFamily="50" charset="-127"/>
              </a:rPr>
              <a:t>Anh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Toàn</a:t>
            </a:r>
            <a:r>
              <a:rPr lang="en-US" altLang="ko-KR" sz="1200" dirty="0">
                <a:latin typeface="arial" pitchFamily="34" charset="0"/>
                <a:ea typeface="맑은 고딕" pitchFamily="50" charset="-127"/>
              </a:rPr>
              <a:t> – </a:t>
            </a:r>
            <a:r>
              <a:rPr lang="en-US" altLang="ko-KR" sz="1200" dirty="0" err="1">
                <a:latin typeface="arial" pitchFamily="34" charset="0"/>
                <a:ea typeface="맑은 고딕" pitchFamily="50" charset="-127"/>
              </a:rPr>
              <a:t>trưởng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phòng</a:t>
            </a:r>
            <a:r>
              <a:rPr lang="en-US" altLang="ko-KR" sz="1200" dirty="0">
                <a:latin typeface="arial" pitchFamily="34" charset="0"/>
                <a:ea typeface="맑은 고딕" pitchFamily="50" charset="-127"/>
              </a:rPr>
              <a:t>	: </a:t>
            </a:r>
            <a:r>
              <a:rPr lang="en-US" altLang="ko-KR" sz="1200" dirty="0" err="1">
                <a:latin typeface="arial" pitchFamily="34" charset="0"/>
                <a:ea typeface="맑은 고딕" pitchFamily="50" charset="-127"/>
              </a:rPr>
              <a:t>Tỷ</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lệ</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lỗi</a:t>
            </a:r>
            <a:r>
              <a:rPr lang="en-US" altLang="ko-KR" sz="1200" dirty="0">
                <a:latin typeface="arial" pitchFamily="34" charset="0"/>
                <a:ea typeface="맑은 고딕" pitchFamily="50" charset="-127"/>
              </a:rPr>
              <a:t> (defect rate) </a:t>
            </a:r>
            <a:r>
              <a:rPr lang="en-US" altLang="ko-KR" sz="1200" dirty="0" err="1">
                <a:latin typeface="arial" pitchFamily="34" charset="0"/>
                <a:ea typeface="맑은 고딕" pitchFamily="50" charset="-127"/>
              </a:rPr>
              <a:t>hiện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tại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thị</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trường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là</a:t>
            </a:r>
            <a:r>
              <a:rPr lang="en-US" altLang="ko-KR" sz="1200" dirty="0">
                <a:latin typeface="arial" pitchFamily="34" charset="0"/>
                <a:ea typeface="맑은 고딕" pitchFamily="50" charset="-127"/>
              </a:rPr>
              <a:t> 1.2%, </a:t>
            </a:r>
            <a:r>
              <a:rPr lang="en-US" altLang="ko-KR" sz="1200" dirty="0" err="1">
                <a:latin typeface="arial" pitchFamily="34" charset="0"/>
                <a:ea typeface="맑은 고딕" pitchFamily="50" charset="-127"/>
              </a:rPr>
              <a:t>chúng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gắng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duy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tỷ</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lệ</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đó</a:t>
            </a:r>
            <a:r>
              <a:rPr lang="en-US" altLang="ko-KR" sz="1200" dirty="0">
                <a:latin typeface="arial" pitchFamily="34" charset="0"/>
                <a:ea typeface="맑은 고딕" pitchFamily="50" charset="-127"/>
              </a:rPr>
              <a:t> ở </a:t>
            </a:r>
            <a:r>
              <a:rPr lang="en-US" altLang="ko-KR" sz="1200" dirty="0" err="1">
                <a:latin typeface="arial" pitchFamily="34" charset="0"/>
                <a:ea typeface="맑은 고딕" pitchFamily="50" charset="-127"/>
              </a:rPr>
              <a:t>mức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này</a:t>
            </a:r>
            <a:r>
              <a:rPr lang="en-US" altLang="ko-KR" sz="1200" dirty="0">
                <a:latin typeface="arial" pitchFamily="34" charset="0"/>
                <a:ea typeface="맑은 고딕" pitchFamily="50" charset="-127"/>
              </a:rPr>
              <a:t> hay </a:t>
            </a:r>
            <a:r>
              <a:rPr lang="en-US" altLang="ko-KR" sz="1200" dirty="0" err="1">
                <a:latin typeface="arial" pitchFamily="34" charset="0"/>
                <a:ea typeface="맑은 고딕" pitchFamily="50" charset="-127"/>
              </a:rPr>
              <a:t>không</a:t>
            </a:r>
            <a:r>
              <a:rPr lang="en-US" altLang="ko-KR" sz="1200" dirty="0">
                <a:latin typeface="arial" pitchFamily="34" charset="0"/>
                <a:ea typeface="맑은 고딕" pitchFamily="50" charset="-127"/>
              </a:rPr>
              <a:t>?</a:t>
            </a:r>
          </a:p>
        </p:txBody>
      </p:sp>
      <p:sp>
        <p:nvSpPr>
          <p:cNvPr id="285702" name="TextBox 161"/>
          <p:cNvSpPr txBox="1">
            <a:spLocks noChangeArrowheads="1"/>
          </p:cNvSpPr>
          <p:nvPr/>
        </p:nvSpPr>
        <p:spPr bwMode="auto">
          <a:xfrm>
            <a:off x="657225" y="3910214"/>
            <a:ext cx="7748083" cy="1052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dirty="0">
                <a:latin typeface="arial" pitchFamily="34" charset="0"/>
                <a:ea typeface="맑은 고딕" pitchFamily="50" charset="-127"/>
              </a:rPr>
              <a:t>Tony Kim – FSE	: </a:t>
            </a:r>
            <a:r>
              <a:rPr lang="en-US" altLang="ko-KR" sz="1200" dirty="0" err="1">
                <a:latin typeface="arial" pitchFamily="34" charset="0"/>
                <a:ea typeface="맑은 고딕" pitchFamily="50" charset="-127"/>
              </a:rPr>
              <a:t>Tỷ</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lệ</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lỗi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hiện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tại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thị</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trường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không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phản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chính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mức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độ</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hình</a:t>
            </a:r>
            <a:br>
              <a:rPr lang="en-US" altLang="ko-KR" sz="1200" dirty="0">
                <a:latin typeface="arial" pitchFamily="34" charset="0"/>
                <a:ea typeface="맑은 고딕" pitchFamily="50" charset="-127"/>
              </a:rPr>
            </a:b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chúng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đang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đối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mặt</a:t>
            </a:r>
            <a:r>
              <a:rPr lang="en-US" altLang="ko-KR" sz="1200" dirty="0">
                <a:latin typeface="arial" pitchFamily="34" charset="0"/>
                <a:ea typeface="맑은 고딕" pitchFamily="50" charset="-127"/>
              </a:rPr>
              <a:t>.</a:t>
            </a:r>
          </a:p>
          <a:p>
            <a:pPr eaLnBrk="1" hangingPunct="1">
              <a:lnSpc>
                <a:spcPct val="130000"/>
              </a:lnSpc>
              <a:buClr>
                <a:srgbClr val="C5003D"/>
              </a:buClr>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Tại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sao</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chúng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không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đo</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lường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một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sản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phẩm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trưng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bày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một</a:t>
            </a:r>
            <a:br>
              <a:rPr lang="en-US" altLang="ko-KR" sz="1200" dirty="0">
                <a:latin typeface="arial" pitchFamily="34" charset="0"/>
                <a:ea typeface="맑은 고딕" pitchFamily="50" charset="-127"/>
              </a:rPr>
            </a:b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cửa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hàng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phân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tích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tỷ</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lệ</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lỗi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chung</a:t>
            </a:r>
            <a:r>
              <a:rPr lang="en-US" altLang="ko-KR" sz="1200" dirty="0">
                <a:latin typeface="arial" pitchFamily="34" charset="0"/>
                <a:ea typeface="맑은 고딕" pitchFamily="50" charset="-127"/>
              </a:rPr>
              <a:t>?</a:t>
            </a:r>
          </a:p>
        </p:txBody>
      </p:sp>
      <p:sp>
        <p:nvSpPr>
          <p:cNvPr id="285703" name="TextBox 162"/>
          <p:cNvSpPr txBox="1">
            <a:spLocks noChangeArrowheads="1"/>
          </p:cNvSpPr>
          <p:nvPr/>
        </p:nvSpPr>
        <p:spPr bwMode="auto">
          <a:xfrm>
            <a:off x="657225" y="5640806"/>
            <a:ext cx="8832279" cy="1052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30000"/>
              </a:lnSpc>
              <a:buClr>
                <a:srgbClr val="C5003D"/>
              </a:buClr>
            </a:pPr>
            <a:r>
              <a:rPr lang="en-US" altLang="ko-KR" sz="1200" dirty="0" err="1">
                <a:latin typeface="arial" pitchFamily="34" charset="0"/>
                <a:ea typeface="맑은 고딕" pitchFamily="50" charset="-127"/>
              </a:rPr>
              <a:t>Anh</a:t>
            </a:r>
            <a:r>
              <a:rPr lang="en-US" altLang="ko-KR" sz="1200" dirty="0">
                <a:latin typeface="arial" pitchFamily="34" charset="0"/>
                <a:ea typeface="맑은 고딕" pitchFamily="50" charset="-127"/>
              </a:rPr>
              <a:t> Nam - GD	: </a:t>
            </a:r>
            <a:r>
              <a:rPr lang="en-US" altLang="ko-KR" sz="1200" dirty="0" err="1">
                <a:latin typeface="arial" pitchFamily="34" charset="0"/>
                <a:ea typeface="맑은 고딕" pitchFamily="50" charset="-127"/>
              </a:rPr>
              <a:t>Trước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chúng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căn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cứ</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quan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của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khách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hàng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Sau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chúng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phát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triển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kế</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hoạch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lấy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mẫu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xem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xét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phân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tích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một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yếu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nhằm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hành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động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cải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thiện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cụ</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tương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lai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Sau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cùng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lấy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liệu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của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mẫu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cùng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với</a:t>
            </a:r>
            <a:r>
              <a:rPr lang="en-US" altLang="ko-KR" sz="1200" dirty="0">
                <a:latin typeface="arial" pitchFamily="34" charset="0"/>
                <a:ea typeface="맑은 고딕" pitchFamily="50" charset="-127"/>
              </a:rPr>
              <a:t> 5M1E </a:t>
            </a:r>
            <a:r>
              <a:rPr lang="en-US" altLang="ko-KR" sz="1200" dirty="0" err="1">
                <a:latin typeface="arial" pitchFamily="34" charset="0"/>
                <a:ea typeface="맑은 고딕" pitchFamily="50" charset="-127"/>
              </a:rPr>
              <a:t>để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tiến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hành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tính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toán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chỉ</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a:t>
            </a:r>
          </a:p>
        </p:txBody>
      </p:sp>
      <p:sp>
        <p:nvSpPr>
          <p:cNvPr id="285704" name="TextBox 163"/>
          <p:cNvSpPr txBox="1">
            <a:spLocks noChangeArrowheads="1"/>
          </p:cNvSpPr>
          <p:nvPr/>
        </p:nvSpPr>
        <p:spPr bwMode="auto">
          <a:xfrm>
            <a:off x="657225" y="5015576"/>
            <a:ext cx="8262198"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dirty="0" err="1">
                <a:latin typeface="arial" pitchFamily="34" charset="0"/>
                <a:ea typeface="맑은 고딕" pitchFamily="50" charset="-127"/>
              </a:rPr>
              <a:t>Ông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Choi</a:t>
            </a:r>
            <a:r>
              <a:rPr lang="en-US" altLang="ko-KR" sz="1200" dirty="0">
                <a:latin typeface="arial" pitchFamily="34" charset="0"/>
                <a:ea typeface="맑은 고딕" pitchFamily="50" charset="-127"/>
              </a:rPr>
              <a:t> – FSE	: </a:t>
            </a:r>
            <a:r>
              <a:rPr lang="en-US" altLang="ko-KR" sz="1200" dirty="0" err="1">
                <a:latin typeface="arial" pitchFamily="34" charset="0"/>
                <a:ea typeface="맑은 고딕" pitchFamily="50" charset="-127"/>
              </a:rPr>
              <a:t>Chúng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lấy</a:t>
            </a:r>
            <a:r>
              <a:rPr lang="en-US" altLang="ko-KR" sz="1200" dirty="0">
                <a:latin typeface="arial" pitchFamily="34" charset="0"/>
                <a:ea typeface="맑은 고딕" pitchFamily="50" charset="-127"/>
              </a:rPr>
              <a:t> 30 </a:t>
            </a:r>
            <a:r>
              <a:rPr lang="en-US" altLang="ko-KR" sz="1200" dirty="0" err="1">
                <a:latin typeface="arial" pitchFamily="34" charset="0"/>
                <a:ea typeface="맑은 고딕" pitchFamily="50" charset="-127"/>
              </a:rPr>
              <a:t>thành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phẩm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sản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xuất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liên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tục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hôm</a:t>
            </a:r>
            <a:r>
              <a:rPr lang="en-US" altLang="ko-KR" sz="1200" dirty="0">
                <a:latin typeface="arial" pitchFamily="34" charset="0"/>
                <a:ea typeface="맑은 고딕" pitchFamily="50" charset="-127"/>
              </a:rPr>
              <a:t> nay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đếm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xem</a:t>
            </a:r>
            <a:br>
              <a:rPr lang="en-US" altLang="ko-KR" sz="1200" dirty="0">
                <a:latin typeface="arial" pitchFamily="34" charset="0"/>
                <a:ea typeface="맑은 고딕" pitchFamily="50" charset="-127"/>
              </a:rPr>
            </a:b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bao</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nhiêu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sản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phẩm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không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đạt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tiêu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chuẩn</a:t>
            </a:r>
            <a:r>
              <a:rPr lang="en-US" altLang="ko-KR" sz="1200" dirty="0">
                <a:latin typeface="arial" pitchFamily="34" charset="0"/>
                <a:ea typeface="맑은 고딕" pitchFamily="50" charset="-127"/>
              </a:rPr>
              <a:t>.</a:t>
            </a:r>
          </a:p>
        </p:txBody>
      </p:sp>
      <p:pic>
        <p:nvPicPr>
          <p:cNvPr id="285705" name="Picture 3" descr="C:\Users\Administrator\AppData\Local\Microsoft\Windows\Temporary Internet Files\Content.IE5\HSYCM6AC\adamtglass-com[1].jpg"/>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8474075" y="908050"/>
            <a:ext cx="820738" cy="9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217</a:t>
            </a:fld>
            <a:endParaRPr lang="ko-KR" altLang="en-US" dirty="0"/>
          </a:p>
        </p:txBody>
      </p:sp>
    </p:spTree>
    <p:extLst>
      <p:ext uri="{BB962C8B-B14F-4D97-AF65-F5344CB8AC3E}">
        <p14:creationId xmlns:p14="http://schemas.microsoft.com/office/powerpoint/2010/main" val="237694394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1027"/>
          <p:cNvSpPr>
            <a:spLocks noChangeArrowheads="1"/>
          </p:cNvSpPr>
          <p:nvPr/>
        </p:nvSpPr>
        <p:spPr bwMode="auto">
          <a:xfrm>
            <a:off x="804862" y="1711325"/>
            <a:ext cx="8540626" cy="831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762000">
              <a:buFontTx/>
              <a:buChar char="•"/>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đảm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bảo</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sản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xuất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sản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phẩm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giống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hệt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nhau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một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thời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gian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dài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vẫn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đáp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ứng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yêu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cầu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tiêu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chuẩn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về</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chất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lượng</a:t>
            </a:r>
            <a:r>
              <a:rPr lang="en-US" altLang="ko-KR" sz="1200" dirty="0">
                <a:latin typeface="arial" pitchFamily="34" charset="0"/>
                <a:ea typeface="맑은 고딕" pitchFamily="50" charset="-127"/>
              </a:rPr>
              <a:t>.</a:t>
            </a:r>
          </a:p>
          <a:p>
            <a:pPr defTabSz="762000">
              <a:buFontTx/>
              <a:buChar char="•"/>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sản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xuất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tương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lai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dựa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của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a:t>
            </a:r>
            <a:endParaRPr lang="ko-KR" altLang="en-US" sz="1200" dirty="0">
              <a:latin typeface="arial" pitchFamily="34" charset="0"/>
              <a:ea typeface="맑은 고딕" pitchFamily="50" charset="-127"/>
            </a:endParaRPr>
          </a:p>
          <a:p>
            <a:pPr defTabSz="762000">
              <a:buFontTx/>
              <a:buChar char="•"/>
            </a:pPr>
            <a:r>
              <a:rPr lang="ko-KR" altLang="en-US"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thường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soát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±3σ (6σ).</a:t>
            </a:r>
          </a:p>
        </p:txBody>
      </p:sp>
      <p:sp>
        <p:nvSpPr>
          <p:cNvPr id="286723" name="Rectangle 1028"/>
          <p:cNvSpPr>
            <a:spLocks noChangeArrowheads="1"/>
          </p:cNvSpPr>
          <p:nvPr/>
        </p:nvSpPr>
        <p:spPr bwMode="auto">
          <a:xfrm>
            <a:off x="1025525" y="2757388"/>
            <a:ext cx="3771289"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Lý</a:t>
            </a:r>
            <a:r>
              <a:rPr lang="en-US" altLang="ko-KR" sz="1200" dirty="0">
                <a:latin typeface="arial" pitchFamily="34" charset="0"/>
                <a:ea typeface="맑은 고딕" pitchFamily="50" charset="-127"/>
              </a:rPr>
              <a:t> do </a:t>
            </a:r>
            <a:r>
              <a:rPr lang="en-US" altLang="ko-KR" sz="1200" dirty="0" err="1">
                <a:latin typeface="arial" pitchFamily="34" charset="0"/>
                <a:ea typeface="맑은 고딕" pitchFamily="50" charset="-127"/>
              </a:rPr>
              <a:t>sử</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dụng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vùng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soát</a:t>
            </a:r>
            <a:r>
              <a:rPr lang="en-US" altLang="ko-KR" sz="1200" dirty="0">
                <a:latin typeface="arial" pitchFamily="34" charset="0"/>
                <a:ea typeface="맑은 고딕" pitchFamily="50" charset="-127"/>
              </a:rPr>
              <a:t> ±3σ (6σ)</a:t>
            </a:r>
            <a:endParaRPr lang="ko-KR" altLang="en-US" sz="1200" dirty="0">
              <a:latin typeface="arial" pitchFamily="34" charset="0"/>
              <a:ea typeface="맑은 고딕" pitchFamily="50" charset="-127"/>
            </a:endParaRPr>
          </a:p>
        </p:txBody>
      </p:sp>
      <p:sp>
        <p:nvSpPr>
          <p:cNvPr id="286724" name="AutoShape 1029"/>
          <p:cNvSpPr>
            <a:spLocks noChangeArrowheads="1"/>
          </p:cNvSpPr>
          <p:nvPr/>
        </p:nvSpPr>
        <p:spPr bwMode="auto">
          <a:xfrm>
            <a:off x="1241425" y="3074888"/>
            <a:ext cx="7708900" cy="2197100"/>
          </a:xfrm>
          <a:prstGeom prst="roundRect">
            <a:avLst>
              <a:gd name="adj" fmla="val 2745"/>
            </a:avLst>
          </a:prstGeom>
          <a:solidFill>
            <a:schemeClr val="bg1"/>
          </a:solidFill>
          <a:ln w="12700">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grpSp>
        <p:nvGrpSpPr>
          <p:cNvPr id="3" name="Group 1030"/>
          <p:cNvGrpSpPr>
            <a:grpSpLocks/>
          </p:cNvGrpSpPr>
          <p:nvPr/>
        </p:nvGrpSpPr>
        <p:grpSpPr bwMode="auto">
          <a:xfrm>
            <a:off x="1900238" y="3517801"/>
            <a:ext cx="6488112" cy="1414462"/>
            <a:chOff x="1221" y="2107"/>
            <a:chExt cx="4087" cy="891"/>
          </a:xfrm>
        </p:grpSpPr>
        <p:sp>
          <p:nvSpPr>
            <p:cNvPr id="286753" name="Freeform 1031"/>
            <p:cNvSpPr>
              <a:spLocks/>
            </p:cNvSpPr>
            <p:nvPr/>
          </p:nvSpPr>
          <p:spPr bwMode="auto">
            <a:xfrm>
              <a:off x="1221" y="2107"/>
              <a:ext cx="2051" cy="891"/>
            </a:xfrm>
            <a:custGeom>
              <a:avLst/>
              <a:gdLst>
                <a:gd name="T0" fmla="*/ 0 w 2051"/>
                <a:gd name="T1" fmla="*/ 890 h 891"/>
                <a:gd name="T2" fmla="*/ 56 w 2051"/>
                <a:gd name="T3" fmla="*/ 886 h 891"/>
                <a:gd name="T4" fmla="*/ 140 w 2051"/>
                <a:gd name="T5" fmla="*/ 881 h 891"/>
                <a:gd name="T6" fmla="*/ 224 w 2051"/>
                <a:gd name="T7" fmla="*/ 877 h 891"/>
                <a:gd name="T8" fmla="*/ 308 w 2051"/>
                <a:gd name="T9" fmla="*/ 873 h 891"/>
                <a:gd name="T10" fmla="*/ 392 w 2051"/>
                <a:gd name="T11" fmla="*/ 864 h 891"/>
                <a:gd name="T12" fmla="*/ 448 w 2051"/>
                <a:gd name="T13" fmla="*/ 860 h 891"/>
                <a:gd name="T14" fmla="*/ 534 w 2051"/>
                <a:gd name="T15" fmla="*/ 851 h 891"/>
                <a:gd name="T16" fmla="*/ 600 w 2051"/>
                <a:gd name="T17" fmla="*/ 843 h 891"/>
                <a:gd name="T18" fmla="*/ 646 w 2051"/>
                <a:gd name="T19" fmla="*/ 838 h 891"/>
                <a:gd name="T20" fmla="*/ 702 w 2051"/>
                <a:gd name="T21" fmla="*/ 830 h 891"/>
                <a:gd name="T22" fmla="*/ 743 w 2051"/>
                <a:gd name="T23" fmla="*/ 820 h 891"/>
                <a:gd name="T24" fmla="*/ 786 w 2051"/>
                <a:gd name="T25" fmla="*/ 812 h 891"/>
                <a:gd name="T26" fmla="*/ 827 w 2051"/>
                <a:gd name="T27" fmla="*/ 803 h 891"/>
                <a:gd name="T28" fmla="*/ 870 w 2051"/>
                <a:gd name="T29" fmla="*/ 795 h 891"/>
                <a:gd name="T30" fmla="*/ 898 w 2051"/>
                <a:gd name="T31" fmla="*/ 786 h 891"/>
                <a:gd name="T32" fmla="*/ 926 w 2051"/>
                <a:gd name="T33" fmla="*/ 777 h 891"/>
                <a:gd name="T34" fmla="*/ 939 w 2051"/>
                <a:gd name="T35" fmla="*/ 769 h 891"/>
                <a:gd name="T36" fmla="*/ 967 w 2051"/>
                <a:gd name="T37" fmla="*/ 756 h 891"/>
                <a:gd name="T38" fmla="*/ 995 w 2051"/>
                <a:gd name="T39" fmla="*/ 739 h 891"/>
                <a:gd name="T40" fmla="*/ 1039 w 2051"/>
                <a:gd name="T41" fmla="*/ 717 h 891"/>
                <a:gd name="T42" fmla="*/ 1079 w 2051"/>
                <a:gd name="T43" fmla="*/ 687 h 891"/>
                <a:gd name="T44" fmla="*/ 1123 w 2051"/>
                <a:gd name="T45" fmla="*/ 660 h 891"/>
                <a:gd name="T46" fmla="*/ 1151 w 2051"/>
                <a:gd name="T47" fmla="*/ 639 h 891"/>
                <a:gd name="T48" fmla="*/ 1191 w 2051"/>
                <a:gd name="T49" fmla="*/ 609 h 891"/>
                <a:gd name="T50" fmla="*/ 1219 w 2051"/>
                <a:gd name="T51" fmla="*/ 579 h 891"/>
                <a:gd name="T52" fmla="*/ 1235 w 2051"/>
                <a:gd name="T53" fmla="*/ 566 h 891"/>
                <a:gd name="T54" fmla="*/ 1303 w 2051"/>
                <a:gd name="T55" fmla="*/ 505 h 891"/>
                <a:gd name="T56" fmla="*/ 1431 w 2051"/>
                <a:gd name="T57" fmla="*/ 385 h 891"/>
                <a:gd name="T58" fmla="*/ 1487 w 2051"/>
                <a:gd name="T59" fmla="*/ 324 h 891"/>
                <a:gd name="T60" fmla="*/ 1499 w 2051"/>
                <a:gd name="T61" fmla="*/ 311 h 891"/>
                <a:gd name="T62" fmla="*/ 1545 w 2051"/>
                <a:gd name="T63" fmla="*/ 276 h 891"/>
                <a:gd name="T64" fmla="*/ 1573 w 2051"/>
                <a:gd name="T65" fmla="*/ 246 h 891"/>
                <a:gd name="T66" fmla="*/ 1601 w 2051"/>
                <a:gd name="T67" fmla="*/ 225 h 891"/>
                <a:gd name="T68" fmla="*/ 1629 w 2051"/>
                <a:gd name="T69" fmla="*/ 199 h 891"/>
                <a:gd name="T70" fmla="*/ 1657 w 2051"/>
                <a:gd name="T71" fmla="*/ 177 h 891"/>
                <a:gd name="T72" fmla="*/ 1685 w 2051"/>
                <a:gd name="T73" fmla="*/ 156 h 891"/>
                <a:gd name="T74" fmla="*/ 1713 w 2051"/>
                <a:gd name="T75" fmla="*/ 134 h 891"/>
                <a:gd name="T76" fmla="*/ 1726 w 2051"/>
                <a:gd name="T77" fmla="*/ 121 h 891"/>
                <a:gd name="T78" fmla="*/ 1741 w 2051"/>
                <a:gd name="T79" fmla="*/ 108 h 891"/>
                <a:gd name="T80" fmla="*/ 1769 w 2051"/>
                <a:gd name="T81" fmla="*/ 90 h 891"/>
                <a:gd name="T82" fmla="*/ 1782 w 2051"/>
                <a:gd name="T83" fmla="*/ 77 h 891"/>
                <a:gd name="T84" fmla="*/ 1810 w 2051"/>
                <a:gd name="T85" fmla="*/ 60 h 891"/>
                <a:gd name="T86" fmla="*/ 1825 w 2051"/>
                <a:gd name="T87" fmla="*/ 52 h 891"/>
                <a:gd name="T88" fmla="*/ 1853 w 2051"/>
                <a:gd name="T89" fmla="*/ 39 h 891"/>
                <a:gd name="T90" fmla="*/ 1866 w 2051"/>
                <a:gd name="T91" fmla="*/ 34 h 891"/>
                <a:gd name="T92" fmla="*/ 1881 w 2051"/>
                <a:gd name="T93" fmla="*/ 26 h 891"/>
                <a:gd name="T94" fmla="*/ 1894 w 2051"/>
                <a:gd name="T95" fmla="*/ 21 h 891"/>
                <a:gd name="T96" fmla="*/ 1909 w 2051"/>
                <a:gd name="T97" fmla="*/ 17 h 891"/>
                <a:gd name="T98" fmla="*/ 1950 w 2051"/>
                <a:gd name="T99" fmla="*/ 8 h 891"/>
                <a:gd name="T100" fmla="*/ 1993 w 2051"/>
                <a:gd name="T101" fmla="*/ 4 h 891"/>
                <a:gd name="T102" fmla="*/ 2034 w 2051"/>
                <a:gd name="T103" fmla="*/ 0 h 891"/>
                <a:gd name="T104" fmla="*/ 2050 w 2051"/>
                <a:gd name="T105" fmla="*/ 0 h 89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051" h="891">
                  <a:moveTo>
                    <a:pt x="0" y="890"/>
                  </a:moveTo>
                  <a:lnTo>
                    <a:pt x="56" y="886"/>
                  </a:lnTo>
                  <a:lnTo>
                    <a:pt x="140" y="881"/>
                  </a:lnTo>
                  <a:lnTo>
                    <a:pt x="224" y="877"/>
                  </a:lnTo>
                  <a:lnTo>
                    <a:pt x="308" y="873"/>
                  </a:lnTo>
                  <a:lnTo>
                    <a:pt x="392" y="864"/>
                  </a:lnTo>
                  <a:lnTo>
                    <a:pt x="448" y="860"/>
                  </a:lnTo>
                  <a:lnTo>
                    <a:pt x="534" y="851"/>
                  </a:lnTo>
                  <a:lnTo>
                    <a:pt x="600" y="843"/>
                  </a:lnTo>
                  <a:lnTo>
                    <a:pt x="646" y="838"/>
                  </a:lnTo>
                  <a:lnTo>
                    <a:pt x="702" y="830"/>
                  </a:lnTo>
                  <a:lnTo>
                    <a:pt x="743" y="820"/>
                  </a:lnTo>
                  <a:lnTo>
                    <a:pt x="786" y="812"/>
                  </a:lnTo>
                  <a:lnTo>
                    <a:pt x="827" y="803"/>
                  </a:lnTo>
                  <a:lnTo>
                    <a:pt x="870" y="795"/>
                  </a:lnTo>
                  <a:lnTo>
                    <a:pt x="898" y="786"/>
                  </a:lnTo>
                  <a:lnTo>
                    <a:pt x="926" y="777"/>
                  </a:lnTo>
                  <a:lnTo>
                    <a:pt x="939" y="769"/>
                  </a:lnTo>
                  <a:lnTo>
                    <a:pt x="967" y="756"/>
                  </a:lnTo>
                  <a:lnTo>
                    <a:pt x="995" y="739"/>
                  </a:lnTo>
                  <a:lnTo>
                    <a:pt x="1039" y="717"/>
                  </a:lnTo>
                  <a:lnTo>
                    <a:pt x="1079" y="687"/>
                  </a:lnTo>
                  <a:lnTo>
                    <a:pt x="1123" y="660"/>
                  </a:lnTo>
                  <a:lnTo>
                    <a:pt x="1151" y="639"/>
                  </a:lnTo>
                  <a:lnTo>
                    <a:pt x="1191" y="609"/>
                  </a:lnTo>
                  <a:lnTo>
                    <a:pt x="1219" y="579"/>
                  </a:lnTo>
                  <a:lnTo>
                    <a:pt x="1235" y="566"/>
                  </a:lnTo>
                  <a:lnTo>
                    <a:pt x="1303" y="505"/>
                  </a:lnTo>
                  <a:lnTo>
                    <a:pt x="1431" y="385"/>
                  </a:lnTo>
                  <a:lnTo>
                    <a:pt x="1487" y="324"/>
                  </a:lnTo>
                  <a:lnTo>
                    <a:pt x="1499" y="311"/>
                  </a:lnTo>
                  <a:lnTo>
                    <a:pt x="1545" y="276"/>
                  </a:lnTo>
                  <a:lnTo>
                    <a:pt x="1573" y="246"/>
                  </a:lnTo>
                  <a:lnTo>
                    <a:pt x="1601" y="225"/>
                  </a:lnTo>
                  <a:lnTo>
                    <a:pt x="1629" y="199"/>
                  </a:lnTo>
                  <a:lnTo>
                    <a:pt x="1657" y="177"/>
                  </a:lnTo>
                  <a:lnTo>
                    <a:pt x="1685" y="156"/>
                  </a:lnTo>
                  <a:lnTo>
                    <a:pt x="1713" y="134"/>
                  </a:lnTo>
                  <a:lnTo>
                    <a:pt x="1726" y="121"/>
                  </a:lnTo>
                  <a:lnTo>
                    <a:pt x="1741" y="108"/>
                  </a:lnTo>
                  <a:lnTo>
                    <a:pt x="1769" y="90"/>
                  </a:lnTo>
                  <a:lnTo>
                    <a:pt x="1782" y="77"/>
                  </a:lnTo>
                  <a:lnTo>
                    <a:pt x="1810" y="60"/>
                  </a:lnTo>
                  <a:lnTo>
                    <a:pt x="1825" y="52"/>
                  </a:lnTo>
                  <a:lnTo>
                    <a:pt x="1853" y="39"/>
                  </a:lnTo>
                  <a:lnTo>
                    <a:pt x="1866" y="34"/>
                  </a:lnTo>
                  <a:lnTo>
                    <a:pt x="1881" y="26"/>
                  </a:lnTo>
                  <a:lnTo>
                    <a:pt x="1894" y="21"/>
                  </a:lnTo>
                  <a:lnTo>
                    <a:pt x="1909" y="17"/>
                  </a:lnTo>
                  <a:lnTo>
                    <a:pt x="1950" y="8"/>
                  </a:lnTo>
                  <a:lnTo>
                    <a:pt x="1993" y="4"/>
                  </a:lnTo>
                  <a:lnTo>
                    <a:pt x="2034" y="0"/>
                  </a:lnTo>
                  <a:lnTo>
                    <a:pt x="2050" y="0"/>
                  </a:lnTo>
                </a:path>
              </a:pathLst>
            </a:custGeom>
            <a:noFill/>
            <a:ln w="12700"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86754" name="Freeform 1032"/>
            <p:cNvSpPr>
              <a:spLocks/>
            </p:cNvSpPr>
            <p:nvPr/>
          </p:nvSpPr>
          <p:spPr bwMode="auto">
            <a:xfrm>
              <a:off x="3271" y="2107"/>
              <a:ext cx="2037" cy="891"/>
            </a:xfrm>
            <a:custGeom>
              <a:avLst/>
              <a:gdLst>
                <a:gd name="T0" fmla="*/ 2036 w 2037"/>
                <a:gd name="T1" fmla="*/ 890 h 891"/>
                <a:gd name="T2" fmla="*/ 1979 w 2037"/>
                <a:gd name="T3" fmla="*/ 886 h 891"/>
                <a:gd name="T4" fmla="*/ 1895 w 2037"/>
                <a:gd name="T5" fmla="*/ 881 h 891"/>
                <a:gd name="T6" fmla="*/ 1811 w 2037"/>
                <a:gd name="T7" fmla="*/ 877 h 891"/>
                <a:gd name="T8" fmla="*/ 1727 w 2037"/>
                <a:gd name="T9" fmla="*/ 873 h 891"/>
                <a:gd name="T10" fmla="*/ 1643 w 2037"/>
                <a:gd name="T11" fmla="*/ 864 h 891"/>
                <a:gd name="T12" fmla="*/ 1587 w 2037"/>
                <a:gd name="T13" fmla="*/ 860 h 891"/>
                <a:gd name="T14" fmla="*/ 1500 w 2037"/>
                <a:gd name="T15" fmla="*/ 851 h 891"/>
                <a:gd name="T16" fmla="*/ 1432 w 2037"/>
                <a:gd name="T17" fmla="*/ 843 h 891"/>
                <a:gd name="T18" fmla="*/ 1388 w 2037"/>
                <a:gd name="T19" fmla="*/ 838 h 891"/>
                <a:gd name="T20" fmla="*/ 1332 w 2037"/>
                <a:gd name="T21" fmla="*/ 830 h 891"/>
                <a:gd name="T22" fmla="*/ 1291 w 2037"/>
                <a:gd name="T23" fmla="*/ 820 h 891"/>
                <a:gd name="T24" fmla="*/ 1248 w 2037"/>
                <a:gd name="T25" fmla="*/ 812 h 891"/>
                <a:gd name="T26" fmla="*/ 1207 w 2037"/>
                <a:gd name="T27" fmla="*/ 803 h 891"/>
                <a:gd name="T28" fmla="*/ 1164 w 2037"/>
                <a:gd name="T29" fmla="*/ 795 h 891"/>
                <a:gd name="T30" fmla="*/ 1136 w 2037"/>
                <a:gd name="T31" fmla="*/ 786 h 891"/>
                <a:gd name="T32" fmla="*/ 1108 w 2037"/>
                <a:gd name="T33" fmla="*/ 777 h 891"/>
                <a:gd name="T34" fmla="*/ 1095 w 2037"/>
                <a:gd name="T35" fmla="*/ 769 h 891"/>
                <a:gd name="T36" fmla="*/ 1080 w 2037"/>
                <a:gd name="T37" fmla="*/ 760 h 891"/>
                <a:gd name="T38" fmla="*/ 1039 w 2037"/>
                <a:gd name="T39" fmla="*/ 739 h 891"/>
                <a:gd name="T40" fmla="*/ 996 w 2037"/>
                <a:gd name="T41" fmla="*/ 717 h 891"/>
                <a:gd name="T42" fmla="*/ 955 w 2037"/>
                <a:gd name="T43" fmla="*/ 691 h 891"/>
                <a:gd name="T44" fmla="*/ 912 w 2037"/>
                <a:gd name="T45" fmla="*/ 660 h 891"/>
                <a:gd name="T46" fmla="*/ 871 w 2037"/>
                <a:gd name="T47" fmla="*/ 635 h 891"/>
                <a:gd name="T48" fmla="*/ 843 w 2037"/>
                <a:gd name="T49" fmla="*/ 614 h 891"/>
                <a:gd name="T50" fmla="*/ 800 w 2037"/>
                <a:gd name="T51" fmla="*/ 579 h 891"/>
                <a:gd name="T52" fmla="*/ 787 w 2037"/>
                <a:gd name="T53" fmla="*/ 566 h 891"/>
                <a:gd name="T54" fmla="*/ 731 w 2037"/>
                <a:gd name="T55" fmla="*/ 510 h 891"/>
                <a:gd name="T56" fmla="*/ 603 w 2037"/>
                <a:gd name="T57" fmla="*/ 388 h 891"/>
                <a:gd name="T58" fmla="*/ 535 w 2037"/>
                <a:gd name="T59" fmla="*/ 324 h 891"/>
                <a:gd name="T60" fmla="*/ 517 w 2037"/>
                <a:gd name="T61" fmla="*/ 311 h 891"/>
                <a:gd name="T62" fmla="*/ 489 w 2037"/>
                <a:gd name="T63" fmla="*/ 281 h 891"/>
                <a:gd name="T64" fmla="*/ 448 w 2037"/>
                <a:gd name="T65" fmla="*/ 246 h 891"/>
                <a:gd name="T66" fmla="*/ 420 w 2037"/>
                <a:gd name="T67" fmla="*/ 220 h 891"/>
                <a:gd name="T68" fmla="*/ 392 w 2037"/>
                <a:gd name="T69" fmla="*/ 194 h 891"/>
                <a:gd name="T70" fmla="*/ 364 w 2037"/>
                <a:gd name="T71" fmla="*/ 172 h 891"/>
                <a:gd name="T72" fmla="*/ 336 w 2037"/>
                <a:gd name="T73" fmla="*/ 151 h 891"/>
                <a:gd name="T74" fmla="*/ 308 w 2037"/>
                <a:gd name="T75" fmla="*/ 129 h 891"/>
                <a:gd name="T76" fmla="*/ 293 w 2037"/>
                <a:gd name="T77" fmla="*/ 121 h 891"/>
                <a:gd name="T78" fmla="*/ 280 w 2037"/>
                <a:gd name="T79" fmla="*/ 108 h 891"/>
                <a:gd name="T80" fmla="*/ 252 w 2037"/>
                <a:gd name="T81" fmla="*/ 90 h 891"/>
                <a:gd name="T82" fmla="*/ 236 w 2037"/>
                <a:gd name="T83" fmla="*/ 77 h 891"/>
                <a:gd name="T84" fmla="*/ 208 w 2037"/>
                <a:gd name="T85" fmla="*/ 60 h 891"/>
                <a:gd name="T86" fmla="*/ 196 w 2037"/>
                <a:gd name="T87" fmla="*/ 52 h 891"/>
                <a:gd name="T88" fmla="*/ 168 w 2037"/>
                <a:gd name="T89" fmla="*/ 39 h 891"/>
                <a:gd name="T90" fmla="*/ 152 w 2037"/>
                <a:gd name="T91" fmla="*/ 34 h 891"/>
                <a:gd name="T92" fmla="*/ 140 w 2037"/>
                <a:gd name="T93" fmla="*/ 26 h 891"/>
                <a:gd name="T94" fmla="*/ 124 w 2037"/>
                <a:gd name="T95" fmla="*/ 21 h 891"/>
                <a:gd name="T96" fmla="*/ 112 w 2037"/>
                <a:gd name="T97" fmla="*/ 17 h 891"/>
                <a:gd name="T98" fmla="*/ 84 w 2037"/>
                <a:gd name="T99" fmla="*/ 8 h 891"/>
                <a:gd name="T100" fmla="*/ 56 w 2037"/>
                <a:gd name="T101" fmla="*/ 4 h 891"/>
                <a:gd name="T102" fmla="*/ 12 w 2037"/>
                <a:gd name="T103" fmla="*/ 0 h 891"/>
                <a:gd name="T104" fmla="*/ 0 w 2037"/>
                <a:gd name="T105" fmla="*/ 0 h 89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037" h="891">
                  <a:moveTo>
                    <a:pt x="2036" y="890"/>
                  </a:moveTo>
                  <a:lnTo>
                    <a:pt x="1979" y="886"/>
                  </a:lnTo>
                  <a:lnTo>
                    <a:pt x="1895" y="881"/>
                  </a:lnTo>
                  <a:lnTo>
                    <a:pt x="1811" y="877"/>
                  </a:lnTo>
                  <a:lnTo>
                    <a:pt x="1727" y="873"/>
                  </a:lnTo>
                  <a:lnTo>
                    <a:pt x="1643" y="864"/>
                  </a:lnTo>
                  <a:lnTo>
                    <a:pt x="1587" y="860"/>
                  </a:lnTo>
                  <a:lnTo>
                    <a:pt x="1500" y="851"/>
                  </a:lnTo>
                  <a:lnTo>
                    <a:pt x="1432" y="843"/>
                  </a:lnTo>
                  <a:lnTo>
                    <a:pt x="1388" y="838"/>
                  </a:lnTo>
                  <a:lnTo>
                    <a:pt x="1332" y="830"/>
                  </a:lnTo>
                  <a:lnTo>
                    <a:pt x="1291" y="820"/>
                  </a:lnTo>
                  <a:lnTo>
                    <a:pt x="1248" y="812"/>
                  </a:lnTo>
                  <a:lnTo>
                    <a:pt x="1207" y="803"/>
                  </a:lnTo>
                  <a:lnTo>
                    <a:pt x="1164" y="795"/>
                  </a:lnTo>
                  <a:lnTo>
                    <a:pt x="1136" y="786"/>
                  </a:lnTo>
                  <a:lnTo>
                    <a:pt x="1108" y="777"/>
                  </a:lnTo>
                  <a:lnTo>
                    <a:pt x="1095" y="769"/>
                  </a:lnTo>
                  <a:lnTo>
                    <a:pt x="1080" y="760"/>
                  </a:lnTo>
                  <a:lnTo>
                    <a:pt x="1039" y="739"/>
                  </a:lnTo>
                  <a:lnTo>
                    <a:pt x="996" y="717"/>
                  </a:lnTo>
                  <a:lnTo>
                    <a:pt x="955" y="691"/>
                  </a:lnTo>
                  <a:lnTo>
                    <a:pt x="912" y="660"/>
                  </a:lnTo>
                  <a:lnTo>
                    <a:pt x="871" y="635"/>
                  </a:lnTo>
                  <a:lnTo>
                    <a:pt x="843" y="614"/>
                  </a:lnTo>
                  <a:lnTo>
                    <a:pt x="800" y="579"/>
                  </a:lnTo>
                  <a:lnTo>
                    <a:pt x="787" y="566"/>
                  </a:lnTo>
                  <a:lnTo>
                    <a:pt x="731" y="510"/>
                  </a:lnTo>
                  <a:lnTo>
                    <a:pt x="603" y="388"/>
                  </a:lnTo>
                  <a:lnTo>
                    <a:pt x="535" y="324"/>
                  </a:lnTo>
                  <a:lnTo>
                    <a:pt x="517" y="311"/>
                  </a:lnTo>
                  <a:lnTo>
                    <a:pt x="489" y="281"/>
                  </a:lnTo>
                  <a:lnTo>
                    <a:pt x="448" y="246"/>
                  </a:lnTo>
                  <a:lnTo>
                    <a:pt x="420" y="220"/>
                  </a:lnTo>
                  <a:lnTo>
                    <a:pt x="392" y="194"/>
                  </a:lnTo>
                  <a:lnTo>
                    <a:pt x="364" y="172"/>
                  </a:lnTo>
                  <a:lnTo>
                    <a:pt x="336" y="151"/>
                  </a:lnTo>
                  <a:lnTo>
                    <a:pt x="308" y="129"/>
                  </a:lnTo>
                  <a:lnTo>
                    <a:pt x="293" y="121"/>
                  </a:lnTo>
                  <a:lnTo>
                    <a:pt x="280" y="108"/>
                  </a:lnTo>
                  <a:lnTo>
                    <a:pt x="252" y="90"/>
                  </a:lnTo>
                  <a:lnTo>
                    <a:pt x="236" y="77"/>
                  </a:lnTo>
                  <a:lnTo>
                    <a:pt x="208" y="60"/>
                  </a:lnTo>
                  <a:lnTo>
                    <a:pt x="196" y="52"/>
                  </a:lnTo>
                  <a:lnTo>
                    <a:pt x="168" y="39"/>
                  </a:lnTo>
                  <a:lnTo>
                    <a:pt x="152" y="34"/>
                  </a:lnTo>
                  <a:lnTo>
                    <a:pt x="140" y="26"/>
                  </a:lnTo>
                  <a:lnTo>
                    <a:pt x="124" y="21"/>
                  </a:lnTo>
                  <a:lnTo>
                    <a:pt x="112" y="17"/>
                  </a:lnTo>
                  <a:lnTo>
                    <a:pt x="84" y="8"/>
                  </a:lnTo>
                  <a:lnTo>
                    <a:pt x="56" y="4"/>
                  </a:lnTo>
                  <a:lnTo>
                    <a:pt x="12" y="0"/>
                  </a:lnTo>
                  <a:lnTo>
                    <a:pt x="0" y="0"/>
                  </a:lnTo>
                </a:path>
              </a:pathLst>
            </a:custGeom>
            <a:noFill/>
            <a:ln w="12700"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86726" name="Line 1033"/>
          <p:cNvSpPr>
            <a:spLocks noChangeShapeType="1"/>
          </p:cNvSpPr>
          <p:nvPr/>
        </p:nvSpPr>
        <p:spPr bwMode="auto">
          <a:xfrm>
            <a:off x="1547813" y="4938613"/>
            <a:ext cx="70739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27" name="Line 1034"/>
          <p:cNvSpPr>
            <a:spLocks noChangeShapeType="1"/>
          </p:cNvSpPr>
          <p:nvPr/>
        </p:nvSpPr>
        <p:spPr bwMode="auto">
          <a:xfrm>
            <a:off x="5133975" y="3268563"/>
            <a:ext cx="0" cy="18113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28" name="Line 1035"/>
          <p:cNvSpPr>
            <a:spLocks noChangeShapeType="1"/>
          </p:cNvSpPr>
          <p:nvPr/>
        </p:nvSpPr>
        <p:spPr bwMode="auto">
          <a:xfrm>
            <a:off x="5961063" y="4013101"/>
            <a:ext cx="0" cy="1066800"/>
          </a:xfrm>
          <a:prstGeom prst="line">
            <a:avLst/>
          </a:prstGeom>
          <a:noFill/>
          <a:ln w="127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29" name="Line 1036"/>
          <p:cNvSpPr>
            <a:spLocks noChangeShapeType="1"/>
          </p:cNvSpPr>
          <p:nvPr/>
        </p:nvSpPr>
        <p:spPr bwMode="auto">
          <a:xfrm>
            <a:off x="6794500" y="3695601"/>
            <a:ext cx="0" cy="1384300"/>
          </a:xfrm>
          <a:prstGeom prst="line">
            <a:avLst/>
          </a:prstGeom>
          <a:noFill/>
          <a:ln w="127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30" name="Line 1037"/>
          <p:cNvSpPr>
            <a:spLocks noChangeShapeType="1"/>
          </p:cNvSpPr>
          <p:nvPr/>
        </p:nvSpPr>
        <p:spPr bwMode="auto">
          <a:xfrm>
            <a:off x="7624763" y="3268563"/>
            <a:ext cx="0" cy="1811338"/>
          </a:xfrm>
          <a:prstGeom prst="line">
            <a:avLst/>
          </a:prstGeom>
          <a:noFill/>
          <a:ln w="127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31" name="Line 1038"/>
          <p:cNvSpPr>
            <a:spLocks noChangeShapeType="1"/>
          </p:cNvSpPr>
          <p:nvPr/>
        </p:nvSpPr>
        <p:spPr bwMode="auto">
          <a:xfrm>
            <a:off x="3470275" y="3695601"/>
            <a:ext cx="0" cy="1384300"/>
          </a:xfrm>
          <a:prstGeom prst="line">
            <a:avLst/>
          </a:prstGeom>
          <a:noFill/>
          <a:ln w="127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32" name="Line 1039"/>
          <p:cNvSpPr>
            <a:spLocks noChangeShapeType="1"/>
          </p:cNvSpPr>
          <p:nvPr/>
        </p:nvSpPr>
        <p:spPr bwMode="auto">
          <a:xfrm>
            <a:off x="4298950" y="4013101"/>
            <a:ext cx="0" cy="1066800"/>
          </a:xfrm>
          <a:prstGeom prst="line">
            <a:avLst/>
          </a:prstGeom>
          <a:noFill/>
          <a:ln w="127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33" name="Line 1040"/>
          <p:cNvSpPr>
            <a:spLocks noChangeShapeType="1"/>
          </p:cNvSpPr>
          <p:nvPr/>
        </p:nvSpPr>
        <p:spPr bwMode="auto">
          <a:xfrm>
            <a:off x="2636838" y="3268563"/>
            <a:ext cx="0" cy="1811338"/>
          </a:xfrm>
          <a:prstGeom prst="line">
            <a:avLst/>
          </a:prstGeom>
          <a:noFill/>
          <a:ln w="127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34" name="Rectangle 1041"/>
          <p:cNvSpPr>
            <a:spLocks noChangeArrowheads="1"/>
          </p:cNvSpPr>
          <p:nvPr/>
        </p:nvSpPr>
        <p:spPr bwMode="auto">
          <a:xfrm>
            <a:off x="4693543" y="5033863"/>
            <a:ext cx="892873" cy="262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r>
              <a:rPr lang="en-US" altLang="ko-KR" sz="1100" dirty="0" err="1">
                <a:latin typeface="arial" pitchFamily="34" charset="0"/>
                <a:ea typeface="맑은 고딕" pitchFamily="50" charset="-127"/>
              </a:rPr>
              <a:t>Trung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bình</a:t>
            </a:r>
            <a:endParaRPr lang="ko-KR" altLang="en-US" sz="1100" dirty="0">
              <a:latin typeface="arial" pitchFamily="34" charset="0"/>
              <a:ea typeface="맑은 고딕" pitchFamily="50" charset="-127"/>
            </a:endParaRPr>
          </a:p>
        </p:txBody>
      </p:sp>
      <p:sp>
        <p:nvSpPr>
          <p:cNvPr id="286735" name="Line 1042"/>
          <p:cNvSpPr>
            <a:spLocks noChangeShapeType="1"/>
          </p:cNvSpPr>
          <p:nvPr/>
        </p:nvSpPr>
        <p:spPr bwMode="auto">
          <a:xfrm>
            <a:off x="5135563" y="4346476"/>
            <a:ext cx="8255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36" name="Rectangle 1043"/>
          <p:cNvSpPr>
            <a:spLocks noChangeArrowheads="1"/>
          </p:cNvSpPr>
          <p:nvPr/>
        </p:nvSpPr>
        <p:spPr bwMode="auto">
          <a:xfrm>
            <a:off x="5169024" y="4341713"/>
            <a:ext cx="792088" cy="431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nchor="ctr">
            <a:spAutoFit/>
          </a:bodyPr>
          <a:lstStyle/>
          <a:p>
            <a:pPr algn="ctr" defTabSz="762000"/>
            <a:r>
              <a:rPr lang="en-US" altLang="ko-KR" sz="1100" dirty="0" err="1">
                <a:latin typeface="arial" pitchFamily="34" charset="0"/>
                <a:ea typeface="맑은 고딕" pitchFamily="50" charset="-127"/>
              </a:rPr>
              <a:t>Độ</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lệch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chuẩn</a:t>
            </a:r>
            <a:endParaRPr lang="ko-KR" altLang="en-US" sz="1100" dirty="0">
              <a:latin typeface="arial" pitchFamily="34" charset="0"/>
              <a:ea typeface="맑은 고딕" pitchFamily="50" charset="-127"/>
            </a:endParaRPr>
          </a:p>
        </p:txBody>
      </p:sp>
      <p:sp>
        <p:nvSpPr>
          <p:cNvPr id="286737" name="Line 1044"/>
          <p:cNvSpPr>
            <a:spLocks noChangeShapeType="1"/>
          </p:cNvSpPr>
          <p:nvPr/>
        </p:nvSpPr>
        <p:spPr bwMode="auto">
          <a:xfrm>
            <a:off x="4327525" y="4167088"/>
            <a:ext cx="1611313"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38" name="Rectangle 1045"/>
          <p:cNvSpPr>
            <a:spLocks noChangeArrowheads="1"/>
          </p:cNvSpPr>
          <p:nvPr/>
        </p:nvSpPr>
        <p:spPr bwMode="auto">
          <a:xfrm>
            <a:off x="4703763" y="3984526"/>
            <a:ext cx="500062"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arial" pitchFamily="34" charset="0"/>
                <a:ea typeface="맑은 고딕" pitchFamily="50" charset="-127"/>
              </a:rPr>
              <a:t>68%</a:t>
            </a:r>
          </a:p>
        </p:txBody>
      </p:sp>
      <p:sp>
        <p:nvSpPr>
          <p:cNvPr id="286739" name="Line 1046"/>
          <p:cNvSpPr>
            <a:spLocks noChangeShapeType="1"/>
          </p:cNvSpPr>
          <p:nvPr/>
        </p:nvSpPr>
        <p:spPr bwMode="auto">
          <a:xfrm>
            <a:off x="3495675" y="3794026"/>
            <a:ext cx="3273425"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40" name="Rectangle 1047"/>
          <p:cNvSpPr>
            <a:spLocks noChangeArrowheads="1"/>
          </p:cNvSpPr>
          <p:nvPr/>
        </p:nvSpPr>
        <p:spPr bwMode="auto">
          <a:xfrm>
            <a:off x="4694238" y="3578126"/>
            <a:ext cx="566737"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1200" dirty="0">
                <a:latin typeface="arial" pitchFamily="34" charset="0"/>
                <a:ea typeface="맑은 고딕" pitchFamily="50" charset="-127"/>
              </a:rPr>
              <a:t>95%</a:t>
            </a:r>
          </a:p>
        </p:txBody>
      </p:sp>
      <p:sp>
        <p:nvSpPr>
          <p:cNvPr id="286741" name="Line 1048"/>
          <p:cNvSpPr>
            <a:spLocks noChangeShapeType="1"/>
          </p:cNvSpPr>
          <p:nvPr/>
        </p:nvSpPr>
        <p:spPr bwMode="auto">
          <a:xfrm>
            <a:off x="2687638" y="3433663"/>
            <a:ext cx="4892675"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6742" name="Rectangle 1049"/>
          <p:cNvSpPr>
            <a:spLocks noChangeArrowheads="1"/>
          </p:cNvSpPr>
          <p:nvPr/>
        </p:nvSpPr>
        <p:spPr bwMode="auto">
          <a:xfrm>
            <a:off x="4746625" y="3044726"/>
            <a:ext cx="790575"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1200" dirty="0">
                <a:latin typeface="arial" pitchFamily="34" charset="0"/>
                <a:ea typeface="맑은 고딕" pitchFamily="50" charset="-127"/>
              </a:rPr>
              <a:t>99.73%</a:t>
            </a:r>
          </a:p>
        </p:txBody>
      </p:sp>
      <p:sp>
        <p:nvSpPr>
          <p:cNvPr id="286743" name="Rectangle 1050"/>
          <p:cNvSpPr>
            <a:spLocks noChangeArrowheads="1"/>
          </p:cNvSpPr>
          <p:nvPr/>
        </p:nvSpPr>
        <p:spPr bwMode="auto">
          <a:xfrm>
            <a:off x="1128713" y="5559326"/>
            <a:ext cx="6946900" cy="6469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phân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phối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chuẩn</a:t>
            </a:r>
            <a:r>
              <a:rPr lang="en-US" altLang="ko-KR" sz="1200" dirty="0">
                <a:latin typeface="arial" pitchFamily="34" charset="0"/>
                <a:ea typeface="맑은 고딕" pitchFamily="50" charset="-127"/>
              </a:rPr>
              <a:t>, 99.73% </a:t>
            </a:r>
            <a:r>
              <a:rPr lang="en-US" altLang="ko-KR" sz="1200" dirty="0" err="1">
                <a:latin typeface="arial" pitchFamily="34" charset="0"/>
                <a:ea typeface="맑은 고딕" pitchFamily="50" charset="-127"/>
              </a:rPr>
              <a:t>của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toàn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bộ</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vùng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phân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phối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nằm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vùng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±3σ.</a:t>
            </a:r>
          </a:p>
          <a:p>
            <a:pPr defTabSz="762000"/>
            <a:r>
              <a:rPr lang="en-US" altLang="ko-KR" sz="1200" dirty="0">
                <a:latin typeface="arial" pitchFamily="34" charset="0"/>
                <a:ea typeface="맑은 고딕" pitchFamily="50" charset="-127"/>
              </a:rPr>
              <a:t>    Do </a:t>
            </a:r>
            <a:r>
              <a:rPr lang="en-US" altLang="ko-KR" sz="1200" dirty="0" err="1">
                <a:latin typeface="arial" pitchFamily="34" charset="0"/>
                <a:ea typeface="맑은 고딕" pitchFamily="50" charset="-127"/>
              </a:rPr>
              <a:t>đó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định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trị</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trung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độ</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lệch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chuẩn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thì</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chúng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ước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định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a:t>
            </a:r>
          </a:p>
        </p:txBody>
      </p:sp>
      <p:sp>
        <p:nvSpPr>
          <p:cNvPr id="286744" name="Text Box 1057"/>
          <p:cNvSpPr txBox="1">
            <a:spLocks noChangeArrowheads="1"/>
          </p:cNvSpPr>
          <p:nvPr/>
        </p:nvSpPr>
        <p:spPr bwMode="auto">
          <a:xfrm>
            <a:off x="482600" y="1016000"/>
            <a:ext cx="52705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1) “</a:t>
            </a:r>
            <a:r>
              <a:rPr lang="en-US" altLang="ko-KR" sz="1400" b="1" dirty="0" err="1">
                <a:latin typeface="arial" pitchFamily="34" charset="0"/>
                <a:ea typeface="맑은 고딕" pitchFamily="50" charset="-127"/>
              </a:rPr>
              <a:t>Năng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lực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quá</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trình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gì</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86745" name="Text Box 1058"/>
          <p:cNvSpPr txBox="1">
            <a:spLocks noChangeArrowheads="1"/>
          </p:cNvSpPr>
          <p:nvPr/>
        </p:nvSpPr>
        <p:spPr bwMode="auto">
          <a:xfrm>
            <a:off x="727075" y="1427163"/>
            <a:ext cx="2635956"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Định</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nghĩa</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năng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lực</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quá</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trình</a:t>
            </a:r>
            <a:r>
              <a:rPr lang="en-US" altLang="ko-KR" sz="1200" b="1" dirty="0">
                <a:latin typeface="arial" pitchFamily="34" charset="0"/>
                <a:ea typeface="맑은 고딕" pitchFamily="50" charset="-127"/>
              </a:rPr>
              <a:t>:</a:t>
            </a:r>
            <a:endParaRPr lang="ko-KR" altLang="en-US" sz="1200" b="1" dirty="0">
              <a:latin typeface="arial" pitchFamily="34" charset="0"/>
              <a:ea typeface="맑은 고딕" pitchFamily="50" charset="-127"/>
            </a:endParaRPr>
          </a:p>
        </p:txBody>
      </p:sp>
      <p:sp>
        <p:nvSpPr>
          <p:cNvPr id="286746" name="Text Box 1062"/>
          <p:cNvSpPr txBox="1">
            <a:spLocks noChangeArrowheads="1"/>
          </p:cNvSpPr>
          <p:nvPr/>
        </p:nvSpPr>
        <p:spPr bwMode="auto">
          <a:xfrm>
            <a:off x="5753100" y="4992588"/>
            <a:ext cx="3642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1σ</a:t>
            </a:r>
          </a:p>
        </p:txBody>
      </p:sp>
      <p:sp>
        <p:nvSpPr>
          <p:cNvPr id="286747" name="Text Box 1063"/>
          <p:cNvSpPr txBox="1">
            <a:spLocks noChangeArrowheads="1"/>
          </p:cNvSpPr>
          <p:nvPr/>
        </p:nvSpPr>
        <p:spPr bwMode="auto">
          <a:xfrm>
            <a:off x="6623050" y="4992588"/>
            <a:ext cx="3642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2σ</a:t>
            </a:r>
          </a:p>
        </p:txBody>
      </p:sp>
      <p:sp>
        <p:nvSpPr>
          <p:cNvPr id="286748" name="Text Box 1064"/>
          <p:cNvSpPr txBox="1">
            <a:spLocks noChangeArrowheads="1"/>
          </p:cNvSpPr>
          <p:nvPr/>
        </p:nvSpPr>
        <p:spPr bwMode="auto">
          <a:xfrm>
            <a:off x="7446963" y="4992588"/>
            <a:ext cx="3642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3σ</a:t>
            </a:r>
          </a:p>
        </p:txBody>
      </p:sp>
      <p:sp>
        <p:nvSpPr>
          <p:cNvPr id="286749" name="Text Box 1065"/>
          <p:cNvSpPr txBox="1">
            <a:spLocks noChangeArrowheads="1"/>
          </p:cNvSpPr>
          <p:nvPr/>
        </p:nvSpPr>
        <p:spPr bwMode="auto">
          <a:xfrm>
            <a:off x="2387600" y="4992588"/>
            <a:ext cx="41549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-3σ</a:t>
            </a:r>
          </a:p>
        </p:txBody>
      </p:sp>
      <p:sp>
        <p:nvSpPr>
          <p:cNvPr id="286750" name="Text Box 1066"/>
          <p:cNvSpPr txBox="1">
            <a:spLocks noChangeArrowheads="1"/>
          </p:cNvSpPr>
          <p:nvPr/>
        </p:nvSpPr>
        <p:spPr bwMode="auto">
          <a:xfrm>
            <a:off x="3257550" y="4992588"/>
            <a:ext cx="41549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-2σ</a:t>
            </a:r>
          </a:p>
        </p:txBody>
      </p:sp>
      <p:sp>
        <p:nvSpPr>
          <p:cNvPr id="286751" name="Text Box 1067"/>
          <p:cNvSpPr txBox="1">
            <a:spLocks noChangeArrowheads="1"/>
          </p:cNvSpPr>
          <p:nvPr/>
        </p:nvSpPr>
        <p:spPr bwMode="auto">
          <a:xfrm>
            <a:off x="4081463" y="4992588"/>
            <a:ext cx="41549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-1σ</a:t>
            </a:r>
          </a:p>
        </p:txBody>
      </p:sp>
      <p:sp>
        <p:nvSpPr>
          <p:cNvPr id="286752"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arial" pitchFamily="34" charset="0"/>
                <a:ea typeface="맑은 고딕" pitchFamily="50" charset="-127"/>
              </a:rPr>
              <a:t> 2.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218</a:t>
            </a:fld>
            <a:endParaRPr lang="ko-KR" altLang="en-US" dirty="0"/>
          </a:p>
        </p:txBody>
      </p:sp>
    </p:spTree>
    <p:extLst>
      <p:ext uri="{BB962C8B-B14F-4D97-AF65-F5344CB8AC3E}">
        <p14:creationId xmlns:p14="http://schemas.microsoft.com/office/powerpoint/2010/main" val="4039731496"/>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Rectangle 1027"/>
          <p:cNvSpPr>
            <a:spLocks noChangeArrowheads="1"/>
          </p:cNvSpPr>
          <p:nvPr/>
        </p:nvSpPr>
        <p:spPr bwMode="auto">
          <a:xfrm>
            <a:off x="812354" y="1436688"/>
            <a:ext cx="8461126"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marL="171450" indent="-171450">
              <a:spcBef>
                <a:spcPct val="50000"/>
              </a:spcBef>
              <a:buFont typeface="Arial" pitchFamily="34" charset="0"/>
              <a:buChar char="•"/>
              <a:defRPr/>
            </a:pPr>
            <a:r>
              <a:rPr lang="en-US" altLang="ko-KR" sz="1200" dirty="0" err="1">
                <a:latin typeface="arial" pitchFamily="34" charset="0"/>
                <a:ea typeface="맑은 고딕" pitchFamily="50" charset="-127"/>
              </a:rPr>
              <a:t>Là</a:t>
            </a:r>
            <a:r>
              <a:rPr lang="en-US" altLang="ko-KR" sz="1200" dirty="0">
                <a:latin typeface="arial" pitchFamily="34" charset="0"/>
                <a:ea typeface="맑은 고딕" pitchFamily="50" charset="-127"/>
              </a:rPr>
              <a:t> con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diễn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giải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hoạt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động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của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so </a:t>
            </a:r>
            <a:r>
              <a:rPr lang="en-US" altLang="ko-KR" sz="1200" dirty="0" err="1">
                <a:latin typeface="arial" pitchFamily="34" charset="0"/>
                <a:ea typeface="맑은 고딕" pitchFamily="50" charset="-127"/>
              </a:rPr>
              <a:t>sánh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tiêu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chuẩn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cụ</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a:t>
            </a:r>
            <a:endParaRPr lang="ko-KR" altLang="en-US" sz="1200" dirty="0">
              <a:latin typeface="arial" pitchFamily="34" charset="0"/>
              <a:ea typeface="맑은 고딕" pitchFamily="50" charset="-127"/>
            </a:endParaRPr>
          </a:p>
        </p:txBody>
      </p:sp>
      <p:sp>
        <p:nvSpPr>
          <p:cNvPr id="287747" name="Text Box 1058"/>
          <p:cNvSpPr txBox="1">
            <a:spLocks noChangeArrowheads="1"/>
          </p:cNvSpPr>
          <p:nvPr/>
        </p:nvSpPr>
        <p:spPr bwMode="auto">
          <a:xfrm>
            <a:off x="727075" y="1052513"/>
            <a:ext cx="2246426"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Chỉ</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số</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năng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lực</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quá</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trình</a:t>
            </a:r>
            <a:endParaRPr lang="ko-KR" altLang="en-US" sz="1200" b="1" dirty="0">
              <a:latin typeface="arial" pitchFamily="34" charset="0"/>
              <a:ea typeface="맑은 고딕" pitchFamily="50" charset="-127"/>
            </a:endParaRPr>
          </a:p>
        </p:txBody>
      </p:sp>
      <p:sp>
        <p:nvSpPr>
          <p:cNvPr id="287748" name="Rectangle 1027"/>
          <p:cNvSpPr>
            <a:spLocks noChangeArrowheads="1"/>
          </p:cNvSpPr>
          <p:nvPr/>
        </p:nvSpPr>
        <p:spPr bwMode="auto">
          <a:xfrm>
            <a:off x="812354" y="2587948"/>
            <a:ext cx="7993260"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marL="171450" indent="-171450">
              <a:lnSpc>
                <a:spcPct val="80000"/>
              </a:lnSpc>
              <a:spcBef>
                <a:spcPct val="50000"/>
              </a:spcBef>
              <a:buFont typeface="Arial" pitchFamily="34" charset="0"/>
              <a:buChar char="•"/>
            </a:pPr>
            <a:r>
              <a:rPr lang="en-US" altLang="ko-KR" sz="1200" dirty="0" err="1">
                <a:latin typeface="arial" pitchFamily="34" charset="0"/>
                <a:ea typeface="맑은 고딕" pitchFamily="50" charset="-127"/>
              </a:rPr>
              <a:t>Những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chỉ</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truyền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thống</a:t>
            </a:r>
            <a:r>
              <a:rPr lang="en-US" altLang="ko-KR" sz="1200" dirty="0">
                <a:latin typeface="arial" pitchFamily="34" charset="0"/>
                <a:ea typeface="맑은 고딕" pitchFamily="50" charset="-127"/>
              </a:rPr>
              <a:t>: Cp, Cpk, Pp, Ppk</a:t>
            </a:r>
          </a:p>
          <a:p>
            <a:pPr marL="171450" indent="-171450">
              <a:lnSpc>
                <a:spcPct val="80000"/>
              </a:lnSpc>
              <a:spcBef>
                <a:spcPct val="50000"/>
              </a:spcBef>
              <a:buFont typeface="Arial" pitchFamily="34" charset="0"/>
              <a:buChar char="•"/>
            </a:pPr>
            <a:r>
              <a:rPr lang="en-US" altLang="ko-KR" sz="1200" dirty="0" err="1">
                <a:latin typeface="arial" pitchFamily="34" charset="0"/>
                <a:ea typeface="맑은 고딕" pitchFamily="50" charset="-127"/>
              </a:rPr>
              <a:t>Chỉ</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theo</a:t>
            </a:r>
            <a:r>
              <a:rPr lang="en-US" altLang="ko-KR" sz="1200" dirty="0">
                <a:latin typeface="arial" pitchFamily="34" charset="0"/>
                <a:ea typeface="맑은 고딕" pitchFamily="50" charset="-127"/>
              </a:rPr>
              <a:t> Six Sigma : Zst, Zlt,  Z Bench</a:t>
            </a:r>
          </a:p>
        </p:txBody>
      </p:sp>
      <p:sp>
        <p:nvSpPr>
          <p:cNvPr id="287749" name="Text Box 1058"/>
          <p:cNvSpPr txBox="1">
            <a:spLocks noChangeArrowheads="1"/>
          </p:cNvSpPr>
          <p:nvPr/>
        </p:nvSpPr>
        <p:spPr bwMode="auto">
          <a:xfrm>
            <a:off x="727075" y="2205360"/>
            <a:ext cx="2892436"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Các</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loại</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chỉ</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số</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năng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lực</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quá</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trình</a:t>
            </a:r>
            <a:endParaRPr lang="ko-KR" altLang="en-US" sz="1200" b="1" dirty="0">
              <a:latin typeface="arial" pitchFamily="34" charset="0"/>
              <a:ea typeface="맑은 고딕" pitchFamily="50" charset="-127"/>
            </a:endParaRPr>
          </a:p>
        </p:txBody>
      </p:sp>
      <p:sp>
        <p:nvSpPr>
          <p:cNvPr id="287750" name="Text Box 11"/>
          <p:cNvSpPr txBox="1">
            <a:spLocks noChangeArrowheads="1"/>
          </p:cNvSpPr>
          <p:nvPr/>
        </p:nvSpPr>
        <p:spPr bwMode="auto">
          <a:xfrm>
            <a:off x="776288" y="3390900"/>
            <a:ext cx="3386161"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Tại</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sao</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cần</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đánh</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giá</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năng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lực</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quá</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trình</a:t>
            </a:r>
            <a:r>
              <a:rPr lang="en-US" altLang="ko-KR" sz="1200" b="1" dirty="0">
                <a:latin typeface="arial" pitchFamily="34" charset="0"/>
                <a:ea typeface="맑은 고딕" pitchFamily="50" charset="-127"/>
              </a:rPr>
              <a:t>?</a:t>
            </a:r>
          </a:p>
        </p:txBody>
      </p:sp>
      <p:grpSp>
        <p:nvGrpSpPr>
          <p:cNvPr id="3" name="Group 23"/>
          <p:cNvGrpSpPr>
            <a:grpSpLocks/>
          </p:cNvGrpSpPr>
          <p:nvPr/>
        </p:nvGrpSpPr>
        <p:grpSpPr bwMode="auto">
          <a:xfrm>
            <a:off x="1028497" y="3953545"/>
            <a:ext cx="7740633" cy="1419671"/>
            <a:chOff x="921" y="1616"/>
            <a:chExt cx="4876" cy="985"/>
          </a:xfrm>
          <a:noFill/>
        </p:grpSpPr>
        <p:sp>
          <p:nvSpPr>
            <p:cNvPr id="39" name="Line 19"/>
            <p:cNvSpPr>
              <a:spLocks noChangeShapeType="1"/>
            </p:cNvSpPr>
            <p:nvPr/>
          </p:nvSpPr>
          <p:spPr bwMode="auto">
            <a:xfrm>
              <a:off x="1986" y="2069"/>
              <a:ext cx="227" cy="0"/>
            </a:xfrm>
            <a:prstGeom prst="line">
              <a:avLst/>
            </a:prstGeom>
            <a:grpFill/>
            <a:ln w="76200" cmpd="tri">
              <a:solidFill>
                <a:srgbClr val="C0C0C0"/>
              </a:solidFill>
              <a:round/>
              <a:headEnd/>
              <a:tailEnd/>
            </a:ln>
          </p:spPr>
          <p:txBody>
            <a:bodyPr wrap="none" anchor="ctr"/>
            <a:lstStyle/>
            <a:p>
              <a:pPr>
                <a:defRPr/>
              </a:pPr>
              <a:endParaRPr lang="ko-KR" altLang="en-US" sz="1600" dirty="0"/>
            </a:p>
          </p:txBody>
        </p:sp>
        <p:sp>
          <p:nvSpPr>
            <p:cNvPr id="40" name="Line 20"/>
            <p:cNvSpPr>
              <a:spLocks noChangeShapeType="1"/>
            </p:cNvSpPr>
            <p:nvPr/>
          </p:nvSpPr>
          <p:spPr bwMode="auto">
            <a:xfrm>
              <a:off x="3243" y="2069"/>
              <a:ext cx="227" cy="0"/>
            </a:xfrm>
            <a:prstGeom prst="line">
              <a:avLst/>
            </a:prstGeom>
            <a:grpFill/>
            <a:ln w="76200" cmpd="tri">
              <a:solidFill>
                <a:srgbClr val="C0C0C0"/>
              </a:solidFill>
              <a:round/>
              <a:headEnd/>
              <a:tailEnd/>
            </a:ln>
          </p:spPr>
          <p:txBody>
            <a:bodyPr wrap="none" anchor="ctr"/>
            <a:lstStyle/>
            <a:p>
              <a:pPr>
                <a:defRPr/>
              </a:pPr>
              <a:endParaRPr lang="ko-KR" altLang="en-US" sz="1600" dirty="0"/>
            </a:p>
          </p:txBody>
        </p:sp>
        <p:sp>
          <p:nvSpPr>
            <p:cNvPr id="41" name="Line 21"/>
            <p:cNvSpPr>
              <a:spLocks noChangeShapeType="1"/>
            </p:cNvSpPr>
            <p:nvPr/>
          </p:nvSpPr>
          <p:spPr bwMode="auto">
            <a:xfrm>
              <a:off x="4529" y="2069"/>
              <a:ext cx="227" cy="0"/>
            </a:xfrm>
            <a:prstGeom prst="line">
              <a:avLst/>
            </a:prstGeom>
            <a:grpFill/>
            <a:ln w="76200" cmpd="tri">
              <a:solidFill>
                <a:srgbClr val="C0C0C0"/>
              </a:solidFill>
              <a:round/>
              <a:headEnd/>
              <a:tailEnd/>
            </a:ln>
          </p:spPr>
          <p:txBody>
            <a:bodyPr wrap="none" anchor="ctr"/>
            <a:lstStyle/>
            <a:p>
              <a:pPr>
                <a:defRPr/>
              </a:pPr>
              <a:endParaRPr lang="ko-KR" altLang="en-US" sz="1600" dirty="0"/>
            </a:p>
          </p:txBody>
        </p:sp>
        <p:sp>
          <p:nvSpPr>
            <p:cNvPr id="42" name="AutoShape 11"/>
            <p:cNvSpPr>
              <a:spLocks noChangeArrowheads="1"/>
            </p:cNvSpPr>
            <p:nvPr/>
          </p:nvSpPr>
          <p:spPr bwMode="auto">
            <a:xfrm>
              <a:off x="2199" y="1616"/>
              <a:ext cx="1042" cy="985"/>
            </a:xfrm>
            <a:prstGeom prst="roundRect">
              <a:avLst>
                <a:gd name="adj" fmla="val 5000"/>
              </a:avLst>
            </a:prstGeom>
            <a:grpFill/>
            <a:ln w="76200" cmpd="tri" algn="ctr">
              <a:solidFill>
                <a:srgbClr val="C0C0C0"/>
              </a:solidFill>
              <a:round/>
              <a:headEnd/>
              <a:tailEnd/>
            </a:ln>
          </p:spPr>
          <p:txBody>
            <a:bodyPr wrap="none" anchor="ctr"/>
            <a:lstStyle/>
            <a:p>
              <a:pPr>
                <a:defRPr/>
              </a:pPr>
              <a:endParaRPr lang="ko-KR" altLang="ko-KR" dirty="0"/>
            </a:p>
          </p:txBody>
        </p:sp>
        <p:sp>
          <p:nvSpPr>
            <p:cNvPr id="43" name="AutoShape 12"/>
            <p:cNvSpPr>
              <a:spLocks noChangeArrowheads="1"/>
            </p:cNvSpPr>
            <p:nvPr/>
          </p:nvSpPr>
          <p:spPr bwMode="auto">
            <a:xfrm>
              <a:off x="921" y="1616"/>
              <a:ext cx="1043" cy="985"/>
            </a:xfrm>
            <a:prstGeom prst="roundRect">
              <a:avLst>
                <a:gd name="adj" fmla="val 7282"/>
              </a:avLst>
            </a:prstGeom>
            <a:grpFill/>
            <a:ln w="76200" cmpd="tri" algn="ctr">
              <a:solidFill>
                <a:srgbClr val="C0C0C0"/>
              </a:solidFill>
              <a:round/>
              <a:headEnd/>
              <a:tailEnd/>
            </a:ln>
          </p:spPr>
          <p:txBody>
            <a:bodyPr wrap="none" anchor="ctr"/>
            <a:lstStyle/>
            <a:p>
              <a:pPr>
                <a:defRPr/>
              </a:pPr>
              <a:endParaRPr lang="ko-KR" altLang="ko-KR" dirty="0"/>
            </a:p>
          </p:txBody>
        </p:sp>
        <p:sp>
          <p:nvSpPr>
            <p:cNvPr id="44" name="AutoShape 13"/>
            <p:cNvSpPr>
              <a:spLocks noChangeArrowheads="1"/>
            </p:cNvSpPr>
            <p:nvPr/>
          </p:nvSpPr>
          <p:spPr bwMode="auto">
            <a:xfrm>
              <a:off x="4754" y="1616"/>
              <a:ext cx="1042" cy="985"/>
            </a:xfrm>
            <a:prstGeom prst="roundRect">
              <a:avLst>
                <a:gd name="adj" fmla="val 5000"/>
              </a:avLst>
            </a:prstGeom>
            <a:grpFill/>
            <a:ln w="76200" cmpd="tri" algn="ctr">
              <a:solidFill>
                <a:srgbClr val="C0C0C0"/>
              </a:solidFill>
              <a:round/>
              <a:headEnd/>
              <a:tailEnd/>
            </a:ln>
          </p:spPr>
          <p:txBody>
            <a:bodyPr wrap="none" anchor="ctr"/>
            <a:lstStyle/>
            <a:p>
              <a:pPr>
                <a:defRPr/>
              </a:pPr>
              <a:endParaRPr lang="ko-KR" altLang="ko-KR" dirty="0"/>
            </a:p>
          </p:txBody>
        </p:sp>
        <p:sp>
          <p:nvSpPr>
            <p:cNvPr id="45" name="AutoShape 14"/>
            <p:cNvSpPr>
              <a:spLocks noChangeArrowheads="1"/>
            </p:cNvSpPr>
            <p:nvPr/>
          </p:nvSpPr>
          <p:spPr bwMode="auto">
            <a:xfrm>
              <a:off x="3476" y="1616"/>
              <a:ext cx="1043" cy="985"/>
            </a:xfrm>
            <a:prstGeom prst="roundRect">
              <a:avLst>
                <a:gd name="adj" fmla="val 7282"/>
              </a:avLst>
            </a:prstGeom>
            <a:grpFill/>
            <a:ln w="76200" cmpd="tri" algn="ctr">
              <a:solidFill>
                <a:srgbClr val="C0C0C0"/>
              </a:solidFill>
              <a:round/>
              <a:headEnd/>
              <a:tailEnd/>
            </a:ln>
          </p:spPr>
          <p:txBody>
            <a:bodyPr wrap="none" anchor="ctr"/>
            <a:lstStyle/>
            <a:p>
              <a:pPr>
                <a:defRPr/>
              </a:pPr>
              <a:endParaRPr lang="ko-KR" altLang="ko-KR" dirty="0"/>
            </a:p>
          </p:txBody>
        </p:sp>
        <p:sp>
          <p:nvSpPr>
            <p:cNvPr id="46" name="Text Box 7"/>
            <p:cNvSpPr txBox="1">
              <a:spLocks noChangeArrowheads="1"/>
            </p:cNvSpPr>
            <p:nvPr/>
          </p:nvSpPr>
          <p:spPr bwMode="auto">
            <a:xfrm>
              <a:off x="1025" y="1767"/>
              <a:ext cx="838" cy="651"/>
            </a:xfrm>
            <a:prstGeom prst="rect">
              <a:avLst/>
            </a:prstGeom>
            <a:grpFill/>
            <a:ln>
              <a:noFill/>
            </a:ln>
            <a:extLst>
              <a:ext uri="{91240B29-F687-4F45-9708-019B960494DF}">
                <a14:hiddenLine xmlns:a14="http://schemas.microsoft.com/office/drawing/2010/main" w="12700">
                  <a:solidFill>
                    <a:srgbClr val="000000"/>
                  </a:solidFill>
                  <a:miter lim="800000"/>
                  <a:headEnd/>
                  <a:tailEnd/>
                </a14:hiddenLine>
              </a:ext>
            </a:extLst>
          </p:spPr>
          <p:txBody>
            <a:bodyPr lIns="91434" tIns="45717" rIns="91434" bIns="45717" anchor="ctr">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latinLnBrk="0" hangingPunct="1">
                <a:defRPr/>
              </a:pPr>
              <a:r>
                <a:rPr lang="en-US" altLang="ko-KR" sz="1100" b="1" baseline="0" dirty="0" err="1">
                  <a:latin typeface="arial" pitchFamily="34" charset="0"/>
                </a:rPr>
                <a:t>Định</a:t>
              </a:r>
              <a:r>
                <a:rPr lang="en-US" altLang="ko-KR" sz="1100" b="1" baseline="0" dirty="0">
                  <a:latin typeface="arial" pitchFamily="34" charset="0"/>
                </a:rPr>
                <a:t> </a:t>
              </a:r>
              <a:r>
                <a:rPr lang="en-US" altLang="ko-KR" sz="1100" b="1" baseline="0" dirty="0" err="1">
                  <a:latin typeface="arial" pitchFamily="34" charset="0"/>
                </a:rPr>
                <a:t>lượng</a:t>
              </a:r>
              <a:r>
                <a:rPr lang="en-US" altLang="ko-KR" sz="1100" b="1" baseline="0" dirty="0">
                  <a:latin typeface="arial" pitchFamily="34" charset="0"/>
                </a:rPr>
                <a:t> </a:t>
              </a:r>
              <a:r>
                <a:rPr lang="en-US" altLang="ko-KR" sz="1100" b="1" baseline="0" dirty="0" err="1">
                  <a:latin typeface="arial" pitchFamily="34" charset="0"/>
                </a:rPr>
                <a:t>được</a:t>
              </a:r>
              <a:r>
                <a:rPr lang="en-US" altLang="ko-KR" sz="1100" b="1" baseline="0" dirty="0">
                  <a:latin typeface="arial" pitchFamily="34" charset="0"/>
                </a:rPr>
                <a:t> </a:t>
              </a:r>
              <a:r>
                <a:rPr lang="en-US" altLang="ko-KR" sz="1100" b="1" baseline="0" dirty="0" err="1">
                  <a:latin typeface="arial" pitchFamily="34" charset="0"/>
                </a:rPr>
                <a:t>khả</a:t>
              </a:r>
              <a:r>
                <a:rPr lang="en-US" altLang="ko-KR" sz="1100" b="1" baseline="0" dirty="0">
                  <a:latin typeface="arial" pitchFamily="34" charset="0"/>
                </a:rPr>
                <a:t> </a:t>
              </a:r>
              <a:r>
                <a:rPr lang="en-US" altLang="ko-KR" sz="1100" b="1" baseline="0" dirty="0" err="1">
                  <a:latin typeface="arial" pitchFamily="34" charset="0"/>
                </a:rPr>
                <a:t>năng</a:t>
              </a:r>
              <a:r>
                <a:rPr lang="en-US" altLang="ko-KR" sz="1100" b="1" baseline="0" dirty="0">
                  <a:latin typeface="arial" pitchFamily="34" charset="0"/>
                </a:rPr>
                <a:t> </a:t>
              </a:r>
              <a:r>
                <a:rPr lang="en-US" altLang="ko-KR" sz="1100" b="1" baseline="0" dirty="0" err="1">
                  <a:latin typeface="arial" pitchFamily="34" charset="0"/>
                </a:rPr>
                <a:t>sản</a:t>
              </a:r>
              <a:r>
                <a:rPr lang="en-US" altLang="ko-KR" sz="1100" b="1" baseline="0" dirty="0">
                  <a:latin typeface="arial" pitchFamily="34" charset="0"/>
                </a:rPr>
                <a:t> </a:t>
              </a:r>
              <a:r>
                <a:rPr lang="en-US" altLang="ko-KR" sz="1100" b="1" baseline="0" dirty="0" err="1">
                  <a:latin typeface="arial" pitchFamily="34" charset="0"/>
                </a:rPr>
                <a:t>xuất</a:t>
              </a:r>
              <a:r>
                <a:rPr lang="en-US" altLang="ko-KR" sz="1100" b="1" baseline="0" dirty="0">
                  <a:latin typeface="arial" pitchFamily="34" charset="0"/>
                </a:rPr>
                <a:t> </a:t>
              </a:r>
              <a:r>
                <a:rPr lang="en-US" altLang="ko-KR" sz="1100" b="1" baseline="0" dirty="0" err="1">
                  <a:latin typeface="arial" pitchFamily="34" charset="0"/>
                </a:rPr>
                <a:t>ra</a:t>
              </a:r>
              <a:r>
                <a:rPr lang="en-US" altLang="ko-KR" sz="1100" b="1" baseline="0" dirty="0">
                  <a:latin typeface="arial" pitchFamily="34" charset="0"/>
                </a:rPr>
                <a:t> </a:t>
              </a:r>
              <a:r>
                <a:rPr lang="en-US" altLang="ko-KR" sz="1100" b="1" baseline="0" dirty="0" err="1">
                  <a:latin typeface="arial" pitchFamily="34" charset="0"/>
                </a:rPr>
                <a:t>những</a:t>
              </a:r>
              <a:r>
                <a:rPr lang="en-US" altLang="ko-KR" sz="1100" b="1" baseline="0" dirty="0">
                  <a:latin typeface="arial" pitchFamily="34" charset="0"/>
                </a:rPr>
                <a:t> </a:t>
              </a:r>
              <a:r>
                <a:rPr lang="en-US" altLang="ko-KR" sz="1100" b="1" baseline="0" dirty="0" err="1">
                  <a:latin typeface="arial" pitchFamily="34" charset="0"/>
                </a:rPr>
                <a:t>sản</a:t>
              </a:r>
              <a:r>
                <a:rPr lang="en-US" altLang="ko-KR" sz="1100" b="1" baseline="0" dirty="0">
                  <a:latin typeface="arial" pitchFamily="34" charset="0"/>
                </a:rPr>
                <a:t> </a:t>
              </a:r>
              <a:r>
                <a:rPr lang="en-US" altLang="ko-KR" sz="1100" b="1" baseline="0" dirty="0" err="1">
                  <a:latin typeface="arial" pitchFamily="34" charset="0"/>
                </a:rPr>
                <a:t>phẩm</a:t>
              </a:r>
              <a:r>
                <a:rPr lang="en-US" altLang="ko-KR" sz="1100" b="1" baseline="0" dirty="0">
                  <a:latin typeface="arial" pitchFamily="34" charset="0"/>
                </a:rPr>
                <a:t> </a:t>
              </a:r>
              <a:r>
                <a:rPr lang="en-US" altLang="ko-KR" sz="1100" b="1" baseline="0" dirty="0" err="1">
                  <a:latin typeface="arial" pitchFamily="34" charset="0"/>
                </a:rPr>
                <a:t>tốt</a:t>
              </a:r>
              <a:endParaRPr lang="ko-KR" altLang="en-US" sz="1100" b="1" baseline="0" dirty="0">
                <a:latin typeface="arial" pitchFamily="34" charset="0"/>
              </a:endParaRPr>
            </a:p>
          </p:txBody>
        </p:sp>
        <p:sp>
          <p:nvSpPr>
            <p:cNvPr id="47" name="Text Box 7"/>
            <p:cNvSpPr txBox="1">
              <a:spLocks noChangeArrowheads="1"/>
            </p:cNvSpPr>
            <p:nvPr/>
          </p:nvSpPr>
          <p:spPr bwMode="auto">
            <a:xfrm>
              <a:off x="2214" y="1828"/>
              <a:ext cx="1043" cy="534"/>
            </a:xfrm>
            <a:prstGeom prst="rect">
              <a:avLst/>
            </a:prstGeom>
            <a:grpFill/>
            <a:ln>
              <a:noFill/>
            </a:ln>
            <a:extLst>
              <a:ext uri="{91240B29-F687-4F45-9708-019B960494DF}">
                <a14:hiddenLine xmlns:a14="http://schemas.microsoft.com/office/drawing/2010/main" w="12700">
                  <a:solidFill>
                    <a:srgbClr val="000000"/>
                  </a:solidFill>
                  <a:miter lim="800000"/>
                  <a:headEnd/>
                  <a:tailEnd/>
                </a14:hiddenLine>
              </a:ext>
            </a:extLst>
          </p:spPr>
          <p:txBody>
            <a:bodyPr wrap="square" lIns="91434" tIns="45717" rIns="91434" bIns="45717" anchor="ctr">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latinLnBrk="0" hangingPunct="1">
                <a:defRPr/>
              </a:pPr>
              <a:r>
                <a:rPr lang="en-US" altLang="ko-KR" sz="1100" b="1" baseline="0" dirty="0" err="1">
                  <a:latin typeface="arial" pitchFamily="34" charset="0"/>
                </a:rPr>
                <a:t>Là</a:t>
              </a:r>
              <a:r>
                <a:rPr lang="en-US" altLang="ko-KR" sz="1100" b="1" baseline="0" dirty="0">
                  <a:latin typeface="arial" pitchFamily="34" charset="0"/>
                </a:rPr>
                <a:t> </a:t>
              </a:r>
              <a:r>
                <a:rPr lang="en-US" altLang="ko-KR" sz="1100" b="1" baseline="0" dirty="0" err="1">
                  <a:latin typeface="arial" pitchFamily="34" charset="0"/>
                </a:rPr>
                <a:t>một</a:t>
              </a:r>
              <a:r>
                <a:rPr lang="en-US" altLang="ko-KR" sz="1100" b="1" baseline="0" dirty="0">
                  <a:latin typeface="arial" pitchFamily="34" charset="0"/>
                </a:rPr>
                <a:t> </a:t>
              </a:r>
              <a:r>
                <a:rPr lang="en-US" altLang="ko-KR" sz="1100" b="1" baseline="0" dirty="0" err="1">
                  <a:latin typeface="arial" pitchFamily="34" charset="0"/>
                </a:rPr>
                <a:t>tiêu</a:t>
              </a:r>
              <a:r>
                <a:rPr lang="en-US" altLang="ko-KR" sz="1100" b="1" baseline="0" dirty="0">
                  <a:latin typeface="arial" pitchFamily="34" charset="0"/>
                </a:rPr>
                <a:t> </a:t>
              </a:r>
              <a:r>
                <a:rPr lang="en-US" altLang="ko-KR" sz="1100" b="1" baseline="0" dirty="0" err="1">
                  <a:latin typeface="arial" pitchFamily="34" charset="0"/>
                </a:rPr>
                <a:t>chuẩn</a:t>
              </a:r>
              <a:r>
                <a:rPr lang="en-US" altLang="ko-KR" sz="1100" b="1" baseline="0" dirty="0">
                  <a:latin typeface="arial" pitchFamily="34" charset="0"/>
                </a:rPr>
                <a:t> </a:t>
              </a:r>
              <a:r>
                <a:rPr lang="en-US" altLang="ko-KR" sz="1100" b="1" baseline="0" dirty="0" err="1">
                  <a:latin typeface="arial" pitchFamily="34" charset="0"/>
                </a:rPr>
                <a:t>để</a:t>
              </a:r>
              <a:r>
                <a:rPr lang="en-US" altLang="ko-KR" sz="1100" b="1" baseline="0" dirty="0">
                  <a:latin typeface="arial" pitchFamily="34" charset="0"/>
                </a:rPr>
                <a:t> </a:t>
              </a:r>
              <a:r>
                <a:rPr lang="en-US" altLang="ko-KR" sz="1100" b="1" baseline="0" dirty="0" err="1">
                  <a:latin typeface="arial" pitchFamily="34" charset="0"/>
                </a:rPr>
                <a:t>đánh</a:t>
              </a:r>
              <a:r>
                <a:rPr lang="en-US" altLang="ko-KR" sz="1100" b="1" baseline="0" dirty="0">
                  <a:latin typeface="arial" pitchFamily="34" charset="0"/>
                </a:rPr>
                <a:t> </a:t>
              </a:r>
              <a:r>
                <a:rPr lang="en-US" altLang="ko-KR" sz="1100" b="1" baseline="0" dirty="0" err="1">
                  <a:latin typeface="arial" pitchFamily="34" charset="0"/>
                </a:rPr>
                <a:t>giá</a:t>
              </a:r>
              <a:r>
                <a:rPr lang="en-US" altLang="ko-KR" sz="1100" b="1" baseline="0" dirty="0">
                  <a:latin typeface="arial" pitchFamily="34" charset="0"/>
                </a:rPr>
                <a:t> </a:t>
              </a:r>
              <a:r>
                <a:rPr lang="en-US" altLang="ko-KR" sz="1100" b="1" baseline="0" dirty="0" err="1">
                  <a:latin typeface="arial" pitchFamily="34" charset="0"/>
                </a:rPr>
                <a:t>mức</a:t>
              </a:r>
              <a:r>
                <a:rPr lang="en-US" altLang="ko-KR" sz="1100" b="1" baseline="0" dirty="0">
                  <a:latin typeface="arial" pitchFamily="34" charset="0"/>
                </a:rPr>
                <a:t> </a:t>
              </a:r>
              <a:r>
                <a:rPr lang="en-US" altLang="ko-KR" sz="1100" b="1" baseline="0" dirty="0" err="1">
                  <a:latin typeface="arial" pitchFamily="34" charset="0"/>
                </a:rPr>
                <a:t>độ</a:t>
              </a:r>
              <a:r>
                <a:rPr lang="en-US" altLang="ko-KR" sz="1100" b="1" baseline="0" dirty="0">
                  <a:latin typeface="arial" pitchFamily="34" charset="0"/>
                </a:rPr>
                <a:t> </a:t>
              </a:r>
              <a:r>
                <a:rPr lang="en-US" altLang="ko-KR" sz="1100" b="1" baseline="0" dirty="0" err="1">
                  <a:latin typeface="arial" pitchFamily="34" charset="0"/>
                </a:rPr>
                <a:t>hiệu</a:t>
              </a:r>
              <a:r>
                <a:rPr lang="en-US" altLang="ko-KR" sz="1100" b="1" baseline="0" dirty="0">
                  <a:latin typeface="arial" pitchFamily="34" charset="0"/>
                </a:rPr>
                <a:t> </a:t>
              </a:r>
              <a:r>
                <a:rPr lang="en-US" altLang="ko-KR" sz="1100" b="1" baseline="0" dirty="0" err="1">
                  <a:latin typeface="arial" pitchFamily="34" charset="0"/>
                </a:rPr>
                <a:t>quả</a:t>
              </a:r>
              <a:r>
                <a:rPr lang="en-US" altLang="ko-KR" sz="1100" b="1" baseline="0" dirty="0">
                  <a:latin typeface="arial" pitchFamily="34" charset="0"/>
                </a:rPr>
                <a:t> </a:t>
              </a:r>
              <a:r>
                <a:rPr lang="en-US" altLang="ko-KR" sz="1100" b="1" baseline="0" dirty="0" err="1">
                  <a:latin typeface="arial" pitchFamily="34" charset="0"/>
                </a:rPr>
                <a:t>của</a:t>
              </a:r>
              <a:r>
                <a:rPr lang="en-US" altLang="ko-KR" sz="1100" b="1" baseline="0" dirty="0">
                  <a:latin typeface="arial" pitchFamily="34" charset="0"/>
                </a:rPr>
                <a:t> </a:t>
              </a:r>
              <a:r>
                <a:rPr lang="en-US" altLang="ko-KR" sz="1100" b="1" baseline="0" dirty="0" err="1">
                  <a:latin typeface="arial" pitchFamily="34" charset="0"/>
                </a:rPr>
                <a:t>các</a:t>
              </a:r>
              <a:r>
                <a:rPr lang="en-US" altLang="ko-KR" sz="1100" b="1" baseline="0" dirty="0">
                  <a:latin typeface="arial" pitchFamily="34" charset="0"/>
                </a:rPr>
                <a:t> </a:t>
              </a:r>
              <a:r>
                <a:rPr lang="en-US" altLang="ko-KR" sz="1100" b="1" baseline="0" dirty="0" err="1">
                  <a:latin typeface="arial" pitchFamily="34" charset="0"/>
                </a:rPr>
                <a:t>phương</a:t>
              </a:r>
              <a:r>
                <a:rPr lang="en-US" altLang="ko-KR" sz="1100" b="1" baseline="0" dirty="0">
                  <a:latin typeface="arial" pitchFamily="34" charset="0"/>
                </a:rPr>
                <a:t> </a:t>
              </a:r>
              <a:r>
                <a:rPr lang="en-US" altLang="ko-KR" sz="1100" b="1" baseline="0" dirty="0" err="1">
                  <a:latin typeface="arial" pitchFamily="34" charset="0"/>
                </a:rPr>
                <a:t>án</a:t>
              </a:r>
              <a:r>
                <a:rPr lang="en-US" altLang="ko-KR" sz="1100" b="1" baseline="0" dirty="0">
                  <a:latin typeface="arial" pitchFamily="34" charset="0"/>
                </a:rPr>
                <a:t> </a:t>
              </a:r>
              <a:r>
                <a:rPr lang="en-US" altLang="ko-KR" sz="1100" b="1" baseline="0" dirty="0" err="1">
                  <a:latin typeface="arial" pitchFamily="34" charset="0"/>
                </a:rPr>
                <a:t>cải</a:t>
              </a:r>
              <a:r>
                <a:rPr lang="en-US" altLang="ko-KR" sz="1100" b="1" baseline="0" dirty="0">
                  <a:latin typeface="arial" pitchFamily="34" charset="0"/>
                </a:rPr>
                <a:t> </a:t>
              </a:r>
              <a:r>
                <a:rPr lang="en-US" altLang="ko-KR" sz="1100" b="1" baseline="0" dirty="0" err="1">
                  <a:latin typeface="arial" pitchFamily="34" charset="0"/>
                </a:rPr>
                <a:t>tiến</a:t>
              </a:r>
              <a:endParaRPr lang="ko-KR" altLang="en-US" sz="1100" b="1" baseline="0" dirty="0">
                <a:latin typeface="arial" pitchFamily="34" charset="0"/>
              </a:endParaRPr>
            </a:p>
          </p:txBody>
        </p:sp>
        <p:sp>
          <p:nvSpPr>
            <p:cNvPr id="48" name="Text Box 7"/>
            <p:cNvSpPr txBox="1">
              <a:spLocks noChangeArrowheads="1"/>
            </p:cNvSpPr>
            <p:nvPr/>
          </p:nvSpPr>
          <p:spPr bwMode="auto">
            <a:xfrm>
              <a:off x="3527" y="1711"/>
              <a:ext cx="955" cy="769"/>
            </a:xfrm>
            <a:prstGeom prst="rect">
              <a:avLst/>
            </a:prstGeom>
            <a:grpFill/>
            <a:ln>
              <a:noFill/>
            </a:ln>
            <a:extLst>
              <a:ext uri="{91240B29-F687-4F45-9708-019B960494DF}">
                <a14:hiddenLine xmlns:a14="http://schemas.microsoft.com/office/drawing/2010/main" w="12700">
                  <a:solidFill>
                    <a:srgbClr val="000000"/>
                  </a:solidFill>
                  <a:miter lim="800000"/>
                  <a:headEnd/>
                  <a:tailEnd/>
                </a14:hiddenLine>
              </a:ext>
            </a:extLst>
          </p:spPr>
          <p:txBody>
            <a:bodyPr wrap="square" lIns="91434" tIns="45717" rIns="91434" bIns="45717" anchor="ctr">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latinLnBrk="0" hangingPunct="1">
                <a:defRPr/>
              </a:pPr>
              <a:r>
                <a:rPr lang="en-US" altLang="ko-KR" sz="1100" b="1" baseline="0" dirty="0" err="1">
                  <a:latin typeface="arial" pitchFamily="34" charset="0"/>
                </a:rPr>
                <a:t>Nhằm</a:t>
              </a:r>
              <a:r>
                <a:rPr lang="en-US" altLang="ko-KR" sz="1100" b="1" baseline="0" dirty="0">
                  <a:latin typeface="arial" pitchFamily="34" charset="0"/>
                </a:rPr>
                <a:t> so </a:t>
              </a:r>
              <a:r>
                <a:rPr lang="en-US" altLang="ko-KR" sz="1100" b="1" baseline="0" dirty="0" err="1">
                  <a:latin typeface="arial" pitchFamily="34" charset="0"/>
                </a:rPr>
                <a:t>sánh</a:t>
              </a:r>
              <a:r>
                <a:rPr lang="en-US" altLang="ko-KR" sz="1100" b="1" baseline="0" dirty="0">
                  <a:latin typeface="arial" pitchFamily="34" charset="0"/>
                </a:rPr>
                <a:t> </a:t>
              </a:r>
              <a:r>
                <a:rPr lang="en-US" altLang="ko-KR" sz="1100" b="1" baseline="0" dirty="0" err="1">
                  <a:latin typeface="arial" pitchFamily="34" charset="0"/>
                </a:rPr>
                <a:t>được</a:t>
              </a:r>
              <a:r>
                <a:rPr lang="en-US" altLang="ko-KR" sz="1100" b="1" baseline="0" dirty="0">
                  <a:latin typeface="arial" pitchFamily="34" charset="0"/>
                </a:rPr>
                <a:t> </a:t>
              </a:r>
              <a:r>
                <a:rPr lang="en-US" altLang="ko-KR" sz="1100" b="1" baseline="0" dirty="0" err="1">
                  <a:latin typeface="arial" pitchFamily="34" charset="0"/>
                </a:rPr>
                <a:t>năng</a:t>
              </a:r>
              <a:r>
                <a:rPr lang="en-US" altLang="ko-KR" sz="1100" b="1" baseline="0" dirty="0">
                  <a:latin typeface="arial" pitchFamily="34" charset="0"/>
                </a:rPr>
                <a:t> </a:t>
              </a:r>
              <a:r>
                <a:rPr lang="en-US" altLang="ko-KR" sz="1100" b="1" baseline="0" dirty="0" err="1">
                  <a:latin typeface="arial" pitchFamily="34" charset="0"/>
                </a:rPr>
                <a:t>lực</a:t>
              </a:r>
              <a:r>
                <a:rPr lang="en-US" altLang="ko-KR" sz="1100" b="1" baseline="0" dirty="0">
                  <a:latin typeface="arial" pitchFamily="34" charset="0"/>
                </a:rPr>
                <a:t> </a:t>
              </a:r>
              <a:r>
                <a:rPr lang="en-US" altLang="ko-KR" sz="1100" b="1" baseline="0" dirty="0" err="1">
                  <a:latin typeface="arial" pitchFamily="34" charset="0"/>
                </a:rPr>
                <a:t>sản</a:t>
              </a:r>
              <a:r>
                <a:rPr lang="en-US" altLang="ko-KR" sz="1100" b="1" baseline="0" dirty="0">
                  <a:latin typeface="arial" pitchFamily="34" charset="0"/>
                </a:rPr>
                <a:t> </a:t>
              </a:r>
              <a:r>
                <a:rPr lang="en-US" altLang="ko-KR" sz="1100" b="1" baseline="0" dirty="0" err="1">
                  <a:latin typeface="arial" pitchFamily="34" charset="0"/>
                </a:rPr>
                <a:t>xuất</a:t>
              </a:r>
              <a:r>
                <a:rPr lang="en-US" altLang="ko-KR" sz="1100" b="1" baseline="0" dirty="0">
                  <a:latin typeface="arial" pitchFamily="34" charset="0"/>
                </a:rPr>
                <a:t> </a:t>
              </a:r>
              <a:r>
                <a:rPr lang="en-US" altLang="ko-KR" sz="1100" b="1" baseline="0" dirty="0" err="1">
                  <a:latin typeface="arial" pitchFamily="34" charset="0"/>
                </a:rPr>
                <a:t>của</a:t>
              </a:r>
              <a:r>
                <a:rPr lang="en-US" altLang="ko-KR" sz="1100" b="1" baseline="0" dirty="0">
                  <a:latin typeface="arial" pitchFamily="34" charset="0"/>
                </a:rPr>
                <a:t> </a:t>
              </a:r>
              <a:r>
                <a:rPr lang="en-US" altLang="ko-KR" sz="1100" b="1" baseline="0" dirty="0" err="1">
                  <a:latin typeface="arial" pitchFamily="34" charset="0"/>
                </a:rPr>
                <a:t>công</a:t>
              </a:r>
              <a:r>
                <a:rPr lang="en-US" altLang="ko-KR" sz="1100" b="1" baseline="0" dirty="0">
                  <a:latin typeface="arial" pitchFamily="34" charset="0"/>
                </a:rPr>
                <a:t> </a:t>
              </a:r>
              <a:r>
                <a:rPr lang="en-US" altLang="ko-KR" sz="1100" b="1" baseline="0" dirty="0" err="1">
                  <a:latin typeface="arial" pitchFamily="34" charset="0"/>
                </a:rPr>
                <a:t>ty</a:t>
              </a:r>
              <a:r>
                <a:rPr lang="en-US" altLang="ko-KR" sz="1100" b="1" baseline="0" dirty="0">
                  <a:latin typeface="arial" pitchFamily="34" charset="0"/>
                </a:rPr>
                <a:t> </a:t>
              </a:r>
              <a:r>
                <a:rPr lang="en-US" altLang="ko-KR" sz="1100" b="1" baseline="0" dirty="0" err="1">
                  <a:latin typeface="arial" pitchFamily="34" charset="0"/>
                </a:rPr>
                <a:t>với</a:t>
              </a:r>
              <a:r>
                <a:rPr lang="en-US" altLang="ko-KR" sz="1100" b="1" baseline="0" dirty="0">
                  <a:latin typeface="arial" pitchFamily="34" charset="0"/>
                </a:rPr>
                <a:t> </a:t>
              </a:r>
              <a:r>
                <a:rPr lang="en-US" altLang="ko-KR" sz="1100" b="1" baseline="0" dirty="0" err="1">
                  <a:latin typeface="arial" pitchFamily="34" charset="0"/>
                </a:rPr>
                <a:t>các</a:t>
              </a:r>
              <a:r>
                <a:rPr lang="en-US" altLang="ko-KR" sz="1100" b="1" baseline="0" dirty="0">
                  <a:latin typeface="arial" pitchFamily="34" charset="0"/>
                </a:rPr>
                <a:t> </a:t>
              </a:r>
              <a:r>
                <a:rPr lang="en-US" altLang="ko-KR" sz="1100" b="1" baseline="0" dirty="0" err="1">
                  <a:latin typeface="arial" pitchFamily="34" charset="0"/>
                </a:rPr>
                <a:t>công</a:t>
              </a:r>
              <a:r>
                <a:rPr lang="en-US" altLang="ko-KR" sz="1100" b="1" baseline="0" dirty="0">
                  <a:latin typeface="arial" pitchFamily="34" charset="0"/>
                </a:rPr>
                <a:t> </a:t>
              </a:r>
              <a:r>
                <a:rPr lang="en-US" altLang="ko-KR" sz="1100" b="1" baseline="0" dirty="0" err="1">
                  <a:latin typeface="arial" pitchFamily="34" charset="0"/>
                </a:rPr>
                <a:t>ty</a:t>
              </a:r>
              <a:r>
                <a:rPr lang="en-US" altLang="ko-KR" sz="1100" b="1" baseline="0" dirty="0">
                  <a:latin typeface="arial" pitchFamily="34" charset="0"/>
                </a:rPr>
                <a:t>, </a:t>
              </a:r>
              <a:r>
                <a:rPr lang="en-US" altLang="ko-KR" sz="1100" b="1" baseline="0" dirty="0" err="1">
                  <a:latin typeface="arial" pitchFamily="34" charset="0"/>
                </a:rPr>
                <a:t>các</a:t>
              </a:r>
              <a:r>
                <a:rPr lang="en-US" altLang="ko-KR" sz="1100" b="1" baseline="0" dirty="0">
                  <a:latin typeface="arial" pitchFamily="34" charset="0"/>
                </a:rPr>
                <a:t> </a:t>
              </a:r>
              <a:r>
                <a:rPr lang="en-US" altLang="ko-KR" sz="1100" b="1" baseline="0" dirty="0" err="1">
                  <a:latin typeface="arial" pitchFamily="34" charset="0"/>
                </a:rPr>
                <a:t>đối</a:t>
              </a:r>
              <a:r>
                <a:rPr lang="en-US" altLang="ko-KR" sz="1100" b="1" baseline="0" dirty="0">
                  <a:latin typeface="arial" pitchFamily="34" charset="0"/>
                </a:rPr>
                <a:t> </a:t>
              </a:r>
              <a:r>
                <a:rPr lang="en-US" altLang="ko-KR" sz="1100" b="1" baseline="0" dirty="0" err="1">
                  <a:latin typeface="arial" pitchFamily="34" charset="0"/>
                </a:rPr>
                <a:t>thủ</a:t>
              </a:r>
              <a:r>
                <a:rPr lang="en-US" altLang="ko-KR" sz="1100" b="1" baseline="0" dirty="0">
                  <a:latin typeface="arial" pitchFamily="34" charset="0"/>
                </a:rPr>
                <a:t> </a:t>
              </a:r>
              <a:r>
                <a:rPr lang="en-US" altLang="ko-KR" sz="1100" b="1" baseline="0" dirty="0" err="1">
                  <a:latin typeface="arial" pitchFamily="34" charset="0"/>
                </a:rPr>
                <a:t>cạnh</a:t>
              </a:r>
              <a:r>
                <a:rPr lang="en-US" altLang="ko-KR" sz="1100" b="1" baseline="0" dirty="0">
                  <a:latin typeface="arial" pitchFamily="34" charset="0"/>
                </a:rPr>
                <a:t> </a:t>
              </a:r>
              <a:r>
                <a:rPr lang="en-US" altLang="ko-KR" sz="1100" b="1" baseline="0" dirty="0" err="1">
                  <a:latin typeface="arial" pitchFamily="34" charset="0"/>
                </a:rPr>
                <a:t>tranh</a:t>
              </a:r>
              <a:r>
                <a:rPr lang="en-US" altLang="ko-KR" sz="1100" b="1" baseline="0" dirty="0">
                  <a:latin typeface="arial" pitchFamily="34" charset="0"/>
                </a:rPr>
                <a:t> </a:t>
              </a:r>
              <a:r>
                <a:rPr lang="en-US" altLang="ko-KR" sz="1100" b="1" baseline="0" dirty="0" err="1">
                  <a:latin typeface="arial" pitchFamily="34" charset="0"/>
                </a:rPr>
                <a:t>khác</a:t>
              </a:r>
              <a:endParaRPr lang="en-US" altLang="ko-KR" sz="1100" b="1" baseline="0" dirty="0">
                <a:latin typeface="arial" pitchFamily="34" charset="0"/>
              </a:endParaRPr>
            </a:p>
          </p:txBody>
        </p:sp>
        <p:sp>
          <p:nvSpPr>
            <p:cNvPr id="49" name="Text Box 7"/>
            <p:cNvSpPr txBox="1">
              <a:spLocks noChangeArrowheads="1"/>
            </p:cNvSpPr>
            <p:nvPr/>
          </p:nvSpPr>
          <p:spPr bwMode="auto">
            <a:xfrm>
              <a:off x="4780" y="1801"/>
              <a:ext cx="1017" cy="534"/>
            </a:xfrm>
            <a:prstGeom prst="rect">
              <a:avLst/>
            </a:prstGeom>
            <a:grpFill/>
            <a:ln>
              <a:noFill/>
            </a:ln>
            <a:extLst>
              <a:ext uri="{91240B29-F687-4F45-9708-019B960494DF}">
                <a14:hiddenLine xmlns:a14="http://schemas.microsoft.com/office/drawing/2010/main" w="12700">
                  <a:solidFill>
                    <a:srgbClr val="000000"/>
                  </a:solidFill>
                  <a:miter lim="800000"/>
                  <a:headEnd/>
                  <a:tailEnd/>
                </a14:hiddenLine>
              </a:ext>
            </a:extLst>
          </p:spPr>
          <p:txBody>
            <a:bodyPr wrap="square" lIns="91434" tIns="45717" rIns="91434" bIns="45717" anchor="ctr">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latinLnBrk="0" hangingPunct="1">
                <a:defRPr/>
              </a:pPr>
              <a:r>
                <a:rPr lang="en-US" altLang="ko-KR" sz="1100" b="1" baseline="0" dirty="0" err="1">
                  <a:latin typeface="arial" pitchFamily="34" charset="0"/>
                </a:rPr>
                <a:t>Nhằm</a:t>
              </a:r>
              <a:r>
                <a:rPr lang="en-US" altLang="ko-KR" sz="1100" b="1" baseline="0" dirty="0">
                  <a:latin typeface="arial" pitchFamily="34" charset="0"/>
                </a:rPr>
                <a:t> </a:t>
              </a:r>
              <a:r>
                <a:rPr lang="en-US" altLang="ko-KR" sz="1100" b="1" baseline="0" dirty="0" err="1">
                  <a:latin typeface="arial" pitchFamily="34" charset="0"/>
                </a:rPr>
                <a:t>xác</a:t>
              </a:r>
              <a:r>
                <a:rPr lang="en-US" altLang="ko-KR" sz="1100" b="1" baseline="0" dirty="0">
                  <a:latin typeface="arial" pitchFamily="34" charset="0"/>
                </a:rPr>
                <a:t> </a:t>
              </a:r>
              <a:r>
                <a:rPr lang="en-US" altLang="ko-KR" sz="1100" b="1" baseline="0" dirty="0" err="1">
                  <a:latin typeface="arial" pitchFamily="34" charset="0"/>
                </a:rPr>
                <a:t>định</a:t>
              </a:r>
              <a:r>
                <a:rPr lang="en-US" altLang="ko-KR" sz="1100" b="1" baseline="0" dirty="0">
                  <a:latin typeface="arial" pitchFamily="34" charset="0"/>
                </a:rPr>
                <a:t> </a:t>
              </a:r>
              <a:r>
                <a:rPr lang="en-US" altLang="ko-KR" sz="1100" b="1" baseline="0" dirty="0" err="1">
                  <a:latin typeface="arial" pitchFamily="34" charset="0"/>
                </a:rPr>
                <a:t>xem</a:t>
              </a:r>
              <a:r>
                <a:rPr lang="en-US" altLang="ko-KR" sz="1100" b="1" baseline="0" dirty="0">
                  <a:latin typeface="arial" pitchFamily="34" charset="0"/>
                </a:rPr>
                <a:t> </a:t>
              </a:r>
              <a:r>
                <a:rPr lang="en-US" altLang="ko-KR" sz="1100" b="1" baseline="0" dirty="0" err="1">
                  <a:latin typeface="arial" pitchFamily="34" charset="0"/>
                </a:rPr>
                <a:t>vấn</a:t>
              </a:r>
              <a:r>
                <a:rPr lang="en-US" altLang="ko-KR" sz="1100" b="1" baseline="0" dirty="0">
                  <a:latin typeface="arial" pitchFamily="34" charset="0"/>
                </a:rPr>
                <a:t> </a:t>
              </a:r>
              <a:r>
                <a:rPr lang="en-US" altLang="ko-KR" sz="1100" b="1" baseline="0" dirty="0" err="1">
                  <a:latin typeface="arial" pitchFamily="34" charset="0"/>
                </a:rPr>
                <a:t>đề</a:t>
              </a:r>
              <a:r>
                <a:rPr lang="en-US" altLang="ko-KR" sz="1100" b="1" baseline="0" dirty="0">
                  <a:latin typeface="arial" pitchFamily="34" charset="0"/>
                </a:rPr>
                <a:t> </a:t>
              </a:r>
              <a:r>
                <a:rPr lang="en-US" altLang="ko-KR" sz="1100" b="1" baseline="0" dirty="0" err="1">
                  <a:latin typeface="arial" pitchFamily="34" charset="0"/>
                </a:rPr>
                <a:t>nằm</a:t>
              </a:r>
              <a:r>
                <a:rPr lang="en-US" altLang="ko-KR" sz="1100" b="1" baseline="0" dirty="0">
                  <a:latin typeface="arial" pitchFamily="34" charset="0"/>
                </a:rPr>
                <a:t> ở </a:t>
              </a:r>
              <a:r>
                <a:rPr lang="en-US" altLang="ko-KR" sz="1100" b="1" baseline="0" dirty="0" err="1">
                  <a:latin typeface="arial" pitchFamily="34" charset="0"/>
                </a:rPr>
                <a:t>khâu</a:t>
              </a:r>
              <a:r>
                <a:rPr lang="en-US" altLang="ko-KR" sz="1100" b="1" baseline="0" dirty="0">
                  <a:latin typeface="arial" pitchFamily="34" charset="0"/>
                </a:rPr>
                <a:t> </a:t>
              </a:r>
              <a:r>
                <a:rPr lang="en-US" altLang="ko-KR" sz="1100" b="1" baseline="0" dirty="0" err="1">
                  <a:latin typeface="arial" pitchFamily="34" charset="0"/>
                </a:rPr>
                <a:t>kỹ</a:t>
              </a:r>
              <a:r>
                <a:rPr lang="en-US" altLang="ko-KR" sz="1100" b="1" baseline="0" dirty="0">
                  <a:latin typeface="arial" pitchFamily="34" charset="0"/>
                </a:rPr>
                <a:t> </a:t>
              </a:r>
              <a:r>
                <a:rPr lang="en-US" altLang="ko-KR" sz="1100" b="1" baseline="0" dirty="0" err="1">
                  <a:latin typeface="arial" pitchFamily="34" charset="0"/>
                </a:rPr>
                <a:t>thuật</a:t>
              </a:r>
              <a:r>
                <a:rPr lang="en-US" altLang="ko-KR" sz="1100" b="1" baseline="0" dirty="0">
                  <a:latin typeface="arial" pitchFamily="34" charset="0"/>
                </a:rPr>
                <a:t> hay </a:t>
              </a:r>
              <a:r>
                <a:rPr lang="en-US" altLang="ko-KR" sz="1100" b="1" baseline="0" dirty="0" err="1">
                  <a:latin typeface="arial" pitchFamily="34" charset="0"/>
                </a:rPr>
                <a:t>khâu</a:t>
              </a:r>
              <a:r>
                <a:rPr lang="en-US" altLang="ko-KR" sz="1100" b="1" baseline="0" dirty="0">
                  <a:latin typeface="arial" pitchFamily="34" charset="0"/>
                </a:rPr>
                <a:t> </a:t>
              </a:r>
              <a:r>
                <a:rPr lang="en-US" altLang="ko-KR" sz="1100" b="1" baseline="0" dirty="0" err="1">
                  <a:latin typeface="arial" pitchFamily="34" charset="0"/>
                </a:rPr>
                <a:t>quản</a:t>
              </a:r>
              <a:r>
                <a:rPr lang="en-US" altLang="ko-KR" sz="1100" b="1" baseline="0" dirty="0">
                  <a:latin typeface="arial" pitchFamily="34" charset="0"/>
                </a:rPr>
                <a:t> </a:t>
              </a:r>
              <a:r>
                <a:rPr lang="en-US" altLang="ko-KR" sz="1100" b="1" baseline="0" dirty="0" err="1">
                  <a:latin typeface="arial" pitchFamily="34" charset="0"/>
                </a:rPr>
                <a:t>lý</a:t>
              </a:r>
              <a:endParaRPr lang="ko-KR" altLang="en-US" sz="1100" b="1" baseline="0" dirty="0">
                <a:latin typeface="arial" pitchFamily="34" charset="0"/>
              </a:endParaRPr>
            </a:p>
          </p:txBody>
        </p:sp>
      </p:grpSp>
      <p:sp>
        <p:nvSpPr>
          <p:cNvPr id="287752"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arial" pitchFamily="34" charset="0"/>
                <a:ea typeface="맑은 고딕" pitchFamily="50" charset="-127"/>
              </a:rPr>
              <a:t> 2.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219</a:t>
            </a:fld>
            <a:endParaRPr lang="ko-KR" altLang="en-US" dirty="0"/>
          </a:p>
        </p:txBody>
      </p:sp>
    </p:spTree>
    <p:extLst>
      <p:ext uri="{BB962C8B-B14F-4D97-AF65-F5344CB8AC3E}">
        <p14:creationId xmlns:p14="http://schemas.microsoft.com/office/powerpoint/2010/main" val="1102114507"/>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Text Box 2"/>
          <p:cNvSpPr txBox="1">
            <a:spLocks noChangeArrowheads="1"/>
          </p:cNvSpPr>
          <p:nvPr/>
        </p:nvSpPr>
        <p:spPr bwMode="auto">
          <a:xfrm>
            <a:off x="889000" y="1892300"/>
            <a:ext cx="8178800" cy="572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33"/>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15888" indent="-115888"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a:lnSpc>
                <a:spcPct val="130000"/>
              </a:lnSpc>
              <a:buFont typeface="Wingdings" pitchFamily="2" charset="2"/>
              <a:buChar char="§"/>
            </a:pPr>
            <a:r>
              <a:rPr kumimoji="0" lang="en-US" altLang="ko-KR" sz="1200" dirty="0" err="1">
                <a:latin typeface="맑은 고딕" pitchFamily="50" charset="-127"/>
                <a:ea typeface="맑은 고딕" pitchFamily="50" charset="-127"/>
              </a:rPr>
              <a:t>Nhà</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máy</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muốn</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nhận</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được</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các</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tấm</a:t>
            </a:r>
            <a:r>
              <a:rPr kumimoji="0" lang="en-US" altLang="ko-KR" sz="1200" dirty="0">
                <a:latin typeface="맑은 고딕" pitchFamily="50" charset="-127"/>
                <a:ea typeface="맑은 고딕" pitchFamily="50" charset="-127"/>
              </a:rPr>
              <a:t> panel </a:t>
            </a:r>
            <a:r>
              <a:rPr kumimoji="0" lang="en-US" altLang="ko-KR" sz="1200" dirty="0" err="1">
                <a:latin typeface="맑은 고딕" pitchFamily="50" charset="-127"/>
                <a:ea typeface="맑은 고딕" pitchFamily="50" charset="-127"/>
              </a:rPr>
              <a:t>có</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độ</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dày</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trong</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khoảng</a:t>
            </a:r>
            <a:r>
              <a:rPr kumimoji="0" lang="en-US" altLang="ko-KR" sz="1200" dirty="0">
                <a:latin typeface="맑은 고딕" pitchFamily="50" charset="-127"/>
                <a:ea typeface="맑은 고딕" pitchFamily="50" charset="-127"/>
              </a:rPr>
              <a:t> 0.67 ~ 0.72 mm. </a:t>
            </a:r>
            <a:r>
              <a:rPr kumimoji="0" lang="en-US" altLang="ko-KR" sz="1200" dirty="0" err="1">
                <a:latin typeface="맑은 고딕" pitchFamily="50" charset="-127"/>
                <a:ea typeface="맑은 고딕" pitchFamily="50" charset="-127"/>
              </a:rPr>
              <a:t>Nguyên</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nhân</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đằng</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sau</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những</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tấm</a:t>
            </a:r>
            <a:r>
              <a:rPr kumimoji="0" lang="en-US" altLang="ko-KR" sz="1200" dirty="0">
                <a:latin typeface="맑은 고딕" pitchFamily="50" charset="-127"/>
                <a:ea typeface="맑은 고딕" pitchFamily="50" charset="-127"/>
              </a:rPr>
              <a:t> panel </a:t>
            </a:r>
            <a:r>
              <a:rPr kumimoji="0" lang="en-US" altLang="ko-KR" sz="1200" dirty="0" err="1">
                <a:latin typeface="맑은 고딕" pitchFamily="50" charset="-127"/>
                <a:ea typeface="맑은 고딕" pitchFamily="50" charset="-127"/>
              </a:rPr>
              <a:t>không</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đạt</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tiêu</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chuẩn</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phải</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được</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xác</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định</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khi</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nó</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tới</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tay</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khách</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hàng</a:t>
            </a:r>
            <a:r>
              <a:rPr kumimoji="0" lang="en-US" altLang="ko-KR" sz="1200" dirty="0">
                <a:latin typeface="맑은 고딕" pitchFamily="50" charset="-127"/>
                <a:ea typeface="맑은 고딕" pitchFamily="50" charset="-127"/>
              </a:rPr>
              <a:t>.</a:t>
            </a:r>
          </a:p>
        </p:txBody>
      </p:sp>
      <p:sp>
        <p:nvSpPr>
          <p:cNvPr id="288771" name="Text Box 3"/>
          <p:cNvSpPr txBox="1">
            <a:spLocks noChangeArrowheads="1"/>
          </p:cNvSpPr>
          <p:nvPr/>
        </p:nvSpPr>
        <p:spPr bwMode="auto">
          <a:xfrm>
            <a:off x="722313" y="1046163"/>
            <a:ext cx="1956283"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Giải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thích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sự</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phân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bổ</a:t>
            </a:r>
            <a:endParaRPr lang="ko-KR" altLang="en-US" sz="1200" b="1" dirty="0">
              <a:latin typeface="맑은 고딕" pitchFamily="50" charset="-127"/>
              <a:ea typeface="맑은 고딕" pitchFamily="50" charset="-127"/>
            </a:endParaRPr>
          </a:p>
        </p:txBody>
      </p:sp>
      <p:sp>
        <p:nvSpPr>
          <p:cNvPr id="288772" name="AutoShape 4"/>
          <p:cNvSpPr>
            <a:spLocks noChangeArrowheads="1"/>
          </p:cNvSpPr>
          <p:nvPr/>
        </p:nvSpPr>
        <p:spPr bwMode="auto">
          <a:xfrm>
            <a:off x="1238250" y="2587625"/>
            <a:ext cx="7346950" cy="3713163"/>
          </a:xfrm>
          <a:prstGeom prst="roundRect">
            <a:avLst>
              <a:gd name="adj" fmla="val 3009"/>
            </a:avLst>
          </a:prstGeom>
          <a:solidFill>
            <a:srgbClr val="FFFFFF"/>
          </a:solidFill>
          <a:ln w="9525">
            <a:solidFill>
              <a:schemeClr val="tx1"/>
            </a:solidFill>
            <a:round/>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graphicFrame>
        <p:nvGraphicFramePr>
          <p:cNvPr id="288773" name="Object 5"/>
          <p:cNvGraphicFramePr>
            <a:graphicFrameLocks noChangeAspect="1"/>
          </p:cNvGraphicFramePr>
          <p:nvPr/>
        </p:nvGraphicFramePr>
        <p:xfrm>
          <a:off x="2117725" y="2914650"/>
          <a:ext cx="5035550" cy="2874963"/>
        </p:xfrm>
        <a:graphic>
          <a:graphicData uri="http://schemas.openxmlformats.org/presentationml/2006/ole">
            <mc:AlternateContent xmlns:mc="http://schemas.openxmlformats.org/markup-compatibility/2006">
              <mc:Choice xmlns:v="urn:schemas-microsoft-com:vml" Requires="v">
                <p:oleObj name="Mtb Graph" r:id="rId3" imgW="5086662" imgH="3517692" progId="">
                  <p:embed/>
                </p:oleObj>
              </mc:Choice>
              <mc:Fallback>
                <p:oleObj name="Mtb Graph" r:id="rId3" imgW="5086662" imgH="3517692" progId="">
                  <p:embed/>
                  <p:pic>
                    <p:nvPicPr>
                      <p:cNvPr id="288773" name="Object 5"/>
                      <p:cNvPicPr>
                        <a:picLocks noChangeAspect="1" noChangeArrowheads="1"/>
                      </p:cNvPicPr>
                      <p:nvPr/>
                    </p:nvPicPr>
                    <p:blipFill>
                      <a:blip r:embed="rId4">
                        <a:extLst>
                          <a:ext uri="{28A0092B-C50C-407E-A947-70E740481C1C}">
                            <a14:useLocalDpi xmlns:a14="http://schemas.microsoft.com/office/drawing/2010/main" val="0"/>
                          </a:ext>
                        </a:extLst>
                      </a:blip>
                      <a:srcRect l="30302" t="16608" r="8961" b="23473"/>
                      <a:stretch>
                        <a:fillRect/>
                      </a:stretch>
                    </p:blipFill>
                    <p:spPr bwMode="auto">
                      <a:xfrm>
                        <a:off x="2117725" y="2914650"/>
                        <a:ext cx="5035550" cy="2874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8774" name="Text Box 6"/>
          <p:cNvSpPr txBox="1">
            <a:spLocks noChangeArrowheads="1"/>
          </p:cNvSpPr>
          <p:nvPr/>
        </p:nvSpPr>
        <p:spPr bwMode="auto">
          <a:xfrm>
            <a:off x="2000672" y="6030913"/>
            <a:ext cx="618310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Điều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gì</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sẽ</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xảy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ra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nếu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không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có</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bất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cứ</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sự</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phân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tán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nào</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quanh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giá</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trị</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trung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bình</a:t>
            </a:r>
            <a:r>
              <a:rPr lang="en-US" altLang="ko-KR" sz="1100" dirty="0">
                <a:latin typeface="맑은 고딕" pitchFamily="50" charset="-127"/>
                <a:ea typeface="맑은 고딕" pitchFamily="50" charset="-127"/>
              </a:rPr>
              <a:t> 0.7 mm?</a:t>
            </a:r>
          </a:p>
        </p:txBody>
      </p:sp>
      <p:sp>
        <p:nvSpPr>
          <p:cNvPr id="288775" name="Text Box 7"/>
          <p:cNvSpPr txBox="1">
            <a:spLocks noChangeArrowheads="1"/>
          </p:cNvSpPr>
          <p:nvPr/>
        </p:nvSpPr>
        <p:spPr bwMode="auto">
          <a:xfrm>
            <a:off x="3806825" y="2620963"/>
            <a:ext cx="2656496" cy="261610"/>
          </a:xfrm>
          <a:prstGeom prst="rect">
            <a:avLst/>
          </a:prstGeom>
          <a:solidFill>
            <a:srgbClr val="FFFFCC"/>
          </a:solidFill>
          <a:ln w="9525">
            <a:solidFill>
              <a:schemeClr val="tx1"/>
            </a:solidFill>
            <a:miter lim="800000"/>
            <a:headEnd/>
            <a:tailEnd/>
          </a:ln>
          <a:effectLst>
            <a:outerShdw dist="35921" dir="2700000" algn="ctr" rotWithShape="0">
              <a:schemeClr val="bg2"/>
            </a:outerShdw>
          </a:effec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err="1">
                <a:latin typeface="맑은 고딕" pitchFamily="50" charset="-127"/>
                <a:ea typeface="맑은 고딕" pitchFamily="50" charset="-127"/>
              </a:rPr>
              <a:t>Tiêu</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chuẩn</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yêu</a:t>
            </a:r>
            <a:r>
              <a:rPr lang="en-US" altLang="ko-KR" sz="1100" b="1" dirty="0">
                <a:latin typeface="맑은 고딕" pitchFamily="50" charset="-127"/>
                <a:ea typeface="맑은 고딕" pitchFamily="50" charset="-127"/>
              </a:rPr>
              <a:t> </a:t>
            </a:r>
            <a:r>
              <a:rPr lang="en-US" altLang="ko-KR" sz="1100" b="1" dirty="0" err="1">
                <a:latin typeface="맑은 고딕" pitchFamily="50" charset="-127"/>
                <a:ea typeface="맑은 고딕" pitchFamily="50" charset="-127"/>
              </a:rPr>
              <a:t>cầu</a:t>
            </a:r>
            <a:r>
              <a:rPr lang="en-US" altLang="ko-KR" sz="1100" b="1" dirty="0">
                <a:latin typeface="맑은 고딕" pitchFamily="50" charset="-127"/>
                <a:ea typeface="맑은 고딕" pitchFamily="50" charset="-127"/>
              </a:rPr>
              <a:t> : 0.67 ~ 0.72mm</a:t>
            </a:r>
          </a:p>
        </p:txBody>
      </p:sp>
      <p:sp>
        <p:nvSpPr>
          <p:cNvPr id="288776" name="Text Box 8"/>
          <p:cNvSpPr txBox="1">
            <a:spLocks noChangeArrowheads="1"/>
          </p:cNvSpPr>
          <p:nvPr/>
        </p:nvSpPr>
        <p:spPr bwMode="auto">
          <a:xfrm>
            <a:off x="6823075" y="3284538"/>
            <a:ext cx="1658317" cy="600164"/>
          </a:xfrm>
          <a:prstGeom prst="rect">
            <a:avLst/>
          </a:prstGeom>
          <a:solidFill>
            <a:schemeClr val="bg1"/>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err="1">
                <a:latin typeface="맑은 고딕" pitchFamily="50" charset="-127"/>
                <a:ea typeface="맑은 고딕" pitchFamily="50" charset="-127"/>
              </a:rPr>
              <a:t>Sản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phẩm</a:t>
            </a:r>
            <a:r>
              <a:rPr lang="en-US" altLang="ko-KR" sz="1100" dirty="0">
                <a:latin typeface="맑은 고딕" pitchFamily="50" charset="-127"/>
                <a:ea typeface="맑은 고딕" pitchFamily="50" charset="-127"/>
              </a:rPr>
              <a:t> NG : </a:t>
            </a:r>
          </a:p>
          <a:p>
            <a:pPr eaLnBrk="1" hangingPunct="1"/>
            <a:r>
              <a:rPr lang="en-US" altLang="ko-KR" sz="1100" dirty="0" err="1">
                <a:latin typeface="맑은 고딕" pitchFamily="50" charset="-127"/>
                <a:ea typeface="맑은 고딕" pitchFamily="50" charset="-127"/>
              </a:rPr>
              <a:t>Không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đạt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yêu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cẩu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của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khách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hàng</a:t>
            </a:r>
            <a:endParaRPr lang="ko-KR" altLang="en-US" sz="1100" dirty="0">
              <a:latin typeface="맑은 고딕" pitchFamily="50" charset="-127"/>
              <a:ea typeface="맑은 고딕" pitchFamily="50" charset="-127"/>
            </a:endParaRPr>
          </a:p>
        </p:txBody>
      </p:sp>
      <p:sp>
        <p:nvSpPr>
          <p:cNvPr id="288777" name="Text Box 9"/>
          <p:cNvSpPr txBox="1">
            <a:spLocks noChangeArrowheads="1"/>
          </p:cNvSpPr>
          <p:nvPr/>
        </p:nvSpPr>
        <p:spPr bwMode="auto">
          <a:xfrm>
            <a:off x="4429125" y="3157538"/>
            <a:ext cx="1106393" cy="2616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a:latin typeface="맑은 고딕" pitchFamily="50" charset="-127"/>
                <a:ea typeface="맑은 고딕" pitchFamily="50" charset="-127"/>
              </a:rPr>
              <a:t>Mean</a:t>
            </a:r>
            <a:r>
              <a:rPr lang="ko-KR" altLang="en-US" sz="1100" dirty="0">
                <a:latin typeface="맑은 고딕" pitchFamily="50" charset="-127"/>
                <a:ea typeface="맑은 고딕" pitchFamily="50" charset="-127"/>
              </a:rPr>
              <a:t> </a:t>
            </a:r>
            <a:r>
              <a:rPr lang="en-US" altLang="ko-KR" sz="1100" dirty="0">
                <a:latin typeface="맑은 고딕" pitchFamily="50" charset="-127"/>
                <a:ea typeface="맑은 고딕" pitchFamily="50" charset="-127"/>
              </a:rPr>
              <a:t>: 0.7mm</a:t>
            </a:r>
          </a:p>
        </p:txBody>
      </p:sp>
      <p:sp>
        <p:nvSpPr>
          <p:cNvPr id="288778" name="Text Box 10"/>
          <p:cNvSpPr txBox="1">
            <a:spLocks noChangeArrowheads="1"/>
          </p:cNvSpPr>
          <p:nvPr/>
        </p:nvSpPr>
        <p:spPr bwMode="auto">
          <a:xfrm>
            <a:off x="3948113" y="5772150"/>
            <a:ext cx="2143125" cy="2746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u="sng" dirty="0" err="1">
                <a:latin typeface="맑은 고딕" pitchFamily="50" charset="-127"/>
                <a:ea typeface="맑은 고딕" pitchFamily="50" charset="-127"/>
              </a:rPr>
              <a:t>Độ</a:t>
            </a:r>
            <a:r>
              <a:rPr lang="en-US" altLang="ko-KR" sz="1200" u="sng" dirty="0">
                <a:latin typeface="맑은 고딕" pitchFamily="50" charset="-127"/>
                <a:ea typeface="맑은 고딕" pitchFamily="50" charset="-127"/>
              </a:rPr>
              <a:t> </a:t>
            </a:r>
            <a:r>
              <a:rPr lang="en-US" altLang="ko-KR" sz="1200" u="sng" dirty="0" err="1">
                <a:latin typeface="맑은 고딕" pitchFamily="50" charset="-127"/>
                <a:ea typeface="맑은 고딕" pitchFamily="50" charset="-127"/>
              </a:rPr>
              <a:t>dày</a:t>
            </a:r>
            <a:r>
              <a:rPr lang="en-US" altLang="ko-KR" sz="1200" u="sng" dirty="0">
                <a:latin typeface="맑은 고딕" pitchFamily="50" charset="-127"/>
                <a:ea typeface="맑은 고딕" pitchFamily="50" charset="-127"/>
              </a:rPr>
              <a:t> </a:t>
            </a:r>
            <a:r>
              <a:rPr lang="en-US" altLang="ko-KR" sz="1200" u="sng" dirty="0" err="1">
                <a:latin typeface="맑은 고딕" pitchFamily="50" charset="-127"/>
                <a:ea typeface="맑은 고딕" pitchFamily="50" charset="-127"/>
              </a:rPr>
              <a:t>tấm</a:t>
            </a:r>
            <a:r>
              <a:rPr lang="en-US" altLang="ko-KR" sz="1200" u="sng" dirty="0">
                <a:latin typeface="맑은 고딕" pitchFamily="50" charset="-127"/>
                <a:ea typeface="맑은 고딕" pitchFamily="50" charset="-127"/>
              </a:rPr>
              <a:t> panel (mm)</a:t>
            </a:r>
          </a:p>
        </p:txBody>
      </p:sp>
      <p:sp>
        <p:nvSpPr>
          <p:cNvPr id="288779" name="Text Box 11"/>
          <p:cNvSpPr txBox="1">
            <a:spLocks noChangeArrowheads="1"/>
          </p:cNvSpPr>
          <p:nvPr/>
        </p:nvSpPr>
        <p:spPr bwMode="auto">
          <a:xfrm rot="16200000">
            <a:off x="1299941" y="4059422"/>
            <a:ext cx="1249808" cy="2769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err="1">
                <a:latin typeface="맑은 고딕" pitchFamily="50" charset="-127"/>
                <a:ea typeface="맑은 고딕" pitchFamily="50" charset="-127"/>
              </a:rPr>
              <a:t>Tần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suất</a:t>
            </a:r>
            <a:endParaRPr lang="ko-KR" altLang="en-US" sz="1200" dirty="0">
              <a:latin typeface="맑은 고딕" pitchFamily="50" charset="-127"/>
              <a:ea typeface="맑은 고딕" pitchFamily="50" charset="-127"/>
            </a:endParaRPr>
          </a:p>
        </p:txBody>
      </p:sp>
      <p:sp>
        <p:nvSpPr>
          <p:cNvPr id="288780" name="Line 12"/>
          <p:cNvSpPr>
            <a:spLocks noChangeShapeType="1"/>
          </p:cNvSpPr>
          <p:nvPr/>
        </p:nvSpPr>
        <p:spPr bwMode="auto">
          <a:xfrm flipV="1">
            <a:off x="2117725" y="3454400"/>
            <a:ext cx="0" cy="201295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8781" name="Line 13"/>
          <p:cNvSpPr>
            <a:spLocks noChangeShapeType="1"/>
          </p:cNvSpPr>
          <p:nvPr/>
        </p:nvSpPr>
        <p:spPr bwMode="auto">
          <a:xfrm flipV="1">
            <a:off x="5018088" y="3416300"/>
            <a:ext cx="0" cy="2079625"/>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8782" name="Line 14"/>
          <p:cNvSpPr>
            <a:spLocks noChangeShapeType="1"/>
          </p:cNvSpPr>
          <p:nvPr/>
        </p:nvSpPr>
        <p:spPr bwMode="auto">
          <a:xfrm flipH="1">
            <a:off x="4346575" y="4575175"/>
            <a:ext cx="660400" cy="0"/>
          </a:xfrm>
          <a:prstGeom prst="line">
            <a:avLst/>
          </a:prstGeom>
          <a:noFill/>
          <a:ln w="28575">
            <a:solidFill>
              <a:schemeClr val="bg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cxnSp>
        <p:nvCxnSpPr>
          <p:cNvPr id="288783" name="AutoShape 15"/>
          <p:cNvCxnSpPr>
            <a:cxnSpLocks noChangeShapeType="1"/>
          </p:cNvCxnSpPr>
          <p:nvPr/>
        </p:nvCxnSpPr>
        <p:spPr bwMode="auto">
          <a:xfrm>
            <a:off x="3402013" y="3998913"/>
            <a:ext cx="968375" cy="565150"/>
          </a:xfrm>
          <a:prstGeom prst="curvedConnector2">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8784" name="Oval 16"/>
          <p:cNvSpPr>
            <a:spLocks noChangeArrowheads="1"/>
          </p:cNvSpPr>
          <p:nvPr/>
        </p:nvSpPr>
        <p:spPr bwMode="auto">
          <a:xfrm>
            <a:off x="2365375" y="3752850"/>
            <a:ext cx="1485900" cy="534988"/>
          </a:xfrm>
          <a:prstGeom prst="ellipse">
            <a:avLst/>
          </a:prstGeom>
          <a:solidFill>
            <a:schemeClr val="bg1"/>
          </a:solidFill>
          <a:ln w="9525">
            <a:solidFill>
              <a:schemeClr val="tx1"/>
            </a:solidFill>
            <a:round/>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88785" name="Text Box 17"/>
          <p:cNvSpPr txBox="1">
            <a:spLocks noChangeArrowheads="1"/>
          </p:cNvSpPr>
          <p:nvPr/>
        </p:nvSpPr>
        <p:spPr bwMode="auto">
          <a:xfrm>
            <a:off x="2295525" y="3862209"/>
            <a:ext cx="1601788" cy="43088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100" dirty="0">
                <a:latin typeface="맑은 고딕" pitchFamily="50" charset="-127"/>
                <a:ea typeface="맑은 고딕" pitchFamily="50" charset="-127"/>
              </a:rPr>
              <a:t>Variances in the data: Sampling</a:t>
            </a:r>
            <a:endParaRPr lang="ko-KR" altLang="ko-KR" sz="1100" dirty="0">
              <a:latin typeface="맑은 고딕" pitchFamily="50" charset="-127"/>
              <a:ea typeface="맑은 고딕" pitchFamily="50" charset="-127"/>
            </a:endParaRPr>
          </a:p>
        </p:txBody>
      </p:sp>
      <p:sp>
        <p:nvSpPr>
          <p:cNvPr id="288786" name="Line 18"/>
          <p:cNvSpPr>
            <a:spLocks noChangeShapeType="1"/>
          </p:cNvSpPr>
          <p:nvPr/>
        </p:nvSpPr>
        <p:spPr bwMode="auto">
          <a:xfrm>
            <a:off x="5678488" y="3475038"/>
            <a:ext cx="1062037" cy="0"/>
          </a:xfrm>
          <a:prstGeom prst="line">
            <a:avLst/>
          </a:prstGeom>
          <a:noFill/>
          <a:ln w="19050">
            <a:solidFill>
              <a:schemeClr val="bg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8787" name="Line 19"/>
          <p:cNvSpPr>
            <a:spLocks noChangeShapeType="1"/>
          </p:cNvSpPr>
          <p:nvPr/>
        </p:nvSpPr>
        <p:spPr bwMode="auto">
          <a:xfrm flipH="1">
            <a:off x="2943225" y="3484563"/>
            <a:ext cx="1073150" cy="0"/>
          </a:xfrm>
          <a:prstGeom prst="line">
            <a:avLst/>
          </a:prstGeom>
          <a:noFill/>
          <a:ln w="19050">
            <a:solidFill>
              <a:schemeClr val="bg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8788" name="Rectangle 21"/>
          <p:cNvSpPr>
            <a:spLocks noChangeArrowheads="1"/>
          </p:cNvSpPr>
          <p:nvPr/>
        </p:nvSpPr>
        <p:spPr bwMode="auto">
          <a:xfrm>
            <a:off x="915988" y="1314450"/>
            <a:ext cx="8151812" cy="587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FF0033"/>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1600" indent="-101600" algn="just" eaLnBrk="0" hangingPunct="0">
              <a:lnSpc>
                <a:spcPct val="130000"/>
              </a:lnSpc>
              <a:buFont typeface="Wingdings" pitchFamily="2" charset="2"/>
              <a:buChar char="§"/>
            </a:pPr>
            <a:r>
              <a:rPr kumimoji="0" lang="en-US" altLang="ko-KR" sz="1200" dirty="0" err="1">
                <a:latin typeface="맑은 고딕" pitchFamily="50" charset="-127"/>
                <a:ea typeface="맑은 고딕" pitchFamily="50" charset="-127"/>
              </a:rPr>
              <a:t>Dưới</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đây</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là</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dữ</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liệu</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đo</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lường</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độ</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dày</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của</a:t>
            </a:r>
            <a:r>
              <a:rPr kumimoji="0" lang="en-US" altLang="ko-KR" sz="1200" dirty="0">
                <a:latin typeface="맑은 고딕" pitchFamily="50" charset="-127"/>
                <a:ea typeface="맑은 고딕" pitchFamily="50" charset="-127"/>
              </a:rPr>
              <a:t> 500 </a:t>
            </a:r>
            <a:r>
              <a:rPr kumimoji="0" lang="en-US" altLang="ko-KR" sz="1200" dirty="0" err="1">
                <a:latin typeface="맑은 고딕" pitchFamily="50" charset="-127"/>
                <a:ea typeface="맑은 고딕" pitchFamily="50" charset="-127"/>
              </a:rPr>
              <a:t>tấm</a:t>
            </a:r>
            <a:r>
              <a:rPr kumimoji="0" lang="en-US" altLang="ko-KR" sz="1200" dirty="0">
                <a:latin typeface="맑은 고딕" pitchFamily="50" charset="-127"/>
                <a:ea typeface="맑은 고딕" pitchFamily="50" charset="-127"/>
              </a:rPr>
              <a:t> panels </a:t>
            </a:r>
            <a:r>
              <a:rPr kumimoji="0" lang="en-US" altLang="ko-KR" sz="1200" dirty="0" err="1">
                <a:latin typeface="맑은 고딕" pitchFamily="50" charset="-127"/>
                <a:ea typeface="맑은 고딕" pitchFamily="50" charset="-127"/>
              </a:rPr>
              <a:t>được</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gửi</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tới</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nhà</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máy</a:t>
            </a:r>
            <a:r>
              <a:rPr kumimoji="0" lang="en-US" altLang="ko-KR" sz="1200" dirty="0">
                <a:latin typeface="맑은 고딕" pitchFamily="50" charset="-127"/>
                <a:ea typeface="맑은 고딕" pitchFamily="50" charset="-127"/>
              </a:rPr>
              <a:t>.</a:t>
            </a:r>
          </a:p>
          <a:p>
            <a:pPr algn="just" eaLnBrk="0" hangingPunct="0">
              <a:lnSpc>
                <a:spcPct val="130000"/>
              </a:lnSpc>
            </a:pP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Độ</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dày</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trung</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bình</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là</a:t>
            </a:r>
            <a:r>
              <a:rPr kumimoji="0" lang="en-US" altLang="ko-KR" sz="1200" dirty="0">
                <a:latin typeface="맑은 고딕" pitchFamily="50" charset="-127"/>
                <a:ea typeface="맑은 고딕" pitchFamily="50" charset="-127"/>
              </a:rPr>
              <a:t> 0.7 mm </a:t>
            </a:r>
            <a:r>
              <a:rPr kumimoji="0" lang="en-US" altLang="ko-KR" sz="1200" dirty="0" err="1">
                <a:latin typeface="맑은 고딕" pitchFamily="50" charset="-127"/>
                <a:ea typeface="맑은 고딕" pitchFamily="50" charset="-127"/>
              </a:rPr>
              <a:t>với</a:t>
            </a:r>
            <a:r>
              <a:rPr kumimoji="0" lang="en-US" altLang="ko-KR" sz="1200" dirty="0">
                <a:latin typeface="맑은 고딕" pitchFamily="50" charset="-127"/>
                <a:ea typeface="맑은 고딕" pitchFamily="50" charset="-127"/>
              </a:rPr>
              <a:t> max </a:t>
            </a:r>
            <a:r>
              <a:rPr kumimoji="0" lang="en-US" altLang="ko-KR" sz="1200" dirty="0" err="1">
                <a:latin typeface="맑은 고딕" pitchFamily="50" charset="-127"/>
                <a:ea typeface="맑은 고딕" pitchFamily="50" charset="-127"/>
              </a:rPr>
              <a:t>là</a:t>
            </a:r>
            <a:r>
              <a:rPr kumimoji="0" lang="en-US" altLang="ko-KR" sz="1200" dirty="0">
                <a:latin typeface="맑은 고딕" pitchFamily="50" charset="-127"/>
                <a:ea typeface="맑은 고딕" pitchFamily="50" charset="-127"/>
              </a:rPr>
              <a:t> 0.75 mm </a:t>
            </a:r>
            <a:r>
              <a:rPr kumimoji="0" lang="en-US" altLang="ko-KR" sz="1200" dirty="0" err="1">
                <a:latin typeface="맑은 고딕" pitchFamily="50" charset="-127"/>
                <a:ea typeface="맑은 고딕" pitchFamily="50" charset="-127"/>
              </a:rPr>
              <a:t>và</a:t>
            </a:r>
            <a:r>
              <a:rPr kumimoji="0" lang="en-US" altLang="ko-KR" sz="1200" dirty="0">
                <a:latin typeface="맑은 고딕" pitchFamily="50" charset="-127"/>
                <a:ea typeface="맑은 고딕" pitchFamily="50" charset="-127"/>
              </a:rPr>
              <a:t> min </a:t>
            </a:r>
            <a:r>
              <a:rPr kumimoji="0" lang="en-US" altLang="ko-KR" sz="1200" dirty="0" err="1">
                <a:latin typeface="맑은 고딕" pitchFamily="50" charset="-127"/>
                <a:ea typeface="맑은 고딕" pitchFamily="50" charset="-127"/>
              </a:rPr>
              <a:t>là</a:t>
            </a:r>
            <a:r>
              <a:rPr kumimoji="0" lang="en-US" altLang="ko-KR" sz="1200" dirty="0">
                <a:latin typeface="맑은 고딕" pitchFamily="50" charset="-127"/>
                <a:ea typeface="맑은 고딕" pitchFamily="50" charset="-127"/>
              </a:rPr>
              <a:t> 0.63 mm.</a:t>
            </a:r>
          </a:p>
        </p:txBody>
      </p:sp>
      <p:sp>
        <p:nvSpPr>
          <p:cNvPr id="22"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220</a:t>
            </a:fld>
            <a:endParaRPr lang="ko-KR" altLang="en-US" dirty="0"/>
          </a:p>
        </p:txBody>
      </p:sp>
    </p:spTree>
    <p:extLst>
      <p:ext uri="{BB962C8B-B14F-4D97-AF65-F5344CB8AC3E}">
        <p14:creationId xmlns:p14="http://schemas.microsoft.com/office/powerpoint/2010/main" val="1837315054"/>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ChangeArrowheads="1"/>
          </p:cNvSpPr>
          <p:nvPr/>
        </p:nvSpPr>
        <p:spPr bwMode="auto">
          <a:xfrm>
            <a:off x="4176713" y="2616200"/>
            <a:ext cx="5195887" cy="1447800"/>
          </a:xfrm>
          <a:prstGeom prst="rect">
            <a:avLst/>
          </a:prstGeom>
          <a:solidFill>
            <a:srgbClr val="E0E0E0"/>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89795" name="AutoShape 3"/>
          <p:cNvSpPr>
            <a:spLocks noChangeArrowheads="1"/>
          </p:cNvSpPr>
          <p:nvPr/>
        </p:nvSpPr>
        <p:spPr bwMode="auto">
          <a:xfrm>
            <a:off x="660400" y="2143125"/>
            <a:ext cx="3054350" cy="4105275"/>
          </a:xfrm>
          <a:prstGeom prst="roundRect">
            <a:avLst>
              <a:gd name="adj" fmla="val 4574"/>
            </a:avLst>
          </a:prstGeom>
          <a:solidFill>
            <a:srgbClr val="FFFFFF"/>
          </a:solidFill>
          <a:ln w="9525">
            <a:solidFill>
              <a:schemeClr val="tx1"/>
            </a:solidFill>
            <a:round/>
            <a:headEnd/>
            <a:tailEnd/>
          </a:ln>
          <a:effectLst>
            <a:outerShdw dist="107763"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useBgFill="1">
        <p:nvSpPr>
          <p:cNvPr id="289796" name="AutoShape 4"/>
          <p:cNvSpPr>
            <a:spLocks noChangeArrowheads="1"/>
          </p:cNvSpPr>
          <p:nvPr/>
        </p:nvSpPr>
        <p:spPr bwMode="auto">
          <a:xfrm>
            <a:off x="4248150" y="4869160"/>
            <a:ext cx="5105400" cy="1872208"/>
          </a:xfrm>
          <a:prstGeom prst="roundRect">
            <a:avLst>
              <a:gd name="adj" fmla="val 5347"/>
            </a:avLst>
          </a:prstGeom>
          <a:ln w="9525">
            <a:solidFill>
              <a:schemeClr val="tx1"/>
            </a:solidFill>
            <a:round/>
            <a:headEnd/>
            <a:tailEnd/>
          </a:ln>
          <a:effectLst>
            <a:outerShdw dist="107763" dir="2700000" algn="ctr" rotWithShape="0">
              <a:schemeClr val="bg2"/>
            </a:outerShdw>
          </a:effectLst>
        </p:spPr>
        <p:txBody>
          <a:bodyPr wrap="none" anchor="ctr"/>
          <a:lstStyle/>
          <a:p>
            <a:pPr>
              <a:lnSpc>
                <a:spcPct val="90000"/>
              </a:lnSpc>
            </a:pPr>
            <a:endParaRPr lang="ko-KR" altLang="ko-KR" sz="1200" dirty="0">
              <a:latin typeface="맑은 고딕" pitchFamily="50" charset="-127"/>
              <a:ea typeface="맑은 고딕" pitchFamily="50" charset="-127"/>
            </a:endParaRPr>
          </a:p>
        </p:txBody>
      </p:sp>
      <p:grpSp>
        <p:nvGrpSpPr>
          <p:cNvPr id="3" name="Group 5"/>
          <p:cNvGrpSpPr>
            <a:grpSpLocks/>
          </p:cNvGrpSpPr>
          <p:nvPr/>
        </p:nvGrpSpPr>
        <p:grpSpPr bwMode="auto">
          <a:xfrm>
            <a:off x="5127625" y="3533775"/>
            <a:ext cx="3263900" cy="1222375"/>
            <a:chOff x="983" y="1959"/>
            <a:chExt cx="2378" cy="609"/>
          </a:xfrm>
        </p:grpSpPr>
        <p:sp>
          <p:nvSpPr>
            <p:cNvPr id="289860" name="Freeform 6"/>
            <p:cNvSpPr>
              <a:spLocks/>
            </p:cNvSpPr>
            <p:nvPr/>
          </p:nvSpPr>
          <p:spPr bwMode="auto">
            <a:xfrm>
              <a:off x="1029" y="2005"/>
              <a:ext cx="2322" cy="553"/>
            </a:xfrm>
            <a:custGeom>
              <a:avLst/>
              <a:gdLst>
                <a:gd name="T0" fmla="*/ 2321 w 2322"/>
                <a:gd name="T1" fmla="*/ 552 h 553"/>
                <a:gd name="T2" fmla="*/ 2321 w 2322"/>
                <a:gd name="T3" fmla="*/ 307 h 553"/>
                <a:gd name="T4" fmla="*/ 1990 w 2322"/>
                <a:gd name="T5" fmla="*/ 307 h 553"/>
                <a:gd name="T6" fmla="*/ 2239 w 2322"/>
                <a:gd name="T7" fmla="*/ 30 h 553"/>
                <a:gd name="T8" fmla="*/ 1822 w 2322"/>
                <a:gd name="T9" fmla="*/ 307 h 553"/>
                <a:gd name="T10" fmla="*/ 498 w 2322"/>
                <a:gd name="T11" fmla="*/ 307 h 553"/>
                <a:gd name="T12" fmla="*/ 0 w 2322"/>
                <a:gd name="T13" fmla="*/ 0 h 553"/>
                <a:gd name="T14" fmla="*/ 331 w 2322"/>
                <a:gd name="T15" fmla="*/ 307 h 553"/>
                <a:gd name="T16" fmla="*/ 0 w 2322"/>
                <a:gd name="T17" fmla="*/ 307 h 553"/>
                <a:gd name="T18" fmla="*/ 0 w 2322"/>
                <a:gd name="T19" fmla="*/ 552 h 553"/>
                <a:gd name="T20" fmla="*/ 2321 w 2322"/>
                <a:gd name="T21" fmla="*/ 552 h 5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22" h="553">
                  <a:moveTo>
                    <a:pt x="2321" y="552"/>
                  </a:moveTo>
                  <a:lnTo>
                    <a:pt x="2321" y="307"/>
                  </a:lnTo>
                  <a:lnTo>
                    <a:pt x="1990" y="307"/>
                  </a:lnTo>
                  <a:lnTo>
                    <a:pt x="2239" y="30"/>
                  </a:lnTo>
                  <a:lnTo>
                    <a:pt x="1822" y="307"/>
                  </a:lnTo>
                  <a:lnTo>
                    <a:pt x="498" y="307"/>
                  </a:lnTo>
                  <a:lnTo>
                    <a:pt x="0" y="0"/>
                  </a:lnTo>
                  <a:lnTo>
                    <a:pt x="331" y="307"/>
                  </a:lnTo>
                  <a:lnTo>
                    <a:pt x="0" y="307"/>
                  </a:lnTo>
                  <a:lnTo>
                    <a:pt x="0" y="552"/>
                  </a:lnTo>
                  <a:lnTo>
                    <a:pt x="2321" y="552"/>
                  </a:lnTo>
                </a:path>
              </a:pathLst>
            </a:custGeom>
            <a:solidFill>
              <a:srgbClr val="80808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89861" name="Freeform 7"/>
            <p:cNvSpPr>
              <a:spLocks/>
            </p:cNvSpPr>
            <p:nvPr/>
          </p:nvSpPr>
          <p:spPr bwMode="auto">
            <a:xfrm>
              <a:off x="1029" y="2005"/>
              <a:ext cx="2332" cy="563"/>
            </a:xfrm>
            <a:custGeom>
              <a:avLst/>
              <a:gdLst>
                <a:gd name="T0" fmla="*/ 2331 w 2332"/>
                <a:gd name="T1" fmla="*/ 562 h 563"/>
                <a:gd name="T2" fmla="*/ 2331 w 2332"/>
                <a:gd name="T3" fmla="*/ 313 h 563"/>
                <a:gd name="T4" fmla="*/ 1999 w 2332"/>
                <a:gd name="T5" fmla="*/ 313 h 563"/>
                <a:gd name="T6" fmla="*/ 2249 w 2332"/>
                <a:gd name="T7" fmla="*/ 30 h 563"/>
                <a:gd name="T8" fmla="*/ 1830 w 2332"/>
                <a:gd name="T9" fmla="*/ 313 h 563"/>
                <a:gd name="T10" fmla="*/ 500 w 2332"/>
                <a:gd name="T11" fmla="*/ 313 h 563"/>
                <a:gd name="T12" fmla="*/ 0 w 2332"/>
                <a:gd name="T13" fmla="*/ 0 h 563"/>
                <a:gd name="T14" fmla="*/ 332 w 2332"/>
                <a:gd name="T15" fmla="*/ 313 h 563"/>
                <a:gd name="T16" fmla="*/ 0 w 2332"/>
                <a:gd name="T17" fmla="*/ 313 h 563"/>
                <a:gd name="T18" fmla="*/ 0 w 2332"/>
                <a:gd name="T19" fmla="*/ 562 h 563"/>
                <a:gd name="T20" fmla="*/ 2331 w 2332"/>
                <a:gd name="T21" fmla="*/ 562 h 5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32" h="563">
                  <a:moveTo>
                    <a:pt x="2331" y="562"/>
                  </a:moveTo>
                  <a:lnTo>
                    <a:pt x="2331" y="313"/>
                  </a:lnTo>
                  <a:lnTo>
                    <a:pt x="1999" y="313"/>
                  </a:lnTo>
                  <a:lnTo>
                    <a:pt x="2249" y="30"/>
                  </a:lnTo>
                  <a:lnTo>
                    <a:pt x="1830" y="313"/>
                  </a:lnTo>
                  <a:lnTo>
                    <a:pt x="500" y="313"/>
                  </a:lnTo>
                  <a:lnTo>
                    <a:pt x="0" y="0"/>
                  </a:lnTo>
                  <a:lnTo>
                    <a:pt x="332" y="313"/>
                  </a:lnTo>
                  <a:lnTo>
                    <a:pt x="0" y="313"/>
                  </a:lnTo>
                  <a:lnTo>
                    <a:pt x="0" y="562"/>
                  </a:lnTo>
                  <a:lnTo>
                    <a:pt x="2331" y="562"/>
                  </a:lnTo>
                </a:path>
              </a:pathLst>
            </a:custGeom>
            <a:noFill/>
            <a:ln w="12700" cap="rnd" cmpd="sng">
              <a:solidFill>
                <a:srgbClr val="80808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89862" name="Freeform 8"/>
            <p:cNvSpPr>
              <a:spLocks/>
            </p:cNvSpPr>
            <p:nvPr/>
          </p:nvSpPr>
          <p:spPr bwMode="auto">
            <a:xfrm>
              <a:off x="983" y="1959"/>
              <a:ext cx="2333" cy="564"/>
            </a:xfrm>
            <a:custGeom>
              <a:avLst/>
              <a:gdLst>
                <a:gd name="T0" fmla="*/ 2332 w 2333"/>
                <a:gd name="T1" fmla="*/ 563 h 564"/>
                <a:gd name="T2" fmla="*/ 2332 w 2333"/>
                <a:gd name="T3" fmla="*/ 314 h 564"/>
                <a:gd name="T4" fmla="*/ 1999 w 2333"/>
                <a:gd name="T5" fmla="*/ 314 h 564"/>
                <a:gd name="T6" fmla="*/ 2250 w 2333"/>
                <a:gd name="T7" fmla="*/ 30 h 564"/>
                <a:gd name="T8" fmla="*/ 1831 w 2333"/>
                <a:gd name="T9" fmla="*/ 314 h 564"/>
                <a:gd name="T10" fmla="*/ 500 w 2333"/>
                <a:gd name="T11" fmla="*/ 314 h 564"/>
                <a:gd name="T12" fmla="*/ 0 w 2333"/>
                <a:gd name="T13" fmla="*/ 0 h 564"/>
                <a:gd name="T14" fmla="*/ 333 w 2333"/>
                <a:gd name="T15" fmla="*/ 314 h 564"/>
                <a:gd name="T16" fmla="*/ 0 w 2333"/>
                <a:gd name="T17" fmla="*/ 314 h 564"/>
                <a:gd name="T18" fmla="*/ 0 w 2333"/>
                <a:gd name="T19" fmla="*/ 563 h 564"/>
                <a:gd name="T20" fmla="*/ 2332 w 2333"/>
                <a:gd name="T21" fmla="*/ 563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33" h="564">
                  <a:moveTo>
                    <a:pt x="2332" y="563"/>
                  </a:moveTo>
                  <a:lnTo>
                    <a:pt x="2332" y="314"/>
                  </a:lnTo>
                  <a:lnTo>
                    <a:pt x="1999" y="314"/>
                  </a:lnTo>
                  <a:lnTo>
                    <a:pt x="2250" y="30"/>
                  </a:lnTo>
                  <a:lnTo>
                    <a:pt x="1831" y="314"/>
                  </a:lnTo>
                  <a:lnTo>
                    <a:pt x="500" y="314"/>
                  </a:lnTo>
                  <a:lnTo>
                    <a:pt x="0" y="0"/>
                  </a:lnTo>
                  <a:lnTo>
                    <a:pt x="333" y="314"/>
                  </a:lnTo>
                  <a:lnTo>
                    <a:pt x="0" y="314"/>
                  </a:lnTo>
                  <a:lnTo>
                    <a:pt x="0" y="563"/>
                  </a:lnTo>
                  <a:lnTo>
                    <a:pt x="2332" y="563"/>
                  </a:lnTo>
                </a:path>
              </a:pathLst>
            </a:custGeom>
            <a:solidFill>
              <a:srgbClr val="FFFFFF"/>
            </a:solidFill>
            <a:ln w="127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4" name="Group 9"/>
          <p:cNvGrpSpPr>
            <a:grpSpLocks/>
          </p:cNvGrpSpPr>
          <p:nvPr/>
        </p:nvGrpSpPr>
        <p:grpSpPr bwMode="auto">
          <a:xfrm>
            <a:off x="4808538" y="3192463"/>
            <a:ext cx="803275" cy="347662"/>
            <a:chOff x="766" y="1794"/>
            <a:chExt cx="506" cy="219"/>
          </a:xfrm>
        </p:grpSpPr>
        <p:sp>
          <p:nvSpPr>
            <p:cNvPr id="289858" name="Rectangle 10"/>
            <p:cNvSpPr>
              <a:spLocks noChangeArrowheads="1"/>
            </p:cNvSpPr>
            <p:nvPr/>
          </p:nvSpPr>
          <p:spPr bwMode="auto">
            <a:xfrm>
              <a:off x="803" y="1832"/>
              <a:ext cx="469" cy="181"/>
            </a:xfrm>
            <a:prstGeom prst="rect">
              <a:avLst/>
            </a:prstGeom>
            <a:solidFill>
              <a:srgbClr val="808080"/>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89859" name="Rectangle 11"/>
            <p:cNvSpPr>
              <a:spLocks noChangeArrowheads="1"/>
            </p:cNvSpPr>
            <p:nvPr/>
          </p:nvSpPr>
          <p:spPr bwMode="auto">
            <a:xfrm>
              <a:off x="766" y="1794"/>
              <a:ext cx="450" cy="16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grpSp>
        <p:nvGrpSpPr>
          <p:cNvPr id="5" name="Group 12"/>
          <p:cNvGrpSpPr>
            <a:grpSpLocks/>
          </p:cNvGrpSpPr>
          <p:nvPr/>
        </p:nvGrpSpPr>
        <p:grpSpPr bwMode="auto">
          <a:xfrm>
            <a:off x="7883525" y="3192463"/>
            <a:ext cx="788988" cy="354012"/>
            <a:chOff x="2927" y="1794"/>
            <a:chExt cx="498" cy="223"/>
          </a:xfrm>
        </p:grpSpPr>
        <p:sp>
          <p:nvSpPr>
            <p:cNvPr id="289856" name="Rectangle 13"/>
            <p:cNvSpPr>
              <a:spLocks noChangeArrowheads="1"/>
            </p:cNvSpPr>
            <p:nvPr/>
          </p:nvSpPr>
          <p:spPr bwMode="auto">
            <a:xfrm>
              <a:off x="2965" y="1832"/>
              <a:ext cx="460" cy="185"/>
            </a:xfrm>
            <a:prstGeom prst="rect">
              <a:avLst/>
            </a:prstGeom>
            <a:solidFill>
              <a:srgbClr val="808080"/>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89857" name="Rectangle 14"/>
            <p:cNvSpPr>
              <a:spLocks noChangeArrowheads="1"/>
            </p:cNvSpPr>
            <p:nvPr/>
          </p:nvSpPr>
          <p:spPr bwMode="auto">
            <a:xfrm>
              <a:off x="2927" y="1794"/>
              <a:ext cx="442" cy="16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89800" name="Rectangle 15"/>
          <p:cNvSpPr>
            <a:spLocks noChangeArrowheads="1"/>
          </p:cNvSpPr>
          <p:nvPr/>
        </p:nvSpPr>
        <p:spPr bwMode="auto">
          <a:xfrm>
            <a:off x="4238625" y="3011488"/>
            <a:ext cx="5206555" cy="549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5888" tIns="58738" rIns="115888" bIns="58738">
            <a:spAutoFit/>
          </a:bodyPr>
          <a:lstStyle/>
          <a:p>
            <a:pPr defTabSz="1450975" eaLnBrk="0" hangingPunct="0"/>
            <a:r>
              <a:rPr kumimoji="0" lang="en-US" altLang="ko-KR" sz="2800" dirty="0">
                <a:solidFill>
                  <a:srgbClr val="000000"/>
                </a:solidFill>
                <a:latin typeface="맑은 고딕" pitchFamily="50" charset="-127"/>
                <a:ea typeface="맑은 고딕" pitchFamily="50" charset="-127"/>
              </a:rPr>
              <a:t>•••••••••••••••••••••••••••••••••</a:t>
            </a:r>
          </a:p>
        </p:txBody>
      </p:sp>
      <p:sp>
        <p:nvSpPr>
          <p:cNvPr id="289801" name="Rectangle 16"/>
          <p:cNvSpPr>
            <a:spLocks noChangeArrowheads="1"/>
          </p:cNvSpPr>
          <p:nvPr/>
        </p:nvSpPr>
        <p:spPr bwMode="auto">
          <a:xfrm>
            <a:off x="5481638" y="4248150"/>
            <a:ext cx="2720489" cy="303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5888" tIns="58738" rIns="115888" bIns="58738">
            <a:spAutoFit/>
          </a:bodyPr>
          <a:lstStyle/>
          <a:p>
            <a:pPr defTabSz="1450975" eaLnBrk="0" hangingPunct="0"/>
            <a:r>
              <a:rPr kumimoji="0" lang="en-US" altLang="ko-KR" sz="1200" dirty="0">
                <a:solidFill>
                  <a:srgbClr val="000000"/>
                </a:solidFill>
                <a:latin typeface="맑은 고딕" pitchFamily="50" charset="-127"/>
                <a:ea typeface="맑은 고딕" pitchFamily="50" charset="-127"/>
              </a:rPr>
              <a:t>Subgroup(Sampling) Interval (n= 5)</a:t>
            </a:r>
          </a:p>
        </p:txBody>
      </p:sp>
      <p:grpSp>
        <p:nvGrpSpPr>
          <p:cNvPr id="6" name="Group 17"/>
          <p:cNvGrpSpPr>
            <a:grpSpLocks/>
          </p:cNvGrpSpPr>
          <p:nvPr/>
        </p:nvGrpSpPr>
        <p:grpSpPr bwMode="auto">
          <a:xfrm>
            <a:off x="5867400" y="1949450"/>
            <a:ext cx="1471613" cy="1346200"/>
            <a:chOff x="1241" y="1053"/>
            <a:chExt cx="927" cy="848"/>
          </a:xfrm>
        </p:grpSpPr>
        <p:sp>
          <p:nvSpPr>
            <p:cNvPr id="289853" name="Freeform 18"/>
            <p:cNvSpPr>
              <a:spLocks/>
            </p:cNvSpPr>
            <p:nvPr/>
          </p:nvSpPr>
          <p:spPr bwMode="auto">
            <a:xfrm>
              <a:off x="1285" y="1099"/>
              <a:ext cx="873" cy="791"/>
            </a:xfrm>
            <a:custGeom>
              <a:avLst/>
              <a:gdLst>
                <a:gd name="T0" fmla="*/ 135 w 873"/>
                <a:gd name="T1" fmla="*/ 253 h 791"/>
                <a:gd name="T2" fmla="*/ 34 w 873"/>
                <a:gd name="T3" fmla="*/ 127 h 791"/>
                <a:gd name="T4" fmla="*/ 202 w 873"/>
                <a:gd name="T5" fmla="*/ 190 h 791"/>
                <a:gd name="T6" fmla="*/ 168 w 873"/>
                <a:gd name="T7" fmla="*/ 127 h 791"/>
                <a:gd name="T8" fmla="*/ 235 w 873"/>
                <a:gd name="T9" fmla="*/ 190 h 791"/>
                <a:gd name="T10" fmla="*/ 168 w 873"/>
                <a:gd name="T11" fmla="*/ 63 h 791"/>
                <a:gd name="T12" fmla="*/ 303 w 873"/>
                <a:gd name="T13" fmla="*/ 159 h 791"/>
                <a:gd name="T14" fmla="*/ 303 w 873"/>
                <a:gd name="T15" fmla="*/ 63 h 791"/>
                <a:gd name="T16" fmla="*/ 367 w 873"/>
                <a:gd name="T17" fmla="*/ 159 h 791"/>
                <a:gd name="T18" fmla="*/ 401 w 873"/>
                <a:gd name="T19" fmla="*/ 0 h 791"/>
                <a:gd name="T20" fmla="*/ 435 w 873"/>
                <a:gd name="T21" fmla="*/ 159 h 791"/>
                <a:gd name="T22" fmla="*/ 468 w 873"/>
                <a:gd name="T23" fmla="*/ 63 h 791"/>
                <a:gd name="T24" fmla="*/ 468 w 873"/>
                <a:gd name="T25" fmla="*/ 159 h 791"/>
                <a:gd name="T26" fmla="*/ 603 w 873"/>
                <a:gd name="T27" fmla="*/ 0 h 791"/>
                <a:gd name="T28" fmla="*/ 536 w 873"/>
                <a:gd name="T29" fmla="*/ 159 h 791"/>
                <a:gd name="T30" fmla="*/ 603 w 873"/>
                <a:gd name="T31" fmla="*/ 127 h 791"/>
                <a:gd name="T32" fmla="*/ 603 w 873"/>
                <a:gd name="T33" fmla="*/ 190 h 791"/>
                <a:gd name="T34" fmla="*/ 737 w 873"/>
                <a:gd name="T35" fmla="*/ 127 h 791"/>
                <a:gd name="T36" fmla="*/ 670 w 873"/>
                <a:gd name="T37" fmla="*/ 222 h 791"/>
                <a:gd name="T38" fmla="*/ 771 w 873"/>
                <a:gd name="T39" fmla="*/ 190 h 791"/>
                <a:gd name="T40" fmla="*/ 737 w 873"/>
                <a:gd name="T41" fmla="*/ 286 h 791"/>
                <a:gd name="T42" fmla="*/ 872 w 873"/>
                <a:gd name="T43" fmla="*/ 286 h 791"/>
                <a:gd name="T44" fmla="*/ 737 w 873"/>
                <a:gd name="T45" fmla="*/ 347 h 791"/>
                <a:gd name="T46" fmla="*/ 805 w 873"/>
                <a:gd name="T47" fmla="*/ 380 h 791"/>
                <a:gd name="T48" fmla="*/ 704 w 873"/>
                <a:gd name="T49" fmla="*/ 380 h 791"/>
                <a:gd name="T50" fmla="*/ 838 w 873"/>
                <a:gd name="T51" fmla="*/ 443 h 791"/>
                <a:gd name="T52" fmla="*/ 670 w 873"/>
                <a:gd name="T53" fmla="*/ 412 h 791"/>
                <a:gd name="T54" fmla="*/ 771 w 873"/>
                <a:gd name="T55" fmla="*/ 506 h 791"/>
                <a:gd name="T56" fmla="*/ 637 w 873"/>
                <a:gd name="T57" fmla="*/ 443 h 791"/>
                <a:gd name="T58" fmla="*/ 637 w 873"/>
                <a:gd name="T59" fmla="*/ 506 h 791"/>
                <a:gd name="T60" fmla="*/ 569 w 873"/>
                <a:gd name="T61" fmla="*/ 443 h 791"/>
                <a:gd name="T62" fmla="*/ 569 w 873"/>
                <a:gd name="T63" fmla="*/ 569 h 791"/>
                <a:gd name="T64" fmla="*/ 502 w 873"/>
                <a:gd name="T65" fmla="*/ 476 h 791"/>
                <a:gd name="T66" fmla="*/ 468 w 873"/>
                <a:gd name="T67" fmla="*/ 537 h 791"/>
                <a:gd name="T68" fmla="*/ 435 w 873"/>
                <a:gd name="T69" fmla="*/ 476 h 791"/>
                <a:gd name="T70" fmla="*/ 367 w 873"/>
                <a:gd name="T71" fmla="*/ 600 h 791"/>
                <a:gd name="T72" fmla="*/ 367 w 873"/>
                <a:gd name="T73" fmla="*/ 476 h 791"/>
                <a:gd name="T74" fmla="*/ 303 w 873"/>
                <a:gd name="T75" fmla="*/ 537 h 791"/>
                <a:gd name="T76" fmla="*/ 303 w 873"/>
                <a:gd name="T77" fmla="*/ 476 h 791"/>
                <a:gd name="T78" fmla="*/ 101 w 873"/>
                <a:gd name="T79" fmla="*/ 790 h 791"/>
                <a:gd name="T80" fmla="*/ 235 w 873"/>
                <a:gd name="T81" fmla="*/ 443 h 791"/>
                <a:gd name="T82" fmla="*/ 168 w 873"/>
                <a:gd name="T83" fmla="*/ 506 h 791"/>
                <a:gd name="T84" fmla="*/ 168 w 873"/>
                <a:gd name="T85" fmla="*/ 412 h 791"/>
                <a:gd name="T86" fmla="*/ 67 w 873"/>
                <a:gd name="T87" fmla="*/ 476 h 791"/>
                <a:gd name="T88" fmla="*/ 135 w 873"/>
                <a:gd name="T89" fmla="*/ 380 h 791"/>
                <a:gd name="T90" fmla="*/ 0 w 873"/>
                <a:gd name="T91" fmla="*/ 412 h 791"/>
                <a:gd name="T92" fmla="*/ 101 w 873"/>
                <a:gd name="T93" fmla="*/ 347 h 791"/>
                <a:gd name="T94" fmla="*/ 0 w 873"/>
                <a:gd name="T95" fmla="*/ 286 h 791"/>
                <a:gd name="T96" fmla="*/ 135 w 873"/>
                <a:gd name="T97" fmla="*/ 253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73" h="791">
                  <a:moveTo>
                    <a:pt x="135" y="253"/>
                  </a:moveTo>
                  <a:lnTo>
                    <a:pt x="34" y="127"/>
                  </a:lnTo>
                  <a:lnTo>
                    <a:pt x="202" y="190"/>
                  </a:lnTo>
                  <a:lnTo>
                    <a:pt x="168" y="127"/>
                  </a:lnTo>
                  <a:lnTo>
                    <a:pt x="235" y="190"/>
                  </a:lnTo>
                  <a:lnTo>
                    <a:pt x="168" y="63"/>
                  </a:lnTo>
                  <a:lnTo>
                    <a:pt x="303" y="159"/>
                  </a:lnTo>
                  <a:lnTo>
                    <a:pt x="303" y="63"/>
                  </a:lnTo>
                  <a:lnTo>
                    <a:pt x="367" y="159"/>
                  </a:lnTo>
                  <a:lnTo>
                    <a:pt x="401" y="0"/>
                  </a:lnTo>
                  <a:lnTo>
                    <a:pt x="435" y="159"/>
                  </a:lnTo>
                  <a:lnTo>
                    <a:pt x="468" y="63"/>
                  </a:lnTo>
                  <a:lnTo>
                    <a:pt x="468" y="159"/>
                  </a:lnTo>
                  <a:lnTo>
                    <a:pt x="603" y="0"/>
                  </a:lnTo>
                  <a:lnTo>
                    <a:pt x="536" y="159"/>
                  </a:lnTo>
                  <a:lnTo>
                    <a:pt x="603" y="127"/>
                  </a:lnTo>
                  <a:lnTo>
                    <a:pt x="603" y="190"/>
                  </a:lnTo>
                  <a:lnTo>
                    <a:pt x="737" y="127"/>
                  </a:lnTo>
                  <a:lnTo>
                    <a:pt x="670" y="222"/>
                  </a:lnTo>
                  <a:lnTo>
                    <a:pt x="771" y="190"/>
                  </a:lnTo>
                  <a:lnTo>
                    <a:pt x="737" y="286"/>
                  </a:lnTo>
                  <a:lnTo>
                    <a:pt x="872" y="286"/>
                  </a:lnTo>
                  <a:lnTo>
                    <a:pt x="737" y="347"/>
                  </a:lnTo>
                  <a:lnTo>
                    <a:pt x="805" y="380"/>
                  </a:lnTo>
                  <a:lnTo>
                    <a:pt x="704" y="380"/>
                  </a:lnTo>
                  <a:lnTo>
                    <a:pt x="838" y="443"/>
                  </a:lnTo>
                  <a:lnTo>
                    <a:pt x="670" y="412"/>
                  </a:lnTo>
                  <a:lnTo>
                    <a:pt x="771" y="506"/>
                  </a:lnTo>
                  <a:lnTo>
                    <a:pt x="637" y="443"/>
                  </a:lnTo>
                  <a:lnTo>
                    <a:pt x="637" y="506"/>
                  </a:lnTo>
                  <a:lnTo>
                    <a:pt x="569" y="443"/>
                  </a:lnTo>
                  <a:lnTo>
                    <a:pt x="569" y="569"/>
                  </a:lnTo>
                  <a:lnTo>
                    <a:pt x="502" y="476"/>
                  </a:lnTo>
                  <a:lnTo>
                    <a:pt x="468" y="537"/>
                  </a:lnTo>
                  <a:lnTo>
                    <a:pt x="435" y="476"/>
                  </a:lnTo>
                  <a:lnTo>
                    <a:pt x="367" y="600"/>
                  </a:lnTo>
                  <a:lnTo>
                    <a:pt x="367" y="476"/>
                  </a:lnTo>
                  <a:lnTo>
                    <a:pt x="303" y="537"/>
                  </a:lnTo>
                  <a:lnTo>
                    <a:pt x="303" y="476"/>
                  </a:lnTo>
                  <a:lnTo>
                    <a:pt x="101" y="790"/>
                  </a:lnTo>
                  <a:lnTo>
                    <a:pt x="235" y="443"/>
                  </a:lnTo>
                  <a:lnTo>
                    <a:pt x="168" y="506"/>
                  </a:lnTo>
                  <a:lnTo>
                    <a:pt x="168" y="412"/>
                  </a:lnTo>
                  <a:lnTo>
                    <a:pt x="67" y="476"/>
                  </a:lnTo>
                  <a:lnTo>
                    <a:pt x="135" y="380"/>
                  </a:lnTo>
                  <a:lnTo>
                    <a:pt x="0" y="412"/>
                  </a:lnTo>
                  <a:lnTo>
                    <a:pt x="101" y="347"/>
                  </a:lnTo>
                  <a:lnTo>
                    <a:pt x="0" y="286"/>
                  </a:lnTo>
                  <a:lnTo>
                    <a:pt x="135" y="253"/>
                  </a:lnTo>
                </a:path>
              </a:pathLst>
            </a:custGeom>
            <a:solidFill>
              <a:srgbClr val="808080"/>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latin typeface="맑은 고딕" panose="020B0503020000020004" pitchFamily="50" charset="-127"/>
                <a:ea typeface="맑은 고딕" panose="020B0503020000020004" pitchFamily="50" charset="-127"/>
              </a:endParaRPr>
            </a:p>
          </p:txBody>
        </p:sp>
        <p:sp>
          <p:nvSpPr>
            <p:cNvPr id="289854" name="Freeform 19"/>
            <p:cNvSpPr>
              <a:spLocks/>
            </p:cNvSpPr>
            <p:nvPr/>
          </p:nvSpPr>
          <p:spPr bwMode="auto">
            <a:xfrm>
              <a:off x="1285" y="1099"/>
              <a:ext cx="883" cy="802"/>
            </a:xfrm>
            <a:custGeom>
              <a:avLst/>
              <a:gdLst>
                <a:gd name="T0" fmla="*/ 136 w 883"/>
                <a:gd name="T1" fmla="*/ 257 h 802"/>
                <a:gd name="T2" fmla="*/ 34 w 883"/>
                <a:gd name="T3" fmla="*/ 128 h 802"/>
                <a:gd name="T4" fmla="*/ 204 w 883"/>
                <a:gd name="T5" fmla="*/ 193 h 802"/>
                <a:gd name="T6" fmla="*/ 170 w 883"/>
                <a:gd name="T7" fmla="*/ 128 h 802"/>
                <a:gd name="T8" fmla="*/ 238 w 883"/>
                <a:gd name="T9" fmla="*/ 193 h 802"/>
                <a:gd name="T10" fmla="*/ 170 w 883"/>
                <a:gd name="T11" fmla="*/ 64 h 802"/>
                <a:gd name="T12" fmla="*/ 306 w 883"/>
                <a:gd name="T13" fmla="*/ 161 h 802"/>
                <a:gd name="T14" fmla="*/ 306 w 883"/>
                <a:gd name="T15" fmla="*/ 64 h 802"/>
                <a:gd name="T16" fmla="*/ 372 w 883"/>
                <a:gd name="T17" fmla="*/ 161 h 802"/>
                <a:gd name="T18" fmla="*/ 406 w 883"/>
                <a:gd name="T19" fmla="*/ 0 h 802"/>
                <a:gd name="T20" fmla="*/ 440 w 883"/>
                <a:gd name="T21" fmla="*/ 161 h 802"/>
                <a:gd name="T22" fmla="*/ 474 w 883"/>
                <a:gd name="T23" fmla="*/ 64 h 802"/>
                <a:gd name="T24" fmla="*/ 474 w 883"/>
                <a:gd name="T25" fmla="*/ 161 h 802"/>
                <a:gd name="T26" fmla="*/ 610 w 883"/>
                <a:gd name="T27" fmla="*/ 0 h 802"/>
                <a:gd name="T28" fmla="*/ 542 w 883"/>
                <a:gd name="T29" fmla="*/ 161 h 802"/>
                <a:gd name="T30" fmla="*/ 610 w 883"/>
                <a:gd name="T31" fmla="*/ 128 h 802"/>
                <a:gd name="T32" fmla="*/ 610 w 883"/>
                <a:gd name="T33" fmla="*/ 193 h 802"/>
                <a:gd name="T34" fmla="*/ 746 w 883"/>
                <a:gd name="T35" fmla="*/ 128 h 802"/>
                <a:gd name="T36" fmla="*/ 678 w 883"/>
                <a:gd name="T37" fmla="*/ 225 h 802"/>
                <a:gd name="T38" fmla="*/ 780 w 883"/>
                <a:gd name="T39" fmla="*/ 193 h 802"/>
                <a:gd name="T40" fmla="*/ 746 w 883"/>
                <a:gd name="T41" fmla="*/ 290 h 802"/>
                <a:gd name="T42" fmla="*/ 882 w 883"/>
                <a:gd name="T43" fmla="*/ 290 h 802"/>
                <a:gd name="T44" fmla="*/ 746 w 883"/>
                <a:gd name="T45" fmla="*/ 351 h 802"/>
                <a:gd name="T46" fmla="*/ 814 w 883"/>
                <a:gd name="T47" fmla="*/ 385 h 802"/>
                <a:gd name="T48" fmla="*/ 712 w 883"/>
                <a:gd name="T49" fmla="*/ 385 h 802"/>
                <a:gd name="T50" fmla="*/ 848 w 883"/>
                <a:gd name="T51" fmla="*/ 450 h 802"/>
                <a:gd name="T52" fmla="*/ 678 w 883"/>
                <a:gd name="T53" fmla="*/ 418 h 802"/>
                <a:gd name="T54" fmla="*/ 780 w 883"/>
                <a:gd name="T55" fmla="*/ 513 h 802"/>
                <a:gd name="T56" fmla="*/ 644 w 883"/>
                <a:gd name="T57" fmla="*/ 450 h 802"/>
                <a:gd name="T58" fmla="*/ 644 w 883"/>
                <a:gd name="T59" fmla="*/ 513 h 802"/>
                <a:gd name="T60" fmla="*/ 576 w 883"/>
                <a:gd name="T61" fmla="*/ 450 h 802"/>
                <a:gd name="T62" fmla="*/ 576 w 883"/>
                <a:gd name="T63" fmla="*/ 577 h 802"/>
                <a:gd name="T64" fmla="*/ 508 w 883"/>
                <a:gd name="T65" fmla="*/ 482 h 802"/>
                <a:gd name="T66" fmla="*/ 474 w 883"/>
                <a:gd name="T67" fmla="*/ 544 h 802"/>
                <a:gd name="T68" fmla="*/ 440 w 883"/>
                <a:gd name="T69" fmla="*/ 482 h 802"/>
                <a:gd name="T70" fmla="*/ 372 w 883"/>
                <a:gd name="T71" fmla="*/ 608 h 802"/>
                <a:gd name="T72" fmla="*/ 372 w 883"/>
                <a:gd name="T73" fmla="*/ 482 h 802"/>
                <a:gd name="T74" fmla="*/ 306 w 883"/>
                <a:gd name="T75" fmla="*/ 544 h 802"/>
                <a:gd name="T76" fmla="*/ 306 w 883"/>
                <a:gd name="T77" fmla="*/ 482 h 802"/>
                <a:gd name="T78" fmla="*/ 102 w 883"/>
                <a:gd name="T79" fmla="*/ 801 h 802"/>
                <a:gd name="T80" fmla="*/ 238 w 883"/>
                <a:gd name="T81" fmla="*/ 450 h 802"/>
                <a:gd name="T82" fmla="*/ 170 w 883"/>
                <a:gd name="T83" fmla="*/ 513 h 802"/>
                <a:gd name="T84" fmla="*/ 170 w 883"/>
                <a:gd name="T85" fmla="*/ 418 h 802"/>
                <a:gd name="T86" fmla="*/ 68 w 883"/>
                <a:gd name="T87" fmla="*/ 482 h 802"/>
                <a:gd name="T88" fmla="*/ 136 w 883"/>
                <a:gd name="T89" fmla="*/ 385 h 802"/>
                <a:gd name="T90" fmla="*/ 0 w 883"/>
                <a:gd name="T91" fmla="*/ 418 h 802"/>
                <a:gd name="T92" fmla="*/ 102 w 883"/>
                <a:gd name="T93" fmla="*/ 351 h 802"/>
                <a:gd name="T94" fmla="*/ 0 w 883"/>
                <a:gd name="T95" fmla="*/ 290 h 802"/>
                <a:gd name="T96" fmla="*/ 136 w 883"/>
                <a:gd name="T97" fmla="*/ 257 h 80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83" h="802">
                  <a:moveTo>
                    <a:pt x="136" y="257"/>
                  </a:moveTo>
                  <a:lnTo>
                    <a:pt x="34" y="128"/>
                  </a:lnTo>
                  <a:lnTo>
                    <a:pt x="204" y="193"/>
                  </a:lnTo>
                  <a:lnTo>
                    <a:pt x="170" y="128"/>
                  </a:lnTo>
                  <a:lnTo>
                    <a:pt x="238" y="193"/>
                  </a:lnTo>
                  <a:lnTo>
                    <a:pt x="170" y="64"/>
                  </a:lnTo>
                  <a:lnTo>
                    <a:pt x="306" y="161"/>
                  </a:lnTo>
                  <a:lnTo>
                    <a:pt x="306" y="64"/>
                  </a:lnTo>
                  <a:lnTo>
                    <a:pt x="372" y="161"/>
                  </a:lnTo>
                  <a:lnTo>
                    <a:pt x="406" y="0"/>
                  </a:lnTo>
                  <a:lnTo>
                    <a:pt x="440" y="161"/>
                  </a:lnTo>
                  <a:lnTo>
                    <a:pt x="474" y="64"/>
                  </a:lnTo>
                  <a:lnTo>
                    <a:pt x="474" y="161"/>
                  </a:lnTo>
                  <a:lnTo>
                    <a:pt x="610" y="0"/>
                  </a:lnTo>
                  <a:lnTo>
                    <a:pt x="542" y="161"/>
                  </a:lnTo>
                  <a:lnTo>
                    <a:pt x="610" y="128"/>
                  </a:lnTo>
                  <a:lnTo>
                    <a:pt x="610" y="193"/>
                  </a:lnTo>
                  <a:lnTo>
                    <a:pt x="746" y="128"/>
                  </a:lnTo>
                  <a:lnTo>
                    <a:pt x="678" y="225"/>
                  </a:lnTo>
                  <a:lnTo>
                    <a:pt x="780" y="193"/>
                  </a:lnTo>
                  <a:lnTo>
                    <a:pt x="746" y="290"/>
                  </a:lnTo>
                  <a:lnTo>
                    <a:pt x="882" y="290"/>
                  </a:lnTo>
                  <a:lnTo>
                    <a:pt x="746" y="351"/>
                  </a:lnTo>
                  <a:lnTo>
                    <a:pt x="814" y="385"/>
                  </a:lnTo>
                  <a:lnTo>
                    <a:pt x="712" y="385"/>
                  </a:lnTo>
                  <a:lnTo>
                    <a:pt x="848" y="450"/>
                  </a:lnTo>
                  <a:lnTo>
                    <a:pt x="678" y="418"/>
                  </a:lnTo>
                  <a:lnTo>
                    <a:pt x="780" y="513"/>
                  </a:lnTo>
                  <a:lnTo>
                    <a:pt x="644" y="450"/>
                  </a:lnTo>
                  <a:lnTo>
                    <a:pt x="644" y="513"/>
                  </a:lnTo>
                  <a:lnTo>
                    <a:pt x="576" y="450"/>
                  </a:lnTo>
                  <a:lnTo>
                    <a:pt x="576" y="577"/>
                  </a:lnTo>
                  <a:lnTo>
                    <a:pt x="508" y="482"/>
                  </a:lnTo>
                  <a:lnTo>
                    <a:pt x="474" y="544"/>
                  </a:lnTo>
                  <a:lnTo>
                    <a:pt x="440" y="482"/>
                  </a:lnTo>
                  <a:lnTo>
                    <a:pt x="372" y="608"/>
                  </a:lnTo>
                  <a:lnTo>
                    <a:pt x="372" y="482"/>
                  </a:lnTo>
                  <a:lnTo>
                    <a:pt x="306" y="544"/>
                  </a:lnTo>
                  <a:lnTo>
                    <a:pt x="306" y="482"/>
                  </a:lnTo>
                  <a:lnTo>
                    <a:pt x="102" y="801"/>
                  </a:lnTo>
                  <a:lnTo>
                    <a:pt x="238" y="450"/>
                  </a:lnTo>
                  <a:lnTo>
                    <a:pt x="170" y="513"/>
                  </a:lnTo>
                  <a:lnTo>
                    <a:pt x="170" y="418"/>
                  </a:lnTo>
                  <a:lnTo>
                    <a:pt x="68" y="482"/>
                  </a:lnTo>
                  <a:lnTo>
                    <a:pt x="136" y="385"/>
                  </a:lnTo>
                  <a:lnTo>
                    <a:pt x="0" y="418"/>
                  </a:lnTo>
                  <a:lnTo>
                    <a:pt x="102" y="351"/>
                  </a:lnTo>
                  <a:lnTo>
                    <a:pt x="0" y="290"/>
                  </a:lnTo>
                  <a:lnTo>
                    <a:pt x="136" y="257"/>
                  </a:lnTo>
                </a:path>
              </a:pathLst>
            </a:custGeom>
            <a:noFill/>
            <a:ln w="25400" cap="rnd" cmpd="sng">
              <a:solidFill>
                <a:srgbClr val="80808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latin typeface="맑은 고딕" panose="020B0503020000020004" pitchFamily="50" charset="-127"/>
                <a:ea typeface="맑은 고딕" panose="020B0503020000020004" pitchFamily="50" charset="-127"/>
              </a:endParaRPr>
            </a:p>
          </p:txBody>
        </p:sp>
        <p:sp>
          <p:nvSpPr>
            <p:cNvPr id="289855" name="Freeform 20"/>
            <p:cNvSpPr>
              <a:spLocks/>
            </p:cNvSpPr>
            <p:nvPr/>
          </p:nvSpPr>
          <p:spPr bwMode="auto">
            <a:xfrm>
              <a:off x="1241" y="1053"/>
              <a:ext cx="882" cy="802"/>
            </a:xfrm>
            <a:custGeom>
              <a:avLst/>
              <a:gdLst>
                <a:gd name="T0" fmla="*/ 136 w 882"/>
                <a:gd name="T1" fmla="*/ 257 h 802"/>
                <a:gd name="T2" fmla="*/ 34 w 882"/>
                <a:gd name="T3" fmla="*/ 128 h 802"/>
                <a:gd name="T4" fmla="*/ 204 w 882"/>
                <a:gd name="T5" fmla="*/ 193 h 802"/>
                <a:gd name="T6" fmla="*/ 170 w 882"/>
                <a:gd name="T7" fmla="*/ 128 h 802"/>
                <a:gd name="T8" fmla="*/ 238 w 882"/>
                <a:gd name="T9" fmla="*/ 193 h 802"/>
                <a:gd name="T10" fmla="*/ 170 w 882"/>
                <a:gd name="T11" fmla="*/ 64 h 802"/>
                <a:gd name="T12" fmla="*/ 306 w 882"/>
                <a:gd name="T13" fmla="*/ 161 h 802"/>
                <a:gd name="T14" fmla="*/ 306 w 882"/>
                <a:gd name="T15" fmla="*/ 64 h 802"/>
                <a:gd name="T16" fmla="*/ 371 w 882"/>
                <a:gd name="T17" fmla="*/ 161 h 802"/>
                <a:gd name="T18" fmla="*/ 405 w 882"/>
                <a:gd name="T19" fmla="*/ 0 h 802"/>
                <a:gd name="T20" fmla="*/ 439 w 882"/>
                <a:gd name="T21" fmla="*/ 161 h 802"/>
                <a:gd name="T22" fmla="*/ 473 w 882"/>
                <a:gd name="T23" fmla="*/ 64 h 802"/>
                <a:gd name="T24" fmla="*/ 473 w 882"/>
                <a:gd name="T25" fmla="*/ 161 h 802"/>
                <a:gd name="T26" fmla="*/ 609 w 882"/>
                <a:gd name="T27" fmla="*/ 0 h 802"/>
                <a:gd name="T28" fmla="*/ 541 w 882"/>
                <a:gd name="T29" fmla="*/ 161 h 802"/>
                <a:gd name="T30" fmla="*/ 609 w 882"/>
                <a:gd name="T31" fmla="*/ 128 h 802"/>
                <a:gd name="T32" fmla="*/ 609 w 882"/>
                <a:gd name="T33" fmla="*/ 193 h 802"/>
                <a:gd name="T34" fmla="*/ 745 w 882"/>
                <a:gd name="T35" fmla="*/ 128 h 802"/>
                <a:gd name="T36" fmla="*/ 677 w 882"/>
                <a:gd name="T37" fmla="*/ 225 h 802"/>
                <a:gd name="T38" fmla="*/ 779 w 882"/>
                <a:gd name="T39" fmla="*/ 193 h 802"/>
                <a:gd name="T40" fmla="*/ 745 w 882"/>
                <a:gd name="T41" fmla="*/ 290 h 802"/>
                <a:gd name="T42" fmla="*/ 881 w 882"/>
                <a:gd name="T43" fmla="*/ 290 h 802"/>
                <a:gd name="T44" fmla="*/ 745 w 882"/>
                <a:gd name="T45" fmla="*/ 351 h 802"/>
                <a:gd name="T46" fmla="*/ 813 w 882"/>
                <a:gd name="T47" fmla="*/ 385 h 802"/>
                <a:gd name="T48" fmla="*/ 711 w 882"/>
                <a:gd name="T49" fmla="*/ 385 h 802"/>
                <a:gd name="T50" fmla="*/ 847 w 882"/>
                <a:gd name="T51" fmla="*/ 450 h 802"/>
                <a:gd name="T52" fmla="*/ 677 w 882"/>
                <a:gd name="T53" fmla="*/ 418 h 802"/>
                <a:gd name="T54" fmla="*/ 779 w 882"/>
                <a:gd name="T55" fmla="*/ 513 h 802"/>
                <a:gd name="T56" fmla="*/ 643 w 882"/>
                <a:gd name="T57" fmla="*/ 450 h 802"/>
                <a:gd name="T58" fmla="*/ 643 w 882"/>
                <a:gd name="T59" fmla="*/ 513 h 802"/>
                <a:gd name="T60" fmla="*/ 575 w 882"/>
                <a:gd name="T61" fmla="*/ 450 h 802"/>
                <a:gd name="T62" fmla="*/ 575 w 882"/>
                <a:gd name="T63" fmla="*/ 577 h 802"/>
                <a:gd name="T64" fmla="*/ 507 w 882"/>
                <a:gd name="T65" fmla="*/ 482 h 802"/>
                <a:gd name="T66" fmla="*/ 473 w 882"/>
                <a:gd name="T67" fmla="*/ 544 h 802"/>
                <a:gd name="T68" fmla="*/ 439 w 882"/>
                <a:gd name="T69" fmla="*/ 482 h 802"/>
                <a:gd name="T70" fmla="*/ 371 w 882"/>
                <a:gd name="T71" fmla="*/ 608 h 802"/>
                <a:gd name="T72" fmla="*/ 371 w 882"/>
                <a:gd name="T73" fmla="*/ 482 h 802"/>
                <a:gd name="T74" fmla="*/ 306 w 882"/>
                <a:gd name="T75" fmla="*/ 544 h 802"/>
                <a:gd name="T76" fmla="*/ 306 w 882"/>
                <a:gd name="T77" fmla="*/ 482 h 802"/>
                <a:gd name="T78" fmla="*/ 102 w 882"/>
                <a:gd name="T79" fmla="*/ 801 h 802"/>
                <a:gd name="T80" fmla="*/ 238 w 882"/>
                <a:gd name="T81" fmla="*/ 450 h 802"/>
                <a:gd name="T82" fmla="*/ 170 w 882"/>
                <a:gd name="T83" fmla="*/ 513 h 802"/>
                <a:gd name="T84" fmla="*/ 170 w 882"/>
                <a:gd name="T85" fmla="*/ 418 h 802"/>
                <a:gd name="T86" fmla="*/ 68 w 882"/>
                <a:gd name="T87" fmla="*/ 482 h 802"/>
                <a:gd name="T88" fmla="*/ 136 w 882"/>
                <a:gd name="T89" fmla="*/ 385 h 802"/>
                <a:gd name="T90" fmla="*/ 0 w 882"/>
                <a:gd name="T91" fmla="*/ 418 h 802"/>
                <a:gd name="T92" fmla="*/ 102 w 882"/>
                <a:gd name="T93" fmla="*/ 351 h 802"/>
                <a:gd name="T94" fmla="*/ 0 w 882"/>
                <a:gd name="T95" fmla="*/ 290 h 802"/>
                <a:gd name="T96" fmla="*/ 136 w 882"/>
                <a:gd name="T97" fmla="*/ 257 h 80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82" h="802">
                  <a:moveTo>
                    <a:pt x="136" y="257"/>
                  </a:moveTo>
                  <a:lnTo>
                    <a:pt x="34" y="128"/>
                  </a:lnTo>
                  <a:lnTo>
                    <a:pt x="204" y="193"/>
                  </a:lnTo>
                  <a:lnTo>
                    <a:pt x="170" y="128"/>
                  </a:lnTo>
                  <a:lnTo>
                    <a:pt x="238" y="193"/>
                  </a:lnTo>
                  <a:lnTo>
                    <a:pt x="170" y="64"/>
                  </a:lnTo>
                  <a:lnTo>
                    <a:pt x="306" y="161"/>
                  </a:lnTo>
                  <a:lnTo>
                    <a:pt x="306" y="64"/>
                  </a:lnTo>
                  <a:lnTo>
                    <a:pt x="371" y="161"/>
                  </a:lnTo>
                  <a:lnTo>
                    <a:pt x="405" y="0"/>
                  </a:lnTo>
                  <a:lnTo>
                    <a:pt x="439" y="161"/>
                  </a:lnTo>
                  <a:lnTo>
                    <a:pt x="473" y="64"/>
                  </a:lnTo>
                  <a:lnTo>
                    <a:pt x="473" y="161"/>
                  </a:lnTo>
                  <a:lnTo>
                    <a:pt x="609" y="0"/>
                  </a:lnTo>
                  <a:lnTo>
                    <a:pt x="541" y="161"/>
                  </a:lnTo>
                  <a:lnTo>
                    <a:pt x="609" y="128"/>
                  </a:lnTo>
                  <a:lnTo>
                    <a:pt x="609" y="193"/>
                  </a:lnTo>
                  <a:lnTo>
                    <a:pt x="745" y="128"/>
                  </a:lnTo>
                  <a:lnTo>
                    <a:pt x="677" y="225"/>
                  </a:lnTo>
                  <a:lnTo>
                    <a:pt x="779" y="193"/>
                  </a:lnTo>
                  <a:lnTo>
                    <a:pt x="745" y="290"/>
                  </a:lnTo>
                  <a:lnTo>
                    <a:pt x="881" y="290"/>
                  </a:lnTo>
                  <a:lnTo>
                    <a:pt x="745" y="351"/>
                  </a:lnTo>
                  <a:lnTo>
                    <a:pt x="813" y="385"/>
                  </a:lnTo>
                  <a:lnTo>
                    <a:pt x="711" y="385"/>
                  </a:lnTo>
                  <a:lnTo>
                    <a:pt x="847" y="450"/>
                  </a:lnTo>
                  <a:lnTo>
                    <a:pt x="677" y="418"/>
                  </a:lnTo>
                  <a:lnTo>
                    <a:pt x="779" y="513"/>
                  </a:lnTo>
                  <a:lnTo>
                    <a:pt x="643" y="450"/>
                  </a:lnTo>
                  <a:lnTo>
                    <a:pt x="643" y="513"/>
                  </a:lnTo>
                  <a:lnTo>
                    <a:pt x="575" y="450"/>
                  </a:lnTo>
                  <a:lnTo>
                    <a:pt x="575" y="577"/>
                  </a:lnTo>
                  <a:lnTo>
                    <a:pt x="507" y="482"/>
                  </a:lnTo>
                  <a:lnTo>
                    <a:pt x="473" y="544"/>
                  </a:lnTo>
                  <a:lnTo>
                    <a:pt x="439" y="482"/>
                  </a:lnTo>
                  <a:lnTo>
                    <a:pt x="371" y="608"/>
                  </a:lnTo>
                  <a:lnTo>
                    <a:pt x="371" y="482"/>
                  </a:lnTo>
                  <a:lnTo>
                    <a:pt x="306" y="544"/>
                  </a:lnTo>
                  <a:lnTo>
                    <a:pt x="306" y="482"/>
                  </a:lnTo>
                  <a:lnTo>
                    <a:pt x="102" y="801"/>
                  </a:lnTo>
                  <a:lnTo>
                    <a:pt x="238" y="450"/>
                  </a:lnTo>
                  <a:lnTo>
                    <a:pt x="170" y="513"/>
                  </a:lnTo>
                  <a:lnTo>
                    <a:pt x="170" y="418"/>
                  </a:lnTo>
                  <a:lnTo>
                    <a:pt x="68" y="482"/>
                  </a:lnTo>
                  <a:lnTo>
                    <a:pt x="136" y="385"/>
                  </a:lnTo>
                  <a:lnTo>
                    <a:pt x="0" y="418"/>
                  </a:lnTo>
                  <a:lnTo>
                    <a:pt x="102" y="351"/>
                  </a:lnTo>
                  <a:lnTo>
                    <a:pt x="0" y="290"/>
                  </a:lnTo>
                  <a:lnTo>
                    <a:pt x="136" y="257"/>
                  </a:lnTo>
                </a:path>
              </a:pathLst>
            </a:custGeom>
            <a:solidFill>
              <a:srgbClr val="404040"/>
            </a:solidFill>
            <a:ln w="254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latin typeface="맑은 고딕" panose="020B0503020000020004" pitchFamily="50" charset="-127"/>
                <a:ea typeface="맑은 고딕" panose="020B0503020000020004" pitchFamily="50" charset="-127"/>
              </a:endParaRPr>
            </a:p>
          </p:txBody>
        </p:sp>
      </p:grpSp>
      <p:grpSp>
        <p:nvGrpSpPr>
          <p:cNvPr id="7" name="Group 21"/>
          <p:cNvGrpSpPr>
            <a:grpSpLocks/>
          </p:cNvGrpSpPr>
          <p:nvPr/>
        </p:nvGrpSpPr>
        <p:grpSpPr bwMode="auto">
          <a:xfrm>
            <a:off x="6008688" y="2244725"/>
            <a:ext cx="976312" cy="474663"/>
            <a:chOff x="1362" y="1240"/>
            <a:chExt cx="615" cy="299"/>
          </a:xfrm>
        </p:grpSpPr>
        <p:sp>
          <p:nvSpPr>
            <p:cNvPr id="289851" name="Rectangle 22"/>
            <p:cNvSpPr>
              <a:spLocks noChangeArrowheads="1"/>
            </p:cNvSpPr>
            <p:nvPr/>
          </p:nvSpPr>
          <p:spPr bwMode="auto">
            <a:xfrm>
              <a:off x="1362" y="1240"/>
              <a:ext cx="615" cy="1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5888" tIns="58738" rIns="115888" bIns="58738">
              <a:spAutoFit/>
            </a:bodyPr>
            <a:lstStyle/>
            <a:p>
              <a:pPr defTabSz="1450975" eaLnBrk="0" hangingPunct="0"/>
              <a:r>
                <a:rPr kumimoji="0" lang="en-US" altLang="ko-KR" sz="1100" dirty="0">
                  <a:solidFill>
                    <a:srgbClr val="FFFFFF"/>
                  </a:solidFill>
                  <a:latin typeface="맑은 고딕" pitchFamily="50" charset="-127"/>
                  <a:ea typeface="맑은 고딕" pitchFamily="50" charset="-127"/>
                </a:rPr>
                <a:t>Production</a:t>
              </a:r>
            </a:p>
          </p:txBody>
        </p:sp>
        <p:sp>
          <p:nvSpPr>
            <p:cNvPr id="289852" name="Rectangle 23"/>
            <p:cNvSpPr>
              <a:spLocks noChangeArrowheads="1"/>
            </p:cNvSpPr>
            <p:nvPr/>
          </p:nvSpPr>
          <p:spPr bwMode="auto">
            <a:xfrm>
              <a:off x="1494" y="1348"/>
              <a:ext cx="329"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5888" tIns="58738" rIns="115888" bIns="58738">
              <a:spAutoFit/>
            </a:bodyPr>
            <a:lstStyle/>
            <a:p>
              <a:pPr defTabSz="1450975" eaLnBrk="0" hangingPunct="0"/>
              <a:r>
                <a:rPr kumimoji="0" lang="en-US" altLang="ko-KR" sz="1200" dirty="0">
                  <a:solidFill>
                    <a:srgbClr val="FFFFFF"/>
                  </a:solidFill>
                  <a:latin typeface="맑은 고딕" pitchFamily="50" charset="-127"/>
                  <a:ea typeface="맑은 고딕" pitchFamily="50" charset="-127"/>
                </a:rPr>
                <a:t>Unit</a:t>
              </a:r>
            </a:p>
          </p:txBody>
        </p:sp>
      </p:grpSp>
      <p:sp>
        <p:nvSpPr>
          <p:cNvPr id="289804" name="Rectangle 24"/>
          <p:cNvSpPr>
            <a:spLocks noChangeArrowheads="1"/>
          </p:cNvSpPr>
          <p:nvPr/>
        </p:nvSpPr>
        <p:spPr bwMode="auto">
          <a:xfrm>
            <a:off x="5689600" y="3557588"/>
            <a:ext cx="2005013" cy="419100"/>
          </a:xfrm>
          <a:prstGeom prst="rect">
            <a:avLst/>
          </a:prstGeom>
          <a:solidFill>
            <a:srgbClr val="FAFD00"/>
          </a:solidFill>
          <a:ln w="12700">
            <a:solidFill>
              <a:schemeClr val="tx1"/>
            </a:solidFill>
            <a:miter lim="800000"/>
            <a:headEnd/>
            <a:tailEnd/>
          </a:ln>
          <a:effectLst>
            <a:outerShdw dist="107763"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89805" name="Rectangle 25"/>
          <p:cNvSpPr>
            <a:spLocks noChangeArrowheads="1"/>
          </p:cNvSpPr>
          <p:nvPr/>
        </p:nvSpPr>
        <p:spPr bwMode="auto">
          <a:xfrm>
            <a:off x="5659438" y="3644900"/>
            <a:ext cx="16240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hangingPunct="0"/>
            <a:r>
              <a:rPr kumimoji="0" lang="en-US" altLang="ko-KR" sz="1200" dirty="0">
                <a:latin typeface="맑은 고딕" pitchFamily="50" charset="-127"/>
                <a:ea typeface="맑은 고딕" pitchFamily="50" charset="-127"/>
              </a:rPr>
              <a:t>Long Term  process</a:t>
            </a:r>
          </a:p>
        </p:txBody>
      </p:sp>
      <p:sp>
        <p:nvSpPr>
          <p:cNvPr id="289806" name="Text Box 26"/>
          <p:cNvSpPr txBox="1">
            <a:spLocks noChangeArrowheads="1"/>
          </p:cNvSpPr>
          <p:nvPr/>
        </p:nvSpPr>
        <p:spPr bwMode="auto">
          <a:xfrm>
            <a:off x="4376936" y="4869160"/>
            <a:ext cx="49403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b="1" dirty="0">
                <a:latin typeface="맑은 고딕" pitchFamily="50" charset="-127"/>
                <a:ea typeface="맑은 고딕" pitchFamily="50" charset="-127"/>
              </a:rPr>
              <a:t>Total Variance(SST) = Between Groups Variance(SSB) + </a:t>
            </a:r>
          </a:p>
          <a:p>
            <a:r>
              <a:rPr kumimoji="0" lang="en-US" altLang="ko-KR" sz="1200" b="1" dirty="0">
                <a:latin typeface="맑은 고딕" pitchFamily="50" charset="-127"/>
                <a:ea typeface="맑은 고딕" pitchFamily="50" charset="-127"/>
              </a:rPr>
              <a:t>                                 Within Group Variance(SSW)</a:t>
            </a:r>
          </a:p>
        </p:txBody>
      </p:sp>
      <p:sp>
        <p:nvSpPr>
          <p:cNvPr id="289807" name="Text Box 27"/>
          <p:cNvSpPr txBox="1">
            <a:spLocks noChangeArrowheads="1"/>
          </p:cNvSpPr>
          <p:nvPr/>
        </p:nvSpPr>
        <p:spPr bwMode="auto">
          <a:xfrm>
            <a:off x="1282700" y="1962150"/>
            <a:ext cx="1987550" cy="266700"/>
          </a:xfrm>
          <a:prstGeom prst="rect">
            <a:avLst/>
          </a:prstGeom>
          <a:solidFill>
            <a:srgbClr val="ECF8E8"/>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nSpc>
                <a:spcPct val="90000"/>
              </a:lnSpc>
            </a:pPr>
            <a:r>
              <a:rPr kumimoji="0" lang="en-US" altLang="ko-KR" sz="1200" b="1" dirty="0">
                <a:solidFill>
                  <a:srgbClr val="FF3300"/>
                </a:solidFill>
                <a:latin typeface="맑은 고딕" pitchFamily="50" charset="-127"/>
                <a:ea typeface="맑은 고딕" pitchFamily="50" charset="-127"/>
              </a:rPr>
              <a:t>Rational Subgroups</a:t>
            </a:r>
          </a:p>
        </p:txBody>
      </p:sp>
      <p:pic>
        <p:nvPicPr>
          <p:cNvPr id="289808" name="Picture 2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995363" y="5113338"/>
            <a:ext cx="1871662" cy="765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9809" name="Line 29"/>
          <p:cNvSpPr>
            <a:spLocks noChangeShapeType="1"/>
          </p:cNvSpPr>
          <p:nvPr/>
        </p:nvSpPr>
        <p:spPr bwMode="auto">
          <a:xfrm>
            <a:off x="1498600" y="2424113"/>
            <a:ext cx="0" cy="3455987"/>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10" name="Line 30"/>
          <p:cNvSpPr>
            <a:spLocks noChangeShapeType="1"/>
          </p:cNvSpPr>
          <p:nvPr/>
        </p:nvSpPr>
        <p:spPr bwMode="auto">
          <a:xfrm>
            <a:off x="2392363" y="2411413"/>
            <a:ext cx="0" cy="3455987"/>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11" name="Line 31"/>
          <p:cNvSpPr>
            <a:spLocks noChangeShapeType="1"/>
          </p:cNvSpPr>
          <p:nvPr/>
        </p:nvSpPr>
        <p:spPr bwMode="auto">
          <a:xfrm>
            <a:off x="1325563" y="3022600"/>
            <a:ext cx="1198562"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12" name="Line 32"/>
          <p:cNvSpPr>
            <a:spLocks noChangeShapeType="1"/>
          </p:cNvSpPr>
          <p:nvPr/>
        </p:nvSpPr>
        <p:spPr bwMode="auto">
          <a:xfrm>
            <a:off x="1325563" y="3357563"/>
            <a:ext cx="1198562"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13" name="Line 33"/>
          <p:cNvSpPr>
            <a:spLocks noChangeShapeType="1"/>
          </p:cNvSpPr>
          <p:nvPr/>
        </p:nvSpPr>
        <p:spPr bwMode="auto">
          <a:xfrm>
            <a:off x="1325563" y="3673475"/>
            <a:ext cx="1198562"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pic>
        <p:nvPicPr>
          <p:cNvPr id="289814" name="Picture 34"/>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736725" y="2419350"/>
            <a:ext cx="933450" cy="615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9815" name="Picture 35"/>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470025" y="2757488"/>
            <a:ext cx="935038" cy="617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9816" name="Picture 36"/>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951038" y="3071813"/>
            <a:ext cx="933450" cy="615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9817" name="Picture 37"/>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244600" y="4237038"/>
            <a:ext cx="935038" cy="617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9818" name="Line 38"/>
          <p:cNvSpPr>
            <a:spLocks noChangeShapeType="1"/>
          </p:cNvSpPr>
          <p:nvPr/>
        </p:nvSpPr>
        <p:spPr bwMode="auto">
          <a:xfrm>
            <a:off x="1327150" y="4843463"/>
            <a:ext cx="1198563"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19" name="Oval 39"/>
          <p:cNvSpPr>
            <a:spLocks noChangeArrowheads="1"/>
          </p:cNvSpPr>
          <p:nvPr/>
        </p:nvSpPr>
        <p:spPr bwMode="auto">
          <a:xfrm>
            <a:off x="1854200" y="5788025"/>
            <a:ext cx="133350" cy="131763"/>
          </a:xfrm>
          <a:prstGeom prst="ellipse">
            <a:avLst/>
          </a:prstGeom>
          <a:solidFill>
            <a:srgbClr val="0000FF"/>
          </a:solidFill>
          <a:ln w="9525" algn="ctr">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89820" name="Oval 40"/>
          <p:cNvSpPr>
            <a:spLocks noChangeArrowheads="1"/>
          </p:cNvSpPr>
          <p:nvPr/>
        </p:nvSpPr>
        <p:spPr bwMode="auto">
          <a:xfrm>
            <a:off x="1647825" y="4789488"/>
            <a:ext cx="131763" cy="133350"/>
          </a:xfrm>
          <a:prstGeom prst="ellipse">
            <a:avLst/>
          </a:prstGeom>
          <a:solidFill>
            <a:srgbClr val="FF3300"/>
          </a:solidFill>
          <a:ln w="9525" algn="ctr">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89821" name="Text Box 41"/>
          <p:cNvSpPr txBox="1">
            <a:spLocks noChangeArrowheads="1"/>
          </p:cNvSpPr>
          <p:nvPr/>
        </p:nvSpPr>
        <p:spPr bwMode="auto">
          <a:xfrm>
            <a:off x="685800" y="2889250"/>
            <a:ext cx="733425" cy="274638"/>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dirty="0">
                <a:latin typeface="맑은 고딕" pitchFamily="50" charset="-127"/>
                <a:ea typeface="맑은 고딕" pitchFamily="50" charset="-127"/>
              </a:rPr>
              <a:t>Time 1</a:t>
            </a:r>
          </a:p>
        </p:txBody>
      </p:sp>
      <p:sp>
        <p:nvSpPr>
          <p:cNvPr id="289822" name="Text Box 42"/>
          <p:cNvSpPr txBox="1">
            <a:spLocks noChangeArrowheads="1"/>
          </p:cNvSpPr>
          <p:nvPr/>
        </p:nvSpPr>
        <p:spPr bwMode="auto">
          <a:xfrm>
            <a:off x="687388" y="3246438"/>
            <a:ext cx="731837" cy="27463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dirty="0">
                <a:latin typeface="맑은 고딕" pitchFamily="50" charset="-127"/>
                <a:ea typeface="맑은 고딕" pitchFamily="50" charset="-127"/>
              </a:rPr>
              <a:t>Time 2</a:t>
            </a:r>
          </a:p>
        </p:txBody>
      </p:sp>
      <p:sp>
        <p:nvSpPr>
          <p:cNvPr id="289823" name="Text Box 43"/>
          <p:cNvSpPr txBox="1">
            <a:spLocks noChangeArrowheads="1"/>
          </p:cNvSpPr>
          <p:nvPr/>
        </p:nvSpPr>
        <p:spPr bwMode="auto">
          <a:xfrm>
            <a:off x="687388" y="3541713"/>
            <a:ext cx="731837" cy="27463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dirty="0">
                <a:latin typeface="맑은 고딕" pitchFamily="50" charset="-127"/>
                <a:ea typeface="맑은 고딕" pitchFamily="50" charset="-127"/>
              </a:rPr>
              <a:t>Time 3</a:t>
            </a:r>
          </a:p>
        </p:txBody>
      </p:sp>
      <p:sp>
        <p:nvSpPr>
          <p:cNvPr id="289824" name="Text Box 44"/>
          <p:cNvSpPr txBox="1">
            <a:spLocks noChangeArrowheads="1"/>
          </p:cNvSpPr>
          <p:nvPr/>
        </p:nvSpPr>
        <p:spPr bwMode="auto">
          <a:xfrm>
            <a:off x="660400" y="4694238"/>
            <a:ext cx="733425" cy="27463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dirty="0">
                <a:latin typeface="맑은 고딕" pitchFamily="50" charset="-127"/>
                <a:ea typeface="맑은 고딕" pitchFamily="50" charset="-127"/>
              </a:rPr>
              <a:t>Time g</a:t>
            </a:r>
          </a:p>
        </p:txBody>
      </p:sp>
      <p:sp>
        <p:nvSpPr>
          <p:cNvPr id="289825" name="Line 45"/>
          <p:cNvSpPr>
            <a:spLocks noChangeShapeType="1"/>
          </p:cNvSpPr>
          <p:nvPr/>
        </p:nvSpPr>
        <p:spPr bwMode="auto">
          <a:xfrm flipH="1">
            <a:off x="1952625" y="3049588"/>
            <a:ext cx="200025" cy="266700"/>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26" name="Line 46"/>
          <p:cNvSpPr>
            <a:spLocks noChangeShapeType="1"/>
          </p:cNvSpPr>
          <p:nvPr/>
        </p:nvSpPr>
        <p:spPr bwMode="auto">
          <a:xfrm>
            <a:off x="1925638" y="3395663"/>
            <a:ext cx="465137" cy="266700"/>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27" name="Line 47"/>
          <p:cNvSpPr>
            <a:spLocks noChangeShapeType="1"/>
          </p:cNvSpPr>
          <p:nvPr/>
        </p:nvSpPr>
        <p:spPr bwMode="auto">
          <a:xfrm flipH="1">
            <a:off x="1736725" y="3687763"/>
            <a:ext cx="668338" cy="1130300"/>
          </a:xfrm>
          <a:prstGeom prst="line">
            <a:avLst/>
          </a:prstGeom>
          <a:noFill/>
          <a:ln w="38100">
            <a:solidFill>
              <a:srgbClr val="FF33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28" name="Text Box 48"/>
          <p:cNvSpPr txBox="1">
            <a:spLocks noChangeArrowheads="1"/>
          </p:cNvSpPr>
          <p:nvPr/>
        </p:nvSpPr>
        <p:spPr bwMode="auto">
          <a:xfrm>
            <a:off x="1087438" y="5934075"/>
            <a:ext cx="796925" cy="274638"/>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dirty="0">
                <a:latin typeface="맑은 고딕" pitchFamily="50" charset="-127"/>
                <a:ea typeface="맑은 고딕" pitchFamily="50" charset="-127"/>
              </a:rPr>
              <a:t>LSL</a:t>
            </a:r>
          </a:p>
        </p:txBody>
      </p:sp>
      <p:sp>
        <p:nvSpPr>
          <p:cNvPr id="289829" name="Text Box 49"/>
          <p:cNvSpPr txBox="1">
            <a:spLocks noChangeArrowheads="1"/>
          </p:cNvSpPr>
          <p:nvPr/>
        </p:nvSpPr>
        <p:spPr bwMode="auto">
          <a:xfrm>
            <a:off x="2005013" y="5934075"/>
            <a:ext cx="800100" cy="274638"/>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dirty="0">
                <a:latin typeface="맑은 고딕" pitchFamily="50" charset="-127"/>
                <a:ea typeface="맑은 고딕" pitchFamily="50" charset="-127"/>
              </a:rPr>
              <a:t>USL</a:t>
            </a:r>
          </a:p>
        </p:txBody>
      </p:sp>
      <p:sp>
        <p:nvSpPr>
          <p:cNvPr id="289830" name="Text Box 50"/>
          <p:cNvSpPr txBox="1">
            <a:spLocks noChangeArrowheads="1"/>
          </p:cNvSpPr>
          <p:nvPr/>
        </p:nvSpPr>
        <p:spPr bwMode="auto">
          <a:xfrm>
            <a:off x="1527175" y="5934075"/>
            <a:ext cx="798513" cy="274638"/>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dirty="0">
                <a:latin typeface="맑은 고딕" pitchFamily="50" charset="-127"/>
                <a:ea typeface="맑은 고딕" pitchFamily="50" charset="-127"/>
              </a:rPr>
              <a:t>T</a:t>
            </a:r>
          </a:p>
        </p:txBody>
      </p:sp>
      <p:sp>
        <p:nvSpPr>
          <p:cNvPr id="289831" name="Line 51"/>
          <p:cNvSpPr>
            <a:spLocks noChangeShapeType="1"/>
          </p:cNvSpPr>
          <p:nvPr/>
        </p:nvSpPr>
        <p:spPr bwMode="auto">
          <a:xfrm>
            <a:off x="2338388" y="2755900"/>
            <a:ext cx="7334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89832" name="AutoShape 52"/>
          <p:cNvSpPr>
            <a:spLocks noChangeArrowheads="1"/>
          </p:cNvSpPr>
          <p:nvPr/>
        </p:nvSpPr>
        <p:spPr bwMode="auto">
          <a:xfrm>
            <a:off x="719137" y="2352675"/>
            <a:ext cx="1176337" cy="398463"/>
          </a:xfrm>
          <a:prstGeom prst="wedgeRoundRectCallout">
            <a:avLst>
              <a:gd name="adj1" fmla="val 73606"/>
              <a:gd name="adj2" fmla="val 27204"/>
              <a:gd name="adj3" fmla="val 16667"/>
            </a:avLst>
          </a:prstGeom>
          <a:solidFill>
            <a:srgbClr val="FFFFCC"/>
          </a:solidFill>
          <a:ln w="9525" algn="ctr">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eaLnBrk="0" hangingPunct="0"/>
            <a:r>
              <a:rPr kumimoji="0" lang="en-US" altLang="ko-KR" sz="1100" dirty="0">
                <a:solidFill>
                  <a:srgbClr val="FF3300"/>
                </a:solidFill>
                <a:latin typeface="맑은 고딕" pitchFamily="50" charset="-127"/>
                <a:ea typeface="맑은 고딕" pitchFamily="50" charset="-127"/>
              </a:rPr>
              <a:t>‘within group’ variance</a:t>
            </a:r>
            <a:endParaRPr kumimoji="0" lang="ko-KR" altLang="en-US" sz="1100" dirty="0">
              <a:solidFill>
                <a:srgbClr val="FF3300"/>
              </a:solidFill>
              <a:latin typeface="맑은 고딕" pitchFamily="50" charset="-127"/>
              <a:ea typeface="맑은 고딕" pitchFamily="50" charset="-127"/>
            </a:endParaRPr>
          </a:p>
        </p:txBody>
      </p:sp>
      <p:sp>
        <p:nvSpPr>
          <p:cNvPr id="289833" name="AutoShape 53"/>
          <p:cNvSpPr>
            <a:spLocks noChangeArrowheads="1"/>
          </p:cNvSpPr>
          <p:nvPr/>
        </p:nvSpPr>
        <p:spPr bwMode="auto">
          <a:xfrm>
            <a:off x="2505870" y="4200525"/>
            <a:ext cx="1272017" cy="400050"/>
          </a:xfrm>
          <a:prstGeom prst="wedgeRoundRectCallout">
            <a:avLst>
              <a:gd name="adj1" fmla="val -89870"/>
              <a:gd name="adj2" fmla="val -77574"/>
              <a:gd name="adj3" fmla="val 16667"/>
            </a:avLst>
          </a:prstGeom>
          <a:solidFill>
            <a:srgbClr val="FFFFCC"/>
          </a:solidFill>
          <a:ln w="9525" algn="ctr">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eaLnBrk="0" hangingPunct="0"/>
            <a:r>
              <a:rPr kumimoji="0" lang="en-US" altLang="ko-KR" sz="1100" dirty="0">
                <a:solidFill>
                  <a:srgbClr val="FF3300"/>
                </a:solidFill>
                <a:latin typeface="맑은 고딕" pitchFamily="50" charset="-127"/>
                <a:ea typeface="맑은 고딕" pitchFamily="50" charset="-127"/>
              </a:rPr>
              <a:t>‘between group’ variance</a:t>
            </a:r>
            <a:endParaRPr kumimoji="0" lang="ko-KR" altLang="en-US" sz="1100" dirty="0">
              <a:solidFill>
                <a:srgbClr val="FF3300"/>
              </a:solidFill>
              <a:latin typeface="맑은 고딕" pitchFamily="50" charset="-127"/>
              <a:ea typeface="맑은 고딕" pitchFamily="50" charset="-127"/>
            </a:endParaRPr>
          </a:p>
        </p:txBody>
      </p:sp>
      <p:sp>
        <p:nvSpPr>
          <p:cNvPr id="289834" name="AutoShape 54"/>
          <p:cNvSpPr>
            <a:spLocks noChangeArrowheads="1"/>
          </p:cNvSpPr>
          <p:nvPr/>
        </p:nvSpPr>
        <p:spPr bwMode="auto">
          <a:xfrm>
            <a:off x="2562225" y="5135563"/>
            <a:ext cx="1000125" cy="398462"/>
          </a:xfrm>
          <a:prstGeom prst="wedgeRoundRectCallout">
            <a:avLst>
              <a:gd name="adj1" fmla="val -90764"/>
              <a:gd name="adj2" fmla="val 7352"/>
              <a:gd name="adj3" fmla="val 16667"/>
            </a:avLst>
          </a:prstGeom>
          <a:solidFill>
            <a:srgbClr val="FFFFCC"/>
          </a:solidFill>
          <a:ln w="9525" algn="ctr">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eaLnBrk="0" hangingPunct="0"/>
            <a:r>
              <a:rPr kumimoji="0" lang="en-US" altLang="ko-KR" sz="1100" dirty="0">
                <a:solidFill>
                  <a:srgbClr val="FF3300"/>
                </a:solidFill>
                <a:latin typeface="맑은 고딕" pitchFamily="50" charset="-127"/>
                <a:ea typeface="맑은 고딕" pitchFamily="50" charset="-127"/>
              </a:rPr>
              <a:t>Total</a:t>
            </a:r>
          </a:p>
          <a:p>
            <a:pPr eaLnBrk="0" hangingPunct="0"/>
            <a:r>
              <a:rPr kumimoji="0" lang="en-US" altLang="ko-KR" sz="1100" dirty="0">
                <a:solidFill>
                  <a:srgbClr val="FF3300"/>
                </a:solidFill>
                <a:latin typeface="맑은 고딕" pitchFamily="50" charset="-127"/>
                <a:ea typeface="맑은 고딕" pitchFamily="50" charset="-127"/>
              </a:rPr>
              <a:t>variance</a:t>
            </a:r>
            <a:endParaRPr kumimoji="0" lang="ko-KR" altLang="en-US" sz="1100" dirty="0">
              <a:solidFill>
                <a:srgbClr val="FF3300"/>
              </a:solidFill>
              <a:latin typeface="맑은 고딕" pitchFamily="50" charset="-127"/>
              <a:ea typeface="맑은 고딕" pitchFamily="50" charset="-127"/>
            </a:endParaRPr>
          </a:p>
        </p:txBody>
      </p:sp>
      <p:sp>
        <p:nvSpPr>
          <p:cNvPr id="289835" name="Rectangle 55"/>
          <p:cNvSpPr>
            <a:spLocks noChangeArrowheads="1"/>
          </p:cNvSpPr>
          <p:nvPr/>
        </p:nvSpPr>
        <p:spPr bwMode="auto">
          <a:xfrm>
            <a:off x="4362451" y="6171456"/>
            <a:ext cx="4403770"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buFont typeface="Wingdings" pitchFamily="2" charset="2"/>
              <a:buChar char="ü"/>
            </a:pPr>
            <a:r>
              <a:rPr kumimoji="0" lang="en-US" altLang="ko-KR" sz="1000" dirty="0">
                <a:latin typeface="맑은 고딕" pitchFamily="50" charset="-127"/>
                <a:ea typeface="맑은 고딕" pitchFamily="50" charset="-127"/>
              </a:rPr>
              <a:t>Between Group Variance (SSB) = Short Term Variance Between Means</a:t>
            </a:r>
            <a:endParaRPr kumimoji="0" lang="ko-KR" altLang="en-US" sz="1000" dirty="0">
              <a:latin typeface="맑은 고딕" pitchFamily="50" charset="-127"/>
              <a:ea typeface="맑은 고딕" pitchFamily="50" charset="-127"/>
            </a:endParaRPr>
          </a:p>
        </p:txBody>
      </p:sp>
      <p:sp>
        <p:nvSpPr>
          <p:cNvPr id="289836" name="Rectangle 56"/>
          <p:cNvSpPr>
            <a:spLocks noChangeArrowheads="1"/>
          </p:cNvSpPr>
          <p:nvPr/>
        </p:nvSpPr>
        <p:spPr bwMode="auto">
          <a:xfrm>
            <a:off x="4362451" y="5942621"/>
            <a:ext cx="391645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buFont typeface="Wingdings" pitchFamily="2" charset="2"/>
              <a:buChar char="ü"/>
            </a:pPr>
            <a:r>
              <a:rPr kumimoji="0" lang="en-US" altLang="ko-KR" sz="1000" dirty="0">
                <a:latin typeface="맑은 고딕" pitchFamily="50" charset="-127"/>
                <a:ea typeface="맑은 고딕" pitchFamily="50" charset="-127"/>
              </a:rPr>
              <a:t>Within Group Variance (SSW) = Short Term Variance Within</a:t>
            </a:r>
            <a:endParaRPr kumimoji="0" lang="ko-KR" altLang="en-US" sz="1000" dirty="0">
              <a:latin typeface="맑은 고딕" pitchFamily="50" charset="-127"/>
              <a:ea typeface="맑은 고딕" pitchFamily="50" charset="-127"/>
            </a:endParaRPr>
          </a:p>
        </p:txBody>
      </p:sp>
      <p:sp>
        <p:nvSpPr>
          <p:cNvPr id="289837" name="Text Box 57"/>
          <p:cNvSpPr txBox="1">
            <a:spLocks noChangeArrowheads="1"/>
          </p:cNvSpPr>
          <p:nvPr/>
        </p:nvSpPr>
        <p:spPr bwMode="auto">
          <a:xfrm>
            <a:off x="568325" y="1143598"/>
            <a:ext cx="8769350" cy="6463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chia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thành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nhiều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ngắn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dài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Năng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ngắn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bởi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xấp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xỉ</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nhóm</a:t>
            </a:r>
            <a:r>
              <a:rPr lang="en-US" altLang="ko-KR" sz="1200" dirty="0">
                <a:latin typeface="맑은 고딕" pitchFamily="50" charset="-127"/>
                <a:ea typeface="맑은 고딕" pitchFamily="50" charset="-127"/>
              </a:rPr>
              <a:t>” - ‘Within Group’ variance. </a:t>
            </a:r>
            <a:r>
              <a:rPr lang="en-US" altLang="ko-KR" sz="1200" dirty="0" err="1">
                <a:latin typeface="맑은 고딕" pitchFamily="50" charset="-127"/>
                <a:ea typeface="맑은 고딕" pitchFamily="50" charset="-127"/>
              </a:rPr>
              <a:t>Năng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dài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bởi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tổng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tổng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nhóm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giữa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nhóm</a:t>
            </a:r>
            <a:r>
              <a:rPr lang="en-US" altLang="ko-KR" sz="1200" dirty="0">
                <a:latin typeface="맑은 고딕" pitchFamily="50" charset="-127"/>
                <a:ea typeface="맑은 고딕" pitchFamily="50" charset="-127"/>
              </a:rPr>
              <a:t>”.</a:t>
            </a:r>
          </a:p>
        </p:txBody>
      </p:sp>
      <p:grpSp>
        <p:nvGrpSpPr>
          <p:cNvPr id="8" name="Group 58"/>
          <p:cNvGrpSpPr>
            <a:grpSpLocks/>
          </p:cNvGrpSpPr>
          <p:nvPr/>
        </p:nvGrpSpPr>
        <p:grpSpPr bwMode="auto">
          <a:xfrm>
            <a:off x="3052763" y="2503488"/>
            <a:ext cx="1765300" cy="439737"/>
            <a:chOff x="1827" y="1505"/>
            <a:chExt cx="1112" cy="277"/>
          </a:xfrm>
        </p:grpSpPr>
        <p:sp>
          <p:nvSpPr>
            <p:cNvPr id="289848" name="Rectangle 59"/>
            <p:cNvSpPr>
              <a:spLocks noChangeArrowheads="1"/>
            </p:cNvSpPr>
            <p:nvPr/>
          </p:nvSpPr>
          <p:spPr bwMode="auto">
            <a:xfrm>
              <a:off x="1835" y="1518"/>
              <a:ext cx="1104" cy="264"/>
            </a:xfrm>
            <a:prstGeom prst="rect">
              <a:avLst/>
            </a:prstGeom>
            <a:solidFill>
              <a:srgbClr val="FAFD00"/>
            </a:solidFill>
            <a:ln w="12700">
              <a:solidFill>
                <a:schemeClr val="tx1"/>
              </a:solidFill>
              <a:miter lim="800000"/>
              <a:headEnd/>
              <a:tailEnd/>
            </a:ln>
            <a:effectLst>
              <a:outerShdw dist="107763"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89849" name="Rectangle 60"/>
            <p:cNvSpPr>
              <a:spLocks noChangeArrowheads="1"/>
            </p:cNvSpPr>
            <p:nvPr/>
          </p:nvSpPr>
          <p:spPr bwMode="auto">
            <a:xfrm>
              <a:off x="1827" y="1570"/>
              <a:ext cx="867"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hangingPunct="0"/>
              <a:r>
                <a:rPr kumimoji="0" lang="en-US" altLang="ko-KR" sz="1200" dirty="0">
                  <a:latin typeface="맑은 고딕" pitchFamily="50" charset="-127"/>
                  <a:ea typeface="맑은 고딕" pitchFamily="50" charset="-127"/>
                </a:rPr>
                <a:t>Short Term data</a:t>
              </a:r>
            </a:p>
          </p:txBody>
        </p:sp>
        <p:graphicFrame>
          <p:nvGraphicFramePr>
            <p:cNvPr id="289850" name="Object 61"/>
            <p:cNvGraphicFramePr>
              <a:graphicFrameLocks noChangeAspect="1"/>
            </p:cNvGraphicFramePr>
            <p:nvPr/>
          </p:nvGraphicFramePr>
          <p:xfrm>
            <a:off x="2652" y="1505"/>
            <a:ext cx="272" cy="258"/>
          </p:xfrm>
          <a:graphic>
            <a:graphicData uri="http://schemas.openxmlformats.org/presentationml/2006/ole">
              <mc:AlternateContent xmlns:mc="http://schemas.openxmlformats.org/markup-compatibility/2006">
                <mc:Choice xmlns:v="urn:schemas-microsoft-com:vml" Requires="v">
                  <p:oleObj name="Equation" r:id="rId4" imgW="241300" imgH="228600" progId="Equation.3">
                    <p:embed/>
                  </p:oleObj>
                </mc:Choice>
                <mc:Fallback>
                  <p:oleObj name="Equation" r:id="rId4" imgW="241300" imgH="228600" progId="Equation.3">
                    <p:embed/>
                    <p:pic>
                      <p:nvPicPr>
                        <p:cNvPr id="289850" name="Object 6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52" y="1505"/>
                          <a:ext cx="272" cy="25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aphicFrame>
        <p:nvGraphicFramePr>
          <p:cNvPr id="289839" name="Object 62"/>
          <p:cNvGraphicFramePr>
            <a:graphicFrameLocks noChangeAspect="1"/>
          </p:cNvGraphicFramePr>
          <p:nvPr/>
        </p:nvGraphicFramePr>
        <p:xfrm>
          <a:off x="7240588" y="3546475"/>
          <a:ext cx="455612" cy="387350"/>
        </p:xfrm>
        <a:graphic>
          <a:graphicData uri="http://schemas.openxmlformats.org/presentationml/2006/ole">
            <mc:AlternateContent xmlns:mc="http://schemas.openxmlformats.org/markup-compatibility/2006">
              <mc:Choice xmlns:v="urn:schemas-microsoft-com:vml" Requires="v">
                <p:oleObj name="Equation" r:id="rId6" imgW="253780" imgH="215713" progId="Equation.3">
                  <p:embed/>
                </p:oleObj>
              </mc:Choice>
              <mc:Fallback>
                <p:oleObj name="Equation" r:id="rId6" imgW="253780" imgH="215713" progId="Equation.3">
                  <p:embed/>
                  <p:pic>
                    <p:nvPicPr>
                      <p:cNvPr id="289839" name="Object 6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40588" y="3546475"/>
                        <a:ext cx="455612" cy="387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89840" name="Text Box 63"/>
          <p:cNvSpPr txBox="1">
            <a:spLocks noChangeArrowheads="1"/>
          </p:cNvSpPr>
          <p:nvPr/>
        </p:nvSpPr>
        <p:spPr bwMode="auto">
          <a:xfrm>
            <a:off x="4211638" y="6496893"/>
            <a:ext cx="5497512" cy="244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맑은 고딕" pitchFamily="50" charset="-127"/>
                <a:ea typeface="맑은 고딕" pitchFamily="50" charset="-127"/>
              </a:rPr>
              <a:t>※ SST=Sum of Square Total, SSB=Sum of Square Between, SSW=Sum of Square Within</a:t>
            </a:r>
          </a:p>
        </p:txBody>
      </p:sp>
      <p:sp>
        <p:nvSpPr>
          <p:cNvPr id="289841" name="Line 64"/>
          <p:cNvSpPr>
            <a:spLocks noChangeShapeType="1"/>
          </p:cNvSpPr>
          <p:nvPr/>
        </p:nvSpPr>
        <p:spPr bwMode="auto">
          <a:xfrm>
            <a:off x="4813300" y="2743200"/>
            <a:ext cx="342900" cy="0"/>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89842" name="Line 65"/>
          <p:cNvSpPr>
            <a:spLocks noChangeShapeType="1"/>
          </p:cNvSpPr>
          <p:nvPr/>
        </p:nvSpPr>
        <p:spPr bwMode="auto">
          <a:xfrm>
            <a:off x="5156200" y="2743200"/>
            <a:ext cx="0" cy="431800"/>
          </a:xfrm>
          <a:prstGeom prst="line">
            <a:avLst/>
          </a:prstGeom>
          <a:noFill/>
          <a:ln w="127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89843" name="Rectangle 66"/>
          <p:cNvSpPr>
            <a:spLocks noChangeArrowheads="1"/>
          </p:cNvSpPr>
          <p:nvPr/>
        </p:nvSpPr>
        <p:spPr bwMode="auto">
          <a:xfrm>
            <a:off x="592138" y="836712"/>
            <a:ext cx="4039888"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eaLnBrk="0" hangingPunct="0">
              <a:buFont typeface="Wingdings" pitchFamily="2" charset="2"/>
              <a:buNone/>
            </a:pP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Sự</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phân</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chia</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của</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phương</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sai</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quá</a:t>
            </a:r>
            <a:r>
              <a:rPr kumimoji="0" lang="en-US" altLang="ko-KR" sz="1200" dirty="0">
                <a:latin typeface="맑은 고딕" pitchFamily="50" charset="-127"/>
                <a:ea typeface="맑은 고딕" pitchFamily="50" charset="-127"/>
              </a:rPr>
              <a:t> </a:t>
            </a:r>
            <a:r>
              <a:rPr kumimoji="0" lang="en-US" altLang="ko-KR" sz="1200" dirty="0" err="1">
                <a:latin typeface="맑은 고딕" pitchFamily="50" charset="-127"/>
                <a:ea typeface="맑은 고딕" pitchFamily="50" charset="-127"/>
              </a:rPr>
              <a:t>trình</a:t>
            </a:r>
            <a:r>
              <a:rPr kumimoji="0" lang="en-US" altLang="ko-KR" sz="1200" dirty="0">
                <a:latin typeface="맑은 고딕" pitchFamily="50" charset="-127"/>
                <a:ea typeface="맑은 고딕" pitchFamily="50" charset="-127"/>
              </a:rPr>
              <a:t> (Scattering)</a:t>
            </a:r>
            <a:endParaRPr kumimoji="0" lang="ko-KR" altLang="en-US" sz="1200" dirty="0">
              <a:latin typeface="맑은 고딕" pitchFamily="50" charset="-127"/>
              <a:ea typeface="맑은 고딕" pitchFamily="50" charset="-127"/>
            </a:endParaRPr>
          </a:p>
        </p:txBody>
      </p:sp>
      <p:sp>
        <p:nvSpPr>
          <p:cNvPr id="289844" name="Oval 68"/>
          <p:cNvSpPr>
            <a:spLocks noChangeArrowheads="1"/>
          </p:cNvSpPr>
          <p:nvPr/>
        </p:nvSpPr>
        <p:spPr bwMode="auto">
          <a:xfrm>
            <a:off x="2120900" y="2954338"/>
            <a:ext cx="134938" cy="131762"/>
          </a:xfrm>
          <a:prstGeom prst="ellipse">
            <a:avLst/>
          </a:prstGeom>
          <a:solidFill>
            <a:srgbClr val="FF3300"/>
          </a:solidFill>
          <a:ln w="9525" algn="ctr">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89845" name="Oval 69"/>
          <p:cNvSpPr>
            <a:spLocks noChangeArrowheads="1"/>
          </p:cNvSpPr>
          <p:nvPr/>
        </p:nvSpPr>
        <p:spPr bwMode="auto">
          <a:xfrm>
            <a:off x="1863725" y="3287713"/>
            <a:ext cx="134938" cy="131762"/>
          </a:xfrm>
          <a:prstGeom prst="ellipse">
            <a:avLst/>
          </a:prstGeom>
          <a:solidFill>
            <a:srgbClr val="FF3300"/>
          </a:solidFill>
          <a:ln w="9525" algn="ctr">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89846" name="Oval 70"/>
          <p:cNvSpPr>
            <a:spLocks noChangeArrowheads="1"/>
          </p:cNvSpPr>
          <p:nvPr/>
        </p:nvSpPr>
        <p:spPr bwMode="auto">
          <a:xfrm>
            <a:off x="2338388" y="3606800"/>
            <a:ext cx="134937" cy="131763"/>
          </a:xfrm>
          <a:prstGeom prst="ellipse">
            <a:avLst/>
          </a:prstGeom>
          <a:solidFill>
            <a:srgbClr val="FF3300"/>
          </a:solidFill>
          <a:ln w="9525" algn="ctr">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89847" name="Rectangle 1055"/>
          <p:cNvSpPr>
            <a:spLocks noChangeArrowheads="1"/>
          </p:cNvSpPr>
          <p:nvPr/>
        </p:nvSpPr>
        <p:spPr bwMode="auto">
          <a:xfrm>
            <a:off x="263525" y="260350"/>
            <a:ext cx="3648075"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221</a:t>
            </a:fld>
            <a:endParaRPr lang="ko-KR" altLang="en-US" dirty="0"/>
          </a:p>
        </p:txBody>
      </p:sp>
      <p:sp>
        <p:nvSpPr>
          <p:cNvPr id="76" name="Text Box 26"/>
          <p:cNvSpPr txBox="1">
            <a:spLocks noChangeArrowheads="1"/>
          </p:cNvSpPr>
          <p:nvPr/>
        </p:nvSpPr>
        <p:spPr bwMode="auto">
          <a:xfrm>
            <a:off x="4376936" y="5330825"/>
            <a:ext cx="49403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r>
              <a:rPr kumimoji="0" lang="en-US" altLang="ko-KR" sz="1200" b="1" dirty="0" err="1">
                <a:latin typeface="맑은 고딕" pitchFamily="50" charset="-127"/>
                <a:ea typeface="맑은 고딕" pitchFamily="50" charset="-127"/>
              </a:rPr>
              <a:t>Tổng</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phương</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sai</a:t>
            </a:r>
            <a:r>
              <a:rPr kumimoji="0" lang="en-US" altLang="ko-KR" sz="1200" b="1" dirty="0">
                <a:latin typeface="맑은 고딕" pitchFamily="50" charset="-127"/>
                <a:ea typeface="맑은 고딕" pitchFamily="50" charset="-127"/>
              </a:rPr>
              <a:t>(SST) = </a:t>
            </a:r>
            <a:r>
              <a:rPr kumimoji="0" lang="en-US" altLang="ko-KR" sz="1200" b="1" dirty="0" err="1">
                <a:latin typeface="맑은 고딕" pitchFamily="50" charset="-127"/>
                <a:ea typeface="맑은 고딕" pitchFamily="50" charset="-127"/>
              </a:rPr>
              <a:t>Phương</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sai</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giữa</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các</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nhóm</a:t>
            </a:r>
            <a:r>
              <a:rPr kumimoji="0" lang="en-US" altLang="ko-KR" sz="1200" b="1" dirty="0">
                <a:latin typeface="맑은 고딕" pitchFamily="50" charset="-127"/>
                <a:ea typeface="맑은 고딕" pitchFamily="50" charset="-127"/>
              </a:rPr>
              <a:t>(SSB) + </a:t>
            </a:r>
          </a:p>
          <a:p>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Phương</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sai</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trong</a:t>
            </a:r>
            <a:r>
              <a:rPr kumimoji="0" lang="en-US" altLang="ko-KR" sz="1200" b="1" dirty="0">
                <a:latin typeface="맑은 고딕" pitchFamily="50" charset="-127"/>
                <a:ea typeface="맑은 고딕" pitchFamily="50" charset="-127"/>
              </a:rPr>
              <a:t> </a:t>
            </a:r>
            <a:r>
              <a:rPr kumimoji="0" lang="en-US" altLang="ko-KR" sz="1200" b="1" dirty="0" err="1">
                <a:latin typeface="맑은 고딕" pitchFamily="50" charset="-127"/>
                <a:ea typeface="맑은 고딕" pitchFamily="50" charset="-127"/>
              </a:rPr>
              <a:t>nhóm</a:t>
            </a:r>
            <a:r>
              <a:rPr kumimoji="0" lang="en-US" altLang="ko-KR" sz="1200" b="1" dirty="0">
                <a:latin typeface="맑은 고딕" pitchFamily="50" charset="-127"/>
                <a:ea typeface="맑은 고딕" pitchFamily="50" charset="-127"/>
              </a:rPr>
              <a:t>(SSW)</a:t>
            </a:r>
          </a:p>
        </p:txBody>
      </p:sp>
    </p:spTree>
    <p:extLst>
      <p:ext uri="{BB962C8B-B14F-4D97-AF65-F5344CB8AC3E}">
        <p14:creationId xmlns:p14="http://schemas.microsoft.com/office/powerpoint/2010/main" val="2828295922"/>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ChangeArrowheads="1"/>
          </p:cNvSpPr>
          <p:nvPr/>
        </p:nvSpPr>
        <p:spPr bwMode="auto">
          <a:xfrm>
            <a:off x="993775" y="1422400"/>
            <a:ext cx="2253246"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buFont typeface="Wingdings" pitchFamily="2" charset="2"/>
              <a:buChar char="Ø"/>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bổ</a:t>
            </a:r>
            <a:r>
              <a:rPr lang="en-US" altLang="ko-KR" sz="1200" dirty="0">
                <a:latin typeface="맑은 고딕" pitchFamily="50" charset="-127"/>
                <a:ea typeface="맑은 고딕" pitchFamily="50" charset="-127"/>
              </a:rPr>
              <a:t> (Precision)</a:t>
            </a:r>
          </a:p>
        </p:txBody>
      </p:sp>
      <p:sp>
        <p:nvSpPr>
          <p:cNvPr id="290819" name="Rectangle 3"/>
          <p:cNvSpPr>
            <a:spLocks noChangeArrowheads="1"/>
          </p:cNvSpPr>
          <p:nvPr/>
        </p:nvSpPr>
        <p:spPr bwMode="auto">
          <a:xfrm>
            <a:off x="5629275" y="1422400"/>
            <a:ext cx="3114635"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buFont typeface="Wingdings" pitchFamily="2" charset="2"/>
              <a:buChar char="Ø"/>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tâm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(Accuracy)</a:t>
            </a:r>
          </a:p>
        </p:txBody>
      </p:sp>
      <p:sp>
        <p:nvSpPr>
          <p:cNvPr id="290820" name="Rectangle 4"/>
          <p:cNvSpPr>
            <a:spLocks noChangeArrowheads="1"/>
          </p:cNvSpPr>
          <p:nvPr/>
        </p:nvSpPr>
        <p:spPr bwMode="auto">
          <a:xfrm>
            <a:off x="987425" y="4027488"/>
            <a:ext cx="3504164"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buFont typeface="Wingdings" pitchFamily="2" charset="2"/>
              <a:buChar char="Ø"/>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ngắn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ko-KR" altLang="en-US"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dài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endParaRPr lang="ko-KR" altLang="en-US" sz="1200" dirty="0">
              <a:latin typeface="맑은 고딕" pitchFamily="50" charset="-127"/>
              <a:ea typeface="맑은 고딕" pitchFamily="50" charset="-127"/>
            </a:endParaRPr>
          </a:p>
        </p:txBody>
      </p:sp>
      <p:grpSp>
        <p:nvGrpSpPr>
          <p:cNvPr id="3" name="Group 5"/>
          <p:cNvGrpSpPr>
            <a:grpSpLocks/>
          </p:cNvGrpSpPr>
          <p:nvPr/>
        </p:nvGrpSpPr>
        <p:grpSpPr bwMode="auto">
          <a:xfrm>
            <a:off x="1098550" y="4335463"/>
            <a:ext cx="3276600" cy="1879600"/>
            <a:chOff x="520" y="2539"/>
            <a:chExt cx="2236" cy="1418"/>
          </a:xfrm>
        </p:grpSpPr>
        <p:sp>
          <p:nvSpPr>
            <p:cNvPr id="291109" name="Rectangle 6"/>
            <p:cNvSpPr>
              <a:spLocks noChangeArrowheads="1"/>
            </p:cNvSpPr>
            <p:nvPr/>
          </p:nvSpPr>
          <p:spPr bwMode="auto">
            <a:xfrm>
              <a:off x="520" y="2539"/>
              <a:ext cx="2236" cy="1418"/>
            </a:xfrm>
            <a:prstGeom prst="rect">
              <a:avLst/>
            </a:prstGeom>
            <a:solidFill>
              <a:srgbClr val="F6F8F2"/>
            </a:solidFill>
            <a:ln w="19050">
              <a:solidFill>
                <a:schemeClr val="bg2"/>
              </a:solidFill>
              <a:miter lim="800000"/>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91110" name="Line 7"/>
            <p:cNvSpPr>
              <a:spLocks noChangeShapeType="1"/>
            </p:cNvSpPr>
            <p:nvPr/>
          </p:nvSpPr>
          <p:spPr bwMode="auto">
            <a:xfrm>
              <a:off x="551" y="3717"/>
              <a:ext cx="2117" cy="0"/>
            </a:xfrm>
            <a:prstGeom prst="line">
              <a:avLst/>
            </a:prstGeom>
            <a:noFill/>
            <a:ln w="12699">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4" name="Group 8"/>
            <p:cNvGrpSpPr>
              <a:grpSpLocks/>
            </p:cNvGrpSpPr>
            <p:nvPr/>
          </p:nvGrpSpPr>
          <p:grpSpPr bwMode="auto">
            <a:xfrm>
              <a:off x="722" y="2875"/>
              <a:ext cx="1796" cy="835"/>
              <a:chOff x="4227" y="1718"/>
              <a:chExt cx="801" cy="1560"/>
            </a:xfrm>
          </p:grpSpPr>
          <p:sp>
            <p:nvSpPr>
              <p:cNvPr id="291122" name="Freeform 9"/>
              <p:cNvSpPr>
                <a:spLocks/>
              </p:cNvSpPr>
              <p:nvPr/>
            </p:nvSpPr>
            <p:spPr bwMode="auto">
              <a:xfrm>
                <a:off x="4227" y="1718"/>
                <a:ext cx="400" cy="1560"/>
              </a:xfrm>
              <a:custGeom>
                <a:avLst/>
                <a:gdLst>
                  <a:gd name="T0" fmla="*/ 0 w 400"/>
                  <a:gd name="T1" fmla="*/ 1559 h 1560"/>
                  <a:gd name="T2" fmla="*/ 10 w 400"/>
                  <a:gd name="T3" fmla="*/ 1554 h 1560"/>
                  <a:gd name="T4" fmla="*/ 28 w 400"/>
                  <a:gd name="T5" fmla="*/ 1542 h 1560"/>
                  <a:gd name="T6" fmla="*/ 42 w 400"/>
                  <a:gd name="T7" fmla="*/ 1537 h 1560"/>
                  <a:gd name="T8" fmla="*/ 59 w 400"/>
                  <a:gd name="T9" fmla="*/ 1527 h 1560"/>
                  <a:gd name="T10" fmla="*/ 77 w 400"/>
                  <a:gd name="T11" fmla="*/ 1510 h 1560"/>
                  <a:gd name="T12" fmla="*/ 91 w 400"/>
                  <a:gd name="T13" fmla="*/ 1502 h 1560"/>
                  <a:gd name="T14" fmla="*/ 102 w 400"/>
                  <a:gd name="T15" fmla="*/ 1492 h 1560"/>
                  <a:gd name="T16" fmla="*/ 116 w 400"/>
                  <a:gd name="T17" fmla="*/ 1476 h 1560"/>
                  <a:gd name="T18" fmla="*/ 125 w 400"/>
                  <a:gd name="T19" fmla="*/ 1464 h 1560"/>
                  <a:gd name="T20" fmla="*/ 136 w 400"/>
                  <a:gd name="T21" fmla="*/ 1451 h 1560"/>
                  <a:gd name="T22" fmla="*/ 148 w 400"/>
                  <a:gd name="T23" fmla="*/ 1436 h 1560"/>
                  <a:gd name="T24" fmla="*/ 157 w 400"/>
                  <a:gd name="T25" fmla="*/ 1419 h 1560"/>
                  <a:gd name="T26" fmla="*/ 163 w 400"/>
                  <a:gd name="T27" fmla="*/ 1406 h 1560"/>
                  <a:gd name="T28" fmla="*/ 170 w 400"/>
                  <a:gd name="T29" fmla="*/ 1390 h 1560"/>
                  <a:gd name="T30" fmla="*/ 177 w 400"/>
                  <a:gd name="T31" fmla="*/ 1368 h 1560"/>
                  <a:gd name="T32" fmla="*/ 183 w 400"/>
                  <a:gd name="T33" fmla="*/ 1350 h 1560"/>
                  <a:gd name="T34" fmla="*/ 185 w 400"/>
                  <a:gd name="T35" fmla="*/ 1345 h 1560"/>
                  <a:gd name="T36" fmla="*/ 188 w 400"/>
                  <a:gd name="T37" fmla="*/ 1328 h 1560"/>
                  <a:gd name="T38" fmla="*/ 196 w 400"/>
                  <a:gd name="T39" fmla="*/ 1288 h 1560"/>
                  <a:gd name="T40" fmla="*/ 204 w 400"/>
                  <a:gd name="T41" fmla="*/ 1247 h 1560"/>
                  <a:gd name="T42" fmla="*/ 210 w 400"/>
                  <a:gd name="T43" fmla="*/ 1206 h 1560"/>
                  <a:gd name="T44" fmla="*/ 218 w 400"/>
                  <a:gd name="T45" fmla="*/ 1159 h 1560"/>
                  <a:gd name="T46" fmla="*/ 226 w 400"/>
                  <a:gd name="T47" fmla="*/ 1114 h 1560"/>
                  <a:gd name="T48" fmla="*/ 232 w 400"/>
                  <a:gd name="T49" fmla="*/ 1063 h 1560"/>
                  <a:gd name="T50" fmla="*/ 238 w 400"/>
                  <a:gd name="T51" fmla="*/ 1023 h 1560"/>
                  <a:gd name="T52" fmla="*/ 241 w 400"/>
                  <a:gd name="T53" fmla="*/ 994 h 1560"/>
                  <a:gd name="T54" fmla="*/ 253 w 400"/>
                  <a:gd name="T55" fmla="*/ 891 h 1560"/>
                  <a:gd name="T56" fmla="*/ 279 w 400"/>
                  <a:gd name="T57" fmla="*/ 677 h 1560"/>
                  <a:gd name="T58" fmla="*/ 291 w 400"/>
                  <a:gd name="T59" fmla="*/ 569 h 1560"/>
                  <a:gd name="T60" fmla="*/ 295 w 400"/>
                  <a:gd name="T61" fmla="*/ 541 h 1560"/>
                  <a:gd name="T62" fmla="*/ 302 w 400"/>
                  <a:gd name="T63" fmla="*/ 490 h 1560"/>
                  <a:gd name="T64" fmla="*/ 308 w 400"/>
                  <a:gd name="T65" fmla="*/ 444 h 1560"/>
                  <a:gd name="T66" fmla="*/ 313 w 400"/>
                  <a:gd name="T67" fmla="*/ 395 h 1560"/>
                  <a:gd name="T68" fmla="*/ 320 w 400"/>
                  <a:gd name="T69" fmla="*/ 346 h 1560"/>
                  <a:gd name="T70" fmla="*/ 326 w 400"/>
                  <a:gd name="T71" fmla="*/ 304 h 1560"/>
                  <a:gd name="T72" fmla="*/ 330 w 400"/>
                  <a:gd name="T73" fmla="*/ 265 h 1560"/>
                  <a:gd name="T74" fmla="*/ 336 w 400"/>
                  <a:gd name="T75" fmla="*/ 230 h 1560"/>
                  <a:gd name="T76" fmla="*/ 338 w 400"/>
                  <a:gd name="T77" fmla="*/ 213 h 1560"/>
                  <a:gd name="T78" fmla="*/ 340 w 400"/>
                  <a:gd name="T79" fmla="*/ 198 h 1560"/>
                  <a:gd name="T80" fmla="*/ 345 w 400"/>
                  <a:gd name="T81" fmla="*/ 164 h 1560"/>
                  <a:gd name="T82" fmla="*/ 349 w 400"/>
                  <a:gd name="T83" fmla="*/ 139 h 1560"/>
                  <a:gd name="T84" fmla="*/ 353 w 400"/>
                  <a:gd name="T85" fmla="*/ 112 h 1560"/>
                  <a:gd name="T86" fmla="*/ 358 w 400"/>
                  <a:gd name="T87" fmla="*/ 87 h 1560"/>
                  <a:gd name="T88" fmla="*/ 362 w 400"/>
                  <a:gd name="T89" fmla="*/ 66 h 1560"/>
                  <a:gd name="T90" fmla="*/ 364 w 400"/>
                  <a:gd name="T91" fmla="*/ 51 h 1560"/>
                  <a:gd name="T92" fmla="*/ 368 w 400"/>
                  <a:gd name="T93" fmla="*/ 39 h 1560"/>
                  <a:gd name="T94" fmla="*/ 370 w 400"/>
                  <a:gd name="T95" fmla="*/ 38 h 1560"/>
                  <a:gd name="T96" fmla="*/ 374 w 400"/>
                  <a:gd name="T97" fmla="*/ 26 h 1560"/>
                  <a:gd name="T98" fmla="*/ 381 w 400"/>
                  <a:gd name="T99" fmla="*/ 16 h 1560"/>
                  <a:gd name="T100" fmla="*/ 388 w 400"/>
                  <a:gd name="T101" fmla="*/ 4 h 1560"/>
                  <a:gd name="T102" fmla="*/ 395 w 400"/>
                  <a:gd name="T103" fmla="*/ 0 h 1560"/>
                  <a:gd name="T104" fmla="*/ 399 w 400"/>
                  <a:gd name="T105" fmla="*/ 0 h 15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00" h="1560">
                    <a:moveTo>
                      <a:pt x="0" y="1559"/>
                    </a:moveTo>
                    <a:lnTo>
                      <a:pt x="10" y="1554"/>
                    </a:lnTo>
                    <a:lnTo>
                      <a:pt x="28" y="1542"/>
                    </a:lnTo>
                    <a:lnTo>
                      <a:pt x="42" y="1537"/>
                    </a:lnTo>
                    <a:lnTo>
                      <a:pt x="59" y="1527"/>
                    </a:lnTo>
                    <a:lnTo>
                      <a:pt x="77" y="1510"/>
                    </a:lnTo>
                    <a:lnTo>
                      <a:pt x="91" y="1502"/>
                    </a:lnTo>
                    <a:lnTo>
                      <a:pt x="102" y="1492"/>
                    </a:lnTo>
                    <a:lnTo>
                      <a:pt x="116" y="1476"/>
                    </a:lnTo>
                    <a:lnTo>
                      <a:pt x="125" y="1464"/>
                    </a:lnTo>
                    <a:lnTo>
                      <a:pt x="136" y="1451"/>
                    </a:lnTo>
                    <a:lnTo>
                      <a:pt x="148" y="1436"/>
                    </a:lnTo>
                    <a:lnTo>
                      <a:pt x="157" y="1419"/>
                    </a:lnTo>
                    <a:lnTo>
                      <a:pt x="163" y="1406"/>
                    </a:lnTo>
                    <a:lnTo>
                      <a:pt x="170" y="1390"/>
                    </a:lnTo>
                    <a:lnTo>
                      <a:pt x="177" y="1368"/>
                    </a:lnTo>
                    <a:lnTo>
                      <a:pt x="183" y="1350"/>
                    </a:lnTo>
                    <a:lnTo>
                      <a:pt x="185" y="1345"/>
                    </a:lnTo>
                    <a:lnTo>
                      <a:pt x="188" y="1328"/>
                    </a:lnTo>
                    <a:lnTo>
                      <a:pt x="196" y="1288"/>
                    </a:lnTo>
                    <a:lnTo>
                      <a:pt x="204" y="1247"/>
                    </a:lnTo>
                    <a:lnTo>
                      <a:pt x="210" y="1206"/>
                    </a:lnTo>
                    <a:lnTo>
                      <a:pt x="218" y="1159"/>
                    </a:lnTo>
                    <a:lnTo>
                      <a:pt x="226" y="1114"/>
                    </a:lnTo>
                    <a:lnTo>
                      <a:pt x="232" y="1063"/>
                    </a:lnTo>
                    <a:lnTo>
                      <a:pt x="238" y="1023"/>
                    </a:lnTo>
                    <a:lnTo>
                      <a:pt x="241" y="994"/>
                    </a:lnTo>
                    <a:lnTo>
                      <a:pt x="253" y="891"/>
                    </a:lnTo>
                    <a:lnTo>
                      <a:pt x="279" y="677"/>
                    </a:lnTo>
                    <a:lnTo>
                      <a:pt x="291" y="569"/>
                    </a:lnTo>
                    <a:lnTo>
                      <a:pt x="295" y="541"/>
                    </a:lnTo>
                    <a:lnTo>
                      <a:pt x="302" y="490"/>
                    </a:lnTo>
                    <a:lnTo>
                      <a:pt x="308" y="444"/>
                    </a:lnTo>
                    <a:lnTo>
                      <a:pt x="313" y="395"/>
                    </a:lnTo>
                    <a:lnTo>
                      <a:pt x="320" y="346"/>
                    </a:lnTo>
                    <a:lnTo>
                      <a:pt x="326" y="304"/>
                    </a:lnTo>
                    <a:lnTo>
                      <a:pt x="330" y="265"/>
                    </a:lnTo>
                    <a:lnTo>
                      <a:pt x="336" y="230"/>
                    </a:lnTo>
                    <a:lnTo>
                      <a:pt x="338" y="213"/>
                    </a:lnTo>
                    <a:lnTo>
                      <a:pt x="340" y="198"/>
                    </a:lnTo>
                    <a:lnTo>
                      <a:pt x="345" y="164"/>
                    </a:lnTo>
                    <a:lnTo>
                      <a:pt x="349" y="139"/>
                    </a:lnTo>
                    <a:lnTo>
                      <a:pt x="353" y="112"/>
                    </a:lnTo>
                    <a:lnTo>
                      <a:pt x="358" y="87"/>
                    </a:lnTo>
                    <a:lnTo>
                      <a:pt x="362" y="66"/>
                    </a:lnTo>
                    <a:lnTo>
                      <a:pt x="364" y="51"/>
                    </a:lnTo>
                    <a:lnTo>
                      <a:pt x="368" y="39"/>
                    </a:lnTo>
                    <a:lnTo>
                      <a:pt x="370" y="38"/>
                    </a:lnTo>
                    <a:lnTo>
                      <a:pt x="374" y="26"/>
                    </a:lnTo>
                    <a:lnTo>
                      <a:pt x="381" y="16"/>
                    </a:lnTo>
                    <a:lnTo>
                      <a:pt x="388" y="4"/>
                    </a:lnTo>
                    <a:lnTo>
                      <a:pt x="395" y="0"/>
                    </a:lnTo>
                    <a:lnTo>
                      <a:pt x="399" y="0"/>
                    </a:lnTo>
                  </a:path>
                </a:pathLst>
              </a:custGeom>
              <a:noFill/>
              <a:ln w="12699" cap="flat" cmpd="sng">
                <a:solidFill>
                  <a:srgbClr val="000000"/>
                </a:solidFill>
                <a:prstDash val="dash"/>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123" name="Freeform 10"/>
              <p:cNvSpPr>
                <a:spLocks/>
              </p:cNvSpPr>
              <p:nvPr/>
            </p:nvSpPr>
            <p:spPr bwMode="auto">
              <a:xfrm>
                <a:off x="4626" y="1718"/>
                <a:ext cx="402" cy="1560"/>
              </a:xfrm>
              <a:custGeom>
                <a:avLst/>
                <a:gdLst>
                  <a:gd name="T0" fmla="*/ 401 w 402"/>
                  <a:gd name="T1" fmla="*/ 1559 h 1560"/>
                  <a:gd name="T2" fmla="*/ 390 w 402"/>
                  <a:gd name="T3" fmla="*/ 1554 h 1560"/>
                  <a:gd name="T4" fmla="*/ 371 w 402"/>
                  <a:gd name="T5" fmla="*/ 1542 h 1560"/>
                  <a:gd name="T6" fmla="*/ 357 w 402"/>
                  <a:gd name="T7" fmla="*/ 1537 h 1560"/>
                  <a:gd name="T8" fmla="*/ 340 w 402"/>
                  <a:gd name="T9" fmla="*/ 1527 h 1560"/>
                  <a:gd name="T10" fmla="*/ 323 w 402"/>
                  <a:gd name="T11" fmla="*/ 1510 h 1560"/>
                  <a:gd name="T12" fmla="*/ 308 w 402"/>
                  <a:gd name="T13" fmla="*/ 1502 h 1560"/>
                  <a:gd name="T14" fmla="*/ 297 w 402"/>
                  <a:gd name="T15" fmla="*/ 1492 h 1560"/>
                  <a:gd name="T16" fmla="*/ 283 w 402"/>
                  <a:gd name="T17" fmla="*/ 1476 h 1560"/>
                  <a:gd name="T18" fmla="*/ 274 w 402"/>
                  <a:gd name="T19" fmla="*/ 1464 h 1560"/>
                  <a:gd name="T20" fmla="*/ 263 w 402"/>
                  <a:gd name="T21" fmla="*/ 1451 h 1560"/>
                  <a:gd name="T22" fmla="*/ 251 w 402"/>
                  <a:gd name="T23" fmla="*/ 1436 h 1560"/>
                  <a:gd name="T24" fmla="*/ 242 w 402"/>
                  <a:gd name="T25" fmla="*/ 1419 h 1560"/>
                  <a:gd name="T26" fmla="*/ 235 w 402"/>
                  <a:gd name="T27" fmla="*/ 1406 h 1560"/>
                  <a:gd name="T28" fmla="*/ 229 w 402"/>
                  <a:gd name="T29" fmla="*/ 1390 h 1560"/>
                  <a:gd name="T30" fmla="*/ 222 w 402"/>
                  <a:gd name="T31" fmla="*/ 1368 h 1560"/>
                  <a:gd name="T32" fmla="*/ 216 w 402"/>
                  <a:gd name="T33" fmla="*/ 1350 h 1560"/>
                  <a:gd name="T34" fmla="*/ 214 w 402"/>
                  <a:gd name="T35" fmla="*/ 1345 h 1560"/>
                  <a:gd name="T36" fmla="*/ 211 w 402"/>
                  <a:gd name="T37" fmla="*/ 1328 h 1560"/>
                  <a:gd name="T38" fmla="*/ 203 w 402"/>
                  <a:gd name="T39" fmla="*/ 1288 h 1560"/>
                  <a:gd name="T40" fmla="*/ 195 w 402"/>
                  <a:gd name="T41" fmla="*/ 1247 h 1560"/>
                  <a:gd name="T42" fmla="*/ 188 w 402"/>
                  <a:gd name="T43" fmla="*/ 1211 h 1560"/>
                  <a:gd name="T44" fmla="*/ 180 w 402"/>
                  <a:gd name="T45" fmla="*/ 1164 h 1560"/>
                  <a:gd name="T46" fmla="*/ 173 w 402"/>
                  <a:gd name="T47" fmla="*/ 1119 h 1560"/>
                  <a:gd name="T48" fmla="*/ 166 w 402"/>
                  <a:gd name="T49" fmla="*/ 1068 h 1560"/>
                  <a:gd name="T50" fmla="*/ 158 w 402"/>
                  <a:gd name="T51" fmla="*/ 1023 h 1560"/>
                  <a:gd name="T52" fmla="*/ 155 w 402"/>
                  <a:gd name="T53" fmla="*/ 994 h 1560"/>
                  <a:gd name="T54" fmla="*/ 143 w 402"/>
                  <a:gd name="T55" fmla="*/ 891 h 1560"/>
                  <a:gd name="T56" fmla="*/ 117 w 402"/>
                  <a:gd name="T57" fmla="*/ 677 h 1560"/>
                  <a:gd name="T58" fmla="*/ 104 w 402"/>
                  <a:gd name="T59" fmla="*/ 569 h 1560"/>
                  <a:gd name="T60" fmla="*/ 100 w 402"/>
                  <a:gd name="T61" fmla="*/ 541 h 1560"/>
                  <a:gd name="T62" fmla="*/ 95 w 402"/>
                  <a:gd name="T63" fmla="*/ 495 h 1560"/>
                  <a:gd name="T64" fmla="*/ 90 w 402"/>
                  <a:gd name="T65" fmla="*/ 444 h 1560"/>
                  <a:gd name="T66" fmla="*/ 83 w 402"/>
                  <a:gd name="T67" fmla="*/ 394 h 1560"/>
                  <a:gd name="T68" fmla="*/ 78 w 402"/>
                  <a:gd name="T69" fmla="*/ 346 h 1560"/>
                  <a:gd name="T70" fmla="*/ 72 w 402"/>
                  <a:gd name="T71" fmla="*/ 304 h 1560"/>
                  <a:gd name="T72" fmla="*/ 67 w 402"/>
                  <a:gd name="T73" fmla="*/ 265 h 1560"/>
                  <a:gd name="T74" fmla="*/ 61 w 402"/>
                  <a:gd name="T75" fmla="*/ 230 h 1560"/>
                  <a:gd name="T76" fmla="*/ 60 w 402"/>
                  <a:gd name="T77" fmla="*/ 213 h 1560"/>
                  <a:gd name="T78" fmla="*/ 57 w 402"/>
                  <a:gd name="T79" fmla="*/ 198 h 1560"/>
                  <a:gd name="T80" fmla="*/ 52 w 402"/>
                  <a:gd name="T81" fmla="*/ 168 h 1560"/>
                  <a:gd name="T82" fmla="*/ 47 w 402"/>
                  <a:gd name="T83" fmla="*/ 139 h 1560"/>
                  <a:gd name="T84" fmla="*/ 41 w 402"/>
                  <a:gd name="T85" fmla="*/ 107 h 1560"/>
                  <a:gd name="T86" fmla="*/ 38 w 402"/>
                  <a:gd name="T87" fmla="*/ 87 h 1560"/>
                  <a:gd name="T88" fmla="*/ 34 w 402"/>
                  <a:gd name="T89" fmla="*/ 72 h 1560"/>
                  <a:gd name="T90" fmla="*/ 31 w 402"/>
                  <a:gd name="T91" fmla="*/ 56 h 1560"/>
                  <a:gd name="T92" fmla="*/ 27 w 402"/>
                  <a:gd name="T93" fmla="*/ 39 h 1560"/>
                  <a:gd name="T94" fmla="*/ 25 w 402"/>
                  <a:gd name="T95" fmla="*/ 38 h 1560"/>
                  <a:gd name="T96" fmla="*/ 22 w 402"/>
                  <a:gd name="T97" fmla="*/ 26 h 1560"/>
                  <a:gd name="T98" fmla="*/ 16 w 402"/>
                  <a:gd name="T99" fmla="*/ 16 h 1560"/>
                  <a:gd name="T100" fmla="*/ 10 w 402"/>
                  <a:gd name="T101" fmla="*/ 4 h 1560"/>
                  <a:gd name="T102" fmla="*/ 3 w 402"/>
                  <a:gd name="T103" fmla="*/ 0 h 1560"/>
                  <a:gd name="T104" fmla="*/ 0 w 402"/>
                  <a:gd name="T105" fmla="*/ 0 h 15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02" h="1560">
                    <a:moveTo>
                      <a:pt x="401" y="1559"/>
                    </a:moveTo>
                    <a:lnTo>
                      <a:pt x="390" y="1554"/>
                    </a:lnTo>
                    <a:lnTo>
                      <a:pt x="371" y="1542"/>
                    </a:lnTo>
                    <a:lnTo>
                      <a:pt x="357" y="1537"/>
                    </a:lnTo>
                    <a:lnTo>
                      <a:pt x="340" y="1527"/>
                    </a:lnTo>
                    <a:lnTo>
                      <a:pt x="323" y="1510"/>
                    </a:lnTo>
                    <a:lnTo>
                      <a:pt x="308" y="1502"/>
                    </a:lnTo>
                    <a:lnTo>
                      <a:pt x="297" y="1492"/>
                    </a:lnTo>
                    <a:lnTo>
                      <a:pt x="283" y="1476"/>
                    </a:lnTo>
                    <a:lnTo>
                      <a:pt x="274" y="1464"/>
                    </a:lnTo>
                    <a:lnTo>
                      <a:pt x="263" y="1451"/>
                    </a:lnTo>
                    <a:lnTo>
                      <a:pt x="251" y="1436"/>
                    </a:lnTo>
                    <a:lnTo>
                      <a:pt x="242" y="1419"/>
                    </a:lnTo>
                    <a:lnTo>
                      <a:pt x="235" y="1406"/>
                    </a:lnTo>
                    <a:lnTo>
                      <a:pt x="229" y="1390"/>
                    </a:lnTo>
                    <a:lnTo>
                      <a:pt x="222" y="1368"/>
                    </a:lnTo>
                    <a:lnTo>
                      <a:pt x="216" y="1350"/>
                    </a:lnTo>
                    <a:lnTo>
                      <a:pt x="214" y="1345"/>
                    </a:lnTo>
                    <a:lnTo>
                      <a:pt x="211" y="1328"/>
                    </a:lnTo>
                    <a:lnTo>
                      <a:pt x="203" y="1288"/>
                    </a:lnTo>
                    <a:lnTo>
                      <a:pt x="195" y="1247"/>
                    </a:lnTo>
                    <a:lnTo>
                      <a:pt x="188" y="1211"/>
                    </a:lnTo>
                    <a:lnTo>
                      <a:pt x="180" y="1164"/>
                    </a:lnTo>
                    <a:lnTo>
                      <a:pt x="173" y="1119"/>
                    </a:lnTo>
                    <a:lnTo>
                      <a:pt x="166" y="1068"/>
                    </a:lnTo>
                    <a:lnTo>
                      <a:pt x="158" y="1023"/>
                    </a:lnTo>
                    <a:lnTo>
                      <a:pt x="155" y="994"/>
                    </a:lnTo>
                    <a:lnTo>
                      <a:pt x="143" y="891"/>
                    </a:lnTo>
                    <a:lnTo>
                      <a:pt x="117" y="677"/>
                    </a:lnTo>
                    <a:lnTo>
                      <a:pt x="104" y="569"/>
                    </a:lnTo>
                    <a:lnTo>
                      <a:pt x="100" y="541"/>
                    </a:lnTo>
                    <a:lnTo>
                      <a:pt x="95" y="495"/>
                    </a:lnTo>
                    <a:lnTo>
                      <a:pt x="90" y="444"/>
                    </a:lnTo>
                    <a:lnTo>
                      <a:pt x="83" y="394"/>
                    </a:lnTo>
                    <a:lnTo>
                      <a:pt x="78" y="346"/>
                    </a:lnTo>
                    <a:lnTo>
                      <a:pt x="72" y="304"/>
                    </a:lnTo>
                    <a:lnTo>
                      <a:pt x="67" y="265"/>
                    </a:lnTo>
                    <a:lnTo>
                      <a:pt x="61" y="230"/>
                    </a:lnTo>
                    <a:lnTo>
                      <a:pt x="60" y="213"/>
                    </a:lnTo>
                    <a:lnTo>
                      <a:pt x="57" y="198"/>
                    </a:lnTo>
                    <a:lnTo>
                      <a:pt x="52" y="168"/>
                    </a:lnTo>
                    <a:lnTo>
                      <a:pt x="47" y="139"/>
                    </a:lnTo>
                    <a:lnTo>
                      <a:pt x="41" y="107"/>
                    </a:lnTo>
                    <a:lnTo>
                      <a:pt x="38" y="87"/>
                    </a:lnTo>
                    <a:lnTo>
                      <a:pt x="34" y="72"/>
                    </a:lnTo>
                    <a:lnTo>
                      <a:pt x="31" y="56"/>
                    </a:lnTo>
                    <a:lnTo>
                      <a:pt x="27" y="39"/>
                    </a:lnTo>
                    <a:lnTo>
                      <a:pt x="25" y="38"/>
                    </a:lnTo>
                    <a:lnTo>
                      <a:pt x="22" y="26"/>
                    </a:lnTo>
                    <a:lnTo>
                      <a:pt x="16" y="16"/>
                    </a:lnTo>
                    <a:lnTo>
                      <a:pt x="10" y="4"/>
                    </a:lnTo>
                    <a:lnTo>
                      <a:pt x="3" y="0"/>
                    </a:lnTo>
                    <a:lnTo>
                      <a:pt x="0" y="0"/>
                    </a:lnTo>
                  </a:path>
                </a:pathLst>
              </a:custGeom>
              <a:noFill/>
              <a:ln w="12699" cap="flat" cmpd="sng">
                <a:solidFill>
                  <a:srgbClr val="000000"/>
                </a:solidFill>
                <a:prstDash val="dash"/>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1112" name="Line 11"/>
            <p:cNvSpPr>
              <a:spLocks noChangeShapeType="1"/>
            </p:cNvSpPr>
            <p:nvPr/>
          </p:nvSpPr>
          <p:spPr bwMode="auto">
            <a:xfrm>
              <a:off x="2370" y="3020"/>
              <a:ext cx="0" cy="697"/>
            </a:xfrm>
            <a:prstGeom prst="line">
              <a:avLst/>
            </a:prstGeom>
            <a:noFill/>
            <a:ln w="12699">
              <a:solidFill>
                <a:srgbClr val="000000"/>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113" name="Line 12"/>
            <p:cNvSpPr>
              <a:spLocks noChangeShapeType="1"/>
            </p:cNvSpPr>
            <p:nvPr/>
          </p:nvSpPr>
          <p:spPr bwMode="auto">
            <a:xfrm>
              <a:off x="937" y="3020"/>
              <a:ext cx="0" cy="697"/>
            </a:xfrm>
            <a:prstGeom prst="line">
              <a:avLst/>
            </a:prstGeom>
            <a:noFill/>
            <a:ln w="12699">
              <a:solidFill>
                <a:srgbClr val="000000"/>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114" name="Rectangle 13"/>
            <p:cNvSpPr>
              <a:spLocks noChangeArrowheads="1"/>
            </p:cNvSpPr>
            <p:nvPr/>
          </p:nvSpPr>
          <p:spPr bwMode="auto">
            <a:xfrm>
              <a:off x="2222" y="3729"/>
              <a:ext cx="307" cy="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USL</a:t>
              </a:r>
            </a:p>
          </p:txBody>
        </p:sp>
        <p:sp>
          <p:nvSpPr>
            <p:cNvPr id="291115" name="Rectangle 14"/>
            <p:cNvSpPr>
              <a:spLocks noChangeArrowheads="1"/>
            </p:cNvSpPr>
            <p:nvPr/>
          </p:nvSpPr>
          <p:spPr bwMode="auto">
            <a:xfrm>
              <a:off x="790" y="3729"/>
              <a:ext cx="284" cy="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LSL</a:t>
              </a:r>
            </a:p>
          </p:txBody>
        </p:sp>
        <p:sp>
          <p:nvSpPr>
            <p:cNvPr id="291116" name="Line 15"/>
            <p:cNvSpPr>
              <a:spLocks noChangeShapeType="1"/>
            </p:cNvSpPr>
            <p:nvPr/>
          </p:nvSpPr>
          <p:spPr bwMode="auto">
            <a:xfrm>
              <a:off x="1620" y="2639"/>
              <a:ext cx="0" cy="1077"/>
            </a:xfrm>
            <a:prstGeom prst="line">
              <a:avLst/>
            </a:prstGeom>
            <a:noFill/>
            <a:ln w="12699">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117" name="Rectangle 16"/>
            <p:cNvSpPr>
              <a:spLocks noChangeArrowheads="1"/>
            </p:cNvSpPr>
            <p:nvPr/>
          </p:nvSpPr>
          <p:spPr bwMode="auto">
            <a:xfrm>
              <a:off x="1757" y="2715"/>
              <a:ext cx="910" cy="186"/>
            </a:xfrm>
            <a:prstGeom prst="rect">
              <a:avLst/>
            </a:prstGeom>
            <a:solidFill>
              <a:srgbClr val="FFFFFF"/>
            </a:solidFill>
            <a:ln w="9525">
              <a:solidFill>
                <a:schemeClr val="tx1"/>
              </a:solidFill>
              <a:prstDash val="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dirty="0">
                  <a:latin typeface="맑은 고딕" pitchFamily="50" charset="-127"/>
                  <a:ea typeface="맑은 고딕" pitchFamily="50" charset="-127"/>
                </a:rPr>
                <a:t>Short term variance</a:t>
              </a:r>
              <a:endParaRPr lang="ko-KR" altLang="en-US" sz="1000" dirty="0">
                <a:latin typeface="맑은 고딕" pitchFamily="50" charset="-127"/>
                <a:ea typeface="맑은 고딕" pitchFamily="50" charset="-127"/>
              </a:endParaRPr>
            </a:p>
          </p:txBody>
        </p:sp>
        <p:grpSp>
          <p:nvGrpSpPr>
            <p:cNvPr id="5" name="Group 17"/>
            <p:cNvGrpSpPr>
              <a:grpSpLocks/>
            </p:cNvGrpSpPr>
            <p:nvPr/>
          </p:nvGrpSpPr>
          <p:grpSpPr bwMode="auto">
            <a:xfrm>
              <a:off x="555" y="3019"/>
              <a:ext cx="2136" cy="701"/>
              <a:chOff x="556" y="2277"/>
              <a:chExt cx="2341" cy="1016"/>
            </a:xfrm>
          </p:grpSpPr>
          <p:sp>
            <p:nvSpPr>
              <p:cNvPr id="291120" name="Freeform 18"/>
              <p:cNvSpPr>
                <a:spLocks/>
              </p:cNvSpPr>
              <p:nvPr/>
            </p:nvSpPr>
            <p:spPr bwMode="auto">
              <a:xfrm>
                <a:off x="556" y="2277"/>
                <a:ext cx="1170" cy="1016"/>
              </a:xfrm>
              <a:custGeom>
                <a:avLst/>
                <a:gdLst>
                  <a:gd name="T0" fmla="*/ 0 w 1170"/>
                  <a:gd name="T1" fmla="*/ 1015 h 1016"/>
                  <a:gd name="T2" fmla="*/ 31 w 1170"/>
                  <a:gd name="T3" fmla="*/ 1011 h 1016"/>
                  <a:gd name="T4" fmla="*/ 84 w 1170"/>
                  <a:gd name="T5" fmla="*/ 1004 h 1016"/>
                  <a:gd name="T6" fmla="*/ 125 w 1170"/>
                  <a:gd name="T7" fmla="*/ 1000 h 1016"/>
                  <a:gd name="T8" fmla="*/ 173 w 1170"/>
                  <a:gd name="T9" fmla="*/ 994 h 1016"/>
                  <a:gd name="T10" fmla="*/ 226 w 1170"/>
                  <a:gd name="T11" fmla="*/ 983 h 1016"/>
                  <a:gd name="T12" fmla="*/ 268 w 1170"/>
                  <a:gd name="T13" fmla="*/ 978 h 1016"/>
                  <a:gd name="T14" fmla="*/ 300 w 1170"/>
                  <a:gd name="T15" fmla="*/ 971 h 1016"/>
                  <a:gd name="T16" fmla="*/ 342 w 1170"/>
                  <a:gd name="T17" fmla="*/ 961 h 1016"/>
                  <a:gd name="T18" fmla="*/ 367 w 1170"/>
                  <a:gd name="T19" fmla="*/ 953 h 1016"/>
                  <a:gd name="T20" fmla="*/ 399 w 1170"/>
                  <a:gd name="T21" fmla="*/ 944 h 1016"/>
                  <a:gd name="T22" fmla="*/ 436 w 1170"/>
                  <a:gd name="T23" fmla="*/ 935 h 1016"/>
                  <a:gd name="T24" fmla="*/ 462 w 1170"/>
                  <a:gd name="T25" fmla="*/ 924 h 1016"/>
                  <a:gd name="T26" fmla="*/ 478 w 1170"/>
                  <a:gd name="T27" fmla="*/ 915 h 1016"/>
                  <a:gd name="T28" fmla="*/ 499 w 1170"/>
                  <a:gd name="T29" fmla="*/ 904 h 1016"/>
                  <a:gd name="T30" fmla="*/ 519 w 1170"/>
                  <a:gd name="T31" fmla="*/ 890 h 1016"/>
                  <a:gd name="T32" fmla="*/ 536 w 1170"/>
                  <a:gd name="T33" fmla="*/ 879 h 1016"/>
                  <a:gd name="T34" fmla="*/ 542 w 1170"/>
                  <a:gd name="T35" fmla="*/ 875 h 1016"/>
                  <a:gd name="T36" fmla="*/ 550 w 1170"/>
                  <a:gd name="T37" fmla="*/ 865 h 1016"/>
                  <a:gd name="T38" fmla="*/ 575 w 1170"/>
                  <a:gd name="T39" fmla="*/ 839 h 1016"/>
                  <a:gd name="T40" fmla="*/ 598 w 1170"/>
                  <a:gd name="T41" fmla="*/ 812 h 1016"/>
                  <a:gd name="T42" fmla="*/ 618 w 1170"/>
                  <a:gd name="T43" fmla="*/ 785 h 1016"/>
                  <a:gd name="T44" fmla="*/ 641 w 1170"/>
                  <a:gd name="T45" fmla="*/ 755 h 1016"/>
                  <a:gd name="T46" fmla="*/ 662 w 1170"/>
                  <a:gd name="T47" fmla="*/ 725 h 1016"/>
                  <a:gd name="T48" fmla="*/ 681 w 1170"/>
                  <a:gd name="T49" fmla="*/ 692 h 1016"/>
                  <a:gd name="T50" fmla="*/ 699 w 1170"/>
                  <a:gd name="T51" fmla="*/ 666 h 1016"/>
                  <a:gd name="T52" fmla="*/ 706 w 1170"/>
                  <a:gd name="T53" fmla="*/ 647 h 1016"/>
                  <a:gd name="T54" fmla="*/ 743 w 1170"/>
                  <a:gd name="T55" fmla="*/ 580 h 1016"/>
                  <a:gd name="T56" fmla="*/ 817 w 1170"/>
                  <a:gd name="T57" fmla="*/ 441 h 1016"/>
                  <a:gd name="T58" fmla="*/ 854 w 1170"/>
                  <a:gd name="T59" fmla="*/ 371 h 1016"/>
                  <a:gd name="T60" fmla="*/ 867 w 1170"/>
                  <a:gd name="T61" fmla="*/ 352 h 1016"/>
                  <a:gd name="T62" fmla="*/ 886 w 1170"/>
                  <a:gd name="T63" fmla="*/ 319 h 1016"/>
                  <a:gd name="T64" fmla="*/ 904 w 1170"/>
                  <a:gd name="T65" fmla="*/ 289 h 1016"/>
                  <a:gd name="T66" fmla="*/ 918 w 1170"/>
                  <a:gd name="T67" fmla="*/ 257 h 1016"/>
                  <a:gd name="T68" fmla="*/ 937 w 1170"/>
                  <a:gd name="T69" fmla="*/ 225 h 1016"/>
                  <a:gd name="T70" fmla="*/ 955 w 1170"/>
                  <a:gd name="T71" fmla="*/ 198 h 1016"/>
                  <a:gd name="T72" fmla="*/ 969 w 1170"/>
                  <a:gd name="T73" fmla="*/ 172 h 1016"/>
                  <a:gd name="T74" fmla="*/ 987 w 1170"/>
                  <a:gd name="T75" fmla="*/ 149 h 1016"/>
                  <a:gd name="T76" fmla="*/ 992 w 1170"/>
                  <a:gd name="T77" fmla="*/ 139 h 1016"/>
                  <a:gd name="T78" fmla="*/ 997 w 1170"/>
                  <a:gd name="T79" fmla="*/ 129 h 1016"/>
                  <a:gd name="T80" fmla="*/ 1011 w 1170"/>
                  <a:gd name="T81" fmla="*/ 106 h 1016"/>
                  <a:gd name="T82" fmla="*/ 1024 w 1170"/>
                  <a:gd name="T83" fmla="*/ 90 h 1016"/>
                  <a:gd name="T84" fmla="*/ 1034 w 1170"/>
                  <a:gd name="T85" fmla="*/ 73 h 1016"/>
                  <a:gd name="T86" fmla="*/ 1048 w 1170"/>
                  <a:gd name="T87" fmla="*/ 57 h 1016"/>
                  <a:gd name="T88" fmla="*/ 1061 w 1170"/>
                  <a:gd name="T89" fmla="*/ 43 h 1016"/>
                  <a:gd name="T90" fmla="*/ 1068 w 1170"/>
                  <a:gd name="T91" fmla="*/ 33 h 1016"/>
                  <a:gd name="T92" fmla="*/ 1080 w 1170"/>
                  <a:gd name="T93" fmla="*/ 25 h 1016"/>
                  <a:gd name="T94" fmla="*/ 1086 w 1170"/>
                  <a:gd name="T95" fmla="*/ 24 h 1016"/>
                  <a:gd name="T96" fmla="*/ 1098 w 1170"/>
                  <a:gd name="T97" fmla="*/ 17 h 1016"/>
                  <a:gd name="T98" fmla="*/ 1117 w 1170"/>
                  <a:gd name="T99" fmla="*/ 10 h 1016"/>
                  <a:gd name="T100" fmla="*/ 1137 w 1170"/>
                  <a:gd name="T101" fmla="*/ 3 h 1016"/>
                  <a:gd name="T102" fmla="*/ 1160 w 1170"/>
                  <a:gd name="T103" fmla="*/ 0 h 1016"/>
                  <a:gd name="T104" fmla="*/ 1169 w 1170"/>
                  <a:gd name="T105" fmla="*/ 0 h 10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70" h="1016">
                    <a:moveTo>
                      <a:pt x="0" y="1015"/>
                    </a:moveTo>
                    <a:lnTo>
                      <a:pt x="31" y="1011"/>
                    </a:lnTo>
                    <a:lnTo>
                      <a:pt x="84" y="1004"/>
                    </a:lnTo>
                    <a:lnTo>
                      <a:pt x="125" y="1000"/>
                    </a:lnTo>
                    <a:lnTo>
                      <a:pt x="173" y="994"/>
                    </a:lnTo>
                    <a:lnTo>
                      <a:pt x="226" y="983"/>
                    </a:lnTo>
                    <a:lnTo>
                      <a:pt x="268" y="978"/>
                    </a:lnTo>
                    <a:lnTo>
                      <a:pt x="300" y="971"/>
                    </a:lnTo>
                    <a:lnTo>
                      <a:pt x="342" y="961"/>
                    </a:lnTo>
                    <a:lnTo>
                      <a:pt x="367" y="953"/>
                    </a:lnTo>
                    <a:lnTo>
                      <a:pt x="399" y="944"/>
                    </a:lnTo>
                    <a:lnTo>
                      <a:pt x="436" y="935"/>
                    </a:lnTo>
                    <a:lnTo>
                      <a:pt x="462" y="924"/>
                    </a:lnTo>
                    <a:lnTo>
                      <a:pt x="478" y="915"/>
                    </a:lnTo>
                    <a:lnTo>
                      <a:pt x="499" y="904"/>
                    </a:lnTo>
                    <a:lnTo>
                      <a:pt x="519" y="890"/>
                    </a:lnTo>
                    <a:lnTo>
                      <a:pt x="536" y="879"/>
                    </a:lnTo>
                    <a:lnTo>
                      <a:pt x="542" y="875"/>
                    </a:lnTo>
                    <a:lnTo>
                      <a:pt x="550" y="865"/>
                    </a:lnTo>
                    <a:lnTo>
                      <a:pt x="575" y="839"/>
                    </a:lnTo>
                    <a:lnTo>
                      <a:pt x="598" y="812"/>
                    </a:lnTo>
                    <a:lnTo>
                      <a:pt x="618" y="785"/>
                    </a:lnTo>
                    <a:lnTo>
                      <a:pt x="641" y="755"/>
                    </a:lnTo>
                    <a:lnTo>
                      <a:pt x="662" y="725"/>
                    </a:lnTo>
                    <a:lnTo>
                      <a:pt x="681" y="692"/>
                    </a:lnTo>
                    <a:lnTo>
                      <a:pt x="699" y="666"/>
                    </a:lnTo>
                    <a:lnTo>
                      <a:pt x="706" y="647"/>
                    </a:lnTo>
                    <a:lnTo>
                      <a:pt x="743" y="580"/>
                    </a:lnTo>
                    <a:lnTo>
                      <a:pt x="817" y="441"/>
                    </a:lnTo>
                    <a:lnTo>
                      <a:pt x="854" y="371"/>
                    </a:lnTo>
                    <a:lnTo>
                      <a:pt x="867" y="352"/>
                    </a:lnTo>
                    <a:lnTo>
                      <a:pt x="886" y="319"/>
                    </a:lnTo>
                    <a:lnTo>
                      <a:pt x="904" y="289"/>
                    </a:lnTo>
                    <a:lnTo>
                      <a:pt x="918" y="257"/>
                    </a:lnTo>
                    <a:lnTo>
                      <a:pt x="937" y="225"/>
                    </a:lnTo>
                    <a:lnTo>
                      <a:pt x="955" y="198"/>
                    </a:lnTo>
                    <a:lnTo>
                      <a:pt x="969" y="172"/>
                    </a:lnTo>
                    <a:lnTo>
                      <a:pt x="987" y="149"/>
                    </a:lnTo>
                    <a:lnTo>
                      <a:pt x="992" y="139"/>
                    </a:lnTo>
                    <a:lnTo>
                      <a:pt x="997" y="129"/>
                    </a:lnTo>
                    <a:lnTo>
                      <a:pt x="1011" y="106"/>
                    </a:lnTo>
                    <a:lnTo>
                      <a:pt x="1024" y="90"/>
                    </a:lnTo>
                    <a:lnTo>
                      <a:pt x="1034" y="73"/>
                    </a:lnTo>
                    <a:lnTo>
                      <a:pt x="1048" y="57"/>
                    </a:lnTo>
                    <a:lnTo>
                      <a:pt x="1061" y="43"/>
                    </a:lnTo>
                    <a:lnTo>
                      <a:pt x="1068" y="33"/>
                    </a:lnTo>
                    <a:lnTo>
                      <a:pt x="1080" y="25"/>
                    </a:lnTo>
                    <a:lnTo>
                      <a:pt x="1086" y="24"/>
                    </a:lnTo>
                    <a:lnTo>
                      <a:pt x="1098" y="17"/>
                    </a:lnTo>
                    <a:lnTo>
                      <a:pt x="1117" y="10"/>
                    </a:lnTo>
                    <a:lnTo>
                      <a:pt x="1137" y="3"/>
                    </a:lnTo>
                    <a:lnTo>
                      <a:pt x="1160" y="0"/>
                    </a:lnTo>
                    <a:lnTo>
                      <a:pt x="1169"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121" name="Freeform 19"/>
              <p:cNvSpPr>
                <a:spLocks/>
              </p:cNvSpPr>
              <p:nvPr/>
            </p:nvSpPr>
            <p:spPr bwMode="auto">
              <a:xfrm>
                <a:off x="1725" y="2277"/>
                <a:ext cx="1172" cy="1016"/>
              </a:xfrm>
              <a:custGeom>
                <a:avLst/>
                <a:gdLst>
                  <a:gd name="T0" fmla="*/ 1171 w 1172"/>
                  <a:gd name="T1" fmla="*/ 1015 h 1016"/>
                  <a:gd name="T2" fmla="*/ 1139 w 1172"/>
                  <a:gd name="T3" fmla="*/ 1011 h 1016"/>
                  <a:gd name="T4" fmla="*/ 1085 w 1172"/>
                  <a:gd name="T5" fmla="*/ 1004 h 1016"/>
                  <a:gd name="T6" fmla="*/ 1045 w 1172"/>
                  <a:gd name="T7" fmla="*/ 1000 h 1016"/>
                  <a:gd name="T8" fmla="*/ 995 w 1172"/>
                  <a:gd name="T9" fmla="*/ 994 h 1016"/>
                  <a:gd name="T10" fmla="*/ 944 w 1172"/>
                  <a:gd name="T11" fmla="*/ 983 h 1016"/>
                  <a:gd name="T12" fmla="*/ 901 w 1172"/>
                  <a:gd name="T13" fmla="*/ 978 h 1016"/>
                  <a:gd name="T14" fmla="*/ 869 w 1172"/>
                  <a:gd name="T15" fmla="*/ 971 h 1016"/>
                  <a:gd name="T16" fmla="*/ 827 w 1172"/>
                  <a:gd name="T17" fmla="*/ 961 h 1016"/>
                  <a:gd name="T18" fmla="*/ 802 w 1172"/>
                  <a:gd name="T19" fmla="*/ 953 h 1016"/>
                  <a:gd name="T20" fmla="*/ 770 w 1172"/>
                  <a:gd name="T21" fmla="*/ 944 h 1016"/>
                  <a:gd name="T22" fmla="*/ 733 w 1172"/>
                  <a:gd name="T23" fmla="*/ 935 h 1016"/>
                  <a:gd name="T24" fmla="*/ 706 w 1172"/>
                  <a:gd name="T25" fmla="*/ 924 h 1016"/>
                  <a:gd name="T26" fmla="*/ 689 w 1172"/>
                  <a:gd name="T27" fmla="*/ 915 h 1016"/>
                  <a:gd name="T28" fmla="*/ 669 w 1172"/>
                  <a:gd name="T29" fmla="*/ 904 h 1016"/>
                  <a:gd name="T30" fmla="*/ 650 w 1172"/>
                  <a:gd name="T31" fmla="*/ 890 h 1016"/>
                  <a:gd name="T32" fmla="*/ 632 w 1172"/>
                  <a:gd name="T33" fmla="*/ 879 h 1016"/>
                  <a:gd name="T34" fmla="*/ 627 w 1172"/>
                  <a:gd name="T35" fmla="*/ 875 h 1016"/>
                  <a:gd name="T36" fmla="*/ 618 w 1172"/>
                  <a:gd name="T37" fmla="*/ 865 h 1016"/>
                  <a:gd name="T38" fmla="*/ 593 w 1172"/>
                  <a:gd name="T39" fmla="*/ 839 h 1016"/>
                  <a:gd name="T40" fmla="*/ 570 w 1172"/>
                  <a:gd name="T41" fmla="*/ 812 h 1016"/>
                  <a:gd name="T42" fmla="*/ 549 w 1172"/>
                  <a:gd name="T43" fmla="*/ 788 h 1016"/>
                  <a:gd name="T44" fmla="*/ 526 w 1172"/>
                  <a:gd name="T45" fmla="*/ 758 h 1016"/>
                  <a:gd name="T46" fmla="*/ 506 w 1172"/>
                  <a:gd name="T47" fmla="*/ 729 h 1016"/>
                  <a:gd name="T48" fmla="*/ 487 w 1172"/>
                  <a:gd name="T49" fmla="*/ 695 h 1016"/>
                  <a:gd name="T50" fmla="*/ 464 w 1172"/>
                  <a:gd name="T51" fmla="*/ 666 h 1016"/>
                  <a:gd name="T52" fmla="*/ 455 w 1172"/>
                  <a:gd name="T53" fmla="*/ 647 h 1016"/>
                  <a:gd name="T54" fmla="*/ 418 w 1172"/>
                  <a:gd name="T55" fmla="*/ 580 h 1016"/>
                  <a:gd name="T56" fmla="*/ 343 w 1172"/>
                  <a:gd name="T57" fmla="*/ 441 h 1016"/>
                  <a:gd name="T58" fmla="*/ 306 w 1172"/>
                  <a:gd name="T59" fmla="*/ 371 h 1016"/>
                  <a:gd name="T60" fmla="*/ 294 w 1172"/>
                  <a:gd name="T61" fmla="*/ 352 h 1016"/>
                  <a:gd name="T62" fmla="*/ 279 w 1172"/>
                  <a:gd name="T63" fmla="*/ 322 h 1016"/>
                  <a:gd name="T64" fmla="*/ 263 w 1172"/>
                  <a:gd name="T65" fmla="*/ 289 h 1016"/>
                  <a:gd name="T66" fmla="*/ 242 w 1172"/>
                  <a:gd name="T67" fmla="*/ 256 h 1016"/>
                  <a:gd name="T68" fmla="*/ 228 w 1172"/>
                  <a:gd name="T69" fmla="*/ 225 h 1016"/>
                  <a:gd name="T70" fmla="*/ 212 w 1172"/>
                  <a:gd name="T71" fmla="*/ 198 h 1016"/>
                  <a:gd name="T72" fmla="*/ 198 w 1172"/>
                  <a:gd name="T73" fmla="*/ 172 h 1016"/>
                  <a:gd name="T74" fmla="*/ 180 w 1172"/>
                  <a:gd name="T75" fmla="*/ 149 h 1016"/>
                  <a:gd name="T76" fmla="*/ 175 w 1172"/>
                  <a:gd name="T77" fmla="*/ 139 h 1016"/>
                  <a:gd name="T78" fmla="*/ 168 w 1172"/>
                  <a:gd name="T79" fmla="*/ 129 h 1016"/>
                  <a:gd name="T80" fmla="*/ 154 w 1172"/>
                  <a:gd name="T81" fmla="*/ 110 h 1016"/>
                  <a:gd name="T82" fmla="*/ 138 w 1172"/>
                  <a:gd name="T83" fmla="*/ 90 h 1016"/>
                  <a:gd name="T84" fmla="*/ 122 w 1172"/>
                  <a:gd name="T85" fmla="*/ 70 h 1016"/>
                  <a:gd name="T86" fmla="*/ 111 w 1172"/>
                  <a:gd name="T87" fmla="*/ 57 h 1016"/>
                  <a:gd name="T88" fmla="*/ 100 w 1172"/>
                  <a:gd name="T89" fmla="*/ 47 h 1016"/>
                  <a:gd name="T90" fmla="*/ 92 w 1172"/>
                  <a:gd name="T91" fmla="*/ 36 h 1016"/>
                  <a:gd name="T92" fmla="*/ 79 w 1172"/>
                  <a:gd name="T93" fmla="*/ 25 h 1016"/>
                  <a:gd name="T94" fmla="*/ 74 w 1172"/>
                  <a:gd name="T95" fmla="*/ 24 h 1016"/>
                  <a:gd name="T96" fmla="*/ 65 w 1172"/>
                  <a:gd name="T97" fmla="*/ 17 h 1016"/>
                  <a:gd name="T98" fmla="*/ 47 w 1172"/>
                  <a:gd name="T99" fmla="*/ 10 h 1016"/>
                  <a:gd name="T100" fmla="*/ 31 w 1172"/>
                  <a:gd name="T101" fmla="*/ 3 h 1016"/>
                  <a:gd name="T102" fmla="*/ 10 w 1172"/>
                  <a:gd name="T103" fmla="*/ 0 h 1016"/>
                  <a:gd name="T104" fmla="*/ 0 w 1172"/>
                  <a:gd name="T105" fmla="*/ 0 h 10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72" h="1016">
                    <a:moveTo>
                      <a:pt x="1171" y="1015"/>
                    </a:moveTo>
                    <a:lnTo>
                      <a:pt x="1139" y="1011"/>
                    </a:lnTo>
                    <a:lnTo>
                      <a:pt x="1085" y="1004"/>
                    </a:lnTo>
                    <a:lnTo>
                      <a:pt x="1045" y="1000"/>
                    </a:lnTo>
                    <a:lnTo>
                      <a:pt x="995" y="994"/>
                    </a:lnTo>
                    <a:lnTo>
                      <a:pt x="944" y="983"/>
                    </a:lnTo>
                    <a:lnTo>
                      <a:pt x="901" y="978"/>
                    </a:lnTo>
                    <a:lnTo>
                      <a:pt x="869" y="971"/>
                    </a:lnTo>
                    <a:lnTo>
                      <a:pt x="827" y="961"/>
                    </a:lnTo>
                    <a:lnTo>
                      <a:pt x="802" y="953"/>
                    </a:lnTo>
                    <a:lnTo>
                      <a:pt x="770" y="944"/>
                    </a:lnTo>
                    <a:lnTo>
                      <a:pt x="733" y="935"/>
                    </a:lnTo>
                    <a:lnTo>
                      <a:pt x="706" y="924"/>
                    </a:lnTo>
                    <a:lnTo>
                      <a:pt x="689" y="915"/>
                    </a:lnTo>
                    <a:lnTo>
                      <a:pt x="669" y="904"/>
                    </a:lnTo>
                    <a:lnTo>
                      <a:pt x="650" y="890"/>
                    </a:lnTo>
                    <a:lnTo>
                      <a:pt x="632" y="879"/>
                    </a:lnTo>
                    <a:lnTo>
                      <a:pt x="627" y="875"/>
                    </a:lnTo>
                    <a:lnTo>
                      <a:pt x="618" y="865"/>
                    </a:lnTo>
                    <a:lnTo>
                      <a:pt x="593" y="839"/>
                    </a:lnTo>
                    <a:lnTo>
                      <a:pt x="570" y="812"/>
                    </a:lnTo>
                    <a:lnTo>
                      <a:pt x="549" y="788"/>
                    </a:lnTo>
                    <a:lnTo>
                      <a:pt x="526" y="758"/>
                    </a:lnTo>
                    <a:lnTo>
                      <a:pt x="506" y="729"/>
                    </a:lnTo>
                    <a:lnTo>
                      <a:pt x="487" y="695"/>
                    </a:lnTo>
                    <a:lnTo>
                      <a:pt x="464" y="666"/>
                    </a:lnTo>
                    <a:lnTo>
                      <a:pt x="455" y="647"/>
                    </a:lnTo>
                    <a:lnTo>
                      <a:pt x="418" y="580"/>
                    </a:lnTo>
                    <a:lnTo>
                      <a:pt x="343" y="441"/>
                    </a:lnTo>
                    <a:lnTo>
                      <a:pt x="306" y="371"/>
                    </a:lnTo>
                    <a:lnTo>
                      <a:pt x="294" y="352"/>
                    </a:lnTo>
                    <a:lnTo>
                      <a:pt x="279" y="322"/>
                    </a:lnTo>
                    <a:lnTo>
                      <a:pt x="263" y="289"/>
                    </a:lnTo>
                    <a:lnTo>
                      <a:pt x="242" y="256"/>
                    </a:lnTo>
                    <a:lnTo>
                      <a:pt x="228" y="225"/>
                    </a:lnTo>
                    <a:lnTo>
                      <a:pt x="212" y="198"/>
                    </a:lnTo>
                    <a:lnTo>
                      <a:pt x="198" y="172"/>
                    </a:lnTo>
                    <a:lnTo>
                      <a:pt x="180" y="149"/>
                    </a:lnTo>
                    <a:lnTo>
                      <a:pt x="175" y="139"/>
                    </a:lnTo>
                    <a:lnTo>
                      <a:pt x="168" y="129"/>
                    </a:lnTo>
                    <a:lnTo>
                      <a:pt x="154" y="110"/>
                    </a:lnTo>
                    <a:lnTo>
                      <a:pt x="138" y="90"/>
                    </a:lnTo>
                    <a:lnTo>
                      <a:pt x="122" y="70"/>
                    </a:lnTo>
                    <a:lnTo>
                      <a:pt x="111" y="57"/>
                    </a:lnTo>
                    <a:lnTo>
                      <a:pt x="100" y="47"/>
                    </a:lnTo>
                    <a:lnTo>
                      <a:pt x="92" y="36"/>
                    </a:lnTo>
                    <a:lnTo>
                      <a:pt x="79" y="25"/>
                    </a:lnTo>
                    <a:lnTo>
                      <a:pt x="74" y="24"/>
                    </a:lnTo>
                    <a:lnTo>
                      <a:pt x="65" y="17"/>
                    </a:lnTo>
                    <a:lnTo>
                      <a:pt x="47" y="10"/>
                    </a:lnTo>
                    <a:lnTo>
                      <a:pt x="31" y="3"/>
                    </a:lnTo>
                    <a:lnTo>
                      <a:pt x="10" y="0"/>
                    </a:lnTo>
                    <a:lnTo>
                      <a:pt x="0"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1119" name="Rectangle 20"/>
            <p:cNvSpPr>
              <a:spLocks noChangeArrowheads="1"/>
            </p:cNvSpPr>
            <p:nvPr/>
          </p:nvSpPr>
          <p:spPr bwMode="auto">
            <a:xfrm>
              <a:off x="545" y="3291"/>
              <a:ext cx="896" cy="186"/>
            </a:xfrm>
            <a:prstGeom prst="rect">
              <a:avLst/>
            </a:prstGeom>
            <a:solidFill>
              <a:srgbClr val="FF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dirty="0">
                  <a:latin typeface="맑은 고딕" pitchFamily="50" charset="-127"/>
                  <a:ea typeface="맑은 고딕" pitchFamily="50" charset="-127"/>
                </a:rPr>
                <a:t>Long term variance</a:t>
              </a:r>
              <a:endParaRPr lang="ko-KR" altLang="en-US" sz="1000" dirty="0">
                <a:latin typeface="맑은 고딕" pitchFamily="50" charset="-127"/>
                <a:ea typeface="맑은 고딕" pitchFamily="50" charset="-127"/>
              </a:endParaRPr>
            </a:p>
          </p:txBody>
        </p:sp>
      </p:grpSp>
      <p:sp>
        <p:nvSpPr>
          <p:cNvPr id="290822" name="Rectangle 21"/>
          <p:cNvSpPr>
            <a:spLocks noChangeArrowheads="1"/>
          </p:cNvSpPr>
          <p:nvPr/>
        </p:nvSpPr>
        <p:spPr bwMode="auto">
          <a:xfrm>
            <a:off x="5638800" y="4040188"/>
            <a:ext cx="3611566"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buFont typeface="Wingdings" pitchFamily="2" charset="2"/>
              <a:buChar char="Ø"/>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ngắn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&lt;&lt;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dài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endParaRPr lang="ko-KR" altLang="en-US" sz="1200" dirty="0">
              <a:latin typeface="맑은 고딕" pitchFamily="50" charset="-127"/>
              <a:ea typeface="맑은 고딕" pitchFamily="50" charset="-127"/>
            </a:endParaRPr>
          </a:p>
        </p:txBody>
      </p:sp>
      <p:grpSp>
        <p:nvGrpSpPr>
          <p:cNvPr id="6" name="Group 22"/>
          <p:cNvGrpSpPr>
            <a:grpSpLocks/>
          </p:cNvGrpSpPr>
          <p:nvPr/>
        </p:nvGrpSpPr>
        <p:grpSpPr bwMode="auto">
          <a:xfrm>
            <a:off x="5746752" y="4340225"/>
            <a:ext cx="3409746" cy="1841500"/>
            <a:chOff x="3470" y="2546"/>
            <a:chExt cx="2308" cy="1390"/>
          </a:xfrm>
        </p:grpSpPr>
        <p:sp>
          <p:nvSpPr>
            <p:cNvPr id="291094" name="Rectangle 23"/>
            <p:cNvSpPr>
              <a:spLocks noChangeArrowheads="1"/>
            </p:cNvSpPr>
            <p:nvPr/>
          </p:nvSpPr>
          <p:spPr bwMode="auto">
            <a:xfrm>
              <a:off x="3470" y="2546"/>
              <a:ext cx="2162" cy="1390"/>
            </a:xfrm>
            <a:prstGeom prst="rect">
              <a:avLst/>
            </a:prstGeom>
            <a:solidFill>
              <a:srgbClr val="F6F8F2"/>
            </a:solidFill>
            <a:ln w="19050">
              <a:solidFill>
                <a:schemeClr val="bg2"/>
              </a:solidFill>
              <a:miter lim="800000"/>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grpSp>
          <p:nvGrpSpPr>
            <p:cNvPr id="7" name="Group 24"/>
            <p:cNvGrpSpPr>
              <a:grpSpLocks/>
            </p:cNvGrpSpPr>
            <p:nvPr/>
          </p:nvGrpSpPr>
          <p:grpSpPr bwMode="auto">
            <a:xfrm>
              <a:off x="4184" y="2736"/>
              <a:ext cx="700" cy="958"/>
              <a:chOff x="1334" y="1713"/>
              <a:chExt cx="785" cy="1580"/>
            </a:xfrm>
          </p:grpSpPr>
          <p:sp>
            <p:nvSpPr>
              <p:cNvPr id="291107" name="Freeform 25"/>
              <p:cNvSpPr>
                <a:spLocks/>
              </p:cNvSpPr>
              <p:nvPr/>
            </p:nvSpPr>
            <p:spPr bwMode="auto">
              <a:xfrm>
                <a:off x="1334" y="1713"/>
                <a:ext cx="392" cy="1580"/>
              </a:xfrm>
              <a:custGeom>
                <a:avLst/>
                <a:gdLst>
                  <a:gd name="T0" fmla="*/ 0 w 392"/>
                  <a:gd name="T1" fmla="*/ 1579 h 1580"/>
                  <a:gd name="T2" fmla="*/ 10 w 392"/>
                  <a:gd name="T3" fmla="*/ 1573 h 1580"/>
                  <a:gd name="T4" fmla="*/ 28 w 392"/>
                  <a:gd name="T5" fmla="*/ 1562 h 1580"/>
                  <a:gd name="T6" fmla="*/ 41 w 392"/>
                  <a:gd name="T7" fmla="*/ 1557 h 1580"/>
                  <a:gd name="T8" fmla="*/ 57 w 392"/>
                  <a:gd name="T9" fmla="*/ 1547 h 1580"/>
                  <a:gd name="T10" fmla="*/ 75 w 392"/>
                  <a:gd name="T11" fmla="*/ 1530 h 1580"/>
                  <a:gd name="T12" fmla="*/ 89 w 392"/>
                  <a:gd name="T13" fmla="*/ 1521 h 1580"/>
                  <a:gd name="T14" fmla="*/ 100 w 392"/>
                  <a:gd name="T15" fmla="*/ 1511 h 1580"/>
                  <a:gd name="T16" fmla="*/ 114 w 392"/>
                  <a:gd name="T17" fmla="*/ 1495 h 1580"/>
                  <a:gd name="T18" fmla="*/ 122 w 392"/>
                  <a:gd name="T19" fmla="*/ 1483 h 1580"/>
                  <a:gd name="T20" fmla="*/ 133 w 392"/>
                  <a:gd name="T21" fmla="*/ 1469 h 1580"/>
                  <a:gd name="T22" fmla="*/ 145 w 392"/>
                  <a:gd name="T23" fmla="*/ 1454 h 1580"/>
                  <a:gd name="T24" fmla="*/ 154 w 392"/>
                  <a:gd name="T25" fmla="*/ 1438 h 1580"/>
                  <a:gd name="T26" fmla="*/ 160 w 392"/>
                  <a:gd name="T27" fmla="*/ 1424 h 1580"/>
                  <a:gd name="T28" fmla="*/ 167 w 392"/>
                  <a:gd name="T29" fmla="*/ 1407 h 1580"/>
                  <a:gd name="T30" fmla="*/ 173 w 392"/>
                  <a:gd name="T31" fmla="*/ 1386 h 1580"/>
                  <a:gd name="T32" fmla="*/ 179 w 392"/>
                  <a:gd name="T33" fmla="*/ 1367 h 1580"/>
                  <a:gd name="T34" fmla="*/ 181 w 392"/>
                  <a:gd name="T35" fmla="*/ 1362 h 1580"/>
                  <a:gd name="T36" fmla="*/ 184 w 392"/>
                  <a:gd name="T37" fmla="*/ 1345 h 1580"/>
                  <a:gd name="T38" fmla="*/ 192 w 392"/>
                  <a:gd name="T39" fmla="*/ 1305 h 1580"/>
                  <a:gd name="T40" fmla="*/ 200 w 392"/>
                  <a:gd name="T41" fmla="*/ 1263 h 1580"/>
                  <a:gd name="T42" fmla="*/ 206 w 392"/>
                  <a:gd name="T43" fmla="*/ 1221 h 1580"/>
                  <a:gd name="T44" fmla="*/ 214 w 392"/>
                  <a:gd name="T45" fmla="*/ 1174 h 1580"/>
                  <a:gd name="T46" fmla="*/ 221 w 392"/>
                  <a:gd name="T47" fmla="*/ 1129 h 1580"/>
                  <a:gd name="T48" fmla="*/ 227 w 392"/>
                  <a:gd name="T49" fmla="*/ 1077 h 1580"/>
                  <a:gd name="T50" fmla="*/ 233 w 392"/>
                  <a:gd name="T51" fmla="*/ 1037 h 1580"/>
                  <a:gd name="T52" fmla="*/ 236 w 392"/>
                  <a:gd name="T53" fmla="*/ 1006 h 1580"/>
                  <a:gd name="T54" fmla="*/ 248 w 392"/>
                  <a:gd name="T55" fmla="*/ 902 h 1580"/>
                  <a:gd name="T56" fmla="*/ 273 w 392"/>
                  <a:gd name="T57" fmla="*/ 686 h 1580"/>
                  <a:gd name="T58" fmla="*/ 285 w 392"/>
                  <a:gd name="T59" fmla="*/ 577 h 1580"/>
                  <a:gd name="T60" fmla="*/ 290 w 392"/>
                  <a:gd name="T61" fmla="*/ 548 h 1580"/>
                  <a:gd name="T62" fmla="*/ 296 w 392"/>
                  <a:gd name="T63" fmla="*/ 496 h 1580"/>
                  <a:gd name="T64" fmla="*/ 302 w 392"/>
                  <a:gd name="T65" fmla="*/ 449 h 1580"/>
                  <a:gd name="T66" fmla="*/ 307 w 392"/>
                  <a:gd name="T67" fmla="*/ 401 h 1580"/>
                  <a:gd name="T68" fmla="*/ 313 w 392"/>
                  <a:gd name="T69" fmla="*/ 350 h 1580"/>
                  <a:gd name="T70" fmla="*/ 319 w 392"/>
                  <a:gd name="T71" fmla="*/ 308 h 1580"/>
                  <a:gd name="T72" fmla="*/ 324 w 392"/>
                  <a:gd name="T73" fmla="*/ 268 h 1580"/>
                  <a:gd name="T74" fmla="*/ 330 w 392"/>
                  <a:gd name="T75" fmla="*/ 233 h 1580"/>
                  <a:gd name="T76" fmla="*/ 331 w 392"/>
                  <a:gd name="T77" fmla="*/ 216 h 1580"/>
                  <a:gd name="T78" fmla="*/ 333 w 392"/>
                  <a:gd name="T79" fmla="*/ 201 h 1580"/>
                  <a:gd name="T80" fmla="*/ 338 w 392"/>
                  <a:gd name="T81" fmla="*/ 166 h 1580"/>
                  <a:gd name="T82" fmla="*/ 342 w 392"/>
                  <a:gd name="T83" fmla="*/ 140 h 1580"/>
                  <a:gd name="T84" fmla="*/ 346 w 392"/>
                  <a:gd name="T85" fmla="*/ 114 h 1580"/>
                  <a:gd name="T86" fmla="*/ 350 w 392"/>
                  <a:gd name="T87" fmla="*/ 88 h 1580"/>
                  <a:gd name="T88" fmla="*/ 354 w 392"/>
                  <a:gd name="T89" fmla="*/ 67 h 1580"/>
                  <a:gd name="T90" fmla="*/ 357 w 392"/>
                  <a:gd name="T91" fmla="*/ 52 h 1580"/>
                  <a:gd name="T92" fmla="*/ 361 w 392"/>
                  <a:gd name="T93" fmla="*/ 40 h 1580"/>
                  <a:gd name="T94" fmla="*/ 363 w 392"/>
                  <a:gd name="T95" fmla="*/ 38 h 1580"/>
                  <a:gd name="T96" fmla="*/ 367 w 392"/>
                  <a:gd name="T97" fmla="*/ 26 h 1580"/>
                  <a:gd name="T98" fmla="*/ 373 w 392"/>
                  <a:gd name="T99" fmla="*/ 16 h 1580"/>
                  <a:gd name="T100" fmla="*/ 380 w 392"/>
                  <a:gd name="T101" fmla="*/ 5 h 1580"/>
                  <a:gd name="T102" fmla="*/ 388 w 392"/>
                  <a:gd name="T103" fmla="*/ 0 h 1580"/>
                  <a:gd name="T104" fmla="*/ 391 w 392"/>
                  <a:gd name="T105" fmla="*/ 0 h 158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2" h="1580">
                    <a:moveTo>
                      <a:pt x="0" y="1579"/>
                    </a:moveTo>
                    <a:lnTo>
                      <a:pt x="10" y="1573"/>
                    </a:lnTo>
                    <a:lnTo>
                      <a:pt x="28" y="1562"/>
                    </a:lnTo>
                    <a:lnTo>
                      <a:pt x="41" y="1557"/>
                    </a:lnTo>
                    <a:lnTo>
                      <a:pt x="57" y="1547"/>
                    </a:lnTo>
                    <a:lnTo>
                      <a:pt x="75" y="1530"/>
                    </a:lnTo>
                    <a:lnTo>
                      <a:pt x="89" y="1521"/>
                    </a:lnTo>
                    <a:lnTo>
                      <a:pt x="100" y="1511"/>
                    </a:lnTo>
                    <a:lnTo>
                      <a:pt x="114" y="1495"/>
                    </a:lnTo>
                    <a:lnTo>
                      <a:pt x="122" y="1483"/>
                    </a:lnTo>
                    <a:lnTo>
                      <a:pt x="133" y="1469"/>
                    </a:lnTo>
                    <a:lnTo>
                      <a:pt x="145" y="1454"/>
                    </a:lnTo>
                    <a:lnTo>
                      <a:pt x="154" y="1438"/>
                    </a:lnTo>
                    <a:lnTo>
                      <a:pt x="160" y="1424"/>
                    </a:lnTo>
                    <a:lnTo>
                      <a:pt x="167" y="1407"/>
                    </a:lnTo>
                    <a:lnTo>
                      <a:pt x="173" y="1386"/>
                    </a:lnTo>
                    <a:lnTo>
                      <a:pt x="179" y="1367"/>
                    </a:lnTo>
                    <a:lnTo>
                      <a:pt x="181" y="1362"/>
                    </a:lnTo>
                    <a:lnTo>
                      <a:pt x="184" y="1345"/>
                    </a:lnTo>
                    <a:lnTo>
                      <a:pt x="192" y="1305"/>
                    </a:lnTo>
                    <a:lnTo>
                      <a:pt x="200" y="1263"/>
                    </a:lnTo>
                    <a:lnTo>
                      <a:pt x="206" y="1221"/>
                    </a:lnTo>
                    <a:lnTo>
                      <a:pt x="214" y="1174"/>
                    </a:lnTo>
                    <a:lnTo>
                      <a:pt x="221" y="1129"/>
                    </a:lnTo>
                    <a:lnTo>
                      <a:pt x="227" y="1077"/>
                    </a:lnTo>
                    <a:lnTo>
                      <a:pt x="233" y="1037"/>
                    </a:lnTo>
                    <a:lnTo>
                      <a:pt x="236" y="1006"/>
                    </a:lnTo>
                    <a:lnTo>
                      <a:pt x="248" y="902"/>
                    </a:lnTo>
                    <a:lnTo>
                      <a:pt x="273" y="686"/>
                    </a:lnTo>
                    <a:lnTo>
                      <a:pt x="285" y="577"/>
                    </a:lnTo>
                    <a:lnTo>
                      <a:pt x="290" y="548"/>
                    </a:lnTo>
                    <a:lnTo>
                      <a:pt x="296" y="496"/>
                    </a:lnTo>
                    <a:lnTo>
                      <a:pt x="302" y="449"/>
                    </a:lnTo>
                    <a:lnTo>
                      <a:pt x="307" y="401"/>
                    </a:lnTo>
                    <a:lnTo>
                      <a:pt x="313" y="350"/>
                    </a:lnTo>
                    <a:lnTo>
                      <a:pt x="319" y="308"/>
                    </a:lnTo>
                    <a:lnTo>
                      <a:pt x="324" y="268"/>
                    </a:lnTo>
                    <a:lnTo>
                      <a:pt x="330" y="233"/>
                    </a:lnTo>
                    <a:lnTo>
                      <a:pt x="331" y="216"/>
                    </a:lnTo>
                    <a:lnTo>
                      <a:pt x="333" y="201"/>
                    </a:lnTo>
                    <a:lnTo>
                      <a:pt x="338" y="166"/>
                    </a:lnTo>
                    <a:lnTo>
                      <a:pt x="342" y="140"/>
                    </a:lnTo>
                    <a:lnTo>
                      <a:pt x="346" y="114"/>
                    </a:lnTo>
                    <a:lnTo>
                      <a:pt x="350" y="88"/>
                    </a:lnTo>
                    <a:lnTo>
                      <a:pt x="354" y="67"/>
                    </a:lnTo>
                    <a:lnTo>
                      <a:pt x="357" y="52"/>
                    </a:lnTo>
                    <a:lnTo>
                      <a:pt x="361" y="40"/>
                    </a:lnTo>
                    <a:lnTo>
                      <a:pt x="363" y="38"/>
                    </a:lnTo>
                    <a:lnTo>
                      <a:pt x="367" y="26"/>
                    </a:lnTo>
                    <a:lnTo>
                      <a:pt x="373" y="16"/>
                    </a:lnTo>
                    <a:lnTo>
                      <a:pt x="380" y="5"/>
                    </a:lnTo>
                    <a:lnTo>
                      <a:pt x="388" y="0"/>
                    </a:lnTo>
                    <a:lnTo>
                      <a:pt x="391" y="0"/>
                    </a:lnTo>
                  </a:path>
                </a:pathLst>
              </a:custGeom>
              <a:noFill/>
              <a:ln w="12699" cap="flat" cmpd="sng">
                <a:solidFill>
                  <a:srgbClr val="000000"/>
                </a:solidFill>
                <a:prstDash val="dash"/>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108" name="Freeform 26"/>
              <p:cNvSpPr>
                <a:spLocks/>
              </p:cNvSpPr>
              <p:nvPr/>
            </p:nvSpPr>
            <p:spPr bwMode="auto">
              <a:xfrm>
                <a:off x="1725" y="1713"/>
                <a:ext cx="394" cy="1580"/>
              </a:xfrm>
              <a:custGeom>
                <a:avLst/>
                <a:gdLst>
                  <a:gd name="T0" fmla="*/ 393 w 394"/>
                  <a:gd name="T1" fmla="*/ 1579 h 1580"/>
                  <a:gd name="T2" fmla="*/ 382 w 394"/>
                  <a:gd name="T3" fmla="*/ 1573 h 1580"/>
                  <a:gd name="T4" fmla="*/ 364 w 394"/>
                  <a:gd name="T5" fmla="*/ 1562 h 1580"/>
                  <a:gd name="T6" fmla="*/ 350 w 394"/>
                  <a:gd name="T7" fmla="*/ 1557 h 1580"/>
                  <a:gd name="T8" fmla="*/ 334 w 394"/>
                  <a:gd name="T9" fmla="*/ 1547 h 1580"/>
                  <a:gd name="T10" fmla="*/ 316 w 394"/>
                  <a:gd name="T11" fmla="*/ 1530 h 1580"/>
                  <a:gd name="T12" fmla="*/ 302 w 394"/>
                  <a:gd name="T13" fmla="*/ 1521 h 1580"/>
                  <a:gd name="T14" fmla="*/ 291 w 394"/>
                  <a:gd name="T15" fmla="*/ 1511 h 1580"/>
                  <a:gd name="T16" fmla="*/ 277 w 394"/>
                  <a:gd name="T17" fmla="*/ 1495 h 1580"/>
                  <a:gd name="T18" fmla="*/ 269 w 394"/>
                  <a:gd name="T19" fmla="*/ 1483 h 1580"/>
                  <a:gd name="T20" fmla="*/ 258 w 394"/>
                  <a:gd name="T21" fmla="*/ 1469 h 1580"/>
                  <a:gd name="T22" fmla="*/ 246 w 394"/>
                  <a:gd name="T23" fmla="*/ 1454 h 1580"/>
                  <a:gd name="T24" fmla="*/ 237 w 394"/>
                  <a:gd name="T25" fmla="*/ 1438 h 1580"/>
                  <a:gd name="T26" fmla="*/ 231 w 394"/>
                  <a:gd name="T27" fmla="*/ 1424 h 1580"/>
                  <a:gd name="T28" fmla="*/ 224 w 394"/>
                  <a:gd name="T29" fmla="*/ 1407 h 1580"/>
                  <a:gd name="T30" fmla="*/ 218 w 394"/>
                  <a:gd name="T31" fmla="*/ 1386 h 1580"/>
                  <a:gd name="T32" fmla="*/ 212 w 394"/>
                  <a:gd name="T33" fmla="*/ 1367 h 1580"/>
                  <a:gd name="T34" fmla="*/ 210 w 394"/>
                  <a:gd name="T35" fmla="*/ 1362 h 1580"/>
                  <a:gd name="T36" fmla="*/ 207 w 394"/>
                  <a:gd name="T37" fmla="*/ 1345 h 1580"/>
                  <a:gd name="T38" fmla="*/ 199 w 394"/>
                  <a:gd name="T39" fmla="*/ 1305 h 1580"/>
                  <a:gd name="T40" fmla="*/ 191 w 394"/>
                  <a:gd name="T41" fmla="*/ 1263 h 1580"/>
                  <a:gd name="T42" fmla="*/ 184 w 394"/>
                  <a:gd name="T43" fmla="*/ 1226 h 1580"/>
                  <a:gd name="T44" fmla="*/ 176 w 394"/>
                  <a:gd name="T45" fmla="*/ 1179 h 1580"/>
                  <a:gd name="T46" fmla="*/ 170 w 394"/>
                  <a:gd name="T47" fmla="*/ 1134 h 1580"/>
                  <a:gd name="T48" fmla="*/ 163 w 394"/>
                  <a:gd name="T49" fmla="*/ 1082 h 1580"/>
                  <a:gd name="T50" fmla="*/ 155 w 394"/>
                  <a:gd name="T51" fmla="*/ 1037 h 1580"/>
                  <a:gd name="T52" fmla="*/ 152 w 394"/>
                  <a:gd name="T53" fmla="*/ 1006 h 1580"/>
                  <a:gd name="T54" fmla="*/ 140 w 394"/>
                  <a:gd name="T55" fmla="*/ 902 h 1580"/>
                  <a:gd name="T56" fmla="*/ 115 w 394"/>
                  <a:gd name="T57" fmla="*/ 686 h 1580"/>
                  <a:gd name="T58" fmla="*/ 102 w 394"/>
                  <a:gd name="T59" fmla="*/ 577 h 1580"/>
                  <a:gd name="T60" fmla="*/ 98 w 394"/>
                  <a:gd name="T61" fmla="*/ 548 h 1580"/>
                  <a:gd name="T62" fmla="*/ 93 w 394"/>
                  <a:gd name="T63" fmla="*/ 501 h 1580"/>
                  <a:gd name="T64" fmla="*/ 88 w 394"/>
                  <a:gd name="T65" fmla="*/ 449 h 1580"/>
                  <a:gd name="T66" fmla="*/ 81 w 394"/>
                  <a:gd name="T67" fmla="*/ 399 h 1580"/>
                  <a:gd name="T68" fmla="*/ 76 w 394"/>
                  <a:gd name="T69" fmla="*/ 350 h 1580"/>
                  <a:gd name="T70" fmla="*/ 71 w 394"/>
                  <a:gd name="T71" fmla="*/ 308 h 1580"/>
                  <a:gd name="T72" fmla="*/ 66 w 394"/>
                  <a:gd name="T73" fmla="*/ 268 h 1580"/>
                  <a:gd name="T74" fmla="*/ 60 w 394"/>
                  <a:gd name="T75" fmla="*/ 233 h 1580"/>
                  <a:gd name="T76" fmla="*/ 58 w 394"/>
                  <a:gd name="T77" fmla="*/ 216 h 1580"/>
                  <a:gd name="T78" fmla="*/ 56 w 394"/>
                  <a:gd name="T79" fmla="*/ 201 h 1580"/>
                  <a:gd name="T80" fmla="*/ 51 w 394"/>
                  <a:gd name="T81" fmla="*/ 171 h 1580"/>
                  <a:gd name="T82" fmla="*/ 46 w 394"/>
                  <a:gd name="T83" fmla="*/ 140 h 1580"/>
                  <a:gd name="T84" fmla="*/ 41 w 394"/>
                  <a:gd name="T85" fmla="*/ 109 h 1580"/>
                  <a:gd name="T86" fmla="*/ 37 w 394"/>
                  <a:gd name="T87" fmla="*/ 88 h 1580"/>
                  <a:gd name="T88" fmla="*/ 33 w 394"/>
                  <a:gd name="T89" fmla="*/ 73 h 1580"/>
                  <a:gd name="T90" fmla="*/ 30 w 394"/>
                  <a:gd name="T91" fmla="*/ 57 h 1580"/>
                  <a:gd name="T92" fmla="*/ 26 w 394"/>
                  <a:gd name="T93" fmla="*/ 40 h 1580"/>
                  <a:gd name="T94" fmla="*/ 24 w 394"/>
                  <a:gd name="T95" fmla="*/ 38 h 1580"/>
                  <a:gd name="T96" fmla="*/ 21 w 394"/>
                  <a:gd name="T97" fmla="*/ 26 h 1580"/>
                  <a:gd name="T98" fmla="*/ 16 w 394"/>
                  <a:gd name="T99" fmla="*/ 16 h 1580"/>
                  <a:gd name="T100" fmla="*/ 10 w 394"/>
                  <a:gd name="T101" fmla="*/ 5 h 1580"/>
                  <a:gd name="T102" fmla="*/ 3 w 394"/>
                  <a:gd name="T103" fmla="*/ 0 h 1580"/>
                  <a:gd name="T104" fmla="*/ 0 w 394"/>
                  <a:gd name="T105" fmla="*/ 0 h 158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1580">
                    <a:moveTo>
                      <a:pt x="393" y="1579"/>
                    </a:moveTo>
                    <a:lnTo>
                      <a:pt x="382" y="1573"/>
                    </a:lnTo>
                    <a:lnTo>
                      <a:pt x="364" y="1562"/>
                    </a:lnTo>
                    <a:lnTo>
                      <a:pt x="350" y="1557"/>
                    </a:lnTo>
                    <a:lnTo>
                      <a:pt x="334" y="1547"/>
                    </a:lnTo>
                    <a:lnTo>
                      <a:pt x="316" y="1530"/>
                    </a:lnTo>
                    <a:lnTo>
                      <a:pt x="302" y="1521"/>
                    </a:lnTo>
                    <a:lnTo>
                      <a:pt x="291" y="1511"/>
                    </a:lnTo>
                    <a:lnTo>
                      <a:pt x="277" y="1495"/>
                    </a:lnTo>
                    <a:lnTo>
                      <a:pt x="269" y="1483"/>
                    </a:lnTo>
                    <a:lnTo>
                      <a:pt x="258" y="1469"/>
                    </a:lnTo>
                    <a:lnTo>
                      <a:pt x="246" y="1454"/>
                    </a:lnTo>
                    <a:lnTo>
                      <a:pt x="237" y="1438"/>
                    </a:lnTo>
                    <a:lnTo>
                      <a:pt x="231" y="1424"/>
                    </a:lnTo>
                    <a:lnTo>
                      <a:pt x="224" y="1407"/>
                    </a:lnTo>
                    <a:lnTo>
                      <a:pt x="218" y="1386"/>
                    </a:lnTo>
                    <a:lnTo>
                      <a:pt x="212" y="1367"/>
                    </a:lnTo>
                    <a:lnTo>
                      <a:pt x="210" y="1362"/>
                    </a:lnTo>
                    <a:lnTo>
                      <a:pt x="207" y="1345"/>
                    </a:lnTo>
                    <a:lnTo>
                      <a:pt x="199" y="1305"/>
                    </a:lnTo>
                    <a:lnTo>
                      <a:pt x="191" y="1263"/>
                    </a:lnTo>
                    <a:lnTo>
                      <a:pt x="184" y="1226"/>
                    </a:lnTo>
                    <a:lnTo>
                      <a:pt x="176" y="1179"/>
                    </a:lnTo>
                    <a:lnTo>
                      <a:pt x="170" y="1134"/>
                    </a:lnTo>
                    <a:lnTo>
                      <a:pt x="163" y="1082"/>
                    </a:lnTo>
                    <a:lnTo>
                      <a:pt x="155" y="1037"/>
                    </a:lnTo>
                    <a:lnTo>
                      <a:pt x="152" y="1006"/>
                    </a:lnTo>
                    <a:lnTo>
                      <a:pt x="140" y="902"/>
                    </a:lnTo>
                    <a:lnTo>
                      <a:pt x="115" y="686"/>
                    </a:lnTo>
                    <a:lnTo>
                      <a:pt x="102" y="577"/>
                    </a:lnTo>
                    <a:lnTo>
                      <a:pt x="98" y="548"/>
                    </a:lnTo>
                    <a:lnTo>
                      <a:pt x="93" y="501"/>
                    </a:lnTo>
                    <a:lnTo>
                      <a:pt x="88" y="449"/>
                    </a:lnTo>
                    <a:lnTo>
                      <a:pt x="81" y="399"/>
                    </a:lnTo>
                    <a:lnTo>
                      <a:pt x="76" y="350"/>
                    </a:lnTo>
                    <a:lnTo>
                      <a:pt x="71" y="308"/>
                    </a:lnTo>
                    <a:lnTo>
                      <a:pt x="66" y="268"/>
                    </a:lnTo>
                    <a:lnTo>
                      <a:pt x="60" y="233"/>
                    </a:lnTo>
                    <a:lnTo>
                      <a:pt x="58" y="216"/>
                    </a:lnTo>
                    <a:lnTo>
                      <a:pt x="56" y="201"/>
                    </a:lnTo>
                    <a:lnTo>
                      <a:pt x="51" y="171"/>
                    </a:lnTo>
                    <a:lnTo>
                      <a:pt x="46" y="140"/>
                    </a:lnTo>
                    <a:lnTo>
                      <a:pt x="41" y="109"/>
                    </a:lnTo>
                    <a:lnTo>
                      <a:pt x="37" y="88"/>
                    </a:lnTo>
                    <a:lnTo>
                      <a:pt x="33" y="73"/>
                    </a:lnTo>
                    <a:lnTo>
                      <a:pt x="30" y="57"/>
                    </a:lnTo>
                    <a:lnTo>
                      <a:pt x="26" y="40"/>
                    </a:lnTo>
                    <a:lnTo>
                      <a:pt x="24" y="38"/>
                    </a:lnTo>
                    <a:lnTo>
                      <a:pt x="21" y="26"/>
                    </a:lnTo>
                    <a:lnTo>
                      <a:pt x="16" y="16"/>
                    </a:lnTo>
                    <a:lnTo>
                      <a:pt x="10" y="5"/>
                    </a:lnTo>
                    <a:lnTo>
                      <a:pt x="3" y="0"/>
                    </a:lnTo>
                    <a:lnTo>
                      <a:pt x="0" y="0"/>
                    </a:lnTo>
                  </a:path>
                </a:pathLst>
              </a:custGeom>
              <a:noFill/>
              <a:ln w="12699" cap="flat" cmpd="sng">
                <a:solidFill>
                  <a:srgbClr val="000000"/>
                </a:solidFill>
                <a:prstDash val="dash"/>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1096" name="Rectangle 27"/>
            <p:cNvSpPr>
              <a:spLocks noChangeArrowheads="1"/>
            </p:cNvSpPr>
            <p:nvPr/>
          </p:nvSpPr>
          <p:spPr bwMode="auto">
            <a:xfrm>
              <a:off x="5158" y="3704"/>
              <a:ext cx="305"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USL</a:t>
              </a:r>
            </a:p>
          </p:txBody>
        </p:sp>
        <p:sp>
          <p:nvSpPr>
            <p:cNvPr id="291097" name="Rectangle 28"/>
            <p:cNvSpPr>
              <a:spLocks noChangeArrowheads="1"/>
            </p:cNvSpPr>
            <p:nvPr/>
          </p:nvSpPr>
          <p:spPr bwMode="auto">
            <a:xfrm>
              <a:off x="3559" y="3704"/>
              <a:ext cx="282"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LSL</a:t>
              </a:r>
            </a:p>
          </p:txBody>
        </p:sp>
        <p:grpSp>
          <p:nvGrpSpPr>
            <p:cNvPr id="8" name="Group 29"/>
            <p:cNvGrpSpPr>
              <a:grpSpLocks/>
            </p:cNvGrpSpPr>
            <p:nvPr/>
          </p:nvGrpSpPr>
          <p:grpSpPr bwMode="auto">
            <a:xfrm>
              <a:off x="3492" y="3078"/>
              <a:ext cx="2084" cy="616"/>
              <a:chOff x="556" y="2277"/>
              <a:chExt cx="2341" cy="1016"/>
            </a:xfrm>
          </p:grpSpPr>
          <p:sp>
            <p:nvSpPr>
              <p:cNvPr id="291105" name="Freeform 30"/>
              <p:cNvSpPr>
                <a:spLocks/>
              </p:cNvSpPr>
              <p:nvPr/>
            </p:nvSpPr>
            <p:spPr bwMode="auto">
              <a:xfrm>
                <a:off x="556" y="2277"/>
                <a:ext cx="1170" cy="1016"/>
              </a:xfrm>
              <a:custGeom>
                <a:avLst/>
                <a:gdLst>
                  <a:gd name="T0" fmla="*/ 0 w 1170"/>
                  <a:gd name="T1" fmla="*/ 1015 h 1016"/>
                  <a:gd name="T2" fmla="*/ 31 w 1170"/>
                  <a:gd name="T3" fmla="*/ 1011 h 1016"/>
                  <a:gd name="T4" fmla="*/ 84 w 1170"/>
                  <a:gd name="T5" fmla="*/ 1004 h 1016"/>
                  <a:gd name="T6" fmla="*/ 125 w 1170"/>
                  <a:gd name="T7" fmla="*/ 1000 h 1016"/>
                  <a:gd name="T8" fmla="*/ 173 w 1170"/>
                  <a:gd name="T9" fmla="*/ 994 h 1016"/>
                  <a:gd name="T10" fmla="*/ 226 w 1170"/>
                  <a:gd name="T11" fmla="*/ 983 h 1016"/>
                  <a:gd name="T12" fmla="*/ 268 w 1170"/>
                  <a:gd name="T13" fmla="*/ 978 h 1016"/>
                  <a:gd name="T14" fmla="*/ 300 w 1170"/>
                  <a:gd name="T15" fmla="*/ 971 h 1016"/>
                  <a:gd name="T16" fmla="*/ 342 w 1170"/>
                  <a:gd name="T17" fmla="*/ 961 h 1016"/>
                  <a:gd name="T18" fmla="*/ 367 w 1170"/>
                  <a:gd name="T19" fmla="*/ 953 h 1016"/>
                  <a:gd name="T20" fmla="*/ 399 w 1170"/>
                  <a:gd name="T21" fmla="*/ 944 h 1016"/>
                  <a:gd name="T22" fmla="*/ 436 w 1170"/>
                  <a:gd name="T23" fmla="*/ 935 h 1016"/>
                  <a:gd name="T24" fmla="*/ 462 w 1170"/>
                  <a:gd name="T25" fmla="*/ 924 h 1016"/>
                  <a:gd name="T26" fmla="*/ 478 w 1170"/>
                  <a:gd name="T27" fmla="*/ 915 h 1016"/>
                  <a:gd name="T28" fmla="*/ 499 w 1170"/>
                  <a:gd name="T29" fmla="*/ 904 h 1016"/>
                  <a:gd name="T30" fmla="*/ 519 w 1170"/>
                  <a:gd name="T31" fmla="*/ 890 h 1016"/>
                  <a:gd name="T32" fmla="*/ 536 w 1170"/>
                  <a:gd name="T33" fmla="*/ 879 h 1016"/>
                  <a:gd name="T34" fmla="*/ 542 w 1170"/>
                  <a:gd name="T35" fmla="*/ 875 h 1016"/>
                  <a:gd name="T36" fmla="*/ 550 w 1170"/>
                  <a:gd name="T37" fmla="*/ 865 h 1016"/>
                  <a:gd name="T38" fmla="*/ 575 w 1170"/>
                  <a:gd name="T39" fmla="*/ 839 h 1016"/>
                  <a:gd name="T40" fmla="*/ 598 w 1170"/>
                  <a:gd name="T41" fmla="*/ 812 h 1016"/>
                  <a:gd name="T42" fmla="*/ 618 w 1170"/>
                  <a:gd name="T43" fmla="*/ 785 h 1016"/>
                  <a:gd name="T44" fmla="*/ 641 w 1170"/>
                  <a:gd name="T45" fmla="*/ 755 h 1016"/>
                  <a:gd name="T46" fmla="*/ 662 w 1170"/>
                  <a:gd name="T47" fmla="*/ 725 h 1016"/>
                  <a:gd name="T48" fmla="*/ 681 w 1170"/>
                  <a:gd name="T49" fmla="*/ 692 h 1016"/>
                  <a:gd name="T50" fmla="*/ 699 w 1170"/>
                  <a:gd name="T51" fmla="*/ 666 h 1016"/>
                  <a:gd name="T52" fmla="*/ 706 w 1170"/>
                  <a:gd name="T53" fmla="*/ 647 h 1016"/>
                  <a:gd name="T54" fmla="*/ 743 w 1170"/>
                  <a:gd name="T55" fmla="*/ 580 h 1016"/>
                  <a:gd name="T56" fmla="*/ 817 w 1170"/>
                  <a:gd name="T57" fmla="*/ 441 h 1016"/>
                  <a:gd name="T58" fmla="*/ 854 w 1170"/>
                  <a:gd name="T59" fmla="*/ 371 h 1016"/>
                  <a:gd name="T60" fmla="*/ 867 w 1170"/>
                  <a:gd name="T61" fmla="*/ 352 h 1016"/>
                  <a:gd name="T62" fmla="*/ 886 w 1170"/>
                  <a:gd name="T63" fmla="*/ 319 h 1016"/>
                  <a:gd name="T64" fmla="*/ 904 w 1170"/>
                  <a:gd name="T65" fmla="*/ 289 h 1016"/>
                  <a:gd name="T66" fmla="*/ 918 w 1170"/>
                  <a:gd name="T67" fmla="*/ 257 h 1016"/>
                  <a:gd name="T68" fmla="*/ 937 w 1170"/>
                  <a:gd name="T69" fmla="*/ 225 h 1016"/>
                  <a:gd name="T70" fmla="*/ 955 w 1170"/>
                  <a:gd name="T71" fmla="*/ 198 h 1016"/>
                  <a:gd name="T72" fmla="*/ 969 w 1170"/>
                  <a:gd name="T73" fmla="*/ 172 h 1016"/>
                  <a:gd name="T74" fmla="*/ 987 w 1170"/>
                  <a:gd name="T75" fmla="*/ 149 h 1016"/>
                  <a:gd name="T76" fmla="*/ 992 w 1170"/>
                  <a:gd name="T77" fmla="*/ 139 h 1016"/>
                  <a:gd name="T78" fmla="*/ 997 w 1170"/>
                  <a:gd name="T79" fmla="*/ 129 h 1016"/>
                  <a:gd name="T80" fmla="*/ 1011 w 1170"/>
                  <a:gd name="T81" fmla="*/ 106 h 1016"/>
                  <a:gd name="T82" fmla="*/ 1024 w 1170"/>
                  <a:gd name="T83" fmla="*/ 90 h 1016"/>
                  <a:gd name="T84" fmla="*/ 1034 w 1170"/>
                  <a:gd name="T85" fmla="*/ 73 h 1016"/>
                  <a:gd name="T86" fmla="*/ 1048 w 1170"/>
                  <a:gd name="T87" fmla="*/ 57 h 1016"/>
                  <a:gd name="T88" fmla="*/ 1061 w 1170"/>
                  <a:gd name="T89" fmla="*/ 43 h 1016"/>
                  <a:gd name="T90" fmla="*/ 1068 w 1170"/>
                  <a:gd name="T91" fmla="*/ 33 h 1016"/>
                  <a:gd name="T92" fmla="*/ 1080 w 1170"/>
                  <a:gd name="T93" fmla="*/ 25 h 1016"/>
                  <a:gd name="T94" fmla="*/ 1086 w 1170"/>
                  <a:gd name="T95" fmla="*/ 24 h 1016"/>
                  <a:gd name="T96" fmla="*/ 1098 w 1170"/>
                  <a:gd name="T97" fmla="*/ 17 h 1016"/>
                  <a:gd name="T98" fmla="*/ 1117 w 1170"/>
                  <a:gd name="T99" fmla="*/ 10 h 1016"/>
                  <a:gd name="T100" fmla="*/ 1137 w 1170"/>
                  <a:gd name="T101" fmla="*/ 3 h 1016"/>
                  <a:gd name="T102" fmla="*/ 1160 w 1170"/>
                  <a:gd name="T103" fmla="*/ 0 h 1016"/>
                  <a:gd name="T104" fmla="*/ 1169 w 1170"/>
                  <a:gd name="T105" fmla="*/ 0 h 10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70" h="1016">
                    <a:moveTo>
                      <a:pt x="0" y="1015"/>
                    </a:moveTo>
                    <a:lnTo>
                      <a:pt x="31" y="1011"/>
                    </a:lnTo>
                    <a:lnTo>
                      <a:pt x="84" y="1004"/>
                    </a:lnTo>
                    <a:lnTo>
                      <a:pt x="125" y="1000"/>
                    </a:lnTo>
                    <a:lnTo>
                      <a:pt x="173" y="994"/>
                    </a:lnTo>
                    <a:lnTo>
                      <a:pt x="226" y="983"/>
                    </a:lnTo>
                    <a:lnTo>
                      <a:pt x="268" y="978"/>
                    </a:lnTo>
                    <a:lnTo>
                      <a:pt x="300" y="971"/>
                    </a:lnTo>
                    <a:lnTo>
                      <a:pt x="342" y="961"/>
                    </a:lnTo>
                    <a:lnTo>
                      <a:pt x="367" y="953"/>
                    </a:lnTo>
                    <a:lnTo>
                      <a:pt x="399" y="944"/>
                    </a:lnTo>
                    <a:lnTo>
                      <a:pt x="436" y="935"/>
                    </a:lnTo>
                    <a:lnTo>
                      <a:pt x="462" y="924"/>
                    </a:lnTo>
                    <a:lnTo>
                      <a:pt x="478" y="915"/>
                    </a:lnTo>
                    <a:lnTo>
                      <a:pt x="499" y="904"/>
                    </a:lnTo>
                    <a:lnTo>
                      <a:pt x="519" y="890"/>
                    </a:lnTo>
                    <a:lnTo>
                      <a:pt x="536" y="879"/>
                    </a:lnTo>
                    <a:lnTo>
                      <a:pt x="542" y="875"/>
                    </a:lnTo>
                    <a:lnTo>
                      <a:pt x="550" y="865"/>
                    </a:lnTo>
                    <a:lnTo>
                      <a:pt x="575" y="839"/>
                    </a:lnTo>
                    <a:lnTo>
                      <a:pt x="598" y="812"/>
                    </a:lnTo>
                    <a:lnTo>
                      <a:pt x="618" y="785"/>
                    </a:lnTo>
                    <a:lnTo>
                      <a:pt x="641" y="755"/>
                    </a:lnTo>
                    <a:lnTo>
                      <a:pt x="662" y="725"/>
                    </a:lnTo>
                    <a:lnTo>
                      <a:pt x="681" y="692"/>
                    </a:lnTo>
                    <a:lnTo>
                      <a:pt x="699" y="666"/>
                    </a:lnTo>
                    <a:lnTo>
                      <a:pt x="706" y="647"/>
                    </a:lnTo>
                    <a:lnTo>
                      <a:pt x="743" y="580"/>
                    </a:lnTo>
                    <a:lnTo>
                      <a:pt x="817" y="441"/>
                    </a:lnTo>
                    <a:lnTo>
                      <a:pt x="854" y="371"/>
                    </a:lnTo>
                    <a:lnTo>
                      <a:pt x="867" y="352"/>
                    </a:lnTo>
                    <a:lnTo>
                      <a:pt x="886" y="319"/>
                    </a:lnTo>
                    <a:lnTo>
                      <a:pt x="904" y="289"/>
                    </a:lnTo>
                    <a:lnTo>
                      <a:pt x="918" y="257"/>
                    </a:lnTo>
                    <a:lnTo>
                      <a:pt x="937" y="225"/>
                    </a:lnTo>
                    <a:lnTo>
                      <a:pt x="955" y="198"/>
                    </a:lnTo>
                    <a:lnTo>
                      <a:pt x="969" y="172"/>
                    </a:lnTo>
                    <a:lnTo>
                      <a:pt x="987" y="149"/>
                    </a:lnTo>
                    <a:lnTo>
                      <a:pt x="992" y="139"/>
                    </a:lnTo>
                    <a:lnTo>
                      <a:pt x="997" y="129"/>
                    </a:lnTo>
                    <a:lnTo>
                      <a:pt x="1011" y="106"/>
                    </a:lnTo>
                    <a:lnTo>
                      <a:pt x="1024" y="90"/>
                    </a:lnTo>
                    <a:lnTo>
                      <a:pt x="1034" y="73"/>
                    </a:lnTo>
                    <a:lnTo>
                      <a:pt x="1048" y="57"/>
                    </a:lnTo>
                    <a:lnTo>
                      <a:pt x="1061" y="43"/>
                    </a:lnTo>
                    <a:lnTo>
                      <a:pt x="1068" y="33"/>
                    </a:lnTo>
                    <a:lnTo>
                      <a:pt x="1080" y="25"/>
                    </a:lnTo>
                    <a:lnTo>
                      <a:pt x="1086" y="24"/>
                    </a:lnTo>
                    <a:lnTo>
                      <a:pt x="1098" y="17"/>
                    </a:lnTo>
                    <a:lnTo>
                      <a:pt x="1117" y="10"/>
                    </a:lnTo>
                    <a:lnTo>
                      <a:pt x="1137" y="3"/>
                    </a:lnTo>
                    <a:lnTo>
                      <a:pt x="1160" y="0"/>
                    </a:lnTo>
                    <a:lnTo>
                      <a:pt x="1169"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106" name="Freeform 31"/>
              <p:cNvSpPr>
                <a:spLocks/>
              </p:cNvSpPr>
              <p:nvPr/>
            </p:nvSpPr>
            <p:spPr bwMode="auto">
              <a:xfrm>
                <a:off x="1725" y="2277"/>
                <a:ext cx="1172" cy="1016"/>
              </a:xfrm>
              <a:custGeom>
                <a:avLst/>
                <a:gdLst>
                  <a:gd name="T0" fmla="*/ 1171 w 1172"/>
                  <a:gd name="T1" fmla="*/ 1015 h 1016"/>
                  <a:gd name="T2" fmla="*/ 1139 w 1172"/>
                  <a:gd name="T3" fmla="*/ 1011 h 1016"/>
                  <a:gd name="T4" fmla="*/ 1085 w 1172"/>
                  <a:gd name="T5" fmla="*/ 1004 h 1016"/>
                  <a:gd name="T6" fmla="*/ 1045 w 1172"/>
                  <a:gd name="T7" fmla="*/ 1000 h 1016"/>
                  <a:gd name="T8" fmla="*/ 995 w 1172"/>
                  <a:gd name="T9" fmla="*/ 994 h 1016"/>
                  <a:gd name="T10" fmla="*/ 944 w 1172"/>
                  <a:gd name="T11" fmla="*/ 983 h 1016"/>
                  <a:gd name="T12" fmla="*/ 901 w 1172"/>
                  <a:gd name="T13" fmla="*/ 978 h 1016"/>
                  <a:gd name="T14" fmla="*/ 869 w 1172"/>
                  <a:gd name="T15" fmla="*/ 971 h 1016"/>
                  <a:gd name="T16" fmla="*/ 827 w 1172"/>
                  <a:gd name="T17" fmla="*/ 961 h 1016"/>
                  <a:gd name="T18" fmla="*/ 802 w 1172"/>
                  <a:gd name="T19" fmla="*/ 953 h 1016"/>
                  <a:gd name="T20" fmla="*/ 770 w 1172"/>
                  <a:gd name="T21" fmla="*/ 944 h 1016"/>
                  <a:gd name="T22" fmla="*/ 733 w 1172"/>
                  <a:gd name="T23" fmla="*/ 935 h 1016"/>
                  <a:gd name="T24" fmla="*/ 706 w 1172"/>
                  <a:gd name="T25" fmla="*/ 924 h 1016"/>
                  <a:gd name="T26" fmla="*/ 689 w 1172"/>
                  <a:gd name="T27" fmla="*/ 915 h 1016"/>
                  <a:gd name="T28" fmla="*/ 669 w 1172"/>
                  <a:gd name="T29" fmla="*/ 904 h 1016"/>
                  <a:gd name="T30" fmla="*/ 650 w 1172"/>
                  <a:gd name="T31" fmla="*/ 890 h 1016"/>
                  <a:gd name="T32" fmla="*/ 632 w 1172"/>
                  <a:gd name="T33" fmla="*/ 879 h 1016"/>
                  <a:gd name="T34" fmla="*/ 627 w 1172"/>
                  <a:gd name="T35" fmla="*/ 875 h 1016"/>
                  <a:gd name="T36" fmla="*/ 618 w 1172"/>
                  <a:gd name="T37" fmla="*/ 865 h 1016"/>
                  <a:gd name="T38" fmla="*/ 593 w 1172"/>
                  <a:gd name="T39" fmla="*/ 839 h 1016"/>
                  <a:gd name="T40" fmla="*/ 570 w 1172"/>
                  <a:gd name="T41" fmla="*/ 812 h 1016"/>
                  <a:gd name="T42" fmla="*/ 549 w 1172"/>
                  <a:gd name="T43" fmla="*/ 788 h 1016"/>
                  <a:gd name="T44" fmla="*/ 526 w 1172"/>
                  <a:gd name="T45" fmla="*/ 758 h 1016"/>
                  <a:gd name="T46" fmla="*/ 506 w 1172"/>
                  <a:gd name="T47" fmla="*/ 729 h 1016"/>
                  <a:gd name="T48" fmla="*/ 487 w 1172"/>
                  <a:gd name="T49" fmla="*/ 695 h 1016"/>
                  <a:gd name="T50" fmla="*/ 464 w 1172"/>
                  <a:gd name="T51" fmla="*/ 666 h 1016"/>
                  <a:gd name="T52" fmla="*/ 455 w 1172"/>
                  <a:gd name="T53" fmla="*/ 647 h 1016"/>
                  <a:gd name="T54" fmla="*/ 418 w 1172"/>
                  <a:gd name="T55" fmla="*/ 580 h 1016"/>
                  <a:gd name="T56" fmla="*/ 343 w 1172"/>
                  <a:gd name="T57" fmla="*/ 441 h 1016"/>
                  <a:gd name="T58" fmla="*/ 306 w 1172"/>
                  <a:gd name="T59" fmla="*/ 371 h 1016"/>
                  <a:gd name="T60" fmla="*/ 294 w 1172"/>
                  <a:gd name="T61" fmla="*/ 352 h 1016"/>
                  <a:gd name="T62" fmla="*/ 279 w 1172"/>
                  <a:gd name="T63" fmla="*/ 322 h 1016"/>
                  <a:gd name="T64" fmla="*/ 263 w 1172"/>
                  <a:gd name="T65" fmla="*/ 289 h 1016"/>
                  <a:gd name="T66" fmla="*/ 242 w 1172"/>
                  <a:gd name="T67" fmla="*/ 256 h 1016"/>
                  <a:gd name="T68" fmla="*/ 228 w 1172"/>
                  <a:gd name="T69" fmla="*/ 225 h 1016"/>
                  <a:gd name="T70" fmla="*/ 212 w 1172"/>
                  <a:gd name="T71" fmla="*/ 198 h 1016"/>
                  <a:gd name="T72" fmla="*/ 198 w 1172"/>
                  <a:gd name="T73" fmla="*/ 172 h 1016"/>
                  <a:gd name="T74" fmla="*/ 180 w 1172"/>
                  <a:gd name="T75" fmla="*/ 149 h 1016"/>
                  <a:gd name="T76" fmla="*/ 175 w 1172"/>
                  <a:gd name="T77" fmla="*/ 139 h 1016"/>
                  <a:gd name="T78" fmla="*/ 168 w 1172"/>
                  <a:gd name="T79" fmla="*/ 129 h 1016"/>
                  <a:gd name="T80" fmla="*/ 154 w 1172"/>
                  <a:gd name="T81" fmla="*/ 110 h 1016"/>
                  <a:gd name="T82" fmla="*/ 138 w 1172"/>
                  <a:gd name="T83" fmla="*/ 90 h 1016"/>
                  <a:gd name="T84" fmla="*/ 122 w 1172"/>
                  <a:gd name="T85" fmla="*/ 70 h 1016"/>
                  <a:gd name="T86" fmla="*/ 111 w 1172"/>
                  <a:gd name="T87" fmla="*/ 57 h 1016"/>
                  <a:gd name="T88" fmla="*/ 100 w 1172"/>
                  <a:gd name="T89" fmla="*/ 47 h 1016"/>
                  <a:gd name="T90" fmla="*/ 92 w 1172"/>
                  <a:gd name="T91" fmla="*/ 36 h 1016"/>
                  <a:gd name="T92" fmla="*/ 79 w 1172"/>
                  <a:gd name="T93" fmla="*/ 25 h 1016"/>
                  <a:gd name="T94" fmla="*/ 74 w 1172"/>
                  <a:gd name="T95" fmla="*/ 24 h 1016"/>
                  <a:gd name="T96" fmla="*/ 65 w 1172"/>
                  <a:gd name="T97" fmla="*/ 17 h 1016"/>
                  <a:gd name="T98" fmla="*/ 47 w 1172"/>
                  <a:gd name="T99" fmla="*/ 10 h 1016"/>
                  <a:gd name="T100" fmla="*/ 31 w 1172"/>
                  <a:gd name="T101" fmla="*/ 3 h 1016"/>
                  <a:gd name="T102" fmla="*/ 10 w 1172"/>
                  <a:gd name="T103" fmla="*/ 0 h 1016"/>
                  <a:gd name="T104" fmla="*/ 0 w 1172"/>
                  <a:gd name="T105" fmla="*/ 0 h 10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72" h="1016">
                    <a:moveTo>
                      <a:pt x="1171" y="1015"/>
                    </a:moveTo>
                    <a:lnTo>
                      <a:pt x="1139" y="1011"/>
                    </a:lnTo>
                    <a:lnTo>
                      <a:pt x="1085" y="1004"/>
                    </a:lnTo>
                    <a:lnTo>
                      <a:pt x="1045" y="1000"/>
                    </a:lnTo>
                    <a:lnTo>
                      <a:pt x="995" y="994"/>
                    </a:lnTo>
                    <a:lnTo>
                      <a:pt x="944" y="983"/>
                    </a:lnTo>
                    <a:lnTo>
                      <a:pt x="901" y="978"/>
                    </a:lnTo>
                    <a:lnTo>
                      <a:pt x="869" y="971"/>
                    </a:lnTo>
                    <a:lnTo>
                      <a:pt x="827" y="961"/>
                    </a:lnTo>
                    <a:lnTo>
                      <a:pt x="802" y="953"/>
                    </a:lnTo>
                    <a:lnTo>
                      <a:pt x="770" y="944"/>
                    </a:lnTo>
                    <a:lnTo>
                      <a:pt x="733" y="935"/>
                    </a:lnTo>
                    <a:lnTo>
                      <a:pt x="706" y="924"/>
                    </a:lnTo>
                    <a:lnTo>
                      <a:pt x="689" y="915"/>
                    </a:lnTo>
                    <a:lnTo>
                      <a:pt x="669" y="904"/>
                    </a:lnTo>
                    <a:lnTo>
                      <a:pt x="650" y="890"/>
                    </a:lnTo>
                    <a:lnTo>
                      <a:pt x="632" y="879"/>
                    </a:lnTo>
                    <a:lnTo>
                      <a:pt x="627" y="875"/>
                    </a:lnTo>
                    <a:lnTo>
                      <a:pt x="618" y="865"/>
                    </a:lnTo>
                    <a:lnTo>
                      <a:pt x="593" y="839"/>
                    </a:lnTo>
                    <a:lnTo>
                      <a:pt x="570" y="812"/>
                    </a:lnTo>
                    <a:lnTo>
                      <a:pt x="549" y="788"/>
                    </a:lnTo>
                    <a:lnTo>
                      <a:pt x="526" y="758"/>
                    </a:lnTo>
                    <a:lnTo>
                      <a:pt x="506" y="729"/>
                    </a:lnTo>
                    <a:lnTo>
                      <a:pt x="487" y="695"/>
                    </a:lnTo>
                    <a:lnTo>
                      <a:pt x="464" y="666"/>
                    </a:lnTo>
                    <a:lnTo>
                      <a:pt x="455" y="647"/>
                    </a:lnTo>
                    <a:lnTo>
                      <a:pt x="418" y="580"/>
                    </a:lnTo>
                    <a:lnTo>
                      <a:pt x="343" y="441"/>
                    </a:lnTo>
                    <a:lnTo>
                      <a:pt x="306" y="371"/>
                    </a:lnTo>
                    <a:lnTo>
                      <a:pt x="294" y="352"/>
                    </a:lnTo>
                    <a:lnTo>
                      <a:pt x="279" y="322"/>
                    </a:lnTo>
                    <a:lnTo>
                      <a:pt x="263" y="289"/>
                    </a:lnTo>
                    <a:lnTo>
                      <a:pt x="242" y="256"/>
                    </a:lnTo>
                    <a:lnTo>
                      <a:pt x="228" y="225"/>
                    </a:lnTo>
                    <a:lnTo>
                      <a:pt x="212" y="198"/>
                    </a:lnTo>
                    <a:lnTo>
                      <a:pt x="198" y="172"/>
                    </a:lnTo>
                    <a:lnTo>
                      <a:pt x="180" y="149"/>
                    </a:lnTo>
                    <a:lnTo>
                      <a:pt x="175" y="139"/>
                    </a:lnTo>
                    <a:lnTo>
                      <a:pt x="168" y="129"/>
                    </a:lnTo>
                    <a:lnTo>
                      <a:pt x="154" y="110"/>
                    </a:lnTo>
                    <a:lnTo>
                      <a:pt x="138" y="90"/>
                    </a:lnTo>
                    <a:lnTo>
                      <a:pt x="122" y="70"/>
                    </a:lnTo>
                    <a:lnTo>
                      <a:pt x="111" y="57"/>
                    </a:lnTo>
                    <a:lnTo>
                      <a:pt x="100" y="47"/>
                    </a:lnTo>
                    <a:lnTo>
                      <a:pt x="92" y="36"/>
                    </a:lnTo>
                    <a:lnTo>
                      <a:pt x="79" y="25"/>
                    </a:lnTo>
                    <a:lnTo>
                      <a:pt x="74" y="24"/>
                    </a:lnTo>
                    <a:lnTo>
                      <a:pt x="65" y="17"/>
                    </a:lnTo>
                    <a:lnTo>
                      <a:pt x="47" y="10"/>
                    </a:lnTo>
                    <a:lnTo>
                      <a:pt x="31" y="3"/>
                    </a:lnTo>
                    <a:lnTo>
                      <a:pt x="10" y="0"/>
                    </a:lnTo>
                    <a:lnTo>
                      <a:pt x="0"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1099" name="Rectangle 32"/>
            <p:cNvSpPr>
              <a:spLocks noChangeArrowheads="1"/>
            </p:cNvSpPr>
            <p:nvPr/>
          </p:nvSpPr>
          <p:spPr bwMode="auto">
            <a:xfrm>
              <a:off x="4635" y="2750"/>
              <a:ext cx="903" cy="186"/>
            </a:xfrm>
            <a:prstGeom prst="rect">
              <a:avLst/>
            </a:prstGeom>
            <a:solidFill>
              <a:srgbClr val="FFFFFF"/>
            </a:solidFill>
            <a:ln w="9525">
              <a:solidFill>
                <a:schemeClr val="tx1"/>
              </a:solidFill>
              <a:prstDash val="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dirty="0">
                  <a:latin typeface="맑은 고딕" pitchFamily="50" charset="-127"/>
                  <a:ea typeface="맑은 고딕" pitchFamily="50" charset="-127"/>
                </a:rPr>
                <a:t>Short term variance</a:t>
              </a:r>
              <a:endParaRPr lang="ko-KR" altLang="en-US" sz="1000" dirty="0">
                <a:latin typeface="맑은 고딕" pitchFamily="50" charset="-127"/>
                <a:ea typeface="맑은 고딕" pitchFamily="50" charset="-127"/>
              </a:endParaRPr>
            </a:p>
          </p:txBody>
        </p:sp>
        <p:sp>
          <p:nvSpPr>
            <p:cNvPr id="291100" name="Rectangle 33"/>
            <p:cNvSpPr>
              <a:spLocks noChangeArrowheads="1"/>
            </p:cNvSpPr>
            <p:nvPr/>
          </p:nvSpPr>
          <p:spPr bwMode="auto">
            <a:xfrm>
              <a:off x="4889" y="3174"/>
              <a:ext cx="889" cy="186"/>
            </a:xfrm>
            <a:prstGeom prst="rect">
              <a:avLst/>
            </a:prstGeom>
            <a:solidFill>
              <a:srgbClr val="FF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000" dirty="0">
                  <a:latin typeface="맑은 고딕" pitchFamily="50" charset="-127"/>
                  <a:ea typeface="맑은 고딕" pitchFamily="50" charset="-127"/>
                </a:rPr>
                <a:t>Long term variance</a:t>
              </a:r>
              <a:endParaRPr lang="ko-KR" altLang="en-US" sz="1000" dirty="0">
                <a:latin typeface="맑은 고딕" pitchFamily="50" charset="-127"/>
                <a:ea typeface="맑은 고딕" pitchFamily="50" charset="-127"/>
              </a:endParaRPr>
            </a:p>
          </p:txBody>
        </p:sp>
        <p:sp>
          <p:nvSpPr>
            <p:cNvPr id="291101" name="Line 34"/>
            <p:cNvSpPr>
              <a:spLocks noChangeShapeType="1"/>
            </p:cNvSpPr>
            <p:nvPr/>
          </p:nvSpPr>
          <p:spPr bwMode="auto">
            <a:xfrm>
              <a:off x="3512" y="3700"/>
              <a:ext cx="2047" cy="0"/>
            </a:xfrm>
            <a:prstGeom prst="line">
              <a:avLst/>
            </a:prstGeom>
            <a:noFill/>
            <a:ln w="12699">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102" name="Line 35"/>
            <p:cNvSpPr>
              <a:spLocks noChangeShapeType="1"/>
            </p:cNvSpPr>
            <p:nvPr/>
          </p:nvSpPr>
          <p:spPr bwMode="auto">
            <a:xfrm>
              <a:off x="5334" y="3017"/>
              <a:ext cx="0" cy="683"/>
            </a:xfrm>
            <a:prstGeom prst="line">
              <a:avLst/>
            </a:prstGeom>
            <a:noFill/>
            <a:ln w="12699">
              <a:solidFill>
                <a:srgbClr val="000000"/>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103" name="Line 36"/>
            <p:cNvSpPr>
              <a:spLocks noChangeShapeType="1"/>
            </p:cNvSpPr>
            <p:nvPr/>
          </p:nvSpPr>
          <p:spPr bwMode="auto">
            <a:xfrm>
              <a:off x="3713" y="3017"/>
              <a:ext cx="0" cy="683"/>
            </a:xfrm>
            <a:prstGeom prst="line">
              <a:avLst/>
            </a:prstGeom>
            <a:noFill/>
            <a:ln w="12699">
              <a:solidFill>
                <a:srgbClr val="000000"/>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104" name="Line 37"/>
            <p:cNvSpPr>
              <a:spLocks noChangeShapeType="1"/>
            </p:cNvSpPr>
            <p:nvPr/>
          </p:nvSpPr>
          <p:spPr bwMode="auto">
            <a:xfrm>
              <a:off x="4534" y="2643"/>
              <a:ext cx="0" cy="1058"/>
            </a:xfrm>
            <a:prstGeom prst="line">
              <a:avLst/>
            </a:prstGeom>
            <a:noFill/>
            <a:ln w="12699">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grpSp>
        <p:nvGrpSpPr>
          <p:cNvPr id="9" name="Group 38"/>
          <p:cNvGrpSpPr>
            <a:grpSpLocks/>
          </p:cNvGrpSpPr>
          <p:nvPr/>
        </p:nvGrpSpPr>
        <p:grpSpPr bwMode="auto">
          <a:xfrm>
            <a:off x="739775" y="1751013"/>
            <a:ext cx="3667125" cy="2016125"/>
            <a:chOff x="312" y="833"/>
            <a:chExt cx="2392" cy="1390"/>
          </a:xfrm>
        </p:grpSpPr>
        <p:sp>
          <p:nvSpPr>
            <p:cNvPr id="290962" name="Rectangle 39"/>
            <p:cNvSpPr>
              <a:spLocks noChangeArrowheads="1"/>
            </p:cNvSpPr>
            <p:nvPr/>
          </p:nvSpPr>
          <p:spPr bwMode="auto">
            <a:xfrm>
              <a:off x="542" y="833"/>
              <a:ext cx="2162" cy="1390"/>
            </a:xfrm>
            <a:prstGeom prst="rect">
              <a:avLst/>
            </a:prstGeom>
            <a:solidFill>
              <a:srgbClr val="EDFADE"/>
            </a:solidFill>
            <a:ln w="19050">
              <a:solidFill>
                <a:schemeClr val="bg2"/>
              </a:solidFill>
              <a:miter lim="800000"/>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grpSp>
          <p:nvGrpSpPr>
            <p:cNvPr id="10" name="Group 40"/>
            <p:cNvGrpSpPr>
              <a:grpSpLocks/>
            </p:cNvGrpSpPr>
            <p:nvPr/>
          </p:nvGrpSpPr>
          <p:grpSpPr bwMode="auto">
            <a:xfrm>
              <a:off x="1256" y="1023"/>
              <a:ext cx="699" cy="958"/>
              <a:chOff x="1334" y="1713"/>
              <a:chExt cx="785" cy="1580"/>
            </a:xfrm>
          </p:grpSpPr>
          <p:sp>
            <p:nvSpPr>
              <p:cNvPr id="291092" name="Freeform 41"/>
              <p:cNvSpPr>
                <a:spLocks/>
              </p:cNvSpPr>
              <p:nvPr/>
            </p:nvSpPr>
            <p:spPr bwMode="auto">
              <a:xfrm>
                <a:off x="1334" y="1713"/>
                <a:ext cx="392" cy="1580"/>
              </a:xfrm>
              <a:custGeom>
                <a:avLst/>
                <a:gdLst>
                  <a:gd name="T0" fmla="*/ 0 w 392"/>
                  <a:gd name="T1" fmla="*/ 1579 h 1580"/>
                  <a:gd name="T2" fmla="*/ 10 w 392"/>
                  <a:gd name="T3" fmla="*/ 1573 h 1580"/>
                  <a:gd name="T4" fmla="*/ 28 w 392"/>
                  <a:gd name="T5" fmla="*/ 1562 h 1580"/>
                  <a:gd name="T6" fmla="*/ 41 w 392"/>
                  <a:gd name="T7" fmla="*/ 1557 h 1580"/>
                  <a:gd name="T8" fmla="*/ 57 w 392"/>
                  <a:gd name="T9" fmla="*/ 1547 h 1580"/>
                  <a:gd name="T10" fmla="*/ 75 w 392"/>
                  <a:gd name="T11" fmla="*/ 1530 h 1580"/>
                  <a:gd name="T12" fmla="*/ 89 w 392"/>
                  <a:gd name="T13" fmla="*/ 1521 h 1580"/>
                  <a:gd name="T14" fmla="*/ 100 w 392"/>
                  <a:gd name="T15" fmla="*/ 1511 h 1580"/>
                  <a:gd name="T16" fmla="*/ 114 w 392"/>
                  <a:gd name="T17" fmla="*/ 1495 h 1580"/>
                  <a:gd name="T18" fmla="*/ 122 w 392"/>
                  <a:gd name="T19" fmla="*/ 1483 h 1580"/>
                  <a:gd name="T20" fmla="*/ 133 w 392"/>
                  <a:gd name="T21" fmla="*/ 1469 h 1580"/>
                  <a:gd name="T22" fmla="*/ 145 w 392"/>
                  <a:gd name="T23" fmla="*/ 1454 h 1580"/>
                  <a:gd name="T24" fmla="*/ 154 w 392"/>
                  <a:gd name="T25" fmla="*/ 1438 h 1580"/>
                  <a:gd name="T26" fmla="*/ 160 w 392"/>
                  <a:gd name="T27" fmla="*/ 1424 h 1580"/>
                  <a:gd name="T28" fmla="*/ 167 w 392"/>
                  <a:gd name="T29" fmla="*/ 1407 h 1580"/>
                  <a:gd name="T30" fmla="*/ 173 w 392"/>
                  <a:gd name="T31" fmla="*/ 1386 h 1580"/>
                  <a:gd name="T32" fmla="*/ 179 w 392"/>
                  <a:gd name="T33" fmla="*/ 1367 h 1580"/>
                  <a:gd name="T34" fmla="*/ 181 w 392"/>
                  <a:gd name="T35" fmla="*/ 1362 h 1580"/>
                  <a:gd name="T36" fmla="*/ 184 w 392"/>
                  <a:gd name="T37" fmla="*/ 1345 h 1580"/>
                  <a:gd name="T38" fmla="*/ 192 w 392"/>
                  <a:gd name="T39" fmla="*/ 1305 h 1580"/>
                  <a:gd name="T40" fmla="*/ 200 w 392"/>
                  <a:gd name="T41" fmla="*/ 1263 h 1580"/>
                  <a:gd name="T42" fmla="*/ 206 w 392"/>
                  <a:gd name="T43" fmla="*/ 1221 h 1580"/>
                  <a:gd name="T44" fmla="*/ 214 w 392"/>
                  <a:gd name="T45" fmla="*/ 1174 h 1580"/>
                  <a:gd name="T46" fmla="*/ 221 w 392"/>
                  <a:gd name="T47" fmla="*/ 1129 h 1580"/>
                  <a:gd name="T48" fmla="*/ 227 w 392"/>
                  <a:gd name="T49" fmla="*/ 1077 h 1580"/>
                  <a:gd name="T50" fmla="*/ 233 w 392"/>
                  <a:gd name="T51" fmla="*/ 1037 h 1580"/>
                  <a:gd name="T52" fmla="*/ 236 w 392"/>
                  <a:gd name="T53" fmla="*/ 1006 h 1580"/>
                  <a:gd name="T54" fmla="*/ 248 w 392"/>
                  <a:gd name="T55" fmla="*/ 902 h 1580"/>
                  <a:gd name="T56" fmla="*/ 273 w 392"/>
                  <a:gd name="T57" fmla="*/ 686 h 1580"/>
                  <a:gd name="T58" fmla="*/ 285 w 392"/>
                  <a:gd name="T59" fmla="*/ 577 h 1580"/>
                  <a:gd name="T60" fmla="*/ 290 w 392"/>
                  <a:gd name="T61" fmla="*/ 548 h 1580"/>
                  <a:gd name="T62" fmla="*/ 296 w 392"/>
                  <a:gd name="T63" fmla="*/ 496 h 1580"/>
                  <a:gd name="T64" fmla="*/ 302 w 392"/>
                  <a:gd name="T65" fmla="*/ 449 h 1580"/>
                  <a:gd name="T66" fmla="*/ 307 w 392"/>
                  <a:gd name="T67" fmla="*/ 401 h 1580"/>
                  <a:gd name="T68" fmla="*/ 313 w 392"/>
                  <a:gd name="T69" fmla="*/ 350 h 1580"/>
                  <a:gd name="T70" fmla="*/ 319 w 392"/>
                  <a:gd name="T71" fmla="*/ 308 h 1580"/>
                  <a:gd name="T72" fmla="*/ 324 w 392"/>
                  <a:gd name="T73" fmla="*/ 268 h 1580"/>
                  <a:gd name="T74" fmla="*/ 330 w 392"/>
                  <a:gd name="T75" fmla="*/ 233 h 1580"/>
                  <a:gd name="T76" fmla="*/ 331 w 392"/>
                  <a:gd name="T77" fmla="*/ 216 h 1580"/>
                  <a:gd name="T78" fmla="*/ 333 w 392"/>
                  <a:gd name="T79" fmla="*/ 201 h 1580"/>
                  <a:gd name="T80" fmla="*/ 338 w 392"/>
                  <a:gd name="T81" fmla="*/ 166 h 1580"/>
                  <a:gd name="T82" fmla="*/ 342 w 392"/>
                  <a:gd name="T83" fmla="*/ 140 h 1580"/>
                  <a:gd name="T84" fmla="*/ 346 w 392"/>
                  <a:gd name="T85" fmla="*/ 114 h 1580"/>
                  <a:gd name="T86" fmla="*/ 350 w 392"/>
                  <a:gd name="T87" fmla="*/ 88 h 1580"/>
                  <a:gd name="T88" fmla="*/ 354 w 392"/>
                  <a:gd name="T89" fmla="*/ 67 h 1580"/>
                  <a:gd name="T90" fmla="*/ 357 w 392"/>
                  <a:gd name="T91" fmla="*/ 52 h 1580"/>
                  <a:gd name="T92" fmla="*/ 361 w 392"/>
                  <a:gd name="T93" fmla="*/ 40 h 1580"/>
                  <a:gd name="T94" fmla="*/ 363 w 392"/>
                  <a:gd name="T95" fmla="*/ 38 h 1580"/>
                  <a:gd name="T96" fmla="*/ 367 w 392"/>
                  <a:gd name="T97" fmla="*/ 26 h 1580"/>
                  <a:gd name="T98" fmla="*/ 373 w 392"/>
                  <a:gd name="T99" fmla="*/ 16 h 1580"/>
                  <a:gd name="T100" fmla="*/ 380 w 392"/>
                  <a:gd name="T101" fmla="*/ 5 h 1580"/>
                  <a:gd name="T102" fmla="*/ 388 w 392"/>
                  <a:gd name="T103" fmla="*/ 0 h 1580"/>
                  <a:gd name="T104" fmla="*/ 391 w 392"/>
                  <a:gd name="T105" fmla="*/ 0 h 158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2" h="1580">
                    <a:moveTo>
                      <a:pt x="0" y="1579"/>
                    </a:moveTo>
                    <a:lnTo>
                      <a:pt x="10" y="1573"/>
                    </a:lnTo>
                    <a:lnTo>
                      <a:pt x="28" y="1562"/>
                    </a:lnTo>
                    <a:lnTo>
                      <a:pt x="41" y="1557"/>
                    </a:lnTo>
                    <a:lnTo>
                      <a:pt x="57" y="1547"/>
                    </a:lnTo>
                    <a:lnTo>
                      <a:pt x="75" y="1530"/>
                    </a:lnTo>
                    <a:lnTo>
                      <a:pt x="89" y="1521"/>
                    </a:lnTo>
                    <a:lnTo>
                      <a:pt x="100" y="1511"/>
                    </a:lnTo>
                    <a:lnTo>
                      <a:pt x="114" y="1495"/>
                    </a:lnTo>
                    <a:lnTo>
                      <a:pt x="122" y="1483"/>
                    </a:lnTo>
                    <a:lnTo>
                      <a:pt x="133" y="1469"/>
                    </a:lnTo>
                    <a:lnTo>
                      <a:pt x="145" y="1454"/>
                    </a:lnTo>
                    <a:lnTo>
                      <a:pt x="154" y="1438"/>
                    </a:lnTo>
                    <a:lnTo>
                      <a:pt x="160" y="1424"/>
                    </a:lnTo>
                    <a:lnTo>
                      <a:pt x="167" y="1407"/>
                    </a:lnTo>
                    <a:lnTo>
                      <a:pt x="173" y="1386"/>
                    </a:lnTo>
                    <a:lnTo>
                      <a:pt x="179" y="1367"/>
                    </a:lnTo>
                    <a:lnTo>
                      <a:pt x="181" y="1362"/>
                    </a:lnTo>
                    <a:lnTo>
                      <a:pt x="184" y="1345"/>
                    </a:lnTo>
                    <a:lnTo>
                      <a:pt x="192" y="1305"/>
                    </a:lnTo>
                    <a:lnTo>
                      <a:pt x="200" y="1263"/>
                    </a:lnTo>
                    <a:lnTo>
                      <a:pt x="206" y="1221"/>
                    </a:lnTo>
                    <a:lnTo>
                      <a:pt x="214" y="1174"/>
                    </a:lnTo>
                    <a:lnTo>
                      <a:pt x="221" y="1129"/>
                    </a:lnTo>
                    <a:lnTo>
                      <a:pt x="227" y="1077"/>
                    </a:lnTo>
                    <a:lnTo>
                      <a:pt x="233" y="1037"/>
                    </a:lnTo>
                    <a:lnTo>
                      <a:pt x="236" y="1006"/>
                    </a:lnTo>
                    <a:lnTo>
                      <a:pt x="248" y="902"/>
                    </a:lnTo>
                    <a:lnTo>
                      <a:pt x="273" y="686"/>
                    </a:lnTo>
                    <a:lnTo>
                      <a:pt x="285" y="577"/>
                    </a:lnTo>
                    <a:lnTo>
                      <a:pt x="290" y="548"/>
                    </a:lnTo>
                    <a:lnTo>
                      <a:pt x="296" y="496"/>
                    </a:lnTo>
                    <a:lnTo>
                      <a:pt x="302" y="449"/>
                    </a:lnTo>
                    <a:lnTo>
                      <a:pt x="307" y="401"/>
                    </a:lnTo>
                    <a:lnTo>
                      <a:pt x="313" y="350"/>
                    </a:lnTo>
                    <a:lnTo>
                      <a:pt x="319" y="308"/>
                    </a:lnTo>
                    <a:lnTo>
                      <a:pt x="324" y="268"/>
                    </a:lnTo>
                    <a:lnTo>
                      <a:pt x="330" y="233"/>
                    </a:lnTo>
                    <a:lnTo>
                      <a:pt x="331" y="216"/>
                    </a:lnTo>
                    <a:lnTo>
                      <a:pt x="333" y="201"/>
                    </a:lnTo>
                    <a:lnTo>
                      <a:pt x="338" y="166"/>
                    </a:lnTo>
                    <a:lnTo>
                      <a:pt x="342" y="140"/>
                    </a:lnTo>
                    <a:lnTo>
                      <a:pt x="346" y="114"/>
                    </a:lnTo>
                    <a:lnTo>
                      <a:pt x="350" y="88"/>
                    </a:lnTo>
                    <a:lnTo>
                      <a:pt x="354" y="67"/>
                    </a:lnTo>
                    <a:lnTo>
                      <a:pt x="357" y="52"/>
                    </a:lnTo>
                    <a:lnTo>
                      <a:pt x="361" y="40"/>
                    </a:lnTo>
                    <a:lnTo>
                      <a:pt x="363" y="38"/>
                    </a:lnTo>
                    <a:lnTo>
                      <a:pt x="367" y="26"/>
                    </a:lnTo>
                    <a:lnTo>
                      <a:pt x="373" y="16"/>
                    </a:lnTo>
                    <a:lnTo>
                      <a:pt x="380" y="5"/>
                    </a:lnTo>
                    <a:lnTo>
                      <a:pt x="388" y="0"/>
                    </a:lnTo>
                    <a:lnTo>
                      <a:pt x="391" y="0"/>
                    </a:lnTo>
                  </a:path>
                </a:pathLst>
              </a:custGeom>
              <a:noFill/>
              <a:ln w="12699" cap="flat" cmpd="sng">
                <a:solidFill>
                  <a:srgbClr val="000000"/>
                </a:solidFill>
                <a:prstDash val="dash"/>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93" name="Freeform 42"/>
              <p:cNvSpPr>
                <a:spLocks/>
              </p:cNvSpPr>
              <p:nvPr/>
            </p:nvSpPr>
            <p:spPr bwMode="auto">
              <a:xfrm>
                <a:off x="1725" y="1713"/>
                <a:ext cx="394" cy="1580"/>
              </a:xfrm>
              <a:custGeom>
                <a:avLst/>
                <a:gdLst>
                  <a:gd name="T0" fmla="*/ 393 w 394"/>
                  <a:gd name="T1" fmla="*/ 1579 h 1580"/>
                  <a:gd name="T2" fmla="*/ 382 w 394"/>
                  <a:gd name="T3" fmla="*/ 1573 h 1580"/>
                  <a:gd name="T4" fmla="*/ 364 w 394"/>
                  <a:gd name="T5" fmla="*/ 1562 h 1580"/>
                  <a:gd name="T6" fmla="*/ 350 w 394"/>
                  <a:gd name="T7" fmla="*/ 1557 h 1580"/>
                  <a:gd name="T8" fmla="*/ 334 w 394"/>
                  <a:gd name="T9" fmla="*/ 1547 h 1580"/>
                  <a:gd name="T10" fmla="*/ 316 w 394"/>
                  <a:gd name="T11" fmla="*/ 1530 h 1580"/>
                  <a:gd name="T12" fmla="*/ 302 w 394"/>
                  <a:gd name="T13" fmla="*/ 1521 h 1580"/>
                  <a:gd name="T14" fmla="*/ 291 w 394"/>
                  <a:gd name="T15" fmla="*/ 1511 h 1580"/>
                  <a:gd name="T16" fmla="*/ 277 w 394"/>
                  <a:gd name="T17" fmla="*/ 1495 h 1580"/>
                  <a:gd name="T18" fmla="*/ 269 w 394"/>
                  <a:gd name="T19" fmla="*/ 1483 h 1580"/>
                  <a:gd name="T20" fmla="*/ 258 w 394"/>
                  <a:gd name="T21" fmla="*/ 1469 h 1580"/>
                  <a:gd name="T22" fmla="*/ 246 w 394"/>
                  <a:gd name="T23" fmla="*/ 1454 h 1580"/>
                  <a:gd name="T24" fmla="*/ 237 w 394"/>
                  <a:gd name="T25" fmla="*/ 1438 h 1580"/>
                  <a:gd name="T26" fmla="*/ 231 w 394"/>
                  <a:gd name="T27" fmla="*/ 1424 h 1580"/>
                  <a:gd name="T28" fmla="*/ 224 w 394"/>
                  <a:gd name="T29" fmla="*/ 1407 h 1580"/>
                  <a:gd name="T30" fmla="*/ 218 w 394"/>
                  <a:gd name="T31" fmla="*/ 1386 h 1580"/>
                  <a:gd name="T32" fmla="*/ 212 w 394"/>
                  <a:gd name="T33" fmla="*/ 1367 h 1580"/>
                  <a:gd name="T34" fmla="*/ 210 w 394"/>
                  <a:gd name="T35" fmla="*/ 1362 h 1580"/>
                  <a:gd name="T36" fmla="*/ 207 w 394"/>
                  <a:gd name="T37" fmla="*/ 1345 h 1580"/>
                  <a:gd name="T38" fmla="*/ 199 w 394"/>
                  <a:gd name="T39" fmla="*/ 1305 h 1580"/>
                  <a:gd name="T40" fmla="*/ 191 w 394"/>
                  <a:gd name="T41" fmla="*/ 1263 h 1580"/>
                  <a:gd name="T42" fmla="*/ 184 w 394"/>
                  <a:gd name="T43" fmla="*/ 1226 h 1580"/>
                  <a:gd name="T44" fmla="*/ 176 w 394"/>
                  <a:gd name="T45" fmla="*/ 1179 h 1580"/>
                  <a:gd name="T46" fmla="*/ 170 w 394"/>
                  <a:gd name="T47" fmla="*/ 1134 h 1580"/>
                  <a:gd name="T48" fmla="*/ 163 w 394"/>
                  <a:gd name="T49" fmla="*/ 1082 h 1580"/>
                  <a:gd name="T50" fmla="*/ 155 w 394"/>
                  <a:gd name="T51" fmla="*/ 1037 h 1580"/>
                  <a:gd name="T52" fmla="*/ 152 w 394"/>
                  <a:gd name="T53" fmla="*/ 1006 h 1580"/>
                  <a:gd name="T54" fmla="*/ 140 w 394"/>
                  <a:gd name="T55" fmla="*/ 902 h 1580"/>
                  <a:gd name="T56" fmla="*/ 115 w 394"/>
                  <a:gd name="T57" fmla="*/ 686 h 1580"/>
                  <a:gd name="T58" fmla="*/ 102 w 394"/>
                  <a:gd name="T59" fmla="*/ 577 h 1580"/>
                  <a:gd name="T60" fmla="*/ 98 w 394"/>
                  <a:gd name="T61" fmla="*/ 548 h 1580"/>
                  <a:gd name="T62" fmla="*/ 93 w 394"/>
                  <a:gd name="T63" fmla="*/ 501 h 1580"/>
                  <a:gd name="T64" fmla="*/ 88 w 394"/>
                  <a:gd name="T65" fmla="*/ 449 h 1580"/>
                  <a:gd name="T66" fmla="*/ 81 w 394"/>
                  <a:gd name="T67" fmla="*/ 399 h 1580"/>
                  <a:gd name="T68" fmla="*/ 76 w 394"/>
                  <a:gd name="T69" fmla="*/ 350 h 1580"/>
                  <a:gd name="T70" fmla="*/ 71 w 394"/>
                  <a:gd name="T71" fmla="*/ 308 h 1580"/>
                  <a:gd name="T72" fmla="*/ 66 w 394"/>
                  <a:gd name="T73" fmla="*/ 268 h 1580"/>
                  <a:gd name="T74" fmla="*/ 60 w 394"/>
                  <a:gd name="T75" fmla="*/ 233 h 1580"/>
                  <a:gd name="T76" fmla="*/ 58 w 394"/>
                  <a:gd name="T77" fmla="*/ 216 h 1580"/>
                  <a:gd name="T78" fmla="*/ 56 w 394"/>
                  <a:gd name="T79" fmla="*/ 201 h 1580"/>
                  <a:gd name="T80" fmla="*/ 51 w 394"/>
                  <a:gd name="T81" fmla="*/ 171 h 1580"/>
                  <a:gd name="T82" fmla="*/ 46 w 394"/>
                  <a:gd name="T83" fmla="*/ 140 h 1580"/>
                  <a:gd name="T84" fmla="*/ 41 w 394"/>
                  <a:gd name="T85" fmla="*/ 109 h 1580"/>
                  <a:gd name="T86" fmla="*/ 37 w 394"/>
                  <a:gd name="T87" fmla="*/ 88 h 1580"/>
                  <a:gd name="T88" fmla="*/ 33 w 394"/>
                  <a:gd name="T89" fmla="*/ 73 h 1580"/>
                  <a:gd name="T90" fmla="*/ 30 w 394"/>
                  <a:gd name="T91" fmla="*/ 57 h 1580"/>
                  <a:gd name="T92" fmla="*/ 26 w 394"/>
                  <a:gd name="T93" fmla="*/ 40 h 1580"/>
                  <a:gd name="T94" fmla="*/ 24 w 394"/>
                  <a:gd name="T95" fmla="*/ 38 h 1580"/>
                  <a:gd name="T96" fmla="*/ 21 w 394"/>
                  <a:gd name="T97" fmla="*/ 26 h 1580"/>
                  <a:gd name="T98" fmla="*/ 16 w 394"/>
                  <a:gd name="T99" fmla="*/ 16 h 1580"/>
                  <a:gd name="T100" fmla="*/ 10 w 394"/>
                  <a:gd name="T101" fmla="*/ 5 h 1580"/>
                  <a:gd name="T102" fmla="*/ 3 w 394"/>
                  <a:gd name="T103" fmla="*/ 0 h 1580"/>
                  <a:gd name="T104" fmla="*/ 0 w 394"/>
                  <a:gd name="T105" fmla="*/ 0 h 158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1580">
                    <a:moveTo>
                      <a:pt x="393" y="1579"/>
                    </a:moveTo>
                    <a:lnTo>
                      <a:pt x="382" y="1573"/>
                    </a:lnTo>
                    <a:lnTo>
                      <a:pt x="364" y="1562"/>
                    </a:lnTo>
                    <a:lnTo>
                      <a:pt x="350" y="1557"/>
                    </a:lnTo>
                    <a:lnTo>
                      <a:pt x="334" y="1547"/>
                    </a:lnTo>
                    <a:lnTo>
                      <a:pt x="316" y="1530"/>
                    </a:lnTo>
                    <a:lnTo>
                      <a:pt x="302" y="1521"/>
                    </a:lnTo>
                    <a:lnTo>
                      <a:pt x="291" y="1511"/>
                    </a:lnTo>
                    <a:lnTo>
                      <a:pt x="277" y="1495"/>
                    </a:lnTo>
                    <a:lnTo>
                      <a:pt x="269" y="1483"/>
                    </a:lnTo>
                    <a:lnTo>
                      <a:pt x="258" y="1469"/>
                    </a:lnTo>
                    <a:lnTo>
                      <a:pt x="246" y="1454"/>
                    </a:lnTo>
                    <a:lnTo>
                      <a:pt x="237" y="1438"/>
                    </a:lnTo>
                    <a:lnTo>
                      <a:pt x="231" y="1424"/>
                    </a:lnTo>
                    <a:lnTo>
                      <a:pt x="224" y="1407"/>
                    </a:lnTo>
                    <a:lnTo>
                      <a:pt x="218" y="1386"/>
                    </a:lnTo>
                    <a:lnTo>
                      <a:pt x="212" y="1367"/>
                    </a:lnTo>
                    <a:lnTo>
                      <a:pt x="210" y="1362"/>
                    </a:lnTo>
                    <a:lnTo>
                      <a:pt x="207" y="1345"/>
                    </a:lnTo>
                    <a:lnTo>
                      <a:pt x="199" y="1305"/>
                    </a:lnTo>
                    <a:lnTo>
                      <a:pt x="191" y="1263"/>
                    </a:lnTo>
                    <a:lnTo>
                      <a:pt x="184" y="1226"/>
                    </a:lnTo>
                    <a:lnTo>
                      <a:pt x="176" y="1179"/>
                    </a:lnTo>
                    <a:lnTo>
                      <a:pt x="170" y="1134"/>
                    </a:lnTo>
                    <a:lnTo>
                      <a:pt x="163" y="1082"/>
                    </a:lnTo>
                    <a:lnTo>
                      <a:pt x="155" y="1037"/>
                    </a:lnTo>
                    <a:lnTo>
                      <a:pt x="152" y="1006"/>
                    </a:lnTo>
                    <a:lnTo>
                      <a:pt x="140" y="902"/>
                    </a:lnTo>
                    <a:lnTo>
                      <a:pt x="115" y="686"/>
                    </a:lnTo>
                    <a:lnTo>
                      <a:pt x="102" y="577"/>
                    </a:lnTo>
                    <a:lnTo>
                      <a:pt x="98" y="548"/>
                    </a:lnTo>
                    <a:lnTo>
                      <a:pt x="93" y="501"/>
                    </a:lnTo>
                    <a:lnTo>
                      <a:pt x="88" y="449"/>
                    </a:lnTo>
                    <a:lnTo>
                      <a:pt x="81" y="399"/>
                    </a:lnTo>
                    <a:lnTo>
                      <a:pt x="76" y="350"/>
                    </a:lnTo>
                    <a:lnTo>
                      <a:pt x="71" y="308"/>
                    </a:lnTo>
                    <a:lnTo>
                      <a:pt x="66" y="268"/>
                    </a:lnTo>
                    <a:lnTo>
                      <a:pt x="60" y="233"/>
                    </a:lnTo>
                    <a:lnTo>
                      <a:pt x="58" y="216"/>
                    </a:lnTo>
                    <a:lnTo>
                      <a:pt x="56" y="201"/>
                    </a:lnTo>
                    <a:lnTo>
                      <a:pt x="51" y="171"/>
                    </a:lnTo>
                    <a:lnTo>
                      <a:pt x="46" y="140"/>
                    </a:lnTo>
                    <a:lnTo>
                      <a:pt x="41" y="109"/>
                    </a:lnTo>
                    <a:lnTo>
                      <a:pt x="37" y="88"/>
                    </a:lnTo>
                    <a:lnTo>
                      <a:pt x="33" y="73"/>
                    </a:lnTo>
                    <a:lnTo>
                      <a:pt x="30" y="57"/>
                    </a:lnTo>
                    <a:lnTo>
                      <a:pt x="26" y="40"/>
                    </a:lnTo>
                    <a:lnTo>
                      <a:pt x="24" y="38"/>
                    </a:lnTo>
                    <a:lnTo>
                      <a:pt x="21" y="26"/>
                    </a:lnTo>
                    <a:lnTo>
                      <a:pt x="16" y="16"/>
                    </a:lnTo>
                    <a:lnTo>
                      <a:pt x="10" y="5"/>
                    </a:lnTo>
                    <a:lnTo>
                      <a:pt x="3" y="0"/>
                    </a:lnTo>
                    <a:lnTo>
                      <a:pt x="0" y="0"/>
                    </a:lnTo>
                  </a:path>
                </a:pathLst>
              </a:custGeom>
              <a:noFill/>
              <a:ln w="12699" cap="flat" cmpd="sng">
                <a:solidFill>
                  <a:srgbClr val="000000"/>
                </a:solidFill>
                <a:prstDash val="dash"/>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964" name="Rectangle 43"/>
            <p:cNvSpPr>
              <a:spLocks noChangeArrowheads="1"/>
            </p:cNvSpPr>
            <p:nvPr/>
          </p:nvSpPr>
          <p:spPr bwMode="auto">
            <a:xfrm>
              <a:off x="2230" y="1991"/>
              <a:ext cx="294"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USL</a:t>
              </a:r>
            </a:p>
          </p:txBody>
        </p:sp>
        <p:sp>
          <p:nvSpPr>
            <p:cNvPr id="290965" name="Rectangle 44"/>
            <p:cNvSpPr>
              <a:spLocks noChangeArrowheads="1"/>
            </p:cNvSpPr>
            <p:nvPr/>
          </p:nvSpPr>
          <p:spPr bwMode="auto">
            <a:xfrm>
              <a:off x="631" y="1991"/>
              <a:ext cx="272"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LSL</a:t>
              </a:r>
            </a:p>
          </p:txBody>
        </p:sp>
        <p:grpSp>
          <p:nvGrpSpPr>
            <p:cNvPr id="11" name="Group 45"/>
            <p:cNvGrpSpPr>
              <a:grpSpLocks/>
            </p:cNvGrpSpPr>
            <p:nvPr/>
          </p:nvGrpSpPr>
          <p:grpSpPr bwMode="auto">
            <a:xfrm>
              <a:off x="563" y="1365"/>
              <a:ext cx="2085" cy="616"/>
              <a:chOff x="556" y="2277"/>
              <a:chExt cx="2341" cy="1016"/>
            </a:xfrm>
          </p:grpSpPr>
          <p:sp>
            <p:nvSpPr>
              <p:cNvPr id="291090" name="Freeform 46"/>
              <p:cNvSpPr>
                <a:spLocks/>
              </p:cNvSpPr>
              <p:nvPr/>
            </p:nvSpPr>
            <p:spPr bwMode="auto">
              <a:xfrm>
                <a:off x="556" y="2277"/>
                <a:ext cx="1170" cy="1016"/>
              </a:xfrm>
              <a:custGeom>
                <a:avLst/>
                <a:gdLst>
                  <a:gd name="T0" fmla="*/ 0 w 1170"/>
                  <a:gd name="T1" fmla="*/ 1015 h 1016"/>
                  <a:gd name="T2" fmla="*/ 31 w 1170"/>
                  <a:gd name="T3" fmla="*/ 1011 h 1016"/>
                  <a:gd name="T4" fmla="*/ 84 w 1170"/>
                  <a:gd name="T5" fmla="*/ 1004 h 1016"/>
                  <a:gd name="T6" fmla="*/ 125 w 1170"/>
                  <a:gd name="T7" fmla="*/ 1000 h 1016"/>
                  <a:gd name="T8" fmla="*/ 173 w 1170"/>
                  <a:gd name="T9" fmla="*/ 994 h 1016"/>
                  <a:gd name="T10" fmla="*/ 226 w 1170"/>
                  <a:gd name="T11" fmla="*/ 983 h 1016"/>
                  <a:gd name="T12" fmla="*/ 268 w 1170"/>
                  <a:gd name="T13" fmla="*/ 978 h 1016"/>
                  <a:gd name="T14" fmla="*/ 300 w 1170"/>
                  <a:gd name="T15" fmla="*/ 971 h 1016"/>
                  <a:gd name="T16" fmla="*/ 342 w 1170"/>
                  <a:gd name="T17" fmla="*/ 961 h 1016"/>
                  <a:gd name="T18" fmla="*/ 367 w 1170"/>
                  <a:gd name="T19" fmla="*/ 953 h 1016"/>
                  <a:gd name="T20" fmla="*/ 399 w 1170"/>
                  <a:gd name="T21" fmla="*/ 944 h 1016"/>
                  <a:gd name="T22" fmla="*/ 436 w 1170"/>
                  <a:gd name="T23" fmla="*/ 935 h 1016"/>
                  <a:gd name="T24" fmla="*/ 462 w 1170"/>
                  <a:gd name="T25" fmla="*/ 924 h 1016"/>
                  <a:gd name="T26" fmla="*/ 478 w 1170"/>
                  <a:gd name="T27" fmla="*/ 915 h 1016"/>
                  <a:gd name="T28" fmla="*/ 499 w 1170"/>
                  <a:gd name="T29" fmla="*/ 904 h 1016"/>
                  <a:gd name="T30" fmla="*/ 519 w 1170"/>
                  <a:gd name="T31" fmla="*/ 890 h 1016"/>
                  <a:gd name="T32" fmla="*/ 536 w 1170"/>
                  <a:gd name="T33" fmla="*/ 879 h 1016"/>
                  <a:gd name="T34" fmla="*/ 542 w 1170"/>
                  <a:gd name="T35" fmla="*/ 875 h 1016"/>
                  <a:gd name="T36" fmla="*/ 550 w 1170"/>
                  <a:gd name="T37" fmla="*/ 865 h 1016"/>
                  <a:gd name="T38" fmla="*/ 575 w 1170"/>
                  <a:gd name="T39" fmla="*/ 839 h 1016"/>
                  <a:gd name="T40" fmla="*/ 598 w 1170"/>
                  <a:gd name="T41" fmla="*/ 812 h 1016"/>
                  <a:gd name="T42" fmla="*/ 618 w 1170"/>
                  <a:gd name="T43" fmla="*/ 785 h 1016"/>
                  <a:gd name="T44" fmla="*/ 641 w 1170"/>
                  <a:gd name="T45" fmla="*/ 755 h 1016"/>
                  <a:gd name="T46" fmla="*/ 662 w 1170"/>
                  <a:gd name="T47" fmla="*/ 725 h 1016"/>
                  <a:gd name="T48" fmla="*/ 681 w 1170"/>
                  <a:gd name="T49" fmla="*/ 692 h 1016"/>
                  <a:gd name="T50" fmla="*/ 699 w 1170"/>
                  <a:gd name="T51" fmla="*/ 666 h 1016"/>
                  <a:gd name="T52" fmla="*/ 706 w 1170"/>
                  <a:gd name="T53" fmla="*/ 647 h 1016"/>
                  <a:gd name="T54" fmla="*/ 743 w 1170"/>
                  <a:gd name="T55" fmla="*/ 580 h 1016"/>
                  <a:gd name="T56" fmla="*/ 817 w 1170"/>
                  <a:gd name="T57" fmla="*/ 441 h 1016"/>
                  <a:gd name="T58" fmla="*/ 854 w 1170"/>
                  <a:gd name="T59" fmla="*/ 371 h 1016"/>
                  <a:gd name="T60" fmla="*/ 867 w 1170"/>
                  <a:gd name="T61" fmla="*/ 352 h 1016"/>
                  <a:gd name="T62" fmla="*/ 886 w 1170"/>
                  <a:gd name="T63" fmla="*/ 319 h 1016"/>
                  <a:gd name="T64" fmla="*/ 904 w 1170"/>
                  <a:gd name="T65" fmla="*/ 289 h 1016"/>
                  <a:gd name="T66" fmla="*/ 918 w 1170"/>
                  <a:gd name="T67" fmla="*/ 257 h 1016"/>
                  <a:gd name="T68" fmla="*/ 937 w 1170"/>
                  <a:gd name="T69" fmla="*/ 225 h 1016"/>
                  <a:gd name="T70" fmla="*/ 955 w 1170"/>
                  <a:gd name="T71" fmla="*/ 198 h 1016"/>
                  <a:gd name="T72" fmla="*/ 969 w 1170"/>
                  <a:gd name="T73" fmla="*/ 172 h 1016"/>
                  <a:gd name="T74" fmla="*/ 987 w 1170"/>
                  <a:gd name="T75" fmla="*/ 149 h 1016"/>
                  <a:gd name="T76" fmla="*/ 992 w 1170"/>
                  <a:gd name="T77" fmla="*/ 139 h 1016"/>
                  <a:gd name="T78" fmla="*/ 997 w 1170"/>
                  <a:gd name="T79" fmla="*/ 129 h 1016"/>
                  <a:gd name="T80" fmla="*/ 1011 w 1170"/>
                  <a:gd name="T81" fmla="*/ 106 h 1016"/>
                  <a:gd name="T82" fmla="*/ 1024 w 1170"/>
                  <a:gd name="T83" fmla="*/ 90 h 1016"/>
                  <a:gd name="T84" fmla="*/ 1034 w 1170"/>
                  <a:gd name="T85" fmla="*/ 73 h 1016"/>
                  <a:gd name="T86" fmla="*/ 1048 w 1170"/>
                  <a:gd name="T87" fmla="*/ 57 h 1016"/>
                  <a:gd name="T88" fmla="*/ 1061 w 1170"/>
                  <a:gd name="T89" fmla="*/ 43 h 1016"/>
                  <a:gd name="T90" fmla="*/ 1068 w 1170"/>
                  <a:gd name="T91" fmla="*/ 33 h 1016"/>
                  <a:gd name="T92" fmla="*/ 1080 w 1170"/>
                  <a:gd name="T93" fmla="*/ 25 h 1016"/>
                  <a:gd name="T94" fmla="*/ 1086 w 1170"/>
                  <a:gd name="T95" fmla="*/ 24 h 1016"/>
                  <a:gd name="T96" fmla="*/ 1098 w 1170"/>
                  <a:gd name="T97" fmla="*/ 17 h 1016"/>
                  <a:gd name="T98" fmla="*/ 1117 w 1170"/>
                  <a:gd name="T99" fmla="*/ 10 h 1016"/>
                  <a:gd name="T100" fmla="*/ 1137 w 1170"/>
                  <a:gd name="T101" fmla="*/ 3 h 1016"/>
                  <a:gd name="T102" fmla="*/ 1160 w 1170"/>
                  <a:gd name="T103" fmla="*/ 0 h 1016"/>
                  <a:gd name="T104" fmla="*/ 1169 w 1170"/>
                  <a:gd name="T105" fmla="*/ 0 h 10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70" h="1016">
                    <a:moveTo>
                      <a:pt x="0" y="1015"/>
                    </a:moveTo>
                    <a:lnTo>
                      <a:pt x="31" y="1011"/>
                    </a:lnTo>
                    <a:lnTo>
                      <a:pt x="84" y="1004"/>
                    </a:lnTo>
                    <a:lnTo>
                      <a:pt x="125" y="1000"/>
                    </a:lnTo>
                    <a:lnTo>
                      <a:pt x="173" y="994"/>
                    </a:lnTo>
                    <a:lnTo>
                      <a:pt x="226" y="983"/>
                    </a:lnTo>
                    <a:lnTo>
                      <a:pt x="268" y="978"/>
                    </a:lnTo>
                    <a:lnTo>
                      <a:pt x="300" y="971"/>
                    </a:lnTo>
                    <a:lnTo>
                      <a:pt x="342" y="961"/>
                    </a:lnTo>
                    <a:lnTo>
                      <a:pt x="367" y="953"/>
                    </a:lnTo>
                    <a:lnTo>
                      <a:pt x="399" y="944"/>
                    </a:lnTo>
                    <a:lnTo>
                      <a:pt x="436" y="935"/>
                    </a:lnTo>
                    <a:lnTo>
                      <a:pt x="462" y="924"/>
                    </a:lnTo>
                    <a:lnTo>
                      <a:pt x="478" y="915"/>
                    </a:lnTo>
                    <a:lnTo>
                      <a:pt x="499" y="904"/>
                    </a:lnTo>
                    <a:lnTo>
                      <a:pt x="519" y="890"/>
                    </a:lnTo>
                    <a:lnTo>
                      <a:pt x="536" y="879"/>
                    </a:lnTo>
                    <a:lnTo>
                      <a:pt x="542" y="875"/>
                    </a:lnTo>
                    <a:lnTo>
                      <a:pt x="550" y="865"/>
                    </a:lnTo>
                    <a:lnTo>
                      <a:pt x="575" y="839"/>
                    </a:lnTo>
                    <a:lnTo>
                      <a:pt x="598" y="812"/>
                    </a:lnTo>
                    <a:lnTo>
                      <a:pt x="618" y="785"/>
                    </a:lnTo>
                    <a:lnTo>
                      <a:pt x="641" y="755"/>
                    </a:lnTo>
                    <a:lnTo>
                      <a:pt x="662" y="725"/>
                    </a:lnTo>
                    <a:lnTo>
                      <a:pt x="681" y="692"/>
                    </a:lnTo>
                    <a:lnTo>
                      <a:pt x="699" y="666"/>
                    </a:lnTo>
                    <a:lnTo>
                      <a:pt x="706" y="647"/>
                    </a:lnTo>
                    <a:lnTo>
                      <a:pt x="743" y="580"/>
                    </a:lnTo>
                    <a:lnTo>
                      <a:pt x="817" y="441"/>
                    </a:lnTo>
                    <a:lnTo>
                      <a:pt x="854" y="371"/>
                    </a:lnTo>
                    <a:lnTo>
                      <a:pt x="867" y="352"/>
                    </a:lnTo>
                    <a:lnTo>
                      <a:pt x="886" y="319"/>
                    </a:lnTo>
                    <a:lnTo>
                      <a:pt x="904" y="289"/>
                    </a:lnTo>
                    <a:lnTo>
                      <a:pt x="918" y="257"/>
                    </a:lnTo>
                    <a:lnTo>
                      <a:pt x="937" y="225"/>
                    </a:lnTo>
                    <a:lnTo>
                      <a:pt x="955" y="198"/>
                    </a:lnTo>
                    <a:lnTo>
                      <a:pt x="969" y="172"/>
                    </a:lnTo>
                    <a:lnTo>
                      <a:pt x="987" y="149"/>
                    </a:lnTo>
                    <a:lnTo>
                      <a:pt x="992" y="139"/>
                    </a:lnTo>
                    <a:lnTo>
                      <a:pt x="997" y="129"/>
                    </a:lnTo>
                    <a:lnTo>
                      <a:pt x="1011" y="106"/>
                    </a:lnTo>
                    <a:lnTo>
                      <a:pt x="1024" y="90"/>
                    </a:lnTo>
                    <a:lnTo>
                      <a:pt x="1034" y="73"/>
                    </a:lnTo>
                    <a:lnTo>
                      <a:pt x="1048" y="57"/>
                    </a:lnTo>
                    <a:lnTo>
                      <a:pt x="1061" y="43"/>
                    </a:lnTo>
                    <a:lnTo>
                      <a:pt x="1068" y="33"/>
                    </a:lnTo>
                    <a:lnTo>
                      <a:pt x="1080" y="25"/>
                    </a:lnTo>
                    <a:lnTo>
                      <a:pt x="1086" y="24"/>
                    </a:lnTo>
                    <a:lnTo>
                      <a:pt x="1098" y="17"/>
                    </a:lnTo>
                    <a:lnTo>
                      <a:pt x="1117" y="10"/>
                    </a:lnTo>
                    <a:lnTo>
                      <a:pt x="1137" y="3"/>
                    </a:lnTo>
                    <a:lnTo>
                      <a:pt x="1160" y="0"/>
                    </a:lnTo>
                    <a:lnTo>
                      <a:pt x="1169"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91" name="Freeform 47"/>
              <p:cNvSpPr>
                <a:spLocks/>
              </p:cNvSpPr>
              <p:nvPr/>
            </p:nvSpPr>
            <p:spPr bwMode="auto">
              <a:xfrm>
                <a:off x="1725" y="2277"/>
                <a:ext cx="1172" cy="1016"/>
              </a:xfrm>
              <a:custGeom>
                <a:avLst/>
                <a:gdLst>
                  <a:gd name="T0" fmla="*/ 1171 w 1172"/>
                  <a:gd name="T1" fmla="*/ 1015 h 1016"/>
                  <a:gd name="T2" fmla="*/ 1139 w 1172"/>
                  <a:gd name="T3" fmla="*/ 1011 h 1016"/>
                  <a:gd name="T4" fmla="*/ 1085 w 1172"/>
                  <a:gd name="T5" fmla="*/ 1004 h 1016"/>
                  <a:gd name="T6" fmla="*/ 1045 w 1172"/>
                  <a:gd name="T7" fmla="*/ 1000 h 1016"/>
                  <a:gd name="T8" fmla="*/ 995 w 1172"/>
                  <a:gd name="T9" fmla="*/ 994 h 1016"/>
                  <a:gd name="T10" fmla="*/ 944 w 1172"/>
                  <a:gd name="T11" fmla="*/ 983 h 1016"/>
                  <a:gd name="T12" fmla="*/ 901 w 1172"/>
                  <a:gd name="T13" fmla="*/ 978 h 1016"/>
                  <a:gd name="T14" fmla="*/ 869 w 1172"/>
                  <a:gd name="T15" fmla="*/ 971 h 1016"/>
                  <a:gd name="T16" fmla="*/ 827 w 1172"/>
                  <a:gd name="T17" fmla="*/ 961 h 1016"/>
                  <a:gd name="T18" fmla="*/ 802 w 1172"/>
                  <a:gd name="T19" fmla="*/ 953 h 1016"/>
                  <a:gd name="T20" fmla="*/ 770 w 1172"/>
                  <a:gd name="T21" fmla="*/ 944 h 1016"/>
                  <a:gd name="T22" fmla="*/ 733 w 1172"/>
                  <a:gd name="T23" fmla="*/ 935 h 1016"/>
                  <a:gd name="T24" fmla="*/ 706 w 1172"/>
                  <a:gd name="T25" fmla="*/ 924 h 1016"/>
                  <a:gd name="T26" fmla="*/ 689 w 1172"/>
                  <a:gd name="T27" fmla="*/ 915 h 1016"/>
                  <a:gd name="T28" fmla="*/ 669 w 1172"/>
                  <a:gd name="T29" fmla="*/ 904 h 1016"/>
                  <a:gd name="T30" fmla="*/ 650 w 1172"/>
                  <a:gd name="T31" fmla="*/ 890 h 1016"/>
                  <a:gd name="T32" fmla="*/ 632 w 1172"/>
                  <a:gd name="T33" fmla="*/ 879 h 1016"/>
                  <a:gd name="T34" fmla="*/ 627 w 1172"/>
                  <a:gd name="T35" fmla="*/ 875 h 1016"/>
                  <a:gd name="T36" fmla="*/ 618 w 1172"/>
                  <a:gd name="T37" fmla="*/ 865 h 1016"/>
                  <a:gd name="T38" fmla="*/ 593 w 1172"/>
                  <a:gd name="T39" fmla="*/ 839 h 1016"/>
                  <a:gd name="T40" fmla="*/ 570 w 1172"/>
                  <a:gd name="T41" fmla="*/ 812 h 1016"/>
                  <a:gd name="T42" fmla="*/ 549 w 1172"/>
                  <a:gd name="T43" fmla="*/ 788 h 1016"/>
                  <a:gd name="T44" fmla="*/ 526 w 1172"/>
                  <a:gd name="T45" fmla="*/ 758 h 1016"/>
                  <a:gd name="T46" fmla="*/ 506 w 1172"/>
                  <a:gd name="T47" fmla="*/ 729 h 1016"/>
                  <a:gd name="T48" fmla="*/ 487 w 1172"/>
                  <a:gd name="T49" fmla="*/ 695 h 1016"/>
                  <a:gd name="T50" fmla="*/ 464 w 1172"/>
                  <a:gd name="T51" fmla="*/ 666 h 1016"/>
                  <a:gd name="T52" fmla="*/ 455 w 1172"/>
                  <a:gd name="T53" fmla="*/ 647 h 1016"/>
                  <a:gd name="T54" fmla="*/ 418 w 1172"/>
                  <a:gd name="T55" fmla="*/ 580 h 1016"/>
                  <a:gd name="T56" fmla="*/ 343 w 1172"/>
                  <a:gd name="T57" fmla="*/ 441 h 1016"/>
                  <a:gd name="T58" fmla="*/ 306 w 1172"/>
                  <a:gd name="T59" fmla="*/ 371 h 1016"/>
                  <a:gd name="T60" fmla="*/ 294 w 1172"/>
                  <a:gd name="T61" fmla="*/ 352 h 1016"/>
                  <a:gd name="T62" fmla="*/ 279 w 1172"/>
                  <a:gd name="T63" fmla="*/ 322 h 1016"/>
                  <a:gd name="T64" fmla="*/ 263 w 1172"/>
                  <a:gd name="T65" fmla="*/ 289 h 1016"/>
                  <a:gd name="T66" fmla="*/ 242 w 1172"/>
                  <a:gd name="T67" fmla="*/ 256 h 1016"/>
                  <a:gd name="T68" fmla="*/ 228 w 1172"/>
                  <a:gd name="T69" fmla="*/ 225 h 1016"/>
                  <a:gd name="T70" fmla="*/ 212 w 1172"/>
                  <a:gd name="T71" fmla="*/ 198 h 1016"/>
                  <a:gd name="T72" fmla="*/ 198 w 1172"/>
                  <a:gd name="T73" fmla="*/ 172 h 1016"/>
                  <a:gd name="T74" fmla="*/ 180 w 1172"/>
                  <a:gd name="T75" fmla="*/ 149 h 1016"/>
                  <a:gd name="T76" fmla="*/ 175 w 1172"/>
                  <a:gd name="T77" fmla="*/ 139 h 1016"/>
                  <a:gd name="T78" fmla="*/ 168 w 1172"/>
                  <a:gd name="T79" fmla="*/ 129 h 1016"/>
                  <a:gd name="T80" fmla="*/ 154 w 1172"/>
                  <a:gd name="T81" fmla="*/ 110 h 1016"/>
                  <a:gd name="T82" fmla="*/ 138 w 1172"/>
                  <a:gd name="T83" fmla="*/ 90 h 1016"/>
                  <a:gd name="T84" fmla="*/ 122 w 1172"/>
                  <a:gd name="T85" fmla="*/ 70 h 1016"/>
                  <a:gd name="T86" fmla="*/ 111 w 1172"/>
                  <a:gd name="T87" fmla="*/ 57 h 1016"/>
                  <a:gd name="T88" fmla="*/ 100 w 1172"/>
                  <a:gd name="T89" fmla="*/ 47 h 1016"/>
                  <a:gd name="T90" fmla="*/ 92 w 1172"/>
                  <a:gd name="T91" fmla="*/ 36 h 1016"/>
                  <a:gd name="T92" fmla="*/ 79 w 1172"/>
                  <a:gd name="T93" fmla="*/ 25 h 1016"/>
                  <a:gd name="T94" fmla="*/ 74 w 1172"/>
                  <a:gd name="T95" fmla="*/ 24 h 1016"/>
                  <a:gd name="T96" fmla="*/ 65 w 1172"/>
                  <a:gd name="T97" fmla="*/ 17 h 1016"/>
                  <a:gd name="T98" fmla="*/ 47 w 1172"/>
                  <a:gd name="T99" fmla="*/ 10 h 1016"/>
                  <a:gd name="T100" fmla="*/ 31 w 1172"/>
                  <a:gd name="T101" fmla="*/ 3 h 1016"/>
                  <a:gd name="T102" fmla="*/ 10 w 1172"/>
                  <a:gd name="T103" fmla="*/ 0 h 1016"/>
                  <a:gd name="T104" fmla="*/ 0 w 1172"/>
                  <a:gd name="T105" fmla="*/ 0 h 10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72" h="1016">
                    <a:moveTo>
                      <a:pt x="1171" y="1015"/>
                    </a:moveTo>
                    <a:lnTo>
                      <a:pt x="1139" y="1011"/>
                    </a:lnTo>
                    <a:lnTo>
                      <a:pt x="1085" y="1004"/>
                    </a:lnTo>
                    <a:lnTo>
                      <a:pt x="1045" y="1000"/>
                    </a:lnTo>
                    <a:lnTo>
                      <a:pt x="995" y="994"/>
                    </a:lnTo>
                    <a:lnTo>
                      <a:pt x="944" y="983"/>
                    </a:lnTo>
                    <a:lnTo>
                      <a:pt x="901" y="978"/>
                    </a:lnTo>
                    <a:lnTo>
                      <a:pt x="869" y="971"/>
                    </a:lnTo>
                    <a:lnTo>
                      <a:pt x="827" y="961"/>
                    </a:lnTo>
                    <a:lnTo>
                      <a:pt x="802" y="953"/>
                    </a:lnTo>
                    <a:lnTo>
                      <a:pt x="770" y="944"/>
                    </a:lnTo>
                    <a:lnTo>
                      <a:pt x="733" y="935"/>
                    </a:lnTo>
                    <a:lnTo>
                      <a:pt x="706" y="924"/>
                    </a:lnTo>
                    <a:lnTo>
                      <a:pt x="689" y="915"/>
                    </a:lnTo>
                    <a:lnTo>
                      <a:pt x="669" y="904"/>
                    </a:lnTo>
                    <a:lnTo>
                      <a:pt x="650" y="890"/>
                    </a:lnTo>
                    <a:lnTo>
                      <a:pt x="632" y="879"/>
                    </a:lnTo>
                    <a:lnTo>
                      <a:pt x="627" y="875"/>
                    </a:lnTo>
                    <a:lnTo>
                      <a:pt x="618" y="865"/>
                    </a:lnTo>
                    <a:lnTo>
                      <a:pt x="593" y="839"/>
                    </a:lnTo>
                    <a:lnTo>
                      <a:pt x="570" y="812"/>
                    </a:lnTo>
                    <a:lnTo>
                      <a:pt x="549" y="788"/>
                    </a:lnTo>
                    <a:lnTo>
                      <a:pt x="526" y="758"/>
                    </a:lnTo>
                    <a:lnTo>
                      <a:pt x="506" y="729"/>
                    </a:lnTo>
                    <a:lnTo>
                      <a:pt x="487" y="695"/>
                    </a:lnTo>
                    <a:lnTo>
                      <a:pt x="464" y="666"/>
                    </a:lnTo>
                    <a:lnTo>
                      <a:pt x="455" y="647"/>
                    </a:lnTo>
                    <a:lnTo>
                      <a:pt x="418" y="580"/>
                    </a:lnTo>
                    <a:lnTo>
                      <a:pt x="343" y="441"/>
                    </a:lnTo>
                    <a:lnTo>
                      <a:pt x="306" y="371"/>
                    </a:lnTo>
                    <a:lnTo>
                      <a:pt x="294" y="352"/>
                    </a:lnTo>
                    <a:lnTo>
                      <a:pt x="279" y="322"/>
                    </a:lnTo>
                    <a:lnTo>
                      <a:pt x="263" y="289"/>
                    </a:lnTo>
                    <a:lnTo>
                      <a:pt x="242" y="256"/>
                    </a:lnTo>
                    <a:lnTo>
                      <a:pt x="228" y="225"/>
                    </a:lnTo>
                    <a:lnTo>
                      <a:pt x="212" y="198"/>
                    </a:lnTo>
                    <a:lnTo>
                      <a:pt x="198" y="172"/>
                    </a:lnTo>
                    <a:lnTo>
                      <a:pt x="180" y="149"/>
                    </a:lnTo>
                    <a:lnTo>
                      <a:pt x="175" y="139"/>
                    </a:lnTo>
                    <a:lnTo>
                      <a:pt x="168" y="129"/>
                    </a:lnTo>
                    <a:lnTo>
                      <a:pt x="154" y="110"/>
                    </a:lnTo>
                    <a:lnTo>
                      <a:pt x="138" y="90"/>
                    </a:lnTo>
                    <a:lnTo>
                      <a:pt x="122" y="70"/>
                    </a:lnTo>
                    <a:lnTo>
                      <a:pt x="111" y="57"/>
                    </a:lnTo>
                    <a:lnTo>
                      <a:pt x="100" y="47"/>
                    </a:lnTo>
                    <a:lnTo>
                      <a:pt x="92" y="36"/>
                    </a:lnTo>
                    <a:lnTo>
                      <a:pt x="79" y="25"/>
                    </a:lnTo>
                    <a:lnTo>
                      <a:pt x="74" y="24"/>
                    </a:lnTo>
                    <a:lnTo>
                      <a:pt x="65" y="17"/>
                    </a:lnTo>
                    <a:lnTo>
                      <a:pt x="47" y="10"/>
                    </a:lnTo>
                    <a:lnTo>
                      <a:pt x="31" y="3"/>
                    </a:lnTo>
                    <a:lnTo>
                      <a:pt x="10" y="0"/>
                    </a:lnTo>
                    <a:lnTo>
                      <a:pt x="0"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967" name="Rectangle 48"/>
            <p:cNvSpPr>
              <a:spLocks noChangeArrowheads="1"/>
            </p:cNvSpPr>
            <p:nvPr/>
          </p:nvSpPr>
          <p:spPr bwMode="auto">
            <a:xfrm>
              <a:off x="1638" y="1037"/>
              <a:ext cx="793"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Expected Level</a:t>
              </a:r>
              <a:endParaRPr lang="ko-KR" altLang="en-US" sz="1200" dirty="0">
                <a:latin typeface="맑은 고딕" pitchFamily="50" charset="-127"/>
                <a:ea typeface="맑은 고딕" pitchFamily="50" charset="-127"/>
              </a:endParaRPr>
            </a:p>
          </p:txBody>
        </p:sp>
        <p:sp>
          <p:nvSpPr>
            <p:cNvPr id="290968" name="Rectangle 49"/>
            <p:cNvSpPr>
              <a:spLocks noChangeArrowheads="1"/>
            </p:cNvSpPr>
            <p:nvPr/>
          </p:nvSpPr>
          <p:spPr bwMode="auto">
            <a:xfrm>
              <a:off x="1833" y="1477"/>
              <a:ext cx="724"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Current Level</a:t>
              </a:r>
              <a:endParaRPr lang="ko-KR" altLang="en-US" sz="1200" dirty="0">
                <a:latin typeface="맑은 고딕" pitchFamily="50" charset="-127"/>
                <a:ea typeface="맑은 고딕" pitchFamily="50" charset="-127"/>
              </a:endParaRPr>
            </a:p>
          </p:txBody>
        </p:sp>
        <p:sp>
          <p:nvSpPr>
            <p:cNvPr id="290969" name="Line 50"/>
            <p:cNvSpPr>
              <a:spLocks noChangeShapeType="1"/>
            </p:cNvSpPr>
            <p:nvPr/>
          </p:nvSpPr>
          <p:spPr bwMode="auto">
            <a:xfrm>
              <a:off x="584" y="1987"/>
              <a:ext cx="2046" cy="0"/>
            </a:xfrm>
            <a:prstGeom prst="line">
              <a:avLst/>
            </a:prstGeom>
            <a:noFill/>
            <a:ln w="12699">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0970" name="Line 51"/>
            <p:cNvSpPr>
              <a:spLocks noChangeShapeType="1"/>
            </p:cNvSpPr>
            <p:nvPr/>
          </p:nvSpPr>
          <p:spPr bwMode="auto">
            <a:xfrm>
              <a:off x="2406" y="1304"/>
              <a:ext cx="0" cy="683"/>
            </a:xfrm>
            <a:prstGeom prst="line">
              <a:avLst/>
            </a:prstGeom>
            <a:noFill/>
            <a:ln w="12699">
              <a:solidFill>
                <a:srgbClr val="000000"/>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0971" name="Line 52"/>
            <p:cNvSpPr>
              <a:spLocks noChangeShapeType="1"/>
            </p:cNvSpPr>
            <p:nvPr/>
          </p:nvSpPr>
          <p:spPr bwMode="auto">
            <a:xfrm>
              <a:off x="784" y="1304"/>
              <a:ext cx="0" cy="683"/>
            </a:xfrm>
            <a:prstGeom prst="line">
              <a:avLst/>
            </a:prstGeom>
            <a:noFill/>
            <a:ln w="12699">
              <a:solidFill>
                <a:srgbClr val="000000"/>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0972" name="Line 53"/>
            <p:cNvSpPr>
              <a:spLocks noChangeShapeType="1"/>
            </p:cNvSpPr>
            <p:nvPr/>
          </p:nvSpPr>
          <p:spPr bwMode="auto">
            <a:xfrm>
              <a:off x="1606" y="930"/>
              <a:ext cx="0" cy="1058"/>
            </a:xfrm>
            <a:prstGeom prst="line">
              <a:avLst/>
            </a:prstGeom>
            <a:noFill/>
            <a:ln w="12699">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12" name="Group 54"/>
            <p:cNvGrpSpPr>
              <a:grpSpLocks/>
            </p:cNvGrpSpPr>
            <p:nvPr/>
          </p:nvGrpSpPr>
          <p:grpSpPr bwMode="auto">
            <a:xfrm>
              <a:off x="312" y="914"/>
              <a:ext cx="813" cy="750"/>
              <a:chOff x="2206" y="3016"/>
              <a:chExt cx="750" cy="750"/>
            </a:xfrm>
          </p:grpSpPr>
          <p:grpSp>
            <p:nvGrpSpPr>
              <p:cNvPr id="13" name="Group 55"/>
              <p:cNvGrpSpPr>
                <a:grpSpLocks/>
              </p:cNvGrpSpPr>
              <p:nvPr/>
            </p:nvGrpSpPr>
            <p:grpSpPr bwMode="auto">
              <a:xfrm>
                <a:off x="2206" y="3016"/>
                <a:ext cx="750" cy="750"/>
                <a:chOff x="2206" y="3016"/>
                <a:chExt cx="750" cy="750"/>
              </a:xfrm>
            </p:grpSpPr>
            <p:grpSp>
              <p:nvGrpSpPr>
                <p:cNvPr id="14" name="Group 56"/>
                <p:cNvGrpSpPr>
                  <a:grpSpLocks/>
                </p:cNvGrpSpPr>
                <p:nvPr/>
              </p:nvGrpSpPr>
              <p:grpSpPr bwMode="auto">
                <a:xfrm>
                  <a:off x="2206" y="3016"/>
                  <a:ext cx="750" cy="750"/>
                  <a:chOff x="2206" y="3016"/>
                  <a:chExt cx="750" cy="750"/>
                </a:xfrm>
              </p:grpSpPr>
              <p:grpSp>
                <p:nvGrpSpPr>
                  <p:cNvPr id="15" name="Group 57"/>
                  <p:cNvGrpSpPr>
                    <a:grpSpLocks/>
                  </p:cNvGrpSpPr>
                  <p:nvPr/>
                </p:nvGrpSpPr>
                <p:grpSpPr bwMode="auto">
                  <a:xfrm>
                    <a:off x="2206" y="3016"/>
                    <a:ext cx="750" cy="750"/>
                    <a:chOff x="2206" y="3016"/>
                    <a:chExt cx="750" cy="750"/>
                  </a:xfrm>
                </p:grpSpPr>
                <p:sp>
                  <p:nvSpPr>
                    <p:cNvPr id="291088" name="Oval 58"/>
                    <p:cNvSpPr>
                      <a:spLocks noChangeArrowheads="1"/>
                    </p:cNvSpPr>
                    <p:nvPr/>
                  </p:nvSpPr>
                  <p:spPr bwMode="auto">
                    <a:xfrm>
                      <a:off x="2206" y="3016"/>
                      <a:ext cx="750" cy="750"/>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1089" name="Oval 59"/>
                    <p:cNvSpPr>
                      <a:spLocks noChangeArrowheads="1"/>
                    </p:cNvSpPr>
                    <p:nvPr/>
                  </p:nvSpPr>
                  <p:spPr bwMode="auto">
                    <a:xfrm>
                      <a:off x="2285" y="3091"/>
                      <a:ext cx="591" cy="597"/>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1087" name="Oval 60"/>
                  <p:cNvSpPr>
                    <a:spLocks noChangeArrowheads="1"/>
                  </p:cNvSpPr>
                  <p:nvPr/>
                </p:nvSpPr>
                <p:spPr bwMode="auto">
                  <a:xfrm>
                    <a:off x="2365" y="3172"/>
                    <a:ext cx="431" cy="435"/>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1085" name="Oval 61"/>
                <p:cNvSpPr>
                  <a:spLocks noChangeArrowheads="1"/>
                </p:cNvSpPr>
                <p:nvPr/>
              </p:nvSpPr>
              <p:spPr bwMode="auto">
                <a:xfrm>
                  <a:off x="2444" y="3252"/>
                  <a:ext cx="274" cy="275"/>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1083" name="Oval 62"/>
              <p:cNvSpPr>
                <a:spLocks noChangeArrowheads="1"/>
              </p:cNvSpPr>
              <p:nvPr/>
            </p:nvSpPr>
            <p:spPr bwMode="auto">
              <a:xfrm>
                <a:off x="2523" y="3331"/>
                <a:ext cx="115" cy="117"/>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grpSp>
          <p:nvGrpSpPr>
            <p:cNvPr id="16" name="Group 63"/>
            <p:cNvGrpSpPr>
              <a:grpSpLocks/>
            </p:cNvGrpSpPr>
            <p:nvPr/>
          </p:nvGrpSpPr>
          <p:grpSpPr bwMode="auto">
            <a:xfrm>
              <a:off x="887" y="1056"/>
              <a:ext cx="201" cy="150"/>
              <a:chOff x="2737" y="3158"/>
              <a:chExt cx="185" cy="150"/>
            </a:xfrm>
          </p:grpSpPr>
          <p:sp>
            <p:nvSpPr>
              <p:cNvPr id="291067" name="Freeform 64"/>
              <p:cNvSpPr>
                <a:spLocks/>
              </p:cNvSpPr>
              <p:nvPr/>
            </p:nvSpPr>
            <p:spPr bwMode="auto">
              <a:xfrm>
                <a:off x="2739" y="3291"/>
                <a:ext cx="17" cy="17"/>
              </a:xfrm>
              <a:custGeom>
                <a:avLst/>
                <a:gdLst>
                  <a:gd name="T0" fmla="*/ 0 w 17"/>
                  <a:gd name="T1" fmla="*/ 7 h 17"/>
                  <a:gd name="T2" fmla="*/ 7 w 17"/>
                  <a:gd name="T3" fmla="*/ 0 h 17"/>
                  <a:gd name="T4" fmla="*/ 16 w 17"/>
                  <a:gd name="T5" fmla="*/ 16 h 17"/>
                  <a:gd name="T6" fmla="*/ 2 w 17"/>
                  <a:gd name="T7" fmla="*/ 13 h 17"/>
                  <a:gd name="T8" fmla="*/ 0 w 17"/>
                  <a:gd name="T9" fmla="*/ 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7"/>
                    </a:moveTo>
                    <a:lnTo>
                      <a:pt x="7" y="0"/>
                    </a:lnTo>
                    <a:lnTo>
                      <a:pt x="16" y="16"/>
                    </a:lnTo>
                    <a:lnTo>
                      <a:pt x="2" y="13"/>
                    </a:lnTo>
                    <a:lnTo>
                      <a:pt x="0" y="7"/>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68" name="Freeform 65"/>
              <p:cNvSpPr>
                <a:spLocks/>
              </p:cNvSpPr>
              <p:nvPr/>
            </p:nvSpPr>
            <p:spPr bwMode="auto">
              <a:xfrm>
                <a:off x="2737" y="3277"/>
                <a:ext cx="17" cy="20"/>
              </a:xfrm>
              <a:custGeom>
                <a:avLst/>
                <a:gdLst>
                  <a:gd name="T0" fmla="*/ 10 w 17"/>
                  <a:gd name="T1" fmla="*/ 0 h 20"/>
                  <a:gd name="T2" fmla="*/ 16 w 17"/>
                  <a:gd name="T3" fmla="*/ 14 h 20"/>
                  <a:gd name="T4" fmla="*/ 3 w 17"/>
                  <a:gd name="T5" fmla="*/ 19 h 20"/>
                  <a:gd name="T6" fmla="*/ 0 w 17"/>
                  <a:gd name="T7" fmla="*/ 14 h 20"/>
                  <a:gd name="T8" fmla="*/ 10 w 17"/>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0">
                    <a:moveTo>
                      <a:pt x="10" y="0"/>
                    </a:moveTo>
                    <a:lnTo>
                      <a:pt x="16" y="14"/>
                    </a:lnTo>
                    <a:lnTo>
                      <a:pt x="3" y="19"/>
                    </a:lnTo>
                    <a:lnTo>
                      <a:pt x="0" y="14"/>
                    </a:lnTo>
                    <a:lnTo>
                      <a:pt x="10"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69" name="Freeform 66"/>
              <p:cNvSpPr>
                <a:spLocks/>
              </p:cNvSpPr>
              <p:nvPr/>
            </p:nvSpPr>
            <p:spPr bwMode="auto">
              <a:xfrm>
                <a:off x="2742" y="3277"/>
                <a:ext cx="17" cy="25"/>
              </a:xfrm>
              <a:custGeom>
                <a:avLst/>
                <a:gdLst>
                  <a:gd name="T0" fmla="*/ 0 w 17"/>
                  <a:gd name="T1" fmla="*/ 0 h 25"/>
                  <a:gd name="T2" fmla="*/ 4 w 17"/>
                  <a:gd name="T3" fmla="*/ 15 h 25"/>
                  <a:gd name="T4" fmla="*/ 16 w 17"/>
                  <a:gd name="T5" fmla="*/ 24 h 25"/>
                  <a:gd name="T6" fmla="*/ 10 w 17"/>
                  <a:gd name="T7" fmla="*/ 12 h 25"/>
                  <a:gd name="T8" fmla="*/ 0 w 17"/>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5">
                    <a:moveTo>
                      <a:pt x="0" y="0"/>
                    </a:moveTo>
                    <a:lnTo>
                      <a:pt x="4" y="15"/>
                    </a:lnTo>
                    <a:lnTo>
                      <a:pt x="16" y="24"/>
                    </a:lnTo>
                    <a:lnTo>
                      <a:pt x="10"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17" name="Group 67"/>
              <p:cNvGrpSpPr>
                <a:grpSpLocks/>
              </p:cNvGrpSpPr>
              <p:nvPr/>
            </p:nvGrpSpPr>
            <p:grpSpPr bwMode="auto">
              <a:xfrm>
                <a:off x="2744" y="3158"/>
                <a:ext cx="178" cy="139"/>
                <a:chOff x="2744" y="3158"/>
                <a:chExt cx="178" cy="139"/>
              </a:xfrm>
            </p:grpSpPr>
            <p:sp>
              <p:nvSpPr>
                <p:cNvPr id="291071" name="Freeform 68"/>
                <p:cNvSpPr>
                  <a:spLocks/>
                </p:cNvSpPr>
                <p:nvPr/>
              </p:nvSpPr>
              <p:spPr bwMode="auto">
                <a:xfrm>
                  <a:off x="2744" y="3196"/>
                  <a:ext cx="153" cy="99"/>
                </a:xfrm>
                <a:custGeom>
                  <a:avLst/>
                  <a:gdLst>
                    <a:gd name="T0" fmla="*/ 122 w 153"/>
                    <a:gd name="T1" fmla="*/ 0 h 99"/>
                    <a:gd name="T2" fmla="*/ 3 w 153"/>
                    <a:gd name="T3" fmla="*/ 89 h 99"/>
                    <a:gd name="T4" fmla="*/ 2 w 153"/>
                    <a:gd name="T5" fmla="*/ 90 h 99"/>
                    <a:gd name="T6" fmla="*/ 1 w 153"/>
                    <a:gd name="T7" fmla="*/ 92 h 99"/>
                    <a:gd name="T8" fmla="*/ 0 w 153"/>
                    <a:gd name="T9" fmla="*/ 94 h 99"/>
                    <a:gd name="T10" fmla="*/ 1 w 153"/>
                    <a:gd name="T11" fmla="*/ 96 h 99"/>
                    <a:gd name="T12" fmla="*/ 2 w 153"/>
                    <a:gd name="T13" fmla="*/ 97 h 99"/>
                    <a:gd name="T14" fmla="*/ 4 w 153"/>
                    <a:gd name="T15" fmla="*/ 98 h 99"/>
                    <a:gd name="T16" fmla="*/ 6 w 153"/>
                    <a:gd name="T17" fmla="*/ 96 h 99"/>
                    <a:gd name="T18" fmla="*/ 152 w 153"/>
                    <a:gd name="T19" fmla="*/ 28 h 99"/>
                    <a:gd name="T20" fmla="*/ 122 w 153"/>
                    <a:gd name="T21" fmla="*/ 0 h 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3" h="99">
                      <a:moveTo>
                        <a:pt x="122" y="0"/>
                      </a:moveTo>
                      <a:lnTo>
                        <a:pt x="3" y="89"/>
                      </a:lnTo>
                      <a:lnTo>
                        <a:pt x="2" y="90"/>
                      </a:lnTo>
                      <a:lnTo>
                        <a:pt x="1" y="92"/>
                      </a:lnTo>
                      <a:lnTo>
                        <a:pt x="0" y="94"/>
                      </a:lnTo>
                      <a:lnTo>
                        <a:pt x="1" y="96"/>
                      </a:lnTo>
                      <a:lnTo>
                        <a:pt x="2" y="97"/>
                      </a:lnTo>
                      <a:lnTo>
                        <a:pt x="4" y="98"/>
                      </a:lnTo>
                      <a:lnTo>
                        <a:pt x="6" y="96"/>
                      </a:lnTo>
                      <a:lnTo>
                        <a:pt x="152" y="28"/>
                      </a:lnTo>
                      <a:lnTo>
                        <a:pt x="122"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72" name="Freeform 69"/>
                <p:cNvSpPr>
                  <a:spLocks/>
                </p:cNvSpPr>
                <p:nvPr/>
              </p:nvSpPr>
              <p:spPr bwMode="auto">
                <a:xfrm>
                  <a:off x="2855" y="3191"/>
                  <a:ext cx="52" cy="25"/>
                </a:xfrm>
                <a:custGeom>
                  <a:avLst/>
                  <a:gdLst>
                    <a:gd name="T0" fmla="*/ 2 w 52"/>
                    <a:gd name="T1" fmla="*/ 12 h 25"/>
                    <a:gd name="T2" fmla="*/ 21 w 52"/>
                    <a:gd name="T3" fmla="*/ 0 h 25"/>
                    <a:gd name="T4" fmla="*/ 51 w 52"/>
                    <a:gd name="T5" fmla="*/ 21 h 25"/>
                    <a:gd name="T6" fmla="*/ 46 w 52"/>
                    <a:gd name="T7" fmla="*/ 24 h 25"/>
                    <a:gd name="T8" fmla="*/ 19 w 52"/>
                    <a:gd name="T9" fmla="*/ 7 h 25"/>
                    <a:gd name="T10" fmla="*/ 0 w 52"/>
                    <a:gd name="T11" fmla="*/ 18 h 25"/>
                    <a:gd name="T12" fmla="*/ 2 w 52"/>
                    <a:gd name="T13" fmla="*/ 12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25">
                      <a:moveTo>
                        <a:pt x="2" y="12"/>
                      </a:moveTo>
                      <a:lnTo>
                        <a:pt x="21" y="0"/>
                      </a:lnTo>
                      <a:lnTo>
                        <a:pt x="51" y="21"/>
                      </a:lnTo>
                      <a:lnTo>
                        <a:pt x="46" y="24"/>
                      </a:lnTo>
                      <a:lnTo>
                        <a:pt x="19" y="7"/>
                      </a:lnTo>
                      <a:lnTo>
                        <a:pt x="0" y="18"/>
                      </a:lnTo>
                      <a:lnTo>
                        <a:pt x="2" y="12"/>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73" name="Freeform 70"/>
                <p:cNvSpPr>
                  <a:spLocks/>
                </p:cNvSpPr>
                <p:nvPr/>
              </p:nvSpPr>
              <p:spPr bwMode="auto">
                <a:xfrm>
                  <a:off x="2855" y="3187"/>
                  <a:ext cx="49" cy="48"/>
                </a:xfrm>
                <a:custGeom>
                  <a:avLst/>
                  <a:gdLst>
                    <a:gd name="T0" fmla="*/ 25 w 49"/>
                    <a:gd name="T1" fmla="*/ 0 h 48"/>
                    <a:gd name="T2" fmla="*/ 2 w 49"/>
                    <a:gd name="T3" fmla="*/ 16 h 48"/>
                    <a:gd name="T4" fmla="*/ 1 w 49"/>
                    <a:gd name="T5" fmla="*/ 18 h 48"/>
                    <a:gd name="T6" fmla="*/ 0 w 49"/>
                    <a:gd name="T7" fmla="*/ 21 h 48"/>
                    <a:gd name="T8" fmla="*/ 0 w 49"/>
                    <a:gd name="T9" fmla="*/ 25 h 48"/>
                    <a:gd name="T10" fmla="*/ 0 w 49"/>
                    <a:gd name="T11" fmla="*/ 28 h 48"/>
                    <a:gd name="T12" fmla="*/ 0 w 49"/>
                    <a:gd name="T13" fmla="*/ 32 h 48"/>
                    <a:gd name="T14" fmla="*/ 1 w 49"/>
                    <a:gd name="T15" fmla="*/ 35 h 48"/>
                    <a:gd name="T16" fmla="*/ 3 w 49"/>
                    <a:gd name="T17" fmla="*/ 38 h 48"/>
                    <a:gd name="T18" fmla="*/ 5 w 49"/>
                    <a:gd name="T19" fmla="*/ 41 h 48"/>
                    <a:gd name="T20" fmla="*/ 9 w 49"/>
                    <a:gd name="T21" fmla="*/ 43 h 48"/>
                    <a:gd name="T22" fmla="*/ 12 w 49"/>
                    <a:gd name="T23" fmla="*/ 45 h 48"/>
                    <a:gd name="T24" fmla="*/ 15 w 49"/>
                    <a:gd name="T25" fmla="*/ 46 h 48"/>
                    <a:gd name="T26" fmla="*/ 19 w 49"/>
                    <a:gd name="T27" fmla="*/ 47 h 48"/>
                    <a:gd name="T28" fmla="*/ 22 w 49"/>
                    <a:gd name="T29" fmla="*/ 47 h 48"/>
                    <a:gd name="T30" fmla="*/ 48 w 49"/>
                    <a:gd name="T31" fmla="*/ 35 h 48"/>
                    <a:gd name="T32" fmla="*/ 21 w 49"/>
                    <a:gd name="T33" fmla="*/ 9 h 48"/>
                    <a:gd name="T34" fmla="*/ 2 w 49"/>
                    <a:gd name="T35" fmla="*/ 20 h 48"/>
                    <a:gd name="T36" fmla="*/ 4 w 49"/>
                    <a:gd name="T37" fmla="*/ 17 h 48"/>
                    <a:gd name="T38" fmla="*/ 23 w 49"/>
                    <a:gd name="T39" fmla="*/ 4 h 48"/>
                    <a:gd name="T40" fmla="*/ 25 w 49"/>
                    <a:gd name="T41" fmla="*/ 0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48">
                      <a:moveTo>
                        <a:pt x="25" y="0"/>
                      </a:moveTo>
                      <a:lnTo>
                        <a:pt x="2" y="16"/>
                      </a:lnTo>
                      <a:lnTo>
                        <a:pt x="1" y="18"/>
                      </a:lnTo>
                      <a:lnTo>
                        <a:pt x="0" y="21"/>
                      </a:lnTo>
                      <a:lnTo>
                        <a:pt x="0" y="25"/>
                      </a:lnTo>
                      <a:lnTo>
                        <a:pt x="0" y="28"/>
                      </a:lnTo>
                      <a:lnTo>
                        <a:pt x="0" y="32"/>
                      </a:lnTo>
                      <a:lnTo>
                        <a:pt x="1" y="35"/>
                      </a:lnTo>
                      <a:lnTo>
                        <a:pt x="3" y="38"/>
                      </a:lnTo>
                      <a:lnTo>
                        <a:pt x="5" y="41"/>
                      </a:lnTo>
                      <a:lnTo>
                        <a:pt x="9" y="43"/>
                      </a:lnTo>
                      <a:lnTo>
                        <a:pt x="12" y="45"/>
                      </a:lnTo>
                      <a:lnTo>
                        <a:pt x="15" y="46"/>
                      </a:lnTo>
                      <a:lnTo>
                        <a:pt x="19" y="47"/>
                      </a:lnTo>
                      <a:lnTo>
                        <a:pt x="22" y="47"/>
                      </a:lnTo>
                      <a:lnTo>
                        <a:pt x="48" y="35"/>
                      </a:lnTo>
                      <a:lnTo>
                        <a:pt x="21" y="9"/>
                      </a:lnTo>
                      <a:lnTo>
                        <a:pt x="2" y="20"/>
                      </a:lnTo>
                      <a:lnTo>
                        <a:pt x="4" y="17"/>
                      </a:lnTo>
                      <a:lnTo>
                        <a:pt x="23" y="4"/>
                      </a:lnTo>
                      <a:lnTo>
                        <a:pt x="25"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74" name="Freeform 71"/>
                <p:cNvSpPr>
                  <a:spLocks/>
                </p:cNvSpPr>
                <p:nvPr/>
              </p:nvSpPr>
              <p:spPr bwMode="auto">
                <a:xfrm>
                  <a:off x="2876" y="3196"/>
                  <a:ext cx="31" cy="28"/>
                </a:xfrm>
                <a:custGeom>
                  <a:avLst/>
                  <a:gdLst>
                    <a:gd name="T0" fmla="*/ 0 w 31"/>
                    <a:gd name="T1" fmla="*/ 0 h 28"/>
                    <a:gd name="T2" fmla="*/ 0 w 31"/>
                    <a:gd name="T3" fmla="*/ 2 h 28"/>
                    <a:gd name="T4" fmla="*/ 1 w 31"/>
                    <a:gd name="T5" fmla="*/ 4 h 28"/>
                    <a:gd name="T6" fmla="*/ 1 w 31"/>
                    <a:gd name="T7" fmla="*/ 6 h 28"/>
                    <a:gd name="T8" fmla="*/ 3 w 31"/>
                    <a:gd name="T9" fmla="*/ 9 h 28"/>
                    <a:gd name="T10" fmla="*/ 4 w 31"/>
                    <a:gd name="T11" fmla="*/ 11 h 28"/>
                    <a:gd name="T12" fmla="*/ 6 w 31"/>
                    <a:gd name="T13" fmla="*/ 15 h 28"/>
                    <a:gd name="T14" fmla="*/ 9 w 31"/>
                    <a:gd name="T15" fmla="*/ 17 h 28"/>
                    <a:gd name="T16" fmla="*/ 12 w 31"/>
                    <a:gd name="T17" fmla="*/ 19 h 28"/>
                    <a:gd name="T18" fmla="*/ 14 w 31"/>
                    <a:gd name="T19" fmla="*/ 22 h 28"/>
                    <a:gd name="T20" fmla="*/ 17 w 31"/>
                    <a:gd name="T21" fmla="*/ 24 h 28"/>
                    <a:gd name="T22" fmla="*/ 20 w 31"/>
                    <a:gd name="T23" fmla="*/ 25 h 28"/>
                    <a:gd name="T24" fmla="*/ 23 w 31"/>
                    <a:gd name="T25" fmla="*/ 26 h 28"/>
                    <a:gd name="T26" fmla="*/ 25 w 31"/>
                    <a:gd name="T27" fmla="*/ 27 h 28"/>
                    <a:gd name="T28" fmla="*/ 27 w 31"/>
                    <a:gd name="T29" fmla="*/ 26 h 28"/>
                    <a:gd name="T30" fmla="*/ 28 w 31"/>
                    <a:gd name="T31" fmla="*/ 24 h 28"/>
                    <a:gd name="T32" fmla="*/ 29 w 31"/>
                    <a:gd name="T33" fmla="*/ 22 h 28"/>
                    <a:gd name="T34" fmla="*/ 30 w 31"/>
                    <a:gd name="T35" fmla="*/ 19 h 28"/>
                    <a:gd name="T36" fmla="*/ 0 w 31"/>
                    <a:gd name="T37" fmla="*/ 0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1" h="28">
                      <a:moveTo>
                        <a:pt x="0" y="0"/>
                      </a:moveTo>
                      <a:lnTo>
                        <a:pt x="0" y="2"/>
                      </a:lnTo>
                      <a:lnTo>
                        <a:pt x="1" y="4"/>
                      </a:lnTo>
                      <a:lnTo>
                        <a:pt x="1" y="6"/>
                      </a:lnTo>
                      <a:lnTo>
                        <a:pt x="3" y="9"/>
                      </a:lnTo>
                      <a:lnTo>
                        <a:pt x="4" y="11"/>
                      </a:lnTo>
                      <a:lnTo>
                        <a:pt x="6" y="15"/>
                      </a:lnTo>
                      <a:lnTo>
                        <a:pt x="9" y="17"/>
                      </a:lnTo>
                      <a:lnTo>
                        <a:pt x="12" y="19"/>
                      </a:lnTo>
                      <a:lnTo>
                        <a:pt x="14" y="22"/>
                      </a:lnTo>
                      <a:lnTo>
                        <a:pt x="17" y="24"/>
                      </a:lnTo>
                      <a:lnTo>
                        <a:pt x="20" y="25"/>
                      </a:lnTo>
                      <a:lnTo>
                        <a:pt x="23" y="26"/>
                      </a:lnTo>
                      <a:lnTo>
                        <a:pt x="25" y="27"/>
                      </a:lnTo>
                      <a:lnTo>
                        <a:pt x="27" y="26"/>
                      </a:lnTo>
                      <a:lnTo>
                        <a:pt x="28" y="24"/>
                      </a:lnTo>
                      <a:lnTo>
                        <a:pt x="29" y="22"/>
                      </a:lnTo>
                      <a:lnTo>
                        <a:pt x="30" y="19"/>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75" name="Freeform 72"/>
                <p:cNvSpPr>
                  <a:spLocks/>
                </p:cNvSpPr>
                <p:nvPr/>
              </p:nvSpPr>
              <p:spPr bwMode="auto">
                <a:xfrm>
                  <a:off x="2877" y="3186"/>
                  <a:ext cx="30" cy="27"/>
                </a:xfrm>
                <a:custGeom>
                  <a:avLst/>
                  <a:gdLst>
                    <a:gd name="T0" fmla="*/ 0 w 30"/>
                    <a:gd name="T1" fmla="*/ 6 h 27"/>
                    <a:gd name="T2" fmla="*/ 0 w 30"/>
                    <a:gd name="T3" fmla="*/ 4 h 27"/>
                    <a:gd name="T4" fmla="*/ 0 w 30"/>
                    <a:gd name="T5" fmla="*/ 2 h 27"/>
                    <a:gd name="T6" fmla="*/ 2 w 30"/>
                    <a:gd name="T7" fmla="*/ 0 h 27"/>
                    <a:gd name="T8" fmla="*/ 5 w 30"/>
                    <a:gd name="T9" fmla="*/ 0 h 27"/>
                    <a:gd name="T10" fmla="*/ 7 w 30"/>
                    <a:gd name="T11" fmla="*/ 0 h 27"/>
                    <a:gd name="T12" fmla="*/ 10 w 30"/>
                    <a:gd name="T13" fmla="*/ 0 h 27"/>
                    <a:gd name="T14" fmla="*/ 13 w 30"/>
                    <a:gd name="T15" fmla="*/ 1 h 27"/>
                    <a:gd name="T16" fmla="*/ 17 w 30"/>
                    <a:gd name="T17" fmla="*/ 3 h 27"/>
                    <a:gd name="T18" fmla="*/ 20 w 30"/>
                    <a:gd name="T19" fmla="*/ 5 h 27"/>
                    <a:gd name="T20" fmla="*/ 22 w 30"/>
                    <a:gd name="T21" fmla="*/ 7 h 27"/>
                    <a:gd name="T22" fmla="*/ 24 w 30"/>
                    <a:gd name="T23" fmla="*/ 10 h 27"/>
                    <a:gd name="T24" fmla="*/ 26 w 30"/>
                    <a:gd name="T25" fmla="*/ 13 h 27"/>
                    <a:gd name="T26" fmla="*/ 27 w 30"/>
                    <a:gd name="T27" fmla="*/ 15 h 27"/>
                    <a:gd name="T28" fmla="*/ 28 w 30"/>
                    <a:gd name="T29" fmla="*/ 19 h 27"/>
                    <a:gd name="T30" fmla="*/ 29 w 30"/>
                    <a:gd name="T31" fmla="*/ 23 h 27"/>
                    <a:gd name="T32" fmla="*/ 29 w 30"/>
                    <a:gd name="T33" fmla="*/ 26 h 27"/>
                    <a:gd name="T34" fmla="*/ 0 w 30"/>
                    <a:gd name="T35" fmla="*/ 6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0" h="27">
                      <a:moveTo>
                        <a:pt x="0" y="6"/>
                      </a:moveTo>
                      <a:lnTo>
                        <a:pt x="0" y="4"/>
                      </a:lnTo>
                      <a:lnTo>
                        <a:pt x="0" y="2"/>
                      </a:lnTo>
                      <a:lnTo>
                        <a:pt x="2" y="0"/>
                      </a:lnTo>
                      <a:lnTo>
                        <a:pt x="5" y="0"/>
                      </a:lnTo>
                      <a:lnTo>
                        <a:pt x="7" y="0"/>
                      </a:lnTo>
                      <a:lnTo>
                        <a:pt x="10" y="0"/>
                      </a:lnTo>
                      <a:lnTo>
                        <a:pt x="13" y="1"/>
                      </a:lnTo>
                      <a:lnTo>
                        <a:pt x="17" y="3"/>
                      </a:lnTo>
                      <a:lnTo>
                        <a:pt x="20" y="5"/>
                      </a:lnTo>
                      <a:lnTo>
                        <a:pt x="22" y="7"/>
                      </a:lnTo>
                      <a:lnTo>
                        <a:pt x="24" y="10"/>
                      </a:lnTo>
                      <a:lnTo>
                        <a:pt x="26" y="13"/>
                      </a:lnTo>
                      <a:lnTo>
                        <a:pt x="27" y="15"/>
                      </a:lnTo>
                      <a:lnTo>
                        <a:pt x="28" y="19"/>
                      </a:lnTo>
                      <a:lnTo>
                        <a:pt x="29" y="23"/>
                      </a:lnTo>
                      <a:lnTo>
                        <a:pt x="29" y="26"/>
                      </a:lnTo>
                      <a:lnTo>
                        <a:pt x="0" y="6"/>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76" name="Freeform 73"/>
                <p:cNvSpPr>
                  <a:spLocks/>
                </p:cNvSpPr>
                <p:nvPr/>
              </p:nvSpPr>
              <p:spPr bwMode="auto">
                <a:xfrm>
                  <a:off x="2809" y="3158"/>
                  <a:ext cx="66" cy="85"/>
                </a:xfrm>
                <a:custGeom>
                  <a:avLst/>
                  <a:gdLst>
                    <a:gd name="T0" fmla="*/ 0 w 66"/>
                    <a:gd name="T1" fmla="*/ 84 h 85"/>
                    <a:gd name="T2" fmla="*/ 53 w 66"/>
                    <a:gd name="T3" fmla="*/ 44 h 85"/>
                    <a:gd name="T4" fmla="*/ 65 w 66"/>
                    <a:gd name="T5" fmla="*/ 0 h 85"/>
                    <a:gd name="T6" fmla="*/ 50 w 66"/>
                    <a:gd name="T7" fmla="*/ 15 h 85"/>
                    <a:gd name="T8" fmla="*/ 47 w 66"/>
                    <a:gd name="T9" fmla="*/ 21 h 85"/>
                    <a:gd name="T10" fmla="*/ 45 w 66"/>
                    <a:gd name="T11" fmla="*/ 17 h 85"/>
                    <a:gd name="T12" fmla="*/ 30 w 66"/>
                    <a:gd name="T13" fmla="*/ 40 h 85"/>
                    <a:gd name="T14" fmla="*/ 29 w 66"/>
                    <a:gd name="T15" fmla="*/ 34 h 85"/>
                    <a:gd name="T16" fmla="*/ 11 w 66"/>
                    <a:gd name="T17" fmla="*/ 56 h 85"/>
                    <a:gd name="T18" fmla="*/ 0 w 66"/>
                    <a:gd name="T19" fmla="*/ 84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85">
                      <a:moveTo>
                        <a:pt x="0" y="84"/>
                      </a:moveTo>
                      <a:lnTo>
                        <a:pt x="53" y="44"/>
                      </a:lnTo>
                      <a:lnTo>
                        <a:pt x="65" y="0"/>
                      </a:lnTo>
                      <a:lnTo>
                        <a:pt x="50" y="15"/>
                      </a:lnTo>
                      <a:lnTo>
                        <a:pt x="47" y="21"/>
                      </a:lnTo>
                      <a:lnTo>
                        <a:pt x="45" y="17"/>
                      </a:lnTo>
                      <a:lnTo>
                        <a:pt x="30" y="40"/>
                      </a:lnTo>
                      <a:lnTo>
                        <a:pt x="29" y="34"/>
                      </a:lnTo>
                      <a:lnTo>
                        <a:pt x="11" y="56"/>
                      </a:lnTo>
                      <a:lnTo>
                        <a:pt x="0" y="84"/>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77" name="Freeform 74"/>
                <p:cNvSpPr>
                  <a:spLocks/>
                </p:cNvSpPr>
                <p:nvPr/>
              </p:nvSpPr>
              <p:spPr bwMode="auto">
                <a:xfrm>
                  <a:off x="2812" y="3207"/>
                  <a:ext cx="58" cy="42"/>
                </a:xfrm>
                <a:custGeom>
                  <a:avLst/>
                  <a:gdLst>
                    <a:gd name="T0" fmla="*/ 6 w 58"/>
                    <a:gd name="T1" fmla="*/ 33 h 42"/>
                    <a:gd name="T2" fmla="*/ 57 w 58"/>
                    <a:gd name="T3" fmla="*/ 0 h 42"/>
                    <a:gd name="T4" fmla="*/ 43 w 58"/>
                    <a:gd name="T5" fmla="*/ 14 h 42"/>
                    <a:gd name="T6" fmla="*/ 0 w 58"/>
                    <a:gd name="T7" fmla="*/ 41 h 42"/>
                    <a:gd name="T8" fmla="*/ 6 w 58"/>
                    <a:gd name="T9" fmla="*/ 33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8" h="42">
                      <a:moveTo>
                        <a:pt x="6" y="33"/>
                      </a:moveTo>
                      <a:lnTo>
                        <a:pt x="57" y="0"/>
                      </a:lnTo>
                      <a:lnTo>
                        <a:pt x="43" y="14"/>
                      </a:lnTo>
                      <a:lnTo>
                        <a:pt x="0" y="41"/>
                      </a:lnTo>
                      <a:lnTo>
                        <a:pt x="6" y="33"/>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78" name="Freeform 75"/>
                <p:cNvSpPr>
                  <a:spLocks/>
                </p:cNvSpPr>
                <p:nvPr/>
              </p:nvSpPr>
              <p:spPr bwMode="auto">
                <a:xfrm>
                  <a:off x="2814" y="3226"/>
                  <a:ext cx="108" cy="36"/>
                </a:xfrm>
                <a:custGeom>
                  <a:avLst/>
                  <a:gdLst>
                    <a:gd name="T0" fmla="*/ 0 w 108"/>
                    <a:gd name="T1" fmla="*/ 30 h 36"/>
                    <a:gd name="T2" fmla="*/ 67 w 108"/>
                    <a:gd name="T3" fmla="*/ 0 h 36"/>
                    <a:gd name="T4" fmla="*/ 107 w 108"/>
                    <a:gd name="T5" fmla="*/ 15 h 36"/>
                    <a:gd name="T6" fmla="*/ 86 w 108"/>
                    <a:gd name="T7" fmla="*/ 19 h 36"/>
                    <a:gd name="T8" fmla="*/ 79 w 108"/>
                    <a:gd name="T9" fmla="*/ 19 h 36"/>
                    <a:gd name="T10" fmla="*/ 83 w 108"/>
                    <a:gd name="T11" fmla="*/ 22 h 36"/>
                    <a:gd name="T12" fmla="*/ 61 w 108"/>
                    <a:gd name="T13" fmla="*/ 27 h 36"/>
                    <a:gd name="T14" fmla="*/ 54 w 108"/>
                    <a:gd name="T15" fmla="*/ 27 h 36"/>
                    <a:gd name="T16" fmla="*/ 59 w 108"/>
                    <a:gd name="T17" fmla="*/ 29 h 36"/>
                    <a:gd name="T18" fmla="*/ 29 w 108"/>
                    <a:gd name="T19" fmla="*/ 35 h 36"/>
                    <a:gd name="T20" fmla="*/ 0 w 108"/>
                    <a:gd name="T21" fmla="*/ 3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36">
                      <a:moveTo>
                        <a:pt x="0" y="30"/>
                      </a:moveTo>
                      <a:lnTo>
                        <a:pt x="67" y="0"/>
                      </a:lnTo>
                      <a:lnTo>
                        <a:pt x="107" y="15"/>
                      </a:lnTo>
                      <a:lnTo>
                        <a:pt x="86" y="19"/>
                      </a:lnTo>
                      <a:lnTo>
                        <a:pt x="79" y="19"/>
                      </a:lnTo>
                      <a:lnTo>
                        <a:pt x="83" y="22"/>
                      </a:lnTo>
                      <a:lnTo>
                        <a:pt x="61" y="27"/>
                      </a:lnTo>
                      <a:lnTo>
                        <a:pt x="54" y="27"/>
                      </a:lnTo>
                      <a:lnTo>
                        <a:pt x="59" y="29"/>
                      </a:lnTo>
                      <a:lnTo>
                        <a:pt x="29" y="35"/>
                      </a:lnTo>
                      <a:lnTo>
                        <a:pt x="0" y="3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79" name="Freeform 76"/>
                <p:cNvSpPr>
                  <a:spLocks/>
                </p:cNvSpPr>
                <p:nvPr/>
              </p:nvSpPr>
              <p:spPr bwMode="auto">
                <a:xfrm>
                  <a:off x="2790" y="3238"/>
                  <a:ext cx="32" cy="33"/>
                </a:xfrm>
                <a:custGeom>
                  <a:avLst/>
                  <a:gdLst>
                    <a:gd name="T0" fmla="*/ 20 w 32"/>
                    <a:gd name="T1" fmla="*/ 0 h 33"/>
                    <a:gd name="T2" fmla="*/ 19 w 32"/>
                    <a:gd name="T3" fmla="*/ 3 h 33"/>
                    <a:gd name="T4" fmla="*/ 19 w 32"/>
                    <a:gd name="T5" fmla="*/ 6 h 33"/>
                    <a:gd name="T6" fmla="*/ 18 w 32"/>
                    <a:gd name="T7" fmla="*/ 9 h 33"/>
                    <a:gd name="T8" fmla="*/ 19 w 32"/>
                    <a:gd name="T9" fmla="*/ 12 h 33"/>
                    <a:gd name="T10" fmla="*/ 20 w 32"/>
                    <a:gd name="T11" fmla="*/ 15 h 33"/>
                    <a:gd name="T12" fmla="*/ 21 w 32"/>
                    <a:gd name="T13" fmla="*/ 17 h 33"/>
                    <a:gd name="T14" fmla="*/ 23 w 32"/>
                    <a:gd name="T15" fmla="*/ 19 h 33"/>
                    <a:gd name="T16" fmla="*/ 26 w 32"/>
                    <a:gd name="T17" fmla="*/ 21 h 33"/>
                    <a:gd name="T18" fmla="*/ 29 w 32"/>
                    <a:gd name="T19" fmla="*/ 21 h 33"/>
                    <a:gd name="T20" fmla="*/ 31 w 32"/>
                    <a:gd name="T21" fmla="*/ 22 h 33"/>
                    <a:gd name="T22" fmla="*/ 10 w 32"/>
                    <a:gd name="T23" fmla="*/ 32 h 33"/>
                    <a:gd name="T24" fmla="*/ 8 w 32"/>
                    <a:gd name="T25" fmla="*/ 31 h 33"/>
                    <a:gd name="T26" fmla="*/ 5 w 32"/>
                    <a:gd name="T27" fmla="*/ 30 h 33"/>
                    <a:gd name="T28" fmla="*/ 3 w 32"/>
                    <a:gd name="T29" fmla="*/ 28 h 33"/>
                    <a:gd name="T30" fmla="*/ 1 w 32"/>
                    <a:gd name="T31" fmla="*/ 27 h 33"/>
                    <a:gd name="T32" fmla="*/ 0 w 32"/>
                    <a:gd name="T33" fmla="*/ 25 h 33"/>
                    <a:gd name="T34" fmla="*/ 0 w 32"/>
                    <a:gd name="T35" fmla="*/ 23 h 33"/>
                    <a:gd name="T36" fmla="*/ 0 w 32"/>
                    <a:gd name="T37" fmla="*/ 21 h 33"/>
                    <a:gd name="T38" fmla="*/ 0 w 32"/>
                    <a:gd name="T39" fmla="*/ 18 h 33"/>
                    <a:gd name="T40" fmla="*/ 1 w 32"/>
                    <a:gd name="T41" fmla="*/ 15 h 33"/>
                    <a:gd name="T42" fmla="*/ 2 w 32"/>
                    <a:gd name="T43" fmla="*/ 13 h 33"/>
                    <a:gd name="T44" fmla="*/ 20 w 32"/>
                    <a:gd name="T45" fmla="*/ 0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2" h="33">
                      <a:moveTo>
                        <a:pt x="20" y="0"/>
                      </a:moveTo>
                      <a:lnTo>
                        <a:pt x="19" y="3"/>
                      </a:lnTo>
                      <a:lnTo>
                        <a:pt x="19" y="6"/>
                      </a:lnTo>
                      <a:lnTo>
                        <a:pt x="18" y="9"/>
                      </a:lnTo>
                      <a:lnTo>
                        <a:pt x="19" y="12"/>
                      </a:lnTo>
                      <a:lnTo>
                        <a:pt x="20" y="15"/>
                      </a:lnTo>
                      <a:lnTo>
                        <a:pt x="21" y="17"/>
                      </a:lnTo>
                      <a:lnTo>
                        <a:pt x="23" y="19"/>
                      </a:lnTo>
                      <a:lnTo>
                        <a:pt x="26" y="21"/>
                      </a:lnTo>
                      <a:lnTo>
                        <a:pt x="29" y="21"/>
                      </a:lnTo>
                      <a:lnTo>
                        <a:pt x="31" y="22"/>
                      </a:lnTo>
                      <a:lnTo>
                        <a:pt x="10" y="32"/>
                      </a:lnTo>
                      <a:lnTo>
                        <a:pt x="8" y="31"/>
                      </a:lnTo>
                      <a:lnTo>
                        <a:pt x="5" y="30"/>
                      </a:lnTo>
                      <a:lnTo>
                        <a:pt x="3" y="28"/>
                      </a:lnTo>
                      <a:lnTo>
                        <a:pt x="1" y="27"/>
                      </a:lnTo>
                      <a:lnTo>
                        <a:pt x="0" y="25"/>
                      </a:lnTo>
                      <a:lnTo>
                        <a:pt x="0" y="23"/>
                      </a:lnTo>
                      <a:lnTo>
                        <a:pt x="0" y="21"/>
                      </a:lnTo>
                      <a:lnTo>
                        <a:pt x="0" y="18"/>
                      </a:lnTo>
                      <a:lnTo>
                        <a:pt x="1" y="15"/>
                      </a:lnTo>
                      <a:lnTo>
                        <a:pt x="2" y="13"/>
                      </a:lnTo>
                      <a:lnTo>
                        <a:pt x="20"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80" name="Freeform 77"/>
                <p:cNvSpPr>
                  <a:spLocks/>
                </p:cNvSpPr>
                <p:nvPr/>
              </p:nvSpPr>
              <p:spPr bwMode="auto">
                <a:xfrm>
                  <a:off x="2795" y="3245"/>
                  <a:ext cx="17" cy="23"/>
                </a:xfrm>
                <a:custGeom>
                  <a:avLst/>
                  <a:gdLst>
                    <a:gd name="T0" fmla="*/ 7 w 17"/>
                    <a:gd name="T1" fmla="*/ 0 h 23"/>
                    <a:gd name="T2" fmla="*/ 6 w 17"/>
                    <a:gd name="T3" fmla="*/ 1 h 23"/>
                    <a:gd name="T4" fmla="*/ 5 w 17"/>
                    <a:gd name="T5" fmla="*/ 4 h 23"/>
                    <a:gd name="T6" fmla="*/ 4 w 17"/>
                    <a:gd name="T7" fmla="*/ 7 h 23"/>
                    <a:gd name="T8" fmla="*/ 4 w 17"/>
                    <a:gd name="T9" fmla="*/ 9 h 23"/>
                    <a:gd name="T10" fmla="*/ 4 w 17"/>
                    <a:gd name="T11" fmla="*/ 11 h 23"/>
                    <a:gd name="T12" fmla="*/ 5 w 17"/>
                    <a:gd name="T13" fmla="*/ 14 h 23"/>
                    <a:gd name="T14" fmla="*/ 7 w 17"/>
                    <a:gd name="T15" fmla="*/ 16 h 23"/>
                    <a:gd name="T16" fmla="*/ 10 w 17"/>
                    <a:gd name="T17" fmla="*/ 18 h 23"/>
                    <a:gd name="T18" fmla="*/ 12 w 17"/>
                    <a:gd name="T19" fmla="*/ 19 h 23"/>
                    <a:gd name="T20" fmla="*/ 16 w 17"/>
                    <a:gd name="T21" fmla="*/ 20 h 23"/>
                    <a:gd name="T22" fmla="*/ 12 w 17"/>
                    <a:gd name="T23" fmla="*/ 22 h 23"/>
                    <a:gd name="T24" fmla="*/ 9 w 17"/>
                    <a:gd name="T25" fmla="*/ 21 h 23"/>
                    <a:gd name="T26" fmla="*/ 6 w 17"/>
                    <a:gd name="T27" fmla="*/ 20 h 23"/>
                    <a:gd name="T28" fmla="*/ 4 w 17"/>
                    <a:gd name="T29" fmla="*/ 19 h 23"/>
                    <a:gd name="T30" fmla="*/ 2 w 17"/>
                    <a:gd name="T31" fmla="*/ 17 h 23"/>
                    <a:gd name="T32" fmla="*/ 1 w 17"/>
                    <a:gd name="T33" fmla="*/ 14 h 23"/>
                    <a:gd name="T34" fmla="*/ 0 w 17"/>
                    <a:gd name="T35" fmla="*/ 13 h 23"/>
                    <a:gd name="T36" fmla="*/ 0 w 17"/>
                    <a:gd name="T37" fmla="*/ 11 h 23"/>
                    <a:gd name="T38" fmla="*/ 0 w 17"/>
                    <a:gd name="T39" fmla="*/ 7 h 23"/>
                    <a:gd name="T40" fmla="*/ 1 w 17"/>
                    <a:gd name="T41" fmla="*/ 5 h 23"/>
                    <a:gd name="T42" fmla="*/ 2 w 17"/>
                    <a:gd name="T43" fmla="*/ 3 h 23"/>
                    <a:gd name="T44" fmla="*/ 7 w 17"/>
                    <a:gd name="T45" fmla="*/ 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7" h="23">
                      <a:moveTo>
                        <a:pt x="7" y="0"/>
                      </a:moveTo>
                      <a:lnTo>
                        <a:pt x="6" y="1"/>
                      </a:lnTo>
                      <a:lnTo>
                        <a:pt x="5" y="4"/>
                      </a:lnTo>
                      <a:lnTo>
                        <a:pt x="4" y="7"/>
                      </a:lnTo>
                      <a:lnTo>
                        <a:pt x="4" y="9"/>
                      </a:lnTo>
                      <a:lnTo>
                        <a:pt x="4" y="11"/>
                      </a:lnTo>
                      <a:lnTo>
                        <a:pt x="5" y="14"/>
                      </a:lnTo>
                      <a:lnTo>
                        <a:pt x="7" y="16"/>
                      </a:lnTo>
                      <a:lnTo>
                        <a:pt x="10" y="18"/>
                      </a:lnTo>
                      <a:lnTo>
                        <a:pt x="12" y="19"/>
                      </a:lnTo>
                      <a:lnTo>
                        <a:pt x="16" y="20"/>
                      </a:lnTo>
                      <a:lnTo>
                        <a:pt x="12" y="22"/>
                      </a:lnTo>
                      <a:lnTo>
                        <a:pt x="9" y="21"/>
                      </a:lnTo>
                      <a:lnTo>
                        <a:pt x="6" y="20"/>
                      </a:lnTo>
                      <a:lnTo>
                        <a:pt x="4" y="19"/>
                      </a:lnTo>
                      <a:lnTo>
                        <a:pt x="2" y="17"/>
                      </a:lnTo>
                      <a:lnTo>
                        <a:pt x="1" y="14"/>
                      </a:lnTo>
                      <a:lnTo>
                        <a:pt x="0" y="13"/>
                      </a:lnTo>
                      <a:lnTo>
                        <a:pt x="0" y="11"/>
                      </a:lnTo>
                      <a:lnTo>
                        <a:pt x="0" y="7"/>
                      </a:lnTo>
                      <a:lnTo>
                        <a:pt x="1" y="5"/>
                      </a:lnTo>
                      <a:lnTo>
                        <a:pt x="2" y="3"/>
                      </a:lnTo>
                      <a:lnTo>
                        <a:pt x="7"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81" name="Freeform 78"/>
                <p:cNvSpPr>
                  <a:spLocks/>
                </p:cNvSpPr>
                <p:nvPr/>
              </p:nvSpPr>
              <p:spPr bwMode="auto">
                <a:xfrm>
                  <a:off x="2744" y="3280"/>
                  <a:ext cx="17" cy="17"/>
                </a:xfrm>
                <a:custGeom>
                  <a:avLst/>
                  <a:gdLst>
                    <a:gd name="T0" fmla="*/ 11 w 17"/>
                    <a:gd name="T1" fmla="*/ 0 h 17"/>
                    <a:gd name="T2" fmla="*/ 3 w 17"/>
                    <a:gd name="T3" fmla="*/ 6 h 17"/>
                    <a:gd name="T4" fmla="*/ 2 w 17"/>
                    <a:gd name="T5" fmla="*/ 7 h 17"/>
                    <a:gd name="T6" fmla="*/ 1 w 17"/>
                    <a:gd name="T7" fmla="*/ 9 h 17"/>
                    <a:gd name="T8" fmla="*/ 0 w 17"/>
                    <a:gd name="T9" fmla="*/ 12 h 17"/>
                    <a:gd name="T10" fmla="*/ 1 w 17"/>
                    <a:gd name="T11" fmla="*/ 14 h 17"/>
                    <a:gd name="T12" fmla="*/ 3 w 17"/>
                    <a:gd name="T13" fmla="*/ 15 h 17"/>
                    <a:gd name="T14" fmla="*/ 4 w 17"/>
                    <a:gd name="T15" fmla="*/ 16 h 17"/>
                    <a:gd name="T16" fmla="*/ 6 w 17"/>
                    <a:gd name="T17" fmla="*/ 14 h 17"/>
                    <a:gd name="T18" fmla="*/ 16 w 17"/>
                    <a:gd name="T19" fmla="*/ 10 h 17"/>
                    <a:gd name="T20" fmla="*/ 13 w 17"/>
                    <a:gd name="T21" fmla="*/ 9 h 17"/>
                    <a:gd name="T22" fmla="*/ 12 w 17"/>
                    <a:gd name="T23" fmla="*/ 8 h 17"/>
                    <a:gd name="T24" fmla="*/ 11 w 17"/>
                    <a:gd name="T25" fmla="*/ 6 h 17"/>
                    <a:gd name="T26" fmla="*/ 11 w 17"/>
                    <a:gd name="T27" fmla="*/ 4 h 17"/>
                    <a:gd name="T28" fmla="*/ 11 w 17"/>
                    <a:gd name="T29" fmla="*/ 2 h 17"/>
                    <a:gd name="T30" fmla="*/ 11 w 17"/>
                    <a:gd name="T31" fmla="*/ 0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 h="17">
                      <a:moveTo>
                        <a:pt x="11" y="0"/>
                      </a:moveTo>
                      <a:lnTo>
                        <a:pt x="3" y="6"/>
                      </a:lnTo>
                      <a:lnTo>
                        <a:pt x="2" y="7"/>
                      </a:lnTo>
                      <a:lnTo>
                        <a:pt x="1" y="9"/>
                      </a:lnTo>
                      <a:lnTo>
                        <a:pt x="0" y="12"/>
                      </a:lnTo>
                      <a:lnTo>
                        <a:pt x="1" y="14"/>
                      </a:lnTo>
                      <a:lnTo>
                        <a:pt x="3" y="15"/>
                      </a:lnTo>
                      <a:lnTo>
                        <a:pt x="4" y="16"/>
                      </a:lnTo>
                      <a:lnTo>
                        <a:pt x="6" y="14"/>
                      </a:lnTo>
                      <a:lnTo>
                        <a:pt x="16" y="10"/>
                      </a:lnTo>
                      <a:lnTo>
                        <a:pt x="13" y="9"/>
                      </a:lnTo>
                      <a:lnTo>
                        <a:pt x="12" y="8"/>
                      </a:lnTo>
                      <a:lnTo>
                        <a:pt x="11" y="6"/>
                      </a:lnTo>
                      <a:lnTo>
                        <a:pt x="11" y="4"/>
                      </a:lnTo>
                      <a:lnTo>
                        <a:pt x="11" y="2"/>
                      </a:lnTo>
                      <a:lnTo>
                        <a:pt x="11"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grpSp>
          <p:nvGrpSpPr>
            <p:cNvPr id="18" name="Group 79"/>
            <p:cNvGrpSpPr>
              <a:grpSpLocks/>
            </p:cNvGrpSpPr>
            <p:nvPr/>
          </p:nvGrpSpPr>
          <p:grpSpPr bwMode="auto">
            <a:xfrm>
              <a:off x="665" y="1015"/>
              <a:ext cx="176" cy="184"/>
              <a:chOff x="2532" y="3117"/>
              <a:chExt cx="162" cy="184"/>
            </a:xfrm>
          </p:grpSpPr>
          <p:sp>
            <p:nvSpPr>
              <p:cNvPr id="291052" name="Freeform 80"/>
              <p:cNvSpPr>
                <a:spLocks/>
              </p:cNvSpPr>
              <p:nvPr/>
            </p:nvSpPr>
            <p:spPr bwMode="auto">
              <a:xfrm>
                <a:off x="2535" y="3284"/>
                <a:ext cx="17" cy="17"/>
              </a:xfrm>
              <a:custGeom>
                <a:avLst/>
                <a:gdLst>
                  <a:gd name="T0" fmla="*/ 0 w 17"/>
                  <a:gd name="T1" fmla="*/ 10 h 17"/>
                  <a:gd name="T2" fmla="*/ 4 w 17"/>
                  <a:gd name="T3" fmla="*/ 0 h 17"/>
                  <a:gd name="T4" fmla="*/ 16 w 17"/>
                  <a:gd name="T5" fmla="*/ 12 h 17"/>
                  <a:gd name="T6" fmla="*/ 3 w 17"/>
                  <a:gd name="T7" fmla="*/ 16 h 17"/>
                  <a:gd name="T8" fmla="*/ 0 w 17"/>
                  <a:gd name="T9" fmla="*/ 1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10"/>
                    </a:moveTo>
                    <a:lnTo>
                      <a:pt x="4" y="0"/>
                    </a:lnTo>
                    <a:lnTo>
                      <a:pt x="16" y="12"/>
                    </a:lnTo>
                    <a:lnTo>
                      <a:pt x="3" y="16"/>
                    </a:lnTo>
                    <a:lnTo>
                      <a:pt x="0" y="10"/>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3" name="Freeform 81"/>
              <p:cNvSpPr>
                <a:spLocks/>
              </p:cNvSpPr>
              <p:nvPr/>
            </p:nvSpPr>
            <p:spPr bwMode="auto">
              <a:xfrm>
                <a:off x="2533" y="3271"/>
                <a:ext cx="18" cy="21"/>
              </a:xfrm>
              <a:custGeom>
                <a:avLst/>
                <a:gdLst>
                  <a:gd name="T0" fmla="*/ 0 w 18"/>
                  <a:gd name="T1" fmla="*/ 0 h 21"/>
                  <a:gd name="T2" fmla="*/ 10 w 18"/>
                  <a:gd name="T3" fmla="*/ 9 h 21"/>
                  <a:gd name="T4" fmla="*/ 17 w 18"/>
                  <a:gd name="T5" fmla="*/ 20 h 21"/>
                  <a:gd name="T6" fmla="*/ 6 w 18"/>
                  <a:gd name="T7" fmla="*/ 12 h 21"/>
                  <a:gd name="T8" fmla="*/ 0 w 18"/>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1">
                    <a:moveTo>
                      <a:pt x="0" y="0"/>
                    </a:moveTo>
                    <a:lnTo>
                      <a:pt x="10" y="9"/>
                    </a:lnTo>
                    <a:lnTo>
                      <a:pt x="17" y="20"/>
                    </a:lnTo>
                    <a:lnTo>
                      <a:pt x="6"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4" name="Freeform 82"/>
              <p:cNvSpPr>
                <a:spLocks/>
              </p:cNvSpPr>
              <p:nvPr/>
            </p:nvSpPr>
            <p:spPr bwMode="auto">
              <a:xfrm>
                <a:off x="2532" y="3271"/>
                <a:ext cx="17" cy="19"/>
              </a:xfrm>
              <a:custGeom>
                <a:avLst/>
                <a:gdLst>
                  <a:gd name="T0" fmla="*/ 2 w 17"/>
                  <a:gd name="T1" fmla="*/ 0 h 19"/>
                  <a:gd name="T2" fmla="*/ 16 w 17"/>
                  <a:gd name="T3" fmla="*/ 12 h 19"/>
                  <a:gd name="T4" fmla="*/ 5 w 17"/>
                  <a:gd name="T5" fmla="*/ 18 h 19"/>
                  <a:gd name="T6" fmla="*/ 0 w 17"/>
                  <a:gd name="T7" fmla="*/ 15 h 19"/>
                  <a:gd name="T8" fmla="*/ 2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2" y="0"/>
                    </a:moveTo>
                    <a:lnTo>
                      <a:pt x="16" y="12"/>
                    </a:lnTo>
                    <a:lnTo>
                      <a:pt x="5" y="18"/>
                    </a:lnTo>
                    <a:lnTo>
                      <a:pt x="0" y="15"/>
                    </a:lnTo>
                    <a:lnTo>
                      <a:pt x="2"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5" name="Freeform 83"/>
              <p:cNvSpPr>
                <a:spLocks/>
              </p:cNvSpPr>
              <p:nvPr/>
            </p:nvSpPr>
            <p:spPr bwMode="auto">
              <a:xfrm>
                <a:off x="2538" y="3161"/>
                <a:ext cx="117" cy="125"/>
              </a:xfrm>
              <a:custGeom>
                <a:avLst/>
                <a:gdLst>
                  <a:gd name="T0" fmla="*/ 87 w 117"/>
                  <a:gd name="T1" fmla="*/ 0 h 125"/>
                  <a:gd name="T2" fmla="*/ 0 w 117"/>
                  <a:gd name="T3" fmla="*/ 118 h 125"/>
                  <a:gd name="T4" fmla="*/ 0 w 117"/>
                  <a:gd name="T5" fmla="*/ 119 h 125"/>
                  <a:gd name="T6" fmla="*/ 0 w 117"/>
                  <a:gd name="T7" fmla="*/ 121 h 125"/>
                  <a:gd name="T8" fmla="*/ 0 w 117"/>
                  <a:gd name="T9" fmla="*/ 122 h 125"/>
                  <a:gd name="T10" fmla="*/ 1 w 117"/>
                  <a:gd name="T11" fmla="*/ 124 h 125"/>
                  <a:gd name="T12" fmla="*/ 3 w 117"/>
                  <a:gd name="T13" fmla="*/ 124 h 125"/>
                  <a:gd name="T14" fmla="*/ 5 w 117"/>
                  <a:gd name="T15" fmla="*/ 124 h 125"/>
                  <a:gd name="T16" fmla="*/ 116 w 117"/>
                  <a:gd name="T17" fmla="*/ 24 h 125"/>
                  <a:gd name="T18" fmla="*/ 87 w 117"/>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7" h="125">
                    <a:moveTo>
                      <a:pt x="87" y="0"/>
                    </a:moveTo>
                    <a:lnTo>
                      <a:pt x="0" y="118"/>
                    </a:lnTo>
                    <a:lnTo>
                      <a:pt x="0" y="119"/>
                    </a:lnTo>
                    <a:lnTo>
                      <a:pt x="0" y="121"/>
                    </a:lnTo>
                    <a:lnTo>
                      <a:pt x="0" y="122"/>
                    </a:lnTo>
                    <a:lnTo>
                      <a:pt x="1" y="124"/>
                    </a:lnTo>
                    <a:lnTo>
                      <a:pt x="3" y="124"/>
                    </a:lnTo>
                    <a:lnTo>
                      <a:pt x="5" y="124"/>
                    </a:lnTo>
                    <a:lnTo>
                      <a:pt x="116" y="24"/>
                    </a:lnTo>
                    <a:lnTo>
                      <a:pt x="87"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6" name="Freeform 84"/>
              <p:cNvSpPr>
                <a:spLocks/>
              </p:cNvSpPr>
              <p:nvPr/>
            </p:nvSpPr>
            <p:spPr bwMode="auto">
              <a:xfrm>
                <a:off x="2623" y="3149"/>
                <a:ext cx="49" cy="24"/>
              </a:xfrm>
              <a:custGeom>
                <a:avLst/>
                <a:gdLst>
                  <a:gd name="T0" fmla="*/ 13 w 49"/>
                  <a:gd name="T1" fmla="*/ 0 h 24"/>
                  <a:gd name="T2" fmla="*/ 48 w 49"/>
                  <a:gd name="T3" fmla="*/ 11 h 24"/>
                  <a:gd name="T4" fmla="*/ 45 w 49"/>
                  <a:gd name="T5" fmla="*/ 13 h 24"/>
                  <a:gd name="T6" fmla="*/ 45 w 49"/>
                  <a:gd name="T7" fmla="*/ 16 h 24"/>
                  <a:gd name="T8" fmla="*/ 16 w 49"/>
                  <a:gd name="T9" fmla="*/ 6 h 24"/>
                  <a:gd name="T10" fmla="*/ 0 w 49"/>
                  <a:gd name="T11" fmla="*/ 23 h 24"/>
                  <a:gd name="T12" fmla="*/ 0 w 49"/>
                  <a:gd name="T13" fmla="*/ 16 h 24"/>
                  <a:gd name="T14" fmla="*/ 13 w 49"/>
                  <a:gd name="T15" fmla="*/ 0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9" h="24">
                    <a:moveTo>
                      <a:pt x="13" y="0"/>
                    </a:moveTo>
                    <a:lnTo>
                      <a:pt x="48" y="11"/>
                    </a:lnTo>
                    <a:lnTo>
                      <a:pt x="45" y="13"/>
                    </a:lnTo>
                    <a:lnTo>
                      <a:pt x="45" y="16"/>
                    </a:lnTo>
                    <a:lnTo>
                      <a:pt x="16" y="6"/>
                    </a:lnTo>
                    <a:lnTo>
                      <a:pt x="0" y="23"/>
                    </a:lnTo>
                    <a:lnTo>
                      <a:pt x="0" y="16"/>
                    </a:lnTo>
                    <a:lnTo>
                      <a:pt x="13"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7" name="Freeform 85"/>
              <p:cNvSpPr>
                <a:spLocks/>
              </p:cNvSpPr>
              <p:nvPr/>
            </p:nvSpPr>
            <p:spPr bwMode="auto">
              <a:xfrm>
                <a:off x="2638" y="3154"/>
                <a:ext cx="35" cy="21"/>
              </a:xfrm>
              <a:custGeom>
                <a:avLst/>
                <a:gdLst>
                  <a:gd name="T0" fmla="*/ 0 w 35"/>
                  <a:gd name="T1" fmla="*/ 0 h 21"/>
                  <a:gd name="T2" fmla="*/ 33 w 35"/>
                  <a:gd name="T3" fmla="*/ 9 h 21"/>
                  <a:gd name="T4" fmla="*/ 34 w 35"/>
                  <a:gd name="T5" fmla="*/ 12 h 21"/>
                  <a:gd name="T6" fmla="*/ 33 w 35"/>
                  <a:gd name="T7" fmla="*/ 15 h 21"/>
                  <a:gd name="T8" fmla="*/ 31 w 35"/>
                  <a:gd name="T9" fmla="*/ 18 h 21"/>
                  <a:gd name="T10" fmla="*/ 26 w 35"/>
                  <a:gd name="T11" fmla="*/ 20 h 21"/>
                  <a:gd name="T12" fmla="*/ 17 w 35"/>
                  <a:gd name="T13" fmla="*/ 17 h 21"/>
                  <a:gd name="T14" fmla="*/ 6 w 35"/>
                  <a:gd name="T15" fmla="*/ 10 h 21"/>
                  <a:gd name="T16" fmla="*/ 0 w 35"/>
                  <a:gd name="T17" fmla="*/ 4 h 21"/>
                  <a:gd name="T18" fmla="*/ 0 w 35"/>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21">
                    <a:moveTo>
                      <a:pt x="0" y="0"/>
                    </a:moveTo>
                    <a:lnTo>
                      <a:pt x="33" y="9"/>
                    </a:lnTo>
                    <a:lnTo>
                      <a:pt x="34" y="12"/>
                    </a:lnTo>
                    <a:lnTo>
                      <a:pt x="33" y="15"/>
                    </a:lnTo>
                    <a:lnTo>
                      <a:pt x="31" y="18"/>
                    </a:lnTo>
                    <a:lnTo>
                      <a:pt x="26" y="20"/>
                    </a:lnTo>
                    <a:lnTo>
                      <a:pt x="17" y="17"/>
                    </a:lnTo>
                    <a:lnTo>
                      <a:pt x="6" y="10"/>
                    </a:lnTo>
                    <a:lnTo>
                      <a:pt x="0" y="4"/>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8" name="Freeform 86"/>
              <p:cNvSpPr>
                <a:spLocks/>
              </p:cNvSpPr>
              <p:nvPr/>
            </p:nvSpPr>
            <p:spPr bwMode="auto">
              <a:xfrm>
                <a:off x="2635" y="3141"/>
                <a:ext cx="37" cy="21"/>
              </a:xfrm>
              <a:custGeom>
                <a:avLst/>
                <a:gdLst>
                  <a:gd name="T0" fmla="*/ 1 w 37"/>
                  <a:gd name="T1" fmla="*/ 9 h 21"/>
                  <a:gd name="T2" fmla="*/ 36 w 37"/>
                  <a:gd name="T3" fmla="*/ 20 h 21"/>
                  <a:gd name="T4" fmla="*/ 35 w 37"/>
                  <a:gd name="T5" fmla="*/ 16 h 21"/>
                  <a:gd name="T6" fmla="*/ 33 w 37"/>
                  <a:gd name="T7" fmla="*/ 13 h 21"/>
                  <a:gd name="T8" fmla="*/ 31 w 37"/>
                  <a:gd name="T9" fmla="*/ 10 h 21"/>
                  <a:gd name="T10" fmla="*/ 29 w 37"/>
                  <a:gd name="T11" fmla="*/ 7 h 21"/>
                  <a:gd name="T12" fmla="*/ 26 w 37"/>
                  <a:gd name="T13" fmla="*/ 4 h 21"/>
                  <a:gd name="T14" fmla="*/ 23 w 37"/>
                  <a:gd name="T15" fmla="*/ 3 h 21"/>
                  <a:gd name="T16" fmla="*/ 19 w 37"/>
                  <a:gd name="T17" fmla="*/ 1 h 21"/>
                  <a:gd name="T18" fmla="*/ 15 w 37"/>
                  <a:gd name="T19" fmla="*/ 0 h 21"/>
                  <a:gd name="T20" fmla="*/ 12 w 37"/>
                  <a:gd name="T21" fmla="*/ 0 h 21"/>
                  <a:gd name="T22" fmla="*/ 9 w 37"/>
                  <a:gd name="T23" fmla="*/ 0 h 21"/>
                  <a:gd name="T24" fmla="*/ 7 w 37"/>
                  <a:gd name="T25" fmla="*/ 0 h 21"/>
                  <a:gd name="T26" fmla="*/ 4 w 37"/>
                  <a:gd name="T27" fmla="*/ 1 h 21"/>
                  <a:gd name="T28" fmla="*/ 1 w 37"/>
                  <a:gd name="T29" fmla="*/ 3 h 21"/>
                  <a:gd name="T30" fmla="*/ 0 w 37"/>
                  <a:gd name="T31" fmla="*/ 5 h 21"/>
                  <a:gd name="T32" fmla="*/ 0 w 37"/>
                  <a:gd name="T33" fmla="*/ 9 h 21"/>
                  <a:gd name="T34" fmla="*/ 1 w 37"/>
                  <a:gd name="T35" fmla="*/ 9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21">
                    <a:moveTo>
                      <a:pt x="1" y="9"/>
                    </a:moveTo>
                    <a:lnTo>
                      <a:pt x="36" y="20"/>
                    </a:lnTo>
                    <a:lnTo>
                      <a:pt x="35" y="16"/>
                    </a:lnTo>
                    <a:lnTo>
                      <a:pt x="33" y="13"/>
                    </a:lnTo>
                    <a:lnTo>
                      <a:pt x="31" y="10"/>
                    </a:lnTo>
                    <a:lnTo>
                      <a:pt x="29" y="7"/>
                    </a:lnTo>
                    <a:lnTo>
                      <a:pt x="26" y="4"/>
                    </a:lnTo>
                    <a:lnTo>
                      <a:pt x="23" y="3"/>
                    </a:lnTo>
                    <a:lnTo>
                      <a:pt x="19" y="1"/>
                    </a:lnTo>
                    <a:lnTo>
                      <a:pt x="15" y="0"/>
                    </a:lnTo>
                    <a:lnTo>
                      <a:pt x="12" y="0"/>
                    </a:lnTo>
                    <a:lnTo>
                      <a:pt x="9" y="0"/>
                    </a:lnTo>
                    <a:lnTo>
                      <a:pt x="7" y="0"/>
                    </a:lnTo>
                    <a:lnTo>
                      <a:pt x="4" y="1"/>
                    </a:lnTo>
                    <a:lnTo>
                      <a:pt x="1" y="3"/>
                    </a:lnTo>
                    <a:lnTo>
                      <a:pt x="0" y="5"/>
                    </a:lnTo>
                    <a:lnTo>
                      <a:pt x="0" y="9"/>
                    </a:lnTo>
                    <a:lnTo>
                      <a:pt x="1" y="9"/>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9" name="Freeform 87"/>
              <p:cNvSpPr>
                <a:spLocks/>
              </p:cNvSpPr>
              <p:nvPr/>
            </p:nvSpPr>
            <p:spPr bwMode="auto">
              <a:xfrm>
                <a:off x="2621" y="3147"/>
                <a:ext cx="50" cy="45"/>
              </a:xfrm>
              <a:custGeom>
                <a:avLst/>
                <a:gdLst>
                  <a:gd name="T0" fmla="*/ 14 w 50"/>
                  <a:gd name="T1" fmla="*/ 0 h 45"/>
                  <a:gd name="T2" fmla="*/ 0 w 50"/>
                  <a:gd name="T3" fmla="*/ 19 h 45"/>
                  <a:gd name="T4" fmla="*/ 0 w 50"/>
                  <a:gd name="T5" fmla="*/ 22 h 45"/>
                  <a:gd name="T6" fmla="*/ 0 w 50"/>
                  <a:gd name="T7" fmla="*/ 24 h 45"/>
                  <a:gd name="T8" fmla="*/ 0 w 50"/>
                  <a:gd name="T9" fmla="*/ 27 h 45"/>
                  <a:gd name="T10" fmla="*/ 0 w 50"/>
                  <a:gd name="T11" fmla="*/ 31 h 45"/>
                  <a:gd name="T12" fmla="*/ 2 w 50"/>
                  <a:gd name="T13" fmla="*/ 34 h 45"/>
                  <a:gd name="T14" fmla="*/ 4 w 50"/>
                  <a:gd name="T15" fmla="*/ 36 h 45"/>
                  <a:gd name="T16" fmla="*/ 7 w 50"/>
                  <a:gd name="T17" fmla="*/ 39 h 45"/>
                  <a:gd name="T18" fmla="*/ 11 w 50"/>
                  <a:gd name="T19" fmla="*/ 41 h 45"/>
                  <a:gd name="T20" fmla="*/ 14 w 50"/>
                  <a:gd name="T21" fmla="*/ 42 h 45"/>
                  <a:gd name="T22" fmla="*/ 18 w 50"/>
                  <a:gd name="T23" fmla="*/ 43 h 45"/>
                  <a:gd name="T24" fmla="*/ 23 w 50"/>
                  <a:gd name="T25" fmla="*/ 44 h 45"/>
                  <a:gd name="T26" fmla="*/ 25 w 50"/>
                  <a:gd name="T27" fmla="*/ 43 h 45"/>
                  <a:gd name="T28" fmla="*/ 29 w 50"/>
                  <a:gd name="T29" fmla="*/ 42 h 45"/>
                  <a:gd name="T30" fmla="*/ 49 w 50"/>
                  <a:gd name="T31" fmla="*/ 24 h 45"/>
                  <a:gd name="T32" fmla="*/ 46 w 50"/>
                  <a:gd name="T33" fmla="*/ 25 h 45"/>
                  <a:gd name="T34" fmla="*/ 43 w 50"/>
                  <a:gd name="T35" fmla="*/ 25 h 45"/>
                  <a:gd name="T36" fmla="*/ 38 w 50"/>
                  <a:gd name="T37" fmla="*/ 24 h 45"/>
                  <a:gd name="T38" fmla="*/ 36 w 50"/>
                  <a:gd name="T39" fmla="*/ 24 h 45"/>
                  <a:gd name="T40" fmla="*/ 32 w 50"/>
                  <a:gd name="T41" fmla="*/ 22 h 45"/>
                  <a:gd name="T42" fmla="*/ 28 w 50"/>
                  <a:gd name="T43" fmla="*/ 19 h 45"/>
                  <a:gd name="T44" fmla="*/ 24 w 50"/>
                  <a:gd name="T45" fmla="*/ 17 h 45"/>
                  <a:gd name="T46" fmla="*/ 22 w 50"/>
                  <a:gd name="T47" fmla="*/ 15 h 45"/>
                  <a:gd name="T48" fmla="*/ 20 w 50"/>
                  <a:gd name="T49" fmla="*/ 12 h 45"/>
                  <a:gd name="T50" fmla="*/ 18 w 50"/>
                  <a:gd name="T51" fmla="*/ 9 h 45"/>
                  <a:gd name="T52" fmla="*/ 17 w 50"/>
                  <a:gd name="T53" fmla="*/ 7 h 45"/>
                  <a:gd name="T54" fmla="*/ 2 w 50"/>
                  <a:gd name="T55" fmla="*/ 22 h 45"/>
                  <a:gd name="T56" fmla="*/ 2 w 50"/>
                  <a:gd name="T57" fmla="*/ 19 h 45"/>
                  <a:gd name="T58" fmla="*/ 15 w 50"/>
                  <a:gd name="T59" fmla="*/ 3 h 45"/>
                  <a:gd name="T60" fmla="*/ 15 w 50"/>
                  <a:gd name="T61" fmla="*/ 2 h 45"/>
                  <a:gd name="T62" fmla="*/ 14 w 50"/>
                  <a:gd name="T63" fmla="*/ 1 h 45"/>
                  <a:gd name="T64" fmla="*/ 14 w 50"/>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45">
                    <a:moveTo>
                      <a:pt x="14" y="0"/>
                    </a:moveTo>
                    <a:lnTo>
                      <a:pt x="0" y="19"/>
                    </a:lnTo>
                    <a:lnTo>
                      <a:pt x="0" y="22"/>
                    </a:lnTo>
                    <a:lnTo>
                      <a:pt x="0" y="24"/>
                    </a:lnTo>
                    <a:lnTo>
                      <a:pt x="0" y="27"/>
                    </a:lnTo>
                    <a:lnTo>
                      <a:pt x="0" y="31"/>
                    </a:lnTo>
                    <a:lnTo>
                      <a:pt x="2" y="34"/>
                    </a:lnTo>
                    <a:lnTo>
                      <a:pt x="4" y="36"/>
                    </a:lnTo>
                    <a:lnTo>
                      <a:pt x="7" y="39"/>
                    </a:lnTo>
                    <a:lnTo>
                      <a:pt x="11" y="41"/>
                    </a:lnTo>
                    <a:lnTo>
                      <a:pt x="14" y="42"/>
                    </a:lnTo>
                    <a:lnTo>
                      <a:pt x="18" y="43"/>
                    </a:lnTo>
                    <a:lnTo>
                      <a:pt x="23" y="44"/>
                    </a:lnTo>
                    <a:lnTo>
                      <a:pt x="25" y="43"/>
                    </a:lnTo>
                    <a:lnTo>
                      <a:pt x="29" y="42"/>
                    </a:lnTo>
                    <a:lnTo>
                      <a:pt x="49" y="24"/>
                    </a:lnTo>
                    <a:lnTo>
                      <a:pt x="46" y="25"/>
                    </a:lnTo>
                    <a:lnTo>
                      <a:pt x="43" y="25"/>
                    </a:lnTo>
                    <a:lnTo>
                      <a:pt x="38" y="24"/>
                    </a:lnTo>
                    <a:lnTo>
                      <a:pt x="36" y="24"/>
                    </a:lnTo>
                    <a:lnTo>
                      <a:pt x="32" y="22"/>
                    </a:lnTo>
                    <a:lnTo>
                      <a:pt x="28" y="19"/>
                    </a:lnTo>
                    <a:lnTo>
                      <a:pt x="24" y="17"/>
                    </a:lnTo>
                    <a:lnTo>
                      <a:pt x="22" y="15"/>
                    </a:lnTo>
                    <a:lnTo>
                      <a:pt x="20" y="12"/>
                    </a:lnTo>
                    <a:lnTo>
                      <a:pt x="18" y="9"/>
                    </a:lnTo>
                    <a:lnTo>
                      <a:pt x="17" y="7"/>
                    </a:lnTo>
                    <a:lnTo>
                      <a:pt x="2" y="22"/>
                    </a:lnTo>
                    <a:lnTo>
                      <a:pt x="2" y="19"/>
                    </a:lnTo>
                    <a:lnTo>
                      <a:pt x="15" y="3"/>
                    </a:lnTo>
                    <a:lnTo>
                      <a:pt x="15" y="2"/>
                    </a:lnTo>
                    <a:lnTo>
                      <a:pt x="14" y="1"/>
                    </a:lnTo>
                    <a:lnTo>
                      <a:pt x="14"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19" name="Group 88"/>
              <p:cNvGrpSpPr>
                <a:grpSpLocks/>
              </p:cNvGrpSpPr>
              <p:nvPr/>
            </p:nvGrpSpPr>
            <p:grpSpPr bwMode="auto">
              <a:xfrm>
                <a:off x="2586" y="3117"/>
                <a:ext cx="108" cy="114"/>
                <a:chOff x="2586" y="3117"/>
                <a:chExt cx="108" cy="114"/>
              </a:xfrm>
            </p:grpSpPr>
            <p:sp>
              <p:nvSpPr>
                <p:cNvPr id="291064" name="Freeform 89"/>
                <p:cNvSpPr>
                  <a:spLocks/>
                </p:cNvSpPr>
                <p:nvPr/>
              </p:nvSpPr>
              <p:spPr bwMode="auto">
                <a:xfrm>
                  <a:off x="2595" y="3182"/>
                  <a:ext cx="99" cy="49"/>
                </a:xfrm>
                <a:custGeom>
                  <a:avLst/>
                  <a:gdLst>
                    <a:gd name="T0" fmla="*/ 0 w 99"/>
                    <a:gd name="T1" fmla="*/ 48 h 49"/>
                    <a:gd name="T2" fmla="*/ 56 w 99"/>
                    <a:gd name="T3" fmla="*/ 0 h 49"/>
                    <a:gd name="T4" fmla="*/ 98 w 99"/>
                    <a:gd name="T5" fmla="*/ 2 h 49"/>
                    <a:gd name="T6" fmla="*/ 74 w 99"/>
                    <a:gd name="T7" fmla="*/ 14 h 49"/>
                    <a:gd name="T8" fmla="*/ 78 w 99"/>
                    <a:gd name="T9" fmla="*/ 16 h 49"/>
                    <a:gd name="T10" fmla="*/ 52 w 99"/>
                    <a:gd name="T11" fmla="*/ 29 h 49"/>
                    <a:gd name="T12" fmla="*/ 57 w 99"/>
                    <a:gd name="T13" fmla="*/ 30 h 49"/>
                    <a:gd name="T14" fmla="*/ 28 w 99"/>
                    <a:gd name="T15" fmla="*/ 43 h 49"/>
                    <a:gd name="T16" fmla="*/ 0 w 99"/>
                    <a:gd name="T17" fmla="*/ 48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9" h="49">
                      <a:moveTo>
                        <a:pt x="0" y="48"/>
                      </a:moveTo>
                      <a:lnTo>
                        <a:pt x="56" y="0"/>
                      </a:lnTo>
                      <a:lnTo>
                        <a:pt x="98" y="2"/>
                      </a:lnTo>
                      <a:lnTo>
                        <a:pt x="74" y="14"/>
                      </a:lnTo>
                      <a:lnTo>
                        <a:pt x="78" y="16"/>
                      </a:lnTo>
                      <a:lnTo>
                        <a:pt x="52" y="29"/>
                      </a:lnTo>
                      <a:lnTo>
                        <a:pt x="57" y="30"/>
                      </a:lnTo>
                      <a:lnTo>
                        <a:pt x="28" y="43"/>
                      </a:lnTo>
                      <a:lnTo>
                        <a:pt x="0" y="4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65" name="Freeform 90"/>
                <p:cNvSpPr>
                  <a:spLocks/>
                </p:cNvSpPr>
                <p:nvPr/>
              </p:nvSpPr>
              <p:spPr bwMode="auto">
                <a:xfrm>
                  <a:off x="2590" y="3166"/>
                  <a:ext cx="45" cy="58"/>
                </a:xfrm>
                <a:custGeom>
                  <a:avLst/>
                  <a:gdLst>
                    <a:gd name="T0" fmla="*/ 4 w 45"/>
                    <a:gd name="T1" fmla="*/ 47 h 58"/>
                    <a:gd name="T2" fmla="*/ 44 w 45"/>
                    <a:gd name="T3" fmla="*/ 0 h 58"/>
                    <a:gd name="T4" fmla="*/ 35 w 45"/>
                    <a:gd name="T5" fmla="*/ 18 h 58"/>
                    <a:gd name="T6" fmla="*/ 0 w 45"/>
                    <a:gd name="T7" fmla="*/ 57 h 58"/>
                    <a:gd name="T8" fmla="*/ 4 w 45"/>
                    <a:gd name="T9" fmla="*/ 47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58">
                      <a:moveTo>
                        <a:pt x="4" y="47"/>
                      </a:moveTo>
                      <a:lnTo>
                        <a:pt x="44" y="0"/>
                      </a:lnTo>
                      <a:lnTo>
                        <a:pt x="35" y="18"/>
                      </a:lnTo>
                      <a:lnTo>
                        <a:pt x="0" y="57"/>
                      </a:lnTo>
                      <a:lnTo>
                        <a:pt x="4" y="47"/>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66" name="Freeform 91"/>
                <p:cNvSpPr>
                  <a:spLocks/>
                </p:cNvSpPr>
                <p:nvPr/>
              </p:nvSpPr>
              <p:spPr bwMode="auto">
                <a:xfrm>
                  <a:off x="2586" y="3117"/>
                  <a:ext cx="41" cy="103"/>
                </a:xfrm>
                <a:custGeom>
                  <a:avLst/>
                  <a:gdLst>
                    <a:gd name="T0" fmla="*/ 0 w 41"/>
                    <a:gd name="T1" fmla="*/ 102 h 103"/>
                    <a:gd name="T2" fmla="*/ 40 w 41"/>
                    <a:gd name="T3" fmla="*/ 47 h 103"/>
                    <a:gd name="T4" fmla="*/ 38 w 41"/>
                    <a:gd name="T5" fmla="*/ 0 h 103"/>
                    <a:gd name="T6" fmla="*/ 29 w 41"/>
                    <a:gd name="T7" fmla="*/ 20 h 103"/>
                    <a:gd name="T8" fmla="*/ 28 w 41"/>
                    <a:gd name="T9" fmla="*/ 27 h 103"/>
                    <a:gd name="T10" fmla="*/ 24 w 41"/>
                    <a:gd name="T11" fmla="*/ 23 h 103"/>
                    <a:gd name="T12" fmla="*/ 16 w 41"/>
                    <a:gd name="T13" fmla="*/ 49 h 103"/>
                    <a:gd name="T14" fmla="*/ 14 w 41"/>
                    <a:gd name="T15" fmla="*/ 45 h 103"/>
                    <a:gd name="T16" fmla="*/ 3 w 41"/>
                    <a:gd name="T17" fmla="*/ 71 h 103"/>
                    <a:gd name="T18" fmla="*/ 0 w 41"/>
                    <a:gd name="T19" fmla="*/ 102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103">
                      <a:moveTo>
                        <a:pt x="0" y="102"/>
                      </a:moveTo>
                      <a:lnTo>
                        <a:pt x="40" y="47"/>
                      </a:lnTo>
                      <a:lnTo>
                        <a:pt x="38" y="0"/>
                      </a:lnTo>
                      <a:lnTo>
                        <a:pt x="29" y="20"/>
                      </a:lnTo>
                      <a:lnTo>
                        <a:pt x="28" y="27"/>
                      </a:lnTo>
                      <a:lnTo>
                        <a:pt x="24" y="23"/>
                      </a:lnTo>
                      <a:lnTo>
                        <a:pt x="16" y="49"/>
                      </a:lnTo>
                      <a:lnTo>
                        <a:pt x="14" y="45"/>
                      </a:lnTo>
                      <a:lnTo>
                        <a:pt x="3" y="71"/>
                      </a:lnTo>
                      <a:lnTo>
                        <a:pt x="0" y="10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1061" name="Freeform 92"/>
              <p:cNvSpPr>
                <a:spLocks/>
              </p:cNvSpPr>
              <p:nvPr/>
            </p:nvSpPr>
            <p:spPr bwMode="auto">
              <a:xfrm>
                <a:off x="2573" y="3214"/>
                <a:ext cx="31" cy="34"/>
              </a:xfrm>
              <a:custGeom>
                <a:avLst/>
                <a:gdLst>
                  <a:gd name="T0" fmla="*/ 13 w 31"/>
                  <a:gd name="T1" fmla="*/ 0 h 34"/>
                  <a:gd name="T2" fmla="*/ 13 w 31"/>
                  <a:gd name="T3" fmla="*/ 3 h 34"/>
                  <a:gd name="T4" fmla="*/ 13 w 31"/>
                  <a:gd name="T5" fmla="*/ 5 h 34"/>
                  <a:gd name="T6" fmla="*/ 13 w 31"/>
                  <a:gd name="T7" fmla="*/ 8 h 34"/>
                  <a:gd name="T8" fmla="*/ 14 w 31"/>
                  <a:gd name="T9" fmla="*/ 10 h 34"/>
                  <a:gd name="T10" fmla="*/ 15 w 31"/>
                  <a:gd name="T11" fmla="*/ 12 h 34"/>
                  <a:gd name="T12" fmla="*/ 17 w 31"/>
                  <a:gd name="T13" fmla="*/ 14 h 34"/>
                  <a:gd name="T14" fmla="*/ 19 w 31"/>
                  <a:gd name="T15" fmla="*/ 16 h 34"/>
                  <a:gd name="T16" fmla="*/ 22 w 31"/>
                  <a:gd name="T17" fmla="*/ 17 h 34"/>
                  <a:gd name="T18" fmla="*/ 25 w 31"/>
                  <a:gd name="T19" fmla="*/ 17 h 34"/>
                  <a:gd name="T20" fmla="*/ 27 w 31"/>
                  <a:gd name="T21" fmla="*/ 17 h 34"/>
                  <a:gd name="T22" fmla="*/ 30 w 31"/>
                  <a:gd name="T23" fmla="*/ 17 h 34"/>
                  <a:gd name="T24" fmla="*/ 13 w 31"/>
                  <a:gd name="T25" fmla="*/ 32 h 34"/>
                  <a:gd name="T26" fmla="*/ 10 w 31"/>
                  <a:gd name="T27" fmla="*/ 33 h 34"/>
                  <a:gd name="T28" fmla="*/ 8 w 31"/>
                  <a:gd name="T29" fmla="*/ 33 h 34"/>
                  <a:gd name="T30" fmla="*/ 6 w 31"/>
                  <a:gd name="T31" fmla="*/ 32 h 34"/>
                  <a:gd name="T32" fmla="*/ 5 w 31"/>
                  <a:gd name="T33" fmla="*/ 31 h 34"/>
                  <a:gd name="T34" fmla="*/ 2 w 31"/>
                  <a:gd name="T35" fmla="*/ 30 h 34"/>
                  <a:gd name="T36" fmla="*/ 1 w 31"/>
                  <a:gd name="T37" fmla="*/ 27 h 34"/>
                  <a:gd name="T38" fmla="*/ 0 w 31"/>
                  <a:gd name="T39" fmla="*/ 25 h 34"/>
                  <a:gd name="T40" fmla="*/ 0 w 31"/>
                  <a:gd name="T41" fmla="*/ 22 h 34"/>
                  <a:gd name="T42" fmla="*/ 0 w 31"/>
                  <a:gd name="T43" fmla="*/ 20 h 34"/>
                  <a:gd name="T44" fmla="*/ 0 w 31"/>
                  <a:gd name="T45" fmla="*/ 18 h 34"/>
                  <a:gd name="T46" fmla="*/ 13 w 31"/>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34">
                    <a:moveTo>
                      <a:pt x="13" y="0"/>
                    </a:moveTo>
                    <a:lnTo>
                      <a:pt x="13" y="3"/>
                    </a:lnTo>
                    <a:lnTo>
                      <a:pt x="13" y="5"/>
                    </a:lnTo>
                    <a:lnTo>
                      <a:pt x="13" y="8"/>
                    </a:lnTo>
                    <a:lnTo>
                      <a:pt x="14" y="10"/>
                    </a:lnTo>
                    <a:lnTo>
                      <a:pt x="15" y="12"/>
                    </a:lnTo>
                    <a:lnTo>
                      <a:pt x="17" y="14"/>
                    </a:lnTo>
                    <a:lnTo>
                      <a:pt x="19" y="16"/>
                    </a:lnTo>
                    <a:lnTo>
                      <a:pt x="22" y="17"/>
                    </a:lnTo>
                    <a:lnTo>
                      <a:pt x="25" y="17"/>
                    </a:lnTo>
                    <a:lnTo>
                      <a:pt x="27" y="17"/>
                    </a:lnTo>
                    <a:lnTo>
                      <a:pt x="30" y="17"/>
                    </a:lnTo>
                    <a:lnTo>
                      <a:pt x="13" y="32"/>
                    </a:lnTo>
                    <a:lnTo>
                      <a:pt x="10" y="33"/>
                    </a:lnTo>
                    <a:lnTo>
                      <a:pt x="8" y="33"/>
                    </a:lnTo>
                    <a:lnTo>
                      <a:pt x="6" y="32"/>
                    </a:lnTo>
                    <a:lnTo>
                      <a:pt x="5" y="31"/>
                    </a:lnTo>
                    <a:lnTo>
                      <a:pt x="2" y="30"/>
                    </a:lnTo>
                    <a:lnTo>
                      <a:pt x="1" y="27"/>
                    </a:lnTo>
                    <a:lnTo>
                      <a:pt x="0" y="25"/>
                    </a:lnTo>
                    <a:lnTo>
                      <a:pt x="0" y="22"/>
                    </a:lnTo>
                    <a:lnTo>
                      <a:pt x="0" y="20"/>
                    </a:lnTo>
                    <a:lnTo>
                      <a:pt x="0" y="18"/>
                    </a:lnTo>
                    <a:lnTo>
                      <a:pt x="13"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62" name="Freeform 93"/>
              <p:cNvSpPr>
                <a:spLocks/>
              </p:cNvSpPr>
              <p:nvPr/>
            </p:nvSpPr>
            <p:spPr bwMode="auto">
              <a:xfrm>
                <a:off x="2576" y="3223"/>
                <a:ext cx="19" cy="21"/>
              </a:xfrm>
              <a:custGeom>
                <a:avLst/>
                <a:gdLst>
                  <a:gd name="T0" fmla="*/ 4 w 19"/>
                  <a:gd name="T1" fmla="*/ 0 h 21"/>
                  <a:gd name="T2" fmla="*/ 3 w 19"/>
                  <a:gd name="T3" fmla="*/ 2 h 21"/>
                  <a:gd name="T4" fmla="*/ 3 w 19"/>
                  <a:gd name="T5" fmla="*/ 4 h 21"/>
                  <a:gd name="T6" fmla="*/ 3 w 19"/>
                  <a:gd name="T7" fmla="*/ 6 h 21"/>
                  <a:gd name="T8" fmla="*/ 3 w 19"/>
                  <a:gd name="T9" fmla="*/ 8 h 21"/>
                  <a:gd name="T10" fmla="*/ 3 w 19"/>
                  <a:gd name="T11" fmla="*/ 11 h 21"/>
                  <a:gd name="T12" fmla="*/ 4 w 19"/>
                  <a:gd name="T13" fmla="*/ 13 h 21"/>
                  <a:gd name="T14" fmla="*/ 5 w 19"/>
                  <a:gd name="T15" fmla="*/ 15 h 21"/>
                  <a:gd name="T16" fmla="*/ 8 w 19"/>
                  <a:gd name="T17" fmla="*/ 16 h 21"/>
                  <a:gd name="T18" fmla="*/ 11 w 19"/>
                  <a:gd name="T19" fmla="*/ 17 h 21"/>
                  <a:gd name="T20" fmla="*/ 14 w 19"/>
                  <a:gd name="T21" fmla="*/ 16 h 21"/>
                  <a:gd name="T22" fmla="*/ 18 w 19"/>
                  <a:gd name="T23" fmla="*/ 16 h 21"/>
                  <a:gd name="T24" fmla="*/ 13 w 19"/>
                  <a:gd name="T25" fmla="*/ 19 h 21"/>
                  <a:gd name="T26" fmla="*/ 12 w 19"/>
                  <a:gd name="T27" fmla="*/ 20 h 21"/>
                  <a:gd name="T28" fmla="*/ 9 w 19"/>
                  <a:gd name="T29" fmla="*/ 20 h 21"/>
                  <a:gd name="T30" fmla="*/ 6 w 19"/>
                  <a:gd name="T31" fmla="*/ 19 h 21"/>
                  <a:gd name="T32" fmla="*/ 4 w 19"/>
                  <a:gd name="T33" fmla="*/ 18 h 21"/>
                  <a:gd name="T34" fmla="*/ 3 w 19"/>
                  <a:gd name="T35" fmla="*/ 17 h 21"/>
                  <a:gd name="T36" fmla="*/ 1 w 19"/>
                  <a:gd name="T37" fmla="*/ 15 h 21"/>
                  <a:gd name="T38" fmla="*/ 0 w 19"/>
                  <a:gd name="T39" fmla="*/ 13 h 21"/>
                  <a:gd name="T40" fmla="*/ 0 w 19"/>
                  <a:gd name="T41" fmla="*/ 10 h 21"/>
                  <a:gd name="T42" fmla="*/ 0 w 19"/>
                  <a:gd name="T43" fmla="*/ 8 h 21"/>
                  <a:gd name="T44" fmla="*/ 0 w 19"/>
                  <a:gd name="T45" fmla="*/ 5 h 21"/>
                  <a:gd name="T46" fmla="*/ 4 w 19"/>
                  <a:gd name="T47" fmla="*/ 0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9" h="21">
                    <a:moveTo>
                      <a:pt x="4" y="0"/>
                    </a:moveTo>
                    <a:lnTo>
                      <a:pt x="3" y="2"/>
                    </a:lnTo>
                    <a:lnTo>
                      <a:pt x="3" y="4"/>
                    </a:lnTo>
                    <a:lnTo>
                      <a:pt x="3" y="6"/>
                    </a:lnTo>
                    <a:lnTo>
                      <a:pt x="3" y="8"/>
                    </a:lnTo>
                    <a:lnTo>
                      <a:pt x="3" y="11"/>
                    </a:lnTo>
                    <a:lnTo>
                      <a:pt x="4" y="13"/>
                    </a:lnTo>
                    <a:lnTo>
                      <a:pt x="5" y="15"/>
                    </a:lnTo>
                    <a:lnTo>
                      <a:pt x="8" y="16"/>
                    </a:lnTo>
                    <a:lnTo>
                      <a:pt x="11" y="17"/>
                    </a:lnTo>
                    <a:lnTo>
                      <a:pt x="14" y="16"/>
                    </a:lnTo>
                    <a:lnTo>
                      <a:pt x="18" y="16"/>
                    </a:lnTo>
                    <a:lnTo>
                      <a:pt x="13" y="19"/>
                    </a:lnTo>
                    <a:lnTo>
                      <a:pt x="12" y="20"/>
                    </a:lnTo>
                    <a:lnTo>
                      <a:pt x="9" y="20"/>
                    </a:lnTo>
                    <a:lnTo>
                      <a:pt x="6" y="19"/>
                    </a:lnTo>
                    <a:lnTo>
                      <a:pt x="4" y="18"/>
                    </a:lnTo>
                    <a:lnTo>
                      <a:pt x="3" y="17"/>
                    </a:lnTo>
                    <a:lnTo>
                      <a:pt x="1" y="15"/>
                    </a:lnTo>
                    <a:lnTo>
                      <a:pt x="0" y="13"/>
                    </a:lnTo>
                    <a:lnTo>
                      <a:pt x="0" y="10"/>
                    </a:lnTo>
                    <a:lnTo>
                      <a:pt x="0" y="8"/>
                    </a:lnTo>
                    <a:lnTo>
                      <a:pt x="0" y="5"/>
                    </a:lnTo>
                    <a:lnTo>
                      <a:pt x="4"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63" name="Freeform 94"/>
              <p:cNvSpPr>
                <a:spLocks/>
              </p:cNvSpPr>
              <p:nvPr/>
            </p:nvSpPr>
            <p:spPr bwMode="auto">
              <a:xfrm>
                <a:off x="2538" y="3271"/>
                <a:ext cx="17" cy="17"/>
              </a:xfrm>
              <a:custGeom>
                <a:avLst/>
                <a:gdLst>
                  <a:gd name="T0" fmla="*/ 8 w 17"/>
                  <a:gd name="T1" fmla="*/ 0 h 17"/>
                  <a:gd name="T2" fmla="*/ 0 w 17"/>
                  <a:gd name="T3" fmla="*/ 9 h 17"/>
                  <a:gd name="T4" fmla="*/ 0 w 17"/>
                  <a:gd name="T5" fmla="*/ 11 h 17"/>
                  <a:gd name="T6" fmla="*/ 0 w 17"/>
                  <a:gd name="T7" fmla="*/ 12 h 17"/>
                  <a:gd name="T8" fmla="*/ 0 w 17"/>
                  <a:gd name="T9" fmla="*/ 14 h 17"/>
                  <a:gd name="T10" fmla="*/ 2 w 17"/>
                  <a:gd name="T11" fmla="*/ 15 h 17"/>
                  <a:gd name="T12" fmla="*/ 3 w 17"/>
                  <a:gd name="T13" fmla="*/ 16 h 17"/>
                  <a:gd name="T14" fmla="*/ 5 w 17"/>
                  <a:gd name="T15" fmla="*/ 15 h 17"/>
                  <a:gd name="T16" fmla="*/ 16 w 17"/>
                  <a:gd name="T17" fmla="*/ 7 h 17"/>
                  <a:gd name="T18" fmla="*/ 13 w 17"/>
                  <a:gd name="T19" fmla="*/ 6 h 17"/>
                  <a:gd name="T20" fmla="*/ 11 w 17"/>
                  <a:gd name="T21" fmla="*/ 6 h 17"/>
                  <a:gd name="T22" fmla="*/ 10 w 17"/>
                  <a:gd name="T23" fmla="*/ 4 h 17"/>
                  <a:gd name="T24" fmla="*/ 9 w 17"/>
                  <a:gd name="T25" fmla="*/ 3 h 17"/>
                  <a:gd name="T26" fmla="*/ 8 w 17"/>
                  <a:gd name="T27" fmla="*/ 1 h 17"/>
                  <a:gd name="T28" fmla="*/ 8 w 1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 h="17">
                    <a:moveTo>
                      <a:pt x="8" y="0"/>
                    </a:moveTo>
                    <a:lnTo>
                      <a:pt x="0" y="9"/>
                    </a:lnTo>
                    <a:lnTo>
                      <a:pt x="0" y="11"/>
                    </a:lnTo>
                    <a:lnTo>
                      <a:pt x="0" y="12"/>
                    </a:lnTo>
                    <a:lnTo>
                      <a:pt x="0" y="14"/>
                    </a:lnTo>
                    <a:lnTo>
                      <a:pt x="2" y="15"/>
                    </a:lnTo>
                    <a:lnTo>
                      <a:pt x="3" y="16"/>
                    </a:lnTo>
                    <a:lnTo>
                      <a:pt x="5" y="15"/>
                    </a:lnTo>
                    <a:lnTo>
                      <a:pt x="16" y="7"/>
                    </a:lnTo>
                    <a:lnTo>
                      <a:pt x="13" y="6"/>
                    </a:lnTo>
                    <a:lnTo>
                      <a:pt x="11" y="6"/>
                    </a:lnTo>
                    <a:lnTo>
                      <a:pt x="10" y="4"/>
                    </a:lnTo>
                    <a:lnTo>
                      <a:pt x="9" y="3"/>
                    </a:lnTo>
                    <a:lnTo>
                      <a:pt x="8" y="1"/>
                    </a:lnTo>
                    <a:lnTo>
                      <a:pt x="8"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0" name="Group 95"/>
            <p:cNvGrpSpPr>
              <a:grpSpLocks/>
            </p:cNvGrpSpPr>
            <p:nvPr/>
          </p:nvGrpSpPr>
          <p:grpSpPr bwMode="auto">
            <a:xfrm>
              <a:off x="647" y="1480"/>
              <a:ext cx="207" cy="106"/>
              <a:chOff x="2515" y="3428"/>
              <a:chExt cx="191" cy="106"/>
            </a:xfrm>
          </p:grpSpPr>
          <p:grpSp>
            <p:nvGrpSpPr>
              <p:cNvPr id="21" name="Group 96"/>
              <p:cNvGrpSpPr>
                <a:grpSpLocks/>
              </p:cNvGrpSpPr>
              <p:nvPr/>
            </p:nvGrpSpPr>
            <p:grpSpPr bwMode="auto">
              <a:xfrm>
                <a:off x="2515" y="3428"/>
                <a:ext cx="191" cy="106"/>
                <a:chOff x="2515" y="3428"/>
                <a:chExt cx="191" cy="106"/>
              </a:xfrm>
            </p:grpSpPr>
            <p:grpSp>
              <p:nvGrpSpPr>
                <p:cNvPr id="22" name="Group 97"/>
                <p:cNvGrpSpPr>
                  <a:grpSpLocks/>
                </p:cNvGrpSpPr>
                <p:nvPr/>
              </p:nvGrpSpPr>
              <p:grpSpPr bwMode="auto">
                <a:xfrm>
                  <a:off x="2515" y="3458"/>
                  <a:ext cx="187" cy="76"/>
                  <a:chOff x="2515" y="3458"/>
                  <a:chExt cx="187" cy="76"/>
                </a:xfrm>
              </p:grpSpPr>
              <p:grpSp>
                <p:nvGrpSpPr>
                  <p:cNvPr id="23" name="Group 98"/>
                  <p:cNvGrpSpPr>
                    <a:grpSpLocks/>
                  </p:cNvGrpSpPr>
                  <p:nvPr/>
                </p:nvGrpSpPr>
                <p:grpSpPr bwMode="auto">
                  <a:xfrm>
                    <a:off x="2515" y="3502"/>
                    <a:ext cx="25" cy="32"/>
                    <a:chOff x="2515" y="3502"/>
                    <a:chExt cx="25" cy="32"/>
                  </a:xfrm>
                </p:grpSpPr>
                <p:sp>
                  <p:nvSpPr>
                    <p:cNvPr id="291049" name="Freeform 99"/>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0" name="Freeform 100"/>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51" name="Freeform 101"/>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1043" name="Freeform 102"/>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44" name="Freeform 103"/>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45" name="Freeform 104"/>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46" name="Freeform 105"/>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47" name="Freeform 106"/>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48" name="Freeform 107"/>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4" name="Group 108"/>
                <p:cNvGrpSpPr>
                  <a:grpSpLocks/>
                </p:cNvGrpSpPr>
                <p:nvPr/>
              </p:nvGrpSpPr>
              <p:grpSpPr bwMode="auto">
                <a:xfrm>
                  <a:off x="2597" y="3428"/>
                  <a:ext cx="109" cy="96"/>
                  <a:chOff x="2597" y="3428"/>
                  <a:chExt cx="109" cy="96"/>
                </a:xfrm>
              </p:grpSpPr>
              <p:sp>
                <p:nvSpPr>
                  <p:cNvPr id="291039" name="Freeform 109"/>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40" name="Freeform 110"/>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41" name="Freeform 111"/>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1035" name="Freeform 112"/>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36" name="Freeform 113"/>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5" name="Group 114"/>
            <p:cNvGrpSpPr>
              <a:grpSpLocks/>
            </p:cNvGrpSpPr>
            <p:nvPr/>
          </p:nvGrpSpPr>
          <p:grpSpPr bwMode="auto">
            <a:xfrm>
              <a:off x="807" y="1281"/>
              <a:ext cx="207" cy="106"/>
              <a:chOff x="2663" y="3383"/>
              <a:chExt cx="191" cy="106"/>
            </a:xfrm>
          </p:grpSpPr>
          <p:grpSp>
            <p:nvGrpSpPr>
              <p:cNvPr id="26" name="Group 115"/>
              <p:cNvGrpSpPr>
                <a:grpSpLocks/>
              </p:cNvGrpSpPr>
              <p:nvPr/>
            </p:nvGrpSpPr>
            <p:grpSpPr bwMode="auto">
              <a:xfrm>
                <a:off x="2663" y="3383"/>
                <a:ext cx="191" cy="106"/>
                <a:chOff x="2663" y="3383"/>
                <a:chExt cx="191" cy="106"/>
              </a:xfrm>
            </p:grpSpPr>
            <p:grpSp>
              <p:nvGrpSpPr>
                <p:cNvPr id="27" name="Group 116"/>
                <p:cNvGrpSpPr>
                  <a:grpSpLocks/>
                </p:cNvGrpSpPr>
                <p:nvPr/>
              </p:nvGrpSpPr>
              <p:grpSpPr bwMode="auto">
                <a:xfrm>
                  <a:off x="2663" y="3413"/>
                  <a:ext cx="187" cy="76"/>
                  <a:chOff x="2663" y="3413"/>
                  <a:chExt cx="187" cy="76"/>
                </a:xfrm>
              </p:grpSpPr>
              <p:grpSp>
                <p:nvGrpSpPr>
                  <p:cNvPr id="28" name="Group 117"/>
                  <p:cNvGrpSpPr>
                    <a:grpSpLocks/>
                  </p:cNvGrpSpPr>
                  <p:nvPr/>
                </p:nvGrpSpPr>
                <p:grpSpPr bwMode="auto">
                  <a:xfrm>
                    <a:off x="2663" y="3457"/>
                    <a:ext cx="25" cy="32"/>
                    <a:chOff x="2663" y="3457"/>
                    <a:chExt cx="25" cy="32"/>
                  </a:xfrm>
                </p:grpSpPr>
                <p:sp>
                  <p:nvSpPr>
                    <p:cNvPr id="291031" name="Freeform 118"/>
                    <p:cNvSpPr>
                      <a:spLocks/>
                    </p:cNvSpPr>
                    <p:nvPr/>
                  </p:nvSpPr>
                  <p:spPr bwMode="auto">
                    <a:xfrm>
                      <a:off x="2671" y="345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32" name="Freeform 119"/>
                    <p:cNvSpPr>
                      <a:spLocks/>
                    </p:cNvSpPr>
                    <p:nvPr/>
                  </p:nvSpPr>
                  <p:spPr bwMode="auto">
                    <a:xfrm>
                      <a:off x="2663" y="345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33" name="Freeform 120"/>
                    <p:cNvSpPr>
                      <a:spLocks/>
                    </p:cNvSpPr>
                    <p:nvPr/>
                  </p:nvSpPr>
                  <p:spPr bwMode="auto">
                    <a:xfrm>
                      <a:off x="2663" y="347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1025" name="Freeform 121"/>
                  <p:cNvSpPr>
                    <a:spLocks/>
                  </p:cNvSpPr>
                  <p:nvPr/>
                </p:nvSpPr>
                <p:spPr bwMode="auto">
                  <a:xfrm>
                    <a:off x="2669" y="341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26" name="Freeform 122"/>
                  <p:cNvSpPr>
                    <a:spLocks/>
                  </p:cNvSpPr>
                  <p:nvPr/>
                </p:nvSpPr>
                <p:spPr bwMode="auto">
                  <a:xfrm>
                    <a:off x="2801" y="341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27" name="Freeform 123"/>
                  <p:cNvSpPr>
                    <a:spLocks/>
                  </p:cNvSpPr>
                  <p:nvPr/>
                </p:nvSpPr>
                <p:spPr bwMode="auto">
                  <a:xfrm>
                    <a:off x="2797" y="341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28" name="Freeform 124"/>
                  <p:cNvSpPr>
                    <a:spLocks/>
                  </p:cNvSpPr>
                  <p:nvPr/>
                </p:nvSpPr>
                <p:spPr bwMode="auto">
                  <a:xfrm>
                    <a:off x="2824" y="342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29" name="Freeform 125"/>
                  <p:cNvSpPr>
                    <a:spLocks/>
                  </p:cNvSpPr>
                  <p:nvPr/>
                </p:nvSpPr>
                <p:spPr bwMode="auto">
                  <a:xfrm>
                    <a:off x="2825" y="341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30" name="Freeform 126"/>
                  <p:cNvSpPr>
                    <a:spLocks/>
                  </p:cNvSpPr>
                  <p:nvPr/>
                </p:nvSpPr>
                <p:spPr bwMode="auto">
                  <a:xfrm>
                    <a:off x="2669" y="346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 name="Group 127"/>
                <p:cNvGrpSpPr>
                  <a:grpSpLocks/>
                </p:cNvGrpSpPr>
                <p:nvPr/>
              </p:nvGrpSpPr>
              <p:grpSpPr bwMode="auto">
                <a:xfrm>
                  <a:off x="2745" y="3383"/>
                  <a:ext cx="109" cy="96"/>
                  <a:chOff x="2745" y="3383"/>
                  <a:chExt cx="109" cy="96"/>
                </a:xfrm>
              </p:grpSpPr>
              <p:sp>
                <p:nvSpPr>
                  <p:cNvPr id="291021" name="Freeform 128"/>
                  <p:cNvSpPr>
                    <a:spLocks/>
                  </p:cNvSpPr>
                  <p:nvPr/>
                </p:nvSpPr>
                <p:spPr bwMode="auto">
                  <a:xfrm>
                    <a:off x="2746" y="345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22" name="Freeform 129"/>
                  <p:cNvSpPr>
                    <a:spLocks/>
                  </p:cNvSpPr>
                  <p:nvPr/>
                </p:nvSpPr>
                <p:spPr bwMode="auto">
                  <a:xfrm>
                    <a:off x="2747" y="342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23" name="Freeform 130"/>
                  <p:cNvSpPr>
                    <a:spLocks/>
                  </p:cNvSpPr>
                  <p:nvPr/>
                </p:nvSpPr>
                <p:spPr bwMode="auto">
                  <a:xfrm>
                    <a:off x="2745" y="338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1017" name="Freeform 131"/>
              <p:cNvSpPr>
                <a:spLocks/>
              </p:cNvSpPr>
              <p:nvPr/>
            </p:nvSpPr>
            <p:spPr bwMode="auto">
              <a:xfrm>
                <a:off x="2722" y="344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18" name="Freeform 132"/>
              <p:cNvSpPr>
                <a:spLocks/>
              </p:cNvSpPr>
              <p:nvPr/>
            </p:nvSpPr>
            <p:spPr bwMode="auto">
              <a:xfrm>
                <a:off x="2728" y="344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30" name="Group 133"/>
            <p:cNvGrpSpPr>
              <a:grpSpLocks/>
            </p:cNvGrpSpPr>
            <p:nvPr/>
          </p:nvGrpSpPr>
          <p:grpSpPr bwMode="auto">
            <a:xfrm>
              <a:off x="364" y="1211"/>
              <a:ext cx="207" cy="106"/>
              <a:chOff x="2458" y="3313"/>
              <a:chExt cx="191" cy="106"/>
            </a:xfrm>
          </p:grpSpPr>
          <p:grpSp>
            <p:nvGrpSpPr>
              <p:cNvPr id="31" name="Group 134"/>
              <p:cNvGrpSpPr>
                <a:grpSpLocks/>
              </p:cNvGrpSpPr>
              <p:nvPr/>
            </p:nvGrpSpPr>
            <p:grpSpPr bwMode="auto">
              <a:xfrm>
                <a:off x="2458" y="3313"/>
                <a:ext cx="191" cy="106"/>
                <a:chOff x="2458" y="3313"/>
                <a:chExt cx="191" cy="106"/>
              </a:xfrm>
            </p:grpSpPr>
            <p:grpSp>
              <p:nvGrpSpPr>
                <p:cNvPr id="290816" name="Group 135"/>
                <p:cNvGrpSpPr>
                  <a:grpSpLocks/>
                </p:cNvGrpSpPr>
                <p:nvPr/>
              </p:nvGrpSpPr>
              <p:grpSpPr bwMode="auto">
                <a:xfrm>
                  <a:off x="2458" y="3343"/>
                  <a:ext cx="187" cy="76"/>
                  <a:chOff x="2458" y="3343"/>
                  <a:chExt cx="187" cy="76"/>
                </a:xfrm>
              </p:grpSpPr>
              <p:grpSp>
                <p:nvGrpSpPr>
                  <p:cNvPr id="290817" name="Group 136"/>
                  <p:cNvGrpSpPr>
                    <a:grpSpLocks/>
                  </p:cNvGrpSpPr>
                  <p:nvPr/>
                </p:nvGrpSpPr>
                <p:grpSpPr bwMode="auto">
                  <a:xfrm>
                    <a:off x="2458" y="3387"/>
                    <a:ext cx="25" cy="32"/>
                    <a:chOff x="2458" y="3387"/>
                    <a:chExt cx="25" cy="32"/>
                  </a:xfrm>
                </p:grpSpPr>
                <p:sp>
                  <p:nvSpPr>
                    <p:cNvPr id="291013" name="Freeform 137"/>
                    <p:cNvSpPr>
                      <a:spLocks/>
                    </p:cNvSpPr>
                    <p:nvPr/>
                  </p:nvSpPr>
                  <p:spPr bwMode="auto">
                    <a:xfrm>
                      <a:off x="2466" y="338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14" name="Freeform 138"/>
                    <p:cNvSpPr>
                      <a:spLocks/>
                    </p:cNvSpPr>
                    <p:nvPr/>
                  </p:nvSpPr>
                  <p:spPr bwMode="auto">
                    <a:xfrm>
                      <a:off x="2458" y="338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15" name="Freeform 139"/>
                    <p:cNvSpPr>
                      <a:spLocks/>
                    </p:cNvSpPr>
                    <p:nvPr/>
                  </p:nvSpPr>
                  <p:spPr bwMode="auto">
                    <a:xfrm>
                      <a:off x="2458" y="340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1007" name="Freeform 140"/>
                  <p:cNvSpPr>
                    <a:spLocks/>
                  </p:cNvSpPr>
                  <p:nvPr/>
                </p:nvSpPr>
                <p:spPr bwMode="auto">
                  <a:xfrm>
                    <a:off x="2464" y="334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08" name="Freeform 141"/>
                  <p:cNvSpPr>
                    <a:spLocks/>
                  </p:cNvSpPr>
                  <p:nvPr/>
                </p:nvSpPr>
                <p:spPr bwMode="auto">
                  <a:xfrm>
                    <a:off x="2596" y="334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09" name="Freeform 142"/>
                  <p:cNvSpPr>
                    <a:spLocks/>
                  </p:cNvSpPr>
                  <p:nvPr/>
                </p:nvSpPr>
                <p:spPr bwMode="auto">
                  <a:xfrm>
                    <a:off x="2592" y="334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10" name="Freeform 143"/>
                  <p:cNvSpPr>
                    <a:spLocks/>
                  </p:cNvSpPr>
                  <p:nvPr/>
                </p:nvSpPr>
                <p:spPr bwMode="auto">
                  <a:xfrm>
                    <a:off x="2619" y="335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11" name="Freeform 144"/>
                  <p:cNvSpPr>
                    <a:spLocks/>
                  </p:cNvSpPr>
                  <p:nvPr/>
                </p:nvSpPr>
                <p:spPr bwMode="auto">
                  <a:xfrm>
                    <a:off x="2620" y="334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12" name="Freeform 145"/>
                  <p:cNvSpPr>
                    <a:spLocks/>
                  </p:cNvSpPr>
                  <p:nvPr/>
                </p:nvSpPr>
                <p:spPr bwMode="auto">
                  <a:xfrm>
                    <a:off x="2464" y="339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821" name="Group 146"/>
                <p:cNvGrpSpPr>
                  <a:grpSpLocks/>
                </p:cNvGrpSpPr>
                <p:nvPr/>
              </p:nvGrpSpPr>
              <p:grpSpPr bwMode="auto">
                <a:xfrm>
                  <a:off x="2540" y="3313"/>
                  <a:ext cx="109" cy="96"/>
                  <a:chOff x="2540" y="3313"/>
                  <a:chExt cx="109" cy="96"/>
                </a:xfrm>
              </p:grpSpPr>
              <p:sp>
                <p:nvSpPr>
                  <p:cNvPr id="291003" name="Freeform 147"/>
                  <p:cNvSpPr>
                    <a:spLocks/>
                  </p:cNvSpPr>
                  <p:nvPr/>
                </p:nvSpPr>
                <p:spPr bwMode="auto">
                  <a:xfrm>
                    <a:off x="2541" y="338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04" name="Freeform 148"/>
                  <p:cNvSpPr>
                    <a:spLocks/>
                  </p:cNvSpPr>
                  <p:nvPr/>
                </p:nvSpPr>
                <p:spPr bwMode="auto">
                  <a:xfrm>
                    <a:off x="2542" y="335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05" name="Freeform 149"/>
                  <p:cNvSpPr>
                    <a:spLocks/>
                  </p:cNvSpPr>
                  <p:nvPr/>
                </p:nvSpPr>
                <p:spPr bwMode="auto">
                  <a:xfrm>
                    <a:off x="2540" y="331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0999" name="Freeform 150"/>
              <p:cNvSpPr>
                <a:spLocks/>
              </p:cNvSpPr>
              <p:nvPr/>
            </p:nvSpPr>
            <p:spPr bwMode="auto">
              <a:xfrm>
                <a:off x="2517" y="337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000" name="Freeform 151"/>
              <p:cNvSpPr>
                <a:spLocks/>
              </p:cNvSpPr>
              <p:nvPr/>
            </p:nvSpPr>
            <p:spPr bwMode="auto">
              <a:xfrm>
                <a:off x="2523" y="337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823" name="Group 152"/>
            <p:cNvGrpSpPr>
              <a:grpSpLocks/>
            </p:cNvGrpSpPr>
            <p:nvPr/>
          </p:nvGrpSpPr>
          <p:grpSpPr bwMode="auto">
            <a:xfrm>
              <a:off x="647" y="1250"/>
              <a:ext cx="207" cy="106"/>
              <a:chOff x="2515" y="3428"/>
              <a:chExt cx="191" cy="106"/>
            </a:xfrm>
          </p:grpSpPr>
          <p:grpSp>
            <p:nvGrpSpPr>
              <p:cNvPr id="290824" name="Group 153"/>
              <p:cNvGrpSpPr>
                <a:grpSpLocks/>
              </p:cNvGrpSpPr>
              <p:nvPr/>
            </p:nvGrpSpPr>
            <p:grpSpPr bwMode="auto">
              <a:xfrm>
                <a:off x="2515" y="3428"/>
                <a:ext cx="191" cy="106"/>
                <a:chOff x="2515" y="3428"/>
                <a:chExt cx="191" cy="106"/>
              </a:xfrm>
            </p:grpSpPr>
            <p:grpSp>
              <p:nvGrpSpPr>
                <p:cNvPr id="290825" name="Group 154"/>
                <p:cNvGrpSpPr>
                  <a:grpSpLocks/>
                </p:cNvGrpSpPr>
                <p:nvPr/>
              </p:nvGrpSpPr>
              <p:grpSpPr bwMode="auto">
                <a:xfrm>
                  <a:off x="2515" y="3458"/>
                  <a:ext cx="187" cy="76"/>
                  <a:chOff x="2515" y="3458"/>
                  <a:chExt cx="187" cy="76"/>
                </a:xfrm>
              </p:grpSpPr>
              <p:grpSp>
                <p:nvGrpSpPr>
                  <p:cNvPr id="290827" name="Group 155"/>
                  <p:cNvGrpSpPr>
                    <a:grpSpLocks/>
                  </p:cNvGrpSpPr>
                  <p:nvPr/>
                </p:nvGrpSpPr>
                <p:grpSpPr bwMode="auto">
                  <a:xfrm>
                    <a:off x="2515" y="3502"/>
                    <a:ext cx="25" cy="32"/>
                    <a:chOff x="2515" y="3502"/>
                    <a:chExt cx="25" cy="32"/>
                  </a:xfrm>
                </p:grpSpPr>
                <p:sp>
                  <p:nvSpPr>
                    <p:cNvPr id="290995" name="Freeform 156"/>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96" name="Freeform 157"/>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97" name="Freeform 158"/>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989" name="Freeform 159"/>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90" name="Freeform 160"/>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91" name="Freeform 161"/>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92" name="Freeform 162"/>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93" name="Freeform 163"/>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94" name="Freeform 164"/>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831" name="Group 165"/>
                <p:cNvGrpSpPr>
                  <a:grpSpLocks/>
                </p:cNvGrpSpPr>
                <p:nvPr/>
              </p:nvGrpSpPr>
              <p:grpSpPr bwMode="auto">
                <a:xfrm>
                  <a:off x="2597" y="3428"/>
                  <a:ext cx="109" cy="96"/>
                  <a:chOff x="2597" y="3428"/>
                  <a:chExt cx="109" cy="96"/>
                </a:xfrm>
              </p:grpSpPr>
              <p:sp>
                <p:nvSpPr>
                  <p:cNvPr id="290985" name="Freeform 166"/>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86" name="Freeform 167"/>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87" name="Freeform 168"/>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0981" name="Freeform 169"/>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82" name="Freeform 170"/>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grpSp>
        <p:nvGrpSpPr>
          <p:cNvPr id="290838" name="Group 171"/>
          <p:cNvGrpSpPr>
            <a:grpSpLocks/>
          </p:cNvGrpSpPr>
          <p:nvPr/>
        </p:nvGrpSpPr>
        <p:grpSpPr bwMode="auto">
          <a:xfrm>
            <a:off x="5448300" y="1689853"/>
            <a:ext cx="3881314" cy="2132848"/>
            <a:chOff x="3276" y="788"/>
            <a:chExt cx="2726" cy="1470"/>
          </a:xfrm>
        </p:grpSpPr>
        <p:sp>
          <p:nvSpPr>
            <p:cNvPr id="290829" name="Rectangle 172"/>
            <p:cNvSpPr>
              <a:spLocks noChangeArrowheads="1"/>
            </p:cNvSpPr>
            <p:nvPr/>
          </p:nvSpPr>
          <p:spPr bwMode="auto">
            <a:xfrm>
              <a:off x="3484" y="840"/>
              <a:ext cx="2236" cy="1418"/>
            </a:xfrm>
            <a:prstGeom prst="rect">
              <a:avLst/>
            </a:prstGeom>
            <a:solidFill>
              <a:srgbClr val="EDFADE"/>
            </a:solidFill>
            <a:ln w="19050">
              <a:solidFill>
                <a:schemeClr val="bg2"/>
              </a:solidFill>
              <a:miter lim="800000"/>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90830" name="Line 173"/>
            <p:cNvSpPr>
              <a:spLocks noChangeShapeType="1"/>
            </p:cNvSpPr>
            <p:nvPr/>
          </p:nvSpPr>
          <p:spPr bwMode="auto">
            <a:xfrm>
              <a:off x="3515" y="2018"/>
              <a:ext cx="2117" cy="0"/>
            </a:xfrm>
            <a:prstGeom prst="line">
              <a:avLst/>
            </a:prstGeom>
            <a:noFill/>
            <a:ln w="12699">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290841" name="Group 174"/>
            <p:cNvGrpSpPr>
              <a:grpSpLocks/>
            </p:cNvGrpSpPr>
            <p:nvPr/>
          </p:nvGrpSpPr>
          <p:grpSpPr bwMode="auto">
            <a:xfrm>
              <a:off x="4223" y="1034"/>
              <a:ext cx="721" cy="977"/>
              <a:chOff x="4227" y="1718"/>
              <a:chExt cx="801" cy="1560"/>
            </a:xfrm>
          </p:grpSpPr>
          <p:sp>
            <p:nvSpPr>
              <p:cNvPr id="290960" name="Freeform 175"/>
              <p:cNvSpPr>
                <a:spLocks/>
              </p:cNvSpPr>
              <p:nvPr/>
            </p:nvSpPr>
            <p:spPr bwMode="auto">
              <a:xfrm>
                <a:off x="4227" y="1718"/>
                <a:ext cx="400" cy="1560"/>
              </a:xfrm>
              <a:custGeom>
                <a:avLst/>
                <a:gdLst>
                  <a:gd name="T0" fmla="*/ 0 w 400"/>
                  <a:gd name="T1" fmla="*/ 1559 h 1560"/>
                  <a:gd name="T2" fmla="*/ 10 w 400"/>
                  <a:gd name="T3" fmla="*/ 1554 h 1560"/>
                  <a:gd name="T4" fmla="*/ 28 w 400"/>
                  <a:gd name="T5" fmla="*/ 1542 h 1560"/>
                  <a:gd name="T6" fmla="*/ 42 w 400"/>
                  <a:gd name="T7" fmla="*/ 1537 h 1560"/>
                  <a:gd name="T8" fmla="*/ 59 w 400"/>
                  <a:gd name="T9" fmla="*/ 1527 h 1560"/>
                  <a:gd name="T10" fmla="*/ 77 w 400"/>
                  <a:gd name="T11" fmla="*/ 1510 h 1560"/>
                  <a:gd name="T12" fmla="*/ 91 w 400"/>
                  <a:gd name="T13" fmla="*/ 1502 h 1560"/>
                  <a:gd name="T14" fmla="*/ 102 w 400"/>
                  <a:gd name="T15" fmla="*/ 1492 h 1560"/>
                  <a:gd name="T16" fmla="*/ 116 w 400"/>
                  <a:gd name="T17" fmla="*/ 1476 h 1560"/>
                  <a:gd name="T18" fmla="*/ 125 w 400"/>
                  <a:gd name="T19" fmla="*/ 1464 h 1560"/>
                  <a:gd name="T20" fmla="*/ 136 w 400"/>
                  <a:gd name="T21" fmla="*/ 1451 h 1560"/>
                  <a:gd name="T22" fmla="*/ 148 w 400"/>
                  <a:gd name="T23" fmla="*/ 1436 h 1560"/>
                  <a:gd name="T24" fmla="*/ 157 w 400"/>
                  <a:gd name="T25" fmla="*/ 1419 h 1560"/>
                  <a:gd name="T26" fmla="*/ 163 w 400"/>
                  <a:gd name="T27" fmla="*/ 1406 h 1560"/>
                  <a:gd name="T28" fmla="*/ 170 w 400"/>
                  <a:gd name="T29" fmla="*/ 1390 h 1560"/>
                  <a:gd name="T30" fmla="*/ 177 w 400"/>
                  <a:gd name="T31" fmla="*/ 1368 h 1560"/>
                  <a:gd name="T32" fmla="*/ 183 w 400"/>
                  <a:gd name="T33" fmla="*/ 1350 h 1560"/>
                  <a:gd name="T34" fmla="*/ 185 w 400"/>
                  <a:gd name="T35" fmla="*/ 1345 h 1560"/>
                  <a:gd name="T36" fmla="*/ 188 w 400"/>
                  <a:gd name="T37" fmla="*/ 1328 h 1560"/>
                  <a:gd name="T38" fmla="*/ 196 w 400"/>
                  <a:gd name="T39" fmla="*/ 1288 h 1560"/>
                  <a:gd name="T40" fmla="*/ 204 w 400"/>
                  <a:gd name="T41" fmla="*/ 1247 h 1560"/>
                  <a:gd name="T42" fmla="*/ 210 w 400"/>
                  <a:gd name="T43" fmla="*/ 1206 h 1560"/>
                  <a:gd name="T44" fmla="*/ 218 w 400"/>
                  <a:gd name="T45" fmla="*/ 1159 h 1560"/>
                  <a:gd name="T46" fmla="*/ 226 w 400"/>
                  <a:gd name="T47" fmla="*/ 1114 h 1560"/>
                  <a:gd name="T48" fmla="*/ 232 w 400"/>
                  <a:gd name="T49" fmla="*/ 1063 h 1560"/>
                  <a:gd name="T50" fmla="*/ 238 w 400"/>
                  <a:gd name="T51" fmla="*/ 1023 h 1560"/>
                  <a:gd name="T52" fmla="*/ 241 w 400"/>
                  <a:gd name="T53" fmla="*/ 994 h 1560"/>
                  <a:gd name="T54" fmla="*/ 253 w 400"/>
                  <a:gd name="T55" fmla="*/ 891 h 1560"/>
                  <a:gd name="T56" fmla="*/ 279 w 400"/>
                  <a:gd name="T57" fmla="*/ 677 h 1560"/>
                  <a:gd name="T58" fmla="*/ 291 w 400"/>
                  <a:gd name="T59" fmla="*/ 569 h 1560"/>
                  <a:gd name="T60" fmla="*/ 295 w 400"/>
                  <a:gd name="T61" fmla="*/ 541 h 1560"/>
                  <a:gd name="T62" fmla="*/ 302 w 400"/>
                  <a:gd name="T63" fmla="*/ 490 h 1560"/>
                  <a:gd name="T64" fmla="*/ 308 w 400"/>
                  <a:gd name="T65" fmla="*/ 444 h 1560"/>
                  <a:gd name="T66" fmla="*/ 313 w 400"/>
                  <a:gd name="T67" fmla="*/ 395 h 1560"/>
                  <a:gd name="T68" fmla="*/ 320 w 400"/>
                  <a:gd name="T69" fmla="*/ 346 h 1560"/>
                  <a:gd name="T70" fmla="*/ 326 w 400"/>
                  <a:gd name="T71" fmla="*/ 304 h 1560"/>
                  <a:gd name="T72" fmla="*/ 330 w 400"/>
                  <a:gd name="T73" fmla="*/ 265 h 1560"/>
                  <a:gd name="T74" fmla="*/ 336 w 400"/>
                  <a:gd name="T75" fmla="*/ 230 h 1560"/>
                  <a:gd name="T76" fmla="*/ 338 w 400"/>
                  <a:gd name="T77" fmla="*/ 213 h 1560"/>
                  <a:gd name="T78" fmla="*/ 340 w 400"/>
                  <a:gd name="T79" fmla="*/ 198 h 1560"/>
                  <a:gd name="T80" fmla="*/ 345 w 400"/>
                  <a:gd name="T81" fmla="*/ 164 h 1560"/>
                  <a:gd name="T82" fmla="*/ 349 w 400"/>
                  <a:gd name="T83" fmla="*/ 139 h 1560"/>
                  <a:gd name="T84" fmla="*/ 353 w 400"/>
                  <a:gd name="T85" fmla="*/ 112 h 1560"/>
                  <a:gd name="T86" fmla="*/ 358 w 400"/>
                  <a:gd name="T87" fmla="*/ 87 h 1560"/>
                  <a:gd name="T88" fmla="*/ 362 w 400"/>
                  <a:gd name="T89" fmla="*/ 66 h 1560"/>
                  <a:gd name="T90" fmla="*/ 364 w 400"/>
                  <a:gd name="T91" fmla="*/ 51 h 1560"/>
                  <a:gd name="T92" fmla="*/ 368 w 400"/>
                  <a:gd name="T93" fmla="*/ 39 h 1560"/>
                  <a:gd name="T94" fmla="*/ 370 w 400"/>
                  <a:gd name="T95" fmla="*/ 38 h 1560"/>
                  <a:gd name="T96" fmla="*/ 374 w 400"/>
                  <a:gd name="T97" fmla="*/ 26 h 1560"/>
                  <a:gd name="T98" fmla="*/ 381 w 400"/>
                  <a:gd name="T99" fmla="*/ 16 h 1560"/>
                  <a:gd name="T100" fmla="*/ 388 w 400"/>
                  <a:gd name="T101" fmla="*/ 4 h 1560"/>
                  <a:gd name="T102" fmla="*/ 395 w 400"/>
                  <a:gd name="T103" fmla="*/ 0 h 1560"/>
                  <a:gd name="T104" fmla="*/ 399 w 400"/>
                  <a:gd name="T105" fmla="*/ 0 h 15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00" h="1560">
                    <a:moveTo>
                      <a:pt x="0" y="1559"/>
                    </a:moveTo>
                    <a:lnTo>
                      <a:pt x="10" y="1554"/>
                    </a:lnTo>
                    <a:lnTo>
                      <a:pt x="28" y="1542"/>
                    </a:lnTo>
                    <a:lnTo>
                      <a:pt x="42" y="1537"/>
                    </a:lnTo>
                    <a:lnTo>
                      <a:pt x="59" y="1527"/>
                    </a:lnTo>
                    <a:lnTo>
                      <a:pt x="77" y="1510"/>
                    </a:lnTo>
                    <a:lnTo>
                      <a:pt x="91" y="1502"/>
                    </a:lnTo>
                    <a:lnTo>
                      <a:pt x="102" y="1492"/>
                    </a:lnTo>
                    <a:lnTo>
                      <a:pt x="116" y="1476"/>
                    </a:lnTo>
                    <a:lnTo>
                      <a:pt x="125" y="1464"/>
                    </a:lnTo>
                    <a:lnTo>
                      <a:pt x="136" y="1451"/>
                    </a:lnTo>
                    <a:lnTo>
                      <a:pt x="148" y="1436"/>
                    </a:lnTo>
                    <a:lnTo>
                      <a:pt x="157" y="1419"/>
                    </a:lnTo>
                    <a:lnTo>
                      <a:pt x="163" y="1406"/>
                    </a:lnTo>
                    <a:lnTo>
                      <a:pt x="170" y="1390"/>
                    </a:lnTo>
                    <a:lnTo>
                      <a:pt x="177" y="1368"/>
                    </a:lnTo>
                    <a:lnTo>
                      <a:pt x="183" y="1350"/>
                    </a:lnTo>
                    <a:lnTo>
                      <a:pt x="185" y="1345"/>
                    </a:lnTo>
                    <a:lnTo>
                      <a:pt x="188" y="1328"/>
                    </a:lnTo>
                    <a:lnTo>
                      <a:pt x="196" y="1288"/>
                    </a:lnTo>
                    <a:lnTo>
                      <a:pt x="204" y="1247"/>
                    </a:lnTo>
                    <a:lnTo>
                      <a:pt x="210" y="1206"/>
                    </a:lnTo>
                    <a:lnTo>
                      <a:pt x="218" y="1159"/>
                    </a:lnTo>
                    <a:lnTo>
                      <a:pt x="226" y="1114"/>
                    </a:lnTo>
                    <a:lnTo>
                      <a:pt x="232" y="1063"/>
                    </a:lnTo>
                    <a:lnTo>
                      <a:pt x="238" y="1023"/>
                    </a:lnTo>
                    <a:lnTo>
                      <a:pt x="241" y="994"/>
                    </a:lnTo>
                    <a:lnTo>
                      <a:pt x="253" y="891"/>
                    </a:lnTo>
                    <a:lnTo>
                      <a:pt x="279" y="677"/>
                    </a:lnTo>
                    <a:lnTo>
                      <a:pt x="291" y="569"/>
                    </a:lnTo>
                    <a:lnTo>
                      <a:pt x="295" y="541"/>
                    </a:lnTo>
                    <a:lnTo>
                      <a:pt x="302" y="490"/>
                    </a:lnTo>
                    <a:lnTo>
                      <a:pt x="308" y="444"/>
                    </a:lnTo>
                    <a:lnTo>
                      <a:pt x="313" y="395"/>
                    </a:lnTo>
                    <a:lnTo>
                      <a:pt x="320" y="346"/>
                    </a:lnTo>
                    <a:lnTo>
                      <a:pt x="326" y="304"/>
                    </a:lnTo>
                    <a:lnTo>
                      <a:pt x="330" y="265"/>
                    </a:lnTo>
                    <a:lnTo>
                      <a:pt x="336" y="230"/>
                    </a:lnTo>
                    <a:lnTo>
                      <a:pt x="338" y="213"/>
                    </a:lnTo>
                    <a:lnTo>
                      <a:pt x="340" y="198"/>
                    </a:lnTo>
                    <a:lnTo>
                      <a:pt x="345" y="164"/>
                    </a:lnTo>
                    <a:lnTo>
                      <a:pt x="349" y="139"/>
                    </a:lnTo>
                    <a:lnTo>
                      <a:pt x="353" y="112"/>
                    </a:lnTo>
                    <a:lnTo>
                      <a:pt x="358" y="87"/>
                    </a:lnTo>
                    <a:lnTo>
                      <a:pt x="362" y="66"/>
                    </a:lnTo>
                    <a:lnTo>
                      <a:pt x="364" y="51"/>
                    </a:lnTo>
                    <a:lnTo>
                      <a:pt x="368" y="39"/>
                    </a:lnTo>
                    <a:lnTo>
                      <a:pt x="370" y="38"/>
                    </a:lnTo>
                    <a:lnTo>
                      <a:pt x="374" y="26"/>
                    </a:lnTo>
                    <a:lnTo>
                      <a:pt x="381" y="16"/>
                    </a:lnTo>
                    <a:lnTo>
                      <a:pt x="388" y="4"/>
                    </a:lnTo>
                    <a:lnTo>
                      <a:pt x="395" y="0"/>
                    </a:lnTo>
                    <a:lnTo>
                      <a:pt x="399" y="0"/>
                    </a:lnTo>
                  </a:path>
                </a:pathLst>
              </a:custGeom>
              <a:noFill/>
              <a:ln w="12699" cap="flat" cmpd="sng">
                <a:solidFill>
                  <a:srgbClr val="000000"/>
                </a:solidFill>
                <a:prstDash val="dash"/>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61" name="Freeform 176"/>
              <p:cNvSpPr>
                <a:spLocks/>
              </p:cNvSpPr>
              <p:nvPr/>
            </p:nvSpPr>
            <p:spPr bwMode="auto">
              <a:xfrm>
                <a:off x="4626" y="1718"/>
                <a:ext cx="402" cy="1560"/>
              </a:xfrm>
              <a:custGeom>
                <a:avLst/>
                <a:gdLst>
                  <a:gd name="T0" fmla="*/ 401 w 402"/>
                  <a:gd name="T1" fmla="*/ 1559 h 1560"/>
                  <a:gd name="T2" fmla="*/ 390 w 402"/>
                  <a:gd name="T3" fmla="*/ 1554 h 1560"/>
                  <a:gd name="T4" fmla="*/ 371 w 402"/>
                  <a:gd name="T5" fmla="*/ 1542 h 1560"/>
                  <a:gd name="T6" fmla="*/ 357 w 402"/>
                  <a:gd name="T7" fmla="*/ 1537 h 1560"/>
                  <a:gd name="T8" fmla="*/ 340 w 402"/>
                  <a:gd name="T9" fmla="*/ 1527 h 1560"/>
                  <a:gd name="T10" fmla="*/ 323 w 402"/>
                  <a:gd name="T11" fmla="*/ 1510 h 1560"/>
                  <a:gd name="T12" fmla="*/ 308 w 402"/>
                  <a:gd name="T13" fmla="*/ 1502 h 1560"/>
                  <a:gd name="T14" fmla="*/ 297 w 402"/>
                  <a:gd name="T15" fmla="*/ 1492 h 1560"/>
                  <a:gd name="T16" fmla="*/ 283 w 402"/>
                  <a:gd name="T17" fmla="*/ 1476 h 1560"/>
                  <a:gd name="T18" fmla="*/ 274 w 402"/>
                  <a:gd name="T19" fmla="*/ 1464 h 1560"/>
                  <a:gd name="T20" fmla="*/ 263 w 402"/>
                  <a:gd name="T21" fmla="*/ 1451 h 1560"/>
                  <a:gd name="T22" fmla="*/ 251 w 402"/>
                  <a:gd name="T23" fmla="*/ 1436 h 1560"/>
                  <a:gd name="T24" fmla="*/ 242 w 402"/>
                  <a:gd name="T25" fmla="*/ 1419 h 1560"/>
                  <a:gd name="T26" fmla="*/ 235 w 402"/>
                  <a:gd name="T27" fmla="*/ 1406 h 1560"/>
                  <a:gd name="T28" fmla="*/ 229 w 402"/>
                  <a:gd name="T29" fmla="*/ 1390 h 1560"/>
                  <a:gd name="T30" fmla="*/ 222 w 402"/>
                  <a:gd name="T31" fmla="*/ 1368 h 1560"/>
                  <a:gd name="T32" fmla="*/ 216 w 402"/>
                  <a:gd name="T33" fmla="*/ 1350 h 1560"/>
                  <a:gd name="T34" fmla="*/ 214 w 402"/>
                  <a:gd name="T35" fmla="*/ 1345 h 1560"/>
                  <a:gd name="T36" fmla="*/ 211 w 402"/>
                  <a:gd name="T37" fmla="*/ 1328 h 1560"/>
                  <a:gd name="T38" fmla="*/ 203 w 402"/>
                  <a:gd name="T39" fmla="*/ 1288 h 1560"/>
                  <a:gd name="T40" fmla="*/ 195 w 402"/>
                  <a:gd name="T41" fmla="*/ 1247 h 1560"/>
                  <a:gd name="T42" fmla="*/ 188 w 402"/>
                  <a:gd name="T43" fmla="*/ 1211 h 1560"/>
                  <a:gd name="T44" fmla="*/ 180 w 402"/>
                  <a:gd name="T45" fmla="*/ 1164 h 1560"/>
                  <a:gd name="T46" fmla="*/ 173 w 402"/>
                  <a:gd name="T47" fmla="*/ 1119 h 1560"/>
                  <a:gd name="T48" fmla="*/ 166 w 402"/>
                  <a:gd name="T49" fmla="*/ 1068 h 1560"/>
                  <a:gd name="T50" fmla="*/ 158 w 402"/>
                  <a:gd name="T51" fmla="*/ 1023 h 1560"/>
                  <a:gd name="T52" fmla="*/ 155 w 402"/>
                  <a:gd name="T53" fmla="*/ 994 h 1560"/>
                  <a:gd name="T54" fmla="*/ 143 w 402"/>
                  <a:gd name="T55" fmla="*/ 891 h 1560"/>
                  <a:gd name="T56" fmla="*/ 117 w 402"/>
                  <a:gd name="T57" fmla="*/ 677 h 1560"/>
                  <a:gd name="T58" fmla="*/ 104 w 402"/>
                  <a:gd name="T59" fmla="*/ 569 h 1560"/>
                  <a:gd name="T60" fmla="*/ 100 w 402"/>
                  <a:gd name="T61" fmla="*/ 541 h 1560"/>
                  <a:gd name="T62" fmla="*/ 95 w 402"/>
                  <a:gd name="T63" fmla="*/ 495 h 1560"/>
                  <a:gd name="T64" fmla="*/ 90 w 402"/>
                  <a:gd name="T65" fmla="*/ 444 h 1560"/>
                  <a:gd name="T66" fmla="*/ 83 w 402"/>
                  <a:gd name="T67" fmla="*/ 394 h 1560"/>
                  <a:gd name="T68" fmla="*/ 78 w 402"/>
                  <a:gd name="T69" fmla="*/ 346 h 1560"/>
                  <a:gd name="T70" fmla="*/ 72 w 402"/>
                  <a:gd name="T71" fmla="*/ 304 h 1560"/>
                  <a:gd name="T72" fmla="*/ 67 w 402"/>
                  <a:gd name="T73" fmla="*/ 265 h 1560"/>
                  <a:gd name="T74" fmla="*/ 61 w 402"/>
                  <a:gd name="T75" fmla="*/ 230 h 1560"/>
                  <a:gd name="T76" fmla="*/ 60 w 402"/>
                  <a:gd name="T77" fmla="*/ 213 h 1560"/>
                  <a:gd name="T78" fmla="*/ 57 w 402"/>
                  <a:gd name="T79" fmla="*/ 198 h 1560"/>
                  <a:gd name="T80" fmla="*/ 52 w 402"/>
                  <a:gd name="T81" fmla="*/ 168 h 1560"/>
                  <a:gd name="T82" fmla="*/ 47 w 402"/>
                  <a:gd name="T83" fmla="*/ 139 h 1560"/>
                  <a:gd name="T84" fmla="*/ 41 w 402"/>
                  <a:gd name="T85" fmla="*/ 107 h 1560"/>
                  <a:gd name="T86" fmla="*/ 38 w 402"/>
                  <a:gd name="T87" fmla="*/ 87 h 1560"/>
                  <a:gd name="T88" fmla="*/ 34 w 402"/>
                  <a:gd name="T89" fmla="*/ 72 h 1560"/>
                  <a:gd name="T90" fmla="*/ 31 w 402"/>
                  <a:gd name="T91" fmla="*/ 56 h 1560"/>
                  <a:gd name="T92" fmla="*/ 27 w 402"/>
                  <a:gd name="T93" fmla="*/ 39 h 1560"/>
                  <a:gd name="T94" fmla="*/ 25 w 402"/>
                  <a:gd name="T95" fmla="*/ 38 h 1560"/>
                  <a:gd name="T96" fmla="*/ 22 w 402"/>
                  <a:gd name="T97" fmla="*/ 26 h 1560"/>
                  <a:gd name="T98" fmla="*/ 16 w 402"/>
                  <a:gd name="T99" fmla="*/ 16 h 1560"/>
                  <a:gd name="T100" fmla="*/ 10 w 402"/>
                  <a:gd name="T101" fmla="*/ 4 h 1560"/>
                  <a:gd name="T102" fmla="*/ 3 w 402"/>
                  <a:gd name="T103" fmla="*/ 0 h 1560"/>
                  <a:gd name="T104" fmla="*/ 0 w 402"/>
                  <a:gd name="T105" fmla="*/ 0 h 15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02" h="1560">
                    <a:moveTo>
                      <a:pt x="401" y="1559"/>
                    </a:moveTo>
                    <a:lnTo>
                      <a:pt x="390" y="1554"/>
                    </a:lnTo>
                    <a:lnTo>
                      <a:pt x="371" y="1542"/>
                    </a:lnTo>
                    <a:lnTo>
                      <a:pt x="357" y="1537"/>
                    </a:lnTo>
                    <a:lnTo>
                      <a:pt x="340" y="1527"/>
                    </a:lnTo>
                    <a:lnTo>
                      <a:pt x="323" y="1510"/>
                    </a:lnTo>
                    <a:lnTo>
                      <a:pt x="308" y="1502"/>
                    </a:lnTo>
                    <a:lnTo>
                      <a:pt x="297" y="1492"/>
                    </a:lnTo>
                    <a:lnTo>
                      <a:pt x="283" y="1476"/>
                    </a:lnTo>
                    <a:lnTo>
                      <a:pt x="274" y="1464"/>
                    </a:lnTo>
                    <a:lnTo>
                      <a:pt x="263" y="1451"/>
                    </a:lnTo>
                    <a:lnTo>
                      <a:pt x="251" y="1436"/>
                    </a:lnTo>
                    <a:lnTo>
                      <a:pt x="242" y="1419"/>
                    </a:lnTo>
                    <a:lnTo>
                      <a:pt x="235" y="1406"/>
                    </a:lnTo>
                    <a:lnTo>
                      <a:pt x="229" y="1390"/>
                    </a:lnTo>
                    <a:lnTo>
                      <a:pt x="222" y="1368"/>
                    </a:lnTo>
                    <a:lnTo>
                      <a:pt x="216" y="1350"/>
                    </a:lnTo>
                    <a:lnTo>
                      <a:pt x="214" y="1345"/>
                    </a:lnTo>
                    <a:lnTo>
                      <a:pt x="211" y="1328"/>
                    </a:lnTo>
                    <a:lnTo>
                      <a:pt x="203" y="1288"/>
                    </a:lnTo>
                    <a:lnTo>
                      <a:pt x="195" y="1247"/>
                    </a:lnTo>
                    <a:lnTo>
                      <a:pt x="188" y="1211"/>
                    </a:lnTo>
                    <a:lnTo>
                      <a:pt x="180" y="1164"/>
                    </a:lnTo>
                    <a:lnTo>
                      <a:pt x="173" y="1119"/>
                    </a:lnTo>
                    <a:lnTo>
                      <a:pt x="166" y="1068"/>
                    </a:lnTo>
                    <a:lnTo>
                      <a:pt x="158" y="1023"/>
                    </a:lnTo>
                    <a:lnTo>
                      <a:pt x="155" y="994"/>
                    </a:lnTo>
                    <a:lnTo>
                      <a:pt x="143" y="891"/>
                    </a:lnTo>
                    <a:lnTo>
                      <a:pt x="117" y="677"/>
                    </a:lnTo>
                    <a:lnTo>
                      <a:pt x="104" y="569"/>
                    </a:lnTo>
                    <a:lnTo>
                      <a:pt x="100" y="541"/>
                    </a:lnTo>
                    <a:lnTo>
                      <a:pt x="95" y="495"/>
                    </a:lnTo>
                    <a:lnTo>
                      <a:pt x="90" y="444"/>
                    </a:lnTo>
                    <a:lnTo>
                      <a:pt x="83" y="394"/>
                    </a:lnTo>
                    <a:lnTo>
                      <a:pt x="78" y="346"/>
                    </a:lnTo>
                    <a:lnTo>
                      <a:pt x="72" y="304"/>
                    </a:lnTo>
                    <a:lnTo>
                      <a:pt x="67" y="265"/>
                    </a:lnTo>
                    <a:lnTo>
                      <a:pt x="61" y="230"/>
                    </a:lnTo>
                    <a:lnTo>
                      <a:pt x="60" y="213"/>
                    </a:lnTo>
                    <a:lnTo>
                      <a:pt x="57" y="198"/>
                    </a:lnTo>
                    <a:lnTo>
                      <a:pt x="52" y="168"/>
                    </a:lnTo>
                    <a:lnTo>
                      <a:pt x="47" y="139"/>
                    </a:lnTo>
                    <a:lnTo>
                      <a:pt x="41" y="107"/>
                    </a:lnTo>
                    <a:lnTo>
                      <a:pt x="38" y="87"/>
                    </a:lnTo>
                    <a:lnTo>
                      <a:pt x="34" y="72"/>
                    </a:lnTo>
                    <a:lnTo>
                      <a:pt x="31" y="56"/>
                    </a:lnTo>
                    <a:lnTo>
                      <a:pt x="27" y="39"/>
                    </a:lnTo>
                    <a:lnTo>
                      <a:pt x="25" y="38"/>
                    </a:lnTo>
                    <a:lnTo>
                      <a:pt x="22" y="26"/>
                    </a:lnTo>
                    <a:lnTo>
                      <a:pt x="16" y="16"/>
                    </a:lnTo>
                    <a:lnTo>
                      <a:pt x="10" y="4"/>
                    </a:lnTo>
                    <a:lnTo>
                      <a:pt x="3" y="0"/>
                    </a:lnTo>
                    <a:lnTo>
                      <a:pt x="0" y="0"/>
                    </a:lnTo>
                  </a:path>
                </a:pathLst>
              </a:custGeom>
              <a:noFill/>
              <a:ln w="12699" cap="flat" cmpd="sng">
                <a:solidFill>
                  <a:srgbClr val="000000"/>
                </a:solidFill>
                <a:prstDash val="dash"/>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832" name="Line 177"/>
            <p:cNvSpPr>
              <a:spLocks noChangeShapeType="1"/>
            </p:cNvSpPr>
            <p:nvPr/>
          </p:nvSpPr>
          <p:spPr bwMode="auto">
            <a:xfrm>
              <a:off x="5334" y="1321"/>
              <a:ext cx="0" cy="697"/>
            </a:xfrm>
            <a:prstGeom prst="line">
              <a:avLst/>
            </a:prstGeom>
            <a:noFill/>
            <a:ln w="12699">
              <a:solidFill>
                <a:srgbClr val="000000"/>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0833" name="Line 178"/>
            <p:cNvSpPr>
              <a:spLocks noChangeShapeType="1"/>
            </p:cNvSpPr>
            <p:nvPr/>
          </p:nvSpPr>
          <p:spPr bwMode="auto">
            <a:xfrm>
              <a:off x="3901" y="1321"/>
              <a:ext cx="0" cy="697"/>
            </a:xfrm>
            <a:prstGeom prst="line">
              <a:avLst/>
            </a:prstGeom>
            <a:noFill/>
            <a:ln w="12699">
              <a:solidFill>
                <a:srgbClr val="000000"/>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0834" name="Rectangle 179"/>
            <p:cNvSpPr>
              <a:spLocks noChangeArrowheads="1"/>
            </p:cNvSpPr>
            <p:nvPr/>
          </p:nvSpPr>
          <p:spPr bwMode="auto">
            <a:xfrm>
              <a:off x="5186" y="2030"/>
              <a:ext cx="316"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USL</a:t>
              </a:r>
            </a:p>
          </p:txBody>
        </p:sp>
        <p:sp>
          <p:nvSpPr>
            <p:cNvPr id="290835" name="Rectangle 180"/>
            <p:cNvSpPr>
              <a:spLocks noChangeArrowheads="1"/>
            </p:cNvSpPr>
            <p:nvPr/>
          </p:nvSpPr>
          <p:spPr bwMode="auto">
            <a:xfrm>
              <a:off x="3753" y="2030"/>
              <a:ext cx="293"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LSL</a:t>
              </a:r>
            </a:p>
          </p:txBody>
        </p:sp>
        <p:sp>
          <p:nvSpPr>
            <p:cNvPr id="290836" name="Line 181"/>
            <p:cNvSpPr>
              <a:spLocks noChangeShapeType="1"/>
            </p:cNvSpPr>
            <p:nvPr/>
          </p:nvSpPr>
          <p:spPr bwMode="auto">
            <a:xfrm>
              <a:off x="4584" y="940"/>
              <a:ext cx="0" cy="1077"/>
            </a:xfrm>
            <a:prstGeom prst="line">
              <a:avLst/>
            </a:prstGeom>
            <a:noFill/>
            <a:ln w="12699">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0837" name="Rectangle 182"/>
            <p:cNvSpPr>
              <a:spLocks noChangeArrowheads="1"/>
            </p:cNvSpPr>
            <p:nvPr/>
          </p:nvSpPr>
          <p:spPr bwMode="auto">
            <a:xfrm>
              <a:off x="4199" y="788"/>
              <a:ext cx="854"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Expected Level</a:t>
              </a:r>
              <a:endParaRPr lang="ko-KR" altLang="en-US" sz="1200" dirty="0">
                <a:latin typeface="맑은 고딕" pitchFamily="50" charset="-127"/>
                <a:ea typeface="맑은 고딕" pitchFamily="50" charset="-127"/>
              </a:endParaRPr>
            </a:p>
          </p:txBody>
        </p:sp>
        <p:grpSp>
          <p:nvGrpSpPr>
            <p:cNvPr id="290842" name="Group 183"/>
            <p:cNvGrpSpPr>
              <a:grpSpLocks/>
            </p:cNvGrpSpPr>
            <p:nvPr/>
          </p:nvGrpSpPr>
          <p:grpSpPr bwMode="auto">
            <a:xfrm>
              <a:off x="4819" y="1034"/>
              <a:ext cx="721" cy="977"/>
              <a:chOff x="4888" y="1718"/>
              <a:chExt cx="801" cy="1560"/>
            </a:xfrm>
          </p:grpSpPr>
          <p:sp>
            <p:nvSpPr>
              <p:cNvPr id="290958" name="Freeform 184"/>
              <p:cNvSpPr>
                <a:spLocks/>
              </p:cNvSpPr>
              <p:nvPr/>
            </p:nvSpPr>
            <p:spPr bwMode="auto">
              <a:xfrm>
                <a:off x="4888" y="1718"/>
                <a:ext cx="400" cy="1560"/>
              </a:xfrm>
              <a:custGeom>
                <a:avLst/>
                <a:gdLst>
                  <a:gd name="T0" fmla="*/ 0 w 400"/>
                  <a:gd name="T1" fmla="*/ 1559 h 1560"/>
                  <a:gd name="T2" fmla="*/ 10 w 400"/>
                  <a:gd name="T3" fmla="*/ 1554 h 1560"/>
                  <a:gd name="T4" fmla="*/ 28 w 400"/>
                  <a:gd name="T5" fmla="*/ 1542 h 1560"/>
                  <a:gd name="T6" fmla="*/ 42 w 400"/>
                  <a:gd name="T7" fmla="*/ 1537 h 1560"/>
                  <a:gd name="T8" fmla="*/ 59 w 400"/>
                  <a:gd name="T9" fmla="*/ 1527 h 1560"/>
                  <a:gd name="T10" fmla="*/ 77 w 400"/>
                  <a:gd name="T11" fmla="*/ 1510 h 1560"/>
                  <a:gd name="T12" fmla="*/ 91 w 400"/>
                  <a:gd name="T13" fmla="*/ 1502 h 1560"/>
                  <a:gd name="T14" fmla="*/ 102 w 400"/>
                  <a:gd name="T15" fmla="*/ 1492 h 1560"/>
                  <a:gd name="T16" fmla="*/ 116 w 400"/>
                  <a:gd name="T17" fmla="*/ 1476 h 1560"/>
                  <a:gd name="T18" fmla="*/ 125 w 400"/>
                  <a:gd name="T19" fmla="*/ 1464 h 1560"/>
                  <a:gd name="T20" fmla="*/ 136 w 400"/>
                  <a:gd name="T21" fmla="*/ 1451 h 1560"/>
                  <a:gd name="T22" fmla="*/ 148 w 400"/>
                  <a:gd name="T23" fmla="*/ 1436 h 1560"/>
                  <a:gd name="T24" fmla="*/ 157 w 400"/>
                  <a:gd name="T25" fmla="*/ 1419 h 1560"/>
                  <a:gd name="T26" fmla="*/ 163 w 400"/>
                  <a:gd name="T27" fmla="*/ 1406 h 1560"/>
                  <a:gd name="T28" fmla="*/ 170 w 400"/>
                  <a:gd name="T29" fmla="*/ 1390 h 1560"/>
                  <a:gd name="T30" fmla="*/ 177 w 400"/>
                  <a:gd name="T31" fmla="*/ 1368 h 1560"/>
                  <a:gd name="T32" fmla="*/ 183 w 400"/>
                  <a:gd name="T33" fmla="*/ 1350 h 1560"/>
                  <a:gd name="T34" fmla="*/ 185 w 400"/>
                  <a:gd name="T35" fmla="*/ 1345 h 1560"/>
                  <a:gd name="T36" fmla="*/ 188 w 400"/>
                  <a:gd name="T37" fmla="*/ 1328 h 1560"/>
                  <a:gd name="T38" fmla="*/ 196 w 400"/>
                  <a:gd name="T39" fmla="*/ 1288 h 1560"/>
                  <a:gd name="T40" fmla="*/ 204 w 400"/>
                  <a:gd name="T41" fmla="*/ 1247 h 1560"/>
                  <a:gd name="T42" fmla="*/ 210 w 400"/>
                  <a:gd name="T43" fmla="*/ 1206 h 1560"/>
                  <a:gd name="T44" fmla="*/ 218 w 400"/>
                  <a:gd name="T45" fmla="*/ 1159 h 1560"/>
                  <a:gd name="T46" fmla="*/ 226 w 400"/>
                  <a:gd name="T47" fmla="*/ 1114 h 1560"/>
                  <a:gd name="T48" fmla="*/ 232 w 400"/>
                  <a:gd name="T49" fmla="*/ 1063 h 1560"/>
                  <a:gd name="T50" fmla="*/ 238 w 400"/>
                  <a:gd name="T51" fmla="*/ 1023 h 1560"/>
                  <a:gd name="T52" fmla="*/ 241 w 400"/>
                  <a:gd name="T53" fmla="*/ 994 h 1560"/>
                  <a:gd name="T54" fmla="*/ 253 w 400"/>
                  <a:gd name="T55" fmla="*/ 891 h 1560"/>
                  <a:gd name="T56" fmla="*/ 279 w 400"/>
                  <a:gd name="T57" fmla="*/ 677 h 1560"/>
                  <a:gd name="T58" fmla="*/ 291 w 400"/>
                  <a:gd name="T59" fmla="*/ 569 h 1560"/>
                  <a:gd name="T60" fmla="*/ 295 w 400"/>
                  <a:gd name="T61" fmla="*/ 541 h 1560"/>
                  <a:gd name="T62" fmla="*/ 302 w 400"/>
                  <a:gd name="T63" fmla="*/ 490 h 1560"/>
                  <a:gd name="T64" fmla="*/ 308 w 400"/>
                  <a:gd name="T65" fmla="*/ 444 h 1560"/>
                  <a:gd name="T66" fmla="*/ 313 w 400"/>
                  <a:gd name="T67" fmla="*/ 395 h 1560"/>
                  <a:gd name="T68" fmla="*/ 320 w 400"/>
                  <a:gd name="T69" fmla="*/ 346 h 1560"/>
                  <a:gd name="T70" fmla="*/ 326 w 400"/>
                  <a:gd name="T71" fmla="*/ 304 h 1560"/>
                  <a:gd name="T72" fmla="*/ 330 w 400"/>
                  <a:gd name="T73" fmla="*/ 265 h 1560"/>
                  <a:gd name="T74" fmla="*/ 336 w 400"/>
                  <a:gd name="T75" fmla="*/ 230 h 1560"/>
                  <a:gd name="T76" fmla="*/ 338 w 400"/>
                  <a:gd name="T77" fmla="*/ 213 h 1560"/>
                  <a:gd name="T78" fmla="*/ 340 w 400"/>
                  <a:gd name="T79" fmla="*/ 198 h 1560"/>
                  <a:gd name="T80" fmla="*/ 345 w 400"/>
                  <a:gd name="T81" fmla="*/ 164 h 1560"/>
                  <a:gd name="T82" fmla="*/ 349 w 400"/>
                  <a:gd name="T83" fmla="*/ 139 h 1560"/>
                  <a:gd name="T84" fmla="*/ 353 w 400"/>
                  <a:gd name="T85" fmla="*/ 112 h 1560"/>
                  <a:gd name="T86" fmla="*/ 358 w 400"/>
                  <a:gd name="T87" fmla="*/ 87 h 1560"/>
                  <a:gd name="T88" fmla="*/ 362 w 400"/>
                  <a:gd name="T89" fmla="*/ 66 h 1560"/>
                  <a:gd name="T90" fmla="*/ 364 w 400"/>
                  <a:gd name="T91" fmla="*/ 51 h 1560"/>
                  <a:gd name="T92" fmla="*/ 368 w 400"/>
                  <a:gd name="T93" fmla="*/ 39 h 1560"/>
                  <a:gd name="T94" fmla="*/ 370 w 400"/>
                  <a:gd name="T95" fmla="*/ 38 h 1560"/>
                  <a:gd name="T96" fmla="*/ 374 w 400"/>
                  <a:gd name="T97" fmla="*/ 26 h 1560"/>
                  <a:gd name="T98" fmla="*/ 381 w 400"/>
                  <a:gd name="T99" fmla="*/ 16 h 1560"/>
                  <a:gd name="T100" fmla="*/ 388 w 400"/>
                  <a:gd name="T101" fmla="*/ 4 h 1560"/>
                  <a:gd name="T102" fmla="*/ 395 w 400"/>
                  <a:gd name="T103" fmla="*/ 0 h 1560"/>
                  <a:gd name="T104" fmla="*/ 399 w 400"/>
                  <a:gd name="T105" fmla="*/ 0 h 15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00" h="1560">
                    <a:moveTo>
                      <a:pt x="0" y="1559"/>
                    </a:moveTo>
                    <a:lnTo>
                      <a:pt x="10" y="1554"/>
                    </a:lnTo>
                    <a:lnTo>
                      <a:pt x="28" y="1542"/>
                    </a:lnTo>
                    <a:lnTo>
                      <a:pt x="42" y="1537"/>
                    </a:lnTo>
                    <a:lnTo>
                      <a:pt x="59" y="1527"/>
                    </a:lnTo>
                    <a:lnTo>
                      <a:pt x="77" y="1510"/>
                    </a:lnTo>
                    <a:lnTo>
                      <a:pt x="91" y="1502"/>
                    </a:lnTo>
                    <a:lnTo>
                      <a:pt x="102" y="1492"/>
                    </a:lnTo>
                    <a:lnTo>
                      <a:pt x="116" y="1476"/>
                    </a:lnTo>
                    <a:lnTo>
                      <a:pt x="125" y="1464"/>
                    </a:lnTo>
                    <a:lnTo>
                      <a:pt x="136" y="1451"/>
                    </a:lnTo>
                    <a:lnTo>
                      <a:pt x="148" y="1436"/>
                    </a:lnTo>
                    <a:lnTo>
                      <a:pt x="157" y="1419"/>
                    </a:lnTo>
                    <a:lnTo>
                      <a:pt x="163" y="1406"/>
                    </a:lnTo>
                    <a:lnTo>
                      <a:pt x="170" y="1390"/>
                    </a:lnTo>
                    <a:lnTo>
                      <a:pt x="177" y="1368"/>
                    </a:lnTo>
                    <a:lnTo>
                      <a:pt x="183" y="1350"/>
                    </a:lnTo>
                    <a:lnTo>
                      <a:pt x="185" y="1345"/>
                    </a:lnTo>
                    <a:lnTo>
                      <a:pt x="188" y="1328"/>
                    </a:lnTo>
                    <a:lnTo>
                      <a:pt x="196" y="1288"/>
                    </a:lnTo>
                    <a:lnTo>
                      <a:pt x="204" y="1247"/>
                    </a:lnTo>
                    <a:lnTo>
                      <a:pt x="210" y="1206"/>
                    </a:lnTo>
                    <a:lnTo>
                      <a:pt x="218" y="1159"/>
                    </a:lnTo>
                    <a:lnTo>
                      <a:pt x="226" y="1114"/>
                    </a:lnTo>
                    <a:lnTo>
                      <a:pt x="232" y="1063"/>
                    </a:lnTo>
                    <a:lnTo>
                      <a:pt x="238" y="1023"/>
                    </a:lnTo>
                    <a:lnTo>
                      <a:pt x="241" y="994"/>
                    </a:lnTo>
                    <a:lnTo>
                      <a:pt x="253" y="891"/>
                    </a:lnTo>
                    <a:lnTo>
                      <a:pt x="279" y="677"/>
                    </a:lnTo>
                    <a:lnTo>
                      <a:pt x="291" y="569"/>
                    </a:lnTo>
                    <a:lnTo>
                      <a:pt x="295" y="541"/>
                    </a:lnTo>
                    <a:lnTo>
                      <a:pt x="302" y="490"/>
                    </a:lnTo>
                    <a:lnTo>
                      <a:pt x="308" y="444"/>
                    </a:lnTo>
                    <a:lnTo>
                      <a:pt x="313" y="395"/>
                    </a:lnTo>
                    <a:lnTo>
                      <a:pt x="320" y="346"/>
                    </a:lnTo>
                    <a:lnTo>
                      <a:pt x="326" y="304"/>
                    </a:lnTo>
                    <a:lnTo>
                      <a:pt x="330" y="265"/>
                    </a:lnTo>
                    <a:lnTo>
                      <a:pt x="336" y="230"/>
                    </a:lnTo>
                    <a:lnTo>
                      <a:pt x="338" y="213"/>
                    </a:lnTo>
                    <a:lnTo>
                      <a:pt x="340" y="198"/>
                    </a:lnTo>
                    <a:lnTo>
                      <a:pt x="345" y="164"/>
                    </a:lnTo>
                    <a:lnTo>
                      <a:pt x="349" y="139"/>
                    </a:lnTo>
                    <a:lnTo>
                      <a:pt x="353" y="112"/>
                    </a:lnTo>
                    <a:lnTo>
                      <a:pt x="358" y="87"/>
                    </a:lnTo>
                    <a:lnTo>
                      <a:pt x="362" y="66"/>
                    </a:lnTo>
                    <a:lnTo>
                      <a:pt x="364" y="51"/>
                    </a:lnTo>
                    <a:lnTo>
                      <a:pt x="368" y="39"/>
                    </a:lnTo>
                    <a:lnTo>
                      <a:pt x="370" y="38"/>
                    </a:lnTo>
                    <a:lnTo>
                      <a:pt x="374" y="26"/>
                    </a:lnTo>
                    <a:lnTo>
                      <a:pt x="381" y="16"/>
                    </a:lnTo>
                    <a:lnTo>
                      <a:pt x="388" y="4"/>
                    </a:lnTo>
                    <a:lnTo>
                      <a:pt x="395" y="0"/>
                    </a:lnTo>
                    <a:lnTo>
                      <a:pt x="399"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59" name="Freeform 185"/>
              <p:cNvSpPr>
                <a:spLocks/>
              </p:cNvSpPr>
              <p:nvPr/>
            </p:nvSpPr>
            <p:spPr bwMode="auto">
              <a:xfrm>
                <a:off x="5287" y="1718"/>
                <a:ext cx="402" cy="1560"/>
              </a:xfrm>
              <a:custGeom>
                <a:avLst/>
                <a:gdLst>
                  <a:gd name="T0" fmla="*/ 401 w 402"/>
                  <a:gd name="T1" fmla="*/ 1559 h 1560"/>
                  <a:gd name="T2" fmla="*/ 390 w 402"/>
                  <a:gd name="T3" fmla="*/ 1554 h 1560"/>
                  <a:gd name="T4" fmla="*/ 371 w 402"/>
                  <a:gd name="T5" fmla="*/ 1542 h 1560"/>
                  <a:gd name="T6" fmla="*/ 357 w 402"/>
                  <a:gd name="T7" fmla="*/ 1537 h 1560"/>
                  <a:gd name="T8" fmla="*/ 340 w 402"/>
                  <a:gd name="T9" fmla="*/ 1527 h 1560"/>
                  <a:gd name="T10" fmla="*/ 323 w 402"/>
                  <a:gd name="T11" fmla="*/ 1510 h 1560"/>
                  <a:gd name="T12" fmla="*/ 308 w 402"/>
                  <a:gd name="T13" fmla="*/ 1502 h 1560"/>
                  <a:gd name="T14" fmla="*/ 297 w 402"/>
                  <a:gd name="T15" fmla="*/ 1492 h 1560"/>
                  <a:gd name="T16" fmla="*/ 283 w 402"/>
                  <a:gd name="T17" fmla="*/ 1476 h 1560"/>
                  <a:gd name="T18" fmla="*/ 274 w 402"/>
                  <a:gd name="T19" fmla="*/ 1464 h 1560"/>
                  <a:gd name="T20" fmla="*/ 263 w 402"/>
                  <a:gd name="T21" fmla="*/ 1451 h 1560"/>
                  <a:gd name="T22" fmla="*/ 251 w 402"/>
                  <a:gd name="T23" fmla="*/ 1436 h 1560"/>
                  <a:gd name="T24" fmla="*/ 242 w 402"/>
                  <a:gd name="T25" fmla="*/ 1419 h 1560"/>
                  <a:gd name="T26" fmla="*/ 235 w 402"/>
                  <a:gd name="T27" fmla="*/ 1406 h 1560"/>
                  <a:gd name="T28" fmla="*/ 229 w 402"/>
                  <a:gd name="T29" fmla="*/ 1390 h 1560"/>
                  <a:gd name="T30" fmla="*/ 222 w 402"/>
                  <a:gd name="T31" fmla="*/ 1368 h 1560"/>
                  <a:gd name="T32" fmla="*/ 216 w 402"/>
                  <a:gd name="T33" fmla="*/ 1350 h 1560"/>
                  <a:gd name="T34" fmla="*/ 214 w 402"/>
                  <a:gd name="T35" fmla="*/ 1345 h 1560"/>
                  <a:gd name="T36" fmla="*/ 211 w 402"/>
                  <a:gd name="T37" fmla="*/ 1328 h 1560"/>
                  <a:gd name="T38" fmla="*/ 203 w 402"/>
                  <a:gd name="T39" fmla="*/ 1288 h 1560"/>
                  <a:gd name="T40" fmla="*/ 195 w 402"/>
                  <a:gd name="T41" fmla="*/ 1247 h 1560"/>
                  <a:gd name="T42" fmla="*/ 188 w 402"/>
                  <a:gd name="T43" fmla="*/ 1211 h 1560"/>
                  <a:gd name="T44" fmla="*/ 180 w 402"/>
                  <a:gd name="T45" fmla="*/ 1164 h 1560"/>
                  <a:gd name="T46" fmla="*/ 173 w 402"/>
                  <a:gd name="T47" fmla="*/ 1119 h 1560"/>
                  <a:gd name="T48" fmla="*/ 166 w 402"/>
                  <a:gd name="T49" fmla="*/ 1068 h 1560"/>
                  <a:gd name="T50" fmla="*/ 158 w 402"/>
                  <a:gd name="T51" fmla="*/ 1023 h 1560"/>
                  <a:gd name="T52" fmla="*/ 155 w 402"/>
                  <a:gd name="T53" fmla="*/ 994 h 1560"/>
                  <a:gd name="T54" fmla="*/ 143 w 402"/>
                  <a:gd name="T55" fmla="*/ 891 h 1560"/>
                  <a:gd name="T56" fmla="*/ 117 w 402"/>
                  <a:gd name="T57" fmla="*/ 677 h 1560"/>
                  <a:gd name="T58" fmla="*/ 104 w 402"/>
                  <a:gd name="T59" fmla="*/ 569 h 1560"/>
                  <a:gd name="T60" fmla="*/ 100 w 402"/>
                  <a:gd name="T61" fmla="*/ 541 h 1560"/>
                  <a:gd name="T62" fmla="*/ 95 w 402"/>
                  <a:gd name="T63" fmla="*/ 495 h 1560"/>
                  <a:gd name="T64" fmla="*/ 90 w 402"/>
                  <a:gd name="T65" fmla="*/ 444 h 1560"/>
                  <a:gd name="T66" fmla="*/ 83 w 402"/>
                  <a:gd name="T67" fmla="*/ 394 h 1560"/>
                  <a:gd name="T68" fmla="*/ 78 w 402"/>
                  <a:gd name="T69" fmla="*/ 346 h 1560"/>
                  <a:gd name="T70" fmla="*/ 72 w 402"/>
                  <a:gd name="T71" fmla="*/ 304 h 1560"/>
                  <a:gd name="T72" fmla="*/ 67 w 402"/>
                  <a:gd name="T73" fmla="*/ 265 h 1560"/>
                  <a:gd name="T74" fmla="*/ 61 w 402"/>
                  <a:gd name="T75" fmla="*/ 230 h 1560"/>
                  <a:gd name="T76" fmla="*/ 60 w 402"/>
                  <a:gd name="T77" fmla="*/ 213 h 1560"/>
                  <a:gd name="T78" fmla="*/ 57 w 402"/>
                  <a:gd name="T79" fmla="*/ 198 h 1560"/>
                  <a:gd name="T80" fmla="*/ 52 w 402"/>
                  <a:gd name="T81" fmla="*/ 168 h 1560"/>
                  <a:gd name="T82" fmla="*/ 47 w 402"/>
                  <a:gd name="T83" fmla="*/ 139 h 1560"/>
                  <a:gd name="T84" fmla="*/ 41 w 402"/>
                  <a:gd name="T85" fmla="*/ 107 h 1560"/>
                  <a:gd name="T86" fmla="*/ 38 w 402"/>
                  <a:gd name="T87" fmla="*/ 87 h 1560"/>
                  <a:gd name="T88" fmla="*/ 34 w 402"/>
                  <a:gd name="T89" fmla="*/ 72 h 1560"/>
                  <a:gd name="T90" fmla="*/ 31 w 402"/>
                  <a:gd name="T91" fmla="*/ 56 h 1560"/>
                  <a:gd name="T92" fmla="*/ 27 w 402"/>
                  <a:gd name="T93" fmla="*/ 39 h 1560"/>
                  <a:gd name="T94" fmla="*/ 25 w 402"/>
                  <a:gd name="T95" fmla="*/ 38 h 1560"/>
                  <a:gd name="T96" fmla="*/ 22 w 402"/>
                  <a:gd name="T97" fmla="*/ 26 h 1560"/>
                  <a:gd name="T98" fmla="*/ 16 w 402"/>
                  <a:gd name="T99" fmla="*/ 16 h 1560"/>
                  <a:gd name="T100" fmla="*/ 10 w 402"/>
                  <a:gd name="T101" fmla="*/ 4 h 1560"/>
                  <a:gd name="T102" fmla="*/ 3 w 402"/>
                  <a:gd name="T103" fmla="*/ 0 h 1560"/>
                  <a:gd name="T104" fmla="*/ 0 w 402"/>
                  <a:gd name="T105" fmla="*/ 0 h 15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02" h="1560">
                    <a:moveTo>
                      <a:pt x="401" y="1559"/>
                    </a:moveTo>
                    <a:lnTo>
                      <a:pt x="390" y="1554"/>
                    </a:lnTo>
                    <a:lnTo>
                      <a:pt x="371" y="1542"/>
                    </a:lnTo>
                    <a:lnTo>
                      <a:pt x="357" y="1537"/>
                    </a:lnTo>
                    <a:lnTo>
                      <a:pt x="340" y="1527"/>
                    </a:lnTo>
                    <a:lnTo>
                      <a:pt x="323" y="1510"/>
                    </a:lnTo>
                    <a:lnTo>
                      <a:pt x="308" y="1502"/>
                    </a:lnTo>
                    <a:lnTo>
                      <a:pt x="297" y="1492"/>
                    </a:lnTo>
                    <a:lnTo>
                      <a:pt x="283" y="1476"/>
                    </a:lnTo>
                    <a:lnTo>
                      <a:pt x="274" y="1464"/>
                    </a:lnTo>
                    <a:lnTo>
                      <a:pt x="263" y="1451"/>
                    </a:lnTo>
                    <a:lnTo>
                      <a:pt x="251" y="1436"/>
                    </a:lnTo>
                    <a:lnTo>
                      <a:pt x="242" y="1419"/>
                    </a:lnTo>
                    <a:lnTo>
                      <a:pt x="235" y="1406"/>
                    </a:lnTo>
                    <a:lnTo>
                      <a:pt x="229" y="1390"/>
                    </a:lnTo>
                    <a:lnTo>
                      <a:pt x="222" y="1368"/>
                    </a:lnTo>
                    <a:lnTo>
                      <a:pt x="216" y="1350"/>
                    </a:lnTo>
                    <a:lnTo>
                      <a:pt x="214" y="1345"/>
                    </a:lnTo>
                    <a:lnTo>
                      <a:pt x="211" y="1328"/>
                    </a:lnTo>
                    <a:lnTo>
                      <a:pt x="203" y="1288"/>
                    </a:lnTo>
                    <a:lnTo>
                      <a:pt x="195" y="1247"/>
                    </a:lnTo>
                    <a:lnTo>
                      <a:pt x="188" y="1211"/>
                    </a:lnTo>
                    <a:lnTo>
                      <a:pt x="180" y="1164"/>
                    </a:lnTo>
                    <a:lnTo>
                      <a:pt x="173" y="1119"/>
                    </a:lnTo>
                    <a:lnTo>
                      <a:pt x="166" y="1068"/>
                    </a:lnTo>
                    <a:lnTo>
                      <a:pt x="158" y="1023"/>
                    </a:lnTo>
                    <a:lnTo>
                      <a:pt x="155" y="994"/>
                    </a:lnTo>
                    <a:lnTo>
                      <a:pt x="143" y="891"/>
                    </a:lnTo>
                    <a:lnTo>
                      <a:pt x="117" y="677"/>
                    </a:lnTo>
                    <a:lnTo>
                      <a:pt x="104" y="569"/>
                    </a:lnTo>
                    <a:lnTo>
                      <a:pt x="100" y="541"/>
                    </a:lnTo>
                    <a:lnTo>
                      <a:pt x="95" y="495"/>
                    </a:lnTo>
                    <a:lnTo>
                      <a:pt x="90" y="444"/>
                    </a:lnTo>
                    <a:lnTo>
                      <a:pt x="83" y="394"/>
                    </a:lnTo>
                    <a:lnTo>
                      <a:pt x="78" y="346"/>
                    </a:lnTo>
                    <a:lnTo>
                      <a:pt x="72" y="304"/>
                    </a:lnTo>
                    <a:lnTo>
                      <a:pt x="67" y="265"/>
                    </a:lnTo>
                    <a:lnTo>
                      <a:pt x="61" y="230"/>
                    </a:lnTo>
                    <a:lnTo>
                      <a:pt x="60" y="213"/>
                    </a:lnTo>
                    <a:lnTo>
                      <a:pt x="57" y="198"/>
                    </a:lnTo>
                    <a:lnTo>
                      <a:pt x="52" y="168"/>
                    </a:lnTo>
                    <a:lnTo>
                      <a:pt x="47" y="139"/>
                    </a:lnTo>
                    <a:lnTo>
                      <a:pt x="41" y="107"/>
                    </a:lnTo>
                    <a:lnTo>
                      <a:pt x="38" y="87"/>
                    </a:lnTo>
                    <a:lnTo>
                      <a:pt x="34" y="72"/>
                    </a:lnTo>
                    <a:lnTo>
                      <a:pt x="31" y="56"/>
                    </a:lnTo>
                    <a:lnTo>
                      <a:pt x="27" y="39"/>
                    </a:lnTo>
                    <a:lnTo>
                      <a:pt x="25" y="38"/>
                    </a:lnTo>
                    <a:lnTo>
                      <a:pt x="22" y="26"/>
                    </a:lnTo>
                    <a:lnTo>
                      <a:pt x="16" y="16"/>
                    </a:lnTo>
                    <a:lnTo>
                      <a:pt x="10" y="4"/>
                    </a:lnTo>
                    <a:lnTo>
                      <a:pt x="3" y="0"/>
                    </a:lnTo>
                    <a:lnTo>
                      <a:pt x="0"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839" name="Rectangle 186"/>
            <p:cNvSpPr>
              <a:spLocks noChangeArrowheads="1"/>
            </p:cNvSpPr>
            <p:nvPr/>
          </p:nvSpPr>
          <p:spPr bwMode="auto">
            <a:xfrm>
              <a:off x="5223" y="999"/>
              <a:ext cx="779"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lang="en-US" altLang="ko-KR" sz="1200" dirty="0">
                  <a:latin typeface="맑은 고딕" pitchFamily="50" charset="-127"/>
                  <a:ea typeface="맑은 고딕" pitchFamily="50" charset="-127"/>
                </a:rPr>
                <a:t>Current Level</a:t>
              </a:r>
              <a:endParaRPr lang="ko-KR" altLang="en-US" sz="1200" dirty="0">
                <a:latin typeface="맑은 고딕" pitchFamily="50" charset="-127"/>
                <a:ea typeface="맑은 고딕" pitchFamily="50" charset="-127"/>
              </a:endParaRPr>
            </a:p>
          </p:txBody>
        </p:sp>
        <p:sp>
          <p:nvSpPr>
            <p:cNvPr id="290840" name="Line 187"/>
            <p:cNvSpPr>
              <a:spLocks noChangeShapeType="1"/>
            </p:cNvSpPr>
            <p:nvPr/>
          </p:nvSpPr>
          <p:spPr bwMode="auto">
            <a:xfrm>
              <a:off x="5175" y="940"/>
              <a:ext cx="0" cy="1077"/>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290843" name="Group 188"/>
            <p:cNvGrpSpPr>
              <a:grpSpLocks/>
            </p:cNvGrpSpPr>
            <p:nvPr/>
          </p:nvGrpSpPr>
          <p:grpSpPr bwMode="auto">
            <a:xfrm>
              <a:off x="3276" y="932"/>
              <a:ext cx="813" cy="750"/>
              <a:chOff x="3455" y="3017"/>
              <a:chExt cx="750" cy="750"/>
            </a:xfrm>
          </p:grpSpPr>
          <p:grpSp>
            <p:nvGrpSpPr>
              <p:cNvPr id="290844" name="Group 189"/>
              <p:cNvGrpSpPr>
                <a:grpSpLocks/>
              </p:cNvGrpSpPr>
              <p:nvPr/>
            </p:nvGrpSpPr>
            <p:grpSpPr bwMode="auto">
              <a:xfrm>
                <a:off x="3455" y="3017"/>
                <a:ext cx="750" cy="750"/>
                <a:chOff x="3455" y="3017"/>
                <a:chExt cx="750" cy="750"/>
              </a:xfrm>
            </p:grpSpPr>
            <p:grpSp>
              <p:nvGrpSpPr>
                <p:cNvPr id="290845" name="Group 190"/>
                <p:cNvGrpSpPr>
                  <a:grpSpLocks/>
                </p:cNvGrpSpPr>
                <p:nvPr/>
              </p:nvGrpSpPr>
              <p:grpSpPr bwMode="auto">
                <a:xfrm>
                  <a:off x="3455" y="3017"/>
                  <a:ext cx="750" cy="750"/>
                  <a:chOff x="3455" y="3017"/>
                  <a:chExt cx="750" cy="750"/>
                </a:xfrm>
              </p:grpSpPr>
              <p:grpSp>
                <p:nvGrpSpPr>
                  <p:cNvPr id="290846" name="Group 191"/>
                  <p:cNvGrpSpPr>
                    <a:grpSpLocks/>
                  </p:cNvGrpSpPr>
                  <p:nvPr/>
                </p:nvGrpSpPr>
                <p:grpSpPr bwMode="auto">
                  <a:xfrm>
                    <a:off x="3455" y="3017"/>
                    <a:ext cx="750" cy="750"/>
                    <a:chOff x="3455" y="3017"/>
                    <a:chExt cx="750" cy="750"/>
                  </a:xfrm>
                </p:grpSpPr>
                <p:sp>
                  <p:nvSpPr>
                    <p:cNvPr id="290956" name="Oval 192"/>
                    <p:cNvSpPr>
                      <a:spLocks noChangeArrowheads="1"/>
                    </p:cNvSpPr>
                    <p:nvPr/>
                  </p:nvSpPr>
                  <p:spPr bwMode="auto">
                    <a:xfrm>
                      <a:off x="3455" y="3017"/>
                      <a:ext cx="750" cy="750"/>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0957" name="Oval 193"/>
                    <p:cNvSpPr>
                      <a:spLocks noChangeArrowheads="1"/>
                    </p:cNvSpPr>
                    <p:nvPr/>
                  </p:nvSpPr>
                  <p:spPr bwMode="auto">
                    <a:xfrm>
                      <a:off x="3534" y="3092"/>
                      <a:ext cx="591" cy="597"/>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0955" name="Oval 194"/>
                  <p:cNvSpPr>
                    <a:spLocks noChangeArrowheads="1"/>
                  </p:cNvSpPr>
                  <p:nvPr/>
                </p:nvSpPr>
                <p:spPr bwMode="auto">
                  <a:xfrm>
                    <a:off x="3614" y="3173"/>
                    <a:ext cx="431" cy="435"/>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0953" name="Oval 195"/>
                <p:cNvSpPr>
                  <a:spLocks noChangeArrowheads="1"/>
                </p:cNvSpPr>
                <p:nvPr/>
              </p:nvSpPr>
              <p:spPr bwMode="auto">
                <a:xfrm>
                  <a:off x="3693" y="3253"/>
                  <a:ext cx="274" cy="275"/>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0951" name="Oval 196"/>
              <p:cNvSpPr>
                <a:spLocks noChangeArrowheads="1"/>
              </p:cNvSpPr>
              <p:nvPr/>
            </p:nvSpPr>
            <p:spPr bwMode="auto">
              <a:xfrm>
                <a:off x="3772" y="3332"/>
                <a:ext cx="115" cy="117"/>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grpSp>
          <p:nvGrpSpPr>
            <p:cNvPr id="290847" name="Group 197"/>
            <p:cNvGrpSpPr>
              <a:grpSpLocks/>
            </p:cNvGrpSpPr>
            <p:nvPr/>
          </p:nvGrpSpPr>
          <p:grpSpPr bwMode="auto">
            <a:xfrm>
              <a:off x="3863" y="917"/>
              <a:ext cx="201" cy="150"/>
              <a:chOff x="3997" y="3002"/>
              <a:chExt cx="185" cy="150"/>
            </a:xfrm>
          </p:grpSpPr>
          <p:sp>
            <p:nvSpPr>
              <p:cNvPr id="290935" name="Freeform 198"/>
              <p:cNvSpPr>
                <a:spLocks/>
              </p:cNvSpPr>
              <p:nvPr/>
            </p:nvSpPr>
            <p:spPr bwMode="auto">
              <a:xfrm>
                <a:off x="3999" y="3135"/>
                <a:ext cx="17" cy="17"/>
              </a:xfrm>
              <a:custGeom>
                <a:avLst/>
                <a:gdLst>
                  <a:gd name="T0" fmla="*/ 0 w 17"/>
                  <a:gd name="T1" fmla="*/ 7 h 17"/>
                  <a:gd name="T2" fmla="*/ 7 w 17"/>
                  <a:gd name="T3" fmla="*/ 0 h 17"/>
                  <a:gd name="T4" fmla="*/ 16 w 17"/>
                  <a:gd name="T5" fmla="*/ 16 h 17"/>
                  <a:gd name="T6" fmla="*/ 2 w 17"/>
                  <a:gd name="T7" fmla="*/ 13 h 17"/>
                  <a:gd name="T8" fmla="*/ 0 w 17"/>
                  <a:gd name="T9" fmla="*/ 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7"/>
                    </a:moveTo>
                    <a:lnTo>
                      <a:pt x="7" y="0"/>
                    </a:lnTo>
                    <a:lnTo>
                      <a:pt x="16" y="16"/>
                    </a:lnTo>
                    <a:lnTo>
                      <a:pt x="2" y="13"/>
                    </a:lnTo>
                    <a:lnTo>
                      <a:pt x="0" y="7"/>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36" name="Freeform 199"/>
              <p:cNvSpPr>
                <a:spLocks/>
              </p:cNvSpPr>
              <p:nvPr/>
            </p:nvSpPr>
            <p:spPr bwMode="auto">
              <a:xfrm>
                <a:off x="3997" y="3121"/>
                <a:ext cx="17" cy="20"/>
              </a:xfrm>
              <a:custGeom>
                <a:avLst/>
                <a:gdLst>
                  <a:gd name="T0" fmla="*/ 10 w 17"/>
                  <a:gd name="T1" fmla="*/ 0 h 20"/>
                  <a:gd name="T2" fmla="*/ 16 w 17"/>
                  <a:gd name="T3" fmla="*/ 14 h 20"/>
                  <a:gd name="T4" fmla="*/ 3 w 17"/>
                  <a:gd name="T5" fmla="*/ 19 h 20"/>
                  <a:gd name="T6" fmla="*/ 0 w 17"/>
                  <a:gd name="T7" fmla="*/ 14 h 20"/>
                  <a:gd name="T8" fmla="*/ 10 w 17"/>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0">
                    <a:moveTo>
                      <a:pt x="10" y="0"/>
                    </a:moveTo>
                    <a:lnTo>
                      <a:pt x="16" y="14"/>
                    </a:lnTo>
                    <a:lnTo>
                      <a:pt x="3" y="19"/>
                    </a:lnTo>
                    <a:lnTo>
                      <a:pt x="0" y="14"/>
                    </a:lnTo>
                    <a:lnTo>
                      <a:pt x="10"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37" name="Freeform 200"/>
              <p:cNvSpPr>
                <a:spLocks/>
              </p:cNvSpPr>
              <p:nvPr/>
            </p:nvSpPr>
            <p:spPr bwMode="auto">
              <a:xfrm>
                <a:off x="4002" y="3121"/>
                <a:ext cx="17" cy="25"/>
              </a:xfrm>
              <a:custGeom>
                <a:avLst/>
                <a:gdLst>
                  <a:gd name="T0" fmla="*/ 0 w 17"/>
                  <a:gd name="T1" fmla="*/ 0 h 25"/>
                  <a:gd name="T2" fmla="*/ 4 w 17"/>
                  <a:gd name="T3" fmla="*/ 15 h 25"/>
                  <a:gd name="T4" fmla="*/ 16 w 17"/>
                  <a:gd name="T5" fmla="*/ 24 h 25"/>
                  <a:gd name="T6" fmla="*/ 10 w 17"/>
                  <a:gd name="T7" fmla="*/ 12 h 25"/>
                  <a:gd name="T8" fmla="*/ 0 w 17"/>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5">
                    <a:moveTo>
                      <a:pt x="0" y="0"/>
                    </a:moveTo>
                    <a:lnTo>
                      <a:pt x="4" y="15"/>
                    </a:lnTo>
                    <a:lnTo>
                      <a:pt x="16" y="24"/>
                    </a:lnTo>
                    <a:lnTo>
                      <a:pt x="10"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290848" name="Group 201"/>
              <p:cNvGrpSpPr>
                <a:grpSpLocks/>
              </p:cNvGrpSpPr>
              <p:nvPr/>
            </p:nvGrpSpPr>
            <p:grpSpPr bwMode="auto">
              <a:xfrm>
                <a:off x="4004" y="3002"/>
                <a:ext cx="178" cy="139"/>
                <a:chOff x="4004" y="3002"/>
                <a:chExt cx="178" cy="139"/>
              </a:xfrm>
            </p:grpSpPr>
            <p:sp>
              <p:nvSpPr>
                <p:cNvPr id="290939" name="Freeform 202"/>
                <p:cNvSpPr>
                  <a:spLocks/>
                </p:cNvSpPr>
                <p:nvPr/>
              </p:nvSpPr>
              <p:spPr bwMode="auto">
                <a:xfrm>
                  <a:off x="4004" y="3040"/>
                  <a:ext cx="153" cy="99"/>
                </a:xfrm>
                <a:custGeom>
                  <a:avLst/>
                  <a:gdLst>
                    <a:gd name="T0" fmla="*/ 122 w 153"/>
                    <a:gd name="T1" fmla="*/ 0 h 99"/>
                    <a:gd name="T2" fmla="*/ 3 w 153"/>
                    <a:gd name="T3" fmla="*/ 89 h 99"/>
                    <a:gd name="T4" fmla="*/ 2 w 153"/>
                    <a:gd name="T5" fmla="*/ 90 h 99"/>
                    <a:gd name="T6" fmla="*/ 1 w 153"/>
                    <a:gd name="T7" fmla="*/ 92 h 99"/>
                    <a:gd name="T8" fmla="*/ 0 w 153"/>
                    <a:gd name="T9" fmla="*/ 94 h 99"/>
                    <a:gd name="T10" fmla="*/ 1 w 153"/>
                    <a:gd name="T11" fmla="*/ 96 h 99"/>
                    <a:gd name="T12" fmla="*/ 2 w 153"/>
                    <a:gd name="T13" fmla="*/ 97 h 99"/>
                    <a:gd name="T14" fmla="*/ 4 w 153"/>
                    <a:gd name="T15" fmla="*/ 98 h 99"/>
                    <a:gd name="T16" fmla="*/ 6 w 153"/>
                    <a:gd name="T17" fmla="*/ 96 h 99"/>
                    <a:gd name="T18" fmla="*/ 152 w 153"/>
                    <a:gd name="T19" fmla="*/ 28 h 99"/>
                    <a:gd name="T20" fmla="*/ 122 w 153"/>
                    <a:gd name="T21" fmla="*/ 0 h 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3" h="99">
                      <a:moveTo>
                        <a:pt x="122" y="0"/>
                      </a:moveTo>
                      <a:lnTo>
                        <a:pt x="3" y="89"/>
                      </a:lnTo>
                      <a:lnTo>
                        <a:pt x="2" y="90"/>
                      </a:lnTo>
                      <a:lnTo>
                        <a:pt x="1" y="92"/>
                      </a:lnTo>
                      <a:lnTo>
                        <a:pt x="0" y="94"/>
                      </a:lnTo>
                      <a:lnTo>
                        <a:pt x="1" y="96"/>
                      </a:lnTo>
                      <a:lnTo>
                        <a:pt x="2" y="97"/>
                      </a:lnTo>
                      <a:lnTo>
                        <a:pt x="4" y="98"/>
                      </a:lnTo>
                      <a:lnTo>
                        <a:pt x="6" y="96"/>
                      </a:lnTo>
                      <a:lnTo>
                        <a:pt x="152" y="28"/>
                      </a:lnTo>
                      <a:lnTo>
                        <a:pt x="122"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0" name="Freeform 203"/>
                <p:cNvSpPr>
                  <a:spLocks/>
                </p:cNvSpPr>
                <p:nvPr/>
              </p:nvSpPr>
              <p:spPr bwMode="auto">
                <a:xfrm>
                  <a:off x="4115" y="3035"/>
                  <a:ext cx="52" cy="25"/>
                </a:xfrm>
                <a:custGeom>
                  <a:avLst/>
                  <a:gdLst>
                    <a:gd name="T0" fmla="*/ 2 w 52"/>
                    <a:gd name="T1" fmla="*/ 12 h 25"/>
                    <a:gd name="T2" fmla="*/ 21 w 52"/>
                    <a:gd name="T3" fmla="*/ 0 h 25"/>
                    <a:gd name="T4" fmla="*/ 51 w 52"/>
                    <a:gd name="T5" fmla="*/ 21 h 25"/>
                    <a:gd name="T6" fmla="*/ 46 w 52"/>
                    <a:gd name="T7" fmla="*/ 24 h 25"/>
                    <a:gd name="T8" fmla="*/ 19 w 52"/>
                    <a:gd name="T9" fmla="*/ 7 h 25"/>
                    <a:gd name="T10" fmla="*/ 0 w 52"/>
                    <a:gd name="T11" fmla="*/ 18 h 25"/>
                    <a:gd name="T12" fmla="*/ 2 w 52"/>
                    <a:gd name="T13" fmla="*/ 12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25">
                      <a:moveTo>
                        <a:pt x="2" y="12"/>
                      </a:moveTo>
                      <a:lnTo>
                        <a:pt x="21" y="0"/>
                      </a:lnTo>
                      <a:lnTo>
                        <a:pt x="51" y="21"/>
                      </a:lnTo>
                      <a:lnTo>
                        <a:pt x="46" y="24"/>
                      </a:lnTo>
                      <a:lnTo>
                        <a:pt x="19" y="7"/>
                      </a:lnTo>
                      <a:lnTo>
                        <a:pt x="0" y="18"/>
                      </a:lnTo>
                      <a:lnTo>
                        <a:pt x="2" y="12"/>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1" name="Freeform 204"/>
                <p:cNvSpPr>
                  <a:spLocks/>
                </p:cNvSpPr>
                <p:nvPr/>
              </p:nvSpPr>
              <p:spPr bwMode="auto">
                <a:xfrm>
                  <a:off x="4115" y="3031"/>
                  <a:ext cx="49" cy="48"/>
                </a:xfrm>
                <a:custGeom>
                  <a:avLst/>
                  <a:gdLst>
                    <a:gd name="T0" fmla="*/ 25 w 49"/>
                    <a:gd name="T1" fmla="*/ 0 h 48"/>
                    <a:gd name="T2" fmla="*/ 2 w 49"/>
                    <a:gd name="T3" fmla="*/ 16 h 48"/>
                    <a:gd name="T4" fmla="*/ 1 w 49"/>
                    <a:gd name="T5" fmla="*/ 18 h 48"/>
                    <a:gd name="T6" fmla="*/ 0 w 49"/>
                    <a:gd name="T7" fmla="*/ 21 h 48"/>
                    <a:gd name="T8" fmla="*/ 0 w 49"/>
                    <a:gd name="T9" fmla="*/ 25 h 48"/>
                    <a:gd name="T10" fmla="*/ 0 w 49"/>
                    <a:gd name="T11" fmla="*/ 28 h 48"/>
                    <a:gd name="T12" fmla="*/ 0 w 49"/>
                    <a:gd name="T13" fmla="*/ 32 h 48"/>
                    <a:gd name="T14" fmla="*/ 1 w 49"/>
                    <a:gd name="T15" fmla="*/ 35 h 48"/>
                    <a:gd name="T16" fmla="*/ 3 w 49"/>
                    <a:gd name="T17" fmla="*/ 38 h 48"/>
                    <a:gd name="T18" fmla="*/ 5 w 49"/>
                    <a:gd name="T19" fmla="*/ 41 h 48"/>
                    <a:gd name="T20" fmla="*/ 9 w 49"/>
                    <a:gd name="T21" fmla="*/ 43 h 48"/>
                    <a:gd name="T22" fmla="*/ 12 w 49"/>
                    <a:gd name="T23" fmla="*/ 45 h 48"/>
                    <a:gd name="T24" fmla="*/ 15 w 49"/>
                    <a:gd name="T25" fmla="*/ 46 h 48"/>
                    <a:gd name="T26" fmla="*/ 19 w 49"/>
                    <a:gd name="T27" fmla="*/ 47 h 48"/>
                    <a:gd name="T28" fmla="*/ 22 w 49"/>
                    <a:gd name="T29" fmla="*/ 47 h 48"/>
                    <a:gd name="T30" fmla="*/ 48 w 49"/>
                    <a:gd name="T31" fmla="*/ 35 h 48"/>
                    <a:gd name="T32" fmla="*/ 21 w 49"/>
                    <a:gd name="T33" fmla="*/ 9 h 48"/>
                    <a:gd name="T34" fmla="*/ 2 w 49"/>
                    <a:gd name="T35" fmla="*/ 20 h 48"/>
                    <a:gd name="T36" fmla="*/ 4 w 49"/>
                    <a:gd name="T37" fmla="*/ 17 h 48"/>
                    <a:gd name="T38" fmla="*/ 23 w 49"/>
                    <a:gd name="T39" fmla="*/ 4 h 48"/>
                    <a:gd name="T40" fmla="*/ 25 w 49"/>
                    <a:gd name="T41" fmla="*/ 0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48">
                      <a:moveTo>
                        <a:pt x="25" y="0"/>
                      </a:moveTo>
                      <a:lnTo>
                        <a:pt x="2" y="16"/>
                      </a:lnTo>
                      <a:lnTo>
                        <a:pt x="1" y="18"/>
                      </a:lnTo>
                      <a:lnTo>
                        <a:pt x="0" y="21"/>
                      </a:lnTo>
                      <a:lnTo>
                        <a:pt x="0" y="25"/>
                      </a:lnTo>
                      <a:lnTo>
                        <a:pt x="0" y="28"/>
                      </a:lnTo>
                      <a:lnTo>
                        <a:pt x="0" y="32"/>
                      </a:lnTo>
                      <a:lnTo>
                        <a:pt x="1" y="35"/>
                      </a:lnTo>
                      <a:lnTo>
                        <a:pt x="3" y="38"/>
                      </a:lnTo>
                      <a:lnTo>
                        <a:pt x="5" y="41"/>
                      </a:lnTo>
                      <a:lnTo>
                        <a:pt x="9" y="43"/>
                      </a:lnTo>
                      <a:lnTo>
                        <a:pt x="12" y="45"/>
                      </a:lnTo>
                      <a:lnTo>
                        <a:pt x="15" y="46"/>
                      </a:lnTo>
                      <a:lnTo>
                        <a:pt x="19" y="47"/>
                      </a:lnTo>
                      <a:lnTo>
                        <a:pt x="22" y="47"/>
                      </a:lnTo>
                      <a:lnTo>
                        <a:pt x="48" y="35"/>
                      </a:lnTo>
                      <a:lnTo>
                        <a:pt x="21" y="9"/>
                      </a:lnTo>
                      <a:lnTo>
                        <a:pt x="2" y="20"/>
                      </a:lnTo>
                      <a:lnTo>
                        <a:pt x="4" y="17"/>
                      </a:lnTo>
                      <a:lnTo>
                        <a:pt x="23" y="4"/>
                      </a:lnTo>
                      <a:lnTo>
                        <a:pt x="25"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2" name="Freeform 205"/>
                <p:cNvSpPr>
                  <a:spLocks/>
                </p:cNvSpPr>
                <p:nvPr/>
              </p:nvSpPr>
              <p:spPr bwMode="auto">
                <a:xfrm>
                  <a:off x="4136" y="3040"/>
                  <a:ext cx="31" cy="28"/>
                </a:xfrm>
                <a:custGeom>
                  <a:avLst/>
                  <a:gdLst>
                    <a:gd name="T0" fmla="*/ 0 w 31"/>
                    <a:gd name="T1" fmla="*/ 0 h 28"/>
                    <a:gd name="T2" fmla="*/ 0 w 31"/>
                    <a:gd name="T3" fmla="*/ 2 h 28"/>
                    <a:gd name="T4" fmla="*/ 1 w 31"/>
                    <a:gd name="T5" fmla="*/ 4 h 28"/>
                    <a:gd name="T6" fmla="*/ 1 w 31"/>
                    <a:gd name="T7" fmla="*/ 6 h 28"/>
                    <a:gd name="T8" fmla="*/ 3 w 31"/>
                    <a:gd name="T9" fmla="*/ 9 h 28"/>
                    <a:gd name="T10" fmla="*/ 4 w 31"/>
                    <a:gd name="T11" fmla="*/ 11 h 28"/>
                    <a:gd name="T12" fmla="*/ 6 w 31"/>
                    <a:gd name="T13" fmla="*/ 15 h 28"/>
                    <a:gd name="T14" fmla="*/ 9 w 31"/>
                    <a:gd name="T15" fmla="*/ 17 h 28"/>
                    <a:gd name="T16" fmla="*/ 12 w 31"/>
                    <a:gd name="T17" fmla="*/ 19 h 28"/>
                    <a:gd name="T18" fmla="*/ 14 w 31"/>
                    <a:gd name="T19" fmla="*/ 22 h 28"/>
                    <a:gd name="T20" fmla="*/ 17 w 31"/>
                    <a:gd name="T21" fmla="*/ 24 h 28"/>
                    <a:gd name="T22" fmla="*/ 20 w 31"/>
                    <a:gd name="T23" fmla="*/ 25 h 28"/>
                    <a:gd name="T24" fmla="*/ 23 w 31"/>
                    <a:gd name="T25" fmla="*/ 26 h 28"/>
                    <a:gd name="T26" fmla="*/ 25 w 31"/>
                    <a:gd name="T27" fmla="*/ 27 h 28"/>
                    <a:gd name="T28" fmla="*/ 27 w 31"/>
                    <a:gd name="T29" fmla="*/ 26 h 28"/>
                    <a:gd name="T30" fmla="*/ 28 w 31"/>
                    <a:gd name="T31" fmla="*/ 24 h 28"/>
                    <a:gd name="T32" fmla="*/ 29 w 31"/>
                    <a:gd name="T33" fmla="*/ 22 h 28"/>
                    <a:gd name="T34" fmla="*/ 30 w 31"/>
                    <a:gd name="T35" fmla="*/ 19 h 28"/>
                    <a:gd name="T36" fmla="*/ 0 w 31"/>
                    <a:gd name="T37" fmla="*/ 0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1" h="28">
                      <a:moveTo>
                        <a:pt x="0" y="0"/>
                      </a:moveTo>
                      <a:lnTo>
                        <a:pt x="0" y="2"/>
                      </a:lnTo>
                      <a:lnTo>
                        <a:pt x="1" y="4"/>
                      </a:lnTo>
                      <a:lnTo>
                        <a:pt x="1" y="6"/>
                      </a:lnTo>
                      <a:lnTo>
                        <a:pt x="3" y="9"/>
                      </a:lnTo>
                      <a:lnTo>
                        <a:pt x="4" y="11"/>
                      </a:lnTo>
                      <a:lnTo>
                        <a:pt x="6" y="15"/>
                      </a:lnTo>
                      <a:lnTo>
                        <a:pt x="9" y="17"/>
                      </a:lnTo>
                      <a:lnTo>
                        <a:pt x="12" y="19"/>
                      </a:lnTo>
                      <a:lnTo>
                        <a:pt x="14" y="22"/>
                      </a:lnTo>
                      <a:lnTo>
                        <a:pt x="17" y="24"/>
                      </a:lnTo>
                      <a:lnTo>
                        <a:pt x="20" y="25"/>
                      </a:lnTo>
                      <a:lnTo>
                        <a:pt x="23" y="26"/>
                      </a:lnTo>
                      <a:lnTo>
                        <a:pt x="25" y="27"/>
                      </a:lnTo>
                      <a:lnTo>
                        <a:pt x="27" y="26"/>
                      </a:lnTo>
                      <a:lnTo>
                        <a:pt x="28" y="24"/>
                      </a:lnTo>
                      <a:lnTo>
                        <a:pt x="29" y="22"/>
                      </a:lnTo>
                      <a:lnTo>
                        <a:pt x="30" y="19"/>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3" name="Freeform 206"/>
                <p:cNvSpPr>
                  <a:spLocks/>
                </p:cNvSpPr>
                <p:nvPr/>
              </p:nvSpPr>
              <p:spPr bwMode="auto">
                <a:xfrm>
                  <a:off x="4137" y="3030"/>
                  <a:ext cx="30" cy="27"/>
                </a:xfrm>
                <a:custGeom>
                  <a:avLst/>
                  <a:gdLst>
                    <a:gd name="T0" fmla="*/ 0 w 30"/>
                    <a:gd name="T1" fmla="*/ 6 h 27"/>
                    <a:gd name="T2" fmla="*/ 0 w 30"/>
                    <a:gd name="T3" fmla="*/ 4 h 27"/>
                    <a:gd name="T4" fmla="*/ 0 w 30"/>
                    <a:gd name="T5" fmla="*/ 2 h 27"/>
                    <a:gd name="T6" fmla="*/ 2 w 30"/>
                    <a:gd name="T7" fmla="*/ 0 h 27"/>
                    <a:gd name="T8" fmla="*/ 5 w 30"/>
                    <a:gd name="T9" fmla="*/ 0 h 27"/>
                    <a:gd name="T10" fmla="*/ 7 w 30"/>
                    <a:gd name="T11" fmla="*/ 0 h 27"/>
                    <a:gd name="T12" fmla="*/ 10 w 30"/>
                    <a:gd name="T13" fmla="*/ 0 h 27"/>
                    <a:gd name="T14" fmla="*/ 13 w 30"/>
                    <a:gd name="T15" fmla="*/ 1 h 27"/>
                    <a:gd name="T16" fmla="*/ 17 w 30"/>
                    <a:gd name="T17" fmla="*/ 3 h 27"/>
                    <a:gd name="T18" fmla="*/ 20 w 30"/>
                    <a:gd name="T19" fmla="*/ 5 h 27"/>
                    <a:gd name="T20" fmla="*/ 22 w 30"/>
                    <a:gd name="T21" fmla="*/ 7 h 27"/>
                    <a:gd name="T22" fmla="*/ 24 w 30"/>
                    <a:gd name="T23" fmla="*/ 10 h 27"/>
                    <a:gd name="T24" fmla="*/ 26 w 30"/>
                    <a:gd name="T25" fmla="*/ 13 h 27"/>
                    <a:gd name="T26" fmla="*/ 27 w 30"/>
                    <a:gd name="T27" fmla="*/ 15 h 27"/>
                    <a:gd name="T28" fmla="*/ 28 w 30"/>
                    <a:gd name="T29" fmla="*/ 19 h 27"/>
                    <a:gd name="T30" fmla="*/ 29 w 30"/>
                    <a:gd name="T31" fmla="*/ 23 h 27"/>
                    <a:gd name="T32" fmla="*/ 29 w 30"/>
                    <a:gd name="T33" fmla="*/ 26 h 27"/>
                    <a:gd name="T34" fmla="*/ 0 w 30"/>
                    <a:gd name="T35" fmla="*/ 6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0" h="27">
                      <a:moveTo>
                        <a:pt x="0" y="6"/>
                      </a:moveTo>
                      <a:lnTo>
                        <a:pt x="0" y="4"/>
                      </a:lnTo>
                      <a:lnTo>
                        <a:pt x="0" y="2"/>
                      </a:lnTo>
                      <a:lnTo>
                        <a:pt x="2" y="0"/>
                      </a:lnTo>
                      <a:lnTo>
                        <a:pt x="5" y="0"/>
                      </a:lnTo>
                      <a:lnTo>
                        <a:pt x="7" y="0"/>
                      </a:lnTo>
                      <a:lnTo>
                        <a:pt x="10" y="0"/>
                      </a:lnTo>
                      <a:lnTo>
                        <a:pt x="13" y="1"/>
                      </a:lnTo>
                      <a:lnTo>
                        <a:pt x="17" y="3"/>
                      </a:lnTo>
                      <a:lnTo>
                        <a:pt x="20" y="5"/>
                      </a:lnTo>
                      <a:lnTo>
                        <a:pt x="22" y="7"/>
                      </a:lnTo>
                      <a:lnTo>
                        <a:pt x="24" y="10"/>
                      </a:lnTo>
                      <a:lnTo>
                        <a:pt x="26" y="13"/>
                      </a:lnTo>
                      <a:lnTo>
                        <a:pt x="27" y="15"/>
                      </a:lnTo>
                      <a:lnTo>
                        <a:pt x="28" y="19"/>
                      </a:lnTo>
                      <a:lnTo>
                        <a:pt x="29" y="23"/>
                      </a:lnTo>
                      <a:lnTo>
                        <a:pt x="29" y="26"/>
                      </a:lnTo>
                      <a:lnTo>
                        <a:pt x="0" y="6"/>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4" name="Freeform 207"/>
                <p:cNvSpPr>
                  <a:spLocks/>
                </p:cNvSpPr>
                <p:nvPr/>
              </p:nvSpPr>
              <p:spPr bwMode="auto">
                <a:xfrm>
                  <a:off x="4069" y="3002"/>
                  <a:ext cx="66" cy="85"/>
                </a:xfrm>
                <a:custGeom>
                  <a:avLst/>
                  <a:gdLst>
                    <a:gd name="T0" fmla="*/ 0 w 66"/>
                    <a:gd name="T1" fmla="*/ 84 h 85"/>
                    <a:gd name="T2" fmla="*/ 53 w 66"/>
                    <a:gd name="T3" fmla="*/ 44 h 85"/>
                    <a:gd name="T4" fmla="*/ 65 w 66"/>
                    <a:gd name="T5" fmla="*/ 0 h 85"/>
                    <a:gd name="T6" fmla="*/ 50 w 66"/>
                    <a:gd name="T7" fmla="*/ 15 h 85"/>
                    <a:gd name="T8" fmla="*/ 47 w 66"/>
                    <a:gd name="T9" fmla="*/ 21 h 85"/>
                    <a:gd name="T10" fmla="*/ 45 w 66"/>
                    <a:gd name="T11" fmla="*/ 17 h 85"/>
                    <a:gd name="T12" fmla="*/ 30 w 66"/>
                    <a:gd name="T13" fmla="*/ 40 h 85"/>
                    <a:gd name="T14" fmla="*/ 29 w 66"/>
                    <a:gd name="T15" fmla="*/ 34 h 85"/>
                    <a:gd name="T16" fmla="*/ 11 w 66"/>
                    <a:gd name="T17" fmla="*/ 56 h 85"/>
                    <a:gd name="T18" fmla="*/ 0 w 66"/>
                    <a:gd name="T19" fmla="*/ 84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85">
                      <a:moveTo>
                        <a:pt x="0" y="84"/>
                      </a:moveTo>
                      <a:lnTo>
                        <a:pt x="53" y="44"/>
                      </a:lnTo>
                      <a:lnTo>
                        <a:pt x="65" y="0"/>
                      </a:lnTo>
                      <a:lnTo>
                        <a:pt x="50" y="15"/>
                      </a:lnTo>
                      <a:lnTo>
                        <a:pt x="47" y="21"/>
                      </a:lnTo>
                      <a:lnTo>
                        <a:pt x="45" y="17"/>
                      </a:lnTo>
                      <a:lnTo>
                        <a:pt x="30" y="40"/>
                      </a:lnTo>
                      <a:lnTo>
                        <a:pt x="29" y="34"/>
                      </a:lnTo>
                      <a:lnTo>
                        <a:pt x="11" y="56"/>
                      </a:lnTo>
                      <a:lnTo>
                        <a:pt x="0" y="84"/>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5" name="Freeform 208"/>
                <p:cNvSpPr>
                  <a:spLocks/>
                </p:cNvSpPr>
                <p:nvPr/>
              </p:nvSpPr>
              <p:spPr bwMode="auto">
                <a:xfrm>
                  <a:off x="4072" y="3051"/>
                  <a:ext cx="58" cy="42"/>
                </a:xfrm>
                <a:custGeom>
                  <a:avLst/>
                  <a:gdLst>
                    <a:gd name="T0" fmla="*/ 6 w 58"/>
                    <a:gd name="T1" fmla="*/ 33 h 42"/>
                    <a:gd name="T2" fmla="*/ 57 w 58"/>
                    <a:gd name="T3" fmla="*/ 0 h 42"/>
                    <a:gd name="T4" fmla="*/ 43 w 58"/>
                    <a:gd name="T5" fmla="*/ 14 h 42"/>
                    <a:gd name="T6" fmla="*/ 0 w 58"/>
                    <a:gd name="T7" fmla="*/ 41 h 42"/>
                    <a:gd name="T8" fmla="*/ 6 w 58"/>
                    <a:gd name="T9" fmla="*/ 33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8" h="42">
                      <a:moveTo>
                        <a:pt x="6" y="33"/>
                      </a:moveTo>
                      <a:lnTo>
                        <a:pt x="57" y="0"/>
                      </a:lnTo>
                      <a:lnTo>
                        <a:pt x="43" y="14"/>
                      </a:lnTo>
                      <a:lnTo>
                        <a:pt x="0" y="41"/>
                      </a:lnTo>
                      <a:lnTo>
                        <a:pt x="6" y="33"/>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6" name="Freeform 209"/>
                <p:cNvSpPr>
                  <a:spLocks/>
                </p:cNvSpPr>
                <p:nvPr/>
              </p:nvSpPr>
              <p:spPr bwMode="auto">
                <a:xfrm>
                  <a:off x="4074" y="3070"/>
                  <a:ext cx="108" cy="36"/>
                </a:xfrm>
                <a:custGeom>
                  <a:avLst/>
                  <a:gdLst>
                    <a:gd name="T0" fmla="*/ 0 w 108"/>
                    <a:gd name="T1" fmla="*/ 30 h 36"/>
                    <a:gd name="T2" fmla="*/ 67 w 108"/>
                    <a:gd name="T3" fmla="*/ 0 h 36"/>
                    <a:gd name="T4" fmla="*/ 107 w 108"/>
                    <a:gd name="T5" fmla="*/ 15 h 36"/>
                    <a:gd name="T6" fmla="*/ 86 w 108"/>
                    <a:gd name="T7" fmla="*/ 19 h 36"/>
                    <a:gd name="T8" fmla="*/ 79 w 108"/>
                    <a:gd name="T9" fmla="*/ 19 h 36"/>
                    <a:gd name="T10" fmla="*/ 83 w 108"/>
                    <a:gd name="T11" fmla="*/ 22 h 36"/>
                    <a:gd name="T12" fmla="*/ 61 w 108"/>
                    <a:gd name="T13" fmla="*/ 27 h 36"/>
                    <a:gd name="T14" fmla="*/ 54 w 108"/>
                    <a:gd name="T15" fmla="*/ 27 h 36"/>
                    <a:gd name="T16" fmla="*/ 59 w 108"/>
                    <a:gd name="T17" fmla="*/ 29 h 36"/>
                    <a:gd name="T18" fmla="*/ 29 w 108"/>
                    <a:gd name="T19" fmla="*/ 35 h 36"/>
                    <a:gd name="T20" fmla="*/ 0 w 108"/>
                    <a:gd name="T21" fmla="*/ 3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36">
                      <a:moveTo>
                        <a:pt x="0" y="30"/>
                      </a:moveTo>
                      <a:lnTo>
                        <a:pt x="67" y="0"/>
                      </a:lnTo>
                      <a:lnTo>
                        <a:pt x="107" y="15"/>
                      </a:lnTo>
                      <a:lnTo>
                        <a:pt x="86" y="19"/>
                      </a:lnTo>
                      <a:lnTo>
                        <a:pt x="79" y="19"/>
                      </a:lnTo>
                      <a:lnTo>
                        <a:pt x="83" y="22"/>
                      </a:lnTo>
                      <a:lnTo>
                        <a:pt x="61" y="27"/>
                      </a:lnTo>
                      <a:lnTo>
                        <a:pt x="54" y="27"/>
                      </a:lnTo>
                      <a:lnTo>
                        <a:pt x="59" y="29"/>
                      </a:lnTo>
                      <a:lnTo>
                        <a:pt x="29" y="35"/>
                      </a:lnTo>
                      <a:lnTo>
                        <a:pt x="0" y="3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7" name="Freeform 210"/>
                <p:cNvSpPr>
                  <a:spLocks/>
                </p:cNvSpPr>
                <p:nvPr/>
              </p:nvSpPr>
              <p:spPr bwMode="auto">
                <a:xfrm>
                  <a:off x="4050" y="3082"/>
                  <a:ext cx="32" cy="33"/>
                </a:xfrm>
                <a:custGeom>
                  <a:avLst/>
                  <a:gdLst>
                    <a:gd name="T0" fmla="*/ 20 w 32"/>
                    <a:gd name="T1" fmla="*/ 0 h 33"/>
                    <a:gd name="T2" fmla="*/ 19 w 32"/>
                    <a:gd name="T3" fmla="*/ 3 h 33"/>
                    <a:gd name="T4" fmla="*/ 19 w 32"/>
                    <a:gd name="T5" fmla="*/ 6 h 33"/>
                    <a:gd name="T6" fmla="*/ 18 w 32"/>
                    <a:gd name="T7" fmla="*/ 9 h 33"/>
                    <a:gd name="T8" fmla="*/ 19 w 32"/>
                    <a:gd name="T9" fmla="*/ 12 h 33"/>
                    <a:gd name="T10" fmla="*/ 20 w 32"/>
                    <a:gd name="T11" fmla="*/ 15 h 33"/>
                    <a:gd name="T12" fmla="*/ 21 w 32"/>
                    <a:gd name="T13" fmla="*/ 17 h 33"/>
                    <a:gd name="T14" fmla="*/ 23 w 32"/>
                    <a:gd name="T15" fmla="*/ 19 h 33"/>
                    <a:gd name="T16" fmla="*/ 26 w 32"/>
                    <a:gd name="T17" fmla="*/ 21 h 33"/>
                    <a:gd name="T18" fmla="*/ 29 w 32"/>
                    <a:gd name="T19" fmla="*/ 21 h 33"/>
                    <a:gd name="T20" fmla="*/ 31 w 32"/>
                    <a:gd name="T21" fmla="*/ 22 h 33"/>
                    <a:gd name="T22" fmla="*/ 10 w 32"/>
                    <a:gd name="T23" fmla="*/ 32 h 33"/>
                    <a:gd name="T24" fmla="*/ 8 w 32"/>
                    <a:gd name="T25" fmla="*/ 31 h 33"/>
                    <a:gd name="T26" fmla="*/ 5 w 32"/>
                    <a:gd name="T27" fmla="*/ 30 h 33"/>
                    <a:gd name="T28" fmla="*/ 3 w 32"/>
                    <a:gd name="T29" fmla="*/ 28 h 33"/>
                    <a:gd name="T30" fmla="*/ 1 w 32"/>
                    <a:gd name="T31" fmla="*/ 27 h 33"/>
                    <a:gd name="T32" fmla="*/ 0 w 32"/>
                    <a:gd name="T33" fmla="*/ 25 h 33"/>
                    <a:gd name="T34" fmla="*/ 0 w 32"/>
                    <a:gd name="T35" fmla="*/ 23 h 33"/>
                    <a:gd name="T36" fmla="*/ 0 w 32"/>
                    <a:gd name="T37" fmla="*/ 21 h 33"/>
                    <a:gd name="T38" fmla="*/ 0 w 32"/>
                    <a:gd name="T39" fmla="*/ 18 h 33"/>
                    <a:gd name="T40" fmla="*/ 1 w 32"/>
                    <a:gd name="T41" fmla="*/ 15 h 33"/>
                    <a:gd name="T42" fmla="*/ 2 w 32"/>
                    <a:gd name="T43" fmla="*/ 13 h 33"/>
                    <a:gd name="T44" fmla="*/ 20 w 32"/>
                    <a:gd name="T45" fmla="*/ 0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2" h="33">
                      <a:moveTo>
                        <a:pt x="20" y="0"/>
                      </a:moveTo>
                      <a:lnTo>
                        <a:pt x="19" y="3"/>
                      </a:lnTo>
                      <a:lnTo>
                        <a:pt x="19" y="6"/>
                      </a:lnTo>
                      <a:lnTo>
                        <a:pt x="18" y="9"/>
                      </a:lnTo>
                      <a:lnTo>
                        <a:pt x="19" y="12"/>
                      </a:lnTo>
                      <a:lnTo>
                        <a:pt x="20" y="15"/>
                      </a:lnTo>
                      <a:lnTo>
                        <a:pt x="21" y="17"/>
                      </a:lnTo>
                      <a:lnTo>
                        <a:pt x="23" y="19"/>
                      </a:lnTo>
                      <a:lnTo>
                        <a:pt x="26" y="21"/>
                      </a:lnTo>
                      <a:lnTo>
                        <a:pt x="29" y="21"/>
                      </a:lnTo>
                      <a:lnTo>
                        <a:pt x="31" y="22"/>
                      </a:lnTo>
                      <a:lnTo>
                        <a:pt x="10" y="32"/>
                      </a:lnTo>
                      <a:lnTo>
                        <a:pt x="8" y="31"/>
                      </a:lnTo>
                      <a:lnTo>
                        <a:pt x="5" y="30"/>
                      </a:lnTo>
                      <a:lnTo>
                        <a:pt x="3" y="28"/>
                      </a:lnTo>
                      <a:lnTo>
                        <a:pt x="1" y="27"/>
                      </a:lnTo>
                      <a:lnTo>
                        <a:pt x="0" y="25"/>
                      </a:lnTo>
                      <a:lnTo>
                        <a:pt x="0" y="23"/>
                      </a:lnTo>
                      <a:lnTo>
                        <a:pt x="0" y="21"/>
                      </a:lnTo>
                      <a:lnTo>
                        <a:pt x="0" y="18"/>
                      </a:lnTo>
                      <a:lnTo>
                        <a:pt x="1" y="15"/>
                      </a:lnTo>
                      <a:lnTo>
                        <a:pt x="2" y="13"/>
                      </a:lnTo>
                      <a:lnTo>
                        <a:pt x="20"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8" name="Freeform 211"/>
                <p:cNvSpPr>
                  <a:spLocks/>
                </p:cNvSpPr>
                <p:nvPr/>
              </p:nvSpPr>
              <p:spPr bwMode="auto">
                <a:xfrm>
                  <a:off x="4055" y="3089"/>
                  <a:ext cx="17" cy="23"/>
                </a:xfrm>
                <a:custGeom>
                  <a:avLst/>
                  <a:gdLst>
                    <a:gd name="T0" fmla="*/ 7 w 17"/>
                    <a:gd name="T1" fmla="*/ 0 h 23"/>
                    <a:gd name="T2" fmla="*/ 6 w 17"/>
                    <a:gd name="T3" fmla="*/ 1 h 23"/>
                    <a:gd name="T4" fmla="*/ 5 w 17"/>
                    <a:gd name="T5" fmla="*/ 4 h 23"/>
                    <a:gd name="T6" fmla="*/ 4 w 17"/>
                    <a:gd name="T7" fmla="*/ 7 h 23"/>
                    <a:gd name="T8" fmla="*/ 4 w 17"/>
                    <a:gd name="T9" fmla="*/ 9 h 23"/>
                    <a:gd name="T10" fmla="*/ 4 w 17"/>
                    <a:gd name="T11" fmla="*/ 11 h 23"/>
                    <a:gd name="T12" fmla="*/ 5 w 17"/>
                    <a:gd name="T13" fmla="*/ 14 h 23"/>
                    <a:gd name="T14" fmla="*/ 7 w 17"/>
                    <a:gd name="T15" fmla="*/ 16 h 23"/>
                    <a:gd name="T16" fmla="*/ 10 w 17"/>
                    <a:gd name="T17" fmla="*/ 18 h 23"/>
                    <a:gd name="T18" fmla="*/ 12 w 17"/>
                    <a:gd name="T19" fmla="*/ 19 h 23"/>
                    <a:gd name="T20" fmla="*/ 16 w 17"/>
                    <a:gd name="T21" fmla="*/ 20 h 23"/>
                    <a:gd name="T22" fmla="*/ 12 w 17"/>
                    <a:gd name="T23" fmla="*/ 22 h 23"/>
                    <a:gd name="T24" fmla="*/ 9 w 17"/>
                    <a:gd name="T25" fmla="*/ 21 h 23"/>
                    <a:gd name="T26" fmla="*/ 6 w 17"/>
                    <a:gd name="T27" fmla="*/ 20 h 23"/>
                    <a:gd name="T28" fmla="*/ 4 w 17"/>
                    <a:gd name="T29" fmla="*/ 19 h 23"/>
                    <a:gd name="T30" fmla="*/ 2 w 17"/>
                    <a:gd name="T31" fmla="*/ 17 h 23"/>
                    <a:gd name="T32" fmla="*/ 1 w 17"/>
                    <a:gd name="T33" fmla="*/ 14 h 23"/>
                    <a:gd name="T34" fmla="*/ 0 w 17"/>
                    <a:gd name="T35" fmla="*/ 13 h 23"/>
                    <a:gd name="T36" fmla="*/ 0 w 17"/>
                    <a:gd name="T37" fmla="*/ 11 h 23"/>
                    <a:gd name="T38" fmla="*/ 0 w 17"/>
                    <a:gd name="T39" fmla="*/ 7 h 23"/>
                    <a:gd name="T40" fmla="*/ 1 w 17"/>
                    <a:gd name="T41" fmla="*/ 5 h 23"/>
                    <a:gd name="T42" fmla="*/ 2 w 17"/>
                    <a:gd name="T43" fmla="*/ 3 h 23"/>
                    <a:gd name="T44" fmla="*/ 7 w 17"/>
                    <a:gd name="T45" fmla="*/ 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7" h="23">
                      <a:moveTo>
                        <a:pt x="7" y="0"/>
                      </a:moveTo>
                      <a:lnTo>
                        <a:pt x="6" y="1"/>
                      </a:lnTo>
                      <a:lnTo>
                        <a:pt x="5" y="4"/>
                      </a:lnTo>
                      <a:lnTo>
                        <a:pt x="4" y="7"/>
                      </a:lnTo>
                      <a:lnTo>
                        <a:pt x="4" y="9"/>
                      </a:lnTo>
                      <a:lnTo>
                        <a:pt x="4" y="11"/>
                      </a:lnTo>
                      <a:lnTo>
                        <a:pt x="5" y="14"/>
                      </a:lnTo>
                      <a:lnTo>
                        <a:pt x="7" y="16"/>
                      </a:lnTo>
                      <a:lnTo>
                        <a:pt x="10" y="18"/>
                      </a:lnTo>
                      <a:lnTo>
                        <a:pt x="12" y="19"/>
                      </a:lnTo>
                      <a:lnTo>
                        <a:pt x="16" y="20"/>
                      </a:lnTo>
                      <a:lnTo>
                        <a:pt x="12" y="22"/>
                      </a:lnTo>
                      <a:lnTo>
                        <a:pt x="9" y="21"/>
                      </a:lnTo>
                      <a:lnTo>
                        <a:pt x="6" y="20"/>
                      </a:lnTo>
                      <a:lnTo>
                        <a:pt x="4" y="19"/>
                      </a:lnTo>
                      <a:lnTo>
                        <a:pt x="2" y="17"/>
                      </a:lnTo>
                      <a:lnTo>
                        <a:pt x="1" y="14"/>
                      </a:lnTo>
                      <a:lnTo>
                        <a:pt x="0" y="13"/>
                      </a:lnTo>
                      <a:lnTo>
                        <a:pt x="0" y="11"/>
                      </a:lnTo>
                      <a:lnTo>
                        <a:pt x="0" y="7"/>
                      </a:lnTo>
                      <a:lnTo>
                        <a:pt x="1" y="5"/>
                      </a:lnTo>
                      <a:lnTo>
                        <a:pt x="2" y="3"/>
                      </a:lnTo>
                      <a:lnTo>
                        <a:pt x="7"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49" name="Freeform 212"/>
                <p:cNvSpPr>
                  <a:spLocks/>
                </p:cNvSpPr>
                <p:nvPr/>
              </p:nvSpPr>
              <p:spPr bwMode="auto">
                <a:xfrm>
                  <a:off x="4004" y="3124"/>
                  <a:ext cx="17" cy="17"/>
                </a:xfrm>
                <a:custGeom>
                  <a:avLst/>
                  <a:gdLst>
                    <a:gd name="T0" fmla="*/ 11 w 17"/>
                    <a:gd name="T1" fmla="*/ 0 h 17"/>
                    <a:gd name="T2" fmla="*/ 3 w 17"/>
                    <a:gd name="T3" fmla="*/ 6 h 17"/>
                    <a:gd name="T4" fmla="*/ 2 w 17"/>
                    <a:gd name="T5" fmla="*/ 7 h 17"/>
                    <a:gd name="T6" fmla="*/ 1 w 17"/>
                    <a:gd name="T7" fmla="*/ 9 h 17"/>
                    <a:gd name="T8" fmla="*/ 0 w 17"/>
                    <a:gd name="T9" fmla="*/ 12 h 17"/>
                    <a:gd name="T10" fmla="*/ 1 w 17"/>
                    <a:gd name="T11" fmla="*/ 14 h 17"/>
                    <a:gd name="T12" fmla="*/ 3 w 17"/>
                    <a:gd name="T13" fmla="*/ 15 h 17"/>
                    <a:gd name="T14" fmla="*/ 4 w 17"/>
                    <a:gd name="T15" fmla="*/ 16 h 17"/>
                    <a:gd name="T16" fmla="*/ 6 w 17"/>
                    <a:gd name="T17" fmla="*/ 14 h 17"/>
                    <a:gd name="T18" fmla="*/ 16 w 17"/>
                    <a:gd name="T19" fmla="*/ 10 h 17"/>
                    <a:gd name="T20" fmla="*/ 13 w 17"/>
                    <a:gd name="T21" fmla="*/ 9 h 17"/>
                    <a:gd name="T22" fmla="*/ 12 w 17"/>
                    <a:gd name="T23" fmla="*/ 8 h 17"/>
                    <a:gd name="T24" fmla="*/ 11 w 17"/>
                    <a:gd name="T25" fmla="*/ 6 h 17"/>
                    <a:gd name="T26" fmla="*/ 11 w 17"/>
                    <a:gd name="T27" fmla="*/ 4 h 17"/>
                    <a:gd name="T28" fmla="*/ 11 w 17"/>
                    <a:gd name="T29" fmla="*/ 2 h 17"/>
                    <a:gd name="T30" fmla="*/ 11 w 17"/>
                    <a:gd name="T31" fmla="*/ 0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 h="17">
                      <a:moveTo>
                        <a:pt x="11" y="0"/>
                      </a:moveTo>
                      <a:lnTo>
                        <a:pt x="3" y="6"/>
                      </a:lnTo>
                      <a:lnTo>
                        <a:pt x="2" y="7"/>
                      </a:lnTo>
                      <a:lnTo>
                        <a:pt x="1" y="9"/>
                      </a:lnTo>
                      <a:lnTo>
                        <a:pt x="0" y="12"/>
                      </a:lnTo>
                      <a:lnTo>
                        <a:pt x="1" y="14"/>
                      </a:lnTo>
                      <a:lnTo>
                        <a:pt x="3" y="15"/>
                      </a:lnTo>
                      <a:lnTo>
                        <a:pt x="4" y="16"/>
                      </a:lnTo>
                      <a:lnTo>
                        <a:pt x="6" y="14"/>
                      </a:lnTo>
                      <a:lnTo>
                        <a:pt x="16" y="10"/>
                      </a:lnTo>
                      <a:lnTo>
                        <a:pt x="13" y="9"/>
                      </a:lnTo>
                      <a:lnTo>
                        <a:pt x="12" y="8"/>
                      </a:lnTo>
                      <a:lnTo>
                        <a:pt x="11" y="6"/>
                      </a:lnTo>
                      <a:lnTo>
                        <a:pt x="11" y="4"/>
                      </a:lnTo>
                      <a:lnTo>
                        <a:pt x="11" y="2"/>
                      </a:lnTo>
                      <a:lnTo>
                        <a:pt x="11"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grpSp>
          <p:nvGrpSpPr>
            <p:cNvPr id="290851" name="Group 213"/>
            <p:cNvGrpSpPr>
              <a:grpSpLocks/>
            </p:cNvGrpSpPr>
            <p:nvPr/>
          </p:nvGrpSpPr>
          <p:grpSpPr bwMode="auto">
            <a:xfrm>
              <a:off x="3804" y="854"/>
              <a:ext cx="175" cy="184"/>
              <a:chOff x="3942" y="2939"/>
              <a:chExt cx="162" cy="184"/>
            </a:xfrm>
          </p:grpSpPr>
          <p:sp>
            <p:nvSpPr>
              <p:cNvPr id="290920" name="Freeform 214"/>
              <p:cNvSpPr>
                <a:spLocks/>
              </p:cNvSpPr>
              <p:nvPr/>
            </p:nvSpPr>
            <p:spPr bwMode="auto">
              <a:xfrm>
                <a:off x="3945" y="3106"/>
                <a:ext cx="17" cy="17"/>
              </a:xfrm>
              <a:custGeom>
                <a:avLst/>
                <a:gdLst>
                  <a:gd name="T0" fmla="*/ 0 w 17"/>
                  <a:gd name="T1" fmla="*/ 10 h 17"/>
                  <a:gd name="T2" fmla="*/ 4 w 17"/>
                  <a:gd name="T3" fmla="*/ 0 h 17"/>
                  <a:gd name="T4" fmla="*/ 16 w 17"/>
                  <a:gd name="T5" fmla="*/ 12 h 17"/>
                  <a:gd name="T6" fmla="*/ 3 w 17"/>
                  <a:gd name="T7" fmla="*/ 16 h 17"/>
                  <a:gd name="T8" fmla="*/ 0 w 17"/>
                  <a:gd name="T9" fmla="*/ 1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10"/>
                    </a:moveTo>
                    <a:lnTo>
                      <a:pt x="4" y="0"/>
                    </a:lnTo>
                    <a:lnTo>
                      <a:pt x="16" y="12"/>
                    </a:lnTo>
                    <a:lnTo>
                      <a:pt x="3" y="16"/>
                    </a:lnTo>
                    <a:lnTo>
                      <a:pt x="0" y="10"/>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21" name="Freeform 215"/>
              <p:cNvSpPr>
                <a:spLocks/>
              </p:cNvSpPr>
              <p:nvPr/>
            </p:nvSpPr>
            <p:spPr bwMode="auto">
              <a:xfrm>
                <a:off x="3943" y="3093"/>
                <a:ext cx="18" cy="21"/>
              </a:xfrm>
              <a:custGeom>
                <a:avLst/>
                <a:gdLst>
                  <a:gd name="T0" fmla="*/ 0 w 18"/>
                  <a:gd name="T1" fmla="*/ 0 h 21"/>
                  <a:gd name="T2" fmla="*/ 10 w 18"/>
                  <a:gd name="T3" fmla="*/ 9 h 21"/>
                  <a:gd name="T4" fmla="*/ 17 w 18"/>
                  <a:gd name="T5" fmla="*/ 20 h 21"/>
                  <a:gd name="T6" fmla="*/ 6 w 18"/>
                  <a:gd name="T7" fmla="*/ 12 h 21"/>
                  <a:gd name="T8" fmla="*/ 0 w 18"/>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1">
                    <a:moveTo>
                      <a:pt x="0" y="0"/>
                    </a:moveTo>
                    <a:lnTo>
                      <a:pt x="10" y="9"/>
                    </a:lnTo>
                    <a:lnTo>
                      <a:pt x="17" y="20"/>
                    </a:lnTo>
                    <a:lnTo>
                      <a:pt x="6"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22" name="Freeform 216"/>
              <p:cNvSpPr>
                <a:spLocks/>
              </p:cNvSpPr>
              <p:nvPr/>
            </p:nvSpPr>
            <p:spPr bwMode="auto">
              <a:xfrm>
                <a:off x="3942" y="3093"/>
                <a:ext cx="17" cy="19"/>
              </a:xfrm>
              <a:custGeom>
                <a:avLst/>
                <a:gdLst>
                  <a:gd name="T0" fmla="*/ 2 w 17"/>
                  <a:gd name="T1" fmla="*/ 0 h 19"/>
                  <a:gd name="T2" fmla="*/ 16 w 17"/>
                  <a:gd name="T3" fmla="*/ 12 h 19"/>
                  <a:gd name="T4" fmla="*/ 5 w 17"/>
                  <a:gd name="T5" fmla="*/ 18 h 19"/>
                  <a:gd name="T6" fmla="*/ 0 w 17"/>
                  <a:gd name="T7" fmla="*/ 15 h 19"/>
                  <a:gd name="T8" fmla="*/ 2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2" y="0"/>
                    </a:moveTo>
                    <a:lnTo>
                      <a:pt x="16" y="12"/>
                    </a:lnTo>
                    <a:lnTo>
                      <a:pt x="5" y="18"/>
                    </a:lnTo>
                    <a:lnTo>
                      <a:pt x="0" y="15"/>
                    </a:lnTo>
                    <a:lnTo>
                      <a:pt x="2"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23" name="Freeform 217"/>
              <p:cNvSpPr>
                <a:spLocks/>
              </p:cNvSpPr>
              <p:nvPr/>
            </p:nvSpPr>
            <p:spPr bwMode="auto">
              <a:xfrm>
                <a:off x="3948" y="2983"/>
                <a:ext cx="117" cy="125"/>
              </a:xfrm>
              <a:custGeom>
                <a:avLst/>
                <a:gdLst>
                  <a:gd name="T0" fmla="*/ 87 w 117"/>
                  <a:gd name="T1" fmla="*/ 0 h 125"/>
                  <a:gd name="T2" fmla="*/ 0 w 117"/>
                  <a:gd name="T3" fmla="*/ 118 h 125"/>
                  <a:gd name="T4" fmla="*/ 0 w 117"/>
                  <a:gd name="T5" fmla="*/ 119 h 125"/>
                  <a:gd name="T6" fmla="*/ 0 w 117"/>
                  <a:gd name="T7" fmla="*/ 121 h 125"/>
                  <a:gd name="T8" fmla="*/ 0 w 117"/>
                  <a:gd name="T9" fmla="*/ 122 h 125"/>
                  <a:gd name="T10" fmla="*/ 1 w 117"/>
                  <a:gd name="T11" fmla="*/ 124 h 125"/>
                  <a:gd name="T12" fmla="*/ 3 w 117"/>
                  <a:gd name="T13" fmla="*/ 124 h 125"/>
                  <a:gd name="T14" fmla="*/ 5 w 117"/>
                  <a:gd name="T15" fmla="*/ 124 h 125"/>
                  <a:gd name="T16" fmla="*/ 116 w 117"/>
                  <a:gd name="T17" fmla="*/ 24 h 125"/>
                  <a:gd name="T18" fmla="*/ 87 w 117"/>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7" h="125">
                    <a:moveTo>
                      <a:pt x="87" y="0"/>
                    </a:moveTo>
                    <a:lnTo>
                      <a:pt x="0" y="118"/>
                    </a:lnTo>
                    <a:lnTo>
                      <a:pt x="0" y="119"/>
                    </a:lnTo>
                    <a:lnTo>
                      <a:pt x="0" y="121"/>
                    </a:lnTo>
                    <a:lnTo>
                      <a:pt x="0" y="122"/>
                    </a:lnTo>
                    <a:lnTo>
                      <a:pt x="1" y="124"/>
                    </a:lnTo>
                    <a:lnTo>
                      <a:pt x="3" y="124"/>
                    </a:lnTo>
                    <a:lnTo>
                      <a:pt x="5" y="124"/>
                    </a:lnTo>
                    <a:lnTo>
                      <a:pt x="116" y="24"/>
                    </a:lnTo>
                    <a:lnTo>
                      <a:pt x="87"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24" name="Freeform 218"/>
              <p:cNvSpPr>
                <a:spLocks/>
              </p:cNvSpPr>
              <p:nvPr/>
            </p:nvSpPr>
            <p:spPr bwMode="auto">
              <a:xfrm>
                <a:off x="4033" y="2971"/>
                <a:ext cx="49" cy="24"/>
              </a:xfrm>
              <a:custGeom>
                <a:avLst/>
                <a:gdLst>
                  <a:gd name="T0" fmla="*/ 13 w 49"/>
                  <a:gd name="T1" fmla="*/ 0 h 24"/>
                  <a:gd name="T2" fmla="*/ 48 w 49"/>
                  <a:gd name="T3" fmla="*/ 11 h 24"/>
                  <a:gd name="T4" fmla="*/ 45 w 49"/>
                  <a:gd name="T5" fmla="*/ 13 h 24"/>
                  <a:gd name="T6" fmla="*/ 45 w 49"/>
                  <a:gd name="T7" fmla="*/ 16 h 24"/>
                  <a:gd name="T8" fmla="*/ 16 w 49"/>
                  <a:gd name="T9" fmla="*/ 6 h 24"/>
                  <a:gd name="T10" fmla="*/ 0 w 49"/>
                  <a:gd name="T11" fmla="*/ 23 h 24"/>
                  <a:gd name="T12" fmla="*/ 0 w 49"/>
                  <a:gd name="T13" fmla="*/ 16 h 24"/>
                  <a:gd name="T14" fmla="*/ 13 w 49"/>
                  <a:gd name="T15" fmla="*/ 0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9" h="24">
                    <a:moveTo>
                      <a:pt x="13" y="0"/>
                    </a:moveTo>
                    <a:lnTo>
                      <a:pt x="48" y="11"/>
                    </a:lnTo>
                    <a:lnTo>
                      <a:pt x="45" y="13"/>
                    </a:lnTo>
                    <a:lnTo>
                      <a:pt x="45" y="16"/>
                    </a:lnTo>
                    <a:lnTo>
                      <a:pt x="16" y="6"/>
                    </a:lnTo>
                    <a:lnTo>
                      <a:pt x="0" y="23"/>
                    </a:lnTo>
                    <a:lnTo>
                      <a:pt x="0" y="16"/>
                    </a:lnTo>
                    <a:lnTo>
                      <a:pt x="13"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25" name="Freeform 219"/>
              <p:cNvSpPr>
                <a:spLocks/>
              </p:cNvSpPr>
              <p:nvPr/>
            </p:nvSpPr>
            <p:spPr bwMode="auto">
              <a:xfrm>
                <a:off x="4048" y="2976"/>
                <a:ext cx="35" cy="21"/>
              </a:xfrm>
              <a:custGeom>
                <a:avLst/>
                <a:gdLst>
                  <a:gd name="T0" fmla="*/ 0 w 35"/>
                  <a:gd name="T1" fmla="*/ 0 h 21"/>
                  <a:gd name="T2" fmla="*/ 33 w 35"/>
                  <a:gd name="T3" fmla="*/ 9 h 21"/>
                  <a:gd name="T4" fmla="*/ 34 w 35"/>
                  <a:gd name="T5" fmla="*/ 12 h 21"/>
                  <a:gd name="T6" fmla="*/ 33 w 35"/>
                  <a:gd name="T7" fmla="*/ 15 h 21"/>
                  <a:gd name="T8" fmla="*/ 31 w 35"/>
                  <a:gd name="T9" fmla="*/ 18 h 21"/>
                  <a:gd name="T10" fmla="*/ 26 w 35"/>
                  <a:gd name="T11" fmla="*/ 20 h 21"/>
                  <a:gd name="T12" fmla="*/ 17 w 35"/>
                  <a:gd name="T13" fmla="*/ 17 h 21"/>
                  <a:gd name="T14" fmla="*/ 6 w 35"/>
                  <a:gd name="T15" fmla="*/ 10 h 21"/>
                  <a:gd name="T16" fmla="*/ 0 w 35"/>
                  <a:gd name="T17" fmla="*/ 4 h 21"/>
                  <a:gd name="T18" fmla="*/ 0 w 35"/>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21">
                    <a:moveTo>
                      <a:pt x="0" y="0"/>
                    </a:moveTo>
                    <a:lnTo>
                      <a:pt x="33" y="9"/>
                    </a:lnTo>
                    <a:lnTo>
                      <a:pt x="34" y="12"/>
                    </a:lnTo>
                    <a:lnTo>
                      <a:pt x="33" y="15"/>
                    </a:lnTo>
                    <a:lnTo>
                      <a:pt x="31" y="18"/>
                    </a:lnTo>
                    <a:lnTo>
                      <a:pt x="26" y="20"/>
                    </a:lnTo>
                    <a:lnTo>
                      <a:pt x="17" y="17"/>
                    </a:lnTo>
                    <a:lnTo>
                      <a:pt x="6" y="10"/>
                    </a:lnTo>
                    <a:lnTo>
                      <a:pt x="0" y="4"/>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26" name="Freeform 220"/>
              <p:cNvSpPr>
                <a:spLocks/>
              </p:cNvSpPr>
              <p:nvPr/>
            </p:nvSpPr>
            <p:spPr bwMode="auto">
              <a:xfrm>
                <a:off x="4045" y="2963"/>
                <a:ext cx="37" cy="21"/>
              </a:xfrm>
              <a:custGeom>
                <a:avLst/>
                <a:gdLst>
                  <a:gd name="T0" fmla="*/ 1 w 37"/>
                  <a:gd name="T1" fmla="*/ 9 h 21"/>
                  <a:gd name="T2" fmla="*/ 36 w 37"/>
                  <a:gd name="T3" fmla="*/ 20 h 21"/>
                  <a:gd name="T4" fmla="*/ 35 w 37"/>
                  <a:gd name="T5" fmla="*/ 16 h 21"/>
                  <a:gd name="T6" fmla="*/ 33 w 37"/>
                  <a:gd name="T7" fmla="*/ 13 h 21"/>
                  <a:gd name="T8" fmla="*/ 31 w 37"/>
                  <a:gd name="T9" fmla="*/ 10 h 21"/>
                  <a:gd name="T10" fmla="*/ 29 w 37"/>
                  <a:gd name="T11" fmla="*/ 7 h 21"/>
                  <a:gd name="T12" fmla="*/ 26 w 37"/>
                  <a:gd name="T13" fmla="*/ 4 h 21"/>
                  <a:gd name="T14" fmla="*/ 23 w 37"/>
                  <a:gd name="T15" fmla="*/ 3 h 21"/>
                  <a:gd name="T16" fmla="*/ 19 w 37"/>
                  <a:gd name="T17" fmla="*/ 1 h 21"/>
                  <a:gd name="T18" fmla="*/ 15 w 37"/>
                  <a:gd name="T19" fmla="*/ 0 h 21"/>
                  <a:gd name="T20" fmla="*/ 12 w 37"/>
                  <a:gd name="T21" fmla="*/ 0 h 21"/>
                  <a:gd name="T22" fmla="*/ 9 w 37"/>
                  <a:gd name="T23" fmla="*/ 0 h 21"/>
                  <a:gd name="T24" fmla="*/ 7 w 37"/>
                  <a:gd name="T25" fmla="*/ 0 h 21"/>
                  <a:gd name="T26" fmla="*/ 4 w 37"/>
                  <a:gd name="T27" fmla="*/ 1 h 21"/>
                  <a:gd name="T28" fmla="*/ 1 w 37"/>
                  <a:gd name="T29" fmla="*/ 3 h 21"/>
                  <a:gd name="T30" fmla="*/ 0 w 37"/>
                  <a:gd name="T31" fmla="*/ 5 h 21"/>
                  <a:gd name="T32" fmla="*/ 0 w 37"/>
                  <a:gd name="T33" fmla="*/ 9 h 21"/>
                  <a:gd name="T34" fmla="*/ 1 w 37"/>
                  <a:gd name="T35" fmla="*/ 9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21">
                    <a:moveTo>
                      <a:pt x="1" y="9"/>
                    </a:moveTo>
                    <a:lnTo>
                      <a:pt x="36" y="20"/>
                    </a:lnTo>
                    <a:lnTo>
                      <a:pt x="35" y="16"/>
                    </a:lnTo>
                    <a:lnTo>
                      <a:pt x="33" y="13"/>
                    </a:lnTo>
                    <a:lnTo>
                      <a:pt x="31" y="10"/>
                    </a:lnTo>
                    <a:lnTo>
                      <a:pt x="29" y="7"/>
                    </a:lnTo>
                    <a:lnTo>
                      <a:pt x="26" y="4"/>
                    </a:lnTo>
                    <a:lnTo>
                      <a:pt x="23" y="3"/>
                    </a:lnTo>
                    <a:lnTo>
                      <a:pt x="19" y="1"/>
                    </a:lnTo>
                    <a:lnTo>
                      <a:pt x="15" y="0"/>
                    </a:lnTo>
                    <a:lnTo>
                      <a:pt x="12" y="0"/>
                    </a:lnTo>
                    <a:lnTo>
                      <a:pt x="9" y="0"/>
                    </a:lnTo>
                    <a:lnTo>
                      <a:pt x="7" y="0"/>
                    </a:lnTo>
                    <a:lnTo>
                      <a:pt x="4" y="1"/>
                    </a:lnTo>
                    <a:lnTo>
                      <a:pt x="1" y="3"/>
                    </a:lnTo>
                    <a:lnTo>
                      <a:pt x="0" y="5"/>
                    </a:lnTo>
                    <a:lnTo>
                      <a:pt x="0" y="9"/>
                    </a:lnTo>
                    <a:lnTo>
                      <a:pt x="1" y="9"/>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27" name="Freeform 221"/>
              <p:cNvSpPr>
                <a:spLocks/>
              </p:cNvSpPr>
              <p:nvPr/>
            </p:nvSpPr>
            <p:spPr bwMode="auto">
              <a:xfrm>
                <a:off x="4031" y="2969"/>
                <a:ext cx="50" cy="45"/>
              </a:xfrm>
              <a:custGeom>
                <a:avLst/>
                <a:gdLst>
                  <a:gd name="T0" fmla="*/ 14 w 50"/>
                  <a:gd name="T1" fmla="*/ 0 h 45"/>
                  <a:gd name="T2" fmla="*/ 0 w 50"/>
                  <a:gd name="T3" fmla="*/ 19 h 45"/>
                  <a:gd name="T4" fmla="*/ 0 w 50"/>
                  <a:gd name="T5" fmla="*/ 22 h 45"/>
                  <a:gd name="T6" fmla="*/ 0 w 50"/>
                  <a:gd name="T7" fmla="*/ 24 h 45"/>
                  <a:gd name="T8" fmla="*/ 0 w 50"/>
                  <a:gd name="T9" fmla="*/ 27 h 45"/>
                  <a:gd name="T10" fmla="*/ 0 w 50"/>
                  <a:gd name="T11" fmla="*/ 31 h 45"/>
                  <a:gd name="T12" fmla="*/ 2 w 50"/>
                  <a:gd name="T13" fmla="*/ 34 h 45"/>
                  <a:gd name="T14" fmla="*/ 4 w 50"/>
                  <a:gd name="T15" fmla="*/ 36 h 45"/>
                  <a:gd name="T16" fmla="*/ 7 w 50"/>
                  <a:gd name="T17" fmla="*/ 39 h 45"/>
                  <a:gd name="T18" fmla="*/ 11 w 50"/>
                  <a:gd name="T19" fmla="*/ 41 h 45"/>
                  <a:gd name="T20" fmla="*/ 14 w 50"/>
                  <a:gd name="T21" fmla="*/ 42 h 45"/>
                  <a:gd name="T22" fmla="*/ 18 w 50"/>
                  <a:gd name="T23" fmla="*/ 43 h 45"/>
                  <a:gd name="T24" fmla="*/ 23 w 50"/>
                  <a:gd name="T25" fmla="*/ 44 h 45"/>
                  <a:gd name="T26" fmla="*/ 25 w 50"/>
                  <a:gd name="T27" fmla="*/ 43 h 45"/>
                  <a:gd name="T28" fmla="*/ 29 w 50"/>
                  <a:gd name="T29" fmla="*/ 42 h 45"/>
                  <a:gd name="T30" fmla="*/ 49 w 50"/>
                  <a:gd name="T31" fmla="*/ 24 h 45"/>
                  <a:gd name="T32" fmla="*/ 46 w 50"/>
                  <a:gd name="T33" fmla="*/ 25 h 45"/>
                  <a:gd name="T34" fmla="*/ 43 w 50"/>
                  <a:gd name="T35" fmla="*/ 25 h 45"/>
                  <a:gd name="T36" fmla="*/ 38 w 50"/>
                  <a:gd name="T37" fmla="*/ 24 h 45"/>
                  <a:gd name="T38" fmla="*/ 36 w 50"/>
                  <a:gd name="T39" fmla="*/ 24 h 45"/>
                  <a:gd name="T40" fmla="*/ 32 w 50"/>
                  <a:gd name="T41" fmla="*/ 22 h 45"/>
                  <a:gd name="T42" fmla="*/ 28 w 50"/>
                  <a:gd name="T43" fmla="*/ 19 h 45"/>
                  <a:gd name="T44" fmla="*/ 24 w 50"/>
                  <a:gd name="T45" fmla="*/ 17 h 45"/>
                  <a:gd name="T46" fmla="*/ 22 w 50"/>
                  <a:gd name="T47" fmla="*/ 15 h 45"/>
                  <a:gd name="T48" fmla="*/ 20 w 50"/>
                  <a:gd name="T49" fmla="*/ 12 h 45"/>
                  <a:gd name="T50" fmla="*/ 18 w 50"/>
                  <a:gd name="T51" fmla="*/ 9 h 45"/>
                  <a:gd name="T52" fmla="*/ 17 w 50"/>
                  <a:gd name="T53" fmla="*/ 7 h 45"/>
                  <a:gd name="T54" fmla="*/ 2 w 50"/>
                  <a:gd name="T55" fmla="*/ 22 h 45"/>
                  <a:gd name="T56" fmla="*/ 2 w 50"/>
                  <a:gd name="T57" fmla="*/ 19 h 45"/>
                  <a:gd name="T58" fmla="*/ 15 w 50"/>
                  <a:gd name="T59" fmla="*/ 3 h 45"/>
                  <a:gd name="T60" fmla="*/ 15 w 50"/>
                  <a:gd name="T61" fmla="*/ 2 h 45"/>
                  <a:gd name="T62" fmla="*/ 14 w 50"/>
                  <a:gd name="T63" fmla="*/ 1 h 45"/>
                  <a:gd name="T64" fmla="*/ 14 w 50"/>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45">
                    <a:moveTo>
                      <a:pt x="14" y="0"/>
                    </a:moveTo>
                    <a:lnTo>
                      <a:pt x="0" y="19"/>
                    </a:lnTo>
                    <a:lnTo>
                      <a:pt x="0" y="22"/>
                    </a:lnTo>
                    <a:lnTo>
                      <a:pt x="0" y="24"/>
                    </a:lnTo>
                    <a:lnTo>
                      <a:pt x="0" y="27"/>
                    </a:lnTo>
                    <a:lnTo>
                      <a:pt x="0" y="31"/>
                    </a:lnTo>
                    <a:lnTo>
                      <a:pt x="2" y="34"/>
                    </a:lnTo>
                    <a:lnTo>
                      <a:pt x="4" y="36"/>
                    </a:lnTo>
                    <a:lnTo>
                      <a:pt x="7" y="39"/>
                    </a:lnTo>
                    <a:lnTo>
                      <a:pt x="11" y="41"/>
                    </a:lnTo>
                    <a:lnTo>
                      <a:pt x="14" y="42"/>
                    </a:lnTo>
                    <a:lnTo>
                      <a:pt x="18" y="43"/>
                    </a:lnTo>
                    <a:lnTo>
                      <a:pt x="23" y="44"/>
                    </a:lnTo>
                    <a:lnTo>
                      <a:pt x="25" y="43"/>
                    </a:lnTo>
                    <a:lnTo>
                      <a:pt x="29" y="42"/>
                    </a:lnTo>
                    <a:lnTo>
                      <a:pt x="49" y="24"/>
                    </a:lnTo>
                    <a:lnTo>
                      <a:pt x="46" y="25"/>
                    </a:lnTo>
                    <a:lnTo>
                      <a:pt x="43" y="25"/>
                    </a:lnTo>
                    <a:lnTo>
                      <a:pt x="38" y="24"/>
                    </a:lnTo>
                    <a:lnTo>
                      <a:pt x="36" y="24"/>
                    </a:lnTo>
                    <a:lnTo>
                      <a:pt x="32" y="22"/>
                    </a:lnTo>
                    <a:lnTo>
                      <a:pt x="28" y="19"/>
                    </a:lnTo>
                    <a:lnTo>
                      <a:pt x="24" y="17"/>
                    </a:lnTo>
                    <a:lnTo>
                      <a:pt x="22" y="15"/>
                    </a:lnTo>
                    <a:lnTo>
                      <a:pt x="20" y="12"/>
                    </a:lnTo>
                    <a:lnTo>
                      <a:pt x="18" y="9"/>
                    </a:lnTo>
                    <a:lnTo>
                      <a:pt x="17" y="7"/>
                    </a:lnTo>
                    <a:lnTo>
                      <a:pt x="2" y="22"/>
                    </a:lnTo>
                    <a:lnTo>
                      <a:pt x="2" y="19"/>
                    </a:lnTo>
                    <a:lnTo>
                      <a:pt x="15" y="3"/>
                    </a:lnTo>
                    <a:lnTo>
                      <a:pt x="15" y="2"/>
                    </a:lnTo>
                    <a:lnTo>
                      <a:pt x="14" y="1"/>
                    </a:lnTo>
                    <a:lnTo>
                      <a:pt x="14"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290852" name="Group 222"/>
              <p:cNvGrpSpPr>
                <a:grpSpLocks/>
              </p:cNvGrpSpPr>
              <p:nvPr/>
            </p:nvGrpSpPr>
            <p:grpSpPr bwMode="auto">
              <a:xfrm>
                <a:off x="3996" y="2939"/>
                <a:ext cx="108" cy="114"/>
                <a:chOff x="3996" y="2939"/>
                <a:chExt cx="108" cy="114"/>
              </a:xfrm>
            </p:grpSpPr>
            <p:sp>
              <p:nvSpPr>
                <p:cNvPr id="290932" name="Freeform 223"/>
                <p:cNvSpPr>
                  <a:spLocks/>
                </p:cNvSpPr>
                <p:nvPr/>
              </p:nvSpPr>
              <p:spPr bwMode="auto">
                <a:xfrm>
                  <a:off x="4005" y="3004"/>
                  <a:ext cx="99" cy="49"/>
                </a:xfrm>
                <a:custGeom>
                  <a:avLst/>
                  <a:gdLst>
                    <a:gd name="T0" fmla="*/ 0 w 99"/>
                    <a:gd name="T1" fmla="*/ 48 h 49"/>
                    <a:gd name="T2" fmla="*/ 56 w 99"/>
                    <a:gd name="T3" fmla="*/ 0 h 49"/>
                    <a:gd name="T4" fmla="*/ 98 w 99"/>
                    <a:gd name="T5" fmla="*/ 2 h 49"/>
                    <a:gd name="T6" fmla="*/ 74 w 99"/>
                    <a:gd name="T7" fmla="*/ 14 h 49"/>
                    <a:gd name="T8" fmla="*/ 78 w 99"/>
                    <a:gd name="T9" fmla="*/ 16 h 49"/>
                    <a:gd name="T10" fmla="*/ 52 w 99"/>
                    <a:gd name="T11" fmla="*/ 29 h 49"/>
                    <a:gd name="T12" fmla="*/ 57 w 99"/>
                    <a:gd name="T13" fmla="*/ 30 h 49"/>
                    <a:gd name="T14" fmla="*/ 28 w 99"/>
                    <a:gd name="T15" fmla="*/ 43 h 49"/>
                    <a:gd name="T16" fmla="*/ 0 w 99"/>
                    <a:gd name="T17" fmla="*/ 48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9" h="49">
                      <a:moveTo>
                        <a:pt x="0" y="48"/>
                      </a:moveTo>
                      <a:lnTo>
                        <a:pt x="56" y="0"/>
                      </a:lnTo>
                      <a:lnTo>
                        <a:pt x="98" y="2"/>
                      </a:lnTo>
                      <a:lnTo>
                        <a:pt x="74" y="14"/>
                      </a:lnTo>
                      <a:lnTo>
                        <a:pt x="78" y="16"/>
                      </a:lnTo>
                      <a:lnTo>
                        <a:pt x="52" y="29"/>
                      </a:lnTo>
                      <a:lnTo>
                        <a:pt x="57" y="30"/>
                      </a:lnTo>
                      <a:lnTo>
                        <a:pt x="28" y="43"/>
                      </a:lnTo>
                      <a:lnTo>
                        <a:pt x="0" y="4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33" name="Freeform 224"/>
                <p:cNvSpPr>
                  <a:spLocks/>
                </p:cNvSpPr>
                <p:nvPr/>
              </p:nvSpPr>
              <p:spPr bwMode="auto">
                <a:xfrm>
                  <a:off x="4000" y="2988"/>
                  <a:ext cx="45" cy="58"/>
                </a:xfrm>
                <a:custGeom>
                  <a:avLst/>
                  <a:gdLst>
                    <a:gd name="T0" fmla="*/ 4 w 45"/>
                    <a:gd name="T1" fmla="*/ 47 h 58"/>
                    <a:gd name="T2" fmla="*/ 44 w 45"/>
                    <a:gd name="T3" fmla="*/ 0 h 58"/>
                    <a:gd name="T4" fmla="*/ 35 w 45"/>
                    <a:gd name="T5" fmla="*/ 18 h 58"/>
                    <a:gd name="T6" fmla="*/ 0 w 45"/>
                    <a:gd name="T7" fmla="*/ 57 h 58"/>
                    <a:gd name="T8" fmla="*/ 4 w 45"/>
                    <a:gd name="T9" fmla="*/ 47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58">
                      <a:moveTo>
                        <a:pt x="4" y="47"/>
                      </a:moveTo>
                      <a:lnTo>
                        <a:pt x="44" y="0"/>
                      </a:lnTo>
                      <a:lnTo>
                        <a:pt x="35" y="18"/>
                      </a:lnTo>
                      <a:lnTo>
                        <a:pt x="0" y="57"/>
                      </a:lnTo>
                      <a:lnTo>
                        <a:pt x="4" y="47"/>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34" name="Freeform 225"/>
                <p:cNvSpPr>
                  <a:spLocks/>
                </p:cNvSpPr>
                <p:nvPr/>
              </p:nvSpPr>
              <p:spPr bwMode="auto">
                <a:xfrm>
                  <a:off x="3996" y="2939"/>
                  <a:ext cx="41" cy="103"/>
                </a:xfrm>
                <a:custGeom>
                  <a:avLst/>
                  <a:gdLst>
                    <a:gd name="T0" fmla="*/ 0 w 41"/>
                    <a:gd name="T1" fmla="*/ 102 h 103"/>
                    <a:gd name="T2" fmla="*/ 40 w 41"/>
                    <a:gd name="T3" fmla="*/ 47 h 103"/>
                    <a:gd name="T4" fmla="*/ 38 w 41"/>
                    <a:gd name="T5" fmla="*/ 0 h 103"/>
                    <a:gd name="T6" fmla="*/ 29 w 41"/>
                    <a:gd name="T7" fmla="*/ 20 h 103"/>
                    <a:gd name="T8" fmla="*/ 28 w 41"/>
                    <a:gd name="T9" fmla="*/ 27 h 103"/>
                    <a:gd name="T10" fmla="*/ 24 w 41"/>
                    <a:gd name="T11" fmla="*/ 23 h 103"/>
                    <a:gd name="T12" fmla="*/ 16 w 41"/>
                    <a:gd name="T13" fmla="*/ 49 h 103"/>
                    <a:gd name="T14" fmla="*/ 14 w 41"/>
                    <a:gd name="T15" fmla="*/ 45 h 103"/>
                    <a:gd name="T16" fmla="*/ 3 w 41"/>
                    <a:gd name="T17" fmla="*/ 71 h 103"/>
                    <a:gd name="T18" fmla="*/ 0 w 41"/>
                    <a:gd name="T19" fmla="*/ 102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103">
                      <a:moveTo>
                        <a:pt x="0" y="102"/>
                      </a:moveTo>
                      <a:lnTo>
                        <a:pt x="40" y="47"/>
                      </a:lnTo>
                      <a:lnTo>
                        <a:pt x="38" y="0"/>
                      </a:lnTo>
                      <a:lnTo>
                        <a:pt x="29" y="20"/>
                      </a:lnTo>
                      <a:lnTo>
                        <a:pt x="28" y="27"/>
                      </a:lnTo>
                      <a:lnTo>
                        <a:pt x="24" y="23"/>
                      </a:lnTo>
                      <a:lnTo>
                        <a:pt x="16" y="49"/>
                      </a:lnTo>
                      <a:lnTo>
                        <a:pt x="14" y="45"/>
                      </a:lnTo>
                      <a:lnTo>
                        <a:pt x="3" y="71"/>
                      </a:lnTo>
                      <a:lnTo>
                        <a:pt x="0" y="10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929" name="Freeform 226"/>
              <p:cNvSpPr>
                <a:spLocks/>
              </p:cNvSpPr>
              <p:nvPr/>
            </p:nvSpPr>
            <p:spPr bwMode="auto">
              <a:xfrm>
                <a:off x="3983" y="3036"/>
                <a:ext cx="31" cy="34"/>
              </a:xfrm>
              <a:custGeom>
                <a:avLst/>
                <a:gdLst>
                  <a:gd name="T0" fmla="*/ 13 w 31"/>
                  <a:gd name="T1" fmla="*/ 0 h 34"/>
                  <a:gd name="T2" fmla="*/ 13 w 31"/>
                  <a:gd name="T3" fmla="*/ 3 h 34"/>
                  <a:gd name="T4" fmla="*/ 13 w 31"/>
                  <a:gd name="T5" fmla="*/ 5 h 34"/>
                  <a:gd name="T6" fmla="*/ 13 w 31"/>
                  <a:gd name="T7" fmla="*/ 8 h 34"/>
                  <a:gd name="T8" fmla="*/ 14 w 31"/>
                  <a:gd name="T9" fmla="*/ 10 h 34"/>
                  <a:gd name="T10" fmla="*/ 15 w 31"/>
                  <a:gd name="T11" fmla="*/ 12 h 34"/>
                  <a:gd name="T12" fmla="*/ 17 w 31"/>
                  <a:gd name="T13" fmla="*/ 14 h 34"/>
                  <a:gd name="T14" fmla="*/ 19 w 31"/>
                  <a:gd name="T15" fmla="*/ 16 h 34"/>
                  <a:gd name="T16" fmla="*/ 22 w 31"/>
                  <a:gd name="T17" fmla="*/ 17 h 34"/>
                  <a:gd name="T18" fmla="*/ 25 w 31"/>
                  <a:gd name="T19" fmla="*/ 17 h 34"/>
                  <a:gd name="T20" fmla="*/ 27 w 31"/>
                  <a:gd name="T21" fmla="*/ 17 h 34"/>
                  <a:gd name="T22" fmla="*/ 30 w 31"/>
                  <a:gd name="T23" fmla="*/ 17 h 34"/>
                  <a:gd name="T24" fmla="*/ 13 w 31"/>
                  <a:gd name="T25" fmla="*/ 32 h 34"/>
                  <a:gd name="T26" fmla="*/ 10 w 31"/>
                  <a:gd name="T27" fmla="*/ 33 h 34"/>
                  <a:gd name="T28" fmla="*/ 8 w 31"/>
                  <a:gd name="T29" fmla="*/ 33 h 34"/>
                  <a:gd name="T30" fmla="*/ 6 w 31"/>
                  <a:gd name="T31" fmla="*/ 32 h 34"/>
                  <a:gd name="T32" fmla="*/ 5 w 31"/>
                  <a:gd name="T33" fmla="*/ 31 h 34"/>
                  <a:gd name="T34" fmla="*/ 2 w 31"/>
                  <a:gd name="T35" fmla="*/ 30 h 34"/>
                  <a:gd name="T36" fmla="*/ 1 w 31"/>
                  <a:gd name="T37" fmla="*/ 27 h 34"/>
                  <a:gd name="T38" fmla="*/ 0 w 31"/>
                  <a:gd name="T39" fmla="*/ 25 h 34"/>
                  <a:gd name="T40" fmla="*/ 0 w 31"/>
                  <a:gd name="T41" fmla="*/ 22 h 34"/>
                  <a:gd name="T42" fmla="*/ 0 w 31"/>
                  <a:gd name="T43" fmla="*/ 20 h 34"/>
                  <a:gd name="T44" fmla="*/ 0 w 31"/>
                  <a:gd name="T45" fmla="*/ 18 h 34"/>
                  <a:gd name="T46" fmla="*/ 13 w 31"/>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34">
                    <a:moveTo>
                      <a:pt x="13" y="0"/>
                    </a:moveTo>
                    <a:lnTo>
                      <a:pt x="13" y="3"/>
                    </a:lnTo>
                    <a:lnTo>
                      <a:pt x="13" y="5"/>
                    </a:lnTo>
                    <a:lnTo>
                      <a:pt x="13" y="8"/>
                    </a:lnTo>
                    <a:lnTo>
                      <a:pt x="14" y="10"/>
                    </a:lnTo>
                    <a:lnTo>
                      <a:pt x="15" y="12"/>
                    </a:lnTo>
                    <a:lnTo>
                      <a:pt x="17" y="14"/>
                    </a:lnTo>
                    <a:lnTo>
                      <a:pt x="19" y="16"/>
                    </a:lnTo>
                    <a:lnTo>
                      <a:pt x="22" y="17"/>
                    </a:lnTo>
                    <a:lnTo>
                      <a:pt x="25" y="17"/>
                    </a:lnTo>
                    <a:lnTo>
                      <a:pt x="27" y="17"/>
                    </a:lnTo>
                    <a:lnTo>
                      <a:pt x="30" y="17"/>
                    </a:lnTo>
                    <a:lnTo>
                      <a:pt x="13" y="32"/>
                    </a:lnTo>
                    <a:lnTo>
                      <a:pt x="10" y="33"/>
                    </a:lnTo>
                    <a:lnTo>
                      <a:pt x="8" y="33"/>
                    </a:lnTo>
                    <a:lnTo>
                      <a:pt x="6" y="32"/>
                    </a:lnTo>
                    <a:lnTo>
                      <a:pt x="5" y="31"/>
                    </a:lnTo>
                    <a:lnTo>
                      <a:pt x="2" y="30"/>
                    </a:lnTo>
                    <a:lnTo>
                      <a:pt x="1" y="27"/>
                    </a:lnTo>
                    <a:lnTo>
                      <a:pt x="0" y="25"/>
                    </a:lnTo>
                    <a:lnTo>
                      <a:pt x="0" y="22"/>
                    </a:lnTo>
                    <a:lnTo>
                      <a:pt x="0" y="20"/>
                    </a:lnTo>
                    <a:lnTo>
                      <a:pt x="0" y="18"/>
                    </a:lnTo>
                    <a:lnTo>
                      <a:pt x="13"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30" name="Freeform 227"/>
              <p:cNvSpPr>
                <a:spLocks/>
              </p:cNvSpPr>
              <p:nvPr/>
            </p:nvSpPr>
            <p:spPr bwMode="auto">
              <a:xfrm>
                <a:off x="3986" y="3045"/>
                <a:ext cx="19" cy="21"/>
              </a:xfrm>
              <a:custGeom>
                <a:avLst/>
                <a:gdLst>
                  <a:gd name="T0" fmla="*/ 4 w 19"/>
                  <a:gd name="T1" fmla="*/ 0 h 21"/>
                  <a:gd name="T2" fmla="*/ 3 w 19"/>
                  <a:gd name="T3" fmla="*/ 2 h 21"/>
                  <a:gd name="T4" fmla="*/ 3 w 19"/>
                  <a:gd name="T5" fmla="*/ 4 h 21"/>
                  <a:gd name="T6" fmla="*/ 3 w 19"/>
                  <a:gd name="T7" fmla="*/ 6 h 21"/>
                  <a:gd name="T8" fmla="*/ 3 w 19"/>
                  <a:gd name="T9" fmla="*/ 8 h 21"/>
                  <a:gd name="T10" fmla="*/ 3 w 19"/>
                  <a:gd name="T11" fmla="*/ 11 h 21"/>
                  <a:gd name="T12" fmla="*/ 4 w 19"/>
                  <a:gd name="T13" fmla="*/ 13 h 21"/>
                  <a:gd name="T14" fmla="*/ 5 w 19"/>
                  <a:gd name="T15" fmla="*/ 15 h 21"/>
                  <a:gd name="T16" fmla="*/ 8 w 19"/>
                  <a:gd name="T17" fmla="*/ 16 h 21"/>
                  <a:gd name="T18" fmla="*/ 11 w 19"/>
                  <a:gd name="T19" fmla="*/ 17 h 21"/>
                  <a:gd name="T20" fmla="*/ 14 w 19"/>
                  <a:gd name="T21" fmla="*/ 16 h 21"/>
                  <a:gd name="T22" fmla="*/ 18 w 19"/>
                  <a:gd name="T23" fmla="*/ 16 h 21"/>
                  <a:gd name="T24" fmla="*/ 13 w 19"/>
                  <a:gd name="T25" fmla="*/ 19 h 21"/>
                  <a:gd name="T26" fmla="*/ 12 w 19"/>
                  <a:gd name="T27" fmla="*/ 20 h 21"/>
                  <a:gd name="T28" fmla="*/ 9 w 19"/>
                  <a:gd name="T29" fmla="*/ 20 h 21"/>
                  <a:gd name="T30" fmla="*/ 6 w 19"/>
                  <a:gd name="T31" fmla="*/ 19 h 21"/>
                  <a:gd name="T32" fmla="*/ 4 w 19"/>
                  <a:gd name="T33" fmla="*/ 18 h 21"/>
                  <a:gd name="T34" fmla="*/ 3 w 19"/>
                  <a:gd name="T35" fmla="*/ 17 h 21"/>
                  <a:gd name="T36" fmla="*/ 1 w 19"/>
                  <a:gd name="T37" fmla="*/ 15 h 21"/>
                  <a:gd name="T38" fmla="*/ 0 w 19"/>
                  <a:gd name="T39" fmla="*/ 13 h 21"/>
                  <a:gd name="T40" fmla="*/ 0 w 19"/>
                  <a:gd name="T41" fmla="*/ 10 h 21"/>
                  <a:gd name="T42" fmla="*/ 0 w 19"/>
                  <a:gd name="T43" fmla="*/ 8 h 21"/>
                  <a:gd name="T44" fmla="*/ 0 w 19"/>
                  <a:gd name="T45" fmla="*/ 5 h 21"/>
                  <a:gd name="T46" fmla="*/ 4 w 19"/>
                  <a:gd name="T47" fmla="*/ 0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9" h="21">
                    <a:moveTo>
                      <a:pt x="4" y="0"/>
                    </a:moveTo>
                    <a:lnTo>
                      <a:pt x="3" y="2"/>
                    </a:lnTo>
                    <a:lnTo>
                      <a:pt x="3" y="4"/>
                    </a:lnTo>
                    <a:lnTo>
                      <a:pt x="3" y="6"/>
                    </a:lnTo>
                    <a:lnTo>
                      <a:pt x="3" y="8"/>
                    </a:lnTo>
                    <a:lnTo>
                      <a:pt x="3" y="11"/>
                    </a:lnTo>
                    <a:lnTo>
                      <a:pt x="4" y="13"/>
                    </a:lnTo>
                    <a:lnTo>
                      <a:pt x="5" y="15"/>
                    </a:lnTo>
                    <a:lnTo>
                      <a:pt x="8" y="16"/>
                    </a:lnTo>
                    <a:lnTo>
                      <a:pt x="11" y="17"/>
                    </a:lnTo>
                    <a:lnTo>
                      <a:pt x="14" y="16"/>
                    </a:lnTo>
                    <a:lnTo>
                      <a:pt x="18" y="16"/>
                    </a:lnTo>
                    <a:lnTo>
                      <a:pt x="13" y="19"/>
                    </a:lnTo>
                    <a:lnTo>
                      <a:pt x="12" y="20"/>
                    </a:lnTo>
                    <a:lnTo>
                      <a:pt x="9" y="20"/>
                    </a:lnTo>
                    <a:lnTo>
                      <a:pt x="6" y="19"/>
                    </a:lnTo>
                    <a:lnTo>
                      <a:pt x="4" y="18"/>
                    </a:lnTo>
                    <a:lnTo>
                      <a:pt x="3" y="17"/>
                    </a:lnTo>
                    <a:lnTo>
                      <a:pt x="1" y="15"/>
                    </a:lnTo>
                    <a:lnTo>
                      <a:pt x="0" y="13"/>
                    </a:lnTo>
                    <a:lnTo>
                      <a:pt x="0" y="10"/>
                    </a:lnTo>
                    <a:lnTo>
                      <a:pt x="0" y="8"/>
                    </a:lnTo>
                    <a:lnTo>
                      <a:pt x="0" y="5"/>
                    </a:lnTo>
                    <a:lnTo>
                      <a:pt x="4"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31" name="Freeform 228"/>
              <p:cNvSpPr>
                <a:spLocks/>
              </p:cNvSpPr>
              <p:nvPr/>
            </p:nvSpPr>
            <p:spPr bwMode="auto">
              <a:xfrm>
                <a:off x="3948" y="3093"/>
                <a:ext cx="17" cy="17"/>
              </a:xfrm>
              <a:custGeom>
                <a:avLst/>
                <a:gdLst>
                  <a:gd name="T0" fmla="*/ 8 w 17"/>
                  <a:gd name="T1" fmla="*/ 0 h 17"/>
                  <a:gd name="T2" fmla="*/ 0 w 17"/>
                  <a:gd name="T3" fmla="*/ 9 h 17"/>
                  <a:gd name="T4" fmla="*/ 0 w 17"/>
                  <a:gd name="T5" fmla="*/ 11 h 17"/>
                  <a:gd name="T6" fmla="*/ 0 w 17"/>
                  <a:gd name="T7" fmla="*/ 12 h 17"/>
                  <a:gd name="T8" fmla="*/ 0 w 17"/>
                  <a:gd name="T9" fmla="*/ 14 h 17"/>
                  <a:gd name="T10" fmla="*/ 2 w 17"/>
                  <a:gd name="T11" fmla="*/ 15 h 17"/>
                  <a:gd name="T12" fmla="*/ 3 w 17"/>
                  <a:gd name="T13" fmla="*/ 16 h 17"/>
                  <a:gd name="T14" fmla="*/ 5 w 17"/>
                  <a:gd name="T15" fmla="*/ 15 h 17"/>
                  <a:gd name="T16" fmla="*/ 16 w 17"/>
                  <a:gd name="T17" fmla="*/ 7 h 17"/>
                  <a:gd name="T18" fmla="*/ 13 w 17"/>
                  <a:gd name="T19" fmla="*/ 6 h 17"/>
                  <a:gd name="T20" fmla="*/ 11 w 17"/>
                  <a:gd name="T21" fmla="*/ 6 h 17"/>
                  <a:gd name="T22" fmla="*/ 10 w 17"/>
                  <a:gd name="T23" fmla="*/ 4 h 17"/>
                  <a:gd name="T24" fmla="*/ 9 w 17"/>
                  <a:gd name="T25" fmla="*/ 3 h 17"/>
                  <a:gd name="T26" fmla="*/ 8 w 17"/>
                  <a:gd name="T27" fmla="*/ 1 h 17"/>
                  <a:gd name="T28" fmla="*/ 8 w 1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 h="17">
                    <a:moveTo>
                      <a:pt x="8" y="0"/>
                    </a:moveTo>
                    <a:lnTo>
                      <a:pt x="0" y="9"/>
                    </a:lnTo>
                    <a:lnTo>
                      <a:pt x="0" y="11"/>
                    </a:lnTo>
                    <a:lnTo>
                      <a:pt x="0" y="12"/>
                    </a:lnTo>
                    <a:lnTo>
                      <a:pt x="0" y="14"/>
                    </a:lnTo>
                    <a:lnTo>
                      <a:pt x="2" y="15"/>
                    </a:lnTo>
                    <a:lnTo>
                      <a:pt x="3" y="16"/>
                    </a:lnTo>
                    <a:lnTo>
                      <a:pt x="5" y="15"/>
                    </a:lnTo>
                    <a:lnTo>
                      <a:pt x="16" y="7"/>
                    </a:lnTo>
                    <a:lnTo>
                      <a:pt x="13" y="6"/>
                    </a:lnTo>
                    <a:lnTo>
                      <a:pt x="11" y="6"/>
                    </a:lnTo>
                    <a:lnTo>
                      <a:pt x="10" y="4"/>
                    </a:lnTo>
                    <a:lnTo>
                      <a:pt x="9" y="3"/>
                    </a:lnTo>
                    <a:lnTo>
                      <a:pt x="8" y="1"/>
                    </a:lnTo>
                    <a:lnTo>
                      <a:pt x="8"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856" name="Group 229"/>
            <p:cNvGrpSpPr>
              <a:grpSpLocks/>
            </p:cNvGrpSpPr>
            <p:nvPr/>
          </p:nvGrpSpPr>
          <p:grpSpPr bwMode="auto">
            <a:xfrm>
              <a:off x="3801" y="970"/>
              <a:ext cx="207" cy="106"/>
              <a:chOff x="3940" y="3055"/>
              <a:chExt cx="191" cy="106"/>
            </a:xfrm>
          </p:grpSpPr>
          <p:grpSp>
            <p:nvGrpSpPr>
              <p:cNvPr id="290866" name="Group 230"/>
              <p:cNvGrpSpPr>
                <a:grpSpLocks/>
              </p:cNvGrpSpPr>
              <p:nvPr/>
            </p:nvGrpSpPr>
            <p:grpSpPr bwMode="auto">
              <a:xfrm>
                <a:off x="3940" y="3055"/>
                <a:ext cx="191" cy="106"/>
                <a:chOff x="3940" y="3055"/>
                <a:chExt cx="191" cy="106"/>
              </a:xfrm>
            </p:grpSpPr>
            <p:grpSp>
              <p:nvGrpSpPr>
                <p:cNvPr id="290869" name="Group 231"/>
                <p:cNvGrpSpPr>
                  <a:grpSpLocks/>
                </p:cNvGrpSpPr>
                <p:nvPr/>
              </p:nvGrpSpPr>
              <p:grpSpPr bwMode="auto">
                <a:xfrm>
                  <a:off x="3940" y="3085"/>
                  <a:ext cx="187" cy="76"/>
                  <a:chOff x="3940" y="3085"/>
                  <a:chExt cx="187" cy="76"/>
                </a:xfrm>
              </p:grpSpPr>
              <p:grpSp>
                <p:nvGrpSpPr>
                  <p:cNvPr id="290870" name="Group 232"/>
                  <p:cNvGrpSpPr>
                    <a:grpSpLocks/>
                  </p:cNvGrpSpPr>
                  <p:nvPr/>
                </p:nvGrpSpPr>
                <p:grpSpPr bwMode="auto">
                  <a:xfrm>
                    <a:off x="3940" y="3129"/>
                    <a:ext cx="25" cy="32"/>
                    <a:chOff x="3940" y="3129"/>
                    <a:chExt cx="25" cy="32"/>
                  </a:xfrm>
                </p:grpSpPr>
                <p:sp>
                  <p:nvSpPr>
                    <p:cNvPr id="290917" name="Freeform 233"/>
                    <p:cNvSpPr>
                      <a:spLocks/>
                    </p:cNvSpPr>
                    <p:nvPr/>
                  </p:nvSpPr>
                  <p:spPr bwMode="auto">
                    <a:xfrm>
                      <a:off x="3948" y="3129"/>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18" name="Freeform 234"/>
                    <p:cNvSpPr>
                      <a:spLocks/>
                    </p:cNvSpPr>
                    <p:nvPr/>
                  </p:nvSpPr>
                  <p:spPr bwMode="auto">
                    <a:xfrm>
                      <a:off x="3940" y="3129"/>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19" name="Freeform 235"/>
                    <p:cNvSpPr>
                      <a:spLocks/>
                    </p:cNvSpPr>
                    <p:nvPr/>
                  </p:nvSpPr>
                  <p:spPr bwMode="auto">
                    <a:xfrm>
                      <a:off x="3940" y="3144"/>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911" name="Freeform 236"/>
                  <p:cNvSpPr>
                    <a:spLocks/>
                  </p:cNvSpPr>
                  <p:nvPr/>
                </p:nvSpPr>
                <p:spPr bwMode="auto">
                  <a:xfrm>
                    <a:off x="3946" y="3087"/>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12" name="Freeform 237"/>
                  <p:cNvSpPr>
                    <a:spLocks/>
                  </p:cNvSpPr>
                  <p:nvPr/>
                </p:nvSpPr>
                <p:spPr bwMode="auto">
                  <a:xfrm>
                    <a:off x="4078" y="3088"/>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13" name="Freeform 238"/>
                  <p:cNvSpPr>
                    <a:spLocks/>
                  </p:cNvSpPr>
                  <p:nvPr/>
                </p:nvSpPr>
                <p:spPr bwMode="auto">
                  <a:xfrm>
                    <a:off x="4074" y="3085"/>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14" name="Freeform 239"/>
                  <p:cNvSpPr>
                    <a:spLocks/>
                  </p:cNvSpPr>
                  <p:nvPr/>
                </p:nvSpPr>
                <p:spPr bwMode="auto">
                  <a:xfrm>
                    <a:off x="4101" y="3093"/>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15" name="Freeform 240"/>
                  <p:cNvSpPr>
                    <a:spLocks/>
                  </p:cNvSpPr>
                  <p:nvPr/>
                </p:nvSpPr>
                <p:spPr bwMode="auto">
                  <a:xfrm>
                    <a:off x="4102" y="3085"/>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16" name="Freeform 241"/>
                  <p:cNvSpPr>
                    <a:spLocks/>
                  </p:cNvSpPr>
                  <p:nvPr/>
                </p:nvSpPr>
                <p:spPr bwMode="auto">
                  <a:xfrm>
                    <a:off x="3946" y="3137"/>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874" name="Group 242"/>
                <p:cNvGrpSpPr>
                  <a:grpSpLocks/>
                </p:cNvGrpSpPr>
                <p:nvPr/>
              </p:nvGrpSpPr>
              <p:grpSpPr bwMode="auto">
                <a:xfrm>
                  <a:off x="4022" y="3055"/>
                  <a:ext cx="109" cy="96"/>
                  <a:chOff x="4022" y="3055"/>
                  <a:chExt cx="109" cy="96"/>
                </a:xfrm>
              </p:grpSpPr>
              <p:sp>
                <p:nvSpPr>
                  <p:cNvPr id="290907" name="Freeform 243"/>
                  <p:cNvSpPr>
                    <a:spLocks/>
                  </p:cNvSpPr>
                  <p:nvPr/>
                </p:nvSpPr>
                <p:spPr bwMode="auto">
                  <a:xfrm>
                    <a:off x="4023" y="3123"/>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08" name="Freeform 244"/>
                  <p:cNvSpPr>
                    <a:spLocks/>
                  </p:cNvSpPr>
                  <p:nvPr/>
                </p:nvSpPr>
                <p:spPr bwMode="auto">
                  <a:xfrm>
                    <a:off x="4024" y="3101"/>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09" name="Freeform 245"/>
                  <p:cNvSpPr>
                    <a:spLocks/>
                  </p:cNvSpPr>
                  <p:nvPr/>
                </p:nvSpPr>
                <p:spPr bwMode="auto">
                  <a:xfrm>
                    <a:off x="4022" y="3055"/>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0903" name="Freeform 246"/>
              <p:cNvSpPr>
                <a:spLocks/>
              </p:cNvSpPr>
              <p:nvPr/>
            </p:nvSpPr>
            <p:spPr bwMode="auto">
              <a:xfrm>
                <a:off x="3999" y="3113"/>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04" name="Freeform 247"/>
              <p:cNvSpPr>
                <a:spLocks/>
              </p:cNvSpPr>
              <p:nvPr/>
            </p:nvSpPr>
            <p:spPr bwMode="auto">
              <a:xfrm>
                <a:off x="4005" y="3117"/>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884" name="Group 248"/>
            <p:cNvGrpSpPr>
              <a:grpSpLocks/>
            </p:cNvGrpSpPr>
            <p:nvPr/>
          </p:nvGrpSpPr>
          <p:grpSpPr bwMode="auto">
            <a:xfrm>
              <a:off x="3864" y="1007"/>
              <a:ext cx="207" cy="106"/>
              <a:chOff x="3998" y="3092"/>
              <a:chExt cx="191" cy="106"/>
            </a:xfrm>
          </p:grpSpPr>
          <p:grpSp>
            <p:nvGrpSpPr>
              <p:cNvPr id="290887" name="Group 249"/>
              <p:cNvGrpSpPr>
                <a:grpSpLocks/>
              </p:cNvGrpSpPr>
              <p:nvPr/>
            </p:nvGrpSpPr>
            <p:grpSpPr bwMode="auto">
              <a:xfrm>
                <a:off x="3998" y="3092"/>
                <a:ext cx="191" cy="106"/>
                <a:chOff x="3998" y="3092"/>
                <a:chExt cx="191" cy="106"/>
              </a:xfrm>
            </p:grpSpPr>
            <p:grpSp>
              <p:nvGrpSpPr>
                <p:cNvPr id="290888" name="Group 250"/>
                <p:cNvGrpSpPr>
                  <a:grpSpLocks/>
                </p:cNvGrpSpPr>
                <p:nvPr/>
              </p:nvGrpSpPr>
              <p:grpSpPr bwMode="auto">
                <a:xfrm>
                  <a:off x="3998" y="3122"/>
                  <a:ext cx="187" cy="76"/>
                  <a:chOff x="3998" y="3122"/>
                  <a:chExt cx="187" cy="76"/>
                </a:xfrm>
              </p:grpSpPr>
              <p:grpSp>
                <p:nvGrpSpPr>
                  <p:cNvPr id="290892" name="Group 251"/>
                  <p:cNvGrpSpPr>
                    <a:grpSpLocks/>
                  </p:cNvGrpSpPr>
                  <p:nvPr/>
                </p:nvGrpSpPr>
                <p:grpSpPr bwMode="auto">
                  <a:xfrm>
                    <a:off x="3998" y="3166"/>
                    <a:ext cx="25" cy="32"/>
                    <a:chOff x="3998" y="3166"/>
                    <a:chExt cx="25" cy="32"/>
                  </a:xfrm>
                </p:grpSpPr>
                <p:sp>
                  <p:nvSpPr>
                    <p:cNvPr id="290899" name="Freeform 252"/>
                    <p:cNvSpPr>
                      <a:spLocks/>
                    </p:cNvSpPr>
                    <p:nvPr/>
                  </p:nvSpPr>
                  <p:spPr bwMode="auto">
                    <a:xfrm>
                      <a:off x="4006" y="3166"/>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00" name="Freeform 253"/>
                    <p:cNvSpPr>
                      <a:spLocks/>
                    </p:cNvSpPr>
                    <p:nvPr/>
                  </p:nvSpPr>
                  <p:spPr bwMode="auto">
                    <a:xfrm>
                      <a:off x="3998" y="3166"/>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901" name="Freeform 254"/>
                    <p:cNvSpPr>
                      <a:spLocks/>
                    </p:cNvSpPr>
                    <p:nvPr/>
                  </p:nvSpPr>
                  <p:spPr bwMode="auto">
                    <a:xfrm>
                      <a:off x="3998" y="3181"/>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893" name="Freeform 255"/>
                  <p:cNvSpPr>
                    <a:spLocks/>
                  </p:cNvSpPr>
                  <p:nvPr/>
                </p:nvSpPr>
                <p:spPr bwMode="auto">
                  <a:xfrm>
                    <a:off x="4004" y="3124"/>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94" name="Freeform 256"/>
                  <p:cNvSpPr>
                    <a:spLocks/>
                  </p:cNvSpPr>
                  <p:nvPr/>
                </p:nvSpPr>
                <p:spPr bwMode="auto">
                  <a:xfrm>
                    <a:off x="4136" y="3125"/>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95" name="Freeform 257"/>
                  <p:cNvSpPr>
                    <a:spLocks/>
                  </p:cNvSpPr>
                  <p:nvPr/>
                </p:nvSpPr>
                <p:spPr bwMode="auto">
                  <a:xfrm>
                    <a:off x="4132" y="3122"/>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96" name="Freeform 258"/>
                  <p:cNvSpPr>
                    <a:spLocks/>
                  </p:cNvSpPr>
                  <p:nvPr/>
                </p:nvSpPr>
                <p:spPr bwMode="auto">
                  <a:xfrm>
                    <a:off x="4159" y="3130"/>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97" name="Freeform 259"/>
                  <p:cNvSpPr>
                    <a:spLocks/>
                  </p:cNvSpPr>
                  <p:nvPr/>
                </p:nvSpPr>
                <p:spPr bwMode="auto">
                  <a:xfrm>
                    <a:off x="4160" y="3122"/>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98" name="Freeform 260"/>
                  <p:cNvSpPr>
                    <a:spLocks/>
                  </p:cNvSpPr>
                  <p:nvPr/>
                </p:nvSpPr>
                <p:spPr bwMode="auto">
                  <a:xfrm>
                    <a:off x="4004" y="3174"/>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902" name="Group 261"/>
                <p:cNvGrpSpPr>
                  <a:grpSpLocks/>
                </p:cNvGrpSpPr>
                <p:nvPr/>
              </p:nvGrpSpPr>
              <p:grpSpPr bwMode="auto">
                <a:xfrm>
                  <a:off x="4080" y="3092"/>
                  <a:ext cx="109" cy="96"/>
                  <a:chOff x="4080" y="3092"/>
                  <a:chExt cx="109" cy="96"/>
                </a:xfrm>
              </p:grpSpPr>
              <p:sp>
                <p:nvSpPr>
                  <p:cNvPr id="290889" name="Freeform 262"/>
                  <p:cNvSpPr>
                    <a:spLocks/>
                  </p:cNvSpPr>
                  <p:nvPr/>
                </p:nvSpPr>
                <p:spPr bwMode="auto">
                  <a:xfrm>
                    <a:off x="4081" y="3160"/>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90" name="Freeform 263"/>
                  <p:cNvSpPr>
                    <a:spLocks/>
                  </p:cNvSpPr>
                  <p:nvPr/>
                </p:nvSpPr>
                <p:spPr bwMode="auto">
                  <a:xfrm>
                    <a:off x="4082" y="3138"/>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91" name="Freeform 264"/>
                  <p:cNvSpPr>
                    <a:spLocks/>
                  </p:cNvSpPr>
                  <p:nvPr/>
                </p:nvSpPr>
                <p:spPr bwMode="auto">
                  <a:xfrm>
                    <a:off x="4080" y="3092"/>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0885" name="Freeform 265"/>
              <p:cNvSpPr>
                <a:spLocks/>
              </p:cNvSpPr>
              <p:nvPr/>
            </p:nvSpPr>
            <p:spPr bwMode="auto">
              <a:xfrm>
                <a:off x="4057" y="3150"/>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86" name="Freeform 266"/>
              <p:cNvSpPr>
                <a:spLocks/>
              </p:cNvSpPr>
              <p:nvPr/>
            </p:nvSpPr>
            <p:spPr bwMode="auto">
              <a:xfrm>
                <a:off x="4063" y="3154"/>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905" name="Group 267"/>
            <p:cNvGrpSpPr>
              <a:grpSpLocks/>
            </p:cNvGrpSpPr>
            <p:nvPr/>
          </p:nvGrpSpPr>
          <p:grpSpPr bwMode="auto">
            <a:xfrm>
              <a:off x="3797" y="945"/>
              <a:ext cx="207" cy="106"/>
              <a:chOff x="3936" y="3030"/>
              <a:chExt cx="191" cy="106"/>
            </a:xfrm>
          </p:grpSpPr>
          <p:grpSp>
            <p:nvGrpSpPr>
              <p:cNvPr id="290906" name="Group 268"/>
              <p:cNvGrpSpPr>
                <a:grpSpLocks/>
              </p:cNvGrpSpPr>
              <p:nvPr/>
            </p:nvGrpSpPr>
            <p:grpSpPr bwMode="auto">
              <a:xfrm>
                <a:off x="3936" y="3030"/>
                <a:ext cx="191" cy="106"/>
                <a:chOff x="3936" y="3030"/>
                <a:chExt cx="191" cy="106"/>
              </a:xfrm>
            </p:grpSpPr>
            <p:grpSp>
              <p:nvGrpSpPr>
                <p:cNvPr id="290910" name="Group 269"/>
                <p:cNvGrpSpPr>
                  <a:grpSpLocks/>
                </p:cNvGrpSpPr>
                <p:nvPr/>
              </p:nvGrpSpPr>
              <p:grpSpPr bwMode="auto">
                <a:xfrm>
                  <a:off x="3936" y="3060"/>
                  <a:ext cx="187" cy="76"/>
                  <a:chOff x="3936" y="3060"/>
                  <a:chExt cx="187" cy="76"/>
                </a:xfrm>
              </p:grpSpPr>
              <p:grpSp>
                <p:nvGrpSpPr>
                  <p:cNvPr id="290928" name="Group 270"/>
                  <p:cNvGrpSpPr>
                    <a:grpSpLocks/>
                  </p:cNvGrpSpPr>
                  <p:nvPr/>
                </p:nvGrpSpPr>
                <p:grpSpPr bwMode="auto">
                  <a:xfrm>
                    <a:off x="3936" y="3104"/>
                    <a:ext cx="25" cy="32"/>
                    <a:chOff x="3936" y="3104"/>
                    <a:chExt cx="25" cy="32"/>
                  </a:xfrm>
                </p:grpSpPr>
                <p:sp>
                  <p:nvSpPr>
                    <p:cNvPr id="290881" name="Freeform 271"/>
                    <p:cNvSpPr>
                      <a:spLocks/>
                    </p:cNvSpPr>
                    <p:nvPr/>
                  </p:nvSpPr>
                  <p:spPr bwMode="auto">
                    <a:xfrm>
                      <a:off x="3944" y="3104"/>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82" name="Freeform 272"/>
                    <p:cNvSpPr>
                      <a:spLocks/>
                    </p:cNvSpPr>
                    <p:nvPr/>
                  </p:nvSpPr>
                  <p:spPr bwMode="auto">
                    <a:xfrm>
                      <a:off x="3936" y="3104"/>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83" name="Freeform 273"/>
                    <p:cNvSpPr>
                      <a:spLocks/>
                    </p:cNvSpPr>
                    <p:nvPr/>
                  </p:nvSpPr>
                  <p:spPr bwMode="auto">
                    <a:xfrm>
                      <a:off x="3936" y="3119"/>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875" name="Freeform 274"/>
                  <p:cNvSpPr>
                    <a:spLocks/>
                  </p:cNvSpPr>
                  <p:nvPr/>
                </p:nvSpPr>
                <p:spPr bwMode="auto">
                  <a:xfrm>
                    <a:off x="3942" y="3062"/>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76" name="Freeform 275"/>
                  <p:cNvSpPr>
                    <a:spLocks/>
                  </p:cNvSpPr>
                  <p:nvPr/>
                </p:nvSpPr>
                <p:spPr bwMode="auto">
                  <a:xfrm>
                    <a:off x="4074" y="3063"/>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77" name="Freeform 276"/>
                  <p:cNvSpPr>
                    <a:spLocks/>
                  </p:cNvSpPr>
                  <p:nvPr/>
                </p:nvSpPr>
                <p:spPr bwMode="auto">
                  <a:xfrm>
                    <a:off x="4070" y="3060"/>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78" name="Freeform 277"/>
                  <p:cNvSpPr>
                    <a:spLocks/>
                  </p:cNvSpPr>
                  <p:nvPr/>
                </p:nvSpPr>
                <p:spPr bwMode="auto">
                  <a:xfrm>
                    <a:off x="4097" y="3068"/>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79" name="Freeform 278"/>
                  <p:cNvSpPr>
                    <a:spLocks/>
                  </p:cNvSpPr>
                  <p:nvPr/>
                </p:nvSpPr>
                <p:spPr bwMode="auto">
                  <a:xfrm>
                    <a:off x="4098" y="3060"/>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80" name="Freeform 279"/>
                  <p:cNvSpPr>
                    <a:spLocks/>
                  </p:cNvSpPr>
                  <p:nvPr/>
                </p:nvSpPr>
                <p:spPr bwMode="auto">
                  <a:xfrm>
                    <a:off x="3942" y="3112"/>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938" name="Group 280"/>
                <p:cNvGrpSpPr>
                  <a:grpSpLocks/>
                </p:cNvGrpSpPr>
                <p:nvPr/>
              </p:nvGrpSpPr>
              <p:grpSpPr bwMode="auto">
                <a:xfrm>
                  <a:off x="4018" y="3030"/>
                  <a:ext cx="109" cy="96"/>
                  <a:chOff x="4018" y="3030"/>
                  <a:chExt cx="109" cy="96"/>
                </a:xfrm>
              </p:grpSpPr>
              <p:sp>
                <p:nvSpPr>
                  <p:cNvPr id="290871" name="Freeform 281"/>
                  <p:cNvSpPr>
                    <a:spLocks/>
                  </p:cNvSpPr>
                  <p:nvPr/>
                </p:nvSpPr>
                <p:spPr bwMode="auto">
                  <a:xfrm>
                    <a:off x="4019" y="3098"/>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72" name="Freeform 282"/>
                  <p:cNvSpPr>
                    <a:spLocks/>
                  </p:cNvSpPr>
                  <p:nvPr/>
                </p:nvSpPr>
                <p:spPr bwMode="auto">
                  <a:xfrm>
                    <a:off x="4020" y="3076"/>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73" name="Freeform 283"/>
                  <p:cNvSpPr>
                    <a:spLocks/>
                  </p:cNvSpPr>
                  <p:nvPr/>
                </p:nvSpPr>
                <p:spPr bwMode="auto">
                  <a:xfrm>
                    <a:off x="4018" y="3030"/>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0867" name="Freeform 284"/>
              <p:cNvSpPr>
                <a:spLocks/>
              </p:cNvSpPr>
              <p:nvPr/>
            </p:nvSpPr>
            <p:spPr bwMode="auto">
              <a:xfrm>
                <a:off x="3995" y="3088"/>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68" name="Freeform 285"/>
              <p:cNvSpPr>
                <a:spLocks/>
              </p:cNvSpPr>
              <p:nvPr/>
            </p:nvSpPr>
            <p:spPr bwMode="auto">
              <a:xfrm>
                <a:off x="4001" y="3092"/>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950" name="Group 286"/>
            <p:cNvGrpSpPr>
              <a:grpSpLocks/>
            </p:cNvGrpSpPr>
            <p:nvPr/>
          </p:nvGrpSpPr>
          <p:grpSpPr bwMode="auto">
            <a:xfrm>
              <a:off x="3797" y="1000"/>
              <a:ext cx="207" cy="106"/>
              <a:chOff x="3998" y="3092"/>
              <a:chExt cx="191" cy="106"/>
            </a:xfrm>
          </p:grpSpPr>
          <p:grpSp>
            <p:nvGrpSpPr>
              <p:cNvPr id="290952" name="Group 287"/>
              <p:cNvGrpSpPr>
                <a:grpSpLocks/>
              </p:cNvGrpSpPr>
              <p:nvPr/>
            </p:nvGrpSpPr>
            <p:grpSpPr bwMode="auto">
              <a:xfrm>
                <a:off x="3998" y="3092"/>
                <a:ext cx="191" cy="106"/>
                <a:chOff x="3998" y="3092"/>
                <a:chExt cx="191" cy="106"/>
              </a:xfrm>
            </p:grpSpPr>
            <p:grpSp>
              <p:nvGrpSpPr>
                <p:cNvPr id="290954" name="Group 288"/>
                <p:cNvGrpSpPr>
                  <a:grpSpLocks/>
                </p:cNvGrpSpPr>
                <p:nvPr/>
              </p:nvGrpSpPr>
              <p:grpSpPr bwMode="auto">
                <a:xfrm>
                  <a:off x="3998" y="3122"/>
                  <a:ext cx="187" cy="76"/>
                  <a:chOff x="3998" y="3122"/>
                  <a:chExt cx="187" cy="76"/>
                </a:xfrm>
              </p:grpSpPr>
              <p:grpSp>
                <p:nvGrpSpPr>
                  <p:cNvPr id="290963" name="Group 289"/>
                  <p:cNvGrpSpPr>
                    <a:grpSpLocks/>
                  </p:cNvGrpSpPr>
                  <p:nvPr/>
                </p:nvGrpSpPr>
                <p:grpSpPr bwMode="auto">
                  <a:xfrm>
                    <a:off x="3998" y="3166"/>
                    <a:ext cx="25" cy="32"/>
                    <a:chOff x="3998" y="3166"/>
                    <a:chExt cx="25" cy="32"/>
                  </a:xfrm>
                </p:grpSpPr>
                <p:sp>
                  <p:nvSpPr>
                    <p:cNvPr id="290863" name="Freeform 290"/>
                    <p:cNvSpPr>
                      <a:spLocks/>
                    </p:cNvSpPr>
                    <p:nvPr/>
                  </p:nvSpPr>
                  <p:spPr bwMode="auto">
                    <a:xfrm>
                      <a:off x="4006" y="3166"/>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64" name="Freeform 291"/>
                    <p:cNvSpPr>
                      <a:spLocks/>
                    </p:cNvSpPr>
                    <p:nvPr/>
                  </p:nvSpPr>
                  <p:spPr bwMode="auto">
                    <a:xfrm>
                      <a:off x="3998" y="3166"/>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65" name="Freeform 292"/>
                    <p:cNvSpPr>
                      <a:spLocks/>
                    </p:cNvSpPr>
                    <p:nvPr/>
                  </p:nvSpPr>
                  <p:spPr bwMode="auto">
                    <a:xfrm>
                      <a:off x="3998" y="3181"/>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0857" name="Freeform 293"/>
                  <p:cNvSpPr>
                    <a:spLocks/>
                  </p:cNvSpPr>
                  <p:nvPr/>
                </p:nvSpPr>
                <p:spPr bwMode="auto">
                  <a:xfrm>
                    <a:off x="4004" y="3124"/>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58" name="Freeform 294"/>
                  <p:cNvSpPr>
                    <a:spLocks/>
                  </p:cNvSpPr>
                  <p:nvPr/>
                </p:nvSpPr>
                <p:spPr bwMode="auto">
                  <a:xfrm>
                    <a:off x="4136" y="3125"/>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59" name="Freeform 295"/>
                  <p:cNvSpPr>
                    <a:spLocks/>
                  </p:cNvSpPr>
                  <p:nvPr/>
                </p:nvSpPr>
                <p:spPr bwMode="auto">
                  <a:xfrm>
                    <a:off x="4132" y="3122"/>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60" name="Freeform 296"/>
                  <p:cNvSpPr>
                    <a:spLocks/>
                  </p:cNvSpPr>
                  <p:nvPr/>
                </p:nvSpPr>
                <p:spPr bwMode="auto">
                  <a:xfrm>
                    <a:off x="4159" y="3130"/>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61" name="Freeform 297"/>
                  <p:cNvSpPr>
                    <a:spLocks/>
                  </p:cNvSpPr>
                  <p:nvPr/>
                </p:nvSpPr>
                <p:spPr bwMode="auto">
                  <a:xfrm>
                    <a:off x="4160" y="3122"/>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62" name="Freeform 298"/>
                  <p:cNvSpPr>
                    <a:spLocks/>
                  </p:cNvSpPr>
                  <p:nvPr/>
                </p:nvSpPr>
                <p:spPr bwMode="auto">
                  <a:xfrm>
                    <a:off x="4004" y="3174"/>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0966" name="Group 299"/>
                <p:cNvGrpSpPr>
                  <a:grpSpLocks/>
                </p:cNvGrpSpPr>
                <p:nvPr/>
              </p:nvGrpSpPr>
              <p:grpSpPr bwMode="auto">
                <a:xfrm>
                  <a:off x="4080" y="3092"/>
                  <a:ext cx="109" cy="96"/>
                  <a:chOff x="4080" y="3092"/>
                  <a:chExt cx="109" cy="96"/>
                </a:xfrm>
              </p:grpSpPr>
              <p:sp>
                <p:nvSpPr>
                  <p:cNvPr id="290853" name="Freeform 300"/>
                  <p:cNvSpPr>
                    <a:spLocks/>
                  </p:cNvSpPr>
                  <p:nvPr/>
                </p:nvSpPr>
                <p:spPr bwMode="auto">
                  <a:xfrm>
                    <a:off x="4081" y="3160"/>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54" name="Freeform 301"/>
                  <p:cNvSpPr>
                    <a:spLocks/>
                  </p:cNvSpPr>
                  <p:nvPr/>
                </p:nvSpPr>
                <p:spPr bwMode="auto">
                  <a:xfrm>
                    <a:off x="4082" y="3138"/>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55" name="Freeform 302"/>
                  <p:cNvSpPr>
                    <a:spLocks/>
                  </p:cNvSpPr>
                  <p:nvPr/>
                </p:nvSpPr>
                <p:spPr bwMode="auto">
                  <a:xfrm>
                    <a:off x="4080" y="3092"/>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0849" name="Freeform 303"/>
              <p:cNvSpPr>
                <a:spLocks/>
              </p:cNvSpPr>
              <p:nvPr/>
            </p:nvSpPr>
            <p:spPr bwMode="auto">
              <a:xfrm>
                <a:off x="4057" y="3150"/>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0850" name="Freeform 304"/>
              <p:cNvSpPr>
                <a:spLocks/>
              </p:cNvSpPr>
              <p:nvPr/>
            </p:nvSpPr>
            <p:spPr bwMode="auto">
              <a:xfrm>
                <a:off x="4063" y="3154"/>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0826" name="Rectangle 305"/>
          <p:cNvSpPr>
            <a:spLocks noChangeArrowheads="1"/>
          </p:cNvSpPr>
          <p:nvPr/>
        </p:nvSpPr>
        <p:spPr bwMode="auto">
          <a:xfrm>
            <a:off x="579438" y="965200"/>
            <a:ext cx="412292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eaLnBrk="0" hangingPunct="0">
              <a:buFont typeface="Wingdings" pitchFamily="2" charset="2"/>
              <a:buNone/>
            </a:pP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Sự</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phân</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loại</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của</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các</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phương</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sai</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quá</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trình</a:t>
            </a:r>
            <a:endParaRPr kumimoji="0" lang="ko-KR" altLang="en-US" sz="1400" b="1" dirty="0">
              <a:latin typeface="맑은 고딕" pitchFamily="50" charset="-127"/>
              <a:ea typeface="맑은 고딕" pitchFamily="50" charset="-127"/>
            </a:endParaRPr>
          </a:p>
        </p:txBody>
      </p:sp>
      <p:sp>
        <p:nvSpPr>
          <p:cNvPr id="290828" name="Rectangle 1055"/>
          <p:cNvSpPr>
            <a:spLocks noChangeArrowheads="1"/>
          </p:cNvSpPr>
          <p:nvPr/>
        </p:nvSpPr>
        <p:spPr bwMode="auto">
          <a:xfrm>
            <a:off x="263525" y="260350"/>
            <a:ext cx="3648075"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222</a:t>
            </a:fld>
            <a:endParaRPr lang="ko-KR" altLang="en-US" dirty="0"/>
          </a:p>
        </p:txBody>
      </p:sp>
    </p:spTree>
    <p:extLst>
      <p:ext uri="{BB962C8B-B14F-4D97-AF65-F5344CB8AC3E}">
        <p14:creationId xmlns:p14="http://schemas.microsoft.com/office/powerpoint/2010/main" val="242197633"/>
      </p:ext>
    </p:extLst>
  </p:cSld>
  <p:clrMapOvr>
    <a:masterClrMapping/>
  </p:clrMapOvr>
  <p:transition spd="slow"/>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ChangeArrowheads="1"/>
          </p:cNvSpPr>
          <p:nvPr/>
        </p:nvSpPr>
        <p:spPr bwMode="auto">
          <a:xfrm>
            <a:off x="717550" y="1268760"/>
            <a:ext cx="8702675" cy="6469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just"/>
            <a:r>
              <a:rPr lang="en-US" altLang="ko-KR" sz="1200" dirty="0" err="1">
                <a:latin typeface="맑은 고딕" pitchFamily="50" charset="-127"/>
                <a:ea typeface="맑은 고딕" pitchFamily="50" charset="-127"/>
              </a:rPr>
              <a:t>Khi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thâp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khoảng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gian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dài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sẽ</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tập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hợp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bao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gồm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xuất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văn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phòng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mô</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chính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thông</a:t>
            </a:r>
            <a:r>
              <a:rPr lang="en-US" altLang="ko-KR" sz="1200" dirty="0">
                <a:latin typeface="맑은 고딕" pitchFamily="50" charset="-127"/>
                <a:ea typeface="맑은 고딕" pitchFamily="50" charset="-127"/>
              </a:rPr>
              <a:t> qua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thập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dài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a:t>
            </a:r>
          </a:p>
        </p:txBody>
      </p:sp>
      <p:sp>
        <p:nvSpPr>
          <p:cNvPr id="291843" name="AutoShape 3"/>
          <p:cNvSpPr>
            <a:spLocks noChangeArrowheads="1"/>
          </p:cNvSpPr>
          <p:nvPr/>
        </p:nvSpPr>
        <p:spPr bwMode="auto">
          <a:xfrm>
            <a:off x="787400" y="1984375"/>
            <a:ext cx="8501063" cy="2925763"/>
          </a:xfrm>
          <a:prstGeom prst="roundRect">
            <a:avLst>
              <a:gd name="adj" fmla="val 5866"/>
            </a:avLst>
          </a:prstGeom>
          <a:solidFill>
            <a:srgbClr val="FFFFFF"/>
          </a:solidFill>
          <a:ln w="9525">
            <a:solidFill>
              <a:schemeClr val="tx1"/>
            </a:solidFill>
            <a:round/>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91844" name="Rectangle 4"/>
          <p:cNvSpPr>
            <a:spLocks noChangeArrowheads="1"/>
          </p:cNvSpPr>
          <p:nvPr/>
        </p:nvSpPr>
        <p:spPr bwMode="auto">
          <a:xfrm>
            <a:off x="4094163" y="2257425"/>
            <a:ext cx="942975" cy="2297113"/>
          </a:xfrm>
          <a:prstGeom prst="rect">
            <a:avLst/>
          </a:prstGeom>
          <a:solidFill>
            <a:srgbClr val="C2C9D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1845" name="Rectangle 5"/>
          <p:cNvSpPr>
            <a:spLocks noChangeArrowheads="1"/>
          </p:cNvSpPr>
          <p:nvPr/>
        </p:nvSpPr>
        <p:spPr bwMode="auto">
          <a:xfrm>
            <a:off x="5145088" y="2257425"/>
            <a:ext cx="796925" cy="2297113"/>
          </a:xfrm>
          <a:prstGeom prst="rect">
            <a:avLst/>
          </a:prstGeom>
          <a:solidFill>
            <a:srgbClr val="C2C9D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1846" name="Rectangle 6"/>
          <p:cNvSpPr>
            <a:spLocks noChangeArrowheads="1"/>
          </p:cNvSpPr>
          <p:nvPr/>
        </p:nvSpPr>
        <p:spPr bwMode="auto">
          <a:xfrm>
            <a:off x="6021388" y="2257425"/>
            <a:ext cx="768350" cy="2297113"/>
          </a:xfrm>
          <a:prstGeom prst="rect">
            <a:avLst/>
          </a:prstGeom>
          <a:solidFill>
            <a:srgbClr val="C2C9D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1847" name="Rectangle 7"/>
          <p:cNvSpPr>
            <a:spLocks noChangeArrowheads="1"/>
          </p:cNvSpPr>
          <p:nvPr/>
        </p:nvSpPr>
        <p:spPr bwMode="auto">
          <a:xfrm>
            <a:off x="6870700" y="2257425"/>
            <a:ext cx="823913" cy="2297113"/>
          </a:xfrm>
          <a:prstGeom prst="rect">
            <a:avLst/>
          </a:prstGeom>
          <a:solidFill>
            <a:srgbClr val="C2C9D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1848" name="Rectangle 8"/>
          <p:cNvSpPr>
            <a:spLocks noChangeArrowheads="1"/>
          </p:cNvSpPr>
          <p:nvPr/>
        </p:nvSpPr>
        <p:spPr bwMode="auto">
          <a:xfrm>
            <a:off x="2859088" y="2257425"/>
            <a:ext cx="1090612" cy="2297113"/>
          </a:xfrm>
          <a:prstGeom prst="rect">
            <a:avLst/>
          </a:prstGeom>
          <a:solidFill>
            <a:srgbClr val="C2C9D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1849" name="Rectangle 9"/>
          <p:cNvSpPr>
            <a:spLocks noChangeArrowheads="1"/>
          </p:cNvSpPr>
          <p:nvPr/>
        </p:nvSpPr>
        <p:spPr bwMode="auto">
          <a:xfrm>
            <a:off x="1638300" y="2257425"/>
            <a:ext cx="1087438" cy="2297113"/>
          </a:xfrm>
          <a:prstGeom prst="rect">
            <a:avLst/>
          </a:prstGeom>
          <a:solidFill>
            <a:srgbClr val="C2C9D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1850" name="Line 10"/>
          <p:cNvSpPr>
            <a:spLocks noChangeShapeType="1"/>
          </p:cNvSpPr>
          <p:nvPr/>
        </p:nvSpPr>
        <p:spPr bwMode="auto">
          <a:xfrm>
            <a:off x="7561263" y="2533650"/>
            <a:ext cx="0" cy="9636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51" name="Freeform 11"/>
          <p:cNvSpPr>
            <a:spLocks/>
          </p:cNvSpPr>
          <p:nvPr/>
        </p:nvSpPr>
        <p:spPr bwMode="auto">
          <a:xfrm flipH="1">
            <a:off x="7561263" y="2566988"/>
            <a:ext cx="477837"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52" name="Freeform 12"/>
          <p:cNvSpPr>
            <a:spLocks/>
          </p:cNvSpPr>
          <p:nvPr/>
        </p:nvSpPr>
        <p:spPr bwMode="auto">
          <a:xfrm flipH="1">
            <a:off x="7242175" y="2636838"/>
            <a:ext cx="477838" cy="757237"/>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53" name="Line 13"/>
          <p:cNvSpPr>
            <a:spLocks noChangeShapeType="1"/>
          </p:cNvSpPr>
          <p:nvPr/>
        </p:nvSpPr>
        <p:spPr bwMode="auto">
          <a:xfrm>
            <a:off x="7229475" y="2544763"/>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54" name="Line 14"/>
          <p:cNvSpPr>
            <a:spLocks noChangeShapeType="1"/>
          </p:cNvSpPr>
          <p:nvPr/>
        </p:nvSpPr>
        <p:spPr bwMode="auto">
          <a:xfrm>
            <a:off x="7096125" y="3014663"/>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55" name="Freeform 15"/>
          <p:cNvSpPr>
            <a:spLocks/>
          </p:cNvSpPr>
          <p:nvPr/>
        </p:nvSpPr>
        <p:spPr bwMode="auto">
          <a:xfrm flipH="1">
            <a:off x="6923088" y="2566988"/>
            <a:ext cx="479425"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56" name="Line 16"/>
          <p:cNvSpPr>
            <a:spLocks noChangeShapeType="1"/>
          </p:cNvSpPr>
          <p:nvPr/>
        </p:nvSpPr>
        <p:spPr bwMode="auto">
          <a:xfrm>
            <a:off x="6910388" y="2474913"/>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57" name="Line 17"/>
          <p:cNvSpPr>
            <a:spLocks noChangeShapeType="1"/>
          </p:cNvSpPr>
          <p:nvPr/>
        </p:nvSpPr>
        <p:spPr bwMode="auto">
          <a:xfrm>
            <a:off x="6778625" y="2946400"/>
            <a:ext cx="7159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58" name="Line 18"/>
          <p:cNvSpPr>
            <a:spLocks noChangeShapeType="1"/>
          </p:cNvSpPr>
          <p:nvPr/>
        </p:nvSpPr>
        <p:spPr bwMode="auto">
          <a:xfrm>
            <a:off x="3656013" y="3290888"/>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59" name="Freeform 19"/>
          <p:cNvSpPr>
            <a:spLocks/>
          </p:cNvSpPr>
          <p:nvPr/>
        </p:nvSpPr>
        <p:spPr bwMode="auto">
          <a:xfrm flipH="1">
            <a:off x="3656013" y="3325813"/>
            <a:ext cx="477837"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60" name="Line 20"/>
          <p:cNvSpPr>
            <a:spLocks noChangeShapeType="1"/>
          </p:cNvSpPr>
          <p:nvPr/>
        </p:nvSpPr>
        <p:spPr bwMode="auto">
          <a:xfrm>
            <a:off x="3509963" y="3705225"/>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61" name="Freeform 21"/>
          <p:cNvSpPr>
            <a:spLocks/>
          </p:cNvSpPr>
          <p:nvPr/>
        </p:nvSpPr>
        <p:spPr bwMode="auto">
          <a:xfrm flipH="1">
            <a:off x="3336925" y="3394075"/>
            <a:ext cx="479425"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62" name="Line 22"/>
          <p:cNvSpPr>
            <a:spLocks noChangeShapeType="1"/>
          </p:cNvSpPr>
          <p:nvPr/>
        </p:nvSpPr>
        <p:spPr bwMode="auto">
          <a:xfrm>
            <a:off x="3324225" y="3290888"/>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63" name="Line 23"/>
          <p:cNvSpPr>
            <a:spLocks noChangeShapeType="1"/>
          </p:cNvSpPr>
          <p:nvPr/>
        </p:nvSpPr>
        <p:spPr bwMode="auto">
          <a:xfrm>
            <a:off x="3192463" y="3773488"/>
            <a:ext cx="715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64" name="Line 24"/>
          <p:cNvSpPr>
            <a:spLocks noChangeShapeType="1"/>
          </p:cNvSpPr>
          <p:nvPr/>
        </p:nvSpPr>
        <p:spPr bwMode="auto">
          <a:xfrm>
            <a:off x="1100138" y="2279650"/>
            <a:ext cx="0" cy="2482850"/>
          </a:xfrm>
          <a:prstGeom prst="line">
            <a:avLst/>
          </a:prstGeom>
          <a:noFill/>
          <a:ln w="190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65" name="Line 25"/>
          <p:cNvSpPr>
            <a:spLocks noChangeShapeType="1"/>
          </p:cNvSpPr>
          <p:nvPr/>
        </p:nvSpPr>
        <p:spPr bwMode="auto">
          <a:xfrm>
            <a:off x="1104900" y="4765675"/>
            <a:ext cx="7513638"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66" name="Rectangle 26"/>
          <p:cNvSpPr>
            <a:spLocks noChangeArrowheads="1"/>
          </p:cNvSpPr>
          <p:nvPr/>
        </p:nvSpPr>
        <p:spPr bwMode="auto">
          <a:xfrm>
            <a:off x="8596313" y="4625975"/>
            <a:ext cx="596900"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eaLnBrk="0" hangingPunct="0"/>
            <a:r>
              <a:rPr lang="en-US" altLang="ko-KR" sz="1200" dirty="0">
                <a:latin typeface="맑은 고딕" pitchFamily="50" charset="-127"/>
                <a:ea typeface="맑은 고딕" pitchFamily="50" charset="-127"/>
              </a:rPr>
              <a:t>Time</a:t>
            </a:r>
          </a:p>
        </p:txBody>
      </p:sp>
      <p:sp>
        <p:nvSpPr>
          <p:cNvPr id="291867" name="Rectangle 27"/>
          <p:cNvSpPr>
            <a:spLocks noChangeArrowheads="1"/>
          </p:cNvSpPr>
          <p:nvPr/>
        </p:nvSpPr>
        <p:spPr bwMode="auto">
          <a:xfrm rot="-5400000">
            <a:off x="519907" y="2369429"/>
            <a:ext cx="850900"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eaLnBrk="0" hangingPunct="0"/>
            <a:r>
              <a:rPr lang="en-US" altLang="ko-KR" sz="1200" dirty="0">
                <a:latin typeface="맑은 고딕" pitchFamily="50" charset="-127"/>
                <a:ea typeface="맑은 고딕" pitchFamily="50" charset="-127"/>
              </a:rPr>
              <a:t>CTQ (Y)</a:t>
            </a:r>
          </a:p>
        </p:txBody>
      </p:sp>
      <p:sp>
        <p:nvSpPr>
          <p:cNvPr id="291868" name="Rectangle 28"/>
          <p:cNvSpPr>
            <a:spLocks noChangeArrowheads="1"/>
          </p:cNvSpPr>
          <p:nvPr/>
        </p:nvSpPr>
        <p:spPr bwMode="auto">
          <a:xfrm>
            <a:off x="3084511" y="2105025"/>
            <a:ext cx="2697164" cy="26035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91869" name="Freeform 29"/>
          <p:cNvSpPr>
            <a:spLocks/>
          </p:cNvSpPr>
          <p:nvPr/>
        </p:nvSpPr>
        <p:spPr bwMode="auto">
          <a:xfrm flipH="1">
            <a:off x="8245475" y="2200275"/>
            <a:ext cx="750888" cy="225107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28575"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70" name="Line 30"/>
          <p:cNvSpPr>
            <a:spLocks noChangeShapeType="1"/>
          </p:cNvSpPr>
          <p:nvPr/>
        </p:nvSpPr>
        <p:spPr bwMode="auto">
          <a:xfrm>
            <a:off x="1836738" y="3314700"/>
            <a:ext cx="7199312" cy="0"/>
          </a:xfrm>
          <a:prstGeom prst="line">
            <a:avLst/>
          </a:prstGeom>
          <a:noFill/>
          <a:ln w="952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71" name="Line 31"/>
          <p:cNvSpPr>
            <a:spLocks noChangeShapeType="1"/>
          </p:cNvSpPr>
          <p:nvPr/>
        </p:nvSpPr>
        <p:spPr bwMode="auto">
          <a:xfrm>
            <a:off x="8199438" y="2279650"/>
            <a:ext cx="0" cy="2252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72" name="Text Box 32"/>
          <p:cNvSpPr txBox="1">
            <a:spLocks noChangeArrowheads="1"/>
          </p:cNvSpPr>
          <p:nvPr/>
        </p:nvSpPr>
        <p:spPr bwMode="auto">
          <a:xfrm>
            <a:off x="7059504" y="2095500"/>
            <a:ext cx="1872629" cy="246221"/>
          </a:xfrm>
          <a:prstGeom prst="rect">
            <a:avLst/>
          </a:prstGeom>
          <a:solidFill>
            <a:srgbClr val="ECF8E8"/>
          </a:solidFill>
          <a:ln w="9525">
            <a:solidFill>
              <a:schemeClr val="tx1"/>
            </a:solidFill>
            <a:miter lim="800000"/>
            <a:headEnd/>
            <a:tailEnd/>
          </a:ln>
          <a:effectLst>
            <a:outerShdw dist="35921" dir="2700000" algn="ctr" rotWithShape="0">
              <a:schemeClr val="bg2"/>
            </a:outerShdw>
          </a:effec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맑은 고딕" pitchFamily="50" charset="-127"/>
                <a:ea typeface="맑은 고딕" pitchFamily="50" charset="-127"/>
              </a:rPr>
              <a:t>Long term process capability</a:t>
            </a:r>
            <a:endParaRPr lang="ko-KR" altLang="en-US" sz="1000" dirty="0">
              <a:latin typeface="맑은 고딕" pitchFamily="50" charset="-127"/>
              <a:ea typeface="맑은 고딕" pitchFamily="50" charset="-127"/>
            </a:endParaRPr>
          </a:p>
        </p:txBody>
      </p:sp>
      <p:sp>
        <p:nvSpPr>
          <p:cNvPr id="291873" name="Freeform 33"/>
          <p:cNvSpPr>
            <a:spLocks/>
          </p:cNvSpPr>
          <p:nvPr/>
        </p:nvSpPr>
        <p:spPr bwMode="auto">
          <a:xfrm flipH="1">
            <a:off x="1809750" y="2878138"/>
            <a:ext cx="477838" cy="757237"/>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74" name="Line 34"/>
          <p:cNvSpPr>
            <a:spLocks noChangeShapeType="1"/>
          </p:cNvSpPr>
          <p:nvPr/>
        </p:nvSpPr>
        <p:spPr bwMode="auto">
          <a:xfrm>
            <a:off x="1809750" y="2773363"/>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75" name="Line 35"/>
          <p:cNvSpPr>
            <a:spLocks noChangeShapeType="1"/>
          </p:cNvSpPr>
          <p:nvPr/>
        </p:nvSpPr>
        <p:spPr bwMode="auto">
          <a:xfrm>
            <a:off x="1211263" y="3255963"/>
            <a:ext cx="113030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76" name="Freeform 36"/>
          <p:cNvSpPr>
            <a:spLocks/>
          </p:cNvSpPr>
          <p:nvPr/>
        </p:nvSpPr>
        <p:spPr bwMode="auto">
          <a:xfrm flipH="1">
            <a:off x="2222500" y="2970213"/>
            <a:ext cx="477838" cy="757237"/>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77" name="Line 37"/>
          <p:cNvSpPr>
            <a:spLocks noChangeShapeType="1"/>
          </p:cNvSpPr>
          <p:nvPr/>
        </p:nvSpPr>
        <p:spPr bwMode="auto">
          <a:xfrm>
            <a:off x="2208213" y="2865438"/>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78" name="Line 38"/>
          <p:cNvSpPr>
            <a:spLocks noChangeShapeType="1"/>
          </p:cNvSpPr>
          <p:nvPr/>
        </p:nvSpPr>
        <p:spPr bwMode="auto">
          <a:xfrm>
            <a:off x="2076450" y="3348038"/>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79" name="Freeform 39"/>
          <p:cNvSpPr>
            <a:spLocks/>
          </p:cNvSpPr>
          <p:nvPr/>
        </p:nvSpPr>
        <p:spPr bwMode="auto">
          <a:xfrm flipH="1">
            <a:off x="3019425" y="3325813"/>
            <a:ext cx="477838"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80" name="Line 40"/>
          <p:cNvSpPr>
            <a:spLocks noChangeShapeType="1"/>
          </p:cNvSpPr>
          <p:nvPr/>
        </p:nvSpPr>
        <p:spPr bwMode="auto">
          <a:xfrm>
            <a:off x="3005138" y="3222625"/>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81" name="Line 41"/>
          <p:cNvSpPr>
            <a:spLocks noChangeShapeType="1"/>
          </p:cNvSpPr>
          <p:nvPr/>
        </p:nvSpPr>
        <p:spPr bwMode="auto">
          <a:xfrm>
            <a:off x="2873375" y="3705225"/>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82" name="Line 42"/>
          <p:cNvSpPr>
            <a:spLocks noChangeShapeType="1"/>
          </p:cNvSpPr>
          <p:nvPr/>
        </p:nvSpPr>
        <p:spPr bwMode="auto">
          <a:xfrm>
            <a:off x="4945063" y="3038475"/>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83" name="Freeform 43"/>
          <p:cNvSpPr>
            <a:spLocks/>
          </p:cNvSpPr>
          <p:nvPr/>
        </p:nvSpPr>
        <p:spPr bwMode="auto">
          <a:xfrm flipH="1">
            <a:off x="4945063" y="3073400"/>
            <a:ext cx="477837" cy="757238"/>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84" name="Line 44"/>
          <p:cNvSpPr>
            <a:spLocks noChangeShapeType="1"/>
          </p:cNvSpPr>
          <p:nvPr/>
        </p:nvSpPr>
        <p:spPr bwMode="auto">
          <a:xfrm>
            <a:off x="4797425" y="3451225"/>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85" name="Freeform 45"/>
          <p:cNvSpPr>
            <a:spLocks/>
          </p:cNvSpPr>
          <p:nvPr/>
        </p:nvSpPr>
        <p:spPr bwMode="auto">
          <a:xfrm flipH="1">
            <a:off x="4625975" y="3141663"/>
            <a:ext cx="477838"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86" name="Line 46"/>
          <p:cNvSpPr>
            <a:spLocks noChangeShapeType="1"/>
          </p:cNvSpPr>
          <p:nvPr/>
        </p:nvSpPr>
        <p:spPr bwMode="auto">
          <a:xfrm>
            <a:off x="4613275" y="3038475"/>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87" name="Line 47"/>
          <p:cNvSpPr>
            <a:spLocks noChangeShapeType="1"/>
          </p:cNvSpPr>
          <p:nvPr/>
        </p:nvSpPr>
        <p:spPr bwMode="auto">
          <a:xfrm>
            <a:off x="4479925" y="3521075"/>
            <a:ext cx="7159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88" name="Freeform 48"/>
          <p:cNvSpPr>
            <a:spLocks/>
          </p:cNvSpPr>
          <p:nvPr/>
        </p:nvSpPr>
        <p:spPr bwMode="auto">
          <a:xfrm flipH="1">
            <a:off x="4306888" y="3073400"/>
            <a:ext cx="479425" cy="757238"/>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89" name="Line 49"/>
          <p:cNvSpPr>
            <a:spLocks noChangeShapeType="1"/>
          </p:cNvSpPr>
          <p:nvPr/>
        </p:nvSpPr>
        <p:spPr bwMode="auto">
          <a:xfrm>
            <a:off x="4294188" y="2970213"/>
            <a:ext cx="0" cy="9636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90" name="Line 50"/>
          <p:cNvSpPr>
            <a:spLocks noChangeShapeType="1"/>
          </p:cNvSpPr>
          <p:nvPr/>
        </p:nvSpPr>
        <p:spPr bwMode="auto">
          <a:xfrm>
            <a:off x="4160838" y="3451225"/>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91" name="Line 51"/>
          <p:cNvSpPr>
            <a:spLocks noChangeShapeType="1"/>
          </p:cNvSpPr>
          <p:nvPr/>
        </p:nvSpPr>
        <p:spPr bwMode="auto">
          <a:xfrm>
            <a:off x="6618288" y="2325688"/>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92" name="Freeform 52"/>
          <p:cNvSpPr>
            <a:spLocks/>
          </p:cNvSpPr>
          <p:nvPr/>
        </p:nvSpPr>
        <p:spPr bwMode="auto">
          <a:xfrm flipH="1">
            <a:off x="6618288" y="2360613"/>
            <a:ext cx="477837"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93" name="Line 53"/>
          <p:cNvSpPr>
            <a:spLocks noChangeShapeType="1"/>
          </p:cNvSpPr>
          <p:nvPr/>
        </p:nvSpPr>
        <p:spPr bwMode="auto">
          <a:xfrm>
            <a:off x="6472238" y="2740025"/>
            <a:ext cx="715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94" name="Freeform 54"/>
          <p:cNvSpPr>
            <a:spLocks/>
          </p:cNvSpPr>
          <p:nvPr/>
        </p:nvSpPr>
        <p:spPr bwMode="auto">
          <a:xfrm flipH="1">
            <a:off x="6299200" y="2428875"/>
            <a:ext cx="479425"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95" name="Line 55"/>
          <p:cNvSpPr>
            <a:spLocks noChangeShapeType="1"/>
          </p:cNvSpPr>
          <p:nvPr/>
        </p:nvSpPr>
        <p:spPr bwMode="auto">
          <a:xfrm>
            <a:off x="6286500" y="2325688"/>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96" name="Line 56"/>
          <p:cNvSpPr>
            <a:spLocks noChangeShapeType="1"/>
          </p:cNvSpPr>
          <p:nvPr/>
        </p:nvSpPr>
        <p:spPr bwMode="auto">
          <a:xfrm>
            <a:off x="6153150" y="2808288"/>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97" name="Freeform 57"/>
          <p:cNvSpPr>
            <a:spLocks/>
          </p:cNvSpPr>
          <p:nvPr/>
        </p:nvSpPr>
        <p:spPr bwMode="auto">
          <a:xfrm flipH="1">
            <a:off x="5981700" y="2360613"/>
            <a:ext cx="477838"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898" name="Line 58"/>
          <p:cNvSpPr>
            <a:spLocks noChangeShapeType="1"/>
          </p:cNvSpPr>
          <p:nvPr/>
        </p:nvSpPr>
        <p:spPr bwMode="auto">
          <a:xfrm>
            <a:off x="5967413" y="2257425"/>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899" name="Line 59"/>
          <p:cNvSpPr>
            <a:spLocks noChangeShapeType="1"/>
          </p:cNvSpPr>
          <p:nvPr/>
        </p:nvSpPr>
        <p:spPr bwMode="auto">
          <a:xfrm>
            <a:off x="5834063" y="2740025"/>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00" name="Line 60"/>
          <p:cNvSpPr>
            <a:spLocks noChangeShapeType="1"/>
          </p:cNvSpPr>
          <p:nvPr/>
        </p:nvSpPr>
        <p:spPr bwMode="auto">
          <a:xfrm>
            <a:off x="7415213" y="2911475"/>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3" name="Group 61"/>
          <p:cNvGrpSpPr>
            <a:grpSpLocks/>
          </p:cNvGrpSpPr>
          <p:nvPr/>
        </p:nvGrpSpPr>
        <p:grpSpPr bwMode="auto">
          <a:xfrm>
            <a:off x="2474913" y="2362200"/>
            <a:ext cx="2536825" cy="1204913"/>
            <a:chOff x="1559" y="1552"/>
            <a:chExt cx="1598" cy="695"/>
          </a:xfrm>
        </p:grpSpPr>
        <p:sp>
          <p:nvSpPr>
            <p:cNvPr id="291940" name="Line 62"/>
            <p:cNvSpPr>
              <a:spLocks noChangeShapeType="1"/>
            </p:cNvSpPr>
            <p:nvPr/>
          </p:nvSpPr>
          <p:spPr bwMode="auto">
            <a:xfrm flipH="1">
              <a:off x="1559" y="1552"/>
              <a:ext cx="1146" cy="434"/>
            </a:xfrm>
            <a:prstGeom prst="line">
              <a:avLst/>
            </a:prstGeom>
            <a:noFill/>
            <a:ln w="12699">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41" name="Line 63"/>
            <p:cNvSpPr>
              <a:spLocks noChangeShapeType="1"/>
            </p:cNvSpPr>
            <p:nvPr/>
          </p:nvSpPr>
          <p:spPr bwMode="auto">
            <a:xfrm flipH="1">
              <a:off x="2011" y="1552"/>
              <a:ext cx="694" cy="651"/>
            </a:xfrm>
            <a:prstGeom prst="line">
              <a:avLst/>
            </a:prstGeom>
            <a:noFill/>
            <a:ln w="12699">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42" name="Line 64"/>
            <p:cNvSpPr>
              <a:spLocks noChangeShapeType="1"/>
            </p:cNvSpPr>
            <p:nvPr/>
          </p:nvSpPr>
          <p:spPr bwMode="auto">
            <a:xfrm flipH="1">
              <a:off x="2462" y="1552"/>
              <a:ext cx="243" cy="695"/>
            </a:xfrm>
            <a:prstGeom prst="line">
              <a:avLst/>
            </a:prstGeom>
            <a:noFill/>
            <a:ln w="12699">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43" name="Line 65"/>
            <p:cNvSpPr>
              <a:spLocks noChangeShapeType="1"/>
            </p:cNvSpPr>
            <p:nvPr/>
          </p:nvSpPr>
          <p:spPr bwMode="auto">
            <a:xfrm>
              <a:off x="2705" y="1552"/>
              <a:ext cx="109" cy="478"/>
            </a:xfrm>
            <a:prstGeom prst="line">
              <a:avLst/>
            </a:prstGeom>
            <a:noFill/>
            <a:ln w="12699">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44" name="Line 66"/>
            <p:cNvSpPr>
              <a:spLocks noChangeShapeType="1"/>
            </p:cNvSpPr>
            <p:nvPr/>
          </p:nvSpPr>
          <p:spPr bwMode="auto">
            <a:xfrm>
              <a:off x="2705" y="1552"/>
              <a:ext cx="452" cy="261"/>
            </a:xfrm>
            <a:prstGeom prst="line">
              <a:avLst/>
            </a:prstGeom>
            <a:noFill/>
            <a:ln w="12699">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291902" name="Rectangle 67"/>
          <p:cNvSpPr>
            <a:spLocks noChangeArrowheads="1"/>
          </p:cNvSpPr>
          <p:nvPr/>
        </p:nvSpPr>
        <p:spPr bwMode="auto">
          <a:xfrm>
            <a:off x="1836738" y="4394200"/>
            <a:ext cx="690562" cy="333375"/>
          </a:xfrm>
          <a:prstGeom prst="rect">
            <a:avLst/>
          </a:pr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lstStyle/>
          <a:p>
            <a:r>
              <a:rPr lang="en-US" altLang="ko-KR" sz="1000" dirty="0">
                <a:latin typeface="맑은 고딕" pitchFamily="50" charset="-127"/>
                <a:ea typeface="맑은 고딕" pitchFamily="50" charset="-127"/>
              </a:rPr>
              <a:t>worker</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A</a:t>
            </a:r>
          </a:p>
          <a:p>
            <a:r>
              <a:rPr lang="en-US" altLang="ko-KR" sz="1000" dirty="0">
                <a:latin typeface="맑은 고딕" pitchFamily="50" charset="-127"/>
                <a:ea typeface="맑은 고딕" pitchFamily="50" charset="-127"/>
              </a:rPr>
              <a:t>material</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A</a:t>
            </a:r>
          </a:p>
        </p:txBody>
      </p:sp>
      <p:sp>
        <p:nvSpPr>
          <p:cNvPr id="291903" name="Line 68"/>
          <p:cNvSpPr>
            <a:spLocks noChangeShapeType="1"/>
          </p:cNvSpPr>
          <p:nvPr/>
        </p:nvSpPr>
        <p:spPr bwMode="auto">
          <a:xfrm>
            <a:off x="5727700" y="2636838"/>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04" name="Freeform 69"/>
          <p:cNvSpPr>
            <a:spLocks/>
          </p:cNvSpPr>
          <p:nvPr/>
        </p:nvSpPr>
        <p:spPr bwMode="auto">
          <a:xfrm flipH="1">
            <a:off x="5727700" y="2670175"/>
            <a:ext cx="479425"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905" name="Line 70"/>
          <p:cNvSpPr>
            <a:spLocks noChangeShapeType="1"/>
          </p:cNvSpPr>
          <p:nvPr/>
        </p:nvSpPr>
        <p:spPr bwMode="auto">
          <a:xfrm>
            <a:off x="5583238" y="3049588"/>
            <a:ext cx="715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06" name="Freeform 71"/>
          <p:cNvSpPr>
            <a:spLocks/>
          </p:cNvSpPr>
          <p:nvPr/>
        </p:nvSpPr>
        <p:spPr bwMode="auto">
          <a:xfrm flipH="1">
            <a:off x="5410200" y="2740025"/>
            <a:ext cx="477838" cy="757238"/>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907" name="Line 72"/>
          <p:cNvSpPr>
            <a:spLocks noChangeShapeType="1"/>
          </p:cNvSpPr>
          <p:nvPr/>
        </p:nvSpPr>
        <p:spPr bwMode="auto">
          <a:xfrm>
            <a:off x="5395913" y="2636838"/>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08" name="Line 73"/>
          <p:cNvSpPr>
            <a:spLocks noChangeShapeType="1"/>
          </p:cNvSpPr>
          <p:nvPr/>
        </p:nvSpPr>
        <p:spPr bwMode="auto">
          <a:xfrm>
            <a:off x="5264150" y="3119438"/>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09" name="Freeform 74"/>
          <p:cNvSpPr>
            <a:spLocks/>
          </p:cNvSpPr>
          <p:nvPr/>
        </p:nvSpPr>
        <p:spPr bwMode="auto">
          <a:xfrm flipH="1">
            <a:off x="5091113" y="2670175"/>
            <a:ext cx="477837" cy="758825"/>
          </a:xfrm>
          <a:custGeom>
            <a:avLst/>
            <a:gdLst>
              <a:gd name="T0" fmla="*/ 2147483647 w 518"/>
              <a:gd name="T1" fmla="*/ 2147483647 h 467"/>
              <a:gd name="T2" fmla="*/ 2147483647 w 518"/>
              <a:gd name="T3" fmla="*/ 2147483647 h 467"/>
              <a:gd name="T4" fmla="*/ 2147483647 w 518"/>
              <a:gd name="T5" fmla="*/ 2147483647 h 467"/>
              <a:gd name="T6" fmla="*/ 2147483647 w 518"/>
              <a:gd name="T7" fmla="*/ 2147483647 h 467"/>
              <a:gd name="T8" fmla="*/ 2147483647 w 518"/>
              <a:gd name="T9" fmla="*/ 2147483647 h 467"/>
              <a:gd name="T10" fmla="*/ 2147483647 w 518"/>
              <a:gd name="T11" fmla="*/ 2147483647 h 467"/>
              <a:gd name="T12" fmla="*/ 2147483647 w 518"/>
              <a:gd name="T13" fmla="*/ 2147483647 h 467"/>
              <a:gd name="T14" fmla="*/ 2147483647 w 518"/>
              <a:gd name="T15" fmla="*/ 2147483647 h 467"/>
              <a:gd name="T16" fmla="*/ 2147483647 w 518"/>
              <a:gd name="T17" fmla="*/ 2147483647 h 467"/>
              <a:gd name="T18" fmla="*/ 2147483647 w 518"/>
              <a:gd name="T19" fmla="*/ 2147483647 h 467"/>
              <a:gd name="T20" fmla="*/ 2147483647 w 518"/>
              <a:gd name="T21" fmla="*/ 2147483647 h 467"/>
              <a:gd name="T22" fmla="*/ 2147483647 w 518"/>
              <a:gd name="T23" fmla="*/ 2147483647 h 467"/>
              <a:gd name="T24" fmla="*/ 2147483647 w 518"/>
              <a:gd name="T25" fmla="*/ 2147483647 h 467"/>
              <a:gd name="T26" fmla="*/ 2147483647 w 518"/>
              <a:gd name="T27" fmla="*/ 2147483647 h 467"/>
              <a:gd name="T28" fmla="*/ 2147483647 w 518"/>
              <a:gd name="T29" fmla="*/ 2147483647 h 467"/>
              <a:gd name="T30" fmla="*/ 2147483647 w 518"/>
              <a:gd name="T31" fmla="*/ 2147483647 h 467"/>
              <a:gd name="T32" fmla="*/ 2147483647 w 518"/>
              <a:gd name="T33" fmla="*/ 2147483647 h 467"/>
              <a:gd name="T34" fmla="*/ 2147483647 w 518"/>
              <a:gd name="T35" fmla="*/ 2147483647 h 467"/>
              <a:gd name="T36" fmla="*/ 2147483647 w 518"/>
              <a:gd name="T37" fmla="*/ 2147483647 h 467"/>
              <a:gd name="T38" fmla="*/ 2147483647 w 518"/>
              <a:gd name="T39" fmla="*/ 2147483647 h 467"/>
              <a:gd name="T40" fmla="*/ 2147483647 w 518"/>
              <a:gd name="T41" fmla="*/ 2147483647 h 467"/>
              <a:gd name="T42" fmla="*/ 2147483647 w 518"/>
              <a:gd name="T43" fmla="*/ 2147483647 h 467"/>
              <a:gd name="T44" fmla="*/ 2147483647 w 518"/>
              <a:gd name="T45" fmla="*/ 2147483647 h 467"/>
              <a:gd name="T46" fmla="*/ 2147483647 w 518"/>
              <a:gd name="T47" fmla="*/ 2147483647 h 467"/>
              <a:gd name="T48" fmla="*/ 2147483647 w 518"/>
              <a:gd name="T49" fmla="*/ 2147483647 h 467"/>
              <a:gd name="T50" fmla="*/ 2147483647 w 518"/>
              <a:gd name="T51" fmla="*/ 2147483647 h 467"/>
              <a:gd name="T52" fmla="*/ 2147483647 w 518"/>
              <a:gd name="T53" fmla="*/ 2147483647 h 467"/>
              <a:gd name="T54" fmla="*/ 2147483647 w 518"/>
              <a:gd name="T55" fmla="*/ 2147483647 h 467"/>
              <a:gd name="T56" fmla="*/ 2147483647 w 518"/>
              <a:gd name="T57" fmla="*/ 2147483647 h 467"/>
              <a:gd name="T58" fmla="*/ 2147483647 w 518"/>
              <a:gd name="T59" fmla="*/ 2147483647 h 467"/>
              <a:gd name="T60" fmla="*/ 2147483647 w 518"/>
              <a:gd name="T61" fmla="*/ 2147483647 h 467"/>
              <a:gd name="T62" fmla="*/ 2147483647 w 518"/>
              <a:gd name="T63" fmla="*/ 2147483647 h 467"/>
              <a:gd name="T64" fmla="*/ 2147483647 w 518"/>
              <a:gd name="T65" fmla="*/ 2147483647 h 467"/>
              <a:gd name="T66" fmla="*/ 2147483647 w 518"/>
              <a:gd name="T67" fmla="*/ 2147483647 h 467"/>
              <a:gd name="T68" fmla="*/ 2147483647 w 518"/>
              <a:gd name="T69" fmla="*/ 2147483647 h 467"/>
              <a:gd name="T70" fmla="*/ 2147483647 w 518"/>
              <a:gd name="T71" fmla="*/ 2147483647 h 467"/>
              <a:gd name="T72" fmla="*/ 2147483647 w 518"/>
              <a:gd name="T73" fmla="*/ 2147483647 h 467"/>
              <a:gd name="T74" fmla="*/ 2147483647 w 518"/>
              <a:gd name="T75" fmla="*/ 2147483647 h 467"/>
              <a:gd name="T76" fmla="*/ 2147483647 w 518"/>
              <a:gd name="T77" fmla="*/ 2147483647 h 467"/>
              <a:gd name="T78" fmla="*/ 2147483647 w 518"/>
              <a:gd name="T79" fmla="*/ 2147483647 h 467"/>
              <a:gd name="T80" fmla="*/ 2147483647 w 518"/>
              <a:gd name="T81" fmla="*/ 2147483647 h 467"/>
              <a:gd name="T82" fmla="*/ 2147483647 w 518"/>
              <a:gd name="T83" fmla="*/ 2147483647 h 467"/>
              <a:gd name="T84" fmla="*/ 2147483647 w 518"/>
              <a:gd name="T85" fmla="*/ 2147483647 h 467"/>
              <a:gd name="T86" fmla="*/ 2147483647 w 518"/>
              <a:gd name="T87" fmla="*/ 2147483647 h 467"/>
              <a:gd name="T88" fmla="*/ 2147483647 w 518"/>
              <a:gd name="T89" fmla="*/ 2147483647 h 467"/>
              <a:gd name="T90" fmla="*/ 2147483647 w 518"/>
              <a:gd name="T91" fmla="*/ 2147483647 h 467"/>
              <a:gd name="T92" fmla="*/ 2147483647 w 518"/>
              <a:gd name="T93" fmla="*/ 2147483647 h 467"/>
              <a:gd name="T94" fmla="*/ 2147483647 w 518"/>
              <a:gd name="T95" fmla="*/ 2147483647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solidFill>
            <a:schemeClr val="bg1"/>
          </a:solidFill>
          <a:ln w="1905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1910" name="Line 75"/>
          <p:cNvSpPr>
            <a:spLocks noChangeShapeType="1"/>
          </p:cNvSpPr>
          <p:nvPr/>
        </p:nvSpPr>
        <p:spPr bwMode="auto">
          <a:xfrm>
            <a:off x="5076825" y="2566988"/>
            <a:ext cx="0" cy="9652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11" name="Line 76"/>
          <p:cNvSpPr>
            <a:spLocks noChangeShapeType="1"/>
          </p:cNvSpPr>
          <p:nvPr/>
        </p:nvSpPr>
        <p:spPr bwMode="auto">
          <a:xfrm>
            <a:off x="4945063" y="3049588"/>
            <a:ext cx="717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12" name="Rectangle 77"/>
          <p:cNvSpPr>
            <a:spLocks noChangeArrowheads="1"/>
          </p:cNvSpPr>
          <p:nvPr/>
        </p:nvSpPr>
        <p:spPr bwMode="auto">
          <a:xfrm>
            <a:off x="3019425" y="4394200"/>
            <a:ext cx="690563" cy="333375"/>
          </a:xfrm>
          <a:prstGeom prst="rect">
            <a:avLst/>
          </a:pr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lstStyle/>
          <a:p>
            <a:r>
              <a:rPr lang="en-US" altLang="ko-KR" sz="1000" dirty="0">
                <a:latin typeface="맑은 고딕" pitchFamily="50" charset="-127"/>
                <a:ea typeface="맑은 고딕" pitchFamily="50" charset="-127"/>
              </a:rPr>
              <a:t>worker</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B</a:t>
            </a:r>
          </a:p>
          <a:p>
            <a:r>
              <a:rPr lang="en-US" altLang="ko-KR" sz="1000" dirty="0">
                <a:latin typeface="맑은 고딕" pitchFamily="50" charset="-127"/>
                <a:ea typeface="맑은 고딕" pitchFamily="50" charset="-127"/>
              </a:rPr>
              <a:t>material</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A</a:t>
            </a:r>
          </a:p>
        </p:txBody>
      </p:sp>
      <p:sp>
        <p:nvSpPr>
          <p:cNvPr id="291913" name="Rectangle 78"/>
          <p:cNvSpPr>
            <a:spLocks noChangeArrowheads="1"/>
          </p:cNvSpPr>
          <p:nvPr/>
        </p:nvSpPr>
        <p:spPr bwMode="auto">
          <a:xfrm>
            <a:off x="4227513" y="4394200"/>
            <a:ext cx="690562" cy="333375"/>
          </a:xfrm>
          <a:prstGeom prst="rect">
            <a:avLst/>
          </a:pr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lstStyle/>
          <a:p>
            <a:r>
              <a:rPr lang="en-US" altLang="ko-KR" sz="1000" dirty="0">
                <a:latin typeface="맑은 고딕" pitchFamily="50" charset="-127"/>
                <a:ea typeface="맑은 고딕" pitchFamily="50" charset="-127"/>
              </a:rPr>
              <a:t>worker C</a:t>
            </a:r>
          </a:p>
          <a:p>
            <a:r>
              <a:rPr lang="en-US" altLang="ko-KR" sz="1000" dirty="0">
                <a:latin typeface="맑은 고딕" pitchFamily="50" charset="-127"/>
                <a:ea typeface="맑은 고딕" pitchFamily="50" charset="-127"/>
              </a:rPr>
              <a:t>material A</a:t>
            </a:r>
          </a:p>
        </p:txBody>
      </p:sp>
      <p:sp>
        <p:nvSpPr>
          <p:cNvPr id="291914" name="Rectangle 79"/>
          <p:cNvSpPr>
            <a:spLocks noChangeArrowheads="1"/>
          </p:cNvSpPr>
          <p:nvPr/>
        </p:nvSpPr>
        <p:spPr bwMode="auto">
          <a:xfrm>
            <a:off x="5195888" y="4394200"/>
            <a:ext cx="692150" cy="333375"/>
          </a:xfrm>
          <a:prstGeom prst="rect">
            <a:avLst/>
          </a:pr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lstStyle/>
          <a:p>
            <a:r>
              <a:rPr lang="en-US" altLang="ko-KR" sz="1000" dirty="0">
                <a:latin typeface="맑은 고딕" pitchFamily="50" charset="-127"/>
                <a:ea typeface="맑은 고딕" pitchFamily="50" charset="-127"/>
              </a:rPr>
              <a:t>worker</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A</a:t>
            </a:r>
          </a:p>
          <a:p>
            <a:r>
              <a:rPr lang="en-US" altLang="ko-KR" sz="1000" dirty="0">
                <a:latin typeface="맑은 고딕" pitchFamily="50" charset="-127"/>
                <a:ea typeface="맑은 고딕" pitchFamily="50" charset="-127"/>
              </a:rPr>
              <a:t>material</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B</a:t>
            </a:r>
          </a:p>
        </p:txBody>
      </p:sp>
      <p:sp>
        <p:nvSpPr>
          <p:cNvPr id="291915" name="Rectangle 80"/>
          <p:cNvSpPr>
            <a:spLocks noChangeArrowheads="1"/>
          </p:cNvSpPr>
          <p:nvPr/>
        </p:nvSpPr>
        <p:spPr bwMode="auto">
          <a:xfrm>
            <a:off x="6046788" y="4394200"/>
            <a:ext cx="692150" cy="333375"/>
          </a:xfrm>
          <a:prstGeom prst="rect">
            <a:avLst/>
          </a:pr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lstStyle/>
          <a:p>
            <a:r>
              <a:rPr lang="en-US" altLang="ko-KR" sz="1000" dirty="0">
                <a:latin typeface="맑은 고딕" pitchFamily="50" charset="-127"/>
                <a:ea typeface="맑은 고딕" pitchFamily="50" charset="-127"/>
              </a:rPr>
              <a:t>worker</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B</a:t>
            </a:r>
          </a:p>
          <a:p>
            <a:r>
              <a:rPr lang="en-US" altLang="ko-KR" sz="1000" dirty="0">
                <a:latin typeface="맑은 고딕" pitchFamily="50" charset="-127"/>
                <a:ea typeface="맑은 고딕" pitchFamily="50" charset="-127"/>
              </a:rPr>
              <a:t>material</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B</a:t>
            </a:r>
          </a:p>
        </p:txBody>
      </p:sp>
      <p:sp>
        <p:nvSpPr>
          <p:cNvPr id="291916" name="Rectangle 81"/>
          <p:cNvSpPr>
            <a:spLocks noChangeArrowheads="1"/>
          </p:cNvSpPr>
          <p:nvPr/>
        </p:nvSpPr>
        <p:spPr bwMode="auto">
          <a:xfrm>
            <a:off x="6923088" y="4394200"/>
            <a:ext cx="692150" cy="333375"/>
          </a:xfrm>
          <a:prstGeom prst="rect">
            <a:avLst/>
          </a:pr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000" tIns="10800" rIns="18000" bIns="10800" anchor="ctr"/>
          <a:lstStyle/>
          <a:p>
            <a:r>
              <a:rPr lang="en-US" altLang="ko-KR" sz="1000" dirty="0">
                <a:latin typeface="맑은 고딕" pitchFamily="50" charset="-127"/>
                <a:ea typeface="맑은 고딕" pitchFamily="50" charset="-127"/>
              </a:rPr>
              <a:t>worker</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C</a:t>
            </a:r>
          </a:p>
          <a:p>
            <a:r>
              <a:rPr lang="en-US" altLang="ko-KR" sz="1000" dirty="0">
                <a:latin typeface="맑은 고딕" pitchFamily="50" charset="-127"/>
                <a:ea typeface="맑은 고딕" pitchFamily="50" charset="-127"/>
              </a:rPr>
              <a:t>material</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B</a:t>
            </a:r>
          </a:p>
        </p:txBody>
      </p:sp>
      <p:graphicFrame>
        <p:nvGraphicFramePr>
          <p:cNvPr id="291917" name="Object 82"/>
          <p:cNvGraphicFramePr>
            <a:graphicFrameLocks noChangeAspect="1"/>
          </p:cNvGraphicFramePr>
          <p:nvPr/>
        </p:nvGraphicFramePr>
        <p:xfrm>
          <a:off x="1800225" y="2533650"/>
          <a:ext cx="444500" cy="325438"/>
        </p:xfrm>
        <a:graphic>
          <a:graphicData uri="http://schemas.openxmlformats.org/presentationml/2006/ole">
            <mc:AlternateContent xmlns:mc="http://schemas.openxmlformats.org/markup-compatibility/2006">
              <mc:Choice xmlns:v="urn:schemas-microsoft-com:vml" Requires="v">
                <p:oleObj name="Equation" r:id="rId2" imgW="291973" imgH="228501" progId="Equation.3">
                  <p:embed/>
                </p:oleObj>
              </mc:Choice>
              <mc:Fallback>
                <p:oleObj name="Equation" r:id="rId2" imgW="291973" imgH="228501" progId="Equation.3">
                  <p:embed/>
                  <p:pic>
                    <p:nvPicPr>
                      <p:cNvPr id="291917" name="Object 8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00225" y="2533650"/>
                        <a:ext cx="444500" cy="325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91918" name="Object 83"/>
          <p:cNvGraphicFramePr>
            <a:graphicFrameLocks noChangeAspect="1"/>
          </p:cNvGraphicFramePr>
          <p:nvPr/>
        </p:nvGraphicFramePr>
        <p:xfrm>
          <a:off x="2241550" y="2740025"/>
          <a:ext cx="465138" cy="325438"/>
        </p:xfrm>
        <a:graphic>
          <a:graphicData uri="http://schemas.openxmlformats.org/presentationml/2006/ole">
            <mc:AlternateContent xmlns:mc="http://schemas.openxmlformats.org/markup-compatibility/2006">
              <mc:Choice xmlns:v="urn:schemas-microsoft-com:vml" Requires="v">
                <p:oleObj name="Equation" r:id="rId4" imgW="304668" imgH="228501" progId="Equation.3">
                  <p:embed/>
                </p:oleObj>
              </mc:Choice>
              <mc:Fallback>
                <p:oleObj name="Equation" r:id="rId4" imgW="304668" imgH="228501" progId="Equation.3">
                  <p:embed/>
                  <p:pic>
                    <p:nvPicPr>
                      <p:cNvPr id="291918" name="Object 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41550" y="2740025"/>
                        <a:ext cx="465138" cy="325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91919" name="Object 84"/>
          <p:cNvGraphicFramePr>
            <a:graphicFrameLocks noChangeAspect="1"/>
          </p:cNvGraphicFramePr>
          <p:nvPr/>
        </p:nvGraphicFramePr>
        <p:xfrm>
          <a:off x="2554288" y="3911600"/>
          <a:ext cx="444500" cy="325438"/>
        </p:xfrm>
        <a:graphic>
          <a:graphicData uri="http://schemas.openxmlformats.org/presentationml/2006/ole">
            <mc:AlternateContent xmlns:mc="http://schemas.openxmlformats.org/markup-compatibility/2006">
              <mc:Choice xmlns:v="urn:schemas-microsoft-com:vml" Requires="v">
                <p:oleObj name="Equation" r:id="rId6" imgW="291973" imgH="228501" progId="Equation.3">
                  <p:embed/>
                </p:oleObj>
              </mc:Choice>
              <mc:Fallback>
                <p:oleObj name="Equation" r:id="rId6" imgW="291973" imgH="228501" progId="Equation.3">
                  <p:embed/>
                  <p:pic>
                    <p:nvPicPr>
                      <p:cNvPr id="291919" name="Object 8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54288" y="3911600"/>
                        <a:ext cx="444500" cy="325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91920" name="Object 85"/>
          <p:cNvGraphicFramePr>
            <a:graphicFrameLocks noChangeAspect="1"/>
          </p:cNvGraphicFramePr>
          <p:nvPr/>
        </p:nvGraphicFramePr>
        <p:xfrm>
          <a:off x="8259763" y="3290888"/>
          <a:ext cx="387350" cy="307975"/>
        </p:xfrm>
        <a:graphic>
          <a:graphicData uri="http://schemas.openxmlformats.org/presentationml/2006/ole">
            <mc:AlternateContent xmlns:mc="http://schemas.openxmlformats.org/markup-compatibility/2006">
              <mc:Choice xmlns:v="urn:schemas-microsoft-com:vml" Requires="v">
                <p:oleObj name="Equation" r:id="rId8" imgW="253780" imgH="215713" progId="Equation.3">
                  <p:embed/>
                </p:oleObj>
              </mc:Choice>
              <mc:Fallback>
                <p:oleObj name="Equation" r:id="rId8" imgW="253780" imgH="215713" progId="Equation.3">
                  <p:embed/>
                  <p:pic>
                    <p:nvPicPr>
                      <p:cNvPr id="291920" name="Object 8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59763" y="3290888"/>
                        <a:ext cx="387350"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1921" name="Rectangle 86"/>
          <p:cNvSpPr>
            <a:spLocks noChangeArrowheads="1"/>
          </p:cNvSpPr>
          <p:nvPr/>
        </p:nvSpPr>
        <p:spPr bwMode="auto">
          <a:xfrm>
            <a:off x="3084512" y="2100263"/>
            <a:ext cx="2749549" cy="246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eaLnBrk="0" hangingPunct="0"/>
            <a:r>
              <a:rPr lang="en-US" altLang="ko-KR" sz="1000" dirty="0">
                <a:latin typeface="맑은 고딕" pitchFamily="50" charset="-127"/>
                <a:ea typeface="맑은 고딕" pitchFamily="50" charset="-127"/>
              </a:rPr>
              <a:t>SUBGROUPS=Short term process capability</a:t>
            </a:r>
            <a:endParaRPr lang="ko-KR" altLang="en-US" sz="1000" dirty="0">
              <a:latin typeface="맑은 고딕" pitchFamily="50" charset="-127"/>
              <a:ea typeface="맑은 고딕" pitchFamily="50" charset="-127"/>
            </a:endParaRPr>
          </a:p>
        </p:txBody>
      </p:sp>
      <p:grpSp>
        <p:nvGrpSpPr>
          <p:cNvPr id="4" name="Group 87"/>
          <p:cNvGrpSpPr>
            <a:grpSpLocks/>
          </p:cNvGrpSpPr>
          <p:nvPr/>
        </p:nvGrpSpPr>
        <p:grpSpPr bwMode="auto">
          <a:xfrm>
            <a:off x="1370013" y="2924175"/>
            <a:ext cx="454025" cy="665163"/>
            <a:chOff x="816" y="1656"/>
            <a:chExt cx="192" cy="464"/>
          </a:xfrm>
        </p:grpSpPr>
        <p:sp>
          <p:nvSpPr>
            <p:cNvPr id="291938" name="Line 88"/>
            <p:cNvSpPr>
              <a:spLocks noChangeShapeType="1"/>
            </p:cNvSpPr>
            <p:nvPr/>
          </p:nvSpPr>
          <p:spPr bwMode="auto">
            <a:xfrm flipH="1">
              <a:off x="816" y="1656"/>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39" name="Line 89"/>
            <p:cNvSpPr>
              <a:spLocks noChangeShapeType="1"/>
            </p:cNvSpPr>
            <p:nvPr/>
          </p:nvSpPr>
          <p:spPr bwMode="auto">
            <a:xfrm flipH="1">
              <a:off x="816" y="2120"/>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291923" name="Line 90"/>
          <p:cNvSpPr>
            <a:spLocks noChangeShapeType="1"/>
          </p:cNvSpPr>
          <p:nvPr/>
        </p:nvSpPr>
        <p:spPr bwMode="auto">
          <a:xfrm>
            <a:off x="1455738" y="2922588"/>
            <a:ext cx="0" cy="666750"/>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24" name="Text Box 91"/>
          <p:cNvSpPr txBox="1">
            <a:spLocks noChangeArrowheads="1"/>
          </p:cNvSpPr>
          <p:nvPr/>
        </p:nvSpPr>
        <p:spPr bwMode="auto">
          <a:xfrm>
            <a:off x="1424608" y="2916298"/>
            <a:ext cx="430887" cy="7287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vert"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800" b="1" dirty="0">
                <a:latin typeface="맑은 고딕" pitchFamily="50" charset="-127"/>
                <a:ea typeface="맑은 고딕" pitchFamily="50" charset="-127"/>
              </a:rPr>
              <a:t>Variance</a:t>
            </a:r>
          </a:p>
          <a:p>
            <a:pPr algn="ctr" eaLnBrk="1" hangingPunct="1"/>
            <a:r>
              <a:rPr lang="en-US" altLang="ko-KR" sz="800" b="1" dirty="0">
                <a:latin typeface="맑은 고딕" pitchFamily="50" charset="-127"/>
                <a:ea typeface="맑은 고딕" pitchFamily="50" charset="-127"/>
              </a:rPr>
              <a:t>within group</a:t>
            </a:r>
            <a:endParaRPr lang="ko-KR" altLang="en-US" sz="800" b="1" dirty="0">
              <a:latin typeface="맑은 고딕" pitchFamily="50" charset="-127"/>
              <a:ea typeface="맑은 고딕" pitchFamily="50" charset="-127"/>
            </a:endParaRPr>
          </a:p>
        </p:txBody>
      </p:sp>
      <p:sp>
        <p:nvSpPr>
          <p:cNvPr id="291925" name="Line 92"/>
          <p:cNvSpPr>
            <a:spLocks noChangeShapeType="1"/>
          </p:cNvSpPr>
          <p:nvPr/>
        </p:nvSpPr>
        <p:spPr bwMode="auto">
          <a:xfrm flipH="1">
            <a:off x="1211263" y="3705225"/>
            <a:ext cx="163512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26" name="Text Box 93"/>
          <p:cNvSpPr txBox="1">
            <a:spLocks noChangeArrowheads="1"/>
          </p:cNvSpPr>
          <p:nvPr/>
        </p:nvSpPr>
        <p:spPr bwMode="auto">
          <a:xfrm>
            <a:off x="1054876" y="3668836"/>
            <a:ext cx="430887" cy="848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vert"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800" dirty="0">
                <a:solidFill>
                  <a:schemeClr val="accent2"/>
                </a:solidFill>
                <a:latin typeface="맑은 고딕" pitchFamily="50" charset="-127"/>
                <a:ea typeface="맑은 고딕" pitchFamily="50" charset="-127"/>
              </a:rPr>
              <a:t>Variance</a:t>
            </a:r>
          </a:p>
          <a:p>
            <a:pPr algn="ctr" eaLnBrk="1" hangingPunct="1"/>
            <a:r>
              <a:rPr lang="en-US" altLang="ko-KR" sz="800" dirty="0">
                <a:solidFill>
                  <a:schemeClr val="accent2"/>
                </a:solidFill>
                <a:latin typeface="맑은 고딕" pitchFamily="50" charset="-127"/>
                <a:ea typeface="맑은 고딕" pitchFamily="50" charset="-127"/>
              </a:rPr>
              <a:t>between groups</a:t>
            </a:r>
            <a:endParaRPr lang="ko-KR" altLang="en-US" sz="800" dirty="0">
              <a:solidFill>
                <a:schemeClr val="accent2"/>
              </a:solidFill>
              <a:latin typeface="맑은 고딕" pitchFamily="50" charset="-127"/>
              <a:ea typeface="맑은 고딕" pitchFamily="50" charset="-127"/>
            </a:endParaRPr>
          </a:p>
        </p:txBody>
      </p:sp>
      <p:sp>
        <p:nvSpPr>
          <p:cNvPr id="291927" name="Line 94"/>
          <p:cNvSpPr>
            <a:spLocks noChangeShapeType="1"/>
          </p:cNvSpPr>
          <p:nvPr/>
        </p:nvSpPr>
        <p:spPr bwMode="auto">
          <a:xfrm>
            <a:off x="1279525" y="3257550"/>
            <a:ext cx="0" cy="434975"/>
          </a:xfrm>
          <a:prstGeom prst="line">
            <a:avLst/>
          </a:prstGeom>
          <a:noFill/>
          <a:ln w="9525">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28" name="Line 95"/>
          <p:cNvSpPr>
            <a:spLocks noChangeShapeType="1"/>
          </p:cNvSpPr>
          <p:nvPr/>
        </p:nvSpPr>
        <p:spPr bwMode="auto">
          <a:xfrm>
            <a:off x="1279525" y="3497263"/>
            <a:ext cx="0" cy="346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1929" name="Text Box 96"/>
          <p:cNvSpPr txBox="1">
            <a:spLocks noChangeArrowheads="1"/>
          </p:cNvSpPr>
          <p:nvPr/>
        </p:nvSpPr>
        <p:spPr bwMode="auto">
          <a:xfrm>
            <a:off x="8301038" y="3017838"/>
            <a:ext cx="4318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SST</a:t>
            </a:r>
          </a:p>
        </p:txBody>
      </p:sp>
      <p:sp>
        <p:nvSpPr>
          <p:cNvPr id="291930" name="Text Box 97"/>
          <p:cNvSpPr txBox="1">
            <a:spLocks noChangeArrowheads="1"/>
          </p:cNvSpPr>
          <p:nvPr/>
        </p:nvSpPr>
        <p:spPr bwMode="auto">
          <a:xfrm>
            <a:off x="1008063" y="2947988"/>
            <a:ext cx="514350" cy="274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SSW</a:t>
            </a:r>
          </a:p>
        </p:txBody>
      </p:sp>
      <p:sp>
        <p:nvSpPr>
          <p:cNvPr id="291931" name="Text Box 98"/>
          <p:cNvSpPr txBox="1">
            <a:spLocks noChangeArrowheads="1"/>
          </p:cNvSpPr>
          <p:nvPr/>
        </p:nvSpPr>
        <p:spPr bwMode="auto">
          <a:xfrm>
            <a:off x="1055688" y="4462463"/>
            <a:ext cx="439737"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solidFill>
                  <a:schemeClr val="accent2"/>
                </a:solidFill>
                <a:latin typeface="맑은 고딕" pitchFamily="50" charset="-127"/>
                <a:ea typeface="맑은 고딕" pitchFamily="50" charset="-127"/>
              </a:rPr>
              <a:t>SSB</a:t>
            </a:r>
          </a:p>
        </p:txBody>
      </p:sp>
      <p:sp>
        <p:nvSpPr>
          <p:cNvPr id="291932" name="Text Box 99"/>
          <p:cNvSpPr txBox="1">
            <a:spLocks noChangeArrowheads="1"/>
          </p:cNvSpPr>
          <p:nvPr/>
        </p:nvSpPr>
        <p:spPr bwMode="auto">
          <a:xfrm>
            <a:off x="8557374" y="2540705"/>
            <a:ext cx="681597"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dirty="0">
                <a:latin typeface="맑은 고딕" pitchFamily="50" charset="-127"/>
                <a:ea typeface="맑은 고딕" pitchFamily="50" charset="-127"/>
              </a:rPr>
              <a:t>Total</a:t>
            </a:r>
          </a:p>
          <a:p>
            <a:pPr eaLnBrk="1" hangingPunct="1"/>
            <a:r>
              <a:rPr lang="en-US" altLang="ko-KR" sz="1000" dirty="0">
                <a:latin typeface="맑은 고딕" pitchFamily="50" charset="-127"/>
                <a:ea typeface="맑은 고딕" pitchFamily="50" charset="-127"/>
              </a:rPr>
              <a:t>Variance</a:t>
            </a:r>
            <a:endParaRPr lang="ko-KR" altLang="en-US" sz="1000" dirty="0">
              <a:latin typeface="맑은 고딕" pitchFamily="50" charset="-127"/>
              <a:ea typeface="맑은 고딕" pitchFamily="50" charset="-127"/>
            </a:endParaRPr>
          </a:p>
        </p:txBody>
      </p:sp>
      <p:sp>
        <p:nvSpPr>
          <p:cNvPr id="291933" name="Rectangle 100"/>
          <p:cNvSpPr>
            <a:spLocks noChangeArrowheads="1"/>
          </p:cNvSpPr>
          <p:nvPr/>
        </p:nvSpPr>
        <p:spPr bwMode="auto">
          <a:xfrm>
            <a:off x="579438" y="908720"/>
            <a:ext cx="2812886"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eaLnBrk="0" hangingPunct="0">
              <a:buFont typeface="Wingdings" pitchFamily="2" charset="2"/>
              <a:buNone/>
            </a:pP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Tìm</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hiểu</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về</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dữ</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liệu</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dài</a:t>
            </a:r>
            <a:r>
              <a:rPr kumimoji="0" lang="en-US" altLang="ko-KR" sz="1400" b="1" dirty="0">
                <a:latin typeface="맑은 고딕" pitchFamily="50" charset="-127"/>
                <a:ea typeface="맑은 고딕" pitchFamily="50" charset="-127"/>
              </a:rPr>
              <a:t> </a:t>
            </a:r>
            <a:r>
              <a:rPr kumimoji="0" lang="en-US" altLang="ko-KR" sz="1400" b="1" dirty="0" err="1">
                <a:latin typeface="맑은 고딕" pitchFamily="50" charset="-127"/>
                <a:ea typeface="맑은 고딕" pitchFamily="50" charset="-127"/>
              </a:rPr>
              <a:t>hạn</a:t>
            </a:r>
            <a:endParaRPr kumimoji="0" lang="ko-KR" altLang="en-US" sz="1400" b="1" dirty="0">
              <a:latin typeface="맑은 고딕" pitchFamily="50" charset="-127"/>
              <a:ea typeface="맑은 고딕" pitchFamily="50" charset="-127"/>
            </a:endParaRPr>
          </a:p>
        </p:txBody>
      </p:sp>
      <p:sp>
        <p:nvSpPr>
          <p:cNvPr id="291934" name="AutoShape 102"/>
          <p:cNvSpPr>
            <a:spLocks noChangeArrowheads="1"/>
          </p:cNvSpPr>
          <p:nvPr/>
        </p:nvSpPr>
        <p:spPr bwMode="auto">
          <a:xfrm>
            <a:off x="5229225" y="5092700"/>
            <a:ext cx="4038600" cy="1615202"/>
          </a:xfrm>
          <a:prstGeom prst="roundRect">
            <a:avLst>
              <a:gd name="adj" fmla="val 3611"/>
            </a:avLst>
          </a:prstGeom>
          <a:noFill/>
          <a:ln w="12700">
            <a:solidFill>
              <a:schemeClr val="tx2"/>
            </a:solidFill>
            <a:round/>
            <a:headEnd type="none" w="sm" len="sm"/>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90500" indent="-190500" algn="just">
              <a:buFont typeface="Wingdings" pitchFamily="2" charset="2"/>
              <a:buChar char="Ø"/>
            </a:pP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nhóm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soát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gây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bởi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tố</a:t>
            </a:r>
            <a:r>
              <a:rPr lang="en-US" altLang="ko-KR" sz="1200" dirty="0">
                <a:latin typeface="맑은 고딕" pitchFamily="50" charset="-127"/>
                <a:ea typeface="맑은 고딕" pitchFamily="50" charset="-127"/>
              </a:rPr>
              <a:t> ‘Trivial   </a:t>
            </a:r>
          </a:p>
          <a:p>
            <a:pPr marL="190500" indent="-190500" algn="just">
              <a:buFont typeface="Wingdings" pitchFamily="2" charset="2"/>
              <a:buNone/>
            </a:pPr>
            <a:r>
              <a:rPr lang="en-US" altLang="ko-KR" sz="1200" dirty="0">
                <a:latin typeface="맑은 고딕" pitchFamily="50" charset="-127"/>
                <a:ea typeface="맑은 고딕" pitchFamily="50" charset="-127"/>
              </a:rPr>
              <a:t>    Many’ (</a:t>
            </a:r>
            <a:r>
              <a:rPr lang="en-US" altLang="ko-KR" sz="1200" dirty="0" err="1">
                <a:latin typeface="맑은 고딕" pitchFamily="50" charset="-127"/>
                <a:ea typeface="맑은 고딕" pitchFamily="50" charset="-127"/>
              </a:rPr>
              <a:t>số</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nhiều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thứ</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yếu</a:t>
            </a:r>
            <a:r>
              <a:rPr lang="en-US" altLang="ko-KR" sz="1200" dirty="0">
                <a:latin typeface="맑은 고딕" pitchFamily="50" charset="-127"/>
                <a:ea typeface="맑은 고딕" pitchFamily="50" charset="-127"/>
              </a:rPr>
              <a:t>).</a:t>
            </a:r>
          </a:p>
          <a:p>
            <a:pPr marL="190500" indent="-190500" algn="just">
              <a:buFont typeface="Wingdings" pitchFamily="2" charset="2"/>
              <a:buNone/>
            </a:pP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bổ</a:t>
            </a:r>
            <a:endParaRPr lang="en-US" altLang="ko-KR" sz="1200" dirty="0">
              <a:latin typeface="맑은 고딕" pitchFamily="50" charset="-127"/>
              <a:ea typeface="맑은 고딕" pitchFamily="50" charset="-127"/>
            </a:endParaRPr>
          </a:p>
          <a:p>
            <a:pPr marL="190500" indent="-190500" algn="just">
              <a:buFont typeface="Wingdings" pitchFamily="2" charset="2"/>
              <a:buNone/>
            </a:pP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kỹ</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thuật</a:t>
            </a:r>
            <a:endParaRPr lang="en-US" altLang="ko-KR" sz="1200" dirty="0">
              <a:latin typeface="맑은 고딕" pitchFamily="50" charset="-127"/>
              <a:ea typeface="맑은 고딕" pitchFamily="50" charset="-127"/>
            </a:endParaRPr>
          </a:p>
          <a:p>
            <a:pPr marL="190500" indent="-190500" algn="just">
              <a:buFont typeface="Wingdings" pitchFamily="2" charset="2"/>
              <a:buNone/>
            </a:pP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Bởi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nguyên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ngẫu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a:t>
            </a:r>
          </a:p>
          <a:p>
            <a:pPr marL="190500" indent="-190500" algn="just">
              <a:buFont typeface="Wingdings" pitchFamily="2" charset="2"/>
              <a:buNone/>
            </a:pPr>
            <a:r>
              <a:rPr lang="en-US" altLang="ko-KR" sz="1200" dirty="0">
                <a:latin typeface="맑은 고딕" pitchFamily="50" charset="-127"/>
                <a:ea typeface="맑은 고딕" pitchFamily="50" charset="-127"/>
              </a:rPr>
              <a:t>    - Chi </a:t>
            </a:r>
            <a:r>
              <a:rPr lang="en-US" altLang="ko-KR" sz="1200" dirty="0" err="1">
                <a:latin typeface="맑은 고딕" pitchFamily="50" charset="-127"/>
                <a:ea typeface="맑은 고딕" pitchFamily="50" charset="-127"/>
              </a:rPr>
              <a:t>phí</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bỏ</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cao</a:t>
            </a:r>
            <a:endParaRPr lang="en-US" altLang="ko-KR" sz="1200" dirty="0">
              <a:latin typeface="맑은 고딕" pitchFamily="50" charset="-127"/>
              <a:ea typeface="맑은 고딕" pitchFamily="50" charset="-127"/>
            </a:endParaRPr>
          </a:p>
        </p:txBody>
      </p:sp>
      <p:sp>
        <p:nvSpPr>
          <p:cNvPr id="291935" name="AutoShape 103"/>
          <p:cNvSpPr>
            <a:spLocks noChangeArrowheads="1"/>
          </p:cNvSpPr>
          <p:nvPr/>
        </p:nvSpPr>
        <p:spPr bwMode="auto">
          <a:xfrm>
            <a:off x="792163" y="5092700"/>
            <a:ext cx="4137025" cy="1618488"/>
          </a:xfrm>
          <a:prstGeom prst="roundRect">
            <a:avLst>
              <a:gd name="adj" fmla="val 4898"/>
            </a:avLst>
          </a:prstGeom>
          <a:noFill/>
          <a:ln w="12700">
            <a:solidFill>
              <a:schemeClr val="tx2"/>
            </a:solidFill>
            <a:round/>
            <a:headEnd type="none" w="sm" len="sm"/>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190500" indent="-190500" algn="just">
              <a:buFont typeface="Wingdings" pitchFamily="2" charset="2"/>
              <a:buChar char="Ø"/>
            </a:pP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giữa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nhóm</a:t>
            </a: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soát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gây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bởi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tố</a:t>
            </a:r>
            <a:r>
              <a:rPr lang="en-US" altLang="ko-KR" sz="1200" dirty="0">
                <a:latin typeface="맑은 고딕" pitchFamily="50" charset="-127"/>
                <a:ea typeface="맑은 고딕" pitchFamily="50" charset="-127"/>
              </a:rPr>
              <a:t> ‘Vital Few’ (</a:t>
            </a:r>
            <a:r>
              <a:rPr lang="en-US" altLang="ko-KR" sz="1200" dirty="0" err="1">
                <a:latin typeface="맑은 고딕" pitchFamily="50" charset="-127"/>
                <a:ea typeface="맑은 고딕" pitchFamily="50" charset="-127"/>
              </a:rPr>
              <a:t>số</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ít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trọng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yếu</a:t>
            </a:r>
            <a:r>
              <a:rPr lang="en-US" altLang="ko-KR" sz="1200" dirty="0">
                <a:latin typeface="맑은 고딕" pitchFamily="50" charset="-127"/>
                <a:ea typeface="맑은 고딕" pitchFamily="50" charset="-127"/>
              </a:rPr>
              <a:t>) </a:t>
            </a:r>
          </a:p>
          <a:p>
            <a:pPr marL="190500" indent="-190500" algn="just">
              <a:buFont typeface="Wingdings" pitchFamily="2" charset="2"/>
              <a:buNone/>
            </a:pP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lệch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khỏi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tâm</a:t>
            </a:r>
            <a:endParaRPr lang="en-US" altLang="ko-KR" sz="1200" dirty="0">
              <a:latin typeface="맑은 고딕" pitchFamily="50" charset="-127"/>
              <a:ea typeface="맑은 고딕" pitchFamily="50" charset="-127"/>
            </a:endParaRPr>
          </a:p>
          <a:p>
            <a:pPr marL="190500" indent="-190500" algn="just">
              <a:buFont typeface="Wingdings" pitchFamily="2" charset="2"/>
              <a:buNone/>
            </a:pP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lý</a:t>
            </a:r>
            <a:endParaRPr lang="en-US" altLang="ko-KR" sz="1200" dirty="0">
              <a:latin typeface="맑은 고딕" pitchFamily="50" charset="-127"/>
              <a:ea typeface="맑은 고딕" pitchFamily="50" charset="-127"/>
            </a:endParaRPr>
          </a:p>
          <a:p>
            <a:pPr marL="190500" indent="-190500" algn="just">
              <a:buFont typeface="Wingdings" pitchFamily="2" charset="2"/>
              <a:buNone/>
            </a:pP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Bới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nguyên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ngẫu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dễ</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dàng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a:t>
            </a:r>
          </a:p>
          <a:p>
            <a:pPr marL="190500" indent="-190500" algn="just">
              <a:buFont typeface="Wingdings" pitchFamily="2" charset="2"/>
              <a:buNone/>
            </a:pPr>
            <a:r>
              <a:rPr lang="en-US" altLang="ko-KR" sz="1200" dirty="0">
                <a:latin typeface="맑은 고딕" pitchFamily="50" charset="-127"/>
                <a:ea typeface="맑은 고딕" pitchFamily="50" charset="-127"/>
              </a:rPr>
              <a:t>    - Chi </a:t>
            </a:r>
            <a:r>
              <a:rPr lang="en-US" altLang="ko-KR" sz="1200" dirty="0" err="1">
                <a:latin typeface="맑은 고딕" pitchFamily="50" charset="-127"/>
                <a:ea typeface="맑은 고딕" pitchFamily="50" charset="-127"/>
              </a:rPr>
              <a:t>phí</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bỏ</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thấp</a:t>
            </a:r>
            <a:endParaRPr lang="ko-KR" altLang="en-US" sz="1200" dirty="0">
              <a:latin typeface="맑은 고딕" pitchFamily="50" charset="-127"/>
              <a:ea typeface="맑은 고딕" pitchFamily="50" charset="-127"/>
            </a:endParaRPr>
          </a:p>
        </p:txBody>
      </p:sp>
      <p:sp>
        <p:nvSpPr>
          <p:cNvPr id="291937"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223</a:t>
            </a:fld>
            <a:endParaRPr lang="ko-KR" altLang="en-US" dirty="0"/>
          </a:p>
        </p:txBody>
      </p:sp>
    </p:spTree>
    <p:extLst>
      <p:ext uri="{BB962C8B-B14F-4D97-AF65-F5344CB8AC3E}">
        <p14:creationId xmlns:p14="http://schemas.microsoft.com/office/powerpoint/2010/main" val="4026067459"/>
      </p:ext>
    </p:extLst>
  </p:cSld>
  <p:clrMapOvr>
    <a:masterClrMapping/>
  </p:clrMapOvr>
  <p:transition spd="slow"/>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3"/>
          <p:cNvSpPr>
            <a:spLocks noChangeArrowheads="1"/>
          </p:cNvSpPr>
          <p:nvPr/>
        </p:nvSpPr>
        <p:spPr bwMode="auto">
          <a:xfrm>
            <a:off x="576263" y="1416050"/>
            <a:ext cx="1393010"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buFont typeface="Wingdings" pitchFamily="2" charset="2"/>
              <a:buNone/>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Tập</a:t>
            </a:r>
            <a:r>
              <a:rPr lang="en-US" altLang="ko-KR" sz="1200" dirty="0">
                <a:latin typeface="맑은 고딕" pitchFamily="50" charset="-127"/>
                <a:ea typeface="맑은 고딕" pitchFamily="50" charset="-127"/>
              </a:rPr>
              <a:t> con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gì</a:t>
            </a:r>
            <a:r>
              <a:rPr lang="en-US" altLang="ko-KR" sz="1200" dirty="0">
                <a:latin typeface="맑은 고딕" pitchFamily="50" charset="-127"/>
                <a:ea typeface="맑은 고딕" pitchFamily="50" charset="-127"/>
              </a:rPr>
              <a:t>?</a:t>
            </a:r>
          </a:p>
        </p:txBody>
      </p:sp>
      <p:sp>
        <p:nvSpPr>
          <p:cNvPr id="292867" name="Rectangle 4"/>
          <p:cNvSpPr>
            <a:spLocks noChangeArrowheads="1"/>
          </p:cNvSpPr>
          <p:nvPr/>
        </p:nvSpPr>
        <p:spPr bwMode="auto">
          <a:xfrm>
            <a:off x="2318891" y="1393825"/>
            <a:ext cx="7386637"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mẫu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khoảng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gian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ngắn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từ</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đồng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loại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này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quan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trọng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chỉ</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bao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gồm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ngẫu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nhiên</a:t>
            </a:r>
            <a:r>
              <a:rPr lang="en-US" altLang="ko-KR" sz="1200" dirty="0">
                <a:latin typeface="맑은 고딕" pitchFamily="50" charset="-127"/>
                <a:ea typeface="맑은 고딕" pitchFamily="50" charset="-127"/>
              </a:rPr>
              <a:t>.</a:t>
            </a:r>
            <a:endParaRPr lang="ko-KR" altLang="en-US" sz="1200" dirty="0">
              <a:latin typeface="맑은 고딕" pitchFamily="50" charset="-127"/>
              <a:ea typeface="맑은 고딕" pitchFamily="50" charset="-127"/>
            </a:endParaRPr>
          </a:p>
        </p:txBody>
      </p:sp>
      <p:sp useBgFill="1">
        <p:nvSpPr>
          <p:cNvPr id="292868" name="AutoShape 5"/>
          <p:cNvSpPr>
            <a:spLocks noChangeArrowheads="1"/>
          </p:cNvSpPr>
          <p:nvPr/>
        </p:nvSpPr>
        <p:spPr bwMode="auto">
          <a:xfrm>
            <a:off x="815975" y="2211388"/>
            <a:ext cx="3413125" cy="1427005"/>
          </a:xfrm>
          <a:prstGeom prst="roundRect">
            <a:avLst>
              <a:gd name="adj" fmla="val 2634"/>
            </a:avLst>
          </a:prstGeom>
          <a:ln w="9525">
            <a:solidFill>
              <a:schemeClr val="tx2"/>
            </a:solidFill>
            <a:round/>
            <a:headEnd/>
            <a:tailEnd/>
          </a:ln>
          <a:effectLst>
            <a:outerShdw dist="35921" dir="2700000" algn="ctr" rotWithShape="0">
              <a:schemeClr val="bg2"/>
            </a:outerShdw>
          </a:effectLst>
        </p:spPr>
        <p:txBody>
          <a:bodyPr lIns="92075" tIns="46038" rIns="92075" bIns="46038">
            <a:spAutoFit/>
          </a:bodyPr>
          <a:lstStyle/>
          <a:p>
            <a:pPr algn="just">
              <a:lnSpc>
                <a:spcPct val="130000"/>
              </a:lnSpc>
            </a:pPr>
            <a:r>
              <a:rPr lang="en-US" altLang="ko-KR" sz="1100" dirty="0" err="1">
                <a:latin typeface="맑은 고딕" pitchFamily="50" charset="-127"/>
                <a:ea typeface="맑은 고딕" pitchFamily="50" charset="-127"/>
              </a:rPr>
              <a:t>Trong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phân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nhóm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đồng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chất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phương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sai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trong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nhóm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tồn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tại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trong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một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tập</a:t>
            </a:r>
            <a:r>
              <a:rPr lang="en-US" altLang="ko-KR" sz="1100" dirty="0">
                <a:latin typeface="맑은 고딕" pitchFamily="50" charset="-127"/>
                <a:ea typeface="맑은 고딕" pitchFamily="50" charset="-127"/>
              </a:rPr>
              <a:t> con </a:t>
            </a:r>
            <a:r>
              <a:rPr lang="en-US" altLang="ko-KR" sz="1100" dirty="0" err="1">
                <a:latin typeface="맑은 고딕" pitchFamily="50" charset="-127"/>
                <a:ea typeface="맑은 고딕" pitchFamily="50" charset="-127"/>
              </a:rPr>
              <a:t>và</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phương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sai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giữa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các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nhóm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tồn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tại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giữa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các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tập</a:t>
            </a:r>
            <a:r>
              <a:rPr lang="en-US" altLang="ko-KR" sz="1100" dirty="0">
                <a:latin typeface="맑은 고딕" pitchFamily="50" charset="-127"/>
                <a:ea typeface="맑은 고딕" pitchFamily="50" charset="-127"/>
              </a:rPr>
              <a:t> con </a:t>
            </a:r>
            <a:r>
              <a:rPr lang="en-US" altLang="ko-KR" sz="1100" dirty="0" err="1">
                <a:latin typeface="맑은 고딕" pitchFamily="50" charset="-127"/>
                <a:ea typeface="맑은 고딕" pitchFamily="50" charset="-127"/>
              </a:rPr>
              <a:t>với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nhau</a:t>
            </a:r>
            <a:r>
              <a:rPr lang="en-US" altLang="ko-KR" sz="1100" dirty="0">
                <a:latin typeface="맑은 고딕" pitchFamily="50" charset="-127"/>
                <a:ea typeface="맑은 고딕" pitchFamily="50" charset="-127"/>
              </a:rPr>
              <a:t>.</a:t>
            </a:r>
          </a:p>
          <a:p>
            <a:pPr algn="just">
              <a:lnSpc>
                <a:spcPct val="130000"/>
              </a:lnSpc>
            </a:pP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Lỳ</a:t>
            </a:r>
            <a:r>
              <a:rPr lang="en-US" altLang="ko-KR" sz="1100" dirty="0">
                <a:latin typeface="맑은 고딕" pitchFamily="50" charset="-127"/>
                <a:ea typeface="맑은 고딕" pitchFamily="50" charset="-127"/>
              </a:rPr>
              <a:t> do </a:t>
            </a:r>
            <a:r>
              <a:rPr lang="en-US" altLang="ko-KR" sz="1100" dirty="0" err="1">
                <a:latin typeface="맑은 고딕" pitchFamily="50" charset="-127"/>
                <a:ea typeface="맑은 고딕" pitchFamily="50" charset="-127"/>
              </a:rPr>
              <a:t>thực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hiện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phân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nhóm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đồng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chất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là</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bởi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nó</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cho</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phép</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phân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chia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năng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lực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quá</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trình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thành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dài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hạn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và</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ngắn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hạn</a:t>
            </a:r>
            <a:r>
              <a:rPr lang="en-US" altLang="ko-KR" sz="1100" dirty="0">
                <a:latin typeface="맑은 고딕" pitchFamily="50" charset="-127"/>
                <a:ea typeface="맑은 고딕" pitchFamily="50" charset="-127"/>
              </a:rPr>
              <a:t>.</a:t>
            </a:r>
          </a:p>
        </p:txBody>
      </p:sp>
      <p:sp>
        <p:nvSpPr>
          <p:cNvPr id="292869" name="Rectangle 6"/>
          <p:cNvSpPr>
            <a:spLocks noChangeArrowheads="1"/>
          </p:cNvSpPr>
          <p:nvPr/>
        </p:nvSpPr>
        <p:spPr bwMode="auto">
          <a:xfrm>
            <a:off x="719138" y="1957388"/>
            <a:ext cx="1941237"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buFont typeface="Wingdings" pitchFamily="2" charset="2"/>
              <a:buChar char="Ø"/>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nhóm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đồng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chất</a:t>
            </a:r>
            <a:endParaRPr lang="en-US" altLang="ko-KR" sz="1200" dirty="0">
              <a:latin typeface="맑은 고딕" pitchFamily="50" charset="-127"/>
              <a:ea typeface="맑은 고딕" pitchFamily="50" charset="-127"/>
            </a:endParaRPr>
          </a:p>
        </p:txBody>
      </p:sp>
      <p:sp useBgFill="1">
        <p:nvSpPr>
          <p:cNvPr id="292870" name="AutoShape 7"/>
          <p:cNvSpPr>
            <a:spLocks noChangeArrowheads="1"/>
          </p:cNvSpPr>
          <p:nvPr/>
        </p:nvSpPr>
        <p:spPr bwMode="auto">
          <a:xfrm>
            <a:off x="4633913" y="2211388"/>
            <a:ext cx="4800600" cy="2315759"/>
          </a:xfrm>
          <a:prstGeom prst="roundRect">
            <a:avLst>
              <a:gd name="adj" fmla="val 3106"/>
            </a:avLst>
          </a:prstGeom>
          <a:ln w="9525">
            <a:solidFill>
              <a:schemeClr val="tx2"/>
            </a:solidFill>
            <a:round/>
            <a:headEnd/>
            <a:tailEnd/>
          </a:ln>
          <a:effectLst>
            <a:outerShdw dist="35921" dir="2700000" algn="ctr" rotWithShape="0">
              <a:schemeClr val="bg2"/>
            </a:outerShdw>
          </a:effectLst>
        </p:spPr>
        <p:txBody>
          <a:bodyPr lIns="92075" tIns="46038" rIns="92075" bIns="46038">
            <a:spAutoFit/>
          </a:bodyPr>
          <a:lstStyle/>
          <a:p>
            <a:pPr>
              <a:lnSpc>
                <a:spcPct val="130000"/>
              </a:lnSpc>
              <a:buFontTx/>
              <a:buChar char="•"/>
            </a:pPr>
            <a:r>
              <a:rPr lang="en-US" altLang="ko-KR" sz="1100" dirty="0">
                <a:latin typeface="맑은 고딕" pitchFamily="50" charset="-127"/>
                <a:ea typeface="맑은 고딕" pitchFamily="50" charset="-127"/>
              </a:rPr>
              <a:t> Man 	VD) </a:t>
            </a:r>
            <a:r>
              <a:rPr lang="en-US" altLang="ko-KR" sz="1100" dirty="0" err="1">
                <a:latin typeface="맑은 고딕" pitchFamily="50" charset="-127"/>
                <a:ea typeface="맑은 고딕" pitchFamily="50" charset="-127"/>
              </a:rPr>
              <a:t>Thay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đổi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công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nhân</a:t>
            </a:r>
            <a:r>
              <a:rPr lang="en-US" altLang="ko-KR" sz="1100" dirty="0">
                <a:latin typeface="맑은 고딕" pitchFamily="50" charset="-127"/>
                <a:ea typeface="맑은 고딕" pitchFamily="50" charset="-127"/>
              </a:rPr>
              <a:t>, ca </a:t>
            </a:r>
            <a:r>
              <a:rPr lang="en-US" altLang="ko-KR" sz="1100" dirty="0" err="1">
                <a:latin typeface="맑은 고딕" pitchFamily="50" charset="-127"/>
                <a:ea typeface="맑은 고딕" pitchFamily="50" charset="-127"/>
              </a:rPr>
              <a:t>đêm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người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mới</a:t>
            </a:r>
            <a:r>
              <a:rPr lang="en-US" altLang="ko-KR" sz="1100" dirty="0">
                <a:latin typeface="맑은 고딕" pitchFamily="50" charset="-127"/>
                <a:ea typeface="맑은 고딕" pitchFamily="50" charset="-127"/>
              </a:rPr>
              <a:t>,...</a:t>
            </a:r>
            <a:endParaRPr lang="ko-KR" altLang="en-US" sz="1100" dirty="0">
              <a:latin typeface="맑은 고딕" pitchFamily="50" charset="-127"/>
              <a:ea typeface="맑은 고딕" pitchFamily="50" charset="-127"/>
            </a:endParaRPr>
          </a:p>
          <a:p>
            <a:pPr>
              <a:lnSpc>
                <a:spcPct val="130000"/>
              </a:lnSpc>
              <a:buFontTx/>
              <a:buChar char="•"/>
            </a:pPr>
            <a:r>
              <a:rPr lang="ko-KR" altLang="en-US" sz="1100" dirty="0">
                <a:latin typeface="맑은 고딕" pitchFamily="50" charset="-127"/>
                <a:ea typeface="맑은 고딕" pitchFamily="50" charset="-127"/>
              </a:rPr>
              <a:t> </a:t>
            </a:r>
            <a:r>
              <a:rPr lang="en-US" altLang="ko-KR" sz="1100" dirty="0">
                <a:latin typeface="맑은 고딕" pitchFamily="50" charset="-127"/>
                <a:ea typeface="맑은 고딕" pitchFamily="50" charset="-127"/>
              </a:rPr>
              <a:t>Machine	VD) </a:t>
            </a:r>
            <a:r>
              <a:rPr lang="en-US" altLang="ko-KR" sz="1100" dirty="0" err="1">
                <a:latin typeface="맑은 고딕" pitchFamily="50" charset="-127"/>
                <a:ea typeface="맑은 고딕" pitchFamily="50" charset="-127"/>
              </a:rPr>
              <a:t>Thay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đổi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máy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móc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sự</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thay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đổi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dẫn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đến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kế</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hoạch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bảo</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trì</a:t>
            </a:r>
            <a:r>
              <a:rPr lang="en-US" altLang="ko-KR" sz="1100" dirty="0">
                <a:latin typeface="맑은 고딕" pitchFamily="50" charset="-127"/>
                <a:ea typeface="맑은 고딕" pitchFamily="50" charset="-127"/>
              </a:rPr>
              <a:t>/</a:t>
            </a:r>
            <a:r>
              <a:rPr lang="en-US" altLang="ko-KR" sz="1100" dirty="0" err="1">
                <a:latin typeface="맑은 고딕" pitchFamily="50" charset="-127"/>
                <a:ea typeface="맑은 고딕" pitchFamily="50" charset="-127"/>
              </a:rPr>
              <a:t>sửa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chữa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máy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móc</a:t>
            </a:r>
            <a:r>
              <a:rPr lang="en-US" altLang="ko-KR" sz="1100" dirty="0">
                <a:latin typeface="맑은 고딕" pitchFamily="50" charset="-127"/>
                <a:ea typeface="맑은 고딕" pitchFamily="50" charset="-127"/>
              </a:rPr>
              <a:t>.</a:t>
            </a:r>
            <a:endParaRPr lang="ko-KR" altLang="en-US" sz="1100" dirty="0">
              <a:latin typeface="맑은 고딕" pitchFamily="50" charset="-127"/>
              <a:ea typeface="맑은 고딕" pitchFamily="50" charset="-127"/>
            </a:endParaRPr>
          </a:p>
          <a:p>
            <a:pPr>
              <a:lnSpc>
                <a:spcPct val="130000"/>
              </a:lnSpc>
              <a:buFontTx/>
              <a:buChar char="•"/>
            </a:pPr>
            <a:r>
              <a:rPr lang="ko-KR" altLang="en-US" sz="1100" dirty="0">
                <a:latin typeface="맑은 고딕" pitchFamily="50" charset="-127"/>
                <a:ea typeface="맑은 고딕" pitchFamily="50" charset="-127"/>
              </a:rPr>
              <a:t> </a:t>
            </a:r>
            <a:r>
              <a:rPr lang="en-US" altLang="ko-KR" sz="1100" dirty="0">
                <a:latin typeface="맑은 고딕" pitchFamily="50" charset="-127"/>
                <a:ea typeface="맑은 고딕" pitchFamily="50" charset="-127"/>
              </a:rPr>
              <a:t>Material	VD) </a:t>
            </a:r>
            <a:r>
              <a:rPr lang="en-US" altLang="ko-KR" sz="1100" dirty="0" err="1">
                <a:latin typeface="맑은 고딕" pitchFamily="50" charset="-127"/>
                <a:ea typeface="맑은 고딕" pitchFamily="50" charset="-127"/>
              </a:rPr>
              <a:t>Lô</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đầu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vào</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nơi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làm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việc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sự</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sai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khác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trong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đặc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tính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của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nguyên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vật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liệu</a:t>
            </a:r>
            <a:endParaRPr lang="ko-KR" altLang="en-US" sz="1100" dirty="0">
              <a:latin typeface="맑은 고딕" pitchFamily="50" charset="-127"/>
              <a:ea typeface="맑은 고딕" pitchFamily="50" charset="-127"/>
            </a:endParaRPr>
          </a:p>
          <a:p>
            <a:pPr>
              <a:lnSpc>
                <a:spcPct val="130000"/>
              </a:lnSpc>
              <a:buFontTx/>
              <a:buChar char="•"/>
            </a:pPr>
            <a:r>
              <a:rPr lang="ko-KR" altLang="en-US" sz="1100" dirty="0">
                <a:latin typeface="맑은 고딕" pitchFamily="50" charset="-127"/>
                <a:ea typeface="맑은 고딕" pitchFamily="50" charset="-127"/>
              </a:rPr>
              <a:t> </a:t>
            </a:r>
            <a:r>
              <a:rPr lang="en-US" altLang="ko-KR" sz="1100" dirty="0">
                <a:latin typeface="맑은 고딕" pitchFamily="50" charset="-127"/>
                <a:ea typeface="맑은 고딕" pitchFamily="50" charset="-127"/>
              </a:rPr>
              <a:t>Method 	VD) </a:t>
            </a:r>
            <a:r>
              <a:rPr lang="en-US" altLang="ko-KR" sz="1100" dirty="0" err="1">
                <a:latin typeface="맑은 고딕" pitchFamily="50" charset="-127"/>
                <a:ea typeface="맑은 고딕" pitchFamily="50" charset="-127"/>
              </a:rPr>
              <a:t>Phương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pháp</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làm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việc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khác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nhau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giữa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các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công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nhân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khác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nhau</a:t>
            </a:r>
            <a:r>
              <a:rPr lang="en-US" altLang="ko-KR" sz="1100" dirty="0">
                <a:latin typeface="맑은 고딕" pitchFamily="50" charset="-127"/>
                <a:ea typeface="맑은 고딕" pitchFamily="50" charset="-127"/>
              </a:rPr>
              <a:t>.</a:t>
            </a:r>
            <a:endParaRPr lang="ko-KR" altLang="en-US" sz="1100" dirty="0">
              <a:latin typeface="맑은 고딕" pitchFamily="50" charset="-127"/>
              <a:ea typeface="맑은 고딕" pitchFamily="50" charset="-127"/>
            </a:endParaRPr>
          </a:p>
          <a:p>
            <a:pPr>
              <a:lnSpc>
                <a:spcPct val="130000"/>
              </a:lnSpc>
              <a:buFontTx/>
              <a:buChar char="•"/>
            </a:pPr>
            <a:r>
              <a:rPr lang="ko-KR" altLang="en-US" sz="1100" dirty="0">
                <a:latin typeface="맑은 고딕" pitchFamily="50" charset="-127"/>
                <a:ea typeface="맑은 고딕" pitchFamily="50" charset="-127"/>
              </a:rPr>
              <a:t> </a:t>
            </a:r>
            <a:r>
              <a:rPr lang="en-US" altLang="ko-KR" sz="1100" dirty="0">
                <a:latin typeface="맑은 고딕" pitchFamily="50" charset="-127"/>
                <a:ea typeface="맑은 고딕" pitchFamily="50" charset="-127"/>
              </a:rPr>
              <a:t>Measurement  VD) </a:t>
            </a:r>
            <a:r>
              <a:rPr lang="en-US" altLang="ko-KR" sz="1100" dirty="0" err="1">
                <a:latin typeface="맑은 고딕" pitchFamily="50" charset="-127"/>
                <a:ea typeface="맑은 고딕" pitchFamily="50" charset="-127"/>
              </a:rPr>
              <a:t>Những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sai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số</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xảy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ra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trong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quá</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trình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đo</a:t>
            </a:r>
            <a:r>
              <a:rPr lang="en-US" altLang="ko-KR" sz="1100" dirty="0">
                <a:latin typeface="맑은 고딕" pitchFamily="50" charset="-127"/>
                <a:ea typeface="맑은 고딕" pitchFamily="50" charset="-127"/>
              </a:rPr>
              <a:t> do </a:t>
            </a:r>
            <a:r>
              <a:rPr lang="en-US" altLang="ko-KR" sz="1100" dirty="0" err="1">
                <a:latin typeface="맑은 고딕" pitchFamily="50" charset="-127"/>
                <a:ea typeface="맑은 고딕" pitchFamily="50" charset="-127"/>
              </a:rPr>
              <a:t>thiết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bị</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hoặc</a:t>
            </a:r>
            <a:r>
              <a:rPr lang="en-US" altLang="ko-KR" sz="1100" dirty="0">
                <a:latin typeface="맑은 고딕" pitchFamily="50" charset="-127"/>
                <a:ea typeface="맑은 고딕" pitchFamily="50" charset="-127"/>
              </a:rPr>
              <a:t> do </a:t>
            </a:r>
            <a:r>
              <a:rPr lang="en-US" altLang="ko-KR" sz="1100" dirty="0" err="1">
                <a:latin typeface="맑은 고딕" pitchFamily="50" charset="-127"/>
                <a:ea typeface="맑은 고딕" pitchFamily="50" charset="-127"/>
              </a:rPr>
              <a:t>người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đo</a:t>
            </a:r>
            <a:endParaRPr lang="ko-KR" altLang="en-US" sz="1100" dirty="0">
              <a:latin typeface="맑은 고딕" pitchFamily="50" charset="-127"/>
              <a:ea typeface="맑은 고딕" pitchFamily="50" charset="-127"/>
            </a:endParaRPr>
          </a:p>
          <a:p>
            <a:pPr>
              <a:lnSpc>
                <a:spcPct val="130000"/>
              </a:lnSpc>
            </a:pPr>
            <a:r>
              <a:rPr lang="ko-KR" altLang="en-US" sz="1100" dirty="0">
                <a:latin typeface="맑은 고딕" pitchFamily="50" charset="-127"/>
                <a:ea typeface="맑은 고딕" pitchFamily="50" charset="-127"/>
              </a:rPr>
              <a:t>                         </a:t>
            </a:r>
            <a:r>
              <a:rPr lang="en-US" altLang="ko-KR" sz="1100" dirty="0">
                <a:latin typeface="맑은 고딕" pitchFamily="50" charset="-127"/>
                <a:ea typeface="맑은 고딕" pitchFamily="50" charset="-127"/>
              </a:rPr>
              <a:t>(</a:t>
            </a:r>
            <a:r>
              <a:rPr lang="en-US" altLang="ko-KR" sz="1100" dirty="0">
                <a:latin typeface="맑은 고딕" pitchFamily="50" charset="-127"/>
                <a:ea typeface="맑은 고딕" pitchFamily="50" charset="-127"/>
                <a:sym typeface="Wingdings" pitchFamily="2" charset="2"/>
              </a:rPr>
              <a:t> </a:t>
            </a:r>
            <a:r>
              <a:rPr lang="en-US" altLang="ko-KR" sz="1100" dirty="0" err="1">
                <a:latin typeface="맑은 고딕" pitchFamily="50" charset="-127"/>
                <a:ea typeface="맑은 고딕" pitchFamily="50" charset="-127"/>
                <a:sym typeface="Wingdings" pitchFamily="2" charset="2"/>
              </a:rPr>
              <a:t>Sử</a:t>
            </a:r>
            <a:r>
              <a:rPr lang="en-US" altLang="ko-KR" sz="1100" dirty="0">
                <a:latin typeface="맑은 고딕" pitchFamily="50" charset="-127"/>
                <a:ea typeface="맑은 고딕" pitchFamily="50" charset="-127"/>
                <a:sym typeface="Wingdings" pitchFamily="2" charset="2"/>
              </a:rPr>
              <a:t> </a:t>
            </a:r>
            <a:r>
              <a:rPr lang="en-US" altLang="ko-KR" sz="1100" dirty="0" err="1">
                <a:latin typeface="맑은 고딕" pitchFamily="50" charset="-127"/>
                <a:ea typeface="맑은 고딕" pitchFamily="50" charset="-127"/>
                <a:sym typeface="Wingdings" pitchFamily="2" charset="2"/>
              </a:rPr>
              <a:t>dụng</a:t>
            </a:r>
            <a:r>
              <a:rPr lang="en-US" altLang="ko-KR" sz="1100" dirty="0">
                <a:latin typeface="맑은 고딕" pitchFamily="50" charset="-127"/>
                <a:ea typeface="맑은 고딕" pitchFamily="50" charset="-127"/>
                <a:sym typeface="Wingdings" pitchFamily="2" charset="2"/>
              </a:rPr>
              <a:t> Gage R&amp;R </a:t>
            </a:r>
            <a:r>
              <a:rPr lang="en-US" altLang="ko-KR" sz="1100" dirty="0" err="1">
                <a:latin typeface="맑은 고딕" pitchFamily="50" charset="-127"/>
                <a:ea typeface="맑은 고딕" pitchFamily="50" charset="-127"/>
                <a:sym typeface="Wingdings" pitchFamily="2" charset="2"/>
              </a:rPr>
              <a:t>để</a:t>
            </a:r>
            <a:r>
              <a:rPr lang="en-US" altLang="ko-KR" sz="1100" dirty="0">
                <a:latin typeface="맑은 고딕" pitchFamily="50" charset="-127"/>
                <a:ea typeface="맑은 고딕" pitchFamily="50" charset="-127"/>
                <a:sym typeface="Wingdings" pitchFamily="2" charset="2"/>
              </a:rPr>
              <a:t> </a:t>
            </a:r>
            <a:r>
              <a:rPr lang="en-US" altLang="ko-KR" sz="1100" dirty="0" err="1">
                <a:latin typeface="맑은 고딕" pitchFamily="50" charset="-127"/>
                <a:ea typeface="맑은 고딕" pitchFamily="50" charset="-127"/>
                <a:sym typeface="Wingdings" pitchFamily="2" charset="2"/>
              </a:rPr>
              <a:t>giải</a:t>
            </a:r>
            <a:r>
              <a:rPr lang="en-US" altLang="ko-KR" sz="1100" dirty="0">
                <a:latin typeface="맑은 고딕" pitchFamily="50" charset="-127"/>
                <a:ea typeface="맑은 고딕" pitchFamily="50" charset="-127"/>
                <a:sym typeface="Wingdings" pitchFamily="2" charset="2"/>
              </a:rPr>
              <a:t> </a:t>
            </a:r>
            <a:r>
              <a:rPr lang="en-US" altLang="ko-KR" sz="1100" dirty="0" err="1">
                <a:latin typeface="맑은 고딕" pitchFamily="50" charset="-127"/>
                <a:ea typeface="맑은 고딕" pitchFamily="50" charset="-127"/>
                <a:sym typeface="Wingdings" pitchFamily="2" charset="2"/>
              </a:rPr>
              <a:t>quyết</a:t>
            </a:r>
            <a:r>
              <a:rPr lang="en-US" altLang="ko-KR" sz="1100" dirty="0">
                <a:latin typeface="맑은 고딕" pitchFamily="50" charset="-127"/>
                <a:ea typeface="맑은 고딕" pitchFamily="50" charset="-127"/>
                <a:sym typeface="Wingdings" pitchFamily="2" charset="2"/>
              </a:rPr>
              <a:t>)</a:t>
            </a:r>
            <a:endParaRPr lang="en-US" altLang="ko-KR" sz="1100" dirty="0">
              <a:latin typeface="맑은 고딕" pitchFamily="50" charset="-127"/>
              <a:ea typeface="맑은 고딕" pitchFamily="50" charset="-127"/>
            </a:endParaRPr>
          </a:p>
        </p:txBody>
      </p:sp>
      <p:sp>
        <p:nvSpPr>
          <p:cNvPr id="292871" name="Rectangle 8"/>
          <p:cNvSpPr>
            <a:spLocks noChangeArrowheads="1"/>
          </p:cNvSpPr>
          <p:nvPr/>
        </p:nvSpPr>
        <p:spPr bwMode="auto">
          <a:xfrm>
            <a:off x="4516438" y="1957388"/>
            <a:ext cx="4194097"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buFont typeface="Wingdings" pitchFamily="2" charset="2"/>
              <a:buChar char="Ø"/>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xem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xét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nhóm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đồng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chất</a:t>
            </a:r>
            <a:endParaRPr lang="en-US" altLang="ko-KR" sz="1200" dirty="0">
              <a:latin typeface="맑은 고딕" pitchFamily="50" charset="-127"/>
              <a:ea typeface="맑은 고딕" pitchFamily="50" charset="-127"/>
            </a:endParaRPr>
          </a:p>
        </p:txBody>
      </p:sp>
      <p:sp>
        <p:nvSpPr>
          <p:cNvPr id="292872" name="Text Box 43"/>
          <p:cNvSpPr txBox="1">
            <a:spLocks noChangeArrowheads="1"/>
          </p:cNvSpPr>
          <p:nvPr/>
        </p:nvSpPr>
        <p:spPr bwMode="auto">
          <a:xfrm>
            <a:off x="749300" y="4366344"/>
            <a:ext cx="4899025" cy="21328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Font typeface="Wingdings" pitchFamily="2" charset="2"/>
              <a:buChar char="§"/>
            </a:pPr>
            <a:r>
              <a:rPr lang="en-US" altLang="ko-KR" sz="1100" b="1" dirty="0">
                <a:latin typeface="맑은 고딕" pitchFamily="50" charset="-127"/>
                <a:ea typeface="맑은 고딕" pitchFamily="50" charset="-127"/>
              </a:rPr>
              <a:t> Considerations of factors that cause process variances</a:t>
            </a:r>
            <a:endParaRPr lang="ko-KR" altLang="en-US" sz="1100" b="1" dirty="0">
              <a:latin typeface="맑은 고딕" pitchFamily="50" charset="-127"/>
              <a:ea typeface="맑은 고딕" pitchFamily="50" charset="-127"/>
            </a:endParaRPr>
          </a:p>
          <a:p>
            <a:pPr eaLnBrk="1" hangingPunct="1">
              <a:lnSpc>
                <a:spcPct val="130000"/>
              </a:lnSpc>
            </a:pP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 Location variation: cooling differences across PCB locations,</a:t>
            </a:r>
          </a:p>
          <a:p>
            <a:pPr eaLnBrk="1" hangingPunct="1">
              <a:lnSpc>
                <a:spcPct val="130000"/>
              </a:lnSpc>
            </a:pPr>
            <a:r>
              <a:rPr lang="en-US" altLang="ko-KR" sz="1000" dirty="0">
                <a:latin typeface="맑은 고딕" pitchFamily="50" charset="-127"/>
                <a:ea typeface="맑은 고딕" pitchFamily="50" charset="-127"/>
              </a:rPr>
              <a:t>                             #1 screen printer (Fix)</a:t>
            </a:r>
          </a:p>
          <a:p>
            <a:pPr eaLnBrk="1" hangingPunct="1">
              <a:lnSpc>
                <a:spcPct val="130000"/>
              </a:lnSpc>
            </a:pPr>
            <a:r>
              <a:rPr lang="en-US" altLang="ko-KR" sz="1000" dirty="0">
                <a:latin typeface="맑은 고딕" pitchFamily="50" charset="-127"/>
                <a:ea typeface="맑은 고딕" pitchFamily="50" charset="-127"/>
              </a:rPr>
              <a:t>  - Frequency variation: variations between lots</a:t>
            </a:r>
          </a:p>
          <a:p>
            <a:pPr eaLnBrk="1" hangingPunct="1">
              <a:lnSpc>
                <a:spcPct val="130000"/>
              </a:lnSpc>
            </a:pP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 Time variation: daily, shift variations</a:t>
            </a:r>
            <a:endParaRPr lang="ko-KR" altLang="en-US" sz="1000" dirty="0">
              <a:latin typeface="맑은 고딕" pitchFamily="50" charset="-127"/>
              <a:ea typeface="맑은 고딕" pitchFamily="50" charset="-127"/>
            </a:endParaRPr>
          </a:p>
          <a:p>
            <a:pPr eaLnBrk="1" hangingPunct="1">
              <a:lnSpc>
                <a:spcPct val="130000"/>
              </a:lnSpc>
              <a:buFont typeface="Wingdings" pitchFamily="2" charset="2"/>
              <a:buChar char="§"/>
            </a:pPr>
            <a:r>
              <a:rPr lang="ko-KR" altLang="en-US" sz="1100" b="1" dirty="0">
                <a:latin typeface="맑은 고딕" pitchFamily="50" charset="-127"/>
                <a:ea typeface="맑은 고딕" pitchFamily="50" charset="-127"/>
              </a:rPr>
              <a:t> </a:t>
            </a:r>
            <a:r>
              <a:rPr lang="en-US" altLang="ko-KR" sz="1100" b="1" dirty="0">
                <a:latin typeface="맑은 고딕" pitchFamily="50" charset="-127"/>
                <a:ea typeface="맑은 고딕" pitchFamily="50" charset="-127"/>
              </a:rPr>
              <a:t>Establish data collection plan</a:t>
            </a:r>
            <a:endParaRPr lang="ko-KR" altLang="en-US" sz="1100" b="1" dirty="0">
              <a:latin typeface="맑은 고딕" pitchFamily="50" charset="-127"/>
              <a:ea typeface="맑은 고딕" pitchFamily="50" charset="-127"/>
            </a:endParaRPr>
          </a:p>
          <a:p>
            <a:pPr eaLnBrk="1" hangingPunct="1">
              <a:lnSpc>
                <a:spcPct val="130000"/>
              </a:lnSpc>
            </a:pP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 Date: 2001.6.3~2001.6.5</a:t>
            </a:r>
          </a:p>
          <a:p>
            <a:pPr eaLnBrk="1" hangingPunct="1">
              <a:lnSpc>
                <a:spcPct val="130000"/>
              </a:lnSpc>
            </a:pPr>
            <a:r>
              <a:rPr lang="en-US" altLang="ko-KR" sz="1000" dirty="0">
                <a:latin typeface="맑은 고딕" pitchFamily="50" charset="-127"/>
                <a:ea typeface="맑은 고딕" pitchFamily="50" charset="-127"/>
              </a:rPr>
              <a:t>  - Subgroup Sample Size : 3</a:t>
            </a:r>
            <a:r>
              <a:rPr lang="ko-KR" altLang="en-US" sz="1000" dirty="0">
                <a:latin typeface="맑은 고딕" pitchFamily="50" charset="-127"/>
                <a:ea typeface="맑은 고딕" pitchFamily="50" charset="-127"/>
              </a:rPr>
              <a:t> </a:t>
            </a:r>
            <a:r>
              <a:rPr lang="en-US" altLang="ko-KR" sz="1000" dirty="0">
                <a:solidFill>
                  <a:srgbClr val="FF0000"/>
                </a:solidFill>
                <a:latin typeface="맑은 고딕" pitchFamily="50" charset="-127"/>
                <a:ea typeface="맑은 고딕" pitchFamily="50" charset="-127"/>
              </a:rPr>
              <a:t>( 5 recommended</a:t>
            </a:r>
            <a:r>
              <a:rPr lang="ko-KR" altLang="en-US" sz="1000" dirty="0">
                <a:solidFill>
                  <a:srgbClr val="FF0000"/>
                </a:solidFill>
                <a:latin typeface="맑은 고딕" pitchFamily="50" charset="-127"/>
                <a:ea typeface="맑은 고딕" pitchFamily="50" charset="-127"/>
              </a:rPr>
              <a:t>  </a:t>
            </a:r>
            <a:r>
              <a:rPr lang="en-US" altLang="ko-KR" sz="1000" dirty="0">
                <a:solidFill>
                  <a:srgbClr val="FF0000"/>
                </a:solidFill>
                <a:latin typeface="맑은 고딕" pitchFamily="50" charset="-127"/>
                <a:ea typeface="맑은 고딕" pitchFamily="50" charset="-127"/>
              </a:rPr>
              <a:t>)</a:t>
            </a:r>
          </a:p>
          <a:p>
            <a:pPr eaLnBrk="1" hangingPunct="1">
              <a:lnSpc>
                <a:spcPct val="130000"/>
              </a:lnSpc>
            </a:pPr>
            <a:r>
              <a:rPr lang="en-US" altLang="ko-KR" sz="1000" dirty="0">
                <a:latin typeface="맑은 고딕" pitchFamily="50" charset="-127"/>
                <a:ea typeface="맑은 고딕" pitchFamily="50" charset="-127"/>
              </a:rPr>
              <a:t>  - # of subgroups</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 7</a:t>
            </a:r>
            <a:r>
              <a:rPr lang="ko-KR" altLang="en-US" sz="1000" dirty="0">
                <a:latin typeface="맑은 고딕" pitchFamily="50" charset="-127"/>
                <a:ea typeface="맑은 고딕" pitchFamily="50" charset="-127"/>
              </a:rPr>
              <a:t>   </a:t>
            </a:r>
          </a:p>
          <a:p>
            <a:pPr eaLnBrk="1" hangingPunct="1">
              <a:lnSpc>
                <a:spcPct val="130000"/>
              </a:lnSpc>
            </a:pPr>
            <a:r>
              <a:rPr lang="ko-KR" altLang="en-US" sz="1000" dirty="0">
                <a:latin typeface="맑은 고딕" pitchFamily="50" charset="-127"/>
                <a:ea typeface="맑은 고딕" pitchFamily="50" charset="-127"/>
              </a:rPr>
              <a:t>  → </a:t>
            </a:r>
            <a:r>
              <a:rPr lang="en-US" altLang="ko-KR" sz="1000" dirty="0">
                <a:latin typeface="맑은 고딕" pitchFamily="50" charset="-127"/>
                <a:ea typeface="맑은 고딕" pitchFamily="50" charset="-127"/>
              </a:rPr>
              <a:t>Total : 21 data were collected </a:t>
            </a:r>
            <a:r>
              <a:rPr lang="en-US" altLang="ko-KR" sz="1000" dirty="0">
                <a:solidFill>
                  <a:srgbClr val="FF0000"/>
                </a:solidFill>
                <a:latin typeface="맑은 고딕" pitchFamily="50" charset="-127"/>
                <a:ea typeface="맑은 고딕" pitchFamily="50" charset="-127"/>
              </a:rPr>
              <a:t>( 30 or above recommended)</a:t>
            </a:r>
          </a:p>
        </p:txBody>
      </p:sp>
      <p:sp>
        <p:nvSpPr>
          <p:cNvPr id="292873" name="Rectangle 44"/>
          <p:cNvSpPr>
            <a:spLocks noChangeArrowheads="1"/>
          </p:cNvSpPr>
          <p:nvPr/>
        </p:nvSpPr>
        <p:spPr bwMode="auto">
          <a:xfrm>
            <a:off x="573088" y="3911600"/>
            <a:ext cx="3656012"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a:buFont typeface="Wingdings" pitchFamily="2" charset="2"/>
              <a:buNone/>
            </a:pPr>
            <a:r>
              <a:rPr lang="en-US" altLang="ko-KR" sz="1200" dirty="0">
                <a:latin typeface="맑은 고딕" pitchFamily="50" charset="-127"/>
                <a:ea typeface="맑은 고딕" pitchFamily="50" charset="-127"/>
              </a:rPr>
              <a:t>◎ Rational subgroup Example</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a:t>
            </a:r>
          </a:p>
          <a:p>
            <a:pPr>
              <a:buFont typeface="Wingdings" pitchFamily="2" charset="2"/>
              <a:buNone/>
            </a:pPr>
            <a:r>
              <a:rPr lang="en-US" altLang="ko-KR" sz="1200" dirty="0">
                <a:latin typeface="맑은 고딕" pitchFamily="50" charset="-127"/>
                <a:ea typeface="맑은 고딕" pitchFamily="50" charset="-127"/>
              </a:rPr>
              <a:t>    Screen Printer Process Stabilization</a:t>
            </a:r>
            <a:endParaRPr lang="ko-KR" altLang="en-US" sz="1200" dirty="0">
              <a:latin typeface="맑은 고딕" pitchFamily="50" charset="-127"/>
              <a:ea typeface="맑은 고딕" pitchFamily="50" charset="-127"/>
            </a:endParaRPr>
          </a:p>
        </p:txBody>
      </p:sp>
      <p:grpSp>
        <p:nvGrpSpPr>
          <p:cNvPr id="3" name="Group 49"/>
          <p:cNvGrpSpPr>
            <a:grpSpLocks/>
          </p:cNvGrpSpPr>
          <p:nvPr/>
        </p:nvGrpSpPr>
        <p:grpSpPr bwMode="auto">
          <a:xfrm>
            <a:off x="5195883" y="4513982"/>
            <a:ext cx="3998908" cy="2011362"/>
            <a:chOff x="3273" y="2615"/>
            <a:chExt cx="2519" cy="1267"/>
          </a:xfrm>
        </p:grpSpPr>
        <p:sp>
          <p:nvSpPr>
            <p:cNvPr id="292878" name="Rectangle 2"/>
            <p:cNvSpPr>
              <a:spLocks noChangeArrowheads="1"/>
            </p:cNvSpPr>
            <p:nvPr/>
          </p:nvSpPr>
          <p:spPr bwMode="auto">
            <a:xfrm>
              <a:off x="3273" y="2615"/>
              <a:ext cx="2519" cy="1267"/>
            </a:xfrm>
            <a:prstGeom prst="rect">
              <a:avLst/>
            </a:prstGeom>
            <a:solidFill>
              <a:srgbClr val="F6F8F2"/>
            </a:solidFill>
            <a:ln w="9525">
              <a:solidFill>
                <a:schemeClr val="tx1"/>
              </a:solidFill>
              <a:miter lim="800000"/>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92879" name="Line 9"/>
            <p:cNvSpPr>
              <a:spLocks noChangeShapeType="1"/>
            </p:cNvSpPr>
            <p:nvPr/>
          </p:nvSpPr>
          <p:spPr bwMode="auto">
            <a:xfrm>
              <a:off x="3517" y="2759"/>
              <a:ext cx="0" cy="764"/>
            </a:xfrm>
            <a:prstGeom prst="line">
              <a:avLst/>
            </a:prstGeom>
            <a:noFill/>
            <a:ln w="12700">
              <a:solidFill>
                <a:schemeClr val="tx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2880" name="Line 10"/>
            <p:cNvSpPr>
              <a:spLocks noChangeShapeType="1"/>
            </p:cNvSpPr>
            <p:nvPr/>
          </p:nvSpPr>
          <p:spPr bwMode="auto">
            <a:xfrm>
              <a:off x="3520" y="2942"/>
              <a:ext cx="1777" cy="0"/>
            </a:xfrm>
            <a:prstGeom prst="line">
              <a:avLst/>
            </a:prstGeom>
            <a:noFill/>
            <a:ln w="12700">
              <a:solidFill>
                <a:srgbClr val="FC0128"/>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2881" name="Line 11"/>
            <p:cNvSpPr>
              <a:spLocks noChangeShapeType="1"/>
            </p:cNvSpPr>
            <p:nvPr/>
          </p:nvSpPr>
          <p:spPr bwMode="auto">
            <a:xfrm>
              <a:off x="3515" y="3211"/>
              <a:ext cx="1788" cy="0"/>
            </a:xfrm>
            <a:prstGeom prst="line">
              <a:avLst/>
            </a:prstGeom>
            <a:noFill/>
            <a:ln w="12700">
              <a:solidFill>
                <a:srgbClr val="000099"/>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2882" name="Line 12"/>
            <p:cNvSpPr>
              <a:spLocks noChangeShapeType="1"/>
            </p:cNvSpPr>
            <p:nvPr/>
          </p:nvSpPr>
          <p:spPr bwMode="auto">
            <a:xfrm>
              <a:off x="3512" y="3468"/>
              <a:ext cx="1775" cy="0"/>
            </a:xfrm>
            <a:prstGeom prst="line">
              <a:avLst/>
            </a:prstGeom>
            <a:noFill/>
            <a:ln w="12700">
              <a:solidFill>
                <a:srgbClr val="FC0128"/>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2883" name="Rectangle 13"/>
            <p:cNvSpPr>
              <a:spLocks noChangeArrowheads="1"/>
            </p:cNvSpPr>
            <p:nvPr/>
          </p:nvSpPr>
          <p:spPr bwMode="auto">
            <a:xfrm rot="5400000">
              <a:off x="3027" y="3040"/>
              <a:ext cx="743" cy="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9850" tIns="34925" rIns="69850" bIns="34925">
              <a:spAutoFit/>
            </a:bodyPr>
            <a:lstStyle/>
            <a:p>
              <a:pPr defTabSz="514350" eaLnBrk="0" hangingPunct="0"/>
              <a:r>
                <a:rPr lang="en-US" altLang="ko-KR" sz="1000" dirty="0">
                  <a:latin typeface="맑은 고딕" pitchFamily="50" charset="-127"/>
                  <a:ea typeface="맑은 고딕" pitchFamily="50" charset="-127"/>
                </a:rPr>
                <a:t>Process Response</a:t>
              </a:r>
              <a:endParaRPr lang="ko-KR" altLang="en-US" sz="1000" dirty="0">
                <a:latin typeface="맑은 고딕" pitchFamily="50" charset="-127"/>
                <a:ea typeface="맑은 고딕" pitchFamily="50" charset="-127"/>
              </a:endParaRPr>
            </a:p>
          </p:txBody>
        </p:sp>
        <p:sp>
          <p:nvSpPr>
            <p:cNvPr id="292884" name="Rectangle 14"/>
            <p:cNvSpPr>
              <a:spLocks noChangeArrowheads="1"/>
            </p:cNvSpPr>
            <p:nvPr/>
          </p:nvSpPr>
          <p:spPr bwMode="auto">
            <a:xfrm rot="21540000">
              <a:off x="5181" y="3252"/>
              <a:ext cx="283" cy="1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9850" tIns="34925" rIns="69850" bIns="34925">
              <a:spAutoFit/>
            </a:bodyPr>
            <a:lstStyle/>
            <a:p>
              <a:pPr defTabSz="514350" eaLnBrk="0" hangingPunct="0"/>
              <a:r>
                <a:rPr lang="en-US" altLang="ko-KR" sz="1200" dirty="0">
                  <a:latin typeface="맑은 고딕" pitchFamily="50" charset="-127"/>
                  <a:ea typeface="맑은 고딕" pitchFamily="50" charset="-127"/>
                </a:rPr>
                <a:t>time</a:t>
              </a:r>
              <a:endParaRPr lang="ko-KR" altLang="en-US" sz="1200" dirty="0">
                <a:latin typeface="맑은 고딕" pitchFamily="50" charset="-127"/>
                <a:ea typeface="맑은 고딕" pitchFamily="50" charset="-127"/>
              </a:endParaRPr>
            </a:p>
          </p:txBody>
        </p:sp>
        <p:sp>
          <p:nvSpPr>
            <p:cNvPr id="292885" name="Freeform 15"/>
            <p:cNvSpPr>
              <a:spLocks/>
            </p:cNvSpPr>
            <p:nvPr/>
          </p:nvSpPr>
          <p:spPr bwMode="auto">
            <a:xfrm>
              <a:off x="3512" y="2953"/>
              <a:ext cx="1698" cy="527"/>
            </a:xfrm>
            <a:custGeom>
              <a:avLst/>
              <a:gdLst>
                <a:gd name="T0" fmla="*/ 0 w 1188"/>
                <a:gd name="T1" fmla="*/ 238 h 527"/>
                <a:gd name="T2" fmla="*/ 1722 w 1188"/>
                <a:gd name="T3" fmla="*/ 3 h 527"/>
                <a:gd name="T4" fmla="*/ 3402 w 1188"/>
                <a:gd name="T5" fmla="*/ 254 h 527"/>
                <a:gd name="T6" fmla="*/ 5243 w 1188"/>
                <a:gd name="T7" fmla="*/ 526 h 527"/>
                <a:gd name="T8" fmla="*/ 7086 w 1188"/>
                <a:gd name="T9" fmla="*/ 247 h 5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527">
                  <a:moveTo>
                    <a:pt x="0" y="238"/>
                  </a:moveTo>
                  <a:cubicBezTo>
                    <a:pt x="48" y="199"/>
                    <a:pt x="194" y="0"/>
                    <a:pt x="289" y="3"/>
                  </a:cubicBezTo>
                  <a:cubicBezTo>
                    <a:pt x="385" y="6"/>
                    <a:pt x="472" y="167"/>
                    <a:pt x="570" y="254"/>
                  </a:cubicBezTo>
                  <a:cubicBezTo>
                    <a:pt x="668" y="341"/>
                    <a:pt x="776" y="527"/>
                    <a:pt x="879" y="526"/>
                  </a:cubicBezTo>
                  <a:cubicBezTo>
                    <a:pt x="982" y="525"/>
                    <a:pt x="1124" y="305"/>
                    <a:pt x="1188" y="247"/>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4" name="Group 16"/>
            <p:cNvGrpSpPr>
              <a:grpSpLocks/>
            </p:cNvGrpSpPr>
            <p:nvPr/>
          </p:nvGrpSpPr>
          <p:grpSpPr bwMode="auto">
            <a:xfrm flipH="1">
              <a:off x="3674" y="3000"/>
              <a:ext cx="106" cy="142"/>
              <a:chOff x="653" y="3290"/>
              <a:chExt cx="98" cy="188"/>
            </a:xfrm>
          </p:grpSpPr>
          <p:sp>
            <p:nvSpPr>
              <p:cNvPr id="292912" name="Freeform 17"/>
              <p:cNvSpPr>
                <a:spLocks/>
              </p:cNvSpPr>
              <p:nvPr/>
            </p:nvSpPr>
            <p:spPr bwMode="auto">
              <a:xfrm>
                <a:off x="653" y="3302"/>
                <a:ext cx="77" cy="163"/>
              </a:xfrm>
              <a:custGeom>
                <a:avLst/>
                <a:gdLst>
                  <a:gd name="T0" fmla="*/ 0 w 518"/>
                  <a:gd name="T1" fmla="*/ 2 h 467"/>
                  <a:gd name="T2" fmla="*/ 0 w 518"/>
                  <a:gd name="T3" fmla="*/ 2 h 467"/>
                  <a:gd name="T4" fmla="*/ 0 w 518"/>
                  <a:gd name="T5" fmla="*/ 2 h 467"/>
                  <a:gd name="T6" fmla="*/ 0 w 518"/>
                  <a:gd name="T7" fmla="*/ 2 h 467"/>
                  <a:gd name="T8" fmla="*/ 0 w 518"/>
                  <a:gd name="T9" fmla="*/ 2 h 467"/>
                  <a:gd name="T10" fmla="*/ 0 w 518"/>
                  <a:gd name="T11" fmla="*/ 2 h 467"/>
                  <a:gd name="T12" fmla="*/ 0 w 518"/>
                  <a:gd name="T13" fmla="*/ 2 h 467"/>
                  <a:gd name="T14" fmla="*/ 0 w 518"/>
                  <a:gd name="T15" fmla="*/ 2 h 467"/>
                  <a:gd name="T16" fmla="*/ 0 w 518"/>
                  <a:gd name="T17" fmla="*/ 2 h 467"/>
                  <a:gd name="T18" fmla="*/ 0 w 518"/>
                  <a:gd name="T19" fmla="*/ 2 h 467"/>
                  <a:gd name="T20" fmla="*/ 0 w 518"/>
                  <a:gd name="T21" fmla="*/ 2 h 467"/>
                  <a:gd name="T22" fmla="*/ 0 w 518"/>
                  <a:gd name="T23" fmla="*/ 2 h 467"/>
                  <a:gd name="T24" fmla="*/ 0 w 518"/>
                  <a:gd name="T25" fmla="*/ 2 h 467"/>
                  <a:gd name="T26" fmla="*/ 0 w 518"/>
                  <a:gd name="T27" fmla="*/ 2 h 467"/>
                  <a:gd name="T28" fmla="*/ 0 w 518"/>
                  <a:gd name="T29" fmla="*/ 2 h 467"/>
                  <a:gd name="T30" fmla="*/ 0 w 518"/>
                  <a:gd name="T31" fmla="*/ 2 h 467"/>
                  <a:gd name="T32" fmla="*/ 0 w 518"/>
                  <a:gd name="T33" fmla="*/ 2 h 467"/>
                  <a:gd name="T34" fmla="*/ 0 w 518"/>
                  <a:gd name="T35" fmla="*/ 2 h 467"/>
                  <a:gd name="T36" fmla="*/ 0 w 518"/>
                  <a:gd name="T37" fmla="*/ 1 h 467"/>
                  <a:gd name="T38" fmla="*/ 0 w 518"/>
                  <a:gd name="T39" fmla="*/ 1 h 467"/>
                  <a:gd name="T40" fmla="*/ 0 w 518"/>
                  <a:gd name="T41" fmla="*/ 1 h 467"/>
                  <a:gd name="T42" fmla="*/ 0 w 518"/>
                  <a:gd name="T43" fmla="*/ 1 h 467"/>
                  <a:gd name="T44" fmla="*/ 0 w 518"/>
                  <a:gd name="T45" fmla="*/ 1 h 467"/>
                  <a:gd name="T46" fmla="*/ 0 w 518"/>
                  <a:gd name="T47" fmla="*/ 1 h 467"/>
                  <a:gd name="T48" fmla="*/ 0 w 518"/>
                  <a:gd name="T49" fmla="*/ 1 h 467"/>
                  <a:gd name="T50" fmla="*/ 0 w 518"/>
                  <a:gd name="T51" fmla="*/ 1 h 467"/>
                  <a:gd name="T52" fmla="*/ 0 w 518"/>
                  <a:gd name="T53" fmla="*/ 1 h 467"/>
                  <a:gd name="T54" fmla="*/ 0 w 518"/>
                  <a:gd name="T55" fmla="*/ 1 h 467"/>
                  <a:gd name="T56" fmla="*/ 0 w 518"/>
                  <a:gd name="T57" fmla="*/ 1 h 467"/>
                  <a:gd name="T58" fmla="*/ 0 w 518"/>
                  <a:gd name="T59" fmla="*/ 1 h 467"/>
                  <a:gd name="T60" fmla="*/ 0 w 518"/>
                  <a:gd name="T61" fmla="*/ 1 h 467"/>
                  <a:gd name="T62" fmla="*/ 0 w 518"/>
                  <a:gd name="T63" fmla="*/ 1 h 467"/>
                  <a:gd name="T64" fmla="*/ 0 w 518"/>
                  <a:gd name="T65" fmla="*/ 1 h 467"/>
                  <a:gd name="T66" fmla="*/ 0 w 518"/>
                  <a:gd name="T67" fmla="*/ 1 h 467"/>
                  <a:gd name="T68" fmla="*/ 0 w 518"/>
                  <a:gd name="T69" fmla="*/ 1 h 467"/>
                  <a:gd name="T70" fmla="*/ 0 w 518"/>
                  <a:gd name="T71" fmla="*/ 1 h 467"/>
                  <a:gd name="T72" fmla="*/ 0 w 518"/>
                  <a:gd name="T73" fmla="*/ 1 h 467"/>
                  <a:gd name="T74" fmla="*/ 0 w 518"/>
                  <a:gd name="T75" fmla="*/ 1 h 467"/>
                  <a:gd name="T76" fmla="*/ 0 w 518"/>
                  <a:gd name="T77" fmla="*/ 1 h 467"/>
                  <a:gd name="T78" fmla="*/ 0 w 518"/>
                  <a:gd name="T79" fmla="*/ 1 h 467"/>
                  <a:gd name="T80" fmla="*/ 0 w 518"/>
                  <a:gd name="T81" fmla="*/ 1 h 467"/>
                  <a:gd name="T82" fmla="*/ 0 w 518"/>
                  <a:gd name="T83" fmla="*/ 0 h 467"/>
                  <a:gd name="T84" fmla="*/ 0 w 518"/>
                  <a:gd name="T85" fmla="*/ 0 h 467"/>
                  <a:gd name="T86" fmla="*/ 0 w 518"/>
                  <a:gd name="T87" fmla="*/ 0 h 467"/>
                  <a:gd name="T88" fmla="*/ 0 w 518"/>
                  <a:gd name="T89" fmla="*/ 0 h 467"/>
                  <a:gd name="T90" fmla="*/ 0 w 518"/>
                  <a:gd name="T91" fmla="*/ 0 h 467"/>
                  <a:gd name="T92" fmla="*/ 0 w 518"/>
                  <a:gd name="T93" fmla="*/ 0 h 467"/>
                  <a:gd name="T94" fmla="*/ 0 w 518"/>
                  <a:gd name="T95" fmla="*/ 0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12700" cap="rnd" cmpd="sng">
                <a:solidFill>
                  <a:srgbClr val="339966"/>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913" name="Line 18"/>
              <p:cNvSpPr>
                <a:spLocks noChangeShapeType="1"/>
              </p:cNvSpPr>
              <p:nvPr/>
            </p:nvSpPr>
            <p:spPr bwMode="auto">
              <a:xfrm>
                <a:off x="751" y="3290"/>
                <a:ext cx="0" cy="188"/>
              </a:xfrm>
              <a:prstGeom prst="line">
                <a:avLst/>
              </a:prstGeom>
              <a:noFill/>
              <a:ln w="12700">
                <a:solidFill>
                  <a:srgbClr val="33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5" name="Group 19"/>
            <p:cNvGrpSpPr>
              <a:grpSpLocks/>
            </p:cNvGrpSpPr>
            <p:nvPr/>
          </p:nvGrpSpPr>
          <p:grpSpPr bwMode="auto">
            <a:xfrm flipH="1">
              <a:off x="3884" y="2904"/>
              <a:ext cx="107" cy="142"/>
              <a:chOff x="653" y="3290"/>
              <a:chExt cx="98" cy="188"/>
            </a:xfrm>
          </p:grpSpPr>
          <p:sp>
            <p:nvSpPr>
              <p:cNvPr id="292910" name="Freeform 20"/>
              <p:cNvSpPr>
                <a:spLocks/>
              </p:cNvSpPr>
              <p:nvPr/>
            </p:nvSpPr>
            <p:spPr bwMode="auto">
              <a:xfrm>
                <a:off x="653" y="3302"/>
                <a:ext cx="77" cy="163"/>
              </a:xfrm>
              <a:custGeom>
                <a:avLst/>
                <a:gdLst>
                  <a:gd name="T0" fmla="*/ 0 w 518"/>
                  <a:gd name="T1" fmla="*/ 2 h 467"/>
                  <a:gd name="T2" fmla="*/ 0 w 518"/>
                  <a:gd name="T3" fmla="*/ 2 h 467"/>
                  <a:gd name="T4" fmla="*/ 0 w 518"/>
                  <a:gd name="T5" fmla="*/ 2 h 467"/>
                  <a:gd name="T6" fmla="*/ 0 w 518"/>
                  <a:gd name="T7" fmla="*/ 2 h 467"/>
                  <a:gd name="T8" fmla="*/ 0 w 518"/>
                  <a:gd name="T9" fmla="*/ 2 h 467"/>
                  <a:gd name="T10" fmla="*/ 0 w 518"/>
                  <a:gd name="T11" fmla="*/ 2 h 467"/>
                  <a:gd name="T12" fmla="*/ 0 w 518"/>
                  <a:gd name="T13" fmla="*/ 2 h 467"/>
                  <a:gd name="T14" fmla="*/ 0 w 518"/>
                  <a:gd name="T15" fmla="*/ 2 h 467"/>
                  <a:gd name="T16" fmla="*/ 0 w 518"/>
                  <a:gd name="T17" fmla="*/ 2 h 467"/>
                  <a:gd name="T18" fmla="*/ 0 w 518"/>
                  <a:gd name="T19" fmla="*/ 2 h 467"/>
                  <a:gd name="T20" fmla="*/ 0 w 518"/>
                  <a:gd name="T21" fmla="*/ 2 h 467"/>
                  <a:gd name="T22" fmla="*/ 0 w 518"/>
                  <a:gd name="T23" fmla="*/ 2 h 467"/>
                  <a:gd name="T24" fmla="*/ 0 w 518"/>
                  <a:gd name="T25" fmla="*/ 2 h 467"/>
                  <a:gd name="T26" fmla="*/ 0 w 518"/>
                  <a:gd name="T27" fmla="*/ 2 h 467"/>
                  <a:gd name="T28" fmla="*/ 0 w 518"/>
                  <a:gd name="T29" fmla="*/ 2 h 467"/>
                  <a:gd name="T30" fmla="*/ 0 w 518"/>
                  <a:gd name="T31" fmla="*/ 2 h 467"/>
                  <a:gd name="T32" fmla="*/ 0 w 518"/>
                  <a:gd name="T33" fmla="*/ 2 h 467"/>
                  <a:gd name="T34" fmla="*/ 0 w 518"/>
                  <a:gd name="T35" fmla="*/ 2 h 467"/>
                  <a:gd name="T36" fmla="*/ 0 w 518"/>
                  <a:gd name="T37" fmla="*/ 1 h 467"/>
                  <a:gd name="T38" fmla="*/ 0 w 518"/>
                  <a:gd name="T39" fmla="*/ 1 h 467"/>
                  <a:gd name="T40" fmla="*/ 0 w 518"/>
                  <a:gd name="T41" fmla="*/ 1 h 467"/>
                  <a:gd name="T42" fmla="*/ 0 w 518"/>
                  <a:gd name="T43" fmla="*/ 1 h 467"/>
                  <a:gd name="T44" fmla="*/ 0 w 518"/>
                  <a:gd name="T45" fmla="*/ 1 h 467"/>
                  <a:gd name="T46" fmla="*/ 0 w 518"/>
                  <a:gd name="T47" fmla="*/ 1 h 467"/>
                  <a:gd name="T48" fmla="*/ 0 w 518"/>
                  <a:gd name="T49" fmla="*/ 1 h 467"/>
                  <a:gd name="T50" fmla="*/ 0 w 518"/>
                  <a:gd name="T51" fmla="*/ 1 h 467"/>
                  <a:gd name="T52" fmla="*/ 0 w 518"/>
                  <a:gd name="T53" fmla="*/ 1 h 467"/>
                  <a:gd name="T54" fmla="*/ 0 w 518"/>
                  <a:gd name="T55" fmla="*/ 1 h 467"/>
                  <a:gd name="T56" fmla="*/ 0 w 518"/>
                  <a:gd name="T57" fmla="*/ 1 h 467"/>
                  <a:gd name="T58" fmla="*/ 0 w 518"/>
                  <a:gd name="T59" fmla="*/ 1 h 467"/>
                  <a:gd name="T60" fmla="*/ 0 w 518"/>
                  <a:gd name="T61" fmla="*/ 1 h 467"/>
                  <a:gd name="T62" fmla="*/ 0 w 518"/>
                  <a:gd name="T63" fmla="*/ 1 h 467"/>
                  <a:gd name="T64" fmla="*/ 0 w 518"/>
                  <a:gd name="T65" fmla="*/ 1 h 467"/>
                  <a:gd name="T66" fmla="*/ 0 w 518"/>
                  <a:gd name="T67" fmla="*/ 1 h 467"/>
                  <a:gd name="T68" fmla="*/ 0 w 518"/>
                  <a:gd name="T69" fmla="*/ 1 h 467"/>
                  <a:gd name="T70" fmla="*/ 0 w 518"/>
                  <a:gd name="T71" fmla="*/ 1 h 467"/>
                  <a:gd name="T72" fmla="*/ 0 w 518"/>
                  <a:gd name="T73" fmla="*/ 1 h 467"/>
                  <a:gd name="T74" fmla="*/ 0 w 518"/>
                  <a:gd name="T75" fmla="*/ 1 h 467"/>
                  <a:gd name="T76" fmla="*/ 0 w 518"/>
                  <a:gd name="T77" fmla="*/ 1 h 467"/>
                  <a:gd name="T78" fmla="*/ 0 w 518"/>
                  <a:gd name="T79" fmla="*/ 1 h 467"/>
                  <a:gd name="T80" fmla="*/ 0 w 518"/>
                  <a:gd name="T81" fmla="*/ 1 h 467"/>
                  <a:gd name="T82" fmla="*/ 0 w 518"/>
                  <a:gd name="T83" fmla="*/ 0 h 467"/>
                  <a:gd name="T84" fmla="*/ 0 w 518"/>
                  <a:gd name="T85" fmla="*/ 0 h 467"/>
                  <a:gd name="T86" fmla="*/ 0 w 518"/>
                  <a:gd name="T87" fmla="*/ 0 h 467"/>
                  <a:gd name="T88" fmla="*/ 0 w 518"/>
                  <a:gd name="T89" fmla="*/ 0 h 467"/>
                  <a:gd name="T90" fmla="*/ 0 w 518"/>
                  <a:gd name="T91" fmla="*/ 0 h 467"/>
                  <a:gd name="T92" fmla="*/ 0 w 518"/>
                  <a:gd name="T93" fmla="*/ 0 h 467"/>
                  <a:gd name="T94" fmla="*/ 0 w 518"/>
                  <a:gd name="T95" fmla="*/ 0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12700" cap="rnd" cmpd="sng">
                <a:solidFill>
                  <a:srgbClr val="339966"/>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911" name="Line 21"/>
              <p:cNvSpPr>
                <a:spLocks noChangeShapeType="1"/>
              </p:cNvSpPr>
              <p:nvPr/>
            </p:nvSpPr>
            <p:spPr bwMode="auto">
              <a:xfrm>
                <a:off x="751" y="3290"/>
                <a:ext cx="0" cy="188"/>
              </a:xfrm>
              <a:prstGeom prst="line">
                <a:avLst/>
              </a:prstGeom>
              <a:noFill/>
              <a:ln w="12700">
                <a:solidFill>
                  <a:srgbClr val="33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6" name="Group 22"/>
            <p:cNvGrpSpPr>
              <a:grpSpLocks/>
            </p:cNvGrpSpPr>
            <p:nvPr/>
          </p:nvGrpSpPr>
          <p:grpSpPr bwMode="auto">
            <a:xfrm flipH="1">
              <a:off x="4129" y="3000"/>
              <a:ext cx="106" cy="142"/>
              <a:chOff x="653" y="3290"/>
              <a:chExt cx="98" cy="188"/>
            </a:xfrm>
          </p:grpSpPr>
          <p:sp>
            <p:nvSpPr>
              <p:cNvPr id="292908" name="Freeform 23"/>
              <p:cNvSpPr>
                <a:spLocks/>
              </p:cNvSpPr>
              <p:nvPr/>
            </p:nvSpPr>
            <p:spPr bwMode="auto">
              <a:xfrm>
                <a:off x="653" y="3302"/>
                <a:ext cx="77" cy="163"/>
              </a:xfrm>
              <a:custGeom>
                <a:avLst/>
                <a:gdLst>
                  <a:gd name="T0" fmla="*/ 0 w 518"/>
                  <a:gd name="T1" fmla="*/ 2 h 467"/>
                  <a:gd name="T2" fmla="*/ 0 w 518"/>
                  <a:gd name="T3" fmla="*/ 2 h 467"/>
                  <a:gd name="T4" fmla="*/ 0 w 518"/>
                  <a:gd name="T5" fmla="*/ 2 h 467"/>
                  <a:gd name="T6" fmla="*/ 0 w 518"/>
                  <a:gd name="T7" fmla="*/ 2 h 467"/>
                  <a:gd name="T8" fmla="*/ 0 w 518"/>
                  <a:gd name="T9" fmla="*/ 2 h 467"/>
                  <a:gd name="T10" fmla="*/ 0 w 518"/>
                  <a:gd name="T11" fmla="*/ 2 h 467"/>
                  <a:gd name="T12" fmla="*/ 0 w 518"/>
                  <a:gd name="T13" fmla="*/ 2 h 467"/>
                  <a:gd name="T14" fmla="*/ 0 w 518"/>
                  <a:gd name="T15" fmla="*/ 2 h 467"/>
                  <a:gd name="T16" fmla="*/ 0 w 518"/>
                  <a:gd name="T17" fmla="*/ 2 h 467"/>
                  <a:gd name="T18" fmla="*/ 0 w 518"/>
                  <a:gd name="T19" fmla="*/ 2 h 467"/>
                  <a:gd name="T20" fmla="*/ 0 w 518"/>
                  <a:gd name="T21" fmla="*/ 2 h 467"/>
                  <a:gd name="T22" fmla="*/ 0 w 518"/>
                  <a:gd name="T23" fmla="*/ 2 h 467"/>
                  <a:gd name="T24" fmla="*/ 0 w 518"/>
                  <a:gd name="T25" fmla="*/ 2 h 467"/>
                  <a:gd name="T26" fmla="*/ 0 w 518"/>
                  <a:gd name="T27" fmla="*/ 2 h 467"/>
                  <a:gd name="T28" fmla="*/ 0 w 518"/>
                  <a:gd name="T29" fmla="*/ 2 h 467"/>
                  <a:gd name="T30" fmla="*/ 0 w 518"/>
                  <a:gd name="T31" fmla="*/ 2 h 467"/>
                  <a:gd name="T32" fmla="*/ 0 w 518"/>
                  <a:gd name="T33" fmla="*/ 2 h 467"/>
                  <a:gd name="T34" fmla="*/ 0 w 518"/>
                  <a:gd name="T35" fmla="*/ 2 h 467"/>
                  <a:gd name="T36" fmla="*/ 0 w 518"/>
                  <a:gd name="T37" fmla="*/ 1 h 467"/>
                  <a:gd name="T38" fmla="*/ 0 w 518"/>
                  <a:gd name="T39" fmla="*/ 1 h 467"/>
                  <a:gd name="T40" fmla="*/ 0 w 518"/>
                  <a:gd name="T41" fmla="*/ 1 h 467"/>
                  <a:gd name="T42" fmla="*/ 0 w 518"/>
                  <a:gd name="T43" fmla="*/ 1 h 467"/>
                  <a:gd name="T44" fmla="*/ 0 w 518"/>
                  <a:gd name="T45" fmla="*/ 1 h 467"/>
                  <a:gd name="T46" fmla="*/ 0 w 518"/>
                  <a:gd name="T47" fmla="*/ 1 h 467"/>
                  <a:gd name="T48" fmla="*/ 0 w 518"/>
                  <a:gd name="T49" fmla="*/ 1 h 467"/>
                  <a:gd name="T50" fmla="*/ 0 w 518"/>
                  <a:gd name="T51" fmla="*/ 1 h 467"/>
                  <a:gd name="T52" fmla="*/ 0 w 518"/>
                  <a:gd name="T53" fmla="*/ 1 h 467"/>
                  <a:gd name="T54" fmla="*/ 0 w 518"/>
                  <a:gd name="T55" fmla="*/ 1 h 467"/>
                  <a:gd name="T56" fmla="*/ 0 w 518"/>
                  <a:gd name="T57" fmla="*/ 1 h 467"/>
                  <a:gd name="T58" fmla="*/ 0 w 518"/>
                  <a:gd name="T59" fmla="*/ 1 h 467"/>
                  <a:gd name="T60" fmla="*/ 0 w 518"/>
                  <a:gd name="T61" fmla="*/ 1 h 467"/>
                  <a:gd name="T62" fmla="*/ 0 w 518"/>
                  <a:gd name="T63" fmla="*/ 1 h 467"/>
                  <a:gd name="T64" fmla="*/ 0 w 518"/>
                  <a:gd name="T65" fmla="*/ 1 h 467"/>
                  <a:gd name="T66" fmla="*/ 0 w 518"/>
                  <a:gd name="T67" fmla="*/ 1 h 467"/>
                  <a:gd name="T68" fmla="*/ 0 w 518"/>
                  <a:gd name="T69" fmla="*/ 1 h 467"/>
                  <a:gd name="T70" fmla="*/ 0 w 518"/>
                  <a:gd name="T71" fmla="*/ 1 h 467"/>
                  <a:gd name="T72" fmla="*/ 0 w 518"/>
                  <a:gd name="T73" fmla="*/ 1 h 467"/>
                  <a:gd name="T74" fmla="*/ 0 w 518"/>
                  <a:gd name="T75" fmla="*/ 1 h 467"/>
                  <a:gd name="T76" fmla="*/ 0 w 518"/>
                  <a:gd name="T77" fmla="*/ 1 h 467"/>
                  <a:gd name="T78" fmla="*/ 0 w 518"/>
                  <a:gd name="T79" fmla="*/ 1 h 467"/>
                  <a:gd name="T80" fmla="*/ 0 w 518"/>
                  <a:gd name="T81" fmla="*/ 1 h 467"/>
                  <a:gd name="T82" fmla="*/ 0 w 518"/>
                  <a:gd name="T83" fmla="*/ 0 h 467"/>
                  <a:gd name="T84" fmla="*/ 0 w 518"/>
                  <a:gd name="T85" fmla="*/ 0 h 467"/>
                  <a:gd name="T86" fmla="*/ 0 w 518"/>
                  <a:gd name="T87" fmla="*/ 0 h 467"/>
                  <a:gd name="T88" fmla="*/ 0 w 518"/>
                  <a:gd name="T89" fmla="*/ 0 h 467"/>
                  <a:gd name="T90" fmla="*/ 0 w 518"/>
                  <a:gd name="T91" fmla="*/ 0 h 467"/>
                  <a:gd name="T92" fmla="*/ 0 w 518"/>
                  <a:gd name="T93" fmla="*/ 0 h 467"/>
                  <a:gd name="T94" fmla="*/ 0 w 518"/>
                  <a:gd name="T95" fmla="*/ 0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12700" cap="rnd" cmpd="sng">
                <a:solidFill>
                  <a:srgbClr val="339966"/>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909" name="Line 24"/>
              <p:cNvSpPr>
                <a:spLocks noChangeShapeType="1"/>
              </p:cNvSpPr>
              <p:nvPr/>
            </p:nvSpPr>
            <p:spPr bwMode="auto">
              <a:xfrm>
                <a:off x="751" y="3290"/>
                <a:ext cx="0" cy="188"/>
              </a:xfrm>
              <a:prstGeom prst="line">
                <a:avLst/>
              </a:prstGeom>
              <a:noFill/>
              <a:ln w="12700">
                <a:solidFill>
                  <a:srgbClr val="33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7" name="Group 25"/>
            <p:cNvGrpSpPr>
              <a:grpSpLocks/>
            </p:cNvGrpSpPr>
            <p:nvPr/>
          </p:nvGrpSpPr>
          <p:grpSpPr bwMode="auto">
            <a:xfrm flipH="1">
              <a:off x="4370" y="3189"/>
              <a:ext cx="105" cy="142"/>
              <a:chOff x="653" y="3290"/>
              <a:chExt cx="98" cy="188"/>
            </a:xfrm>
          </p:grpSpPr>
          <p:sp>
            <p:nvSpPr>
              <p:cNvPr id="292906" name="Freeform 26"/>
              <p:cNvSpPr>
                <a:spLocks/>
              </p:cNvSpPr>
              <p:nvPr/>
            </p:nvSpPr>
            <p:spPr bwMode="auto">
              <a:xfrm>
                <a:off x="653" y="3302"/>
                <a:ext cx="77" cy="163"/>
              </a:xfrm>
              <a:custGeom>
                <a:avLst/>
                <a:gdLst>
                  <a:gd name="T0" fmla="*/ 0 w 518"/>
                  <a:gd name="T1" fmla="*/ 2 h 467"/>
                  <a:gd name="T2" fmla="*/ 0 w 518"/>
                  <a:gd name="T3" fmla="*/ 2 h 467"/>
                  <a:gd name="T4" fmla="*/ 0 w 518"/>
                  <a:gd name="T5" fmla="*/ 2 h 467"/>
                  <a:gd name="T6" fmla="*/ 0 w 518"/>
                  <a:gd name="T7" fmla="*/ 2 h 467"/>
                  <a:gd name="T8" fmla="*/ 0 w 518"/>
                  <a:gd name="T9" fmla="*/ 2 h 467"/>
                  <a:gd name="T10" fmla="*/ 0 w 518"/>
                  <a:gd name="T11" fmla="*/ 2 h 467"/>
                  <a:gd name="T12" fmla="*/ 0 w 518"/>
                  <a:gd name="T13" fmla="*/ 2 h 467"/>
                  <a:gd name="T14" fmla="*/ 0 w 518"/>
                  <a:gd name="T15" fmla="*/ 2 h 467"/>
                  <a:gd name="T16" fmla="*/ 0 w 518"/>
                  <a:gd name="T17" fmla="*/ 2 h 467"/>
                  <a:gd name="T18" fmla="*/ 0 w 518"/>
                  <a:gd name="T19" fmla="*/ 2 h 467"/>
                  <a:gd name="T20" fmla="*/ 0 w 518"/>
                  <a:gd name="T21" fmla="*/ 2 h 467"/>
                  <a:gd name="T22" fmla="*/ 0 w 518"/>
                  <a:gd name="T23" fmla="*/ 2 h 467"/>
                  <a:gd name="T24" fmla="*/ 0 w 518"/>
                  <a:gd name="T25" fmla="*/ 2 h 467"/>
                  <a:gd name="T26" fmla="*/ 0 w 518"/>
                  <a:gd name="T27" fmla="*/ 2 h 467"/>
                  <a:gd name="T28" fmla="*/ 0 w 518"/>
                  <a:gd name="T29" fmla="*/ 2 h 467"/>
                  <a:gd name="T30" fmla="*/ 0 w 518"/>
                  <a:gd name="T31" fmla="*/ 2 h 467"/>
                  <a:gd name="T32" fmla="*/ 0 w 518"/>
                  <a:gd name="T33" fmla="*/ 2 h 467"/>
                  <a:gd name="T34" fmla="*/ 0 w 518"/>
                  <a:gd name="T35" fmla="*/ 2 h 467"/>
                  <a:gd name="T36" fmla="*/ 0 w 518"/>
                  <a:gd name="T37" fmla="*/ 1 h 467"/>
                  <a:gd name="T38" fmla="*/ 0 w 518"/>
                  <a:gd name="T39" fmla="*/ 1 h 467"/>
                  <a:gd name="T40" fmla="*/ 0 w 518"/>
                  <a:gd name="T41" fmla="*/ 1 h 467"/>
                  <a:gd name="T42" fmla="*/ 0 w 518"/>
                  <a:gd name="T43" fmla="*/ 1 h 467"/>
                  <a:gd name="T44" fmla="*/ 0 w 518"/>
                  <a:gd name="T45" fmla="*/ 1 h 467"/>
                  <a:gd name="T46" fmla="*/ 0 w 518"/>
                  <a:gd name="T47" fmla="*/ 1 h 467"/>
                  <a:gd name="T48" fmla="*/ 0 w 518"/>
                  <a:gd name="T49" fmla="*/ 1 h 467"/>
                  <a:gd name="T50" fmla="*/ 0 w 518"/>
                  <a:gd name="T51" fmla="*/ 1 h 467"/>
                  <a:gd name="T52" fmla="*/ 0 w 518"/>
                  <a:gd name="T53" fmla="*/ 1 h 467"/>
                  <a:gd name="T54" fmla="*/ 0 w 518"/>
                  <a:gd name="T55" fmla="*/ 1 h 467"/>
                  <a:gd name="T56" fmla="*/ 0 w 518"/>
                  <a:gd name="T57" fmla="*/ 1 h 467"/>
                  <a:gd name="T58" fmla="*/ 0 w 518"/>
                  <a:gd name="T59" fmla="*/ 1 h 467"/>
                  <a:gd name="T60" fmla="*/ 0 w 518"/>
                  <a:gd name="T61" fmla="*/ 1 h 467"/>
                  <a:gd name="T62" fmla="*/ 0 w 518"/>
                  <a:gd name="T63" fmla="*/ 1 h 467"/>
                  <a:gd name="T64" fmla="*/ 0 w 518"/>
                  <a:gd name="T65" fmla="*/ 1 h 467"/>
                  <a:gd name="T66" fmla="*/ 0 w 518"/>
                  <a:gd name="T67" fmla="*/ 1 h 467"/>
                  <a:gd name="T68" fmla="*/ 0 w 518"/>
                  <a:gd name="T69" fmla="*/ 1 h 467"/>
                  <a:gd name="T70" fmla="*/ 0 w 518"/>
                  <a:gd name="T71" fmla="*/ 1 h 467"/>
                  <a:gd name="T72" fmla="*/ 0 w 518"/>
                  <a:gd name="T73" fmla="*/ 1 h 467"/>
                  <a:gd name="T74" fmla="*/ 0 w 518"/>
                  <a:gd name="T75" fmla="*/ 1 h 467"/>
                  <a:gd name="T76" fmla="*/ 0 w 518"/>
                  <a:gd name="T77" fmla="*/ 1 h 467"/>
                  <a:gd name="T78" fmla="*/ 0 w 518"/>
                  <a:gd name="T79" fmla="*/ 1 h 467"/>
                  <a:gd name="T80" fmla="*/ 0 w 518"/>
                  <a:gd name="T81" fmla="*/ 1 h 467"/>
                  <a:gd name="T82" fmla="*/ 0 w 518"/>
                  <a:gd name="T83" fmla="*/ 0 h 467"/>
                  <a:gd name="T84" fmla="*/ 0 w 518"/>
                  <a:gd name="T85" fmla="*/ 0 h 467"/>
                  <a:gd name="T86" fmla="*/ 0 w 518"/>
                  <a:gd name="T87" fmla="*/ 0 h 467"/>
                  <a:gd name="T88" fmla="*/ 0 w 518"/>
                  <a:gd name="T89" fmla="*/ 0 h 467"/>
                  <a:gd name="T90" fmla="*/ 0 w 518"/>
                  <a:gd name="T91" fmla="*/ 0 h 467"/>
                  <a:gd name="T92" fmla="*/ 0 w 518"/>
                  <a:gd name="T93" fmla="*/ 0 h 467"/>
                  <a:gd name="T94" fmla="*/ 0 w 518"/>
                  <a:gd name="T95" fmla="*/ 0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12700" cap="rnd" cmpd="sng">
                <a:solidFill>
                  <a:srgbClr val="339966"/>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907" name="Line 27"/>
              <p:cNvSpPr>
                <a:spLocks noChangeShapeType="1"/>
              </p:cNvSpPr>
              <p:nvPr/>
            </p:nvSpPr>
            <p:spPr bwMode="auto">
              <a:xfrm>
                <a:off x="751" y="3290"/>
                <a:ext cx="0" cy="188"/>
              </a:xfrm>
              <a:prstGeom prst="line">
                <a:avLst/>
              </a:prstGeom>
              <a:noFill/>
              <a:ln w="12700">
                <a:solidFill>
                  <a:srgbClr val="33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8" name="Group 28"/>
            <p:cNvGrpSpPr>
              <a:grpSpLocks/>
            </p:cNvGrpSpPr>
            <p:nvPr/>
          </p:nvGrpSpPr>
          <p:grpSpPr bwMode="auto">
            <a:xfrm flipH="1">
              <a:off x="4571" y="3327"/>
              <a:ext cx="105" cy="142"/>
              <a:chOff x="653" y="3290"/>
              <a:chExt cx="98" cy="188"/>
            </a:xfrm>
          </p:grpSpPr>
          <p:sp>
            <p:nvSpPr>
              <p:cNvPr id="292904" name="Freeform 29"/>
              <p:cNvSpPr>
                <a:spLocks/>
              </p:cNvSpPr>
              <p:nvPr/>
            </p:nvSpPr>
            <p:spPr bwMode="auto">
              <a:xfrm>
                <a:off x="653" y="3302"/>
                <a:ext cx="77" cy="163"/>
              </a:xfrm>
              <a:custGeom>
                <a:avLst/>
                <a:gdLst>
                  <a:gd name="T0" fmla="*/ 0 w 518"/>
                  <a:gd name="T1" fmla="*/ 2 h 467"/>
                  <a:gd name="T2" fmla="*/ 0 w 518"/>
                  <a:gd name="T3" fmla="*/ 2 h 467"/>
                  <a:gd name="T4" fmla="*/ 0 w 518"/>
                  <a:gd name="T5" fmla="*/ 2 h 467"/>
                  <a:gd name="T6" fmla="*/ 0 w 518"/>
                  <a:gd name="T7" fmla="*/ 2 h 467"/>
                  <a:gd name="T8" fmla="*/ 0 w 518"/>
                  <a:gd name="T9" fmla="*/ 2 h 467"/>
                  <a:gd name="T10" fmla="*/ 0 w 518"/>
                  <a:gd name="T11" fmla="*/ 2 h 467"/>
                  <a:gd name="T12" fmla="*/ 0 w 518"/>
                  <a:gd name="T13" fmla="*/ 2 h 467"/>
                  <a:gd name="T14" fmla="*/ 0 w 518"/>
                  <a:gd name="T15" fmla="*/ 2 h 467"/>
                  <a:gd name="T16" fmla="*/ 0 w 518"/>
                  <a:gd name="T17" fmla="*/ 2 h 467"/>
                  <a:gd name="T18" fmla="*/ 0 w 518"/>
                  <a:gd name="T19" fmla="*/ 2 h 467"/>
                  <a:gd name="T20" fmla="*/ 0 w 518"/>
                  <a:gd name="T21" fmla="*/ 2 h 467"/>
                  <a:gd name="T22" fmla="*/ 0 w 518"/>
                  <a:gd name="T23" fmla="*/ 2 h 467"/>
                  <a:gd name="T24" fmla="*/ 0 w 518"/>
                  <a:gd name="T25" fmla="*/ 2 h 467"/>
                  <a:gd name="T26" fmla="*/ 0 w 518"/>
                  <a:gd name="T27" fmla="*/ 2 h 467"/>
                  <a:gd name="T28" fmla="*/ 0 w 518"/>
                  <a:gd name="T29" fmla="*/ 2 h 467"/>
                  <a:gd name="T30" fmla="*/ 0 w 518"/>
                  <a:gd name="T31" fmla="*/ 2 h 467"/>
                  <a:gd name="T32" fmla="*/ 0 w 518"/>
                  <a:gd name="T33" fmla="*/ 2 h 467"/>
                  <a:gd name="T34" fmla="*/ 0 w 518"/>
                  <a:gd name="T35" fmla="*/ 2 h 467"/>
                  <a:gd name="T36" fmla="*/ 0 w 518"/>
                  <a:gd name="T37" fmla="*/ 1 h 467"/>
                  <a:gd name="T38" fmla="*/ 0 w 518"/>
                  <a:gd name="T39" fmla="*/ 1 h 467"/>
                  <a:gd name="T40" fmla="*/ 0 w 518"/>
                  <a:gd name="T41" fmla="*/ 1 h 467"/>
                  <a:gd name="T42" fmla="*/ 0 w 518"/>
                  <a:gd name="T43" fmla="*/ 1 h 467"/>
                  <a:gd name="T44" fmla="*/ 0 w 518"/>
                  <a:gd name="T45" fmla="*/ 1 h 467"/>
                  <a:gd name="T46" fmla="*/ 0 w 518"/>
                  <a:gd name="T47" fmla="*/ 1 h 467"/>
                  <a:gd name="T48" fmla="*/ 0 w 518"/>
                  <a:gd name="T49" fmla="*/ 1 h 467"/>
                  <a:gd name="T50" fmla="*/ 0 w 518"/>
                  <a:gd name="T51" fmla="*/ 1 h 467"/>
                  <a:gd name="T52" fmla="*/ 0 w 518"/>
                  <a:gd name="T53" fmla="*/ 1 h 467"/>
                  <a:gd name="T54" fmla="*/ 0 w 518"/>
                  <a:gd name="T55" fmla="*/ 1 h 467"/>
                  <a:gd name="T56" fmla="*/ 0 w 518"/>
                  <a:gd name="T57" fmla="*/ 1 h 467"/>
                  <a:gd name="T58" fmla="*/ 0 w 518"/>
                  <a:gd name="T59" fmla="*/ 1 h 467"/>
                  <a:gd name="T60" fmla="*/ 0 w 518"/>
                  <a:gd name="T61" fmla="*/ 1 h 467"/>
                  <a:gd name="T62" fmla="*/ 0 w 518"/>
                  <a:gd name="T63" fmla="*/ 1 h 467"/>
                  <a:gd name="T64" fmla="*/ 0 w 518"/>
                  <a:gd name="T65" fmla="*/ 1 h 467"/>
                  <a:gd name="T66" fmla="*/ 0 w 518"/>
                  <a:gd name="T67" fmla="*/ 1 h 467"/>
                  <a:gd name="T68" fmla="*/ 0 w 518"/>
                  <a:gd name="T69" fmla="*/ 1 h 467"/>
                  <a:gd name="T70" fmla="*/ 0 w 518"/>
                  <a:gd name="T71" fmla="*/ 1 h 467"/>
                  <a:gd name="T72" fmla="*/ 0 w 518"/>
                  <a:gd name="T73" fmla="*/ 1 h 467"/>
                  <a:gd name="T74" fmla="*/ 0 w 518"/>
                  <a:gd name="T75" fmla="*/ 1 h 467"/>
                  <a:gd name="T76" fmla="*/ 0 w 518"/>
                  <a:gd name="T77" fmla="*/ 1 h 467"/>
                  <a:gd name="T78" fmla="*/ 0 w 518"/>
                  <a:gd name="T79" fmla="*/ 1 h 467"/>
                  <a:gd name="T80" fmla="*/ 0 w 518"/>
                  <a:gd name="T81" fmla="*/ 1 h 467"/>
                  <a:gd name="T82" fmla="*/ 0 w 518"/>
                  <a:gd name="T83" fmla="*/ 0 h 467"/>
                  <a:gd name="T84" fmla="*/ 0 w 518"/>
                  <a:gd name="T85" fmla="*/ 0 h 467"/>
                  <a:gd name="T86" fmla="*/ 0 w 518"/>
                  <a:gd name="T87" fmla="*/ 0 h 467"/>
                  <a:gd name="T88" fmla="*/ 0 w 518"/>
                  <a:gd name="T89" fmla="*/ 0 h 467"/>
                  <a:gd name="T90" fmla="*/ 0 w 518"/>
                  <a:gd name="T91" fmla="*/ 0 h 467"/>
                  <a:gd name="T92" fmla="*/ 0 w 518"/>
                  <a:gd name="T93" fmla="*/ 0 h 467"/>
                  <a:gd name="T94" fmla="*/ 0 w 518"/>
                  <a:gd name="T95" fmla="*/ 0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12700" cap="rnd" cmpd="sng">
                <a:solidFill>
                  <a:srgbClr val="339966"/>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905" name="Line 30"/>
              <p:cNvSpPr>
                <a:spLocks noChangeShapeType="1"/>
              </p:cNvSpPr>
              <p:nvPr/>
            </p:nvSpPr>
            <p:spPr bwMode="auto">
              <a:xfrm>
                <a:off x="751" y="3290"/>
                <a:ext cx="0" cy="188"/>
              </a:xfrm>
              <a:prstGeom prst="line">
                <a:avLst/>
              </a:prstGeom>
              <a:noFill/>
              <a:ln w="12700">
                <a:solidFill>
                  <a:srgbClr val="33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9" name="Group 31"/>
            <p:cNvGrpSpPr>
              <a:grpSpLocks/>
            </p:cNvGrpSpPr>
            <p:nvPr/>
          </p:nvGrpSpPr>
          <p:grpSpPr bwMode="auto">
            <a:xfrm flipH="1">
              <a:off x="4876" y="3393"/>
              <a:ext cx="106" cy="142"/>
              <a:chOff x="653" y="3290"/>
              <a:chExt cx="98" cy="188"/>
            </a:xfrm>
          </p:grpSpPr>
          <p:sp>
            <p:nvSpPr>
              <p:cNvPr id="292902" name="Freeform 32"/>
              <p:cNvSpPr>
                <a:spLocks/>
              </p:cNvSpPr>
              <p:nvPr/>
            </p:nvSpPr>
            <p:spPr bwMode="auto">
              <a:xfrm>
                <a:off x="653" y="3302"/>
                <a:ext cx="77" cy="163"/>
              </a:xfrm>
              <a:custGeom>
                <a:avLst/>
                <a:gdLst>
                  <a:gd name="T0" fmla="*/ 0 w 518"/>
                  <a:gd name="T1" fmla="*/ 2 h 467"/>
                  <a:gd name="T2" fmla="*/ 0 w 518"/>
                  <a:gd name="T3" fmla="*/ 2 h 467"/>
                  <a:gd name="T4" fmla="*/ 0 w 518"/>
                  <a:gd name="T5" fmla="*/ 2 h 467"/>
                  <a:gd name="T6" fmla="*/ 0 w 518"/>
                  <a:gd name="T7" fmla="*/ 2 h 467"/>
                  <a:gd name="T8" fmla="*/ 0 w 518"/>
                  <a:gd name="T9" fmla="*/ 2 h 467"/>
                  <a:gd name="T10" fmla="*/ 0 w 518"/>
                  <a:gd name="T11" fmla="*/ 2 h 467"/>
                  <a:gd name="T12" fmla="*/ 0 w 518"/>
                  <a:gd name="T13" fmla="*/ 2 h 467"/>
                  <a:gd name="T14" fmla="*/ 0 w 518"/>
                  <a:gd name="T15" fmla="*/ 2 h 467"/>
                  <a:gd name="T16" fmla="*/ 0 w 518"/>
                  <a:gd name="T17" fmla="*/ 2 h 467"/>
                  <a:gd name="T18" fmla="*/ 0 w 518"/>
                  <a:gd name="T19" fmla="*/ 2 h 467"/>
                  <a:gd name="T20" fmla="*/ 0 w 518"/>
                  <a:gd name="T21" fmla="*/ 2 h 467"/>
                  <a:gd name="T22" fmla="*/ 0 w 518"/>
                  <a:gd name="T23" fmla="*/ 2 h 467"/>
                  <a:gd name="T24" fmla="*/ 0 w 518"/>
                  <a:gd name="T25" fmla="*/ 2 h 467"/>
                  <a:gd name="T26" fmla="*/ 0 w 518"/>
                  <a:gd name="T27" fmla="*/ 2 h 467"/>
                  <a:gd name="T28" fmla="*/ 0 w 518"/>
                  <a:gd name="T29" fmla="*/ 2 h 467"/>
                  <a:gd name="T30" fmla="*/ 0 w 518"/>
                  <a:gd name="T31" fmla="*/ 2 h 467"/>
                  <a:gd name="T32" fmla="*/ 0 w 518"/>
                  <a:gd name="T33" fmla="*/ 2 h 467"/>
                  <a:gd name="T34" fmla="*/ 0 w 518"/>
                  <a:gd name="T35" fmla="*/ 2 h 467"/>
                  <a:gd name="T36" fmla="*/ 0 w 518"/>
                  <a:gd name="T37" fmla="*/ 1 h 467"/>
                  <a:gd name="T38" fmla="*/ 0 w 518"/>
                  <a:gd name="T39" fmla="*/ 1 h 467"/>
                  <a:gd name="T40" fmla="*/ 0 w 518"/>
                  <a:gd name="T41" fmla="*/ 1 h 467"/>
                  <a:gd name="T42" fmla="*/ 0 w 518"/>
                  <a:gd name="T43" fmla="*/ 1 h 467"/>
                  <a:gd name="T44" fmla="*/ 0 w 518"/>
                  <a:gd name="T45" fmla="*/ 1 h 467"/>
                  <a:gd name="T46" fmla="*/ 0 w 518"/>
                  <a:gd name="T47" fmla="*/ 1 h 467"/>
                  <a:gd name="T48" fmla="*/ 0 w 518"/>
                  <a:gd name="T49" fmla="*/ 1 h 467"/>
                  <a:gd name="T50" fmla="*/ 0 w 518"/>
                  <a:gd name="T51" fmla="*/ 1 h 467"/>
                  <a:gd name="T52" fmla="*/ 0 w 518"/>
                  <a:gd name="T53" fmla="*/ 1 h 467"/>
                  <a:gd name="T54" fmla="*/ 0 w 518"/>
                  <a:gd name="T55" fmla="*/ 1 h 467"/>
                  <a:gd name="T56" fmla="*/ 0 w 518"/>
                  <a:gd name="T57" fmla="*/ 1 h 467"/>
                  <a:gd name="T58" fmla="*/ 0 w 518"/>
                  <a:gd name="T59" fmla="*/ 1 h 467"/>
                  <a:gd name="T60" fmla="*/ 0 w 518"/>
                  <a:gd name="T61" fmla="*/ 1 h 467"/>
                  <a:gd name="T62" fmla="*/ 0 w 518"/>
                  <a:gd name="T63" fmla="*/ 1 h 467"/>
                  <a:gd name="T64" fmla="*/ 0 w 518"/>
                  <a:gd name="T65" fmla="*/ 1 h 467"/>
                  <a:gd name="T66" fmla="*/ 0 w 518"/>
                  <a:gd name="T67" fmla="*/ 1 h 467"/>
                  <a:gd name="T68" fmla="*/ 0 w 518"/>
                  <a:gd name="T69" fmla="*/ 1 h 467"/>
                  <a:gd name="T70" fmla="*/ 0 w 518"/>
                  <a:gd name="T71" fmla="*/ 1 h 467"/>
                  <a:gd name="T72" fmla="*/ 0 w 518"/>
                  <a:gd name="T73" fmla="*/ 1 h 467"/>
                  <a:gd name="T74" fmla="*/ 0 w 518"/>
                  <a:gd name="T75" fmla="*/ 1 h 467"/>
                  <a:gd name="T76" fmla="*/ 0 w 518"/>
                  <a:gd name="T77" fmla="*/ 1 h 467"/>
                  <a:gd name="T78" fmla="*/ 0 w 518"/>
                  <a:gd name="T79" fmla="*/ 1 h 467"/>
                  <a:gd name="T80" fmla="*/ 0 w 518"/>
                  <a:gd name="T81" fmla="*/ 1 h 467"/>
                  <a:gd name="T82" fmla="*/ 0 w 518"/>
                  <a:gd name="T83" fmla="*/ 0 h 467"/>
                  <a:gd name="T84" fmla="*/ 0 w 518"/>
                  <a:gd name="T85" fmla="*/ 0 h 467"/>
                  <a:gd name="T86" fmla="*/ 0 w 518"/>
                  <a:gd name="T87" fmla="*/ 0 h 467"/>
                  <a:gd name="T88" fmla="*/ 0 w 518"/>
                  <a:gd name="T89" fmla="*/ 0 h 467"/>
                  <a:gd name="T90" fmla="*/ 0 w 518"/>
                  <a:gd name="T91" fmla="*/ 0 h 467"/>
                  <a:gd name="T92" fmla="*/ 0 w 518"/>
                  <a:gd name="T93" fmla="*/ 0 h 467"/>
                  <a:gd name="T94" fmla="*/ 0 w 518"/>
                  <a:gd name="T95" fmla="*/ 0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12700" cap="rnd" cmpd="sng">
                <a:solidFill>
                  <a:srgbClr val="339966"/>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903" name="Line 33"/>
              <p:cNvSpPr>
                <a:spLocks noChangeShapeType="1"/>
              </p:cNvSpPr>
              <p:nvPr/>
            </p:nvSpPr>
            <p:spPr bwMode="auto">
              <a:xfrm>
                <a:off x="751" y="3290"/>
                <a:ext cx="0" cy="188"/>
              </a:xfrm>
              <a:prstGeom prst="line">
                <a:avLst/>
              </a:prstGeom>
              <a:noFill/>
              <a:ln w="12700">
                <a:solidFill>
                  <a:srgbClr val="33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10" name="Group 34"/>
            <p:cNvGrpSpPr>
              <a:grpSpLocks/>
            </p:cNvGrpSpPr>
            <p:nvPr/>
          </p:nvGrpSpPr>
          <p:grpSpPr bwMode="auto">
            <a:xfrm flipH="1">
              <a:off x="5125" y="3189"/>
              <a:ext cx="105" cy="142"/>
              <a:chOff x="653" y="3290"/>
              <a:chExt cx="98" cy="188"/>
            </a:xfrm>
          </p:grpSpPr>
          <p:sp>
            <p:nvSpPr>
              <p:cNvPr id="292900" name="Freeform 35"/>
              <p:cNvSpPr>
                <a:spLocks/>
              </p:cNvSpPr>
              <p:nvPr/>
            </p:nvSpPr>
            <p:spPr bwMode="auto">
              <a:xfrm>
                <a:off x="653" y="3302"/>
                <a:ext cx="77" cy="163"/>
              </a:xfrm>
              <a:custGeom>
                <a:avLst/>
                <a:gdLst>
                  <a:gd name="T0" fmla="*/ 0 w 518"/>
                  <a:gd name="T1" fmla="*/ 2 h 467"/>
                  <a:gd name="T2" fmla="*/ 0 w 518"/>
                  <a:gd name="T3" fmla="*/ 2 h 467"/>
                  <a:gd name="T4" fmla="*/ 0 w 518"/>
                  <a:gd name="T5" fmla="*/ 2 h 467"/>
                  <a:gd name="T6" fmla="*/ 0 w 518"/>
                  <a:gd name="T7" fmla="*/ 2 h 467"/>
                  <a:gd name="T8" fmla="*/ 0 w 518"/>
                  <a:gd name="T9" fmla="*/ 2 h 467"/>
                  <a:gd name="T10" fmla="*/ 0 w 518"/>
                  <a:gd name="T11" fmla="*/ 2 h 467"/>
                  <a:gd name="T12" fmla="*/ 0 w 518"/>
                  <a:gd name="T13" fmla="*/ 2 h 467"/>
                  <a:gd name="T14" fmla="*/ 0 w 518"/>
                  <a:gd name="T15" fmla="*/ 2 h 467"/>
                  <a:gd name="T16" fmla="*/ 0 w 518"/>
                  <a:gd name="T17" fmla="*/ 2 h 467"/>
                  <a:gd name="T18" fmla="*/ 0 w 518"/>
                  <a:gd name="T19" fmla="*/ 2 h 467"/>
                  <a:gd name="T20" fmla="*/ 0 w 518"/>
                  <a:gd name="T21" fmla="*/ 2 h 467"/>
                  <a:gd name="T22" fmla="*/ 0 w 518"/>
                  <a:gd name="T23" fmla="*/ 2 h 467"/>
                  <a:gd name="T24" fmla="*/ 0 w 518"/>
                  <a:gd name="T25" fmla="*/ 2 h 467"/>
                  <a:gd name="T26" fmla="*/ 0 w 518"/>
                  <a:gd name="T27" fmla="*/ 2 h 467"/>
                  <a:gd name="T28" fmla="*/ 0 w 518"/>
                  <a:gd name="T29" fmla="*/ 2 h 467"/>
                  <a:gd name="T30" fmla="*/ 0 w 518"/>
                  <a:gd name="T31" fmla="*/ 2 h 467"/>
                  <a:gd name="T32" fmla="*/ 0 w 518"/>
                  <a:gd name="T33" fmla="*/ 2 h 467"/>
                  <a:gd name="T34" fmla="*/ 0 w 518"/>
                  <a:gd name="T35" fmla="*/ 2 h 467"/>
                  <a:gd name="T36" fmla="*/ 0 w 518"/>
                  <a:gd name="T37" fmla="*/ 1 h 467"/>
                  <a:gd name="T38" fmla="*/ 0 w 518"/>
                  <a:gd name="T39" fmla="*/ 1 h 467"/>
                  <a:gd name="T40" fmla="*/ 0 w 518"/>
                  <a:gd name="T41" fmla="*/ 1 h 467"/>
                  <a:gd name="T42" fmla="*/ 0 w 518"/>
                  <a:gd name="T43" fmla="*/ 1 h 467"/>
                  <a:gd name="T44" fmla="*/ 0 w 518"/>
                  <a:gd name="T45" fmla="*/ 1 h 467"/>
                  <a:gd name="T46" fmla="*/ 0 w 518"/>
                  <a:gd name="T47" fmla="*/ 1 h 467"/>
                  <a:gd name="T48" fmla="*/ 0 w 518"/>
                  <a:gd name="T49" fmla="*/ 1 h 467"/>
                  <a:gd name="T50" fmla="*/ 0 w 518"/>
                  <a:gd name="T51" fmla="*/ 1 h 467"/>
                  <a:gd name="T52" fmla="*/ 0 w 518"/>
                  <a:gd name="T53" fmla="*/ 1 h 467"/>
                  <a:gd name="T54" fmla="*/ 0 w 518"/>
                  <a:gd name="T55" fmla="*/ 1 h 467"/>
                  <a:gd name="T56" fmla="*/ 0 w 518"/>
                  <a:gd name="T57" fmla="*/ 1 h 467"/>
                  <a:gd name="T58" fmla="*/ 0 w 518"/>
                  <a:gd name="T59" fmla="*/ 1 h 467"/>
                  <a:gd name="T60" fmla="*/ 0 w 518"/>
                  <a:gd name="T61" fmla="*/ 1 h 467"/>
                  <a:gd name="T62" fmla="*/ 0 w 518"/>
                  <a:gd name="T63" fmla="*/ 1 h 467"/>
                  <a:gd name="T64" fmla="*/ 0 w 518"/>
                  <a:gd name="T65" fmla="*/ 1 h 467"/>
                  <a:gd name="T66" fmla="*/ 0 w 518"/>
                  <a:gd name="T67" fmla="*/ 1 h 467"/>
                  <a:gd name="T68" fmla="*/ 0 w 518"/>
                  <a:gd name="T69" fmla="*/ 1 h 467"/>
                  <a:gd name="T70" fmla="*/ 0 w 518"/>
                  <a:gd name="T71" fmla="*/ 1 h 467"/>
                  <a:gd name="T72" fmla="*/ 0 w 518"/>
                  <a:gd name="T73" fmla="*/ 1 h 467"/>
                  <a:gd name="T74" fmla="*/ 0 w 518"/>
                  <a:gd name="T75" fmla="*/ 1 h 467"/>
                  <a:gd name="T76" fmla="*/ 0 w 518"/>
                  <a:gd name="T77" fmla="*/ 1 h 467"/>
                  <a:gd name="T78" fmla="*/ 0 w 518"/>
                  <a:gd name="T79" fmla="*/ 1 h 467"/>
                  <a:gd name="T80" fmla="*/ 0 w 518"/>
                  <a:gd name="T81" fmla="*/ 1 h 467"/>
                  <a:gd name="T82" fmla="*/ 0 w 518"/>
                  <a:gd name="T83" fmla="*/ 0 h 467"/>
                  <a:gd name="T84" fmla="*/ 0 w 518"/>
                  <a:gd name="T85" fmla="*/ 0 h 467"/>
                  <a:gd name="T86" fmla="*/ 0 w 518"/>
                  <a:gd name="T87" fmla="*/ 0 h 467"/>
                  <a:gd name="T88" fmla="*/ 0 w 518"/>
                  <a:gd name="T89" fmla="*/ 0 h 467"/>
                  <a:gd name="T90" fmla="*/ 0 w 518"/>
                  <a:gd name="T91" fmla="*/ 0 h 467"/>
                  <a:gd name="T92" fmla="*/ 0 w 518"/>
                  <a:gd name="T93" fmla="*/ 0 h 467"/>
                  <a:gd name="T94" fmla="*/ 0 w 518"/>
                  <a:gd name="T95" fmla="*/ 0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12700" cap="rnd" cmpd="sng">
                <a:solidFill>
                  <a:srgbClr val="339966"/>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901" name="Line 36"/>
              <p:cNvSpPr>
                <a:spLocks noChangeShapeType="1"/>
              </p:cNvSpPr>
              <p:nvPr/>
            </p:nvSpPr>
            <p:spPr bwMode="auto">
              <a:xfrm>
                <a:off x="751" y="3290"/>
                <a:ext cx="0" cy="188"/>
              </a:xfrm>
              <a:prstGeom prst="line">
                <a:avLst/>
              </a:prstGeom>
              <a:noFill/>
              <a:ln w="12700">
                <a:solidFill>
                  <a:srgbClr val="33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2893" name="Line 37"/>
            <p:cNvSpPr>
              <a:spLocks noChangeShapeType="1"/>
            </p:cNvSpPr>
            <p:nvPr/>
          </p:nvSpPr>
          <p:spPr bwMode="auto">
            <a:xfrm flipV="1">
              <a:off x="4180" y="2855"/>
              <a:ext cx="339" cy="1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894" name="Text Box 38"/>
            <p:cNvSpPr txBox="1">
              <a:spLocks noChangeArrowheads="1"/>
            </p:cNvSpPr>
            <p:nvPr/>
          </p:nvSpPr>
          <p:spPr bwMode="auto">
            <a:xfrm>
              <a:off x="4494" y="2754"/>
              <a:ext cx="832"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3</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groups/1 time</a:t>
              </a:r>
              <a:endParaRPr lang="ko-KR" altLang="en-US" sz="1200" dirty="0">
                <a:latin typeface="맑은 고딕" pitchFamily="50" charset="-127"/>
                <a:ea typeface="맑은 고딕" pitchFamily="50" charset="-127"/>
              </a:endParaRPr>
            </a:p>
          </p:txBody>
        </p:sp>
        <p:sp>
          <p:nvSpPr>
            <p:cNvPr id="292895" name="Text Box 39"/>
            <p:cNvSpPr txBox="1">
              <a:spLocks noChangeArrowheads="1"/>
            </p:cNvSpPr>
            <p:nvPr/>
          </p:nvSpPr>
          <p:spPr bwMode="auto">
            <a:xfrm>
              <a:off x="3556" y="3489"/>
              <a:ext cx="1532"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Subgroups</a:t>
              </a:r>
            </a:p>
            <a:p>
              <a:pPr eaLnBrk="1" hangingPunct="1"/>
              <a:r>
                <a:rPr lang="en-US" altLang="ko-KR" sz="1200" dirty="0">
                  <a:latin typeface="맑은 고딕" pitchFamily="50" charset="-127"/>
                  <a:ea typeface="맑은 고딕" pitchFamily="50" charset="-127"/>
                </a:rPr>
                <a:t>7 times/2.3 day</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( 1</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time/1Shift) </a:t>
              </a:r>
            </a:p>
          </p:txBody>
        </p:sp>
        <p:sp>
          <p:nvSpPr>
            <p:cNvPr id="292896" name="Line 40"/>
            <p:cNvSpPr>
              <a:spLocks noChangeShapeType="1"/>
            </p:cNvSpPr>
            <p:nvPr/>
          </p:nvSpPr>
          <p:spPr bwMode="auto">
            <a:xfrm flipH="1" flipV="1">
              <a:off x="3672" y="3095"/>
              <a:ext cx="43" cy="3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897" name="Line 41"/>
            <p:cNvSpPr>
              <a:spLocks noChangeShapeType="1"/>
            </p:cNvSpPr>
            <p:nvPr/>
          </p:nvSpPr>
          <p:spPr bwMode="auto">
            <a:xfrm flipV="1">
              <a:off x="3715" y="3047"/>
              <a:ext cx="182" cy="42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898" name="Line 42"/>
            <p:cNvSpPr>
              <a:spLocks noChangeShapeType="1"/>
            </p:cNvSpPr>
            <p:nvPr/>
          </p:nvSpPr>
          <p:spPr bwMode="auto">
            <a:xfrm flipV="1">
              <a:off x="3735" y="3095"/>
              <a:ext cx="333" cy="373"/>
            </a:xfrm>
            <a:prstGeom prst="line">
              <a:avLst/>
            </a:prstGeom>
            <a:noFill/>
            <a:ln w="9525">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2899" name="Freeform 45"/>
            <p:cNvSpPr>
              <a:spLocks/>
            </p:cNvSpPr>
            <p:nvPr/>
          </p:nvSpPr>
          <p:spPr bwMode="auto">
            <a:xfrm flipH="1">
              <a:off x="5301" y="2670"/>
              <a:ext cx="386" cy="1149"/>
            </a:xfrm>
            <a:custGeom>
              <a:avLst/>
              <a:gdLst>
                <a:gd name="T0" fmla="*/ 118 w 518"/>
                <a:gd name="T1" fmla="*/ 40855 h 467"/>
                <a:gd name="T2" fmla="*/ 116 w 518"/>
                <a:gd name="T3" fmla="*/ 39317 h 467"/>
                <a:gd name="T4" fmla="*/ 115 w 518"/>
                <a:gd name="T5" fmla="*/ 37858 h 467"/>
                <a:gd name="T6" fmla="*/ 110 w 518"/>
                <a:gd name="T7" fmla="*/ 36431 h 467"/>
                <a:gd name="T8" fmla="*/ 107 w 518"/>
                <a:gd name="T9" fmla="*/ 35001 h 467"/>
                <a:gd name="T10" fmla="*/ 101 w 518"/>
                <a:gd name="T11" fmla="*/ 33899 h 467"/>
                <a:gd name="T12" fmla="*/ 96 w 518"/>
                <a:gd name="T13" fmla="*/ 33021 h 467"/>
                <a:gd name="T14" fmla="*/ 90 w 518"/>
                <a:gd name="T15" fmla="*/ 31921 h 467"/>
                <a:gd name="T16" fmla="*/ 84 w 518"/>
                <a:gd name="T17" fmla="*/ 31188 h 467"/>
                <a:gd name="T18" fmla="*/ 79 w 518"/>
                <a:gd name="T19" fmla="*/ 30934 h 467"/>
                <a:gd name="T20" fmla="*/ 73 w 518"/>
                <a:gd name="T21" fmla="*/ 29936 h 467"/>
                <a:gd name="T22" fmla="*/ 69 w 518"/>
                <a:gd name="T23" fmla="*/ 29311 h 467"/>
                <a:gd name="T24" fmla="*/ 63 w 518"/>
                <a:gd name="T25" fmla="*/ 29028 h 467"/>
                <a:gd name="T26" fmla="*/ 57 w 518"/>
                <a:gd name="T27" fmla="*/ 28577 h 467"/>
                <a:gd name="T28" fmla="*/ 51 w 518"/>
                <a:gd name="T29" fmla="*/ 27955 h 467"/>
                <a:gd name="T30" fmla="*/ 45 w 518"/>
                <a:gd name="T31" fmla="*/ 27404 h 467"/>
                <a:gd name="T32" fmla="*/ 39 w 518"/>
                <a:gd name="T33" fmla="*/ 27047 h 467"/>
                <a:gd name="T34" fmla="*/ 34 w 518"/>
                <a:gd name="T35" fmla="*/ 26425 h 467"/>
                <a:gd name="T36" fmla="*/ 28 w 518"/>
                <a:gd name="T37" fmla="*/ 25795 h 467"/>
                <a:gd name="T38" fmla="*/ 22 w 518"/>
                <a:gd name="T39" fmla="*/ 25140 h 467"/>
                <a:gd name="T40" fmla="*/ 16 w 518"/>
                <a:gd name="T41" fmla="*/ 24518 h 467"/>
                <a:gd name="T42" fmla="*/ 10 w 518"/>
                <a:gd name="T43" fmla="*/ 23888 h 467"/>
                <a:gd name="T44" fmla="*/ 5 w 518"/>
                <a:gd name="T45" fmla="*/ 22906 h 467"/>
                <a:gd name="T46" fmla="*/ 1 w 518"/>
                <a:gd name="T47" fmla="*/ 21551 h 467"/>
                <a:gd name="T48" fmla="*/ 1 w 518"/>
                <a:gd name="T49" fmla="*/ 20000 h 467"/>
                <a:gd name="T50" fmla="*/ 5 w 518"/>
                <a:gd name="T51" fmla="*/ 18645 h 467"/>
                <a:gd name="T52" fmla="*/ 12 w 518"/>
                <a:gd name="T53" fmla="*/ 17483 h 467"/>
                <a:gd name="T54" fmla="*/ 17 w 518"/>
                <a:gd name="T55" fmla="*/ 16859 h 467"/>
                <a:gd name="T56" fmla="*/ 23 w 518"/>
                <a:gd name="T57" fmla="*/ 16411 h 467"/>
                <a:gd name="T58" fmla="*/ 28 w 518"/>
                <a:gd name="T59" fmla="*/ 15860 h 467"/>
                <a:gd name="T60" fmla="*/ 34 w 518"/>
                <a:gd name="T61" fmla="*/ 15432 h 467"/>
                <a:gd name="T62" fmla="*/ 40 w 518"/>
                <a:gd name="T63" fmla="*/ 14625 h 467"/>
                <a:gd name="T64" fmla="*/ 46 w 518"/>
                <a:gd name="T65" fmla="*/ 14147 h 467"/>
                <a:gd name="T66" fmla="*/ 51 w 518"/>
                <a:gd name="T67" fmla="*/ 13348 h 467"/>
                <a:gd name="T68" fmla="*/ 57 w 518"/>
                <a:gd name="T69" fmla="*/ 12900 h 467"/>
                <a:gd name="T70" fmla="*/ 63 w 518"/>
                <a:gd name="T71" fmla="*/ 12526 h 467"/>
                <a:gd name="T72" fmla="*/ 69 w 518"/>
                <a:gd name="T73" fmla="*/ 11992 h 467"/>
                <a:gd name="T74" fmla="*/ 75 w 518"/>
                <a:gd name="T75" fmla="*/ 11362 h 467"/>
                <a:gd name="T76" fmla="*/ 80 w 518"/>
                <a:gd name="T77" fmla="*/ 10740 h 467"/>
                <a:gd name="T78" fmla="*/ 86 w 518"/>
                <a:gd name="T79" fmla="*/ 10006 h 467"/>
                <a:gd name="T80" fmla="*/ 92 w 518"/>
                <a:gd name="T81" fmla="*/ 9207 h 467"/>
                <a:gd name="T82" fmla="*/ 97 w 518"/>
                <a:gd name="T83" fmla="*/ 8456 h 467"/>
                <a:gd name="T84" fmla="*/ 103 w 518"/>
                <a:gd name="T85" fmla="*/ 7403 h 467"/>
                <a:gd name="T86" fmla="*/ 108 w 518"/>
                <a:gd name="T87" fmla="*/ 6119 h 467"/>
                <a:gd name="T88" fmla="*/ 112 w 518"/>
                <a:gd name="T89" fmla="*/ 4589 h 467"/>
                <a:gd name="T90" fmla="*/ 115 w 518"/>
                <a:gd name="T91" fmla="*/ 3262 h 467"/>
                <a:gd name="T92" fmla="*/ 117 w 518"/>
                <a:gd name="T93" fmla="*/ 1725 h 467"/>
                <a:gd name="T94" fmla="*/ 118 w 518"/>
                <a:gd name="T95" fmla="*/ 182 h 46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8" h="467">
                  <a:moveTo>
                    <a:pt x="517" y="466"/>
                  </a:moveTo>
                  <a:lnTo>
                    <a:pt x="517" y="461"/>
                  </a:lnTo>
                  <a:lnTo>
                    <a:pt x="514" y="457"/>
                  </a:lnTo>
                  <a:lnTo>
                    <a:pt x="513" y="453"/>
                  </a:lnTo>
                  <a:lnTo>
                    <a:pt x="510" y="449"/>
                  </a:lnTo>
                  <a:lnTo>
                    <a:pt x="508" y="445"/>
                  </a:lnTo>
                  <a:lnTo>
                    <a:pt x="508" y="440"/>
                  </a:lnTo>
                  <a:lnTo>
                    <a:pt x="508" y="436"/>
                  </a:lnTo>
                  <a:lnTo>
                    <a:pt x="507" y="432"/>
                  </a:lnTo>
                  <a:lnTo>
                    <a:pt x="502" y="428"/>
                  </a:lnTo>
                  <a:lnTo>
                    <a:pt x="498" y="424"/>
                  </a:lnTo>
                  <a:lnTo>
                    <a:pt x="496" y="420"/>
                  </a:lnTo>
                  <a:lnTo>
                    <a:pt x="490" y="415"/>
                  </a:lnTo>
                  <a:lnTo>
                    <a:pt x="486" y="411"/>
                  </a:lnTo>
                  <a:lnTo>
                    <a:pt x="483" y="407"/>
                  </a:lnTo>
                  <a:lnTo>
                    <a:pt x="477" y="404"/>
                  </a:lnTo>
                  <a:lnTo>
                    <a:pt x="475" y="400"/>
                  </a:lnTo>
                  <a:lnTo>
                    <a:pt x="473" y="396"/>
                  </a:lnTo>
                  <a:lnTo>
                    <a:pt x="469" y="392"/>
                  </a:lnTo>
                  <a:lnTo>
                    <a:pt x="465" y="388"/>
                  </a:lnTo>
                  <a:lnTo>
                    <a:pt x="458" y="384"/>
                  </a:lnTo>
                  <a:lnTo>
                    <a:pt x="452" y="382"/>
                  </a:lnTo>
                  <a:lnTo>
                    <a:pt x="447" y="378"/>
                  </a:lnTo>
                  <a:lnTo>
                    <a:pt x="441" y="376"/>
                  </a:lnTo>
                  <a:lnTo>
                    <a:pt x="435" y="375"/>
                  </a:lnTo>
                  <a:lnTo>
                    <a:pt x="429" y="374"/>
                  </a:lnTo>
                  <a:lnTo>
                    <a:pt x="423" y="370"/>
                  </a:lnTo>
                  <a:lnTo>
                    <a:pt x="417" y="366"/>
                  </a:lnTo>
                  <a:lnTo>
                    <a:pt x="410" y="364"/>
                  </a:lnTo>
                  <a:lnTo>
                    <a:pt x="404" y="362"/>
                  </a:lnTo>
                  <a:lnTo>
                    <a:pt x="397" y="358"/>
                  </a:lnTo>
                  <a:lnTo>
                    <a:pt x="394" y="354"/>
                  </a:lnTo>
                  <a:lnTo>
                    <a:pt x="387" y="354"/>
                  </a:lnTo>
                  <a:lnTo>
                    <a:pt x="381" y="351"/>
                  </a:lnTo>
                  <a:lnTo>
                    <a:pt x="375" y="349"/>
                  </a:lnTo>
                  <a:lnTo>
                    <a:pt x="368" y="346"/>
                  </a:lnTo>
                  <a:lnTo>
                    <a:pt x="362" y="344"/>
                  </a:lnTo>
                  <a:lnTo>
                    <a:pt x="356" y="343"/>
                  </a:lnTo>
                  <a:lnTo>
                    <a:pt x="350" y="343"/>
                  </a:lnTo>
                  <a:lnTo>
                    <a:pt x="344" y="343"/>
                  </a:lnTo>
                  <a:lnTo>
                    <a:pt x="340" y="339"/>
                  </a:lnTo>
                  <a:lnTo>
                    <a:pt x="334" y="338"/>
                  </a:lnTo>
                  <a:lnTo>
                    <a:pt x="328" y="334"/>
                  </a:lnTo>
                  <a:lnTo>
                    <a:pt x="320" y="332"/>
                  </a:lnTo>
                  <a:lnTo>
                    <a:pt x="314" y="332"/>
                  </a:lnTo>
                  <a:lnTo>
                    <a:pt x="308" y="330"/>
                  </a:lnTo>
                  <a:lnTo>
                    <a:pt x="301" y="330"/>
                  </a:lnTo>
                  <a:lnTo>
                    <a:pt x="298" y="325"/>
                  </a:lnTo>
                  <a:lnTo>
                    <a:pt x="291" y="326"/>
                  </a:lnTo>
                  <a:lnTo>
                    <a:pt x="285" y="326"/>
                  </a:lnTo>
                  <a:lnTo>
                    <a:pt x="278" y="325"/>
                  </a:lnTo>
                  <a:lnTo>
                    <a:pt x="272" y="322"/>
                  </a:lnTo>
                  <a:lnTo>
                    <a:pt x="266" y="322"/>
                  </a:lnTo>
                  <a:lnTo>
                    <a:pt x="260" y="320"/>
                  </a:lnTo>
                  <a:lnTo>
                    <a:pt x="254" y="318"/>
                  </a:lnTo>
                  <a:lnTo>
                    <a:pt x="248" y="317"/>
                  </a:lnTo>
                  <a:lnTo>
                    <a:pt x="241" y="316"/>
                  </a:lnTo>
                  <a:lnTo>
                    <a:pt x="235" y="312"/>
                  </a:lnTo>
                  <a:lnTo>
                    <a:pt x="229" y="311"/>
                  </a:lnTo>
                  <a:lnTo>
                    <a:pt x="223" y="310"/>
                  </a:lnTo>
                  <a:lnTo>
                    <a:pt x="217" y="310"/>
                  </a:lnTo>
                  <a:lnTo>
                    <a:pt x="210" y="308"/>
                  </a:lnTo>
                  <a:lnTo>
                    <a:pt x="204" y="306"/>
                  </a:lnTo>
                  <a:lnTo>
                    <a:pt x="198" y="304"/>
                  </a:lnTo>
                  <a:lnTo>
                    <a:pt x="191" y="303"/>
                  </a:lnTo>
                  <a:lnTo>
                    <a:pt x="185" y="302"/>
                  </a:lnTo>
                  <a:lnTo>
                    <a:pt x="178" y="299"/>
                  </a:lnTo>
                  <a:lnTo>
                    <a:pt x="172" y="300"/>
                  </a:lnTo>
                  <a:lnTo>
                    <a:pt x="166" y="299"/>
                  </a:lnTo>
                  <a:lnTo>
                    <a:pt x="160" y="296"/>
                  </a:lnTo>
                  <a:lnTo>
                    <a:pt x="154" y="293"/>
                  </a:lnTo>
                  <a:lnTo>
                    <a:pt x="148" y="293"/>
                  </a:lnTo>
                  <a:lnTo>
                    <a:pt x="141" y="290"/>
                  </a:lnTo>
                  <a:lnTo>
                    <a:pt x="135" y="289"/>
                  </a:lnTo>
                  <a:lnTo>
                    <a:pt x="129" y="288"/>
                  </a:lnTo>
                  <a:lnTo>
                    <a:pt x="122" y="286"/>
                  </a:lnTo>
                  <a:lnTo>
                    <a:pt x="116" y="285"/>
                  </a:lnTo>
                  <a:lnTo>
                    <a:pt x="110" y="282"/>
                  </a:lnTo>
                  <a:lnTo>
                    <a:pt x="104" y="282"/>
                  </a:lnTo>
                  <a:lnTo>
                    <a:pt x="98" y="279"/>
                  </a:lnTo>
                  <a:lnTo>
                    <a:pt x="92" y="279"/>
                  </a:lnTo>
                  <a:lnTo>
                    <a:pt x="86" y="276"/>
                  </a:lnTo>
                  <a:lnTo>
                    <a:pt x="79" y="275"/>
                  </a:lnTo>
                  <a:lnTo>
                    <a:pt x="72" y="272"/>
                  </a:lnTo>
                  <a:lnTo>
                    <a:pt x="66" y="271"/>
                  </a:lnTo>
                  <a:lnTo>
                    <a:pt x="59" y="268"/>
                  </a:lnTo>
                  <a:lnTo>
                    <a:pt x="53" y="267"/>
                  </a:lnTo>
                  <a:lnTo>
                    <a:pt x="47" y="265"/>
                  </a:lnTo>
                  <a:lnTo>
                    <a:pt x="41" y="262"/>
                  </a:lnTo>
                  <a:lnTo>
                    <a:pt x="35" y="260"/>
                  </a:lnTo>
                  <a:lnTo>
                    <a:pt x="29" y="257"/>
                  </a:lnTo>
                  <a:lnTo>
                    <a:pt x="23" y="254"/>
                  </a:lnTo>
                  <a:lnTo>
                    <a:pt x="18" y="250"/>
                  </a:lnTo>
                  <a:lnTo>
                    <a:pt x="12" y="246"/>
                  </a:lnTo>
                  <a:lnTo>
                    <a:pt x="6" y="243"/>
                  </a:lnTo>
                  <a:lnTo>
                    <a:pt x="2" y="239"/>
                  </a:lnTo>
                  <a:lnTo>
                    <a:pt x="2" y="235"/>
                  </a:lnTo>
                  <a:lnTo>
                    <a:pt x="0" y="230"/>
                  </a:lnTo>
                  <a:lnTo>
                    <a:pt x="0" y="226"/>
                  </a:lnTo>
                  <a:lnTo>
                    <a:pt x="2" y="222"/>
                  </a:lnTo>
                  <a:lnTo>
                    <a:pt x="8" y="218"/>
                  </a:lnTo>
                  <a:lnTo>
                    <a:pt x="12" y="212"/>
                  </a:lnTo>
                  <a:lnTo>
                    <a:pt x="18" y="209"/>
                  </a:lnTo>
                  <a:lnTo>
                    <a:pt x="24" y="207"/>
                  </a:lnTo>
                  <a:lnTo>
                    <a:pt x="30" y="203"/>
                  </a:lnTo>
                  <a:lnTo>
                    <a:pt x="37" y="200"/>
                  </a:lnTo>
                  <a:lnTo>
                    <a:pt x="43" y="197"/>
                  </a:lnTo>
                  <a:lnTo>
                    <a:pt x="49" y="194"/>
                  </a:lnTo>
                  <a:lnTo>
                    <a:pt x="56" y="193"/>
                  </a:lnTo>
                  <a:lnTo>
                    <a:pt x="62" y="190"/>
                  </a:lnTo>
                  <a:lnTo>
                    <a:pt x="69" y="189"/>
                  </a:lnTo>
                  <a:lnTo>
                    <a:pt x="75" y="187"/>
                  </a:lnTo>
                  <a:lnTo>
                    <a:pt x="81" y="187"/>
                  </a:lnTo>
                  <a:lnTo>
                    <a:pt x="87" y="186"/>
                  </a:lnTo>
                  <a:lnTo>
                    <a:pt x="93" y="185"/>
                  </a:lnTo>
                  <a:lnTo>
                    <a:pt x="99" y="182"/>
                  </a:lnTo>
                  <a:lnTo>
                    <a:pt x="106" y="182"/>
                  </a:lnTo>
                  <a:lnTo>
                    <a:pt x="112" y="179"/>
                  </a:lnTo>
                  <a:lnTo>
                    <a:pt x="119" y="177"/>
                  </a:lnTo>
                  <a:lnTo>
                    <a:pt x="125" y="176"/>
                  </a:lnTo>
                  <a:lnTo>
                    <a:pt x="131" y="175"/>
                  </a:lnTo>
                  <a:lnTo>
                    <a:pt x="137" y="172"/>
                  </a:lnTo>
                  <a:lnTo>
                    <a:pt x="143" y="171"/>
                  </a:lnTo>
                  <a:lnTo>
                    <a:pt x="149" y="171"/>
                  </a:lnTo>
                  <a:lnTo>
                    <a:pt x="155" y="168"/>
                  </a:lnTo>
                  <a:lnTo>
                    <a:pt x="162" y="166"/>
                  </a:lnTo>
                  <a:lnTo>
                    <a:pt x="169" y="165"/>
                  </a:lnTo>
                  <a:lnTo>
                    <a:pt x="175" y="162"/>
                  </a:lnTo>
                  <a:lnTo>
                    <a:pt x="181" y="161"/>
                  </a:lnTo>
                  <a:lnTo>
                    <a:pt x="187" y="159"/>
                  </a:lnTo>
                  <a:lnTo>
                    <a:pt x="194" y="158"/>
                  </a:lnTo>
                  <a:lnTo>
                    <a:pt x="200" y="157"/>
                  </a:lnTo>
                  <a:lnTo>
                    <a:pt x="206" y="155"/>
                  </a:lnTo>
                  <a:lnTo>
                    <a:pt x="212" y="154"/>
                  </a:lnTo>
                  <a:lnTo>
                    <a:pt x="218" y="153"/>
                  </a:lnTo>
                  <a:lnTo>
                    <a:pt x="225" y="148"/>
                  </a:lnTo>
                  <a:lnTo>
                    <a:pt x="231" y="147"/>
                  </a:lnTo>
                  <a:lnTo>
                    <a:pt x="238" y="145"/>
                  </a:lnTo>
                  <a:lnTo>
                    <a:pt x="244" y="145"/>
                  </a:lnTo>
                  <a:lnTo>
                    <a:pt x="250" y="143"/>
                  </a:lnTo>
                  <a:lnTo>
                    <a:pt x="256" y="141"/>
                  </a:lnTo>
                  <a:lnTo>
                    <a:pt x="262" y="141"/>
                  </a:lnTo>
                  <a:lnTo>
                    <a:pt x="268" y="140"/>
                  </a:lnTo>
                  <a:lnTo>
                    <a:pt x="275" y="139"/>
                  </a:lnTo>
                  <a:lnTo>
                    <a:pt x="281" y="137"/>
                  </a:lnTo>
                  <a:lnTo>
                    <a:pt x="287" y="135"/>
                  </a:lnTo>
                  <a:lnTo>
                    <a:pt x="293" y="135"/>
                  </a:lnTo>
                  <a:lnTo>
                    <a:pt x="299" y="133"/>
                  </a:lnTo>
                  <a:lnTo>
                    <a:pt x="306" y="131"/>
                  </a:lnTo>
                  <a:lnTo>
                    <a:pt x="312" y="131"/>
                  </a:lnTo>
                  <a:lnTo>
                    <a:pt x="318" y="129"/>
                  </a:lnTo>
                  <a:lnTo>
                    <a:pt x="325" y="126"/>
                  </a:lnTo>
                  <a:lnTo>
                    <a:pt x="331" y="125"/>
                  </a:lnTo>
                  <a:lnTo>
                    <a:pt x="338" y="122"/>
                  </a:lnTo>
                  <a:lnTo>
                    <a:pt x="344" y="121"/>
                  </a:lnTo>
                  <a:lnTo>
                    <a:pt x="350" y="119"/>
                  </a:lnTo>
                  <a:lnTo>
                    <a:pt x="356" y="117"/>
                  </a:lnTo>
                  <a:lnTo>
                    <a:pt x="362" y="115"/>
                  </a:lnTo>
                  <a:lnTo>
                    <a:pt x="368" y="114"/>
                  </a:lnTo>
                  <a:lnTo>
                    <a:pt x="375" y="111"/>
                  </a:lnTo>
                  <a:lnTo>
                    <a:pt x="381" y="108"/>
                  </a:lnTo>
                  <a:lnTo>
                    <a:pt x="387" y="107"/>
                  </a:lnTo>
                  <a:lnTo>
                    <a:pt x="394" y="103"/>
                  </a:lnTo>
                  <a:lnTo>
                    <a:pt x="400" y="102"/>
                  </a:lnTo>
                  <a:lnTo>
                    <a:pt x="406" y="101"/>
                  </a:lnTo>
                  <a:lnTo>
                    <a:pt x="412" y="99"/>
                  </a:lnTo>
                  <a:lnTo>
                    <a:pt x="418" y="97"/>
                  </a:lnTo>
                  <a:lnTo>
                    <a:pt x="424" y="94"/>
                  </a:lnTo>
                  <a:lnTo>
                    <a:pt x="429" y="90"/>
                  </a:lnTo>
                  <a:lnTo>
                    <a:pt x="435" y="89"/>
                  </a:lnTo>
                  <a:lnTo>
                    <a:pt x="441" y="85"/>
                  </a:lnTo>
                  <a:lnTo>
                    <a:pt x="447" y="82"/>
                  </a:lnTo>
                  <a:lnTo>
                    <a:pt x="454" y="79"/>
                  </a:lnTo>
                  <a:lnTo>
                    <a:pt x="460" y="76"/>
                  </a:lnTo>
                  <a:lnTo>
                    <a:pt x="467" y="72"/>
                  </a:lnTo>
                  <a:lnTo>
                    <a:pt x="473" y="68"/>
                  </a:lnTo>
                  <a:lnTo>
                    <a:pt x="475" y="63"/>
                  </a:lnTo>
                  <a:lnTo>
                    <a:pt x="477" y="59"/>
                  </a:lnTo>
                  <a:lnTo>
                    <a:pt x="483" y="55"/>
                  </a:lnTo>
                  <a:lnTo>
                    <a:pt x="487" y="51"/>
                  </a:lnTo>
                  <a:lnTo>
                    <a:pt x="493" y="48"/>
                  </a:lnTo>
                  <a:lnTo>
                    <a:pt x="496" y="44"/>
                  </a:lnTo>
                  <a:lnTo>
                    <a:pt x="498" y="40"/>
                  </a:lnTo>
                  <a:lnTo>
                    <a:pt x="500" y="36"/>
                  </a:lnTo>
                  <a:lnTo>
                    <a:pt x="502" y="31"/>
                  </a:lnTo>
                  <a:lnTo>
                    <a:pt x="507" y="27"/>
                  </a:lnTo>
                  <a:lnTo>
                    <a:pt x="508" y="23"/>
                  </a:lnTo>
                  <a:lnTo>
                    <a:pt x="510" y="19"/>
                  </a:lnTo>
                  <a:lnTo>
                    <a:pt x="513" y="15"/>
                  </a:lnTo>
                  <a:lnTo>
                    <a:pt x="513" y="11"/>
                  </a:lnTo>
                  <a:lnTo>
                    <a:pt x="513" y="6"/>
                  </a:lnTo>
                  <a:lnTo>
                    <a:pt x="514" y="2"/>
                  </a:lnTo>
                  <a:lnTo>
                    <a:pt x="513" y="0"/>
                  </a:lnTo>
                </a:path>
              </a:pathLst>
            </a:custGeom>
            <a:noFill/>
            <a:ln w="12700" cap="rnd" cmpd="sng">
              <a:solidFill>
                <a:srgbClr val="339966"/>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2875" name="Text Box 47"/>
          <p:cNvSpPr txBox="1">
            <a:spLocks noChangeArrowheads="1"/>
          </p:cNvSpPr>
          <p:nvPr/>
        </p:nvSpPr>
        <p:spPr bwMode="auto">
          <a:xfrm>
            <a:off x="482600" y="1016000"/>
            <a:ext cx="2454176"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맑은 고딕" pitchFamily="50" charset="-127"/>
                <a:ea typeface="맑은 고딕" pitchFamily="50" charset="-127"/>
              </a:rPr>
              <a:t>2) </a:t>
            </a:r>
            <a:r>
              <a:rPr lang="en-US" altLang="ko-KR" sz="1400" b="1" dirty="0" err="1">
                <a:latin typeface="맑은 고딕" pitchFamily="50" charset="-127"/>
                <a:ea typeface="맑은 고딕" pitchFamily="50" charset="-127"/>
              </a:rPr>
              <a:t>Tập</a:t>
            </a:r>
            <a:r>
              <a:rPr lang="en-US" altLang="ko-KR" sz="1400" b="1" dirty="0">
                <a:latin typeface="맑은 고딕" pitchFamily="50" charset="-127"/>
                <a:ea typeface="맑은 고딕" pitchFamily="50" charset="-127"/>
              </a:rPr>
              <a:t> con </a:t>
            </a:r>
            <a:r>
              <a:rPr lang="en-US" altLang="ko-KR" sz="1400" b="1" dirty="0" err="1">
                <a:latin typeface="맑은 고딕" pitchFamily="50" charset="-127"/>
                <a:ea typeface="맑은 고딕" pitchFamily="50" charset="-127"/>
              </a:rPr>
              <a:t>đồng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chất</a:t>
            </a:r>
            <a:endParaRPr lang="en-US" altLang="ko-KR" sz="1400" b="1" dirty="0">
              <a:latin typeface="맑은 고딕" pitchFamily="50" charset="-127"/>
              <a:ea typeface="맑은 고딕" pitchFamily="50" charset="-127"/>
            </a:endParaRPr>
          </a:p>
        </p:txBody>
      </p:sp>
      <p:sp>
        <p:nvSpPr>
          <p:cNvPr id="292877"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224</a:t>
            </a:fld>
            <a:endParaRPr lang="ko-KR" altLang="en-US" dirty="0"/>
          </a:p>
        </p:txBody>
      </p:sp>
    </p:spTree>
    <p:extLst>
      <p:ext uri="{BB962C8B-B14F-4D97-AF65-F5344CB8AC3E}">
        <p14:creationId xmlns:p14="http://schemas.microsoft.com/office/powerpoint/2010/main" val="1414316241"/>
      </p:ext>
    </p:extLst>
  </p:cSld>
  <p:clrMapOvr>
    <a:masterClrMapping/>
  </p:clrMapOvr>
  <p:transition spd="slow"/>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2"/>
          <p:cNvSpPr>
            <a:spLocks noChangeArrowheads="1"/>
          </p:cNvSpPr>
          <p:nvPr/>
        </p:nvSpPr>
        <p:spPr bwMode="auto">
          <a:xfrm>
            <a:off x="534988" y="908720"/>
            <a:ext cx="3784347" cy="3099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Tại</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sao</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phải</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có</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các</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tập</a:t>
            </a:r>
            <a:r>
              <a:rPr lang="en-US" altLang="ko-KR" sz="1400" b="1" dirty="0">
                <a:latin typeface="맑은 고딕" pitchFamily="50" charset="-127"/>
                <a:ea typeface="맑은 고딕" pitchFamily="50" charset="-127"/>
              </a:rPr>
              <a:t> con </a:t>
            </a:r>
            <a:r>
              <a:rPr lang="en-US" altLang="ko-KR" sz="1400" b="1" dirty="0" err="1">
                <a:latin typeface="맑은 고딕" pitchFamily="50" charset="-127"/>
                <a:ea typeface="맑은 고딕" pitchFamily="50" charset="-127"/>
              </a:rPr>
              <a:t>đồng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chất</a:t>
            </a:r>
            <a:r>
              <a:rPr lang="en-US" altLang="ko-KR" sz="1400" b="1" dirty="0">
                <a:latin typeface="맑은 고딕" pitchFamily="50" charset="-127"/>
                <a:ea typeface="맑은 고딕" pitchFamily="50" charset="-127"/>
              </a:rPr>
              <a:t>?</a:t>
            </a:r>
          </a:p>
        </p:txBody>
      </p:sp>
      <p:sp useBgFill="1">
        <p:nvSpPr>
          <p:cNvPr id="293891" name="AutoShape 3"/>
          <p:cNvSpPr>
            <a:spLocks noChangeArrowheads="1"/>
          </p:cNvSpPr>
          <p:nvPr/>
        </p:nvSpPr>
        <p:spPr bwMode="auto">
          <a:xfrm>
            <a:off x="823913" y="1222121"/>
            <a:ext cx="8207375" cy="1675971"/>
          </a:xfrm>
          <a:prstGeom prst="roundRect">
            <a:avLst>
              <a:gd name="adj" fmla="val 4495"/>
            </a:avLst>
          </a:prstGeom>
          <a:ln w="9525">
            <a:solidFill>
              <a:schemeClr val="tx2"/>
            </a:solidFill>
            <a:round/>
            <a:headEnd/>
            <a:tailEnd/>
          </a:ln>
          <a:effectLst>
            <a:outerShdw dist="35921" dir="2700000" algn="ctr" rotWithShape="0">
              <a:srgbClr val="808080"/>
            </a:outerShdw>
          </a:effectLst>
        </p:spPr>
        <p:txBody>
          <a:bodyPr lIns="92075" tIns="46038" rIns="92075" bIns="46038">
            <a:spAutoFit/>
          </a:bodyPr>
          <a:lstStyle/>
          <a:p>
            <a:pPr marL="190500" indent="-190500" algn="just">
              <a:lnSpc>
                <a:spcPct val="140000"/>
              </a:lnSpc>
              <a:buFontTx/>
              <a:buChar char="•"/>
            </a:pPr>
            <a:r>
              <a:rPr lang="en-US" altLang="ko-KR" sz="1200" dirty="0" err="1">
                <a:latin typeface="맑은 고딕" pitchFamily="50" charset="-127"/>
                <a:ea typeface="맑은 고딕" pitchFamily="50" charset="-127"/>
              </a:rPr>
              <a:t>Việc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thập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sử</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dụng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tập</a:t>
            </a:r>
            <a:r>
              <a:rPr lang="en-US" altLang="ko-KR" sz="1200" dirty="0">
                <a:latin typeface="맑은 고딕" pitchFamily="50" charset="-127"/>
                <a:ea typeface="맑은 고딕" pitchFamily="50" charset="-127"/>
              </a:rPr>
              <a:t> con </a:t>
            </a:r>
            <a:r>
              <a:rPr lang="en-US" altLang="ko-KR" sz="1200" dirty="0" err="1">
                <a:latin typeface="맑은 고딕" pitchFamily="50" charset="-127"/>
                <a:ea typeface="맑은 고딕" pitchFamily="50" charset="-127"/>
              </a:rPr>
              <a:t>đồng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cụ</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6σ.</a:t>
            </a:r>
          </a:p>
          <a:p>
            <a:pPr marL="190500" indent="-190500" algn="just">
              <a:lnSpc>
                <a:spcPct val="140000"/>
              </a:lnSpc>
              <a:buFontTx/>
              <a:buChar char="•"/>
            </a:pPr>
            <a:r>
              <a:rPr lang="en-US" altLang="ko-KR" sz="1200" dirty="0" err="1">
                <a:latin typeface="맑은 고딕" pitchFamily="50" charset="-127"/>
                <a:ea typeface="맑은 고딕" pitchFamily="50" charset="-127"/>
              </a:rPr>
              <a:t>Bước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đầu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tìm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tố</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tiềm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tàng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ảnh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hưởng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yếu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tốt</a:t>
            </a:r>
            <a:r>
              <a:rPr lang="en-US" altLang="ko-KR" sz="1200" dirty="0">
                <a:latin typeface="맑은 고딕" pitchFamily="50" charset="-127"/>
                <a:ea typeface="맑은 고딕" pitchFamily="50" charset="-127"/>
              </a:rPr>
              <a:t> X </a:t>
            </a:r>
            <a:r>
              <a:rPr lang="en-US" altLang="ko-KR" sz="1200" dirty="0" err="1">
                <a:latin typeface="맑은 고딕" pitchFamily="50" charset="-127"/>
                <a:ea typeface="맑은 고딕" pitchFamily="50" charset="-127"/>
              </a:rPr>
              <a:t>sẽ</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độc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lập</a:t>
            </a:r>
            <a:r>
              <a:rPr lang="en-US" altLang="ko-KR" sz="1200" dirty="0">
                <a:latin typeface="맑은 고딕" pitchFamily="50" charset="-127"/>
                <a:ea typeface="맑은 고딕" pitchFamily="50" charset="-127"/>
              </a:rPr>
              <a:t>.</a:t>
            </a:r>
          </a:p>
          <a:p>
            <a:pPr marL="190500" indent="-190500" algn="just">
              <a:lnSpc>
                <a:spcPct val="140000"/>
              </a:lnSpc>
              <a:buFontTx/>
              <a:buChar char="•"/>
            </a:pPr>
            <a:r>
              <a:rPr lang="en-US" altLang="ko-KR" sz="1200" dirty="0" err="1">
                <a:latin typeface="맑은 고딕" pitchFamily="50" charset="-127"/>
                <a:ea typeface="맑은 고딕" pitchFamily="50" charset="-127"/>
              </a:rPr>
              <a:t>Khi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thập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càng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nhiều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tố</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ảnh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hưởng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càng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tốt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hiểu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sâu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rằng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thế</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nào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trước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thập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hãy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nghe</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ý </a:t>
            </a:r>
            <a:r>
              <a:rPr lang="en-US" altLang="ko-KR" sz="1200" dirty="0" err="1">
                <a:latin typeface="맑은 고딕" pitchFamily="50" charset="-127"/>
                <a:ea typeface="맑은 고딕" pitchFamily="50" charset="-127"/>
              </a:rPr>
              <a:t>kiến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chuyên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việc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chia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nhóm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đồng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chất</a:t>
            </a:r>
            <a:r>
              <a:rPr lang="en-US" altLang="ko-KR" sz="1200" dirty="0">
                <a:latin typeface="맑은 고딕" pitchFamily="50" charset="-127"/>
                <a:ea typeface="맑은 고딕" pitchFamily="50" charset="-127"/>
              </a:rPr>
              <a:t>.</a:t>
            </a:r>
          </a:p>
        </p:txBody>
      </p:sp>
      <p:sp>
        <p:nvSpPr>
          <p:cNvPr id="293892" name="Text Box 4"/>
          <p:cNvSpPr txBox="1">
            <a:spLocks noChangeArrowheads="1"/>
          </p:cNvSpPr>
          <p:nvPr/>
        </p:nvSpPr>
        <p:spPr bwMode="auto">
          <a:xfrm>
            <a:off x="3728864" y="3026200"/>
            <a:ext cx="5707203"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sẽ</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rõ</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thành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bổ</a:t>
            </a:r>
            <a:endParaRPr lang="en-US" altLang="ko-KR" sz="1200" dirty="0">
              <a:latin typeface="맑은 고딕" pitchFamily="50" charset="-127"/>
              <a:ea typeface="맑은 고딕" pitchFamily="50" charset="-127"/>
            </a:endParaRPr>
          </a:p>
        </p:txBody>
      </p:sp>
      <p:sp>
        <p:nvSpPr>
          <p:cNvPr id="293893" name="Rectangle 5"/>
          <p:cNvSpPr>
            <a:spLocks noChangeArrowheads="1"/>
          </p:cNvSpPr>
          <p:nvPr/>
        </p:nvSpPr>
        <p:spPr bwMode="auto">
          <a:xfrm>
            <a:off x="687713" y="2996952"/>
            <a:ext cx="3185167"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buFont typeface="Wingdings" pitchFamily="2" charset="2"/>
              <a:buChar char="Ø"/>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năng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thông</a:t>
            </a:r>
            <a:r>
              <a:rPr lang="en-US" altLang="ko-KR" sz="1200" dirty="0">
                <a:latin typeface="맑은 고딕" pitchFamily="50" charset="-127"/>
                <a:ea typeface="맑은 고딕" pitchFamily="50" charset="-127"/>
              </a:rPr>
              <a:t> qua</a:t>
            </a:r>
            <a:br>
              <a:rPr lang="en-US" altLang="ko-KR" sz="1200" dirty="0">
                <a:latin typeface="맑은 고딕" pitchFamily="50" charset="-127"/>
                <a:ea typeface="맑은 고딕" pitchFamily="50" charset="-127"/>
              </a:rPr>
            </a:b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tập</a:t>
            </a:r>
            <a:r>
              <a:rPr lang="en-US" altLang="ko-KR" sz="1200" dirty="0">
                <a:latin typeface="맑은 고딕" pitchFamily="50" charset="-127"/>
                <a:ea typeface="맑은 고딕" pitchFamily="50" charset="-127"/>
              </a:rPr>
              <a:t> con </a:t>
            </a:r>
            <a:r>
              <a:rPr lang="en-US" altLang="ko-KR" sz="1200" dirty="0" err="1">
                <a:latin typeface="맑은 고딕" pitchFamily="50" charset="-127"/>
                <a:ea typeface="맑은 고딕" pitchFamily="50" charset="-127"/>
              </a:rPr>
              <a:t>đồng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chất</a:t>
            </a:r>
            <a:endParaRPr lang="en-US" altLang="ko-KR" sz="1200" dirty="0">
              <a:latin typeface="맑은 고딕" pitchFamily="50" charset="-127"/>
              <a:ea typeface="맑은 고딕" pitchFamily="50" charset="-127"/>
            </a:endParaRPr>
          </a:p>
        </p:txBody>
      </p:sp>
      <p:grpSp>
        <p:nvGrpSpPr>
          <p:cNvPr id="3" name="Group 495"/>
          <p:cNvGrpSpPr>
            <a:grpSpLocks/>
          </p:cNvGrpSpPr>
          <p:nvPr/>
        </p:nvGrpSpPr>
        <p:grpSpPr bwMode="auto">
          <a:xfrm>
            <a:off x="3832225" y="3431307"/>
            <a:ext cx="5121275" cy="3094037"/>
            <a:chOff x="2414" y="2005"/>
            <a:chExt cx="3226" cy="1949"/>
          </a:xfrm>
        </p:grpSpPr>
        <p:sp>
          <p:nvSpPr>
            <p:cNvPr id="293900" name="AutoShape 6"/>
            <p:cNvSpPr>
              <a:spLocks noChangeArrowheads="1"/>
            </p:cNvSpPr>
            <p:nvPr/>
          </p:nvSpPr>
          <p:spPr bwMode="auto">
            <a:xfrm>
              <a:off x="2424" y="2010"/>
              <a:ext cx="3216" cy="1944"/>
            </a:xfrm>
            <a:prstGeom prst="roundRect">
              <a:avLst>
                <a:gd name="adj" fmla="val 4449"/>
              </a:avLst>
            </a:prstGeom>
            <a:solidFill>
              <a:srgbClr val="FFFFFF"/>
            </a:solidFill>
            <a:ln w="9525">
              <a:solidFill>
                <a:schemeClr val="tx1"/>
              </a:solidFill>
              <a:round/>
              <a:headEnd/>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sp>
          <p:nvSpPr>
            <p:cNvPr id="293901" name="Rectangle 7"/>
            <p:cNvSpPr>
              <a:spLocks noChangeArrowheads="1"/>
            </p:cNvSpPr>
            <p:nvPr/>
          </p:nvSpPr>
          <p:spPr bwMode="auto">
            <a:xfrm>
              <a:off x="2838" y="2172"/>
              <a:ext cx="2241" cy="1515"/>
            </a:xfrm>
            <a:prstGeom prst="rect">
              <a:avLst/>
            </a:prstGeom>
            <a:solidFill>
              <a:srgbClr val="ECF8E8"/>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nvGrpSpPr>
            <p:cNvPr id="4" name="Group 8"/>
            <p:cNvGrpSpPr>
              <a:grpSpLocks/>
            </p:cNvGrpSpPr>
            <p:nvPr/>
          </p:nvGrpSpPr>
          <p:grpSpPr bwMode="auto">
            <a:xfrm>
              <a:off x="3053" y="2316"/>
              <a:ext cx="660" cy="611"/>
              <a:chOff x="2206" y="3016"/>
              <a:chExt cx="750" cy="750"/>
            </a:xfrm>
          </p:grpSpPr>
          <p:grpSp>
            <p:nvGrpSpPr>
              <p:cNvPr id="5" name="Group 9"/>
              <p:cNvGrpSpPr>
                <a:grpSpLocks/>
              </p:cNvGrpSpPr>
              <p:nvPr/>
            </p:nvGrpSpPr>
            <p:grpSpPr bwMode="auto">
              <a:xfrm>
                <a:off x="2206" y="3016"/>
                <a:ext cx="750" cy="750"/>
                <a:chOff x="2206" y="3016"/>
                <a:chExt cx="750" cy="750"/>
              </a:xfrm>
            </p:grpSpPr>
            <p:grpSp>
              <p:nvGrpSpPr>
                <p:cNvPr id="6" name="Group 10"/>
                <p:cNvGrpSpPr>
                  <a:grpSpLocks/>
                </p:cNvGrpSpPr>
                <p:nvPr/>
              </p:nvGrpSpPr>
              <p:grpSpPr bwMode="auto">
                <a:xfrm>
                  <a:off x="2206" y="3016"/>
                  <a:ext cx="750" cy="750"/>
                  <a:chOff x="2206" y="3016"/>
                  <a:chExt cx="750" cy="750"/>
                </a:xfrm>
              </p:grpSpPr>
              <p:grpSp>
                <p:nvGrpSpPr>
                  <p:cNvPr id="7" name="Group 11"/>
                  <p:cNvGrpSpPr>
                    <a:grpSpLocks/>
                  </p:cNvGrpSpPr>
                  <p:nvPr/>
                </p:nvGrpSpPr>
                <p:grpSpPr bwMode="auto">
                  <a:xfrm>
                    <a:off x="2206" y="3016"/>
                    <a:ext cx="750" cy="750"/>
                    <a:chOff x="2206" y="3016"/>
                    <a:chExt cx="750" cy="750"/>
                  </a:xfrm>
                </p:grpSpPr>
                <p:sp>
                  <p:nvSpPr>
                    <p:cNvPr id="294382" name="Oval 12"/>
                    <p:cNvSpPr>
                      <a:spLocks noChangeArrowheads="1"/>
                    </p:cNvSpPr>
                    <p:nvPr/>
                  </p:nvSpPr>
                  <p:spPr bwMode="auto">
                    <a:xfrm>
                      <a:off x="2206" y="3016"/>
                      <a:ext cx="750" cy="750"/>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4383" name="Oval 13"/>
                    <p:cNvSpPr>
                      <a:spLocks noChangeArrowheads="1"/>
                    </p:cNvSpPr>
                    <p:nvPr/>
                  </p:nvSpPr>
                  <p:spPr bwMode="auto">
                    <a:xfrm>
                      <a:off x="2285" y="3091"/>
                      <a:ext cx="591" cy="597"/>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381" name="Oval 14"/>
                  <p:cNvSpPr>
                    <a:spLocks noChangeArrowheads="1"/>
                  </p:cNvSpPr>
                  <p:nvPr/>
                </p:nvSpPr>
                <p:spPr bwMode="auto">
                  <a:xfrm>
                    <a:off x="2365" y="3172"/>
                    <a:ext cx="431" cy="435"/>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379" name="Oval 15"/>
                <p:cNvSpPr>
                  <a:spLocks noChangeArrowheads="1"/>
                </p:cNvSpPr>
                <p:nvPr/>
              </p:nvSpPr>
              <p:spPr bwMode="auto">
                <a:xfrm>
                  <a:off x="2444" y="3252"/>
                  <a:ext cx="274" cy="275"/>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377" name="Oval 16"/>
              <p:cNvSpPr>
                <a:spLocks noChangeArrowheads="1"/>
              </p:cNvSpPr>
              <p:nvPr/>
            </p:nvSpPr>
            <p:spPr bwMode="auto">
              <a:xfrm>
                <a:off x="2523" y="3331"/>
                <a:ext cx="115" cy="117"/>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grpSp>
          <p:nvGrpSpPr>
            <p:cNvPr id="8" name="Group 17"/>
            <p:cNvGrpSpPr>
              <a:grpSpLocks/>
            </p:cNvGrpSpPr>
            <p:nvPr/>
          </p:nvGrpSpPr>
          <p:grpSpPr bwMode="auto">
            <a:xfrm>
              <a:off x="3351" y="2217"/>
              <a:ext cx="163" cy="123"/>
              <a:chOff x="2737" y="3158"/>
              <a:chExt cx="185" cy="150"/>
            </a:xfrm>
          </p:grpSpPr>
          <p:sp>
            <p:nvSpPr>
              <p:cNvPr id="294361" name="Freeform 18"/>
              <p:cNvSpPr>
                <a:spLocks/>
              </p:cNvSpPr>
              <p:nvPr/>
            </p:nvSpPr>
            <p:spPr bwMode="auto">
              <a:xfrm>
                <a:off x="2739" y="3291"/>
                <a:ext cx="17" cy="17"/>
              </a:xfrm>
              <a:custGeom>
                <a:avLst/>
                <a:gdLst>
                  <a:gd name="T0" fmla="*/ 0 w 17"/>
                  <a:gd name="T1" fmla="*/ 7 h 17"/>
                  <a:gd name="T2" fmla="*/ 7 w 17"/>
                  <a:gd name="T3" fmla="*/ 0 h 17"/>
                  <a:gd name="T4" fmla="*/ 16 w 17"/>
                  <a:gd name="T5" fmla="*/ 16 h 17"/>
                  <a:gd name="T6" fmla="*/ 2 w 17"/>
                  <a:gd name="T7" fmla="*/ 13 h 17"/>
                  <a:gd name="T8" fmla="*/ 0 w 17"/>
                  <a:gd name="T9" fmla="*/ 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7"/>
                    </a:moveTo>
                    <a:lnTo>
                      <a:pt x="7" y="0"/>
                    </a:lnTo>
                    <a:lnTo>
                      <a:pt x="16" y="16"/>
                    </a:lnTo>
                    <a:lnTo>
                      <a:pt x="2" y="13"/>
                    </a:lnTo>
                    <a:lnTo>
                      <a:pt x="0" y="7"/>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62" name="Freeform 19"/>
              <p:cNvSpPr>
                <a:spLocks/>
              </p:cNvSpPr>
              <p:nvPr/>
            </p:nvSpPr>
            <p:spPr bwMode="auto">
              <a:xfrm>
                <a:off x="2737" y="3277"/>
                <a:ext cx="17" cy="20"/>
              </a:xfrm>
              <a:custGeom>
                <a:avLst/>
                <a:gdLst>
                  <a:gd name="T0" fmla="*/ 10 w 17"/>
                  <a:gd name="T1" fmla="*/ 0 h 20"/>
                  <a:gd name="T2" fmla="*/ 16 w 17"/>
                  <a:gd name="T3" fmla="*/ 14 h 20"/>
                  <a:gd name="T4" fmla="*/ 3 w 17"/>
                  <a:gd name="T5" fmla="*/ 19 h 20"/>
                  <a:gd name="T6" fmla="*/ 0 w 17"/>
                  <a:gd name="T7" fmla="*/ 14 h 20"/>
                  <a:gd name="T8" fmla="*/ 10 w 17"/>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0">
                    <a:moveTo>
                      <a:pt x="10" y="0"/>
                    </a:moveTo>
                    <a:lnTo>
                      <a:pt x="16" y="14"/>
                    </a:lnTo>
                    <a:lnTo>
                      <a:pt x="3" y="19"/>
                    </a:lnTo>
                    <a:lnTo>
                      <a:pt x="0" y="14"/>
                    </a:lnTo>
                    <a:lnTo>
                      <a:pt x="10"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63" name="Freeform 20"/>
              <p:cNvSpPr>
                <a:spLocks/>
              </p:cNvSpPr>
              <p:nvPr/>
            </p:nvSpPr>
            <p:spPr bwMode="auto">
              <a:xfrm>
                <a:off x="2742" y="3277"/>
                <a:ext cx="17" cy="25"/>
              </a:xfrm>
              <a:custGeom>
                <a:avLst/>
                <a:gdLst>
                  <a:gd name="T0" fmla="*/ 0 w 17"/>
                  <a:gd name="T1" fmla="*/ 0 h 25"/>
                  <a:gd name="T2" fmla="*/ 4 w 17"/>
                  <a:gd name="T3" fmla="*/ 15 h 25"/>
                  <a:gd name="T4" fmla="*/ 16 w 17"/>
                  <a:gd name="T5" fmla="*/ 24 h 25"/>
                  <a:gd name="T6" fmla="*/ 10 w 17"/>
                  <a:gd name="T7" fmla="*/ 12 h 25"/>
                  <a:gd name="T8" fmla="*/ 0 w 17"/>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5">
                    <a:moveTo>
                      <a:pt x="0" y="0"/>
                    </a:moveTo>
                    <a:lnTo>
                      <a:pt x="4" y="15"/>
                    </a:lnTo>
                    <a:lnTo>
                      <a:pt x="16" y="24"/>
                    </a:lnTo>
                    <a:lnTo>
                      <a:pt x="10"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9" name="Group 21"/>
              <p:cNvGrpSpPr>
                <a:grpSpLocks/>
              </p:cNvGrpSpPr>
              <p:nvPr/>
            </p:nvGrpSpPr>
            <p:grpSpPr bwMode="auto">
              <a:xfrm>
                <a:off x="2744" y="3158"/>
                <a:ext cx="178" cy="139"/>
                <a:chOff x="2744" y="3158"/>
                <a:chExt cx="178" cy="139"/>
              </a:xfrm>
            </p:grpSpPr>
            <p:sp>
              <p:nvSpPr>
                <p:cNvPr id="294365" name="Freeform 22"/>
                <p:cNvSpPr>
                  <a:spLocks/>
                </p:cNvSpPr>
                <p:nvPr/>
              </p:nvSpPr>
              <p:spPr bwMode="auto">
                <a:xfrm>
                  <a:off x="2744" y="3196"/>
                  <a:ext cx="153" cy="99"/>
                </a:xfrm>
                <a:custGeom>
                  <a:avLst/>
                  <a:gdLst>
                    <a:gd name="T0" fmla="*/ 122 w 153"/>
                    <a:gd name="T1" fmla="*/ 0 h 99"/>
                    <a:gd name="T2" fmla="*/ 3 w 153"/>
                    <a:gd name="T3" fmla="*/ 89 h 99"/>
                    <a:gd name="T4" fmla="*/ 2 w 153"/>
                    <a:gd name="T5" fmla="*/ 90 h 99"/>
                    <a:gd name="T6" fmla="*/ 1 w 153"/>
                    <a:gd name="T7" fmla="*/ 92 h 99"/>
                    <a:gd name="T8" fmla="*/ 0 w 153"/>
                    <a:gd name="T9" fmla="*/ 94 h 99"/>
                    <a:gd name="T10" fmla="*/ 1 w 153"/>
                    <a:gd name="T11" fmla="*/ 96 h 99"/>
                    <a:gd name="T12" fmla="*/ 2 w 153"/>
                    <a:gd name="T13" fmla="*/ 97 h 99"/>
                    <a:gd name="T14" fmla="*/ 4 w 153"/>
                    <a:gd name="T15" fmla="*/ 98 h 99"/>
                    <a:gd name="T16" fmla="*/ 6 w 153"/>
                    <a:gd name="T17" fmla="*/ 96 h 99"/>
                    <a:gd name="T18" fmla="*/ 152 w 153"/>
                    <a:gd name="T19" fmla="*/ 28 h 99"/>
                    <a:gd name="T20" fmla="*/ 122 w 153"/>
                    <a:gd name="T21" fmla="*/ 0 h 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3" h="99">
                      <a:moveTo>
                        <a:pt x="122" y="0"/>
                      </a:moveTo>
                      <a:lnTo>
                        <a:pt x="3" y="89"/>
                      </a:lnTo>
                      <a:lnTo>
                        <a:pt x="2" y="90"/>
                      </a:lnTo>
                      <a:lnTo>
                        <a:pt x="1" y="92"/>
                      </a:lnTo>
                      <a:lnTo>
                        <a:pt x="0" y="94"/>
                      </a:lnTo>
                      <a:lnTo>
                        <a:pt x="1" y="96"/>
                      </a:lnTo>
                      <a:lnTo>
                        <a:pt x="2" y="97"/>
                      </a:lnTo>
                      <a:lnTo>
                        <a:pt x="4" y="98"/>
                      </a:lnTo>
                      <a:lnTo>
                        <a:pt x="6" y="96"/>
                      </a:lnTo>
                      <a:lnTo>
                        <a:pt x="152" y="28"/>
                      </a:lnTo>
                      <a:lnTo>
                        <a:pt x="122"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66" name="Freeform 23"/>
                <p:cNvSpPr>
                  <a:spLocks/>
                </p:cNvSpPr>
                <p:nvPr/>
              </p:nvSpPr>
              <p:spPr bwMode="auto">
                <a:xfrm>
                  <a:off x="2855" y="3191"/>
                  <a:ext cx="52" cy="25"/>
                </a:xfrm>
                <a:custGeom>
                  <a:avLst/>
                  <a:gdLst>
                    <a:gd name="T0" fmla="*/ 2 w 52"/>
                    <a:gd name="T1" fmla="*/ 12 h 25"/>
                    <a:gd name="T2" fmla="*/ 21 w 52"/>
                    <a:gd name="T3" fmla="*/ 0 h 25"/>
                    <a:gd name="T4" fmla="*/ 51 w 52"/>
                    <a:gd name="T5" fmla="*/ 21 h 25"/>
                    <a:gd name="T6" fmla="*/ 46 w 52"/>
                    <a:gd name="T7" fmla="*/ 24 h 25"/>
                    <a:gd name="T8" fmla="*/ 19 w 52"/>
                    <a:gd name="T9" fmla="*/ 7 h 25"/>
                    <a:gd name="T10" fmla="*/ 0 w 52"/>
                    <a:gd name="T11" fmla="*/ 18 h 25"/>
                    <a:gd name="T12" fmla="*/ 2 w 52"/>
                    <a:gd name="T13" fmla="*/ 12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25">
                      <a:moveTo>
                        <a:pt x="2" y="12"/>
                      </a:moveTo>
                      <a:lnTo>
                        <a:pt x="21" y="0"/>
                      </a:lnTo>
                      <a:lnTo>
                        <a:pt x="51" y="21"/>
                      </a:lnTo>
                      <a:lnTo>
                        <a:pt x="46" y="24"/>
                      </a:lnTo>
                      <a:lnTo>
                        <a:pt x="19" y="7"/>
                      </a:lnTo>
                      <a:lnTo>
                        <a:pt x="0" y="18"/>
                      </a:lnTo>
                      <a:lnTo>
                        <a:pt x="2" y="12"/>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67" name="Freeform 24"/>
                <p:cNvSpPr>
                  <a:spLocks/>
                </p:cNvSpPr>
                <p:nvPr/>
              </p:nvSpPr>
              <p:spPr bwMode="auto">
                <a:xfrm>
                  <a:off x="2855" y="3187"/>
                  <a:ext cx="49" cy="48"/>
                </a:xfrm>
                <a:custGeom>
                  <a:avLst/>
                  <a:gdLst>
                    <a:gd name="T0" fmla="*/ 25 w 49"/>
                    <a:gd name="T1" fmla="*/ 0 h 48"/>
                    <a:gd name="T2" fmla="*/ 2 w 49"/>
                    <a:gd name="T3" fmla="*/ 16 h 48"/>
                    <a:gd name="T4" fmla="*/ 1 w 49"/>
                    <a:gd name="T5" fmla="*/ 18 h 48"/>
                    <a:gd name="T6" fmla="*/ 0 w 49"/>
                    <a:gd name="T7" fmla="*/ 21 h 48"/>
                    <a:gd name="T8" fmla="*/ 0 w 49"/>
                    <a:gd name="T9" fmla="*/ 25 h 48"/>
                    <a:gd name="T10" fmla="*/ 0 w 49"/>
                    <a:gd name="T11" fmla="*/ 28 h 48"/>
                    <a:gd name="T12" fmla="*/ 0 w 49"/>
                    <a:gd name="T13" fmla="*/ 32 h 48"/>
                    <a:gd name="T14" fmla="*/ 1 w 49"/>
                    <a:gd name="T15" fmla="*/ 35 h 48"/>
                    <a:gd name="T16" fmla="*/ 3 w 49"/>
                    <a:gd name="T17" fmla="*/ 38 h 48"/>
                    <a:gd name="T18" fmla="*/ 5 w 49"/>
                    <a:gd name="T19" fmla="*/ 41 h 48"/>
                    <a:gd name="T20" fmla="*/ 9 w 49"/>
                    <a:gd name="T21" fmla="*/ 43 h 48"/>
                    <a:gd name="T22" fmla="*/ 12 w 49"/>
                    <a:gd name="T23" fmla="*/ 45 h 48"/>
                    <a:gd name="T24" fmla="*/ 15 w 49"/>
                    <a:gd name="T25" fmla="*/ 46 h 48"/>
                    <a:gd name="T26" fmla="*/ 19 w 49"/>
                    <a:gd name="T27" fmla="*/ 47 h 48"/>
                    <a:gd name="T28" fmla="*/ 22 w 49"/>
                    <a:gd name="T29" fmla="*/ 47 h 48"/>
                    <a:gd name="T30" fmla="*/ 48 w 49"/>
                    <a:gd name="T31" fmla="*/ 35 h 48"/>
                    <a:gd name="T32" fmla="*/ 21 w 49"/>
                    <a:gd name="T33" fmla="*/ 9 h 48"/>
                    <a:gd name="T34" fmla="*/ 2 w 49"/>
                    <a:gd name="T35" fmla="*/ 20 h 48"/>
                    <a:gd name="T36" fmla="*/ 4 w 49"/>
                    <a:gd name="T37" fmla="*/ 17 h 48"/>
                    <a:gd name="T38" fmla="*/ 23 w 49"/>
                    <a:gd name="T39" fmla="*/ 4 h 48"/>
                    <a:gd name="T40" fmla="*/ 25 w 49"/>
                    <a:gd name="T41" fmla="*/ 0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48">
                      <a:moveTo>
                        <a:pt x="25" y="0"/>
                      </a:moveTo>
                      <a:lnTo>
                        <a:pt x="2" y="16"/>
                      </a:lnTo>
                      <a:lnTo>
                        <a:pt x="1" y="18"/>
                      </a:lnTo>
                      <a:lnTo>
                        <a:pt x="0" y="21"/>
                      </a:lnTo>
                      <a:lnTo>
                        <a:pt x="0" y="25"/>
                      </a:lnTo>
                      <a:lnTo>
                        <a:pt x="0" y="28"/>
                      </a:lnTo>
                      <a:lnTo>
                        <a:pt x="0" y="32"/>
                      </a:lnTo>
                      <a:lnTo>
                        <a:pt x="1" y="35"/>
                      </a:lnTo>
                      <a:lnTo>
                        <a:pt x="3" y="38"/>
                      </a:lnTo>
                      <a:lnTo>
                        <a:pt x="5" y="41"/>
                      </a:lnTo>
                      <a:lnTo>
                        <a:pt x="9" y="43"/>
                      </a:lnTo>
                      <a:lnTo>
                        <a:pt x="12" y="45"/>
                      </a:lnTo>
                      <a:lnTo>
                        <a:pt x="15" y="46"/>
                      </a:lnTo>
                      <a:lnTo>
                        <a:pt x="19" y="47"/>
                      </a:lnTo>
                      <a:lnTo>
                        <a:pt x="22" y="47"/>
                      </a:lnTo>
                      <a:lnTo>
                        <a:pt x="48" y="35"/>
                      </a:lnTo>
                      <a:lnTo>
                        <a:pt x="21" y="9"/>
                      </a:lnTo>
                      <a:lnTo>
                        <a:pt x="2" y="20"/>
                      </a:lnTo>
                      <a:lnTo>
                        <a:pt x="4" y="17"/>
                      </a:lnTo>
                      <a:lnTo>
                        <a:pt x="23" y="4"/>
                      </a:lnTo>
                      <a:lnTo>
                        <a:pt x="25"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68" name="Freeform 25"/>
                <p:cNvSpPr>
                  <a:spLocks/>
                </p:cNvSpPr>
                <p:nvPr/>
              </p:nvSpPr>
              <p:spPr bwMode="auto">
                <a:xfrm>
                  <a:off x="2876" y="3196"/>
                  <a:ext cx="31" cy="28"/>
                </a:xfrm>
                <a:custGeom>
                  <a:avLst/>
                  <a:gdLst>
                    <a:gd name="T0" fmla="*/ 0 w 31"/>
                    <a:gd name="T1" fmla="*/ 0 h 28"/>
                    <a:gd name="T2" fmla="*/ 0 w 31"/>
                    <a:gd name="T3" fmla="*/ 2 h 28"/>
                    <a:gd name="T4" fmla="*/ 1 w 31"/>
                    <a:gd name="T5" fmla="*/ 4 h 28"/>
                    <a:gd name="T6" fmla="*/ 1 w 31"/>
                    <a:gd name="T7" fmla="*/ 6 h 28"/>
                    <a:gd name="T8" fmla="*/ 3 w 31"/>
                    <a:gd name="T9" fmla="*/ 9 h 28"/>
                    <a:gd name="T10" fmla="*/ 4 w 31"/>
                    <a:gd name="T11" fmla="*/ 11 h 28"/>
                    <a:gd name="T12" fmla="*/ 6 w 31"/>
                    <a:gd name="T13" fmla="*/ 15 h 28"/>
                    <a:gd name="T14" fmla="*/ 9 w 31"/>
                    <a:gd name="T15" fmla="*/ 17 h 28"/>
                    <a:gd name="T16" fmla="*/ 12 w 31"/>
                    <a:gd name="T17" fmla="*/ 19 h 28"/>
                    <a:gd name="T18" fmla="*/ 14 w 31"/>
                    <a:gd name="T19" fmla="*/ 22 h 28"/>
                    <a:gd name="T20" fmla="*/ 17 w 31"/>
                    <a:gd name="T21" fmla="*/ 24 h 28"/>
                    <a:gd name="T22" fmla="*/ 20 w 31"/>
                    <a:gd name="T23" fmla="*/ 25 h 28"/>
                    <a:gd name="T24" fmla="*/ 23 w 31"/>
                    <a:gd name="T25" fmla="*/ 26 h 28"/>
                    <a:gd name="T26" fmla="*/ 25 w 31"/>
                    <a:gd name="T27" fmla="*/ 27 h 28"/>
                    <a:gd name="T28" fmla="*/ 27 w 31"/>
                    <a:gd name="T29" fmla="*/ 26 h 28"/>
                    <a:gd name="T30" fmla="*/ 28 w 31"/>
                    <a:gd name="T31" fmla="*/ 24 h 28"/>
                    <a:gd name="T32" fmla="*/ 29 w 31"/>
                    <a:gd name="T33" fmla="*/ 22 h 28"/>
                    <a:gd name="T34" fmla="*/ 30 w 31"/>
                    <a:gd name="T35" fmla="*/ 19 h 28"/>
                    <a:gd name="T36" fmla="*/ 0 w 31"/>
                    <a:gd name="T37" fmla="*/ 0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1" h="28">
                      <a:moveTo>
                        <a:pt x="0" y="0"/>
                      </a:moveTo>
                      <a:lnTo>
                        <a:pt x="0" y="2"/>
                      </a:lnTo>
                      <a:lnTo>
                        <a:pt x="1" y="4"/>
                      </a:lnTo>
                      <a:lnTo>
                        <a:pt x="1" y="6"/>
                      </a:lnTo>
                      <a:lnTo>
                        <a:pt x="3" y="9"/>
                      </a:lnTo>
                      <a:lnTo>
                        <a:pt x="4" y="11"/>
                      </a:lnTo>
                      <a:lnTo>
                        <a:pt x="6" y="15"/>
                      </a:lnTo>
                      <a:lnTo>
                        <a:pt x="9" y="17"/>
                      </a:lnTo>
                      <a:lnTo>
                        <a:pt x="12" y="19"/>
                      </a:lnTo>
                      <a:lnTo>
                        <a:pt x="14" y="22"/>
                      </a:lnTo>
                      <a:lnTo>
                        <a:pt x="17" y="24"/>
                      </a:lnTo>
                      <a:lnTo>
                        <a:pt x="20" y="25"/>
                      </a:lnTo>
                      <a:lnTo>
                        <a:pt x="23" y="26"/>
                      </a:lnTo>
                      <a:lnTo>
                        <a:pt x="25" y="27"/>
                      </a:lnTo>
                      <a:lnTo>
                        <a:pt x="27" y="26"/>
                      </a:lnTo>
                      <a:lnTo>
                        <a:pt x="28" y="24"/>
                      </a:lnTo>
                      <a:lnTo>
                        <a:pt x="29" y="22"/>
                      </a:lnTo>
                      <a:lnTo>
                        <a:pt x="30" y="19"/>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69" name="Freeform 26"/>
                <p:cNvSpPr>
                  <a:spLocks/>
                </p:cNvSpPr>
                <p:nvPr/>
              </p:nvSpPr>
              <p:spPr bwMode="auto">
                <a:xfrm>
                  <a:off x="2877" y="3186"/>
                  <a:ext cx="30" cy="27"/>
                </a:xfrm>
                <a:custGeom>
                  <a:avLst/>
                  <a:gdLst>
                    <a:gd name="T0" fmla="*/ 0 w 30"/>
                    <a:gd name="T1" fmla="*/ 6 h 27"/>
                    <a:gd name="T2" fmla="*/ 0 w 30"/>
                    <a:gd name="T3" fmla="*/ 4 h 27"/>
                    <a:gd name="T4" fmla="*/ 0 w 30"/>
                    <a:gd name="T5" fmla="*/ 2 h 27"/>
                    <a:gd name="T6" fmla="*/ 2 w 30"/>
                    <a:gd name="T7" fmla="*/ 0 h 27"/>
                    <a:gd name="T8" fmla="*/ 5 w 30"/>
                    <a:gd name="T9" fmla="*/ 0 h 27"/>
                    <a:gd name="T10" fmla="*/ 7 w 30"/>
                    <a:gd name="T11" fmla="*/ 0 h 27"/>
                    <a:gd name="T12" fmla="*/ 10 w 30"/>
                    <a:gd name="T13" fmla="*/ 0 h 27"/>
                    <a:gd name="T14" fmla="*/ 13 w 30"/>
                    <a:gd name="T15" fmla="*/ 1 h 27"/>
                    <a:gd name="T16" fmla="*/ 17 w 30"/>
                    <a:gd name="T17" fmla="*/ 3 h 27"/>
                    <a:gd name="T18" fmla="*/ 20 w 30"/>
                    <a:gd name="T19" fmla="*/ 5 h 27"/>
                    <a:gd name="T20" fmla="*/ 22 w 30"/>
                    <a:gd name="T21" fmla="*/ 7 h 27"/>
                    <a:gd name="T22" fmla="*/ 24 w 30"/>
                    <a:gd name="T23" fmla="*/ 10 h 27"/>
                    <a:gd name="T24" fmla="*/ 26 w 30"/>
                    <a:gd name="T25" fmla="*/ 13 h 27"/>
                    <a:gd name="T26" fmla="*/ 27 w 30"/>
                    <a:gd name="T27" fmla="*/ 15 h 27"/>
                    <a:gd name="T28" fmla="*/ 28 w 30"/>
                    <a:gd name="T29" fmla="*/ 19 h 27"/>
                    <a:gd name="T30" fmla="*/ 29 w 30"/>
                    <a:gd name="T31" fmla="*/ 23 h 27"/>
                    <a:gd name="T32" fmla="*/ 29 w 30"/>
                    <a:gd name="T33" fmla="*/ 26 h 27"/>
                    <a:gd name="T34" fmla="*/ 0 w 30"/>
                    <a:gd name="T35" fmla="*/ 6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0" h="27">
                      <a:moveTo>
                        <a:pt x="0" y="6"/>
                      </a:moveTo>
                      <a:lnTo>
                        <a:pt x="0" y="4"/>
                      </a:lnTo>
                      <a:lnTo>
                        <a:pt x="0" y="2"/>
                      </a:lnTo>
                      <a:lnTo>
                        <a:pt x="2" y="0"/>
                      </a:lnTo>
                      <a:lnTo>
                        <a:pt x="5" y="0"/>
                      </a:lnTo>
                      <a:lnTo>
                        <a:pt x="7" y="0"/>
                      </a:lnTo>
                      <a:lnTo>
                        <a:pt x="10" y="0"/>
                      </a:lnTo>
                      <a:lnTo>
                        <a:pt x="13" y="1"/>
                      </a:lnTo>
                      <a:lnTo>
                        <a:pt x="17" y="3"/>
                      </a:lnTo>
                      <a:lnTo>
                        <a:pt x="20" y="5"/>
                      </a:lnTo>
                      <a:lnTo>
                        <a:pt x="22" y="7"/>
                      </a:lnTo>
                      <a:lnTo>
                        <a:pt x="24" y="10"/>
                      </a:lnTo>
                      <a:lnTo>
                        <a:pt x="26" y="13"/>
                      </a:lnTo>
                      <a:lnTo>
                        <a:pt x="27" y="15"/>
                      </a:lnTo>
                      <a:lnTo>
                        <a:pt x="28" y="19"/>
                      </a:lnTo>
                      <a:lnTo>
                        <a:pt x="29" y="23"/>
                      </a:lnTo>
                      <a:lnTo>
                        <a:pt x="29" y="26"/>
                      </a:lnTo>
                      <a:lnTo>
                        <a:pt x="0" y="6"/>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70" name="Freeform 27"/>
                <p:cNvSpPr>
                  <a:spLocks/>
                </p:cNvSpPr>
                <p:nvPr/>
              </p:nvSpPr>
              <p:spPr bwMode="auto">
                <a:xfrm>
                  <a:off x="2809" y="3158"/>
                  <a:ext cx="66" cy="85"/>
                </a:xfrm>
                <a:custGeom>
                  <a:avLst/>
                  <a:gdLst>
                    <a:gd name="T0" fmla="*/ 0 w 66"/>
                    <a:gd name="T1" fmla="*/ 84 h 85"/>
                    <a:gd name="T2" fmla="*/ 53 w 66"/>
                    <a:gd name="T3" fmla="*/ 44 h 85"/>
                    <a:gd name="T4" fmla="*/ 65 w 66"/>
                    <a:gd name="T5" fmla="*/ 0 h 85"/>
                    <a:gd name="T6" fmla="*/ 50 w 66"/>
                    <a:gd name="T7" fmla="*/ 15 h 85"/>
                    <a:gd name="T8" fmla="*/ 47 w 66"/>
                    <a:gd name="T9" fmla="*/ 21 h 85"/>
                    <a:gd name="T10" fmla="*/ 45 w 66"/>
                    <a:gd name="T11" fmla="*/ 17 h 85"/>
                    <a:gd name="T12" fmla="*/ 30 w 66"/>
                    <a:gd name="T13" fmla="*/ 40 h 85"/>
                    <a:gd name="T14" fmla="*/ 29 w 66"/>
                    <a:gd name="T15" fmla="*/ 34 h 85"/>
                    <a:gd name="T16" fmla="*/ 11 w 66"/>
                    <a:gd name="T17" fmla="*/ 56 h 85"/>
                    <a:gd name="T18" fmla="*/ 0 w 66"/>
                    <a:gd name="T19" fmla="*/ 84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85">
                      <a:moveTo>
                        <a:pt x="0" y="84"/>
                      </a:moveTo>
                      <a:lnTo>
                        <a:pt x="53" y="44"/>
                      </a:lnTo>
                      <a:lnTo>
                        <a:pt x="65" y="0"/>
                      </a:lnTo>
                      <a:lnTo>
                        <a:pt x="50" y="15"/>
                      </a:lnTo>
                      <a:lnTo>
                        <a:pt x="47" y="21"/>
                      </a:lnTo>
                      <a:lnTo>
                        <a:pt x="45" y="17"/>
                      </a:lnTo>
                      <a:lnTo>
                        <a:pt x="30" y="40"/>
                      </a:lnTo>
                      <a:lnTo>
                        <a:pt x="29" y="34"/>
                      </a:lnTo>
                      <a:lnTo>
                        <a:pt x="11" y="56"/>
                      </a:lnTo>
                      <a:lnTo>
                        <a:pt x="0" y="84"/>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71" name="Freeform 28"/>
                <p:cNvSpPr>
                  <a:spLocks/>
                </p:cNvSpPr>
                <p:nvPr/>
              </p:nvSpPr>
              <p:spPr bwMode="auto">
                <a:xfrm>
                  <a:off x="2812" y="3207"/>
                  <a:ext cx="58" cy="42"/>
                </a:xfrm>
                <a:custGeom>
                  <a:avLst/>
                  <a:gdLst>
                    <a:gd name="T0" fmla="*/ 6 w 58"/>
                    <a:gd name="T1" fmla="*/ 33 h 42"/>
                    <a:gd name="T2" fmla="*/ 57 w 58"/>
                    <a:gd name="T3" fmla="*/ 0 h 42"/>
                    <a:gd name="T4" fmla="*/ 43 w 58"/>
                    <a:gd name="T5" fmla="*/ 14 h 42"/>
                    <a:gd name="T6" fmla="*/ 0 w 58"/>
                    <a:gd name="T7" fmla="*/ 41 h 42"/>
                    <a:gd name="T8" fmla="*/ 6 w 58"/>
                    <a:gd name="T9" fmla="*/ 33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8" h="42">
                      <a:moveTo>
                        <a:pt x="6" y="33"/>
                      </a:moveTo>
                      <a:lnTo>
                        <a:pt x="57" y="0"/>
                      </a:lnTo>
                      <a:lnTo>
                        <a:pt x="43" y="14"/>
                      </a:lnTo>
                      <a:lnTo>
                        <a:pt x="0" y="41"/>
                      </a:lnTo>
                      <a:lnTo>
                        <a:pt x="6" y="33"/>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72" name="Freeform 29"/>
                <p:cNvSpPr>
                  <a:spLocks/>
                </p:cNvSpPr>
                <p:nvPr/>
              </p:nvSpPr>
              <p:spPr bwMode="auto">
                <a:xfrm>
                  <a:off x="2814" y="3226"/>
                  <a:ext cx="108" cy="36"/>
                </a:xfrm>
                <a:custGeom>
                  <a:avLst/>
                  <a:gdLst>
                    <a:gd name="T0" fmla="*/ 0 w 108"/>
                    <a:gd name="T1" fmla="*/ 30 h 36"/>
                    <a:gd name="T2" fmla="*/ 67 w 108"/>
                    <a:gd name="T3" fmla="*/ 0 h 36"/>
                    <a:gd name="T4" fmla="*/ 107 w 108"/>
                    <a:gd name="T5" fmla="*/ 15 h 36"/>
                    <a:gd name="T6" fmla="*/ 86 w 108"/>
                    <a:gd name="T7" fmla="*/ 19 h 36"/>
                    <a:gd name="T8" fmla="*/ 79 w 108"/>
                    <a:gd name="T9" fmla="*/ 19 h 36"/>
                    <a:gd name="T10" fmla="*/ 83 w 108"/>
                    <a:gd name="T11" fmla="*/ 22 h 36"/>
                    <a:gd name="T12" fmla="*/ 61 w 108"/>
                    <a:gd name="T13" fmla="*/ 27 h 36"/>
                    <a:gd name="T14" fmla="*/ 54 w 108"/>
                    <a:gd name="T15" fmla="*/ 27 h 36"/>
                    <a:gd name="T16" fmla="*/ 59 w 108"/>
                    <a:gd name="T17" fmla="*/ 29 h 36"/>
                    <a:gd name="T18" fmla="*/ 29 w 108"/>
                    <a:gd name="T19" fmla="*/ 35 h 36"/>
                    <a:gd name="T20" fmla="*/ 0 w 108"/>
                    <a:gd name="T21" fmla="*/ 3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36">
                      <a:moveTo>
                        <a:pt x="0" y="30"/>
                      </a:moveTo>
                      <a:lnTo>
                        <a:pt x="67" y="0"/>
                      </a:lnTo>
                      <a:lnTo>
                        <a:pt x="107" y="15"/>
                      </a:lnTo>
                      <a:lnTo>
                        <a:pt x="86" y="19"/>
                      </a:lnTo>
                      <a:lnTo>
                        <a:pt x="79" y="19"/>
                      </a:lnTo>
                      <a:lnTo>
                        <a:pt x="83" y="22"/>
                      </a:lnTo>
                      <a:lnTo>
                        <a:pt x="61" y="27"/>
                      </a:lnTo>
                      <a:lnTo>
                        <a:pt x="54" y="27"/>
                      </a:lnTo>
                      <a:lnTo>
                        <a:pt x="59" y="29"/>
                      </a:lnTo>
                      <a:lnTo>
                        <a:pt x="29" y="35"/>
                      </a:lnTo>
                      <a:lnTo>
                        <a:pt x="0" y="3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73" name="Freeform 30"/>
                <p:cNvSpPr>
                  <a:spLocks/>
                </p:cNvSpPr>
                <p:nvPr/>
              </p:nvSpPr>
              <p:spPr bwMode="auto">
                <a:xfrm>
                  <a:off x="2790" y="3238"/>
                  <a:ext cx="32" cy="33"/>
                </a:xfrm>
                <a:custGeom>
                  <a:avLst/>
                  <a:gdLst>
                    <a:gd name="T0" fmla="*/ 20 w 32"/>
                    <a:gd name="T1" fmla="*/ 0 h 33"/>
                    <a:gd name="T2" fmla="*/ 19 w 32"/>
                    <a:gd name="T3" fmla="*/ 3 h 33"/>
                    <a:gd name="T4" fmla="*/ 19 w 32"/>
                    <a:gd name="T5" fmla="*/ 6 h 33"/>
                    <a:gd name="T6" fmla="*/ 18 w 32"/>
                    <a:gd name="T7" fmla="*/ 9 h 33"/>
                    <a:gd name="T8" fmla="*/ 19 w 32"/>
                    <a:gd name="T9" fmla="*/ 12 h 33"/>
                    <a:gd name="T10" fmla="*/ 20 w 32"/>
                    <a:gd name="T11" fmla="*/ 15 h 33"/>
                    <a:gd name="T12" fmla="*/ 21 w 32"/>
                    <a:gd name="T13" fmla="*/ 17 h 33"/>
                    <a:gd name="T14" fmla="*/ 23 w 32"/>
                    <a:gd name="T15" fmla="*/ 19 h 33"/>
                    <a:gd name="T16" fmla="*/ 26 w 32"/>
                    <a:gd name="T17" fmla="*/ 21 h 33"/>
                    <a:gd name="T18" fmla="*/ 29 w 32"/>
                    <a:gd name="T19" fmla="*/ 21 h 33"/>
                    <a:gd name="T20" fmla="*/ 31 w 32"/>
                    <a:gd name="T21" fmla="*/ 22 h 33"/>
                    <a:gd name="T22" fmla="*/ 10 w 32"/>
                    <a:gd name="T23" fmla="*/ 32 h 33"/>
                    <a:gd name="T24" fmla="*/ 8 w 32"/>
                    <a:gd name="T25" fmla="*/ 31 h 33"/>
                    <a:gd name="T26" fmla="*/ 5 w 32"/>
                    <a:gd name="T27" fmla="*/ 30 h 33"/>
                    <a:gd name="T28" fmla="*/ 3 w 32"/>
                    <a:gd name="T29" fmla="*/ 28 h 33"/>
                    <a:gd name="T30" fmla="*/ 1 w 32"/>
                    <a:gd name="T31" fmla="*/ 27 h 33"/>
                    <a:gd name="T32" fmla="*/ 0 w 32"/>
                    <a:gd name="T33" fmla="*/ 25 h 33"/>
                    <a:gd name="T34" fmla="*/ 0 w 32"/>
                    <a:gd name="T35" fmla="*/ 23 h 33"/>
                    <a:gd name="T36" fmla="*/ 0 w 32"/>
                    <a:gd name="T37" fmla="*/ 21 h 33"/>
                    <a:gd name="T38" fmla="*/ 0 w 32"/>
                    <a:gd name="T39" fmla="*/ 18 h 33"/>
                    <a:gd name="T40" fmla="*/ 1 w 32"/>
                    <a:gd name="T41" fmla="*/ 15 h 33"/>
                    <a:gd name="T42" fmla="*/ 2 w 32"/>
                    <a:gd name="T43" fmla="*/ 13 h 33"/>
                    <a:gd name="T44" fmla="*/ 20 w 32"/>
                    <a:gd name="T45" fmla="*/ 0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2" h="33">
                      <a:moveTo>
                        <a:pt x="20" y="0"/>
                      </a:moveTo>
                      <a:lnTo>
                        <a:pt x="19" y="3"/>
                      </a:lnTo>
                      <a:lnTo>
                        <a:pt x="19" y="6"/>
                      </a:lnTo>
                      <a:lnTo>
                        <a:pt x="18" y="9"/>
                      </a:lnTo>
                      <a:lnTo>
                        <a:pt x="19" y="12"/>
                      </a:lnTo>
                      <a:lnTo>
                        <a:pt x="20" y="15"/>
                      </a:lnTo>
                      <a:lnTo>
                        <a:pt x="21" y="17"/>
                      </a:lnTo>
                      <a:lnTo>
                        <a:pt x="23" y="19"/>
                      </a:lnTo>
                      <a:lnTo>
                        <a:pt x="26" y="21"/>
                      </a:lnTo>
                      <a:lnTo>
                        <a:pt x="29" y="21"/>
                      </a:lnTo>
                      <a:lnTo>
                        <a:pt x="31" y="22"/>
                      </a:lnTo>
                      <a:lnTo>
                        <a:pt x="10" y="32"/>
                      </a:lnTo>
                      <a:lnTo>
                        <a:pt x="8" y="31"/>
                      </a:lnTo>
                      <a:lnTo>
                        <a:pt x="5" y="30"/>
                      </a:lnTo>
                      <a:lnTo>
                        <a:pt x="3" y="28"/>
                      </a:lnTo>
                      <a:lnTo>
                        <a:pt x="1" y="27"/>
                      </a:lnTo>
                      <a:lnTo>
                        <a:pt x="0" y="25"/>
                      </a:lnTo>
                      <a:lnTo>
                        <a:pt x="0" y="23"/>
                      </a:lnTo>
                      <a:lnTo>
                        <a:pt x="0" y="21"/>
                      </a:lnTo>
                      <a:lnTo>
                        <a:pt x="0" y="18"/>
                      </a:lnTo>
                      <a:lnTo>
                        <a:pt x="1" y="15"/>
                      </a:lnTo>
                      <a:lnTo>
                        <a:pt x="2" y="13"/>
                      </a:lnTo>
                      <a:lnTo>
                        <a:pt x="20"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74" name="Freeform 31"/>
                <p:cNvSpPr>
                  <a:spLocks/>
                </p:cNvSpPr>
                <p:nvPr/>
              </p:nvSpPr>
              <p:spPr bwMode="auto">
                <a:xfrm>
                  <a:off x="2795" y="3245"/>
                  <a:ext cx="17" cy="23"/>
                </a:xfrm>
                <a:custGeom>
                  <a:avLst/>
                  <a:gdLst>
                    <a:gd name="T0" fmla="*/ 7 w 17"/>
                    <a:gd name="T1" fmla="*/ 0 h 23"/>
                    <a:gd name="T2" fmla="*/ 6 w 17"/>
                    <a:gd name="T3" fmla="*/ 1 h 23"/>
                    <a:gd name="T4" fmla="*/ 5 w 17"/>
                    <a:gd name="T5" fmla="*/ 4 h 23"/>
                    <a:gd name="T6" fmla="*/ 4 w 17"/>
                    <a:gd name="T7" fmla="*/ 7 h 23"/>
                    <a:gd name="T8" fmla="*/ 4 w 17"/>
                    <a:gd name="T9" fmla="*/ 9 h 23"/>
                    <a:gd name="T10" fmla="*/ 4 w 17"/>
                    <a:gd name="T11" fmla="*/ 11 h 23"/>
                    <a:gd name="T12" fmla="*/ 5 w 17"/>
                    <a:gd name="T13" fmla="*/ 14 h 23"/>
                    <a:gd name="T14" fmla="*/ 7 w 17"/>
                    <a:gd name="T15" fmla="*/ 16 h 23"/>
                    <a:gd name="T16" fmla="*/ 10 w 17"/>
                    <a:gd name="T17" fmla="*/ 18 h 23"/>
                    <a:gd name="T18" fmla="*/ 12 w 17"/>
                    <a:gd name="T19" fmla="*/ 19 h 23"/>
                    <a:gd name="T20" fmla="*/ 16 w 17"/>
                    <a:gd name="T21" fmla="*/ 20 h 23"/>
                    <a:gd name="T22" fmla="*/ 12 w 17"/>
                    <a:gd name="T23" fmla="*/ 22 h 23"/>
                    <a:gd name="T24" fmla="*/ 9 w 17"/>
                    <a:gd name="T25" fmla="*/ 21 h 23"/>
                    <a:gd name="T26" fmla="*/ 6 w 17"/>
                    <a:gd name="T27" fmla="*/ 20 h 23"/>
                    <a:gd name="T28" fmla="*/ 4 w 17"/>
                    <a:gd name="T29" fmla="*/ 19 h 23"/>
                    <a:gd name="T30" fmla="*/ 2 w 17"/>
                    <a:gd name="T31" fmla="*/ 17 h 23"/>
                    <a:gd name="T32" fmla="*/ 1 w 17"/>
                    <a:gd name="T33" fmla="*/ 14 h 23"/>
                    <a:gd name="T34" fmla="*/ 0 w 17"/>
                    <a:gd name="T35" fmla="*/ 13 h 23"/>
                    <a:gd name="T36" fmla="*/ 0 w 17"/>
                    <a:gd name="T37" fmla="*/ 11 h 23"/>
                    <a:gd name="T38" fmla="*/ 0 w 17"/>
                    <a:gd name="T39" fmla="*/ 7 h 23"/>
                    <a:gd name="T40" fmla="*/ 1 w 17"/>
                    <a:gd name="T41" fmla="*/ 5 h 23"/>
                    <a:gd name="T42" fmla="*/ 2 w 17"/>
                    <a:gd name="T43" fmla="*/ 3 h 23"/>
                    <a:gd name="T44" fmla="*/ 7 w 17"/>
                    <a:gd name="T45" fmla="*/ 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7" h="23">
                      <a:moveTo>
                        <a:pt x="7" y="0"/>
                      </a:moveTo>
                      <a:lnTo>
                        <a:pt x="6" y="1"/>
                      </a:lnTo>
                      <a:lnTo>
                        <a:pt x="5" y="4"/>
                      </a:lnTo>
                      <a:lnTo>
                        <a:pt x="4" y="7"/>
                      </a:lnTo>
                      <a:lnTo>
                        <a:pt x="4" y="9"/>
                      </a:lnTo>
                      <a:lnTo>
                        <a:pt x="4" y="11"/>
                      </a:lnTo>
                      <a:lnTo>
                        <a:pt x="5" y="14"/>
                      </a:lnTo>
                      <a:lnTo>
                        <a:pt x="7" y="16"/>
                      </a:lnTo>
                      <a:lnTo>
                        <a:pt x="10" y="18"/>
                      </a:lnTo>
                      <a:lnTo>
                        <a:pt x="12" y="19"/>
                      </a:lnTo>
                      <a:lnTo>
                        <a:pt x="16" y="20"/>
                      </a:lnTo>
                      <a:lnTo>
                        <a:pt x="12" y="22"/>
                      </a:lnTo>
                      <a:lnTo>
                        <a:pt x="9" y="21"/>
                      </a:lnTo>
                      <a:lnTo>
                        <a:pt x="6" y="20"/>
                      </a:lnTo>
                      <a:lnTo>
                        <a:pt x="4" y="19"/>
                      </a:lnTo>
                      <a:lnTo>
                        <a:pt x="2" y="17"/>
                      </a:lnTo>
                      <a:lnTo>
                        <a:pt x="1" y="14"/>
                      </a:lnTo>
                      <a:lnTo>
                        <a:pt x="0" y="13"/>
                      </a:lnTo>
                      <a:lnTo>
                        <a:pt x="0" y="11"/>
                      </a:lnTo>
                      <a:lnTo>
                        <a:pt x="0" y="7"/>
                      </a:lnTo>
                      <a:lnTo>
                        <a:pt x="1" y="5"/>
                      </a:lnTo>
                      <a:lnTo>
                        <a:pt x="2" y="3"/>
                      </a:lnTo>
                      <a:lnTo>
                        <a:pt x="7"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75" name="Freeform 32"/>
                <p:cNvSpPr>
                  <a:spLocks/>
                </p:cNvSpPr>
                <p:nvPr/>
              </p:nvSpPr>
              <p:spPr bwMode="auto">
                <a:xfrm>
                  <a:off x="2744" y="3280"/>
                  <a:ext cx="17" cy="17"/>
                </a:xfrm>
                <a:custGeom>
                  <a:avLst/>
                  <a:gdLst>
                    <a:gd name="T0" fmla="*/ 11 w 17"/>
                    <a:gd name="T1" fmla="*/ 0 h 17"/>
                    <a:gd name="T2" fmla="*/ 3 w 17"/>
                    <a:gd name="T3" fmla="*/ 6 h 17"/>
                    <a:gd name="T4" fmla="*/ 2 w 17"/>
                    <a:gd name="T5" fmla="*/ 7 h 17"/>
                    <a:gd name="T6" fmla="*/ 1 w 17"/>
                    <a:gd name="T7" fmla="*/ 9 h 17"/>
                    <a:gd name="T8" fmla="*/ 0 w 17"/>
                    <a:gd name="T9" fmla="*/ 12 h 17"/>
                    <a:gd name="T10" fmla="*/ 1 w 17"/>
                    <a:gd name="T11" fmla="*/ 14 h 17"/>
                    <a:gd name="T12" fmla="*/ 3 w 17"/>
                    <a:gd name="T13" fmla="*/ 15 h 17"/>
                    <a:gd name="T14" fmla="*/ 4 w 17"/>
                    <a:gd name="T15" fmla="*/ 16 h 17"/>
                    <a:gd name="T16" fmla="*/ 6 w 17"/>
                    <a:gd name="T17" fmla="*/ 14 h 17"/>
                    <a:gd name="T18" fmla="*/ 16 w 17"/>
                    <a:gd name="T19" fmla="*/ 10 h 17"/>
                    <a:gd name="T20" fmla="*/ 13 w 17"/>
                    <a:gd name="T21" fmla="*/ 9 h 17"/>
                    <a:gd name="T22" fmla="*/ 12 w 17"/>
                    <a:gd name="T23" fmla="*/ 8 h 17"/>
                    <a:gd name="T24" fmla="*/ 11 w 17"/>
                    <a:gd name="T25" fmla="*/ 6 h 17"/>
                    <a:gd name="T26" fmla="*/ 11 w 17"/>
                    <a:gd name="T27" fmla="*/ 4 h 17"/>
                    <a:gd name="T28" fmla="*/ 11 w 17"/>
                    <a:gd name="T29" fmla="*/ 2 h 17"/>
                    <a:gd name="T30" fmla="*/ 11 w 17"/>
                    <a:gd name="T31" fmla="*/ 0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 h="17">
                      <a:moveTo>
                        <a:pt x="11" y="0"/>
                      </a:moveTo>
                      <a:lnTo>
                        <a:pt x="3" y="6"/>
                      </a:lnTo>
                      <a:lnTo>
                        <a:pt x="2" y="7"/>
                      </a:lnTo>
                      <a:lnTo>
                        <a:pt x="1" y="9"/>
                      </a:lnTo>
                      <a:lnTo>
                        <a:pt x="0" y="12"/>
                      </a:lnTo>
                      <a:lnTo>
                        <a:pt x="1" y="14"/>
                      </a:lnTo>
                      <a:lnTo>
                        <a:pt x="3" y="15"/>
                      </a:lnTo>
                      <a:lnTo>
                        <a:pt x="4" y="16"/>
                      </a:lnTo>
                      <a:lnTo>
                        <a:pt x="6" y="14"/>
                      </a:lnTo>
                      <a:lnTo>
                        <a:pt x="16" y="10"/>
                      </a:lnTo>
                      <a:lnTo>
                        <a:pt x="13" y="9"/>
                      </a:lnTo>
                      <a:lnTo>
                        <a:pt x="12" y="8"/>
                      </a:lnTo>
                      <a:lnTo>
                        <a:pt x="11" y="6"/>
                      </a:lnTo>
                      <a:lnTo>
                        <a:pt x="11" y="4"/>
                      </a:lnTo>
                      <a:lnTo>
                        <a:pt x="11" y="2"/>
                      </a:lnTo>
                      <a:lnTo>
                        <a:pt x="11"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grpSp>
          <p:nvGrpSpPr>
            <p:cNvPr id="10" name="Group 33"/>
            <p:cNvGrpSpPr>
              <a:grpSpLocks/>
            </p:cNvGrpSpPr>
            <p:nvPr/>
          </p:nvGrpSpPr>
          <p:grpSpPr bwMode="auto">
            <a:xfrm>
              <a:off x="3171" y="2184"/>
              <a:ext cx="142" cy="150"/>
              <a:chOff x="2532" y="3117"/>
              <a:chExt cx="162" cy="184"/>
            </a:xfrm>
          </p:grpSpPr>
          <p:sp>
            <p:nvSpPr>
              <p:cNvPr id="294346" name="Freeform 34"/>
              <p:cNvSpPr>
                <a:spLocks/>
              </p:cNvSpPr>
              <p:nvPr/>
            </p:nvSpPr>
            <p:spPr bwMode="auto">
              <a:xfrm>
                <a:off x="2535" y="3284"/>
                <a:ext cx="17" cy="17"/>
              </a:xfrm>
              <a:custGeom>
                <a:avLst/>
                <a:gdLst>
                  <a:gd name="T0" fmla="*/ 0 w 17"/>
                  <a:gd name="T1" fmla="*/ 10 h 17"/>
                  <a:gd name="T2" fmla="*/ 4 w 17"/>
                  <a:gd name="T3" fmla="*/ 0 h 17"/>
                  <a:gd name="T4" fmla="*/ 16 w 17"/>
                  <a:gd name="T5" fmla="*/ 12 h 17"/>
                  <a:gd name="T6" fmla="*/ 3 w 17"/>
                  <a:gd name="T7" fmla="*/ 16 h 17"/>
                  <a:gd name="T8" fmla="*/ 0 w 17"/>
                  <a:gd name="T9" fmla="*/ 1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10"/>
                    </a:moveTo>
                    <a:lnTo>
                      <a:pt x="4" y="0"/>
                    </a:lnTo>
                    <a:lnTo>
                      <a:pt x="16" y="12"/>
                    </a:lnTo>
                    <a:lnTo>
                      <a:pt x="3" y="16"/>
                    </a:lnTo>
                    <a:lnTo>
                      <a:pt x="0" y="10"/>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47" name="Freeform 35"/>
              <p:cNvSpPr>
                <a:spLocks/>
              </p:cNvSpPr>
              <p:nvPr/>
            </p:nvSpPr>
            <p:spPr bwMode="auto">
              <a:xfrm>
                <a:off x="2533" y="3271"/>
                <a:ext cx="18" cy="21"/>
              </a:xfrm>
              <a:custGeom>
                <a:avLst/>
                <a:gdLst>
                  <a:gd name="T0" fmla="*/ 0 w 18"/>
                  <a:gd name="T1" fmla="*/ 0 h 21"/>
                  <a:gd name="T2" fmla="*/ 10 w 18"/>
                  <a:gd name="T3" fmla="*/ 9 h 21"/>
                  <a:gd name="T4" fmla="*/ 17 w 18"/>
                  <a:gd name="T5" fmla="*/ 20 h 21"/>
                  <a:gd name="T6" fmla="*/ 6 w 18"/>
                  <a:gd name="T7" fmla="*/ 12 h 21"/>
                  <a:gd name="T8" fmla="*/ 0 w 18"/>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1">
                    <a:moveTo>
                      <a:pt x="0" y="0"/>
                    </a:moveTo>
                    <a:lnTo>
                      <a:pt x="10" y="9"/>
                    </a:lnTo>
                    <a:lnTo>
                      <a:pt x="17" y="20"/>
                    </a:lnTo>
                    <a:lnTo>
                      <a:pt x="6"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48" name="Freeform 36"/>
              <p:cNvSpPr>
                <a:spLocks/>
              </p:cNvSpPr>
              <p:nvPr/>
            </p:nvSpPr>
            <p:spPr bwMode="auto">
              <a:xfrm>
                <a:off x="2532" y="3271"/>
                <a:ext cx="17" cy="19"/>
              </a:xfrm>
              <a:custGeom>
                <a:avLst/>
                <a:gdLst>
                  <a:gd name="T0" fmla="*/ 2 w 17"/>
                  <a:gd name="T1" fmla="*/ 0 h 19"/>
                  <a:gd name="T2" fmla="*/ 16 w 17"/>
                  <a:gd name="T3" fmla="*/ 12 h 19"/>
                  <a:gd name="T4" fmla="*/ 5 w 17"/>
                  <a:gd name="T5" fmla="*/ 18 h 19"/>
                  <a:gd name="T6" fmla="*/ 0 w 17"/>
                  <a:gd name="T7" fmla="*/ 15 h 19"/>
                  <a:gd name="T8" fmla="*/ 2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2" y="0"/>
                    </a:moveTo>
                    <a:lnTo>
                      <a:pt x="16" y="12"/>
                    </a:lnTo>
                    <a:lnTo>
                      <a:pt x="5" y="18"/>
                    </a:lnTo>
                    <a:lnTo>
                      <a:pt x="0" y="15"/>
                    </a:lnTo>
                    <a:lnTo>
                      <a:pt x="2"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49" name="Freeform 37"/>
              <p:cNvSpPr>
                <a:spLocks/>
              </p:cNvSpPr>
              <p:nvPr/>
            </p:nvSpPr>
            <p:spPr bwMode="auto">
              <a:xfrm>
                <a:off x="2538" y="3161"/>
                <a:ext cx="117" cy="125"/>
              </a:xfrm>
              <a:custGeom>
                <a:avLst/>
                <a:gdLst>
                  <a:gd name="T0" fmla="*/ 87 w 117"/>
                  <a:gd name="T1" fmla="*/ 0 h 125"/>
                  <a:gd name="T2" fmla="*/ 0 w 117"/>
                  <a:gd name="T3" fmla="*/ 118 h 125"/>
                  <a:gd name="T4" fmla="*/ 0 w 117"/>
                  <a:gd name="T5" fmla="*/ 119 h 125"/>
                  <a:gd name="T6" fmla="*/ 0 w 117"/>
                  <a:gd name="T7" fmla="*/ 121 h 125"/>
                  <a:gd name="T8" fmla="*/ 0 w 117"/>
                  <a:gd name="T9" fmla="*/ 122 h 125"/>
                  <a:gd name="T10" fmla="*/ 1 w 117"/>
                  <a:gd name="T11" fmla="*/ 124 h 125"/>
                  <a:gd name="T12" fmla="*/ 3 w 117"/>
                  <a:gd name="T13" fmla="*/ 124 h 125"/>
                  <a:gd name="T14" fmla="*/ 5 w 117"/>
                  <a:gd name="T15" fmla="*/ 124 h 125"/>
                  <a:gd name="T16" fmla="*/ 116 w 117"/>
                  <a:gd name="T17" fmla="*/ 24 h 125"/>
                  <a:gd name="T18" fmla="*/ 87 w 117"/>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7" h="125">
                    <a:moveTo>
                      <a:pt x="87" y="0"/>
                    </a:moveTo>
                    <a:lnTo>
                      <a:pt x="0" y="118"/>
                    </a:lnTo>
                    <a:lnTo>
                      <a:pt x="0" y="119"/>
                    </a:lnTo>
                    <a:lnTo>
                      <a:pt x="0" y="121"/>
                    </a:lnTo>
                    <a:lnTo>
                      <a:pt x="0" y="122"/>
                    </a:lnTo>
                    <a:lnTo>
                      <a:pt x="1" y="124"/>
                    </a:lnTo>
                    <a:lnTo>
                      <a:pt x="3" y="124"/>
                    </a:lnTo>
                    <a:lnTo>
                      <a:pt x="5" y="124"/>
                    </a:lnTo>
                    <a:lnTo>
                      <a:pt x="116" y="24"/>
                    </a:lnTo>
                    <a:lnTo>
                      <a:pt x="87"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50" name="Freeform 38"/>
              <p:cNvSpPr>
                <a:spLocks/>
              </p:cNvSpPr>
              <p:nvPr/>
            </p:nvSpPr>
            <p:spPr bwMode="auto">
              <a:xfrm>
                <a:off x="2623" y="3149"/>
                <a:ext cx="49" cy="24"/>
              </a:xfrm>
              <a:custGeom>
                <a:avLst/>
                <a:gdLst>
                  <a:gd name="T0" fmla="*/ 13 w 49"/>
                  <a:gd name="T1" fmla="*/ 0 h 24"/>
                  <a:gd name="T2" fmla="*/ 48 w 49"/>
                  <a:gd name="T3" fmla="*/ 11 h 24"/>
                  <a:gd name="T4" fmla="*/ 45 w 49"/>
                  <a:gd name="T5" fmla="*/ 13 h 24"/>
                  <a:gd name="T6" fmla="*/ 45 w 49"/>
                  <a:gd name="T7" fmla="*/ 16 h 24"/>
                  <a:gd name="T8" fmla="*/ 16 w 49"/>
                  <a:gd name="T9" fmla="*/ 6 h 24"/>
                  <a:gd name="T10" fmla="*/ 0 w 49"/>
                  <a:gd name="T11" fmla="*/ 23 h 24"/>
                  <a:gd name="T12" fmla="*/ 0 w 49"/>
                  <a:gd name="T13" fmla="*/ 16 h 24"/>
                  <a:gd name="T14" fmla="*/ 13 w 49"/>
                  <a:gd name="T15" fmla="*/ 0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9" h="24">
                    <a:moveTo>
                      <a:pt x="13" y="0"/>
                    </a:moveTo>
                    <a:lnTo>
                      <a:pt x="48" y="11"/>
                    </a:lnTo>
                    <a:lnTo>
                      <a:pt x="45" y="13"/>
                    </a:lnTo>
                    <a:lnTo>
                      <a:pt x="45" y="16"/>
                    </a:lnTo>
                    <a:lnTo>
                      <a:pt x="16" y="6"/>
                    </a:lnTo>
                    <a:lnTo>
                      <a:pt x="0" y="23"/>
                    </a:lnTo>
                    <a:lnTo>
                      <a:pt x="0" y="16"/>
                    </a:lnTo>
                    <a:lnTo>
                      <a:pt x="13"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51" name="Freeform 39"/>
              <p:cNvSpPr>
                <a:spLocks/>
              </p:cNvSpPr>
              <p:nvPr/>
            </p:nvSpPr>
            <p:spPr bwMode="auto">
              <a:xfrm>
                <a:off x="2638" y="3154"/>
                <a:ext cx="35" cy="21"/>
              </a:xfrm>
              <a:custGeom>
                <a:avLst/>
                <a:gdLst>
                  <a:gd name="T0" fmla="*/ 0 w 35"/>
                  <a:gd name="T1" fmla="*/ 0 h 21"/>
                  <a:gd name="T2" fmla="*/ 33 w 35"/>
                  <a:gd name="T3" fmla="*/ 9 h 21"/>
                  <a:gd name="T4" fmla="*/ 34 w 35"/>
                  <a:gd name="T5" fmla="*/ 12 h 21"/>
                  <a:gd name="T6" fmla="*/ 33 w 35"/>
                  <a:gd name="T7" fmla="*/ 15 h 21"/>
                  <a:gd name="T8" fmla="*/ 31 w 35"/>
                  <a:gd name="T9" fmla="*/ 18 h 21"/>
                  <a:gd name="T10" fmla="*/ 26 w 35"/>
                  <a:gd name="T11" fmla="*/ 20 h 21"/>
                  <a:gd name="T12" fmla="*/ 17 w 35"/>
                  <a:gd name="T13" fmla="*/ 17 h 21"/>
                  <a:gd name="T14" fmla="*/ 6 w 35"/>
                  <a:gd name="T15" fmla="*/ 10 h 21"/>
                  <a:gd name="T16" fmla="*/ 0 w 35"/>
                  <a:gd name="T17" fmla="*/ 4 h 21"/>
                  <a:gd name="T18" fmla="*/ 0 w 35"/>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21">
                    <a:moveTo>
                      <a:pt x="0" y="0"/>
                    </a:moveTo>
                    <a:lnTo>
                      <a:pt x="33" y="9"/>
                    </a:lnTo>
                    <a:lnTo>
                      <a:pt x="34" y="12"/>
                    </a:lnTo>
                    <a:lnTo>
                      <a:pt x="33" y="15"/>
                    </a:lnTo>
                    <a:lnTo>
                      <a:pt x="31" y="18"/>
                    </a:lnTo>
                    <a:lnTo>
                      <a:pt x="26" y="20"/>
                    </a:lnTo>
                    <a:lnTo>
                      <a:pt x="17" y="17"/>
                    </a:lnTo>
                    <a:lnTo>
                      <a:pt x="6" y="10"/>
                    </a:lnTo>
                    <a:lnTo>
                      <a:pt x="0" y="4"/>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52" name="Freeform 40"/>
              <p:cNvSpPr>
                <a:spLocks/>
              </p:cNvSpPr>
              <p:nvPr/>
            </p:nvSpPr>
            <p:spPr bwMode="auto">
              <a:xfrm>
                <a:off x="2635" y="3141"/>
                <a:ext cx="37" cy="21"/>
              </a:xfrm>
              <a:custGeom>
                <a:avLst/>
                <a:gdLst>
                  <a:gd name="T0" fmla="*/ 1 w 37"/>
                  <a:gd name="T1" fmla="*/ 9 h 21"/>
                  <a:gd name="T2" fmla="*/ 36 w 37"/>
                  <a:gd name="T3" fmla="*/ 20 h 21"/>
                  <a:gd name="T4" fmla="*/ 35 w 37"/>
                  <a:gd name="T5" fmla="*/ 16 h 21"/>
                  <a:gd name="T6" fmla="*/ 33 w 37"/>
                  <a:gd name="T7" fmla="*/ 13 h 21"/>
                  <a:gd name="T8" fmla="*/ 31 w 37"/>
                  <a:gd name="T9" fmla="*/ 10 h 21"/>
                  <a:gd name="T10" fmla="*/ 29 w 37"/>
                  <a:gd name="T11" fmla="*/ 7 h 21"/>
                  <a:gd name="T12" fmla="*/ 26 w 37"/>
                  <a:gd name="T13" fmla="*/ 4 h 21"/>
                  <a:gd name="T14" fmla="*/ 23 w 37"/>
                  <a:gd name="T15" fmla="*/ 3 h 21"/>
                  <a:gd name="T16" fmla="*/ 19 w 37"/>
                  <a:gd name="T17" fmla="*/ 1 h 21"/>
                  <a:gd name="T18" fmla="*/ 15 w 37"/>
                  <a:gd name="T19" fmla="*/ 0 h 21"/>
                  <a:gd name="T20" fmla="*/ 12 w 37"/>
                  <a:gd name="T21" fmla="*/ 0 h 21"/>
                  <a:gd name="T22" fmla="*/ 9 w 37"/>
                  <a:gd name="T23" fmla="*/ 0 h 21"/>
                  <a:gd name="T24" fmla="*/ 7 w 37"/>
                  <a:gd name="T25" fmla="*/ 0 h 21"/>
                  <a:gd name="T26" fmla="*/ 4 w 37"/>
                  <a:gd name="T27" fmla="*/ 1 h 21"/>
                  <a:gd name="T28" fmla="*/ 1 w 37"/>
                  <a:gd name="T29" fmla="*/ 3 h 21"/>
                  <a:gd name="T30" fmla="*/ 0 w 37"/>
                  <a:gd name="T31" fmla="*/ 5 h 21"/>
                  <a:gd name="T32" fmla="*/ 0 w 37"/>
                  <a:gd name="T33" fmla="*/ 9 h 21"/>
                  <a:gd name="T34" fmla="*/ 1 w 37"/>
                  <a:gd name="T35" fmla="*/ 9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21">
                    <a:moveTo>
                      <a:pt x="1" y="9"/>
                    </a:moveTo>
                    <a:lnTo>
                      <a:pt x="36" y="20"/>
                    </a:lnTo>
                    <a:lnTo>
                      <a:pt x="35" y="16"/>
                    </a:lnTo>
                    <a:lnTo>
                      <a:pt x="33" y="13"/>
                    </a:lnTo>
                    <a:lnTo>
                      <a:pt x="31" y="10"/>
                    </a:lnTo>
                    <a:lnTo>
                      <a:pt x="29" y="7"/>
                    </a:lnTo>
                    <a:lnTo>
                      <a:pt x="26" y="4"/>
                    </a:lnTo>
                    <a:lnTo>
                      <a:pt x="23" y="3"/>
                    </a:lnTo>
                    <a:lnTo>
                      <a:pt x="19" y="1"/>
                    </a:lnTo>
                    <a:lnTo>
                      <a:pt x="15" y="0"/>
                    </a:lnTo>
                    <a:lnTo>
                      <a:pt x="12" y="0"/>
                    </a:lnTo>
                    <a:lnTo>
                      <a:pt x="9" y="0"/>
                    </a:lnTo>
                    <a:lnTo>
                      <a:pt x="7" y="0"/>
                    </a:lnTo>
                    <a:lnTo>
                      <a:pt x="4" y="1"/>
                    </a:lnTo>
                    <a:lnTo>
                      <a:pt x="1" y="3"/>
                    </a:lnTo>
                    <a:lnTo>
                      <a:pt x="0" y="5"/>
                    </a:lnTo>
                    <a:lnTo>
                      <a:pt x="0" y="9"/>
                    </a:lnTo>
                    <a:lnTo>
                      <a:pt x="1" y="9"/>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53" name="Freeform 41"/>
              <p:cNvSpPr>
                <a:spLocks/>
              </p:cNvSpPr>
              <p:nvPr/>
            </p:nvSpPr>
            <p:spPr bwMode="auto">
              <a:xfrm>
                <a:off x="2621" y="3147"/>
                <a:ext cx="50" cy="45"/>
              </a:xfrm>
              <a:custGeom>
                <a:avLst/>
                <a:gdLst>
                  <a:gd name="T0" fmla="*/ 14 w 50"/>
                  <a:gd name="T1" fmla="*/ 0 h 45"/>
                  <a:gd name="T2" fmla="*/ 0 w 50"/>
                  <a:gd name="T3" fmla="*/ 19 h 45"/>
                  <a:gd name="T4" fmla="*/ 0 w 50"/>
                  <a:gd name="T5" fmla="*/ 22 h 45"/>
                  <a:gd name="T6" fmla="*/ 0 w 50"/>
                  <a:gd name="T7" fmla="*/ 24 h 45"/>
                  <a:gd name="T8" fmla="*/ 0 w 50"/>
                  <a:gd name="T9" fmla="*/ 27 h 45"/>
                  <a:gd name="T10" fmla="*/ 0 w 50"/>
                  <a:gd name="T11" fmla="*/ 31 h 45"/>
                  <a:gd name="T12" fmla="*/ 2 w 50"/>
                  <a:gd name="T13" fmla="*/ 34 h 45"/>
                  <a:gd name="T14" fmla="*/ 4 w 50"/>
                  <a:gd name="T15" fmla="*/ 36 h 45"/>
                  <a:gd name="T16" fmla="*/ 7 w 50"/>
                  <a:gd name="T17" fmla="*/ 39 h 45"/>
                  <a:gd name="T18" fmla="*/ 11 w 50"/>
                  <a:gd name="T19" fmla="*/ 41 h 45"/>
                  <a:gd name="T20" fmla="*/ 14 w 50"/>
                  <a:gd name="T21" fmla="*/ 42 h 45"/>
                  <a:gd name="T22" fmla="*/ 18 w 50"/>
                  <a:gd name="T23" fmla="*/ 43 h 45"/>
                  <a:gd name="T24" fmla="*/ 23 w 50"/>
                  <a:gd name="T25" fmla="*/ 44 h 45"/>
                  <a:gd name="T26" fmla="*/ 25 w 50"/>
                  <a:gd name="T27" fmla="*/ 43 h 45"/>
                  <a:gd name="T28" fmla="*/ 29 w 50"/>
                  <a:gd name="T29" fmla="*/ 42 h 45"/>
                  <a:gd name="T30" fmla="*/ 49 w 50"/>
                  <a:gd name="T31" fmla="*/ 24 h 45"/>
                  <a:gd name="T32" fmla="*/ 46 w 50"/>
                  <a:gd name="T33" fmla="*/ 25 h 45"/>
                  <a:gd name="T34" fmla="*/ 43 w 50"/>
                  <a:gd name="T35" fmla="*/ 25 h 45"/>
                  <a:gd name="T36" fmla="*/ 38 w 50"/>
                  <a:gd name="T37" fmla="*/ 24 h 45"/>
                  <a:gd name="T38" fmla="*/ 36 w 50"/>
                  <a:gd name="T39" fmla="*/ 24 h 45"/>
                  <a:gd name="T40" fmla="*/ 32 w 50"/>
                  <a:gd name="T41" fmla="*/ 22 h 45"/>
                  <a:gd name="T42" fmla="*/ 28 w 50"/>
                  <a:gd name="T43" fmla="*/ 19 h 45"/>
                  <a:gd name="T44" fmla="*/ 24 w 50"/>
                  <a:gd name="T45" fmla="*/ 17 h 45"/>
                  <a:gd name="T46" fmla="*/ 22 w 50"/>
                  <a:gd name="T47" fmla="*/ 15 h 45"/>
                  <a:gd name="T48" fmla="*/ 20 w 50"/>
                  <a:gd name="T49" fmla="*/ 12 h 45"/>
                  <a:gd name="T50" fmla="*/ 18 w 50"/>
                  <a:gd name="T51" fmla="*/ 9 h 45"/>
                  <a:gd name="T52" fmla="*/ 17 w 50"/>
                  <a:gd name="T53" fmla="*/ 7 h 45"/>
                  <a:gd name="T54" fmla="*/ 2 w 50"/>
                  <a:gd name="T55" fmla="*/ 22 h 45"/>
                  <a:gd name="T56" fmla="*/ 2 w 50"/>
                  <a:gd name="T57" fmla="*/ 19 h 45"/>
                  <a:gd name="T58" fmla="*/ 15 w 50"/>
                  <a:gd name="T59" fmla="*/ 3 h 45"/>
                  <a:gd name="T60" fmla="*/ 15 w 50"/>
                  <a:gd name="T61" fmla="*/ 2 h 45"/>
                  <a:gd name="T62" fmla="*/ 14 w 50"/>
                  <a:gd name="T63" fmla="*/ 1 h 45"/>
                  <a:gd name="T64" fmla="*/ 14 w 50"/>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45">
                    <a:moveTo>
                      <a:pt x="14" y="0"/>
                    </a:moveTo>
                    <a:lnTo>
                      <a:pt x="0" y="19"/>
                    </a:lnTo>
                    <a:lnTo>
                      <a:pt x="0" y="22"/>
                    </a:lnTo>
                    <a:lnTo>
                      <a:pt x="0" y="24"/>
                    </a:lnTo>
                    <a:lnTo>
                      <a:pt x="0" y="27"/>
                    </a:lnTo>
                    <a:lnTo>
                      <a:pt x="0" y="31"/>
                    </a:lnTo>
                    <a:lnTo>
                      <a:pt x="2" y="34"/>
                    </a:lnTo>
                    <a:lnTo>
                      <a:pt x="4" y="36"/>
                    </a:lnTo>
                    <a:lnTo>
                      <a:pt x="7" y="39"/>
                    </a:lnTo>
                    <a:lnTo>
                      <a:pt x="11" y="41"/>
                    </a:lnTo>
                    <a:lnTo>
                      <a:pt x="14" y="42"/>
                    </a:lnTo>
                    <a:lnTo>
                      <a:pt x="18" y="43"/>
                    </a:lnTo>
                    <a:lnTo>
                      <a:pt x="23" y="44"/>
                    </a:lnTo>
                    <a:lnTo>
                      <a:pt x="25" y="43"/>
                    </a:lnTo>
                    <a:lnTo>
                      <a:pt x="29" y="42"/>
                    </a:lnTo>
                    <a:lnTo>
                      <a:pt x="49" y="24"/>
                    </a:lnTo>
                    <a:lnTo>
                      <a:pt x="46" y="25"/>
                    </a:lnTo>
                    <a:lnTo>
                      <a:pt x="43" y="25"/>
                    </a:lnTo>
                    <a:lnTo>
                      <a:pt x="38" y="24"/>
                    </a:lnTo>
                    <a:lnTo>
                      <a:pt x="36" y="24"/>
                    </a:lnTo>
                    <a:lnTo>
                      <a:pt x="32" y="22"/>
                    </a:lnTo>
                    <a:lnTo>
                      <a:pt x="28" y="19"/>
                    </a:lnTo>
                    <a:lnTo>
                      <a:pt x="24" y="17"/>
                    </a:lnTo>
                    <a:lnTo>
                      <a:pt x="22" y="15"/>
                    </a:lnTo>
                    <a:lnTo>
                      <a:pt x="20" y="12"/>
                    </a:lnTo>
                    <a:lnTo>
                      <a:pt x="18" y="9"/>
                    </a:lnTo>
                    <a:lnTo>
                      <a:pt x="17" y="7"/>
                    </a:lnTo>
                    <a:lnTo>
                      <a:pt x="2" y="22"/>
                    </a:lnTo>
                    <a:lnTo>
                      <a:pt x="2" y="19"/>
                    </a:lnTo>
                    <a:lnTo>
                      <a:pt x="15" y="3"/>
                    </a:lnTo>
                    <a:lnTo>
                      <a:pt x="15" y="2"/>
                    </a:lnTo>
                    <a:lnTo>
                      <a:pt x="14" y="1"/>
                    </a:lnTo>
                    <a:lnTo>
                      <a:pt x="14"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11" name="Group 42"/>
              <p:cNvGrpSpPr>
                <a:grpSpLocks/>
              </p:cNvGrpSpPr>
              <p:nvPr/>
            </p:nvGrpSpPr>
            <p:grpSpPr bwMode="auto">
              <a:xfrm>
                <a:off x="2586" y="3117"/>
                <a:ext cx="108" cy="114"/>
                <a:chOff x="2586" y="3117"/>
                <a:chExt cx="108" cy="114"/>
              </a:xfrm>
            </p:grpSpPr>
            <p:sp>
              <p:nvSpPr>
                <p:cNvPr id="294358" name="Freeform 43"/>
                <p:cNvSpPr>
                  <a:spLocks/>
                </p:cNvSpPr>
                <p:nvPr/>
              </p:nvSpPr>
              <p:spPr bwMode="auto">
                <a:xfrm>
                  <a:off x="2595" y="3182"/>
                  <a:ext cx="99" cy="49"/>
                </a:xfrm>
                <a:custGeom>
                  <a:avLst/>
                  <a:gdLst>
                    <a:gd name="T0" fmla="*/ 0 w 99"/>
                    <a:gd name="T1" fmla="*/ 48 h 49"/>
                    <a:gd name="T2" fmla="*/ 56 w 99"/>
                    <a:gd name="T3" fmla="*/ 0 h 49"/>
                    <a:gd name="T4" fmla="*/ 98 w 99"/>
                    <a:gd name="T5" fmla="*/ 2 h 49"/>
                    <a:gd name="T6" fmla="*/ 74 w 99"/>
                    <a:gd name="T7" fmla="*/ 14 h 49"/>
                    <a:gd name="T8" fmla="*/ 78 w 99"/>
                    <a:gd name="T9" fmla="*/ 16 h 49"/>
                    <a:gd name="T10" fmla="*/ 52 w 99"/>
                    <a:gd name="T11" fmla="*/ 29 h 49"/>
                    <a:gd name="T12" fmla="*/ 57 w 99"/>
                    <a:gd name="T13" fmla="*/ 30 h 49"/>
                    <a:gd name="T14" fmla="*/ 28 w 99"/>
                    <a:gd name="T15" fmla="*/ 43 h 49"/>
                    <a:gd name="T16" fmla="*/ 0 w 99"/>
                    <a:gd name="T17" fmla="*/ 48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9" h="49">
                      <a:moveTo>
                        <a:pt x="0" y="48"/>
                      </a:moveTo>
                      <a:lnTo>
                        <a:pt x="56" y="0"/>
                      </a:lnTo>
                      <a:lnTo>
                        <a:pt x="98" y="2"/>
                      </a:lnTo>
                      <a:lnTo>
                        <a:pt x="74" y="14"/>
                      </a:lnTo>
                      <a:lnTo>
                        <a:pt x="78" y="16"/>
                      </a:lnTo>
                      <a:lnTo>
                        <a:pt x="52" y="29"/>
                      </a:lnTo>
                      <a:lnTo>
                        <a:pt x="57" y="30"/>
                      </a:lnTo>
                      <a:lnTo>
                        <a:pt x="28" y="43"/>
                      </a:lnTo>
                      <a:lnTo>
                        <a:pt x="0" y="4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59" name="Freeform 44"/>
                <p:cNvSpPr>
                  <a:spLocks/>
                </p:cNvSpPr>
                <p:nvPr/>
              </p:nvSpPr>
              <p:spPr bwMode="auto">
                <a:xfrm>
                  <a:off x="2590" y="3166"/>
                  <a:ext cx="45" cy="58"/>
                </a:xfrm>
                <a:custGeom>
                  <a:avLst/>
                  <a:gdLst>
                    <a:gd name="T0" fmla="*/ 4 w 45"/>
                    <a:gd name="T1" fmla="*/ 47 h 58"/>
                    <a:gd name="T2" fmla="*/ 44 w 45"/>
                    <a:gd name="T3" fmla="*/ 0 h 58"/>
                    <a:gd name="T4" fmla="*/ 35 w 45"/>
                    <a:gd name="T5" fmla="*/ 18 h 58"/>
                    <a:gd name="T6" fmla="*/ 0 w 45"/>
                    <a:gd name="T7" fmla="*/ 57 h 58"/>
                    <a:gd name="T8" fmla="*/ 4 w 45"/>
                    <a:gd name="T9" fmla="*/ 47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58">
                      <a:moveTo>
                        <a:pt x="4" y="47"/>
                      </a:moveTo>
                      <a:lnTo>
                        <a:pt x="44" y="0"/>
                      </a:lnTo>
                      <a:lnTo>
                        <a:pt x="35" y="18"/>
                      </a:lnTo>
                      <a:lnTo>
                        <a:pt x="0" y="57"/>
                      </a:lnTo>
                      <a:lnTo>
                        <a:pt x="4" y="47"/>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60" name="Freeform 45"/>
                <p:cNvSpPr>
                  <a:spLocks/>
                </p:cNvSpPr>
                <p:nvPr/>
              </p:nvSpPr>
              <p:spPr bwMode="auto">
                <a:xfrm>
                  <a:off x="2586" y="3117"/>
                  <a:ext cx="41" cy="103"/>
                </a:xfrm>
                <a:custGeom>
                  <a:avLst/>
                  <a:gdLst>
                    <a:gd name="T0" fmla="*/ 0 w 41"/>
                    <a:gd name="T1" fmla="*/ 102 h 103"/>
                    <a:gd name="T2" fmla="*/ 40 w 41"/>
                    <a:gd name="T3" fmla="*/ 47 h 103"/>
                    <a:gd name="T4" fmla="*/ 38 w 41"/>
                    <a:gd name="T5" fmla="*/ 0 h 103"/>
                    <a:gd name="T6" fmla="*/ 29 w 41"/>
                    <a:gd name="T7" fmla="*/ 20 h 103"/>
                    <a:gd name="T8" fmla="*/ 28 w 41"/>
                    <a:gd name="T9" fmla="*/ 27 h 103"/>
                    <a:gd name="T10" fmla="*/ 24 w 41"/>
                    <a:gd name="T11" fmla="*/ 23 h 103"/>
                    <a:gd name="T12" fmla="*/ 16 w 41"/>
                    <a:gd name="T13" fmla="*/ 49 h 103"/>
                    <a:gd name="T14" fmla="*/ 14 w 41"/>
                    <a:gd name="T15" fmla="*/ 45 h 103"/>
                    <a:gd name="T16" fmla="*/ 3 w 41"/>
                    <a:gd name="T17" fmla="*/ 71 h 103"/>
                    <a:gd name="T18" fmla="*/ 0 w 41"/>
                    <a:gd name="T19" fmla="*/ 102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103">
                      <a:moveTo>
                        <a:pt x="0" y="102"/>
                      </a:moveTo>
                      <a:lnTo>
                        <a:pt x="40" y="47"/>
                      </a:lnTo>
                      <a:lnTo>
                        <a:pt x="38" y="0"/>
                      </a:lnTo>
                      <a:lnTo>
                        <a:pt x="29" y="20"/>
                      </a:lnTo>
                      <a:lnTo>
                        <a:pt x="28" y="27"/>
                      </a:lnTo>
                      <a:lnTo>
                        <a:pt x="24" y="23"/>
                      </a:lnTo>
                      <a:lnTo>
                        <a:pt x="16" y="49"/>
                      </a:lnTo>
                      <a:lnTo>
                        <a:pt x="14" y="45"/>
                      </a:lnTo>
                      <a:lnTo>
                        <a:pt x="3" y="71"/>
                      </a:lnTo>
                      <a:lnTo>
                        <a:pt x="0" y="10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355" name="Freeform 46"/>
              <p:cNvSpPr>
                <a:spLocks/>
              </p:cNvSpPr>
              <p:nvPr/>
            </p:nvSpPr>
            <p:spPr bwMode="auto">
              <a:xfrm>
                <a:off x="2573" y="3214"/>
                <a:ext cx="31" cy="34"/>
              </a:xfrm>
              <a:custGeom>
                <a:avLst/>
                <a:gdLst>
                  <a:gd name="T0" fmla="*/ 13 w 31"/>
                  <a:gd name="T1" fmla="*/ 0 h 34"/>
                  <a:gd name="T2" fmla="*/ 13 w 31"/>
                  <a:gd name="T3" fmla="*/ 3 h 34"/>
                  <a:gd name="T4" fmla="*/ 13 w 31"/>
                  <a:gd name="T5" fmla="*/ 5 h 34"/>
                  <a:gd name="T6" fmla="*/ 13 w 31"/>
                  <a:gd name="T7" fmla="*/ 8 h 34"/>
                  <a:gd name="T8" fmla="*/ 14 w 31"/>
                  <a:gd name="T9" fmla="*/ 10 h 34"/>
                  <a:gd name="T10" fmla="*/ 15 w 31"/>
                  <a:gd name="T11" fmla="*/ 12 h 34"/>
                  <a:gd name="T12" fmla="*/ 17 w 31"/>
                  <a:gd name="T13" fmla="*/ 14 h 34"/>
                  <a:gd name="T14" fmla="*/ 19 w 31"/>
                  <a:gd name="T15" fmla="*/ 16 h 34"/>
                  <a:gd name="T16" fmla="*/ 22 w 31"/>
                  <a:gd name="T17" fmla="*/ 17 h 34"/>
                  <a:gd name="T18" fmla="*/ 25 w 31"/>
                  <a:gd name="T19" fmla="*/ 17 h 34"/>
                  <a:gd name="T20" fmla="*/ 27 w 31"/>
                  <a:gd name="T21" fmla="*/ 17 h 34"/>
                  <a:gd name="T22" fmla="*/ 30 w 31"/>
                  <a:gd name="T23" fmla="*/ 17 h 34"/>
                  <a:gd name="T24" fmla="*/ 13 w 31"/>
                  <a:gd name="T25" fmla="*/ 32 h 34"/>
                  <a:gd name="T26" fmla="*/ 10 w 31"/>
                  <a:gd name="T27" fmla="*/ 33 h 34"/>
                  <a:gd name="T28" fmla="*/ 8 w 31"/>
                  <a:gd name="T29" fmla="*/ 33 h 34"/>
                  <a:gd name="T30" fmla="*/ 6 w 31"/>
                  <a:gd name="T31" fmla="*/ 32 h 34"/>
                  <a:gd name="T32" fmla="*/ 5 w 31"/>
                  <a:gd name="T33" fmla="*/ 31 h 34"/>
                  <a:gd name="T34" fmla="*/ 2 w 31"/>
                  <a:gd name="T35" fmla="*/ 30 h 34"/>
                  <a:gd name="T36" fmla="*/ 1 w 31"/>
                  <a:gd name="T37" fmla="*/ 27 h 34"/>
                  <a:gd name="T38" fmla="*/ 0 w 31"/>
                  <a:gd name="T39" fmla="*/ 25 h 34"/>
                  <a:gd name="T40" fmla="*/ 0 w 31"/>
                  <a:gd name="T41" fmla="*/ 22 h 34"/>
                  <a:gd name="T42" fmla="*/ 0 w 31"/>
                  <a:gd name="T43" fmla="*/ 20 h 34"/>
                  <a:gd name="T44" fmla="*/ 0 w 31"/>
                  <a:gd name="T45" fmla="*/ 18 h 34"/>
                  <a:gd name="T46" fmla="*/ 13 w 31"/>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34">
                    <a:moveTo>
                      <a:pt x="13" y="0"/>
                    </a:moveTo>
                    <a:lnTo>
                      <a:pt x="13" y="3"/>
                    </a:lnTo>
                    <a:lnTo>
                      <a:pt x="13" y="5"/>
                    </a:lnTo>
                    <a:lnTo>
                      <a:pt x="13" y="8"/>
                    </a:lnTo>
                    <a:lnTo>
                      <a:pt x="14" y="10"/>
                    </a:lnTo>
                    <a:lnTo>
                      <a:pt x="15" y="12"/>
                    </a:lnTo>
                    <a:lnTo>
                      <a:pt x="17" y="14"/>
                    </a:lnTo>
                    <a:lnTo>
                      <a:pt x="19" y="16"/>
                    </a:lnTo>
                    <a:lnTo>
                      <a:pt x="22" y="17"/>
                    </a:lnTo>
                    <a:lnTo>
                      <a:pt x="25" y="17"/>
                    </a:lnTo>
                    <a:lnTo>
                      <a:pt x="27" y="17"/>
                    </a:lnTo>
                    <a:lnTo>
                      <a:pt x="30" y="17"/>
                    </a:lnTo>
                    <a:lnTo>
                      <a:pt x="13" y="32"/>
                    </a:lnTo>
                    <a:lnTo>
                      <a:pt x="10" y="33"/>
                    </a:lnTo>
                    <a:lnTo>
                      <a:pt x="8" y="33"/>
                    </a:lnTo>
                    <a:lnTo>
                      <a:pt x="6" y="32"/>
                    </a:lnTo>
                    <a:lnTo>
                      <a:pt x="5" y="31"/>
                    </a:lnTo>
                    <a:lnTo>
                      <a:pt x="2" y="30"/>
                    </a:lnTo>
                    <a:lnTo>
                      <a:pt x="1" y="27"/>
                    </a:lnTo>
                    <a:lnTo>
                      <a:pt x="0" y="25"/>
                    </a:lnTo>
                    <a:lnTo>
                      <a:pt x="0" y="22"/>
                    </a:lnTo>
                    <a:lnTo>
                      <a:pt x="0" y="20"/>
                    </a:lnTo>
                    <a:lnTo>
                      <a:pt x="0" y="18"/>
                    </a:lnTo>
                    <a:lnTo>
                      <a:pt x="13"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56" name="Freeform 47"/>
              <p:cNvSpPr>
                <a:spLocks/>
              </p:cNvSpPr>
              <p:nvPr/>
            </p:nvSpPr>
            <p:spPr bwMode="auto">
              <a:xfrm>
                <a:off x="2576" y="3223"/>
                <a:ext cx="19" cy="21"/>
              </a:xfrm>
              <a:custGeom>
                <a:avLst/>
                <a:gdLst>
                  <a:gd name="T0" fmla="*/ 4 w 19"/>
                  <a:gd name="T1" fmla="*/ 0 h 21"/>
                  <a:gd name="T2" fmla="*/ 3 w 19"/>
                  <a:gd name="T3" fmla="*/ 2 h 21"/>
                  <a:gd name="T4" fmla="*/ 3 w 19"/>
                  <a:gd name="T5" fmla="*/ 4 h 21"/>
                  <a:gd name="T6" fmla="*/ 3 w 19"/>
                  <a:gd name="T7" fmla="*/ 6 h 21"/>
                  <a:gd name="T8" fmla="*/ 3 w 19"/>
                  <a:gd name="T9" fmla="*/ 8 h 21"/>
                  <a:gd name="T10" fmla="*/ 3 w 19"/>
                  <a:gd name="T11" fmla="*/ 11 h 21"/>
                  <a:gd name="T12" fmla="*/ 4 w 19"/>
                  <a:gd name="T13" fmla="*/ 13 h 21"/>
                  <a:gd name="T14" fmla="*/ 5 w 19"/>
                  <a:gd name="T15" fmla="*/ 15 h 21"/>
                  <a:gd name="T16" fmla="*/ 8 w 19"/>
                  <a:gd name="T17" fmla="*/ 16 h 21"/>
                  <a:gd name="T18" fmla="*/ 11 w 19"/>
                  <a:gd name="T19" fmla="*/ 17 h 21"/>
                  <a:gd name="T20" fmla="*/ 14 w 19"/>
                  <a:gd name="T21" fmla="*/ 16 h 21"/>
                  <a:gd name="T22" fmla="*/ 18 w 19"/>
                  <a:gd name="T23" fmla="*/ 16 h 21"/>
                  <a:gd name="T24" fmla="*/ 13 w 19"/>
                  <a:gd name="T25" fmla="*/ 19 h 21"/>
                  <a:gd name="T26" fmla="*/ 12 w 19"/>
                  <a:gd name="T27" fmla="*/ 20 h 21"/>
                  <a:gd name="T28" fmla="*/ 9 w 19"/>
                  <a:gd name="T29" fmla="*/ 20 h 21"/>
                  <a:gd name="T30" fmla="*/ 6 w 19"/>
                  <a:gd name="T31" fmla="*/ 19 h 21"/>
                  <a:gd name="T32" fmla="*/ 4 w 19"/>
                  <a:gd name="T33" fmla="*/ 18 h 21"/>
                  <a:gd name="T34" fmla="*/ 3 w 19"/>
                  <a:gd name="T35" fmla="*/ 17 h 21"/>
                  <a:gd name="T36" fmla="*/ 1 w 19"/>
                  <a:gd name="T37" fmla="*/ 15 h 21"/>
                  <a:gd name="T38" fmla="*/ 0 w 19"/>
                  <a:gd name="T39" fmla="*/ 13 h 21"/>
                  <a:gd name="T40" fmla="*/ 0 w 19"/>
                  <a:gd name="T41" fmla="*/ 10 h 21"/>
                  <a:gd name="T42" fmla="*/ 0 w 19"/>
                  <a:gd name="T43" fmla="*/ 8 h 21"/>
                  <a:gd name="T44" fmla="*/ 0 w 19"/>
                  <a:gd name="T45" fmla="*/ 5 h 21"/>
                  <a:gd name="T46" fmla="*/ 4 w 19"/>
                  <a:gd name="T47" fmla="*/ 0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9" h="21">
                    <a:moveTo>
                      <a:pt x="4" y="0"/>
                    </a:moveTo>
                    <a:lnTo>
                      <a:pt x="3" y="2"/>
                    </a:lnTo>
                    <a:lnTo>
                      <a:pt x="3" y="4"/>
                    </a:lnTo>
                    <a:lnTo>
                      <a:pt x="3" y="6"/>
                    </a:lnTo>
                    <a:lnTo>
                      <a:pt x="3" y="8"/>
                    </a:lnTo>
                    <a:lnTo>
                      <a:pt x="3" y="11"/>
                    </a:lnTo>
                    <a:lnTo>
                      <a:pt x="4" y="13"/>
                    </a:lnTo>
                    <a:lnTo>
                      <a:pt x="5" y="15"/>
                    </a:lnTo>
                    <a:lnTo>
                      <a:pt x="8" y="16"/>
                    </a:lnTo>
                    <a:lnTo>
                      <a:pt x="11" y="17"/>
                    </a:lnTo>
                    <a:lnTo>
                      <a:pt x="14" y="16"/>
                    </a:lnTo>
                    <a:lnTo>
                      <a:pt x="18" y="16"/>
                    </a:lnTo>
                    <a:lnTo>
                      <a:pt x="13" y="19"/>
                    </a:lnTo>
                    <a:lnTo>
                      <a:pt x="12" y="20"/>
                    </a:lnTo>
                    <a:lnTo>
                      <a:pt x="9" y="20"/>
                    </a:lnTo>
                    <a:lnTo>
                      <a:pt x="6" y="19"/>
                    </a:lnTo>
                    <a:lnTo>
                      <a:pt x="4" y="18"/>
                    </a:lnTo>
                    <a:lnTo>
                      <a:pt x="3" y="17"/>
                    </a:lnTo>
                    <a:lnTo>
                      <a:pt x="1" y="15"/>
                    </a:lnTo>
                    <a:lnTo>
                      <a:pt x="0" y="13"/>
                    </a:lnTo>
                    <a:lnTo>
                      <a:pt x="0" y="10"/>
                    </a:lnTo>
                    <a:lnTo>
                      <a:pt x="0" y="8"/>
                    </a:lnTo>
                    <a:lnTo>
                      <a:pt x="0" y="5"/>
                    </a:lnTo>
                    <a:lnTo>
                      <a:pt x="4"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57" name="Freeform 48"/>
              <p:cNvSpPr>
                <a:spLocks/>
              </p:cNvSpPr>
              <p:nvPr/>
            </p:nvSpPr>
            <p:spPr bwMode="auto">
              <a:xfrm>
                <a:off x="2538" y="3271"/>
                <a:ext cx="17" cy="17"/>
              </a:xfrm>
              <a:custGeom>
                <a:avLst/>
                <a:gdLst>
                  <a:gd name="T0" fmla="*/ 8 w 17"/>
                  <a:gd name="T1" fmla="*/ 0 h 17"/>
                  <a:gd name="T2" fmla="*/ 0 w 17"/>
                  <a:gd name="T3" fmla="*/ 9 h 17"/>
                  <a:gd name="T4" fmla="*/ 0 w 17"/>
                  <a:gd name="T5" fmla="*/ 11 h 17"/>
                  <a:gd name="T6" fmla="*/ 0 w 17"/>
                  <a:gd name="T7" fmla="*/ 12 h 17"/>
                  <a:gd name="T8" fmla="*/ 0 w 17"/>
                  <a:gd name="T9" fmla="*/ 14 h 17"/>
                  <a:gd name="T10" fmla="*/ 2 w 17"/>
                  <a:gd name="T11" fmla="*/ 15 h 17"/>
                  <a:gd name="T12" fmla="*/ 3 w 17"/>
                  <a:gd name="T13" fmla="*/ 16 h 17"/>
                  <a:gd name="T14" fmla="*/ 5 w 17"/>
                  <a:gd name="T15" fmla="*/ 15 h 17"/>
                  <a:gd name="T16" fmla="*/ 16 w 17"/>
                  <a:gd name="T17" fmla="*/ 7 h 17"/>
                  <a:gd name="T18" fmla="*/ 13 w 17"/>
                  <a:gd name="T19" fmla="*/ 6 h 17"/>
                  <a:gd name="T20" fmla="*/ 11 w 17"/>
                  <a:gd name="T21" fmla="*/ 6 h 17"/>
                  <a:gd name="T22" fmla="*/ 10 w 17"/>
                  <a:gd name="T23" fmla="*/ 4 h 17"/>
                  <a:gd name="T24" fmla="*/ 9 w 17"/>
                  <a:gd name="T25" fmla="*/ 3 h 17"/>
                  <a:gd name="T26" fmla="*/ 8 w 17"/>
                  <a:gd name="T27" fmla="*/ 1 h 17"/>
                  <a:gd name="T28" fmla="*/ 8 w 1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 h="17">
                    <a:moveTo>
                      <a:pt x="8" y="0"/>
                    </a:moveTo>
                    <a:lnTo>
                      <a:pt x="0" y="9"/>
                    </a:lnTo>
                    <a:lnTo>
                      <a:pt x="0" y="11"/>
                    </a:lnTo>
                    <a:lnTo>
                      <a:pt x="0" y="12"/>
                    </a:lnTo>
                    <a:lnTo>
                      <a:pt x="0" y="14"/>
                    </a:lnTo>
                    <a:lnTo>
                      <a:pt x="2" y="15"/>
                    </a:lnTo>
                    <a:lnTo>
                      <a:pt x="3" y="16"/>
                    </a:lnTo>
                    <a:lnTo>
                      <a:pt x="5" y="15"/>
                    </a:lnTo>
                    <a:lnTo>
                      <a:pt x="16" y="7"/>
                    </a:lnTo>
                    <a:lnTo>
                      <a:pt x="13" y="6"/>
                    </a:lnTo>
                    <a:lnTo>
                      <a:pt x="11" y="6"/>
                    </a:lnTo>
                    <a:lnTo>
                      <a:pt x="10" y="4"/>
                    </a:lnTo>
                    <a:lnTo>
                      <a:pt x="9" y="3"/>
                    </a:lnTo>
                    <a:lnTo>
                      <a:pt x="8" y="1"/>
                    </a:lnTo>
                    <a:lnTo>
                      <a:pt x="8"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12" name="Group 49"/>
            <p:cNvGrpSpPr>
              <a:grpSpLocks/>
            </p:cNvGrpSpPr>
            <p:nvPr/>
          </p:nvGrpSpPr>
          <p:grpSpPr bwMode="auto">
            <a:xfrm>
              <a:off x="3156" y="2563"/>
              <a:ext cx="167" cy="86"/>
              <a:chOff x="2515" y="3428"/>
              <a:chExt cx="191" cy="106"/>
            </a:xfrm>
          </p:grpSpPr>
          <p:grpSp>
            <p:nvGrpSpPr>
              <p:cNvPr id="13" name="Group 50"/>
              <p:cNvGrpSpPr>
                <a:grpSpLocks/>
              </p:cNvGrpSpPr>
              <p:nvPr/>
            </p:nvGrpSpPr>
            <p:grpSpPr bwMode="auto">
              <a:xfrm>
                <a:off x="2515" y="3428"/>
                <a:ext cx="191" cy="106"/>
                <a:chOff x="2515" y="3428"/>
                <a:chExt cx="191" cy="106"/>
              </a:xfrm>
            </p:grpSpPr>
            <p:grpSp>
              <p:nvGrpSpPr>
                <p:cNvPr id="14" name="Group 51"/>
                <p:cNvGrpSpPr>
                  <a:grpSpLocks/>
                </p:cNvGrpSpPr>
                <p:nvPr/>
              </p:nvGrpSpPr>
              <p:grpSpPr bwMode="auto">
                <a:xfrm>
                  <a:off x="2515" y="3458"/>
                  <a:ext cx="187" cy="76"/>
                  <a:chOff x="2515" y="3458"/>
                  <a:chExt cx="187" cy="76"/>
                </a:xfrm>
              </p:grpSpPr>
              <p:grpSp>
                <p:nvGrpSpPr>
                  <p:cNvPr id="15" name="Group 52"/>
                  <p:cNvGrpSpPr>
                    <a:grpSpLocks/>
                  </p:cNvGrpSpPr>
                  <p:nvPr/>
                </p:nvGrpSpPr>
                <p:grpSpPr bwMode="auto">
                  <a:xfrm>
                    <a:off x="2515" y="3502"/>
                    <a:ext cx="25" cy="32"/>
                    <a:chOff x="2515" y="3502"/>
                    <a:chExt cx="25" cy="32"/>
                  </a:xfrm>
                </p:grpSpPr>
                <p:sp>
                  <p:nvSpPr>
                    <p:cNvPr id="294343" name="Freeform 53"/>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44" name="Freeform 54"/>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45" name="Freeform 55"/>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337" name="Freeform 56"/>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38" name="Freeform 57"/>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39" name="Freeform 58"/>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40" name="Freeform 59"/>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41" name="Freeform 60"/>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42" name="Freeform 61"/>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16" name="Group 62"/>
                <p:cNvGrpSpPr>
                  <a:grpSpLocks/>
                </p:cNvGrpSpPr>
                <p:nvPr/>
              </p:nvGrpSpPr>
              <p:grpSpPr bwMode="auto">
                <a:xfrm>
                  <a:off x="2597" y="3428"/>
                  <a:ext cx="109" cy="96"/>
                  <a:chOff x="2597" y="3428"/>
                  <a:chExt cx="109" cy="96"/>
                </a:xfrm>
              </p:grpSpPr>
              <p:sp>
                <p:nvSpPr>
                  <p:cNvPr id="294333" name="Freeform 63"/>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34" name="Freeform 64"/>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35" name="Freeform 65"/>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329" name="Freeform 66"/>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30" name="Freeform 67"/>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17" name="Group 68"/>
            <p:cNvGrpSpPr>
              <a:grpSpLocks/>
            </p:cNvGrpSpPr>
            <p:nvPr/>
          </p:nvGrpSpPr>
          <p:grpSpPr bwMode="auto">
            <a:xfrm>
              <a:off x="3286" y="2401"/>
              <a:ext cx="167" cy="86"/>
              <a:chOff x="2663" y="3383"/>
              <a:chExt cx="191" cy="106"/>
            </a:xfrm>
          </p:grpSpPr>
          <p:grpSp>
            <p:nvGrpSpPr>
              <p:cNvPr id="18" name="Group 69"/>
              <p:cNvGrpSpPr>
                <a:grpSpLocks/>
              </p:cNvGrpSpPr>
              <p:nvPr/>
            </p:nvGrpSpPr>
            <p:grpSpPr bwMode="auto">
              <a:xfrm>
                <a:off x="2663" y="3383"/>
                <a:ext cx="191" cy="106"/>
                <a:chOff x="2663" y="3383"/>
                <a:chExt cx="191" cy="106"/>
              </a:xfrm>
            </p:grpSpPr>
            <p:grpSp>
              <p:nvGrpSpPr>
                <p:cNvPr id="19" name="Group 70"/>
                <p:cNvGrpSpPr>
                  <a:grpSpLocks/>
                </p:cNvGrpSpPr>
                <p:nvPr/>
              </p:nvGrpSpPr>
              <p:grpSpPr bwMode="auto">
                <a:xfrm>
                  <a:off x="2663" y="3413"/>
                  <a:ext cx="187" cy="76"/>
                  <a:chOff x="2663" y="3413"/>
                  <a:chExt cx="187" cy="76"/>
                </a:xfrm>
              </p:grpSpPr>
              <p:grpSp>
                <p:nvGrpSpPr>
                  <p:cNvPr id="20" name="Group 71"/>
                  <p:cNvGrpSpPr>
                    <a:grpSpLocks/>
                  </p:cNvGrpSpPr>
                  <p:nvPr/>
                </p:nvGrpSpPr>
                <p:grpSpPr bwMode="auto">
                  <a:xfrm>
                    <a:off x="2663" y="3457"/>
                    <a:ext cx="25" cy="32"/>
                    <a:chOff x="2663" y="3457"/>
                    <a:chExt cx="25" cy="32"/>
                  </a:xfrm>
                </p:grpSpPr>
                <p:sp>
                  <p:nvSpPr>
                    <p:cNvPr id="294325" name="Freeform 72"/>
                    <p:cNvSpPr>
                      <a:spLocks/>
                    </p:cNvSpPr>
                    <p:nvPr/>
                  </p:nvSpPr>
                  <p:spPr bwMode="auto">
                    <a:xfrm>
                      <a:off x="2671" y="345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26" name="Freeform 73"/>
                    <p:cNvSpPr>
                      <a:spLocks/>
                    </p:cNvSpPr>
                    <p:nvPr/>
                  </p:nvSpPr>
                  <p:spPr bwMode="auto">
                    <a:xfrm>
                      <a:off x="2663" y="345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27" name="Freeform 74"/>
                    <p:cNvSpPr>
                      <a:spLocks/>
                    </p:cNvSpPr>
                    <p:nvPr/>
                  </p:nvSpPr>
                  <p:spPr bwMode="auto">
                    <a:xfrm>
                      <a:off x="2663" y="347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319" name="Freeform 75"/>
                  <p:cNvSpPr>
                    <a:spLocks/>
                  </p:cNvSpPr>
                  <p:nvPr/>
                </p:nvSpPr>
                <p:spPr bwMode="auto">
                  <a:xfrm>
                    <a:off x="2669" y="341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20" name="Freeform 76"/>
                  <p:cNvSpPr>
                    <a:spLocks/>
                  </p:cNvSpPr>
                  <p:nvPr/>
                </p:nvSpPr>
                <p:spPr bwMode="auto">
                  <a:xfrm>
                    <a:off x="2801" y="341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21" name="Freeform 77"/>
                  <p:cNvSpPr>
                    <a:spLocks/>
                  </p:cNvSpPr>
                  <p:nvPr/>
                </p:nvSpPr>
                <p:spPr bwMode="auto">
                  <a:xfrm>
                    <a:off x="2797" y="341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22" name="Freeform 78"/>
                  <p:cNvSpPr>
                    <a:spLocks/>
                  </p:cNvSpPr>
                  <p:nvPr/>
                </p:nvSpPr>
                <p:spPr bwMode="auto">
                  <a:xfrm>
                    <a:off x="2824" y="342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23" name="Freeform 79"/>
                  <p:cNvSpPr>
                    <a:spLocks/>
                  </p:cNvSpPr>
                  <p:nvPr/>
                </p:nvSpPr>
                <p:spPr bwMode="auto">
                  <a:xfrm>
                    <a:off x="2825" y="341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24" name="Freeform 80"/>
                  <p:cNvSpPr>
                    <a:spLocks/>
                  </p:cNvSpPr>
                  <p:nvPr/>
                </p:nvSpPr>
                <p:spPr bwMode="auto">
                  <a:xfrm>
                    <a:off x="2669" y="346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1" name="Group 81"/>
                <p:cNvGrpSpPr>
                  <a:grpSpLocks/>
                </p:cNvGrpSpPr>
                <p:nvPr/>
              </p:nvGrpSpPr>
              <p:grpSpPr bwMode="auto">
                <a:xfrm>
                  <a:off x="2745" y="3383"/>
                  <a:ext cx="109" cy="96"/>
                  <a:chOff x="2745" y="3383"/>
                  <a:chExt cx="109" cy="96"/>
                </a:xfrm>
              </p:grpSpPr>
              <p:sp>
                <p:nvSpPr>
                  <p:cNvPr id="294315" name="Freeform 82"/>
                  <p:cNvSpPr>
                    <a:spLocks/>
                  </p:cNvSpPr>
                  <p:nvPr/>
                </p:nvSpPr>
                <p:spPr bwMode="auto">
                  <a:xfrm>
                    <a:off x="2746" y="345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16" name="Freeform 83"/>
                  <p:cNvSpPr>
                    <a:spLocks/>
                  </p:cNvSpPr>
                  <p:nvPr/>
                </p:nvSpPr>
                <p:spPr bwMode="auto">
                  <a:xfrm>
                    <a:off x="2747" y="342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17" name="Freeform 84"/>
                  <p:cNvSpPr>
                    <a:spLocks/>
                  </p:cNvSpPr>
                  <p:nvPr/>
                </p:nvSpPr>
                <p:spPr bwMode="auto">
                  <a:xfrm>
                    <a:off x="2745" y="338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311" name="Freeform 85"/>
              <p:cNvSpPr>
                <a:spLocks/>
              </p:cNvSpPr>
              <p:nvPr/>
            </p:nvSpPr>
            <p:spPr bwMode="auto">
              <a:xfrm>
                <a:off x="2722" y="344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12" name="Freeform 86"/>
              <p:cNvSpPr>
                <a:spLocks/>
              </p:cNvSpPr>
              <p:nvPr/>
            </p:nvSpPr>
            <p:spPr bwMode="auto">
              <a:xfrm>
                <a:off x="2728" y="344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2" name="Group 87"/>
            <p:cNvGrpSpPr>
              <a:grpSpLocks/>
            </p:cNvGrpSpPr>
            <p:nvPr/>
          </p:nvGrpSpPr>
          <p:grpSpPr bwMode="auto">
            <a:xfrm>
              <a:off x="2925" y="2343"/>
              <a:ext cx="169" cy="87"/>
              <a:chOff x="2458" y="3313"/>
              <a:chExt cx="191" cy="106"/>
            </a:xfrm>
          </p:grpSpPr>
          <p:grpSp>
            <p:nvGrpSpPr>
              <p:cNvPr id="23" name="Group 88"/>
              <p:cNvGrpSpPr>
                <a:grpSpLocks/>
              </p:cNvGrpSpPr>
              <p:nvPr/>
            </p:nvGrpSpPr>
            <p:grpSpPr bwMode="auto">
              <a:xfrm>
                <a:off x="2458" y="3313"/>
                <a:ext cx="191" cy="106"/>
                <a:chOff x="2458" y="3313"/>
                <a:chExt cx="191" cy="106"/>
              </a:xfrm>
            </p:grpSpPr>
            <p:grpSp>
              <p:nvGrpSpPr>
                <p:cNvPr id="24" name="Group 89"/>
                <p:cNvGrpSpPr>
                  <a:grpSpLocks/>
                </p:cNvGrpSpPr>
                <p:nvPr/>
              </p:nvGrpSpPr>
              <p:grpSpPr bwMode="auto">
                <a:xfrm>
                  <a:off x="2458" y="3343"/>
                  <a:ext cx="187" cy="76"/>
                  <a:chOff x="2458" y="3343"/>
                  <a:chExt cx="187" cy="76"/>
                </a:xfrm>
              </p:grpSpPr>
              <p:grpSp>
                <p:nvGrpSpPr>
                  <p:cNvPr id="25" name="Group 90"/>
                  <p:cNvGrpSpPr>
                    <a:grpSpLocks/>
                  </p:cNvGrpSpPr>
                  <p:nvPr/>
                </p:nvGrpSpPr>
                <p:grpSpPr bwMode="auto">
                  <a:xfrm>
                    <a:off x="2458" y="3387"/>
                    <a:ext cx="25" cy="32"/>
                    <a:chOff x="2458" y="3387"/>
                    <a:chExt cx="25" cy="32"/>
                  </a:xfrm>
                </p:grpSpPr>
                <p:sp>
                  <p:nvSpPr>
                    <p:cNvPr id="294307" name="Freeform 91"/>
                    <p:cNvSpPr>
                      <a:spLocks/>
                    </p:cNvSpPr>
                    <p:nvPr/>
                  </p:nvSpPr>
                  <p:spPr bwMode="auto">
                    <a:xfrm>
                      <a:off x="2466" y="338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08" name="Freeform 92"/>
                    <p:cNvSpPr>
                      <a:spLocks/>
                    </p:cNvSpPr>
                    <p:nvPr/>
                  </p:nvSpPr>
                  <p:spPr bwMode="auto">
                    <a:xfrm>
                      <a:off x="2458" y="338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09" name="Freeform 93"/>
                    <p:cNvSpPr>
                      <a:spLocks/>
                    </p:cNvSpPr>
                    <p:nvPr/>
                  </p:nvSpPr>
                  <p:spPr bwMode="auto">
                    <a:xfrm>
                      <a:off x="2458" y="340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301" name="Freeform 94"/>
                  <p:cNvSpPr>
                    <a:spLocks/>
                  </p:cNvSpPr>
                  <p:nvPr/>
                </p:nvSpPr>
                <p:spPr bwMode="auto">
                  <a:xfrm>
                    <a:off x="2464" y="334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02" name="Freeform 95"/>
                  <p:cNvSpPr>
                    <a:spLocks/>
                  </p:cNvSpPr>
                  <p:nvPr/>
                </p:nvSpPr>
                <p:spPr bwMode="auto">
                  <a:xfrm>
                    <a:off x="2596" y="334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03" name="Freeform 96"/>
                  <p:cNvSpPr>
                    <a:spLocks/>
                  </p:cNvSpPr>
                  <p:nvPr/>
                </p:nvSpPr>
                <p:spPr bwMode="auto">
                  <a:xfrm>
                    <a:off x="2592" y="334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04" name="Freeform 97"/>
                  <p:cNvSpPr>
                    <a:spLocks/>
                  </p:cNvSpPr>
                  <p:nvPr/>
                </p:nvSpPr>
                <p:spPr bwMode="auto">
                  <a:xfrm>
                    <a:off x="2619" y="335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05" name="Freeform 98"/>
                  <p:cNvSpPr>
                    <a:spLocks/>
                  </p:cNvSpPr>
                  <p:nvPr/>
                </p:nvSpPr>
                <p:spPr bwMode="auto">
                  <a:xfrm>
                    <a:off x="2620" y="334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306" name="Freeform 99"/>
                  <p:cNvSpPr>
                    <a:spLocks/>
                  </p:cNvSpPr>
                  <p:nvPr/>
                </p:nvSpPr>
                <p:spPr bwMode="auto">
                  <a:xfrm>
                    <a:off x="2464" y="339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6" name="Group 100"/>
                <p:cNvGrpSpPr>
                  <a:grpSpLocks/>
                </p:cNvGrpSpPr>
                <p:nvPr/>
              </p:nvGrpSpPr>
              <p:grpSpPr bwMode="auto">
                <a:xfrm>
                  <a:off x="2540" y="3313"/>
                  <a:ext cx="109" cy="96"/>
                  <a:chOff x="2540" y="3313"/>
                  <a:chExt cx="109" cy="96"/>
                </a:xfrm>
              </p:grpSpPr>
              <p:sp>
                <p:nvSpPr>
                  <p:cNvPr id="294297" name="Freeform 101"/>
                  <p:cNvSpPr>
                    <a:spLocks/>
                  </p:cNvSpPr>
                  <p:nvPr/>
                </p:nvSpPr>
                <p:spPr bwMode="auto">
                  <a:xfrm>
                    <a:off x="2541" y="338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98" name="Freeform 102"/>
                  <p:cNvSpPr>
                    <a:spLocks/>
                  </p:cNvSpPr>
                  <p:nvPr/>
                </p:nvSpPr>
                <p:spPr bwMode="auto">
                  <a:xfrm>
                    <a:off x="2542" y="335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99" name="Freeform 103"/>
                  <p:cNvSpPr>
                    <a:spLocks/>
                  </p:cNvSpPr>
                  <p:nvPr/>
                </p:nvSpPr>
                <p:spPr bwMode="auto">
                  <a:xfrm>
                    <a:off x="2540" y="331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293" name="Freeform 104"/>
              <p:cNvSpPr>
                <a:spLocks/>
              </p:cNvSpPr>
              <p:nvPr/>
            </p:nvSpPr>
            <p:spPr bwMode="auto">
              <a:xfrm>
                <a:off x="2517" y="337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94" name="Freeform 105"/>
              <p:cNvSpPr>
                <a:spLocks/>
              </p:cNvSpPr>
              <p:nvPr/>
            </p:nvSpPr>
            <p:spPr bwMode="auto">
              <a:xfrm>
                <a:off x="2523" y="337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7" name="Group 106"/>
            <p:cNvGrpSpPr>
              <a:grpSpLocks/>
            </p:cNvGrpSpPr>
            <p:nvPr/>
          </p:nvGrpSpPr>
          <p:grpSpPr bwMode="auto">
            <a:xfrm>
              <a:off x="3156" y="2375"/>
              <a:ext cx="167" cy="87"/>
              <a:chOff x="2515" y="3428"/>
              <a:chExt cx="191" cy="106"/>
            </a:xfrm>
          </p:grpSpPr>
          <p:grpSp>
            <p:nvGrpSpPr>
              <p:cNvPr id="28" name="Group 107"/>
              <p:cNvGrpSpPr>
                <a:grpSpLocks/>
              </p:cNvGrpSpPr>
              <p:nvPr/>
            </p:nvGrpSpPr>
            <p:grpSpPr bwMode="auto">
              <a:xfrm>
                <a:off x="2515" y="3428"/>
                <a:ext cx="191" cy="106"/>
                <a:chOff x="2515" y="3428"/>
                <a:chExt cx="191" cy="106"/>
              </a:xfrm>
            </p:grpSpPr>
            <p:grpSp>
              <p:nvGrpSpPr>
                <p:cNvPr id="29" name="Group 108"/>
                <p:cNvGrpSpPr>
                  <a:grpSpLocks/>
                </p:cNvGrpSpPr>
                <p:nvPr/>
              </p:nvGrpSpPr>
              <p:grpSpPr bwMode="auto">
                <a:xfrm>
                  <a:off x="2515" y="3458"/>
                  <a:ext cx="187" cy="76"/>
                  <a:chOff x="2515" y="3458"/>
                  <a:chExt cx="187" cy="76"/>
                </a:xfrm>
              </p:grpSpPr>
              <p:grpSp>
                <p:nvGrpSpPr>
                  <p:cNvPr id="30" name="Group 109"/>
                  <p:cNvGrpSpPr>
                    <a:grpSpLocks/>
                  </p:cNvGrpSpPr>
                  <p:nvPr/>
                </p:nvGrpSpPr>
                <p:grpSpPr bwMode="auto">
                  <a:xfrm>
                    <a:off x="2515" y="3502"/>
                    <a:ext cx="25" cy="32"/>
                    <a:chOff x="2515" y="3502"/>
                    <a:chExt cx="25" cy="32"/>
                  </a:xfrm>
                </p:grpSpPr>
                <p:sp>
                  <p:nvSpPr>
                    <p:cNvPr id="294289" name="Freeform 110"/>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90" name="Freeform 111"/>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91" name="Freeform 112"/>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283" name="Freeform 113"/>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84" name="Freeform 114"/>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85" name="Freeform 115"/>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86" name="Freeform 116"/>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87" name="Freeform 117"/>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88" name="Freeform 118"/>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31" name="Group 119"/>
                <p:cNvGrpSpPr>
                  <a:grpSpLocks/>
                </p:cNvGrpSpPr>
                <p:nvPr/>
              </p:nvGrpSpPr>
              <p:grpSpPr bwMode="auto">
                <a:xfrm>
                  <a:off x="2597" y="3428"/>
                  <a:ext cx="109" cy="96"/>
                  <a:chOff x="2597" y="3428"/>
                  <a:chExt cx="109" cy="96"/>
                </a:xfrm>
              </p:grpSpPr>
              <p:sp>
                <p:nvSpPr>
                  <p:cNvPr id="294279" name="Freeform 120"/>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80" name="Freeform 121"/>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81" name="Freeform 122"/>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275" name="Freeform 123"/>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76" name="Freeform 124"/>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888" name="Group 125"/>
            <p:cNvGrpSpPr>
              <a:grpSpLocks/>
            </p:cNvGrpSpPr>
            <p:nvPr/>
          </p:nvGrpSpPr>
          <p:grpSpPr bwMode="auto">
            <a:xfrm>
              <a:off x="4167" y="2301"/>
              <a:ext cx="662" cy="612"/>
              <a:chOff x="2206" y="3016"/>
              <a:chExt cx="750" cy="750"/>
            </a:xfrm>
          </p:grpSpPr>
          <p:grpSp>
            <p:nvGrpSpPr>
              <p:cNvPr id="293889" name="Group 126"/>
              <p:cNvGrpSpPr>
                <a:grpSpLocks/>
              </p:cNvGrpSpPr>
              <p:nvPr/>
            </p:nvGrpSpPr>
            <p:grpSpPr bwMode="auto">
              <a:xfrm>
                <a:off x="2206" y="3016"/>
                <a:ext cx="750" cy="750"/>
                <a:chOff x="2206" y="3016"/>
                <a:chExt cx="750" cy="750"/>
              </a:xfrm>
            </p:grpSpPr>
            <p:grpSp>
              <p:nvGrpSpPr>
                <p:cNvPr id="293894" name="Group 127"/>
                <p:cNvGrpSpPr>
                  <a:grpSpLocks/>
                </p:cNvGrpSpPr>
                <p:nvPr/>
              </p:nvGrpSpPr>
              <p:grpSpPr bwMode="auto">
                <a:xfrm>
                  <a:off x="2206" y="3016"/>
                  <a:ext cx="750" cy="750"/>
                  <a:chOff x="2206" y="3016"/>
                  <a:chExt cx="750" cy="750"/>
                </a:xfrm>
              </p:grpSpPr>
              <p:grpSp>
                <p:nvGrpSpPr>
                  <p:cNvPr id="293898" name="Group 128"/>
                  <p:cNvGrpSpPr>
                    <a:grpSpLocks/>
                  </p:cNvGrpSpPr>
                  <p:nvPr/>
                </p:nvGrpSpPr>
                <p:grpSpPr bwMode="auto">
                  <a:xfrm>
                    <a:off x="2206" y="3016"/>
                    <a:ext cx="750" cy="750"/>
                    <a:chOff x="2206" y="3016"/>
                    <a:chExt cx="750" cy="750"/>
                  </a:xfrm>
                </p:grpSpPr>
                <p:sp>
                  <p:nvSpPr>
                    <p:cNvPr id="294272" name="Oval 129"/>
                    <p:cNvSpPr>
                      <a:spLocks noChangeArrowheads="1"/>
                    </p:cNvSpPr>
                    <p:nvPr/>
                  </p:nvSpPr>
                  <p:spPr bwMode="auto">
                    <a:xfrm>
                      <a:off x="2206" y="3016"/>
                      <a:ext cx="750" cy="750"/>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4273" name="Oval 130"/>
                    <p:cNvSpPr>
                      <a:spLocks noChangeArrowheads="1"/>
                    </p:cNvSpPr>
                    <p:nvPr/>
                  </p:nvSpPr>
                  <p:spPr bwMode="auto">
                    <a:xfrm>
                      <a:off x="2285" y="3091"/>
                      <a:ext cx="591" cy="597"/>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271" name="Oval 131"/>
                  <p:cNvSpPr>
                    <a:spLocks noChangeArrowheads="1"/>
                  </p:cNvSpPr>
                  <p:nvPr/>
                </p:nvSpPr>
                <p:spPr bwMode="auto">
                  <a:xfrm>
                    <a:off x="2365" y="3172"/>
                    <a:ext cx="431" cy="435"/>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269" name="Oval 132"/>
                <p:cNvSpPr>
                  <a:spLocks noChangeArrowheads="1"/>
                </p:cNvSpPr>
                <p:nvPr/>
              </p:nvSpPr>
              <p:spPr bwMode="auto">
                <a:xfrm>
                  <a:off x="2444" y="3252"/>
                  <a:ext cx="274" cy="275"/>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267" name="Oval 133"/>
              <p:cNvSpPr>
                <a:spLocks noChangeArrowheads="1"/>
              </p:cNvSpPr>
              <p:nvPr/>
            </p:nvSpPr>
            <p:spPr bwMode="auto">
              <a:xfrm>
                <a:off x="2523" y="3331"/>
                <a:ext cx="115" cy="117"/>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grpSp>
          <p:nvGrpSpPr>
            <p:cNvPr id="293902" name="Group 134"/>
            <p:cNvGrpSpPr>
              <a:grpSpLocks/>
            </p:cNvGrpSpPr>
            <p:nvPr/>
          </p:nvGrpSpPr>
          <p:grpSpPr bwMode="auto">
            <a:xfrm>
              <a:off x="4252" y="2404"/>
              <a:ext cx="164" cy="122"/>
              <a:chOff x="2737" y="3158"/>
              <a:chExt cx="185" cy="150"/>
            </a:xfrm>
          </p:grpSpPr>
          <p:sp>
            <p:nvSpPr>
              <p:cNvPr id="294251" name="Freeform 135"/>
              <p:cNvSpPr>
                <a:spLocks/>
              </p:cNvSpPr>
              <p:nvPr/>
            </p:nvSpPr>
            <p:spPr bwMode="auto">
              <a:xfrm>
                <a:off x="2739" y="3291"/>
                <a:ext cx="17" cy="17"/>
              </a:xfrm>
              <a:custGeom>
                <a:avLst/>
                <a:gdLst>
                  <a:gd name="T0" fmla="*/ 0 w 17"/>
                  <a:gd name="T1" fmla="*/ 7 h 17"/>
                  <a:gd name="T2" fmla="*/ 7 w 17"/>
                  <a:gd name="T3" fmla="*/ 0 h 17"/>
                  <a:gd name="T4" fmla="*/ 16 w 17"/>
                  <a:gd name="T5" fmla="*/ 16 h 17"/>
                  <a:gd name="T6" fmla="*/ 2 w 17"/>
                  <a:gd name="T7" fmla="*/ 13 h 17"/>
                  <a:gd name="T8" fmla="*/ 0 w 17"/>
                  <a:gd name="T9" fmla="*/ 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7"/>
                    </a:moveTo>
                    <a:lnTo>
                      <a:pt x="7" y="0"/>
                    </a:lnTo>
                    <a:lnTo>
                      <a:pt x="16" y="16"/>
                    </a:lnTo>
                    <a:lnTo>
                      <a:pt x="2" y="13"/>
                    </a:lnTo>
                    <a:lnTo>
                      <a:pt x="0" y="7"/>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52" name="Freeform 136"/>
              <p:cNvSpPr>
                <a:spLocks/>
              </p:cNvSpPr>
              <p:nvPr/>
            </p:nvSpPr>
            <p:spPr bwMode="auto">
              <a:xfrm>
                <a:off x="2737" y="3277"/>
                <a:ext cx="17" cy="20"/>
              </a:xfrm>
              <a:custGeom>
                <a:avLst/>
                <a:gdLst>
                  <a:gd name="T0" fmla="*/ 10 w 17"/>
                  <a:gd name="T1" fmla="*/ 0 h 20"/>
                  <a:gd name="T2" fmla="*/ 16 w 17"/>
                  <a:gd name="T3" fmla="*/ 14 h 20"/>
                  <a:gd name="T4" fmla="*/ 3 w 17"/>
                  <a:gd name="T5" fmla="*/ 19 h 20"/>
                  <a:gd name="T6" fmla="*/ 0 w 17"/>
                  <a:gd name="T7" fmla="*/ 14 h 20"/>
                  <a:gd name="T8" fmla="*/ 10 w 17"/>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0">
                    <a:moveTo>
                      <a:pt x="10" y="0"/>
                    </a:moveTo>
                    <a:lnTo>
                      <a:pt x="16" y="14"/>
                    </a:lnTo>
                    <a:lnTo>
                      <a:pt x="3" y="19"/>
                    </a:lnTo>
                    <a:lnTo>
                      <a:pt x="0" y="14"/>
                    </a:lnTo>
                    <a:lnTo>
                      <a:pt x="10"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53" name="Freeform 137"/>
              <p:cNvSpPr>
                <a:spLocks/>
              </p:cNvSpPr>
              <p:nvPr/>
            </p:nvSpPr>
            <p:spPr bwMode="auto">
              <a:xfrm>
                <a:off x="2742" y="3277"/>
                <a:ext cx="17" cy="25"/>
              </a:xfrm>
              <a:custGeom>
                <a:avLst/>
                <a:gdLst>
                  <a:gd name="T0" fmla="*/ 0 w 17"/>
                  <a:gd name="T1" fmla="*/ 0 h 25"/>
                  <a:gd name="T2" fmla="*/ 4 w 17"/>
                  <a:gd name="T3" fmla="*/ 15 h 25"/>
                  <a:gd name="T4" fmla="*/ 16 w 17"/>
                  <a:gd name="T5" fmla="*/ 24 h 25"/>
                  <a:gd name="T6" fmla="*/ 10 w 17"/>
                  <a:gd name="T7" fmla="*/ 12 h 25"/>
                  <a:gd name="T8" fmla="*/ 0 w 17"/>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5">
                    <a:moveTo>
                      <a:pt x="0" y="0"/>
                    </a:moveTo>
                    <a:lnTo>
                      <a:pt x="4" y="15"/>
                    </a:lnTo>
                    <a:lnTo>
                      <a:pt x="16" y="24"/>
                    </a:lnTo>
                    <a:lnTo>
                      <a:pt x="10"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293903" name="Group 138"/>
              <p:cNvGrpSpPr>
                <a:grpSpLocks/>
              </p:cNvGrpSpPr>
              <p:nvPr/>
            </p:nvGrpSpPr>
            <p:grpSpPr bwMode="auto">
              <a:xfrm>
                <a:off x="2744" y="3158"/>
                <a:ext cx="178" cy="139"/>
                <a:chOff x="2744" y="3158"/>
                <a:chExt cx="178" cy="139"/>
              </a:xfrm>
            </p:grpSpPr>
            <p:sp>
              <p:nvSpPr>
                <p:cNvPr id="294255" name="Freeform 139"/>
                <p:cNvSpPr>
                  <a:spLocks/>
                </p:cNvSpPr>
                <p:nvPr/>
              </p:nvSpPr>
              <p:spPr bwMode="auto">
                <a:xfrm>
                  <a:off x="2744" y="3196"/>
                  <a:ext cx="153" cy="99"/>
                </a:xfrm>
                <a:custGeom>
                  <a:avLst/>
                  <a:gdLst>
                    <a:gd name="T0" fmla="*/ 122 w 153"/>
                    <a:gd name="T1" fmla="*/ 0 h 99"/>
                    <a:gd name="T2" fmla="*/ 3 w 153"/>
                    <a:gd name="T3" fmla="*/ 89 h 99"/>
                    <a:gd name="T4" fmla="*/ 2 w 153"/>
                    <a:gd name="T5" fmla="*/ 90 h 99"/>
                    <a:gd name="T6" fmla="*/ 1 w 153"/>
                    <a:gd name="T7" fmla="*/ 92 h 99"/>
                    <a:gd name="T8" fmla="*/ 0 w 153"/>
                    <a:gd name="T9" fmla="*/ 94 h 99"/>
                    <a:gd name="T10" fmla="*/ 1 w 153"/>
                    <a:gd name="T11" fmla="*/ 96 h 99"/>
                    <a:gd name="T12" fmla="*/ 2 w 153"/>
                    <a:gd name="T13" fmla="*/ 97 h 99"/>
                    <a:gd name="T14" fmla="*/ 4 w 153"/>
                    <a:gd name="T15" fmla="*/ 98 h 99"/>
                    <a:gd name="T16" fmla="*/ 6 w 153"/>
                    <a:gd name="T17" fmla="*/ 96 h 99"/>
                    <a:gd name="T18" fmla="*/ 152 w 153"/>
                    <a:gd name="T19" fmla="*/ 28 h 99"/>
                    <a:gd name="T20" fmla="*/ 122 w 153"/>
                    <a:gd name="T21" fmla="*/ 0 h 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3" h="99">
                      <a:moveTo>
                        <a:pt x="122" y="0"/>
                      </a:moveTo>
                      <a:lnTo>
                        <a:pt x="3" y="89"/>
                      </a:lnTo>
                      <a:lnTo>
                        <a:pt x="2" y="90"/>
                      </a:lnTo>
                      <a:lnTo>
                        <a:pt x="1" y="92"/>
                      </a:lnTo>
                      <a:lnTo>
                        <a:pt x="0" y="94"/>
                      </a:lnTo>
                      <a:lnTo>
                        <a:pt x="1" y="96"/>
                      </a:lnTo>
                      <a:lnTo>
                        <a:pt x="2" y="97"/>
                      </a:lnTo>
                      <a:lnTo>
                        <a:pt x="4" y="98"/>
                      </a:lnTo>
                      <a:lnTo>
                        <a:pt x="6" y="96"/>
                      </a:lnTo>
                      <a:lnTo>
                        <a:pt x="152" y="28"/>
                      </a:lnTo>
                      <a:lnTo>
                        <a:pt x="122"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56" name="Freeform 140"/>
                <p:cNvSpPr>
                  <a:spLocks/>
                </p:cNvSpPr>
                <p:nvPr/>
              </p:nvSpPr>
              <p:spPr bwMode="auto">
                <a:xfrm>
                  <a:off x="2855" y="3191"/>
                  <a:ext cx="52" cy="25"/>
                </a:xfrm>
                <a:custGeom>
                  <a:avLst/>
                  <a:gdLst>
                    <a:gd name="T0" fmla="*/ 2 w 52"/>
                    <a:gd name="T1" fmla="*/ 12 h 25"/>
                    <a:gd name="T2" fmla="*/ 21 w 52"/>
                    <a:gd name="T3" fmla="*/ 0 h 25"/>
                    <a:gd name="T4" fmla="*/ 51 w 52"/>
                    <a:gd name="T5" fmla="*/ 21 h 25"/>
                    <a:gd name="T6" fmla="*/ 46 w 52"/>
                    <a:gd name="T7" fmla="*/ 24 h 25"/>
                    <a:gd name="T8" fmla="*/ 19 w 52"/>
                    <a:gd name="T9" fmla="*/ 7 h 25"/>
                    <a:gd name="T10" fmla="*/ 0 w 52"/>
                    <a:gd name="T11" fmla="*/ 18 h 25"/>
                    <a:gd name="T12" fmla="*/ 2 w 52"/>
                    <a:gd name="T13" fmla="*/ 12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25">
                      <a:moveTo>
                        <a:pt x="2" y="12"/>
                      </a:moveTo>
                      <a:lnTo>
                        <a:pt x="21" y="0"/>
                      </a:lnTo>
                      <a:lnTo>
                        <a:pt x="51" y="21"/>
                      </a:lnTo>
                      <a:lnTo>
                        <a:pt x="46" y="24"/>
                      </a:lnTo>
                      <a:lnTo>
                        <a:pt x="19" y="7"/>
                      </a:lnTo>
                      <a:lnTo>
                        <a:pt x="0" y="18"/>
                      </a:lnTo>
                      <a:lnTo>
                        <a:pt x="2" y="12"/>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57" name="Freeform 141"/>
                <p:cNvSpPr>
                  <a:spLocks/>
                </p:cNvSpPr>
                <p:nvPr/>
              </p:nvSpPr>
              <p:spPr bwMode="auto">
                <a:xfrm>
                  <a:off x="2855" y="3187"/>
                  <a:ext cx="49" cy="48"/>
                </a:xfrm>
                <a:custGeom>
                  <a:avLst/>
                  <a:gdLst>
                    <a:gd name="T0" fmla="*/ 25 w 49"/>
                    <a:gd name="T1" fmla="*/ 0 h 48"/>
                    <a:gd name="T2" fmla="*/ 2 w 49"/>
                    <a:gd name="T3" fmla="*/ 16 h 48"/>
                    <a:gd name="T4" fmla="*/ 1 w 49"/>
                    <a:gd name="T5" fmla="*/ 18 h 48"/>
                    <a:gd name="T6" fmla="*/ 0 w 49"/>
                    <a:gd name="T7" fmla="*/ 21 h 48"/>
                    <a:gd name="T8" fmla="*/ 0 w 49"/>
                    <a:gd name="T9" fmla="*/ 25 h 48"/>
                    <a:gd name="T10" fmla="*/ 0 w 49"/>
                    <a:gd name="T11" fmla="*/ 28 h 48"/>
                    <a:gd name="T12" fmla="*/ 0 w 49"/>
                    <a:gd name="T13" fmla="*/ 32 h 48"/>
                    <a:gd name="T14" fmla="*/ 1 w 49"/>
                    <a:gd name="T15" fmla="*/ 35 h 48"/>
                    <a:gd name="T16" fmla="*/ 3 w 49"/>
                    <a:gd name="T17" fmla="*/ 38 h 48"/>
                    <a:gd name="T18" fmla="*/ 5 w 49"/>
                    <a:gd name="T19" fmla="*/ 41 h 48"/>
                    <a:gd name="T20" fmla="*/ 9 w 49"/>
                    <a:gd name="T21" fmla="*/ 43 h 48"/>
                    <a:gd name="T22" fmla="*/ 12 w 49"/>
                    <a:gd name="T23" fmla="*/ 45 h 48"/>
                    <a:gd name="T24" fmla="*/ 15 w 49"/>
                    <a:gd name="T25" fmla="*/ 46 h 48"/>
                    <a:gd name="T26" fmla="*/ 19 w 49"/>
                    <a:gd name="T27" fmla="*/ 47 h 48"/>
                    <a:gd name="T28" fmla="*/ 22 w 49"/>
                    <a:gd name="T29" fmla="*/ 47 h 48"/>
                    <a:gd name="T30" fmla="*/ 48 w 49"/>
                    <a:gd name="T31" fmla="*/ 35 h 48"/>
                    <a:gd name="T32" fmla="*/ 21 w 49"/>
                    <a:gd name="T33" fmla="*/ 9 h 48"/>
                    <a:gd name="T34" fmla="*/ 2 w 49"/>
                    <a:gd name="T35" fmla="*/ 20 h 48"/>
                    <a:gd name="T36" fmla="*/ 4 w 49"/>
                    <a:gd name="T37" fmla="*/ 17 h 48"/>
                    <a:gd name="T38" fmla="*/ 23 w 49"/>
                    <a:gd name="T39" fmla="*/ 4 h 48"/>
                    <a:gd name="T40" fmla="*/ 25 w 49"/>
                    <a:gd name="T41" fmla="*/ 0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48">
                      <a:moveTo>
                        <a:pt x="25" y="0"/>
                      </a:moveTo>
                      <a:lnTo>
                        <a:pt x="2" y="16"/>
                      </a:lnTo>
                      <a:lnTo>
                        <a:pt x="1" y="18"/>
                      </a:lnTo>
                      <a:lnTo>
                        <a:pt x="0" y="21"/>
                      </a:lnTo>
                      <a:lnTo>
                        <a:pt x="0" y="25"/>
                      </a:lnTo>
                      <a:lnTo>
                        <a:pt x="0" y="28"/>
                      </a:lnTo>
                      <a:lnTo>
                        <a:pt x="0" y="32"/>
                      </a:lnTo>
                      <a:lnTo>
                        <a:pt x="1" y="35"/>
                      </a:lnTo>
                      <a:lnTo>
                        <a:pt x="3" y="38"/>
                      </a:lnTo>
                      <a:lnTo>
                        <a:pt x="5" y="41"/>
                      </a:lnTo>
                      <a:lnTo>
                        <a:pt x="9" y="43"/>
                      </a:lnTo>
                      <a:lnTo>
                        <a:pt x="12" y="45"/>
                      </a:lnTo>
                      <a:lnTo>
                        <a:pt x="15" y="46"/>
                      </a:lnTo>
                      <a:lnTo>
                        <a:pt x="19" y="47"/>
                      </a:lnTo>
                      <a:lnTo>
                        <a:pt x="22" y="47"/>
                      </a:lnTo>
                      <a:lnTo>
                        <a:pt x="48" y="35"/>
                      </a:lnTo>
                      <a:lnTo>
                        <a:pt x="21" y="9"/>
                      </a:lnTo>
                      <a:lnTo>
                        <a:pt x="2" y="20"/>
                      </a:lnTo>
                      <a:lnTo>
                        <a:pt x="4" y="17"/>
                      </a:lnTo>
                      <a:lnTo>
                        <a:pt x="23" y="4"/>
                      </a:lnTo>
                      <a:lnTo>
                        <a:pt x="25"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58" name="Freeform 142"/>
                <p:cNvSpPr>
                  <a:spLocks/>
                </p:cNvSpPr>
                <p:nvPr/>
              </p:nvSpPr>
              <p:spPr bwMode="auto">
                <a:xfrm>
                  <a:off x="2876" y="3196"/>
                  <a:ext cx="31" cy="28"/>
                </a:xfrm>
                <a:custGeom>
                  <a:avLst/>
                  <a:gdLst>
                    <a:gd name="T0" fmla="*/ 0 w 31"/>
                    <a:gd name="T1" fmla="*/ 0 h 28"/>
                    <a:gd name="T2" fmla="*/ 0 w 31"/>
                    <a:gd name="T3" fmla="*/ 2 h 28"/>
                    <a:gd name="T4" fmla="*/ 1 w 31"/>
                    <a:gd name="T5" fmla="*/ 4 h 28"/>
                    <a:gd name="T6" fmla="*/ 1 w 31"/>
                    <a:gd name="T7" fmla="*/ 6 h 28"/>
                    <a:gd name="T8" fmla="*/ 3 w 31"/>
                    <a:gd name="T9" fmla="*/ 9 h 28"/>
                    <a:gd name="T10" fmla="*/ 4 w 31"/>
                    <a:gd name="T11" fmla="*/ 11 h 28"/>
                    <a:gd name="T12" fmla="*/ 6 w 31"/>
                    <a:gd name="T13" fmla="*/ 15 h 28"/>
                    <a:gd name="T14" fmla="*/ 9 w 31"/>
                    <a:gd name="T15" fmla="*/ 17 h 28"/>
                    <a:gd name="T16" fmla="*/ 12 w 31"/>
                    <a:gd name="T17" fmla="*/ 19 h 28"/>
                    <a:gd name="T18" fmla="*/ 14 w 31"/>
                    <a:gd name="T19" fmla="*/ 22 h 28"/>
                    <a:gd name="T20" fmla="*/ 17 w 31"/>
                    <a:gd name="T21" fmla="*/ 24 h 28"/>
                    <a:gd name="T22" fmla="*/ 20 w 31"/>
                    <a:gd name="T23" fmla="*/ 25 h 28"/>
                    <a:gd name="T24" fmla="*/ 23 w 31"/>
                    <a:gd name="T25" fmla="*/ 26 h 28"/>
                    <a:gd name="T26" fmla="*/ 25 w 31"/>
                    <a:gd name="T27" fmla="*/ 27 h 28"/>
                    <a:gd name="T28" fmla="*/ 27 w 31"/>
                    <a:gd name="T29" fmla="*/ 26 h 28"/>
                    <a:gd name="T30" fmla="*/ 28 w 31"/>
                    <a:gd name="T31" fmla="*/ 24 h 28"/>
                    <a:gd name="T32" fmla="*/ 29 w 31"/>
                    <a:gd name="T33" fmla="*/ 22 h 28"/>
                    <a:gd name="T34" fmla="*/ 30 w 31"/>
                    <a:gd name="T35" fmla="*/ 19 h 28"/>
                    <a:gd name="T36" fmla="*/ 0 w 31"/>
                    <a:gd name="T37" fmla="*/ 0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1" h="28">
                      <a:moveTo>
                        <a:pt x="0" y="0"/>
                      </a:moveTo>
                      <a:lnTo>
                        <a:pt x="0" y="2"/>
                      </a:lnTo>
                      <a:lnTo>
                        <a:pt x="1" y="4"/>
                      </a:lnTo>
                      <a:lnTo>
                        <a:pt x="1" y="6"/>
                      </a:lnTo>
                      <a:lnTo>
                        <a:pt x="3" y="9"/>
                      </a:lnTo>
                      <a:lnTo>
                        <a:pt x="4" y="11"/>
                      </a:lnTo>
                      <a:lnTo>
                        <a:pt x="6" y="15"/>
                      </a:lnTo>
                      <a:lnTo>
                        <a:pt x="9" y="17"/>
                      </a:lnTo>
                      <a:lnTo>
                        <a:pt x="12" y="19"/>
                      </a:lnTo>
                      <a:lnTo>
                        <a:pt x="14" y="22"/>
                      </a:lnTo>
                      <a:lnTo>
                        <a:pt x="17" y="24"/>
                      </a:lnTo>
                      <a:lnTo>
                        <a:pt x="20" y="25"/>
                      </a:lnTo>
                      <a:lnTo>
                        <a:pt x="23" y="26"/>
                      </a:lnTo>
                      <a:lnTo>
                        <a:pt x="25" y="27"/>
                      </a:lnTo>
                      <a:lnTo>
                        <a:pt x="27" y="26"/>
                      </a:lnTo>
                      <a:lnTo>
                        <a:pt x="28" y="24"/>
                      </a:lnTo>
                      <a:lnTo>
                        <a:pt x="29" y="22"/>
                      </a:lnTo>
                      <a:lnTo>
                        <a:pt x="30" y="19"/>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59" name="Freeform 143"/>
                <p:cNvSpPr>
                  <a:spLocks/>
                </p:cNvSpPr>
                <p:nvPr/>
              </p:nvSpPr>
              <p:spPr bwMode="auto">
                <a:xfrm>
                  <a:off x="2877" y="3186"/>
                  <a:ext cx="30" cy="27"/>
                </a:xfrm>
                <a:custGeom>
                  <a:avLst/>
                  <a:gdLst>
                    <a:gd name="T0" fmla="*/ 0 w 30"/>
                    <a:gd name="T1" fmla="*/ 6 h 27"/>
                    <a:gd name="T2" fmla="*/ 0 w 30"/>
                    <a:gd name="T3" fmla="*/ 4 h 27"/>
                    <a:gd name="T4" fmla="*/ 0 w 30"/>
                    <a:gd name="T5" fmla="*/ 2 h 27"/>
                    <a:gd name="T6" fmla="*/ 2 w 30"/>
                    <a:gd name="T7" fmla="*/ 0 h 27"/>
                    <a:gd name="T8" fmla="*/ 5 w 30"/>
                    <a:gd name="T9" fmla="*/ 0 h 27"/>
                    <a:gd name="T10" fmla="*/ 7 w 30"/>
                    <a:gd name="T11" fmla="*/ 0 h 27"/>
                    <a:gd name="T12" fmla="*/ 10 w 30"/>
                    <a:gd name="T13" fmla="*/ 0 h 27"/>
                    <a:gd name="T14" fmla="*/ 13 w 30"/>
                    <a:gd name="T15" fmla="*/ 1 h 27"/>
                    <a:gd name="T16" fmla="*/ 17 w 30"/>
                    <a:gd name="T17" fmla="*/ 3 h 27"/>
                    <a:gd name="T18" fmla="*/ 20 w 30"/>
                    <a:gd name="T19" fmla="*/ 5 h 27"/>
                    <a:gd name="T20" fmla="*/ 22 w 30"/>
                    <a:gd name="T21" fmla="*/ 7 h 27"/>
                    <a:gd name="T22" fmla="*/ 24 w 30"/>
                    <a:gd name="T23" fmla="*/ 10 h 27"/>
                    <a:gd name="T24" fmla="*/ 26 w 30"/>
                    <a:gd name="T25" fmla="*/ 13 h 27"/>
                    <a:gd name="T26" fmla="*/ 27 w 30"/>
                    <a:gd name="T27" fmla="*/ 15 h 27"/>
                    <a:gd name="T28" fmla="*/ 28 w 30"/>
                    <a:gd name="T29" fmla="*/ 19 h 27"/>
                    <a:gd name="T30" fmla="*/ 29 w 30"/>
                    <a:gd name="T31" fmla="*/ 23 h 27"/>
                    <a:gd name="T32" fmla="*/ 29 w 30"/>
                    <a:gd name="T33" fmla="*/ 26 h 27"/>
                    <a:gd name="T34" fmla="*/ 0 w 30"/>
                    <a:gd name="T35" fmla="*/ 6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0" h="27">
                      <a:moveTo>
                        <a:pt x="0" y="6"/>
                      </a:moveTo>
                      <a:lnTo>
                        <a:pt x="0" y="4"/>
                      </a:lnTo>
                      <a:lnTo>
                        <a:pt x="0" y="2"/>
                      </a:lnTo>
                      <a:lnTo>
                        <a:pt x="2" y="0"/>
                      </a:lnTo>
                      <a:lnTo>
                        <a:pt x="5" y="0"/>
                      </a:lnTo>
                      <a:lnTo>
                        <a:pt x="7" y="0"/>
                      </a:lnTo>
                      <a:lnTo>
                        <a:pt x="10" y="0"/>
                      </a:lnTo>
                      <a:lnTo>
                        <a:pt x="13" y="1"/>
                      </a:lnTo>
                      <a:lnTo>
                        <a:pt x="17" y="3"/>
                      </a:lnTo>
                      <a:lnTo>
                        <a:pt x="20" y="5"/>
                      </a:lnTo>
                      <a:lnTo>
                        <a:pt x="22" y="7"/>
                      </a:lnTo>
                      <a:lnTo>
                        <a:pt x="24" y="10"/>
                      </a:lnTo>
                      <a:lnTo>
                        <a:pt x="26" y="13"/>
                      </a:lnTo>
                      <a:lnTo>
                        <a:pt x="27" y="15"/>
                      </a:lnTo>
                      <a:lnTo>
                        <a:pt x="28" y="19"/>
                      </a:lnTo>
                      <a:lnTo>
                        <a:pt x="29" y="23"/>
                      </a:lnTo>
                      <a:lnTo>
                        <a:pt x="29" y="26"/>
                      </a:lnTo>
                      <a:lnTo>
                        <a:pt x="0" y="6"/>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60" name="Freeform 144"/>
                <p:cNvSpPr>
                  <a:spLocks/>
                </p:cNvSpPr>
                <p:nvPr/>
              </p:nvSpPr>
              <p:spPr bwMode="auto">
                <a:xfrm>
                  <a:off x="2809" y="3158"/>
                  <a:ext cx="66" cy="85"/>
                </a:xfrm>
                <a:custGeom>
                  <a:avLst/>
                  <a:gdLst>
                    <a:gd name="T0" fmla="*/ 0 w 66"/>
                    <a:gd name="T1" fmla="*/ 84 h 85"/>
                    <a:gd name="T2" fmla="*/ 53 w 66"/>
                    <a:gd name="T3" fmla="*/ 44 h 85"/>
                    <a:gd name="T4" fmla="*/ 65 w 66"/>
                    <a:gd name="T5" fmla="*/ 0 h 85"/>
                    <a:gd name="T6" fmla="*/ 50 w 66"/>
                    <a:gd name="T7" fmla="*/ 15 h 85"/>
                    <a:gd name="T8" fmla="*/ 47 w 66"/>
                    <a:gd name="T9" fmla="*/ 21 h 85"/>
                    <a:gd name="T10" fmla="*/ 45 w 66"/>
                    <a:gd name="T11" fmla="*/ 17 h 85"/>
                    <a:gd name="T12" fmla="*/ 30 w 66"/>
                    <a:gd name="T13" fmla="*/ 40 h 85"/>
                    <a:gd name="T14" fmla="*/ 29 w 66"/>
                    <a:gd name="T15" fmla="*/ 34 h 85"/>
                    <a:gd name="T16" fmla="*/ 11 w 66"/>
                    <a:gd name="T17" fmla="*/ 56 h 85"/>
                    <a:gd name="T18" fmla="*/ 0 w 66"/>
                    <a:gd name="T19" fmla="*/ 84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85">
                      <a:moveTo>
                        <a:pt x="0" y="84"/>
                      </a:moveTo>
                      <a:lnTo>
                        <a:pt x="53" y="44"/>
                      </a:lnTo>
                      <a:lnTo>
                        <a:pt x="65" y="0"/>
                      </a:lnTo>
                      <a:lnTo>
                        <a:pt x="50" y="15"/>
                      </a:lnTo>
                      <a:lnTo>
                        <a:pt x="47" y="21"/>
                      </a:lnTo>
                      <a:lnTo>
                        <a:pt x="45" y="17"/>
                      </a:lnTo>
                      <a:lnTo>
                        <a:pt x="30" y="40"/>
                      </a:lnTo>
                      <a:lnTo>
                        <a:pt x="29" y="34"/>
                      </a:lnTo>
                      <a:lnTo>
                        <a:pt x="11" y="56"/>
                      </a:lnTo>
                      <a:lnTo>
                        <a:pt x="0" y="84"/>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61" name="Freeform 145"/>
                <p:cNvSpPr>
                  <a:spLocks/>
                </p:cNvSpPr>
                <p:nvPr/>
              </p:nvSpPr>
              <p:spPr bwMode="auto">
                <a:xfrm>
                  <a:off x="2812" y="3207"/>
                  <a:ext cx="58" cy="42"/>
                </a:xfrm>
                <a:custGeom>
                  <a:avLst/>
                  <a:gdLst>
                    <a:gd name="T0" fmla="*/ 6 w 58"/>
                    <a:gd name="T1" fmla="*/ 33 h 42"/>
                    <a:gd name="T2" fmla="*/ 57 w 58"/>
                    <a:gd name="T3" fmla="*/ 0 h 42"/>
                    <a:gd name="T4" fmla="*/ 43 w 58"/>
                    <a:gd name="T5" fmla="*/ 14 h 42"/>
                    <a:gd name="T6" fmla="*/ 0 w 58"/>
                    <a:gd name="T7" fmla="*/ 41 h 42"/>
                    <a:gd name="T8" fmla="*/ 6 w 58"/>
                    <a:gd name="T9" fmla="*/ 33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8" h="42">
                      <a:moveTo>
                        <a:pt x="6" y="33"/>
                      </a:moveTo>
                      <a:lnTo>
                        <a:pt x="57" y="0"/>
                      </a:lnTo>
                      <a:lnTo>
                        <a:pt x="43" y="14"/>
                      </a:lnTo>
                      <a:lnTo>
                        <a:pt x="0" y="41"/>
                      </a:lnTo>
                      <a:lnTo>
                        <a:pt x="6" y="33"/>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62" name="Freeform 146"/>
                <p:cNvSpPr>
                  <a:spLocks/>
                </p:cNvSpPr>
                <p:nvPr/>
              </p:nvSpPr>
              <p:spPr bwMode="auto">
                <a:xfrm>
                  <a:off x="2814" y="3226"/>
                  <a:ext cx="108" cy="36"/>
                </a:xfrm>
                <a:custGeom>
                  <a:avLst/>
                  <a:gdLst>
                    <a:gd name="T0" fmla="*/ 0 w 108"/>
                    <a:gd name="T1" fmla="*/ 30 h 36"/>
                    <a:gd name="T2" fmla="*/ 67 w 108"/>
                    <a:gd name="T3" fmla="*/ 0 h 36"/>
                    <a:gd name="T4" fmla="*/ 107 w 108"/>
                    <a:gd name="T5" fmla="*/ 15 h 36"/>
                    <a:gd name="T6" fmla="*/ 86 w 108"/>
                    <a:gd name="T7" fmla="*/ 19 h 36"/>
                    <a:gd name="T8" fmla="*/ 79 w 108"/>
                    <a:gd name="T9" fmla="*/ 19 h 36"/>
                    <a:gd name="T10" fmla="*/ 83 w 108"/>
                    <a:gd name="T11" fmla="*/ 22 h 36"/>
                    <a:gd name="T12" fmla="*/ 61 w 108"/>
                    <a:gd name="T13" fmla="*/ 27 h 36"/>
                    <a:gd name="T14" fmla="*/ 54 w 108"/>
                    <a:gd name="T15" fmla="*/ 27 h 36"/>
                    <a:gd name="T16" fmla="*/ 59 w 108"/>
                    <a:gd name="T17" fmla="*/ 29 h 36"/>
                    <a:gd name="T18" fmla="*/ 29 w 108"/>
                    <a:gd name="T19" fmla="*/ 35 h 36"/>
                    <a:gd name="T20" fmla="*/ 0 w 108"/>
                    <a:gd name="T21" fmla="*/ 3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36">
                      <a:moveTo>
                        <a:pt x="0" y="30"/>
                      </a:moveTo>
                      <a:lnTo>
                        <a:pt x="67" y="0"/>
                      </a:lnTo>
                      <a:lnTo>
                        <a:pt x="107" y="15"/>
                      </a:lnTo>
                      <a:lnTo>
                        <a:pt x="86" y="19"/>
                      </a:lnTo>
                      <a:lnTo>
                        <a:pt x="79" y="19"/>
                      </a:lnTo>
                      <a:lnTo>
                        <a:pt x="83" y="22"/>
                      </a:lnTo>
                      <a:lnTo>
                        <a:pt x="61" y="27"/>
                      </a:lnTo>
                      <a:lnTo>
                        <a:pt x="54" y="27"/>
                      </a:lnTo>
                      <a:lnTo>
                        <a:pt x="59" y="29"/>
                      </a:lnTo>
                      <a:lnTo>
                        <a:pt x="29" y="35"/>
                      </a:lnTo>
                      <a:lnTo>
                        <a:pt x="0" y="3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63" name="Freeform 147"/>
                <p:cNvSpPr>
                  <a:spLocks/>
                </p:cNvSpPr>
                <p:nvPr/>
              </p:nvSpPr>
              <p:spPr bwMode="auto">
                <a:xfrm>
                  <a:off x="2790" y="3238"/>
                  <a:ext cx="32" cy="33"/>
                </a:xfrm>
                <a:custGeom>
                  <a:avLst/>
                  <a:gdLst>
                    <a:gd name="T0" fmla="*/ 20 w 32"/>
                    <a:gd name="T1" fmla="*/ 0 h 33"/>
                    <a:gd name="T2" fmla="*/ 19 w 32"/>
                    <a:gd name="T3" fmla="*/ 3 h 33"/>
                    <a:gd name="T4" fmla="*/ 19 w 32"/>
                    <a:gd name="T5" fmla="*/ 6 h 33"/>
                    <a:gd name="T6" fmla="*/ 18 w 32"/>
                    <a:gd name="T7" fmla="*/ 9 h 33"/>
                    <a:gd name="T8" fmla="*/ 19 w 32"/>
                    <a:gd name="T9" fmla="*/ 12 h 33"/>
                    <a:gd name="T10" fmla="*/ 20 w 32"/>
                    <a:gd name="T11" fmla="*/ 15 h 33"/>
                    <a:gd name="T12" fmla="*/ 21 w 32"/>
                    <a:gd name="T13" fmla="*/ 17 h 33"/>
                    <a:gd name="T14" fmla="*/ 23 w 32"/>
                    <a:gd name="T15" fmla="*/ 19 h 33"/>
                    <a:gd name="T16" fmla="*/ 26 w 32"/>
                    <a:gd name="T17" fmla="*/ 21 h 33"/>
                    <a:gd name="T18" fmla="*/ 29 w 32"/>
                    <a:gd name="T19" fmla="*/ 21 h 33"/>
                    <a:gd name="T20" fmla="*/ 31 w 32"/>
                    <a:gd name="T21" fmla="*/ 22 h 33"/>
                    <a:gd name="T22" fmla="*/ 10 w 32"/>
                    <a:gd name="T23" fmla="*/ 32 h 33"/>
                    <a:gd name="T24" fmla="*/ 8 w 32"/>
                    <a:gd name="T25" fmla="*/ 31 h 33"/>
                    <a:gd name="T26" fmla="*/ 5 w 32"/>
                    <a:gd name="T27" fmla="*/ 30 h 33"/>
                    <a:gd name="T28" fmla="*/ 3 w 32"/>
                    <a:gd name="T29" fmla="*/ 28 h 33"/>
                    <a:gd name="T30" fmla="*/ 1 w 32"/>
                    <a:gd name="T31" fmla="*/ 27 h 33"/>
                    <a:gd name="T32" fmla="*/ 0 w 32"/>
                    <a:gd name="T33" fmla="*/ 25 h 33"/>
                    <a:gd name="T34" fmla="*/ 0 w 32"/>
                    <a:gd name="T35" fmla="*/ 23 h 33"/>
                    <a:gd name="T36" fmla="*/ 0 w 32"/>
                    <a:gd name="T37" fmla="*/ 21 h 33"/>
                    <a:gd name="T38" fmla="*/ 0 w 32"/>
                    <a:gd name="T39" fmla="*/ 18 h 33"/>
                    <a:gd name="T40" fmla="*/ 1 w 32"/>
                    <a:gd name="T41" fmla="*/ 15 h 33"/>
                    <a:gd name="T42" fmla="*/ 2 w 32"/>
                    <a:gd name="T43" fmla="*/ 13 h 33"/>
                    <a:gd name="T44" fmla="*/ 20 w 32"/>
                    <a:gd name="T45" fmla="*/ 0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2" h="33">
                      <a:moveTo>
                        <a:pt x="20" y="0"/>
                      </a:moveTo>
                      <a:lnTo>
                        <a:pt x="19" y="3"/>
                      </a:lnTo>
                      <a:lnTo>
                        <a:pt x="19" y="6"/>
                      </a:lnTo>
                      <a:lnTo>
                        <a:pt x="18" y="9"/>
                      </a:lnTo>
                      <a:lnTo>
                        <a:pt x="19" y="12"/>
                      </a:lnTo>
                      <a:lnTo>
                        <a:pt x="20" y="15"/>
                      </a:lnTo>
                      <a:lnTo>
                        <a:pt x="21" y="17"/>
                      </a:lnTo>
                      <a:lnTo>
                        <a:pt x="23" y="19"/>
                      </a:lnTo>
                      <a:lnTo>
                        <a:pt x="26" y="21"/>
                      </a:lnTo>
                      <a:lnTo>
                        <a:pt x="29" y="21"/>
                      </a:lnTo>
                      <a:lnTo>
                        <a:pt x="31" y="22"/>
                      </a:lnTo>
                      <a:lnTo>
                        <a:pt x="10" y="32"/>
                      </a:lnTo>
                      <a:lnTo>
                        <a:pt x="8" y="31"/>
                      </a:lnTo>
                      <a:lnTo>
                        <a:pt x="5" y="30"/>
                      </a:lnTo>
                      <a:lnTo>
                        <a:pt x="3" y="28"/>
                      </a:lnTo>
                      <a:lnTo>
                        <a:pt x="1" y="27"/>
                      </a:lnTo>
                      <a:lnTo>
                        <a:pt x="0" y="25"/>
                      </a:lnTo>
                      <a:lnTo>
                        <a:pt x="0" y="23"/>
                      </a:lnTo>
                      <a:lnTo>
                        <a:pt x="0" y="21"/>
                      </a:lnTo>
                      <a:lnTo>
                        <a:pt x="0" y="18"/>
                      </a:lnTo>
                      <a:lnTo>
                        <a:pt x="1" y="15"/>
                      </a:lnTo>
                      <a:lnTo>
                        <a:pt x="2" y="13"/>
                      </a:lnTo>
                      <a:lnTo>
                        <a:pt x="20"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64" name="Freeform 148"/>
                <p:cNvSpPr>
                  <a:spLocks/>
                </p:cNvSpPr>
                <p:nvPr/>
              </p:nvSpPr>
              <p:spPr bwMode="auto">
                <a:xfrm>
                  <a:off x="2795" y="3245"/>
                  <a:ext cx="17" cy="23"/>
                </a:xfrm>
                <a:custGeom>
                  <a:avLst/>
                  <a:gdLst>
                    <a:gd name="T0" fmla="*/ 7 w 17"/>
                    <a:gd name="T1" fmla="*/ 0 h 23"/>
                    <a:gd name="T2" fmla="*/ 6 w 17"/>
                    <a:gd name="T3" fmla="*/ 1 h 23"/>
                    <a:gd name="T4" fmla="*/ 5 w 17"/>
                    <a:gd name="T5" fmla="*/ 4 h 23"/>
                    <a:gd name="T6" fmla="*/ 4 w 17"/>
                    <a:gd name="T7" fmla="*/ 7 h 23"/>
                    <a:gd name="T8" fmla="*/ 4 w 17"/>
                    <a:gd name="T9" fmla="*/ 9 h 23"/>
                    <a:gd name="T10" fmla="*/ 4 w 17"/>
                    <a:gd name="T11" fmla="*/ 11 h 23"/>
                    <a:gd name="T12" fmla="*/ 5 w 17"/>
                    <a:gd name="T13" fmla="*/ 14 h 23"/>
                    <a:gd name="T14" fmla="*/ 7 w 17"/>
                    <a:gd name="T15" fmla="*/ 16 h 23"/>
                    <a:gd name="T16" fmla="*/ 10 w 17"/>
                    <a:gd name="T17" fmla="*/ 18 h 23"/>
                    <a:gd name="T18" fmla="*/ 12 w 17"/>
                    <a:gd name="T19" fmla="*/ 19 h 23"/>
                    <a:gd name="T20" fmla="*/ 16 w 17"/>
                    <a:gd name="T21" fmla="*/ 20 h 23"/>
                    <a:gd name="T22" fmla="*/ 12 w 17"/>
                    <a:gd name="T23" fmla="*/ 22 h 23"/>
                    <a:gd name="T24" fmla="*/ 9 w 17"/>
                    <a:gd name="T25" fmla="*/ 21 h 23"/>
                    <a:gd name="T26" fmla="*/ 6 w 17"/>
                    <a:gd name="T27" fmla="*/ 20 h 23"/>
                    <a:gd name="T28" fmla="*/ 4 w 17"/>
                    <a:gd name="T29" fmla="*/ 19 h 23"/>
                    <a:gd name="T30" fmla="*/ 2 w 17"/>
                    <a:gd name="T31" fmla="*/ 17 h 23"/>
                    <a:gd name="T32" fmla="*/ 1 w 17"/>
                    <a:gd name="T33" fmla="*/ 14 h 23"/>
                    <a:gd name="T34" fmla="*/ 0 w 17"/>
                    <a:gd name="T35" fmla="*/ 13 h 23"/>
                    <a:gd name="T36" fmla="*/ 0 w 17"/>
                    <a:gd name="T37" fmla="*/ 11 h 23"/>
                    <a:gd name="T38" fmla="*/ 0 w 17"/>
                    <a:gd name="T39" fmla="*/ 7 h 23"/>
                    <a:gd name="T40" fmla="*/ 1 w 17"/>
                    <a:gd name="T41" fmla="*/ 5 h 23"/>
                    <a:gd name="T42" fmla="*/ 2 w 17"/>
                    <a:gd name="T43" fmla="*/ 3 h 23"/>
                    <a:gd name="T44" fmla="*/ 7 w 17"/>
                    <a:gd name="T45" fmla="*/ 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7" h="23">
                      <a:moveTo>
                        <a:pt x="7" y="0"/>
                      </a:moveTo>
                      <a:lnTo>
                        <a:pt x="6" y="1"/>
                      </a:lnTo>
                      <a:lnTo>
                        <a:pt x="5" y="4"/>
                      </a:lnTo>
                      <a:lnTo>
                        <a:pt x="4" y="7"/>
                      </a:lnTo>
                      <a:lnTo>
                        <a:pt x="4" y="9"/>
                      </a:lnTo>
                      <a:lnTo>
                        <a:pt x="4" y="11"/>
                      </a:lnTo>
                      <a:lnTo>
                        <a:pt x="5" y="14"/>
                      </a:lnTo>
                      <a:lnTo>
                        <a:pt x="7" y="16"/>
                      </a:lnTo>
                      <a:lnTo>
                        <a:pt x="10" y="18"/>
                      </a:lnTo>
                      <a:lnTo>
                        <a:pt x="12" y="19"/>
                      </a:lnTo>
                      <a:lnTo>
                        <a:pt x="16" y="20"/>
                      </a:lnTo>
                      <a:lnTo>
                        <a:pt x="12" y="22"/>
                      </a:lnTo>
                      <a:lnTo>
                        <a:pt x="9" y="21"/>
                      </a:lnTo>
                      <a:lnTo>
                        <a:pt x="6" y="20"/>
                      </a:lnTo>
                      <a:lnTo>
                        <a:pt x="4" y="19"/>
                      </a:lnTo>
                      <a:lnTo>
                        <a:pt x="2" y="17"/>
                      </a:lnTo>
                      <a:lnTo>
                        <a:pt x="1" y="14"/>
                      </a:lnTo>
                      <a:lnTo>
                        <a:pt x="0" y="13"/>
                      </a:lnTo>
                      <a:lnTo>
                        <a:pt x="0" y="11"/>
                      </a:lnTo>
                      <a:lnTo>
                        <a:pt x="0" y="7"/>
                      </a:lnTo>
                      <a:lnTo>
                        <a:pt x="1" y="5"/>
                      </a:lnTo>
                      <a:lnTo>
                        <a:pt x="2" y="3"/>
                      </a:lnTo>
                      <a:lnTo>
                        <a:pt x="7"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65" name="Freeform 149"/>
                <p:cNvSpPr>
                  <a:spLocks/>
                </p:cNvSpPr>
                <p:nvPr/>
              </p:nvSpPr>
              <p:spPr bwMode="auto">
                <a:xfrm>
                  <a:off x="2744" y="3280"/>
                  <a:ext cx="17" cy="17"/>
                </a:xfrm>
                <a:custGeom>
                  <a:avLst/>
                  <a:gdLst>
                    <a:gd name="T0" fmla="*/ 11 w 17"/>
                    <a:gd name="T1" fmla="*/ 0 h 17"/>
                    <a:gd name="T2" fmla="*/ 3 w 17"/>
                    <a:gd name="T3" fmla="*/ 6 h 17"/>
                    <a:gd name="T4" fmla="*/ 2 w 17"/>
                    <a:gd name="T5" fmla="*/ 7 h 17"/>
                    <a:gd name="T6" fmla="*/ 1 w 17"/>
                    <a:gd name="T7" fmla="*/ 9 h 17"/>
                    <a:gd name="T8" fmla="*/ 0 w 17"/>
                    <a:gd name="T9" fmla="*/ 12 h 17"/>
                    <a:gd name="T10" fmla="*/ 1 w 17"/>
                    <a:gd name="T11" fmla="*/ 14 h 17"/>
                    <a:gd name="T12" fmla="*/ 3 w 17"/>
                    <a:gd name="T13" fmla="*/ 15 h 17"/>
                    <a:gd name="T14" fmla="*/ 4 w 17"/>
                    <a:gd name="T15" fmla="*/ 16 h 17"/>
                    <a:gd name="T16" fmla="*/ 6 w 17"/>
                    <a:gd name="T17" fmla="*/ 14 h 17"/>
                    <a:gd name="T18" fmla="*/ 16 w 17"/>
                    <a:gd name="T19" fmla="*/ 10 h 17"/>
                    <a:gd name="T20" fmla="*/ 13 w 17"/>
                    <a:gd name="T21" fmla="*/ 9 h 17"/>
                    <a:gd name="T22" fmla="*/ 12 w 17"/>
                    <a:gd name="T23" fmla="*/ 8 h 17"/>
                    <a:gd name="T24" fmla="*/ 11 w 17"/>
                    <a:gd name="T25" fmla="*/ 6 h 17"/>
                    <a:gd name="T26" fmla="*/ 11 w 17"/>
                    <a:gd name="T27" fmla="*/ 4 h 17"/>
                    <a:gd name="T28" fmla="*/ 11 w 17"/>
                    <a:gd name="T29" fmla="*/ 2 h 17"/>
                    <a:gd name="T30" fmla="*/ 11 w 17"/>
                    <a:gd name="T31" fmla="*/ 0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 h="17">
                      <a:moveTo>
                        <a:pt x="11" y="0"/>
                      </a:moveTo>
                      <a:lnTo>
                        <a:pt x="3" y="6"/>
                      </a:lnTo>
                      <a:lnTo>
                        <a:pt x="2" y="7"/>
                      </a:lnTo>
                      <a:lnTo>
                        <a:pt x="1" y="9"/>
                      </a:lnTo>
                      <a:lnTo>
                        <a:pt x="0" y="12"/>
                      </a:lnTo>
                      <a:lnTo>
                        <a:pt x="1" y="14"/>
                      </a:lnTo>
                      <a:lnTo>
                        <a:pt x="3" y="15"/>
                      </a:lnTo>
                      <a:lnTo>
                        <a:pt x="4" y="16"/>
                      </a:lnTo>
                      <a:lnTo>
                        <a:pt x="6" y="14"/>
                      </a:lnTo>
                      <a:lnTo>
                        <a:pt x="16" y="10"/>
                      </a:lnTo>
                      <a:lnTo>
                        <a:pt x="13" y="9"/>
                      </a:lnTo>
                      <a:lnTo>
                        <a:pt x="12" y="8"/>
                      </a:lnTo>
                      <a:lnTo>
                        <a:pt x="11" y="6"/>
                      </a:lnTo>
                      <a:lnTo>
                        <a:pt x="11" y="4"/>
                      </a:lnTo>
                      <a:lnTo>
                        <a:pt x="11" y="2"/>
                      </a:lnTo>
                      <a:lnTo>
                        <a:pt x="11"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grpSp>
          <p:nvGrpSpPr>
            <p:cNvPr id="293904" name="Group 150"/>
            <p:cNvGrpSpPr>
              <a:grpSpLocks/>
            </p:cNvGrpSpPr>
            <p:nvPr/>
          </p:nvGrpSpPr>
          <p:grpSpPr bwMode="auto">
            <a:xfrm>
              <a:off x="4337" y="2443"/>
              <a:ext cx="142" cy="150"/>
              <a:chOff x="2532" y="3117"/>
              <a:chExt cx="162" cy="184"/>
            </a:xfrm>
          </p:grpSpPr>
          <p:sp>
            <p:nvSpPr>
              <p:cNvPr id="294236" name="Freeform 151"/>
              <p:cNvSpPr>
                <a:spLocks/>
              </p:cNvSpPr>
              <p:nvPr/>
            </p:nvSpPr>
            <p:spPr bwMode="auto">
              <a:xfrm>
                <a:off x="2535" y="3284"/>
                <a:ext cx="17" cy="17"/>
              </a:xfrm>
              <a:custGeom>
                <a:avLst/>
                <a:gdLst>
                  <a:gd name="T0" fmla="*/ 0 w 17"/>
                  <a:gd name="T1" fmla="*/ 10 h 17"/>
                  <a:gd name="T2" fmla="*/ 4 w 17"/>
                  <a:gd name="T3" fmla="*/ 0 h 17"/>
                  <a:gd name="T4" fmla="*/ 16 w 17"/>
                  <a:gd name="T5" fmla="*/ 12 h 17"/>
                  <a:gd name="T6" fmla="*/ 3 w 17"/>
                  <a:gd name="T7" fmla="*/ 16 h 17"/>
                  <a:gd name="T8" fmla="*/ 0 w 17"/>
                  <a:gd name="T9" fmla="*/ 1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10"/>
                    </a:moveTo>
                    <a:lnTo>
                      <a:pt x="4" y="0"/>
                    </a:lnTo>
                    <a:lnTo>
                      <a:pt x="16" y="12"/>
                    </a:lnTo>
                    <a:lnTo>
                      <a:pt x="3" y="16"/>
                    </a:lnTo>
                    <a:lnTo>
                      <a:pt x="0" y="10"/>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37" name="Freeform 152"/>
              <p:cNvSpPr>
                <a:spLocks/>
              </p:cNvSpPr>
              <p:nvPr/>
            </p:nvSpPr>
            <p:spPr bwMode="auto">
              <a:xfrm>
                <a:off x="2533" y="3271"/>
                <a:ext cx="18" cy="21"/>
              </a:xfrm>
              <a:custGeom>
                <a:avLst/>
                <a:gdLst>
                  <a:gd name="T0" fmla="*/ 0 w 18"/>
                  <a:gd name="T1" fmla="*/ 0 h 21"/>
                  <a:gd name="T2" fmla="*/ 10 w 18"/>
                  <a:gd name="T3" fmla="*/ 9 h 21"/>
                  <a:gd name="T4" fmla="*/ 17 w 18"/>
                  <a:gd name="T5" fmla="*/ 20 h 21"/>
                  <a:gd name="T6" fmla="*/ 6 w 18"/>
                  <a:gd name="T7" fmla="*/ 12 h 21"/>
                  <a:gd name="T8" fmla="*/ 0 w 18"/>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1">
                    <a:moveTo>
                      <a:pt x="0" y="0"/>
                    </a:moveTo>
                    <a:lnTo>
                      <a:pt x="10" y="9"/>
                    </a:lnTo>
                    <a:lnTo>
                      <a:pt x="17" y="20"/>
                    </a:lnTo>
                    <a:lnTo>
                      <a:pt x="6"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38" name="Freeform 153"/>
              <p:cNvSpPr>
                <a:spLocks/>
              </p:cNvSpPr>
              <p:nvPr/>
            </p:nvSpPr>
            <p:spPr bwMode="auto">
              <a:xfrm>
                <a:off x="2532" y="3271"/>
                <a:ext cx="17" cy="19"/>
              </a:xfrm>
              <a:custGeom>
                <a:avLst/>
                <a:gdLst>
                  <a:gd name="T0" fmla="*/ 2 w 17"/>
                  <a:gd name="T1" fmla="*/ 0 h 19"/>
                  <a:gd name="T2" fmla="*/ 16 w 17"/>
                  <a:gd name="T3" fmla="*/ 12 h 19"/>
                  <a:gd name="T4" fmla="*/ 5 w 17"/>
                  <a:gd name="T5" fmla="*/ 18 h 19"/>
                  <a:gd name="T6" fmla="*/ 0 w 17"/>
                  <a:gd name="T7" fmla="*/ 15 h 19"/>
                  <a:gd name="T8" fmla="*/ 2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2" y="0"/>
                    </a:moveTo>
                    <a:lnTo>
                      <a:pt x="16" y="12"/>
                    </a:lnTo>
                    <a:lnTo>
                      <a:pt x="5" y="18"/>
                    </a:lnTo>
                    <a:lnTo>
                      <a:pt x="0" y="15"/>
                    </a:lnTo>
                    <a:lnTo>
                      <a:pt x="2"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39" name="Freeform 154"/>
              <p:cNvSpPr>
                <a:spLocks/>
              </p:cNvSpPr>
              <p:nvPr/>
            </p:nvSpPr>
            <p:spPr bwMode="auto">
              <a:xfrm>
                <a:off x="2538" y="3161"/>
                <a:ext cx="117" cy="125"/>
              </a:xfrm>
              <a:custGeom>
                <a:avLst/>
                <a:gdLst>
                  <a:gd name="T0" fmla="*/ 87 w 117"/>
                  <a:gd name="T1" fmla="*/ 0 h 125"/>
                  <a:gd name="T2" fmla="*/ 0 w 117"/>
                  <a:gd name="T3" fmla="*/ 118 h 125"/>
                  <a:gd name="T4" fmla="*/ 0 w 117"/>
                  <a:gd name="T5" fmla="*/ 119 h 125"/>
                  <a:gd name="T6" fmla="*/ 0 w 117"/>
                  <a:gd name="T7" fmla="*/ 121 h 125"/>
                  <a:gd name="T8" fmla="*/ 0 w 117"/>
                  <a:gd name="T9" fmla="*/ 122 h 125"/>
                  <a:gd name="T10" fmla="*/ 1 w 117"/>
                  <a:gd name="T11" fmla="*/ 124 h 125"/>
                  <a:gd name="T12" fmla="*/ 3 w 117"/>
                  <a:gd name="T13" fmla="*/ 124 h 125"/>
                  <a:gd name="T14" fmla="*/ 5 w 117"/>
                  <a:gd name="T15" fmla="*/ 124 h 125"/>
                  <a:gd name="T16" fmla="*/ 116 w 117"/>
                  <a:gd name="T17" fmla="*/ 24 h 125"/>
                  <a:gd name="T18" fmla="*/ 87 w 117"/>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7" h="125">
                    <a:moveTo>
                      <a:pt x="87" y="0"/>
                    </a:moveTo>
                    <a:lnTo>
                      <a:pt x="0" y="118"/>
                    </a:lnTo>
                    <a:lnTo>
                      <a:pt x="0" y="119"/>
                    </a:lnTo>
                    <a:lnTo>
                      <a:pt x="0" y="121"/>
                    </a:lnTo>
                    <a:lnTo>
                      <a:pt x="0" y="122"/>
                    </a:lnTo>
                    <a:lnTo>
                      <a:pt x="1" y="124"/>
                    </a:lnTo>
                    <a:lnTo>
                      <a:pt x="3" y="124"/>
                    </a:lnTo>
                    <a:lnTo>
                      <a:pt x="5" y="124"/>
                    </a:lnTo>
                    <a:lnTo>
                      <a:pt x="116" y="24"/>
                    </a:lnTo>
                    <a:lnTo>
                      <a:pt x="87"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40" name="Freeform 155"/>
              <p:cNvSpPr>
                <a:spLocks/>
              </p:cNvSpPr>
              <p:nvPr/>
            </p:nvSpPr>
            <p:spPr bwMode="auto">
              <a:xfrm>
                <a:off x="2623" y="3149"/>
                <a:ext cx="49" cy="24"/>
              </a:xfrm>
              <a:custGeom>
                <a:avLst/>
                <a:gdLst>
                  <a:gd name="T0" fmla="*/ 13 w 49"/>
                  <a:gd name="T1" fmla="*/ 0 h 24"/>
                  <a:gd name="T2" fmla="*/ 48 w 49"/>
                  <a:gd name="T3" fmla="*/ 11 h 24"/>
                  <a:gd name="T4" fmla="*/ 45 w 49"/>
                  <a:gd name="T5" fmla="*/ 13 h 24"/>
                  <a:gd name="T6" fmla="*/ 45 w 49"/>
                  <a:gd name="T7" fmla="*/ 16 h 24"/>
                  <a:gd name="T8" fmla="*/ 16 w 49"/>
                  <a:gd name="T9" fmla="*/ 6 h 24"/>
                  <a:gd name="T10" fmla="*/ 0 w 49"/>
                  <a:gd name="T11" fmla="*/ 23 h 24"/>
                  <a:gd name="T12" fmla="*/ 0 w 49"/>
                  <a:gd name="T13" fmla="*/ 16 h 24"/>
                  <a:gd name="T14" fmla="*/ 13 w 49"/>
                  <a:gd name="T15" fmla="*/ 0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9" h="24">
                    <a:moveTo>
                      <a:pt x="13" y="0"/>
                    </a:moveTo>
                    <a:lnTo>
                      <a:pt x="48" y="11"/>
                    </a:lnTo>
                    <a:lnTo>
                      <a:pt x="45" y="13"/>
                    </a:lnTo>
                    <a:lnTo>
                      <a:pt x="45" y="16"/>
                    </a:lnTo>
                    <a:lnTo>
                      <a:pt x="16" y="6"/>
                    </a:lnTo>
                    <a:lnTo>
                      <a:pt x="0" y="23"/>
                    </a:lnTo>
                    <a:lnTo>
                      <a:pt x="0" y="16"/>
                    </a:lnTo>
                    <a:lnTo>
                      <a:pt x="13"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41" name="Freeform 156"/>
              <p:cNvSpPr>
                <a:spLocks/>
              </p:cNvSpPr>
              <p:nvPr/>
            </p:nvSpPr>
            <p:spPr bwMode="auto">
              <a:xfrm>
                <a:off x="2638" y="3154"/>
                <a:ext cx="35" cy="21"/>
              </a:xfrm>
              <a:custGeom>
                <a:avLst/>
                <a:gdLst>
                  <a:gd name="T0" fmla="*/ 0 w 35"/>
                  <a:gd name="T1" fmla="*/ 0 h 21"/>
                  <a:gd name="T2" fmla="*/ 33 w 35"/>
                  <a:gd name="T3" fmla="*/ 9 h 21"/>
                  <a:gd name="T4" fmla="*/ 34 w 35"/>
                  <a:gd name="T5" fmla="*/ 12 h 21"/>
                  <a:gd name="T6" fmla="*/ 33 w 35"/>
                  <a:gd name="T7" fmla="*/ 15 h 21"/>
                  <a:gd name="T8" fmla="*/ 31 w 35"/>
                  <a:gd name="T9" fmla="*/ 18 h 21"/>
                  <a:gd name="T10" fmla="*/ 26 w 35"/>
                  <a:gd name="T11" fmla="*/ 20 h 21"/>
                  <a:gd name="T12" fmla="*/ 17 w 35"/>
                  <a:gd name="T13" fmla="*/ 17 h 21"/>
                  <a:gd name="T14" fmla="*/ 6 w 35"/>
                  <a:gd name="T15" fmla="*/ 10 h 21"/>
                  <a:gd name="T16" fmla="*/ 0 w 35"/>
                  <a:gd name="T17" fmla="*/ 4 h 21"/>
                  <a:gd name="T18" fmla="*/ 0 w 35"/>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21">
                    <a:moveTo>
                      <a:pt x="0" y="0"/>
                    </a:moveTo>
                    <a:lnTo>
                      <a:pt x="33" y="9"/>
                    </a:lnTo>
                    <a:lnTo>
                      <a:pt x="34" y="12"/>
                    </a:lnTo>
                    <a:lnTo>
                      <a:pt x="33" y="15"/>
                    </a:lnTo>
                    <a:lnTo>
                      <a:pt x="31" y="18"/>
                    </a:lnTo>
                    <a:lnTo>
                      <a:pt x="26" y="20"/>
                    </a:lnTo>
                    <a:lnTo>
                      <a:pt x="17" y="17"/>
                    </a:lnTo>
                    <a:lnTo>
                      <a:pt x="6" y="10"/>
                    </a:lnTo>
                    <a:lnTo>
                      <a:pt x="0" y="4"/>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42" name="Freeform 157"/>
              <p:cNvSpPr>
                <a:spLocks/>
              </p:cNvSpPr>
              <p:nvPr/>
            </p:nvSpPr>
            <p:spPr bwMode="auto">
              <a:xfrm>
                <a:off x="2635" y="3141"/>
                <a:ext cx="37" cy="21"/>
              </a:xfrm>
              <a:custGeom>
                <a:avLst/>
                <a:gdLst>
                  <a:gd name="T0" fmla="*/ 1 w 37"/>
                  <a:gd name="T1" fmla="*/ 9 h 21"/>
                  <a:gd name="T2" fmla="*/ 36 w 37"/>
                  <a:gd name="T3" fmla="*/ 20 h 21"/>
                  <a:gd name="T4" fmla="*/ 35 w 37"/>
                  <a:gd name="T5" fmla="*/ 16 h 21"/>
                  <a:gd name="T6" fmla="*/ 33 w 37"/>
                  <a:gd name="T7" fmla="*/ 13 h 21"/>
                  <a:gd name="T8" fmla="*/ 31 w 37"/>
                  <a:gd name="T9" fmla="*/ 10 h 21"/>
                  <a:gd name="T10" fmla="*/ 29 w 37"/>
                  <a:gd name="T11" fmla="*/ 7 h 21"/>
                  <a:gd name="T12" fmla="*/ 26 w 37"/>
                  <a:gd name="T13" fmla="*/ 4 h 21"/>
                  <a:gd name="T14" fmla="*/ 23 w 37"/>
                  <a:gd name="T15" fmla="*/ 3 h 21"/>
                  <a:gd name="T16" fmla="*/ 19 w 37"/>
                  <a:gd name="T17" fmla="*/ 1 h 21"/>
                  <a:gd name="T18" fmla="*/ 15 w 37"/>
                  <a:gd name="T19" fmla="*/ 0 h 21"/>
                  <a:gd name="T20" fmla="*/ 12 w 37"/>
                  <a:gd name="T21" fmla="*/ 0 h 21"/>
                  <a:gd name="T22" fmla="*/ 9 w 37"/>
                  <a:gd name="T23" fmla="*/ 0 h 21"/>
                  <a:gd name="T24" fmla="*/ 7 w 37"/>
                  <a:gd name="T25" fmla="*/ 0 h 21"/>
                  <a:gd name="T26" fmla="*/ 4 w 37"/>
                  <a:gd name="T27" fmla="*/ 1 h 21"/>
                  <a:gd name="T28" fmla="*/ 1 w 37"/>
                  <a:gd name="T29" fmla="*/ 3 h 21"/>
                  <a:gd name="T30" fmla="*/ 0 w 37"/>
                  <a:gd name="T31" fmla="*/ 5 h 21"/>
                  <a:gd name="T32" fmla="*/ 0 w 37"/>
                  <a:gd name="T33" fmla="*/ 9 h 21"/>
                  <a:gd name="T34" fmla="*/ 1 w 37"/>
                  <a:gd name="T35" fmla="*/ 9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21">
                    <a:moveTo>
                      <a:pt x="1" y="9"/>
                    </a:moveTo>
                    <a:lnTo>
                      <a:pt x="36" y="20"/>
                    </a:lnTo>
                    <a:lnTo>
                      <a:pt x="35" y="16"/>
                    </a:lnTo>
                    <a:lnTo>
                      <a:pt x="33" y="13"/>
                    </a:lnTo>
                    <a:lnTo>
                      <a:pt x="31" y="10"/>
                    </a:lnTo>
                    <a:lnTo>
                      <a:pt x="29" y="7"/>
                    </a:lnTo>
                    <a:lnTo>
                      <a:pt x="26" y="4"/>
                    </a:lnTo>
                    <a:lnTo>
                      <a:pt x="23" y="3"/>
                    </a:lnTo>
                    <a:lnTo>
                      <a:pt x="19" y="1"/>
                    </a:lnTo>
                    <a:lnTo>
                      <a:pt x="15" y="0"/>
                    </a:lnTo>
                    <a:lnTo>
                      <a:pt x="12" y="0"/>
                    </a:lnTo>
                    <a:lnTo>
                      <a:pt x="9" y="0"/>
                    </a:lnTo>
                    <a:lnTo>
                      <a:pt x="7" y="0"/>
                    </a:lnTo>
                    <a:lnTo>
                      <a:pt x="4" y="1"/>
                    </a:lnTo>
                    <a:lnTo>
                      <a:pt x="1" y="3"/>
                    </a:lnTo>
                    <a:lnTo>
                      <a:pt x="0" y="5"/>
                    </a:lnTo>
                    <a:lnTo>
                      <a:pt x="0" y="9"/>
                    </a:lnTo>
                    <a:lnTo>
                      <a:pt x="1" y="9"/>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43" name="Freeform 158"/>
              <p:cNvSpPr>
                <a:spLocks/>
              </p:cNvSpPr>
              <p:nvPr/>
            </p:nvSpPr>
            <p:spPr bwMode="auto">
              <a:xfrm>
                <a:off x="2621" y="3147"/>
                <a:ext cx="50" cy="45"/>
              </a:xfrm>
              <a:custGeom>
                <a:avLst/>
                <a:gdLst>
                  <a:gd name="T0" fmla="*/ 14 w 50"/>
                  <a:gd name="T1" fmla="*/ 0 h 45"/>
                  <a:gd name="T2" fmla="*/ 0 w 50"/>
                  <a:gd name="T3" fmla="*/ 19 h 45"/>
                  <a:gd name="T4" fmla="*/ 0 w 50"/>
                  <a:gd name="T5" fmla="*/ 22 h 45"/>
                  <a:gd name="T6" fmla="*/ 0 w 50"/>
                  <a:gd name="T7" fmla="*/ 24 h 45"/>
                  <a:gd name="T8" fmla="*/ 0 w 50"/>
                  <a:gd name="T9" fmla="*/ 27 h 45"/>
                  <a:gd name="T10" fmla="*/ 0 w 50"/>
                  <a:gd name="T11" fmla="*/ 31 h 45"/>
                  <a:gd name="T12" fmla="*/ 2 w 50"/>
                  <a:gd name="T13" fmla="*/ 34 h 45"/>
                  <a:gd name="T14" fmla="*/ 4 w 50"/>
                  <a:gd name="T15" fmla="*/ 36 h 45"/>
                  <a:gd name="T16" fmla="*/ 7 w 50"/>
                  <a:gd name="T17" fmla="*/ 39 h 45"/>
                  <a:gd name="T18" fmla="*/ 11 w 50"/>
                  <a:gd name="T19" fmla="*/ 41 h 45"/>
                  <a:gd name="T20" fmla="*/ 14 w 50"/>
                  <a:gd name="T21" fmla="*/ 42 h 45"/>
                  <a:gd name="T22" fmla="*/ 18 w 50"/>
                  <a:gd name="T23" fmla="*/ 43 h 45"/>
                  <a:gd name="T24" fmla="*/ 23 w 50"/>
                  <a:gd name="T25" fmla="*/ 44 h 45"/>
                  <a:gd name="T26" fmla="*/ 25 w 50"/>
                  <a:gd name="T27" fmla="*/ 43 h 45"/>
                  <a:gd name="T28" fmla="*/ 29 w 50"/>
                  <a:gd name="T29" fmla="*/ 42 h 45"/>
                  <a:gd name="T30" fmla="*/ 49 w 50"/>
                  <a:gd name="T31" fmla="*/ 24 h 45"/>
                  <a:gd name="T32" fmla="*/ 46 w 50"/>
                  <a:gd name="T33" fmla="*/ 25 h 45"/>
                  <a:gd name="T34" fmla="*/ 43 w 50"/>
                  <a:gd name="T35" fmla="*/ 25 h 45"/>
                  <a:gd name="T36" fmla="*/ 38 w 50"/>
                  <a:gd name="T37" fmla="*/ 24 h 45"/>
                  <a:gd name="T38" fmla="*/ 36 w 50"/>
                  <a:gd name="T39" fmla="*/ 24 h 45"/>
                  <a:gd name="T40" fmla="*/ 32 w 50"/>
                  <a:gd name="T41" fmla="*/ 22 h 45"/>
                  <a:gd name="T42" fmla="*/ 28 w 50"/>
                  <a:gd name="T43" fmla="*/ 19 h 45"/>
                  <a:gd name="T44" fmla="*/ 24 w 50"/>
                  <a:gd name="T45" fmla="*/ 17 h 45"/>
                  <a:gd name="T46" fmla="*/ 22 w 50"/>
                  <a:gd name="T47" fmla="*/ 15 h 45"/>
                  <a:gd name="T48" fmla="*/ 20 w 50"/>
                  <a:gd name="T49" fmla="*/ 12 h 45"/>
                  <a:gd name="T50" fmla="*/ 18 w 50"/>
                  <a:gd name="T51" fmla="*/ 9 h 45"/>
                  <a:gd name="T52" fmla="*/ 17 w 50"/>
                  <a:gd name="T53" fmla="*/ 7 h 45"/>
                  <a:gd name="T54" fmla="*/ 2 w 50"/>
                  <a:gd name="T55" fmla="*/ 22 h 45"/>
                  <a:gd name="T56" fmla="*/ 2 w 50"/>
                  <a:gd name="T57" fmla="*/ 19 h 45"/>
                  <a:gd name="T58" fmla="*/ 15 w 50"/>
                  <a:gd name="T59" fmla="*/ 3 h 45"/>
                  <a:gd name="T60" fmla="*/ 15 w 50"/>
                  <a:gd name="T61" fmla="*/ 2 h 45"/>
                  <a:gd name="T62" fmla="*/ 14 w 50"/>
                  <a:gd name="T63" fmla="*/ 1 h 45"/>
                  <a:gd name="T64" fmla="*/ 14 w 50"/>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45">
                    <a:moveTo>
                      <a:pt x="14" y="0"/>
                    </a:moveTo>
                    <a:lnTo>
                      <a:pt x="0" y="19"/>
                    </a:lnTo>
                    <a:lnTo>
                      <a:pt x="0" y="22"/>
                    </a:lnTo>
                    <a:lnTo>
                      <a:pt x="0" y="24"/>
                    </a:lnTo>
                    <a:lnTo>
                      <a:pt x="0" y="27"/>
                    </a:lnTo>
                    <a:lnTo>
                      <a:pt x="0" y="31"/>
                    </a:lnTo>
                    <a:lnTo>
                      <a:pt x="2" y="34"/>
                    </a:lnTo>
                    <a:lnTo>
                      <a:pt x="4" y="36"/>
                    </a:lnTo>
                    <a:lnTo>
                      <a:pt x="7" y="39"/>
                    </a:lnTo>
                    <a:lnTo>
                      <a:pt x="11" y="41"/>
                    </a:lnTo>
                    <a:lnTo>
                      <a:pt x="14" y="42"/>
                    </a:lnTo>
                    <a:lnTo>
                      <a:pt x="18" y="43"/>
                    </a:lnTo>
                    <a:lnTo>
                      <a:pt x="23" y="44"/>
                    </a:lnTo>
                    <a:lnTo>
                      <a:pt x="25" y="43"/>
                    </a:lnTo>
                    <a:lnTo>
                      <a:pt x="29" y="42"/>
                    </a:lnTo>
                    <a:lnTo>
                      <a:pt x="49" y="24"/>
                    </a:lnTo>
                    <a:lnTo>
                      <a:pt x="46" y="25"/>
                    </a:lnTo>
                    <a:lnTo>
                      <a:pt x="43" y="25"/>
                    </a:lnTo>
                    <a:lnTo>
                      <a:pt x="38" y="24"/>
                    </a:lnTo>
                    <a:lnTo>
                      <a:pt x="36" y="24"/>
                    </a:lnTo>
                    <a:lnTo>
                      <a:pt x="32" y="22"/>
                    </a:lnTo>
                    <a:lnTo>
                      <a:pt x="28" y="19"/>
                    </a:lnTo>
                    <a:lnTo>
                      <a:pt x="24" y="17"/>
                    </a:lnTo>
                    <a:lnTo>
                      <a:pt x="22" y="15"/>
                    </a:lnTo>
                    <a:lnTo>
                      <a:pt x="20" y="12"/>
                    </a:lnTo>
                    <a:lnTo>
                      <a:pt x="18" y="9"/>
                    </a:lnTo>
                    <a:lnTo>
                      <a:pt x="17" y="7"/>
                    </a:lnTo>
                    <a:lnTo>
                      <a:pt x="2" y="22"/>
                    </a:lnTo>
                    <a:lnTo>
                      <a:pt x="2" y="19"/>
                    </a:lnTo>
                    <a:lnTo>
                      <a:pt x="15" y="3"/>
                    </a:lnTo>
                    <a:lnTo>
                      <a:pt x="15" y="2"/>
                    </a:lnTo>
                    <a:lnTo>
                      <a:pt x="14" y="1"/>
                    </a:lnTo>
                    <a:lnTo>
                      <a:pt x="14"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293905" name="Group 159"/>
              <p:cNvGrpSpPr>
                <a:grpSpLocks/>
              </p:cNvGrpSpPr>
              <p:nvPr/>
            </p:nvGrpSpPr>
            <p:grpSpPr bwMode="auto">
              <a:xfrm>
                <a:off x="2586" y="3117"/>
                <a:ext cx="108" cy="114"/>
                <a:chOff x="2586" y="3117"/>
                <a:chExt cx="108" cy="114"/>
              </a:xfrm>
            </p:grpSpPr>
            <p:sp>
              <p:nvSpPr>
                <p:cNvPr id="294248" name="Freeform 160"/>
                <p:cNvSpPr>
                  <a:spLocks/>
                </p:cNvSpPr>
                <p:nvPr/>
              </p:nvSpPr>
              <p:spPr bwMode="auto">
                <a:xfrm>
                  <a:off x="2595" y="3182"/>
                  <a:ext cx="99" cy="49"/>
                </a:xfrm>
                <a:custGeom>
                  <a:avLst/>
                  <a:gdLst>
                    <a:gd name="T0" fmla="*/ 0 w 99"/>
                    <a:gd name="T1" fmla="*/ 48 h 49"/>
                    <a:gd name="T2" fmla="*/ 56 w 99"/>
                    <a:gd name="T3" fmla="*/ 0 h 49"/>
                    <a:gd name="T4" fmla="*/ 98 w 99"/>
                    <a:gd name="T5" fmla="*/ 2 h 49"/>
                    <a:gd name="T6" fmla="*/ 74 w 99"/>
                    <a:gd name="T7" fmla="*/ 14 h 49"/>
                    <a:gd name="T8" fmla="*/ 78 w 99"/>
                    <a:gd name="T9" fmla="*/ 16 h 49"/>
                    <a:gd name="T10" fmla="*/ 52 w 99"/>
                    <a:gd name="T11" fmla="*/ 29 h 49"/>
                    <a:gd name="T12" fmla="*/ 57 w 99"/>
                    <a:gd name="T13" fmla="*/ 30 h 49"/>
                    <a:gd name="T14" fmla="*/ 28 w 99"/>
                    <a:gd name="T15" fmla="*/ 43 h 49"/>
                    <a:gd name="T16" fmla="*/ 0 w 99"/>
                    <a:gd name="T17" fmla="*/ 48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9" h="49">
                      <a:moveTo>
                        <a:pt x="0" y="48"/>
                      </a:moveTo>
                      <a:lnTo>
                        <a:pt x="56" y="0"/>
                      </a:lnTo>
                      <a:lnTo>
                        <a:pt x="98" y="2"/>
                      </a:lnTo>
                      <a:lnTo>
                        <a:pt x="74" y="14"/>
                      </a:lnTo>
                      <a:lnTo>
                        <a:pt x="78" y="16"/>
                      </a:lnTo>
                      <a:lnTo>
                        <a:pt x="52" y="29"/>
                      </a:lnTo>
                      <a:lnTo>
                        <a:pt x="57" y="30"/>
                      </a:lnTo>
                      <a:lnTo>
                        <a:pt x="28" y="43"/>
                      </a:lnTo>
                      <a:lnTo>
                        <a:pt x="0" y="4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49" name="Freeform 161"/>
                <p:cNvSpPr>
                  <a:spLocks/>
                </p:cNvSpPr>
                <p:nvPr/>
              </p:nvSpPr>
              <p:spPr bwMode="auto">
                <a:xfrm>
                  <a:off x="2590" y="3166"/>
                  <a:ext cx="45" cy="58"/>
                </a:xfrm>
                <a:custGeom>
                  <a:avLst/>
                  <a:gdLst>
                    <a:gd name="T0" fmla="*/ 4 w 45"/>
                    <a:gd name="T1" fmla="*/ 47 h 58"/>
                    <a:gd name="T2" fmla="*/ 44 w 45"/>
                    <a:gd name="T3" fmla="*/ 0 h 58"/>
                    <a:gd name="T4" fmla="*/ 35 w 45"/>
                    <a:gd name="T5" fmla="*/ 18 h 58"/>
                    <a:gd name="T6" fmla="*/ 0 w 45"/>
                    <a:gd name="T7" fmla="*/ 57 h 58"/>
                    <a:gd name="T8" fmla="*/ 4 w 45"/>
                    <a:gd name="T9" fmla="*/ 47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58">
                      <a:moveTo>
                        <a:pt x="4" y="47"/>
                      </a:moveTo>
                      <a:lnTo>
                        <a:pt x="44" y="0"/>
                      </a:lnTo>
                      <a:lnTo>
                        <a:pt x="35" y="18"/>
                      </a:lnTo>
                      <a:lnTo>
                        <a:pt x="0" y="57"/>
                      </a:lnTo>
                      <a:lnTo>
                        <a:pt x="4" y="47"/>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50" name="Freeform 162"/>
                <p:cNvSpPr>
                  <a:spLocks/>
                </p:cNvSpPr>
                <p:nvPr/>
              </p:nvSpPr>
              <p:spPr bwMode="auto">
                <a:xfrm>
                  <a:off x="2586" y="3117"/>
                  <a:ext cx="41" cy="103"/>
                </a:xfrm>
                <a:custGeom>
                  <a:avLst/>
                  <a:gdLst>
                    <a:gd name="T0" fmla="*/ 0 w 41"/>
                    <a:gd name="T1" fmla="*/ 102 h 103"/>
                    <a:gd name="T2" fmla="*/ 40 w 41"/>
                    <a:gd name="T3" fmla="*/ 47 h 103"/>
                    <a:gd name="T4" fmla="*/ 38 w 41"/>
                    <a:gd name="T5" fmla="*/ 0 h 103"/>
                    <a:gd name="T6" fmla="*/ 29 w 41"/>
                    <a:gd name="T7" fmla="*/ 20 h 103"/>
                    <a:gd name="T8" fmla="*/ 28 w 41"/>
                    <a:gd name="T9" fmla="*/ 27 h 103"/>
                    <a:gd name="T10" fmla="*/ 24 w 41"/>
                    <a:gd name="T11" fmla="*/ 23 h 103"/>
                    <a:gd name="T12" fmla="*/ 16 w 41"/>
                    <a:gd name="T13" fmla="*/ 49 h 103"/>
                    <a:gd name="T14" fmla="*/ 14 w 41"/>
                    <a:gd name="T15" fmla="*/ 45 h 103"/>
                    <a:gd name="T16" fmla="*/ 3 w 41"/>
                    <a:gd name="T17" fmla="*/ 71 h 103"/>
                    <a:gd name="T18" fmla="*/ 0 w 41"/>
                    <a:gd name="T19" fmla="*/ 102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103">
                      <a:moveTo>
                        <a:pt x="0" y="102"/>
                      </a:moveTo>
                      <a:lnTo>
                        <a:pt x="40" y="47"/>
                      </a:lnTo>
                      <a:lnTo>
                        <a:pt x="38" y="0"/>
                      </a:lnTo>
                      <a:lnTo>
                        <a:pt x="29" y="20"/>
                      </a:lnTo>
                      <a:lnTo>
                        <a:pt x="28" y="27"/>
                      </a:lnTo>
                      <a:lnTo>
                        <a:pt x="24" y="23"/>
                      </a:lnTo>
                      <a:lnTo>
                        <a:pt x="16" y="49"/>
                      </a:lnTo>
                      <a:lnTo>
                        <a:pt x="14" y="45"/>
                      </a:lnTo>
                      <a:lnTo>
                        <a:pt x="3" y="71"/>
                      </a:lnTo>
                      <a:lnTo>
                        <a:pt x="0" y="10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245" name="Freeform 163"/>
              <p:cNvSpPr>
                <a:spLocks/>
              </p:cNvSpPr>
              <p:nvPr/>
            </p:nvSpPr>
            <p:spPr bwMode="auto">
              <a:xfrm>
                <a:off x="2573" y="3214"/>
                <a:ext cx="31" cy="34"/>
              </a:xfrm>
              <a:custGeom>
                <a:avLst/>
                <a:gdLst>
                  <a:gd name="T0" fmla="*/ 13 w 31"/>
                  <a:gd name="T1" fmla="*/ 0 h 34"/>
                  <a:gd name="T2" fmla="*/ 13 w 31"/>
                  <a:gd name="T3" fmla="*/ 3 h 34"/>
                  <a:gd name="T4" fmla="*/ 13 w 31"/>
                  <a:gd name="T5" fmla="*/ 5 h 34"/>
                  <a:gd name="T6" fmla="*/ 13 w 31"/>
                  <a:gd name="T7" fmla="*/ 8 h 34"/>
                  <a:gd name="T8" fmla="*/ 14 w 31"/>
                  <a:gd name="T9" fmla="*/ 10 h 34"/>
                  <a:gd name="T10" fmla="*/ 15 w 31"/>
                  <a:gd name="T11" fmla="*/ 12 h 34"/>
                  <a:gd name="T12" fmla="*/ 17 w 31"/>
                  <a:gd name="T13" fmla="*/ 14 h 34"/>
                  <a:gd name="T14" fmla="*/ 19 w 31"/>
                  <a:gd name="T15" fmla="*/ 16 h 34"/>
                  <a:gd name="T16" fmla="*/ 22 w 31"/>
                  <a:gd name="T17" fmla="*/ 17 h 34"/>
                  <a:gd name="T18" fmla="*/ 25 w 31"/>
                  <a:gd name="T19" fmla="*/ 17 h 34"/>
                  <a:gd name="T20" fmla="*/ 27 w 31"/>
                  <a:gd name="T21" fmla="*/ 17 h 34"/>
                  <a:gd name="T22" fmla="*/ 30 w 31"/>
                  <a:gd name="T23" fmla="*/ 17 h 34"/>
                  <a:gd name="T24" fmla="*/ 13 w 31"/>
                  <a:gd name="T25" fmla="*/ 32 h 34"/>
                  <a:gd name="T26" fmla="*/ 10 w 31"/>
                  <a:gd name="T27" fmla="*/ 33 h 34"/>
                  <a:gd name="T28" fmla="*/ 8 w 31"/>
                  <a:gd name="T29" fmla="*/ 33 h 34"/>
                  <a:gd name="T30" fmla="*/ 6 w 31"/>
                  <a:gd name="T31" fmla="*/ 32 h 34"/>
                  <a:gd name="T32" fmla="*/ 5 w 31"/>
                  <a:gd name="T33" fmla="*/ 31 h 34"/>
                  <a:gd name="T34" fmla="*/ 2 w 31"/>
                  <a:gd name="T35" fmla="*/ 30 h 34"/>
                  <a:gd name="T36" fmla="*/ 1 w 31"/>
                  <a:gd name="T37" fmla="*/ 27 h 34"/>
                  <a:gd name="T38" fmla="*/ 0 w 31"/>
                  <a:gd name="T39" fmla="*/ 25 h 34"/>
                  <a:gd name="T40" fmla="*/ 0 w 31"/>
                  <a:gd name="T41" fmla="*/ 22 h 34"/>
                  <a:gd name="T42" fmla="*/ 0 w 31"/>
                  <a:gd name="T43" fmla="*/ 20 h 34"/>
                  <a:gd name="T44" fmla="*/ 0 w 31"/>
                  <a:gd name="T45" fmla="*/ 18 h 34"/>
                  <a:gd name="T46" fmla="*/ 13 w 31"/>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34">
                    <a:moveTo>
                      <a:pt x="13" y="0"/>
                    </a:moveTo>
                    <a:lnTo>
                      <a:pt x="13" y="3"/>
                    </a:lnTo>
                    <a:lnTo>
                      <a:pt x="13" y="5"/>
                    </a:lnTo>
                    <a:lnTo>
                      <a:pt x="13" y="8"/>
                    </a:lnTo>
                    <a:lnTo>
                      <a:pt x="14" y="10"/>
                    </a:lnTo>
                    <a:lnTo>
                      <a:pt x="15" y="12"/>
                    </a:lnTo>
                    <a:lnTo>
                      <a:pt x="17" y="14"/>
                    </a:lnTo>
                    <a:lnTo>
                      <a:pt x="19" y="16"/>
                    </a:lnTo>
                    <a:lnTo>
                      <a:pt x="22" y="17"/>
                    </a:lnTo>
                    <a:lnTo>
                      <a:pt x="25" y="17"/>
                    </a:lnTo>
                    <a:lnTo>
                      <a:pt x="27" y="17"/>
                    </a:lnTo>
                    <a:lnTo>
                      <a:pt x="30" y="17"/>
                    </a:lnTo>
                    <a:lnTo>
                      <a:pt x="13" y="32"/>
                    </a:lnTo>
                    <a:lnTo>
                      <a:pt x="10" y="33"/>
                    </a:lnTo>
                    <a:lnTo>
                      <a:pt x="8" y="33"/>
                    </a:lnTo>
                    <a:lnTo>
                      <a:pt x="6" y="32"/>
                    </a:lnTo>
                    <a:lnTo>
                      <a:pt x="5" y="31"/>
                    </a:lnTo>
                    <a:lnTo>
                      <a:pt x="2" y="30"/>
                    </a:lnTo>
                    <a:lnTo>
                      <a:pt x="1" y="27"/>
                    </a:lnTo>
                    <a:lnTo>
                      <a:pt x="0" y="25"/>
                    </a:lnTo>
                    <a:lnTo>
                      <a:pt x="0" y="22"/>
                    </a:lnTo>
                    <a:lnTo>
                      <a:pt x="0" y="20"/>
                    </a:lnTo>
                    <a:lnTo>
                      <a:pt x="0" y="18"/>
                    </a:lnTo>
                    <a:lnTo>
                      <a:pt x="13"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46" name="Freeform 164"/>
              <p:cNvSpPr>
                <a:spLocks/>
              </p:cNvSpPr>
              <p:nvPr/>
            </p:nvSpPr>
            <p:spPr bwMode="auto">
              <a:xfrm>
                <a:off x="2576" y="3223"/>
                <a:ext cx="19" cy="21"/>
              </a:xfrm>
              <a:custGeom>
                <a:avLst/>
                <a:gdLst>
                  <a:gd name="T0" fmla="*/ 4 w 19"/>
                  <a:gd name="T1" fmla="*/ 0 h 21"/>
                  <a:gd name="T2" fmla="*/ 3 w 19"/>
                  <a:gd name="T3" fmla="*/ 2 h 21"/>
                  <a:gd name="T4" fmla="*/ 3 w 19"/>
                  <a:gd name="T5" fmla="*/ 4 h 21"/>
                  <a:gd name="T6" fmla="*/ 3 w 19"/>
                  <a:gd name="T7" fmla="*/ 6 h 21"/>
                  <a:gd name="T8" fmla="*/ 3 w 19"/>
                  <a:gd name="T9" fmla="*/ 8 h 21"/>
                  <a:gd name="T10" fmla="*/ 3 w 19"/>
                  <a:gd name="T11" fmla="*/ 11 h 21"/>
                  <a:gd name="T12" fmla="*/ 4 w 19"/>
                  <a:gd name="T13" fmla="*/ 13 h 21"/>
                  <a:gd name="T14" fmla="*/ 5 w 19"/>
                  <a:gd name="T15" fmla="*/ 15 h 21"/>
                  <a:gd name="T16" fmla="*/ 8 w 19"/>
                  <a:gd name="T17" fmla="*/ 16 h 21"/>
                  <a:gd name="T18" fmla="*/ 11 w 19"/>
                  <a:gd name="T19" fmla="*/ 17 h 21"/>
                  <a:gd name="T20" fmla="*/ 14 w 19"/>
                  <a:gd name="T21" fmla="*/ 16 h 21"/>
                  <a:gd name="T22" fmla="*/ 18 w 19"/>
                  <a:gd name="T23" fmla="*/ 16 h 21"/>
                  <a:gd name="T24" fmla="*/ 13 w 19"/>
                  <a:gd name="T25" fmla="*/ 19 h 21"/>
                  <a:gd name="T26" fmla="*/ 12 w 19"/>
                  <a:gd name="T27" fmla="*/ 20 h 21"/>
                  <a:gd name="T28" fmla="*/ 9 w 19"/>
                  <a:gd name="T29" fmla="*/ 20 h 21"/>
                  <a:gd name="T30" fmla="*/ 6 w 19"/>
                  <a:gd name="T31" fmla="*/ 19 h 21"/>
                  <a:gd name="T32" fmla="*/ 4 w 19"/>
                  <a:gd name="T33" fmla="*/ 18 h 21"/>
                  <a:gd name="T34" fmla="*/ 3 w 19"/>
                  <a:gd name="T35" fmla="*/ 17 h 21"/>
                  <a:gd name="T36" fmla="*/ 1 w 19"/>
                  <a:gd name="T37" fmla="*/ 15 h 21"/>
                  <a:gd name="T38" fmla="*/ 0 w 19"/>
                  <a:gd name="T39" fmla="*/ 13 h 21"/>
                  <a:gd name="T40" fmla="*/ 0 w 19"/>
                  <a:gd name="T41" fmla="*/ 10 h 21"/>
                  <a:gd name="T42" fmla="*/ 0 w 19"/>
                  <a:gd name="T43" fmla="*/ 8 h 21"/>
                  <a:gd name="T44" fmla="*/ 0 w 19"/>
                  <a:gd name="T45" fmla="*/ 5 h 21"/>
                  <a:gd name="T46" fmla="*/ 4 w 19"/>
                  <a:gd name="T47" fmla="*/ 0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9" h="21">
                    <a:moveTo>
                      <a:pt x="4" y="0"/>
                    </a:moveTo>
                    <a:lnTo>
                      <a:pt x="3" y="2"/>
                    </a:lnTo>
                    <a:lnTo>
                      <a:pt x="3" y="4"/>
                    </a:lnTo>
                    <a:lnTo>
                      <a:pt x="3" y="6"/>
                    </a:lnTo>
                    <a:lnTo>
                      <a:pt x="3" y="8"/>
                    </a:lnTo>
                    <a:lnTo>
                      <a:pt x="3" y="11"/>
                    </a:lnTo>
                    <a:lnTo>
                      <a:pt x="4" y="13"/>
                    </a:lnTo>
                    <a:lnTo>
                      <a:pt x="5" y="15"/>
                    </a:lnTo>
                    <a:lnTo>
                      <a:pt x="8" y="16"/>
                    </a:lnTo>
                    <a:lnTo>
                      <a:pt x="11" y="17"/>
                    </a:lnTo>
                    <a:lnTo>
                      <a:pt x="14" y="16"/>
                    </a:lnTo>
                    <a:lnTo>
                      <a:pt x="18" y="16"/>
                    </a:lnTo>
                    <a:lnTo>
                      <a:pt x="13" y="19"/>
                    </a:lnTo>
                    <a:lnTo>
                      <a:pt x="12" y="20"/>
                    </a:lnTo>
                    <a:lnTo>
                      <a:pt x="9" y="20"/>
                    </a:lnTo>
                    <a:lnTo>
                      <a:pt x="6" y="19"/>
                    </a:lnTo>
                    <a:lnTo>
                      <a:pt x="4" y="18"/>
                    </a:lnTo>
                    <a:lnTo>
                      <a:pt x="3" y="17"/>
                    </a:lnTo>
                    <a:lnTo>
                      <a:pt x="1" y="15"/>
                    </a:lnTo>
                    <a:lnTo>
                      <a:pt x="0" y="13"/>
                    </a:lnTo>
                    <a:lnTo>
                      <a:pt x="0" y="10"/>
                    </a:lnTo>
                    <a:lnTo>
                      <a:pt x="0" y="8"/>
                    </a:lnTo>
                    <a:lnTo>
                      <a:pt x="0" y="5"/>
                    </a:lnTo>
                    <a:lnTo>
                      <a:pt x="4"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47" name="Freeform 165"/>
              <p:cNvSpPr>
                <a:spLocks/>
              </p:cNvSpPr>
              <p:nvPr/>
            </p:nvSpPr>
            <p:spPr bwMode="auto">
              <a:xfrm>
                <a:off x="2538" y="3271"/>
                <a:ext cx="17" cy="17"/>
              </a:xfrm>
              <a:custGeom>
                <a:avLst/>
                <a:gdLst>
                  <a:gd name="T0" fmla="*/ 8 w 17"/>
                  <a:gd name="T1" fmla="*/ 0 h 17"/>
                  <a:gd name="T2" fmla="*/ 0 w 17"/>
                  <a:gd name="T3" fmla="*/ 9 h 17"/>
                  <a:gd name="T4" fmla="*/ 0 w 17"/>
                  <a:gd name="T5" fmla="*/ 11 h 17"/>
                  <a:gd name="T6" fmla="*/ 0 w 17"/>
                  <a:gd name="T7" fmla="*/ 12 h 17"/>
                  <a:gd name="T8" fmla="*/ 0 w 17"/>
                  <a:gd name="T9" fmla="*/ 14 h 17"/>
                  <a:gd name="T10" fmla="*/ 2 w 17"/>
                  <a:gd name="T11" fmla="*/ 15 h 17"/>
                  <a:gd name="T12" fmla="*/ 3 w 17"/>
                  <a:gd name="T13" fmla="*/ 16 h 17"/>
                  <a:gd name="T14" fmla="*/ 5 w 17"/>
                  <a:gd name="T15" fmla="*/ 15 h 17"/>
                  <a:gd name="T16" fmla="*/ 16 w 17"/>
                  <a:gd name="T17" fmla="*/ 7 h 17"/>
                  <a:gd name="T18" fmla="*/ 13 w 17"/>
                  <a:gd name="T19" fmla="*/ 6 h 17"/>
                  <a:gd name="T20" fmla="*/ 11 w 17"/>
                  <a:gd name="T21" fmla="*/ 6 h 17"/>
                  <a:gd name="T22" fmla="*/ 10 w 17"/>
                  <a:gd name="T23" fmla="*/ 4 h 17"/>
                  <a:gd name="T24" fmla="*/ 9 w 17"/>
                  <a:gd name="T25" fmla="*/ 3 h 17"/>
                  <a:gd name="T26" fmla="*/ 8 w 17"/>
                  <a:gd name="T27" fmla="*/ 1 h 17"/>
                  <a:gd name="T28" fmla="*/ 8 w 1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 h="17">
                    <a:moveTo>
                      <a:pt x="8" y="0"/>
                    </a:moveTo>
                    <a:lnTo>
                      <a:pt x="0" y="9"/>
                    </a:lnTo>
                    <a:lnTo>
                      <a:pt x="0" y="11"/>
                    </a:lnTo>
                    <a:lnTo>
                      <a:pt x="0" y="12"/>
                    </a:lnTo>
                    <a:lnTo>
                      <a:pt x="0" y="14"/>
                    </a:lnTo>
                    <a:lnTo>
                      <a:pt x="2" y="15"/>
                    </a:lnTo>
                    <a:lnTo>
                      <a:pt x="3" y="16"/>
                    </a:lnTo>
                    <a:lnTo>
                      <a:pt x="5" y="15"/>
                    </a:lnTo>
                    <a:lnTo>
                      <a:pt x="16" y="7"/>
                    </a:lnTo>
                    <a:lnTo>
                      <a:pt x="13" y="6"/>
                    </a:lnTo>
                    <a:lnTo>
                      <a:pt x="11" y="6"/>
                    </a:lnTo>
                    <a:lnTo>
                      <a:pt x="10" y="4"/>
                    </a:lnTo>
                    <a:lnTo>
                      <a:pt x="9" y="3"/>
                    </a:lnTo>
                    <a:lnTo>
                      <a:pt x="8" y="1"/>
                    </a:lnTo>
                    <a:lnTo>
                      <a:pt x="8"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06" name="Group 166"/>
            <p:cNvGrpSpPr>
              <a:grpSpLocks/>
            </p:cNvGrpSpPr>
            <p:nvPr/>
          </p:nvGrpSpPr>
          <p:grpSpPr bwMode="auto">
            <a:xfrm>
              <a:off x="4337" y="2482"/>
              <a:ext cx="168" cy="86"/>
              <a:chOff x="2515" y="3428"/>
              <a:chExt cx="191" cy="106"/>
            </a:xfrm>
          </p:grpSpPr>
          <p:grpSp>
            <p:nvGrpSpPr>
              <p:cNvPr id="293907" name="Group 167"/>
              <p:cNvGrpSpPr>
                <a:grpSpLocks/>
              </p:cNvGrpSpPr>
              <p:nvPr/>
            </p:nvGrpSpPr>
            <p:grpSpPr bwMode="auto">
              <a:xfrm>
                <a:off x="2515" y="3428"/>
                <a:ext cx="191" cy="106"/>
                <a:chOff x="2515" y="3428"/>
                <a:chExt cx="191" cy="106"/>
              </a:xfrm>
            </p:grpSpPr>
            <p:grpSp>
              <p:nvGrpSpPr>
                <p:cNvPr id="293908" name="Group 168"/>
                <p:cNvGrpSpPr>
                  <a:grpSpLocks/>
                </p:cNvGrpSpPr>
                <p:nvPr/>
              </p:nvGrpSpPr>
              <p:grpSpPr bwMode="auto">
                <a:xfrm>
                  <a:off x="2515" y="3458"/>
                  <a:ext cx="187" cy="76"/>
                  <a:chOff x="2515" y="3458"/>
                  <a:chExt cx="187" cy="76"/>
                </a:xfrm>
              </p:grpSpPr>
              <p:grpSp>
                <p:nvGrpSpPr>
                  <p:cNvPr id="293909" name="Group 169"/>
                  <p:cNvGrpSpPr>
                    <a:grpSpLocks/>
                  </p:cNvGrpSpPr>
                  <p:nvPr/>
                </p:nvGrpSpPr>
                <p:grpSpPr bwMode="auto">
                  <a:xfrm>
                    <a:off x="2515" y="3502"/>
                    <a:ext cx="25" cy="32"/>
                    <a:chOff x="2515" y="3502"/>
                    <a:chExt cx="25" cy="32"/>
                  </a:xfrm>
                </p:grpSpPr>
                <p:sp>
                  <p:nvSpPr>
                    <p:cNvPr id="294233" name="Freeform 170"/>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34" name="Freeform 171"/>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35" name="Freeform 172"/>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227" name="Freeform 173"/>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28" name="Freeform 174"/>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29" name="Freeform 175"/>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30" name="Freeform 176"/>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31" name="Freeform 177"/>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32" name="Freeform 178"/>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10" name="Group 179"/>
                <p:cNvGrpSpPr>
                  <a:grpSpLocks/>
                </p:cNvGrpSpPr>
                <p:nvPr/>
              </p:nvGrpSpPr>
              <p:grpSpPr bwMode="auto">
                <a:xfrm>
                  <a:off x="2597" y="3428"/>
                  <a:ext cx="109" cy="96"/>
                  <a:chOff x="2597" y="3428"/>
                  <a:chExt cx="109" cy="96"/>
                </a:xfrm>
              </p:grpSpPr>
              <p:sp>
                <p:nvSpPr>
                  <p:cNvPr id="294223" name="Freeform 180"/>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24" name="Freeform 181"/>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25" name="Freeform 182"/>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219" name="Freeform 183"/>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20" name="Freeform 184"/>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11" name="Group 185"/>
            <p:cNvGrpSpPr>
              <a:grpSpLocks/>
            </p:cNvGrpSpPr>
            <p:nvPr/>
          </p:nvGrpSpPr>
          <p:grpSpPr bwMode="auto">
            <a:xfrm>
              <a:off x="4210" y="2482"/>
              <a:ext cx="168" cy="86"/>
              <a:chOff x="2663" y="3383"/>
              <a:chExt cx="191" cy="106"/>
            </a:xfrm>
          </p:grpSpPr>
          <p:grpSp>
            <p:nvGrpSpPr>
              <p:cNvPr id="293912" name="Group 186"/>
              <p:cNvGrpSpPr>
                <a:grpSpLocks/>
              </p:cNvGrpSpPr>
              <p:nvPr/>
            </p:nvGrpSpPr>
            <p:grpSpPr bwMode="auto">
              <a:xfrm>
                <a:off x="2663" y="3383"/>
                <a:ext cx="191" cy="106"/>
                <a:chOff x="2663" y="3383"/>
                <a:chExt cx="191" cy="106"/>
              </a:xfrm>
            </p:grpSpPr>
            <p:grpSp>
              <p:nvGrpSpPr>
                <p:cNvPr id="293913" name="Group 187"/>
                <p:cNvGrpSpPr>
                  <a:grpSpLocks/>
                </p:cNvGrpSpPr>
                <p:nvPr/>
              </p:nvGrpSpPr>
              <p:grpSpPr bwMode="auto">
                <a:xfrm>
                  <a:off x="2663" y="3413"/>
                  <a:ext cx="187" cy="76"/>
                  <a:chOff x="2663" y="3413"/>
                  <a:chExt cx="187" cy="76"/>
                </a:xfrm>
              </p:grpSpPr>
              <p:grpSp>
                <p:nvGrpSpPr>
                  <p:cNvPr id="293914" name="Group 188"/>
                  <p:cNvGrpSpPr>
                    <a:grpSpLocks/>
                  </p:cNvGrpSpPr>
                  <p:nvPr/>
                </p:nvGrpSpPr>
                <p:grpSpPr bwMode="auto">
                  <a:xfrm>
                    <a:off x="2663" y="3457"/>
                    <a:ext cx="25" cy="32"/>
                    <a:chOff x="2663" y="3457"/>
                    <a:chExt cx="25" cy="32"/>
                  </a:xfrm>
                </p:grpSpPr>
                <p:sp>
                  <p:nvSpPr>
                    <p:cNvPr id="294215" name="Freeform 189"/>
                    <p:cNvSpPr>
                      <a:spLocks/>
                    </p:cNvSpPr>
                    <p:nvPr/>
                  </p:nvSpPr>
                  <p:spPr bwMode="auto">
                    <a:xfrm>
                      <a:off x="2671" y="345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16" name="Freeform 190"/>
                    <p:cNvSpPr>
                      <a:spLocks/>
                    </p:cNvSpPr>
                    <p:nvPr/>
                  </p:nvSpPr>
                  <p:spPr bwMode="auto">
                    <a:xfrm>
                      <a:off x="2663" y="345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17" name="Freeform 191"/>
                    <p:cNvSpPr>
                      <a:spLocks/>
                    </p:cNvSpPr>
                    <p:nvPr/>
                  </p:nvSpPr>
                  <p:spPr bwMode="auto">
                    <a:xfrm>
                      <a:off x="2663" y="347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209" name="Freeform 192"/>
                  <p:cNvSpPr>
                    <a:spLocks/>
                  </p:cNvSpPr>
                  <p:nvPr/>
                </p:nvSpPr>
                <p:spPr bwMode="auto">
                  <a:xfrm>
                    <a:off x="2669" y="341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10" name="Freeform 193"/>
                  <p:cNvSpPr>
                    <a:spLocks/>
                  </p:cNvSpPr>
                  <p:nvPr/>
                </p:nvSpPr>
                <p:spPr bwMode="auto">
                  <a:xfrm>
                    <a:off x="2801" y="341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11" name="Freeform 194"/>
                  <p:cNvSpPr>
                    <a:spLocks/>
                  </p:cNvSpPr>
                  <p:nvPr/>
                </p:nvSpPr>
                <p:spPr bwMode="auto">
                  <a:xfrm>
                    <a:off x="2797" y="341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12" name="Freeform 195"/>
                  <p:cNvSpPr>
                    <a:spLocks/>
                  </p:cNvSpPr>
                  <p:nvPr/>
                </p:nvSpPr>
                <p:spPr bwMode="auto">
                  <a:xfrm>
                    <a:off x="2824" y="342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13" name="Freeform 196"/>
                  <p:cNvSpPr>
                    <a:spLocks/>
                  </p:cNvSpPr>
                  <p:nvPr/>
                </p:nvSpPr>
                <p:spPr bwMode="auto">
                  <a:xfrm>
                    <a:off x="2825" y="341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14" name="Freeform 197"/>
                  <p:cNvSpPr>
                    <a:spLocks/>
                  </p:cNvSpPr>
                  <p:nvPr/>
                </p:nvSpPr>
                <p:spPr bwMode="auto">
                  <a:xfrm>
                    <a:off x="2669" y="346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15" name="Group 198"/>
                <p:cNvGrpSpPr>
                  <a:grpSpLocks/>
                </p:cNvGrpSpPr>
                <p:nvPr/>
              </p:nvGrpSpPr>
              <p:grpSpPr bwMode="auto">
                <a:xfrm>
                  <a:off x="2745" y="3383"/>
                  <a:ext cx="109" cy="96"/>
                  <a:chOff x="2745" y="3383"/>
                  <a:chExt cx="109" cy="96"/>
                </a:xfrm>
              </p:grpSpPr>
              <p:sp>
                <p:nvSpPr>
                  <p:cNvPr id="294205" name="Freeform 199"/>
                  <p:cNvSpPr>
                    <a:spLocks/>
                  </p:cNvSpPr>
                  <p:nvPr/>
                </p:nvSpPr>
                <p:spPr bwMode="auto">
                  <a:xfrm>
                    <a:off x="2746" y="345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06" name="Freeform 200"/>
                  <p:cNvSpPr>
                    <a:spLocks/>
                  </p:cNvSpPr>
                  <p:nvPr/>
                </p:nvSpPr>
                <p:spPr bwMode="auto">
                  <a:xfrm>
                    <a:off x="2747" y="342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07" name="Freeform 201"/>
                  <p:cNvSpPr>
                    <a:spLocks/>
                  </p:cNvSpPr>
                  <p:nvPr/>
                </p:nvSpPr>
                <p:spPr bwMode="auto">
                  <a:xfrm>
                    <a:off x="2745" y="338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201" name="Freeform 202"/>
              <p:cNvSpPr>
                <a:spLocks/>
              </p:cNvSpPr>
              <p:nvPr/>
            </p:nvSpPr>
            <p:spPr bwMode="auto">
              <a:xfrm>
                <a:off x="2722" y="344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202" name="Freeform 203"/>
              <p:cNvSpPr>
                <a:spLocks/>
              </p:cNvSpPr>
              <p:nvPr/>
            </p:nvSpPr>
            <p:spPr bwMode="auto">
              <a:xfrm>
                <a:off x="2728" y="344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16" name="Group 204"/>
            <p:cNvGrpSpPr>
              <a:grpSpLocks/>
            </p:cNvGrpSpPr>
            <p:nvPr/>
          </p:nvGrpSpPr>
          <p:grpSpPr bwMode="auto">
            <a:xfrm>
              <a:off x="4210" y="2543"/>
              <a:ext cx="168" cy="86"/>
              <a:chOff x="2458" y="3313"/>
              <a:chExt cx="191" cy="106"/>
            </a:xfrm>
          </p:grpSpPr>
          <p:grpSp>
            <p:nvGrpSpPr>
              <p:cNvPr id="293917" name="Group 205"/>
              <p:cNvGrpSpPr>
                <a:grpSpLocks/>
              </p:cNvGrpSpPr>
              <p:nvPr/>
            </p:nvGrpSpPr>
            <p:grpSpPr bwMode="auto">
              <a:xfrm>
                <a:off x="2458" y="3313"/>
                <a:ext cx="191" cy="106"/>
                <a:chOff x="2458" y="3313"/>
                <a:chExt cx="191" cy="106"/>
              </a:xfrm>
            </p:grpSpPr>
            <p:grpSp>
              <p:nvGrpSpPr>
                <p:cNvPr id="293918" name="Group 206"/>
                <p:cNvGrpSpPr>
                  <a:grpSpLocks/>
                </p:cNvGrpSpPr>
                <p:nvPr/>
              </p:nvGrpSpPr>
              <p:grpSpPr bwMode="auto">
                <a:xfrm>
                  <a:off x="2458" y="3343"/>
                  <a:ext cx="187" cy="76"/>
                  <a:chOff x="2458" y="3343"/>
                  <a:chExt cx="187" cy="76"/>
                </a:xfrm>
              </p:grpSpPr>
              <p:grpSp>
                <p:nvGrpSpPr>
                  <p:cNvPr id="293919" name="Group 207"/>
                  <p:cNvGrpSpPr>
                    <a:grpSpLocks/>
                  </p:cNvGrpSpPr>
                  <p:nvPr/>
                </p:nvGrpSpPr>
                <p:grpSpPr bwMode="auto">
                  <a:xfrm>
                    <a:off x="2458" y="3387"/>
                    <a:ext cx="25" cy="32"/>
                    <a:chOff x="2458" y="3387"/>
                    <a:chExt cx="25" cy="32"/>
                  </a:xfrm>
                </p:grpSpPr>
                <p:sp>
                  <p:nvSpPr>
                    <p:cNvPr id="294197" name="Freeform 208"/>
                    <p:cNvSpPr>
                      <a:spLocks/>
                    </p:cNvSpPr>
                    <p:nvPr/>
                  </p:nvSpPr>
                  <p:spPr bwMode="auto">
                    <a:xfrm>
                      <a:off x="2466" y="338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98" name="Freeform 209"/>
                    <p:cNvSpPr>
                      <a:spLocks/>
                    </p:cNvSpPr>
                    <p:nvPr/>
                  </p:nvSpPr>
                  <p:spPr bwMode="auto">
                    <a:xfrm>
                      <a:off x="2458" y="338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99" name="Freeform 210"/>
                    <p:cNvSpPr>
                      <a:spLocks/>
                    </p:cNvSpPr>
                    <p:nvPr/>
                  </p:nvSpPr>
                  <p:spPr bwMode="auto">
                    <a:xfrm>
                      <a:off x="2458" y="340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191" name="Freeform 211"/>
                  <p:cNvSpPr>
                    <a:spLocks/>
                  </p:cNvSpPr>
                  <p:nvPr/>
                </p:nvSpPr>
                <p:spPr bwMode="auto">
                  <a:xfrm>
                    <a:off x="2464" y="334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92" name="Freeform 212"/>
                  <p:cNvSpPr>
                    <a:spLocks/>
                  </p:cNvSpPr>
                  <p:nvPr/>
                </p:nvSpPr>
                <p:spPr bwMode="auto">
                  <a:xfrm>
                    <a:off x="2596" y="334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93" name="Freeform 213"/>
                  <p:cNvSpPr>
                    <a:spLocks/>
                  </p:cNvSpPr>
                  <p:nvPr/>
                </p:nvSpPr>
                <p:spPr bwMode="auto">
                  <a:xfrm>
                    <a:off x="2592" y="334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94" name="Freeform 214"/>
                  <p:cNvSpPr>
                    <a:spLocks/>
                  </p:cNvSpPr>
                  <p:nvPr/>
                </p:nvSpPr>
                <p:spPr bwMode="auto">
                  <a:xfrm>
                    <a:off x="2619" y="335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95" name="Freeform 215"/>
                  <p:cNvSpPr>
                    <a:spLocks/>
                  </p:cNvSpPr>
                  <p:nvPr/>
                </p:nvSpPr>
                <p:spPr bwMode="auto">
                  <a:xfrm>
                    <a:off x="2620" y="334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96" name="Freeform 216"/>
                  <p:cNvSpPr>
                    <a:spLocks/>
                  </p:cNvSpPr>
                  <p:nvPr/>
                </p:nvSpPr>
                <p:spPr bwMode="auto">
                  <a:xfrm>
                    <a:off x="2464" y="339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20" name="Group 217"/>
                <p:cNvGrpSpPr>
                  <a:grpSpLocks/>
                </p:cNvGrpSpPr>
                <p:nvPr/>
              </p:nvGrpSpPr>
              <p:grpSpPr bwMode="auto">
                <a:xfrm>
                  <a:off x="2540" y="3313"/>
                  <a:ext cx="109" cy="96"/>
                  <a:chOff x="2540" y="3313"/>
                  <a:chExt cx="109" cy="96"/>
                </a:xfrm>
              </p:grpSpPr>
              <p:sp>
                <p:nvSpPr>
                  <p:cNvPr id="294187" name="Freeform 218"/>
                  <p:cNvSpPr>
                    <a:spLocks/>
                  </p:cNvSpPr>
                  <p:nvPr/>
                </p:nvSpPr>
                <p:spPr bwMode="auto">
                  <a:xfrm>
                    <a:off x="2541" y="338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88" name="Freeform 219"/>
                  <p:cNvSpPr>
                    <a:spLocks/>
                  </p:cNvSpPr>
                  <p:nvPr/>
                </p:nvSpPr>
                <p:spPr bwMode="auto">
                  <a:xfrm>
                    <a:off x="2542" y="335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89" name="Freeform 220"/>
                  <p:cNvSpPr>
                    <a:spLocks/>
                  </p:cNvSpPr>
                  <p:nvPr/>
                </p:nvSpPr>
                <p:spPr bwMode="auto">
                  <a:xfrm>
                    <a:off x="2540" y="331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183" name="Freeform 221"/>
              <p:cNvSpPr>
                <a:spLocks/>
              </p:cNvSpPr>
              <p:nvPr/>
            </p:nvSpPr>
            <p:spPr bwMode="auto">
              <a:xfrm>
                <a:off x="2517" y="337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84" name="Freeform 222"/>
              <p:cNvSpPr>
                <a:spLocks/>
              </p:cNvSpPr>
              <p:nvPr/>
            </p:nvSpPr>
            <p:spPr bwMode="auto">
              <a:xfrm>
                <a:off x="2523" y="337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21" name="Group 223"/>
            <p:cNvGrpSpPr>
              <a:grpSpLocks/>
            </p:cNvGrpSpPr>
            <p:nvPr/>
          </p:nvGrpSpPr>
          <p:grpSpPr bwMode="auto">
            <a:xfrm>
              <a:off x="4252" y="2560"/>
              <a:ext cx="168" cy="87"/>
              <a:chOff x="2515" y="3428"/>
              <a:chExt cx="191" cy="106"/>
            </a:xfrm>
          </p:grpSpPr>
          <p:grpSp>
            <p:nvGrpSpPr>
              <p:cNvPr id="293922" name="Group 224"/>
              <p:cNvGrpSpPr>
                <a:grpSpLocks/>
              </p:cNvGrpSpPr>
              <p:nvPr/>
            </p:nvGrpSpPr>
            <p:grpSpPr bwMode="auto">
              <a:xfrm>
                <a:off x="2515" y="3428"/>
                <a:ext cx="191" cy="106"/>
                <a:chOff x="2515" y="3428"/>
                <a:chExt cx="191" cy="106"/>
              </a:xfrm>
            </p:grpSpPr>
            <p:grpSp>
              <p:nvGrpSpPr>
                <p:cNvPr id="293923" name="Group 225"/>
                <p:cNvGrpSpPr>
                  <a:grpSpLocks/>
                </p:cNvGrpSpPr>
                <p:nvPr/>
              </p:nvGrpSpPr>
              <p:grpSpPr bwMode="auto">
                <a:xfrm>
                  <a:off x="2515" y="3458"/>
                  <a:ext cx="187" cy="76"/>
                  <a:chOff x="2515" y="3458"/>
                  <a:chExt cx="187" cy="76"/>
                </a:xfrm>
              </p:grpSpPr>
              <p:grpSp>
                <p:nvGrpSpPr>
                  <p:cNvPr id="293924" name="Group 226"/>
                  <p:cNvGrpSpPr>
                    <a:grpSpLocks/>
                  </p:cNvGrpSpPr>
                  <p:nvPr/>
                </p:nvGrpSpPr>
                <p:grpSpPr bwMode="auto">
                  <a:xfrm>
                    <a:off x="2515" y="3502"/>
                    <a:ext cx="25" cy="32"/>
                    <a:chOff x="2515" y="3502"/>
                    <a:chExt cx="25" cy="32"/>
                  </a:xfrm>
                </p:grpSpPr>
                <p:sp>
                  <p:nvSpPr>
                    <p:cNvPr id="294179" name="Freeform 227"/>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80" name="Freeform 228"/>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81" name="Freeform 229"/>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173" name="Freeform 230"/>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74" name="Freeform 231"/>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75" name="Freeform 232"/>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76" name="Freeform 233"/>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77" name="Freeform 234"/>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78" name="Freeform 235"/>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25" name="Group 236"/>
                <p:cNvGrpSpPr>
                  <a:grpSpLocks/>
                </p:cNvGrpSpPr>
                <p:nvPr/>
              </p:nvGrpSpPr>
              <p:grpSpPr bwMode="auto">
                <a:xfrm>
                  <a:off x="2597" y="3428"/>
                  <a:ext cx="109" cy="96"/>
                  <a:chOff x="2597" y="3428"/>
                  <a:chExt cx="109" cy="96"/>
                </a:xfrm>
              </p:grpSpPr>
              <p:sp>
                <p:nvSpPr>
                  <p:cNvPr id="294169" name="Freeform 237"/>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70" name="Freeform 238"/>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71" name="Freeform 239"/>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165" name="Freeform 240"/>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66" name="Freeform 241"/>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26" name="Group 242"/>
            <p:cNvGrpSpPr>
              <a:grpSpLocks/>
            </p:cNvGrpSpPr>
            <p:nvPr/>
          </p:nvGrpSpPr>
          <p:grpSpPr bwMode="auto">
            <a:xfrm>
              <a:off x="3074" y="3021"/>
              <a:ext cx="660" cy="612"/>
              <a:chOff x="2206" y="3016"/>
              <a:chExt cx="750" cy="750"/>
            </a:xfrm>
          </p:grpSpPr>
          <p:grpSp>
            <p:nvGrpSpPr>
              <p:cNvPr id="293927" name="Group 243"/>
              <p:cNvGrpSpPr>
                <a:grpSpLocks/>
              </p:cNvGrpSpPr>
              <p:nvPr/>
            </p:nvGrpSpPr>
            <p:grpSpPr bwMode="auto">
              <a:xfrm>
                <a:off x="2206" y="3016"/>
                <a:ext cx="750" cy="750"/>
                <a:chOff x="2206" y="3016"/>
                <a:chExt cx="750" cy="750"/>
              </a:xfrm>
            </p:grpSpPr>
            <p:grpSp>
              <p:nvGrpSpPr>
                <p:cNvPr id="293928" name="Group 244"/>
                <p:cNvGrpSpPr>
                  <a:grpSpLocks/>
                </p:cNvGrpSpPr>
                <p:nvPr/>
              </p:nvGrpSpPr>
              <p:grpSpPr bwMode="auto">
                <a:xfrm>
                  <a:off x="2206" y="3016"/>
                  <a:ext cx="750" cy="750"/>
                  <a:chOff x="2206" y="3016"/>
                  <a:chExt cx="750" cy="750"/>
                </a:xfrm>
              </p:grpSpPr>
              <p:grpSp>
                <p:nvGrpSpPr>
                  <p:cNvPr id="293929" name="Group 245"/>
                  <p:cNvGrpSpPr>
                    <a:grpSpLocks/>
                  </p:cNvGrpSpPr>
                  <p:nvPr/>
                </p:nvGrpSpPr>
                <p:grpSpPr bwMode="auto">
                  <a:xfrm>
                    <a:off x="2206" y="3016"/>
                    <a:ext cx="750" cy="750"/>
                    <a:chOff x="2206" y="3016"/>
                    <a:chExt cx="750" cy="750"/>
                  </a:xfrm>
                </p:grpSpPr>
                <p:sp>
                  <p:nvSpPr>
                    <p:cNvPr id="294162" name="Oval 246"/>
                    <p:cNvSpPr>
                      <a:spLocks noChangeArrowheads="1"/>
                    </p:cNvSpPr>
                    <p:nvPr/>
                  </p:nvSpPr>
                  <p:spPr bwMode="auto">
                    <a:xfrm>
                      <a:off x="2206" y="3016"/>
                      <a:ext cx="750" cy="750"/>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4163" name="Oval 247"/>
                    <p:cNvSpPr>
                      <a:spLocks noChangeArrowheads="1"/>
                    </p:cNvSpPr>
                    <p:nvPr/>
                  </p:nvSpPr>
                  <p:spPr bwMode="auto">
                    <a:xfrm>
                      <a:off x="2285" y="3091"/>
                      <a:ext cx="591" cy="597"/>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161" name="Oval 248"/>
                  <p:cNvSpPr>
                    <a:spLocks noChangeArrowheads="1"/>
                  </p:cNvSpPr>
                  <p:nvPr/>
                </p:nvSpPr>
                <p:spPr bwMode="auto">
                  <a:xfrm>
                    <a:off x="2365" y="3172"/>
                    <a:ext cx="431" cy="435"/>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159" name="Oval 249"/>
                <p:cNvSpPr>
                  <a:spLocks noChangeArrowheads="1"/>
                </p:cNvSpPr>
                <p:nvPr/>
              </p:nvSpPr>
              <p:spPr bwMode="auto">
                <a:xfrm>
                  <a:off x="2444" y="3252"/>
                  <a:ext cx="274" cy="275"/>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157" name="Oval 250"/>
              <p:cNvSpPr>
                <a:spLocks noChangeArrowheads="1"/>
              </p:cNvSpPr>
              <p:nvPr/>
            </p:nvSpPr>
            <p:spPr bwMode="auto">
              <a:xfrm>
                <a:off x="2523" y="3331"/>
                <a:ext cx="115" cy="117"/>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grpSp>
          <p:nvGrpSpPr>
            <p:cNvPr id="293944" name="Group 251"/>
            <p:cNvGrpSpPr>
              <a:grpSpLocks/>
            </p:cNvGrpSpPr>
            <p:nvPr/>
          </p:nvGrpSpPr>
          <p:grpSpPr bwMode="auto">
            <a:xfrm>
              <a:off x="3541" y="3137"/>
              <a:ext cx="163" cy="122"/>
              <a:chOff x="2737" y="3158"/>
              <a:chExt cx="185" cy="150"/>
            </a:xfrm>
          </p:grpSpPr>
          <p:sp>
            <p:nvSpPr>
              <p:cNvPr id="294141" name="Freeform 252"/>
              <p:cNvSpPr>
                <a:spLocks/>
              </p:cNvSpPr>
              <p:nvPr/>
            </p:nvSpPr>
            <p:spPr bwMode="auto">
              <a:xfrm>
                <a:off x="2739" y="3291"/>
                <a:ext cx="17" cy="17"/>
              </a:xfrm>
              <a:custGeom>
                <a:avLst/>
                <a:gdLst>
                  <a:gd name="T0" fmla="*/ 0 w 17"/>
                  <a:gd name="T1" fmla="*/ 7 h 17"/>
                  <a:gd name="T2" fmla="*/ 7 w 17"/>
                  <a:gd name="T3" fmla="*/ 0 h 17"/>
                  <a:gd name="T4" fmla="*/ 16 w 17"/>
                  <a:gd name="T5" fmla="*/ 16 h 17"/>
                  <a:gd name="T6" fmla="*/ 2 w 17"/>
                  <a:gd name="T7" fmla="*/ 13 h 17"/>
                  <a:gd name="T8" fmla="*/ 0 w 17"/>
                  <a:gd name="T9" fmla="*/ 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7"/>
                    </a:moveTo>
                    <a:lnTo>
                      <a:pt x="7" y="0"/>
                    </a:lnTo>
                    <a:lnTo>
                      <a:pt x="16" y="16"/>
                    </a:lnTo>
                    <a:lnTo>
                      <a:pt x="2" y="13"/>
                    </a:lnTo>
                    <a:lnTo>
                      <a:pt x="0" y="7"/>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42" name="Freeform 253"/>
              <p:cNvSpPr>
                <a:spLocks/>
              </p:cNvSpPr>
              <p:nvPr/>
            </p:nvSpPr>
            <p:spPr bwMode="auto">
              <a:xfrm>
                <a:off x="2737" y="3277"/>
                <a:ext cx="17" cy="20"/>
              </a:xfrm>
              <a:custGeom>
                <a:avLst/>
                <a:gdLst>
                  <a:gd name="T0" fmla="*/ 10 w 17"/>
                  <a:gd name="T1" fmla="*/ 0 h 20"/>
                  <a:gd name="T2" fmla="*/ 16 w 17"/>
                  <a:gd name="T3" fmla="*/ 14 h 20"/>
                  <a:gd name="T4" fmla="*/ 3 w 17"/>
                  <a:gd name="T5" fmla="*/ 19 h 20"/>
                  <a:gd name="T6" fmla="*/ 0 w 17"/>
                  <a:gd name="T7" fmla="*/ 14 h 20"/>
                  <a:gd name="T8" fmla="*/ 10 w 17"/>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0">
                    <a:moveTo>
                      <a:pt x="10" y="0"/>
                    </a:moveTo>
                    <a:lnTo>
                      <a:pt x="16" y="14"/>
                    </a:lnTo>
                    <a:lnTo>
                      <a:pt x="3" y="19"/>
                    </a:lnTo>
                    <a:lnTo>
                      <a:pt x="0" y="14"/>
                    </a:lnTo>
                    <a:lnTo>
                      <a:pt x="10"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43" name="Freeform 254"/>
              <p:cNvSpPr>
                <a:spLocks/>
              </p:cNvSpPr>
              <p:nvPr/>
            </p:nvSpPr>
            <p:spPr bwMode="auto">
              <a:xfrm>
                <a:off x="2742" y="3277"/>
                <a:ext cx="17" cy="25"/>
              </a:xfrm>
              <a:custGeom>
                <a:avLst/>
                <a:gdLst>
                  <a:gd name="T0" fmla="*/ 0 w 17"/>
                  <a:gd name="T1" fmla="*/ 0 h 25"/>
                  <a:gd name="T2" fmla="*/ 4 w 17"/>
                  <a:gd name="T3" fmla="*/ 15 h 25"/>
                  <a:gd name="T4" fmla="*/ 16 w 17"/>
                  <a:gd name="T5" fmla="*/ 24 h 25"/>
                  <a:gd name="T6" fmla="*/ 10 w 17"/>
                  <a:gd name="T7" fmla="*/ 12 h 25"/>
                  <a:gd name="T8" fmla="*/ 0 w 17"/>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5">
                    <a:moveTo>
                      <a:pt x="0" y="0"/>
                    </a:moveTo>
                    <a:lnTo>
                      <a:pt x="4" y="15"/>
                    </a:lnTo>
                    <a:lnTo>
                      <a:pt x="16" y="24"/>
                    </a:lnTo>
                    <a:lnTo>
                      <a:pt x="10"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293947" name="Group 255"/>
              <p:cNvGrpSpPr>
                <a:grpSpLocks/>
              </p:cNvGrpSpPr>
              <p:nvPr/>
            </p:nvGrpSpPr>
            <p:grpSpPr bwMode="auto">
              <a:xfrm>
                <a:off x="2744" y="3158"/>
                <a:ext cx="178" cy="139"/>
                <a:chOff x="2744" y="3158"/>
                <a:chExt cx="178" cy="139"/>
              </a:xfrm>
            </p:grpSpPr>
            <p:sp>
              <p:nvSpPr>
                <p:cNvPr id="294145" name="Freeform 256"/>
                <p:cNvSpPr>
                  <a:spLocks/>
                </p:cNvSpPr>
                <p:nvPr/>
              </p:nvSpPr>
              <p:spPr bwMode="auto">
                <a:xfrm>
                  <a:off x="2744" y="3196"/>
                  <a:ext cx="153" cy="99"/>
                </a:xfrm>
                <a:custGeom>
                  <a:avLst/>
                  <a:gdLst>
                    <a:gd name="T0" fmla="*/ 122 w 153"/>
                    <a:gd name="T1" fmla="*/ 0 h 99"/>
                    <a:gd name="T2" fmla="*/ 3 w 153"/>
                    <a:gd name="T3" fmla="*/ 89 h 99"/>
                    <a:gd name="T4" fmla="*/ 2 w 153"/>
                    <a:gd name="T5" fmla="*/ 90 h 99"/>
                    <a:gd name="T6" fmla="*/ 1 w 153"/>
                    <a:gd name="T7" fmla="*/ 92 h 99"/>
                    <a:gd name="T8" fmla="*/ 0 w 153"/>
                    <a:gd name="T9" fmla="*/ 94 h 99"/>
                    <a:gd name="T10" fmla="*/ 1 w 153"/>
                    <a:gd name="T11" fmla="*/ 96 h 99"/>
                    <a:gd name="T12" fmla="*/ 2 w 153"/>
                    <a:gd name="T13" fmla="*/ 97 h 99"/>
                    <a:gd name="T14" fmla="*/ 4 w 153"/>
                    <a:gd name="T15" fmla="*/ 98 h 99"/>
                    <a:gd name="T16" fmla="*/ 6 w 153"/>
                    <a:gd name="T17" fmla="*/ 96 h 99"/>
                    <a:gd name="T18" fmla="*/ 152 w 153"/>
                    <a:gd name="T19" fmla="*/ 28 h 99"/>
                    <a:gd name="T20" fmla="*/ 122 w 153"/>
                    <a:gd name="T21" fmla="*/ 0 h 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3" h="99">
                      <a:moveTo>
                        <a:pt x="122" y="0"/>
                      </a:moveTo>
                      <a:lnTo>
                        <a:pt x="3" y="89"/>
                      </a:lnTo>
                      <a:lnTo>
                        <a:pt x="2" y="90"/>
                      </a:lnTo>
                      <a:lnTo>
                        <a:pt x="1" y="92"/>
                      </a:lnTo>
                      <a:lnTo>
                        <a:pt x="0" y="94"/>
                      </a:lnTo>
                      <a:lnTo>
                        <a:pt x="1" y="96"/>
                      </a:lnTo>
                      <a:lnTo>
                        <a:pt x="2" y="97"/>
                      </a:lnTo>
                      <a:lnTo>
                        <a:pt x="4" y="98"/>
                      </a:lnTo>
                      <a:lnTo>
                        <a:pt x="6" y="96"/>
                      </a:lnTo>
                      <a:lnTo>
                        <a:pt x="152" y="28"/>
                      </a:lnTo>
                      <a:lnTo>
                        <a:pt x="122"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46" name="Freeform 257"/>
                <p:cNvSpPr>
                  <a:spLocks/>
                </p:cNvSpPr>
                <p:nvPr/>
              </p:nvSpPr>
              <p:spPr bwMode="auto">
                <a:xfrm>
                  <a:off x="2855" y="3191"/>
                  <a:ext cx="52" cy="25"/>
                </a:xfrm>
                <a:custGeom>
                  <a:avLst/>
                  <a:gdLst>
                    <a:gd name="T0" fmla="*/ 2 w 52"/>
                    <a:gd name="T1" fmla="*/ 12 h 25"/>
                    <a:gd name="T2" fmla="*/ 21 w 52"/>
                    <a:gd name="T3" fmla="*/ 0 h 25"/>
                    <a:gd name="T4" fmla="*/ 51 w 52"/>
                    <a:gd name="T5" fmla="*/ 21 h 25"/>
                    <a:gd name="T6" fmla="*/ 46 w 52"/>
                    <a:gd name="T7" fmla="*/ 24 h 25"/>
                    <a:gd name="T8" fmla="*/ 19 w 52"/>
                    <a:gd name="T9" fmla="*/ 7 h 25"/>
                    <a:gd name="T10" fmla="*/ 0 w 52"/>
                    <a:gd name="T11" fmla="*/ 18 h 25"/>
                    <a:gd name="T12" fmla="*/ 2 w 52"/>
                    <a:gd name="T13" fmla="*/ 12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25">
                      <a:moveTo>
                        <a:pt x="2" y="12"/>
                      </a:moveTo>
                      <a:lnTo>
                        <a:pt x="21" y="0"/>
                      </a:lnTo>
                      <a:lnTo>
                        <a:pt x="51" y="21"/>
                      </a:lnTo>
                      <a:lnTo>
                        <a:pt x="46" y="24"/>
                      </a:lnTo>
                      <a:lnTo>
                        <a:pt x="19" y="7"/>
                      </a:lnTo>
                      <a:lnTo>
                        <a:pt x="0" y="18"/>
                      </a:lnTo>
                      <a:lnTo>
                        <a:pt x="2" y="12"/>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47" name="Freeform 258"/>
                <p:cNvSpPr>
                  <a:spLocks/>
                </p:cNvSpPr>
                <p:nvPr/>
              </p:nvSpPr>
              <p:spPr bwMode="auto">
                <a:xfrm>
                  <a:off x="2855" y="3187"/>
                  <a:ext cx="49" cy="48"/>
                </a:xfrm>
                <a:custGeom>
                  <a:avLst/>
                  <a:gdLst>
                    <a:gd name="T0" fmla="*/ 25 w 49"/>
                    <a:gd name="T1" fmla="*/ 0 h 48"/>
                    <a:gd name="T2" fmla="*/ 2 w 49"/>
                    <a:gd name="T3" fmla="*/ 16 h 48"/>
                    <a:gd name="T4" fmla="*/ 1 w 49"/>
                    <a:gd name="T5" fmla="*/ 18 h 48"/>
                    <a:gd name="T6" fmla="*/ 0 w 49"/>
                    <a:gd name="T7" fmla="*/ 21 h 48"/>
                    <a:gd name="T8" fmla="*/ 0 w 49"/>
                    <a:gd name="T9" fmla="*/ 25 h 48"/>
                    <a:gd name="T10" fmla="*/ 0 w 49"/>
                    <a:gd name="T11" fmla="*/ 28 h 48"/>
                    <a:gd name="T12" fmla="*/ 0 w 49"/>
                    <a:gd name="T13" fmla="*/ 32 h 48"/>
                    <a:gd name="T14" fmla="*/ 1 w 49"/>
                    <a:gd name="T15" fmla="*/ 35 h 48"/>
                    <a:gd name="T16" fmla="*/ 3 w 49"/>
                    <a:gd name="T17" fmla="*/ 38 h 48"/>
                    <a:gd name="T18" fmla="*/ 5 w 49"/>
                    <a:gd name="T19" fmla="*/ 41 h 48"/>
                    <a:gd name="T20" fmla="*/ 9 w 49"/>
                    <a:gd name="T21" fmla="*/ 43 h 48"/>
                    <a:gd name="T22" fmla="*/ 12 w 49"/>
                    <a:gd name="T23" fmla="*/ 45 h 48"/>
                    <a:gd name="T24" fmla="*/ 15 w 49"/>
                    <a:gd name="T25" fmla="*/ 46 h 48"/>
                    <a:gd name="T26" fmla="*/ 19 w 49"/>
                    <a:gd name="T27" fmla="*/ 47 h 48"/>
                    <a:gd name="T28" fmla="*/ 22 w 49"/>
                    <a:gd name="T29" fmla="*/ 47 h 48"/>
                    <a:gd name="T30" fmla="*/ 48 w 49"/>
                    <a:gd name="T31" fmla="*/ 35 h 48"/>
                    <a:gd name="T32" fmla="*/ 21 w 49"/>
                    <a:gd name="T33" fmla="*/ 9 h 48"/>
                    <a:gd name="T34" fmla="*/ 2 w 49"/>
                    <a:gd name="T35" fmla="*/ 20 h 48"/>
                    <a:gd name="T36" fmla="*/ 4 w 49"/>
                    <a:gd name="T37" fmla="*/ 17 h 48"/>
                    <a:gd name="T38" fmla="*/ 23 w 49"/>
                    <a:gd name="T39" fmla="*/ 4 h 48"/>
                    <a:gd name="T40" fmla="*/ 25 w 49"/>
                    <a:gd name="T41" fmla="*/ 0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48">
                      <a:moveTo>
                        <a:pt x="25" y="0"/>
                      </a:moveTo>
                      <a:lnTo>
                        <a:pt x="2" y="16"/>
                      </a:lnTo>
                      <a:lnTo>
                        <a:pt x="1" y="18"/>
                      </a:lnTo>
                      <a:lnTo>
                        <a:pt x="0" y="21"/>
                      </a:lnTo>
                      <a:lnTo>
                        <a:pt x="0" y="25"/>
                      </a:lnTo>
                      <a:lnTo>
                        <a:pt x="0" y="28"/>
                      </a:lnTo>
                      <a:lnTo>
                        <a:pt x="0" y="32"/>
                      </a:lnTo>
                      <a:lnTo>
                        <a:pt x="1" y="35"/>
                      </a:lnTo>
                      <a:lnTo>
                        <a:pt x="3" y="38"/>
                      </a:lnTo>
                      <a:lnTo>
                        <a:pt x="5" y="41"/>
                      </a:lnTo>
                      <a:lnTo>
                        <a:pt x="9" y="43"/>
                      </a:lnTo>
                      <a:lnTo>
                        <a:pt x="12" y="45"/>
                      </a:lnTo>
                      <a:lnTo>
                        <a:pt x="15" y="46"/>
                      </a:lnTo>
                      <a:lnTo>
                        <a:pt x="19" y="47"/>
                      </a:lnTo>
                      <a:lnTo>
                        <a:pt x="22" y="47"/>
                      </a:lnTo>
                      <a:lnTo>
                        <a:pt x="48" y="35"/>
                      </a:lnTo>
                      <a:lnTo>
                        <a:pt x="21" y="9"/>
                      </a:lnTo>
                      <a:lnTo>
                        <a:pt x="2" y="20"/>
                      </a:lnTo>
                      <a:lnTo>
                        <a:pt x="4" y="17"/>
                      </a:lnTo>
                      <a:lnTo>
                        <a:pt x="23" y="4"/>
                      </a:lnTo>
                      <a:lnTo>
                        <a:pt x="25"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48" name="Freeform 259"/>
                <p:cNvSpPr>
                  <a:spLocks/>
                </p:cNvSpPr>
                <p:nvPr/>
              </p:nvSpPr>
              <p:spPr bwMode="auto">
                <a:xfrm>
                  <a:off x="2876" y="3196"/>
                  <a:ext cx="31" cy="28"/>
                </a:xfrm>
                <a:custGeom>
                  <a:avLst/>
                  <a:gdLst>
                    <a:gd name="T0" fmla="*/ 0 w 31"/>
                    <a:gd name="T1" fmla="*/ 0 h 28"/>
                    <a:gd name="T2" fmla="*/ 0 w 31"/>
                    <a:gd name="T3" fmla="*/ 2 h 28"/>
                    <a:gd name="T4" fmla="*/ 1 w 31"/>
                    <a:gd name="T5" fmla="*/ 4 h 28"/>
                    <a:gd name="T6" fmla="*/ 1 w 31"/>
                    <a:gd name="T7" fmla="*/ 6 h 28"/>
                    <a:gd name="T8" fmla="*/ 3 w 31"/>
                    <a:gd name="T9" fmla="*/ 9 h 28"/>
                    <a:gd name="T10" fmla="*/ 4 w 31"/>
                    <a:gd name="T11" fmla="*/ 11 h 28"/>
                    <a:gd name="T12" fmla="*/ 6 w 31"/>
                    <a:gd name="T13" fmla="*/ 15 h 28"/>
                    <a:gd name="T14" fmla="*/ 9 w 31"/>
                    <a:gd name="T15" fmla="*/ 17 h 28"/>
                    <a:gd name="T16" fmla="*/ 12 w 31"/>
                    <a:gd name="T17" fmla="*/ 19 h 28"/>
                    <a:gd name="T18" fmla="*/ 14 w 31"/>
                    <a:gd name="T19" fmla="*/ 22 h 28"/>
                    <a:gd name="T20" fmla="*/ 17 w 31"/>
                    <a:gd name="T21" fmla="*/ 24 h 28"/>
                    <a:gd name="T22" fmla="*/ 20 w 31"/>
                    <a:gd name="T23" fmla="*/ 25 h 28"/>
                    <a:gd name="T24" fmla="*/ 23 w 31"/>
                    <a:gd name="T25" fmla="*/ 26 h 28"/>
                    <a:gd name="T26" fmla="*/ 25 w 31"/>
                    <a:gd name="T27" fmla="*/ 27 h 28"/>
                    <a:gd name="T28" fmla="*/ 27 w 31"/>
                    <a:gd name="T29" fmla="*/ 26 h 28"/>
                    <a:gd name="T30" fmla="*/ 28 w 31"/>
                    <a:gd name="T31" fmla="*/ 24 h 28"/>
                    <a:gd name="T32" fmla="*/ 29 w 31"/>
                    <a:gd name="T33" fmla="*/ 22 h 28"/>
                    <a:gd name="T34" fmla="*/ 30 w 31"/>
                    <a:gd name="T35" fmla="*/ 19 h 28"/>
                    <a:gd name="T36" fmla="*/ 0 w 31"/>
                    <a:gd name="T37" fmla="*/ 0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1" h="28">
                      <a:moveTo>
                        <a:pt x="0" y="0"/>
                      </a:moveTo>
                      <a:lnTo>
                        <a:pt x="0" y="2"/>
                      </a:lnTo>
                      <a:lnTo>
                        <a:pt x="1" y="4"/>
                      </a:lnTo>
                      <a:lnTo>
                        <a:pt x="1" y="6"/>
                      </a:lnTo>
                      <a:lnTo>
                        <a:pt x="3" y="9"/>
                      </a:lnTo>
                      <a:lnTo>
                        <a:pt x="4" y="11"/>
                      </a:lnTo>
                      <a:lnTo>
                        <a:pt x="6" y="15"/>
                      </a:lnTo>
                      <a:lnTo>
                        <a:pt x="9" y="17"/>
                      </a:lnTo>
                      <a:lnTo>
                        <a:pt x="12" y="19"/>
                      </a:lnTo>
                      <a:lnTo>
                        <a:pt x="14" y="22"/>
                      </a:lnTo>
                      <a:lnTo>
                        <a:pt x="17" y="24"/>
                      </a:lnTo>
                      <a:lnTo>
                        <a:pt x="20" y="25"/>
                      </a:lnTo>
                      <a:lnTo>
                        <a:pt x="23" y="26"/>
                      </a:lnTo>
                      <a:lnTo>
                        <a:pt x="25" y="27"/>
                      </a:lnTo>
                      <a:lnTo>
                        <a:pt x="27" y="26"/>
                      </a:lnTo>
                      <a:lnTo>
                        <a:pt x="28" y="24"/>
                      </a:lnTo>
                      <a:lnTo>
                        <a:pt x="29" y="22"/>
                      </a:lnTo>
                      <a:lnTo>
                        <a:pt x="30" y="19"/>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49" name="Freeform 260"/>
                <p:cNvSpPr>
                  <a:spLocks/>
                </p:cNvSpPr>
                <p:nvPr/>
              </p:nvSpPr>
              <p:spPr bwMode="auto">
                <a:xfrm>
                  <a:off x="2877" y="3186"/>
                  <a:ext cx="30" cy="27"/>
                </a:xfrm>
                <a:custGeom>
                  <a:avLst/>
                  <a:gdLst>
                    <a:gd name="T0" fmla="*/ 0 w 30"/>
                    <a:gd name="T1" fmla="*/ 6 h 27"/>
                    <a:gd name="T2" fmla="*/ 0 w 30"/>
                    <a:gd name="T3" fmla="*/ 4 h 27"/>
                    <a:gd name="T4" fmla="*/ 0 w 30"/>
                    <a:gd name="T5" fmla="*/ 2 h 27"/>
                    <a:gd name="T6" fmla="*/ 2 w 30"/>
                    <a:gd name="T7" fmla="*/ 0 h 27"/>
                    <a:gd name="T8" fmla="*/ 5 w 30"/>
                    <a:gd name="T9" fmla="*/ 0 h 27"/>
                    <a:gd name="T10" fmla="*/ 7 w 30"/>
                    <a:gd name="T11" fmla="*/ 0 h 27"/>
                    <a:gd name="T12" fmla="*/ 10 w 30"/>
                    <a:gd name="T13" fmla="*/ 0 h 27"/>
                    <a:gd name="T14" fmla="*/ 13 w 30"/>
                    <a:gd name="T15" fmla="*/ 1 h 27"/>
                    <a:gd name="T16" fmla="*/ 17 w 30"/>
                    <a:gd name="T17" fmla="*/ 3 h 27"/>
                    <a:gd name="T18" fmla="*/ 20 w 30"/>
                    <a:gd name="T19" fmla="*/ 5 h 27"/>
                    <a:gd name="T20" fmla="*/ 22 w 30"/>
                    <a:gd name="T21" fmla="*/ 7 h 27"/>
                    <a:gd name="T22" fmla="*/ 24 w 30"/>
                    <a:gd name="T23" fmla="*/ 10 h 27"/>
                    <a:gd name="T24" fmla="*/ 26 w 30"/>
                    <a:gd name="T25" fmla="*/ 13 h 27"/>
                    <a:gd name="T26" fmla="*/ 27 w 30"/>
                    <a:gd name="T27" fmla="*/ 15 h 27"/>
                    <a:gd name="T28" fmla="*/ 28 w 30"/>
                    <a:gd name="T29" fmla="*/ 19 h 27"/>
                    <a:gd name="T30" fmla="*/ 29 w 30"/>
                    <a:gd name="T31" fmla="*/ 23 h 27"/>
                    <a:gd name="T32" fmla="*/ 29 w 30"/>
                    <a:gd name="T33" fmla="*/ 26 h 27"/>
                    <a:gd name="T34" fmla="*/ 0 w 30"/>
                    <a:gd name="T35" fmla="*/ 6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0" h="27">
                      <a:moveTo>
                        <a:pt x="0" y="6"/>
                      </a:moveTo>
                      <a:lnTo>
                        <a:pt x="0" y="4"/>
                      </a:lnTo>
                      <a:lnTo>
                        <a:pt x="0" y="2"/>
                      </a:lnTo>
                      <a:lnTo>
                        <a:pt x="2" y="0"/>
                      </a:lnTo>
                      <a:lnTo>
                        <a:pt x="5" y="0"/>
                      </a:lnTo>
                      <a:lnTo>
                        <a:pt x="7" y="0"/>
                      </a:lnTo>
                      <a:lnTo>
                        <a:pt x="10" y="0"/>
                      </a:lnTo>
                      <a:lnTo>
                        <a:pt x="13" y="1"/>
                      </a:lnTo>
                      <a:lnTo>
                        <a:pt x="17" y="3"/>
                      </a:lnTo>
                      <a:lnTo>
                        <a:pt x="20" y="5"/>
                      </a:lnTo>
                      <a:lnTo>
                        <a:pt x="22" y="7"/>
                      </a:lnTo>
                      <a:lnTo>
                        <a:pt x="24" y="10"/>
                      </a:lnTo>
                      <a:lnTo>
                        <a:pt x="26" y="13"/>
                      </a:lnTo>
                      <a:lnTo>
                        <a:pt x="27" y="15"/>
                      </a:lnTo>
                      <a:lnTo>
                        <a:pt x="28" y="19"/>
                      </a:lnTo>
                      <a:lnTo>
                        <a:pt x="29" y="23"/>
                      </a:lnTo>
                      <a:lnTo>
                        <a:pt x="29" y="26"/>
                      </a:lnTo>
                      <a:lnTo>
                        <a:pt x="0" y="6"/>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50" name="Freeform 261"/>
                <p:cNvSpPr>
                  <a:spLocks/>
                </p:cNvSpPr>
                <p:nvPr/>
              </p:nvSpPr>
              <p:spPr bwMode="auto">
                <a:xfrm>
                  <a:off x="2809" y="3158"/>
                  <a:ext cx="66" cy="85"/>
                </a:xfrm>
                <a:custGeom>
                  <a:avLst/>
                  <a:gdLst>
                    <a:gd name="T0" fmla="*/ 0 w 66"/>
                    <a:gd name="T1" fmla="*/ 84 h 85"/>
                    <a:gd name="T2" fmla="*/ 53 w 66"/>
                    <a:gd name="T3" fmla="*/ 44 h 85"/>
                    <a:gd name="T4" fmla="*/ 65 w 66"/>
                    <a:gd name="T5" fmla="*/ 0 h 85"/>
                    <a:gd name="T6" fmla="*/ 50 w 66"/>
                    <a:gd name="T7" fmla="*/ 15 h 85"/>
                    <a:gd name="T8" fmla="*/ 47 w 66"/>
                    <a:gd name="T9" fmla="*/ 21 h 85"/>
                    <a:gd name="T10" fmla="*/ 45 w 66"/>
                    <a:gd name="T11" fmla="*/ 17 h 85"/>
                    <a:gd name="T12" fmla="*/ 30 w 66"/>
                    <a:gd name="T13" fmla="*/ 40 h 85"/>
                    <a:gd name="T14" fmla="*/ 29 w 66"/>
                    <a:gd name="T15" fmla="*/ 34 h 85"/>
                    <a:gd name="T16" fmla="*/ 11 w 66"/>
                    <a:gd name="T17" fmla="*/ 56 h 85"/>
                    <a:gd name="T18" fmla="*/ 0 w 66"/>
                    <a:gd name="T19" fmla="*/ 84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85">
                      <a:moveTo>
                        <a:pt x="0" y="84"/>
                      </a:moveTo>
                      <a:lnTo>
                        <a:pt x="53" y="44"/>
                      </a:lnTo>
                      <a:lnTo>
                        <a:pt x="65" y="0"/>
                      </a:lnTo>
                      <a:lnTo>
                        <a:pt x="50" y="15"/>
                      </a:lnTo>
                      <a:lnTo>
                        <a:pt x="47" y="21"/>
                      </a:lnTo>
                      <a:lnTo>
                        <a:pt x="45" y="17"/>
                      </a:lnTo>
                      <a:lnTo>
                        <a:pt x="30" y="40"/>
                      </a:lnTo>
                      <a:lnTo>
                        <a:pt x="29" y="34"/>
                      </a:lnTo>
                      <a:lnTo>
                        <a:pt x="11" y="56"/>
                      </a:lnTo>
                      <a:lnTo>
                        <a:pt x="0" y="84"/>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51" name="Freeform 262"/>
                <p:cNvSpPr>
                  <a:spLocks/>
                </p:cNvSpPr>
                <p:nvPr/>
              </p:nvSpPr>
              <p:spPr bwMode="auto">
                <a:xfrm>
                  <a:off x="2812" y="3207"/>
                  <a:ext cx="58" cy="42"/>
                </a:xfrm>
                <a:custGeom>
                  <a:avLst/>
                  <a:gdLst>
                    <a:gd name="T0" fmla="*/ 6 w 58"/>
                    <a:gd name="T1" fmla="*/ 33 h 42"/>
                    <a:gd name="T2" fmla="*/ 57 w 58"/>
                    <a:gd name="T3" fmla="*/ 0 h 42"/>
                    <a:gd name="T4" fmla="*/ 43 w 58"/>
                    <a:gd name="T5" fmla="*/ 14 h 42"/>
                    <a:gd name="T6" fmla="*/ 0 w 58"/>
                    <a:gd name="T7" fmla="*/ 41 h 42"/>
                    <a:gd name="T8" fmla="*/ 6 w 58"/>
                    <a:gd name="T9" fmla="*/ 33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8" h="42">
                      <a:moveTo>
                        <a:pt x="6" y="33"/>
                      </a:moveTo>
                      <a:lnTo>
                        <a:pt x="57" y="0"/>
                      </a:lnTo>
                      <a:lnTo>
                        <a:pt x="43" y="14"/>
                      </a:lnTo>
                      <a:lnTo>
                        <a:pt x="0" y="41"/>
                      </a:lnTo>
                      <a:lnTo>
                        <a:pt x="6" y="33"/>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52" name="Freeform 263"/>
                <p:cNvSpPr>
                  <a:spLocks/>
                </p:cNvSpPr>
                <p:nvPr/>
              </p:nvSpPr>
              <p:spPr bwMode="auto">
                <a:xfrm>
                  <a:off x="2814" y="3226"/>
                  <a:ext cx="108" cy="36"/>
                </a:xfrm>
                <a:custGeom>
                  <a:avLst/>
                  <a:gdLst>
                    <a:gd name="T0" fmla="*/ 0 w 108"/>
                    <a:gd name="T1" fmla="*/ 30 h 36"/>
                    <a:gd name="T2" fmla="*/ 67 w 108"/>
                    <a:gd name="T3" fmla="*/ 0 h 36"/>
                    <a:gd name="T4" fmla="*/ 107 w 108"/>
                    <a:gd name="T5" fmla="*/ 15 h 36"/>
                    <a:gd name="T6" fmla="*/ 86 w 108"/>
                    <a:gd name="T7" fmla="*/ 19 h 36"/>
                    <a:gd name="T8" fmla="*/ 79 w 108"/>
                    <a:gd name="T9" fmla="*/ 19 h 36"/>
                    <a:gd name="T10" fmla="*/ 83 w 108"/>
                    <a:gd name="T11" fmla="*/ 22 h 36"/>
                    <a:gd name="T12" fmla="*/ 61 w 108"/>
                    <a:gd name="T13" fmla="*/ 27 h 36"/>
                    <a:gd name="T14" fmla="*/ 54 w 108"/>
                    <a:gd name="T15" fmla="*/ 27 h 36"/>
                    <a:gd name="T16" fmla="*/ 59 w 108"/>
                    <a:gd name="T17" fmla="*/ 29 h 36"/>
                    <a:gd name="T18" fmla="*/ 29 w 108"/>
                    <a:gd name="T19" fmla="*/ 35 h 36"/>
                    <a:gd name="T20" fmla="*/ 0 w 108"/>
                    <a:gd name="T21" fmla="*/ 3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36">
                      <a:moveTo>
                        <a:pt x="0" y="30"/>
                      </a:moveTo>
                      <a:lnTo>
                        <a:pt x="67" y="0"/>
                      </a:lnTo>
                      <a:lnTo>
                        <a:pt x="107" y="15"/>
                      </a:lnTo>
                      <a:lnTo>
                        <a:pt x="86" y="19"/>
                      </a:lnTo>
                      <a:lnTo>
                        <a:pt x="79" y="19"/>
                      </a:lnTo>
                      <a:lnTo>
                        <a:pt x="83" y="22"/>
                      </a:lnTo>
                      <a:lnTo>
                        <a:pt x="61" y="27"/>
                      </a:lnTo>
                      <a:lnTo>
                        <a:pt x="54" y="27"/>
                      </a:lnTo>
                      <a:lnTo>
                        <a:pt x="59" y="29"/>
                      </a:lnTo>
                      <a:lnTo>
                        <a:pt x="29" y="35"/>
                      </a:lnTo>
                      <a:lnTo>
                        <a:pt x="0" y="3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53" name="Freeform 264"/>
                <p:cNvSpPr>
                  <a:spLocks/>
                </p:cNvSpPr>
                <p:nvPr/>
              </p:nvSpPr>
              <p:spPr bwMode="auto">
                <a:xfrm>
                  <a:off x="2790" y="3238"/>
                  <a:ext cx="32" cy="33"/>
                </a:xfrm>
                <a:custGeom>
                  <a:avLst/>
                  <a:gdLst>
                    <a:gd name="T0" fmla="*/ 20 w 32"/>
                    <a:gd name="T1" fmla="*/ 0 h 33"/>
                    <a:gd name="T2" fmla="*/ 19 w 32"/>
                    <a:gd name="T3" fmla="*/ 3 h 33"/>
                    <a:gd name="T4" fmla="*/ 19 w 32"/>
                    <a:gd name="T5" fmla="*/ 6 h 33"/>
                    <a:gd name="T6" fmla="*/ 18 w 32"/>
                    <a:gd name="T7" fmla="*/ 9 h 33"/>
                    <a:gd name="T8" fmla="*/ 19 w 32"/>
                    <a:gd name="T9" fmla="*/ 12 h 33"/>
                    <a:gd name="T10" fmla="*/ 20 w 32"/>
                    <a:gd name="T11" fmla="*/ 15 h 33"/>
                    <a:gd name="T12" fmla="*/ 21 w 32"/>
                    <a:gd name="T13" fmla="*/ 17 h 33"/>
                    <a:gd name="T14" fmla="*/ 23 w 32"/>
                    <a:gd name="T15" fmla="*/ 19 h 33"/>
                    <a:gd name="T16" fmla="*/ 26 w 32"/>
                    <a:gd name="T17" fmla="*/ 21 h 33"/>
                    <a:gd name="T18" fmla="*/ 29 w 32"/>
                    <a:gd name="T19" fmla="*/ 21 h 33"/>
                    <a:gd name="T20" fmla="*/ 31 w 32"/>
                    <a:gd name="T21" fmla="*/ 22 h 33"/>
                    <a:gd name="T22" fmla="*/ 10 w 32"/>
                    <a:gd name="T23" fmla="*/ 32 h 33"/>
                    <a:gd name="T24" fmla="*/ 8 w 32"/>
                    <a:gd name="T25" fmla="*/ 31 h 33"/>
                    <a:gd name="T26" fmla="*/ 5 w 32"/>
                    <a:gd name="T27" fmla="*/ 30 h 33"/>
                    <a:gd name="T28" fmla="*/ 3 w 32"/>
                    <a:gd name="T29" fmla="*/ 28 h 33"/>
                    <a:gd name="T30" fmla="*/ 1 w 32"/>
                    <a:gd name="T31" fmla="*/ 27 h 33"/>
                    <a:gd name="T32" fmla="*/ 0 w 32"/>
                    <a:gd name="T33" fmla="*/ 25 h 33"/>
                    <a:gd name="T34" fmla="*/ 0 w 32"/>
                    <a:gd name="T35" fmla="*/ 23 h 33"/>
                    <a:gd name="T36" fmla="*/ 0 w 32"/>
                    <a:gd name="T37" fmla="*/ 21 h 33"/>
                    <a:gd name="T38" fmla="*/ 0 w 32"/>
                    <a:gd name="T39" fmla="*/ 18 h 33"/>
                    <a:gd name="T40" fmla="*/ 1 w 32"/>
                    <a:gd name="T41" fmla="*/ 15 h 33"/>
                    <a:gd name="T42" fmla="*/ 2 w 32"/>
                    <a:gd name="T43" fmla="*/ 13 h 33"/>
                    <a:gd name="T44" fmla="*/ 20 w 32"/>
                    <a:gd name="T45" fmla="*/ 0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2" h="33">
                      <a:moveTo>
                        <a:pt x="20" y="0"/>
                      </a:moveTo>
                      <a:lnTo>
                        <a:pt x="19" y="3"/>
                      </a:lnTo>
                      <a:lnTo>
                        <a:pt x="19" y="6"/>
                      </a:lnTo>
                      <a:lnTo>
                        <a:pt x="18" y="9"/>
                      </a:lnTo>
                      <a:lnTo>
                        <a:pt x="19" y="12"/>
                      </a:lnTo>
                      <a:lnTo>
                        <a:pt x="20" y="15"/>
                      </a:lnTo>
                      <a:lnTo>
                        <a:pt x="21" y="17"/>
                      </a:lnTo>
                      <a:lnTo>
                        <a:pt x="23" y="19"/>
                      </a:lnTo>
                      <a:lnTo>
                        <a:pt x="26" y="21"/>
                      </a:lnTo>
                      <a:lnTo>
                        <a:pt x="29" y="21"/>
                      </a:lnTo>
                      <a:lnTo>
                        <a:pt x="31" y="22"/>
                      </a:lnTo>
                      <a:lnTo>
                        <a:pt x="10" y="32"/>
                      </a:lnTo>
                      <a:lnTo>
                        <a:pt x="8" y="31"/>
                      </a:lnTo>
                      <a:lnTo>
                        <a:pt x="5" y="30"/>
                      </a:lnTo>
                      <a:lnTo>
                        <a:pt x="3" y="28"/>
                      </a:lnTo>
                      <a:lnTo>
                        <a:pt x="1" y="27"/>
                      </a:lnTo>
                      <a:lnTo>
                        <a:pt x="0" y="25"/>
                      </a:lnTo>
                      <a:lnTo>
                        <a:pt x="0" y="23"/>
                      </a:lnTo>
                      <a:lnTo>
                        <a:pt x="0" y="21"/>
                      </a:lnTo>
                      <a:lnTo>
                        <a:pt x="0" y="18"/>
                      </a:lnTo>
                      <a:lnTo>
                        <a:pt x="1" y="15"/>
                      </a:lnTo>
                      <a:lnTo>
                        <a:pt x="2" y="13"/>
                      </a:lnTo>
                      <a:lnTo>
                        <a:pt x="20"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54" name="Freeform 265"/>
                <p:cNvSpPr>
                  <a:spLocks/>
                </p:cNvSpPr>
                <p:nvPr/>
              </p:nvSpPr>
              <p:spPr bwMode="auto">
                <a:xfrm>
                  <a:off x="2795" y="3245"/>
                  <a:ext cx="17" cy="23"/>
                </a:xfrm>
                <a:custGeom>
                  <a:avLst/>
                  <a:gdLst>
                    <a:gd name="T0" fmla="*/ 7 w 17"/>
                    <a:gd name="T1" fmla="*/ 0 h 23"/>
                    <a:gd name="T2" fmla="*/ 6 w 17"/>
                    <a:gd name="T3" fmla="*/ 1 h 23"/>
                    <a:gd name="T4" fmla="*/ 5 w 17"/>
                    <a:gd name="T5" fmla="*/ 4 h 23"/>
                    <a:gd name="T6" fmla="*/ 4 w 17"/>
                    <a:gd name="T7" fmla="*/ 7 h 23"/>
                    <a:gd name="T8" fmla="*/ 4 w 17"/>
                    <a:gd name="T9" fmla="*/ 9 h 23"/>
                    <a:gd name="T10" fmla="*/ 4 w 17"/>
                    <a:gd name="T11" fmla="*/ 11 h 23"/>
                    <a:gd name="T12" fmla="*/ 5 w 17"/>
                    <a:gd name="T13" fmla="*/ 14 h 23"/>
                    <a:gd name="T14" fmla="*/ 7 w 17"/>
                    <a:gd name="T15" fmla="*/ 16 h 23"/>
                    <a:gd name="T16" fmla="*/ 10 w 17"/>
                    <a:gd name="T17" fmla="*/ 18 h 23"/>
                    <a:gd name="T18" fmla="*/ 12 w 17"/>
                    <a:gd name="T19" fmla="*/ 19 h 23"/>
                    <a:gd name="T20" fmla="*/ 16 w 17"/>
                    <a:gd name="T21" fmla="*/ 20 h 23"/>
                    <a:gd name="T22" fmla="*/ 12 w 17"/>
                    <a:gd name="T23" fmla="*/ 22 h 23"/>
                    <a:gd name="T24" fmla="*/ 9 w 17"/>
                    <a:gd name="T25" fmla="*/ 21 h 23"/>
                    <a:gd name="T26" fmla="*/ 6 w 17"/>
                    <a:gd name="T27" fmla="*/ 20 h 23"/>
                    <a:gd name="T28" fmla="*/ 4 w 17"/>
                    <a:gd name="T29" fmla="*/ 19 h 23"/>
                    <a:gd name="T30" fmla="*/ 2 w 17"/>
                    <a:gd name="T31" fmla="*/ 17 h 23"/>
                    <a:gd name="T32" fmla="*/ 1 w 17"/>
                    <a:gd name="T33" fmla="*/ 14 h 23"/>
                    <a:gd name="T34" fmla="*/ 0 w 17"/>
                    <a:gd name="T35" fmla="*/ 13 h 23"/>
                    <a:gd name="T36" fmla="*/ 0 w 17"/>
                    <a:gd name="T37" fmla="*/ 11 h 23"/>
                    <a:gd name="T38" fmla="*/ 0 w 17"/>
                    <a:gd name="T39" fmla="*/ 7 h 23"/>
                    <a:gd name="T40" fmla="*/ 1 w 17"/>
                    <a:gd name="T41" fmla="*/ 5 h 23"/>
                    <a:gd name="T42" fmla="*/ 2 w 17"/>
                    <a:gd name="T43" fmla="*/ 3 h 23"/>
                    <a:gd name="T44" fmla="*/ 7 w 17"/>
                    <a:gd name="T45" fmla="*/ 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7" h="23">
                      <a:moveTo>
                        <a:pt x="7" y="0"/>
                      </a:moveTo>
                      <a:lnTo>
                        <a:pt x="6" y="1"/>
                      </a:lnTo>
                      <a:lnTo>
                        <a:pt x="5" y="4"/>
                      </a:lnTo>
                      <a:lnTo>
                        <a:pt x="4" y="7"/>
                      </a:lnTo>
                      <a:lnTo>
                        <a:pt x="4" y="9"/>
                      </a:lnTo>
                      <a:lnTo>
                        <a:pt x="4" y="11"/>
                      </a:lnTo>
                      <a:lnTo>
                        <a:pt x="5" y="14"/>
                      </a:lnTo>
                      <a:lnTo>
                        <a:pt x="7" y="16"/>
                      </a:lnTo>
                      <a:lnTo>
                        <a:pt x="10" y="18"/>
                      </a:lnTo>
                      <a:lnTo>
                        <a:pt x="12" y="19"/>
                      </a:lnTo>
                      <a:lnTo>
                        <a:pt x="16" y="20"/>
                      </a:lnTo>
                      <a:lnTo>
                        <a:pt x="12" y="22"/>
                      </a:lnTo>
                      <a:lnTo>
                        <a:pt x="9" y="21"/>
                      </a:lnTo>
                      <a:lnTo>
                        <a:pt x="6" y="20"/>
                      </a:lnTo>
                      <a:lnTo>
                        <a:pt x="4" y="19"/>
                      </a:lnTo>
                      <a:lnTo>
                        <a:pt x="2" y="17"/>
                      </a:lnTo>
                      <a:lnTo>
                        <a:pt x="1" y="14"/>
                      </a:lnTo>
                      <a:lnTo>
                        <a:pt x="0" y="13"/>
                      </a:lnTo>
                      <a:lnTo>
                        <a:pt x="0" y="11"/>
                      </a:lnTo>
                      <a:lnTo>
                        <a:pt x="0" y="7"/>
                      </a:lnTo>
                      <a:lnTo>
                        <a:pt x="1" y="5"/>
                      </a:lnTo>
                      <a:lnTo>
                        <a:pt x="2" y="3"/>
                      </a:lnTo>
                      <a:lnTo>
                        <a:pt x="7"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55" name="Freeform 266"/>
                <p:cNvSpPr>
                  <a:spLocks/>
                </p:cNvSpPr>
                <p:nvPr/>
              </p:nvSpPr>
              <p:spPr bwMode="auto">
                <a:xfrm>
                  <a:off x="2744" y="3280"/>
                  <a:ext cx="17" cy="17"/>
                </a:xfrm>
                <a:custGeom>
                  <a:avLst/>
                  <a:gdLst>
                    <a:gd name="T0" fmla="*/ 11 w 17"/>
                    <a:gd name="T1" fmla="*/ 0 h 17"/>
                    <a:gd name="T2" fmla="*/ 3 w 17"/>
                    <a:gd name="T3" fmla="*/ 6 h 17"/>
                    <a:gd name="T4" fmla="*/ 2 w 17"/>
                    <a:gd name="T5" fmla="*/ 7 h 17"/>
                    <a:gd name="T6" fmla="*/ 1 w 17"/>
                    <a:gd name="T7" fmla="*/ 9 h 17"/>
                    <a:gd name="T8" fmla="*/ 0 w 17"/>
                    <a:gd name="T9" fmla="*/ 12 h 17"/>
                    <a:gd name="T10" fmla="*/ 1 w 17"/>
                    <a:gd name="T11" fmla="*/ 14 h 17"/>
                    <a:gd name="T12" fmla="*/ 3 w 17"/>
                    <a:gd name="T13" fmla="*/ 15 h 17"/>
                    <a:gd name="T14" fmla="*/ 4 w 17"/>
                    <a:gd name="T15" fmla="*/ 16 h 17"/>
                    <a:gd name="T16" fmla="*/ 6 w 17"/>
                    <a:gd name="T17" fmla="*/ 14 h 17"/>
                    <a:gd name="T18" fmla="*/ 16 w 17"/>
                    <a:gd name="T19" fmla="*/ 10 h 17"/>
                    <a:gd name="T20" fmla="*/ 13 w 17"/>
                    <a:gd name="T21" fmla="*/ 9 h 17"/>
                    <a:gd name="T22" fmla="*/ 12 w 17"/>
                    <a:gd name="T23" fmla="*/ 8 h 17"/>
                    <a:gd name="T24" fmla="*/ 11 w 17"/>
                    <a:gd name="T25" fmla="*/ 6 h 17"/>
                    <a:gd name="T26" fmla="*/ 11 w 17"/>
                    <a:gd name="T27" fmla="*/ 4 h 17"/>
                    <a:gd name="T28" fmla="*/ 11 w 17"/>
                    <a:gd name="T29" fmla="*/ 2 h 17"/>
                    <a:gd name="T30" fmla="*/ 11 w 17"/>
                    <a:gd name="T31" fmla="*/ 0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 h="17">
                      <a:moveTo>
                        <a:pt x="11" y="0"/>
                      </a:moveTo>
                      <a:lnTo>
                        <a:pt x="3" y="6"/>
                      </a:lnTo>
                      <a:lnTo>
                        <a:pt x="2" y="7"/>
                      </a:lnTo>
                      <a:lnTo>
                        <a:pt x="1" y="9"/>
                      </a:lnTo>
                      <a:lnTo>
                        <a:pt x="0" y="12"/>
                      </a:lnTo>
                      <a:lnTo>
                        <a:pt x="1" y="14"/>
                      </a:lnTo>
                      <a:lnTo>
                        <a:pt x="3" y="15"/>
                      </a:lnTo>
                      <a:lnTo>
                        <a:pt x="4" y="16"/>
                      </a:lnTo>
                      <a:lnTo>
                        <a:pt x="6" y="14"/>
                      </a:lnTo>
                      <a:lnTo>
                        <a:pt x="16" y="10"/>
                      </a:lnTo>
                      <a:lnTo>
                        <a:pt x="13" y="9"/>
                      </a:lnTo>
                      <a:lnTo>
                        <a:pt x="12" y="8"/>
                      </a:lnTo>
                      <a:lnTo>
                        <a:pt x="11" y="6"/>
                      </a:lnTo>
                      <a:lnTo>
                        <a:pt x="11" y="4"/>
                      </a:lnTo>
                      <a:lnTo>
                        <a:pt x="11" y="2"/>
                      </a:lnTo>
                      <a:lnTo>
                        <a:pt x="11"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grpSp>
          <p:nvGrpSpPr>
            <p:cNvPr id="293948" name="Group 267"/>
            <p:cNvGrpSpPr>
              <a:grpSpLocks/>
            </p:cNvGrpSpPr>
            <p:nvPr/>
          </p:nvGrpSpPr>
          <p:grpSpPr bwMode="auto">
            <a:xfrm>
              <a:off x="3360" y="3103"/>
              <a:ext cx="143" cy="151"/>
              <a:chOff x="2532" y="3117"/>
              <a:chExt cx="162" cy="184"/>
            </a:xfrm>
          </p:grpSpPr>
          <p:sp>
            <p:nvSpPr>
              <p:cNvPr id="294126" name="Freeform 268"/>
              <p:cNvSpPr>
                <a:spLocks/>
              </p:cNvSpPr>
              <p:nvPr/>
            </p:nvSpPr>
            <p:spPr bwMode="auto">
              <a:xfrm>
                <a:off x="2535" y="3284"/>
                <a:ext cx="17" cy="17"/>
              </a:xfrm>
              <a:custGeom>
                <a:avLst/>
                <a:gdLst>
                  <a:gd name="T0" fmla="*/ 0 w 17"/>
                  <a:gd name="T1" fmla="*/ 10 h 17"/>
                  <a:gd name="T2" fmla="*/ 4 w 17"/>
                  <a:gd name="T3" fmla="*/ 0 h 17"/>
                  <a:gd name="T4" fmla="*/ 16 w 17"/>
                  <a:gd name="T5" fmla="*/ 12 h 17"/>
                  <a:gd name="T6" fmla="*/ 3 w 17"/>
                  <a:gd name="T7" fmla="*/ 16 h 17"/>
                  <a:gd name="T8" fmla="*/ 0 w 17"/>
                  <a:gd name="T9" fmla="*/ 1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10"/>
                    </a:moveTo>
                    <a:lnTo>
                      <a:pt x="4" y="0"/>
                    </a:lnTo>
                    <a:lnTo>
                      <a:pt x="16" y="12"/>
                    </a:lnTo>
                    <a:lnTo>
                      <a:pt x="3" y="16"/>
                    </a:lnTo>
                    <a:lnTo>
                      <a:pt x="0" y="10"/>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27" name="Freeform 269"/>
              <p:cNvSpPr>
                <a:spLocks/>
              </p:cNvSpPr>
              <p:nvPr/>
            </p:nvSpPr>
            <p:spPr bwMode="auto">
              <a:xfrm>
                <a:off x="2533" y="3271"/>
                <a:ext cx="18" cy="21"/>
              </a:xfrm>
              <a:custGeom>
                <a:avLst/>
                <a:gdLst>
                  <a:gd name="T0" fmla="*/ 0 w 18"/>
                  <a:gd name="T1" fmla="*/ 0 h 21"/>
                  <a:gd name="T2" fmla="*/ 10 w 18"/>
                  <a:gd name="T3" fmla="*/ 9 h 21"/>
                  <a:gd name="T4" fmla="*/ 17 w 18"/>
                  <a:gd name="T5" fmla="*/ 20 h 21"/>
                  <a:gd name="T6" fmla="*/ 6 w 18"/>
                  <a:gd name="T7" fmla="*/ 12 h 21"/>
                  <a:gd name="T8" fmla="*/ 0 w 18"/>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1">
                    <a:moveTo>
                      <a:pt x="0" y="0"/>
                    </a:moveTo>
                    <a:lnTo>
                      <a:pt x="10" y="9"/>
                    </a:lnTo>
                    <a:lnTo>
                      <a:pt x="17" y="20"/>
                    </a:lnTo>
                    <a:lnTo>
                      <a:pt x="6"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28" name="Freeform 270"/>
              <p:cNvSpPr>
                <a:spLocks/>
              </p:cNvSpPr>
              <p:nvPr/>
            </p:nvSpPr>
            <p:spPr bwMode="auto">
              <a:xfrm>
                <a:off x="2532" y="3271"/>
                <a:ext cx="17" cy="19"/>
              </a:xfrm>
              <a:custGeom>
                <a:avLst/>
                <a:gdLst>
                  <a:gd name="T0" fmla="*/ 2 w 17"/>
                  <a:gd name="T1" fmla="*/ 0 h 19"/>
                  <a:gd name="T2" fmla="*/ 16 w 17"/>
                  <a:gd name="T3" fmla="*/ 12 h 19"/>
                  <a:gd name="T4" fmla="*/ 5 w 17"/>
                  <a:gd name="T5" fmla="*/ 18 h 19"/>
                  <a:gd name="T6" fmla="*/ 0 w 17"/>
                  <a:gd name="T7" fmla="*/ 15 h 19"/>
                  <a:gd name="T8" fmla="*/ 2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2" y="0"/>
                    </a:moveTo>
                    <a:lnTo>
                      <a:pt x="16" y="12"/>
                    </a:lnTo>
                    <a:lnTo>
                      <a:pt x="5" y="18"/>
                    </a:lnTo>
                    <a:lnTo>
                      <a:pt x="0" y="15"/>
                    </a:lnTo>
                    <a:lnTo>
                      <a:pt x="2"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29" name="Freeform 271"/>
              <p:cNvSpPr>
                <a:spLocks/>
              </p:cNvSpPr>
              <p:nvPr/>
            </p:nvSpPr>
            <p:spPr bwMode="auto">
              <a:xfrm>
                <a:off x="2538" y="3161"/>
                <a:ext cx="117" cy="125"/>
              </a:xfrm>
              <a:custGeom>
                <a:avLst/>
                <a:gdLst>
                  <a:gd name="T0" fmla="*/ 87 w 117"/>
                  <a:gd name="T1" fmla="*/ 0 h 125"/>
                  <a:gd name="T2" fmla="*/ 0 w 117"/>
                  <a:gd name="T3" fmla="*/ 118 h 125"/>
                  <a:gd name="T4" fmla="*/ 0 w 117"/>
                  <a:gd name="T5" fmla="*/ 119 h 125"/>
                  <a:gd name="T6" fmla="*/ 0 w 117"/>
                  <a:gd name="T7" fmla="*/ 121 h 125"/>
                  <a:gd name="T8" fmla="*/ 0 w 117"/>
                  <a:gd name="T9" fmla="*/ 122 h 125"/>
                  <a:gd name="T10" fmla="*/ 1 w 117"/>
                  <a:gd name="T11" fmla="*/ 124 h 125"/>
                  <a:gd name="T12" fmla="*/ 3 w 117"/>
                  <a:gd name="T13" fmla="*/ 124 h 125"/>
                  <a:gd name="T14" fmla="*/ 5 w 117"/>
                  <a:gd name="T15" fmla="*/ 124 h 125"/>
                  <a:gd name="T16" fmla="*/ 116 w 117"/>
                  <a:gd name="T17" fmla="*/ 24 h 125"/>
                  <a:gd name="T18" fmla="*/ 87 w 117"/>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7" h="125">
                    <a:moveTo>
                      <a:pt x="87" y="0"/>
                    </a:moveTo>
                    <a:lnTo>
                      <a:pt x="0" y="118"/>
                    </a:lnTo>
                    <a:lnTo>
                      <a:pt x="0" y="119"/>
                    </a:lnTo>
                    <a:lnTo>
                      <a:pt x="0" y="121"/>
                    </a:lnTo>
                    <a:lnTo>
                      <a:pt x="0" y="122"/>
                    </a:lnTo>
                    <a:lnTo>
                      <a:pt x="1" y="124"/>
                    </a:lnTo>
                    <a:lnTo>
                      <a:pt x="3" y="124"/>
                    </a:lnTo>
                    <a:lnTo>
                      <a:pt x="5" y="124"/>
                    </a:lnTo>
                    <a:lnTo>
                      <a:pt x="116" y="24"/>
                    </a:lnTo>
                    <a:lnTo>
                      <a:pt x="87"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30" name="Freeform 272"/>
              <p:cNvSpPr>
                <a:spLocks/>
              </p:cNvSpPr>
              <p:nvPr/>
            </p:nvSpPr>
            <p:spPr bwMode="auto">
              <a:xfrm>
                <a:off x="2623" y="3149"/>
                <a:ext cx="49" cy="24"/>
              </a:xfrm>
              <a:custGeom>
                <a:avLst/>
                <a:gdLst>
                  <a:gd name="T0" fmla="*/ 13 w 49"/>
                  <a:gd name="T1" fmla="*/ 0 h 24"/>
                  <a:gd name="T2" fmla="*/ 48 w 49"/>
                  <a:gd name="T3" fmla="*/ 11 h 24"/>
                  <a:gd name="T4" fmla="*/ 45 w 49"/>
                  <a:gd name="T5" fmla="*/ 13 h 24"/>
                  <a:gd name="T6" fmla="*/ 45 w 49"/>
                  <a:gd name="T7" fmla="*/ 16 h 24"/>
                  <a:gd name="T8" fmla="*/ 16 w 49"/>
                  <a:gd name="T9" fmla="*/ 6 h 24"/>
                  <a:gd name="T10" fmla="*/ 0 w 49"/>
                  <a:gd name="T11" fmla="*/ 23 h 24"/>
                  <a:gd name="T12" fmla="*/ 0 w 49"/>
                  <a:gd name="T13" fmla="*/ 16 h 24"/>
                  <a:gd name="T14" fmla="*/ 13 w 49"/>
                  <a:gd name="T15" fmla="*/ 0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9" h="24">
                    <a:moveTo>
                      <a:pt x="13" y="0"/>
                    </a:moveTo>
                    <a:lnTo>
                      <a:pt x="48" y="11"/>
                    </a:lnTo>
                    <a:lnTo>
                      <a:pt x="45" y="13"/>
                    </a:lnTo>
                    <a:lnTo>
                      <a:pt x="45" y="16"/>
                    </a:lnTo>
                    <a:lnTo>
                      <a:pt x="16" y="6"/>
                    </a:lnTo>
                    <a:lnTo>
                      <a:pt x="0" y="23"/>
                    </a:lnTo>
                    <a:lnTo>
                      <a:pt x="0" y="16"/>
                    </a:lnTo>
                    <a:lnTo>
                      <a:pt x="13"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31" name="Freeform 273"/>
              <p:cNvSpPr>
                <a:spLocks/>
              </p:cNvSpPr>
              <p:nvPr/>
            </p:nvSpPr>
            <p:spPr bwMode="auto">
              <a:xfrm>
                <a:off x="2638" y="3154"/>
                <a:ext cx="35" cy="21"/>
              </a:xfrm>
              <a:custGeom>
                <a:avLst/>
                <a:gdLst>
                  <a:gd name="T0" fmla="*/ 0 w 35"/>
                  <a:gd name="T1" fmla="*/ 0 h 21"/>
                  <a:gd name="T2" fmla="*/ 33 w 35"/>
                  <a:gd name="T3" fmla="*/ 9 h 21"/>
                  <a:gd name="T4" fmla="*/ 34 w 35"/>
                  <a:gd name="T5" fmla="*/ 12 h 21"/>
                  <a:gd name="T6" fmla="*/ 33 w 35"/>
                  <a:gd name="T7" fmla="*/ 15 h 21"/>
                  <a:gd name="T8" fmla="*/ 31 w 35"/>
                  <a:gd name="T9" fmla="*/ 18 h 21"/>
                  <a:gd name="T10" fmla="*/ 26 w 35"/>
                  <a:gd name="T11" fmla="*/ 20 h 21"/>
                  <a:gd name="T12" fmla="*/ 17 w 35"/>
                  <a:gd name="T13" fmla="*/ 17 h 21"/>
                  <a:gd name="T14" fmla="*/ 6 w 35"/>
                  <a:gd name="T15" fmla="*/ 10 h 21"/>
                  <a:gd name="T16" fmla="*/ 0 w 35"/>
                  <a:gd name="T17" fmla="*/ 4 h 21"/>
                  <a:gd name="T18" fmla="*/ 0 w 35"/>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21">
                    <a:moveTo>
                      <a:pt x="0" y="0"/>
                    </a:moveTo>
                    <a:lnTo>
                      <a:pt x="33" y="9"/>
                    </a:lnTo>
                    <a:lnTo>
                      <a:pt x="34" y="12"/>
                    </a:lnTo>
                    <a:lnTo>
                      <a:pt x="33" y="15"/>
                    </a:lnTo>
                    <a:lnTo>
                      <a:pt x="31" y="18"/>
                    </a:lnTo>
                    <a:lnTo>
                      <a:pt x="26" y="20"/>
                    </a:lnTo>
                    <a:lnTo>
                      <a:pt x="17" y="17"/>
                    </a:lnTo>
                    <a:lnTo>
                      <a:pt x="6" y="10"/>
                    </a:lnTo>
                    <a:lnTo>
                      <a:pt x="0" y="4"/>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32" name="Freeform 274"/>
              <p:cNvSpPr>
                <a:spLocks/>
              </p:cNvSpPr>
              <p:nvPr/>
            </p:nvSpPr>
            <p:spPr bwMode="auto">
              <a:xfrm>
                <a:off x="2635" y="3141"/>
                <a:ext cx="37" cy="21"/>
              </a:xfrm>
              <a:custGeom>
                <a:avLst/>
                <a:gdLst>
                  <a:gd name="T0" fmla="*/ 1 w 37"/>
                  <a:gd name="T1" fmla="*/ 9 h 21"/>
                  <a:gd name="T2" fmla="*/ 36 w 37"/>
                  <a:gd name="T3" fmla="*/ 20 h 21"/>
                  <a:gd name="T4" fmla="*/ 35 w 37"/>
                  <a:gd name="T5" fmla="*/ 16 h 21"/>
                  <a:gd name="T6" fmla="*/ 33 w 37"/>
                  <a:gd name="T7" fmla="*/ 13 h 21"/>
                  <a:gd name="T8" fmla="*/ 31 w 37"/>
                  <a:gd name="T9" fmla="*/ 10 h 21"/>
                  <a:gd name="T10" fmla="*/ 29 w 37"/>
                  <a:gd name="T11" fmla="*/ 7 h 21"/>
                  <a:gd name="T12" fmla="*/ 26 w 37"/>
                  <a:gd name="T13" fmla="*/ 4 h 21"/>
                  <a:gd name="T14" fmla="*/ 23 w 37"/>
                  <a:gd name="T15" fmla="*/ 3 h 21"/>
                  <a:gd name="T16" fmla="*/ 19 w 37"/>
                  <a:gd name="T17" fmla="*/ 1 h 21"/>
                  <a:gd name="T18" fmla="*/ 15 w 37"/>
                  <a:gd name="T19" fmla="*/ 0 h 21"/>
                  <a:gd name="T20" fmla="*/ 12 w 37"/>
                  <a:gd name="T21" fmla="*/ 0 h 21"/>
                  <a:gd name="T22" fmla="*/ 9 w 37"/>
                  <a:gd name="T23" fmla="*/ 0 h 21"/>
                  <a:gd name="T24" fmla="*/ 7 w 37"/>
                  <a:gd name="T25" fmla="*/ 0 h 21"/>
                  <a:gd name="T26" fmla="*/ 4 w 37"/>
                  <a:gd name="T27" fmla="*/ 1 h 21"/>
                  <a:gd name="T28" fmla="*/ 1 w 37"/>
                  <a:gd name="T29" fmla="*/ 3 h 21"/>
                  <a:gd name="T30" fmla="*/ 0 w 37"/>
                  <a:gd name="T31" fmla="*/ 5 h 21"/>
                  <a:gd name="T32" fmla="*/ 0 w 37"/>
                  <a:gd name="T33" fmla="*/ 9 h 21"/>
                  <a:gd name="T34" fmla="*/ 1 w 37"/>
                  <a:gd name="T35" fmla="*/ 9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21">
                    <a:moveTo>
                      <a:pt x="1" y="9"/>
                    </a:moveTo>
                    <a:lnTo>
                      <a:pt x="36" y="20"/>
                    </a:lnTo>
                    <a:lnTo>
                      <a:pt x="35" y="16"/>
                    </a:lnTo>
                    <a:lnTo>
                      <a:pt x="33" y="13"/>
                    </a:lnTo>
                    <a:lnTo>
                      <a:pt x="31" y="10"/>
                    </a:lnTo>
                    <a:lnTo>
                      <a:pt x="29" y="7"/>
                    </a:lnTo>
                    <a:lnTo>
                      <a:pt x="26" y="4"/>
                    </a:lnTo>
                    <a:lnTo>
                      <a:pt x="23" y="3"/>
                    </a:lnTo>
                    <a:lnTo>
                      <a:pt x="19" y="1"/>
                    </a:lnTo>
                    <a:lnTo>
                      <a:pt x="15" y="0"/>
                    </a:lnTo>
                    <a:lnTo>
                      <a:pt x="12" y="0"/>
                    </a:lnTo>
                    <a:lnTo>
                      <a:pt x="9" y="0"/>
                    </a:lnTo>
                    <a:lnTo>
                      <a:pt x="7" y="0"/>
                    </a:lnTo>
                    <a:lnTo>
                      <a:pt x="4" y="1"/>
                    </a:lnTo>
                    <a:lnTo>
                      <a:pt x="1" y="3"/>
                    </a:lnTo>
                    <a:lnTo>
                      <a:pt x="0" y="5"/>
                    </a:lnTo>
                    <a:lnTo>
                      <a:pt x="0" y="9"/>
                    </a:lnTo>
                    <a:lnTo>
                      <a:pt x="1" y="9"/>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33" name="Freeform 275"/>
              <p:cNvSpPr>
                <a:spLocks/>
              </p:cNvSpPr>
              <p:nvPr/>
            </p:nvSpPr>
            <p:spPr bwMode="auto">
              <a:xfrm>
                <a:off x="2621" y="3147"/>
                <a:ext cx="50" cy="45"/>
              </a:xfrm>
              <a:custGeom>
                <a:avLst/>
                <a:gdLst>
                  <a:gd name="T0" fmla="*/ 14 w 50"/>
                  <a:gd name="T1" fmla="*/ 0 h 45"/>
                  <a:gd name="T2" fmla="*/ 0 w 50"/>
                  <a:gd name="T3" fmla="*/ 19 h 45"/>
                  <a:gd name="T4" fmla="*/ 0 w 50"/>
                  <a:gd name="T5" fmla="*/ 22 h 45"/>
                  <a:gd name="T6" fmla="*/ 0 w 50"/>
                  <a:gd name="T7" fmla="*/ 24 h 45"/>
                  <a:gd name="T8" fmla="*/ 0 w 50"/>
                  <a:gd name="T9" fmla="*/ 27 h 45"/>
                  <a:gd name="T10" fmla="*/ 0 w 50"/>
                  <a:gd name="T11" fmla="*/ 31 h 45"/>
                  <a:gd name="T12" fmla="*/ 2 w 50"/>
                  <a:gd name="T13" fmla="*/ 34 h 45"/>
                  <a:gd name="T14" fmla="*/ 4 w 50"/>
                  <a:gd name="T15" fmla="*/ 36 h 45"/>
                  <a:gd name="T16" fmla="*/ 7 w 50"/>
                  <a:gd name="T17" fmla="*/ 39 h 45"/>
                  <a:gd name="T18" fmla="*/ 11 w 50"/>
                  <a:gd name="T19" fmla="*/ 41 h 45"/>
                  <a:gd name="T20" fmla="*/ 14 w 50"/>
                  <a:gd name="T21" fmla="*/ 42 h 45"/>
                  <a:gd name="T22" fmla="*/ 18 w 50"/>
                  <a:gd name="T23" fmla="*/ 43 h 45"/>
                  <a:gd name="T24" fmla="*/ 23 w 50"/>
                  <a:gd name="T25" fmla="*/ 44 h 45"/>
                  <a:gd name="T26" fmla="*/ 25 w 50"/>
                  <a:gd name="T27" fmla="*/ 43 h 45"/>
                  <a:gd name="T28" fmla="*/ 29 w 50"/>
                  <a:gd name="T29" fmla="*/ 42 h 45"/>
                  <a:gd name="T30" fmla="*/ 49 w 50"/>
                  <a:gd name="T31" fmla="*/ 24 h 45"/>
                  <a:gd name="T32" fmla="*/ 46 w 50"/>
                  <a:gd name="T33" fmla="*/ 25 h 45"/>
                  <a:gd name="T34" fmla="*/ 43 w 50"/>
                  <a:gd name="T35" fmla="*/ 25 h 45"/>
                  <a:gd name="T36" fmla="*/ 38 w 50"/>
                  <a:gd name="T37" fmla="*/ 24 h 45"/>
                  <a:gd name="T38" fmla="*/ 36 w 50"/>
                  <a:gd name="T39" fmla="*/ 24 h 45"/>
                  <a:gd name="T40" fmla="*/ 32 w 50"/>
                  <a:gd name="T41" fmla="*/ 22 h 45"/>
                  <a:gd name="T42" fmla="*/ 28 w 50"/>
                  <a:gd name="T43" fmla="*/ 19 h 45"/>
                  <a:gd name="T44" fmla="*/ 24 w 50"/>
                  <a:gd name="T45" fmla="*/ 17 h 45"/>
                  <a:gd name="T46" fmla="*/ 22 w 50"/>
                  <a:gd name="T47" fmla="*/ 15 h 45"/>
                  <a:gd name="T48" fmla="*/ 20 w 50"/>
                  <a:gd name="T49" fmla="*/ 12 h 45"/>
                  <a:gd name="T50" fmla="*/ 18 w 50"/>
                  <a:gd name="T51" fmla="*/ 9 h 45"/>
                  <a:gd name="T52" fmla="*/ 17 w 50"/>
                  <a:gd name="T53" fmla="*/ 7 h 45"/>
                  <a:gd name="T54" fmla="*/ 2 w 50"/>
                  <a:gd name="T55" fmla="*/ 22 h 45"/>
                  <a:gd name="T56" fmla="*/ 2 w 50"/>
                  <a:gd name="T57" fmla="*/ 19 h 45"/>
                  <a:gd name="T58" fmla="*/ 15 w 50"/>
                  <a:gd name="T59" fmla="*/ 3 h 45"/>
                  <a:gd name="T60" fmla="*/ 15 w 50"/>
                  <a:gd name="T61" fmla="*/ 2 h 45"/>
                  <a:gd name="T62" fmla="*/ 14 w 50"/>
                  <a:gd name="T63" fmla="*/ 1 h 45"/>
                  <a:gd name="T64" fmla="*/ 14 w 50"/>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45">
                    <a:moveTo>
                      <a:pt x="14" y="0"/>
                    </a:moveTo>
                    <a:lnTo>
                      <a:pt x="0" y="19"/>
                    </a:lnTo>
                    <a:lnTo>
                      <a:pt x="0" y="22"/>
                    </a:lnTo>
                    <a:lnTo>
                      <a:pt x="0" y="24"/>
                    </a:lnTo>
                    <a:lnTo>
                      <a:pt x="0" y="27"/>
                    </a:lnTo>
                    <a:lnTo>
                      <a:pt x="0" y="31"/>
                    </a:lnTo>
                    <a:lnTo>
                      <a:pt x="2" y="34"/>
                    </a:lnTo>
                    <a:lnTo>
                      <a:pt x="4" y="36"/>
                    </a:lnTo>
                    <a:lnTo>
                      <a:pt x="7" y="39"/>
                    </a:lnTo>
                    <a:lnTo>
                      <a:pt x="11" y="41"/>
                    </a:lnTo>
                    <a:lnTo>
                      <a:pt x="14" y="42"/>
                    </a:lnTo>
                    <a:lnTo>
                      <a:pt x="18" y="43"/>
                    </a:lnTo>
                    <a:lnTo>
                      <a:pt x="23" y="44"/>
                    </a:lnTo>
                    <a:lnTo>
                      <a:pt x="25" y="43"/>
                    </a:lnTo>
                    <a:lnTo>
                      <a:pt x="29" y="42"/>
                    </a:lnTo>
                    <a:lnTo>
                      <a:pt x="49" y="24"/>
                    </a:lnTo>
                    <a:lnTo>
                      <a:pt x="46" y="25"/>
                    </a:lnTo>
                    <a:lnTo>
                      <a:pt x="43" y="25"/>
                    </a:lnTo>
                    <a:lnTo>
                      <a:pt x="38" y="24"/>
                    </a:lnTo>
                    <a:lnTo>
                      <a:pt x="36" y="24"/>
                    </a:lnTo>
                    <a:lnTo>
                      <a:pt x="32" y="22"/>
                    </a:lnTo>
                    <a:lnTo>
                      <a:pt x="28" y="19"/>
                    </a:lnTo>
                    <a:lnTo>
                      <a:pt x="24" y="17"/>
                    </a:lnTo>
                    <a:lnTo>
                      <a:pt x="22" y="15"/>
                    </a:lnTo>
                    <a:lnTo>
                      <a:pt x="20" y="12"/>
                    </a:lnTo>
                    <a:lnTo>
                      <a:pt x="18" y="9"/>
                    </a:lnTo>
                    <a:lnTo>
                      <a:pt x="17" y="7"/>
                    </a:lnTo>
                    <a:lnTo>
                      <a:pt x="2" y="22"/>
                    </a:lnTo>
                    <a:lnTo>
                      <a:pt x="2" y="19"/>
                    </a:lnTo>
                    <a:lnTo>
                      <a:pt x="15" y="3"/>
                    </a:lnTo>
                    <a:lnTo>
                      <a:pt x="15" y="2"/>
                    </a:lnTo>
                    <a:lnTo>
                      <a:pt x="14" y="1"/>
                    </a:lnTo>
                    <a:lnTo>
                      <a:pt x="14"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293952" name="Group 276"/>
              <p:cNvGrpSpPr>
                <a:grpSpLocks/>
              </p:cNvGrpSpPr>
              <p:nvPr/>
            </p:nvGrpSpPr>
            <p:grpSpPr bwMode="auto">
              <a:xfrm>
                <a:off x="2586" y="3117"/>
                <a:ext cx="108" cy="114"/>
                <a:chOff x="2586" y="3117"/>
                <a:chExt cx="108" cy="114"/>
              </a:xfrm>
            </p:grpSpPr>
            <p:sp>
              <p:nvSpPr>
                <p:cNvPr id="294138" name="Freeform 277"/>
                <p:cNvSpPr>
                  <a:spLocks/>
                </p:cNvSpPr>
                <p:nvPr/>
              </p:nvSpPr>
              <p:spPr bwMode="auto">
                <a:xfrm>
                  <a:off x="2595" y="3182"/>
                  <a:ext cx="99" cy="49"/>
                </a:xfrm>
                <a:custGeom>
                  <a:avLst/>
                  <a:gdLst>
                    <a:gd name="T0" fmla="*/ 0 w 99"/>
                    <a:gd name="T1" fmla="*/ 48 h 49"/>
                    <a:gd name="T2" fmla="*/ 56 w 99"/>
                    <a:gd name="T3" fmla="*/ 0 h 49"/>
                    <a:gd name="T4" fmla="*/ 98 w 99"/>
                    <a:gd name="T5" fmla="*/ 2 h 49"/>
                    <a:gd name="T6" fmla="*/ 74 w 99"/>
                    <a:gd name="T7" fmla="*/ 14 h 49"/>
                    <a:gd name="T8" fmla="*/ 78 w 99"/>
                    <a:gd name="T9" fmla="*/ 16 h 49"/>
                    <a:gd name="T10" fmla="*/ 52 w 99"/>
                    <a:gd name="T11" fmla="*/ 29 h 49"/>
                    <a:gd name="T12" fmla="*/ 57 w 99"/>
                    <a:gd name="T13" fmla="*/ 30 h 49"/>
                    <a:gd name="T14" fmla="*/ 28 w 99"/>
                    <a:gd name="T15" fmla="*/ 43 h 49"/>
                    <a:gd name="T16" fmla="*/ 0 w 99"/>
                    <a:gd name="T17" fmla="*/ 48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9" h="49">
                      <a:moveTo>
                        <a:pt x="0" y="48"/>
                      </a:moveTo>
                      <a:lnTo>
                        <a:pt x="56" y="0"/>
                      </a:lnTo>
                      <a:lnTo>
                        <a:pt x="98" y="2"/>
                      </a:lnTo>
                      <a:lnTo>
                        <a:pt x="74" y="14"/>
                      </a:lnTo>
                      <a:lnTo>
                        <a:pt x="78" y="16"/>
                      </a:lnTo>
                      <a:lnTo>
                        <a:pt x="52" y="29"/>
                      </a:lnTo>
                      <a:lnTo>
                        <a:pt x="57" y="30"/>
                      </a:lnTo>
                      <a:lnTo>
                        <a:pt x="28" y="43"/>
                      </a:lnTo>
                      <a:lnTo>
                        <a:pt x="0" y="4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39" name="Freeform 278"/>
                <p:cNvSpPr>
                  <a:spLocks/>
                </p:cNvSpPr>
                <p:nvPr/>
              </p:nvSpPr>
              <p:spPr bwMode="auto">
                <a:xfrm>
                  <a:off x="2590" y="3166"/>
                  <a:ext cx="45" cy="58"/>
                </a:xfrm>
                <a:custGeom>
                  <a:avLst/>
                  <a:gdLst>
                    <a:gd name="T0" fmla="*/ 4 w 45"/>
                    <a:gd name="T1" fmla="*/ 47 h 58"/>
                    <a:gd name="T2" fmla="*/ 44 w 45"/>
                    <a:gd name="T3" fmla="*/ 0 h 58"/>
                    <a:gd name="T4" fmla="*/ 35 w 45"/>
                    <a:gd name="T5" fmla="*/ 18 h 58"/>
                    <a:gd name="T6" fmla="*/ 0 w 45"/>
                    <a:gd name="T7" fmla="*/ 57 h 58"/>
                    <a:gd name="T8" fmla="*/ 4 w 45"/>
                    <a:gd name="T9" fmla="*/ 47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58">
                      <a:moveTo>
                        <a:pt x="4" y="47"/>
                      </a:moveTo>
                      <a:lnTo>
                        <a:pt x="44" y="0"/>
                      </a:lnTo>
                      <a:lnTo>
                        <a:pt x="35" y="18"/>
                      </a:lnTo>
                      <a:lnTo>
                        <a:pt x="0" y="57"/>
                      </a:lnTo>
                      <a:lnTo>
                        <a:pt x="4" y="47"/>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40" name="Freeform 279"/>
                <p:cNvSpPr>
                  <a:spLocks/>
                </p:cNvSpPr>
                <p:nvPr/>
              </p:nvSpPr>
              <p:spPr bwMode="auto">
                <a:xfrm>
                  <a:off x="2586" y="3117"/>
                  <a:ext cx="41" cy="103"/>
                </a:xfrm>
                <a:custGeom>
                  <a:avLst/>
                  <a:gdLst>
                    <a:gd name="T0" fmla="*/ 0 w 41"/>
                    <a:gd name="T1" fmla="*/ 102 h 103"/>
                    <a:gd name="T2" fmla="*/ 40 w 41"/>
                    <a:gd name="T3" fmla="*/ 47 h 103"/>
                    <a:gd name="T4" fmla="*/ 38 w 41"/>
                    <a:gd name="T5" fmla="*/ 0 h 103"/>
                    <a:gd name="T6" fmla="*/ 29 w 41"/>
                    <a:gd name="T7" fmla="*/ 20 h 103"/>
                    <a:gd name="T8" fmla="*/ 28 w 41"/>
                    <a:gd name="T9" fmla="*/ 27 h 103"/>
                    <a:gd name="T10" fmla="*/ 24 w 41"/>
                    <a:gd name="T11" fmla="*/ 23 h 103"/>
                    <a:gd name="T12" fmla="*/ 16 w 41"/>
                    <a:gd name="T13" fmla="*/ 49 h 103"/>
                    <a:gd name="T14" fmla="*/ 14 w 41"/>
                    <a:gd name="T15" fmla="*/ 45 h 103"/>
                    <a:gd name="T16" fmla="*/ 3 w 41"/>
                    <a:gd name="T17" fmla="*/ 71 h 103"/>
                    <a:gd name="T18" fmla="*/ 0 w 41"/>
                    <a:gd name="T19" fmla="*/ 102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103">
                      <a:moveTo>
                        <a:pt x="0" y="102"/>
                      </a:moveTo>
                      <a:lnTo>
                        <a:pt x="40" y="47"/>
                      </a:lnTo>
                      <a:lnTo>
                        <a:pt x="38" y="0"/>
                      </a:lnTo>
                      <a:lnTo>
                        <a:pt x="29" y="20"/>
                      </a:lnTo>
                      <a:lnTo>
                        <a:pt x="28" y="27"/>
                      </a:lnTo>
                      <a:lnTo>
                        <a:pt x="24" y="23"/>
                      </a:lnTo>
                      <a:lnTo>
                        <a:pt x="16" y="49"/>
                      </a:lnTo>
                      <a:lnTo>
                        <a:pt x="14" y="45"/>
                      </a:lnTo>
                      <a:lnTo>
                        <a:pt x="3" y="71"/>
                      </a:lnTo>
                      <a:lnTo>
                        <a:pt x="0" y="10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135" name="Freeform 280"/>
              <p:cNvSpPr>
                <a:spLocks/>
              </p:cNvSpPr>
              <p:nvPr/>
            </p:nvSpPr>
            <p:spPr bwMode="auto">
              <a:xfrm>
                <a:off x="2573" y="3214"/>
                <a:ext cx="31" cy="34"/>
              </a:xfrm>
              <a:custGeom>
                <a:avLst/>
                <a:gdLst>
                  <a:gd name="T0" fmla="*/ 13 w 31"/>
                  <a:gd name="T1" fmla="*/ 0 h 34"/>
                  <a:gd name="T2" fmla="*/ 13 w 31"/>
                  <a:gd name="T3" fmla="*/ 3 h 34"/>
                  <a:gd name="T4" fmla="*/ 13 w 31"/>
                  <a:gd name="T5" fmla="*/ 5 h 34"/>
                  <a:gd name="T6" fmla="*/ 13 w 31"/>
                  <a:gd name="T7" fmla="*/ 8 h 34"/>
                  <a:gd name="T8" fmla="*/ 14 w 31"/>
                  <a:gd name="T9" fmla="*/ 10 h 34"/>
                  <a:gd name="T10" fmla="*/ 15 w 31"/>
                  <a:gd name="T11" fmla="*/ 12 h 34"/>
                  <a:gd name="T12" fmla="*/ 17 w 31"/>
                  <a:gd name="T13" fmla="*/ 14 h 34"/>
                  <a:gd name="T14" fmla="*/ 19 w 31"/>
                  <a:gd name="T15" fmla="*/ 16 h 34"/>
                  <a:gd name="T16" fmla="*/ 22 w 31"/>
                  <a:gd name="T17" fmla="*/ 17 h 34"/>
                  <a:gd name="T18" fmla="*/ 25 w 31"/>
                  <a:gd name="T19" fmla="*/ 17 h 34"/>
                  <a:gd name="T20" fmla="*/ 27 w 31"/>
                  <a:gd name="T21" fmla="*/ 17 h 34"/>
                  <a:gd name="T22" fmla="*/ 30 w 31"/>
                  <a:gd name="T23" fmla="*/ 17 h 34"/>
                  <a:gd name="T24" fmla="*/ 13 w 31"/>
                  <a:gd name="T25" fmla="*/ 32 h 34"/>
                  <a:gd name="T26" fmla="*/ 10 w 31"/>
                  <a:gd name="T27" fmla="*/ 33 h 34"/>
                  <a:gd name="T28" fmla="*/ 8 w 31"/>
                  <a:gd name="T29" fmla="*/ 33 h 34"/>
                  <a:gd name="T30" fmla="*/ 6 w 31"/>
                  <a:gd name="T31" fmla="*/ 32 h 34"/>
                  <a:gd name="T32" fmla="*/ 5 w 31"/>
                  <a:gd name="T33" fmla="*/ 31 h 34"/>
                  <a:gd name="T34" fmla="*/ 2 w 31"/>
                  <a:gd name="T35" fmla="*/ 30 h 34"/>
                  <a:gd name="T36" fmla="*/ 1 w 31"/>
                  <a:gd name="T37" fmla="*/ 27 h 34"/>
                  <a:gd name="T38" fmla="*/ 0 w 31"/>
                  <a:gd name="T39" fmla="*/ 25 h 34"/>
                  <a:gd name="T40" fmla="*/ 0 w 31"/>
                  <a:gd name="T41" fmla="*/ 22 h 34"/>
                  <a:gd name="T42" fmla="*/ 0 w 31"/>
                  <a:gd name="T43" fmla="*/ 20 h 34"/>
                  <a:gd name="T44" fmla="*/ 0 w 31"/>
                  <a:gd name="T45" fmla="*/ 18 h 34"/>
                  <a:gd name="T46" fmla="*/ 13 w 31"/>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34">
                    <a:moveTo>
                      <a:pt x="13" y="0"/>
                    </a:moveTo>
                    <a:lnTo>
                      <a:pt x="13" y="3"/>
                    </a:lnTo>
                    <a:lnTo>
                      <a:pt x="13" y="5"/>
                    </a:lnTo>
                    <a:lnTo>
                      <a:pt x="13" y="8"/>
                    </a:lnTo>
                    <a:lnTo>
                      <a:pt x="14" y="10"/>
                    </a:lnTo>
                    <a:lnTo>
                      <a:pt x="15" y="12"/>
                    </a:lnTo>
                    <a:lnTo>
                      <a:pt x="17" y="14"/>
                    </a:lnTo>
                    <a:lnTo>
                      <a:pt x="19" y="16"/>
                    </a:lnTo>
                    <a:lnTo>
                      <a:pt x="22" y="17"/>
                    </a:lnTo>
                    <a:lnTo>
                      <a:pt x="25" y="17"/>
                    </a:lnTo>
                    <a:lnTo>
                      <a:pt x="27" y="17"/>
                    </a:lnTo>
                    <a:lnTo>
                      <a:pt x="30" y="17"/>
                    </a:lnTo>
                    <a:lnTo>
                      <a:pt x="13" y="32"/>
                    </a:lnTo>
                    <a:lnTo>
                      <a:pt x="10" y="33"/>
                    </a:lnTo>
                    <a:lnTo>
                      <a:pt x="8" y="33"/>
                    </a:lnTo>
                    <a:lnTo>
                      <a:pt x="6" y="32"/>
                    </a:lnTo>
                    <a:lnTo>
                      <a:pt x="5" y="31"/>
                    </a:lnTo>
                    <a:lnTo>
                      <a:pt x="2" y="30"/>
                    </a:lnTo>
                    <a:lnTo>
                      <a:pt x="1" y="27"/>
                    </a:lnTo>
                    <a:lnTo>
                      <a:pt x="0" y="25"/>
                    </a:lnTo>
                    <a:lnTo>
                      <a:pt x="0" y="22"/>
                    </a:lnTo>
                    <a:lnTo>
                      <a:pt x="0" y="20"/>
                    </a:lnTo>
                    <a:lnTo>
                      <a:pt x="0" y="18"/>
                    </a:lnTo>
                    <a:lnTo>
                      <a:pt x="13"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36" name="Freeform 281"/>
              <p:cNvSpPr>
                <a:spLocks/>
              </p:cNvSpPr>
              <p:nvPr/>
            </p:nvSpPr>
            <p:spPr bwMode="auto">
              <a:xfrm>
                <a:off x="2576" y="3223"/>
                <a:ext cx="19" cy="21"/>
              </a:xfrm>
              <a:custGeom>
                <a:avLst/>
                <a:gdLst>
                  <a:gd name="T0" fmla="*/ 4 w 19"/>
                  <a:gd name="T1" fmla="*/ 0 h 21"/>
                  <a:gd name="T2" fmla="*/ 3 w 19"/>
                  <a:gd name="T3" fmla="*/ 2 h 21"/>
                  <a:gd name="T4" fmla="*/ 3 w 19"/>
                  <a:gd name="T5" fmla="*/ 4 h 21"/>
                  <a:gd name="T6" fmla="*/ 3 w 19"/>
                  <a:gd name="T7" fmla="*/ 6 h 21"/>
                  <a:gd name="T8" fmla="*/ 3 w 19"/>
                  <a:gd name="T9" fmla="*/ 8 h 21"/>
                  <a:gd name="T10" fmla="*/ 3 w 19"/>
                  <a:gd name="T11" fmla="*/ 11 h 21"/>
                  <a:gd name="T12" fmla="*/ 4 w 19"/>
                  <a:gd name="T13" fmla="*/ 13 h 21"/>
                  <a:gd name="T14" fmla="*/ 5 w 19"/>
                  <a:gd name="T15" fmla="*/ 15 h 21"/>
                  <a:gd name="T16" fmla="*/ 8 w 19"/>
                  <a:gd name="T17" fmla="*/ 16 h 21"/>
                  <a:gd name="T18" fmla="*/ 11 w 19"/>
                  <a:gd name="T19" fmla="*/ 17 h 21"/>
                  <a:gd name="T20" fmla="*/ 14 w 19"/>
                  <a:gd name="T21" fmla="*/ 16 h 21"/>
                  <a:gd name="T22" fmla="*/ 18 w 19"/>
                  <a:gd name="T23" fmla="*/ 16 h 21"/>
                  <a:gd name="T24" fmla="*/ 13 w 19"/>
                  <a:gd name="T25" fmla="*/ 19 h 21"/>
                  <a:gd name="T26" fmla="*/ 12 w 19"/>
                  <a:gd name="T27" fmla="*/ 20 h 21"/>
                  <a:gd name="T28" fmla="*/ 9 w 19"/>
                  <a:gd name="T29" fmla="*/ 20 h 21"/>
                  <a:gd name="T30" fmla="*/ 6 w 19"/>
                  <a:gd name="T31" fmla="*/ 19 h 21"/>
                  <a:gd name="T32" fmla="*/ 4 w 19"/>
                  <a:gd name="T33" fmla="*/ 18 h 21"/>
                  <a:gd name="T34" fmla="*/ 3 w 19"/>
                  <a:gd name="T35" fmla="*/ 17 h 21"/>
                  <a:gd name="T36" fmla="*/ 1 w 19"/>
                  <a:gd name="T37" fmla="*/ 15 h 21"/>
                  <a:gd name="T38" fmla="*/ 0 w 19"/>
                  <a:gd name="T39" fmla="*/ 13 h 21"/>
                  <a:gd name="T40" fmla="*/ 0 w 19"/>
                  <a:gd name="T41" fmla="*/ 10 h 21"/>
                  <a:gd name="T42" fmla="*/ 0 w 19"/>
                  <a:gd name="T43" fmla="*/ 8 h 21"/>
                  <a:gd name="T44" fmla="*/ 0 w 19"/>
                  <a:gd name="T45" fmla="*/ 5 h 21"/>
                  <a:gd name="T46" fmla="*/ 4 w 19"/>
                  <a:gd name="T47" fmla="*/ 0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9" h="21">
                    <a:moveTo>
                      <a:pt x="4" y="0"/>
                    </a:moveTo>
                    <a:lnTo>
                      <a:pt x="3" y="2"/>
                    </a:lnTo>
                    <a:lnTo>
                      <a:pt x="3" y="4"/>
                    </a:lnTo>
                    <a:lnTo>
                      <a:pt x="3" y="6"/>
                    </a:lnTo>
                    <a:lnTo>
                      <a:pt x="3" y="8"/>
                    </a:lnTo>
                    <a:lnTo>
                      <a:pt x="3" y="11"/>
                    </a:lnTo>
                    <a:lnTo>
                      <a:pt x="4" y="13"/>
                    </a:lnTo>
                    <a:lnTo>
                      <a:pt x="5" y="15"/>
                    </a:lnTo>
                    <a:lnTo>
                      <a:pt x="8" y="16"/>
                    </a:lnTo>
                    <a:lnTo>
                      <a:pt x="11" y="17"/>
                    </a:lnTo>
                    <a:lnTo>
                      <a:pt x="14" y="16"/>
                    </a:lnTo>
                    <a:lnTo>
                      <a:pt x="18" y="16"/>
                    </a:lnTo>
                    <a:lnTo>
                      <a:pt x="13" y="19"/>
                    </a:lnTo>
                    <a:lnTo>
                      <a:pt x="12" y="20"/>
                    </a:lnTo>
                    <a:lnTo>
                      <a:pt x="9" y="20"/>
                    </a:lnTo>
                    <a:lnTo>
                      <a:pt x="6" y="19"/>
                    </a:lnTo>
                    <a:lnTo>
                      <a:pt x="4" y="18"/>
                    </a:lnTo>
                    <a:lnTo>
                      <a:pt x="3" y="17"/>
                    </a:lnTo>
                    <a:lnTo>
                      <a:pt x="1" y="15"/>
                    </a:lnTo>
                    <a:lnTo>
                      <a:pt x="0" y="13"/>
                    </a:lnTo>
                    <a:lnTo>
                      <a:pt x="0" y="10"/>
                    </a:lnTo>
                    <a:lnTo>
                      <a:pt x="0" y="8"/>
                    </a:lnTo>
                    <a:lnTo>
                      <a:pt x="0" y="5"/>
                    </a:lnTo>
                    <a:lnTo>
                      <a:pt x="4"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37" name="Freeform 282"/>
              <p:cNvSpPr>
                <a:spLocks/>
              </p:cNvSpPr>
              <p:nvPr/>
            </p:nvSpPr>
            <p:spPr bwMode="auto">
              <a:xfrm>
                <a:off x="2538" y="3271"/>
                <a:ext cx="17" cy="17"/>
              </a:xfrm>
              <a:custGeom>
                <a:avLst/>
                <a:gdLst>
                  <a:gd name="T0" fmla="*/ 8 w 17"/>
                  <a:gd name="T1" fmla="*/ 0 h 17"/>
                  <a:gd name="T2" fmla="*/ 0 w 17"/>
                  <a:gd name="T3" fmla="*/ 9 h 17"/>
                  <a:gd name="T4" fmla="*/ 0 w 17"/>
                  <a:gd name="T5" fmla="*/ 11 h 17"/>
                  <a:gd name="T6" fmla="*/ 0 w 17"/>
                  <a:gd name="T7" fmla="*/ 12 h 17"/>
                  <a:gd name="T8" fmla="*/ 0 w 17"/>
                  <a:gd name="T9" fmla="*/ 14 h 17"/>
                  <a:gd name="T10" fmla="*/ 2 w 17"/>
                  <a:gd name="T11" fmla="*/ 15 h 17"/>
                  <a:gd name="T12" fmla="*/ 3 w 17"/>
                  <a:gd name="T13" fmla="*/ 16 h 17"/>
                  <a:gd name="T14" fmla="*/ 5 w 17"/>
                  <a:gd name="T15" fmla="*/ 15 h 17"/>
                  <a:gd name="T16" fmla="*/ 16 w 17"/>
                  <a:gd name="T17" fmla="*/ 7 h 17"/>
                  <a:gd name="T18" fmla="*/ 13 w 17"/>
                  <a:gd name="T19" fmla="*/ 6 h 17"/>
                  <a:gd name="T20" fmla="*/ 11 w 17"/>
                  <a:gd name="T21" fmla="*/ 6 h 17"/>
                  <a:gd name="T22" fmla="*/ 10 w 17"/>
                  <a:gd name="T23" fmla="*/ 4 h 17"/>
                  <a:gd name="T24" fmla="*/ 9 w 17"/>
                  <a:gd name="T25" fmla="*/ 3 h 17"/>
                  <a:gd name="T26" fmla="*/ 8 w 17"/>
                  <a:gd name="T27" fmla="*/ 1 h 17"/>
                  <a:gd name="T28" fmla="*/ 8 w 1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 h="17">
                    <a:moveTo>
                      <a:pt x="8" y="0"/>
                    </a:moveTo>
                    <a:lnTo>
                      <a:pt x="0" y="9"/>
                    </a:lnTo>
                    <a:lnTo>
                      <a:pt x="0" y="11"/>
                    </a:lnTo>
                    <a:lnTo>
                      <a:pt x="0" y="12"/>
                    </a:lnTo>
                    <a:lnTo>
                      <a:pt x="0" y="14"/>
                    </a:lnTo>
                    <a:lnTo>
                      <a:pt x="2" y="15"/>
                    </a:lnTo>
                    <a:lnTo>
                      <a:pt x="3" y="16"/>
                    </a:lnTo>
                    <a:lnTo>
                      <a:pt x="5" y="15"/>
                    </a:lnTo>
                    <a:lnTo>
                      <a:pt x="16" y="7"/>
                    </a:lnTo>
                    <a:lnTo>
                      <a:pt x="13" y="6"/>
                    </a:lnTo>
                    <a:lnTo>
                      <a:pt x="11" y="6"/>
                    </a:lnTo>
                    <a:lnTo>
                      <a:pt x="10" y="4"/>
                    </a:lnTo>
                    <a:lnTo>
                      <a:pt x="9" y="3"/>
                    </a:lnTo>
                    <a:lnTo>
                      <a:pt x="8" y="1"/>
                    </a:lnTo>
                    <a:lnTo>
                      <a:pt x="8"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62" name="Group 283"/>
            <p:cNvGrpSpPr>
              <a:grpSpLocks/>
            </p:cNvGrpSpPr>
            <p:nvPr/>
          </p:nvGrpSpPr>
          <p:grpSpPr bwMode="auto">
            <a:xfrm>
              <a:off x="3345" y="3482"/>
              <a:ext cx="169" cy="87"/>
              <a:chOff x="2515" y="3428"/>
              <a:chExt cx="191" cy="106"/>
            </a:xfrm>
          </p:grpSpPr>
          <p:grpSp>
            <p:nvGrpSpPr>
              <p:cNvPr id="293965" name="Group 284"/>
              <p:cNvGrpSpPr>
                <a:grpSpLocks/>
              </p:cNvGrpSpPr>
              <p:nvPr/>
            </p:nvGrpSpPr>
            <p:grpSpPr bwMode="auto">
              <a:xfrm>
                <a:off x="2515" y="3428"/>
                <a:ext cx="191" cy="106"/>
                <a:chOff x="2515" y="3428"/>
                <a:chExt cx="191" cy="106"/>
              </a:xfrm>
            </p:grpSpPr>
            <p:grpSp>
              <p:nvGrpSpPr>
                <p:cNvPr id="293966" name="Group 285"/>
                <p:cNvGrpSpPr>
                  <a:grpSpLocks/>
                </p:cNvGrpSpPr>
                <p:nvPr/>
              </p:nvGrpSpPr>
              <p:grpSpPr bwMode="auto">
                <a:xfrm>
                  <a:off x="2515" y="3458"/>
                  <a:ext cx="187" cy="76"/>
                  <a:chOff x="2515" y="3458"/>
                  <a:chExt cx="187" cy="76"/>
                </a:xfrm>
              </p:grpSpPr>
              <p:grpSp>
                <p:nvGrpSpPr>
                  <p:cNvPr id="293970" name="Group 286"/>
                  <p:cNvGrpSpPr>
                    <a:grpSpLocks/>
                  </p:cNvGrpSpPr>
                  <p:nvPr/>
                </p:nvGrpSpPr>
                <p:grpSpPr bwMode="auto">
                  <a:xfrm>
                    <a:off x="2515" y="3502"/>
                    <a:ext cx="25" cy="32"/>
                    <a:chOff x="2515" y="3502"/>
                    <a:chExt cx="25" cy="32"/>
                  </a:xfrm>
                </p:grpSpPr>
                <p:sp>
                  <p:nvSpPr>
                    <p:cNvPr id="294123" name="Freeform 287"/>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24" name="Freeform 288"/>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25" name="Freeform 289"/>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117" name="Freeform 290"/>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18" name="Freeform 291"/>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19" name="Freeform 292"/>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20" name="Freeform 293"/>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21" name="Freeform 294"/>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22" name="Freeform 295"/>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80" name="Group 296"/>
                <p:cNvGrpSpPr>
                  <a:grpSpLocks/>
                </p:cNvGrpSpPr>
                <p:nvPr/>
              </p:nvGrpSpPr>
              <p:grpSpPr bwMode="auto">
                <a:xfrm>
                  <a:off x="2597" y="3428"/>
                  <a:ext cx="109" cy="96"/>
                  <a:chOff x="2597" y="3428"/>
                  <a:chExt cx="109" cy="96"/>
                </a:xfrm>
              </p:grpSpPr>
              <p:sp>
                <p:nvSpPr>
                  <p:cNvPr id="294113" name="Freeform 297"/>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14" name="Freeform 298"/>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15" name="Freeform 299"/>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109" name="Freeform 300"/>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10" name="Freeform 301"/>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3983" name="Group 302"/>
            <p:cNvGrpSpPr>
              <a:grpSpLocks/>
            </p:cNvGrpSpPr>
            <p:nvPr/>
          </p:nvGrpSpPr>
          <p:grpSpPr bwMode="auto">
            <a:xfrm>
              <a:off x="3475" y="3320"/>
              <a:ext cx="170" cy="87"/>
              <a:chOff x="2663" y="3383"/>
              <a:chExt cx="191" cy="106"/>
            </a:xfrm>
          </p:grpSpPr>
          <p:grpSp>
            <p:nvGrpSpPr>
              <p:cNvPr id="293984" name="Group 303"/>
              <p:cNvGrpSpPr>
                <a:grpSpLocks/>
              </p:cNvGrpSpPr>
              <p:nvPr/>
            </p:nvGrpSpPr>
            <p:grpSpPr bwMode="auto">
              <a:xfrm>
                <a:off x="2663" y="3383"/>
                <a:ext cx="191" cy="106"/>
                <a:chOff x="2663" y="3383"/>
                <a:chExt cx="191" cy="106"/>
              </a:xfrm>
            </p:grpSpPr>
            <p:grpSp>
              <p:nvGrpSpPr>
                <p:cNvPr id="293988" name="Group 304"/>
                <p:cNvGrpSpPr>
                  <a:grpSpLocks/>
                </p:cNvGrpSpPr>
                <p:nvPr/>
              </p:nvGrpSpPr>
              <p:grpSpPr bwMode="auto">
                <a:xfrm>
                  <a:off x="2663" y="3413"/>
                  <a:ext cx="187" cy="76"/>
                  <a:chOff x="2663" y="3413"/>
                  <a:chExt cx="187" cy="76"/>
                </a:xfrm>
              </p:grpSpPr>
              <p:grpSp>
                <p:nvGrpSpPr>
                  <p:cNvPr id="293998" name="Group 305"/>
                  <p:cNvGrpSpPr>
                    <a:grpSpLocks/>
                  </p:cNvGrpSpPr>
                  <p:nvPr/>
                </p:nvGrpSpPr>
                <p:grpSpPr bwMode="auto">
                  <a:xfrm>
                    <a:off x="2663" y="3457"/>
                    <a:ext cx="25" cy="32"/>
                    <a:chOff x="2663" y="3457"/>
                    <a:chExt cx="25" cy="32"/>
                  </a:xfrm>
                </p:grpSpPr>
                <p:sp>
                  <p:nvSpPr>
                    <p:cNvPr id="294105" name="Freeform 306"/>
                    <p:cNvSpPr>
                      <a:spLocks/>
                    </p:cNvSpPr>
                    <p:nvPr/>
                  </p:nvSpPr>
                  <p:spPr bwMode="auto">
                    <a:xfrm>
                      <a:off x="2671" y="345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06" name="Freeform 307"/>
                    <p:cNvSpPr>
                      <a:spLocks/>
                    </p:cNvSpPr>
                    <p:nvPr/>
                  </p:nvSpPr>
                  <p:spPr bwMode="auto">
                    <a:xfrm>
                      <a:off x="2663" y="345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07" name="Freeform 308"/>
                    <p:cNvSpPr>
                      <a:spLocks/>
                    </p:cNvSpPr>
                    <p:nvPr/>
                  </p:nvSpPr>
                  <p:spPr bwMode="auto">
                    <a:xfrm>
                      <a:off x="2663" y="347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099" name="Freeform 309"/>
                  <p:cNvSpPr>
                    <a:spLocks/>
                  </p:cNvSpPr>
                  <p:nvPr/>
                </p:nvSpPr>
                <p:spPr bwMode="auto">
                  <a:xfrm>
                    <a:off x="2669" y="341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00" name="Freeform 310"/>
                  <p:cNvSpPr>
                    <a:spLocks/>
                  </p:cNvSpPr>
                  <p:nvPr/>
                </p:nvSpPr>
                <p:spPr bwMode="auto">
                  <a:xfrm>
                    <a:off x="2801" y="341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01" name="Freeform 311"/>
                  <p:cNvSpPr>
                    <a:spLocks/>
                  </p:cNvSpPr>
                  <p:nvPr/>
                </p:nvSpPr>
                <p:spPr bwMode="auto">
                  <a:xfrm>
                    <a:off x="2797" y="341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02" name="Freeform 312"/>
                  <p:cNvSpPr>
                    <a:spLocks/>
                  </p:cNvSpPr>
                  <p:nvPr/>
                </p:nvSpPr>
                <p:spPr bwMode="auto">
                  <a:xfrm>
                    <a:off x="2824" y="342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03" name="Freeform 313"/>
                  <p:cNvSpPr>
                    <a:spLocks/>
                  </p:cNvSpPr>
                  <p:nvPr/>
                </p:nvSpPr>
                <p:spPr bwMode="auto">
                  <a:xfrm>
                    <a:off x="2825" y="341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104" name="Freeform 314"/>
                  <p:cNvSpPr>
                    <a:spLocks/>
                  </p:cNvSpPr>
                  <p:nvPr/>
                </p:nvSpPr>
                <p:spPr bwMode="auto">
                  <a:xfrm>
                    <a:off x="2669" y="346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001" name="Group 315"/>
                <p:cNvGrpSpPr>
                  <a:grpSpLocks/>
                </p:cNvGrpSpPr>
                <p:nvPr/>
              </p:nvGrpSpPr>
              <p:grpSpPr bwMode="auto">
                <a:xfrm>
                  <a:off x="2745" y="3383"/>
                  <a:ext cx="109" cy="96"/>
                  <a:chOff x="2745" y="3383"/>
                  <a:chExt cx="109" cy="96"/>
                </a:xfrm>
              </p:grpSpPr>
              <p:sp>
                <p:nvSpPr>
                  <p:cNvPr id="294095" name="Freeform 316"/>
                  <p:cNvSpPr>
                    <a:spLocks/>
                  </p:cNvSpPr>
                  <p:nvPr/>
                </p:nvSpPr>
                <p:spPr bwMode="auto">
                  <a:xfrm>
                    <a:off x="2746" y="345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96" name="Freeform 317"/>
                  <p:cNvSpPr>
                    <a:spLocks/>
                  </p:cNvSpPr>
                  <p:nvPr/>
                </p:nvSpPr>
                <p:spPr bwMode="auto">
                  <a:xfrm>
                    <a:off x="2747" y="342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97" name="Freeform 318"/>
                  <p:cNvSpPr>
                    <a:spLocks/>
                  </p:cNvSpPr>
                  <p:nvPr/>
                </p:nvSpPr>
                <p:spPr bwMode="auto">
                  <a:xfrm>
                    <a:off x="2745" y="338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091" name="Freeform 319"/>
              <p:cNvSpPr>
                <a:spLocks/>
              </p:cNvSpPr>
              <p:nvPr/>
            </p:nvSpPr>
            <p:spPr bwMode="auto">
              <a:xfrm>
                <a:off x="2722" y="344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92" name="Freeform 320"/>
              <p:cNvSpPr>
                <a:spLocks/>
              </p:cNvSpPr>
              <p:nvPr/>
            </p:nvSpPr>
            <p:spPr bwMode="auto">
              <a:xfrm>
                <a:off x="2728" y="344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002" name="Group 321"/>
            <p:cNvGrpSpPr>
              <a:grpSpLocks/>
            </p:cNvGrpSpPr>
            <p:nvPr/>
          </p:nvGrpSpPr>
          <p:grpSpPr bwMode="auto">
            <a:xfrm>
              <a:off x="3116" y="3263"/>
              <a:ext cx="168" cy="86"/>
              <a:chOff x="2458" y="3313"/>
              <a:chExt cx="191" cy="106"/>
            </a:xfrm>
          </p:grpSpPr>
          <p:grpSp>
            <p:nvGrpSpPr>
              <p:cNvPr id="294006" name="Group 322"/>
              <p:cNvGrpSpPr>
                <a:grpSpLocks/>
              </p:cNvGrpSpPr>
              <p:nvPr/>
            </p:nvGrpSpPr>
            <p:grpSpPr bwMode="auto">
              <a:xfrm>
                <a:off x="2458" y="3313"/>
                <a:ext cx="191" cy="106"/>
                <a:chOff x="2458" y="3313"/>
                <a:chExt cx="191" cy="106"/>
              </a:xfrm>
            </p:grpSpPr>
            <p:grpSp>
              <p:nvGrpSpPr>
                <p:cNvPr id="294024" name="Group 323"/>
                <p:cNvGrpSpPr>
                  <a:grpSpLocks/>
                </p:cNvGrpSpPr>
                <p:nvPr/>
              </p:nvGrpSpPr>
              <p:grpSpPr bwMode="auto">
                <a:xfrm>
                  <a:off x="2458" y="3343"/>
                  <a:ext cx="187" cy="76"/>
                  <a:chOff x="2458" y="3343"/>
                  <a:chExt cx="187" cy="76"/>
                </a:xfrm>
              </p:grpSpPr>
              <p:grpSp>
                <p:nvGrpSpPr>
                  <p:cNvPr id="294034" name="Group 324"/>
                  <p:cNvGrpSpPr>
                    <a:grpSpLocks/>
                  </p:cNvGrpSpPr>
                  <p:nvPr/>
                </p:nvGrpSpPr>
                <p:grpSpPr bwMode="auto">
                  <a:xfrm>
                    <a:off x="2458" y="3387"/>
                    <a:ext cx="25" cy="32"/>
                    <a:chOff x="2458" y="3387"/>
                    <a:chExt cx="25" cy="32"/>
                  </a:xfrm>
                </p:grpSpPr>
                <p:sp>
                  <p:nvSpPr>
                    <p:cNvPr id="294087" name="Freeform 325"/>
                    <p:cNvSpPr>
                      <a:spLocks/>
                    </p:cNvSpPr>
                    <p:nvPr/>
                  </p:nvSpPr>
                  <p:spPr bwMode="auto">
                    <a:xfrm>
                      <a:off x="2466" y="338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88" name="Freeform 326"/>
                    <p:cNvSpPr>
                      <a:spLocks/>
                    </p:cNvSpPr>
                    <p:nvPr/>
                  </p:nvSpPr>
                  <p:spPr bwMode="auto">
                    <a:xfrm>
                      <a:off x="2458" y="338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89" name="Freeform 327"/>
                    <p:cNvSpPr>
                      <a:spLocks/>
                    </p:cNvSpPr>
                    <p:nvPr/>
                  </p:nvSpPr>
                  <p:spPr bwMode="auto">
                    <a:xfrm>
                      <a:off x="2458" y="340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081" name="Freeform 328"/>
                  <p:cNvSpPr>
                    <a:spLocks/>
                  </p:cNvSpPr>
                  <p:nvPr/>
                </p:nvSpPr>
                <p:spPr bwMode="auto">
                  <a:xfrm>
                    <a:off x="2464" y="334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82" name="Freeform 329"/>
                  <p:cNvSpPr>
                    <a:spLocks/>
                  </p:cNvSpPr>
                  <p:nvPr/>
                </p:nvSpPr>
                <p:spPr bwMode="auto">
                  <a:xfrm>
                    <a:off x="2596" y="334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83" name="Freeform 330"/>
                  <p:cNvSpPr>
                    <a:spLocks/>
                  </p:cNvSpPr>
                  <p:nvPr/>
                </p:nvSpPr>
                <p:spPr bwMode="auto">
                  <a:xfrm>
                    <a:off x="2592" y="334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84" name="Freeform 331"/>
                  <p:cNvSpPr>
                    <a:spLocks/>
                  </p:cNvSpPr>
                  <p:nvPr/>
                </p:nvSpPr>
                <p:spPr bwMode="auto">
                  <a:xfrm>
                    <a:off x="2619" y="335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85" name="Freeform 332"/>
                  <p:cNvSpPr>
                    <a:spLocks/>
                  </p:cNvSpPr>
                  <p:nvPr/>
                </p:nvSpPr>
                <p:spPr bwMode="auto">
                  <a:xfrm>
                    <a:off x="2620" y="334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86" name="Freeform 333"/>
                  <p:cNvSpPr>
                    <a:spLocks/>
                  </p:cNvSpPr>
                  <p:nvPr/>
                </p:nvSpPr>
                <p:spPr bwMode="auto">
                  <a:xfrm>
                    <a:off x="2464" y="339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046" name="Group 334"/>
                <p:cNvGrpSpPr>
                  <a:grpSpLocks/>
                </p:cNvGrpSpPr>
                <p:nvPr/>
              </p:nvGrpSpPr>
              <p:grpSpPr bwMode="auto">
                <a:xfrm>
                  <a:off x="2540" y="3313"/>
                  <a:ext cx="109" cy="96"/>
                  <a:chOff x="2540" y="3313"/>
                  <a:chExt cx="109" cy="96"/>
                </a:xfrm>
              </p:grpSpPr>
              <p:sp>
                <p:nvSpPr>
                  <p:cNvPr id="294077" name="Freeform 335"/>
                  <p:cNvSpPr>
                    <a:spLocks/>
                  </p:cNvSpPr>
                  <p:nvPr/>
                </p:nvSpPr>
                <p:spPr bwMode="auto">
                  <a:xfrm>
                    <a:off x="2541" y="338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78" name="Freeform 336"/>
                  <p:cNvSpPr>
                    <a:spLocks/>
                  </p:cNvSpPr>
                  <p:nvPr/>
                </p:nvSpPr>
                <p:spPr bwMode="auto">
                  <a:xfrm>
                    <a:off x="2542" y="335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79" name="Freeform 337"/>
                  <p:cNvSpPr>
                    <a:spLocks/>
                  </p:cNvSpPr>
                  <p:nvPr/>
                </p:nvSpPr>
                <p:spPr bwMode="auto">
                  <a:xfrm>
                    <a:off x="2540" y="331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073" name="Freeform 338"/>
              <p:cNvSpPr>
                <a:spLocks/>
              </p:cNvSpPr>
              <p:nvPr/>
            </p:nvSpPr>
            <p:spPr bwMode="auto">
              <a:xfrm>
                <a:off x="2517" y="337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74" name="Freeform 339"/>
              <p:cNvSpPr>
                <a:spLocks/>
              </p:cNvSpPr>
              <p:nvPr/>
            </p:nvSpPr>
            <p:spPr bwMode="auto">
              <a:xfrm>
                <a:off x="2523" y="337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048" name="Group 340"/>
            <p:cNvGrpSpPr>
              <a:grpSpLocks/>
            </p:cNvGrpSpPr>
            <p:nvPr/>
          </p:nvGrpSpPr>
          <p:grpSpPr bwMode="auto">
            <a:xfrm>
              <a:off x="3345" y="3294"/>
              <a:ext cx="169" cy="87"/>
              <a:chOff x="2515" y="3428"/>
              <a:chExt cx="191" cy="106"/>
            </a:xfrm>
          </p:grpSpPr>
          <p:grpSp>
            <p:nvGrpSpPr>
              <p:cNvPr id="294050" name="Group 341"/>
              <p:cNvGrpSpPr>
                <a:grpSpLocks/>
              </p:cNvGrpSpPr>
              <p:nvPr/>
            </p:nvGrpSpPr>
            <p:grpSpPr bwMode="auto">
              <a:xfrm>
                <a:off x="2515" y="3428"/>
                <a:ext cx="191" cy="106"/>
                <a:chOff x="2515" y="3428"/>
                <a:chExt cx="191" cy="106"/>
              </a:xfrm>
            </p:grpSpPr>
            <p:grpSp>
              <p:nvGrpSpPr>
                <p:cNvPr id="294054" name="Group 342"/>
                <p:cNvGrpSpPr>
                  <a:grpSpLocks/>
                </p:cNvGrpSpPr>
                <p:nvPr/>
              </p:nvGrpSpPr>
              <p:grpSpPr bwMode="auto">
                <a:xfrm>
                  <a:off x="2515" y="3458"/>
                  <a:ext cx="187" cy="76"/>
                  <a:chOff x="2515" y="3458"/>
                  <a:chExt cx="187" cy="76"/>
                </a:xfrm>
              </p:grpSpPr>
              <p:grpSp>
                <p:nvGrpSpPr>
                  <p:cNvPr id="294057" name="Group 343"/>
                  <p:cNvGrpSpPr>
                    <a:grpSpLocks/>
                  </p:cNvGrpSpPr>
                  <p:nvPr/>
                </p:nvGrpSpPr>
                <p:grpSpPr bwMode="auto">
                  <a:xfrm>
                    <a:off x="2515" y="3502"/>
                    <a:ext cx="25" cy="32"/>
                    <a:chOff x="2515" y="3502"/>
                    <a:chExt cx="25" cy="32"/>
                  </a:xfrm>
                </p:grpSpPr>
                <p:sp>
                  <p:nvSpPr>
                    <p:cNvPr id="294069" name="Freeform 344"/>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70" name="Freeform 345"/>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71" name="Freeform 346"/>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063" name="Freeform 347"/>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64" name="Freeform 348"/>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65" name="Freeform 349"/>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66" name="Freeform 350"/>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67" name="Freeform 351"/>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68" name="Freeform 352"/>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058" name="Group 353"/>
                <p:cNvGrpSpPr>
                  <a:grpSpLocks/>
                </p:cNvGrpSpPr>
                <p:nvPr/>
              </p:nvGrpSpPr>
              <p:grpSpPr bwMode="auto">
                <a:xfrm>
                  <a:off x="2597" y="3428"/>
                  <a:ext cx="109" cy="96"/>
                  <a:chOff x="2597" y="3428"/>
                  <a:chExt cx="109" cy="96"/>
                </a:xfrm>
              </p:grpSpPr>
              <p:sp>
                <p:nvSpPr>
                  <p:cNvPr id="294059" name="Freeform 354"/>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60" name="Freeform 355"/>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61" name="Freeform 356"/>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4055" name="Freeform 357"/>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56" name="Freeform 358"/>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062" name="Group 359"/>
            <p:cNvGrpSpPr>
              <a:grpSpLocks/>
            </p:cNvGrpSpPr>
            <p:nvPr/>
          </p:nvGrpSpPr>
          <p:grpSpPr bwMode="auto">
            <a:xfrm>
              <a:off x="4195" y="3028"/>
              <a:ext cx="659" cy="612"/>
              <a:chOff x="2206" y="3016"/>
              <a:chExt cx="750" cy="750"/>
            </a:xfrm>
          </p:grpSpPr>
          <p:grpSp>
            <p:nvGrpSpPr>
              <p:cNvPr id="294072" name="Group 360"/>
              <p:cNvGrpSpPr>
                <a:grpSpLocks/>
              </p:cNvGrpSpPr>
              <p:nvPr/>
            </p:nvGrpSpPr>
            <p:grpSpPr bwMode="auto">
              <a:xfrm>
                <a:off x="2206" y="3016"/>
                <a:ext cx="750" cy="750"/>
                <a:chOff x="2206" y="3016"/>
                <a:chExt cx="750" cy="750"/>
              </a:xfrm>
            </p:grpSpPr>
            <p:grpSp>
              <p:nvGrpSpPr>
                <p:cNvPr id="294075" name="Group 361"/>
                <p:cNvGrpSpPr>
                  <a:grpSpLocks/>
                </p:cNvGrpSpPr>
                <p:nvPr/>
              </p:nvGrpSpPr>
              <p:grpSpPr bwMode="auto">
                <a:xfrm>
                  <a:off x="2206" y="3016"/>
                  <a:ext cx="750" cy="750"/>
                  <a:chOff x="2206" y="3016"/>
                  <a:chExt cx="750" cy="750"/>
                </a:xfrm>
              </p:grpSpPr>
              <p:grpSp>
                <p:nvGrpSpPr>
                  <p:cNvPr id="294076" name="Group 362"/>
                  <p:cNvGrpSpPr>
                    <a:grpSpLocks/>
                  </p:cNvGrpSpPr>
                  <p:nvPr/>
                </p:nvGrpSpPr>
                <p:grpSpPr bwMode="auto">
                  <a:xfrm>
                    <a:off x="2206" y="3016"/>
                    <a:ext cx="750" cy="750"/>
                    <a:chOff x="2206" y="3016"/>
                    <a:chExt cx="750" cy="750"/>
                  </a:xfrm>
                </p:grpSpPr>
                <p:sp>
                  <p:nvSpPr>
                    <p:cNvPr id="294052" name="Oval 363"/>
                    <p:cNvSpPr>
                      <a:spLocks noChangeArrowheads="1"/>
                    </p:cNvSpPr>
                    <p:nvPr/>
                  </p:nvSpPr>
                  <p:spPr bwMode="auto">
                    <a:xfrm>
                      <a:off x="2206" y="3016"/>
                      <a:ext cx="750" cy="750"/>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4053" name="Oval 364"/>
                    <p:cNvSpPr>
                      <a:spLocks noChangeArrowheads="1"/>
                    </p:cNvSpPr>
                    <p:nvPr/>
                  </p:nvSpPr>
                  <p:spPr bwMode="auto">
                    <a:xfrm>
                      <a:off x="2285" y="3091"/>
                      <a:ext cx="591" cy="597"/>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051" name="Oval 365"/>
                  <p:cNvSpPr>
                    <a:spLocks noChangeArrowheads="1"/>
                  </p:cNvSpPr>
                  <p:nvPr/>
                </p:nvSpPr>
                <p:spPr bwMode="auto">
                  <a:xfrm>
                    <a:off x="2365" y="3172"/>
                    <a:ext cx="431" cy="435"/>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049" name="Oval 366"/>
                <p:cNvSpPr>
                  <a:spLocks noChangeArrowheads="1"/>
                </p:cNvSpPr>
                <p:nvPr/>
              </p:nvSpPr>
              <p:spPr bwMode="auto">
                <a:xfrm>
                  <a:off x="2444" y="3252"/>
                  <a:ext cx="274" cy="275"/>
                </a:xfrm>
                <a:prstGeom prst="ellipse">
                  <a:avLst/>
                </a:pr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sp>
            <p:nvSpPr>
              <p:cNvPr id="294047" name="Oval 367"/>
              <p:cNvSpPr>
                <a:spLocks noChangeArrowheads="1"/>
              </p:cNvSpPr>
              <p:nvPr/>
            </p:nvSpPr>
            <p:spPr bwMode="auto">
              <a:xfrm>
                <a:off x="2523" y="3331"/>
                <a:ext cx="115" cy="117"/>
              </a:xfrm>
              <a:prstGeom prst="ellipse">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grpSp>
          <p:nvGrpSpPr>
            <p:cNvPr id="294080" name="Group 368"/>
            <p:cNvGrpSpPr>
              <a:grpSpLocks/>
            </p:cNvGrpSpPr>
            <p:nvPr/>
          </p:nvGrpSpPr>
          <p:grpSpPr bwMode="auto">
            <a:xfrm>
              <a:off x="4491" y="3177"/>
              <a:ext cx="162" cy="122"/>
              <a:chOff x="2737" y="3158"/>
              <a:chExt cx="185" cy="150"/>
            </a:xfrm>
          </p:grpSpPr>
          <p:sp>
            <p:nvSpPr>
              <p:cNvPr id="294031" name="Freeform 369"/>
              <p:cNvSpPr>
                <a:spLocks/>
              </p:cNvSpPr>
              <p:nvPr/>
            </p:nvSpPr>
            <p:spPr bwMode="auto">
              <a:xfrm>
                <a:off x="2739" y="3291"/>
                <a:ext cx="17" cy="17"/>
              </a:xfrm>
              <a:custGeom>
                <a:avLst/>
                <a:gdLst>
                  <a:gd name="T0" fmla="*/ 0 w 17"/>
                  <a:gd name="T1" fmla="*/ 7 h 17"/>
                  <a:gd name="T2" fmla="*/ 7 w 17"/>
                  <a:gd name="T3" fmla="*/ 0 h 17"/>
                  <a:gd name="T4" fmla="*/ 16 w 17"/>
                  <a:gd name="T5" fmla="*/ 16 h 17"/>
                  <a:gd name="T6" fmla="*/ 2 w 17"/>
                  <a:gd name="T7" fmla="*/ 13 h 17"/>
                  <a:gd name="T8" fmla="*/ 0 w 17"/>
                  <a:gd name="T9" fmla="*/ 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7"/>
                    </a:moveTo>
                    <a:lnTo>
                      <a:pt x="7" y="0"/>
                    </a:lnTo>
                    <a:lnTo>
                      <a:pt x="16" y="16"/>
                    </a:lnTo>
                    <a:lnTo>
                      <a:pt x="2" y="13"/>
                    </a:lnTo>
                    <a:lnTo>
                      <a:pt x="0" y="7"/>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32" name="Freeform 370"/>
              <p:cNvSpPr>
                <a:spLocks/>
              </p:cNvSpPr>
              <p:nvPr/>
            </p:nvSpPr>
            <p:spPr bwMode="auto">
              <a:xfrm>
                <a:off x="2737" y="3277"/>
                <a:ext cx="17" cy="20"/>
              </a:xfrm>
              <a:custGeom>
                <a:avLst/>
                <a:gdLst>
                  <a:gd name="T0" fmla="*/ 10 w 17"/>
                  <a:gd name="T1" fmla="*/ 0 h 20"/>
                  <a:gd name="T2" fmla="*/ 16 w 17"/>
                  <a:gd name="T3" fmla="*/ 14 h 20"/>
                  <a:gd name="T4" fmla="*/ 3 w 17"/>
                  <a:gd name="T5" fmla="*/ 19 h 20"/>
                  <a:gd name="T6" fmla="*/ 0 w 17"/>
                  <a:gd name="T7" fmla="*/ 14 h 20"/>
                  <a:gd name="T8" fmla="*/ 10 w 17"/>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0">
                    <a:moveTo>
                      <a:pt x="10" y="0"/>
                    </a:moveTo>
                    <a:lnTo>
                      <a:pt x="16" y="14"/>
                    </a:lnTo>
                    <a:lnTo>
                      <a:pt x="3" y="19"/>
                    </a:lnTo>
                    <a:lnTo>
                      <a:pt x="0" y="14"/>
                    </a:lnTo>
                    <a:lnTo>
                      <a:pt x="10"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33" name="Freeform 371"/>
              <p:cNvSpPr>
                <a:spLocks/>
              </p:cNvSpPr>
              <p:nvPr/>
            </p:nvSpPr>
            <p:spPr bwMode="auto">
              <a:xfrm>
                <a:off x="2742" y="3277"/>
                <a:ext cx="17" cy="25"/>
              </a:xfrm>
              <a:custGeom>
                <a:avLst/>
                <a:gdLst>
                  <a:gd name="T0" fmla="*/ 0 w 17"/>
                  <a:gd name="T1" fmla="*/ 0 h 25"/>
                  <a:gd name="T2" fmla="*/ 4 w 17"/>
                  <a:gd name="T3" fmla="*/ 15 h 25"/>
                  <a:gd name="T4" fmla="*/ 16 w 17"/>
                  <a:gd name="T5" fmla="*/ 24 h 25"/>
                  <a:gd name="T6" fmla="*/ 10 w 17"/>
                  <a:gd name="T7" fmla="*/ 12 h 25"/>
                  <a:gd name="T8" fmla="*/ 0 w 17"/>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5">
                    <a:moveTo>
                      <a:pt x="0" y="0"/>
                    </a:moveTo>
                    <a:lnTo>
                      <a:pt x="4" y="15"/>
                    </a:lnTo>
                    <a:lnTo>
                      <a:pt x="16" y="24"/>
                    </a:lnTo>
                    <a:lnTo>
                      <a:pt x="10"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294090" name="Group 372"/>
              <p:cNvGrpSpPr>
                <a:grpSpLocks/>
              </p:cNvGrpSpPr>
              <p:nvPr/>
            </p:nvGrpSpPr>
            <p:grpSpPr bwMode="auto">
              <a:xfrm>
                <a:off x="2744" y="3158"/>
                <a:ext cx="178" cy="139"/>
                <a:chOff x="2744" y="3158"/>
                <a:chExt cx="178" cy="139"/>
              </a:xfrm>
            </p:grpSpPr>
            <p:sp>
              <p:nvSpPr>
                <p:cNvPr id="294035" name="Freeform 373"/>
                <p:cNvSpPr>
                  <a:spLocks/>
                </p:cNvSpPr>
                <p:nvPr/>
              </p:nvSpPr>
              <p:spPr bwMode="auto">
                <a:xfrm>
                  <a:off x="2744" y="3196"/>
                  <a:ext cx="153" cy="99"/>
                </a:xfrm>
                <a:custGeom>
                  <a:avLst/>
                  <a:gdLst>
                    <a:gd name="T0" fmla="*/ 122 w 153"/>
                    <a:gd name="T1" fmla="*/ 0 h 99"/>
                    <a:gd name="T2" fmla="*/ 3 w 153"/>
                    <a:gd name="T3" fmla="*/ 89 h 99"/>
                    <a:gd name="T4" fmla="*/ 2 w 153"/>
                    <a:gd name="T5" fmla="*/ 90 h 99"/>
                    <a:gd name="T6" fmla="*/ 1 w 153"/>
                    <a:gd name="T7" fmla="*/ 92 h 99"/>
                    <a:gd name="T8" fmla="*/ 0 w 153"/>
                    <a:gd name="T9" fmla="*/ 94 h 99"/>
                    <a:gd name="T10" fmla="*/ 1 w 153"/>
                    <a:gd name="T11" fmla="*/ 96 h 99"/>
                    <a:gd name="T12" fmla="*/ 2 w 153"/>
                    <a:gd name="T13" fmla="*/ 97 h 99"/>
                    <a:gd name="T14" fmla="*/ 4 w 153"/>
                    <a:gd name="T15" fmla="*/ 98 h 99"/>
                    <a:gd name="T16" fmla="*/ 6 w 153"/>
                    <a:gd name="T17" fmla="*/ 96 h 99"/>
                    <a:gd name="T18" fmla="*/ 152 w 153"/>
                    <a:gd name="T19" fmla="*/ 28 h 99"/>
                    <a:gd name="T20" fmla="*/ 122 w 153"/>
                    <a:gd name="T21" fmla="*/ 0 h 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3" h="99">
                      <a:moveTo>
                        <a:pt x="122" y="0"/>
                      </a:moveTo>
                      <a:lnTo>
                        <a:pt x="3" y="89"/>
                      </a:lnTo>
                      <a:lnTo>
                        <a:pt x="2" y="90"/>
                      </a:lnTo>
                      <a:lnTo>
                        <a:pt x="1" y="92"/>
                      </a:lnTo>
                      <a:lnTo>
                        <a:pt x="0" y="94"/>
                      </a:lnTo>
                      <a:lnTo>
                        <a:pt x="1" y="96"/>
                      </a:lnTo>
                      <a:lnTo>
                        <a:pt x="2" y="97"/>
                      </a:lnTo>
                      <a:lnTo>
                        <a:pt x="4" y="98"/>
                      </a:lnTo>
                      <a:lnTo>
                        <a:pt x="6" y="96"/>
                      </a:lnTo>
                      <a:lnTo>
                        <a:pt x="152" y="28"/>
                      </a:lnTo>
                      <a:lnTo>
                        <a:pt x="122"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36" name="Freeform 374"/>
                <p:cNvSpPr>
                  <a:spLocks/>
                </p:cNvSpPr>
                <p:nvPr/>
              </p:nvSpPr>
              <p:spPr bwMode="auto">
                <a:xfrm>
                  <a:off x="2855" y="3191"/>
                  <a:ext cx="52" cy="25"/>
                </a:xfrm>
                <a:custGeom>
                  <a:avLst/>
                  <a:gdLst>
                    <a:gd name="T0" fmla="*/ 2 w 52"/>
                    <a:gd name="T1" fmla="*/ 12 h 25"/>
                    <a:gd name="T2" fmla="*/ 21 w 52"/>
                    <a:gd name="T3" fmla="*/ 0 h 25"/>
                    <a:gd name="T4" fmla="*/ 51 w 52"/>
                    <a:gd name="T5" fmla="*/ 21 h 25"/>
                    <a:gd name="T6" fmla="*/ 46 w 52"/>
                    <a:gd name="T7" fmla="*/ 24 h 25"/>
                    <a:gd name="T8" fmla="*/ 19 w 52"/>
                    <a:gd name="T9" fmla="*/ 7 h 25"/>
                    <a:gd name="T10" fmla="*/ 0 w 52"/>
                    <a:gd name="T11" fmla="*/ 18 h 25"/>
                    <a:gd name="T12" fmla="*/ 2 w 52"/>
                    <a:gd name="T13" fmla="*/ 12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25">
                      <a:moveTo>
                        <a:pt x="2" y="12"/>
                      </a:moveTo>
                      <a:lnTo>
                        <a:pt x="21" y="0"/>
                      </a:lnTo>
                      <a:lnTo>
                        <a:pt x="51" y="21"/>
                      </a:lnTo>
                      <a:lnTo>
                        <a:pt x="46" y="24"/>
                      </a:lnTo>
                      <a:lnTo>
                        <a:pt x="19" y="7"/>
                      </a:lnTo>
                      <a:lnTo>
                        <a:pt x="0" y="18"/>
                      </a:lnTo>
                      <a:lnTo>
                        <a:pt x="2" y="12"/>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37" name="Freeform 375"/>
                <p:cNvSpPr>
                  <a:spLocks/>
                </p:cNvSpPr>
                <p:nvPr/>
              </p:nvSpPr>
              <p:spPr bwMode="auto">
                <a:xfrm>
                  <a:off x="2855" y="3187"/>
                  <a:ext cx="49" cy="48"/>
                </a:xfrm>
                <a:custGeom>
                  <a:avLst/>
                  <a:gdLst>
                    <a:gd name="T0" fmla="*/ 25 w 49"/>
                    <a:gd name="T1" fmla="*/ 0 h 48"/>
                    <a:gd name="T2" fmla="*/ 2 w 49"/>
                    <a:gd name="T3" fmla="*/ 16 h 48"/>
                    <a:gd name="T4" fmla="*/ 1 w 49"/>
                    <a:gd name="T5" fmla="*/ 18 h 48"/>
                    <a:gd name="T6" fmla="*/ 0 w 49"/>
                    <a:gd name="T7" fmla="*/ 21 h 48"/>
                    <a:gd name="T8" fmla="*/ 0 w 49"/>
                    <a:gd name="T9" fmla="*/ 25 h 48"/>
                    <a:gd name="T10" fmla="*/ 0 w 49"/>
                    <a:gd name="T11" fmla="*/ 28 h 48"/>
                    <a:gd name="T12" fmla="*/ 0 w 49"/>
                    <a:gd name="T13" fmla="*/ 32 h 48"/>
                    <a:gd name="T14" fmla="*/ 1 w 49"/>
                    <a:gd name="T15" fmla="*/ 35 h 48"/>
                    <a:gd name="T16" fmla="*/ 3 w 49"/>
                    <a:gd name="T17" fmla="*/ 38 h 48"/>
                    <a:gd name="T18" fmla="*/ 5 w 49"/>
                    <a:gd name="T19" fmla="*/ 41 h 48"/>
                    <a:gd name="T20" fmla="*/ 9 w 49"/>
                    <a:gd name="T21" fmla="*/ 43 h 48"/>
                    <a:gd name="T22" fmla="*/ 12 w 49"/>
                    <a:gd name="T23" fmla="*/ 45 h 48"/>
                    <a:gd name="T24" fmla="*/ 15 w 49"/>
                    <a:gd name="T25" fmla="*/ 46 h 48"/>
                    <a:gd name="T26" fmla="*/ 19 w 49"/>
                    <a:gd name="T27" fmla="*/ 47 h 48"/>
                    <a:gd name="T28" fmla="*/ 22 w 49"/>
                    <a:gd name="T29" fmla="*/ 47 h 48"/>
                    <a:gd name="T30" fmla="*/ 48 w 49"/>
                    <a:gd name="T31" fmla="*/ 35 h 48"/>
                    <a:gd name="T32" fmla="*/ 21 w 49"/>
                    <a:gd name="T33" fmla="*/ 9 h 48"/>
                    <a:gd name="T34" fmla="*/ 2 w 49"/>
                    <a:gd name="T35" fmla="*/ 20 h 48"/>
                    <a:gd name="T36" fmla="*/ 4 w 49"/>
                    <a:gd name="T37" fmla="*/ 17 h 48"/>
                    <a:gd name="T38" fmla="*/ 23 w 49"/>
                    <a:gd name="T39" fmla="*/ 4 h 48"/>
                    <a:gd name="T40" fmla="*/ 25 w 49"/>
                    <a:gd name="T41" fmla="*/ 0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48">
                      <a:moveTo>
                        <a:pt x="25" y="0"/>
                      </a:moveTo>
                      <a:lnTo>
                        <a:pt x="2" y="16"/>
                      </a:lnTo>
                      <a:lnTo>
                        <a:pt x="1" y="18"/>
                      </a:lnTo>
                      <a:lnTo>
                        <a:pt x="0" y="21"/>
                      </a:lnTo>
                      <a:lnTo>
                        <a:pt x="0" y="25"/>
                      </a:lnTo>
                      <a:lnTo>
                        <a:pt x="0" y="28"/>
                      </a:lnTo>
                      <a:lnTo>
                        <a:pt x="0" y="32"/>
                      </a:lnTo>
                      <a:lnTo>
                        <a:pt x="1" y="35"/>
                      </a:lnTo>
                      <a:lnTo>
                        <a:pt x="3" y="38"/>
                      </a:lnTo>
                      <a:lnTo>
                        <a:pt x="5" y="41"/>
                      </a:lnTo>
                      <a:lnTo>
                        <a:pt x="9" y="43"/>
                      </a:lnTo>
                      <a:lnTo>
                        <a:pt x="12" y="45"/>
                      </a:lnTo>
                      <a:lnTo>
                        <a:pt x="15" y="46"/>
                      </a:lnTo>
                      <a:lnTo>
                        <a:pt x="19" y="47"/>
                      </a:lnTo>
                      <a:lnTo>
                        <a:pt x="22" y="47"/>
                      </a:lnTo>
                      <a:lnTo>
                        <a:pt x="48" y="35"/>
                      </a:lnTo>
                      <a:lnTo>
                        <a:pt x="21" y="9"/>
                      </a:lnTo>
                      <a:lnTo>
                        <a:pt x="2" y="20"/>
                      </a:lnTo>
                      <a:lnTo>
                        <a:pt x="4" y="17"/>
                      </a:lnTo>
                      <a:lnTo>
                        <a:pt x="23" y="4"/>
                      </a:lnTo>
                      <a:lnTo>
                        <a:pt x="25"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38" name="Freeform 376"/>
                <p:cNvSpPr>
                  <a:spLocks/>
                </p:cNvSpPr>
                <p:nvPr/>
              </p:nvSpPr>
              <p:spPr bwMode="auto">
                <a:xfrm>
                  <a:off x="2876" y="3196"/>
                  <a:ext cx="31" cy="28"/>
                </a:xfrm>
                <a:custGeom>
                  <a:avLst/>
                  <a:gdLst>
                    <a:gd name="T0" fmla="*/ 0 w 31"/>
                    <a:gd name="T1" fmla="*/ 0 h 28"/>
                    <a:gd name="T2" fmla="*/ 0 w 31"/>
                    <a:gd name="T3" fmla="*/ 2 h 28"/>
                    <a:gd name="T4" fmla="*/ 1 w 31"/>
                    <a:gd name="T5" fmla="*/ 4 h 28"/>
                    <a:gd name="T6" fmla="*/ 1 w 31"/>
                    <a:gd name="T7" fmla="*/ 6 h 28"/>
                    <a:gd name="T8" fmla="*/ 3 w 31"/>
                    <a:gd name="T9" fmla="*/ 9 h 28"/>
                    <a:gd name="T10" fmla="*/ 4 w 31"/>
                    <a:gd name="T11" fmla="*/ 11 h 28"/>
                    <a:gd name="T12" fmla="*/ 6 w 31"/>
                    <a:gd name="T13" fmla="*/ 15 h 28"/>
                    <a:gd name="T14" fmla="*/ 9 w 31"/>
                    <a:gd name="T15" fmla="*/ 17 h 28"/>
                    <a:gd name="T16" fmla="*/ 12 w 31"/>
                    <a:gd name="T17" fmla="*/ 19 h 28"/>
                    <a:gd name="T18" fmla="*/ 14 w 31"/>
                    <a:gd name="T19" fmla="*/ 22 h 28"/>
                    <a:gd name="T20" fmla="*/ 17 w 31"/>
                    <a:gd name="T21" fmla="*/ 24 h 28"/>
                    <a:gd name="T22" fmla="*/ 20 w 31"/>
                    <a:gd name="T23" fmla="*/ 25 h 28"/>
                    <a:gd name="T24" fmla="*/ 23 w 31"/>
                    <a:gd name="T25" fmla="*/ 26 h 28"/>
                    <a:gd name="T26" fmla="*/ 25 w 31"/>
                    <a:gd name="T27" fmla="*/ 27 h 28"/>
                    <a:gd name="T28" fmla="*/ 27 w 31"/>
                    <a:gd name="T29" fmla="*/ 26 h 28"/>
                    <a:gd name="T30" fmla="*/ 28 w 31"/>
                    <a:gd name="T31" fmla="*/ 24 h 28"/>
                    <a:gd name="T32" fmla="*/ 29 w 31"/>
                    <a:gd name="T33" fmla="*/ 22 h 28"/>
                    <a:gd name="T34" fmla="*/ 30 w 31"/>
                    <a:gd name="T35" fmla="*/ 19 h 28"/>
                    <a:gd name="T36" fmla="*/ 0 w 31"/>
                    <a:gd name="T37" fmla="*/ 0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1" h="28">
                      <a:moveTo>
                        <a:pt x="0" y="0"/>
                      </a:moveTo>
                      <a:lnTo>
                        <a:pt x="0" y="2"/>
                      </a:lnTo>
                      <a:lnTo>
                        <a:pt x="1" y="4"/>
                      </a:lnTo>
                      <a:lnTo>
                        <a:pt x="1" y="6"/>
                      </a:lnTo>
                      <a:lnTo>
                        <a:pt x="3" y="9"/>
                      </a:lnTo>
                      <a:lnTo>
                        <a:pt x="4" y="11"/>
                      </a:lnTo>
                      <a:lnTo>
                        <a:pt x="6" y="15"/>
                      </a:lnTo>
                      <a:lnTo>
                        <a:pt x="9" y="17"/>
                      </a:lnTo>
                      <a:lnTo>
                        <a:pt x="12" y="19"/>
                      </a:lnTo>
                      <a:lnTo>
                        <a:pt x="14" y="22"/>
                      </a:lnTo>
                      <a:lnTo>
                        <a:pt x="17" y="24"/>
                      </a:lnTo>
                      <a:lnTo>
                        <a:pt x="20" y="25"/>
                      </a:lnTo>
                      <a:lnTo>
                        <a:pt x="23" y="26"/>
                      </a:lnTo>
                      <a:lnTo>
                        <a:pt x="25" y="27"/>
                      </a:lnTo>
                      <a:lnTo>
                        <a:pt x="27" y="26"/>
                      </a:lnTo>
                      <a:lnTo>
                        <a:pt x="28" y="24"/>
                      </a:lnTo>
                      <a:lnTo>
                        <a:pt x="29" y="22"/>
                      </a:lnTo>
                      <a:lnTo>
                        <a:pt x="30" y="19"/>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39" name="Freeform 377"/>
                <p:cNvSpPr>
                  <a:spLocks/>
                </p:cNvSpPr>
                <p:nvPr/>
              </p:nvSpPr>
              <p:spPr bwMode="auto">
                <a:xfrm>
                  <a:off x="2877" y="3186"/>
                  <a:ext cx="30" cy="27"/>
                </a:xfrm>
                <a:custGeom>
                  <a:avLst/>
                  <a:gdLst>
                    <a:gd name="T0" fmla="*/ 0 w 30"/>
                    <a:gd name="T1" fmla="*/ 6 h 27"/>
                    <a:gd name="T2" fmla="*/ 0 w 30"/>
                    <a:gd name="T3" fmla="*/ 4 h 27"/>
                    <a:gd name="T4" fmla="*/ 0 w 30"/>
                    <a:gd name="T5" fmla="*/ 2 h 27"/>
                    <a:gd name="T6" fmla="*/ 2 w 30"/>
                    <a:gd name="T7" fmla="*/ 0 h 27"/>
                    <a:gd name="T8" fmla="*/ 5 w 30"/>
                    <a:gd name="T9" fmla="*/ 0 h 27"/>
                    <a:gd name="T10" fmla="*/ 7 w 30"/>
                    <a:gd name="T11" fmla="*/ 0 h 27"/>
                    <a:gd name="T12" fmla="*/ 10 w 30"/>
                    <a:gd name="T13" fmla="*/ 0 h 27"/>
                    <a:gd name="T14" fmla="*/ 13 w 30"/>
                    <a:gd name="T15" fmla="*/ 1 h 27"/>
                    <a:gd name="T16" fmla="*/ 17 w 30"/>
                    <a:gd name="T17" fmla="*/ 3 h 27"/>
                    <a:gd name="T18" fmla="*/ 20 w 30"/>
                    <a:gd name="T19" fmla="*/ 5 h 27"/>
                    <a:gd name="T20" fmla="*/ 22 w 30"/>
                    <a:gd name="T21" fmla="*/ 7 h 27"/>
                    <a:gd name="T22" fmla="*/ 24 w 30"/>
                    <a:gd name="T23" fmla="*/ 10 h 27"/>
                    <a:gd name="T24" fmla="*/ 26 w 30"/>
                    <a:gd name="T25" fmla="*/ 13 h 27"/>
                    <a:gd name="T26" fmla="*/ 27 w 30"/>
                    <a:gd name="T27" fmla="*/ 15 h 27"/>
                    <a:gd name="T28" fmla="*/ 28 w 30"/>
                    <a:gd name="T29" fmla="*/ 19 h 27"/>
                    <a:gd name="T30" fmla="*/ 29 w 30"/>
                    <a:gd name="T31" fmla="*/ 23 h 27"/>
                    <a:gd name="T32" fmla="*/ 29 w 30"/>
                    <a:gd name="T33" fmla="*/ 26 h 27"/>
                    <a:gd name="T34" fmla="*/ 0 w 30"/>
                    <a:gd name="T35" fmla="*/ 6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0" h="27">
                      <a:moveTo>
                        <a:pt x="0" y="6"/>
                      </a:moveTo>
                      <a:lnTo>
                        <a:pt x="0" y="4"/>
                      </a:lnTo>
                      <a:lnTo>
                        <a:pt x="0" y="2"/>
                      </a:lnTo>
                      <a:lnTo>
                        <a:pt x="2" y="0"/>
                      </a:lnTo>
                      <a:lnTo>
                        <a:pt x="5" y="0"/>
                      </a:lnTo>
                      <a:lnTo>
                        <a:pt x="7" y="0"/>
                      </a:lnTo>
                      <a:lnTo>
                        <a:pt x="10" y="0"/>
                      </a:lnTo>
                      <a:lnTo>
                        <a:pt x="13" y="1"/>
                      </a:lnTo>
                      <a:lnTo>
                        <a:pt x="17" y="3"/>
                      </a:lnTo>
                      <a:lnTo>
                        <a:pt x="20" y="5"/>
                      </a:lnTo>
                      <a:lnTo>
                        <a:pt x="22" y="7"/>
                      </a:lnTo>
                      <a:lnTo>
                        <a:pt x="24" y="10"/>
                      </a:lnTo>
                      <a:lnTo>
                        <a:pt x="26" y="13"/>
                      </a:lnTo>
                      <a:lnTo>
                        <a:pt x="27" y="15"/>
                      </a:lnTo>
                      <a:lnTo>
                        <a:pt x="28" y="19"/>
                      </a:lnTo>
                      <a:lnTo>
                        <a:pt x="29" y="23"/>
                      </a:lnTo>
                      <a:lnTo>
                        <a:pt x="29" y="26"/>
                      </a:lnTo>
                      <a:lnTo>
                        <a:pt x="0" y="6"/>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40" name="Freeform 378"/>
                <p:cNvSpPr>
                  <a:spLocks/>
                </p:cNvSpPr>
                <p:nvPr/>
              </p:nvSpPr>
              <p:spPr bwMode="auto">
                <a:xfrm>
                  <a:off x="2809" y="3158"/>
                  <a:ext cx="66" cy="85"/>
                </a:xfrm>
                <a:custGeom>
                  <a:avLst/>
                  <a:gdLst>
                    <a:gd name="T0" fmla="*/ 0 w 66"/>
                    <a:gd name="T1" fmla="*/ 84 h 85"/>
                    <a:gd name="T2" fmla="*/ 53 w 66"/>
                    <a:gd name="T3" fmla="*/ 44 h 85"/>
                    <a:gd name="T4" fmla="*/ 65 w 66"/>
                    <a:gd name="T5" fmla="*/ 0 h 85"/>
                    <a:gd name="T6" fmla="*/ 50 w 66"/>
                    <a:gd name="T7" fmla="*/ 15 h 85"/>
                    <a:gd name="T8" fmla="*/ 47 w 66"/>
                    <a:gd name="T9" fmla="*/ 21 h 85"/>
                    <a:gd name="T10" fmla="*/ 45 w 66"/>
                    <a:gd name="T11" fmla="*/ 17 h 85"/>
                    <a:gd name="T12" fmla="*/ 30 w 66"/>
                    <a:gd name="T13" fmla="*/ 40 h 85"/>
                    <a:gd name="T14" fmla="*/ 29 w 66"/>
                    <a:gd name="T15" fmla="*/ 34 h 85"/>
                    <a:gd name="T16" fmla="*/ 11 w 66"/>
                    <a:gd name="T17" fmla="*/ 56 h 85"/>
                    <a:gd name="T18" fmla="*/ 0 w 66"/>
                    <a:gd name="T19" fmla="*/ 84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85">
                      <a:moveTo>
                        <a:pt x="0" y="84"/>
                      </a:moveTo>
                      <a:lnTo>
                        <a:pt x="53" y="44"/>
                      </a:lnTo>
                      <a:lnTo>
                        <a:pt x="65" y="0"/>
                      </a:lnTo>
                      <a:lnTo>
                        <a:pt x="50" y="15"/>
                      </a:lnTo>
                      <a:lnTo>
                        <a:pt x="47" y="21"/>
                      </a:lnTo>
                      <a:lnTo>
                        <a:pt x="45" y="17"/>
                      </a:lnTo>
                      <a:lnTo>
                        <a:pt x="30" y="40"/>
                      </a:lnTo>
                      <a:lnTo>
                        <a:pt x="29" y="34"/>
                      </a:lnTo>
                      <a:lnTo>
                        <a:pt x="11" y="56"/>
                      </a:lnTo>
                      <a:lnTo>
                        <a:pt x="0" y="84"/>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41" name="Freeform 379"/>
                <p:cNvSpPr>
                  <a:spLocks/>
                </p:cNvSpPr>
                <p:nvPr/>
              </p:nvSpPr>
              <p:spPr bwMode="auto">
                <a:xfrm>
                  <a:off x="2812" y="3207"/>
                  <a:ext cx="58" cy="42"/>
                </a:xfrm>
                <a:custGeom>
                  <a:avLst/>
                  <a:gdLst>
                    <a:gd name="T0" fmla="*/ 6 w 58"/>
                    <a:gd name="T1" fmla="*/ 33 h 42"/>
                    <a:gd name="T2" fmla="*/ 57 w 58"/>
                    <a:gd name="T3" fmla="*/ 0 h 42"/>
                    <a:gd name="T4" fmla="*/ 43 w 58"/>
                    <a:gd name="T5" fmla="*/ 14 h 42"/>
                    <a:gd name="T6" fmla="*/ 0 w 58"/>
                    <a:gd name="T7" fmla="*/ 41 h 42"/>
                    <a:gd name="T8" fmla="*/ 6 w 58"/>
                    <a:gd name="T9" fmla="*/ 33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8" h="42">
                      <a:moveTo>
                        <a:pt x="6" y="33"/>
                      </a:moveTo>
                      <a:lnTo>
                        <a:pt x="57" y="0"/>
                      </a:lnTo>
                      <a:lnTo>
                        <a:pt x="43" y="14"/>
                      </a:lnTo>
                      <a:lnTo>
                        <a:pt x="0" y="41"/>
                      </a:lnTo>
                      <a:lnTo>
                        <a:pt x="6" y="33"/>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42" name="Freeform 380"/>
                <p:cNvSpPr>
                  <a:spLocks/>
                </p:cNvSpPr>
                <p:nvPr/>
              </p:nvSpPr>
              <p:spPr bwMode="auto">
                <a:xfrm>
                  <a:off x="2814" y="3226"/>
                  <a:ext cx="108" cy="36"/>
                </a:xfrm>
                <a:custGeom>
                  <a:avLst/>
                  <a:gdLst>
                    <a:gd name="T0" fmla="*/ 0 w 108"/>
                    <a:gd name="T1" fmla="*/ 30 h 36"/>
                    <a:gd name="T2" fmla="*/ 67 w 108"/>
                    <a:gd name="T3" fmla="*/ 0 h 36"/>
                    <a:gd name="T4" fmla="*/ 107 w 108"/>
                    <a:gd name="T5" fmla="*/ 15 h 36"/>
                    <a:gd name="T6" fmla="*/ 86 w 108"/>
                    <a:gd name="T7" fmla="*/ 19 h 36"/>
                    <a:gd name="T8" fmla="*/ 79 w 108"/>
                    <a:gd name="T9" fmla="*/ 19 h 36"/>
                    <a:gd name="T10" fmla="*/ 83 w 108"/>
                    <a:gd name="T11" fmla="*/ 22 h 36"/>
                    <a:gd name="T12" fmla="*/ 61 w 108"/>
                    <a:gd name="T13" fmla="*/ 27 h 36"/>
                    <a:gd name="T14" fmla="*/ 54 w 108"/>
                    <a:gd name="T15" fmla="*/ 27 h 36"/>
                    <a:gd name="T16" fmla="*/ 59 w 108"/>
                    <a:gd name="T17" fmla="*/ 29 h 36"/>
                    <a:gd name="T18" fmla="*/ 29 w 108"/>
                    <a:gd name="T19" fmla="*/ 35 h 36"/>
                    <a:gd name="T20" fmla="*/ 0 w 108"/>
                    <a:gd name="T21" fmla="*/ 3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36">
                      <a:moveTo>
                        <a:pt x="0" y="30"/>
                      </a:moveTo>
                      <a:lnTo>
                        <a:pt x="67" y="0"/>
                      </a:lnTo>
                      <a:lnTo>
                        <a:pt x="107" y="15"/>
                      </a:lnTo>
                      <a:lnTo>
                        <a:pt x="86" y="19"/>
                      </a:lnTo>
                      <a:lnTo>
                        <a:pt x="79" y="19"/>
                      </a:lnTo>
                      <a:lnTo>
                        <a:pt x="83" y="22"/>
                      </a:lnTo>
                      <a:lnTo>
                        <a:pt x="61" y="27"/>
                      </a:lnTo>
                      <a:lnTo>
                        <a:pt x="54" y="27"/>
                      </a:lnTo>
                      <a:lnTo>
                        <a:pt x="59" y="29"/>
                      </a:lnTo>
                      <a:lnTo>
                        <a:pt x="29" y="35"/>
                      </a:lnTo>
                      <a:lnTo>
                        <a:pt x="0" y="3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43" name="Freeform 381"/>
                <p:cNvSpPr>
                  <a:spLocks/>
                </p:cNvSpPr>
                <p:nvPr/>
              </p:nvSpPr>
              <p:spPr bwMode="auto">
                <a:xfrm>
                  <a:off x="2790" y="3238"/>
                  <a:ext cx="32" cy="33"/>
                </a:xfrm>
                <a:custGeom>
                  <a:avLst/>
                  <a:gdLst>
                    <a:gd name="T0" fmla="*/ 20 w 32"/>
                    <a:gd name="T1" fmla="*/ 0 h 33"/>
                    <a:gd name="T2" fmla="*/ 19 w 32"/>
                    <a:gd name="T3" fmla="*/ 3 h 33"/>
                    <a:gd name="T4" fmla="*/ 19 w 32"/>
                    <a:gd name="T5" fmla="*/ 6 h 33"/>
                    <a:gd name="T6" fmla="*/ 18 w 32"/>
                    <a:gd name="T7" fmla="*/ 9 h 33"/>
                    <a:gd name="T8" fmla="*/ 19 w 32"/>
                    <a:gd name="T9" fmla="*/ 12 h 33"/>
                    <a:gd name="T10" fmla="*/ 20 w 32"/>
                    <a:gd name="T11" fmla="*/ 15 h 33"/>
                    <a:gd name="T12" fmla="*/ 21 w 32"/>
                    <a:gd name="T13" fmla="*/ 17 h 33"/>
                    <a:gd name="T14" fmla="*/ 23 w 32"/>
                    <a:gd name="T15" fmla="*/ 19 h 33"/>
                    <a:gd name="T16" fmla="*/ 26 w 32"/>
                    <a:gd name="T17" fmla="*/ 21 h 33"/>
                    <a:gd name="T18" fmla="*/ 29 w 32"/>
                    <a:gd name="T19" fmla="*/ 21 h 33"/>
                    <a:gd name="T20" fmla="*/ 31 w 32"/>
                    <a:gd name="T21" fmla="*/ 22 h 33"/>
                    <a:gd name="T22" fmla="*/ 10 w 32"/>
                    <a:gd name="T23" fmla="*/ 32 h 33"/>
                    <a:gd name="T24" fmla="*/ 8 w 32"/>
                    <a:gd name="T25" fmla="*/ 31 h 33"/>
                    <a:gd name="T26" fmla="*/ 5 w 32"/>
                    <a:gd name="T27" fmla="*/ 30 h 33"/>
                    <a:gd name="T28" fmla="*/ 3 w 32"/>
                    <a:gd name="T29" fmla="*/ 28 h 33"/>
                    <a:gd name="T30" fmla="*/ 1 w 32"/>
                    <a:gd name="T31" fmla="*/ 27 h 33"/>
                    <a:gd name="T32" fmla="*/ 0 w 32"/>
                    <a:gd name="T33" fmla="*/ 25 h 33"/>
                    <a:gd name="T34" fmla="*/ 0 w 32"/>
                    <a:gd name="T35" fmla="*/ 23 h 33"/>
                    <a:gd name="T36" fmla="*/ 0 w 32"/>
                    <a:gd name="T37" fmla="*/ 21 h 33"/>
                    <a:gd name="T38" fmla="*/ 0 w 32"/>
                    <a:gd name="T39" fmla="*/ 18 h 33"/>
                    <a:gd name="T40" fmla="*/ 1 w 32"/>
                    <a:gd name="T41" fmla="*/ 15 h 33"/>
                    <a:gd name="T42" fmla="*/ 2 w 32"/>
                    <a:gd name="T43" fmla="*/ 13 h 33"/>
                    <a:gd name="T44" fmla="*/ 20 w 32"/>
                    <a:gd name="T45" fmla="*/ 0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2" h="33">
                      <a:moveTo>
                        <a:pt x="20" y="0"/>
                      </a:moveTo>
                      <a:lnTo>
                        <a:pt x="19" y="3"/>
                      </a:lnTo>
                      <a:lnTo>
                        <a:pt x="19" y="6"/>
                      </a:lnTo>
                      <a:lnTo>
                        <a:pt x="18" y="9"/>
                      </a:lnTo>
                      <a:lnTo>
                        <a:pt x="19" y="12"/>
                      </a:lnTo>
                      <a:lnTo>
                        <a:pt x="20" y="15"/>
                      </a:lnTo>
                      <a:lnTo>
                        <a:pt x="21" y="17"/>
                      </a:lnTo>
                      <a:lnTo>
                        <a:pt x="23" y="19"/>
                      </a:lnTo>
                      <a:lnTo>
                        <a:pt x="26" y="21"/>
                      </a:lnTo>
                      <a:lnTo>
                        <a:pt x="29" y="21"/>
                      </a:lnTo>
                      <a:lnTo>
                        <a:pt x="31" y="22"/>
                      </a:lnTo>
                      <a:lnTo>
                        <a:pt x="10" y="32"/>
                      </a:lnTo>
                      <a:lnTo>
                        <a:pt x="8" y="31"/>
                      </a:lnTo>
                      <a:lnTo>
                        <a:pt x="5" y="30"/>
                      </a:lnTo>
                      <a:lnTo>
                        <a:pt x="3" y="28"/>
                      </a:lnTo>
                      <a:lnTo>
                        <a:pt x="1" y="27"/>
                      </a:lnTo>
                      <a:lnTo>
                        <a:pt x="0" y="25"/>
                      </a:lnTo>
                      <a:lnTo>
                        <a:pt x="0" y="23"/>
                      </a:lnTo>
                      <a:lnTo>
                        <a:pt x="0" y="21"/>
                      </a:lnTo>
                      <a:lnTo>
                        <a:pt x="0" y="18"/>
                      </a:lnTo>
                      <a:lnTo>
                        <a:pt x="1" y="15"/>
                      </a:lnTo>
                      <a:lnTo>
                        <a:pt x="2" y="13"/>
                      </a:lnTo>
                      <a:lnTo>
                        <a:pt x="20"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44" name="Freeform 382"/>
                <p:cNvSpPr>
                  <a:spLocks/>
                </p:cNvSpPr>
                <p:nvPr/>
              </p:nvSpPr>
              <p:spPr bwMode="auto">
                <a:xfrm>
                  <a:off x="2795" y="3245"/>
                  <a:ext cx="17" cy="23"/>
                </a:xfrm>
                <a:custGeom>
                  <a:avLst/>
                  <a:gdLst>
                    <a:gd name="T0" fmla="*/ 7 w 17"/>
                    <a:gd name="T1" fmla="*/ 0 h 23"/>
                    <a:gd name="T2" fmla="*/ 6 w 17"/>
                    <a:gd name="T3" fmla="*/ 1 h 23"/>
                    <a:gd name="T4" fmla="*/ 5 w 17"/>
                    <a:gd name="T5" fmla="*/ 4 h 23"/>
                    <a:gd name="T6" fmla="*/ 4 w 17"/>
                    <a:gd name="T7" fmla="*/ 7 h 23"/>
                    <a:gd name="T8" fmla="*/ 4 w 17"/>
                    <a:gd name="T9" fmla="*/ 9 h 23"/>
                    <a:gd name="T10" fmla="*/ 4 w 17"/>
                    <a:gd name="T11" fmla="*/ 11 h 23"/>
                    <a:gd name="T12" fmla="*/ 5 w 17"/>
                    <a:gd name="T13" fmla="*/ 14 h 23"/>
                    <a:gd name="T14" fmla="*/ 7 w 17"/>
                    <a:gd name="T15" fmla="*/ 16 h 23"/>
                    <a:gd name="T16" fmla="*/ 10 w 17"/>
                    <a:gd name="T17" fmla="*/ 18 h 23"/>
                    <a:gd name="T18" fmla="*/ 12 w 17"/>
                    <a:gd name="T19" fmla="*/ 19 h 23"/>
                    <a:gd name="T20" fmla="*/ 16 w 17"/>
                    <a:gd name="T21" fmla="*/ 20 h 23"/>
                    <a:gd name="T22" fmla="*/ 12 w 17"/>
                    <a:gd name="T23" fmla="*/ 22 h 23"/>
                    <a:gd name="T24" fmla="*/ 9 w 17"/>
                    <a:gd name="T25" fmla="*/ 21 h 23"/>
                    <a:gd name="T26" fmla="*/ 6 w 17"/>
                    <a:gd name="T27" fmla="*/ 20 h 23"/>
                    <a:gd name="T28" fmla="*/ 4 w 17"/>
                    <a:gd name="T29" fmla="*/ 19 h 23"/>
                    <a:gd name="T30" fmla="*/ 2 w 17"/>
                    <a:gd name="T31" fmla="*/ 17 h 23"/>
                    <a:gd name="T32" fmla="*/ 1 w 17"/>
                    <a:gd name="T33" fmla="*/ 14 h 23"/>
                    <a:gd name="T34" fmla="*/ 0 w 17"/>
                    <a:gd name="T35" fmla="*/ 13 h 23"/>
                    <a:gd name="T36" fmla="*/ 0 w 17"/>
                    <a:gd name="T37" fmla="*/ 11 h 23"/>
                    <a:gd name="T38" fmla="*/ 0 w 17"/>
                    <a:gd name="T39" fmla="*/ 7 h 23"/>
                    <a:gd name="T40" fmla="*/ 1 w 17"/>
                    <a:gd name="T41" fmla="*/ 5 h 23"/>
                    <a:gd name="T42" fmla="*/ 2 w 17"/>
                    <a:gd name="T43" fmla="*/ 3 h 23"/>
                    <a:gd name="T44" fmla="*/ 7 w 17"/>
                    <a:gd name="T45" fmla="*/ 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7" h="23">
                      <a:moveTo>
                        <a:pt x="7" y="0"/>
                      </a:moveTo>
                      <a:lnTo>
                        <a:pt x="6" y="1"/>
                      </a:lnTo>
                      <a:lnTo>
                        <a:pt x="5" y="4"/>
                      </a:lnTo>
                      <a:lnTo>
                        <a:pt x="4" y="7"/>
                      </a:lnTo>
                      <a:lnTo>
                        <a:pt x="4" y="9"/>
                      </a:lnTo>
                      <a:lnTo>
                        <a:pt x="4" y="11"/>
                      </a:lnTo>
                      <a:lnTo>
                        <a:pt x="5" y="14"/>
                      </a:lnTo>
                      <a:lnTo>
                        <a:pt x="7" y="16"/>
                      </a:lnTo>
                      <a:lnTo>
                        <a:pt x="10" y="18"/>
                      </a:lnTo>
                      <a:lnTo>
                        <a:pt x="12" y="19"/>
                      </a:lnTo>
                      <a:lnTo>
                        <a:pt x="16" y="20"/>
                      </a:lnTo>
                      <a:lnTo>
                        <a:pt x="12" y="22"/>
                      </a:lnTo>
                      <a:lnTo>
                        <a:pt x="9" y="21"/>
                      </a:lnTo>
                      <a:lnTo>
                        <a:pt x="6" y="20"/>
                      </a:lnTo>
                      <a:lnTo>
                        <a:pt x="4" y="19"/>
                      </a:lnTo>
                      <a:lnTo>
                        <a:pt x="2" y="17"/>
                      </a:lnTo>
                      <a:lnTo>
                        <a:pt x="1" y="14"/>
                      </a:lnTo>
                      <a:lnTo>
                        <a:pt x="0" y="13"/>
                      </a:lnTo>
                      <a:lnTo>
                        <a:pt x="0" y="11"/>
                      </a:lnTo>
                      <a:lnTo>
                        <a:pt x="0" y="7"/>
                      </a:lnTo>
                      <a:lnTo>
                        <a:pt x="1" y="5"/>
                      </a:lnTo>
                      <a:lnTo>
                        <a:pt x="2" y="3"/>
                      </a:lnTo>
                      <a:lnTo>
                        <a:pt x="7"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45" name="Freeform 383"/>
                <p:cNvSpPr>
                  <a:spLocks/>
                </p:cNvSpPr>
                <p:nvPr/>
              </p:nvSpPr>
              <p:spPr bwMode="auto">
                <a:xfrm>
                  <a:off x="2744" y="3280"/>
                  <a:ext cx="17" cy="17"/>
                </a:xfrm>
                <a:custGeom>
                  <a:avLst/>
                  <a:gdLst>
                    <a:gd name="T0" fmla="*/ 11 w 17"/>
                    <a:gd name="T1" fmla="*/ 0 h 17"/>
                    <a:gd name="T2" fmla="*/ 3 w 17"/>
                    <a:gd name="T3" fmla="*/ 6 h 17"/>
                    <a:gd name="T4" fmla="*/ 2 w 17"/>
                    <a:gd name="T5" fmla="*/ 7 h 17"/>
                    <a:gd name="T6" fmla="*/ 1 w 17"/>
                    <a:gd name="T7" fmla="*/ 9 h 17"/>
                    <a:gd name="T8" fmla="*/ 0 w 17"/>
                    <a:gd name="T9" fmla="*/ 12 h 17"/>
                    <a:gd name="T10" fmla="*/ 1 w 17"/>
                    <a:gd name="T11" fmla="*/ 14 h 17"/>
                    <a:gd name="T12" fmla="*/ 3 w 17"/>
                    <a:gd name="T13" fmla="*/ 15 h 17"/>
                    <a:gd name="T14" fmla="*/ 4 w 17"/>
                    <a:gd name="T15" fmla="*/ 16 h 17"/>
                    <a:gd name="T16" fmla="*/ 6 w 17"/>
                    <a:gd name="T17" fmla="*/ 14 h 17"/>
                    <a:gd name="T18" fmla="*/ 16 w 17"/>
                    <a:gd name="T19" fmla="*/ 10 h 17"/>
                    <a:gd name="T20" fmla="*/ 13 w 17"/>
                    <a:gd name="T21" fmla="*/ 9 h 17"/>
                    <a:gd name="T22" fmla="*/ 12 w 17"/>
                    <a:gd name="T23" fmla="*/ 8 h 17"/>
                    <a:gd name="T24" fmla="*/ 11 w 17"/>
                    <a:gd name="T25" fmla="*/ 6 h 17"/>
                    <a:gd name="T26" fmla="*/ 11 w 17"/>
                    <a:gd name="T27" fmla="*/ 4 h 17"/>
                    <a:gd name="T28" fmla="*/ 11 w 17"/>
                    <a:gd name="T29" fmla="*/ 2 h 17"/>
                    <a:gd name="T30" fmla="*/ 11 w 17"/>
                    <a:gd name="T31" fmla="*/ 0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 h="17">
                      <a:moveTo>
                        <a:pt x="11" y="0"/>
                      </a:moveTo>
                      <a:lnTo>
                        <a:pt x="3" y="6"/>
                      </a:lnTo>
                      <a:lnTo>
                        <a:pt x="2" y="7"/>
                      </a:lnTo>
                      <a:lnTo>
                        <a:pt x="1" y="9"/>
                      </a:lnTo>
                      <a:lnTo>
                        <a:pt x="0" y="12"/>
                      </a:lnTo>
                      <a:lnTo>
                        <a:pt x="1" y="14"/>
                      </a:lnTo>
                      <a:lnTo>
                        <a:pt x="3" y="15"/>
                      </a:lnTo>
                      <a:lnTo>
                        <a:pt x="4" y="16"/>
                      </a:lnTo>
                      <a:lnTo>
                        <a:pt x="6" y="14"/>
                      </a:lnTo>
                      <a:lnTo>
                        <a:pt x="16" y="10"/>
                      </a:lnTo>
                      <a:lnTo>
                        <a:pt x="13" y="9"/>
                      </a:lnTo>
                      <a:lnTo>
                        <a:pt x="12" y="8"/>
                      </a:lnTo>
                      <a:lnTo>
                        <a:pt x="11" y="6"/>
                      </a:lnTo>
                      <a:lnTo>
                        <a:pt x="11" y="4"/>
                      </a:lnTo>
                      <a:lnTo>
                        <a:pt x="11" y="2"/>
                      </a:lnTo>
                      <a:lnTo>
                        <a:pt x="11" y="0"/>
                      </a:lnTo>
                    </a:path>
                  </a:pathLst>
                </a:custGeom>
                <a:solidFill>
                  <a:srgbClr val="00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grpSp>
          <p:nvGrpSpPr>
            <p:cNvPr id="294093" name="Group 384"/>
            <p:cNvGrpSpPr>
              <a:grpSpLocks/>
            </p:cNvGrpSpPr>
            <p:nvPr/>
          </p:nvGrpSpPr>
          <p:grpSpPr bwMode="auto">
            <a:xfrm>
              <a:off x="4575" y="3216"/>
              <a:ext cx="142" cy="150"/>
              <a:chOff x="2532" y="3117"/>
              <a:chExt cx="162" cy="184"/>
            </a:xfrm>
          </p:grpSpPr>
          <p:sp>
            <p:nvSpPr>
              <p:cNvPr id="294016" name="Freeform 385"/>
              <p:cNvSpPr>
                <a:spLocks/>
              </p:cNvSpPr>
              <p:nvPr/>
            </p:nvSpPr>
            <p:spPr bwMode="auto">
              <a:xfrm>
                <a:off x="2535" y="3284"/>
                <a:ext cx="17" cy="17"/>
              </a:xfrm>
              <a:custGeom>
                <a:avLst/>
                <a:gdLst>
                  <a:gd name="T0" fmla="*/ 0 w 17"/>
                  <a:gd name="T1" fmla="*/ 10 h 17"/>
                  <a:gd name="T2" fmla="*/ 4 w 17"/>
                  <a:gd name="T3" fmla="*/ 0 h 17"/>
                  <a:gd name="T4" fmla="*/ 16 w 17"/>
                  <a:gd name="T5" fmla="*/ 12 h 17"/>
                  <a:gd name="T6" fmla="*/ 3 w 17"/>
                  <a:gd name="T7" fmla="*/ 16 h 17"/>
                  <a:gd name="T8" fmla="*/ 0 w 17"/>
                  <a:gd name="T9" fmla="*/ 1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10"/>
                    </a:moveTo>
                    <a:lnTo>
                      <a:pt x="4" y="0"/>
                    </a:lnTo>
                    <a:lnTo>
                      <a:pt x="16" y="12"/>
                    </a:lnTo>
                    <a:lnTo>
                      <a:pt x="3" y="16"/>
                    </a:lnTo>
                    <a:lnTo>
                      <a:pt x="0" y="10"/>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17" name="Freeform 386"/>
              <p:cNvSpPr>
                <a:spLocks/>
              </p:cNvSpPr>
              <p:nvPr/>
            </p:nvSpPr>
            <p:spPr bwMode="auto">
              <a:xfrm>
                <a:off x="2533" y="3271"/>
                <a:ext cx="18" cy="21"/>
              </a:xfrm>
              <a:custGeom>
                <a:avLst/>
                <a:gdLst>
                  <a:gd name="T0" fmla="*/ 0 w 18"/>
                  <a:gd name="T1" fmla="*/ 0 h 21"/>
                  <a:gd name="T2" fmla="*/ 10 w 18"/>
                  <a:gd name="T3" fmla="*/ 9 h 21"/>
                  <a:gd name="T4" fmla="*/ 17 w 18"/>
                  <a:gd name="T5" fmla="*/ 20 h 21"/>
                  <a:gd name="T6" fmla="*/ 6 w 18"/>
                  <a:gd name="T7" fmla="*/ 12 h 21"/>
                  <a:gd name="T8" fmla="*/ 0 w 18"/>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1">
                    <a:moveTo>
                      <a:pt x="0" y="0"/>
                    </a:moveTo>
                    <a:lnTo>
                      <a:pt x="10" y="9"/>
                    </a:lnTo>
                    <a:lnTo>
                      <a:pt x="17" y="20"/>
                    </a:lnTo>
                    <a:lnTo>
                      <a:pt x="6" y="12"/>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18" name="Freeform 387"/>
              <p:cNvSpPr>
                <a:spLocks/>
              </p:cNvSpPr>
              <p:nvPr/>
            </p:nvSpPr>
            <p:spPr bwMode="auto">
              <a:xfrm>
                <a:off x="2532" y="3271"/>
                <a:ext cx="17" cy="19"/>
              </a:xfrm>
              <a:custGeom>
                <a:avLst/>
                <a:gdLst>
                  <a:gd name="T0" fmla="*/ 2 w 17"/>
                  <a:gd name="T1" fmla="*/ 0 h 19"/>
                  <a:gd name="T2" fmla="*/ 16 w 17"/>
                  <a:gd name="T3" fmla="*/ 12 h 19"/>
                  <a:gd name="T4" fmla="*/ 5 w 17"/>
                  <a:gd name="T5" fmla="*/ 18 h 19"/>
                  <a:gd name="T6" fmla="*/ 0 w 17"/>
                  <a:gd name="T7" fmla="*/ 15 h 19"/>
                  <a:gd name="T8" fmla="*/ 2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2" y="0"/>
                    </a:moveTo>
                    <a:lnTo>
                      <a:pt x="16" y="12"/>
                    </a:lnTo>
                    <a:lnTo>
                      <a:pt x="5" y="18"/>
                    </a:lnTo>
                    <a:lnTo>
                      <a:pt x="0" y="15"/>
                    </a:lnTo>
                    <a:lnTo>
                      <a:pt x="2"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19" name="Freeform 388"/>
              <p:cNvSpPr>
                <a:spLocks/>
              </p:cNvSpPr>
              <p:nvPr/>
            </p:nvSpPr>
            <p:spPr bwMode="auto">
              <a:xfrm>
                <a:off x="2538" y="3161"/>
                <a:ext cx="117" cy="125"/>
              </a:xfrm>
              <a:custGeom>
                <a:avLst/>
                <a:gdLst>
                  <a:gd name="T0" fmla="*/ 87 w 117"/>
                  <a:gd name="T1" fmla="*/ 0 h 125"/>
                  <a:gd name="T2" fmla="*/ 0 w 117"/>
                  <a:gd name="T3" fmla="*/ 118 h 125"/>
                  <a:gd name="T4" fmla="*/ 0 w 117"/>
                  <a:gd name="T5" fmla="*/ 119 h 125"/>
                  <a:gd name="T6" fmla="*/ 0 w 117"/>
                  <a:gd name="T7" fmla="*/ 121 h 125"/>
                  <a:gd name="T8" fmla="*/ 0 w 117"/>
                  <a:gd name="T9" fmla="*/ 122 h 125"/>
                  <a:gd name="T10" fmla="*/ 1 w 117"/>
                  <a:gd name="T11" fmla="*/ 124 h 125"/>
                  <a:gd name="T12" fmla="*/ 3 w 117"/>
                  <a:gd name="T13" fmla="*/ 124 h 125"/>
                  <a:gd name="T14" fmla="*/ 5 w 117"/>
                  <a:gd name="T15" fmla="*/ 124 h 125"/>
                  <a:gd name="T16" fmla="*/ 116 w 117"/>
                  <a:gd name="T17" fmla="*/ 24 h 125"/>
                  <a:gd name="T18" fmla="*/ 87 w 117"/>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7" h="125">
                    <a:moveTo>
                      <a:pt x="87" y="0"/>
                    </a:moveTo>
                    <a:lnTo>
                      <a:pt x="0" y="118"/>
                    </a:lnTo>
                    <a:lnTo>
                      <a:pt x="0" y="119"/>
                    </a:lnTo>
                    <a:lnTo>
                      <a:pt x="0" y="121"/>
                    </a:lnTo>
                    <a:lnTo>
                      <a:pt x="0" y="122"/>
                    </a:lnTo>
                    <a:lnTo>
                      <a:pt x="1" y="124"/>
                    </a:lnTo>
                    <a:lnTo>
                      <a:pt x="3" y="124"/>
                    </a:lnTo>
                    <a:lnTo>
                      <a:pt x="5" y="124"/>
                    </a:lnTo>
                    <a:lnTo>
                      <a:pt x="116" y="24"/>
                    </a:lnTo>
                    <a:lnTo>
                      <a:pt x="87"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20" name="Freeform 389"/>
              <p:cNvSpPr>
                <a:spLocks/>
              </p:cNvSpPr>
              <p:nvPr/>
            </p:nvSpPr>
            <p:spPr bwMode="auto">
              <a:xfrm>
                <a:off x="2623" y="3149"/>
                <a:ext cx="49" cy="24"/>
              </a:xfrm>
              <a:custGeom>
                <a:avLst/>
                <a:gdLst>
                  <a:gd name="T0" fmla="*/ 13 w 49"/>
                  <a:gd name="T1" fmla="*/ 0 h 24"/>
                  <a:gd name="T2" fmla="*/ 48 w 49"/>
                  <a:gd name="T3" fmla="*/ 11 h 24"/>
                  <a:gd name="T4" fmla="*/ 45 w 49"/>
                  <a:gd name="T5" fmla="*/ 13 h 24"/>
                  <a:gd name="T6" fmla="*/ 45 w 49"/>
                  <a:gd name="T7" fmla="*/ 16 h 24"/>
                  <a:gd name="T8" fmla="*/ 16 w 49"/>
                  <a:gd name="T9" fmla="*/ 6 h 24"/>
                  <a:gd name="T10" fmla="*/ 0 w 49"/>
                  <a:gd name="T11" fmla="*/ 23 h 24"/>
                  <a:gd name="T12" fmla="*/ 0 w 49"/>
                  <a:gd name="T13" fmla="*/ 16 h 24"/>
                  <a:gd name="T14" fmla="*/ 13 w 49"/>
                  <a:gd name="T15" fmla="*/ 0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9" h="24">
                    <a:moveTo>
                      <a:pt x="13" y="0"/>
                    </a:moveTo>
                    <a:lnTo>
                      <a:pt x="48" y="11"/>
                    </a:lnTo>
                    <a:lnTo>
                      <a:pt x="45" y="13"/>
                    </a:lnTo>
                    <a:lnTo>
                      <a:pt x="45" y="16"/>
                    </a:lnTo>
                    <a:lnTo>
                      <a:pt x="16" y="6"/>
                    </a:lnTo>
                    <a:lnTo>
                      <a:pt x="0" y="23"/>
                    </a:lnTo>
                    <a:lnTo>
                      <a:pt x="0" y="16"/>
                    </a:lnTo>
                    <a:lnTo>
                      <a:pt x="13" y="0"/>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21" name="Freeform 390"/>
              <p:cNvSpPr>
                <a:spLocks/>
              </p:cNvSpPr>
              <p:nvPr/>
            </p:nvSpPr>
            <p:spPr bwMode="auto">
              <a:xfrm>
                <a:off x="2638" y="3154"/>
                <a:ext cx="35" cy="21"/>
              </a:xfrm>
              <a:custGeom>
                <a:avLst/>
                <a:gdLst>
                  <a:gd name="T0" fmla="*/ 0 w 35"/>
                  <a:gd name="T1" fmla="*/ 0 h 21"/>
                  <a:gd name="T2" fmla="*/ 33 w 35"/>
                  <a:gd name="T3" fmla="*/ 9 h 21"/>
                  <a:gd name="T4" fmla="*/ 34 w 35"/>
                  <a:gd name="T5" fmla="*/ 12 h 21"/>
                  <a:gd name="T6" fmla="*/ 33 w 35"/>
                  <a:gd name="T7" fmla="*/ 15 h 21"/>
                  <a:gd name="T8" fmla="*/ 31 w 35"/>
                  <a:gd name="T9" fmla="*/ 18 h 21"/>
                  <a:gd name="T10" fmla="*/ 26 w 35"/>
                  <a:gd name="T11" fmla="*/ 20 h 21"/>
                  <a:gd name="T12" fmla="*/ 17 w 35"/>
                  <a:gd name="T13" fmla="*/ 17 h 21"/>
                  <a:gd name="T14" fmla="*/ 6 w 35"/>
                  <a:gd name="T15" fmla="*/ 10 h 21"/>
                  <a:gd name="T16" fmla="*/ 0 w 35"/>
                  <a:gd name="T17" fmla="*/ 4 h 21"/>
                  <a:gd name="T18" fmla="*/ 0 w 35"/>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21">
                    <a:moveTo>
                      <a:pt x="0" y="0"/>
                    </a:moveTo>
                    <a:lnTo>
                      <a:pt x="33" y="9"/>
                    </a:lnTo>
                    <a:lnTo>
                      <a:pt x="34" y="12"/>
                    </a:lnTo>
                    <a:lnTo>
                      <a:pt x="33" y="15"/>
                    </a:lnTo>
                    <a:lnTo>
                      <a:pt x="31" y="18"/>
                    </a:lnTo>
                    <a:lnTo>
                      <a:pt x="26" y="20"/>
                    </a:lnTo>
                    <a:lnTo>
                      <a:pt x="17" y="17"/>
                    </a:lnTo>
                    <a:lnTo>
                      <a:pt x="6" y="10"/>
                    </a:lnTo>
                    <a:lnTo>
                      <a:pt x="0" y="4"/>
                    </a:lnTo>
                    <a:lnTo>
                      <a:pt x="0"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22" name="Freeform 391"/>
              <p:cNvSpPr>
                <a:spLocks/>
              </p:cNvSpPr>
              <p:nvPr/>
            </p:nvSpPr>
            <p:spPr bwMode="auto">
              <a:xfrm>
                <a:off x="2635" y="3141"/>
                <a:ext cx="37" cy="21"/>
              </a:xfrm>
              <a:custGeom>
                <a:avLst/>
                <a:gdLst>
                  <a:gd name="T0" fmla="*/ 1 w 37"/>
                  <a:gd name="T1" fmla="*/ 9 h 21"/>
                  <a:gd name="T2" fmla="*/ 36 w 37"/>
                  <a:gd name="T3" fmla="*/ 20 h 21"/>
                  <a:gd name="T4" fmla="*/ 35 w 37"/>
                  <a:gd name="T5" fmla="*/ 16 h 21"/>
                  <a:gd name="T6" fmla="*/ 33 w 37"/>
                  <a:gd name="T7" fmla="*/ 13 h 21"/>
                  <a:gd name="T8" fmla="*/ 31 w 37"/>
                  <a:gd name="T9" fmla="*/ 10 h 21"/>
                  <a:gd name="T10" fmla="*/ 29 w 37"/>
                  <a:gd name="T11" fmla="*/ 7 h 21"/>
                  <a:gd name="T12" fmla="*/ 26 w 37"/>
                  <a:gd name="T13" fmla="*/ 4 h 21"/>
                  <a:gd name="T14" fmla="*/ 23 w 37"/>
                  <a:gd name="T15" fmla="*/ 3 h 21"/>
                  <a:gd name="T16" fmla="*/ 19 w 37"/>
                  <a:gd name="T17" fmla="*/ 1 h 21"/>
                  <a:gd name="T18" fmla="*/ 15 w 37"/>
                  <a:gd name="T19" fmla="*/ 0 h 21"/>
                  <a:gd name="T20" fmla="*/ 12 w 37"/>
                  <a:gd name="T21" fmla="*/ 0 h 21"/>
                  <a:gd name="T22" fmla="*/ 9 w 37"/>
                  <a:gd name="T23" fmla="*/ 0 h 21"/>
                  <a:gd name="T24" fmla="*/ 7 w 37"/>
                  <a:gd name="T25" fmla="*/ 0 h 21"/>
                  <a:gd name="T26" fmla="*/ 4 w 37"/>
                  <a:gd name="T27" fmla="*/ 1 h 21"/>
                  <a:gd name="T28" fmla="*/ 1 w 37"/>
                  <a:gd name="T29" fmla="*/ 3 h 21"/>
                  <a:gd name="T30" fmla="*/ 0 w 37"/>
                  <a:gd name="T31" fmla="*/ 5 h 21"/>
                  <a:gd name="T32" fmla="*/ 0 w 37"/>
                  <a:gd name="T33" fmla="*/ 9 h 21"/>
                  <a:gd name="T34" fmla="*/ 1 w 37"/>
                  <a:gd name="T35" fmla="*/ 9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21">
                    <a:moveTo>
                      <a:pt x="1" y="9"/>
                    </a:moveTo>
                    <a:lnTo>
                      <a:pt x="36" y="20"/>
                    </a:lnTo>
                    <a:lnTo>
                      <a:pt x="35" y="16"/>
                    </a:lnTo>
                    <a:lnTo>
                      <a:pt x="33" y="13"/>
                    </a:lnTo>
                    <a:lnTo>
                      <a:pt x="31" y="10"/>
                    </a:lnTo>
                    <a:lnTo>
                      <a:pt x="29" y="7"/>
                    </a:lnTo>
                    <a:lnTo>
                      <a:pt x="26" y="4"/>
                    </a:lnTo>
                    <a:lnTo>
                      <a:pt x="23" y="3"/>
                    </a:lnTo>
                    <a:lnTo>
                      <a:pt x="19" y="1"/>
                    </a:lnTo>
                    <a:lnTo>
                      <a:pt x="15" y="0"/>
                    </a:lnTo>
                    <a:lnTo>
                      <a:pt x="12" y="0"/>
                    </a:lnTo>
                    <a:lnTo>
                      <a:pt x="9" y="0"/>
                    </a:lnTo>
                    <a:lnTo>
                      <a:pt x="7" y="0"/>
                    </a:lnTo>
                    <a:lnTo>
                      <a:pt x="4" y="1"/>
                    </a:lnTo>
                    <a:lnTo>
                      <a:pt x="1" y="3"/>
                    </a:lnTo>
                    <a:lnTo>
                      <a:pt x="0" y="5"/>
                    </a:lnTo>
                    <a:lnTo>
                      <a:pt x="0" y="9"/>
                    </a:lnTo>
                    <a:lnTo>
                      <a:pt x="1" y="9"/>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23" name="Freeform 392"/>
              <p:cNvSpPr>
                <a:spLocks/>
              </p:cNvSpPr>
              <p:nvPr/>
            </p:nvSpPr>
            <p:spPr bwMode="auto">
              <a:xfrm>
                <a:off x="2621" y="3147"/>
                <a:ext cx="50" cy="45"/>
              </a:xfrm>
              <a:custGeom>
                <a:avLst/>
                <a:gdLst>
                  <a:gd name="T0" fmla="*/ 14 w 50"/>
                  <a:gd name="T1" fmla="*/ 0 h 45"/>
                  <a:gd name="T2" fmla="*/ 0 w 50"/>
                  <a:gd name="T3" fmla="*/ 19 h 45"/>
                  <a:gd name="T4" fmla="*/ 0 w 50"/>
                  <a:gd name="T5" fmla="*/ 22 h 45"/>
                  <a:gd name="T6" fmla="*/ 0 w 50"/>
                  <a:gd name="T7" fmla="*/ 24 h 45"/>
                  <a:gd name="T8" fmla="*/ 0 w 50"/>
                  <a:gd name="T9" fmla="*/ 27 h 45"/>
                  <a:gd name="T10" fmla="*/ 0 w 50"/>
                  <a:gd name="T11" fmla="*/ 31 h 45"/>
                  <a:gd name="T12" fmla="*/ 2 w 50"/>
                  <a:gd name="T13" fmla="*/ 34 h 45"/>
                  <a:gd name="T14" fmla="*/ 4 w 50"/>
                  <a:gd name="T15" fmla="*/ 36 h 45"/>
                  <a:gd name="T16" fmla="*/ 7 w 50"/>
                  <a:gd name="T17" fmla="*/ 39 h 45"/>
                  <a:gd name="T18" fmla="*/ 11 w 50"/>
                  <a:gd name="T19" fmla="*/ 41 h 45"/>
                  <a:gd name="T20" fmla="*/ 14 w 50"/>
                  <a:gd name="T21" fmla="*/ 42 h 45"/>
                  <a:gd name="T22" fmla="*/ 18 w 50"/>
                  <a:gd name="T23" fmla="*/ 43 h 45"/>
                  <a:gd name="T24" fmla="*/ 23 w 50"/>
                  <a:gd name="T25" fmla="*/ 44 h 45"/>
                  <a:gd name="T26" fmla="*/ 25 w 50"/>
                  <a:gd name="T27" fmla="*/ 43 h 45"/>
                  <a:gd name="T28" fmla="*/ 29 w 50"/>
                  <a:gd name="T29" fmla="*/ 42 h 45"/>
                  <a:gd name="T30" fmla="*/ 49 w 50"/>
                  <a:gd name="T31" fmla="*/ 24 h 45"/>
                  <a:gd name="T32" fmla="*/ 46 w 50"/>
                  <a:gd name="T33" fmla="*/ 25 h 45"/>
                  <a:gd name="T34" fmla="*/ 43 w 50"/>
                  <a:gd name="T35" fmla="*/ 25 h 45"/>
                  <a:gd name="T36" fmla="*/ 38 w 50"/>
                  <a:gd name="T37" fmla="*/ 24 h 45"/>
                  <a:gd name="T38" fmla="*/ 36 w 50"/>
                  <a:gd name="T39" fmla="*/ 24 h 45"/>
                  <a:gd name="T40" fmla="*/ 32 w 50"/>
                  <a:gd name="T41" fmla="*/ 22 h 45"/>
                  <a:gd name="T42" fmla="*/ 28 w 50"/>
                  <a:gd name="T43" fmla="*/ 19 h 45"/>
                  <a:gd name="T44" fmla="*/ 24 w 50"/>
                  <a:gd name="T45" fmla="*/ 17 h 45"/>
                  <a:gd name="T46" fmla="*/ 22 w 50"/>
                  <a:gd name="T47" fmla="*/ 15 h 45"/>
                  <a:gd name="T48" fmla="*/ 20 w 50"/>
                  <a:gd name="T49" fmla="*/ 12 h 45"/>
                  <a:gd name="T50" fmla="*/ 18 w 50"/>
                  <a:gd name="T51" fmla="*/ 9 h 45"/>
                  <a:gd name="T52" fmla="*/ 17 w 50"/>
                  <a:gd name="T53" fmla="*/ 7 h 45"/>
                  <a:gd name="T54" fmla="*/ 2 w 50"/>
                  <a:gd name="T55" fmla="*/ 22 h 45"/>
                  <a:gd name="T56" fmla="*/ 2 w 50"/>
                  <a:gd name="T57" fmla="*/ 19 h 45"/>
                  <a:gd name="T58" fmla="*/ 15 w 50"/>
                  <a:gd name="T59" fmla="*/ 3 h 45"/>
                  <a:gd name="T60" fmla="*/ 15 w 50"/>
                  <a:gd name="T61" fmla="*/ 2 h 45"/>
                  <a:gd name="T62" fmla="*/ 14 w 50"/>
                  <a:gd name="T63" fmla="*/ 1 h 45"/>
                  <a:gd name="T64" fmla="*/ 14 w 50"/>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45">
                    <a:moveTo>
                      <a:pt x="14" y="0"/>
                    </a:moveTo>
                    <a:lnTo>
                      <a:pt x="0" y="19"/>
                    </a:lnTo>
                    <a:lnTo>
                      <a:pt x="0" y="22"/>
                    </a:lnTo>
                    <a:lnTo>
                      <a:pt x="0" y="24"/>
                    </a:lnTo>
                    <a:lnTo>
                      <a:pt x="0" y="27"/>
                    </a:lnTo>
                    <a:lnTo>
                      <a:pt x="0" y="31"/>
                    </a:lnTo>
                    <a:lnTo>
                      <a:pt x="2" y="34"/>
                    </a:lnTo>
                    <a:lnTo>
                      <a:pt x="4" y="36"/>
                    </a:lnTo>
                    <a:lnTo>
                      <a:pt x="7" y="39"/>
                    </a:lnTo>
                    <a:lnTo>
                      <a:pt x="11" y="41"/>
                    </a:lnTo>
                    <a:lnTo>
                      <a:pt x="14" y="42"/>
                    </a:lnTo>
                    <a:lnTo>
                      <a:pt x="18" y="43"/>
                    </a:lnTo>
                    <a:lnTo>
                      <a:pt x="23" y="44"/>
                    </a:lnTo>
                    <a:lnTo>
                      <a:pt x="25" y="43"/>
                    </a:lnTo>
                    <a:lnTo>
                      <a:pt x="29" y="42"/>
                    </a:lnTo>
                    <a:lnTo>
                      <a:pt x="49" y="24"/>
                    </a:lnTo>
                    <a:lnTo>
                      <a:pt x="46" y="25"/>
                    </a:lnTo>
                    <a:lnTo>
                      <a:pt x="43" y="25"/>
                    </a:lnTo>
                    <a:lnTo>
                      <a:pt x="38" y="24"/>
                    </a:lnTo>
                    <a:lnTo>
                      <a:pt x="36" y="24"/>
                    </a:lnTo>
                    <a:lnTo>
                      <a:pt x="32" y="22"/>
                    </a:lnTo>
                    <a:lnTo>
                      <a:pt x="28" y="19"/>
                    </a:lnTo>
                    <a:lnTo>
                      <a:pt x="24" y="17"/>
                    </a:lnTo>
                    <a:lnTo>
                      <a:pt x="22" y="15"/>
                    </a:lnTo>
                    <a:lnTo>
                      <a:pt x="20" y="12"/>
                    </a:lnTo>
                    <a:lnTo>
                      <a:pt x="18" y="9"/>
                    </a:lnTo>
                    <a:lnTo>
                      <a:pt x="17" y="7"/>
                    </a:lnTo>
                    <a:lnTo>
                      <a:pt x="2" y="22"/>
                    </a:lnTo>
                    <a:lnTo>
                      <a:pt x="2" y="19"/>
                    </a:lnTo>
                    <a:lnTo>
                      <a:pt x="15" y="3"/>
                    </a:lnTo>
                    <a:lnTo>
                      <a:pt x="15" y="2"/>
                    </a:lnTo>
                    <a:lnTo>
                      <a:pt x="14" y="1"/>
                    </a:lnTo>
                    <a:lnTo>
                      <a:pt x="14"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nvGrpSpPr>
              <p:cNvPr id="294094" name="Group 393"/>
              <p:cNvGrpSpPr>
                <a:grpSpLocks/>
              </p:cNvGrpSpPr>
              <p:nvPr/>
            </p:nvGrpSpPr>
            <p:grpSpPr bwMode="auto">
              <a:xfrm>
                <a:off x="2586" y="3117"/>
                <a:ext cx="108" cy="114"/>
                <a:chOff x="2586" y="3117"/>
                <a:chExt cx="108" cy="114"/>
              </a:xfrm>
            </p:grpSpPr>
            <p:sp>
              <p:nvSpPr>
                <p:cNvPr id="294028" name="Freeform 394"/>
                <p:cNvSpPr>
                  <a:spLocks/>
                </p:cNvSpPr>
                <p:nvPr/>
              </p:nvSpPr>
              <p:spPr bwMode="auto">
                <a:xfrm>
                  <a:off x="2595" y="3182"/>
                  <a:ext cx="99" cy="49"/>
                </a:xfrm>
                <a:custGeom>
                  <a:avLst/>
                  <a:gdLst>
                    <a:gd name="T0" fmla="*/ 0 w 99"/>
                    <a:gd name="T1" fmla="*/ 48 h 49"/>
                    <a:gd name="T2" fmla="*/ 56 w 99"/>
                    <a:gd name="T3" fmla="*/ 0 h 49"/>
                    <a:gd name="T4" fmla="*/ 98 w 99"/>
                    <a:gd name="T5" fmla="*/ 2 h 49"/>
                    <a:gd name="T6" fmla="*/ 74 w 99"/>
                    <a:gd name="T7" fmla="*/ 14 h 49"/>
                    <a:gd name="T8" fmla="*/ 78 w 99"/>
                    <a:gd name="T9" fmla="*/ 16 h 49"/>
                    <a:gd name="T10" fmla="*/ 52 w 99"/>
                    <a:gd name="T11" fmla="*/ 29 h 49"/>
                    <a:gd name="T12" fmla="*/ 57 w 99"/>
                    <a:gd name="T13" fmla="*/ 30 h 49"/>
                    <a:gd name="T14" fmla="*/ 28 w 99"/>
                    <a:gd name="T15" fmla="*/ 43 h 49"/>
                    <a:gd name="T16" fmla="*/ 0 w 99"/>
                    <a:gd name="T17" fmla="*/ 48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9" h="49">
                      <a:moveTo>
                        <a:pt x="0" y="48"/>
                      </a:moveTo>
                      <a:lnTo>
                        <a:pt x="56" y="0"/>
                      </a:lnTo>
                      <a:lnTo>
                        <a:pt x="98" y="2"/>
                      </a:lnTo>
                      <a:lnTo>
                        <a:pt x="74" y="14"/>
                      </a:lnTo>
                      <a:lnTo>
                        <a:pt x="78" y="16"/>
                      </a:lnTo>
                      <a:lnTo>
                        <a:pt x="52" y="29"/>
                      </a:lnTo>
                      <a:lnTo>
                        <a:pt x="57" y="30"/>
                      </a:lnTo>
                      <a:lnTo>
                        <a:pt x="28" y="43"/>
                      </a:lnTo>
                      <a:lnTo>
                        <a:pt x="0" y="4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29" name="Freeform 395"/>
                <p:cNvSpPr>
                  <a:spLocks/>
                </p:cNvSpPr>
                <p:nvPr/>
              </p:nvSpPr>
              <p:spPr bwMode="auto">
                <a:xfrm>
                  <a:off x="2590" y="3166"/>
                  <a:ext cx="45" cy="58"/>
                </a:xfrm>
                <a:custGeom>
                  <a:avLst/>
                  <a:gdLst>
                    <a:gd name="T0" fmla="*/ 4 w 45"/>
                    <a:gd name="T1" fmla="*/ 47 h 58"/>
                    <a:gd name="T2" fmla="*/ 44 w 45"/>
                    <a:gd name="T3" fmla="*/ 0 h 58"/>
                    <a:gd name="T4" fmla="*/ 35 w 45"/>
                    <a:gd name="T5" fmla="*/ 18 h 58"/>
                    <a:gd name="T6" fmla="*/ 0 w 45"/>
                    <a:gd name="T7" fmla="*/ 57 h 58"/>
                    <a:gd name="T8" fmla="*/ 4 w 45"/>
                    <a:gd name="T9" fmla="*/ 47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58">
                      <a:moveTo>
                        <a:pt x="4" y="47"/>
                      </a:moveTo>
                      <a:lnTo>
                        <a:pt x="44" y="0"/>
                      </a:lnTo>
                      <a:lnTo>
                        <a:pt x="35" y="18"/>
                      </a:lnTo>
                      <a:lnTo>
                        <a:pt x="0" y="57"/>
                      </a:lnTo>
                      <a:lnTo>
                        <a:pt x="4" y="47"/>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30" name="Freeform 396"/>
                <p:cNvSpPr>
                  <a:spLocks/>
                </p:cNvSpPr>
                <p:nvPr/>
              </p:nvSpPr>
              <p:spPr bwMode="auto">
                <a:xfrm>
                  <a:off x="2586" y="3117"/>
                  <a:ext cx="41" cy="103"/>
                </a:xfrm>
                <a:custGeom>
                  <a:avLst/>
                  <a:gdLst>
                    <a:gd name="T0" fmla="*/ 0 w 41"/>
                    <a:gd name="T1" fmla="*/ 102 h 103"/>
                    <a:gd name="T2" fmla="*/ 40 w 41"/>
                    <a:gd name="T3" fmla="*/ 47 h 103"/>
                    <a:gd name="T4" fmla="*/ 38 w 41"/>
                    <a:gd name="T5" fmla="*/ 0 h 103"/>
                    <a:gd name="T6" fmla="*/ 29 w 41"/>
                    <a:gd name="T7" fmla="*/ 20 h 103"/>
                    <a:gd name="T8" fmla="*/ 28 w 41"/>
                    <a:gd name="T9" fmla="*/ 27 h 103"/>
                    <a:gd name="T10" fmla="*/ 24 w 41"/>
                    <a:gd name="T11" fmla="*/ 23 h 103"/>
                    <a:gd name="T12" fmla="*/ 16 w 41"/>
                    <a:gd name="T13" fmla="*/ 49 h 103"/>
                    <a:gd name="T14" fmla="*/ 14 w 41"/>
                    <a:gd name="T15" fmla="*/ 45 h 103"/>
                    <a:gd name="T16" fmla="*/ 3 w 41"/>
                    <a:gd name="T17" fmla="*/ 71 h 103"/>
                    <a:gd name="T18" fmla="*/ 0 w 41"/>
                    <a:gd name="T19" fmla="*/ 102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103">
                      <a:moveTo>
                        <a:pt x="0" y="102"/>
                      </a:moveTo>
                      <a:lnTo>
                        <a:pt x="40" y="47"/>
                      </a:lnTo>
                      <a:lnTo>
                        <a:pt x="38" y="0"/>
                      </a:lnTo>
                      <a:lnTo>
                        <a:pt x="29" y="20"/>
                      </a:lnTo>
                      <a:lnTo>
                        <a:pt x="28" y="27"/>
                      </a:lnTo>
                      <a:lnTo>
                        <a:pt x="24" y="23"/>
                      </a:lnTo>
                      <a:lnTo>
                        <a:pt x="16" y="49"/>
                      </a:lnTo>
                      <a:lnTo>
                        <a:pt x="14" y="45"/>
                      </a:lnTo>
                      <a:lnTo>
                        <a:pt x="3" y="71"/>
                      </a:lnTo>
                      <a:lnTo>
                        <a:pt x="0" y="10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025" name="Freeform 397"/>
              <p:cNvSpPr>
                <a:spLocks/>
              </p:cNvSpPr>
              <p:nvPr/>
            </p:nvSpPr>
            <p:spPr bwMode="auto">
              <a:xfrm>
                <a:off x="2573" y="3214"/>
                <a:ext cx="31" cy="34"/>
              </a:xfrm>
              <a:custGeom>
                <a:avLst/>
                <a:gdLst>
                  <a:gd name="T0" fmla="*/ 13 w 31"/>
                  <a:gd name="T1" fmla="*/ 0 h 34"/>
                  <a:gd name="T2" fmla="*/ 13 w 31"/>
                  <a:gd name="T3" fmla="*/ 3 h 34"/>
                  <a:gd name="T4" fmla="*/ 13 w 31"/>
                  <a:gd name="T5" fmla="*/ 5 h 34"/>
                  <a:gd name="T6" fmla="*/ 13 w 31"/>
                  <a:gd name="T7" fmla="*/ 8 h 34"/>
                  <a:gd name="T8" fmla="*/ 14 w 31"/>
                  <a:gd name="T9" fmla="*/ 10 h 34"/>
                  <a:gd name="T10" fmla="*/ 15 w 31"/>
                  <a:gd name="T11" fmla="*/ 12 h 34"/>
                  <a:gd name="T12" fmla="*/ 17 w 31"/>
                  <a:gd name="T13" fmla="*/ 14 h 34"/>
                  <a:gd name="T14" fmla="*/ 19 w 31"/>
                  <a:gd name="T15" fmla="*/ 16 h 34"/>
                  <a:gd name="T16" fmla="*/ 22 w 31"/>
                  <a:gd name="T17" fmla="*/ 17 h 34"/>
                  <a:gd name="T18" fmla="*/ 25 w 31"/>
                  <a:gd name="T19" fmla="*/ 17 h 34"/>
                  <a:gd name="T20" fmla="*/ 27 w 31"/>
                  <a:gd name="T21" fmla="*/ 17 h 34"/>
                  <a:gd name="T22" fmla="*/ 30 w 31"/>
                  <a:gd name="T23" fmla="*/ 17 h 34"/>
                  <a:gd name="T24" fmla="*/ 13 w 31"/>
                  <a:gd name="T25" fmla="*/ 32 h 34"/>
                  <a:gd name="T26" fmla="*/ 10 w 31"/>
                  <a:gd name="T27" fmla="*/ 33 h 34"/>
                  <a:gd name="T28" fmla="*/ 8 w 31"/>
                  <a:gd name="T29" fmla="*/ 33 h 34"/>
                  <a:gd name="T30" fmla="*/ 6 w 31"/>
                  <a:gd name="T31" fmla="*/ 32 h 34"/>
                  <a:gd name="T32" fmla="*/ 5 w 31"/>
                  <a:gd name="T33" fmla="*/ 31 h 34"/>
                  <a:gd name="T34" fmla="*/ 2 w 31"/>
                  <a:gd name="T35" fmla="*/ 30 h 34"/>
                  <a:gd name="T36" fmla="*/ 1 w 31"/>
                  <a:gd name="T37" fmla="*/ 27 h 34"/>
                  <a:gd name="T38" fmla="*/ 0 w 31"/>
                  <a:gd name="T39" fmla="*/ 25 h 34"/>
                  <a:gd name="T40" fmla="*/ 0 w 31"/>
                  <a:gd name="T41" fmla="*/ 22 h 34"/>
                  <a:gd name="T42" fmla="*/ 0 w 31"/>
                  <a:gd name="T43" fmla="*/ 20 h 34"/>
                  <a:gd name="T44" fmla="*/ 0 w 31"/>
                  <a:gd name="T45" fmla="*/ 18 h 34"/>
                  <a:gd name="T46" fmla="*/ 13 w 31"/>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34">
                    <a:moveTo>
                      <a:pt x="13" y="0"/>
                    </a:moveTo>
                    <a:lnTo>
                      <a:pt x="13" y="3"/>
                    </a:lnTo>
                    <a:lnTo>
                      <a:pt x="13" y="5"/>
                    </a:lnTo>
                    <a:lnTo>
                      <a:pt x="13" y="8"/>
                    </a:lnTo>
                    <a:lnTo>
                      <a:pt x="14" y="10"/>
                    </a:lnTo>
                    <a:lnTo>
                      <a:pt x="15" y="12"/>
                    </a:lnTo>
                    <a:lnTo>
                      <a:pt x="17" y="14"/>
                    </a:lnTo>
                    <a:lnTo>
                      <a:pt x="19" y="16"/>
                    </a:lnTo>
                    <a:lnTo>
                      <a:pt x="22" y="17"/>
                    </a:lnTo>
                    <a:lnTo>
                      <a:pt x="25" y="17"/>
                    </a:lnTo>
                    <a:lnTo>
                      <a:pt x="27" y="17"/>
                    </a:lnTo>
                    <a:lnTo>
                      <a:pt x="30" y="17"/>
                    </a:lnTo>
                    <a:lnTo>
                      <a:pt x="13" y="32"/>
                    </a:lnTo>
                    <a:lnTo>
                      <a:pt x="10" y="33"/>
                    </a:lnTo>
                    <a:lnTo>
                      <a:pt x="8" y="33"/>
                    </a:lnTo>
                    <a:lnTo>
                      <a:pt x="6" y="32"/>
                    </a:lnTo>
                    <a:lnTo>
                      <a:pt x="5" y="31"/>
                    </a:lnTo>
                    <a:lnTo>
                      <a:pt x="2" y="30"/>
                    </a:lnTo>
                    <a:lnTo>
                      <a:pt x="1" y="27"/>
                    </a:lnTo>
                    <a:lnTo>
                      <a:pt x="0" y="25"/>
                    </a:lnTo>
                    <a:lnTo>
                      <a:pt x="0" y="22"/>
                    </a:lnTo>
                    <a:lnTo>
                      <a:pt x="0" y="20"/>
                    </a:lnTo>
                    <a:lnTo>
                      <a:pt x="0" y="18"/>
                    </a:lnTo>
                    <a:lnTo>
                      <a:pt x="13"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26" name="Freeform 398"/>
              <p:cNvSpPr>
                <a:spLocks/>
              </p:cNvSpPr>
              <p:nvPr/>
            </p:nvSpPr>
            <p:spPr bwMode="auto">
              <a:xfrm>
                <a:off x="2576" y="3223"/>
                <a:ext cx="19" cy="21"/>
              </a:xfrm>
              <a:custGeom>
                <a:avLst/>
                <a:gdLst>
                  <a:gd name="T0" fmla="*/ 4 w 19"/>
                  <a:gd name="T1" fmla="*/ 0 h 21"/>
                  <a:gd name="T2" fmla="*/ 3 w 19"/>
                  <a:gd name="T3" fmla="*/ 2 h 21"/>
                  <a:gd name="T4" fmla="*/ 3 w 19"/>
                  <a:gd name="T5" fmla="*/ 4 h 21"/>
                  <a:gd name="T6" fmla="*/ 3 w 19"/>
                  <a:gd name="T7" fmla="*/ 6 h 21"/>
                  <a:gd name="T8" fmla="*/ 3 w 19"/>
                  <a:gd name="T9" fmla="*/ 8 h 21"/>
                  <a:gd name="T10" fmla="*/ 3 w 19"/>
                  <a:gd name="T11" fmla="*/ 11 h 21"/>
                  <a:gd name="T12" fmla="*/ 4 w 19"/>
                  <a:gd name="T13" fmla="*/ 13 h 21"/>
                  <a:gd name="T14" fmla="*/ 5 w 19"/>
                  <a:gd name="T15" fmla="*/ 15 h 21"/>
                  <a:gd name="T16" fmla="*/ 8 w 19"/>
                  <a:gd name="T17" fmla="*/ 16 h 21"/>
                  <a:gd name="T18" fmla="*/ 11 w 19"/>
                  <a:gd name="T19" fmla="*/ 17 h 21"/>
                  <a:gd name="T20" fmla="*/ 14 w 19"/>
                  <a:gd name="T21" fmla="*/ 16 h 21"/>
                  <a:gd name="T22" fmla="*/ 18 w 19"/>
                  <a:gd name="T23" fmla="*/ 16 h 21"/>
                  <a:gd name="T24" fmla="*/ 13 w 19"/>
                  <a:gd name="T25" fmla="*/ 19 h 21"/>
                  <a:gd name="T26" fmla="*/ 12 w 19"/>
                  <a:gd name="T27" fmla="*/ 20 h 21"/>
                  <a:gd name="T28" fmla="*/ 9 w 19"/>
                  <a:gd name="T29" fmla="*/ 20 h 21"/>
                  <a:gd name="T30" fmla="*/ 6 w 19"/>
                  <a:gd name="T31" fmla="*/ 19 h 21"/>
                  <a:gd name="T32" fmla="*/ 4 w 19"/>
                  <a:gd name="T33" fmla="*/ 18 h 21"/>
                  <a:gd name="T34" fmla="*/ 3 w 19"/>
                  <a:gd name="T35" fmla="*/ 17 h 21"/>
                  <a:gd name="T36" fmla="*/ 1 w 19"/>
                  <a:gd name="T37" fmla="*/ 15 h 21"/>
                  <a:gd name="T38" fmla="*/ 0 w 19"/>
                  <a:gd name="T39" fmla="*/ 13 h 21"/>
                  <a:gd name="T40" fmla="*/ 0 w 19"/>
                  <a:gd name="T41" fmla="*/ 10 h 21"/>
                  <a:gd name="T42" fmla="*/ 0 w 19"/>
                  <a:gd name="T43" fmla="*/ 8 h 21"/>
                  <a:gd name="T44" fmla="*/ 0 w 19"/>
                  <a:gd name="T45" fmla="*/ 5 h 21"/>
                  <a:gd name="T46" fmla="*/ 4 w 19"/>
                  <a:gd name="T47" fmla="*/ 0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9" h="21">
                    <a:moveTo>
                      <a:pt x="4" y="0"/>
                    </a:moveTo>
                    <a:lnTo>
                      <a:pt x="3" y="2"/>
                    </a:lnTo>
                    <a:lnTo>
                      <a:pt x="3" y="4"/>
                    </a:lnTo>
                    <a:lnTo>
                      <a:pt x="3" y="6"/>
                    </a:lnTo>
                    <a:lnTo>
                      <a:pt x="3" y="8"/>
                    </a:lnTo>
                    <a:lnTo>
                      <a:pt x="3" y="11"/>
                    </a:lnTo>
                    <a:lnTo>
                      <a:pt x="4" y="13"/>
                    </a:lnTo>
                    <a:lnTo>
                      <a:pt x="5" y="15"/>
                    </a:lnTo>
                    <a:lnTo>
                      <a:pt x="8" y="16"/>
                    </a:lnTo>
                    <a:lnTo>
                      <a:pt x="11" y="17"/>
                    </a:lnTo>
                    <a:lnTo>
                      <a:pt x="14" y="16"/>
                    </a:lnTo>
                    <a:lnTo>
                      <a:pt x="18" y="16"/>
                    </a:lnTo>
                    <a:lnTo>
                      <a:pt x="13" y="19"/>
                    </a:lnTo>
                    <a:lnTo>
                      <a:pt x="12" y="20"/>
                    </a:lnTo>
                    <a:lnTo>
                      <a:pt x="9" y="20"/>
                    </a:lnTo>
                    <a:lnTo>
                      <a:pt x="6" y="19"/>
                    </a:lnTo>
                    <a:lnTo>
                      <a:pt x="4" y="18"/>
                    </a:lnTo>
                    <a:lnTo>
                      <a:pt x="3" y="17"/>
                    </a:lnTo>
                    <a:lnTo>
                      <a:pt x="1" y="15"/>
                    </a:lnTo>
                    <a:lnTo>
                      <a:pt x="0" y="13"/>
                    </a:lnTo>
                    <a:lnTo>
                      <a:pt x="0" y="10"/>
                    </a:lnTo>
                    <a:lnTo>
                      <a:pt x="0" y="8"/>
                    </a:lnTo>
                    <a:lnTo>
                      <a:pt x="0" y="5"/>
                    </a:lnTo>
                    <a:lnTo>
                      <a:pt x="4"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27" name="Freeform 399"/>
              <p:cNvSpPr>
                <a:spLocks/>
              </p:cNvSpPr>
              <p:nvPr/>
            </p:nvSpPr>
            <p:spPr bwMode="auto">
              <a:xfrm>
                <a:off x="2538" y="3271"/>
                <a:ext cx="17" cy="17"/>
              </a:xfrm>
              <a:custGeom>
                <a:avLst/>
                <a:gdLst>
                  <a:gd name="T0" fmla="*/ 8 w 17"/>
                  <a:gd name="T1" fmla="*/ 0 h 17"/>
                  <a:gd name="T2" fmla="*/ 0 w 17"/>
                  <a:gd name="T3" fmla="*/ 9 h 17"/>
                  <a:gd name="T4" fmla="*/ 0 w 17"/>
                  <a:gd name="T5" fmla="*/ 11 h 17"/>
                  <a:gd name="T6" fmla="*/ 0 w 17"/>
                  <a:gd name="T7" fmla="*/ 12 h 17"/>
                  <a:gd name="T8" fmla="*/ 0 w 17"/>
                  <a:gd name="T9" fmla="*/ 14 h 17"/>
                  <a:gd name="T10" fmla="*/ 2 w 17"/>
                  <a:gd name="T11" fmla="*/ 15 h 17"/>
                  <a:gd name="T12" fmla="*/ 3 w 17"/>
                  <a:gd name="T13" fmla="*/ 16 h 17"/>
                  <a:gd name="T14" fmla="*/ 5 w 17"/>
                  <a:gd name="T15" fmla="*/ 15 h 17"/>
                  <a:gd name="T16" fmla="*/ 16 w 17"/>
                  <a:gd name="T17" fmla="*/ 7 h 17"/>
                  <a:gd name="T18" fmla="*/ 13 w 17"/>
                  <a:gd name="T19" fmla="*/ 6 h 17"/>
                  <a:gd name="T20" fmla="*/ 11 w 17"/>
                  <a:gd name="T21" fmla="*/ 6 h 17"/>
                  <a:gd name="T22" fmla="*/ 10 w 17"/>
                  <a:gd name="T23" fmla="*/ 4 h 17"/>
                  <a:gd name="T24" fmla="*/ 9 w 17"/>
                  <a:gd name="T25" fmla="*/ 3 h 17"/>
                  <a:gd name="T26" fmla="*/ 8 w 17"/>
                  <a:gd name="T27" fmla="*/ 1 h 17"/>
                  <a:gd name="T28" fmla="*/ 8 w 1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 h="17">
                    <a:moveTo>
                      <a:pt x="8" y="0"/>
                    </a:moveTo>
                    <a:lnTo>
                      <a:pt x="0" y="9"/>
                    </a:lnTo>
                    <a:lnTo>
                      <a:pt x="0" y="11"/>
                    </a:lnTo>
                    <a:lnTo>
                      <a:pt x="0" y="12"/>
                    </a:lnTo>
                    <a:lnTo>
                      <a:pt x="0" y="14"/>
                    </a:lnTo>
                    <a:lnTo>
                      <a:pt x="2" y="15"/>
                    </a:lnTo>
                    <a:lnTo>
                      <a:pt x="3" y="16"/>
                    </a:lnTo>
                    <a:lnTo>
                      <a:pt x="5" y="15"/>
                    </a:lnTo>
                    <a:lnTo>
                      <a:pt x="16" y="7"/>
                    </a:lnTo>
                    <a:lnTo>
                      <a:pt x="13" y="6"/>
                    </a:lnTo>
                    <a:lnTo>
                      <a:pt x="11" y="6"/>
                    </a:lnTo>
                    <a:lnTo>
                      <a:pt x="10" y="4"/>
                    </a:lnTo>
                    <a:lnTo>
                      <a:pt x="9" y="3"/>
                    </a:lnTo>
                    <a:lnTo>
                      <a:pt x="8" y="1"/>
                    </a:lnTo>
                    <a:lnTo>
                      <a:pt x="8"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098" name="Group 400"/>
            <p:cNvGrpSpPr>
              <a:grpSpLocks/>
            </p:cNvGrpSpPr>
            <p:nvPr/>
          </p:nvGrpSpPr>
          <p:grpSpPr bwMode="auto">
            <a:xfrm>
              <a:off x="4575" y="3254"/>
              <a:ext cx="167" cy="87"/>
              <a:chOff x="2515" y="3428"/>
              <a:chExt cx="191" cy="106"/>
            </a:xfrm>
          </p:grpSpPr>
          <p:grpSp>
            <p:nvGrpSpPr>
              <p:cNvPr id="294108" name="Group 401"/>
              <p:cNvGrpSpPr>
                <a:grpSpLocks/>
              </p:cNvGrpSpPr>
              <p:nvPr/>
            </p:nvGrpSpPr>
            <p:grpSpPr bwMode="auto">
              <a:xfrm>
                <a:off x="2515" y="3428"/>
                <a:ext cx="191" cy="106"/>
                <a:chOff x="2515" y="3428"/>
                <a:chExt cx="191" cy="106"/>
              </a:xfrm>
            </p:grpSpPr>
            <p:grpSp>
              <p:nvGrpSpPr>
                <p:cNvPr id="294111" name="Group 402"/>
                <p:cNvGrpSpPr>
                  <a:grpSpLocks/>
                </p:cNvGrpSpPr>
                <p:nvPr/>
              </p:nvGrpSpPr>
              <p:grpSpPr bwMode="auto">
                <a:xfrm>
                  <a:off x="2515" y="3458"/>
                  <a:ext cx="187" cy="76"/>
                  <a:chOff x="2515" y="3458"/>
                  <a:chExt cx="187" cy="76"/>
                </a:xfrm>
              </p:grpSpPr>
              <p:grpSp>
                <p:nvGrpSpPr>
                  <p:cNvPr id="294112" name="Group 403"/>
                  <p:cNvGrpSpPr>
                    <a:grpSpLocks/>
                  </p:cNvGrpSpPr>
                  <p:nvPr/>
                </p:nvGrpSpPr>
                <p:grpSpPr bwMode="auto">
                  <a:xfrm>
                    <a:off x="2515" y="3502"/>
                    <a:ext cx="25" cy="32"/>
                    <a:chOff x="2515" y="3502"/>
                    <a:chExt cx="25" cy="32"/>
                  </a:xfrm>
                </p:grpSpPr>
                <p:sp>
                  <p:nvSpPr>
                    <p:cNvPr id="294013" name="Freeform 404"/>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14" name="Freeform 405"/>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15" name="Freeform 406"/>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4007" name="Freeform 407"/>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08" name="Freeform 408"/>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09" name="Freeform 409"/>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10" name="Freeform 410"/>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11" name="Freeform 411"/>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12" name="Freeform 412"/>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116" name="Group 413"/>
                <p:cNvGrpSpPr>
                  <a:grpSpLocks/>
                </p:cNvGrpSpPr>
                <p:nvPr/>
              </p:nvGrpSpPr>
              <p:grpSpPr bwMode="auto">
                <a:xfrm>
                  <a:off x="2597" y="3428"/>
                  <a:ext cx="109" cy="96"/>
                  <a:chOff x="2597" y="3428"/>
                  <a:chExt cx="109" cy="96"/>
                </a:xfrm>
              </p:grpSpPr>
              <p:sp>
                <p:nvSpPr>
                  <p:cNvPr id="294003" name="Freeform 414"/>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04" name="Freeform 415"/>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05" name="Freeform 416"/>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3999" name="Freeform 417"/>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4000" name="Freeform 418"/>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134" name="Group 419"/>
            <p:cNvGrpSpPr>
              <a:grpSpLocks/>
            </p:cNvGrpSpPr>
            <p:nvPr/>
          </p:nvGrpSpPr>
          <p:grpSpPr bwMode="auto">
            <a:xfrm>
              <a:off x="4448" y="3254"/>
              <a:ext cx="167" cy="87"/>
              <a:chOff x="2663" y="3383"/>
              <a:chExt cx="191" cy="106"/>
            </a:xfrm>
          </p:grpSpPr>
          <p:grpSp>
            <p:nvGrpSpPr>
              <p:cNvPr id="294144" name="Group 420"/>
              <p:cNvGrpSpPr>
                <a:grpSpLocks/>
              </p:cNvGrpSpPr>
              <p:nvPr/>
            </p:nvGrpSpPr>
            <p:grpSpPr bwMode="auto">
              <a:xfrm>
                <a:off x="2663" y="3383"/>
                <a:ext cx="191" cy="106"/>
                <a:chOff x="2663" y="3383"/>
                <a:chExt cx="191" cy="106"/>
              </a:xfrm>
            </p:grpSpPr>
            <p:grpSp>
              <p:nvGrpSpPr>
                <p:cNvPr id="294156" name="Group 421"/>
                <p:cNvGrpSpPr>
                  <a:grpSpLocks/>
                </p:cNvGrpSpPr>
                <p:nvPr/>
              </p:nvGrpSpPr>
              <p:grpSpPr bwMode="auto">
                <a:xfrm>
                  <a:off x="2663" y="3413"/>
                  <a:ext cx="187" cy="76"/>
                  <a:chOff x="2663" y="3413"/>
                  <a:chExt cx="187" cy="76"/>
                </a:xfrm>
              </p:grpSpPr>
              <p:grpSp>
                <p:nvGrpSpPr>
                  <p:cNvPr id="294158" name="Group 422"/>
                  <p:cNvGrpSpPr>
                    <a:grpSpLocks/>
                  </p:cNvGrpSpPr>
                  <p:nvPr/>
                </p:nvGrpSpPr>
                <p:grpSpPr bwMode="auto">
                  <a:xfrm>
                    <a:off x="2663" y="3457"/>
                    <a:ext cx="25" cy="32"/>
                    <a:chOff x="2663" y="3457"/>
                    <a:chExt cx="25" cy="32"/>
                  </a:xfrm>
                </p:grpSpPr>
                <p:sp>
                  <p:nvSpPr>
                    <p:cNvPr id="293995" name="Freeform 423"/>
                    <p:cNvSpPr>
                      <a:spLocks/>
                    </p:cNvSpPr>
                    <p:nvPr/>
                  </p:nvSpPr>
                  <p:spPr bwMode="auto">
                    <a:xfrm>
                      <a:off x="2671" y="345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96" name="Freeform 424"/>
                    <p:cNvSpPr>
                      <a:spLocks/>
                    </p:cNvSpPr>
                    <p:nvPr/>
                  </p:nvSpPr>
                  <p:spPr bwMode="auto">
                    <a:xfrm>
                      <a:off x="2663" y="345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97" name="Freeform 425"/>
                    <p:cNvSpPr>
                      <a:spLocks/>
                    </p:cNvSpPr>
                    <p:nvPr/>
                  </p:nvSpPr>
                  <p:spPr bwMode="auto">
                    <a:xfrm>
                      <a:off x="2663" y="347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3989" name="Freeform 426"/>
                  <p:cNvSpPr>
                    <a:spLocks/>
                  </p:cNvSpPr>
                  <p:nvPr/>
                </p:nvSpPr>
                <p:spPr bwMode="auto">
                  <a:xfrm>
                    <a:off x="2669" y="341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90" name="Freeform 427"/>
                  <p:cNvSpPr>
                    <a:spLocks/>
                  </p:cNvSpPr>
                  <p:nvPr/>
                </p:nvSpPr>
                <p:spPr bwMode="auto">
                  <a:xfrm>
                    <a:off x="2801" y="341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91" name="Freeform 428"/>
                  <p:cNvSpPr>
                    <a:spLocks/>
                  </p:cNvSpPr>
                  <p:nvPr/>
                </p:nvSpPr>
                <p:spPr bwMode="auto">
                  <a:xfrm>
                    <a:off x="2797" y="341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92" name="Freeform 429"/>
                  <p:cNvSpPr>
                    <a:spLocks/>
                  </p:cNvSpPr>
                  <p:nvPr/>
                </p:nvSpPr>
                <p:spPr bwMode="auto">
                  <a:xfrm>
                    <a:off x="2824" y="342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93" name="Freeform 430"/>
                  <p:cNvSpPr>
                    <a:spLocks/>
                  </p:cNvSpPr>
                  <p:nvPr/>
                </p:nvSpPr>
                <p:spPr bwMode="auto">
                  <a:xfrm>
                    <a:off x="2825" y="341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94" name="Freeform 431"/>
                  <p:cNvSpPr>
                    <a:spLocks/>
                  </p:cNvSpPr>
                  <p:nvPr/>
                </p:nvSpPr>
                <p:spPr bwMode="auto">
                  <a:xfrm>
                    <a:off x="2669" y="346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160" name="Group 432"/>
                <p:cNvGrpSpPr>
                  <a:grpSpLocks/>
                </p:cNvGrpSpPr>
                <p:nvPr/>
              </p:nvGrpSpPr>
              <p:grpSpPr bwMode="auto">
                <a:xfrm>
                  <a:off x="2745" y="3383"/>
                  <a:ext cx="109" cy="96"/>
                  <a:chOff x="2745" y="3383"/>
                  <a:chExt cx="109" cy="96"/>
                </a:xfrm>
              </p:grpSpPr>
              <p:sp>
                <p:nvSpPr>
                  <p:cNvPr id="293985" name="Freeform 433"/>
                  <p:cNvSpPr>
                    <a:spLocks/>
                  </p:cNvSpPr>
                  <p:nvPr/>
                </p:nvSpPr>
                <p:spPr bwMode="auto">
                  <a:xfrm>
                    <a:off x="2746" y="345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86" name="Freeform 434"/>
                  <p:cNvSpPr>
                    <a:spLocks/>
                  </p:cNvSpPr>
                  <p:nvPr/>
                </p:nvSpPr>
                <p:spPr bwMode="auto">
                  <a:xfrm>
                    <a:off x="2747" y="342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87" name="Freeform 435"/>
                  <p:cNvSpPr>
                    <a:spLocks/>
                  </p:cNvSpPr>
                  <p:nvPr/>
                </p:nvSpPr>
                <p:spPr bwMode="auto">
                  <a:xfrm>
                    <a:off x="2745" y="338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3981" name="Freeform 436"/>
              <p:cNvSpPr>
                <a:spLocks/>
              </p:cNvSpPr>
              <p:nvPr/>
            </p:nvSpPr>
            <p:spPr bwMode="auto">
              <a:xfrm>
                <a:off x="2722" y="344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82" name="Freeform 437"/>
              <p:cNvSpPr>
                <a:spLocks/>
              </p:cNvSpPr>
              <p:nvPr/>
            </p:nvSpPr>
            <p:spPr bwMode="auto">
              <a:xfrm>
                <a:off x="2728" y="344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164" name="Group 438"/>
            <p:cNvGrpSpPr>
              <a:grpSpLocks/>
            </p:cNvGrpSpPr>
            <p:nvPr/>
          </p:nvGrpSpPr>
          <p:grpSpPr bwMode="auto">
            <a:xfrm>
              <a:off x="4448" y="3316"/>
              <a:ext cx="167" cy="86"/>
              <a:chOff x="2458" y="3313"/>
              <a:chExt cx="191" cy="106"/>
            </a:xfrm>
          </p:grpSpPr>
          <p:grpSp>
            <p:nvGrpSpPr>
              <p:cNvPr id="294167" name="Group 439"/>
              <p:cNvGrpSpPr>
                <a:grpSpLocks/>
              </p:cNvGrpSpPr>
              <p:nvPr/>
            </p:nvGrpSpPr>
            <p:grpSpPr bwMode="auto">
              <a:xfrm>
                <a:off x="2458" y="3313"/>
                <a:ext cx="191" cy="106"/>
                <a:chOff x="2458" y="3313"/>
                <a:chExt cx="191" cy="106"/>
              </a:xfrm>
            </p:grpSpPr>
            <p:grpSp>
              <p:nvGrpSpPr>
                <p:cNvPr id="294168" name="Group 440"/>
                <p:cNvGrpSpPr>
                  <a:grpSpLocks/>
                </p:cNvGrpSpPr>
                <p:nvPr/>
              </p:nvGrpSpPr>
              <p:grpSpPr bwMode="auto">
                <a:xfrm>
                  <a:off x="2458" y="3343"/>
                  <a:ext cx="187" cy="76"/>
                  <a:chOff x="2458" y="3343"/>
                  <a:chExt cx="187" cy="76"/>
                </a:xfrm>
              </p:grpSpPr>
              <p:grpSp>
                <p:nvGrpSpPr>
                  <p:cNvPr id="294172" name="Group 441"/>
                  <p:cNvGrpSpPr>
                    <a:grpSpLocks/>
                  </p:cNvGrpSpPr>
                  <p:nvPr/>
                </p:nvGrpSpPr>
                <p:grpSpPr bwMode="auto">
                  <a:xfrm>
                    <a:off x="2458" y="3387"/>
                    <a:ext cx="25" cy="32"/>
                    <a:chOff x="2458" y="3387"/>
                    <a:chExt cx="25" cy="32"/>
                  </a:xfrm>
                </p:grpSpPr>
                <p:sp>
                  <p:nvSpPr>
                    <p:cNvPr id="293977" name="Freeform 442"/>
                    <p:cNvSpPr>
                      <a:spLocks/>
                    </p:cNvSpPr>
                    <p:nvPr/>
                  </p:nvSpPr>
                  <p:spPr bwMode="auto">
                    <a:xfrm>
                      <a:off x="2466" y="3387"/>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78" name="Freeform 443"/>
                    <p:cNvSpPr>
                      <a:spLocks/>
                    </p:cNvSpPr>
                    <p:nvPr/>
                  </p:nvSpPr>
                  <p:spPr bwMode="auto">
                    <a:xfrm>
                      <a:off x="2458" y="3387"/>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79" name="Freeform 444"/>
                    <p:cNvSpPr>
                      <a:spLocks/>
                    </p:cNvSpPr>
                    <p:nvPr/>
                  </p:nvSpPr>
                  <p:spPr bwMode="auto">
                    <a:xfrm>
                      <a:off x="2458" y="3402"/>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3971" name="Freeform 445"/>
                  <p:cNvSpPr>
                    <a:spLocks/>
                  </p:cNvSpPr>
                  <p:nvPr/>
                </p:nvSpPr>
                <p:spPr bwMode="auto">
                  <a:xfrm>
                    <a:off x="2464" y="3345"/>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72" name="Freeform 446"/>
                  <p:cNvSpPr>
                    <a:spLocks/>
                  </p:cNvSpPr>
                  <p:nvPr/>
                </p:nvSpPr>
                <p:spPr bwMode="auto">
                  <a:xfrm>
                    <a:off x="2596" y="3346"/>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73" name="Freeform 447"/>
                  <p:cNvSpPr>
                    <a:spLocks/>
                  </p:cNvSpPr>
                  <p:nvPr/>
                </p:nvSpPr>
                <p:spPr bwMode="auto">
                  <a:xfrm>
                    <a:off x="2592" y="3343"/>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74" name="Freeform 448"/>
                  <p:cNvSpPr>
                    <a:spLocks/>
                  </p:cNvSpPr>
                  <p:nvPr/>
                </p:nvSpPr>
                <p:spPr bwMode="auto">
                  <a:xfrm>
                    <a:off x="2619" y="3351"/>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75" name="Freeform 449"/>
                  <p:cNvSpPr>
                    <a:spLocks/>
                  </p:cNvSpPr>
                  <p:nvPr/>
                </p:nvSpPr>
                <p:spPr bwMode="auto">
                  <a:xfrm>
                    <a:off x="2620" y="3343"/>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76" name="Freeform 450"/>
                  <p:cNvSpPr>
                    <a:spLocks/>
                  </p:cNvSpPr>
                  <p:nvPr/>
                </p:nvSpPr>
                <p:spPr bwMode="auto">
                  <a:xfrm>
                    <a:off x="2464" y="3395"/>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182" name="Group 451"/>
                <p:cNvGrpSpPr>
                  <a:grpSpLocks/>
                </p:cNvGrpSpPr>
                <p:nvPr/>
              </p:nvGrpSpPr>
              <p:grpSpPr bwMode="auto">
                <a:xfrm>
                  <a:off x="2540" y="3313"/>
                  <a:ext cx="109" cy="96"/>
                  <a:chOff x="2540" y="3313"/>
                  <a:chExt cx="109" cy="96"/>
                </a:xfrm>
              </p:grpSpPr>
              <p:sp>
                <p:nvSpPr>
                  <p:cNvPr id="293967" name="Freeform 452"/>
                  <p:cNvSpPr>
                    <a:spLocks/>
                  </p:cNvSpPr>
                  <p:nvPr/>
                </p:nvSpPr>
                <p:spPr bwMode="auto">
                  <a:xfrm>
                    <a:off x="2541" y="3381"/>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68" name="Freeform 453"/>
                  <p:cNvSpPr>
                    <a:spLocks/>
                  </p:cNvSpPr>
                  <p:nvPr/>
                </p:nvSpPr>
                <p:spPr bwMode="auto">
                  <a:xfrm>
                    <a:off x="2542" y="3359"/>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69" name="Freeform 454"/>
                  <p:cNvSpPr>
                    <a:spLocks/>
                  </p:cNvSpPr>
                  <p:nvPr/>
                </p:nvSpPr>
                <p:spPr bwMode="auto">
                  <a:xfrm>
                    <a:off x="2540" y="3313"/>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3963" name="Freeform 455"/>
              <p:cNvSpPr>
                <a:spLocks/>
              </p:cNvSpPr>
              <p:nvPr/>
            </p:nvSpPr>
            <p:spPr bwMode="auto">
              <a:xfrm>
                <a:off x="2517" y="3371"/>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64" name="Freeform 456"/>
              <p:cNvSpPr>
                <a:spLocks/>
              </p:cNvSpPr>
              <p:nvPr/>
            </p:nvSpPr>
            <p:spPr bwMode="auto">
              <a:xfrm>
                <a:off x="2523" y="3375"/>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185" name="Group 457"/>
            <p:cNvGrpSpPr>
              <a:grpSpLocks/>
            </p:cNvGrpSpPr>
            <p:nvPr/>
          </p:nvGrpSpPr>
          <p:grpSpPr bwMode="auto">
            <a:xfrm>
              <a:off x="4491" y="3333"/>
              <a:ext cx="167" cy="86"/>
              <a:chOff x="2515" y="3428"/>
              <a:chExt cx="191" cy="106"/>
            </a:xfrm>
          </p:grpSpPr>
          <p:grpSp>
            <p:nvGrpSpPr>
              <p:cNvPr id="294186" name="Group 458"/>
              <p:cNvGrpSpPr>
                <a:grpSpLocks/>
              </p:cNvGrpSpPr>
              <p:nvPr/>
            </p:nvGrpSpPr>
            <p:grpSpPr bwMode="auto">
              <a:xfrm>
                <a:off x="2515" y="3428"/>
                <a:ext cx="191" cy="106"/>
                <a:chOff x="2515" y="3428"/>
                <a:chExt cx="191" cy="106"/>
              </a:xfrm>
            </p:grpSpPr>
            <p:grpSp>
              <p:nvGrpSpPr>
                <p:cNvPr id="294190" name="Group 459"/>
                <p:cNvGrpSpPr>
                  <a:grpSpLocks/>
                </p:cNvGrpSpPr>
                <p:nvPr/>
              </p:nvGrpSpPr>
              <p:grpSpPr bwMode="auto">
                <a:xfrm>
                  <a:off x="2515" y="3458"/>
                  <a:ext cx="187" cy="76"/>
                  <a:chOff x="2515" y="3458"/>
                  <a:chExt cx="187" cy="76"/>
                </a:xfrm>
              </p:grpSpPr>
              <p:grpSp>
                <p:nvGrpSpPr>
                  <p:cNvPr id="294200" name="Group 460"/>
                  <p:cNvGrpSpPr>
                    <a:grpSpLocks/>
                  </p:cNvGrpSpPr>
                  <p:nvPr/>
                </p:nvGrpSpPr>
                <p:grpSpPr bwMode="auto">
                  <a:xfrm>
                    <a:off x="2515" y="3502"/>
                    <a:ext cx="25" cy="32"/>
                    <a:chOff x="2515" y="3502"/>
                    <a:chExt cx="25" cy="32"/>
                  </a:xfrm>
                </p:grpSpPr>
                <p:sp>
                  <p:nvSpPr>
                    <p:cNvPr id="293959" name="Freeform 461"/>
                    <p:cNvSpPr>
                      <a:spLocks/>
                    </p:cNvSpPr>
                    <p:nvPr/>
                  </p:nvSpPr>
                  <p:spPr bwMode="auto">
                    <a:xfrm>
                      <a:off x="2523" y="3502"/>
                      <a:ext cx="17" cy="28"/>
                    </a:xfrm>
                    <a:custGeom>
                      <a:avLst/>
                      <a:gdLst>
                        <a:gd name="T0" fmla="*/ 5 w 17"/>
                        <a:gd name="T1" fmla="*/ 0 h 28"/>
                        <a:gd name="T2" fmla="*/ 0 w 17"/>
                        <a:gd name="T3" fmla="*/ 14 h 28"/>
                        <a:gd name="T4" fmla="*/ 16 w 17"/>
                        <a:gd name="T5" fmla="*/ 27 h 28"/>
                        <a:gd name="T6" fmla="*/ 16 w 17"/>
                        <a:gd name="T7" fmla="*/ 13 h 28"/>
                        <a:gd name="T8" fmla="*/ 5 w 17"/>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8">
                          <a:moveTo>
                            <a:pt x="5" y="0"/>
                          </a:moveTo>
                          <a:lnTo>
                            <a:pt x="0" y="14"/>
                          </a:lnTo>
                          <a:lnTo>
                            <a:pt x="16" y="27"/>
                          </a:lnTo>
                          <a:lnTo>
                            <a:pt x="16" y="13"/>
                          </a:lnTo>
                          <a:lnTo>
                            <a:pt x="5"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60" name="Freeform 462"/>
                    <p:cNvSpPr>
                      <a:spLocks/>
                    </p:cNvSpPr>
                    <p:nvPr/>
                  </p:nvSpPr>
                  <p:spPr bwMode="auto">
                    <a:xfrm>
                      <a:off x="2515" y="3502"/>
                      <a:ext cx="17" cy="17"/>
                    </a:xfrm>
                    <a:custGeom>
                      <a:avLst/>
                      <a:gdLst>
                        <a:gd name="T0" fmla="*/ 16 w 17"/>
                        <a:gd name="T1" fmla="*/ 0 h 17"/>
                        <a:gd name="T2" fmla="*/ 14 w 17"/>
                        <a:gd name="T3" fmla="*/ 14 h 17"/>
                        <a:gd name="T4" fmla="*/ 0 w 17"/>
                        <a:gd name="T5" fmla="*/ 16 h 17"/>
                        <a:gd name="T6" fmla="*/ 0 w 17"/>
                        <a:gd name="T7" fmla="*/ 10 h 17"/>
                        <a:gd name="T8" fmla="*/ 16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14" y="14"/>
                          </a:lnTo>
                          <a:lnTo>
                            <a:pt x="0" y="16"/>
                          </a:lnTo>
                          <a:lnTo>
                            <a:pt x="0" y="10"/>
                          </a:lnTo>
                          <a:lnTo>
                            <a:pt x="16" y="0"/>
                          </a:lnTo>
                        </a:path>
                      </a:pathLst>
                    </a:custGeom>
                    <a:solidFill>
                      <a:srgbClr val="5F5F5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61" name="Freeform 463"/>
                    <p:cNvSpPr>
                      <a:spLocks/>
                    </p:cNvSpPr>
                    <p:nvPr/>
                  </p:nvSpPr>
                  <p:spPr bwMode="auto">
                    <a:xfrm>
                      <a:off x="2515" y="3517"/>
                      <a:ext cx="17" cy="17"/>
                    </a:xfrm>
                    <a:custGeom>
                      <a:avLst/>
                      <a:gdLst>
                        <a:gd name="T0" fmla="*/ 0 w 17"/>
                        <a:gd name="T1" fmla="*/ 3 h 17"/>
                        <a:gd name="T2" fmla="*/ 11 w 17"/>
                        <a:gd name="T3" fmla="*/ 0 h 17"/>
                        <a:gd name="T4" fmla="*/ 16 w 17"/>
                        <a:gd name="T5" fmla="*/ 16 h 17"/>
                        <a:gd name="T6" fmla="*/ 1 w 17"/>
                        <a:gd name="T7" fmla="*/ 8 h 17"/>
                        <a:gd name="T8" fmla="*/ 0 w 17"/>
                        <a:gd name="T9" fmla="*/ 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3"/>
                          </a:moveTo>
                          <a:lnTo>
                            <a:pt x="11" y="0"/>
                          </a:lnTo>
                          <a:lnTo>
                            <a:pt x="16" y="16"/>
                          </a:lnTo>
                          <a:lnTo>
                            <a:pt x="1" y="8"/>
                          </a:lnTo>
                          <a:lnTo>
                            <a:pt x="0" y="3"/>
                          </a:lnTo>
                        </a:path>
                      </a:pathLst>
                    </a:custGeom>
                    <a:solidFill>
                      <a:srgbClr val="3F3F3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3953" name="Freeform 464"/>
                  <p:cNvSpPr>
                    <a:spLocks/>
                  </p:cNvSpPr>
                  <p:nvPr/>
                </p:nvSpPr>
                <p:spPr bwMode="auto">
                  <a:xfrm>
                    <a:off x="2521" y="3460"/>
                    <a:ext cx="160" cy="62"/>
                  </a:xfrm>
                  <a:custGeom>
                    <a:avLst/>
                    <a:gdLst>
                      <a:gd name="T0" fmla="*/ 2 w 160"/>
                      <a:gd name="T1" fmla="*/ 61 h 62"/>
                      <a:gd name="T2" fmla="*/ 1 w 160"/>
                      <a:gd name="T3" fmla="*/ 60 h 62"/>
                      <a:gd name="T4" fmla="*/ 0 w 160"/>
                      <a:gd name="T5" fmla="*/ 59 h 62"/>
                      <a:gd name="T6" fmla="*/ 0 w 160"/>
                      <a:gd name="T7" fmla="*/ 58 h 62"/>
                      <a:gd name="T8" fmla="*/ 0 w 160"/>
                      <a:gd name="T9" fmla="*/ 56 h 62"/>
                      <a:gd name="T10" fmla="*/ 0 w 160"/>
                      <a:gd name="T11" fmla="*/ 55 h 62"/>
                      <a:gd name="T12" fmla="*/ 1 w 160"/>
                      <a:gd name="T13" fmla="*/ 53 h 62"/>
                      <a:gd name="T14" fmla="*/ 2 w 160"/>
                      <a:gd name="T15" fmla="*/ 52 h 62"/>
                      <a:gd name="T16" fmla="*/ 153 w 160"/>
                      <a:gd name="T17" fmla="*/ 0 h 62"/>
                      <a:gd name="T18" fmla="*/ 159 w 160"/>
                      <a:gd name="T19" fmla="*/ 40 h 62"/>
                      <a:gd name="T20" fmla="*/ 2 w 160"/>
                      <a:gd name="T21" fmla="*/ 6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0" h="62">
                        <a:moveTo>
                          <a:pt x="2" y="61"/>
                        </a:moveTo>
                        <a:lnTo>
                          <a:pt x="1" y="60"/>
                        </a:lnTo>
                        <a:lnTo>
                          <a:pt x="0" y="59"/>
                        </a:lnTo>
                        <a:lnTo>
                          <a:pt x="0" y="58"/>
                        </a:lnTo>
                        <a:lnTo>
                          <a:pt x="0" y="56"/>
                        </a:lnTo>
                        <a:lnTo>
                          <a:pt x="0" y="55"/>
                        </a:lnTo>
                        <a:lnTo>
                          <a:pt x="1" y="53"/>
                        </a:lnTo>
                        <a:lnTo>
                          <a:pt x="2" y="52"/>
                        </a:lnTo>
                        <a:lnTo>
                          <a:pt x="153" y="0"/>
                        </a:lnTo>
                        <a:lnTo>
                          <a:pt x="159" y="40"/>
                        </a:lnTo>
                        <a:lnTo>
                          <a:pt x="2" y="61"/>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54" name="Freeform 465"/>
                  <p:cNvSpPr>
                    <a:spLocks/>
                  </p:cNvSpPr>
                  <p:nvPr/>
                </p:nvSpPr>
                <p:spPr bwMode="auto">
                  <a:xfrm>
                    <a:off x="2653" y="3461"/>
                    <a:ext cx="48" cy="31"/>
                  </a:xfrm>
                  <a:custGeom>
                    <a:avLst/>
                    <a:gdLst>
                      <a:gd name="T0" fmla="*/ 47 w 48"/>
                      <a:gd name="T1" fmla="*/ 28 h 31"/>
                      <a:gd name="T2" fmla="*/ 42 w 48"/>
                      <a:gd name="T3" fmla="*/ 30 h 31"/>
                      <a:gd name="T4" fmla="*/ 22 w 48"/>
                      <a:gd name="T5" fmla="*/ 6 h 31"/>
                      <a:gd name="T6" fmla="*/ 0 w 48"/>
                      <a:gd name="T7" fmla="*/ 10 h 31"/>
                      <a:gd name="T8" fmla="*/ 2 w 48"/>
                      <a:gd name="T9" fmla="*/ 6 h 31"/>
                      <a:gd name="T10" fmla="*/ 25 w 48"/>
                      <a:gd name="T11" fmla="*/ 0 h 31"/>
                      <a:gd name="T12" fmla="*/ 47 w 48"/>
                      <a:gd name="T13" fmla="*/ 28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31">
                        <a:moveTo>
                          <a:pt x="47" y="28"/>
                        </a:moveTo>
                        <a:lnTo>
                          <a:pt x="42" y="30"/>
                        </a:lnTo>
                        <a:lnTo>
                          <a:pt x="22" y="6"/>
                        </a:lnTo>
                        <a:lnTo>
                          <a:pt x="0" y="10"/>
                        </a:lnTo>
                        <a:lnTo>
                          <a:pt x="2" y="6"/>
                        </a:lnTo>
                        <a:lnTo>
                          <a:pt x="25" y="0"/>
                        </a:lnTo>
                        <a:lnTo>
                          <a:pt x="47" y="28"/>
                        </a:lnTo>
                      </a:path>
                    </a:pathLst>
                  </a:custGeom>
                  <a:solidFill>
                    <a:srgbClr val="80808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55" name="Freeform 466"/>
                  <p:cNvSpPr>
                    <a:spLocks/>
                  </p:cNvSpPr>
                  <p:nvPr/>
                </p:nvSpPr>
                <p:spPr bwMode="auto">
                  <a:xfrm>
                    <a:off x="2649" y="3458"/>
                    <a:ext cx="45" cy="45"/>
                  </a:xfrm>
                  <a:custGeom>
                    <a:avLst/>
                    <a:gdLst>
                      <a:gd name="T0" fmla="*/ 31 w 45"/>
                      <a:gd name="T1" fmla="*/ 0 h 45"/>
                      <a:gd name="T2" fmla="*/ 8 w 45"/>
                      <a:gd name="T3" fmla="*/ 8 h 45"/>
                      <a:gd name="T4" fmla="*/ 5 w 45"/>
                      <a:gd name="T5" fmla="*/ 10 h 45"/>
                      <a:gd name="T6" fmla="*/ 3 w 45"/>
                      <a:gd name="T7" fmla="*/ 13 h 45"/>
                      <a:gd name="T8" fmla="*/ 2 w 45"/>
                      <a:gd name="T9" fmla="*/ 15 h 45"/>
                      <a:gd name="T10" fmla="*/ 1 w 45"/>
                      <a:gd name="T11" fmla="*/ 17 h 45"/>
                      <a:gd name="T12" fmla="*/ 0 w 45"/>
                      <a:gd name="T13" fmla="*/ 22 h 45"/>
                      <a:gd name="T14" fmla="*/ 0 w 45"/>
                      <a:gd name="T15" fmla="*/ 24 h 45"/>
                      <a:gd name="T16" fmla="*/ 0 w 45"/>
                      <a:gd name="T17" fmla="*/ 29 h 45"/>
                      <a:gd name="T18" fmla="*/ 2 w 45"/>
                      <a:gd name="T19" fmla="*/ 33 h 45"/>
                      <a:gd name="T20" fmla="*/ 4 w 45"/>
                      <a:gd name="T21" fmla="*/ 36 h 45"/>
                      <a:gd name="T22" fmla="*/ 6 w 45"/>
                      <a:gd name="T23" fmla="*/ 39 h 45"/>
                      <a:gd name="T24" fmla="*/ 9 w 45"/>
                      <a:gd name="T25" fmla="*/ 42 h 45"/>
                      <a:gd name="T26" fmla="*/ 11 w 45"/>
                      <a:gd name="T27" fmla="*/ 43 h 45"/>
                      <a:gd name="T28" fmla="*/ 14 w 45"/>
                      <a:gd name="T29" fmla="*/ 44 h 45"/>
                      <a:gd name="T30" fmla="*/ 44 w 45"/>
                      <a:gd name="T31" fmla="*/ 41 h 45"/>
                      <a:gd name="T32" fmla="*/ 26 w 45"/>
                      <a:gd name="T33" fmla="*/ 8 h 45"/>
                      <a:gd name="T34" fmla="*/ 5 w 45"/>
                      <a:gd name="T35" fmla="*/ 12 h 45"/>
                      <a:gd name="T36" fmla="*/ 7 w 45"/>
                      <a:gd name="T37" fmla="*/ 10 h 45"/>
                      <a:gd name="T38" fmla="*/ 28 w 45"/>
                      <a:gd name="T39" fmla="*/ 4 h 45"/>
                      <a:gd name="T40" fmla="*/ 31 w 45"/>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45">
                        <a:moveTo>
                          <a:pt x="31" y="0"/>
                        </a:moveTo>
                        <a:lnTo>
                          <a:pt x="8" y="8"/>
                        </a:lnTo>
                        <a:lnTo>
                          <a:pt x="5" y="10"/>
                        </a:lnTo>
                        <a:lnTo>
                          <a:pt x="3" y="13"/>
                        </a:lnTo>
                        <a:lnTo>
                          <a:pt x="2" y="15"/>
                        </a:lnTo>
                        <a:lnTo>
                          <a:pt x="1" y="17"/>
                        </a:lnTo>
                        <a:lnTo>
                          <a:pt x="0" y="22"/>
                        </a:lnTo>
                        <a:lnTo>
                          <a:pt x="0" y="24"/>
                        </a:lnTo>
                        <a:lnTo>
                          <a:pt x="0" y="29"/>
                        </a:lnTo>
                        <a:lnTo>
                          <a:pt x="2" y="33"/>
                        </a:lnTo>
                        <a:lnTo>
                          <a:pt x="4" y="36"/>
                        </a:lnTo>
                        <a:lnTo>
                          <a:pt x="6" y="39"/>
                        </a:lnTo>
                        <a:lnTo>
                          <a:pt x="9" y="42"/>
                        </a:lnTo>
                        <a:lnTo>
                          <a:pt x="11" y="43"/>
                        </a:lnTo>
                        <a:lnTo>
                          <a:pt x="14" y="44"/>
                        </a:lnTo>
                        <a:lnTo>
                          <a:pt x="44" y="41"/>
                        </a:lnTo>
                        <a:lnTo>
                          <a:pt x="26" y="8"/>
                        </a:lnTo>
                        <a:lnTo>
                          <a:pt x="5" y="12"/>
                        </a:lnTo>
                        <a:lnTo>
                          <a:pt x="7" y="10"/>
                        </a:lnTo>
                        <a:lnTo>
                          <a:pt x="28" y="4"/>
                        </a:lnTo>
                        <a:lnTo>
                          <a:pt x="31" y="0"/>
                        </a:lnTo>
                      </a:path>
                    </a:pathLst>
                  </a:custGeom>
                  <a:solidFill>
                    <a:srgbClr val="C0C0C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56" name="Freeform 467"/>
                  <p:cNvSpPr>
                    <a:spLocks/>
                  </p:cNvSpPr>
                  <p:nvPr/>
                </p:nvSpPr>
                <p:spPr bwMode="auto">
                  <a:xfrm>
                    <a:off x="2676" y="3466"/>
                    <a:ext cx="23" cy="34"/>
                  </a:xfrm>
                  <a:custGeom>
                    <a:avLst/>
                    <a:gdLst>
                      <a:gd name="T0" fmla="*/ 1 w 23"/>
                      <a:gd name="T1" fmla="*/ 0 h 34"/>
                      <a:gd name="T2" fmla="*/ 22 w 23"/>
                      <a:gd name="T3" fmla="*/ 27 h 34"/>
                      <a:gd name="T4" fmla="*/ 20 w 23"/>
                      <a:gd name="T5" fmla="*/ 29 h 34"/>
                      <a:gd name="T6" fmla="*/ 19 w 23"/>
                      <a:gd name="T7" fmla="*/ 31 h 34"/>
                      <a:gd name="T8" fmla="*/ 17 w 23"/>
                      <a:gd name="T9" fmla="*/ 33 h 34"/>
                      <a:gd name="T10" fmla="*/ 15 w 23"/>
                      <a:gd name="T11" fmla="*/ 33 h 34"/>
                      <a:gd name="T12" fmla="*/ 12 w 23"/>
                      <a:gd name="T13" fmla="*/ 31 h 34"/>
                      <a:gd name="T14" fmla="*/ 10 w 23"/>
                      <a:gd name="T15" fmla="*/ 29 h 34"/>
                      <a:gd name="T16" fmla="*/ 8 w 23"/>
                      <a:gd name="T17" fmla="*/ 27 h 34"/>
                      <a:gd name="T18" fmla="*/ 6 w 23"/>
                      <a:gd name="T19" fmla="*/ 24 h 34"/>
                      <a:gd name="T20" fmla="*/ 5 w 23"/>
                      <a:gd name="T21" fmla="*/ 22 h 34"/>
                      <a:gd name="T22" fmla="*/ 4 w 23"/>
                      <a:gd name="T23" fmla="*/ 19 h 34"/>
                      <a:gd name="T24" fmla="*/ 2 w 23"/>
                      <a:gd name="T25" fmla="*/ 16 h 34"/>
                      <a:gd name="T26" fmla="*/ 1 w 23"/>
                      <a:gd name="T27" fmla="*/ 13 h 34"/>
                      <a:gd name="T28" fmla="*/ 0 w 23"/>
                      <a:gd name="T29" fmla="*/ 9 h 34"/>
                      <a:gd name="T30" fmla="*/ 0 w 23"/>
                      <a:gd name="T31" fmla="*/ 7 h 34"/>
                      <a:gd name="T32" fmla="*/ 0 w 23"/>
                      <a:gd name="T33" fmla="*/ 4 h 34"/>
                      <a:gd name="T34" fmla="*/ 0 w 23"/>
                      <a:gd name="T35" fmla="*/ 1 h 34"/>
                      <a:gd name="T36" fmla="*/ 1 w 2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 h="34">
                        <a:moveTo>
                          <a:pt x="1" y="0"/>
                        </a:moveTo>
                        <a:lnTo>
                          <a:pt x="22" y="27"/>
                        </a:lnTo>
                        <a:lnTo>
                          <a:pt x="20" y="29"/>
                        </a:lnTo>
                        <a:lnTo>
                          <a:pt x="19" y="31"/>
                        </a:lnTo>
                        <a:lnTo>
                          <a:pt x="17" y="33"/>
                        </a:lnTo>
                        <a:lnTo>
                          <a:pt x="15" y="33"/>
                        </a:lnTo>
                        <a:lnTo>
                          <a:pt x="12" y="31"/>
                        </a:lnTo>
                        <a:lnTo>
                          <a:pt x="10" y="29"/>
                        </a:lnTo>
                        <a:lnTo>
                          <a:pt x="8" y="27"/>
                        </a:lnTo>
                        <a:lnTo>
                          <a:pt x="6" y="24"/>
                        </a:lnTo>
                        <a:lnTo>
                          <a:pt x="5" y="22"/>
                        </a:lnTo>
                        <a:lnTo>
                          <a:pt x="4" y="19"/>
                        </a:lnTo>
                        <a:lnTo>
                          <a:pt x="2" y="16"/>
                        </a:lnTo>
                        <a:lnTo>
                          <a:pt x="1" y="13"/>
                        </a:lnTo>
                        <a:lnTo>
                          <a:pt x="0" y="9"/>
                        </a:lnTo>
                        <a:lnTo>
                          <a:pt x="0" y="7"/>
                        </a:lnTo>
                        <a:lnTo>
                          <a:pt x="0" y="4"/>
                        </a:lnTo>
                        <a:lnTo>
                          <a:pt x="0" y="1"/>
                        </a:lnTo>
                        <a:lnTo>
                          <a:pt x="1" y="0"/>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57" name="Freeform 468"/>
                  <p:cNvSpPr>
                    <a:spLocks/>
                  </p:cNvSpPr>
                  <p:nvPr/>
                </p:nvSpPr>
                <p:spPr bwMode="auto">
                  <a:xfrm>
                    <a:off x="2677" y="3458"/>
                    <a:ext cx="25" cy="33"/>
                  </a:xfrm>
                  <a:custGeom>
                    <a:avLst/>
                    <a:gdLst>
                      <a:gd name="T0" fmla="*/ 0 w 25"/>
                      <a:gd name="T1" fmla="*/ 4 h 33"/>
                      <a:gd name="T2" fmla="*/ 22 w 25"/>
                      <a:gd name="T3" fmla="*/ 32 h 33"/>
                      <a:gd name="T4" fmla="*/ 22 w 25"/>
                      <a:gd name="T5" fmla="*/ 29 h 33"/>
                      <a:gd name="T6" fmla="*/ 24 w 25"/>
                      <a:gd name="T7" fmla="*/ 25 h 33"/>
                      <a:gd name="T8" fmla="*/ 24 w 25"/>
                      <a:gd name="T9" fmla="*/ 22 h 33"/>
                      <a:gd name="T10" fmla="*/ 24 w 25"/>
                      <a:gd name="T11" fmla="*/ 19 h 33"/>
                      <a:gd name="T12" fmla="*/ 22 w 25"/>
                      <a:gd name="T13" fmla="*/ 15 h 33"/>
                      <a:gd name="T14" fmla="*/ 21 w 25"/>
                      <a:gd name="T15" fmla="*/ 12 h 33"/>
                      <a:gd name="T16" fmla="*/ 19 w 25"/>
                      <a:gd name="T17" fmla="*/ 9 h 33"/>
                      <a:gd name="T18" fmla="*/ 17 w 25"/>
                      <a:gd name="T19" fmla="*/ 6 h 33"/>
                      <a:gd name="T20" fmla="*/ 14 w 25"/>
                      <a:gd name="T21" fmla="*/ 4 h 33"/>
                      <a:gd name="T22" fmla="*/ 11 w 25"/>
                      <a:gd name="T23" fmla="*/ 2 h 33"/>
                      <a:gd name="T24" fmla="*/ 8 w 25"/>
                      <a:gd name="T25" fmla="*/ 0 h 33"/>
                      <a:gd name="T26" fmla="*/ 5 w 25"/>
                      <a:gd name="T27" fmla="*/ 0 h 33"/>
                      <a:gd name="T28" fmla="*/ 2 w 25"/>
                      <a:gd name="T29" fmla="*/ 0 h 33"/>
                      <a:gd name="T30" fmla="*/ 1 w 25"/>
                      <a:gd name="T31" fmla="*/ 2 h 33"/>
                      <a:gd name="T32" fmla="*/ 0 w 25"/>
                      <a:gd name="T33" fmla="*/ 4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33">
                        <a:moveTo>
                          <a:pt x="0" y="4"/>
                        </a:moveTo>
                        <a:lnTo>
                          <a:pt x="22" y="32"/>
                        </a:lnTo>
                        <a:lnTo>
                          <a:pt x="22" y="29"/>
                        </a:lnTo>
                        <a:lnTo>
                          <a:pt x="24" y="25"/>
                        </a:lnTo>
                        <a:lnTo>
                          <a:pt x="24" y="22"/>
                        </a:lnTo>
                        <a:lnTo>
                          <a:pt x="24" y="19"/>
                        </a:lnTo>
                        <a:lnTo>
                          <a:pt x="22" y="15"/>
                        </a:lnTo>
                        <a:lnTo>
                          <a:pt x="21" y="12"/>
                        </a:lnTo>
                        <a:lnTo>
                          <a:pt x="19" y="9"/>
                        </a:lnTo>
                        <a:lnTo>
                          <a:pt x="17" y="6"/>
                        </a:lnTo>
                        <a:lnTo>
                          <a:pt x="14" y="4"/>
                        </a:lnTo>
                        <a:lnTo>
                          <a:pt x="11" y="2"/>
                        </a:lnTo>
                        <a:lnTo>
                          <a:pt x="8" y="0"/>
                        </a:lnTo>
                        <a:lnTo>
                          <a:pt x="5" y="0"/>
                        </a:lnTo>
                        <a:lnTo>
                          <a:pt x="2" y="0"/>
                        </a:lnTo>
                        <a:lnTo>
                          <a:pt x="1" y="2"/>
                        </a:lnTo>
                        <a:lnTo>
                          <a:pt x="0" y="4"/>
                        </a:lnTo>
                      </a:path>
                    </a:pathLst>
                  </a:custGeom>
                  <a:solidFill>
                    <a:srgbClr val="9F9F9F"/>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58" name="Freeform 469"/>
                  <p:cNvSpPr>
                    <a:spLocks/>
                  </p:cNvSpPr>
                  <p:nvPr/>
                </p:nvSpPr>
                <p:spPr bwMode="auto">
                  <a:xfrm>
                    <a:off x="2521" y="3510"/>
                    <a:ext cx="17" cy="17"/>
                  </a:xfrm>
                  <a:custGeom>
                    <a:avLst/>
                    <a:gdLst>
                      <a:gd name="T0" fmla="*/ 4 w 17"/>
                      <a:gd name="T1" fmla="*/ 16 h 17"/>
                      <a:gd name="T2" fmla="*/ 1 w 17"/>
                      <a:gd name="T3" fmla="*/ 15 h 17"/>
                      <a:gd name="T4" fmla="*/ 0 w 17"/>
                      <a:gd name="T5" fmla="*/ 14 h 17"/>
                      <a:gd name="T6" fmla="*/ 0 w 17"/>
                      <a:gd name="T7" fmla="*/ 11 h 17"/>
                      <a:gd name="T8" fmla="*/ 0 w 17"/>
                      <a:gd name="T9" fmla="*/ 9 h 17"/>
                      <a:gd name="T10" fmla="*/ 0 w 17"/>
                      <a:gd name="T11" fmla="*/ 7 h 17"/>
                      <a:gd name="T12" fmla="*/ 1 w 17"/>
                      <a:gd name="T13" fmla="*/ 5 h 17"/>
                      <a:gd name="T14" fmla="*/ 3 w 17"/>
                      <a:gd name="T15" fmla="*/ 4 h 17"/>
                      <a:gd name="T16" fmla="*/ 14 w 17"/>
                      <a:gd name="T17" fmla="*/ 0 h 17"/>
                      <a:gd name="T18" fmla="*/ 13 w 17"/>
                      <a:gd name="T19" fmla="*/ 1 h 17"/>
                      <a:gd name="T20" fmla="*/ 11 w 17"/>
                      <a:gd name="T21" fmla="*/ 3 h 17"/>
                      <a:gd name="T22" fmla="*/ 11 w 17"/>
                      <a:gd name="T23" fmla="*/ 6 h 17"/>
                      <a:gd name="T24" fmla="*/ 11 w 17"/>
                      <a:gd name="T25" fmla="*/ 8 h 17"/>
                      <a:gd name="T26" fmla="*/ 11 w 17"/>
                      <a:gd name="T27" fmla="*/ 10 h 17"/>
                      <a:gd name="T28" fmla="*/ 13 w 17"/>
                      <a:gd name="T29" fmla="*/ 12 h 17"/>
                      <a:gd name="T30" fmla="*/ 16 w 17"/>
                      <a:gd name="T31" fmla="*/ 14 h 17"/>
                      <a:gd name="T32" fmla="*/ 4 w 17"/>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17">
                        <a:moveTo>
                          <a:pt x="4" y="16"/>
                        </a:moveTo>
                        <a:lnTo>
                          <a:pt x="1" y="15"/>
                        </a:lnTo>
                        <a:lnTo>
                          <a:pt x="0" y="14"/>
                        </a:lnTo>
                        <a:lnTo>
                          <a:pt x="0" y="11"/>
                        </a:lnTo>
                        <a:lnTo>
                          <a:pt x="0" y="9"/>
                        </a:lnTo>
                        <a:lnTo>
                          <a:pt x="0" y="7"/>
                        </a:lnTo>
                        <a:lnTo>
                          <a:pt x="1" y="5"/>
                        </a:lnTo>
                        <a:lnTo>
                          <a:pt x="3" y="4"/>
                        </a:lnTo>
                        <a:lnTo>
                          <a:pt x="14" y="0"/>
                        </a:lnTo>
                        <a:lnTo>
                          <a:pt x="13" y="1"/>
                        </a:lnTo>
                        <a:lnTo>
                          <a:pt x="11" y="3"/>
                        </a:lnTo>
                        <a:lnTo>
                          <a:pt x="11" y="6"/>
                        </a:lnTo>
                        <a:lnTo>
                          <a:pt x="11" y="8"/>
                        </a:lnTo>
                        <a:lnTo>
                          <a:pt x="11" y="10"/>
                        </a:lnTo>
                        <a:lnTo>
                          <a:pt x="13" y="12"/>
                        </a:lnTo>
                        <a:lnTo>
                          <a:pt x="16" y="14"/>
                        </a:lnTo>
                        <a:lnTo>
                          <a:pt x="4" y="16"/>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nvGrpSpPr>
                <p:cNvPr id="294203" name="Group 470"/>
                <p:cNvGrpSpPr>
                  <a:grpSpLocks/>
                </p:cNvGrpSpPr>
                <p:nvPr/>
              </p:nvGrpSpPr>
              <p:grpSpPr bwMode="auto">
                <a:xfrm>
                  <a:off x="2597" y="3428"/>
                  <a:ext cx="109" cy="96"/>
                  <a:chOff x="2597" y="3428"/>
                  <a:chExt cx="109" cy="96"/>
                </a:xfrm>
              </p:grpSpPr>
              <p:sp>
                <p:nvSpPr>
                  <p:cNvPr id="293949" name="Freeform 471"/>
                  <p:cNvSpPr>
                    <a:spLocks/>
                  </p:cNvSpPr>
                  <p:nvPr/>
                </p:nvSpPr>
                <p:spPr bwMode="auto">
                  <a:xfrm>
                    <a:off x="2598" y="3496"/>
                    <a:ext cx="108" cy="28"/>
                  </a:xfrm>
                  <a:custGeom>
                    <a:avLst/>
                    <a:gdLst>
                      <a:gd name="T0" fmla="*/ 0 w 108"/>
                      <a:gd name="T1" fmla="*/ 8 h 28"/>
                      <a:gd name="T2" fmla="*/ 74 w 108"/>
                      <a:gd name="T3" fmla="*/ 0 h 28"/>
                      <a:gd name="T4" fmla="*/ 107 w 108"/>
                      <a:gd name="T5" fmla="*/ 25 h 28"/>
                      <a:gd name="T6" fmla="*/ 85 w 108"/>
                      <a:gd name="T7" fmla="*/ 24 h 28"/>
                      <a:gd name="T8" fmla="*/ 79 w 108"/>
                      <a:gd name="T9" fmla="*/ 23 h 28"/>
                      <a:gd name="T10" fmla="*/ 82 w 108"/>
                      <a:gd name="T11" fmla="*/ 27 h 28"/>
                      <a:gd name="T12" fmla="*/ 61 w 108"/>
                      <a:gd name="T13" fmla="*/ 24 h 28"/>
                      <a:gd name="T14" fmla="*/ 54 w 108"/>
                      <a:gd name="T15" fmla="*/ 22 h 28"/>
                      <a:gd name="T16" fmla="*/ 57 w 108"/>
                      <a:gd name="T17" fmla="*/ 25 h 28"/>
                      <a:gd name="T18" fmla="*/ 27 w 108"/>
                      <a:gd name="T19" fmla="*/ 22 h 28"/>
                      <a:gd name="T20" fmla="*/ 0 w 108"/>
                      <a:gd name="T21" fmla="*/ 8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8" h="28">
                        <a:moveTo>
                          <a:pt x="0" y="8"/>
                        </a:moveTo>
                        <a:lnTo>
                          <a:pt x="74" y="0"/>
                        </a:lnTo>
                        <a:lnTo>
                          <a:pt x="107" y="25"/>
                        </a:lnTo>
                        <a:lnTo>
                          <a:pt x="85" y="24"/>
                        </a:lnTo>
                        <a:lnTo>
                          <a:pt x="79" y="23"/>
                        </a:lnTo>
                        <a:lnTo>
                          <a:pt x="82" y="27"/>
                        </a:lnTo>
                        <a:lnTo>
                          <a:pt x="61" y="24"/>
                        </a:lnTo>
                        <a:lnTo>
                          <a:pt x="54" y="22"/>
                        </a:lnTo>
                        <a:lnTo>
                          <a:pt x="57" y="25"/>
                        </a:lnTo>
                        <a:lnTo>
                          <a:pt x="27" y="22"/>
                        </a:lnTo>
                        <a:lnTo>
                          <a:pt x="0" y="8"/>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50" name="Freeform 472"/>
                  <p:cNvSpPr>
                    <a:spLocks/>
                  </p:cNvSpPr>
                  <p:nvPr/>
                </p:nvSpPr>
                <p:spPr bwMode="auto">
                  <a:xfrm>
                    <a:off x="2599" y="3474"/>
                    <a:ext cx="69" cy="22"/>
                  </a:xfrm>
                  <a:custGeom>
                    <a:avLst/>
                    <a:gdLst>
                      <a:gd name="T0" fmla="*/ 8 w 69"/>
                      <a:gd name="T1" fmla="*/ 15 h 22"/>
                      <a:gd name="T2" fmla="*/ 68 w 69"/>
                      <a:gd name="T3" fmla="*/ 0 h 22"/>
                      <a:gd name="T4" fmla="*/ 51 w 69"/>
                      <a:gd name="T5" fmla="*/ 9 h 22"/>
                      <a:gd name="T6" fmla="*/ 0 w 69"/>
                      <a:gd name="T7" fmla="*/ 21 h 22"/>
                      <a:gd name="T8" fmla="*/ 8 w 69"/>
                      <a:gd name="T9" fmla="*/ 1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22">
                        <a:moveTo>
                          <a:pt x="8" y="15"/>
                        </a:moveTo>
                        <a:lnTo>
                          <a:pt x="68" y="0"/>
                        </a:lnTo>
                        <a:lnTo>
                          <a:pt x="51" y="9"/>
                        </a:lnTo>
                        <a:lnTo>
                          <a:pt x="0" y="21"/>
                        </a:lnTo>
                        <a:lnTo>
                          <a:pt x="8" y="15"/>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51" name="Freeform 473"/>
                  <p:cNvSpPr>
                    <a:spLocks/>
                  </p:cNvSpPr>
                  <p:nvPr/>
                </p:nvSpPr>
                <p:spPr bwMode="auto">
                  <a:xfrm>
                    <a:off x="2597" y="3428"/>
                    <a:ext cx="90" cy="63"/>
                  </a:xfrm>
                  <a:custGeom>
                    <a:avLst/>
                    <a:gdLst>
                      <a:gd name="T0" fmla="*/ 0 w 90"/>
                      <a:gd name="T1" fmla="*/ 62 h 63"/>
                      <a:gd name="T2" fmla="*/ 63 w 90"/>
                      <a:gd name="T3" fmla="*/ 39 h 63"/>
                      <a:gd name="T4" fmla="*/ 89 w 90"/>
                      <a:gd name="T5" fmla="*/ 0 h 63"/>
                      <a:gd name="T6" fmla="*/ 68 w 90"/>
                      <a:gd name="T7" fmla="*/ 11 h 63"/>
                      <a:gd name="T8" fmla="*/ 64 w 90"/>
                      <a:gd name="T9" fmla="*/ 16 h 63"/>
                      <a:gd name="T10" fmla="*/ 64 w 90"/>
                      <a:gd name="T11" fmla="*/ 11 h 63"/>
                      <a:gd name="T12" fmla="*/ 42 w 90"/>
                      <a:gd name="T13" fmla="*/ 28 h 63"/>
                      <a:gd name="T14" fmla="*/ 44 w 90"/>
                      <a:gd name="T15" fmla="*/ 23 h 63"/>
                      <a:gd name="T16" fmla="*/ 20 w 90"/>
                      <a:gd name="T17" fmla="*/ 38 h 63"/>
                      <a:gd name="T18" fmla="*/ 0 w 90"/>
                      <a:gd name="T19" fmla="*/ 62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63">
                        <a:moveTo>
                          <a:pt x="0" y="62"/>
                        </a:moveTo>
                        <a:lnTo>
                          <a:pt x="63" y="39"/>
                        </a:lnTo>
                        <a:lnTo>
                          <a:pt x="89" y="0"/>
                        </a:lnTo>
                        <a:lnTo>
                          <a:pt x="68" y="11"/>
                        </a:lnTo>
                        <a:lnTo>
                          <a:pt x="64" y="16"/>
                        </a:lnTo>
                        <a:lnTo>
                          <a:pt x="64" y="11"/>
                        </a:lnTo>
                        <a:lnTo>
                          <a:pt x="42" y="28"/>
                        </a:lnTo>
                        <a:lnTo>
                          <a:pt x="44" y="23"/>
                        </a:lnTo>
                        <a:lnTo>
                          <a:pt x="20" y="38"/>
                        </a:lnTo>
                        <a:lnTo>
                          <a:pt x="0" y="62"/>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grpSp>
          <p:sp>
            <p:nvSpPr>
              <p:cNvPr id="293945" name="Freeform 474"/>
              <p:cNvSpPr>
                <a:spLocks/>
              </p:cNvSpPr>
              <p:nvPr/>
            </p:nvSpPr>
            <p:spPr bwMode="auto">
              <a:xfrm>
                <a:off x="2574" y="3486"/>
                <a:ext cx="31" cy="28"/>
              </a:xfrm>
              <a:custGeom>
                <a:avLst/>
                <a:gdLst>
                  <a:gd name="T0" fmla="*/ 26 w 31"/>
                  <a:gd name="T1" fmla="*/ 0 h 28"/>
                  <a:gd name="T2" fmla="*/ 24 w 31"/>
                  <a:gd name="T3" fmla="*/ 1 h 28"/>
                  <a:gd name="T4" fmla="*/ 22 w 31"/>
                  <a:gd name="T5" fmla="*/ 4 h 28"/>
                  <a:gd name="T6" fmla="*/ 21 w 31"/>
                  <a:gd name="T7" fmla="*/ 7 h 28"/>
                  <a:gd name="T8" fmla="*/ 21 w 31"/>
                  <a:gd name="T9" fmla="*/ 10 h 28"/>
                  <a:gd name="T10" fmla="*/ 21 w 31"/>
                  <a:gd name="T11" fmla="*/ 13 h 28"/>
                  <a:gd name="T12" fmla="*/ 21 w 31"/>
                  <a:gd name="T13" fmla="*/ 16 h 28"/>
                  <a:gd name="T14" fmla="*/ 22 w 31"/>
                  <a:gd name="T15" fmla="*/ 18 h 28"/>
                  <a:gd name="T16" fmla="*/ 25 w 31"/>
                  <a:gd name="T17" fmla="*/ 21 h 28"/>
                  <a:gd name="T18" fmla="*/ 27 w 31"/>
                  <a:gd name="T19" fmla="*/ 22 h 28"/>
                  <a:gd name="T20" fmla="*/ 30 w 31"/>
                  <a:gd name="T21" fmla="*/ 24 h 28"/>
                  <a:gd name="T22" fmla="*/ 7 w 31"/>
                  <a:gd name="T23" fmla="*/ 27 h 28"/>
                  <a:gd name="T24" fmla="*/ 5 w 31"/>
                  <a:gd name="T25" fmla="*/ 25 h 28"/>
                  <a:gd name="T26" fmla="*/ 2 w 31"/>
                  <a:gd name="T27" fmla="*/ 24 h 28"/>
                  <a:gd name="T28" fmla="*/ 1 w 31"/>
                  <a:gd name="T29" fmla="*/ 22 h 28"/>
                  <a:gd name="T30" fmla="*/ 0 w 31"/>
                  <a:gd name="T31" fmla="*/ 21 h 28"/>
                  <a:gd name="T32" fmla="*/ 0 w 31"/>
                  <a:gd name="T33" fmla="*/ 19 h 28"/>
                  <a:gd name="T34" fmla="*/ 0 w 31"/>
                  <a:gd name="T35" fmla="*/ 16 h 28"/>
                  <a:gd name="T36" fmla="*/ 0 w 31"/>
                  <a:gd name="T37" fmla="*/ 13 h 28"/>
                  <a:gd name="T38" fmla="*/ 1 w 31"/>
                  <a:gd name="T39" fmla="*/ 12 h 28"/>
                  <a:gd name="T40" fmla="*/ 2 w 31"/>
                  <a:gd name="T41" fmla="*/ 10 h 28"/>
                  <a:gd name="T42" fmla="*/ 3 w 31"/>
                  <a:gd name="T43" fmla="*/ 8 h 28"/>
                  <a:gd name="T44" fmla="*/ 4 w 31"/>
                  <a:gd name="T45" fmla="*/ 7 h 28"/>
                  <a:gd name="T46" fmla="*/ 26 w 31"/>
                  <a:gd name="T47" fmla="*/ 0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 h="28">
                    <a:moveTo>
                      <a:pt x="26" y="0"/>
                    </a:moveTo>
                    <a:lnTo>
                      <a:pt x="24" y="1"/>
                    </a:lnTo>
                    <a:lnTo>
                      <a:pt x="22" y="4"/>
                    </a:lnTo>
                    <a:lnTo>
                      <a:pt x="21" y="7"/>
                    </a:lnTo>
                    <a:lnTo>
                      <a:pt x="21" y="10"/>
                    </a:lnTo>
                    <a:lnTo>
                      <a:pt x="21" y="13"/>
                    </a:lnTo>
                    <a:lnTo>
                      <a:pt x="21" y="16"/>
                    </a:lnTo>
                    <a:lnTo>
                      <a:pt x="22" y="18"/>
                    </a:lnTo>
                    <a:lnTo>
                      <a:pt x="25" y="21"/>
                    </a:lnTo>
                    <a:lnTo>
                      <a:pt x="27" y="22"/>
                    </a:lnTo>
                    <a:lnTo>
                      <a:pt x="30" y="24"/>
                    </a:lnTo>
                    <a:lnTo>
                      <a:pt x="7" y="27"/>
                    </a:lnTo>
                    <a:lnTo>
                      <a:pt x="5" y="25"/>
                    </a:lnTo>
                    <a:lnTo>
                      <a:pt x="2" y="24"/>
                    </a:lnTo>
                    <a:lnTo>
                      <a:pt x="1" y="22"/>
                    </a:lnTo>
                    <a:lnTo>
                      <a:pt x="0" y="21"/>
                    </a:lnTo>
                    <a:lnTo>
                      <a:pt x="0" y="19"/>
                    </a:lnTo>
                    <a:lnTo>
                      <a:pt x="0" y="16"/>
                    </a:lnTo>
                    <a:lnTo>
                      <a:pt x="0" y="13"/>
                    </a:lnTo>
                    <a:lnTo>
                      <a:pt x="1" y="12"/>
                    </a:lnTo>
                    <a:lnTo>
                      <a:pt x="2" y="10"/>
                    </a:lnTo>
                    <a:lnTo>
                      <a:pt x="3" y="8"/>
                    </a:lnTo>
                    <a:lnTo>
                      <a:pt x="4" y="7"/>
                    </a:lnTo>
                    <a:lnTo>
                      <a:pt x="26"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293946" name="Freeform 475"/>
              <p:cNvSpPr>
                <a:spLocks/>
              </p:cNvSpPr>
              <p:nvPr/>
            </p:nvSpPr>
            <p:spPr bwMode="auto">
              <a:xfrm>
                <a:off x="2580" y="3490"/>
                <a:ext cx="17" cy="23"/>
              </a:xfrm>
              <a:custGeom>
                <a:avLst/>
                <a:gdLst>
                  <a:gd name="T0" fmla="*/ 10 w 17"/>
                  <a:gd name="T1" fmla="*/ 0 h 23"/>
                  <a:gd name="T2" fmla="*/ 9 w 17"/>
                  <a:gd name="T3" fmla="*/ 3 h 23"/>
                  <a:gd name="T4" fmla="*/ 7 w 17"/>
                  <a:gd name="T5" fmla="*/ 5 h 23"/>
                  <a:gd name="T6" fmla="*/ 6 w 17"/>
                  <a:gd name="T7" fmla="*/ 8 h 23"/>
                  <a:gd name="T8" fmla="*/ 5 w 17"/>
                  <a:gd name="T9" fmla="*/ 11 h 23"/>
                  <a:gd name="T10" fmla="*/ 6 w 17"/>
                  <a:gd name="T11" fmla="*/ 13 h 23"/>
                  <a:gd name="T12" fmla="*/ 7 w 17"/>
                  <a:gd name="T13" fmla="*/ 16 h 23"/>
                  <a:gd name="T14" fmla="*/ 9 w 17"/>
                  <a:gd name="T15" fmla="*/ 17 h 23"/>
                  <a:gd name="T16" fmla="*/ 12 w 17"/>
                  <a:gd name="T17" fmla="*/ 19 h 23"/>
                  <a:gd name="T18" fmla="*/ 16 w 17"/>
                  <a:gd name="T19" fmla="*/ 21 h 23"/>
                  <a:gd name="T20" fmla="*/ 10 w 17"/>
                  <a:gd name="T21" fmla="*/ 22 h 23"/>
                  <a:gd name="T22" fmla="*/ 8 w 17"/>
                  <a:gd name="T23" fmla="*/ 20 h 23"/>
                  <a:gd name="T24" fmla="*/ 6 w 17"/>
                  <a:gd name="T25" fmla="*/ 20 h 23"/>
                  <a:gd name="T26" fmla="*/ 3 w 17"/>
                  <a:gd name="T27" fmla="*/ 18 h 23"/>
                  <a:gd name="T28" fmla="*/ 2 w 17"/>
                  <a:gd name="T29" fmla="*/ 17 h 23"/>
                  <a:gd name="T30" fmla="*/ 0 w 17"/>
                  <a:gd name="T31" fmla="*/ 15 h 23"/>
                  <a:gd name="T32" fmla="*/ 0 w 17"/>
                  <a:gd name="T33" fmla="*/ 13 h 23"/>
                  <a:gd name="T34" fmla="*/ 0 w 17"/>
                  <a:gd name="T35" fmla="*/ 11 h 23"/>
                  <a:gd name="T36" fmla="*/ 0 w 17"/>
                  <a:gd name="T37" fmla="*/ 8 h 23"/>
                  <a:gd name="T38" fmla="*/ 1 w 17"/>
                  <a:gd name="T39" fmla="*/ 6 h 23"/>
                  <a:gd name="T40" fmla="*/ 3 w 17"/>
                  <a:gd name="T41" fmla="*/ 5 h 23"/>
                  <a:gd name="T42" fmla="*/ 3 w 17"/>
                  <a:gd name="T43" fmla="*/ 3 h 23"/>
                  <a:gd name="T44" fmla="*/ 6 w 17"/>
                  <a:gd name="T45" fmla="*/ 1 h 23"/>
                  <a:gd name="T46" fmla="*/ 10 w 17"/>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23">
                    <a:moveTo>
                      <a:pt x="10" y="0"/>
                    </a:moveTo>
                    <a:lnTo>
                      <a:pt x="9" y="3"/>
                    </a:lnTo>
                    <a:lnTo>
                      <a:pt x="7" y="5"/>
                    </a:lnTo>
                    <a:lnTo>
                      <a:pt x="6" y="8"/>
                    </a:lnTo>
                    <a:lnTo>
                      <a:pt x="5" y="11"/>
                    </a:lnTo>
                    <a:lnTo>
                      <a:pt x="6" y="13"/>
                    </a:lnTo>
                    <a:lnTo>
                      <a:pt x="7" y="16"/>
                    </a:lnTo>
                    <a:lnTo>
                      <a:pt x="9" y="17"/>
                    </a:lnTo>
                    <a:lnTo>
                      <a:pt x="12" y="19"/>
                    </a:lnTo>
                    <a:lnTo>
                      <a:pt x="16" y="21"/>
                    </a:lnTo>
                    <a:lnTo>
                      <a:pt x="10" y="22"/>
                    </a:lnTo>
                    <a:lnTo>
                      <a:pt x="8" y="20"/>
                    </a:lnTo>
                    <a:lnTo>
                      <a:pt x="6" y="20"/>
                    </a:lnTo>
                    <a:lnTo>
                      <a:pt x="3" y="18"/>
                    </a:lnTo>
                    <a:lnTo>
                      <a:pt x="2" y="17"/>
                    </a:lnTo>
                    <a:lnTo>
                      <a:pt x="0" y="15"/>
                    </a:lnTo>
                    <a:lnTo>
                      <a:pt x="0" y="13"/>
                    </a:lnTo>
                    <a:lnTo>
                      <a:pt x="0" y="11"/>
                    </a:lnTo>
                    <a:lnTo>
                      <a:pt x="0" y="8"/>
                    </a:lnTo>
                    <a:lnTo>
                      <a:pt x="1" y="6"/>
                    </a:lnTo>
                    <a:lnTo>
                      <a:pt x="3" y="5"/>
                    </a:lnTo>
                    <a:lnTo>
                      <a:pt x="3" y="3"/>
                    </a:lnTo>
                    <a:lnTo>
                      <a:pt x="6" y="1"/>
                    </a:lnTo>
                    <a:lnTo>
                      <a:pt x="10" y="0"/>
                    </a:lnTo>
                  </a:path>
                </a:pathLst>
              </a:custGeom>
              <a:solidFill>
                <a:srgbClr val="FF0000"/>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293930" name="Line 476"/>
            <p:cNvSpPr>
              <a:spLocks noChangeShapeType="1"/>
            </p:cNvSpPr>
            <p:nvPr/>
          </p:nvSpPr>
          <p:spPr bwMode="auto">
            <a:xfrm>
              <a:off x="3937" y="2173"/>
              <a:ext cx="0" cy="151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3931" name="Line 477"/>
            <p:cNvSpPr>
              <a:spLocks noChangeShapeType="1"/>
            </p:cNvSpPr>
            <p:nvPr/>
          </p:nvSpPr>
          <p:spPr bwMode="auto">
            <a:xfrm>
              <a:off x="2838" y="2972"/>
              <a:ext cx="224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93932" name="Text Box 478"/>
            <p:cNvSpPr txBox="1">
              <a:spLocks noChangeArrowheads="1"/>
            </p:cNvSpPr>
            <p:nvPr/>
          </p:nvSpPr>
          <p:spPr bwMode="auto">
            <a:xfrm>
              <a:off x="3664" y="2005"/>
              <a:ext cx="530"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맑은 고딕" pitchFamily="50" charset="-127"/>
                  <a:ea typeface="맑은 고딕" pitchFamily="50" charset="-127"/>
                </a:rPr>
                <a:t>Precision</a:t>
              </a:r>
            </a:p>
          </p:txBody>
        </p:sp>
        <p:sp>
          <p:nvSpPr>
            <p:cNvPr id="293933" name="Text Box 479"/>
            <p:cNvSpPr txBox="1">
              <a:spLocks noChangeArrowheads="1"/>
            </p:cNvSpPr>
            <p:nvPr/>
          </p:nvSpPr>
          <p:spPr bwMode="auto">
            <a:xfrm>
              <a:off x="5032" y="2788"/>
              <a:ext cx="528"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맑은 고딕" pitchFamily="50" charset="-127"/>
                  <a:ea typeface="맑은 고딕" pitchFamily="50" charset="-127"/>
                </a:rPr>
                <a:t>Accuracy</a:t>
              </a:r>
            </a:p>
          </p:txBody>
        </p:sp>
        <p:sp>
          <p:nvSpPr>
            <p:cNvPr id="293934" name="AutoShape 480"/>
            <p:cNvSpPr>
              <a:spLocks noChangeArrowheads="1"/>
            </p:cNvSpPr>
            <p:nvPr/>
          </p:nvSpPr>
          <p:spPr bwMode="auto">
            <a:xfrm>
              <a:off x="2515" y="2416"/>
              <a:ext cx="211" cy="920"/>
            </a:xfrm>
            <a:prstGeom prst="downArrow">
              <a:avLst>
                <a:gd name="adj1" fmla="val 56667"/>
                <a:gd name="adj2" fmla="val 61305"/>
              </a:avLst>
            </a:prstGeom>
            <a:gradFill rotWithShape="0">
              <a:gsLst>
                <a:gs pos="0">
                  <a:schemeClr val="bg1"/>
                </a:gs>
                <a:gs pos="100000">
                  <a:schemeClr val="accent2"/>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3935" name="AutoShape 481"/>
            <p:cNvSpPr>
              <a:spLocks noChangeArrowheads="1"/>
            </p:cNvSpPr>
            <p:nvPr/>
          </p:nvSpPr>
          <p:spPr bwMode="auto">
            <a:xfrm>
              <a:off x="3381" y="3719"/>
              <a:ext cx="1183" cy="216"/>
            </a:xfrm>
            <a:prstGeom prst="rightArrow">
              <a:avLst>
                <a:gd name="adj1" fmla="val 55556"/>
                <a:gd name="adj2" fmla="val 77716"/>
              </a:avLst>
            </a:prstGeom>
            <a:gradFill rotWithShape="0">
              <a:gsLst>
                <a:gs pos="0">
                  <a:schemeClr val="bg1"/>
                </a:gs>
                <a:gs pos="100000">
                  <a:schemeClr val="accent2"/>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3936" name="Text Box 482"/>
            <p:cNvSpPr txBox="1">
              <a:spLocks noChangeArrowheads="1"/>
            </p:cNvSpPr>
            <p:nvPr/>
          </p:nvSpPr>
          <p:spPr bwMode="auto">
            <a:xfrm>
              <a:off x="2995" y="3732"/>
              <a:ext cx="295" cy="1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맑은 고딕" pitchFamily="50" charset="-127"/>
                  <a:ea typeface="맑은 고딕" pitchFamily="50" charset="-127"/>
                </a:rPr>
                <a:t>Bad</a:t>
              </a:r>
            </a:p>
          </p:txBody>
        </p:sp>
        <p:sp>
          <p:nvSpPr>
            <p:cNvPr id="293937" name="Text Box 483"/>
            <p:cNvSpPr txBox="1">
              <a:spLocks noChangeArrowheads="1"/>
            </p:cNvSpPr>
            <p:nvPr/>
          </p:nvSpPr>
          <p:spPr bwMode="auto">
            <a:xfrm>
              <a:off x="4620" y="3732"/>
              <a:ext cx="366"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맑은 고딕" pitchFamily="50" charset="-127"/>
                  <a:ea typeface="맑은 고딕" pitchFamily="50" charset="-127"/>
                </a:rPr>
                <a:t>Good</a:t>
              </a:r>
            </a:p>
          </p:txBody>
        </p:sp>
        <p:sp>
          <p:nvSpPr>
            <p:cNvPr id="293938" name="Text Box 484"/>
            <p:cNvSpPr txBox="1">
              <a:spLocks noChangeArrowheads="1"/>
            </p:cNvSpPr>
            <p:nvPr/>
          </p:nvSpPr>
          <p:spPr bwMode="auto">
            <a:xfrm>
              <a:off x="2414" y="3457"/>
              <a:ext cx="366"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맑은 고딕" pitchFamily="50" charset="-127"/>
                  <a:ea typeface="맑은 고딕" pitchFamily="50" charset="-127"/>
                </a:rPr>
                <a:t>Good</a:t>
              </a:r>
            </a:p>
          </p:txBody>
        </p:sp>
        <p:sp>
          <p:nvSpPr>
            <p:cNvPr id="293939" name="Text Box 485"/>
            <p:cNvSpPr txBox="1">
              <a:spLocks noChangeArrowheads="1"/>
            </p:cNvSpPr>
            <p:nvPr/>
          </p:nvSpPr>
          <p:spPr bwMode="auto">
            <a:xfrm>
              <a:off x="2456" y="2237"/>
              <a:ext cx="295" cy="1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맑은 고딕" pitchFamily="50" charset="-127"/>
                  <a:ea typeface="맑은 고딕" pitchFamily="50" charset="-127"/>
                </a:rPr>
                <a:t>Bad</a:t>
              </a:r>
            </a:p>
          </p:txBody>
        </p:sp>
        <p:sp>
          <p:nvSpPr>
            <p:cNvPr id="293940" name="Text Box 486"/>
            <p:cNvSpPr txBox="1">
              <a:spLocks noChangeArrowheads="1"/>
            </p:cNvSpPr>
            <p:nvPr/>
          </p:nvSpPr>
          <p:spPr bwMode="auto">
            <a:xfrm>
              <a:off x="3369" y="3743"/>
              <a:ext cx="1157" cy="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맑은 고딕" pitchFamily="50" charset="-127"/>
                  <a:ea typeface="맑은 고딕" pitchFamily="50" charset="-127"/>
                </a:rPr>
                <a:t>Distribution improvements</a:t>
              </a:r>
              <a:endParaRPr lang="ko-KR" altLang="en-US" sz="1000" b="1" dirty="0">
                <a:latin typeface="맑은 고딕" pitchFamily="50" charset="-127"/>
                <a:ea typeface="맑은 고딕" pitchFamily="50" charset="-127"/>
              </a:endParaRPr>
            </a:p>
          </p:txBody>
        </p:sp>
        <p:sp>
          <p:nvSpPr>
            <p:cNvPr id="293941" name="Text Box 487"/>
            <p:cNvSpPr txBox="1">
              <a:spLocks noChangeArrowheads="1"/>
            </p:cNvSpPr>
            <p:nvPr/>
          </p:nvSpPr>
          <p:spPr bwMode="auto">
            <a:xfrm>
              <a:off x="2530" y="2566"/>
              <a:ext cx="213" cy="7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vert"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맑은 고딕" pitchFamily="50" charset="-127"/>
                  <a:ea typeface="맑은 고딕" pitchFamily="50" charset="-127"/>
                </a:rPr>
                <a:t>Mean adjustments</a:t>
              </a:r>
              <a:endParaRPr lang="ko-KR" altLang="en-US" sz="1000" b="1" dirty="0">
                <a:latin typeface="맑은 고딕" pitchFamily="50" charset="-127"/>
                <a:ea typeface="맑은 고딕" pitchFamily="50" charset="-127"/>
              </a:endParaRPr>
            </a:p>
          </p:txBody>
        </p:sp>
        <p:sp>
          <p:nvSpPr>
            <p:cNvPr id="293942" name="AutoShape 488"/>
            <p:cNvSpPr>
              <a:spLocks noChangeArrowheads="1"/>
            </p:cNvSpPr>
            <p:nvPr/>
          </p:nvSpPr>
          <p:spPr bwMode="auto">
            <a:xfrm flipH="1">
              <a:off x="4729" y="3384"/>
              <a:ext cx="350" cy="303"/>
            </a:xfrm>
            <a:prstGeom prst="rtTriangle">
              <a:avLst/>
            </a:prstGeom>
            <a:solidFill>
              <a:srgbClr val="0066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293943" name="Text Box 489"/>
            <p:cNvSpPr txBox="1">
              <a:spLocks noChangeArrowheads="1"/>
            </p:cNvSpPr>
            <p:nvPr/>
          </p:nvSpPr>
          <p:spPr bwMode="auto">
            <a:xfrm>
              <a:off x="4737" y="3558"/>
              <a:ext cx="406"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chemeClr val="bg1"/>
                  </a:solidFill>
                  <a:latin typeface="맑은 고딕" pitchFamily="50" charset="-127"/>
                  <a:ea typeface="맑은 고딕" pitchFamily="50" charset="-127"/>
                </a:rPr>
                <a:t>Target</a:t>
              </a:r>
            </a:p>
          </p:txBody>
        </p:sp>
      </p:grpSp>
      <p:sp>
        <p:nvSpPr>
          <p:cNvPr id="293895" name="Text Box 490"/>
          <p:cNvSpPr txBox="1">
            <a:spLocks noChangeArrowheads="1"/>
          </p:cNvSpPr>
          <p:nvPr/>
        </p:nvSpPr>
        <p:spPr bwMode="auto">
          <a:xfrm>
            <a:off x="8142288" y="5634757"/>
            <a:ext cx="1233805" cy="1015663"/>
          </a:xfrm>
          <a:prstGeom prst="rect">
            <a:avLst/>
          </a:prstGeom>
          <a:solidFill>
            <a:schemeClr val="accent2"/>
          </a:solidFill>
          <a:ln w="9525">
            <a:solidFill>
              <a:schemeClr val="tx1"/>
            </a:solidFill>
            <a:miter lim="800000"/>
            <a:headEnd/>
            <a:tailEnd/>
          </a:ln>
          <a:effectLst>
            <a:outerShdw dist="107763" dir="2700000" algn="ctr" rotWithShape="0">
              <a:schemeClr val="bg2"/>
            </a:outerShdw>
          </a:effec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chemeClr val="bg1"/>
                </a:solidFill>
                <a:latin typeface="맑은 고딕" pitchFamily="50" charset="-127"/>
                <a:ea typeface="맑은 고딕" pitchFamily="50" charset="-127"/>
              </a:rPr>
              <a:t>Customer experiences quality through the distribution!</a:t>
            </a:r>
          </a:p>
        </p:txBody>
      </p:sp>
      <p:sp>
        <p:nvSpPr>
          <p:cNvPr id="293896" name="Rectangle 491"/>
          <p:cNvSpPr>
            <a:spLocks noChangeArrowheads="1"/>
          </p:cNvSpPr>
          <p:nvPr/>
        </p:nvSpPr>
        <p:spPr bwMode="auto">
          <a:xfrm>
            <a:off x="914400" y="3540582"/>
            <a:ext cx="2814464" cy="7525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01600" indent="-101600">
              <a:lnSpc>
                <a:spcPct val="130000"/>
              </a:lnSpc>
              <a:buFontTx/>
              <a:buChar char="•"/>
            </a:pPr>
            <a:r>
              <a:rPr lang="en-US" altLang="ko-KR" sz="1100" dirty="0" err="1">
                <a:latin typeface="맑은 고딕" pitchFamily="50" charset="-127"/>
                <a:ea typeface="맑은 고딕" pitchFamily="50" charset="-127"/>
              </a:rPr>
              <a:t>Đây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là</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phương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pháp</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cốt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lõi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để</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chia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nhỏ</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từ</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năng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lực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quá</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trình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dài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hạn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thành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các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năng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lực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quá</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trình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ngắn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hạn</a:t>
            </a:r>
            <a:endParaRPr lang="en-US" altLang="ko-KR" sz="1100" dirty="0">
              <a:latin typeface="맑은 고딕" pitchFamily="50" charset="-127"/>
              <a:ea typeface="맑은 고딕" pitchFamily="50" charset="-127"/>
            </a:endParaRPr>
          </a:p>
        </p:txBody>
      </p:sp>
      <p:sp>
        <p:nvSpPr>
          <p:cNvPr id="293897" name="Rectangle 493"/>
          <p:cNvSpPr>
            <a:spLocks noChangeArrowheads="1"/>
          </p:cNvSpPr>
          <p:nvPr/>
        </p:nvSpPr>
        <p:spPr bwMode="auto">
          <a:xfrm>
            <a:off x="1005701" y="4369089"/>
            <a:ext cx="2590800" cy="16327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190500" indent="-190500">
              <a:lnSpc>
                <a:spcPct val="130000"/>
              </a:lnSpc>
              <a:buFont typeface="Wingdings" pitchFamily="2" charset="2"/>
              <a:buChar char="à"/>
            </a:pPr>
            <a:r>
              <a:rPr lang="en-US" altLang="ko-KR" sz="1100" dirty="0" err="1">
                <a:latin typeface="맑은 고딕" pitchFamily="50" charset="-127"/>
                <a:ea typeface="맑은 고딕" pitchFamily="50" charset="-127"/>
              </a:rPr>
              <a:t>Vấn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đề</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có</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thể</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được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mô</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tả</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là</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vấn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đề</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thay</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đổi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giá</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trị</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trung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tâm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yếu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tố</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quản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lý</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hoặc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là</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vấn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đề</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phân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bổ</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yếu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tố</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kỹ</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thuật</a:t>
            </a:r>
            <a:r>
              <a:rPr lang="en-US" altLang="ko-KR" sz="1100" dirty="0">
                <a:latin typeface="맑은 고딕" pitchFamily="50" charset="-127"/>
                <a:ea typeface="맑은 고딕" pitchFamily="50" charset="-127"/>
              </a:rPr>
              <a:t>).</a:t>
            </a:r>
          </a:p>
          <a:p>
            <a:pPr>
              <a:lnSpc>
                <a:spcPct val="130000"/>
              </a:lnSpc>
            </a:pPr>
            <a:endParaRPr lang="en-US" altLang="ko-KR" sz="1100" dirty="0">
              <a:latin typeface="맑은 고딕" pitchFamily="50" charset="-127"/>
              <a:ea typeface="맑은 고딕" pitchFamily="50" charset="-127"/>
            </a:endParaRPr>
          </a:p>
          <a:p>
            <a:pPr marL="190500" indent="-190500">
              <a:lnSpc>
                <a:spcPct val="130000"/>
              </a:lnSpc>
              <a:buFont typeface="Wingdings" pitchFamily="2" charset="2"/>
              <a:buNone/>
            </a:pPr>
            <a:r>
              <a:rPr lang="en-US" altLang="ko-KR" sz="1100" dirty="0">
                <a:latin typeface="맑은 고딕" pitchFamily="50" charset="-127"/>
                <a:ea typeface="맑은 고딕" pitchFamily="50" charset="-127"/>
                <a:sym typeface="Wingdings" pitchFamily="2" charset="2"/>
              </a:rPr>
              <a: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Bước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đầu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tiên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để</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giải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quyết</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vấn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đề</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là</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tìm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ra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đặc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tính</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của</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vấn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đề</a:t>
            </a:r>
            <a:r>
              <a:rPr lang="en-US" altLang="ko-KR" sz="1100" dirty="0">
                <a:latin typeface="맑은 고딕" pitchFamily="50" charset="-127"/>
                <a:ea typeface="맑은 고딕" pitchFamily="50" charset="-127"/>
              </a:rPr>
              <a:t>.</a:t>
            </a:r>
          </a:p>
        </p:txBody>
      </p:sp>
      <p:sp>
        <p:nvSpPr>
          <p:cNvPr id="293899" name="Rectangle 1055"/>
          <p:cNvSpPr>
            <a:spLocks noChangeArrowheads="1"/>
          </p:cNvSpPr>
          <p:nvPr/>
        </p:nvSpPr>
        <p:spPr bwMode="auto">
          <a:xfrm>
            <a:off x="263525" y="260350"/>
            <a:ext cx="3648075"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225</a:t>
            </a:fld>
            <a:endParaRPr lang="ko-KR" altLang="en-US" dirty="0"/>
          </a:p>
        </p:txBody>
      </p:sp>
    </p:spTree>
    <p:extLst>
      <p:ext uri="{BB962C8B-B14F-4D97-AF65-F5344CB8AC3E}">
        <p14:creationId xmlns:p14="http://schemas.microsoft.com/office/powerpoint/2010/main" val="3755851933"/>
      </p:ext>
    </p:extLst>
  </p:cSld>
  <p:clrMapOvr>
    <a:masterClrMapping/>
  </p:clrMapOvr>
  <p:transition spd="slow"/>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Text Box 2"/>
          <p:cNvSpPr txBox="1">
            <a:spLocks noChangeArrowheads="1"/>
          </p:cNvSpPr>
          <p:nvPr/>
        </p:nvSpPr>
        <p:spPr bwMode="auto">
          <a:xfrm>
            <a:off x="416496" y="2520973"/>
            <a:ext cx="1631857"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None/>
            </a:pP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Phân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phối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endParaRPr lang="en-US" altLang="ko-KR" sz="1200" b="1" dirty="0">
              <a:latin typeface="맑은 고딕" pitchFamily="50" charset="-127"/>
              <a:ea typeface="맑은 고딕" pitchFamily="50" charset="-127"/>
            </a:endParaRPr>
          </a:p>
        </p:txBody>
      </p:sp>
      <p:sp>
        <p:nvSpPr>
          <p:cNvPr id="294915" name="AutoShape 3"/>
          <p:cNvSpPr>
            <a:spLocks noChangeArrowheads="1"/>
          </p:cNvSpPr>
          <p:nvPr/>
        </p:nvSpPr>
        <p:spPr bwMode="auto">
          <a:xfrm>
            <a:off x="2504728" y="2586673"/>
            <a:ext cx="6677372" cy="1223546"/>
          </a:xfrm>
          <a:prstGeom prst="roundRect">
            <a:avLst>
              <a:gd name="adj" fmla="val 3366"/>
            </a:avLst>
          </a:prstGeom>
          <a:solidFill>
            <a:srgbClr val="EAEAEA"/>
          </a:solidFill>
          <a:ln w="9525" algn="ctr">
            <a:solidFill>
              <a:schemeClr val="tx2"/>
            </a:solidFill>
            <a:round/>
            <a:headEnd/>
            <a:tailEnd/>
          </a:ln>
          <a:effectLst>
            <a:outerShdw dist="35921" dir="2700000" algn="ctr" rotWithShape="0">
              <a:schemeClr val="bg2">
                <a:alpha val="50000"/>
              </a:schemeClr>
            </a:outerShdw>
          </a:effectLst>
        </p:spPr>
        <p:txBody>
          <a:bodyPr wrap="square">
            <a:spAutoFit/>
          </a:bodyPr>
          <a:lstStyle/>
          <a:p>
            <a:pPr>
              <a:buFont typeface="Wingdings" pitchFamily="2" charset="2"/>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nghiệm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thấy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tốt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ổn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dây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chuyền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xuất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mục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thiết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lập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ngẫu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tốt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a:t>
            </a:r>
            <a:endParaRPr lang="ko-KR" altLang="en-US" sz="1200" dirty="0">
              <a:latin typeface="맑은 고딕" pitchFamily="50" charset="-127"/>
              <a:ea typeface="맑은 고딕" pitchFamily="50" charset="-127"/>
            </a:endParaRPr>
          </a:p>
          <a:p>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thức</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thấy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tồn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cứ</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thường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nào</a:t>
            </a:r>
            <a:r>
              <a:rPr lang="en-US" altLang="ko-KR" sz="1200" dirty="0">
                <a:latin typeface="맑은 고딕" pitchFamily="50" charset="-127"/>
                <a:ea typeface="맑은 고딕" pitchFamily="50" charset="-127"/>
              </a:rPr>
              <a:t>.</a:t>
            </a:r>
            <a:endParaRPr lang="ko-KR" altLang="en-US" sz="1200" dirty="0">
              <a:latin typeface="맑은 고딕" pitchFamily="50" charset="-127"/>
              <a:ea typeface="맑은 고딕" pitchFamily="50" charset="-127"/>
            </a:endParaRPr>
          </a:p>
          <a:p>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tâm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bình</a:t>
            </a: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cho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thấy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mục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ứng</a:t>
            </a:r>
            <a:r>
              <a:rPr lang="en-US" altLang="ko-KR" sz="1200" dirty="0">
                <a:latin typeface="맑은 고딕" pitchFamily="50" charset="-127"/>
                <a:ea typeface="맑은 고딕" pitchFamily="50" charset="-127"/>
              </a:rPr>
              <a:t> hay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a:t>
            </a:r>
            <a:endParaRPr lang="ko-KR" altLang="en-US" sz="1200" dirty="0">
              <a:latin typeface="맑은 고딕" pitchFamily="50" charset="-127"/>
              <a:ea typeface="맑은 고딕" pitchFamily="50" charset="-127"/>
            </a:endParaRPr>
          </a:p>
          <a:p>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bổ</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cung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cấp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thông</a:t>
            </a:r>
            <a:r>
              <a:rPr lang="en-US" altLang="ko-KR" sz="1200" dirty="0">
                <a:latin typeface="맑은 고딕" pitchFamily="50" charset="-127"/>
                <a:ea typeface="맑은 고딕" pitchFamily="50" charset="-127"/>
              </a:rPr>
              <a:t> tin </a:t>
            </a:r>
            <a:r>
              <a:rPr lang="en-US" altLang="ko-KR" sz="1200" dirty="0" err="1">
                <a:latin typeface="맑은 고딕" pitchFamily="50" charset="-127"/>
                <a:ea typeface="맑은 고딕" pitchFamily="50" charset="-127"/>
              </a:rPr>
              <a:t>về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độ</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kỹ</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thuật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a:t>
            </a:r>
            <a:endParaRPr lang="ko-KR" altLang="en-US" sz="1200" dirty="0">
              <a:latin typeface="맑은 고딕" pitchFamily="50" charset="-127"/>
              <a:ea typeface="맑은 고딕" pitchFamily="50" charset="-127"/>
            </a:endParaRPr>
          </a:p>
        </p:txBody>
      </p:sp>
      <p:sp>
        <p:nvSpPr>
          <p:cNvPr id="294916" name="Text Box 4"/>
          <p:cNvSpPr txBox="1">
            <a:spLocks noChangeArrowheads="1"/>
          </p:cNvSpPr>
          <p:nvPr/>
        </p:nvSpPr>
        <p:spPr bwMode="auto">
          <a:xfrm>
            <a:off x="426021" y="3974331"/>
            <a:ext cx="1792387"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None/>
            </a:pP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Giả</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thuyết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về</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kiểm</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tính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endParaRPr lang="en-US" altLang="ko-KR" sz="1200" b="1" dirty="0">
              <a:latin typeface="맑은 고딕" pitchFamily="50" charset="-127"/>
              <a:ea typeface="맑은 고딕" pitchFamily="50" charset="-127"/>
            </a:endParaRPr>
          </a:p>
        </p:txBody>
      </p:sp>
      <p:sp useBgFill="1">
        <p:nvSpPr>
          <p:cNvPr id="294917" name="AutoShape 5"/>
          <p:cNvSpPr>
            <a:spLocks noChangeArrowheads="1"/>
          </p:cNvSpPr>
          <p:nvPr/>
        </p:nvSpPr>
        <p:spPr bwMode="auto">
          <a:xfrm>
            <a:off x="5600700" y="4876800"/>
            <a:ext cx="3670300" cy="1054100"/>
          </a:xfrm>
          <a:prstGeom prst="roundRect">
            <a:avLst>
              <a:gd name="adj" fmla="val 5875"/>
            </a:avLst>
          </a:prstGeom>
          <a:ln w="12700">
            <a:solidFill>
              <a:schemeClr val="tx2"/>
            </a:solidFill>
            <a:round/>
            <a:headEnd type="none" w="sm" len="sm"/>
            <a:tailEnd/>
          </a:ln>
          <a:effectLst>
            <a:outerShdw dist="35921" dir="2700000" algn="ctr" rotWithShape="0">
              <a:schemeClr val="bg2"/>
            </a:outerShdw>
          </a:effectLst>
        </p:spPr>
        <p:txBody>
          <a:bodyPr wrap="none" anchor="ctr"/>
          <a:lstStyle/>
          <a:p>
            <a:endParaRPr lang="ko-KR" altLang="en-US" dirty="0">
              <a:latin typeface="맑은 고딕" pitchFamily="50" charset="-127"/>
              <a:ea typeface="맑은 고딕" pitchFamily="50" charset="-127"/>
            </a:endParaRPr>
          </a:p>
        </p:txBody>
      </p:sp>
      <p:graphicFrame>
        <p:nvGraphicFramePr>
          <p:cNvPr id="294918" name="Object 6"/>
          <p:cNvGraphicFramePr>
            <a:graphicFrameLocks noChangeAspect="1"/>
          </p:cNvGraphicFramePr>
          <p:nvPr/>
        </p:nvGraphicFramePr>
        <p:xfrm>
          <a:off x="5845175" y="5051425"/>
          <a:ext cx="3294063" cy="328613"/>
        </p:xfrm>
        <a:graphic>
          <a:graphicData uri="http://schemas.openxmlformats.org/presentationml/2006/ole">
            <mc:AlternateContent xmlns:mc="http://schemas.openxmlformats.org/markup-compatibility/2006">
              <mc:Choice xmlns:v="urn:schemas-microsoft-com:vml" Requires="v">
                <p:oleObj name="Equation" r:id="rId2" imgW="2260600" imgH="241300" progId="Equation.3">
                  <p:embed/>
                </p:oleObj>
              </mc:Choice>
              <mc:Fallback>
                <p:oleObj name="Equation" r:id="rId2" imgW="2260600" imgH="241300" progId="Equation.3">
                  <p:embed/>
                  <p:pic>
                    <p:nvPicPr>
                      <p:cNvPr id="294918" name="Object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5175" y="5051425"/>
                        <a:ext cx="3294063" cy="32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2"/>
                            </a:solidFill>
                            <a:miter lim="800000"/>
                            <a:headEnd/>
                            <a:tailEnd/>
                          </a14:hiddenLine>
                        </a:ext>
                      </a:extLst>
                    </p:spPr>
                  </p:pic>
                </p:oleObj>
              </mc:Fallback>
            </mc:AlternateContent>
          </a:graphicData>
        </a:graphic>
      </p:graphicFrame>
      <p:graphicFrame>
        <p:nvGraphicFramePr>
          <p:cNvPr id="294919" name="Object 7"/>
          <p:cNvGraphicFramePr>
            <a:graphicFrameLocks noChangeAspect="1"/>
          </p:cNvGraphicFramePr>
          <p:nvPr/>
        </p:nvGraphicFramePr>
        <p:xfrm>
          <a:off x="5848350" y="5448300"/>
          <a:ext cx="1169988" cy="336550"/>
        </p:xfrm>
        <a:graphic>
          <a:graphicData uri="http://schemas.openxmlformats.org/presentationml/2006/ole">
            <mc:AlternateContent xmlns:mc="http://schemas.openxmlformats.org/markup-compatibility/2006">
              <mc:Choice xmlns:v="urn:schemas-microsoft-com:vml" Requires="v">
                <p:oleObj name="Equation" r:id="rId4" imgW="761669" imgH="228501" progId="Equation.3">
                  <p:embed/>
                </p:oleObj>
              </mc:Choice>
              <mc:Fallback>
                <p:oleObj name="Equation" r:id="rId4" imgW="761669" imgH="228501" progId="Equation.3">
                  <p:embed/>
                  <p:pic>
                    <p:nvPicPr>
                      <p:cNvPr id="294919"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48350" y="5448300"/>
                        <a:ext cx="11699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2"/>
                            </a:solidFill>
                            <a:miter lim="800000"/>
                            <a:headEnd/>
                            <a:tailEnd/>
                          </a14:hiddenLine>
                        </a:ext>
                      </a:extLst>
                    </p:spPr>
                  </p:pic>
                </p:oleObj>
              </mc:Fallback>
            </mc:AlternateContent>
          </a:graphicData>
        </a:graphic>
      </p:graphicFrame>
      <p:sp>
        <p:nvSpPr>
          <p:cNvPr id="294920" name="Rectangle 8"/>
          <p:cNvSpPr>
            <a:spLocks noChangeArrowheads="1"/>
          </p:cNvSpPr>
          <p:nvPr/>
        </p:nvSpPr>
        <p:spPr bwMode="auto">
          <a:xfrm>
            <a:off x="742950" y="5085184"/>
            <a:ext cx="4756150" cy="13849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190500" indent="-190500">
              <a:buFont typeface="Wingdings" pitchFamily="2" charset="2"/>
              <a:buChar char="Ø"/>
            </a:pPr>
            <a:r>
              <a:rPr lang="en-US" altLang="ko-KR" sz="1200" dirty="0" err="1">
                <a:latin typeface="맑은 고딕" pitchFamily="50" charset="-127"/>
                <a:ea typeface="맑은 고딕" pitchFamily="50" charset="-127"/>
              </a:rPr>
              <a:t>Mức</a:t>
            </a:r>
            <a:r>
              <a:rPr lang="en-US" altLang="ko-KR" sz="1200" dirty="0">
                <a:latin typeface="맑은 고딕" pitchFamily="50" charset="-127"/>
                <a:ea typeface="맑은 고딕" pitchFamily="50" charset="-127"/>
              </a:rPr>
              <a:t> ý </a:t>
            </a:r>
            <a:r>
              <a:rPr lang="en-US" altLang="ko-KR" sz="1200" dirty="0" err="1">
                <a:latin typeface="맑은 고딕" pitchFamily="50" charset="-127"/>
                <a:ea typeface="맑은 고딕" pitchFamily="50" charset="-127"/>
              </a:rPr>
              <a:t>nghĩa</a:t>
            </a:r>
            <a:r>
              <a:rPr lang="en-US" altLang="ko-KR" sz="1200" dirty="0">
                <a:latin typeface="맑은 고딕" pitchFamily="50" charset="-127"/>
                <a:ea typeface="맑은 고딕" pitchFamily="50" charset="-127"/>
              </a:rPr>
              <a:t> 5%</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gì</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nếu</a:t>
            </a:r>
            <a:r>
              <a:rPr lang="en-US" altLang="ko-KR" sz="1200" dirty="0">
                <a:latin typeface="맑은 고딕" pitchFamily="50" charset="-127"/>
                <a:ea typeface="맑은 고딕" pitchFamily="50" charset="-127"/>
              </a:rPr>
              <a:t> P-value &gt; 0.05. (Ở </a:t>
            </a:r>
            <a:r>
              <a:rPr lang="en-US" altLang="ko-KR" sz="1200" dirty="0" err="1">
                <a:latin typeface="맑은 고딕" pitchFamily="50" charset="-127"/>
                <a:ea typeface="맑은 고딕" pitchFamily="50" charset="-127"/>
              </a:rPr>
              <a:t>đây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P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suất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việc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a:t>
            </a:r>
          </a:p>
          <a:p>
            <a:pPr marL="190500" indent="-190500">
              <a:buFont typeface="Wingdings" pitchFamily="2" charset="2"/>
              <a:buChar char="Ø"/>
            </a:pPr>
            <a:endParaRPr lang="en-US" altLang="ko-KR" sz="1200" dirty="0">
              <a:latin typeface="맑은 고딕" pitchFamily="50" charset="-127"/>
              <a:ea typeface="맑은 고딕" pitchFamily="50" charset="-127"/>
            </a:endParaRPr>
          </a:p>
          <a:p>
            <a:pPr marL="190500" indent="-190500">
              <a:buFont typeface="Wingdings" pitchFamily="2" charset="2"/>
              <a:buChar char="Ø"/>
            </a:pPr>
            <a:r>
              <a:rPr lang="en-US" altLang="ko-KR" sz="1200" dirty="0">
                <a:latin typeface="맑은 고딕" pitchFamily="50" charset="-127"/>
                <a:ea typeface="맑은 고딕" pitchFamily="50" charset="-127"/>
              </a:rPr>
              <a:t>P-value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càng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lớn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thì</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suất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tượng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càng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cao</a:t>
            </a:r>
            <a:r>
              <a:rPr lang="en-US" altLang="ko-KR" sz="1200" dirty="0">
                <a:latin typeface="맑은 고딕" pitchFamily="50" charset="-127"/>
                <a:ea typeface="맑은 고딕" pitchFamily="50" charset="-127"/>
              </a:rPr>
              <a:t>.</a:t>
            </a:r>
          </a:p>
          <a:p>
            <a:pPr marL="190500" indent="-190500">
              <a:buFont typeface="Wingdings" pitchFamily="2" charset="2"/>
              <a:buChar char="Ø"/>
            </a:pPr>
            <a:endParaRPr lang="en-US" altLang="ko-KR" sz="1200" dirty="0">
              <a:latin typeface="맑은 고딕" pitchFamily="50" charset="-127"/>
              <a:ea typeface="맑은 고딕" pitchFamily="50" charset="-127"/>
            </a:endParaRPr>
          </a:p>
          <a:p>
            <a:pPr marL="190500" indent="-190500">
              <a:buFont typeface="Wingdings" pitchFamily="2" charset="2"/>
              <a:buNone/>
            </a:pPr>
            <a:r>
              <a:rPr lang="en-US" altLang="ko-KR"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sym typeface="Wingdings" pitchFamily="2" charset="2"/>
              </a:rPr>
              <a:t> P-value=0.7</a:t>
            </a:r>
            <a:r>
              <a:rPr lang="ko-KR" altLang="en-US"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sym typeface="Wingdings" pitchFamily="2" charset="2"/>
              </a:rPr>
              <a:t>tạo</a:t>
            </a:r>
            <a:r>
              <a:rPr lang="en-US" altLang="ko-KR"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sym typeface="Wingdings" pitchFamily="2" charset="2"/>
              </a:rPr>
              <a:t>ra</a:t>
            </a:r>
            <a:r>
              <a:rPr lang="en-US" altLang="ko-KR"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sym typeface="Wingdings" pitchFamily="2" charset="2"/>
              </a:rPr>
              <a:t>một</a:t>
            </a:r>
            <a:r>
              <a:rPr lang="en-US" altLang="ko-KR"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sym typeface="Wingdings" pitchFamily="2" charset="2"/>
              </a:rPr>
              <a:t>kết</a:t>
            </a:r>
            <a:r>
              <a:rPr lang="en-US" altLang="ko-KR"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sym typeface="Wingdings" pitchFamily="2" charset="2"/>
              </a:rPr>
              <a:t>quả</a:t>
            </a:r>
            <a:r>
              <a:rPr lang="en-US" altLang="ko-KR"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sym typeface="Wingdings" pitchFamily="2" charset="2"/>
              </a:rPr>
              <a:t>chính</a:t>
            </a:r>
            <a:r>
              <a:rPr lang="en-US" altLang="ko-KR"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sym typeface="Wingdings" pitchFamily="2" charset="2"/>
              </a:rPr>
              <a:t>xác</a:t>
            </a:r>
            <a:r>
              <a:rPr lang="en-US" altLang="ko-KR" sz="1200" dirty="0">
                <a:latin typeface="맑은 고딕" pitchFamily="50" charset="-127"/>
                <a:ea typeface="맑은 고딕" pitchFamily="50" charset="-127"/>
                <a:sym typeface="Wingdings" pitchFamily="2" charset="2"/>
              </a:rPr>
              <a:t> </a:t>
            </a:r>
            <a:r>
              <a:rPr lang="en-US" altLang="ko-KR" sz="1200" dirty="0" err="1">
                <a:latin typeface="맑은 고딕" pitchFamily="50" charset="-127"/>
                <a:ea typeface="맑은 고딕" pitchFamily="50" charset="-127"/>
                <a:sym typeface="Wingdings" pitchFamily="2" charset="2"/>
              </a:rPr>
              <a:t>hơn</a:t>
            </a:r>
            <a:r>
              <a:rPr lang="en-US" altLang="ko-KR" sz="1200" dirty="0">
                <a:latin typeface="맑은 고딕" pitchFamily="50" charset="-127"/>
                <a:ea typeface="맑은 고딕" pitchFamily="50" charset="-127"/>
                <a:sym typeface="Wingdings" pitchFamily="2" charset="2"/>
              </a:rPr>
              <a:t> 0.2</a:t>
            </a:r>
            <a:endParaRPr lang="en-US" altLang="ko-KR" sz="1200" dirty="0">
              <a:latin typeface="맑은 고딕" pitchFamily="50" charset="-127"/>
              <a:ea typeface="맑은 고딕" pitchFamily="50" charset="-127"/>
            </a:endParaRPr>
          </a:p>
        </p:txBody>
      </p:sp>
      <p:sp>
        <p:nvSpPr>
          <p:cNvPr id="294921" name="Text Box 9"/>
          <p:cNvSpPr txBox="1">
            <a:spLocks noChangeArrowheads="1"/>
          </p:cNvSpPr>
          <p:nvPr/>
        </p:nvSpPr>
        <p:spPr bwMode="auto">
          <a:xfrm>
            <a:off x="727075" y="1289149"/>
            <a:ext cx="8455025" cy="1081623"/>
          </a:xfrm>
          <a:prstGeom prst="rect">
            <a:avLst/>
          </a:prstGeom>
          <a:solidFill>
            <a:schemeClr val="accent1">
              <a:lumMod val="20000"/>
              <a:lumOff val="80000"/>
            </a:schemeClr>
          </a:solidFill>
          <a:ln>
            <a:noFill/>
          </a:ln>
          <a:effec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lnSpc>
                <a:spcPct val="140000"/>
              </a:lnSpc>
            </a:pP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căn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tục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năng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ảnh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hưởng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diễn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giải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số</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tục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rằng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Nếu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quyết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tạo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từ</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chỉ</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số</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năng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P-value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chứng</a:t>
            </a:r>
            <a:r>
              <a:rPr lang="en-US" altLang="ko-KR" sz="1200" dirty="0">
                <a:latin typeface="맑은 고딕" pitchFamily="50" charset="-127"/>
                <a:ea typeface="맑은 고딕" pitchFamily="50" charset="-127"/>
              </a:rPr>
              <a:t> minh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sai</a:t>
            </a:r>
            <a:r>
              <a:rPr lang="en-US" altLang="ko-KR" sz="1200" dirty="0">
                <a:latin typeface="맑은 고딕" pitchFamily="50" charset="-127"/>
                <a:ea typeface="맑은 고딕" pitchFamily="50" charset="-127"/>
              </a:rPr>
              <a:t>.</a:t>
            </a:r>
          </a:p>
        </p:txBody>
      </p:sp>
      <p:sp>
        <p:nvSpPr>
          <p:cNvPr id="294922" name="Text Box 11"/>
          <p:cNvSpPr txBox="1">
            <a:spLocks noChangeArrowheads="1"/>
          </p:cNvSpPr>
          <p:nvPr/>
        </p:nvSpPr>
        <p:spPr bwMode="auto">
          <a:xfrm>
            <a:off x="498475" y="836712"/>
            <a:ext cx="44545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맑은 고딕" pitchFamily="50" charset="-127"/>
                <a:ea typeface="맑은 고딕" pitchFamily="50" charset="-127"/>
              </a:rPr>
              <a:t>3) </a:t>
            </a:r>
            <a:r>
              <a:rPr lang="en-US" altLang="ko-KR" sz="1400" b="1" dirty="0" err="1">
                <a:latin typeface="맑은 고딕" pitchFamily="50" charset="-127"/>
                <a:ea typeface="맑은 고딕" pitchFamily="50" charset="-127"/>
              </a:rPr>
              <a:t>Kiểm</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tra</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tính</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tiêu</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chuẩn</a:t>
            </a:r>
            <a:r>
              <a:rPr lang="en-US" altLang="ko-KR" sz="1400" b="1" dirty="0">
                <a:latin typeface="맑은 고딕" pitchFamily="50" charset="-127"/>
                <a:ea typeface="맑은 고딕" pitchFamily="50" charset="-127"/>
              </a:rPr>
              <a:t> (Normality Test)</a:t>
            </a:r>
          </a:p>
        </p:txBody>
      </p:sp>
      <p:sp>
        <p:nvSpPr>
          <p:cNvPr id="294923" name="Rectangle 12"/>
          <p:cNvSpPr>
            <a:spLocks noChangeArrowheads="1"/>
          </p:cNvSpPr>
          <p:nvPr/>
        </p:nvSpPr>
        <p:spPr bwMode="auto">
          <a:xfrm>
            <a:off x="2209800" y="3933056"/>
            <a:ext cx="7251700" cy="1052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30000"/>
              </a:lnSpc>
            </a:pP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khẳng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nguyên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tắc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tượng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số</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đặc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tuân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theo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Vì</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thế</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tượng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thường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trở</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thành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thuyết</a:t>
            </a:r>
            <a:r>
              <a:rPr lang="en-US" altLang="ko-KR" sz="1200" dirty="0">
                <a:latin typeface="맑은 고딕" pitchFamily="50" charset="-127"/>
                <a:ea typeface="맑은 고딕" pitchFamily="50" charset="-127"/>
              </a:rPr>
              <a:t> H0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tượng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phải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xem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xét</a:t>
            </a:r>
            <a:r>
              <a:rPr lang="en-US" altLang="ko-KR" sz="1200" dirty="0">
                <a:latin typeface="맑은 고딕" pitchFamily="50" charset="-127"/>
                <a:ea typeface="맑은 고딕" pitchFamily="50" charset="-127"/>
              </a:rPr>
              <a:t>.</a:t>
            </a:r>
          </a:p>
        </p:txBody>
      </p:sp>
      <p:sp>
        <p:nvSpPr>
          <p:cNvPr id="294925"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226</a:t>
            </a:fld>
            <a:endParaRPr lang="ko-KR" altLang="en-US" dirty="0"/>
          </a:p>
        </p:txBody>
      </p:sp>
    </p:spTree>
    <p:extLst>
      <p:ext uri="{BB962C8B-B14F-4D97-AF65-F5344CB8AC3E}">
        <p14:creationId xmlns:p14="http://schemas.microsoft.com/office/powerpoint/2010/main" val="1615577441"/>
      </p:ext>
    </p:extLst>
  </p:cSld>
  <p:clrMapOvr>
    <a:masterClrMapping/>
  </p:clrMapOvr>
  <p:transition spd="slow"/>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Text Box 16"/>
          <p:cNvSpPr txBox="1">
            <a:spLocks noChangeArrowheads="1"/>
          </p:cNvSpPr>
          <p:nvPr/>
        </p:nvSpPr>
        <p:spPr bwMode="auto">
          <a:xfrm>
            <a:off x="1104900" y="5846799"/>
            <a:ext cx="5339923" cy="8679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40000"/>
              </a:lnSpc>
              <a:buFont typeface="Wingdings" pitchFamily="2" charset="2"/>
              <a:buChar char="Ø"/>
            </a:pP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Liệu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có</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một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phân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phối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ở </a:t>
            </a:r>
            <a:r>
              <a:rPr lang="en-US" altLang="ko-KR" sz="1200" b="1" dirty="0" err="1">
                <a:latin typeface="맑은 고딕" pitchFamily="50" charset="-127"/>
                <a:ea typeface="맑은 고딕" pitchFamily="50" charset="-127"/>
              </a:rPr>
              <a:t>đây</a:t>
            </a:r>
            <a:r>
              <a:rPr lang="en-US" altLang="ko-KR" sz="1200" b="1" dirty="0">
                <a:latin typeface="맑은 고딕" pitchFamily="50" charset="-127"/>
                <a:ea typeface="맑은 고딕" pitchFamily="50" charset="-127"/>
              </a:rPr>
              <a:t> hay </a:t>
            </a:r>
            <a:r>
              <a:rPr lang="en-US" altLang="ko-KR" sz="1200" b="1" dirty="0" err="1">
                <a:latin typeface="맑은 고딕" pitchFamily="50" charset="-127"/>
                <a:ea typeface="맑은 고딕" pitchFamily="50" charset="-127"/>
              </a:rPr>
              <a:t>không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Mức</a:t>
            </a:r>
            <a:r>
              <a:rPr lang="en-US" altLang="ko-KR" sz="1200" b="1" dirty="0">
                <a:latin typeface="맑은 고딕" pitchFamily="50" charset="-127"/>
                <a:ea typeface="맑은 고딕" pitchFamily="50" charset="-127"/>
              </a:rPr>
              <a:t> ý </a:t>
            </a:r>
            <a:r>
              <a:rPr lang="en-US" altLang="ko-KR" sz="1200" b="1" dirty="0" err="1">
                <a:latin typeface="맑은 고딕" pitchFamily="50" charset="-127"/>
                <a:ea typeface="맑은 고딕" pitchFamily="50" charset="-127"/>
              </a:rPr>
              <a:t>nghĩa</a:t>
            </a:r>
            <a:r>
              <a:rPr lang="en-US" altLang="ko-KR" sz="1200" b="1" dirty="0">
                <a:latin typeface="맑은 고딕" pitchFamily="50" charset="-127"/>
                <a:ea typeface="맑은 고딕" pitchFamily="50" charset="-127"/>
              </a:rPr>
              <a:t> 5%)</a:t>
            </a:r>
          </a:p>
          <a:p>
            <a:pPr eaLnBrk="1" hangingPunct="1">
              <a:lnSpc>
                <a:spcPct val="140000"/>
              </a:lnSpc>
              <a:buFont typeface="Wingdings" pitchFamily="2" charset="2"/>
              <a:buNone/>
            </a:pPr>
            <a:r>
              <a:rPr lang="en-US" altLang="ko-KR"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sym typeface="Wingdings" pitchFamily="2" charset="2"/>
              </a:rPr>
              <a:t></a:t>
            </a:r>
            <a:r>
              <a:rPr lang="en-US" altLang="ko-KR" sz="1200" dirty="0">
                <a:latin typeface="맑은 고딕" pitchFamily="50" charset="-127"/>
                <a:ea typeface="맑은 고딕" pitchFamily="50" charset="-127"/>
              </a:rPr>
              <a:t> P-Value = 0.615</a:t>
            </a:r>
          </a:p>
          <a:p>
            <a:pPr eaLnBrk="1" hangingPunct="1">
              <a:lnSpc>
                <a:spcPct val="140000"/>
              </a:lnSpc>
              <a:buFont typeface="Wingdings" pitchFamily="2" charset="2"/>
              <a:buNone/>
            </a:pPr>
            <a:r>
              <a:rPr lang="en-US" altLang="ko-KR" sz="1200" dirty="0">
                <a:latin typeface="맑은 고딕" pitchFamily="50" charset="-127"/>
                <a:ea typeface="맑은 고딕" pitchFamily="50" charset="-127"/>
              </a:rPr>
              <a:t>       : P-value &gt; 0.05, do </a:t>
            </a:r>
            <a:r>
              <a:rPr lang="en-US" altLang="ko-KR" sz="1200" dirty="0" err="1">
                <a:latin typeface="맑은 고딕" pitchFamily="50" charset="-127"/>
                <a:ea typeface="맑은 고딕" pitchFamily="50" charset="-127"/>
              </a:rPr>
              <a:t>đó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a:t>
            </a:r>
          </a:p>
        </p:txBody>
      </p:sp>
      <p:sp>
        <p:nvSpPr>
          <p:cNvPr id="295939" name="Rectangle 18"/>
          <p:cNvSpPr>
            <a:spLocks noChangeArrowheads="1"/>
          </p:cNvSpPr>
          <p:nvPr/>
        </p:nvSpPr>
        <p:spPr bwMode="auto">
          <a:xfrm>
            <a:off x="1824038" y="2692400"/>
            <a:ext cx="2877967"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r>
              <a:rPr lang="en-US" altLang="ko-KR" sz="1200" dirty="0">
                <a:solidFill>
                  <a:schemeClr val="tx2"/>
                </a:solidFill>
                <a:latin typeface="맑은 고딕" pitchFamily="50" charset="-127"/>
                <a:ea typeface="맑은 고딕" pitchFamily="50" charset="-127"/>
              </a:rPr>
              <a:t>File&gt;Open Worksheet&gt;Camshaft.MTW</a:t>
            </a:r>
          </a:p>
        </p:txBody>
      </p:sp>
      <p:sp>
        <p:nvSpPr>
          <p:cNvPr id="295940" name="Rectangle 20"/>
          <p:cNvSpPr>
            <a:spLocks noChangeArrowheads="1"/>
          </p:cNvSpPr>
          <p:nvPr/>
        </p:nvSpPr>
        <p:spPr bwMode="auto">
          <a:xfrm>
            <a:off x="1824038" y="2954338"/>
            <a:ext cx="2832100"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r>
              <a:rPr lang="en-US" altLang="ko-KR" sz="1200" dirty="0">
                <a:solidFill>
                  <a:schemeClr val="tx2"/>
                </a:solidFill>
                <a:latin typeface="맑은 고딕" pitchFamily="50" charset="-127"/>
                <a:ea typeface="맑은 고딕" pitchFamily="50" charset="-127"/>
              </a:rPr>
              <a:t>Stat&gt;Basic Statistics&gt;Normality Test</a:t>
            </a:r>
          </a:p>
        </p:txBody>
      </p:sp>
      <p:sp>
        <p:nvSpPr>
          <p:cNvPr id="295941" name="AutoShape 21"/>
          <p:cNvSpPr>
            <a:spLocks noChangeArrowheads="1"/>
          </p:cNvSpPr>
          <p:nvPr/>
        </p:nvSpPr>
        <p:spPr bwMode="auto">
          <a:xfrm>
            <a:off x="4872038" y="4189413"/>
            <a:ext cx="296862" cy="608012"/>
          </a:xfrm>
          <a:prstGeom prst="homePlate">
            <a:avLst>
              <a:gd name="adj" fmla="val 100000"/>
            </a:avLst>
          </a:prstGeom>
          <a:solidFill>
            <a:srgbClr val="0000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ko-KR" altLang="en-US" dirty="0">
              <a:latin typeface="맑은 고딕" pitchFamily="50" charset="-127"/>
              <a:ea typeface="맑은 고딕" pitchFamily="50" charset="-127"/>
            </a:endParaRPr>
          </a:p>
        </p:txBody>
      </p:sp>
      <p:sp>
        <p:nvSpPr>
          <p:cNvPr id="295942" name="Text Box 22"/>
          <p:cNvSpPr txBox="1">
            <a:spLocks noChangeArrowheads="1"/>
          </p:cNvSpPr>
          <p:nvPr/>
        </p:nvSpPr>
        <p:spPr bwMode="auto">
          <a:xfrm>
            <a:off x="533400" y="2336800"/>
            <a:ext cx="3480120"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None/>
            </a:pP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Kiểm</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tính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sử</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dụng</a:t>
            </a:r>
            <a:r>
              <a:rPr lang="en-US" altLang="ko-KR" sz="1200" b="1" dirty="0">
                <a:latin typeface="맑은 고딕" pitchFamily="50" charset="-127"/>
                <a:ea typeface="맑은 고딕" pitchFamily="50" charset="-127"/>
              </a:rPr>
              <a:t> Minitab</a:t>
            </a:r>
            <a:endParaRPr lang="ko-KR" altLang="en-US" sz="1200" b="1" dirty="0">
              <a:latin typeface="맑은 고딕" pitchFamily="50" charset="-127"/>
              <a:ea typeface="맑은 고딕" pitchFamily="50" charset="-127"/>
            </a:endParaRPr>
          </a:p>
        </p:txBody>
      </p:sp>
      <p:sp>
        <p:nvSpPr>
          <p:cNvPr id="295943" name="Text Box 23"/>
          <p:cNvSpPr txBox="1">
            <a:spLocks noChangeArrowheads="1"/>
          </p:cNvSpPr>
          <p:nvPr/>
        </p:nvSpPr>
        <p:spPr bwMode="auto">
          <a:xfrm>
            <a:off x="533400" y="764704"/>
            <a:ext cx="2189702"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None/>
            </a:pP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Kiểm</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tính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endParaRPr lang="ko-KR" altLang="en-US" sz="1200" b="1" dirty="0">
              <a:latin typeface="맑은 고딕" pitchFamily="50" charset="-127"/>
              <a:ea typeface="맑은 고딕" pitchFamily="50" charset="-127"/>
            </a:endParaRPr>
          </a:p>
        </p:txBody>
      </p:sp>
      <p:sp>
        <p:nvSpPr>
          <p:cNvPr id="295944" name="Rectangle 24"/>
          <p:cNvSpPr>
            <a:spLocks noChangeArrowheads="1"/>
          </p:cNvSpPr>
          <p:nvPr/>
        </p:nvSpPr>
        <p:spPr bwMode="auto">
          <a:xfrm>
            <a:off x="1041400" y="1052736"/>
            <a:ext cx="8255000" cy="1200329"/>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lgn="ctr">
                <a:solidFill>
                  <a:schemeClr val="bg2"/>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a:spAutoFit/>
          </a:bodyPr>
          <a:lstStyle/>
          <a:p>
            <a:pPr>
              <a:buFont typeface="Wingdings" pitchFamily="2" charset="2"/>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ban </a:t>
            </a:r>
            <a:r>
              <a:rPr lang="en-US" altLang="ko-KR" sz="1200" dirty="0" err="1">
                <a:latin typeface="맑은 고딕" pitchFamily="50" charset="-127"/>
                <a:ea typeface="맑은 고딕" pitchFamily="50" charset="-127"/>
              </a:rPr>
              <a:t>đầu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biểu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đồ</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thường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đường</a:t>
            </a:r>
            <a:r>
              <a:rPr lang="en-US" altLang="ko-KR" sz="1200" dirty="0">
                <a:latin typeface="맑은 고딕" pitchFamily="50" charset="-127"/>
                <a:ea typeface="맑은 고딕" pitchFamily="50" charset="-127"/>
              </a:rPr>
              <a:t> cong </a:t>
            </a:r>
            <a:r>
              <a:rPr lang="en-US" altLang="ko-KR" sz="1200" dirty="0" err="1">
                <a:latin typeface="맑은 고딕" pitchFamily="50" charset="-127"/>
                <a:ea typeface="맑은 고딕" pitchFamily="50" charset="-127"/>
              </a:rPr>
              <a:t>tần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suất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ở histogram)</a:t>
            </a:r>
          </a:p>
          <a:p>
            <a:pPr>
              <a:buFont typeface="Wingdings" pitchFamily="2" charset="2"/>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ban </a:t>
            </a:r>
            <a:r>
              <a:rPr lang="en-US" altLang="ko-KR" sz="1200" dirty="0" err="1">
                <a:latin typeface="맑은 고딕" pitchFamily="50" charset="-127"/>
                <a:ea typeface="맑은 고딕" pitchFamily="50" charset="-127"/>
              </a:rPr>
              <a:t>đầu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sử</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dụng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suất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thường</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giảm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độ</a:t>
            </a:r>
            <a:r>
              <a:rPr lang="en-US" altLang="ko-KR" sz="1200" dirty="0">
                <a:latin typeface="맑은 고딕" pitchFamily="50" charset="-127"/>
                <a:ea typeface="맑은 고딕" pitchFamily="50" charset="-127"/>
              </a:rPr>
              <a:t> cong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dấu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biểu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đồ</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nhìn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xem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sắp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xếp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đường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thẳng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a:t>
            </a:r>
            <a:endParaRPr lang="ko-KR" altLang="en-US" sz="1200" dirty="0">
              <a:latin typeface="맑은 고딕" pitchFamily="50" charset="-127"/>
              <a:ea typeface="맑은 고딕" pitchFamily="50" charset="-127"/>
            </a:endParaRPr>
          </a:p>
          <a:p>
            <a:pPr>
              <a:buFont typeface="Wingdings" pitchFamily="2" charset="2"/>
              <a:buChar char="§"/>
            </a:pP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năng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sử</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dụng</a:t>
            </a:r>
            <a:r>
              <a:rPr lang="en-US" altLang="ko-KR" sz="1200" dirty="0">
                <a:latin typeface="맑은 고딕" pitchFamily="50" charset="-127"/>
                <a:ea typeface="맑은 고딕" pitchFamily="50" charset="-127"/>
              </a:rPr>
              <a:t> Normal Test</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P-value </a:t>
            </a:r>
            <a:r>
              <a:rPr lang="en-US" altLang="ko-KR" sz="1200" dirty="0" err="1">
                <a:latin typeface="맑은 고딕" pitchFamily="50" charset="-127"/>
                <a:ea typeface="맑은 고딕" pitchFamily="50" charset="-127"/>
              </a:rPr>
              <a:t>càng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lớn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thì</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dữ</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càng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đường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phối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như</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thẳng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hàng</a:t>
            </a:r>
            <a:r>
              <a:rPr lang="en-US" altLang="ko-KR" sz="1200" dirty="0">
                <a:latin typeface="맑은 고딕" pitchFamily="50" charset="-127"/>
                <a:ea typeface="맑은 고딕" pitchFamily="50" charset="-127"/>
              </a:rPr>
              <a:t>)</a:t>
            </a:r>
          </a:p>
        </p:txBody>
      </p:sp>
      <p:pic>
        <p:nvPicPr>
          <p:cNvPr id="251907" name="Picture 3"/>
          <p:cNvPicPr>
            <a:picLocks noChangeAspect="1" noChangeArrowheads="1"/>
          </p:cNvPicPr>
          <p:nvPr/>
        </p:nvPicPr>
        <p:blipFill>
          <a:blip r:embed="rId2" cstate="print"/>
          <a:srcRect/>
          <a:stretch>
            <a:fillRect/>
          </a:stretch>
        </p:blipFill>
        <p:spPr bwMode="auto">
          <a:xfrm>
            <a:off x="1098550" y="2744788"/>
            <a:ext cx="638175" cy="20955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a:blip r:embed="rId2" cstate="print"/>
          <a:srcRect/>
          <a:stretch>
            <a:fillRect/>
          </a:stretch>
        </p:blipFill>
        <p:spPr bwMode="auto">
          <a:xfrm>
            <a:off x="1098550" y="3001963"/>
            <a:ext cx="638175" cy="20955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1909" name="Picture 5"/>
          <p:cNvPicPr>
            <a:picLocks noChangeAspect="1" noChangeArrowheads="1"/>
          </p:cNvPicPr>
          <p:nvPr/>
        </p:nvPicPr>
        <p:blipFill>
          <a:blip r:embed="rId3" cstate="print"/>
          <a:srcRect/>
          <a:stretch>
            <a:fillRect/>
          </a:stretch>
        </p:blipFill>
        <p:spPr bwMode="auto">
          <a:xfrm>
            <a:off x="1089025" y="3284538"/>
            <a:ext cx="3432175" cy="250190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1910" name="Picture 6"/>
          <p:cNvPicPr>
            <a:picLocks noChangeAspect="1" noChangeArrowheads="1"/>
          </p:cNvPicPr>
          <p:nvPr/>
        </p:nvPicPr>
        <p:blipFill>
          <a:blip r:embed="rId4" cstate="print"/>
          <a:srcRect/>
          <a:stretch>
            <a:fillRect/>
          </a:stretch>
        </p:blipFill>
        <p:spPr bwMode="auto">
          <a:xfrm>
            <a:off x="5472113" y="2970213"/>
            <a:ext cx="4143375" cy="276225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95950" name="Rectangle 1055"/>
          <p:cNvSpPr>
            <a:spLocks noChangeArrowheads="1"/>
          </p:cNvSpPr>
          <p:nvPr/>
        </p:nvSpPr>
        <p:spPr bwMode="auto">
          <a:xfrm>
            <a:off x="263525" y="260350"/>
            <a:ext cx="3648075"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227</a:t>
            </a:fld>
            <a:endParaRPr lang="ko-KR" altLang="en-US" dirty="0"/>
          </a:p>
        </p:txBody>
      </p:sp>
    </p:spTree>
    <p:extLst>
      <p:ext uri="{BB962C8B-B14F-4D97-AF65-F5344CB8AC3E}">
        <p14:creationId xmlns:p14="http://schemas.microsoft.com/office/powerpoint/2010/main" val="3568342739"/>
      </p:ext>
    </p:extLst>
  </p:cSld>
  <p:clrMapOvr>
    <a:masterClrMapping/>
  </p:clrMapOvr>
  <p:transition spd="slow"/>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AutoShape 1026"/>
          <p:cNvSpPr>
            <a:spLocks noChangeArrowheads="1"/>
          </p:cNvSpPr>
          <p:nvPr/>
        </p:nvSpPr>
        <p:spPr bwMode="auto">
          <a:xfrm>
            <a:off x="384033" y="1484784"/>
            <a:ext cx="9137934" cy="4896544"/>
          </a:xfrm>
          <a:prstGeom prst="roundRect">
            <a:avLst>
              <a:gd name="adj" fmla="val 4051"/>
            </a:avLst>
          </a:prstGeom>
          <a:solidFill>
            <a:srgbClr val="FFFFFF"/>
          </a:solidFill>
          <a:ln w="9525">
            <a:solidFill>
              <a:schemeClr val="tx1"/>
            </a:solidFill>
            <a:round/>
            <a:headEnd/>
            <a:tailEnd/>
          </a:ln>
          <a:effectLst>
            <a:outerShdw dist="35921" dir="2700000" algn="ctr" rotWithShape="0">
              <a:schemeClr val="bg2"/>
            </a:outerShdw>
          </a:effectLst>
        </p:spPr>
        <p:txBody>
          <a:bodyPr wrap="none" anchor="ctr"/>
          <a:lstStyle/>
          <a:p>
            <a:endParaRPr lang="ko-KR" altLang="en-US" dirty="0">
              <a:latin typeface="arial" pitchFamily="34" charset="0"/>
              <a:ea typeface="맑은 고딕" pitchFamily="50" charset="-127"/>
            </a:endParaRPr>
          </a:p>
        </p:txBody>
      </p:sp>
      <p:sp>
        <p:nvSpPr>
          <p:cNvPr id="301059" name="Text Box 1027"/>
          <p:cNvSpPr txBox="1">
            <a:spLocks noChangeArrowheads="1"/>
          </p:cNvSpPr>
          <p:nvPr/>
        </p:nvSpPr>
        <p:spPr bwMode="auto">
          <a:xfrm>
            <a:off x="2889250" y="3440113"/>
            <a:ext cx="276225" cy="276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μ</a:t>
            </a:r>
          </a:p>
        </p:txBody>
      </p:sp>
      <p:graphicFrame>
        <p:nvGraphicFramePr>
          <p:cNvPr id="301060" name="Object 1028"/>
          <p:cNvGraphicFramePr>
            <a:graphicFrameLocks noChangeAspect="1"/>
          </p:cNvGraphicFramePr>
          <p:nvPr/>
        </p:nvGraphicFramePr>
        <p:xfrm>
          <a:off x="1028700" y="4098925"/>
          <a:ext cx="1092200" cy="373063"/>
        </p:xfrm>
        <a:graphic>
          <a:graphicData uri="http://schemas.openxmlformats.org/presentationml/2006/ole">
            <mc:AlternateContent xmlns:mc="http://schemas.openxmlformats.org/markup-compatibility/2006">
              <mc:Choice xmlns:v="urn:schemas-microsoft-com:vml" Requires="v">
                <p:oleObj name="수식" r:id="rId3" imgW="1002865" imgH="393529" progId="Equation.3">
                  <p:embed/>
                </p:oleObj>
              </mc:Choice>
              <mc:Fallback>
                <p:oleObj name="수식" r:id="rId3" imgW="1002865" imgH="393529" progId="Equation.3">
                  <p:embed/>
                  <p:pic>
                    <p:nvPicPr>
                      <p:cNvPr id="301060" name="Object 102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8700" y="4098925"/>
                        <a:ext cx="1092200" cy="373063"/>
                      </a:xfrm>
                      <a:prstGeom prst="rect">
                        <a:avLst/>
                      </a:prstGeom>
                      <a:solidFill>
                        <a:schemeClr val="bg1"/>
                      </a:solidFill>
                      <a:ln w="9525">
                        <a:solidFill>
                          <a:schemeClr val="bg2"/>
                        </a:solidFill>
                        <a:miter lim="800000"/>
                        <a:headEnd/>
                        <a:tailEnd/>
                      </a:ln>
                      <a:effectLst>
                        <a:outerShdw dist="35921" dir="2700000" algn="ctr" rotWithShape="0">
                          <a:srgbClr val="808080"/>
                        </a:outerShdw>
                      </a:effectLst>
                    </p:spPr>
                  </p:pic>
                </p:oleObj>
              </mc:Fallback>
            </mc:AlternateContent>
          </a:graphicData>
        </a:graphic>
      </p:graphicFrame>
      <p:cxnSp>
        <p:nvCxnSpPr>
          <p:cNvPr id="301061" name="AutoShape 1029"/>
          <p:cNvCxnSpPr>
            <a:cxnSpLocks noChangeShapeType="1"/>
            <a:stCxn id="301077" idx="4"/>
          </p:cNvCxnSpPr>
          <p:nvPr/>
        </p:nvCxnSpPr>
        <p:spPr bwMode="auto">
          <a:xfrm rot="16200000" flipH="1">
            <a:off x="1303338" y="3827463"/>
            <a:ext cx="525462" cy="17462"/>
          </a:xfrm>
          <a:prstGeom prst="curvedConnector3">
            <a:avLst>
              <a:gd name="adj1" fmla="val 49847"/>
            </a:avLst>
          </a:prstGeom>
          <a:noFill/>
          <a:ln w="9525">
            <a:solidFill>
              <a:srgbClr val="FF0033"/>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1062" name="Text Box 1030"/>
          <p:cNvSpPr txBox="1">
            <a:spLocks noChangeArrowheads="1"/>
          </p:cNvSpPr>
          <p:nvPr/>
        </p:nvSpPr>
        <p:spPr bwMode="auto">
          <a:xfrm>
            <a:off x="2489200" y="4094163"/>
            <a:ext cx="698500" cy="390525"/>
          </a:xfrm>
          <a:prstGeom prst="rect">
            <a:avLst/>
          </a:prstGeom>
          <a:solidFill>
            <a:schemeClr val="accent1"/>
          </a:solidFill>
          <a:ln w="9525">
            <a:solidFill>
              <a:srgbClr val="FF0033"/>
            </a:solidFill>
            <a:miter lim="800000"/>
            <a:headEnd/>
            <a:tailEnd/>
          </a:ln>
          <a:effectLst>
            <a:outerShdw dist="35921" dir="2700000" algn="ctr" rotWithShape="0">
              <a:schemeClr val="bg2"/>
            </a:outerShdw>
          </a:effec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 P</a:t>
            </a:r>
            <a:r>
              <a:rPr lang="en-US" altLang="ko-KR" sz="1400" b="1" baseline="-25000" dirty="0">
                <a:latin typeface="arial" pitchFamily="34" charset="0"/>
                <a:ea typeface="맑은 고딕" pitchFamily="50" charset="-127"/>
              </a:rPr>
              <a:t>LSL</a:t>
            </a:r>
            <a:endParaRPr lang="en-US" altLang="ko-KR" sz="1400" b="1" dirty="0">
              <a:latin typeface="arial" pitchFamily="34" charset="0"/>
              <a:ea typeface="맑은 고딕" pitchFamily="50" charset="-127"/>
            </a:endParaRPr>
          </a:p>
        </p:txBody>
      </p:sp>
      <p:sp>
        <p:nvSpPr>
          <p:cNvPr id="301063" name="Line 1031"/>
          <p:cNvSpPr>
            <a:spLocks noChangeShapeType="1"/>
          </p:cNvSpPr>
          <p:nvPr/>
        </p:nvSpPr>
        <p:spPr bwMode="auto">
          <a:xfrm>
            <a:off x="2012950" y="3527425"/>
            <a:ext cx="5041900" cy="1612900"/>
          </a:xfrm>
          <a:prstGeom prst="line">
            <a:avLst/>
          </a:prstGeom>
          <a:noFill/>
          <a:ln w="9525">
            <a:solidFill>
              <a:srgbClr val="0066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64" name="AutoShape 1032"/>
          <p:cNvSpPr>
            <a:spLocks noChangeArrowheads="1"/>
          </p:cNvSpPr>
          <p:nvPr/>
        </p:nvSpPr>
        <p:spPr bwMode="auto">
          <a:xfrm>
            <a:off x="984250" y="1724025"/>
            <a:ext cx="1403350" cy="300038"/>
          </a:xfrm>
          <a:prstGeom prst="bevel">
            <a:avLst>
              <a:gd name="adj" fmla="val 0"/>
            </a:avLst>
          </a:prstGeom>
          <a:solidFill>
            <a:srgbClr val="ECF8E8"/>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ko-KR" sz="1200" dirty="0" err="1">
                <a:latin typeface="arial" pitchFamily="34" charset="0"/>
                <a:ea typeface="맑은 고딕" pitchFamily="50" charset="-127"/>
              </a:rPr>
              <a:t>Dữ</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liệu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tế</a:t>
            </a:r>
            <a:endParaRPr lang="en-US" altLang="ko-KR" sz="1200" dirty="0">
              <a:latin typeface="arial" pitchFamily="34" charset="0"/>
              <a:ea typeface="맑은 고딕" pitchFamily="50" charset="-127"/>
            </a:endParaRPr>
          </a:p>
        </p:txBody>
      </p:sp>
      <p:sp>
        <p:nvSpPr>
          <p:cNvPr id="301065" name="AutoShape 1033"/>
          <p:cNvSpPr>
            <a:spLocks noChangeArrowheads="1"/>
          </p:cNvSpPr>
          <p:nvPr/>
        </p:nvSpPr>
        <p:spPr bwMode="auto">
          <a:xfrm>
            <a:off x="7727950" y="5553075"/>
            <a:ext cx="1761554" cy="309563"/>
          </a:xfrm>
          <a:prstGeom prst="bevel">
            <a:avLst>
              <a:gd name="adj" fmla="val 0"/>
            </a:avLst>
          </a:prstGeom>
          <a:solidFill>
            <a:srgbClr val="ECF8E8"/>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ko-KR" sz="1200" dirty="0" err="1">
                <a:latin typeface="arial" pitchFamily="34" charset="0"/>
                <a:ea typeface="맑은 고딕" pitchFamily="50" charset="-127"/>
              </a:rPr>
              <a:t>Dữ</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liệu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chuyển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đổi</a:t>
            </a:r>
            <a:endParaRPr lang="en-US" altLang="ko-KR" sz="1200" dirty="0">
              <a:latin typeface="arial" pitchFamily="34" charset="0"/>
              <a:ea typeface="맑은 고딕" pitchFamily="50" charset="-127"/>
            </a:endParaRPr>
          </a:p>
        </p:txBody>
      </p:sp>
      <p:sp>
        <p:nvSpPr>
          <p:cNvPr id="301066" name="Text Box 1034"/>
          <p:cNvSpPr txBox="1">
            <a:spLocks noChangeArrowheads="1"/>
          </p:cNvSpPr>
          <p:nvPr/>
        </p:nvSpPr>
        <p:spPr bwMode="auto">
          <a:xfrm>
            <a:off x="895350" y="5711924"/>
            <a:ext cx="7041124"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defTabSz="190500" eaLnBrk="0" hangingPunct="0">
              <a:defRPr kumimoji="1">
                <a:solidFill>
                  <a:schemeClr val="tx1"/>
                </a:solidFill>
                <a:latin typeface="굴림" pitchFamily="50" charset="-127"/>
                <a:ea typeface="굴림" pitchFamily="50" charset="-127"/>
              </a:defRPr>
            </a:lvl1pPr>
            <a:lvl2pPr marL="742950" indent="-285750" defTabSz="190500" eaLnBrk="0" hangingPunct="0">
              <a:defRPr kumimoji="1">
                <a:solidFill>
                  <a:schemeClr val="tx1"/>
                </a:solidFill>
                <a:latin typeface="굴림" pitchFamily="50" charset="-127"/>
                <a:ea typeface="굴림" pitchFamily="50" charset="-127"/>
              </a:defRPr>
            </a:lvl2pPr>
            <a:lvl3pPr marL="1143000" indent="-228600" defTabSz="190500" eaLnBrk="0" hangingPunct="0">
              <a:defRPr kumimoji="1">
                <a:solidFill>
                  <a:schemeClr val="tx1"/>
                </a:solidFill>
                <a:latin typeface="굴림" pitchFamily="50" charset="-127"/>
                <a:ea typeface="굴림" pitchFamily="50" charset="-127"/>
              </a:defRPr>
            </a:lvl3pPr>
            <a:lvl4pPr marL="1600200" indent="-228600" defTabSz="190500" eaLnBrk="0" hangingPunct="0">
              <a:defRPr kumimoji="1">
                <a:solidFill>
                  <a:schemeClr val="tx1"/>
                </a:solidFill>
                <a:latin typeface="굴림" pitchFamily="50" charset="-127"/>
                <a:ea typeface="굴림" pitchFamily="50" charset="-127"/>
              </a:defRPr>
            </a:lvl4pPr>
            <a:lvl5pPr marL="2057400" indent="-228600" defTabSz="190500" eaLnBrk="0" hangingPunct="0">
              <a:defRPr kumimoji="1">
                <a:solidFill>
                  <a:schemeClr val="tx1"/>
                </a:solidFill>
                <a:latin typeface="굴림" pitchFamily="50" charset="-127"/>
                <a:ea typeface="굴림" pitchFamily="50" charset="-127"/>
              </a:defRPr>
            </a:lvl5pPr>
            <a:lvl6pPr marL="25146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buFont typeface="Wingdings" pitchFamily="2" charset="2"/>
              <a:buNone/>
            </a:pPr>
            <a:r>
              <a:rPr lang="en-US" altLang="ko-KR" sz="1200" dirty="0">
                <a:latin typeface="arial" pitchFamily="34" charset="0"/>
                <a:ea typeface="맑은 고딕" pitchFamily="50" charset="-127"/>
              </a:rPr>
              <a:t>   → </a:t>
            </a:r>
            <a:r>
              <a:rPr lang="en-US" altLang="ko-KR" sz="1200" dirty="0" err="1">
                <a:latin typeface="arial" pitchFamily="34" charset="0"/>
                <a:ea typeface="맑은 고딕" pitchFamily="50" charset="-127"/>
              </a:rPr>
              <a:t>Tùy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thuộc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vào</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đặc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của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độ</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lệch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chuẩn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ngắn</a:t>
            </a:r>
            <a:r>
              <a:rPr lang="en-US" altLang="ko-KR" sz="1200" dirty="0">
                <a:latin typeface="arial" pitchFamily="34" charset="0"/>
                <a:ea typeface="맑은 고딕" pitchFamily="50" charset="-127"/>
              </a:rPr>
              <a:t>/</a:t>
            </a:r>
            <a:r>
              <a:rPr lang="en-US" altLang="ko-KR" sz="1200" dirty="0" err="1">
                <a:latin typeface="arial" pitchFamily="34" charset="0"/>
                <a:ea typeface="맑은 고딕" pitchFamily="50" charset="-127"/>
              </a:rPr>
              <a:t>dài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thiết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lập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mục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tiêu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mà</a:t>
            </a:r>
            <a:r>
              <a:rPr lang="en-US" altLang="ko-KR" sz="1200" dirty="0">
                <a:latin typeface="arial" pitchFamily="34" charset="0"/>
                <a:ea typeface="맑은 고딕" pitchFamily="50" charset="-127"/>
              </a:rPr>
              <a:t>   </a:t>
            </a:r>
          </a:p>
          <a:p>
            <a:pPr>
              <a:buFont typeface="Wingdings" pitchFamily="2" charset="2"/>
              <a:buNone/>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kết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bench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chuyển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thành</a:t>
            </a:r>
            <a:r>
              <a:rPr lang="en-US" altLang="ko-KR" sz="1200" dirty="0">
                <a:latin typeface="arial" pitchFamily="34" charset="0"/>
                <a:ea typeface="맑은 고딕" pitchFamily="50" charset="-127"/>
              </a:rPr>
              <a:t> Z</a:t>
            </a:r>
            <a:r>
              <a:rPr lang="en-US" altLang="ko-KR" sz="1200" baseline="-25000" dirty="0">
                <a:latin typeface="arial" pitchFamily="34" charset="0"/>
                <a:ea typeface="맑은 고딕" pitchFamily="50" charset="-127"/>
              </a:rPr>
              <a:t>ST</a:t>
            </a:r>
            <a:r>
              <a:rPr lang="ko-KR" altLang="en-US" sz="1200" dirty="0">
                <a:latin typeface="arial" pitchFamily="34" charset="0"/>
                <a:ea typeface="맑은 고딕" pitchFamily="50" charset="-127"/>
              </a:rPr>
              <a:t> </a:t>
            </a:r>
            <a:r>
              <a:rPr lang="en-US" altLang="ko-KR" sz="1200" dirty="0" err="1">
                <a:latin typeface="arial" pitchFamily="34" charset="0"/>
                <a:ea typeface="맑은 고딕" pitchFamily="50" charset="-127"/>
              </a:rPr>
              <a:t>và</a:t>
            </a:r>
            <a:r>
              <a:rPr lang="ko-KR" altLang="en-US" sz="1200" dirty="0">
                <a:latin typeface="arial" pitchFamily="34" charset="0"/>
                <a:ea typeface="맑은 고딕" pitchFamily="50" charset="-127"/>
              </a:rPr>
              <a:t> </a:t>
            </a:r>
            <a:r>
              <a:rPr lang="en-US" altLang="ko-KR" sz="1200" dirty="0">
                <a:latin typeface="arial" pitchFamily="34" charset="0"/>
                <a:ea typeface="맑은 고딕" pitchFamily="50" charset="-127"/>
              </a:rPr>
              <a:t>Z</a:t>
            </a:r>
            <a:r>
              <a:rPr lang="en-US" altLang="ko-KR" sz="1200" baseline="-25000" dirty="0">
                <a:latin typeface="arial" pitchFamily="34" charset="0"/>
                <a:ea typeface="맑은 고딕" pitchFamily="50" charset="-127"/>
              </a:rPr>
              <a:t>LT</a:t>
            </a:r>
            <a:endParaRPr lang="en-US" altLang="ko-KR" sz="1200" dirty="0">
              <a:latin typeface="arial" pitchFamily="34" charset="0"/>
              <a:ea typeface="맑은 고딕" pitchFamily="50" charset="-127"/>
            </a:endParaRPr>
          </a:p>
        </p:txBody>
      </p:sp>
      <p:sp>
        <p:nvSpPr>
          <p:cNvPr id="301067" name="Line 1035"/>
          <p:cNvSpPr>
            <a:spLocks noChangeShapeType="1"/>
          </p:cNvSpPr>
          <p:nvPr/>
        </p:nvSpPr>
        <p:spPr bwMode="auto">
          <a:xfrm>
            <a:off x="3021013" y="1951038"/>
            <a:ext cx="0" cy="1508125"/>
          </a:xfrm>
          <a:prstGeom prst="line">
            <a:avLst/>
          </a:prstGeom>
          <a:noFill/>
          <a:ln w="19050">
            <a:solidFill>
              <a:schemeClr val="accent2"/>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3" name="Group 1036"/>
          <p:cNvGrpSpPr>
            <a:grpSpLocks/>
          </p:cNvGrpSpPr>
          <p:nvPr/>
        </p:nvGrpSpPr>
        <p:grpSpPr bwMode="auto">
          <a:xfrm>
            <a:off x="1112838" y="2065338"/>
            <a:ext cx="3833812" cy="1385887"/>
            <a:chOff x="554" y="2928"/>
            <a:chExt cx="1950" cy="870"/>
          </a:xfrm>
        </p:grpSpPr>
        <p:sp>
          <p:nvSpPr>
            <p:cNvPr id="301183" name="Line 1037"/>
            <p:cNvSpPr>
              <a:spLocks noChangeShapeType="1"/>
            </p:cNvSpPr>
            <p:nvPr/>
          </p:nvSpPr>
          <p:spPr bwMode="auto">
            <a:xfrm flipV="1">
              <a:off x="554" y="3796"/>
              <a:ext cx="25" cy="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84" name="Line 1038"/>
            <p:cNvSpPr>
              <a:spLocks noChangeShapeType="1"/>
            </p:cNvSpPr>
            <p:nvPr/>
          </p:nvSpPr>
          <p:spPr bwMode="auto">
            <a:xfrm>
              <a:off x="579" y="3796"/>
              <a:ext cx="25"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85" name="Line 1039"/>
            <p:cNvSpPr>
              <a:spLocks noChangeShapeType="1"/>
            </p:cNvSpPr>
            <p:nvPr/>
          </p:nvSpPr>
          <p:spPr bwMode="auto">
            <a:xfrm>
              <a:off x="604" y="3796"/>
              <a:ext cx="25"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86" name="Line 1040"/>
            <p:cNvSpPr>
              <a:spLocks noChangeShapeType="1"/>
            </p:cNvSpPr>
            <p:nvPr/>
          </p:nvSpPr>
          <p:spPr bwMode="auto">
            <a:xfrm flipV="1">
              <a:off x="629" y="3794"/>
              <a:ext cx="26" cy="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87" name="Line 1041"/>
            <p:cNvSpPr>
              <a:spLocks noChangeShapeType="1"/>
            </p:cNvSpPr>
            <p:nvPr/>
          </p:nvSpPr>
          <p:spPr bwMode="auto">
            <a:xfrm>
              <a:off x="655" y="3794"/>
              <a:ext cx="28" cy="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88" name="Line 1042"/>
            <p:cNvSpPr>
              <a:spLocks noChangeShapeType="1"/>
            </p:cNvSpPr>
            <p:nvPr/>
          </p:nvSpPr>
          <p:spPr bwMode="auto">
            <a:xfrm flipV="1">
              <a:off x="683" y="3792"/>
              <a:ext cx="25" cy="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89" name="Line 1043"/>
            <p:cNvSpPr>
              <a:spLocks noChangeShapeType="1"/>
            </p:cNvSpPr>
            <p:nvPr/>
          </p:nvSpPr>
          <p:spPr bwMode="auto">
            <a:xfrm flipV="1">
              <a:off x="708" y="3791"/>
              <a:ext cx="25" cy="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0" name="Line 1044"/>
            <p:cNvSpPr>
              <a:spLocks noChangeShapeType="1"/>
            </p:cNvSpPr>
            <p:nvPr/>
          </p:nvSpPr>
          <p:spPr bwMode="auto">
            <a:xfrm flipV="1">
              <a:off x="733" y="3787"/>
              <a:ext cx="26" cy="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1" name="Line 1045"/>
            <p:cNvSpPr>
              <a:spLocks noChangeShapeType="1"/>
            </p:cNvSpPr>
            <p:nvPr/>
          </p:nvSpPr>
          <p:spPr bwMode="auto">
            <a:xfrm flipV="1">
              <a:off x="759" y="3784"/>
              <a:ext cx="25" cy="3"/>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2" name="Line 1046"/>
            <p:cNvSpPr>
              <a:spLocks noChangeShapeType="1"/>
            </p:cNvSpPr>
            <p:nvPr/>
          </p:nvSpPr>
          <p:spPr bwMode="auto">
            <a:xfrm flipV="1">
              <a:off x="784" y="3780"/>
              <a:ext cx="25" cy="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3" name="Line 1047"/>
            <p:cNvSpPr>
              <a:spLocks noChangeShapeType="1"/>
            </p:cNvSpPr>
            <p:nvPr/>
          </p:nvSpPr>
          <p:spPr bwMode="auto">
            <a:xfrm flipV="1">
              <a:off x="809" y="3775"/>
              <a:ext cx="26" cy="5"/>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4" name="Line 1048"/>
            <p:cNvSpPr>
              <a:spLocks noChangeShapeType="1"/>
            </p:cNvSpPr>
            <p:nvPr/>
          </p:nvSpPr>
          <p:spPr bwMode="auto">
            <a:xfrm flipV="1">
              <a:off x="835" y="3768"/>
              <a:ext cx="28" cy="7"/>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5" name="Line 1049"/>
            <p:cNvSpPr>
              <a:spLocks noChangeShapeType="1"/>
            </p:cNvSpPr>
            <p:nvPr/>
          </p:nvSpPr>
          <p:spPr bwMode="auto">
            <a:xfrm flipV="1">
              <a:off x="863" y="3760"/>
              <a:ext cx="25" cy="8"/>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6" name="Line 1050"/>
            <p:cNvSpPr>
              <a:spLocks noChangeShapeType="1"/>
            </p:cNvSpPr>
            <p:nvPr/>
          </p:nvSpPr>
          <p:spPr bwMode="auto">
            <a:xfrm flipV="1">
              <a:off x="888" y="3749"/>
              <a:ext cx="25" cy="1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7" name="Line 1051"/>
            <p:cNvSpPr>
              <a:spLocks noChangeShapeType="1"/>
            </p:cNvSpPr>
            <p:nvPr/>
          </p:nvSpPr>
          <p:spPr bwMode="auto">
            <a:xfrm flipV="1">
              <a:off x="913" y="3736"/>
              <a:ext cx="26" cy="13"/>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8" name="Line 1052"/>
            <p:cNvSpPr>
              <a:spLocks noChangeShapeType="1"/>
            </p:cNvSpPr>
            <p:nvPr/>
          </p:nvSpPr>
          <p:spPr bwMode="auto">
            <a:xfrm flipV="1">
              <a:off x="939" y="3720"/>
              <a:ext cx="24" cy="16"/>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199" name="Line 1053"/>
            <p:cNvSpPr>
              <a:spLocks noChangeShapeType="1"/>
            </p:cNvSpPr>
            <p:nvPr/>
          </p:nvSpPr>
          <p:spPr bwMode="auto">
            <a:xfrm flipV="1">
              <a:off x="963" y="3701"/>
              <a:ext cx="26" cy="19"/>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0" name="Line 1054"/>
            <p:cNvSpPr>
              <a:spLocks noChangeShapeType="1"/>
            </p:cNvSpPr>
            <p:nvPr/>
          </p:nvSpPr>
          <p:spPr bwMode="auto">
            <a:xfrm flipV="1">
              <a:off x="989" y="3679"/>
              <a:ext cx="28" cy="2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1" name="Line 1055"/>
            <p:cNvSpPr>
              <a:spLocks noChangeShapeType="1"/>
            </p:cNvSpPr>
            <p:nvPr/>
          </p:nvSpPr>
          <p:spPr bwMode="auto">
            <a:xfrm flipV="1">
              <a:off x="1017" y="3655"/>
              <a:ext cx="25" cy="2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2" name="Line 1056"/>
            <p:cNvSpPr>
              <a:spLocks noChangeShapeType="1"/>
            </p:cNvSpPr>
            <p:nvPr/>
          </p:nvSpPr>
          <p:spPr bwMode="auto">
            <a:xfrm flipV="1">
              <a:off x="1042" y="3626"/>
              <a:ext cx="26" cy="29"/>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3" name="Line 1057"/>
            <p:cNvSpPr>
              <a:spLocks noChangeShapeType="1"/>
            </p:cNvSpPr>
            <p:nvPr/>
          </p:nvSpPr>
          <p:spPr bwMode="auto">
            <a:xfrm flipV="1">
              <a:off x="1068" y="3592"/>
              <a:ext cx="25" cy="3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4" name="Line 1058"/>
            <p:cNvSpPr>
              <a:spLocks noChangeShapeType="1"/>
            </p:cNvSpPr>
            <p:nvPr/>
          </p:nvSpPr>
          <p:spPr bwMode="auto">
            <a:xfrm flipV="1">
              <a:off x="1093" y="3555"/>
              <a:ext cx="25" cy="37"/>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5" name="Line 1059"/>
            <p:cNvSpPr>
              <a:spLocks noChangeShapeType="1"/>
            </p:cNvSpPr>
            <p:nvPr/>
          </p:nvSpPr>
          <p:spPr bwMode="auto">
            <a:xfrm flipV="1">
              <a:off x="1118" y="3514"/>
              <a:ext cx="26" cy="4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6" name="Line 1060"/>
            <p:cNvSpPr>
              <a:spLocks noChangeShapeType="1"/>
            </p:cNvSpPr>
            <p:nvPr/>
          </p:nvSpPr>
          <p:spPr bwMode="auto">
            <a:xfrm flipV="1">
              <a:off x="1144" y="3472"/>
              <a:ext cx="24" cy="4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7" name="Line 1061"/>
            <p:cNvSpPr>
              <a:spLocks noChangeShapeType="1"/>
            </p:cNvSpPr>
            <p:nvPr/>
          </p:nvSpPr>
          <p:spPr bwMode="auto">
            <a:xfrm flipV="1">
              <a:off x="1168" y="3424"/>
              <a:ext cx="29" cy="48"/>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8" name="Line 1062"/>
            <p:cNvSpPr>
              <a:spLocks noChangeShapeType="1"/>
            </p:cNvSpPr>
            <p:nvPr/>
          </p:nvSpPr>
          <p:spPr bwMode="auto">
            <a:xfrm flipV="1">
              <a:off x="1197" y="3374"/>
              <a:ext cx="25" cy="5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09" name="Line 1063"/>
            <p:cNvSpPr>
              <a:spLocks noChangeShapeType="1"/>
            </p:cNvSpPr>
            <p:nvPr/>
          </p:nvSpPr>
          <p:spPr bwMode="auto">
            <a:xfrm flipV="1">
              <a:off x="1222" y="3322"/>
              <a:ext cx="26" cy="5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0" name="Line 1064"/>
            <p:cNvSpPr>
              <a:spLocks noChangeShapeType="1"/>
            </p:cNvSpPr>
            <p:nvPr/>
          </p:nvSpPr>
          <p:spPr bwMode="auto">
            <a:xfrm flipV="1">
              <a:off x="1248" y="3269"/>
              <a:ext cx="24" cy="53"/>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1" name="Line 1065"/>
            <p:cNvSpPr>
              <a:spLocks noChangeShapeType="1"/>
            </p:cNvSpPr>
            <p:nvPr/>
          </p:nvSpPr>
          <p:spPr bwMode="auto">
            <a:xfrm flipV="1">
              <a:off x="1272" y="3218"/>
              <a:ext cx="26" cy="5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2" name="Line 1066"/>
            <p:cNvSpPr>
              <a:spLocks noChangeShapeType="1"/>
            </p:cNvSpPr>
            <p:nvPr/>
          </p:nvSpPr>
          <p:spPr bwMode="auto">
            <a:xfrm flipV="1">
              <a:off x="1298" y="3166"/>
              <a:ext cx="25" cy="5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3" name="Line 1067"/>
            <p:cNvSpPr>
              <a:spLocks noChangeShapeType="1"/>
            </p:cNvSpPr>
            <p:nvPr/>
          </p:nvSpPr>
          <p:spPr bwMode="auto">
            <a:xfrm flipV="1">
              <a:off x="1323" y="3116"/>
              <a:ext cx="25" cy="5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4" name="Line 1068"/>
            <p:cNvSpPr>
              <a:spLocks noChangeShapeType="1"/>
            </p:cNvSpPr>
            <p:nvPr/>
          </p:nvSpPr>
          <p:spPr bwMode="auto">
            <a:xfrm flipV="1">
              <a:off x="1348" y="3070"/>
              <a:ext cx="29" cy="46"/>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5" name="Line 1069"/>
            <p:cNvSpPr>
              <a:spLocks noChangeShapeType="1"/>
            </p:cNvSpPr>
            <p:nvPr/>
          </p:nvSpPr>
          <p:spPr bwMode="auto">
            <a:xfrm flipV="1">
              <a:off x="1377" y="3029"/>
              <a:ext cx="25" cy="4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6" name="Line 1070"/>
            <p:cNvSpPr>
              <a:spLocks noChangeShapeType="1"/>
            </p:cNvSpPr>
            <p:nvPr/>
          </p:nvSpPr>
          <p:spPr bwMode="auto">
            <a:xfrm flipV="1">
              <a:off x="1402" y="2995"/>
              <a:ext cx="25" cy="3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7" name="Line 1071"/>
            <p:cNvSpPr>
              <a:spLocks noChangeShapeType="1"/>
            </p:cNvSpPr>
            <p:nvPr/>
          </p:nvSpPr>
          <p:spPr bwMode="auto">
            <a:xfrm flipV="1">
              <a:off x="1427" y="2966"/>
              <a:ext cx="25" cy="29"/>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8" name="Line 1072"/>
            <p:cNvSpPr>
              <a:spLocks noChangeShapeType="1"/>
            </p:cNvSpPr>
            <p:nvPr/>
          </p:nvSpPr>
          <p:spPr bwMode="auto">
            <a:xfrm flipV="1">
              <a:off x="1452" y="2945"/>
              <a:ext cx="25" cy="2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19" name="Line 1073"/>
            <p:cNvSpPr>
              <a:spLocks noChangeShapeType="1"/>
            </p:cNvSpPr>
            <p:nvPr/>
          </p:nvSpPr>
          <p:spPr bwMode="auto">
            <a:xfrm flipV="1">
              <a:off x="1477" y="2931"/>
              <a:ext cx="26" cy="1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0" name="Line 1074"/>
            <p:cNvSpPr>
              <a:spLocks noChangeShapeType="1"/>
            </p:cNvSpPr>
            <p:nvPr/>
          </p:nvSpPr>
          <p:spPr bwMode="auto">
            <a:xfrm flipV="1">
              <a:off x="1503" y="2928"/>
              <a:ext cx="28" cy="3"/>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1" name="Line 1075"/>
            <p:cNvSpPr>
              <a:spLocks noChangeShapeType="1"/>
            </p:cNvSpPr>
            <p:nvPr/>
          </p:nvSpPr>
          <p:spPr bwMode="auto">
            <a:xfrm>
              <a:off x="1531" y="2928"/>
              <a:ext cx="26" cy="3"/>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2" name="Line 1076"/>
            <p:cNvSpPr>
              <a:spLocks noChangeShapeType="1"/>
            </p:cNvSpPr>
            <p:nvPr/>
          </p:nvSpPr>
          <p:spPr bwMode="auto">
            <a:xfrm>
              <a:off x="1557" y="2931"/>
              <a:ext cx="24" cy="1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3" name="Line 1077"/>
            <p:cNvSpPr>
              <a:spLocks noChangeShapeType="1"/>
            </p:cNvSpPr>
            <p:nvPr/>
          </p:nvSpPr>
          <p:spPr bwMode="auto">
            <a:xfrm>
              <a:off x="1581" y="2945"/>
              <a:ext cx="26" cy="2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4" name="Line 1078"/>
            <p:cNvSpPr>
              <a:spLocks noChangeShapeType="1"/>
            </p:cNvSpPr>
            <p:nvPr/>
          </p:nvSpPr>
          <p:spPr bwMode="auto">
            <a:xfrm>
              <a:off x="1607" y="2966"/>
              <a:ext cx="25" cy="29"/>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5" name="Line 1079"/>
            <p:cNvSpPr>
              <a:spLocks noChangeShapeType="1"/>
            </p:cNvSpPr>
            <p:nvPr/>
          </p:nvSpPr>
          <p:spPr bwMode="auto">
            <a:xfrm>
              <a:off x="1632" y="2995"/>
              <a:ext cx="25" cy="3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6" name="Line 1080"/>
            <p:cNvSpPr>
              <a:spLocks noChangeShapeType="1"/>
            </p:cNvSpPr>
            <p:nvPr/>
          </p:nvSpPr>
          <p:spPr bwMode="auto">
            <a:xfrm>
              <a:off x="1657" y="3029"/>
              <a:ext cx="25" cy="4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7" name="Line 1081"/>
            <p:cNvSpPr>
              <a:spLocks noChangeShapeType="1"/>
            </p:cNvSpPr>
            <p:nvPr/>
          </p:nvSpPr>
          <p:spPr bwMode="auto">
            <a:xfrm>
              <a:off x="1682" y="3070"/>
              <a:ext cx="29" cy="46"/>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8" name="Line 1082"/>
            <p:cNvSpPr>
              <a:spLocks noChangeShapeType="1"/>
            </p:cNvSpPr>
            <p:nvPr/>
          </p:nvSpPr>
          <p:spPr bwMode="auto">
            <a:xfrm>
              <a:off x="1711" y="3116"/>
              <a:ext cx="25" cy="5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29" name="Line 1083"/>
            <p:cNvSpPr>
              <a:spLocks noChangeShapeType="1"/>
            </p:cNvSpPr>
            <p:nvPr/>
          </p:nvSpPr>
          <p:spPr bwMode="auto">
            <a:xfrm>
              <a:off x="1736" y="3166"/>
              <a:ext cx="25" cy="5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0" name="Line 1084"/>
            <p:cNvSpPr>
              <a:spLocks noChangeShapeType="1"/>
            </p:cNvSpPr>
            <p:nvPr/>
          </p:nvSpPr>
          <p:spPr bwMode="auto">
            <a:xfrm>
              <a:off x="1761" y="3218"/>
              <a:ext cx="25" cy="5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1" name="Line 1085"/>
            <p:cNvSpPr>
              <a:spLocks noChangeShapeType="1"/>
            </p:cNvSpPr>
            <p:nvPr/>
          </p:nvSpPr>
          <p:spPr bwMode="auto">
            <a:xfrm>
              <a:off x="1786" y="3269"/>
              <a:ext cx="26" cy="53"/>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2" name="Line 1086"/>
            <p:cNvSpPr>
              <a:spLocks noChangeShapeType="1"/>
            </p:cNvSpPr>
            <p:nvPr/>
          </p:nvSpPr>
          <p:spPr bwMode="auto">
            <a:xfrm>
              <a:off x="1812" y="3322"/>
              <a:ext cx="24" cy="5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3" name="Line 1087"/>
            <p:cNvSpPr>
              <a:spLocks noChangeShapeType="1"/>
            </p:cNvSpPr>
            <p:nvPr/>
          </p:nvSpPr>
          <p:spPr bwMode="auto">
            <a:xfrm>
              <a:off x="1836" y="3374"/>
              <a:ext cx="26" cy="5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4" name="Line 1088"/>
            <p:cNvSpPr>
              <a:spLocks noChangeShapeType="1"/>
            </p:cNvSpPr>
            <p:nvPr/>
          </p:nvSpPr>
          <p:spPr bwMode="auto">
            <a:xfrm>
              <a:off x="1862" y="3424"/>
              <a:ext cx="28" cy="48"/>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5" name="Line 1089"/>
            <p:cNvSpPr>
              <a:spLocks noChangeShapeType="1"/>
            </p:cNvSpPr>
            <p:nvPr/>
          </p:nvSpPr>
          <p:spPr bwMode="auto">
            <a:xfrm>
              <a:off x="1890" y="3472"/>
              <a:ext cx="26" cy="4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6" name="Line 1090"/>
            <p:cNvSpPr>
              <a:spLocks noChangeShapeType="1"/>
            </p:cNvSpPr>
            <p:nvPr/>
          </p:nvSpPr>
          <p:spPr bwMode="auto">
            <a:xfrm>
              <a:off x="1916" y="3514"/>
              <a:ext cx="24" cy="4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7" name="Line 1091"/>
            <p:cNvSpPr>
              <a:spLocks noChangeShapeType="1"/>
            </p:cNvSpPr>
            <p:nvPr/>
          </p:nvSpPr>
          <p:spPr bwMode="auto">
            <a:xfrm>
              <a:off x="1940" y="3555"/>
              <a:ext cx="26" cy="37"/>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8" name="Line 1092"/>
            <p:cNvSpPr>
              <a:spLocks noChangeShapeType="1"/>
            </p:cNvSpPr>
            <p:nvPr/>
          </p:nvSpPr>
          <p:spPr bwMode="auto">
            <a:xfrm>
              <a:off x="1966" y="3592"/>
              <a:ext cx="25" cy="3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39" name="Line 1093"/>
            <p:cNvSpPr>
              <a:spLocks noChangeShapeType="1"/>
            </p:cNvSpPr>
            <p:nvPr/>
          </p:nvSpPr>
          <p:spPr bwMode="auto">
            <a:xfrm>
              <a:off x="1991" y="3626"/>
              <a:ext cx="25" cy="29"/>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0" name="Line 1094"/>
            <p:cNvSpPr>
              <a:spLocks noChangeShapeType="1"/>
            </p:cNvSpPr>
            <p:nvPr/>
          </p:nvSpPr>
          <p:spPr bwMode="auto">
            <a:xfrm>
              <a:off x="2016" y="3655"/>
              <a:ext cx="25" cy="2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1" name="Line 1095"/>
            <p:cNvSpPr>
              <a:spLocks noChangeShapeType="1"/>
            </p:cNvSpPr>
            <p:nvPr/>
          </p:nvSpPr>
          <p:spPr bwMode="auto">
            <a:xfrm>
              <a:off x="2041" y="3679"/>
              <a:ext cx="29" cy="2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2" name="Line 1096"/>
            <p:cNvSpPr>
              <a:spLocks noChangeShapeType="1"/>
            </p:cNvSpPr>
            <p:nvPr/>
          </p:nvSpPr>
          <p:spPr bwMode="auto">
            <a:xfrm>
              <a:off x="2070" y="3701"/>
              <a:ext cx="25" cy="19"/>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3" name="Line 1097"/>
            <p:cNvSpPr>
              <a:spLocks noChangeShapeType="1"/>
            </p:cNvSpPr>
            <p:nvPr/>
          </p:nvSpPr>
          <p:spPr bwMode="auto">
            <a:xfrm>
              <a:off x="2095" y="3720"/>
              <a:ext cx="26" cy="16"/>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4" name="Line 1098"/>
            <p:cNvSpPr>
              <a:spLocks noChangeShapeType="1"/>
            </p:cNvSpPr>
            <p:nvPr/>
          </p:nvSpPr>
          <p:spPr bwMode="auto">
            <a:xfrm>
              <a:off x="2121" y="3736"/>
              <a:ext cx="24" cy="13"/>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5" name="Line 1099"/>
            <p:cNvSpPr>
              <a:spLocks noChangeShapeType="1"/>
            </p:cNvSpPr>
            <p:nvPr/>
          </p:nvSpPr>
          <p:spPr bwMode="auto">
            <a:xfrm>
              <a:off x="2145" y="3749"/>
              <a:ext cx="26" cy="1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6" name="Line 1100"/>
            <p:cNvSpPr>
              <a:spLocks noChangeShapeType="1"/>
            </p:cNvSpPr>
            <p:nvPr/>
          </p:nvSpPr>
          <p:spPr bwMode="auto">
            <a:xfrm>
              <a:off x="2171" y="3760"/>
              <a:ext cx="24" cy="8"/>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7" name="Line 1101"/>
            <p:cNvSpPr>
              <a:spLocks noChangeShapeType="1"/>
            </p:cNvSpPr>
            <p:nvPr/>
          </p:nvSpPr>
          <p:spPr bwMode="auto">
            <a:xfrm>
              <a:off x="2195" y="3768"/>
              <a:ext cx="30" cy="7"/>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8" name="Line 1102"/>
            <p:cNvSpPr>
              <a:spLocks noChangeShapeType="1"/>
            </p:cNvSpPr>
            <p:nvPr/>
          </p:nvSpPr>
          <p:spPr bwMode="auto">
            <a:xfrm>
              <a:off x="2225" y="3775"/>
              <a:ext cx="24" cy="5"/>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49" name="Line 1103"/>
            <p:cNvSpPr>
              <a:spLocks noChangeShapeType="1"/>
            </p:cNvSpPr>
            <p:nvPr/>
          </p:nvSpPr>
          <p:spPr bwMode="auto">
            <a:xfrm>
              <a:off x="2249" y="3780"/>
              <a:ext cx="26" cy="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0" name="Line 1104"/>
            <p:cNvSpPr>
              <a:spLocks noChangeShapeType="1"/>
            </p:cNvSpPr>
            <p:nvPr/>
          </p:nvSpPr>
          <p:spPr bwMode="auto">
            <a:xfrm>
              <a:off x="2275" y="3784"/>
              <a:ext cx="25" cy="3"/>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1" name="Line 1105"/>
            <p:cNvSpPr>
              <a:spLocks noChangeShapeType="1"/>
            </p:cNvSpPr>
            <p:nvPr/>
          </p:nvSpPr>
          <p:spPr bwMode="auto">
            <a:xfrm>
              <a:off x="2300" y="3787"/>
              <a:ext cx="25" cy="4"/>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2" name="Line 1106"/>
            <p:cNvSpPr>
              <a:spLocks noChangeShapeType="1"/>
            </p:cNvSpPr>
            <p:nvPr/>
          </p:nvSpPr>
          <p:spPr bwMode="auto">
            <a:xfrm>
              <a:off x="2325" y="3791"/>
              <a:ext cx="25" cy="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3" name="Line 1107"/>
            <p:cNvSpPr>
              <a:spLocks noChangeShapeType="1"/>
            </p:cNvSpPr>
            <p:nvPr/>
          </p:nvSpPr>
          <p:spPr bwMode="auto">
            <a:xfrm>
              <a:off x="2350" y="3792"/>
              <a:ext cx="26" cy="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4" name="Line 1108"/>
            <p:cNvSpPr>
              <a:spLocks noChangeShapeType="1"/>
            </p:cNvSpPr>
            <p:nvPr/>
          </p:nvSpPr>
          <p:spPr bwMode="auto">
            <a:xfrm>
              <a:off x="2376" y="3794"/>
              <a:ext cx="28" cy="1"/>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5" name="Line 1109"/>
            <p:cNvSpPr>
              <a:spLocks noChangeShapeType="1"/>
            </p:cNvSpPr>
            <p:nvPr/>
          </p:nvSpPr>
          <p:spPr bwMode="auto">
            <a:xfrm>
              <a:off x="2404" y="3794"/>
              <a:ext cx="25" cy="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6" name="Line 1110"/>
            <p:cNvSpPr>
              <a:spLocks noChangeShapeType="1"/>
            </p:cNvSpPr>
            <p:nvPr/>
          </p:nvSpPr>
          <p:spPr bwMode="auto">
            <a:xfrm>
              <a:off x="2429" y="3796"/>
              <a:ext cx="25"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7" name="Line 1111"/>
            <p:cNvSpPr>
              <a:spLocks noChangeShapeType="1"/>
            </p:cNvSpPr>
            <p:nvPr/>
          </p:nvSpPr>
          <p:spPr bwMode="auto">
            <a:xfrm>
              <a:off x="2454" y="3796"/>
              <a:ext cx="26"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1258" name="Line 1112"/>
            <p:cNvSpPr>
              <a:spLocks noChangeShapeType="1"/>
            </p:cNvSpPr>
            <p:nvPr/>
          </p:nvSpPr>
          <p:spPr bwMode="auto">
            <a:xfrm>
              <a:off x="2480" y="3796"/>
              <a:ext cx="24" cy="2"/>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grpSp>
      <p:graphicFrame>
        <p:nvGraphicFramePr>
          <p:cNvPr id="301069" name="Object 1113"/>
          <p:cNvGraphicFramePr>
            <a:graphicFrameLocks noChangeAspect="1"/>
          </p:cNvGraphicFramePr>
          <p:nvPr/>
        </p:nvGraphicFramePr>
        <p:xfrm>
          <a:off x="3924300" y="1911350"/>
          <a:ext cx="1114425" cy="384175"/>
        </p:xfrm>
        <a:graphic>
          <a:graphicData uri="http://schemas.openxmlformats.org/presentationml/2006/ole">
            <mc:AlternateContent xmlns:mc="http://schemas.openxmlformats.org/markup-compatibility/2006">
              <mc:Choice xmlns:v="urn:schemas-microsoft-com:vml" Requires="v">
                <p:oleObj name="수식" r:id="rId5" imgW="1040948" imgH="393529" progId="Equation.3">
                  <p:embed/>
                </p:oleObj>
              </mc:Choice>
              <mc:Fallback>
                <p:oleObj name="수식" r:id="rId5" imgW="1040948" imgH="393529" progId="Equation.3">
                  <p:embed/>
                  <p:pic>
                    <p:nvPicPr>
                      <p:cNvPr id="301069" name="Object 11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4300" y="1911350"/>
                        <a:ext cx="1114425" cy="384175"/>
                      </a:xfrm>
                      <a:prstGeom prst="rect">
                        <a:avLst/>
                      </a:prstGeom>
                      <a:solidFill>
                        <a:schemeClr val="bg1"/>
                      </a:solidFill>
                      <a:ln w="9525">
                        <a:solidFill>
                          <a:schemeClr val="bg2"/>
                        </a:solidFill>
                        <a:miter lim="800000"/>
                        <a:headEnd/>
                        <a:tailEnd/>
                      </a:ln>
                      <a:effectLst>
                        <a:outerShdw dist="35921" dir="2700000" algn="ctr" rotWithShape="0">
                          <a:srgbClr val="808080"/>
                        </a:outerShdw>
                      </a:effectLst>
                    </p:spPr>
                  </p:pic>
                </p:oleObj>
              </mc:Fallback>
            </mc:AlternateContent>
          </a:graphicData>
        </a:graphic>
      </p:graphicFrame>
      <p:sp>
        <p:nvSpPr>
          <p:cNvPr id="301070" name="Line 1114"/>
          <p:cNvSpPr>
            <a:spLocks noChangeShapeType="1"/>
          </p:cNvSpPr>
          <p:nvPr/>
        </p:nvSpPr>
        <p:spPr bwMode="auto">
          <a:xfrm>
            <a:off x="4098925" y="2592388"/>
            <a:ext cx="0" cy="866775"/>
          </a:xfrm>
          <a:prstGeom prst="line">
            <a:avLst/>
          </a:prstGeom>
          <a:noFill/>
          <a:ln w="9525">
            <a:solidFill>
              <a:srgbClr val="FF33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71" name="Text Box 1115"/>
          <p:cNvSpPr txBox="1">
            <a:spLocks noChangeArrowheads="1"/>
          </p:cNvSpPr>
          <p:nvPr/>
        </p:nvSpPr>
        <p:spPr bwMode="auto">
          <a:xfrm>
            <a:off x="3870325" y="2403475"/>
            <a:ext cx="4828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USL</a:t>
            </a:r>
          </a:p>
        </p:txBody>
      </p:sp>
      <p:sp>
        <p:nvSpPr>
          <p:cNvPr id="301072" name="Line 1116"/>
          <p:cNvSpPr>
            <a:spLocks noChangeShapeType="1"/>
          </p:cNvSpPr>
          <p:nvPr/>
        </p:nvSpPr>
        <p:spPr bwMode="auto">
          <a:xfrm>
            <a:off x="1941513" y="2592388"/>
            <a:ext cx="0" cy="866775"/>
          </a:xfrm>
          <a:prstGeom prst="line">
            <a:avLst/>
          </a:prstGeom>
          <a:noFill/>
          <a:ln w="9525">
            <a:solidFill>
              <a:srgbClr val="FF33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73" name="Text Box 1117"/>
          <p:cNvSpPr txBox="1">
            <a:spLocks noChangeArrowheads="1"/>
          </p:cNvSpPr>
          <p:nvPr/>
        </p:nvSpPr>
        <p:spPr bwMode="auto">
          <a:xfrm>
            <a:off x="1709738" y="2403475"/>
            <a:ext cx="45717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arial" pitchFamily="34" charset="0"/>
                <a:ea typeface="맑은 고딕" pitchFamily="50" charset="-127"/>
              </a:rPr>
              <a:t>LSL</a:t>
            </a:r>
          </a:p>
        </p:txBody>
      </p:sp>
      <p:sp>
        <p:nvSpPr>
          <p:cNvPr id="301074" name="Freeform 1118"/>
          <p:cNvSpPr>
            <a:spLocks/>
          </p:cNvSpPr>
          <p:nvPr/>
        </p:nvSpPr>
        <p:spPr bwMode="auto">
          <a:xfrm>
            <a:off x="1093788" y="3317875"/>
            <a:ext cx="839787" cy="136525"/>
          </a:xfrm>
          <a:custGeom>
            <a:avLst/>
            <a:gdLst>
              <a:gd name="T0" fmla="*/ 0 w 524"/>
              <a:gd name="T1" fmla="*/ 2147483647 h 105"/>
              <a:gd name="T2" fmla="*/ 2147483647 w 524"/>
              <a:gd name="T3" fmla="*/ 2147483647 h 105"/>
              <a:gd name="T4" fmla="*/ 2147483647 w 524"/>
              <a:gd name="T5" fmla="*/ 2147483647 h 105"/>
              <a:gd name="T6" fmla="*/ 2147483647 w 524"/>
              <a:gd name="T7" fmla="*/ 2147483647 h 105"/>
              <a:gd name="T8" fmla="*/ 2147483647 w 524"/>
              <a:gd name="T9" fmla="*/ 2147483647 h 105"/>
              <a:gd name="T10" fmla="*/ 2147483647 w 524"/>
              <a:gd name="T11" fmla="*/ 2147483647 h 105"/>
              <a:gd name="T12" fmla="*/ 2147483647 w 524"/>
              <a:gd name="T13" fmla="*/ 0 h 105"/>
              <a:gd name="T14" fmla="*/ 2147483647 w 524"/>
              <a:gd name="T15" fmla="*/ 2147483647 h 105"/>
              <a:gd name="T16" fmla="*/ 0 w 524"/>
              <a:gd name="T17" fmla="*/ 2147483647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24" h="105">
                <a:moveTo>
                  <a:pt x="0" y="100"/>
                </a:moveTo>
                <a:lnTo>
                  <a:pt x="171" y="100"/>
                </a:lnTo>
                <a:lnTo>
                  <a:pt x="252" y="94"/>
                </a:lnTo>
                <a:lnTo>
                  <a:pt x="350" y="78"/>
                </a:lnTo>
                <a:lnTo>
                  <a:pt x="435" y="55"/>
                </a:lnTo>
                <a:lnTo>
                  <a:pt x="483" y="30"/>
                </a:lnTo>
                <a:lnTo>
                  <a:pt x="524" y="0"/>
                </a:lnTo>
                <a:lnTo>
                  <a:pt x="524" y="105"/>
                </a:lnTo>
                <a:lnTo>
                  <a:pt x="0" y="100"/>
                </a:lnTo>
                <a:close/>
              </a:path>
            </a:pathLst>
          </a:custGeom>
          <a:solidFill>
            <a:srgbClr val="FF3300"/>
          </a:solidFill>
          <a:ln w="9525">
            <a:solidFill>
              <a:srgbClr val="FF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75" name="Freeform 1119"/>
          <p:cNvSpPr>
            <a:spLocks/>
          </p:cNvSpPr>
          <p:nvPr/>
        </p:nvSpPr>
        <p:spPr bwMode="auto">
          <a:xfrm>
            <a:off x="4098925" y="3303588"/>
            <a:ext cx="839788" cy="155575"/>
          </a:xfrm>
          <a:custGeom>
            <a:avLst/>
            <a:gdLst>
              <a:gd name="T0" fmla="*/ 2147483647 w 524"/>
              <a:gd name="T1" fmla="*/ 2147483647 h 120"/>
              <a:gd name="T2" fmla="*/ 2147483647 w 524"/>
              <a:gd name="T3" fmla="*/ 2147483647 h 120"/>
              <a:gd name="T4" fmla="*/ 2147483647 w 524"/>
              <a:gd name="T5" fmla="*/ 2147483647 h 120"/>
              <a:gd name="T6" fmla="*/ 2147483647 w 524"/>
              <a:gd name="T7" fmla="*/ 2147483647 h 120"/>
              <a:gd name="T8" fmla="*/ 2147483647 w 524"/>
              <a:gd name="T9" fmla="*/ 2147483647 h 120"/>
              <a:gd name="T10" fmla="*/ 2147483647 w 524"/>
              <a:gd name="T11" fmla="*/ 2147483647 h 120"/>
              <a:gd name="T12" fmla="*/ 0 w 524"/>
              <a:gd name="T13" fmla="*/ 0 h 120"/>
              <a:gd name="T14" fmla="*/ 0 w 524"/>
              <a:gd name="T15" fmla="*/ 2147483647 h 120"/>
              <a:gd name="T16" fmla="*/ 2147483647 w 524"/>
              <a:gd name="T17" fmla="*/ 2147483647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24" h="120">
                <a:moveTo>
                  <a:pt x="524" y="115"/>
                </a:moveTo>
                <a:lnTo>
                  <a:pt x="354" y="110"/>
                </a:lnTo>
                <a:lnTo>
                  <a:pt x="266" y="99"/>
                </a:lnTo>
                <a:lnTo>
                  <a:pt x="180" y="87"/>
                </a:lnTo>
                <a:lnTo>
                  <a:pt x="104" y="62"/>
                </a:lnTo>
                <a:lnTo>
                  <a:pt x="45" y="30"/>
                </a:lnTo>
                <a:lnTo>
                  <a:pt x="0" y="0"/>
                </a:lnTo>
                <a:lnTo>
                  <a:pt x="0" y="120"/>
                </a:lnTo>
                <a:lnTo>
                  <a:pt x="524" y="115"/>
                </a:lnTo>
                <a:close/>
              </a:path>
            </a:pathLst>
          </a:custGeom>
          <a:solidFill>
            <a:srgbClr val="FF3300"/>
          </a:solidFill>
          <a:ln w="9525">
            <a:solidFill>
              <a:srgbClr val="FF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76" name="Line 1120"/>
          <p:cNvSpPr>
            <a:spLocks noChangeShapeType="1"/>
          </p:cNvSpPr>
          <p:nvPr/>
        </p:nvSpPr>
        <p:spPr bwMode="auto">
          <a:xfrm>
            <a:off x="939800" y="3459163"/>
            <a:ext cx="4468813" cy="0"/>
          </a:xfrm>
          <a:prstGeom prst="line">
            <a:avLst/>
          </a:prstGeom>
          <a:noFill/>
          <a:ln w="28575">
            <a:solidFill>
              <a:srgbClr val="0000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77" name="Oval 1121"/>
          <p:cNvSpPr>
            <a:spLocks noChangeArrowheads="1"/>
          </p:cNvSpPr>
          <p:nvPr/>
        </p:nvSpPr>
        <p:spPr bwMode="auto">
          <a:xfrm>
            <a:off x="939800" y="3197225"/>
            <a:ext cx="1233488" cy="376238"/>
          </a:xfrm>
          <a:prstGeom prst="ellipse">
            <a:avLst/>
          </a:prstGeom>
          <a:noFill/>
          <a:ln w="9525">
            <a:solidFill>
              <a:srgbClr val="FF3300"/>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01078" name="Text Box 1122"/>
          <p:cNvSpPr txBox="1">
            <a:spLocks noChangeArrowheads="1"/>
          </p:cNvSpPr>
          <p:nvPr/>
        </p:nvSpPr>
        <p:spPr bwMode="auto">
          <a:xfrm>
            <a:off x="5410200" y="1903413"/>
            <a:ext cx="719138" cy="390525"/>
          </a:xfrm>
          <a:prstGeom prst="rect">
            <a:avLst/>
          </a:prstGeom>
          <a:solidFill>
            <a:schemeClr val="tx2">
              <a:lumMod val="20000"/>
              <a:lumOff val="80000"/>
            </a:schemeClr>
          </a:solidFill>
          <a:ln w="9525">
            <a:solidFill>
              <a:schemeClr val="accent2"/>
            </a:solidFill>
            <a:miter lim="800000"/>
            <a:headEnd/>
            <a:tailEnd/>
          </a:ln>
          <a:effectLst>
            <a:outerShdw dist="35921" dir="2700000" algn="ctr" rotWithShape="0">
              <a:schemeClr val="bg2"/>
            </a:outerShdw>
          </a:effec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 P</a:t>
            </a:r>
            <a:r>
              <a:rPr lang="en-US" altLang="ko-KR" sz="1400" b="1" baseline="-25000" dirty="0">
                <a:latin typeface="arial" pitchFamily="34" charset="0"/>
                <a:ea typeface="맑은 고딕" pitchFamily="50" charset="-127"/>
              </a:rPr>
              <a:t>USL</a:t>
            </a:r>
            <a:endParaRPr lang="en-US" altLang="ko-KR" sz="1400" b="1" dirty="0">
              <a:latin typeface="arial" pitchFamily="34" charset="0"/>
              <a:ea typeface="맑은 고딕" pitchFamily="50" charset="-127"/>
            </a:endParaRPr>
          </a:p>
        </p:txBody>
      </p:sp>
      <p:sp>
        <p:nvSpPr>
          <p:cNvPr id="301079" name="Oval 1123"/>
          <p:cNvSpPr>
            <a:spLocks noChangeArrowheads="1"/>
          </p:cNvSpPr>
          <p:nvPr/>
        </p:nvSpPr>
        <p:spPr bwMode="auto">
          <a:xfrm>
            <a:off x="3868738" y="3197225"/>
            <a:ext cx="1231900" cy="376238"/>
          </a:xfrm>
          <a:prstGeom prst="ellipse">
            <a:avLst/>
          </a:prstGeom>
          <a:noFill/>
          <a:ln w="9525">
            <a:solidFill>
              <a:srgbClr val="FF3300"/>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cxnSp>
        <p:nvCxnSpPr>
          <p:cNvPr id="301080" name="AutoShape 1124"/>
          <p:cNvCxnSpPr>
            <a:cxnSpLocks noChangeShapeType="1"/>
            <a:stCxn id="301079" idx="0"/>
          </p:cNvCxnSpPr>
          <p:nvPr/>
        </p:nvCxnSpPr>
        <p:spPr bwMode="auto">
          <a:xfrm rot="5400000" flipH="1">
            <a:off x="4032251" y="2744787"/>
            <a:ext cx="901700" cy="3175"/>
          </a:xfrm>
          <a:prstGeom prst="curvedConnector3">
            <a:avLst>
              <a:gd name="adj1" fmla="val 50000"/>
            </a:avLst>
          </a:prstGeom>
          <a:noFill/>
          <a:ln w="9525">
            <a:solidFill>
              <a:schemeClr val="accent2"/>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1081" name="Text Box 1125"/>
          <p:cNvSpPr txBox="1">
            <a:spLocks noChangeArrowheads="1"/>
          </p:cNvSpPr>
          <p:nvPr/>
        </p:nvSpPr>
        <p:spPr bwMode="auto">
          <a:xfrm>
            <a:off x="1241425" y="2982913"/>
            <a:ext cx="53412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rPr>
              <a:t>3.0%</a:t>
            </a:r>
          </a:p>
        </p:txBody>
      </p:sp>
      <p:sp>
        <p:nvSpPr>
          <p:cNvPr id="301082" name="Text Box 1126"/>
          <p:cNvSpPr txBox="1">
            <a:spLocks noChangeArrowheads="1"/>
          </p:cNvSpPr>
          <p:nvPr/>
        </p:nvSpPr>
        <p:spPr bwMode="auto">
          <a:xfrm>
            <a:off x="4878388" y="3055938"/>
            <a:ext cx="53412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rPr>
              <a:t>4.5%</a:t>
            </a:r>
          </a:p>
        </p:txBody>
      </p:sp>
      <p:sp>
        <p:nvSpPr>
          <p:cNvPr id="301083" name="Line 1127"/>
          <p:cNvSpPr>
            <a:spLocks noChangeShapeType="1"/>
          </p:cNvSpPr>
          <p:nvPr/>
        </p:nvSpPr>
        <p:spPr bwMode="auto">
          <a:xfrm>
            <a:off x="6410325" y="3808413"/>
            <a:ext cx="0" cy="1509712"/>
          </a:xfrm>
          <a:prstGeom prst="line">
            <a:avLst/>
          </a:prstGeom>
          <a:noFill/>
          <a:ln w="19050">
            <a:solidFill>
              <a:schemeClr val="accent2"/>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4" name="Group 1128"/>
          <p:cNvGrpSpPr>
            <a:grpSpLocks/>
          </p:cNvGrpSpPr>
          <p:nvPr/>
        </p:nvGrpSpPr>
        <p:grpSpPr bwMode="auto">
          <a:xfrm>
            <a:off x="4503738" y="3922713"/>
            <a:ext cx="3833812" cy="1387475"/>
            <a:chOff x="554" y="2928"/>
            <a:chExt cx="1950" cy="870"/>
          </a:xfrm>
        </p:grpSpPr>
        <p:sp>
          <p:nvSpPr>
            <p:cNvPr id="301107" name="Line 1129"/>
            <p:cNvSpPr>
              <a:spLocks noChangeShapeType="1"/>
            </p:cNvSpPr>
            <p:nvPr/>
          </p:nvSpPr>
          <p:spPr bwMode="auto">
            <a:xfrm flipV="1">
              <a:off x="554" y="3796"/>
              <a:ext cx="25" cy="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08" name="Line 1130"/>
            <p:cNvSpPr>
              <a:spLocks noChangeShapeType="1"/>
            </p:cNvSpPr>
            <p:nvPr/>
          </p:nvSpPr>
          <p:spPr bwMode="auto">
            <a:xfrm>
              <a:off x="579" y="3796"/>
              <a:ext cx="25" cy="0"/>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09" name="Line 1131"/>
            <p:cNvSpPr>
              <a:spLocks noChangeShapeType="1"/>
            </p:cNvSpPr>
            <p:nvPr/>
          </p:nvSpPr>
          <p:spPr bwMode="auto">
            <a:xfrm>
              <a:off x="604" y="3796"/>
              <a:ext cx="25" cy="0"/>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0" name="Line 1132"/>
            <p:cNvSpPr>
              <a:spLocks noChangeShapeType="1"/>
            </p:cNvSpPr>
            <p:nvPr/>
          </p:nvSpPr>
          <p:spPr bwMode="auto">
            <a:xfrm flipV="1">
              <a:off x="629" y="3794"/>
              <a:ext cx="26" cy="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1" name="Line 1133"/>
            <p:cNvSpPr>
              <a:spLocks noChangeShapeType="1"/>
            </p:cNvSpPr>
            <p:nvPr/>
          </p:nvSpPr>
          <p:spPr bwMode="auto">
            <a:xfrm>
              <a:off x="655" y="3794"/>
              <a:ext cx="28" cy="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2" name="Line 1134"/>
            <p:cNvSpPr>
              <a:spLocks noChangeShapeType="1"/>
            </p:cNvSpPr>
            <p:nvPr/>
          </p:nvSpPr>
          <p:spPr bwMode="auto">
            <a:xfrm flipV="1">
              <a:off x="683" y="3792"/>
              <a:ext cx="25" cy="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3" name="Line 1135"/>
            <p:cNvSpPr>
              <a:spLocks noChangeShapeType="1"/>
            </p:cNvSpPr>
            <p:nvPr/>
          </p:nvSpPr>
          <p:spPr bwMode="auto">
            <a:xfrm flipV="1">
              <a:off x="708" y="3791"/>
              <a:ext cx="25" cy="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4" name="Line 1136"/>
            <p:cNvSpPr>
              <a:spLocks noChangeShapeType="1"/>
            </p:cNvSpPr>
            <p:nvPr/>
          </p:nvSpPr>
          <p:spPr bwMode="auto">
            <a:xfrm flipV="1">
              <a:off x="733" y="3787"/>
              <a:ext cx="26" cy="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5" name="Line 1137"/>
            <p:cNvSpPr>
              <a:spLocks noChangeShapeType="1"/>
            </p:cNvSpPr>
            <p:nvPr/>
          </p:nvSpPr>
          <p:spPr bwMode="auto">
            <a:xfrm flipV="1">
              <a:off x="759" y="3784"/>
              <a:ext cx="25" cy="3"/>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6" name="Line 1138"/>
            <p:cNvSpPr>
              <a:spLocks noChangeShapeType="1"/>
            </p:cNvSpPr>
            <p:nvPr/>
          </p:nvSpPr>
          <p:spPr bwMode="auto">
            <a:xfrm flipV="1">
              <a:off x="784" y="3780"/>
              <a:ext cx="25" cy="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7" name="Line 1139"/>
            <p:cNvSpPr>
              <a:spLocks noChangeShapeType="1"/>
            </p:cNvSpPr>
            <p:nvPr/>
          </p:nvSpPr>
          <p:spPr bwMode="auto">
            <a:xfrm flipV="1">
              <a:off x="809" y="3775"/>
              <a:ext cx="26" cy="5"/>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8" name="Line 1140"/>
            <p:cNvSpPr>
              <a:spLocks noChangeShapeType="1"/>
            </p:cNvSpPr>
            <p:nvPr/>
          </p:nvSpPr>
          <p:spPr bwMode="auto">
            <a:xfrm flipV="1">
              <a:off x="835" y="3768"/>
              <a:ext cx="28" cy="7"/>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19" name="Line 1141"/>
            <p:cNvSpPr>
              <a:spLocks noChangeShapeType="1"/>
            </p:cNvSpPr>
            <p:nvPr/>
          </p:nvSpPr>
          <p:spPr bwMode="auto">
            <a:xfrm flipV="1">
              <a:off x="863" y="3760"/>
              <a:ext cx="25" cy="8"/>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0" name="Line 1142"/>
            <p:cNvSpPr>
              <a:spLocks noChangeShapeType="1"/>
            </p:cNvSpPr>
            <p:nvPr/>
          </p:nvSpPr>
          <p:spPr bwMode="auto">
            <a:xfrm flipV="1">
              <a:off x="888" y="3749"/>
              <a:ext cx="25" cy="1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1" name="Line 1143"/>
            <p:cNvSpPr>
              <a:spLocks noChangeShapeType="1"/>
            </p:cNvSpPr>
            <p:nvPr/>
          </p:nvSpPr>
          <p:spPr bwMode="auto">
            <a:xfrm flipV="1">
              <a:off x="913" y="3736"/>
              <a:ext cx="26" cy="13"/>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2" name="Line 1144"/>
            <p:cNvSpPr>
              <a:spLocks noChangeShapeType="1"/>
            </p:cNvSpPr>
            <p:nvPr/>
          </p:nvSpPr>
          <p:spPr bwMode="auto">
            <a:xfrm flipV="1">
              <a:off x="939" y="3720"/>
              <a:ext cx="24" cy="16"/>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3" name="Line 1145"/>
            <p:cNvSpPr>
              <a:spLocks noChangeShapeType="1"/>
            </p:cNvSpPr>
            <p:nvPr/>
          </p:nvSpPr>
          <p:spPr bwMode="auto">
            <a:xfrm flipV="1">
              <a:off x="963" y="3701"/>
              <a:ext cx="26" cy="19"/>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4" name="Line 1146"/>
            <p:cNvSpPr>
              <a:spLocks noChangeShapeType="1"/>
            </p:cNvSpPr>
            <p:nvPr/>
          </p:nvSpPr>
          <p:spPr bwMode="auto">
            <a:xfrm flipV="1">
              <a:off x="989" y="3679"/>
              <a:ext cx="28" cy="2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5" name="Line 1147"/>
            <p:cNvSpPr>
              <a:spLocks noChangeShapeType="1"/>
            </p:cNvSpPr>
            <p:nvPr/>
          </p:nvSpPr>
          <p:spPr bwMode="auto">
            <a:xfrm flipV="1">
              <a:off x="1017" y="3655"/>
              <a:ext cx="25" cy="2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6" name="Line 1148"/>
            <p:cNvSpPr>
              <a:spLocks noChangeShapeType="1"/>
            </p:cNvSpPr>
            <p:nvPr/>
          </p:nvSpPr>
          <p:spPr bwMode="auto">
            <a:xfrm flipV="1">
              <a:off x="1042" y="3626"/>
              <a:ext cx="26" cy="29"/>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7" name="Line 1149"/>
            <p:cNvSpPr>
              <a:spLocks noChangeShapeType="1"/>
            </p:cNvSpPr>
            <p:nvPr/>
          </p:nvSpPr>
          <p:spPr bwMode="auto">
            <a:xfrm flipV="1">
              <a:off x="1068" y="3592"/>
              <a:ext cx="25" cy="3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8" name="Line 1150"/>
            <p:cNvSpPr>
              <a:spLocks noChangeShapeType="1"/>
            </p:cNvSpPr>
            <p:nvPr/>
          </p:nvSpPr>
          <p:spPr bwMode="auto">
            <a:xfrm flipV="1">
              <a:off x="1093" y="3555"/>
              <a:ext cx="25" cy="37"/>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29" name="Line 1151"/>
            <p:cNvSpPr>
              <a:spLocks noChangeShapeType="1"/>
            </p:cNvSpPr>
            <p:nvPr/>
          </p:nvSpPr>
          <p:spPr bwMode="auto">
            <a:xfrm flipV="1">
              <a:off x="1118" y="3514"/>
              <a:ext cx="26" cy="4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0" name="Line 1152"/>
            <p:cNvSpPr>
              <a:spLocks noChangeShapeType="1"/>
            </p:cNvSpPr>
            <p:nvPr/>
          </p:nvSpPr>
          <p:spPr bwMode="auto">
            <a:xfrm flipV="1">
              <a:off x="1144" y="3472"/>
              <a:ext cx="24" cy="4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1" name="Line 1153"/>
            <p:cNvSpPr>
              <a:spLocks noChangeShapeType="1"/>
            </p:cNvSpPr>
            <p:nvPr/>
          </p:nvSpPr>
          <p:spPr bwMode="auto">
            <a:xfrm flipV="1">
              <a:off x="1168" y="3424"/>
              <a:ext cx="29" cy="48"/>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2" name="Line 1154"/>
            <p:cNvSpPr>
              <a:spLocks noChangeShapeType="1"/>
            </p:cNvSpPr>
            <p:nvPr/>
          </p:nvSpPr>
          <p:spPr bwMode="auto">
            <a:xfrm flipV="1">
              <a:off x="1197" y="3374"/>
              <a:ext cx="25" cy="50"/>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3" name="Line 1155"/>
            <p:cNvSpPr>
              <a:spLocks noChangeShapeType="1"/>
            </p:cNvSpPr>
            <p:nvPr/>
          </p:nvSpPr>
          <p:spPr bwMode="auto">
            <a:xfrm flipV="1">
              <a:off x="1222" y="3322"/>
              <a:ext cx="26" cy="5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4" name="Line 1156"/>
            <p:cNvSpPr>
              <a:spLocks noChangeShapeType="1"/>
            </p:cNvSpPr>
            <p:nvPr/>
          </p:nvSpPr>
          <p:spPr bwMode="auto">
            <a:xfrm flipV="1">
              <a:off x="1248" y="3269"/>
              <a:ext cx="24" cy="53"/>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5" name="Line 1157"/>
            <p:cNvSpPr>
              <a:spLocks noChangeShapeType="1"/>
            </p:cNvSpPr>
            <p:nvPr/>
          </p:nvSpPr>
          <p:spPr bwMode="auto">
            <a:xfrm flipV="1">
              <a:off x="1272" y="3218"/>
              <a:ext cx="26" cy="5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6" name="Line 1158"/>
            <p:cNvSpPr>
              <a:spLocks noChangeShapeType="1"/>
            </p:cNvSpPr>
            <p:nvPr/>
          </p:nvSpPr>
          <p:spPr bwMode="auto">
            <a:xfrm flipV="1">
              <a:off x="1298" y="3166"/>
              <a:ext cx="25" cy="5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7" name="Line 1159"/>
            <p:cNvSpPr>
              <a:spLocks noChangeShapeType="1"/>
            </p:cNvSpPr>
            <p:nvPr/>
          </p:nvSpPr>
          <p:spPr bwMode="auto">
            <a:xfrm flipV="1">
              <a:off x="1323" y="3116"/>
              <a:ext cx="25" cy="50"/>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8" name="Line 1160"/>
            <p:cNvSpPr>
              <a:spLocks noChangeShapeType="1"/>
            </p:cNvSpPr>
            <p:nvPr/>
          </p:nvSpPr>
          <p:spPr bwMode="auto">
            <a:xfrm flipV="1">
              <a:off x="1348" y="3070"/>
              <a:ext cx="29" cy="46"/>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39" name="Line 1161"/>
            <p:cNvSpPr>
              <a:spLocks noChangeShapeType="1"/>
            </p:cNvSpPr>
            <p:nvPr/>
          </p:nvSpPr>
          <p:spPr bwMode="auto">
            <a:xfrm flipV="1">
              <a:off x="1377" y="3029"/>
              <a:ext cx="25" cy="4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0" name="Line 1162"/>
            <p:cNvSpPr>
              <a:spLocks noChangeShapeType="1"/>
            </p:cNvSpPr>
            <p:nvPr/>
          </p:nvSpPr>
          <p:spPr bwMode="auto">
            <a:xfrm flipV="1">
              <a:off x="1402" y="2995"/>
              <a:ext cx="25" cy="3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1" name="Line 1163"/>
            <p:cNvSpPr>
              <a:spLocks noChangeShapeType="1"/>
            </p:cNvSpPr>
            <p:nvPr/>
          </p:nvSpPr>
          <p:spPr bwMode="auto">
            <a:xfrm flipV="1">
              <a:off x="1427" y="2966"/>
              <a:ext cx="25" cy="29"/>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2" name="Line 1164"/>
            <p:cNvSpPr>
              <a:spLocks noChangeShapeType="1"/>
            </p:cNvSpPr>
            <p:nvPr/>
          </p:nvSpPr>
          <p:spPr bwMode="auto">
            <a:xfrm flipV="1">
              <a:off x="1452" y="2945"/>
              <a:ext cx="25" cy="2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3" name="Line 1165"/>
            <p:cNvSpPr>
              <a:spLocks noChangeShapeType="1"/>
            </p:cNvSpPr>
            <p:nvPr/>
          </p:nvSpPr>
          <p:spPr bwMode="auto">
            <a:xfrm flipV="1">
              <a:off x="1477" y="2931"/>
              <a:ext cx="26" cy="1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4" name="Line 1166"/>
            <p:cNvSpPr>
              <a:spLocks noChangeShapeType="1"/>
            </p:cNvSpPr>
            <p:nvPr/>
          </p:nvSpPr>
          <p:spPr bwMode="auto">
            <a:xfrm flipV="1">
              <a:off x="1503" y="2928"/>
              <a:ext cx="28" cy="3"/>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5" name="Line 1167"/>
            <p:cNvSpPr>
              <a:spLocks noChangeShapeType="1"/>
            </p:cNvSpPr>
            <p:nvPr/>
          </p:nvSpPr>
          <p:spPr bwMode="auto">
            <a:xfrm>
              <a:off x="1531" y="2928"/>
              <a:ext cx="26" cy="3"/>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6" name="Line 1168"/>
            <p:cNvSpPr>
              <a:spLocks noChangeShapeType="1"/>
            </p:cNvSpPr>
            <p:nvPr/>
          </p:nvSpPr>
          <p:spPr bwMode="auto">
            <a:xfrm>
              <a:off x="1557" y="2931"/>
              <a:ext cx="24" cy="1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7" name="Line 1169"/>
            <p:cNvSpPr>
              <a:spLocks noChangeShapeType="1"/>
            </p:cNvSpPr>
            <p:nvPr/>
          </p:nvSpPr>
          <p:spPr bwMode="auto">
            <a:xfrm>
              <a:off x="1581" y="2945"/>
              <a:ext cx="26" cy="2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8" name="Line 1170"/>
            <p:cNvSpPr>
              <a:spLocks noChangeShapeType="1"/>
            </p:cNvSpPr>
            <p:nvPr/>
          </p:nvSpPr>
          <p:spPr bwMode="auto">
            <a:xfrm>
              <a:off x="1607" y="2966"/>
              <a:ext cx="25" cy="29"/>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49" name="Line 1171"/>
            <p:cNvSpPr>
              <a:spLocks noChangeShapeType="1"/>
            </p:cNvSpPr>
            <p:nvPr/>
          </p:nvSpPr>
          <p:spPr bwMode="auto">
            <a:xfrm>
              <a:off x="1632" y="2995"/>
              <a:ext cx="25" cy="3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0" name="Line 1172"/>
            <p:cNvSpPr>
              <a:spLocks noChangeShapeType="1"/>
            </p:cNvSpPr>
            <p:nvPr/>
          </p:nvSpPr>
          <p:spPr bwMode="auto">
            <a:xfrm>
              <a:off x="1657" y="3029"/>
              <a:ext cx="25" cy="4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1" name="Line 1173"/>
            <p:cNvSpPr>
              <a:spLocks noChangeShapeType="1"/>
            </p:cNvSpPr>
            <p:nvPr/>
          </p:nvSpPr>
          <p:spPr bwMode="auto">
            <a:xfrm>
              <a:off x="1682" y="3070"/>
              <a:ext cx="29" cy="46"/>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2" name="Line 1174"/>
            <p:cNvSpPr>
              <a:spLocks noChangeShapeType="1"/>
            </p:cNvSpPr>
            <p:nvPr/>
          </p:nvSpPr>
          <p:spPr bwMode="auto">
            <a:xfrm>
              <a:off x="1711" y="3116"/>
              <a:ext cx="25" cy="50"/>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3" name="Line 1175"/>
            <p:cNvSpPr>
              <a:spLocks noChangeShapeType="1"/>
            </p:cNvSpPr>
            <p:nvPr/>
          </p:nvSpPr>
          <p:spPr bwMode="auto">
            <a:xfrm>
              <a:off x="1736" y="3166"/>
              <a:ext cx="25" cy="5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4" name="Line 1176"/>
            <p:cNvSpPr>
              <a:spLocks noChangeShapeType="1"/>
            </p:cNvSpPr>
            <p:nvPr/>
          </p:nvSpPr>
          <p:spPr bwMode="auto">
            <a:xfrm>
              <a:off x="1761" y="3218"/>
              <a:ext cx="25" cy="5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5" name="Line 1177"/>
            <p:cNvSpPr>
              <a:spLocks noChangeShapeType="1"/>
            </p:cNvSpPr>
            <p:nvPr/>
          </p:nvSpPr>
          <p:spPr bwMode="auto">
            <a:xfrm>
              <a:off x="1786" y="3269"/>
              <a:ext cx="26" cy="53"/>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6" name="Line 1178"/>
            <p:cNvSpPr>
              <a:spLocks noChangeShapeType="1"/>
            </p:cNvSpPr>
            <p:nvPr/>
          </p:nvSpPr>
          <p:spPr bwMode="auto">
            <a:xfrm>
              <a:off x="1812" y="3322"/>
              <a:ext cx="24" cy="5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7" name="Line 1179"/>
            <p:cNvSpPr>
              <a:spLocks noChangeShapeType="1"/>
            </p:cNvSpPr>
            <p:nvPr/>
          </p:nvSpPr>
          <p:spPr bwMode="auto">
            <a:xfrm>
              <a:off x="1836" y="3374"/>
              <a:ext cx="26" cy="50"/>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8" name="Line 1180"/>
            <p:cNvSpPr>
              <a:spLocks noChangeShapeType="1"/>
            </p:cNvSpPr>
            <p:nvPr/>
          </p:nvSpPr>
          <p:spPr bwMode="auto">
            <a:xfrm>
              <a:off x="1862" y="3424"/>
              <a:ext cx="28" cy="48"/>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59" name="Line 1181"/>
            <p:cNvSpPr>
              <a:spLocks noChangeShapeType="1"/>
            </p:cNvSpPr>
            <p:nvPr/>
          </p:nvSpPr>
          <p:spPr bwMode="auto">
            <a:xfrm>
              <a:off x="1890" y="3472"/>
              <a:ext cx="26" cy="4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0" name="Line 1182"/>
            <p:cNvSpPr>
              <a:spLocks noChangeShapeType="1"/>
            </p:cNvSpPr>
            <p:nvPr/>
          </p:nvSpPr>
          <p:spPr bwMode="auto">
            <a:xfrm>
              <a:off x="1916" y="3514"/>
              <a:ext cx="24" cy="4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1" name="Line 1183"/>
            <p:cNvSpPr>
              <a:spLocks noChangeShapeType="1"/>
            </p:cNvSpPr>
            <p:nvPr/>
          </p:nvSpPr>
          <p:spPr bwMode="auto">
            <a:xfrm>
              <a:off x="1940" y="3555"/>
              <a:ext cx="26" cy="37"/>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2" name="Line 1184"/>
            <p:cNvSpPr>
              <a:spLocks noChangeShapeType="1"/>
            </p:cNvSpPr>
            <p:nvPr/>
          </p:nvSpPr>
          <p:spPr bwMode="auto">
            <a:xfrm>
              <a:off x="1966" y="3592"/>
              <a:ext cx="25" cy="3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3" name="Line 1185"/>
            <p:cNvSpPr>
              <a:spLocks noChangeShapeType="1"/>
            </p:cNvSpPr>
            <p:nvPr/>
          </p:nvSpPr>
          <p:spPr bwMode="auto">
            <a:xfrm>
              <a:off x="1991" y="3626"/>
              <a:ext cx="25" cy="29"/>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4" name="Line 1186"/>
            <p:cNvSpPr>
              <a:spLocks noChangeShapeType="1"/>
            </p:cNvSpPr>
            <p:nvPr/>
          </p:nvSpPr>
          <p:spPr bwMode="auto">
            <a:xfrm>
              <a:off x="2016" y="3655"/>
              <a:ext cx="25" cy="2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5" name="Line 1187"/>
            <p:cNvSpPr>
              <a:spLocks noChangeShapeType="1"/>
            </p:cNvSpPr>
            <p:nvPr/>
          </p:nvSpPr>
          <p:spPr bwMode="auto">
            <a:xfrm>
              <a:off x="2041" y="3679"/>
              <a:ext cx="29" cy="2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6" name="Line 1188"/>
            <p:cNvSpPr>
              <a:spLocks noChangeShapeType="1"/>
            </p:cNvSpPr>
            <p:nvPr/>
          </p:nvSpPr>
          <p:spPr bwMode="auto">
            <a:xfrm>
              <a:off x="2070" y="3701"/>
              <a:ext cx="25" cy="19"/>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7" name="Line 1189"/>
            <p:cNvSpPr>
              <a:spLocks noChangeShapeType="1"/>
            </p:cNvSpPr>
            <p:nvPr/>
          </p:nvSpPr>
          <p:spPr bwMode="auto">
            <a:xfrm>
              <a:off x="2095" y="3720"/>
              <a:ext cx="26" cy="16"/>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8" name="Line 1190"/>
            <p:cNvSpPr>
              <a:spLocks noChangeShapeType="1"/>
            </p:cNvSpPr>
            <p:nvPr/>
          </p:nvSpPr>
          <p:spPr bwMode="auto">
            <a:xfrm>
              <a:off x="2121" y="3736"/>
              <a:ext cx="24" cy="13"/>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69" name="Line 1191"/>
            <p:cNvSpPr>
              <a:spLocks noChangeShapeType="1"/>
            </p:cNvSpPr>
            <p:nvPr/>
          </p:nvSpPr>
          <p:spPr bwMode="auto">
            <a:xfrm>
              <a:off x="2145" y="3749"/>
              <a:ext cx="26" cy="1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0" name="Line 1192"/>
            <p:cNvSpPr>
              <a:spLocks noChangeShapeType="1"/>
            </p:cNvSpPr>
            <p:nvPr/>
          </p:nvSpPr>
          <p:spPr bwMode="auto">
            <a:xfrm>
              <a:off x="2171" y="3760"/>
              <a:ext cx="24" cy="8"/>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1" name="Line 1193"/>
            <p:cNvSpPr>
              <a:spLocks noChangeShapeType="1"/>
            </p:cNvSpPr>
            <p:nvPr/>
          </p:nvSpPr>
          <p:spPr bwMode="auto">
            <a:xfrm>
              <a:off x="2195" y="3768"/>
              <a:ext cx="30" cy="7"/>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2" name="Line 1194"/>
            <p:cNvSpPr>
              <a:spLocks noChangeShapeType="1"/>
            </p:cNvSpPr>
            <p:nvPr/>
          </p:nvSpPr>
          <p:spPr bwMode="auto">
            <a:xfrm>
              <a:off x="2225" y="3775"/>
              <a:ext cx="24" cy="5"/>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3" name="Line 1195"/>
            <p:cNvSpPr>
              <a:spLocks noChangeShapeType="1"/>
            </p:cNvSpPr>
            <p:nvPr/>
          </p:nvSpPr>
          <p:spPr bwMode="auto">
            <a:xfrm>
              <a:off x="2249" y="3780"/>
              <a:ext cx="26" cy="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4" name="Line 1196"/>
            <p:cNvSpPr>
              <a:spLocks noChangeShapeType="1"/>
            </p:cNvSpPr>
            <p:nvPr/>
          </p:nvSpPr>
          <p:spPr bwMode="auto">
            <a:xfrm>
              <a:off x="2275" y="3784"/>
              <a:ext cx="25" cy="3"/>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5" name="Line 1197"/>
            <p:cNvSpPr>
              <a:spLocks noChangeShapeType="1"/>
            </p:cNvSpPr>
            <p:nvPr/>
          </p:nvSpPr>
          <p:spPr bwMode="auto">
            <a:xfrm>
              <a:off x="2300" y="3787"/>
              <a:ext cx="25" cy="4"/>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6" name="Line 1198"/>
            <p:cNvSpPr>
              <a:spLocks noChangeShapeType="1"/>
            </p:cNvSpPr>
            <p:nvPr/>
          </p:nvSpPr>
          <p:spPr bwMode="auto">
            <a:xfrm>
              <a:off x="2325" y="3791"/>
              <a:ext cx="25" cy="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7" name="Line 1199"/>
            <p:cNvSpPr>
              <a:spLocks noChangeShapeType="1"/>
            </p:cNvSpPr>
            <p:nvPr/>
          </p:nvSpPr>
          <p:spPr bwMode="auto">
            <a:xfrm>
              <a:off x="2350" y="3792"/>
              <a:ext cx="26" cy="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8" name="Line 1200"/>
            <p:cNvSpPr>
              <a:spLocks noChangeShapeType="1"/>
            </p:cNvSpPr>
            <p:nvPr/>
          </p:nvSpPr>
          <p:spPr bwMode="auto">
            <a:xfrm>
              <a:off x="2376" y="3794"/>
              <a:ext cx="28" cy="1"/>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79" name="Line 1201"/>
            <p:cNvSpPr>
              <a:spLocks noChangeShapeType="1"/>
            </p:cNvSpPr>
            <p:nvPr/>
          </p:nvSpPr>
          <p:spPr bwMode="auto">
            <a:xfrm>
              <a:off x="2404" y="3794"/>
              <a:ext cx="25" cy="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80" name="Line 1202"/>
            <p:cNvSpPr>
              <a:spLocks noChangeShapeType="1"/>
            </p:cNvSpPr>
            <p:nvPr/>
          </p:nvSpPr>
          <p:spPr bwMode="auto">
            <a:xfrm>
              <a:off x="2429" y="3796"/>
              <a:ext cx="25" cy="0"/>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81" name="Line 1203"/>
            <p:cNvSpPr>
              <a:spLocks noChangeShapeType="1"/>
            </p:cNvSpPr>
            <p:nvPr/>
          </p:nvSpPr>
          <p:spPr bwMode="auto">
            <a:xfrm>
              <a:off x="2454" y="3796"/>
              <a:ext cx="26" cy="0"/>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182" name="Line 1204"/>
            <p:cNvSpPr>
              <a:spLocks noChangeShapeType="1"/>
            </p:cNvSpPr>
            <p:nvPr/>
          </p:nvSpPr>
          <p:spPr bwMode="auto">
            <a:xfrm>
              <a:off x="2480" y="3796"/>
              <a:ext cx="24" cy="2"/>
            </a:xfrm>
            <a:prstGeom prst="line">
              <a:avLst/>
            </a:prstGeom>
            <a:noFill/>
            <a:ln w="28575">
              <a:solidFill>
                <a:schemeClr val="accent2"/>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301085" name="Text Box 1205"/>
          <p:cNvSpPr txBox="1">
            <a:spLocks noChangeArrowheads="1"/>
          </p:cNvSpPr>
          <p:nvPr/>
        </p:nvSpPr>
        <p:spPr bwMode="auto">
          <a:xfrm>
            <a:off x="6273800" y="5276850"/>
            <a:ext cx="29051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a:latin typeface="arial" pitchFamily="34" charset="0"/>
                <a:ea typeface="맑은 고딕" pitchFamily="50" charset="-127"/>
              </a:rPr>
              <a:t>μ</a:t>
            </a:r>
          </a:p>
        </p:txBody>
      </p:sp>
      <p:sp>
        <p:nvSpPr>
          <p:cNvPr id="301086" name="Text Box 1206"/>
          <p:cNvSpPr txBox="1">
            <a:spLocks noChangeArrowheads="1"/>
          </p:cNvSpPr>
          <p:nvPr/>
        </p:nvSpPr>
        <p:spPr bwMode="auto">
          <a:xfrm>
            <a:off x="6899275" y="5373688"/>
            <a:ext cx="6351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a:latin typeface="arial" pitchFamily="34" charset="0"/>
                <a:ea typeface="맑은 고딕" pitchFamily="50" charset="-127"/>
              </a:rPr>
              <a:t>Z</a:t>
            </a:r>
            <a:r>
              <a:rPr lang="en-US" altLang="ko-KR" sz="1400" baseline="-25000" dirty="0">
                <a:latin typeface="arial" pitchFamily="34" charset="0"/>
                <a:ea typeface="맑은 고딕" pitchFamily="50" charset="-127"/>
              </a:rPr>
              <a:t>Bench</a:t>
            </a:r>
          </a:p>
        </p:txBody>
      </p:sp>
      <p:sp>
        <p:nvSpPr>
          <p:cNvPr id="301087" name="Freeform 1207"/>
          <p:cNvSpPr>
            <a:spLocks/>
          </p:cNvSpPr>
          <p:nvPr/>
        </p:nvSpPr>
        <p:spPr bwMode="auto">
          <a:xfrm>
            <a:off x="7258050" y="4965700"/>
            <a:ext cx="1071563" cy="346075"/>
          </a:xfrm>
          <a:custGeom>
            <a:avLst/>
            <a:gdLst>
              <a:gd name="T0" fmla="*/ 2147483647 w 668"/>
              <a:gd name="T1" fmla="*/ 2147483647 h 265"/>
              <a:gd name="T2" fmla="*/ 2147483647 w 668"/>
              <a:gd name="T3" fmla="*/ 2147483647 h 265"/>
              <a:gd name="T4" fmla="*/ 2147483647 w 668"/>
              <a:gd name="T5" fmla="*/ 2147483647 h 265"/>
              <a:gd name="T6" fmla="*/ 2147483647 w 668"/>
              <a:gd name="T7" fmla="*/ 2147483647 h 265"/>
              <a:gd name="T8" fmla="*/ 2147483647 w 668"/>
              <a:gd name="T9" fmla="*/ 2147483647 h 265"/>
              <a:gd name="T10" fmla="*/ 2147483647 w 668"/>
              <a:gd name="T11" fmla="*/ 2147483647 h 265"/>
              <a:gd name="T12" fmla="*/ 2147483647 w 668"/>
              <a:gd name="T13" fmla="*/ 2147483647 h 265"/>
              <a:gd name="T14" fmla="*/ 2147483647 w 668"/>
              <a:gd name="T15" fmla="*/ 0 h 265"/>
              <a:gd name="T16" fmla="*/ 0 w 668"/>
              <a:gd name="T17" fmla="*/ 2147483647 h 265"/>
              <a:gd name="T18" fmla="*/ 2147483647 w 668"/>
              <a:gd name="T19" fmla="*/ 2147483647 h 2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8" h="265">
                <a:moveTo>
                  <a:pt x="668" y="265"/>
                </a:moveTo>
                <a:lnTo>
                  <a:pt x="498" y="260"/>
                </a:lnTo>
                <a:lnTo>
                  <a:pt x="410" y="249"/>
                </a:lnTo>
                <a:lnTo>
                  <a:pt x="324" y="237"/>
                </a:lnTo>
                <a:lnTo>
                  <a:pt x="248" y="212"/>
                </a:lnTo>
                <a:lnTo>
                  <a:pt x="189" y="180"/>
                </a:lnTo>
                <a:lnTo>
                  <a:pt x="72" y="99"/>
                </a:lnTo>
                <a:lnTo>
                  <a:pt x="2" y="0"/>
                </a:lnTo>
                <a:lnTo>
                  <a:pt x="0" y="264"/>
                </a:lnTo>
                <a:lnTo>
                  <a:pt x="668" y="265"/>
                </a:lnTo>
                <a:close/>
              </a:path>
            </a:pathLst>
          </a:custGeom>
          <a:solidFill>
            <a:srgbClr val="99FF99"/>
          </a:solidFill>
          <a:ln w="9525">
            <a:solidFill>
              <a:srgbClr val="99FF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88" name="Oval 1208"/>
          <p:cNvSpPr>
            <a:spLocks noChangeArrowheads="1"/>
          </p:cNvSpPr>
          <p:nvPr/>
        </p:nvSpPr>
        <p:spPr bwMode="auto">
          <a:xfrm>
            <a:off x="6872288" y="4892675"/>
            <a:ext cx="1773237" cy="565150"/>
          </a:xfrm>
          <a:prstGeom prst="ellipse">
            <a:avLst/>
          </a:prstGeom>
          <a:noFill/>
          <a:ln w="9525">
            <a:solidFill>
              <a:srgbClr val="006666"/>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01089" name="Text Box 1209"/>
          <p:cNvSpPr txBox="1">
            <a:spLocks noChangeArrowheads="1"/>
          </p:cNvSpPr>
          <p:nvPr/>
        </p:nvSpPr>
        <p:spPr bwMode="auto">
          <a:xfrm>
            <a:off x="6805613" y="3516313"/>
            <a:ext cx="1081087" cy="604837"/>
          </a:xfrm>
          <a:prstGeom prst="rect">
            <a:avLst/>
          </a:prstGeom>
          <a:solidFill>
            <a:schemeClr val="bg1"/>
          </a:solidFill>
          <a:ln w="9525">
            <a:solidFill>
              <a:schemeClr val="bg2"/>
            </a:solidFill>
            <a:miter lim="800000"/>
            <a:headEnd/>
            <a:tailEnd/>
          </a:ln>
          <a:effectLst>
            <a:outerShdw dist="35921" dir="2700000" algn="ctr" rotWithShape="0">
              <a:srgbClr val="808080"/>
            </a:outerShdw>
          </a:effec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Aft>
                <a:spcPct val="50000"/>
              </a:spcAft>
              <a:buFontTx/>
              <a:buChar char="•"/>
            </a:pPr>
            <a:r>
              <a:rPr lang="en-US" altLang="ko-KR" sz="1200" b="1" dirty="0">
                <a:latin typeface="arial" pitchFamily="34" charset="0"/>
                <a:ea typeface="맑은 고딕" pitchFamily="50" charset="-127"/>
              </a:rPr>
              <a:t>P</a:t>
            </a:r>
            <a:r>
              <a:rPr lang="en-US" altLang="ko-KR" sz="1200" b="1" baseline="-25000" dirty="0">
                <a:latin typeface="arial" pitchFamily="34" charset="0"/>
                <a:ea typeface="맑은 고딕" pitchFamily="50" charset="-127"/>
              </a:rPr>
              <a:t>TOTAL</a:t>
            </a:r>
            <a:r>
              <a:rPr lang="en-US" altLang="ko-KR" sz="1200" b="1" dirty="0">
                <a:latin typeface="arial" pitchFamily="34" charset="0"/>
                <a:ea typeface="맑은 고딕" pitchFamily="50" charset="-127"/>
              </a:rPr>
              <a:t> = </a:t>
            </a:r>
          </a:p>
          <a:p>
            <a:pPr eaLnBrk="1" hangingPunct="1">
              <a:spcAft>
                <a:spcPct val="50000"/>
              </a:spcAft>
            </a:pPr>
            <a:r>
              <a:rPr lang="en-US" altLang="ko-KR" sz="1200" b="1" dirty="0">
                <a:latin typeface="arial" pitchFamily="34" charset="0"/>
                <a:ea typeface="맑은 고딕" pitchFamily="50" charset="-127"/>
              </a:rPr>
              <a:t>  P</a:t>
            </a:r>
            <a:r>
              <a:rPr lang="en-US" altLang="ko-KR" sz="1200" b="1" baseline="-25000" dirty="0">
                <a:latin typeface="arial" pitchFamily="34" charset="0"/>
                <a:ea typeface="맑은 고딕" pitchFamily="50" charset="-127"/>
              </a:rPr>
              <a:t>LSL</a:t>
            </a:r>
            <a:r>
              <a:rPr lang="en-US" altLang="ko-KR" sz="1200" b="1" dirty="0">
                <a:latin typeface="arial" pitchFamily="34" charset="0"/>
                <a:ea typeface="맑은 고딕" pitchFamily="50" charset="-127"/>
              </a:rPr>
              <a:t> + P</a:t>
            </a:r>
            <a:r>
              <a:rPr lang="en-US" altLang="ko-KR" sz="1200" b="1" baseline="-25000" dirty="0">
                <a:latin typeface="arial" pitchFamily="34" charset="0"/>
                <a:ea typeface="맑은 고딕" pitchFamily="50" charset="-127"/>
              </a:rPr>
              <a:t>USL</a:t>
            </a:r>
          </a:p>
        </p:txBody>
      </p:sp>
      <p:sp>
        <p:nvSpPr>
          <p:cNvPr id="301090" name="Line 1210"/>
          <p:cNvSpPr>
            <a:spLocks noChangeShapeType="1"/>
          </p:cNvSpPr>
          <p:nvPr/>
        </p:nvSpPr>
        <p:spPr bwMode="auto">
          <a:xfrm>
            <a:off x="4714875" y="3573463"/>
            <a:ext cx="2374900" cy="1533525"/>
          </a:xfrm>
          <a:prstGeom prst="line">
            <a:avLst/>
          </a:prstGeom>
          <a:noFill/>
          <a:ln w="9525">
            <a:solidFill>
              <a:srgbClr val="0066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91" name="Line 1211"/>
          <p:cNvSpPr>
            <a:spLocks noChangeShapeType="1"/>
          </p:cNvSpPr>
          <p:nvPr/>
        </p:nvSpPr>
        <p:spPr bwMode="auto">
          <a:xfrm>
            <a:off x="7258050" y="4460875"/>
            <a:ext cx="0" cy="866775"/>
          </a:xfrm>
          <a:prstGeom prst="line">
            <a:avLst/>
          </a:prstGeom>
          <a:noFill/>
          <a:ln w="9525">
            <a:solidFill>
              <a:srgbClr val="FF33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92" name="Line 1212"/>
          <p:cNvSpPr>
            <a:spLocks noChangeShapeType="1"/>
          </p:cNvSpPr>
          <p:nvPr/>
        </p:nvSpPr>
        <p:spPr bwMode="auto">
          <a:xfrm>
            <a:off x="4098925" y="5316538"/>
            <a:ext cx="4468813" cy="0"/>
          </a:xfrm>
          <a:prstGeom prst="line">
            <a:avLst/>
          </a:prstGeom>
          <a:noFill/>
          <a:ln w="28575">
            <a:solidFill>
              <a:srgbClr val="0000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93" name="Text Box 1213"/>
          <p:cNvSpPr txBox="1">
            <a:spLocks noChangeArrowheads="1"/>
          </p:cNvSpPr>
          <p:nvPr/>
        </p:nvSpPr>
        <p:spPr bwMode="auto">
          <a:xfrm>
            <a:off x="4797425" y="3863975"/>
            <a:ext cx="484428"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4000" dirty="0">
                <a:latin typeface="arial" pitchFamily="34" charset="0"/>
                <a:ea typeface="맑은 고딕" pitchFamily="50" charset="-127"/>
              </a:rPr>
              <a:t>+</a:t>
            </a:r>
          </a:p>
        </p:txBody>
      </p:sp>
      <p:sp>
        <p:nvSpPr>
          <p:cNvPr id="301094" name="Text Box 1214"/>
          <p:cNvSpPr txBox="1">
            <a:spLocks noChangeArrowheads="1"/>
          </p:cNvSpPr>
          <p:nvPr/>
        </p:nvSpPr>
        <p:spPr bwMode="auto">
          <a:xfrm>
            <a:off x="8069263" y="4706938"/>
            <a:ext cx="53412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arial" pitchFamily="34" charset="0"/>
                <a:ea typeface="맑은 고딕" pitchFamily="50" charset="-127"/>
              </a:rPr>
              <a:t>7.5%</a:t>
            </a:r>
          </a:p>
        </p:txBody>
      </p:sp>
      <p:sp>
        <p:nvSpPr>
          <p:cNvPr id="301095" name="Text Box 1215"/>
          <p:cNvSpPr txBox="1">
            <a:spLocks noChangeArrowheads="1"/>
          </p:cNvSpPr>
          <p:nvPr/>
        </p:nvSpPr>
        <p:spPr bwMode="auto">
          <a:xfrm>
            <a:off x="1022350" y="5445224"/>
            <a:ext cx="5402226" cy="30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defTabSz="190500" eaLnBrk="0" hangingPunct="0">
              <a:defRPr kumimoji="1">
                <a:solidFill>
                  <a:schemeClr val="tx1"/>
                </a:solidFill>
                <a:latin typeface="굴림" pitchFamily="50" charset="-127"/>
                <a:ea typeface="굴림" pitchFamily="50" charset="-127"/>
              </a:defRPr>
            </a:lvl1pPr>
            <a:lvl2pPr marL="742950" indent="-285750" defTabSz="190500" eaLnBrk="0" hangingPunct="0">
              <a:defRPr kumimoji="1">
                <a:solidFill>
                  <a:schemeClr val="tx1"/>
                </a:solidFill>
                <a:latin typeface="굴림" pitchFamily="50" charset="-127"/>
                <a:ea typeface="굴림" pitchFamily="50" charset="-127"/>
              </a:defRPr>
            </a:lvl2pPr>
            <a:lvl3pPr marL="1143000" indent="-228600" defTabSz="190500" eaLnBrk="0" hangingPunct="0">
              <a:defRPr kumimoji="1">
                <a:solidFill>
                  <a:schemeClr val="tx1"/>
                </a:solidFill>
                <a:latin typeface="굴림" pitchFamily="50" charset="-127"/>
                <a:ea typeface="굴림" pitchFamily="50" charset="-127"/>
              </a:defRPr>
            </a:lvl3pPr>
            <a:lvl4pPr marL="1600200" indent="-228600" defTabSz="190500" eaLnBrk="0" hangingPunct="0">
              <a:defRPr kumimoji="1">
                <a:solidFill>
                  <a:schemeClr val="tx1"/>
                </a:solidFill>
                <a:latin typeface="굴림" pitchFamily="50" charset="-127"/>
                <a:ea typeface="굴림" pitchFamily="50" charset="-127"/>
              </a:defRPr>
            </a:lvl4pPr>
            <a:lvl5pPr marL="2057400" indent="-228600" defTabSz="190500" eaLnBrk="0" hangingPunct="0">
              <a:defRPr kumimoji="1">
                <a:solidFill>
                  <a:schemeClr val="tx1"/>
                </a:solidFill>
                <a:latin typeface="굴림" pitchFamily="50" charset="-127"/>
                <a:ea typeface="굴림" pitchFamily="50" charset="-127"/>
              </a:defRPr>
            </a:lvl5pPr>
            <a:lvl6pPr marL="25146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nSpc>
                <a:spcPct val="125000"/>
              </a:lnSpc>
              <a:buFont typeface="Wingdings" pitchFamily="2" charset="2"/>
              <a:buChar char="Ø"/>
            </a:pP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Thông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thường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ta</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gộp</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giá</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trị</a:t>
            </a:r>
            <a:r>
              <a:rPr lang="en-US" altLang="ko-KR" sz="1200" b="1" dirty="0">
                <a:latin typeface="arial" pitchFamily="34" charset="0"/>
                <a:ea typeface="맑은 고딕" pitchFamily="50" charset="-127"/>
              </a:rPr>
              <a:t> Z</a:t>
            </a:r>
            <a:r>
              <a:rPr lang="en-US" altLang="ko-KR" sz="1200" b="1" baseline="-25000" dirty="0">
                <a:latin typeface="arial" pitchFamily="34" charset="0"/>
                <a:ea typeface="맑은 고딕" pitchFamily="50" charset="-127"/>
              </a:rPr>
              <a:t>ST </a:t>
            </a:r>
            <a:r>
              <a:rPr lang="en-US" altLang="ko-KR" sz="1200" b="1" dirty="0" err="1">
                <a:latin typeface="arial" pitchFamily="34" charset="0"/>
                <a:ea typeface="맑은 고딕" pitchFamily="50" charset="-127"/>
              </a:rPr>
              <a:t>và</a:t>
            </a:r>
            <a:r>
              <a:rPr lang="en-US" altLang="ko-KR" sz="1200" b="1" dirty="0">
                <a:latin typeface="arial" pitchFamily="34" charset="0"/>
                <a:ea typeface="맑은 고딕" pitchFamily="50" charset="-127"/>
              </a:rPr>
              <a:t> Z</a:t>
            </a:r>
            <a:r>
              <a:rPr lang="en-US" altLang="ko-KR" sz="1200" b="1" baseline="-25000" dirty="0">
                <a:latin typeface="arial" pitchFamily="34" charset="0"/>
                <a:ea typeface="맑은 고딕" pitchFamily="50" charset="-127"/>
              </a:rPr>
              <a:t>LT </a:t>
            </a:r>
            <a:r>
              <a:rPr lang="en-US" altLang="ko-KR" sz="1200" b="1" dirty="0" err="1">
                <a:latin typeface="arial" pitchFamily="34" charset="0"/>
                <a:ea typeface="맑은 고딕" pitchFamily="50" charset="-127"/>
              </a:rPr>
              <a:t>thành</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Z</a:t>
            </a:r>
            <a:r>
              <a:rPr lang="en-US" altLang="ko-KR" sz="1200" b="1" baseline="-25000" dirty="0" err="1">
                <a:latin typeface="arial" pitchFamily="34" charset="0"/>
                <a:ea typeface="맑은 고딕" pitchFamily="50" charset="-127"/>
              </a:rPr>
              <a:t>Bench</a:t>
            </a:r>
            <a:endParaRPr lang="en-US" altLang="ko-KR" sz="1200" b="1" dirty="0">
              <a:latin typeface="arial" pitchFamily="34" charset="0"/>
              <a:ea typeface="맑은 고딕" pitchFamily="50" charset="-127"/>
            </a:endParaRPr>
          </a:p>
        </p:txBody>
      </p:sp>
      <p:sp>
        <p:nvSpPr>
          <p:cNvPr id="301096" name="AutoShape 1216"/>
          <p:cNvSpPr>
            <a:spLocks noChangeArrowheads="1"/>
          </p:cNvSpPr>
          <p:nvPr/>
        </p:nvSpPr>
        <p:spPr bwMode="auto">
          <a:xfrm>
            <a:off x="2146300" y="4159250"/>
            <a:ext cx="317500" cy="2540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97" name="AutoShape 1217"/>
          <p:cNvSpPr>
            <a:spLocks noChangeArrowheads="1"/>
          </p:cNvSpPr>
          <p:nvPr/>
        </p:nvSpPr>
        <p:spPr bwMode="auto">
          <a:xfrm>
            <a:off x="5067300" y="1987550"/>
            <a:ext cx="317500" cy="2540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1098" name="Rectangle 1218"/>
          <p:cNvSpPr>
            <a:spLocks noChangeArrowheads="1"/>
          </p:cNvSpPr>
          <p:nvPr/>
        </p:nvSpPr>
        <p:spPr bwMode="auto">
          <a:xfrm>
            <a:off x="8331200" y="3511550"/>
            <a:ext cx="827088" cy="622300"/>
          </a:xfrm>
          <a:prstGeom prst="rect">
            <a:avLst/>
          </a:prstGeom>
          <a:solidFill>
            <a:schemeClr val="tx2">
              <a:lumMod val="20000"/>
              <a:lumOff val="80000"/>
            </a:schemeClr>
          </a:solidFill>
          <a:ln w="12700">
            <a:solidFill>
              <a:schemeClr val="accent2"/>
            </a:solidFill>
            <a:miter lim="800000"/>
            <a:headEnd type="none" w="sm" len="sm"/>
            <a:tailEnd/>
          </a:ln>
          <a:effectLst>
            <a:outerShdw dist="35921" dir="2700000" algn="ctr" rotWithShape="0">
              <a:schemeClr val="bg2"/>
            </a:outerShdw>
          </a:effectLst>
        </p:spPr>
        <p:txBody>
          <a:bodyPr anchor="ctr"/>
          <a:lstStyle/>
          <a:p>
            <a:r>
              <a:rPr lang="en-US" altLang="ko-KR" sz="1400" dirty="0">
                <a:latin typeface="arial" pitchFamily="34" charset="0"/>
                <a:ea typeface="맑은 고딕" pitchFamily="50" charset="-127"/>
              </a:rPr>
              <a:t>* Z</a:t>
            </a:r>
            <a:r>
              <a:rPr lang="en-US" altLang="ko-KR" sz="1400" baseline="-25000" dirty="0">
                <a:latin typeface="arial" pitchFamily="34" charset="0"/>
                <a:ea typeface="맑은 고딕" pitchFamily="50" charset="-127"/>
              </a:rPr>
              <a:t>Bench</a:t>
            </a:r>
          </a:p>
        </p:txBody>
      </p:sp>
      <p:sp>
        <p:nvSpPr>
          <p:cNvPr id="301099" name="AutoShape 1219"/>
          <p:cNvSpPr>
            <a:spLocks noChangeArrowheads="1"/>
          </p:cNvSpPr>
          <p:nvPr/>
        </p:nvSpPr>
        <p:spPr bwMode="auto">
          <a:xfrm>
            <a:off x="7924800" y="3689350"/>
            <a:ext cx="381000" cy="2540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5" name="Group 1220"/>
          <p:cNvGrpSpPr>
            <a:grpSpLocks/>
          </p:cNvGrpSpPr>
          <p:nvPr/>
        </p:nvGrpSpPr>
        <p:grpSpPr bwMode="auto">
          <a:xfrm>
            <a:off x="7366000" y="4146550"/>
            <a:ext cx="393700" cy="749300"/>
            <a:chOff x="4720" y="2760"/>
            <a:chExt cx="248" cy="472"/>
          </a:xfrm>
        </p:grpSpPr>
        <p:sp>
          <p:nvSpPr>
            <p:cNvPr id="301104" name="Line 1221"/>
            <p:cNvSpPr>
              <a:spLocks noChangeShapeType="1"/>
            </p:cNvSpPr>
            <p:nvPr/>
          </p:nvSpPr>
          <p:spPr bwMode="auto">
            <a:xfrm>
              <a:off x="4720" y="2760"/>
              <a:ext cx="0" cy="128"/>
            </a:xfrm>
            <a:prstGeom prst="line">
              <a:avLst/>
            </a:prstGeom>
            <a:noFill/>
            <a:ln w="12700">
              <a:solidFill>
                <a:schemeClr val="accent2"/>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301105" name="Line 1222"/>
            <p:cNvSpPr>
              <a:spLocks noChangeShapeType="1"/>
            </p:cNvSpPr>
            <p:nvPr/>
          </p:nvSpPr>
          <p:spPr bwMode="auto">
            <a:xfrm>
              <a:off x="4720" y="2888"/>
              <a:ext cx="248" cy="0"/>
            </a:xfrm>
            <a:prstGeom prst="line">
              <a:avLst/>
            </a:prstGeom>
            <a:noFill/>
            <a:ln w="12700">
              <a:solidFill>
                <a:schemeClr val="accent2"/>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301106" name="Line 1223"/>
            <p:cNvSpPr>
              <a:spLocks noChangeShapeType="1"/>
            </p:cNvSpPr>
            <p:nvPr/>
          </p:nvSpPr>
          <p:spPr bwMode="auto">
            <a:xfrm>
              <a:off x="4968" y="2888"/>
              <a:ext cx="0" cy="344"/>
            </a:xfrm>
            <a:prstGeom prst="line">
              <a:avLst/>
            </a:prstGeom>
            <a:noFill/>
            <a:ln w="12700">
              <a:solidFill>
                <a:schemeClr val="accent2"/>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grpSp>
      <p:sp>
        <p:nvSpPr>
          <p:cNvPr id="301101" name="Rectangle 1224"/>
          <p:cNvSpPr>
            <a:spLocks noChangeArrowheads="1"/>
          </p:cNvSpPr>
          <p:nvPr/>
        </p:nvSpPr>
        <p:spPr bwMode="auto">
          <a:xfrm>
            <a:off x="581025" y="1030288"/>
            <a:ext cx="1760097" cy="3008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190500" eaLnBrk="0" hangingPunct="0">
              <a:lnSpc>
                <a:spcPct val="125000"/>
              </a:lnSpc>
              <a:buFont typeface="Wingdings" pitchFamily="2" charset="2"/>
              <a:buNone/>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Định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nghĩa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về</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Bench</a:t>
            </a:r>
            <a:endParaRPr lang="ko-KR" altLang="en-US" sz="1200" dirty="0">
              <a:latin typeface="arial" pitchFamily="34" charset="0"/>
              <a:ea typeface="맑은 고딕" pitchFamily="50" charset="-127"/>
            </a:endParaRPr>
          </a:p>
        </p:txBody>
      </p:sp>
      <p:sp>
        <p:nvSpPr>
          <p:cNvPr id="301103"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arial" pitchFamily="34" charset="0"/>
                <a:ea typeface="맑은 고딕" pitchFamily="50" charset="-127"/>
              </a:rPr>
              <a:t> 2.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228</a:t>
            </a:fld>
            <a:endParaRPr lang="ko-KR" altLang="en-US" dirty="0"/>
          </a:p>
        </p:txBody>
      </p:sp>
    </p:spTree>
    <p:extLst>
      <p:ext uri="{BB962C8B-B14F-4D97-AF65-F5344CB8AC3E}">
        <p14:creationId xmlns:p14="http://schemas.microsoft.com/office/powerpoint/2010/main" val="1019061030"/>
      </p:ext>
    </p:extLst>
  </p:cSld>
  <p:clrMapOvr>
    <a:masterClrMapping/>
  </p:clrMapOvr>
  <p:transition spd="slow"/>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2"/>
          <p:cNvSpPr>
            <a:spLocks noChangeArrowheads="1"/>
          </p:cNvSpPr>
          <p:nvPr/>
        </p:nvSpPr>
        <p:spPr bwMode="auto">
          <a:xfrm>
            <a:off x="8658225" y="4037013"/>
            <a:ext cx="165100" cy="304800"/>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grpSp>
        <p:nvGrpSpPr>
          <p:cNvPr id="3" name="Group 3"/>
          <p:cNvGrpSpPr>
            <a:grpSpLocks/>
          </p:cNvGrpSpPr>
          <p:nvPr/>
        </p:nvGrpSpPr>
        <p:grpSpPr bwMode="auto">
          <a:xfrm>
            <a:off x="742950" y="2244725"/>
            <a:ext cx="2063750" cy="4092575"/>
            <a:chOff x="468" y="1102"/>
            <a:chExt cx="1300" cy="2924"/>
          </a:xfrm>
        </p:grpSpPr>
        <p:sp>
          <p:nvSpPr>
            <p:cNvPr id="302183" name="Line 4"/>
            <p:cNvSpPr>
              <a:spLocks noChangeShapeType="1"/>
            </p:cNvSpPr>
            <p:nvPr/>
          </p:nvSpPr>
          <p:spPr bwMode="auto">
            <a:xfrm>
              <a:off x="1113" y="1952"/>
              <a:ext cx="0" cy="536"/>
            </a:xfrm>
            <a:prstGeom prst="line">
              <a:avLst/>
            </a:prstGeom>
            <a:noFill/>
            <a:ln w="1905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4" name="Group 5"/>
            <p:cNvGrpSpPr>
              <a:grpSpLocks/>
            </p:cNvGrpSpPr>
            <p:nvPr/>
          </p:nvGrpSpPr>
          <p:grpSpPr bwMode="auto">
            <a:xfrm>
              <a:off x="582" y="2006"/>
              <a:ext cx="1065" cy="476"/>
              <a:chOff x="554" y="2928"/>
              <a:chExt cx="1950" cy="870"/>
            </a:xfrm>
          </p:grpSpPr>
          <p:sp>
            <p:nvSpPr>
              <p:cNvPr id="302445" name="Line 6"/>
              <p:cNvSpPr>
                <a:spLocks noChangeShapeType="1"/>
              </p:cNvSpPr>
              <p:nvPr/>
            </p:nvSpPr>
            <p:spPr bwMode="auto">
              <a:xfrm flipV="1">
                <a:off x="554" y="3796"/>
                <a:ext cx="25"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46" name="Line 7"/>
              <p:cNvSpPr>
                <a:spLocks noChangeShapeType="1"/>
              </p:cNvSpPr>
              <p:nvPr/>
            </p:nvSpPr>
            <p:spPr bwMode="auto">
              <a:xfrm>
                <a:off x="579" y="3796"/>
                <a:ext cx="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47" name="Line 8"/>
              <p:cNvSpPr>
                <a:spLocks noChangeShapeType="1"/>
              </p:cNvSpPr>
              <p:nvPr/>
            </p:nvSpPr>
            <p:spPr bwMode="auto">
              <a:xfrm>
                <a:off x="604" y="3796"/>
                <a:ext cx="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48" name="Line 9"/>
              <p:cNvSpPr>
                <a:spLocks noChangeShapeType="1"/>
              </p:cNvSpPr>
              <p:nvPr/>
            </p:nvSpPr>
            <p:spPr bwMode="auto">
              <a:xfrm flipV="1">
                <a:off x="629" y="3794"/>
                <a:ext cx="26"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49" name="Line 10"/>
              <p:cNvSpPr>
                <a:spLocks noChangeShapeType="1"/>
              </p:cNvSpPr>
              <p:nvPr/>
            </p:nvSpPr>
            <p:spPr bwMode="auto">
              <a:xfrm>
                <a:off x="655" y="3794"/>
                <a:ext cx="28"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0" name="Line 11"/>
              <p:cNvSpPr>
                <a:spLocks noChangeShapeType="1"/>
              </p:cNvSpPr>
              <p:nvPr/>
            </p:nvSpPr>
            <p:spPr bwMode="auto">
              <a:xfrm flipV="1">
                <a:off x="683" y="3792"/>
                <a:ext cx="25"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1" name="Line 12"/>
              <p:cNvSpPr>
                <a:spLocks noChangeShapeType="1"/>
              </p:cNvSpPr>
              <p:nvPr/>
            </p:nvSpPr>
            <p:spPr bwMode="auto">
              <a:xfrm flipV="1">
                <a:off x="708" y="3791"/>
                <a:ext cx="25"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2" name="Line 13"/>
              <p:cNvSpPr>
                <a:spLocks noChangeShapeType="1"/>
              </p:cNvSpPr>
              <p:nvPr/>
            </p:nvSpPr>
            <p:spPr bwMode="auto">
              <a:xfrm flipV="1">
                <a:off x="733" y="3787"/>
                <a:ext cx="26"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3" name="Line 14"/>
              <p:cNvSpPr>
                <a:spLocks noChangeShapeType="1"/>
              </p:cNvSpPr>
              <p:nvPr/>
            </p:nvSpPr>
            <p:spPr bwMode="auto">
              <a:xfrm flipV="1">
                <a:off x="759" y="3784"/>
                <a:ext cx="25" cy="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4" name="Line 15"/>
              <p:cNvSpPr>
                <a:spLocks noChangeShapeType="1"/>
              </p:cNvSpPr>
              <p:nvPr/>
            </p:nvSpPr>
            <p:spPr bwMode="auto">
              <a:xfrm flipV="1">
                <a:off x="784" y="3780"/>
                <a:ext cx="25"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5" name="Line 16"/>
              <p:cNvSpPr>
                <a:spLocks noChangeShapeType="1"/>
              </p:cNvSpPr>
              <p:nvPr/>
            </p:nvSpPr>
            <p:spPr bwMode="auto">
              <a:xfrm flipV="1">
                <a:off x="809" y="3775"/>
                <a:ext cx="26" cy="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6" name="Line 17"/>
              <p:cNvSpPr>
                <a:spLocks noChangeShapeType="1"/>
              </p:cNvSpPr>
              <p:nvPr/>
            </p:nvSpPr>
            <p:spPr bwMode="auto">
              <a:xfrm flipV="1">
                <a:off x="835" y="3768"/>
                <a:ext cx="28" cy="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7" name="Line 18"/>
              <p:cNvSpPr>
                <a:spLocks noChangeShapeType="1"/>
              </p:cNvSpPr>
              <p:nvPr/>
            </p:nvSpPr>
            <p:spPr bwMode="auto">
              <a:xfrm flipV="1">
                <a:off x="863" y="3760"/>
                <a:ext cx="25" cy="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8" name="Line 19"/>
              <p:cNvSpPr>
                <a:spLocks noChangeShapeType="1"/>
              </p:cNvSpPr>
              <p:nvPr/>
            </p:nvSpPr>
            <p:spPr bwMode="auto">
              <a:xfrm flipV="1">
                <a:off x="888" y="3749"/>
                <a:ext cx="25" cy="1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59" name="Line 20"/>
              <p:cNvSpPr>
                <a:spLocks noChangeShapeType="1"/>
              </p:cNvSpPr>
              <p:nvPr/>
            </p:nvSpPr>
            <p:spPr bwMode="auto">
              <a:xfrm flipV="1">
                <a:off x="913" y="3736"/>
                <a:ext cx="26" cy="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0" name="Line 21"/>
              <p:cNvSpPr>
                <a:spLocks noChangeShapeType="1"/>
              </p:cNvSpPr>
              <p:nvPr/>
            </p:nvSpPr>
            <p:spPr bwMode="auto">
              <a:xfrm flipV="1">
                <a:off x="939" y="3720"/>
                <a:ext cx="24" cy="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1" name="Line 22"/>
              <p:cNvSpPr>
                <a:spLocks noChangeShapeType="1"/>
              </p:cNvSpPr>
              <p:nvPr/>
            </p:nvSpPr>
            <p:spPr bwMode="auto">
              <a:xfrm flipV="1">
                <a:off x="963" y="3701"/>
                <a:ext cx="26" cy="1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2" name="Line 23"/>
              <p:cNvSpPr>
                <a:spLocks noChangeShapeType="1"/>
              </p:cNvSpPr>
              <p:nvPr/>
            </p:nvSpPr>
            <p:spPr bwMode="auto">
              <a:xfrm flipV="1">
                <a:off x="989" y="3679"/>
                <a:ext cx="28" cy="2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3" name="Line 24"/>
              <p:cNvSpPr>
                <a:spLocks noChangeShapeType="1"/>
              </p:cNvSpPr>
              <p:nvPr/>
            </p:nvSpPr>
            <p:spPr bwMode="auto">
              <a:xfrm flipV="1">
                <a:off x="1017" y="3655"/>
                <a:ext cx="25" cy="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4" name="Line 25"/>
              <p:cNvSpPr>
                <a:spLocks noChangeShapeType="1"/>
              </p:cNvSpPr>
              <p:nvPr/>
            </p:nvSpPr>
            <p:spPr bwMode="auto">
              <a:xfrm flipV="1">
                <a:off x="1042" y="3626"/>
                <a:ext cx="26" cy="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5" name="Line 26"/>
              <p:cNvSpPr>
                <a:spLocks noChangeShapeType="1"/>
              </p:cNvSpPr>
              <p:nvPr/>
            </p:nvSpPr>
            <p:spPr bwMode="auto">
              <a:xfrm flipV="1">
                <a:off x="1068" y="3592"/>
                <a:ext cx="25" cy="3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6" name="Line 27"/>
              <p:cNvSpPr>
                <a:spLocks noChangeShapeType="1"/>
              </p:cNvSpPr>
              <p:nvPr/>
            </p:nvSpPr>
            <p:spPr bwMode="auto">
              <a:xfrm flipV="1">
                <a:off x="1093" y="3555"/>
                <a:ext cx="25" cy="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7" name="Line 28"/>
              <p:cNvSpPr>
                <a:spLocks noChangeShapeType="1"/>
              </p:cNvSpPr>
              <p:nvPr/>
            </p:nvSpPr>
            <p:spPr bwMode="auto">
              <a:xfrm flipV="1">
                <a:off x="1118" y="3514"/>
                <a:ext cx="26" cy="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8" name="Line 29"/>
              <p:cNvSpPr>
                <a:spLocks noChangeShapeType="1"/>
              </p:cNvSpPr>
              <p:nvPr/>
            </p:nvSpPr>
            <p:spPr bwMode="auto">
              <a:xfrm flipV="1">
                <a:off x="1144" y="3472"/>
                <a:ext cx="24" cy="4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69" name="Line 30"/>
              <p:cNvSpPr>
                <a:spLocks noChangeShapeType="1"/>
              </p:cNvSpPr>
              <p:nvPr/>
            </p:nvSpPr>
            <p:spPr bwMode="auto">
              <a:xfrm flipV="1">
                <a:off x="1168" y="3424"/>
                <a:ext cx="29"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0" name="Line 31"/>
              <p:cNvSpPr>
                <a:spLocks noChangeShapeType="1"/>
              </p:cNvSpPr>
              <p:nvPr/>
            </p:nvSpPr>
            <p:spPr bwMode="auto">
              <a:xfrm flipV="1">
                <a:off x="1197" y="3374"/>
                <a:ext cx="25" cy="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1" name="Line 32"/>
              <p:cNvSpPr>
                <a:spLocks noChangeShapeType="1"/>
              </p:cNvSpPr>
              <p:nvPr/>
            </p:nvSpPr>
            <p:spPr bwMode="auto">
              <a:xfrm flipV="1">
                <a:off x="1222" y="3322"/>
                <a:ext cx="26" cy="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2" name="Line 33"/>
              <p:cNvSpPr>
                <a:spLocks noChangeShapeType="1"/>
              </p:cNvSpPr>
              <p:nvPr/>
            </p:nvSpPr>
            <p:spPr bwMode="auto">
              <a:xfrm flipV="1">
                <a:off x="1248" y="3269"/>
                <a:ext cx="24" cy="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3" name="Line 34"/>
              <p:cNvSpPr>
                <a:spLocks noChangeShapeType="1"/>
              </p:cNvSpPr>
              <p:nvPr/>
            </p:nvSpPr>
            <p:spPr bwMode="auto">
              <a:xfrm flipV="1">
                <a:off x="1272" y="3218"/>
                <a:ext cx="26" cy="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4" name="Line 35"/>
              <p:cNvSpPr>
                <a:spLocks noChangeShapeType="1"/>
              </p:cNvSpPr>
              <p:nvPr/>
            </p:nvSpPr>
            <p:spPr bwMode="auto">
              <a:xfrm flipV="1">
                <a:off x="1298" y="3166"/>
                <a:ext cx="25" cy="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5" name="Line 36"/>
              <p:cNvSpPr>
                <a:spLocks noChangeShapeType="1"/>
              </p:cNvSpPr>
              <p:nvPr/>
            </p:nvSpPr>
            <p:spPr bwMode="auto">
              <a:xfrm flipV="1">
                <a:off x="1323" y="3116"/>
                <a:ext cx="25" cy="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6" name="Line 37"/>
              <p:cNvSpPr>
                <a:spLocks noChangeShapeType="1"/>
              </p:cNvSpPr>
              <p:nvPr/>
            </p:nvSpPr>
            <p:spPr bwMode="auto">
              <a:xfrm flipV="1">
                <a:off x="1348" y="3070"/>
                <a:ext cx="29" cy="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7" name="Line 38"/>
              <p:cNvSpPr>
                <a:spLocks noChangeShapeType="1"/>
              </p:cNvSpPr>
              <p:nvPr/>
            </p:nvSpPr>
            <p:spPr bwMode="auto">
              <a:xfrm flipV="1">
                <a:off x="1377" y="3029"/>
                <a:ext cx="25" cy="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8" name="Line 39"/>
              <p:cNvSpPr>
                <a:spLocks noChangeShapeType="1"/>
              </p:cNvSpPr>
              <p:nvPr/>
            </p:nvSpPr>
            <p:spPr bwMode="auto">
              <a:xfrm flipV="1">
                <a:off x="1402" y="2995"/>
                <a:ext cx="25" cy="3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79" name="Line 40"/>
              <p:cNvSpPr>
                <a:spLocks noChangeShapeType="1"/>
              </p:cNvSpPr>
              <p:nvPr/>
            </p:nvSpPr>
            <p:spPr bwMode="auto">
              <a:xfrm flipV="1">
                <a:off x="1427" y="2966"/>
                <a:ext cx="25" cy="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0" name="Line 41"/>
              <p:cNvSpPr>
                <a:spLocks noChangeShapeType="1"/>
              </p:cNvSpPr>
              <p:nvPr/>
            </p:nvSpPr>
            <p:spPr bwMode="auto">
              <a:xfrm flipV="1">
                <a:off x="1452" y="2945"/>
                <a:ext cx="25" cy="2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1" name="Line 42"/>
              <p:cNvSpPr>
                <a:spLocks noChangeShapeType="1"/>
              </p:cNvSpPr>
              <p:nvPr/>
            </p:nvSpPr>
            <p:spPr bwMode="auto">
              <a:xfrm flipV="1">
                <a:off x="1477" y="2931"/>
                <a:ext cx="26" cy="1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2" name="Line 43"/>
              <p:cNvSpPr>
                <a:spLocks noChangeShapeType="1"/>
              </p:cNvSpPr>
              <p:nvPr/>
            </p:nvSpPr>
            <p:spPr bwMode="auto">
              <a:xfrm flipV="1">
                <a:off x="1503" y="2928"/>
                <a:ext cx="28" cy="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3" name="Line 44"/>
              <p:cNvSpPr>
                <a:spLocks noChangeShapeType="1"/>
              </p:cNvSpPr>
              <p:nvPr/>
            </p:nvSpPr>
            <p:spPr bwMode="auto">
              <a:xfrm>
                <a:off x="1531" y="2928"/>
                <a:ext cx="26" cy="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4" name="Line 45"/>
              <p:cNvSpPr>
                <a:spLocks noChangeShapeType="1"/>
              </p:cNvSpPr>
              <p:nvPr/>
            </p:nvSpPr>
            <p:spPr bwMode="auto">
              <a:xfrm>
                <a:off x="1557" y="2931"/>
                <a:ext cx="24" cy="1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5" name="Line 46"/>
              <p:cNvSpPr>
                <a:spLocks noChangeShapeType="1"/>
              </p:cNvSpPr>
              <p:nvPr/>
            </p:nvSpPr>
            <p:spPr bwMode="auto">
              <a:xfrm>
                <a:off x="1581" y="2945"/>
                <a:ext cx="26" cy="2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6" name="Line 47"/>
              <p:cNvSpPr>
                <a:spLocks noChangeShapeType="1"/>
              </p:cNvSpPr>
              <p:nvPr/>
            </p:nvSpPr>
            <p:spPr bwMode="auto">
              <a:xfrm>
                <a:off x="1607" y="2966"/>
                <a:ext cx="25" cy="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7" name="Line 48"/>
              <p:cNvSpPr>
                <a:spLocks noChangeShapeType="1"/>
              </p:cNvSpPr>
              <p:nvPr/>
            </p:nvSpPr>
            <p:spPr bwMode="auto">
              <a:xfrm>
                <a:off x="1632" y="2995"/>
                <a:ext cx="25" cy="3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8" name="Line 49"/>
              <p:cNvSpPr>
                <a:spLocks noChangeShapeType="1"/>
              </p:cNvSpPr>
              <p:nvPr/>
            </p:nvSpPr>
            <p:spPr bwMode="auto">
              <a:xfrm>
                <a:off x="1657" y="3029"/>
                <a:ext cx="25" cy="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89" name="Line 50"/>
              <p:cNvSpPr>
                <a:spLocks noChangeShapeType="1"/>
              </p:cNvSpPr>
              <p:nvPr/>
            </p:nvSpPr>
            <p:spPr bwMode="auto">
              <a:xfrm>
                <a:off x="1682" y="3070"/>
                <a:ext cx="29" cy="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0" name="Line 51"/>
              <p:cNvSpPr>
                <a:spLocks noChangeShapeType="1"/>
              </p:cNvSpPr>
              <p:nvPr/>
            </p:nvSpPr>
            <p:spPr bwMode="auto">
              <a:xfrm>
                <a:off x="1711" y="3116"/>
                <a:ext cx="25" cy="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1" name="Line 52"/>
              <p:cNvSpPr>
                <a:spLocks noChangeShapeType="1"/>
              </p:cNvSpPr>
              <p:nvPr/>
            </p:nvSpPr>
            <p:spPr bwMode="auto">
              <a:xfrm>
                <a:off x="1736" y="3166"/>
                <a:ext cx="25" cy="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2" name="Line 53"/>
              <p:cNvSpPr>
                <a:spLocks noChangeShapeType="1"/>
              </p:cNvSpPr>
              <p:nvPr/>
            </p:nvSpPr>
            <p:spPr bwMode="auto">
              <a:xfrm>
                <a:off x="1761" y="3218"/>
                <a:ext cx="25" cy="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3" name="Line 54"/>
              <p:cNvSpPr>
                <a:spLocks noChangeShapeType="1"/>
              </p:cNvSpPr>
              <p:nvPr/>
            </p:nvSpPr>
            <p:spPr bwMode="auto">
              <a:xfrm>
                <a:off x="1786" y="3269"/>
                <a:ext cx="26" cy="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4" name="Line 55"/>
              <p:cNvSpPr>
                <a:spLocks noChangeShapeType="1"/>
              </p:cNvSpPr>
              <p:nvPr/>
            </p:nvSpPr>
            <p:spPr bwMode="auto">
              <a:xfrm>
                <a:off x="1812" y="3322"/>
                <a:ext cx="24" cy="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5" name="Line 56"/>
              <p:cNvSpPr>
                <a:spLocks noChangeShapeType="1"/>
              </p:cNvSpPr>
              <p:nvPr/>
            </p:nvSpPr>
            <p:spPr bwMode="auto">
              <a:xfrm>
                <a:off x="1836" y="3374"/>
                <a:ext cx="26" cy="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6" name="Line 57"/>
              <p:cNvSpPr>
                <a:spLocks noChangeShapeType="1"/>
              </p:cNvSpPr>
              <p:nvPr/>
            </p:nvSpPr>
            <p:spPr bwMode="auto">
              <a:xfrm>
                <a:off x="1862" y="3424"/>
                <a:ext cx="28"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7" name="Line 58"/>
              <p:cNvSpPr>
                <a:spLocks noChangeShapeType="1"/>
              </p:cNvSpPr>
              <p:nvPr/>
            </p:nvSpPr>
            <p:spPr bwMode="auto">
              <a:xfrm>
                <a:off x="1890" y="3472"/>
                <a:ext cx="26" cy="4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8" name="Line 59"/>
              <p:cNvSpPr>
                <a:spLocks noChangeShapeType="1"/>
              </p:cNvSpPr>
              <p:nvPr/>
            </p:nvSpPr>
            <p:spPr bwMode="auto">
              <a:xfrm>
                <a:off x="1916" y="3514"/>
                <a:ext cx="24" cy="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499" name="Line 60"/>
              <p:cNvSpPr>
                <a:spLocks noChangeShapeType="1"/>
              </p:cNvSpPr>
              <p:nvPr/>
            </p:nvSpPr>
            <p:spPr bwMode="auto">
              <a:xfrm>
                <a:off x="1940" y="3555"/>
                <a:ext cx="26" cy="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0" name="Line 61"/>
              <p:cNvSpPr>
                <a:spLocks noChangeShapeType="1"/>
              </p:cNvSpPr>
              <p:nvPr/>
            </p:nvSpPr>
            <p:spPr bwMode="auto">
              <a:xfrm>
                <a:off x="1966" y="3592"/>
                <a:ext cx="25" cy="3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1" name="Line 62"/>
              <p:cNvSpPr>
                <a:spLocks noChangeShapeType="1"/>
              </p:cNvSpPr>
              <p:nvPr/>
            </p:nvSpPr>
            <p:spPr bwMode="auto">
              <a:xfrm>
                <a:off x="1991" y="3626"/>
                <a:ext cx="25" cy="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2" name="Line 63"/>
              <p:cNvSpPr>
                <a:spLocks noChangeShapeType="1"/>
              </p:cNvSpPr>
              <p:nvPr/>
            </p:nvSpPr>
            <p:spPr bwMode="auto">
              <a:xfrm>
                <a:off x="2016" y="3655"/>
                <a:ext cx="25" cy="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3" name="Line 64"/>
              <p:cNvSpPr>
                <a:spLocks noChangeShapeType="1"/>
              </p:cNvSpPr>
              <p:nvPr/>
            </p:nvSpPr>
            <p:spPr bwMode="auto">
              <a:xfrm>
                <a:off x="2041" y="3679"/>
                <a:ext cx="29" cy="2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4" name="Line 65"/>
              <p:cNvSpPr>
                <a:spLocks noChangeShapeType="1"/>
              </p:cNvSpPr>
              <p:nvPr/>
            </p:nvSpPr>
            <p:spPr bwMode="auto">
              <a:xfrm>
                <a:off x="2070" y="3701"/>
                <a:ext cx="25" cy="1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5" name="Line 66"/>
              <p:cNvSpPr>
                <a:spLocks noChangeShapeType="1"/>
              </p:cNvSpPr>
              <p:nvPr/>
            </p:nvSpPr>
            <p:spPr bwMode="auto">
              <a:xfrm>
                <a:off x="2095" y="3720"/>
                <a:ext cx="26" cy="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6" name="Line 67"/>
              <p:cNvSpPr>
                <a:spLocks noChangeShapeType="1"/>
              </p:cNvSpPr>
              <p:nvPr/>
            </p:nvSpPr>
            <p:spPr bwMode="auto">
              <a:xfrm>
                <a:off x="2121" y="3736"/>
                <a:ext cx="24" cy="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7" name="Line 68"/>
              <p:cNvSpPr>
                <a:spLocks noChangeShapeType="1"/>
              </p:cNvSpPr>
              <p:nvPr/>
            </p:nvSpPr>
            <p:spPr bwMode="auto">
              <a:xfrm>
                <a:off x="2145" y="3749"/>
                <a:ext cx="26" cy="1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8" name="Line 69"/>
              <p:cNvSpPr>
                <a:spLocks noChangeShapeType="1"/>
              </p:cNvSpPr>
              <p:nvPr/>
            </p:nvSpPr>
            <p:spPr bwMode="auto">
              <a:xfrm>
                <a:off x="2171" y="3760"/>
                <a:ext cx="24" cy="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09" name="Line 70"/>
              <p:cNvSpPr>
                <a:spLocks noChangeShapeType="1"/>
              </p:cNvSpPr>
              <p:nvPr/>
            </p:nvSpPr>
            <p:spPr bwMode="auto">
              <a:xfrm>
                <a:off x="2195" y="3768"/>
                <a:ext cx="30" cy="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0" name="Line 71"/>
              <p:cNvSpPr>
                <a:spLocks noChangeShapeType="1"/>
              </p:cNvSpPr>
              <p:nvPr/>
            </p:nvSpPr>
            <p:spPr bwMode="auto">
              <a:xfrm>
                <a:off x="2225" y="3775"/>
                <a:ext cx="24" cy="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1" name="Line 72"/>
              <p:cNvSpPr>
                <a:spLocks noChangeShapeType="1"/>
              </p:cNvSpPr>
              <p:nvPr/>
            </p:nvSpPr>
            <p:spPr bwMode="auto">
              <a:xfrm>
                <a:off x="2249" y="3780"/>
                <a:ext cx="26"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2" name="Line 73"/>
              <p:cNvSpPr>
                <a:spLocks noChangeShapeType="1"/>
              </p:cNvSpPr>
              <p:nvPr/>
            </p:nvSpPr>
            <p:spPr bwMode="auto">
              <a:xfrm>
                <a:off x="2275" y="3784"/>
                <a:ext cx="25" cy="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3" name="Line 74"/>
              <p:cNvSpPr>
                <a:spLocks noChangeShapeType="1"/>
              </p:cNvSpPr>
              <p:nvPr/>
            </p:nvSpPr>
            <p:spPr bwMode="auto">
              <a:xfrm>
                <a:off x="2300" y="3787"/>
                <a:ext cx="25"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4" name="Line 75"/>
              <p:cNvSpPr>
                <a:spLocks noChangeShapeType="1"/>
              </p:cNvSpPr>
              <p:nvPr/>
            </p:nvSpPr>
            <p:spPr bwMode="auto">
              <a:xfrm>
                <a:off x="2325" y="3791"/>
                <a:ext cx="25"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5" name="Line 76"/>
              <p:cNvSpPr>
                <a:spLocks noChangeShapeType="1"/>
              </p:cNvSpPr>
              <p:nvPr/>
            </p:nvSpPr>
            <p:spPr bwMode="auto">
              <a:xfrm>
                <a:off x="2350" y="3792"/>
                <a:ext cx="26"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6" name="Line 77"/>
              <p:cNvSpPr>
                <a:spLocks noChangeShapeType="1"/>
              </p:cNvSpPr>
              <p:nvPr/>
            </p:nvSpPr>
            <p:spPr bwMode="auto">
              <a:xfrm>
                <a:off x="2376" y="3794"/>
                <a:ext cx="28"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7" name="Line 78"/>
              <p:cNvSpPr>
                <a:spLocks noChangeShapeType="1"/>
              </p:cNvSpPr>
              <p:nvPr/>
            </p:nvSpPr>
            <p:spPr bwMode="auto">
              <a:xfrm>
                <a:off x="2404" y="3794"/>
                <a:ext cx="25"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8" name="Line 79"/>
              <p:cNvSpPr>
                <a:spLocks noChangeShapeType="1"/>
              </p:cNvSpPr>
              <p:nvPr/>
            </p:nvSpPr>
            <p:spPr bwMode="auto">
              <a:xfrm>
                <a:off x="2429" y="3796"/>
                <a:ext cx="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19" name="Line 80"/>
              <p:cNvSpPr>
                <a:spLocks noChangeShapeType="1"/>
              </p:cNvSpPr>
              <p:nvPr/>
            </p:nvSpPr>
            <p:spPr bwMode="auto">
              <a:xfrm>
                <a:off x="2454" y="3796"/>
                <a:ext cx="2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520" name="Line 81"/>
              <p:cNvSpPr>
                <a:spLocks noChangeShapeType="1"/>
              </p:cNvSpPr>
              <p:nvPr/>
            </p:nvSpPr>
            <p:spPr bwMode="auto">
              <a:xfrm>
                <a:off x="2480" y="3796"/>
                <a:ext cx="24"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grpSp>
        <p:sp>
          <p:nvSpPr>
            <p:cNvPr id="302185" name="Line 82"/>
            <p:cNvSpPr>
              <a:spLocks noChangeShapeType="1"/>
            </p:cNvSpPr>
            <p:nvPr/>
          </p:nvSpPr>
          <p:spPr bwMode="auto">
            <a:xfrm>
              <a:off x="1412" y="1952"/>
              <a:ext cx="0" cy="532"/>
            </a:xfrm>
            <a:prstGeom prst="line">
              <a:avLst/>
            </a:prstGeom>
            <a:noFill/>
            <a:ln w="127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86" name="Text Box 83"/>
            <p:cNvSpPr txBox="1">
              <a:spLocks noChangeArrowheads="1"/>
            </p:cNvSpPr>
            <p:nvPr/>
          </p:nvSpPr>
          <p:spPr bwMode="auto">
            <a:xfrm>
              <a:off x="1311" y="2724"/>
              <a:ext cx="28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USL</a:t>
              </a:r>
            </a:p>
          </p:txBody>
        </p:sp>
        <p:sp>
          <p:nvSpPr>
            <p:cNvPr id="302187" name="Line 84"/>
            <p:cNvSpPr>
              <a:spLocks noChangeShapeType="1"/>
            </p:cNvSpPr>
            <p:nvPr/>
          </p:nvSpPr>
          <p:spPr bwMode="auto">
            <a:xfrm>
              <a:off x="813" y="1988"/>
              <a:ext cx="0" cy="496"/>
            </a:xfrm>
            <a:prstGeom prst="line">
              <a:avLst/>
            </a:prstGeom>
            <a:noFill/>
            <a:ln w="127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88" name="Freeform 85"/>
            <p:cNvSpPr>
              <a:spLocks/>
            </p:cNvSpPr>
            <p:nvPr/>
          </p:nvSpPr>
          <p:spPr bwMode="auto">
            <a:xfrm>
              <a:off x="576" y="2436"/>
              <a:ext cx="234" cy="47"/>
            </a:xfrm>
            <a:custGeom>
              <a:avLst/>
              <a:gdLst>
                <a:gd name="T0" fmla="*/ 0 w 524"/>
                <a:gd name="T1" fmla="*/ 2 h 105"/>
                <a:gd name="T2" fmla="*/ 3 w 524"/>
                <a:gd name="T3" fmla="*/ 2 h 105"/>
                <a:gd name="T4" fmla="*/ 4 w 524"/>
                <a:gd name="T5" fmla="*/ 2 h 105"/>
                <a:gd name="T6" fmla="*/ 6 w 524"/>
                <a:gd name="T7" fmla="*/ 1 h 105"/>
                <a:gd name="T8" fmla="*/ 8 w 524"/>
                <a:gd name="T9" fmla="*/ 1 h 105"/>
                <a:gd name="T10" fmla="*/ 8 w 524"/>
                <a:gd name="T11" fmla="*/ 0 h 105"/>
                <a:gd name="T12" fmla="*/ 9 w 524"/>
                <a:gd name="T13" fmla="*/ 0 h 105"/>
                <a:gd name="T14" fmla="*/ 9 w 524"/>
                <a:gd name="T15" fmla="*/ 2 h 105"/>
                <a:gd name="T16" fmla="*/ 0 w 524"/>
                <a:gd name="T17" fmla="*/ 2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24" h="105">
                  <a:moveTo>
                    <a:pt x="0" y="100"/>
                  </a:moveTo>
                  <a:lnTo>
                    <a:pt x="171" y="100"/>
                  </a:lnTo>
                  <a:lnTo>
                    <a:pt x="252" y="94"/>
                  </a:lnTo>
                  <a:lnTo>
                    <a:pt x="350" y="78"/>
                  </a:lnTo>
                  <a:lnTo>
                    <a:pt x="435" y="55"/>
                  </a:lnTo>
                  <a:lnTo>
                    <a:pt x="483" y="30"/>
                  </a:lnTo>
                  <a:lnTo>
                    <a:pt x="524" y="0"/>
                  </a:lnTo>
                  <a:lnTo>
                    <a:pt x="524" y="105"/>
                  </a:lnTo>
                  <a:lnTo>
                    <a:pt x="0" y="100"/>
                  </a:lnTo>
                  <a:close/>
                </a:path>
              </a:pathLst>
            </a:custGeom>
            <a:solidFill>
              <a:srgbClr val="FF33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89" name="Freeform 86"/>
            <p:cNvSpPr>
              <a:spLocks/>
            </p:cNvSpPr>
            <p:nvPr/>
          </p:nvSpPr>
          <p:spPr bwMode="auto">
            <a:xfrm>
              <a:off x="1412" y="2431"/>
              <a:ext cx="235" cy="54"/>
            </a:xfrm>
            <a:custGeom>
              <a:avLst/>
              <a:gdLst>
                <a:gd name="T0" fmla="*/ 9 w 524"/>
                <a:gd name="T1" fmla="*/ 2 h 120"/>
                <a:gd name="T2" fmla="*/ 6 w 524"/>
                <a:gd name="T3" fmla="*/ 2 h 120"/>
                <a:gd name="T4" fmla="*/ 5 w 524"/>
                <a:gd name="T5" fmla="*/ 2 h 120"/>
                <a:gd name="T6" fmla="*/ 3 w 524"/>
                <a:gd name="T7" fmla="*/ 2 h 120"/>
                <a:gd name="T8" fmla="*/ 2 w 524"/>
                <a:gd name="T9" fmla="*/ 1 h 120"/>
                <a:gd name="T10" fmla="*/ 1 w 524"/>
                <a:gd name="T11" fmla="*/ 0 h 120"/>
                <a:gd name="T12" fmla="*/ 0 w 524"/>
                <a:gd name="T13" fmla="*/ 0 h 120"/>
                <a:gd name="T14" fmla="*/ 0 w 524"/>
                <a:gd name="T15" fmla="*/ 2 h 120"/>
                <a:gd name="T16" fmla="*/ 9 w 524"/>
                <a:gd name="T17" fmla="*/ 2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24" h="120">
                  <a:moveTo>
                    <a:pt x="524" y="115"/>
                  </a:moveTo>
                  <a:lnTo>
                    <a:pt x="354" y="110"/>
                  </a:lnTo>
                  <a:lnTo>
                    <a:pt x="266" y="99"/>
                  </a:lnTo>
                  <a:lnTo>
                    <a:pt x="180" y="87"/>
                  </a:lnTo>
                  <a:lnTo>
                    <a:pt x="104" y="62"/>
                  </a:lnTo>
                  <a:lnTo>
                    <a:pt x="45" y="30"/>
                  </a:lnTo>
                  <a:lnTo>
                    <a:pt x="0" y="0"/>
                  </a:lnTo>
                  <a:lnTo>
                    <a:pt x="0" y="120"/>
                  </a:lnTo>
                  <a:lnTo>
                    <a:pt x="524" y="115"/>
                  </a:lnTo>
                  <a:close/>
                </a:path>
              </a:pathLst>
            </a:custGeom>
            <a:solidFill>
              <a:srgbClr val="FF33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90" name="Line 87"/>
            <p:cNvSpPr>
              <a:spLocks noChangeShapeType="1"/>
            </p:cNvSpPr>
            <p:nvPr/>
          </p:nvSpPr>
          <p:spPr bwMode="auto">
            <a:xfrm>
              <a:off x="575" y="2483"/>
              <a:ext cx="1061" cy="0"/>
            </a:xfrm>
            <a:prstGeom prst="line">
              <a:avLst/>
            </a:prstGeom>
            <a:noFill/>
            <a:ln w="63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91" name="Line 88"/>
            <p:cNvSpPr>
              <a:spLocks noChangeShapeType="1"/>
            </p:cNvSpPr>
            <p:nvPr/>
          </p:nvSpPr>
          <p:spPr bwMode="auto">
            <a:xfrm>
              <a:off x="1115" y="2631"/>
              <a:ext cx="0" cy="544"/>
            </a:xfrm>
            <a:prstGeom prst="line">
              <a:avLst/>
            </a:prstGeom>
            <a:noFill/>
            <a:ln w="1905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5" name="Group 89"/>
            <p:cNvGrpSpPr>
              <a:grpSpLocks/>
            </p:cNvGrpSpPr>
            <p:nvPr/>
          </p:nvGrpSpPr>
          <p:grpSpPr bwMode="auto">
            <a:xfrm>
              <a:off x="473" y="2720"/>
              <a:ext cx="1291" cy="452"/>
              <a:chOff x="554" y="2928"/>
              <a:chExt cx="1950" cy="870"/>
            </a:xfrm>
          </p:grpSpPr>
          <p:sp>
            <p:nvSpPr>
              <p:cNvPr id="302369" name="Line 90"/>
              <p:cNvSpPr>
                <a:spLocks noChangeShapeType="1"/>
              </p:cNvSpPr>
              <p:nvPr/>
            </p:nvSpPr>
            <p:spPr bwMode="auto">
              <a:xfrm flipV="1">
                <a:off x="554" y="3796"/>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0" name="Line 91"/>
              <p:cNvSpPr>
                <a:spLocks noChangeShapeType="1"/>
              </p:cNvSpPr>
              <p:nvPr/>
            </p:nvSpPr>
            <p:spPr bwMode="auto">
              <a:xfrm>
                <a:off x="579"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1" name="Line 92"/>
              <p:cNvSpPr>
                <a:spLocks noChangeShapeType="1"/>
              </p:cNvSpPr>
              <p:nvPr/>
            </p:nvSpPr>
            <p:spPr bwMode="auto">
              <a:xfrm>
                <a:off x="604"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2" name="Line 93"/>
              <p:cNvSpPr>
                <a:spLocks noChangeShapeType="1"/>
              </p:cNvSpPr>
              <p:nvPr/>
            </p:nvSpPr>
            <p:spPr bwMode="auto">
              <a:xfrm flipV="1">
                <a:off x="629" y="3794"/>
                <a:ext cx="26"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3" name="Line 94"/>
              <p:cNvSpPr>
                <a:spLocks noChangeShapeType="1"/>
              </p:cNvSpPr>
              <p:nvPr/>
            </p:nvSpPr>
            <p:spPr bwMode="auto">
              <a:xfrm>
                <a:off x="655" y="3794"/>
                <a:ext cx="28"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4" name="Line 95"/>
              <p:cNvSpPr>
                <a:spLocks noChangeShapeType="1"/>
              </p:cNvSpPr>
              <p:nvPr/>
            </p:nvSpPr>
            <p:spPr bwMode="auto">
              <a:xfrm flipV="1">
                <a:off x="683" y="3792"/>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5" name="Line 96"/>
              <p:cNvSpPr>
                <a:spLocks noChangeShapeType="1"/>
              </p:cNvSpPr>
              <p:nvPr/>
            </p:nvSpPr>
            <p:spPr bwMode="auto">
              <a:xfrm flipV="1">
                <a:off x="708" y="3791"/>
                <a:ext cx="25"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6" name="Line 97"/>
              <p:cNvSpPr>
                <a:spLocks noChangeShapeType="1"/>
              </p:cNvSpPr>
              <p:nvPr/>
            </p:nvSpPr>
            <p:spPr bwMode="auto">
              <a:xfrm flipV="1">
                <a:off x="733" y="3787"/>
                <a:ext cx="26"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7" name="Line 98"/>
              <p:cNvSpPr>
                <a:spLocks noChangeShapeType="1"/>
              </p:cNvSpPr>
              <p:nvPr/>
            </p:nvSpPr>
            <p:spPr bwMode="auto">
              <a:xfrm flipV="1">
                <a:off x="759" y="3784"/>
                <a:ext cx="25"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8" name="Line 99"/>
              <p:cNvSpPr>
                <a:spLocks noChangeShapeType="1"/>
              </p:cNvSpPr>
              <p:nvPr/>
            </p:nvSpPr>
            <p:spPr bwMode="auto">
              <a:xfrm flipV="1">
                <a:off x="784" y="3780"/>
                <a:ext cx="25"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79" name="Line 100"/>
              <p:cNvSpPr>
                <a:spLocks noChangeShapeType="1"/>
              </p:cNvSpPr>
              <p:nvPr/>
            </p:nvSpPr>
            <p:spPr bwMode="auto">
              <a:xfrm flipV="1">
                <a:off x="809" y="3775"/>
                <a:ext cx="26" cy="5"/>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0" name="Line 101"/>
              <p:cNvSpPr>
                <a:spLocks noChangeShapeType="1"/>
              </p:cNvSpPr>
              <p:nvPr/>
            </p:nvSpPr>
            <p:spPr bwMode="auto">
              <a:xfrm flipV="1">
                <a:off x="835" y="3768"/>
                <a:ext cx="28" cy="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1" name="Line 102"/>
              <p:cNvSpPr>
                <a:spLocks noChangeShapeType="1"/>
              </p:cNvSpPr>
              <p:nvPr/>
            </p:nvSpPr>
            <p:spPr bwMode="auto">
              <a:xfrm flipV="1">
                <a:off x="863" y="3760"/>
                <a:ext cx="25" cy="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2" name="Line 103"/>
              <p:cNvSpPr>
                <a:spLocks noChangeShapeType="1"/>
              </p:cNvSpPr>
              <p:nvPr/>
            </p:nvSpPr>
            <p:spPr bwMode="auto">
              <a:xfrm flipV="1">
                <a:off x="888" y="3749"/>
                <a:ext cx="25" cy="1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3" name="Line 104"/>
              <p:cNvSpPr>
                <a:spLocks noChangeShapeType="1"/>
              </p:cNvSpPr>
              <p:nvPr/>
            </p:nvSpPr>
            <p:spPr bwMode="auto">
              <a:xfrm flipV="1">
                <a:off x="913" y="3736"/>
                <a:ext cx="26" cy="1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4" name="Line 105"/>
              <p:cNvSpPr>
                <a:spLocks noChangeShapeType="1"/>
              </p:cNvSpPr>
              <p:nvPr/>
            </p:nvSpPr>
            <p:spPr bwMode="auto">
              <a:xfrm flipV="1">
                <a:off x="939" y="3720"/>
                <a:ext cx="24" cy="1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5" name="Line 106"/>
              <p:cNvSpPr>
                <a:spLocks noChangeShapeType="1"/>
              </p:cNvSpPr>
              <p:nvPr/>
            </p:nvSpPr>
            <p:spPr bwMode="auto">
              <a:xfrm flipV="1">
                <a:off x="963" y="3701"/>
                <a:ext cx="26" cy="1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6" name="Line 107"/>
              <p:cNvSpPr>
                <a:spLocks noChangeShapeType="1"/>
              </p:cNvSpPr>
              <p:nvPr/>
            </p:nvSpPr>
            <p:spPr bwMode="auto">
              <a:xfrm flipV="1">
                <a:off x="989" y="3679"/>
                <a:ext cx="28" cy="2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7" name="Line 108"/>
              <p:cNvSpPr>
                <a:spLocks noChangeShapeType="1"/>
              </p:cNvSpPr>
              <p:nvPr/>
            </p:nvSpPr>
            <p:spPr bwMode="auto">
              <a:xfrm flipV="1">
                <a:off x="1017" y="3655"/>
                <a:ext cx="25" cy="2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8" name="Line 109"/>
              <p:cNvSpPr>
                <a:spLocks noChangeShapeType="1"/>
              </p:cNvSpPr>
              <p:nvPr/>
            </p:nvSpPr>
            <p:spPr bwMode="auto">
              <a:xfrm flipV="1">
                <a:off x="1042" y="3626"/>
                <a:ext cx="26"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89" name="Line 110"/>
              <p:cNvSpPr>
                <a:spLocks noChangeShapeType="1"/>
              </p:cNvSpPr>
              <p:nvPr/>
            </p:nvSpPr>
            <p:spPr bwMode="auto">
              <a:xfrm flipV="1">
                <a:off x="1068" y="3592"/>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0" name="Line 111"/>
              <p:cNvSpPr>
                <a:spLocks noChangeShapeType="1"/>
              </p:cNvSpPr>
              <p:nvPr/>
            </p:nvSpPr>
            <p:spPr bwMode="auto">
              <a:xfrm flipV="1">
                <a:off x="1093" y="3555"/>
                <a:ext cx="25" cy="3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1" name="Line 112"/>
              <p:cNvSpPr>
                <a:spLocks noChangeShapeType="1"/>
              </p:cNvSpPr>
              <p:nvPr/>
            </p:nvSpPr>
            <p:spPr bwMode="auto">
              <a:xfrm flipV="1">
                <a:off x="1118" y="3514"/>
                <a:ext cx="26"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2" name="Line 113"/>
              <p:cNvSpPr>
                <a:spLocks noChangeShapeType="1"/>
              </p:cNvSpPr>
              <p:nvPr/>
            </p:nvSpPr>
            <p:spPr bwMode="auto">
              <a:xfrm flipV="1">
                <a:off x="1144" y="3472"/>
                <a:ext cx="24" cy="4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3" name="Line 114"/>
              <p:cNvSpPr>
                <a:spLocks noChangeShapeType="1"/>
              </p:cNvSpPr>
              <p:nvPr/>
            </p:nvSpPr>
            <p:spPr bwMode="auto">
              <a:xfrm flipV="1">
                <a:off x="1168" y="3424"/>
                <a:ext cx="29" cy="4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4" name="Line 115"/>
              <p:cNvSpPr>
                <a:spLocks noChangeShapeType="1"/>
              </p:cNvSpPr>
              <p:nvPr/>
            </p:nvSpPr>
            <p:spPr bwMode="auto">
              <a:xfrm flipV="1">
                <a:off x="1197" y="3374"/>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5" name="Line 116"/>
              <p:cNvSpPr>
                <a:spLocks noChangeShapeType="1"/>
              </p:cNvSpPr>
              <p:nvPr/>
            </p:nvSpPr>
            <p:spPr bwMode="auto">
              <a:xfrm flipV="1">
                <a:off x="1222" y="3322"/>
                <a:ext cx="26"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6" name="Line 117"/>
              <p:cNvSpPr>
                <a:spLocks noChangeShapeType="1"/>
              </p:cNvSpPr>
              <p:nvPr/>
            </p:nvSpPr>
            <p:spPr bwMode="auto">
              <a:xfrm flipV="1">
                <a:off x="1248" y="3269"/>
                <a:ext cx="24" cy="5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7" name="Line 118"/>
              <p:cNvSpPr>
                <a:spLocks noChangeShapeType="1"/>
              </p:cNvSpPr>
              <p:nvPr/>
            </p:nvSpPr>
            <p:spPr bwMode="auto">
              <a:xfrm flipV="1">
                <a:off x="1272" y="3218"/>
                <a:ext cx="26" cy="5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8" name="Line 119"/>
              <p:cNvSpPr>
                <a:spLocks noChangeShapeType="1"/>
              </p:cNvSpPr>
              <p:nvPr/>
            </p:nvSpPr>
            <p:spPr bwMode="auto">
              <a:xfrm flipV="1">
                <a:off x="1298" y="3166"/>
                <a:ext cx="25"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99" name="Line 120"/>
              <p:cNvSpPr>
                <a:spLocks noChangeShapeType="1"/>
              </p:cNvSpPr>
              <p:nvPr/>
            </p:nvSpPr>
            <p:spPr bwMode="auto">
              <a:xfrm flipV="1">
                <a:off x="1323" y="3116"/>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0" name="Line 121"/>
              <p:cNvSpPr>
                <a:spLocks noChangeShapeType="1"/>
              </p:cNvSpPr>
              <p:nvPr/>
            </p:nvSpPr>
            <p:spPr bwMode="auto">
              <a:xfrm flipV="1">
                <a:off x="1348" y="3070"/>
                <a:ext cx="29" cy="4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1" name="Line 122"/>
              <p:cNvSpPr>
                <a:spLocks noChangeShapeType="1"/>
              </p:cNvSpPr>
              <p:nvPr/>
            </p:nvSpPr>
            <p:spPr bwMode="auto">
              <a:xfrm flipV="1">
                <a:off x="1377" y="3029"/>
                <a:ext cx="25"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2" name="Line 123"/>
              <p:cNvSpPr>
                <a:spLocks noChangeShapeType="1"/>
              </p:cNvSpPr>
              <p:nvPr/>
            </p:nvSpPr>
            <p:spPr bwMode="auto">
              <a:xfrm flipV="1">
                <a:off x="1402" y="2995"/>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3" name="Line 124"/>
              <p:cNvSpPr>
                <a:spLocks noChangeShapeType="1"/>
              </p:cNvSpPr>
              <p:nvPr/>
            </p:nvSpPr>
            <p:spPr bwMode="auto">
              <a:xfrm flipV="1">
                <a:off x="1427" y="296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4" name="Line 125"/>
              <p:cNvSpPr>
                <a:spLocks noChangeShapeType="1"/>
              </p:cNvSpPr>
              <p:nvPr/>
            </p:nvSpPr>
            <p:spPr bwMode="auto">
              <a:xfrm flipV="1">
                <a:off x="1452" y="2945"/>
                <a:ext cx="25" cy="2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5" name="Line 126"/>
              <p:cNvSpPr>
                <a:spLocks noChangeShapeType="1"/>
              </p:cNvSpPr>
              <p:nvPr/>
            </p:nvSpPr>
            <p:spPr bwMode="auto">
              <a:xfrm flipV="1">
                <a:off x="1477" y="2931"/>
                <a:ext cx="26" cy="1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6" name="Line 127"/>
              <p:cNvSpPr>
                <a:spLocks noChangeShapeType="1"/>
              </p:cNvSpPr>
              <p:nvPr/>
            </p:nvSpPr>
            <p:spPr bwMode="auto">
              <a:xfrm flipV="1">
                <a:off x="1503" y="2928"/>
                <a:ext cx="28"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7" name="Line 128"/>
              <p:cNvSpPr>
                <a:spLocks noChangeShapeType="1"/>
              </p:cNvSpPr>
              <p:nvPr/>
            </p:nvSpPr>
            <p:spPr bwMode="auto">
              <a:xfrm>
                <a:off x="1531" y="2928"/>
                <a:ext cx="26"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8" name="Line 129"/>
              <p:cNvSpPr>
                <a:spLocks noChangeShapeType="1"/>
              </p:cNvSpPr>
              <p:nvPr/>
            </p:nvSpPr>
            <p:spPr bwMode="auto">
              <a:xfrm>
                <a:off x="1557" y="2931"/>
                <a:ext cx="24" cy="1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09" name="Line 130"/>
              <p:cNvSpPr>
                <a:spLocks noChangeShapeType="1"/>
              </p:cNvSpPr>
              <p:nvPr/>
            </p:nvSpPr>
            <p:spPr bwMode="auto">
              <a:xfrm>
                <a:off x="1581" y="2945"/>
                <a:ext cx="26" cy="2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0" name="Line 131"/>
              <p:cNvSpPr>
                <a:spLocks noChangeShapeType="1"/>
              </p:cNvSpPr>
              <p:nvPr/>
            </p:nvSpPr>
            <p:spPr bwMode="auto">
              <a:xfrm>
                <a:off x="1607" y="296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1" name="Line 132"/>
              <p:cNvSpPr>
                <a:spLocks noChangeShapeType="1"/>
              </p:cNvSpPr>
              <p:nvPr/>
            </p:nvSpPr>
            <p:spPr bwMode="auto">
              <a:xfrm>
                <a:off x="1632" y="2995"/>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2" name="Line 133"/>
              <p:cNvSpPr>
                <a:spLocks noChangeShapeType="1"/>
              </p:cNvSpPr>
              <p:nvPr/>
            </p:nvSpPr>
            <p:spPr bwMode="auto">
              <a:xfrm>
                <a:off x="1657" y="3029"/>
                <a:ext cx="25"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3" name="Line 134"/>
              <p:cNvSpPr>
                <a:spLocks noChangeShapeType="1"/>
              </p:cNvSpPr>
              <p:nvPr/>
            </p:nvSpPr>
            <p:spPr bwMode="auto">
              <a:xfrm>
                <a:off x="1682" y="3070"/>
                <a:ext cx="29" cy="4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4" name="Line 135"/>
              <p:cNvSpPr>
                <a:spLocks noChangeShapeType="1"/>
              </p:cNvSpPr>
              <p:nvPr/>
            </p:nvSpPr>
            <p:spPr bwMode="auto">
              <a:xfrm>
                <a:off x="1711" y="3116"/>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5" name="Line 136"/>
              <p:cNvSpPr>
                <a:spLocks noChangeShapeType="1"/>
              </p:cNvSpPr>
              <p:nvPr/>
            </p:nvSpPr>
            <p:spPr bwMode="auto">
              <a:xfrm>
                <a:off x="1736" y="3166"/>
                <a:ext cx="25"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6" name="Line 137"/>
              <p:cNvSpPr>
                <a:spLocks noChangeShapeType="1"/>
              </p:cNvSpPr>
              <p:nvPr/>
            </p:nvSpPr>
            <p:spPr bwMode="auto">
              <a:xfrm>
                <a:off x="1761" y="3218"/>
                <a:ext cx="25" cy="5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7" name="Line 138"/>
              <p:cNvSpPr>
                <a:spLocks noChangeShapeType="1"/>
              </p:cNvSpPr>
              <p:nvPr/>
            </p:nvSpPr>
            <p:spPr bwMode="auto">
              <a:xfrm>
                <a:off x="1786" y="3269"/>
                <a:ext cx="26" cy="5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8" name="Line 139"/>
              <p:cNvSpPr>
                <a:spLocks noChangeShapeType="1"/>
              </p:cNvSpPr>
              <p:nvPr/>
            </p:nvSpPr>
            <p:spPr bwMode="auto">
              <a:xfrm>
                <a:off x="1812" y="3322"/>
                <a:ext cx="24"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19" name="Line 140"/>
              <p:cNvSpPr>
                <a:spLocks noChangeShapeType="1"/>
              </p:cNvSpPr>
              <p:nvPr/>
            </p:nvSpPr>
            <p:spPr bwMode="auto">
              <a:xfrm>
                <a:off x="1836" y="3374"/>
                <a:ext cx="26"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0" name="Line 141"/>
              <p:cNvSpPr>
                <a:spLocks noChangeShapeType="1"/>
              </p:cNvSpPr>
              <p:nvPr/>
            </p:nvSpPr>
            <p:spPr bwMode="auto">
              <a:xfrm>
                <a:off x="1862" y="3424"/>
                <a:ext cx="28" cy="4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1" name="Line 142"/>
              <p:cNvSpPr>
                <a:spLocks noChangeShapeType="1"/>
              </p:cNvSpPr>
              <p:nvPr/>
            </p:nvSpPr>
            <p:spPr bwMode="auto">
              <a:xfrm>
                <a:off x="1890" y="3472"/>
                <a:ext cx="26" cy="4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2" name="Line 143"/>
              <p:cNvSpPr>
                <a:spLocks noChangeShapeType="1"/>
              </p:cNvSpPr>
              <p:nvPr/>
            </p:nvSpPr>
            <p:spPr bwMode="auto">
              <a:xfrm>
                <a:off x="1916" y="3514"/>
                <a:ext cx="24"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3" name="Line 144"/>
              <p:cNvSpPr>
                <a:spLocks noChangeShapeType="1"/>
              </p:cNvSpPr>
              <p:nvPr/>
            </p:nvSpPr>
            <p:spPr bwMode="auto">
              <a:xfrm>
                <a:off x="1940" y="3555"/>
                <a:ext cx="26" cy="3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4" name="Line 145"/>
              <p:cNvSpPr>
                <a:spLocks noChangeShapeType="1"/>
              </p:cNvSpPr>
              <p:nvPr/>
            </p:nvSpPr>
            <p:spPr bwMode="auto">
              <a:xfrm>
                <a:off x="1966" y="3592"/>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5" name="Line 146"/>
              <p:cNvSpPr>
                <a:spLocks noChangeShapeType="1"/>
              </p:cNvSpPr>
              <p:nvPr/>
            </p:nvSpPr>
            <p:spPr bwMode="auto">
              <a:xfrm>
                <a:off x="1991" y="362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6" name="Line 147"/>
              <p:cNvSpPr>
                <a:spLocks noChangeShapeType="1"/>
              </p:cNvSpPr>
              <p:nvPr/>
            </p:nvSpPr>
            <p:spPr bwMode="auto">
              <a:xfrm>
                <a:off x="2016" y="3655"/>
                <a:ext cx="25" cy="2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7" name="Line 148"/>
              <p:cNvSpPr>
                <a:spLocks noChangeShapeType="1"/>
              </p:cNvSpPr>
              <p:nvPr/>
            </p:nvSpPr>
            <p:spPr bwMode="auto">
              <a:xfrm>
                <a:off x="2041" y="3679"/>
                <a:ext cx="29" cy="2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8" name="Line 149"/>
              <p:cNvSpPr>
                <a:spLocks noChangeShapeType="1"/>
              </p:cNvSpPr>
              <p:nvPr/>
            </p:nvSpPr>
            <p:spPr bwMode="auto">
              <a:xfrm>
                <a:off x="2070" y="3701"/>
                <a:ext cx="25" cy="1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29" name="Line 150"/>
              <p:cNvSpPr>
                <a:spLocks noChangeShapeType="1"/>
              </p:cNvSpPr>
              <p:nvPr/>
            </p:nvSpPr>
            <p:spPr bwMode="auto">
              <a:xfrm>
                <a:off x="2095" y="3720"/>
                <a:ext cx="26" cy="1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0" name="Line 151"/>
              <p:cNvSpPr>
                <a:spLocks noChangeShapeType="1"/>
              </p:cNvSpPr>
              <p:nvPr/>
            </p:nvSpPr>
            <p:spPr bwMode="auto">
              <a:xfrm>
                <a:off x="2121" y="3736"/>
                <a:ext cx="24" cy="1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1" name="Line 152"/>
              <p:cNvSpPr>
                <a:spLocks noChangeShapeType="1"/>
              </p:cNvSpPr>
              <p:nvPr/>
            </p:nvSpPr>
            <p:spPr bwMode="auto">
              <a:xfrm>
                <a:off x="2145" y="3749"/>
                <a:ext cx="26" cy="1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2" name="Line 153"/>
              <p:cNvSpPr>
                <a:spLocks noChangeShapeType="1"/>
              </p:cNvSpPr>
              <p:nvPr/>
            </p:nvSpPr>
            <p:spPr bwMode="auto">
              <a:xfrm>
                <a:off x="2171" y="3760"/>
                <a:ext cx="24" cy="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3" name="Line 154"/>
              <p:cNvSpPr>
                <a:spLocks noChangeShapeType="1"/>
              </p:cNvSpPr>
              <p:nvPr/>
            </p:nvSpPr>
            <p:spPr bwMode="auto">
              <a:xfrm>
                <a:off x="2195" y="3768"/>
                <a:ext cx="30" cy="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4" name="Line 155"/>
              <p:cNvSpPr>
                <a:spLocks noChangeShapeType="1"/>
              </p:cNvSpPr>
              <p:nvPr/>
            </p:nvSpPr>
            <p:spPr bwMode="auto">
              <a:xfrm>
                <a:off x="2225" y="3775"/>
                <a:ext cx="24" cy="5"/>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5" name="Line 156"/>
              <p:cNvSpPr>
                <a:spLocks noChangeShapeType="1"/>
              </p:cNvSpPr>
              <p:nvPr/>
            </p:nvSpPr>
            <p:spPr bwMode="auto">
              <a:xfrm>
                <a:off x="2249" y="3780"/>
                <a:ext cx="26"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6" name="Line 157"/>
              <p:cNvSpPr>
                <a:spLocks noChangeShapeType="1"/>
              </p:cNvSpPr>
              <p:nvPr/>
            </p:nvSpPr>
            <p:spPr bwMode="auto">
              <a:xfrm>
                <a:off x="2275" y="3784"/>
                <a:ext cx="25"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7" name="Line 158"/>
              <p:cNvSpPr>
                <a:spLocks noChangeShapeType="1"/>
              </p:cNvSpPr>
              <p:nvPr/>
            </p:nvSpPr>
            <p:spPr bwMode="auto">
              <a:xfrm>
                <a:off x="2300" y="3787"/>
                <a:ext cx="25"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8" name="Line 159"/>
              <p:cNvSpPr>
                <a:spLocks noChangeShapeType="1"/>
              </p:cNvSpPr>
              <p:nvPr/>
            </p:nvSpPr>
            <p:spPr bwMode="auto">
              <a:xfrm>
                <a:off x="2325" y="3791"/>
                <a:ext cx="25"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39" name="Line 160"/>
              <p:cNvSpPr>
                <a:spLocks noChangeShapeType="1"/>
              </p:cNvSpPr>
              <p:nvPr/>
            </p:nvSpPr>
            <p:spPr bwMode="auto">
              <a:xfrm>
                <a:off x="2350" y="3792"/>
                <a:ext cx="26"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40" name="Line 161"/>
              <p:cNvSpPr>
                <a:spLocks noChangeShapeType="1"/>
              </p:cNvSpPr>
              <p:nvPr/>
            </p:nvSpPr>
            <p:spPr bwMode="auto">
              <a:xfrm>
                <a:off x="2376" y="3794"/>
                <a:ext cx="28"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41" name="Line 162"/>
              <p:cNvSpPr>
                <a:spLocks noChangeShapeType="1"/>
              </p:cNvSpPr>
              <p:nvPr/>
            </p:nvSpPr>
            <p:spPr bwMode="auto">
              <a:xfrm>
                <a:off x="2404" y="3794"/>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42" name="Line 163"/>
              <p:cNvSpPr>
                <a:spLocks noChangeShapeType="1"/>
              </p:cNvSpPr>
              <p:nvPr/>
            </p:nvSpPr>
            <p:spPr bwMode="auto">
              <a:xfrm>
                <a:off x="2429"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43" name="Line 164"/>
              <p:cNvSpPr>
                <a:spLocks noChangeShapeType="1"/>
              </p:cNvSpPr>
              <p:nvPr/>
            </p:nvSpPr>
            <p:spPr bwMode="auto">
              <a:xfrm>
                <a:off x="2454" y="3796"/>
                <a:ext cx="26"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444" name="Line 165"/>
              <p:cNvSpPr>
                <a:spLocks noChangeShapeType="1"/>
              </p:cNvSpPr>
              <p:nvPr/>
            </p:nvSpPr>
            <p:spPr bwMode="auto">
              <a:xfrm>
                <a:off x="2480" y="3796"/>
                <a:ext cx="24"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302193" name="Freeform 166"/>
            <p:cNvSpPr>
              <a:spLocks/>
            </p:cNvSpPr>
            <p:nvPr/>
          </p:nvSpPr>
          <p:spPr bwMode="auto">
            <a:xfrm>
              <a:off x="1401" y="3060"/>
              <a:ext cx="362" cy="113"/>
            </a:xfrm>
            <a:custGeom>
              <a:avLst/>
              <a:gdLst>
                <a:gd name="T0" fmla="*/ 31 w 668"/>
                <a:gd name="T1" fmla="*/ 4 h 265"/>
                <a:gd name="T2" fmla="*/ 23 w 668"/>
                <a:gd name="T3" fmla="*/ 4 h 265"/>
                <a:gd name="T4" fmla="*/ 19 w 668"/>
                <a:gd name="T5" fmla="*/ 3 h 265"/>
                <a:gd name="T6" fmla="*/ 15 w 668"/>
                <a:gd name="T7" fmla="*/ 3 h 265"/>
                <a:gd name="T8" fmla="*/ 12 w 668"/>
                <a:gd name="T9" fmla="*/ 3 h 265"/>
                <a:gd name="T10" fmla="*/ 9 w 668"/>
                <a:gd name="T11" fmla="*/ 3 h 265"/>
                <a:gd name="T12" fmla="*/ 3 w 668"/>
                <a:gd name="T13" fmla="*/ 1 h 265"/>
                <a:gd name="T14" fmla="*/ 1 w 668"/>
                <a:gd name="T15" fmla="*/ 0 h 265"/>
                <a:gd name="T16" fmla="*/ 0 w 668"/>
                <a:gd name="T17" fmla="*/ 4 h 265"/>
                <a:gd name="T18" fmla="*/ 31 w 668"/>
                <a:gd name="T19" fmla="*/ 4 h 2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8" h="265">
                  <a:moveTo>
                    <a:pt x="668" y="265"/>
                  </a:moveTo>
                  <a:lnTo>
                    <a:pt x="498" y="260"/>
                  </a:lnTo>
                  <a:lnTo>
                    <a:pt x="410" y="249"/>
                  </a:lnTo>
                  <a:lnTo>
                    <a:pt x="324" y="237"/>
                  </a:lnTo>
                  <a:lnTo>
                    <a:pt x="248" y="212"/>
                  </a:lnTo>
                  <a:lnTo>
                    <a:pt x="189" y="180"/>
                  </a:lnTo>
                  <a:lnTo>
                    <a:pt x="72" y="99"/>
                  </a:lnTo>
                  <a:lnTo>
                    <a:pt x="2" y="0"/>
                  </a:lnTo>
                  <a:lnTo>
                    <a:pt x="0" y="264"/>
                  </a:lnTo>
                  <a:lnTo>
                    <a:pt x="668" y="265"/>
                  </a:lnTo>
                  <a:close/>
                </a:path>
              </a:pathLst>
            </a:custGeom>
            <a:solidFill>
              <a:srgbClr val="99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94" name="Line 167"/>
            <p:cNvSpPr>
              <a:spLocks noChangeShapeType="1"/>
            </p:cNvSpPr>
            <p:nvPr/>
          </p:nvSpPr>
          <p:spPr bwMode="auto">
            <a:xfrm>
              <a:off x="1401" y="2896"/>
              <a:ext cx="0" cy="282"/>
            </a:xfrm>
            <a:prstGeom prst="line">
              <a:avLst/>
            </a:prstGeom>
            <a:noFill/>
            <a:ln w="127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95" name="Line 168"/>
            <p:cNvSpPr>
              <a:spLocks noChangeShapeType="1"/>
            </p:cNvSpPr>
            <p:nvPr/>
          </p:nvSpPr>
          <p:spPr bwMode="auto">
            <a:xfrm>
              <a:off x="468" y="3175"/>
              <a:ext cx="1300"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96" name="Text Box 169"/>
            <p:cNvSpPr txBox="1">
              <a:spLocks noChangeArrowheads="1"/>
            </p:cNvSpPr>
            <p:nvPr/>
          </p:nvSpPr>
          <p:spPr bwMode="auto">
            <a:xfrm>
              <a:off x="700" y="3359"/>
              <a:ext cx="262"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LSL</a:t>
              </a:r>
            </a:p>
          </p:txBody>
        </p:sp>
        <p:sp>
          <p:nvSpPr>
            <p:cNvPr id="302197" name="Line 170"/>
            <p:cNvSpPr>
              <a:spLocks noChangeShapeType="1"/>
            </p:cNvSpPr>
            <p:nvPr/>
          </p:nvSpPr>
          <p:spPr bwMode="auto">
            <a:xfrm>
              <a:off x="1115" y="3284"/>
              <a:ext cx="0" cy="544"/>
            </a:xfrm>
            <a:prstGeom prst="line">
              <a:avLst/>
            </a:prstGeom>
            <a:noFill/>
            <a:ln w="1905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6" name="Group 171"/>
            <p:cNvGrpSpPr>
              <a:grpSpLocks/>
            </p:cNvGrpSpPr>
            <p:nvPr/>
          </p:nvGrpSpPr>
          <p:grpSpPr bwMode="auto">
            <a:xfrm>
              <a:off x="473" y="3373"/>
              <a:ext cx="1291" cy="453"/>
              <a:chOff x="554" y="2928"/>
              <a:chExt cx="1950" cy="870"/>
            </a:xfrm>
          </p:grpSpPr>
          <p:sp>
            <p:nvSpPr>
              <p:cNvPr id="302293" name="Line 172"/>
              <p:cNvSpPr>
                <a:spLocks noChangeShapeType="1"/>
              </p:cNvSpPr>
              <p:nvPr/>
            </p:nvSpPr>
            <p:spPr bwMode="auto">
              <a:xfrm flipV="1">
                <a:off x="554" y="3796"/>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94" name="Line 173"/>
              <p:cNvSpPr>
                <a:spLocks noChangeShapeType="1"/>
              </p:cNvSpPr>
              <p:nvPr/>
            </p:nvSpPr>
            <p:spPr bwMode="auto">
              <a:xfrm>
                <a:off x="579"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95" name="Line 174"/>
              <p:cNvSpPr>
                <a:spLocks noChangeShapeType="1"/>
              </p:cNvSpPr>
              <p:nvPr/>
            </p:nvSpPr>
            <p:spPr bwMode="auto">
              <a:xfrm>
                <a:off x="604"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96" name="Line 175"/>
              <p:cNvSpPr>
                <a:spLocks noChangeShapeType="1"/>
              </p:cNvSpPr>
              <p:nvPr/>
            </p:nvSpPr>
            <p:spPr bwMode="auto">
              <a:xfrm flipV="1">
                <a:off x="629" y="3794"/>
                <a:ext cx="26"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97" name="Line 176"/>
              <p:cNvSpPr>
                <a:spLocks noChangeShapeType="1"/>
              </p:cNvSpPr>
              <p:nvPr/>
            </p:nvSpPr>
            <p:spPr bwMode="auto">
              <a:xfrm>
                <a:off x="655" y="3794"/>
                <a:ext cx="28"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98" name="Line 177"/>
              <p:cNvSpPr>
                <a:spLocks noChangeShapeType="1"/>
              </p:cNvSpPr>
              <p:nvPr/>
            </p:nvSpPr>
            <p:spPr bwMode="auto">
              <a:xfrm flipV="1">
                <a:off x="683" y="3792"/>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99" name="Line 178"/>
              <p:cNvSpPr>
                <a:spLocks noChangeShapeType="1"/>
              </p:cNvSpPr>
              <p:nvPr/>
            </p:nvSpPr>
            <p:spPr bwMode="auto">
              <a:xfrm flipV="1">
                <a:off x="708" y="3791"/>
                <a:ext cx="25"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0" name="Line 179"/>
              <p:cNvSpPr>
                <a:spLocks noChangeShapeType="1"/>
              </p:cNvSpPr>
              <p:nvPr/>
            </p:nvSpPr>
            <p:spPr bwMode="auto">
              <a:xfrm flipV="1">
                <a:off x="733" y="3787"/>
                <a:ext cx="26"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1" name="Line 180"/>
              <p:cNvSpPr>
                <a:spLocks noChangeShapeType="1"/>
              </p:cNvSpPr>
              <p:nvPr/>
            </p:nvSpPr>
            <p:spPr bwMode="auto">
              <a:xfrm flipV="1">
                <a:off x="759" y="3784"/>
                <a:ext cx="25"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2" name="Line 181"/>
              <p:cNvSpPr>
                <a:spLocks noChangeShapeType="1"/>
              </p:cNvSpPr>
              <p:nvPr/>
            </p:nvSpPr>
            <p:spPr bwMode="auto">
              <a:xfrm flipV="1">
                <a:off x="784" y="3780"/>
                <a:ext cx="25"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3" name="Line 182"/>
              <p:cNvSpPr>
                <a:spLocks noChangeShapeType="1"/>
              </p:cNvSpPr>
              <p:nvPr/>
            </p:nvSpPr>
            <p:spPr bwMode="auto">
              <a:xfrm flipV="1">
                <a:off x="809" y="3775"/>
                <a:ext cx="26" cy="5"/>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4" name="Line 183"/>
              <p:cNvSpPr>
                <a:spLocks noChangeShapeType="1"/>
              </p:cNvSpPr>
              <p:nvPr/>
            </p:nvSpPr>
            <p:spPr bwMode="auto">
              <a:xfrm flipV="1">
                <a:off x="835" y="3768"/>
                <a:ext cx="28" cy="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5" name="Line 184"/>
              <p:cNvSpPr>
                <a:spLocks noChangeShapeType="1"/>
              </p:cNvSpPr>
              <p:nvPr/>
            </p:nvSpPr>
            <p:spPr bwMode="auto">
              <a:xfrm flipV="1">
                <a:off x="863" y="3760"/>
                <a:ext cx="25" cy="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6" name="Line 185"/>
              <p:cNvSpPr>
                <a:spLocks noChangeShapeType="1"/>
              </p:cNvSpPr>
              <p:nvPr/>
            </p:nvSpPr>
            <p:spPr bwMode="auto">
              <a:xfrm flipV="1">
                <a:off x="888" y="3749"/>
                <a:ext cx="25" cy="1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7" name="Line 186"/>
              <p:cNvSpPr>
                <a:spLocks noChangeShapeType="1"/>
              </p:cNvSpPr>
              <p:nvPr/>
            </p:nvSpPr>
            <p:spPr bwMode="auto">
              <a:xfrm flipV="1">
                <a:off x="913" y="3736"/>
                <a:ext cx="26" cy="1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8" name="Line 187"/>
              <p:cNvSpPr>
                <a:spLocks noChangeShapeType="1"/>
              </p:cNvSpPr>
              <p:nvPr/>
            </p:nvSpPr>
            <p:spPr bwMode="auto">
              <a:xfrm flipV="1">
                <a:off x="939" y="3720"/>
                <a:ext cx="24" cy="1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09" name="Line 188"/>
              <p:cNvSpPr>
                <a:spLocks noChangeShapeType="1"/>
              </p:cNvSpPr>
              <p:nvPr/>
            </p:nvSpPr>
            <p:spPr bwMode="auto">
              <a:xfrm flipV="1">
                <a:off x="963" y="3701"/>
                <a:ext cx="26" cy="1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0" name="Line 189"/>
              <p:cNvSpPr>
                <a:spLocks noChangeShapeType="1"/>
              </p:cNvSpPr>
              <p:nvPr/>
            </p:nvSpPr>
            <p:spPr bwMode="auto">
              <a:xfrm flipV="1">
                <a:off x="989" y="3679"/>
                <a:ext cx="28" cy="2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1" name="Line 190"/>
              <p:cNvSpPr>
                <a:spLocks noChangeShapeType="1"/>
              </p:cNvSpPr>
              <p:nvPr/>
            </p:nvSpPr>
            <p:spPr bwMode="auto">
              <a:xfrm flipV="1">
                <a:off x="1017" y="3655"/>
                <a:ext cx="25" cy="2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2" name="Line 191"/>
              <p:cNvSpPr>
                <a:spLocks noChangeShapeType="1"/>
              </p:cNvSpPr>
              <p:nvPr/>
            </p:nvSpPr>
            <p:spPr bwMode="auto">
              <a:xfrm flipV="1">
                <a:off x="1042" y="3626"/>
                <a:ext cx="26"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3" name="Line 192"/>
              <p:cNvSpPr>
                <a:spLocks noChangeShapeType="1"/>
              </p:cNvSpPr>
              <p:nvPr/>
            </p:nvSpPr>
            <p:spPr bwMode="auto">
              <a:xfrm flipV="1">
                <a:off x="1068" y="3592"/>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4" name="Line 193"/>
              <p:cNvSpPr>
                <a:spLocks noChangeShapeType="1"/>
              </p:cNvSpPr>
              <p:nvPr/>
            </p:nvSpPr>
            <p:spPr bwMode="auto">
              <a:xfrm flipV="1">
                <a:off x="1093" y="3555"/>
                <a:ext cx="25" cy="3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5" name="Line 194"/>
              <p:cNvSpPr>
                <a:spLocks noChangeShapeType="1"/>
              </p:cNvSpPr>
              <p:nvPr/>
            </p:nvSpPr>
            <p:spPr bwMode="auto">
              <a:xfrm flipV="1">
                <a:off x="1118" y="3514"/>
                <a:ext cx="26"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6" name="Line 195"/>
              <p:cNvSpPr>
                <a:spLocks noChangeShapeType="1"/>
              </p:cNvSpPr>
              <p:nvPr/>
            </p:nvSpPr>
            <p:spPr bwMode="auto">
              <a:xfrm flipV="1">
                <a:off x="1144" y="3472"/>
                <a:ext cx="24" cy="4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7" name="Line 196"/>
              <p:cNvSpPr>
                <a:spLocks noChangeShapeType="1"/>
              </p:cNvSpPr>
              <p:nvPr/>
            </p:nvSpPr>
            <p:spPr bwMode="auto">
              <a:xfrm flipV="1">
                <a:off x="1168" y="3424"/>
                <a:ext cx="29" cy="4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8" name="Line 197"/>
              <p:cNvSpPr>
                <a:spLocks noChangeShapeType="1"/>
              </p:cNvSpPr>
              <p:nvPr/>
            </p:nvSpPr>
            <p:spPr bwMode="auto">
              <a:xfrm flipV="1">
                <a:off x="1197" y="3374"/>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19" name="Line 198"/>
              <p:cNvSpPr>
                <a:spLocks noChangeShapeType="1"/>
              </p:cNvSpPr>
              <p:nvPr/>
            </p:nvSpPr>
            <p:spPr bwMode="auto">
              <a:xfrm flipV="1">
                <a:off x="1222" y="3322"/>
                <a:ext cx="26"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0" name="Line 199"/>
              <p:cNvSpPr>
                <a:spLocks noChangeShapeType="1"/>
              </p:cNvSpPr>
              <p:nvPr/>
            </p:nvSpPr>
            <p:spPr bwMode="auto">
              <a:xfrm flipV="1">
                <a:off x="1248" y="3269"/>
                <a:ext cx="24" cy="5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1" name="Line 200"/>
              <p:cNvSpPr>
                <a:spLocks noChangeShapeType="1"/>
              </p:cNvSpPr>
              <p:nvPr/>
            </p:nvSpPr>
            <p:spPr bwMode="auto">
              <a:xfrm flipV="1">
                <a:off x="1272" y="3218"/>
                <a:ext cx="26" cy="5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2" name="Line 201"/>
              <p:cNvSpPr>
                <a:spLocks noChangeShapeType="1"/>
              </p:cNvSpPr>
              <p:nvPr/>
            </p:nvSpPr>
            <p:spPr bwMode="auto">
              <a:xfrm flipV="1">
                <a:off x="1298" y="3166"/>
                <a:ext cx="25"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3" name="Line 202"/>
              <p:cNvSpPr>
                <a:spLocks noChangeShapeType="1"/>
              </p:cNvSpPr>
              <p:nvPr/>
            </p:nvSpPr>
            <p:spPr bwMode="auto">
              <a:xfrm flipV="1">
                <a:off x="1323" y="3116"/>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4" name="Line 203"/>
              <p:cNvSpPr>
                <a:spLocks noChangeShapeType="1"/>
              </p:cNvSpPr>
              <p:nvPr/>
            </p:nvSpPr>
            <p:spPr bwMode="auto">
              <a:xfrm flipV="1">
                <a:off x="1348" y="3070"/>
                <a:ext cx="29" cy="4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5" name="Line 204"/>
              <p:cNvSpPr>
                <a:spLocks noChangeShapeType="1"/>
              </p:cNvSpPr>
              <p:nvPr/>
            </p:nvSpPr>
            <p:spPr bwMode="auto">
              <a:xfrm flipV="1">
                <a:off x="1377" y="3029"/>
                <a:ext cx="25"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6" name="Line 205"/>
              <p:cNvSpPr>
                <a:spLocks noChangeShapeType="1"/>
              </p:cNvSpPr>
              <p:nvPr/>
            </p:nvSpPr>
            <p:spPr bwMode="auto">
              <a:xfrm flipV="1">
                <a:off x="1402" y="2995"/>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7" name="Line 206"/>
              <p:cNvSpPr>
                <a:spLocks noChangeShapeType="1"/>
              </p:cNvSpPr>
              <p:nvPr/>
            </p:nvSpPr>
            <p:spPr bwMode="auto">
              <a:xfrm flipV="1">
                <a:off x="1427" y="296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8" name="Line 207"/>
              <p:cNvSpPr>
                <a:spLocks noChangeShapeType="1"/>
              </p:cNvSpPr>
              <p:nvPr/>
            </p:nvSpPr>
            <p:spPr bwMode="auto">
              <a:xfrm flipV="1">
                <a:off x="1452" y="2945"/>
                <a:ext cx="25" cy="2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29" name="Line 208"/>
              <p:cNvSpPr>
                <a:spLocks noChangeShapeType="1"/>
              </p:cNvSpPr>
              <p:nvPr/>
            </p:nvSpPr>
            <p:spPr bwMode="auto">
              <a:xfrm flipV="1">
                <a:off x="1477" y="2931"/>
                <a:ext cx="26" cy="1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0" name="Line 209"/>
              <p:cNvSpPr>
                <a:spLocks noChangeShapeType="1"/>
              </p:cNvSpPr>
              <p:nvPr/>
            </p:nvSpPr>
            <p:spPr bwMode="auto">
              <a:xfrm flipV="1">
                <a:off x="1503" y="2928"/>
                <a:ext cx="28"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1" name="Line 210"/>
              <p:cNvSpPr>
                <a:spLocks noChangeShapeType="1"/>
              </p:cNvSpPr>
              <p:nvPr/>
            </p:nvSpPr>
            <p:spPr bwMode="auto">
              <a:xfrm>
                <a:off x="1531" y="2928"/>
                <a:ext cx="26"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2" name="Line 211"/>
              <p:cNvSpPr>
                <a:spLocks noChangeShapeType="1"/>
              </p:cNvSpPr>
              <p:nvPr/>
            </p:nvSpPr>
            <p:spPr bwMode="auto">
              <a:xfrm>
                <a:off x="1557" y="2931"/>
                <a:ext cx="24" cy="1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3" name="Line 212"/>
              <p:cNvSpPr>
                <a:spLocks noChangeShapeType="1"/>
              </p:cNvSpPr>
              <p:nvPr/>
            </p:nvSpPr>
            <p:spPr bwMode="auto">
              <a:xfrm>
                <a:off x="1581" y="2945"/>
                <a:ext cx="26" cy="2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4" name="Line 213"/>
              <p:cNvSpPr>
                <a:spLocks noChangeShapeType="1"/>
              </p:cNvSpPr>
              <p:nvPr/>
            </p:nvSpPr>
            <p:spPr bwMode="auto">
              <a:xfrm>
                <a:off x="1607" y="296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5" name="Line 214"/>
              <p:cNvSpPr>
                <a:spLocks noChangeShapeType="1"/>
              </p:cNvSpPr>
              <p:nvPr/>
            </p:nvSpPr>
            <p:spPr bwMode="auto">
              <a:xfrm>
                <a:off x="1632" y="2995"/>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6" name="Line 215"/>
              <p:cNvSpPr>
                <a:spLocks noChangeShapeType="1"/>
              </p:cNvSpPr>
              <p:nvPr/>
            </p:nvSpPr>
            <p:spPr bwMode="auto">
              <a:xfrm>
                <a:off x="1657" y="3029"/>
                <a:ext cx="25"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7" name="Line 216"/>
              <p:cNvSpPr>
                <a:spLocks noChangeShapeType="1"/>
              </p:cNvSpPr>
              <p:nvPr/>
            </p:nvSpPr>
            <p:spPr bwMode="auto">
              <a:xfrm>
                <a:off x="1682" y="3070"/>
                <a:ext cx="29" cy="4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8" name="Line 217"/>
              <p:cNvSpPr>
                <a:spLocks noChangeShapeType="1"/>
              </p:cNvSpPr>
              <p:nvPr/>
            </p:nvSpPr>
            <p:spPr bwMode="auto">
              <a:xfrm>
                <a:off x="1711" y="3116"/>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39" name="Line 218"/>
              <p:cNvSpPr>
                <a:spLocks noChangeShapeType="1"/>
              </p:cNvSpPr>
              <p:nvPr/>
            </p:nvSpPr>
            <p:spPr bwMode="auto">
              <a:xfrm>
                <a:off x="1736" y="3166"/>
                <a:ext cx="25"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0" name="Line 219"/>
              <p:cNvSpPr>
                <a:spLocks noChangeShapeType="1"/>
              </p:cNvSpPr>
              <p:nvPr/>
            </p:nvSpPr>
            <p:spPr bwMode="auto">
              <a:xfrm>
                <a:off x="1761" y="3218"/>
                <a:ext cx="25" cy="5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1" name="Line 220"/>
              <p:cNvSpPr>
                <a:spLocks noChangeShapeType="1"/>
              </p:cNvSpPr>
              <p:nvPr/>
            </p:nvSpPr>
            <p:spPr bwMode="auto">
              <a:xfrm>
                <a:off x="1786" y="3269"/>
                <a:ext cx="26" cy="5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2" name="Line 221"/>
              <p:cNvSpPr>
                <a:spLocks noChangeShapeType="1"/>
              </p:cNvSpPr>
              <p:nvPr/>
            </p:nvSpPr>
            <p:spPr bwMode="auto">
              <a:xfrm>
                <a:off x="1812" y="3322"/>
                <a:ext cx="24"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3" name="Line 222"/>
              <p:cNvSpPr>
                <a:spLocks noChangeShapeType="1"/>
              </p:cNvSpPr>
              <p:nvPr/>
            </p:nvSpPr>
            <p:spPr bwMode="auto">
              <a:xfrm>
                <a:off x="1836" y="3374"/>
                <a:ext cx="26"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4" name="Line 223"/>
              <p:cNvSpPr>
                <a:spLocks noChangeShapeType="1"/>
              </p:cNvSpPr>
              <p:nvPr/>
            </p:nvSpPr>
            <p:spPr bwMode="auto">
              <a:xfrm>
                <a:off x="1862" y="3424"/>
                <a:ext cx="28" cy="4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5" name="Line 224"/>
              <p:cNvSpPr>
                <a:spLocks noChangeShapeType="1"/>
              </p:cNvSpPr>
              <p:nvPr/>
            </p:nvSpPr>
            <p:spPr bwMode="auto">
              <a:xfrm>
                <a:off x="1890" y="3472"/>
                <a:ext cx="26" cy="4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6" name="Line 225"/>
              <p:cNvSpPr>
                <a:spLocks noChangeShapeType="1"/>
              </p:cNvSpPr>
              <p:nvPr/>
            </p:nvSpPr>
            <p:spPr bwMode="auto">
              <a:xfrm>
                <a:off x="1916" y="3514"/>
                <a:ext cx="24"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7" name="Line 226"/>
              <p:cNvSpPr>
                <a:spLocks noChangeShapeType="1"/>
              </p:cNvSpPr>
              <p:nvPr/>
            </p:nvSpPr>
            <p:spPr bwMode="auto">
              <a:xfrm>
                <a:off x="1940" y="3555"/>
                <a:ext cx="26" cy="3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8" name="Line 227"/>
              <p:cNvSpPr>
                <a:spLocks noChangeShapeType="1"/>
              </p:cNvSpPr>
              <p:nvPr/>
            </p:nvSpPr>
            <p:spPr bwMode="auto">
              <a:xfrm>
                <a:off x="1966" y="3592"/>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49" name="Line 228"/>
              <p:cNvSpPr>
                <a:spLocks noChangeShapeType="1"/>
              </p:cNvSpPr>
              <p:nvPr/>
            </p:nvSpPr>
            <p:spPr bwMode="auto">
              <a:xfrm>
                <a:off x="1991" y="362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0" name="Line 229"/>
              <p:cNvSpPr>
                <a:spLocks noChangeShapeType="1"/>
              </p:cNvSpPr>
              <p:nvPr/>
            </p:nvSpPr>
            <p:spPr bwMode="auto">
              <a:xfrm>
                <a:off x="2016" y="3655"/>
                <a:ext cx="25" cy="2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1" name="Line 230"/>
              <p:cNvSpPr>
                <a:spLocks noChangeShapeType="1"/>
              </p:cNvSpPr>
              <p:nvPr/>
            </p:nvSpPr>
            <p:spPr bwMode="auto">
              <a:xfrm>
                <a:off x="2041" y="3679"/>
                <a:ext cx="29" cy="2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2" name="Line 231"/>
              <p:cNvSpPr>
                <a:spLocks noChangeShapeType="1"/>
              </p:cNvSpPr>
              <p:nvPr/>
            </p:nvSpPr>
            <p:spPr bwMode="auto">
              <a:xfrm>
                <a:off x="2070" y="3701"/>
                <a:ext cx="25" cy="1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3" name="Line 232"/>
              <p:cNvSpPr>
                <a:spLocks noChangeShapeType="1"/>
              </p:cNvSpPr>
              <p:nvPr/>
            </p:nvSpPr>
            <p:spPr bwMode="auto">
              <a:xfrm>
                <a:off x="2095" y="3720"/>
                <a:ext cx="26" cy="1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4" name="Line 233"/>
              <p:cNvSpPr>
                <a:spLocks noChangeShapeType="1"/>
              </p:cNvSpPr>
              <p:nvPr/>
            </p:nvSpPr>
            <p:spPr bwMode="auto">
              <a:xfrm>
                <a:off x="2121" y="3736"/>
                <a:ext cx="24" cy="1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5" name="Line 234"/>
              <p:cNvSpPr>
                <a:spLocks noChangeShapeType="1"/>
              </p:cNvSpPr>
              <p:nvPr/>
            </p:nvSpPr>
            <p:spPr bwMode="auto">
              <a:xfrm>
                <a:off x="2145" y="3749"/>
                <a:ext cx="26" cy="1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6" name="Line 235"/>
              <p:cNvSpPr>
                <a:spLocks noChangeShapeType="1"/>
              </p:cNvSpPr>
              <p:nvPr/>
            </p:nvSpPr>
            <p:spPr bwMode="auto">
              <a:xfrm>
                <a:off x="2171" y="3760"/>
                <a:ext cx="24" cy="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7" name="Line 236"/>
              <p:cNvSpPr>
                <a:spLocks noChangeShapeType="1"/>
              </p:cNvSpPr>
              <p:nvPr/>
            </p:nvSpPr>
            <p:spPr bwMode="auto">
              <a:xfrm>
                <a:off x="2195" y="3768"/>
                <a:ext cx="30" cy="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8" name="Line 237"/>
              <p:cNvSpPr>
                <a:spLocks noChangeShapeType="1"/>
              </p:cNvSpPr>
              <p:nvPr/>
            </p:nvSpPr>
            <p:spPr bwMode="auto">
              <a:xfrm>
                <a:off x="2225" y="3775"/>
                <a:ext cx="24" cy="5"/>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59" name="Line 238"/>
              <p:cNvSpPr>
                <a:spLocks noChangeShapeType="1"/>
              </p:cNvSpPr>
              <p:nvPr/>
            </p:nvSpPr>
            <p:spPr bwMode="auto">
              <a:xfrm>
                <a:off x="2249" y="3780"/>
                <a:ext cx="26"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0" name="Line 239"/>
              <p:cNvSpPr>
                <a:spLocks noChangeShapeType="1"/>
              </p:cNvSpPr>
              <p:nvPr/>
            </p:nvSpPr>
            <p:spPr bwMode="auto">
              <a:xfrm>
                <a:off x="2275" y="3784"/>
                <a:ext cx="25"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1" name="Line 240"/>
              <p:cNvSpPr>
                <a:spLocks noChangeShapeType="1"/>
              </p:cNvSpPr>
              <p:nvPr/>
            </p:nvSpPr>
            <p:spPr bwMode="auto">
              <a:xfrm>
                <a:off x="2300" y="3787"/>
                <a:ext cx="25"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2" name="Line 241"/>
              <p:cNvSpPr>
                <a:spLocks noChangeShapeType="1"/>
              </p:cNvSpPr>
              <p:nvPr/>
            </p:nvSpPr>
            <p:spPr bwMode="auto">
              <a:xfrm>
                <a:off x="2325" y="3791"/>
                <a:ext cx="25"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3" name="Line 242"/>
              <p:cNvSpPr>
                <a:spLocks noChangeShapeType="1"/>
              </p:cNvSpPr>
              <p:nvPr/>
            </p:nvSpPr>
            <p:spPr bwMode="auto">
              <a:xfrm>
                <a:off x="2350" y="3792"/>
                <a:ext cx="26"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4" name="Line 243"/>
              <p:cNvSpPr>
                <a:spLocks noChangeShapeType="1"/>
              </p:cNvSpPr>
              <p:nvPr/>
            </p:nvSpPr>
            <p:spPr bwMode="auto">
              <a:xfrm>
                <a:off x="2376" y="3794"/>
                <a:ext cx="28"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5" name="Line 244"/>
              <p:cNvSpPr>
                <a:spLocks noChangeShapeType="1"/>
              </p:cNvSpPr>
              <p:nvPr/>
            </p:nvSpPr>
            <p:spPr bwMode="auto">
              <a:xfrm>
                <a:off x="2404" y="3794"/>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6" name="Line 245"/>
              <p:cNvSpPr>
                <a:spLocks noChangeShapeType="1"/>
              </p:cNvSpPr>
              <p:nvPr/>
            </p:nvSpPr>
            <p:spPr bwMode="auto">
              <a:xfrm>
                <a:off x="2429"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7" name="Line 246"/>
              <p:cNvSpPr>
                <a:spLocks noChangeShapeType="1"/>
              </p:cNvSpPr>
              <p:nvPr/>
            </p:nvSpPr>
            <p:spPr bwMode="auto">
              <a:xfrm>
                <a:off x="2454" y="3796"/>
                <a:ext cx="26"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368" name="Line 247"/>
              <p:cNvSpPr>
                <a:spLocks noChangeShapeType="1"/>
              </p:cNvSpPr>
              <p:nvPr/>
            </p:nvSpPr>
            <p:spPr bwMode="auto">
              <a:xfrm>
                <a:off x="2480" y="3796"/>
                <a:ext cx="24"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302199" name="Freeform 248"/>
            <p:cNvSpPr>
              <a:spLocks/>
            </p:cNvSpPr>
            <p:nvPr/>
          </p:nvSpPr>
          <p:spPr bwMode="auto">
            <a:xfrm flipH="1">
              <a:off x="472" y="3713"/>
              <a:ext cx="362" cy="113"/>
            </a:xfrm>
            <a:custGeom>
              <a:avLst/>
              <a:gdLst>
                <a:gd name="T0" fmla="*/ 31 w 668"/>
                <a:gd name="T1" fmla="*/ 4 h 265"/>
                <a:gd name="T2" fmla="*/ 23 w 668"/>
                <a:gd name="T3" fmla="*/ 4 h 265"/>
                <a:gd name="T4" fmla="*/ 19 w 668"/>
                <a:gd name="T5" fmla="*/ 3 h 265"/>
                <a:gd name="T6" fmla="*/ 15 w 668"/>
                <a:gd name="T7" fmla="*/ 3 h 265"/>
                <a:gd name="T8" fmla="*/ 12 w 668"/>
                <a:gd name="T9" fmla="*/ 3 h 265"/>
                <a:gd name="T10" fmla="*/ 9 w 668"/>
                <a:gd name="T11" fmla="*/ 3 h 265"/>
                <a:gd name="T12" fmla="*/ 3 w 668"/>
                <a:gd name="T13" fmla="*/ 1 h 265"/>
                <a:gd name="T14" fmla="*/ 1 w 668"/>
                <a:gd name="T15" fmla="*/ 0 h 265"/>
                <a:gd name="T16" fmla="*/ 0 w 668"/>
                <a:gd name="T17" fmla="*/ 4 h 265"/>
                <a:gd name="T18" fmla="*/ 31 w 668"/>
                <a:gd name="T19" fmla="*/ 4 h 2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8" h="265">
                  <a:moveTo>
                    <a:pt x="668" y="265"/>
                  </a:moveTo>
                  <a:lnTo>
                    <a:pt x="498" y="260"/>
                  </a:lnTo>
                  <a:lnTo>
                    <a:pt x="410" y="249"/>
                  </a:lnTo>
                  <a:lnTo>
                    <a:pt x="324" y="237"/>
                  </a:lnTo>
                  <a:lnTo>
                    <a:pt x="248" y="212"/>
                  </a:lnTo>
                  <a:lnTo>
                    <a:pt x="189" y="180"/>
                  </a:lnTo>
                  <a:lnTo>
                    <a:pt x="72" y="99"/>
                  </a:lnTo>
                  <a:lnTo>
                    <a:pt x="2" y="0"/>
                  </a:lnTo>
                  <a:lnTo>
                    <a:pt x="0" y="264"/>
                  </a:lnTo>
                  <a:lnTo>
                    <a:pt x="668" y="265"/>
                  </a:lnTo>
                  <a:close/>
                </a:path>
              </a:pathLst>
            </a:custGeom>
            <a:solidFill>
              <a:srgbClr val="99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00" name="Line 249"/>
            <p:cNvSpPr>
              <a:spLocks noChangeShapeType="1"/>
            </p:cNvSpPr>
            <p:nvPr/>
          </p:nvSpPr>
          <p:spPr bwMode="auto">
            <a:xfrm>
              <a:off x="834" y="3549"/>
              <a:ext cx="0" cy="283"/>
            </a:xfrm>
            <a:prstGeom prst="line">
              <a:avLst/>
            </a:prstGeom>
            <a:noFill/>
            <a:ln w="127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01" name="Line 250"/>
            <p:cNvSpPr>
              <a:spLocks noChangeShapeType="1"/>
            </p:cNvSpPr>
            <p:nvPr/>
          </p:nvSpPr>
          <p:spPr bwMode="auto">
            <a:xfrm>
              <a:off x="468" y="3828"/>
              <a:ext cx="1300"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02" name="Line 251"/>
            <p:cNvSpPr>
              <a:spLocks noChangeShapeType="1"/>
            </p:cNvSpPr>
            <p:nvPr/>
          </p:nvSpPr>
          <p:spPr bwMode="auto">
            <a:xfrm>
              <a:off x="1113" y="1261"/>
              <a:ext cx="0" cy="536"/>
            </a:xfrm>
            <a:prstGeom prst="line">
              <a:avLst/>
            </a:prstGeom>
            <a:noFill/>
            <a:ln w="1905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7" name="Group 252"/>
            <p:cNvGrpSpPr>
              <a:grpSpLocks/>
            </p:cNvGrpSpPr>
            <p:nvPr/>
          </p:nvGrpSpPr>
          <p:grpSpPr bwMode="auto">
            <a:xfrm>
              <a:off x="582" y="1315"/>
              <a:ext cx="1065" cy="477"/>
              <a:chOff x="554" y="2928"/>
              <a:chExt cx="1950" cy="870"/>
            </a:xfrm>
          </p:grpSpPr>
          <p:sp>
            <p:nvSpPr>
              <p:cNvPr id="302217" name="Line 253"/>
              <p:cNvSpPr>
                <a:spLocks noChangeShapeType="1"/>
              </p:cNvSpPr>
              <p:nvPr/>
            </p:nvSpPr>
            <p:spPr bwMode="auto">
              <a:xfrm flipV="1">
                <a:off x="554" y="3796"/>
                <a:ext cx="25"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18" name="Line 254"/>
              <p:cNvSpPr>
                <a:spLocks noChangeShapeType="1"/>
              </p:cNvSpPr>
              <p:nvPr/>
            </p:nvSpPr>
            <p:spPr bwMode="auto">
              <a:xfrm>
                <a:off x="579" y="3796"/>
                <a:ext cx="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19" name="Line 255"/>
              <p:cNvSpPr>
                <a:spLocks noChangeShapeType="1"/>
              </p:cNvSpPr>
              <p:nvPr/>
            </p:nvSpPr>
            <p:spPr bwMode="auto">
              <a:xfrm>
                <a:off x="604" y="3796"/>
                <a:ext cx="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0" name="Line 256"/>
              <p:cNvSpPr>
                <a:spLocks noChangeShapeType="1"/>
              </p:cNvSpPr>
              <p:nvPr/>
            </p:nvSpPr>
            <p:spPr bwMode="auto">
              <a:xfrm flipV="1">
                <a:off x="629" y="3794"/>
                <a:ext cx="26"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1" name="Line 257"/>
              <p:cNvSpPr>
                <a:spLocks noChangeShapeType="1"/>
              </p:cNvSpPr>
              <p:nvPr/>
            </p:nvSpPr>
            <p:spPr bwMode="auto">
              <a:xfrm>
                <a:off x="655" y="3794"/>
                <a:ext cx="28"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2" name="Line 258"/>
              <p:cNvSpPr>
                <a:spLocks noChangeShapeType="1"/>
              </p:cNvSpPr>
              <p:nvPr/>
            </p:nvSpPr>
            <p:spPr bwMode="auto">
              <a:xfrm flipV="1">
                <a:off x="683" y="3792"/>
                <a:ext cx="25"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3" name="Line 259"/>
              <p:cNvSpPr>
                <a:spLocks noChangeShapeType="1"/>
              </p:cNvSpPr>
              <p:nvPr/>
            </p:nvSpPr>
            <p:spPr bwMode="auto">
              <a:xfrm flipV="1">
                <a:off x="708" y="3791"/>
                <a:ext cx="25"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4" name="Line 260"/>
              <p:cNvSpPr>
                <a:spLocks noChangeShapeType="1"/>
              </p:cNvSpPr>
              <p:nvPr/>
            </p:nvSpPr>
            <p:spPr bwMode="auto">
              <a:xfrm flipV="1">
                <a:off x="733" y="3787"/>
                <a:ext cx="26"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5" name="Line 261"/>
              <p:cNvSpPr>
                <a:spLocks noChangeShapeType="1"/>
              </p:cNvSpPr>
              <p:nvPr/>
            </p:nvSpPr>
            <p:spPr bwMode="auto">
              <a:xfrm flipV="1">
                <a:off x="759" y="3784"/>
                <a:ext cx="25" cy="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6" name="Line 262"/>
              <p:cNvSpPr>
                <a:spLocks noChangeShapeType="1"/>
              </p:cNvSpPr>
              <p:nvPr/>
            </p:nvSpPr>
            <p:spPr bwMode="auto">
              <a:xfrm flipV="1">
                <a:off x="784" y="3780"/>
                <a:ext cx="25"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7" name="Line 263"/>
              <p:cNvSpPr>
                <a:spLocks noChangeShapeType="1"/>
              </p:cNvSpPr>
              <p:nvPr/>
            </p:nvSpPr>
            <p:spPr bwMode="auto">
              <a:xfrm flipV="1">
                <a:off x="809" y="3775"/>
                <a:ext cx="26" cy="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8" name="Line 264"/>
              <p:cNvSpPr>
                <a:spLocks noChangeShapeType="1"/>
              </p:cNvSpPr>
              <p:nvPr/>
            </p:nvSpPr>
            <p:spPr bwMode="auto">
              <a:xfrm flipV="1">
                <a:off x="835" y="3768"/>
                <a:ext cx="28" cy="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29" name="Line 265"/>
              <p:cNvSpPr>
                <a:spLocks noChangeShapeType="1"/>
              </p:cNvSpPr>
              <p:nvPr/>
            </p:nvSpPr>
            <p:spPr bwMode="auto">
              <a:xfrm flipV="1">
                <a:off x="863" y="3760"/>
                <a:ext cx="25" cy="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0" name="Line 266"/>
              <p:cNvSpPr>
                <a:spLocks noChangeShapeType="1"/>
              </p:cNvSpPr>
              <p:nvPr/>
            </p:nvSpPr>
            <p:spPr bwMode="auto">
              <a:xfrm flipV="1">
                <a:off x="888" y="3749"/>
                <a:ext cx="25" cy="1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1" name="Line 267"/>
              <p:cNvSpPr>
                <a:spLocks noChangeShapeType="1"/>
              </p:cNvSpPr>
              <p:nvPr/>
            </p:nvSpPr>
            <p:spPr bwMode="auto">
              <a:xfrm flipV="1">
                <a:off x="913" y="3736"/>
                <a:ext cx="26" cy="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2" name="Line 268"/>
              <p:cNvSpPr>
                <a:spLocks noChangeShapeType="1"/>
              </p:cNvSpPr>
              <p:nvPr/>
            </p:nvSpPr>
            <p:spPr bwMode="auto">
              <a:xfrm flipV="1">
                <a:off x="939" y="3720"/>
                <a:ext cx="24" cy="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3" name="Line 269"/>
              <p:cNvSpPr>
                <a:spLocks noChangeShapeType="1"/>
              </p:cNvSpPr>
              <p:nvPr/>
            </p:nvSpPr>
            <p:spPr bwMode="auto">
              <a:xfrm flipV="1">
                <a:off x="963" y="3701"/>
                <a:ext cx="26" cy="1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4" name="Line 270"/>
              <p:cNvSpPr>
                <a:spLocks noChangeShapeType="1"/>
              </p:cNvSpPr>
              <p:nvPr/>
            </p:nvSpPr>
            <p:spPr bwMode="auto">
              <a:xfrm flipV="1">
                <a:off x="989" y="3679"/>
                <a:ext cx="28" cy="2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5" name="Line 271"/>
              <p:cNvSpPr>
                <a:spLocks noChangeShapeType="1"/>
              </p:cNvSpPr>
              <p:nvPr/>
            </p:nvSpPr>
            <p:spPr bwMode="auto">
              <a:xfrm flipV="1">
                <a:off x="1017" y="3655"/>
                <a:ext cx="25" cy="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6" name="Line 272"/>
              <p:cNvSpPr>
                <a:spLocks noChangeShapeType="1"/>
              </p:cNvSpPr>
              <p:nvPr/>
            </p:nvSpPr>
            <p:spPr bwMode="auto">
              <a:xfrm flipV="1">
                <a:off x="1042" y="3626"/>
                <a:ext cx="26" cy="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7" name="Line 273"/>
              <p:cNvSpPr>
                <a:spLocks noChangeShapeType="1"/>
              </p:cNvSpPr>
              <p:nvPr/>
            </p:nvSpPr>
            <p:spPr bwMode="auto">
              <a:xfrm flipV="1">
                <a:off x="1068" y="3592"/>
                <a:ext cx="25" cy="3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8" name="Line 274"/>
              <p:cNvSpPr>
                <a:spLocks noChangeShapeType="1"/>
              </p:cNvSpPr>
              <p:nvPr/>
            </p:nvSpPr>
            <p:spPr bwMode="auto">
              <a:xfrm flipV="1">
                <a:off x="1093" y="3555"/>
                <a:ext cx="25" cy="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39" name="Line 275"/>
              <p:cNvSpPr>
                <a:spLocks noChangeShapeType="1"/>
              </p:cNvSpPr>
              <p:nvPr/>
            </p:nvSpPr>
            <p:spPr bwMode="auto">
              <a:xfrm flipV="1">
                <a:off x="1118" y="3514"/>
                <a:ext cx="26" cy="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0" name="Line 276"/>
              <p:cNvSpPr>
                <a:spLocks noChangeShapeType="1"/>
              </p:cNvSpPr>
              <p:nvPr/>
            </p:nvSpPr>
            <p:spPr bwMode="auto">
              <a:xfrm flipV="1">
                <a:off x="1144" y="3472"/>
                <a:ext cx="24" cy="4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1" name="Line 277"/>
              <p:cNvSpPr>
                <a:spLocks noChangeShapeType="1"/>
              </p:cNvSpPr>
              <p:nvPr/>
            </p:nvSpPr>
            <p:spPr bwMode="auto">
              <a:xfrm flipV="1">
                <a:off x="1168" y="3424"/>
                <a:ext cx="29"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2" name="Line 278"/>
              <p:cNvSpPr>
                <a:spLocks noChangeShapeType="1"/>
              </p:cNvSpPr>
              <p:nvPr/>
            </p:nvSpPr>
            <p:spPr bwMode="auto">
              <a:xfrm flipV="1">
                <a:off x="1197" y="3374"/>
                <a:ext cx="25" cy="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3" name="Line 279"/>
              <p:cNvSpPr>
                <a:spLocks noChangeShapeType="1"/>
              </p:cNvSpPr>
              <p:nvPr/>
            </p:nvSpPr>
            <p:spPr bwMode="auto">
              <a:xfrm flipV="1">
                <a:off x="1222" y="3322"/>
                <a:ext cx="26" cy="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4" name="Line 280"/>
              <p:cNvSpPr>
                <a:spLocks noChangeShapeType="1"/>
              </p:cNvSpPr>
              <p:nvPr/>
            </p:nvSpPr>
            <p:spPr bwMode="auto">
              <a:xfrm flipV="1">
                <a:off x="1248" y="3269"/>
                <a:ext cx="24" cy="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5" name="Line 281"/>
              <p:cNvSpPr>
                <a:spLocks noChangeShapeType="1"/>
              </p:cNvSpPr>
              <p:nvPr/>
            </p:nvSpPr>
            <p:spPr bwMode="auto">
              <a:xfrm flipV="1">
                <a:off x="1272" y="3218"/>
                <a:ext cx="26" cy="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6" name="Line 282"/>
              <p:cNvSpPr>
                <a:spLocks noChangeShapeType="1"/>
              </p:cNvSpPr>
              <p:nvPr/>
            </p:nvSpPr>
            <p:spPr bwMode="auto">
              <a:xfrm flipV="1">
                <a:off x="1298" y="3166"/>
                <a:ext cx="25" cy="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7" name="Line 283"/>
              <p:cNvSpPr>
                <a:spLocks noChangeShapeType="1"/>
              </p:cNvSpPr>
              <p:nvPr/>
            </p:nvSpPr>
            <p:spPr bwMode="auto">
              <a:xfrm flipV="1">
                <a:off x="1323" y="3116"/>
                <a:ext cx="25" cy="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8" name="Line 284"/>
              <p:cNvSpPr>
                <a:spLocks noChangeShapeType="1"/>
              </p:cNvSpPr>
              <p:nvPr/>
            </p:nvSpPr>
            <p:spPr bwMode="auto">
              <a:xfrm flipV="1">
                <a:off x="1348" y="3070"/>
                <a:ext cx="29" cy="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49" name="Line 285"/>
              <p:cNvSpPr>
                <a:spLocks noChangeShapeType="1"/>
              </p:cNvSpPr>
              <p:nvPr/>
            </p:nvSpPr>
            <p:spPr bwMode="auto">
              <a:xfrm flipV="1">
                <a:off x="1377" y="3029"/>
                <a:ext cx="25" cy="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0" name="Line 286"/>
              <p:cNvSpPr>
                <a:spLocks noChangeShapeType="1"/>
              </p:cNvSpPr>
              <p:nvPr/>
            </p:nvSpPr>
            <p:spPr bwMode="auto">
              <a:xfrm flipV="1">
                <a:off x="1402" y="2995"/>
                <a:ext cx="25" cy="3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1" name="Line 287"/>
              <p:cNvSpPr>
                <a:spLocks noChangeShapeType="1"/>
              </p:cNvSpPr>
              <p:nvPr/>
            </p:nvSpPr>
            <p:spPr bwMode="auto">
              <a:xfrm flipV="1">
                <a:off x="1427" y="2966"/>
                <a:ext cx="25" cy="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2" name="Line 288"/>
              <p:cNvSpPr>
                <a:spLocks noChangeShapeType="1"/>
              </p:cNvSpPr>
              <p:nvPr/>
            </p:nvSpPr>
            <p:spPr bwMode="auto">
              <a:xfrm flipV="1">
                <a:off x="1452" y="2945"/>
                <a:ext cx="25" cy="2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3" name="Line 289"/>
              <p:cNvSpPr>
                <a:spLocks noChangeShapeType="1"/>
              </p:cNvSpPr>
              <p:nvPr/>
            </p:nvSpPr>
            <p:spPr bwMode="auto">
              <a:xfrm flipV="1">
                <a:off x="1477" y="2931"/>
                <a:ext cx="26" cy="1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4" name="Line 290"/>
              <p:cNvSpPr>
                <a:spLocks noChangeShapeType="1"/>
              </p:cNvSpPr>
              <p:nvPr/>
            </p:nvSpPr>
            <p:spPr bwMode="auto">
              <a:xfrm flipV="1">
                <a:off x="1503" y="2928"/>
                <a:ext cx="28" cy="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5" name="Line 291"/>
              <p:cNvSpPr>
                <a:spLocks noChangeShapeType="1"/>
              </p:cNvSpPr>
              <p:nvPr/>
            </p:nvSpPr>
            <p:spPr bwMode="auto">
              <a:xfrm>
                <a:off x="1531" y="2928"/>
                <a:ext cx="26" cy="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6" name="Line 292"/>
              <p:cNvSpPr>
                <a:spLocks noChangeShapeType="1"/>
              </p:cNvSpPr>
              <p:nvPr/>
            </p:nvSpPr>
            <p:spPr bwMode="auto">
              <a:xfrm>
                <a:off x="1557" y="2931"/>
                <a:ext cx="24" cy="1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7" name="Line 293"/>
              <p:cNvSpPr>
                <a:spLocks noChangeShapeType="1"/>
              </p:cNvSpPr>
              <p:nvPr/>
            </p:nvSpPr>
            <p:spPr bwMode="auto">
              <a:xfrm>
                <a:off x="1581" y="2945"/>
                <a:ext cx="26" cy="2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8" name="Line 294"/>
              <p:cNvSpPr>
                <a:spLocks noChangeShapeType="1"/>
              </p:cNvSpPr>
              <p:nvPr/>
            </p:nvSpPr>
            <p:spPr bwMode="auto">
              <a:xfrm>
                <a:off x="1607" y="2966"/>
                <a:ext cx="25" cy="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59" name="Line 295"/>
              <p:cNvSpPr>
                <a:spLocks noChangeShapeType="1"/>
              </p:cNvSpPr>
              <p:nvPr/>
            </p:nvSpPr>
            <p:spPr bwMode="auto">
              <a:xfrm>
                <a:off x="1632" y="2995"/>
                <a:ext cx="25" cy="3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0" name="Line 296"/>
              <p:cNvSpPr>
                <a:spLocks noChangeShapeType="1"/>
              </p:cNvSpPr>
              <p:nvPr/>
            </p:nvSpPr>
            <p:spPr bwMode="auto">
              <a:xfrm>
                <a:off x="1657" y="3029"/>
                <a:ext cx="25" cy="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1" name="Line 297"/>
              <p:cNvSpPr>
                <a:spLocks noChangeShapeType="1"/>
              </p:cNvSpPr>
              <p:nvPr/>
            </p:nvSpPr>
            <p:spPr bwMode="auto">
              <a:xfrm>
                <a:off x="1682" y="3070"/>
                <a:ext cx="29" cy="4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2" name="Line 298"/>
              <p:cNvSpPr>
                <a:spLocks noChangeShapeType="1"/>
              </p:cNvSpPr>
              <p:nvPr/>
            </p:nvSpPr>
            <p:spPr bwMode="auto">
              <a:xfrm>
                <a:off x="1711" y="3116"/>
                <a:ext cx="25" cy="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3" name="Line 299"/>
              <p:cNvSpPr>
                <a:spLocks noChangeShapeType="1"/>
              </p:cNvSpPr>
              <p:nvPr/>
            </p:nvSpPr>
            <p:spPr bwMode="auto">
              <a:xfrm>
                <a:off x="1736" y="3166"/>
                <a:ext cx="25" cy="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4" name="Line 300"/>
              <p:cNvSpPr>
                <a:spLocks noChangeShapeType="1"/>
              </p:cNvSpPr>
              <p:nvPr/>
            </p:nvSpPr>
            <p:spPr bwMode="auto">
              <a:xfrm>
                <a:off x="1761" y="3218"/>
                <a:ext cx="25" cy="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5" name="Line 301"/>
              <p:cNvSpPr>
                <a:spLocks noChangeShapeType="1"/>
              </p:cNvSpPr>
              <p:nvPr/>
            </p:nvSpPr>
            <p:spPr bwMode="auto">
              <a:xfrm>
                <a:off x="1786" y="3269"/>
                <a:ext cx="26" cy="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6" name="Line 302"/>
              <p:cNvSpPr>
                <a:spLocks noChangeShapeType="1"/>
              </p:cNvSpPr>
              <p:nvPr/>
            </p:nvSpPr>
            <p:spPr bwMode="auto">
              <a:xfrm>
                <a:off x="1812" y="3322"/>
                <a:ext cx="24" cy="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7" name="Line 303"/>
              <p:cNvSpPr>
                <a:spLocks noChangeShapeType="1"/>
              </p:cNvSpPr>
              <p:nvPr/>
            </p:nvSpPr>
            <p:spPr bwMode="auto">
              <a:xfrm>
                <a:off x="1836" y="3374"/>
                <a:ext cx="26" cy="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8" name="Line 304"/>
              <p:cNvSpPr>
                <a:spLocks noChangeShapeType="1"/>
              </p:cNvSpPr>
              <p:nvPr/>
            </p:nvSpPr>
            <p:spPr bwMode="auto">
              <a:xfrm>
                <a:off x="1862" y="3424"/>
                <a:ext cx="28"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69" name="Line 305"/>
              <p:cNvSpPr>
                <a:spLocks noChangeShapeType="1"/>
              </p:cNvSpPr>
              <p:nvPr/>
            </p:nvSpPr>
            <p:spPr bwMode="auto">
              <a:xfrm>
                <a:off x="1890" y="3472"/>
                <a:ext cx="26" cy="4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0" name="Line 306"/>
              <p:cNvSpPr>
                <a:spLocks noChangeShapeType="1"/>
              </p:cNvSpPr>
              <p:nvPr/>
            </p:nvSpPr>
            <p:spPr bwMode="auto">
              <a:xfrm>
                <a:off x="1916" y="3514"/>
                <a:ext cx="24" cy="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1" name="Line 307"/>
              <p:cNvSpPr>
                <a:spLocks noChangeShapeType="1"/>
              </p:cNvSpPr>
              <p:nvPr/>
            </p:nvSpPr>
            <p:spPr bwMode="auto">
              <a:xfrm>
                <a:off x="1940" y="3555"/>
                <a:ext cx="26" cy="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2" name="Line 308"/>
              <p:cNvSpPr>
                <a:spLocks noChangeShapeType="1"/>
              </p:cNvSpPr>
              <p:nvPr/>
            </p:nvSpPr>
            <p:spPr bwMode="auto">
              <a:xfrm>
                <a:off x="1966" y="3592"/>
                <a:ext cx="25" cy="3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3" name="Line 309"/>
              <p:cNvSpPr>
                <a:spLocks noChangeShapeType="1"/>
              </p:cNvSpPr>
              <p:nvPr/>
            </p:nvSpPr>
            <p:spPr bwMode="auto">
              <a:xfrm>
                <a:off x="1991" y="3626"/>
                <a:ext cx="25" cy="2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4" name="Line 310"/>
              <p:cNvSpPr>
                <a:spLocks noChangeShapeType="1"/>
              </p:cNvSpPr>
              <p:nvPr/>
            </p:nvSpPr>
            <p:spPr bwMode="auto">
              <a:xfrm>
                <a:off x="2016" y="3655"/>
                <a:ext cx="25" cy="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5" name="Line 311"/>
              <p:cNvSpPr>
                <a:spLocks noChangeShapeType="1"/>
              </p:cNvSpPr>
              <p:nvPr/>
            </p:nvSpPr>
            <p:spPr bwMode="auto">
              <a:xfrm>
                <a:off x="2041" y="3679"/>
                <a:ext cx="29" cy="2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6" name="Line 312"/>
              <p:cNvSpPr>
                <a:spLocks noChangeShapeType="1"/>
              </p:cNvSpPr>
              <p:nvPr/>
            </p:nvSpPr>
            <p:spPr bwMode="auto">
              <a:xfrm>
                <a:off x="2070" y="3701"/>
                <a:ext cx="25" cy="1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7" name="Line 313"/>
              <p:cNvSpPr>
                <a:spLocks noChangeShapeType="1"/>
              </p:cNvSpPr>
              <p:nvPr/>
            </p:nvSpPr>
            <p:spPr bwMode="auto">
              <a:xfrm>
                <a:off x="2095" y="3720"/>
                <a:ext cx="26" cy="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8" name="Line 314"/>
              <p:cNvSpPr>
                <a:spLocks noChangeShapeType="1"/>
              </p:cNvSpPr>
              <p:nvPr/>
            </p:nvSpPr>
            <p:spPr bwMode="auto">
              <a:xfrm>
                <a:off x="2121" y="3736"/>
                <a:ext cx="24" cy="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79" name="Line 315"/>
              <p:cNvSpPr>
                <a:spLocks noChangeShapeType="1"/>
              </p:cNvSpPr>
              <p:nvPr/>
            </p:nvSpPr>
            <p:spPr bwMode="auto">
              <a:xfrm>
                <a:off x="2145" y="3749"/>
                <a:ext cx="26" cy="1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0" name="Line 316"/>
              <p:cNvSpPr>
                <a:spLocks noChangeShapeType="1"/>
              </p:cNvSpPr>
              <p:nvPr/>
            </p:nvSpPr>
            <p:spPr bwMode="auto">
              <a:xfrm>
                <a:off x="2171" y="3760"/>
                <a:ext cx="24" cy="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1" name="Line 317"/>
              <p:cNvSpPr>
                <a:spLocks noChangeShapeType="1"/>
              </p:cNvSpPr>
              <p:nvPr/>
            </p:nvSpPr>
            <p:spPr bwMode="auto">
              <a:xfrm>
                <a:off x="2195" y="3768"/>
                <a:ext cx="30" cy="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2" name="Line 318"/>
              <p:cNvSpPr>
                <a:spLocks noChangeShapeType="1"/>
              </p:cNvSpPr>
              <p:nvPr/>
            </p:nvSpPr>
            <p:spPr bwMode="auto">
              <a:xfrm>
                <a:off x="2225" y="3775"/>
                <a:ext cx="24" cy="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3" name="Line 319"/>
              <p:cNvSpPr>
                <a:spLocks noChangeShapeType="1"/>
              </p:cNvSpPr>
              <p:nvPr/>
            </p:nvSpPr>
            <p:spPr bwMode="auto">
              <a:xfrm>
                <a:off x="2249" y="3780"/>
                <a:ext cx="26"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4" name="Line 320"/>
              <p:cNvSpPr>
                <a:spLocks noChangeShapeType="1"/>
              </p:cNvSpPr>
              <p:nvPr/>
            </p:nvSpPr>
            <p:spPr bwMode="auto">
              <a:xfrm>
                <a:off x="2275" y="3784"/>
                <a:ext cx="25" cy="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5" name="Line 321"/>
              <p:cNvSpPr>
                <a:spLocks noChangeShapeType="1"/>
              </p:cNvSpPr>
              <p:nvPr/>
            </p:nvSpPr>
            <p:spPr bwMode="auto">
              <a:xfrm>
                <a:off x="2300" y="3787"/>
                <a:ext cx="25"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6" name="Line 322"/>
              <p:cNvSpPr>
                <a:spLocks noChangeShapeType="1"/>
              </p:cNvSpPr>
              <p:nvPr/>
            </p:nvSpPr>
            <p:spPr bwMode="auto">
              <a:xfrm>
                <a:off x="2325" y="3791"/>
                <a:ext cx="25"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7" name="Line 323"/>
              <p:cNvSpPr>
                <a:spLocks noChangeShapeType="1"/>
              </p:cNvSpPr>
              <p:nvPr/>
            </p:nvSpPr>
            <p:spPr bwMode="auto">
              <a:xfrm>
                <a:off x="2350" y="3792"/>
                <a:ext cx="26"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8" name="Line 324"/>
              <p:cNvSpPr>
                <a:spLocks noChangeShapeType="1"/>
              </p:cNvSpPr>
              <p:nvPr/>
            </p:nvSpPr>
            <p:spPr bwMode="auto">
              <a:xfrm>
                <a:off x="2376" y="3794"/>
                <a:ext cx="28"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89" name="Line 325"/>
              <p:cNvSpPr>
                <a:spLocks noChangeShapeType="1"/>
              </p:cNvSpPr>
              <p:nvPr/>
            </p:nvSpPr>
            <p:spPr bwMode="auto">
              <a:xfrm>
                <a:off x="2404" y="3794"/>
                <a:ext cx="25"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90" name="Line 326"/>
              <p:cNvSpPr>
                <a:spLocks noChangeShapeType="1"/>
              </p:cNvSpPr>
              <p:nvPr/>
            </p:nvSpPr>
            <p:spPr bwMode="auto">
              <a:xfrm>
                <a:off x="2429" y="3796"/>
                <a:ext cx="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91" name="Line 327"/>
              <p:cNvSpPr>
                <a:spLocks noChangeShapeType="1"/>
              </p:cNvSpPr>
              <p:nvPr/>
            </p:nvSpPr>
            <p:spPr bwMode="auto">
              <a:xfrm>
                <a:off x="2454" y="3796"/>
                <a:ext cx="2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sp>
            <p:nvSpPr>
              <p:cNvPr id="302292" name="Line 328"/>
              <p:cNvSpPr>
                <a:spLocks noChangeShapeType="1"/>
              </p:cNvSpPr>
              <p:nvPr/>
            </p:nvSpPr>
            <p:spPr bwMode="auto">
              <a:xfrm>
                <a:off x="2480" y="3796"/>
                <a:ext cx="24"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dirty="0"/>
              </a:p>
            </p:txBody>
          </p:sp>
        </p:grpSp>
        <p:sp>
          <p:nvSpPr>
            <p:cNvPr id="302204" name="Line 329"/>
            <p:cNvSpPr>
              <a:spLocks noChangeShapeType="1"/>
            </p:cNvSpPr>
            <p:nvPr/>
          </p:nvSpPr>
          <p:spPr bwMode="auto">
            <a:xfrm>
              <a:off x="1412" y="1261"/>
              <a:ext cx="0" cy="533"/>
            </a:xfrm>
            <a:prstGeom prst="line">
              <a:avLst/>
            </a:prstGeom>
            <a:noFill/>
            <a:ln w="127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05" name="Line 330"/>
            <p:cNvSpPr>
              <a:spLocks noChangeShapeType="1"/>
            </p:cNvSpPr>
            <p:nvPr/>
          </p:nvSpPr>
          <p:spPr bwMode="auto">
            <a:xfrm>
              <a:off x="910" y="1297"/>
              <a:ext cx="0" cy="497"/>
            </a:xfrm>
            <a:prstGeom prst="line">
              <a:avLst/>
            </a:prstGeom>
            <a:noFill/>
            <a:ln w="127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06" name="Text Box 331"/>
            <p:cNvSpPr txBox="1">
              <a:spLocks noChangeArrowheads="1"/>
            </p:cNvSpPr>
            <p:nvPr/>
          </p:nvSpPr>
          <p:spPr bwMode="auto">
            <a:xfrm>
              <a:off x="801" y="1102"/>
              <a:ext cx="262"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LSL</a:t>
              </a:r>
            </a:p>
          </p:txBody>
        </p:sp>
        <p:sp>
          <p:nvSpPr>
            <p:cNvPr id="302207" name="Freeform 332"/>
            <p:cNvSpPr>
              <a:spLocks/>
            </p:cNvSpPr>
            <p:nvPr/>
          </p:nvSpPr>
          <p:spPr bwMode="auto">
            <a:xfrm>
              <a:off x="592" y="1663"/>
              <a:ext cx="309" cy="130"/>
            </a:xfrm>
            <a:custGeom>
              <a:avLst/>
              <a:gdLst>
                <a:gd name="T0" fmla="*/ 0 w 524"/>
                <a:gd name="T1" fmla="*/ 292 h 105"/>
                <a:gd name="T2" fmla="*/ 12 w 524"/>
                <a:gd name="T3" fmla="*/ 292 h 105"/>
                <a:gd name="T4" fmla="*/ 18 w 524"/>
                <a:gd name="T5" fmla="*/ 272 h 105"/>
                <a:gd name="T6" fmla="*/ 25 w 524"/>
                <a:gd name="T7" fmla="*/ 228 h 105"/>
                <a:gd name="T8" fmla="*/ 31 w 524"/>
                <a:gd name="T9" fmla="*/ 160 h 105"/>
                <a:gd name="T10" fmla="*/ 34 w 524"/>
                <a:gd name="T11" fmla="*/ 88 h 105"/>
                <a:gd name="T12" fmla="*/ 37 w 524"/>
                <a:gd name="T13" fmla="*/ 0 h 105"/>
                <a:gd name="T14" fmla="*/ 37 w 524"/>
                <a:gd name="T15" fmla="*/ 305 h 105"/>
                <a:gd name="T16" fmla="*/ 0 w 524"/>
                <a:gd name="T17" fmla="*/ 292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24" h="105">
                  <a:moveTo>
                    <a:pt x="0" y="100"/>
                  </a:moveTo>
                  <a:lnTo>
                    <a:pt x="171" y="100"/>
                  </a:lnTo>
                  <a:lnTo>
                    <a:pt x="252" y="94"/>
                  </a:lnTo>
                  <a:lnTo>
                    <a:pt x="350" y="78"/>
                  </a:lnTo>
                  <a:lnTo>
                    <a:pt x="435" y="55"/>
                  </a:lnTo>
                  <a:lnTo>
                    <a:pt x="483" y="30"/>
                  </a:lnTo>
                  <a:lnTo>
                    <a:pt x="524" y="0"/>
                  </a:lnTo>
                  <a:lnTo>
                    <a:pt x="524" y="105"/>
                  </a:lnTo>
                  <a:lnTo>
                    <a:pt x="0" y="100"/>
                  </a:lnTo>
                  <a:close/>
                </a:path>
              </a:pathLst>
            </a:custGeom>
            <a:solidFill>
              <a:srgbClr val="FF33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08" name="Freeform 333"/>
            <p:cNvSpPr>
              <a:spLocks/>
            </p:cNvSpPr>
            <p:nvPr/>
          </p:nvSpPr>
          <p:spPr bwMode="auto">
            <a:xfrm>
              <a:off x="1412" y="1740"/>
              <a:ext cx="235" cy="54"/>
            </a:xfrm>
            <a:custGeom>
              <a:avLst/>
              <a:gdLst>
                <a:gd name="T0" fmla="*/ 9 w 524"/>
                <a:gd name="T1" fmla="*/ 2 h 120"/>
                <a:gd name="T2" fmla="*/ 6 w 524"/>
                <a:gd name="T3" fmla="*/ 2 h 120"/>
                <a:gd name="T4" fmla="*/ 5 w 524"/>
                <a:gd name="T5" fmla="*/ 2 h 120"/>
                <a:gd name="T6" fmla="*/ 3 w 524"/>
                <a:gd name="T7" fmla="*/ 2 h 120"/>
                <a:gd name="T8" fmla="*/ 2 w 524"/>
                <a:gd name="T9" fmla="*/ 1 h 120"/>
                <a:gd name="T10" fmla="*/ 1 w 524"/>
                <a:gd name="T11" fmla="*/ 0 h 120"/>
                <a:gd name="T12" fmla="*/ 0 w 524"/>
                <a:gd name="T13" fmla="*/ 0 h 120"/>
                <a:gd name="T14" fmla="*/ 0 w 524"/>
                <a:gd name="T15" fmla="*/ 2 h 120"/>
                <a:gd name="T16" fmla="*/ 9 w 524"/>
                <a:gd name="T17" fmla="*/ 2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24" h="120">
                  <a:moveTo>
                    <a:pt x="524" y="115"/>
                  </a:moveTo>
                  <a:lnTo>
                    <a:pt x="354" y="110"/>
                  </a:lnTo>
                  <a:lnTo>
                    <a:pt x="266" y="99"/>
                  </a:lnTo>
                  <a:lnTo>
                    <a:pt x="180" y="87"/>
                  </a:lnTo>
                  <a:lnTo>
                    <a:pt x="104" y="62"/>
                  </a:lnTo>
                  <a:lnTo>
                    <a:pt x="45" y="30"/>
                  </a:lnTo>
                  <a:lnTo>
                    <a:pt x="0" y="0"/>
                  </a:lnTo>
                  <a:lnTo>
                    <a:pt x="0" y="120"/>
                  </a:lnTo>
                  <a:lnTo>
                    <a:pt x="524" y="115"/>
                  </a:lnTo>
                  <a:close/>
                </a:path>
              </a:pathLst>
            </a:custGeom>
            <a:solidFill>
              <a:srgbClr val="FF33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09" name="Line 334"/>
            <p:cNvSpPr>
              <a:spLocks noChangeShapeType="1"/>
            </p:cNvSpPr>
            <p:nvPr/>
          </p:nvSpPr>
          <p:spPr bwMode="auto">
            <a:xfrm>
              <a:off x="575" y="1799"/>
              <a:ext cx="1061" cy="0"/>
            </a:xfrm>
            <a:prstGeom prst="line">
              <a:avLst/>
            </a:prstGeom>
            <a:noFill/>
            <a:ln w="63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210" name="Text Box 335"/>
            <p:cNvSpPr txBox="1">
              <a:spLocks noChangeArrowheads="1"/>
            </p:cNvSpPr>
            <p:nvPr/>
          </p:nvSpPr>
          <p:spPr bwMode="auto">
            <a:xfrm>
              <a:off x="1284" y="1102"/>
              <a:ext cx="28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USL</a:t>
              </a:r>
            </a:p>
          </p:txBody>
        </p:sp>
        <p:sp>
          <p:nvSpPr>
            <p:cNvPr id="302211" name="Text Box 336"/>
            <p:cNvSpPr txBox="1">
              <a:spLocks noChangeArrowheads="1"/>
            </p:cNvSpPr>
            <p:nvPr/>
          </p:nvSpPr>
          <p:spPr bwMode="auto">
            <a:xfrm>
              <a:off x="649" y="1790"/>
              <a:ext cx="382" cy="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맑은 고딕" pitchFamily="50" charset="-127"/>
                  <a:ea typeface="맑은 고딕" pitchFamily="50" charset="-127"/>
                </a:rPr>
                <a:t>Z=-1.5</a:t>
              </a:r>
            </a:p>
          </p:txBody>
        </p:sp>
        <p:sp>
          <p:nvSpPr>
            <p:cNvPr id="302212" name="Text Box 337"/>
            <p:cNvSpPr txBox="1">
              <a:spLocks noChangeArrowheads="1"/>
            </p:cNvSpPr>
            <p:nvPr/>
          </p:nvSpPr>
          <p:spPr bwMode="auto">
            <a:xfrm>
              <a:off x="1266" y="1790"/>
              <a:ext cx="271" cy="1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맑은 고딕" pitchFamily="50" charset="-127"/>
                  <a:ea typeface="맑은 고딕" pitchFamily="50" charset="-127"/>
                </a:rPr>
                <a:t>Z=3</a:t>
              </a:r>
            </a:p>
          </p:txBody>
        </p:sp>
        <p:sp>
          <p:nvSpPr>
            <p:cNvPr id="302213" name="Text Box 338"/>
            <p:cNvSpPr txBox="1">
              <a:spLocks noChangeArrowheads="1"/>
            </p:cNvSpPr>
            <p:nvPr/>
          </p:nvSpPr>
          <p:spPr bwMode="auto">
            <a:xfrm>
              <a:off x="636" y="2496"/>
              <a:ext cx="305" cy="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맑은 고딕" pitchFamily="50" charset="-127"/>
                  <a:ea typeface="맑은 고딕" pitchFamily="50" charset="-127"/>
                </a:rPr>
                <a:t>Z=-3</a:t>
              </a:r>
            </a:p>
          </p:txBody>
        </p:sp>
        <p:sp>
          <p:nvSpPr>
            <p:cNvPr id="302214" name="Text Box 339"/>
            <p:cNvSpPr txBox="1">
              <a:spLocks noChangeArrowheads="1"/>
            </p:cNvSpPr>
            <p:nvPr/>
          </p:nvSpPr>
          <p:spPr bwMode="auto">
            <a:xfrm>
              <a:off x="1307" y="2508"/>
              <a:ext cx="271" cy="1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맑은 고딕" pitchFamily="50" charset="-127"/>
                  <a:ea typeface="맑은 고딕" pitchFamily="50" charset="-127"/>
                </a:rPr>
                <a:t>Z=3</a:t>
              </a:r>
            </a:p>
          </p:txBody>
        </p:sp>
        <p:sp>
          <p:nvSpPr>
            <p:cNvPr id="302215" name="Text Box 340"/>
            <p:cNvSpPr txBox="1">
              <a:spLocks noChangeArrowheads="1"/>
            </p:cNvSpPr>
            <p:nvPr/>
          </p:nvSpPr>
          <p:spPr bwMode="auto">
            <a:xfrm>
              <a:off x="1204" y="3199"/>
              <a:ext cx="338" cy="1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맑은 고딕" pitchFamily="50" charset="-127"/>
                  <a:ea typeface="맑은 고딕" pitchFamily="50" charset="-127"/>
                </a:rPr>
                <a:t>Z=2.5</a:t>
              </a:r>
            </a:p>
          </p:txBody>
        </p:sp>
        <p:sp>
          <p:nvSpPr>
            <p:cNvPr id="302216" name="Text Box 341"/>
            <p:cNvSpPr txBox="1">
              <a:spLocks noChangeArrowheads="1"/>
            </p:cNvSpPr>
            <p:nvPr/>
          </p:nvSpPr>
          <p:spPr bwMode="auto">
            <a:xfrm>
              <a:off x="638" y="3851"/>
              <a:ext cx="382" cy="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000" b="1" dirty="0">
                  <a:latin typeface="맑은 고딕" pitchFamily="50" charset="-127"/>
                  <a:ea typeface="맑은 고딕" pitchFamily="50" charset="-127"/>
                </a:rPr>
                <a:t>Z=-2.5</a:t>
              </a:r>
            </a:p>
          </p:txBody>
        </p:sp>
      </p:grpSp>
      <p:sp>
        <p:nvSpPr>
          <p:cNvPr id="302084" name="AutoShape 342"/>
          <p:cNvSpPr>
            <a:spLocks/>
          </p:cNvSpPr>
          <p:nvPr/>
        </p:nvSpPr>
        <p:spPr bwMode="auto">
          <a:xfrm>
            <a:off x="3384550" y="2314575"/>
            <a:ext cx="660400" cy="3784600"/>
          </a:xfrm>
          <a:prstGeom prst="rightBrace">
            <a:avLst>
              <a:gd name="adj1" fmla="val 36268"/>
              <a:gd name="adj2" fmla="val 30361"/>
            </a:avLst>
          </a:prstGeom>
          <a:gradFill rotWithShape="0">
            <a:gsLst>
              <a:gs pos="0">
                <a:srgbClr val="FFFFFF"/>
              </a:gs>
              <a:gs pos="100000">
                <a:srgbClr val="006666"/>
              </a:gs>
            </a:gsLst>
            <a:lin ang="0" scaled="1"/>
          </a:gradFill>
          <a:ln w="38100">
            <a:solidFill>
              <a:srgbClr val="0066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302085" name="Text Box 343"/>
          <p:cNvSpPr txBox="1">
            <a:spLocks noChangeArrowheads="1"/>
          </p:cNvSpPr>
          <p:nvPr/>
        </p:nvSpPr>
        <p:spPr bwMode="auto">
          <a:xfrm>
            <a:off x="4287838" y="4711700"/>
            <a:ext cx="3962944" cy="24622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Giá</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trị</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Z</a:t>
            </a:r>
            <a:r>
              <a:rPr lang="en-US" altLang="ko-KR" sz="1000" b="1" baseline="-25000" dirty="0" err="1">
                <a:latin typeface="맑은 고딕" pitchFamily="50" charset="-127"/>
                <a:ea typeface="맑은 고딕" pitchFamily="50" charset="-127"/>
              </a:rPr>
              <a:t>Bench</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được</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phân</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biệt</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theo</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từng</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loại</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độ</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lệch</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chuẩn</a:t>
            </a:r>
            <a:r>
              <a:rPr lang="en-US" altLang="ko-KR" sz="1000" b="1" dirty="0">
                <a:latin typeface="맑은 고딕" pitchFamily="50" charset="-127"/>
                <a:ea typeface="맑은 고딕" pitchFamily="50" charset="-127"/>
                <a:sym typeface="Wingdings" pitchFamily="2" charset="2"/>
              </a:rPr>
              <a:t>.</a:t>
            </a:r>
            <a:endParaRPr lang="en-US" altLang="ko-KR" sz="1000" b="1" dirty="0">
              <a:latin typeface="맑은 고딕" pitchFamily="50" charset="-127"/>
              <a:ea typeface="맑은 고딕" pitchFamily="50" charset="-127"/>
            </a:endParaRPr>
          </a:p>
        </p:txBody>
      </p:sp>
      <p:sp>
        <p:nvSpPr>
          <p:cNvPr id="302086" name="Oval 344"/>
          <p:cNvSpPr>
            <a:spLocks noChangeArrowheads="1"/>
          </p:cNvSpPr>
          <p:nvPr/>
        </p:nvSpPr>
        <p:spPr bwMode="auto">
          <a:xfrm>
            <a:off x="8280400" y="3429000"/>
            <a:ext cx="908050" cy="733425"/>
          </a:xfrm>
          <a:prstGeom prst="ellipse">
            <a:avLst/>
          </a:prstGeom>
          <a:solidFill>
            <a:srgbClr val="FFFFFF"/>
          </a:solidFill>
          <a:ln w="9525">
            <a:solidFill>
              <a:schemeClr val="tx1"/>
            </a:solidFill>
            <a:round/>
            <a:headEnd/>
            <a:tailEnd/>
          </a:ln>
          <a:effectLst>
            <a:outerShdw dist="35921" dir="2700000" algn="ctr" rotWithShape="0">
              <a:schemeClr val="bg2"/>
            </a:outerShdw>
          </a:effectLst>
        </p:spPr>
        <p:txBody>
          <a:bodyPr wrap="none" anchor="ctr"/>
          <a:lstStyle/>
          <a:p>
            <a:pPr algn="ctr"/>
            <a:r>
              <a:rPr lang="en-US" altLang="ko-KR" sz="1200" dirty="0">
                <a:latin typeface="맑은 고딕" pitchFamily="50" charset="-127"/>
                <a:ea typeface="맑은 고딕" pitchFamily="50" charset="-127"/>
              </a:rPr>
              <a:t>σ level</a:t>
            </a:r>
            <a:endParaRPr lang="ko-KR" altLang="en-US" sz="1200" dirty="0">
              <a:latin typeface="맑은 고딕" pitchFamily="50" charset="-127"/>
              <a:ea typeface="맑은 고딕" pitchFamily="50" charset="-127"/>
            </a:endParaRPr>
          </a:p>
          <a:p>
            <a:pPr algn="ctr"/>
            <a:r>
              <a:rPr lang="en-US" altLang="ko-KR" sz="1200" dirty="0">
                <a:latin typeface="맑은 고딕" pitchFamily="50" charset="-127"/>
                <a:ea typeface="맑은 고딕" pitchFamily="50" charset="-127"/>
              </a:rPr>
              <a:t>calculation</a:t>
            </a:r>
            <a:endParaRPr lang="ko-KR" altLang="en-US" sz="1200" dirty="0">
              <a:latin typeface="맑은 고딕" pitchFamily="50" charset="-127"/>
              <a:ea typeface="맑은 고딕" pitchFamily="50" charset="-127"/>
            </a:endParaRPr>
          </a:p>
        </p:txBody>
      </p:sp>
      <p:sp>
        <p:nvSpPr>
          <p:cNvPr id="302087" name="Rectangle 345"/>
          <p:cNvSpPr>
            <a:spLocks noChangeArrowheads="1"/>
          </p:cNvSpPr>
          <p:nvPr/>
        </p:nvSpPr>
        <p:spPr bwMode="auto">
          <a:xfrm>
            <a:off x="4505325" y="5014913"/>
            <a:ext cx="4776788"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buFont typeface="Wingdings" pitchFamily="2" charset="2"/>
              <a:buChar char="§"/>
            </a:pPr>
            <a:r>
              <a:rPr lang="en-US" altLang="ko-KR" sz="900" dirty="0">
                <a:latin typeface="맑은 고딕" pitchFamily="50" charset="-127"/>
                <a:ea typeface="맑은 고딕" pitchFamily="50" charset="-127"/>
                <a:sym typeface="Wingdings" pitchFamily="2" charset="2"/>
              </a:rPr>
              <a:t> </a:t>
            </a:r>
            <a:r>
              <a:rPr lang="en-US" altLang="ko-KR" sz="900" dirty="0" err="1">
                <a:latin typeface="맑은 고딕" pitchFamily="50" charset="-127"/>
                <a:ea typeface="맑은 고딕" pitchFamily="50" charset="-127"/>
                <a:sym typeface="Wingdings" pitchFamily="2" charset="2"/>
              </a:rPr>
              <a:t>Độ</a:t>
            </a:r>
            <a:r>
              <a:rPr lang="en-US" altLang="ko-KR" sz="900" dirty="0">
                <a:latin typeface="맑은 고딕" pitchFamily="50" charset="-127"/>
                <a:ea typeface="맑은 고딕" pitchFamily="50" charset="-127"/>
                <a:sym typeface="Wingdings" pitchFamily="2" charset="2"/>
              </a:rPr>
              <a:t> </a:t>
            </a:r>
            <a:r>
              <a:rPr lang="en-US" altLang="ko-KR" sz="900" dirty="0" err="1">
                <a:latin typeface="맑은 고딕" pitchFamily="50" charset="-127"/>
                <a:ea typeface="맑은 고딕" pitchFamily="50" charset="-127"/>
                <a:sym typeface="Wingdings" pitchFamily="2" charset="2"/>
              </a:rPr>
              <a:t>lệch</a:t>
            </a:r>
            <a:r>
              <a:rPr lang="en-US" altLang="ko-KR" sz="900" dirty="0">
                <a:latin typeface="맑은 고딕" pitchFamily="50" charset="-127"/>
                <a:ea typeface="맑은 고딕" pitchFamily="50" charset="-127"/>
                <a:sym typeface="Wingdings" pitchFamily="2" charset="2"/>
              </a:rPr>
              <a:t> </a:t>
            </a:r>
            <a:r>
              <a:rPr lang="en-US" altLang="ko-KR" sz="900" dirty="0" err="1">
                <a:latin typeface="맑은 고딕" pitchFamily="50" charset="-127"/>
                <a:ea typeface="맑은 고딕" pitchFamily="50" charset="-127"/>
                <a:sym typeface="Wingdings" pitchFamily="2" charset="2"/>
              </a:rPr>
              <a:t>tiêu</a:t>
            </a:r>
            <a:r>
              <a:rPr lang="en-US" altLang="ko-KR" sz="900" dirty="0">
                <a:latin typeface="맑은 고딕" pitchFamily="50" charset="-127"/>
                <a:ea typeface="맑은 고딕" pitchFamily="50" charset="-127"/>
                <a:sym typeface="Wingdings" pitchFamily="2" charset="2"/>
              </a:rPr>
              <a:t> </a:t>
            </a:r>
            <a:r>
              <a:rPr lang="en-US" altLang="ko-KR" sz="900" dirty="0" err="1">
                <a:latin typeface="맑은 고딕" pitchFamily="50" charset="-127"/>
                <a:ea typeface="맑은 고딕" pitchFamily="50" charset="-127"/>
                <a:sym typeface="Wingdings" pitchFamily="2" charset="2"/>
              </a:rPr>
              <a:t>chuẩn</a:t>
            </a:r>
            <a:r>
              <a:rPr lang="en-US" altLang="ko-KR" sz="900" dirty="0">
                <a:latin typeface="맑은 고딕" pitchFamily="50" charset="-127"/>
                <a:ea typeface="맑은 고딕" pitchFamily="50" charset="-127"/>
                <a:sym typeface="Wingdings" pitchFamily="2" charset="2"/>
              </a:rPr>
              <a:t> </a:t>
            </a:r>
            <a:r>
              <a:rPr lang="en-US" altLang="ko-KR" sz="900" dirty="0" err="1">
                <a:latin typeface="맑은 고딕" pitchFamily="50" charset="-127"/>
                <a:ea typeface="맑은 고딕" pitchFamily="50" charset="-127"/>
                <a:sym typeface="Wingdings" pitchFamily="2" charset="2"/>
              </a:rPr>
              <a:t>ngắn</a:t>
            </a:r>
            <a:r>
              <a:rPr lang="en-US" altLang="ko-KR" sz="900" dirty="0">
                <a:latin typeface="맑은 고딕" pitchFamily="50" charset="-127"/>
                <a:ea typeface="맑은 고딕" pitchFamily="50" charset="-127"/>
                <a:sym typeface="Wingdings" pitchFamily="2" charset="2"/>
              </a:rPr>
              <a:t> </a:t>
            </a:r>
            <a:r>
              <a:rPr lang="en-US" altLang="ko-KR" sz="900" dirty="0" err="1">
                <a:latin typeface="맑은 고딕" pitchFamily="50" charset="-127"/>
                <a:ea typeface="맑은 고딕" pitchFamily="50" charset="-127"/>
                <a:sym typeface="Wingdings" pitchFamily="2" charset="2"/>
              </a:rPr>
              <a:t>hạn</a:t>
            </a:r>
            <a:r>
              <a:rPr lang="en-US" altLang="ko-KR" sz="900" dirty="0">
                <a:latin typeface="맑은 고딕" pitchFamily="50" charset="-127"/>
                <a:ea typeface="맑은 고딕" pitchFamily="50" charset="-127"/>
                <a:sym typeface="Wingdings" pitchFamily="2" charset="2"/>
              </a:rPr>
              <a:t>(</a:t>
            </a:r>
            <a:r>
              <a:rPr lang="en-US" altLang="ko-KR" sz="900" dirty="0" err="1">
                <a:latin typeface="맑은 고딕" pitchFamily="50" charset="-127"/>
                <a:ea typeface="맑은 고딕" pitchFamily="50" charset="-127"/>
                <a:sym typeface="Wingdings" pitchFamily="2" charset="2"/>
              </a:rPr>
              <a:t>σ</a:t>
            </a:r>
            <a:r>
              <a:rPr lang="en-US" altLang="ko-KR" sz="900" baseline="-25000" dirty="0" err="1">
                <a:latin typeface="맑은 고딕" pitchFamily="50" charset="-127"/>
                <a:ea typeface="맑은 고딕" pitchFamily="50" charset="-127"/>
                <a:sym typeface="Wingdings" pitchFamily="2" charset="2"/>
              </a:rPr>
              <a:t>ST</a:t>
            </a:r>
            <a:r>
              <a:rPr lang="en-US" altLang="ko-KR" sz="900" dirty="0">
                <a:latin typeface="맑은 고딕" pitchFamily="50" charset="-127"/>
                <a:ea typeface="맑은 고딕" pitchFamily="50" charset="-127"/>
                <a:sym typeface="Wingdings" pitchFamily="2" charset="2"/>
              </a:rPr>
              <a:t>): Z</a:t>
            </a:r>
            <a:r>
              <a:rPr lang="en-US" altLang="ko-KR" sz="900" baseline="-25000" dirty="0">
                <a:latin typeface="맑은 고딕" pitchFamily="50" charset="-127"/>
                <a:ea typeface="맑은 고딕" pitchFamily="50" charset="-127"/>
                <a:sym typeface="Wingdings" pitchFamily="2" charset="2"/>
              </a:rPr>
              <a:t>Bench </a:t>
            </a:r>
            <a:r>
              <a:rPr lang="en-US" altLang="ko-KR" sz="900" dirty="0">
                <a:latin typeface="맑은 고딕" pitchFamily="50" charset="-127"/>
                <a:ea typeface="맑은 고딕" pitchFamily="50" charset="-127"/>
                <a:sym typeface="Wingdings" pitchFamily="2" charset="2"/>
              </a:rPr>
              <a:t> Z</a:t>
            </a:r>
            <a:r>
              <a:rPr lang="en-US" altLang="ko-KR" sz="900" baseline="-25000" dirty="0">
                <a:latin typeface="맑은 고딕" pitchFamily="50" charset="-127"/>
                <a:ea typeface="맑은 고딕" pitchFamily="50" charset="-127"/>
                <a:sym typeface="Wingdings" pitchFamily="2" charset="2"/>
              </a:rPr>
              <a:t>ST</a:t>
            </a:r>
            <a:r>
              <a:rPr lang="en-US" altLang="ko-KR" sz="900" dirty="0">
                <a:latin typeface="맑은 고딕" pitchFamily="50" charset="-127"/>
                <a:ea typeface="맑은 고딕" pitchFamily="50" charset="-127"/>
                <a:sym typeface="Wingdings" pitchFamily="2" charset="2"/>
              </a:rPr>
              <a:t> </a:t>
            </a:r>
            <a:endParaRPr lang="en-US" altLang="ko-KR" sz="900" dirty="0">
              <a:latin typeface="맑은 고딕" pitchFamily="50" charset="-127"/>
              <a:ea typeface="맑은 고딕" pitchFamily="50" charset="-127"/>
            </a:endParaRPr>
          </a:p>
          <a:p>
            <a:pPr>
              <a:buFont typeface="Wingdings" pitchFamily="2" charset="2"/>
              <a:buChar char="§"/>
            </a:pPr>
            <a:r>
              <a:rPr lang="en-US" altLang="ko-KR" sz="900" dirty="0">
                <a:latin typeface="맑은 고딕" pitchFamily="50" charset="-127"/>
                <a:ea typeface="맑은 고딕" pitchFamily="50" charset="-127"/>
              </a:rPr>
              <a:t> </a:t>
            </a:r>
            <a:r>
              <a:rPr lang="en-US" altLang="ko-KR" sz="900" dirty="0" err="1">
                <a:latin typeface="맑은 고딕" pitchFamily="50" charset="-127"/>
                <a:ea typeface="맑은 고딕" pitchFamily="50" charset="-127"/>
              </a:rPr>
              <a:t>Độ</a:t>
            </a:r>
            <a:r>
              <a:rPr lang="en-US" altLang="ko-KR" sz="900" dirty="0">
                <a:latin typeface="맑은 고딕" pitchFamily="50" charset="-127"/>
                <a:ea typeface="맑은 고딕" pitchFamily="50" charset="-127"/>
              </a:rPr>
              <a:t> </a:t>
            </a:r>
            <a:r>
              <a:rPr lang="en-US" altLang="ko-KR" sz="900" dirty="0" err="1">
                <a:latin typeface="맑은 고딕" pitchFamily="50" charset="-127"/>
                <a:ea typeface="맑은 고딕" pitchFamily="50" charset="-127"/>
              </a:rPr>
              <a:t>lệch</a:t>
            </a:r>
            <a:r>
              <a:rPr lang="en-US" altLang="ko-KR" sz="900" dirty="0">
                <a:latin typeface="맑은 고딕" pitchFamily="50" charset="-127"/>
                <a:ea typeface="맑은 고딕" pitchFamily="50" charset="-127"/>
              </a:rPr>
              <a:t> </a:t>
            </a:r>
            <a:r>
              <a:rPr lang="en-US" altLang="ko-KR" sz="900" dirty="0" err="1">
                <a:latin typeface="맑은 고딕" pitchFamily="50" charset="-127"/>
                <a:ea typeface="맑은 고딕" pitchFamily="50" charset="-127"/>
              </a:rPr>
              <a:t>tiêu</a:t>
            </a:r>
            <a:r>
              <a:rPr lang="en-US" altLang="ko-KR" sz="900" dirty="0">
                <a:latin typeface="맑은 고딕" pitchFamily="50" charset="-127"/>
                <a:ea typeface="맑은 고딕" pitchFamily="50" charset="-127"/>
              </a:rPr>
              <a:t> </a:t>
            </a:r>
            <a:r>
              <a:rPr lang="en-US" altLang="ko-KR" sz="900" dirty="0" err="1">
                <a:latin typeface="맑은 고딕" pitchFamily="50" charset="-127"/>
                <a:ea typeface="맑은 고딕" pitchFamily="50" charset="-127"/>
              </a:rPr>
              <a:t>chuẩn</a:t>
            </a:r>
            <a:r>
              <a:rPr lang="en-US" altLang="ko-KR" sz="900" dirty="0">
                <a:latin typeface="맑은 고딕" pitchFamily="50" charset="-127"/>
                <a:ea typeface="맑은 고딕" pitchFamily="50" charset="-127"/>
              </a:rPr>
              <a:t> </a:t>
            </a:r>
            <a:r>
              <a:rPr lang="en-US" altLang="ko-KR" sz="900" dirty="0" err="1">
                <a:latin typeface="맑은 고딕" pitchFamily="50" charset="-127"/>
                <a:ea typeface="맑은 고딕" pitchFamily="50" charset="-127"/>
              </a:rPr>
              <a:t>dài</a:t>
            </a:r>
            <a:r>
              <a:rPr lang="en-US" altLang="ko-KR" sz="900" dirty="0">
                <a:latin typeface="맑은 고딕" pitchFamily="50" charset="-127"/>
                <a:ea typeface="맑은 고딕" pitchFamily="50" charset="-127"/>
              </a:rPr>
              <a:t> </a:t>
            </a:r>
            <a:r>
              <a:rPr lang="en-US" altLang="ko-KR" sz="900" dirty="0" err="1">
                <a:latin typeface="맑은 고딕" pitchFamily="50" charset="-127"/>
                <a:ea typeface="맑은 고딕" pitchFamily="50" charset="-127"/>
              </a:rPr>
              <a:t>hạn</a:t>
            </a:r>
            <a:r>
              <a:rPr lang="en-US" altLang="ko-KR" sz="900" dirty="0">
                <a:latin typeface="맑은 고딕" pitchFamily="50" charset="-127"/>
                <a:ea typeface="맑은 고딕" pitchFamily="50" charset="-127"/>
              </a:rPr>
              <a:t> (</a:t>
            </a:r>
            <a:r>
              <a:rPr lang="en-US" altLang="ko-KR" sz="900" dirty="0" err="1">
                <a:latin typeface="맑은 고딕" pitchFamily="50" charset="-127"/>
                <a:ea typeface="맑은 고딕" pitchFamily="50" charset="-127"/>
              </a:rPr>
              <a:t>σ</a:t>
            </a:r>
            <a:r>
              <a:rPr lang="en-US" altLang="ko-KR" sz="900" baseline="-25000" dirty="0" err="1">
                <a:latin typeface="맑은 고딕" pitchFamily="50" charset="-127"/>
                <a:ea typeface="맑은 고딕" pitchFamily="50" charset="-127"/>
              </a:rPr>
              <a:t>LT</a:t>
            </a:r>
            <a:r>
              <a:rPr lang="en-US" altLang="ko-KR" sz="900" dirty="0">
                <a:latin typeface="맑은 고딕" pitchFamily="50" charset="-127"/>
                <a:ea typeface="맑은 고딕" pitchFamily="50" charset="-127"/>
              </a:rPr>
              <a:t>): </a:t>
            </a:r>
            <a:r>
              <a:rPr lang="en-US" altLang="ko-KR" sz="900" dirty="0">
                <a:latin typeface="맑은 고딕" pitchFamily="50" charset="-127"/>
                <a:ea typeface="맑은 고딕" pitchFamily="50" charset="-127"/>
                <a:sym typeface="Wingdings" pitchFamily="2" charset="2"/>
              </a:rPr>
              <a:t>Z</a:t>
            </a:r>
            <a:r>
              <a:rPr lang="en-US" altLang="ko-KR" sz="900" baseline="-25000" dirty="0">
                <a:latin typeface="맑은 고딕" pitchFamily="50" charset="-127"/>
                <a:ea typeface="맑은 고딕" pitchFamily="50" charset="-127"/>
                <a:sym typeface="Wingdings" pitchFamily="2" charset="2"/>
              </a:rPr>
              <a:t>Bench</a:t>
            </a:r>
            <a:r>
              <a:rPr lang="en-US" altLang="ko-KR" sz="900" dirty="0">
                <a:latin typeface="맑은 고딕" pitchFamily="50" charset="-127"/>
                <a:ea typeface="맑은 고딕" pitchFamily="50" charset="-127"/>
              </a:rPr>
              <a:t> </a:t>
            </a:r>
            <a:r>
              <a:rPr lang="en-US" altLang="ko-KR" sz="900" dirty="0">
                <a:latin typeface="맑은 고딕" pitchFamily="50" charset="-127"/>
                <a:ea typeface="맑은 고딕" pitchFamily="50" charset="-127"/>
                <a:sym typeface="Wingdings" pitchFamily="2" charset="2"/>
              </a:rPr>
              <a:t> Z</a:t>
            </a:r>
            <a:r>
              <a:rPr lang="en-US" altLang="ko-KR" sz="900" baseline="-25000" dirty="0">
                <a:latin typeface="맑은 고딕" pitchFamily="50" charset="-127"/>
                <a:ea typeface="맑은 고딕" pitchFamily="50" charset="-127"/>
                <a:sym typeface="Wingdings" pitchFamily="2" charset="2"/>
              </a:rPr>
              <a:t>LT</a:t>
            </a:r>
            <a:r>
              <a:rPr lang="en-US" altLang="ko-KR" sz="900" dirty="0">
                <a:latin typeface="맑은 고딕" pitchFamily="50" charset="-127"/>
                <a:ea typeface="맑은 고딕" pitchFamily="50" charset="-127"/>
                <a:sym typeface="Wingdings" pitchFamily="2" charset="2"/>
              </a:rPr>
              <a:t> (Z</a:t>
            </a:r>
            <a:r>
              <a:rPr lang="en-US" altLang="ko-KR" sz="900" baseline="-25000" dirty="0">
                <a:latin typeface="맑은 고딕" pitchFamily="50" charset="-127"/>
                <a:ea typeface="맑은 고딕" pitchFamily="50" charset="-127"/>
                <a:sym typeface="Wingdings" pitchFamily="2" charset="2"/>
              </a:rPr>
              <a:t>ST</a:t>
            </a:r>
            <a:r>
              <a:rPr lang="en-US" altLang="ko-KR" sz="900" dirty="0">
                <a:latin typeface="맑은 고딕" pitchFamily="50" charset="-127"/>
                <a:ea typeface="맑은 고딕" pitchFamily="50" charset="-127"/>
                <a:sym typeface="Wingdings" pitchFamily="2" charset="2"/>
              </a:rPr>
              <a:t> = Z</a:t>
            </a:r>
            <a:r>
              <a:rPr lang="en-US" altLang="ko-KR" sz="900" baseline="-25000" dirty="0">
                <a:latin typeface="맑은 고딕" pitchFamily="50" charset="-127"/>
                <a:ea typeface="맑은 고딕" pitchFamily="50" charset="-127"/>
                <a:sym typeface="Wingdings" pitchFamily="2" charset="2"/>
              </a:rPr>
              <a:t>LT</a:t>
            </a:r>
            <a:r>
              <a:rPr lang="en-US" altLang="ko-KR" sz="900" dirty="0">
                <a:latin typeface="맑은 고딕" pitchFamily="50" charset="-127"/>
                <a:ea typeface="맑은 고딕" pitchFamily="50" charset="-127"/>
                <a:sym typeface="Wingdings" pitchFamily="2" charset="2"/>
              </a:rPr>
              <a:t>+1.5)</a:t>
            </a:r>
          </a:p>
        </p:txBody>
      </p:sp>
      <p:sp>
        <p:nvSpPr>
          <p:cNvPr id="302088" name="Text Box 346"/>
          <p:cNvSpPr txBox="1">
            <a:spLocks noChangeArrowheads="1"/>
          </p:cNvSpPr>
          <p:nvPr/>
        </p:nvSpPr>
        <p:spPr bwMode="auto">
          <a:xfrm>
            <a:off x="8529638" y="4325938"/>
            <a:ext cx="409575" cy="284162"/>
          </a:xfrm>
          <a:prstGeom prst="rect">
            <a:avLst/>
          </a:prstGeom>
          <a:solidFill>
            <a:srgbClr val="EFE6F6"/>
          </a:solidFill>
          <a:ln w="9525">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latin typeface="맑은 고딕" pitchFamily="50" charset="-127"/>
                <a:ea typeface="맑은 고딕" pitchFamily="50" charset="-127"/>
              </a:rPr>
              <a:t>Z</a:t>
            </a:r>
            <a:r>
              <a:rPr lang="en-US" altLang="ko-KR" sz="1200" b="1" baseline="-25000" dirty="0">
                <a:latin typeface="맑은 고딕" pitchFamily="50" charset="-127"/>
                <a:ea typeface="맑은 고딕" pitchFamily="50" charset="-127"/>
              </a:rPr>
              <a:t>ST</a:t>
            </a:r>
          </a:p>
        </p:txBody>
      </p:sp>
      <p:sp>
        <p:nvSpPr>
          <p:cNvPr id="302089" name="Text Box 347"/>
          <p:cNvSpPr txBox="1">
            <a:spLocks noChangeArrowheads="1"/>
          </p:cNvSpPr>
          <p:nvPr/>
        </p:nvSpPr>
        <p:spPr bwMode="auto">
          <a:xfrm>
            <a:off x="787400" y="1350963"/>
            <a:ext cx="8548688" cy="8962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defTabSz="190500" eaLnBrk="0" hangingPunct="0">
              <a:defRPr kumimoji="1">
                <a:solidFill>
                  <a:schemeClr val="tx1"/>
                </a:solidFill>
                <a:latin typeface="굴림" pitchFamily="50" charset="-127"/>
                <a:ea typeface="굴림" pitchFamily="50" charset="-127"/>
              </a:defRPr>
            </a:lvl1pPr>
            <a:lvl2pPr marL="742950" indent="-285750" defTabSz="190500" eaLnBrk="0" hangingPunct="0">
              <a:defRPr kumimoji="1">
                <a:solidFill>
                  <a:schemeClr val="tx1"/>
                </a:solidFill>
                <a:latin typeface="굴림" pitchFamily="50" charset="-127"/>
                <a:ea typeface="굴림" pitchFamily="50" charset="-127"/>
              </a:defRPr>
            </a:lvl2pPr>
            <a:lvl3pPr marL="1143000" indent="-228600" defTabSz="190500" eaLnBrk="0" hangingPunct="0">
              <a:defRPr kumimoji="1">
                <a:solidFill>
                  <a:schemeClr val="tx1"/>
                </a:solidFill>
                <a:latin typeface="굴림" pitchFamily="50" charset="-127"/>
                <a:ea typeface="굴림" pitchFamily="50" charset="-127"/>
              </a:defRPr>
            </a:lvl3pPr>
            <a:lvl4pPr marL="1600200" indent="-228600" defTabSz="190500" eaLnBrk="0" hangingPunct="0">
              <a:defRPr kumimoji="1">
                <a:solidFill>
                  <a:schemeClr val="tx1"/>
                </a:solidFill>
                <a:latin typeface="굴림" pitchFamily="50" charset="-127"/>
                <a:ea typeface="굴림" pitchFamily="50" charset="-127"/>
              </a:defRPr>
            </a:lvl4pPr>
            <a:lvl5pPr marL="2057400" indent="-228600" defTabSz="190500" eaLnBrk="0" hangingPunct="0">
              <a:defRPr kumimoji="1">
                <a:solidFill>
                  <a:schemeClr val="tx1"/>
                </a:solidFill>
                <a:latin typeface="굴림" pitchFamily="50" charset="-127"/>
                <a:ea typeface="굴림" pitchFamily="50" charset="-127"/>
              </a:defRPr>
            </a:lvl5pPr>
            <a:lvl6pPr marL="25146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nSpc>
                <a:spcPct val="145000"/>
              </a:lnSpc>
            </a:pP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Z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nhiều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nhau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tùy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thuôc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trái</a:t>
            </a:r>
            <a:r>
              <a:rPr lang="en-US" altLang="ko-KR" sz="1200" dirty="0">
                <a:latin typeface="맑은 고딕" pitchFamily="50" charset="-127"/>
                <a:ea typeface="맑은 고딕" pitchFamily="50" charset="-127"/>
              </a:rPr>
              <a:t>/</a:t>
            </a:r>
            <a:r>
              <a:rPr lang="en-US" altLang="ko-KR" sz="1200" dirty="0" err="1">
                <a:latin typeface="맑은 고딕" pitchFamily="50" charset="-127"/>
                <a:ea typeface="맑은 고딕" pitchFamily="50" charset="-127"/>
              </a:rPr>
              <a:t>phải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thay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đổi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trung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dư</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liệu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ngắn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hay </a:t>
            </a:r>
            <a:r>
              <a:rPr lang="en-US" altLang="ko-KR" sz="1200" dirty="0" err="1">
                <a:latin typeface="맑은 고딕" pitchFamily="50" charset="-127"/>
                <a:ea typeface="맑은 고딕" pitchFamily="50" charset="-127"/>
              </a:rPr>
              <a:t>dài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N</a:t>
            </a:r>
            <a:r>
              <a:rPr lang="vi-VN" altLang="ko-KR" sz="1200" dirty="0">
                <a:latin typeface="맑은 고딕" pitchFamily="50" charset="-127"/>
                <a:ea typeface="맑은 고딕" pitchFamily="50" charset="-127"/>
              </a:rPr>
              <a:t>hìn chung, </a:t>
            </a:r>
            <a:r>
              <a:rPr lang="en-US" altLang="ko-KR" sz="1200" dirty="0" err="1">
                <a:latin typeface="맑은 고딕" pitchFamily="50" charset="-127"/>
                <a:ea typeface="맑은 고딕" pitchFamily="50" charset="-127"/>
              </a:rPr>
              <a:t>năng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vi-VN" altLang="ko-KR" sz="1200" dirty="0">
                <a:latin typeface="맑은 고딕" pitchFamily="50" charset="-127"/>
                <a:ea typeface="맑은 고딕" pitchFamily="50" charset="-127"/>
              </a:rPr>
              <a:t> là một giá trị tiêu 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duy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a:t>
            </a:r>
            <a:r>
              <a:rPr lang="vi-VN" altLang="ko-KR"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V</a:t>
            </a:r>
            <a:r>
              <a:rPr lang="vi-VN" altLang="ko-KR" sz="1200" dirty="0">
                <a:latin typeface="맑은 고딕" pitchFamily="50" charset="-127"/>
                <a:ea typeface="맑은 고딕" pitchFamily="50" charset="-127"/>
              </a:rPr>
              <a:t>ì vậy</a:t>
            </a:r>
            <a:r>
              <a:rPr lang="en-US" altLang="ko-KR" sz="1200" dirty="0">
                <a:latin typeface="맑은 고딕" pitchFamily="50" charset="-127"/>
                <a:ea typeface="맑은 고딕" pitchFamily="50" charset="-127"/>
              </a:rPr>
              <a:t>,</a:t>
            </a:r>
            <a:r>
              <a:rPr lang="vi-VN" altLang="ko-KR" sz="1200" dirty="0">
                <a:latin typeface="맑은 고딕" pitchFamily="50" charset="-127"/>
                <a:ea typeface="맑은 고딕" pitchFamily="50" charset="-127"/>
              </a:rPr>
              <a:t> nó phải được tính toán </a:t>
            </a:r>
            <a:r>
              <a:rPr lang="en-US" altLang="ko-KR" sz="1200" dirty="0" err="1">
                <a:latin typeface="맑은 고딕" pitchFamily="50" charset="-127"/>
                <a:ea typeface="맑은 고딕" pitchFamily="50" charset="-127"/>
              </a:rPr>
              <a:t>thành</a:t>
            </a:r>
            <a:r>
              <a:rPr lang="vi-VN" altLang="ko-KR" sz="1200" dirty="0">
                <a:latin typeface="맑은 고딕" pitchFamily="50" charset="-127"/>
                <a:ea typeface="맑은 고딕" pitchFamily="50" charset="-127"/>
              </a:rPr>
              <a:t> một chỉ số duy 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ánh</a:t>
            </a:r>
            <a:r>
              <a:rPr lang="vi-VN" altLang="ko-KR" sz="1200" dirty="0">
                <a:latin typeface="맑은 고딕" pitchFamily="50" charset="-127"/>
                <a:ea typeface="맑은 고딕" pitchFamily="50" charset="-127"/>
              </a:rPr>
              <a:t> tất cả những yếu tố </a:t>
            </a:r>
            <a:r>
              <a:rPr lang="en-US" altLang="ko-KR" sz="1200" dirty="0" err="1">
                <a:latin typeface="맑은 고딕" pitchFamily="50" charset="-127"/>
                <a:ea typeface="맑은 고딕" pitchFamily="50" charset="-127"/>
              </a:rPr>
              <a:t>ảnh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hưởng</a:t>
            </a:r>
            <a:r>
              <a:rPr lang="en-US" altLang="ko-KR" sz="1200" dirty="0">
                <a:latin typeface="맑은 고딕" pitchFamily="50" charset="-127"/>
                <a:ea typeface="맑은 고딕" pitchFamily="50" charset="-127"/>
              </a:rPr>
              <a:t> </a:t>
            </a:r>
            <a:r>
              <a:rPr lang="vi-VN" altLang="ko-KR" sz="1200" dirty="0">
                <a:latin typeface="맑은 고딕" pitchFamily="50" charset="-127"/>
                <a:ea typeface="맑은 고딕" pitchFamily="50" charset="-127"/>
              </a:rPr>
              <a:t>khác nhau.</a:t>
            </a:r>
            <a:endParaRPr lang="en-US" altLang="ko-KR" sz="1200" dirty="0">
              <a:latin typeface="맑은 고딕" pitchFamily="50" charset="-127"/>
              <a:ea typeface="맑은 고딕" pitchFamily="50" charset="-127"/>
            </a:endParaRPr>
          </a:p>
        </p:txBody>
      </p:sp>
      <p:grpSp>
        <p:nvGrpSpPr>
          <p:cNvPr id="8" name="Group 348"/>
          <p:cNvGrpSpPr>
            <a:grpSpLocks/>
          </p:cNvGrpSpPr>
          <p:nvPr/>
        </p:nvGrpSpPr>
        <p:grpSpPr bwMode="auto">
          <a:xfrm>
            <a:off x="4362450" y="2433638"/>
            <a:ext cx="3067050" cy="1982787"/>
            <a:chOff x="2652" y="1412"/>
            <a:chExt cx="2132" cy="1249"/>
          </a:xfrm>
        </p:grpSpPr>
        <p:sp>
          <p:nvSpPr>
            <p:cNvPr id="302098" name="AutoShape 349"/>
            <p:cNvSpPr>
              <a:spLocks noChangeArrowheads="1"/>
            </p:cNvSpPr>
            <p:nvPr/>
          </p:nvSpPr>
          <p:spPr bwMode="auto">
            <a:xfrm>
              <a:off x="2652" y="1412"/>
              <a:ext cx="2132" cy="1248"/>
            </a:xfrm>
            <a:prstGeom prst="roundRect">
              <a:avLst>
                <a:gd name="adj" fmla="val 9375"/>
              </a:avLst>
            </a:prstGeom>
            <a:solidFill>
              <a:srgbClr val="EEF0E8"/>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302099" name="Text Box 350"/>
            <p:cNvSpPr txBox="1">
              <a:spLocks noChangeArrowheads="1"/>
            </p:cNvSpPr>
            <p:nvPr/>
          </p:nvSpPr>
          <p:spPr bwMode="auto">
            <a:xfrm>
              <a:off x="3985" y="1611"/>
              <a:ext cx="312"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dirty="0">
                  <a:latin typeface="맑은 고딕" pitchFamily="50" charset="-127"/>
                  <a:ea typeface="맑은 고딕" pitchFamily="50" charset="-127"/>
                </a:rPr>
                <a:t>USL</a:t>
              </a:r>
            </a:p>
          </p:txBody>
        </p:sp>
        <p:sp>
          <p:nvSpPr>
            <p:cNvPr id="302100" name="Line 351"/>
            <p:cNvSpPr>
              <a:spLocks noChangeShapeType="1"/>
            </p:cNvSpPr>
            <p:nvPr/>
          </p:nvSpPr>
          <p:spPr bwMode="auto">
            <a:xfrm>
              <a:off x="3688" y="1556"/>
              <a:ext cx="0" cy="857"/>
            </a:xfrm>
            <a:prstGeom prst="line">
              <a:avLst/>
            </a:prstGeom>
            <a:noFill/>
            <a:ln w="1905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9" name="Group 352"/>
            <p:cNvGrpSpPr>
              <a:grpSpLocks/>
            </p:cNvGrpSpPr>
            <p:nvPr/>
          </p:nvGrpSpPr>
          <p:grpSpPr bwMode="auto">
            <a:xfrm>
              <a:off x="2713" y="1603"/>
              <a:ext cx="1962" cy="805"/>
              <a:chOff x="554" y="2928"/>
              <a:chExt cx="1950" cy="870"/>
            </a:xfrm>
          </p:grpSpPr>
          <p:sp>
            <p:nvSpPr>
              <p:cNvPr id="302107" name="Line 353"/>
              <p:cNvSpPr>
                <a:spLocks noChangeShapeType="1"/>
              </p:cNvSpPr>
              <p:nvPr/>
            </p:nvSpPr>
            <p:spPr bwMode="auto">
              <a:xfrm flipV="1">
                <a:off x="554" y="3796"/>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08" name="Line 354"/>
              <p:cNvSpPr>
                <a:spLocks noChangeShapeType="1"/>
              </p:cNvSpPr>
              <p:nvPr/>
            </p:nvSpPr>
            <p:spPr bwMode="auto">
              <a:xfrm>
                <a:off x="579"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09" name="Line 355"/>
              <p:cNvSpPr>
                <a:spLocks noChangeShapeType="1"/>
              </p:cNvSpPr>
              <p:nvPr/>
            </p:nvSpPr>
            <p:spPr bwMode="auto">
              <a:xfrm>
                <a:off x="604"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0" name="Line 356"/>
              <p:cNvSpPr>
                <a:spLocks noChangeShapeType="1"/>
              </p:cNvSpPr>
              <p:nvPr/>
            </p:nvSpPr>
            <p:spPr bwMode="auto">
              <a:xfrm flipV="1">
                <a:off x="629" y="3794"/>
                <a:ext cx="26"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1" name="Line 357"/>
              <p:cNvSpPr>
                <a:spLocks noChangeShapeType="1"/>
              </p:cNvSpPr>
              <p:nvPr/>
            </p:nvSpPr>
            <p:spPr bwMode="auto">
              <a:xfrm>
                <a:off x="655" y="3794"/>
                <a:ext cx="28"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2" name="Line 358"/>
              <p:cNvSpPr>
                <a:spLocks noChangeShapeType="1"/>
              </p:cNvSpPr>
              <p:nvPr/>
            </p:nvSpPr>
            <p:spPr bwMode="auto">
              <a:xfrm flipV="1">
                <a:off x="683" y="3792"/>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3" name="Line 359"/>
              <p:cNvSpPr>
                <a:spLocks noChangeShapeType="1"/>
              </p:cNvSpPr>
              <p:nvPr/>
            </p:nvSpPr>
            <p:spPr bwMode="auto">
              <a:xfrm flipV="1">
                <a:off x="708" y="3791"/>
                <a:ext cx="25"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4" name="Line 360"/>
              <p:cNvSpPr>
                <a:spLocks noChangeShapeType="1"/>
              </p:cNvSpPr>
              <p:nvPr/>
            </p:nvSpPr>
            <p:spPr bwMode="auto">
              <a:xfrm flipV="1">
                <a:off x="733" y="3787"/>
                <a:ext cx="26"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5" name="Line 361"/>
              <p:cNvSpPr>
                <a:spLocks noChangeShapeType="1"/>
              </p:cNvSpPr>
              <p:nvPr/>
            </p:nvSpPr>
            <p:spPr bwMode="auto">
              <a:xfrm flipV="1">
                <a:off x="759" y="3784"/>
                <a:ext cx="25"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6" name="Line 362"/>
              <p:cNvSpPr>
                <a:spLocks noChangeShapeType="1"/>
              </p:cNvSpPr>
              <p:nvPr/>
            </p:nvSpPr>
            <p:spPr bwMode="auto">
              <a:xfrm flipV="1">
                <a:off x="784" y="3780"/>
                <a:ext cx="25"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7" name="Line 363"/>
              <p:cNvSpPr>
                <a:spLocks noChangeShapeType="1"/>
              </p:cNvSpPr>
              <p:nvPr/>
            </p:nvSpPr>
            <p:spPr bwMode="auto">
              <a:xfrm flipV="1">
                <a:off x="809" y="3775"/>
                <a:ext cx="26" cy="5"/>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8" name="Line 364"/>
              <p:cNvSpPr>
                <a:spLocks noChangeShapeType="1"/>
              </p:cNvSpPr>
              <p:nvPr/>
            </p:nvSpPr>
            <p:spPr bwMode="auto">
              <a:xfrm flipV="1">
                <a:off x="835" y="3768"/>
                <a:ext cx="28" cy="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19" name="Line 365"/>
              <p:cNvSpPr>
                <a:spLocks noChangeShapeType="1"/>
              </p:cNvSpPr>
              <p:nvPr/>
            </p:nvSpPr>
            <p:spPr bwMode="auto">
              <a:xfrm flipV="1">
                <a:off x="863" y="3760"/>
                <a:ext cx="25" cy="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0" name="Line 366"/>
              <p:cNvSpPr>
                <a:spLocks noChangeShapeType="1"/>
              </p:cNvSpPr>
              <p:nvPr/>
            </p:nvSpPr>
            <p:spPr bwMode="auto">
              <a:xfrm flipV="1">
                <a:off x="888" y="3749"/>
                <a:ext cx="25" cy="1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1" name="Line 367"/>
              <p:cNvSpPr>
                <a:spLocks noChangeShapeType="1"/>
              </p:cNvSpPr>
              <p:nvPr/>
            </p:nvSpPr>
            <p:spPr bwMode="auto">
              <a:xfrm flipV="1">
                <a:off x="913" y="3736"/>
                <a:ext cx="26" cy="1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2" name="Line 368"/>
              <p:cNvSpPr>
                <a:spLocks noChangeShapeType="1"/>
              </p:cNvSpPr>
              <p:nvPr/>
            </p:nvSpPr>
            <p:spPr bwMode="auto">
              <a:xfrm flipV="1">
                <a:off x="939" y="3720"/>
                <a:ext cx="24" cy="1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3" name="Line 369"/>
              <p:cNvSpPr>
                <a:spLocks noChangeShapeType="1"/>
              </p:cNvSpPr>
              <p:nvPr/>
            </p:nvSpPr>
            <p:spPr bwMode="auto">
              <a:xfrm flipV="1">
                <a:off x="963" y="3701"/>
                <a:ext cx="26" cy="1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4" name="Line 370"/>
              <p:cNvSpPr>
                <a:spLocks noChangeShapeType="1"/>
              </p:cNvSpPr>
              <p:nvPr/>
            </p:nvSpPr>
            <p:spPr bwMode="auto">
              <a:xfrm flipV="1">
                <a:off x="989" y="3679"/>
                <a:ext cx="28" cy="2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5" name="Line 371"/>
              <p:cNvSpPr>
                <a:spLocks noChangeShapeType="1"/>
              </p:cNvSpPr>
              <p:nvPr/>
            </p:nvSpPr>
            <p:spPr bwMode="auto">
              <a:xfrm flipV="1">
                <a:off x="1017" y="3655"/>
                <a:ext cx="25" cy="2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6" name="Line 372"/>
              <p:cNvSpPr>
                <a:spLocks noChangeShapeType="1"/>
              </p:cNvSpPr>
              <p:nvPr/>
            </p:nvSpPr>
            <p:spPr bwMode="auto">
              <a:xfrm flipV="1">
                <a:off x="1042" y="3626"/>
                <a:ext cx="26"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7" name="Line 373"/>
              <p:cNvSpPr>
                <a:spLocks noChangeShapeType="1"/>
              </p:cNvSpPr>
              <p:nvPr/>
            </p:nvSpPr>
            <p:spPr bwMode="auto">
              <a:xfrm flipV="1">
                <a:off x="1068" y="3592"/>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8" name="Line 374"/>
              <p:cNvSpPr>
                <a:spLocks noChangeShapeType="1"/>
              </p:cNvSpPr>
              <p:nvPr/>
            </p:nvSpPr>
            <p:spPr bwMode="auto">
              <a:xfrm flipV="1">
                <a:off x="1093" y="3555"/>
                <a:ext cx="25" cy="3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29" name="Line 375"/>
              <p:cNvSpPr>
                <a:spLocks noChangeShapeType="1"/>
              </p:cNvSpPr>
              <p:nvPr/>
            </p:nvSpPr>
            <p:spPr bwMode="auto">
              <a:xfrm flipV="1">
                <a:off x="1118" y="3514"/>
                <a:ext cx="26"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0" name="Line 376"/>
              <p:cNvSpPr>
                <a:spLocks noChangeShapeType="1"/>
              </p:cNvSpPr>
              <p:nvPr/>
            </p:nvSpPr>
            <p:spPr bwMode="auto">
              <a:xfrm flipV="1">
                <a:off x="1144" y="3472"/>
                <a:ext cx="24" cy="4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1" name="Line 377"/>
              <p:cNvSpPr>
                <a:spLocks noChangeShapeType="1"/>
              </p:cNvSpPr>
              <p:nvPr/>
            </p:nvSpPr>
            <p:spPr bwMode="auto">
              <a:xfrm flipV="1">
                <a:off x="1168" y="3424"/>
                <a:ext cx="29" cy="4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2" name="Line 378"/>
              <p:cNvSpPr>
                <a:spLocks noChangeShapeType="1"/>
              </p:cNvSpPr>
              <p:nvPr/>
            </p:nvSpPr>
            <p:spPr bwMode="auto">
              <a:xfrm flipV="1">
                <a:off x="1197" y="3374"/>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3" name="Line 379"/>
              <p:cNvSpPr>
                <a:spLocks noChangeShapeType="1"/>
              </p:cNvSpPr>
              <p:nvPr/>
            </p:nvSpPr>
            <p:spPr bwMode="auto">
              <a:xfrm flipV="1">
                <a:off x="1222" y="3322"/>
                <a:ext cx="26"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4" name="Line 380"/>
              <p:cNvSpPr>
                <a:spLocks noChangeShapeType="1"/>
              </p:cNvSpPr>
              <p:nvPr/>
            </p:nvSpPr>
            <p:spPr bwMode="auto">
              <a:xfrm flipV="1">
                <a:off x="1248" y="3269"/>
                <a:ext cx="24" cy="5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5" name="Line 381"/>
              <p:cNvSpPr>
                <a:spLocks noChangeShapeType="1"/>
              </p:cNvSpPr>
              <p:nvPr/>
            </p:nvSpPr>
            <p:spPr bwMode="auto">
              <a:xfrm flipV="1">
                <a:off x="1272" y="3218"/>
                <a:ext cx="26" cy="5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6" name="Line 382"/>
              <p:cNvSpPr>
                <a:spLocks noChangeShapeType="1"/>
              </p:cNvSpPr>
              <p:nvPr/>
            </p:nvSpPr>
            <p:spPr bwMode="auto">
              <a:xfrm flipV="1">
                <a:off x="1298" y="3166"/>
                <a:ext cx="25"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7" name="Line 383"/>
              <p:cNvSpPr>
                <a:spLocks noChangeShapeType="1"/>
              </p:cNvSpPr>
              <p:nvPr/>
            </p:nvSpPr>
            <p:spPr bwMode="auto">
              <a:xfrm flipV="1">
                <a:off x="1323" y="3116"/>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8" name="Line 384"/>
              <p:cNvSpPr>
                <a:spLocks noChangeShapeType="1"/>
              </p:cNvSpPr>
              <p:nvPr/>
            </p:nvSpPr>
            <p:spPr bwMode="auto">
              <a:xfrm flipV="1">
                <a:off x="1348" y="3070"/>
                <a:ext cx="29" cy="4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39" name="Line 385"/>
              <p:cNvSpPr>
                <a:spLocks noChangeShapeType="1"/>
              </p:cNvSpPr>
              <p:nvPr/>
            </p:nvSpPr>
            <p:spPr bwMode="auto">
              <a:xfrm flipV="1">
                <a:off x="1377" y="3029"/>
                <a:ext cx="25"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0" name="Line 386"/>
              <p:cNvSpPr>
                <a:spLocks noChangeShapeType="1"/>
              </p:cNvSpPr>
              <p:nvPr/>
            </p:nvSpPr>
            <p:spPr bwMode="auto">
              <a:xfrm flipV="1">
                <a:off x="1402" y="2995"/>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1" name="Line 387"/>
              <p:cNvSpPr>
                <a:spLocks noChangeShapeType="1"/>
              </p:cNvSpPr>
              <p:nvPr/>
            </p:nvSpPr>
            <p:spPr bwMode="auto">
              <a:xfrm flipV="1">
                <a:off x="1427" y="296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2" name="Line 388"/>
              <p:cNvSpPr>
                <a:spLocks noChangeShapeType="1"/>
              </p:cNvSpPr>
              <p:nvPr/>
            </p:nvSpPr>
            <p:spPr bwMode="auto">
              <a:xfrm flipV="1">
                <a:off x="1452" y="2945"/>
                <a:ext cx="25" cy="2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3" name="Line 389"/>
              <p:cNvSpPr>
                <a:spLocks noChangeShapeType="1"/>
              </p:cNvSpPr>
              <p:nvPr/>
            </p:nvSpPr>
            <p:spPr bwMode="auto">
              <a:xfrm flipV="1">
                <a:off x="1477" y="2931"/>
                <a:ext cx="26" cy="1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4" name="Line 390"/>
              <p:cNvSpPr>
                <a:spLocks noChangeShapeType="1"/>
              </p:cNvSpPr>
              <p:nvPr/>
            </p:nvSpPr>
            <p:spPr bwMode="auto">
              <a:xfrm flipV="1">
                <a:off x="1503" y="2928"/>
                <a:ext cx="28"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5" name="Line 391"/>
              <p:cNvSpPr>
                <a:spLocks noChangeShapeType="1"/>
              </p:cNvSpPr>
              <p:nvPr/>
            </p:nvSpPr>
            <p:spPr bwMode="auto">
              <a:xfrm>
                <a:off x="1531" y="2928"/>
                <a:ext cx="26"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6" name="Line 392"/>
              <p:cNvSpPr>
                <a:spLocks noChangeShapeType="1"/>
              </p:cNvSpPr>
              <p:nvPr/>
            </p:nvSpPr>
            <p:spPr bwMode="auto">
              <a:xfrm>
                <a:off x="1557" y="2931"/>
                <a:ext cx="24" cy="1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7" name="Line 393"/>
              <p:cNvSpPr>
                <a:spLocks noChangeShapeType="1"/>
              </p:cNvSpPr>
              <p:nvPr/>
            </p:nvSpPr>
            <p:spPr bwMode="auto">
              <a:xfrm>
                <a:off x="1581" y="2945"/>
                <a:ext cx="26" cy="2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8" name="Line 394"/>
              <p:cNvSpPr>
                <a:spLocks noChangeShapeType="1"/>
              </p:cNvSpPr>
              <p:nvPr/>
            </p:nvSpPr>
            <p:spPr bwMode="auto">
              <a:xfrm>
                <a:off x="1607" y="296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49" name="Line 395"/>
              <p:cNvSpPr>
                <a:spLocks noChangeShapeType="1"/>
              </p:cNvSpPr>
              <p:nvPr/>
            </p:nvSpPr>
            <p:spPr bwMode="auto">
              <a:xfrm>
                <a:off x="1632" y="2995"/>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0" name="Line 396"/>
              <p:cNvSpPr>
                <a:spLocks noChangeShapeType="1"/>
              </p:cNvSpPr>
              <p:nvPr/>
            </p:nvSpPr>
            <p:spPr bwMode="auto">
              <a:xfrm>
                <a:off x="1657" y="3029"/>
                <a:ext cx="25"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1" name="Line 397"/>
              <p:cNvSpPr>
                <a:spLocks noChangeShapeType="1"/>
              </p:cNvSpPr>
              <p:nvPr/>
            </p:nvSpPr>
            <p:spPr bwMode="auto">
              <a:xfrm>
                <a:off x="1682" y="3070"/>
                <a:ext cx="29" cy="4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2" name="Line 398"/>
              <p:cNvSpPr>
                <a:spLocks noChangeShapeType="1"/>
              </p:cNvSpPr>
              <p:nvPr/>
            </p:nvSpPr>
            <p:spPr bwMode="auto">
              <a:xfrm>
                <a:off x="1711" y="3116"/>
                <a:ext cx="25"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3" name="Line 399"/>
              <p:cNvSpPr>
                <a:spLocks noChangeShapeType="1"/>
              </p:cNvSpPr>
              <p:nvPr/>
            </p:nvSpPr>
            <p:spPr bwMode="auto">
              <a:xfrm>
                <a:off x="1736" y="3166"/>
                <a:ext cx="25"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4" name="Line 400"/>
              <p:cNvSpPr>
                <a:spLocks noChangeShapeType="1"/>
              </p:cNvSpPr>
              <p:nvPr/>
            </p:nvSpPr>
            <p:spPr bwMode="auto">
              <a:xfrm>
                <a:off x="1761" y="3218"/>
                <a:ext cx="25" cy="5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5" name="Line 401"/>
              <p:cNvSpPr>
                <a:spLocks noChangeShapeType="1"/>
              </p:cNvSpPr>
              <p:nvPr/>
            </p:nvSpPr>
            <p:spPr bwMode="auto">
              <a:xfrm>
                <a:off x="1786" y="3269"/>
                <a:ext cx="26" cy="5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6" name="Line 402"/>
              <p:cNvSpPr>
                <a:spLocks noChangeShapeType="1"/>
              </p:cNvSpPr>
              <p:nvPr/>
            </p:nvSpPr>
            <p:spPr bwMode="auto">
              <a:xfrm>
                <a:off x="1812" y="3322"/>
                <a:ext cx="24" cy="5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7" name="Line 403"/>
              <p:cNvSpPr>
                <a:spLocks noChangeShapeType="1"/>
              </p:cNvSpPr>
              <p:nvPr/>
            </p:nvSpPr>
            <p:spPr bwMode="auto">
              <a:xfrm>
                <a:off x="1836" y="3374"/>
                <a:ext cx="26" cy="5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8" name="Line 404"/>
              <p:cNvSpPr>
                <a:spLocks noChangeShapeType="1"/>
              </p:cNvSpPr>
              <p:nvPr/>
            </p:nvSpPr>
            <p:spPr bwMode="auto">
              <a:xfrm>
                <a:off x="1862" y="3424"/>
                <a:ext cx="28" cy="4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59" name="Line 405"/>
              <p:cNvSpPr>
                <a:spLocks noChangeShapeType="1"/>
              </p:cNvSpPr>
              <p:nvPr/>
            </p:nvSpPr>
            <p:spPr bwMode="auto">
              <a:xfrm>
                <a:off x="1890" y="3472"/>
                <a:ext cx="26" cy="4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0" name="Line 406"/>
              <p:cNvSpPr>
                <a:spLocks noChangeShapeType="1"/>
              </p:cNvSpPr>
              <p:nvPr/>
            </p:nvSpPr>
            <p:spPr bwMode="auto">
              <a:xfrm>
                <a:off x="1916" y="3514"/>
                <a:ext cx="24" cy="4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1" name="Line 407"/>
              <p:cNvSpPr>
                <a:spLocks noChangeShapeType="1"/>
              </p:cNvSpPr>
              <p:nvPr/>
            </p:nvSpPr>
            <p:spPr bwMode="auto">
              <a:xfrm>
                <a:off x="1940" y="3555"/>
                <a:ext cx="26" cy="3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2" name="Line 408"/>
              <p:cNvSpPr>
                <a:spLocks noChangeShapeType="1"/>
              </p:cNvSpPr>
              <p:nvPr/>
            </p:nvSpPr>
            <p:spPr bwMode="auto">
              <a:xfrm>
                <a:off x="1966" y="3592"/>
                <a:ext cx="25" cy="3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3" name="Line 409"/>
              <p:cNvSpPr>
                <a:spLocks noChangeShapeType="1"/>
              </p:cNvSpPr>
              <p:nvPr/>
            </p:nvSpPr>
            <p:spPr bwMode="auto">
              <a:xfrm>
                <a:off x="1991" y="3626"/>
                <a:ext cx="25" cy="2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4" name="Line 410"/>
              <p:cNvSpPr>
                <a:spLocks noChangeShapeType="1"/>
              </p:cNvSpPr>
              <p:nvPr/>
            </p:nvSpPr>
            <p:spPr bwMode="auto">
              <a:xfrm>
                <a:off x="2016" y="3655"/>
                <a:ext cx="25" cy="2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5" name="Line 411"/>
              <p:cNvSpPr>
                <a:spLocks noChangeShapeType="1"/>
              </p:cNvSpPr>
              <p:nvPr/>
            </p:nvSpPr>
            <p:spPr bwMode="auto">
              <a:xfrm>
                <a:off x="2041" y="3679"/>
                <a:ext cx="29" cy="2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6" name="Line 412"/>
              <p:cNvSpPr>
                <a:spLocks noChangeShapeType="1"/>
              </p:cNvSpPr>
              <p:nvPr/>
            </p:nvSpPr>
            <p:spPr bwMode="auto">
              <a:xfrm>
                <a:off x="2070" y="3701"/>
                <a:ext cx="25" cy="19"/>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7" name="Line 413"/>
              <p:cNvSpPr>
                <a:spLocks noChangeShapeType="1"/>
              </p:cNvSpPr>
              <p:nvPr/>
            </p:nvSpPr>
            <p:spPr bwMode="auto">
              <a:xfrm>
                <a:off x="2095" y="3720"/>
                <a:ext cx="26" cy="16"/>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8" name="Line 414"/>
              <p:cNvSpPr>
                <a:spLocks noChangeShapeType="1"/>
              </p:cNvSpPr>
              <p:nvPr/>
            </p:nvSpPr>
            <p:spPr bwMode="auto">
              <a:xfrm>
                <a:off x="2121" y="3736"/>
                <a:ext cx="24" cy="1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69" name="Line 415"/>
              <p:cNvSpPr>
                <a:spLocks noChangeShapeType="1"/>
              </p:cNvSpPr>
              <p:nvPr/>
            </p:nvSpPr>
            <p:spPr bwMode="auto">
              <a:xfrm>
                <a:off x="2145" y="3749"/>
                <a:ext cx="26" cy="1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0" name="Line 416"/>
              <p:cNvSpPr>
                <a:spLocks noChangeShapeType="1"/>
              </p:cNvSpPr>
              <p:nvPr/>
            </p:nvSpPr>
            <p:spPr bwMode="auto">
              <a:xfrm>
                <a:off x="2171" y="3760"/>
                <a:ext cx="24" cy="8"/>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1" name="Line 417"/>
              <p:cNvSpPr>
                <a:spLocks noChangeShapeType="1"/>
              </p:cNvSpPr>
              <p:nvPr/>
            </p:nvSpPr>
            <p:spPr bwMode="auto">
              <a:xfrm>
                <a:off x="2195" y="3768"/>
                <a:ext cx="30" cy="7"/>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2" name="Line 418"/>
              <p:cNvSpPr>
                <a:spLocks noChangeShapeType="1"/>
              </p:cNvSpPr>
              <p:nvPr/>
            </p:nvSpPr>
            <p:spPr bwMode="auto">
              <a:xfrm>
                <a:off x="2225" y="3775"/>
                <a:ext cx="24" cy="5"/>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3" name="Line 419"/>
              <p:cNvSpPr>
                <a:spLocks noChangeShapeType="1"/>
              </p:cNvSpPr>
              <p:nvPr/>
            </p:nvSpPr>
            <p:spPr bwMode="auto">
              <a:xfrm>
                <a:off x="2249" y="3780"/>
                <a:ext cx="26"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4" name="Line 420"/>
              <p:cNvSpPr>
                <a:spLocks noChangeShapeType="1"/>
              </p:cNvSpPr>
              <p:nvPr/>
            </p:nvSpPr>
            <p:spPr bwMode="auto">
              <a:xfrm>
                <a:off x="2275" y="3784"/>
                <a:ext cx="25" cy="3"/>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5" name="Line 421"/>
              <p:cNvSpPr>
                <a:spLocks noChangeShapeType="1"/>
              </p:cNvSpPr>
              <p:nvPr/>
            </p:nvSpPr>
            <p:spPr bwMode="auto">
              <a:xfrm>
                <a:off x="2300" y="3787"/>
                <a:ext cx="25" cy="4"/>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6" name="Line 422"/>
              <p:cNvSpPr>
                <a:spLocks noChangeShapeType="1"/>
              </p:cNvSpPr>
              <p:nvPr/>
            </p:nvSpPr>
            <p:spPr bwMode="auto">
              <a:xfrm>
                <a:off x="2325" y="3791"/>
                <a:ext cx="25"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7" name="Line 423"/>
              <p:cNvSpPr>
                <a:spLocks noChangeShapeType="1"/>
              </p:cNvSpPr>
              <p:nvPr/>
            </p:nvSpPr>
            <p:spPr bwMode="auto">
              <a:xfrm>
                <a:off x="2350" y="3792"/>
                <a:ext cx="26"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8" name="Line 424"/>
              <p:cNvSpPr>
                <a:spLocks noChangeShapeType="1"/>
              </p:cNvSpPr>
              <p:nvPr/>
            </p:nvSpPr>
            <p:spPr bwMode="auto">
              <a:xfrm>
                <a:off x="2376" y="3794"/>
                <a:ext cx="28" cy="1"/>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79" name="Line 425"/>
              <p:cNvSpPr>
                <a:spLocks noChangeShapeType="1"/>
              </p:cNvSpPr>
              <p:nvPr/>
            </p:nvSpPr>
            <p:spPr bwMode="auto">
              <a:xfrm>
                <a:off x="2404" y="3794"/>
                <a:ext cx="25"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80" name="Line 426"/>
              <p:cNvSpPr>
                <a:spLocks noChangeShapeType="1"/>
              </p:cNvSpPr>
              <p:nvPr/>
            </p:nvSpPr>
            <p:spPr bwMode="auto">
              <a:xfrm>
                <a:off x="2429" y="3796"/>
                <a:ext cx="25"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81" name="Line 427"/>
              <p:cNvSpPr>
                <a:spLocks noChangeShapeType="1"/>
              </p:cNvSpPr>
              <p:nvPr/>
            </p:nvSpPr>
            <p:spPr bwMode="auto">
              <a:xfrm>
                <a:off x="2454" y="3796"/>
                <a:ext cx="26"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82" name="Line 428"/>
              <p:cNvSpPr>
                <a:spLocks noChangeShapeType="1"/>
              </p:cNvSpPr>
              <p:nvPr/>
            </p:nvSpPr>
            <p:spPr bwMode="auto">
              <a:xfrm>
                <a:off x="2480" y="3796"/>
                <a:ext cx="24" cy="2"/>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302102" name="Freeform 429"/>
            <p:cNvSpPr>
              <a:spLocks/>
            </p:cNvSpPr>
            <p:nvPr/>
          </p:nvSpPr>
          <p:spPr bwMode="auto">
            <a:xfrm>
              <a:off x="4121" y="2209"/>
              <a:ext cx="550" cy="201"/>
            </a:xfrm>
            <a:custGeom>
              <a:avLst/>
              <a:gdLst>
                <a:gd name="T0" fmla="*/ 253 w 668"/>
                <a:gd name="T1" fmla="*/ 66 h 265"/>
                <a:gd name="T2" fmla="*/ 189 w 668"/>
                <a:gd name="T3" fmla="*/ 65 h 265"/>
                <a:gd name="T4" fmla="*/ 156 w 668"/>
                <a:gd name="T5" fmla="*/ 62 h 265"/>
                <a:gd name="T6" fmla="*/ 123 w 668"/>
                <a:gd name="T7" fmla="*/ 60 h 265"/>
                <a:gd name="T8" fmla="*/ 94 w 668"/>
                <a:gd name="T9" fmla="*/ 54 h 265"/>
                <a:gd name="T10" fmla="*/ 71 w 668"/>
                <a:gd name="T11" fmla="*/ 46 h 265"/>
                <a:gd name="T12" fmla="*/ 27 w 668"/>
                <a:gd name="T13" fmla="*/ 25 h 265"/>
                <a:gd name="T14" fmla="*/ 2 w 668"/>
                <a:gd name="T15" fmla="*/ 0 h 265"/>
                <a:gd name="T16" fmla="*/ 0 w 668"/>
                <a:gd name="T17" fmla="*/ 66 h 265"/>
                <a:gd name="T18" fmla="*/ 253 w 668"/>
                <a:gd name="T19" fmla="*/ 66 h 2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8" h="265">
                  <a:moveTo>
                    <a:pt x="668" y="265"/>
                  </a:moveTo>
                  <a:lnTo>
                    <a:pt x="498" y="260"/>
                  </a:lnTo>
                  <a:lnTo>
                    <a:pt x="410" y="249"/>
                  </a:lnTo>
                  <a:lnTo>
                    <a:pt x="324" y="237"/>
                  </a:lnTo>
                  <a:lnTo>
                    <a:pt x="248" y="212"/>
                  </a:lnTo>
                  <a:lnTo>
                    <a:pt x="189" y="180"/>
                  </a:lnTo>
                  <a:lnTo>
                    <a:pt x="72" y="99"/>
                  </a:lnTo>
                  <a:lnTo>
                    <a:pt x="2" y="0"/>
                  </a:lnTo>
                  <a:lnTo>
                    <a:pt x="0" y="264"/>
                  </a:lnTo>
                  <a:lnTo>
                    <a:pt x="668" y="265"/>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03" name="Line 430"/>
            <p:cNvSpPr>
              <a:spLocks noChangeShapeType="1"/>
            </p:cNvSpPr>
            <p:nvPr/>
          </p:nvSpPr>
          <p:spPr bwMode="auto">
            <a:xfrm>
              <a:off x="4121" y="1917"/>
              <a:ext cx="0" cy="503"/>
            </a:xfrm>
            <a:prstGeom prst="line">
              <a:avLst/>
            </a:prstGeom>
            <a:noFill/>
            <a:ln w="127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04" name="Line 431"/>
            <p:cNvSpPr>
              <a:spLocks noChangeShapeType="1"/>
            </p:cNvSpPr>
            <p:nvPr/>
          </p:nvSpPr>
          <p:spPr bwMode="auto">
            <a:xfrm>
              <a:off x="2704" y="2413"/>
              <a:ext cx="1976"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2105" name="Text Box 432"/>
            <p:cNvSpPr txBox="1">
              <a:spLocks noChangeArrowheads="1"/>
            </p:cNvSpPr>
            <p:nvPr/>
          </p:nvSpPr>
          <p:spPr bwMode="auto">
            <a:xfrm>
              <a:off x="3914" y="2467"/>
              <a:ext cx="444" cy="19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맑은 고딕" pitchFamily="50" charset="-127"/>
                  <a:ea typeface="맑은 고딕" pitchFamily="50" charset="-127"/>
                </a:rPr>
                <a:t>Z</a:t>
              </a:r>
              <a:r>
                <a:rPr lang="en-US" altLang="ko-KR" sz="1400" b="1" baseline="-25000" dirty="0">
                  <a:latin typeface="맑은 고딕" pitchFamily="50" charset="-127"/>
                  <a:ea typeface="맑은 고딕" pitchFamily="50" charset="-127"/>
                </a:rPr>
                <a:t>Bench</a:t>
              </a:r>
            </a:p>
          </p:txBody>
        </p:sp>
        <p:sp>
          <p:nvSpPr>
            <p:cNvPr id="302106" name="Line 433"/>
            <p:cNvSpPr>
              <a:spLocks noChangeShapeType="1"/>
            </p:cNvSpPr>
            <p:nvPr/>
          </p:nvSpPr>
          <p:spPr bwMode="auto">
            <a:xfrm>
              <a:off x="3692" y="2324"/>
              <a:ext cx="416" cy="0"/>
            </a:xfrm>
            <a:prstGeom prst="line">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302091" name="Text Box 434"/>
          <p:cNvSpPr txBox="1">
            <a:spLocks noChangeArrowheads="1"/>
          </p:cNvSpPr>
          <p:nvPr/>
        </p:nvSpPr>
        <p:spPr bwMode="auto">
          <a:xfrm>
            <a:off x="4306888" y="5703888"/>
            <a:ext cx="5117292"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Ø"/>
            </a:pP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Mức</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độ</a:t>
            </a:r>
            <a:r>
              <a:rPr lang="en-US" altLang="ko-KR" sz="1000" b="1" dirty="0">
                <a:latin typeface="맑은 고딕" pitchFamily="50" charset="-127"/>
                <a:ea typeface="맑은 고딕" pitchFamily="50" charset="-127"/>
              </a:rPr>
              <a:t> σ </a:t>
            </a:r>
            <a:r>
              <a:rPr lang="en-US" altLang="ko-KR" sz="1000" b="1" dirty="0" err="1">
                <a:latin typeface="맑은 고딕" pitchFamily="50" charset="-127"/>
                <a:ea typeface="맑은 고딕" pitchFamily="50" charset="-127"/>
              </a:rPr>
              <a:t>của</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quá</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trình</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có</a:t>
            </a:r>
            <a:r>
              <a:rPr lang="en-US" altLang="ko-KR" sz="1000" b="1" dirty="0">
                <a:latin typeface="맑은 고딕" pitchFamily="50" charset="-127"/>
                <a:ea typeface="맑은 고딕" pitchFamily="50" charset="-127"/>
              </a:rPr>
              <a:t> ý </a:t>
            </a:r>
            <a:r>
              <a:rPr lang="en-US" altLang="ko-KR" sz="1000" b="1" dirty="0" err="1">
                <a:latin typeface="맑은 고딕" pitchFamily="50" charset="-127"/>
                <a:ea typeface="맑은 고딕" pitchFamily="50" charset="-127"/>
              </a:rPr>
              <a:t>nghĩa</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gì</a:t>
            </a:r>
            <a:r>
              <a:rPr lang="en-US" altLang="ko-KR" sz="1000" b="1" dirty="0">
                <a:latin typeface="맑은 고딕" pitchFamily="50" charset="-127"/>
                <a:ea typeface="맑은 고딕" pitchFamily="50" charset="-127"/>
              </a:rPr>
              <a:t>? </a:t>
            </a:r>
          </a:p>
          <a:p>
            <a:pPr eaLnBrk="1" hangingPunct="1"/>
            <a:r>
              <a:rPr lang="en-US" altLang="ko-KR" sz="1000" b="1" dirty="0">
                <a:latin typeface="맑은 고딕" pitchFamily="50" charset="-127"/>
                <a:ea typeface="맑은 고딕" pitchFamily="50" charset="-127"/>
                <a:sym typeface="Wingdings" pitchFamily="2" charset="2"/>
              </a:rPr>
              <a:t>   </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Nó</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có</a:t>
            </a:r>
            <a:r>
              <a:rPr lang="en-US" altLang="ko-KR" sz="1000" b="1" dirty="0">
                <a:latin typeface="맑은 고딕" pitchFamily="50" charset="-127"/>
                <a:ea typeface="맑은 고딕" pitchFamily="50" charset="-127"/>
              </a:rPr>
              <a:t> ý </a:t>
            </a:r>
            <a:r>
              <a:rPr lang="en-US" altLang="ko-KR" sz="1000" b="1" dirty="0" err="1">
                <a:latin typeface="맑은 고딕" pitchFamily="50" charset="-127"/>
                <a:ea typeface="맑은 고딕" pitchFamily="50" charset="-127"/>
              </a:rPr>
              <a:t>nghĩa</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rằng</a:t>
            </a:r>
            <a:r>
              <a:rPr lang="en-US" altLang="ko-KR" sz="1000" b="1" dirty="0">
                <a:latin typeface="맑은 고딕" pitchFamily="50" charset="-127"/>
                <a:ea typeface="맑은 고딕" pitchFamily="50" charset="-127"/>
              </a:rPr>
              <a:t> Z</a:t>
            </a:r>
            <a:r>
              <a:rPr lang="en-US" altLang="ko-KR" sz="1000" b="1" baseline="-25000" dirty="0">
                <a:latin typeface="맑은 고딕" pitchFamily="50" charset="-127"/>
                <a:ea typeface="맑은 고딕" pitchFamily="50" charset="-127"/>
              </a:rPr>
              <a:t>ST</a:t>
            </a:r>
            <a:r>
              <a:rPr lang="ko-KR" altLang="en-US"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có</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thể</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chuyển</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đồi</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thành</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Z</a:t>
            </a:r>
            <a:r>
              <a:rPr lang="en-US" altLang="ko-KR" sz="1000" b="1" baseline="-25000" dirty="0" err="1">
                <a:latin typeface="맑은 고딕" pitchFamily="50" charset="-127"/>
                <a:ea typeface="맑은 고딕" pitchFamily="50" charset="-127"/>
              </a:rPr>
              <a:t>bench</a:t>
            </a:r>
            <a:endParaRPr lang="en-US" altLang="ko-KR" sz="1000" b="1" dirty="0">
              <a:latin typeface="맑은 고딕" pitchFamily="50" charset="-127"/>
              <a:ea typeface="맑은 고딕" pitchFamily="50" charset="-127"/>
            </a:endParaRPr>
          </a:p>
        </p:txBody>
      </p:sp>
      <p:sp>
        <p:nvSpPr>
          <p:cNvPr id="302092" name="Rectangle 435"/>
          <p:cNvSpPr>
            <a:spLocks noChangeArrowheads="1"/>
          </p:cNvSpPr>
          <p:nvPr/>
        </p:nvSpPr>
        <p:spPr bwMode="auto">
          <a:xfrm>
            <a:off x="581025" y="1042988"/>
            <a:ext cx="2644955" cy="362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190500" eaLnBrk="0" hangingPunct="0">
              <a:lnSpc>
                <a:spcPct val="125000"/>
              </a:lnSpc>
              <a:buFont typeface="Wingdings" pitchFamily="2" charset="2"/>
              <a:buNone/>
            </a:pP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Tại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sao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lại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sử</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dụng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Z</a:t>
            </a:r>
            <a:r>
              <a:rPr lang="en-US" altLang="ko-KR" sz="1400" baseline="-25000" dirty="0" err="1">
                <a:latin typeface="맑은 고딕" pitchFamily="50" charset="-127"/>
                <a:ea typeface="맑은 고딕" pitchFamily="50" charset="-127"/>
              </a:rPr>
              <a:t>Bench</a:t>
            </a:r>
            <a:r>
              <a:rPr lang="en-US" altLang="ko-KR" sz="1400" dirty="0">
                <a:latin typeface="맑은 고딕" pitchFamily="50" charset="-127"/>
                <a:ea typeface="맑은 고딕" pitchFamily="50" charset="-127"/>
              </a:rPr>
              <a:t> ?</a:t>
            </a:r>
          </a:p>
        </p:txBody>
      </p:sp>
      <p:sp>
        <p:nvSpPr>
          <p:cNvPr id="302093" name="AutoShape 437"/>
          <p:cNvSpPr>
            <a:spLocks noChangeArrowheads="1"/>
          </p:cNvSpPr>
          <p:nvPr/>
        </p:nvSpPr>
        <p:spPr bwMode="auto">
          <a:xfrm>
            <a:off x="7531100" y="3502025"/>
            <a:ext cx="571500" cy="6731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hlink"/>
          </a:solidFill>
          <a:ln w="12700">
            <a:solidFill>
              <a:schemeClr val="tx1"/>
            </a:solidFill>
            <a:miter lim="800000"/>
            <a:headEnd type="none" w="sm" len="sm"/>
            <a:tailEnd/>
          </a:ln>
          <a:effectLst>
            <a:outerShdw dist="35921" dir="2700000" algn="ctr" rotWithShape="0">
              <a:schemeClr val="bg2"/>
            </a:outerShdw>
          </a:effectLst>
        </p:spPr>
        <p:txBody>
          <a:bodyPr wrap="none" anchor="ctr"/>
          <a:lstStyle/>
          <a:p>
            <a:endParaRPr lang="ko-KR" altLang="en-US" dirty="0"/>
          </a:p>
        </p:txBody>
      </p:sp>
      <p:sp>
        <p:nvSpPr>
          <p:cNvPr id="302097" name="Rectangle 1055"/>
          <p:cNvSpPr>
            <a:spLocks noChangeArrowheads="1"/>
          </p:cNvSpPr>
          <p:nvPr/>
        </p:nvSpPr>
        <p:spPr bwMode="auto">
          <a:xfrm>
            <a:off x="263525" y="260350"/>
            <a:ext cx="36480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r>
              <a:rPr lang="en-US" altLang="ko-KR" sz="2000" b="1" dirty="0">
                <a:latin typeface="맑은 고딕" pitchFamily="50" charset="-127"/>
                <a:ea typeface="맑은 고딕" pitchFamily="50" charset="-127"/>
              </a:rPr>
              <a:t> 2.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quá</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trình</a:t>
            </a:r>
            <a:endParaRPr lang="ko-KR" altLang="en-US" sz="2000" b="1" dirty="0">
              <a:latin typeface="맑은 고딕" pitchFamily="50" charset="-127"/>
              <a:ea typeface="맑은 고딕" pitchFamily="50" charset="-127"/>
            </a:endParaRPr>
          </a:p>
        </p:txBody>
      </p:sp>
      <p:pic>
        <p:nvPicPr>
          <p:cNvPr id="440" name="Picture 30"/>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7473280" y="2636912"/>
            <a:ext cx="952500"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2095" name="AutoShape 440"/>
          <p:cNvSpPr>
            <a:spLocks noChangeArrowheads="1"/>
          </p:cNvSpPr>
          <p:nvPr/>
        </p:nvSpPr>
        <p:spPr bwMode="auto">
          <a:xfrm>
            <a:off x="8304213" y="2276872"/>
            <a:ext cx="1535112" cy="833437"/>
          </a:xfrm>
          <a:prstGeom prst="wedgeEllipseCallout">
            <a:avLst>
              <a:gd name="adj1" fmla="val -54551"/>
              <a:gd name="adj2" fmla="val 6181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nchor="ctr"/>
          <a:lstStyle/>
          <a:p>
            <a:pPr>
              <a:lnSpc>
                <a:spcPct val="110000"/>
              </a:lnSpc>
            </a:pPr>
            <a:r>
              <a:rPr lang="en-US" altLang="ko-KR" sz="1000" dirty="0">
                <a:latin typeface="맑은 고딕" pitchFamily="50" charset="-127"/>
                <a:ea typeface="맑은 고딕" pitchFamily="50" charset="-127"/>
              </a:rPr>
              <a:t>I can see that σ level is properly calculated only by using </a:t>
            </a:r>
            <a:r>
              <a:rPr lang="en-US" altLang="ko-KR" sz="1000" dirty="0" err="1">
                <a:latin typeface="맑은 고딕" pitchFamily="50" charset="-127"/>
                <a:ea typeface="맑은 고딕" pitchFamily="50" charset="-127"/>
              </a:rPr>
              <a:t>Zbench</a:t>
            </a:r>
            <a:r>
              <a:rPr lang="en-US" altLang="ko-KR" sz="1000" dirty="0">
                <a:latin typeface="맑은 고딕" pitchFamily="50" charset="-127"/>
                <a:ea typeface="맑은 고딕" pitchFamily="50" charset="-127"/>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229</a:t>
            </a:fld>
            <a:endParaRPr lang="ko-KR" altLang="en-US" dirty="0"/>
          </a:p>
        </p:txBody>
      </p:sp>
    </p:spTree>
    <p:extLst>
      <p:ext uri="{BB962C8B-B14F-4D97-AF65-F5344CB8AC3E}">
        <p14:creationId xmlns:p14="http://schemas.microsoft.com/office/powerpoint/2010/main" val="258187725"/>
      </p:ext>
    </p:extLst>
  </p:cSld>
  <p:clrMapOvr>
    <a:masterClrMapping/>
  </p:clrMapOvr>
  <p:transition spd="slow"/>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7" name="Rectangle 1055"/>
          <p:cNvSpPr>
            <a:spLocks noChangeArrowheads="1"/>
          </p:cNvSpPr>
          <p:nvPr/>
        </p:nvSpPr>
        <p:spPr bwMode="auto">
          <a:xfrm>
            <a:off x="263525" y="260350"/>
            <a:ext cx="6145213"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762000"/>
            <a:r>
              <a:rPr lang="en-US" altLang="ko-KR" sz="2000" b="1" dirty="0">
                <a:latin typeface="arial" pitchFamily="34" charset="0"/>
                <a:ea typeface="맑은 고딕" pitchFamily="50" charset="-127"/>
              </a:rPr>
              <a:t> 3. </a:t>
            </a:r>
            <a:r>
              <a:rPr lang="en-US" altLang="ko-KR" sz="2000" b="1" dirty="0" err="1">
                <a:latin typeface="arial" pitchFamily="34" charset="0"/>
                <a:ea typeface="맑은 고딕" pitchFamily="50" charset="-127"/>
              </a:rPr>
              <a:t>Đánh</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giá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sp>
        <p:nvSpPr>
          <p:cNvPr id="303108" name="Text Box 25"/>
          <p:cNvSpPr txBox="1">
            <a:spLocks noChangeArrowheads="1"/>
          </p:cNvSpPr>
          <p:nvPr/>
        </p:nvSpPr>
        <p:spPr bwMode="auto">
          <a:xfrm>
            <a:off x="469900" y="981075"/>
            <a:ext cx="6715348" cy="334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1) </a:t>
            </a:r>
            <a:r>
              <a:rPr lang="en-US" altLang="ko-KR" sz="1400" b="1" dirty="0" err="1">
                <a:latin typeface="arial" pitchFamily="34" charset="0"/>
                <a:ea typeface="맑은 고딕" pitchFamily="50" charset="-127"/>
              </a:rPr>
              <a:t>Đánh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giá</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năng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lực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quá</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trình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thông</a:t>
            </a:r>
            <a:r>
              <a:rPr lang="en-US" altLang="ko-KR" sz="1400" b="1" dirty="0">
                <a:latin typeface="arial" pitchFamily="34" charset="0"/>
                <a:ea typeface="맑은 고딕" pitchFamily="50" charset="-127"/>
              </a:rPr>
              <a:t> qua </a:t>
            </a:r>
            <a:r>
              <a:rPr lang="en-US" altLang="ko-KR" sz="1400" b="1" dirty="0" err="1">
                <a:latin typeface="arial" pitchFamily="34" charset="0"/>
                <a:ea typeface="맑은 고딕" pitchFamily="50" charset="-127"/>
              </a:rPr>
              <a:t>sử</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dụng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minitab</a:t>
            </a:r>
            <a:endParaRPr lang="ko-KR" altLang="en-US" sz="1400" b="1" dirty="0">
              <a:latin typeface="arial" pitchFamily="34" charset="0"/>
              <a:ea typeface="맑은 고딕" pitchFamily="50" charset="-127"/>
            </a:endParaRPr>
          </a:p>
        </p:txBody>
      </p:sp>
      <p:graphicFrame>
        <p:nvGraphicFramePr>
          <p:cNvPr id="4" name="표 3"/>
          <p:cNvGraphicFramePr>
            <a:graphicFrameLocks noGrp="1"/>
          </p:cNvGraphicFramePr>
          <p:nvPr>
            <p:extLst>
              <p:ext uri="{D42A27DB-BD31-4B8C-83A1-F6EECF244321}">
                <p14:modId xmlns:p14="http://schemas.microsoft.com/office/powerpoint/2010/main" val="1094186517"/>
              </p:ext>
            </p:extLst>
          </p:nvPr>
        </p:nvGraphicFramePr>
        <p:xfrm>
          <a:off x="495300" y="3150444"/>
          <a:ext cx="8915400" cy="1131888"/>
        </p:xfrm>
        <a:graphic>
          <a:graphicData uri="http://schemas.openxmlformats.org/drawingml/2006/table">
            <a:tbl>
              <a:tblPr/>
              <a:tblGrid>
                <a:gridCol w="445770">
                  <a:extLst>
                    <a:ext uri="{9D8B030D-6E8A-4147-A177-3AD203B41FA5}">
                      <a16:colId xmlns:a16="http://schemas.microsoft.com/office/drawing/2014/main" val="20000"/>
                    </a:ext>
                  </a:extLst>
                </a:gridCol>
                <a:gridCol w="445770">
                  <a:extLst>
                    <a:ext uri="{9D8B030D-6E8A-4147-A177-3AD203B41FA5}">
                      <a16:colId xmlns:a16="http://schemas.microsoft.com/office/drawing/2014/main" val="20001"/>
                    </a:ext>
                  </a:extLst>
                </a:gridCol>
                <a:gridCol w="445770">
                  <a:extLst>
                    <a:ext uri="{9D8B030D-6E8A-4147-A177-3AD203B41FA5}">
                      <a16:colId xmlns:a16="http://schemas.microsoft.com/office/drawing/2014/main" val="20002"/>
                    </a:ext>
                  </a:extLst>
                </a:gridCol>
                <a:gridCol w="445770">
                  <a:extLst>
                    <a:ext uri="{9D8B030D-6E8A-4147-A177-3AD203B41FA5}">
                      <a16:colId xmlns:a16="http://schemas.microsoft.com/office/drawing/2014/main" val="20003"/>
                    </a:ext>
                  </a:extLst>
                </a:gridCol>
                <a:gridCol w="445770">
                  <a:extLst>
                    <a:ext uri="{9D8B030D-6E8A-4147-A177-3AD203B41FA5}">
                      <a16:colId xmlns:a16="http://schemas.microsoft.com/office/drawing/2014/main" val="20004"/>
                    </a:ext>
                  </a:extLst>
                </a:gridCol>
                <a:gridCol w="445770">
                  <a:extLst>
                    <a:ext uri="{9D8B030D-6E8A-4147-A177-3AD203B41FA5}">
                      <a16:colId xmlns:a16="http://schemas.microsoft.com/office/drawing/2014/main" val="20005"/>
                    </a:ext>
                  </a:extLst>
                </a:gridCol>
                <a:gridCol w="445770">
                  <a:extLst>
                    <a:ext uri="{9D8B030D-6E8A-4147-A177-3AD203B41FA5}">
                      <a16:colId xmlns:a16="http://schemas.microsoft.com/office/drawing/2014/main" val="20006"/>
                    </a:ext>
                  </a:extLst>
                </a:gridCol>
                <a:gridCol w="445770">
                  <a:extLst>
                    <a:ext uri="{9D8B030D-6E8A-4147-A177-3AD203B41FA5}">
                      <a16:colId xmlns:a16="http://schemas.microsoft.com/office/drawing/2014/main" val="20007"/>
                    </a:ext>
                  </a:extLst>
                </a:gridCol>
                <a:gridCol w="445770">
                  <a:extLst>
                    <a:ext uri="{9D8B030D-6E8A-4147-A177-3AD203B41FA5}">
                      <a16:colId xmlns:a16="http://schemas.microsoft.com/office/drawing/2014/main" val="20008"/>
                    </a:ext>
                  </a:extLst>
                </a:gridCol>
                <a:gridCol w="445770">
                  <a:extLst>
                    <a:ext uri="{9D8B030D-6E8A-4147-A177-3AD203B41FA5}">
                      <a16:colId xmlns:a16="http://schemas.microsoft.com/office/drawing/2014/main" val="20009"/>
                    </a:ext>
                  </a:extLst>
                </a:gridCol>
                <a:gridCol w="445770">
                  <a:extLst>
                    <a:ext uri="{9D8B030D-6E8A-4147-A177-3AD203B41FA5}">
                      <a16:colId xmlns:a16="http://schemas.microsoft.com/office/drawing/2014/main" val="20010"/>
                    </a:ext>
                  </a:extLst>
                </a:gridCol>
                <a:gridCol w="445770">
                  <a:extLst>
                    <a:ext uri="{9D8B030D-6E8A-4147-A177-3AD203B41FA5}">
                      <a16:colId xmlns:a16="http://schemas.microsoft.com/office/drawing/2014/main" val="20011"/>
                    </a:ext>
                  </a:extLst>
                </a:gridCol>
                <a:gridCol w="445770">
                  <a:extLst>
                    <a:ext uri="{9D8B030D-6E8A-4147-A177-3AD203B41FA5}">
                      <a16:colId xmlns:a16="http://schemas.microsoft.com/office/drawing/2014/main" val="20012"/>
                    </a:ext>
                  </a:extLst>
                </a:gridCol>
                <a:gridCol w="445770">
                  <a:extLst>
                    <a:ext uri="{9D8B030D-6E8A-4147-A177-3AD203B41FA5}">
                      <a16:colId xmlns:a16="http://schemas.microsoft.com/office/drawing/2014/main" val="20013"/>
                    </a:ext>
                  </a:extLst>
                </a:gridCol>
                <a:gridCol w="445770">
                  <a:extLst>
                    <a:ext uri="{9D8B030D-6E8A-4147-A177-3AD203B41FA5}">
                      <a16:colId xmlns:a16="http://schemas.microsoft.com/office/drawing/2014/main" val="20014"/>
                    </a:ext>
                  </a:extLst>
                </a:gridCol>
                <a:gridCol w="445770">
                  <a:extLst>
                    <a:ext uri="{9D8B030D-6E8A-4147-A177-3AD203B41FA5}">
                      <a16:colId xmlns:a16="http://schemas.microsoft.com/office/drawing/2014/main" val="20015"/>
                    </a:ext>
                  </a:extLst>
                </a:gridCol>
                <a:gridCol w="445770">
                  <a:extLst>
                    <a:ext uri="{9D8B030D-6E8A-4147-A177-3AD203B41FA5}">
                      <a16:colId xmlns:a16="http://schemas.microsoft.com/office/drawing/2014/main" val="20016"/>
                    </a:ext>
                  </a:extLst>
                </a:gridCol>
                <a:gridCol w="445770">
                  <a:extLst>
                    <a:ext uri="{9D8B030D-6E8A-4147-A177-3AD203B41FA5}">
                      <a16:colId xmlns:a16="http://schemas.microsoft.com/office/drawing/2014/main" val="20017"/>
                    </a:ext>
                  </a:extLst>
                </a:gridCol>
                <a:gridCol w="445770">
                  <a:extLst>
                    <a:ext uri="{9D8B030D-6E8A-4147-A177-3AD203B41FA5}">
                      <a16:colId xmlns:a16="http://schemas.microsoft.com/office/drawing/2014/main" val="20018"/>
                    </a:ext>
                  </a:extLst>
                </a:gridCol>
                <a:gridCol w="445770">
                  <a:extLst>
                    <a:ext uri="{9D8B030D-6E8A-4147-A177-3AD203B41FA5}">
                      <a16:colId xmlns:a16="http://schemas.microsoft.com/office/drawing/2014/main" val="20019"/>
                    </a:ext>
                  </a:extLst>
                </a:gridCol>
              </a:tblGrid>
              <a:tr h="188648">
                <a:tc>
                  <a:txBody>
                    <a:bodyPr/>
                    <a:lstStyle/>
                    <a:p>
                      <a:pPr algn="ctr" fontAlgn="b"/>
                      <a:r>
                        <a:rPr lang="en-US" altLang="ko-KR" sz="1000" b="0" i="0" u="none" strike="noStrike" dirty="0">
                          <a:solidFill>
                            <a:srgbClr val="000000"/>
                          </a:solidFill>
                          <a:effectLst/>
                          <a:latin typeface="arial" pitchFamily="34" charset="0"/>
                        </a:rPr>
                        <a:t>1</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3</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5</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7</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9</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11</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13</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15</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17</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19</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000" b="0" i="0" u="none" strike="noStrike" dirty="0">
                          <a:solidFill>
                            <a:srgbClr val="000000"/>
                          </a:solidFill>
                          <a:effectLst/>
                          <a:latin typeface="arial" pitchFamily="34" charset="0"/>
                        </a:rPr>
                        <a:t>20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88648">
                <a:tc>
                  <a:txBody>
                    <a:bodyPr/>
                    <a:lstStyle/>
                    <a:p>
                      <a:pPr algn="r" fontAlgn="b"/>
                      <a:r>
                        <a:rPr lang="en-US" altLang="ko-KR" sz="1000" b="0" i="0" u="none" strike="noStrike" dirty="0">
                          <a:solidFill>
                            <a:srgbClr val="000000"/>
                          </a:solidFill>
                          <a:effectLst/>
                          <a:latin typeface="arial" pitchFamily="34" charset="0"/>
                        </a:rPr>
                        <a:t>601.6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603.8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88648">
                <a:tc>
                  <a:txBody>
                    <a:bodyPr/>
                    <a:lstStyle/>
                    <a:p>
                      <a:pPr algn="r" fontAlgn="b"/>
                      <a:r>
                        <a:rPr lang="en-US" altLang="ko-KR" sz="1000" b="0" i="0" u="none" strike="noStrike" dirty="0">
                          <a:solidFill>
                            <a:srgbClr val="000000"/>
                          </a:solidFill>
                          <a:effectLst/>
                          <a:latin typeface="arial" pitchFamily="34" charset="0"/>
                        </a:rPr>
                        <a:t>600.4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597.2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603.6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603.4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604.2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8648">
                <a:tc>
                  <a:txBody>
                    <a:bodyPr/>
                    <a:lstStyle/>
                    <a:p>
                      <a:pPr algn="r" fontAlgn="b"/>
                      <a:r>
                        <a:rPr lang="en-US" altLang="ko-KR" sz="1000" b="0" i="0" u="none" strike="noStrike" dirty="0">
                          <a:solidFill>
                            <a:srgbClr val="000000"/>
                          </a:solidFill>
                          <a:effectLst/>
                          <a:latin typeface="arial" pitchFamily="34" charset="0"/>
                        </a:rPr>
                        <a:t>598.4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603.6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603.4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597.6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597.0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88648">
                <a:tc>
                  <a:txBody>
                    <a:bodyPr/>
                    <a:lstStyle/>
                    <a:p>
                      <a:pPr algn="r" fontAlgn="b"/>
                      <a:r>
                        <a:rPr lang="en-US" altLang="ko-KR" sz="1000" b="0" i="0" u="none" strike="noStrike" dirty="0">
                          <a:solidFill>
                            <a:srgbClr val="000000"/>
                          </a:solidFill>
                          <a:effectLst/>
                          <a:latin typeface="arial" pitchFamily="34" charset="0"/>
                        </a:rPr>
                        <a:t>600.0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604.2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596.2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88648">
                <a:tc>
                  <a:txBody>
                    <a:bodyPr/>
                    <a:lstStyle/>
                    <a:p>
                      <a:pPr algn="r" fontAlgn="b"/>
                      <a:r>
                        <a:rPr lang="en-US" altLang="ko-KR" sz="1000" b="0" i="0" u="none" strike="noStrike" dirty="0">
                          <a:solidFill>
                            <a:srgbClr val="000000"/>
                          </a:solidFill>
                          <a:effectLst/>
                          <a:latin typeface="arial" pitchFamily="34" charset="0"/>
                        </a:rPr>
                        <a:t>596.8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600.8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596.4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597.6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599.0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601.6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597.6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603.6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602.2</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597.6</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597.8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602.4</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598.0</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n-US" altLang="ko-KR" sz="1000" b="0" i="0" u="none" strike="noStrike" dirty="0">
                          <a:solidFill>
                            <a:srgbClr val="000000"/>
                          </a:solidFill>
                          <a:effectLst/>
                          <a:latin typeface="arial" pitchFamily="34" charset="0"/>
                        </a:rPr>
                        <a:t>596.8</a:t>
                      </a:r>
                    </a:p>
                  </a:txBody>
                  <a:tcPr marL="8573" marR="8573" marT="85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Box 4"/>
          <p:cNvSpPr txBox="1"/>
          <p:nvPr/>
        </p:nvSpPr>
        <p:spPr>
          <a:xfrm>
            <a:off x="280194" y="1679575"/>
            <a:ext cx="9345612" cy="1052596"/>
          </a:xfrm>
          <a:prstGeom prst="rect">
            <a:avLst/>
          </a:prstGeom>
          <a:noFill/>
        </p:spPr>
        <p:txBody>
          <a:bodyPr wrap="square">
            <a:spAutoFit/>
          </a:bodyPr>
          <a:lstStyle/>
          <a:p>
            <a:pPr algn="just">
              <a:lnSpc>
                <a:spcPct val="130000"/>
              </a:lnSpc>
              <a:buClr>
                <a:srgbClr val="C5003D"/>
              </a:buClr>
              <a:defRPr/>
            </a:pPr>
            <a:r>
              <a:rPr lang="en-US" altLang="ko-KR" sz="1200" dirty="0">
                <a:latin typeface="arial" pitchFamily="34" charset="0"/>
                <a:ea typeface="+mn-ea"/>
              </a:rPr>
              <a:t>BMW </a:t>
            </a:r>
            <a:r>
              <a:rPr lang="en-US" altLang="ko-KR" sz="1200" dirty="0" err="1">
                <a:latin typeface="arial" pitchFamily="34" charset="0"/>
                <a:ea typeface="+mn-ea"/>
              </a:rPr>
              <a:t>đang</a:t>
            </a:r>
            <a:r>
              <a:rPr lang="en-US" altLang="ko-KR" sz="1200" dirty="0">
                <a:latin typeface="arial" pitchFamily="34" charset="0"/>
                <a:ea typeface="+mn-ea"/>
              </a:rPr>
              <a:t> </a:t>
            </a:r>
            <a:r>
              <a:rPr lang="en-US" altLang="ko-KR" sz="1200" dirty="0" err="1">
                <a:latin typeface="arial" pitchFamily="34" charset="0"/>
                <a:ea typeface="+mn-ea"/>
              </a:rPr>
              <a:t>gặp</a:t>
            </a:r>
            <a:r>
              <a:rPr lang="en-US" altLang="ko-KR" sz="1200" dirty="0">
                <a:latin typeface="arial" pitchFamily="34" charset="0"/>
                <a:ea typeface="+mn-ea"/>
              </a:rPr>
              <a:t> </a:t>
            </a:r>
            <a:r>
              <a:rPr lang="en-US" altLang="ko-KR" sz="1200" dirty="0" err="1">
                <a:latin typeface="arial" pitchFamily="34" charset="0"/>
                <a:ea typeface="+mn-ea"/>
              </a:rPr>
              <a:t>vấn</a:t>
            </a:r>
            <a:r>
              <a:rPr lang="en-US" altLang="ko-KR" sz="1200" dirty="0">
                <a:latin typeface="arial" pitchFamily="34" charset="0"/>
                <a:ea typeface="+mn-ea"/>
              </a:rPr>
              <a:t> </a:t>
            </a:r>
            <a:r>
              <a:rPr lang="en-US" altLang="ko-KR" sz="1200" dirty="0" err="1">
                <a:latin typeface="arial" pitchFamily="34" charset="0"/>
                <a:ea typeface="+mn-ea"/>
              </a:rPr>
              <a:t>đề</a:t>
            </a:r>
            <a:r>
              <a:rPr lang="en-US" altLang="ko-KR" sz="1200" dirty="0">
                <a:latin typeface="arial" pitchFamily="34" charset="0"/>
                <a:ea typeface="+mn-ea"/>
              </a:rPr>
              <a:t> </a:t>
            </a:r>
            <a:r>
              <a:rPr lang="en-US" altLang="ko-KR" sz="1200" dirty="0" err="1">
                <a:latin typeface="arial" pitchFamily="34" charset="0"/>
                <a:ea typeface="+mn-ea"/>
              </a:rPr>
              <a:t>với</a:t>
            </a:r>
            <a:r>
              <a:rPr lang="en-US" altLang="ko-KR" sz="1200" dirty="0">
                <a:latin typeface="arial" pitchFamily="34" charset="0"/>
                <a:ea typeface="+mn-ea"/>
              </a:rPr>
              <a:t> </a:t>
            </a:r>
            <a:r>
              <a:rPr lang="en-US" altLang="ko-KR" sz="1200" dirty="0" err="1">
                <a:latin typeface="arial" pitchFamily="34" charset="0"/>
                <a:ea typeface="+mn-ea"/>
              </a:rPr>
              <a:t>trục</a:t>
            </a:r>
            <a:r>
              <a:rPr lang="en-US" altLang="ko-KR" sz="1200" dirty="0">
                <a:latin typeface="arial" pitchFamily="34" charset="0"/>
                <a:ea typeface="+mn-ea"/>
              </a:rPr>
              <a:t> cam, </a:t>
            </a:r>
            <a:r>
              <a:rPr lang="en-US" altLang="ko-KR" sz="1200" dirty="0" err="1">
                <a:latin typeface="arial" pitchFamily="34" charset="0"/>
                <a:ea typeface="+mn-ea"/>
              </a:rPr>
              <a:t>một</a:t>
            </a:r>
            <a:r>
              <a:rPr lang="en-US" altLang="ko-KR" sz="1200" dirty="0">
                <a:latin typeface="arial" pitchFamily="34" charset="0"/>
                <a:ea typeface="+mn-ea"/>
              </a:rPr>
              <a:t> </a:t>
            </a:r>
            <a:r>
              <a:rPr lang="en-US" altLang="ko-KR" sz="1200" dirty="0" err="1">
                <a:latin typeface="arial" pitchFamily="34" charset="0"/>
                <a:ea typeface="+mn-ea"/>
              </a:rPr>
              <a:t>bộ</a:t>
            </a:r>
            <a:r>
              <a:rPr lang="en-US" altLang="ko-KR" sz="1200" dirty="0">
                <a:latin typeface="arial" pitchFamily="34" charset="0"/>
                <a:ea typeface="+mn-ea"/>
              </a:rPr>
              <a:t> </a:t>
            </a:r>
            <a:r>
              <a:rPr lang="en-US" altLang="ko-KR" sz="1200" dirty="0" err="1">
                <a:latin typeface="arial" pitchFamily="34" charset="0"/>
                <a:ea typeface="+mn-ea"/>
              </a:rPr>
              <a:t>phận</a:t>
            </a:r>
            <a:r>
              <a:rPr lang="en-US" altLang="ko-KR" sz="1200" dirty="0">
                <a:latin typeface="arial" pitchFamily="34" charset="0"/>
                <a:ea typeface="+mn-ea"/>
              </a:rPr>
              <a:t> </a:t>
            </a:r>
            <a:r>
              <a:rPr lang="en-US" altLang="ko-KR" sz="1200" dirty="0" err="1">
                <a:latin typeface="arial" pitchFamily="34" charset="0"/>
                <a:ea typeface="+mn-ea"/>
              </a:rPr>
              <a:t>cốt</a:t>
            </a:r>
            <a:r>
              <a:rPr lang="en-US" altLang="ko-KR" sz="1200" dirty="0">
                <a:latin typeface="arial" pitchFamily="34" charset="0"/>
                <a:ea typeface="+mn-ea"/>
              </a:rPr>
              <a:t> </a:t>
            </a:r>
            <a:r>
              <a:rPr lang="en-US" altLang="ko-KR" sz="1200" dirty="0" err="1">
                <a:latin typeface="arial" pitchFamily="34" charset="0"/>
                <a:ea typeface="+mn-ea"/>
              </a:rPr>
              <a:t>lõi</a:t>
            </a:r>
            <a:r>
              <a:rPr lang="en-US" altLang="ko-KR" sz="1200" dirty="0">
                <a:latin typeface="arial" pitchFamily="34" charset="0"/>
                <a:ea typeface="+mn-ea"/>
              </a:rPr>
              <a:t> </a:t>
            </a:r>
            <a:r>
              <a:rPr lang="en-US" altLang="ko-KR" sz="1200" dirty="0" err="1">
                <a:latin typeface="arial" pitchFamily="34" charset="0"/>
                <a:ea typeface="+mn-ea"/>
              </a:rPr>
              <a:t>trong</a:t>
            </a:r>
            <a:r>
              <a:rPr lang="en-US" altLang="ko-KR" sz="1200" dirty="0">
                <a:latin typeface="arial" pitchFamily="34" charset="0"/>
                <a:ea typeface="+mn-ea"/>
              </a:rPr>
              <a:t> </a:t>
            </a:r>
            <a:r>
              <a:rPr lang="en-US" altLang="ko-KR" sz="1200" dirty="0" err="1">
                <a:latin typeface="arial" pitchFamily="34" charset="0"/>
                <a:ea typeface="+mn-ea"/>
              </a:rPr>
              <a:t>xe</a:t>
            </a:r>
            <a:r>
              <a:rPr lang="en-US" altLang="ko-KR" sz="1200" dirty="0">
                <a:latin typeface="arial" pitchFamily="34" charset="0"/>
                <a:ea typeface="+mn-ea"/>
              </a:rPr>
              <a:t> ô </a:t>
            </a:r>
            <a:r>
              <a:rPr lang="en-US" altLang="ko-KR" sz="1200" dirty="0" err="1">
                <a:latin typeface="arial" pitchFamily="34" charset="0"/>
                <a:ea typeface="+mn-ea"/>
              </a:rPr>
              <a:t>tô</a:t>
            </a:r>
            <a:r>
              <a:rPr lang="en-US" altLang="ko-KR" sz="1200" dirty="0">
                <a:latin typeface="arial" pitchFamily="34" charset="0"/>
                <a:ea typeface="+mn-ea"/>
              </a:rPr>
              <a:t>. </a:t>
            </a:r>
            <a:r>
              <a:rPr lang="en-US" altLang="ko-KR" sz="1200" dirty="0" err="1">
                <a:latin typeface="arial" pitchFamily="34" charset="0"/>
                <a:ea typeface="+mn-ea"/>
              </a:rPr>
              <a:t>Vấn</a:t>
            </a:r>
            <a:r>
              <a:rPr lang="en-US" altLang="ko-KR" sz="1200" dirty="0">
                <a:latin typeface="arial" pitchFamily="34" charset="0"/>
                <a:ea typeface="+mn-ea"/>
              </a:rPr>
              <a:t> </a:t>
            </a:r>
            <a:r>
              <a:rPr lang="en-US" altLang="ko-KR" sz="1200" dirty="0" err="1">
                <a:latin typeface="arial" pitchFamily="34" charset="0"/>
                <a:ea typeface="+mn-ea"/>
              </a:rPr>
              <a:t>đề</a:t>
            </a:r>
            <a:r>
              <a:rPr lang="en-US" altLang="ko-KR" sz="1200" dirty="0">
                <a:latin typeface="arial" pitchFamily="34" charset="0"/>
                <a:ea typeface="+mn-ea"/>
              </a:rPr>
              <a:t> </a:t>
            </a:r>
            <a:r>
              <a:rPr lang="en-US" altLang="ko-KR" sz="1200" dirty="0" err="1">
                <a:latin typeface="arial" pitchFamily="34" charset="0"/>
                <a:ea typeface="+mn-ea"/>
              </a:rPr>
              <a:t>với</a:t>
            </a:r>
            <a:r>
              <a:rPr lang="en-US" altLang="ko-KR" sz="1200" dirty="0">
                <a:latin typeface="arial" pitchFamily="34" charset="0"/>
                <a:ea typeface="+mn-ea"/>
              </a:rPr>
              <a:t> </a:t>
            </a:r>
            <a:r>
              <a:rPr lang="en-US" altLang="ko-KR" sz="1200" dirty="0" err="1">
                <a:latin typeface="arial" pitchFamily="34" charset="0"/>
                <a:ea typeface="+mn-ea"/>
              </a:rPr>
              <a:t>trục</a:t>
            </a:r>
            <a:r>
              <a:rPr lang="en-US" altLang="ko-KR" sz="1200" dirty="0">
                <a:latin typeface="arial" pitchFamily="34" charset="0"/>
                <a:ea typeface="+mn-ea"/>
              </a:rPr>
              <a:t> cam </a:t>
            </a:r>
            <a:r>
              <a:rPr lang="en-US" altLang="ko-KR" sz="1200" dirty="0" err="1">
                <a:latin typeface="arial" pitchFamily="34" charset="0"/>
                <a:ea typeface="+mn-ea"/>
              </a:rPr>
              <a:t>được</a:t>
            </a:r>
            <a:r>
              <a:rPr lang="en-US" altLang="ko-KR" sz="1200" dirty="0">
                <a:latin typeface="arial" pitchFamily="34" charset="0"/>
                <a:ea typeface="+mn-ea"/>
              </a:rPr>
              <a:t> </a:t>
            </a:r>
            <a:r>
              <a:rPr lang="en-US" altLang="ko-KR" sz="1200" dirty="0" err="1">
                <a:latin typeface="arial" pitchFamily="34" charset="0"/>
                <a:ea typeface="+mn-ea"/>
              </a:rPr>
              <a:t>cung</a:t>
            </a:r>
            <a:r>
              <a:rPr lang="en-US" altLang="ko-KR" sz="1200" dirty="0">
                <a:latin typeface="arial" pitchFamily="34" charset="0"/>
                <a:ea typeface="+mn-ea"/>
              </a:rPr>
              <a:t> </a:t>
            </a:r>
            <a:r>
              <a:rPr lang="en-US" altLang="ko-KR" sz="1200" dirty="0" err="1">
                <a:latin typeface="arial" pitchFamily="34" charset="0"/>
                <a:ea typeface="+mn-ea"/>
              </a:rPr>
              <a:t>cấp</a:t>
            </a:r>
            <a:r>
              <a:rPr lang="en-US" altLang="ko-KR" sz="1200" dirty="0">
                <a:latin typeface="arial" pitchFamily="34" charset="0"/>
                <a:ea typeface="+mn-ea"/>
              </a:rPr>
              <a:t> </a:t>
            </a:r>
            <a:r>
              <a:rPr lang="en-US" altLang="ko-KR" sz="1200" dirty="0" err="1">
                <a:latin typeface="arial" pitchFamily="34" charset="0"/>
                <a:ea typeface="+mn-ea"/>
              </a:rPr>
              <a:t>bởi</a:t>
            </a:r>
            <a:r>
              <a:rPr lang="en-US" altLang="ko-KR" sz="1200" dirty="0">
                <a:latin typeface="arial" pitchFamily="34" charset="0"/>
                <a:ea typeface="+mn-ea"/>
              </a:rPr>
              <a:t> </a:t>
            </a:r>
            <a:r>
              <a:rPr lang="en-US" altLang="ko-KR" sz="1200" dirty="0" err="1">
                <a:latin typeface="arial" pitchFamily="34" charset="0"/>
                <a:ea typeface="+mn-ea"/>
              </a:rPr>
              <a:t>các</a:t>
            </a:r>
            <a:r>
              <a:rPr lang="en-US" altLang="ko-KR" sz="1200" dirty="0">
                <a:latin typeface="arial" pitchFamily="34" charset="0"/>
                <a:ea typeface="+mn-ea"/>
              </a:rPr>
              <a:t> </a:t>
            </a:r>
            <a:r>
              <a:rPr lang="en-US" altLang="ko-KR" sz="1200" dirty="0" err="1">
                <a:latin typeface="arial" pitchFamily="34" charset="0"/>
                <a:ea typeface="+mn-ea"/>
              </a:rPr>
              <a:t>nhà</a:t>
            </a:r>
            <a:r>
              <a:rPr lang="en-US" altLang="ko-KR" sz="1200" dirty="0">
                <a:latin typeface="arial" pitchFamily="34" charset="0"/>
                <a:ea typeface="+mn-ea"/>
              </a:rPr>
              <a:t> </a:t>
            </a:r>
            <a:r>
              <a:rPr lang="en-US" altLang="ko-KR" sz="1200" dirty="0" err="1">
                <a:latin typeface="arial" pitchFamily="34" charset="0"/>
                <a:ea typeface="+mn-ea"/>
              </a:rPr>
              <a:t>cung</a:t>
            </a:r>
            <a:r>
              <a:rPr lang="en-US" altLang="ko-KR" sz="1200" dirty="0">
                <a:latin typeface="arial" pitchFamily="34" charset="0"/>
                <a:ea typeface="+mn-ea"/>
              </a:rPr>
              <a:t> </a:t>
            </a:r>
            <a:r>
              <a:rPr lang="en-US" altLang="ko-KR" sz="1200" dirty="0" err="1">
                <a:latin typeface="arial" pitchFamily="34" charset="0"/>
                <a:ea typeface="+mn-ea"/>
              </a:rPr>
              <a:t>cấp</a:t>
            </a:r>
            <a:r>
              <a:rPr lang="en-US" altLang="ko-KR" sz="1200" dirty="0">
                <a:latin typeface="arial" pitchFamily="34" charset="0"/>
                <a:ea typeface="+mn-ea"/>
              </a:rPr>
              <a:t> </a:t>
            </a:r>
            <a:r>
              <a:rPr lang="en-US" altLang="ko-KR" sz="1200" dirty="0" err="1">
                <a:latin typeface="arial" pitchFamily="34" charset="0"/>
                <a:ea typeface="+mn-ea"/>
              </a:rPr>
              <a:t>linh</a:t>
            </a:r>
            <a:r>
              <a:rPr lang="en-US" altLang="ko-KR" sz="1200" dirty="0">
                <a:latin typeface="arial" pitchFamily="34" charset="0"/>
                <a:ea typeface="+mn-ea"/>
              </a:rPr>
              <a:t> </a:t>
            </a:r>
            <a:r>
              <a:rPr lang="en-US" altLang="ko-KR" sz="1200" dirty="0" err="1">
                <a:latin typeface="arial" pitchFamily="34" charset="0"/>
                <a:ea typeface="+mn-ea"/>
              </a:rPr>
              <a:t>kiện</a:t>
            </a:r>
            <a:r>
              <a:rPr lang="en-US" altLang="ko-KR" sz="1200" dirty="0">
                <a:latin typeface="arial" pitchFamily="34" charset="0"/>
                <a:ea typeface="+mn-ea"/>
              </a:rPr>
              <a:t> </a:t>
            </a:r>
            <a:r>
              <a:rPr lang="en-US" altLang="ko-KR" sz="1200" dirty="0" err="1">
                <a:latin typeface="arial" pitchFamily="34" charset="0"/>
                <a:ea typeface="+mn-ea"/>
              </a:rPr>
              <a:t>là</a:t>
            </a:r>
            <a:r>
              <a:rPr lang="en-US" altLang="ko-KR" sz="1200" dirty="0">
                <a:latin typeface="arial" pitchFamily="34" charset="0"/>
                <a:ea typeface="+mn-ea"/>
              </a:rPr>
              <a:t> </a:t>
            </a:r>
            <a:r>
              <a:rPr lang="en-US" altLang="ko-KR" sz="1200" dirty="0" err="1">
                <a:latin typeface="arial" pitchFamily="34" charset="0"/>
                <a:ea typeface="+mn-ea"/>
              </a:rPr>
              <a:t>chúng</a:t>
            </a:r>
            <a:r>
              <a:rPr lang="en-US" altLang="ko-KR" sz="1200" dirty="0">
                <a:latin typeface="arial" pitchFamily="34" charset="0"/>
                <a:ea typeface="+mn-ea"/>
              </a:rPr>
              <a:t> </a:t>
            </a:r>
            <a:r>
              <a:rPr lang="en-US" altLang="ko-KR" sz="1200" dirty="0" err="1">
                <a:latin typeface="arial" pitchFamily="34" charset="0"/>
                <a:ea typeface="+mn-ea"/>
              </a:rPr>
              <a:t>có</a:t>
            </a:r>
            <a:r>
              <a:rPr lang="en-US" altLang="ko-KR" sz="1200" dirty="0">
                <a:latin typeface="arial" pitchFamily="34" charset="0"/>
                <a:ea typeface="+mn-ea"/>
              </a:rPr>
              <a:t> </a:t>
            </a:r>
            <a:r>
              <a:rPr lang="en-US" altLang="ko-KR" sz="1200" dirty="0" err="1">
                <a:latin typeface="arial" pitchFamily="34" charset="0"/>
                <a:ea typeface="+mn-ea"/>
              </a:rPr>
              <a:t>khiếm</a:t>
            </a:r>
            <a:r>
              <a:rPr lang="en-US" altLang="ko-KR" sz="1200" dirty="0">
                <a:latin typeface="arial" pitchFamily="34" charset="0"/>
                <a:ea typeface="+mn-ea"/>
              </a:rPr>
              <a:t> </a:t>
            </a:r>
            <a:r>
              <a:rPr lang="en-US" altLang="ko-KR" sz="1200" dirty="0" err="1">
                <a:latin typeface="arial" pitchFamily="34" charset="0"/>
                <a:ea typeface="+mn-ea"/>
              </a:rPr>
              <a:t>khuyết</a:t>
            </a:r>
            <a:r>
              <a:rPr lang="en-US" altLang="ko-KR" sz="1200" dirty="0">
                <a:latin typeface="arial" pitchFamily="34" charset="0"/>
                <a:ea typeface="+mn-ea"/>
              </a:rPr>
              <a:t> ở </a:t>
            </a:r>
            <a:r>
              <a:rPr lang="en-US" altLang="ko-KR" sz="1200" dirty="0" err="1">
                <a:latin typeface="arial" pitchFamily="34" charset="0"/>
                <a:ea typeface="+mn-ea"/>
              </a:rPr>
              <a:t>độ</a:t>
            </a:r>
            <a:r>
              <a:rPr lang="en-US" altLang="ko-KR" sz="1200" dirty="0">
                <a:latin typeface="arial" pitchFamily="34" charset="0"/>
                <a:ea typeface="+mn-ea"/>
              </a:rPr>
              <a:t> </a:t>
            </a:r>
            <a:r>
              <a:rPr lang="en-US" altLang="ko-KR" sz="1200" dirty="0" err="1">
                <a:latin typeface="arial" pitchFamily="34" charset="0"/>
                <a:ea typeface="+mn-ea"/>
              </a:rPr>
              <a:t>dài</a:t>
            </a:r>
            <a:r>
              <a:rPr lang="en-US" altLang="ko-KR" sz="1200" dirty="0">
                <a:latin typeface="arial" pitchFamily="34" charset="0"/>
                <a:ea typeface="+mn-ea"/>
              </a:rPr>
              <a:t>. </a:t>
            </a:r>
            <a:r>
              <a:rPr lang="en-US" altLang="ko-KR" sz="1200" dirty="0" err="1">
                <a:latin typeface="arial" pitchFamily="34" charset="0"/>
                <a:ea typeface="+mn-ea"/>
              </a:rPr>
              <a:t>Để</a:t>
            </a:r>
            <a:r>
              <a:rPr lang="en-US" altLang="ko-KR" sz="1200" dirty="0">
                <a:latin typeface="arial" pitchFamily="34" charset="0"/>
                <a:ea typeface="+mn-ea"/>
              </a:rPr>
              <a:t> </a:t>
            </a:r>
            <a:r>
              <a:rPr lang="en-US" altLang="ko-KR" sz="1200" dirty="0" err="1">
                <a:latin typeface="arial" pitchFamily="34" charset="0"/>
                <a:ea typeface="+mn-ea"/>
              </a:rPr>
              <a:t>bắt</a:t>
            </a:r>
            <a:r>
              <a:rPr lang="en-US" altLang="ko-KR" sz="1200" dirty="0">
                <a:latin typeface="arial" pitchFamily="34" charset="0"/>
                <a:ea typeface="+mn-ea"/>
              </a:rPr>
              <a:t> </a:t>
            </a:r>
            <a:r>
              <a:rPr lang="en-US" altLang="ko-KR" sz="1200" dirty="0" err="1">
                <a:latin typeface="arial" pitchFamily="34" charset="0"/>
                <a:ea typeface="+mn-ea"/>
              </a:rPr>
              <a:t>đầu</a:t>
            </a:r>
            <a:r>
              <a:rPr lang="en-US" altLang="ko-KR" sz="1200" dirty="0">
                <a:latin typeface="arial" pitchFamily="34" charset="0"/>
                <a:ea typeface="+mn-ea"/>
              </a:rPr>
              <a:t> </a:t>
            </a:r>
            <a:r>
              <a:rPr lang="en-US" altLang="ko-KR" sz="1200" dirty="0" err="1">
                <a:latin typeface="arial" pitchFamily="34" charset="0"/>
                <a:ea typeface="+mn-ea"/>
              </a:rPr>
              <a:t>một</a:t>
            </a:r>
            <a:r>
              <a:rPr lang="en-US" altLang="ko-KR" sz="1200" dirty="0">
                <a:latin typeface="arial" pitchFamily="34" charset="0"/>
                <a:ea typeface="+mn-ea"/>
              </a:rPr>
              <a:t> </a:t>
            </a:r>
            <a:r>
              <a:rPr lang="en-US" altLang="ko-KR" sz="1200" dirty="0" err="1">
                <a:latin typeface="arial" pitchFamily="34" charset="0"/>
                <a:ea typeface="+mn-ea"/>
              </a:rPr>
              <a:t>cuộc</a:t>
            </a:r>
            <a:r>
              <a:rPr lang="en-US" altLang="ko-KR" sz="1200" dirty="0">
                <a:latin typeface="arial" pitchFamily="34" charset="0"/>
                <a:ea typeface="+mn-ea"/>
              </a:rPr>
              <a:t> </a:t>
            </a:r>
            <a:r>
              <a:rPr lang="en-US" altLang="ko-KR" sz="1200" dirty="0" err="1">
                <a:latin typeface="arial" pitchFamily="34" charset="0"/>
                <a:ea typeface="+mn-ea"/>
              </a:rPr>
              <a:t>điều</a:t>
            </a:r>
            <a:r>
              <a:rPr lang="en-US" altLang="ko-KR" sz="1200" dirty="0">
                <a:latin typeface="arial" pitchFamily="34" charset="0"/>
                <a:ea typeface="+mn-ea"/>
              </a:rPr>
              <a:t> </a:t>
            </a:r>
            <a:r>
              <a:rPr lang="en-US" altLang="ko-KR" sz="1200" dirty="0" err="1">
                <a:latin typeface="arial" pitchFamily="34" charset="0"/>
                <a:ea typeface="+mn-ea"/>
              </a:rPr>
              <a:t>tra</a:t>
            </a:r>
            <a:r>
              <a:rPr lang="en-US" altLang="ko-KR" sz="1200" dirty="0">
                <a:latin typeface="arial" pitchFamily="34" charset="0"/>
                <a:ea typeface="+mn-ea"/>
              </a:rPr>
              <a:t> </a:t>
            </a:r>
            <a:r>
              <a:rPr lang="en-US" altLang="ko-KR" sz="1200" dirty="0" err="1">
                <a:latin typeface="arial" pitchFamily="34" charset="0"/>
                <a:ea typeface="+mn-ea"/>
              </a:rPr>
              <a:t>về</a:t>
            </a:r>
            <a:r>
              <a:rPr lang="en-US" altLang="ko-KR" sz="1200" dirty="0">
                <a:latin typeface="arial" pitchFamily="34" charset="0"/>
                <a:ea typeface="+mn-ea"/>
              </a:rPr>
              <a:t> </a:t>
            </a:r>
            <a:r>
              <a:rPr lang="en-US" altLang="ko-KR" sz="1200" dirty="0" err="1">
                <a:latin typeface="arial" pitchFamily="34" charset="0"/>
                <a:ea typeface="+mn-ea"/>
              </a:rPr>
              <a:t>năng</a:t>
            </a:r>
            <a:r>
              <a:rPr lang="en-US" altLang="ko-KR" sz="1200" dirty="0">
                <a:latin typeface="arial" pitchFamily="34" charset="0"/>
                <a:ea typeface="+mn-ea"/>
              </a:rPr>
              <a:t> </a:t>
            </a:r>
            <a:r>
              <a:rPr lang="en-US" altLang="ko-KR" sz="1200" dirty="0" err="1">
                <a:latin typeface="arial" pitchFamily="34" charset="0"/>
                <a:ea typeface="+mn-ea"/>
              </a:rPr>
              <a:t>lực</a:t>
            </a:r>
            <a:r>
              <a:rPr lang="en-US" altLang="ko-KR" sz="1200" dirty="0">
                <a:latin typeface="arial" pitchFamily="34" charset="0"/>
                <a:ea typeface="+mn-ea"/>
              </a:rPr>
              <a:t> </a:t>
            </a:r>
            <a:r>
              <a:rPr lang="en-US" altLang="ko-KR" sz="1200" dirty="0" err="1">
                <a:latin typeface="arial" pitchFamily="34" charset="0"/>
                <a:ea typeface="+mn-ea"/>
              </a:rPr>
              <a:t>của</a:t>
            </a:r>
            <a:r>
              <a:rPr lang="en-US" altLang="ko-KR" sz="1200" dirty="0">
                <a:latin typeface="arial" pitchFamily="34" charset="0"/>
                <a:ea typeface="+mn-ea"/>
              </a:rPr>
              <a:t> </a:t>
            </a:r>
            <a:r>
              <a:rPr lang="en-US" altLang="ko-KR" sz="1200" dirty="0" err="1">
                <a:latin typeface="arial" pitchFamily="34" charset="0"/>
                <a:ea typeface="+mn-ea"/>
              </a:rPr>
              <a:t>các</a:t>
            </a:r>
            <a:r>
              <a:rPr lang="en-US" altLang="ko-KR" sz="1200" dirty="0">
                <a:latin typeface="arial" pitchFamily="34" charset="0"/>
                <a:ea typeface="+mn-ea"/>
              </a:rPr>
              <a:t> </a:t>
            </a:r>
            <a:r>
              <a:rPr lang="en-US" altLang="ko-KR" sz="1200" dirty="0" err="1">
                <a:latin typeface="arial" pitchFamily="34" charset="0"/>
                <a:ea typeface="+mn-ea"/>
              </a:rPr>
              <a:t>nhà</a:t>
            </a:r>
            <a:r>
              <a:rPr lang="en-US" altLang="ko-KR" sz="1200" dirty="0">
                <a:latin typeface="arial" pitchFamily="34" charset="0"/>
                <a:ea typeface="+mn-ea"/>
              </a:rPr>
              <a:t> </a:t>
            </a:r>
            <a:r>
              <a:rPr lang="en-US" altLang="ko-KR" sz="1200" dirty="0" err="1">
                <a:latin typeface="arial" pitchFamily="34" charset="0"/>
                <a:ea typeface="+mn-ea"/>
              </a:rPr>
              <a:t>cung</a:t>
            </a:r>
            <a:r>
              <a:rPr lang="en-US" altLang="ko-KR" sz="1200" dirty="0">
                <a:latin typeface="arial" pitchFamily="34" charset="0"/>
                <a:ea typeface="+mn-ea"/>
              </a:rPr>
              <a:t> </a:t>
            </a:r>
            <a:r>
              <a:rPr lang="en-US" altLang="ko-KR" sz="1200" dirty="0" err="1">
                <a:latin typeface="arial" pitchFamily="34" charset="0"/>
                <a:ea typeface="+mn-ea"/>
              </a:rPr>
              <a:t>cấp</a:t>
            </a:r>
            <a:r>
              <a:rPr lang="en-US" altLang="ko-KR" sz="1200" dirty="0">
                <a:latin typeface="arial" pitchFamily="34" charset="0"/>
                <a:ea typeface="+mn-ea"/>
              </a:rPr>
              <a:t>, BMW </a:t>
            </a:r>
            <a:r>
              <a:rPr lang="en-US" altLang="ko-KR" sz="1200" dirty="0" err="1">
                <a:latin typeface="arial" pitchFamily="34" charset="0"/>
                <a:ea typeface="+mn-ea"/>
              </a:rPr>
              <a:t>đã</a:t>
            </a:r>
            <a:r>
              <a:rPr lang="en-US" altLang="ko-KR" sz="1200" dirty="0">
                <a:latin typeface="arial" pitchFamily="34" charset="0"/>
                <a:ea typeface="+mn-ea"/>
              </a:rPr>
              <a:t> </a:t>
            </a:r>
            <a:r>
              <a:rPr lang="en-US" altLang="ko-KR" sz="1200" dirty="0" err="1">
                <a:latin typeface="arial" pitchFamily="34" charset="0"/>
                <a:ea typeface="+mn-ea"/>
              </a:rPr>
              <a:t>thu</a:t>
            </a:r>
            <a:r>
              <a:rPr lang="en-US" altLang="ko-KR" sz="1200" dirty="0">
                <a:latin typeface="arial" pitchFamily="34" charset="0"/>
                <a:ea typeface="+mn-ea"/>
              </a:rPr>
              <a:t> </a:t>
            </a:r>
            <a:r>
              <a:rPr lang="en-US" altLang="ko-KR" sz="1200" dirty="0" err="1">
                <a:latin typeface="arial" pitchFamily="34" charset="0"/>
                <a:ea typeface="+mn-ea"/>
              </a:rPr>
              <a:t>thập</a:t>
            </a:r>
            <a:r>
              <a:rPr lang="en-US" altLang="ko-KR" sz="1200" dirty="0">
                <a:latin typeface="arial" pitchFamily="34" charset="0"/>
                <a:ea typeface="+mn-ea"/>
              </a:rPr>
              <a:t> </a:t>
            </a:r>
            <a:r>
              <a:rPr lang="en-US" altLang="ko-KR" sz="1200" dirty="0" err="1">
                <a:latin typeface="arial" pitchFamily="34" charset="0"/>
                <a:ea typeface="+mn-ea"/>
              </a:rPr>
              <a:t>thông</a:t>
            </a:r>
            <a:r>
              <a:rPr lang="en-US" altLang="ko-KR" sz="1200" dirty="0">
                <a:latin typeface="arial" pitchFamily="34" charset="0"/>
                <a:ea typeface="+mn-ea"/>
              </a:rPr>
              <a:t> tin </a:t>
            </a:r>
            <a:r>
              <a:rPr lang="en-US" altLang="ko-KR" sz="1200" dirty="0" err="1">
                <a:latin typeface="arial" pitchFamily="34" charset="0"/>
                <a:ea typeface="+mn-ea"/>
              </a:rPr>
              <a:t>và</a:t>
            </a:r>
            <a:r>
              <a:rPr lang="en-US" altLang="ko-KR" sz="1200" dirty="0">
                <a:latin typeface="arial" pitchFamily="34" charset="0"/>
                <a:ea typeface="+mn-ea"/>
              </a:rPr>
              <a:t> </a:t>
            </a:r>
            <a:r>
              <a:rPr lang="en-US" altLang="ko-KR" sz="1200" dirty="0" err="1">
                <a:latin typeface="arial" pitchFamily="34" charset="0"/>
                <a:ea typeface="+mn-ea"/>
              </a:rPr>
              <a:t>tập</a:t>
            </a:r>
            <a:r>
              <a:rPr lang="en-US" altLang="ko-KR" sz="1200" dirty="0">
                <a:latin typeface="arial" pitchFamily="34" charset="0"/>
                <a:ea typeface="+mn-ea"/>
              </a:rPr>
              <a:t> </a:t>
            </a:r>
            <a:r>
              <a:rPr lang="en-US" altLang="ko-KR" sz="1200" dirty="0" err="1">
                <a:latin typeface="arial" pitchFamily="34" charset="0"/>
                <a:ea typeface="+mn-ea"/>
              </a:rPr>
              <a:t>hợp</a:t>
            </a:r>
            <a:r>
              <a:rPr lang="en-US" altLang="ko-KR" sz="1200" dirty="0">
                <a:latin typeface="arial" pitchFamily="34" charset="0"/>
                <a:ea typeface="+mn-ea"/>
              </a:rPr>
              <a:t> </a:t>
            </a:r>
            <a:r>
              <a:rPr lang="en-US" altLang="ko-KR" sz="1200" dirty="0" err="1">
                <a:latin typeface="arial" pitchFamily="34" charset="0"/>
                <a:ea typeface="+mn-ea"/>
              </a:rPr>
              <a:t>lại</a:t>
            </a:r>
            <a:r>
              <a:rPr lang="en-US" altLang="ko-KR" sz="1200" dirty="0">
                <a:latin typeface="arial" pitchFamily="34" charset="0"/>
                <a:ea typeface="+mn-ea"/>
              </a:rPr>
              <a:t> </a:t>
            </a:r>
            <a:r>
              <a:rPr lang="en-US" altLang="ko-KR" sz="1200" dirty="0" err="1">
                <a:latin typeface="arial" pitchFamily="34" charset="0"/>
                <a:ea typeface="+mn-ea"/>
              </a:rPr>
              <a:t>như</a:t>
            </a:r>
            <a:r>
              <a:rPr lang="en-US" altLang="ko-KR" sz="1200" dirty="0">
                <a:latin typeface="arial" pitchFamily="34" charset="0"/>
                <a:ea typeface="+mn-ea"/>
              </a:rPr>
              <a:t> </a:t>
            </a:r>
            <a:r>
              <a:rPr lang="en-US" altLang="ko-KR" sz="1200" dirty="0" err="1">
                <a:latin typeface="arial" pitchFamily="34" charset="0"/>
                <a:ea typeface="+mn-ea"/>
              </a:rPr>
              <a:t>bảng</a:t>
            </a:r>
            <a:r>
              <a:rPr lang="en-US" altLang="ko-KR" sz="1200" dirty="0">
                <a:latin typeface="arial" pitchFamily="34" charset="0"/>
                <a:ea typeface="+mn-ea"/>
              </a:rPr>
              <a:t> </a:t>
            </a:r>
            <a:r>
              <a:rPr lang="en-US" altLang="ko-KR" sz="1200" dirty="0" err="1">
                <a:latin typeface="arial" pitchFamily="34" charset="0"/>
                <a:ea typeface="+mn-ea"/>
              </a:rPr>
              <a:t>dưới</a:t>
            </a:r>
            <a:r>
              <a:rPr lang="en-US" altLang="ko-KR" sz="1200" dirty="0">
                <a:latin typeface="arial" pitchFamily="34" charset="0"/>
                <a:ea typeface="+mn-ea"/>
              </a:rPr>
              <a:t>. </a:t>
            </a:r>
            <a:r>
              <a:rPr lang="en-US" altLang="ko-KR" sz="1200" dirty="0" err="1">
                <a:latin typeface="arial" pitchFamily="34" charset="0"/>
                <a:ea typeface="+mn-ea"/>
              </a:rPr>
              <a:t>Hãy</a:t>
            </a:r>
            <a:r>
              <a:rPr lang="en-US" altLang="ko-KR" sz="1200" dirty="0">
                <a:latin typeface="arial" pitchFamily="34" charset="0"/>
                <a:ea typeface="+mn-ea"/>
              </a:rPr>
              <a:t> </a:t>
            </a:r>
            <a:r>
              <a:rPr lang="en-US" altLang="ko-KR" sz="1200" dirty="0" err="1">
                <a:latin typeface="arial" pitchFamily="34" charset="0"/>
                <a:ea typeface="+mn-ea"/>
              </a:rPr>
              <a:t>nhận</a:t>
            </a:r>
            <a:r>
              <a:rPr lang="en-US" altLang="ko-KR" sz="1200" dirty="0">
                <a:latin typeface="arial" pitchFamily="34" charset="0"/>
                <a:ea typeface="+mn-ea"/>
              </a:rPr>
              <a:t> </a:t>
            </a:r>
            <a:r>
              <a:rPr lang="en-US" altLang="ko-KR" sz="1200" dirty="0" err="1">
                <a:latin typeface="arial" pitchFamily="34" charset="0"/>
                <a:ea typeface="+mn-ea"/>
              </a:rPr>
              <a:t>định</a:t>
            </a:r>
            <a:r>
              <a:rPr lang="en-US" altLang="ko-KR" sz="1200" dirty="0">
                <a:latin typeface="arial" pitchFamily="34" charset="0"/>
                <a:ea typeface="+mn-ea"/>
              </a:rPr>
              <a:t> </a:t>
            </a:r>
            <a:r>
              <a:rPr lang="en-US" altLang="ko-KR" sz="1200" dirty="0" err="1">
                <a:latin typeface="arial" pitchFamily="34" charset="0"/>
                <a:ea typeface="+mn-ea"/>
              </a:rPr>
              <a:t>năng</a:t>
            </a:r>
            <a:r>
              <a:rPr lang="en-US" altLang="ko-KR" sz="1200" dirty="0">
                <a:latin typeface="arial" pitchFamily="34" charset="0"/>
                <a:ea typeface="+mn-ea"/>
              </a:rPr>
              <a:t> </a:t>
            </a:r>
            <a:r>
              <a:rPr lang="en-US" altLang="ko-KR" sz="1200" dirty="0" err="1">
                <a:latin typeface="arial" pitchFamily="34" charset="0"/>
                <a:ea typeface="+mn-ea"/>
              </a:rPr>
              <a:t>lực</a:t>
            </a:r>
            <a:r>
              <a:rPr lang="en-US" altLang="ko-KR" sz="1200" dirty="0">
                <a:latin typeface="arial" pitchFamily="34" charset="0"/>
                <a:ea typeface="+mn-ea"/>
              </a:rPr>
              <a:t> </a:t>
            </a:r>
            <a:r>
              <a:rPr lang="en-US" altLang="ko-KR" sz="1200" dirty="0" err="1">
                <a:latin typeface="arial" pitchFamily="34" charset="0"/>
                <a:ea typeface="+mn-ea"/>
              </a:rPr>
              <a:t>quá</a:t>
            </a:r>
            <a:r>
              <a:rPr lang="en-US" altLang="ko-KR" sz="1200" dirty="0">
                <a:latin typeface="arial" pitchFamily="34" charset="0"/>
                <a:ea typeface="+mn-ea"/>
              </a:rPr>
              <a:t> </a:t>
            </a:r>
            <a:r>
              <a:rPr lang="en-US" altLang="ko-KR" sz="1200" dirty="0" err="1">
                <a:latin typeface="arial" pitchFamily="34" charset="0"/>
                <a:ea typeface="+mn-ea"/>
              </a:rPr>
              <a:t>trình</a:t>
            </a:r>
            <a:r>
              <a:rPr lang="en-US" altLang="ko-KR" sz="1200" dirty="0">
                <a:latin typeface="arial" pitchFamily="34" charset="0"/>
                <a:ea typeface="+mn-ea"/>
              </a:rPr>
              <a:t> </a:t>
            </a:r>
            <a:r>
              <a:rPr lang="en-US" altLang="ko-KR" sz="1200" dirty="0" err="1">
                <a:latin typeface="arial" pitchFamily="34" charset="0"/>
                <a:ea typeface="+mn-ea"/>
              </a:rPr>
              <a:t>của</a:t>
            </a:r>
            <a:r>
              <a:rPr lang="en-US" altLang="ko-KR" sz="1200" dirty="0">
                <a:latin typeface="arial" pitchFamily="34" charset="0"/>
                <a:ea typeface="+mn-ea"/>
              </a:rPr>
              <a:t> </a:t>
            </a:r>
            <a:r>
              <a:rPr lang="en-US" altLang="ko-KR" sz="1200" dirty="0" err="1">
                <a:latin typeface="arial" pitchFamily="34" charset="0"/>
                <a:ea typeface="+mn-ea"/>
              </a:rPr>
              <a:t>nhà</a:t>
            </a:r>
            <a:r>
              <a:rPr lang="en-US" altLang="ko-KR" sz="1200" dirty="0">
                <a:latin typeface="arial" pitchFamily="34" charset="0"/>
                <a:ea typeface="+mn-ea"/>
              </a:rPr>
              <a:t> </a:t>
            </a:r>
            <a:r>
              <a:rPr lang="en-US" altLang="ko-KR" sz="1200" dirty="0" err="1">
                <a:latin typeface="arial" pitchFamily="34" charset="0"/>
                <a:ea typeface="+mn-ea"/>
              </a:rPr>
              <a:t>cung</a:t>
            </a:r>
            <a:r>
              <a:rPr lang="en-US" altLang="ko-KR" sz="1200" dirty="0">
                <a:latin typeface="arial" pitchFamily="34" charset="0"/>
                <a:ea typeface="+mn-ea"/>
              </a:rPr>
              <a:t> </a:t>
            </a:r>
            <a:r>
              <a:rPr lang="en-US" altLang="ko-KR" sz="1200" dirty="0" err="1">
                <a:latin typeface="arial" pitchFamily="34" charset="0"/>
                <a:ea typeface="+mn-ea"/>
              </a:rPr>
              <a:t>cấp</a:t>
            </a:r>
            <a:r>
              <a:rPr lang="en-US" altLang="ko-KR" sz="1200" dirty="0">
                <a:latin typeface="arial" pitchFamily="34" charset="0"/>
                <a:ea typeface="+mn-ea"/>
              </a:rPr>
              <a:t>, </a:t>
            </a:r>
            <a:r>
              <a:rPr lang="en-US" altLang="ko-KR" sz="1200" dirty="0" err="1">
                <a:latin typeface="arial" pitchFamily="34" charset="0"/>
                <a:ea typeface="+mn-ea"/>
              </a:rPr>
              <a:t>biết</a:t>
            </a:r>
            <a:r>
              <a:rPr lang="en-US" altLang="ko-KR" sz="1200" dirty="0">
                <a:latin typeface="arial" pitchFamily="34" charset="0"/>
                <a:ea typeface="+mn-ea"/>
              </a:rPr>
              <a:t> </a:t>
            </a:r>
            <a:r>
              <a:rPr lang="en-US" altLang="ko-KR" sz="1200" dirty="0" err="1">
                <a:latin typeface="arial" pitchFamily="34" charset="0"/>
                <a:ea typeface="+mn-ea"/>
              </a:rPr>
              <a:t>rằng</a:t>
            </a:r>
            <a:r>
              <a:rPr lang="en-US" altLang="ko-KR" sz="1200" dirty="0">
                <a:latin typeface="arial" pitchFamily="34" charset="0"/>
                <a:ea typeface="+mn-ea"/>
              </a:rPr>
              <a:t> </a:t>
            </a:r>
            <a:r>
              <a:rPr lang="en-US" altLang="ko-KR" sz="1200" dirty="0" err="1">
                <a:latin typeface="arial" pitchFamily="34" charset="0"/>
                <a:ea typeface="+mn-ea"/>
              </a:rPr>
              <a:t>tiêu</a:t>
            </a:r>
            <a:r>
              <a:rPr lang="en-US" altLang="ko-KR" sz="1200" dirty="0">
                <a:latin typeface="arial" pitchFamily="34" charset="0"/>
                <a:ea typeface="+mn-ea"/>
              </a:rPr>
              <a:t> </a:t>
            </a:r>
            <a:r>
              <a:rPr lang="en-US" altLang="ko-KR" sz="1200" dirty="0" err="1">
                <a:latin typeface="arial" pitchFamily="34" charset="0"/>
                <a:ea typeface="+mn-ea"/>
              </a:rPr>
              <a:t>chuẩn</a:t>
            </a:r>
            <a:r>
              <a:rPr lang="en-US" altLang="ko-KR" sz="1200" dirty="0">
                <a:latin typeface="arial" pitchFamily="34" charset="0"/>
                <a:ea typeface="+mn-ea"/>
              </a:rPr>
              <a:t> </a:t>
            </a:r>
            <a:r>
              <a:rPr lang="en-US" altLang="ko-KR" sz="1200" dirty="0" err="1">
                <a:latin typeface="arial" pitchFamily="34" charset="0"/>
                <a:ea typeface="+mn-ea"/>
              </a:rPr>
              <a:t>chiều</a:t>
            </a:r>
            <a:r>
              <a:rPr lang="en-US" altLang="ko-KR" sz="1200" dirty="0">
                <a:latin typeface="arial" pitchFamily="34" charset="0"/>
                <a:ea typeface="+mn-ea"/>
              </a:rPr>
              <a:t> </a:t>
            </a:r>
            <a:r>
              <a:rPr lang="en-US" altLang="ko-KR" sz="1200" dirty="0" err="1">
                <a:latin typeface="arial" pitchFamily="34" charset="0"/>
                <a:ea typeface="+mn-ea"/>
              </a:rPr>
              <a:t>dài</a:t>
            </a:r>
            <a:r>
              <a:rPr lang="en-US" altLang="ko-KR" sz="1200" dirty="0">
                <a:latin typeface="arial" pitchFamily="34" charset="0"/>
                <a:ea typeface="+mn-ea"/>
              </a:rPr>
              <a:t> </a:t>
            </a:r>
            <a:r>
              <a:rPr lang="en-US" altLang="ko-KR" sz="1200" dirty="0" err="1">
                <a:latin typeface="arial" pitchFamily="34" charset="0"/>
                <a:ea typeface="+mn-ea"/>
              </a:rPr>
              <a:t>của</a:t>
            </a:r>
            <a:r>
              <a:rPr lang="en-US" altLang="ko-KR" sz="1200" dirty="0">
                <a:latin typeface="arial" pitchFamily="34" charset="0"/>
                <a:ea typeface="+mn-ea"/>
              </a:rPr>
              <a:t> </a:t>
            </a:r>
            <a:r>
              <a:rPr lang="en-US" altLang="ko-KR" sz="1200" dirty="0" err="1">
                <a:latin typeface="arial" pitchFamily="34" charset="0"/>
                <a:ea typeface="+mn-ea"/>
              </a:rPr>
              <a:t>trục</a:t>
            </a:r>
            <a:r>
              <a:rPr lang="en-US" altLang="ko-KR" sz="1200" dirty="0">
                <a:latin typeface="arial" pitchFamily="34" charset="0"/>
                <a:ea typeface="+mn-ea"/>
              </a:rPr>
              <a:t> </a:t>
            </a:r>
            <a:r>
              <a:rPr lang="en-US" altLang="ko-KR" sz="1200" dirty="0" err="1">
                <a:latin typeface="arial" pitchFamily="34" charset="0"/>
                <a:ea typeface="+mn-ea"/>
              </a:rPr>
              <a:t>là</a:t>
            </a:r>
            <a:r>
              <a:rPr lang="en-US" altLang="ko-KR" sz="1200" dirty="0">
                <a:latin typeface="arial" pitchFamily="34" charset="0"/>
                <a:ea typeface="+mn-ea"/>
              </a:rPr>
              <a:t> 600 mm </a:t>
            </a:r>
            <a:r>
              <a:rPr lang="en-US" altLang="ko-KR" sz="1200" dirty="0">
                <a:latin typeface="arial" pitchFamily="34" charset="0"/>
              </a:rPr>
              <a:t>± 4 mm.</a:t>
            </a:r>
            <a:endParaRPr lang="ko-KR" altLang="en-US" sz="1200" dirty="0">
              <a:latin typeface="arial" pitchFamily="34" charset="0"/>
              <a:ea typeface="+mn-ea"/>
            </a:endParaRPr>
          </a:p>
        </p:txBody>
      </p:sp>
      <p:pic>
        <p:nvPicPr>
          <p:cNvPr id="303259" name="Picture 1" descr="C:\Users\Administrator\AppData\Local\Microsoft\Windows\Temporary Internet Files\Content.IE5\TFXTNQNH\DSC_5120[1].jp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6408738" y="4495056"/>
            <a:ext cx="3008312"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230</a:t>
            </a:fld>
            <a:endParaRPr lang="ko-KR" altLang="en-US" dirty="0"/>
          </a:p>
        </p:txBody>
      </p:sp>
    </p:spTree>
    <p:extLst>
      <p:ext uri="{BB962C8B-B14F-4D97-AF65-F5344CB8AC3E}">
        <p14:creationId xmlns:p14="http://schemas.microsoft.com/office/powerpoint/2010/main" val="3488856000"/>
      </p:ext>
    </p:extLst>
  </p:cSld>
  <p:clrMapOvr>
    <a:masterClrMapping/>
  </p:clrMapOvr>
  <p:transition spd="slow"/>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1123" name="Picture 3"/>
          <p:cNvPicPr>
            <a:picLocks noChangeAspect="1" noChangeArrowheads="1"/>
          </p:cNvPicPr>
          <p:nvPr/>
        </p:nvPicPr>
        <p:blipFill>
          <a:blip r:embed="rId3" cstate="print"/>
          <a:srcRect/>
          <a:stretch>
            <a:fillRect/>
          </a:stretch>
        </p:blipFill>
        <p:spPr bwMode="auto">
          <a:xfrm>
            <a:off x="5572125" y="3619500"/>
            <a:ext cx="4011613" cy="264160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1122" name="Picture 2"/>
          <p:cNvPicPr>
            <a:picLocks noChangeAspect="1" noChangeArrowheads="1"/>
          </p:cNvPicPr>
          <p:nvPr/>
        </p:nvPicPr>
        <p:blipFill>
          <a:blip r:embed="rId4" cstate="print"/>
          <a:srcRect/>
          <a:stretch>
            <a:fillRect/>
          </a:stretch>
        </p:blipFill>
        <p:spPr bwMode="auto">
          <a:xfrm>
            <a:off x="1009650" y="2963863"/>
            <a:ext cx="4216400" cy="2625725"/>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6180" name="Text Box 77"/>
          <p:cNvSpPr txBox="1">
            <a:spLocks noChangeArrowheads="1"/>
          </p:cNvSpPr>
          <p:nvPr/>
        </p:nvSpPr>
        <p:spPr bwMode="auto">
          <a:xfrm>
            <a:off x="4552950" y="4421949"/>
            <a:ext cx="757238" cy="211203"/>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lIns="90000" tIns="36000" rIns="90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90000"/>
              </a:lnSpc>
            </a:pPr>
            <a:r>
              <a:rPr lang="en-US" altLang="ko-KR" sz="1000" dirty="0" err="1">
                <a:latin typeface="arial" pitchFamily="34" charset="0"/>
                <a:ea typeface="맑은 고딕" pitchFamily="50" charset="-127"/>
              </a:rPr>
              <a:t>Nhập</a:t>
            </a:r>
            <a:r>
              <a:rPr lang="en-US" altLang="ko-KR" sz="1000" dirty="0">
                <a:latin typeface="arial" pitchFamily="34" charset="0"/>
                <a:ea typeface="맑은 고딕" pitchFamily="50" charset="-127"/>
              </a:rPr>
              <a:t> LSL</a:t>
            </a:r>
            <a:endParaRPr lang="ko-KR" altLang="en-US" sz="1000" dirty="0">
              <a:latin typeface="arial" pitchFamily="34" charset="0"/>
              <a:ea typeface="맑은 고딕" pitchFamily="50" charset="-127"/>
            </a:endParaRPr>
          </a:p>
        </p:txBody>
      </p:sp>
      <p:sp>
        <p:nvSpPr>
          <p:cNvPr id="306181" name="Freeform 78"/>
          <p:cNvSpPr>
            <a:spLocks/>
          </p:cNvSpPr>
          <p:nvPr/>
        </p:nvSpPr>
        <p:spPr bwMode="auto">
          <a:xfrm>
            <a:off x="4881563" y="3513138"/>
            <a:ext cx="268287" cy="244475"/>
          </a:xfrm>
          <a:custGeom>
            <a:avLst/>
            <a:gdLst>
              <a:gd name="T0" fmla="*/ 2147483647 w 1371"/>
              <a:gd name="T1" fmla="*/ 2147483647 h 2090"/>
              <a:gd name="T2" fmla="*/ 0 w 1371"/>
              <a:gd name="T3" fmla="*/ 2147483647 h 2090"/>
              <a:gd name="T4" fmla="*/ 2147483647 w 1371"/>
              <a:gd name="T5" fmla="*/ 2147483647 h 2090"/>
              <a:gd name="T6" fmla="*/ 2147483647 w 1371"/>
              <a:gd name="T7" fmla="*/ 2147483647 h 2090"/>
              <a:gd name="T8" fmla="*/ 2147483647 w 1371"/>
              <a:gd name="T9" fmla="*/ 0 h 2090"/>
              <a:gd name="T10" fmla="*/ 2147483647 w 1371"/>
              <a:gd name="T11" fmla="*/ 2147483647 h 2090"/>
              <a:gd name="T12" fmla="*/ 2147483647 w 1371"/>
              <a:gd name="T13" fmla="*/ 2147483647 h 209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71" h="2090">
                <a:moveTo>
                  <a:pt x="155" y="974"/>
                </a:moveTo>
                <a:lnTo>
                  <a:pt x="0" y="1541"/>
                </a:lnTo>
                <a:lnTo>
                  <a:pt x="529" y="2090"/>
                </a:lnTo>
                <a:lnTo>
                  <a:pt x="1371" y="244"/>
                </a:lnTo>
                <a:lnTo>
                  <a:pt x="1371" y="0"/>
                </a:lnTo>
                <a:lnTo>
                  <a:pt x="432" y="1557"/>
                </a:lnTo>
                <a:lnTo>
                  <a:pt x="155" y="97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306182" name="Line 79"/>
          <p:cNvSpPr>
            <a:spLocks noChangeShapeType="1"/>
          </p:cNvSpPr>
          <p:nvPr/>
        </p:nvSpPr>
        <p:spPr bwMode="auto">
          <a:xfrm flipH="1">
            <a:off x="3810000" y="4541838"/>
            <a:ext cx="742950" cy="0"/>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6183" name="Text Box 80"/>
          <p:cNvSpPr txBox="1">
            <a:spLocks noChangeArrowheads="1"/>
          </p:cNvSpPr>
          <p:nvPr/>
        </p:nvSpPr>
        <p:spPr bwMode="auto">
          <a:xfrm>
            <a:off x="4552950" y="4644199"/>
            <a:ext cx="832098" cy="211203"/>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wrap="square" lIns="90000" tIns="36000" rIns="90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90000"/>
              </a:lnSpc>
            </a:pPr>
            <a:r>
              <a:rPr lang="en-US" altLang="ko-KR" sz="1000" dirty="0" err="1">
                <a:latin typeface="arial" pitchFamily="34" charset="0"/>
                <a:ea typeface="맑은 고딕" pitchFamily="50" charset="-127"/>
              </a:rPr>
              <a:t>Nhập</a:t>
            </a:r>
            <a:r>
              <a:rPr lang="en-US" altLang="ko-KR" sz="1000" dirty="0">
                <a:latin typeface="arial" pitchFamily="34" charset="0"/>
                <a:ea typeface="맑은 고딕" pitchFamily="50" charset="-127"/>
              </a:rPr>
              <a:t> USL</a:t>
            </a:r>
            <a:endParaRPr lang="ko-KR" altLang="en-US" sz="1000" dirty="0">
              <a:latin typeface="arial" pitchFamily="34" charset="0"/>
              <a:ea typeface="맑은 고딕" pitchFamily="50" charset="-127"/>
            </a:endParaRPr>
          </a:p>
        </p:txBody>
      </p:sp>
      <p:sp>
        <p:nvSpPr>
          <p:cNvPr id="306184" name="Line 81"/>
          <p:cNvSpPr>
            <a:spLocks noChangeShapeType="1"/>
          </p:cNvSpPr>
          <p:nvPr/>
        </p:nvSpPr>
        <p:spPr bwMode="auto">
          <a:xfrm flipH="1">
            <a:off x="3817938" y="4716463"/>
            <a:ext cx="738187" cy="1587"/>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6185" name="Line 82"/>
          <p:cNvSpPr>
            <a:spLocks noChangeShapeType="1"/>
          </p:cNvSpPr>
          <p:nvPr/>
        </p:nvSpPr>
        <p:spPr bwMode="auto">
          <a:xfrm flipH="1">
            <a:off x="3060700" y="2851150"/>
            <a:ext cx="6350" cy="495300"/>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6186" name="Rectangle 84"/>
          <p:cNvSpPr>
            <a:spLocks noChangeArrowheads="1"/>
          </p:cNvSpPr>
          <p:nvPr/>
        </p:nvSpPr>
        <p:spPr bwMode="auto">
          <a:xfrm>
            <a:off x="1697038" y="1800225"/>
            <a:ext cx="2877967"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r>
              <a:rPr lang="en-US" altLang="ko-KR" sz="1200" dirty="0">
                <a:solidFill>
                  <a:schemeClr val="tx2"/>
                </a:solidFill>
                <a:latin typeface="arial" pitchFamily="34" charset="0"/>
                <a:ea typeface="맑은 고딕" pitchFamily="50" charset="-127"/>
              </a:rPr>
              <a:t>File&gt;Open Worksheet&gt;Camshaft.MTW</a:t>
            </a:r>
          </a:p>
        </p:txBody>
      </p:sp>
      <p:sp>
        <p:nvSpPr>
          <p:cNvPr id="306187" name="Rectangle 86"/>
          <p:cNvSpPr>
            <a:spLocks noChangeArrowheads="1"/>
          </p:cNvSpPr>
          <p:nvPr/>
        </p:nvSpPr>
        <p:spPr bwMode="auto">
          <a:xfrm>
            <a:off x="1684338" y="2074863"/>
            <a:ext cx="3931141"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r>
              <a:rPr lang="en-US" altLang="ko-KR" sz="1200" dirty="0">
                <a:solidFill>
                  <a:schemeClr val="tx2"/>
                </a:solidFill>
                <a:latin typeface="arial" pitchFamily="34" charset="0"/>
                <a:ea typeface="맑은 고딕" pitchFamily="50" charset="-127"/>
              </a:rPr>
              <a:t>Stat&gt;Quality Tools&gt;Capability Analysis(Normal)&gt;Option</a:t>
            </a:r>
          </a:p>
        </p:txBody>
      </p:sp>
      <p:sp>
        <p:nvSpPr>
          <p:cNvPr id="306188" name="Rectangle 87"/>
          <p:cNvSpPr>
            <a:spLocks noChangeArrowheads="1"/>
          </p:cNvSpPr>
          <p:nvPr/>
        </p:nvSpPr>
        <p:spPr bwMode="auto">
          <a:xfrm>
            <a:off x="533400" y="1027113"/>
            <a:ext cx="7515944" cy="3008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190500" eaLnBrk="0" hangingPunct="0">
              <a:lnSpc>
                <a:spcPct val="125000"/>
              </a:lnSpc>
              <a:buFont typeface="Wingdings" pitchFamily="2" charset="2"/>
              <a:buNone/>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sử</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dụng</a:t>
            </a:r>
            <a:r>
              <a:rPr lang="en-US" altLang="ko-KR" sz="1200" dirty="0">
                <a:latin typeface="arial" pitchFamily="34" charset="0"/>
                <a:ea typeface="맑은 고딕" pitchFamily="50" charset="-127"/>
              </a:rPr>
              <a:t> Minitab </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Bench</a:t>
            </a:r>
            <a:r>
              <a:rPr lang="en-US" altLang="ko-KR" sz="1200" dirty="0">
                <a:latin typeface="arial" pitchFamily="34" charset="0"/>
                <a:ea typeface="맑은 고딕" pitchFamily="50" charset="-127"/>
              </a:rPr>
              <a:t> </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Rút</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ra</a:t>
            </a:r>
            <a:r>
              <a:rPr lang="en-US" altLang="ko-KR" sz="1200" dirty="0">
                <a:latin typeface="arial" pitchFamily="34" charset="0"/>
                <a:ea typeface="맑은 고딕" pitchFamily="50" charset="-127"/>
                <a:sym typeface="Wingdings" pitchFamily="2" charset="2"/>
              </a:rPr>
              <a:t> Z</a:t>
            </a:r>
            <a:r>
              <a:rPr lang="en-US" altLang="ko-KR" sz="1200" baseline="-25000" dirty="0">
                <a:latin typeface="arial" pitchFamily="34" charset="0"/>
                <a:ea typeface="맑은 고딕" pitchFamily="50" charset="-127"/>
                <a:sym typeface="Wingdings" pitchFamily="2" charset="2"/>
              </a:rPr>
              <a:t>ST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nhập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vào</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trị</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mục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tiêu</a:t>
            </a:r>
            <a:r>
              <a:rPr lang="en-US" altLang="ko-KR" sz="1200" dirty="0">
                <a:latin typeface="arial" pitchFamily="34" charset="0"/>
                <a:ea typeface="맑은 고딕" pitchFamily="50" charset="-127"/>
              </a:rPr>
              <a:t>)</a:t>
            </a:r>
          </a:p>
        </p:txBody>
      </p:sp>
      <p:sp>
        <p:nvSpPr>
          <p:cNvPr id="306189" name="AutoShape 88"/>
          <p:cNvSpPr>
            <a:spLocks noChangeArrowheads="1"/>
          </p:cNvSpPr>
          <p:nvPr/>
        </p:nvSpPr>
        <p:spPr bwMode="auto">
          <a:xfrm>
            <a:off x="2095500" y="3352800"/>
            <a:ext cx="1917700" cy="139700"/>
          </a:xfrm>
          <a:prstGeom prst="roundRect">
            <a:avLst>
              <a:gd name="adj" fmla="val 16667"/>
            </a:avLst>
          </a:prstGeom>
          <a:noFill/>
          <a:ln w="12700">
            <a:solidFill>
              <a:schemeClr val="accent2"/>
            </a:solidFill>
            <a:prstDash val="sysDot"/>
            <a:round/>
            <a:headEnd type="none" w="sm" len="sm"/>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06190" name="Line 89"/>
          <p:cNvSpPr>
            <a:spLocks noChangeShapeType="1"/>
          </p:cNvSpPr>
          <p:nvPr/>
        </p:nvSpPr>
        <p:spPr bwMode="auto">
          <a:xfrm>
            <a:off x="3060700" y="2857500"/>
            <a:ext cx="266700" cy="0"/>
          </a:xfrm>
          <a:prstGeom prst="line">
            <a:avLst/>
          </a:prstGeom>
          <a:noFill/>
          <a:ln w="12700">
            <a:solidFill>
              <a:schemeClr val="accent2"/>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306191" name="Text Box 90"/>
          <p:cNvSpPr txBox="1">
            <a:spLocks noChangeArrowheads="1"/>
          </p:cNvSpPr>
          <p:nvPr/>
        </p:nvSpPr>
        <p:spPr bwMode="auto">
          <a:xfrm>
            <a:off x="3270250" y="2654183"/>
            <a:ext cx="3783706" cy="228836"/>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wrap="none" lIns="90000" tIns="36000" rIns="90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r>
              <a:rPr lang="en-US" altLang="ko-KR" sz="1000" dirty="0" err="1">
                <a:latin typeface="arial" pitchFamily="34" charset="0"/>
                <a:ea typeface="맑은 고딕" pitchFamily="50" charset="-127"/>
              </a:rPr>
              <a:t>Dữ</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liệu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thô</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cần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phân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tích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phải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đảm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bảo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nằm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trên</a:t>
            </a:r>
            <a:r>
              <a:rPr lang="en-US" altLang="ko-KR" sz="1000" dirty="0">
                <a:latin typeface="arial" pitchFamily="34" charset="0"/>
                <a:ea typeface="맑은 고딕" pitchFamily="50" charset="-127"/>
              </a:rPr>
              <a:t> 1 </a:t>
            </a:r>
            <a:r>
              <a:rPr lang="en-US" altLang="ko-KR" sz="1000" dirty="0" err="1">
                <a:latin typeface="arial" pitchFamily="34" charset="0"/>
                <a:ea typeface="맑은 고딕" pitchFamily="50" charset="-127"/>
              </a:rPr>
              <a:t>cột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duy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nhất</a:t>
            </a:r>
            <a:endParaRPr lang="ko-KR" altLang="en-US" sz="1000" dirty="0">
              <a:latin typeface="arial" pitchFamily="34" charset="0"/>
              <a:ea typeface="맑은 고딕" pitchFamily="50" charset="-127"/>
            </a:endParaRPr>
          </a:p>
        </p:txBody>
      </p:sp>
      <p:sp>
        <p:nvSpPr>
          <p:cNvPr id="306192" name="Line 91"/>
          <p:cNvSpPr>
            <a:spLocks noChangeShapeType="1"/>
          </p:cNvSpPr>
          <p:nvPr/>
        </p:nvSpPr>
        <p:spPr bwMode="auto">
          <a:xfrm rot="-5400000">
            <a:off x="5362575" y="3505200"/>
            <a:ext cx="0" cy="393700"/>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306194" name="Freeform 93"/>
          <p:cNvSpPr>
            <a:spLocks/>
          </p:cNvSpPr>
          <p:nvPr/>
        </p:nvSpPr>
        <p:spPr bwMode="auto">
          <a:xfrm>
            <a:off x="8767763" y="4765675"/>
            <a:ext cx="268287" cy="244475"/>
          </a:xfrm>
          <a:custGeom>
            <a:avLst/>
            <a:gdLst>
              <a:gd name="T0" fmla="*/ 2147483647 w 1371"/>
              <a:gd name="T1" fmla="*/ 2147483647 h 2090"/>
              <a:gd name="T2" fmla="*/ 0 w 1371"/>
              <a:gd name="T3" fmla="*/ 2147483647 h 2090"/>
              <a:gd name="T4" fmla="*/ 2147483647 w 1371"/>
              <a:gd name="T5" fmla="*/ 2147483647 h 2090"/>
              <a:gd name="T6" fmla="*/ 2147483647 w 1371"/>
              <a:gd name="T7" fmla="*/ 2147483647 h 2090"/>
              <a:gd name="T8" fmla="*/ 2147483647 w 1371"/>
              <a:gd name="T9" fmla="*/ 0 h 2090"/>
              <a:gd name="T10" fmla="*/ 2147483647 w 1371"/>
              <a:gd name="T11" fmla="*/ 2147483647 h 2090"/>
              <a:gd name="T12" fmla="*/ 2147483647 w 1371"/>
              <a:gd name="T13" fmla="*/ 2147483647 h 209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71" h="2090">
                <a:moveTo>
                  <a:pt x="155" y="974"/>
                </a:moveTo>
                <a:lnTo>
                  <a:pt x="0" y="1541"/>
                </a:lnTo>
                <a:lnTo>
                  <a:pt x="529" y="2090"/>
                </a:lnTo>
                <a:lnTo>
                  <a:pt x="1371" y="244"/>
                </a:lnTo>
                <a:lnTo>
                  <a:pt x="1371" y="0"/>
                </a:lnTo>
                <a:lnTo>
                  <a:pt x="432" y="1557"/>
                </a:lnTo>
                <a:lnTo>
                  <a:pt x="155" y="97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306195" name="Text Box 94"/>
          <p:cNvSpPr txBox="1">
            <a:spLocks noChangeArrowheads="1"/>
          </p:cNvSpPr>
          <p:nvPr/>
        </p:nvSpPr>
        <p:spPr bwMode="auto">
          <a:xfrm>
            <a:off x="7626350" y="4386146"/>
            <a:ext cx="1949871" cy="228836"/>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wrap="none" lIns="90000" tIns="36000" rIns="90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r>
              <a:rPr lang="en-US" altLang="ko-KR" sz="1000" dirty="0" err="1">
                <a:latin typeface="arial" pitchFamily="34" charset="0"/>
                <a:ea typeface="맑은 고딕" pitchFamily="50" charset="-127"/>
              </a:rPr>
              <a:t>Tích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vào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ra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giá</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trị</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Z</a:t>
            </a:r>
            <a:r>
              <a:rPr lang="en-US" altLang="ko-KR" sz="1000" baseline="-25000" dirty="0" err="1">
                <a:latin typeface="arial" pitchFamily="34" charset="0"/>
                <a:ea typeface="맑은 고딕" pitchFamily="50" charset="-127"/>
              </a:rPr>
              <a:t>Bench</a:t>
            </a:r>
            <a:endParaRPr lang="en-US" altLang="ko-KR" sz="1000" baseline="-25000" dirty="0">
              <a:latin typeface="arial" pitchFamily="34" charset="0"/>
              <a:ea typeface="맑은 고딕" pitchFamily="50" charset="-127"/>
            </a:endParaRPr>
          </a:p>
        </p:txBody>
      </p:sp>
      <p:sp>
        <p:nvSpPr>
          <p:cNvPr id="306196" name="Text Box 95"/>
          <p:cNvSpPr txBox="1">
            <a:spLocks noChangeArrowheads="1"/>
          </p:cNvSpPr>
          <p:nvPr/>
        </p:nvSpPr>
        <p:spPr bwMode="auto">
          <a:xfrm>
            <a:off x="4552950" y="4816250"/>
            <a:ext cx="869950" cy="349702"/>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lIns="18000" tIns="36000" rIns="18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90000"/>
              </a:lnSpc>
            </a:pPr>
            <a:r>
              <a:rPr lang="en-US" altLang="ko-KR" sz="1000" b="1" dirty="0" err="1">
                <a:latin typeface="arial" pitchFamily="34" charset="0"/>
                <a:ea typeface="맑은 고딕" pitchFamily="50" charset="-127"/>
              </a:rPr>
              <a:t>Nhập</a:t>
            </a:r>
            <a:r>
              <a:rPr lang="en-US" altLang="ko-KR" sz="1000" b="1" dirty="0">
                <a:latin typeface="arial" pitchFamily="34" charset="0"/>
                <a:ea typeface="맑은 고딕" pitchFamily="50" charset="-127"/>
              </a:rPr>
              <a:t> </a:t>
            </a:r>
            <a:r>
              <a:rPr lang="en-US" altLang="ko-KR" sz="1000" b="1" dirty="0" err="1">
                <a:latin typeface="arial" pitchFamily="34" charset="0"/>
                <a:ea typeface="맑은 고딕" pitchFamily="50" charset="-127"/>
              </a:rPr>
              <a:t>giá</a:t>
            </a:r>
            <a:r>
              <a:rPr lang="en-US" altLang="ko-KR" sz="1000" b="1" dirty="0">
                <a:latin typeface="arial" pitchFamily="34" charset="0"/>
                <a:ea typeface="맑은 고딕" pitchFamily="50" charset="-127"/>
              </a:rPr>
              <a:t> </a:t>
            </a:r>
            <a:r>
              <a:rPr lang="en-US" altLang="ko-KR" sz="1000" b="1" dirty="0" err="1">
                <a:latin typeface="arial" pitchFamily="34" charset="0"/>
                <a:ea typeface="맑은 고딕" pitchFamily="50" charset="-127"/>
              </a:rPr>
              <a:t>trị</a:t>
            </a:r>
            <a:r>
              <a:rPr lang="en-US" altLang="ko-KR" sz="1000" b="1" dirty="0">
                <a:latin typeface="arial" pitchFamily="34" charset="0"/>
                <a:ea typeface="맑은 고딕" pitchFamily="50" charset="-127"/>
              </a:rPr>
              <a:t> </a:t>
            </a:r>
            <a:r>
              <a:rPr lang="en-US" altLang="ko-KR" sz="1000" b="1" dirty="0" err="1">
                <a:latin typeface="arial" pitchFamily="34" charset="0"/>
                <a:ea typeface="맑은 고딕" pitchFamily="50" charset="-127"/>
              </a:rPr>
              <a:t>mục</a:t>
            </a:r>
            <a:r>
              <a:rPr lang="en-US" altLang="ko-KR" sz="1000" b="1" dirty="0">
                <a:latin typeface="arial" pitchFamily="34" charset="0"/>
                <a:ea typeface="맑은 고딕" pitchFamily="50" charset="-127"/>
              </a:rPr>
              <a:t> </a:t>
            </a:r>
            <a:r>
              <a:rPr lang="en-US" altLang="ko-KR" sz="1000" b="1" dirty="0" err="1">
                <a:latin typeface="arial" pitchFamily="34" charset="0"/>
                <a:ea typeface="맑은 고딕" pitchFamily="50" charset="-127"/>
              </a:rPr>
              <a:t>tiêu</a:t>
            </a:r>
            <a:endParaRPr lang="ko-KR" altLang="en-US" sz="1000" b="1" dirty="0">
              <a:latin typeface="arial" pitchFamily="34" charset="0"/>
              <a:ea typeface="맑은 고딕" pitchFamily="50" charset="-127"/>
            </a:endParaRPr>
          </a:p>
        </p:txBody>
      </p:sp>
      <p:sp>
        <p:nvSpPr>
          <p:cNvPr id="306197" name="Line 96"/>
          <p:cNvSpPr>
            <a:spLocks noChangeShapeType="1"/>
          </p:cNvSpPr>
          <p:nvPr/>
        </p:nvSpPr>
        <p:spPr bwMode="auto">
          <a:xfrm flipH="1" flipV="1">
            <a:off x="3817938" y="4870450"/>
            <a:ext cx="738187" cy="87313"/>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pic>
        <p:nvPicPr>
          <p:cNvPr id="28" name="Picture 3"/>
          <p:cNvPicPr>
            <a:picLocks noChangeAspect="1" noChangeArrowheads="1"/>
          </p:cNvPicPr>
          <p:nvPr/>
        </p:nvPicPr>
        <p:blipFill>
          <a:blip r:embed="rId5" cstate="print"/>
          <a:srcRect/>
          <a:stretch>
            <a:fillRect/>
          </a:stretch>
        </p:blipFill>
        <p:spPr bwMode="auto">
          <a:xfrm>
            <a:off x="1000125" y="1865313"/>
            <a:ext cx="638175" cy="20955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 name="Picture 3"/>
          <p:cNvPicPr>
            <a:picLocks noChangeAspect="1" noChangeArrowheads="1"/>
          </p:cNvPicPr>
          <p:nvPr/>
        </p:nvPicPr>
        <p:blipFill>
          <a:blip r:embed="rId5" cstate="print"/>
          <a:srcRect/>
          <a:stretch>
            <a:fillRect/>
          </a:stretch>
        </p:blipFill>
        <p:spPr bwMode="auto">
          <a:xfrm>
            <a:off x="1000125" y="2122488"/>
            <a:ext cx="638175" cy="20955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6201" name="Rectangle 1055"/>
          <p:cNvSpPr>
            <a:spLocks noChangeArrowheads="1"/>
          </p:cNvSpPr>
          <p:nvPr/>
        </p:nvSpPr>
        <p:spPr bwMode="auto">
          <a:xfrm>
            <a:off x="263525" y="260350"/>
            <a:ext cx="5913611"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762000"/>
            <a:r>
              <a:rPr lang="en-US" altLang="ko-KR" sz="2000" b="1" dirty="0">
                <a:latin typeface="arial" pitchFamily="34" charset="0"/>
                <a:ea typeface="맑은 고딕" pitchFamily="50" charset="-127"/>
              </a:rPr>
              <a:t> 3. </a:t>
            </a:r>
            <a:r>
              <a:rPr lang="en-US" altLang="ko-KR" sz="2000" b="1" dirty="0" err="1">
                <a:latin typeface="arial" pitchFamily="34" charset="0"/>
                <a:ea typeface="맑은 고딕" pitchFamily="50" charset="-127"/>
              </a:rPr>
              <a:t>Đánh</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giá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pic>
        <p:nvPicPr>
          <p:cNvPr id="25" name="Picture 67"/>
          <p:cNvPicPr>
            <a:picLocks noChangeAspect="1" noChangeArrowheads="1"/>
          </p:cNvPicPr>
          <p:nvPr/>
        </p:nvPicPr>
        <p:blipFill>
          <a:blip r:embed="rId6" cstate="print">
            <a:extLst>
              <a:ext uri="{28A0092B-C50C-407E-A947-70E740481C1C}">
                <a14:useLocalDpi xmlns:a14="http://schemas.microsoft.com/office/drawing/2010/main"/>
              </a:ext>
            </a:extLst>
          </a:blip>
          <a:srcRect/>
          <a:stretch>
            <a:fillRect/>
          </a:stretch>
        </p:blipFill>
        <p:spPr bwMode="auto">
          <a:xfrm>
            <a:off x="9201472" y="81803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231</a:t>
            </a:fld>
            <a:endParaRPr lang="ko-KR" altLang="en-US" dirty="0"/>
          </a:p>
        </p:txBody>
      </p:sp>
    </p:spTree>
    <p:extLst>
      <p:ext uri="{BB962C8B-B14F-4D97-AF65-F5344CB8AC3E}">
        <p14:creationId xmlns:p14="http://schemas.microsoft.com/office/powerpoint/2010/main" val="1594952728"/>
      </p:ext>
    </p:extLst>
  </p:cSld>
  <p:clrMapOvr>
    <a:masterClrMapping/>
  </p:clrMapOvr>
  <p:transition spd="slow"/>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02"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289175" y="1358900"/>
            <a:ext cx="6405563" cy="4260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307203" name="AutoShape 19"/>
          <p:cNvSpPr>
            <a:spLocks noChangeArrowheads="1"/>
          </p:cNvSpPr>
          <p:nvPr/>
        </p:nvSpPr>
        <p:spPr bwMode="auto">
          <a:xfrm>
            <a:off x="495300" y="5793655"/>
            <a:ext cx="1003300" cy="542925"/>
          </a:xfrm>
          <a:prstGeom prst="rightArrow">
            <a:avLst>
              <a:gd name="adj1" fmla="val 73102"/>
              <a:gd name="adj2" fmla="val 26051"/>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ko-KR" sz="1200" b="1" dirty="0">
                <a:solidFill>
                  <a:schemeClr val="bg1"/>
                </a:solidFill>
                <a:latin typeface="arial" pitchFamily="34" charset="0"/>
                <a:ea typeface="맑은 고딕" pitchFamily="50" charset="-127"/>
              </a:rPr>
              <a:t> </a:t>
            </a:r>
            <a:r>
              <a:rPr lang="en-US" altLang="ko-KR" sz="1200" b="1" dirty="0" err="1">
                <a:solidFill>
                  <a:schemeClr val="bg1"/>
                </a:solidFill>
                <a:latin typeface="arial" pitchFamily="34" charset="0"/>
                <a:ea typeface="맑은 고딕" pitchFamily="50" charset="-127"/>
              </a:rPr>
              <a:t>Giá</a:t>
            </a:r>
            <a:r>
              <a:rPr lang="en-US" altLang="ko-KR" sz="1200" b="1" dirty="0">
                <a:solidFill>
                  <a:schemeClr val="bg1"/>
                </a:solidFill>
                <a:latin typeface="arial" pitchFamily="34" charset="0"/>
                <a:ea typeface="맑은 고딕" pitchFamily="50" charset="-127"/>
              </a:rPr>
              <a:t> </a:t>
            </a:r>
            <a:r>
              <a:rPr lang="en-US" altLang="ko-KR" sz="1200" b="1" dirty="0" err="1">
                <a:solidFill>
                  <a:schemeClr val="bg1"/>
                </a:solidFill>
                <a:latin typeface="arial" pitchFamily="34" charset="0"/>
                <a:ea typeface="맑은 고딕" pitchFamily="50" charset="-127"/>
              </a:rPr>
              <a:t>trị</a:t>
            </a:r>
            <a:r>
              <a:rPr lang="en-US" altLang="ko-KR" sz="1200" b="1" dirty="0">
                <a:solidFill>
                  <a:schemeClr val="bg1"/>
                </a:solidFill>
                <a:latin typeface="arial" pitchFamily="34" charset="0"/>
                <a:ea typeface="맑은 고딕" pitchFamily="50" charset="-127"/>
              </a:rPr>
              <a:t> Z </a:t>
            </a:r>
          </a:p>
          <a:p>
            <a:pPr algn="ctr"/>
            <a:r>
              <a:rPr lang="en-US" altLang="ko-KR" sz="1200" b="1" dirty="0">
                <a:solidFill>
                  <a:schemeClr val="bg1"/>
                </a:solidFill>
                <a:latin typeface="arial" pitchFamily="34" charset="0"/>
                <a:ea typeface="맑은 고딕" pitchFamily="50" charset="-127"/>
              </a:rPr>
              <a:t>Cho </a:t>
            </a:r>
            <a:r>
              <a:rPr lang="en-US" altLang="ko-KR" sz="1200" b="1" dirty="0" err="1">
                <a:solidFill>
                  <a:schemeClr val="bg1"/>
                </a:solidFill>
                <a:latin typeface="arial" pitchFamily="34" charset="0"/>
                <a:ea typeface="맑은 고딕" pitchFamily="50" charset="-127"/>
              </a:rPr>
              <a:t>thấy</a:t>
            </a:r>
            <a:endParaRPr lang="ko-KR" altLang="en-US" sz="1200" b="1" dirty="0">
              <a:solidFill>
                <a:schemeClr val="bg1"/>
              </a:solidFill>
              <a:latin typeface="arial" pitchFamily="34" charset="0"/>
              <a:ea typeface="맑은 고딕" pitchFamily="50" charset="-127"/>
            </a:endParaRPr>
          </a:p>
        </p:txBody>
      </p:sp>
      <p:sp>
        <p:nvSpPr>
          <p:cNvPr id="307204" name="Text Box 20"/>
          <p:cNvSpPr txBox="1">
            <a:spLocks noChangeArrowheads="1"/>
          </p:cNvSpPr>
          <p:nvPr/>
        </p:nvSpPr>
        <p:spPr bwMode="auto">
          <a:xfrm>
            <a:off x="1498601" y="5676900"/>
            <a:ext cx="7990904" cy="776436"/>
          </a:xfrm>
          <a:prstGeom prst="rect">
            <a:avLst/>
          </a:prstGeom>
          <a:solidFill>
            <a:srgbClr val="FFFFCC"/>
          </a:solidFill>
          <a:ln w="9525">
            <a:solidFill>
              <a:schemeClr val="tx1"/>
            </a:solidFill>
            <a:miter lim="800000"/>
            <a:headEnd/>
            <a:tailEnd/>
          </a:ln>
          <a:effectLst>
            <a:outerShdw dist="35921" dir="2700000" algn="ctr" rotWithShape="0">
              <a:schemeClr val="bg2"/>
            </a:outerShdw>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40000"/>
              </a:lnSpc>
              <a:buFont typeface="Wingdings" pitchFamily="2" charset="2"/>
              <a:buChar char="§"/>
            </a:pPr>
            <a:r>
              <a:rPr lang="en-US" altLang="ko-KR" sz="1600" dirty="0">
                <a:latin typeface="arial" pitchFamily="34" charset="0"/>
                <a:ea typeface="맑은 고딕" pitchFamily="50" charset="-127"/>
              </a:rPr>
              <a:t> </a:t>
            </a:r>
            <a:r>
              <a:rPr lang="en-US" altLang="ko-KR" sz="1200" dirty="0" err="1">
                <a:latin typeface="arial" pitchFamily="34" charset="0"/>
                <a:ea typeface="맑은 고딕" pitchFamily="50" charset="-127"/>
              </a:rPr>
              <a:t>Chỉ</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ngắn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(Z</a:t>
            </a:r>
            <a:r>
              <a:rPr lang="en-US" altLang="ko-KR" sz="1200" baseline="-25000" dirty="0">
                <a:latin typeface="arial" pitchFamily="34" charset="0"/>
                <a:ea typeface="맑은 고딕" pitchFamily="50" charset="-127"/>
              </a:rPr>
              <a:t>ST</a:t>
            </a:r>
            <a:r>
              <a:rPr lang="en-US" altLang="ko-KR" sz="1200" dirty="0">
                <a:latin typeface="arial" pitchFamily="34" charset="0"/>
                <a:ea typeface="맑은 고딕" pitchFamily="50" charset="-127"/>
              </a:rPr>
              <a:t>) </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nhập</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giá</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trị</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mục</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tiêu</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vào</a:t>
            </a:r>
            <a:r>
              <a:rPr lang="en-US" altLang="ko-KR" sz="1200" dirty="0">
                <a:latin typeface="arial" pitchFamily="34" charset="0"/>
                <a:ea typeface="맑은 고딕" pitchFamily="50" charset="-127"/>
                <a:sym typeface="Wingdings" pitchFamily="2" charset="2"/>
              </a:rPr>
              <a:t> historical mean</a:t>
            </a:r>
            <a:r>
              <a:rPr lang="ko-KR" altLang="en-US" sz="1200" dirty="0">
                <a:latin typeface="arial" pitchFamily="34" charset="0"/>
                <a:ea typeface="맑은 고딕" pitchFamily="50" charset="-127"/>
                <a:sym typeface="Wingdings" pitchFamily="2" charset="2"/>
              </a:rPr>
              <a:t> </a:t>
            </a:r>
            <a:r>
              <a:rPr lang="ko-KR" altLang="en-US" sz="1200" dirty="0">
                <a:latin typeface="arial" pitchFamily="34" charset="0"/>
                <a:ea typeface="맑은 고딕" pitchFamily="50" charset="-127"/>
              </a:rPr>
              <a:t> </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Bench</a:t>
            </a:r>
            <a:r>
              <a:rPr lang="en-US" altLang="ko-KR" sz="1200" dirty="0">
                <a:latin typeface="arial" pitchFamily="34" charset="0"/>
                <a:ea typeface="맑은 고딕" pitchFamily="50" charset="-127"/>
              </a:rPr>
              <a:t> = 2.13 (Within)</a:t>
            </a:r>
          </a:p>
          <a:p>
            <a:pPr eaLnBrk="1" hangingPunct="1">
              <a:lnSpc>
                <a:spcPct val="140000"/>
              </a:lnSpc>
              <a:buFont typeface="Wingdings" pitchFamily="2" charset="2"/>
              <a:buNone/>
            </a:pPr>
            <a:r>
              <a:rPr lang="en-US" altLang="ko-KR" sz="1000" dirty="0">
                <a:latin typeface="arial" pitchFamily="34" charset="0"/>
                <a:ea typeface="맑은 고딕" pitchFamily="50" charset="-127"/>
              </a:rPr>
              <a:t>  ※ </a:t>
            </a:r>
            <a:r>
              <a:rPr lang="en-US" altLang="ko-KR" sz="1000" dirty="0" err="1">
                <a:latin typeface="arial" pitchFamily="34" charset="0"/>
                <a:ea typeface="맑은 고딕" pitchFamily="50" charset="-127"/>
              </a:rPr>
              <a:t>Khi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giá</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trị</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mục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tiêu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được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nhập</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giá</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trị</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trung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sẽ</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được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bỏ</a:t>
            </a:r>
            <a:r>
              <a:rPr lang="en-US" altLang="ko-KR" sz="1000" dirty="0">
                <a:latin typeface="arial" pitchFamily="34" charset="0"/>
                <a:ea typeface="맑은 고딕" pitchFamily="50" charset="-127"/>
              </a:rPr>
              <a:t> qua, </a:t>
            </a:r>
            <a:r>
              <a:rPr lang="en-US" altLang="ko-KR" sz="1000" dirty="0" err="1">
                <a:latin typeface="arial" pitchFamily="34" charset="0"/>
                <a:ea typeface="맑은 고딕" pitchFamily="50" charset="-127"/>
              </a:rPr>
              <a:t>chỉ</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độ</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lệch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chuẩn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ngắn</a:t>
            </a:r>
            <a:r>
              <a:rPr lang="en-US" altLang="ko-KR" sz="1000" dirty="0">
                <a:latin typeface="arial" pitchFamily="34" charset="0"/>
                <a:ea typeface="맑은 고딕" pitchFamily="50" charset="-127"/>
              </a:rPr>
              <a:t>/</a:t>
            </a:r>
            <a:r>
              <a:rPr lang="en-US" altLang="ko-KR" sz="1000" dirty="0" err="1">
                <a:latin typeface="arial" pitchFamily="34" charset="0"/>
                <a:ea typeface="맑은 고딕" pitchFamily="50" charset="-127"/>
              </a:rPr>
              <a:t>dài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hạn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của</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mục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tiêu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được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tính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toán</a:t>
            </a:r>
            <a:endParaRPr lang="ko-KR" altLang="en-US" sz="1000" dirty="0">
              <a:latin typeface="arial" pitchFamily="34" charset="0"/>
              <a:ea typeface="맑은 고딕" pitchFamily="50" charset="-127"/>
            </a:endParaRPr>
          </a:p>
        </p:txBody>
      </p:sp>
      <p:sp>
        <p:nvSpPr>
          <p:cNvPr id="307205" name="Rectangle 21"/>
          <p:cNvSpPr>
            <a:spLocks noChangeArrowheads="1"/>
          </p:cNvSpPr>
          <p:nvPr/>
        </p:nvSpPr>
        <p:spPr bwMode="auto">
          <a:xfrm>
            <a:off x="431800" y="1027113"/>
            <a:ext cx="3945136" cy="30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190500" eaLnBrk="0" hangingPunct="0">
              <a:lnSpc>
                <a:spcPct val="125000"/>
              </a:lnSpc>
              <a:buFont typeface="Wingdings" pitchFamily="2" charset="2"/>
              <a:buChar char="Ø"/>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Kết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Bench</a:t>
            </a:r>
            <a:r>
              <a:rPr lang="en-US" altLang="ko-KR" sz="1200" dirty="0">
                <a:latin typeface="arial" pitchFamily="34" charset="0"/>
                <a:ea typeface="맑은 고딕" pitchFamily="50" charset="-127"/>
              </a:rPr>
              <a:t>)</a:t>
            </a:r>
          </a:p>
        </p:txBody>
      </p:sp>
      <p:sp>
        <p:nvSpPr>
          <p:cNvPr id="307206" name="Rectangle 22"/>
          <p:cNvSpPr>
            <a:spLocks noChangeArrowheads="1"/>
          </p:cNvSpPr>
          <p:nvPr/>
        </p:nvSpPr>
        <p:spPr bwMode="auto">
          <a:xfrm>
            <a:off x="286862" y="2008009"/>
            <a:ext cx="2009428" cy="1200329"/>
          </a:xfrm>
          <a:prstGeom prst="rect">
            <a:avLst/>
          </a:prstGeom>
          <a:solidFill>
            <a:schemeClr val="tx2">
              <a:lumMod val="20000"/>
              <a:lumOff val="80000"/>
            </a:schemeClr>
          </a:solidFill>
          <a:ln w="9525">
            <a:solidFill>
              <a:srgbClr val="FF0033"/>
            </a:solidFill>
            <a:miter lim="800000"/>
            <a:headEnd/>
            <a:tailEnd/>
          </a:ln>
          <a:effectLst/>
        </p:spPr>
        <p:txBody>
          <a:bodyPr wrap="square" anchor="ctr">
            <a:spAutoFit/>
          </a:bodyPr>
          <a:lstStyle/>
          <a:p>
            <a:r>
              <a:rPr lang="en-US" altLang="ko-KR" sz="900" dirty="0">
                <a:latin typeface="arial" pitchFamily="34" charset="0"/>
                <a:ea typeface="맑은 고딕" pitchFamily="50" charset="-127"/>
              </a:rPr>
              <a:t>     Process Data</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Upper standard limit</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Standard target</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Lower standard limit</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Target value</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Number of data</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Within group standard deviation</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Overall standard deviation</a:t>
            </a:r>
            <a:endParaRPr lang="ko-KR" altLang="en-US" sz="900" dirty="0">
              <a:latin typeface="arial" pitchFamily="34" charset="0"/>
              <a:ea typeface="맑은 고딕" pitchFamily="50" charset="-127"/>
            </a:endParaRPr>
          </a:p>
        </p:txBody>
      </p:sp>
      <p:sp>
        <p:nvSpPr>
          <p:cNvPr id="307207" name="Rectangle 23"/>
          <p:cNvSpPr>
            <a:spLocks noChangeArrowheads="1"/>
          </p:cNvSpPr>
          <p:nvPr/>
        </p:nvSpPr>
        <p:spPr bwMode="auto">
          <a:xfrm>
            <a:off x="8489950" y="2981867"/>
            <a:ext cx="1335088" cy="1089529"/>
          </a:xfrm>
          <a:prstGeom prst="rect">
            <a:avLst/>
          </a:prstGeom>
          <a:solidFill>
            <a:schemeClr val="tx2">
              <a:lumMod val="20000"/>
              <a:lumOff val="80000"/>
            </a:schemeClr>
          </a:solidFill>
          <a:ln w="9525">
            <a:solidFill>
              <a:srgbClr val="FF0033"/>
            </a:solidFill>
            <a:miter lim="800000"/>
            <a:headEnd/>
            <a:tailEnd/>
          </a:ln>
          <a:effectLst/>
        </p:spPr>
        <p:txBody>
          <a:bodyPr lIns="54000" rIns="54000" anchor="ctr">
            <a:spAutoFit/>
          </a:bodyPr>
          <a:lstStyle/>
          <a:p>
            <a:pPr>
              <a:lnSpc>
                <a:spcPct val="90000"/>
              </a:lnSpc>
            </a:pPr>
            <a:r>
              <a:rPr lang="en-US" altLang="ko-KR" sz="900" dirty="0" err="1">
                <a:latin typeface="arial" pitchFamily="34" charset="0"/>
                <a:ea typeface="맑은 고딕" pitchFamily="50" charset="-127"/>
              </a:rPr>
              <a:t>Năng</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lực</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quá</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trình</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trong</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ngắn</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hạn</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σ</a:t>
            </a:r>
            <a:r>
              <a:rPr lang="en-US" altLang="ko-KR" sz="900" baseline="-25000" dirty="0" err="1">
                <a:latin typeface="arial" pitchFamily="34" charset="0"/>
                <a:ea typeface="맑은 고딕" pitchFamily="50" charset="-127"/>
              </a:rPr>
              <a:t>ST</a:t>
            </a:r>
            <a:r>
              <a:rPr lang="en-US" altLang="ko-KR" sz="900" dirty="0">
                <a:latin typeface="arial" pitchFamily="34" charset="0"/>
                <a:ea typeface="맑은 고딕" pitchFamily="50" charset="-127"/>
              </a:rPr>
              <a:t>)</a:t>
            </a:r>
          </a:p>
          <a:p>
            <a:pPr>
              <a:lnSpc>
                <a:spcPct val="90000"/>
              </a:lnSpc>
            </a:pPr>
            <a:endParaRPr lang="en-US" altLang="ko-KR" sz="900" dirty="0">
              <a:latin typeface="arial" pitchFamily="34" charset="0"/>
              <a:ea typeface="맑은 고딕" pitchFamily="50" charset="-127"/>
            </a:endParaRPr>
          </a:p>
          <a:p>
            <a:pPr>
              <a:lnSpc>
                <a:spcPct val="90000"/>
              </a:lnSpc>
              <a:buFontTx/>
              <a:buChar char="•"/>
            </a:pPr>
            <a:r>
              <a:rPr lang="en-US" altLang="ko-KR" sz="900" dirty="0">
                <a:latin typeface="arial" pitchFamily="34" charset="0"/>
                <a:ea typeface="맑은 고딕" pitchFamily="50" charset="-127"/>
              </a:rPr>
              <a:t>Z</a:t>
            </a:r>
            <a:r>
              <a:rPr lang="en-US" altLang="ko-KR" sz="900" baseline="-25000" dirty="0">
                <a:latin typeface="arial" pitchFamily="34" charset="0"/>
                <a:ea typeface="맑은 고딕" pitchFamily="50" charset="-127"/>
              </a:rPr>
              <a:t>Bench</a:t>
            </a:r>
            <a:r>
              <a:rPr lang="en-US" altLang="ko-KR" sz="900" dirty="0">
                <a:latin typeface="arial" pitchFamily="34" charset="0"/>
                <a:ea typeface="맑은 고딕" pitchFamily="50" charset="-127"/>
              </a:rPr>
              <a:t> : </a:t>
            </a:r>
            <a:r>
              <a:rPr lang="en-US" altLang="ko-KR" sz="900" dirty="0" err="1">
                <a:latin typeface="arial" pitchFamily="34" charset="0"/>
                <a:ea typeface="맑은 고딕" pitchFamily="50" charset="-127"/>
              </a:rPr>
              <a:t>Rút</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ra</a:t>
            </a:r>
            <a:r>
              <a:rPr lang="en-US" altLang="ko-KR" sz="900" dirty="0">
                <a:latin typeface="arial" pitchFamily="34" charset="0"/>
                <a:ea typeface="맑은 고딕" pitchFamily="50" charset="-127"/>
              </a:rPr>
              <a:t> Z</a:t>
            </a:r>
            <a:r>
              <a:rPr lang="en-US" altLang="ko-KR" sz="900" baseline="-25000" dirty="0">
                <a:latin typeface="arial" pitchFamily="34" charset="0"/>
                <a:ea typeface="맑은 고딕" pitchFamily="50" charset="-127"/>
              </a:rPr>
              <a:t>ST</a:t>
            </a:r>
            <a:r>
              <a:rPr lang="en-US" altLang="ko-KR" sz="900" dirty="0">
                <a:latin typeface="arial" pitchFamily="34" charset="0"/>
                <a:ea typeface="맑은 고딕" pitchFamily="50" charset="-127"/>
              </a:rPr>
              <a:t>  </a:t>
            </a:r>
          </a:p>
          <a:p>
            <a:pPr>
              <a:lnSpc>
                <a:spcPct val="90000"/>
              </a:lnSpc>
            </a:pP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từ</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mục</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tiêu</a:t>
            </a:r>
            <a:endParaRPr lang="ko-KR" altLang="en-US" sz="900" dirty="0">
              <a:latin typeface="arial" pitchFamily="34" charset="0"/>
              <a:ea typeface="맑은 고딕" pitchFamily="50" charset="-127"/>
            </a:endParaRPr>
          </a:p>
          <a:p>
            <a:pPr>
              <a:lnSpc>
                <a:spcPct val="90000"/>
              </a:lnSpc>
            </a:pPr>
            <a:endParaRPr lang="ko-KR" altLang="en-US" sz="900" dirty="0">
              <a:latin typeface="arial" pitchFamily="34" charset="0"/>
              <a:ea typeface="맑은 고딕" pitchFamily="50" charset="-127"/>
            </a:endParaRPr>
          </a:p>
          <a:p>
            <a:pPr>
              <a:lnSpc>
                <a:spcPct val="90000"/>
              </a:lnSpc>
              <a:buFontTx/>
              <a:buChar char="•"/>
            </a:pPr>
            <a:r>
              <a:rPr lang="en-US" altLang="ko-KR" sz="900" dirty="0">
                <a:latin typeface="arial" pitchFamily="34" charset="0"/>
                <a:ea typeface="맑은 고딕" pitchFamily="50" charset="-127"/>
              </a:rPr>
              <a:t>C</a:t>
            </a:r>
            <a:r>
              <a:rPr lang="en-US" altLang="ko-KR" sz="900" baseline="-25000" dirty="0">
                <a:latin typeface="arial" pitchFamily="34" charset="0"/>
                <a:ea typeface="맑은 고딕" pitchFamily="50" charset="-127"/>
              </a:rPr>
              <a:t>pk</a:t>
            </a:r>
            <a:r>
              <a:rPr lang="en-US" altLang="ko-KR" sz="900" dirty="0">
                <a:latin typeface="arial" pitchFamily="34" charset="0"/>
                <a:ea typeface="맑은 고딕" pitchFamily="50" charset="-127"/>
              </a:rPr>
              <a:t> : </a:t>
            </a:r>
            <a:r>
              <a:rPr lang="en-US" altLang="ko-KR" sz="900" dirty="0" err="1">
                <a:latin typeface="arial" pitchFamily="34" charset="0"/>
                <a:ea typeface="맑은 고딕" pitchFamily="50" charset="-127"/>
              </a:rPr>
              <a:t>rút</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ra</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được</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từ</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mục</a:t>
            </a:r>
            <a:r>
              <a:rPr lang="en-US" altLang="ko-KR" sz="900" dirty="0">
                <a:latin typeface="arial" pitchFamily="34" charset="0"/>
                <a:ea typeface="맑은 고딕" pitchFamily="50" charset="-127"/>
              </a:rPr>
              <a:t> </a:t>
            </a:r>
            <a:r>
              <a:rPr lang="en-US" altLang="ko-KR" sz="900" dirty="0" err="1">
                <a:latin typeface="arial" pitchFamily="34" charset="0"/>
                <a:ea typeface="맑은 고딕" pitchFamily="50" charset="-127"/>
              </a:rPr>
              <a:t>tiêu</a:t>
            </a:r>
            <a:endParaRPr lang="ko-KR" altLang="en-US" sz="900" dirty="0">
              <a:latin typeface="arial" pitchFamily="34" charset="0"/>
              <a:ea typeface="맑은 고딕" pitchFamily="50" charset="-127"/>
            </a:endParaRPr>
          </a:p>
        </p:txBody>
      </p:sp>
      <p:sp>
        <p:nvSpPr>
          <p:cNvPr id="307208" name="AutoShape 27"/>
          <p:cNvSpPr>
            <a:spLocks noChangeArrowheads="1"/>
          </p:cNvSpPr>
          <p:nvPr/>
        </p:nvSpPr>
        <p:spPr bwMode="auto">
          <a:xfrm>
            <a:off x="7099300" y="3340577"/>
            <a:ext cx="1277938" cy="408623"/>
          </a:xfrm>
          <a:prstGeom prst="roundRect">
            <a:avLst>
              <a:gd name="adj" fmla="val 16667"/>
            </a:avLst>
          </a:prstGeom>
          <a:noFill/>
          <a:ln w="9525">
            <a:solidFill>
              <a:srgbClr val="FF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ko-KR" altLang="en-US" dirty="0">
              <a:latin typeface="arial" pitchFamily="34" charset="0"/>
              <a:ea typeface="맑은 고딕" pitchFamily="50" charset="-127"/>
            </a:endParaRPr>
          </a:p>
        </p:txBody>
      </p:sp>
      <p:sp>
        <p:nvSpPr>
          <p:cNvPr id="307209" name="Rectangle 29"/>
          <p:cNvSpPr>
            <a:spLocks noChangeArrowheads="1"/>
          </p:cNvSpPr>
          <p:nvPr/>
        </p:nvSpPr>
        <p:spPr bwMode="auto">
          <a:xfrm>
            <a:off x="8497888" y="3313113"/>
            <a:ext cx="1314450" cy="344487"/>
          </a:xfrm>
          <a:prstGeom prst="rect">
            <a:avLst/>
          </a:prstGeom>
          <a:noFill/>
          <a:ln w="28575">
            <a:solidFill>
              <a:srgbClr val="FF0033"/>
            </a:solidFill>
            <a:prstDash val="sysDot"/>
            <a:miter lim="800000"/>
            <a:headEnd type="none" w="sm" len="sm"/>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900" dirty="0">
              <a:latin typeface="arial" pitchFamily="34" charset="0"/>
              <a:ea typeface="맑은 고딕" pitchFamily="50" charset="-127"/>
            </a:endParaRPr>
          </a:p>
        </p:txBody>
      </p:sp>
      <p:sp>
        <p:nvSpPr>
          <p:cNvPr id="307210" name="AutoShape 30"/>
          <p:cNvSpPr>
            <a:spLocks noChangeArrowheads="1"/>
          </p:cNvSpPr>
          <p:nvPr/>
        </p:nvSpPr>
        <p:spPr bwMode="auto">
          <a:xfrm>
            <a:off x="8212138" y="3298825"/>
            <a:ext cx="228600" cy="339725"/>
          </a:xfrm>
          <a:prstGeom prst="irregularSeal2">
            <a:avLst/>
          </a:prstGeom>
          <a:solidFill>
            <a:srgbClr val="CC0000"/>
          </a:solidFill>
          <a:ln w="127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07212" name="Rectangle 1055"/>
          <p:cNvSpPr>
            <a:spLocks noChangeArrowheads="1"/>
          </p:cNvSpPr>
          <p:nvPr/>
        </p:nvSpPr>
        <p:spPr bwMode="auto">
          <a:xfrm>
            <a:off x="263525" y="260350"/>
            <a:ext cx="5265539"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762000"/>
            <a:r>
              <a:rPr lang="en-US" altLang="ko-KR" sz="2000" b="1" dirty="0">
                <a:latin typeface="arial" pitchFamily="34" charset="0"/>
                <a:ea typeface="맑은 고딕" pitchFamily="50" charset="-127"/>
              </a:rPr>
              <a:t> 3. </a:t>
            </a:r>
            <a:r>
              <a:rPr lang="en-US" altLang="ko-KR" sz="2000" b="1" dirty="0" err="1">
                <a:latin typeface="arial" pitchFamily="34" charset="0"/>
                <a:ea typeface="맑은 고딕" pitchFamily="50" charset="-127"/>
              </a:rPr>
              <a:t>Đánh</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giá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pic>
        <p:nvPicPr>
          <p:cNvPr id="12"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01472" y="81803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232</a:t>
            </a:fld>
            <a:endParaRPr lang="ko-KR" altLang="en-US" dirty="0"/>
          </a:p>
        </p:txBody>
      </p:sp>
    </p:spTree>
    <p:extLst>
      <p:ext uri="{BB962C8B-B14F-4D97-AF65-F5344CB8AC3E}">
        <p14:creationId xmlns:p14="http://schemas.microsoft.com/office/powerpoint/2010/main" val="2825143825"/>
      </p:ext>
    </p:extLst>
  </p:cSld>
  <p:clrMapOvr>
    <a:masterClrMapping/>
  </p:clrMapOvr>
  <p:transition spd="slow"/>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Picture 3"/>
          <p:cNvPicPr>
            <a:picLocks noChangeAspect="1" noChangeArrowheads="1"/>
          </p:cNvPicPr>
          <p:nvPr/>
        </p:nvPicPr>
        <p:blipFill>
          <a:blip r:embed="rId3" cstate="print"/>
          <a:srcRect/>
          <a:stretch>
            <a:fillRect/>
          </a:stretch>
        </p:blipFill>
        <p:spPr bwMode="auto">
          <a:xfrm>
            <a:off x="5572125" y="3619500"/>
            <a:ext cx="4011613" cy="264160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2146" name="Picture 2"/>
          <p:cNvPicPr>
            <a:picLocks noChangeAspect="1" noChangeArrowheads="1"/>
          </p:cNvPicPr>
          <p:nvPr/>
        </p:nvPicPr>
        <p:blipFill>
          <a:blip r:embed="rId4" cstate="print"/>
          <a:srcRect/>
          <a:stretch>
            <a:fillRect/>
          </a:stretch>
        </p:blipFill>
        <p:spPr bwMode="auto">
          <a:xfrm>
            <a:off x="1038225" y="3074988"/>
            <a:ext cx="4108450" cy="2441575"/>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8228" name="Picture 1052"/>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6442075" y="2005013"/>
            <a:ext cx="952500"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8229" name="AutoShape 1053"/>
          <p:cNvSpPr>
            <a:spLocks noChangeArrowheads="1"/>
          </p:cNvSpPr>
          <p:nvPr/>
        </p:nvSpPr>
        <p:spPr bwMode="auto">
          <a:xfrm>
            <a:off x="7546975" y="1700808"/>
            <a:ext cx="1726505" cy="1599605"/>
          </a:xfrm>
          <a:prstGeom prst="cloudCallout">
            <a:avLst>
              <a:gd name="adj1" fmla="val -67083"/>
              <a:gd name="adj2" fmla="val -21324"/>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r>
              <a:rPr lang="en-US" altLang="ko-KR" sz="1000" dirty="0" err="1">
                <a:latin typeface="arial" pitchFamily="34" charset="0"/>
                <a:ea typeface="맑은 고딕" pitchFamily="50" charset="-127"/>
              </a:rPr>
              <a:t>Khó</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quá</a:t>
            </a:r>
            <a:r>
              <a:rPr lang="en-US" altLang="ko-KR" sz="1000" dirty="0">
                <a:latin typeface="arial" pitchFamily="34" charset="0"/>
                <a:ea typeface="맑은 고딕" pitchFamily="50" charset="-127"/>
              </a:rPr>
              <a:t>.!!!</a:t>
            </a:r>
            <a:br>
              <a:rPr lang="en-US" altLang="ko-KR" sz="1000" dirty="0">
                <a:latin typeface="arial" pitchFamily="34" charset="0"/>
                <a:ea typeface="맑은 고딕" pitchFamily="50" charset="-127"/>
              </a:rPr>
            </a:br>
            <a:endParaRPr lang="en-US" altLang="ko-KR" sz="1000" dirty="0">
              <a:latin typeface="arial" pitchFamily="34" charset="0"/>
              <a:ea typeface="맑은 고딕" pitchFamily="50" charset="-127"/>
            </a:endParaRPr>
          </a:p>
          <a:p>
            <a:r>
              <a:rPr lang="en-US" altLang="ko-KR" sz="1000" dirty="0" err="1">
                <a:latin typeface="arial" pitchFamily="34" charset="0"/>
                <a:ea typeface="맑은 고딕" pitchFamily="50" charset="-127"/>
              </a:rPr>
              <a:t>Tôi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sẽ</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thao</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thác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thường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xuyên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với</a:t>
            </a:r>
            <a:r>
              <a:rPr lang="en-US" altLang="ko-KR" sz="1000" dirty="0">
                <a:latin typeface="arial" pitchFamily="34" charset="0"/>
                <a:ea typeface="맑은 고딕" pitchFamily="50" charset="-127"/>
              </a:rPr>
              <a:t> Minitab </a:t>
            </a:r>
            <a:r>
              <a:rPr lang="en-US" altLang="ko-KR" sz="1000" dirty="0" err="1">
                <a:latin typeface="arial" pitchFamily="34" charset="0"/>
                <a:ea typeface="맑은 고딕" pitchFamily="50" charset="-127"/>
              </a:rPr>
              <a:t>để</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làm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quen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dần</a:t>
            </a:r>
            <a:r>
              <a:rPr lang="en-US" altLang="ko-KR" sz="1000" dirty="0">
                <a:latin typeface="arial" pitchFamily="34" charset="0"/>
                <a:ea typeface="맑은 고딕" pitchFamily="50" charset="-127"/>
              </a:rPr>
              <a:t>…</a:t>
            </a:r>
          </a:p>
        </p:txBody>
      </p:sp>
      <p:sp>
        <p:nvSpPr>
          <p:cNvPr id="308230" name="Text Box 1055"/>
          <p:cNvSpPr txBox="1">
            <a:spLocks noChangeArrowheads="1"/>
          </p:cNvSpPr>
          <p:nvPr/>
        </p:nvSpPr>
        <p:spPr bwMode="auto">
          <a:xfrm>
            <a:off x="4429125" y="4370388"/>
            <a:ext cx="757238" cy="219075"/>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lIns="90000" tIns="36000" rIns="90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90000"/>
              </a:lnSpc>
            </a:pPr>
            <a:r>
              <a:rPr lang="en-US" altLang="ko-KR" sz="1000" dirty="0" err="1">
                <a:latin typeface="arial" pitchFamily="34" charset="0"/>
                <a:ea typeface="맑은 고딕" pitchFamily="50" charset="-127"/>
              </a:rPr>
              <a:t>Nhập</a:t>
            </a:r>
            <a:r>
              <a:rPr lang="en-US" altLang="ko-KR" sz="1000" dirty="0">
                <a:latin typeface="arial" pitchFamily="34" charset="0"/>
                <a:ea typeface="맑은 고딕" pitchFamily="50" charset="-127"/>
              </a:rPr>
              <a:t> LSL</a:t>
            </a:r>
            <a:endParaRPr lang="ko-KR" altLang="en-US" sz="1000" dirty="0">
              <a:latin typeface="arial" pitchFamily="34" charset="0"/>
              <a:ea typeface="맑은 고딕" pitchFamily="50" charset="-127"/>
            </a:endParaRPr>
          </a:p>
        </p:txBody>
      </p:sp>
      <p:sp>
        <p:nvSpPr>
          <p:cNvPr id="308231" name="Line 1056"/>
          <p:cNvSpPr>
            <a:spLocks noChangeShapeType="1"/>
          </p:cNvSpPr>
          <p:nvPr/>
        </p:nvSpPr>
        <p:spPr bwMode="auto">
          <a:xfrm flipH="1">
            <a:off x="3686175" y="4494213"/>
            <a:ext cx="742950" cy="0"/>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8232" name="Text Box 1057"/>
          <p:cNvSpPr txBox="1">
            <a:spLocks noChangeArrowheads="1"/>
          </p:cNvSpPr>
          <p:nvPr/>
        </p:nvSpPr>
        <p:spPr bwMode="auto">
          <a:xfrm>
            <a:off x="4429124" y="4596574"/>
            <a:ext cx="811907" cy="211203"/>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wrap="square" lIns="90000" tIns="36000" rIns="90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90000"/>
              </a:lnSpc>
            </a:pPr>
            <a:r>
              <a:rPr lang="en-US" altLang="ko-KR" sz="1000" dirty="0" err="1">
                <a:latin typeface="arial" pitchFamily="34" charset="0"/>
                <a:ea typeface="맑은 고딕" pitchFamily="50" charset="-127"/>
              </a:rPr>
              <a:t>Nhập</a:t>
            </a:r>
            <a:r>
              <a:rPr lang="en-US" altLang="ko-KR" sz="1000" dirty="0">
                <a:latin typeface="arial" pitchFamily="34" charset="0"/>
                <a:ea typeface="맑은 고딕" pitchFamily="50" charset="-127"/>
              </a:rPr>
              <a:t> USL</a:t>
            </a:r>
            <a:endParaRPr lang="ko-KR" altLang="en-US" sz="1000" dirty="0">
              <a:latin typeface="arial" pitchFamily="34" charset="0"/>
              <a:ea typeface="맑은 고딕" pitchFamily="50" charset="-127"/>
            </a:endParaRPr>
          </a:p>
        </p:txBody>
      </p:sp>
      <p:sp>
        <p:nvSpPr>
          <p:cNvPr id="308233" name="Line 1058"/>
          <p:cNvSpPr>
            <a:spLocks noChangeShapeType="1"/>
          </p:cNvSpPr>
          <p:nvPr/>
        </p:nvSpPr>
        <p:spPr bwMode="auto">
          <a:xfrm flipH="1">
            <a:off x="3694113" y="4668838"/>
            <a:ext cx="738187" cy="1587"/>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8234" name="Line 1059"/>
          <p:cNvSpPr>
            <a:spLocks noChangeShapeType="1"/>
          </p:cNvSpPr>
          <p:nvPr/>
        </p:nvSpPr>
        <p:spPr bwMode="auto">
          <a:xfrm>
            <a:off x="3057525" y="3014663"/>
            <a:ext cx="3175" cy="495300"/>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8235" name="Rectangle 1061"/>
          <p:cNvSpPr>
            <a:spLocks noChangeArrowheads="1"/>
          </p:cNvSpPr>
          <p:nvPr/>
        </p:nvSpPr>
        <p:spPr bwMode="auto">
          <a:xfrm>
            <a:off x="1697038" y="1800225"/>
            <a:ext cx="2877967"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r>
              <a:rPr lang="en-US" altLang="ko-KR" sz="1200" dirty="0">
                <a:solidFill>
                  <a:schemeClr val="tx2"/>
                </a:solidFill>
                <a:latin typeface="arial" pitchFamily="34" charset="0"/>
                <a:ea typeface="맑은 고딕" pitchFamily="50" charset="-127"/>
              </a:rPr>
              <a:t>File&gt;Open Worksheet&gt;Camshaft.MTW</a:t>
            </a:r>
          </a:p>
        </p:txBody>
      </p:sp>
      <p:sp>
        <p:nvSpPr>
          <p:cNvPr id="308236" name="Rectangle 1063"/>
          <p:cNvSpPr>
            <a:spLocks noChangeArrowheads="1"/>
          </p:cNvSpPr>
          <p:nvPr/>
        </p:nvSpPr>
        <p:spPr bwMode="auto">
          <a:xfrm>
            <a:off x="1684338" y="2074863"/>
            <a:ext cx="3931141"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r>
              <a:rPr lang="en-US" altLang="ko-KR" sz="1200" dirty="0">
                <a:solidFill>
                  <a:schemeClr val="tx2"/>
                </a:solidFill>
                <a:latin typeface="arial" pitchFamily="34" charset="0"/>
                <a:ea typeface="맑은 고딕" pitchFamily="50" charset="-127"/>
              </a:rPr>
              <a:t>Stat&gt;Quality Tools&gt;Capability Analysis(Normal)&gt;Option</a:t>
            </a:r>
          </a:p>
        </p:txBody>
      </p:sp>
      <p:sp>
        <p:nvSpPr>
          <p:cNvPr id="308237" name="Rectangle 1064"/>
          <p:cNvSpPr>
            <a:spLocks noChangeArrowheads="1"/>
          </p:cNvSpPr>
          <p:nvPr/>
        </p:nvSpPr>
        <p:spPr bwMode="auto">
          <a:xfrm>
            <a:off x="381764" y="1027113"/>
            <a:ext cx="9172128" cy="554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190500" eaLnBrk="0" hangingPunct="0">
              <a:lnSpc>
                <a:spcPct val="125000"/>
              </a:lnSpc>
              <a:buFont typeface="Wingdings" pitchFamily="2" charset="2"/>
              <a:buNone/>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sử</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dụng</a:t>
            </a:r>
            <a:r>
              <a:rPr lang="en-US" altLang="ko-KR" sz="1200" dirty="0">
                <a:latin typeface="arial" pitchFamily="34" charset="0"/>
                <a:ea typeface="맑은 고딕" pitchFamily="50" charset="-127"/>
              </a:rPr>
              <a:t> Minitab: </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Bench</a:t>
            </a:r>
            <a:r>
              <a:rPr lang="en-US" altLang="ko-KR" sz="1200" dirty="0">
                <a:latin typeface="arial" pitchFamily="34" charset="0"/>
                <a:ea typeface="맑은 고딕" pitchFamily="50" charset="-127"/>
              </a:rPr>
              <a:t> </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Rút</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ra</a:t>
            </a:r>
            <a:r>
              <a:rPr lang="en-US" altLang="ko-KR" sz="1200" dirty="0">
                <a:latin typeface="arial" pitchFamily="34" charset="0"/>
                <a:ea typeface="맑은 고딕" pitchFamily="50" charset="-127"/>
                <a:sym typeface="Wingdings" pitchFamily="2" charset="2"/>
              </a:rPr>
              <a:t> Z</a:t>
            </a:r>
            <a:r>
              <a:rPr lang="en-US" altLang="ko-KR" sz="1200" baseline="-25000" dirty="0">
                <a:latin typeface="arial" pitchFamily="34" charset="0"/>
                <a:ea typeface="맑은 고딕" pitchFamily="50" charset="-127"/>
                <a:sym typeface="Wingdings" pitchFamily="2" charset="2"/>
              </a:rPr>
              <a:t>LT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không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nhập</a:t>
            </a:r>
            <a:r>
              <a:rPr lang="en-US" altLang="ko-KR" sz="1200" dirty="0">
                <a:latin typeface="arial" pitchFamily="34" charset="0"/>
                <a:ea typeface="맑은 고딕" pitchFamily="50" charset="-127"/>
              </a:rPr>
              <a:t> target value</a:t>
            </a:r>
            <a:r>
              <a:rPr lang="ko-KR" altLang="en-US" sz="1200" dirty="0">
                <a:latin typeface="arial" pitchFamily="34" charset="0"/>
                <a:ea typeface="맑은 고딕" pitchFamily="50" charset="-127"/>
              </a:rPr>
              <a:t> </a:t>
            </a:r>
            <a:r>
              <a:rPr lang="ko-KR" altLang="en-US"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sử</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dụng</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giá</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trị</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trung</a:t>
            </a:r>
            <a:r>
              <a:rPr lang="en-US" altLang="ko-KR" sz="1200" dirty="0">
                <a:latin typeface="arial" pitchFamily="34" charset="0"/>
                <a:ea typeface="맑은 고딕" pitchFamily="50" charset="-127"/>
                <a:sym typeface="Wingdings" pitchFamily="2" charset="2"/>
              </a:rPr>
              <a:t> </a:t>
            </a:r>
            <a:r>
              <a:rPr lang="en-US" altLang="ko-KR" sz="1200" dirty="0" err="1">
                <a:latin typeface="arial" pitchFamily="34" charset="0"/>
                <a:ea typeface="맑은 고딕" pitchFamily="50" charset="-127"/>
                <a:sym typeface="Wingdings" pitchFamily="2" charset="2"/>
              </a:rPr>
              <a:t>bình</a:t>
            </a:r>
            <a:r>
              <a:rPr lang="en-US" altLang="ko-KR" sz="1200" dirty="0">
                <a:latin typeface="arial" pitchFamily="34" charset="0"/>
                <a:ea typeface="맑은 고딕" pitchFamily="50" charset="-127"/>
              </a:rPr>
              <a:t>)</a:t>
            </a:r>
          </a:p>
          <a:p>
            <a:pPr defTabSz="190500" eaLnBrk="0" hangingPunct="0">
              <a:lnSpc>
                <a:spcPct val="125000"/>
              </a:lnSpc>
              <a:buFont typeface="Wingdings" pitchFamily="2" charset="2"/>
              <a:buNone/>
            </a:pPr>
            <a:endParaRPr lang="en-US" altLang="ko-KR" sz="1200" dirty="0">
              <a:latin typeface="arial" pitchFamily="34" charset="0"/>
              <a:ea typeface="맑은 고딕" pitchFamily="50" charset="-127"/>
            </a:endParaRPr>
          </a:p>
        </p:txBody>
      </p:sp>
      <p:sp>
        <p:nvSpPr>
          <p:cNvPr id="308238" name="AutoShape 1065"/>
          <p:cNvSpPr>
            <a:spLocks noChangeArrowheads="1"/>
          </p:cNvSpPr>
          <p:nvPr/>
        </p:nvSpPr>
        <p:spPr bwMode="auto">
          <a:xfrm>
            <a:off x="2095500" y="3433763"/>
            <a:ext cx="1917700" cy="139700"/>
          </a:xfrm>
          <a:prstGeom prst="roundRect">
            <a:avLst>
              <a:gd name="adj" fmla="val 16667"/>
            </a:avLst>
          </a:prstGeom>
          <a:noFill/>
          <a:ln w="12700">
            <a:solidFill>
              <a:schemeClr val="accent2"/>
            </a:solidFill>
            <a:prstDash val="sysDot"/>
            <a:round/>
            <a:headEnd type="none" w="sm" len="sm"/>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08239" name="Line 1066"/>
          <p:cNvSpPr>
            <a:spLocks noChangeShapeType="1"/>
          </p:cNvSpPr>
          <p:nvPr/>
        </p:nvSpPr>
        <p:spPr bwMode="auto">
          <a:xfrm flipV="1">
            <a:off x="3060700" y="2841625"/>
            <a:ext cx="209550" cy="169863"/>
          </a:xfrm>
          <a:prstGeom prst="line">
            <a:avLst/>
          </a:prstGeom>
          <a:noFill/>
          <a:ln w="12700">
            <a:solidFill>
              <a:schemeClr val="accent2"/>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308240" name="Text Box 1067"/>
          <p:cNvSpPr txBox="1">
            <a:spLocks noChangeArrowheads="1"/>
          </p:cNvSpPr>
          <p:nvPr/>
        </p:nvSpPr>
        <p:spPr bwMode="auto">
          <a:xfrm>
            <a:off x="3270250" y="2619069"/>
            <a:ext cx="2474838" cy="445113"/>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wrap="square" lIns="90000" tIns="36000" rIns="90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r>
              <a:rPr lang="en-US" altLang="ko-KR" sz="1100" dirty="0" err="1">
                <a:latin typeface="arial" pitchFamily="34" charset="0"/>
                <a:ea typeface="맑은 고딕" pitchFamily="50" charset="-127"/>
              </a:rPr>
              <a:t>Dữ</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liệu</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thô</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cần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phân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tích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phải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đảm</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bảo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nằm</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trên</a:t>
            </a:r>
            <a:r>
              <a:rPr lang="en-US" altLang="ko-KR" sz="1100" dirty="0">
                <a:latin typeface="arial" pitchFamily="34" charset="0"/>
                <a:ea typeface="맑은 고딕" pitchFamily="50" charset="-127"/>
              </a:rPr>
              <a:t> 1 </a:t>
            </a:r>
            <a:r>
              <a:rPr lang="en-US" altLang="ko-KR" sz="1100" dirty="0" err="1">
                <a:latin typeface="arial" pitchFamily="34" charset="0"/>
                <a:ea typeface="맑은 고딕" pitchFamily="50" charset="-127"/>
              </a:rPr>
              <a:t>cột</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duy</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nhất</a:t>
            </a:r>
            <a:endParaRPr lang="ko-KR" altLang="en-US" sz="1100" dirty="0">
              <a:latin typeface="arial" pitchFamily="34" charset="0"/>
              <a:ea typeface="맑은 고딕" pitchFamily="50" charset="-127"/>
            </a:endParaRPr>
          </a:p>
        </p:txBody>
      </p:sp>
      <p:sp>
        <p:nvSpPr>
          <p:cNvPr id="308242" name="Text Box 1069"/>
          <p:cNvSpPr txBox="1">
            <a:spLocks noChangeArrowheads="1"/>
          </p:cNvSpPr>
          <p:nvPr/>
        </p:nvSpPr>
        <p:spPr bwMode="auto">
          <a:xfrm>
            <a:off x="4429125" y="4837874"/>
            <a:ext cx="774700" cy="211203"/>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lIns="18000" tIns="36000" rIns="18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90000"/>
              </a:lnSpc>
            </a:pPr>
            <a:r>
              <a:rPr lang="en-US" altLang="ko-KR" sz="1000" dirty="0" err="1">
                <a:latin typeface="arial" pitchFamily="34" charset="0"/>
                <a:ea typeface="맑은 고딕" pitchFamily="50" charset="-127"/>
              </a:rPr>
              <a:t>Không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nhập</a:t>
            </a:r>
            <a:endParaRPr lang="en-US" altLang="ko-KR" sz="1000" dirty="0">
              <a:latin typeface="arial" pitchFamily="34" charset="0"/>
              <a:ea typeface="맑은 고딕" pitchFamily="50" charset="-127"/>
            </a:endParaRPr>
          </a:p>
        </p:txBody>
      </p:sp>
      <p:sp>
        <p:nvSpPr>
          <p:cNvPr id="308243" name="Line 1070"/>
          <p:cNvSpPr>
            <a:spLocks noChangeShapeType="1"/>
          </p:cNvSpPr>
          <p:nvPr/>
        </p:nvSpPr>
        <p:spPr bwMode="auto">
          <a:xfrm flipH="1" flipV="1">
            <a:off x="3694113" y="4822825"/>
            <a:ext cx="738187" cy="87313"/>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8244" name="Line 1071"/>
          <p:cNvSpPr>
            <a:spLocks noChangeShapeType="1"/>
          </p:cNvSpPr>
          <p:nvPr/>
        </p:nvSpPr>
        <p:spPr bwMode="auto">
          <a:xfrm flipH="1">
            <a:off x="3694113" y="4957763"/>
            <a:ext cx="747712" cy="7937"/>
          </a:xfrm>
          <a:prstGeom prst="line">
            <a:avLst/>
          </a:prstGeom>
          <a:noFill/>
          <a:ln w="9525">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8245" name="Freeform 1073"/>
          <p:cNvSpPr>
            <a:spLocks/>
          </p:cNvSpPr>
          <p:nvPr/>
        </p:nvSpPr>
        <p:spPr bwMode="auto">
          <a:xfrm>
            <a:off x="4881563" y="3513138"/>
            <a:ext cx="268287" cy="244475"/>
          </a:xfrm>
          <a:custGeom>
            <a:avLst/>
            <a:gdLst>
              <a:gd name="T0" fmla="*/ 2147483647 w 1371"/>
              <a:gd name="T1" fmla="*/ 2147483647 h 2090"/>
              <a:gd name="T2" fmla="*/ 0 w 1371"/>
              <a:gd name="T3" fmla="*/ 2147483647 h 2090"/>
              <a:gd name="T4" fmla="*/ 2147483647 w 1371"/>
              <a:gd name="T5" fmla="*/ 2147483647 h 2090"/>
              <a:gd name="T6" fmla="*/ 2147483647 w 1371"/>
              <a:gd name="T7" fmla="*/ 2147483647 h 2090"/>
              <a:gd name="T8" fmla="*/ 2147483647 w 1371"/>
              <a:gd name="T9" fmla="*/ 0 h 2090"/>
              <a:gd name="T10" fmla="*/ 2147483647 w 1371"/>
              <a:gd name="T11" fmla="*/ 2147483647 h 2090"/>
              <a:gd name="T12" fmla="*/ 2147483647 w 1371"/>
              <a:gd name="T13" fmla="*/ 2147483647 h 209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71" h="2090">
                <a:moveTo>
                  <a:pt x="155" y="974"/>
                </a:moveTo>
                <a:lnTo>
                  <a:pt x="0" y="1541"/>
                </a:lnTo>
                <a:lnTo>
                  <a:pt x="529" y="2090"/>
                </a:lnTo>
                <a:lnTo>
                  <a:pt x="1371" y="244"/>
                </a:lnTo>
                <a:lnTo>
                  <a:pt x="1371" y="0"/>
                </a:lnTo>
                <a:lnTo>
                  <a:pt x="432" y="1557"/>
                </a:lnTo>
                <a:lnTo>
                  <a:pt x="155" y="97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308246" name="Line 1074"/>
          <p:cNvSpPr>
            <a:spLocks noChangeShapeType="1"/>
          </p:cNvSpPr>
          <p:nvPr/>
        </p:nvSpPr>
        <p:spPr bwMode="auto">
          <a:xfrm rot="-5400000">
            <a:off x="5362575" y="3505200"/>
            <a:ext cx="0" cy="393700"/>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dirty="0"/>
          </a:p>
        </p:txBody>
      </p:sp>
      <p:sp>
        <p:nvSpPr>
          <p:cNvPr id="308247" name="Freeform 1075"/>
          <p:cNvSpPr>
            <a:spLocks/>
          </p:cNvSpPr>
          <p:nvPr/>
        </p:nvSpPr>
        <p:spPr bwMode="auto">
          <a:xfrm>
            <a:off x="8767763" y="4765675"/>
            <a:ext cx="268287" cy="244475"/>
          </a:xfrm>
          <a:custGeom>
            <a:avLst/>
            <a:gdLst>
              <a:gd name="T0" fmla="*/ 2147483647 w 1371"/>
              <a:gd name="T1" fmla="*/ 2147483647 h 2090"/>
              <a:gd name="T2" fmla="*/ 0 w 1371"/>
              <a:gd name="T3" fmla="*/ 2147483647 h 2090"/>
              <a:gd name="T4" fmla="*/ 2147483647 w 1371"/>
              <a:gd name="T5" fmla="*/ 2147483647 h 2090"/>
              <a:gd name="T6" fmla="*/ 2147483647 w 1371"/>
              <a:gd name="T7" fmla="*/ 2147483647 h 2090"/>
              <a:gd name="T8" fmla="*/ 2147483647 w 1371"/>
              <a:gd name="T9" fmla="*/ 0 h 2090"/>
              <a:gd name="T10" fmla="*/ 2147483647 w 1371"/>
              <a:gd name="T11" fmla="*/ 2147483647 h 2090"/>
              <a:gd name="T12" fmla="*/ 2147483647 w 1371"/>
              <a:gd name="T13" fmla="*/ 2147483647 h 209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71" h="2090">
                <a:moveTo>
                  <a:pt x="155" y="974"/>
                </a:moveTo>
                <a:lnTo>
                  <a:pt x="0" y="1541"/>
                </a:lnTo>
                <a:lnTo>
                  <a:pt x="529" y="2090"/>
                </a:lnTo>
                <a:lnTo>
                  <a:pt x="1371" y="244"/>
                </a:lnTo>
                <a:lnTo>
                  <a:pt x="1371" y="0"/>
                </a:lnTo>
                <a:lnTo>
                  <a:pt x="432" y="1557"/>
                </a:lnTo>
                <a:lnTo>
                  <a:pt x="155" y="97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dirty="0"/>
          </a:p>
        </p:txBody>
      </p:sp>
      <p:sp>
        <p:nvSpPr>
          <p:cNvPr id="308248" name="Text Box 1076"/>
          <p:cNvSpPr txBox="1">
            <a:spLocks noChangeArrowheads="1"/>
          </p:cNvSpPr>
          <p:nvPr/>
        </p:nvSpPr>
        <p:spPr bwMode="auto">
          <a:xfrm>
            <a:off x="7626350" y="4378322"/>
            <a:ext cx="2129407" cy="244481"/>
          </a:xfrm>
          <a:prstGeom prst="rect">
            <a:avLst/>
          </a:prstGeom>
          <a:solidFill>
            <a:schemeClr val="bg1"/>
          </a:solidFill>
          <a:ln w="9525">
            <a:solidFill>
              <a:schemeClr val="accent2"/>
            </a:solidFill>
            <a:miter lim="800000"/>
            <a:headEnd/>
            <a:tailEnd/>
          </a:ln>
          <a:effectLst>
            <a:outerShdw dist="35921" dir="2700000" algn="ctr" rotWithShape="0">
              <a:schemeClr val="bg2"/>
            </a:outerShdw>
          </a:effectLst>
        </p:spPr>
        <p:txBody>
          <a:bodyPr wrap="none" lIns="90000" tIns="36000" rIns="90000" bIns="36000"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r>
              <a:rPr lang="en-US" altLang="ko-KR" sz="1100" dirty="0" err="1">
                <a:latin typeface="arial" pitchFamily="34" charset="0"/>
                <a:ea typeface="맑은 고딕" pitchFamily="50" charset="-127"/>
              </a:rPr>
              <a:t>Tích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vào</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để</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tình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ra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Z</a:t>
            </a:r>
            <a:r>
              <a:rPr lang="en-US" altLang="ko-KR" sz="1100" baseline="-25000" dirty="0" err="1">
                <a:latin typeface="arial" pitchFamily="34" charset="0"/>
                <a:ea typeface="맑은 고딕" pitchFamily="50" charset="-127"/>
              </a:rPr>
              <a:t>Bench</a:t>
            </a:r>
            <a:endParaRPr lang="en-US" altLang="ko-KR" sz="1100" baseline="-25000" dirty="0">
              <a:latin typeface="arial" pitchFamily="34" charset="0"/>
              <a:ea typeface="맑은 고딕" pitchFamily="50" charset="-127"/>
            </a:endParaRPr>
          </a:p>
        </p:txBody>
      </p:sp>
      <p:pic>
        <p:nvPicPr>
          <p:cNvPr id="29" name="Picture 3"/>
          <p:cNvPicPr>
            <a:picLocks noChangeAspect="1" noChangeArrowheads="1"/>
          </p:cNvPicPr>
          <p:nvPr/>
        </p:nvPicPr>
        <p:blipFill>
          <a:blip r:embed="rId6" cstate="print"/>
          <a:srcRect/>
          <a:stretch>
            <a:fillRect/>
          </a:stretch>
        </p:blipFill>
        <p:spPr bwMode="auto">
          <a:xfrm>
            <a:off x="1000125" y="1865313"/>
            <a:ext cx="638175" cy="20955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 name="Picture 3"/>
          <p:cNvPicPr>
            <a:picLocks noChangeAspect="1" noChangeArrowheads="1"/>
          </p:cNvPicPr>
          <p:nvPr/>
        </p:nvPicPr>
        <p:blipFill>
          <a:blip r:embed="rId6" cstate="print"/>
          <a:srcRect/>
          <a:stretch>
            <a:fillRect/>
          </a:stretch>
        </p:blipFill>
        <p:spPr bwMode="auto">
          <a:xfrm>
            <a:off x="1000125" y="2122488"/>
            <a:ext cx="638175" cy="20955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8252" name="Rectangle 1055"/>
          <p:cNvSpPr>
            <a:spLocks noChangeArrowheads="1"/>
          </p:cNvSpPr>
          <p:nvPr/>
        </p:nvSpPr>
        <p:spPr bwMode="auto">
          <a:xfrm>
            <a:off x="263525" y="260350"/>
            <a:ext cx="5193531"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762000"/>
            <a:r>
              <a:rPr lang="en-US" altLang="ko-KR" sz="2000" b="1" dirty="0">
                <a:latin typeface="arial" pitchFamily="34" charset="0"/>
                <a:ea typeface="맑은 고딕" pitchFamily="50" charset="-127"/>
              </a:rPr>
              <a:t> 3. </a:t>
            </a:r>
            <a:r>
              <a:rPr lang="en-US" altLang="ko-KR" sz="2000" b="1" dirty="0" err="1">
                <a:latin typeface="arial" pitchFamily="34" charset="0"/>
                <a:ea typeface="맑은 고딕" pitchFamily="50" charset="-127"/>
              </a:rPr>
              <a:t>Đánh</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giá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pic>
        <p:nvPicPr>
          <p:cNvPr id="28" name="Picture 67"/>
          <p:cNvPicPr>
            <a:picLocks noChangeAspect="1" noChangeArrowheads="1"/>
          </p:cNvPicPr>
          <p:nvPr/>
        </p:nvPicPr>
        <p:blipFill>
          <a:blip r:embed="rId7" cstate="print">
            <a:extLst>
              <a:ext uri="{28A0092B-C50C-407E-A947-70E740481C1C}">
                <a14:useLocalDpi xmlns:a14="http://schemas.microsoft.com/office/drawing/2010/main"/>
              </a:ext>
            </a:extLst>
          </a:blip>
          <a:srcRect/>
          <a:stretch>
            <a:fillRect/>
          </a:stretch>
        </p:blipFill>
        <p:spPr bwMode="auto">
          <a:xfrm>
            <a:off x="9201472" y="81803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233</a:t>
            </a:fld>
            <a:endParaRPr lang="ko-KR" altLang="en-US" dirty="0"/>
          </a:p>
        </p:txBody>
      </p:sp>
    </p:spTree>
    <p:extLst>
      <p:ext uri="{BB962C8B-B14F-4D97-AF65-F5344CB8AC3E}">
        <p14:creationId xmlns:p14="http://schemas.microsoft.com/office/powerpoint/2010/main" val="581377790"/>
      </p:ext>
    </p:extLst>
  </p:cSld>
  <p:clrMapOvr>
    <a:masterClrMapping/>
  </p:clrMapOvr>
  <p:transition spd="slow"/>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9250"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222500" y="1350963"/>
            <a:ext cx="6340475" cy="420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309252" name="Text Box 20"/>
          <p:cNvSpPr txBox="1">
            <a:spLocks noChangeArrowheads="1"/>
          </p:cNvSpPr>
          <p:nvPr/>
        </p:nvSpPr>
        <p:spPr bwMode="auto">
          <a:xfrm>
            <a:off x="1928664" y="5516794"/>
            <a:ext cx="7704856" cy="938719"/>
          </a:xfrm>
          <a:prstGeom prst="rect">
            <a:avLst/>
          </a:prstGeom>
          <a:solidFill>
            <a:srgbClr val="FFFFCC"/>
          </a:solidFill>
          <a:ln w="9525">
            <a:solidFill>
              <a:schemeClr val="tx1"/>
            </a:solidFill>
            <a:miter lim="800000"/>
            <a:headEnd/>
            <a:tailEnd/>
          </a:ln>
          <a:effectLst>
            <a:outerShdw dist="35921" dir="2700000" algn="ctr" rotWithShape="0">
              <a:schemeClr val="bg2"/>
            </a:outerShdw>
          </a:effectLst>
        </p:spPr>
        <p:txBody>
          <a:bodyPr wrap="square"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Chỉ</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số</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năng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lực</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quá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trình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ngắn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hạn</a:t>
            </a:r>
            <a:r>
              <a:rPr lang="en-US" altLang="ko-KR" sz="1100" dirty="0">
                <a:latin typeface="arial" pitchFamily="34" charset="0"/>
                <a:ea typeface="맑은 고딕" pitchFamily="50" charset="-127"/>
              </a:rPr>
              <a:t> (Z</a:t>
            </a:r>
            <a:r>
              <a:rPr lang="en-US" altLang="ko-KR" sz="1100" baseline="-25000" dirty="0">
                <a:latin typeface="arial" pitchFamily="34" charset="0"/>
                <a:ea typeface="맑은 고딕" pitchFamily="50" charset="-127"/>
              </a:rPr>
              <a:t>ST</a:t>
            </a:r>
            <a:r>
              <a:rPr lang="en-US" altLang="ko-KR" sz="1100" dirty="0">
                <a:latin typeface="arial" pitchFamily="34" charset="0"/>
                <a:ea typeface="맑은 고딕" pitchFamily="50" charset="-127"/>
              </a:rPr>
              <a:t>) </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nhập</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giá</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trị</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mục</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tiêu</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vào</a:t>
            </a:r>
            <a:r>
              <a:rPr lang="en-US" altLang="ko-KR" sz="1100" dirty="0">
                <a:latin typeface="arial" pitchFamily="34" charset="0"/>
                <a:ea typeface="맑은 고딕" pitchFamily="50" charset="-127"/>
                <a:sym typeface="Wingdings" pitchFamily="2" charset="2"/>
              </a:rPr>
              <a:t> historical mean </a:t>
            </a:r>
            <a:r>
              <a:rPr lang="ko-KR" altLang="en-US" sz="1100" dirty="0">
                <a:latin typeface="arial" pitchFamily="34" charset="0"/>
                <a:ea typeface="맑은 고딕" pitchFamily="50" charset="-127"/>
                <a:sym typeface="Wingdings" pitchFamily="2" charset="2"/>
              </a:rPr>
              <a:t></a:t>
            </a: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Z</a:t>
            </a:r>
            <a:r>
              <a:rPr lang="en-US" altLang="ko-KR" sz="1100" baseline="-25000" dirty="0" err="1">
                <a:latin typeface="arial" pitchFamily="34" charset="0"/>
                <a:ea typeface="맑은 고딕" pitchFamily="50" charset="-127"/>
              </a:rPr>
              <a:t>Bench</a:t>
            </a:r>
            <a:r>
              <a:rPr lang="en-US" altLang="ko-KR" sz="1100" dirty="0">
                <a:latin typeface="arial" pitchFamily="34" charset="0"/>
                <a:ea typeface="맑은 고딕" pitchFamily="50" charset="-127"/>
              </a:rPr>
              <a:t> = 2.13 (Within) </a:t>
            </a:r>
          </a:p>
          <a:p>
            <a:pPr eaLnBrk="1" hangingPunct="1"/>
            <a:r>
              <a:rPr lang="en-US" altLang="ko-KR" sz="1100" dirty="0">
                <a:latin typeface="arial" pitchFamily="34" charset="0"/>
                <a:ea typeface="맑은 고딕" pitchFamily="50" charset="-127"/>
              </a:rPr>
              <a:t>   ← </a:t>
            </a:r>
            <a:r>
              <a:rPr lang="en-US" altLang="ko-KR" sz="1100" dirty="0" err="1">
                <a:latin typeface="arial" pitchFamily="34" charset="0"/>
                <a:ea typeface="맑은 고딕" pitchFamily="50" charset="-127"/>
              </a:rPr>
              <a:t>không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tồn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tại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xu</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hướng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Không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tập</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trung</a:t>
            </a:r>
            <a:r>
              <a:rPr lang="en-US" altLang="ko-KR" sz="1100" dirty="0">
                <a:latin typeface="arial" pitchFamily="34" charset="0"/>
                <a:ea typeface="맑은 고딕" pitchFamily="50" charset="-127"/>
              </a:rPr>
              <a:t>.</a:t>
            </a:r>
            <a:endParaRPr lang="ko-KR" altLang="en-US" sz="1100" dirty="0">
              <a:latin typeface="arial" pitchFamily="34" charset="0"/>
              <a:ea typeface="맑은 고딕" pitchFamily="50" charset="-127"/>
            </a:endParaRPr>
          </a:p>
          <a:p>
            <a:pPr eaLnBrk="1" hangingPunct="1">
              <a:buFont typeface="Wingdings" pitchFamily="2" charset="2"/>
              <a:buChar char="§"/>
            </a:pP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Chỉ</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số</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năng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lực</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quá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trình</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dài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hạn</a:t>
            </a:r>
            <a:r>
              <a:rPr lang="en-US" altLang="ko-KR" sz="1100" dirty="0">
                <a:latin typeface="arial" pitchFamily="34" charset="0"/>
                <a:ea typeface="맑은 고딕" pitchFamily="50" charset="-127"/>
              </a:rPr>
              <a:t> (Z</a:t>
            </a:r>
            <a:r>
              <a:rPr lang="en-US" altLang="ko-KR" sz="1100" baseline="-25000" dirty="0">
                <a:latin typeface="arial" pitchFamily="34" charset="0"/>
                <a:ea typeface="맑은 고딕" pitchFamily="50" charset="-127"/>
              </a:rPr>
              <a:t>LT</a:t>
            </a:r>
            <a:r>
              <a:rPr lang="en-US" altLang="ko-KR" sz="1100" dirty="0">
                <a:latin typeface="arial" pitchFamily="34" charset="0"/>
                <a:ea typeface="맑은 고딕" pitchFamily="50" charset="-127"/>
              </a:rPr>
              <a:t>) </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không</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nhập</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giá</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trị</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mục</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tiêu</a:t>
            </a:r>
            <a:r>
              <a:rPr lang="en-US" altLang="ko-KR" sz="1100" dirty="0">
                <a:latin typeface="arial" pitchFamily="34" charset="0"/>
                <a:ea typeface="맑은 고딕" pitchFamily="50" charset="-127"/>
                <a:sym typeface="Wingdings" pitchFamily="2" charset="2"/>
              </a:rPr>
              <a:t> </a:t>
            </a:r>
            <a:r>
              <a:rPr lang="en-US" altLang="ko-KR" sz="1100" dirty="0" err="1">
                <a:latin typeface="arial" pitchFamily="34" charset="0"/>
                <a:ea typeface="맑은 고딕" pitchFamily="50" charset="-127"/>
                <a:sym typeface="Wingdings" pitchFamily="2" charset="2"/>
              </a:rPr>
              <a:t>vào</a:t>
            </a:r>
            <a:r>
              <a:rPr lang="en-US" altLang="ko-KR" sz="1100" dirty="0">
                <a:latin typeface="arial" pitchFamily="34" charset="0"/>
                <a:ea typeface="맑은 고딕" pitchFamily="50" charset="-127"/>
                <a:sym typeface="Wingdings" pitchFamily="2" charset="2"/>
              </a:rPr>
              <a:t> historical mean</a:t>
            </a:r>
            <a:r>
              <a:rPr lang="ko-KR" altLang="en-US" sz="1100" dirty="0">
                <a:latin typeface="arial" pitchFamily="34" charset="0"/>
                <a:ea typeface="맑은 고딕" pitchFamily="50" charset="-127"/>
                <a:sym typeface="Wingdings" pitchFamily="2" charset="2"/>
              </a:rPr>
              <a:t> </a:t>
            </a:r>
            <a:r>
              <a:rPr lang="ko-KR" altLang="en-US" sz="1100" dirty="0">
                <a:latin typeface="arial" pitchFamily="34" charset="0"/>
                <a:ea typeface="맑은 고딕" pitchFamily="50" charset="-127"/>
              </a:rPr>
              <a:t> </a:t>
            </a:r>
            <a:r>
              <a:rPr lang="en-US" altLang="ko-KR" sz="1100" dirty="0" err="1">
                <a:latin typeface="arial" pitchFamily="34" charset="0"/>
                <a:ea typeface="맑은 고딕" pitchFamily="50" charset="-127"/>
              </a:rPr>
              <a:t>Z</a:t>
            </a:r>
            <a:r>
              <a:rPr lang="en-US" altLang="ko-KR" sz="1100" baseline="-25000" dirty="0" err="1">
                <a:latin typeface="arial" pitchFamily="34" charset="0"/>
                <a:ea typeface="맑은 고딕" pitchFamily="50" charset="-127"/>
              </a:rPr>
              <a:t>Bench</a:t>
            </a:r>
            <a:r>
              <a:rPr lang="en-US" altLang="ko-KR" sz="1100" dirty="0">
                <a:latin typeface="arial" pitchFamily="34" charset="0"/>
                <a:ea typeface="맑은 고딕" pitchFamily="50" charset="-127"/>
              </a:rPr>
              <a:t> = 1.82 (Overall) </a:t>
            </a:r>
          </a:p>
          <a:p>
            <a:pPr eaLnBrk="1" hangingPunct="1"/>
            <a:r>
              <a:rPr lang="en-US" altLang="ko-KR" sz="1100" dirty="0">
                <a:latin typeface="arial" pitchFamily="34" charset="0"/>
                <a:ea typeface="맑은 고딕" pitchFamily="50" charset="-127"/>
              </a:rPr>
              <a:t>   ← </a:t>
            </a:r>
            <a:r>
              <a:rPr lang="en-US" altLang="ko-KR" sz="1100" dirty="0" err="1">
                <a:latin typeface="arial" pitchFamily="34" charset="0"/>
                <a:ea typeface="맑은 고딕" pitchFamily="50" charset="-127"/>
              </a:rPr>
              <a:t>tồn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tại</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xu</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hướng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Không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tập</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trung</a:t>
            </a:r>
            <a:r>
              <a:rPr lang="en-US" altLang="ko-KR" sz="1100" dirty="0">
                <a:latin typeface="arial" pitchFamily="34" charset="0"/>
                <a:ea typeface="맑은 고딕" pitchFamily="50" charset="-127"/>
              </a:rPr>
              <a:t>.</a:t>
            </a:r>
            <a:endParaRPr lang="ko-KR" altLang="en-US" sz="1100" dirty="0">
              <a:latin typeface="arial" pitchFamily="34" charset="0"/>
              <a:ea typeface="맑은 고딕" pitchFamily="50" charset="-127"/>
            </a:endParaRPr>
          </a:p>
          <a:p>
            <a:pPr eaLnBrk="1" hangingPunct="1">
              <a:buFont typeface="Wingdings" pitchFamily="2" charset="2"/>
              <a:buChar char="§"/>
            </a:pP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Z</a:t>
            </a:r>
            <a:r>
              <a:rPr lang="en-US" altLang="ko-KR" sz="1100" baseline="-25000" dirty="0">
                <a:latin typeface="arial" pitchFamily="34" charset="0"/>
                <a:ea typeface="맑은 고딕" pitchFamily="50" charset="-127"/>
              </a:rPr>
              <a:t>Shift</a:t>
            </a:r>
            <a:r>
              <a:rPr lang="en-US" altLang="ko-KR" sz="1100" dirty="0">
                <a:latin typeface="arial" pitchFamily="34" charset="0"/>
                <a:ea typeface="맑은 고딕" pitchFamily="50" charset="-127"/>
              </a:rPr>
              <a:t> = Z</a:t>
            </a:r>
            <a:r>
              <a:rPr lang="en-US" altLang="ko-KR" sz="1100" baseline="-25000" dirty="0">
                <a:latin typeface="arial" pitchFamily="34" charset="0"/>
                <a:ea typeface="맑은 고딕" pitchFamily="50" charset="-127"/>
              </a:rPr>
              <a:t>ST</a:t>
            </a:r>
            <a:r>
              <a:rPr lang="en-US" altLang="ko-KR" sz="1100" dirty="0">
                <a:latin typeface="arial" pitchFamily="34" charset="0"/>
                <a:ea typeface="맑은 고딕" pitchFamily="50" charset="-127"/>
              </a:rPr>
              <a:t> - Z</a:t>
            </a:r>
            <a:r>
              <a:rPr lang="en-US" altLang="ko-KR" sz="1100" baseline="-25000" dirty="0">
                <a:latin typeface="arial" pitchFamily="34" charset="0"/>
                <a:ea typeface="맑은 고딕" pitchFamily="50" charset="-127"/>
              </a:rPr>
              <a:t>LT</a:t>
            </a:r>
            <a:r>
              <a:rPr lang="en-US" altLang="ko-KR" sz="1100" dirty="0">
                <a:latin typeface="arial" pitchFamily="34" charset="0"/>
                <a:ea typeface="맑은 고딕" pitchFamily="50" charset="-127"/>
              </a:rPr>
              <a:t> = 2.13 - 1.82 = 0.31</a:t>
            </a:r>
          </a:p>
        </p:txBody>
      </p:sp>
      <p:sp>
        <p:nvSpPr>
          <p:cNvPr id="309253" name="Rectangle 21"/>
          <p:cNvSpPr>
            <a:spLocks noChangeArrowheads="1"/>
          </p:cNvSpPr>
          <p:nvPr/>
        </p:nvSpPr>
        <p:spPr bwMode="auto">
          <a:xfrm>
            <a:off x="431800" y="1027113"/>
            <a:ext cx="4593208" cy="30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190500" eaLnBrk="0" hangingPunct="0">
              <a:lnSpc>
                <a:spcPct val="125000"/>
              </a:lnSpc>
              <a:buFont typeface="Wingdings" pitchFamily="2" charset="2"/>
              <a:buChar char="Ø"/>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Kết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ko-KR" altLang="en-US" sz="1200" dirty="0">
                <a:latin typeface="arial" pitchFamily="34" charset="0"/>
                <a:ea typeface="맑은 고딕" pitchFamily="50" charset="-127"/>
              </a:rPr>
              <a:t> </a:t>
            </a:r>
            <a:r>
              <a:rPr lang="en-US" altLang="ko-KR" sz="1200" dirty="0">
                <a:latin typeface="arial" pitchFamily="34" charset="0"/>
                <a:ea typeface="맑은 고딕" pitchFamily="50" charset="-127"/>
              </a:rPr>
              <a:t>(</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Bench</a:t>
            </a:r>
            <a:r>
              <a:rPr lang="en-US" altLang="ko-KR" sz="1200" dirty="0">
                <a:latin typeface="arial" pitchFamily="34" charset="0"/>
                <a:ea typeface="맑은 고딕" pitchFamily="50" charset="-127"/>
              </a:rPr>
              <a:t>)</a:t>
            </a:r>
          </a:p>
        </p:txBody>
      </p:sp>
      <p:sp>
        <p:nvSpPr>
          <p:cNvPr id="309255" name="Rectangle 24"/>
          <p:cNvSpPr>
            <a:spLocks noChangeArrowheads="1"/>
          </p:cNvSpPr>
          <p:nvPr/>
        </p:nvSpPr>
        <p:spPr bwMode="auto">
          <a:xfrm>
            <a:off x="8485188" y="1979575"/>
            <a:ext cx="1339850" cy="1505027"/>
          </a:xfrm>
          <a:prstGeom prst="rect">
            <a:avLst/>
          </a:prstGeom>
          <a:solidFill>
            <a:schemeClr val="tx2">
              <a:lumMod val="20000"/>
              <a:lumOff val="80000"/>
            </a:schemeClr>
          </a:solidFill>
          <a:ln w="9525">
            <a:solidFill>
              <a:srgbClr val="FF0033"/>
            </a:solidFill>
            <a:miter lim="800000"/>
            <a:headEnd/>
            <a:tailEnd/>
          </a:ln>
          <a:effectLst/>
        </p:spPr>
        <p:txBody>
          <a:bodyPr lIns="54000" rIns="54000" anchor="ctr">
            <a:spAutoFit/>
          </a:bodyPr>
          <a:lstStyle/>
          <a:p>
            <a:pPr>
              <a:lnSpc>
                <a:spcPct val="90000"/>
              </a:lnSpc>
            </a:pPr>
            <a:r>
              <a:rPr lang="en-US" altLang="ko-KR" sz="900" dirty="0">
                <a:latin typeface="arial" pitchFamily="34" charset="0"/>
                <a:ea typeface="맑은 고딕" pitchFamily="50" charset="-127"/>
              </a:rPr>
              <a:t>Long term process capability(</a:t>
            </a:r>
            <a:r>
              <a:rPr lang="en-US" altLang="ko-KR" sz="900" dirty="0" err="1">
                <a:latin typeface="arial" pitchFamily="34" charset="0"/>
                <a:ea typeface="맑은 고딕" pitchFamily="50" charset="-127"/>
              </a:rPr>
              <a:t>σ</a:t>
            </a:r>
            <a:r>
              <a:rPr lang="en-US" altLang="ko-KR" sz="900" baseline="-25000" dirty="0" err="1">
                <a:latin typeface="arial" pitchFamily="34" charset="0"/>
                <a:ea typeface="맑은 고딕" pitchFamily="50" charset="-127"/>
              </a:rPr>
              <a:t>LT</a:t>
            </a:r>
            <a:r>
              <a:rPr lang="en-US" altLang="ko-KR" sz="900" dirty="0">
                <a:latin typeface="arial" pitchFamily="34" charset="0"/>
                <a:ea typeface="맑은 고딕" pitchFamily="50" charset="-127"/>
              </a:rPr>
              <a:t>)</a:t>
            </a:r>
          </a:p>
          <a:p>
            <a:pPr>
              <a:lnSpc>
                <a:spcPct val="90000"/>
              </a:lnSpc>
            </a:pPr>
            <a:endParaRPr lang="en-US" altLang="ko-KR" sz="900" dirty="0">
              <a:latin typeface="arial" pitchFamily="34" charset="0"/>
              <a:ea typeface="맑은 고딕" pitchFamily="50" charset="-127"/>
            </a:endParaRPr>
          </a:p>
          <a:p>
            <a:pPr>
              <a:buFontTx/>
              <a:buChar char="•"/>
            </a:pPr>
            <a:r>
              <a:rPr lang="en-US" altLang="ko-KR" sz="900" dirty="0">
                <a:latin typeface="arial" pitchFamily="34" charset="0"/>
                <a:ea typeface="맑은 고딕" pitchFamily="50" charset="-127"/>
              </a:rPr>
              <a:t>Z</a:t>
            </a:r>
            <a:r>
              <a:rPr lang="en-US" altLang="ko-KR" sz="900" baseline="-25000" dirty="0">
                <a:latin typeface="arial" pitchFamily="34" charset="0"/>
                <a:ea typeface="맑은 고딕" pitchFamily="50" charset="-127"/>
              </a:rPr>
              <a:t>Bench </a:t>
            </a:r>
            <a:r>
              <a:rPr lang="en-US" altLang="ko-KR" sz="900" dirty="0">
                <a:latin typeface="arial" pitchFamily="34" charset="0"/>
                <a:ea typeface="맑은 고딕" pitchFamily="50" charset="-127"/>
              </a:rPr>
              <a:t>: (P</a:t>
            </a:r>
            <a:r>
              <a:rPr lang="en-US" altLang="ko-KR" sz="900" baseline="-25000" dirty="0">
                <a:latin typeface="arial" pitchFamily="34" charset="0"/>
                <a:ea typeface="맑은 고딕" pitchFamily="50" charset="-127"/>
              </a:rPr>
              <a:t>pk</a:t>
            </a:r>
            <a:r>
              <a:rPr lang="en-US" altLang="ko-KR" sz="900" dirty="0">
                <a:latin typeface="arial" pitchFamily="34" charset="0"/>
                <a:ea typeface="맑은 고딕" pitchFamily="50" charset="-127"/>
              </a:rPr>
              <a:t>)</a:t>
            </a:r>
            <a:r>
              <a:rPr lang="en-US" altLang="ko-KR" sz="900" dirty="0">
                <a:latin typeface="arial" pitchFamily="34" charset="0"/>
                <a:ea typeface="맑은 고딕" pitchFamily="50" charset="-127"/>
                <a:sym typeface="Wingdings" pitchFamily="2" charset="2"/>
              </a:rPr>
              <a:t> Z</a:t>
            </a:r>
            <a:r>
              <a:rPr lang="en-US" altLang="ko-KR" sz="900" baseline="-25000" dirty="0">
                <a:latin typeface="arial" pitchFamily="34" charset="0"/>
                <a:ea typeface="맑은 고딕" pitchFamily="50" charset="-127"/>
                <a:sym typeface="Wingdings" pitchFamily="2" charset="2"/>
              </a:rPr>
              <a:t>LT</a:t>
            </a:r>
            <a:r>
              <a:rPr lang="ko-KR" altLang="en-US" sz="900" dirty="0">
                <a:latin typeface="arial" pitchFamily="34" charset="0"/>
                <a:ea typeface="맑은 고딕" pitchFamily="50" charset="-127"/>
                <a:sym typeface="Wingdings" pitchFamily="2" charset="2"/>
              </a:rPr>
              <a:t> </a:t>
            </a:r>
            <a:r>
              <a:rPr lang="en-US" altLang="ko-KR" sz="900" dirty="0">
                <a:latin typeface="arial" pitchFamily="34" charset="0"/>
                <a:ea typeface="맑은 고딕" pitchFamily="50" charset="-127"/>
                <a:sym typeface="Wingdings" pitchFamily="2" charset="2"/>
              </a:rPr>
              <a:t>value derived for non-centered distribution</a:t>
            </a:r>
            <a:endParaRPr lang="ko-KR" altLang="en-US" sz="900" dirty="0">
              <a:latin typeface="arial" pitchFamily="34" charset="0"/>
              <a:ea typeface="맑은 고딕" pitchFamily="50" charset="-127"/>
            </a:endParaRPr>
          </a:p>
          <a:p>
            <a:pPr>
              <a:lnSpc>
                <a:spcPct val="90000"/>
              </a:lnSpc>
              <a:buFontTx/>
              <a:buChar char="•"/>
            </a:pPr>
            <a:endParaRPr lang="ko-KR" altLang="en-US" sz="900" dirty="0">
              <a:latin typeface="arial" pitchFamily="34" charset="0"/>
              <a:ea typeface="맑은 고딕" pitchFamily="50" charset="-127"/>
            </a:endParaRPr>
          </a:p>
          <a:p>
            <a:pPr>
              <a:lnSpc>
                <a:spcPct val="90000"/>
              </a:lnSpc>
              <a:buFontTx/>
              <a:buChar char="•"/>
            </a:pPr>
            <a:r>
              <a:rPr lang="en-US" altLang="ko-KR" sz="900" dirty="0">
                <a:latin typeface="arial" pitchFamily="34" charset="0"/>
                <a:ea typeface="맑은 고딕" pitchFamily="50" charset="-127"/>
              </a:rPr>
              <a:t>P</a:t>
            </a:r>
            <a:r>
              <a:rPr lang="en-US" altLang="ko-KR" sz="900" baseline="-25000" dirty="0">
                <a:latin typeface="arial" pitchFamily="34" charset="0"/>
                <a:ea typeface="맑은 고딕" pitchFamily="50" charset="-127"/>
              </a:rPr>
              <a:t>pk</a:t>
            </a:r>
            <a:r>
              <a:rPr lang="en-US" altLang="ko-KR" sz="900" dirty="0">
                <a:latin typeface="arial" pitchFamily="34" charset="0"/>
                <a:ea typeface="맑은 고딕" pitchFamily="50" charset="-127"/>
              </a:rPr>
              <a:t> : process performance index for non-centered distribution</a:t>
            </a:r>
            <a:endParaRPr lang="ko-KR" altLang="en-US" sz="900" dirty="0">
              <a:latin typeface="arial" pitchFamily="34" charset="0"/>
              <a:ea typeface="맑은 고딕" pitchFamily="50" charset="-127"/>
            </a:endParaRPr>
          </a:p>
        </p:txBody>
      </p:sp>
      <p:sp>
        <p:nvSpPr>
          <p:cNvPr id="309256" name="Line 26"/>
          <p:cNvSpPr>
            <a:spLocks noChangeShapeType="1"/>
          </p:cNvSpPr>
          <p:nvPr/>
        </p:nvSpPr>
        <p:spPr bwMode="auto">
          <a:xfrm>
            <a:off x="7004050" y="2314575"/>
            <a:ext cx="1308100" cy="0"/>
          </a:xfrm>
          <a:prstGeom prst="line">
            <a:avLst/>
          </a:prstGeom>
          <a:noFill/>
          <a:ln w="952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09257" name="AutoShape 27"/>
          <p:cNvSpPr>
            <a:spLocks noChangeArrowheads="1"/>
          </p:cNvSpPr>
          <p:nvPr/>
        </p:nvSpPr>
        <p:spPr bwMode="auto">
          <a:xfrm>
            <a:off x="6985000" y="2427764"/>
            <a:ext cx="1277938" cy="408623"/>
          </a:xfrm>
          <a:prstGeom prst="roundRect">
            <a:avLst>
              <a:gd name="adj" fmla="val 16667"/>
            </a:avLst>
          </a:prstGeom>
          <a:noFill/>
          <a:ln w="9525">
            <a:solidFill>
              <a:srgbClr val="FF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ko-KR" altLang="en-US" dirty="0">
              <a:latin typeface="arial" pitchFamily="34" charset="0"/>
              <a:ea typeface="맑은 고딕" pitchFamily="50" charset="-127"/>
            </a:endParaRPr>
          </a:p>
        </p:txBody>
      </p:sp>
      <p:sp>
        <p:nvSpPr>
          <p:cNvPr id="309258" name="Rectangle 29"/>
          <p:cNvSpPr>
            <a:spLocks noChangeArrowheads="1"/>
          </p:cNvSpPr>
          <p:nvPr/>
        </p:nvSpPr>
        <p:spPr bwMode="auto">
          <a:xfrm>
            <a:off x="8497888" y="2335213"/>
            <a:ext cx="1314450" cy="517723"/>
          </a:xfrm>
          <a:prstGeom prst="rect">
            <a:avLst/>
          </a:prstGeom>
          <a:noFill/>
          <a:ln w="28575">
            <a:solidFill>
              <a:srgbClr val="FF0033"/>
            </a:solidFill>
            <a:prstDash val="sysDot"/>
            <a:miter lim="800000"/>
            <a:headEnd type="none" w="sm" len="sm"/>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09259" name="AutoShape 30"/>
          <p:cNvSpPr>
            <a:spLocks noChangeArrowheads="1"/>
          </p:cNvSpPr>
          <p:nvPr/>
        </p:nvSpPr>
        <p:spPr bwMode="auto">
          <a:xfrm>
            <a:off x="8212138" y="2478088"/>
            <a:ext cx="228600" cy="339725"/>
          </a:xfrm>
          <a:prstGeom prst="irregularSeal2">
            <a:avLst/>
          </a:prstGeom>
          <a:solidFill>
            <a:srgbClr val="CC0000"/>
          </a:solidFill>
          <a:ln w="127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09261" name="Rectangle 1055"/>
          <p:cNvSpPr>
            <a:spLocks noChangeArrowheads="1"/>
          </p:cNvSpPr>
          <p:nvPr/>
        </p:nvSpPr>
        <p:spPr bwMode="auto">
          <a:xfrm>
            <a:off x="263525" y="260350"/>
            <a:ext cx="6129635"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762000"/>
            <a:r>
              <a:rPr lang="en-US" altLang="ko-KR" sz="2000" b="1" dirty="0">
                <a:latin typeface="arial" pitchFamily="34" charset="0"/>
                <a:ea typeface="맑은 고딕" pitchFamily="50" charset="-127"/>
              </a:rPr>
              <a:t> 3. </a:t>
            </a:r>
            <a:r>
              <a:rPr lang="en-US" altLang="ko-KR" sz="2000" b="1" dirty="0" err="1">
                <a:latin typeface="arial" pitchFamily="34" charset="0"/>
                <a:ea typeface="맑은 고딕" pitchFamily="50" charset="-127"/>
              </a:rPr>
              <a:t>Đánh</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giá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pic>
        <p:nvPicPr>
          <p:cNvPr id="13" name="Picture 67"/>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9201472" y="818034"/>
            <a:ext cx="638175"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234</a:t>
            </a:fld>
            <a:endParaRPr lang="ko-KR" altLang="en-US" dirty="0"/>
          </a:p>
        </p:txBody>
      </p:sp>
      <p:sp>
        <p:nvSpPr>
          <p:cNvPr id="16" name="Rectangle 22"/>
          <p:cNvSpPr>
            <a:spLocks noChangeArrowheads="1"/>
          </p:cNvSpPr>
          <p:nvPr/>
        </p:nvSpPr>
        <p:spPr bwMode="auto">
          <a:xfrm>
            <a:off x="286862" y="2008009"/>
            <a:ext cx="2009428" cy="1200329"/>
          </a:xfrm>
          <a:prstGeom prst="rect">
            <a:avLst/>
          </a:prstGeom>
          <a:solidFill>
            <a:schemeClr val="tx2">
              <a:lumMod val="20000"/>
              <a:lumOff val="80000"/>
            </a:schemeClr>
          </a:solidFill>
          <a:ln w="9525">
            <a:solidFill>
              <a:srgbClr val="FF0033"/>
            </a:solidFill>
            <a:miter lim="800000"/>
            <a:headEnd/>
            <a:tailEnd/>
          </a:ln>
          <a:effectLst/>
        </p:spPr>
        <p:txBody>
          <a:bodyPr wrap="square" anchor="ctr">
            <a:spAutoFit/>
          </a:bodyPr>
          <a:lstStyle/>
          <a:p>
            <a:r>
              <a:rPr lang="en-US" altLang="ko-KR" sz="900" dirty="0">
                <a:latin typeface="arial" pitchFamily="34" charset="0"/>
                <a:ea typeface="맑은 고딕" pitchFamily="50" charset="-127"/>
              </a:rPr>
              <a:t>     Process Data</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Upper standard limit</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Standard target</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Lower standard limit</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Target value</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Number of data</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Within group standard deviation</a:t>
            </a:r>
            <a:endParaRPr lang="ko-KR" altLang="en-US" sz="900" dirty="0">
              <a:latin typeface="arial" pitchFamily="34" charset="0"/>
              <a:ea typeface="맑은 고딕" pitchFamily="50" charset="-127"/>
            </a:endParaRPr>
          </a:p>
          <a:p>
            <a:pPr>
              <a:buFontTx/>
              <a:buChar char="•"/>
            </a:pPr>
            <a:r>
              <a:rPr lang="ko-KR" altLang="en-US" sz="900" dirty="0">
                <a:latin typeface="arial" pitchFamily="34" charset="0"/>
                <a:ea typeface="맑은 고딕" pitchFamily="50" charset="-127"/>
              </a:rPr>
              <a:t> </a:t>
            </a:r>
            <a:r>
              <a:rPr lang="en-US" altLang="ko-KR" sz="900" dirty="0">
                <a:latin typeface="arial" pitchFamily="34" charset="0"/>
                <a:ea typeface="맑은 고딕" pitchFamily="50" charset="-127"/>
              </a:rPr>
              <a:t>Overall standard deviation</a:t>
            </a:r>
            <a:endParaRPr lang="ko-KR" altLang="en-US" sz="900" dirty="0">
              <a:latin typeface="arial" pitchFamily="34" charset="0"/>
              <a:ea typeface="맑은 고딕" pitchFamily="50" charset="-127"/>
            </a:endParaRPr>
          </a:p>
        </p:txBody>
      </p:sp>
      <p:sp>
        <p:nvSpPr>
          <p:cNvPr id="19" name="AutoShape 19"/>
          <p:cNvSpPr>
            <a:spLocks noChangeArrowheads="1"/>
          </p:cNvSpPr>
          <p:nvPr/>
        </p:nvSpPr>
        <p:spPr bwMode="auto">
          <a:xfrm>
            <a:off x="925364" y="5793655"/>
            <a:ext cx="1003300" cy="542925"/>
          </a:xfrm>
          <a:prstGeom prst="rightArrow">
            <a:avLst>
              <a:gd name="adj1" fmla="val 73102"/>
              <a:gd name="adj2" fmla="val 26051"/>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ko-KR" sz="1200" b="1" dirty="0" err="1">
                <a:solidFill>
                  <a:schemeClr val="bg1"/>
                </a:solidFill>
                <a:latin typeface="arial" pitchFamily="34" charset="0"/>
                <a:ea typeface="맑은 고딕" pitchFamily="50" charset="-127"/>
              </a:rPr>
              <a:t>Giá</a:t>
            </a:r>
            <a:r>
              <a:rPr lang="en-US" altLang="ko-KR" sz="1200" b="1" dirty="0">
                <a:solidFill>
                  <a:schemeClr val="bg1"/>
                </a:solidFill>
                <a:latin typeface="arial" pitchFamily="34" charset="0"/>
                <a:ea typeface="맑은 고딕" pitchFamily="50" charset="-127"/>
              </a:rPr>
              <a:t> </a:t>
            </a:r>
            <a:r>
              <a:rPr lang="en-US" altLang="ko-KR" sz="1200" b="1" dirty="0" err="1">
                <a:solidFill>
                  <a:schemeClr val="bg1"/>
                </a:solidFill>
                <a:latin typeface="arial" pitchFamily="34" charset="0"/>
                <a:ea typeface="맑은 고딕" pitchFamily="50" charset="-127"/>
              </a:rPr>
              <a:t>trị</a:t>
            </a:r>
            <a:r>
              <a:rPr lang="en-US" altLang="ko-KR" sz="1200" b="1" dirty="0">
                <a:solidFill>
                  <a:schemeClr val="bg1"/>
                </a:solidFill>
                <a:latin typeface="arial" pitchFamily="34" charset="0"/>
                <a:ea typeface="맑은 고딕" pitchFamily="50" charset="-127"/>
              </a:rPr>
              <a:t> Z</a:t>
            </a:r>
            <a:br>
              <a:rPr lang="en-US" altLang="ko-KR" sz="1200" b="1" dirty="0">
                <a:solidFill>
                  <a:schemeClr val="bg1"/>
                </a:solidFill>
                <a:latin typeface="arial" pitchFamily="34" charset="0"/>
                <a:ea typeface="맑은 고딕" pitchFamily="50" charset="-127"/>
              </a:rPr>
            </a:br>
            <a:r>
              <a:rPr lang="en-US" altLang="ko-KR" sz="1200" b="1" dirty="0" err="1">
                <a:solidFill>
                  <a:schemeClr val="bg1"/>
                </a:solidFill>
                <a:latin typeface="arial" pitchFamily="34" charset="0"/>
                <a:ea typeface="맑은 고딕" pitchFamily="50" charset="-127"/>
              </a:rPr>
              <a:t>cho</a:t>
            </a:r>
            <a:r>
              <a:rPr lang="en-US" altLang="ko-KR" sz="1200" b="1" dirty="0">
                <a:solidFill>
                  <a:schemeClr val="bg1"/>
                </a:solidFill>
                <a:latin typeface="arial" pitchFamily="34" charset="0"/>
                <a:ea typeface="맑은 고딕" pitchFamily="50" charset="-127"/>
              </a:rPr>
              <a:t> </a:t>
            </a:r>
            <a:r>
              <a:rPr lang="en-US" altLang="ko-KR" sz="1200" b="1" dirty="0" err="1">
                <a:solidFill>
                  <a:schemeClr val="bg1"/>
                </a:solidFill>
                <a:latin typeface="arial" pitchFamily="34" charset="0"/>
                <a:ea typeface="맑은 고딕" pitchFamily="50" charset="-127"/>
              </a:rPr>
              <a:t>thấy</a:t>
            </a:r>
            <a:endParaRPr lang="ko-KR" altLang="en-US" sz="1200" b="1" dirty="0">
              <a:solidFill>
                <a:schemeClr val="bg1"/>
              </a:solidFill>
              <a:latin typeface="arial" pitchFamily="34" charset="0"/>
              <a:ea typeface="맑은 고딕" pitchFamily="50" charset="-127"/>
            </a:endParaRPr>
          </a:p>
        </p:txBody>
      </p:sp>
    </p:spTree>
    <p:extLst>
      <p:ext uri="{BB962C8B-B14F-4D97-AF65-F5344CB8AC3E}">
        <p14:creationId xmlns:p14="http://schemas.microsoft.com/office/powerpoint/2010/main" val="3560947825"/>
      </p:ext>
    </p:extLst>
  </p:cSld>
  <p:clrMapOvr>
    <a:masterClrMapping/>
  </p:clrMapOvr>
  <p:transition spd="slow"/>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AutoShape 2"/>
          <p:cNvSpPr>
            <a:spLocks noChangeArrowheads="1"/>
          </p:cNvSpPr>
          <p:nvPr/>
        </p:nvSpPr>
        <p:spPr bwMode="auto">
          <a:xfrm>
            <a:off x="942975" y="2349500"/>
            <a:ext cx="3117850" cy="901700"/>
          </a:xfrm>
          <a:prstGeom prst="roundRect">
            <a:avLst>
              <a:gd name="adj" fmla="val 10417"/>
            </a:avLst>
          </a:prstGeom>
          <a:solidFill>
            <a:srgbClr val="FFFFFF"/>
          </a:solidFill>
          <a:ln w="9525">
            <a:solidFill>
              <a:schemeClr val="tx1"/>
            </a:solidFill>
            <a:round/>
            <a:headEnd/>
            <a:tailEnd/>
          </a:ln>
          <a:effectLst/>
          <a:extLst>
            <a:ext uri="{AF507438-7753-43E0-B8FC-AC1667EBCBE1}">
              <a14:hiddenEffects xmlns:a14="http://schemas.microsoft.com/office/drawing/2010/main">
                <a:effectLst>
                  <a:outerShdw dist="107763"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10275" name="AutoShape 3"/>
          <p:cNvSpPr>
            <a:spLocks noChangeArrowheads="1"/>
          </p:cNvSpPr>
          <p:nvPr/>
        </p:nvSpPr>
        <p:spPr bwMode="auto">
          <a:xfrm>
            <a:off x="4776788" y="4927600"/>
            <a:ext cx="4456112" cy="1330325"/>
          </a:xfrm>
          <a:prstGeom prst="roundRect">
            <a:avLst>
              <a:gd name="adj" fmla="val 5491"/>
            </a:avLst>
          </a:prstGeom>
          <a:solidFill>
            <a:srgbClr val="ECF8E8"/>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arial" pitchFamily="34" charset="0"/>
              <a:ea typeface="맑은 고딕" pitchFamily="50" charset="-127"/>
            </a:endParaRPr>
          </a:p>
        </p:txBody>
      </p:sp>
      <p:sp>
        <p:nvSpPr>
          <p:cNvPr id="310276" name="Rectangle 4"/>
          <p:cNvSpPr>
            <a:spLocks noChangeArrowheads="1"/>
          </p:cNvSpPr>
          <p:nvPr/>
        </p:nvSpPr>
        <p:spPr bwMode="auto">
          <a:xfrm>
            <a:off x="4943475" y="5211763"/>
            <a:ext cx="3306996" cy="893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nSpc>
                <a:spcPct val="130000"/>
              </a:lnSpc>
            </a:pPr>
            <a:r>
              <a:rPr lang="en-US" altLang="ko-KR" sz="1000" dirty="0">
                <a:latin typeface="arial" pitchFamily="34" charset="0"/>
                <a:ea typeface="맑은 고딕" pitchFamily="50" charset="-127"/>
              </a:rPr>
              <a:t>A : </a:t>
            </a:r>
            <a:r>
              <a:rPr lang="en-US" altLang="ko-KR" sz="1000" dirty="0" err="1">
                <a:latin typeface="arial" pitchFamily="34" charset="0"/>
                <a:ea typeface="맑은 고딕" pitchFamily="50" charset="-127"/>
              </a:rPr>
              <a:t>Quy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kiểm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soát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kém</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độ</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công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nghệ</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thấp</a:t>
            </a:r>
            <a:r>
              <a:rPr lang="en-US" altLang="ko-KR" sz="1000" dirty="0">
                <a:latin typeface="arial" pitchFamily="34" charset="0"/>
                <a:ea typeface="맑은 고딕" pitchFamily="50" charset="-127"/>
              </a:rPr>
              <a:t>.</a:t>
            </a:r>
          </a:p>
          <a:p>
            <a:pPr>
              <a:lnSpc>
                <a:spcPct val="130000"/>
              </a:lnSpc>
            </a:pPr>
            <a:r>
              <a:rPr lang="en-US" altLang="ko-KR" sz="1000" dirty="0">
                <a:latin typeface="arial" pitchFamily="34" charset="0"/>
                <a:ea typeface="맑은 고딕" pitchFamily="50" charset="-127"/>
              </a:rPr>
              <a:t>B : </a:t>
            </a:r>
            <a:r>
              <a:rPr lang="en-US" altLang="ko-KR" sz="1000" dirty="0" err="1">
                <a:latin typeface="arial" pitchFamily="34" charset="0"/>
                <a:ea typeface="맑은 고딕" pitchFamily="50" charset="-127"/>
              </a:rPr>
              <a:t>Quy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quản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lý</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cần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được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cải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thiện</a:t>
            </a:r>
            <a:r>
              <a:rPr lang="en-US" altLang="ko-KR" sz="1000" dirty="0">
                <a:latin typeface="arial" pitchFamily="34" charset="0"/>
                <a:ea typeface="맑은 고딕" pitchFamily="50" charset="-127"/>
              </a:rPr>
              <a:t>.</a:t>
            </a:r>
          </a:p>
          <a:p>
            <a:pPr>
              <a:lnSpc>
                <a:spcPct val="130000"/>
              </a:lnSpc>
            </a:pPr>
            <a:r>
              <a:rPr lang="en-US" altLang="ko-KR" sz="1000" dirty="0">
                <a:latin typeface="arial" pitchFamily="34" charset="0"/>
                <a:ea typeface="맑은 고딕" pitchFamily="50" charset="-127"/>
              </a:rPr>
              <a:t>C : </a:t>
            </a:r>
            <a:r>
              <a:rPr lang="en-US" altLang="ko-KR" sz="1000" dirty="0" err="1">
                <a:latin typeface="arial" pitchFamily="34" charset="0"/>
                <a:ea typeface="맑은 고딕" pitchFamily="50" charset="-127"/>
              </a:rPr>
              <a:t>Quy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quản</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lý</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khá</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tốt</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Trình</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độ</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công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nghệ</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thấp</a:t>
            </a:r>
            <a:r>
              <a:rPr lang="en-US" altLang="ko-KR" sz="1000" dirty="0">
                <a:latin typeface="arial" pitchFamily="34" charset="0"/>
                <a:ea typeface="맑은 고딕" pitchFamily="50" charset="-127"/>
              </a:rPr>
              <a:t>.</a:t>
            </a:r>
          </a:p>
          <a:p>
            <a:pPr>
              <a:lnSpc>
                <a:spcPct val="130000"/>
              </a:lnSpc>
            </a:pPr>
            <a:r>
              <a:rPr lang="en-US" altLang="ko-KR" sz="1000" dirty="0">
                <a:latin typeface="arial" pitchFamily="34" charset="0"/>
                <a:ea typeface="맑은 고딕" pitchFamily="50" charset="-127"/>
              </a:rPr>
              <a:t>D : </a:t>
            </a:r>
            <a:r>
              <a:rPr lang="en-US" altLang="ko-KR" sz="1000" dirty="0" err="1">
                <a:latin typeface="arial" pitchFamily="34" charset="0"/>
                <a:ea typeface="맑은 고딕" pitchFamily="50" charset="-127"/>
              </a:rPr>
              <a:t>Công</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ty</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được</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tối</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ưu</a:t>
            </a:r>
            <a:r>
              <a:rPr lang="en-US" altLang="ko-KR" sz="1000" dirty="0">
                <a:latin typeface="arial" pitchFamily="34" charset="0"/>
                <a:ea typeface="맑은 고딕" pitchFamily="50" charset="-127"/>
              </a:rPr>
              <a:t> </a:t>
            </a:r>
            <a:r>
              <a:rPr lang="en-US" altLang="ko-KR" sz="1000" dirty="0" err="1">
                <a:latin typeface="arial" pitchFamily="34" charset="0"/>
                <a:ea typeface="맑은 고딕" pitchFamily="50" charset="-127"/>
              </a:rPr>
              <a:t>hóa</a:t>
            </a:r>
            <a:r>
              <a:rPr lang="en-US" altLang="ko-KR" sz="1000" dirty="0">
                <a:latin typeface="arial" pitchFamily="34" charset="0"/>
                <a:ea typeface="맑은 고딕" pitchFamily="50" charset="-127"/>
              </a:rPr>
              <a:t>.</a:t>
            </a:r>
            <a:endParaRPr lang="ko-KR" altLang="en-US" sz="1000" dirty="0">
              <a:latin typeface="arial" pitchFamily="34" charset="0"/>
              <a:ea typeface="맑은 고딕" pitchFamily="50" charset="-127"/>
            </a:endParaRPr>
          </a:p>
        </p:txBody>
      </p:sp>
      <p:sp>
        <p:nvSpPr>
          <p:cNvPr id="310287" name="Rectangle 15"/>
          <p:cNvSpPr>
            <a:spLocks noChangeArrowheads="1"/>
          </p:cNvSpPr>
          <p:nvPr/>
        </p:nvSpPr>
        <p:spPr bwMode="auto">
          <a:xfrm>
            <a:off x="4803775" y="4927600"/>
            <a:ext cx="1639873" cy="3077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nSpc>
                <a:spcPct val="130000"/>
              </a:lnSpc>
            </a:pPr>
            <a:r>
              <a:rPr lang="en-US" altLang="ko-KR" sz="1200" dirty="0">
                <a:solidFill>
                  <a:schemeClr val="accent2"/>
                </a:solidFill>
                <a:latin typeface="arial" pitchFamily="34" charset="0"/>
                <a:ea typeface="맑은 고딕" pitchFamily="50" charset="-127"/>
              </a:rPr>
              <a:t>■ </a:t>
            </a:r>
            <a:r>
              <a:rPr lang="en-US" altLang="ko-KR" sz="1200" dirty="0" err="1">
                <a:solidFill>
                  <a:schemeClr val="accent2"/>
                </a:solidFill>
                <a:latin typeface="arial" pitchFamily="34" charset="0"/>
                <a:ea typeface="맑은 고딕" pitchFamily="50" charset="-127"/>
              </a:rPr>
              <a:t>Mô</a:t>
            </a:r>
            <a:r>
              <a:rPr lang="en-US" altLang="ko-KR" sz="1200" dirty="0">
                <a:solidFill>
                  <a:schemeClr val="accent2"/>
                </a:solidFill>
                <a:latin typeface="arial" pitchFamily="34" charset="0"/>
                <a:ea typeface="맑은 고딕" pitchFamily="50" charset="-127"/>
              </a:rPr>
              <a:t> </a:t>
            </a:r>
            <a:r>
              <a:rPr lang="en-US" altLang="ko-KR" sz="1200" dirty="0" err="1">
                <a:solidFill>
                  <a:schemeClr val="accent2"/>
                </a:solidFill>
                <a:latin typeface="arial" pitchFamily="34" charset="0"/>
                <a:ea typeface="맑은 고딕" pitchFamily="50" charset="-127"/>
              </a:rPr>
              <a:t>tả</a:t>
            </a:r>
            <a:r>
              <a:rPr lang="en-US" altLang="ko-KR" sz="1200" dirty="0">
                <a:solidFill>
                  <a:schemeClr val="accent2"/>
                </a:solidFill>
                <a:latin typeface="arial" pitchFamily="34" charset="0"/>
                <a:ea typeface="맑은 고딕" pitchFamily="50" charset="-127"/>
              </a:rPr>
              <a:t> </a:t>
            </a:r>
            <a:r>
              <a:rPr lang="en-US" altLang="ko-KR" sz="1200" dirty="0" err="1">
                <a:solidFill>
                  <a:schemeClr val="accent2"/>
                </a:solidFill>
                <a:latin typeface="arial" pitchFamily="34" charset="0"/>
                <a:ea typeface="맑은 고딕" pitchFamily="50" charset="-127"/>
              </a:rPr>
              <a:t>các</a:t>
            </a:r>
            <a:r>
              <a:rPr lang="en-US" altLang="ko-KR" sz="1200" dirty="0">
                <a:solidFill>
                  <a:schemeClr val="accent2"/>
                </a:solidFill>
                <a:latin typeface="arial" pitchFamily="34" charset="0"/>
                <a:ea typeface="맑은 고딕" pitchFamily="50" charset="-127"/>
              </a:rPr>
              <a:t> </a:t>
            </a:r>
            <a:r>
              <a:rPr lang="en-US" altLang="ko-KR" sz="1200" dirty="0" err="1">
                <a:solidFill>
                  <a:schemeClr val="accent2"/>
                </a:solidFill>
                <a:latin typeface="arial" pitchFamily="34" charset="0"/>
                <a:ea typeface="맑은 고딕" pitchFamily="50" charset="-127"/>
              </a:rPr>
              <a:t>khu</a:t>
            </a:r>
            <a:r>
              <a:rPr lang="en-US" altLang="ko-KR" sz="1200" dirty="0">
                <a:solidFill>
                  <a:schemeClr val="accent2"/>
                </a:solidFill>
                <a:latin typeface="arial" pitchFamily="34" charset="0"/>
                <a:ea typeface="맑은 고딕" pitchFamily="50" charset="-127"/>
              </a:rPr>
              <a:t> </a:t>
            </a:r>
            <a:r>
              <a:rPr lang="en-US" altLang="ko-KR" sz="1200" dirty="0" err="1">
                <a:solidFill>
                  <a:schemeClr val="accent2"/>
                </a:solidFill>
                <a:latin typeface="arial" pitchFamily="34" charset="0"/>
                <a:ea typeface="맑은 고딕" pitchFamily="50" charset="-127"/>
              </a:rPr>
              <a:t>vực</a:t>
            </a:r>
            <a:endParaRPr lang="ko-KR" altLang="en-US" sz="1200" dirty="0">
              <a:solidFill>
                <a:schemeClr val="accent2"/>
              </a:solidFill>
              <a:latin typeface="arial" pitchFamily="34" charset="0"/>
              <a:ea typeface="맑은 고딕" pitchFamily="50" charset="-127"/>
            </a:endParaRPr>
          </a:p>
        </p:txBody>
      </p:sp>
      <p:sp>
        <p:nvSpPr>
          <p:cNvPr id="310288" name="Rectangle 16"/>
          <p:cNvSpPr>
            <a:spLocks noChangeArrowheads="1"/>
          </p:cNvSpPr>
          <p:nvPr/>
        </p:nvSpPr>
        <p:spPr bwMode="auto">
          <a:xfrm>
            <a:off x="1631950" y="2344738"/>
            <a:ext cx="1917700" cy="868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lnSpc>
                <a:spcPct val="140000"/>
              </a:lnSpc>
              <a:buFont typeface="Wingdings" pitchFamily="2" charset="2"/>
              <a:buChar char="§"/>
            </a:pPr>
            <a:r>
              <a:rPr lang="en-US" altLang="ko-KR" sz="1200" dirty="0">
                <a:latin typeface="arial" pitchFamily="34" charset="0"/>
                <a:ea typeface="맑은 고딕" pitchFamily="50" charset="-127"/>
              </a:rPr>
              <a:t> Z</a:t>
            </a:r>
            <a:r>
              <a:rPr lang="en-US" altLang="ko-KR" sz="1200" baseline="-25000" dirty="0">
                <a:latin typeface="arial" pitchFamily="34" charset="0"/>
                <a:ea typeface="맑은 고딕" pitchFamily="50" charset="-127"/>
              </a:rPr>
              <a:t>ST</a:t>
            </a:r>
            <a:r>
              <a:rPr lang="en-US" altLang="ko-KR" sz="1200" dirty="0">
                <a:latin typeface="arial" pitchFamily="34" charset="0"/>
                <a:ea typeface="맑은 고딕" pitchFamily="50" charset="-127"/>
              </a:rPr>
              <a:t>   =  Z</a:t>
            </a:r>
            <a:r>
              <a:rPr lang="en-US" altLang="ko-KR" sz="1200" baseline="-25000" dirty="0">
                <a:latin typeface="arial" pitchFamily="34" charset="0"/>
                <a:ea typeface="맑은 고딕" pitchFamily="50" charset="-127"/>
              </a:rPr>
              <a:t>Bench</a:t>
            </a:r>
            <a:r>
              <a:rPr lang="en-US" altLang="ko-KR" sz="1200" dirty="0">
                <a:latin typeface="arial" pitchFamily="34" charset="0"/>
                <a:ea typeface="맑은 고딕" pitchFamily="50" charset="-127"/>
              </a:rPr>
              <a:t> </a:t>
            </a:r>
            <a:r>
              <a:rPr lang="en-US" altLang="ko-KR" sz="1200" dirty="0">
                <a:latin typeface="arial" pitchFamily="34" charset="0"/>
                <a:ea typeface="맑은 고딕" pitchFamily="50" charset="-127"/>
                <a:sym typeface="Wingdings" pitchFamily="2" charset="2"/>
              </a:rPr>
              <a:t></a:t>
            </a:r>
            <a:r>
              <a:rPr lang="en-US" altLang="ko-KR" sz="1200" dirty="0">
                <a:latin typeface="arial" pitchFamily="34" charset="0"/>
                <a:ea typeface="맑은 고딕" pitchFamily="50" charset="-127"/>
              </a:rPr>
              <a:t> σ</a:t>
            </a:r>
            <a:r>
              <a:rPr lang="en-US" altLang="ko-KR" sz="1200" baseline="-25000" dirty="0">
                <a:latin typeface="arial" pitchFamily="34" charset="0"/>
                <a:ea typeface="맑은 고딕" pitchFamily="50" charset="-127"/>
              </a:rPr>
              <a:t>ST</a:t>
            </a:r>
          </a:p>
          <a:p>
            <a:pPr defTabSz="762000">
              <a:lnSpc>
                <a:spcPct val="140000"/>
              </a:lnSpc>
              <a:buFont typeface="Wingdings" pitchFamily="2" charset="2"/>
              <a:buChar char="§"/>
            </a:pPr>
            <a:r>
              <a:rPr lang="en-US" altLang="ko-KR" sz="1200" dirty="0">
                <a:latin typeface="arial" pitchFamily="34" charset="0"/>
                <a:ea typeface="맑은 고딕" pitchFamily="50" charset="-127"/>
              </a:rPr>
              <a:t> Z</a:t>
            </a:r>
            <a:r>
              <a:rPr lang="en-US" altLang="ko-KR" sz="1200" baseline="-25000" dirty="0">
                <a:latin typeface="arial" pitchFamily="34" charset="0"/>
                <a:ea typeface="맑은 고딕" pitchFamily="50" charset="-127"/>
              </a:rPr>
              <a:t>LT</a:t>
            </a:r>
            <a:r>
              <a:rPr lang="en-US" altLang="ko-KR" sz="1200" dirty="0">
                <a:latin typeface="arial" pitchFamily="34" charset="0"/>
                <a:ea typeface="맑은 고딕" pitchFamily="50" charset="-127"/>
              </a:rPr>
              <a:t>   =  Z</a:t>
            </a:r>
            <a:r>
              <a:rPr lang="en-US" altLang="ko-KR" sz="1200" baseline="-25000" dirty="0">
                <a:latin typeface="arial" pitchFamily="34" charset="0"/>
                <a:ea typeface="맑은 고딕" pitchFamily="50" charset="-127"/>
              </a:rPr>
              <a:t>Bench</a:t>
            </a:r>
            <a:r>
              <a:rPr lang="en-US" altLang="ko-KR" sz="1200" dirty="0">
                <a:latin typeface="arial" pitchFamily="34" charset="0"/>
                <a:ea typeface="맑은 고딕" pitchFamily="50" charset="-127"/>
              </a:rPr>
              <a:t> </a:t>
            </a:r>
            <a:r>
              <a:rPr lang="en-US" altLang="ko-KR" sz="1200" dirty="0">
                <a:latin typeface="arial" pitchFamily="34" charset="0"/>
                <a:ea typeface="맑은 고딕" pitchFamily="50" charset="-127"/>
                <a:sym typeface="Wingdings" pitchFamily="2" charset="2"/>
              </a:rPr>
              <a:t></a:t>
            </a:r>
            <a:r>
              <a:rPr lang="en-US" altLang="ko-KR" sz="1200" dirty="0">
                <a:latin typeface="arial" pitchFamily="34" charset="0"/>
                <a:ea typeface="맑은 고딕" pitchFamily="50" charset="-127"/>
              </a:rPr>
              <a:t> σ</a:t>
            </a:r>
            <a:r>
              <a:rPr lang="en-US" altLang="ko-KR" sz="1200" baseline="-25000" dirty="0">
                <a:latin typeface="arial" pitchFamily="34" charset="0"/>
                <a:ea typeface="맑은 고딕" pitchFamily="50" charset="-127"/>
              </a:rPr>
              <a:t>LT</a:t>
            </a:r>
          </a:p>
          <a:p>
            <a:pPr defTabSz="762000">
              <a:lnSpc>
                <a:spcPct val="140000"/>
              </a:lnSpc>
              <a:buFont typeface="Wingdings" pitchFamily="2" charset="2"/>
              <a:buChar char="§"/>
            </a:pPr>
            <a:r>
              <a:rPr lang="en-US" altLang="ko-KR" sz="1200" dirty="0">
                <a:latin typeface="arial" pitchFamily="34" charset="0"/>
                <a:ea typeface="맑은 고딕" pitchFamily="50" charset="-127"/>
              </a:rPr>
              <a:t> Z</a:t>
            </a:r>
            <a:r>
              <a:rPr lang="en-US" altLang="ko-KR" sz="1200" baseline="-25000" dirty="0">
                <a:latin typeface="arial" pitchFamily="34" charset="0"/>
                <a:ea typeface="맑은 고딕" pitchFamily="50" charset="-127"/>
              </a:rPr>
              <a:t>Shift</a:t>
            </a:r>
            <a:r>
              <a:rPr lang="en-US" altLang="ko-KR" sz="1200" dirty="0">
                <a:latin typeface="arial" pitchFamily="34" charset="0"/>
                <a:ea typeface="맑은 고딕" pitchFamily="50" charset="-127"/>
              </a:rPr>
              <a:t> =  Z</a:t>
            </a:r>
            <a:r>
              <a:rPr lang="en-US" altLang="ko-KR" sz="1200" baseline="-25000" dirty="0">
                <a:latin typeface="arial" pitchFamily="34" charset="0"/>
                <a:ea typeface="맑은 고딕" pitchFamily="50" charset="-127"/>
              </a:rPr>
              <a:t> ST</a:t>
            </a:r>
            <a:r>
              <a:rPr lang="en-US" altLang="ko-KR" sz="1200" dirty="0">
                <a:latin typeface="arial" pitchFamily="34" charset="0"/>
                <a:ea typeface="맑은 고딕" pitchFamily="50" charset="-127"/>
              </a:rPr>
              <a:t> - Z</a:t>
            </a:r>
            <a:r>
              <a:rPr lang="en-US" altLang="ko-KR" sz="1200" baseline="-25000" dirty="0">
                <a:latin typeface="arial" pitchFamily="34" charset="0"/>
                <a:ea typeface="맑은 고딕" pitchFamily="50" charset="-127"/>
              </a:rPr>
              <a:t>LT</a:t>
            </a:r>
            <a:r>
              <a:rPr lang="en-US" altLang="ko-KR" sz="1200" dirty="0">
                <a:latin typeface="arial" pitchFamily="34" charset="0"/>
                <a:ea typeface="맑은 고딕" pitchFamily="50" charset="-127"/>
              </a:rPr>
              <a:t> </a:t>
            </a:r>
          </a:p>
        </p:txBody>
      </p:sp>
      <p:sp>
        <p:nvSpPr>
          <p:cNvPr id="310289" name="Rectangle 17"/>
          <p:cNvSpPr>
            <a:spLocks noChangeArrowheads="1"/>
          </p:cNvSpPr>
          <p:nvPr/>
        </p:nvSpPr>
        <p:spPr bwMode="auto">
          <a:xfrm>
            <a:off x="866775" y="5383213"/>
            <a:ext cx="3282950" cy="8685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marL="190500" indent="-190500" algn="just" defTabSz="762000">
              <a:lnSpc>
                <a:spcPct val="140000"/>
              </a:lnSpc>
              <a:buFont typeface="Wingdings" pitchFamily="2" charset="2"/>
              <a:buNone/>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Nếu</a:t>
            </a:r>
            <a:r>
              <a:rPr lang="en-US" altLang="ko-KR" sz="1200" dirty="0">
                <a:latin typeface="arial" pitchFamily="34" charset="0"/>
                <a:ea typeface="맑은 고딕" pitchFamily="50" charset="-127"/>
              </a:rPr>
              <a:t> Z</a:t>
            </a:r>
            <a:r>
              <a:rPr lang="en-US" altLang="ko-KR" sz="1200" baseline="-25000" dirty="0">
                <a:latin typeface="arial" pitchFamily="34" charset="0"/>
                <a:ea typeface="맑은 고딕" pitchFamily="50" charset="-127"/>
              </a:rPr>
              <a:t>LT</a:t>
            </a:r>
            <a:r>
              <a:rPr lang="en-US" altLang="ko-KR" sz="1200" dirty="0">
                <a:latin typeface="arial" pitchFamily="34" charset="0"/>
                <a:ea typeface="맑은 고딕" pitchFamily="50" charset="-127"/>
              </a:rPr>
              <a:t> ở </a:t>
            </a:r>
            <a:r>
              <a:rPr lang="en-US" altLang="ko-KR" sz="1200" dirty="0" err="1">
                <a:latin typeface="arial" pitchFamily="34" charset="0"/>
                <a:ea typeface="맑은 고딕" pitchFamily="50" charset="-127"/>
              </a:rPr>
              <a:t>mức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trên</a:t>
            </a:r>
            <a:r>
              <a:rPr lang="en-US" altLang="ko-KR" sz="1200" dirty="0">
                <a:latin typeface="arial" pitchFamily="34" charset="0"/>
                <a:ea typeface="맑은 고딕" pitchFamily="50" charset="-127"/>
              </a:rPr>
              <a:t> 4.5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Shift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dưới</a:t>
            </a:r>
            <a:r>
              <a:rPr lang="en-US" altLang="ko-KR" sz="1200" dirty="0">
                <a:latin typeface="arial" pitchFamily="34" charset="0"/>
                <a:ea typeface="맑은 고딕" pitchFamily="50" charset="-127"/>
              </a:rPr>
              <a:t> 1.5, CTQ </a:t>
            </a:r>
            <a:r>
              <a:rPr lang="en-US" altLang="ko-KR" sz="1200" dirty="0" err="1">
                <a:latin typeface="arial" pitchFamily="34" charset="0"/>
                <a:ea typeface="맑은 고딕" pitchFamily="50" charset="-127"/>
              </a:rPr>
              <a:t>phải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nâng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một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mức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cao</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hơn</a:t>
            </a:r>
            <a:r>
              <a:rPr lang="en-US" altLang="ko-KR" sz="1200" dirty="0">
                <a:latin typeface="arial" pitchFamily="34" charset="0"/>
                <a:ea typeface="맑은 고딕" pitchFamily="50" charset="-127"/>
              </a:rPr>
              <a:t> so </a:t>
            </a:r>
            <a:r>
              <a:rPr lang="en-US" altLang="ko-KR" sz="1200" dirty="0" err="1">
                <a:latin typeface="arial" pitchFamily="34" charset="0"/>
                <a:ea typeface="맑은 고딕" pitchFamily="50" charset="-127"/>
              </a:rPr>
              <a:t>với</a:t>
            </a:r>
            <a:r>
              <a:rPr lang="en-US" altLang="ko-KR" sz="1200" dirty="0">
                <a:latin typeface="arial" pitchFamily="34" charset="0"/>
                <a:ea typeface="맑은 고딕" pitchFamily="50" charset="-127"/>
              </a:rPr>
              <a:t> 6 sigma.</a:t>
            </a:r>
          </a:p>
        </p:txBody>
      </p:sp>
      <p:sp>
        <p:nvSpPr>
          <p:cNvPr id="310290" name="AutoShape 18"/>
          <p:cNvSpPr>
            <a:spLocks noChangeArrowheads="1"/>
          </p:cNvSpPr>
          <p:nvPr/>
        </p:nvSpPr>
        <p:spPr bwMode="auto">
          <a:xfrm>
            <a:off x="858838" y="3741738"/>
            <a:ext cx="3270250" cy="1224200"/>
          </a:xfrm>
          <a:prstGeom prst="roundRect">
            <a:avLst>
              <a:gd name="adj" fmla="val 4204"/>
            </a:avLst>
          </a:prstGeom>
          <a:solidFill>
            <a:schemeClr val="accent1">
              <a:lumMod val="20000"/>
              <a:lumOff val="80000"/>
            </a:schemeClr>
          </a:solidFill>
          <a:ln w="9525">
            <a:solidFill>
              <a:schemeClr val="tx1"/>
            </a:solidFill>
            <a:round/>
            <a:headEnd/>
            <a:tailEnd/>
          </a:ln>
          <a:effectLst/>
        </p:spPr>
        <p:txBody>
          <a:bodyPr lIns="92075" tIns="46038" rIns="92075" bIns="46038">
            <a:spAutoFit/>
          </a:bodyPr>
          <a:lstStyle/>
          <a:p>
            <a:pPr algn="just" defTabSz="762000">
              <a:buFont typeface="Wingdings" pitchFamily="2" charset="2"/>
              <a:buNone/>
            </a:pPr>
            <a:r>
              <a:rPr lang="en-US" altLang="ko-KR" sz="1200" dirty="0" err="1">
                <a:latin typeface="arial" pitchFamily="34" charset="0"/>
                <a:ea typeface="맑은 고딕" pitchFamily="50" charset="-127"/>
              </a:rPr>
              <a:t>Ngay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một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coi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ổn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định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thì</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sự</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sai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lệch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khoảng</a:t>
            </a:r>
            <a:r>
              <a:rPr lang="en-US" altLang="ko-KR" sz="1200" dirty="0">
                <a:latin typeface="arial" pitchFamily="34" charset="0"/>
                <a:ea typeface="맑은 고딕" pitchFamily="50" charset="-127"/>
              </a:rPr>
              <a:t> 1.5σ </a:t>
            </a:r>
            <a:r>
              <a:rPr lang="en-US" altLang="ko-KR" sz="1200" dirty="0" err="1">
                <a:latin typeface="arial" pitchFamily="34" charset="0"/>
                <a:ea typeface="맑은 고딕" pitchFamily="50" charset="-127"/>
              </a:rPr>
              <a:t>vẫn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xảy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ra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Tuy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nhiên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đây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kết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của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việc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không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nắm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ngắn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sử</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dụng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kết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Z</a:t>
            </a:r>
            <a:r>
              <a:rPr lang="en-US" altLang="ko-KR" sz="1200" baseline="-25000" dirty="0" err="1">
                <a:latin typeface="arial" pitchFamily="34" charset="0"/>
                <a:ea typeface="맑은 고딕" pitchFamily="50" charset="-127"/>
              </a:rPr>
              <a:t>Bench</a:t>
            </a:r>
            <a:r>
              <a:rPr lang="en-US" altLang="ko-KR" sz="1200" baseline="-25000" dirty="0">
                <a:latin typeface="arial" pitchFamily="34" charset="0"/>
                <a:ea typeface="맑은 고딕" pitchFamily="50" charset="-127"/>
              </a:rPr>
              <a:t> </a:t>
            </a:r>
            <a:r>
              <a:rPr lang="en-US" altLang="ko-KR" sz="1200" dirty="0">
                <a:latin typeface="arial" pitchFamily="34" charset="0"/>
                <a:ea typeface="맑은 고딕" pitchFamily="50" charset="-127"/>
              </a:rPr>
              <a:t>(Z</a:t>
            </a:r>
            <a:r>
              <a:rPr lang="en-US" altLang="ko-KR" sz="1200" baseline="-25000" dirty="0">
                <a:latin typeface="arial" pitchFamily="34" charset="0"/>
                <a:ea typeface="맑은 고딕" pitchFamily="50" charset="-127"/>
              </a:rPr>
              <a:t>LT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sẵn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rút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ra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từ</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độ</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lệch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chuẩn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dài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a:t>
            </a:r>
            <a:r>
              <a:rPr lang="ko-KR" altLang="en-US" sz="1200" dirty="0">
                <a:latin typeface="arial" pitchFamily="34" charset="0"/>
                <a:ea typeface="맑은 고딕" pitchFamily="50" charset="-127"/>
              </a:rPr>
              <a:t> </a:t>
            </a:r>
            <a:endParaRPr lang="en-US" altLang="ko-KR" sz="1200" dirty="0">
              <a:latin typeface="arial" pitchFamily="34" charset="0"/>
              <a:ea typeface="맑은 고딕" pitchFamily="50" charset="-127"/>
            </a:endParaRPr>
          </a:p>
        </p:txBody>
      </p:sp>
      <p:sp>
        <p:nvSpPr>
          <p:cNvPr id="310291" name="Rectangle 19"/>
          <p:cNvSpPr>
            <a:spLocks noChangeArrowheads="1"/>
          </p:cNvSpPr>
          <p:nvPr/>
        </p:nvSpPr>
        <p:spPr bwMode="auto">
          <a:xfrm>
            <a:off x="722313" y="1939925"/>
            <a:ext cx="2489464"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buFont typeface="Wingdings" pitchFamily="2" charset="2"/>
              <a:buChar char="Ø"/>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Phương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pháp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chỉ</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phái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sinh</a:t>
            </a:r>
            <a:endParaRPr lang="ko-KR" altLang="en-US" sz="1200" dirty="0">
              <a:latin typeface="arial" pitchFamily="34" charset="0"/>
              <a:ea typeface="맑은 고딕" pitchFamily="50" charset="-127"/>
            </a:endParaRPr>
          </a:p>
        </p:txBody>
      </p:sp>
      <p:sp>
        <p:nvSpPr>
          <p:cNvPr id="310293" name="Text Box 30"/>
          <p:cNvSpPr txBox="1">
            <a:spLocks noChangeArrowheads="1"/>
          </p:cNvSpPr>
          <p:nvPr/>
        </p:nvSpPr>
        <p:spPr bwMode="auto">
          <a:xfrm>
            <a:off x="901700" y="1216025"/>
            <a:ext cx="8331200" cy="6469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defTabSz="190500" eaLnBrk="0" hangingPunct="0">
              <a:defRPr kumimoji="1">
                <a:solidFill>
                  <a:schemeClr val="tx1"/>
                </a:solidFill>
                <a:latin typeface="굴림" pitchFamily="50" charset="-127"/>
                <a:ea typeface="굴림" pitchFamily="50" charset="-127"/>
              </a:defRPr>
            </a:lvl1pPr>
            <a:lvl2pPr marL="742950" indent="-285750" defTabSz="190500" eaLnBrk="0" hangingPunct="0">
              <a:defRPr kumimoji="1">
                <a:solidFill>
                  <a:schemeClr val="tx1"/>
                </a:solidFill>
                <a:latin typeface="굴림" pitchFamily="50" charset="-127"/>
                <a:ea typeface="굴림" pitchFamily="50" charset="-127"/>
              </a:defRPr>
            </a:lvl2pPr>
            <a:lvl3pPr marL="1143000" indent="-228600" defTabSz="190500" eaLnBrk="0" hangingPunct="0">
              <a:defRPr kumimoji="1">
                <a:solidFill>
                  <a:schemeClr val="tx1"/>
                </a:solidFill>
                <a:latin typeface="굴림" pitchFamily="50" charset="-127"/>
                <a:ea typeface="굴림" pitchFamily="50" charset="-127"/>
              </a:defRPr>
            </a:lvl3pPr>
            <a:lvl4pPr marL="1600200" indent="-228600" defTabSz="190500" eaLnBrk="0" hangingPunct="0">
              <a:defRPr kumimoji="1">
                <a:solidFill>
                  <a:schemeClr val="tx1"/>
                </a:solidFill>
                <a:latin typeface="굴림" pitchFamily="50" charset="-127"/>
                <a:ea typeface="굴림" pitchFamily="50" charset="-127"/>
              </a:defRPr>
            </a:lvl4pPr>
            <a:lvl5pPr marL="2057400" indent="-228600" defTabSz="190500" eaLnBrk="0" hangingPunct="0">
              <a:defRPr kumimoji="1">
                <a:solidFill>
                  <a:schemeClr val="tx1"/>
                </a:solidFill>
                <a:latin typeface="굴림" pitchFamily="50" charset="-127"/>
                <a:ea typeface="굴림" pitchFamily="50" charset="-127"/>
              </a:defRPr>
            </a:lvl5pPr>
            <a:lvl6pPr marL="25146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905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a:buFont typeface="Wingdings" pitchFamily="2" charset="2"/>
              <a:buNone/>
            </a:pPr>
            <a:r>
              <a:rPr lang="en-US" altLang="ko-KR" sz="1200" dirty="0" err="1">
                <a:latin typeface="arial" pitchFamily="34" charset="0"/>
                <a:ea typeface="맑은 고딕" pitchFamily="50" charset="-127"/>
              </a:rPr>
              <a:t>Khi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việc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phân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chia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nhóm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đồng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chất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tiến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hành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nhằm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thập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dữ</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liệu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phân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tích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thì</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kết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phân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chia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thành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trường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hợp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tương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ứng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khối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biểu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đồ</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dưới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đây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Thông</a:t>
            </a:r>
            <a:r>
              <a:rPr lang="en-US" altLang="ko-KR" sz="1200" dirty="0">
                <a:latin typeface="arial" pitchFamily="34" charset="0"/>
                <a:ea typeface="맑은 고딕" pitchFamily="50" charset="-127"/>
              </a:rPr>
              <a:t> qua </a:t>
            </a:r>
            <a:r>
              <a:rPr lang="en-US" altLang="ko-KR" sz="1200" dirty="0" err="1">
                <a:latin typeface="arial" pitchFamily="34" charset="0"/>
                <a:ea typeface="맑은 고딕" pitchFamily="50" charset="-127"/>
              </a:rPr>
              <a:t>biểu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đồ</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này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biện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pháp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cải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tiến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có</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ra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phù</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hợp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ứng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các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vấn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đề</a:t>
            </a:r>
            <a:r>
              <a:rPr lang="en-US" altLang="ko-KR" sz="1200" dirty="0">
                <a:latin typeface="arial" pitchFamily="34" charset="0"/>
                <a:ea typeface="맑은 고딕" pitchFamily="50" charset="-127"/>
              </a:rPr>
              <a:t> ở </a:t>
            </a:r>
            <a:r>
              <a:rPr lang="en-US" altLang="ko-KR" sz="1200" dirty="0" err="1">
                <a:latin typeface="arial" pitchFamily="34" charset="0"/>
                <a:ea typeface="맑은 고딕" pitchFamily="50" charset="-127"/>
              </a:rPr>
              <a:t>mỗi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vực</a:t>
            </a:r>
            <a:r>
              <a:rPr lang="en-US" altLang="ko-KR" sz="1200" dirty="0">
                <a:latin typeface="arial" pitchFamily="34" charset="0"/>
                <a:ea typeface="맑은 고딕" pitchFamily="50" charset="-127"/>
              </a:rPr>
              <a:t>.</a:t>
            </a:r>
          </a:p>
        </p:txBody>
      </p:sp>
      <p:sp>
        <p:nvSpPr>
          <p:cNvPr id="310294" name="Rectangle 31"/>
          <p:cNvSpPr>
            <a:spLocks noChangeArrowheads="1"/>
          </p:cNvSpPr>
          <p:nvPr/>
        </p:nvSpPr>
        <p:spPr bwMode="auto">
          <a:xfrm>
            <a:off x="733425" y="3482975"/>
            <a:ext cx="109356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buFont typeface="Wingdings" pitchFamily="2" charset="2"/>
              <a:buChar char="Ø"/>
            </a:pPr>
            <a:r>
              <a:rPr lang="en-US" altLang="ko-KR" sz="1200" dirty="0" err="1">
                <a:latin typeface="arial" pitchFamily="34" charset="0"/>
                <a:ea typeface="맑은 고딕" pitchFamily="50" charset="-127"/>
              </a:rPr>
              <a:t>Tham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khảo</a:t>
            </a:r>
            <a:endParaRPr lang="ko-KR" altLang="en-US" sz="1200" dirty="0">
              <a:latin typeface="arial" pitchFamily="34" charset="0"/>
              <a:ea typeface="맑은 고딕" pitchFamily="50" charset="-127"/>
            </a:endParaRPr>
          </a:p>
        </p:txBody>
      </p:sp>
      <p:sp>
        <p:nvSpPr>
          <p:cNvPr id="310295" name="Rectangle 32"/>
          <p:cNvSpPr>
            <a:spLocks noChangeArrowheads="1"/>
          </p:cNvSpPr>
          <p:nvPr/>
        </p:nvSpPr>
        <p:spPr bwMode="auto">
          <a:xfrm>
            <a:off x="581025" y="1014413"/>
            <a:ext cx="1354538" cy="3008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190500" eaLnBrk="0" hangingPunct="0">
              <a:lnSpc>
                <a:spcPct val="125000"/>
              </a:lnSpc>
              <a:buFont typeface="Wingdings" pitchFamily="2" charset="2"/>
              <a:buNone/>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Biểu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đồ</a:t>
            </a:r>
            <a:r>
              <a:rPr lang="en-US" altLang="ko-KR" sz="1200" dirty="0">
                <a:latin typeface="arial" pitchFamily="34" charset="0"/>
                <a:ea typeface="맑은 고딕" pitchFamily="50" charset="-127"/>
              </a:rPr>
              <a:t> 4 </a:t>
            </a:r>
            <a:r>
              <a:rPr lang="en-US" altLang="ko-KR" sz="1200" dirty="0" err="1">
                <a:latin typeface="arial" pitchFamily="34" charset="0"/>
                <a:ea typeface="맑은 고딕" pitchFamily="50" charset="-127"/>
              </a:rPr>
              <a:t>khối</a:t>
            </a:r>
            <a:endParaRPr lang="en-US" altLang="ko-KR" sz="1200" dirty="0">
              <a:latin typeface="arial" pitchFamily="34" charset="0"/>
              <a:ea typeface="맑은 고딕" pitchFamily="50" charset="-127"/>
            </a:endParaRPr>
          </a:p>
        </p:txBody>
      </p:sp>
      <p:sp>
        <p:nvSpPr>
          <p:cNvPr id="310297" name="Rectangle 1055"/>
          <p:cNvSpPr>
            <a:spLocks noChangeArrowheads="1"/>
          </p:cNvSpPr>
          <p:nvPr/>
        </p:nvSpPr>
        <p:spPr bwMode="auto">
          <a:xfrm>
            <a:off x="263525" y="260350"/>
            <a:ext cx="5985619"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762000"/>
            <a:r>
              <a:rPr lang="en-US" altLang="ko-KR" sz="2000" b="1" dirty="0">
                <a:latin typeface="arial" pitchFamily="34" charset="0"/>
                <a:ea typeface="맑은 고딕" pitchFamily="50" charset="-127"/>
              </a:rPr>
              <a:t> 3. </a:t>
            </a:r>
            <a:r>
              <a:rPr lang="en-US" altLang="ko-KR" sz="2000" b="1" dirty="0" err="1">
                <a:latin typeface="arial" pitchFamily="34" charset="0"/>
                <a:ea typeface="맑은 고딕" pitchFamily="50" charset="-127"/>
              </a:rPr>
              <a:t>Đánh</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giá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năng</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lực</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quá</a:t>
            </a:r>
            <a:r>
              <a:rPr lang="en-US" altLang="ko-KR" sz="2000" b="1" dirty="0">
                <a:latin typeface="arial" pitchFamily="34" charset="0"/>
                <a:ea typeface="맑은 고딕" pitchFamily="50" charset="-127"/>
              </a:rPr>
              <a:t> </a:t>
            </a:r>
            <a:r>
              <a:rPr lang="en-US" altLang="ko-KR" sz="2000" b="1" dirty="0" err="1">
                <a:latin typeface="arial" pitchFamily="34" charset="0"/>
                <a:ea typeface="맑은 고딕" pitchFamily="50" charset="-127"/>
              </a:rPr>
              <a:t>trình</a:t>
            </a:r>
            <a:endParaRPr lang="ko-KR" altLang="en-US" sz="20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235</a:t>
            </a:fld>
            <a:endParaRPr lang="ko-KR" altLang="en-US" dirty="0"/>
          </a:p>
        </p:txBody>
      </p:sp>
      <p:sp>
        <p:nvSpPr>
          <p:cNvPr id="34" name="Rectangle 5"/>
          <p:cNvSpPr>
            <a:spLocks noChangeArrowheads="1"/>
          </p:cNvSpPr>
          <p:nvPr/>
        </p:nvSpPr>
        <p:spPr bwMode="auto">
          <a:xfrm>
            <a:off x="5608638" y="4111625"/>
            <a:ext cx="3624262"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r>
              <a:rPr lang="en-US" altLang="ko-KR" sz="1200" dirty="0">
                <a:latin typeface="맑은 고딕" pitchFamily="50" charset="-127"/>
                <a:ea typeface="맑은 고딕" pitchFamily="50" charset="-127"/>
              </a:rPr>
              <a:t>1           2           3         4           5           6</a:t>
            </a:r>
          </a:p>
        </p:txBody>
      </p:sp>
      <p:sp>
        <p:nvSpPr>
          <p:cNvPr id="35" name="Rectangle 6"/>
          <p:cNvSpPr>
            <a:spLocks noChangeArrowheads="1"/>
          </p:cNvSpPr>
          <p:nvPr/>
        </p:nvSpPr>
        <p:spPr bwMode="auto">
          <a:xfrm>
            <a:off x="5149852" y="3938783"/>
            <a:ext cx="404812" cy="3368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noAutofit/>
          </a:bodyPr>
          <a:lstStyle/>
          <a:p>
            <a:r>
              <a:rPr lang="en-US" altLang="ko-KR" sz="1200" dirty="0">
                <a:latin typeface="맑은 고딕" pitchFamily="50" charset="-127"/>
                <a:ea typeface="맑은 고딕" pitchFamily="50" charset="-127"/>
              </a:rPr>
              <a:t>0.5</a:t>
            </a:r>
          </a:p>
        </p:txBody>
      </p:sp>
      <p:sp>
        <p:nvSpPr>
          <p:cNvPr id="36" name="Line 7"/>
          <p:cNvSpPr>
            <a:spLocks noChangeShapeType="1"/>
          </p:cNvSpPr>
          <p:nvPr/>
        </p:nvSpPr>
        <p:spPr bwMode="auto">
          <a:xfrm>
            <a:off x="4995863" y="2168525"/>
            <a:ext cx="0" cy="1870075"/>
          </a:xfrm>
          <a:prstGeom prst="line">
            <a:avLst/>
          </a:prstGeom>
          <a:noFill/>
          <a:ln w="12699">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37" name="Rectangle 8"/>
          <p:cNvSpPr>
            <a:spLocks noChangeArrowheads="1"/>
          </p:cNvSpPr>
          <p:nvPr/>
        </p:nvSpPr>
        <p:spPr bwMode="auto">
          <a:xfrm>
            <a:off x="4745038" y="1930400"/>
            <a:ext cx="525462"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r>
              <a:rPr lang="en-US" altLang="ko-KR" sz="1200" dirty="0">
                <a:latin typeface="맑은 고딕" pitchFamily="50" charset="-127"/>
                <a:ea typeface="맑은 고딕" pitchFamily="50" charset="-127"/>
              </a:rPr>
              <a:t>Poor</a:t>
            </a:r>
          </a:p>
        </p:txBody>
      </p:sp>
      <p:sp>
        <p:nvSpPr>
          <p:cNvPr id="38" name="Rectangle 9"/>
          <p:cNvSpPr>
            <a:spLocks noChangeArrowheads="1"/>
          </p:cNvSpPr>
          <p:nvPr/>
        </p:nvSpPr>
        <p:spPr bwMode="auto">
          <a:xfrm>
            <a:off x="4711700" y="4002088"/>
            <a:ext cx="582613"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r>
              <a:rPr lang="en-US" altLang="ko-KR" sz="1200" dirty="0">
                <a:latin typeface="맑은 고딕" pitchFamily="50" charset="-127"/>
                <a:ea typeface="맑은 고딕" pitchFamily="50" charset="-127"/>
              </a:rPr>
              <a:t>Good</a:t>
            </a:r>
          </a:p>
        </p:txBody>
      </p:sp>
      <p:sp>
        <p:nvSpPr>
          <p:cNvPr id="39" name="Rectangle 10"/>
          <p:cNvSpPr>
            <a:spLocks noChangeArrowheads="1"/>
          </p:cNvSpPr>
          <p:nvPr/>
        </p:nvSpPr>
        <p:spPr bwMode="auto">
          <a:xfrm>
            <a:off x="4254500" y="2697163"/>
            <a:ext cx="707951" cy="8685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nSpc>
                <a:spcPct val="140000"/>
              </a:lnSpc>
            </a:pPr>
            <a:r>
              <a:rPr lang="en-US" altLang="ko-KR" sz="1200" dirty="0">
                <a:latin typeface="맑은 고딕" pitchFamily="50" charset="-127"/>
                <a:ea typeface="맑은 고딕" pitchFamily="50" charset="-127"/>
              </a:rPr>
              <a:t>Z</a:t>
            </a:r>
            <a:r>
              <a:rPr lang="en-US" altLang="ko-KR" sz="1200" baseline="-25000" dirty="0">
                <a:latin typeface="맑은 고딕" pitchFamily="50" charset="-127"/>
                <a:ea typeface="맑은 고딕" pitchFamily="50" charset="-127"/>
              </a:rPr>
              <a:t>Shift  </a:t>
            </a:r>
            <a:r>
              <a:rPr lang="en-US" altLang="ko-KR" sz="1200" dirty="0">
                <a:latin typeface="맑은 고딕" pitchFamily="50" charset="-127"/>
                <a:ea typeface="맑은 고딕" pitchFamily="50" charset="-127"/>
              </a:rPr>
              <a:t>: </a:t>
            </a:r>
          </a:p>
          <a:p>
            <a:pPr>
              <a:lnSpc>
                <a:spcPct val="140000"/>
              </a:lnSpc>
            </a:pPr>
            <a:r>
              <a:rPr lang="en-US" altLang="ko-KR" sz="1200" dirty="0">
                <a:solidFill>
                  <a:srgbClr val="FF0000"/>
                </a:solidFill>
                <a:latin typeface="맑은 고딕" pitchFamily="50" charset="-127"/>
                <a:ea typeface="맑은 고딕" pitchFamily="50" charset="-127"/>
              </a:rPr>
              <a:t>Process</a:t>
            </a:r>
          </a:p>
          <a:p>
            <a:pPr>
              <a:lnSpc>
                <a:spcPct val="140000"/>
              </a:lnSpc>
            </a:pPr>
            <a:r>
              <a:rPr lang="en-US" altLang="ko-KR" sz="1200" dirty="0">
                <a:solidFill>
                  <a:srgbClr val="FF0000"/>
                </a:solidFill>
                <a:latin typeface="맑은 고딕" pitchFamily="50" charset="-127"/>
                <a:ea typeface="맑은 고딕" pitchFamily="50" charset="-127"/>
              </a:rPr>
              <a:t>Control</a:t>
            </a:r>
            <a:endParaRPr lang="ko-KR" altLang="en-US" sz="1200" dirty="0">
              <a:solidFill>
                <a:srgbClr val="FF0000"/>
              </a:solidFill>
              <a:latin typeface="맑은 고딕" pitchFamily="50" charset="-127"/>
              <a:ea typeface="맑은 고딕" pitchFamily="50" charset="-127"/>
            </a:endParaRPr>
          </a:p>
        </p:txBody>
      </p:sp>
      <p:sp>
        <p:nvSpPr>
          <p:cNvPr id="40" name="Rectangle 11"/>
          <p:cNvSpPr>
            <a:spLocks noChangeArrowheads="1"/>
          </p:cNvSpPr>
          <p:nvPr/>
        </p:nvSpPr>
        <p:spPr bwMode="auto">
          <a:xfrm>
            <a:off x="6393160" y="4375495"/>
            <a:ext cx="2374900"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r>
              <a:rPr lang="en-US" altLang="ko-KR" sz="1200" dirty="0">
                <a:latin typeface="맑은 고딕" pitchFamily="50" charset="-127"/>
                <a:ea typeface="맑은 고딕" pitchFamily="50" charset="-127"/>
              </a:rPr>
              <a:t>Z</a:t>
            </a:r>
            <a:r>
              <a:rPr lang="en-US" altLang="ko-KR" sz="1200" baseline="-25000" dirty="0">
                <a:latin typeface="맑은 고딕" pitchFamily="50" charset="-127"/>
                <a:ea typeface="맑은 고딕" pitchFamily="50" charset="-127"/>
              </a:rPr>
              <a:t>ST  </a:t>
            </a:r>
            <a:r>
              <a:rPr lang="en-US" altLang="ko-KR" sz="1200" dirty="0">
                <a:latin typeface="맑은 고딕" pitchFamily="50" charset="-127"/>
                <a:ea typeface="맑은 고딕" pitchFamily="50" charset="-127"/>
              </a:rPr>
              <a:t>:   </a:t>
            </a:r>
            <a:r>
              <a:rPr lang="en-US" altLang="ko-KR" sz="1200" dirty="0">
                <a:solidFill>
                  <a:srgbClr val="FF0000"/>
                </a:solidFill>
                <a:latin typeface="맑은 고딕" pitchFamily="50" charset="-127"/>
                <a:ea typeface="맑은 고딕" pitchFamily="50" charset="-127"/>
              </a:rPr>
              <a:t>Technological capability</a:t>
            </a:r>
            <a:endParaRPr lang="ko-KR" altLang="en-US" sz="1200" dirty="0">
              <a:solidFill>
                <a:srgbClr val="FF0000"/>
              </a:solidFill>
              <a:latin typeface="맑은 고딕" pitchFamily="50" charset="-127"/>
              <a:ea typeface="맑은 고딕" pitchFamily="50" charset="-127"/>
            </a:endParaRPr>
          </a:p>
        </p:txBody>
      </p:sp>
      <p:sp>
        <p:nvSpPr>
          <p:cNvPr id="41" name="Line 12"/>
          <p:cNvSpPr>
            <a:spLocks noChangeShapeType="1"/>
          </p:cNvSpPr>
          <p:nvPr/>
        </p:nvSpPr>
        <p:spPr bwMode="auto">
          <a:xfrm>
            <a:off x="5676900" y="4606925"/>
            <a:ext cx="3194050" cy="0"/>
          </a:xfrm>
          <a:prstGeom prst="line">
            <a:avLst/>
          </a:prstGeom>
          <a:noFill/>
          <a:ln w="12699">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42" name="Rectangle 13"/>
          <p:cNvSpPr>
            <a:spLocks noChangeArrowheads="1"/>
          </p:cNvSpPr>
          <p:nvPr/>
        </p:nvSpPr>
        <p:spPr bwMode="auto">
          <a:xfrm>
            <a:off x="5211763" y="4464050"/>
            <a:ext cx="525462"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r>
              <a:rPr lang="en-US" altLang="ko-KR" sz="1200" dirty="0">
                <a:latin typeface="맑은 고딕" pitchFamily="50" charset="-127"/>
                <a:ea typeface="맑은 고딕" pitchFamily="50" charset="-127"/>
              </a:rPr>
              <a:t>Poor</a:t>
            </a:r>
          </a:p>
        </p:txBody>
      </p:sp>
      <p:sp>
        <p:nvSpPr>
          <p:cNvPr id="43" name="Rectangle 14"/>
          <p:cNvSpPr>
            <a:spLocks noChangeArrowheads="1"/>
          </p:cNvSpPr>
          <p:nvPr/>
        </p:nvSpPr>
        <p:spPr bwMode="auto">
          <a:xfrm>
            <a:off x="8824913" y="4473575"/>
            <a:ext cx="582612"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r>
              <a:rPr lang="en-US" altLang="ko-KR" sz="1200" dirty="0">
                <a:latin typeface="맑은 고딕" pitchFamily="50" charset="-127"/>
                <a:ea typeface="맑은 고딕" pitchFamily="50" charset="-127"/>
              </a:rPr>
              <a:t>Good</a:t>
            </a:r>
          </a:p>
        </p:txBody>
      </p:sp>
      <p:grpSp>
        <p:nvGrpSpPr>
          <p:cNvPr id="44" name="Group 20"/>
          <p:cNvGrpSpPr>
            <a:grpSpLocks/>
          </p:cNvGrpSpPr>
          <p:nvPr/>
        </p:nvGrpSpPr>
        <p:grpSpPr bwMode="auto">
          <a:xfrm>
            <a:off x="5570538" y="2081213"/>
            <a:ext cx="3473450" cy="2020887"/>
            <a:chOff x="3563" y="1239"/>
            <a:chExt cx="2188" cy="1345"/>
          </a:xfrm>
        </p:grpSpPr>
        <p:sp>
          <p:nvSpPr>
            <p:cNvPr id="45" name="Rectangle 21"/>
            <p:cNvSpPr>
              <a:spLocks noChangeArrowheads="1"/>
            </p:cNvSpPr>
            <p:nvPr/>
          </p:nvSpPr>
          <p:spPr bwMode="auto">
            <a:xfrm>
              <a:off x="3563" y="1240"/>
              <a:ext cx="2188" cy="1341"/>
            </a:xfrm>
            <a:prstGeom prst="rect">
              <a:avLst/>
            </a:prstGeom>
            <a:solidFill>
              <a:schemeClr val="hlink"/>
            </a:solidFill>
            <a:ln w="12699">
              <a:solidFill>
                <a:schemeClr val="tx1"/>
              </a:solidFill>
              <a:miter lim="800000"/>
              <a:headEnd/>
              <a:tailEnd/>
            </a:ln>
            <a:effectLst>
              <a:outerShdw dist="85194" dir="1593903" algn="ctr" rotWithShape="0">
                <a:srgbClr val="000000"/>
              </a:outerShdw>
            </a:effectLst>
          </p:spPr>
          <p:txBody>
            <a:bodyPr wrap="none" anchor="ctr"/>
            <a:lstStyle/>
            <a:p>
              <a:endParaRPr lang="ko-KR" altLang="en-US" dirty="0">
                <a:solidFill>
                  <a:schemeClr val="bg1"/>
                </a:solidFill>
                <a:latin typeface="맑은 고딕" pitchFamily="50" charset="-127"/>
                <a:ea typeface="맑은 고딕" pitchFamily="50" charset="-127"/>
              </a:endParaRPr>
            </a:p>
          </p:txBody>
        </p:sp>
        <p:sp>
          <p:nvSpPr>
            <p:cNvPr id="46" name="Line 22"/>
            <p:cNvSpPr>
              <a:spLocks noChangeShapeType="1"/>
            </p:cNvSpPr>
            <p:nvPr/>
          </p:nvSpPr>
          <p:spPr bwMode="auto">
            <a:xfrm>
              <a:off x="5077" y="1239"/>
              <a:ext cx="0" cy="1339"/>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47" name="Line 23"/>
            <p:cNvSpPr>
              <a:spLocks noChangeShapeType="1"/>
            </p:cNvSpPr>
            <p:nvPr/>
          </p:nvSpPr>
          <p:spPr bwMode="auto">
            <a:xfrm>
              <a:off x="3569" y="1910"/>
              <a:ext cx="2178" cy="0"/>
            </a:xfrm>
            <a:prstGeom prst="line">
              <a:avLst/>
            </a:prstGeom>
            <a:noFill/>
            <a:ln w="12699">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48" name="Rectangle 24"/>
            <p:cNvSpPr>
              <a:spLocks noChangeArrowheads="1"/>
            </p:cNvSpPr>
            <p:nvPr/>
          </p:nvSpPr>
          <p:spPr bwMode="auto">
            <a:xfrm>
              <a:off x="4144" y="1447"/>
              <a:ext cx="208"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defRPr/>
              </a:pPr>
              <a:r>
                <a:rPr lang="en-US" altLang="ko-KR" sz="1600" dirty="0">
                  <a:solidFill>
                    <a:schemeClr val="bg1"/>
                  </a:solidFill>
                  <a:effectLst>
                    <a:outerShdw blurRad="38100" dist="38100" dir="2700000" algn="tl">
                      <a:srgbClr val="C0C0C0"/>
                    </a:outerShdw>
                  </a:effectLst>
                  <a:latin typeface="맑은 고딕" pitchFamily="50" charset="-127"/>
                  <a:ea typeface="맑은 고딕" pitchFamily="50" charset="-127"/>
                </a:rPr>
                <a:t>A</a:t>
              </a:r>
            </a:p>
          </p:txBody>
        </p:sp>
        <p:sp>
          <p:nvSpPr>
            <p:cNvPr id="49" name="Rectangle 25"/>
            <p:cNvSpPr>
              <a:spLocks noChangeArrowheads="1"/>
            </p:cNvSpPr>
            <p:nvPr/>
          </p:nvSpPr>
          <p:spPr bwMode="auto">
            <a:xfrm>
              <a:off x="5213" y="1434"/>
              <a:ext cx="193"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defRPr/>
              </a:pPr>
              <a:r>
                <a:rPr lang="en-US" altLang="ko-KR" sz="1600" dirty="0">
                  <a:solidFill>
                    <a:schemeClr val="bg1"/>
                  </a:solidFill>
                  <a:effectLst>
                    <a:outerShdw blurRad="38100" dist="38100" dir="2700000" algn="tl">
                      <a:srgbClr val="C0C0C0"/>
                    </a:outerShdw>
                  </a:effectLst>
                  <a:latin typeface="맑은 고딕" pitchFamily="50" charset="-127"/>
                  <a:ea typeface="맑은 고딕" pitchFamily="50" charset="-127"/>
                </a:rPr>
                <a:t>B</a:t>
              </a:r>
            </a:p>
          </p:txBody>
        </p:sp>
        <p:sp>
          <p:nvSpPr>
            <p:cNvPr id="50" name="Rectangle 26"/>
            <p:cNvSpPr>
              <a:spLocks noChangeArrowheads="1"/>
            </p:cNvSpPr>
            <p:nvPr/>
          </p:nvSpPr>
          <p:spPr bwMode="auto">
            <a:xfrm>
              <a:off x="4138" y="2054"/>
              <a:ext cx="200" cy="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defRPr/>
              </a:pPr>
              <a:r>
                <a:rPr lang="en-US" altLang="ko-KR" sz="1600" dirty="0">
                  <a:solidFill>
                    <a:schemeClr val="bg1"/>
                  </a:solidFill>
                  <a:effectLst>
                    <a:outerShdw blurRad="38100" dist="38100" dir="2700000" algn="tl">
                      <a:srgbClr val="C0C0C0"/>
                    </a:outerShdw>
                  </a:effectLst>
                  <a:latin typeface="맑은 고딕" pitchFamily="50" charset="-127"/>
                  <a:ea typeface="맑은 고딕" pitchFamily="50" charset="-127"/>
                </a:rPr>
                <a:t>C</a:t>
              </a:r>
            </a:p>
          </p:txBody>
        </p:sp>
        <p:sp>
          <p:nvSpPr>
            <p:cNvPr id="51" name="Rectangle 27"/>
            <p:cNvSpPr>
              <a:spLocks noChangeArrowheads="1"/>
            </p:cNvSpPr>
            <p:nvPr/>
          </p:nvSpPr>
          <p:spPr bwMode="auto">
            <a:xfrm>
              <a:off x="5087" y="1917"/>
              <a:ext cx="660" cy="667"/>
            </a:xfrm>
            <a:prstGeom prst="rect">
              <a:avLst/>
            </a:prstGeom>
            <a:solidFill>
              <a:srgbClr val="FF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latin typeface="맑은 고딕" pitchFamily="50" charset="-127"/>
                <a:ea typeface="맑은 고딕" pitchFamily="50" charset="-127"/>
              </a:endParaRPr>
            </a:p>
          </p:txBody>
        </p:sp>
        <p:sp>
          <p:nvSpPr>
            <p:cNvPr id="52" name="Rectangle 28"/>
            <p:cNvSpPr>
              <a:spLocks noChangeArrowheads="1"/>
            </p:cNvSpPr>
            <p:nvPr/>
          </p:nvSpPr>
          <p:spPr bwMode="auto">
            <a:xfrm>
              <a:off x="5235" y="2049"/>
              <a:ext cx="213"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defRPr/>
              </a:pPr>
              <a:r>
                <a:rPr lang="en-US" altLang="ko-KR" sz="1600" dirty="0">
                  <a:effectLst>
                    <a:outerShdw blurRad="38100" dist="38100" dir="2700000" algn="tl">
                      <a:srgbClr val="C0C0C0"/>
                    </a:outerShdw>
                  </a:effectLst>
                  <a:latin typeface="맑은 고딕" pitchFamily="50" charset="-127"/>
                  <a:ea typeface="맑은 고딕" pitchFamily="50" charset="-127"/>
                </a:rPr>
                <a:t>D</a:t>
              </a:r>
            </a:p>
          </p:txBody>
        </p:sp>
      </p:grpSp>
      <p:sp>
        <p:nvSpPr>
          <p:cNvPr id="53" name="Rectangle 6"/>
          <p:cNvSpPr>
            <a:spLocks noChangeArrowheads="1"/>
          </p:cNvSpPr>
          <p:nvPr/>
        </p:nvSpPr>
        <p:spPr bwMode="auto">
          <a:xfrm>
            <a:off x="5149852" y="3488425"/>
            <a:ext cx="404812" cy="3368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noAutofit/>
          </a:bodyPr>
          <a:lstStyle/>
          <a:p>
            <a:r>
              <a:rPr lang="en-US" altLang="ko-KR" sz="1200" dirty="0">
                <a:latin typeface="맑은 고딕" pitchFamily="50" charset="-127"/>
                <a:ea typeface="맑은 고딕" pitchFamily="50" charset="-127"/>
              </a:rPr>
              <a:t>1.0</a:t>
            </a:r>
          </a:p>
        </p:txBody>
      </p:sp>
      <p:sp>
        <p:nvSpPr>
          <p:cNvPr id="54" name="Rectangle 6"/>
          <p:cNvSpPr>
            <a:spLocks noChangeArrowheads="1"/>
          </p:cNvSpPr>
          <p:nvPr/>
        </p:nvSpPr>
        <p:spPr bwMode="auto">
          <a:xfrm>
            <a:off x="5149852" y="2918701"/>
            <a:ext cx="404812" cy="3368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noAutofit/>
          </a:bodyPr>
          <a:lstStyle/>
          <a:p>
            <a:r>
              <a:rPr lang="en-US" altLang="ko-KR" sz="1200" dirty="0">
                <a:latin typeface="맑은 고딕" pitchFamily="50" charset="-127"/>
                <a:ea typeface="맑은 고딕" pitchFamily="50" charset="-127"/>
              </a:rPr>
              <a:t>1.5</a:t>
            </a:r>
          </a:p>
        </p:txBody>
      </p:sp>
      <p:sp>
        <p:nvSpPr>
          <p:cNvPr id="55" name="Rectangle 6"/>
          <p:cNvSpPr>
            <a:spLocks noChangeArrowheads="1"/>
          </p:cNvSpPr>
          <p:nvPr/>
        </p:nvSpPr>
        <p:spPr bwMode="auto">
          <a:xfrm>
            <a:off x="5149852" y="2442024"/>
            <a:ext cx="404812" cy="3368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noAutofit/>
          </a:bodyPr>
          <a:lstStyle/>
          <a:p>
            <a:r>
              <a:rPr lang="en-US" altLang="ko-KR" sz="1200" dirty="0">
                <a:latin typeface="맑은 고딕" pitchFamily="50" charset="-127"/>
                <a:ea typeface="맑은 고딕" pitchFamily="50" charset="-127"/>
              </a:rPr>
              <a:t>2.0</a:t>
            </a:r>
          </a:p>
        </p:txBody>
      </p:sp>
      <p:sp>
        <p:nvSpPr>
          <p:cNvPr id="56" name="Rectangle 6"/>
          <p:cNvSpPr>
            <a:spLocks noChangeArrowheads="1"/>
          </p:cNvSpPr>
          <p:nvPr/>
        </p:nvSpPr>
        <p:spPr bwMode="auto">
          <a:xfrm>
            <a:off x="5149852" y="1915867"/>
            <a:ext cx="404812" cy="3368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noAutofit/>
          </a:bodyPr>
          <a:lstStyle/>
          <a:p>
            <a:r>
              <a:rPr lang="en-US" altLang="ko-KR" sz="1200" dirty="0">
                <a:latin typeface="맑은 고딕" pitchFamily="50" charset="-127"/>
                <a:ea typeface="맑은 고딕" pitchFamily="50" charset="-127"/>
              </a:rPr>
              <a:t>2.5</a:t>
            </a:r>
          </a:p>
        </p:txBody>
      </p:sp>
    </p:spTree>
    <p:extLst>
      <p:ext uri="{BB962C8B-B14F-4D97-AF65-F5344CB8AC3E}">
        <p14:creationId xmlns:p14="http://schemas.microsoft.com/office/powerpoint/2010/main" val="979968315"/>
      </p:ext>
    </p:extLst>
  </p:cSld>
  <p:clrMapOvr>
    <a:masterClrMapping/>
  </p:clrMapOvr>
  <p:transition spd="slow"/>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590987763"/>
              </p:ext>
            </p:extLst>
          </p:nvPr>
        </p:nvGraphicFramePr>
        <p:xfrm>
          <a:off x="2216150" y="1557338"/>
          <a:ext cx="5441950" cy="4392611"/>
        </p:xfrm>
        <a:graphic>
          <a:graphicData uri="http://schemas.openxmlformats.org/drawingml/2006/table">
            <a:tbl>
              <a:tblPr firstRow="1" bandRow="1">
                <a:tableStyleId>{5C22544A-7EE6-4342-B048-85BDC9FD1C3A}</a:tableStyleId>
              </a:tblPr>
              <a:tblGrid>
                <a:gridCol w="778102">
                  <a:extLst>
                    <a:ext uri="{9D8B030D-6E8A-4147-A177-3AD203B41FA5}">
                      <a16:colId xmlns:a16="http://schemas.microsoft.com/office/drawing/2014/main" val="20000"/>
                    </a:ext>
                  </a:extLst>
                </a:gridCol>
                <a:gridCol w="1362234">
                  <a:extLst>
                    <a:ext uri="{9D8B030D-6E8A-4147-A177-3AD203B41FA5}">
                      <a16:colId xmlns:a16="http://schemas.microsoft.com/office/drawing/2014/main" val="20001"/>
                    </a:ext>
                  </a:extLst>
                </a:gridCol>
                <a:gridCol w="1675642">
                  <a:extLst>
                    <a:ext uri="{9D8B030D-6E8A-4147-A177-3AD203B41FA5}">
                      <a16:colId xmlns:a16="http://schemas.microsoft.com/office/drawing/2014/main" val="20002"/>
                    </a:ext>
                  </a:extLst>
                </a:gridCol>
                <a:gridCol w="1625972">
                  <a:extLst>
                    <a:ext uri="{9D8B030D-6E8A-4147-A177-3AD203B41FA5}">
                      <a16:colId xmlns:a16="http://schemas.microsoft.com/office/drawing/2014/main" val="20003"/>
                    </a:ext>
                  </a:extLst>
                </a:gridCol>
              </a:tblGrid>
              <a:tr h="1479132">
                <a:tc gridSpan="2">
                  <a:txBody>
                    <a:bodyPr/>
                    <a:lstStyle/>
                    <a:p>
                      <a:pPr lvl="0" algn="ctr" latinLnBrk="1"/>
                      <a:r>
                        <a:rPr lang="en-US" altLang="ko-KR" sz="1200" b="1" i="0" baseline="0" dirty="0">
                          <a:solidFill>
                            <a:schemeClr val="tx1"/>
                          </a:solidFill>
                          <a:latin typeface="arial" pitchFamily="34" charset="0"/>
                          <a:ea typeface="맑은 고딕" pitchFamily="50" charset="-127"/>
                        </a:rPr>
                        <a:t>Basic</a:t>
                      </a:r>
                    </a:p>
                    <a:p>
                      <a:pPr lvl="0" algn="ctr" latinLnBrk="1"/>
                      <a:r>
                        <a:rPr lang="en-US" altLang="ko-KR" sz="1200" b="1" i="0" baseline="0" dirty="0">
                          <a:solidFill>
                            <a:schemeClr val="tx1"/>
                          </a:solidFill>
                          <a:latin typeface="arial" pitchFamily="34" charset="0"/>
                          <a:ea typeface="맑은 고딕" pitchFamily="50" charset="-127"/>
                        </a:rPr>
                        <a:t>Information</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no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26794">
                <a:tc rowSpan="2" gridSpan="2">
                  <a:txBody>
                    <a:bodyPr/>
                    <a:lstStyle/>
                    <a:p>
                      <a:pPr lvl="0" algn="ctr" latinLnBrk="1"/>
                      <a:r>
                        <a:rPr lang="en-US" altLang="ko-KR" sz="1200" b="1" i="0" baseline="0" dirty="0">
                          <a:solidFill>
                            <a:schemeClr val="tx1"/>
                          </a:solidFill>
                          <a:latin typeface="arial" pitchFamily="34" charset="0"/>
                          <a:ea typeface="맑은 고딕" pitchFamily="50" charset="-127"/>
                        </a:rPr>
                        <a:t>Z</a:t>
                      </a:r>
                      <a:r>
                        <a:rPr lang="en-US" altLang="ko-KR" sz="1200" b="1" i="0" baseline="-25000" dirty="0">
                          <a:solidFill>
                            <a:schemeClr val="tx1"/>
                          </a:solidFill>
                          <a:latin typeface="arial" pitchFamily="34" charset="0"/>
                          <a:ea typeface="맑은 고딕" pitchFamily="50" charset="-127"/>
                        </a:rPr>
                        <a:t>Bench</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no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rowSpan="2" h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200" b="1" i="0" baseline="0" dirty="0">
                          <a:solidFill>
                            <a:schemeClr val="tx1"/>
                          </a:solidFill>
                          <a:latin typeface="arial" pitchFamily="34" charset="0"/>
                          <a:ea typeface="맑은 고딕" pitchFamily="50" charset="-127"/>
                        </a:rPr>
                        <a:t>Z</a:t>
                      </a:r>
                      <a:r>
                        <a:rPr lang="en-US" altLang="ko-KR" sz="1200" b="1" i="0" baseline="-25000" dirty="0">
                          <a:solidFill>
                            <a:schemeClr val="tx1"/>
                          </a:solidFill>
                          <a:latin typeface="arial" pitchFamily="34" charset="0"/>
                          <a:ea typeface="맑은 고딕" pitchFamily="50" charset="-127"/>
                        </a:rPr>
                        <a:t>st,Bench</a:t>
                      </a:r>
                      <a:r>
                        <a:rPr lang="en-US" altLang="ko-KR" sz="1200" b="1" i="0" baseline="0" dirty="0">
                          <a:solidFill>
                            <a:schemeClr val="tx1"/>
                          </a:solidFill>
                          <a:latin typeface="arial" pitchFamily="34" charset="0"/>
                          <a:ea typeface="맑은 고딕" pitchFamily="50" charset="-127"/>
                        </a:rPr>
                        <a:t> = 2.13</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rowSpan="2">
                  <a:txBody>
                    <a:bodyPr/>
                    <a:lstStyle/>
                    <a:p>
                      <a:pPr lvl="0" algn="ctr" latinLnBrk="1"/>
                      <a:r>
                        <a:rPr lang="en-US" altLang="ko-KR" sz="1200" b="1" i="0" baseline="0" dirty="0">
                          <a:solidFill>
                            <a:schemeClr val="tx1"/>
                          </a:solidFill>
                          <a:latin typeface="arial" pitchFamily="34" charset="0"/>
                          <a:ea typeface="맑은 고딕" pitchFamily="50" charset="-127"/>
                        </a:rPr>
                        <a:t>Z</a:t>
                      </a:r>
                      <a:r>
                        <a:rPr lang="en-US" altLang="ko-KR" sz="1200" b="1" i="0" baseline="-25000" dirty="0">
                          <a:solidFill>
                            <a:schemeClr val="tx1"/>
                          </a:solidFill>
                          <a:latin typeface="arial" pitchFamily="34" charset="0"/>
                          <a:ea typeface="맑은 고딕" pitchFamily="50" charset="-127"/>
                        </a:rPr>
                        <a:t>Shift</a:t>
                      </a:r>
                      <a:r>
                        <a:rPr lang="en-US" altLang="ko-KR" sz="1200" b="1" i="0" baseline="0" dirty="0">
                          <a:solidFill>
                            <a:schemeClr val="tx1"/>
                          </a:solidFill>
                          <a:latin typeface="arial" pitchFamily="34" charset="0"/>
                          <a:ea typeface="맑은 고딕" pitchFamily="50" charset="-127"/>
                        </a:rPr>
                        <a:t> = 0.31</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26794">
                <a:tc gridSpan="2"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200" b="1" i="0" baseline="0" dirty="0">
                          <a:solidFill>
                            <a:schemeClr val="tx1"/>
                          </a:solidFill>
                          <a:latin typeface="arial" pitchFamily="34" charset="0"/>
                          <a:ea typeface="맑은 고딕" pitchFamily="50" charset="-127"/>
                        </a:rPr>
                        <a:t>Z</a:t>
                      </a:r>
                      <a:r>
                        <a:rPr lang="en-US" altLang="ko-KR" sz="1200" b="1" i="0" baseline="-25000" dirty="0">
                          <a:solidFill>
                            <a:schemeClr val="tx1"/>
                          </a:solidFill>
                          <a:latin typeface="arial" pitchFamily="34" charset="0"/>
                          <a:ea typeface="맑은 고딕" pitchFamily="50" charset="-127"/>
                        </a:rPr>
                        <a:t>lt,Bench</a:t>
                      </a:r>
                      <a:r>
                        <a:rPr lang="en-US" altLang="ko-KR" sz="1200" b="1" i="0" baseline="0" dirty="0">
                          <a:solidFill>
                            <a:schemeClr val="tx1"/>
                          </a:solidFill>
                          <a:latin typeface="arial" pitchFamily="34" charset="0"/>
                          <a:ea typeface="맑은 고딕" pitchFamily="50" charset="-127"/>
                        </a:rPr>
                        <a:t> = 1.82</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753297">
                <a:tc rowSpan="3">
                  <a:txBody>
                    <a:bodyPr/>
                    <a:lstStyle/>
                    <a:p>
                      <a:pPr lvl="0" algn="ctr" latinLnBrk="1"/>
                      <a:r>
                        <a:rPr lang="en-US" altLang="ko-KR" sz="1200" b="1" i="0" baseline="0" dirty="0">
                          <a:solidFill>
                            <a:schemeClr val="tx1"/>
                          </a:solidFill>
                          <a:latin typeface="arial" pitchFamily="34" charset="0"/>
                          <a:ea typeface="맑은 고딕" pitchFamily="50" charset="-127"/>
                        </a:rPr>
                        <a:t>Defect</a:t>
                      </a:r>
                    </a:p>
                    <a:p>
                      <a:pPr lvl="0" algn="ctr" latinLnBrk="1"/>
                      <a:r>
                        <a:rPr lang="en-US" altLang="ko-KR" sz="1200" b="1" i="0" baseline="0" dirty="0">
                          <a:solidFill>
                            <a:schemeClr val="tx1"/>
                          </a:solidFill>
                          <a:latin typeface="arial" pitchFamily="34" charset="0"/>
                          <a:ea typeface="맑은 고딕" pitchFamily="50" charset="-127"/>
                        </a:rPr>
                        <a:t>Rate</a:t>
                      </a:r>
                    </a:p>
                    <a:p>
                      <a:pPr lvl="0" algn="ctr" latinLnBrk="1"/>
                      <a:r>
                        <a:rPr lang="en-US" altLang="ko-KR" sz="1200" b="1" i="0" baseline="0" dirty="0">
                          <a:solidFill>
                            <a:schemeClr val="tx1"/>
                          </a:solidFill>
                          <a:latin typeface="arial" pitchFamily="34" charset="0"/>
                          <a:ea typeface="맑은 고딕" pitchFamily="50" charset="-127"/>
                        </a:rPr>
                        <a:t>(ppm)</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no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lvl="0" algn="ctr" latinLnBrk="1"/>
                      <a:r>
                        <a:rPr lang="en-US" altLang="ko-KR" sz="1200" b="1" i="0" baseline="0" dirty="0">
                          <a:solidFill>
                            <a:schemeClr val="tx1"/>
                          </a:solidFill>
                          <a:latin typeface="arial" pitchFamily="34" charset="0"/>
                          <a:ea typeface="맑은 고딕" pitchFamily="50" charset="-127"/>
                        </a:rPr>
                        <a:t>Observed Defects</a:t>
                      </a:r>
                    </a:p>
                    <a:p>
                      <a:pPr lvl="0" algn="ctr" latinLnBrk="1"/>
                      <a:r>
                        <a:rPr lang="en-US" altLang="ko-KR" sz="1200" b="1" i="0" baseline="0" dirty="0">
                          <a:solidFill>
                            <a:schemeClr val="tx1"/>
                          </a:solidFill>
                          <a:latin typeface="arial" pitchFamily="34" charset="0"/>
                          <a:ea typeface="맑은 고딕" pitchFamily="50" charset="-127"/>
                        </a:rPr>
                        <a:t>(Measured</a:t>
                      </a:r>
                      <a:r>
                        <a:rPr lang="ko-KR" altLang="en-US" sz="1200" b="1" i="0" baseline="0" dirty="0">
                          <a:solidFill>
                            <a:schemeClr val="tx1"/>
                          </a:solidFill>
                          <a:latin typeface="arial" pitchFamily="34" charset="0"/>
                          <a:ea typeface="맑은 고딕" pitchFamily="50" charset="-127"/>
                        </a:rPr>
                        <a:t> </a:t>
                      </a:r>
                      <a:r>
                        <a:rPr lang="en-US" altLang="ko-KR" sz="1200" b="1" i="0" baseline="0" dirty="0">
                          <a:solidFill>
                            <a:schemeClr val="tx1"/>
                          </a:solidFill>
                          <a:latin typeface="arial" pitchFamily="34" charset="0"/>
                          <a:ea typeface="맑은 고딕" pitchFamily="50" charset="-127"/>
                        </a:rPr>
                        <a:t>Data)</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lvl="0" algn="ctr" latinLnBrk="1"/>
                      <a:endParaRPr lang="ko-KR" altLang="en-US" sz="14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753297">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200" b="1" i="0" baseline="0" dirty="0">
                          <a:solidFill>
                            <a:schemeClr val="tx1"/>
                          </a:solidFill>
                          <a:latin typeface="arial" pitchFamily="34" charset="0"/>
                          <a:ea typeface="맑은 고딕" pitchFamily="50" charset="-127"/>
                        </a:rPr>
                        <a:t>Short Term</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lvl="0" algn="ctr" latinLnBrk="1"/>
                      <a:endParaRPr lang="ko-KR" altLang="en-US" sz="14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753297">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i="0" baseline="0" dirty="0">
                          <a:solidFill>
                            <a:schemeClr val="tx1"/>
                          </a:solidFill>
                          <a:latin typeface="arial" pitchFamily="34" charset="0"/>
                          <a:ea typeface="맑은 고딕" pitchFamily="50" charset="-127"/>
                        </a:rPr>
                        <a:t>Long Term</a:t>
                      </a:r>
                      <a:endParaRPr lang="ko-KR" altLang="en-US" sz="12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lvl="0" algn="ctr" latinLnBrk="1"/>
                      <a:endParaRPr lang="ko-KR" altLang="en-US" sz="14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arial" pitchFamily="34" charset="0"/>
                        <a:ea typeface="맑은 고딕" pitchFamily="50" charset="-127"/>
                      </a:endParaRPr>
                    </a:p>
                  </a:txBody>
                  <a:tcPr marL="91429" marR="91429" marT="45714" marB="45714" anchor="ctr">
                    <a:lnL w="952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pic>
        <p:nvPicPr>
          <p:cNvPr id="54308" name="Picture 36"/>
          <p:cNvPicPr>
            <a:picLocks noChangeAspect="1" noChangeArrowheads="1"/>
          </p:cNvPicPr>
          <p:nvPr/>
        </p:nvPicPr>
        <p:blipFill>
          <a:blip r:embed="rId3" cstate="print"/>
          <a:srcRect/>
          <a:stretch>
            <a:fillRect/>
          </a:stretch>
        </p:blipFill>
        <p:spPr bwMode="auto">
          <a:xfrm>
            <a:off x="4413250" y="1665288"/>
            <a:ext cx="1582738" cy="1295400"/>
          </a:xfrm>
          <a:prstGeom prst="rect">
            <a:avLst/>
          </a:prstGeom>
          <a:solidFill>
            <a:schemeClr val="accent2"/>
          </a:solidFill>
          <a:ln>
            <a:noFill/>
          </a:ln>
          <a:effectLst>
            <a:prstShdw prst="shdw17" dist="17961" dir="2700000">
              <a:schemeClr val="accent1">
                <a:gamma/>
                <a:shade val="60000"/>
                <a:invGamma/>
              </a:schemeClr>
            </a:prstShdw>
          </a:effectLst>
        </p:spPr>
      </p:pic>
      <p:pic>
        <p:nvPicPr>
          <p:cNvPr id="54309" name="Picture 37"/>
          <p:cNvPicPr>
            <a:picLocks noChangeAspect="1" noChangeArrowheads="1"/>
          </p:cNvPicPr>
          <p:nvPr/>
        </p:nvPicPr>
        <p:blipFill>
          <a:blip r:embed="rId4" cstate="print"/>
          <a:srcRect/>
          <a:stretch>
            <a:fillRect/>
          </a:stretch>
        </p:blipFill>
        <p:spPr bwMode="auto">
          <a:xfrm>
            <a:off x="4413250" y="3702050"/>
            <a:ext cx="1582738" cy="700088"/>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310" name="Picture 38"/>
          <p:cNvPicPr>
            <a:picLocks noChangeAspect="1" noChangeArrowheads="1"/>
          </p:cNvPicPr>
          <p:nvPr/>
        </p:nvPicPr>
        <p:blipFill>
          <a:blip r:embed="rId5" cstate="print"/>
          <a:srcRect/>
          <a:stretch>
            <a:fillRect/>
          </a:stretch>
        </p:blipFill>
        <p:spPr bwMode="auto">
          <a:xfrm>
            <a:off x="4845050" y="4484688"/>
            <a:ext cx="1138238" cy="671512"/>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311" name="Picture 39"/>
          <p:cNvPicPr>
            <a:picLocks noChangeAspect="1" noChangeArrowheads="1"/>
          </p:cNvPicPr>
          <p:nvPr/>
        </p:nvPicPr>
        <p:blipFill>
          <a:blip r:embed="rId6" cstate="print"/>
          <a:srcRect/>
          <a:stretch>
            <a:fillRect/>
          </a:stretch>
        </p:blipFill>
        <p:spPr bwMode="auto">
          <a:xfrm>
            <a:off x="4845050" y="5230813"/>
            <a:ext cx="1150938" cy="719137"/>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11330" name="Rectangle 32"/>
          <p:cNvSpPr>
            <a:spLocks noChangeArrowheads="1"/>
          </p:cNvSpPr>
          <p:nvPr/>
        </p:nvSpPr>
        <p:spPr bwMode="auto">
          <a:xfrm>
            <a:off x="581025" y="1014413"/>
            <a:ext cx="5402263" cy="3701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defTabSz="190500" eaLnBrk="0" hangingPunct="0">
              <a:lnSpc>
                <a:spcPct val="125000"/>
              </a:lnSpc>
              <a:buFont typeface="Wingdings" pitchFamily="2" charset="2"/>
              <a:buNone/>
            </a:pPr>
            <a:r>
              <a:rPr lang="en-US" altLang="ko-KR" sz="1600" dirty="0">
                <a:latin typeface="arial" pitchFamily="34" charset="0"/>
                <a:ea typeface="맑은 고딕" pitchFamily="50" charset="-127"/>
              </a:rPr>
              <a:t>◎ </a:t>
            </a:r>
            <a:r>
              <a:rPr lang="en-US" altLang="ko-KR" sz="1600" dirty="0" err="1">
                <a:latin typeface="arial" pitchFamily="34" charset="0"/>
                <a:ea typeface="맑은 고딕" pitchFamily="50" charset="-127"/>
              </a:rPr>
              <a:t>Tổng</a:t>
            </a:r>
            <a:r>
              <a:rPr lang="en-US" altLang="ko-KR" sz="1600" dirty="0">
                <a:latin typeface="arial" pitchFamily="34" charset="0"/>
                <a:ea typeface="맑은 고딕" pitchFamily="50" charset="-127"/>
              </a:rPr>
              <a:t> </a:t>
            </a:r>
            <a:r>
              <a:rPr lang="en-US" altLang="ko-KR" sz="1600" dirty="0" err="1">
                <a:latin typeface="arial" pitchFamily="34" charset="0"/>
                <a:ea typeface="맑은 고딕" pitchFamily="50" charset="-127"/>
              </a:rPr>
              <a:t>kết</a:t>
            </a:r>
            <a:r>
              <a:rPr lang="en-US" altLang="ko-KR" sz="1600" dirty="0">
                <a:latin typeface="arial" pitchFamily="34" charset="0"/>
                <a:ea typeface="맑은 고딕" pitchFamily="50" charset="-127"/>
              </a:rPr>
              <a:t> </a:t>
            </a:r>
            <a:r>
              <a:rPr lang="en-US" altLang="ko-KR" sz="1600" dirty="0" err="1">
                <a:latin typeface="arial" pitchFamily="34" charset="0"/>
                <a:ea typeface="맑은 고딕" pitchFamily="50" charset="-127"/>
              </a:rPr>
              <a:t>năng</a:t>
            </a:r>
            <a:r>
              <a:rPr lang="en-US" altLang="ko-KR" sz="1600" dirty="0">
                <a:latin typeface="arial" pitchFamily="34" charset="0"/>
                <a:ea typeface="맑은 고딕" pitchFamily="50" charset="-127"/>
              </a:rPr>
              <a:t> </a:t>
            </a:r>
            <a:r>
              <a:rPr lang="en-US" altLang="ko-KR" sz="1600" dirty="0" err="1">
                <a:latin typeface="arial" pitchFamily="34" charset="0"/>
                <a:ea typeface="맑은 고딕" pitchFamily="50" charset="-127"/>
              </a:rPr>
              <a:t>lực</a:t>
            </a:r>
            <a:r>
              <a:rPr lang="en-US" altLang="ko-KR" sz="1600" dirty="0">
                <a:latin typeface="arial" pitchFamily="34" charset="0"/>
                <a:ea typeface="맑은 고딕" pitchFamily="50" charset="-127"/>
              </a:rPr>
              <a:t> </a:t>
            </a:r>
            <a:r>
              <a:rPr lang="en-US" altLang="ko-KR" sz="1600" dirty="0" err="1">
                <a:latin typeface="arial" pitchFamily="34" charset="0"/>
                <a:ea typeface="맑은 고딕" pitchFamily="50" charset="-127"/>
              </a:rPr>
              <a:t>quá</a:t>
            </a:r>
            <a:r>
              <a:rPr lang="en-US" altLang="ko-KR" sz="1600" dirty="0">
                <a:latin typeface="arial" pitchFamily="34" charset="0"/>
                <a:ea typeface="맑은 고딕" pitchFamily="50" charset="-127"/>
              </a:rPr>
              <a:t> </a:t>
            </a:r>
            <a:r>
              <a:rPr lang="en-US" altLang="ko-KR" sz="1600" dirty="0" err="1">
                <a:latin typeface="arial" pitchFamily="34" charset="0"/>
                <a:ea typeface="맑은 고딕" pitchFamily="50" charset="-127"/>
              </a:rPr>
              <a:t>trình</a:t>
            </a:r>
            <a:endParaRPr lang="en-US" altLang="ko-KR" sz="1600" dirty="0">
              <a:latin typeface="arial" pitchFamily="34" charset="0"/>
              <a:ea typeface="맑은 고딕" pitchFamily="50" charset="-127"/>
            </a:endParaRPr>
          </a:p>
        </p:txBody>
      </p:sp>
      <p:sp>
        <p:nvSpPr>
          <p:cNvPr id="311331" name="Rectangle 1055"/>
          <p:cNvSpPr>
            <a:spLocks noChangeArrowheads="1"/>
          </p:cNvSpPr>
          <p:nvPr/>
        </p:nvSpPr>
        <p:spPr bwMode="auto">
          <a:xfrm>
            <a:off x="263525" y="260350"/>
            <a:ext cx="3648075" cy="369974"/>
          </a:xfrm>
          <a:prstGeom prst="rect">
            <a:avLst/>
          </a:prstGeom>
          <a:noFill/>
          <a:ln>
            <a:miter lim="800000"/>
            <a:headEnd/>
            <a:tailEnd/>
          </a:ln>
        </p:spPr>
        <p:txBody>
          <a:bodyPr wrap="none"/>
          <a:lstStyle/>
          <a:p>
            <a:r>
              <a:rPr kumimoji="0" lang="en-US" altLang="ko-KR" sz="2000" b="1" kern="0" dirty="0">
                <a:latin typeface="arial" pitchFamily="34" charset="0"/>
                <a:ea typeface="맑은 고딕" pitchFamily="50" charset="-127"/>
              </a:rPr>
              <a:t> 3. </a:t>
            </a:r>
            <a:r>
              <a:rPr kumimoji="0" lang="en-US" altLang="ko-KR" sz="2000" b="1" kern="0" dirty="0" err="1">
                <a:latin typeface="arial" pitchFamily="34" charset="0"/>
                <a:ea typeface="맑은 고딕" pitchFamily="50" charset="-127"/>
              </a:rPr>
              <a:t>Năng</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lực</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quá</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trình</a:t>
            </a:r>
            <a:endParaRPr kumimoji="0" lang="ko-KR" altLang="en-US" sz="2000" b="1" kern="0"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236</a:t>
            </a:fld>
            <a:endParaRPr lang="ko-KR" altLang="en-US" dirty="0"/>
          </a:p>
        </p:txBody>
      </p:sp>
    </p:spTree>
    <p:extLst>
      <p:ext uri="{BB962C8B-B14F-4D97-AF65-F5344CB8AC3E}">
        <p14:creationId xmlns:p14="http://schemas.microsoft.com/office/powerpoint/2010/main" val="990763896"/>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2322" name="Picture 2"/>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1281113" y="1341438"/>
            <a:ext cx="7200900" cy="5284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23" name="TextBox 1"/>
          <p:cNvSpPr txBox="1">
            <a:spLocks noChangeArrowheads="1"/>
          </p:cNvSpPr>
          <p:nvPr/>
        </p:nvSpPr>
        <p:spPr bwMode="auto">
          <a:xfrm>
            <a:off x="7554913" y="5516563"/>
            <a:ext cx="927100"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a:t>Z : 1.18</a:t>
            </a:r>
            <a:endParaRPr lang="ko-KR" altLang="en-US" sz="1600" b="1" dirty="0"/>
          </a:p>
        </p:txBody>
      </p:sp>
      <p:sp>
        <p:nvSpPr>
          <p:cNvPr id="312324" name="Rectangle 32"/>
          <p:cNvSpPr>
            <a:spLocks noChangeArrowheads="1"/>
          </p:cNvSpPr>
          <p:nvPr/>
        </p:nvSpPr>
        <p:spPr bwMode="auto">
          <a:xfrm>
            <a:off x="488950" y="836613"/>
            <a:ext cx="4318490" cy="30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190500" eaLnBrk="0" hangingPunct="0">
              <a:lnSpc>
                <a:spcPct val="125000"/>
              </a:lnSpc>
              <a:buFont typeface="Wingdings" pitchFamily="2" charset="2"/>
              <a:buNone/>
            </a:pPr>
            <a:r>
              <a:rPr lang="en-US" altLang="ko-KR" sz="1200" b="1" dirty="0">
                <a:latin typeface="arial" pitchFamily="34" charset="0"/>
                <a:ea typeface="맑은 고딕" pitchFamily="50" charset="-127"/>
              </a:rPr>
              <a:t>2) </a:t>
            </a:r>
            <a:r>
              <a:rPr lang="en-US" altLang="ko-KR" sz="1200" b="1" dirty="0" err="1">
                <a:latin typeface="arial" pitchFamily="34" charset="0"/>
                <a:ea typeface="맑은 고딕" pitchFamily="50" charset="-127"/>
              </a:rPr>
              <a:t>Xác</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định</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năng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lực</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quá</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trình</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bằng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cách</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sử</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dụng</a:t>
            </a:r>
            <a:r>
              <a:rPr lang="en-US" altLang="ko-KR" sz="1200" b="1" dirty="0">
                <a:latin typeface="arial" pitchFamily="34" charset="0"/>
                <a:ea typeface="맑은 고딕" pitchFamily="50" charset="-127"/>
              </a:rPr>
              <a:t> Excel</a:t>
            </a:r>
          </a:p>
        </p:txBody>
      </p:sp>
      <p:sp>
        <p:nvSpPr>
          <p:cNvPr id="312325" name="Rectangle 1055"/>
          <p:cNvSpPr>
            <a:spLocks noChangeArrowheads="1"/>
          </p:cNvSpPr>
          <p:nvPr/>
        </p:nvSpPr>
        <p:spPr bwMode="auto">
          <a:xfrm>
            <a:off x="263525" y="260350"/>
            <a:ext cx="3648075" cy="369974"/>
          </a:xfrm>
          <a:prstGeom prst="rect">
            <a:avLst/>
          </a:prstGeom>
          <a:noFill/>
          <a:ln>
            <a:miter lim="800000"/>
            <a:headEnd/>
            <a:tailEnd/>
          </a:ln>
        </p:spPr>
        <p:txBody>
          <a:bodyPr wrap="none"/>
          <a:lstStyle/>
          <a:p>
            <a:r>
              <a:rPr kumimoji="0" lang="en-US" altLang="ko-KR" sz="2000" b="1" kern="0" dirty="0">
                <a:latin typeface="arial" pitchFamily="34" charset="0"/>
                <a:ea typeface="맑은 고딕" pitchFamily="50" charset="-127"/>
              </a:rPr>
              <a:t> 3. </a:t>
            </a:r>
            <a:r>
              <a:rPr kumimoji="0" lang="en-US" altLang="ko-KR" sz="2000" b="1" kern="0" dirty="0" err="1">
                <a:latin typeface="arial" pitchFamily="34" charset="0"/>
                <a:ea typeface="맑은 고딕" pitchFamily="50" charset="-127"/>
              </a:rPr>
              <a:t>Đánh</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giá</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năng</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lực</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quá</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trình</a:t>
            </a:r>
            <a:endParaRPr kumimoji="0" lang="ko-KR" altLang="en-US" sz="2000" b="1" kern="0"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237</a:t>
            </a:fld>
            <a:endParaRPr lang="ko-KR" altLang="en-US" dirty="0"/>
          </a:p>
        </p:txBody>
      </p:sp>
    </p:spTree>
    <p:extLst>
      <p:ext uri="{BB962C8B-B14F-4D97-AF65-F5344CB8AC3E}">
        <p14:creationId xmlns:p14="http://schemas.microsoft.com/office/powerpoint/2010/main" val="1677640966"/>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Text Box 7"/>
          <p:cNvSpPr txBox="1">
            <a:spLocks noChangeArrowheads="1"/>
          </p:cNvSpPr>
          <p:nvPr/>
        </p:nvSpPr>
        <p:spPr bwMode="auto">
          <a:xfrm>
            <a:off x="1292225" y="2095500"/>
            <a:ext cx="1944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400" b="1" dirty="0">
                <a:solidFill>
                  <a:srgbClr val="000000"/>
                </a:solidFill>
                <a:latin typeface="arial" pitchFamily="34" charset="0"/>
                <a:ea typeface="맑은 고딕" pitchFamily="50" charset="-127"/>
              </a:rPr>
              <a:t>4-Block Diagram</a:t>
            </a:r>
          </a:p>
        </p:txBody>
      </p:sp>
      <p:grpSp>
        <p:nvGrpSpPr>
          <p:cNvPr id="3" name="그룹 64"/>
          <p:cNvGrpSpPr>
            <a:grpSpLocks/>
          </p:cNvGrpSpPr>
          <p:nvPr/>
        </p:nvGrpSpPr>
        <p:grpSpPr bwMode="auto">
          <a:xfrm>
            <a:off x="466725" y="2360613"/>
            <a:ext cx="4773613" cy="3084512"/>
            <a:chOff x="466406" y="2360836"/>
            <a:chExt cx="4774626" cy="3084388"/>
          </a:xfrm>
        </p:grpSpPr>
        <p:sp>
          <p:nvSpPr>
            <p:cNvPr id="6" name="Rectangle 9"/>
            <p:cNvSpPr>
              <a:spLocks noChangeArrowheads="1"/>
            </p:cNvSpPr>
            <p:nvPr/>
          </p:nvSpPr>
          <p:spPr bwMode="auto">
            <a:xfrm>
              <a:off x="1325426" y="2440208"/>
              <a:ext cx="3258241" cy="2420840"/>
            </a:xfrm>
            <a:prstGeom prst="rect">
              <a:avLst/>
            </a:prstGeom>
            <a:solidFill>
              <a:schemeClr val="bg2">
                <a:lumMod val="20000"/>
                <a:lumOff val="80000"/>
              </a:schemeClr>
            </a:solidFill>
            <a:ln w="9525">
              <a:solidFill>
                <a:schemeClr val="tx1"/>
              </a:solidFill>
              <a:miter lim="800000"/>
              <a:headEnd/>
              <a:tailEnd/>
            </a:ln>
          </p:spPr>
          <p:txBody>
            <a:bodyPr wrap="none" anchor="ctr"/>
            <a:lstStyle/>
            <a:p>
              <a:pPr algn="ctr">
                <a:defRPr/>
              </a:pPr>
              <a:endParaRPr lang="ko-KR" altLang="en-US" sz="1000" dirty="0">
                <a:solidFill>
                  <a:srgbClr val="000000"/>
                </a:solidFill>
                <a:latin typeface="arial" pitchFamily="34" charset="0"/>
                <a:ea typeface="맑은 고딕" pitchFamily="50" charset="-127"/>
              </a:endParaRPr>
            </a:p>
          </p:txBody>
        </p:sp>
        <p:sp>
          <p:nvSpPr>
            <p:cNvPr id="313381" name="Line 10"/>
            <p:cNvSpPr>
              <a:spLocks noChangeShapeType="1"/>
            </p:cNvSpPr>
            <p:nvPr/>
          </p:nvSpPr>
          <p:spPr bwMode="auto">
            <a:xfrm>
              <a:off x="3444556" y="2435448"/>
              <a:ext cx="0" cy="2417763"/>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dirty="0"/>
            </a:p>
          </p:txBody>
        </p:sp>
        <p:sp>
          <p:nvSpPr>
            <p:cNvPr id="313382" name="Line 11"/>
            <p:cNvSpPr>
              <a:spLocks noChangeShapeType="1"/>
            </p:cNvSpPr>
            <p:nvPr/>
          </p:nvSpPr>
          <p:spPr bwMode="auto">
            <a:xfrm>
              <a:off x="1328419" y="3651473"/>
              <a:ext cx="3248025" cy="0"/>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dirty="0"/>
            </a:p>
          </p:txBody>
        </p:sp>
        <p:sp>
          <p:nvSpPr>
            <p:cNvPr id="313383" name="Rectangle 12"/>
            <p:cNvSpPr>
              <a:spLocks noChangeArrowheads="1"/>
            </p:cNvSpPr>
            <p:nvPr/>
          </p:nvSpPr>
          <p:spPr bwMode="auto">
            <a:xfrm>
              <a:off x="987106" y="3505423"/>
              <a:ext cx="399233" cy="28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latinLnBrk="0">
                <a:lnSpc>
                  <a:spcPct val="110000"/>
                </a:lnSpc>
              </a:pPr>
              <a:r>
                <a:rPr lang="en-US" altLang="ko-KR" sz="1200" b="1" dirty="0">
                  <a:solidFill>
                    <a:srgbClr val="000000"/>
                  </a:solidFill>
                  <a:latin typeface="arial" pitchFamily="34" charset="0"/>
                  <a:ea typeface="맑은 고딕" pitchFamily="50" charset="-127"/>
                </a:rPr>
                <a:t>1.5</a:t>
              </a:r>
            </a:p>
          </p:txBody>
        </p:sp>
        <p:sp>
          <p:nvSpPr>
            <p:cNvPr id="313384" name="Rectangle 13"/>
            <p:cNvSpPr>
              <a:spLocks noChangeArrowheads="1"/>
            </p:cNvSpPr>
            <p:nvPr/>
          </p:nvSpPr>
          <p:spPr bwMode="auto">
            <a:xfrm>
              <a:off x="874814" y="2360836"/>
              <a:ext cx="510333"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latinLnBrk="0"/>
              <a:r>
                <a:rPr lang="en-US" altLang="ko-KR" sz="1200" b="1" dirty="0">
                  <a:solidFill>
                    <a:srgbClr val="000000"/>
                  </a:solidFill>
                  <a:latin typeface="arial" pitchFamily="34" charset="0"/>
                  <a:ea typeface="맑은 고딕" pitchFamily="50" charset="-127"/>
                </a:rPr>
                <a:t>Z</a:t>
              </a:r>
              <a:r>
                <a:rPr lang="en-US" altLang="ko-KR" sz="1200" b="1" baseline="-25000" dirty="0">
                  <a:solidFill>
                    <a:srgbClr val="000000"/>
                  </a:solidFill>
                  <a:latin typeface="arial" pitchFamily="34" charset="0"/>
                  <a:ea typeface="맑은 고딕" pitchFamily="50" charset="-127"/>
                </a:rPr>
                <a:t>Shift</a:t>
              </a:r>
            </a:p>
          </p:txBody>
        </p:sp>
        <p:sp>
          <p:nvSpPr>
            <p:cNvPr id="313385" name="Rectangle 15"/>
            <p:cNvSpPr>
              <a:spLocks noChangeArrowheads="1"/>
            </p:cNvSpPr>
            <p:nvPr/>
          </p:nvSpPr>
          <p:spPr bwMode="auto">
            <a:xfrm>
              <a:off x="3244531" y="4853211"/>
              <a:ext cx="399233" cy="28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latinLnBrk="0">
                <a:lnSpc>
                  <a:spcPct val="110000"/>
                </a:lnSpc>
              </a:pPr>
              <a:r>
                <a:rPr lang="en-US" altLang="ko-KR" sz="1200" b="1" dirty="0">
                  <a:solidFill>
                    <a:srgbClr val="000000"/>
                  </a:solidFill>
                  <a:latin typeface="arial" pitchFamily="34" charset="0"/>
                  <a:ea typeface="맑은 고딕" pitchFamily="50" charset="-127"/>
                </a:rPr>
                <a:t>4.5</a:t>
              </a:r>
            </a:p>
          </p:txBody>
        </p:sp>
        <p:sp>
          <p:nvSpPr>
            <p:cNvPr id="313386" name="Text Box 16"/>
            <p:cNvSpPr txBox="1">
              <a:spLocks noChangeArrowheads="1"/>
            </p:cNvSpPr>
            <p:nvPr/>
          </p:nvSpPr>
          <p:spPr bwMode="auto">
            <a:xfrm>
              <a:off x="1404619" y="3714973"/>
              <a:ext cx="2651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solidFill>
                    <a:srgbClr val="000000"/>
                  </a:solidFill>
                  <a:latin typeface="arial" pitchFamily="34" charset="0"/>
                  <a:ea typeface="맑은 고딕" pitchFamily="50" charset="-127"/>
                </a:rPr>
                <a:t>C</a:t>
              </a:r>
            </a:p>
          </p:txBody>
        </p:sp>
        <p:sp>
          <p:nvSpPr>
            <p:cNvPr id="313387" name="Text Box 17"/>
            <p:cNvSpPr txBox="1">
              <a:spLocks noChangeArrowheads="1"/>
            </p:cNvSpPr>
            <p:nvPr/>
          </p:nvSpPr>
          <p:spPr bwMode="auto">
            <a:xfrm>
              <a:off x="1404619" y="2517998"/>
              <a:ext cx="2651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solidFill>
                    <a:srgbClr val="000000"/>
                  </a:solidFill>
                  <a:latin typeface="arial" pitchFamily="34" charset="0"/>
                  <a:ea typeface="맑은 고딕" pitchFamily="50" charset="-127"/>
                </a:rPr>
                <a:t>A</a:t>
              </a:r>
            </a:p>
          </p:txBody>
        </p:sp>
        <p:sp>
          <p:nvSpPr>
            <p:cNvPr id="313388" name="Text Box 18"/>
            <p:cNvSpPr txBox="1">
              <a:spLocks noChangeArrowheads="1"/>
            </p:cNvSpPr>
            <p:nvPr/>
          </p:nvSpPr>
          <p:spPr bwMode="auto">
            <a:xfrm>
              <a:off x="3520756" y="2513236"/>
              <a:ext cx="266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solidFill>
                    <a:srgbClr val="000000"/>
                  </a:solidFill>
                  <a:latin typeface="arial" pitchFamily="34" charset="0"/>
                  <a:ea typeface="맑은 고딕" pitchFamily="50" charset="-127"/>
                </a:rPr>
                <a:t>B</a:t>
              </a:r>
            </a:p>
          </p:txBody>
        </p:sp>
        <p:sp>
          <p:nvSpPr>
            <p:cNvPr id="313389" name="Text Box 19"/>
            <p:cNvSpPr txBox="1">
              <a:spLocks noChangeArrowheads="1"/>
            </p:cNvSpPr>
            <p:nvPr/>
          </p:nvSpPr>
          <p:spPr bwMode="auto">
            <a:xfrm>
              <a:off x="3520756" y="3681636"/>
              <a:ext cx="266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solidFill>
                    <a:srgbClr val="000000"/>
                  </a:solidFill>
                  <a:latin typeface="arial" pitchFamily="34" charset="0"/>
                  <a:ea typeface="맑은 고딕" pitchFamily="50" charset="-127"/>
                </a:rPr>
                <a:t>D</a:t>
              </a:r>
            </a:p>
          </p:txBody>
        </p:sp>
        <p:sp>
          <p:nvSpPr>
            <p:cNvPr id="313390" name="Text Box 20"/>
            <p:cNvSpPr txBox="1">
              <a:spLocks noChangeArrowheads="1"/>
            </p:cNvSpPr>
            <p:nvPr/>
          </p:nvSpPr>
          <p:spPr bwMode="auto">
            <a:xfrm>
              <a:off x="2460559" y="2785109"/>
              <a:ext cx="1019830" cy="715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900" dirty="0">
                  <a:solidFill>
                    <a:srgbClr val="000000"/>
                  </a:solidFill>
                  <a:latin typeface="arial" pitchFamily="34" charset="0"/>
                  <a:ea typeface="맑은 고딕" pitchFamily="50" charset="-127"/>
                </a:rPr>
                <a:t>Inadequate control</a:t>
              </a:r>
              <a:endParaRPr lang="ko-KR" altLang="en-US" sz="900" dirty="0">
                <a:solidFill>
                  <a:srgbClr val="000000"/>
                </a:solidFill>
                <a:latin typeface="arial" pitchFamily="34" charset="0"/>
                <a:ea typeface="맑은 고딕" pitchFamily="50" charset="-127"/>
              </a:endParaRPr>
            </a:p>
            <a:p>
              <a:pPr eaLnBrk="1" hangingPunct="1">
                <a:spcBef>
                  <a:spcPct val="50000"/>
                </a:spcBef>
              </a:pPr>
              <a:r>
                <a:rPr lang="en-US" altLang="ko-KR" sz="900" dirty="0">
                  <a:solidFill>
                    <a:srgbClr val="000000"/>
                  </a:solidFill>
                  <a:latin typeface="arial" pitchFamily="34" charset="0"/>
                  <a:ea typeface="맑은 고딕" pitchFamily="50" charset="-127"/>
                </a:rPr>
                <a:t>Inadequate technology</a:t>
              </a:r>
              <a:endParaRPr lang="ko-KR" altLang="en-US" sz="900" dirty="0">
                <a:solidFill>
                  <a:srgbClr val="000000"/>
                </a:solidFill>
                <a:latin typeface="arial" pitchFamily="34" charset="0"/>
                <a:ea typeface="맑은 고딕" pitchFamily="50" charset="-127"/>
              </a:endParaRPr>
            </a:p>
          </p:txBody>
        </p:sp>
        <p:sp>
          <p:nvSpPr>
            <p:cNvPr id="313394" name="Oval 25"/>
            <p:cNvSpPr>
              <a:spLocks noChangeArrowheads="1"/>
            </p:cNvSpPr>
            <p:nvPr/>
          </p:nvSpPr>
          <p:spPr bwMode="auto">
            <a:xfrm>
              <a:off x="2326456" y="4543730"/>
              <a:ext cx="106363" cy="109537"/>
            </a:xfrm>
            <a:prstGeom prst="ellipse">
              <a:avLst/>
            </a:prstGeom>
            <a:solidFill>
              <a:srgbClr val="C5003D"/>
            </a:solidFill>
            <a:ln w="9525" algn="ctr">
              <a:solidFill>
                <a:srgbClr val="C5003D"/>
              </a:solidFill>
              <a:round/>
              <a:headEnd/>
              <a:tailEnd/>
            </a:ln>
          </p:spPr>
          <p:txBody>
            <a:bodyPr wrap="none" anchor="ctr"/>
            <a:lstStyle/>
            <a:p>
              <a:pPr algn="ctr"/>
              <a:endParaRPr lang="ko-KR" altLang="en-US" sz="1000" dirty="0">
                <a:solidFill>
                  <a:srgbClr val="000000"/>
                </a:solidFill>
                <a:latin typeface="arial" pitchFamily="34" charset="0"/>
                <a:ea typeface="맑은 고딕" pitchFamily="50" charset="-127"/>
              </a:endParaRPr>
            </a:p>
          </p:txBody>
        </p:sp>
        <p:sp>
          <p:nvSpPr>
            <p:cNvPr id="313395" name="Line 28"/>
            <p:cNvSpPr>
              <a:spLocks noChangeShapeType="1"/>
            </p:cNvSpPr>
            <p:nvPr/>
          </p:nvSpPr>
          <p:spPr bwMode="auto">
            <a:xfrm flipV="1">
              <a:off x="2432818" y="4598497"/>
              <a:ext cx="1221287" cy="1"/>
            </a:xfrm>
            <a:prstGeom prst="line">
              <a:avLst/>
            </a:prstGeom>
            <a:noFill/>
            <a:ln w="9525">
              <a:solidFill>
                <a:srgbClr val="C5003D"/>
              </a:solidFill>
              <a:round/>
              <a:headEnd/>
              <a:tailEnd type="triangle" w="med" len="med"/>
            </a:ln>
            <a:extLst>
              <a:ext uri="{909E8E84-426E-40DD-AFC4-6F175D3DCCD1}">
                <a14:hiddenFill xmlns:a14="http://schemas.microsoft.com/office/drawing/2010/main">
                  <a:noFill/>
                </a14:hiddenFill>
              </a:ext>
            </a:extLst>
          </p:spPr>
          <p:txBody>
            <a:bodyPr anchor="ctr"/>
            <a:lstStyle/>
            <a:p>
              <a:endParaRPr lang="ko-KR" altLang="en-US" dirty="0"/>
            </a:p>
          </p:txBody>
        </p:sp>
        <p:sp>
          <p:nvSpPr>
            <p:cNvPr id="313396" name="Line 30"/>
            <p:cNvSpPr>
              <a:spLocks noChangeShapeType="1"/>
            </p:cNvSpPr>
            <p:nvPr/>
          </p:nvSpPr>
          <p:spPr bwMode="auto">
            <a:xfrm>
              <a:off x="1014094" y="2676748"/>
              <a:ext cx="0" cy="2160588"/>
            </a:xfrm>
            <a:prstGeom prst="line">
              <a:avLst/>
            </a:prstGeom>
            <a:noFill/>
            <a:ln w="9525">
              <a:solidFill>
                <a:srgbClr val="C5003D"/>
              </a:solidFill>
              <a:round/>
              <a:headEnd type="triangle" w="med" len="med"/>
              <a:tailEnd type="triangle" w="med" len="med"/>
            </a:ln>
            <a:extLst>
              <a:ext uri="{909E8E84-426E-40DD-AFC4-6F175D3DCCD1}">
                <a14:hiddenFill xmlns:a14="http://schemas.microsoft.com/office/drawing/2010/main">
                  <a:noFill/>
                </a14:hiddenFill>
              </a:ext>
            </a:extLst>
          </p:spPr>
          <p:txBody>
            <a:bodyPr anchor="ctr"/>
            <a:lstStyle/>
            <a:p>
              <a:endParaRPr lang="ko-KR" altLang="en-US" dirty="0"/>
            </a:p>
          </p:txBody>
        </p:sp>
        <p:sp>
          <p:nvSpPr>
            <p:cNvPr id="313397" name="Line 31"/>
            <p:cNvSpPr>
              <a:spLocks noChangeShapeType="1"/>
            </p:cNvSpPr>
            <p:nvPr/>
          </p:nvSpPr>
          <p:spPr bwMode="auto">
            <a:xfrm>
              <a:off x="1318894" y="5151537"/>
              <a:ext cx="3240087" cy="0"/>
            </a:xfrm>
            <a:prstGeom prst="line">
              <a:avLst/>
            </a:prstGeom>
            <a:noFill/>
            <a:ln w="9525">
              <a:solidFill>
                <a:srgbClr val="C5003D"/>
              </a:solidFill>
              <a:round/>
              <a:headEnd type="triangle" w="med" len="med"/>
              <a:tailEnd type="triangle" w="med" len="med"/>
            </a:ln>
            <a:extLst>
              <a:ext uri="{909E8E84-426E-40DD-AFC4-6F175D3DCCD1}">
                <a14:hiddenFill xmlns:a14="http://schemas.microsoft.com/office/drawing/2010/main">
                  <a:noFill/>
                </a14:hiddenFill>
              </a:ext>
            </a:extLst>
          </p:spPr>
          <p:txBody>
            <a:bodyPr anchor="ctr"/>
            <a:lstStyle/>
            <a:p>
              <a:endParaRPr lang="ko-KR" altLang="en-US" dirty="0"/>
            </a:p>
          </p:txBody>
        </p:sp>
        <p:sp>
          <p:nvSpPr>
            <p:cNvPr id="313398" name="Text Box 32"/>
            <p:cNvSpPr txBox="1">
              <a:spLocks noChangeArrowheads="1"/>
            </p:cNvSpPr>
            <p:nvPr/>
          </p:nvSpPr>
          <p:spPr bwMode="auto">
            <a:xfrm>
              <a:off x="471169" y="2571973"/>
              <a:ext cx="5762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dirty="0" err="1">
                  <a:solidFill>
                    <a:srgbClr val="000000"/>
                  </a:solidFill>
                  <a:latin typeface="arial" pitchFamily="34" charset="0"/>
                  <a:ea typeface="맑은 고딕" pitchFamily="50" charset="-127"/>
                </a:rPr>
                <a:t>Kém</a:t>
              </a:r>
              <a:endParaRPr lang="en-US" altLang="ko-KR" sz="1200" dirty="0">
                <a:solidFill>
                  <a:srgbClr val="000000"/>
                </a:solidFill>
                <a:latin typeface="arial" pitchFamily="34" charset="0"/>
                <a:ea typeface="맑은 고딕" pitchFamily="50" charset="-127"/>
              </a:endParaRPr>
            </a:p>
          </p:txBody>
        </p:sp>
        <p:sp>
          <p:nvSpPr>
            <p:cNvPr id="313399" name="Text Box 33"/>
            <p:cNvSpPr txBox="1">
              <a:spLocks noChangeArrowheads="1"/>
            </p:cNvSpPr>
            <p:nvPr/>
          </p:nvSpPr>
          <p:spPr bwMode="auto">
            <a:xfrm>
              <a:off x="466406" y="4634136"/>
              <a:ext cx="5762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dirty="0" err="1">
                  <a:solidFill>
                    <a:srgbClr val="000000"/>
                  </a:solidFill>
                  <a:latin typeface="arial" pitchFamily="34" charset="0"/>
                  <a:ea typeface="맑은 고딕" pitchFamily="50" charset="-127"/>
                </a:rPr>
                <a:t>Tốt</a:t>
              </a:r>
              <a:endParaRPr lang="en-US" altLang="ko-KR" sz="1200" dirty="0">
                <a:solidFill>
                  <a:srgbClr val="000000"/>
                </a:solidFill>
                <a:latin typeface="arial" pitchFamily="34" charset="0"/>
                <a:ea typeface="맑은 고딕" pitchFamily="50" charset="-127"/>
              </a:endParaRPr>
            </a:p>
          </p:txBody>
        </p:sp>
        <p:sp>
          <p:nvSpPr>
            <p:cNvPr id="313400" name="Text Box 34"/>
            <p:cNvSpPr txBox="1">
              <a:spLocks noChangeArrowheads="1"/>
            </p:cNvSpPr>
            <p:nvPr/>
          </p:nvSpPr>
          <p:spPr bwMode="auto">
            <a:xfrm>
              <a:off x="4220844" y="5170587"/>
              <a:ext cx="5762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dirty="0" err="1">
                  <a:solidFill>
                    <a:srgbClr val="000000"/>
                  </a:solidFill>
                  <a:latin typeface="arial" pitchFamily="34" charset="0"/>
                  <a:ea typeface="맑은 고딕" pitchFamily="50" charset="-127"/>
                </a:rPr>
                <a:t>Tốt</a:t>
              </a:r>
              <a:endParaRPr lang="en-US" altLang="ko-KR" sz="1200" dirty="0">
                <a:solidFill>
                  <a:srgbClr val="000000"/>
                </a:solidFill>
                <a:latin typeface="arial" pitchFamily="34" charset="0"/>
                <a:ea typeface="맑은 고딕" pitchFamily="50" charset="-127"/>
              </a:endParaRPr>
            </a:p>
          </p:txBody>
        </p:sp>
        <p:sp>
          <p:nvSpPr>
            <p:cNvPr id="313401" name="Text Box 35"/>
            <p:cNvSpPr txBox="1">
              <a:spLocks noChangeArrowheads="1"/>
            </p:cNvSpPr>
            <p:nvPr/>
          </p:nvSpPr>
          <p:spPr bwMode="auto">
            <a:xfrm>
              <a:off x="1102994" y="5137249"/>
              <a:ext cx="5762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dirty="0" err="1">
                  <a:solidFill>
                    <a:srgbClr val="000000"/>
                  </a:solidFill>
                  <a:latin typeface="arial" pitchFamily="34" charset="0"/>
                  <a:ea typeface="맑은 고딕" pitchFamily="50" charset="-127"/>
                </a:rPr>
                <a:t>Kém</a:t>
              </a:r>
              <a:endParaRPr lang="en-US" altLang="ko-KR" sz="1200" dirty="0">
                <a:solidFill>
                  <a:srgbClr val="000000"/>
                </a:solidFill>
                <a:latin typeface="arial" pitchFamily="34" charset="0"/>
                <a:ea typeface="맑은 고딕" pitchFamily="50" charset="-127"/>
              </a:endParaRPr>
            </a:p>
          </p:txBody>
        </p:sp>
        <p:sp>
          <p:nvSpPr>
            <p:cNvPr id="313402" name="Text Box 36"/>
            <p:cNvSpPr txBox="1">
              <a:spLocks noChangeArrowheads="1"/>
            </p:cNvSpPr>
            <p:nvPr/>
          </p:nvSpPr>
          <p:spPr bwMode="auto">
            <a:xfrm rot="-5400000">
              <a:off x="256062" y="3520505"/>
              <a:ext cx="11525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000000"/>
                  </a:solidFill>
                  <a:latin typeface="arial" pitchFamily="34" charset="0"/>
                  <a:ea typeface="맑은 고딕" pitchFamily="50" charset="-127"/>
                </a:rPr>
                <a:t>Quản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lý</a:t>
              </a:r>
              <a:endParaRPr lang="en-US" altLang="ko-KR" sz="1200" b="1" dirty="0">
                <a:solidFill>
                  <a:srgbClr val="000000"/>
                </a:solidFill>
                <a:latin typeface="arial" pitchFamily="34" charset="0"/>
                <a:ea typeface="맑은 고딕" pitchFamily="50" charset="-127"/>
              </a:endParaRPr>
            </a:p>
          </p:txBody>
        </p:sp>
        <p:sp>
          <p:nvSpPr>
            <p:cNvPr id="313403" name="Text Box 37"/>
            <p:cNvSpPr txBox="1">
              <a:spLocks noChangeArrowheads="1"/>
            </p:cNvSpPr>
            <p:nvPr/>
          </p:nvSpPr>
          <p:spPr bwMode="auto">
            <a:xfrm>
              <a:off x="2469831" y="5126137"/>
              <a:ext cx="11525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err="1">
                  <a:solidFill>
                    <a:srgbClr val="000000"/>
                  </a:solidFill>
                  <a:latin typeface="arial" pitchFamily="34" charset="0"/>
                  <a:ea typeface="맑은 고딕" pitchFamily="50" charset="-127"/>
                </a:rPr>
                <a:t>Công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nghệ</a:t>
              </a:r>
              <a:endParaRPr lang="en-US" altLang="ko-KR" sz="1200" b="1" dirty="0">
                <a:solidFill>
                  <a:srgbClr val="000000"/>
                </a:solidFill>
                <a:latin typeface="arial" pitchFamily="34" charset="0"/>
                <a:ea typeface="맑은 고딕" pitchFamily="50" charset="-127"/>
              </a:endParaRPr>
            </a:p>
          </p:txBody>
        </p:sp>
        <p:sp>
          <p:nvSpPr>
            <p:cNvPr id="313404" name="Rectangle 55"/>
            <p:cNvSpPr>
              <a:spLocks noChangeArrowheads="1"/>
            </p:cNvSpPr>
            <p:nvPr/>
          </p:nvSpPr>
          <p:spPr bwMode="auto">
            <a:xfrm>
              <a:off x="3911852" y="4850498"/>
              <a:ext cx="13291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ko-KR" sz="1200" b="1" dirty="0" err="1">
                  <a:solidFill>
                    <a:srgbClr val="000000"/>
                  </a:solidFill>
                  <a:latin typeface="arial" pitchFamily="34" charset="0"/>
                  <a:ea typeface="맑은 고딕" pitchFamily="50" charset="-127"/>
                </a:rPr>
                <a:t>Z</a:t>
              </a:r>
              <a:r>
                <a:rPr lang="en-US" altLang="ko-KR" sz="1200" b="1" baseline="-25000" dirty="0" err="1">
                  <a:solidFill>
                    <a:srgbClr val="000000"/>
                  </a:solidFill>
                  <a:latin typeface="arial" pitchFamily="34" charset="0"/>
                  <a:ea typeface="맑은 고딕" pitchFamily="50" charset="-127"/>
                </a:rPr>
                <a:t>st</a:t>
              </a:r>
              <a:r>
                <a:rPr lang="en-US" altLang="ko-KR" sz="1200" b="1" dirty="0">
                  <a:solidFill>
                    <a:srgbClr val="000000"/>
                  </a:solidFill>
                  <a:latin typeface="arial" pitchFamily="34" charset="0"/>
                  <a:ea typeface="맑은 고딕" pitchFamily="50" charset="-127"/>
                </a:rPr>
                <a:t> or Z</a:t>
              </a:r>
              <a:r>
                <a:rPr lang="en-US" altLang="ko-KR" sz="1200" b="1" baseline="-25000" dirty="0">
                  <a:solidFill>
                    <a:srgbClr val="000000"/>
                  </a:solidFill>
                  <a:latin typeface="arial" pitchFamily="34" charset="0"/>
                  <a:ea typeface="맑은 고딕" pitchFamily="50" charset="-127"/>
                </a:rPr>
                <a:t>st,Bench</a:t>
              </a:r>
              <a:endParaRPr lang="en-US" altLang="ko-KR" sz="1200" b="1" dirty="0">
                <a:solidFill>
                  <a:srgbClr val="000000"/>
                </a:solidFill>
                <a:latin typeface="arial" pitchFamily="34" charset="0"/>
                <a:ea typeface="맑은 고딕" pitchFamily="50" charset="-127"/>
              </a:endParaRPr>
            </a:p>
          </p:txBody>
        </p:sp>
      </p:grpSp>
      <p:grpSp>
        <p:nvGrpSpPr>
          <p:cNvPr id="4" name="그룹 65"/>
          <p:cNvGrpSpPr>
            <a:grpSpLocks/>
          </p:cNvGrpSpPr>
          <p:nvPr/>
        </p:nvGrpSpPr>
        <p:grpSpPr bwMode="auto">
          <a:xfrm>
            <a:off x="6191879" y="3059113"/>
            <a:ext cx="3045785" cy="1022350"/>
            <a:chOff x="6192654" y="3138710"/>
            <a:chExt cx="3045136" cy="1022351"/>
          </a:xfrm>
        </p:grpSpPr>
        <p:sp>
          <p:nvSpPr>
            <p:cNvPr id="313355" name="Line 105"/>
            <p:cNvSpPr>
              <a:spLocks noChangeShapeType="1"/>
            </p:cNvSpPr>
            <p:nvPr/>
          </p:nvSpPr>
          <p:spPr bwMode="auto">
            <a:xfrm>
              <a:off x="6621590" y="3362548"/>
              <a:ext cx="0" cy="538163"/>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sp>
          <p:nvSpPr>
            <p:cNvPr id="313356" name="Line 107"/>
            <p:cNvSpPr>
              <a:spLocks noChangeShapeType="1"/>
            </p:cNvSpPr>
            <p:nvPr/>
          </p:nvSpPr>
          <p:spPr bwMode="auto">
            <a:xfrm>
              <a:off x="6297122" y="3900711"/>
              <a:ext cx="1008000" cy="0"/>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graphicFrame>
          <p:nvGraphicFramePr>
            <p:cNvPr id="313357" name="Object 108"/>
            <p:cNvGraphicFramePr>
              <a:graphicFrameLocks/>
            </p:cNvGraphicFramePr>
            <p:nvPr/>
          </p:nvGraphicFramePr>
          <p:xfrm>
            <a:off x="6292978" y="3245461"/>
            <a:ext cx="673100" cy="739775"/>
          </p:xfrm>
          <a:graphic>
            <a:graphicData uri="http://schemas.openxmlformats.org/presentationml/2006/ole">
              <mc:AlternateContent xmlns:mc="http://schemas.openxmlformats.org/markup-compatibility/2006">
                <mc:Choice xmlns:v="urn:schemas-microsoft-com:vml" Requires="v">
                  <p:oleObj name="차트" r:id="rId3" imgW="5533943" imgH="2990790" progId="MSGraph.Chart.8">
                    <p:embed followColorScheme="full"/>
                  </p:oleObj>
                </mc:Choice>
                <mc:Fallback>
                  <p:oleObj name="차트" r:id="rId3" imgW="5533943" imgH="2990790" progId="MSGraph.Chart.8">
                    <p:embed followColorScheme="full"/>
                    <p:pic>
                      <p:nvPicPr>
                        <p:cNvPr id="313357" name="Object 10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92978" y="3245461"/>
                          <a:ext cx="673100" cy="739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3358" name="Line 109"/>
            <p:cNvSpPr>
              <a:spLocks noChangeShapeType="1"/>
            </p:cNvSpPr>
            <p:nvPr/>
          </p:nvSpPr>
          <p:spPr bwMode="auto">
            <a:xfrm flipV="1">
              <a:off x="6815265" y="3325806"/>
              <a:ext cx="0" cy="576000"/>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sp>
          <p:nvSpPr>
            <p:cNvPr id="313359" name="Line 110"/>
            <p:cNvSpPr>
              <a:spLocks noChangeShapeType="1"/>
            </p:cNvSpPr>
            <p:nvPr/>
          </p:nvSpPr>
          <p:spPr bwMode="auto">
            <a:xfrm>
              <a:off x="7207378" y="3475261"/>
              <a:ext cx="0" cy="427037"/>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sp>
          <p:nvSpPr>
            <p:cNvPr id="313360" name="AutoShape 111"/>
            <p:cNvSpPr>
              <a:spLocks noChangeArrowheads="1"/>
            </p:cNvSpPr>
            <p:nvPr/>
          </p:nvSpPr>
          <p:spPr bwMode="auto">
            <a:xfrm>
              <a:off x="7051803" y="3453036"/>
              <a:ext cx="292100" cy="150812"/>
            </a:xfrm>
            <a:prstGeom prst="roundRect">
              <a:avLst>
                <a:gd name="adj" fmla="val 12495"/>
              </a:avLst>
            </a:prstGeom>
            <a:solidFill>
              <a:schemeClr val="bg1"/>
            </a:solidFill>
            <a:ln w="9525">
              <a:solidFill>
                <a:schemeClr val="tx1"/>
              </a:solidFill>
              <a:round/>
              <a:headEnd/>
              <a:tailEnd/>
            </a:ln>
          </p:spPr>
          <p:txBody>
            <a:bodyPr wrap="none" anchor="ctr"/>
            <a:lstStyle/>
            <a:p>
              <a:pPr algn="ctr"/>
              <a:endParaRPr lang="ko-KR" altLang="ko-KR" sz="1200" b="1" dirty="0">
                <a:solidFill>
                  <a:srgbClr val="000000"/>
                </a:solidFill>
                <a:latin typeface="arial" pitchFamily="34" charset="0"/>
                <a:ea typeface="맑은 고딕" pitchFamily="50" charset="-127"/>
              </a:endParaRPr>
            </a:p>
          </p:txBody>
        </p:sp>
        <p:sp>
          <p:nvSpPr>
            <p:cNvPr id="313361" name="Rectangle 112"/>
            <p:cNvSpPr>
              <a:spLocks noChangeArrowheads="1"/>
            </p:cNvSpPr>
            <p:nvPr/>
          </p:nvSpPr>
          <p:spPr bwMode="auto">
            <a:xfrm>
              <a:off x="6967826" y="3394297"/>
              <a:ext cx="469580" cy="262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100" b="1" dirty="0">
                  <a:solidFill>
                    <a:srgbClr val="000000"/>
                  </a:solidFill>
                  <a:latin typeface="arial" pitchFamily="34" charset="0"/>
                  <a:ea typeface="맑은 고딕" pitchFamily="50" charset="-127"/>
                </a:rPr>
                <a:t>USL</a:t>
              </a:r>
            </a:p>
          </p:txBody>
        </p:sp>
        <p:sp>
          <p:nvSpPr>
            <p:cNvPr id="313362" name="Line 113"/>
            <p:cNvSpPr>
              <a:spLocks noChangeShapeType="1"/>
            </p:cNvSpPr>
            <p:nvPr/>
          </p:nvSpPr>
          <p:spPr bwMode="auto">
            <a:xfrm>
              <a:off x="6423153" y="3475261"/>
              <a:ext cx="0" cy="427037"/>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sp>
          <p:nvSpPr>
            <p:cNvPr id="313363" name="AutoShape 114"/>
            <p:cNvSpPr>
              <a:spLocks noChangeArrowheads="1"/>
            </p:cNvSpPr>
            <p:nvPr/>
          </p:nvSpPr>
          <p:spPr bwMode="auto">
            <a:xfrm>
              <a:off x="6267578" y="3453036"/>
              <a:ext cx="292100" cy="150812"/>
            </a:xfrm>
            <a:prstGeom prst="roundRect">
              <a:avLst>
                <a:gd name="adj" fmla="val 12495"/>
              </a:avLst>
            </a:prstGeom>
            <a:solidFill>
              <a:schemeClr val="bg1"/>
            </a:solidFill>
            <a:ln w="9525">
              <a:solidFill>
                <a:schemeClr val="tx1"/>
              </a:solidFill>
              <a:round/>
              <a:headEnd/>
              <a:tailEnd/>
            </a:ln>
          </p:spPr>
          <p:txBody>
            <a:bodyPr wrap="none" anchor="ctr"/>
            <a:lstStyle/>
            <a:p>
              <a:pPr algn="ctr"/>
              <a:endParaRPr lang="ko-KR" altLang="ko-KR" sz="1200" b="1" dirty="0">
                <a:solidFill>
                  <a:srgbClr val="000000"/>
                </a:solidFill>
                <a:latin typeface="arial" pitchFamily="34" charset="0"/>
                <a:ea typeface="맑은 고딕" pitchFamily="50" charset="-127"/>
              </a:endParaRPr>
            </a:p>
          </p:txBody>
        </p:sp>
        <p:sp>
          <p:nvSpPr>
            <p:cNvPr id="313364" name="Rectangle 115"/>
            <p:cNvSpPr>
              <a:spLocks noChangeArrowheads="1"/>
            </p:cNvSpPr>
            <p:nvPr/>
          </p:nvSpPr>
          <p:spPr bwMode="auto">
            <a:xfrm>
              <a:off x="6192654" y="3394297"/>
              <a:ext cx="453553" cy="262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100" b="1" dirty="0">
                  <a:solidFill>
                    <a:srgbClr val="000000"/>
                  </a:solidFill>
                  <a:latin typeface="arial" pitchFamily="34" charset="0"/>
                  <a:ea typeface="맑은 고딕" pitchFamily="50" charset="-127"/>
                </a:rPr>
                <a:t>LSL</a:t>
              </a:r>
            </a:p>
          </p:txBody>
        </p:sp>
        <p:sp>
          <p:nvSpPr>
            <p:cNvPr id="313365" name="AutoShape 116"/>
            <p:cNvSpPr>
              <a:spLocks noChangeArrowheads="1"/>
            </p:cNvSpPr>
            <p:nvPr/>
          </p:nvSpPr>
          <p:spPr bwMode="auto">
            <a:xfrm>
              <a:off x="6720015" y="3206973"/>
              <a:ext cx="190500" cy="169863"/>
            </a:xfrm>
            <a:prstGeom prst="roundRect">
              <a:avLst>
                <a:gd name="adj" fmla="val 12495"/>
              </a:avLst>
            </a:prstGeom>
            <a:solidFill>
              <a:schemeClr val="bg1"/>
            </a:solidFill>
            <a:ln w="9525">
              <a:solidFill>
                <a:schemeClr val="tx1"/>
              </a:solidFill>
              <a:round/>
              <a:headEnd/>
              <a:tailEnd/>
            </a:ln>
          </p:spPr>
          <p:txBody>
            <a:bodyPr wrap="none" anchor="ctr"/>
            <a:lstStyle/>
            <a:p>
              <a:pPr algn="ctr"/>
              <a:endParaRPr lang="ko-KR" altLang="ko-KR" sz="1200" b="1" dirty="0">
                <a:solidFill>
                  <a:srgbClr val="000000"/>
                </a:solidFill>
                <a:latin typeface="arial" pitchFamily="34" charset="0"/>
                <a:ea typeface="맑은 고딕" pitchFamily="50" charset="-127"/>
              </a:endParaRPr>
            </a:p>
          </p:txBody>
        </p:sp>
        <p:sp>
          <p:nvSpPr>
            <p:cNvPr id="313366" name="Rectangle 117"/>
            <p:cNvSpPr>
              <a:spLocks noChangeArrowheads="1"/>
            </p:cNvSpPr>
            <p:nvPr/>
          </p:nvSpPr>
          <p:spPr bwMode="auto">
            <a:xfrm>
              <a:off x="6683650" y="3159347"/>
              <a:ext cx="272452" cy="262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altLang="ko-KR" sz="1100" b="1" dirty="0">
                  <a:solidFill>
                    <a:srgbClr val="000000"/>
                  </a:solidFill>
                  <a:latin typeface="arial" pitchFamily="34" charset="0"/>
                  <a:ea typeface="맑은 고딕" pitchFamily="50" charset="-127"/>
                </a:rPr>
                <a:t>T</a:t>
              </a:r>
            </a:p>
          </p:txBody>
        </p:sp>
        <p:graphicFrame>
          <p:nvGraphicFramePr>
            <p:cNvPr id="313367" name="Object 145"/>
            <p:cNvGraphicFramePr>
              <a:graphicFrameLocks/>
            </p:cNvGraphicFramePr>
            <p:nvPr/>
          </p:nvGraphicFramePr>
          <p:xfrm>
            <a:off x="7696328" y="3343498"/>
            <a:ext cx="1541462" cy="627063"/>
          </p:xfrm>
          <a:graphic>
            <a:graphicData uri="http://schemas.openxmlformats.org/presentationml/2006/ole">
              <mc:AlternateContent xmlns:mc="http://schemas.openxmlformats.org/markup-compatibility/2006">
                <mc:Choice xmlns:v="urn:schemas-microsoft-com:vml" Requires="v">
                  <p:oleObj name="차트" r:id="rId3" imgW="5533943" imgH="2990790" progId="MSGraph.Chart.8">
                    <p:embed followColorScheme="full"/>
                  </p:oleObj>
                </mc:Choice>
                <mc:Fallback>
                  <p:oleObj name="차트" r:id="rId3" imgW="5533943" imgH="2990790" progId="MSGraph.Chart.8">
                    <p:embed followColorScheme="full"/>
                    <p:pic>
                      <p:nvPicPr>
                        <p:cNvPr id="313367" name="Object 14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96328" y="3343498"/>
                          <a:ext cx="1541462" cy="627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3368" name="Line 146"/>
            <p:cNvSpPr>
              <a:spLocks noChangeShapeType="1"/>
            </p:cNvSpPr>
            <p:nvPr/>
          </p:nvSpPr>
          <p:spPr bwMode="auto">
            <a:xfrm>
              <a:off x="8456740" y="3360961"/>
              <a:ext cx="0" cy="538162"/>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sp>
          <p:nvSpPr>
            <p:cNvPr id="313369" name="Line 147"/>
            <p:cNvSpPr>
              <a:spLocks noChangeShapeType="1"/>
            </p:cNvSpPr>
            <p:nvPr/>
          </p:nvSpPr>
          <p:spPr bwMode="auto">
            <a:xfrm>
              <a:off x="7703189" y="3899317"/>
              <a:ext cx="1512000" cy="0"/>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sp>
          <p:nvSpPr>
            <p:cNvPr id="313370" name="Line 148"/>
            <p:cNvSpPr>
              <a:spLocks noChangeShapeType="1"/>
            </p:cNvSpPr>
            <p:nvPr/>
          </p:nvSpPr>
          <p:spPr bwMode="auto">
            <a:xfrm>
              <a:off x="8855203" y="3465542"/>
              <a:ext cx="0" cy="425450"/>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sp>
          <p:nvSpPr>
            <p:cNvPr id="313371" name="AutoShape 149"/>
            <p:cNvSpPr>
              <a:spLocks noChangeArrowheads="1"/>
            </p:cNvSpPr>
            <p:nvPr/>
          </p:nvSpPr>
          <p:spPr bwMode="auto">
            <a:xfrm>
              <a:off x="8699628" y="3432398"/>
              <a:ext cx="292100" cy="150813"/>
            </a:xfrm>
            <a:prstGeom prst="roundRect">
              <a:avLst>
                <a:gd name="adj" fmla="val 12495"/>
              </a:avLst>
            </a:prstGeom>
            <a:solidFill>
              <a:schemeClr val="bg1"/>
            </a:solidFill>
            <a:ln w="9525">
              <a:solidFill>
                <a:schemeClr val="tx1"/>
              </a:solidFill>
              <a:round/>
              <a:headEnd/>
              <a:tailEnd/>
            </a:ln>
          </p:spPr>
          <p:txBody>
            <a:bodyPr wrap="none" anchor="ctr"/>
            <a:lstStyle/>
            <a:p>
              <a:pPr algn="ctr"/>
              <a:endParaRPr lang="ko-KR" altLang="ko-KR" sz="1200" b="1" dirty="0">
                <a:solidFill>
                  <a:srgbClr val="000000"/>
                </a:solidFill>
                <a:latin typeface="arial" pitchFamily="34" charset="0"/>
                <a:ea typeface="맑은 고딕" pitchFamily="50" charset="-127"/>
              </a:endParaRPr>
            </a:p>
          </p:txBody>
        </p:sp>
        <p:sp>
          <p:nvSpPr>
            <p:cNvPr id="313372" name="Rectangle 150"/>
            <p:cNvSpPr>
              <a:spLocks noChangeArrowheads="1"/>
            </p:cNvSpPr>
            <p:nvPr/>
          </p:nvSpPr>
          <p:spPr bwMode="auto">
            <a:xfrm>
              <a:off x="8610637" y="3378422"/>
              <a:ext cx="469580" cy="262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100" b="1" dirty="0">
                  <a:solidFill>
                    <a:srgbClr val="000000"/>
                  </a:solidFill>
                  <a:latin typeface="arial" pitchFamily="34" charset="0"/>
                  <a:ea typeface="맑은 고딕" pitchFamily="50" charset="-127"/>
                </a:rPr>
                <a:t>USL</a:t>
              </a:r>
            </a:p>
          </p:txBody>
        </p:sp>
        <p:sp>
          <p:nvSpPr>
            <p:cNvPr id="313373" name="Line 151"/>
            <p:cNvSpPr>
              <a:spLocks noChangeShapeType="1"/>
            </p:cNvSpPr>
            <p:nvPr/>
          </p:nvSpPr>
          <p:spPr bwMode="auto">
            <a:xfrm>
              <a:off x="8070978" y="3465542"/>
              <a:ext cx="0" cy="425450"/>
            </a:xfrm>
            <a:prstGeom prst="line">
              <a:avLst/>
            </a:prstGeom>
            <a:noFill/>
            <a:ln w="952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dirty="0"/>
            </a:p>
          </p:txBody>
        </p:sp>
        <p:sp>
          <p:nvSpPr>
            <p:cNvPr id="313374" name="AutoShape 152"/>
            <p:cNvSpPr>
              <a:spLocks noChangeArrowheads="1"/>
            </p:cNvSpPr>
            <p:nvPr/>
          </p:nvSpPr>
          <p:spPr bwMode="auto">
            <a:xfrm>
              <a:off x="7915403" y="3432398"/>
              <a:ext cx="292100" cy="150813"/>
            </a:xfrm>
            <a:prstGeom prst="roundRect">
              <a:avLst>
                <a:gd name="adj" fmla="val 12495"/>
              </a:avLst>
            </a:prstGeom>
            <a:solidFill>
              <a:schemeClr val="bg1"/>
            </a:solidFill>
            <a:ln w="9525">
              <a:solidFill>
                <a:schemeClr val="tx1"/>
              </a:solidFill>
              <a:round/>
              <a:headEnd/>
              <a:tailEnd/>
            </a:ln>
          </p:spPr>
          <p:txBody>
            <a:bodyPr wrap="none" anchor="ctr"/>
            <a:lstStyle/>
            <a:p>
              <a:pPr algn="ctr"/>
              <a:endParaRPr lang="ko-KR" altLang="ko-KR" sz="1200" b="1" dirty="0">
                <a:solidFill>
                  <a:srgbClr val="000000"/>
                </a:solidFill>
                <a:latin typeface="arial" pitchFamily="34" charset="0"/>
                <a:ea typeface="맑은 고딕" pitchFamily="50" charset="-127"/>
              </a:endParaRPr>
            </a:p>
          </p:txBody>
        </p:sp>
        <p:sp>
          <p:nvSpPr>
            <p:cNvPr id="313375" name="Rectangle 153"/>
            <p:cNvSpPr>
              <a:spLocks noChangeArrowheads="1"/>
            </p:cNvSpPr>
            <p:nvPr/>
          </p:nvSpPr>
          <p:spPr bwMode="auto">
            <a:xfrm>
              <a:off x="7833012" y="3373659"/>
              <a:ext cx="453553" cy="262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latinLnBrk="0"/>
              <a:r>
                <a:rPr lang="en-US" altLang="ko-KR" sz="1100" b="1" dirty="0">
                  <a:solidFill>
                    <a:srgbClr val="000000"/>
                  </a:solidFill>
                  <a:latin typeface="arial" pitchFamily="34" charset="0"/>
                  <a:ea typeface="맑은 고딕" pitchFamily="50" charset="-127"/>
                </a:rPr>
                <a:t>LSL</a:t>
              </a:r>
            </a:p>
          </p:txBody>
        </p:sp>
        <p:sp>
          <p:nvSpPr>
            <p:cNvPr id="313376" name="AutoShape 154"/>
            <p:cNvSpPr>
              <a:spLocks noChangeArrowheads="1"/>
            </p:cNvSpPr>
            <p:nvPr/>
          </p:nvSpPr>
          <p:spPr bwMode="auto">
            <a:xfrm>
              <a:off x="8367840" y="3186336"/>
              <a:ext cx="192088" cy="169862"/>
            </a:xfrm>
            <a:prstGeom prst="roundRect">
              <a:avLst>
                <a:gd name="adj" fmla="val 12495"/>
              </a:avLst>
            </a:prstGeom>
            <a:solidFill>
              <a:schemeClr val="bg1"/>
            </a:solidFill>
            <a:ln w="9525">
              <a:solidFill>
                <a:schemeClr val="tx1"/>
              </a:solidFill>
              <a:round/>
              <a:headEnd/>
              <a:tailEnd/>
            </a:ln>
          </p:spPr>
          <p:txBody>
            <a:bodyPr wrap="none" anchor="ctr"/>
            <a:lstStyle/>
            <a:p>
              <a:pPr algn="ctr"/>
              <a:endParaRPr lang="ko-KR" altLang="ko-KR" sz="1200" b="1" dirty="0">
                <a:solidFill>
                  <a:srgbClr val="000000"/>
                </a:solidFill>
                <a:latin typeface="arial" pitchFamily="34" charset="0"/>
                <a:ea typeface="맑은 고딕" pitchFamily="50" charset="-127"/>
              </a:endParaRPr>
            </a:p>
          </p:txBody>
        </p:sp>
        <p:sp>
          <p:nvSpPr>
            <p:cNvPr id="313377" name="Rectangle 155"/>
            <p:cNvSpPr>
              <a:spLocks noChangeArrowheads="1"/>
            </p:cNvSpPr>
            <p:nvPr/>
          </p:nvSpPr>
          <p:spPr bwMode="auto">
            <a:xfrm>
              <a:off x="8325597" y="3138710"/>
              <a:ext cx="272452" cy="262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altLang="ko-KR" sz="1100" b="1" dirty="0">
                  <a:solidFill>
                    <a:srgbClr val="000000"/>
                  </a:solidFill>
                  <a:latin typeface="arial" pitchFamily="34" charset="0"/>
                  <a:ea typeface="맑은 고딕" pitchFamily="50" charset="-127"/>
                </a:rPr>
                <a:t>T</a:t>
              </a:r>
            </a:p>
          </p:txBody>
        </p:sp>
        <p:sp>
          <p:nvSpPr>
            <p:cNvPr id="313378" name="Rectangle 156"/>
            <p:cNvSpPr>
              <a:spLocks noChangeArrowheads="1"/>
            </p:cNvSpPr>
            <p:nvPr/>
          </p:nvSpPr>
          <p:spPr bwMode="auto">
            <a:xfrm>
              <a:off x="8336090" y="3881661"/>
              <a:ext cx="28098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altLang="ko-KR" sz="1200" b="1" dirty="0">
                  <a:solidFill>
                    <a:srgbClr val="000000"/>
                  </a:solidFill>
                  <a:latin typeface="arial" pitchFamily="34" charset="0"/>
                  <a:ea typeface="맑은 고딕" pitchFamily="50" charset="-127"/>
                </a:rPr>
                <a:t>μ</a:t>
              </a:r>
            </a:p>
          </p:txBody>
        </p:sp>
        <p:sp>
          <p:nvSpPr>
            <p:cNvPr id="313379" name="Rectangle 156"/>
            <p:cNvSpPr>
              <a:spLocks noChangeArrowheads="1"/>
            </p:cNvSpPr>
            <p:nvPr/>
          </p:nvSpPr>
          <p:spPr bwMode="auto">
            <a:xfrm>
              <a:off x="6673978" y="3883248"/>
              <a:ext cx="2794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altLang="ko-KR" sz="1200" b="1" dirty="0">
                  <a:solidFill>
                    <a:srgbClr val="000000"/>
                  </a:solidFill>
                  <a:latin typeface="arial" pitchFamily="34" charset="0"/>
                  <a:ea typeface="맑은 고딕" pitchFamily="50" charset="-127"/>
                </a:rPr>
                <a:t>μ</a:t>
              </a:r>
            </a:p>
          </p:txBody>
        </p:sp>
      </p:grpSp>
      <p:sp>
        <p:nvSpPr>
          <p:cNvPr id="313349" name="TextBox 59"/>
          <p:cNvSpPr txBox="1">
            <a:spLocks noChangeArrowheads="1"/>
          </p:cNvSpPr>
          <p:nvPr/>
        </p:nvSpPr>
        <p:spPr bwMode="auto">
          <a:xfrm>
            <a:off x="477838" y="1731963"/>
            <a:ext cx="25683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Phân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nhóm</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đồng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chất</a:t>
            </a:r>
            <a:r>
              <a:rPr lang="en-US" altLang="ko-KR" sz="1400" b="1" dirty="0">
                <a:solidFill>
                  <a:srgbClr val="000000"/>
                </a:solidFill>
                <a:latin typeface="arial" pitchFamily="34" charset="0"/>
                <a:ea typeface="맑은 고딕" pitchFamily="50" charset="-127"/>
              </a:rPr>
              <a:t> (O)</a:t>
            </a:r>
            <a:endParaRPr lang="ko-KR" altLang="en-US" sz="1400" b="1" dirty="0">
              <a:solidFill>
                <a:srgbClr val="000000"/>
              </a:solidFill>
              <a:latin typeface="arial" pitchFamily="34" charset="0"/>
              <a:ea typeface="맑은 고딕" pitchFamily="50" charset="-127"/>
            </a:endParaRPr>
          </a:p>
        </p:txBody>
      </p:sp>
      <p:sp>
        <p:nvSpPr>
          <p:cNvPr id="313350" name="TextBox 60"/>
          <p:cNvSpPr txBox="1">
            <a:spLocks noChangeArrowheads="1"/>
          </p:cNvSpPr>
          <p:nvPr/>
        </p:nvSpPr>
        <p:spPr bwMode="auto">
          <a:xfrm>
            <a:off x="5673725" y="1731963"/>
            <a:ext cx="25458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Phân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nhóm</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đồng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chất</a:t>
            </a:r>
            <a:r>
              <a:rPr lang="en-US" altLang="ko-KR" sz="1400" b="1" dirty="0">
                <a:solidFill>
                  <a:srgbClr val="000000"/>
                </a:solidFill>
                <a:latin typeface="arial" pitchFamily="34" charset="0"/>
                <a:ea typeface="맑은 고딕" pitchFamily="50" charset="-127"/>
              </a:rPr>
              <a:t> (X)</a:t>
            </a:r>
            <a:endParaRPr lang="ko-KR" altLang="en-US" sz="1400" b="1" dirty="0">
              <a:solidFill>
                <a:srgbClr val="000000"/>
              </a:solidFill>
              <a:latin typeface="arial" pitchFamily="34" charset="0"/>
              <a:ea typeface="맑은 고딕" pitchFamily="50" charset="-127"/>
            </a:endParaRPr>
          </a:p>
        </p:txBody>
      </p:sp>
      <p:sp>
        <p:nvSpPr>
          <p:cNvPr id="313351" name="TextBox 62"/>
          <p:cNvSpPr txBox="1">
            <a:spLocks noChangeArrowheads="1"/>
          </p:cNvSpPr>
          <p:nvPr/>
        </p:nvSpPr>
        <p:spPr bwMode="auto">
          <a:xfrm>
            <a:off x="5892800" y="2232025"/>
            <a:ext cx="38459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Tx/>
              <a:buChar char="-"/>
            </a:pPr>
            <a:r>
              <a:rPr lang="en-US" altLang="ko-KR" sz="1200" b="1" dirty="0" err="1">
                <a:solidFill>
                  <a:srgbClr val="000000"/>
                </a:solidFill>
                <a:latin typeface="arial" pitchFamily="34" charset="0"/>
                <a:ea typeface="맑은 고딕" pitchFamily="50" charset="-127"/>
              </a:rPr>
              <a:t>Khi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mẫu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được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lấy</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từ</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các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phòng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nghiên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cứu</a:t>
            </a:r>
            <a:endParaRPr lang="en-US" altLang="ko-KR" sz="1200" b="1" dirty="0">
              <a:solidFill>
                <a:srgbClr val="000000"/>
              </a:solidFill>
              <a:latin typeface="arial" pitchFamily="34" charset="0"/>
              <a:ea typeface="맑은 고딕" pitchFamily="50" charset="-127"/>
            </a:endParaRPr>
          </a:p>
          <a:p>
            <a:pPr eaLnBrk="1" hangingPunct="1">
              <a:buFontTx/>
              <a:buChar char="-"/>
            </a:pPr>
            <a:r>
              <a:rPr lang="en-US" altLang="ko-KR" sz="1200" b="1" dirty="0" err="1">
                <a:solidFill>
                  <a:srgbClr val="000000"/>
                </a:solidFill>
                <a:latin typeface="arial" pitchFamily="34" charset="0"/>
                <a:ea typeface="맑은 고딕" pitchFamily="50" charset="-127"/>
              </a:rPr>
              <a:t>Khi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việc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thập</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mẫu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là</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rất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khó</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khăn</a:t>
            </a:r>
            <a:r>
              <a:rPr lang="en-US" altLang="ko-KR" sz="1200" b="1" dirty="0">
                <a:solidFill>
                  <a:srgbClr val="000000"/>
                </a:solidFill>
                <a:latin typeface="arial" pitchFamily="34" charset="0"/>
                <a:ea typeface="맑은 고딕" pitchFamily="50" charset="-127"/>
              </a:rPr>
              <a:t> do </a:t>
            </a:r>
            <a:r>
              <a:rPr lang="en-US" altLang="ko-KR" sz="1200" b="1" dirty="0" err="1">
                <a:solidFill>
                  <a:srgbClr val="000000"/>
                </a:solidFill>
                <a:latin typeface="arial" pitchFamily="34" charset="0"/>
                <a:ea typeface="맑은 고딕" pitchFamily="50" charset="-127"/>
              </a:rPr>
              <a:t>chu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kỳ</a:t>
            </a:r>
            <a:br>
              <a:rPr lang="en-US" altLang="ko-KR" sz="1200" b="1" dirty="0">
                <a:solidFill>
                  <a:srgbClr val="000000"/>
                </a:solidFill>
                <a:latin typeface="arial" pitchFamily="34" charset="0"/>
                <a:ea typeface="맑은 고딕" pitchFamily="50" charset="-127"/>
              </a:rPr>
            </a:br>
            <a:r>
              <a:rPr lang="en-US" altLang="ko-KR" sz="1200" b="1" dirty="0" err="1">
                <a:solidFill>
                  <a:srgbClr val="000000"/>
                </a:solidFill>
                <a:latin typeface="arial" pitchFamily="34" charset="0"/>
                <a:ea typeface="맑은 고딕" pitchFamily="50" charset="-127"/>
              </a:rPr>
              <a:t>sản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xuất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dài</a:t>
            </a:r>
            <a:r>
              <a:rPr lang="en-US" altLang="ko-KR" sz="1200" b="1" dirty="0">
                <a:solidFill>
                  <a:srgbClr val="000000"/>
                </a:solidFill>
                <a:latin typeface="arial" pitchFamily="34" charset="0"/>
                <a:ea typeface="맑은 고딕" pitchFamily="50" charset="-127"/>
              </a:rPr>
              <a:t>.</a:t>
            </a:r>
          </a:p>
        </p:txBody>
      </p:sp>
      <p:sp>
        <p:nvSpPr>
          <p:cNvPr id="313352" name="TextBox 63"/>
          <p:cNvSpPr txBox="1">
            <a:spLocks noChangeArrowheads="1"/>
          </p:cNvSpPr>
          <p:nvPr/>
        </p:nvSpPr>
        <p:spPr bwMode="auto">
          <a:xfrm>
            <a:off x="5845233" y="4458872"/>
            <a:ext cx="406076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err="1">
                <a:solidFill>
                  <a:srgbClr val="000000"/>
                </a:solidFill>
                <a:latin typeface="arial" pitchFamily="34" charset="0"/>
                <a:ea typeface="맑은 고딕" pitchFamily="50" charset="-127"/>
              </a:rPr>
              <a:t>Quan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sát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mức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độ</a:t>
            </a:r>
            <a:r>
              <a:rPr lang="ko-KR" altLang="en-US" sz="1200" b="1" dirty="0">
                <a:solidFill>
                  <a:srgbClr val="000000"/>
                </a:solidFill>
                <a:latin typeface="arial" pitchFamily="34" charset="0"/>
                <a:ea typeface="맑은 고딕" pitchFamily="50" charset="-127"/>
              </a:rPr>
              <a:t> </a:t>
            </a:r>
            <a:r>
              <a:rPr lang="en-US" altLang="ko-KR" sz="1200" b="1" dirty="0">
                <a:solidFill>
                  <a:srgbClr val="000000"/>
                </a:solidFill>
                <a:latin typeface="arial" pitchFamily="34" charset="0"/>
                <a:ea typeface="맑은 고딕" pitchFamily="50" charset="-127"/>
              </a:rPr>
              <a:t>sigma </a:t>
            </a:r>
            <a:r>
              <a:rPr lang="en-US" altLang="ko-KR" sz="1200" b="1" dirty="0" err="1">
                <a:solidFill>
                  <a:srgbClr val="000000"/>
                </a:solidFill>
                <a:latin typeface="arial" pitchFamily="34" charset="0"/>
                <a:ea typeface="맑은 고딕" pitchFamily="50" charset="-127"/>
              </a:rPr>
              <a:t>và</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vị</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trí</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hiện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tại</a:t>
            </a:r>
            <a:r>
              <a:rPr lang="en-US" altLang="ko-KR" sz="1200" b="1" dirty="0">
                <a:solidFill>
                  <a:srgbClr val="000000"/>
                </a:solidFill>
                <a:latin typeface="arial" pitchFamily="34" charset="0"/>
                <a:ea typeface="맑은 고딕" pitchFamily="50" charset="-127"/>
              </a:rPr>
              <a:t>,</a:t>
            </a:r>
            <a:r>
              <a:rPr lang="ko-KR" altLang="en-US" sz="1200" b="1" dirty="0">
                <a:solidFill>
                  <a:srgbClr val="000000"/>
                </a:solidFill>
                <a:latin typeface="arial" pitchFamily="34" charset="0"/>
                <a:ea typeface="맑은 고딕" pitchFamily="50" charset="-127"/>
              </a:rPr>
              <a:t> </a:t>
            </a:r>
            <a:endParaRPr lang="en-US" altLang="ko-KR" sz="1200" b="1" dirty="0">
              <a:solidFill>
                <a:srgbClr val="000000"/>
              </a:solidFill>
              <a:latin typeface="arial" pitchFamily="34" charset="0"/>
              <a:ea typeface="맑은 고딕" pitchFamily="50" charset="-127"/>
            </a:endParaRPr>
          </a:p>
          <a:p>
            <a:pPr marL="171450" indent="-171450" eaLnBrk="1" hangingPunct="1">
              <a:buFontTx/>
              <a:buChar char="-"/>
            </a:pPr>
            <a:r>
              <a:rPr lang="en-US" altLang="ko-KR" sz="1200" b="1" dirty="0" err="1">
                <a:solidFill>
                  <a:srgbClr val="000000"/>
                </a:solidFill>
                <a:latin typeface="arial" pitchFamily="34" charset="0"/>
                <a:ea typeface="맑은 고딕" pitchFamily="50" charset="-127"/>
              </a:rPr>
              <a:t>Thiết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lập</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các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định</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hướng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về</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mục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tiêu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cải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tiến</a:t>
            </a:r>
            <a:endParaRPr lang="en-US" altLang="ko-KR" sz="1200" b="1" dirty="0">
              <a:solidFill>
                <a:srgbClr val="000000"/>
              </a:solidFill>
              <a:latin typeface="arial" pitchFamily="34" charset="0"/>
              <a:ea typeface="맑은 고딕" pitchFamily="50" charset="-127"/>
            </a:endParaRPr>
          </a:p>
          <a:p>
            <a:pPr marL="171450" indent="-171450" eaLnBrk="1" hangingPunct="1">
              <a:buFontTx/>
              <a:buChar char="-"/>
            </a:pPr>
            <a:r>
              <a:rPr lang="en-US" altLang="ko-KR" sz="1200" b="1" dirty="0" err="1">
                <a:solidFill>
                  <a:srgbClr val="000000"/>
                </a:solidFill>
                <a:latin typeface="arial" pitchFamily="34" charset="0"/>
                <a:ea typeface="맑은 고딕" pitchFamily="50" charset="-127"/>
              </a:rPr>
              <a:t>Khi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không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có</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phân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nhóm</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đồng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chất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phù</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hợp</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các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vấn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đề</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trong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nhóm</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và</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giữa</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các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nhóm</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sẽ</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không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rõ</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ràng</a:t>
            </a:r>
            <a:r>
              <a:rPr lang="en-US" altLang="ko-KR" sz="1200" b="1" dirty="0">
                <a:solidFill>
                  <a:srgbClr val="000000"/>
                </a:solidFill>
                <a:latin typeface="arial" pitchFamily="34" charset="0"/>
                <a:ea typeface="맑은 고딕" pitchFamily="50" charset="-127"/>
              </a:rPr>
              <a:t>, do </a:t>
            </a:r>
            <a:r>
              <a:rPr lang="en-US" altLang="ko-KR" sz="1200" b="1" dirty="0" err="1">
                <a:solidFill>
                  <a:srgbClr val="000000"/>
                </a:solidFill>
                <a:latin typeface="arial" pitchFamily="34" charset="0"/>
                <a:ea typeface="맑은 고딕" pitchFamily="50" charset="-127"/>
              </a:rPr>
              <a:t>đó</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quyết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định</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của</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bạn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phải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được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đưa</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ra</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dựa</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trên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những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dữ</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liệu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đo</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đạt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thực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tế</a:t>
            </a:r>
            <a:r>
              <a:rPr lang="en-US" altLang="ko-KR" sz="1200" b="1" dirty="0">
                <a:solidFill>
                  <a:srgbClr val="000000"/>
                </a:solidFill>
                <a:latin typeface="arial" pitchFamily="34" charset="0"/>
                <a:ea typeface="맑은 고딕" pitchFamily="50" charset="-127"/>
              </a:rPr>
              <a:t>.</a:t>
            </a:r>
          </a:p>
        </p:txBody>
      </p:sp>
      <p:sp>
        <p:nvSpPr>
          <p:cNvPr id="63" name="TextBox 62"/>
          <p:cNvSpPr txBox="1"/>
          <p:nvPr/>
        </p:nvSpPr>
        <p:spPr>
          <a:xfrm>
            <a:off x="200025" y="908050"/>
            <a:ext cx="9505950" cy="649288"/>
          </a:xfrm>
          <a:prstGeom prst="rect">
            <a:avLst/>
          </a:prstGeom>
          <a:noFill/>
        </p:spPr>
        <p:txBody>
          <a:bodyPr/>
          <a:lstStyle/>
          <a:p>
            <a:pPr marL="269875" indent="-269875" fontAlgn="auto">
              <a:spcBef>
                <a:spcPts val="600"/>
              </a:spcBef>
              <a:spcAft>
                <a:spcPts val="0"/>
              </a:spcAft>
              <a:defRPr/>
            </a:pPr>
            <a:r>
              <a:rPr kumimoji="0" lang="en-US" altLang="ko-KR" sz="1400" b="1" dirty="0">
                <a:latin typeface="arial" pitchFamily="34" charset="0"/>
                <a:ea typeface="+mn-ea"/>
              </a:rPr>
              <a:t>	</a:t>
            </a:r>
            <a:r>
              <a:rPr kumimoji="0" lang="vi-VN" altLang="ko-KR" sz="1400" b="1" dirty="0">
                <a:latin typeface="+mn-lt"/>
                <a:ea typeface="+mn-ea"/>
              </a:rPr>
              <a:t>- </a:t>
            </a:r>
            <a:r>
              <a:rPr kumimoji="0" lang="en-US" altLang="ko-KR" sz="1400" b="1" dirty="0">
                <a:latin typeface="arial" pitchFamily="34" charset="0"/>
                <a:ea typeface="+mn-ea"/>
              </a:rPr>
              <a:t> </a:t>
            </a:r>
            <a:r>
              <a:rPr kumimoji="0" lang="vi-VN" altLang="ko-KR" sz="1400" b="1" dirty="0">
                <a:latin typeface="+mn-lt"/>
                <a:ea typeface="+mn-ea"/>
              </a:rPr>
              <a:t>Hiện tại</a:t>
            </a:r>
            <a:r>
              <a:rPr kumimoji="0" lang="en-US" altLang="ko-KR" sz="1400" b="1" dirty="0">
                <a:latin typeface="arial" pitchFamily="34" charset="0"/>
                <a:ea typeface="+mn-ea"/>
              </a:rPr>
              <a:t> ở </a:t>
            </a:r>
            <a:r>
              <a:rPr kumimoji="0" lang="en-US" altLang="ko-KR" sz="1400" b="1" dirty="0" err="1">
                <a:latin typeface="arial" pitchFamily="34" charset="0"/>
                <a:ea typeface="+mn-ea"/>
              </a:rPr>
              <a:t>khu</a:t>
            </a:r>
            <a:r>
              <a:rPr kumimoji="0" lang="en-US" altLang="ko-KR" sz="1400" b="1" dirty="0">
                <a:latin typeface="arial" pitchFamily="34" charset="0"/>
                <a:ea typeface="+mn-ea"/>
              </a:rPr>
              <a:t> </a:t>
            </a:r>
            <a:r>
              <a:rPr kumimoji="0" lang="en-US" altLang="ko-KR" sz="1400" b="1" dirty="0" err="1">
                <a:latin typeface="arial" pitchFamily="34" charset="0"/>
                <a:ea typeface="+mn-ea"/>
              </a:rPr>
              <a:t>vực</a:t>
            </a:r>
            <a:r>
              <a:rPr kumimoji="0" lang="en-US" altLang="ko-KR" sz="1400" b="1" dirty="0">
                <a:latin typeface="arial" pitchFamily="34" charset="0"/>
                <a:ea typeface="+mn-ea"/>
              </a:rPr>
              <a:t> C</a:t>
            </a:r>
            <a:r>
              <a:rPr kumimoji="0" lang="vi-VN" altLang="ko-KR" sz="1400" b="1" dirty="0">
                <a:latin typeface="+mn-lt"/>
                <a:ea typeface="+mn-ea"/>
              </a:rPr>
              <a:t>, </a:t>
            </a:r>
            <a:r>
              <a:rPr kumimoji="0" lang="en-US" altLang="ko-KR" sz="1400" b="1" dirty="0" err="1">
                <a:latin typeface="arial" pitchFamily="34" charset="0"/>
                <a:ea typeface="+mn-ea"/>
              </a:rPr>
              <a:t>khả</a:t>
            </a:r>
            <a:r>
              <a:rPr kumimoji="0" lang="en-US" altLang="ko-KR" sz="1400" b="1" dirty="0">
                <a:latin typeface="arial" pitchFamily="34" charset="0"/>
                <a:ea typeface="+mn-ea"/>
              </a:rPr>
              <a:t> </a:t>
            </a:r>
            <a:r>
              <a:rPr kumimoji="0" lang="en-US" altLang="ko-KR" sz="1400" b="1" dirty="0" err="1">
                <a:latin typeface="arial" pitchFamily="34" charset="0"/>
                <a:ea typeface="+mn-ea"/>
              </a:rPr>
              <a:t>năng</a:t>
            </a:r>
            <a:r>
              <a:rPr kumimoji="0" lang="vi-VN" altLang="ko-KR" sz="1400" b="1" dirty="0">
                <a:latin typeface="+mn-lt"/>
                <a:ea typeface="+mn-ea"/>
              </a:rPr>
              <a:t> </a:t>
            </a:r>
            <a:r>
              <a:rPr kumimoji="0" lang="en-US" altLang="ko-KR" sz="1400" b="1" dirty="0" err="1">
                <a:latin typeface="arial" pitchFamily="34" charset="0"/>
                <a:ea typeface="+mn-ea"/>
              </a:rPr>
              <a:t>quản</a:t>
            </a:r>
            <a:r>
              <a:rPr kumimoji="0" lang="en-US" altLang="ko-KR" sz="1400" b="1" dirty="0">
                <a:latin typeface="arial" pitchFamily="34" charset="0"/>
                <a:ea typeface="+mn-ea"/>
              </a:rPr>
              <a:t> </a:t>
            </a:r>
            <a:r>
              <a:rPr kumimoji="0" lang="en-US" altLang="ko-KR" sz="1400" b="1" dirty="0" err="1">
                <a:latin typeface="arial" pitchFamily="34" charset="0"/>
                <a:ea typeface="+mn-ea"/>
              </a:rPr>
              <a:t>lý</a:t>
            </a:r>
            <a:r>
              <a:rPr kumimoji="0" lang="en-US" altLang="ko-KR" sz="1400" b="1" dirty="0">
                <a:latin typeface="arial" pitchFamily="34" charset="0"/>
                <a:ea typeface="+mn-ea"/>
              </a:rPr>
              <a:t>, </a:t>
            </a:r>
            <a:r>
              <a:rPr kumimoji="0" lang="en-US" altLang="ko-KR" sz="1400" b="1" dirty="0" err="1">
                <a:latin typeface="arial" pitchFamily="34" charset="0"/>
                <a:ea typeface="+mn-ea"/>
              </a:rPr>
              <a:t>kiểm</a:t>
            </a:r>
            <a:r>
              <a:rPr kumimoji="0" lang="en-US" altLang="ko-KR" sz="1400" b="1" dirty="0">
                <a:latin typeface="arial" pitchFamily="34" charset="0"/>
                <a:ea typeface="+mn-ea"/>
              </a:rPr>
              <a:t> </a:t>
            </a:r>
            <a:r>
              <a:rPr kumimoji="0" lang="en-US" altLang="ko-KR" sz="1400" b="1" dirty="0" err="1">
                <a:latin typeface="arial" pitchFamily="34" charset="0"/>
                <a:ea typeface="+mn-ea"/>
              </a:rPr>
              <a:t>soát</a:t>
            </a:r>
            <a:r>
              <a:rPr kumimoji="0" lang="vi-VN" altLang="ko-KR" sz="1400" b="1" dirty="0">
                <a:latin typeface="+mn-lt"/>
                <a:ea typeface="+mn-ea"/>
              </a:rPr>
              <a:t> quá trình là </a:t>
            </a:r>
            <a:r>
              <a:rPr kumimoji="0" lang="en-US" altLang="ko-KR" sz="1400" b="1" dirty="0" err="1">
                <a:latin typeface="arial" pitchFamily="34" charset="0"/>
                <a:ea typeface="+mn-ea"/>
              </a:rPr>
              <a:t>tốt</a:t>
            </a:r>
            <a:r>
              <a:rPr kumimoji="0" lang="vi-VN" altLang="ko-KR" sz="1400" b="1" dirty="0">
                <a:latin typeface="+mn-lt"/>
                <a:ea typeface="+mn-ea"/>
              </a:rPr>
              <a:t> nhưng </a:t>
            </a:r>
            <a:r>
              <a:rPr kumimoji="0" lang="en-US" altLang="ko-KR" sz="1400" b="1" dirty="0" err="1">
                <a:latin typeface="arial" pitchFamily="34" charset="0"/>
                <a:ea typeface="+mn-ea"/>
              </a:rPr>
              <a:t>năng</a:t>
            </a:r>
            <a:r>
              <a:rPr kumimoji="0" lang="en-US" altLang="ko-KR" sz="1400" b="1" dirty="0">
                <a:latin typeface="arial" pitchFamily="34" charset="0"/>
                <a:ea typeface="+mn-ea"/>
              </a:rPr>
              <a:t> </a:t>
            </a:r>
            <a:r>
              <a:rPr kumimoji="0" lang="en-US" altLang="ko-KR" sz="1400" b="1" dirty="0" err="1">
                <a:latin typeface="arial" pitchFamily="34" charset="0"/>
                <a:ea typeface="+mn-ea"/>
              </a:rPr>
              <a:t>lực</a:t>
            </a:r>
            <a:r>
              <a:rPr kumimoji="0" lang="en-US" altLang="ko-KR" sz="1400" b="1" dirty="0">
                <a:latin typeface="arial" pitchFamily="34" charset="0"/>
                <a:ea typeface="+mn-ea"/>
              </a:rPr>
              <a:t> </a:t>
            </a:r>
            <a:r>
              <a:rPr kumimoji="0" lang="en-US" altLang="ko-KR" sz="1400" b="1" dirty="0" err="1">
                <a:latin typeface="arial" pitchFamily="34" charset="0"/>
                <a:ea typeface="+mn-ea"/>
              </a:rPr>
              <a:t>về</a:t>
            </a:r>
            <a:r>
              <a:rPr kumimoji="0" lang="en-US" altLang="ko-KR" sz="1400" b="1" dirty="0">
                <a:latin typeface="arial" pitchFamily="34" charset="0"/>
                <a:ea typeface="+mn-ea"/>
              </a:rPr>
              <a:t> </a:t>
            </a:r>
            <a:r>
              <a:rPr kumimoji="0" lang="vi-VN" altLang="ko-KR" sz="1400" b="1" dirty="0">
                <a:latin typeface="+mn-lt"/>
                <a:ea typeface="+mn-ea"/>
              </a:rPr>
              <a:t>công nghệ này </a:t>
            </a:r>
            <a:r>
              <a:rPr kumimoji="0" lang="en-US" altLang="ko-KR" sz="1400" b="1" dirty="0" err="1">
                <a:latin typeface="arial" pitchFamily="34" charset="0"/>
                <a:ea typeface="+mn-ea"/>
              </a:rPr>
              <a:t>vẫn</a:t>
            </a:r>
            <a:r>
              <a:rPr kumimoji="0" lang="vi-VN" altLang="ko-KR" sz="1400" b="1" dirty="0">
                <a:latin typeface="+mn-lt"/>
                <a:ea typeface="+mn-ea"/>
              </a:rPr>
              <a:t> thiếu.</a:t>
            </a:r>
          </a:p>
          <a:p>
            <a:pPr marL="269875" indent="-269875" fontAlgn="auto">
              <a:spcBef>
                <a:spcPts val="600"/>
              </a:spcBef>
              <a:spcAft>
                <a:spcPts val="0"/>
              </a:spcAft>
              <a:defRPr/>
            </a:pPr>
            <a:endParaRPr kumimoji="0" lang="en-US" altLang="ko-KR" sz="1400" b="1" dirty="0">
              <a:latin typeface="arial" pitchFamily="34" charset="0"/>
              <a:ea typeface="+mn-ea"/>
            </a:endParaRPr>
          </a:p>
        </p:txBody>
      </p:sp>
      <p:sp>
        <p:nvSpPr>
          <p:cNvPr id="313354" name="Rectangle 1055"/>
          <p:cNvSpPr>
            <a:spLocks noChangeArrowheads="1"/>
          </p:cNvSpPr>
          <p:nvPr/>
        </p:nvSpPr>
        <p:spPr bwMode="auto">
          <a:xfrm>
            <a:off x="263525" y="260350"/>
            <a:ext cx="3648075" cy="369974"/>
          </a:xfrm>
          <a:prstGeom prst="rect">
            <a:avLst/>
          </a:prstGeom>
          <a:noFill/>
          <a:ln>
            <a:miter lim="800000"/>
            <a:headEnd/>
            <a:tailEnd/>
          </a:ln>
        </p:spPr>
        <p:txBody>
          <a:bodyPr wrap="none"/>
          <a:lstStyle/>
          <a:p>
            <a:r>
              <a:rPr kumimoji="0" lang="en-US" altLang="ko-KR" sz="2000" b="1" kern="0" dirty="0">
                <a:latin typeface="arial" pitchFamily="34" charset="0"/>
                <a:ea typeface="맑은 고딕" pitchFamily="50" charset="-127"/>
              </a:rPr>
              <a:t> 3. </a:t>
            </a:r>
            <a:r>
              <a:rPr kumimoji="0" lang="en-US" altLang="ko-KR" sz="2000" b="1" kern="0" dirty="0" err="1">
                <a:latin typeface="arial" pitchFamily="34" charset="0"/>
                <a:ea typeface="맑은 고딕" pitchFamily="50" charset="-127"/>
              </a:rPr>
              <a:t>Đánh</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giá</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năng</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lực</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quá</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trình</a:t>
            </a:r>
            <a:endParaRPr kumimoji="0" lang="ko-KR" altLang="en-US" sz="2000" b="1" kern="0"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238</a:t>
            </a:fld>
            <a:endParaRPr lang="ko-KR" altLang="en-US" dirty="0"/>
          </a:p>
        </p:txBody>
      </p:sp>
      <p:sp>
        <p:nvSpPr>
          <p:cNvPr id="62" name="Text Box 20"/>
          <p:cNvSpPr txBox="1">
            <a:spLocks noChangeArrowheads="1"/>
          </p:cNvSpPr>
          <p:nvPr/>
        </p:nvSpPr>
        <p:spPr bwMode="auto">
          <a:xfrm>
            <a:off x="2451443" y="3777337"/>
            <a:ext cx="1029209"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900" dirty="0">
                <a:solidFill>
                  <a:srgbClr val="000000"/>
                </a:solidFill>
                <a:latin typeface="arial" pitchFamily="34" charset="0"/>
                <a:ea typeface="맑은 고딕" pitchFamily="50" charset="-127"/>
              </a:rPr>
              <a:t>Inadequate control</a:t>
            </a:r>
            <a:endParaRPr lang="ko-KR" altLang="en-US" sz="900" dirty="0">
              <a:solidFill>
                <a:srgbClr val="000000"/>
              </a:solidFill>
              <a:latin typeface="arial" pitchFamily="34" charset="0"/>
              <a:ea typeface="맑은 고딕" pitchFamily="50" charset="-127"/>
            </a:endParaRPr>
          </a:p>
          <a:p>
            <a:pPr eaLnBrk="1" hangingPunct="1">
              <a:spcBef>
                <a:spcPct val="50000"/>
              </a:spcBef>
            </a:pPr>
            <a:r>
              <a:rPr lang="en-US" altLang="ko-KR" sz="900" dirty="0">
                <a:solidFill>
                  <a:srgbClr val="000000"/>
                </a:solidFill>
                <a:latin typeface="arial" pitchFamily="34" charset="0"/>
                <a:ea typeface="맑은 고딕" pitchFamily="50" charset="-127"/>
              </a:rPr>
              <a:t>Adequate technology</a:t>
            </a:r>
            <a:endParaRPr lang="ko-KR" altLang="en-US" sz="900" dirty="0">
              <a:solidFill>
                <a:srgbClr val="000000"/>
              </a:solidFill>
              <a:latin typeface="arial" pitchFamily="34" charset="0"/>
              <a:ea typeface="맑은 고딕" pitchFamily="50" charset="-127"/>
            </a:endParaRPr>
          </a:p>
        </p:txBody>
      </p:sp>
      <p:sp>
        <p:nvSpPr>
          <p:cNvPr id="64" name="Text Box 20"/>
          <p:cNvSpPr txBox="1">
            <a:spLocks noChangeArrowheads="1"/>
          </p:cNvSpPr>
          <p:nvPr/>
        </p:nvSpPr>
        <p:spPr bwMode="auto">
          <a:xfrm>
            <a:off x="3865725" y="3788862"/>
            <a:ext cx="857439"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900" dirty="0">
                <a:solidFill>
                  <a:srgbClr val="000000"/>
                </a:solidFill>
                <a:latin typeface="arial" pitchFamily="34" charset="0"/>
                <a:ea typeface="맑은 고딕" pitchFamily="50" charset="-127"/>
              </a:rPr>
              <a:t>Adequate control</a:t>
            </a:r>
            <a:endParaRPr lang="ko-KR" altLang="en-US" sz="900" dirty="0">
              <a:solidFill>
                <a:srgbClr val="000000"/>
              </a:solidFill>
              <a:latin typeface="arial" pitchFamily="34" charset="0"/>
              <a:ea typeface="맑은 고딕" pitchFamily="50" charset="-127"/>
            </a:endParaRPr>
          </a:p>
          <a:p>
            <a:pPr eaLnBrk="1" hangingPunct="1">
              <a:spcBef>
                <a:spcPct val="50000"/>
              </a:spcBef>
            </a:pPr>
            <a:r>
              <a:rPr lang="en-US" altLang="ko-KR" sz="900" dirty="0">
                <a:solidFill>
                  <a:srgbClr val="000000"/>
                </a:solidFill>
                <a:latin typeface="arial" pitchFamily="34" charset="0"/>
                <a:ea typeface="맑은 고딕" pitchFamily="50" charset="-127"/>
              </a:rPr>
              <a:t>Adequate technology</a:t>
            </a:r>
            <a:endParaRPr lang="ko-KR" altLang="en-US" sz="900" dirty="0">
              <a:solidFill>
                <a:srgbClr val="000000"/>
              </a:solidFill>
              <a:latin typeface="arial" pitchFamily="34" charset="0"/>
              <a:ea typeface="맑은 고딕" pitchFamily="50" charset="-127"/>
            </a:endParaRPr>
          </a:p>
        </p:txBody>
      </p:sp>
      <p:sp>
        <p:nvSpPr>
          <p:cNvPr id="65" name="Text Box 20"/>
          <p:cNvSpPr txBox="1">
            <a:spLocks noChangeArrowheads="1"/>
          </p:cNvSpPr>
          <p:nvPr/>
        </p:nvSpPr>
        <p:spPr bwMode="auto">
          <a:xfrm>
            <a:off x="3749719" y="2800969"/>
            <a:ext cx="1019614"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900" dirty="0">
                <a:solidFill>
                  <a:srgbClr val="000000"/>
                </a:solidFill>
                <a:latin typeface="arial" pitchFamily="34" charset="0"/>
                <a:ea typeface="맑은 고딕" pitchFamily="50" charset="-127"/>
              </a:rPr>
              <a:t>Inadequate control</a:t>
            </a:r>
            <a:endParaRPr lang="ko-KR" altLang="en-US" sz="900" dirty="0">
              <a:solidFill>
                <a:srgbClr val="000000"/>
              </a:solidFill>
              <a:latin typeface="arial" pitchFamily="34" charset="0"/>
              <a:ea typeface="맑은 고딕" pitchFamily="50" charset="-127"/>
            </a:endParaRPr>
          </a:p>
          <a:p>
            <a:pPr eaLnBrk="1" hangingPunct="1">
              <a:spcBef>
                <a:spcPct val="50000"/>
              </a:spcBef>
            </a:pPr>
            <a:r>
              <a:rPr lang="en-US" altLang="ko-KR" sz="900" dirty="0">
                <a:solidFill>
                  <a:srgbClr val="000000"/>
                </a:solidFill>
                <a:latin typeface="arial" pitchFamily="34" charset="0"/>
                <a:ea typeface="맑은 고딕" pitchFamily="50" charset="-127"/>
              </a:rPr>
              <a:t>Adequate technology</a:t>
            </a:r>
            <a:endParaRPr lang="ko-KR" altLang="en-US" sz="900" dirty="0">
              <a:solidFill>
                <a:srgbClr val="000000"/>
              </a:solidFill>
              <a:latin typeface="arial" pitchFamily="34" charset="0"/>
              <a:ea typeface="맑은 고딕" pitchFamily="50" charset="-127"/>
            </a:endParaRPr>
          </a:p>
        </p:txBody>
      </p:sp>
    </p:spTree>
    <p:extLst>
      <p:ext uri="{BB962C8B-B14F-4D97-AF65-F5344CB8AC3E}">
        <p14:creationId xmlns:p14="http://schemas.microsoft.com/office/powerpoint/2010/main" val="247714934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8"/>
          <p:cNvSpPr txBox="1">
            <a:spLocks/>
          </p:cNvSpPr>
          <p:nvPr/>
        </p:nvSpPr>
        <p:spPr bwMode="auto">
          <a:xfrm>
            <a:off x="195263" y="188913"/>
            <a:ext cx="4757737" cy="431800"/>
          </a:xfrm>
          <a:prstGeom prst="rect">
            <a:avLst/>
          </a:prstGeom>
          <a:noFill/>
          <a:ln>
            <a:miter lim="800000"/>
            <a:headEnd/>
            <a:tailEnd/>
          </a:ln>
        </p:spPr>
        <p:txBody>
          <a:bodyPr wrap="none"/>
          <a:lstStyle/>
          <a:p>
            <a:pPr>
              <a:defRPr/>
            </a:pPr>
            <a:r>
              <a:rPr kumimoji="0" lang="en-US" altLang="ko-KR" sz="2000" b="1" kern="0" dirty="0">
                <a:latin typeface="arial" pitchFamily="34" charset="0"/>
                <a:ea typeface="맑은 고딕" pitchFamily="50" charset="-127"/>
              </a:rPr>
              <a:t>4. </a:t>
            </a:r>
            <a:r>
              <a:rPr kumimoji="0" lang="en-US" altLang="ko-KR" sz="2000" b="1" kern="0" dirty="0" err="1">
                <a:latin typeface="arial" pitchFamily="34" charset="0"/>
                <a:ea typeface="맑은 고딕" pitchFamily="50" charset="-127"/>
              </a:rPr>
              <a:t>Tình</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huống</a:t>
            </a:r>
            <a:endParaRPr kumimoji="0" lang="ko-KR" altLang="en-US" sz="2000" b="1" kern="0" dirty="0">
              <a:latin typeface="arial" pitchFamily="34" charset="0"/>
              <a:ea typeface="맑은 고딕" pitchFamily="50" charset="-127"/>
            </a:endParaRPr>
          </a:p>
        </p:txBody>
      </p:sp>
      <p:sp>
        <p:nvSpPr>
          <p:cNvPr id="63" name="TextBox 62"/>
          <p:cNvSpPr txBox="1"/>
          <p:nvPr/>
        </p:nvSpPr>
        <p:spPr>
          <a:xfrm>
            <a:off x="200025" y="908050"/>
            <a:ext cx="9505950" cy="649288"/>
          </a:xfrm>
          <a:prstGeom prst="rect">
            <a:avLst/>
          </a:prstGeom>
          <a:noFill/>
        </p:spPr>
        <p:txBody>
          <a:bodyPr/>
          <a:lstStyle/>
          <a:p>
            <a:pPr marL="269875" indent="-269875" fontAlgn="auto">
              <a:spcBef>
                <a:spcPts val="600"/>
              </a:spcBef>
              <a:spcAft>
                <a:spcPts val="0"/>
              </a:spcAft>
              <a:defRPr/>
            </a:pPr>
            <a:r>
              <a:rPr kumimoji="0" lang="en-US" altLang="ko-KR" sz="1400" b="1" dirty="0" err="1">
                <a:latin typeface="arial" pitchFamily="34" charset="0"/>
                <a:ea typeface="+mn-ea"/>
              </a:rPr>
              <a:t>Đánh</a:t>
            </a:r>
            <a:r>
              <a:rPr kumimoji="0" lang="en-US" altLang="ko-KR" sz="1400" b="1" dirty="0">
                <a:latin typeface="arial" pitchFamily="34" charset="0"/>
                <a:ea typeface="+mn-ea"/>
              </a:rPr>
              <a:t> </a:t>
            </a:r>
            <a:r>
              <a:rPr kumimoji="0" lang="en-US" altLang="ko-KR" sz="1400" b="1" dirty="0" err="1">
                <a:latin typeface="arial" pitchFamily="34" charset="0"/>
                <a:ea typeface="+mn-ea"/>
              </a:rPr>
              <a:t>giá</a:t>
            </a:r>
            <a:r>
              <a:rPr kumimoji="0" lang="en-US" altLang="ko-KR" sz="1400" b="1" dirty="0">
                <a:latin typeface="arial" pitchFamily="34" charset="0"/>
                <a:ea typeface="+mn-ea"/>
              </a:rPr>
              <a:t> </a:t>
            </a:r>
            <a:r>
              <a:rPr kumimoji="0" lang="en-US" altLang="ko-KR" sz="1400" b="1" dirty="0" err="1">
                <a:latin typeface="arial" pitchFamily="34" charset="0"/>
                <a:ea typeface="+mn-ea"/>
              </a:rPr>
              <a:t>năng</a:t>
            </a:r>
            <a:r>
              <a:rPr kumimoji="0" lang="en-US" altLang="ko-KR" sz="1400" b="1" dirty="0">
                <a:latin typeface="arial" pitchFamily="34" charset="0"/>
                <a:ea typeface="+mn-ea"/>
              </a:rPr>
              <a:t> </a:t>
            </a:r>
            <a:r>
              <a:rPr kumimoji="0" lang="en-US" altLang="ko-KR" sz="1400" b="1" dirty="0" err="1">
                <a:latin typeface="arial" pitchFamily="34" charset="0"/>
                <a:ea typeface="+mn-ea"/>
              </a:rPr>
              <a:t>lực</a:t>
            </a:r>
            <a:r>
              <a:rPr kumimoji="0" lang="en-US" altLang="ko-KR" sz="1400" b="1" dirty="0">
                <a:latin typeface="arial" pitchFamily="34" charset="0"/>
                <a:ea typeface="+mn-ea"/>
              </a:rPr>
              <a:t> </a:t>
            </a:r>
            <a:r>
              <a:rPr kumimoji="0" lang="en-US" altLang="ko-KR" sz="1400" b="1" dirty="0" err="1">
                <a:latin typeface="arial" pitchFamily="34" charset="0"/>
                <a:ea typeface="+mn-ea"/>
              </a:rPr>
              <a:t>quá</a:t>
            </a:r>
            <a:r>
              <a:rPr kumimoji="0" lang="en-US" altLang="ko-KR" sz="1400" b="1" dirty="0">
                <a:latin typeface="arial" pitchFamily="34" charset="0"/>
                <a:ea typeface="+mn-ea"/>
              </a:rPr>
              <a:t> </a:t>
            </a:r>
            <a:r>
              <a:rPr kumimoji="0" lang="en-US" altLang="ko-KR" sz="1400" b="1" dirty="0" err="1">
                <a:latin typeface="arial" pitchFamily="34" charset="0"/>
                <a:ea typeface="+mn-ea"/>
              </a:rPr>
              <a:t>trinh</a:t>
            </a:r>
            <a:r>
              <a:rPr kumimoji="0" lang="en-US" altLang="ko-KR" sz="1400" b="1" dirty="0">
                <a:latin typeface="arial" pitchFamily="34" charset="0"/>
                <a:ea typeface="+mn-ea"/>
              </a:rPr>
              <a:t> </a:t>
            </a:r>
            <a:r>
              <a:rPr kumimoji="0" lang="en-US" altLang="ko-KR" sz="1400" b="1" dirty="0" err="1">
                <a:latin typeface="arial" pitchFamily="34" charset="0"/>
                <a:ea typeface="+mn-ea"/>
              </a:rPr>
              <a:t>cho</a:t>
            </a:r>
            <a:r>
              <a:rPr kumimoji="0" lang="en-US" altLang="ko-KR" sz="1400" b="1" dirty="0">
                <a:latin typeface="arial" pitchFamily="34" charset="0"/>
                <a:ea typeface="+mn-ea"/>
              </a:rPr>
              <a:t> </a:t>
            </a:r>
            <a:r>
              <a:rPr kumimoji="0" lang="en-US" altLang="ko-KR" sz="1400" b="1" dirty="0" err="1">
                <a:latin typeface="arial" pitchFamily="34" charset="0"/>
                <a:ea typeface="+mn-ea"/>
              </a:rPr>
              <a:t>công</a:t>
            </a:r>
            <a:r>
              <a:rPr kumimoji="0" lang="en-US" altLang="ko-KR" sz="1400" b="1" dirty="0">
                <a:latin typeface="arial" pitchFamily="34" charset="0"/>
                <a:ea typeface="+mn-ea"/>
              </a:rPr>
              <a:t> </a:t>
            </a:r>
            <a:r>
              <a:rPr kumimoji="0" lang="en-US" altLang="ko-KR" sz="1400" b="1" dirty="0" err="1">
                <a:latin typeface="arial" pitchFamily="34" charset="0"/>
                <a:ea typeface="+mn-ea"/>
              </a:rPr>
              <a:t>đoạn</a:t>
            </a:r>
            <a:r>
              <a:rPr kumimoji="0" lang="en-US" altLang="ko-KR" sz="1400" b="1" dirty="0">
                <a:latin typeface="arial" pitchFamily="34" charset="0"/>
                <a:ea typeface="+mn-ea"/>
              </a:rPr>
              <a:t> </a:t>
            </a:r>
            <a:r>
              <a:rPr kumimoji="0" lang="en-US" altLang="ko-KR" sz="1400" b="1" dirty="0" err="1">
                <a:latin typeface="arial" pitchFamily="34" charset="0"/>
                <a:ea typeface="+mn-ea"/>
              </a:rPr>
              <a:t>sản</a:t>
            </a:r>
            <a:r>
              <a:rPr kumimoji="0" lang="en-US" altLang="ko-KR" sz="1400" b="1" dirty="0">
                <a:latin typeface="arial" pitchFamily="34" charset="0"/>
                <a:ea typeface="+mn-ea"/>
              </a:rPr>
              <a:t> </a:t>
            </a:r>
            <a:r>
              <a:rPr kumimoji="0" lang="en-US" altLang="ko-KR" sz="1400" b="1" dirty="0" err="1">
                <a:latin typeface="arial" pitchFamily="34" charset="0"/>
                <a:ea typeface="+mn-ea"/>
              </a:rPr>
              <a:t>xuất</a:t>
            </a:r>
            <a:r>
              <a:rPr kumimoji="0" lang="en-US" altLang="ko-KR" sz="1400" b="1" dirty="0">
                <a:latin typeface="arial" pitchFamily="34" charset="0"/>
                <a:ea typeface="+mn-ea"/>
              </a:rPr>
              <a:t> RSP.</a:t>
            </a:r>
          </a:p>
        </p:txBody>
      </p:sp>
      <p:sp>
        <p:nvSpPr>
          <p:cNvPr id="314372" name="TextBox 3"/>
          <p:cNvSpPr txBox="1">
            <a:spLocks noChangeArrowheads="1"/>
          </p:cNvSpPr>
          <p:nvPr/>
        </p:nvSpPr>
        <p:spPr bwMode="auto">
          <a:xfrm>
            <a:off x="5384799" y="1641475"/>
            <a:ext cx="432117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eaLnBrk="1" hangingPunct="1"/>
            <a:r>
              <a:rPr lang="en-US" altLang="ko-KR" sz="1400" dirty="0" err="1">
                <a:latin typeface="arial" pitchFamily="34" charset="0"/>
                <a:ea typeface="맑은 고딕" pitchFamily="50" charset="-127"/>
                <a:cs typeface="Arial" pitchFamily="34" charset="0"/>
              </a:rPr>
              <a:t>Năng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lực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quá</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trình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được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đánh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giá</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theo</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phương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sai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ngắn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hạn</a:t>
            </a:r>
            <a:endParaRPr lang="en-US" altLang="ko-KR" sz="1400" dirty="0">
              <a:latin typeface="arial" pitchFamily="34" charset="0"/>
              <a:ea typeface="맑은 고딕" pitchFamily="50" charset="-127"/>
              <a:cs typeface="Arial" pitchFamily="34" charset="0"/>
            </a:endParaRPr>
          </a:p>
          <a:p>
            <a:pPr marL="0" indent="0" eaLnBrk="1" hangingPunct="1"/>
            <a:r>
              <a:rPr lang="en-US" altLang="ko-KR" sz="1400" dirty="0">
                <a:ea typeface="맑은 고딕" pitchFamily="50" charset="-127"/>
                <a:cs typeface="Arial" pitchFamily="34" charset="0"/>
              </a:rPr>
              <a:t>  Zst = Zwithin(T) = 3.80</a:t>
            </a:r>
            <a:endParaRPr lang="en-US" altLang="ko-KR" sz="1400" dirty="0">
              <a:latin typeface="arial" pitchFamily="34" charset="0"/>
              <a:ea typeface="맑은 고딕" pitchFamily="50" charset="-127"/>
              <a:cs typeface="Arial" pitchFamily="34" charset="0"/>
            </a:endParaRPr>
          </a:p>
        </p:txBody>
      </p:sp>
      <p:sp>
        <p:nvSpPr>
          <p:cNvPr id="314373" name="TextBox 3"/>
          <p:cNvSpPr txBox="1">
            <a:spLocks noChangeArrowheads="1"/>
          </p:cNvSpPr>
          <p:nvPr/>
        </p:nvSpPr>
        <p:spPr bwMode="auto">
          <a:xfrm>
            <a:off x="5384800" y="2433638"/>
            <a:ext cx="439261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eaLnBrk="1" hangingPunct="1"/>
            <a:r>
              <a:rPr lang="en-US" altLang="ko-KR" sz="1400" dirty="0" err="1">
                <a:latin typeface="arial" pitchFamily="34" charset="0"/>
                <a:ea typeface="맑은 고딕" pitchFamily="50" charset="-127"/>
                <a:cs typeface="Arial" pitchFamily="34" charset="0"/>
              </a:rPr>
              <a:t>Năng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lực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quá</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trình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được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đánh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giá</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theo</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phương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sai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dài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hạn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hiện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tại</a:t>
            </a:r>
            <a:r>
              <a:rPr lang="en-US" altLang="ko-KR" sz="1400" dirty="0">
                <a:latin typeface="arial" pitchFamily="34" charset="0"/>
                <a:ea typeface="맑은 고딕" pitchFamily="50" charset="-127"/>
                <a:cs typeface="Arial" pitchFamily="34" charset="0"/>
              </a:rPr>
              <a:t>)</a:t>
            </a:r>
          </a:p>
          <a:p>
            <a:pPr marL="0" indent="0" eaLnBrk="1" hangingPunct="1"/>
            <a:r>
              <a:rPr lang="en-US" altLang="ko-KR" sz="1400" dirty="0">
                <a:ea typeface="맑은 고딕" pitchFamily="50" charset="-127"/>
                <a:cs typeface="Arial" pitchFamily="34" charset="0"/>
              </a:rPr>
              <a:t>  Zlt = Zoverall(mean) = 1.21</a:t>
            </a:r>
            <a:endParaRPr lang="en-US" altLang="ko-KR" sz="1400" dirty="0">
              <a:latin typeface="arial" pitchFamily="34" charset="0"/>
              <a:ea typeface="맑은 고딕" pitchFamily="50" charset="-127"/>
              <a:cs typeface="Arial" pitchFamily="34" charset="0"/>
            </a:endParaRPr>
          </a:p>
        </p:txBody>
      </p:sp>
      <p:sp>
        <p:nvSpPr>
          <p:cNvPr id="71" name="TextBox 3"/>
          <p:cNvSpPr txBox="1">
            <a:spLocks noChangeArrowheads="1"/>
          </p:cNvSpPr>
          <p:nvPr/>
        </p:nvSpPr>
        <p:spPr bwMode="auto">
          <a:xfrm>
            <a:off x="344488" y="5210175"/>
            <a:ext cx="4392488" cy="830997"/>
          </a:xfrm>
          <a:prstGeom prst="rect">
            <a:avLst/>
          </a:prstGeom>
          <a:noFill/>
          <a:ln w="9525">
            <a:noFill/>
            <a:miter lim="800000"/>
            <a:headEnd/>
            <a:tailEnd/>
          </a:ln>
        </p:spPr>
        <p:txBody>
          <a:bodyPr wrap="square">
            <a:spAutoFit/>
          </a:bodyPr>
          <a:lstStyle/>
          <a:p>
            <a:pPr marL="266700" indent="-266700">
              <a:defRPr/>
            </a:pPr>
            <a:r>
              <a:rPr lang="en-US" altLang="ko-KR" sz="1200" dirty="0" err="1">
                <a:latin typeface="arial" pitchFamily="34" charset="0"/>
                <a:ea typeface="+mn-ea"/>
                <a:cs typeface="Arial" charset="0"/>
              </a:rPr>
              <a:t>Định</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hướng</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cải</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tiến</a:t>
            </a:r>
            <a:r>
              <a:rPr lang="en-US" altLang="ko-KR" sz="1200" dirty="0">
                <a:latin typeface="arial" pitchFamily="34" charset="0"/>
                <a:ea typeface="+mn-ea"/>
                <a:cs typeface="Arial" charset="0"/>
              </a:rPr>
              <a:t>:</a:t>
            </a:r>
          </a:p>
          <a:p>
            <a:pPr marL="266700" indent="-266700">
              <a:defRPr/>
            </a:pPr>
            <a:r>
              <a:rPr lang="en-US" altLang="ko-KR" sz="1200" dirty="0">
                <a:latin typeface="arial" pitchFamily="34" charset="0"/>
                <a:ea typeface="+mn-ea"/>
                <a:cs typeface="Arial" charset="0"/>
              </a:rPr>
              <a:t> </a:t>
            </a:r>
          </a:p>
          <a:p>
            <a:pPr indent="114300">
              <a:defRPr/>
            </a:pP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Giá</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trị</a:t>
            </a:r>
            <a:r>
              <a:rPr lang="en-US" altLang="ko-KR" sz="1200" dirty="0">
                <a:latin typeface="arial" pitchFamily="34" charset="0"/>
                <a:ea typeface="+mn-ea"/>
                <a:cs typeface="Arial" charset="0"/>
              </a:rPr>
              <a:t> Z </a:t>
            </a:r>
            <a:r>
              <a:rPr lang="en-US" altLang="ko-KR" sz="1200" dirty="0" err="1">
                <a:latin typeface="arial" pitchFamily="34" charset="0"/>
                <a:ea typeface="+mn-ea"/>
                <a:cs typeface="Arial" charset="0"/>
              </a:rPr>
              <a:t>trung</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bình</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là</a:t>
            </a:r>
            <a:r>
              <a:rPr lang="en-US" altLang="ko-KR" sz="1200" dirty="0">
                <a:latin typeface="arial" pitchFamily="34" charset="0"/>
                <a:ea typeface="+mn-ea"/>
                <a:cs typeface="Arial" charset="0"/>
              </a:rPr>
              <a:t> 1.21, do </a:t>
            </a:r>
            <a:r>
              <a:rPr lang="en-US" altLang="ko-KR" sz="1200" dirty="0" err="1">
                <a:latin typeface="arial" pitchFamily="34" charset="0"/>
                <a:ea typeface="+mn-ea"/>
                <a:cs typeface="Arial" charset="0"/>
              </a:rPr>
              <a:t>đó</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nó</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không</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nằm</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trong</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vùng</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giới</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hạn</a:t>
            </a:r>
            <a:r>
              <a:rPr lang="en-US" altLang="ko-KR" sz="1200" dirty="0">
                <a:latin typeface="arial" pitchFamily="34" charset="0"/>
                <a:ea typeface="+mn-ea"/>
                <a:cs typeface="Arial" charset="0"/>
              </a:rPr>
              <a:t> 4.5</a:t>
            </a:r>
            <a:r>
              <a:rPr lang="en-US" altLang="ko-KR" sz="1200" dirty="0">
                <a:latin typeface="arial" pitchFamily="34" charset="0"/>
                <a:cs typeface="Arial" charset="0"/>
              </a:rPr>
              <a:t>σ. </a:t>
            </a:r>
            <a:r>
              <a:rPr lang="en-US" altLang="ko-KR" sz="1200" dirty="0" err="1">
                <a:latin typeface="arial" pitchFamily="34" charset="0"/>
                <a:cs typeface="Arial" charset="0"/>
              </a:rPr>
              <a:t>Việc</a:t>
            </a:r>
            <a:r>
              <a:rPr lang="en-US" altLang="ko-KR" sz="1200" dirty="0">
                <a:latin typeface="arial" pitchFamily="34" charset="0"/>
                <a:cs typeface="Arial" charset="0"/>
              </a:rPr>
              <a:t> </a:t>
            </a:r>
            <a:r>
              <a:rPr lang="en-US" altLang="ko-KR" sz="1200" dirty="0" err="1">
                <a:latin typeface="arial" pitchFamily="34" charset="0"/>
                <a:cs typeface="Arial" charset="0"/>
              </a:rPr>
              <a:t>cải</a:t>
            </a:r>
            <a:r>
              <a:rPr lang="en-US" altLang="ko-KR" sz="1200" dirty="0">
                <a:latin typeface="arial" pitchFamily="34" charset="0"/>
                <a:cs typeface="Arial" charset="0"/>
              </a:rPr>
              <a:t> </a:t>
            </a:r>
            <a:r>
              <a:rPr lang="en-US" altLang="ko-KR" sz="1200" dirty="0" err="1">
                <a:latin typeface="arial" pitchFamily="34" charset="0"/>
                <a:cs typeface="Arial" charset="0"/>
              </a:rPr>
              <a:t>tiến</a:t>
            </a:r>
            <a:r>
              <a:rPr lang="en-US" altLang="ko-KR" sz="1200" dirty="0">
                <a:latin typeface="arial" pitchFamily="34" charset="0"/>
                <a:cs typeface="Arial" charset="0"/>
              </a:rPr>
              <a:t> </a:t>
            </a:r>
            <a:r>
              <a:rPr lang="en-US" altLang="ko-KR" sz="1200" dirty="0" err="1">
                <a:latin typeface="arial" pitchFamily="34" charset="0"/>
                <a:cs typeface="Arial" charset="0"/>
              </a:rPr>
              <a:t>là</a:t>
            </a:r>
            <a:r>
              <a:rPr lang="en-US" altLang="ko-KR" sz="1200" dirty="0">
                <a:latin typeface="arial" pitchFamily="34" charset="0"/>
                <a:cs typeface="Arial" charset="0"/>
              </a:rPr>
              <a:t> </a:t>
            </a:r>
            <a:r>
              <a:rPr lang="en-US" altLang="ko-KR" sz="1200" dirty="0" err="1">
                <a:latin typeface="arial" pitchFamily="34" charset="0"/>
                <a:cs typeface="Arial" charset="0"/>
              </a:rPr>
              <a:t>cần</a:t>
            </a:r>
            <a:r>
              <a:rPr lang="en-US" altLang="ko-KR" sz="1200" dirty="0">
                <a:latin typeface="arial" pitchFamily="34" charset="0"/>
                <a:cs typeface="Arial" charset="0"/>
              </a:rPr>
              <a:t> </a:t>
            </a:r>
            <a:r>
              <a:rPr lang="en-US" altLang="ko-KR" sz="1200" dirty="0" err="1">
                <a:latin typeface="arial" pitchFamily="34" charset="0"/>
                <a:cs typeface="Arial" charset="0"/>
              </a:rPr>
              <a:t>thiết</a:t>
            </a:r>
            <a:r>
              <a:rPr lang="en-US" altLang="ko-KR" sz="1200" dirty="0">
                <a:latin typeface="arial" pitchFamily="34" charset="0"/>
                <a:cs typeface="Arial" charset="0"/>
              </a:rPr>
              <a:t>.</a:t>
            </a:r>
            <a:endParaRPr lang="en-US" altLang="ko-KR" sz="1200" dirty="0">
              <a:latin typeface="arial" pitchFamily="34" charset="0"/>
              <a:ea typeface="+mn-ea"/>
              <a:cs typeface="Arial" charset="0"/>
            </a:endParaRPr>
          </a:p>
        </p:txBody>
      </p:sp>
      <p:sp>
        <p:nvSpPr>
          <p:cNvPr id="314375" name="Text Box 86"/>
          <p:cNvSpPr txBox="1">
            <a:spLocks noChangeArrowheads="1"/>
          </p:cNvSpPr>
          <p:nvPr/>
        </p:nvSpPr>
        <p:spPr bwMode="auto">
          <a:xfrm>
            <a:off x="5443538" y="3357563"/>
            <a:ext cx="40465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a:latin typeface="arial" pitchFamily="34" charset="0"/>
                <a:ea typeface="맑은 고딕" pitchFamily="50" charset="-127"/>
              </a:rPr>
              <a:t>Z</a:t>
            </a:r>
            <a:r>
              <a:rPr lang="en-US" altLang="ko-KR" sz="1400" baseline="-25000" dirty="0">
                <a:latin typeface="arial" pitchFamily="34" charset="0"/>
                <a:ea typeface="맑은 고딕" pitchFamily="50" charset="-127"/>
              </a:rPr>
              <a:t>shift</a:t>
            </a:r>
            <a:r>
              <a:rPr lang="en-US" altLang="ko-KR" sz="1400" dirty="0">
                <a:latin typeface="arial" pitchFamily="34" charset="0"/>
                <a:ea typeface="맑은 고딕" pitchFamily="50" charset="-127"/>
              </a:rPr>
              <a:t> = Z</a:t>
            </a:r>
            <a:r>
              <a:rPr lang="en-US" altLang="ko-KR" sz="1400" baseline="-25000" dirty="0">
                <a:latin typeface="arial" pitchFamily="34" charset="0"/>
                <a:ea typeface="맑은 고딕" pitchFamily="50" charset="-127"/>
              </a:rPr>
              <a:t>st</a:t>
            </a:r>
            <a:r>
              <a:rPr lang="en-US" altLang="ko-KR" sz="1400" dirty="0">
                <a:latin typeface="arial" pitchFamily="34" charset="0"/>
                <a:ea typeface="맑은 고딕" pitchFamily="50" charset="-127"/>
              </a:rPr>
              <a:t> – Z</a:t>
            </a:r>
            <a:r>
              <a:rPr lang="en-US" altLang="ko-KR" sz="1400" baseline="-25000" dirty="0">
                <a:latin typeface="arial" pitchFamily="34" charset="0"/>
                <a:ea typeface="맑은 고딕" pitchFamily="50" charset="-127"/>
              </a:rPr>
              <a:t>lt</a:t>
            </a:r>
            <a:r>
              <a:rPr lang="en-US" altLang="ko-KR" sz="1400" dirty="0">
                <a:latin typeface="arial" pitchFamily="34" charset="0"/>
                <a:ea typeface="맑은 고딕" pitchFamily="50" charset="-127"/>
              </a:rPr>
              <a:t> = 3.80 –1.21 = 2.59</a:t>
            </a:r>
            <a:endParaRPr lang="ko-KR" altLang="ko-KR" sz="1400" dirty="0">
              <a:latin typeface="arial" pitchFamily="34" charset="0"/>
              <a:ea typeface="맑은 고딕" pitchFamily="50" charset="-127"/>
            </a:endParaRPr>
          </a:p>
        </p:txBody>
      </p:sp>
      <p:sp>
        <p:nvSpPr>
          <p:cNvPr id="314376" name="Rectangle 78"/>
          <p:cNvSpPr>
            <a:spLocks noChangeArrowheads="1"/>
          </p:cNvSpPr>
          <p:nvPr/>
        </p:nvSpPr>
        <p:spPr bwMode="auto">
          <a:xfrm>
            <a:off x="6215063" y="4125913"/>
            <a:ext cx="238283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a:endParaRPr lang="ko-KR" altLang="ko-KR" dirty="0"/>
          </a:p>
        </p:txBody>
      </p:sp>
      <p:sp>
        <p:nvSpPr>
          <p:cNvPr id="314377" name="Rectangle 79"/>
          <p:cNvSpPr>
            <a:spLocks noChangeArrowheads="1"/>
          </p:cNvSpPr>
          <p:nvPr/>
        </p:nvSpPr>
        <p:spPr bwMode="auto">
          <a:xfrm>
            <a:off x="6208713" y="4143375"/>
            <a:ext cx="2405062" cy="1651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a:endParaRPr lang="ko-KR" altLang="ko-KR" dirty="0"/>
          </a:p>
        </p:txBody>
      </p:sp>
      <p:sp>
        <p:nvSpPr>
          <p:cNvPr id="314378" name="Line 80"/>
          <p:cNvSpPr>
            <a:spLocks noChangeShapeType="1"/>
          </p:cNvSpPr>
          <p:nvPr/>
        </p:nvSpPr>
        <p:spPr bwMode="auto">
          <a:xfrm>
            <a:off x="6218238" y="4941888"/>
            <a:ext cx="2395537" cy="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p>
        </p:txBody>
      </p:sp>
      <p:sp>
        <p:nvSpPr>
          <p:cNvPr id="314379" name="Line 81"/>
          <p:cNvSpPr>
            <a:spLocks noChangeShapeType="1"/>
          </p:cNvSpPr>
          <p:nvPr/>
        </p:nvSpPr>
        <p:spPr bwMode="auto">
          <a:xfrm>
            <a:off x="7923213" y="4143375"/>
            <a:ext cx="0" cy="165100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p>
        </p:txBody>
      </p:sp>
      <p:sp>
        <p:nvSpPr>
          <p:cNvPr id="314380" name="Text Box 82"/>
          <p:cNvSpPr txBox="1">
            <a:spLocks noChangeArrowheads="1"/>
          </p:cNvSpPr>
          <p:nvPr/>
        </p:nvSpPr>
        <p:spPr bwMode="auto">
          <a:xfrm>
            <a:off x="5834063" y="4797425"/>
            <a:ext cx="4984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1.5</a:t>
            </a:r>
            <a:endParaRPr lang="ko-KR" altLang="ko-KR" dirty="0">
              <a:latin typeface="arial" pitchFamily="34" charset="0"/>
              <a:ea typeface="맑은 고딕" pitchFamily="50" charset="-127"/>
            </a:endParaRPr>
          </a:p>
        </p:txBody>
      </p:sp>
      <p:sp>
        <p:nvSpPr>
          <p:cNvPr id="314381" name="Text Box 83"/>
          <p:cNvSpPr txBox="1">
            <a:spLocks noChangeArrowheads="1"/>
          </p:cNvSpPr>
          <p:nvPr/>
        </p:nvSpPr>
        <p:spPr bwMode="auto">
          <a:xfrm>
            <a:off x="5708650" y="3873500"/>
            <a:ext cx="6540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Z</a:t>
            </a:r>
            <a:r>
              <a:rPr lang="en-US" altLang="ko-KR" sz="1000" dirty="0">
                <a:latin typeface="arial" pitchFamily="34" charset="0"/>
                <a:ea typeface="맑은 고딕" pitchFamily="50" charset="-127"/>
              </a:rPr>
              <a:t>shift</a:t>
            </a:r>
            <a:endParaRPr lang="ko-KR" altLang="ko-KR" dirty="0">
              <a:latin typeface="arial" pitchFamily="34" charset="0"/>
              <a:ea typeface="맑은 고딕" pitchFamily="50" charset="-127"/>
            </a:endParaRPr>
          </a:p>
        </p:txBody>
      </p:sp>
      <p:sp>
        <p:nvSpPr>
          <p:cNvPr id="79" name="Text Box 84"/>
          <p:cNvSpPr txBox="1">
            <a:spLocks noChangeArrowheads="1"/>
          </p:cNvSpPr>
          <p:nvPr/>
        </p:nvSpPr>
        <p:spPr bwMode="auto">
          <a:xfrm>
            <a:off x="8583613" y="5762625"/>
            <a:ext cx="1193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200">
                <a:solidFill>
                  <a:schemeClr val="tx1"/>
                </a:solidFill>
                <a:latin typeface="맑은 고딕" pitchFamily="50" charset="-127"/>
                <a:ea typeface="맑은 고딕" pitchFamily="50" charset="-127"/>
              </a:defRPr>
            </a:lvl1pPr>
            <a:lvl2pPr marL="742950" indent="-285750" eaLnBrk="0" hangingPunct="0">
              <a:defRPr kumimoji="1" sz="1200">
                <a:solidFill>
                  <a:schemeClr val="tx1"/>
                </a:solidFill>
                <a:latin typeface="맑은 고딕" pitchFamily="50" charset="-127"/>
                <a:ea typeface="맑은 고딕" pitchFamily="50" charset="-127"/>
              </a:defRPr>
            </a:lvl2pPr>
            <a:lvl3pPr marL="1143000" indent="-228600" eaLnBrk="0" hangingPunct="0">
              <a:defRPr kumimoji="1" sz="1200">
                <a:solidFill>
                  <a:schemeClr val="tx1"/>
                </a:solidFill>
                <a:latin typeface="맑은 고딕" pitchFamily="50" charset="-127"/>
                <a:ea typeface="맑은 고딕" pitchFamily="50" charset="-127"/>
              </a:defRPr>
            </a:lvl3pPr>
            <a:lvl4pPr marL="1600200" indent="-228600" eaLnBrk="0" hangingPunct="0">
              <a:defRPr kumimoji="1" sz="1200">
                <a:solidFill>
                  <a:schemeClr val="tx1"/>
                </a:solidFill>
                <a:latin typeface="맑은 고딕" pitchFamily="50" charset="-127"/>
                <a:ea typeface="맑은 고딕" pitchFamily="50" charset="-127"/>
              </a:defRPr>
            </a:lvl4pPr>
            <a:lvl5pPr marL="2057400" indent="-228600" eaLnBrk="0" hangingPunct="0">
              <a:defRPr kumimoji="1" sz="1200">
                <a:solidFill>
                  <a:schemeClr val="tx1"/>
                </a:solidFill>
                <a:latin typeface="맑은 고딕" pitchFamily="50" charset="-127"/>
                <a:ea typeface="맑은 고딕" pitchFamily="50" charset="-127"/>
              </a:defRPr>
            </a:lvl5pPr>
            <a:lvl6pPr marL="2514600" indent="-228600" eaLnBrk="0" fontAlgn="base" hangingPunct="0">
              <a:lnSpc>
                <a:spcPct val="120000"/>
              </a:lnSpc>
              <a:spcBef>
                <a:spcPct val="0"/>
              </a:spcBef>
              <a:spcAft>
                <a:spcPct val="0"/>
              </a:spcAft>
              <a:buFont typeface="Wingdings" pitchFamily="2" charset="2"/>
              <a:defRPr kumimoji="1" sz="1200">
                <a:solidFill>
                  <a:schemeClr val="tx1"/>
                </a:solidFill>
                <a:latin typeface="맑은 고딕" pitchFamily="50" charset="-127"/>
                <a:ea typeface="맑은 고딕" pitchFamily="50" charset="-127"/>
              </a:defRPr>
            </a:lvl6pPr>
            <a:lvl7pPr marL="2971800" indent="-228600" eaLnBrk="0" fontAlgn="base" hangingPunct="0">
              <a:lnSpc>
                <a:spcPct val="120000"/>
              </a:lnSpc>
              <a:spcBef>
                <a:spcPct val="0"/>
              </a:spcBef>
              <a:spcAft>
                <a:spcPct val="0"/>
              </a:spcAft>
              <a:buFont typeface="Wingdings" pitchFamily="2" charset="2"/>
              <a:defRPr kumimoji="1" sz="1200">
                <a:solidFill>
                  <a:schemeClr val="tx1"/>
                </a:solidFill>
                <a:latin typeface="맑은 고딕" pitchFamily="50" charset="-127"/>
                <a:ea typeface="맑은 고딕" pitchFamily="50" charset="-127"/>
              </a:defRPr>
            </a:lvl7pPr>
            <a:lvl8pPr marL="3429000" indent="-228600" eaLnBrk="0" fontAlgn="base" hangingPunct="0">
              <a:lnSpc>
                <a:spcPct val="120000"/>
              </a:lnSpc>
              <a:spcBef>
                <a:spcPct val="0"/>
              </a:spcBef>
              <a:spcAft>
                <a:spcPct val="0"/>
              </a:spcAft>
              <a:buFont typeface="Wingdings" pitchFamily="2" charset="2"/>
              <a:defRPr kumimoji="1" sz="1200">
                <a:solidFill>
                  <a:schemeClr val="tx1"/>
                </a:solidFill>
                <a:latin typeface="맑은 고딕" pitchFamily="50" charset="-127"/>
                <a:ea typeface="맑은 고딕" pitchFamily="50" charset="-127"/>
              </a:defRPr>
            </a:lvl8pPr>
            <a:lvl9pPr marL="3886200" indent="-228600" eaLnBrk="0" fontAlgn="base" hangingPunct="0">
              <a:lnSpc>
                <a:spcPct val="120000"/>
              </a:lnSpc>
              <a:spcBef>
                <a:spcPct val="0"/>
              </a:spcBef>
              <a:spcAft>
                <a:spcPct val="0"/>
              </a:spcAft>
              <a:buFont typeface="Wingdings" pitchFamily="2" charset="2"/>
              <a:defRPr kumimoji="1" sz="1200">
                <a:solidFill>
                  <a:schemeClr val="tx1"/>
                </a:solidFill>
                <a:latin typeface="맑은 고딕" pitchFamily="50" charset="-127"/>
                <a:ea typeface="맑은 고딕" pitchFamily="50" charset="-127"/>
              </a:defRPr>
            </a:lvl9pPr>
          </a:lstStyle>
          <a:p>
            <a:pPr eaLnBrk="1" hangingPunct="1">
              <a:defRPr/>
            </a:pPr>
            <a:r>
              <a:rPr lang="en-US" altLang="ko-KR" sz="1400" b="1" dirty="0">
                <a:latin typeface="arial" pitchFamily="34" charset="0"/>
              </a:rPr>
              <a:t>Z</a:t>
            </a:r>
            <a:r>
              <a:rPr lang="en-US" altLang="ko-KR" sz="1050" dirty="0">
                <a:latin typeface="arial" pitchFamily="34" charset="0"/>
              </a:rPr>
              <a:t>st</a:t>
            </a:r>
            <a:r>
              <a:rPr lang="en-US" altLang="ko-KR" sz="1400" b="1" dirty="0">
                <a:latin typeface="arial" pitchFamily="34" charset="0"/>
              </a:rPr>
              <a:t> </a:t>
            </a:r>
            <a:endParaRPr lang="ko-KR" altLang="ko-KR" sz="1800" dirty="0">
              <a:latin typeface="arial" pitchFamily="34" charset="0"/>
            </a:endParaRPr>
          </a:p>
        </p:txBody>
      </p:sp>
      <p:sp>
        <p:nvSpPr>
          <p:cNvPr id="314383" name="Text Box 87"/>
          <p:cNvSpPr txBox="1">
            <a:spLocks noChangeArrowheads="1"/>
          </p:cNvSpPr>
          <p:nvPr/>
        </p:nvSpPr>
        <p:spPr bwMode="auto">
          <a:xfrm>
            <a:off x="7675563" y="5805488"/>
            <a:ext cx="5334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4.5</a:t>
            </a:r>
            <a:endParaRPr lang="ko-KR" altLang="ko-KR" dirty="0">
              <a:latin typeface="arial" pitchFamily="34" charset="0"/>
              <a:ea typeface="맑은 고딕" pitchFamily="50" charset="-127"/>
            </a:endParaRPr>
          </a:p>
        </p:txBody>
      </p:sp>
      <p:cxnSp>
        <p:nvCxnSpPr>
          <p:cNvPr id="81" name="직선 연결선 30"/>
          <p:cNvCxnSpPr/>
          <p:nvPr/>
        </p:nvCxnSpPr>
        <p:spPr bwMode="auto">
          <a:xfrm rot="16200000" flipH="1">
            <a:off x="4870450" y="4957763"/>
            <a:ext cx="1262063" cy="1587"/>
          </a:xfrm>
          <a:prstGeom prst="line">
            <a:avLst/>
          </a:prstGeom>
          <a:ln w="12700" cmpd="sng">
            <a:headEnd type="triangle"/>
            <a:tailEnd type="triangle"/>
          </a:ln>
        </p:spPr>
        <p:style>
          <a:lnRef idx="1">
            <a:schemeClr val="accent1"/>
          </a:lnRef>
          <a:fillRef idx="0">
            <a:schemeClr val="accent1"/>
          </a:fillRef>
          <a:effectRef idx="0">
            <a:schemeClr val="accent1"/>
          </a:effectRef>
          <a:fontRef idx="minor">
            <a:schemeClr val="tx1"/>
          </a:fontRef>
        </p:style>
      </p:cxnSp>
      <p:sp>
        <p:nvSpPr>
          <p:cNvPr id="314385" name="TextBox 32"/>
          <p:cNvSpPr txBox="1">
            <a:spLocks noChangeArrowheads="1"/>
          </p:cNvSpPr>
          <p:nvPr/>
        </p:nvSpPr>
        <p:spPr bwMode="auto">
          <a:xfrm>
            <a:off x="5245620" y="4078288"/>
            <a:ext cx="5164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Kém</a:t>
            </a:r>
            <a:endParaRPr lang="ko-KR" altLang="ko-KR" dirty="0">
              <a:latin typeface="arial" pitchFamily="34" charset="0"/>
              <a:ea typeface="맑은 고딕" pitchFamily="50" charset="-127"/>
            </a:endParaRPr>
          </a:p>
        </p:txBody>
      </p:sp>
      <p:sp>
        <p:nvSpPr>
          <p:cNvPr id="314386" name="TextBox 33"/>
          <p:cNvSpPr txBox="1">
            <a:spLocks noChangeArrowheads="1"/>
          </p:cNvSpPr>
          <p:nvPr/>
        </p:nvSpPr>
        <p:spPr bwMode="auto">
          <a:xfrm>
            <a:off x="5293670" y="5627688"/>
            <a:ext cx="4283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Tốt</a:t>
            </a:r>
            <a:endParaRPr lang="ko-KR" altLang="ko-KR" dirty="0">
              <a:latin typeface="arial" pitchFamily="34" charset="0"/>
              <a:ea typeface="맑은 고딕" pitchFamily="50" charset="-127"/>
            </a:endParaRPr>
          </a:p>
        </p:txBody>
      </p:sp>
      <p:cxnSp>
        <p:nvCxnSpPr>
          <p:cNvPr id="84" name="직선 연결선 37"/>
          <p:cNvCxnSpPr/>
          <p:nvPr/>
        </p:nvCxnSpPr>
        <p:spPr bwMode="auto">
          <a:xfrm>
            <a:off x="6511925" y="6116638"/>
            <a:ext cx="1789113" cy="0"/>
          </a:xfrm>
          <a:prstGeom prst="line">
            <a:avLst/>
          </a:prstGeom>
          <a:ln w="12700" cmpd="sng">
            <a:headEnd type="triangle"/>
            <a:tailEnd type="triangle"/>
          </a:ln>
        </p:spPr>
        <p:style>
          <a:lnRef idx="1">
            <a:schemeClr val="accent1"/>
          </a:lnRef>
          <a:fillRef idx="0">
            <a:schemeClr val="accent1"/>
          </a:fillRef>
          <a:effectRef idx="0">
            <a:schemeClr val="accent1"/>
          </a:effectRef>
          <a:fontRef idx="minor">
            <a:schemeClr val="tx1"/>
          </a:fontRef>
        </p:style>
      </p:cxnSp>
      <p:sp>
        <p:nvSpPr>
          <p:cNvPr id="314388" name="TextBox 38"/>
          <p:cNvSpPr txBox="1">
            <a:spLocks noChangeArrowheads="1"/>
          </p:cNvSpPr>
          <p:nvPr/>
        </p:nvSpPr>
        <p:spPr bwMode="auto">
          <a:xfrm>
            <a:off x="5845175" y="5967413"/>
            <a:ext cx="73183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Kém</a:t>
            </a:r>
            <a:endParaRPr lang="ko-KR" altLang="ko-KR" dirty="0">
              <a:latin typeface="arial" pitchFamily="34" charset="0"/>
              <a:ea typeface="맑은 고딕" pitchFamily="50" charset="-127"/>
            </a:endParaRPr>
          </a:p>
        </p:txBody>
      </p:sp>
      <p:sp>
        <p:nvSpPr>
          <p:cNvPr id="314389" name="TextBox 40"/>
          <p:cNvSpPr txBox="1">
            <a:spLocks noChangeArrowheads="1"/>
          </p:cNvSpPr>
          <p:nvPr/>
        </p:nvSpPr>
        <p:spPr bwMode="auto">
          <a:xfrm>
            <a:off x="8337550" y="5976938"/>
            <a:ext cx="8064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Tốt</a:t>
            </a:r>
            <a:endParaRPr lang="ko-KR" altLang="ko-KR" dirty="0">
              <a:latin typeface="arial" pitchFamily="34" charset="0"/>
              <a:ea typeface="맑은 고딕" pitchFamily="50" charset="-127"/>
            </a:endParaRPr>
          </a:p>
        </p:txBody>
      </p:sp>
      <p:sp>
        <p:nvSpPr>
          <p:cNvPr id="314390" name="TextBox 41"/>
          <p:cNvSpPr txBox="1">
            <a:spLocks noChangeArrowheads="1"/>
          </p:cNvSpPr>
          <p:nvPr/>
        </p:nvSpPr>
        <p:spPr bwMode="auto">
          <a:xfrm>
            <a:off x="6705600" y="6107113"/>
            <a:ext cx="11541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Năng</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lực</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về</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công</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nghệ</a:t>
            </a:r>
            <a:endParaRPr lang="ko-KR" altLang="en-US" dirty="0">
              <a:latin typeface="arial" pitchFamily="34" charset="0"/>
              <a:ea typeface="맑은 고딕" pitchFamily="50" charset="-127"/>
            </a:endParaRPr>
          </a:p>
        </p:txBody>
      </p:sp>
      <p:sp>
        <p:nvSpPr>
          <p:cNvPr id="314391" name="Line 27"/>
          <p:cNvSpPr>
            <a:spLocks noChangeShapeType="1"/>
          </p:cNvSpPr>
          <p:nvPr/>
        </p:nvSpPr>
        <p:spPr bwMode="auto">
          <a:xfrm>
            <a:off x="6205538" y="5670550"/>
            <a:ext cx="3348037" cy="0"/>
          </a:xfrm>
          <a:prstGeom prst="line">
            <a:avLst/>
          </a:prstGeom>
          <a:noFill/>
          <a:ln w="6350">
            <a:solidFill>
              <a:schemeClr val="bg2"/>
            </a:solidFill>
            <a:prstDash val="dash"/>
            <a:round/>
            <a:headEnd/>
            <a:tailEnd/>
          </a:ln>
          <a:extLst>
            <a:ext uri="{909E8E84-426E-40DD-AFC4-6F175D3DCCD1}">
              <a14:hiddenFill xmlns:a14="http://schemas.microsoft.com/office/drawing/2010/main">
                <a:noFill/>
              </a14:hiddenFill>
            </a:ext>
          </a:extLst>
        </p:spPr>
        <p:txBody>
          <a:bodyPr lIns="116597" tIns="58299" rIns="116597" bIns="58299">
            <a:spAutoFit/>
          </a:bodyPr>
          <a:lstStyle/>
          <a:p>
            <a:endParaRPr lang="ko-KR" altLang="en-US" dirty="0"/>
          </a:p>
        </p:txBody>
      </p:sp>
      <p:sp>
        <p:nvSpPr>
          <p:cNvPr id="314392" name="Oval 85"/>
          <p:cNvSpPr>
            <a:spLocks noChangeArrowheads="1"/>
          </p:cNvSpPr>
          <p:nvPr/>
        </p:nvSpPr>
        <p:spPr bwMode="auto">
          <a:xfrm>
            <a:off x="8193088" y="5222875"/>
            <a:ext cx="171450" cy="150813"/>
          </a:xfrm>
          <a:prstGeom prst="ellipse">
            <a:avLst/>
          </a:prstGeom>
          <a:solidFill>
            <a:srgbClr val="00B050"/>
          </a:solidFill>
          <a:ln w="9525">
            <a:solidFill>
              <a:schemeClr val="tx1"/>
            </a:solidFill>
            <a:round/>
            <a:headEnd/>
            <a:tailEnd/>
          </a:ln>
        </p:spPr>
        <p:txBody>
          <a:bodyPr wrap="none" anchor="ctr"/>
          <a:lstStyle/>
          <a:p>
            <a:pPr algn="ctr"/>
            <a:endParaRPr lang="ko-KR" altLang="ko-KR" dirty="0"/>
          </a:p>
        </p:txBody>
      </p:sp>
      <p:sp>
        <p:nvSpPr>
          <p:cNvPr id="314393" name="Oval 85"/>
          <p:cNvSpPr>
            <a:spLocks noChangeArrowheads="1"/>
          </p:cNvSpPr>
          <p:nvPr/>
        </p:nvSpPr>
        <p:spPr bwMode="auto">
          <a:xfrm>
            <a:off x="7143750" y="4365625"/>
            <a:ext cx="171450" cy="150813"/>
          </a:xfrm>
          <a:prstGeom prst="ellipse">
            <a:avLst/>
          </a:prstGeom>
          <a:solidFill>
            <a:srgbClr val="000000"/>
          </a:solidFill>
          <a:ln w="9525">
            <a:solidFill>
              <a:schemeClr val="tx1"/>
            </a:solidFill>
            <a:round/>
            <a:headEnd/>
            <a:tailEnd/>
          </a:ln>
        </p:spPr>
        <p:txBody>
          <a:bodyPr wrap="none" anchor="ctr"/>
          <a:lstStyle/>
          <a:p>
            <a:pPr algn="ctr"/>
            <a:endParaRPr lang="ko-KR" altLang="ko-KR" dirty="0"/>
          </a:p>
        </p:txBody>
      </p:sp>
      <p:sp>
        <p:nvSpPr>
          <p:cNvPr id="91" name="Text Box 66"/>
          <p:cNvSpPr txBox="1">
            <a:spLocks noChangeArrowheads="1"/>
          </p:cNvSpPr>
          <p:nvPr/>
        </p:nvSpPr>
        <p:spPr bwMode="auto">
          <a:xfrm>
            <a:off x="6897216" y="4653136"/>
            <a:ext cx="636713" cy="246221"/>
          </a:xfrm>
          <a:prstGeom prst="rect">
            <a:avLst/>
          </a:prstGeom>
          <a:noFill/>
          <a:ln w="9525">
            <a:noFill/>
            <a:miter lim="800000"/>
            <a:headEnd/>
            <a:tailEnd/>
          </a:ln>
          <a:effectLst>
            <a:prstShdw prst="shdw17" dist="17961" dir="2700000">
              <a:schemeClr val="accent1">
                <a:gamma/>
                <a:shade val="60000"/>
                <a:invGamma/>
              </a:schemeClr>
            </a:prstShdw>
          </a:effectLst>
        </p:spPr>
        <p:txBody>
          <a:bodyPr wrap="none">
            <a:spAutoFit/>
          </a:bodyPr>
          <a:lstStyle/>
          <a:p>
            <a:pPr>
              <a:defRPr/>
            </a:pPr>
            <a:r>
              <a:rPr lang="en-US" altLang="ko-KR" sz="1000" dirty="0" err="1"/>
              <a:t>Hiện</a:t>
            </a:r>
            <a:r>
              <a:rPr lang="en-US" altLang="ko-KR" sz="1000" dirty="0"/>
              <a:t> </a:t>
            </a:r>
            <a:r>
              <a:rPr lang="en-US" altLang="ko-KR" sz="1000" dirty="0" err="1"/>
              <a:t>tại</a:t>
            </a:r>
            <a:endParaRPr lang="ko-KR" altLang="en-US" sz="1000" dirty="0"/>
          </a:p>
        </p:txBody>
      </p:sp>
      <p:cxnSp>
        <p:nvCxnSpPr>
          <p:cNvPr id="314395" name="직선 화살표 연결선 95"/>
          <p:cNvCxnSpPr>
            <a:cxnSpLocks noChangeShapeType="1"/>
            <a:stCxn id="314393" idx="5"/>
            <a:endCxn id="314392" idx="1"/>
          </p:cNvCxnSpPr>
          <p:nvPr/>
        </p:nvCxnSpPr>
        <p:spPr bwMode="auto">
          <a:xfrm>
            <a:off x="7289800" y="4494213"/>
            <a:ext cx="928688" cy="750887"/>
          </a:xfrm>
          <a:prstGeom prst="straightConnector1">
            <a:avLst/>
          </a:prstGeom>
          <a:noFill/>
          <a:ln w="9525"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314396" name="TextBox 42"/>
          <p:cNvSpPr txBox="1">
            <a:spLocks noChangeArrowheads="1"/>
          </p:cNvSpPr>
          <p:nvPr/>
        </p:nvSpPr>
        <p:spPr bwMode="auto">
          <a:xfrm>
            <a:off x="5185617" y="4287838"/>
            <a:ext cx="369332" cy="140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vert"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solidFill>
                  <a:srgbClr val="FF0000"/>
                </a:solidFill>
                <a:latin typeface="arial" pitchFamily="34" charset="0"/>
                <a:ea typeface="맑은 고딕" pitchFamily="50" charset="-127"/>
              </a:rPr>
              <a:t>Năng</a:t>
            </a:r>
            <a:r>
              <a:rPr lang="en-US" altLang="ko-KR" sz="1200" dirty="0">
                <a:solidFill>
                  <a:srgbClr val="FF0000"/>
                </a:solidFill>
                <a:latin typeface="arial" pitchFamily="34" charset="0"/>
                <a:ea typeface="맑은 고딕" pitchFamily="50" charset="-127"/>
              </a:rPr>
              <a:t> </a:t>
            </a:r>
            <a:r>
              <a:rPr lang="en-US" altLang="ko-KR" sz="1200" dirty="0" err="1">
                <a:solidFill>
                  <a:srgbClr val="FF0000"/>
                </a:solidFill>
                <a:latin typeface="arial" pitchFamily="34" charset="0"/>
                <a:ea typeface="맑은 고딕" pitchFamily="50" charset="-127"/>
              </a:rPr>
              <a:t>lực</a:t>
            </a:r>
            <a:r>
              <a:rPr lang="en-US" altLang="ko-KR" sz="1200" dirty="0">
                <a:solidFill>
                  <a:srgbClr val="FF0000"/>
                </a:solidFill>
                <a:latin typeface="arial" pitchFamily="34" charset="0"/>
                <a:ea typeface="맑은 고딕" pitchFamily="50" charset="-127"/>
              </a:rPr>
              <a:t> </a:t>
            </a:r>
            <a:r>
              <a:rPr lang="en-US" altLang="ko-KR" sz="1200" dirty="0" err="1">
                <a:solidFill>
                  <a:srgbClr val="FF0000"/>
                </a:solidFill>
                <a:latin typeface="arial" pitchFamily="34" charset="0"/>
                <a:ea typeface="맑은 고딕" pitchFamily="50" charset="-127"/>
              </a:rPr>
              <a:t>quản</a:t>
            </a:r>
            <a:r>
              <a:rPr lang="en-US" altLang="ko-KR" sz="1200" dirty="0">
                <a:solidFill>
                  <a:srgbClr val="FF0000"/>
                </a:solidFill>
                <a:latin typeface="arial" pitchFamily="34" charset="0"/>
                <a:ea typeface="맑은 고딕" pitchFamily="50" charset="-127"/>
              </a:rPr>
              <a:t> </a:t>
            </a:r>
            <a:r>
              <a:rPr lang="en-US" altLang="ko-KR" sz="1200" dirty="0" err="1">
                <a:solidFill>
                  <a:srgbClr val="FF0000"/>
                </a:solidFill>
                <a:latin typeface="arial" pitchFamily="34" charset="0"/>
                <a:ea typeface="맑은 고딕" pitchFamily="50" charset="-127"/>
              </a:rPr>
              <a:t>lý</a:t>
            </a:r>
            <a:endParaRPr lang="ko-KR" altLang="en-US" dirty="0">
              <a:latin typeface="arial" pitchFamily="34" charset="0"/>
              <a:ea typeface="맑은 고딕" pitchFamily="50" charset="-127"/>
            </a:endParaRPr>
          </a:p>
        </p:txBody>
      </p:sp>
      <p:pic>
        <p:nvPicPr>
          <p:cNvPr id="314397" name="Picture 4"/>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73050" y="1628775"/>
            <a:ext cx="4881563" cy="3225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239</a:t>
            </a:fld>
            <a:endParaRPr lang="ko-KR" altLang="en-US" dirty="0"/>
          </a:p>
        </p:txBody>
      </p:sp>
    </p:spTree>
    <p:extLst>
      <p:ext uri="{BB962C8B-B14F-4D97-AF65-F5344CB8AC3E}">
        <p14:creationId xmlns:p14="http://schemas.microsoft.com/office/powerpoint/2010/main" val="1581244483"/>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421" name="Picture 4"/>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273050" y="1700213"/>
            <a:ext cx="4881563" cy="32273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제목 8"/>
          <p:cNvSpPr txBox="1">
            <a:spLocks/>
          </p:cNvSpPr>
          <p:nvPr/>
        </p:nvSpPr>
        <p:spPr bwMode="auto">
          <a:xfrm>
            <a:off x="195263" y="188913"/>
            <a:ext cx="4757737" cy="431800"/>
          </a:xfrm>
          <a:prstGeom prst="rect">
            <a:avLst/>
          </a:prstGeom>
          <a:noFill/>
          <a:ln>
            <a:miter lim="800000"/>
            <a:headEnd/>
            <a:tailEnd/>
          </a:ln>
        </p:spPr>
        <p:txBody>
          <a:bodyPr wrap="none"/>
          <a:lstStyle/>
          <a:p>
            <a:pPr>
              <a:defRPr/>
            </a:pPr>
            <a:r>
              <a:rPr kumimoji="0" lang="en-US" altLang="ko-KR" sz="2000" b="1" kern="0" dirty="0">
                <a:latin typeface="arial" pitchFamily="34" charset="0"/>
                <a:ea typeface="맑은 고딕" pitchFamily="50" charset="-127"/>
              </a:rPr>
              <a:t>4. </a:t>
            </a:r>
            <a:r>
              <a:rPr kumimoji="0" lang="en-US" altLang="ko-KR" sz="2000" b="1" kern="0" dirty="0" err="1">
                <a:latin typeface="arial" pitchFamily="34" charset="0"/>
                <a:ea typeface="맑은 고딕" pitchFamily="50" charset="-127"/>
              </a:rPr>
              <a:t>Tình</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huống</a:t>
            </a:r>
            <a:endParaRPr kumimoji="0" lang="ko-KR" altLang="en-US" sz="2000" b="1" kern="0" dirty="0">
              <a:latin typeface="arial" pitchFamily="34" charset="0"/>
              <a:ea typeface="맑은 고딕" pitchFamily="50" charset="-127"/>
            </a:endParaRPr>
          </a:p>
        </p:txBody>
      </p:sp>
      <p:sp>
        <p:nvSpPr>
          <p:cNvPr id="63" name="TextBox 62"/>
          <p:cNvSpPr txBox="1"/>
          <p:nvPr/>
        </p:nvSpPr>
        <p:spPr>
          <a:xfrm>
            <a:off x="200025" y="908050"/>
            <a:ext cx="9505950" cy="649288"/>
          </a:xfrm>
          <a:prstGeom prst="rect">
            <a:avLst/>
          </a:prstGeom>
          <a:noFill/>
        </p:spPr>
        <p:txBody>
          <a:bodyPr/>
          <a:lstStyle/>
          <a:p>
            <a:pPr indent="228600" fontAlgn="auto">
              <a:spcBef>
                <a:spcPts val="600"/>
              </a:spcBef>
              <a:spcAft>
                <a:spcPts val="0"/>
              </a:spcAft>
              <a:defRPr/>
            </a:pPr>
            <a:r>
              <a:rPr kumimoji="0" lang="vi-VN" altLang="ko-KR" sz="1400" b="1" dirty="0">
                <a:latin typeface="+mn-lt"/>
                <a:ea typeface="+mn-ea"/>
              </a:rPr>
              <a:t>Nếu việc</a:t>
            </a:r>
            <a:r>
              <a:rPr kumimoji="0" lang="en-US" altLang="ko-KR" sz="1400" b="1" dirty="0">
                <a:latin typeface="arial" pitchFamily="34" charset="0"/>
                <a:ea typeface="+mn-ea"/>
              </a:rPr>
              <a:t> </a:t>
            </a:r>
            <a:r>
              <a:rPr kumimoji="0" lang="en-US" altLang="ko-KR" sz="1400" b="1" dirty="0" err="1">
                <a:latin typeface="arial" pitchFamily="34" charset="0"/>
                <a:ea typeface="+mn-ea"/>
              </a:rPr>
              <a:t>thu</a:t>
            </a:r>
            <a:r>
              <a:rPr kumimoji="0" lang="en-US" altLang="ko-KR" sz="1400" b="1" dirty="0">
                <a:latin typeface="arial" pitchFamily="34" charset="0"/>
                <a:ea typeface="+mn-ea"/>
              </a:rPr>
              <a:t> </a:t>
            </a:r>
            <a:r>
              <a:rPr kumimoji="0" lang="en-US" altLang="ko-KR" sz="1400" b="1" dirty="0" err="1">
                <a:latin typeface="arial" pitchFamily="34" charset="0"/>
                <a:ea typeface="+mn-ea"/>
              </a:rPr>
              <a:t>thập</a:t>
            </a:r>
            <a:r>
              <a:rPr kumimoji="0" lang="vi-VN" altLang="ko-KR" sz="1400" b="1" dirty="0">
                <a:latin typeface="+mn-lt"/>
                <a:ea typeface="+mn-ea"/>
              </a:rPr>
              <a:t> dữ liệu ngắn/ dài</a:t>
            </a:r>
            <a:r>
              <a:rPr kumimoji="0" lang="en-US" altLang="ko-KR" sz="1400" b="1" dirty="0">
                <a:latin typeface="arial" pitchFamily="34" charset="0"/>
                <a:ea typeface="+mn-ea"/>
              </a:rPr>
              <a:t> </a:t>
            </a:r>
            <a:r>
              <a:rPr kumimoji="0" lang="en-US" altLang="ko-KR" sz="1400" b="1" dirty="0" err="1">
                <a:latin typeface="arial" pitchFamily="34" charset="0"/>
                <a:ea typeface="+mn-ea"/>
              </a:rPr>
              <a:t>hạn</a:t>
            </a:r>
            <a:r>
              <a:rPr kumimoji="0" lang="en-US" altLang="ko-KR" sz="1400" b="1" dirty="0">
                <a:latin typeface="arial" pitchFamily="34" charset="0"/>
                <a:ea typeface="+mn-ea"/>
              </a:rPr>
              <a:t> </a:t>
            </a:r>
            <a:r>
              <a:rPr kumimoji="0" lang="en-US" altLang="ko-KR" sz="1400" b="1" dirty="0" err="1">
                <a:latin typeface="arial" pitchFamily="34" charset="0"/>
                <a:ea typeface="+mn-ea"/>
              </a:rPr>
              <a:t>trong</a:t>
            </a:r>
            <a:r>
              <a:rPr kumimoji="0" lang="en-US" altLang="ko-KR" sz="1400" b="1" dirty="0">
                <a:latin typeface="arial" pitchFamily="34" charset="0"/>
                <a:ea typeface="+mn-ea"/>
              </a:rPr>
              <a:t> </a:t>
            </a:r>
            <a:r>
              <a:rPr kumimoji="0" lang="en-US" altLang="ko-KR" sz="1400" b="1" dirty="0" err="1">
                <a:latin typeface="arial" pitchFamily="34" charset="0"/>
                <a:ea typeface="+mn-ea"/>
              </a:rPr>
              <a:t>quá</a:t>
            </a:r>
            <a:r>
              <a:rPr kumimoji="0" lang="en-US" altLang="ko-KR" sz="1400" b="1" dirty="0">
                <a:latin typeface="arial" pitchFamily="34" charset="0"/>
                <a:ea typeface="+mn-ea"/>
              </a:rPr>
              <a:t> </a:t>
            </a:r>
            <a:r>
              <a:rPr kumimoji="0" lang="en-US" altLang="ko-KR" sz="1400" b="1" dirty="0" err="1">
                <a:latin typeface="arial" pitchFamily="34" charset="0"/>
                <a:ea typeface="+mn-ea"/>
              </a:rPr>
              <a:t>trình</a:t>
            </a:r>
            <a:r>
              <a:rPr kumimoji="0" lang="en-US" altLang="ko-KR" sz="1400" b="1" dirty="0">
                <a:latin typeface="arial" pitchFamily="34" charset="0"/>
                <a:ea typeface="+mn-ea"/>
              </a:rPr>
              <a:t> </a:t>
            </a:r>
            <a:r>
              <a:rPr kumimoji="0" lang="en-US" altLang="ko-KR" sz="1400" b="1" dirty="0" err="1">
                <a:latin typeface="arial" pitchFamily="34" charset="0"/>
                <a:ea typeface="+mn-ea"/>
              </a:rPr>
              <a:t>phát</a:t>
            </a:r>
            <a:r>
              <a:rPr kumimoji="0" lang="en-US" altLang="ko-KR" sz="1400" b="1" dirty="0">
                <a:latin typeface="arial" pitchFamily="34" charset="0"/>
                <a:ea typeface="+mn-ea"/>
              </a:rPr>
              <a:t> </a:t>
            </a:r>
            <a:r>
              <a:rPr kumimoji="0" lang="en-US" altLang="ko-KR" sz="1400" b="1" dirty="0" err="1">
                <a:latin typeface="arial" pitchFamily="34" charset="0"/>
                <a:ea typeface="+mn-ea"/>
              </a:rPr>
              <a:t>triển</a:t>
            </a:r>
            <a:r>
              <a:rPr kumimoji="0" lang="vi-VN" altLang="ko-KR" sz="1400" b="1" dirty="0">
                <a:latin typeface="+mn-lt"/>
                <a:ea typeface="+mn-ea"/>
              </a:rPr>
              <a:t> là khó khăn, dữ liệu phân tầng thu thập từ các nhà cung cấp có thể</a:t>
            </a:r>
            <a:r>
              <a:rPr kumimoji="0" lang="en-US" altLang="ko-KR" sz="1400" b="1" dirty="0">
                <a:latin typeface="arial" pitchFamily="34" charset="0"/>
                <a:ea typeface="+mn-ea"/>
              </a:rPr>
              <a:t> </a:t>
            </a:r>
            <a:r>
              <a:rPr kumimoji="0" lang="en-US" altLang="ko-KR" sz="1400" b="1" dirty="0" err="1">
                <a:latin typeface="arial" pitchFamily="34" charset="0"/>
                <a:ea typeface="+mn-ea"/>
              </a:rPr>
              <a:t>được</a:t>
            </a:r>
            <a:r>
              <a:rPr kumimoji="0" lang="en-US" altLang="ko-KR" sz="1400" b="1" dirty="0">
                <a:latin typeface="arial" pitchFamily="34" charset="0"/>
                <a:ea typeface="+mn-ea"/>
              </a:rPr>
              <a:t> </a:t>
            </a:r>
            <a:r>
              <a:rPr kumimoji="0" lang="en-US" altLang="ko-KR" sz="1400" b="1" dirty="0" err="1">
                <a:latin typeface="arial" pitchFamily="34" charset="0"/>
                <a:ea typeface="+mn-ea"/>
              </a:rPr>
              <a:t>sử</a:t>
            </a:r>
            <a:r>
              <a:rPr kumimoji="0" lang="en-US" altLang="ko-KR" sz="1400" b="1" dirty="0">
                <a:latin typeface="arial" pitchFamily="34" charset="0"/>
                <a:ea typeface="+mn-ea"/>
              </a:rPr>
              <a:t> </a:t>
            </a:r>
            <a:r>
              <a:rPr kumimoji="0" lang="en-US" altLang="ko-KR" sz="1400" b="1" dirty="0" err="1">
                <a:latin typeface="arial" pitchFamily="34" charset="0"/>
                <a:ea typeface="+mn-ea"/>
              </a:rPr>
              <a:t>dụng</a:t>
            </a:r>
            <a:r>
              <a:rPr kumimoji="0" lang="vi-VN" altLang="ko-KR" sz="1400" b="1" dirty="0">
                <a:latin typeface="+mn-lt"/>
                <a:ea typeface="+mn-ea"/>
              </a:rPr>
              <a:t> như là nguồn dữ liệu bổ sung.</a:t>
            </a:r>
            <a:endParaRPr kumimoji="0" lang="en-US" altLang="ko-KR" sz="1400" b="1" dirty="0">
              <a:latin typeface="arial" pitchFamily="34" charset="0"/>
              <a:ea typeface="+mn-ea"/>
            </a:endParaRPr>
          </a:p>
        </p:txBody>
      </p:sp>
      <p:sp>
        <p:nvSpPr>
          <p:cNvPr id="315396" name="TextBox 3"/>
          <p:cNvSpPr txBox="1">
            <a:spLocks noChangeArrowheads="1"/>
          </p:cNvSpPr>
          <p:nvPr/>
        </p:nvSpPr>
        <p:spPr bwMode="auto">
          <a:xfrm>
            <a:off x="5384799" y="1712913"/>
            <a:ext cx="41052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228600" eaLnBrk="1" hangingPunct="1"/>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Năng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lực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quá</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trình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được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đánh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giá</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theo</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phương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sai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nội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bộ</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của</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nhà</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cung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cấp</a:t>
            </a:r>
            <a:endParaRPr lang="en-US" altLang="ko-KR" sz="1400" dirty="0">
              <a:ea typeface="맑은 고딕" pitchFamily="50" charset="-127"/>
              <a:cs typeface="Arial" pitchFamily="34" charset="0"/>
            </a:endParaRPr>
          </a:p>
          <a:p>
            <a:pPr marL="0" indent="228600" eaLnBrk="1" hangingPunct="1"/>
            <a:r>
              <a:rPr lang="en-US" altLang="ko-KR" sz="1400" dirty="0" err="1">
                <a:ea typeface="맑은 고딕" pitchFamily="50" charset="-127"/>
                <a:cs typeface="Arial" pitchFamily="34" charset="0"/>
              </a:rPr>
              <a:t>Zwithin</a:t>
            </a:r>
            <a:r>
              <a:rPr lang="en-US" altLang="ko-KR" sz="1400" dirty="0">
                <a:ea typeface="맑은 고딕" pitchFamily="50" charset="-127"/>
                <a:cs typeface="Arial" pitchFamily="34" charset="0"/>
              </a:rPr>
              <a:t> = 3.80</a:t>
            </a:r>
            <a:endParaRPr lang="en-US" altLang="ko-KR" sz="1400" dirty="0">
              <a:latin typeface="arial" pitchFamily="34" charset="0"/>
              <a:ea typeface="맑은 고딕" pitchFamily="50" charset="-127"/>
              <a:cs typeface="Arial" pitchFamily="34" charset="0"/>
            </a:endParaRPr>
          </a:p>
        </p:txBody>
      </p:sp>
      <p:sp>
        <p:nvSpPr>
          <p:cNvPr id="315397" name="TextBox 3"/>
          <p:cNvSpPr txBox="1">
            <a:spLocks noChangeArrowheads="1"/>
          </p:cNvSpPr>
          <p:nvPr/>
        </p:nvSpPr>
        <p:spPr bwMode="auto">
          <a:xfrm>
            <a:off x="5384800" y="2505075"/>
            <a:ext cx="439261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228600" eaLnBrk="1" hangingPunct="1"/>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Năng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lực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quá</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trình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đươc</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đánh</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giá</a:t>
            </a:r>
            <a:r>
              <a:rPr lang="en-US" altLang="ko-KR" sz="1400" dirty="0">
                <a:latin typeface="arial" pitchFamily="34" charset="0"/>
                <a:ea typeface="맑은 고딕" pitchFamily="50" charset="-127"/>
                <a:cs typeface="Arial" pitchFamily="34" charset="0"/>
              </a:rPr>
              <a:t> qua </a:t>
            </a:r>
            <a:r>
              <a:rPr lang="en-US" altLang="ko-KR" sz="1400" dirty="0" err="1">
                <a:latin typeface="arial" pitchFamily="34" charset="0"/>
                <a:ea typeface="맑은 고딕" pitchFamily="50" charset="-127"/>
                <a:cs typeface="Arial" pitchFamily="34" charset="0"/>
              </a:rPr>
              <a:t>tổng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phương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sai</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của</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nhà</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cung</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cấp</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hiện</a:t>
            </a:r>
            <a:r>
              <a:rPr lang="en-US" altLang="ko-KR" sz="1400" dirty="0">
                <a:latin typeface="arial" pitchFamily="34" charset="0"/>
                <a:ea typeface="맑은 고딕" pitchFamily="50" charset="-127"/>
                <a:cs typeface="Arial" pitchFamily="34" charset="0"/>
              </a:rPr>
              <a:t> </a:t>
            </a:r>
            <a:r>
              <a:rPr lang="en-US" altLang="ko-KR" sz="1400" dirty="0" err="1">
                <a:latin typeface="arial" pitchFamily="34" charset="0"/>
                <a:ea typeface="맑은 고딕" pitchFamily="50" charset="-127"/>
                <a:cs typeface="Arial" pitchFamily="34" charset="0"/>
              </a:rPr>
              <a:t>tại</a:t>
            </a:r>
            <a:r>
              <a:rPr lang="en-US" altLang="ko-KR" sz="1400" dirty="0">
                <a:latin typeface="arial" pitchFamily="34" charset="0"/>
                <a:ea typeface="맑은 고딕" pitchFamily="50" charset="-127"/>
                <a:cs typeface="Arial" pitchFamily="34" charset="0"/>
              </a:rPr>
              <a:t>)</a:t>
            </a:r>
            <a:r>
              <a:rPr lang="en-US" altLang="ko-KR" sz="1400" dirty="0">
                <a:ea typeface="맑은 고딕" pitchFamily="50" charset="-127"/>
                <a:cs typeface="Arial" pitchFamily="34" charset="0"/>
              </a:rPr>
              <a:t> </a:t>
            </a:r>
          </a:p>
          <a:p>
            <a:pPr marL="0" indent="228600" eaLnBrk="1" hangingPunct="1"/>
            <a:r>
              <a:rPr lang="en-US" altLang="ko-KR" sz="1400" dirty="0" err="1">
                <a:ea typeface="맑은 고딕" pitchFamily="50" charset="-127"/>
                <a:cs typeface="Arial" pitchFamily="34" charset="0"/>
              </a:rPr>
              <a:t>Zoverall</a:t>
            </a:r>
            <a:r>
              <a:rPr lang="en-US" altLang="ko-KR" sz="1400" dirty="0">
                <a:ea typeface="맑은 고딕" pitchFamily="50" charset="-127"/>
                <a:cs typeface="Arial" pitchFamily="34" charset="0"/>
              </a:rPr>
              <a:t> = 1.21</a:t>
            </a:r>
            <a:endParaRPr lang="en-US" altLang="ko-KR" sz="1400" dirty="0">
              <a:latin typeface="arial" pitchFamily="34" charset="0"/>
              <a:ea typeface="맑은 고딕" pitchFamily="50" charset="-127"/>
              <a:cs typeface="Arial" pitchFamily="34" charset="0"/>
            </a:endParaRPr>
          </a:p>
        </p:txBody>
      </p:sp>
      <p:sp>
        <p:nvSpPr>
          <p:cNvPr id="315399" name="Text Box 86"/>
          <p:cNvSpPr txBox="1">
            <a:spLocks noChangeArrowheads="1"/>
          </p:cNvSpPr>
          <p:nvPr/>
        </p:nvSpPr>
        <p:spPr bwMode="auto">
          <a:xfrm>
            <a:off x="5443538" y="3429000"/>
            <a:ext cx="40465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dirty="0" err="1">
                <a:latin typeface="arial" pitchFamily="34" charset="0"/>
                <a:ea typeface="맑은 고딕" pitchFamily="50" charset="-127"/>
              </a:rPr>
              <a:t>Z</a:t>
            </a:r>
            <a:r>
              <a:rPr lang="en-US" altLang="ko-KR" sz="1400" baseline="-25000" dirty="0" err="1">
                <a:latin typeface="arial" pitchFamily="34" charset="0"/>
                <a:ea typeface="맑은 고딕" pitchFamily="50" charset="-127"/>
              </a:rPr>
              <a:t>shiff</a:t>
            </a:r>
            <a:r>
              <a:rPr lang="en-US" altLang="ko-KR" sz="1400" baseline="-25000" dirty="0">
                <a:latin typeface="arial" pitchFamily="34" charset="0"/>
                <a:ea typeface="맑은 고딕" pitchFamily="50" charset="-127"/>
              </a:rPr>
              <a:t>.</a:t>
            </a:r>
            <a:r>
              <a:rPr lang="en-US" altLang="ko-KR" sz="1400" dirty="0">
                <a:latin typeface="arial" pitchFamily="34" charset="0"/>
                <a:ea typeface="맑은 고딕" pitchFamily="50" charset="-127"/>
              </a:rPr>
              <a:t> = Z</a:t>
            </a:r>
            <a:r>
              <a:rPr lang="en-US" altLang="ko-KR" sz="1400" baseline="-25000" dirty="0">
                <a:latin typeface="arial" pitchFamily="34" charset="0"/>
                <a:ea typeface="맑은 고딕" pitchFamily="50" charset="-127"/>
              </a:rPr>
              <a:t>within</a:t>
            </a:r>
            <a:r>
              <a:rPr lang="en-US" altLang="ko-KR" sz="1400" dirty="0">
                <a:latin typeface="arial" pitchFamily="34" charset="0"/>
                <a:ea typeface="맑은 고딕" pitchFamily="50" charset="-127"/>
              </a:rPr>
              <a:t> – Z</a:t>
            </a:r>
            <a:r>
              <a:rPr lang="en-US" altLang="ko-KR" sz="1400" baseline="-25000" dirty="0">
                <a:latin typeface="arial" pitchFamily="34" charset="0"/>
                <a:ea typeface="맑은 고딕" pitchFamily="50" charset="-127"/>
              </a:rPr>
              <a:t>overall</a:t>
            </a:r>
            <a:r>
              <a:rPr lang="en-US" altLang="ko-KR" sz="1400" dirty="0">
                <a:latin typeface="arial" pitchFamily="34" charset="0"/>
                <a:ea typeface="맑은 고딕" pitchFamily="50" charset="-127"/>
              </a:rPr>
              <a:t> = 3.80 –1.21 = 2.59</a:t>
            </a:r>
            <a:endParaRPr lang="ko-KR" altLang="ko-KR" sz="1400" dirty="0">
              <a:latin typeface="arial" pitchFamily="34" charset="0"/>
              <a:ea typeface="맑은 고딕" pitchFamily="50" charset="-127"/>
            </a:endParaRPr>
          </a:p>
        </p:txBody>
      </p:sp>
      <p:sp>
        <p:nvSpPr>
          <p:cNvPr id="33" name="TextBox 3"/>
          <p:cNvSpPr txBox="1">
            <a:spLocks noChangeArrowheads="1"/>
          </p:cNvSpPr>
          <p:nvPr/>
        </p:nvSpPr>
        <p:spPr bwMode="auto">
          <a:xfrm>
            <a:off x="351055" y="5217610"/>
            <a:ext cx="4392488" cy="830997"/>
          </a:xfrm>
          <a:prstGeom prst="rect">
            <a:avLst/>
          </a:prstGeom>
          <a:noFill/>
          <a:ln w="9525">
            <a:noFill/>
            <a:miter lim="800000"/>
            <a:headEnd/>
            <a:tailEnd/>
          </a:ln>
        </p:spPr>
        <p:txBody>
          <a:bodyPr wrap="square">
            <a:spAutoFit/>
          </a:bodyPr>
          <a:lstStyle/>
          <a:p>
            <a:pPr marL="266700" indent="-266700">
              <a:defRPr/>
            </a:pPr>
            <a:r>
              <a:rPr lang="en-US" altLang="ko-KR" sz="1200" dirty="0" err="1">
                <a:latin typeface="arial" pitchFamily="34" charset="0"/>
                <a:ea typeface="+mn-ea"/>
                <a:cs typeface="Arial" charset="0"/>
              </a:rPr>
              <a:t>Định</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hướng</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cải</a:t>
            </a:r>
            <a:r>
              <a:rPr lang="en-US" altLang="ko-KR" sz="1200" dirty="0">
                <a:latin typeface="arial" pitchFamily="34" charset="0"/>
                <a:ea typeface="+mn-ea"/>
                <a:cs typeface="Arial" charset="0"/>
              </a:rPr>
              <a:t> </a:t>
            </a:r>
            <a:r>
              <a:rPr lang="en-US" altLang="ko-KR" sz="1200" dirty="0" err="1">
                <a:latin typeface="arial" pitchFamily="34" charset="0"/>
                <a:ea typeface="+mn-ea"/>
                <a:cs typeface="Arial" charset="0"/>
              </a:rPr>
              <a:t>tiến</a:t>
            </a:r>
            <a:r>
              <a:rPr lang="en-US" altLang="ko-KR" sz="1200" dirty="0">
                <a:latin typeface="arial" pitchFamily="34" charset="0"/>
                <a:ea typeface="+mn-ea"/>
                <a:cs typeface="Arial" charset="0"/>
              </a:rPr>
              <a:t>:</a:t>
            </a:r>
          </a:p>
          <a:p>
            <a:pPr marL="266700" indent="-266700">
              <a:defRPr/>
            </a:pPr>
            <a:endParaRPr lang="en-US" altLang="ko-KR" sz="1200" dirty="0">
              <a:latin typeface="arial" pitchFamily="34" charset="0"/>
              <a:ea typeface="+mn-ea"/>
              <a:cs typeface="Arial" charset="0"/>
            </a:endParaRPr>
          </a:p>
          <a:p>
            <a:pPr indent="114300">
              <a:defRPr/>
            </a:pPr>
            <a:r>
              <a:rPr lang="vi-VN" altLang="ko-KR" sz="1200" dirty="0">
                <a:latin typeface="arial" pitchFamily="34" charset="0"/>
                <a:ea typeface="+mn-ea"/>
                <a:cs typeface="Arial" charset="0"/>
              </a:rPr>
              <a:t>Giá trị Z trung bình là 1.21, do đó nó không nằm trong vùng giới hạn </a:t>
            </a:r>
            <a:r>
              <a:rPr lang="en-US" altLang="ko-KR" sz="1200" dirty="0">
                <a:latin typeface="arial" pitchFamily="34" charset="0"/>
                <a:ea typeface="+mn-ea"/>
                <a:cs typeface="Arial" charset="0"/>
              </a:rPr>
              <a:t>6</a:t>
            </a:r>
            <a:r>
              <a:rPr lang="el-GR" altLang="ko-KR" sz="1200" dirty="0">
                <a:latin typeface="arial" pitchFamily="34" charset="0"/>
                <a:ea typeface="+mn-ea"/>
                <a:cs typeface="Arial" charset="0"/>
              </a:rPr>
              <a:t>σ. </a:t>
            </a:r>
            <a:r>
              <a:rPr lang="vi-VN" altLang="ko-KR" sz="1200" dirty="0">
                <a:latin typeface="arial" pitchFamily="34" charset="0"/>
                <a:ea typeface="+mn-ea"/>
                <a:cs typeface="Arial" charset="0"/>
              </a:rPr>
              <a:t>Việc cải tiến là cần thiết</a:t>
            </a:r>
            <a:r>
              <a:rPr lang="en-US" altLang="ko-KR" sz="1200" dirty="0">
                <a:latin typeface="arial" pitchFamily="34" charset="0"/>
                <a:ea typeface="+mn-ea"/>
                <a:cs typeface="Arial" charset="0"/>
              </a:rPr>
              <a:t>.</a:t>
            </a:r>
            <a:endParaRPr lang="vi-VN" altLang="ko-KR" sz="1200" dirty="0">
              <a:latin typeface="arial" pitchFamily="34" charset="0"/>
              <a:ea typeface="+mn-ea"/>
              <a:cs typeface="Arial" charset="0"/>
            </a:endParaRPr>
          </a:p>
        </p:txBody>
      </p:sp>
      <p:sp>
        <p:nvSpPr>
          <p:cNvPr id="31" name="Rectangle 78"/>
          <p:cNvSpPr>
            <a:spLocks noChangeArrowheads="1"/>
          </p:cNvSpPr>
          <p:nvPr/>
        </p:nvSpPr>
        <p:spPr bwMode="auto">
          <a:xfrm>
            <a:off x="6215063" y="4125913"/>
            <a:ext cx="238283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a:endParaRPr lang="ko-KR" altLang="ko-KR" dirty="0"/>
          </a:p>
        </p:txBody>
      </p:sp>
      <p:sp>
        <p:nvSpPr>
          <p:cNvPr id="32" name="Rectangle 79"/>
          <p:cNvSpPr>
            <a:spLocks noChangeArrowheads="1"/>
          </p:cNvSpPr>
          <p:nvPr/>
        </p:nvSpPr>
        <p:spPr bwMode="auto">
          <a:xfrm>
            <a:off x="6208713" y="4143375"/>
            <a:ext cx="2405062" cy="1651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a:endParaRPr lang="ko-KR" altLang="ko-KR" dirty="0"/>
          </a:p>
        </p:txBody>
      </p:sp>
      <p:sp>
        <p:nvSpPr>
          <p:cNvPr id="36" name="Line 80"/>
          <p:cNvSpPr>
            <a:spLocks noChangeShapeType="1"/>
          </p:cNvSpPr>
          <p:nvPr/>
        </p:nvSpPr>
        <p:spPr bwMode="auto">
          <a:xfrm>
            <a:off x="6218238" y="4941888"/>
            <a:ext cx="2395537" cy="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p>
        </p:txBody>
      </p:sp>
      <p:sp>
        <p:nvSpPr>
          <p:cNvPr id="37" name="Line 81"/>
          <p:cNvSpPr>
            <a:spLocks noChangeShapeType="1"/>
          </p:cNvSpPr>
          <p:nvPr/>
        </p:nvSpPr>
        <p:spPr bwMode="auto">
          <a:xfrm>
            <a:off x="7923213" y="4143375"/>
            <a:ext cx="0" cy="165100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dirty="0"/>
          </a:p>
        </p:txBody>
      </p:sp>
      <p:sp>
        <p:nvSpPr>
          <p:cNvPr id="38" name="Text Box 82"/>
          <p:cNvSpPr txBox="1">
            <a:spLocks noChangeArrowheads="1"/>
          </p:cNvSpPr>
          <p:nvPr/>
        </p:nvSpPr>
        <p:spPr bwMode="auto">
          <a:xfrm>
            <a:off x="5834063" y="4797425"/>
            <a:ext cx="4984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1.5</a:t>
            </a:r>
            <a:endParaRPr lang="ko-KR" altLang="ko-KR" dirty="0">
              <a:latin typeface="arial" pitchFamily="34" charset="0"/>
              <a:ea typeface="맑은 고딕" pitchFamily="50" charset="-127"/>
            </a:endParaRPr>
          </a:p>
        </p:txBody>
      </p:sp>
      <p:sp>
        <p:nvSpPr>
          <p:cNvPr id="39" name="Text Box 83"/>
          <p:cNvSpPr txBox="1">
            <a:spLocks noChangeArrowheads="1"/>
          </p:cNvSpPr>
          <p:nvPr/>
        </p:nvSpPr>
        <p:spPr bwMode="auto">
          <a:xfrm>
            <a:off x="5708650" y="3873500"/>
            <a:ext cx="6540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Z</a:t>
            </a:r>
            <a:r>
              <a:rPr lang="en-US" altLang="ko-KR" sz="1000" dirty="0">
                <a:latin typeface="arial" pitchFamily="34" charset="0"/>
                <a:ea typeface="맑은 고딕" pitchFamily="50" charset="-127"/>
              </a:rPr>
              <a:t>shift</a:t>
            </a:r>
            <a:endParaRPr lang="ko-KR" altLang="ko-KR" dirty="0">
              <a:latin typeface="arial" pitchFamily="34" charset="0"/>
              <a:ea typeface="맑은 고딕" pitchFamily="50" charset="-127"/>
            </a:endParaRPr>
          </a:p>
        </p:txBody>
      </p:sp>
      <p:sp>
        <p:nvSpPr>
          <p:cNvPr id="40" name="Text Box 84"/>
          <p:cNvSpPr txBox="1">
            <a:spLocks noChangeArrowheads="1"/>
          </p:cNvSpPr>
          <p:nvPr/>
        </p:nvSpPr>
        <p:spPr bwMode="auto">
          <a:xfrm>
            <a:off x="8583613" y="5762625"/>
            <a:ext cx="1193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200">
                <a:solidFill>
                  <a:schemeClr val="tx1"/>
                </a:solidFill>
                <a:latin typeface="맑은 고딕" pitchFamily="50" charset="-127"/>
                <a:ea typeface="맑은 고딕" pitchFamily="50" charset="-127"/>
              </a:defRPr>
            </a:lvl1pPr>
            <a:lvl2pPr marL="742950" indent="-285750" eaLnBrk="0" hangingPunct="0">
              <a:defRPr kumimoji="1" sz="1200">
                <a:solidFill>
                  <a:schemeClr val="tx1"/>
                </a:solidFill>
                <a:latin typeface="맑은 고딕" pitchFamily="50" charset="-127"/>
                <a:ea typeface="맑은 고딕" pitchFamily="50" charset="-127"/>
              </a:defRPr>
            </a:lvl2pPr>
            <a:lvl3pPr marL="1143000" indent="-228600" eaLnBrk="0" hangingPunct="0">
              <a:defRPr kumimoji="1" sz="1200">
                <a:solidFill>
                  <a:schemeClr val="tx1"/>
                </a:solidFill>
                <a:latin typeface="맑은 고딕" pitchFamily="50" charset="-127"/>
                <a:ea typeface="맑은 고딕" pitchFamily="50" charset="-127"/>
              </a:defRPr>
            </a:lvl3pPr>
            <a:lvl4pPr marL="1600200" indent="-228600" eaLnBrk="0" hangingPunct="0">
              <a:defRPr kumimoji="1" sz="1200">
                <a:solidFill>
                  <a:schemeClr val="tx1"/>
                </a:solidFill>
                <a:latin typeface="맑은 고딕" pitchFamily="50" charset="-127"/>
                <a:ea typeface="맑은 고딕" pitchFamily="50" charset="-127"/>
              </a:defRPr>
            </a:lvl4pPr>
            <a:lvl5pPr marL="2057400" indent="-228600" eaLnBrk="0" hangingPunct="0">
              <a:defRPr kumimoji="1" sz="1200">
                <a:solidFill>
                  <a:schemeClr val="tx1"/>
                </a:solidFill>
                <a:latin typeface="맑은 고딕" pitchFamily="50" charset="-127"/>
                <a:ea typeface="맑은 고딕" pitchFamily="50" charset="-127"/>
              </a:defRPr>
            </a:lvl5pPr>
            <a:lvl6pPr marL="2514600" indent="-228600" eaLnBrk="0" fontAlgn="base" hangingPunct="0">
              <a:lnSpc>
                <a:spcPct val="120000"/>
              </a:lnSpc>
              <a:spcBef>
                <a:spcPct val="0"/>
              </a:spcBef>
              <a:spcAft>
                <a:spcPct val="0"/>
              </a:spcAft>
              <a:buFont typeface="Wingdings" pitchFamily="2" charset="2"/>
              <a:defRPr kumimoji="1" sz="1200">
                <a:solidFill>
                  <a:schemeClr val="tx1"/>
                </a:solidFill>
                <a:latin typeface="맑은 고딕" pitchFamily="50" charset="-127"/>
                <a:ea typeface="맑은 고딕" pitchFamily="50" charset="-127"/>
              </a:defRPr>
            </a:lvl6pPr>
            <a:lvl7pPr marL="2971800" indent="-228600" eaLnBrk="0" fontAlgn="base" hangingPunct="0">
              <a:lnSpc>
                <a:spcPct val="120000"/>
              </a:lnSpc>
              <a:spcBef>
                <a:spcPct val="0"/>
              </a:spcBef>
              <a:spcAft>
                <a:spcPct val="0"/>
              </a:spcAft>
              <a:buFont typeface="Wingdings" pitchFamily="2" charset="2"/>
              <a:defRPr kumimoji="1" sz="1200">
                <a:solidFill>
                  <a:schemeClr val="tx1"/>
                </a:solidFill>
                <a:latin typeface="맑은 고딕" pitchFamily="50" charset="-127"/>
                <a:ea typeface="맑은 고딕" pitchFamily="50" charset="-127"/>
              </a:defRPr>
            </a:lvl7pPr>
            <a:lvl8pPr marL="3429000" indent="-228600" eaLnBrk="0" fontAlgn="base" hangingPunct="0">
              <a:lnSpc>
                <a:spcPct val="120000"/>
              </a:lnSpc>
              <a:spcBef>
                <a:spcPct val="0"/>
              </a:spcBef>
              <a:spcAft>
                <a:spcPct val="0"/>
              </a:spcAft>
              <a:buFont typeface="Wingdings" pitchFamily="2" charset="2"/>
              <a:defRPr kumimoji="1" sz="1200">
                <a:solidFill>
                  <a:schemeClr val="tx1"/>
                </a:solidFill>
                <a:latin typeface="맑은 고딕" pitchFamily="50" charset="-127"/>
                <a:ea typeface="맑은 고딕" pitchFamily="50" charset="-127"/>
              </a:defRPr>
            </a:lvl8pPr>
            <a:lvl9pPr marL="3886200" indent="-228600" eaLnBrk="0" fontAlgn="base" hangingPunct="0">
              <a:lnSpc>
                <a:spcPct val="120000"/>
              </a:lnSpc>
              <a:spcBef>
                <a:spcPct val="0"/>
              </a:spcBef>
              <a:spcAft>
                <a:spcPct val="0"/>
              </a:spcAft>
              <a:buFont typeface="Wingdings" pitchFamily="2" charset="2"/>
              <a:defRPr kumimoji="1" sz="1200">
                <a:solidFill>
                  <a:schemeClr val="tx1"/>
                </a:solidFill>
                <a:latin typeface="맑은 고딕" pitchFamily="50" charset="-127"/>
                <a:ea typeface="맑은 고딕" pitchFamily="50" charset="-127"/>
              </a:defRPr>
            </a:lvl9pPr>
          </a:lstStyle>
          <a:p>
            <a:pPr eaLnBrk="1" hangingPunct="1">
              <a:defRPr/>
            </a:pPr>
            <a:r>
              <a:rPr lang="en-US" altLang="ko-KR" sz="1400" b="1" dirty="0">
                <a:latin typeface="arial" pitchFamily="34" charset="0"/>
              </a:rPr>
              <a:t>Z</a:t>
            </a:r>
            <a:r>
              <a:rPr lang="en-US" altLang="ko-KR" sz="1050" dirty="0">
                <a:latin typeface="arial" pitchFamily="34" charset="0"/>
              </a:rPr>
              <a:t>st</a:t>
            </a:r>
            <a:r>
              <a:rPr lang="en-US" altLang="ko-KR" sz="1400" b="1" dirty="0">
                <a:latin typeface="arial" pitchFamily="34" charset="0"/>
              </a:rPr>
              <a:t> </a:t>
            </a:r>
            <a:endParaRPr lang="ko-KR" altLang="ko-KR" sz="1800" dirty="0">
              <a:latin typeface="arial" pitchFamily="34" charset="0"/>
            </a:endParaRPr>
          </a:p>
        </p:txBody>
      </p:sp>
      <p:sp>
        <p:nvSpPr>
          <p:cNvPr id="41" name="Text Box 87"/>
          <p:cNvSpPr txBox="1">
            <a:spLocks noChangeArrowheads="1"/>
          </p:cNvSpPr>
          <p:nvPr/>
        </p:nvSpPr>
        <p:spPr bwMode="auto">
          <a:xfrm>
            <a:off x="7675563" y="5805488"/>
            <a:ext cx="5334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latin typeface="arial" pitchFamily="34" charset="0"/>
                <a:ea typeface="맑은 고딕" pitchFamily="50" charset="-127"/>
              </a:rPr>
              <a:t>4.5</a:t>
            </a:r>
            <a:endParaRPr lang="ko-KR" altLang="ko-KR" dirty="0">
              <a:latin typeface="arial" pitchFamily="34" charset="0"/>
              <a:ea typeface="맑은 고딕" pitchFamily="50" charset="-127"/>
            </a:endParaRPr>
          </a:p>
        </p:txBody>
      </p:sp>
      <p:cxnSp>
        <p:nvCxnSpPr>
          <p:cNvPr id="42" name="직선 연결선 30"/>
          <p:cNvCxnSpPr/>
          <p:nvPr/>
        </p:nvCxnSpPr>
        <p:spPr bwMode="auto">
          <a:xfrm rot="16200000" flipH="1">
            <a:off x="4870450" y="4957763"/>
            <a:ext cx="1262063" cy="1587"/>
          </a:xfrm>
          <a:prstGeom prst="line">
            <a:avLst/>
          </a:prstGeom>
          <a:ln w="12700" cmpd="sng">
            <a:headEnd type="triangle"/>
            <a:tailEnd type="triangle"/>
          </a:ln>
        </p:spPr>
        <p:style>
          <a:lnRef idx="1">
            <a:schemeClr val="accent1"/>
          </a:lnRef>
          <a:fillRef idx="0">
            <a:schemeClr val="accent1"/>
          </a:fillRef>
          <a:effectRef idx="0">
            <a:schemeClr val="accent1"/>
          </a:effectRef>
          <a:fontRef idx="minor">
            <a:schemeClr val="tx1"/>
          </a:fontRef>
        </p:style>
      </p:cxnSp>
      <p:sp>
        <p:nvSpPr>
          <p:cNvPr id="43" name="TextBox 32"/>
          <p:cNvSpPr txBox="1">
            <a:spLocks noChangeArrowheads="1"/>
          </p:cNvSpPr>
          <p:nvPr/>
        </p:nvSpPr>
        <p:spPr bwMode="auto">
          <a:xfrm>
            <a:off x="5245620" y="4078288"/>
            <a:ext cx="5164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Kém</a:t>
            </a:r>
            <a:endParaRPr lang="ko-KR" altLang="ko-KR" dirty="0">
              <a:latin typeface="arial" pitchFamily="34" charset="0"/>
              <a:ea typeface="맑은 고딕" pitchFamily="50" charset="-127"/>
            </a:endParaRPr>
          </a:p>
        </p:txBody>
      </p:sp>
      <p:sp>
        <p:nvSpPr>
          <p:cNvPr id="44" name="TextBox 33"/>
          <p:cNvSpPr txBox="1">
            <a:spLocks noChangeArrowheads="1"/>
          </p:cNvSpPr>
          <p:nvPr/>
        </p:nvSpPr>
        <p:spPr bwMode="auto">
          <a:xfrm>
            <a:off x="5293670" y="5627688"/>
            <a:ext cx="4283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Tốt</a:t>
            </a:r>
            <a:endParaRPr lang="ko-KR" altLang="ko-KR" dirty="0">
              <a:latin typeface="arial" pitchFamily="34" charset="0"/>
              <a:ea typeface="맑은 고딕" pitchFamily="50" charset="-127"/>
            </a:endParaRPr>
          </a:p>
        </p:txBody>
      </p:sp>
      <p:cxnSp>
        <p:nvCxnSpPr>
          <p:cNvPr id="45" name="직선 연결선 37"/>
          <p:cNvCxnSpPr/>
          <p:nvPr/>
        </p:nvCxnSpPr>
        <p:spPr bwMode="auto">
          <a:xfrm>
            <a:off x="6511925" y="6116638"/>
            <a:ext cx="1789113" cy="0"/>
          </a:xfrm>
          <a:prstGeom prst="line">
            <a:avLst/>
          </a:prstGeom>
          <a:ln w="12700" cmpd="sng">
            <a:headEnd type="triangle"/>
            <a:tailEnd type="triangle"/>
          </a:ln>
        </p:spPr>
        <p:style>
          <a:lnRef idx="1">
            <a:schemeClr val="accent1"/>
          </a:lnRef>
          <a:fillRef idx="0">
            <a:schemeClr val="accent1"/>
          </a:fillRef>
          <a:effectRef idx="0">
            <a:schemeClr val="accent1"/>
          </a:effectRef>
          <a:fontRef idx="minor">
            <a:schemeClr val="tx1"/>
          </a:fontRef>
        </p:style>
      </p:cxnSp>
      <p:sp>
        <p:nvSpPr>
          <p:cNvPr id="46" name="TextBox 38"/>
          <p:cNvSpPr txBox="1">
            <a:spLocks noChangeArrowheads="1"/>
          </p:cNvSpPr>
          <p:nvPr/>
        </p:nvSpPr>
        <p:spPr bwMode="auto">
          <a:xfrm>
            <a:off x="5845175" y="5967413"/>
            <a:ext cx="73183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Kém</a:t>
            </a:r>
            <a:endParaRPr lang="ko-KR" altLang="ko-KR" dirty="0">
              <a:latin typeface="arial" pitchFamily="34" charset="0"/>
              <a:ea typeface="맑은 고딕" pitchFamily="50" charset="-127"/>
            </a:endParaRPr>
          </a:p>
        </p:txBody>
      </p:sp>
      <p:sp>
        <p:nvSpPr>
          <p:cNvPr id="47" name="TextBox 40"/>
          <p:cNvSpPr txBox="1">
            <a:spLocks noChangeArrowheads="1"/>
          </p:cNvSpPr>
          <p:nvPr/>
        </p:nvSpPr>
        <p:spPr bwMode="auto">
          <a:xfrm>
            <a:off x="8337550" y="5976938"/>
            <a:ext cx="8064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Tốt</a:t>
            </a:r>
            <a:endParaRPr lang="ko-KR" altLang="ko-KR" dirty="0">
              <a:latin typeface="arial" pitchFamily="34" charset="0"/>
              <a:ea typeface="맑은 고딕" pitchFamily="50" charset="-127"/>
            </a:endParaRPr>
          </a:p>
        </p:txBody>
      </p:sp>
      <p:sp>
        <p:nvSpPr>
          <p:cNvPr id="48" name="TextBox 41"/>
          <p:cNvSpPr txBox="1">
            <a:spLocks noChangeArrowheads="1"/>
          </p:cNvSpPr>
          <p:nvPr/>
        </p:nvSpPr>
        <p:spPr bwMode="auto">
          <a:xfrm>
            <a:off x="6705600" y="6107113"/>
            <a:ext cx="11541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arial" pitchFamily="34" charset="0"/>
                <a:ea typeface="맑은 고딕" pitchFamily="50" charset="-127"/>
              </a:rPr>
              <a:t>Năng</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lực</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về</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công</a:t>
            </a:r>
            <a:r>
              <a:rPr lang="en-US" altLang="ko-KR" sz="1200" b="1" dirty="0">
                <a:solidFill>
                  <a:srgbClr val="FF0000"/>
                </a:solidFill>
                <a:latin typeface="arial" pitchFamily="34" charset="0"/>
                <a:ea typeface="맑은 고딕" pitchFamily="50" charset="-127"/>
              </a:rPr>
              <a:t> </a:t>
            </a:r>
            <a:r>
              <a:rPr lang="en-US" altLang="ko-KR" sz="1200" b="1" dirty="0" err="1">
                <a:solidFill>
                  <a:srgbClr val="FF0000"/>
                </a:solidFill>
                <a:latin typeface="arial" pitchFamily="34" charset="0"/>
                <a:ea typeface="맑은 고딕" pitchFamily="50" charset="-127"/>
              </a:rPr>
              <a:t>nghệ</a:t>
            </a:r>
            <a:endParaRPr lang="ko-KR" altLang="en-US" dirty="0">
              <a:latin typeface="arial" pitchFamily="34" charset="0"/>
              <a:ea typeface="맑은 고딕" pitchFamily="50" charset="-127"/>
            </a:endParaRPr>
          </a:p>
        </p:txBody>
      </p:sp>
      <p:sp>
        <p:nvSpPr>
          <p:cNvPr id="49" name="Line 27"/>
          <p:cNvSpPr>
            <a:spLocks noChangeShapeType="1"/>
          </p:cNvSpPr>
          <p:nvPr/>
        </p:nvSpPr>
        <p:spPr bwMode="auto">
          <a:xfrm>
            <a:off x="6205538" y="5670550"/>
            <a:ext cx="3348037" cy="0"/>
          </a:xfrm>
          <a:prstGeom prst="line">
            <a:avLst/>
          </a:prstGeom>
          <a:noFill/>
          <a:ln w="6350">
            <a:solidFill>
              <a:schemeClr val="bg2"/>
            </a:solidFill>
            <a:prstDash val="dash"/>
            <a:round/>
            <a:headEnd/>
            <a:tailEnd/>
          </a:ln>
          <a:extLst>
            <a:ext uri="{909E8E84-426E-40DD-AFC4-6F175D3DCCD1}">
              <a14:hiddenFill xmlns:a14="http://schemas.microsoft.com/office/drawing/2010/main">
                <a:noFill/>
              </a14:hiddenFill>
            </a:ext>
          </a:extLst>
        </p:spPr>
        <p:txBody>
          <a:bodyPr lIns="116597" tIns="58299" rIns="116597" bIns="58299">
            <a:spAutoFit/>
          </a:bodyPr>
          <a:lstStyle/>
          <a:p>
            <a:endParaRPr lang="ko-KR" altLang="en-US" dirty="0"/>
          </a:p>
        </p:txBody>
      </p:sp>
      <p:sp>
        <p:nvSpPr>
          <p:cNvPr id="50" name="Oval 85"/>
          <p:cNvSpPr>
            <a:spLocks noChangeArrowheads="1"/>
          </p:cNvSpPr>
          <p:nvPr/>
        </p:nvSpPr>
        <p:spPr bwMode="auto">
          <a:xfrm>
            <a:off x="8193088" y="5222875"/>
            <a:ext cx="171450" cy="150813"/>
          </a:xfrm>
          <a:prstGeom prst="ellipse">
            <a:avLst/>
          </a:prstGeom>
          <a:solidFill>
            <a:srgbClr val="00B050"/>
          </a:solidFill>
          <a:ln w="9525">
            <a:solidFill>
              <a:schemeClr val="tx1"/>
            </a:solidFill>
            <a:round/>
            <a:headEnd/>
            <a:tailEnd/>
          </a:ln>
        </p:spPr>
        <p:txBody>
          <a:bodyPr wrap="none" anchor="ctr"/>
          <a:lstStyle/>
          <a:p>
            <a:pPr algn="ctr"/>
            <a:endParaRPr lang="ko-KR" altLang="ko-KR" dirty="0"/>
          </a:p>
        </p:txBody>
      </p:sp>
      <p:sp>
        <p:nvSpPr>
          <p:cNvPr id="51" name="Oval 85"/>
          <p:cNvSpPr>
            <a:spLocks noChangeArrowheads="1"/>
          </p:cNvSpPr>
          <p:nvPr/>
        </p:nvSpPr>
        <p:spPr bwMode="auto">
          <a:xfrm>
            <a:off x="7143750" y="4365625"/>
            <a:ext cx="171450" cy="150813"/>
          </a:xfrm>
          <a:prstGeom prst="ellipse">
            <a:avLst/>
          </a:prstGeom>
          <a:solidFill>
            <a:srgbClr val="000000"/>
          </a:solidFill>
          <a:ln w="9525">
            <a:solidFill>
              <a:schemeClr val="tx1"/>
            </a:solidFill>
            <a:round/>
            <a:headEnd/>
            <a:tailEnd/>
          </a:ln>
        </p:spPr>
        <p:txBody>
          <a:bodyPr wrap="none" anchor="ctr"/>
          <a:lstStyle/>
          <a:p>
            <a:pPr algn="ctr"/>
            <a:endParaRPr lang="ko-KR" altLang="ko-KR" dirty="0"/>
          </a:p>
        </p:txBody>
      </p:sp>
      <p:sp>
        <p:nvSpPr>
          <p:cNvPr id="52" name="Text Box 66"/>
          <p:cNvSpPr txBox="1">
            <a:spLocks noChangeArrowheads="1"/>
          </p:cNvSpPr>
          <p:nvPr/>
        </p:nvSpPr>
        <p:spPr bwMode="auto">
          <a:xfrm>
            <a:off x="6897216" y="4653136"/>
            <a:ext cx="636713" cy="246221"/>
          </a:xfrm>
          <a:prstGeom prst="rect">
            <a:avLst/>
          </a:prstGeom>
          <a:noFill/>
          <a:ln w="9525">
            <a:noFill/>
            <a:miter lim="800000"/>
            <a:headEnd/>
            <a:tailEnd/>
          </a:ln>
          <a:effectLst>
            <a:prstShdw prst="shdw17" dist="17961" dir="2700000">
              <a:schemeClr val="accent1">
                <a:gamma/>
                <a:shade val="60000"/>
                <a:invGamma/>
              </a:schemeClr>
            </a:prstShdw>
          </a:effectLst>
        </p:spPr>
        <p:txBody>
          <a:bodyPr wrap="none">
            <a:spAutoFit/>
          </a:bodyPr>
          <a:lstStyle/>
          <a:p>
            <a:pPr>
              <a:defRPr/>
            </a:pPr>
            <a:r>
              <a:rPr lang="en-US" altLang="ko-KR" sz="1000" dirty="0" err="1"/>
              <a:t>Hiện</a:t>
            </a:r>
            <a:r>
              <a:rPr lang="en-US" altLang="ko-KR" sz="1000" dirty="0"/>
              <a:t> </a:t>
            </a:r>
            <a:r>
              <a:rPr lang="en-US" altLang="ko-KR" sz="1000" dirty="0" err="1"/>
              <a:t>tại</a:t>
            </a:r>
            <a:endParaRPr lang="ko-KR" altLang="en-US" sz="1000" dirty="0"/>
          </a:p>
        </p:txBody>
      </p:sp>
      <p:cxnSp>
        <p:nvCxnSpPr>
          <p:cNvPr id="53" name="직선 화살표 연결선 95"/>
          <p:cNvCxnSpPr>
            <a:cxnSpLocks noChangeShapeType="1"/>
            <a:stCxn id="51" idx="5"/>
            <a:endCxn id="50" idx="1"/>
          </p:cNvCxnSpPr>
          <p:nvPr/>
        </p:nvCxnSpPr>
        <p:spPr bwMode="auto">
          <a:xfrm>
            <a:off x="7289800" y="4494213"/>
            <a:ext cx="928688" cy="750887"/>
          </a:xfrm>
          <a:prstGeom prst="straightConnector1">
            <a:avLst/>
          </a:prstGeom>
          <a:noFill/>
          <a:ln w="9525"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54" name="TextBox 42"/>
          <p:cNvSpPr txBox="1">
            <a:spLocks noChangeArrowheads="1"/>
          </p:cNvSpPr>
          <p:nvPr/>
        </p:nvSpPr>
        <p:spPr bwMode="auto">
          <a:xfrm>
            <a:off x="5185617" y="4287838"/>
            <a:ext cx="369332" cy="140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vert"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solidFill>
                  <a:srgbClr val="FF0000"/>
                </a:solidFill>
                <a:latin typeface="arial" pitchFamily="34" charset="0"/>
                <a:ea typeface="맑은 고딕" pitchFamily="50" charset="-127"/>
              </a:rPr>
              <a:t>Năng</a:t>
            </a:r>
            <a:r>
              <a:rPr lang="en-US" altLang="ko-KR" sz="1200" dirty="0">
                <a:solidFill>
                  <a:srgbClr val="FF0000"/>
                </a:solidFill>
                <a:latin typeface="arial" pitchFamily="34" charset="0"/>
                <a:ea typeface="맑은 고딕" pitchFamily="50" charset="-127"/>
              </a:rPr>
              <a:t> </a:t>
            </a:r>
            <a:r>
              <a:rPr lang="en-US" altLang="ko-KR" sz="1200" dirty="0" err="1">
                <a:solidFill>
                  <a:srgbClr val="FF0000"/>
                </a:solidFill>
                <a:latin typeface="arial" pitchFamily="34" charset="0"/>
                <a:ea typeface="맑은 고딕" pitchFamily="50" charset="-127"/>
              </a:rPr>
              <a:t>lực</a:t>
            </a:r>
            <a:r>
              <a:rPr lang="en-US" altLang="ko-KR" sz="1200" dirty="0">
                <a:solidFill>
                  <a:srgbClr val="FF0000"/>
                </a:solidFill>
                <a:latin typeface="arial" pitchFamily="34" charset="0"/>
                <a:ea typeface="맑은 고딕" pitchFamily="50" charset="-127"/>
              </a:rPr>
              <a:t> </a:t>
            </a:r>
            <a:r>
              <a:rPr lang="en-US" altLang="ko-KR" sz="1200" dirty="0" err="1">
                <a:solidFill>
                  <a:srgbClr val="FF0000"/>
                </a:solidFill>
                <a:latin typeface="arial" pitchFamily="34" charset="0"/>
                <a:ea typeface="맑은 고딕" pitchFamily="50" charset="-127"/>
              </a:rPr>
              <a:t>quản</a:t>
            </a:r>
            <a:r>
              <a:rPr lang="en-US" altLang="ko-KR" sz="1200" dirty="0">
                <a:solidFill>
                  <a:srgbClr val="FF0000"/>
                </a:solidFill>
                <a:latin typeface="arial" pitchFamily="34" charset="0"/>
                <a:ea typeface="맑은 고딕" pitchFamily="50" charset="-127"/>
              </a:rPr>
              <a:t> </a:t>
            </a:r>
            <a:r>
              <a:rPr lang="en-US" altLang="ko-KR" sz="1200" dirty="0" err="1">
                <a:solidFill>
                  <a:srgbClr val="FF0000"/>
                </a:solidFill>
                <a:latin typeface="arial" pitchFamily="34" charset="0"/>
                <a:ea typeface="맑은 고딕" pitchFamily="50" charset="-127"/>
              </a:rPr>
              <a:t>lý</a:t>
            </a:r>
            <a:endParaRPr lang="ko-KR" altLang="en-US" dirty="0">
              <a:latin typeface="arial" pitchFamily="34" charset="0"/>
              <a:ea typeface="맑은 고딕" pitchFamily="50" charset="-127"/>
            </a:endParaRPr>
          </a:p>
        </p:txBody>
      </p:sp>
      <p:sp>
        <p:nvSpPr>
          <p:cNvPr id="55" name="슬라이드 번호 개체 틀 1"/>
          <p:cNvSpPr>
            <a:spLocks noGrp="1"/>
          </p:cNvSpPr>
          <p:nvPr>
            <p:ph type="sldNum" sz="quarter" idx="10"/>
          </p:nvPr>
        </p:nvSpPr>
        <p:spPr>
          <a:xfrm>
            <a:off x="9166225" y="6475413"/>
            <a:ext cx="654050" cy="365125"/>
          </a:xfrm>
        </p:spPr>
        <p:txBody>
          <a:bodyPr/>
          <a:lstStyle/>
          <a:p>
            <a:pPr>
              <a:defRPr/>
            </a:pPr>
            <a:fld id="{336E293E-7793-468B-AB4C-49C46432963A}" type="slidenum">
              <a:rPr lang="ko-KR" altLang="en-US" smtClean="0"/>
              <a:pPr>
                <a:defRPr/>
              </a:pPr>
              <a:t>240</a:t>
            </a:fld>
            <a:endParaRPr lang="ko-KR" altLang="en-US" dirty="0"/>
          </a:p>
        </p:txBody>
      </p:sp>
    </p:spTree>
    <p:extLst>
      <p:ext uri="{BB962C8B-B14F-4D97-AF65-F5344CB8AC3E}">
        <p14:creationId xmlns:p14="http://schemas.microsoft.com/office/powerpoint/2010/main" val="22514298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8"/>
          <p:cNvSpPr txBox="1">
            <a:spLocks/>
          </p:cNvSpPr>
          <p:nvPr/>
        </p:nvSpPr>
        <p:spPr bwMode="auto">
          <a:xfrm>
            <a:off x="195263" y="188913"/>
            <a:ext cx="4757737" cy="431800"/>
          </a:xfrm>
          <a:prstGeom prst="rect">
            <a:avLst/>
          </a:prstGeom>
          <a:noFill/>
          <a:ln>
            <a:miter lim="800000"/>
            <a:headEnd/>
            <a:tailEnd/>
          </a:ln>
        </p:spPr>
        <p:txBody>
          <a:bodyPr wrap="none"/>
          <a:lstStyle/>
          <a:p>
            <a:pPr>
              <a:defRPr/>
            </a:pPr>
            <a:r>
              <a:rPr kumimoji="0" lang="en-US" altLang="ko-KR" sz="2000" b="1" kern="0" dirty="0">
                <a:latin typeface="arial" pitchFamily="34" charset="0"/>
                <a:ea typeface="맑은 고딕" pitchFamily="50" charset="-127"/>
              </a:rPr>
              <a:t>5. </a:t>
            </a:r>
            <a:r>
              <a:rPr kumimoji="0" lang="en-US" altLang="ko-KR" sz="2000" b="1" kern="0" dirty="0" err="1">
                <a:latin typeface="arial" pitchFamily="34" charset="0"/>
                <a:ea typeface="맑은 고딕" pitchFamily="50" charset="-127"/>
              </a:rPr>
              <a:t>Thực</a:t>
            </a:r>
            <a:r>
              <a:rPr kumimoji="0" lang="en-US" altLang="ko-KR" sz="2000" b="1" kern="0" dirty="0">
                <a:latin typeface="arial" pitchFamily="34" charset="0"/>
                <a:ea typeface="맑은 고딕" pitchFamily="50" charset="-127"/>
              </a:rPr>
              <a:t> </a:t>
            </a:r>
            <a:r>
              <a:rPr kumimoji="0" lang="en-US" altLang="ko-KR" sz="2000" b="1" kern="0" dirty="0" err="1">
                <a:latin typeface="arial" pitchFamily="34" charset="0"/>
                <a:ea typeface="맑은 고딕" pitchFamily="50" charset="-127"/>
              </a:rPr>
              <a:t>hành</a:t>
            </a:r>
            <a:endParaRPr kumimoji="0" lang="ko-KR" altLang="en-US" sz="2000" b="1" kern="0" dirty="0">
              <a:latin typeface="arial" pitchFamily="34" charset="0"/>
              <a:ea typeface="맑은 고딕" pitchFamily="50" charset="-127"/>
            </a:endParaRPr>
          </a:p>
        </p:txBody>
      </p:sp>
      <p:sp>
        <p:nvSpPr>
          <p:cNvPr id="63" name="TextBox 62"/>
          <p:cNvSpPr txBox="1"/>
          <p:nvPr/>
        </p:nvSpPr>
        <p:spPr>
          <a:xfrm>
            <a:off x="200025" y="908050"/>
            <a:ext cx="9505950" cy="649288"/>
          </a:xfrm>
          <a:prstGeom prst="rect">
            <a:avLst/>
          </a:prstGeom>
          <a:noFill/>
        </p:spPr>
        <p:txBody>
          <a:bodyPr/>
          <a:lstStyle/>
          <a:p>
            <a:pPr marL="269875" indent="-269875" fontAlgn="auto">
              <a:spcBef>
                <a:spcPts val="600"/>
              </a:spcBef>
              <a:spcAft>
                <a:spcPts val="0"/>
              </a:spcAft>
              <a:defRPr/>
            </a:pPr>
            <a:r>
              <a:rPr kumimoji="0" lang="en-US" altLang="ko-KR" sz="1400" b="1" dirty="0">
                <a:latin typeface="arial" pitchFamily="34" charset="0"/>
                <a:ea typeface="+mn-ea"/>
              </a:rPr>
              <a:t>	- </a:t>
            </a:r>
            <a:r>
              <a:rPr kumimoji="0" lang="en-US" altLang="ko-KR" sz="1400" b="1" dirty="0" err="1">
                <a:latin typeface="arial" pitchFamily="34" charset="0"/>
                <a:ea typeface="+mn-ea"/>
              </a:rPr>
              <a:t>Đối</a:t>
            </a:r>
            <a:r>
              <a:rPr kumimoji="0" lang="en-US" altLang="ko-KR" sz="1400" b="1" dirty="0">
                <a:latin typeface="arial" pitchFamily="34" charset="0"/>
                <a:ea typeface="+mn-ea"/>
              </a:rPr>
              <a:t> </a:t>
            </a:r>
            <a:r>
              <a:rPr kumimoji="0" lang="en-US" altLang="ko-KR" sz="1400" b="1" dirty="0" err="1">
                <a:latin typeface="arial" pitchFamily="34" charset="0"/>
                <a:ea typeface="+mn-ea"/>
              </a:rPr>
              <a:t>với</a:t>
            </a:r>
            <a:r>
              <a:rPr kumimoji="0" lang="en-US" altLang="ko-KR" sz="1400" b="1" dirty="0">
                <a:latin typeface="arial" pitchFamily="34" charset="0"/>
                <a:ea typeface="+mn-ea"/>
              </a:rPr>
              <a:t> </a:t>
            </a:r>
            <a:r>
              <a:rPr kumimoji="0" lang="en-US" altLang="ko-KR" sz="1400" b="1" dirty="0" err="1">
                <a:latin typeface="arial" pitchFamily="34" charset="0"/>
                <a:ea typeface="+mn-ea"/>
              </a:rPr>
              <a:t>trường</a:t>
            </a:r>
            <a:r>
              <a:rPr kumimoji="0" lang="en-US" altLang="ko-KR" sz="1400" b="1" dirty="0">
                <a:latin typeface="arial" pitchFamily="34" charset="0"/>
                <a:ea typeface="+mn-ea"/>
              </a:rPr>
              <a:t> </a:t>
            </a:r>
            <a:r>
              <a:rPr kumimoji="0" lang="en-US" altLang="ko-KR" sz="1400" b="1" dirty="0" err="1">
                <a:latin typeface="arial" pitchFamily="34" charset="0"/>
                <a:ea typeface="+mn-ea"/>
              </a:rPr>
              <a:t>hợp</a:t>
            </a:r>
            <a:r>
              <a:rPr kumimoji="0" lang="en-US" altLang="ko-KR" sz="1400" b="1" dirty="0">
                <a:latin typeface="arial" pitchFamily="34" charset="0"/>
                <a:ea typeface="+mn-ea"/>
              </a:rPr>
              <a:t> </a:t>
            </a:r>
            <a:r>
              <a:rPr kumimoji="0" lang="en-US" altLang="ko-KR" sz="1400" b="1" dirty="0" err="1">
                <a:latin typeface="arial" pitchFamily="34" charset="0"/>
                <a:ea typeface="+mn-ea"/>
              </a:rPr>
              <a:t>dưới</a:t>
            </a:r>
            <a:r>
              <a:rPr kumimoji="0" lang="en-US" altLang="ko-KR" sz="1400" b="1" dirty="0">
                <a:latin typeface="arial" pitchFamily="34" charset="0"/>
                <a:ea typeface="+mn-ea"/>
              </a:rPr>
              <a:t> </a:t>
            </a:r>
            <a:r>
              <a:rPr kumimoji="0" lang="en-US" altLang="ko-KR" sz="1400" b="1" dirty="0" err="1">
                <a:latin typeface="arial" pitchFamily="34" charset="0"/>
                <a:ea typeface="+mn-ea"/>
              </a:rPr>
              <a:t>đây</a:t>
            </a:r>
            <a:r>
              <a:rPr kumimoji="0" lang="en-US" altLang="ko-KR" sz="1400" b="1" dirty="0">
                <a:latin typeface="arial" pitchFamily="34" charset="0"/>
                <a:ea typeface="+mn-ea"/>
              </a:rPr>
              <a:t>, </a:t>
            </a:r>
            <a:r>
              <a:rPr kumimoji="0" lang="en-US" altLang="ko-KR" sz="1400" b="1" dirty="0" err="1">
                <a:latin typeface="arial" pitchFamily="34" charset="0"/>
                <a:ea typeface="+mn-ea"/>
              </a:rPr>
              <a:t>hãy</a:t>
            </a:r>
            <a:r>
              <a:rPr kumimoji="0" lang="en-US" altLang="ko-KR" sz="1400" b="1" dirty="0">
                <a:latin typeface="arial" pitchFamily="34" charset="0"/>
                <a:ea typeface="+mn-ea"/>
              </a:rPr>
              <a:t> </a:t>
            </a:r>
            <a:r>
              <a:rPr kumimoji="0" lang="en-US" altLang="ko-KR" sz="1400" b="1" dirty="0" err="1">
                <a:latin typeface="arial" pitchFamily="34" charset="0"/>
                <a:ea typeface="+mn-ea"/>
              </a:rPr>
              <a:t>tính</a:t>
            </a:r>
            <a:r>
              <a:rPr kumimoji="0" lang="en-US" altLang="ko-KR" sz="1400" b="1" dirty="0">
                <a:latin typeface="arial" pitchFamily="34" charset="0"/>
                <a:ea typeface="+mn-ea"/>
              </a:rPr>
              <a:t> </a:t>
            </a:r>
            <a:r>
              <a:rPr kumimoji="0" lang="en-US" altLang="ko-KR" sz="1400" b="1" dirty="0" err="1">
                <a:latin typeface="arial" pitchFamily="34" charset="0"/>
                <a:ea typeface="+mn-ea"/>
              </a:rPr>
              <a:t>toán</a:t>
            </a:r>
            <a:r>
              <a:rPr kumimoji="0" lang="en-US" altLang="ko-KR" sz="1400" b="1" dirty="0">
                <a:latin typeface="arial" pitchFamily="34" charset="0"/>
                <a:ea typeface="+mn-ea"/>
              </a:rPr>
              <a:t> </a:t>
            </a:r>
            <a:r>
              <a:rPr kumimoji="0" lang="en-US" altLang="ko-KR" sz="1400" b="1" dirty="0" err="1">
                <a:latin typeface="arial" pitchFamily="34" charset="0"/>
                <a:ea typeface="+mn-ea"/>
              </a:rPr>
              <a:t>năng</a:t>
            </a:r>
            <a:r>
              <a:rPr kumimoji="0" lang="en-US" altLang="ko-KR" sz="1400" b="1" dirty="0">
                <a:latin typeface="arial" pitchFamily="34" charset="0"/>
                <a:ea typeface="+mn-ea"/>
              </a:rPr>
              <a:t> </a:t>
            </a:r>
            <a:r>
              <a:rPr kumimoji="0" lang="en-US" altLang="ko-KR" sz="1400" b="1" dirty="0" err="1">
                <a:latin typeface="arial" pitchFamily="34" charset="0"/>
                <a:ea typeface="+mn-ea"/>
              </a:rPr>
              <a:t>lực</a:t>
            </a:r>
            <a:r>
              <a:rPr kumimoji="0" lang="en-US" altLang="ko-KR" sz="1400" b="1" dirty="0">
                <a:latin typeface="arial" pitchFamily="34" charset="0"/>
                <a:ea typeface="+mn-ea"/>
              </a:rPr>
              <a:t> </a:t>
            </a:r>
            <a:r>
              <a:rPr kumimoji="0" lang="en-US" altLang="ko-KR" sz="1400" b="1" dirty="0" err="1">
                <a:latin typeface="arial" pitchFamily="34" charset="0"/>
                <a:ea typeface="+mn-ea"/>
              </a:rPr>
              <a:t>quá</a:t>
            </a:r>
            <a:r>
              <a:rPr kumimoji="0" lang="en-US" altLang="ko-KR" sz="1400" b="1" dirty="0">
                <a:latin typeface="arial" pitchFamily="34" charset="0"/>
                <a:ea typeface="+mn-ea"/>
              </a:rPr>
              <a:t> </a:t>
            </a:r>
            <a:r>
              <a:rPr kumimoji="0" lang="en-US" altLang="ko-KR" sz="1400" b="1" dirty="0" err="1">
                <a:latin typeface="arial" pitchFamily="34" charset="0"/>
                <a:ea typeface="+mn-ea"/>
              </a:rPr>
              <a:t>trình</a:t>
            </a:r>
            <a:r>
              <a:rPr kumimoji="0" lang="en-US" altLang="ko-KR" sz="1400" b="1" dirty="0">
                <a:latin typeface="arial" pitchFamily="34" charset="0"/>
                <a:ea typeface="+mn-ea"/>
              </a:rPr>
              <a:t> </a:t>
            </a:r>
            <a:r>
              <a:rPr kumimoji="0" lang="en-US" altLang="ko-KR" sz="1400" b="1" dirty="0" err="1">
                <a:latin typeface="arial" pitchFamily="34" charset="0"/>
                <a:ea typeface="+mn-ea"/>
              </a:rPr>
              <a:t>và</a:t>
            </a:r>
            <a:r>
              <a:rPr kumimoji="0" lang="en-US" altLang="ko-KR" sz="1400" b="1" dirty="0">
                <a:latin typeface="arial" pitchFamily="34" charset="0"/>
                <a:ea typeface="+mn-ea"/>
              </a:rPr>
              <a:t> </a:t>
            </a:r>
            <a:r>
              <a:rPr kumimoji="0" lang="en-US" altLang="ko-KR" sz="1400" b="1" dirty="0" err="1">
                <a:latin typeface="arial" pitchFamily="34" charset="0"/>
                <a:ea typeface="+mn-ea"/>
              </a:rPr>
              <a:t>thiết</a:t>
            </a:r>
            <a:r>
              <a:rPr kumimoji="0" lang="en-US" altLang="ko-KR" sz="1400" b="1" dirty="0">
                <a:latin typeface="arial" pitchFamily="34" charset="0"/>
                <a:ea typeface="+mn-ea"/>
              </a:rPr>
              <a:t> </a:t>
            </a:r>
            <a:r>
              <a:rPr kumimoji="0" lang="en-US" altLang="ko-KR" sz="1400" b="1" dirty="0" err="1">
                <a:latin typeface="arial" pitchFamily="34" charset="0"/>
                <a:ea typeface="+mn-ea"/>
              </a:rPr>
              <a:t>lập</a:t>
            </a:r>
            <a:r>
              <a:rPr kumimoji="0" lang="en-US" altLang="ko-KR" sz="1400" b="1" dirty="0">
                <a:latin typeface="arial" pitchFamily="34" charset="0"/>
                <a:ea typeface="+mn-ea"/>
              </a:rPr>
              <a:t> </a:t>
            </a:r>
            <a:r>
              <a:rPr kumimoji="0" lang="en-US" altLang="ko-KR" sz="1400" b="1" dirty="0" err="1">
                <a:latin typeface="arial" pitchFamily="34" charset="0"/>
                <a:ea typeface="+mn-ea"/>
              </a:rPr>
              <a:t>định</a:t>
            </a:r>
            <a:r>
              <a:rPr kumimoji="0" lang="en-US" altLang="ko-KR" sz="1400" b="1" dirty="0">
                <a:latin typeface="arial" pitchFamily="34" charset="0"/>
                <a:ea typeface="+mn-ea"/>
              </a:rPr>
              <a:t> </a:t>
            </a:r>
            <a:r>
              <a:rPr kumimoji="0" lang="en-US" altLang="ko-KR" sz="1400" b="1" dirty="0" err="1">
                <a:latin typeface="arial" pitchFamily="34" charset="0"/>
                <a:ea typeface="+mn-ea"/>
              </a:rPr>
              <a:t>hướng</a:t>
            </a:r>
            <a:r>
              <a:rPr kumimoji="0" lang="en-US" altLang="ko-KR" sz="1400" b="1" dirty="0">
                <a:latin typeface="arial" pitchFamily="34" charset="0"/>
                <a:ea typeface="+mn-ea"/>
              </a:rPr>
              <a:t> </a:t>
            </a:r>
            <a:r>
              <a:rPr kumimoji="0" lang="en-US" altLang="ko-KR" sz="1400" b="1" dirty="0" err="1">
                <a:latin typeface="arial" pitchFamily="34" charset="0"/>
                <a:ea typeface="+mn-ea"/>
              </a:rPr>
              <a:t>cải</a:t>
            </a:r>
            <a:r>
              <a:rPr kumimoji="0" lang="en-US" altLang="ko-KR" sz="1400" b="1" dirty="0">
                <a:latin typeface="arial" pitchFamily="34" charset="0"/>
                <a:ea typeface="+mn-ea"/>
              </a:rPr>
              <a:t> </a:t>
            </a:r>
            <a:r>
              <a:rPr kumimoji="0" lang="en-US" altLang="ko-KR" sz="1400" b="1" dirty="0" err="1">
                <a:latin typeface="arial" pitchFamily="34" charset="0"/>
                <a:ea typeface="+mn-ea"/>
              </a:rPr>
              <a:t>tiến</a:t>
            </a:r>
            <a:r>
              <a:rPr kumimoji="0" lang="en-US" altLang="ko-KR" sz="1400" b="1" dirty="0">
                <a:latin typeface="arial" pitchFamily="34" charset="0"/>
                <a:ea typeface="+mn-ea"/>
              </a:rPr>
              <a:t>.</a:t>
            </a:r>
          </a:p>
        </p:txBody>
      </p:sp>
      <p:sp>
        <p:nvSpPr>
          <p:cNvPr id="61" name="Rectangle 1027"/>
          <p:cNvSpPr>
            <a:spLocks noChangeArrowheads="1"/>
          </p:cNvSpPr>
          <p:nvPr/>
        </p:nvSpPr>
        <p:spPr bwMode="auto">
          <a:xfrm>
            <a:off x="611188" y="1573213"/>
            <a:ext cx="8683625" cy="831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marL="171450" indent="-171450" defTabSz="762000">
              <a:buFont typeface="Wingdings" pitchFamily="2" charset="2"/>
              <a:buChar char="Ø"/>
              <a:defRPr/>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Dưới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đây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là</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bảng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liệu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từ</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việc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đo</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đạc</a:t>
            </a:r>
            <a:r>
              <a:rPr lang="en-US" altLang="ko-KR" sz="1200" dirty="0">
                <a:latin typeface="arial" pitchFamily="34" charset="0"/>
                <a:ea typeface="맑은 고딕" pitchFamily="50" charset="-127"/>
              </a:rPr>
              <a:t> step </a:t>
            </a:r>
            <a:r>
              <a:rPr lang="en-US" altLang="ko-KR" sz="1200" dirty="0" err="1">
                <a:latin typeface="arial" pitchFamily="34" charset="0"/>
                <a:ea typeface="맑은 고딕" pitchFamily="50" charset="-127"/>
              </a:rPr>
              <a:t>canh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cửa</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tủ</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Dữ</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liệu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được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tập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hợp</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từ</a:t>
            </a:r>
            <a:r>
              <a:rPr lang="en-US" altLang="ko-KR" sz="1200" dirty="0">
                <a:latin typeface="arial" pitchFamily="34" charset="0"/>
                <a:ea typeface="맑은 고딕" pitchFamily="50" charset="-127"/>
              </a:rPr>
              <a:t> 6 </a:t>
            </a:r>
            <a:r>
              <a:rPr lang="en-US" altLang="ko-KR" sz="1200" dirty="0" err="1">
                <a:latin typeface="arial" pitchFamily="34" charset="0"/>
                <a:ea typeface="맑은 고딕" pitchFamily="50" charset="-127"/>
              </a:rPr>
              <a:t>nhóm</a:t>
            </a:r>
            <a:r>
              <a:rPr lang="en-US" altLang="ko-KR" sz="1200" dirty="0">
                <a:latin typeface="arial" pitchFamily="34" charset="0"/>
                <a:ea typeface="맑은 고딕" pitchFamily="50" charset="-127"/>
              </a:rPr>
              <a:t> subgroup, </a:t>
            </a:r>
            <a:r>
              <a:rPr lang="en-US" altLang="ko-KR" sz="1200" dirty="0" err="1">
                <a:latin typeface="arial" pitchFamily="34" charset="0"/>
                <a:ea typeface="맑은 고딕" pitchFamily="50" charset="-127"/>
              </a:rPr>
              <a:t>sử</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dụng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phương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pháp</a:t>
            </a:r>
            <a:r>
              <a:rPr lang="en-US" altLang="ko-KR" sz="1200" dirty="0">
                <a:latin typeface="arial" pitchFamily="34" charset="0"/>
                <a:ea typeface="맑은 고딕" pitchFamily="50" charset="-127"/>
              </a:rPr>
              <a:t> RSP.</a:t>
            </a:r>
          </a:p>
          <a:p>
            <a:pPr marL="171450" indent="-171450" defTabSz="762000">
              <a:defRPr/>
            </a:pPr>
            <a:r>
              <a:rPr lang="en-US" altLang="ko-KR" sz="1200" dirty="0">
                <a:latin typeface="arial" pitchFamily="34" charset="0"/>
                <a:ea typeface="맑은 고딕" pitchFamily="50" charset="-127"/>
              </a:rPr>
              <a:t>	</a:t>
            </a:r>
          </a:p>
          <a:p>
            <a:pPr marL="171450" indent="-171450" defTabSz="762000">
              <a:defRPr/>
            </a:pP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Với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tiêu</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chuẩn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từ</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khách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hàng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là</a:t>
            </a:r>
            <a:r>
              <a:rPr lang="en-US" altLang="ko-KR" sz="1200" dirty="0">
                <a:latin typeface="arial" pitchFamily="34" charset="0"/>
                <a:ea typeface="맑은 고딕" pitchFamily="50" charset="-127"/>
              </a:rPr>
              <a:t> 0± 2 mm, </a:t>
            </a:r>
            <a:r>
              <a:rPr lang="en-US" altLang="ko-KR" sz="1200" dirty="0" err="1">
                <a:latin typeface="arial" pitchFamily="34" charset="0"/>
                <a:ea typeface="맑은 고딕" pitchFamily="50" charset="-127"/>
              </a:rPr>
              <a:t>hãy</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tiến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hành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qua </a:t>
            </a:r>
            <a:r>
              <a:rPr lang="en-US" altLang="ko-KR" sz="1200" dirty="0" err="1">
                <a:latin typeface="arial" pitchFamily="34" charset="0"/>
                <a:ea typeface="맑은 고딕" pitchFamily="50" charset="-127"/>
              </a:rPr>
              <a:t>những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thông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bên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dưới</a:t>
            </a:r>
            <a:r>
              <a:rPr lang="en-US" altLang="ko-KR" sz="1200" dirty="0">
                <a:latin typeface="arial" pitchFamily="34" charset="0"/>
                <a:ea typeface="맑은 고딕" pitchFamily="50" charset="-127"/>
              </a:rPr>
              <a:t>.	</a:t>
            </a:r>
          </a:p>
        </p:txBody>
      </p:sp>
      <p:graphicFrame>
        <p:nvGraphicFramePr>
          <p:cNvPr id="4" name="표 3"/>
          <p:cNvGraphicFramePr>
            <a:graphicFrameLocks noGrp="1"/>
          </p:cNvGraphicFramePr>
          <p:nvPr/>
        </p:nvGraphicFramePr>
        <p:xfrm>
          <a:off x="812800" y="2781300"/>
          <a:ext cx="4114800" cy="1257300"/>
        </p:xfrm>
        <a:graphic>
          <a:graphicData uri="http://schemas.openxmlformats.org/drawingml/2006/table">
            <a:tbl>
              <a:tblPr/>
              <a:tblGrid>
                <a:gridCol w="685800">
                  <a:extLst>
                    <a:ext uri="{9D8B030D-6E8A-4147-A177-3AD203B41FA5}">
                      <a16:colId xmlns:a16="http://schemas.microsoft.com/office/drawing/2014/main" val="20000"/>
                    </a:ext>
                  </a:extLst>
                </a:gridCol>
                <a:gridCol w="685800">
                  <a:extLst>
                    <a:ext uri="{9D8B030D-6E8A-4147-A177-3AD203B41FA5}">
                      <a16:colId xmlns:a16="http://schemas.microsoft.com/office/drawing/2014/main" val="20001"/>
                    </a:ext>
                  </a:extLst>
                </a:gridCol>
                <a:gridCol w="685800">
                  <a:extLst>
                    <a:ext uri="{9D8B030D-6E8A-4147-A177-3AD203B41FA5}">
                      <a16:colId xmlns:a16="http://schemas.microsoft.com/office/drawing/2014/main" val="20002"/>
                    </a:ext>
                  </a:extLst>
                </a:gridCol>
                <a:gridCol w="685800">
                  <a:extLst>
                    <a:ext uri="{9D8B030D-6E8A-4147-A177-3AD203B41FA5}">
                      <a16:colId xmlns:a16="http://schemas.microsoft.com/office/drawing/2014/main" val="20003"/>
                    </a:ext>
                  </a:extLst>
                </a:gridCol>
                <a:gridCol w="685800">
                  <a:extLst>
                    <a:ext uri="{9D8B030D-6E8A-4147-A177-3AD203B41FA5}">
                      <a16:colId xmlns:a16="http://schemas.microsoft.com/office/drawing/2014/main" val="20004"/>
                    </a:ext>
                  </a:extLst>
                </a:gridCol>
                <a:gridCol w="685800">
                  <a:extLst>
                    <a:ext uri="{9D8B030D-6E8A-4147-A177-3AD203B41FA5}">
                      <a16:colId xmlns:a16="http://schemas.microsoft.com/office/drawing/2014/main" val="20005"/>
                    </a:ext>
                  </a:extLst>
                </a:gridCol>
              </a:tblGrid>
              <a:tr h="209550">
                <a:tc>
                  <a:txBody>
                    <a:bodyPr/>
                    <a:lstStyle/>
                    <a:p>
                      <a:pPr algn="ctr" fontAlgn="ctr"/>
                      <a:r>
                        <a:rPr lang="en-US" sz="1100" b="0" i="0" u="none" strike="noStrike" dirty="0">
                          <a:solidFill>
                            <a:srgbClr val="000000"/>
                          </a:solidFill>
                          <a:effectLst/>
                          <a:latin typeface="arial" pitchFamily="34" charset="0"/>
                        </a:rPr>
                        <a:t>Sub 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0000"/>
                          </a:solidFill>
                          <a:effectLst/>
                          <a:latin typeface="arial" pitchFamily="34" charset="0"/>
                        </a:rPr>
                        <a:t>Sub 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0000"/>
                          </a:solidFill>
                          <a:effectLst/>
                          <a:latin typeface="arial" pitchFamily="34" charset="0"/>
                        </a:rPr>
                        <a:t>Sub 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0000"/>
                          </a:solidFill>
                          <a:effectLst/>
                          <a:latin typeface="arial" pitchFamily="34" charset="0"/>
                        </a:rPr>
                        <a:t>Sub 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0000"/>
                          </a:solidFill>
                          <a:effectLst/>
                          <a:latin typeface="arial" pitchFamily="34" charset="0"/>
                        </a:rPr>
                        <a:t>Sub 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0000"/>
                          </a:solidFill>
                          <a:effectLst/>
                          <a:latin typeface="arial" pitchFamily="34" charset="0"/>
                        </a:rPr>
                        <a:t>Sub 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09550">
                <a:tc>
                  <a:txBody>
                    <a:bodyPr/>
                    <a:lstStyle/>
                    <a:p>
                      <a:pPr algn="r" fontAlgn="ctr"/>
                      <a:r>
                        <a:rPr lang="en-US" altLang="ko-KR" sz="1100" b="0" i="0" u="none" strike="noStrike" dirty="0">
                          <a:solidFill>
                            <a:srgbClr val="000000"/>
                          </a:solidFill>
                          <a:effectLst/>
                          <a:latin typeface="arial" pitchFamily="34" charset="0"/>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3.91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9550">
                <a:tc>
                  <a:txBody>
                    <a:bodyPr/>
                    <a:lstStyle/>
                    <a:p>
                      <a:pPr algn="r" fontAlgn="ctr"/>
                      <a:r>
                        <a:rPr lang="en-US" altLang="ko-KR" sz="1100" b="0" i="0" u="none" strike="noStrike" dirty="0">
                          <a:solidFill>
                            <a:srgbClr val="000000"/>
                          </a:solidFill>
                          <a:effectLst/>
                          <a:latin typeface="arial" pitchFamily="34" charset="0"/>
                        </a:rPr>
                        <a:t>1.84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0.04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3.44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-4.91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09550">
                <a:tc>
                  <a:txBody>
                    <a:bodyPr/>
                    <a:lstStyle/>
                    <a:p>
                      <a:pPr algn="r" fontAlgn="ctr"/>
                      <a:r>
                        <a:rPr lang="en-US" altLang="ko-KR" sz="1100" b="0" i="0" u="none" strike="noStrike" dirty="0">
                          <a:solidFill>
                            <a:srgbClr val="000000"/>
                          </a:solidFill>
                          <a:effectLst/>
                          <a:latin typeface="arial" pitchFamily="34" charset="0"/>
                        </a:rPr>
                        <a:t>1.55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0.58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-0.56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09550">
                <a:tc>
                  <a:txBody>
                    <a:bodyPr/>
                    <a:lstStyle/>
                    <a:p>
                      <a:pPr algn="r" fontAlgn="ctr"/>
                      <a:r>
                        <a:rPr lang="en-US" altLang="ko-KR" sz="1100" b="0" i="0" u="none" strike="noStrike" dirty="0">
                          <a:solidFill>
                            <a:srgbClr val="000000"/>
                          </a:solidFill>
                          <a:effectLst/>
                          <a:latin typeface="arial" pitchFamily="34" charset="0"/>
                        </a:rPr>
                        <a:t>0.97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1.85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0.73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-3.33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-4.26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09550">
                <a:tc>
                  <a:txBody>
                    <a:bodyPr/>
                    <a:lstStyle/>
                    <a:p>
                      <a:pPr algn="r" fontAlgn="ctr"/>
                      <a:r>
                        <a:rPr lang="en-US" altLang="ko-KR" sz="1100" b="0" i="0" u="none" strike="noStrike" dirty="0">
                          <a:solidFill>
                            <a:srgbClr val="000000"/>
                          </a:solidFill>
                          <a:effectLst/>
                          <a:latin typeface="arial" pitchFamily="34" charset="0"/>
                        </a:rPr>
                        <a:t>0.68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-0.98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2.05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ko-KR" sz="1100" b="0" i="0" u="none" strike="noStrike" dirty="0">
                          <a:solidFill>
                            <a:srgbClr val="000000"/>
                          </a:solidFill>
                          <a:effectLst/>
                          <a:latin typeface="arial" pitchFamily="34" charset="0"/>
                        </a:rPr>
                        <a:t>-1.98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pic>
        <p:nvPicPr>
          <p:cNvPr id="318520" name="Picture 2" descr="D:\태주지원\태주 Task 자료\Mars 사진\Picture1030\CAM00113.jpg"/>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5421313" y="2780928"/>
            <a:ext cx="3563937" cy="267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241</a:t>
            </a:fld>
            <a:endParaRPr lang="ko-KR" altLang="en-US" dirty="0"/>
          </a:p>
        </p:txBody>
      </p:sp>
    </p:spTree>
    <p:extLst>
      <p:ext uri="{BB962C8B-B14F-4D97-AF65-F5344CB8AC3E}">
        <p14:creationId xmlns:p14="http://schemas.microsoft.com/office/powerpoint/2010/main" val="1296919110"/>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8"/>
          <p:cNvSpPr txBox="1">
            <a:spLocks/>
          </p:cNvSpPr>
          <p:nvPr/>
        </p:nvSpPr>
        <p:spPr bwMode="auto">
          <a:xfrm>
            <a:off x="195263" y="188913"/>
            <a:ext cx="4757737" cy="431800"/>
          </a:xfrm>
          <a:prstGeom prst="rect">
            <a:avLst/>
          </a:prstGeom>
          <a:noFill/>
          <a:ln>
            <a:miter lim="800000"/>
            <a:headEnd/>
            <a:tailEnd/>
          </a:ln>
        </p:spPr>
        <p:txBody>
          <a:bodyPr wrap="none"/>
          <a:lstStyle/>
          <a:p>
            <a:pPr>
              <a:defRPr/>
            </a:pPr>
            <a:r>
              <a:rPr kumimoji="0" lang="en-US" altLang="ko-KR" sz="2000" b="1" kern="0" dirty="0">
                <a:latin typeface="Arial" pitchFamily="34" charset="0"/>
                <a:ea typeface="맑은 고딕" pitchFamily="50" charset="-127"/>
                <a:cs typeface="Arial" pitchFamily="34" charset="0"/>
              </a:rPr>
              <a:t>6. </a:t>
            </a:r>
            <a:r>
              <a:rPr kumimoji="0" lang="en-US" altLang="ko-KR" sz="2000" b="1" kern="0" dirty="0" err="1">
                <a:latin typeface="Arial" pitchFamily="34" charset="0"/>
                <a:ea typeface="맑은 고딕" pitchFamily="50" charset="-127"/>
                <a:cs typeface="Arial" pitchFamily="34" charset="0"/>
              </a:rPr>
              <a:t>Thảo</a:t>
            </a:r>
            <a:r>
              <a:rPr kumimoji="0" lang="en-US" altLang="ko-KR" sz="2000" b="1" kern="0" dirty="0">
                <a:latin typeface="Arial" pitchFamily="34" charset="0"/>
                <a:ea typeface="맑은 고딕" pitchFamily="50" charset="-127"/>
                <a:cs typeface="Arial" pitchFamily="34" charset="0"/>
              </a:rPr>
              <a:t> </a:t>
            </a:r>
            <a:r>
              <a:rPr kumimoji="0" lang="en-US" altLang="ko-KR" sz="2000" b="1" kern="0" dirty="0" err="1">
                <a:latin typeface="Arial" pitchFamily="34" charset="0"/>
                <a:ea typeface="맑은 고딕" pitchFamily="50" charset="-127"/>
                <a:cs typeface="Arial" pitchFamily="34" charset="0"/>
              </a:rPr>
              <a:t>luận</a:t>
            </a:r>
            <a:endParaRPr kumimoji="0" lang="ko-KR" altLang="en-US" sz="2000" b="1" kern="0" dirty="0">
              <a:latin typeface="Arial" pitchFamily="34" charset="0"/>
              <a:ea typeface="맑은 고딕" pitchFamily="50" charset="-127"/>
              <a:cs typeface="Arial" pitchFamily="34" charset="0"/>
            </a:endParaRPr>
          </a:p>
        </p:txBody>
      </p:sp>
      <p:sp>
        <p:nvSpPr>
          <p:cNvPr id="63" name="TextBox 62"/>
          <p:cNvSpPr txBox="1"/>
          <p:nvPr/>
        </p:nvSpPr>
        <p:spPr>
          <a:xfrm>
            <a:off x="200025" y="908050"/>
            <a:ext cx="9505950" cy="649288"/>
          </a:xfrm>
          <a:prstGeom prst="rect">
            <a:avLst/>
          </a:prstGeom>
          <a:noFill/>
        </p:spPr>
        <p:txBody>
          <a:bodyPr/>
          <a:lstStyle/>
          <a:p>
            <a:pPr marL="269875" indent="-269875" fontAlgn="auto">
              <a:spcBef>
                <a:spcPts val="600"/>
              </a:spcBef>
              <a:spcAft>
                <a:spcPts val="0"/>
              </a:spcAft>
              <a:defRPr/>
            </a:pPr>
            <a:r>
              <a:rPr kumimoji="0" lang="en-US" altLang="ko-KR" sz="1400" b="1" dirty="0">
                <a:latin typeface="Arial" pitchFamily="34" charset="0"/>
                <a:ea typeface="+mn-ea"/>
                <a:cs typeface="Arial" pitchFamily="34" charset="0"/>
              </a:rPr>
              <a:t>	- </a:t>
            </a:r>
            <a:r>
              <a:rPr kumimoji="0" lang="en-US" altLang="ko-KR" sz="1400" b="1" dirty="0" err="1">
                <a:latin typeface="Arial" pitchFamily="34" charset="0"/>
                <a:ea typeface="+mn-ea"/>
                <a:cs typeface="Arial" pitchFamily="34" charset="0"/>
              </a:rPr>
              <a:t>Hãy</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cùng</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thảo</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luận</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về</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những</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vấn</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đề</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được</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đưa</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ra</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dưới</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đây</a:t>
            </a:r>
            <a:r>
              <a:rPr kumimoji="0" lang="en-US" altLang="ko-KR" sz="1400" b="1" dirty="0">
                <a:latin typeface="Arial" pitchFamily="34" charset="0"/>
                <a:ea typeface="+mn-ea"/>
                <a:cs typeface="Arial" pitchFamily="34" charset="0"/>
              </a:rPr>
              <a:t>.</a:t>
            </a:r>
          </a:p>
        </p:txBody>
      </p:sp>
      <p:sp>
        <p:nvSpPr>
          <p:cNvPr id="319492" name="Rectangle 1027"/>
          <p:cNvSpPr>
            <a:spLocks noChangeArrowheads="1"/>
          </p:cNvSpPr>
          <p:nvPr/>
        </p:nvSpPr>
        <p:spPr bwMode="auto">
          <a:xfrm>
            <a:off x="611188" y="1573213"/>
            <a:ext cx="8683625"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marL="171450" indent="-171450" defTabSz="762000">
              <a:buFont typeface="Wingdings" pitchFamily="2" charset="2"/>
              <a:buChar char="Ø"/>
            </a:pP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xuất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phẩm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chủ</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chúng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gì</a:t>
            </a:r>
            <a:r>
              <a:rPr lang="en-US" altLang="ko-KR" sz="1200" dirty="0">
                <a:latin typeface="Arial" pitchFamily="34" charset="0"/>
                <a:ea typeface="맑은 고딕" pitchFamily="50" charset="-127"/>
                <a:cs typeface="Arial" pitchFamily="34" charset="0"/>
              </a:rPr>
              <a:t>?</a:t>
            </a:r>
          </a:p>
        </p:txBody>
      </p:sp>
      <p:sp>
        <p:nvSpPr>
          <p:cNvPr id="319493" name="Rectangle 1027"/>
          <p:cNvSpPr>
            <a:spLocks noChangeArrowheads="1"/>
          </p:cNvSpPr>
          <p:nvPr/>
        </p:nvSpPr>
        <p:spPr bwMode="auto">
          <a:xfrm>
            <a:off x="611188" y="4519613"/>
            <a:ext cx="8878316"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p>
            <a:pPr marL="171450" indent="-171450" defTabSz="762000">
              <a:buFont typeface="Wingdings" pitchFamily="2" charset="2"/>
              <a:buChar char="Ø"/>
            </a:pP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Sự</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biệt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giữa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ngắn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dài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phẩm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chủ</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chúng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gì</a:t>
            </a:r>
            <a:r>
              <a:rPr lang="en-US" altLang="ko-KR" sz="1200" dirty="0">
                <a:latin typeface="Arial" pitchFamily="34" charset="0"/>
                <a:ea typeface="맑은 고딕" pitchFamily="50" charset="-127"/>
                <a:cs typeface="Arial" pitchFamily="34" charset="0"/>
              </a:rPr>
              <a:t>?</a:t>
            </a:r>
          </a:p>
        </p:txBody>
      </p:sp>
      <p:sp>
        <p:nvSpPr>
          <p:cNvPr id="319494" name="Rectangle 1027"/>
          <p:cNvSpPr>
            <a:spLocks noChangeArrowheads="1"/>
          </p:cNvSpPr>
          <p:nvPr/>
        </p:nvSpPr>
        <p:spPr bwMode="auto">
          <a:xfrm>
            <a:off x="611188" y="3068638"/>
            <a:ext cx="8683625"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marL="171450" indent="-171450" defTabSz="762000">
              <a:buFont typeface="Wingdings" pitchFamily="2" charset="2"/>
              <a:buChar char="Ø"/>
            </a:pP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Điều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gì</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yếu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ảnh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hưởng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xuất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phẩm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chủ</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chúng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ta</a:t>
            </a:r>
            <a:r>
              <a:rPr lang="en-US" altLang="ko-KR" sz="1200" dirty="0">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242</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915613821"/>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8"/>
          <p:cNvSpPr txBox="1">
            <a:spLocks/>
          </p:cNvSpPr>
          <p:nvPr/>
        </p:nvSpPr>
        <p:spPr bwMode="auto">
          <a:xfrm>
            <a:off x="195263" y="188913"/>
            <a:ext cx="4757737" cy="431800"/>
          </a:xfrm>
          <a:prstGeom prst="rect">
            <a:avLst/>
          </a:prstGeom>
          <a:noFill/>
          <a:ln>
            <a:miter lim="800000"/>
            <a:headEnd/>
            <a:tailEnd/>
          </a:ln>
        </p:spPr>
        <p:txBody>
          <a:bodyPr wrap="none"/>
          <a:lstStyle/>
          <a:p>
            <a:pPr>
              <a:defRPr/>
            </a:pPr>
            <a:r>
              <a:rPr kumimoji="0" lang="en-US" altLang="ko-KR" sz="2000" b="1" kern="0" dirty="0">
                <a:latin typeface="Arial" pitchFamily="34" charset="0"/>
                <a:ea typeface="맑은 고딕" pitchFamily="50" charset="-127"/>
                <a:cs typeface="Arial" pitchFamily="34" charset="0"/>
              </a:rPr>
              <a:t>7. </a:t>
            </a:r>
            <a:r>
              <a:rPr kumimoji="0" lang="en-US" altLang="ko-KR" sz="2000" b="1" kern="0" dirty="0" err="1">
                <a:latin typeface="Arial" pitchFamily="34" charset="0"/>
                <a:ea typeface="맑은 고딕" pitchFamily="50" charset="-127"/>
                <a:cs typeface="Arial" pitchFamily="34" charset="0"/>
              </a:rPr>
              <a:t>Tổng</a:t>
            </a:r>
            <a:r>
              <a:rPr kumimoji="0" lang="en-US" altLang="ko-KR" sz="2000" b="1" kern="0" dirty="0">
                <a:latin typeface="Arial" pitchFamily="34" charset="0"/>
                <a:ea typeface="맑은 고딕" pitchFamily="50" charset="-127"/>
                <a:cs typeface="Arial" pitchFamily="34" charset="0"/>
              </a:rPr>
              <a:t> </a:t>
            </a:r>
            <a:r>
              <a:rPr kumimoji="0" lang="en-US" altLang="ko-KR" sz="2000" b="1" kern="0" dirty="0" err="1">
                <a:latin typeface="Arial" pitchFamily="34" charset="0"/>
                <a:ea typeface="맑은 고딕" pitchFamily="50" charset="-127"/>
                <a:cs typeface="Arial" pitchFamily="34" charset="0"/>
              </a:rPr>
              <a:t>kết</a:t>
            </a:r>
            <a:endParaRPr kumimoji="0" lang="ko-KR" altLang="en-US" sz="2000" b="1" kern="0" dirty="0">
              <a:latin typeface="Arial" pitchFamily="34" charset="0"/>
              <a:ea typeface="맑은 고딕" pitchFamily="50" charset="-127"/>
              <a:cs typeface="Arial" pitchFamily="34" charset="0"/>
            </a:endParaRPr>
          </a:p>
        </p:txBody>
      </p:sp>
      <p:sp>
        <p:nvSpPr>
          <p:cNvPr id="63" name="TextBox 62"/>
          <p:cNvSpPr txBox="1"/>
          <p:nvPr/>
        </p:nvSpPr>
        <p:spPr>
          <a:xfrm>
            <a:off x="200025" y="908050"/>
            <a:ext cx="9505950" cy="649288"/>
          </a:xfrm>
          <a:prstGeom prst="rect">
            <a:avLst/>
          </a:prstGeom>
          <a:noFill/>
        </p:spPr>
        <p:txBody>
          <a:bodyPr/>
          <a:lstStyle/>
          <a:p>
            <a:pPr marL="269875" indent="-269875" fontAlgn="auto">
              <a:spcBef>
                <a:spcPts val="600"/>
              </a:spcBef>
              <a:spcAft>
                <a:spcPts val="0"/>
              </a:spcAft>
              <a:defRPr/>
            </a:pPr>
            <a:r>
              <a:rPr kumimoji="0" lang="en-US" altLang="ko-KR" sz="1400" b="1" dirty="0">
                <a:latin typeface="Arial" pitchFamily="34" charset="0"/>
                <a:ea typeface="+mn-ea"/>
                <a:cs typeface="Arial" pitchFamily="34" charset="0"/>
              </a:rPr>
              <a:t>	- </a:t>
            </a:r>
            <a:r>
              <a:rPr kumimoji="0" lang="en-US" altLang="ko-KR" sz="1400" b="1" dirty="0" err="1">
                <a:latin typeface="Arial" pitchFamily="34" charset="0"/>
                <a:ea typeface="+mn-ea"/>
                <a:cs typeface="Arial" pitchFamily="34" charset="0"/>
              </a:rPr>
              <a:t>Tóm</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tắt</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về</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năng</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lực</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quá</a:t>
            </a:r>
            <a:r>
              <a:rPr kumimoji="0" lang="en-US" altLang="ko-KR" sz="1400" b="1" dirty="0">
                <a:latin typeface="Arial" pitchFamily="34" charset="0"/>
                <a:ea typeface="+mn-ea"/>
                <a:cs typeface="Arial" pitchFamily="34" charset="0"/>
              </a:rPr>
              <a:t> </a:t>
            </a:r>
            <a:r>
              <a:rPr kumimoji="0" lang="en-US" altLang="ko-KR" sz="1400" b="1" dirty="0" err="1">
                <a:latin typeface="Arial" pitchFamily="34" charset="0"/>
                <a:ea typeface="+mn-ea"/>
                <a:cs typeface="Arial" pitchFamily="34" charset="0"/>
              </a:rPr>
              <a:t>trình</a:t>
            </a:r>
            <a:endParaRPr kumimoji="0" lang="en-US" altLang="ko-KR" sz="1400" b="1" dirty="0">
              <a:latin typeface="Arial" pitchFamily="34" charset="0"/>
              <a:ea typeface="+mn-ea"/>
              <a:cs typeface="Arial" pitchFamily="34" charset="0"/>
            </a:endParaRPr>
          </a:p>
        </p:txBody>
      </p:sp>
      <p:sp>
        <p:nvSpPr>
          <p:cNvPr id="4" name="Rectangle 1027"/>
          <p:cNvSpPr>
            <a:spLocks noChangeArrowheads="1"/>
          </p:cNvSpPr>
          <p:nvPr/>
        </p:nvSpPr>
        <p:spPr bwMode="auto">
          <a:xfrm>
            <a:off x="611188" y="1573213"/>
            <a:ext cx="8683625" cy="4340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defTabSz="762000">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Những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khía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cạnh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về</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không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chỉ</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ánh</a:t>
            </a:r>
            <a:r>
              <a:rPr lang="en-US" altLang="ko-KR" sz="1200" dirty="0">
                <a:latin typeface="Arial" pitchFamily="34" charset="0"/>
                <a:ea typeface="맑은 고딕" pitchFamily="50" charset="-127"/>
                <a:cs typeface="Arial" pitchFamily="34" charset="0"/>
              </a:rPr>
              <a:t> qua </a:t>
            </a:r>
            <a:r>
              <a:rPr lang="en-US" altLang="ko-KR" sz="1200" dirty="0" err="1">
                <a:latin typeface="Arial" pitchFamily="34" charset="0"/>
                <a:ea typeface="맑은 고딕" pitchFamily="50" charset="-127"/>
                <a:cs typeface="Arial" pitchFamily="34" charset="0"/>
              </a:rPr>
              <a:t>thiết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kế</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mà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còn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rất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nhiều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yếu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gây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ra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sai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lệch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xuất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hiện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trong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xuất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sẽ</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ảnh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hưởng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phẩm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đó</a:t>
            </a:r>
            <a:r>
              <a:rPr lang="en-US" altLang="ko-KR" sz="1200" dirty="0">
                <a:latin typeface="Arial" pitchFamily="34" charset="0"/>
                <a:ea typeface="맑은 고딕" pitchFamily="50" charset="-127"/>
                <a:cs typeface="Arial" pitchFamily="34" charset="0"/>
              </a:rPr>
              <a:t>.</a:t>
            </a:r>
          </a:p>
          <a:p>
            <a:pPr defTabSz="762000">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Nếu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phương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sai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ở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sản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phẩm</a:t>
            </a:r>
            <a:r>
              <a:rPr lang="en-US" altLang="ko-KR" sz="1200" dirty="0">
                <a:latin typeface="Arial" pitchFamily="34" charset="0"/>
                <a:ea typeface="맑은 고딕" pitchFamily="50" charset="-127"/>
                <a:cs typeface="Arial" pitchFamily="34" charset="0"/>
              </a:rPr>
              <a:t>/</a:t>
            </a:r>
            <a:r>
              <a:rPr lang="en-US" altLang="ko-KR" sz="1200" dirty="0" err="1">
                <a:latin typeface="Arial" pitchFamily="34" charset="0"/>
                <a:ea typeface="맑은 고딕" pitchFamily="50" charset="-127"/>
                <a:cs typeface="Arial" pitchFamily="34" charset="0"/>
              </a:rPr>
              <a:t>dịch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vụ</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bị</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gây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ra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bởi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yếu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nhỏ</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điều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nghĩa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dây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chuyền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tốt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lại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nếu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phương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sai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chất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lượng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lớn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điều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nghĩa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với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của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dây</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chuyền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kém</a:t>
            </a:r>
            <a:r>
              <a:rPr lang="en-US" altLang="ko-KR" sz="1200" dirty="0">
                <a:latin typeface="Arial" pitchFamily="34" charset="0"/>
                <a:ea typeface="맑은 고딕" pitchFamily="50" charset="-127"/>
                <a:cs typeface="Arial" pitchFamily="34" charset="0"/>
              </a:rPr>
              <a:t>.</a:t>
            </a:r>
          </a:p>
          <a:p>
            <a:pPr marL="85725" indent="-85725" defTabSz="762000">
              <a:buFontTx/>
              <a:buChar char="•"/>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sử</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dụng</a:t>
            </a:r>
            <a:r>
              <a:rPr lang="en-US" altLang="ko-KR" sz="1200" dirty="0">
                <a:latin typeface="Arial" pitchFamily="34" charset="0"/>
                <a:ea typeface="맑은 고딕" pitchFamily="50" charset="-127"/>
                <a:cs typeface="Arial" pitchFamily="34" charset="0"/>
              </a:rPr>
              <a:t> ±3σ (6σ)</a:t>
            </a:r>
          </a:p>
          <a:p>
            <a:pPr marL="85725" indent="-85725" defTabSz="762000">
              <a:buFontTx/>
              <a:buChar char="•"/>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tích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phải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tuân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theo</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phối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chuẩn</a:t>
            </a:r>
            <a:r>
              <a:rPr lang="en-US" altLang="ko-KR" sz="1200" dirty="0">
                <a:latin typeface="Arial" pitchFamily="34" charset="0"/>
                <a:ea typeface="맑은 고딕" pitchFamily="50" charset="-127"/>
                <a:cs typeface="Arial" pitchFamily="34" charset="0"/>
              </a:rPr>
              <a:t>.</a:t>
            </a:r>
          </a:p>
          <a:p>
            <a:pPr marL="85725" indent="-85725" defTabSz="762000">
              <a:buFontTx/>
              <a:buChar char="•"/>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ổn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định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không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chịu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động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bởi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yếu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bên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ngoài</a:t>
            </a:r>
            <a:r>
              <a:rPr lang="en-US" altLang="ko-KR" sz="1200" dirty="0">
                <a:latin typeface="Arial" pitchFamily="34" charset="0"/>
                <a:ea typeface="맑은 고딕" pitchFamily="50" charset="-127"/>
                <a:cs typeface="Arial" pitchFamily="34" charset="0"/>
              </a:rPr>
              <a:t>.</a:t>
            </a:r>
          </a:p>
          <a:p>
            <a:pPr marL="85725" indent="-85725" defTabSz="762000">
              <a:buFontTx/>
              <a:buChar char="•"/>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Một</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chỉ</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số</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diễn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là</a:t>
            </a:r>
            <a:r>
              <a:rPr lang="en-US" altLang="ko-KR" sz="1200" dirty="0">
                <a:latin typeface="Arial" pitchFamily="34" charset="0"/>
                <a:ea typeface="맑은 고딕" pitchFamily="50" charset="-127"/>
                <a:cs typeface="Arial" pitchFamily="34" charset="0"/>
              </a:rPr>
              <a:t>:</a:t>
            </a:r>
            <a:r>
              <a:rPr lang="ko-KR" altLang="en-US" sz="1200" dirty="0">
                <a:latin typeface="Arial" pitchFamily="34" charset="0"/>
                <a:ea typeface="맑은 고딕" pitchFamily="50" charset="-127"/>
                <a:cs typeface="Arial" pitchFamily="34" charset="0"/>
              </a:rPr>
              <a:t> </a:t>
            </a:r>
            <a:r>
              <a:rPr lang="en-US" altLang="ko-KR" sz="1200" dirty="0">
                <a:latin typeface="Arial" pitchFamily="34" charset="0"/>
                <a:ea typeface="맑은 고딕" pitchFamily="50" charset="-127"/>
                <a:cs typeface="Arial" pitchFamily="34" charset="0"/>
              </a:rPr>
              <a:t>Cp, Cpk, Pp, Ppk, Zst, Zlt, </a:t>
            </a:r>
            <a:r>
              <a:rPr lang="en-US" altLang="ko-KR" sz="1200" dirty="0" err="1">
                <a:latin typeface="Arial" pitchFamily="34" charset="0"/>
                <a:ea typeface="맑은 고딕" pitchFamily="50" charset="-127"/>
                <a:cs typeface="Arial" pitchFamily="34" charset="0"/>
              </a:rPr>
              <a:t>Zshift</a:t>
            </a:r>
            <a:r>
              <a:rPr lang="en-US" altLang="ko-KR" sz="1200" dirty="0">
                <a:latin typeface="Arial" pitchFamily="34" charset="0"/>
                <a:ea typeface="맑은 고딕" pitchFamily="50" charset="-127"/>
                <a:cs typeface="Arial" pitchFamily="34" charset="0"/>
              </a:rPr>
              <a:t>.</a:t>
            </a:r>
          </a:p>
          <a:p>
            <a:pPr marL="85725" indent="-85725" defTabSz="762000">
              <a:buFontTx/>
              <a:buChar char="•"/>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tính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toán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trong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nhóm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hoặc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gữa</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nhóm</a:t>
            </a:r>
            <a:r>
              <a:rPr lang="en-US" altLang="ko-KR" sz="1200" dirty="0">
                <a:latin typeface="Arial" pitchFamily="34" charset="0"/>
                <a:ea typeface="맑은 고딕" pitchFamily="50" charset="-127"/>
                <a:cs typeface="Arial" pitchFamily="34" charset="0"/>
              </a:rPr>
              <a:t>”.</a:t>
            </a:r>
          </a:p>
          <a:p>
            <a:pPr marL="85725" indent="-85725" defTabSz="762000">
              <a:buFontTx/>
              <a:buChar char="•"/>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trong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ngắn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dài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có</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thể</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định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nếu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dữ</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liệu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thập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bằng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cách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sử</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dụng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phương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pháp</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phân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nhóm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chất</a:t>
            </a:r>
            <a:r>
              <a:rPr lang="en-US" altLang="ko-KR" sz="1200" dirty="0">
                <a:latin typeface="Arial" pitchFamily="34" charset="0"/>
                <a:ea typeface="맑은 고딕" pitchFamily="50" charset="-127"/>
                <a:cs typeface="Arial" pitchFamily="34" charset="0"/>
              </a:rPr>
              <a:t>.</a:t>
            </a:r>
          </a:p>
          <a:p>
            <a:pPr marL="85725" indent="-85725" defTabSz="762000">
              <a:buFontTx/>
              <a:buChar char="•"/>
              <a:defRPr/>
            </a:pPr>
            <a:endParaRPr lang="en-US" altLang="ko-KR" sz="1200" dirty="0">
              <a:latin typeface="Arial" pitchFamily="34" charset="0"/>
              <a:ea typeface="맑은 고딕" pitchFamily="50" charset="-127"/>
              <a:cs typeface="Arial" pitchFamily="34" charset="0"/>
            </a:endParaRPr>
          </a:p>
          <a:p>
            <a:pPr marL="85725" indent="-85725" defTabSz="762000">
              <a:buFontTx/>
              <a:buChar char="•"/>
              <a:defRPr/>
            </a:pPr>
            <a:r>
              <a:rPr lang="en-US" altLang="ko-KR" sz="1200" dirty="0" err="1">
                <a:latin typeface="Arial" pitchFamily="34" charset="0"/>
                <a:ea typeface="맑은 고딕" pitchFamily="50" charset="-127"/>
                <a:cs typeface="Arial" pitchFamily="34" charset="0"/>
              </a:rPr>
              <a:t>Khi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năng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lực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quá</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trình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ngắn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và</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dài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hạn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đã</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định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biểu</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đồ</a:t>
            </a:r>
            <a:r>
              <a:rPr lang="en-US" altLang="ko-KR" sz="1200" dirty="0">
                <a:latin typeface="Arial" pitchFamily="34" charset="0"/>
                <a:ea typeface="맑은 고딕" pitchFamily="50" charset="-127"/>
                <a:cs typeface="Arial" pitchFamily="34" charset="0"/>
              </a:rPr>
              <a:t> 4 </a:t>
            </a:r>
            <a:r>
              <a:rPr lang="en-US" altLang="ko-KR" sz="1200" dirty="0" err="1">
                <a:latin typeface="Arial" pitchFamily="34" charset="0"/>
                <a:ea typeface="맑은 고딕" pitchFamily="50" charset="-127"/>
                <a:cs typeface="Arial" pitchFamily="34" charset="0"/>
              </a:rPr>
              <a:t>khối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sẽ</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được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sử</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dụng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nhằm</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xác</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định</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phương</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án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cải</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tiến</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khả</a:t>
            </a:r>
            <a:r>
              <a:rPr lang="en-US" altLang="ko-KR" sz="1200" dirty="0">
                <a:latin typeface="Arial" pitchFamily="34" charset="0"/>
                <a:ea typeface="맑은 고딕" pitchFamily="50" charset="-127"/>
                <a:cs typeface="Arial" pitchFamily="34" charset="0"/>
              </a:rPr>
              <a:t> </a:t>
            </a:r>
            <a:r>
              <a:rPr lang="en-US" altLang="ko-KR" sz="1200" dirty="0" err="1">
                <a:latin typeface="Arial" pitchFamily="34" charset="0"/>
                <a:ea typeface="맑은 고딕" pitchFamily="50" charset="-127"/>
                <a:cs typeface="Arial" pitchFamily="34" charset="0"/>
              </a:rPr>
              <a:t>thi</a:t>
            </a:r>
            <a:r>
              <a:rPr lang="en-US" altLang="ko-KR" sz="1200" dirty="0">
                <a:latin typeface="Arial" pitchFamily="34" charset="0"/>
                <a:ea typeface="맑은 고딕" pitchFamily="50" charset="-127"/>
                <a:cs typeface="Arial" pitchFamily="34" charset="0"/>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243</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2590003578"/>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p:cNvSpPr/>
          <p:nvPr/>
        </p:nvSpPr>
        <p:spPr>
          <a:xfrm>
            <a:off x="0" y="549275"/>
            <a:ext cx="9906000" cy="2873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kumimoji="0" lang="ko-KR" altLang="en-US" dirty="0">
              <a:latin typeface="arial" pitchFamily="34" charset="0"/>
            </a:endParaRPr>
          </a:p>
        </p:txBody>
      </p:sp>
      <p:sp>
        <p:nvSpPr>
          <p:cNvPr id="3075" name="제목 5"/>
          <p:cNvSpPr>
            <a:spLocks noGrp="1"/>
          </p:cNvSpPr>
          <p:nvPr>
            <p:ph type="title" idx="4294967295"/>
          </p:nvPr>
        </p:nvSpPr>
        <p:spPr bwMode="auto">
          <a:xfrm>
            <a:off x="2633775" y="1714450"/>
            <a:ext cx="4638451" cy="706438"/>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ash"/>
                <a:miter lim="800000"/>
                <a:headEnd/>
                <a:tailEnd/>
              </a14:hiddenLine>
            </a:ext>
          </a:extLst>
        </p:spPr>
        <p:txBody>
          <a:bodyPr anchor="ctr">
            <a:normAutofit fontScale="90000"/>
          </a:bodyPr>
          <a:lstStyle/>
          <a:p>
            <a:pPr eaLnBrk="1" hangingPunct="1">
              <a:defRPr/>
            </a:pPr>
            <a:r>
              <a:rPr lang="en-US" altLang="ko-KR" sz="3600" b="1" dirty="0">
                <a:solidFill>
                  <a:srgbClr val="C5003D"/>
                </a:solidFill>
                <a:ea typeface="+mn-ea"/>
              </a:rPr>
              <a:t>M7. </a:t>
            </a:r>
            <a:r>
              <a:rPr lang="en-US" altLang="ko-KR" sz="3600" b="1" dirty="0" err="1">
                <a:solidFill>
                  <a:srgbClr val="C5003D"/>
                </a:solidFill>
                <a:ea typeface="+mn-ea"/>
              </a:rPr>
              <a:t>Biểu</a:t>
            </a:r>
            <a:r>
              <a:rPr lang="en-US" altLang="ko-KR" sz="3600" b="1" dirty="0">
                <a:solidFill>
                  <a:srgbClr val="C5003D"/>
                </a:solidFill>
                <a:ea typeface="+mn-ea"/>
              </a:rPr>
              <a:t> </a:t>
            </a:r>
            <a:r>
              <a:rPr lang="en-US" altLang="ko-KR" sz="3600" b="1" dirty="0" err="1">
                <a:solidFill>
                  <a:srgbClr val="C5003D"/>
                </a:solidFill>
                <a:ea typeface="+mn-ea"/>
              </a:rPr>
              <a:t>đồ</a:t>
            </a:r>
            <a:r>
              <a:rPr lang="en-US" altLang="ko-KR" sz="3600" b="1" dirty="0">
                <a:solidFill>
                  <a:srgbClr val="C5003D"/>
                </a:solidFill>
                <a:ea typeface="+mn-ea"/>
              </a:rPr>
              <a:t> </a:t>
            </a:r>
            <a:r>
              <a:rPr lang="en-US" altLang="ko-KR" sz="3600" b="1" dirty="0" err="1">
                <a:solidFill>
                  <a:srgbClr val="C5003D"/>
                </a:solidFill>
                <a:ea typeface="+mn-ea"/>
              </a:rPr>
              <a:t>kiểm</a:t>
            </a:r>
            <a:r>
              <a:rPr lang="en-US" altLang="ko-KR" sz="3600" b="1" dirty="0">
                <a:solidFill>
                  <a:srgbClr val="C5003D"/>
                </a:solidFill>
                <a:ea typeface="+mn-ea"/>
              </a:rPr>
              <a:t> </a:t>
            </a:r>
            <a:r>
              <a:rPr lang="en-US" altLang="ko-KR" sz="3600" b="1" dirty="0" err="1">
                <a:solidFill>
                  <a:srgbClr val="C5003D"/>
                </a:solidFill>
                <a:ea typeface="+mn-ea"/>
              </a:rPr>
              <a:t>soát</a:t>
            </a:r>
            <a:endParaRPr lang="ko-KR" altLang="en-US" sz="3600" b="1" dirty="0">
              <a:solidFill>
                <a:srgbClr val="C5003D"/>
              </a:solidFill>
              <a:ea typeface="+mn-ea"/>
            </a:endParaRPr>
          </a:p>
        </p:txBody>
      </p:sp>
      <p:sp>
        <p:nvSpPr>
          <p:cNvPr id="7" name="직사각형 6"/>
          <p:cNvSpPr/>
          <p:nvPr/>
        </p:nvSpPr>
        <p:spPr>
          <a:xfrm>
            <a:off x="2566988" y="3265363"/>
            <a:ext cx="4945062" cy="2487861"/>
          </a:xfrm>
          <a:prstGeom prst="rect">
            <a:avLst/>
          </a:prstGeom>
        </p:spPr>
        <p:txBody>
          <a:bodyPr>
            <a:spAutoFit/>
          </a:bodyPr>
          <a:lstStyle/>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1. </a:t>
            </a:r>
            <a:r>
              <a:rPr kumimoji="0" lang="en-US" altLang="ko-KR" b="1" dirty="0" err="1">
                <a:solidFill>
                  <a:schemeClr val="tx1">
                    <a:lumMod val="75000"/>
                    <a:lumOff val="25000"/>
                  </a:schemeClr>
                </a:solidFill>
                <a:latin typeface="arial" pitchFamily="34" charset="0"/>
                <a:ea typeface="+mn-ea"/>
              </a:rPr>
              <a:t>Giới</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thiệu</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2. </a:t>
            </a:r>
            <a:r>
              <a:rPr kumimoji="0" lang="en-US" altLang="ko-KR" b="1" dirty="0" err="1">
                <a:solidFill>
                  <a:schemeClr val="tx1">
                    <a:lumMod val="75000"/>
                    <a:lumOff val="25000"/>
                  </a:schemeClr>
                </a:solidFill>
                <a:latin typeface="arial" pitchFamily="34" charset="0"/>
                <a:ea typeface="+mn-ea"/>
              </a:rPr>
              <a:t>Định</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nghĩa</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3. </a:t>
            </a:r>
            <a:r>
              <a:rPr kumimoji="0" lang="en-US" altLang="ko-KR" b="1" dirty="0" err="1">
                <a:solidFill>
                  <a:schemeClr val="tx1">
                    <a:lumMod val="75000"/>
                    <a:lumOff val="25000"/>
                  </a:schemeClr>
                </a:solidFill>
                <a:latin typeface="arial" pitchFamily="34" charset="0"/>
                <a:ea typeface="+mn-ea"/>
              </a:rPr>
              <a:t>Ứng</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dụng</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4. </a:t>
            </a:r>
            <a:r>
              <a:rPr kumimoji="0" lang="en-US" altLang="ko-KR" b="1" dirty="0" err="1">
                <a:solidFill>
                  <a:schemeClr val="tx1">
                    <a:lumMod val="75000"/>
                    <a:lumOff val="25000"/>
                  </a:schemeClr>
                </a:solidFill>
                <a:latin typeface="arial" pitchFamily="34" charset="0"/>
                <a:ea typeface="+mn-ea"/>
              </a:rPr>
              <a:t>Phân</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loại</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5. </a:t>
            </a:r>
            <a:r>
              <a:rPr kumimoji="0" lang="en-US" altLang="ko-KR" b="1" dirty="0" err="1">
                <a:solidFill>
                  <a:schemeClr val="tx1">
                    <a:lumMod val="75000"/>
                    <a:lumOff val="25000"/>
                  </a:schemeClr>
                </a:solidFill>
                <a:latin typeface="arial" pitchFamily="34" charset="0"/>
                <a:ea typeface="+mn-ea"/>
              </a:rPr>
              <a:t>Phương</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pháp</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xây</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dựng</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6. </a:t>
            </a:r>
            <a:r>
              <a:rPr kumimoji="0" lang="en-US" altLang="ko-KR" b="1" dirty="0" err="1">
                <a:solidFill>
                  <a:schemeClr val="tx1">
                    <a:lumMod val="75000"/>
                    <a:lumOff val="25000"/>
                  </a:schemeClr>
                </a:solidFill>
                <a:latin typeface="arial" pitchFamily="34" charset="0"/>
                <a:ea typeface="+mn-ea"/>
              </a:rPr>
              <a:t>Cách</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đọc</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biểu</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đồ</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7. </a:t>
            </a:r>
            <a:r>
              <a:rPr kumimoji="0" lang="en-US" altLang="ko-KR" b="1" dirty="0" err="1">
                <a:solidFill>
                  <a:schemeClr val="tx1">
                    <a:lumMod val="75000"/>
                    <a:lumOff val="25000"/>
                  </a:schemeClr>
                </a:solidFill>
                <a:latin typeface="arial" pitchFamily="34" charset="0"/>
                <a:ea typeface="+mn-ea"/>
              </a:rPr>
              <a:t>Thực</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hành</a:t>
            </a:r>
            <a:endParaRPr kumimoji="0" lang="en-US" altLang="ko-KR" b="1" dirty="0">
              <a:solidFill>
                <a:schemeClr val="tx1">
                  <a:lumMod val="75000"/>
                  <a:lumOff val="25000"/>
                </a:schemeClr>
              </a:solidFill>
              <a:latin typeface="arial" pitchFamily="34" charset="0"/>
              <a:ea typeface="+mn-ea"/>
            </a:endParaRPr>
          </a:p>
          <a:p>
            <a:pPr fontAlgn="auto">
              <a:spcBef>
                <a:spcPts val="200"/>
              </a:spcBef>
              <a:spcAft>
                <a:spcPts val="0"/>
              </a:spcAft>
              <a:defRPr/>
            </a:pPr>
            <a:r>
              <a:rPr kumimoji="0" lang="en-US" altLang="ko-KR" b="1" dirty="0">
                <a:solidFill>
                  <a:schemeClr val="tx1">
                    <a:lumMod val="75000"/>
                    <a:lumOff val="25000"/>
                  </a:schemeClr>
                </a:solidFill>
                <a:latin typeface="arial" pitchFamily="34" charset="0"/>
                <a:ea typeface="+mn-ea"/>
              </a:rPr>
              <a:t>8. </a:t>
            </a:r>
            <a:r>
              <a:rPr kumimoji="0" lang="en-US" altLang="ko-KR" b="1" dirty="0" err="1">
                <a:solidFill>
                  <a:schemeClr val="tx1">
                    <a:lumMod val="75000"/>
                    <a:lumOff val="25000"/>
                  </a:schemeClr>
                </a:solidFill>
                <a:latin typeface="arial" pitchFamily="34" charset="0"/>
                <a:ea typeface="+mn-ea"/>
              </a:rPr>
              <a:t>Tổng</a:t>
            </a:r>
            <a:r>
              <a:rPr kumimoji="0" lang="en-US" altLang="ko-KR" b="1" dirty="0">
                <a:solidFill>
                  <a:schemeClr val="tx1">
                    <a:lumMod val="75000"/>
                    <a:lumOff val="25000"/>
                  </a:schemeClr>
                </a:solidFill>
                <a:latin typeface="arial" pitchFamily="34" charset="0"/>
                <a:ea typeface="+mn-ea"/>
              </a:rPr>
              <a:t> </a:t>
            </a:r>
            <a:r>
              <a:rPr kumimoji="0" lang="en-US" altLang="ko-KR" b="1" dirty="0" err="1">
                <a:solidFill>
                  <a:schemeClr val="tx1">
                    <a:lumMod val="75000"/>
                    <a:lumOff val="25000"/>
                  </a:schemeClr>
                </a:solidFill>
                <a:latin typeface="arial" pitchFamily="34" charset="0"/>
                <a:ea typeface="+mn-ea"/>
              </a:rPr>
              <a:t>kết</a:t>
            </a:r>
            <a:endParaRPr kumimoji="0" lang="en-US" altLang="ko-KR" b="1" dirty="0">
              <a:solidFill>
                <a:schemeClr val="tx1">
                  <a:lumMod val="75000"/>
                  <a:lumOff val="25000"/>
                </a:schemeClr>
              </a:solidFill>
              <a:latin typeface="arial" pitchFamily="34" charset="0"/>
              <a:ea typeface="+mn-ea"/>
            </a:endParaRPr>
          </a:p>
        </p:txBody>
      </p:sp>
      <p:cxnSp>
        <p:nvCxnSpPr>
          <p:cNvPr id="8" name="직선 연결선 7"/>
          <p:cNvCxnSpPr/>
          <p:nvPr/>
        </p:nvCxnSpPr>
        <p:spPr>
          <a:xfrm>
            <a:off x="2300288" y="2924175"/>
            <a:ext cx="5227637"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300288" y="6021388"/>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2300288" y="2997200"/>
            <a:ext cx="522763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7993662"/>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제목 8"/>
          <p:cNvSpPr>
            <a:spLocks noGrp="1"/>
          </p:cNvSpPr>
          <p:nvPr>
            <p:ph type="title" idx="4294967295"/>
          </p:nvPr>
        </p:nvSpPr>
        <p:spPr bwMode="auto">
          <a:xfrm>
            <a:off x="195263" y="188913"/>
            <a:ext cx="8813800" cy="48895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defRPr/>
            </a:pPr>
            <a:r>
              <a:rPr lang="en-US" altLang="ko-KR" sz="2000" b="1" dirty="0">
                <a:ea typeface="+mn-ea"/>
              </a:rPr>
              <a:t>1. </a:t>
            </a:r>
            <a:r>
              <a:rPr lang="en-US" altLang="ko-KR" sz="2000" b="1" dirty="0" err="1">
                <a:ea typeface="+mn-ea"/>
              </a:rPr>
              <a:t>Giới</a:t>
            </a:r>
            <a:r>
              <a:rPr lang="en-US" altLang="ko-KR" sz="2000" b="1" dirty="0">
                <a:ea typeface="+mn-ea"/>
              </a:rPr>
              <a:t> </a:t>
            </a:r>
            <a:r>
              <a:rPr lang="en-US" altLang="ko-KR" sz="2000" b="1" dirty="0" err="1">
                <a:ea typeface="+mn-ea"/>
              </a:rPr>
              <a:t>thiệu</a:t>
            </a:r>
            <a:endParaRPr lang="ko-KR" altLang="en-US" sz="2000" b="1" dirty="0">
              <a:ea typeface="+mn-ea"/>
            </a:endParaRPr>
          </a:p>
        </p:txBody>
      </p:sp>
      <p:sp>
        <p:nvSpPr>
          <p:cNvPr id="5" name="Text Box 6"/>
          <p:cNvSpPr txBox="1">
            <a:spLocks noChangeArrowheads="1"/>
          </p:cNvSpPr>
          <p:nvPr/>
        </p:nvSpPr>
        <p:spPr bwMode="auto">
          <a:xfrm>
            <a:off x="401638" y="806354"/>
            <a:ext cx="3836307" cy="380873"/>
          </a:xfrm>
          <a:prstGeom prst="rect">
            <a:avLst/>
          </a:prstGeom>
          <a:solidFill>
            <a:schemeClr val="bg1">
              <a:lumMod val="85000"/>
            </a:schemeClr>
          </a:solid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a:defRPr/>
            </a:pPr>
            <a:r>
              <a:rPr lang="en-US" altLang="ko-KR" dirty="0" err="1">
                <a:latin typeface="arial" pitchFamily="34" charset="0"/>
              </a:rPr>
              <a:t>Định</a:t>
            </a:r>
            <a:r>
              <a:rPr lang="en-US" altLang="ko-KR" dirty="0">
                <a:latin typeface="arial" pitchFamily="34" charset="0"/>
              </a:rPr>
              <a:t> </a:t>
            </a:r>
            <a:r>
              <a:rPr lang="en-US" altLang="ko-KR" dirty="0" err="1">
                <a:latin typeface="arial" pitchFamily="34" charset="0"/>
              </a:rPr>
              <a:t>nghĩa</a:t>
            </a:r>
            <a:r>
              <a:rPr lang="en-US" altLang="ko-KR" dirty="0">
                <a:latin typeface="arial" pitchFamily="34" charset="0"/>
              </a:rPr>
              <a:t> </a:t>
            </a:r>
            <a:r>
              <a:rPr lang="en-US" altLang="ko-KR" dirty="0" err="1">
                <a:latin typeface="arial" pitchFamily="34" charset="0"/>
              </a:rPr>
              <a:t>về</a:t>
            </a:r>
            <a:r>
              <a:rPr lang="en-US" altLang="ko-KR" dirty="0">
                <a:latin typeface="arial" pitchFamily="34" charset="0"/>
              </a:rPr>
              <a:t> </a:t>
            </a:r>
            <a:r>
              <a:rPr lang="en-US" altLang="ko-KR" dirty="0" err="1">
                <a:latin typeface="arial" pitchFamily="34" charset="0"/>
              </a:rPr>
              <a:t>biểu</a:t>
            </a:r>
            <a:r>
              <a:rPr lang="en-US" altLang="ko-KR" dirty="0">
                <a:latin typeface="arial" pitchFamily="34" charset="0"/>
              </a:rPr>
              <a:t> </a:t>
            </a:r>
            <a:r>
              <a:rPr lang="en-US" altLang="ko-KR" dirty="0" err="1">
                <a:latin typeface="arial" pitchFamily="34" charset="0"/>
              </a:rPr>
              <a:t>đồ</a:t>
            </a:r>
            <a:r>
              <a:rPr lang="en-US" altLang="ko-KR" dirty="0">
                <a:latin typeface="arial" pitchFamily="34" charset="0"/>
              </a:rPr>
              <a:t> </a:t>
            </a:r>
            <a:r>
              <a:rPr lang="en-US" altLang="ko-KR" dirty="0" err="1">
                <a:latin typeface="arial" pitchFamily="34" charset="0"/>
              </a:rPr>
              <a:t>kiểm</a:t>
            </a:r>
            <a:r>
              <a:rPr lang="en-US" altLang="ko-KR" dirty="0">
                <a:latin typeface="arial" pitchFamily="34" charset="0"/>
              </a:rPr>
              <a:t> </a:t>
            </a:r>
            <a:r>
              <a:rPr lang="en-US" altLang="ko-KR" dirty="0" err="1">
                <a:latin typeface="arial" pitchFamily="34" charset="0"/>
              </a:rPr>
              <a:t>soát</a:t>
            </a:r>
            <a:endParaRPr lang="ko-KR" altLang="en-US" dirty="0">
              <a:latin typeface="arial" pitchFamily="34" charset="0"/>
            </a:endParaRPr>
          </a:p>
        </p:txBody>
      </p:sp>
      <p:sp>
        <p:nvSpPr>
          <p:cNvPr id="4101" name="Text Box 7"/>
          <p:cNvSpPr txBox="1">
            <a:spLocks noChangeArrowheads="1"/>
          </p:cNvSpPr>
          <p:nvPr/>
        </p:nvSpPr>
        <p:spPr bwMode="auto">
          <a:xfrm>
            <a:off x="409575" y="1191010"/>
            <a:ext cx="8455516" cy="1902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20000"/>
              </a:lnSpc>
            </a:pPr>
            <a:r>
              <a:rPr kumimoji="0" lang="vi-VN" altLang="ko-KR" sz="1400" dirty="0">
                <a:solidFill>
                  <a:srgbClr val="000000"/>
                </a:solidFill>
                <a:latin typeface="arial" pitchFamily="34" charset="0"/>
                <a:ea typeface="맑은 고딕" pitchFamily="50" charset="-127"/>
              </a:rPr>
              <a:t>Biểu đồ kiểm soát </a:t>
            </a:r>
            <a:r>
              <a:rPr kumimoji="0" lang="en-US" altLang="ko-KR" sz="1400" dirty="0">
                <a:solidFill>
                  <a:srgbClr val="000000"/>
                </a:solidFill>
                <a:latin typeface="arial" pitchFamily="34" charset="0"/>
                <a:ea typeface="맑은 고딕" pitchFamily="50" charset="-127"/>
              </a:rPr>
              <a:t>(Control Chart) </a:t>
            </a:r>
            <a:r>
              <a:rPr kumimoji="0" lang="vi-VN" altLang="ko-KR" sz="1400" dirty="0">
                <a:solidFill>
                  <a:srgbClr val="000000"/>
                </a:solidFill>
                <a:latin typeface="arial" pitchFamily="34" charset="0"/>
                <a:ea typeface="맑은 고딕" pitchFamily="50" charset="-127"/>
              </a:rPr>
              <a:t>là một công cụ dùng để kiểm soát độ biến thiên (hay biến động) của chất lượng sản phẩm đầu ra. Chúng cho ta biết biến động của quá trình đang diễn ra có ổn định hay không. Một quá trình được xem là ổn định nếu nằm trong mức kiểm soát (in-control process), có thể dự báo được, và độ biến động gây ra do các </a:t>
            </a:r>
            <a:r>
              <a:rPr kumimoji="0" lang="en-US" altLang="ko-KR" sz="1400" dirty="0" err="1">
                <a:solidFill>
                  <a:srgbClr val="000000"/>
                </a:solidFill>
                <a:latin typeface="arial" pitchFamily="34" charset="0"/>
                <a:ea typeface="맑은 고딕" pitchFamily="50" charset="-127"/>
              </a:rPr>
              <a:t>nguyên</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nhân</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ngẫu</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nhiên</a:t>
            </a:r>
            <a:r>
              <a:rPr kumimoji="0" lang="vi-VN" altLang="ko-KR" sz="1400" dirty="0">
                <a:solidFill>
                  <a:srgbClr val="000000"/>
                </a:solidFill>
                <a:latin typeface="arial" pitchFamily="34" charset="0"/>
                <a:ea typeface="맑은 고딕" pitchFamily="50" charset="-127"/>
              </a:rPr>
              <a:t> (</a:t>
            </a:r>
            <a:r>
              <a:rPr kumimoji="0" lang="en-US" altLang="ko-KR" sz="1400" dirty="0">
                <a:solidFill>
                  <a:srgbClr val="000000"/>
                </a:solidFill>
                <a:latin typeface="arial" pitchFamily="34" charset="0"/>
                <a:ea typeface="맑은 고딕" pitchFamily="50" charset="-127"/>
              </a:rPr>
              <a:t>chance</a:t>
            </a:r>
            <a:r>
              <a:rPr kumimoji="0" lang="vi-VN" altLang="ko-KR" sz="1400" dirty="0">
                <a:solidFill>
                  <a:srgbClr val="000000"/>
                </a:solidFill>
                <a:latin typeface="arial" pitchFamily="34" charset="0"/>
                <a:ea typeface="맑은 고딕" pitchFamily="50" charset="-127"/>
              </a:rPr>
              <a:t> causes). Biểu đồ kiểm soát giúp chúng ta xem độ biến động một quá trình là do các </a:t>
            </a:r>
            <a:r>
              <a:rPr kumimoji="0" lang="en-US" altLang="ko-KR" sz="1400" dirty="0" err="1">
                <a:solidFill>
                  <a:srgbClr val="000000"/>
                </a:solidFill>
                <a:latin typeface="arial" pitchFamily="34" charset="0"/>
                <a:ea typeface="맑은 고딕" pitchFamily="50" charset="-127"/>
              </a:rPr>
              <a:t>nguyên</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nhân</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ngẫu</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nhiên</a:t>
            </a:r>
            <a:r>
              <a:rPr kumimoji="0" lang="vi-VN" altLang="ko-KR" sz="1400" dirty="0">
                <a:solidFill>
                  <a:srgbClr val="000000"/>
                </a:solidFill>
                <a:latin typeface="arial" pitchFamily="34" charset="0"/>
                <a:ea typeface="맑은 고딕" pitchFamily="50" charset="-127"/>
              </a:rPr>
              <a:t> (gây quá trình ổn định) hay do các </a:t>
            </a:r>
            <a:r>
              <a:rPr kumimoji="0" lang="en-US" altLang="ko-KR" sz="1400" dirty="0" err="1">
                <a:solidFill>
                  <a:srgbClr val="000000"/>
                </a:solidFill>
                <a:latin typeface="arial" pitchFamily="34" charset="0"/>
                <a:ea typeface="맑은 고딕" pitchFamily="50" charset="-127"/>
              </a:rPr>
              <a:t>nguyên</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nhân</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không</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ngẫu</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nhiên</a:t>
            </a:r>
            <a:r>
              <a:rPr kumimoji="0" lang="vi-VN" altLang="ko-KR" sz="1400" dirty="0">
                <a:solidFill>
                  <a:srgbClr val="000000"/>
                </a:solidFill>
                <a:latin typeface="arial" pitchFamily="34" charset="0"/>
                <a:ea typeface="맑은 고딕" pitchFamily="50" charset="-127"/>
              </a:rPr>
              <a:t> (tạm dịch từ</a:t>
            </a:r>
            <a:r>
              <a:rPr kumimoji="0" lang="en-US" altLang="ko-KR" sz="1400" dirty="0">
                <a:solidFill>
                  <a:srgbClr val="000000"/>
                </a:solidFill>
                <a:latin typeface="arial" pitchFamily="34" charset="0"/>
                <a:ea typeface="맑은 고딕" pitchFamily="50" charset="-127"/>
              </a:rPr>
              <a:t> assignable causes</a:t>
            </a:r>
            <a:r>
              <a:rPr kumimoji="0" lang="vi-VN" altLang="ko-KR" sz="1400" dirty="0">
                <a:solidFill>
                  <a:srgbClr val="000000"/>
                </a:solidFill>
                <a:latin typeface="arial" pitchFamily="34" charset="0"/>
                <a:ea typeface="맑은 고딕" pitchFamily="50" charset="-127"/>
              </a:rPr>
              <a:t>) nào đó (gây quá trình không ổn định).</a:t>
            </a:r>
            <a:endParaRPr kumimoji="0" lang="en-US" altLang="ko-KR" sz="1400" dirty="0">
              <a:solidFill>
                <a:srgbClr val="000000"/>
              </a:solidFill>
              <a:latin typeface="arial" pitchFamily="34" charset="0"/>
              <a:ea typeface="맑은 고딕" pitchFamily="50" charset="-127"/>
            </a:endParaRPr>
          </a:p>
        </p:txBody>
      </p:sp>
      <p:sp>
        <p:nvSpPr>
          <p:cNvPr id="7" name="Text Box 46"/>
          <p:cNvSpPr txBox="1">
            <a:spLocks noChangeArrowheads="1"/>
          </p:cNvSpPr>
          <p:nvPr/>
        </p:nvSpPr>
        <p:spPr bwMode="auto">
          <a:xfrm>
            <a:off x="401638" y="3178299"/>
            <a:ext cx="4402167" cy="380873"/>
          </a:xfrm>
          <a:prstGeom prst="rect">
            <a:avLst/>
          </a:prstGeom>
          <a:solidFill>
            <a:schemeClr val="bg1">
              <a:lumMod val="85000"/>
            </a:schemeClr>
          </a:solid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a:defRPr/>
            </a:pPr>
            <a:r>
              <a:rPr lang="en-US" altLang="ko-KR" dirty="0" err="1">
                <a:latin typeface="arial" pitchFamily="34" charset="0"/>
              </a:rPr>
              <a:t>Việc</a:t>
            </a:r>
            <a:r>
              <a:rPr lang="en-US" altLang="ko-KR" dirty="0">
                <a:latin typeface="arial" pitchFamily="34" charset="0"/>
              </a:rPr>
              <a:t> </a:t>
            </a:r>
            <a:r>
              <a:rPr lang="en-US" altLang="ko-KR" dirty="0" err="1">
                <a:latin typeface="arial" pitchFamily="34" charset="0"/>
              </a:rPr>
              <a:t>ứng</a:t>
            </a:r>
            <a:r>
              <a:rPr lang="en-US" altLang="ko-KR" dirty="0">
                <a:latin typeface="arial" pitchFamily="34" charset="0"/>
              </a:rPr>
              <a:t> </a:t>
            </a:r>
            <a:r>
              <a:rPr lang="en-US" altLang="ko-KR" dirty="0" err="1">
                <a:latin typeface="arial" pitchFamily="34" charset="0"/>
              </a:rPr>
              <a:t>dụng</a:t>
            </a:r>
            <a:r>
              <a:rPr lang="en-US" altLang="ko-KR" dirty="0">
                <a:latin typeface="arial" pitchFamily="34" charset="0"/>
              </a:rPr>
              <a:t> </a:t>
            </a:r>
            <a:r>
              <a:rPr lang="en-US" altLang="ko-KR" dirty="0" err="1">
                <a:latin typeface="arial" pitchFamily="34" charset="0"/>
              </a:rPr>
              <a:t>của</a:t>
            </a:r>
            <a:r>
              <a:rPr lang="en-US" altLang="ko-KR" dirty="0">
                <a:latin typeface="arial" pitchFamily="34" charset="0"/>
              </a:rPr>
              <a:t> </a:t>
            </a:r>
            <a:r>
              <a:rPr lang="en-US" altLang="ko-KR" dirty="0" err="1">
                <a:latin typeface="arial" pitchFamily="34" charset="0"/>
              </a:rPr>
              <a:t>biểu</a:t>
            </a:r>
            <a:r>
              <a:rPr lang="en-US" altLang="ko-KR" dirty="0">
                <a:latin typeface="arial" pitchFamily="34" charset="0"/>
              </a:rPr>
              <a:t> </a:t>
            </a:r>
            <a:r>
              <a:rPr lang="en-US" altLang="ko-KR" dirty="0" err="1">
                <a:latin typeface="arial" pitchFamily="34" charset="0"/>
              </a:rPr>
              <a:t>đồ</a:t>
            </a:r>
            <a:r>
              <a:rPr lang="en-US" altLang="ko-KR" dirty="0">
                <a:latin typeface="arial" pitchFamily="34" charset="0"/>
              </a:rPr>
              <a:t> </a:t>
            </a:r>
            <a:r>
              <a:rPr lang="en-US" altLang="ko-KR" dirty="0" err="1">
                <a:latin typeface="arial" pitchFamily="34" charset="0"/>
              </a:rPr>
              <a:t>kiểm</a:t>
            </a:r>
            <a:r>
              <a:rPr lang="en-US" altLang="ko-KR" dirty="0">
                <a:latin typeface="arial" pitchFamily="34" charset="0"/>
              </a:rPr>
              <a:t> </a:t>
            </a:r>
            <a:r>
              <a:rPr lang="en-US" altLang="ko-KR" dirty="0" err="1">
                <a:latin typeface="arial" pitchFamily="34" charset="0"/>
              </a:rPr>
              <a:t>soát</a:t>
            </a:r>
            <a:endParaRPr lang="ko-KR" altLang="en-US" dirty="0">
              <a:latin typeface="arial" pitchFamily="34" charset="0"/>
            </a:endParaRPr>
          </a:p>
        </p:txBody>
      </p:sp>
      <p:sp>
        <p:nvSpPr>
          <p:cNvPr id="4103" name="Text Box 47"/>
          <p:cNvSpPr txBox="1">
            <a:spLocks noChangeArrowheads="1"/>
          </p:cNvSpPr>
          <p:nvPr/>
        </p:nvSpPr>
        <p:spPr bwMode="auto">
          <a:xfrm>
            <a:off x="409575" y="3645024"/>
            <a:ext cx="7999809" cy="20528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kumimoji="0" lang="en-US" altLang="ko-KR" sz="1400" dirty="0">
                <a:solidFill>
                  <a:srgbClr val="000000"/>
                </a:solidFill>
                <a:latin typeface="arial" pitchFamily="34" charset="0"/>
                <a:ea typeface="맑은 고딕" pitchFamily="50" charset="-127"/>
              </a:rPr>
              <a:t> </a:t>
            </a:r>
            <a:r>
              <a:rPr kumimoji="0" lang="vi-VN" altLang="ko-KR" sz="1400" dirty="0">
                <a:solidFill>
                  <a:srgbClr val="000000"/>
                </a:solidFill>
                <a:latin typeface="arial" pitchFamily="34" charset="0"/>
                <a:ea typeface="맑은 고딕" pitchFamily="50" charset="-127"/>
              </a:rPr>
              <a:t> Biểu đồ kiểm soát được W.A.Sherwhart</a:t>
            </a:r>
            <a:r>
              <a:rPr kumimoji="0" lang="en-US" altLang="ko-KR" sz="1400" dirty="0">
                <a:solidFill>
                  <a:srgbClr val="000000"/>
                </a:solidFill>
                <a:latin typeface="arial" pitchFamily="34" charset="0"/>
                <a:ea typeface="맑은 고딕" pitchFamily="50" charset="-127"/>
              </a:rPr>
              <a:t> –</a:t>
            </a:r>
            <a:r>
              <a:rPr kumimoji="0" lang="vi-VN"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chuyên</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viên</a:t>
            </a:r>
            <a:r>
              <a:rPr kumimoji="0" lang="en-US" altLang="ko-KR" sz="1400" dirty="0">
                <a:solidFill>
                  <a:srgbClr val="000000"/>
                </a:solidFill>
                <a:latin typeface="arial" pitchFamily="34" charset="0"/>
                <a:ea typeface="맑은 고딕" pitchFamily="50" charset="-127"/>
              </a:rPr>
              <a:t> </a:t>
            </a:r>
            <a:r>
              <a:rPr kumimoji="0" lang="en-US" altLang="ko-KR" sz="1400" dirty="0" err="1">
                <a:solidFill>
                  <a:srgbClr val="000000"/>
                </a:solidFill>
                <a:latin typeface="arial" pitchFamily="34" charset="0"/>
                <a:ea typeface="맑은 고딕" pitchFamily="50" charset="-127"/>
              </a:rPr>
              <a:t>của</a:t>
            </a:r>
            <a:r>
              <a:rPr kumimoji="0" lang="vi-VN" altLang="ko-KR" sz="1400" dirty="0">
                <a:solidFill>
                  <a:srgbClr val="000000"/>
                </a:solidFill>
                <a:latin typeface="arial" pitchFamily="34" charset="0"/>
                <a:ea typeface="맑은 고딕" pitchFamily="50" charset="-127"/>
              </a:rPr>
              <a:t> Bell Telephone Laboratories nêu ra lần đầu tiên năm 1924</a:t>
            </a:r>
            <a:endParaRPr lang="ko-KR" altLang="en-US" sz="1400" dirty="0">
              <a:latin typeface="arial" pitchFamily="34" charset="0"/>
              <a:ea typeface="맑은 고딕" pitchFamily="50" charset="-127"/>
            </a:endParaRPr>
          </a:p>
          <a:p>
            <a:pPr eaLnBrk="1" latinLnBrk="0" hangingPunct="1">
              <a:lnSpc>
                <a:spcPct val="150000"/>
              </a:lnSpc>
              <a:buSzPct val="80000"/>
              <a:buFont typeface="Monotype Sorts" pitchFamily="2" charset="2"/>
              <a:buChar char="l"/>
            </a:pPr>
            <a:r>
              <a:rPr lang="ko-KR" altLang="en-US" sz="1400" dirty="0">
                <a:latin typeface="arial" pitchFamily="34" charset="0"/>
                <a:ea typeface="맑은 고딕" pitchFamily="50" charset="-127"/>
              </a:rPr>
              <a:t> </a:t>
            </a:r>
            <a:r>
              <a:rPr lang="en-US" altLang="ko-KR" sz="1400" dirty="0">
                <a:latin typeface="arial" pitchFamily="34" charset="0"/>
                <a:ea typeface="맑은 고딕" pitchFamily="50" charset="-127"/>
              </a:rPr>
              <a:t>UK: </a:t>
            </a:r>
            <a:r>
              <a:rPr lang="en-US" altLang="ko-KR" sz="1400" dirty="0" err="1">
                <a:latin typeface="arial" pitchFamily="34" charset="0"/>
                <a:ea typeface="맑은 고딕" pitchFamily="50" charset="-127"/>
              </a:rPr>
              <a:t>Có</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tên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là</a:t>
            </a:r>
            <a:r>
              <a:rPr lang="en-US" altLang="ko-KR" sz="1400" dirty="0">
                <a:latin typeface="arial" pitchFamily="34" charset="0"/>
                <a:ea typeface="맑은 고딕" pitchFamily="50" charset="-127"/>
              </a:rPr>
              <a:t> BS600</a:t>
            </a:r>
            <a:endParaRPr lang="ko-KR" altLang="en-US" sz="1400" dirty="0">
              <a:latin typeface="arial" pitchFamily="34" charset="0"/>
              <a:ea typeface="맑은 고딕" pitchFamily="50" charset="-127"/>
            </a:endParaRPr>
          </a:p>
          <a:p>
            <a:pPr eaLnBrk="1" latinLnBrk="0" hangingPunct="1">
              <a:lnSpc>
                <a:spcPct val="130000"/>
              </a:lnSpc>
              <a:buSzPct val="80000"/>
            </a:pPr>
            <a:r>
              <a:rPr lang="ko-KR" altLang="en-US" sz="1400" dirty="0">
                <a:latin typeface="arial" pitchFamily="34" charset="0"/>
                <a:ea typeface="맑은 고딕" pitchFamily="50" charset="-127"/>
              </a:rPr>
              <a:t>   </a:t>
            </a:r>
            <a:r>
              <a:rPr lang="en-US" altLang="ko-KR" sz="1400" dirty="0">
                <a:latin typeface="arial" pitchFamily="34" charset="0"/>
                <a:ea typeface="맑은 고딕" pitchFamily="50" charset="-127"/>
              </a:rPr>
              <a:t>– “</a:t>
            </a:r>
            <a:r>
              <a:rPr lang="vi-VN" altLang="ko-KR" sz="1400" dirty="0">
                <a:latin typeface="arial" pitchFamily="34" charset="0"/>
                <a:ea typeface="맑은 고딕" pitchFamily="50" charset="-127"/>
              </a:rPr>
              <a:t>Áp dụng các phương pháp thống kê để </a:t>
            </a:r>
            <a:r>
              <a:rPr lang="en-US" altLang="ko-KR" sz="1400" dirty="0" err="1">
                <a:latin typeface="arial" pitchFamily="34" charset="0"/>
                <a:ea typeface="맑은 고딕" pitchFamily="50" charset="-127"/>
              </a:rPr>
              <a:t>xây</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dựng</a:t>
            </a:r>
            <a:r>
              <a:rPr lang="vi-VN"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được</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tiêu</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chuẩn</a:t>
            </a:r>
            <a:r>
              <a:rPr lang="vi-VN" altLang="ko-KR" sz="1400" dirty="0">
                <a:latin typeface="arial" pitchFamily="34" charset="0"/>
                <a:ea typeface="맑은 고딕" pitchFamily="50" charset="-127"/>
              </a:rPr>
              <a:t> và chất lượng</a:t>
            </a:r>
            <a:r>
              <a:rPr lang="ko-KR" altLang="en-US" sz="1400" dirty="0">
                <a:latin typeface="arial" pitchFamily="34" charset="0"/>
                <a:ea typeface="맑은 고딕" pitchFamily="50" charset="-127"/>
              </a:rPr>
              <a:t>”</a:t>
            </a:r>
          </a:p>
          <a:p>
            <a:pPr eaLnBrk="1" latinLnBrk="0" hangingPunct="1">
              <a:lnSpc>
                <a:spcPct val="150000"/>
              </a:lnSpc>
              <a:buSzPct val="80000"/>
              <a:buFont typeface="Monotype Sorts" pitchFamily="2" charset="2"/>
              <a:buChar char="l"/>
            </a:pPr>
            <a:r>
              <a:rPr lang="ko-KR" altLang="en-US" sz="1400" dirty="0">
                <a:latin typeface="arial" pitchFamily="34" charset="0"/>
                <a:ea typeface="맑은 고딕" pitchFamily="50" charset="-127"/>
              </a:rPr>
              <a:t> </a:t>
            </a:r>
            <a:r>
              <a:rPr lang="en-US" altLang="ko-KR" sz="1400" dirty="0" err="1">
                <a:latin typeface="arial" pitchFamily="34" charset="0"/>
                <a:ea typeface="맑은 고딕" pitchFamily="50" charset="-127"/>
              </a:rPr>
              <a:t>Nhật</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Bản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Có</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tên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khác</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là</a:t>
            </a:r>
            <a:r>
              <a:rPr lang="en-US" altLang="ko-KR" sz="1400" dirty="0">
                <a:latin typeface="arial" pitchFamily="34" charset="0"/>
                <a:ea typeface="맑은 고딕" pitchFamily="50" charset="-127"/>
              </a:rPr>
              <a:t> JIS Z 9201 (Control Chart Law) </a:t>
            </a:r>
            <a:r>
              <a:rPr lang="en-US" altLang="ko-KR" sz="1400" dirty="0" err="1">
                <a:latin typeface="arial" pitchFamily="34" charset="0"/>
                <a:ea typeface="맑은 고딕" pitchFamily="50" charset="-127"/>
              </a:rPr>
              <a:t>năm</a:t>
            </a:r>
            <a:r>
              <a:rPr lang="en-US" altLang="ko-KR" sz="1400" dirty="0">
                <a:latin typeface="arial" pitchFamily="34" charset="0"/>
                <a:ea typeface="맑은 고딕" pitchFamily="50" charset="-127"/>
              </a:rPr>
              <a:t> 1954</a:t>
            </a:r>
            <a:endParaRPr lang="ko-KR" altLang="en-US" sz="1400" dirty="0">
              <a:latin typeface="arial" pitchFamily="34" charset="0"/>
              <a:ea typeface="맑은 고딕" pitchFamily="50" charset="-127"/>
            </a:endParaRPr>
          </a:p>
          <a:p>
            <a:pPr eaLnBrk="1" latinLnBrk="0" hangingPunct="1">
              <a:lnSpc>
                <a:spcPct val="150000"/>
              </a:lnSpc>
              <a:buSzPct val="80000"/>
              <a:buFont typeface="Monotype Sorts" pitchFamily="2" charset="2"/>
              <a:buChar char="l"/>
            </a:pPr>
            <a:r>
              <a:rPr lang="ko-KR" altLang="en-US" sz="1400" dirty="0">
                <a:latin typeface="arial" pitchFamily="34" charset="0"/>
                <a:ea typeface="맑은 고딕" pitchFamily="50" charset="-127"/>
              </a:rPr>
              <a:t> </a:t>
            </a:r>
            <a:r>
              <a:rPr lang="en-US" altLang="ko-KR" sz="1400" dirty="0" err="1">
                <a:latin typeface="arial" pitchFamily="34" charset="0"/>
                <a:ea typeface="맑은 고딕" pitchFamily="50" charset="-127"/>
              </a:rPr>
              <a:t>Hàn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Quốc</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Có</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tên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là</a:t>
            </a:r>
            <a:r>
              <a:rPr lang="en-US" altLang="ko-KR" sz="1400" dirty="0">
                <a:latin typeface="arial" pitchFamily="34" charset="0"/>
                <a:ea typeface="맑은 고딕" pitchFamily="50" charset="-127"/>
              </a:rPr>
              <a:t> KS A 3201 (Control Chart Law) </a:t>
            </a:r>
            <a:r>
              <a:rPr lang="en-US" altLang="ko-KR" sz="1400" dirty="0" err="1">
                <a:latin typeface="arial" pitchFamily="34" charset="0"/>
                <a:ea typeface="맑은 고딕" pitchFamily="50" charset="-127"/>
              </a:rPr>
              <a:t>năm</a:t>
            </a:r>
            <a:r>
              <a:rPr lang="en-US" altLang="ko-KR" sz="1400" dirty="0">
                <a:latin typeface="arial" pitchFamily="34" charset="0"/>
                <a:ea typeface="맑은 고딕" pitchFamily="50" charset="-127"/>
              </a:rPr>
              <a:t> 1963</a:t>
            </a:r>
            <a:endParaRPr lang="ko-KR" altLang="en-US" sz="1400" dirty="0">
              <a:latin typeface="arial" pitchFamily="34" charset="0"/>
              <a:ea typeface="맑은 고딕" pitchFamily="50" charset="-127"/>
            </a:endParaRPr>
          </a:p>
          <a:p>
            <a:pPr eaLnBrk="1" latinLnBrk="0" hangingPunct="1">
              <a:lnSpc>
                <a:spcPct val="130000"/>
              </a:lnSpc>
              <a:buSzPct val="80000"/>
              <a:buFont typeface="Monotype Sorts" pitchFamily="2" charset="2"/>
              <a:buNone/>
            </a:pPr>
            <a:r>
              <a:rPr lang="ko-KR" altLang="en-US" sz="1400" dirty="0">
                <a:latin typeface="arial" pitchFamily="34" charset="0"/>
                <a:ea typeface="맑은 고딕" pitchFamily="50" charset="-127"/>
              </a:rPr>
              <a:t>   </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Cũng</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còn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được</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gọi</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với</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cái</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tên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khác</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là</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Shewhart’s</a:t>
            </a:r>
            <a:r>
              <a:rPr lang="en-US" altLang="ko-KR" sz="1400" dirty="0">
                <a:latin typeface="arial" pitchFamily="34" charset="0"/>
                <a:ea typeface="맑은 고딕" pitchFamily="50" charset="-127"/>
              </a:rPr>
              <a:t> 3σ</a:t>
            </a:r>
            <a:r>
              <a:rPr lang="ko-KR" altLang="en-US" sz="1400" dirty="0">
                <a:latin typeface="arial" pitchFamily="34" charset="0"/>
                <a:ea typeface="맑은 고딕" pitchFamily="50" charset="-127"/>
              </a:rPr>
              <a:t> </a:t>
            </a:r>
            <a:r>
              <a:rPr lang="en-US" altLang="ko-KR" sz="1400" dirty="0">
                <a:latin typeface="arial" pitchFamily="34" charset="0"/>
                <a:ea typeface="맑은 고딕" pitchFamily="50" charset="-127"/>
              </a:rPr>
              <a:t>Control Chart</a:t>
            </a:r>
            <a:endParaRPr lang="ko-KR" altLang="en-US" sz="1400"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245</a:t>
            </a:fld>
            <a:endParaRPr lang="ko-KR" altLang="en-US" dirty="0"/>
          </a:p>
        </p:txBody>
      </p:sp>
    </p:spTree>
    <p:extLst>
      <p:ext uri="{BB962C8B-B14F-4D97-AF65-F5344CB8AC3E}">
        <p14:creationId xmlns:p14="http://schemas.microsoft.com/office/powerpoint/2010/main" val="404431704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1. </a:t>
            </a:r>
            <a:r>
              <a:rPr lang="en-US" altLang="ko-KR" sz="2000" b="1" dirty="0" err="1"/>
              <a:t>Giới</a:t>
            </a:r>
            <a:r>
              <a:rPr lang="en-US" altLang="ko-KR" sz="2000" b="1" dirty="0"/>
              <a:t> </a:t>
            </a:r>
            <a:r>
              <a:rPr lang="en-US" altLang="ko-KR" sz="2000" b="1" dirty="0" err="1"/>
              <a:t>thiệu</a:t>
            </a:r>
            <a:endParaRPr lang="ko-KR" altLang="en-US" sz="2000" b="1" dirty="0"/>
          </a:p>
        </p:txBody>
      </p:sp>
      <p:grpSp>
        <p:nvGrpSpPr>
          <p:cNvPr id="3" name="그룹 25"/>
          <p:cNvGrpSpPr>
            <a:grpSpLocks/>
          </p:cNvGrpSpPr>
          <p:nvPr/>
        </p:nvGrpSpPr>
        <p:grpSpPr bwMode="auto">
          <a:xfrm>
            <a:off x="103188" y="1769171"/>
            <a:ext cx="6433988" cy="4036318"/>
            <a:chOff x="1036856" y="2078039"/>
            <a:chExt cx="7836835" cy="4446586"/>
          </a:xfrm>
        </p:grpSpPr>
        <p:sp>
          <p:nvSpPr>
            <p:cNvPr id="8" name="Rectangle 18"/>
            <p:cNvSpPr>
              <a:spLocks noChangeArrowheads="1"/>
            </p:cNvSpPr>
            <p:nvPr/>
          </p:nvSpPr>
          <p:spPr bwMode="auto">
            <a:xfrm>
              <a:off x="1036856" y="2101757"/>
              <a:ext cx="658389" cy="508591"/>
            </a:xfrm>
            <a:prstGeom prst="rect">
              <a:avLst/>
            </a:prstGeom>
            <a:noFill/>
            <a:ln>
              <a:noFill/>
            </a:ln>
            <a:effectLst>
              <a:prstShdw prst="shdw17" dist="17961" dir="2700000">
                <a:schemeClr val="accent1">
                  <a:gamma/>
                  <a:shade val="60000"/>
                  <a:invGamma/>
                </a:schemeClr>
              </a:prstShdw>
            </a:effectLst>
          </p:spPr>
          <p:txBody>
            <a:bodyPr wrap="none">
              <a:spAutoFit/>
            </a:bodyPr>
            <a:lstStyle/>
            <a:p>
              <a:pPr>
                <a:defRPr/>
              </a:pPr>
              <a:r>
                <a:rPr lang="en-US" altLang="ko-KR" sz="1200" b="1" dirty="0" err="1">
                  <a:solidFill>
                    <a:srgbClr val="000000"/>
                  </a:solidFill>
                  <a:latin typeface="arial" pitchFamily="34" charset="0"/>
                  <a:ea typeface="맑은 고딕" panose="020B0503020000020004" pitchFamily="50" charset="-127"/>
                </a:rPr>
                <a:t>Tỷ</a:t>
              </a:r>
              <a:r>
                <a:rPr lang="en-US" altLang="ko-KR" sz="1200" b="1" dirty="0">
                  <a:solidFill>
                    <a:srgbClr val="000000"/>
                  </a:solidFill>
                  <a:latin typeface="arial" pitchFamily="34" charset="0"/>
                  <a:ea typeface="맑은 고딕" panose="020B0503020000020004" pitchFamily="50" charset="-127"/>
                </a:rPr>
                <a:t> </a:t>
              </a:r>
              <a:r>
                <a:rPr lang="en-US" altLang="ko-KR" sz="1200" b="1" dirty="0" err="1">
                  <a:solidFill>
                    <a:srgbClr val="000000"/>
                  </a:solidFill>
                  <a:latin typeface="arial" pitchFamily="34" charset="0"/>
                  <a:ea typeface="맑은 고딕" panose="020B0503020000020004" pitchFamily="50" charset="-127"/>
                </a:rPr>
                <a:t>lệ</a:t>
              </a:r>
              <a:br>
                <a:rPr lang="en-US" altLang="ko-KR" sz="1200" b="1" dirty="0">
                  <a:solidFill>
                    <a:srgbClr val="000000"/>
                  </a:solidFill>
                  <a:latin typeface="arial" pitchFamily="34" charset="0"/>
                  <a:ea typeface="맑은 고딕" panose="020B0503020000020004" pitchFamily="50" charset="-127"/>
                </a:rPr>
              </a:br>
              <a:r>
                <a:rPr lang="en-US" altLang="ko-KR" sz="1200" b="1" dirty="0" err="1">
                  <a:solidFill>
                    <a:srgbClr val="000000"/>
                  </a:solidFill>
                  <a:latin typeface="arial" pitchFamily="34" charset="0"/>
                  <a:ea typeface="맑은 고딕" panose="020B0503020000020004" pitchFamily="50" charset="-127"/>
                </a:rPr>
                <a:t>lỗi</a:t>
              </a:r>
              <a:endParaRPr lang="ko-KR" altLang="en-US" sz="1200" b="1" dirty="0">
                <a:solidFill>
                  <a:srgbClr val="000000"/>
                </a:solidFill>
                <a:latin typeface="arial" pitchFamily="34" charset="0"/>
                <a:ea typeface="맑은 고딕" panose="020B0503020000020004" pitchFamily="50" charset="-127"/>
              </a:endParaRPr>
            </a:p>
          </p:txBody>
        </p:sp>
        <p:sp>
          <p:nvSpPr>
            <p:cNvPr id="5128" name="Freeform 2"/>
            <p:cNvSpPr>
              <a:spLocks/>
            </p:cNvSpPr>
            <p:nvPr/>
          </p:nvSpPr>
          <p:spPr bwMode="auto">
            <a:xfrm>
              <a:off x="1824038" y="2143125"/>
              <a:ext cx="6526212" cy="4013200"/>
            </a:xfrm>
            <a:custGeom>
              <a:avLst/>
              <a:gdLst>
                <a:gd name="T0" fmla="*/ 0 w 3175"/>
                <a:gd name="T1" fmla="*/ 0 h 2177"/>
                <a:gd name="T2" fmla="*/ 0 w 3175"/>
                <a:gd name="T3" fmla="*/ 2147483647 h 2177"/>
                <a:gd name="T4" fmla="*/ 2147483647 w 3175"/>
                <a:gd name="T5" fmla="*/ 2147483647 h 2177"/>
                <a:gd name="T6" fmla="*/ 0 60000 65536"/>
                <a:gd name="T7" fmla="*/ 0 60000 65536"/>
                <a:gd name="T8" fmla="*/ 0 60000 65536"/>
                <a:gd name="T9" fmla="*/ 0 w 3175"/>
                <a:gd name="T10" fmla="*/ 0 h 2177"/>
                <a:gd name="T11" fmla="*/ 3175 w 3175"/>
                <a:gd name="T12" fmla="*/ 2177 h 2177"/>
              </a:gdLst>
              <a:ahLst/>
              <a:cxnLst>
                <a:cxn ang="T6">
                  <a:pos x="T0" y="T1"/>
                </a:cxn>
                <a:cxn ang="T7">
                  <a:pos x="T2" y="T3"/>
                </a:cxn>
                <a:cxn ang="T8">
                  <a:pos x="T4" y="T5"/>
                </a:cxn>
              </a:cxnLst>
              <a:rect l="T9" t="T10" r="T11" b="T12"/>
              <a:pathLst>
                <a:path w="3175" h="2177">
                  <a:moveTo>
                    <a:pt x="0" y="0"/>
                  </a:moveTo>
                  <a:lnTo>
                    <a:pt x="0" y="2177"/>
                  </a:lnTo>
                  <a:lnTo>
                    <a:pt x="3175" y="2177"/>
                  </a:lnTo>
                </a:path>
              </a:pathLst>
            </a:custGeom>
            <a:noFill/>
            <a:ln w="9525">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5129" name="Line 3"/>
            <p:cNvSpPr>
              <a:spLocks noChangeShapeType="1"/>
            </p:cNvSpPr>
            <p:nvPr/>
          </p:nvSpPr>
          <p:spPr bwMode="auto">
            <a:xfrm>
              <a:off x="1901825" y="3133725"/>
              <a:ext cx="4379913" cy="885825"/>
            </a:xfrm>
            <a:prstGeom prst="line">
              <a:avLst/>
            </a:prstGeom>
            <a:noFill/>
            <a:ln w="28575">
              <a:solidFill>
                <a:srgbClr val="FF3300"/>
              </a:solidFill>
              <a:prstDash val="dash"/>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5130" name="Line 4"/>
            <p:cNvSpPr>
              <a:spLocks noChangeShapeType="1"/>
            </p:cNvSpPr>
            <p:nvPr/>
          </p:nvSpPr>
          <p:spPr bwMode="auto">
            <a:xfrm>
              <a:off x="6281738" y="5365750"/>
              <a:ext cx="1703387" cy="317500"/>
            </a:xfrm>
            <a:prstGeom prst="line">
              <a:avLst/>
            </a:prstGeom>
            <a:noFill/>
            <a:ln w="28575">
              <a:solidFill>
                <a:srgbClr val="FF3300"/>
              </a:solidFill>
              <a:prstDash val="dash"/>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5131" name="Freeform 5"/>
            <p:cNvSpPr>
              <a:spLocks/>
            </p:cNvSpPr>
            <p:nvPr/>
          </p:nvSpPr>
          <p:spPr bwMode="auto">
            <a:xfrm flipV="1">
              <a:off x="2022475" y="2473325"/>
              <a:ext cx="5270500" cy="3273425"/>
            </a:xfrm>
            <a:custGeom>
              <a:avLst/>
              <a:gdLst>
                <a:gd name="T0" fmla="*/ 0 w 2948"/>
                <a:gd name="T1" fmla="*/ 2147483647 h 2041"/>
                <a:gd name="T2" fmla="*/ 2147483647 w 2948"/>
                <a:gd name="T3" fmla="*/ 2147483647 h 2041"/>
                <a:gd name="T4" fmla="*/ 2147483647 w 2948"/>
                <a:gd name="T5" fmla="*/ 2147483647 h 2041"/>
                <a:gd name="T6" fmla="*/ 2147483647 w 2948"/>
                <a:gd name="T7" fmla="*/ 2147483647 h 2041"/>
                <a:gd name="T8" fmla="*/ 2147483647 w 2948"/>
                <a:gd name="T9" fmla="*/ 2147483647 h 2041"/>
                <a:gd name="T10" fmla="*/ 2147483647 w 2948"/>
                <a:gd name="T11" fmla="*/ 2147483647 h 2041"/>
                <a:gd name="T12" fmla="*/ 2147483647 w 2948"/>
                <a:gd name="T13" fmla="*/ 2147483647 h 2041"/>
                <a:gd name="T14" fmla="*/ 2147483647 w 2948"/>
                <a:gd name="T15" fmla="*/ 2147483647 h 2041"/>
                <a:gd name="T16" fmla="*/ 2147483647 w 2948"/>
                <a:gd name="T17" fmla="*/ 2147483647 h 2041"/>
                <a:gd name="T18" fmla="*/ 2147483647 w 2948"/>
                <a:gd name="T19" fmla="*/ 2147483647 h 2041"/>
                <a:gd name="T20" fmla="*/ 2147483647 w 2948"/>
                <a:gd name="T21" fmla="*/ 2147483647 h 2041"/>
                <a:gd name="T22" fmla="*/ 2147483647 w 2948"/>
                <a:gd name="T23" fmla="*/ 2147483647 h 2041"/>
                <a:gd name="T24" fmla="*/ 2147483647 w 2948"/>
                <a:gd name="T25" fmla="*/ 2147483647 h 2041"/>
                <a:gd name="T26" fmla="*/ 2147483647 w 2948"/>
                <a:gd name="T27" fmla="*/ 2147483647 h 2041"/>
                <a:gd name="T28" fmla="*/ 2147483647 w 2948"/>
                <a:gd name="T29" fmla="*/ 2147483647 h 2041"/>
                <a:gd name="T30" fmla="*/ 2147483647 w 2948"/>
                <a:gd name="T31" fmla="*/ 2147483647 h 2041"/>
                <a:gd name="T32" fmla="*/ 2147483647 w 2948"/>
                <a:gd name="T33" fmla="*/ 2147483647 h 2041"/>
                <a:gd name="T34" fmla="*/ 2147483647 w 2948"/>
                <a:gd name="T35" fmla="*/ 2147483647 h 2041"/>
                <a:gd name="T36" fmla="*/ 2147483647 w 2948"/>
                <a:gd name="T37" fmla="*/ 2147483647 h 2041"/>
                <a:gd name="T38" fmla="*/ 2147483647 w 2948"/>
                <a:gd name="T39" fmla="*/ 2147483647 h 2041"/>
                <a:gd name="T40" fmla="*/ 2147483647 w 2948"/>
                <a:gd name="T41" fmla="*/ 2147483647 h 2041"/>
                <a:gd name="T42" fmla="*/ 2147483647 w 2948"/>
                <a:gd name="T43" fmla="*/ 0 h 20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48"/>
                <a:gd name="T67" fmla="*/ 0 h 2041"/>
                <a:gd name="T68" fmla="*/ 2948 w 2948"/>
                <a:gd name="T69" fmla="*/ 2041 h 204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48" h="2041">
                  <a:moveTo>
                    <a:pt x="0" y="1633"/>
                  </a:moveTo>
                  <a:lnTo>
                    <a:pt x="136" y="1361"/>
                  </a:lnTo>
                  <a:lnTo>
                    <a:pt x="408" y="1588"/>
                  </a:lnTo>
                  <a:lnTo>
                    <a:pt x="499" y="1225"/>
                  </a:lnTo>
                  <a:lnTo>
                    <a:pt x="680" y="1542"/>
                  </a:lnTo>
                  <a:lnTo>
                    <a:pt x="771" y="1179"/>
                  </a:lnTo>
                  <a:lnTo>
                    <a:pt x="953" y="2041"/>
                  </a:lnTo>
                  <a:lnTo>
                    <a:pt x="1089" y="1769"/>
                  </a:lnTo>
                  <a:lnTo>
                    <a:pt x="1270" y="1996"/>
                  </a:lnTo>
                  <a:lnTo>
                    <a:pt x="1361" y="1724"/>
                  </a:lnTo>
                  <a:lnTo>
                    <a:pt x="1497" y="1950"/>
                  </a:lnTo>
                  <a:lnTo>
                    <a:pt x="1588" y="1134"/>
                  </a:lnTo>
                  <a:lnTo>
                    <a:pt x="1769" y="1270"/>
                  </a:lnTo>
                  <a:lnTo>
                    <a:pt x="1814" y="998"/>
                  </a:lnTo>
                  <a:lnTo>
                    <a:pt x="2041" y="1179"/>
                  </a:lnTo>
                  <a:lnTo>
                    <a:pt x="2087" y="952"/>
                  </a:lnTo>
                  <a:lnTo>
                    <a:pt x="2313" y="1134"/>
                  </a:lnTo>
                  <a:lnTo>
                    <a:pt x="2449" y="136"/>
                  </a:lnTo>
                  <a:lnTo>
                    <a:pt x="2631" y="317"/>
                  </a:lnTo>
                  <a:lnTo>
                    <a:pt x="2676" y="91"/>
                  </a:lnTo>
                  <a:lnTo>
                    <a:pt x="2858" y="272"/>
                  </a:lnTo>
                  <a:lnTo>
                    <a:pt x="2948"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5132" name="AutoShape 6"/>
            <p:cNvSpPr>
              <a:spLocks noChangeArrowheads="1"/>
            </p:cNvSpPr>
            <p:nvPr/>
          </p:nvSpPr>
          <p:spPr bwMode="auto">
            <a:xfrm flipV="1">
              <a:off x="5603875" y="4052888"/>
              <a:ext cx="969963" cy="1247775"/>
            </a:xfrm>
            <a:prstGeom prst="upArrow">
              <a:avLst>
                <a:gd name="adj1" fmla="val 50000"/>
                <a:gd name="adj2" fmla="val 43893"/>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600" b="1" dirty="0">
                <a:latin typeface="arial" pitchFamily="34" charset="0"/>
                <a:ea typeface="맑은 고딕" pitchFamily="50" charset="-127"/>
              </a:endParaRPr>
            </a:p>
          </p:txBody>
        </p:sp>
        <p:sp>
          <p:nvSpPr>
            <p:cNvPr id="5133" name="Text Box 7"/>
            <p:cNvSpPr txBox="1">
              <a:spLocks noChangeArrowheads="1"/>
            </p:cNvSpPr>
            <p:nvPr/>
          </p:nvSpPr>
          <p:spPr bwMode="auto">
            <a:xfrm>
              <a:off x="5359400" y="4381500"/>
              <a:ext cx="147161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nchor="ctr" anchorCtr="1"/>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err="1">
                  <a:solidFill>
                    <a:srgbClr val="000000"/>
                  </a:solidFill>
                  <a:latin typeface="arial" pitchFamily="34" charset="0"/>
                  <a:ea typeface="맑은 고딕" pitchFamily="50" charset="-127"/>
                </a:rPr>
                <a:t>Cải</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tiến</a:t>
              </a:r>
              <a:endParaRPr lang="ko-KR" altLang="en-US" sz="1200" dirty="0">
                <a:latin typeface="arial" pitchFamily="34" charset="0"/>
                <a:ea typeface="맑은 고딕" pitchFamily="50" charset="-127"/>
              </a:endParaRPr>
            </a:p>
          </p:txBody>
        </p:sp>
        <p:sp>
          <p:nvSpPr>
            <p:cNvPr id="5134" name="Text Box 8"/>
            <p:cNvSpPr txBox="1">
              <a:spLocks noChangeArrowheads="1"/>
            </p:cNvSpPr>
            <p:nvPr/>
          </p:nvSpPr>
          <p:spPr bwMode="auto">
            <a:xfrm>
              <a:off x="2262188" y="3830638"/>
              <a:ext cx="2044700" cy="395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err="1">
                  <a:solidFill>
                    <a:srgbClr val="000000"/>
                  </a:solidFill>
                  <a:latin typeface="arial" pitchFamily="34" charset="0"/>
                  <a:ea typeface="맑은 고딕" pitchFamily="50" charset="-127"/>
                </a:rPr>
                <a:t>Quá</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trình</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kiểm</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soát</a:t>
              </a:r>
              <a:endParaRPr lang="ko-KR" altLang="en-US" sz="1200" dirty="0">
                <a:latin typeface="arial" pitchFamily="34" charset="0"/>
                <a:ea typeface="맑은 고딕" pitchFamily="50" charset="-127"/>
              </a:endParaRPr>
            </a:p>
          </p:txBody>
        </p:sp>
        <p:sp>
          <p:nvSpPr>
            <p:cNvPr id="5135" name="Text Box 9"/>
            <p:cNvSpPr txBox="1">
              <a:spLocks noChangeArrowheads="1"/>
            </p:cNvSpPr>
            <p:nvPr/>
          </p:nvSpPr>
          <p:spPr bwMode="auto">
            <a:xfrm>
              <a:off x="3696888" y="2078039"/>
              <a:ext cx="1317633" cy="371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dirty="0" err="1">
                  <a:solidFill>
                    <a:srgbClr val="000000"/>
                  </a:solidFill>
                  <a:latin typeface="arial" pitchFamily="34" charset="0"/>
                  <a:ea typeface="맑은 고딕" pitchFamily="50" charset="-127"/>
                </a:rPr>
                <a:t>Khác</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thường</a:t>
              </a:r>
              <a:endParaRPr lang="en-US" altLang="ko-KR" sz="1200" dirty="0">
                <a:latin typeface="arial" pitchFamily="34" charset="0"/>
                <a:ea typeface="맑은 고딕" pitchFamily="50" charset="-127"/>
              </a:endParaRPr>
            </a:p>
          </p:txBody>
        </p:sp>
        <p:sp>
          <p:nvSpPr>
            <p:cNvPr id="5136" name="AutoShape 10"/>
            <p:cNvSpPr>
              <a:spLocks noChangeArrowheads="1"/>
            </p:cNvSpPr>
            <p:nvPr/>
          </p:nvSpPr>
          <p:spPr bwMode="auto">
            <a:xfrm flipV="1">
              <a:off x="3771900" y="2933700"/>
              <a:ext cx="958850" cy="723900"/>
            </a:xfrm>
            <a:prstGeom prst="upArrow">
              <a:avLst>
                <a:gd name="adj1" fmla="val 50000"/>
                <a:gd name="adj2" fmla="val 25722"/>
              </a:avLst>
            </a:prstGeom>
            <a:solidFill>
              <a:srgbClr val="C0C0C0"/>
            </a:solidFill>
            <a:ln w="9525">
              <a:solidFill>
                <a:srgbClr val="808080"/>
              </a:solidFill>
              <a:miter lim="800000"/>
              <a:headEnd/>
              <a:tailEnd/>
            </a:ln>
          </p:spPr>
          <p:txBody>
            <a:bodyPr rot="10800000" vert="eaVert"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600" b="1" dirty="0">
                <a:latin typeface="arial" pitchFamily="34" charset="0"/>
                <a:ea typeface="맑은 고딕" pitchFamily="50" charset="-127"/>
              </a:endParaRPr>
            </a:p>
          </p:txBody>
        </p:sp>
        <p:sp>
          <p:nvSpPr>
            <p:cNvPr id="5137" name="Text Box 11"/>
            <p:cNvSpPr txBox="1">
              <a:spLocks noChangeArrowheads="1"/>
            </p:cNvSpPr>
            <p:nvPr/>
          </p:nvSpPr>
          <p:spPr bwMode="auto">
            <a:xfrm>
              <a:off x="3840165" y="3069872"/>
              <a:ext cx="804863"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solidFill>
                    <a:srgbClr val="000000"/>
                  </a:solidFill>
                  <a:latin typeface="arial" pitchFamily="34" charset="0"/>
                  <a:ea typeface="맑은 고딕" pitchFamily="50" charset="-127"/>
                </a:rPr>
                <a:t>Kiểm</a:t>
              </a:r>
              <a:r>
                <a:rPr lang="en-US" altLang="ko-KR" sz="1200" dirty="0">
                  <a:solidFill>
                    <a:srgbClr val="000000"/>
                  </a:solidFill>
                  <a:latin typeface="arial" pitchFamily="34" charset="0"/>
                  <a:ea typeface="맑은 고딕" pitchFamily="50" charset="-127"/>
                </a:rPr>
                <a:t> </a:t>
              </a:r>
              <a:r>
                <a:rPr lang="en-US" altLang="ko-KR" sz="1200" dirty="0" err="1">
                  <a:solidFill>
                    <a:srgbClr val="000000"/>
                  </a:solidFill>
                  <a:latin typeface="arial" pitchFamily="34" charset="0"/>
                  <a:ea typeface="맑은 고딕" pitchFamily="50" charset="-127"/>
                </a:rPr>
                <a:t>soát</a:t>
              </a:r>
              <a:endParaRPr lang="ko-KR" altLang="en-US" sz="1200" dirty="0">
                <a:latin typeface="arial" pitchFamily="34" charset="0"/>
                <a:ea typeface="맑은 고딕" pitchFamily="50" charset="-127"/>
              </a:endParaRPr>
            </a:p>
          </p:txBody>
        </p:sp>
        <p:sp>
          <p:nvSpPr>
            <p:cNvPr id="5139" name="Line 13"/>
            <p:cNvSpPr>
              <a:spLocks noChangeShapeType="1"/>
            </p:cNvSpPr>
            <p:nvPr/>
          </p:nvSpPr>
          <p:spPr bwMode="auto">
            <a:xfrm>
              <a:off x="2032436" y="2406650"/>
              <a:ext cx="5463740" cy="0"/>
            </a:xfrm>
            <a:prstGeom prst="line">
              <a:avLst/>
            </a:prstGeom>
            <a:noFill/>
            <a:ln w="3175">
              <a:solidFill>
                <a:srgbClr val="6600FF"/>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5140" name="Text Box 14"/>
            <p:cNvSpPr txBox="1">
              <a:spLocks noChangeArrowheads="1"/>
            </p:cNvSpPr>
            <p:nvPr/>
          </p:nvSpPr>
          <p:spPr bwMode="auto">
            <a:xfrm>
              <a:off x="7796213" y="6156325"/>
              <a:ext cx="107747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200" b="1" dirty="0" err="1">
                  <a:solidFill>
                    <a:srgbClr val="000000"/>
                  </a:solidFill>
                  <a:latin typeface="arial" pitchFamily="34" charset="0"/>
                  <a:ea typeface="맑은 고딕" pitchFamily="50" charset="-127"/>
                </a:rPr>
                <a:t>Thời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gian</a:t>
              </a:r>
              <a:endParaRPr lang="en-US" altLang="ko-KR" sz="1200" dirty="0">
                <a:latin typeface="arial" pitchFamily="34" charset="0"/>
                <a:ea typeface="맑은 고딕" pitchFamily="50" charset="-127"/>
              </a:endParaRPr>
            </a:p>
          </p:txBody>
        </p:sp>
        <p:sp>
          <p:nvSpPr>
            <p:cNvPr id="5141" name="Line 15"/>
            <p:cNvSpPr>
              <a:spLocks noChangeShapeType="1"/>
            </p:cNvSpPr>
            <p:nvPr/>
          </p:nvSpPr>
          <p:spPr bwMode="auto">
            <a:xfrm>
              <a:off x="2557463" y="2670175"/>
              <a:ext cx="0" cy="460375"/>
            </a:xfrm>
            <a:prstGeom prst="line">
              <a:avLst/>
            </a:prstGeom>
            <a:noFill/>
            <a:ln w="3175">
              <a:solidFill>
                <a:srgbClr val="FF3300"/>
              </a:solidFill>
              <a:round/>
              <a:headEnd type="diamond" w="med" len="med"/>
              <a:tailEnd type="triangle" w="med" len="med"/>
            </a:ln>
            <a:extLst>
              <a:ext uri="{909E8E84-426E-40DD-AFC4-6F175D3DCCD1}">
                <a14:hiddenFill xmlns:a14="http://schemas.microsoft.com/office/drawing/2010/main">
                  <a:noFill/>
                </a14:hiddenFill>
              </a:ext>
            </a:extLst>
          </p:spPr>
          <p:txBody>
            <a:bodyPr wrap="none" lIns="90000" tIns="46800" rIns="90000" bIns="46800" anchor="ctr"/>
            <a:lstStyle/>
            <a:p>
              <a:endParaRPr lang="ko-KR" altLang="en-US"/>
            </a:p>
          </p:txBody>
        </p:sp>
        <p:sp>
          <p:nvSpPr>
            <p:cNvPr id="5142" name="AutoShape 16"/>
            <p:cNvSpPr>
              <a:spLocks noChangeArrowheads="1"/>
            </p:cNvSpPr>
            <p:nvPr/>
          </p:nvSpPr>
          <p:spPr bwMode="auto">
            <a:xfrm flipV="1">
              <a:off x="6818313" y="2406650"/>
              <a:ext cx="1154112" cy="3617913"/>
            </a:xfrm>
            <a:prstGeom prst="upArrow">
              <a:avLst>
                <a:gd name="adj1" fmla="val 47944"/>
                <a:gd name="adj2" fmla="val 55091"/>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600" b="1" dirty="0">
                <a:latin typeface="arial" pitchFamily="34" charset="0"/>
                <a:ea typeface="맑은 고딕" pitchFamily="50" charset="-127"/>
              </a:endParaRPr>
            </a:p>
          </p:txBody>
        </p:sp>
        <p:sp>
          <p:nvSpPr>
            <p:cNvPr id="5143" name="Text Box 17"/>
            <p:cNvSpPr txBox="1">
              <a:spLocks noChangeArrowheads="1"/>
            </p:cNvSpPr>
            <p:nvPr/>
          </p:nvSpPr>
          <p:spPr bwMode="auto">
            <a:xfrm>
              <a:off x="6831013" y="3305175"/>
              <a:ext cx="112236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9494" tIns="34747" rIns="69494" bIns="34747" anchor="ctr" anchorCtr="1"/>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hangingPunct="1"/>
              <a:r>
                <a:rPr lang="en-US" altLang="ko-KR" sz="1600" b="1" dirty="0">
                  <a:solidFill>
                    <a:schemeClr val="bg1"/>
                  </a:solidFill>
                  <a:latin typeface="arial" pitchFamily="34" charset="0"/>
                  <a:ea typeface="맑은 고딕" pitchFamily="50" charset="-127"/>
                </a:rPr>
                <a:t>6σ</a:t>
              </a:r>
            </a:p>
          </p:txBody>
        </p:sp>
        <p:sp>
          <p:nvSpPr>
            <p:cNvPr id="25" name="Oval 19"/>
            <p:cNvSpPr>
              <a:spLocks noChangeArrowheads="1"/>
            </p:cNvSpPr>
            <p:nvPr/>
          </p:nvSpPr>
          <p:spPr bwMode="auto">
            <a:xfrm>
              <a:off x="7158741" y="5893286"/>
              <a:ext cx="469872" cy="459951"/>
            </a:xfrm>
            <a:prstGeom prst="ellipse">
              <a:avLst/>
            </a:prstGeom>
            <a:solidFill>
              <a:srgbClr val="5F5F5F"/>
            </a:solidFill>
            <a:ln w="9525">
              <a:solidFill>
                <a:schemeClr val="bg1"/>
              </a:solidFill>
              <a:round/>
              <a:headEnd/>
              <a:tailEnd/>
            </a:ln>
            <a:effec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dirty="0">
                  <a:solidFill>
                    <a:schemeClr val="bg1"/>
                  </a:solidFill>
                  <a:effectLst>
                    <a:outerShdw blurRad="38100" dist="38100" dir="2700000" algn="tl">
                      <a:srgbClr val="000000"/>
                    </a:outerShdw>
                  </a:effectLst>
                  <a:latin typeface="arial" pitchFamily="34" charset="0"/>
                  <a:ea typeface="맑은 고딕" panose="020B0503020000020004" pitchFamily="50" charset="-127"/>
                </a:rPr>
                <a:t>0</a:t>
              </a:r>
            </a:p>
          </p:txBody>
        </p:sp>
      </p:gr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246</a:t>
            </a:fld>
            <a:endParaRPr lang="ko-KR" altLang="en-US" dirty="0"/>
          </a:p>
        </p:txBody>
      </p:sp>
      <p:sp>
        <p:nvSpPr>
          <p:cNvPr id="24" name="TextBox 18"/>
          <p:cNvSpPr txBox="1">
            <a:spLocks noChangeArrowheads="1"/>
          </p:cNvSpPr>
          <p:nvPr/>
        </p:nvSpPr>
        <p:spPr bwMode="auto">
          <a:xfrm>
            <a:off x="6107434" y="1877862"/>
            <a:ext cx="3455987"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buFont typeface="Wingdings" pitchFamily="2" charset="2"/>
              <a:buChar char="u"/>
            </a:pPr>
            <a:r>
              <a:rPr lang="ko-KR" altLang="en-US" sz="1400" b="1" dirty="0">
                <a:latin typeface="맑은 고딕" pitchFamily="50" charset="-127"/>
                <a:ea typeface="맑은 고딕" pitchFamily="50" charset="-127"/>
              </a:rPr>
              <a:t> </a:t>
            </a:r>
            <a:r>
              <a:rPr lang="en-US" altLang="ko-KR" sz="1400" b="1" dirty="0">
                <a:latin typeface="맑은 고딕" pitchFamily="50" charset="-127"/>
                <a:ea typeface="맑은 고딕" pitchFamily="50" charset="-127"/>
              </a:rPr>
              <a:t>What is Control?</a:t>
            </a:r>
          </a:p>
          <a:p>
            <a:pPr eaLnBrk="1" hangingPunct="1">
              <a:buClr>
                <a:srgbClr val="C5003D"/>
              </a:buClr>
            </a:pPr>
            <a:r>
              <a:rPr lang="en-US" altLang="ko-KR" sz="1200" b="1" dirty="0">
                <a:latin typeface="맑은 고딕" pitchFamily="50" charset="-127"/>
                <a:ea typeface="맑은 고딕" pitchFamily="50" charset="-127"/>
              </a:rPr>
              <a:t>   : the act of controlling ‘assignable </a:t>
            </a:r>
          </a:p>
          <a:p>
            <a:pPr eaLnBrk="1" hangingPunct="1">
              <a:buClr>
                <a:srgbClr val="C5003D"/>
              </a:buClr>
            </a:pPr>
            <a:r>
              <a:rPr lang="en-US" altLang="ko-KR" sz="1200" b="1" dirty="0">
                <a:latin typeface="맑은 고딕" pitchFamily="50" charset="-127"/>
                <a:ea typeface="맑은 고딕" pitchFamily="50" charset="-127"/>
              </a:rPr>
              <a:t>     variance’ so that the quality could be  </a:t>
            </a:r>
          </a:p>
          <a:p>
            <a:pPr eaLnBrk="1" hangingPunct="1">
              <a:buClr>
                <a:srgbClr val="C5003D"/>
              </a:buClr>
            </a:pPr>
            <a:r>
              <a:rPr lang="en-US" altLang="ko-KR" sz="1200" b="1" dirty="0">
                <a:latin typeface="맑은 고딕" pitchFamily="50" charset="-127"/>
                <a:ea typeface="맑은 고딕" pitchFamily="50" charset="-127"/>
              </a:rPr>
              <a:t>     kept at a consistent level.</a:t>
            </a:r>
            <a:endParaRPr lang="ko-KR" altLang="en-US" sz="1200" b="1" dirty="0">
              <a:latin typeface="맑은 고딕" pitchFamily="50" charset="-127"/>
              <a:ea typeface="맑은 고딕" pitchFamily="50" charset="-127"/>
            </a:endParaRPr>
          </a:p>
        </p:txBody>
      </p:sp>
      <p:sp>
        <p:nvSpPr>
          <p:cNvPr id="26" name="TextBox 18"/>
          <p:cNvSpPr txBox="1">
            <a:spLocks noChangeArrowheads="1"/>
          </p:cNvSpPr>
          <p:nvPr/>
        </p:nvSpPr>
        <p:spPr bwMode="auto">
          <a:xfrm>
            <a:off x="6107434" y="2866874"/>
            <a:ext cx="3455987"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Clr>
                <a:srgbClr val="C5003D"/>
              </a:buClr>
              <a:buFont typeface="Wingdings" pitchFamily="2" charset="2"/>
              <a:buChar char="u"/>
            </a:pPr>
            <a:r>
              <a:rPr lang="en-US" altLang="ko-KR" sz="1400" b="1" dirty="0">
                <a:latin typeface="맑은 고딕" pitchFamily="50" charset="-127"/>
                <a:ea typeface="맑은 고딕" pitchFamily="50" charset="-127"/>
              </a:rPr>
              <a:t>What is Improvement?</a:t>
            </a:r>
          </a:p>
          <a:p>
            <a:pPr eaLnBrk="1" hangingPunct="1">
              <a:buClr>
                <a:srgbClr val="C5003D"/>
              </a:buClr>
            </a:pPr>
            <a:r>
              <a:rPr lang="en-US" altLang="ko-KR" sz="1200" b="1" dirty="0">
                <a:latin typeface="맑은 고딕" pitchFamily="50" charset="-127"/>
                <a:ea typeface="맑은 고딕" pitchFamily="50" charset="-127"/>
              </a:rPr>
              <a:t>   : the act of making the quality better than   </a:t>
            </a:r>
          </a:p>
          <a:p>
            <a:pPr eaLnBrk="1" hangingPunct="1">
              <a:buClr>
                <a:srgbClr val="C5003D"/>
              </a:buClr>
            </a:pPr>
            <a:r>
              <a:rPr lang="en-US" altLang="ko-KR" sz="1200" b="1" dirty="0">
                <a:latin typeface="맑은 고딕" pitchFamily="50" charset="-127"/>
                <a:ea typeface="맑은 고딕" pitchFamily="50" charset="-127"/>
              </a:rPr>
              <a:t>     in the past (improvement that exceeds </a:t>
            </a:r>
          </a:p>
          <a:p>
            <a:pPr eaLnBrk="1" hangingPunct="1">
              <a:buClr>
                <a:srgbClr val="C5003D"/>
              </a:buClr>
            </a:pPr>
            <a:r>
              <a:rPr lang="en-US" altLang="ko-KR" sz="1200" b="1" dirty="0">
                <a:latin typeface="맑은 고딕" pitchFamily="50" charset="-127"/>
                <a:ea typeface="맑은 고딕" pitchFamily="50" charset="-127"/>
              </a:rPr>
              <a:t>     the learning curve).</a:t>
            </a:r>
            <a:endParaRPr lang="ko-KR" altLang="en-US" sz="1200" b="1" dirty="0">
              <a:latin typeface="맑은 고딕" pitchFamily="50" charset="-127"/>
              <a:ea typeface="맑은 고딕" pitchFamily="50" charset="-127"/>
            </a:endParaRPr>
          </a:p>
        </p:txBody>
      </p:sp>
    </p:spTree>
    <p:extLst>
      <p:ext uri="{BB962C8B-B14F-4D97-AF65-F5344CB8AC3E}">
        <p14:creationId xmlns:p14="http://schemas.microsoft.com/office/powerpoint/2010/main" val="44312835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Box 3"/>
          <p:cNvSpPr txBox="1">
            <a:spLocks noChangeArrowheads="1"/>
          </p:cNvSpPr>
          <p:nvPr/>
        </p:nvSpPr>
        <p:spPr bwMode="auto">
          <a:xfrm>
            <a:off x="369888" y="1125538"/>
            <a:ext cx="3025187" cy="380873"/>
          </a:xfrm>
          <a:prstGeom prst="rect">
            <a:avLst/>
          </a:prstGeom>
          <a:solidFill>
            <a:schemeClr val="bg1">
              <a:lumMod val="85000"/>
            </a:schemeClr>
          </a:solidFill>
          <a:ln>
            <a:noFill/>
          </a:ln>
          <a:effectLst/>
        </p:spPr>
        <p:txBody>
          <a:bodyPr wrap="none" lIns="102870" tIns="51435" rIns="102870" bIns="51435">
            <a:spAutoFit/>
          </a:bodyPr>
          <a:lstStyle>
            <a:lvl1pPr algn="l" defTabSz="1028700">
              <a:defRPr kumimoji="1" sz="2400">
                <a:solidFill>
                  <a:schemeClr val="tx1"/>
                </a:solidFill>
                <a:latin typeface="Times New Roman" pitchFamily="18" charset="0"/>
                <a:ea typeface="굴림" pitchFamily="50" charset="-127"/>
              </a:defRPr>
            </a:lvl1pPr>
            <a:lvl2pPr marL="514350" algn="l" defTabSz="1028700">
              <a:defRPr kumimoji="1" sz="2400">
                <a:solidFill>
                  <a:schemeClr val="tx1"/>
                </a:solidFill>
                <a:latin typeface="Times New Roman" pitchFamily="18" charset="0"/>
                <a:ea typeface="굴림" pitchFamily="50" charset="-127"/>
              </a:defRPr>
            </a:lvl2pPr>
            <a:lvl3pPr marL="1028700" algn="l" defTabSz="1028700">
              <a:defRPr kumimoji="1" sz="2400">
                <a:solidFill>
                  <a:schemeClr val="tx1"/>
                </a:solidFill>
                <a:latin typeface="Times New Roman" pitchFamily="18" charset="0"/>
                <a:ea typeface="굴림" pitchFamily="50" charset="-127"/>
              </a:defRPr>
            </a:lvl3pPr>
            <a:lvl4pPr marL="1543050" algn="l" defTabSz="1028700">
              <a:defRPr kumimoji="1" sz="2400">
                <a:solidFill>
                  <a:schemeClr val="tx1"/>
                </a:solidFill>
                <a:latin typeface="Times New Roman" pitchFamily="18" charset="0"/>
                <a:ea typeface="굴림" pitchFamily="50" charset="-127"/>
              </a:defRPr>
            </a:lvl4pPr>
            <a:lvl5pPr marL="2057400" algn="l" defTabSz="1028700">
              <a:defRPr kumimoji="1" sz="2400">
                <a:solidFill>
                  <a:schemeClr val="tx1"/>
                </a:solidFill>
                <a:latin typeface="Times New Roman" pitchFamily="18" charset="0"/>
                <a:ea typeface="굴림" pitchFamily="50" charset="-127"/>
              </a:defRPr>
            </a:lvl5pPr>
            <a:lvl6pPr marL="2514600" defTabSz="1028700" fontAlgn="base">
              <a:spcBef>
                <a:spcPct val="0"/>
              </a:spcBef>
              <a:spcAft>
                <a:spcPct val="0"/>
              </a:spcAft>
              <a:defRPr kumimoji="1" sz="2400">
                <a:solidFill>
                  <a:schemeClr val="tx1"/>
                </a:solidFill>
                <a:latin typeface="Times New Roman" pitchFamily="18" charset="0"/>
                <a:ea typeface="굴림" pitchFamily="50" charset="-127"/>
              </a:defRPr>
            </a:lvl6pPr>
            <a:lvl7pPr marL="2971800" defTabSz="1028700" fontAlgn="base">
              <a:spcBef>
                <a:spcPct val="0"/>
              </a:spcBef>
              <a:spcAft>
                <a:spcPct val="0"/>
              </a:spcAft>
              <a:defRPr kumimoji="1" sz="2400">
                <a:solidFill>
                  <a:schemeClr val="tx1"/>
                </a:solidFill>
                <a:latin typeface="Times New Roman" pitchFamily="18" charset="0"/>
                <a:ea typeface="굴림" pitchFamily="50" charset="-127"/>
              </a:defRPr>
            </a:lvl7pPr>
            <a:lvl8pPr marL="3429000" defTabSz="1028700" fontAlgn="base">
              <a:spcBef>
                <a:spcPct val="0"/>
              </a:spcBef>
              <a:spcAft>
                <a:spcPct val="0"/>
              </a:spcAft>
              <a:defRPr kumimoji="1" sz="2400">
                <a:solidFill>
                  <a:schemeClr val="tx1"/>
                </a:solidFill>
                <a:latin typeface="Times New Roman" pitchFamily="18" charset="0"/>
                <a:ea typeface="굴림" pitchFamily="50" charset="-127"/>
              </a:defRPr>
            </a:lvl8pPr>
            <a:lvl9pPr marL="3886200" defTabSz="1028700" fontAlgn="base">
              <a:spcBef>
                <a:spcPct val="0"/>
              </a:spcBef>
              <a:spcAft>
                <a:spcPct val="0"/>
              </a:spcAft>
              <a:defRPr kumimoji="1" sz="2400">
                <a:solidFill>
                  <a:schemeClr val="tx1"/>
                </a:solidFill>
                <a:latin typeface="Times New Roman" pitchFamily="18" charset="0"/>
                <a:ea typeface="굴림" pitchFamily="50" charset="-127"/>
              </a:defRPr>
            </a:lvl9pPr>
          </a:lstStyle>
          <a:p>
            <a:pPr eaLnBrk="0" latinLnBrk="0" hangingPunct="0">
              <a:defRPr/>
            </a:pPr>
            <a:r>
              <a:rPr kumimoji="0" lang="en-US" altLang="ko-KR" sz="1800" b="1" dirty="0" err="1">
                <a:solidFill>
                  <a:srgbClr val="000000"/>
                </a:solidFill>
                <a:latin typeface="arial" pitchFamily="34" charset="0"/>
                <a:ea typeface="+mn-ea"/>
              </a:rPr>
              <a:t>Nguyên</a:t>
            </a:r>
            <a:r>
              <a:rPr kumimoji="0" lang="en-US" altLang="ko-KR" sz="1800" b="1" dirty="0">
                <a:solidFill>
                  <a:srgbClr val="000000"/>
                </a:solidFill>
                <a:latin typeface="arial" pitchFamily="34" charset="0"/>
                <a:ea typeface="+mn-ea"/>
              </a:rPr>
              <a:t> </a:t>
            </a:r>
            <a:r>
              <a:rPr kumimoji="0" lang="en-US" altLang="ko-KR" sz="1800" b="1" dirty="0" err="1">
                <a:solidFill>
                  <a:srgbClr val="000000"/>
                </a:solidFill>
                <a:latin typeface="arial" pitchFamily="34" charset="0"/>
                <a:ea typeface="+mn-ea"/>
              </a:rPr>
              <a:t>nhân</a:t>
            </a:r>
            <a:r>
              <a:rPr kumimoji="0" lang="en-US" altLang="ko-KR" sz="1800" b="1" dirty="0">
                <a:solidFill>
                  <a:srgbClr val="000000"/>
                </a:solidFill>
                <a:latin typeface="arial" pitchFamily="34" charset="0"/>
                <a:ea typeface="+mn-ea"/>
              </a:rPr>
              <a:t> </a:t>
            </a:r>
            <a:r>
              <a:rPr kumimoji="0" lang="en-US" altLang="ko-KR" sz="1800" b="1" dirty="0" err="1">
                <a:solidFill>
                  <a:srgbClr val="000000"/>
                </a:solidFill>
                <a:latin typeface="arial" pitchFamily="34" charset="0"/>
                <a:ea typeface="+mn-ea"/>
              </a:rPr>
              <a:t>ngẫu</a:t>
            </a:r>
            <a:r>
              <a:rPr kumimoji="0" lang="en-US" altLang="ko-KR" sz="1800" b="1" dirty="0">
                <a:solidFill>
                  <a:srgbClr val="000000"/>
                </a:solidFill>
                <a:latin typeface="arial" pitchFamily="34" charset="0"/>
                <a:ea typeface="+mn-ea"/>
              </a:rPr>
              <a:t> </a:t>
            </a:r>
            <a:r>
              <a:rPr kumimoji="0" lang="en-US" altLang="ko-KR" sz="1800" b="1" dirty="0" err="1">
                <a:solidFill>
                  <a:srgbClr val="000000"/>
                </a:solidFill>
                <a:latin typeface="arial" pitchFamily="34" charset="0"/>
                <a:ea typeface="+mn-ea"/>
              </a:rPr>
              <a:t>nhiên</a:t>
            </a:r>
            <a:endParaRPr kumimoji="0" lang="en-US" altLang="ko-KR" sz="1800" b="1" dirty="0">
              <a:solidFill>
                <a:srgbClr val="000000"/>
              </a:solidFill>
              <a:latin typeface="arial" pitchFamily="34" charset="0"/>
              <a:ea typeface="+mn-ea"/>
            </a:endParaRPr>
          </a:p>
        </p:txBody>
      </p:sp>
      <p:sp>
        <p:nvSpPr>
          <p:cNvPr id="16" name="Rectangle 4"/>
          <p:cNvSpPr>
            <a:spLocks noChangeArrowheads="1"/>
          </p:cNvSpPr>
          <p:nvPr/>
        </p:nvSpPr>
        <p:spPr bwMode="auto">
          <a:xfrm>
            <a:off x="381000" y="1662113"/>
            <a:ext cx="9577388" cy="4388124"/>
          </a:xfrm>
          <a:prstGeom prst="rect">
            <a:avLst/>
          </a:prstGeom>
          <a:noFill/>
          <a:ln>
            <a:noFill/>
          </a:ln>
          <a:effectLst/>
        </p:spPr>
        <p:txBody>
          <a:bodyPr lIns="102870" tIns="51435" rIns="102870" bIns="51435">
            <a:spAutoFit/>
          </a:bodyPr>
          <a:lstStyle>
            <a:lvl1pPr marL="211138" indent="-211138" algn="l" defTabSz="1028700">
              <a:defRPr kumimoji="1" sz="2400">
                <a:solidFill>
                  <a:schemeClr val="tx1"/>
                </a:solidFill>
                <a:latin typeface="Times New Roman" pitchFamily="18" charset="0"/>
                <a:ea typeface="굴림" pitchFamily="50" charset="-127"/>
              </a:defRPr>
            </a:lvl1pPr>
            <a:lvl2pPr marL="1271588" indent="-514350" algn="l" defTabSz="1028700">
              <a:defRPr kumimoji="1" sz="2400">
                <a:solidFill>
                  <a:schemeClr val="tx1"/>
                </a:solidFill>
                <a:latin typeface="Times New Roman" pitchFamily="18" charset="0"/>
                <a:ea typeface="굴림" pitchFamily="50" charset="-127"/>
              </a:defRPr>
            </a:lvl2pPr>
            <a:lvl3pPr marL="2000250" indent="-514350" algn="l" defTabSz="1028700">
              <a:defRPr kumimoji="1" sz="2400">
                <a:solidFill>
                  <a:schemeClr val="tx1"/>
                </a:solidFill>
                <a:latin typeface="Times New Roman" pitchFamily="18" charset="0"/>
                <a:ea typeface="굴림" pitchFamily="50" charset="-127"/>
              </a:defRPr>
            </a:lvl3pPr>
            <a:lvl4pPr marL="2728913" indent="-514350" algn="l" defTabSz="1028700">
              <a:defRPr kumimoji="1" sz="2400">
                <a:solidFill>
                  <a:schemeClr val="tx1"/>
                </a:solidFill>
                <a:latin typeface="Times New Roman" pitchFamily="18" charset="0"/>
                <a:ea typeface="굴림" pitchFamily="50" charset="-127"/>
              </a:defRPr>
            </a:lvl4pPr>
            <a:lvl5pPr marL="3457575" indent="-514350" algn="l" defTabSz="1028700">
              <a:defRPr kumimoji="1" sz="2400">
                <a:solidFill>
                  <a:schemeClr val="tx1"/>
                </a:solidFill>
                <a:latin typeface="Times New Roman" pitchFamily="18" charset="0"/>
                <a:ea typeface="굴림" pitchFamily="50" charset="-127"/>
              </a:defRPr>
            </a:lvl5pPr>
            <a:lvl6pPr marL="3914775" indent="-514350" defTabSz="1028700" fontAlgn="base">
              <a:spcBef>
                <a:spcPct val="0"/>
              </a:spcBef>
              <a:spcAft>
                <a:spcPct val="0"/>
              </a:spcAft>
              <a:defRPr kumimoji="1" sz="2400">
                <a:solidFill>
                  <a:schemeClr val="tx1"/>
                </a:solidFill>
                <a:latin typeface="Times New Roman" pitchFamily="18" charset="0"/>
                <a:ea typeface="굴림" pitchFamily="50" charset="-127"/>
              </a:defRPr>
            </a:lvl6pPr>
            <a:lvl7pPr marL="4371975" indent="-514350" defTabSz="1028700" fontAlgn="base">
              <a:spcBef>
                <a:spcPct val="0"/>
              </a:spcBef>
              <a:spcAft>
                <a:spcPct val="0"/>
              </a:spcAft>
              <a:defRPr kumimoji="1" sz="2400">
                <a:solidFill>
                  <a:schemeClr val="tx1"/>
                </a:solidFill>
                <a:latin typeface="Times New Roman" pitchFamily="18" charset="0"/>
                <a:ea typeface="굴림" pitchFamily="50" charset="-127"/>
              </a:defRPr>
            </a:lvl7pPr>
            <a:lvl8pPr marL="4829175" indent="-514350" defTabSz="1028700" fontAlgn="base">
              <a:spcBef>
                <a:spcPct val="0"/>
              </a:spcBef>
              <a:spcAft>
                <a:spcPct val="0"/>
              </a:spcAft>
              <a:defRPr kumimoji="1" sz="2400">
                <a:solidFill>
                  <a:schemeClr val="tx1"/>
                </a:solidFill>
                <a:latin typeface="Times New Roman" pitchFamily="18" charset="0"/>
                <a:ea typeface="굴림" pitchFamily="50" charset="-127"/>
              </a:defRPr>
            </a:lvl8pPr>
            <a:lvl9pPr marL="5286375" indent="-514350" defTabSz="1028700" fontAlgn="base">
              <a:spcBef>
                <a:spcPct val="0"/>
              </a:spcBef>
              <a:spcAft>
                <a:spcPct val="0"/>
              </a:spcAft>
              <a:defRPr kumimoji="1" sz="2400">
                <a:solidFill>
                  <a:schemeClr val="tx1"/>
                </a:solidFill>
                <a:latin typeface="Times New Roman" pitchFamily="18" charset="0"/>
                <a:ea typeface="굴림" pitchFamily="50" charset="-127"/>
              </a:defRPr>
            </a:lvl9pPr>
          </a:lstStyle>
          <a:p>
            <a:pPr marL="0" indent="228600" eaLnBrk="0" latinLnBrk="0" hangingPunct="0">
              <a:defRPr/>
            </a:pPr>
            <a:r>
              <a:rPr kumimoji="0" lang="en-US" altLang="ko-KR" sz="1400" b="1" dirty="0">
                <a:latin typeface="arial" pitchFamily="34" charset="0"/>
                <a:ea typeface="+mn-ea"/>
              </a:rPr>
              <a:t>N</a:t>
            </a:r>
            <a:r>
              <a:rPr kumimoji="0" lang="vi-VN" altLang="ko-KR" sz="1400" b="1" dirty="0">
                <a:latin typeface="arial" pitchFamily="34" charset="0"/>
                <a:ea typeface="+mn-ea"/>
              </a:rPr>
              <a:t>guyên nhân ngẫu nhiên </a:t>
            </a:r>
            <a:r>
              <a:rPr kumimoji="0" lang="en-US" altLang="ko-KR" sz="1400" b="1" dirty="0">
                <a:latin typeface="arial" pitchFamily="34" charset="0"/>
                <a:ea typeface="+mn-ea"/>
              </a:rPr>
              <a:t>(Chance Causes) </a:t>
            </a:r>
            <a:r>
              <a:rPr kumimoji="0" lang="vi-VN" altLang="ko-KR" sz="1400" b="1" dirty="0">
                <a:latin typeface="arial" pitchFamily="34" charset="0"/>
                <a:ea typeface="+mn-ea"/>
              </a:rPr>
              <a:t>là nguyên nhân </a:t>
            </a:r>
            <a:r>
              <a:rPr kumimoji="0" lang="en-US" altLang="ko-KR" sz="1400" b="1" dirty="0" err="1">
                <a:latin typeface="arial" pitchFamily="34" charset="0"/>
                <a:ea typeface="+mn-ea"/>
              </a:rPr>
              <a:t>tạo</a:t>
            </a:r>
            <a:r>
              <a:rPr kumimoji="0" lang="en-US" altLang="ko-KR" sz="1400" b="1" dirty="0">
                <a:latin typeface="arial" pitchFamily="34" charset="0"/>
                <a:ea typeface="+mn-ea"/>
              </a:rPr>
              <a:t> </a:t>
            </a:r>
            <a:r>
              <a:rPr kumimoji="0" lang="en-US" altLang="ko-KR" sz="1400" b="1" dirty="0" err="1">
                <a:latin typeface="arial" pitchFamily="34" charset="0"/>
                <a:ea typeface="+mn-ea"/>
              </a:rPr>
              <a:t>ra</a:t>
            </a:r>
            <a:r>
              <a:rPr kumimoji="0" lang="en-US" altLang="ko-KR" sz="1400" b="1" dirty="0">
                <a:latin typeface="arial" pitchFamily="34" charset="0"/>
                <a:ea typeface="+mn-ea"/>
              </a:rPr>
              <a:t> </a:t>
            </a:r>
            <a:r>
              <a:rPr kumimoji="0" lang="en-US" altLang="ko-KR" sz="1400" b="1" dirty="0" err="1">
                <a:latin typeface="arial" pitchFamily="34" charset="0"/>
                <a:ea typeface="+mn-ea"/>
              </a:rPr>
              <a:t>những</a:t>
            </a:r>
            <a:r>
              <a:rPr kumimoji="0" lang="en-US" altLang="ko-KR" sz="1400" b="1" dirty="0">
                <a:latin typeface="arial" pitchFamily="34" charset="0"/>
                <a:ea typeface="+mn-ea"/>
              </a:rPr>
              <a:t> </a:t>
            </a:r>
            <a:r>
              <a:rPr kumimoji="0" lang="en-US" altLang="ko-KR" sz="1400" b="1" dirty="0" err="1">
                <a:latin typeface="arial" pitchFamily="34" charset="0"/>
                <a:ea typeface="+mn-ea"/>
              </a:rPr>
              <a:t>sự</a:t>
            </a:r>
            <a:r>
              <a:rPr kumimoji="0" lang="en-US" altLang="ko-KR" sz="1400" b="1" dirty="0">
                <a:latin typeface="arial" pitchFamily="34" charset="0"/>
                <a:ea typeface="+mn-ea"/>
              </a:rPr>
              <a:t> </a:t>
            </a:r>
            <a:r>
              <a:rPr kumimoji="0" lang="en-US" altLang="ko-KR" sz="1400" b="1" dirty="0" err="1">
                <a:latin typeface="arial" pitchFamily="34" charset="0"/>
                <a:ea typeface="+mn-ea"/>
              </a:rPr>
              <a:t>biến</a:t>
            </a:r>
            <a:r>
              <a:rPr kumimoji="0" lang="en-US" altLang="ko-KR" sz="1400" b="1" dirty="0">
                <a:latin typeface="arial" pitchFamily="34" charset="0"/>
                <a:ea typeface="+mn-ea"/>
              </a:rPr>
              <a:t> </a:t>
            </a:r>
            <a:r>
              <a:rPr kumimoji="0" lang="en-US" altLang="ko-KR" sz="1400" b="1" dirty="0" err="1">
                <a:latin typeface="arial" pitchFamily="34" charset="0"/>
                <a:ea typeface="+mn-ea"/>
              </a:rPr>
              <a:t>động</a:t>
            </a:r>
            <a:r>
              <a:rPr kumimoji="0" lang="en-US" altLang="ko-KR" sz="1400" b="1" dirty="0">
                <a:latin typeface="arial" pitchFamily="34" charset="0"/>
                <a:ea typeface="+mn-ea"/>
              </a:rPr>
              <a:t> </a:t>
            </a:r>
            <a:r>
              <a:rPr kumimoji="0" lang="en-US" altLang="ko-KR" sz="1400" b="1" dirty="0" err="1">
                <a:latin typeface="arial" pitchFamily="34" charset="0"/>
                <a:ea typeface="+mn-ea"/>
              </a:rPr>
              <a:t>không</a:t>
            </a:r>
            <a:r>
              <a:rPr kumimoji="0" lang="en-US" altLang="ko-KR" sz="1400" b="1" dirty="0">
                <a:latin typeface="arial" pitchFamily="34" charset="0"/>
                <a:ea typeface="+mn-ea"/>
              </a:rPr>
              <a:t> </a:t>
            </a:r>
            <a:r>
              <a:rPr kumimoji="0" lang="en-US" altLang="ko-KR" sz="1400" b="1" dirty="0" err="1">
                <a:latin typeface="arial" pitchFamily="34" charset="0"/>
                <a:ea typeface="+mn-ea"/>
              </a:rPr>
              <a:t>thể</a:t>
            </a:r>
            <a:r>
              <a:rPr kumimoji="0" lang="en-US" altLang="ko-KR" sz="1400" b="1" dirty="0">
                <a:latin typeface="arial" pitchFamily="34" charset="0"/>
                <a:ea typeface="+mn-ea"/>
              </a:rPr>
              <a:t> </a:t>
            </a:r>
            <a:r>
              <a:rPr kumimoji="0" lang="en-US" altLang="ko-KR" sz="1400" b="1" dirty="0" err="1">
                <a:latin typeface="arial" pitchFamily="34" charset="0"/>
                <a:ea typeface="+mn-ea"/>
              </a:rPr>
              <a:t>tránh</a:t>
            </a:r>
            <a:r>
              <a:rPr kumimoji="0" lang="en-US" altLang="ko-KR" sz="1400" b="1" dirty="0">
                <a:latin typeface="arial" pitchFamily="34" charset="0"/>
                <a:ea typeface="+mn-ea"/>
              </a:rPr>
              <a:t> </a:t>
            </a:r>
            <a:r>
              <a:rPr kumimoji="0" lang="en-US" altLang="ko-KR" sz="1400" b="1" dirty="0" err="1">
                <a:latin typeface="arial" pitchFamily="34" charset="0"/>
                <a:ea typeface="+mn-ea"/>
              </a:rPr>
              <a:t>khỏi</a:t>
            </a:r>
            <a:r>
              <a:rPr kumimoji="0" lang="en-US" altLang="ko-KR" sz="1400" b="1" dirty="0">
                <a:latin typeface="arial" pitchFamily="34" charset="0"/>
                <a:ea typeface="+mn-ea"/>
              </a:rPr>
              <a:t> </a:t>
            </a:r>
            <a:r>
              <a:rPr kumimoji="0" lang="en-US" altLang="ko-KR" sz="1400" b="1" dirty="0" err="1">
                <a:latin typeface="arial" pitchFamily="34" charset="0"/>
                <a:ea typeface="+mn-ea"/>
              </a:rPr>
              <a:t>trong</a:t>
            </a:r>
            <a:r>
              <a:rPr kumimoji="0" lang="en-US" altLang="ko-KR" sz="1400" b="1" dirty="0">
                <a:latin typeface="arial" pitchFamily="34" charset="0"/>
                <a:ea typeface="+mn-ea"/>
              </a:rPr>
              <a:t> </a:t>
            </a:r>
            <a:r>
              <a:rPr kumimoji="0" lang="en-US" altLang="ko-KR" sz="1400" b="1" dirty="0" err="1">
                <a:latin typeface="arial" pitchFamily="34" charset="0"/>
                <a:ea typeface="+mn-ea"/>
              </a:rPr>
              <a:t>quá</a:t>
            </a:r>
            <a:r>
              <a:rPr kumimoji="0" lang="en-US" altLang="ko-KR" sz="1400" b="1" dirty="0">
                <a:latin typeface="arial" pitchFamily="34" charset="0"/>
                <a:ea typeface="+mn-ea"/>
              </a:rPr>
              <a:t> </a:t>
            </a:r>
            <a:r>
              <a:rPr kumimoji="0" lang="en-US" altLang="ko-KR" sz="1400" b="1" dirty="0" err="1">
                <a:latin typeface="arial" pitchFamily="34" charset="0"/>
                <a:ea typeface="+mn-ea"/>
              </a:rPr>
              <a:t>trình</a:t>
            </a:r>
            <a:r>
              <a:rPr kumimoji="0" lang="en-US" altLang="ko-KR" sz="1400" b="1" dirty="0">
                <a:latin typeface="arial" pitchFamily="34" charset="0"/>
                <a:ea typeface="+mn-ea"/>
              </a:rPr>
              <a:t> </a:t>
            </a:r>
            <a:r>
              <a:rPr kumimoji="0" lang="en-US" altLang="ko-KR" sz="1400" b="1" dirty="0" err="1">
                <a:latin typeface="arial" pitchFamily="34" charset="0"/>
                <a:ea typeface="+mn-ea"/>
              </a:rPr>
              <a:t>sản</a:t>
            </a:r>
            <a:r>
              <a:rPr kumimoji="0" lang="en-US" altLang="ko-KR" sz="1400" b="1" dirty="0">
                <a:latin typeface="arial" pitchFamily="34" charset="0"/>
                <a:ea typeface="+mn-ea"/>
              </a:rPr>
              <a:t> </a:t>
            </a:r>
            <a:r>
              <a:rPr kumimoji="0" lang="en-US" altLang="ko-KR" sz="1400" b="1" dirty="0" err="1">
                <a:latin typeface="arial" pitchFamily="34" charset="0"/>
                <a:ea typeface="+mn-ea"/>
              </a:rPr>
              <a:t>xuất</a:t>
            </a:r>
            <a:r>
              <a:rPr kumimoji="0" lang="en-US" altLang="ko-KR" sz="1400" b="1" dirty="0">
                <a:latin typeface="arial" pitchFamily="34" charset="0"/>
                <a:ea typeface="+mn-ea"/>
              </a:rPr>
              <a:t> </a:t>
            </a:r>
            <a:r>
              <a:rPr kumimoji="0" lang="en-US" altLang="ko-KR" sz="1400" b="1" dirty="0" err="1">
                <a:latin typeface="arial" pitchFamily="34" charset="0"/>
                <a:ea typeface="+mn-ea"/>
              </a:rPr>
              <a:t>dù</a:t>
            </a:r>
            <a:r>
              <a:rPr kumimoji="0" lang="en-US" altLang="ko-KR" sz="1400" b="1" dirty="0">
                <a:latin typeface="arial" pitchFamily="34" charset="0"/>
                <a:ea typeface="+mn-ea"/>
              </a:rPr>
              <a:t> </a:t>
            </a:r>
            <a:r>
              <a:rPr kumimoji="0" lang="en-US" altLang="ko-KR" sz="1400" b="1" dirty="0" err="1">
                <a:latin typeface="arial" pitchFamily="34" charset="0"/>
                <a:ea typeface="+mn-ea"/>
              </a:rPr>
              <a:t>có</a:t>
            </a:r>
            <a:r>
              <a:rPr kumimoji="0" lang="en-US" altLang="ko-KR" sz="1400" b="1" dirty="0">
                <a:latin typeface="arial" pitchFamily="34" charset="0"/>
                <a:ea typeface="+mn-ea"/>
              </a:rPr>
              <a:t> </a:t>
            </a:r>
            <a:r>
              <a:rPr kumimoji="0" lang="en-US" altLang="ko-KR" sz="1400" b="1" dirty="0" err="1">
                <a:latin typeface="arial" pitchFamily="34" charset="0"/>
                <a:ea typeface="+mn-ea"/>
              </a:rPr>
              <a:t>được</a:t>
            </a:r>
            <a:r>
              <a:rPr kumimoji="0" lang="en-US" altLang="ko-KR" sz="1400" b="1" dirty="0">
                <a:latin typeface="arial" pitchFamily="34" charset="0"/>
                <a:ea typeface="+mn-ea"/>
              </a:rPr>
              <a:t> </a:t>
            </a:r>
            <a:r>
              <a:rPr kumimoji="0" lang="en-US" altLang="ko-KR" sz="1400" b="1" dirty="0" err="1">
                <a:latin typeface="arial" pitchFamily="34" charset="0"/>
                <a:ea typeface="+mn-ea"/>
              </a:rPr>
              <a:t>kiểm</a:t>
            </a:r>
            <a:r>
              <a:rPr kumimoji="0" lang="en-US" altLang="ko-KR" sz="1400" b="1" dirty="0">
                <a:latin typeface="arial" pitchFamily="34" charset="0"/>
                <a:ea typeface="+mn-ea"/>
              </a:rPr>
              <a:t> </a:t>
            </a:r>
            <a:r>
              <a:rPr kumimoji="0" lang="en-US" altLang="ko-KR" sz="1400" b="1" dirty="0" err="1">
                <a:latin typeface="arial" pitchFamily="34" charset="0"/>
                <a:ea typeface="+mn-ea"/>
              </a:rPr>
              <a:t>soát</a:t>
            </a:r>
            <a:r>
              <a:rPr kumimoji="0" lang="en-US" altLang="ko-KR" sz="1400" b="1" dirty="0">
                <a:latin typeface="arial" pitchFamily="34" charset="0"/>
                <a:ea typeface="+mn-ea"/>
              </a:rPr>
              <a:t> </a:t>
            </a:r>
            <a:r>
              <a:rPr kumimoji="0" lang="en-US" altLang="ko-KR" sz="1400" b="1" dirty="0" err="1">
                <a:latin typeface="arial" pitchFamily="34" charset="0"/>
                <a:ea typeface="+mn-ea"/>
              </a:rPr>
              <a:t>chặt</a:t>
            </a:r>
            <a:r>
              <a:rPr kumimoji="0" lang="en-US" altLang="ko-KR" sz="1400" b="1" dirty="0">
                <a:latin typeface="arial" pitchFamily="34" charset="0"/>
                <a:ea typeface="+mn-ea"/>
              </a:rPr>
              <a:t> </a:t>
            </a:r>
            <a:r>
              <a:rPr kumimoji="0" lang="en-US" altLang="ko-KR" sz="1400" b="1" dirty="0" err="1">
                <a:latin typeface="arial" pitchFamily="34" charset="0"/>
                <a:ea typeface="+mn-ea"/>
              </a:rPr>
              <a:t>chẽ</a:t>
            </a:r>
            <a:r>
              <a:rPr kumimoji="0" lang="en-US" altLang="ko-KR" sz="1400" b="1" dirty="0">
                <a:latin typeface="arial" pitchFamily="34" charset="0"/>
                <a:ea typeface="+mn-ea"/>
              </a:rPr>
              <a:t> hay </a:t>
            </a:r>
            <a:r>
              <a:rPr kumimoji="0" lang="en-US" altLang="ko-KR" sz="1400" b="1" dirty="0" err="1">
                <a:latin typeface="arial" pitchFamily="34" charset="0"/>
                <a:ea typeface="+mn-ea"/>
              </a:rPr>
              <a:t>không</a:t>
            </a:r>
            <a:r>
              <a:rPr kumimoji="0" lang="en-US" altLang="ko-KR" sz="1400" b="1" dirty="0">
                <a:latin typeface="arial" pitchFamily="34" charset="0"/>
                <a:ea typeface="+mn-ea"/>
              </a:rPr>
              <a:t>.</a:t>
            </a:r>
          </a:p>
          <a:p>
            <a:pPr marL="0" indent="228600" eaLnBrk="0" latinLnBrk="0" hangingPunct="0">
              <a:defRPr/>
            </a:pPr>
            <a:r>
              <a:rPr kumimoji="0" lang="en-US" altLang="ko-KR" sz="1400" b="1" dirty="0" err="1">
                <a:latin typeface="arial" pitchFamily="34" charset="0"/>
                <a:ea typeface="+mn-ea"/>
              </a:rPr>
              <a:t>Nguyên</a:t>
            </a:r>
            <a:r>
              <a:rPr kumimoji="0" lang="en-US" altLang="ko-KR" sz="1400" b="1" dirty="0">
                <a:latin typeface="arial" pitchFamily="34" charset="0"/>
                <a:ea typeface="+mn-ea"/>
              </a:rPr>
              <a:t> </a:t>
            </a:r>
            <a:r>
              <a:rPr kumimoji="0" lang="en-US" altLang="ko-KR" sz="1400" b="1" dirty="0" err="1">
                <a:latin typeface="arial" pitchFamily="34" charset="0"/>
                <a:ea typeface="+mn-ea"/>
              </a:rPr>
              <a:t>nhân</a:t>
            </a:r>
            <a:r>
              <a:rPr kumimoji="0" lang="en-US" altLang="ko-KR" sz="1400" b="1" dirty="0">
                <a:latin typeface="arial" pitchFamily="34" charset="0"/>
                <a:ea typeface="+mn-ea"/>
              </a:rPr>
              <a:t> </a:t>
            </a:r>
            <a:r>
              <a:rPr kumimoji="0" lang="en-US" altLang="ko-KR" sz="1400" b="1" dirty="0" err="1">
                <a:latin typeface="arial" pitchFamily="34" charset="0"/>
                <a:ea typeface="+mn-ea"/>
              </a:rPr>
              <a:t>ngẫu</a:t>
            </a:r>
            <a:r>
              <a:rPr kumimoji="0" lang="en-US" altLang="ko-KR" sz="1400" b="1" dirty="0">
                <a:latin typeface="arial" pitchFamily="34" charset="0"/>
                <a:ea typeface="+mn-ea"/>
              </a:rPr>
              <a:t> </a:t>
            </a:r>
            <a:r>
              <a:rPr kumimoji="0" lang="en-US" altLang="ko-KR" sz="1400" b="1" dirty="0" err="1">
                <a:latin typeface="arial" pitchFamily="34" charset="0"/>
                <a:ea typeface="+mn-ea"/>
              </a:rPr>
              <a:t>nhiên</a:t>
            </a:r>
            <a:r>
              <a:rPr kumimoji="0" lang="en-US" altLang="ko-KR" sz="1400" b="1" dirty="0">
                <a:latin typeface="arial" pitchFamily="34" charset="0"/>
                <a:ea typeface="+mn-ea"/>
              </a:rPr>
              <a:t> </a:t>
            </a:r>
            <a:r>
              <a:rPr kumimoji="0" lang="en-US" altLang="ko-KR" sz="1400" b="1" dirty="0" err="1">
                <a:latin typeface="arial" pitchFamily="34" charset="0"/>
                <a:ea typeface="+mn-ea"/>
              </a:rPr>
              <a:t>có</a:t>
            </a:r>
            <a:r>
              <a:rPr kumimoji="0" lang="en-US" altLang="ko-KR" sz="1400" b="1" dirty="0">
                <a:latin typeface="arial" pitchFamily="34" charset="0"/>
                <a:ea typeface="+mn-ea"/>
              </a:rPr>
              <a:t> </a:t>
            </a:r>
            <a:r>
              <a:rPr kumimoji="0" lang="en-US" altLang="ko-KR" sz="1400" b="1" dirty="0" err="1">
                <a:latin typeface="arial" pitchFamily="34" charset="0"/>
                <a:ea typeface="+mn-ea"/>
              </a:rPr>
              <a:t>thể</a:t>
            </a:r>
            <a:r>
              <a:rPr kumimoji="0" lang="en-US" altLang="ko-KR" sz="1400" b="1" dirty="0">
                <a:latin typeface="arial" pitchFamily="34" charset="0"/>
                <a:ea typeface="+mn-ea"/>
              </a:rPr>
              <a:t> </a:t>
            </a:r>
            <a:r>
              <a:rPr kumimoji="0" lang="en-US" altLang="ko-KR" sz="1400" b="1" dirty="0" err="1">
                <a:latin typeface="arial" pitchFamily="34" charset="0"/>
                <a:ea typeface="+mn-ea"/>
              </a:rPr>
              <a:t>là</a:t>
            </a:r>
            <a:r>
              <a:rPr kumimoji="0" lang="en-US" altLang="ko-KR" sz="1400" b="1" dirty="0">
                <a:latin typeface="arial" pitchFamily="34" charset="0"/>
                <a:ea typeface="+mn-ea"/>
              </a:rPr>
              <a:t>:</a:t>
            </a:r>
          </a:p>
          <a:p>
            <a:pPr marL="0" indent="228600" eaLnBrk="0" latinLnBrk="0" hangingPunct="0">
              <a:defRPr/>
            </a:pPr>
            <a:endParaRPr kumimoji="0" lang="ko-KR" altLang="en-US" sz="1400" b="1" dirty="0">
              <a:latin typeface="arial" pitchFamily="34" charset="0"/>
              <a:ea typeface="+mn-ea"/>
            </a:endParaRPr>
          </a:p>
          <a:p>
            <a:pPr marL="0" indent="228600" eaLnBrk="0" latinLnBrk="0" hangingPunct="0">
              <a:buFontTx/>
              <a:buChar char="•"/>
              <a:defRPr/>
            </a:pPr>
            <a:r>
              <a:rPr kumimoji="0" lang="en-US" altLang="ko-KR" sz="1200" dirty="0" err="1">
                <a:latin typeface="arial" pitchFamily="34" charset="0"/>
                <a:ea typeface="+mn-ea"/>
              </a:rPr>
              <a:t>Sự</a:t>
            </a:r>
            <a:r>
              <a:rPr kumimoji="0" lang="en-US" altLang="ko-KR" sz="1200" dirty="0">
                <a:latin typeface="arial" pitchFamily="34" charset="0"/>
                <a:ea typeface="+mn-ea"/>
              </a:rPr>
              <a:t> </a:t>
            </a:r>
            <a:r>
              <a:rPr kumimoji="0" lang="en-US" altLang="ko-KR" sz="1200" dirty="0" err="1">
                <a:latin typeface="arial" pitchFamily="34" charset="0"/>
                <a:ea typeface="+mn-ea"/>
              </a:rPr>
              <a:t>khác</a:t>
            </a:r>
            <a:r>
              <a:rPr kumimoji="0" lang="en-US" altLang="ko-KR" sz="1200" dirty="0">
                <a:latin typeface="arial" pitchFamily="34" charset="0"/>
                <a:ea typeface="+mn-ea"/>
              </a:rPr>
              <a:t> </a:t>
            </a:r>
            <a:r>
              <a:rPr kumimoji="0" lang="en-US" altLang="ko-KR" sz="1200" dirty="0" err="1">
                <a:latin typeface="arial" pitchFamily="34" charset="0"/>
                <a:ea typeface="+mn-ea"/>
              </a:rPr>
              <a:t>biệt</a:t>
            </a:r>
            <a:r>
              <a:rPr kumimoji="0" lang="en-US" altLang="ko-KR" sz="1200" dirty="0">
                <a:latin typeface="arial" pitchFamily="34" charset="0"/>
                <a:ea typeface="+mn-ea"/>
              </a:rPr>
              <a:t> </a:t>
            </a:r>
            <a:r>
              <a:rPr kumimoji="0" lang="en-US" altLang="ko-KR" sz="1200" dirty="0" err="1">
                <a:latin typeface="arial" pitchFamily="34" charset="0"/>
                <a:ea typeface="+mn-ea"/>
              </a:rPr>
              <a:t>giữa</a:t>
            </a:r>
            <a:r>
              <a:rPr kumimoji="0" lang="en-US" altLang="ko-KR" sz="1200" dirty="0">
                <a:latin typeface="arial" pitchFamily="34" charset="0"/>
                <a:ea typeface="+mn-ea"/>
              </a:rPr>
              <a:t> </a:t>
            </a:r>
            <a:r>
              <a:rPr kumimoji="0" lang="en-US" altLang="ko-KR" sz="1200" dirty="0" err="1">
                <a:latin typeface="arial" pitchFamily="34" charset="0"/>
                <a:ea typeface="+mn-ea"/>
              </a:rPr>
              <a:t>tay</a:t>
            </a:r>
            <a:r>
              <a:rPr kumimoji="0" lang="en-US" altLang="ko-KR" sz="1200" dirty="0">
                <a:latin typeface="arial" pitchFamily="34" charset="0"/>
                <a:ea typeface="+mn-ea"/>
              </a:rPr>
              <a:t> </a:t>
            </a:r>
            <a:r>
              <a:rPr kumimoji="0" lang="en-US" altLang="ko-KR" sz="1200" dirty="0" err="1">
                <a:latin typeface="arial" pitchFamily="34" charset="0"/>
                <a:ea typeface="+mn-ea"/>
              </a:rPr>
              <a:t>nghê</a:t>
            </a:r>
            <a:r>
              <a:rPr kumimoji="0" lang="en-US" altLang="ko-KR" sz="1200" dirty="0">
                <a:latin typeface="arial" pitchFamily="34" charset="0"/>
                <a:ea typeface="+mn-ea"/>
              </a:rPr>
              <a:t> </a:t>
            </a:r>
            <a:r>
              <a:rPr kumimoji="0" lang="en-US" altLang="ko-KR" sz="1200" dirty="0" err="1">
                <a:latin typeface="arial" pitchFamily="34" charset="0"/>
                <a:ea typeface="+mn-ea"/>
              </a:rPr>
              <a:t>của</a:t>
            </a:r>
            <a:r>
              <a:rPr kumimoji="0" lang="en-US" altLang="ko-KR" sz="1200" dirty="0">
                <a:latin typeface="arial" pitchFamily="34" charset="0"/>
                <a:ea typeface="+mn-ea"/>
              </a:rPr>
              <a:t> </a:t>
            </a:r>
            <a:r>
              <a:rPr kumimoji="0" lang="en-US" altLang="ko-KR" sz="1200" dirty="0" err="1">
                <a:latin typeface="arial" pitchFamily="34" charset="0"/>
                <a:ea typeface="+mn-ea"/>
              </a:rPr>
              <a:t>mỗi</a:t>
            </a:r>
            <a:r>
              <a:rPr kumimoji="0" lang="en-US" altLang="ko-KR" sz="1200" dirty="0">
                <a:latin typeface="arial" pitchFamily="34" charset="0"/>
                <a:ea typeface="+mn-ea"/>
              </a:rPr>
              <a:t> </a:t>
            </a:r>
            <a:r>
              <a:rPr kumimoji="0" lang="en-US" altLang="ko-KR" sz="1200" dirty="0" err="1">
                <a:latin typeface="arial" pitchFamily="34" charset="0"/>
                <a:ea typeface="+mn-ea"/>
              </a:rPr>
              <a:t>công</a:t>
            </a:r>
            <a:r>
              <a:rPr kumimoji="0" lang="en-US" altLang="ko-KR" sz="1200" dirty="0">
                <a:latin typeface="arial" pitchFamily="34" charset="0"/>
                <a:ea typeface="+mn-ea"/>
              </a:rPr>
              <a:t> </a:t>
            </a:r>
            <a:r>
              <a:rPr kumimoji="0" lang="en-US" altLang="ko-KR" sz="1200" dirty="0" err="1">
                <a:latin typeface="arial" pitchFamily="34" charset="0"/>
                <a:ea typeface="+mn-ea"/>
              </a:rPr>
              <a:t>nhân</a:t>
            </a:r>
            <a:endParaRPr kumimoji="0" lang="ko-KR" altLang="en-US" sz="1200" dirty="0">
              <a:latin typeface="arial" pitchFamily="34" charset="0"/>
              <a:ea typeface="+mn-ea"/>
            </a:endParaRPr>
          </a:p>
          <a:p>
            <a:pPr marL="0" indent="228600" eaLnBrk="0" latinLnBrk="0" hangingPunct="0">
              <a:lnSpc>
                <a:spcPct val="130000"/>
              </a:lnSpc>
              <a:buFontTx/>
              <a:buChar char="•"/>
              <a:defRPr/>
            </a:pPr>
            <a:r>
              <a:rPr kumimoji="0" lang="en-US" altLang="ko-KR" sz="1200" dirty="0" err="1">
                <a:latin typeface="arial" pitchFamily="34" charset="0"/>
                <a:ea typeface="+mn-ea"/>
              </a:rPr>
              <a:t>Khác</a:t>
            </a:r>
            <a:r>
              <a:rPr kumimoji="0" lang="en-US" altLang="ko-KR" sz="1200" dirty="0">
                <a:latin typeface="arial" pitchFamily="34" charset="0"/>
                <a:ea typeface="+mn-ea"/>
              </a:rPr>
              <a:t> </a:t>
            </a:r>
            <a:r>
              <a:rPr kumimoji="0" lang="en-US" altLang="ko-KR" sz="1200" dirty="0" err="1">
                <a:latin typeface="arial" pitchFamily="34" charset="0"/>
                <a:ea typeface="+mn-ea"/>
              </a:rPr>
              <a:t>biệt</a:t>
            </a:r>
            <a:r>
              <a:rPr kumimoji="0" lang="en-US" altLang="ko-KR" sz="1200" dirty="0">
                <a:latin typeface="arial" pitchFamily="34" charset="0"/>
                <a:ea typeface="+mn-ea"/>
              </a:rPr>
              <a:t> </a:t>
            </a:r>
            <a:r>
              <a:rPr kumimoji="0" lang="en-US" altLang="ko-KR" sz="1200" dirty="0" err="1">
                <a:latin typeface="arial" pitchFamily="34" charset="0"/>
                <a:ea typeface="+mn-ea"/>
              </a:rPr>
              <a:t>trong</a:t>
            </a:r>
            <a:r>
              <a:rPr kumimoji="0" lang="en-US" altLang="ko-KR" sz="1200" dirty="0">
                <a:latin typeface="arial" pitchFamily="34" charset="0"/>
                <a:ea typeface="+mn-ea"/>
              </a:rPr>
              <a:t> </a:t>
            </a:r>
            <a:r>
              <a:rPr kumimoji="0" lang="en-US" altLang="ko-KR" sz="1200" dirty="0" err="1">
                <a:latin typeface="arial" pitchFamily="34" charset="0"/>
                <a:ea typeface="+mn-ea"/>
              </a:rPr>
              <a:t>môi</a:t>
            </a:r>
            <a:r>
              <a:rPr kumimoji="0" lang="en-US" altLang="ko-KR" sz="1200" dirty="0">
                <a:latin typeface="arial" pitchFamily="34" charset="0"/>
                <a:ea typeface="+mn-ea"/>
              </a:rPr>
              <a:t> </a:t>
            </a:r>
            <a:r>
              <a:rPr kumimoji="0" lang="en-US" altLang="ko-KR" sz="1200" dirty="0" err="1">
                <a:latin typeface="arial" pitchFamily="34" charset="0"/>
                <a:ea typeface="+mn-ea"/>
              </a:rPr>
              <a:t>trường</a:t>
            </a:r>
            <a:r>
              <a:rPr kumimoji="0" lang="en-US" altLang="ko-KR" sz="1200" dirty="0">
                <a:latin typeface="arial" pitchFamily="34" charset="0"/>
                <a:ea typeface="+mn-ea"/>
              </a:rPr>
              <a:t> </a:t>
            </a:r>
            <a:r>
              <a:rPr kumimoji="0" lang="en-US" altLang="ko-KR" sz="1200" dirty="0" err="1">
                <a:latin typeface="arial" pitchFamily="34" charset="0"/>
                <a:ea typeface="+mn-ea"/>
              </a:rPr>
              <a:t>làm</a:t>
            </a:r>
            <a:r>
              <a:rPr kumimoji="0" lang="en-US" altLang="ko-KR" sz="1200" dirty="0">
                <a:latin typeface="arial" pitchFamily="34" charset="0"/>
                <a:ea typeface="+mn-ea"/>
              </a:rPr>
              <a:t> </a:t>
            </a:r>
            <a:r>
              <a:rPr kumimoji="0" lang="en-US" altLang="ko-KR" sz="1200" dirty="0" err="1">
                <a:latin typeface="arial" pitchFamily="34" charset="0"/>
                <a:ea typeface="+mn-ea"/>
              </a:rPr>
              <a:t>việc</a:t>
            </a:r>
            <a:endParaRPr kumimoji="0" lang="ko-KR" altLang="en-US" sz="1200" dirty="0">
              <a:latin typeface="arial" pitchFamily="34" charset="0"/>
              <a:ea typeface="+mn-ea"/>
            </a:endParaRPr>
          </a:p>
          <a:p>
            <a:pPr marL="0" indent="228600" eaLnBrk="0" latinLnBrk="0" hangingPunct="0">
              <a:lnSpc>
                <a:spcPct val="130000"/>
              </a:lnSpc>
              <a:buFontTx/>
              <a:buChar char="•"/>
              <a:defRPr/>
            </a:pPr>
            <a:r>
              <a:rPr kumimoji="0" lang="en-US" altLang="ko-KR" sz="1200" dirty="0" err="1">
                <a:latin typeface="arial" pitchFamily="34" charset="0"/>
                <a:ea typeface="+mn-ea"/>
              </a:rPr>
              <a:t>Sự</a:t>
            </a:r>
            <a:r>
              <a:rPr kumimoji="0" lang="en-US" altLang="ko-KR" sz="1200" dirty="0">
                <a:latin typeface="arial" pitchFamily="34" charset="0"/>
                <a:ea typeface="+mn-ea"/>
              </a:rPr>
              <a:t> </a:t>
            </a:r>
            <a:r>
              <a:rPr kumimoji="0" lang="en-US" altLang="ko-KR" sz="1200" dirty="0" err="1">
                <a:latin typeface="arial" pitchFamily="34" charset="0"/>
                <a:ea typeface="+mn-ea"/>
              </a:rPr>
              <a:t>sai</a:t>
            </a:r>
            <a:r>
              <a:rPr kumimoji="0" lang="en-US" altLang="ko-KR" sz="1200" dirty="0">
                <a:latin typeface="arial" pitchFamily="34" charset="0"/>
                <a:ea typeface="+mn-ea"/>
              </a:rPr>
              <a:t> </a:t>
            </a:r>
            <a:r>
              <a:rPr kumimoji="0" lang="en-US" altLang="ko-KR" sz="1200" dirty="0" err="1">
                <a:latin typeface="arial" pitchFamily="34" charset="0"/>
                <a:ea typeface="+mn-ea"/>
              </a:rPr>
              <a:t>khác</a:t>
            </a:r>
            <a:r>
              <a:rPr kumimoji="0" lang="en-US" altLang="ko-KR" sz="1200" dirty="0">
                <a:latin typeface="arial" pitchFamily="34" charset="0"/>
                <a:ea typeface="+mn-ea"/>
              </a:rPr>
              <a:t> </a:t>
            </a:r>
            <a:r>
              <a:rPr kumimoji="0" lang="en-US" altLang="ko-KR" sz="1200" dirty="0" err="1">
                <a:latin typeface="arial" pitchFamily="34" charset="0"/>
                <a:ea typeface="+mn-ea"/>
              </a:rPr>
              <a:t>nhỏ</a:t>
            </a:r>
            <a:r>
              <a:rPr kumimoji="0" lang="en-US" altLang="ko-KR" sz="1200" dirty="0">
                <a:latin typeface="arial" pitchFamily="34" charset="0"/>
                <a:ea typeface="+mn-ea"/>
              </a:rPr>
              <a:t> </a:t>
            </a:r>
            <a:r>
              <a:rPr kumimoji="0" lang="en-US" altLang="ko-KR" sz="1200" dirty="0" err="1">
                <a:latin typeface="arial" pitchFamily="34" charset="0"/>
                <a:ea typeface="+mn-ea"/>
              </a:rPr>
              <a:t>giữa</a:t>
            </a:r>
            <a:r>
              <a:rPr kumimoji="0" lang="en-US" altLang="ko-KR" sz="1200" dirty="0">
                <a:latin typeface="arial" pitchFamily="34" charset="0"/>
                <a:ea typeface="+mn-ea"/>
              </a:rPr>
              <a:t> </a:t>
            </a:r>
            <a:r>
              <a:rPr kumimoji="0" lang="en-US" altLang="ko-KR" sz="1200" dirty="0" err="1">
                <a:latin typeface="arial" pitchFamily="34" charset="0"/>
                <a:ea typeface="+mn-ea"/>
              </a:rPr>
              <a:t>các</a:t>
            </a:r>
            <a:r>
              <a:rPr kumimoji="0" lang="en-US" altLang="ko-KR" sz="1200" dirty="0">
                <a:latin typeface="arial" pitchFamily="34" charset="0"/>
                <a:ea typeface="+mn-ea"/>
              </a:rPr>
              <a:t> </a:t>
            </a:r>
            <a:r>
              <a:rPr kumimoji="0" lang="en-US" altLang="ko-KR" sz="1200" dirty="0" err="1">
                <a:latin typeface="arial" pitchFamily="34" charset="0"/>
                <a:ea typeface="+mn-ea"/>
              </a:rPr>
              <a:t>linh</a:t>
            </a:r>
            <a:r>
              <a:rPr kumimoji="0" lang="en-US" altLang="ko-KR" sz="1200" dirty="0">
                <a:latin typeface="arial" pitchFamily="34" charset="0"/>
                <a:ea typeface="+mn-ea"/>
              </a:rPr>
              <a:t> </a:t>
            </a:r>
            <a:r>
              <a:rPr kumimoji="0" lang="en-US" altLang="ko-KR" sz="1200" dirty="0" err="1">
                <a:latin typeface="arial" pitchFamily="34" charset="0"/>
                <a:ea typeface="+mn-ea"/>
              </a:rPr>
              <a:t>kiện</a:t>
            </a:r>
            <a:endParaRPr kumimoji="0" lang="en-US" altLang="ko-KR" sz="1200" dirty="0">
              <a:latin typeface="arial" pitchFamily="34" charset="0"/>
              <a:ea typeface="+mn-ea"/>
            </a:endParaRPr>
          </a:p>
          <a:p>
            <a:pPr marL="0" indent="228600" eaLnBrk="0" latinLnBrk="0" hangingPunct="0">
              <a:lnSpc>
                <a:spcPct val="130000"/>
              </a:lnSpc>
              <a:buFontTx/>
              <a:buChar char="•"/>
              <a:defRPr/>
            </a:pPr>
            <a:r>
              <a:rPr kumimoji="0" lang="en-US" altLang="ko-KR" sz="1200" dirty="0" err="1">
                <a:latin typeface="arial" pitchFamily="34" charset="0"/>
                <a:ea typeface="+mn-ea"/>
              </a:rPr>
              <a:t>Khác</a:t>
            </a:r>
            <a:r>
              <a:rPr kumimoji="0" lang="en-US" altLang="ko-KR" sz="1200" dirty="0">
                <a:latin typeface="arial" pitchFamily="34" charset="0"/>
                <a:ea typeface="+mn-ea"/>
              </a:rPr>
              <a:t> </a:t>
            </a:r>
            <a:r>
              <a:rPr kumimoji="0" lang="en-US" altLang="ko-KR" sz="1200" dirty="0" err="1">
                <a:latin typeface="arial" pitchFamily="34" charset="0"/>
                <a:ea typeface="+mn-ea"/>
              </a:rPr>
              <a:t>biệt</a:t>
            </a:r>
            <a:r>
              <a:rPr kumimoji="0" lang="en-US" altLang="ko-KR" sz="1200" dirty="0">
                <a:latin typeface="arial" pitchFamily="34" charset="0"/>
                <a:ea typeface="+mn-ea"/>
              </a:rPr>
              <a:t> </a:t>
            </a:r>
            <a:r>
              <a:rPr kumimoji="0" lang="en-US" altLang="ko-KR" sz="1200" dirty="0" err="1">
                <a:latin typeface="arial" pitchFamily="34" charset="0"/>
                <a:ea typeface="+mn-ea"/>
              </a:rPr>
              <a:t>trong</a:t>
            </a:r>
            <a:r>
              <a:rPr kumimoji="0" lang="en-US" altLang="ko-KR" sz="1200" dirty="0">
                <a:latin typeface="arial" pitchFamily="34" charset="0"/>
                <a:ea typeface="+mn-ea"/>
              </a:rPr>
              <a:t> </a:t>
            </a:r>
            <a:r>
              <a:rPr kumimoji="0" lang="en-US" altLang="ko-KR" sz="1200" dirty="0" err="1">
                <a:latin typeface="arial" pitchFamily="34" charset="0"/>
                <a:ea typeface="+mn-ea"/>
              </a:rPr>
              <a:t>sản</a:t>
            </a:r>
            <a:r>
              <a:rPr kumimoji="0" lang="en-US" altLang="ko-KR" sz="1200" dirty="0">
                <a:latin typeface="arial" pitchFamily="34" charset="0"/>
                <a:ea typeface="+mn-ea"/>
              </a:rPr>
              <a:t> </a:t>
            </a:r>
            <a:r>
              <a:rPr kumimoji="0" lang="en-US" altLang="ko-KR" sz="1200" dirty="0" err="1">
                <a:latin typeface="arial" pitchFamily="34" charset="0"/>
                <a:ea typeface="+mn-ea"/>
              </a:rPr>
              <a:t>xuất</a:t>
            </a:r>
            <a:r>
              <a:rPr kumimoji="0" lang="en-US" altLang="ko-KR" sz="1200" dirty="0">
                <a:latin typeface="arial" pitchFamily="34" charset="0"/>
                <a:ea typeface="+mn-ea"/>
              </a:rPr>
              <a:t> </a:t>
            </a:r>
            <a:r>
              <a:rPr kumimoji="0" lang="en-US" altLang="ko-KR" sz="1200" dirty="0" err="1">
                <a:latin typeface="arial" pitchFamily="34" charset="0"/>
                <a:ea typeface="+mn-ea"/>
              </a:rPr>
              <a:t>những</a:t>
            </a:r>
            <a:r>
              <a:rPr kumimoji="0" lang="en-US" altLang="ko-KR" sz="1200" dirty="0">
                <a:latin typeface="arial" pitchFamily="34" charset="0"/>
                <a:ea typeface="+mn-ea"/>
              </a:rPr>
              <a:t> </a:t>
            </a:r>
            <a:r>
              <a:rPr kumimoji="0" lang="en-US" altLang="ko-KR" sz="1200" dirty="0" err="1">
                <a:latin typeface="arial" pitchFamily="34" charset="0"/>
                <a:ea typeface="+mn-ea"/>
              </a:rPr>
              <a:t>thiết</a:t>
            </a:r>
            <a:r>
              <a:rPr kumimoji="0" lang="en-US" altLang="ko-KR" sz="1200" dirty="0">
                <a:latin typeface="arial" pitchFamily="34" charset="0"/>
                <a:ea typeface="+mn-ea"/>
              </a:rPr>
              <a:t> </a:t>
            </a:r>
            <a:r>
              <a:rPr kumimoji="0" lang="en-US" altLang="ko-KR" sz="1200" dirty="0" err="1">
                <a:latin typeface="arial" pitchFamily="34" charset="0"/>
                <a:ea typeface="+mn-ea"/>
              </a:rPr>
              <a:t>bị</a:t>
            </a:r>
            <a:r>
              <a:rPr kumimoji="0" lang="en-US" altLang="ko-KR" sz="1200" dirty="0">
                <a:latin typeface="arial" pitchFamily="34" charset="0"/>
                <a:ea typeface="+mn-ea"/>
              </a:rPr>
              <a:t> </a:t>
            </a:r>
            <a:r>
              <a:rPr kumimoji="0" lang="en-US" altLang="ko-KR" sz="1200" dirty="0" err="1">
                <a:latin typeface="arial" pitchFamily="34" charset="0"/>
                <a:ea typeface="+mn-ea"/>
              </a:rPr>
              <a:t>cùng</a:t>
            </a:r>
            <a:r>
              <a:rPr kumimoji="0" lang="en-US" altLang="ko-KR" sz="1200" dirty="0">
                <a:latin typeface="arial" pitchFamily="34" charset="0"/>
                <a:ea typeface="+mn-ea"/>
              </a:rPr>
              <a:t> </a:t>
            </a:r>
            <a:r>
              <a:rPr kumimoji="0" lang="en-US" altLang="ko-KR" sz="1200" dirty="0" err="1">
                <a:latin typeface="arial" pitchFamily="34" charset="0"/>
                <a:ea typeface="+mn-ea"/>
              </a:rPr>
              <a:t>loại</a:t>
            </a:r>
            <a:endParaRPr kumimoji="0" lang="en-US" altLang="ko-KR" sz="1200" dirty="0">
              <a:latin typeface="arial" pitchFamily="34" charset="0"/>
              <a:ea typeface="+mn-ea"/>
            </a:endParaRPr>
          </a:p>
          <a:p>
            <a:pPr marL="0" indent="228600" eaLnBrk="0" latinLnBrk="0" hangingPunct="0">
              <a:lnSpc>
                <a:spcPct val="130000"/>
              </a:lnSpc>
              <a:buFontTx/>
              <a:buChar char="•"/>
              <a:defRPr/>
            </a:pPr>
            <a:r>
              <a:rPr kumimoji="0" lang="en-US" altLang="ko-KR" sz="1200" dirty="0" err="1">
                <a:latin typeface="arial" pitchFamily="34" charset="0"/>
                <a:ea typeface="+mn-ea"/>
              </a:rPr>
              <a:t>Khác</a:t>
            </a:r>
            <a:r>
              <a:rPr kumimoji="0" lang="en-US" altLang="ko-KR" sz="1200" dirty="0">
                <a:latin typeface="arial" pitchFamily="34" charset="0"/>
                <a:ea typeface="+mn-ea"/>
              </a:rPr>
              <a:t> </a:t>
            </a:r>
            <a:r>
              <a:rPr kumimoji="0" lang="en-US" altLang="ko-KR" sz="1200" dirty="0" err="1">
                <a:latin typeface="arial" pitchFamily="34" charset="0"/>
                <a:ea typeface="+mn-ea"/>
              </a:rPr>
              <a:t>biệt</a:t>
            </a:r>
            <a:r>
              <a:rPr kumimoji="0" lang="en-US" altLang="ko-KR" sz="1200" dirty="0">
                <a:latin typeface="arial" pitchFamily="34" charset="0"/>
                <a:ea typeface="+mn-ea"/>
              </a:rPr>
              <a:t> </a:t>
            </a:r>
            <a:r>
              <a:rPr kumimoji="0" lang="en-US" altLang="ko-KR" sz="1200" dirty="0" err="1">
                <a:latin typeface="arial" pitchFamily="34" charset="0"/>
                <a:ea typeface="+mn-ea"/>
              </a:rPr>
              <a:t>về</a:t>
            </a:r>
            <a:r>
              <a:rPr kumimoji="0" lang="en-US" altLang="ko-KR" sz="1200" dirty="0">
                <a:latin typeface="arial" pitchFamily="34" charset="0"/>
                <a:ea typeface="+mn-ea"/>
              </a:rPr>
              <a:t> </a:t>
            </a:r>
            <a:r>
              <a:rPr kumimoji="0" lang="en-US" altLang="ko-KR" sz="1200" dirty="0" err="1">
                <a:latin typeface="arial" pitchFamily="34" charset="0"/>
                <a:ea typeface="+mn-ea"/>
              </a:rPr>
              <a:t>khí</a:t>
            </a:r>
            <a:r>
              <a:rPr kumimoji="0" lang="en-US" altLang="ko-KR" sz="1200" dirty="0">
                <a:latin typeface="arial" pitchFamily="34" charset="0"/>
                <a:ea typeface="+mn-ea"/>
              </a:rPr>
              <a:t> </a:t>
            </a:r>
            <a:r>
              <a:rPr kumimoji="0" lang="en-US" altLang="ko-KR" sz="1200" dirty="0" err="1">
                <a:latin typeface="arial" pitchFamily="34" charset="0"/>
                <a:ea typeface="+mn-ea"/>
              </a:rPr>
              <a:t>hậu</a:t>
            </a:r>
            <a:r>
              <a:rPr kumimoji="0" lang="en-US" altLang="ko-KR" sz="1200" dirty="0">
                <a:latin typeface="arial" pitchFamily="34" charset="0"/>
                <a:ea typeface="+mn-ea"/>
              </a:rPr>
              <a:t>, </a:t>
            </a:r>
            <a:r>
              <a:rPr kumimoji="0" lang="en-US" altLang="ko-KR" sz="1200" dirty="0" err="1">
                <a:latin typeface="arial" pitchFamily="34" charset="0"/>
                <a:ea typeface="+mn-ea"/>
              </a:rPr>
              <a:t>độ</a:t>
            </a:r>
            <a:r>
              <a:rPr kumimoji="0" lang="en-US" altLang="ko-KR" sz="1200" dirty="0">
                <a:latin typeface="arial" pitchFamily="34" charset="0"/>
                <a:ea typeface="+mn-ea"/>
              </a:rPr>
              <a:t> </a:t>
            </a:r>
            <a:r>
              <a:rPr kumimoji="0" lang="en-US" altLang="ko-KR" sz="1200" dirty="0" err="1">
                <a:latin typeface="arial" pitchFamily="34" charset="0"/>
                <a:ea typeface="+mn-ea"/>
              </a:rPr>
              <a:t>ẩm</a:t>
            </a:r>
            <a:r>
              <a:rPr kumimoji="0" lang="en-US" altLang="ko-KR" sz="1200" dirty="0">
                <a:latin typeface="arial" pitchFamily="34" charset="0"/>
                <a:ea typeface="+mn-ea"/>
              </a:rPr>
              <a:t>, </a:t>
            </a:r>
            <a:r>
              <a:rPr kumimoji="0" lang="en-US" altLang="ko-KR" sz="1200" dirty="0" err="1">
                <a:latin typeface="arial" pitchFamily="34" charset="0"/>
                <a:ea typeface="+mn-ea"/>
              </a:rPr>
              <a:t>nhiệt</a:t>
            </a:r>
            <a:r>
              <a:rPr kumimoji="0" lang="en-US" altLang="ko-KR" sz="1200" dirty="0">
                <a:latin typeface="arial" pitchFamily="34" charset="0"/>
                <a:ea typeface="+mn-ea"/>
              </a:rPr>
              <a:t> </a:t>
            </a:r>
            <a:r>
              <a:rPr kumimoji="0" lang="en-US" altLang="ko-KR" sz="1200" dirty="0" err="1">
                <a:latin typeface="arial" pitchFamily="34" charset="0"/>
                <a:ea typeface="+mn-ea"/>
              </a:rPr>
              <a:t>độ</a:t>
            </a:r>
            <a:r>
              <a:rPr kumimoji="0" lang="en-US" altLang="ko-KR" sz="1200" dirty="0">
                <a:latin typeface="arial" pitchFamily="34" charset="0"/>
                <a:ea typeface="+mn-ea"/>
              </a:rPr>
              <a:t>, </a:t>
            </a:r>
            <a:r>
              <a:rPr kumimoji="0" lang="en-US" altLang="ko-KR" sz="1200" dirty="0" err="1">
                <a:latin typeface="arial" pitchFamily="34" charset="0"/>
                <a:ea typeface="+mn-ea"/>
              </a:rPr>
              <a:t>và</a:t>
            </a:r>
            <a:r>
              <a:rPr kumimoji="0" lang="en-US" altLang="ko-KR" sz="1200" dirty="0">
                <a:latin typeface="arial" pitchFamily="34" charset="0"/>
                <a:ea typeface="+mn-ea"/>
              </a:rPr>
              <a:t> </a:t>
            </a:r>
            <a:r>
              <a:rPr kumimoji="0" lang="en-US" altLang="ko-KR" sz="1200" dirty="0" err="1">
                <a:latin typeface="arial" pitchFamily="34" charset="0"/>
                <a:ea typeface="+mn-ea"/>
              </a:rPr>
              <a:t>thời</a:t>
            </a:r>
            <a:r>
              <a:rPr kumimoji="0" lang="en-US" altLang="ko-KR" sz="1200" dirty="0">
                <a:latin typeface="arial" pitchFamily="34" charset="0"/>
                <a:ea typeface="+mn-ea"/>
              </a:rPr>
              <a:t> </a:t>
            </a:r>
            <a:r>
              <a:rPr kumimoji="0" lang="en-US" altLang="ko-KR" sz="1200" dirty="0" err="1">
                <a:latin typeface="arial" pitchFamily="34" charset="0"/>
                <a:ea typeface="+mn-ea"/>
              </a:rPr>
              <a:t>gian</a:t>
            </a:r>
            <a:r>
              <a:rPr kumimoji="0" lang="en-US" altLang="ko-KR" sz="1200" dirty="0">
                <a:latin typeface="arial" pitchFamily="34" charset="0"/>
                <a:ea typeface="+mn-ea"/>
              </a:rPr>
              <a:t> </a:t>
            </a:r>
            <a:r>
              <a:rPr kumimoji="0" lang="en-US" altLang="ko-KR" sz="1200" dirty="0" err="1">
                <a:latin typeface="arial" pitchFamily="34" charset="0"/>
                <a:ea typeface="+mn-ea"/>
              </a:rPr>
              <a:t>làm</a:t>
            </a:r>
            <a:r>
              <a:rPr kumimoji="0" lang="en-US" altLang="ko-KR" sz="1200" dirty="0">
                <a:latin typeface="arial" pitchFamily="34" charset="0"/>
                <a:ea typeface="+mn-ea"/>
              </a:rPr>
              <a:t> </a:t>
            </a:r>
            <a:r>
              <a:rPr kumimoji="0" lang="en-US" altLang="ko-KR" sz="1200" dirty="0" err="1">
                <a:latin typeface="arial" pitchFamily="34" charset="0"/>
                <a:ea typeface="+mn-ea"/>
              </a:rPr>
              <a:t>việc</a:t>
            </a:r>
            <a:endParaRPr kumimoji="0" lang="en-US" altLang="ko-KR" sz="1200" dirty="0">
              <a:latin typeface="arial" pitchFamily="34" charset="0"/>
              <a:ea typeface="+mn-ea"/>
            </a:endParaRPr>
          </a:p>
          <a:p>
            <a:pPr marL="0" indent="228600" eaLnBrk="0" latinLnBrk="0" hangingPunct="0">
              <a:lnSpc>
                <a:spcPct val="130000"/>
              </a:lnSpc>
              <a:buFontTx/>
              <a:buChar char="•"/>
              <a:defRPr/>
            </a:pPr>
            <a:r>
              <a:rPr kumimoji="0" lang="en-US" altLang="ko-KR" sz="1200" dirty="0" err="1">
                <a:latin typeface="arial" pitchFamily="34" charset="0"/>
                <a:ea typeface="+mn-ea"/>
              </a:rPr>
              <a:t>Khác</a:t>
            </a:r>
            <a:r>
              <a:rPr kumimoji="0" lang="en-US" altLang="ko-KR" sz="1200" dirty="0">
                <a:latin typeface="arial" pitchFamily="34" charset="0"/>
                <a:ea typeface="+mn-ea"/>
              </a:rPr>
              <a:t> </a:t>
            </a:r>
            <a:r>
              <a:rPr kumimoji="0" lang="en-US" altLang="ko-KR" sz="1200" dirty="0" err="1">
                <a:latin typeface="arial" pitchFamily="34" charset="0"/>
                <a:ea typeface="+mn-ea"/>
              </a:rPr>
              <a:t>biệt</a:t>
            </a:r>
            <a:r>
              <a:rPr kumimoji="0" lang="en-US" altLang="ko-KR" sz="1200" dirty="0">
                <a:latin typeface="arial" pitchFamily="34" charset="0"/>
                <a:ea typeface="+mn-ea"/>
              </a:rPr>
              <a:t> do </a:t>
            </a:r>
            <a:r>
              <a:rPr kumimoji="0" lang="en-US" altLang="ko-KR" sz="1200" dirty="0" err="1">
                <a:latin typeface="arial" pitchFamily="34" charset="0"/>
                <a:ea typeface="+mn-ea"/>
              </a:rPr>
              <a:t>thay</a:t>
            </a:r>
            <a:r>
              <a:rPr kumimoji="0" lang="en-US" altLang="ko-KR" sz="1200" dirty="0">
                <a:latin typeface="arial" pitchFamily="34" charset="0"/>
                <a:ea typeface="+mn-ea"/>
              </a:rPr>
              <a:t> </a:t>
            </a:r>
            <a:r>
              <a:rPr kumimoji="0" lang="en-US" altLang="ko-KR" sz="1200" dirty="0" err="1">
                <a:latin typeface="arial" pitchFamily="34" charset="0"/>
                <a:ea typeface="+mn-ea"/>
              </a:rPr>
              <a:t>đổi</a:t>
            </a:r>
            <a:r>
              <a:rPr kumimoji="0" lang="en-US" altLang="ko-KR" sz="1200" dirty="0">
                <a:latin typeface="arial" pitchFamily="34" charset="0"/>
                <a:ea typeface="+mn-ea"/>
              </a:rPr>
              <a:t> </a:t>
            </a:r>
            <a:r>
              <a:rPr kumimoji="0" lang="en-US" altLang="ko-KR" sz="1200" dirty="0" err="1">
                <a:latin typeface="arial" pitchFamily="34" charset="0"/>
                <a:ea typeface="+mn-ea"/>
              </a:rPr>
              <a:t>môi</a:t>
            </a:r>
            <a:r>
              <a:rPr kumimoji="0" lang="en-US" altLang="ko-KR" sz="1200" dirty="0">
                <a:latin typeface="arial" pitchFamily="34" charset="0"/>
                <a:ea typeface="+mn-ea"/>
              </a:rPr>
              <a:t> </a:t>
            </a:r>
            <a:r>
              <a:rPr kumimoji="0" lang="en-US" altLang="ko-KR" sz="1200" dirty="0" err="1">
                <a:latin typeface="arial" pitchFamily="34" charset="0"/>
                <a:ea typeface="+mn-ea"/>
              </a:rPr>
              <a:t>trường</a:t>
            </a:r>
            <a:r>
              <a:rPr kumimoji="0" lang="en-US" altLang="ko-KR" sz="1200" dirty="0">
                <a:latin typeface="arial" pitchFamily="34" charset="0"/>
                <a:ea typeface="+mn-ea"/>
              </a:rPr>
              <a:t> </a:t>
            </a:r>
            <a:r>
              <a:rPr kumimoji="0" lang="en-US" altLang="ko-KR" sz="1200" dirty="0" err="1">
                <a:latin typeface="arial" pitchFamily="34" charset="0"/>
                <a:ea typeface="+mn-ea"/>
              </a:rPr>
              <a:t>làm</a:t>
            </a:r>
            <a:r>
              <a:rPr kumimoji="0" lang="en-US" altLang="ko-KR" sz="1200" dirty="0">
                <a:latin typeface="arial" pitchFamily="34" charset="0"/>
                <a:ea typeface="+mn-ea"/>
              </a:rPr>
              <a:t> </a:t>
            </a:r>
            <a:r>
              <a:rPr kumimoji="0" lang="en-US" altLang="ko-KR" sz="1200" dirty="0" err="1">
                <a:latin typeface="arial" pitchFamily="34" charset="0"/>
                <a:ea typeface="+mn-ea"/>
              </a:rPr>
              <a:t>việc</a:t>
            </a:r>
            <a:endParaRPr kumimoji="0" lang="en-US" altLang="ko-KR" sz="1200" dirty="0">
              <a:latin typeface="arial" pitchFamily="34" charset="0"/>
              <a:ea typeface="+mn-ea"/>
            </a:endParaRPr>
          </a:p>
          <a:p>
            <a:pPr marL="0" indent="228600" eaLnBrk="0" latinLnBrk="0" hangingPunct="0">
              <a:lnSpc>
                <a:spcPct val="130000"/>
              </a:lnSpc>
              <a:buFontTx/>
              <a:buChar char="•"/>
              <a:defRPr/>
            </a:pPr>
            <a:r>
              <a:rPr kumimoji="0" lang="en-US" altLang="ko-KR" sz="1200" dirty="0" err="1">
                <a:latin typeface="arial" pitchFamily="34" charset="0"/>
                <a:ea typeface="+mn-ea"/>
              </a:rPr>
              <a:t>Khác</a:t>
            </a:r>
            <a:r>
              <a:rPr kumimoji="0" lang="en-US" altLang="ko-KR" sz="1200" dirty="0">
                <a:latin typeface="arial" pitchFamily="34" charset="0"/>
                <a:ea typeface="+mn-ea"/>
              </a:rPr>
              <a:t> </a:t>
            </a:r>
            <a:r>
              <a:rPr kumimoji="0" lang="en-US" altLang="ko-KR" sz="1200" dirty="0" err="1">
                <a:latin typeface="arial" pitchFamily="34" charset="0"/>
                <a:ea typeface="+mn-ea"/>
              </a:rPr>
              <a:t>biệt</a:t>
            </a:r>
            <a:r>
              <a:rPr kumimoji="0" lang="en-US" altLang="ko-KR" sz="1200" dirty="0">
                <a:latin typeface="arial" pitchFamily="34" charset="0"/>
                <a:ea typeface="+mn-ea"/>
              </a:rPr>
              <a:t> do </a:t>
            </a:r>
            <a:r>
              <a:rPr kumimoji="0" lang="en-US" altLang="ko-KR" sz="1200" dirty="0" err="1">
                <a:latin typeface="arial" pitchFamily="34" charset="0"/>
                <a:ea typeface="+mn-ea"/>
              </a:rPr>
              <a:t>sai</a:t>
            </a:r>
            <a:r>
              <a:rPr kumimoji="0" lang="en-US" altLang="ko-KR" sz="1200" dirty="0">
                <a:latin typeface="arial" pitchFamily="34" charset="0"/>
                <a:ea typeface="+mn-ea"/>
              </a:rPr>
              <a:t> </a:t>
            </a:r>
            <a:r>
              <a:rPr kumimoji="0" lang="en-US" altLang="ko-KR" sz="1200" dirty="0" err="1">
                <a:latin typeface="arial" pitchFamily="34" charset="0"/>
                <a:ea typeface="+mn-ea"/>
              </a:rPr>
              <a:t>số</a:t>
            </a:r>
            <a:r>
              <a:rPr kumimoji="0" lang="en-US" altLang="ko-KR" sz="1200" dirty="0">
                <a:latin typeface="arial" pitchFamily="34" charset="0"/>
                <a:ea typeface="+mn-ea"/>
              </a:rPr>
              <a:t> </a:t>
            </a:r>
            <a:r>
              <a:rPr kumimoji="0" lang="en-US" altLang="ko-KR" sz="1200" dirty="0" err="1">
                <a:latin typeface="arial" pitchFamily="34" charset="0"/>
                <a:ea typeface="+mn-ea"/>
              </a:rPr>
              <a:t>trong</a:t>
            </a:r>
            <a:r>
              <a:rPr kumimoji="0" lang="en-US" altLang="ko-KR" sz="1200" dirty="0">
                <a:latin typeface="arial" pitchFamily="34" charset="0"/>
                <a:ea typeface="+mn-ea"/>
              </a:rPr>
              <a:t> </a:t>
            </a:r>
            <a:r>
              <a:rPr kumimoji="0" lang="en-US" altLang="ko-KR" sz="1200" dirty="0" err="1">
                <a:latin typeface="arial" pitchFamily="34" charset="0"/>
                <a:ea typeface="+mn-ea"/>
              </a:rPr>
              <a:t>quá</a:t>
            </a:r>
            <a:r>
              <a:rPr kumimoji="0" lang="en-US" altLang="ko-KR" sz="1200" dirty="0">
                <a:latin typeface="arial" pitchFamily="34" charset="0"/>
                <a:ea typeface="+mn-ea"/>
              </a:rPr>
              <a:t> </a:t>
            </a:r>
            <a:r>
              <a:rPr kumimoji="0" lang="en-US" altLang="ko-KR" sz="1200" dirty="0" err="1">
                <a:latin typeface="arial" pitchFamily="34" charset="0"/>
                <a:ea typeface="+mn-ea"/>
              </a:rPr>
              <a:t>trình</a:t>
            </a:r>
            <a:r>
              <a:rPr kumimoji="0" lang="en-US" altLang="ko-KR" sz="1200" dirty="0">
                <a:latin typeface="arial" pitchFamily="34" charset="0"/>
                <a:ea typeface="+mn-ea"/>
              </a:rPr>
              <a:t> </a:t>
            </a:r>
            <a:r>
              <a:rPr kumimoji="0" lang="en-US" altLang="ko-KR" sz="1200" dirty="0" err="1">
                <a:latin typeface="arial" pitchFamily="34" charset="0"/>
                <a:ea typeface="+mn-ea"/>
              </a:rPr>
              <a:t>sản</a:t>
            </a:r>
            <a:r>
              <a:rPr kumimoji="0" lang="en-US" altLang="ko-KR" sz="1200" dirty="0">
                <a:latin typeface="arial" pitchFamily="34" charset="0"/>
                <a:ea typeface="+mn-ea"/>
              </a:rPr>
              <a:t> </a:t>
            </a:r>
            <a:r>
              <a:rPr kumimoji="0" lang="en-US" altLang="ko-KR" sz="1200" dirty="0" err="1">
                <a:latin typeface="arial" pitchFamily="34" charset="0"/>
                <a:ea typeface="+mn-ea"/>
              </a:rPr>
              <a:t>xuất</a:t>
            </a:r>
            <a:endParaRPr kumimoji="0" lang="en-US" altLang="ko-KR" sz="1200" dirty="0">
              <a:latin typeface="arial" pitchFamily="34" charset="0"/>
              <a:ea typeface="+mn-ea"/>
            </a:endParaRPr>
          </a:p>
          <a:p>
            <a:pPr marL="0" indent="228600" eaLnBrk="0" latinLnBrk="0" hangingPunct="0">
              <a:lnSpc>
                <a:spcPct val="130000"/>
              </a:lnSpc>
              <a:buFontTx/>
              <a:buChar char="•"/>
              <a:defRPr/>
            </a:pPr>
            <a:endParaRPr kumimoji="0" lang="en-US" altLang="ko-KR" sz="1200" dirty="0">
              <a:latin typeface="arial" pitchFamily="34" charset="0"/>
              <a:ea typeface="+mn-ea"/>
            </a:endParaRPr>
          </a:p>
          <a:p>
            <a:pPr marL="0" indent="228600" eaLnBrk="0" latinLnBrk="0" hangingPunct="0">
              <a:lnSpc>
                <a:spcPct val="130000"/>
              </a:lnSpc>
              <a:buFontTx/>
              <a:buChar char="•"/>
              <a:defRPr/>
            </a:pPr>
            <a:endParaRPr kumimoji="0" lang="en-US" altLang="ko-KR" sz="1200" dirty="0">
              <a:latin typeface="arial" pitchFamily="34" charset="0"/>
              <a:ea typeface="+mn-ea"/>
            </a:endParaRPr>
          </a:p>
          <a:p>
            <a:pPr marL="0" indent="228600" eaLnBrk="0" latinLnBrk="0" hangingPunct="0">
              <a:lnSpc>
                <a:spcPct val="130000"/>
              </a:lnSpc>
              <a:buFontTx/>
              <a:buChar char="•"/>
              <a:defRPr/>
            </a:pPr>
            <a:endParaRPr kumimoji="0" lang="ko-KR" altLang="en-US" sz="1200" dirty="0">
              <a:latin typeface="arial" pitchFamily="34" charset="0"/>
              <a:ea typeface="+mn-ea"/>
            </a:endParaRPr>
          </a:p>
          <a:p>
            <a:pPr marL="0" indent="228600" eaLnBrk="0" latinLnBrk="0" hangingPunct="0">
              <a:defRPr/>
            </a:pPr>
            <a:endParaRPr kumimoji="0" lang="en-US" altLang="ko-KR" sz="1400" dirty="0">
              <a:latin typeface="arial" pitchFamily="34" charset="0"/>
              <a:ea typeface="+mn-ea"/>
            </a:endParaRPr>
          </a:p>
          <a:p>
            <a:pPr marL="0" indent="228600" eaLnBrk="0" latinLnBrk="0" hangingPunct="0">
              <a:defRPr/>
            </a:pPr>
            <a:endParaRPr kumimoji="0" lang="en-US" altLang="ko-KR" sz="1400" dirty="0">
              <a:latin typeface="arial" pitchFamily="34" charset="0"/>
              <a:ea typeface="+mn-ea"/>
            </a:endParaRPr>
          </a:p>
          <a:p>
            <a:pPr marL="0" indent="228600" eaLnBrk="0" latinLnBrk="0" hangingPunct="0">
              <a:defRPr/>
            </a:pPr>
            <a:endParaRPr kumimoji="0" lang="en-US" altLang="ko-KR" sz="1400" dirty="0">
              <a:latin typeface="arial" pitchFamily="34" charset="0"/>
              <a:ea typeface="+mn-ea"/>
            </a:endParaRPr>
          </a:p>
          <a:p>
            <a:pPr marL="0" indent="228600" eaLnBrk="0" latinLnBrk="0" hangingPunct="0">
              <a:defRPr/>
            </a:pPr>
            <a:r>
              <a:rPr kumimoji="0" lang="en-US" altLang="ko-KR" sz="1400" dirty="0">
                <a:latin typeface="arial" pitchFamily="34" charset="0"/>
                <a:ea typeface="+mn-ea"/>
              </a:rPr>
              <a:t>Reducing these variances require a fundamental analysis of the product or process.</a:t>
            </a:r>
          </a:p>
          <a:p>
            <a:pPr marL="0" indent="228600" eaLnBrk="0" latinLnBrk="0" hangingPunct="0">
              <a:defRPr/>
            </a:pPr>
            <a:r>
              <a:rPr kumimoji="0" lang="en-US" altLang="ko-KR" sz="1400" dirty="0">
                <a:latin typeface="arial" pitchFamily="34" charset="0"/>
                <a:ea typeface="+mn-ea"/>
              </a:rPr>
              <a:t>‘Chance Causes’ can sometimes be called ‘Common Causes’ or ‘Unavoidable Causes’.</a:t>
            </a:r>
          </a:p>
        </p:txBody>
      </p:sp>
      <p:sp>
        <p:nvSpPr>
          <p:cNvPr id="17" name="Rectangle 6"/>
          <p:cNvSpPr>
            <a:spLocks noChangeArrowheads="1"/>
          </p:cNvSpPr>
          <p:nvPr/>
        </p:nvSpPr>
        <p:spPr bwMode="auto">
          <a:xfrm>
            <a:off x="4953000" y="2133600"/>
            <a:ext cx="4729163" cy="3211513"/>
          </a:xfrm>
          <a:prstGeom prst="rect">
            <a:avLst/>
          </a:prstGeom>
          <a:noFill/>
          <a:ln w="12700" algn="ctr">
            <a:solidFill>
              <a:srgbClr val="000000"/>
            </a:solidFill>
            <a:miter lim="800000"/>
            <a:headEnd/>
            <a:tailEnd/>
          </a:ln>
          <a:effectLst/>
        </p:spPr>
        <p:txBody>
          <a:bodyPr wrap="none" lIns="162000" rIns="162000" anchor="ctr"/>
          <a:lstStyle/>
          <a:p>
            <a:pPr>
              <a:defRPr/>
            </a:pPr>
            <a:endParaRPr lang="ko-KR" altLang="en-US" dirty="0">
              <a:latin typeface="arial" pitchFamily="34" charset="0"/>
              <a:ea typeface="+mn-ea"/>
            </a:endParaRPr>
          </a:p>
        </p:txBody>
      </p:sp>
      <p:sp>
        <p:nvSpPr>
          <p:cNvPr id="18" name="Text Box 7"/>
          <p:cNvSpPr txBox="1">
            <a:spLocks noChangeArrowheads="1"/>
          </p:cNvSpPr>
          <p:nvPr/>
        </p:nvSpPr>
        <p:spPr bwMode="auto">
          <a:xfrm>
            <a:off x="4953000" y="2185352"/>
            <a:ext cx="4824536" cy="543995"/>
          </a:xfrm>
          <a:prstGeom prst="rect">
            <a:avLst/>
          </a:prstGeom>
          <a:noFill/>
          <a:ln>
            <a:noFill/>
          </a:ln>
          <a:effectLst/>
        </p:spPr>
        <p:txBody>
          <a:bodyPr wrap="square" lIns="102870" tIns="51435" rIns="102870" bIns="51435">
            <a:spAutoFit/>
          </a:bodyPr>
          <a:lstStyle>
            <a:lvl1pPr algn="l" defTabSz="1028700">
              <a:defRPr kumimoji="1" sz="2400">
                <a:solidFill>
                  <a:schemeClr val="tx1"/>
                </a:solidFill>
                <a:latin typeface="Times New Roman" pitchFamily="18" charset="0"/>
                <a:ea typeface="굴림" pitchFamily="50" charset="-127"/>
              </a:defRPr>
            </a:lvl1pPr>
            <a:lvl2pPr marL="514350" algn="l" defTabSz="1028700">
              <a:defRPr kumimoji="1" sz="2400">
                <a:solidFill>
                  <a:schemeClr val="tx1"/>
                </a:solidFill>
                <a:latin typeface="Times New Roman" pitchFamily="18" charset="0"/>
                <a:ea typeface="굴림" pitchFamily="50" charset="-127"/>
              </a:defRPr>
            </a:lvl2pPr>
            <a:lvl3pPr marL="1028700" algn="l" defTabSz="1028700">
              <a:defRPr kumimoji="1" sz="2400">
                <a:solidFill>
                  <a:schemeClr val="tx1"/>
                </a:solidFill>
                <a:latin typeface="Times New Roman" pitchFamily="18" charset="0"/>
                <a:ea typeface="굴림" pitchFamily="50" charset="-127"/>
              </a:defRPr>
            </a:lvl3pPr>
            <a:lvl4pPr marL="1543050" algn="l" defTabSz="1028700">
              <a:defRPr kumimoji="1" sz="2400">
                <a:solidFill>
                  <a:schemeClr val="tx1"/>
                </a:solidFill>
                <a:latin typeface="Times New Roman" pitchFamily="18" charset="0"/>
                <a:ea typeface="굴림" pitchFamily="50" charset="-127"/>
              </a:defRPr>
            </a:lvl4pPr>
            <a:lvl5pPr marL="2057400" algn="l" defTabSz="1028700">
              <a:defRPr kumimoji="1" sz="2400">
                <a:solidFill>
                  <a:schemeClr val="tx1"/>
                </a:solidFill>
                <a:latin typeface="Times New Roman" pitchFamily="18" charset="0"/>
                <a:ea typeface="굴림" pitchFamily="50" charset="-127"/>
              </a:defRPr>
            </a:lvl5pPr>
            <a:lvl6pPr marL="2514600" defTabSz="1028700" fontAlgn="base">
              <a:spcBef>
                <a:spcPct val="0"/>
              </a:spcBef>
              <a:spcAft>
                <a:spcPct val="0"/>
              </a:spcAft>
              <a:defRPr kumimoji="1" sz="2400">
                <a:solidFill>
                  <a:schemeClr val="tx1"/>
                </a:solidFill>
                <a:latin typeface="Times New Roman" pitchFamily="18" charset="0"/>
                <a:ea typeface="굴림" pitchFamily="50" charset="-127"/>
              </a:defRPr>
            </a:lvl6pPr>
            <a:lvl7pPr marL="2971800" defTabSz="1028700" fontAlgn="base">
              <a:spcBef>
                <a:spcPct val="0"/>
              </a:spcBef>
              <a:spcAft>
                <a:spcPct val="0"/>
              </a:spcAft>
              <a:defRPr kumimoji="1" sz="2400">
                <a:solidFill>
                  <a:schemeClr val="tx1"/>
                </a:solidFill>
                <a:latin typeface="Times New Roman" pitchFamily="18" charset="0"/>
                <a:ea typeface="굴림" pitchFamily="50" charset="-127"/>
              </a:defRPr>
            </a:lvl7pPr>
            <a:lvl8pPr marL="3429000" defTabSz="1028700" fontAlgn="base">
              <a:spcBef>
                <a:spcPct val="0"/>
              </a:spcBef>
              <a:spcAft>
                <a:spcPct val="0"/>
              </a:spcAft>
              <a:defRPr kumimoji="1" sz="2400">
                <a:solidFill>
                  <a:schemeClr val="tx1"/>
                </a:solidFill>
                <a:latin typeface="Times New Roman" pitchFamily="18" charset="0"/>
                <a:ea typeface="굴림" pitchFamily="50" charset="-127"/>
              </a:defRPr>
            </a:lvl8pPr>
            <a:lvl9pPr marL="3886200" defTabSz="1028700" fontAlgn="base">
              <a:spcBef>
                <a:spcPct val="0"/>
              </a:spcBef>
              <a:spcAft>
                <a:spcPct val="0"/>
              </a:spcAft>
              <a:defRPr kumimoji="1" sz="2400">
                <a:solidFill>
                  <a:schemeClr val="tx1"/>
                </a:solidFill>
                <a:latin typeface="Times New Roman" pitchFamily="18" charset="0"/>
                <a:ea typeface="굴림" pitchFamily="50" charset="-127"/>
              </a:defRPr>
            </a:lvl9pPr>
          </a:lstStyle>
          <a:p>
            <a:pPr eaLnBrk="0" latinLnBrk="0" hangingPunct="0">
              <a:lnSpc>
                <a:spcPct val="110000"/>
              </a:lnSpc>
              <a:defRPr/>
            </a:pPr>
            <a:r>
              <a:rPr kumimoji="0" lang="en-US" altLang="ko-KR" sz="1300" dirty="0" err="1">
                <a:latin typeface="Arial" pitchFamily="34" charset="0"/>
                <a:ea typeface="+mn-ea"/>
                <a:cs typeface="Arial" pitchFamily="34" charset="0"/>
              </a:rPr>
              <a:t>Quá</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trình</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bị</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tác</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động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bởi</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nhóm</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nguyên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nhân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ngẫu</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nhiên</a:t>
            </a:r>
            <a:r>
              <a:rPr kumimoji="0" lang="en-US" altLang="ko-KR" sz="1300" dirty="0">
                <a:latin typeface="Arial" pitchFamily="34" charset="0"/>
                <a:ea typeface="+mn-ea"/>
                <a:cs typeface="Arial" pitchFamily="34" charset="0"/>
              </a:rPr>
              <a:t> do </a:t>
            </a:r>
            <a:r>
              <a:rPr kumimoji="0" lang="en-US" altLang="ko-KR" sz="1300" dirty="0" err="1">
                <a:latin typeface="Arial" pitchFamily="34" charset="0"/>
                <a:ea typeface="+mn-ea"/>
                <a:cs typeface="Arial" pitchFamily="34" charset="0"/>
              </a:rPr>
              <a:t>đó</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quá</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trình</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là</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khá</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ổn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định</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và</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có</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thể</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được</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dự</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báo</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trước</a:t>
            </a:r>
            <a:r>
              <a:rPr kumimoji="0" lang="en-US" altLang="ko-KR" sz="1300" dirty="0">
                <a:latin typeface="Arial" pitchFamily="34" charset="0"/>
                <a:ea typeface="+mn-ea"/>
                <a:cs typeface="Arial" pitchFamily="34" charset="0"/>
              </a:rPr>
              <a:t>.</a:t>
            </a:r>
          </a:p>
        </p:txBody>
      </p:sp>
      <p:pic>
        <p:nvPicPr>
          <p:cNvPr id="6151" name="Picture 5" descr="우연원인"/>
          <p:cNvPicPr>
            <a:picLocks noChangeAspect="1" noChangeArrowheads="1"/>
          </p:cNvPicPr>
          <p:nvPr/>
        </p:nvPicPr>
        <p:blipFill>
          <a:blip r:embed="rId3" cstate="print">
            <a:lum bright="-14000" contrast="48000"/>
            <a:extLst>
              <a:ext uri="{28A0092B-C50C-407E-A947-70E740481C1C}">
                <a14:useLocalDpi xmlns:a14="http://schemas.microsoft.com/office/drawing/2010/main"/>
              </a:ext>
            </a:extLst>
          </a:blip>
          <a:srcRect/>
          <a:stretch>
            <a:fillRect/>
          </a:stretch>
        </p:blipFill>
        <p:spPr bwMode="auto">
          <a:xfrm>
            <a:off x="5202238" y="2906713"/>
            <a:ext cx="4230687" cy="219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Rectangle 9"/>
          <p:cNvSpPr>
            <a:spLocks noChangeArrowheads="1"/>
          </p:cNvSpPr>
          <p:nvPr/>
        </p:nvSpPr>
        <p:spPr bwMode="auto">
          <a:xfrm>
            <a:off x="5202238" y="2895600"/>
            <a:ext cx="685800" cy="152400"/>
          </a:xfrm>
          <a:prstGeom prst="rect">
            <a:avLst/>
          </a:prstGeom>
          <a:solidFill>
            <a:schemeClr val="bg1"/>
          </a:solidFill>
          <a:ln>
            <a:noFill/>
          </a:ln>
          <a:effectLst/>
        </p:spPr>
        <p:txBody>
          <a:bodyPr wrap="none" anchor="ctr"/>
          <a:lstStyle/>
          <a:p>
            <a:pPr>
              <a:defRPr/>
            </a:pPr>
            <a:endParaRPr lang="ko-KR" altLang="en-US" dirty="0">
              <a:latin typeface="arial" pitchFamily="34" charset="0"/>
              <a:ea typeface="+mn-ea"/>
            </a:endParaRPr>
          </a:p>
        </p:txBody>
      </p:sp>
      <p:sp>
        <p:nvSpPr>
          <p:cNvPr id="21" name="Line 17"/>
          <p:cNvSpPr>
            <a:spLocks noChangeShapeType="1"/>
          </p:cNvSpPr>
          <p:nvPr/>
        </p:nvSpPr>
        <p:spPr bwMode="auto">
          <a:xfrm flipV="1">
            <a:off x="7897813" y="3525838"/>
            <a:ext cx="50800" cy="25400"/>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22" name="Line 18"/>
          <p:cNvSpPr>
            <a:spLocks noChangeShapeType="1"/>
          </p:cNvSpPr>
          <p:nvPr/>
        </p:nvSpPr>
        <p:spPr bwMode="auto">
          <a:xfrm flipV="1">
            <a:off x="7999413" y="3449638"/>
            <a:ext cx="57150" cy="50800"/>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23" name="Line 19"/>
          <p:cNvSpPr>
            <a:spLocks noChangeShapeType="1"/>
          </p:cNvSpPr>
          <p:nvPr/>
        </p:nvSpPr>
        <p:spPr bwMode="auto">
          <a:xfrm flipV="1">
            <a:off x="8094663" y="3321050"/>
            <a:ext cx="57150" cy="69850"/>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24" name="Line 20"/>
          <p:cNvSpPr>
            <a:spLocks noChangeShapeType="1"/>
          </p:cNvSpPr>
          <p:nvPr/>
        </p:nvSpPr>
        <p:spPr bwMode="auto">
          <a:xfrm flipV="1">
            <a:off x="8194675" y="3187700"/>
            <a:ext cx="33338" cy="60325"/>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25" name="Line 21"/>
          <p:cNvSpPr>
            <a:spLocks noChangeShapeType="1"/>
          </p:cNvSpPr>
          <p:nvPr/>
        </p:nvSpPr>
        <p:spPr bwMode="auto">
          <a:xfrm flipV="1">
            <a:off x="8266113" y="3068638"/>
            <a:ext cx="33337" cy="60325"/>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26" name="Line 22"/>
          <p:cNvSpPr>
            <a:spLocks noChangeShapeType="1"/>
          </p:cNvSpPr>
          <p:nvPr/>
        </p:nvSpPr>
        <p:spPr bwMode="auto">
          <a:xfrm flipV="1">
            <a:off x="8332788" y="2959100"/>
            <a:ext cx="33337" cy="60325"/>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27" name="Line 23"/>
          <p:cNvSpPr>
            <a:spLocks noChangeShapeType="1"/>
          </p:cNvSpPr>
          <p:nvPr/>
        </p:nvSpPr>
        <p:spPr bwMode="auto">
          <a:xfrm flipV="1">
            <a:off x="8361363" y="2921000"/>
            <a:ext cx="47625" cy="41275"/>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28" name="Line 24"/>
          <p:cNvSpPr>
            <a:spLocks noChangeShapeType="1"/>
          </p:cNvSpPr>
          <p:nvPr/>
        </p:nvSpPr>
        <p:spPr bwMode="auto">
          <a:xfrm>
            <a:off x="8451850" y="2914650"/>
            <a:ext cx="85725" cy="20638"/>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29" name="Line 25"/>
          <p:cNvSpPr>
            <a:spLocks noChangeShapeType="1"/>
          </p:cNvSpPr>
          <p:nvPr/>
        </p:nvSpPr>
        <p:spPr bwMode="auto">
          <a:xfrm>
            <a:off x="8580438" y="2976563"/>
            <a:ext cx="28575" cy="49212"/>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30" name="Line 26"/>
          <p:cNvSpPr>
            <a:spLocks noChangeShapeType="1"/>
          </p:cNvSpPr>
          <p:nvPr/>
        </p:nvSpPr>
        <p:spPr bwMode="auto">
          <a:xfrm>
            <a:off x="8647113" y="3086100"/>
            <a:ext cx="38100" cy="73025"/>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31" name="Line 27"/>
          <p:cNvSpPr>
            <a:spLocks noChangeShapeType="1"/>
          </p:cNvSpPr>
          <p:nvPr/>
        </p:nvSpPr>
        <p:spPr bwMode="auto">
          <a:xfrm>
            <a:off x="8718550" y="3205163"/>
            <a:ext cx="47625" cy="68262"/>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32" name="Line 28"/>
          <p:cNvSpPr>
            <a:spLocks noChangeShapeType="1"/>
          </p:cNvSpPr>
          <p:nvPr/>
        </p:nvSpPr>
        <p:spPr bwMode="auto">
          <a:xfrm>
            <a:off x="8794750" y="3319463"/>
            <a:ext cx="47625" cy="68262"/>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33" name="Line 29"/>
          <p:cNvSpPr>
            <a:spLocks noChangeShapeType="1"/>
          </p:cNvSpPr>
          <p:nvPr/>
        </p:nvSpPr>
        <p:spPr bwMode="auto">
          <a:xfrm>
            <a:off x="8870950" y="3409950"/>
            <a:ext cx="61913" cy="58738"/>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34" name="Line 30"/>
          <p:cNvSpPr>
            <a:spLocks noChangeShapeType="1"/>
          </p:cNvSpPr>
          <p:nvPr/>
        </p:nvSpPr>
        <p:spPr bwMode="auto">
          <a:xfrm>
            <a:off x="8951913" y="3490913"/>
            <a:ext cx="85725" cy="53975"/>
          </a:xfrm>
          <a:prstGeom prst="line">
            <a:avLst/>
          </a:prstGeom>
          <a:noFill/>
          <a:ln w="12700">
            <a:solidFill>
              <a:schemeClr val="tx1"/>
            </a:solidFill>
            <a:round/>
            <a:headEnd/>
            <a:tailEnd/>
          </a:ln>
          <a:effectLst/>
        </p:spPr>
        <p:txBody>
          <a:bodyPr/>
          <a:lstStyle/>
          <a:p>
            <a:pPr>
              <a:defRPr/>
            </a:pPr>
            <a:endParaRPr lang="ko-KR" altLang="en-US" dirty="0">
              <a:latin typeface="arial" pitchFamily="34" charset="0"/>
              <a:ea typeface="+mn-ea"/>
            </a:endParaRPr>
          </a:p>
        </p:txBody>
      </p:sp>
      <p:sp>
        <p:nvSpPr>
          <p:cNvPr id="35" name="Line 31"/>
          <p:cNvSpPr>
            <a:spLocks noChangeShapeType="1"/>
          </p:cNvSpPr>
          <p:nvPr/>
        </p:nvSpPr>
        <p:spPr bwMode="auto">
          <a:xfrm>
            <a:off x="8462963" y="2913063"/>
            <a:ext cx="0" cy="647700"/>
          </a:xfrm>
          <a:prstGeom prst="line">
            <a:avLst/>
          </a:prstGeom>
          <a:noFill/>
          <a:ln w="12700">
            <a:solidFill>
              <a:schemeClr val="tx1"/>
            </a:solidFill>
            <a:prstDash val="dash"/>
            <a:round/>
            <a:headEnd/>
            <a:tailEnd/>
          </a:ln>
          <a:effectLst/>
        </p:spPr>
        <p:txBody>
          <a:bodyPr/>
          <a:lstStyle/>
          <a:p>
            <a:pPr>
              <a:defRPr/>
            </a:pPr>
            <a:endParaRPr lang="ko-KR" altLang="en-US" dirty="0">
              <a:latin typeface="arial" pitchFamily="34" charset="0"/>
              <a:ea typeface="+mn-ea"/>
            </a:endParaRPr>
          </a:p>
        </p:txBody>
      </p:sp>
      <p:sp>
        <p:nvSpPr>
          <p:cNvPr id="36" name="Line 32"/>
          <p:cNvSpPr>
            <a:spLocks noChangeShapeType="1"/>
          </p:cNvSpPr>
          <p:nvPr/>
        </p:nvSpPr>
        <p:spPr bwMode="auto">
          <a:xfrm flipH="1">
            <a:off x="8839200" y="3189288"/>
            <a:ext cx="390525" cy="180975"/>
          </a:xfrm>
          <a:prstGeom prst="line">
            <a:avLst/>
          </a:prstGeom>
          <a:noFill/>
          <a:ln w="12700">
            <a:solidFill>
              <a:schemeClr val="tx1"/>
            </a:solidFill>
            <a:round/>
            <a:headEnd type="triangle" w="med" len="med"/>
            <a:tailEnd/>
          </a:ln>
          <a:effectLst/>
        </p:spPr>
        <p:txBody>
          <a:bodyPr/>
          <a:lstStyle/>
          <a:p>
            <a:pPr>
              <a:defRPr/>
            </a:pPr>
            <a:endParaRPr lang="ko-KR" altLang="en-US" dirty="0">
              <a:latin typeface="arial" pitchFamily="34" charset="0"/>
              <a:ea typeface="+mn-ea"/>
            </a:endParaRPr>
          </a:p>
        </p:txBody>
      </p:sp>
      <p:sp>
        <p:nvSpPr>
          <p:cNvPr id="37" name="Text Box 33"/>
          <p:cNvSpPr txBox="1">
            <a:spLocks noChangeArrowheads="1"/>
          </p:cNvSpPr>
          <p:nvPr/>
        </p:nvSpPr>
        <p:spPr bwMode="auto">
          <a:xfrm>
            <a:off x="5126038" y="4857750"/>
            <a:ext cx="492125" cy="227013"/>
          </a:xfrm>
          <a:prstGeom prst="rect">
            <a:avLst/>
          </a:prstGeom>
          <a:solidFill>
            <a:schemeClr val="bg1"/>
          </a:solidFill>
          <a:ln>
            <a:noFill/>
          </a:ln>
          <a:effectLst/>
        </p:spPr>
        <p:txBody>
          <a:bodyPr>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a:lnSpc>
                <a:spcPct val="80000"/>
              </a:lnSpc>
              <a:defRPr/>
            </a:pPr>
            <a:r>
              <a:rPr lang="en-US" altLang="ko-KR" sz="1100" b="1" dirty="0">
                <a:latin typeface="arial" pitchFamily="34" charset="0"/>
                <a:ea typeface="+mn-ea"/>
              </a:rPr>
              <a:t>Size</a:t>
            </a:r>
            <a:endParaRPr lang="ko-KR" altLang="en-US" sz="1100" b="1" dirty="0">
              <a:latin typeface="arial" pitchFamily="34" charset="0"/>
              <a:ea typeface="+mn-ea"/>
            </a:endParaRPr>
          </a:p>
        </p:txBody>
      </p:sp>
      <p:sp>
        <p:nvSpPr>
          <p:cNvPr id="38" name="Text Box 34"/>
          <p:cNvSpPr txBox="1">
            <a:spLocks noChangeArrowheads="1"/>
          </p:cNvSpPr>
          <p:nvPr/>
        </p:nvSpPr>
        <p:spPr bwMode="auto">
          <a:xfrm rot="19963531">
            <a:off x="7229475" y="4565650"/>
            <a:ext cx="847725" cy="227013"/>
          </a:xfrm>
          <a:prstGeom prst="rect">
            <a:avLst/>
          </a:prstGeom>
          <a:noFill/>
          <a:ln>
            <a:noFill/>
          </a:ln>
          <a:effectLst/>
        </p:spPr>
        <p:txBody>
          <a:bodyPr>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a:lnSpc>
                <a:spcPct val="80000"/>
              </a:lnSpc>
              <a:defRPr/>
            </a:pPr>
            <a:r>
              <a:rPr lang="en-US" altLang="ko-KR" sz="1100" b="1" dirty="0" err="1">
                <a:latin typeface="arial" pitchFamily="34" charset="0"/>
                <a:ea typeface="+mn-ea"/>
              </a:rPr>
              <a:t>Thời</a:t>
            </a:r>
            <a:r>
              <a:rPr lang="en-US" altLang="ko-KR" sz="1100" b="1" dirty="0">
                <a:latin typeface="arial" pitchFamily="34" charset="0"/>
                <a:ea typeface="+mn-ea"/>
              </a:rPr>
              <a:t> </a:t>
            </a:r>
            <a:r>
              <a:rPr lang="en-US" altLang="ko-KR" sz="1100" b="1" dirty="0" err="1">
                <a:latin typeface="arial" pitchFamily="34" charset="0"/>
                <a:ea typeface="+mn-ea"/>
              </a:rPr>
              <a:t>gian</a:t>
            </a:r>
            <a:endParaRPr lang="ko-KR" altLang="en-US" sz="1100" b="1" dirty="0">
              <a:latin typeface="arial" pitchFamily="34" charset="0"/>
              <a:ea typeface="+mn-ea"/>
            </a:endParaRPr>
          </a:p>
        </p:txBody>
      </p:sp>
      <p:sp>
        <p:nvSpPr>
          <p:cNvPr id="39" name="Text Box 37"/>
          <p:cNvSpPr txBox="1">
            <a:spLocks noChangeArrowheads="1"/>
          </p:cNvSpPr>
          <p:nvPr/>
        </p:nvSpPr>
        <p:spPr bwMode="auto">
          <a:xfrm rot="19963531">
            <a:off x="7002463" y="4413250"/>
            <a:ext cx="1082675" cy="214313"/>
          </a:xfrm>
          <a:prstGeom prst="rect">
            <a:avLst/>
          </a:prstGeom>
          <a:solidFill>
            <a:schemeClr val="bg1"/>
          </a:solidFill>
          <a:ln>
            <a:noFill/>
          </a:ln>
          <a:effectLst/>
        </p:spPr>
        <p:txBody>
          <a:bodyPr>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a:lnSpc>
                <a:spcPct val="80000"/>
              </a:lnSpc>
              <a:defRPr/>
            </a:pPr>
            <a:endParaRPr lang="ko-KR" altLang="ko-KR" sz="1000" dirty="0">
              <a:latin typeface="arial" pitchFamily="34" charset="0"/>
              <a:ea typeface="+mn-ea"/>
            </a:endParaRPr>
          </a:p>
        </p:txBody>
      </p:sp>
      <p:sp>
        <p:nvSpPr>
          <p:cNvPr id="40" name="Line 35"/>
          <p:cNvSpPr>
            <a:spLocks noChangeShapeType="1"/>
          </p:cNvSpPr>
          <p:nvPr/>
        </p:nvSpPr>
        <p:spPr bwMode="auto">
          <a:xfrm rot="21337706" flipV="1">
            <a:off x="7186613" y="4303713"/>
            <a:ext cx="823912" cy="398462"/>
          </a:xfrm>
          <a:prstGeom prst="line">
            <a:avLst/>
          </a:prstGeom>
          <a:noFill/>
          <a:ln w="28575">
            <a:solidFill>
              <a:schemeClr val="tx1"/>
            </a:solidFill>
            <a:round/>
            <a:headEnd/>
            <a:tailEnd type="triangle" w="sm" len="med"/>
          </a:ln>
          <a:effectLst/>
        </p:spPr>
        <p:txBody>
          <a:bodyPr/>
          <a:lstStyle/>
          <a:p>
            <a:pPr>
              <a:defRPr/>
            </a:pPr>
            <a:endParaRPr lang="ko-KR" altLang="en-US" dirty="0">
              <a:latin typeface="arial" pitchFamily="34" charset="0"/>
              <a:ea typeface="+mn-ea"/>
            </a:endParaRPr>
          </a:p>
        </p:txBody>
      </p:sp>
      <p:sp>
        <p:nvSpPr>
          <p:cNvPr id="41" name="Text Box 38"/>
          <p:cNvSpPr txBox="1">
            <a:spLocks noChangeArrowheads="1"/>
          </p:cNvSpPr>
          <p:nvPr/>
        </p:nvSpPr>
        <p:spPr bwMode="auto">
          <a:xfrm>
            <a:off x="8396288" y="3622675"/>
            <a:ext cx="1237232" cy="227755"/>
          </a:xfrm>
          <a:prstGeom prst="rect">
            <a:avLst/>
          </a:prstGeom>
          <a:solidFill>
            <a:schemeClr val="bg1"/>
          </a:solidFill>
          <a:ln>
            <a:noFill/>
          </a:ln>
          <a:effectLst/>
        </p:spPr>
        <p:txBody>
          <a:bodyPr wrap="square">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a:lnSpc>
                <a:spcPct val="80000"/>
              </a:lnSpc>
              <a:defRPr/>
            </a:pPr>
            <a:r>
              <a:rPr lang="en-US" altLang="ko-KR" sz="1100" b="1" dirty="0" err="1">
                <a:latin typeface="arial" pitchFamily="34" charset="0"/>
                <a:ea typeface="+mn-ea"/>
              </a:rPr>
              <a:t>Dự</a:t>
            </a:r>
            <a:r>
              <a:rPr lang="en-US" altLang="ko-KR" sz="1100" b="1" dirty="0">
                <a:latin typeface="arial" pitchFamily="34" charset="0"/>
                <a:ea typeface="+mn-ea"/>
              </a:rPr>
              <a:t> </a:t>
            </a:r>
            <a:r>
              <a:rPr lang="en-US" altLang="ko-KR" sz="1100" b="1" dirty="0" err="1">
                <a:latin typeface="arial" pitchFamily="34" charset="0"/>
                <a:ea typeface="+mn-ea"/>
              </a:rPr>
              <a:t>báo</a:t>
            </a:r>
            <a:endParaRPr lang="ko-KR" altLang="en-US" sz="1100" b="1" dirty="0">
              <a:latin typeface="arial" pitchFamily="34" charset="0"/>
              <a:ea typeface="+mn-ea"/>
            </a:endParaRPr>
          </a:p>
        </p:txBody>
      </p:sp>
      <p:sp>
        <p:nvSpPr>
          <p:cNvPr id="42" name="제목 8"/>
          <p:cNvSpPr txBox="1">
            <a:spLocks/>
          </p:cNvSpPr>
          <p:nvPr/>
        </p:nvSpPr>
        <p:spPr bwMode="auto">
          <a:xfrm>
            <a:off x="195263" y="188913"/>
            <a:ext cx="8813800" cy="488950"/>
          </a:xfrm>
          <a:prstGeom prst="rect">
            <a:avLst/>
          </a:prstGeom>
          <a:noFill/>
          <a:ln>
            <a:miter lim="800000"/>
            <a:headEnd/>
            <a:tailEnd/>
          </a:ln>
        </p:spPr>
        <p:txBody>
          <a:bodyPr/>
          <a:lstStyle/>
          <a:p>
            <a:pPr>
              <a:defRPr/>
            </a:pPr>
            <a:r>
              <a:rPr lang="en-US" altLang="ko-KR" sz="2000" b="1" dirty="0">
                <a:latin typeface="arial" pitchFamily="34" charset="0"/>
              </a:rPr>
              <a:t>1. </a:t>
            </a:r>
            <a:r>
              <a:rPr lang="en-US" altLang="ko-KR" sz="2000" b="1" dirty="0" err="1">
                <a:latin typeface="arial" pitchFamily="34" charset="0"/>
              </a:rPr>
              <a:t>Giới</a:t>
            </a:r>
            <a:r>
              <a:rPr lang="en-US" altLang="ko-KR" sz="2000" b="1" dirty="0">
                <a:latin typeface="arial" pitchFamily="34" charset="0"/>
              </a:rPr>
              <a:t> </a:t>
            </a:r>
            <a:r>
              <a:rPr lang="en-US" altLang="ko-KR" sz="2000" b="1" dirty="0" err="1">
                <a:latin typeface="arial" pitchFamily="34" charset="0"/>
              </a:rPr>
              <a:t>thiệu</a:t>
            </a:r>
            <a:endParaRPr kumimoji="0" lang="ko-KR" altLang="en-US" sz="2000" b="1" dirty="0">
              <a:latin typeface="돋움" pitchFamily="50" charset="-127"/>
              <a:ea typeface="돋움" pitchFamily="50" charset="-127"/>
              <a:cs typeface="+mj-cs"/>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247</a:t>
            </a:fld>
            <a:endParaRPr lang="ko-KR" altLang="en-US" dirty="0"/>
          </a:p>
        </p:txBody>
      </p:sp>
    </p:spTree>
    <p:extLst>
      <p:ext uri="{BB962C8B-B14F-4D97-AF65-F5344CB8AC3E}">
        <p14:creationId xmlns:p14="http://schemas.microsoft.com/office/powerpoint/2010/main" val="3322765540"/>
      </p:ext>
    </p:extLst>
  </p:cSld>
  <p:clrMapOvr>
    <a:masterClrMapping/>
  </p:clrMapOvr>
  <p:transition/>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Text Box 3"/>
          <p:cNvSpPr txBox="1">
            <a:spLocks noChangeArrowheads="1"/>
          </p:cNvSpPr>
          <p:nvPr/>
        </p:nvSpPr>
        <p:spPr bwMode="auto">
          <a:xfrm>
            <a:off x="369888" y="836712"/>
            <a:ext cx="3802644" cy="380873"/>
          </a:xfrm>
          <a:prstGeom prst="rect">
            <a:avLst/>
          </a:prstGeom>
          <a:solidFill>
            <a:schemeClr val="bg1">
              <a:lumMod val="85000"/>
            </a:schemeClr>
          </a:solid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a:defRPr/>
            </a:pPr>
            <a:r>
              <a:rPr lang="en-US" altLang="ko-KR" dirty="0" err="1">
                <a:latin typeface="arial" pitchFamily="34" charset="0"/>
              </a:rPr>
              <a:t>Nguyên</a:t>
            </a:r>
            <a:r>
              <a:rPr lang="en-US" altLang="ko-KR" dirty="0">
                <a:latin typeface="arial" pitchFamily="34" charset="0"/>
              </a:rPr>
              <a:t> </a:t>
            </a:r>
            <a:r>
              <a:rPr lang="en-US" altLang="ko-KR" dirty="0" err="1">
                <a:latin typeface="arial" pitchFamily="34" charset="0"/>
              </a:rPr>
              <a:t>nhân</a:t>
            </a:r>
            <a:r>
              <a:rPr lang="en-US" altLang="ko-KR" dirty="0">
                <a:latin typeface="arial" pitchFamily="34" charset="0"/>
              </a:rPr>
              <a:t> </a:t>
            </a:r>
            <a:r>
              <a:rPr lang="en-US" altLang="ko-KR" dirty="0" err="1">
                <a:latin typeface="arial" pitchFamily="34" charset="0"/>
              </a:rPr>
              <a:t>không</a:t>
            </a:r>
            <a:r>
              <a:rPr lang="en-US" altLang="ko-KR" dirty="0">
                <a:latin typeface="arial" pitchFamily="34" charset="0"/>
              </a:rPr>
              <a:t> </a:t>
            </a:r>
            <a:r>
              <a:rPr lang="en-US" altLang="ko-KR" dirty="0" err="1">
                <a:latin typeface="arial" pitchFamily="34" charset="0"/>
              </a:rPr>
              <a:t>ngẫu</a:t>
            </a:r>
            <a:r>
              <a:rPr lang="en-US" altLang="ko-KR" dirty="0">
                <a:latin typeface="arial" pitchFamily="34" charset="0"/>
              </a:rPr>
              <a:t> </a:t>
            </a:r>
            <a:r>
              <a:rPr lang="en-US" altLang="ko-KR" dirty="0" err="1">
                <a:latin typeface="arial" pitchFamily="34" charset="0"/>
              </a:rPr>
              <a:t>nhiên</a:t>
            </a:r>
            <a:endParaRPr lang="en-US" altLang="ko-KR" dirty="0">
              <a:latin typeface="arial" pitchFamily="34" charset="0"/>
            </a:endParaRPr>
          </a:p>
        </p:txBody>
      </p:sp>
      <p:sp>
        <p:nvSpPr>
          <p:cNvPr id="7172" name="Rectangle 4"/>
          <p:cNvSpPr>
            <a:spLocks noChangeArrowheads="1"/>
          </p:cNvSpPr>
          <p:nvPr/>
        </p:nvSpPr>
        <p:spPr bwMode="auto">
          <a:xfrm>
            <a:off x="392113" y="1365350"/>
            <a:ext cx="9169399" cy="5176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2870" tIns="51435" rIns="102870" bIns="51435">
            <a:spAutoFit/>
          </a:bodyPr>
          <a:lstStyle>
            <a:lvl1pPr marL="211138" indent="-211138" defTabSz="1028700" eaLnBrk="0" hangingPunct="0">
              <a:defRPr kumimoji="1">
                <a:solidFill>
                  <a:schemeClr val="tx1"/>
                </a:solidFill>
                <a:latin typeface="굴림" pitchFamily="50" charset="-127"/>
                <a:ea typeface="굴림" pitchFamily="50" charset="-127"/>
              </a:defRPr>
            </a:lvl1pPr>
            <a:lvl2pPr marL="742950" indent="-285750" defTabSz="1028700" eaLnBrk="0" hangingPunct="0">
              <a:defRPr kumimoji="1">
                <a:solidFill>
                  <a:schemeClr val="tx1"/>
                </a:solidFill>
                <a:latin typeface="굴림" pitchFamily="50" charset="-127"/>
                <a:ea typeface="굴림" pitchFamily="50" charset="-127"/>
              </a:defRPr>
            </a:lvl2pPr>
            <a:lvl3pPr marL="1143000" indent="-228600" defTabSz="1028700" eaLnBrk="0" hangingPunct="0">
              <a:defRPr kumimoji="1">
                <a:solidFill>
                  <a:schemeClr val="tx1"/>
                </a:solidFill>
                <a:latin typeface="굴림" pitchFamily="50" charset="-127"/>
                <a:ea typeface="굴림" pitchFamily="50" charset="-127"/>
              </a:defRPr>
            </a:lvl3pPr>
            <a:lvl4pPr marL="1600200" indent="-228600" defTabSz="1028700" eaLnBrk="0" hangingPunct="0">
              <a:defRPr kumimoji="1">
                <a:solidFill>
                  <a:schemeClr val="tx1"/>
                </a:solidFill>
                <a:latin typeface="굴림" pitchFamily="50" charset="-127"/>
                <a:ea typeface="굴림" pitchFamily="50" charset="-127"/>
              </a:defRPr>
            </a:lvl4pPr>
            <a:lvl5pPr marL="2057400" indent="-228600" defTabSz="1028700" eaLnBrk="0" hangingPunct="0">
              <a:defRPr kumimoji="1">
                <a:solidFill>
                  <a:schemeClr val="tx1"/>
                </a:solidFill>
                <a:latin typeface="굴림" pitchFamily="50" charset="-127"/>
                <a:ea typeface="굴림" pitchFamily="50" charset="-127"/>
              </a:defRPr>
            </a:lvl5pPr>
            <a:lvl6pPr marL="25146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228600" latinLnBrk="0"/>
            <a:r>
              <a:rPr kumimoji="0" lang="en-US" altLang="ko-KR" sz="1400" b="1" dirty="0" err="1">
                <a:latin typeface="arial" pitchFamily="34" charset="0"/>
              </a:rPr>
              <a:t>Nguyên</a:t>
            </a:r>
            <a:r>
              <a:rPr kumimoji="0" lang="en-US" altLang="ko-KR" sz="1400" b="1" dirty="0">
                <a:latin typeface="arial" pitchFamily="34" charset="0"/>
              </a:rPr>
              <a:t> </a:t>
            </a:r>
            <a:r>
              <a:rPr kumimoji="0" lang="en-US" altLang="ko-KR" sz="1400" b="1" dirty="0" err="1">
                <a:latin typeface="arial" pitchFamily="34" charset="0"/>
              </a:rPr>
              <a:t>nhân</a:t>
            </a:r>
            <a:r>
              <a:rPr kumimoji="0" lang="en-US" altLang="ko-KR" sz="1400" b="1" dirty="0">
                <a:latin typeface="arial" pitchFamily="34" charset="0"/>
              </a:rPr>
              <a:t> </a:t>
            </a:r>
            <a:r>
              <a:rPr kumimoji="0" lang="en-US" altLang="ko-KR" sz="1400" b="1" dirty="0" err="1">
                <a:latin typeface="arial" pitchFamily="34" charset="0"/>
              </a:rPr>
              <a:t>không</a:t>
            </a:r>
            <a:r>
              <a:rPr kumimoji="0" lang="en-US" altLang="ko-KR" sz="1400" b="1" dirty="0">
                <a:latin typeface="arial" pitchFamily="34" charset="0"/>
              </a:rPr>
              <a:t> </a:t>
            </a:r>
            <a:r>
              <a:rPr kumimoji="0" lang="en-US" altLang="ko-KR" sz="1400" b="1" dirty="0" err="1">
                <a:latin typeface="arial" pitchFamily="34" charset="0"/>
              </a:rPr>
              <a:t>ngẫu</a:t>
            </a:r>
            <a:r>
              <a:rPr kumimoji="0" lang="en-US" altLang="ko-KR" sz="1400" b="1" dirty="0">
                <a:latin typeface="arial" pitchFamily="34" charset="0"/>
              </a:rPr>
              <a:t> </a:t>
            </a:r>
            <a:r>
              <a:rPr kumimoji="0" lang="en-US" altLang="ko-KR" sz="1400" b="1" dirty="0" err="1">
                <a:latin typeface="arial" pitchFamily="34" charset="0"/>
              </a:rPr>
              <a:t>nhiên</a:t>
            </a:r>
            <a:r>
              <a:rPr kumimoji="0" lang="en-US" altLang="ko-KR" sz="1400" b="1" dirty="0">
                <a:latin typeface="arial" pitchFamily="34" charset="0"/>
              </a:rPr>
              <a:t> (Assignable Causes) </a:t>
            </a:r>
            <a:r>
              <a:rPr kumimoji="0" lang="en-US" altLang="ko-KR" sz="1400" b="1" dirty="0" err="1">
                <a:latin typeface="arial" pitchFamily="34" charset="0"/>
              </a:rPr>
              <a:t>còn</a:t>
            </a:r>
            <a:r>
              <a:rPr kumimoji="0" lang="en-US" altLang="ko-KR" sz="1400" b="1" dirty="0">
                <a:latin typeface="arial" pitchFamily="34" charset="0"/>
              </a:rPr>
              <a:t> </a:t>
            </a:r>
            <a:r>
              <a:rPr kumimoji="0" lang="en-US" altLang="ko-KR" sz="1400" b="1" dirty="0" err="1">
                <a:latin typeface="arial" pitchFamily="34" charset="0"/>
              </a:rPr>
              <a:t>gọi</a:t>
            </a:r>
            <a:r>
              <a:rPr kumimoji="0" lang="en-US" altLang="ko-KR" sz="1400" b="1" dirty="0">
                <a:latin typeface="arial" pitchFamily="34" charset="0"/>
              </a:rPr>
              <a:t> </a:t>
            </a:r>
            <a:r>
              <a:rPr kumimoji="0" lang="en-US" altLang="ko-KR" sz="1400" b="1" dirty="0" err="1">
                <a:latin typeface="arial" pitchFamily="34" charset="0"/>
              </a:rPr>
              <a:t>là</a:t>
            </a:r>
            <a:r>
              <a:rPr kumimoji="0" lang="en-US" altLang="ko-KR" sz="1400" b="1" dirty="0">
                <a:latin typeface="arial" pitchFamily="34" charset="0"/>
              </a:rPr>
              <a:t> </a:t>
            </a:r>
            <a:r>
              <a:rPr kumimoji="0" lang="en-US" altLang="ko-KR" sz="1400" b="1" dirty="0" err="1">
                <a:latin typeface="arial" pitchFamily="34" charset="0"/>
              </a:rPr>
              <a:t>nguyên</a:t>
            </a:r>
            <a:r>
              <a:rPr kumimoji="0" lang="en-US" altLang="ko-KR" sz="1400" b="1" dirty="0">
                <a:latin typeface="arial" pitchFamily="34" charset="0"/>
              </a:rPr>
              <a:t> </a:t>
            </a:r>
            <a:r>
              <a:rPr kumimoji="0" lang="en-US" altLang="ko-KR" sz="1400" b="1" dirty="0" err="1">
                <a:latin typeface="arial" pitchFamily="34" charset="0"/>
              </a:rPr>
              <a:t>nhân</a:t>
            </a:r>
            <a:r>
              <a:rPr kumimoji="0" lang="en-US" altLang="ko-KR" sz="1400" b="1" dirty="0">
                <a:latin typeface="arial" pitchFamily="34" charset="0"/>
              </a:rPr>
              <a:t> </a:t>
            </a:r>
            <a:r>
              <a:rPr kumimoji="0" lang="en-US" altLang="ko-KR" sz="1400" b="1" dirty="0" err="1">
                <a:latin typeface="arial" pitchFamily="34" charset="0"/>
              </a:rPr>
              <a:t>không</a:t>
            </a:r>
            <a:r>
              <a:rPr kumimoji="0" lang="en-US" altLang="ko-KR" sz="1400" b="1" dirty="0">
                <a:latin typeface="arial" pitchFamily="34" charset="0"/>
              </a:rPr>
              <a:t> </a:t>
            </a:r>
            <a:r>
              <a:rPr kumimoji="0" lang="en-US" altLang="ko-KR" sz="1400" b="1" dirty="0" err="1">
                <a:latin typeface="arial" pitchFamily="34" charset="0"/>
              </a:rPr>
              <a:t>thể</a:t>
            </a:r>
            <a:r>
              <a:rPr kumimoji="0" lang="en-US" altLang="ko-KR" sz="1400" b="1" dirty="0">
                <a:latin typeface="arial" pitchFamily="34" charset="0"/>
              </a:rPr>
              <a:t> </a:t>
            </a:r>
            <a:r>
              <a:rPr kumimoji="0" lang="en-US" altLang="ko-KR" sz="1400" b="1" dirty="0" err="1">
                <a:latin typeface="arial" pitchFamily="34" charset="0"/>
              </a:rPr>
              <a:t>tránh</a:t>
            </a:r>
            <a:r>
              <a:rPr kumimoji="0" lang="en-US" altLang="ko-KR" sz="1400" b="1" dirty="0">
                <a:latin typeface="arial" pitchFamily="34" charset="0"/>
              </a:rPr>
              <a:t> </a:t>
            </a:r>
            <a:r>
              <a:rPr kumimoji="0" lang="en-US" altLang="ko-KR" sz="1400" b="1" dirty="0" err="1">
                <a:latin typeface="arial" pitchFamily="34" charset="0"/>
              </a:rPr>
              <a:t>được</a:t>
            </a:r>
            <a:r>
              <a:rPr kumimoji="0" lang="en-US" altLang="ko-KR" sz="1400" b="1" dirty="0">
                <a:latin typeface="arial" pitchFamily="34" charset="0"/>
              </a:rPr>
              <a:t> (Avoidable Causes). </a:t>
            </a:r>
            <a:r>
              <a:rPr kumimoji="0" lang="en-US" altLang="ko-KR" sz="1400" b="1" dirty="0" err="1">
                <a:latin typeface="arial" pitchFamily="34" charset="0"/>
              </a:rPr>
              <a:t>Những</a:t>
            </a:r>
            <a:r>
              <a:rPr kumimoji="0" lang="en-US" altLang="ko-KR" sz="1400" b="1" dirty="0">
                <a:latin typeface="arial" pitchFamily="34" charset="0"/>
              </a:rPr>
              <a:t> </a:t>
            </a:r>
            <a:r>
              <a:rPr kumimoji="0" lang="en-US" altLang="ko-KR" sz="1400" b="1" dirty="0" err="1">
                <a:latin typeface="arial" pitchFamily="34" charset="0"/>
              </a:rPr>
              <a:t>nguyên</a:t>
            </a:r>
            <a:r>
              <a:rPr kumimoji="0" lang="en-US" altLang="ko-KR" sz="1400" b="1" dirty="0">
                <a:latin typeface="arial" pitchFamily="34" charset="0"/>
              </a:rPr>
              <a:t> </a:t>
            </a:r>
            <a:r>
              <a:rPr kumimoji="0" lang="en-US" altLang="ko-KR" sz="1400" b="1" dirty="0" err="1">
                <a:latin typeface="arial" pitchFamily="34" charset="0"/>
              </a:rPr>
              <a:t>nhân</a:t>
            </a:r>
            <a:r>
              <a:rPr kumimoji="0" lang="en-US" altLang="ko-KR" sz="1400" b="1" dirty="0">
                <a:latin typeface="arial" pitchFamily="34" charset="0"/>
              </a:rPr>
              <a:t> </a:t>
            </a:r>
            <a:r>
              <a:rPr kumimoji="0" lang="en-US" altLang="ko-KR" sz="1400" b="1" dirty="0" err="1">
                <a:latin typeface="arial" pitchFamily="34" charset="0"/>
              </a:rPr>
              <a:t>này</a:t>
            </a:r>
            <a:r>
              <a:rPr kumimoji="0" lang="en-US" altLang="ko-KR" sz="1400" b="1" dirty="0">
                <a:latin typeface="arial" pitchFamily="34" charset="0"/>
              </a:rPr>
              <a:t> </a:t>
            </a:r>
            <a:r>
              <a:rPr kumimoji="0" lang="en-US" altLang="ko-KR" sz="1400" b="1" dirty="0" err="1">
                <a:latin typeface="arial" pitchFamily="34" charset="0"/>
              </a:rPr>
              <a:t>thường</a:t>
            </a:r>
            <a:r>
              <a:rPr kumimoji="0" lang="en-US" altLang="ko-KR" sz="1400" b="1" dirty="0">
                <a:latin typeface="arial" pitchFamily="34" charset="0"/>
              </a:rPr>
              <a:t> </a:t>
            </a:r>
            <a:r>
              <a:rPr kumimoji="0" lang="en-US" altLang="ko-KR" sz="1400" b="1" dirty="0" err="1">
                <a:latin typeface="arial" pitchFamily="34" charset="0"/>
              </a:rPr>
              <a:t>không</a:t>
            </a:r>
            <a:r>
              <a:rPr kumimoji="0" lang="en-US" altLang="ko-KR" sz="1400" b="1" dirty="0">
                <a:latin typeface="arial" pitchFamily="34" charset="0"/>
              </a:rPr>
              <a:t> </a:t>
            </a:r>
            <a:r>
              <a:rPr kumimoji="0" lang="en-US" altLang="ko-KR" sz="1400" b="1" dirty="0" err="1">
                <a:latin typeface="arial" pitchFamily="34" charset="0"/>
              </a:rPr>
              <a:t>kéo</a:t>
            </a:r>
            <a:r>
              <a:rPr kumimoji="0" lang="en-US" altLang="ko-KR" sz="1400" b="1" dirty="0">
                <a:latin typeface="arial" pitchFamily="34" charset="0"/>
              </a:rPr>
              <a:t> </a:t>
            </a:r>
            <a:r>
              <a:rPr kumimoji="0" lang="en-US" altLang="ko-KR" sz="1400" b="1" dirty="0" err="1">
                <a:latin typeface="arial" pitchFamily="34" charset="0"/>
              </a:rPr>
              <a:t>dài</a:t>
            </a:r>
            <a:r>
              <a:rPr kumimoji="0" lang="en-US" altLang="ko-KR" sz="1400" b="1" dirty="0">
                <a:latin typeface="arial" pitchFamily="34" charset="0"/>
              </a:rPr>
              <a:t>, </a:t>
            </a:r>
            <a:r>
              <a:rPr kumimoji="0" lang="en-US" altLang="ko-KR" sz="1400" b="1" dirty="0" err="1">
                <a:latin typeface="arial" pitchFamily="34" charset="0"/>
              </a:rPr>
              <a:t>nhưng</a:t>
            </a:r>
            <a:r>
              <a:rPr kumimoji="0" lang="en-US" altLang="ko-KR" sz="1400" b="1" dirty="0">
                <a:latin typeface="arial" pitchFamily="34" charset="0"/>
              </a:rPr>
              <a:t> </a:t>
            </a:r>
            <a:r>
              <a:rPr kumimoji="0" lang="en-US" altLang="ko-KR" sz="1400" b="1" dirty="0" err="1">
                <a:latin typeface="arial" pitchFamily="34" charset="0"/>
              </a:rPr>
              <a:t>chúng</a:t>
            </a:r>
            <a:r>
              <a:rPr kumimoji="0" lang="en-US" altLang="ko-KR" sz="1400" b="1" dirty="0">
                <a:latin typeface="arial" pitchFamily="34" charset="0"/>
              </a:rPr>
              <a:t> </a:t>
            </a:r>
            <a:r>
              <a:rPr kumimoji="0" lang="en-US" altLang="ko-KR" sz="1400" b="1" dirty="0" err="1">
                <a:latin typeface="arial" pitchFamily="34" charset="0"/>
              </a:rPr>
              <a:t>xảy</a:t>
            </a:r>
            <a:r>
              <a:rPr kumimoji="0" lang="en-US" altLang="ko-KR" sz="1400" b="1" dirty="0">
                <a:latin typeface="arial" pitchFamily="34" charset="0"/>
              </a:rPr>
              <a:t> </a:t>
            </a:r>
            <a:r>
              <a:rPr kumimoji="0" lang="en-US" altLang="ko-KR" sz="1400" b="1" dirty="0" err="1">
                <a:latin typeface="arial" pitchFamily="34" charset="0"/>
              </a:rPr>
              <a:t>ra</a:t>
            </a:r>
            <a:r>
              <a:rPr kumimoji="0" lang="en-US" altLang="ko-KR" sz="1400" b="1" dirty="0">
                <a:latin typeface="arial" pitchFamily="34" charset="0"/>
              </a:rPr>
              <a:t> </a:t>
            </a:r>
            <a:r>
              <a:rPr kumimoji="0" lang="en-US" altLang="ko-KR" sz="1400" b="1" dirty="0" err="1">
                <a:latin typeface="arial" pitchFamily="34" charset="0"/>
              </a:rPr>
              <a:t>không</a:t>
            </a:r>
            <a:r>
              <a:rPr kumimoji="0" lang="en-US" altLang="ko-KR" sz="1400" b="1" dirty="0">
                <a:latin typeface="arial" pitchFamily="34" charset="0"/>
              </a:rPr>
              <a:t> </a:t>
            </a:r>
            <a:r>
              <a:rPr kumimoji="0" lang="en-US" altLang="ko-KR" sz="1400" b="1" dirty="0" err="1">
                <a:latin typeface="arial" pitchFamily="34" charset="0"/>
              </a:rPr>
              <a:t>thường</a:t>
            </a:r>
            <a:r>
              <a:rPr kumimoji="0" lang="en-US" altLang="ko-KR" sz="1400" b="1" dirty="0">
                <a:latin typeface="arial" pitchFamily="34" charset="0"/>
              </a:rPr>
              <a:t> </a:t>
            </a:r>
            <a:r>
              <a:rPr kumimoji="0" lang="en-US" altLang="ko-KR" sz="1400" b="1" dirty="0" err="1">
                <a:latin typeface="arial" pitchFamily="34" charset="0"/>
              </a:rPr>
              <a:t>xuyên</a:t>
            </a:r>
            <a:r>
              <a:rPr kumimoji="0" lang="en-US" altLang="ko-KR" sz="1400" b="1" dirty="0">
                <a:latin typeface="arial" pitchFamily="34" charset="0"/>
              </a:rPr>
              <a:t> </a:t>
            </a:r>
            <a:r>
              <a:rPr kumimoji="0" lang="en-US" altLang="ko-KR" sz="1400" b="1" dirty="0" err="1">
                <a:latin typeface="arial" pitchFamily="34" charset="0"/>
              </a:rPr>
              <a:t>và</a:t>
            </a:r>
            <a:r>
              <a:rPr kumimoji="0" lang="en-US" altLang="ko-KR" sz="1400" b="1" dirty="0">
                <a:latin typeface="arial" pitchFamily="34" charset="0"/>
              </a:rPr>
              <a:t> </a:t>
            </a:r>
            <a:r>
              <a:rPr kumimoji="0" lang="en-US" altLang="ko-KR" sz="1400" b="1" dirty="0" err="1">
                <a:latin typeface="arial" pitchFamily="34" charset="0"/>
              </a:rPr>
              <a:t>khá</a:t>
            </a:r>
            <a:r>
              <a:rPr kumimoji="0" lang="en-US" altLang="ko-KR" sz="1400" b="1" dirty="0">
                <a:latin typeface="arial" pitchFamily="34" charset="0"/>
              </a:rPr>
              <a:t> </a:t>
            </a:r>
            <a:r>
              <a:rPr kumimoji="0" lang="en-US" altLang="ko-KR" sz="1400" b="1" dirty="0" err="1">
                <a:latin typeface="arial" pitchFamily="34" charset="0"/>
              </a:rPr>
              <a:t>bất</a:t>
            </a:r>
            <a:r>
              <a:rPr kumimoji="0" lang="en-US" altLang="ko-KR" sz="1400" b="1" dirty="0">
                <a:latin typeface="arial" pitchFamily="34" charset="0"/>
              </a:rPr>
              <a:t> </a:t>
            </a:r>
            <a:r>
              <a:rPr kumimoji="0" lang="en-US" altLang="ko-KR" sz="1400" b="1" dirty="0" err="1">
                <a:latin typeface="arial" pitchFamily="34" charset="0"/>
              </a:rPr>
              <a:t>ngờ</a:t>
            </a:r>
            <a:r>
              <a:rPr kumimoji="0" lang="en-US" altLang="ko-KR" sz="1400" b="1" dirty="0">
                <a:latin typeface="arial" pitchFamily="34" charset="0"/>
              </a:rPr>
              <a:t>, </a:t>
            </a:r>
            <a:r>
              <a:rPr kumimoji="0" lang="en-US" altLang="ko-KR" sz="1400" b="1" dirty="0" err="1">
                <a:latin typeface="arial" pitchFamily="34" charset="0"/>
              </a:rPr>
              <a:t>làm</a:t>
            </a:r>
            <a:r>
              <a:rPr kumimoji="0" lang="en-US" altLang="ko-KR" sz="1400" b="1" dirty="0">
                <a:latin typeface="arial" pitchFamily="34" charset="0"/>
              </a:rPr>
              <a:t> </a:t>
            </a:r>
            <a:r>
              <a:rPr kumimoji="0" lang="en-US" altLang="ko-KR" sz="1400" b="1" dirty="0" err="1">
                <a:latin typeface="arial" pitchFamily="34" charset="0"/>
              </a:rPr>
              <a:t>tăng</a:t>
            </a:r>
            <a:r>
              <a:rPr kumimoji="0" lang="en-US" altLang="ko-KR" sz="1400" b="1" dirty="0">
                <a:latin typeface="arial" pitchFamily="34" charset="0"/>
              </a:rPr>
              <a:t> </a:t>
            </a:r>
            <a:r>
              <a:rPr kumimoji="0" lang="en-US" altLang="ko-KR" sz="1400" b="1" dirty="0" err="1">
                <a:latin typeface="arial" pitchFamily="34" charset="0"/>
              </a:rPr>
              <a:t>chênh</a:t>
            </a:r>
            <a:r>
              <a:rPr kumimoji="0" lang="en-US" altLang="ko-KR" sz="1400" b="1" dirty="0">
                <a:latin typeface="arial" pitchFamily="34" charset="0"/>
              </a:rPr>
              <a:t> </a:t>
            </a:r>
            <a:r>
              <a:rPr kumimoji="0" lang="en-US" altLang="ko-KR" sz="1400" b="1" dirty="0" err="1">
                <a:latin typeface="arial" pitchFamily="34" charset="0"/>
              </a:rPr>
              <a:t>lệch</a:t>
            </a:r>
            <a:r>
              <a:rPr kumimoji="0" lang="en-US" altLang="ko-KR" sz="1400" b="1" dirty="0">
                <a:latin typeface="arial" pitchFamily="34" charset="0"/>
              </a:rPr>
              <a:t> </a:t>
            </a:r>
            <a:r>
              <a:rPr kumimoji="0" lang="en-US" altLang="ko-KR" sz="1400" b="1" dirty="0" err="1">
                <a:latin typeface="arial" pitchFamily="34" charset="0"/>
              </a:rPr>
              <a:t>về</a:t>
            </a:r>
            <a:r>
              <a:rPr kumimoji="0" lang="en-US" altLang="ko-KR" sz="1400" b="1" dirty="0">
                <a:latin typeface="arial" pitchFamily="34" charset="0"/>
              </a:rPr>
              <a:t> </a:t>
            </a:r>
            <a:r>
              <a:rPr kumimoji="0" lang="en-US" altLang="ko-KR" sz="1400" b="1" dirty="0" err="1">
                <a:latin typeface="arial" pitchFamily="34" charset="0"/>
              </a:rPr>
              <a:t>chất</a:t>
            </a:r>
            <a:r>
              <a:rPr kumimoji="0" lang="en-US" altLang="ko-KR" sz="1400" b="1" dirty="0">
                <a:latin typeface="arial" pitchFamily="34" charset="0"/>
              </a:rPr>
              <a:t> </a:t>
            </a:r>
            <a:r>
              <a:rPr kumimoji="0" lang="en-US" altLang="ko-KR" sz="1400" b="1" dirty="0" err="1">
                <a:latin typeface="arial" pitchFamily="34" charset="0"/>
              </a:rPr>
              <a:t>lượng</a:t>
            </a:r>
            <a:r>
              <a:rPr kumimoji="0" lang="en-US" altLang="ko-KR" sz="1400" b="1" dirty="0">
                <a:latin typeface="arial" pitchFamily="34" charset="0"/>
              </a:rPr>
              <a:t>.</a:t>
            </a:r>
          </a:p>
          <a:p>
            <a:pPr marL="0" indent="228600" latinLnBrk="0">
              <a:lnSpc>
                <a:spcPct val="120000"/>
              </a:lnSpc>
            </a:pPr>
            <a:r>
              <a:rPr kumimoji="0" lang="en-US" altLang="ko-KR" sz="1400" b="1" dirty="0" err="1">
                <a:latin typeface="arial" pitchFamily="34" charset="0"/>
              </a:rPr>
              <a:t>Nguyên</a:t>
            </a:r>
            <a:r>
              <a:rPr kumimoji="0" lang="en-US" altLang="ko-KR" sz="1400" b="1" dirty="0">
                <a:latin typeface="arial" pitchFamily="34" charset="0"/>
              </a:rPr>
              <a:t> </a:t>
            </a:r>
            <a:r>
              <a:rPr kumimoji="0" lang="en-US" altLang="ko-KR" sz="1400" b="1" dirty="0" err="1">
                <a:latin typeface="arial" pitchFamily="34" charset="0"/>
              </a:rPr>
              <a:t>nhân</a:t>
            </a:r>
            <a:r>
              <a:rPr kumimoji="0" lang="en-US" altLang="ko-KR" sz="1400" b="1" dirty="0">
                <a:latin typeface="arial" pitchFamily="34" charset="0"/>
              </a:rPr>
              <a:t> </a:t>
            </a:r>
            <a:r>
              <a:rPr kumimoji="0" lang="en-US" altLang="ko-KR" sz="1400" b="1" dirty="0" err="1">
                <a:latin typeface="arial" pitchFamily="34" charset="0"/>
              </a:rPr>
              <a:t>không</a:t>
            </a:r>
            <a:r>
              <a:rPr kumimoji="0" lang="en-US" altLang="ko-KR" sz="1400" b="1" dirty="0">
                <a:latin typeface="arial" pitchFamily="34" charset="0"/>
              </a:rPr>
              <a:t> </a:t>
            </a:r>
            <a:r>
              <a:rPr kumimoji="0" lang="en-US" altLang="ko-KR" sz="1400" b="1" dirty="0" err="1">
                <a:latin typeface="arial" pitchFamily="34" charset="0"/>
              </a:rPr>
              <a:t>ngẫu</a:t>
            </a:r>
            <a:r>
              <a:rPr kumimoji="0" lang="en-US" altLang="ko-KR" sz="1400" b="1" dirty="0">
                <a:latin typeface="arial" pitchFamily="34" charset="0"/>
              </a:rPr>
              <a:t> </a:t>
            </a:r>
            <a:r>
              <a:rPr kumimoji="0" lang="en-US" altLang="ko-KR" sz="1400" b="1" dirty="0" err="1">
                <a:latin typeface="arial" pitchFamily="34" charset="0"/>
              </a:rPr>
              <a:t>nhiên</a:t>
            </a:r>
            <a:r>
              <a:rPr kumimoji="0" lang="en-US" altLang="ko-KR" sz="1400" b="1" dirty="0">
                <a:latin typeface="arial" pitchFamily="34" charset="0"/>
              </a:rPr>
              <a:t> </a:t>
            </a:r>
            <a:r>
              <a:rPr kumimoji="0" lang="en-US" altLang="ko-KR" sz="1400" b="1" dirty="0" err="1">
                <a:latin typeface="arial" pitchFamily="34" charset="0"/>
              </a:rPr>
              <a:t>có</a:t>
            </a:r>
            <a:r>
              <a:rPr kumimoji="0" lang="en-US" altLang="ko-KR" sz="1400" b="1" dirty="0">
                <a:latin typeface="arial" pitchFamily="34" charset="0"/>
              </a:rPr>
              <a:t> </a:t>
            </a:r>
            <a:r>
              <a:rPr kumimoji="0" lang="en-US" altLang="ko-KR" sz="1400" b="1" dirty="0" err="1">
                <a:latin typeface="arial" pitchFamily="34" charset="0"/>
              </a:rPr>
              <a:t>thể</a:t>
            </a:r>
            <a:r>
              <a:rPr kumimoji="0" lang="en-US" altLang="ko-KR" sz="1400" b="1" dirty="0">
                <a:latin typeface="arial" pitchFamily="34" charset="0"/>
              </a:rPr>
              <a:t> </a:t>
            </a:r>
            <a:r>
              <a:rPr kumimoji="0" lang="en-US" altLang="ko-KR" sz="1400" b="1" dirty="0" err="1">
                <a:latin typeface="arial" pitchFamily="34" charset="0"/>
              </a:rPr>
              <a:t>là</a:t>
            </a:r>
            <a:r>
              <a:rPr kumimoji="0" lang="en-US" altLang="ko-KR" sz="1400" b="1" dirty="0">
                <a:latin typeface="arial" pitchFamily="34" charset="0"/>
              </a:rPr>
              <a:t>:</a:t>
            </a:r>
          </a:p>
          <a:p>
            <a:pPr marL="0" indent="228600" latinLnBrk="0">
              <a:lnSpc>
                <a:spcPct val="120000"/>
              </a:lnSpc>
            </a:pPr>
            <a:endParaRPr kumimoji="0" lang="ko-KR" altLang="en-US" sz="800" dirty="0">
              <a:latin typeface="arial" pitchFamily="34" charset="0"/>
              <a:ea typeface="맑은 고딕" pitchFamily="50" charset="-127"/>
            </a:endParaRPr>
          </a:p>
          <a:p>
            <a:pPr marL="0" indent="228600" latinLnBrk="0">
              <a:lnSpc>
                <a:spcPct val="130000"/>
              </a:lnSpc>
              <a:buFontTx/>
              <a:buChar char="•"/>
              <a:defRPr/>
            </a:pPr>
            <a:r>
              <a:rPr kumimoji="0" lang="en-US" altLang="ko-KR" sz="1200" dirty="0" err="1">
                <a:latin typeface="arial" pitchFamily="34" charset="0"/>
                <a:ea typeface="+mn-ea"/>
              </a:rPr>
              <a:t>Sự</a:t>
            </a:r>
            <a:r>
              <a:rPr kumimoji="0" lang="en-US" altLang="ko-KR" sz="1200" dirty="0">
                <a:latin typeface="arial" pitchFamily="34" charset="0"/>
                <a:ea typeface="+mn-ea"/>
              </a:rPr>
              <a:t> </a:t>
            </a:r>
            <a:r>
              <a:rPr kumimoji="0" lang="en-US" altLang="ko-KR" sz="1200" dirty="0" err="1">
                <a:latin typeface="arial" pitchFamily="34" charset="0"/>
                <a:ea typeface="+mn-ea"/>
              </a:rPr>
              <a:t>bất</a:t>
            </a:r>
            <a:r>
              <a:rPr kumimoji="0" lang="en-US" altLang="ko-KR" sz="1200" dirty="0">
                <a:latin typeface="arial" pitchFamily="34" charset="0"/>
                <a:ea typeface="+mn-ea"/>
              </a:rPr>
              <a:t> </a:t>
            </a:r>
            <a:r>
              <a:rPr kumimoji="0" lang="en-US" altLang="ko-KR" sz="1200" dirty="0" err="1">
                <a:latin typeface="arial" pitchFamily="34" charset="0"/>
                <a:ea typeface="+mn-ea"/>
              </a:rPr>
              <a:t>cẩn</a:t>
            </a:r>
            <a:r>
              <a:rPr kumimoji="0" lang="en-US" altLang="ko-KR" sz="1200" dirty="0">
                <a:latin typeface="arial" pitchFamily="34" charset="0"/>
                <a:ea typeface="+mn-ea"/>
              </a:rPr>
              <a:t> </a:t>
            </a:r>
            <a:r>
              <a:rPr kumimoji="0" lang="en-US" altLang="ko-KR" sz="1200" dirty="0" err="1">
                <a:latin typeface="arial" pitchFamily="34" charset="0"/>
                <a:ea typeface="+mn-ea"/>
              </a:rPr>
              <a:t>của</a:t>
            </a:r>
            <a:r>
              <a:rPr kumimoji="0" lang="en-US" altLang="ko-KR" sz="1200" dirty="0">
                <a:latin typeface="arial" pitchFamily="34" charset="0"/>
                <a:ea typeface="+mn-ea"/>
              </a:rPr>
              <a:t> </a:t>
            </a:r>
            <a:r>
              <a:rPr kumimoji="0" lang="en-US" altLang="ko-KR" sz="1200" dirty="0" err="1">
                <a:latin typeface="arial" pitchFamily="34" charset="0"/>
                <a:ea typeface="+mn-ea"/>
              </a:rPr>
              <a:t>công</a:t>
            </a:r>
            <a:r>
              <a:rPr kumimoji="0" lang="en-US" altLang="ko-KR" sz="1200" dirty="0">
                <a:latin typeface="arial" pitchFamily="34" charset="0"/>
                <a:ea typeface="+mn-ea"/>
              </a:rPr>
              <a:t> </a:t>
            </a:r>
            <a:r>
              <a:rPr kumimoji="0" lang="en-US" altLang="ko-KR" sz="1200" dirty="0" err="1">
                <a:latin typeface="arial" pitchFamily="34" charset="0"/>
                <a:ea typeface="+mn-ea"/>
              </a:rPr>
              <a:t>nhân</a:t>
            </a:r>
            <a:endParaRPr kumimoji="0" lang="ko-KR" altLang="en-US" sz="1200" dirty="0">
              <a:latin typeface="arial" pitchFamily="34" charset="0"/>
              <a:ea typeface="+mn-ea"/>
            </a:endParaRPr>
          </a:p>
          <a:p>
            <a:pPr marL="0" indent="228600" latinLnBrk="0">
              <a:lnSpc>
                <a:spcPct val="130000"/>
              </a:lnSpc>
              <a:buFontTx/>
              <a:buChar char="•"/>
              <a:defRPr/>
            </a:pPr>
            <a:r>
              <a:rPr kumimoji="0" lang="en-US" altLang="ko-KR" sz="1200" dirty="0" err="1">
                <a:latin typeface="arial" pitchFamily="34" charset="0"/>
                <a:ea typeface="+mn-ea"/>
              </a:rPr>
              <a:t>Sử</a:t>
            </a:r>
            <a:r>
              <a:rPr kumimoji="0" lang="en-US" altLang="ko-KR" sz="1200" dirty="0">
                <a:latin typeface="arial" pitchFamily="34" charset="0"/>
                <a:ea typeface="+mn-ea"/>
              </a:rPr>
              <a:t> </a:t>
            </a:r>
            <a:r>
              <a:rPr kumimoji="0" lang="en-US" altLang="ko-KR" sz="1200" dirty="0" err="1">
                <a:latin typeface="arial" pitchFamily="34" charset="0"/>
                <a:ea typeface="+mn-ea"/>
              </a:rPr>
              <a:t>dụng</a:t>
            </a:r>
            <a:r>
              <a:rPr kumimoji="0" lang="en-US" altLang="ko-KR" sz="1200" dirty="0">
                <a:latin typeface="arial" pitchFamily="34" charset="0"/>
                <a:ea typeface="+mn-ea"/>
              </a:rPr>
              <a:t> </a:t>
            </a:r>
            <a:r>
              <a:rPr kumimoji="0" lang="en-US" altLang="ko-KR" sz="1200" dirty="0" err="1">
                <a:latin typeface="arial" pitchFamily="34" charset="0"/>
                <a:ea typeface="+mn-ea"/>
              </a:rPr>
              <a:t>linh</a:t>
            </a:r>
            <a:r>
              <a:rPr kumimoji="0" lang="en-US" altLang="ko-KR" sz="1200" dirty="0">
                <a:latin typeface="arial" pitchFamily="34" charset="0"/>
                <a:ea typeface="+mn-ea"/>
              </a:rPr>
              <a:t> </a:t>
            </a:r>
            <a:r>
              <a:rPr kumimoji="0" lang="en-US" altLang="ko-KR" sz="1200" dirty="0" err="1">
                <a:latin typeface="arial" pitchFamily="34" charset="0"/>
                <a:ea typeface="+mn-ea"/>
              </a:rPr>
              <a:t>phụ</a:t>
            </a:r>
            <a:r>
              <a:rPr kumimoji="0" lang="en-US" altLang="ko-KR" sz="1200" dirty="0">
                <a:latin typeface="arial" pitchFamily="34" charset="0"/>
                <a:ea typeface="+mn-ea"/>
              </a:rPr>
              <a:t> </a:t>
            </a:r>
            <a:r>
              <a:rPr kumimoji="0" lang="en-US" altLang="ko-KR" sz="1200" dirty="0" err="1">
                <a:latin typeface="arial" pitchFamily="34" charset="0"/>
                <a:ea typeface="+mn-ea"/>
              </a:rPr>
              <a:t>kiện</a:t>
            </a:r>
            <a:r>
              <a:rPr kumimoji="0" lang="en-US" altLang="ko-KR" sz="1200" dirty="0">
                <a:latin typeface="arial" pitchFamily="34" charset="0"/>
                <a:ea typeface="+mn-ea"/>
              </a:rPr>
              <a:t> </a:t>
            </a:r>
            <a:r>
              <a:rPr kumimoji="0" lang="en-US" altLang="ko-KR" sz="1200" dirty="0" err="1">
                <a:latin typeface="arial" pitchFamily="34" charset="0"/>
                <a:ea typeface="+mn-ea"/>
              </a:rPr>
              <a:t>bị</a:t>
            </a:r>
            <a:r>
              <a:rPr kumimoji="0" lang="en-US" altLang="ko-KR" sz="1200" dirty="0">
                <a:latin typeface="arial" pitchFamily="34" charset="0"/>
                <a:ea typeface="+mn-ea"/>
              </a:rPr>
              <a:t> </a:t>
            </a:r>
            <a:r>
              <a:rPr kumimoji="0" lang="en-US" altLang="ko-KR" sz="1200" dirty="0" err="1">
                <a:latin typeface="arial" pitchFamily="34" charset="0"/>
                <a:ea typeface="+mn-ea"/>
              </a:rPr>
              <a:t>lỗi</a:t>
            </a:r>
            <a:endParaRPr kumimoji="0" lang="ko-KR" altLang="en-US" sz="1200" dirty="0">
              <a:latin typeface="arial" pitchFamily="34" charset="0"/>
              <a:ea typeface="+mn-ea"/>
            </a:endParaRPr>
          </a:p>
          <a:p>
            <a:pPr marL="0" indent="228600" latinLnBrk="0">
              <a:lnSpc>
                <a:spcPct val="130000"/>
              </a:lnSpc>
              <a:buFontTx/>
              <a:buChar char="•"/>
              <a:defRPr/>
            </a:pPr>
            <a:r>
              <a:rPr kumimoji="0" lang="en-US" altLang="ko-KR" sz="1200" dirty="0" err="1">
                <a:latin typeface="arial" pitchFamily="34" charset="0"/>
                <a:ea typeface="+mn-ea"/>
              </a:rPr>
              <a:t>Vấn</a:t>
            </a:r>
            <a:r>
              <a:rPr kumimoji="0" lang="en-US" altLang="ko-KR" sz="1200" dirty="0">
                <a:latin typeface="arial" pitchFamily="34" charset="0"/>
                <a:ea typeface="+mn-ea"/>
              </a:rPr>
              <a:t> </a:t>
            </a:r>
            <a:r>
              <a:rPr kumimoji="0" lang="en-US" altLang="ko-KR" sz="1200" dirty="0" err="1">
                <a:latin typeface="arial" pitchFamily="34" charset="0"/>
                <a:ea typeface="+mn-ea"/>
              </a:rPr>
              <a:t>đề</a:t>
            </a:r>
            <a:r>
              <a:rPr kumimoji="0" lang="en-US" altLang="ko-KR" sz="1200" dirty="0">
                <a:latin typeface="arial" pitchFamily="34" charset="0"/>
                <a:ea typeface="+mn-ea"/>
              </a:rPr>
              <a:t> </a:t>
            </a:r>
            <a:r>
              <a:rPr kumimoji="0" lang="en-US" altLang="ko-KR" sz="1200" dirty="0" err="1">
                <a:latin typeface="arial" pitchFamily="34" charset="0"/>
                <a:ea typeface="+mn-ea"/>
              </a:rPr>
              <a:t>nằm</a:t>
            </a:r>
            <a:r>
              <a:rPr kumimoji="0" lang="en-US" altLang="ko-KR" sz="1200" dirty="0">
                <a:latin typeface="arial" pitchFamily="34" charset="0"/>
                <a:ea typeface="+mn-ea"/>
              </a:rPr>
              <a:t> ở </a:t>
            </a:r>
            <a:r>
              <a:rPr kumimoji="0" lang="en-US" altLang="ko-KR" sz="1200" dirty="0" err="1">
                <a:latin typeface="arial" pitchFamily="34" charset="0"/>
                <a:ea typeface="+mn-ea"/>
              </a:rPr>
              <a:t>các</a:t>
            </a:r>
            <a:r>
              <a:rPr kumimoji="0" lang="en-US" altLang="ko-KR" sz="1200" dirty="0">
                <a:latin typeface="arial" pitchFamily="34" charset="0"/>
                <a:ea typeface="+mn-ea"/>
              </a:rPr>
              <a:t> </a:t>
            </a:r>
            <a:r>
              <a:rPr kumimoji="0" lang="en-US" altLang="ko-KR" sz="1200" dirty="0" err="1">
                <a:latin typeface="arial" pitchFamily="34" charset="0"/>
                <a:ea typeface="+mn-ea"/>
              </a:rPr>
              <a:t>thiết</a:t>
            </a:r>
            <a:r>
              <a:rPr kumimoji="0" lang="en-US" altLang="ko-KR" sz="1200" dirty="0">
                <a:latin typeface="arial" pitchFamily="34" charset="0"/>
                <a:ea typeface="+mn-ea"/>
              </a:rPr>
              <a:t> </a:t>
            </a:r>
            <a:r>
              <a:rPr kumimoji="0" lang="en-US" altLang="ko-KR" sz="1200" dirty="0" err="1">
                <a:latin typeface="arial" pitchFamily="34" charset="0"/>
                <a:ea typeface="+mn-ea"/>
              </a:rPr>
              <a:t>bị</a:t>
            </a:r>
            <a:r>
              <a:rPr kumimoji="0" lang="en-US" altLang="ko-KR" sz="1200" dirty="0">
                <a:latin typeface="arial" pitchFamily="34" charset="0"/>
                <a:ea typeface="+mn-ea"/>
              </a:rPr>
              <a:t> </a:t>
            </a:r>
            <a:r>
              <a:rPr kumimoji="0" lang="en-US" altLang="ko-KR" sz="1200" dirty="0" err="1">
                <a:latin typeface="arial" pitchFamily="34" charset="0"/>
                <a:ea typeface="+mn-ea"/>
              </a:rPr>
              <a:t>sản</a:t>
            </a:r>
            <a:r>
              <a:rPr kumimoji="0" lang="en-US" altLang="ko-KR" sz="1200" dirty="0">
                <a:latin typeface="arial" pitchFamily="34" charset="0"/>
                <a:ea typeface="+mn-ea"/>
              </a:rPr>
              <a:t> </a:t>
            </a:r>
            <a:r>
              <a:rPr kumimoji="0" lang="en-US" altLang="ko-KR" sz="1200" dirty="0" err="1">
                <a:latin typeface="arial" pitchFamily="34" charset="0"/>
                <a:ea typeface="+mn-ea"/>
              </a:rPr>
              <a:t>xuất</a:t>
            </a:r>
            <a:endParaRPr kumimoji="0" lang="en-US" altLang="ko-KR" sz="1200" dirty="0">
              <a:latin typeface="arial" pitchFamily="34" charset="0"/>
              <a:ea typeface="+mn-ea"/>
            </a:endParaRPr>
          </a:p>
          <a:p>
            <a:pPr marL="0" indent="228600" latinLnBrk="0">
              <a:lnSpc>
                <a:spcPct val="130000"/>
              </a:lnSpc>
              <a:buFontTx/>
              <a:buChar char="•"/>
              <a:defRPr/>
            </a:pPr>
            <a:r>
              <a:rPr kumimoji="0" lang="en-US" altLang="ko-KR" sz="1200" dirty="0" err="1">
                <a:latin typeface="arial" pitchFamily="34" charset="0"/>
                <a:ea typeface="+mn-ea"/>
              </a:rPr>
              <a:t>Không</a:t>
            </a:r>
            <a:r>
              <a:rPr kumimoji="0" lang="en-US" altLang="ko-KR" sz="1200" dirty="0">
                <a:latin typeface="arial" pitchFamily="34" charset="0"/>
                <a:ea typeface="+mn-ea"/>
              </a:rPr>
              <a:t> </a:t>
            </a:r>
            <a:r>
              <a:rPr kumimoji="0" lang="en-US" altLang="ko-KR" sz="1200" dirty="0" err="1">
                <a:latin typeface="arial" pitchFamily="34" charset="0"/>
                <a:ea typeface="+mn-ea"/>
              </a:rPr>
              <a:t>đảm</a:t>
            </a:r>
            <a:r>
              <a:rPr kumimoji="0" lang="en-US" altLang="ko-KR" sz="1200" dirty="0">
                <a:latin typeface="arial" pitchFamily="34" charset="0"/>
                <a:ea typeface="+mn-ea"/>
              </a:rPr>
              <a:t> </a:t>
            </a:r>
            <a:r>
              <a:rPr kumimoji="0" lang="en-US" altLang="ko-KR" sz="1200" dirty="0" err="1">
                <a:latin typeface="arial" pitchFamily="34" charset="0"/>
                <a:ea typeface="+mn-ea"/>
              </a:rPr>
              <a:t>bảo</a:t>
            </a:r>
            <a:r>
              <a:rPr kumimoji="0" lang="en-US" altLang="ko-KR" sz="1200" dirty="0">
                <a:latin typeface="arial" pitchFamily="34" charset="0"/>
                <a:ea typeface="+mn-ea"/>
              </a:rPr>
              <a:t> </a:t>
            </a:r>
            <a:r>
              <a:rPr kumimoji="0" lang="en-US" altLang="ko-KR" sz="1200" dirty="0" err="1">
                <a:latin typeface="arial" pitchFamily="34" charset="0"/>
                <a:ea typeface="+mn-ea"/>
              </a:rPr>
              <a:t>được</a:t>
            </a:r>
            <a:r>
              <a:rPr kumimoji="0" lang="en-US" altLang="ko-KR" sz="1200" dirty="0">
                <a:latin typeface="arial" pitchFamily="34" charset="0"/>
                <a:ea typeface="+mn-ea"/>
              </a:rPr>
              <a:t> </a:t>
            </a:r>
            <a:r>
              <a:rPr kumimoji="0" lang="en-US" altLang="ko-KR" sz="1200" dirty="0" err="1">
                <a:latin typeface="arial" pitchFamily="34" charset="0"/>
                <a:ea typeface="+mn-ea"/>
              </a:rPr>
              <a:t>những</a:t>
            </a:r>
            <a:r>
              <a:rPr kumimoji="0" lang="en-US" altLang="ko-KR" sz="1200" dirty="0">
                <a:latin typeface="arial" pitchFamily="34" charset="0"/>
                <a:ea typeface="+mn-ea"/>
              </a:rPr>
              <a:t> </a:t>
            </a:r>
            <a:r>
              <a:rPr kumimoji="0" lang="en-US" altLang="ko-KR" sz="1200" dirty="0" err="1">
                <a:latin typeface="arial" pitchFamily="34" charset="0"/>
                <a:ea typeface="+mn-ea"/>
              </a:rPr>
              <a:t>nguyên</a:t>
            </a:r>
            <a:r>
              <a:rPr kumimoji="0" lang="en-US" altLang="ko-KR" sz="1200" dirty="0">
                <a:latin typeface="arial" pitchFamily="34" charset="0"/>
                <a:ea typeface="+mn-ea"/>
              </a:rPr>
              <a:t> </a:t>
            </a:r>
            <a:r>
              <a:rPr kumimoji="0" lang="en-US" altLang="ko-KR" sz="1200" dirty="0" err="1">
                <a:latin typeface="arial" pitchFamily="34" charset="0"/>
                <a:ea typeface="+mn-ea"/>
              </a:rPr>
              <a:t>tắc</a:t>
            </a:r>
            <a:r>
              <a:rPr kumimoji="0" lang="en-US" altLang="ko-KR" sz="1200" dirty="0">
                <a:latin typeface="arial" pitchFamily="34" charset="0"/>
                <a:ea typeface="+mn-ea"/>
              </a:rPr>
              <a:t> </a:t>
            </a:r>
            <a:r>
              <a:rPr kumimoji="0" lang="en-US" altLang="ko-KR" sz="1200" dirty="0" err="1">
                <a:latin typeface="arial" pitchFamily="34" charset="0"/>
                <a:ea typeface="+mn-ea"/>
              </a:rPr>
              <a:t>cơ</a:t>
            </a:r>
            <a:r>
              <a:rPr kumimoji="0" lang="en-US" altLang="ko-KR" sz="1200" dirty="0">
                <a:latin typeface="arial" pitchFamily="34" charset="0"/>
                <a:ea typeface="+mn-ea"/>
              </a:rPr>
              <a:t> </a:t>
            </a:r>
            <a:r>
              <a:rPr kumimoji="0" lang="en-US" altLang="ko-KR" sz="1200" dirty="0" err="1">
                <a:latin typeface="arial" pitchFamily="34" charset="0"/>
                <a:ea typeface="+mn-ea"/>
              </a:rPr>
              <a:t>bản</a:t>
            </a: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lnSpc>
                <a:spcPct val="90000"/>
              </a:lnSpc>
              <a:spcBef>
                <a:spcPct val="50000"/>
              </a:spcBef>
            </a:pPr>
            <a:endParaRPr kumimoji="0" lang="en-US" altLang="ko-KR" sz="800" dirty="0">
              <a:latin typeface="arial" pitchFamily="34" charset="0"/>
              <a:ea typeface="맑은 고딕" pitchFamily="50" charset="-127"/>
            </a:endParaRPr>
          </a:p>
          <a:p>
            <a:pPr marL="0" indent="228600" latinLnBrk="0">
              <a:defRPr/>
            </a:pPr>
            <a:r>
              <a:rPr kumimoji="0" lang="en-US" altLang="ko-KR" sz="1400" dirty="0" err="1">
                <a:latin typeface="arial" pitchFamily="34" charset="0"/>
              </a:rPr>
              <a:t>Nguyên</a:t>
            </a:r>
            <a:r>
              <a:rPr kumimoji="0" lang="en-US" altLang="ko-KR" sz="1400" dirty="0">
                <a:latin typeface="arial" pitchFamily="34" charset="0"/>
              </a:rPr>
              <a:t> </a:t>
            </a:r>
            <a:r>
              <a:rPr kumimoji="0" lang="en-US" altLang="ko-KR" sz="1400" dirty="0" err="1">
                <a:latin typeface="arial" pitchFamily="34" charset="0"/>
              </a:rPr>
              <a:t>nhân</a:t>
            </a:r>
            <a:r>
              <a:rPr kumimoji="0" lang="en-US" altLang="ko-KR" sz="1400" dirty="0">
                <a:latin typeface="arial" pitchFamily="34" charset="0"/>
              </a:rPr>
              <a:t> </a:t>
            </a:r>
            <a:r>
              <a:rPr kumimoji="0" lang="en-US" altLang="ko-KR" sz="1400" dirty="0" err="1">
                <a:latin typeface="arial" pitchFamily="34" charset="0"/>
              </a:rPr>
              <a:t>không</a:t>
            </a:r>
            <a:r>
              <a:rPr kumimoji="0" lang="en-US" altLang="ko-KR" sz="1400" dirty="0">
                <a:latin typeface="arial" pitchFamily="34" charset="0"/>
              </a:rPr>
              <a:t> </a:t>
            </a:r>
            <a:r>
              <a:rPr kumimoji="0" lang="en-US" altLang="ko-KR" sz="1400" dirty="0" err="1">
                <a:latin typeface="arial" pitchFamily="34" charset="0"/>
              </a:rPr>
              <a:t>ngẫu</a:t>
            </a:r>
            <a:r>
              <a:rPr kumimoji="0" lang="en-US" altLang="ko-KR" sz="1400" dirty="0">
                <a:latin typeface="arial" pitchFamily="34" charset="0"/>
              </a:rPr>
              <a:t> </a:t>
            </a:r>
            <a:r>
              <a:rPr kumimoji="0" lang="en-US" altLang="ko-KR" sz="1400" dirty="0" err="1">
                <a:latin typeface="arial" pitchFamily="34" charset="0"/>
              </a:rPr>
              <a:t>nhiên</a:t>
            </a:r>
            <a:r>
              <a:rPr kumimoji="0" lang="en-US" altLang="ko-KR" sz="1400" dirty="0">
                <a:latin typeface="arial" pitchFamily="34" charset="0"/>
              </a:rPr>
              <a:t> </a:t>
            </a:r>
            <a:r>
              <a:rPr kumimoji="0" lang="en-US" altLang="ko-KR" sz="1400" dirty="0" err="1">
                <a:latin typeface="arial" pitchFamily="34" charset="0"/>
              </a:rPr>
              <a:t>dễ</a:t>
            </a:r>
            <a:r>
              <a:rPr kumimoji="0" lang="en-US" altLang="ko-KR" sz="1400" dirty="0">
                <a:latin typeface="arial" pitchFamily="34" charset="0"/>
              </a:rPr>
              <a:t> </a:t>
            </a:r>
            <a:r>
              <a:rPr kumimoji="0" lang="en-US" altLang="ko-KR" sz="1400" dirty="0" err="1">
                <a:latin typeface="arial" pitchFamily="34" charset="0"/>
              </a:rPr>
              <a:t>dàng</a:t>
            </a:r>
            <a:r>
              <a:rPr kumimoji="0" lang="en-US" altLang="ko-KR" sz="1400" dirty="0">
                <a:latin typeface="arial" pitchFamily="34" charset="0"/>
              </a:rPr>
              <a:t> </a:t>
            </a:r>
            <a:r>
              <a:rPr kumimoji="0" lang="en-US" altLang="ko-KR" sz="1400" dirty="0" err="1">
                <a:latin typeface="arial" pitchFamily="34" charset="0"/>
              </a:rPr>
              <a:t>xác</a:t>
            </a:r>
            <a:r>
              <a:rPr kumimoji="0" lang="en-US" altLang="ko-KR" sz="1400" dirty="0">
                <a:latin typeface="arial" pitchFamily="34" charset="0"/>
              </a:rPr>
              <a:t> </a:t>
            </a:r>
            <a:r>
              <a:rPr kumimoji="0" lang="en-US" altLang="ko-KR" sz="1400" dirty="0" err="1">
                <a:latin typeface="arial" pitchFamily="34" charset="0"/>
              </a:rPr>
              <a:t>định</a:t>
            </a:r>
            <a:r>
              <a:rPr kumimoji="0" lang="en-US" altLang="ko-KR" sz="1400" dirty="0">
                <a:latin typeface="arial" pitchFamily="34" charset="0"/>
              </a:rPr>
              <a:t> </a:t>
            </a:r>
            <a:r>
              <a:rPr kumimoji="0" lang="en-US" altLang="ko-KR" sz="1400" dirty="0" err="1">
                <a:latin typeface="arial" pitchFamily="34" charset="0"/>
              </a:rPr>
              <a:t>hơn</a:t>
            </a:r>
            <a:r>
              <a:rPr kumimoji="0" lang="en-US" altLang="ko-KR" sz="1400" dirty="0">
                <a:latin typeface="arial" pitchFamily="34" charset="0"/>
              </a:rPr>
              <a:t> </a:t>
            </a:r>
            <a:r>
              <a:rPr kumimoji="0" lang="en-US" altLang="ko-KR" sz="1400" dirty="0" err="1">
                <a:latin typeface="arial" pitchFamily="34" charset="0"/>
              </a:rPr>
              <a:t>nhóm</a:t>
            </a:r>
            <a:r>
              <a:rPr kumimoji="0" lang="en-US" altLang="ko-KR" sz="1400" dirty="0">
                <a:latin typeface="arial" pitchFamily="34" charset="0"/>
              </a:rPr>
              <a:t> </a:t>
            </a:r>
            <a:r>
              <a:rPr kumimoji="0" lang="en-US" altLang="ko-KR" sz="1400" dirty="0" err="1">
                <a:latin typeface="arial" pitchFamily="34" charset="0"/>
              </a:rPr>
              <a:t>nguyên</a:t>
            </a:r>
            <a:r>
              <a:rPr kumimoji="0" lang="en-US" altLang="ko-KR" sz="1400" dirty="0">
                <a:latin typeface="arial" pitchFamily="34" charset="0"/>
              </a:rPr>
              <a:t> </a:t>
            </a:r>
            <a:r>
              <a:rPr kumimoji="0" lang="en-US" altLang="ko-KR" sz="1400" dirty="0" err="1">
                <a:latin typeface="arial" pitchFamily="34" charset="0"/>
              </a:rPr>
              <a:t>nhân</a:t>
            </a:r>
            <a:r>
              <a:rPr kumimoji="0" lang="en-US" altLang="ko-KR" sz="1400" dirty="0">
                <a:latin typeface="arial" pitchFamily="34" charset="0"/>
              </a:rPr>
              <a:t> </a:t>
            </a:r>
            <a:r>
              <a:rPr kumimoji="0" lang="en-US" altLang="ko-KR" sz="1400" dirty="0" err="1">
                <a:latin typeface="arial" pitchFamily="34" charset="0"/>
              </a:rPr>
              <a:t>ngẫy</a:t>
            </a:r>
            <a:r>
              <a:rPr kumimoji="0" lang="en-US" altLang="ko-KR" sz="1400" dirty="0">
                <a:latin typeface="arial" pitchFamily="34" charset="0"/>
              </a:rPr>
              <a:t> </a:t>
            </a:r>
            <a:r>
              <a:rPr kumimoji="0" lang="en-US" altLang="ko-KR" sz="1400" dirty="0" err="1">
                <a:latin typeface="arial" pitchFamily="34" charset="0"/>
              </a:rPr>
              <a:t>nhiên</a:t>
            </a:r>
            <a:r>
              <a:rPr kumimoji="0" lang="en-US" altLang="ko-KR" sz="1400" dirty="0">
                <a:latin typeface="arial" pitchFamily="34" charset="0"/>
              </a:rPr>
              <a:t> </a:t>
            </a:r>
            <a:r>
              <a:rPr kumimoji="0" lang="en-US" altLang="ko-KR" sz="1400" dirty="0" err="1">
                <a:latin typeface="arial" pitchFamily="34" charset="0"/>
              </a:rPr>
              <a:t>và</a:t>
            </a:r>
            <a:r>
              <a:rPr kumimoji="0" lang="en-US" altLang="ko-KR" sz="1400" dirty="0">
                <a:latin typeface="arial" pitchFamily="34" charset="0"/>
              </a:rPr>
              <a:t> </a:t>
            </a:r>
            <a:r>
              <a:rPr kumimoji="0" lang="en-US" altLang="ko-KR" sz="1400" dirty="0" err="1">
                <a:latin typeface="arial" pitchFamily="34" charset="0"/>
              </a:rPr>
              <a:t>cũng</a:t>
            </a:r>
            <a:r>
              <a:rPr kumimoji="0" lang="en-US" altLang="ko-KR" sz="1400" dirty="0">
                <a:latin typeface="arial" pitchFamily="34" charset="0"/>
              </a:rPr>
              <a:t> </a:t>
            </a:r>
            <a:r>
              <a:rPr kumimoji="0" lang="en-US" altLang="ko-KR" sz="1400" dirty="0" err="1">
                <a:latin typeface="arial" pitchFamily="34" charset="0"/>
              </a:rPr>
              <a:t>dễ</a:t>
            </a:r>
            <a:r>
              <a:rPr kumimoji="0" lang="en-US" altLang="ko-KR" sz="1400" dirty="0">
                <a:latin typeface="arial" pitchFamily="34" charset="0"/>
              </a:rPr>
              <a:t> </a:t>
            </a:r>
            <a:r>
              <a:rPr kumimoji="0" lang="en-US" altLang="ko-KR" sz="1400" dirty="0" err="1">
                <a:latin typeface="arial" pitchFamily="34" charset="0"/>
              </a:rPr>
              <a:t>dàng</a:t>
            </a:r>
            <a:r>
              <a:rPr kumimoji="0" lang="en-US" altLang="ko-KR" sz="1400" dirty="0">
                <a:latin typeface="arial" pitchFamily="34" charset="0"/>
              </a:rPr>
              <a:t> </a:t>
            </a:r>
            <a:r>
              <a:rPr kumimoji="0" lang="en-US" altLang="ko-KR" sz="1400" dirty="0" err="1">
                <a:latin typeface="arial" pitchFamily="34" charset="0"/>
              </a:rPr>
              <a:t>để</a:t>
            </a:r>
            <a:r>
              <a:rPr kumimoji="0" lang="en-US" altLang="ko-KR" sz="1400" dirty="0">
                <a:latin typeface="arial" pitchFamily="34" charset="0"/>
              </a:rPr>
              <a:t> </a:t>
            </a:r>
            <a:r>
              <a:rPr kumimoji="0" lang="en-US" altLang="ko-KR" sz="1400" dirty="0" err="1">
                <a:latin typeface="arial" pitchFamily="34" charset="0"/>
              </a:rPr>
              <a:t>giải</a:t>
            </a:r>
            <a:r>
              <a:rPr kumimoji="0" lang="en-US" altLang="ko-KR" sz="1400" dirty="0">
                <a:latin typeface="arial" pitchFamily="34" charset="0"/>
              </a:rPr>
              <a:t> </a:t>
            </a:r>
            <a:r>
              <a:rPr kumimoji="0" lang="en-US" altLang="ko-KR" sz="1400" dirty="0" err="1">
                <a:latin typeface="arial" pitchFamily="34" charset="0"/>
              </a:rPr>
              <a:t>quyết</a:t>
            </a:r>
            <a:r>
              <a:rPr kumimoji="0" lang="en-US" altLang="ko-KR" sz="1400" dirty="0">
                <a:latin typeface="arial" pitchFamily="34" charset="0"/>
              </a:rPr>
              <a:t> </a:t>
            </a:r>
            <a:r>
              <a:rPr kumimoji="0" lang="en-US" altLang="ko-KR" sz="1400" dirty="0" err="1">
                <a:latin typeface="arial" pitchFamily="34" charset="0"/>
              </a:rPr>
              <a:t>hơn</a:t>
            </a:r>
            <a:r>
              <a:rPr kumimoji="0" lang="en-US" altLang="ko-KR" sz="1400" dirty="0">
                <a:latin typeface="arial" pitchFamily="34" charset="0"/>
              </a:rPr>
              <a:t>. </a:t>
            </a:r>
          </a:p>
          <a:p>
            <a:pPr marL="0" indent="228600" latinLnBrk="0">
              <a:defRPr/>
            </a:pPr>
            <a:r>
              <a:rPr kumimoji="0" lang="en-US" altLang="ko-KR" sz="1400" dirty="0" err="1">
                <a:latin typeface="arial" pitchFamily="34" charset="0"/>
              </a:rPr>
              <a:t>Khi</a:t>
            </a:r>
            <a:r>
              <a:rPr kumimoji="0" lang="en-US" altLang="ko-KR" sz="1400" dirty="0">
                <a:latin typeface="arial" pitchFamily="34" charset="0"/>
              </a:rPr>
              <a:t> </a:t>
            </a:r>
            <a:r>
              <a:rPr kumimoji="0" lang="en-US" altLang="ko-KR" sz="1400" dirty="0" err="1">
                <a:latin typeface="arial" pitchFamily="34" charset="0"/>
              </a:rPr>
              <a:t>xảy</a:t>
            </a:r>
            <a:r>
              <a:rPr kumimoji="0" lang="en-US" altLang="ko-KR" sz="1400" dirty="0">
                <a:latin typeface="arial" pitchFamily="34" charset="0"/>
              </a:rPr>
              <a:t> </a:t>
            </a:r>
            <a:r>
              <a:rPr kumimoji="0" lang="en-US" altLang="ko-KR" sz="1400" dirty="0" err="1">
                <a:latin typeface="arial" pitchFamily="34" charset="0"/>
              </a:rPr>
              <a:t>ra</a:t>
            </a:r>
            <a:r>
              <a:rPr kumimoji="0" lang="en-US" altLang="ko-KR" sz="1400" dirty="0">
                <a:latin typeface="arial" pitchFamily="34" charset="0"/>
              </a:rPr>
              <a:t> </a:t>
            </a:r>
            <a:r>
              <a:rPr kumimoji="0" lang="en-US" altLang="ko-KR" sz="1400" dirty="0" err="1">
                <a:latin typeface="arial" pitchFamily="34" charset="0"/>
              </a:rPr>
              <a:t>biến</a:t>
            </a:r>
            <a:r>
              <a:rPr kumimoji="0" lang="en-US" altLang="ko-KR" sz="1400" dirty="0">
                <a:latin typeface="arial" pitchFamily="34" charset="0"/>
              </a:rPr>
              <a:t> </a:t>
            </a:r>
            <a:r>
              <a:rPr kumimoji="0" lang="en-US" altLang="ko-KR" sz="1400" dirty="0" err="1">
                <a:latin typeface="arial" pitchFamily="34" charset="0"/>
              </a:rPr>
              <a:t>động</a:t>
            </a:r>
            <a:r>
              <a:rPr kumimoji="0" lang="en-US" altLang="ko-KR" sz="1400" dirty="0">
                <a:latin typeface="arial" pitchFamily="34" charset="0"/>
              </a:rPr>
              <a:t>, </a:t>
            </a:r>
            <a:r>
              <a:rPr kumimoji="0" lang="en-US" altLang="ko-KR" sz="1400" dirty="0" err="1">
                <a:latin typeface="arial" pitchFamily="34" charset="0"/>
              </a:rPr>
              <a:t>nguyên</a:t>
            </a:r>
            <a:r>
              <a:rPr kumimoji="0" lang="en-US" altLang="ko-KR" sz="1400" dirty="0">
                <a:latin typeface="arial" pitchFamily="34" charset="0"/>
              </a:rPr>
              <a:t> </a:t>
            </a:r>
            <a:r>
              <a:rPr kumimoji="0" lang="en-US" altLang="ko-KR" sz="1400" dirty="0" err="1">
                <a:latin typeface="arial" pitchFamily="34" charset="0"/>
              </a:rPr>
              <a:t>nhân</a:t>
            </a:r>
            <a:r>
              <a:rPr kumimoji="0" lang="en-US" altLang="ko-KR" sz="1400" dirty="0">
                <a:latin typeface="arial" pitchFamily="34" charset="0"/>
              </a:rPr>
              <a:t> </a:t>
            </a:r>
            <a:r>
              <a:rPr kumimoji="0" lang="en-US" altLang="ko-KR" sz="1400" dirty="0" err="1">
                <a:latin typeface="arial" pitchFamily="34" charset="0"/>
              </a:rPr>
              <a:t>không</a:t>
            </a:r>
            <a:r>
              <a:rPr kumimoji="0" lang="en-US" altLang="ko-KR" sz="1400" dirty="0">
                <a:latin typeface="arial" pitchFamily="34" charset="0"/>
              </a:rPr>
              <a:t> </a:t>
            </a:r>
            <a:r>
              <a:rPr kumimoji="0" lang="en-US" altLang="ko-KR" sz="1400" dirty="0" err="1">
                <a:latin typeface="arial" pitchFamily="34" charset="0"/>
              </a:rPr>
              <a:t>ngẫu</a:t>
            </a:r>
            <a:r>
              <a:rPr kumimoji="0" lang="en-US" altLang="ko-KR" sz="1400" dirty="0">
                <a:latin typeface="arial" pitchFamily="34" charset="0"/>
              </a:rPr>
              <a:t> </a:t>
            </a:r>
            <a:r>
              <a:rPr kumimoji="0" lang="en-US" altLang="ko-KR" sz="1400" dirty="0" err="1">
                <a:latin typeface="arial" pitchFamily="34" charset="0"/>
              </a:rPr>
              <a:t>nhiên</a:t>
            </a:r>
            <a:r>
              <a:rPr kumimoji="0" lang="en-US" altLang="ko-KR" sz="1400" dirty="0">
                <a:latin typeface="arial" pitchFamily="34" charset="0"/>
              </a:rPr>
              <a:t> </a:t>
            </a:r>
            <a:r>
              <a:rPr kumimoji="0" lang="en-US" altLang="ko-KR" sz="1400" dirty="0" err="1">
                <a:latin typeface="arial" pitchFamily="34" charset="0"/>
              </a:rPr>
              <a:t>có</a:t>
            </a:r>
            <a:r>
              <a:rPr kumimoji="0" lang="en-US" altLang="ko-KR" sz="1400" dirty="0">
                <a:latin typeface="arial" pitchFamily="34" charset="0"/>
              </a:rPr>
              <a:t> </a:t>
            </a:r>
            <a:r>
              <a:rPr kumimoji="0" lang="en-US" altLang="ko-KR" sz="1400" dirty="0" err="1">
                <a:latin typeface="arial" pitchFamily="34" charset="0"/>
              </a:rPr>
              <a:t>thể</a:t>
            </a:r>
            <a:r>
              <a:rPr kumimoji="0" lang="en-US" altLang="ko-KR" sz="1400" dirty="0">
                <a:latin typeface="arial" pitchFamily="34" charset="0"/>
              </a:rPr>
              <a:t> “</a:t>
            </a:r>
            <a:r>
              <a:rPr kumimoji="0" lang="en-US" altLang="ko-KR" sz="1400" dirty="0" err="1">
                <a:latin typeface="arial" pitchFamily="34" charset="0"/>
              </a:rPr>
              <a:t>chẩn</a:t>
            </a:r>
            <a:r>
              <a:rPr kumimoji="0" lang="en-US" altLang="ko-KR" sz="1400" dirty="0">
                <a:latin typeface="arial" pitchFamily="34" charset="0"/>
              </a:rPr>
              <a:t> </a:t>
            </a:r>
            <a:r>
              <a:rPr kumimoji="0" lang="en-US" altLang="ko-KR" sz="1400" dirty="0" err="1">
                <a:latin typeface="arial" pitchFamily="34" charset="0"/>
              </a:rPr>
              <a:t>đoán</a:t>
            </a:r>
            <a:r>
              <a:rPr kumimoji="0" lang="en-US" altLang="ko-KR" sz="1400" dirty="0">
                <a:latin typeface="arial" pitchFamily="34" charset="0"/>
              </a:rPr>
              <a:t>” </a:t>
            </a:r>
            <a:r>
              <a:rPr kumimoji="0" lang="en-US" altLang="ko-KR" sz="1400" dirty="0" err="1">
                <a:latin typeface="arial" pitchFamily="34" charset="0"/>
              </a:rPr>
              <a:t>được</a:t>
            </a:r>
            <a:r>
              <a:rPr kumimoji="0" lang="en-US" altLang="ko-KR" sz="1400" dirty="0">
                <a:latin typeface="arial" pitchFamily="34" charset="0"/>
              </a:rPr>
              <a:t>.</a:t>
            </a:r>
            <a:endParaRPr kumimoji="0" lang="ko-KR" altLang="en-US" sz="800" dirty="0">
              <a:latin typeface="arial" pitchFamily="34" charset="0"/>
              <a:ea typeface="맑은 고딕" pitchFamily="50" charset="-127"/>
            </a:endParaRPr>
          </a:p>
        </p:txBody>
      </p:sp>
      <p:sp>
        <p:nvSpPr>
          <p:cNvPr id="7173" name="Rectangle 9"/>
          <p:cNvSpPr>
            <a:spLocks noChangeArrowheads="1"/>
          </p:cNvSpPr>
          <p:nvPr/>
        </p:nvSpPr>
        <p:spPr bwMode="auto">
          <a:xfrm>
            <a:off x="4970462" y="2276872"/>
            <a:ext cx="4591050" cy="3451225"/>
          </a:xfrm>
          <a:prstGeom prst="rect">
            <a:avLst/>
          </a:prstGeom>
          <a:noFill/>
          <a:ln w="12700" algn="ctr">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lIns="162000" rIns="16200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endParaRPr>
          </a:p>
        </p:txBody>
      </p:sp>
      <p:pic>
        <p:nvPicPr>
          <p:cNvPr id="7175" name="Picture 31" descr="11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5060950" y="3438922"/>
            <a:ext cx="4333875" cy="197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 name="Text Box 32"/>
          <p:cNvSpPr txBox="1">
            <a:spLocks noChangeArrowheads="1"/>
          </p:cNvSpPr>
          <p:nvPr/>
        </p:nvSpPr>
        <p:spPr bwMode="auto">
          <a:xfrm>
            <a:off x="4935503" y="516453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100" b="1" dirty="0">
                <a:latin typeface="arial" pitchFamily="34" charset="0"/>
                <a:ea typeface="맑은 고딕" pitchFamily="50" charset="-127"/>
              </a:rPr>
              <a:t>Size</a:t>
            </a:r>
            <a:endParaRPr lang="ko-KR" altLang="en-US" sz="1100" b="1" dirty="0">
              <a:latin typeface="arial" pitchFamily="34" charset="0"/>
              <a:ea typeface="맑은 고딕" pitchFamily="50" charset="-127"/>
            </a:endParaRPr>
          </a:p>
        </p:txBody>
      </p:sp>
      <p:sp>
        <p:nvSpPr>
          <p:cNvPr id="7177" name="Text Box 33"/>
          <p:cNvSpPr txBox="1">
            <a:spLocks noChangeArrowheads="1"/>
          </p:cNvSpPr>
          <p:nvPr/>
        </p:nvSpPr>
        <p:spPr bwMode="auto">
          <a:xfrm>
            <a:off x="8563819" y="3999805"/>
            <a:ext cx="1157689" cy="357214"/>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50000"/>
              </a:lnSpc>
            </a:pPr>
            <a:r>
              <a:rPr lang="en-US" altLang="ko-KR" sz="1100" b="1" dirty="0" err="1">
                <a:latin typeface="arial" pitchFamily="34" charset="0"/>
                <a:ea typeface="맑은 고딕" pitchFamily="50" charset="-127"/>
              </a:rPr>
              <a:t>Không</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thể</a:t>
            </a:r>
            <a:br>
              <a:rPr lang="en-US" altLang="ko-KR" sz="1100" b="1" dirty="0">
                <a:latin typeface="arial" pitchFamily="34" charset="0"/>
                <a:ea typeface="맑은 고딕" pitchFamily="50" charset="-127"/>
              </a:rPr>
            </a:br>
            <a:br>
              <a:rPr lang="en-US" altLang="ko-KR" sz="1100" b="1" dirty="0">
                <a:latin typeface="arial" pitchFamily="34" charset="0"/>
                <a:ea typeface="맑은 고딕" pitchFamily="50" charset="-127"/>
              </a:rPr>
            </a:br>
            <a:r>
              <a:rPr lang="en-US" altLang="ko-KR" sz="1100" b="1" dirty="0" err="1">
                <a:latin typeface="arial" pitchFamily="34" charset="0"/>
                <a:ea typeface="맑은 고딕" pitchFamily="50" charset="-127"/>
              </a:rPr>
              <a:t>dự</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đoán</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được</a:t>
            </a:r>
            <a:endParaRPr lang="ko-KR" altLang="en-US" sz="1100" b="1" dirty="0">
              <a:latin typeface="arial" pitchFamily="34" charset="0"/>
              <a:ea typeface="맑은 고딕" pitchFamily="50" charset="-127"/>
            </a:endParaRPr>
          </a:p>
        </p:txBody>
      </p:sp>
      <p:sp>
        <p:nvSpPr>
          <p:cNvPr id="7178" name="Text Box 34"/>
          <p:cNvSpPr txBox="1">
            <a:spLocks noChangeArrowheads="1"/>
          </p:cNvSpPr>
          <p:nvPr/>
        </p:nvSpPr>
        <p:spPr bwMode="auto">
          <a:xfrm rot="-1636469">
            <a:off x="7016750" y="4894659"/>
            <a:ext cx="1008062" cy="227013"/>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80000"/>
              </a:lnSpc>
            </a:pPr>
            <a:r>
              <a:rPr lang="en-US" altLang="ko-KR" sz="1100" b="1" dirty="0" err="1">
                <a:latin typeface="arial" pitchFamily="34" charset="0"/>
                <a:ea typeface="맑은 고딕" pitchFamily="50" charset="-127"/>
              </a:rPr>
              <a:t>Thời</a:t>
            </a:r>
            <a:r>
              <a:rPr lang="en-US" altLang="ko-KR" sz="1100" b="1" dirty="0">
                <a:latin typeface="arial" pitchFamily="34" charset="0"/>
                <a:ea typeface="맑은 고딕" pitchFamily="50" charset="-127"/>
              </a:rPr>
              <a:t> </a:t>
            </a:r>
            <a:r>
              <a:rPr lang="en-US" altLang="ko-KR" sz="1100" b="1" dirty="0" err="1">
                <a:latin typeface="arial" pitchFamily="34" charset="0"/>
                <a:ea typeface="맑은 고딕" pitchFamily="50" charset="-127"/>
              </a:rPr>
              <a:t>gian</a:t>
            </a:r>
            <a:endParaRPr lang="ko-KR" altLang="en-US" sz="1100" b="1" dirty="0">
              <a:latin typeface="arial" pitchFamily="34" charset="0"/>
              <a:ea typeface="맑은 고딕" pitchFamily="50" charset="-127"/>
            </a:endParaRPr>
          </a:p>
        </p:txBody>
      </p:sp>
      <p:sp>
        <p:nvSpPr>
          <p:cNvPr id="7179" name="Text Box 35"/>
          <p:cNvSpPr txBox="1">
            <a:spLocks noChangeArrowheads="1"/>
          </p:cNvSpPr>
          <p:nvPr/>
        </p:nvSpPr>
        <p:spPr bwMode="auto">
          <a:xfrm rot="-1636469">
            <a:off x="6913562" y="4745434"/>
            <a:ext cx="1082675" cy="214313"/>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80000"/>
              </a:lnSpc>
            </a:pPr>
            <a:endParaRPr lang="ko-KR" altLang="ko-KR" sz="1000" dirty="0">
              <a:latin typeface="arial" pitchFamily="34" charset="0"/>
              <a:ea typeface="맑은 고딕" pitchFamily="50" charset="-127"/>
            </a:endParaRPr>
          </a:p>
        </p:txBody>
      </p:sp>
      <p:sp>
        <p:nvSpPr>
          <p:cNvPr id="7180" name="Line 37"/>
          <p:cNvSpPr>
            <a:spLocks noChangeShapeType="1"/>
          </p:cNvSpPr>
          <p:nvPr/>
        </p:nvSpPr>
        <p:spPr bwMode="auto">
          <a:xfrm rot="21337706" flipV="1">
            <a:off x="7034212" y="4673997"/>
            <a:ext cx="823913" cy="39846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ko-KR" altLang="en-US"/>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248</a:t>
            </a:fld>
            <a:endParaRPr lang="ko-KR" altLang="en-US" dirty="0"/>
          </a:p>
        </p:txBody>
      </p:sp>
      <p:sp>
        <p:nvSpPr>
          <p:cNvPr id="15" name="Text Box 7"/>
          <p:cNvSpPr txBox="1">
            <a:spLocks noChangeArrowheads="1"/>
          </p:cNvSpPr>
          <p:nvPr/>
        </p:nvSpPr>
        <p:spPr bwMode="auto">
          <a:xfrm>
            <a:off x="4972050" y="2287307"/>
            <a:ext cx="4589462" cy="1204176"/>
          </a:xfrm>
          <a:prstGeom prst="rect">
            <a:avLst/>
          </a:prstGeom>
          <a:noFill/>
          <a:ln>
            <a:noFill/>
          </a:ln>
          <a:effectLst/>
        </p:spPr>
        <p:txBody>
          <a:bodyPr wrap="square" lIns="102870" tIns="51435" rIns="102870" bIns="51435">
            <a:spAutoFit/>
          </a:bodyPr>
          <a:lstStyle>
            <a:lvl1pPr algn="l" defTabSz="1028700">
              <a:defRPr kumimoji="1" sz="2400">
                <a:solidFill>
                  <a:schemeClr val="tx1"/>
                </a:solidFill>
                <a:latin typeface="Times New Roman" pitchFamily="18" charset="0"/>
                <a:ea typeface="굴림" pitchFamily="50" charset="-127"/>
              </a:defRPr>
            </a:lvl1pPr>
            <a:lvl2pPr marL="514350" algn="l" defTabSz="1028700">
              <a:defRPr kumimoji="1" sz="2400">
                <a:solidFill>
                  <a:schemeClr val="tx1"/>
                </a:solidFill>
                <a:latin typeface="Times New Roman" pitchFamily="18" charset="0"/>
                <a:ea typeface="굴림" pitchFamily="50" charset="-127"/>
              </a:defRPr>
            </a:lvl2pPr>
            <a:lvl3pPr marL="1028700" algn="l" defTabSz="1028700">
              <a:defRPr kumimoji="1" sz="2400">
                <a:solidFill>
                  <a:schemeClr val="tx1"/>
                </a:solidFill>
                <a:latin typeface="Times New Roman" pitchFamily="18" charset="0"/>
                <a:ea typeface="굴림" pitchFamily="50" charset="-127"/>
              </a:defRPr>
            </a:lvl3pPr>
            <a:lvl4pPr marL="1543050" algn="l" defTabSz="1028700">
              <a:defRPr kumimoji="1" sz="2400">
                <a:solidFill>
                  <a:schemeClr val="tx1"/>
                </a:solidFill>
                <a:latin typeface="Times New Roman" pitchFamily="18" charset="0"/>
                <a:ea typeface="굴림" pitchFamily="50" charset="-127"/>
              </a:defRPr>
            </a:lvl4pPr>
            <a:lvl5pPr marL="2057400" algn="l" defTabSz="1028700">
              <a:defRPr kumimoji="1" sz="2400">
                <a:solidFill>
                  <a:schemeClr val="tx1"/>
                </a:solidFill>
                <a:latin typeface="Times New Roman" pitchFamily="18" charset="0"/>
                <a:ea typeface="굴림" pitchFamily="50" charset="-127"/>
              </a:defRPr>
            </a:lvl5pPr>
            <a:lvl6pPr marL="2514600" defTabSz="1028700" fontAlgn="base">
              <a:spcBef>
                <a:spcPct val="0"/>
              </a:spcBef>
              <a:spcAft>
                <a:spcPct val="0"/>
              </a:spcAft>
              <a:defRPr kumimoji="1" sz="2400">
                <a:solidFill>
                  <a:schemeClr val="tx1"/>
                </a:solidFill>
                <a:latin typeface="Times New Roman" pitchFamily="18" charset="0"/>
                <a:ea typeface="굴림" pitchFamily="50" charset="-127"/>
              </a:defRPr>
            </a:lvl6pPr>
            <a:lvl7pPr marL="2971800" defTabSz="1028700" fontAlgn="base">
              <a:spcBef>
                <a:spcPct val="0"/>
              </a:spcBef>
              <a:spcAft>
                <a:spcPct val="0"/>
              </a:spcAft>
              <a:defRPr kumimoji="1" sz="2400">
                <a:solidFill>
                  <a:schemeClr val="tx1"/>
                </a:solidFill>
                <a:latin typeface="Times New Roman" pitchFamily="18" charset="0"/>
                <a:ea typeface="굴림" pitchFamily="50" charset="-127"/>
              </a:defRPr>
            </a:lvl7pPr>
            <a:lvl8pPr marL="3429000" defTabSz="1028700" fontAlgn="base">
              <a:spcBef>
                <a:spcPct val="0"/>
              </a:spcBef>
              <a:spcAft>
                <a:spcPct val="0"/>
              </a:spcAft>
              <a:defRPr kumimoji="1" sz="2400">
                <a:solidFill>
                  <a:schemeClr val="tx1"/>
                </a:solidFill>
                <a:latin typeface="Times New Roman" pitchFamily="18" charset="0"/>
                <a:ea typeface="굴림" pitchFamily="50" charset="-127"/>
              </a:defRPr>
            </a:lvl8pPr>
            <a:lvl9pPr marL="3886200" defTabSz="1028700" fontAlgn="base">
              <a:spcBef>
                <a:spcPct val="0"/>
              </a:spcBef>
              <a:spcAft>
                <a:spcPct val="0"/>
              </a:spcAft>
              <a:defRPr kumimoji="1" sz="2400">
                <a:solidFill>
                  <a:schemeClr val="tx1"/>
                </a:solidFill>
                <a:latin typeface="Times New Roman" pitchFamily="18" charset="0"/>
                <a:ea typeface="굴림" pitchFamily="50" charset="-127"/>
              </a:defRPr>
            </a:lvl9pPr>
          </a:lstStyle>
          <a:p>
            <a:pPr algn="just" eaLnBrk="0" latinLnBrk="0" hangingPunct="0">
              <a:lnSpc>
                <a:spcPct val="110000"/>
              </a:lnSpc>
              <a:defRPr/>
            </a:pPr>
            <a:r>
              <a:rPr kumimoji="0" lang="en-US" altLang="ko-KR" sz="1300" dirty="0" err="1">
                <a:latin typeface="Arial" pitchFamily="34" charset="0"/>
                <a:ea typeface="+mn-ea"/>
                <a:cs typeface="Arial" pitchFamily="34" charset="0"/>
              </a:rPr>
              <a:t>Quá</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trình</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bị</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tác</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động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bởi</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nhóm</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nguyên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nhân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không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ngẫu</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nhiên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sẽ</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đặc</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trưng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bởi</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dữ</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liệu</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sẽ</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không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biến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động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một</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cách</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ngẫu</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nhiên</a:t>
            </a:r>
            <a:r>
              <a:rPr kumimoji="0" lang="en-US" altLang="ko-KR" sz="1300" dirty="0">
                <a:latin typeface="Arial" pitchFamily="34" charset="0"/>
                <a:ea typeface="+mn-ea"/>
                <a:cs typeface="Arial" pitchFamily="34" charset="0"/>
              </a:rPr>
              <a:t> , </a:t>
            </a:r>
            <a:r>
              <a:rPr kumimoji="0" lang="en-US" altLang="ko-KR" sz="1300" dirty="0" err="1">
                <a:latin typeface="Arial" pitchFamily="34" charset="0"/>
                <a:ea typeface="+mn-ea"/>
                <a:cs typeface="Arial" pitchFamily="34" charset="0"/>
              </a:rPr>
              <a:t>nhưng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nó</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tạo</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ra</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một</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tình</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trạng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bất</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thường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làm</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cho</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quá</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trình</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này</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trở</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nên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không</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thể</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đoán</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trước</a:t>
            </a:r>
            <a:r>
              <a:rPr kumimoji="0" lang="en-US" altLang="ko-KR" sz="1300" dirty="0">
                <a:latin typeface="Arial" pitchFamily="34" charset="0"/>
                <a:ea typeface="+mn-ea"/>
                <a:cs typeface="Arial" pitchFamily="34" charset="0"/>
              </a:rPr>
              <a:t> </a:t>
            </a:r>
            <a:r>
              <a:rPr kumimoji="0" lang="en-US" altLang="ko-KR" sz="1300" dirty="0" err="1">
                <a:latin typeface="Arial" pitchFamily="34" charset="0"/>
                <a:ea typeface="+mn-ea"/>
                <a:cs typeface="Arial" pitchFamily="34" charset="0"/>
              </a:rPr>
              <a:t>được</a:t>
            </a:r>
            <a:r>
              <a:rPr kumimoji="0" lang="en-US" altLang="ko-KR" sz="1300" dirty="0">
                <a:latin typeface="Arial" pitchFamily="34" charset="0"/>
                <a:ea typeface="+mn-ea"/>
                <a:cs typeface="Arial" pitchFamily="34" charset="0"/>
              </a:rPr>
              <a:t>.</a:t>
            </a:r>
          </a:p>
        </p:txBody>
      </p:sp>
      <p:sp>
        <p:nvSpPr>
          <p:cNvPr id="16" name="제목 8"/>
          <p:cNvSpPr txBox="1">
            <a:spLocks/>
          </p:cNvSpPr>
          <p:nvPr/>
        </p:nvSpPr>
        <p:spPr bwMode="auto">
          <a:xfrm>
            <a:off x="195263" y="188913"/>
            <a:ext cx="8813800" cy="488950"/>
          </a:xfrm>
          <a:prstGeom prst="rect">
            <a:avLst/>
          </a:prstGeom>
          <a:noFill/>
          <a:ln>
            <a:miter lim="800000"/>
            <a:headEnd/>
            <a:tailEnd/>
          </a:ln>
        </p:spPr>
        <p:txBody>
          <a:bodyPr/>
          <a:lstStyle/>
          <a:p>
            <a:pPr>
              <a:defRPr/>
            </a:pPr>
            <a:r>
              <a:rPr lang="en-US" altLang="ko-KR" sz="2000" b="1" dirty="0">
                <a:latin typeface="arial" pitchFamily="34" charset="0"/>
              </a:rPr>
              <a:t>1. </a:t>
            </a:r>
            <a:r>
              <a:rPr lang="en-US" altLang="ko-KR" sz="2000" b="1" dirty="0" err="1">
                <a:latin typeface="arial" pitchFamily="34" charset="0"/>
              </a:rPr>
              <a:t>Giới</a:t>
            </a:r>
            <a:r>
              <a:rPr lang="en-US" altLang="ko-KR" sz="2000" b="1" dirty="0">
                <a:latin typeface="arial" pitchFamily="34" charset="0"/>
              </a:rPr>
              <a:t> </a:t>
            </a:r>
            <a:r>
              <a:rPr lang="en-US" altLang="ko-KR" sz="2000" b="1" dirty="0" err="1">
                <a:latin typeface="arial" pitchFamily="34" charset="0"/>
              </a:rPr>
              <a:t>thiệu</a:t>
            </a:r>
            <a:endParaRPr kumimoji="0" lang="ko-KR" altLang="en-US" sz="2000" b="1" dirty="0">
              <a:latin typeface="돋움" pitchFamily="50" charset="-127"/>
              <a:ea typeface="돋움" pitchFamily="50" charset="-127"/>
              <a:cs typeface="+mj-cs"/>
            </a:endParaRPr>
          </a:p>
        </p:txBody>
      </p:sp>
    </p:spTree>
    <p:extLst>
      <p:ext uri="{BB962C8B-B14F-4D97-AF65-F5344CB8AC3E}">
        <p14:creationId xmlns:p14="http://schemas.microsoft.com/office/powerpoint/2010/main" val="1117790609"/>
      </p:ext>
    </p:extLst>
  </p:cSld>
  <p:clrMapOvr>
    <a:masterClrMapping/>
  </p:clrMapOvr>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Text Box 6"/>
          <p:cNvSpPr txBox="1">
            <a:spLocks noChangeArrowheads="1"/>
          </p:cNvSpPr>
          <p:nvPr/>
        </p:nvSpPr>
        <p:spPr bwMode="auto">
          <a:xfrm>
            <a:off x="273050" y="1484313"/>
            <a:ext cx="3115596" cy="380873"/>
          </a:xfrm>
          <a:prstGeom prst="rect">
            <a:avLst/>
          </a:prstGeom>
          <a:solidFill>
            <a:schemeClr val="bg1">
              <a:lumMod val="85000"/>
            </a:schemeClr>
          </a:solid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a:defRPr/>
            </a:pPr>
            <a:r>
              <a:rPr lang="en-US" altLang="ko-KR" dirty="0" err="1">
                <a:latin typeface="arial" pitchFamily="34" charset="0"/>
              </a:rPr>
              <a:t>Biến</a:t>
            </a:r>
            <a:r>
              <a:rPr lang="en-US" altLang="ko-KR" dirty="0">
                <a:latin typeface="arial" pitchFamily="34" charset="0"/>
              </a:rPr>
              <a:t> </a:t>
            </a:r>
            <a:r>
              <a:rPr lang="en-US" altLang="ko-KR" dirty="0" err="1">
                <a:latin typeface="arial" pitchFamily="34" charset="0"/>
              </a:rPr>
              <a:t>động</a:t>
            </a:r>
            <a:r>
              <a:rPr lang="en-US" altLang="ko-KR" dirty="0">
                <a:latin typeface="arial" pitchFamily="34" charset="0"/>
              </a:rPr>
              <a:t> </a:t>
            </a:r>
            <a:r>
              <a:rPr lang="en-US" altLang="ko-KR" dirty="0" err="1">
                <a:latin typeface="arial" pitchFamily="34" charset="0"/>
              </a:rPr>
              <a:t>của</a:t>
            </a:r>
            <a:r>
              <a:rPr lang="en-US" altLang="ko-KR" dirty="0">
                <a:latin typeface="arial" pitchFamily="34" charset="0"/>
              </a:rPr>
              <a:t> </a:t>
            </a:r>
            <a:r>
              <a:rPr lang="en-US" altLang="ko-KR" dirty="0" err="1">
                <a:latin typeface="arial" pitchFamily="34" charset="0"/>
              </a:rPr>
              <a:t>chất</a:t>
            </a:r>
            <a:r>
              <a:rPr lang="en-US" altLang="ko-KR" dirty="0">
                <a:latin typeface="arial" pitchFamily="34" charset="0"/>
              </a:rPr>
              <a:t> </a:t>
            </a:r>
            <a:r>
              <a:rPr lang="en-US" altLang="ko-KR" dirty="0" err="1">
                <a:latin typeface="arial" pitchFamily="34" charset="0"/>
              </a:rPr>
              <a:t>lượng</a:t>
            </a:r>
            <a:endParaRPr lang="ko-KR" altLang="en-US" dirty="0">
              <a:latin typeface="arial" pitchFamily="34" charset="0"/>
            </a:endParaRPr>
          </a:p>
        </p:txBody>
      </p:sp>
      <p:sp>
        <p:nvSpPr>
          <p:cNvPr id="51" name="Text Box 7"/>
          <p:cNvSpPr txBox="1">
            <a:spLocks noChangeArrowheads="1"/>
          </p:cNvSpPr>
          <p:nvPr/>
        </p:nvSpPr>
        <p:spPr bwMode="auto">
          <a:xfrm>
            <a:off x="236253" y="2060575"/>
            <a:ext cx="9433495" cy="2677656"/>
          </a:xfrm>
          <a:prstGeom prst="rect">
            <a:avLst/>
          </a:prstGeom>
          <a:noFill/>
          <a:ln>
            <a:noFill/>
          </a:ln>
          <a:effectLst/>
        </p:spPr>
        <p:txBody>
          <a:bodyPr wrap="square">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nSpc>
                <a:spcPct val="150000"/>
              </a:lnSpc>
              <a:buFont typeface="Wingdings" pitchFamily="2" charset="2"/>
              <a:buChar char="§"/>
              <a:defRPr/>
            </a:pPr>
            <a:r>
              <a:rPr lang="en-US" altLang="ko-KR" sz="1400" dirty="0">
                <a:latin typeface="arial" pitchFamily="34" charset="0"/>
                <a:ea typeface="+mn-ea"/>
              </a:rPr>
              <a:t> </a:t>
            </a:r>
            <a:r>
              <a:rPr lang="vi-VN" altLang="ko-KR" sz="1400" dirty="0">
                <a:latin typeface="arial" pitchFamily="34" charset="0"/>
                <a:ea typeface="+mn-ea"/>
              </a:rPr>
              <a:t>Phân phối là khi một hàng hóa hoặc dịch vụ được sản xuất, quá trình này không tạo ra kết quả phù hợp. -&gt; Chất lượng </a:t>
            </a:r>
            <a:r>
              <a:rPr lang="en-US" altLang="ko-KR" sz="1400" dirty="0" err="1">
                <a:latin typeface="arial" pitchFamily="34" charset="0"/>
                <a:ea typeface="+mn-ea"/>
              </a:rPr>
              <a:t>là</a:t>
            </a:r>
            <a:r>
              <a:rPr lang="en-US" altLang="ko-KR" sz="1400" dirty="0">
                <a:latin typeface="arial" pitchFamily="34" charset="0"/>
                <a:ea typeface="+mn-ea"/>
              </a:rPr>
              <a:t> </a:t>
            </a:r>
            <a:r>
              <a:rPr lang="vi-VN" altLang="ko-KR" sz="1400" dirty="0">
                <a:latin typeface="arial" pitchFamily="34" charset="0"/>
                <a:ea typeface="+mn-ea"/>
              </a:rPr>
              <a:t>đồng nhất n</a:t>
            </a:r>
            <a:r>
              <a:rPr lang="en-US" altLang="ko-KR" sz="1400" dirty="0" err="1">
                <a:latin typeface="arial" pitchFamily="34" charset="0"/>
                <a:ea typeface="+mn-ea"/>
              </a:rPr>
              <a:t>ghĩa</a:t>
            </a:r>
            <a:r>
              <a:rPr lang="en-US" altLang="ko-KR" sz="1400" dirty="0">
                <a:latin typeface="arial" pitchFamily="34" charset="0"/>
                <a:ea typeface="+mn-ea"/>
              </a:rPr>
              <a:t> </a:t>
            </a:r>
            <a:r>
              <a:rPr lang="en-US" altLang="ko-KR" sz="1400" dirty="0" err="1">
                <a:latin typeface="arial" pitchFamily="34" charset="0"/>
                <a:ea typeface="+mn-ea"/>
              </a:rPr>
              <a:t>là</a:t>
            </a:r>
            <a:r>
              <a:rPr lang="vi-VN" altLang="ko-KR" sz="1400" dirty="0">
                <a:latin typeface="arial" pitchFamily="34" charset="0"/>
                <a:ea typeface="+mn-ea"/>
              </a:rPr>
              <a:t> không có phân phối.</a:t>
            </a:r>
            <a:endParaRPr lang="en-US" altLang="ko-KR" sz="1400" dirty="0">
              <a:latin typeface="arial" pitchFamily="34" charset="0"/>
              <a:ea typeface="+mn-ea"/>
            </a:endParaRPr>
          </a:p>
          <a:p>
            <a:pPr>
              <a:lnSpc>
                <a:spcPct val="150000"/>
              </a:lnSpc>
              <a:buFont typeface="Wingdings" pitchFamily="2" charset="2"/>
              <a:buChar char="§"/>
              <a:defRPr/>
            </a:pPr>
            <a:r>
              <a:rPr lang="en-US" altLang="ko-KR" sz="1400" dirty="0">
                <a:latin typeface="arial" pitchFamily="34" charset="0"/>
                <a:ea typeface="+mn-ea"/>
              </a:rPr>
              <a:t> </a:t>
            </a:r>
            <a:r>
              <a:rPr lang="vi-VN" altLang="ko-KR" sz="1400" dirty="0">
                <a:latin typeface="arial" pitchFamily="34" charset="0"/>
                <a:ea typeface="+mn-ea"/>
              </a:rPr>
              <a:t>Phân bố gây ra </a:t>
            </a:r>
            <a:r>
              <a:rPr lang="en-US" altLang="ko-KR" sz="1400" dirty="0" err="1">
                <a:latin typeface="arial" pitchFamily="34" charset="0"/>
                <a:ea typeface="+mn-ea"/>
              </a:rPr>
              <a:t>sai</a:t>
            </a:r>
            <a:r>
              <a:rPr lang="en-US" altLang="ko-KR" sz="1400" dirty="0">
                <a:latin typeface="arial" pitchFamily="34" charset="0"/>
                <a:ea typeface="+mn-ea"/>
              </a:rPr>
              <a:t> </a:t>
            </a:r>
            <a:r>
              <a:rPr lang="en-US" altLang="ko-KR" sz="1400" dirty="0" err="1">
                <a:latin typeface="arial" pitchFamily="34" charset="0"/>
                <a:ea typeface="+mn-ea"/>
              </a:rPr>
              <a:t>khác</a:t>
            </a:r>
            <a:r>
              <a:rPr lang="vi-VN" altLang="ko-KR" sz="1400" dirty="0">
                <a:latin typeface="arial" pitchFamily="34" charset="0"/>
                <a:ea typeface="+mn-ea"/>
              </a:rPr>
              <a:t> trong đầu ra dẫn đến sự không hài lòng của khách hàng.</a:t>
            </a:r>
            <a:endParaRPr lang="en-US" altLang="ko-KR" sz="1400" dirty="0">
              <a:latin typeface="arial" pitchFamily="34" charset="0"/>
              <a:ea typeface="+mn-ea"/>
            </a:endParaRPr>
          </a:p>
          <a:p>
            <a:pPr>
              <a:lnSpc>
                <a:spcPct val="150000"/>
              </a:lnSpc>
              <a:buFont typeface="Wingdings" pitchFamily="2" charset="2"/>
              <a:buChar char="§"/>
              <a:defRPr/>
            </a:pPr>
            <a:r>
              <a:rPr lang="en-US" altLang="ko-KR" sz="1400" dirty="0">
                <a:latin typeface="arial" pitchFamily="34" charset="0"/>
                <a:ea typeface="+mn-ea"/>
              </a:rPr>
              <a:t> </a:t>
            </a:r>
            <a:r>
              <a:rPr lang="vi-VN" altLang="ko-KR" sz="1400" dirty="0">
                <a:latin typeface="arial" pitchFamily="34" charset="0"/>
                <a:ea typeface="+mn-ea"/>
              </a:rPr>
              <a:t>Tất cả quá trình</a:t>
            </a:r>
            <a:r>
              <a:rPr lang="en-US" altLang="ko-KR" sz="1400" dirty="0">
                <a:latin typeface="arial" pitchFamily="34" charset="0"/>
                <a:ea typeface="+mn-ea"/>
              </a:rPr>
              <a:t> </a:t>
            </a:r>
            <a:r>
              <a:rPr lang="en-US" altLang="ko-KR" sz="1400" dirty="0" err="1">
                <a:latin typeface="arial" pitchFamily="34" charset="0"/>
                <a:ea typeface="+mn-ea"/>
              </a:rPr>
              <a:t>đều</a:t>
            </a:r>
            <a:r>
              <a:rPr lang="en-US" altLang="ko-KR" sz="1400" dirty="0">
                <a:latin typeface="arial" pitchFamily="34" charset="0"/>
                <a:ea typeface="+mn-ea"/>
              </a:rPr>
              <a:t> </a:t>
            </a:r>
            <a:r>
              <a:rPr lang="en-US" altLang="ko-KR" sz="1400" dirty="0" err="1">
                <a:latin typeface="arial" pitchFamily="34" charset="0"/>
                <a:ea typeface="+mn-ea"/>
              </a:rPr>
              <a:t>tồn</a:t>
            </a:r>
            <a:r>
              <a:rPr lang="en-US" altLang="ko-KR" sz="1400" dirty="0">
                <a:latin typeface="arial" pitchFamily="34" charset="0"/>
                <a:ea typeface="+mn-ea"/>
              </a:rPr>
              <a:t> </a:t>
            </a:r>
            <a:r>
              <a:rPr lang="en-US" altLang="ko-KR" sz="1400" dirty="0" err="1">
                <a:latin typeface="arial" pitchFamily="34" charset="0"/>
                <a:ea typeface="+mn-ea"/>
              </a:rPr>
              <a:t>tại</a:t>
            </a:r>
            <a:r>
              <a:rPr lang="vi-VN" altLang="ko-KR" sz="1400" dirty="0">
                <a:latin typeface="arial" pitchFamily="34" charset="0"/>
                <a:ea typeface="+mn-ea"/>
              </a:rPr>
              <a:t> một phân phối.</a:t>
            </a:r>
            <a:endParaRPr lang="en-US" altLang="ko-KR" sz="1400" dirty="0">
              <a:latin typeface="arial" pitchFamily="34" charset="0"/>
              <a:ea typeface="+mn-ea"/>
            </a:endParaRPr>
          </a:p>
          <a:p>
            <a:pPr>
              <a:lnSpc>
                <a:spcPct val="150000"/>
              </a:lnSpc>
              <a:buFont typeface="Wingdings" pitchFamily="2" charset="2"/>
              <a:buChar char="§"/>
              <a:defRPr/>
            </a:pPr>
            <a:r>
              <a:rPr lang="en-US" altLang="ko-KR" sz="1400" dirty="0">
                <a:latin typeface="arial" pitchFamily="34" charset="0"/>
                <a:ea typeface="+mn-ea"/>
              </a:rPr>
              <a:t> </a:t>
            </a:r>
            <a:r>
              <a:rPr lang="vi-VN" altLang="ko-KR" sz="1400" dirty="0">
                <a:latin typeface="arial" pitchFamily="34" charset="0"/>
                <a:ea typeface="+mn-ea"/>
              </a:rPr>
              <a:t>Đo lường và hiểu được phân phối có th</a:t>
            </a:r>
            <a:r>
              <a:rPr lang="en-US" altLang="ko-KR" sz="1400" dirty="0">
                <a:latin typeface="arial" pitchFamily="34" charset="0"/>
                <a:ea typeface="+mn-ea"/>
              </a:rPr>
              <a:t>ể </a:t>
            </a:r>
            <a:r>
              <a:rPr lang="en-US" altLang="ko-KR" sz="1400" dirty="0" err="1">
                <a:latin typeface="arial" pitchFamily="34" charset="0"/>
                <a:ea typeface="+mn-ea"/>
              </a:rPr>
              <a:t>giúp</a:t>
            </a:r>
            <a:r>
              <a:rPr lang="vi-VN" altLang="ko-KR" sz="1400" dirty="0">
                <a:latin typeface="arial" pitchFamily="34" charset="0"/>
                <a:ea typeface="+mn-ea"/>
              </a:rPr>
              <a:t> cho</a:t>
            </a:r>
            <a:r>
              <a:rPr lang="en-US" altLang="ko-KR" sz="1400" dirty="0">
                <a:latin typeface="arial" pitchFamily="34" charset="0"/>
                <a:ea typeface="+mn-ea"/>
              </a:rPr>
              <a:t> </a:t>
            </a:r>
            <a:r>
              <a:rPr lang="en-US" altLang="ko-KR" sz="1400" dirty="0" err="1">
                <a:latin typeface="arial" pitchFamily="34" charset="0"/>
                <a:ea typeface="+mn-ea"/>
              </a:rPr>
              <a:t>chúng</a:t>
            </a:r>
            <a:r>
              <a:rPr lang="en-US" altLang="ko-KR" sz="1400" dirty="0">
                <a:latin typeface="arial" pitchFamily="34" charset="0"/>
                <a:ea typeface="+mn-ea"/>
              </a:rPr>
              <a:t> </a:t>
            </a:r>
            <a:r>
              <a:rPr lang="en-US" altLang="ko-KR" sz="1400" dirty="0" err="1">
                <a:latin typeface="arial" pitchFamily="34" charset="0"/>
                <a:ea typeface="+mn-ea"/>
              </a:rPr>
              <a:t>ta</a:t>
            </a:r>
            <a:r>
              <a:rPr lang="vi-VN" altLang="ko-KR" sz="1400" dirty="0">
                <a:latin typeface="arial" pitchFamily="34" charset="0"/>
                <a:ea typeface="+mn-ea"/>
              </a:rPr>
              <a:t> </a:t>
            </a:r>
            <a:r>
              <a:rPr lang="en-US" altLang="ko-KR" sz="1400" dirty="0" err="1">
                <a:latin typeface="arial" pitchFamily="34" charset="0"/>
                <a:ea typeface="+mn-ea"/>
              </a:rPr>
              <a:t>hiểu</a:t>
            </a:r>
            <a:r>
              <a:rPr lang="en-US" altLang="ko-KR" sz="1400" dirty="0">
                <a:latin typeface="arial" pitchFamily="34" charset="0"/>
                <a:ea typeface="+mn-ea"/>
              </a:rPr>
              <a:t> </a:t>
            </a:r>
            <a:r>
              <a:rPr lang="en-US" altLang="ko-KR" sz="1400" dirty="0" err="1">
                <a:latin typeface="arial" pitchFamily="34" charset="0"/>
                <a:ea typeface="+mn-ea"/>
              </a:rPr>
              <a:t>hơn</a:t>
            </a:r>
            <a:r>
              <a:rPr lang="en-US" altLang="ko-KR" sz="1400" dirty="0">
                <a:latin typeface="arial" pitchFamily="34" charset="0"/>
                <a:ea typeface="+mn-ea"/>
              </a:rPr>
              <a:t> </a:t>
            </a:r>
            <a:r>
              <a:rPr lang="en-US" altLang="ko-KR" sz="1400" dirty="0" err="1">
                <a:latin typeface="arial" pitchFamily="34" charset="0"/>
                <a:ea typeface="+mn-ea"/>
              </a:rPr>
              <a:t>về</a:t>
            </a:r>
            <a:r>
              <a:rPr lang="vi-VN" altLang="ko-KR" sz="1400" dirty="0">
                <a:latin typeface="arial" pitchFamily="34" charset="0"/>
                <a:ea typeface="+mn-ea"/>
              </a:rPr>
              <a:t> mức sản lượng hiện tại</a:t>
            </a:r>
            <a:r>
              <a:rPr lang="en-US" altLang="ko-KR" sz="1400" dirty="0">
                <a:latin typeface="arial" pitchFamily="34" charset="0"/>
                <a:ea typeface="+mn-ea"/>
              </a:rPr>
              <a:t>,</a:t>
            </a:r>
            <a:r>
              <a:rPr lang="vi-VN" altLang="ko-KR" sz="1400" dirty="0">
                <a:latin typeface="arial" pitchFamily="34" charset="0"/>
                <a:ea typeface="+mn-ea"/>
              </a:rPr>
              <a:t> </a:t>
            </a:r>
            <a:r>
              <a:rPr lang="en-US" altLang="ko-KR" sz="1400" dirty="0" err="1">
                <a:latin typeface="arial" pitchFamily="34" charset="0"/>
                <a:ea typeface="+mn-ea"/>
              </a:rPr>
              <a:t>hỗ</a:t>
            </a:r>
            <a:r>
              <a:rPr lang="en-US" altLang="ko-KR" sz="1400" dirty="0">
                <a:latin typeface="arial" pitchFamily="34" charset="0"/>
                <a:ea typeface="+mn-ea"/>
              </a:rPr>
              <a:t> </a:t>
            </a:r>
            <a:r>
              <a:rPr lang="en-US" altLang="ko-KR" sz="1400" dirty="0" err="1">
                <a:latin typeface="arial" pitchFamily="34" charset="0"/>
                <a:ea typeface="+mn-ea"/>
              </a:rPr>
              <a:t>trợ</a:t>
            </a:r>
            <a:r>
              <a:rPr lang="vi-VN" altLang="ko-KR" sz="1400" dirty="0">
                <a:latin typeface="arial" pitchFamily="34" charset="0"/>
                <a:ea typeface="+mn-ea"/>
              </a:rPr>
              <a:t> trong việc giảm phát và suy ra cách để giảm thiểu sự không phù hợp trong sản lượng sản xuất.</a:t>
            </a:r>
            <a:endParaRPr lang="en-US" altLang="ko-KR" sz="1400" dirty="0">
              <a:latin typeface="arial" pitchFamily="34" charset="0"/>
              <a:ea typeface="+mn-ea"/>
            </a:endParaRPr>
          </a:p>
          <a:p>
            <a:pPr>
              <a:lnSpc>
                <a:spcPct val="150000"/>
              </a:lnSpc>
              <a:buFont typeface="Wingdings" pitchFamily="2" charset="2"/>
              <a:buChar char="§"/>
              <a:defRPr/>
            </a:pPr>
            <a:r>
              <a:rPr lang="en-US" altLang="ko-KR" sz="1400" dirty="0">
                <a:latin typeface="arial" pitchFamily="34" charset="0"/>
                <a:ea typeface="+mn-ea"/>
              </a:rPr>
              <a:t> C</a:t>
            </a:r>
            <a:r>
              <a:rPr lang="vi-VN" altLang="ko-KR" sz="1400" dirty="0">
                <a:latin typeface="arial" pitchFamily="34" charset="0"/>
                <a:ea typeface="+mn-ea"/>
              </a:rPr>
              <a:t>hênh lệch quá trình sản xảy ra do chênh lệch trong các yếu tố đầu vào và quy trình</a:t>
            </a:r>
            <a:r>
              <a:rPr lang="en-US" altLang="ko-KR" sz="1400" dirty="0">
                <a:latin typeface="arial" pitchFamily="34" charset="0"/>
                <a:ea typeface="+mn-ea"/>
              </a:rPr>
              <a:t> </a:t>
            </a:r>
            <a:r>
              <a:rPr lang="en-US" altLang="ko-KR" sz="1400" dirty="0" err="1">
                <a:latin typeface="arial" pitchFamily="34" charset="0"/>
                <a:ea typeface="+mn-ea"/>
              </a:rPr>
              <a:t>sản</a:t>
            </a:r>
            <a:r>
              <a:rPr lang="en-US" altLang="ko-KR" sz="1400" dirty="0">
                <a:latin typeface="arial" pitchFamily="34" charset="0"/>
                <a:ea typeface="+mn-ea"/>
              </a:rPr>
              <a:t> </a:t>
            </a:r>
            <a:r>
              <a:rPr lang="en-US" altLang="ko-KR" sz="1400" dirty="0" err="1">
                <a:latin typeface="arial" pitchFamily="34" charset="0"/>
                <a:ea typeface="+mn-ea"/>
              </a:rPr>
              <a:t>xuất</a:t>
            </a:r>
            <a:r>
              <a:rPr lang="vi-VN" altLang="ko-KR" sz="1400" dirty="0">
                <a:latin typeface="arial" pitchFamily="34" charset="0"/>
                <a:ea typeface="+mn-ea"/>
              </a:rPr>
              <a:t>.</a:t>
            </a:r>
            <a:endParaRPr lang="en-US" altLang="ko-KR" sz="1400" dirty="0">
              <a:latin typeface="arial" pitchFamily="34" charset="0"/>
              <a:ea typeface="+mn-ea"/>
            </a:endParaRPr>
          </a:p>
          <a:p>
            <a:pPr>
              <a:lnSpc>
                <a:spcPct val="150000"/>
              </a:lnSpc>
              <a:buFont typeface="Wingdings" pitchFamily="2" charset="2"/>
              <a:buChar char="§"/>
              <a:defRPr/>
            </a:pPr>
            <a:r>
              <a:rPr lang="en-US" altLang="ko-KR" sz="1400" dirty="0">
                <a:latin typeface="arial" pitchFamily="34" charset="0"/>
                <a:ea typeface="+mn-ea"/>
              </a:rPr>
              <a:t> </a:t>
            </a:r>
            <a:r>
              <a:rPr lang="vi-VN" altLang="ko-KR" sz="1400" dirty="0">
                <a:latin typeface="arial" pitchFamily="34" charset="0"/>
                <a:ea typeface="+mn-ea"/>
              </a:rPr>
              <a:t>Ngay cả</a:t>
            </a:r>
            <a:r>
              <a:rPr lang="en-US" altLang="ko-KR" sz="1400" dirty="0">
                <a:latin typeface="arial" pitchFamily="34" charset="0"/>
                <a:ea typeface="+mn-ea"/>
              </a:rPr>
              <a:t> </a:t>
            </a:r>
            <a:r>
              <a:rPr lang="en-US" altLang="ko-KR" sz="1400" dirty="0" err="1">
                <a:latin typeface="arial" pitchFamily="34" charset="0"/>
                <a:ea typeface="+mn-ea"/>
              </a:rPr>
              <a:t>khi</a:t>
            </a:r>
            <a:r>
              <a:rPr lang="en-US" altLang="ko-KR" sz="1400" dirty="0">
                <a:latin typeface="arial" pitchFamily="34" charset="0"/>
                <a:ea typeface="+mn-ea"/>
              </a:rPr>
              <a:t> </a:t>
            </a:r>
            <a:r>
              <a:rPr lang="en-US" altLang="ko-KR" sz="1400" dirty="0" err="1">
                <a:latin typeface="arial" pitchFamily="34" charset="0"/>
                <a:ea typeface="+mn-ea"/>
              </a:rPr>
              <a:t>việc</a:t>
            </a:r>
            <a:r>
              <a:rPr lang="vi-VN" altLang="ko-KR" sz="1400" dirty="0">
                <a:latin typeface="arial" pitchFamily="34" charset="0"/>
                <a:ea typeface="+mn-ea"/>
              </a:rPr>
              <a:t> quản lý </a:t>
            </a:r>
            <a:r>
              <a:rPr lang="en-US" altLang="ko-KR" sz="1400" dirty="0" err="1">
                <a:latin typeface="arial" pitchFamily="34" charset="0"/>
                <a:ea typeface="+mn-ea"/>
              </a:rPr>
              <a:t>được</a:t>
            </a:r>
            <a:r>
              <a:rPr lang="en-US" altLang="ko-KR" sz="1400" dirty="0">
                <a:latin typeface="arial" pitchFamily="34" charset="0"/>
                <a:ea typeface="+mn-ea"/>
              </a:rPr>
              <a:t> </a:t>
            </a:r>
            <a:r>
              <a:rPr lang="en-US" altLang="ko-KR" sz="1400" dirty="0" err="1">
                <a:latin typeface="arial" pitchFamily="34" charset="0"/>
                <a:ea typeface="+mn-ea"/>
              </a:rPr>
              <a:t>thực</a:t>
            </a:r>
            <a:r>
              <a:rPr lang="en-US" altLang="ko-KR" sz="1400" dirty="0">
                <a:latin typeface="arial" pitchFamily="34" charset="0"/>
                <a:ea typeface="+mn-ea"/>
              </a:rPr>
              <a:t> </a:t>
            </a:r>
            <a:r>
              <a:rPr lang="en-US" altLang="ko-KR" sz="1400" dirty="0" err="1">
                <a:latin typeface="arial" pitchFamily="34" charset="0"/>
                <a:ea typeface="+mn-ea"/>
              </a:rPr>
              <a:t>hiện</a:t>
            </a:r>
            <a:r>
              <a:rPr lang="en-US" altLang="ko-KR" sz="1400" dirty="0">
                <a:latin typeface="arial" pitchFamily="34" charset="0"/>
                <a:ea typeface="+mn-ea"/>
              </a:rPr>
              <a:t> </a:t>
            </a:r>
            <a:r>
              <a:rPr lang="vi-VN" altLang="ko-KR" sz="1400" dirty="0">
                <a:latin typeface="arial" pitchFamily="34" charset="0"/>
                <a:ea typeface="+mn-ea"/>
              </a:rPr>
              <a:t>tốt</a:t>
            </a:r>
            <a:r>
              <a:rPr lang="en-US" altLang="ko-KR" sz="1400" dirty="0">
                <a:latin typeface="arial" pitchFamily="34" charset="0"/>
                <a:ea typeface="+mn-ea"/>
              </a:rPr>
              <a:t>,</a:t>
            </a:r>
            <a:r>
              <a:rPr lang="vi-VN" altLang="ko-KR" sz="1400" dirty="0">
                <a:latin typeface="arial" pitchFamily="34" charset="0"/>
                <a:ea typeface="+mn-ea"/>
              </a:rPr>
              <a:t> chênh lệch</a:t>
            </a:r>
            <a:r>
              <a:rPr lang="en-US" altLang="ko-KR" sz="1400" dirty="0">
                <a:latin typeface="arial" pitchFamily="34" charset="0"/>
                <a:ea typeface="+mn-ea"/>
              </a:rPr>
              <a:t> </a:t>
            </a:r>
            <a:r>
              <a:rPr lang="en-US" altLang="ko-KR" sz="1400" dirty="0" err="1">
                <a:latin typeface="arial" pitchFamily="34" charset="0"/>
                <a:ea typeface="+mn-ea"/>
              </a:rPr>
              <a:t>về</a:t>
            </a:r>
            <a:r>
              <a:rPr lang="vi-VN" altLang="ko-KR" sz="1400" dirty="0">
                <a:latin typeface="arial" pitchFamily="34" charset="0"/>
                <a:ea typeface="+mn-ea"/>
              </a:rPr>
              <a:t> chất lượng </a:t>
            </a:r>
            <a:r>
              <a:rPr lang="en-US" altLang="ko-KR" sz="1400" dirty="0" err="1">
                <a:latin typeface="arial" pitchFamily="34" charset="0"/>
                <a:ea typeface="+mn-ea"/>
              </a:rPr>
              <a:t>trong</a:t>
            </a:r>
            <a:r>
              <a:rPr lang="en-US" altLang="ko-KR" sz="1400" dirty="0">
                <a:latin typeface="arial" pitchFamily="34" charset="0"/>
                <a:ea typeface="+mn-ea"/>
              </a:rPr>
              <a:t> </a:t>
            </a:r>
            <a:r>
              <a:rPr lang="vi-VN" altLang="ko-KR" sz="1400" dirty="0">
                <a:latin typeface="arial" pitchFamily="34" charset="0"/>
                <a:ea typeface="+mn-ea"/>
              </a:rPr>
              <a:t>quá trình</a:t>
            </a:r>
            <a:r>
              <a:rPr lang="en-US" altLang="ko-KR" sz="1400" dirty="0">
                <a:latin typeface="arial" pitchFamily="34" charset="0"/>
                <a:ea typeface="+mn-ea"/>
              </a:rPr>
              <a:t> </a:t>
            </a:r>
            <a:r>
              <a:rPr lang="en-US" altLang="ko-KR" sz="1400" dirty="0" err="1">
                <a:latin typeface="arial" pitchFamily="34" charset="0"/>
                <a:ea typeface="+mn-ea"/>
              </a:rPr>
              <a:t>sản</a:t>
            </a:r>
            <a:r>
              <a:rPr lang="en-US" altLang="ko-KR" sz="1400" dirty="0">
                <a:latin typeface="arial" pitchFamily="34" charset="0"/>
                <a:ea typeface="+mn-ea"/>
              </a:rPr>
              <a:t> </a:t>
            </a:r>
            <a:r>
              <a:rPr lang="en-US" altLang="ko-KR" sz="1400" dirty="0" err="1">
                <a:latin typeface="arial" pitchFamily="34" charset="0"/>
                <a:ea typeface="+mn-ea"/>
              </a:rPr>
              <a:t>xuất</a:t>
            </a:r>
            <a:r>
              <a:rPr lang="en-US" altLang="ko-KR" sz="1400" dirty="0">
                <a:latin typeface="arial" pitchFamily="34" charset="0"/>
                <a:ea typeface="+mn-ea"/>
              </a:rPr>
              <a:t> </a:t>
            </a:r>
            <a:r>
              <a:rPr lang="en-US" altLang="ko-KR" sz="1400" dirty="0" err="1">
                <a:latin typeface="arial" pitchFamily="34" charset="0"/>
                <a:ea typeface="+mn-ea"/>
              </a:rPr>
              <a:t>vẫn</a:t>
            </a:r>
            <a:r>
              <a:rPr lang="en-US" altLang="ko-KR" sz="1400" dirty="0">
                <a:latin typeface="arial" pitchFamily="34" charset="0"/>
                <a:ea typeface="+mn-ea"/>
              </a:rPr>
              <a:t> </a:t>
            </a:r>
            <a:r>
              <a:rPr lang="en-US" altLang="ko-KR" sz="1400" dirty="0" err="1">
                <a:latin typeface="arial" pitchFamily="34" charset="0"/>
                <a:ea typeface="+mn-ea"/>
              </a:rPr>
              <a:t>có</a:t>
            </a:r>
            <a:r>
              <a:rPr lang="en-US" altLang="ko-KR" sz="1400" dirty="0">
                <a:latin typeface="arial" pitchFamily="34" charset="0"/>
                <a:ea typeface="+mn-ea"/>
              </a:rPr>
              <a:t> </a:t>
            </a:r>
            <a:r>
              <a:rPr lang="en-US" altLang="ko-KR" sz="1400" dirty="0" err="1">
                <a:latin typeface="arial" pitchFamily="34" charset="0"/>
                <a:ea typeface="+mn-ea"/>
              </a:rPr>
              <a:t>thể</a:t>
            </a:r>
            <a:r>
              <a:rPr lang="vi-VN" altLang="ko-KR" sz="1400" dirty="0">
                <a:latin typeface="arial" pitchFamily="34" charset="0"/>
                <a:ea typeface="+mn-ea"/>
              </a:rPr>
              <a:t> xảy ra</a:t>
            </a:r>
            <a:r>
              <a:rPr lang="en-US" altLang="ko-KR" sz="1400" dirty="0">
                <a:latin typeface="arial" pitchFamily="34" charset="0"/>
                <a:ea typeface="+mn-ea"/>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249</a:t>
            </a:fld>
            <a:endParaRPr lang="ko-KR" altLang="en-US" dirty="0"/>
          </a:p>
        </p:txBody>
      </p:sp>
      <p:sp>
        <p:nvSpPr>
          <p:cNvPr id="6" name="제목 8"/>
          <p:cNvSpPr txBox="1">
            <a:spLocks/>
          </p:cNvSpPr>
          <p:nvPr/>
        </p:nvSpPr>
        <p:spPr bwMode="auto">
          <a:xfrm>
            <a:off x="195263" y="188913"/>
            <a:ext cx="8813800" cy="488950"/>
          </a:xfrm>
          <a:prstGeom prst="rect">
            <a:avLst/>
          </a:prstGeom>
          <a:noFill/>
          <a:ln>
            <a:miter lim="800000"/>
            <a:headEnd/>
            <a:tailEnd/>
          </a:ln>
        </p:spPr>
        <p:txBody>
          <a:bodyPr/>
          <a:lstStyle/>
          <a:p>
            <a:pPr>
              <a:defRPr/>
            </a:pPr>
            <a:r>
              <a:rPr lang="en-US" altLang="ko-KR" sz="2000" b="1" dirty="0">
                <a:latin typeface="arial" pitchFamily="34" charset="0"/>
              </a:rPr>
              <a:t>1. </a:t>
            </a:r>
            <a:r>
              <a:rPr lang="en-US" altLang="ko-KR" sz="2000" b="1" dirty="0" err="1">
                <a:latin typeface="arial" pitchFamily="34" charset="0"/>
              </a:rPr>
              <a:t>Giới</a:t>
            </a:r>
            <a:r>
              <a:rPr lang="en-US" altLang="ko-KR" sz="2000" b="1" dirty="0">
                <a:latin typeface="arial" pitchFamily="34" charset="0"/>
              </a:rPr>
              <a:t> </a:t>
            </a:r>
            <a:r>
              <a:rPr lang="en-US" altLang="ko-KR" sz="2000" b="1" dirty="0" err="1">
                <a:latin typeface="arial" pitchFamily="34" charset="0"/>
              </a:rPr>
              <a:t>thiệu</a:t>
            </a:r>
            <a:endParaRPr kumimoji="0" lang="ko-KR" altLang="en-US" sz="2000" b="1" dirty="0">
              <a:latin typeface="돋움" pitchFamily="50" charset="-127"/>
              <a:ea typeface="돋움" pitchFamily="50" charset="-127"/>
              <a:cs typeface="+mj-cs"/>
            </a:endParaRPr>
          </a:p>
        </p:txBody>
      </p:sp>
    </p:spTree>
    <p:extLst>
      <p:ext uri="{BB962C8B-B14F-4D97-AF65-F5344CB8AC3E}">
        <p14:creationId xmlns:p14="http://schemas.microsoft.com/office/powerpoint/2010/main" val="3903845659"/>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5"/>
          <p:cNvSpPr>
            <a:spLocks noChangeArrowheads="1"/>
          </p:cNvSpPr>
          <p:nvPr/>
        </p:nvSpPr>
        <p:spPr bwMode="auto">
          <a:xfrm>
            <a:off x="849313" y="1052513"/>
            <a:ext cx="5402441" cy="380873"/>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b="1" dirty="0" err="1">
                <a:solidFill>
                  <a:srgbClr val="000000"/>
                </a:solidFill>
                <a:latin typeface="arial" pitchFamily="34" charset="0"/>
                <a:ea typeface="맑은 고딕" panose="020B0503020000020004" pitchFamily="50" charset="-127"/>
              </a:rPr>
              <a:t>Tầm</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quan</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trọng</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của</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kiểm</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soát</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dữ</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liệu</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định</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kỳ</a:t>
            </a:r>
            <a:endParaRPr kumimoji="0" lang="ko-KR" altLang="en-US" b="1" dirty="0">
              <a:solidFill>
                <a:srgbClr val="000000"/>
              </a:solidFill>
              <a:latin typeface="arial" pitchFamily="34" charset="0"/>
              <a:ea typeface="맑은 고딕" panose="020B0503020000020004" pitchFamily="50" charset="-127"/>
            </a:endParaRPr>
          </a:p>
        </p:txBody>
      </p:sp>
      <p:sp>
        <p:nvSpPr>
          <p:cNvPr id="9219" name="Text Box 253"/>
          <p:cNvSpPr txBox="1">
            <a:spLocks noChangeArrowheads="1"/>
          </p:cNvSpPr>
          <p:nvPr/>
        </p:nvSpPr>
        <p:spPr bwMode="auto">
          <a:xfrm>
            <a:off x="4014795" y="5876925"/>
            <a:ext cx="18764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b="1" dirty="0" err="1">
                <a:solidFill>
                  <a:srgbClr val="008000"/>
                </a:solidFill>
                <a:latin typeface="arial" pitchFamily="34" charset="0"/>
                <a:ea typeface="맑은 고딕" pitchFamily="50" charset="-127"/>
              </a:rPr>
              <a:t>Dòng</a:t>
            </a:r>
            <a:r>
              <a:rPr lang="en-US" altLang="ko-KR" b="1" dirty="0">
                <a:solidFill>
                  <a:srgbClr val="008000"/>
                </a:solidFill>
                <a:latin typeface="arial" pitchFamily="34" charset="0"/>
                <a:ea typeface="맑은 고딕" pitchFamily="50" charset="-127"/>
              </a:rPr>
              <a:t> </a:t>
            </a:r>
            <a:r>
              <a:rPr lang="en-US" altLang="ko-KR" b="1" dirty="0" err="1">
                <a:solidFill>
                  <a:srgbClr val="008000"/>
                </a:solidFill>
                <a:latin typeface="arial" pitchFamily="34" charset="0"/>
                <a:ea typeface="맑은 고딕" pitchFamily="50" charset="-127"/>
              </a:rPr>
              <a:t>thời</a:t>
            </a:r>
            <a:r>
              <a:rPr lang="en-US" altLang="ko-KR" b="1" dirty="0">
                <a:solidFill>
                  <a:srgbClr val="008000"/>
                </a:solidFill>
                <a:latin typeface="arial" pitchFamily="34" charset="0"/>
                <a:ea typeface="맑은 고딕" pitchFamily="50" charset="-127"/>
              </a:rPr>
              <a:t> </a:t>
            </a:r>
            <a:r>
              <a:rPr lang="en-US" altLang="ko-KR" b="1" dirty="0" err="1">
                <a:solidFill>
                  <a:srgbClr val="008000"/>
                </a:solidFill>
                <a:latin typeface="arial" pitchFamily="34" charset="0"/>
                <a:ea typeface="맑은 고딕" pitchFamily="50" charset="-127"/>
              </a:rPr>
              <a:t>gian</a:t>
            </a:r>
            <a:endParaRPr lang="en-US" altLang="ko-KR" b="1" dirty="0">
              <a:solidFill>
                <a:srgbClr val="008000"/>
              </a:solidFill>
              <a:latin typeface="arial" pitchFamily="34" charset="0"/>
              <a:ea typeface="맑은 고딕" pitchFamily="50" charset="-127"/>
            </a:endParaRPr>
          </a:p>
        </p:txBody>
      </p:sp>
      <p:sp>
        <p:nvSpPr>
          <p:cNvPr id="9220" name="Line 254"/>
          <p:cNvSpPr>
            <a:spLocks noChangeShapeType="1"/>
          </p:cNvSpPr>
          <p:nvPr/>
        </p:nvSpPr>
        <p:spPr bwMode="auto">
          <a:xfrm flipV="1">
            <a:off x="1984375" y="4183063"/>
            <a:ext cx="0" cy="1766887"/>
          </a:xfrm>
          <a:prstGeom prst="line">
            <a:avLst/>
          </a:prstGeom>
          <a:noFill/>
          <a:ln w="28575">
            <a:solidFill>
              <a:schemeClr val="tx1"/>
            </a:solidFill>
            <a:round/>
            <a:headEnd type="oval" w="lg" len="lg"/>
            <a:tailEnd type="oval" w="lg" len="lg"/>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21" name="Line 262"/>
          <p:cNvSpPr>
            <a:spLocks noChangeShapeType="1"/>
          </p:cNvSpPr>
          <p:nvPr/>
        </p:nvSpPr>
        <p:spPr bwMode="auto">
          <a:xfrm>
            <a:off x="2157413" y="3016250"/>
            <a:ext cx="5545137"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22" name="Line 264"/>
          <p:cNvSpPr>
            <a:spLocks noChangeShapeType="1"/>
          </p:cNvSpPr>
          <p:nvPr/>
        </p:nvSpPr>
        <p:spPr bwMode="auto">
          <a:xfrm rot="5400000">
            <a:off x="7100888" y="3008313"/>
            <a:ext cx="14478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grpSp>
        <p:nvGrpSpPr>
          <p:cNvPr id="3" name="Group 265"/>
          <p:cNvGrpSpPr>
            <a:grpSpLocks/>
          </p:cNvGrpSpPr>
          <p:nvPr/>
        </p:nvGrpSpPr>
        <p:grpSpPr bwMode="auto">
          <a:xfrm rot="5400000">
            <a:off x="7754144" y="2458244"/>
            <a:ext cx="1263650" cy="1084262"/>
            <a:chOff x="826" y="1347"/>
            <a:chExt cx="2492" cy="1713"/>
          </a:xfrm>
        </p:grpSpPr>
        <p:sp>
          <p:nvSpPr>
            <p:cNvPr id="9360" name="Freeform 266"/>
            <p:cNvSpPr>
              <a:spLocks/>
            </p:cNvSpPr>
            <p:nvPr/>
          </p:nvSpPr>
          <p:spPr bwMode="auto">
            <a:xfrm>
              <a:off x="826" y="1347"/>
              <a:ext cx="1249" cy="1713"/>
            </a:xfrm>
            <a:custGeom>
              <a:avLst/>
              <a:gdLst>
                <a:gd name="T0" fmla="*/ 0 w 1249"/>
                <a:gd name="T1" fmla="*/ 1712 h 1713"/>
                <a:gd name="T2" fmla="*/ 33 w 1249"/>
                <a:gd name="T3" fmla="*/ 1706 h 1713"/>
                <a:gd name="T4" fmla="*/ 89 w 1249"/>
                <a:gd name="T5" fmla="*/ 1695 h 1713"/>
                <a:gd name="T6" fmla="*/ 134 w 1249"/>
                <a:gd name="T7" fmla="*/ 1689 h 1713"/>
                <a:gd name="T8" fmla="*/ 184 w 1249"/>
                <a:gd name="T9" fmla="*/ 1678 h 1713"/>
                <a:gd name="T10" fmla="*/ 240 w 1249"/>
                <a:gd name="T11" fmla="*/ 1661 h 1713"/>
                <a:gd name="T12" fmla="*/ 285 w 1249"/>
                <a:gd name="T13" fmla="*/ 1650 h 1713"/>
                <a:gd name="T14" fmla="*/ 319 w 1249"/>
                <a:gd name="T15" fmla="*/ 1639 h 1713"/>
                <a:gd name="T16" fmla="*/ 363 w 1249"/>
                <a:gd name="T17" fmla="*/ 1622 h 1713"/>
                <a:gd name="T18" fmla="*/ 391 w 1249"/>
                <a:gd name="T19" fmla="*/ 1611 h 1713"/>
                <a:gd name="T20" fmla="*/ 425 w 1249"/>
                <a:gd name="T21" fmla="*/ 1594 h 1713"/>
                <a:gd name="T22" fmla="*/ 464 w 1249"/>
                <a:gd name="T23" fmla="*/ 1577 h 1713"/>
                <a:gd name="T24" fmla="*/ 492 w 1249"/>
                <a:gd name="T25" fmla="*/ 1560 h 1713"/>
                <a:gd name="T26" fmla="*/ 509 w 1249"/>
                <a:gd name="T27" fmla="*/ 1544 h 1713"/>
                <a:gd name="T28" fmla="*/ 531 w 1249"/>
                <a:gd name="T29" fmla="*/ 1527 h 1713"/>
                <a:gd name="T30" fmla="*/ 553 w 1249"/>
                <a:gd name="T31" fmla="*/ 1504 h 1713"/>
                <a:gd name="T32" fmla="*/ 570 w 1249"/>
                <a:gd name="T33" fmla="*/ 1482 h 1713"/>
                <a:gd name="T34" fmla="*/ 576 w 1249"/>
                <a:gd name="T35" fmla="*/ 1476 h 1713"/>
                <a:gd name="T36" fmla="*/ 587 w 1249"/>
                <a:gd name="T37" fmla="*/ 1460 h 1713"/>
                <a:gd name="T38" fmla="*/ 615 w 1249"/>
                <a:gd name="T39" fmla="*/ 1415 h 1713"/>
                <a:gd name="T40" fmla="*/ 637 w 1249"/>
                <a:gd name="T41" fmla="*/ 1370 h 1713"/>
                <a:gd name="T42" fmla="*/ 660 w 1249"/>
                <a:gd name="T43" fmla="*/ 1326 h 1713"/>
                <a:gd name="T44" fmla="*/ 682 w 1249"/>
                <a:gd name="T45" fmla="*/ 1275 h 1713"/>
                <a:gd name="T46" fmla="*/ 704 w 1249"/>
                <a:gd name="T47" fmla="*/ 1225 h 1713"/>
                <a:gd name="T48" fmla="*/ 727 w 1249"/>
                <a:gd name="T49" fmla="*/ 1169 h 1713"/>
                <a:gd name="T50" fmla="*/ 744 w 1249"/>
                <a:gd name="T51" fmla="*/ 1124 h 1713"/>
                <a:gd name="T52" fmla="*/ 755 w 1249"/>
                <a:gd name="T53" fmla="*/ 1091 h 1713"/>
                <a:gd name="T54" fmla="*/ 794 w 1249"/>
                <a:gd name="T55" fmla="*/ 979 h 1713"/>
                <a:gd name="T56" fmla="*/ 872 w 1249"/>
                <a:gd name="T57" fmla="*/ 744 h 1713"/>
                <a:gd name="T58" fmla="*/ 912 w 1249"/>
                <a:gd name="T59" fmla="*/ 626 h 1713"/>
                <a:gd name="T60" fmla="*/ 923 w 1249"/>
                <a:gd name="T61" fmla="*/ 592 h 1713"/>
                <a:gd name="T62" fmla="*/ 945 w 1249"/>
                <a:gd name="T63" fmla="*/ 536 h 1713"/>
                <a:gd name="T64" fmla="*/ 962 w 1249"/>
                <a:gd name="T65" fmla="*/ 486 h 1713"/>
                <a:gd name="T66" fmla="*/ 979 w 1249"/>
                <a:gd name="T67" fmla="*/ 436 h 1713"/>
                <a:gd name="T68" fmla="*/ 1001 w 1249"/>
                <a:gd name="T69" fmla="*/ 380 h 1713"/>
                <a:gd name="T70" fmla="*/ 1018 w 1249"/>
                <a:gd name="T71" fmla="*/ 335 h 1713"/>
                <a:gd name="T72" fmla="*/ 1035 w 1249"/>
                <a:gd name="T73" fmla="*/ 291 h 1713"/>
                <a:gd name="T74" fmla="*/ 1052 w 1249"/>
                <a:gd name="T75" fmla="*/ 251 h 1713"/>
                <a:gd name="T76" fmla="*/ 1057 w 1249"/>
                <a:gd name="T77" fmla="*/ 235 h 1713"/>
                <a:gd name="T78" fmla="*/ 1063 w 1249"/>
                <a:gd name="T79" fmla="*/ 218 h 1713"/>
                <a:gd name="T80" fmla="*/ 1080 w 1249"/>
                <a:gd name="T81" fmla="*/ 179 h 1713"/>
                <a:gd name="T82" fmla="*/ 1091 w 1249"/>
                <a:gd name="T83" fmla="*/ 151 h 1713"/>
                <a:gd name="T84" fmla="*/ 1102 w 1249"/>
                <a:gd name="T85" fmla="*/ 123 h 1713"/>
                <a:gd name="T86" fmla="*/ 1119 w 1249"/>
                <a:gd name="T87" fmla="*/ 95 h 1713"/>
                <a:gd name="T88" fmla="*/ 1130 w 1249"/>
                <a:gd name="T89" fmla="*/ 72 h 1713"/>
                <a:gd name="T90" fmla="*/ 1141 w 1249"/>
                <a:gd name="T91" fmla="*/ 55 h 1713"/>
                <a:gd name="T92" fmla="*/ 1152 w 1249"/>
                <a:gd name="T93" fmla="*/ 44 h 1713"/>
                <a:gd name="T94" fmla="*/ 1158 w 1249"/>
                <a:gd name="T95" fmla="*/ 39 h 1713"/>
                <a:gd name="T96" fmla="*/ 1169 w 1249"/>
                <a:gd name="T97" fmla="*/ 27 h 1713"/>
                <a:gd name="T98" fmla="*/ 1192 w 1249"/>
                <a:gd name="T99" fmla="*/ 16 h 1713"/>
                <a:gd name="T100" fmla="*/ 1214 w 1249"/>
                <a:gd name="T101" fmla="*/ 5 h 1713"/>
                <a:gd name="T102" fmla="*/ 1236 w 1249"/>
                <a:gd name="T103" fmla="*/ 0 h 1713"/>
                <a:gd name="T104" fmla="*/ 1248 w 1249"/>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9"/>
                <a:gd name="T160" fmla="*/ 0 h 1713"/>
                <a:gd name="T161" fmla="*/ 1249 w 124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9" h="1713">
                  <a:moveTo>
                    <a:pt x="0" y="1712"/>
                  </a:moveTo>
                  <a:lnTo>
                    <a:pt x="33" y="1706"/>
                  </a:lnTo>
                  <a:lnTo>
                    <a:pt x="89" y="1695"/>
                  </a:lnTo>
                  <a:lnTo>
                    <a:pt x="134" y="1689"/>
                  </a:lnTo>
                  <a:lnTo>
                    <a:pt x="184" y="1678"/>
                  </a:lnTo>
                  <a:lnTo>
                    <a:pt x="240" y="1661"/>
                  </a:lnTo>
                  <a:lnTo>
                    <a:pt x="285" y="1650"/>
                  </a:lnTo>
                  <a:lnTo>
                    <a:pt x="319" y="1639"/>
                  </a:lnTo>
                  <a:lnTo>
                    <a:pt x="363" y="1622"/>
                  </a:lnTo>
                  <a:lnTo>
                    <a:pt x="391" y="1611"/>
                  </a:lnTo>
                  <a:lnTo>
                    <a:pt x="425" y="1594"/>
                  </a:lnTo>
                  <a:lnTo>
                    <a:pt x="464" y="1577"/>
                  </a:lnTo>
                  <a:lnTo>
                    <a:pt x="492" y="1560"/>
                  </a:lnTo>
                  <a:lnTo>
                    <a:pt x="509" y="1544"/>
                  </a:lnTo>
                  <a:lnTo>
                    <a:pt x="531" y="1527"/>
                  </a:lnTo>
                  <a:lnTo>
                    <a:pt x="553" y="1504"/>
                  </a:lnTo>
                  <a:lnTo>
                    <a:pt x="570" y="1482"/>
                  </a:lnTo>
                  <a:lnTo>
                    <a:pt x="576" y="1476"/>
                  </a:lnTo>
                  <a:lnTo>
                    <a:pt x="587" y="1460"/>
                  </a:lnTo>
                  <a:lnTo>
                    <a:pt x="615" y="1415"/>
                  </a:lnTo>
                  <a:lnTo>
                    <a:pt x="637" y="1370"/>
                  </a:lnTo>
                  <a:lnTo>
                    <a:pt x="660" y="1326"/>
                  </a:lnTo>
                  <a:lnTo>
                    <a:pt x="682" y="1275"/>
                  </a:lnTo>
                  <a:lnTo>
                    <a:pt x="704" y="1225"/>
                  </a:lnTo>
                  <a:lnTo>
                    <a:pt x="727" y="1169"/>
                  </a:lnTo>
                  <a:lnTo>
                    <a:pt x="744" y="1124"/>
                  </a:lnTo>
                  <a:lnTo>
                    <a:pt x="755" y="1091"/>
                  </a:lnTo>
                  <a:lnTo>
                    <a:pt x="794" y="979"/>
                  </a:lnTo>
                  <a:lnTo>
                    <a:pt x="872" y="744"/>
                  </a:lnTo>
                  <a:lnTo>
                    <a:pt x="912" y="626"/>
                  </a:lnTo>
                  <a:lnTo>
                    <a:pt x="923" y="592"/>
                  </a:lnTo>
                  <a:lnTo>
                    <a:pt x="945" y="536"/>
                  </a:lnTo>
                  <a:lnTo>
                    <a:pt x="962" y="486"/>
                  </a:lnTo>
                  <a:lnTo>
                    <a:pt x="979" y="436"/>
                  </a:lnTo>
                  <a:lnTo>
                    <a:pt x="1001" y="380"/>
                  </a:lnTo>
                  <a:lnTo>
                    <a:pt x="1018" y="335"/>
                  </a:lnTo>
                  <a:lnTo>
                    <a:pt x="1035" y="291"/>
                  </a:lnTo>
                  <a:lnTo>
                    <a:pt x="1052" y="251"/>
                  </a:lnTo>
                  <a:lnTo>
                    <a:pt x="1057" y="235"/>
                  </a:lnTo>
                  <a:lnTo>
                    <a:pt x="1063" y="218"/>
                  </a:lnTo>
                  <a:lnTo>
                    <a:pt x="1080" y="179"/>
                  </a:lnTo>
                  <a:lnTo>
                    <a:pt x="1091" y="151"/>
                  </a:lnTo>
                  <a:lnTo>
                    <a:pt x="1102" y="123"/>
                  </a:lnTo>
                  <a:lnTo>
                    <a:pt x="1119" y="95"/>
                  </a:lnTo>
                  <a:lnTo>
                    <a:pt x="1130" y="72"/>
                  </a:lnTo>
                  <a:lnTo>
                    <a:pt x="1141" y="55"/>
                  </a:lnTo>
                  <a:lnTo>
                    <a:pt x="1152" y="44"/>
                  </a:lnTo>
                  <a:lnTo>
                    <a:pt x="1158" y="39"/>
                  </a:lnTo>
                  <a:lnTo>
                    <a:pt x="1169" y="27"/>
                  </a:lnTo>
                  <a:lnTo>
                    <a:pt x="1192" y="16"/>
                  </a:lnTo>
                  <a:lnTo>
                    <a:pt x="1214" y="5"/>
                  </a:lnTo>
                  <a:lnTo>
                    <a:pt x="1236" y="0"/>
                  </a:lnTo>
                  <a:lnTo>
                    <a:pt x="1248"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9361" name="Freeform 267"/>
            <p:cNvSpPr>
              <a:spLocks/>
            </p:cNvSpPr>
            <p:nvPr/>
          </p:nvSpPr>
          <p:spPr bwMode="auto">
            <a:xfrm>
              <a:off x="2074" y="1347"/>
              <a:ext cx="1244" cy="1713"/>
            </a:xfrm>
            <a:custGeom>
              <a:avLst/>
              <a:gdLst>
                <a:gd name="T0" fmla="*/ 1243 w 1244"/>
                <a:gd name="T1" fmla="*/ 1712 h 1713"/>
                <a:gd name="T2" fmla="*/ 1209 w 1244"/>
                <a:gd name="T3" fmla="*/ 1706 h 1713"/>
                <a:gd name="T4" fmla="*/ 1153 w 1244"/>
                <a:gd name="T5" fmla="*/ 1695 h 1713"/>
                <a:gd name="T6" fmla="*/ 1108 w 1244"/>
                <a:gd name="T7" fmla="*/ 1689 h 1713"/>
                <a:gd name="T8" fmla="*/ 1058 w 1244"/>
                <a:gd name="T9" fmla="*/ 1678 h 1713"/>
                <a:gd name="T10" fmla="*/ 1002 w 1244"/>
                <a:gd name="T11" fmla="*/ 1661 h 1713"/>
                <a:gd name="T12" fmla="*/ 957 w 1244"/>
                <a:gd name="T13" fmla="*/ 1650 h 1713"/>
                <a:gd name="T14" fmla="*/ 923 w 1244"/>
                <a:gd name="T15" fmla="*/ 1639 h 1713"/>
                <a:gd name="T16" fmla="*/ 878 w 1244"/>
                <a:gd name="T17" fmla="*/ 1622 h 1713"/>
                <a:gd name="T18" fmla="*/ 850 w 1244"/>
                <a:gd name="T19" fmla="*/ 1611 h 1713"/>
                <a:gd name="T20" fmla="*/ 817 w 1244"/>
                <a:gd name="T21" fmla="*/ 1594 h 1713"/>
                <a:gd name="T22" fmla="*/ 778 w 1244"/>
                <a:gd name="T23" fmla="*/ 1577 h 1713"/>
                <a:gd name="T24" fmla="*/ 750 w 1244"/>
                <a:gd name="T25" fmla="*/ 1560 h 1713"/>
                <a:gd name="T26" fmla="*/ 733 w 1244"/>
                <a:gd name="T27" fmla="*/ 1544 h 1713"/>
                <a:gd name="T28" fmla="*/ 711 w 1244"/>
                <a:gd name="T29" fmla="*/ 1527 h 1713"/>
                <a:gd name="T30" fmla="*/ 689 w 1244"/>
                <a:gd name="T31" fmla="*/ 1504 h 1713"/>
                <a:gd name="T32" fmla="*/ 672 w 1244"/>
                <a:gd name="T33" fmla="*/ 1482 h 1713"/>
                <a:gd name="T34" fmla="*/ 666 w 1244"/>
                <a:gd name="T35" fmla="*/ 1476 h 1713"/>
                <a:gd name="T36" fmla="*/ 655 w 1244"/>
                <a:gd name="T37" fmla="*/ 1460 h 1713"/>
                <a:gd name="T38" fmla="*/ 627 w 1244"/>
                <a:gd name="T39" fmla="*/ 1415 h 1713"/>
                <a:gd name="T40" fmla="*/ 605 w 1244"/>
                <a:gd name="T41" fmla="*/ 1370 h 1713"/>
                <a:gd name="T42" fmla="*/ 582 w 1244"/>
                <a:gd name="T43" fmla="*/ 1331 h 1713"/>
                <a:gd name="T44" fmla="*/ 560 w 1244"/>
                <a:gd name="T45" fmla="*/ 1281 h 1713"/>
                <a:gd name="T46" fmla="*/ 537 w 1244"/>
                <a:gd name="T47" fmla="*/ 1231 h 1713"/>
                <a:gd name="T48" fmla="*/ 515 w 1244"/>
                <a:gd name="T49" fmla="*/ 1175 h 1713"/>
                <a:gd name="T50" fmla="*/ 492 w 1244"/>
                <a:gd name="T51" fmla="*/ 1124 h 1713"/>
                <a:gd name="T52" fmla="*/ 481 w 1244"/>
                <a:gd name="T53" fmla="*/ 1091 h 1713"/>
                <a:gd name="T54" fmla="*/ 442 w 1244"/>
                <a:gd name="T55" fmla="*/ 979 h 1713"/>
                <a:gd name="T56" fmla="*/ 364 w 1244"/>
                <a:gd name="T57" fmla="*/ 744 h 1713"/>
                <a:gd name="T58" fmla="*/ 324 w 1244"/>
                <a:gd name="T59" fmla="*/ 626 h 1713"/>
                <a:gd name="T60" fmla="*/ 313 w 1244"/>
                <a:gd name="T61" fmla="*/ 592 h 1713"/>
                <a:gd name="T62" fmla="*/ 296 w 1244"/>
                <a:gd name="T63" fmla="*/ 542 h 1713"/>
                <a:gd name="T64" fmla="*/ 280 w 1244"/>
                <a:gd name="T65" fmla="*/ 486 h 1713"/>
                <a:gd name="T66" fmla="*/ 257 w 1244"/>
                <a:gd name="T67" fmla="*/ 430 h 1713"/>
                <a:gd name="T68" fmla="*/ 240 w 1244"/>
                <a:gd name="T69" fmla="*/ 380 h 1713"/>
                <a:gd name="T70" fmla="*/ 224 w 1244"/>
                <a:gd name="T71" fmla="*/ 335 h 1713"/>
                <a:gd name="T72" fmla="*/ 207 w 1244"/>
                <a:gd name="T73" fmla="*/ 291 h 1713"/>
                <a:gd name="T74" fmla="*/ 190 w 1244"/>
                <a:gd name="T75" fmla="*/ 251 h 1713"/>
                <a:gd name="T76" fmla="*/ 184 w 1244"/>
                <a:gd name="T77" fmla="*/ 235 h 1713"/>
                <a:gd name="T78" fmla="*/ 179 w 1244"/>
                <a:gd name="T79" fmla="*/ 218 h 1713"/>
                <a:gd name="T80" fmla="*/ 162 w 1244"/>
                <a:gd name="T81" fmla="*/ 184 h 1713"/>
                <a:gd name="T82" fmla="*/ 145 w 1244"/>
                <a:gd name="T83" fmla="*/ 151 h 1713"/>
                <a:gd name="T84" fmla="*/ 128 w 1244"/>
                <a:gd name="T85" fmla="*/ 117 h 1713"/>
                <a:gd name="T86" fmla="*/ 117 w 1244"/>
                <a:gd name="T87" fmla="*/ 95 h 1713"/>
                <a:gd name="T88" fmla="*/ 106 w 1244"/>
                <a:gd name="T89" fmla="*/ 78 h 1713"/>
                <a:gd name="T90" fmla="*/ 95 w 1244"/>
                <a:gd name="T91" fmla="*/ 61 h 1713"/>
                <a:gd name="T92" fmla="*/ 84 w 1244"/>
                <a:gd name="T93" fmla="*/ 44 h 1713"/>
                <a:gd name="T94" fmla="*/ 78 w 1244"/>
                <a:gd name="T95" fmla="*/ 39 h 1713"/>
                <a:gd name="T96" fmla="*/ 67 w 1244"/>
                <a:gd name="T97" fmla="*/ 27 h 1713"/>
                <a:gd name="T98" fmla="*/ 50 w 1244"/>
                <a:gd name="T99" fmla="*/ 16 h 1713"/>
                <a:gd name="T100" fmla="*/ 33 w 1244"/>
                <a:gd name="T101" fmla="*/ 5 h 1713"/>
                <a:gd name="T102" fmla="*/ 11 w 1244"/>
                <a:gd name="T103" fmla="*/ 0 h 1713"/>
                <a:gd name="T104" fmla="*/ 0 w 1244"/>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4"/>
                <a:gd name="T160" fmla="*/ 0 h 1713"/>
                <a:gd name="T161" fmla="*/ 1244 w 1244"/>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4" h="1713">
                  <a:moveTo>
                    <a:pt x="1243" y="1712"/>
                  </a:moveTo>
                  <a:lnTo>
                    <a:pt x="1209" y="1706"/>
                  </a:lnTo>
                  <a:lnTo>
                    <a:pt x="1153" y="1695"/>
                  </a:lnTo>
                  <a:lnTo>
                    <a:pt x="1108" y="1689"/>
                  </a:lnTo>
                  <a:lnTo>
                    <a:pt x="1058" y="1678"/>
                  </a:lnTo>
                  <a:lnTo>
                    <a:pt x="1002" y="1661"/>
                  </a:lnTo>
                  <a:lnTo>
                    <a:pt x="957" y="1650"/>
                  </a:lnTo>
                  <a:lnTo>
                    <a:pt x="923" y="1639"/>
                  </a:lnTo>
                  <a:lnTo>
                    <a:pt x="878" y="1622"/>
                  </a:lnTo>
                  <a:lnTo>
                    <a:pt x="850" y="1611"/>
                  </a:lnTo>
                  <a:lnTo>
                    <a:pt x="817" y="1594"/>
                  </a:lnTo>
                  <a:lnTo>
                    <a:pt x="778" y="1577"/>
                  </a:lnTo>
                  <a:lnTo>
                    <a:pt x="750" y="1560"/>
                  </a:lnTo>
                  <a:lnTo>
                    <a:pt x="733" y="1544"/>
                  </a:lnTo>
                  <a:lnTo>
                    <a:pt x="711" y="1527"/>
                  </a:lnTo>
                  <a:lnTo>
                    <a:pt x="689" y="1504"/>
                  </a:lnTo>
                  <a:lnTo>
                    <a:pt x="672" y="1482"/>
                  </a:lnTo>
                  <a:lnTo>
                    <a:pt x="666" y="1476"/>
                  </a:lnTo>
                  <a:lnTo>
                    <a:pt x="655" y="1460"/>
                  </a:lnTo>
                  <a:lnTo>
                    <a:pt x="627" y="1415"/>
                  </a:lnTo>
                  <a:lnTo>
                    <a:pt x="605" y="1370"/>
                  </a:lnTo>
                  <a:lnTo>
                    <a:pt x="582" y="1331"/>
                  </a:lnTo>
                  <a:lnTo>
                    <a:pt x="560" y="1281"/>
                  </a:lnTo>
                  <a:lnTo>
                    <a:pt x="537" y="1231"/>
                  </a:lnTo>
                  <a:lnTo>
                    <a:pt x="515" y="1175"/>
                  </a:lnTo>
                  <a:lnTo>
                    <a:pt x="492" y="1124"/>
                  </a:lnTo>
                  <a:lnTo>
                    <a:pt x="481" y="1091"/>
                  </a:lnTo>
                  <a:lnTo>
                    <a:pt x="442" y="979"/>
                  </a:lnTo>
                  <a:lnTo>
                    <a:pt x="364" y="744"/>
                  </a:lnTo>
                  <a:lnTo>
                    <a:pt x="324" y="626"/>
                  </a:lnTo>
                  <a:lnTo>
                    <a:pt x="313" y="592"/>
                  </a:lnTo>
                  <a:lnTo>
                    <a:pt x="296" y="542"/>
                  </a:lnTo>
                  <a:lnTo>
                    <a:pt x="280" y="486"/>
                  </a:lnTo>
                  <a:lnTo>
                    <a:pt x="257" y="430"/>
                  </a:lnTo>
                  <a:lnTo>
                    <a:pt x="240" y="380"/>
                  </a:lnTo>
                  <a:lnTo>
                    <a:pt x="224" y="335"/>
                  </a:lnTo>
                  <a:lnTo>
                    <a:pt x="207" y="291"/>
                  </a:lnTo>
                  <a:lnTo>
                    <a:pt x="190" y="251"/>
                  </a:lnTo>
                  <a:lnTo>
                    <a:pt x="184" y="235"/>
                  </a:lnTo>
                  <a:lnTo>
                    <a:pt x="179" y="218"/>
                  </a:lnTo>
                  <a:lnTo>
                    <a:pt x="162" y="184"/>
                  </a:lnTo>
                  <a:lnTo>
                    <a:pt x="145" y="151"/>
                  </a:lnTo>
                  <a:lnTo>
                    <a:pt x="128" y="117"/>
                  </a:lnTo>
                  <a:lnTo>
                    <a:pt x="117" y="95"/>
                  </a:lnTo>
                  <a:lnTo>
                    <a:pt x="106" y="78"/>
                  </a:lnTo>
                  <a:lnTo>
                    <a:pt x="95" y="61"/>
                  </a:lnTo>
                  <a:lnTo>
                    <a:pt x="84" y="44"/>
                  </a:lnTo>
                  <a:lnTo>
                    <a:pt x="78" y="39"/>
                  </a:lnTo>
                  <a:lnTo>
                    <a:pt x="67" y="27"/>
                  </a:lnTo>
                  <a:lnTo>
                    <a:pt x="50" y="16"/>
                  </a:lnTo>
                  <a:lnTo>
                    <a:pt x="33" y="5"/>
                  </a:lnTo>
                  <a:lnTo>
                    <a:pt x="11" y="0"/>
                  </a:lnTo>
                  <a:lnTo>
                    <a:pt x="0"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a:p>
          </p:txBody>
        </p:sp>
      </p:grpSp>
      <p:sp>
        <p:nvSpPr>
          <p:cNvPr id="9224" name="Line 268"/>
          <p:cNvSpPr>
            <a:spLocks noChangeShapeType="1"/>
          </p:cNvSpPr>
          <p:nvPr/>
        </p:nvSpPr>
        <p:spPr bwMode="auto">
          <a:xfrm rot="5400000">
            <a:off x="8408988" y="2368550"/>
            <a:ext cx="0" cy="1295400"/>
          </a:xfrm>
          <a:prstGeom prst="line">
            <a:avLst/>
          </a:prstGeom>
          <a:noFill/>
          <a:ln w="12700">
            <a:solidFill>
              <a:srgbClr val="000000"/>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25" name="Oval 328"/>
          <p:cNvSpPr>
            <a:spLocks noChangeArrowheads="1"/>
          </p:cNvSpPr>
          <p:nvPr/>
        </p:nvSpPr>
        <p:spPr bwMode="auto">
          <a:xfrm>
            <a:off x="2776538" y="285908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26" name="Oval 329"/>
          <p:cNvSpPr>
            <a:spLocks noChangeArrowheads="1"/>
          </p:cNvSpPr>
          <p:nvPr/>
        </p:nvSpPr>
        <p:spPr bwMode="auto">
          <a:xfrm>
            <a:off x="2633663" y="271621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27" name="Oval 330"/>
          <p:cNvSpPr>
            <a:spLocks noChangeArrowheads="1"/>
          </p:cNvSpPr>
          <p:nvPr/>
        </p:nvSpPr>
        <p:spPr bwMode="auto">
          <a:xfrm>
            <a:off x="3354388" y="2714625"/>
            <a:ext cx="71437"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28" name="Oval 331"/>
          <p:cNvSpPr>
            <a:spLocks noChangeArrowheads="1"/>
          </p:cNvSpPr>
          <p:nvPr/>
        </p:nvSpPr>
        <p:spPr bwMode="auto">
          <a:xfrm>
            <a:off x="3209925" y="3001963"/>
            <a:ext cx="71438"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29" name="Oval 332"/>
          <p:cNvSpPr>
            <a:spLocks noChangeArrowheads="1"/>
          </p:cNvSpPr>
          <p:nvPr/>
        </p:nvSpPr>
        <p:spPr bwMode="auto">
          <a:xfrm>
            <a:off x="3065463" y="285908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0" name="Oval 333"/>
          <p:cNvSpPr>
            <a:spLocks noChangeArrowheads="1"/>
          </p:cNvSpPr>
          <p:nvPr/>
        </p:nvSpPr>
        <p:spPr bwMode="auto">
          <a:xfrm>
            <a:off x="3857625" y="2787650"/>
            <a:ext cx="74613"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1" name="Oval 334"/>
          <p:cNvSpPr>
            <a:spLocks noChangeArrowheads="1"/>
          </p:cNvSpPr>
          <p:nvPr/>
        </p:nvSpPr>
        <p:spPr bwMode="auto">
          <a:xfrm>
            <a:off x="4289425" y="293211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2" name="Oval 335"/>
          <p:cNvSpPr>
            <a:spLocks noChangeArrowheads="1"/>
          </p:cNvSpPr>
          <p:nvPr/>
        </p:nvSpPr>
        <p:spPr bwMode="auto">
          <a:xfrm>
            <a:off x="4144963" y="32194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3" name="Oval 336"/>
          <p:cNvSpPr>
            <a:spLocks noChangeArrowheads="1"/>
          </p:cNvSpPr>
          <p:nvPr/>
        </p:nvSpPr>
        <p:spPr bwMode="auto">
          <a:xfrm>
            <a:off x="4002088" y="3076575"/>
            <a:ext cx="74612"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4" name="Oval 337"/>
          <p:cNvSpPr>
            <a:spLocks noChangeArrowheads="1"/>
          </p:cNvSpPr>
          <p:nvPr/>
        </p:nvSpPr>
        <p:spPr bwMode="auto">
          <a:xfrm>
            <a:off x="5010150" y="32194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5" name="Oval 338"/>
          <p:cNvSpPr>
            <a:spLocks noChangeArrowheads="1"/>
          </p:cNvSpPr>
          <p:nvPr/>
        </p:nvSpPr>
        <p:spPr bwMode="auto">
          <a:xfrm>
            <a:off x="4864100" y="2714625"/>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6" name="Oval 339"/>
          <p:cNvSpPr>
            <a:spLocks noChangeArrowheads="1"/>
          </p:cNvSpPr>
          <p:nvPr/>
        </p:nvSpPr>
        <p:spPr bwMode="auto">
          <a:xfrm>
            <a:off x="4719638" y="300196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7" name="Oval 340"/>
          <p:cNvSpPr>
            <a:spLocks noChangeArrowheads="1"/>
          </p:cNvSpPr>
          <p:nvPr/>
        </p:nvSpPr>
        <p:spPr bwMode="auto">
          <a:xfrm>
            <a:off x="4576763" y="285908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8" name="Oval 341"/>
          <p:cNvSpPr>
            <a:spLocks noChangeArrowheads="1"/>
          </p:cNvSpPr>
          <p:nvPr/>
        </p:nvSpPr>
        <p:spPr bwMode="auto">
          <a:xfrm>
            <a:off x="5440363" y="278606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39" name="Oval 342"/>
          <p:cNvSpPr>
            <a:spLocks noChangeArrowheads="1"/>
          </p:cNvSpPr>
          <p:nvPr/>
        </p:nvSpPr>
        <p:spPr bwMode="auto">
          <a:xfrm>
            <a:off x="5586413" y="27876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0" name="Oval 343"/>
          <p:cNvSpPr>
            <a:spLocks noChangeArrowheads="1"/>
          </p:cNvSpPr>
          <p:nvPr/>
        </p:nvSpPr>
        <p:spPr bwMode="auto">
          <a:xfrm>
            <a:off x="5441950" y="3146425"/>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1" name="Oval 344"/>
          <p:cNvSpPr>
            <a:spLocks noChangeArrowheads="1"/>
          </p:cNvSpPr>
          <p:nvPr/>
        </p:nvSpPr>
        <p:spPr bwMode="auto">
          <a:xfrm>
            <a:off x="5299075" y="293211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2" name="Oval 345"/>
          <p:cNvSpPr>
            <a:spLocks noChangeArrowheads="1"/>
          </p:cNvSpPr>
          <p:nvPr/>
        </p:nvSpPr>
        <p:spPr bwMode="auto">
          <a:xfrm>
            <a:off x="6018213" y="2860675"/>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3" name="Oval 346"/>
          <p:cNvSpPr>
            <a:spLocks noChangeArrowheads="1"/>
          </p:cNvSpPr>
          <p:nvPr/>
        </p:nvSpPr>
        <p:spPr bwMode="auto">
          <a:xfrm>
            <a:off x="5873750" y="314801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4" name="Oval 347"/>
          <p:cNvSpPr>
            <a:spLocks noChangeArrowheads="1"/>
          </p:cNvSpPr>
          <p:nvPr/>
        </p:nvSpPr>
        <p:spPr bwMode="auto">
          <a:xfrm>
            <a:off x="5730875" y="300513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5" name="Oval 348"/>
          <p:cNvSpPr>
            <a:spLocks noChangeArrowheads="1"/>
          </p:cNvSpPr>
          <p:nvPr/>
        </p:nvSpPr>
        <p:spPr bwMode="auto">
          <a:xfrm>
            <a:off x="6521450" y="30035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6" name="Oval 349"/>
          <p:cNvSpPr>
            <a:spLocks noChangeArrowheads="1"/>
          </p:cNvSpPr>
          <p:nvPr/>
        </p:nvSpPr>
        <p:spPr bwMode="auto">
          <a:xfrm>
            <a:off x="6376988" y="329088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7" name="Oval 350"/>
          <p:cNvSpPr>
            <a:spLocks noChangeArrowheads="1"/>
          </p:cNvSpPr>
          <p:nvPr/>
        </p:nvSpPr>
        <p:spPr bwMode="auto">
          <a:xfrm>
            <a:off x="6234113" y="314801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8" name="Oval 351"/>
          <p:cNvSpPr>
            <a:spLocks noChangeArrowheads="1"/>
          </p:cNvSpPr>
          <p:nvPr/>
        </p:nvSpPr>
        <p:spPr bwMode="auto">
          <a:xfrm>
            <a:off x="6376988" y="2930525"/>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49" name="Oval 352"/>
          <p:cNvSpPr>
            <a:spLocks noChangeArrowheads="1"/>
          </p:cNvSpPr>
          <p:nvPr/>
        </p:nvSpPr>
        <p:spPr bwMode="auto">
          <a:xfrm>
            <a:off x="6234113" y="27876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0" name="Oval 353"/>
          <p:cNvSpPr>
            <a:spLocks noChangeArrowheads="1"/>
          </p:cNvSpPr>
          <p:nvPr/>
        </p:nvSpPr>
        <p:spPr bwMode="auto">
          <a:xfrm>
            <a:off x="7240588" y="30035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1" name="Oval 354"/>
          <p:cNvSpPr>
            <a:spLocks noChangeArrowheads="1"/>
          </p:cNvSpPr>
          <p:nvPr/>
        </p:nvSpPr>
        <p:spPr bwMode="auto">
          <a:xfrm>
            <a:off x="7096125" y="329088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2" name="Oval 355"/>
          <p:cNvSpPr>
            <a:spLocks noChangeArrowheads="1"/>
          </p:cNvSpPr>
          <p:nvPr/>
        </p:nvSpPr>
        <p:spPr bwMode="auto">
          <a:xfrm>
            <a:off x="6953250" y="3148013"/>
            <a:ext cx="74613"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3" name="Oval 356"/>
          <p:cNvSpPr>
            <a:spLocks noChangeArrowheads="1"/>
          </p:cNvSpPr>
          <p:nvPr/>
        </p:nvSpPr>
        <p:spPr bwMode="auto">
          <a:xfrm>
            <a:off x="7096125" y="2930525"/>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4" name="Oval 357"/>
          <p:cNvSpPr>
            <a:spLocks noChangeArrowheads="1"/>
          </p:cNvSpPr>
          <p:nvPr/>
        </p:nvSpPr>
        <p:spPr bwMode="auto">
          <a:xfrm>
            <a:off x="6953250" y="2787650"/>
            <a:ext cx="74613"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5" name="Oval 358"/>
          <p:cNvSpPr>
            <a:spLocks noChangeArrowheads="1"/>
          </p:cNvSpPr>
          <p:nvPr/>
        </p:nvSpPr>
        <p:spPr bwMode="auto">
          <a:xfrm>
            <a:off x="3779838" y="3076575"/>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6" name="Oval 359"/>
          <p:cNvSpPr>
            <a:spLocks noChangeArrowheads="1"/>
          </p:cNvSpPr>
          <p:nvPr/>
        </p:nvSpPr>
        <p:spPr bwMode="auto">
          <a:xfrm>
            <a:off x="3498850" y="3290888"/>
            <a:ext cx="71438"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7" name="Oval 360"/>
          <p:cNvSpPr>
            <a:spLocks noChangeArrowheads="1"/>
          </p:cNvSpPr>
          <p:nvPr/>
        </p:nvSpPr>
        <p:spPr bwMode="auto">
          <a:xfrm>
            <a:off x="3354388" y="3148013"/>
            <a:ext cx="71437"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8" name="Oval 361"/>
          <p:cNvSpPr>
            <a:spLocks noChangeArrowheads="1"/>
          </p:cNvSpPr>
          <p:nvPr/>
        </p:nvSpPr>
        <p:spPr bwMode="auto">
          <a:xfrm>
            <a:off x="2633663" y="307498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59" name="Oval 362"/>
          <p:cNvSpPr>
            <a:spLocks noChangeArrowheads="1"/>
          </p:cNvSpPr>
          <p:nvPr/>
        </p:nvSpPr>
        <p:spPr bwMode="auto">
          <a:xfrm>
            <a:off x="2849563" y="32194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0" name="Oval 363"/>
          <p:cNvSpPr>
            <a:spLocks noChangeArrowheads="1"/>
          </p:cNvSpPr>
          <p:nvPr/>
        </p:nvSpPr>
        <p:spPr bwMode="auto">
          <a:xfrm>
            <a:off x="4433888" y="32194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1" name="Oval 364"/>
          <p:cNvSpPr>
            <a:spLocks noChangeArrowheads="1"/>
          </p:cNvSpPr>
          <p:nvPr/>
        </p:nvSpPr>
        <p:spPr bwMode="auto">
          <a:xfrm>
            <a:off x="6738938" y="3219450"/>
            <a:ext cx="71437"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2" name="Oval 365"/>
          <p:cNvSpPr>
            <a:spLocks noChangeArrowheads="1"/>
          </p:cNvSpPr>
          <p:nvPr/>
        </p:nvSpPr>
        <p:spPr bwMode="auto">
          <a:xfrm>
            <a:off x="7385050" y="329088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3" name="Oval 366"/>
          <p:cNvSpPr>
            <a:spLocks noChangeArrowheads="1"/>
          </p:cNvSpPr>
          <p:nvPr/>
        </p:nvSpPr>
        <p:spPr bwMode="auto">
          <a:xfrm>
            <a:off x="2273300" y="314801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4" name="Oval 367"/>
          <p:cNvSpPr>
            <a:spLocks noChangeArrowheads="1"/>
          </p:cNvSpPr>
          <p:nvPr/>
        </p:nvSpPr>
        <p:spPr bwMode="auto">
          <a:xfrm>
            <a:off x="2417763" y="2860675"/>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5" name="Oval 368"/>
          <p:cNvSpPr>
            <a:spLocks noChangeArrowheads="1"/>
          </p:cNvSpPr>
          <p:nvPr/>
        </p:nvSpPr>
        <p:spPr bwMode="auto">
          <a:xfrm>
            <a:off x="4937125" y="2932113"/>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6" name="Oval 369"/>
          <p:cNvSpPr>
            <a:spLocks noChangeArrowheads="1"/>
          </p:cNvSpPr>
          <p:nvPr/>
        </p:nvSpPr>
        <p:spPr bwMode="auto">
          <a:xfrm>
            <a:off x="4073525" y="2860675"/>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7" name="Oval 370"/>
          <p:cNvSpPr>
            <a:spLocks noChangeArrowheads="1"/>
          </p:cNvSpPr>
          <p:nvPr/>
        </p:nvSpPr>
        <p:spPr bwMode="auto">
          <a:xfrm>
            <a:off x="3498850" y="2932113"/>
            <a:ext cx="71438"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8" name="Oval 371"/>
          <p:cNvSpPr>
            <a:spLocks noChangeArrowheads="1"/>
          </p:cNvSpPr>
          <p:nvPr/>
        </p:nvSpPr>
        <p:spPr bwMode="auto">
          <a:xfrm>
            <a:off x="6594475" y="2787650"/>
            <a:ext cx="71438"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69" name="Oval 372"/>
          <p:cNvSpPr>
            <a:spLocks noChangeArrowheads="1"/>
          </p:cNvSpPr>
          <p:nvPr/>
        </p:nvSpPr>
        <p:spPr bwMode="auto">
          <a:xfrm>
            <a:off x="6810375" y="3003550"/>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70" name="Oval 373"/>
          <p:cNvSpPr>
            <a:spLocks noChangeArrowheads="1"/>
          </p:cNvSpPr>
          <p:nvPr/>
        </p:nvSpPr>
        <p:spPr bwMode="auto">
          <a:xfrm>
            <a:off x="5729288" y="3221038"/>
            <a:ext cx="73025" cy="73025"/>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grpSp>
        <p:nvGrpSpPr>
          <p:cNvPr id="4" name="Group 387"/>
          <p:cNvGrpSpPr>
            <a:grpSpLocks/>
          </p:cNvGrpSpPr>
          <p:nvPr/>
        </p:nvGrpSpPr>
        <p:grpSpPr bwMode="auto">
          <a:xfrm>
            <a:off x="2157413" y="4076700"/>
            <a:ext cx="6899275" cy="2124075"/>
            <a:chOff x="1142" y="1117"/>
            <a:chExt cx="4346" cy="1338"/>
          </a:xfrm>
        </p:grpSpPr>
        <p:sp>
          <p:nvSpPr>
            <p:cNvPr id="9287" name="Line 388"/>
            <p:cNvSpPr>
              <a:spLocks noChangeShapeType="1"/>
            </p:cNvSpPr>
            <p:nvPr/>
          </p:nvSpPr>
          <p:spPr bwMode="auto">
            <a:xfrm>
              <a:off x="1142" y="1797"/>
              <a:ext cx="3493"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88" name="Line 389"/>
            <p:cNvSpPr>
              <a:spLocks noChangeShapeType="1"/>
            </p:cNvSpPr>
            <p:nvPr/>
          </p:nvSpPr>
          <p:spPr bwMode="auto">
            <a:xfrm rot="5400000">
              <a:off x="4043" y="1786"/>
              <a:ext cx="133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grpSp>
          <p:nvGrpSpPr>
            <p:cNvPr id="5" name="Group 390"/>
            <p:cNvGrpSpPr>
              <a:grpSpLocks/>
            </p:cNvGrpSpPr>
            <p:nvPr/>
          </p:nvGrpSpPr>
          <p:grpSpPr bwMode="auto">
            <a:xfrm rot="5400000">
              <a:off x="4466" y="1449"/>
              <a:ext cx="1199" cy="683"/>
              <a:chOff x="826" y="1347"/>
              <a:chExt cx="2492" cy="1713"/>
            </a:xfrm>
          </p:grpSpPr>
          <p:sp>
            <p:nvSpPr>
              <p:cNvPr id="9358" name="Freeform 391"/>
              <p:cNvSpPr>
                <a:spLocks/>
              </p:cNvSpPr>
              <p:nvPr/>
            </p:nvSpPr>
            <p:spPr bwMode="auto">
              <a:xfrm>
                <a:off x="826" y="1347"/>
                <a:ext cx="1249" cy="1713"/>
              </a:xfrm>
              <a:custGeom>
                <a:avLst/>
                <a:gdLst>
                  <a:gd name="T0" fmla="*/ 0 w 1249"/>
                  <a:gd name="T1" fmla="*/ 1712 h 1713"/>
                  <a:gd name="T2" fmla="*/ 33 w 1249"/>
                  <a:gd name="T3" fmla="*/ 1706 h 1713"/>
                  <a:gd name="T4" fmla="*/ 89 w 1249"/>
                  <a:gd name="T5" fmla="*/ 1695 h 1713"/>
                  <a:gd name="T6" fmla="*/ 134 w 1249"/>
                  <a:gd name="T7" fmla="*/ 1689 h 1713"/>
                  <a:gd name="T8" fmla="*/ 184 w 1249"/>
                  <a:gd name="T9" fmla="*/ 1678 h 1713"/>
                  <a:gd name="T10" fmla="*/ 240 w 1249"/>
                  <a:gd name="T11" fmla="*/ 1661 h 1713"/>
                  <a:gd name="T12" fmla="*/ 285 w 1249"/>
                  <a:gd name="T13" fmla="*/ 1650 h 1713"/>
                  <a:gd name="T14" fmla="*/ 319 w 1249"/>
                  <a:gd name="T15" fmla="*/ 1639 h 1713"/>
                  <a:gd name="T16" fmla="*/ 363 w 1249"/>
                  <a:gd name="T17" fmla="*/ 1622 h 1713"/>
                  <a:gd name="T18" fmla="*/ 391 w 1249"/>
                  <a:gd name="T19" fmla="*/ 1611 h 1713"/>
                  <a:gd name="T20" fmla="*/ 425 w 1249"/>
                  <a:gd name="T21" fmla="*/ 1594 h 1713"/>
                  <a:gd name="T22" fmla="*/ 464 w 1249"/>
                  <a:gd name="T23" fmla="*/ 1577 h 1713"/>
                  <a:gd name="T24" fmla="*/ 492 w 1249"/>
                  <a:gd name="T25" fmla="*/ 1560 h 1713"/>
                  <a:gd name="T26" fmla="*/ 509 w 1249"/>
                  <a:gd name="T27" fmla="*/ 1544 h 1713"/>
                  <a:gd name="T28" fmla="*/ 531 w 1249"/>
                  <a:gd name="T29" fmla="*/ 1527 h 1713"/>
                  <a:gd name="T30" fmla="*/ 553 w 1249"/>
                  <a:gd name="T31" fmla="*/ 1504 h 1713"/>
                  <a:gd name="T32" fmla="*/ 570 w 1249"/>
                  <a:gd name="T33" fmla="*/ 1482 h 1713"/>
                  <a:gd name="T34" fmla="*/ 576 w 1249"/>
                  <a:gd name="T35" fmla="*/ 1476 h 1713"/>
                  <a:gd name="T36" fmla="*/ 587 w 1249"/>
                  <a:gd name="T37" fmla="*/ 1460 h 1713"/>
                  <a:gd name="T38" fmla="*/ 615 w 1249"/>
                  <a:gd name="T39" fmla="*/ 1415 h 1713"/>
                  <a:gd name="T40" fmla="*/ 637 w 1249"/>
                  <a:gd name="T41" fmla="*/ 1370 h 1713"/>
                  <a:gd name="T42" fmla="*/ 660 w 1249"/>
                  <a:gd name="T43" fmla="*/ 1326 h 1713"/>
                  <a:gd name="T44" fmla="*/ 682 w 1249"/>
                  <a:gd name="T45" fmla="*/ 1275 h 1713"/>
                  <a:gd name="T46" fmla="*/ 704 w 1249"/>
                  <a:gd name="T47" fmla="*/ 1225 h 1713"/>
                  <a:gd name="T48" fmla="*/ 727 w 1249"/>
                  <a:gd name="T49" fmla="*/ 1169 h 1713"/>
                  <a:gd name="T50" fmla="*/ 744 w 1249"/>
                  <a:gd name="T51" fmla="*/ 1124 h 1713"/>
                  <a:gd name="T52" fmla="*/ 755 w 1249"/>
                  <a:gd name="T53" fmla="*/ 1091 h 1713"/>
                  <a:gd name="T54" fmla="*/ 794 w 1249"/>
                  <a:gd name="T55" fmla="*/ 979 h 1713"/>
                  <a:gd name="T56" fmla="*/ 872 w 1249"/>
                  <a:gd name="T57" fmla="*/ 744 h 1713"/>
                  <a:gd name="T58" fmla="*/ 912 w 1249"/>
                  <a:gd name="T59" fmla="*/ 626 h 1713"/>
                  <a:gd name="T60" fmla="*/ 923 w 1249"/>
                  <a:gd name="T61" fmla="*/ 592 h 1713"/>
                  <a:gd name="T62" fmla="*/ 945 w 1249"/>
                  <a:gd name="T63" fmla="*/ 536 h 1713"/>
                  <a:gd name="T64" fmla="*/ 962 w 1249"/>
                  <a:gd name="T65" fmla="*/ 486 h 1713"/>
                  <a:gd name="T66" fmla="*/ 979 w 1249"/>
                  <a:gd name="T67" fmla="*/ 436 h 1713"/>
                  <a:gd name="T68" fmla="*/ 1001 w 1249"/>
                  <a:gd name="T69" fmla="*/ 380 h 1713"/>
                  <a:gd name="T70" fmla="*/ 1018 w 1249"/>
                  <a:gd name="T71" fmla="*/ 335 h 1713"/>
                  <a:gd name="T72" fmla="*/ 1035 w 1249"/>
                  <a:gd name="T73" fmla="*/ 291 h 1713"/>
                  <a:gd name="T74" fmla="*/ 1052 w 1249"/>
                  <a:gd name="T75" fmla="*/ 251 h 1713"/>
                  <a:gd name="T76" fmla="*/ 1057 w 1249"/>
                  <a:gd name="T77" fmla="*/ 235 h 1713"/>
                  <a:gd name="T78" fmla="*/ 1063 w 1249"/>
                  <a:gd name="T79" fmla="*/ 218 h 1713"/>
                  <a:gd name="T80" fmla="*/ 1080 w 1249"/>
                  <a:gd name="T81" fmla="*/ 179 h 1713"/>
                  <a:gd name="T82" fmla="*/ 1091 w 1249"/>
                  <a:gd name="T83" fmla="*/ 151 h 1713"/>
                  <a:gd name="T84" fmla="*/ 1102 w 1249"/>
                  <a:gd name="T85" fmla="*/ 123 h 1713"/>
                  <a:gd name="T86" fmla="*/ 1119 w 1249"/>
                  <a:gd name="T87" fmla="*/ 95 h 1713"/>
                  <a:gd name="T88" fmla="*/ 1130 w 1249"/>
                  <a:gd name="T89" fmla="*/ 72 h 1713"/>
                  <a:gd name="T90" fmla="*/ 1141 w 1249"/>
                  <a:gd name="T91" fmla="*/ 55 h 1713"/>
                  <a:gd name="T92" fmla="*/ 1152 w 1249"/>
                  <a:gd name="T93" fmla="*/ 44 h 1713"/>
                  <a:gd name="T94" fmla="*/ 1158 w 1249"/>
                  <a:gd name="T95" fmla="*/ 39 h 1713"/>
                  <a:gd name="T96" fmla="*/ 1169 w 1249"/>
                  <a:gd name="T97" fmla="*/ 27 h 1713"/>
                  <a:gd name="T98" fmla="*/ 1192 w 1249"/>
                  <a:gd name="T99" fmla="*/ 16 h 1713"/>
                  <a:gd name="T100" fmla="*/ 1214 w 1249"/>
                  <a:gd name="T101" fmla="*/ 5 h 1713"/>
                  <a:gd name="T102" fmla="*/ 1236 w 1249"/>
                  <a:gd name="T103" fmla="*/ 0 h 1713"/>
                  <a:gd name="T104" fmla="*/ 1248 w 1249"/>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9"/>
                  <a:gd name="T160" fmla="*/ 0 h 1713"/>
                  <a:gd name="T161" fmla="*/ 1249 w 124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9" h="1713">
                    <a:moveTo>
                      <a:pt x="0" y="1712"/>
                    </a:moveTo>
                    <a:lnTo>
                      <a:pt x="33" y="1706"/>
                    </a:lnTo>
                    <a:lnTo>
                      <a:pt x="89" y="1695"/>
                    </a:lnTo>
                    <a:lnTo>
                      <a:pt x="134" y="1689"/>
                    </a:lnTo>
                    <a:lnTo>
                      <a:pt x="184" y="1678"/>
                    </a:lnTo>
                    <a:lnTo>
                      <a:pt x="240" y="1661"/>
                    </a:lnTo>
                    <a:lnTo>
                      <a:pt x="285" y="1650"/>
                    </a:lnTo>
                    <a:lnTo>
                      <a:pt x="319" y="1639"/>
                    </a:lnTo>
                    <a:lnTo>
                      <a:pt x="363" y="1622"/>
                    </a:lnTo>
                    <a:lnTo>
                      <a:pt x="391" y="1611"/>
                    </a:lnTo>
                    <a:lnTo>
                      <a:pt x="425" y="1594"/>
                    </a:lnTo>
                    <a:lnTo>
                      <a:pt x="464" y="1577"/>
                    </a:lnTo>
                    <a:lnTo>
                      <a:pt x="492" y="1560"/>
                    </a:lnTo>
                    <a:lnTo>
                      <a:pt x="509" y="1544"/>
                    </a:lnTo>
                    <a:lnTo>
                      <a:pt x="531" y="1527"/>
                    </a:lnTo>
                    <a:lnTo>
                      <a:pt x="553" y="1504"/>
                    </a:lnTo>
                    <a:lnTo>
                      <a:pt x="570" y="1482"/>
                    </a:lnTo>
                    <a:lnTo>
                      <a:pt x="576" y="1476"/>
                    </a:lnTo>
                    <a:lnTo>
                      <a:pt x="587" y="1460"/>
                    </a:lnTo>
                    <a:lnTo>
                      <a:pt x="615" y="1415"/>
                    </a:lnTo>
                    <a:lnTo>
                      <a:pt x="637" y="1370"/>
                    </a:lnTo>
                    <a:lnTo>
                      <a:pt x="660" y="1326"/>
                    </a:lnTo>
                    <a:lnTo>
                      <a:pt x="682" y="1275"/>
                    </a:lnTo>
                    <a:lnTo>
                      <a:pt x="704" y="1225"/>
                    </a:lnTo>
                    <a:lnTo>
                      <a:pt x="727" y="1169"/>
                    </a:lnTo>
                    <a:lnTo>
                      <a:pt x="744" y="1124"/>
                    </a:lnTo>
                    <a:lnTo>
                      <a:pt x="755" y="1091"/>
                    </a:lnTo>
                    <a:lnTo>
                      <a:pt x="794" y="979"/>
                    </a:lnTo>
                    <a:lnTo>
                      <a:pt x="872" y="744"/>
                    </a:lnTo>
                    <a:lnTo>
                      <a:pt x="912" y="626"/>
                    </a:lnTo>
                    <a:lnTo>
                      <a:pt x="923" y="592"/>
                    </a:lnTo>
                    <a:lnTo>
                      <a:pt x="945" y="536"/>
                    </a:lnTo>
                    <a:lnTo>
                      <a:pt x="962" y="486"/>
                    </a:lnTo>
                    <a:lnTo>
                      <a:pt x="979" y="436"/>
                    </a:lnTo>
                    <a:lnTo>
                      <a:pt x="1001" y="380"/>
                    </a:lnTo>
                    <a:lnTo>
                      <a:pt x="1018" y="335"/>
                    </a:lnTo>
                    <a:lnTo>
                      <a:pt x="1035" y="291"/>
                    </a:lnTo>
                    <a:lnTo>
                      <a:pt x="1052" y="251"/>
                    </a:lnTo>
                    <a:lnTo>
                      <a:pt x="1057" y="235"/>
                    </a:lnTo>
                    <a:lnTo>
                      <a:pt x="1063" y="218"/>
                    </a:lnTo>
                    <a:lnTo>
                      <a:pt x="1080" y="179"/>
                    </a:lnTo>
                    <a:lnTo>
                      <a:pt x="1091" y="151"/>
                    </a:lnTo>
                    <a:lnTo>
                      <a:pt x="1102" y="123"/>
                    </a:lnTo>
                    <a:lnTo>
                      <a:pt x="1119" y="95"/>
                    </a:lnTo>
                    <a:lnTo>
                      <a:pt x="1130" y="72"/>
                    </a:lnTo>
                    <a:lnTo>
                      <a:pt x="1141" y="55"/>
                    </a:lnTo>
                    <a:lnTo>
                      <a:pt x="1152" y="44"/>
                    </a:lnTo>
                    <a:lnTo>
                      <a:pt x="1158" y="39"/>
                    </a:lnTo>
                    <a:lnTo>
                      <a:pt x="1169" y="27"/>
                    </a:lnTo>
                    <a:lnTo>
                      <a:pt x="1192" y="16"/>
                    </a:lnTo>
                    <a:lnTo>
                      <a:pt x="1214" y="5"/>
                    </a:lnTo>
                    <a:lnTo>
                      <a:pt x="1236" y="0"/>
                    </a:lnTo>
                    <a:lnTo>
                      <a:pt x="1248"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9359" name="Freeform 392"/>
              <p:cNvSpPr>
                <a:spLocks/>
              </p:cNvSpPr>
              <p:nvPr/>
            </p:nvSpPr>
            <p:spPr bwMode="auto">
              <a:xfrm>
                <a:off x="2074" y="1347"/>
                <a:ext cx="1244" cy="1713"/>
              </a:xfrm>
              <a:custGeom>
                <a:avLst/>
                <a:gdLst>
                  <a:gd name="T0" fmla="*/ 1243 w 1244"/>
                  <a:gd name="T1" fmla="*/ 1712 h 1713"/>
                  <a:gd name="T2" fmla="*/ 1209 w 1244"/>
                  <a:gd name="T3" fmla="*/ 1706 h 1713"/>
                  <a:gd name="T4" fmla="*/ 1153 w 1244"/>
                  <a:gd name="T5" fmla="*/ 1695 h 1713"/>
                  <a:gd name="T6" fmla="*/ 1108 w 1244"/>
                  <a:gd name="T7" fmla="*/ 1689 h 1713"/>
                  <a:gd name="T8" fmla="*/ 1058 w 1244"/>
                  <a:gd name="T9" fmla="*/ 1678 h 1713"/>
                  <a:gd name="T10" fmla="*/ 1002 w 1244"/>
                  <a:gd name="T11" fmla="*/ 1661 h 1713"/>
                  <a:gd name="T12" fmla="*/ 957 w 1244"/>
                  <a:gd name="T13" fmla="*/ 1650 h 1713"/>
                  <a:gd name="T14" fmla="*/ 923 w 1244"/>
                  <a:gd name="T15" fmla="*/ 1639 h 1713"/>
                  <a:gd name="T16" fmla="*/ 878 w 1244"/>
                  <a:gd name="T17" fmla="*/ 1622 h 1713"/>
                  <a:gd name="T18" fmla="*/ 850 w 1244"/>
                  <a:gd name="T19" fmla="*/ 1611 h 1713"/>
                  <a:gd name="T20" fmla="*/ 817 w 1244"/>
                  <a:gd name="T21" fmla="*/ 1594 h 1713"/>
                  <a:gd name="T22" fmla="*/ 778 w 1244"/>
                  <a:gd name="T23" fmla="*/ 1577 h 1713"/>
                  <a:gd name="T24" fmla="*/ 750 w 1244"/>
                  <a:gd name="T25" fmla="*/ 1560 h 1713"/>
                  <a:gd name="T26" fmla="*/ 733 w 1244"/>
                  <a:gd name="T27" fmla="*/ 1544 h 1713"/>
                  <a:gd name="T28" fmla="*/ 711 w 1244"/>
                  <a:gd name="T29" fmla="*/ 1527 h 1713"/>
                  <a:gd name="T30" fmla="*/ 689 w 1244"/>
                  <a:gd name="T31" fmla="*/ 1504 h 1713"/>
                  <a:gd name="T32" fmla="*/ 672 w 1244"/>
                  <a:gd name="T33" fmla="*/ 1482 h 1713"/>
                  <a:gd name="T34" fmla="*/ 666 w 1244"/>
                  <a:gd name="T35" fmla="*/ 1476 h 1713"/>
                  <a:gd name="T36" fmla="*/ 655 w 1244"/>
                  <a:gd name="T37" fmla="*/ 1460 h 1713"/>
                  <a:gd name="T38" fmla="*/ 627 w 1244"/>
                  <a:gd name="T39" fmla="*/ 1415 h 1713"/>
                  <a:gd name="T40" fmla="*/ 605 w 1244"/>
                  <a:gd name="T41" fmla="*/ 1370 h 1713"/>
                  <a:gd name="T42" fmla="*/ 582 w 1244"/>
                  <a:gd name="T43" fmla="*/ 1331 h 1713"/>
                  <a:gd name="T44" fmla="*/ 560 w 1244"/>
                  <a:gd name="T45" fmla="*/ 1281 h 1713"/>
                  <a:gd name="T46" fmla="*/ 537 w 1244"/>
                  <a:gd name="T47" fmla="*/ 1231 h 1713"/>
                  <a:gd name="T48" fmla="*/ 515 w 1244"/>
                  <a:gd name="T49" fmla="*/ 1175 h 1713"/>
                  <a:gd name="T50" fmla="*/ 492 w 1244"/>
                  <a:gd name="T51" fmla="*/ 1124 h 1713"/>
                  <a:gd name="T52" fmla="*/ 481 w 1244"/>
                  <a:gd name="T53" fmla="*/ 1091 h 1713"/>
                  <a:gd name="T54" fmla="*/ 442 w 1244"/>
                  <a:gd name="T55" fmla="*/ 979 h 1713"/>
                  <a:gd name="T56" fmla="*/ 364 w 1244"/>
                  <a:gd name="T57" fmla="*/ 744 h 1713"/>
                  <a:gd name="T58" fmla="*/ 324 w 1244"/>
                  <a:gd name="T59" fmla="*/ 626 h 1713"/>
                  <a:gd name="T60" fmla="*/ 313 w 1244"/>
                  <a:gd name="T61" fmla="*/ 592 h 1713"/>
                  <a:gd name="T62" fmla="*/ 296 w 1244"/>
                  <a:gd name="T63" fmla="*/ 542 h 1713"/>
                  <a:gd name="T64" fmla="*/ 280 w 1244"/>
                  <a:gd name="T65" fmla="*/ 486 h 1713"/>
                  <a:gd name="T66" fmla="*/ 257 w 1244"/>
                  <a:gd name="T67" fmla="*/ 430 h 1713"/>
                  <a:gd name="T68" fmla="*/ 240 w 1244"/>
                  <a:gd name="T69" fmla="*/ 380 h 1713"/>
                  <a:gd name="T70" fmla="*/ 224 w 1244"/>
                  <a:gd name="T71" fmla="*/ 335 h 1713"/>
                  <a:gd name="T72" fmla="*/ 207 w 1244"/>
                  <a:gd name="T73" fmla="*/ 291 h 1713"/>
                  <a:gd name="T74" fmla="*/ 190 w 1244"/>
                  <a:gd name="T75" fmla="*/ 251 h 1713"/>
                  <a:gd name="T76" fmla="*/ 184 w 1244"/>
                  <a:gd name="T77" fmla="*/ 235 h 1713"/>
                  <a:gd name="T78" fmla="*/ 179 w 1244"/>
                  <a:gd name="T79" fmla="*/ 218 h 1713"/>
                  <a:gd name="T80" fmla="*/ 162 w 1244"/>
                  <a:gd name="T81" fmla="*/ 184 h 1713"/>
                  <a:gd name="T82" fmla="*/ 145 w 1244"/>
                  <a:gd name="T83" fmla="*/ 151 h 1713"/>
                  <a:gd name="T84" fmla="*/ 128 w 1244"/>
                  <a:gd name="T85" fmla="*/ 117 h 1713"/>
                  <a:gd name="T86" fmla="*/ 117 w 1244"/>
                  <a:gd name="T87" fmla="*/ 95 h 1713"/>
                  <a:gd name="T88" fmla="*/ 106 w 1244"/>
                  <a:gd name="T89" fmla="*/ 78 h 1713"/>
                  <a:gd name="T90" fmla="*/ 95 w 1244"/>
                  <a:gd name="T91" fmla="*/ 61 h 1713"/>
                  <a:gd name="T92" fmla="*/ 84 w 1244"/>
                  <a:gd name="T93" fmla="*/ 44 h 1713"/>
                  <a:gd name="T94" fmla="*/ 78 w 1244"/>
                  <a:gd name="T95" fmla="*/ 39 h 1713"/>
                  <a:gd name="T96" fmla="*/ 67 w 1244"/>
                  <a:gd name="T97" fmla="*/ 27 h 1713"/>
                  <a:gd name="T98" fmla="*/ 50 w 1244"/>
                  <a:gd name="T99" fmla="*/ 16 h 1713"/>
                  <a:gd name="T100" fmla="*/ 33 w 1244"/>
                  <a:gd name="T101" fmla="*/ 5 h 1713"/>
                  <a:gd name="T102" fmla="*/ 11 w 1244"/>
                  <a:gd name="T103" fmla="*/ 0 h 1713"/>
                  <a:gd name="T104" fmla="*/ 0 w 1244"/>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4"/>
                  <a:gd name="T160" fmla="*/ 0 h 1713"/>
                  <a:gd name="T161" fmla="*/ 1244 w 1244"/>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4" h="1713">
                    <a:moveTo>
                      <a:pt x="1243" y="1712"/>
                    </a:moveTo>
                    <a:lnTo>
                      <a:pt x="1209" y="1706"/>
                    </a:lnTo>
                    <a:lnTo>
                      <a:pt x="1153" y="1695"/>
                    </a:lnTo>
                    <a:lnTo>
                      <a:pt x="1108" y="1689"/>
                    </a:lnTo>
                    <a:lnTo>
                      <a:pt x="1058" y="1678"/>
                    </a:lnTo>
                    <a:lnTo>
                      <a:pt x="1002" y="1661"/>
                    </a:lnTo>
                    <a:lnTo>
                      <a:pt x="957" y="1650"/>
                    </a:lnTo>
                    <a:lnTo>
                      <a:pt x="923" y="1639"/>
                    </a:lnTo>
                    <a:lnTo>
                      <a:pt x="878" y="1622"/>
                    </a:lnTo>
                    <a:lnTo>
                      <a:pt x="850" y="1611"/>
                    </a:lnTo>
                    <a:lnTo>
                      <a:pt x="817" y="1594"/>
                    </a:lnTo>
                    <a:lnTo>
                      <a:pt x="778" y="1577"/>
                    </a:lnTo>
                    <a:lnTo>
                      <a:pt x="750" y="1560"/>
                    </a:lnTo>
                    <a:lnTo>
                      <a:pt x="733" y="1544"/>
                    </a:lnTo>
                    <a:lnTo>
                      <a:pt x="711" y="1527"/>
                    </a:lnTo>
                    <a:lnTo>
                      <a:pt x="689" y="1504"/>
                    </a:lnTo>
                    <a:lnTo>
                      <a:pt x="672" y="1482"/>
                    </a:lnTo>
                    <a:lnTo>
                      <a:pt x="666" y="1476"/>
                    </a:lnTo>
                    <a:lnTo>
                      <a:pt x="655" y="1460"/>
                    </a:lnTo>
                    <a:lnTo>
                      <a:pt x="627" y="1415"/>
                    </a:lnTo>
                    <a:lnTo>
                      <a:pt x="605" y="1370"/>
                    </a:lnTo>
                    <a:lnTo>
                      <a:pt x="582" y="1331"/>
                    </a:lnTo>
                    <a:lnTo>
                      <a:pt x="560" y="1281"/>
                    </a:lnTo>
                    <a:lnTo>
                      <a:pt x="537" y="1231"/>
                    </a:lnTo>
                    <a:lnTo>
                      <a:pt x="515" y="1175"/>
                    </a:lnTo>
                    <a:lnTo>
                      <a:pt x="492" y="1124"/>
                    </a:lnTo>
                    <a:lnTo>
                      <a:pt x="481" y="1091"/>
                    </a:lnTo>
                    <a:lnTo>
                      <a:pt x="442" y="979"/>
                    </a:lnTo>
                    <a:lnTo>
                      <a:pt x="364" y="744"/>
                    </a:lnTo>
                    <a:lnTo>
                      <a:pt x="324" y="626"/>
                    </a:lnTo>
                    <a:lnTo>
                      <a:pt x="313" y="592"/>
                    </a:lnTo>
                    <a:lnTo>
                      <a:pt x="296" y="542"/>
                    </a:lnTo>
                    <a:lnTo>
                      <a:pt x="280" y="486"/>
                    </a:lnTo>
                    <a:lnTo>
                      <a:pt x="257" y="430"/>
                    </a:lnTo>
                    <a:lnTo>
                      <a:pt x="240" y="380"/>
                    </a:lnTo>
                    <a:lnTo>
                      <a:pt x="224" y="335"/>
                    </a:lnTo>
                    <a:lnTo>
                      <a:pt x="207" y="291"/>
                    </a:lnTo>
                    <a:lnTo>
                      <a:pt x="190" y="251"/>
                    </a:lnTo>
                    <a:lnTo>
                      <a:pt x="184" y="235"/>
                    </a:lnTo>
                    <a:lnTo>
                      <a:pt x="179" y="218"/>
                    </a:lnTo>
                    <a:lnTo>
                      <a:pt x="162" y="184"/>
                    </a:lnTo>
                    <a:lnTo>
                      <a:pt x="145" y="151"/>
                    </a:lnTo>
                    <a:lnTo>
                      <a:pt x="128" y="117"/>
                    </a:lnTo>
                    <a:lnTo>
                      <a:pt x="117" y="95"/>
                    </a:lnTo>
                    <a:lnTo>
                      <a:pt x="106" y="78"/>
                    </a:lnTo>
                    <a:lnTo>
                      <a:pt x="95" y="61"/>
                    </a:lnTo>
                    <a:lnTo>
                      <a:pt x="84" y="44"/>
                    </a:lnTo>
                    <a:lnTo>
                      <a:pt x="78" y="39"/>
                    </a:lnTo>
                    <a:lnTo>
                      <a:pt x="67" y="27"/>
                    </a:lnTo>
                    <a:lnTo>
                      <a:pt x="50" y="16"/>
                    </a:lnTo>
                    <a:lnTo>
                      <a:pt x="33" y="5"/>
                    </a:lnTo>
                    <a:lnTo>
                      <a:pt x="11" y="0"/>
                    </a:lnTo>
                    <a:lnTo>
                      <a:pt x="0"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a:p>
            </p:txBody>
          </p:sp>
        </p:grpSp>
        <p:sp>
          <p:nvSpPr>
            <p:cNvPr id="9290" name="Line 393"/>
            <p:cNvSpPr>
              <a:spLocks noChangeShapeType="1"/>
            </p:cNvSpPr>
            <p:nvPr/>
          </p:nvSpPr>
          <p:spPr bwMode="auto">
            <a:xfrm rot="5400000">
              <a:off x="5080" y="1384"/>
              <a:ext cx="0" cy="816"/>
            </a:xfrm>
            <a:prstGeom prst="line">
              <a:avLst/>
            </a:prstGeom>
            <a:noFill/>
            <a:ln w="12700">
              <a:solidFill>
                <a:srgbClr val="000000"/>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91" name="Oval 394"/>
            <p:cNvSpPr>
              <a:spLocks noChangeArrowheads="1"/>
            </p:cNvSpPr>
            <p:nvPr/>
          </p:nvSpPr>
          <p:spPr bwMode="auto">
            <a:xfrm>
              <a:off x="1260" y="1435"/>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92" name="Oval 395"/>
            <p:cNvSpPr>
              <a:spLocks noChangeArrowheads="1"/>
            </p:cNvSpPr>
            <p:nvPr/>
          </p:nvSpPr>
          <p:spPr bwMode="auto">
            <a:xfrm>
              <a:off x="1396" y="148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93" name="Oval 396"/>
            <p:cNvSpPr>
              <a:spLocks noChangeArrowheads="1"/>
            </p:cNvSpPr>
            <p:nvPr/>
          </p:nvSpPr>
          <p:spPr bwMode="auto">
            <a:xfrm>
              <a:off x="1623" y="1526"/>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94" name="Oval 397"/>
            <p:cNvSpPr>
              <a:spLocks noChangeArrowheads="1"/>
            </p:cNvSpPr>
            <p:nvPr/>
          </p:nvSpPr>
          <p:spPr bwMode="auto">
            <a:xfrm>
              <a:off x="1532" y="1707"/>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95" name="Oval 398"/>
            <p:cNvSpPr>
              <a:spLocks noChangeArrowheads="1"/>
            </p:cNvSpPr>
            <p:nvPr/>
          </p:nvSpPr>
          <p:spPr bwMode="auto">
            <a:xfrm>
              <a:off x="1306" y="157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96" name="Oval 399"/>
            <p:cNvSpPr>
              <a:spLocks noChangeArrowheads="1"/>
            </p:cNvSpPr>
            <p:nvPr/>
          </p:nvSpPr>
          <p:spPr bwMode="auto">
            <a:xfrm>
              <a:off x="1442" y="1617"/>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97" name="Oval 400"/>
            <p:cNvSpPr>
              <a:spLocks noChangeArrowheads="1"/>
            </p:cNvSpPr>
            <p:nvPr/>
          </p:nvSpPr>
          <p:spPr bwMode="auto">
            <a:xfrm>
              <a:off x="1895" y="1616"/>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98" name="Oval 401"/>
            <p:cNvSpPr>
              <a:spLocks noChangeArrowheads="1"/>
            </p:cNvSpPr>
            <p:nvPr/>
          </p:nvSpPr>
          <p:spPr bwMode="auto">
            <a:xfrm>
              <a:off x="1804" y="1797"/>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299" name="Oval 402"/>
            <p:cNvSpPr>
              <a:spLocks noChangeArrowheads="1"/>
            </p:cNvSpPr>
            <p:nvPr/>
          </p:nvSpPr>
          <p:spPr bwMode="auto">
            <a:xfrm>
              <a:off x="1714" y="1707"/>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0" name="Oval 403"/>
            <p:cNvSpPr>
              <a:spLocks noChangeArrowheads="1"/>
            </p:cNvSpPr>
            <p:nvPr/>
          </p:nvSpPr>
          <p:spPr bwMode="auto">
            <a:xfrm>
              <a:off x="2304" y="148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1" name="Oval 404"/>
            <p:cNvSpPr>
              <a:spLocks noChangeArrowheads="1"/>
            </p:cNvSpPr>
            <p:nvPr/>
          </p:nvSpPr>
          <p:spPr bwMode="auto">
            <a:xfrm>
              <a:off x="2213" y="1662"/>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2" name="Oval 405"/>
            <p:cNvSpPr>
              <a:spLocks noChangeArrowheads="1"/>
            </p:cNvSpPr>
            <p:nvPr/>
          </p:nvSpPr>
          <p:spPr bwMode="auto">
            <a:xfrm>
              <a:off x="2123" y="1572"/>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3" name="Oval 406"/>
            <p:cNvSpPr>
              <a:spLocks noChangeArrowheads="1"/>
            </p:cNvSpPr>
            <p:nvPr/>
          </p:nvSpPr>
          <p:spPr bwMode="auto">
            <a:xfrm>
              <a:off x="2485" y="1753"/>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4" name="Oval 407"/>
            <p:cNvSpPr>
              <a:spLocks noChangeArrowheads="1"/>
            </p:cNvSpPr>
            <p:nvPr/>
          </p:nvSpPr>
          <p:spPr bwMode="auto">
            <a:xfrm>
              <a:off x="2394" y="193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5" name="Oval 408"/>
            <p:cNvSpPr>
              <a:spLocks noChangeArrowheads="1"/>
            </p:cNvSpPr>
            <p:nvPr/>
          </p:nvSpPr>
          <p:spPr bwMode="auto">
            <a:xfrm>
              <a:off x="2304" y="184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6" name="Oval 409"/>
            <p:cNvSpPr>
              <a:spLocks noChangeArrowheads="1"/>
            </p:cNvSpPr>
            <p:nvPr/>
          </p:nvSpPr>
          <p:spPr bwMode="auto">
            <a:xfrm>
              <a:off x="2939" y="193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7" name="Oval 410"/>
            <p:cNvSpPr>
              <a:spLocks noChangeArrowheads="1"/>
            </p:cNvSpPr>
            <p:nvPr/>
          </p:nvSpPr>
          <p:spPr bwMode="auto">
            <a:xfrm>
              <a:off x="2848" y="2115"/>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8" name="Oval 411"/>
            <p:cNvSpPr>
              <a:spLocks noChangeArrowheads="1"/>
            </p:cNvSpPr>
            <p:nvPr/>
          </p:nvSpPr>
          <p:spPr bwMode="auto">
            <a:xfrm>
              <a:off x="2758" y="2025"/>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09" name="Oval 412"/>
            <p:cNvSpPr>
              <a:spLocks noChangeArrowheads="1"/>
            </p:cNvSpPr>
            <p:nvPr/>
          </p:nvSpPr>
          <p:spPr bwMode="auto">
            <a:xfrm>
              <a:off x="2847" y="1616"/>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0" name="Oval 413"/>
            <p:cNvSpPr>
              <a:spLocks noChangeArrowheads="1"/>
            </p:cNvSpPr>
            <p:nvPr/>
          </p:nvSpPr>
          <p:spPr bwMode="auto">
            <a:xfrm>
              <a:off x="2756" y="1797"/>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1" name="Oval 414"/>
            <p:cNvSpPr>
              <a:spLocks noChangeArrowheads="1"/>
            </p:cNvSpPr>
            <p:nvPr/>
          </p:nvSpPr>
          <p:spPr bwMode="auto">
            <a:xfrm>
              <a:off x="2666" y="1707"/>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2" name="Oval 415"/>
            <p:cNvSpPr>
              <a:spLocks noChangeArrowheads="1"/>
            </p:cNvSpPr>
            <p:nvPr/>
          </p:nvSpPr>
          <p:spPr bwMode="auto">
            <a:xfrm>
              <a:off x="3301" y="1480"/>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3" name="Oval 416"/>
            <p:cNvSpPr>
              <a:spLocks noChangeArrowheads="1"/>
            </p:cNvSpPr>
            <p:nvPr/>
          </p:nvSpPr>
          <p:spPr bwMode="auto">
            <a:xfrm>
              <a:off x="3210" y="166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4" name="Oval 417"/>
            <p:cNvSpPr>
              <a:spLocks noChangeArrowheads="1"/>
            </p:cNvSpPr>
            <p:nvPr/>
          </p:nvSpPr>
          <p:spPr bwMode="auto">
            <a:xfrm>
              <a:off x="3120" y="157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5" name="Oval 418"/>
            <p:cNvSpPr>
              <a:spLocks noChangeArrowheads="1"/>
            </p:cNvSpPr>
            <p:nvPr/>
          </p:nvSpPr>
          <p:spPr bwMode="auto">
            <a:xfrm>
              <a:off x="3302" y="1662"/>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6" name="Oval 419"/>
            <p:cNvSpPr>
              <a:spLocks noChangeArrowheads="1"/>
            </p:cNvSpPr>
            <p:nvPr/>
          </p:nvSpPr>
          <p:spPr bwMode="auto">
            <a:xfrm>
              <a:off x="3211" y="1888"/>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7" name="Oval 420"/>
            <p:cNvSpPr>
              <a:spLocks noChangeArrowheads="1"/>
            </p:cNvSpPr>
            <p:nvPr/>
          </p:nvSpPr>
          <p:spPr bwMode="auto">
            <a:xfrm>
              <a:off x="3121" y="1753"/>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8" name="Oval 421"/>
            <p:cNvSpPr>
              <a:spLocks noChangeArrowheads="1"/>
            </p:cNvSpPr>
            <p:nvPr/>
          </p:nvSpPr>
          <p:spPr bwMode="auto">
            <a:xfrm>
              <a:off x="3574" y="1708"/>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19" name="Oval 422"/>
            <p:cNvSpPr>
              <a:spLocks noChangeArrowheads="1"/>
            </p:cNvSpPr>
            <p:nvPr/>
          </p:nvSpPr>
          <p:spPr bwMode="auto">
            <a:xfrm>
              <a:off x="3483" y="188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0" name="Oval 423"/>
            <p:cNvSpPr>
              <a:spLocks noChangeArrowheads="1"/>
            </p:cNvSpPr>
            <p:nvPr/>
          </p:nvSpPr>
          <p:spPr bwMode="auto">
            <a:xfrm>
              <a:off x="3393" y="179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1" name="Oval 424"/>
            <p:cNvSpPr>
              <a:spLocks noChangeArrowheads="1"/>
            </p:cNvSpPr>
            <p:nvPr/>
          </p:nvSpPr>
          <p:spPr bwMode="auto">
            <a:xfrm>
              <a:off x="3891" y="1798"/>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2" name="Oval 425"/>
            <p:cNvSpPr>
              <a:spLocks noChangeArrowheads="1"/>
            </p:cNvSpPr>
            <p:nvPr/>
          </p:nvSpPr>
          <p:spPr bwMode="auto">
            <a:xfrm>
              <a:off x="3800" y="197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3" name="Oval 426"/>
            <p:cNvSpPr>
              <a:spLocks noChangeArrowheads="1"/>
            </p:cNvSpPr>
            <p:nvPr/>
          </p:nvSpPr>
          <p:spPr bwMode="auto">
            <a:xfrm>
              <a:off x="3710" y="188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4" name="Oval 427"/>
            <p:cNvSpPr>
              <a:spLocks noChangeArrowheads="1"/>
            </p:cNvSpPr>
            <p:nvPr/>
          </p:nvSpPr>
          <p:spPr bwMode="auto">
            <a:xfrm>
              <a:off x="3891" y="157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5" name="Oval 428"/>
            <p:cNvSpPr>
              <a:spLocks noChangeArrowheads="1"/>
            </p:cNvSpPr>
            <p:nvPr/>
          </p:nvSpPr>
          <p:spPr bwMode="auto">
            <a:xfrm>
              <a:off x="3800" y="1752"/>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6" name="Oval 429"/>
            <p:cNvSpPr>
              <a:spLocks noChangeArrowheads="1"/>
            </p:cNvSpPr>
            <p:nvPr/>
          </p:nvSpPr>
          <p:spPr bwMode="auto">
            <a:xfrm>
              <a:off x="3710" y="1662"/>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7" name="Oval 430"/>
            <p:cNvSpPr>
              <a:spLocks noChangeArrowheads="1"/>
            </p:cNvSpPr>
            <p:nvPr/>
          </p:nvSpPr>
          <p:spPr bwMode="auto">
            <a:xfrm>
              <a:off x="4344" y="1798"/>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8" name="Oval 431"/>
            <p:cNvSpPr>
              <a:spLocks noChangeArrowheads="1"/>
            </p:cNvSpPr>
            <p:nvPr/>
          </p:nvSpPr>
          <p:spPr bwMode="auto">
            <a:xfrm>
              <a:off x="4253" y="197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29" name="Oval 432"/>
            <p:cNvSpPr>
              <a:spLocks noChangeArrowheads="1"/>
            </p:cNvSpPr>
            <p:nvPr/>
          </p:nvSpPr>
          <p:spPr bwMode="auto">
            <a:xfrm>
              <a:off x="4163" y="188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0" name="Oval 433"/>
            <p:cNvSpPr>
              <a:spLocks noChangeArrowheads="1"/>
            </p:cNvSpPr>
            <p:nvPr/>
          </p:nvSpPr>
          <p:spPr bwMode="auto">
            <a:xfrm>
              <a:off x="4344" y="157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1" name="Oval 434"/>
            <p:cNvSpPr>
              <a:spLocks noChangeArrowheads="1"/>
            </p:cNvSpPr>
            <p:nvPr/>
          </p:nvSpPr>
          <p:spPr bwMode="auto">
            <a:xfrm>
              <a:off x="4253" y="1752"/>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2" name="Oval 435"/>
            <p:cNvSpPr>
              <a:spLocks noChangeArrowheads="1"/>
            </p:cNvSpPr>
            <p:nvPr/>
          </p:nvSpPr>
          <p:spPr bwMode="auto">
            <a:xfrm>
              <a:off x="4163" y="1662"/>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3" name="Oval 436"/>
            <p:cNvSpPr>
              <a:spLocks noChangeArrowheads="1"/>
            </p:cNvSpPr>
            <p:nvPr/>
          </p:nvSpPr>
          <p:spPr bwMode="auto">
            <a:xfrm>
              <a:off x="2394" y="2070"/>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4" name="Oval 437"/>
            <p:cNvSpPr>
              <a:spLocks noChangeArrowheads="1"/>
            </p:cNvSpPr>
            <p:nvPr/>
          </p:nvSpPr>
          <p:spPr bwMode="auto">
            <a:xfrm>
              <a:off x="2164" y="184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5" name="Oval 438"/>
            <p:cNvSpPr>
              <a:spLocks noChangeArrowheads="1"/>
            </p:cNvSpPr>
            <p:nvPr/>
          </p:nvSpPr>
          <p:spPr bwMode="auto">
            <a:xfrm>
              <a:off x="1986" y="197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6" name="Oval 439"/>
            <p:cNvSpPr>
              <a:spLocks noChangeArrowheads="1"/>
            </p:cNvSpPr>
            <p:nvPr/>
          </p:nvSpPr>
          <p:spPr bwMode="auto">
            <a:xfrm>
              <a:off x="1895" y="188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7" name="Oval 440"/>
            <p:cNvSpPr>
              <a:spLocks noChangeArrowheads="1"/>
            </p:cNvSpPr>
            <p:nvPr/>
          </p:nvSpPr>
          <p:spPr bwMode="auto">
            <a:xfrm>
              <a:off x="1717" y="202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8" name="Oval 441"/>
            <p:cNvSpPr>
              <a:spLocks noChangeArrowheads="1"/>
            </p:cNvSpPr>
            <p:nvPr/>
          </p:nvSpPr>
          <p:spPr bwMode="auto">
            <a:xfrm>
              <a:off x="1442" y="1843"/>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39" name="Oval 442"/>
            <p:cNvSpPr>
              <a:spLocks noChangeArrowheads="1"/>
            </p:cNvSpPr>
            <p:nvPr/>
          </p:nvSpPr>
          <p:spPr bwMode="auto">
            <a:xfrm>
              <a:off x="1578" y="193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0" name="Oval 443"/>
            <p:cNvSpPr>
              <a:spLocks noChangeArrowheads="1"/>
            </p:cNvSpPr>
            <p:nvPr/>
          </p:nvSpPr>
          <p:spPr bwMode="auto">
            <a:xfrm>
              <a:off x="2576" y="193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1" name="Oval 444"/>
            <p:cNvSpPr>
              <a:spLocks noChangeArrowheads="1"/>
            </p:cNvSpPr>
            <p:nvPr/>
          </p:nvSpPr>
          <p:spPr bwMode="auto">
            <a:xfrm>
              <a:off x="3075" y="2070"/>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2" name="Oval 445"/>
            <p:cNvSpPr>
              <a:spLocks noChangeArrowheads="1"/>
            </p:cNvSpPr>
            <p:nvPr/>
          </p:nvSpPr>
          <p:spPr bwMode="auto">
            <a:xfrm>
              <a:off x="3347" y="2116"/>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3" name="Oval 446"/>
            <p:cNvSpPr>
              <a:spLocks noChangeArrowheads="1"/>
            </p:cNvSpPr>
            <p:nvPr/>
          </p:nvSpPr>
          <p:spPr bwMode="auto">
            <a:xfrm>
              <a:off x="3574" y="207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4" name="Oval 447"/>
            <p:cNvSpPr>
              <a:spLocks noChangeArrowheads="1"/>
            </p:cNvSpPr>
            <p:nvPr/>
          </p:nvSpPr>
          <p:spPr bwMode="auto">
            <a:xfrm>
              <a:off x="4027" y="193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5" name="Oval 448"/>
            <p:cNvSpPr>
              <a:spLocks noChangeArrowheads="1"/>
            </p:cNvSpPr>
            <p:nvPr/>
          </p:nvSpPr>
          <p:spPr bwMode="auto">
            <a:xfrm>
              <a:off x="3891" y="216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6" name="Oval 449"/>
            <p:cNvSpPr>
              <a:spLocks noChangeArrowheads="1"/>
            </p:cNvSpPr>
            <p:nvPr/>
          </p:nvSpPr>
          <p:spPr bwMode="auto">
            <a:xfrm>
              <a:off x="4299" y="216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7" name="Oval 450"/>
            <p:cNvSpPr>
              <a:spLocks noChangeArrowheads="1"/>
            </p:cNvSpPr>
            <p:nvPr/>
          </p:nvSpPr>
          <p:spPr bwMode="auto">
            <a:xfrm>
              <a:off x="4435" y="197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8" name="Oval 451"/>
            <p:cNvSpPr>
              <a:spLocks noChangeArrowheads="1"/>
            </p:cNvSpPr>
            <p:nvPr/>
          </p:nvSpPr>
          <p:spPr bwMode="auto">
            <a:xfrm>
              <a:off x="4481" y="216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49" name="Oval 452"/>
            <p:cNvSpPr>
              <a:spLocks noChangeArrowheads="1"/>
            </p:cNvSpPr>
            <p:nvPr/>
          </p:nvSpPr>
          <p:spPr bwMode="auto">
            <a:xfrm>
              <a:off x="3664" y="1390"/>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50" name="Oval 453"/>
            <p:cNvSpPr>
              <a:spLocks noChangeArrowheads="1"/>
            </p:cNvSpPr>
            <p:nvPr/>
          </p:nvSpPr>
          <p:spPr bwMode="auto">
            <a:xfrm>
              <a:off x="3483" y="1481"/>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51" name="Oval 454"/>
            <p:cNvSpPr>
              <a:spLocks noChangeArrowheads="1"/>
            </p:cNvSpPr>
            <p:nvPr/>
          </p:nvSpPr>
          <p:spPr bwMode="auto">
            <a:xfrm>
              <a:off x="2757" y="1299"/>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52" name="Oval 455"/>
            <p:cNvSpPr>
              <a:spLocks noChangeArrowheads="1"/>
            </p:cNvSpPr>
            <p:nvPr/>
          </p:nvSpPr>
          <p:spPr bwMode="auto">
            <a:xfrm>
              <a:off x="2576" y="1390"/>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53" name="Oval 456"/>
            <p:cNvSpPr>
              <a:spLocks noChangeArrowheads="1"/>
            </p:cNvSpPr>
            <p:nvPr/>
          </p:nvSpPr>
          <p:spPr bwMode="auto">
            <a:xfrm>
              <a:off x="1305" y="1888"/>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54" name="Oval 457"/>
            <p:cNvSpPr>
              <a:spLocks noChangeArrowheads="1"/>
            </p:cNvSpPr>
            <p:nvPr/>
          </p:nvSpPr>
          <p:spPr bwMode="auto">
            <a:xfrm>
              <a:off x="1441" y="193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55" name="Oval 458"/>
            <p:cNvSpPr>
              <a:spLocks noChangeArrowheads="1"/>
            </p:cNvSpPr>
            <p:nvPr/>
          </p:nvSpPr>
          <p:spPr bwMode="auto">
            <a:xfrm>
              <a:off x="1351" y="202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56" name="Oval 459"/>
            <p:cNvSpPr>
              <a:spLocks noChangeArrowheads="1"/>
            </p:cNvSpPr>
            <p:nvPr/>
          </p:nvSpPr>
          <p:spPr bwMode="auto">
            <a:xfrm>
              <a:off x="1487" y="2070"/>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9357" name="Oval 460"/>
            <p:cNvSpPr>
              <a:spLocks noChangeArrowheads="1"/>
            </p:cNvSpPr>
            <p:nvPr/>
          </p:nvSpPr>
          <p:spPr bwMode="auto">
            <a:xfrm>
              <a:off x="1759" y="1434"/>
              <a:ext cx="46" cy="46"/>
            </a:xfrm>
            <a:prstGeom prst="ellipse">
              <a:avLst/>
            </a:prstGeom>
            <a:solidFill>
              <a:srgbClr val="CC0000"/>
            </a:solidFill>
            <a:ln w="9525" algn="ctr">
              <a:solidFill>
                <a:srgbClr val="CC0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grpSp>
      <p:sp>
        <p:nvSpPr>
          <p:cNvPr id="9272" name="Text Box 461"/>
          <p:cNvSpPr txBox="1">
            <a:spLocks noChangeArrowheads="1"/>
          </p:cNvSpPr>
          <p:nvPr/>
        </p:nvSpPr>
        <p:spPr bwMode="auto">
          <a:xfrm>
            <a:off x="1046163" y="2708275"/>
            <a:ext cx="736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To-be</a:t>
            </a:r>
          </a:p>
        </p:txBody>
      </p:sp>
      <p:sp>
        <p:nvSpPr>
          <p:cNvPr id="9273" name="Text Box 462"/>
          <p:cNvSpPr txBox="1">
            <a:spLocks noChangeArrowheads="1"/>
          </p:cNvSpPr>
          <p:nvPr/>
        </p:nvSpPr>
        <p:spPr bwMode="auto">
          <a:xfrm>
            <a:off x="1073150" y="4792663"/>
            <a:ext cx="6810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As-is</a:t>
            </a:r>
          </a:p>
        </p:txBody>
      </p:sp>
      <p:sp>
        <p:nvSpPr>
          <p:cNvPr id="9274" name="Rectangle 464"/>
          <p:cNvSpPr>
            <a:spLocks noChangeArrowheads="1"/>
          </p:cNvSpPr>
          <p:nvPr/>
        </p:nvSpPr>
        <p:spPr bwMode="auto">
          <a:xfrm>
            <a:off x="940706" y="1557338"/>
            <a:ext cx="8024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Như</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một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thực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sống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quá</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trình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thứ</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thường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xuyên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thay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đổi</a:t>
            </a:r>
            <a:r>
              <a:rPr lang="en-US" altLang="ko-KR" sz="1400" b="1" dirty="0">
                <a:latin typeface="arial" pitchFamily="34" charset="0"/>
                <a:ea typeface="맑은 고딕" pitchFamily="50" charset="-127"/>
              </a:rPr>
              <a:t> (do </a:t>
            </a:r>
            <a:r>
              <a:rPr lang="en-US" altLang="ko-KR" sz="1400" b="1" dirty="0" err="1">
                <a:latin typeface="arial" pitchFamily="34" charset="0"/>
                <a:ea typeface="맑은 고딕" pitchFamily="50" charset="-127"/>
              </a:rPr>
              <a:t>nguyên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nhân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ngẫu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nhiên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hoặc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không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ngẫu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nhiên</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9275" name="Freeform 465"/>
          <p:cNvSpPr>
            <a:spLocks/>
          </p:cNvSpPr>
          <p:nvPr/>
        </p:nvSpPr>
        <p:spPr bwMode="auto">
          <a:xfrm>
            <a:off x="2216150" y="2505075"/>
            <a:ext cx="5256213" cy="995363"/>
          </a:xfrm>
          <a:custGeom>
            <a:avLst/>
            <a:gdLst>
              <a:gd name="T0" fmla="*/ 0 w 3311"/>
              <a:gd name="T1" fmla="*/ 2147483647 h 627"/>
              <a:gd name="T2" fmla="*/ 2147483647 w 3311"/>
              <a:gd name="T3" fmla="*/ 2147483647 h 627"/>
              <a:gd name="T4" fmla="*/ 2147483647 w 3311"/>
              <a:gd name="T5" fmla="*/ 2147483647 h 627"/>
              <a:gd name="T6" fmla="*/ 2147483647 w 3311"/>
              <a:gd name="T7" fmla="*/ 2147483647 h 627"/>
              <a:gd name="T8" fmla="*/ 2147483647 w 3311"/>
              <a:gd name="T9" fmla="*/ 2147483647 h 627"/>
              <a:gd name="T10" fmla="*/ 2147483647 w 3311"/>
              <a:gd name="T11" fmla="*/ 2147483647 h 627"/>
              <a:gd name="T12" fmla="*/ 2147483647 w 3311"/>
              <a:gd name="T13" fmla="*/ 2147483647 h 627"/>
              <a:gd name="T14" fmla="*/ 2147483647 w 3311"/>
              <a:gd name="T15" fmla="*/ 2147483647 h 627"/>
              <a:gd name="T16" fmla="*/ 2147483647 w 3311"/>
              <a:gd name="T17" fmla="*/ 2147483647 h 627"/>
              <a:gd name="T18" fmla="*/ 2147483647 w 3311"/>
              <a:gd name="T19" fmla="*/ 2147483647 h 627"/>
              <a:gd name="T20" fmla="*/ 2147483647 w 3311"/>
              <a:gd name="T21" fmla="*/ 2147483647 h 627"/>
              <a:gd name="T22" fmla="*/ 2147483647 w 3311"/>
              <a:gd name="T23" fmla="*/ 2147483647 h 627"/>
              <a:gd name="T24" fmla="*/ 2147483647 w 3311"/>
              <a:gd name="T25" fmla="*/ 2147483647 h 627"/>
              <a:gd name="T26" fmla="*/ 2147483647 w 3311"/>
              <a:gd name="T27" fmla="*/ 2147483647 h 627"/>
              <a:gd name="T28" fmla="*/ 2147483647 w 3311"/>
              <a:gd name="T29" fmla="*/ 2147483647 h 627"/>
              <a:gd name="T30" fmla="*/ 2147483647 w 3311"/>
              <a:gd name="T31" fmla="*/ 2147483647 h 6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11"/>
              <a:gd name="T49" fmla="*/ 0 h 627"/>
              <a:gd name="T50" fmla="*/ 3311 w 3311"/>
              <a:gd name="T51" fmla="*/ 627 h 62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11" h="627">
                <a:moveTo>
                  <a:pt x="0" y="529"/>
                </a:moveTo>
                <a:cubicBezTo>
                  <a:pt x="0" y="525"/>
                  <a:pt x="0" y="521"/>
                  <a:pt x="45" y="438"/>
                </a:cubicBezTo>
                <a:cubicBezTo>
                  <a:pt x="90" y="355"/>
                  <a:pt x="189" y="0"/>
                  <a:pt x="272" y="30"/>
                </a:cubicBezTo>
                <a:cubicBezTo>
                  <a:pt x="355" y="60"/>
                  <a:pt x="453" y="619"/>
                  <a:pt x="544" y="619"/>
                </a:cubicBezTo>
                <a:cubicBezTo>
                  <a:pt x="635" y="619"/>
                  <a:pt x="725" y="30"/>
                  <a:pt x="816" y="30"/>
                </a:cubicBezTo>
                <a:cubicBezTo>
                  <a:pt x="907" y="30"/>
                  <a:pt x="997" y="611"/>
                  <a:pt x="1088" y="619"/>
                </a:cubicBezTo>
                <a:cubicBezTo>
                  <a:pt x="1179" y="627"/>
                  <a:pt x="1277" y="75"/>
                  <a:pt x="1360" y="75"/>
                </a:cubicBezTo>
                <a:cubicBezTo>
                  <a:pt x="1443" y="75"/>
                  <a:pt x="1511" y="619"/>
                  <a:pt x="1587" y="619"/>
                </a:cubicBezTo>
                <a:cubicBezTo>
                  <a:pt x="1663" y="619"/>
                  <a:pt x="1731" y="75"/>
                  <a:pt x="1814" y="75"/>
                </a:cubicBezTo>
                <a:cubicBezTo>
                  <a:pt x="1897" y="75"/>
                  <a:pt x="2003" y="612"/>
                  <a:pt x="2086" y="619"/>
                </a:cubicBezTo>
                <a:cubicBezTo>
                  <a:pt x="2169" y="626"/>
                  <a:pt x="2245" y="128"/>
                  <a:pt x="2313" y="120"/>
                </a:cubicBezTo>
                <a:cubicBezTo>
                  <a:pt x="2381" y="112"/>
                  <a:pt x="2434" y="574"/>
                  <a:pt x="2494" y="574"/>
                </a:cubicBezTo>
                <a:cubicBezTo>
                  <a:pt x="2554" y="574"/>
                  <a:pt x="2593" y="113"/>
                  <a:pt x="2676" y="120"/>
                </a:cubicBezTo>
                <a:cubicBezTo>
                  <a:pt x="2759" y="127"/>
                  <a:pt x="2918" y="611"/>
                  <a:pt x="2993" y="619"/>
                </a:cubicBezTo>
                <a:cubicBezTo>
                  <a:pt x="3068" y="627"/>
                  <a:pt x="3076" y="181"/>
                  <a:pt x="3129" y="166"/>
                </a:cubicBezTo>
                <a:cubicBezTo>
                  <a:pt x="3182" y="151"/>
                  <a:pt x="3303" y="469"/>
                  <a:pt x="3311" y="529"/>
                </a:cubicBezTo>
              </a:path>
            </a:pathLst>
          </a:custGeom>
          <a:noFill/>
          <a:ln w="28575" cap="flat" cmpd="sng">
            <a:solidFill>
              <a:srgbClr val="CC0000"/>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p>
        </p:txBody>
      </p:sp>
      <p:pic>
        <p:nvPicPr>
          <p:cNvPr id="9276" name="Picture 2" descr="H:\자료\png모음\arrow01.pn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rot="10833311" flipV="1">
            <a:off x="4016375" y="3654425"/>
            <a:ext cx="2578100"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77" name="Line 469"/>
          <p:cNvSpPr>
            <a:spLocks noChangeShapeType="1"/>
          </p:cNvSpPr>
          <p:nvPr/>
        </p:nvSpPr>
        <p:spPr bwMode="auto">
          <a:xfrm flipV="1">
            <a:off x="1984375" y="2119313"/>
            <a:ext cx="0" cy="1766887"/>
          </a:xfrm>
          <a:prstGeom prst="line">
            <a:avLst/>
          </a:prstGeom>
          <a:noFill/>
          <a:ln w="28575">
            <a:solidFill>
              <a:schemeClr val="tx1"/>
            </a:solidFill>
            <a:round/>
            <a:headEnd type="oval" w="lg" len="lg"/>
            <a:tailEnd type="oval" w="lg" len="lg"/>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78" name="Line 470"/>
          <p:cNvSpPr>
            <a:spLocks noChangeShapeType="1"/>
          </p:cNvSpPr>
          <p:nvPr/>
        </p:nvSpPr>
        <p:spPr bwMode="auto">
          <a:xfrm flipH="1">
            <a:off x="2000250" y="3573463"/>
            <a:ext cx="597693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79" name="Line 471"/>
          <p:cNvSpPr>
            <a:spLocks noChangeShapeType="1"/>
          </p:cNvSpPr>
          <p:nvPr/>
        </p:nvSpPr>
        <p:spPr bwMode="auto">
          <a:xfrm flipH="1">
            <a:off x="2000250" y="2420938"/>
            <a:ext cx="597693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80" name="Line 472"/>
          <p:cNvSpPr>
            <a:spLocks noChangeShapeType="1"/>
          </p:cNvSpPr>
          <p:nvPr/>
        </p:nvSpPr>
        <p:spPr bwMode="auto">
          <a:xfrm flipH="1">
            <a:off x="2000250" y="5659438"/>
            <a:ext cx="597693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81" name="Line 473"/>
          <p:cNvSpPr>
            <a:spLocks noChangeShapeType="1"/>
          </p:cNvSpPr>
          <p:nvPr/>
        </p:nvSpPr>
        <p:spPr bwMode="auto">
          <a:xfrm flipH="1">
            <a:off x="2000250" y="4506913"/>
            <a:ext cx="597693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9282" name="Freeform 474"/>
          <p:cNvSpPr>
            <a:spLocks/>
          </p:cNvSpPr>
          <p:nvPr/>
        </p:nvSpPr>
        <p:spPr bwMode="auto">
          <a:xfrm>
            <a:off x="2216150" y="4321175"/>
            <a:ext cx="5256213" cy="1425575"/>
          </a:xfrm>
          <a:custGeom>
            <a:avLst/>
            <a:gdLst>
              <a:gd name="T0" fmla="*/ 0 w 3311"/>
              <a:gd name="T1" fmla="*/ 2147483647 h 627"/>
              <a:gd name="T2" fmla="*/ 2147483647 w 3311"/>
              <a:gd name="T3" fmla="*/ 2147483647 h 627"/>
              <a:gd name="T4" fmla="*/ 2147483647 w 3311"/>
              <a:gd name="T5" fmla="*/ 2147483647 h 627"/>
              <a:gd name="T6" fmla="*/ 2147483647 w 3311"/>
              <a:gd name="T7" fmla="*/ 2147483647 h 627"/>
              <a:gd name="T8" fmla="*/ 2147483647 w 3311"/>
              <a:gd name="T9" fmla="*/ 2147483647 h 627"/>
              <a:gd name="T10" fmla="*/ 2147483647 w 3311"/>
              <a:gd name="T11" fmla="*/ 2147483647 h 627"/>
              <a:gd name="T12" fmla="*/ 2147483647 w 3311"/>
              <a:gd name="T13" fmla="*/ 2147483647 h 627"/>
              <a:gd name="T14" fmla="*/ 2147483647 w 3311"/>
              <a:gd name="T15" fmla="*/ 2147483647 h 627"/>
              <a:gd name="T16" fmla="*/ 2147483647 w 3311"/>
              <a:gd name="T17" fmla="*/ 2147483647 h 627"/>
              <a:gd name="T18" fmla="*/ 2147483647 w 3311"/>
              <a:gd name="T19" fmla="*/ 2147483647 h 627"/>
              <a:gd name="T20" fmla="*/ 2147483647 w 3311"/>
              <a:gd name="T21" fmla="*/ 2147483647 h 627"/>
              <a:gd name="T22" fmla="*/ 2147483647 w 3311"/>
              <a:gd name="T23" fmla="*/ 2147483647 h 627"/>
              <a:gd name="T24" fmla="*/ 2147483647 w 3311"/>
              <a:gd name="T25" fmla="*/ 2147483647 h 627"/>
              <a:gd name="T26" fmla="*/ 2147483647 w 3311"/>
              <a:gd name="T27" fmla="*/ 2147483647 h 627"/>
              <a:gd name="T28" fmla="*/ 2147483647 w 3311"/>
              <a:gd name="T29" fmla="*/ 2147483647 h 627"/>
              <a:gd name="T30" fmla="*/ 2147483647 w 3311"/>
              <a:gd name="T31" fmla="*/ 2147483647 h 6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11"/>
              <a:gd name="T49" fmla="*/ 0 h 627"/>
              <a:gd name="T50" fmla="*/ 3311 w 3311"/>
              <a:gd name="T51" fmla="*/ 627 h 62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11" h="627">
                <a:moveTo>
                  <a:pt x="0" y="529"/>
                </a:moveTo>
                <a:cubicBezTo>
                  <a:pt x="0" y="525"/>
                  <a:pt x="0" y="521"/>
                  <a:pt x="45" y="438"/>
                </a:cubicBezTo>
                <a:cubicBezTo>
                  <a:pt x="90" y="355"/>
                  <a:pt x="189" y="0"/>
                  <a:pt x="272" y="30"/>
                </a:cubicBezTo>
                <a:cubicBezTo>
                  <a:pt x="355" y="60"/>
                  <a:pt x="453" y="619"/>
                  <a:pt x="544" y="619"/>
                </a:cubicBezTo>
                <a:cubicBezTo>
                  <a:pt x="635" y="619"/>
                  <a:pt x="725" y="30"/>
                  <a:pt x="816" y="30"/>
                </a:cubicBezTo>
                <a:cubicBezTo>
                  <a:pt x="907" y="30"/>
                  <a:pt x="997" y="611"/>
                  <a:pt x="1088" y="619"/>
                </a:cubicBezTo>
                <a:cubicBezTo>
                  <a:pt x="1179" y="627"/>
                  <a:pt x="1277" y="75"/>
                  <a:pt x="1360" y="75"/>
                </a:cubicBezTo>
                <a:cubicBezTo>
                  <a:pt x="1443" y="75"/>
                  <a:pt x="1511" y="619"/>
                  <a:pt x="1587" y="619"/>
                </a:cubicBezTo>
                <a:cubicBezTo>
                  <a:pt x="1663" y="619"/>
                  <a:pt x="1731" y="75"/>
                  <a:pt x="1814" y="75"/>
                </a:cubicBezTo>
                <a:cubicBezTo>
                  <a:pt x="1897" y="75"/>
                  <a:pt x="2003" y="612"/>
                  <a:pt x="2086" y="619"/>
                </a:cubicBezTo>
                <a:cubicBezTo>
                  <a:pt x="2169" y="626"/>
                  <a:pt x="2245" y="128"/>
                  <a:pt x="2313" y="120"/>
                </a:cubicBezTo>
                <a:cubicBezTo>
                  <a:pt x="2381" y="112"/>
                  <a:pt x="2434" y="574"/>
                  <a:pt x="2494" y="574"/>
                </a:cubicBezTo>
                <a:cubicBezTo>
                  <a:pt x="2554" y="574"/>
                  <a:pt x="2593" y="113"/>
                  <a:pt x="2676" y="120"/>
                </a:cubicBezTo>
                <a:cubicBezTo>
                  <a:pt x="2759" y="127"/>
                  <a:pt x="2918" y="611"/>
                  <a:pt x="2993" y="619"/>
                </a:cubicBezTo>
                <a:cubicBezTo>
                  <a:pt x="3068" y="627"/>
                  <a:pt x="3076" y="181"/>
                  <a:pt x="3129" y="166"/>
                </a:cubicBezTo>
                <a:cubicBezTo>
                  <a:pt x="3182" y="151"/>
                  <a:pt x="3303" y="469"/>
                  <a:pt x="3311" y="529"/>
                </a:cubicBezTo>
              </a:path>
            </a:pathLst>
          </a:custGeom>
          <a:noFill/>
          <a:ln w="28575" cap="flat" cmpd="sng">
            <a:solidFill>
              <a:srgbClr val="CC0000"/>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p>
        </p:txBody>
      </p:sp>
      <p:sp>
        <p:nvSpPr>
          <p:cNvPr id="9283" name="Text Box 475"/>
          <p:cNvSpPr txBox="1">
            <a:spLocks noChangeArrowheads="1"/>
          </p:cNvSpPr>
          <p:nvPr/>
        </p:nvSpPr>
        <p:spPr bwMode="auto">
          <a:xfrm>
            <a:off x="695174" y="3065463"/>
            <a:ext cx="1116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solidFill>
                  <a:srgbClr val="CC0000"/>
                </a:solidFill>
                <a:latin typeface="arial" pitchFamily="34" charset="0"/>
                <a:ea typeface="맑은 고딕" pitchFamily="50" charset="-127"/>
              </a:rPr>
              <a:t>Ngăn</a:t>
            </a:r>
            <a:r>
              <a:rPr lang="en-US" altLang="ko-KR" sz="1400" b="1" dirty="0">
                <a:solidFill>
                  <a:srgbClr val="CC0000"/>
                </a:solidFill>
                <a:latin typeface="arial" pitchFamily="34" charset="0"/>
                <a:ea typeface="맑은 고딕" pitchFamily="50" charset="-127"/>
              </a:rPr>
              <a:t> </a:t>
            </a:r>
            <a:r>
              <a:rPr lang="en-US" altLang="ko-KR" sz="1400" b="1" dirty="0" err="1">
                <a:solidFill>
                  <a:srgbClr val="CC0000"/>
                </a:solidFill>
                <a:latin typeface="arial" pitchFamily="34" charset="0"/>
                <a:ea typeface="맑은 고딕" pitchFamily="50" charset="-127"/>
              </a:rPr>
              <a:t>chặn</a:t>
            </a:r>
            <a:br>
              <a:rPr lang="en-US" altLang="ko-KR" sz="1400" b="1" dirty="0">
                <a:solidFill>
                  <a:srgbClr val="CC0000"/>
                </a:solidFill>
                <a:latin typeface="arial" pitchFamily="34" charset="0"/>
                <a:ea typeface="맑은 고딕" pitchFamily="50" charset="-127"/>
              </a:rPr>
            </a:br>
            <a:r>
              <a:rPr lang="en-US" altLang="ko-KR" sz="1400" b="1" dirty="0" err="1">
                <a:solidFill>
                  <a:srgbClr val="CC0000"/>
                </a:solidFill>
                <a:latin typeface="arial" pitchFamily="34" charset="0"/>
                <a:ea typeface="맑은 고딕" pitchFamily="50" charset="-127"/>
              </a:rPr>
              <a:t>phân</a:t>
            </a:r>
            <a:r>
              <a:rPr lang="en-US" altLang="ko-KR" sz="1400" b="1" dirty="0">
                <a:solidFill>
                  <a:srgbClr val="CC0000"/>
                </a:solidFill>
                <a:latin typeface="arial" pitchFamily="34" charset="0"/>
                <a:ea typeface="맑은 고딕" pitchFamily="50" charset="-127"/>
              </a:rPr>
              <a:t> </a:t>
            </a:r>
            <a:r>
              <a:rPr lang="en-US" altLang="ko-KR" sz="1400" b="1" dirty="0" err="1">
                <a:solidFill>
                  <a:srgbClr val="CC0000"/>
                </a:solidFill>
                <a:latin typeface="arial" pitchFamily="34" charset="0"/>
                <a:ea typeface="맑은 고딕" pitchFamily="50" charset="-127"/>
              </a:rPr>
              <a:t>tán</a:t>
            </a:r>
            <a:endParaRPr lang="ko-KR" altLang="en-US" sz="1400" b="1" dirty="0">
              <a:solidFill>
                <a:srgbClr val="CC0000"/>
              </a:solidFill>
              <a:latin typeface="arial" pitchFamily="34" charset="0"/>
              <a:ea typeface="맑은 고딕" pitchFamily="50" charset="-127"/>
            </a:endParaRPr>
          </a:p>
        </p:txBody>
      </p:sp>
      <p:sp>
        <p:nvSpPr>
          <p:cNvPr id="9284" name="Text Box 476"/>
          <p:cNvSpPr txBox="1">
            <a:spLocks noChangeArrowheads="1"/>
          </p:cNvSpPr>
          <p:nvPr/>
        </p:nvSpPr>
        <p:spPr bwMode="auto">
          <a:xfrm>
            <a:off x="356921" y="5153025"/>
            <a:ext cx="15717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solidFill>
                  <a:srgbClr val="CC0000"/>
                </a:solidFill>
                <a:latin typeface="arial" pitchFamily="34" charset="0"/>
                <a:ea typeface="맑은 고딕" pitchFamily="50" charset="-127"/>
              </a:rPr>
              <a:t>Phân</a:t>
            </a:r>
            <a:r>
              <a:rPr lang="en-US" altLang="ko-KR" sz="1400" b="1" dirty="0">
                <a:solidFill>
                  <a:srgbClr val="CC0000"/>
                </a:solidFill>
                <a:latin typeface="arial" pitchFamily="34" charset="0"/>
                <a:ea typeface="맑은 고딕" pitchFamily="50" charset="-127"/>
              </a:rPr>
              <a:t> </a:t>
            </a:r>
            <a:r>
              <a:rPr lang="en-US" altLang="ko-KR" sz="1400" b="1" dirty="0" err="1">
                <a:solidFill>
                  <a:srgbClr val="CC0000"/>
                </a:solidFill>
                <a:latin typeface="arial" pitchFamily="34" charset="0"/>
                <a:ea typeface="맑은 고딕" pitchFamily="50" charset="-127"/>
              </a:rPr>
              <a:t>tán</a:t>
            </a:r>
            <a:r>
              <a:rPr lang="en-US" altLang="ko-KR" sz="1400" b="1" dirty="0">
                <a:solidFill>
                  <a:srgbClr val="CC0000"/>
                </a:solidFill>
                <a:latin typeface="arial" pitchFamily="34" charset="0"/>
                <a:ea typeface="맑은 고딕" pitchFamily="50" charset="-127"/>
              </a:rPr>
              <a:t> </a:t>
            </a:r>
            <a:r>
              <a:rPr lang="en-US" altLang="ko-KR" sz="1400" b="1" dirty="0" err="1">
                <a:solidFill>
                  <a:srgbClr val="CC0000"/>
                </a:solidFill>
                <a:latin typeface="arial" pitchFamily="34" charset="0"/>
                <a:ea typeface="맑은 고딕" pitchFamily="50" charset="-127"/>
              </a:rPr>
              <a:t>ngoài</a:t>
            </a:r>
            <a:r>
              <a:rPr lang="en-US" altLang="ko-KR" sz="1400" b="1" dirty="0">
                <a:solidFill>
                  <a:srgbClr val="CC0000"/>
                </a:solidFill>
                <a:latin typeface="arial" pitchFamily="34" charset="0"/>
                <a:ea typeface="맑은 고딕" pitchFamily="50" charset="-127"/>
              </a:rPr>
              <a:t> </a:t>
            </a:r>
            <a:r>
              <a:rPr lang="en-US" altLang="ko-KR" sz="1400" b="1" dirty="0" err="1">
                <a:solidFill>
                  <a:srgbClr val="CC0000"/>
                </a:solidFill>
                <a:latin typeface="arial" pitchFamily="34" charset="0"/>
                <a:ea typeface="맑은 고딕" pitchFamily="50" charset="-127"/>
              </a:rPr>
              <a:t>vùng</a:t>
            </a:r>
            <a:r>
              <a:rPr lang="en-US" altLang="ko-KR" sz="1400" b="1" dirty="0">
                <a:solidFill>
                  <a:srgbClr val="CC0000"/>
                </a:solidFill>
                <a:latin typeface="arial" pitchFamily="34" charset="0"/>
                <a:ea typeface="맑은 고딕" pitchFamily="50" charset="-127"/>
              </a:rPr>
              <a:t> </a:t>
            </a:r>
            <a:r>
              <a:rPr lang="en-US" altLang="ko-KR" sz="1400" b="1" dirty="0" err="1">
                <a:solidFill>
                  <a:srgbClr val="CC0000"/>
                </a:solidFill>
                <a:latin typeface="arial" pitchFamily="34" charset="0"/>
                <a:ea typeface="맑은 고딕" pitchFamily="50" charset="-127"/>
              </a:rPr>
              <a:t>tiêu</a:t>
            </a:r>
            <a:r>
              <a:rPr lang="en-US" altLang="ko-KR" sz="1400" b="1" dirty="0">
                <a:solidFill>
                  <a:srgbClr val="CC0000"/>
                </a:solidFill>
                <a:latin typeface="arial" pitchFamily="34" charset="0"/>
                <a:ea typeface="맑은 고딕" pitchFamily="50" charset="-127"/>
              </a:rPr>
              <a:t> </a:t>
            </a:r>
            <a:r>
              <a:rPr lang="en-US" altLang="ko-KR" sz="1400" b="1" dirty="0" err="1">
                <a:solidFill>
                  <a:srgbClr val="CC0000"/>
                </a:solidFill>
                <a:latin typeface="arial" pitchFamily="34" charset="0"/>
                <a:ea typeface="맑은 고딕" pitchFamily="50" charset="-127"/>
              </a:rPr>
              <a:t>chuẩn</a:t>
            </a:r>
            <a:endParaRPr lang="ko-KR" altLang="en-US" sz="1400" b="1" dirty="0">
              <a:solidFill>
                <a:srgbClr val="CC0000"/>
              </a:solidFill>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250</a:t>
            </a:fld>
            <a:endParaRPr lang="ko-KR" altLang="en-US" dirty="0"/>
          </a:p>
        </p:txBody>
      </p:sp>
      <p:sp>
        <p:nvSpPr>
          <p:cNvPr id="146" name="제목 8"/>
          <p:cNvSpPr txBox="1">
            <a:spLocks/>
          </p:cNvSpPr>
          <p:nvPr/>
        </p:nvSpPr>
        <p:spPr bwMode="auto">
          <a:xfrm>
            <a:off x="195263" y="188913"/>
            <a:ext cx="8813800" cy="488950"/>
          </a:xfrm>
          <a:prstGeom prst="rect">
            <a:avLst/>
          </a:prstGeom>
          <a:noFill/>
          <a:ln>
            <a:miter lim="800000"/>
            <a:headEnd/>
            <a:tailEnd/>
          </a:ln>
        </p:spPr>
        <p:txBody>
          <a:bodyPr/>
          <a:lstStyle/>
          <a:p>
            <a:pPr>
              <a:defRPr/>
            </a:pPr>
            <a:r>
              <a:rPr lang="en-US" altLang="ko-KR" sz="2000" b="1" dirty="0">
                <a:latin typeface="arial" pitchFamily="34" charset="0"/>
              </a:rPr>
              <a:t>1. </a:t>
            </a:r>
            <a:r>
              <a:rPr lang="en-US" altLang="ko-KR" sz="2000" b="1" dirty="0" err="1">
                <a:latin typeface="arial" pitchFamily="34" charset="0"/>
              </a:rPr>
              <a:t>Giới</a:t>
            </a:r>
            <a:r>
              <a:rPr lang="en-US" altLang="ko-KR" sz="2000" b="1" dirty="0">
                <a:latin typeface="arial" pitchFamily="34" charset="0"/>
              </a:rPr>
              <a:t> </a:t>
            </a:r>
            <a:r>
              <a:rPr lang="en-US" altLang="ko-KR" sz="2000" b="1" dirty="0" err="1">
                <a:latin typeface="arial" pitchFamily="34" charset="0"/>
              </a:rPr>
              <a:t>thiệu</a:t>
            </a:r>
            <a:endParaRPr kumimoji="0" lang="ko-KR" altLang="en-US" sz="2000" b="1" dirty="0">
              <a:latin typeface="돋움" pitchFamily="50" charset="-127"/>
              <a:ea typeface="돋움" pitchFamily="50" charset="-127"/>
              <a:cs typeface="+mj-cs"/>
            </a:endParaRPr>
          </a:p>
        </p:txBody>
      </p:sp>
    </p:spTree>
    <p:extLst>
      <p:ext uri="{BB962C8B-B14F-4D97-AF65-F5344CB8AC3E}">
        <p14:creationId xmlns:p14="http://schemas.microsoft.com/office/powerpoint/2010/main" val="1652893664"/>
      </p:ext>
    </p:extLst>
  </p:cSld>
  <p:clrMapOvr>
    <a:masterClrMapping/>
  </p:clrMapOvr>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2. </a:t>
            </a:r>
            <a:r>
              <a:rPr lang="en-US" altLang="ko-KR" sz="2000" b="1" dirty="0" err="1"/>
              <a:t>Định</a:t>
            </a:r>
            <a:r>
              <a:rPr lang="en-US" altLang="ko-KR" sz="2000" b="1" dirty="0"/>
              <a:t> </a:t>
            </a:r>
            <a:r>
              <a:rPr lang="en-US" altLang="ko-KR" sz="2000" b="1" dirty="0" err="1"/>
              <a:t>nghĩa</a:t>
            </a:r>
            <a:r>
              <a:rPr lang="en-US" altLang="ko-KR" sz="2000" b="1" dirty="0"/>
              <a:t> </a:t>
            </a:r>
            <a:r>
              <a:rPr lang="en-US" altLang="ko-KR" sz="2000" b="1" dirty="0" err="1"/>
              <a:t>biểu</a:t>
            </a:r>
            <a:r>
              <a:rPr lang="en-US" altLang="ko-KR" sz="2000" b="1" dirty="0"/>
              <a:t> </a:t>
            </a:r>
            <a:r>
              <a:rPr lang="en-US" altLang="ko-KR" sz="2000" b="1" dirty="0" err="1"/>
              <a:t>đồ</a:t>
            </a:r>
            <a:r>
              <a:rPr lang="en-US" altLang="ko-KR" sz="2000" b="1" dirty="0"/>
              <a:t> </a:t>
            </a:r>
            <a:r>
              <a:rPr lang="en-US" altLang="ko-KR" sz="2000" b="1" dirty="0" err="1"/>
              <a:t>kiểm</a:t>
            </a:r>
            <a:r>
              <a:rPr lang="en-US" altLang="ko-KR" sz="2000" b="1" dirty="0"/>
              <a:t> </a:t>
            </a:r>
            <a:r>
              <a:rPr lang="en-US" altLang="ko-KR" sz="2000" b="1" dirty="0" err="1"/>
              <a:t>soát</a:t>
            </a:r>
            <a:endParaRPr lang="ko-KR" altLang="en-US" sz="2000" b="1" dirty="0"/>
          </a:p>
        </p:txBody>
      </p:sp>
      <p:sp>
        <p:nvSpPr>
          <p:cNvPr id="23" name="Text Box 6"/>
          <p:cNvSpPr txBox="1">
            <a:spLocks noChangeArrowheads="1"/>
          </p:cNvSpPr>
          <p:nvPr/>
        </p:nvSpPr>
        <p:spPr bwMode="auto">
          <a:xfrm>
            <a:off x="396875" y="959895"/>
            <a:ext cx="1704506" cy="380873"/>
          </a:xfrm>
          <a:prstGeom prst="rect">
            <a:avLst/>
          </a:prstGeom>
          <a:solidFill>
            <a:schemeClr val="bg1">
              <a:lumMod val="85000"/>
            </a:schemeClr>
          </a:solid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a:defRPr/>
            </a:pPr>
            <a:r>
              <a:rPr lang="en-US" altLang="ko-KR" dirty="0">
                <a:latin typeface="arial" pitchFamily="34" charset="0"/>
              </a:rPr>
              <a:t>Control Chart</a:t>
            </a:r>
            <a:endParaRPr lang="ko-KR" altLang="en-US" dirty="0">
              <a:latin typeface="arial" pitchFamily="34" charset="0"/>
            </a:endParaRPr>
          </a:p>
        </p:txBody>
      </p:sp>
      <p:sp>
        <p:nvSpPr>
          <p:cNvPr id="10246" name="직사각형 8"/>
          <p:cNvSpPr>
            <a:spLocks noChangeArrowheads="1"/>
          </p:cNvSpPr>
          <p:nvPr/>
        </p:nvSpPr>
        <p:spPr bwMode="auto">
          <a:xfrm>
            <a:off x="7185248" y="836712"/>
            <a:ext cx="2592165"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20000"/>
              </a:lnSpc>
            </a:pP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trong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trạng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thái</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soát</a:t>
            </a:r>
            <a:r>
              <a:rPr kumimoji="0" lang="en-US" altLang="ko-KR" sz="1200" dirty="0">
                <a:solidFill>
                  <a:srgbClr val="000000"/>
                </a:solidFill>
                <a:latin typeface="arial" pitchFamily="34" charset="0"/>
                <a:ea typeface="맑은 고딕" pitchFamily="50" charset="-127"/>
              </a:rPr>
              <a:t> =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là</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ổn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định</a:t>
            </a:r>
            <a:endParaRPr kumimoji="0" lang="en-US" altLang="ko-KR" sz="1200" dirty="0">
              <a:solidFill>
                <a:srgbClr val="000000"/>
              </a:solidFill>
              <a:latin typeface="arial" pitchFamily="34" charset="0"/>
              <a:ea typeface="맑은 고딕" pitchFamily="50" charset="-127"/>
            </a:endParaRPr>
          </a:p>
          <a:p>
            <a:pPr eaLnBrk="1" hangingPunct="1">
              <a:lnSpc>
                <a:spcPct val="120000"/>
              </a:lnSpc>
            </a:pPr>
            <a:endParaRPr kumimoji="0" lang="en-US" altLang="ko-KR" sz="1200" dirty="0">
              <a:solidFill>
                <a:srgbClr val="000000"/>
              </a:solidFill>
              <a:latin typeface="arial" pitchFamily="34" charset="0"/>
              <a:ea typeface="맑은 고딕" pitchFamily="50" charset="-127"/>
            </a:endParaRPr>
          </a:p>
          <a:p>
            <a:pPr eaLnBrk="1" hangingPunct="1">
              <a:lnSpc>
                <a:spcPct val="120000"/>
              </a:lnSpc>
            </a:pP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soát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chính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là</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đã</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soát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nhóm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nguyên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nhân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không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ngẫu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nhiên</a:t>
            </a:r>
            <a:endParaRPr kumimoji="0" lang="en-US" altLang="ko-KR" sz="1200" dirty="0">
              <a:solidFill>
                <a:srgbClr val="000000"/>
              </a:solidFill>
              <a:latin typeface="arial" pitchFamily="34" charset="0"/>
              <a:ea typeface="맑은 고딕" pitchFamily="50" charset="-127"/>
            </a:endParaRPr>
          </a:p>
        </p:txBody>
      </p:sp>
      <p:sp>
        <p:nvSpPr>
          <p:cNvPr id="10247" name="Rectangle 48"/>
          <p:cNvSpPr>
            <a:spLocks noChangeArrowheads="1"/>
          </p:cNvSpPr>
          <p:nvPr/>
        </p:nvSpPr>
        <p:spPr bwMode="auto">
          <a:xfrm>
            <a:off x="704850" y="2901950"/>
            <a:ext cx="261116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b="1" u="sng" dirty="0">
                <a:latin typeface="arial" pitchFamily="34" charset="0"/>
                <a:ea typeface="맑은 고딕" pitchFamily="50" charset="-127"/>
              </a:rPr>
              <a:t>Logic </a:t>
            </a:r>
            <a:r>
              <a:rPr lang="en-US" altLang="ko-KR" sz="1400" b="1" u="sng" dirty="0" err="1">
                <a:latin typeface="arial" pitchFamily="34" charset="0"/>
                <a:ea typeface="맑은 고딕" pitchFamily="50" charset="-127"/>
              </a:rPr>
              <a:t>của</a:t>
            </a:r>
            <a:r>
              <a:rPr lang="en-US" altLang="ko-KR" sz="1400" b="1" u="sng" dirty="0">
                <a:latin typeface="arial" pitchFamily="34" charset="0"/>
                <a:ea typeface="맑은 고딕" pitchFamily="50" charset="-127"/>
              </a:rPr>
              <a:t> </a:t>
            </a:r>
            <a:r>
              <a:rPr lang="en-US" altLang="ko-KR" sz="1400" b="1" u="sng" dirty="0" err="1">
                <a:latin typeface="arial" pitchFamily="34" charset="0"/>
                <a:ea typeface="맑은 고딕" pitchFamily="50" charset="-127"/>
              </a:rPr>
              <a:t>biểu</a:t>
            </a:r>
            <a:r>
              <a:rPr lang="en-US" altLang="ko-KR" sz="1400" b="1" u="sng" dirty="0">
                <a:latin typeface="arial" pitchFamily="34" charset="0"/>
                <a:ea typeface="맑은 고딕" pitchFamily="50" charset="-127"/>
              </a:rPr>
              <a:t> </a:t>
            </a:r>
            <a:r>
              <a:rPr lang="en-US" altLang="ko-KR" sz="1400" b="1" u="sng" dirty="0" err="1">
                <a:latin typeface="arial" pitchFamily="34" charset="0"/>
                <a:ea typeface="맑은 고딕" pitchFamily="50" charset="-127"/>
              </a:rPr>
              <a:t>đồ</a:t>
            </a:r>
            <a:r>
              <a:rPr lang="en-US" altLang="ko-KR" sz="1400" b="1" u="sng" dirty="0">
                <a:latin typeface="arial" pitchFamily="34" charset="0"/>
                <a:ea typeface="맑은 고딕" pitchFamily="50" charset="-127"/>
              </a:rPr>
              <a:t> </a:t>
            </a:r>
            <a:r>
              <a:rPr lang="en-US" altLang="ko-KR" sz="1400" b="1" u="sng" dirty="0" err="1">
                <a:latin typeface="arial" pitchFamily="34" charset="0"/>
                <a:ea typeface="맑은 고딕" pitchFamily="50" charset="-127"/>
              </a:rPr>
              <a:t>kiểm</a:t>
            </a:r>
            <a:r>
              <a:rPr lang="en-US" altLang="ko-KR" sz="1400" b="1" u="sng" dirty="0">
                <a:latin typeface="arial" pitchFamily="34" charset="0"/>
                <a:ea typeface="맑은 고딕" pitchFamily="50" charset="-127"/>
              </a:rPr>
              <a:t> </a:t>
            </a:r>
            <a:r>
              <a:rPr lang="en-US" altLang="ko-KR" sz="1400" b="1" u="sng" dirty="0" err="1">
                <a:latin typeface="arial" pitchFamily="34" charset="0"/>
                <a:ea typeface="맑은 고딕" pitchFamily="50" charset="-127"/>
              </a:rPr>
              <a:t>soát</a:t>
            </a:r>
            <a:endParaRPr lang="en-US" altLang="ko-KR" sz="1400" b="1" u="sng" dirty="0">
              <a:latin typeface="arial" pitchFamily="34" charset="0"/>
              <a:ea typeface="맑은 고딕" pitchFamily="50" charset="-127"/>
            </a:endParaRPr>
          </a:p>
        </p:txBody>
      </p:sp>
      <p:sp>
        <p:nvSpPr>
          <p:cNvPr id="10248" name="Line 52"/>
          <p:cNvSpPr>
            <a:spLocks noChangeShapeType="1"/>
          </p:cNvSpPr>
          <p:nvPr/>
        </p:nvSpPr>
        <p:spPr bwMode="auto">
          <a:xfrm flipV="1">
            <a:off x="3189288" y="4940300"/>
            <a:ext cx="0" cy="398463"/>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49" name="Oval 55"/>
          <p:cNvSpPr>
            <a:spLocks noChangeArrowheads="1"/>
          </p:cNvSpPr>
          <p:nvPr/>
        </p:nvSpPr>
        <p:spPr bwMode="auto">
          <a:xfrm>
            <a:off x="2471738" y="4567238"/>
            <a:ext cx="1308100" cy="368300"/>
          </a:xfrm>
          <a:prstGeom prst="ellipse">
            <a:avLst/>
          </a:prstGeom>
          <a:solidFill>
            <a:schemeClr val="bg1"/>
          </a:solidFill>
          <a:ln w="12700">
            <a:solidFill>
              <a:schemeClr val="tx1"/>
            </a:solidFill>
            <a:round/>
            <a:headEnd/>
            <a:tailEnd/>
          </a:ln>
        </p:spPr>
        <p:txBody>
          <a:bodyPr wrap="none" lIns="92075" tIns="46038" rIns="92075" bIns="46038" anchor="ct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r>
              <a:rPr lang="en-US" altLang="ko-KR" sz="1200" dirty="0" err="1">
                <a:latin typeface="arial" pitchFamily="34" charset="0"/>
                <a:ea typeface="맑은 고딕" pitchFamily="50" charset="-127"/>
              </a:rPr>
              <a:t>Hoạt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động</a:t>
            </a:r>
            <a:br>
              <a:rPr lang="en-US" altLang="ko-KR" sz="1200" dirty="0">
                <a:latin typeface="arial" pitchFamily="34" charset="0"/>
                <a:ea typeface="맑은 고딕" pitchFamily="50" charset="-127"/>
              </a:rPr>
            </a:br>
            <a:r>
              <a:rPr lang="en-US" altLang="ko-KR" sz="1200" dirty="0" err="1">
                <a:latin typeface="arial" pitchFamily="34" charset="0"/>
                <a:ea typeface="맑은 고딕" pitchFamily="50" charset="-127"/>
              </a:rPr>
              <a:t>kiểm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soát</a:t>
            </a:r>
            <a:endParaRPr lang="en-US" altLang="ko-KR" sz="1200" dirty="0">
              <a:latin typeface="arial" pitchFamily="34" charset="0"/>
              <a:ea typeface="맑은 고딕" pitchFamily="50" charset="-127"/>
            </a:endParaRPr>
          </a:p>
        </p:txBody>
      </p:sp>
      <p:sp>
        <p:nvSpPr>
          <p:cNvPr id="10250" name="Line 56"/>
          <p:cNvSpPr>
            <a:spLocks noChangeShapeType="1"/>
          </p:cNvSpPr>
          <p:nvPr/>
        </p:nvSpPr>
        <p:spPr bwMode="auto">
          <a:xfrm flipV="1">
            <a:off x="3189288" y="4003675"/>
            <a:ext cx="0" cy="45720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51" name="Rectangle 57"/>
          <p:cNvSpPr>
            <a:spLocks noChangeArrowheads="1"/>
          </p:cNvSpPr>
          <p:nvPr/>
        </p:nvSpPr>
        <p:spPr bwMode="auto">
          <a:xfrm>
            <a:off x="2216150" y="3436938"/>
            <a:ext cx="1873250" cy="485775"/>
          </a:xfrm>
          <a:prstGeom prst="rect">
            <a:avLst/>
          </a:prstGeom>
          <a:solidFill>
            <a:schemeClr val="bg1">
              <a:lumMod val="85000"/>
            </a:schemeClr>
          </a:solidFill>
          <a:ln w="50800">
            <a:solidFill>
              <a:schemeClr val="tx1"/>
            </a:solidFill>
            <a:miter lim="800000"/>
            <a:headEnd/>
            <a:tailEnd/>
          </a:ln>
        </p:spPr>
        <p:txBody>
          <a:bodyPr wrap="none" lIns="92075" tIns="46038" rIns="92075" bIns="46038" anchor="ct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latinLnBrk="0" hangingPunct="1">
              <a:defRPr/>
            </a:pPr>
            <a:r>
              <a:rPr lang="en-US" altLang="ko-KR" sz="1600" b="1" dirty="0" err="1">
                <a:latin typeface="arial" pitchFamily="34" charset="0"/>
                <a:ea typeface="맑은 고딕" panose="020B0503020000020004" pitchFamily="50" charset="-127"/>
              </a:rPr>
              <a:t>Quá</a:t>
            </a:r>
            <a:r>
              <a:rPr lang="en-US" altLang="ko-KR" sz="1600" b="1" dirty="0">
                <a:latin typeface="arial" pitchFamily="34" charset="0"/>
                <a:ea typeface="맑은 고딕" panose="020B0503020000020004" pitchFamily="50" charset="-127"/>
              </a:rPr>
              <a:t> </a:t>
            </a:r>
            <a:r>
              <a:rPr lang="en-US" altLang="ko-KR" sz="1600" b="1" dirty="0" err="1">
                <a:latin typeface="arial" pitchFamily="34" charset="0"/>
                <a:ea typeface="맑은 고딕" panose="020B0503020000020004" pitchFamily="50" charset="-127"/>
              </a:rPr>
              <a:t>trình</a:t>
            </a:r>
            <a:endParaRPr lang="en-US" altLang="ko-KR" sz="1600" b="1" dirty="0">
              <a:latin typeface="arial" pitchFamily="34" charset="0"/>
              <a:ea typeface="맑은 고딕" panose="020B0503020000020004" pitchFamily="50" charset="-127"/>
            </a:endParaRPr>
          </a:p>
        </p:txBody>
      </p:sp>
      <p:grpSp>
        <p:nvGrpSpPr>
          <p:cNvPr id="3" name="그룹 44"/>
          <p:cNvGrpSpPr>
            <a:grpSpLocks/>
          </p:cNvGrpSpPr>
          <p:nvPr/>
        </p:nvGrpSpPr>
        <p:grpSpPr bwMode="auto">
          <a:xfrm>
            <a:off x="4168775" y="4406900"/>
            <a:ext cx="2513013" cy="749300"/>
            <a:chOff x="4024486" y="4298032"/>
            <a:chExt cx="3289300" cy="749300"/>
          </a:xfrm>
        </p:grpSpPr>
        <p:sp>
          <p:nvSpPr>
            <p:cNvPr id="10265" name="Rectangle 60"/>
            <p:cNvSpPr>
              <a:spLocks noChangeArrowheads="1"/>
            </p:cNvSpPr>
            <p:nvPr/>
          </p:nvSpPr>
          <p:spPr bwMode="auto">
            <a:xfrm>
              <a:off x="4024486" y="4298032"/>
              <a:ext cx="3289300" cy="749300"/>
            </a:xfrm>
            <a:prstGeom prst="rect">
              <a:avLst/>
            </a:prstGeom>
            <a:gradFill rotWithShape="0">
              <a:gsLst>
                <a:gs pos="0">
                  <a:srgbClr val="CCECFF"/>
                </a:gs>
                <a:gs pos="50000">
                  <a:srgbClr val="FFFFFF"/>
                </a:gs>
                <a:gs pos="100000">
                  <a:srgbClr val="CCECFF"/>
                </a:gs>
              </a:gsLst>
              <a:lin ang="5400000" scaled="1"/>
            </a:gradFill>
            <a:ln w="12700">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dirty="0">
                <a:latin typeface="arial" pitchFamily="34" charset="0"/>
                <a:ea typeface="맑은 고딕" pitchFamily="50" charset="-127"/>
              </a:endParaRPr>
            </a:p>
          </p:txBody>
        </p:sp>
        <p:sp>
          <p:nvSpPr>
            <p:cNvPr id="10266" name="Line 61"/>
            <p:cNvSpPr>
              <a:spLocks noChangeShapeType="1"/>
            </p:cNvSpPr>
            <p:nvPr/>
          </p:nvSpPr>
          <p:spPr bwMode="auto">
            <a:xfrm>
              <a:off x="4100686" y="4367882"/>
              <a:ext cx="0" cy="6096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67" name="Line 62"/>
            <p:cNvSpPr>
              <a:spLocks noChangeShapeType="1"/>
            </p:cNvSpPr>
            <p:nvPr/>
          </p:nvSpPr>
          <p:spPr bwMode="auto">
            <a:xfrm>
              <a:off x="4100686" y="4672682"/>
              <a:ext cx="288925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68" name="Line 63"/>
            <p:cNvSpPr>
              <a:spLocks noChangeShapeType="1"/>
            </p:cNvSpPr>
            <p:nvPr/>
          </p:nvSpPr>
          <p:spPr bwMode="auto">
            <a:xfrm>
              <a:off x="4100686" y="4444082"/>
              <a:ext cx="2889250" cy="0"/>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69" name="Line 64"/>
            <p:cNvSpPr>
              <a:spLocks noChangeShapeType="1"/>
            </p:cNvSpPr>
            <p:nvPr/>
          </p:nvSpPr>
          <p:spPr bwMode="auto">
            <a:xfrm>
              <a:off x="4100686" y="4901282"/>
              <a:ext cx="2889250" cy="0"/>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70" name="Freeform 69"/>
            <p:cNvSpPr>
              <a:spLocks/>
            </p:cNvSpPr>
            <p:nvPr/>
          </p:nvSpPr>
          <p:spPr bwMode="auto">
            <a:xfrm>
              <a:off x="4184824" y="4344070"/>
              <a:ext cx="2641600" cy="488950"/>
            </a:xfrm>
            <a:custGeom>
              <a:avLst/>
              <a:gdLst>
                <a:gd name="T0" fmla="*/ 0 w 1536"/>
                <a:gd name="T1" fmla="*/ 2147483647 h 308"/>
                <a:gd name="T2" fmla="*/ 2147483647 w 1536"/>
                <a:gd name="T3" fmla="*/ 2147483647 h 308"/>
                <a:gd name="T4" fmla="*/ 2147483647 w 1536"/>
                <a:gd name="T5" fmla="*/ 2147483647 h 308"/>
                <a:gd name="T6" fmla="*/ 2147483647 w 1536"/>
                <a:gd name="T7" fmla="*/ 2147483647 h 308"/>
                <a:gd name="T8" fmla="*/ 2147483647 w 1536"/>
                <a:gd name="T9" fmla="*/ 2147483647 h 308"/>
                <a:gd name="T10" fmla="*/ 2147483647 w 1536"/>
                <a:gd name="T11" fmla="*/ 2147483647 h 308"/>
                <a:gd name="T12" fmla="*/ 2147483647 w 1536"/>
                <a:gd name="T13" fmla="*/ 2147483647 h 308"/>
                <a:gd name="T14" fmla="*/ 2147483647 w 1536"/>
                <a:gd name="T15" fmla="*/ 2147483647 h 308"/>
                <a:gd name="T16" fmla="*/ 2147483647 w 1536"/>
                <a:gd name="T17" fmla="*/ 2147483647 h 308"/>
                <a:gd name="T18" fmla="*/ 2147483647 w 1536"/>
                <a:gd name="T19" fmla="*/ 2147483647 h 308"/>
                <a:gd name="T20" fmla="*/ 2147483647 w 1536"/>
                <a:gd name="T21" fmla="*/ 2147483647 h 308"/>
                <a:gd name="T22" fmla="*/ 2147483647 w 1536"/>
                <a:gd name="T23" fmla="*/ 2147483647 h 308"/>
                <a:gd name="T24" fmla="*/ 2147483647 w 1536"/>
                <a:gd name="T25" fmla="*/ 2147483647 h 308"/>
                <a:gd name="T26" fmla="*/ 2147483647 w 1536"/>
                <a:gd name="T27" fmla="*/ 2147483647 h 308"/>
                <a:gd name="T28" fmla="*/ 2147483647 w 1536"/>
                <a:gd name="T29" fmla="*/ 2147483647 h 308"/>
                <a:gd name="T30" fmla="*/ 2147483647 w 1536"/>
                <a:gd name="T31" fmla="*/ 2147483647 h 308"/>
                <a:gd name="T32" fmla="*/ 2147483647 w 1536"/>
                <a:gd name="T33" fmla="*/ 0 h 308"/>
                <a:gd name="T34" fmla="*/ 2147483647 w 1536"/>
                <a:gd name="T35" fmla="*/ 2147483647 h 308"/>
                <a:gd name="T36" fmla="*/ 2147483647 w 1536"/>
                <a:gd name="T37" fmla="*/ 2147483647 h 308"/>
                <a:gd name="T38" fmla="*/ 2147483647 w 1536"/>
                <a:gd name="T39" fmla="*/ 2147483647 h 308"/>
                <a:gd name="T40" fmla="*/ 2147483647 w 1536"/>
                <a:gd name="T41" fmla="*/ 2147483647 h 308"/>
                <a:gd name="T42" fmla="*/ 2147483647 w 1536"/>
                <a:gd name="T43" fmla="*/ 2147483647 h 308"/>
                <a:gd name="T44" fmla="*/ 2147483647 w 1536"/>
                <a:gd name="T45" fmla="*/ 2147483647 h 308"/>
                <a:gd name="T46" fmla="*/ 2147483647 w 1536"/>
                <a:gd name="T47" fmla="*/ 2147483647 h 308"/>
                <a:gd name="T48" fmla="*/ 2147483647 w 1536"/>
                <a:gd name="T49" fmla="*/ 2147483647 h 3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36"/>
                <a:gd name="T76" fmla="*/ 0 h 308"/>
                <a:gd name="T77" fmla="*/ 1536 w 1536"/>
                <a:gd name="T78" fmla="*/ 308 h 30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36" h="308">
                  <a:moveTo>
                    <a:pt x="0" y="214"/>
                  </a:moveTo>
                  <a:lnTo>
                    <a:pt x="50" y="157"/>
                  </a:lnTo>
                  <a:lnTo>
                    <a:pt x="50" y="250"/>
                  </a:lnTo>
                  <a:lnTo>
                    <a:pt x="136" y="178"/>
                  </a:lnTo>
                  <a:lnTo>
                    <a:pt x="222" y="185"/>
                  </a:lnTo>
                  <a:lnTo>
                    <a:pt x="308" y="99"/>
                  </a:lnTo>
                  <a:lnTo>
                    <a:pt x="386" y="200"/>
                  </a:lnTo>
                  <a:lnTo>
                    <a:pt x="472" y="307"/>
                  </a:lnTo>
                  <a:lnTo>
                    <a:pt x="515" y="257"/>
                  </a:lnTo>
                  <a:lnTo>
                    <a:pt x="593" y="278"/>
                  </a:lnTo>
                  <a:lnTo>
                    <a:pt x="643" y="228"/>
                  </a:lnTo>
                  <a:lnTo>
                    <a:pt x="665" y="185"/>
                  </a:lnTo>
                  <a:lnTo>
                    <a:pt x="722" y="128"/>
                  </a:lnTo>
                  <a:lnTo>
                    <a:pt x="779" y="200"/>
                  </a:lnTo>
                  <a:lnTo>
                    <a:pt x="822" y="164"/>
                  </a:lnTo>
                  <a:lnTo>
                    <a:pt x="893" y="92"/>
                  </a:lnTo>
                  <a:lnTo>
                    <a:pt x="936" y="0"/>
                  </a:lnTo>
                  <a:lnTo>
                    <a:pt x="993" y="185"/>
                  </a:lnTo>
                  <a:lnTo>
                    <a:pt x="1093" y="307"/>
                  </a:lnTo>
                  <a:lnTo>
                    <a:pt x="1143" y="185"/>
                  </a:lnTo>
                  <a:lnTo>
                    <a:pt x="1215" y="243"/>
                  </a:lnTo>
                  <a:lnTo>
                    <a:pt x="1308" y="185"/>
                  </a:lnTo>
                  <a:lnTo>
                    <a:pt x="1386" y="235"/>
                  </a:lnTo>
                  <a:lnTo>
                    <a:pt x="1493" y="171"/>
                  </a:lnTo>
                  <a:lnTo>
                    <a:pt x="1535" y="255"/>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a:p>
          </p:txBody>
        </p:sp>
      </p:grpSp>
      <p:sp>
        <p:nvSpPr>
          <p:cNvPr id="10253" name="Line 71"/>
          <p:cNvSpPr>
            <a:spLocks noChangeShapeType="1"/>
          </p:cNvSpPr>
          <p:nvPr/>
        </p:nvSpPr>
        <p:spPr bwMode="auto">
          <a:xfrm flipV="1">
            <a:off x="5097463" y="3932238"/>
            <a:ext cx="0" cy="49053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54" name="Rectangle 73"/>
          <p:cNvSpPr>
            <a:spLocks noChangeArrowheads="1"/>
          </p:cNvSpPr>
          <p:nvPr/>
        </p:nvSpPr>
        <p:spPr bwMode="auto">
          <a:xfrm>
            <a:off x="5457825" y="4003675"/>
            <a:ext cx="92974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400" b="1" dirty="0" err="1">
                <a:latin typeface="arial" pitchFamily="34" charset="0"/>
                <a:ea typeface="맑은 고딕" pitchFamily="50" charset="-127"/>
              </a:rPr>
              <a:t>Lấy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mẫu</a:t>
            </a:r>
            <a:endParaRPr lang="en-US" altLang="ko-KR" sz="1400" b="1" dirty="0">
              <a:latin typeface="arial" pitchFamily="34" charset="0"/>
              <a:ea typeface="맑은 고딕" pitchFamily="50" charset="-127"/>
            </a:endParaRPr>
          </a:p>
        </p:txBody>
      </p:sp>
      <p:sp>
        <p:nvSpPr>
          <p:cNvPr id="38" name="모서리가 둥근 직사각형 37"/>
          <p:cNvSpPr/>
          <p:nvPr/>
        </p:nvSpPr>
        <p:spPr>
          <a:xfrm>
            <a:off x="776288" y="3429000"/>
            <a:ext cx="1081087" cy="501650"/>
          </a:xfrm>
          <a:prstGeom prst="roundRect">
            <a:avLst/>
          </a:prstGeom>
          <a:solidFill>
            <a:schemeClr val="bg2">
              <a:lumMod val="9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dirty="0">
                <a:solidFill>
                  <a:schemeClr val="tx1"/>
                </a:solidFill>
                <a:latin typeface="arial" pitchFamily="34" charset="0"/>
              </a:rPr>
              <a:t>Input</a:t>
            </a:r>
            <a:r>
              <a:rPr lang="ko-KR" altLang="en-US" sz="1400" dirty="0">
                <a:solidFill>
                  <a:schemeClr val="tx1"/>
                </a:solidFill>
                <a:latin typeface="arial" pitchFamily="34" charset="0"/>
              </a:rPr>
              <a:t> </a:t>
            </a:r>
          </a:p>
        </p:txBody>
      </p:sp>
      <p:sp>
        <p:nvSpPr>
          <p:cNvPr id="39" name="모서리가 둥근 직사각형 38"/>
          <p:cNvSpPr/>
          <p:nvPr/>
        </p:nvSpPr>
        <p:spPr>
          <a:xfrm>
            <a:off x="4521200" y="3429000"/>
            <a:ext cx="1079500" cy="501650"/>
          </a:xfrm>
          <a:prstGeom prst="roundRect">
            <a:avLst/>
          </a:prstGeom>
          <a:solidFill>
            <a:schemeClr val="bg2">
              <a:lumMod val="9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dirty="0">
                <a:solidFill>
                  <a:schemeClr val="tx1"/>
                </a:solidFill>
                <a:latin typeface="arial" pitchFamily="34" charset="0"/>
              </a:rPr>
              <a:t>Output</a:t>
            </a:r>
            <a:endParaRPr lang="ko-KR" altLang="en-US" sz="1400" dirty="0">
              <a:solidFill>
                <a:schemeClr val="tx1"/>
              </a:solidFill>
              <a:latin typeface="arial" pitchFamily="34" charset="0"/>
            </a:endParaRPr>
          </a:p>
        </p:txBody>
      </p:sp>
      <p:cxnSp>
        <p:nvCxnSpPr>
          <p:cNvPr id="41" name="직선 화살표 연결선 40"/>
          <p:cNvCxnSpPr>
            <a:stCxn id="38" idx="3"/>
            <a:endCxn id="10251" idx="1"/>
          </p:cNvCxnSpPr>
          <p:nvPr/>
        </p:nvCxnSpPr>
        <p:spPr>
          <a:xfrm flipV="1">
            <a:off x="1857375" y="3679825"/>
            <a:ext cx="35877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직선 화살표 연결선 41"/>
          <p:cNvCxnSpPr/>
          <p:nvPr/>
        </p:nvCxnSpPr>
        <p:spPr>
          <a:xfrm>
            <a:off x="4089400" y="3679825"/>
            <a:ext cx="4318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259" name="직사각형 45"/>
          <p:cNvSpPr>
            <a:spLocks noChangeArrowheads="1"/>
          </p:cNvSpPr>
          <p:nvPr/>
        </p:nvSpPr>
        <p:spPr bwMode="auto">
          <a:xfrm>
            <a:off x="7183018" y="2443609"/>
            <a:ext cx="2592165" cy="4081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20000"/>
              </a:lnSpc>
            </a:pPr>
            <a:r>
              <a:rPr kumimoji="0" lang="en-US" altLang="ko-KR" sz="1200" dirty="0" err="1">
                <a:solidFill>
                  <a:srgbClr val="000000"/>
                </a:solidFill>
                <a:latin typeface="arial" pitchFamily="34" charset="0"/>
                <a:ea typeface="맑은 고딕" pitchFamily="50" charset="-127"/>
              </a:rPr>
              <a:t>Vì</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không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có</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cách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nào</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có</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thể</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đo</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đạt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trực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tiếp</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từ</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các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nên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các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sản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phẩm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sản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xuất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ra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từ</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các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có</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thể</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sử</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dụng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để</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hiểu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trạng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a:t>
            </a:r>
          </a:p>
          <a:p>
            <a:pPr eaLnBrk="1" hangingPunct="1">
              <a:lnSpc>
                <a:spcPct val="120000"/>
              </a:lnSpc>
            </a:pPr>
            <a:r>
              <a:rPr kumimoji="0" lang="en-US" altLang="ko-KR" sz="1200" dirty="0" err="1">
                <a:solidFill>
                  <a:srgbClr val="000000"/>
                </a:solidFill>
                <a:latin typeface="arial" pitchFamily="34" charset="0"/>
                <a:ea typeface="맑은 고딕" pitchFamily="50" charset="-127"/>
              </a:rPr>
              <a:t>Trong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ngắn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hạn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sản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phẩm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sản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xuất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ra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từ</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này</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lấy</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mẫu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dữ</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liệu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này</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trích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xuất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và</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một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biểu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đồ</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soát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tạo</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ra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dựa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trên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dữ</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liệu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này</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Các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thông</a:t>
            </a:r>
            <a:r>
              <a:rPr kumimoji="0" lang="en-US" altLang="ko-KR" sz="1200" dirty="0">
                <a:solidFill>
                  <a:srgbClr val="000000"/>
                </a:solidFill>
                <a:latin typeface="arial" pitchFamily="34" charset="0"/>
                <a:ea typeface="맑은 고딕" pitchFamily="50" charset="-127"/>
              </a:rPr>
              <a:t> tin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rút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ra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từ</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biểu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đồ</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soát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chính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là</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trạng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thái</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hiện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tại</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của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a:t>
            </a:r>
          </a:p>
          <a:p>
            <a:pPr eaLnBrk="1" hangingPunct="1">
              <a:lnSpc>
                <a:spcPct val="120000"/>
              </a:lnSpc>
            </a:pPr>
            <a:endParaRPr kumimoji="0" lang="en-US" altLang="ko-KR" sz="1200" dirty="0">
              <a:solidFill>
                <a:srgbClr val="000000"/>
              </a:solidFill>
              <a:latin typeface="arial" pitchFamily="34" charset="0"/>
              <a:ea typeface="맑은 고딕" pitchFamily="50" charset="-127"/>
            </a:endParaRPr>
          </a:p>
          <a:p>
            <a:pPr eaLnBrk="1" hangingPunct="1">
              <a:lnSpc>
                <a:spcPct val="120000"/>
              </a:lnSpc>
            </a:pPr>
            <a:r>
              <a:rPr kumimoji="0" lang="en-US" altLang="ko-KR" sz="1200" dirty="0" err="1">
                <a:solidFill>
                  <a:srgbClr val="000000"/>
                </a:solidFill>
                <a:latin typeface="arial" pitchFamily="34" charset="0"/>
                <a:ea typeface="맑은 고딕" pitchFamily="50" charset="-127"/>
              </a:rPr>
              <a:t>Biểu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đồ</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soát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sẽ</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không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tìm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ra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nguyên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nhân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tạo</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ra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những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sự</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khác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biệt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Nó</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chỉ</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phản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ánh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trạng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thái</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của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đó</a:t>
            </a:r>
            <a:r>
              <a:rPr kumimoji="0" lang="en-US" altLang="ko-KR" sz="1200" dirty="0">
                <a:solidFill>
                  <a:srgbClr val="000000"/>
                </a:solidFill>
                <a:latin typeface="arial" pitchFamily="34" charset="0"/>
                <a:ea typeface="맑은 고딕" pitchFamily="50" charset="-127"/>
              </a:rPr>
              <a:t>.</a:t>
            </a:r>
          </a:p>
        </p:txBody>
      </p:sp>
      <p:sp>
        <p:nvSpPr>
          <p:cNvPr id="10260" name="AutoShape 49"/>
          <p:cNvSpPr>
            <a:spLocks noChangeArrowheads="1"/>
          </p:cNvSpPr>
          <p:nvPr/>
        </p:nvSpPr>
        <p:spPr bwMode="auto">
          <a:xfrm>
            <a:off x="2306638" y="5372100"/>
            <a:ext cx="1638300" cy="444500"/>
          </a:xfrm>
          <a:prstGeom prst="diamond">
            <a:avLst/>
          </a:prstGeom>
          <a:solidFill>
            <a:schemeClr val="bg1"/>
          </a:solidFill>
          <a:ln w="12700">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dirty="0" err="1">
                <a:latin typeface="arial" pitchFamily="34" charset="0"/>
                <a:ea typeface="맑은 고딕" pitchFamily="50" charset="-127"/>
              </a:rPr>
              <a:t>Làm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rõ</a:t>
            </a:r>
            <a:endParaRPr lang="ko-KR" altLang="en-US" sz="1200" dirty="0">
              <a:latin typeface="arial" pitchFamily="34" charset="0"/>
              <a:ea typeface="맑은 고딕" pitchFamily="50" charset="-127"/>
            </a:endParaRPr>
          </a:p>
        </p:txBody>
      </p:sp>
      <p:sp>
        <p:nvSpPr>
          <p:cNvPr id="10261" name="Line 51"/>
          <p:cNvSpPr>
            <a:spLocks noChangeShapeType="1"/>
          </p:cNvSpPr>
          <p:nvPr/>
        </p:nvSpPr>
        <p:spPr bwMode="auto">
          <a:xfrm flipH="1">
            <a:off x="3949700" y="5594350"/>
            <a:ext cx="1219200"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62" name="Rectangle 54"/>
          <p:cNvSpPr>
            <a:spLocks noChangeArrowheads="1"/>
          </p:cNvSpPr>
          <p:nvPr/>
        </p:nvSpPr>
        <p:spPr bwMode="auto">
          <a:xfrm>
            <a:off x="3223949" y="5784003"/>
            <a:ext cx="3540456"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200" dirty="0" err="1">
                <a:latin typeface="arial" pitchFamily="34" charset="0"/>
                <a:ea typeface="맑은 고딕" pitchFamily="50" charset="-127"/>
              </a:rPr>
              <a:t>Đánh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lực</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quá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khả</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năng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soát</a:t>
            </a:r>
            <a:endParaRPr lang="ko-KR" altLang="en-US" sz="1200" dirty="0">
              <a:latin typeface="arial" pitchFamily="34" charset="0"/>
              <a:ea typeface="맑은 고딕" pitchFamily="50" charset="-127"/>
            </a:endParaRPr>
          </a:p>
        </p:txBody>
      </p:sp>
      <p:sp>
        <p:nvSpPr>
          <p:cNvPr id="10263" name="Line 70"/>
          <p:cNvSpPr>
            <a:spLocks noChangeShapeType="1"/>
          </p:cNvSpPr>
          <p:nvPr/>
        </p:nvSpPr>
        <p:spPr bwMode="auto">
          <a:xfrm>
            <a:off x="5186363" y="5227638"/>
            <a:ext cx="0" cy="3524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10264" name="Rectangle 72"/>
          <p:cNvSpPr>
            <a:spLocks noChangeArrowheads="1"/>
          </p:cNvSpPr>
          <p:nvPr/>
        </p:nvSpPr>
        <p:spPr bwMode="auto">
          <a:xfrm>
            <a:off x="4462380" y="4940300"/>
            <a:ext cx="2290820" cy="277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200" b="1" dirty="0" err="1">
                <a:latin typeface="arial" pitchFamily="34" charset="0"/>
                <a:ea typeface="맑은 고딕" pitchFamily="50" charset="-127"/>
              </a:rPr>
              <a:t>Xây</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dựng</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biểu</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đồ</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kiểm</a:t>
            </a:r>
            <a:r>
              <a:rPr lang="en-US" altLang="ko-KR" sz="1200" b="1" dirty="0">
                <a:latin typeface="arial" pitchFamily="34" charset="0"/>
                <a:ea typeface="맑은 고딕" pitchFamily="50" charset="-127"/>
              </a:rPr>
              <a:t> </a:t>
            </a:r>
            <a:r>
              <a:rPr lang="en-US" altLang="ko-KR" sz="1200" b="1" dirty="0" err="1">
                <a:latin typeface="arial" pitchFamily="34" charset="0"/>
                <a:ea typeface="맑은 고딕" pitchFamily="50" charset="-127"/>
              </a:rPr>
              <a:t>soát</a:t>
            </a:r>
            <a:endParaRPr lang="ko-KR" altLang="en-US" sz="12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251</a:t>
            </a:fld>
            <a:endParaRPr lang="ko-KR" altLang="en-US" dirty="0"/>
          </a:p>
        </p:txBody>
      </p:sp>
      <p:sp>
        <p:nvSpPr>
          <p:cNvPr id="31" name="Text Box 7"/>
          <p:cNvSpPr txBox="1">
            <a:spLocks noChangeArrowheads="1"/>
          </p:cNvSpPr>
          <p:nvPr/>
        </p:nvSpPr>
        <p:spPr bwMode="auto">
          <a:xfrm>
            <a:off x="409575" y="1556792"/>
            <a:ext cx="5899871" cy="7571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20000"/>
              </a:lnSpc>
            </a:pPr>
            <a:r>
              <a:rPr kumimoji="0" lang="en-US" altLang="ko-KR" sz="1200" dirty="0" err="1">
                <a:solidFill>
                  <a:srgbClr val="000000"/>
                </a:solidFill>
                <a:latin typeface="arial" pitchFamily="34" charset="0"/>
                <a:ea typeface="맑은 고딕" pitchFamily="50" charset="-127"/>
              </a:rPr>
              <a:t>Một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biểu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đồ</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soát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là</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một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công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cụ</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quản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lý</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để</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tra</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xem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quá</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liệu</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có</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đang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vận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hành</a:t>
            </a:r>
            <a:r>
              <a:rPr kumimoji="0" lang="en-US" altLang="ko-KR" sz="1200" dirty="0">
                <a:solidFill>
                  <a:srgbClr val="000000"/>
                </a:solidFill>
                <a:latin typeface="arial" pitchFamily="34" charset="0"/>
                <a:ea typeface="맑은 고딕" pitchFamily="50" charset="-127"/>
              </a:rPr>
              <a:t> ở </a:t>
            </a:r>
            <a:r>
              <a:rPr kumimoji="0" lang="en-US" altLang="ko-KR" sz="1200" dirty="0" err="1">
                <a:solidFill>
                  <a:srgbClr val="000000"/>
                </a:solidFill>
                <a:latin typeface="arial" pitchFamily="34" charset="0"/>
                <a:ea typeface="맑은 고딕" pitchFamily="50" charset="-127"/>
              </a:rPr>
              <a:t>trạng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thái</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ổn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định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được</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kiểm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soát</a:t>
            </a:r>
            <a:r>
              <a:rPr kumimoji="0" lang="en-US" altLang="ko-KR" sz="1200" dirty="0">
                <a:solidFill>
                  <a:srgbClr val="000000"/>
                </a:solidFill>
                <a:latin typeface="arial" pitchFamily="34" charset="0"/>
                <a:ea typeface="맑은 고딕" pitchFamily="50" charset="-127"/>
              </a:rPr>
              <a:t>) hay </a:t>
            </a:r>
            <a:r>
              <a:rPr kumimoji="0" lang="en-US" altLang="ko-KR" sz="1200" dirty="0" err="1">
                <a:solidFill>
                  <a:srgbClr val="000000"/>
                </a:solidFill>
                <a:latin typeface="arial" pitchFamily="34" charset="0"/>
                <a:ea typeface="맑은 고딕" pitchFamily="50" charset="-127"/>
              </a:rPr>
              <a:t>không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nhằm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duy</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trì</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sự</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ổn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định</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trạng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thái</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mà</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chất</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lượng</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sản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phẩm</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có</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thể</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vẫn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còn</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phù</a:t>
            </a:r>
            <a:r>
              <a:rPr kumimoji="0" lang="en-US" altLang="ko-KR" sz="1200" dirty="0">
                <a:solidFill>
                  <a:srgbClr val="000000"/>
                </a:solidFill>
                <a:latin typeface="arial" pitchFamily="34" charset="0"/>
                <a:ea typeface="맑은 고딕" pitchFamily="50" charset="-127"/>
              </a:rPr>
              <a:t> </a:t>
            </a:r>
            <a:r>
              <a:rPr kumimoji="0" lang="en-US" altLang="ko-KR" sz="1200" dirty="0" err="1">
                <a:solidFill>
                  <a:srgbClr val="000000"/>
                </a:solidFill>
                <a:latin typeface="arial" pitchFamily="34" charset="0"/>
                <a:ea typeface="맑은 고딕" pitchFamily="50" charset="-127"/>
              </a:rPr>
              <a:t>hợp</a:t>
            </a:r>
            <a:r>
              <a:rPr kumimoji="0" lang="en-US" altLang="ko-KR" sz="1200" dirty="0">
                <a:solidFill>
                  <a:srgbClr val="000000"/>
                </a:solidFill>
                <a:latin typeface="arial" pitchFamily="34" charset="0"/>
                <a:ea typeface="맑은 고딕" pitchFamily="50" charset="-127"/>
              </a:rPr>
              <a:t>.</a:t>
            </a:r>
          </a:p>
        </p:txBody>
      </p:sp>
    </p:spTree>
    <p:extLst>
      <p:ext uri="{BB962C8B-B14F-4D97-AF65-F5344CB8AC3E}">
        <p14:creationId xmlns:p14="http://schemas.microsoft.com/office/powerpoint/2010/main" val="3196120783"/>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0"/>
          </p:nvPr>
        </p:nvSpPr>
        <p:spPr/>
        <p:txBody>
          <a:bodyPr/>
          <a:lstStyle/>
          <a:p>
            <a:pPr>
              <a:defRPr/>
            </a:pPr>
            <a:r>
              <a:rPr lang="en-US" altLang="ko-KR" dirty="0"/>
              <a:t>303</a:t>
            </a:r>
            <a:endParaRPr lang="ko-KR" altLang="en-US" dirty="0"/>
          </a:p>
        </p:txBody>
      </p:sp>
      <p:sp>
        <p:nvSpPr>
          <p:cNvPr id="44" name="Rectangle 3"/>
          <p:cNvSpPr>
            <a:spLocks noChangeArrowheads="1"/>
          </p:cNvSpPr>
          <p:nvPr/>
        </p:nvSpPr>
        <p:spPr bwMode="auto">
          <a:xfrm>
            <a:off x="596839" y="1512427"/>
            <a:ext cx="8712323" cy="1945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30000"/>
              </a:spcBef>
              <a:buFont typeface="Wingdings" pitchFamily="2" charset="2"/>
              <a:buChar char="§"/>
            </a:pPr>
            <a:r>
              <a:rPr lang="vi-VN" altLang="ko-KR" sz="1400" dirty="0">
                <a:latin typeface="arial" pitchFamily="34" charset="0"/>
                <a:ea typeface="맑은 고딕" pitchFamily="50" charset="-127"/>
              </a:rPr>
              <a:t>Khi quá trình này đang trong trạng</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thái</a:t>
            </a:r>
            <a:r>
              <a:rPr lang="vi-VN" altLang="ko-KR" sz="1400" dirty="0">
                <a:latin typeface="arial" pitchFamily="34" charset="0"/>
                <a:ea typeface="맑은 고딕" pitchFamily="50" charset="-127"/>
              </a:rPr>
              <a:t> ổn định,</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dòng</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kẻ</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ngang</a:t>
            </a:r>
            <a:r>
              <a:rPr lang="en-US" altLang="ko-KR" sz="1400" dirty="0">
                <a:latin typeface="arial" pitchFamily="34" charset="0"/>
                <a:ea typeface="맑은 고딕" pitchFamily="50" charset="-127"/>
              </a:rPr>
              <a:t> </a:t>
            </a:r>
            <a:r>
              <a:rPr lang="vi-VN" altLang="ko-KR" sz="1400" dirty="0">
                <a:latin typeface="arial" pitchFamily="34" charset="0"/>
                <a:ea typeface="맑은 고딕" pitchFamily="50" charset="-127"/>
              </a:rPr>
              <a:t>đại diện cho các giá trị trung bình được gọi là đường trung tâm.</a:t>
            </a:r>
            <a:endParaRPr lang="en-US" altLang="ko-KR" sz="1400" dirty="0">
              <a:latin typeface="arial" pitchFamily="34" charset="0"/>
              <a:ea typeface="맑은 고딕" pitchFamily="50" charset="-127"/>
            </a:endParaRPr>
          </a:p>
          <a:p>
            <a:pPr eaLnBrk="1" hangingPunct="1">
              <a:spcBef>
                <a:spcPct val="30000"/>
              </a:spcBef>
              <a:buFont typeface="Wingdings" pitchFamily="2" charset="2"/>
              <a:buChar char="§"/>
            </a:pP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Dòng</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phía</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trên</a:t>
            </a:r>
            <a:r>
              <a:rPr lang="vi-VN"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cách</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đườn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trung</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tâm</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một</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khoảng</a:t>
            </a:r>
            <a:r>
              <a:rPr lang="vi-VN" altLang="ko-KR" sz="1400" dirty="0">
                <a:latin typeface="arial" pitchFamily="34" charset="0"/>
                <a:ea typeface="맑은 고딕" pitchFamily="50" charset="-127"/>
              </a:rPr>
              <a:t> 3</a:t>
            </a:r>
            <a:r>
              <a:rPr lang="el-GR" altLang="ko-KR" sz="1400" dirty="0">
                <a:latin typeface="arial" pitchFamily="34" charset="0"/>
                <a:ea typeface="맑은 고딕" pitchFamily="50" charset="-127"/>
              </a:rPr>
              <a:t>σ </a:t>
            </a:r>
            <a:r>
              <a:rPr lang="vi-VN" altLang="ko-KR" sz="1400" dirty="0">
                <a:latin typeface="arial" pitchFamily="34" charset="0"/>
                <a:ea typeface="맑은 고딕" pitchFamily="50" charset="-127"/>
              </a:rPr>
              <a:t>được gọi là giới hạn kiểm soát trên và dòng thấp </a:t>
            </a:r>
            <a:r>
              <a:rPr lang="en-US" altLang="ko-KR" sz="1400" dirty="0">
                <a:latin typeface="arial" pitchFamily="34" charset="0"/>
                <a:ea typeface="맑은 고딕" pitchFamily="50" charset="-127"/>
              </a:rPr>
              <a:t>ở </a:t>
            </a:r>
            <a:r>
              <a:rPr lang="en-US" altLang="ko-KR" sz="1400" dirty="0" err="1">
                <a:latin typeface="arial" pitchFamily="34" charset="0"/>
                <a:ea typeface="맑은 고딕" pitchFamily="50" charset="-127"/>
              </a:rPr>
              <a:t>phía</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dưới</a:t>
            </a:r>
            <a:r>
              <a:rPr lang="el-GR" altLang="ko-KR" sz="1400" dirty="0">
                <a:latin typeface="arial" pitchFamily="34" charset="0"/>
                <a:ea typeface="맑은 고딕" pitchFamily="50" charset="-127"/>
              </a:rPr>
              <a:t> </a:t>
            </a:r>
            <a:r>
              <a:rPr lang="vi-VN" altLang="ko-KR" sz="1400" dirty="0">
                <a:latin typeface="arial" pitchFamily="34" charset="0"/>
                <a:ea typeface="맑은 고딕" pitchFamily="50" charset="-127"/>
              </a:rPr>
              <a:t>từ đường trung tâm được gọi là giới hạn kiểm soát </a:t>
            </a:r>
            <a:r>
              <a:rPr lang="en-US" altLang="ko-KR" sz="1400" dirty="0" err="1">
                <a:latin typeface="arial" pitchFamily="34" charset="0"/>
                <a:ea typeface="맑은 고딕" pitchFamily="50" charset="-127"/>
              </a:rPr>
              <a:t>dưới</a:t>
            </a:r>
            <a:r>
              <a:rPr lang="vi-VN" altLang="ko-KR" sz="1400" dirty="0">
                <a:latin typeface="arial" pitchFamily="34" charset="0"/>
                <a:ea typeface="맑은 고딕" pitchFamily="50" charset="-127"/>
              </a:rPr>
              <a:t>.</a:t>
            </a:r>
            <a:endParaRPr lang="en-US" altLang="ko-KR" sz="1400" dirty="0">
              <a:latin typeface="arial" pitchFamily="34" charset="0"/>
              <a:ea typeface="맑은 고딕" pitchFamily="50" charset="-127"/>
            </a:endParaRPr>
          </a:p>
          <a:p>
            <a:pPr eaLnBrk="1" hangingPunct="1">
              <a:spcBef>
                <a:spcPct val="30000"/>
              </a:spcBef>
              <a:buFont typeface="Wingdings" pitchFamily="2" charset="2"/>
              <a:buChar char="§"/>
            </a:pPr>
            <a:r>
              <a:rPr lang="en-US" altLang="ko-KR" sz="1400" dirty="0">
                <a:latin typeface="arial" pitchFamily="34" charset="0"/>
                <a:ea typeface="맑은 고딕" pitchFamily="50" charset="-127"/>
              </a:rPr>
              <a:t> </a:t>
            </a:r>
            <a:r>
              <a:rPr lang="vi-VN" altLang="ko-KR" sz="1400" dirty="0">
                <a:latin typeface="arial" pitchFamily="34" charset="0"/>
                <a:ea typeface="맑은 고딕" pitchFamily="50" charset="-127"/>
              </a:rPr>
              <a:t>Trong biểu đồ kiểm soát 3</a:t>
            </a:r>
            <a:r>
              <a:rPr lang="el-GR" altLang="ko-KR" sz="1400" dirty="0">
                <a:latin typeface="arial" pitchFamily="34" charset="0"/>
                <a:ea typeface="맑은 고딕" pitchFamily="50" charset="-127"/>
              </a:rPr>
              <a:t>σ, </a:t>
            </a:r>
            <a:r>
              <a:rPr lang="vi-VN" altLang="ko-KR" sz="1400" dirty="0">
                <a:latin typeface="arial" pitchFamily="34" charset="0"/>
                <a:ea typeface="맑은 고딕" pitchFamily="50" charset="-127"/>
              </a:rPr>
              <a:t>xác suất của một điểm dữ liệu nằm bên ngoài </a:t>
            </a:r>
            <a:r>
              <a:rPr lang="en-US" altLang="ko-KR" sz="1400" dirty="0" err="1">
                <a:latin typeface="arial" pitchFamily="34" charset="0"/>
                <a:ea typeface="맑은 고딕" pitchFamily="50" charset="-127"/>
              </a:rPr>
              <a:t>vùng</a:t>
            </a:r>
            <a:r>
              <a:rPr lang="en-US" altLang="ko-KR" sz="1400" dirty="0">
                <a:latin typeface="arial" pitchFamily="34" charset="0"/>
                <a:ea typeface="맑은 고딕" pitchFamily="50" charset="-127"/>
              </a:rPr>
              <a:t> </a:t>
            </a:r>
            <a:r>
              <a:rPr lang="vi-VN" altLang="ko-KR" sz="1400" dirty="0">
                <a:latin typeface="arial" pitchFamily="34" charset="0"/>
                <a:ea typeface="맑은 고딕" pitchFamily="50" charset="-127"/>
              </a:rPr>
              <a:t>giới hạn kiểm soát trên chỉ là 0,27%. Nói cách khác, nếu chỉ có nguyên nhân </a:t>
            </a:r>
            <a:r>
              <a:rPr lang="en-US" altLang="ko-KR" sz="1400" dirty="0" err="1">
                <a:latin typeface="arial" pitchFamily="34" charset="0"/>
                <a:ea typeface="맑은 고딕" pitchFamily="50" charset="-127"/>
              </a:rPr>
              <a:t>ngẫu</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nhiên</a:t>
            </a:r>
            <a:r>
              <a:rPr lang="vi-VN" altLang="ko-KR" sz="1400" dirty="0">
                <a:latin typeface="arial" pitchFamily="34" charset="0"/>
                <a:ea typeface="맑은 고딕" pitchFamily="50" charset="-127"/>
              </a:rPr>
              <a:t> tồn tại, các điểm dữ liệu </a:t>
            </a:r>
            <a:r>
              <a:rPr lang="en-US" altLang="ko-KR" sz="1400" dirty="0" err="1">
                <a:latin typeface="arial" pitchFamily="34" charset="0"/>
                <a:ea typeface="맑은 고딕" pitchFamily="50" charset="-127"/>
              </a:rPr>
              <a:t>sẽ</a:t>
            </a:r>
            <a:r>
              <a:rPr lang="en-US" altLang="ko-KR" sz="1400" dirty="0">
                <a:latin typeface="arial" pitchFamily="34" charset="0"/>
                <a:ea typeface="맑은 고딕" pitchFamily="50" charset="-127"/>
              </a:rPr>
              <a:t> </a:t>
            </a:r>
            <a:r>
              <a:rPr lang="vi-VN" altLang="ko-KR" sz="1400" dirty="0">
                <a:latin typeface="arial" pitchFamily="34" charset="0"/>
                <a:ea typeface="맑은 고딕" pitchFamily="50" charset="-127"/>
              </a:rPr>
              <a:t>nằm trong </a:t>
            </a:r>
            <a:r>
              <a:rPr lang="en-US" altLang="ko-KR" sz="1400" dirty="0" err="1">
                <a:latin typeface="arial" pitchFamily="34" charset="0"/>
                <a:ea typeface="맑은 고딕" pitchFamily="50" charset="-127"/>
              </a:rPr>
              <a:t>vùng</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giới</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hạn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kiểm</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soát</a:t>
            </a:r>
            <a:r>
              <a:rPr lang="vi-VN" altLang="ko-KR" sz="1400" dirty="0">
                <a:latin typeface="arial" pitchFamily="34" charset="0"/>
                <a:ea typeface="맑은 고딕" pitchFamily="50" charset="-127"/>
              </a:rPr>
              <a:t>, nhưng nếu có điểm dữ liệu được tìm thấy ngoài </a:t>
            </a:r>
            <a:r>
              <a:rPr lang="en-US" altLang="ko-KR" sz="1400" dirty="0" err="1">
                <a:latin typeface="arial" pitchFamily="34" charset="0"/>
                <a:ea typeface="맑은 고딕" pitchFamily="50" charset="-127"/>
              </a:rPr>
              <a:t>ngoài</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vùng</a:t>
            </a:r>
            <a:r>
              <a:rPr lang="vi-VN" altLang="ko-KR" sz="1400" dirty="0">
                <a:latin typeface="arial" pitchFamily="34" charset="0"/>
                <a:ea typeface="맑은 고딕" pitchFamily="50" charset="-127"/>
              </a:rPr>
              <a:t> giới hạn</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kiểm</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soát</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thì</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đó</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là</a:t>
            </a:r>
            <a:r>
              <a:rPr lang="vi-VN" altLang="ko-KR" sz="1400" dirty="0">
                <a:latin typeface="arial" pitchFamily="34" charset="0"/>
                <a:ea typeface="맑은 고딕" pitchFamily="50" charset="-127"/>
              </a:rPr>
              <a:t> do nguyên nhân </a:t>
            </a:r>
            <a:r>
              <a:rPr lang="en-US" altLang="ko-KR" sz="1400" dirty="0" err="1">
                <a:latin typeface="arial" pitchFamily="34" charset="0"/>
                <a:ea typeface="맑은 고딕" pitchFamily="50" charset="-127"/>
              </a:rPr>
              <a:t>không</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ngẫu</a:t>
            </a:r>
            <a:r>
              <a:rPr lang="en-US" altLang="ko-KR" sz="1400" dirty="0">
                <a:latin typeface="arial" pitchFamily="34" charset="0"/>
                <a:ea typeface="맑은 고딕" pitchFamily="50" charset="-127"/>
              </a:rPr>
              <a:t> </a:t>
            </a:r>
            <a:r>
              <a:rPr lang="en-US" altLang="ko-KR" sz="1400" dirty="0" err="1">
                <a:latin typeface="arial" pitchFamily="34" charset="0"/>
                <a:ea typeface="맑은 고딕" pitchFamily="50" charset="-127"/>
              </a:rPr>
              <a:t>nhiên</a:t>
            </a:r>
            <a:r>
              <a:rPr lang="vi-VN" altLang="ko-KR" sz="1400" dirty="0">
                <a:latin typeface="arial" pitchFamily="34" charset="0"/>
                <a:ea typeface="맑은 고딕" pitchFamily="50" charset="-127"/>
              </a:rPr>
              <a:t>.</a:t>
            </a:r>
            <a:endParaRPr lang="en-US" altLang="ko-KR" sz="1400" dirty="0">
              <a:latin typeface="arial" pitchFamily="34" charset="0"/>
              <a:ea typeface="맑은 고딕" pitchFamily="50" charset="-127"/>
            </a:endParaRPr>
          </a:p>
        </p:txBody>
      </p:sp>
      <p:sp>
        <p:nvSpPr>
          <p:cNvPr id="45" name="Rectangle 5"/>
          <p:cNvSpPr>
            <a:spLocks noChangeArrowheads="1"/>
          </p:cNvSpPr>
          <p:nvPr/>
        </p:nvSpPr>
        <p:spPr bwMode="auto">
          <a:xfrm>
            <a:off x="1260475" y="3572222"/>
            <a:ext cx="8013700" cy="2305050"/>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endParaRPr lang="ko-KR" altLang="ko-KR" sz="1400" b="1" dirty="0">
              <a:solidFill>
                <a:schemeClr val="bg1"/>
              </a:solidFill>
              <a:latin typeface="arial" pitchFamily="34" charset="0"/>
              <a:ea typeface="맑은 고딕" pitchFamily="50" charset="-127"/>
            </a:endParaRPr>
          </a:p>
        </p:txBody>
      </p:sp>
      <p:sp>
        <p:nvSpPr>
          <p:cNvPr id="46" name="Line 11"/>
          <p:cNvSpPr>
            <a:spLocks noChangeShapeType="1"/>
          </p:cNvSpPr>
          <p:nvPr/>
        </p:nvSpPr>
        <p:spPr bwMode="auto">
          <a:xfrm>
            <a:off x="2576513" y="3764309"/>
            <a:ext cx="0" cy="185102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47" name="Rectangle 22"/>
          <p:cNvSpPr>
            <a:spLocks noChangeArrowheads="1"/>
          </p:cNvSpPr>
          <p:nvPr/>
        </p:nvSpPr>
        <p:spPr bwMode="auto">
          <a:xfrm>
            <a:off x="3108325" y="3691284"/>
            <a:ext cx="5000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600" b="1" dirty="0">
                <a:latin typeface="arial" pitchFamily="34" charset="0"/>
                <a:ea typeface="맑은 고딕" pitchFamily="50" charset="-127"/>
                <a:cs typeface="가는으뜸체"/>
                <a:sym typeface="Wingdings 2" pitchFamily="18" charset="2"/>
              </a:rPr>
              <a:t>“a”</a:t>
            </a:r>
          </a:p>
        </p:txBody>
      </p:sp>
      <p:sp>
        <p:nvSpPr>
          <p:cNvPr id="48" name="Rectangle 23"/>
          <p:cNvSpPr>
            <a:spLocks noChangeArrowheads="1"/>
          </p:cNvSpPr>
          <p:nvPr/>
        </p:nvSpPr>
        <p:spPr bwMode="auto">
          <a:xfrm>
            <a:off x="2968625" y="5464522"/>
            <a:ext cx="5148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600" b="1" dirty="0">
                <a:latin typeface="arial" pitchFamily="34" charset="0"/>
                <a:ea typeface="맑은 고딕" pitchFamily="50" charset="-127"/>
                <a:cs typeface="가는으뜸체"/>
                <a:sym typeface="Wingdings 2" pitchFamily="18" charset="2"/>
              </a:rPr>
              <a:t>“b”</a:t>
            </a:r>
          </a:p>
        </p:txBody>
      </p:sp>
      <p:sp>
        <p:nvSpPr>
          <p:cNvPr id="49" name="Rectangle 27"/>
          <p:cNvSpPr>
            <a:spLocks noChangeArrowheads="1"/>
          </p:cNvSpPr>
          <p:nvPr/>
        </p:nvSpPr>
        <p:spPr bwMode="auto">
          <a:xfrm>
            <a:off x="7651750" y="3889722"/>
            <a:ext cx="5778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600" b="1" dirty="0">
                <a:latin typeface="arial" pitchFamily="34" charset="0"/>
                <a:ea typeface="맑은 고딕" pitchFamily="50" charset="-127"/>
                <a:cs typeface="가는으뜸체"/>
              </a:rPr>
              <a:t>+3σ</a:t>
            </a:r>
          </a:p>
        </p:txBody>
      </p:sp>
      <p:sp>
        <p:nvSpPr>
          <p:cNvPr id="50" name="Rectangle 28"/>
          <p:cNvSpPr>
            <a:spLocks noChangeArrowheads="1"/>
          </p:cNvSpPr>
          <p:nvPr/>
        </p:nvSpPr>
        <p:spPr bwMode="auto">
          <a:xfrm>
            <a:off x="7680325" y="5126384"/>
            <a:ext cx="5143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sz="1600" b="1" dirty="0">
                <a:latin typeface="arial" pitchFamily="34" charset="0"/>
                <a:ea typeface="맑은 고딕" pitchFamily="50" charset="-127"/>
                <a:cs typeface="가는으뜸체"/>
              </a:rPr>
              <a:t>-3σ</a:t>
            </a:r>
          </a:p>
        </p:txBody>
      </p:sp>
      <p:sp>
        <p:nvSpPr>
          <p:cNvPr id="51" name="Line 17"/>
          <p:cNvSpPr>
            <a:spLocks noChangeShapeType="1"/>
          </p:cNvSpPr>
          <p:nvPr/>
        </p:nvSpPr>
        <p:spPr bwMode="auto">
          <a:xfrm>
            <a:off x="2119313" y="4080222"/>
            <a:ext cx="6435725" cy="0"/>
          </a:xfrm>
          <a:prstGeom prst="line">
            <a:avLst/>
          </a:prstGeom>
          <a:noFill/>
          <a:ln w="28575">
            <a:solidFill>
              <a:srgbClr val="008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52" name="Line 18"/>
          <p:cNvSpPr>
            <a:spLocks noChangeShapeType="1"/>
          </p:cNvSpPr>
          <p:nvPr/>
        </p:nvSpPr>
        <p:spPr bwMode="auto">
          <a:xfrm>
            <a:off x="2119313" y="5299422"/>
            <a:ext cx="6435725" cy="0"/>
          </a:xfrm>
          <a:prstGeom prst="line">
            <a:avLst/>
          </a:prstGeom>
          <a:noFill/>
          <a:ln w="28575">
            <a:solidFill>
              <a:srgbClr val="008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54" name="Line 31"/>
          <p:cNvSpPr>
            <a:spLocks noChangeShapeType="1"/>
          </p:cNvSpPr>
          <p:nvPr/>
        </p:nvSpPr>
        <p:spPr bwMode="auto">
          <a:xfrm>
            <a:off x="2095500" y="4691409"/>
            <a:ext cx="6434138" cy="0"/>
          </a:xfrm>
          <a:prstGeom prst="line">
            <a:avLst/>
          </a:prstGeom>
          <a:noFill/>
          <a:ln w="28575">
            <a:solidFill>
              <a:schemeClr val="bg1">
                <a:lumMod val="75000"/>
              </a:schemeClr>
            </a:solidFill>
            <a:prstDash val="dashDot"/>
            <a:round/>
            <a:headEnd/>
            <a:tailEnd/>
          </a:ln>
          <a:extLst>
            <a:ext uri="{909E8E84-426E-40DD-AFC4-6F175D3DCCD1}">
              <a14:hiddenFill xmlns:a14="http://schemas.microsoft.com/office/drawing/2010/main">
                <a:noFill/>
              </a14:hiddenFill>
            </a:ext>
          </a:extLst>
        </p:spPr>
        <p:txBody>
          <a:bodyPr wrap="none" anchor="ctr"/>
          <a:lstStyle/>
          <a:p>
            <a:pPr>
              <a:defRPr/>
            </a:pPr>
            <a:endParaRPr lang="ko-KR" altLang="en-US" dirty="0">
              <a:latin typeface="arial" pitchFamily="34" charset="0"/>
              <a:ea typeface="맑은 고딕" panose="020B0503020000020004" pitchFamily="50" charset="-127"/>
            </a:endParaRPr>
          </a:p>
        </p:txBody>
      </p:sp>
      <p:sp>
        <p:nvSpPr>
          <p:cNvPr id="55" name="Text Box 17"/>
          <p:cNvSpPr txBox="1">
            <a:spLocks noChangeArrowheads="1"/>
          </p:cNvSpPr>
          <p:nvPr/>
        </p:nvSpPr>
        <p:spPr bwMode="auto">
          <a:xfrm>
            <a:off x="1568450" y="3918297"/>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UCL</a:t>
            </a:r>
          </a:p>
        </p:txBody>
      </p:sp>
      <p:sp>
        <p:nvSpPr>
          <p:cNvPr id="56" name="Text Box 18"/>
          <p:cNvSpPr txBox="1">
            <a:spLocks noChangeArrowheads="1"/>
          </p:cNvSpPr>
          <p:nvPr/>
        </p:nvSpPr>
        <p:spPr bwMode="auto">
          <a:xfrm>
            <a:off x="1581150" y="5121622"/>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LCL</a:t>
            </a:r>
          </a:p>
        </p:txBody>
      </p:sp>
      <p:sp>
        <p:nvSpPr>
          <p:cNvPr id="57" name="Text Box 19"/>
          <p:cNvSpPr txBox="1">
            <a:spLocks noChangeArrowheads="1"/>
          </p:cNvSpPr>
          <p:nvPr/>
        </p:nvSpPr>
        <p:spPr bwMode="auto">
          <a:xfrm>
            <a:off x="1651000" y="4545359"/>
            <a:ext cx="4571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CL</a:t>
            </a:r>
          </a:p>
        </p:txBody>
      </p:sp>
      <p:grpSp>
        <p:nvGrpSpPr>
          <p:cNvPr id="3" name="Group 23"/>
          <p:cNvGrpSpPr>
            <a:grpSpLocks/>
          </p:cNvGrpSpPr>
          <p:nvPr/>
        </p:nvGrpSpPr>
        <p:grpSpPr bwMode="auto">
          <a:xfrm rot="5400000">
            <a:off x="2328069" y="4138166"/>
            <a:ext cx="1612900" cy="1084262"/>
            <a:chOff x="826" y="1347"/>
            <a:chExt cx="2492" cy="1713"/>
          </a:xfrm>
        </p:grpSpPr>
        <p:sp>
          <p:nvSpPr>
            <p:cNvPr id="59" name="Freeform 24"/>
            <p:cNvSpPr>
              <a:spLocks/>
            </p:cNvSpPr>
            <p:nvPr/>
          </p:nvSpPr>
          <p:spPr bwMode="auto">
            <a:xfrm>
              <a:off x="826" y="1347"/>
              <a:ext cx="1249" cy="1713"/>
            </a:xfrm>
            <a:custGeom>
              <a:avLst/>
              <a:gdLst>
                <a:gd name="T0" fmla="*/ 0 w 1249"/>
                <a:gd name="T1" fmla="*/ 1712 h 1713"/>
                <a:gd name="T2" fmla="*/ 33 w 1249"/>
                <a:gd name="T3" fmla="*/ 1706 h 1713"/>
                <a:gd name="T4" fmla="*/ 89 w 1249"/>
                <a:gd name="T5" fmla="*/ 1695 h 1713"/>
                <a:gd name="T6" fmla="*/ 134 w 1249"/>
                <a:gd name="T7" fmla="*/ 1689 h 1713"/>
                <a:gd name="T8" fmla="*/ 184 w 1249"/>
                <a:gd name="T9" fmla="*/ 1678 h 1713"/>
                <a:gd name="T10" fmla="*/ 240 w 1249"/>
                <a:gd name="T11" fmla="*/ 1661 h 1713"/>
                <a:gd name="T12" fmla="*/ 285 w 1249"/>
                <a:gd name="T13" fmla="*/ 1650 h 1713"/>
                <a:gd name="T14" fmla="*/ 319 w 1249"/>
                <a:gd name="T15" fmla="*/ 1639 h 1713"/>
                <a:gd name="T16" fmla="*/ 363 w 1249"/>
                <a:gd name="T17" fmla="*/ 1622 h 1713"/>
                <a:gd name="T18" fmla="*/ 391 w 1249"/>
                <a:gd name="T19" fmla="*/ 1611 h 1713"/>
                <a:gd name="T20" fmla="*/ 425 w 1249"/>
                <a:gd name="T21" fmla="*/ 1594 h 1713"/>
                <a:gd name="T22" fmla="*/ 464 w 1249"/>
                <a:gd name="T23" fmla="*/ 1577 h 1713"/>
                <a:gd name="T24" fmla="*/ 492 w 1249"/>
                <a:gd name="T25" fmla="*/ 1560 h 1713"/>
                <a:gd name="T26" fmla="*/ 509 w 1249"/>
                <a:gd name="T27" fmla="*/ 1544 h 1713"/>
                <a:gd name="T28" fmla="*/ 531 w 1249"/>
                <a:gd name="T29" fmla="*/ 1527 h 1713"/>
                <a:gd name="T30" fmla="*/ 553 w 1249"/>
                <a:gd name="T31" fmla="*/ 1504 h 1713"/>
                <a:gd name="T32" fmla="*/ 570 w 1249"/>
                <a:gd name="T33" fmla="*/ 1482 h 1713"/>
                <a:gd name="T34" fmla="*/ 576 w 1249"/>
                <a:gd name="T35" fmla="*/ 1476 h 1713"/>
                <a:gd name="T36" fmla="*/ 587 w 1249"/>
                <a:gd name="T37" fmla="*/ 1460 h 1713"/>
                <a:gd name="T38" fmla="*/ 615 w 1249"/>
                <a:gd name="T39" fmla="*/ 1415 h 1713"/>
                <a:gd name="T40" fmla="*/ 637 w 1249"/>
                <a:gd name="T41" fmla="*/ 1370 h 1713"/>
                <a:gd name="T42" fmla="*/ 660 w 1249"/>
                <a:gd name="T43" fmla="*/ 1326 h 1713"/>
                <a:gd name="T44" fmla="*/ 682 w 1249"/>
                <a:gd name="T45" fmla="*/ 1275 h 1713"/>
                <a:gd name="T46" fmla="*/ 704 w 1249"/>
                <a:gd name="T47" fmla="*/ 1225 h 1713"/>
                <a:gd name="T48" fmla="*/ 727 w 1249"/>
                <a:gd name="T49" fmla="*/ 1169 h 1713"/>
                <a:gd name="T50" fmla="*/ 744 w 1249"/>
                <a:gd name="T51" fmla="*/ 1124 h 1713"/>
                <a:gd name="T52" fmla="*/ 755 w 1249"/>
                <a:gd name="T53" fmla="*/ 1091 h 1713"/>
                <a:gd name="T54" fmla="*/ 794 w 1249"/>
                <a:gd name="T55" fmla="*/ 979 h 1713"/>
                <a:gd name="T56" fmla="*/ 872 w 1249"/>
                <a:gd name="T57" fmla="*/ 744 h 1713"/>
                <a:gd name="T58" fmla="*/ 912 w 1249"/>
                <a:gd name="T59" fmla="*/ 626 h 1713"/>
                <a:gd name="T60" fmla="*/ 923 w 1249"/>
                <a:gd name="T61" fmla="*/ 592 h 1713"/>
                <a:gd name="T62" fmla="*/ 945 w 1249"/>
                <a:gd name="T63" fmla="*/ 536 h 1713"/>
                <a:gd name="T64" fmla="*/ 962 w 1249"/>
                <a:gd name="T65" fmla="*/ 486 h 1713"/>
                <a:gd name="T66" fmla="*/ 979 w 1249"/>
                <a:gd name="T67" fmla="*/ 436 h 1713"/>
                <a:gd name="T68" fmla="*/ 1001 w 1249"/>
                <a:gd name="T69" fmla="*/ 380 h 1713"/>
                <a:gd name="T70" fmla="*/ 1018 w 1249"/>
                <a:gd name="T71" fmla="*/ 335 h 1713"/>
                <a:gd name="T72" fmla="*/ 1035 w 1249"/>
                <a:gd name="T73" fmla="*/ 291 h 1713"/>
                <a:gd name="T74" fmla="*/ 1052 w 1249"/>
                <a:gd name="T75" fmla="*/ 251 h 1713"/>
                <a:gd name="T76" fmla="*/ 1057 w 1249"/>
                <a:gd name="T77" fmla="*/ 235 h 1713"/>
                <a:gd name="T78" fmla="*/ 1063 w 1249"/>
                <a:gd name="T79" fmla="*/ 218 h 1713"/>
                <a:gd name="T80" fmla="*/ 1080 w 1249"/>
                <a:gd name="T81" fmla="*/ 179 h 1713"/>
                <a:gd name="T82" fmla="*/ 1091 w 1249"/>
                <a:gd name="T83" fmla="*/ 151 h 1713"/>
                <a:gd name="T84" fmla="*/ 1102 w 1249"/>
                <a:gd name="T85" fmla="*/ 123 h 1713"/>
                <a:gd name="T86" fmla="*/ 1119 w 1249"/>
                <a:gd name="T87" fmla="*/ 95 h 1713"/>
                <a:gd name="T88" fmla="*/ 1130 w 1249"/>
                <a:gd name="T89" fmla="*/ 72 h 1713"/>
                <a:gd name="T90" fmla="*/ 1141 w 1249"/>
                <a:gd name="T91" fmla="*/ 55 h 1713"/>
                <a:gd name="T92" fmla="*/ 1152 w 1249"/>
                <a:gd name="T93" fmla="*/ 44 h 1713"/>
                <a:gd name="T94" fmla="*/ 1158 w 1249"/>
                <a:gd name="T95" fmla="*/ 39 h 1713"/>
                <a:gd name="T96" fmla="*/ 1169 w 1249"/>
                <a:gd name="T97" fmla="*/ 27 h 1713"/>
                <a:gd name="T98" fmla="*/ 1192 w 1249"/>
                <a:gd name="T99" fmla="*/ 16 h 1713"/>
                <a:gd name="T100" fmla="*/ 1214 w 1249"/>
                <a:gd name="T101" fmla="*/ 5 h 1713"/>
                <a:gd name="T102" fmla="*/ 1236 w 1249"/>
                <a:gd name="T103" fmla="*/ 0 h 1713"/>
                <a:gd name="T104" fmla="*/ 1248 w 1249"/>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9"/>
                <a:gd name="T160" fmla="*/ 0 h 1713"/>
                <a:gd name="T161" fmla="*/ 1249 w 124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9" h="1713">
                  <a:moveTo>
                    <a:pt x="0" y="1712"/>
                  </a:moveTo>
                  <a:lnTo>
                    <a:pt x="33" y="1706"/>
                  </a:lnTo>
                  <a:lnTo>
                    <a:pt x="89" y="1695"/>
                  </a:lnTo>
                  <a:lnTo>
                    <a:pt x="134" y="1689"/>
                  </a:lnTo>
                  <a:lnTo>
                    <a:pt x="184" y="1678"/>
                  </a:lnTo>
                  <a:lnTo>
                    <a:pt x="240" y="1661"/>
                  </a:lnTo>
                  <a:lnTo>
                    <a:pt x="285" y="1650"/>
                  </a:lnTo>
                  <a:lnTo>
                    <a:pt x="319" y="1639"/>
                  </a:lnTo>
                  <a:lnTo>
                    <a:pt x="363" y="1622"/>
                  </a:lnTo>
                  <a:lnTo>
                    <a:pt x="391" y="1611"/>
                  </a:lnTo>
                  <a:lnTo>
                    <a:pt x="425" y="1594"/>
                  </a:lnTo>
                  <a:lnTo>
                    <a:pt x="464" y="1577"/>
                  </a:lnTo>
                  <a:lnTo>
                    <a:pt x="492" y="1560"/>
                  </a:lnTo>
                  <a:lnTo>
                    <a:pt x="509" y="1544"/>
                  </a:lnTo>
                  <a:lnTo>
                    <a:pt x="531" y="1527"/>
                  </a:lnTo>
                  <a:lnTo>
                    <a:pt x="553" y="1504"/>
                  </a:lnTo>
                  <a:lnTo>
                    <a:pt x="570" y="1482"/>
                  </a:lnTo>
                  <a:lnTo>
                    <a:pt x="576" y="1476"/>
                  </a:lnTo>
                  <a:lnTo>
                    <a:pt x="587" y="1460"/>
                  </a:lnTo>
                  <a:lnTo>
                    <a:pt x="615" y="1415"/>
                  </a:lnTo>
                  <a:lnTo>
                    <a:pt x="637" y="1370"/>
                  </a:lnTo>
                  <a:lnTo>
                    <a:pt x="660" y="1326"/>
                  </a:lnTo>
                  <a:lnTo>
                    <a:pt x="682" y="1275"/>
                  </a:lnTo>
                  <a:lnTo>
                    <a:pt x="704" y="1225"/>
                  </a:lnTo>
                  <a:lnTo>
                    <a:pt x="727" y="1169"/>
                  </a:lnTo>
                  <a:lnTo>
                    <a:pt x="744" y="1124"/>
                  </a:lnTo>
                  <a:lnTo>
                    <a:pt x="755" y="1091"/>
                  </a:lnTo>
                  <a:lnTo>
                    <a:pt x="794" y="979"/>
                  </a:lnTo>
                  <a:lnTo>
                    <a:pt x="872" y="744"/>
                  </a:lnTo>
                  <a:lnTo>
                    <a:pt x="912" y="626"/>
                  </a:lnTo>
                  <a:lnTo>
                    <a:pt x="923" y="592"/>
                  </a:lnTo>
                  <a:lnTo>
                    <a:pt x="945" y="536"/>
                  </a:lnTo>
                  <a:lnTo>
                    <a:pt x="962" y="486"/>
                  </a:lnTo>
                  <a:lnTo>
                    <a:pt x="979" y="436"/>
                  </a:lnTo>
                  <a:lnTo>
                    <a:pt x="1001" y="380"/>
                  </a:lnTo>
                  <a:lnTo>
                    <a:pt x="1018" y="335"/>
                  </a:lnTo>
                  <a:lnTo>
                    <a:pt x="1035" y="291"/>
                  </a:lnTo>
                  <a:lnTo>
                    <a:pt x="1052" y="251"/>
                  </a:lnTo>
                  <a:lnTo>
                    <a:pt x="1057" y="235"/>
                  </a:lnTo>
                  <a:lnTo>
                    <a:pt x="1063" y="218"/>
                  </a:lnTo>
                  <a:lnTo>
                    <a:pt x="1080" y="179"/>
                  </a:lnTo>
                  <a:lnTo>
                    <a:pt x="1091" y="151"/>
                  </a:lnTo>
                  <a:lnTo>
                    <a:pt x="1102" y="123"/>
                  </a:lnTo>
                  <a:lnTo>
                    <a:pt x="1119" y="95"/>
                  </a:lnTo>
                  <a:lnTo>
                    <a:pt x="1130" y="72"/>
                  </a:lnTo>
                  <a:lnTo>
                    <a:pt x="1141" y="55"/>
                  </a:lnTo>
                  <a:lnTo>
                    <a:pt x="1152" y="44"/>
                  </a:lnTo>
                  <a:lnTo>
                    <a:pt x="1158" y="39"/>
                  </a:lnTo>
                  <a:lnTo>
                    <a:pt x="1169" y="27"/>
                  </a:lnTo>
                  <a:lnTo>
                    <a:pt x="1192" y="16"/>
                  </a:lnTo>
                  <a:lnTo>
                    <a:pt x="1214" y="5"/>
                  </a:lnTo>
                  <a:lnTo>
                    <a:pt x="1236" y="0"/>
                  </a:lnTo>
                  <a:lnTo>
                    <a:pt x="1248"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60" name="Freeform 25"/>
            <p:cNvSpPr>
              <a:spLocks/>
            </p:cNvSpPr>
            <p:nvPr/>
          </p:nvSpPr>
          <p:spPr bwMode="auto">
            <a:xfrm>
              <a:off x="2074" y="1347"/>
              <a:ext cx="1244" cy="1713"/>
            </a:xfrm>
            <a:custGeom>
              <a:avLst/>
              <a:gdLst>
                <a:gd name="T0" fmla="*/ 1243 w 1244"/>
                <a:gd name="T1" fmla="*/ 1712 h 1713"/>
                <a:gd name="T2" fmla="*/ 1209 w 1244"/>
                <a:gd name="T3" fmla="*/ 1706 h 1713"/>
                <a:gd name="T4" fmla="*/ 1153 w 1244"/>
                <a:gd name="T5" fmla="*/ 1695 h 1713"/>
                <a:gd name="T6" fmla="*/ 1108 w 1244"/>
                <a:gd name="T7" fmla="*/ 1689 h 1713"/>
                <a:gd name="T8" fmla="*/ 1058 w 1244"/>
                <a:gd name="T9" fmla="*/ 1678 h 1713"/>
                <a:gd name="T10" fmla="*/ 1002 w 1244"/>
                <a:gd name="T11" fmla="*/ 1661 h 1713"/>
                <a:gd name="T12" fmla="*/ 957 w 1244"/>
                <a:gd name="T13" fmla="*/ 1650 h 1713"/>
                <a:gd name="T14" fmla="*/ 923 w 1244"/>
                <a:gd name="T15" fmla="*/ 1639 h 1713"/>
                <a:gd name="T16" fmla="*/ 878 w 1244"/>
                <a:gd name="T17" fmla="*/ 1622 h 1713"/>
                <a:gd name="T18" fmla="*/ 850 w 1244"/>
                <a:gd name="T19" fmla="*/ 1611 h 1713"/>
                <a:gd name="T20" fmla="*/ 817 w 1244"/>
                <a:gd name="T21" fmla="*/ 1594 h 1713"/>
                <a:gd name="T22" fmla="*/ 778 w 1244"/>
                <a:gd name="T23" fmla="*/ 1577 h 1713"/>
                <a:gd name="T24" fmla="*/ 750 w 1244"/>
                <a:gd name="T25" fmla="*/ 1560 h 1713"/>
                <a:gd name="T26" fmla="*/ 733 w 1244"/>
                <a:gd name="T27" fmla="*/ 1544 h 1713"/>
                <a:gd name="T28" fmla="*/ 711 w 1244"/>
                <a:gd name="T29" fmla="*/ 1527 h 1713"/>
                <a:gd name="T30" fmla="*/ 689 w 1244"/>
                <a:gd name="T31" fmla="*/ 1504 h 1713"/>
                <a:gd name="T32" fmla="*/ 672 w 1244"/>
                <a:gd name="T33" fmla="*/ 1482 h 1713"/>
                <a:gd name="T34" fmla="*/ 666 w 1244"/>
                <a:gd name="T35" fmla="*/ 1476 h 1713"/>
                <a:gd name="T36" fmla="*/ 655 w 1244"/>
                <a:gd name="T37" fmla="*/ 1460 h 1713"/>
                <a:gd name="T38" fmla="*/ 627 w 1244"/>
                <a:gd name="T39" fmla="*/ 1415 h 1713"/>
                <a:gd name="T40" fmla="*/ 605 w 1244"/>
                <a:gd name="T41" fmla="*/ 1370 h 1713"/>
                <a:gd name="T42" fmla="*/ 582 w 1244"/>
                <a:gd name="T43" fmla="*/ 1331 h 1713"/>
                <a:gd name="T44" fmla="*/ 560 w 1244"/>
                <a:gd name="T45" fmla="*/ 1281 h 1713"/>
                <a:gd name="T46" fmla="*/ 537 w 1244"/>
                <a:gd name="T47" fmla="*/ 1231 h 1713"/>
                <a:gd name="T48" fmla="*/ 515 w 1244"/>
                <a:gd name="T49" fmla="*/ 1175 h 1713"/>
                <a:gd name="T50" fmla="*/ 492 w 1244"/>
                <a:gd name="T51" fmla="*/ 1124 h 1713"/>
                <a:gd name="T52" fmla="*/ 481 w 1244"/>
                <a:gd name="T53" fmla="*/ 1091 h 1713"/>
                <a:gd name="T54" fmla="*/ 442 w 1244"/>
                <a:gd name="T55" fmla="*/ 979 h 1713"/>
                <a:gd name="T56" fmla="*/ 364 w 1244"/>
                <a:gd name="T57" fmla="*/ 744 h 1713"/>
                <a:gd name="T58" fmla="*/ 324 w 1244"/>
                <a:gd name="T59" fmla="*/ 626 h 1713"/>
                <a:gd name="T60" fmla="*/ 313 w 1244"/>
                <a:gd name="T61" fmla="*/ 592 h 1713"/>
                <a:gd name="T62" fmla="*/ 296 w 1244"/>
                <a:gd name="T63" fmla="*/ 542 h 1713"/>
                <a:gd name="T64" fmla="*/ 280 w 1244"/>
                <a:gd name="T65" fmla="*/ 486 h 1713"/>
                <a:gd name="T66" fmla="*/ 257 w 1244"/>
                <a:gd name="T67" fmla="*/ 430 h 1713"/>
                <a:gd name="T68" fmla="*/ 240 w 1244"/>
                <a:gd name="T69" fmla="*/ 380 h 1713"/>
                <a:gd name="T70" fmla="*/ 224 w 1244"/>
                <a:gd name="T71" fmla="*/ 335 h 1713"/>
                <a:gd name="T72" fmla="*/ 207 w 1244"/>
                <a:gd name="T73" fmla="*/ 291 h 1713"/>
                <a:gd name="T74" fmla="*/ 190 w 1244"/>
                <a:gd name="T75" fmla="*/ 251 h 1713"/>
                <a:gd name="T76" fmla="*/ 184 w 1244"/>
                <a:gd name="T77" fmla="*/ 235 h 1713"/>
                <a:gd name="T78" fmla="*/ 179 w 1244"/>
                <a:gd name="T79" fmla="*/ 218 h 1713"/>
                <a:gd name="T80" fmla="*/ 162 w 1244"/>
                <a:gd name="T81" fmla="*/ 184 h 1713"/>
                <a:gd name="T82" fmla="*/ 145 w 1244"/>
                <a:gd name="T83" fmla="*/ 151 h 1713"/>
                <a:gd name="T84" fmla="*/ 128 w 1244"/>
                <a:gd name="T85" fmla="*/ 117 h 1713"/>
                <a:gd name="T86" fmla="*/ 117 w 1244"/>
                <a:gd name="T87" fmla="*/ 95 h 1713"/>
                <a:gd name="T88" fmla="*/ 106 w 1244"/>
                <a:gd name="T89" fmla="*/ 78 h 1713"/>
                <a:gd name="T90" fmla="*/ 95 w 1244"/>
                <a:gd name="T91" fmla="*/ 61 h 1713"/>
                <a:gd name="T92" fmla="*/ 84 w 1244"/>
                <a:gd name="T93" fmla="*/ 44 h 1713"/>
                <a:gd name="T94" fmla="*/ 78 w 1244"/>
                <a:gd name="T95" fmla="*/ 39 h 1713"/>
                <a:gd name="T96" fmla="*/ 67 w 1244"/>
                <a:gd name="T97" fmla="*/ 27 h 1713"/>
                <a:gd name="T98" fmla="*/ 50 w 1244"/>
                <a:gd name="T99" fmla="*/ 16 h 1713"/>
                <a:gd name="T100" fmla="*/ 33 w 1244"/>
                <a:gd name="T101" fmla="*/ 5 h 1713"/>
                <a:gd name="T102" fmla="*/ 11 w 1244"/>
                <a:gd name="T103" fmla="*/ 0 h 1713"/>
                <a:gd name="T104" fmla="*/ 0 w 1244"/>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4"/>
                <a:gd name="T160" fmla="*/ 0 h 1713"/>
                <a:gd name="T161" fmla="*/ 1244 w 1244"/>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4" h="1713">
                  <a:moveTo>
                    <a:pt x="1243" y="1712"/>
                  </a:moveTo>
                  <a:lnTo>
                    <a:pt x="1209" y="1706"/>
                  </a:lnTo>
                  <a:lnTo>
                    <a:pt x="1153" y="1695"/>
                  </a:lnTo>
                  <a:lnTo>
                    <a:pt x="1108" y="1689"/>
                  </a:lnTo>
                  <a:lnTo>
                    <a:pt x="1058" y="1678"/>
                  </a:lnTo>
                  <a:lnTo>
                    <a:pt x="1002" y="1661"/>
                  </a:lnTo>
                  <a:lnTo>
                    <a:pt x="957" y="1650"/>
                  </a:lnTo>
                  <a:lnTo>
                    <a:pt x="923" y="1639"/>
                  </a:lnTo>
                  <a:lnTo>
                    <a:pt x="878" y="1622"/>
                  </a:lnTo>
                  <a:lnTo>
                    <a:pt x="850" y="1611"/>
                  </a:lnTo>
                  <a:lnTo>
                    <a:pt x="817" y="1594"/>
                  </a:lnTo>
                  <a:lnTo>
                    <a:pt x="778" y="1577"/>
                  </a:lnTo>
                  <a:lnTo>
                    <a:pt x="750" y="1560"/>
                  </a:lnTo>
                  <a:lnTo>
                    <a:pt x="733" y="1544"/>
                  </a:lnTo>
                  <a:lnTo>
                    <a:pt x="711" y="1527"/>
                  </a:lnTo>
                  <a:lnTo>
                    <a:pt x="689" y="1504"/>
                  </a:lnTo>
                  <a:lnTo>
                    <a:pt x="672" y="1482"/>
                  </a:lnTo>
                  <a:lnTo>
                    <a:pt x="666" y="1476"/>
                  </a:lnTo>
                  <a:lnTo>
                    <a:pt x="655" y="1460"/>
                  </a:lnTo>
                  <a:lnTo>
                    <a:pt x="627" y="1415"/>
                  </a:lnTo>
                  <a:lnTo>
                    <a:pt x="605" y="1370"/>
                  </a:lnTo>
                  <a:lnTo>
                    <a:pt x="582" y="1331"/>
                  </a:lnTo>
                  <a:lnTo>
                    <a:pt x="560" y="1281"/>
                  </a:lnTo>
                  <a:lnTo>
                    <a:pt x="537" y="1231"/>
                  </a:lnTo>
                  <a:lnTo>
                    <a:pt x="515" y="1175"/>
                  </a:lnTo>
                  <a:lnTo>
                    <a:pt x="492" y="1124"/>
                  </a:lnTo>
                  <a:lnTo>
                    <a:pt x="481" y="1091"/>
                  </a:lnTo>
                  <a:lnTo>
                    <a:pt x="442" y="979"/>
                  </a:lnTo>
                  <a:lnTo>
                    <a:pt x="364" y="744"/>
                  </a:lnTo>
                  <a:lnTo>
                    <a:pt x="324" y="626"/>
                  </a:lnTo>
                  <a:lnTo>
                    <a:pt x="313" y="592"/>
                  </a:lnTo>
                  <a:lnTo>
                    <a:pt x="296" y="542"/>
                  </a:lnTo>
                  <a:lnTo>
                    <a:pt x="280" y="486"/>
                  </a:lnTo>
                  <a:lnTo>
                    <a:pt x="257" y="430"/>
                  </a:lnTo>
                  <a:lnTo>
                    <a:pt x="240" y="380"/>
                  </a:lnTo>
                  <a:lnTo>
                    <a:pt x="224" y="335"/>
                  </a:lnTo>
                  <a:lnTo>
                    <a:pt x="207" y="291"/>
                  </a:lnTo>
                  <a:lnTo>
                    <a:pt x="190" y="251"/>
                  </a:lnTo>
                  <a:lnTo>
                    <a:pt x="184" y="235"/>
                  </a:lnTo>
                  <a:lnTo>
                    <a:pt x="179" y="218"/>
                  </a:lnTo>
                  <a:lnTo>
                    <a:pt x="162" y="184"/>
                  </a:lnTo>
                  <a:lnTo>
                    <a:pt x="145" y="151"/>
                  </a:lnTo>
                  <a:lnTo>
                    <a:pt x="128" y="117"/>
                  </a:lnTo>
                  <a:lnTo>
                    <a:pt x="117" y="95"/>
                  </a:lnTo>
                  <a:lnTo>
                    <a:pt x="106" y="78"/>
                  </a:lnTo>
                  <a:lnTo>
                    <a:pt x="95" y="61"/>
                  </a:lnTo>
                  <a:lnTo>
                    <a:pt x="84" y="44"/>
                  </a:lnTo>
                  <a:lnTo>
                    <a:pt x="78" y="39"/>
                  </a:lnTo>
                  <a:lnTo>
                    <a:pt x="67" y="27"/>
                  </a:lnTo>
                  <a:lnTo>
                    <a:pt x="50" y="16"/>
                  </a:lnTo>
                  <a:lnTo>
                    <a:pt x="33" y="5"/>
                  </a:lnTo>
                  <a:lnTo>
                    <a:pt x="11" y="0"/>
                  </a:lnTo>
                  <a:lnTo>
                    <a:pt x="0"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ko-KR" altLang="en-US"/>
            </a:p>
          </p:txBody>
        </p:sp>
      </p:grpSp>
      <p:sp>
        <p:nvSpPr>
          <p:cNvPr id="61" name="Freeform 26"/>
          <p:cNvSpPr>
            <a:spLocks/>
          </p:cNvSpPr>
          <p:nvPr/>
        </p:nvSpPr>
        <p:spPr bwMode="auto">
          <a:xfrm>
            <a:off x="2576513" y="3864322"/>
            <a:ext cx="69850" cy="215900"/>
          </a:xfrm>
          <a:custGeom>
            <a:avLst/>
            <a:gdLst>
              <a:gd name="T0" fmla="*/ 0 w 45"/>
              <a:gd name="T1" fmla="*/ 0 h 136"/>
              <a:gd name="T2" fmla="*/ 0 w 45"/>
              <a:gd name="T3" fmla="*/ 2147483647 h 136"/>
              <a:gd name="T4" fmla="*/ 2147483647 w 45"/>
              <a:gd name="T5" fmla="*/ 2147483647 h 136"/>
              <a:gd name="T6" fmla="*/ 0 w 45"/>
              <a:gd name="T7" fmla="*/ 0 h 136"/>
              <a:gd name="T8" fmla="*/ 0 60000 65536"/>
              <a:gd name="T9" fmla="*/ 0 60000 65536"/>
              <a:gd name="T10" fmla="*/ 0 60000 65536"/>
              <a:gd name="T11" fmla="*/ 0 60000 65536"/>
              <a:gd name="T12" fmla="*/ 0 w 45"/>
              <a:gd name="T13" fmla="*/ 0 h 136"/>
              <a:gd name="T14" fmla="*/ 45 w 45"/>
              <a:gd name="T15" fmla="*/ 136 h 136"/>
            </a:gdLst>
            <a:ahLst/>
            <a:cxnLst>
              <a:cxn ang="T8">
                <a:pos x="T0" y="T1"/>
              </a:cxn>
              <a:cxn ang="T9">
                <a:pos x="T2" y="T3"/>
              </a:cxn>
              <a:cxn ang="T10">
                <a:pos x="T4" y="T5"/>
              </a:cxn>
              <a:cxn ang="T11">
                <a:pos x="T6" y="T7"/>
              </a:cxn>
            </a:cxnLst>
            <a:rect l="T12" t="T13" r="T14" b="T15"/>
            <a:pathLst>
              <a:path w="45" h="136">
                <a:moveTo>
                  <a:pt x="0" y="0"/>
                </a:moveTo>
                <a:lnTo>
                  <a:pt x="0" y="136"/>
                </a:lnTo>
                <a:lnTo>
                  <a:pt x="45" y="136"/>
                </a:lnTo>
                <a:lnTo>
                  <a:pt x="0" y="0"/>
                </a:lnTo>
                <a:close/>
              </a:path>
            </a:pathLst>
          </a:custGeom>
          <a:solidFill>
            <a:srgbClr val="CC0000"/>
          </a:solidFill>
          <a:ln w="9525" cap="flat" cmpd="sng">
            <a:solidFill>
              <a:srgbClr val="CC0000"/>
            </a:solidFill>
            <a:prstDash val="solid"/>
            <a:round/>
            <a:headEnd/>
            <a:tailEnd/>
          </a:ln>
        </p:spPr>
        <p:txBody>
          <a:bodyPr wrap="none" anchor="ctr"/>
          <a:lstStyle/>
          <a:p>
            <a:endParaRPr lang="ko-KR" altLang="en-US"/>
          </a:p>
        </p:txBody>
      </p:sp>
      <p:sp>
        <p:nvSpPr>
          <p:cNvPr id="62" name="Line 20"/>
          <p:cNvSpPr>
            <a:spLocks noChangeShapeType="1"/>
          </p:cNvSpPr>
          <p:nvPr/>
        </p:nvSpPr>
        <p:spPr bwMode="auto">
          <a:xfrm flipV="1">
            <a:off x="2617788" y="3845272"/>
            <a:ext cx="541337" cy="166687"/>
          </a:xfrm>
          <a:prstGeom prst="line">
            <a:avLst/>
          </a:prstGeom>
          <a:noFill/>
          <a:ln w="9525">
            <a:solidFill>
              <a:schemeClr val="tx1"/>
            </a:solidFill>
            <a:round/>
            <a:headEnd type="oval" w="med" len="med"/>
            <a:tailEnd type="stealth" w="med" len="me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63" name="Freeform 28"/>
          <p:cNvSpPr>
            <a:spLocks/>
          </p:cNvSpPr>
          <p:nvPr/>
        </p:nvSpPr>
        <p:spPr bwMode="auto">
          <a:xfrm flipV="1">
            <a:off x="2576513" y="5289897"/>
            <a:ext cx="69850" cy="215900"/>
          </a:xfrm>
          <a:custGeom>
            <a:avLst/>
            <a:gdLst>
              <a:gd name="T0" fmla="*/ 0 w 45"/>
              <a:gd name="T1" fmla="*/ 0 h 136"/>
              <a:gd name="T2" fmla="*/ 0 w 45"/>
              <a:gd name="T3" fmla="*/ 2147483647 h 136"/>
              <a:gd name="T4" fmla="*/ 2147483647 w 45"/>
              <a:gd name="T5" fmla="*/ 2147483647 h 136"/>
              <a:gd name="T6" fmla="*/ 0 w 45"/>
              <a:gd name="T7" fmla="*/ 0 h 136"/>
              <a:gd name="T8" fmla="*/ 0 60000 65536"/>
              <a:gd name="T9" fmla="*/ 0 60000 65536"/>
              <a:gd name="T10" fmla="*/ 0 60000 65536"/>
              <a:gd name="T11" fmla="*/ 0 60000 65536"/>
              <a:gd name="T12" fmla="*/ 0 w 45"/>
              <a:gd name="T13" fmla="*/ 0 h 136"/>
              <a:gd name="T14" fmla="*/ 45 w 45"/>
              <a:gd name="T15" fmla="*/ 136 h 136"/>
            </a:gdLst>
            <a:ahLst/>
            <a:cxnLst>
              <a:cxn ang="T8">
                <a:pos x="T0" y="T1"/>
              </a:cxn>
              <a:cxn ang="T9">
                <a:pos x="T2" y="T3"/>
              </a:cxn>
              <a:cxn ang="T10">
                <a:pos x="T4" y="T5"/>
              </a:cxn>
              <a:cxn ang="T11">
                <a:pos x="T6" y="T7"/>
              </a:cxn>
            </a:cxnLst>
            <a:rect l="T12" t="T13" r="T14" b="T15"/>
            <a:pathLst>
              <a:path w="45" h="136">
                <a:moveTo>
                  <a:pt x="0" y="0"/>
                </a:moveTo>
                <a:lnTo>
                  <a:pt x="0" y="136"/>
                </a:lnTo>
                <a:lnTo>
                  <a:pt x="45" y="136"/>
                </a:lnTo>
                <a:lnTo>
                  <a:pt x="0" y="0"/>
                </a:lnTo>
                <a:close/>
              </a:path>
            </a:pathLst>
          </a:custGeom>
          <a:solidFill>
            <a:srgbClr val="CC0000"/>
          </a:solidFill>
          <a:ln w="9525" cap="flat" cmpd="sng">
            <a:solidFill>
              <a:srgbClr val="CC0000"/>
            </a:solidFill>
            <a:prstDash val="solid"/>
            <a:round/>
            <a:headEnd/>
            <a:tailEnd/>
          </a:ln>
        </p:spPr>
        <p:txBody>
          <a:bodyPr wrap="none" anchor="ctr"/>
          <a:lstStyle/>
          <a:p>
            <a:endParaRPr lang="ko-KR" altLang="en-US"/>
          </a:p>
        </p:txBody>
      </p:sp>
      <p:sp>
        <p:nvSpPr>
          <p:cNvPr id="64" name="Line 21"/>
          <p:cNvSpPr>
            <a:spLocks noChangeShapeType="1"/>
          </p:cNvSpPr>
          <p:nvPr/>
        </p:nvSpPr>
        <p:spPr bwMode="auto">
          <a:xfrm>
            <a:off x="2609850" y="5386734"/>
            <a:ext cx="455613" cy="228600"/>
          </a:xfrm>
          <a:prstGeom prst="line">
            <a:avLst/>
          </a:prstGeom>
          <a:noFill/>
          <a:ln w="9525">
            <a:solidFill>
              <a:schemeClr val="tx1"/>
            </a:solidFill>
            <a:round/>
            <a:headEnd type="oval" w="med" len="med"/>
            <a:tailEnd type="stealth" w="med" len="med"/>
          </a:ln>
          <a:extLst>
            <a:ext uri="{909E8E84-426E-40DD-AFC4-6F175D3DCCD1}">
              <a14:hiddenFill xmlns:a14="http://schemas.microsoft.com/office/drawing/2010/main">
                <a:noFill/>
              </a14:hiddenFill>
            </a:ext>
          </a:extLst>
        </p:spPr>
        <p:txBody>
          <a:bodyPr wrap="none" anchor="ctr"/>
          <a:lstStyle/>
          <a:p>
            <a:endParaRPr lang="ko-KR" altLang="en-US"/>
          </a:p>
        </p:txBody>
      </p:sp>
      <p:sp>
        <p:nvSpPr>
          <p:cNvPr id="65" name="Text Box 33"/>
          <p:cNvSpPr txBox="1">
            <a:spLocks noChangeArrowheads="1"/>
          </p:cNvSpPr>
          <p:nvPr/>
        </p:nvSpPr>
        <p:spPr bwMode="auto">
          <a:xfrm>
            <a:off x="5661025" y="3740497"/>
            <a:ext cx="336303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err="1">
                <a:solidFill>
                  <a:srgbClr val="CC0000"/>
                </a:solidFill>
                <a:latin typeface="arial" pitchFamily="34" charset="0"/>
                <a:ea typeface="맑은 고딕" pitchFamily="50" charset="-127"/>
              </a:rPr>
              <a:t>Nguyên</a:t>
            </a:r>
            <a:r>
              <a:rPr lang="en-US" altLang="ko-KR" sz="1600" b="1" dirty="0">
                <a:solidFill>
                  <a:srgbClr val="CC0000"/>
                </a:solidFill>
                <a:latin typeface="arial" pitchFamily="34" charset="0"/>
                <a:ea typeface="맑은 고딕" pitchFamily="50" charset="-127"/>
              </a:rPr>
              <a:t> </a:t>
            </a:r>
            <a:r>
              <a:rPr lang="en-US" altLang="ko-KR" sz="1600" b="1" dirty="0" err="1">
                <a:solidFill>
                  <a:srgbClr val="CC0000"/>
                </a:solidFill>
                <a:latin typeface="arial" pitchFamily="34" charset="0"/>
                <a:ea typeface="맑은 고딕" pitchFamily="50" charset="-127"/>
              </a:rPr>
              <a:t>nhân</a:t>
            </a:r>
            <a:r>
              <a:rPr lang="en-US" altLang="ko-KR" sz="1600" b="1" dirty="0">
                <a:solidFill>
                  <a:srgbClr val="CC0000"/>
                </a:solidFill>
                <a:latin typeface="arial" pitchFamily="34" charset="0"/>
                <a:ea typeface="맑은 고딕" pitchFamily="50" charset="-127"/>
              </a:rPr>
              <a:t> </a:t>
            </a:r>
            <a:r>
              <a:rPr lang="en-US" altLang="ko-KR" sz="1600" b="1" dirty="0" err="1">
                <a:solidFill>
                  <a:srgbClr val="CC0000"/>
                </a:solidFill>
                <a:latin typeface="arial" pitchFamily="34" charset="0"/>
                <a:ea typeface="맑은 고딕" pitchFamily="50" charset="-127"/>
              </a:rPr>
              <a:t>không</a:t>
            </a:r>
            <a:r>
              <a:rPr lang="en-US" altLang="ko-KR" sz="1600" b="1" dirty="0">
                <a:solidFill>
                  <a:srgbClr val="CC0000"/>
                </a:solidFill>
                <a:latin typeface="arial" pitchFamily="34" charset="0"/>
                <a:ea typeface="맑은 고딕" pitchFamily="50" charset="-127"/>
              </a:rPr>
              <a:t> </a:t>
            </a:r>
            <a:r>
              <a:rPr lang="en-US" altLang="ko-KR" sz="1600" b="1" dirty="0" err="1">
                <a:solidFill>
                  <a:srgbClr val="CC0000"/>
                </a:solidFill>
                <a:latin typeface="arial" pitchFamily="34" charset="0"/>
                <a:ea typeface="맑은 고딕" pitchFamily="50" charset="-127"/>
              </a:rPr>
              <a:t>ngẫy</a:t>
            </a:r>
            <a:r>
              <a:rPr lang="en-US" altLang="ko-KR" sz="1600" b="1" dirty="0">
                <a:solidFill>
                  <a:srgbClr val="CC0000"/>
                </a:solidFill>
                <a:latin typeface="arial" pitchFamily="34" charset="0"/>
                <a:ea typeface="맑은 고딕" pitchFamily="50" charset="-127"/>
              </a:rPr>
              <a:t> </a:t>
            </a:r>
            <a:r>
              <a:rPr lang="en-US" altLang="ko-KR" sz="1600" b="1" dirty="0" err="1">
                <a:solidFill>
                  <a:srgbClr val="CC0000"/>
                </a:solidFill>
                <a:latin typeface="arial" pitchFamily="34" charset="0"/>
                <a:ea typeface="맑은 고딕" pitchFamily="50" charset="-127"/>
              </a:rPr>
              <a:t>nhiên</a:t>
            </a:r>
            <a:endParaRPr lang="ko-KR" altLang="en-US" sz="1600" b="1" dirty="0">
              <a:solidFill>
                <a:srgbClr val="CC0000"/>
              </a:solidFill>
              <a:latin typeface="arial" pitchFamily="34" charset="0"/>
              <a:ea typeface="맑은 고딕" pitchFamily="50" charset="-127"/>
            </a:endParaRPr>
          </a:p>
        </p:txBody>
      </p:sp>
      <p:sp>
        <p:nvSpPr>
          <p:cNvPr id="66" name="Text Box 34"/>
          <p:cNvSpPr txBox="1">
            <a:spLocks noChangeArrowheads="1"/>
          </p:cNvSpPr>
          <p:nvPr/>
        </p:nvSpPr>
        <p:spPr bwMode="auto">
          <a:xfrm>
            <a:off x="5661025" y="4519959"/>
            <a:ext cx="268656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err="1">
                <a:solidFill>
                  <a:srgbClr val="008000"/>
                </a:solidFill>
                <a:latin typeface="arial" pitchFamily="34" charset="0"/>
                <a:ea typeface="맑은 고딕" pitchFamily="50" charset="-127"/>
              </a:rPr>
              <a:t>Nguyên</a:t>
            </a:r>
            <a:r>
              <a:rPr lang="en-US" altLang="ko-KR" sz="1600" b="1" dirty="0">
                <a:solidFill>
                  <a:srgbClr val="008000"/>
                </a:solidFill>
                <a:latin typeface="arial" pitchFamily="34" charset="0"/>
                <a:ea typeface="맑은 고딕" pitchFamily="50" charset="-127"/>
              </a:rPr>
              <a:t> </a:t>
            </a:r>
            <a:r>
              <a:rPr lang="en-US" altLang="ko-KR" sz="1600" b="1" dirty="0" err="1">
                <a:solidFill>
                  <a:srgbClr val="008000"/>
                </a:solidFill>
                <a:latin typeface="arial" pitchFamily="34" charset="0"/>
                <a:ea typeface="맑은 고딕" pitchFamily="50" charset="-127"/>
              </a:rPr>
              <a:t>nhân</a:t>
            </a:r>
            <a:r>
              <a:rPr lang="en-US" altLang="ko-KR" sz="1600" b="1" dirty="0">
                <a:solidFill>
                  <a:srgbClr val="008000"/>
                </a:solidFill>
                <a:latin typeface="arial" pitchFamily="34" charset="0"/>
                <a:ea typeface="맑은 고딕" pitchFamily="50" charset="-127"/>
              </a:rPr>
              <a:t> </a:t>
            </a:r>
            <a:r>
              <a:rPr lang="en-US" altLang="ko-KR" sz="1600" b="1" dirty="0" err="1">
                <a:solidFill>
                  <a:srgbClr val="008000"/>
                </a:solidFill>
                <a:latin typeface="arial" pitchFamily="34" charset="0"/>
                <a:ea typeface="맑은 고딕" pitchFamily="50" charset="-127"/>
              </a:rPr>
              <a:t>ngẫu</a:t>
            </a:r>
            <a:r>
              <a:rPr lang="en-US" altLang="ko-KR" sz="1600" b="1" dirty="0">
                <a:solidFill>
                  <a:srgbClr val="008000"/>
                </a:solidFill>
                <a:latin typeface="arial" pitchFamily="34" charset="0"/>
                <a:ea typeface="맑은 고딕" pitchFamily="50" charset="-127"/>
              </a:rPr>
              <a:t> </a:t>
            </a:r>
            <a:r>
              <a:rPr lang="en-US" altLang="ko-KR" sz="1600" b="1" dirty="0" err="1">
                <a:solidFill>
                  <a:srgbClr val="008000"/>
                </a:solidFill>
                <a:latin typeface="arial" pitchFamily="34" charset="0"/>
                <a:ea typeface="맑은 고딕" pitchFamily="50" charset="-127"/>
              </a:rPr>
              <a:t>nhiên</a:t>
            </a:r>
            <a:endParaRPr lang="ko-KR" altLang="en-US" sz="1600" b="1" dirty="0">
              <a:solidFill>
                <a:srgbClr val="008000"/>
              </a:solidFill>
              <a:latin typeface="arial" pitchFamily="34" charset="0"/>
              <a:ea typeface="맑은 고딕" pitchFamily="50" charset="-127"/>
            </a:endParaRPr>
          </a:p>
        </p:txBody>
      </p:sp>
      <p:sp>
        <p:nvSpPr>
          <p:cNvPr id="67" name="Text Box 35"/>
          <p:cNvSpPr txBox="1">
            <a:spLocks noChangeArrowheads="1"/>
          </p:cNvSpPr>
          <p:nvPr/>
        </p:nvSpPr>
        <p:spPr bwMode="auto">
          <a:xfrm>
            <a:off x="5661025" y="5302597"/>
            <a:ext cx="336303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err="1">
                <a:solidFill>
                  <a:srgbClr val="CC0000"/>
                </a:solidFill>
                <a:latin typeface="arial" pitchFamily="34" charset="0"/>
                <a:ea typeface="맑은 고딕" pitchFamily="50" charset="-127"/>
              </a:rPr>
              <a:t>Nguyên</a:t>
            </a:r>
            <a:r>
              <a:rPr lang="en-US" altLang="ko-KR" sz="1600" b="1" dirty="0">
                <a:solidFill>
                  <a:srgbClr val="CC0000"/>
                </a:solidFill>
                <a:latin typeface="arial" pitchFamily="34" charset="0"/>
                <a:ea typeface="맑은 고딕" pitchFamily="50" charset="-127"/>
              </a:rPr>
              <a:t> </a:t>
            </a:r>
            <a:r>
              <a:rPr lang="en-US" altLang="ko-KR" sz="1600" b="1" dirty="0" err="1">
                <a:solidFill>
                  <a:srgbClr val="CC0000"/>
                </a:solidFill>
                <a:latin typeface="arial" pitchFamily="34" charset="0"/>
                <a:ea typeface="맑은 고딕" pitchFamily="50" charset="-127"/>
              </a:rPr>
              <a:t>nhân</a:t>
            </a:r>
            <a:r>
              <a:rPr lang="en-US" altLang="ko-KR" sz="1600" b="1" dirty="0">
                <a:solidFill>
                  <a:srgbClr val="CC0000"/>
                </a:solidFill>
                <a:latin typeface="arial" pitchFamily="34" charset="0"/>
                <a:ea typeface="맑은 고딕" pitchFamily="50" charset="-127"/>
              </a:rPr>
              <a:t> </a:t>
            </a:r>
            <a:r>
              <a:rPr lang="en-US" altLang="ko-KR" sz="1600" b="1" dirty="0" err="1">
                <a:solidFill>
                  <a:srgbClr val="CC0000"/>
                </a:solidFill>
                <a:latin typeface="arial" pitchFamily="34" charset="0"/>
                <a:ea typeface="맑은 고딕" pitchFamily="50" charset="-127"/>
              </a:rPr>
              <a:t>không</a:t>
            </a:r>
            <a:r>
              <a:rPr lang="en-US" altLang="ko-KR" sz="1600" b="1" dirty="0">
                <a:solidFill>
                  <a:srgbClr val="CC0000"/>
                </a:solidFill>
                <a:latin typeface="arial" pitchFamily="34" charset="0"/>
                <a:ea typeface="맑은 고딕" pitchFamily="50" charset="-127"/>
              </a:rPr>
              <a:t> </a:t>
            </a:r>
            <a:r>
              <a:rPr lang="en-US" altLang="ko-KR" sz="1600" b="1" dirty="0" err="1">
                <a:solidFill>
                  <a:srgbClr val="CC0000"/>
                </a:solidFill>
                <a:latin typeface="arial" pitchFamily="34" charset="0"/>
                <a:ea typeface="맑은 고딕" pitchFamily="50" charset="-127"/>
              </a:rPr>
              <a:t>ngẫy</a:t>
            </a:r>
            <a:r>
              <a:rPr lang="en-US" altLang="ko-KR" sz="1600" b="1" dirty="0">
                <a:solidFill>
                  <a:srgbClr val="CC0000"/>
                </a:solidFill>
                <a:latin typeface="arial" pitchFamily="34" charset="0"/>
                <a:ea typeface="맑은 고딕" pitchFamily="50" charset="-127"/>
              </a:rPr>
              <a:t> </a:t>
            </a:r>
            <a:r>
              <a:rPr lang="en-US" altLang="ko-KR" sz="1600" b="1" dirty="0" err="1">
                <a:solidFill>
                  <a:srgbClr val="CC0000"/>
                </a:solidFill>
                <a:latin typeface="arial" pitchFamily="34" charset="0"/>
                <a:ea typeface="맑은 고딕" pitchFamily="50" charset="-127"/>
              </a:rPr>
              <a:t>nhiên</a:t>
            </a:r>
            <a:endParaRPr lang="ko-KR" altLang="en-US" sz="1600" b="1" dirty="0">
              <a:solidFill>
                <a:srgbClr val="CC0000"/>
              </a:solidFill>
              <a:latin typeface="arial" pitchFamily="34" charset="0"/>
              <a:ea typeface="맑은 고딕" pitchFamily="50" charset="-127"/>
            </a:endParaRPr>
          </a:p>
        </p:txBody>
      </p:sp>
      <p:sp>
        <p:nvSpPr>
          <p:cNvPr id="68" name="Rectangle 36"/>
          <p:cNvSpPr>
            <a:spLocks noChangeArrowheads="1"/>
          </p:cNvSpPr>
          <p:nvPr/>
        </p:nvSpPr>
        <p:spPr bwMode="auto">
          <a:xfrm>
            <a:off x="849313" y="1052513"/>
            <a:ext cx="2672526" cy="380873"/>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b="1" dirty="0" err="1">
                <a:solidFill>
                  <a:srgbClr val="000000"/>
                </a:solidFill>
                <a:latin typeface="arial" pitchFamily="34" charset="0"/>
                <a:ea typeface="맑은 고딕" panose="020B0503020000020004" pitchFamily="50" charset="-127"/>
              </a:rPr>
              <a:t>Giới</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hạn</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kiểm</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soát</a:t>
            </a:r>
            <a:r>
              <a:rPr kumimoji="0" lang="en-US" altLang="ko-KR" b="1" dirty="0">
                <a:solidFill>
                  <a:srgbClr val="000000"/>
                </a:solidFill>
                <a:latin typeface="arial" pitchFamily="34" charset="0"/>
                <a:ea typeface="맑은 고딕" panose="020B0503020000020004" pitchFamily="50" charset="-127"/>
              </a:rPr>
              <a:t> 3σ</a:t>
            </a:r>
            <a:endParaRPr kumimoji="0" lang="ko-KR" altLang="en-US" b="1" dirty="0">
              <a:solidFill>
                <a:srgbClr val="000000"/>
              </a:solidFill>
              <a:latin typeface="arial" pitchFamily="34" charset="0"/>
              <a:ea typeface="맑은 고딕" panose="020B0503020000020004" pitchFamily="50" charset="-127"/>
            </a:endParaRPr>
          </a:p>
        </p:txBody>
      </p:sp>
      <p:sp>
        <p:nvSpPr>
          <p:cNvPr id="69" name="Text Box 40"/>
          <p:cNvSpPr txBox="1">
            <a:spLocks noChangeArrowheads="1"/>
          </p:cNvSpPr>
          <p:nvPr/>
        </p:nvSpPr>
        <p:spPr bwMode="auto">
          <a:xfrm>
            <a:off x="6499225" y="5229572"/>
            <a:ext cx="27146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dirty="0">
                <a:latin typeface="arial" pitchFamily="34" charset="0"/>
                <a:ea typeface="맑은 고딕" pitchFamily="50" charset="-127"/>
              </a:rPr>
              <a:t>*</a:t>
            </a:r>
          </a:p>
        </p:txBody>
      </p:sp>
      <p:sp>
        <p:nvSpPr>
          <p:cNvPr id="70" name="Text Box 41"/>
          <p:cNvSpPr txBox="1">
            <a:spLocks noChangeArrowheads="1"/>
          </p:cNvSpPr>
          <p:nvPr/>
        </p:nvSpPr>
        <p:spPr bwMode="auto">
          <a:xfrm>
            <a:off x="6499225" y="4394547"/>
            <a:ext cx="27146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dirty="0">
                <a:latin typeface="arial" pitchFamily="34" charset="0"/>
                <a:ea typeface="맑은 고딕" pitchFamily="50" charset="-127"/>
              </a:rPr>
              <a:t>*</a:t>
            </a:r>
          </a:p>
        </p:txBody>
      </p:sp>
      <p:sp>
        <p:nvSpPr>
          <p:cNvPr id="71" name="Text Box 8"/>
          <p:cNvSpPr txBox="1">
            <a:spLocks noChangeArrowheads="1"/>
          </p:cNvSpPr>
          <p:nvPr/>
        </p:nvSpPr>
        <p:spPr bwMode="auto">
          <a:xfrm>
            <a:off x="581025" y="6095037"/>
            <a:ext cx="491102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ko-KR" altLang="en-US" sz="1200" dirty="0">
                <a:latin typeface="arial" pitchFamily="34" charset="0"/>
                <a:ea typeface="맑은 고딕" pitchFamily="50" charset="-127"/>
              </a:rPr>
              <a:t>▶ </a:t>
            </a:r>
            <a:r>
              <a:rPr lang="en-US" altLang="ko-KR" sz="1200" dirty="0">
                <a:latin typeface="arial" pitchFamily="34" charset="0"/>
                <a:ea typeface="맑은 고딕" pitchFamily="50" charset="-127"/>
              </a:rPr>
              <a:t>CL (Center Line) : </a:t>
            </a:r>
            <a:r>
              <a:rPr lang="en-US" altLang="ko-KR" sz="1200" dirty="0" err="1">
                <a:latin typeface="arial" pitchFamily="34" charset="0"/>
                <a:ea typeface="맑은 고딕" pitchFamily="50" charset="-127"/>
              </a:rPr>
              <a:t>Đường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trung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tâm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Giá</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trị</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trung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bình</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tổng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thể</a:t>
            </a:r>
            <a:r>
              <a:rPr lang="en-US" altLang="ko-KR" sz="1200" dirty="0">
                <a:latin typeface="arial" pitchFamily="34" charset="0"/>
                <a:ea typeface="맑은 고딕" pitchFamily="50" charset="-127"/>
              </a:rPr>
              <a:t> (X)</a:t>
            </a:r>
          </a:p>
          <a:p>
            <a:pPr eaLnBrk="1" latinLnBrk="0" hangingPunct="1"/>
            <a:r>
              <a:rPr lang="en-US" altLang="ko-KR" sz="1200" dirty="0">
                <a:latin typeface="arial" pitchFamily="34" charset="0"/>
                <a:ea typeface="맑은 고딕" pitchFamily="50" charset="-127"/>
              </a:rPr>
              <a:t>▶ UCL (Upper Control Limit) : </a:t>
            </a:r>
            <a:r>
              <a:rPr lang="en-US" altLang="ko-KR" sz="1200" dirty="0" err="1">
                <a:latin typeface="arial" pitchFamily="34" charset="0"/>
                <a:ea typeface="맑은 고딕" pitchFamily="50" charset="-127"/>
              </a:rPr>
              <a:t>Giới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soát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trên</a:t>
            </a:r>
            <a:r>
              <a:rPr lang="ko-KR" altLang="en-US" sz="1200" dirty="0">
                <a:latin typeface="arial" pitchFamily="34" charset="0"/>
                <a:ea typeface="맑은 고딕" pitchFamily="50" charset="-127"/>
              </a:rPr>
              <a:t> </a:t>
            </a:r>
            <a:r>
              <a:rPr lang="en-US" altLang="ko-KR" sz="1200" dirty="0">
                <a:latin typeface="arial" pitchFamily="34" charset="0"/>
                <a:ea typeface="맑은 고딕" pitchFamily="50" charset="-127"/>
              </a:rPr>
              <a:t>(X + 3σ)</a:t>
            </a:r>
          </a:p>
          <a:p>
            <a:pPr eaLnBrk="1" latinLnBrk="0" hangingPunct="1"/>
            <a:r>
              <a:rPr lang="en-US" altLang="ko-KR" sz="1200" dirty="0">
                <a:latin typeface="arial" pitchFamily="34" charset="0"/>
                <a:ea typeface="맑은 고딕" pitchFamily="50" charset="-127"/>
              </a:rPr>
              <a:t>▶ LCL (Lower Control Limit) :</a:t>
            </a:r>
            <a:r>
              <a:rPr lang="ko-KR" altLang="en-US" sz="1200" dirty="0">
                <a:latin typeface="arial" pitchFamily="34" charset="0"/>
                <a:ea typeface="맑은 고딕" pitchFamily="50" charset="-127"/>
              </a:rPr>
              <a:t> </a:t>
            </a:r>
            <a:r>
              <a:rPr lang="en-US" altLang="ko-KR" sz="1200" dirty="0" err="1">
                <a:latin typeface="arial" pitchFamily="34" charset="0"/>
                <a:ea typeface="맑은 고딕" pitchFamily="50" charset="-127"/>
              </a:rPr>
              <a:t>Giới</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hạn</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kiểm</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soát</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dưới</a:t>
            </a:r>
            <a:r>
              <a:rPr lang="en-US" altLang="ko-KR" sz="1200" dirty="0">
                <a:latin typeface="arial" pitchFamily="34" charset="0"/>
                <a:ea typeface="맑은 고딕" pitchFamily="50" charset="-127"/>
              </a:rPr>
              <a:t> (X - 3σ)</a:t>
            </a:r>
          </a:p>
        </p:txBody>
      </p:sp>
      <p:cxnSp>
        <p:nvCxnSpPr>
          <p:cNvPr id="72" name="직선 연결선 71"/>
          <p:cNvCxnSpPr/>
          <p:nvPr/>
        </p:nvCxnSpPr>
        <p:spPr>
          <a:xfrm>
            <a:off x="560388" y="6041062"/>
            <a:ext cx="29718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직선 연결선 72"/>
          <p:cNvCxnSpPr/>
          <p:nvPr/>
        </p:nvCxnSpPr>
        <p:spPr>
          <a:xfrm>
            <a:off x="3959870" y="6139487"/>
            <a:ext cx="1206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직선 연결선 73"/>
          <p:cNvCxnSpPr/>
          <p:nvPr/>
        </p:nvCxnSpPr>
        <p:spPr>
          <a:xfrm>
            <a:off x="3959870" y="6163299"/>
            <a:ext cx="1190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직선 연결선 74"/>
          <p:cNvCxnSpPr/>
          <p:nvPr/>
        </p:nvCxnSpPr>
        <p:spPr>
          <a:xfrm>
            <a:off x="4304928" y="6318874"/>
            <a:ext cx="1206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직선 연결선 75"/>
          <p:cNvCxnSpPr/>
          <p:nvPr/>
        </p:nvCxnSpPr>
        <p:spPr>
          <a:xfrm>
            <a:off x="4304928" y="6341099"/>
            <a:ext cx="1190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직선 연결선 76"/>
          <p:cNvCxnSpPr/>
          <p:nvPr/>
        </p:nvCxnSpPr>
        <p:spPr>
          <a:xfrm>
            <a:off x="4234508" y="6499849"/>
            <a:ext cx="1190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a:off x="4232920" y="6523662"/>
            <a:ext cx="1206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Text Box 8"/>
          <p:cNvSpPr txBox="1">
            <a:spLocks noChangeArrowheads="1"/>
          </p:cNvSpPr>
          <p:nvPr/>
        </p:nvSpPr>
        <p:spPr bwMode="auto">
          <a:xfrm>
            <a:off x="8345488" y="5909299"/>
            <a:ext cx="10567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r>
              <a:rPr lang="en-US" altLang="ko-KR" sz="1200" dirty="0" err="1">
                <a:latin typeface="arial" pitchFamily="34" charset="0"/>
                <a:ea typeface="맑은 고딕" pitchFamily="50" charset="-127"/>
              </a:rPr>
              <a:t>cf</a:t>
            </a:r>
            <a:r>
              <a:rPr lang="en-US" altLang="ko-KR" sz="1200" dirty="0">
                <a:latin typeface="arial" pitchFamily="34" charset="0"/>
                <a:ea typeface="맑은 고딕" pitchFamily="50" charset="-127"/>
              </a:rPr>
              <a:t>) USL, LSL</a:t>
            </a:r>
          </a:p>
        </p:txBody>
      </p:sp>
      <p:sp>
        <p:nvSpPr>
          <p:cNvPr id="39"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2.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Định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nghĩa</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87368209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500" fill="hold"/>
                                        <p:tgtEl>
                                          <p:spTgt spid="71"/>
                                        </p:tgtEl>
                                        <p:attrNameLst>
                                          <p:attrName>ppt_x</p:attrName>
                                        </p:attrNameLst>
                                      </p:cBhvr>
                                      <p:tavLst>
                                        <p:tav tm="0">
                                          <p:val>
                                            <p:strVal val="#ppt_x"/>
                                          </p:val>
                                        </p:tav>
                                        <p:tav tm="100000">
                                          <p:val>
                                            <p:strVal val="#ppt_x"/>
                                          </p:val>
                                        </p:tav>
                                      </p:tavLst>
                                    </p:anim>
                                    <p:anim calcmode="lin" valueType="num">
                                      <p:cBhvr additive="base">
                                        <p:cTn id="8"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9"/>
                                        </p:tgtEl>
                                        <p:attrNameLst>
                                          <p:attrName>style.visibility</p:attrName>
                                        </p:attrNameLst>
                                      </p:cBhvr>
                                      <p:to>
                                        <p:strVal val="visible"/>
                                      </p:to>
                                    </p:set>
                                    <p:anim calcmode="lin" valueType="num">
                                      <p:cBhvr additive="base">
                                        <p:cTn id="13" dur="500" fill="hold"/>
                                        <p:tgtEl>
                                          <p:spTgt spid="79"/>
                                        </p:tgtEl>
                                        <p:attrNameLst>
                                          <p:attrName>ppt_x</p:attrName>
                                        </p:attrNameLst>
                                      </p:cBhvr>
                                      <p:tavLst>
                                        <p:tav tm="0">
                                          <p:val>
                                            <p:strVal val="#ppt_x"/>
                                          </p:val>
                                        </p:tav>
                                        <p:tav tm="100000">
                                          <p:val>
                                            <p:strVal val="#ppt_x"/>
                                          </p:val>
                                        </p:tav>
                                      </p:tavLst>
                                    </p:anim>
                                    <p:anim calcmode="lin" valueType="num">
                                      <p:cBhvr additive="base">
                                        <p:cTn id="14"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utoUpdateAnimBg="0"/>
      <p:bldP spid="79" grpId="0" autoUpdateAnimBg="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ext Box 7"/>
          <p:cNvSpPr txBox="1">
            <a:spLocks noChangeArrowheads="1"/>
          </p:cNvSpPr>
          <p:nvPr/>
        </p:nvSpPr>
        <p:spPr bwMode="auto">
          <a:xfrm>
            <a:off x="631825" y="1179721"/>
            <a:ext cx="2205091" cy="380873"/>
          </a:xfrm>
          <a:prstGeom prst="rect">
            <a:avLst/>
          </a:prstGeom>
          <a:solidFill>
            <a:schemeClr val="bg1">
              <a:lumMod val="85000"/>
            </a:schemeClr>
          </a:solid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a:defRPr/>
            </a:pPr>
            <a:r>
              <a:rPr lang="en-US" altLang="ko-KR" dirty="0" err="1">
                <a:latin typeface="arial" pitchFamily="34" charset="0"/>
              </a:rPr>
              <a:t>Dùng</a:t>
            </a:r>
            <a:r>
              <a:rPr lang="en-US" altLang="ko-KR" dirty="0">
                <a:latin typeface="arial" pitchFamily="34" charset="0"/>
              </a:rPr>
              <a:t> </a:t>
            </a:r>
            <a:r>
              <a:rPr lang="en-US" altLang="ko-KR" dirty="0" err="1">
                <a:latin typeface="arial" pitchFamily="34" charset="0"/>
              </a:rPr>
              <a:t>để</a:t>
            </a:r>
            <a:r>
              <a:rPr lang="en-US" altLang="ko-KR" dirty="0">
                <a:latin typeface="arial" pitchFamily="34" charset="0"/>
              </a:rPr>
              <a:t> </a:t>
            </a:r>
            <a:r>
              <a:rPr lang="en-US" altLang="ko-KR" dirty="0" err="1">
                <a:latin typeface="arial" pitchFamily="34" charset="0"/>
              </a:rPr>
              <a:t>diễn</a:t>
            </a:r>
            <a:r>
              <a:rPr lang="en-US" altLang="ko-KR" dirty="0">
                <a:latin typeface="arial" pitchFamily="34" charset="0"/>
              </a:rPr>
              <a:t> </a:t>
            </a:r>
            <a:r>
              <a:rPr lang="en-US" altLang="ko-KR" dirty="0" err="1">
                <a:latin typeface="arial" pitchFamily="34" charset="0"/>
              </a:rPr>
              <a:t>giải</a:t>
            </a:r>
            <a:endParaRPr lang="ko-KR" altLang="en-US" dirty="0">
              <a:latin typeface="arial" pitchFamily="34" charset="0"/>
            </a:endParaRPr>
          </a:p>
        </p:txBody>
      </p:sp>
      <p:sp>
        <p:nvSpPr>
          <p:cNvPr id="12291" name="Text Box 7"/>
          <p:cNvSpPr txBox="1">
            <a:spLocks noChangeArrowheads="1"/>
          </p:cNvSpPr>
          <p:nvPr/>
        </p:nvSpPr>
        <p:spPr bwMode="auto">
          <a:xfrm>
            <a:off x="631825" y="4161008"/>
            <a:ext cx="2068836" cy="380873"/>
          </a:xfrm>
          <a:prstGeom prst="rect">
            <a:avLst/>
          </a:prstGeom>
          <a:solidFill>
            <a:schemeClr val="bg1">
              <a:lumMod val="85000"/>
            </a:schemeClr>
          </a:solid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a:defRPr/>
            </a:pPr>
            <a:r>
              <a:rPr lang="en-US" altLang="ko-KR" dirty="0" err="1">
                <a:latin typeface="arial" pitchFamily="34" charset="0"/>
              </a:rPr>
              <a:t>Dùng</a:t>
            </a:r>
            <a:r>
              <a:rPr lang="en-US" altLang="ko-KR" dirty="0">
                <a:latin typeface="arial" pitchFamily="34" charset="0"/>
              </a:rPr>
              <a:t> </a:t>
            </a:r>
            <a:r>
              <a:rPr lang="en-US" altLang="ko-KR" dirty="0" err="1">
                <a:latin typeface="arial" pitchFamily="34" charset="0"/>
              </a:rPr>
              <a:t>để</a:t>
            </a:r>
            <a:r>
              <a:rPr lang="en-US" altLang="ko-KR" dirty="0">
                <a:latin typeface="arial" pitchFamily="34" charset="0"/>
              </a:rPr>
              <a:t> </a:t>
            </a:r>
            <a:r>
              <a:rPr lang="en-US" altLang="ko-KR" dirty="0" err="1">
                <a:latin typeface="arial" pitchFamily="34" charset="0"/>
              </a:rPr>
              <a:t>quản</a:t>
            </a:r>
            <a:r>
              <a:rPr lang="en-US" altLang="ko-KR" dirty="0">
                <a:latin typeface="arial" pitchFamily="34" charset="0"/>
              </a:rPr>
              <a:t> </a:t>
            </a:r>
            <a:r>
              <a:rPr lang="en-US" altLang="ko-KR" dirty="0" err="1">
                <a:latin typeface="arial" pitchFamily="34" charset="0"/>
              </a:rPr>
              <a:t>lý</a:t>
            </a:r>
            <a:endParaRPr lang="ko-KR" altLang="en-US" dirty="0">
              <a:latin typeface="arial" pitchFamily="34" charset="0"/>
            </a:endParaRPr>
          </a:p>
        </p:txBody>
      </p:sp>
      <p:sp>
        <p:nvSpPr>
          <p:cNvPr id="12292" name="Text Box 7"/>
          <p:cNvSpPr txBox="1">
            <a:spLocks noChangeArrowheads="1"/>
          </p:cNvSpPr>
          <p:nvPr/>
        </p:nvSpPr>
        <p:spPr bwMode="auto">
          <a:xfrm>
            <a:off x="560897" y="1684546"/>
            <a:ext cx="8928607"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indent="228600" eaLnBrk="1" hangingPunct="1">
              <a:buFontTx/>
              <a:buChar char="-"/>
              <a:defRPr/>
            </a:pPr>
            <a:r>
              <a:rPr lang="vi-VN" altLang="ko-KR" sz="1400" dirty="0">
                <a:solidFill>
                  <a:srgbClr val="000000"/>
                </a:solidFill>
                <a:latin typeface="arial" pitchFamily="34" charset="0"/>
                <a:ea typeface="+mn-ea"/>
              </a:rPr>
              <a:t>Trong trường hợp không</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bất</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cứ</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thông</a:t>
            </a:r>
            <a:r>
              <a:rPr lang="en-US" altLang="ko-KR" sz="1400" dirty="0">
                <a:solidFill>
                  <a:srgbClr val="000000"/>
                </a:solidFill>
                <a:latin typeface="arial" pitchFamily="34" charset="0"/>
                <a:ea typeface="+mn-ea"/>
              </a:rPr>
              <a:t> tin </a:t>
            </a:r>
            <a:r>
              <a:rPr lang="en-US" altLang="ko-KR" sz="1400" dirty="0" err="1">
                <a:solidFill>
                  <a:srgbClr val="000000"/>
                </a:solidFill>
                <a:latin typeface="arial" pitchFamily="34" charset="0"/>
                <a:ea typeface="+mn-ea"/>
              </a:rPr>
              <a:t>gì</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về</a:t>
            </a:r>
            <a:r>
              <a:rPr lang="vi-VN" altLang="ko-KR" sz="1400" dirty="0">
                <a:solidFill>
                  <a:srgbClr val="000000"/>
                </a:solidFill>
                <a:latin typeface="arial" pitchFamily="34" charset="0"/>
                <a:ea typeface="+mn-ea"/>
              </a:rPr>
              <a:t> điều kiện của một quá trình, biểu đồ kiểm soát được sử dụng để đánh giá các điều kiện của quá trình để xác định</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những</a:t>
            </a:r>
            <a:r>
              <a:rPr lang="vi-VN" altLang="ko-KR" sz="1400" dirty="0">
                <a:solidFill>
                  <a:srgbClr val="000000"/>
                </a:solidFill>
                <a:latin typeface="arial" pitchFamily="34" charset="0"/>
                <a:ea typeface="+mn-ea"/>
              </a:rPr>
              <a:t> nguyên nhân đang tạo ra một phân </a:t>
            </a:r>
            <a:r>
              <a:rPr lang="en-US" altLang="ko-KR" sz="1400" dirty="0">
                <a:solidFill>
                  <a:srgbClr val="000000"/>
                </a:solidFill>
                <a:latin typeface="arial" pitchFamily="34" charset="0"/>
                <a:ea typeface="+mn-ea"/>
              </a:rPr>
              <a:t>ph</a:t>
            </a:r>
            <a:r>
              <a:rPr lang="vi-VN" altLang="ko-KR" sz="1400" dirty="0">
                <a:solidFill>
                  <a:srgbClr val="000000"/>
                </a:solidFill>
                <a:latin typeface="arial" pitchFamily="34" charset="0"/>
                <a:ea typeface="+mn-ea"/>
              </a:rPr>
              <a:t>ối cụ thể.</a:t>
            </a:r>
            <a:endParaRPr lang="en-US" altLang="ko-KR" sz="1400" dirty="0">
              <a:solidFill>
                <a:srgbClr val="000000"/>
              </a:solidFill>
              <a:latin typeface="arial" pitchFamily="34" charset="0"/>
              <a:ea typeface="+mn-ea"/>
            </a:endParaRPr>
          </a:p>
          <a:p>
            <a:pPr indent="228600" eaLnBrk="1" hangingPunct="1">
              <a:buFontTx/>
              <a:buChar char="-"/>
              <a:defRPr/>
            </a:pPr>
            <a:r>
              <a:rPr lang="vi-VN" altLang="ko-KR" sz="1400" dirty="0">
                <a:solidFill>
                  <a:srgbClr val="000000"/>
                </a:solidFill>
                <a:latin typeface="arial" pitchFamily="34" charset="0"/>
                <a:ea typeface="+mn-ea"/>
              </a:rPr>
              <a:t>Không có giá trị tiêu chuẩn được đưa ra và do đó các đường trung tâm và kiểm soát giới hạn này được tính từ dữ liệu thu thập được. Khi quá trình này trở nên ổn định, đủ đ</a:t>
            </a:r>
            <a:r>
              <a:rPr lang="en-US" altLang="ko-KR" sz="1400" dirty="0">
                <a:solidFill>
                  <a:srgbClr val="000000"/>
                </a:solidFill>
                <a:latin typeface="arial" pitchFamily="34" charset="0"/>
                <a:ea typeface="+mn-ea"/>
              </a:rPr>
              <a:t>ể</a:t>
            </a:r>
            <a:r>
              <a:rPr lang="vi-VN" altLang="ko-KR" sz="1400" dirty="0">
                <a:solidFill>
                  <a:srgbClr val="000000"/>
                </a:solidFill>
                <a:latin typeface="arial" pitchFamily="34" charset="0"/>
                <a:ea typeface="+mn-ea"/>
              </a:rPr>
              <a:t> quản lý, các giới hạn kiểm soát được mở rộng và được sử dụng như các giới hạn kiểm soát trong ‘</a:t>
            </a:r>
            <a:r>
              <a:rPr lang="en-US" altLang="ko-KR" sz="1400" dirty="0">
                <a:solidFill>
                  <a:srgbClr val="000000"/>
                </a:solidFill>
                <a:latin typeface="arial" pitchFamily="34" charset="0"/>
                <a:ea typeface="+mn-ea"/>
              </a:rPr>
              <a:t>”</a:t>
            </a:r>
            <a:r>
              <a:rPr lang="en-US" altLang="ko-KR" sz="1400" dirty="0" err="1">
                <a:solidFill>
                  <a:srgbClr val="000000"/>
                </a:solidFill>
                <a:latin typeface="arial" pitchFamily="34" charset="0"/>
                <a:ea typeface="+mn-ea"/>
              </a:rPr>
              <a:t>Biểu</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đồ</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kiểm</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soát</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trong</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quản</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lý</a:t>
            </a:r>
            <a:r>
              <a:rPr lang="en-US" altLang="ko-KR" sz="1400" dirty="0">
                <a:solidFill>
                  <a:srgbClr val="000000"/>
                </a:solidFill>
                <a:latin typeface="arial" pitchFamily="34" charset="0"/>
                <a:ea typeface="+mn-ea"/>
              </a:rPr>
              <a:t>”</a:t>
            </a:r>
            <a:r>
              <a:rPr lang="vi-VN" altLang="ko-KR" sz="1400" dirty="0">
                <a:solidFill>
                  <a:srgbClr val="000000"/>
                </a:solidFill>
                <a:latin typeface="arial" pitchFamily="34" charset="0"/>
                <a:ea typeface="+mn-ea"/>
              </a:rPr>
              <a:t>.</a:t>
            </a:r>
          </a:p>
        </p:txBody>
      </p:sp>
      <p:sp>
        <p:nvSpPr>
          <p:cNvPr id="12293" name="Text Box 7"/>
          <p:cNvSpPr txBox="1">
            <a:spLocks noChangeArrowheads="1"/>
          </p:cNvSpPr>
          <p:nvPr/>
        </p:nvSpPr>
        <p:spPr bwMode="auto">
          <a:xfrm>
            <a:off x="560897" y="4700758"/>
            <a:ext cx="892454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indent="228600" eaLnBrk="1" hangingPunct="1">
              <a:buFontTx/>
              <a:buChar char="-"/>
              <a:defRPr/>
            </a:pPr>
            <a:r>
              <a:rPr lang="en-US" altLang="ko-KR" sz="1400" dirty="0">
                <a:solidFill>
                  <a:srgbClr val="000000"/>
                </a:solidFill>
                <a:latin typeface="arial" pitchFamily="34" charset="0"/>
                <a:ea typeface="+mn-ea"/>
              </a:rPr>
              <a:t>B</a:t>
            </a:r>
            <a:r>
              <a:rPr lang="vi-VN" altLang="ko-KR" sz="1400" dirty="0">
                <a:solidFill>
                  <a:srgbClr val="000000"/>
                </a:solidFill>
                <a:latin typeface="arial" pitchFamily="34" charset="0"/>
                <a:ea typeface="+mn-ea"/>
              </a:rPr>
              <a:t>iểu đồ kiểm soát được</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cập</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nhật</a:t>
            </a:r>
            <a:r>
              <a:rPr lang="vi-VN" altLang="ko-KR" sz="1400" dirty="0">
                <a:solidFill>
                  <a:srgbClr val="000000"/>
                </a:solidFill>
                <a:latin typeface="arial" pitchFamily="34" charset="0"/>
                <a:ea typeface="+mn-ea"/>
              </a:rPr>
              <a:t> liên tục. Nếu </a:t>
            </a:r>
            <a:r>
              <a:rPr lang="en-US" altLang="ko-KR" sz="1400" dirty="0" err="1">
                <a:solidFill>
                  <a:srgbClr val="000000"/>
                </a:solidFill>
                <a:latin typeface="arial" pitchFamily="34" charset="0"/>
                <a:ea typeface="+mn-ea"/>
              </a:rPr>
              <a:t>xuất</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hiện</a:t>
            </a:r>
            <a:r>
              <a:rPr lang="en-US" altLang="ko-KR" sz="1400" dirty="0">
                <a:solidFill>
                  <a:srgbClr val="000000"/>
                </a:solidFill>
                <a:latin typeface="arial" pitchFamily="34" charset="0"/>
                <a:ea typeface="+mn-ea"/>
              </a:rPr>
              <a:t> </a:t>
            </a:r>
            <a:r>
              <a:rPr lang="vi-VN" altLang="ko-KR" sz="1400" dirty="0">
                <a:solidFill>
                  <a:srgbClr val="000000"/>
                </a:solidFill>
                <a:latin typeface="arial" pitchFamily="34" charset="0"/>
                <a:ea typeface="+mn-ea"/>
              </a:rPr>
              <a:t>một số bất thường,</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chúng</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ta</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có</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thể</a:t>
            </a:r>
            <a:r>
              <a:rPr lang="vi-VN" altLang="ko-KR" sz="1400" dirty="0">
                <a:solidFill>
                  <a:srgbClr val="000000"/>
                </a:solidFill>
                <a:latin typeface="arial" pitchFamily="34" charset="0"/>
                <a:ea typeface="+mn-ea"/>
              </a:rPr>
              <a:t> ngay lập tức điều tra và </a:t>
            </a:r>
            <a:r>
              <a:rPr lang="en-US" altLang="ko-KR" sz="1400" dirty="0" err="1">
                <a:solidFill>
                  <a:srgbClr val="000000"/>
                </a:solidFill>
                <a:latin typeface="arial" pitchFamily="34" charset="0"/>
                <a:ea typeface="+mn-ea"/>
              </a:rPr>
              <a:t>có</a:t>
            </a:r>
            <a:r>
              <a:rPr lang="en-US" altLang="ko-KR" sz="1400" dirty="0">
                <a:solidFill>
                  <a:srgbClr val="000000"/>
                </a:solidFill>
                <a:latin typeface="arial" pitchFamily="34" charset="0"/>
                <a:ea typeface="+mn-ea"/>
              </a:rPr>
              <a:t> </a:t>
            </a:r>
            <a:r>
              <a:rPr lang="vi-VN" altLang="ko-KR" sz="1400" dirty="0">
                <a:solidFill>
                  <a:srgbClr val="000000"/>
                </a:solidFill>
                <a:latin typeface="arial" pitchFamily="34" charset="0"/>
                <a:ea typeface="+mn-ea"/>
              </a:rPr>
              <a:t>biện pháp chấn chỉnh </a:t>
            </a:r>
            <a:r>
              <a:rPr lang="en-US" altLang="ko-KR" sz="1400" dirty="0" err="1">
                <a:solidFill>
                  <a:srgbClr val="000000"/>
                </a:solidFill>
                <a:latin typeface="arial" pitchFamily="34" charset="0"/>
                <a:ea typeface="+mn-ea"/>
              </a:rPr>
              <a:t>kịp</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thời</a:t>
            </a:r>
            <a:r>
              <a:rPr lang="vi-VN" altLang="ko-KR" sz="1400" dirty="0">
                <a:solidFill>
                  <a:srgbClr val="000000"/>
                </a:solidFill>
                <a:latin typeface="arial" pitchFamily="34" charset="0"/>
                <a:ea typeface="+mn-ea"/>
              </a:rPr>
              <a:t>. Thông qua </a:t>
            </a:r>
            <a:r>
              <a:rPr lang="en-US" altLang="ko-KR" sz="1400" dirty="0" err="1">
                <a:solidFill>
                  <a:srgbClr val="000000"/>
                </a:solidFill>
                <a:latin typeface="arial" pitchFamily="34" charset="0"/>
                <a:ea typeface="+mn-ea"/>
              </a:rPr>
              <a:t>việc</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quan</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sát</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các</a:t>
            </a:r>
            <a:r>
              <a:rPr lang="vi-VN" altLang="ko-KR" sz="1400" dirty="0">
                <a:solidFill>
                  <a:srgbClr val="000000"/>
                </a:solidFill>
                <a:latin typeface="arial" pitchFamily="34" charset="0"/>
                <a:ea typeface="+mn-ea"/>
              </a:rPr>
              <a:t> trình tự, các biểu đồ kiểm soát có thể được sử dụng để duy trì quá trình trong tình trạng ổn định.</a:t>
            </a:r>
            <a:endParaRPr lang="en-US" altLang="ko-KR" sz="1400" dirty="0">
              <a:solidFill>
                <a:srgbClr val="000000"/>
              </a:solidFill>
              <a:latin typeface="arial" pitchFamily="34" charset="0"/>
              <a:ea typeface="+mn-ea"/>
            </a:endParaRPr>
          </a:p>
          <a:p>
            <a:pPr indent="228600" eaLnBrk="1" hangingPunct="1">
              <a:buFontTx/>
              <a:buChar char="-"/>
              <a:defRPr/>
            </a:pPr>
            <a:r>
              <a:rPr lang="vi-VN" altLang="ko-KR" sz="1400" dirty="0">
                <a:solidFill>
                  <a:srgbClr val="000000"/>
                </a:solidFill>
                <a:latin typeface="arial" pitchFamily="34" charset="0"/>
                <a:ea typeface="+mn-ea"/>
              </a:rPr>
              <a:t>Các giới hạn kiểm soát được </a:t>
            </a:r>
            <a:r>
              <a:rPr lang="en-US" altLang="ko-KR" sz="1400" dirty="0" err="1">
                <a:solidFill>
                  <a:srgbClr val="000000"/>
                </a:solidFill>
                <a:latin typeface="arial" pitchFamily="34" charset="0"/>
                <a:ea typeface="+mn-ea"/>
              </a:rPr>
              <a:t>trích</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xuất</a:t>
            </a:r>
            <a:r>
              <a:rPr lang="vi-VN" altLang="ko-KR" sz="1400" dirty="0">
                <a:solidFill>
                  <a:srgbClr val="000000"/>
                </a:solidFill>
                <a:latin typeface="arial" pitchFamily="34" charset="0"/>
                <a:ea typeface="+mn-ea"/>
              </a:rPr>
              <a:t> khi quá trình này trở nên ổn định, do đó, </a:t>
            </a:r>
            <a:r>
              <a:rPr lang="en-US" altLang="ko-KR" sz="1400" dirty="0" err="1">
                <a:solidFill>
                  <a:srgbClr val="000000"/>
                </a:solidFill>
                <a:latin typeface="arial" pitchFamily="34" charset="0"/>
                <a:ea typeface="+mn-ea"/>
              </a:rPr>
              <a:t>chúng</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có</a:t>
            </a:r>
            <a:r>
              <a:rPr lang="vi-VN" altLang="ko-KR" sz="1400" dirty="0">
                <a:solidFill>
                  <a:srgbClr val="000000"/>
                </a:solidFill>
                <a:latin typeface="arial" pitchFamily="34" charset="0"/>
                <a:ea typeface="+mn-ea"/>
              </a:rPr>
              <a:t> thể được sử dụng </a:t>
            </a:r>
            <a:r>
              <a:rPr lang="en-US" altLang="ko-KR" sz="1400" dirty="0" err="1">
                <a:solidFill>
                  <a:srgbClr val="000000"/>
                </a:solidFill>
                <a:latin typeface="arial" pitchFamily="34" charset="0"/>
                <a:ea typeface="+mn-ea"/>
              </a:rPr>
              <a:t>để</a:t>
            </a:r>
            <a:r>
              <a:rPr lang="en-US" altLang="ko-KR" sz="1400" dirty="0">
                <a:solidFill>
                  <a:srgbClr val="000000"/>
                </a:solidFill>
                <a:latin typeface="arial" pitchFamily="34" charset="0"/>
                <a:ea typeface="+mn-ea"/>
              </a:rPr>
              <a:t> </a:t>
            </a:r>
            <a:r>
              <a:rPr lang="vi-VN" altLang="ko-KR" sz="1400" dirty="0">
                <a:solidFill>
                  <a:srgbClr val="000000"/>
                </a:solidFill>
                <a:latin typeface="arial" pitchFamily="34" charset="0"/>
                <a:ea typeface="+mn-ea"/>
              </a:rPr>
              <a:t>làm cơ sở để so sánh tình trạng của quá trình</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tương</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ứng</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với</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từng</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giai</a:t>
            </a:r>
            <a:r>
              <a:rPr lang="en-US" altLang="ko-KR" sz="1400" dirty="0">
                <a:solidFill>
                  <a:srgbClr val="000000"/>
                </a:solidFill>
                <a:latin typeface="arial" pitchFamily="34" charset="0"/>
                <a:ea typeface="+mn-ea"/>
              </a:rPr>
              <a:t> </a:t>
            </a:r>
            <a:r>
              <a:rPr lang="en-US" altLang="ko-KR" sz="1400" dirty="0" err="1">
                <a:solidFill>
                  <a:srgbClr val="000000"/>
                </a:solidFill>
                <a:latin typeface="arial" pitchFamily="34" charset="0"/>
                <a:ea typeface="+mn-ea"/>
              </a:rPr>
              <a:t>đoạn</a:t>
            </a:r>
            <a:r>
              <a:rPr lang="vi-VN" altLang="ko-KR" sz="1400" dirty="0">
                <a:solidFill>
                  <a:srgbClr val="000000"/>
                </a:solidFill>
                <a:latin typeface="arial" pitchFamily="34" charset="0"/>
                <a:ea typeface="+mn-ea"/>
              </a:rPr>
              <a:t>.</a:t>
            </a:r>
            <a:endParaRPr lang="en-US" altLang="ko-KR" sz="1400" dirty="0">
              <a:solidFill>
                <a:srgbClr val="000000"/>
              </a:solidFill>
              <a:latin typeface="arial" pitchFamily="34" charset="0"/>
              <a:ea typeface="+mn-ea"/>
            </a:endParaRPr>
          </a:p>
        </p:txBody>
      </p:sp>
      <p:sp>
        <p:nvSpPr>
          <p:cNvPr id="53" name="제목 8"/>
          <p:cNvSpPr txBox="1">
            <a:spLocks/>
          </p:cNvSpPr>
          <p:nvPr/>
        </p:nvSpPr>
        <p:spPr bwMode="auto">
          <a:xfrm>
            <a:off x="195263" y="188913"/>
            <a:ext cx="8813800" cy="488950"/>
          </a:xfrm>
          <a:prstGeom prst="rect">
            <a:avLst/>
          </a:prstGeom>
        </p:spPr>
        <p:txBody>
          <a:bodyPr/>
          <a:lstStyle/>
          <a:p>
            <a:pPr>
              <a:defRPr/>
            </a:pPr>
            <a:r>
              <a:rPr lang="en-US" altLang="ko-KR" sz="2000" b="1" dirty="0">
                <a:latin typeface="arial" pitchFamily="34" charset="0"/>
                <a:ea typeface="+mn-ea"/>
              </a:rPr>
              <a:t>3. </a:t>
            </a:r>
            <a:r>
              <a:rPr lang="en-US" altLang="ko-KR" sz="2000" b="1" dirty="0" err="1">
                <a:latin typeface="arial" pitchFamily="34" charset="0"/>
                <a:ea typeface="+mn-ea"/>
              </a:rPr>
              <a:t>Các</a:t>
            </a:r>
            <a:r>
              <a:rPr lang="en-US" altLang="ko-KR" sz="2000" b="1" dirty="0">
                <a:latin typeface="arial" pitchFamily="34" charset="0"/>
                <a:ea typeface="+mn-ea"/>
              </a:rPr>
              <a:t> </a:t>
            </a:r>
            <a:r>
              <a:rPr lang="en-US" altLang="ko-KR" sz="2000" b="1" dirty="0" err="1">
                <a:latin typeface="arial" pitchFamily="34" charset="0"/>
                <a:ea typeface="+mn-ea"/>
              </a:rPr>
              <a:t>ứng</a:t>
            </a:r>
            <a:r>
              <a:rPr lang="en-US" altLang="ko-KR" sz="2000" b="1" dirty="0">
                <a:latin typeface="arial" pitchFamily="34" charset="0"/>
                <a:ea typeface="+mn-ea"/>
              </a:rPr>
              <a:t> </a:t>
            </a:r>
            <a:r>
              <a:rPr lang="en-US" altLang="ko-KR" sz="2000" b="1" dirty="0" err="1">
                <a:latin typeface="arial" pitchFamily="34" charset="0"/>
                <a:ea typeface="+mn-ea"/>
              </a:rPr>
              <a:t>dụng</a:t>
            </a:r>
            <a:r>
              <a:rPr lang="en-US" altLang="ko-KR" sz="2000" b="1" dirty="0">
                <a:latin typeface="arial" pitchFamily="34" charset="0"/>
                <a:ea typeface="+mn-ea"/>
              </a:rPr>
              <a:t> </a:t>
            </a:r>
            <a:r>
              <a:rPr lang="en-US" altLang="ko-KR" sz="2000" b="1" dirty="0" err="1">
                <a:latin typeface="arial" pitchFamily="34" charset="0"/>
                <a:ea typeface="+mn-ea"/>
              </a:rPr>
              <a:t>của</a:t>
            </a:r>
            <a:r>
              <a:rPr lang="en-US" altLang="ko-KR" sz="2000" b="1" dirty="0">
                <a:latin typeface="arial" pitchFamily="34" charset="0"/>
                <a:ea typeface="+mn-ea"/>
              </a:rPr>
              <a:t> </a:t>
            </a:r>
            <a:r>
              <a:rPr lang="en-US" altLang="ko-KR" sz="2000" b="1" dirty="0" err="1">
                <a:latin typeface="arial" pitchFamily="34" charset="0"/>
                <a:ea typeface="+mn-ea"/>
              </a:rPr>
              <a:t>biểu</a:t>
            </a:r>
            <a:r>
              <a:rPr lang="en-US" altLang="ko-KR" sz="2000" b="1" dirty="0">
                <a:latin typeface="arial" pitchFamily="34" charset="0"/>
                <a:ea typeface="+mn-ea"/>
              </a:rPr>
              <a:t> </a:t>
            </a:r>
            <a:r>
              <a:rPr lang="en-US" altLang="ko-KR" sz="2000" b="1" dirty="0" err="1">
                <a:latin typeface="arial" pitchFamily="34" charset="0"/>
                <a:ea typeface="+mn-ea"/>
              </a:rPr>
              <a:t>đồ</a:t>
            </a:r>
            <a:r>
              <a:rPr lang="en-US" altLang="ko-KR" sz="2000" b="1" dirty="0">
                <a:latin typeface="arial" pitchFamily="34" charset="0"/>
                <a:ea typeface="+mn-ea"/>
              </a:rPr>
              <a:t> </a:t>
            </a:r>
            <a:r>
              <a:rPr lang="en-US" altLang="ko-KR" sz="2000" b="1" dirty="0" err="1">
                <a:latin typeface="arial" pitchFamily="34" charset="0"/>
                <a:ea typeface="+mn-ea"/>
              </a:rPr>
              <a:t>kiểm</a:t>
            </a:r>
            <a:r>
              <a:rPr lang="en-US" altLang="ko-KR" sz="2000" b="1" dirty="0">
                <a:latin typeface="arial" pitchFamily="34" charset="0"/>
                <a:ea typeface="+mn-ea"/>
              </a:rPr>
              <a:t> </a:t>
            </a:r>
            <a:r>
              <a:rPr lang="en-US" altLang="ko-KR" sz="2000" b="1" dirty="0" err="1">
                <a:latin typeface="arial" pitchFamily="34" charset="0"/>
                <a:ea typeface="+mn-ea"/>
              </a:rPr>
              <a:t>soát</a:t>
            </a:r>
            <a:endParaRPr kumimoji="0" lang="ko-KR" altLang="en-US" sz="2000" b="1" dirty="0">
              <a:latin typeface="arial" pitchFamily="34" charset="0"/>
              <a:ea typeface="+mn-ea"/>
              <a:cs typeface="+mj-cs"/>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253</a:t>
            </a:fld>
            <a:endParaRPr lang="ko-KR" altLang="en-US" dirty="0"/>
          </a:p>
        </p:txBody>
      </p:sp>
    </p:spTree>
    <p:extLst>
      <p:ext uri="{BB962C8B-B14F-4D97-AF65-F5344CB8AC3E}">
        <p14:creationId xmlns:p14="http://schemas.microsoft.com/office/powerpoint/2010/main" val="3086511405"/>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5" name="Object 12"/>
          <p:cNvGraphicFramePr>
            <a:graphicFrameLocks noChangeAspect="1"/>
          </p:cNvGraphicFramePr>
          <p:nvPr/>
        </p:nvGraphicFramePr>
        <p:xfrm>
          <a:off x="1973263" y="3517900"/>
          <a:ext cx="2927350" cy="1450975"/>
        </p:xfrm>
        <a:graphic>
          <a:graphicData uri="http://schemas.openxmlformats.org/presentationml/2006/ole">
            <mc:AlternateContent xmlns:mc="http://schemas.openxmlformats.org/markup-compatibility/2006">
              <mc:Choice xmlns:v="urn:schemas-microsoft-com:vml" Requires="v">
                <p:oleObj name="Image" r:id="rId3" imgW="6044444" imgH="3123810" progId="">
                  <p:embed/>
                </p:oleObj>
              </mc:Choice>
              <mc:Fallback>
                <p:oleObj name="Image" r:id="rId3" imgW="6044444" imgH="3123810" progId="">
                  <p:embed/>
                  <p:pic>
                    <p:nvPicPr>
                      <p:cNvPr id="13315" name="Object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3263" y="3517900"/>
                        <a:ext cx="2927350" cy="145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 name="Text Box 14"/>
          <p:cNvSpPr txBox="1">
            <a:spLocks noChangeArrowheads="1"/>
          </p:cNvSpPr>
          <p:nvPr/>
        </p:nvSpPr>
        <p:spPr bwMode="auto">
          <a:xfrm>
            <a:off x="1809750" y="3451225"/>
            <a:ext cx="1861407" cy="430887"/>
          </a:xfrm>
          <a:prstGeom prst="rect">
            <a:avLst/>
          </a:prstGeom>
          <a:noFill/>
          <a:ln w="38100" algn="ctr">
            <a:noFill/>
            <a:miter lim="800000"/>
            <a:headEnd/>
            <a:tailEnd/>
          </a:ln>
        </p:spPr>
        <p:txBody>
          <a:bodyPr wrap="none">
            <a:spAutoFit/>
          </a:bodyPr>
          <a:lstStyle/>
          <a:p>
            <a:pPr defTabSz="911225">
              <a:defRPr/>
            </a:pPr>
            <a:r>
              <a:rPr lang="en-US" altLang="ko-KR" sz="1100" b="1" dirty="0" err="1">
                <a:solidFill>
                  <a:srgbClr val="000000"/>
                </a:solidFill>
                <a:latin typeface="arial" pitchFamily="34" charset="0"/>
                <a:ea typeface="+mn-ea"/>
              </a:rPr>
              <a:t>Sai</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lệch</a:t>
            </a:r>
            <a:r>
              <a:rPr lang="en-US" altLang="ko-KR" sz="1100" b="1" dirty="0">
                <a:solidFill>
                  <a:srgbClr val="000000"/>
                </a:solidFill>
                <a:latin typeface="arial" pitchFamily="34" charset="0"/>
                <a:ea typeface="+mn-ea"/>
              </a:rPr>
              <a:t> do </a:t>
            </a:r>
            <a:r>
              <a:rPr lang="en-US" altLang="ko-KR" sz="1100" b="1" dirty="0" err="1">
                <a:solidFill>
                  <a:srgbClr val="000000"/>
                </a:solidFill>
                <a:latin typeface="arial" pitchFamily="34" charset="0"/>
                <a:ea typeface="+mn-ea"/>
              </a:rPr>
              <a:t>nguyên</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nhân</a:t>
            </a:r>
            <a:br>
              <a:rPr lang="en-US" altLang="ko-KR" sz="1100" b="1" dirty="0">
                <a:solidFill>
                  <a:srgbClr val="000000"/>
                </a:solidFill>
                <a:latin typeface="arial" pitchFamily="34" charset="0"/>
                <a:ea typeface="+mn-ea"/>
              </a:rPr>
            </a:br>
            <a:r>
              <a:rPr lang="en-US" altLang="ko-KR" sz="1100" b="1" dirty="0" err="1">
                <a:solidFill>
                  <a:srgbClr val="000000"/>
                </a:solidFill>
                <a:latin typeface="arial" pitchFamily="34" charset="0"/>
                <a:ea typeface="+mn-ea"/>
              </a:rPr>
              <a:t>ngẫu</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nhiên</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gây</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ra</a:t>
            </a:r>
            <a:endParaRPr lang="en-US" altLang="ko-KR" sz="1100" b="1" dirty="0">
              <a:solidFill>
                <a:srgbClr val="000000"/>
              </a:solidFill>
              <a:latin typeface="arial" pitchFamily="34" charset="0"/>
              <a:ea typeface="+mn-ea"/>
            </a:endParaRPr>
          </a:p>
        </p:txBody>
      </p:sp>
      <p:sp>
        <p:nvSpPr>
          <p:cNvPr id="7" name="Text Box 21"/>
          <p:cNvSpPr txBox="1">
            <a:spLocks noChangeArrowheads="1"/>
          </p:cNvSpPr>
          <p:nvPr/>
        </p:nvSpPr>
        <p:spPr bwMode="auto">
          <a:xfrm>
            <a:off x="4043649" y="4027488"/>
            <a:ext cx="950901" cy="179216"/>
          </a:xfrm>
          <a:prstGeom prst="rect">
            <a:avLst/>
          </a:prstGeom>
          <a:solidFill>
            <a:schemeClr val="bg1"/>
          </a:solidFill>
          <a:ln w="38100" algn="ctr">
            <a:noFill/>
            <a:miter lim="800000"/>
            <a:headEnd/>
            <a:tailEnd/>
          </a:ln>
        </p:spPr>
        <p:txBody>
          <a:bodyPr wrap="none">
            <a:spAutoFit/>
          </a:bodyPr>
          <a:lstStyle/>
          <a:p>
            <a:pPr defTabSz="911225">
              <a:lnSpc>
                <a:spcPct val="50000"/>
              </a:lnSpc>
              <a:defRPr/>
            </a:pPr>
            <a:r>
              <a:rPr lang="en-US" altLang="ko-KR" sz="1000" dirty="0" err="1">
                <a:solidFill>
                  <a:srgbClr val="000000"/>
                </a:solidFill>
                <a:latin typeface="arial" pitchFamily="34" charset="0"/>
                <a:ea typeface="+mn-ea"/>
              </a:rPr>
              <a:t>Dư</a:t>
            </a:r>
            <a:r>
              <a:rPr lang="en-US" altLang="ko-KR" sz="1000" dirty="0">
                <a:solidFill>
                  <a:srgbClr val="000000"/>
                </a:solidFill>
                <a:latin typeface="arial" pitchFamily="34" charset="0"/>
                <a:ea typeface="+mn-ea"/>
              </a:rPr>
              <a:t> </a:t>
            </a:r>
            <a:r>
              <a:rPr lang="en-US" altLang="ko-KR" sz="1000" dirty="0" err="1">
                <a:solidFill>
                  <a:srgbClr val="000000"/>
                </a:solidFill>
                <a:latin typeface="arial" pitchFamily="34" charset="0"/>
                <a:ea typeface="+mn-ea"/>
              </a:rPr>
              <a:t>báo</a:t>
            </a:r>
            <a:r>
              <a:rPr lang="en-US" altLang="ko-KR" sz="1000" dirty="0">
                <a:solidFill>
                  <a:srgbClr val="000000"/>
                </a:solidFill>
                <a:latin typeface="arial" pitchFamily="34" charset="0"/>
                <a:ea typeface="+mn-ea"/>
              </a:rPr>
              <a:t> </a:t>
            </a:r>
            <a:r>
              <a:rPr lang="en-US" altLang="ko-KR" sz="1000" dirty="0" err="1">
                <a:solidFill>
                  <a:srgbClr val="000000"/>
                </a:solidFill>
                <a:latin typeface="arial" pitchFamily="34" charset="0"/>
                <a:ea typeface="+mn-ea"/>
              </a:rPr>
              <a:t>được</a:t>
            </a:r>
            <a:endParaRPr lang="ko-KR" altLang="en-US" sz="1000" dirty="0">
              <a:solidFill>
                <a:srgbClr val="000000"/>
              </a:solidFill>
              <a:latin typeface="arial" pitchFamily="34" charset="0"/>
              <a:ea typeface="+mn-ea"/>
            </a:endParaRPr>
          </a:p>
        </p:txBody>
      </p:sp>
      <p:sp>
        <p:nvSpPr>
          <p:cNvPr id="9" name="Line 24"/>
          <p:cNvSpPr>
            <a:spLocks noChangeShapeType="1"/>
          </p:cNvSpPr>
          <p:nvPr/>
        </p:nvSpPr>
        <p:spPr bwMode="auto">
          <a:xfrm flipV="1">
            <a:off x="3302000" y="4424363"/>
            <a:ext cx="781050" cy="368300"/>
          </a:xfrm>
          <a:prstGeom prst="line">
            <a:avLst/>
          </a:prstGeom>
          <a:noFill/>
          <a:ln w="12700">
            <a:solidFill>
              <a:schemeClr val="tx1"/>
            </a:solidFill>
            <a:round/>
            <a:headEnd/>
            <a:tailEnd type="triangle" w="med" len="med"/>
          </a:ln>
        </p:spPr>
        <p:txBody>
          <a:bodyPr/>
          <a:lstStyle/>
          <a:p>
            <a:pPr>
              <a:defRPr/>
            </a:pPr>
            <a:endParaRPr lang="ko-KR" altLang="en-US" dirty="0">
              <a:latin typeface="arial" pitchFamily="34" charset="0"/>
              <a:ea typeface="+mn-ea"/>
            </a:endParaRPr>
          </a:p>
        </p:txBody>
      </p:sp>
      <p:sp>
        <p:nvSpPr>
          <p:cNvPr id="11" name="Text Box 23"/>
          <p:cNvSpPr txBox="1">
            <a:spLocks noChangeArrowheads="1"/>
          </p:cNvSpPr>
          <p:nvPr/>
        </p:nvSpPr>
        <p:spPr bwMode="auto">
          <a:xfrm rot="20036922">
            <a:off x="3449638" y="4479797"/>
            <a:ext cx="458787" cy="282834"/>
          </a:xfrm>
          <a:prstGeom prst="rect">
            <a:avLst/>
          </a:prstGeom>
          <a:solidFill>
            <a:schemeClr val="bg1"/>
          </a:solidFill>
          <a:ln w="38100" algn="ctr">
            <a:noFill/>
            <a:miter lim="800000"/>
            <a:headEnd/>
            <a:tailEnd/>
          </a:ln>
        </p:spPr>
        <p:txBody>
          <a:bodyPr>
            <a:spAutoFit/>
          </a:bodyPr>
          <a:lstStyle/>
          <a:p>
            <a:pPr algn="ctr" defTabSz="911225">
              <a:lnSpc>
                <a:spcPct val="60000"/>
              </a:lnSpc>
              <a:defRPr/>
            </a:pPr>
            <a:r>
              <a:rPr lang="en-US" altLang="ko-KR" sz="1000" dirty="0" err="1">
                <a:solidFill>
                  <a:srgbClr val="000000"/>
                </a:solidFill>
                <a:latin typeface="arial" pitchFamily="34" charset="0"/>
                <a:ea typeface="+mn-ea"/>
              </a:rPr>
              <a:t>Thờigian</a:t>
            </a:r>
            <a:endParaRPr lang="ko-KR" altLang="en-US" sz="1000" dirty="0">
              <a:solidFill>
                <a:srgbClr val="000000"/>
              </a:solidFill>
              <a:latin typeface="arial" pitchFamily="34" charset="0"/>
              <a:ea typeface="+mn-ea"/>
            </a:endParaRPr>
          </a:p>
        </p:txBody>
      </p:sp>
      <p:sp>
        <p:nvSpPr>
          <p:cNvPr id="12" name="Rectangle 28"/>
          <p:cNvSpPr>
            <a:spLocks noChangeArrowheads="1"/>
          </p:cNvSpPr>
          <p:nvPr/>
        </p:nvSpPr>
        <p:spPr bwMode="auto">
          <a:xfrm>
            <a:off x="1869504" y="5359607"/>
            <a:ext cx="3011488" cy="478393"/>
          </a:xfrm>
          <a:prstGeom prst="rect">
            <a:avLst/>
          </a:prstGeom>
          <a:solidFill>
            <a:schemeClr val="bg1"/>
          </a:solidFill>
          <a:ln w="12700" algn="ctr">
            <a:solidFill>
              <a:schemeClr val="bg1">
                <a:lumMod val="65000"/>
              </a:schemeClr>
            </a:solidFill>
            <a:miter lim="800000"/>
            <a:headEnd/>
            <a:tailEnd/>
          </a:ln>
          <a:effectLst/>
        </p:spPr>
        <p:txBody>
          <a:bodyPr wrap="none" anchor="ctr"/>
          <a:lstStyle/>
          <a:p>
            <a:pPr algn="ctr" defTabSz="911225">
              <a:defRPr/>
            </a:pPr>
            <a:r>
              <a:rPr lang="en-US" altLang="ko-KR" sz="1100" dirty="0" err="1">
                <a:solidFill>
                  <a:prstClr val="black"/>
                </a:solidFill>
                <a:latin typeface="arial" pitchFamily="34" charset="0"/>
              </a:rPr>
              <a:t>Loại</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bỏ</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các</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nguyên</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nhân</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cơ</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hội</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làm</a:t>
            </a:r>
            <a:br>
              <a:rPr lang="en-US" altLang="ko-KR" sz="1100" dirty="0">
                <a:solidFill>
                  <a:prstClr val="black"/>
                </a:solidFill>
                <a:latin typeface="arial" pitchFamily="34" charset="0"/>
              </a:rPr>
            </a:br>
            <a:r>
              <a:rPr lang="en-US" altLang="ko-KR" sz="1100" dirty="0" err="1">
                <a:solidFill>
                  <a:prstClr val="black"/>
                </a:solidFill>
                <a:latin typeface="arial" pitchFamily="34" charset="0"/>
              </a:rPr>
              <a:t>phát</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sinh</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chênh</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lệch</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về</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chất</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lượng</a:t>
            </a:r>
            <a:endParaRPr lang="ko-KR" altLang="en-US" sz="1100" dirty="0">
              <a:solidFill>
                <a:prstClr val="black"/>
              </a:solidFill>
              <a:latin typeface="arial" pitchFamily="34" charset="0"/>
            </a:endParaRPr>
          </a:p>
        </p:txBody>
      </p:sp>
      <p:sp>
        <p:nvSpPr>
          <p:cNvPr id="13" name="Rectangle 29"/>
          <p:cNvSpPr>
            <a:spLocks noChangeArrowheads="1"/>
          </p:cNvSpPr>
          <p:nvPr/>
        </p:nvSpPr>
        <p:spPr bwMode="auto">
          <a:xfrm>
            <a:off x="1863725" y="6119514"/>
            <a:ext cx="3011488" cy="477838"/>
          </a:xfrm>
          <a:prstGeom prst="rect">
            <a:avLst/>
          </a:prstGeom>
          <a:solidFill>
            <a:schemeClr val="bg1"/>
          </a:solidFill>
          <a:ln w="12700" algn="ctr">
            <a:solidFill>
              <a:schemeClr val="bg1">
                <a:lumMod val="65000"/>
              </a:schemeClr>
            </a:solidFill>
            <a:miter lim="800000"/>
            <a:headEnd/>
            <a:tailEnd/>
          </a:ln>
          <a:effectLst/>
        </p:spPr>
        <p:txBody>
          <a:bodyPr wrap="none" anchor="ctr"/>
          <a:lstStyle/>
          <a:p>
            <a:pPr algn="ctr" defTabSz="911225">
              <a:defRPr/>
            </a:pPr>
            <a:r>
              <a:rPr lang="en-US" altLang="ko-KR" sz="1100" dirty="0" err="1">
                <a:solidFill>
                  <a:prstClr val="black"/>
                </a:solidFill>
                <a:latin typeface="arial" pitchFamily="34" charset="0"/>
                <a:ea typeface="+mn-ea"/>
              </a:rPr>
              <a:t>Cải</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thiện</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năng</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lực</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quá</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trình</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và</a:t>
            </a:r>
            <a:br>
              <a:rPr lang="en-US" altLang="ko-KR" sz="1100" dirty="0">
                <a:solidFill>
                  <a:prstClr val="black"/>
                </a:solidFill>
                <a:latin typeface="arial" pitchFamily="34" charset="0"/>
                <a:ea typeface="+mn-ea"/>
              </a:rPr>
            </a:br>
            <a:r>
              <a:rPr lang="en-US" altLang="ko-KR" sz="1100" dirty="0" err="1">
                <a:solidFill>
                  <a:prstClr val="black"/>
                </a:solidFill>
                <a:latin typeface="arial" pitchFamily="34" charset="0"/>
                <a:ea typeface="+mn-ea"/>
              </a:rPr>
              <a:t>tăng</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cường</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mức</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độ</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về</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chấy</a:t>
            </a:r>
            <a:r>
              <a:rPr lang="en-US" altLang="ko-KR" sz="1100" dirty="0">
                <a:solidFill>
                  <a:prstClr val="black"/>
                </a:solidFill>
                <a:latin typeface="arial" pitchFamily="34" charset="0"/>
                <a:ea typeface="+mn-ea"/>
              </a:rPr>
              <a:t> </a:t>
            </a:r>
            <a:r>
              <a:rPr lang="en-US" altLang="ko-KR" sz="1100" dirty="0" err="1">
                <a:solidFill>
                  <a:prstClr val="black"/>
                </a:solidFill>
                <a:latin typeface="arial" pitchFamily="34" charset="0"/>
                <a:ea typeface="+mn-ea"/>
              </a:rPr>
              <a:t>lượng</a:t>
            </a:r>
            <a:endParaRPr lang="ko-KR" altLang="en-US" sz="1100" dirty="0">
              <a:solidFill>
                <a:prstClr val="black"/>
              </a:solidFill>
              <a:latin typeface="arial" pitchFamily="34" charset="0"/>
              <a:ea typeface="+mn-ea"/>
            </a:endParaRPr>
          </a:p>
        </p:txBody>
      </p:sp>
      <p:sp>
        <p:nvSpPr>
          <p:cNvPr id="14" name="Rectangle 30"/>
          <p:cNvSpPr>
            <a:spLocks noChangeArrowheads="1"/>
          </p:cNvSpPr>
          <p:nvPr/>
        </p:nvSpPr>
        <p:spPr bwMode="auto">
          <a:xfrm>
            <a:off x="5351140" y="4221088"/>
            <a:ext cx="2947813" cy="478393"/>
          </a:xfrm>
          <a:prstGeom prst="rect">
            <a:avLst/>
          </a:prstGeom>
          <a:solidFill>
            <a:schemeClr val="bg1"/>
          </a:solidFill>
          <a:ln w="12700" algn="ctr">
            <a:solidFill>
              <a:schemeClr val="bg1">
                <a:lumMod val="65000"/>
              </a:schemeClr>
            </a:solidFill>
            <a:miter lim="800000"/>
            <a:headEnd/>
            <a:tailEnd/>
          </a:ln>
          <a:effectLst/>
        </p:spPr>
        <p:txBody>
          <a:bodyPr wrap="none" anchor="ctr"/>
          <a:lstStyle/>
          <a:p>
            <a:pPr algn="ctr" defTabSz="911225">
              <a:defRPr/>
            </a:pPr>
            <a:r>
              <a:rPr lang="en-US" altLang="ko-KR" sz="1100" dirty="0" err="1">
                <a:solidFill>
                  <a:prstClr val="black"/>
                </a:solidFill>
                <a:latin typeface="arial" pitchFamily="34" charset="0"/>
              </a:rPr>
              <a:t>Loại</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bỏ</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các</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nguyên</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nhân</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không</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ngẫu</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nhiên</a:t>
            </a:r>
            <a:br>
              <a:rPr lang="en-US" altLang="ko-KR" sz="1100" dirty="0">
                <a:solidFill>
                  <a:prstClr val="black"/>
                </a:solidFill>
                <a:latin typeface="arial" pitchFamily="34" charset="0"/>
              </a:rPr>
            </a:br>
            <a:r>
              <a:rPr lang="en-US" altLang="ko-KR" sz="1100" dirty="0" err="1">
                <a:solidFill>
                  <a:prstClr val="black"/>
                </a:solidFill>
                <a:latin typeface="arial" pitchFamily="34" charset="0"/>
              </a:rPr>
              <a:t>làm</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phát</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sinh</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chênh</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lệch</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về</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chất</a:t>
            </a:r>
            <a:r>
              <a:rPr lang="en-US" altLang="ko-KR" sz="1100" dirty="0">
                <a:solidFill>
                  <a:prstClr val="black"/>
                </a:solidFill>
                <a:latin typeface="arial" pitchFamily="34" charset="0"/>
              </a:rPr>
              <a:t> </a:t>
            </a:r>
            <a:r>
              <a:rPr lang="en-US" altLang="ko-KR" sz="1100" dirty="0" err="1">
                <a:solidFill>
                  <a:prstClr val="black"/>
                </a:solidFill>
                <a:latin typeface="arial" pitchFamily="34" charset="0"/>
              </a:rPr>
              <a:t>lượng</a:t>
            </a:r>
            <a:endParaRPr lang="ko-KR" altLang="en-US" sz="1100" dirty="0">
              <a:solidFill>
                <a:prstClr val="black"/>
              </a:solidFill>
              <a:latin typeface="arial" pitchFamily="34" charset="0"/>
            </a:endParaRPr>
          </a:p>
        </p:txBody>
      </p:sp>
      <p:sp>
        <p:nvSpPr>
          <p:cNvPr id="15" name="Rectangle 31"/>
          <p:cNvSpPr>
            <a:spLocks noChangeArrowheads="1"/>
          </p:cNvSpPr>
          <p:nvPr/>
        </p:nvSpPr>
        <p:spPr bwMode="auto">
          <a:xfrm>
            <a:off x="3681413" y="1365250"/>
            <a:ext cx="2852737" cy="238125"/>
          </a:xfrm>
          <a:prstGeom prst="rect">
            <a:avLst/>
          </a:prstGeom>
          <a:solidFill>
            <a:schemeClr val="bg1"/>
          </a:solidFill>
          <a:ln w="12700" algn="ctr">
            <a:solidFill>
              <a:schemeClr val="bg1">
                <a:lumMod val="65000"/>
              </a:schemeClr>
            </a:solidFill>
            <a:miter lim="800000"/>
            <a:headEnd/>
            <a:tailEnd/>
          </a:ln>
          <a:effectLst/>
        </p:spPr>
        <p:txBody>
          <a:bodyPr wrap="none" anchor="ctr"/>
          <a:lstStyle/>
          <a:p>
            <a:pPr algn="ctr" defTabSz="911225">
              <a:defRPr/>
            </a:pPr>
            <a:r>
              <a:rPr lang="en-US" altLang="ko-KR" sz="1200" dirty="0">
                <a:solidFill>
                  <a:prstClr val="black"/>
                </a:solidFill>
                <a:latin typeface="arial" pitchFamily="34" charset="0"/>
                <a:ea typeface="+mn-ea"/>
              </a:rPr>
              <a:t>Thu </a:t>
            </a:r>
            <a:r>
              <a:rPr lang="en-US" altLang="ko-KR" sz="1200" dirty="0" err="1">
                <a:solidFill>
                  <a:prstClr val="black"/>
                </a:solidFill>
                <a:latin typeface="arial" pitchFamily="34" charset="0"/>
                <a:ea typeface="+mn-ea"/>
              </a:rPr>
              <a:t>thập</a:t>
            </a:r>
            <a:r>
              <a:rPr lang="en-US" altLang="ko-KR" sz="1200" dirty="0">
                <a:solidFill>
                  <a:prstClr val="black"/>
                </a:solidFill>
                <a:latin typeface="arial" pitchFamily="34" charset="0"/>
                <a:ea typeface="+mn-ea"/>
              </a:rPr>
              <a:t> </a:t>
            </a:r>
            <a:r>
              <a:rPr lang="en-US" altLang="ko-KR" sz="1200" dirty="0" err="1">
                <a:solidFill>
                  <a:prstClr val="black"/>
                </a:solidFill>
                <a:latin typeface="arial" pitchFamily="34" charset="0"/>
                <a:ea typeface="+mn-ea"/>
              </a:rPr>
              <a:t>dữ</a:t>
            </a:r>
            <a:r>
              <a:rPr lang="en-US" altLang="ko-KR" sz="1200" dirty="0">
                <a:solidFill>
                  <a:prstClr val="black"/>
                </a:solidFill>
                <a:latin typeface="arial" pitchFamily="34" charset="0"/>
                <a:ea typeface="+mn-ea"/>
              </a:rPr>
              <a:t> </a:t>
            </a:r>
            <a:r>
              <a:rPr lang="en-US" altLang="ko-KR" sz="1200" dirty="0" err="1">
                <a:solidFill>
                  <a:prstClr val="black"/>
                </a:solidFill>
                <a:latin typeface="arial" pitchFamily="34" charset="0"/>
                <a:ea typeface="+mn-ea"/>
              </a:rPr>
              <a:t>liệu</a:t>
            </a:r>
            <a:r>
              <a:rPr lang="en-US" altLang="ko-KR" sz="1200" dirty="0">
                <a:solidFill>
                  <a:prstClr val="black"/>
                </a:solidFill>
                <a:latin typeface="arial" pitchFamily="34" charset="0"/>
                <a:ea typeface="+mn-ea"/>
              </a:rPr>
              <a:t> </a:t>
            </a:r>
            <a:r>
              <a:rPr lang="en-US" altLang="ko-KR" sz="1200" dirty="0" err="1">
                <a:solidFill>
                  <a:prstClr val="black"/>
                </a:solidFill>
                <a:latin typeface="arial" pitchFamily="34" charset="0"/>
                <a:ea typeface="+mn-ea"/>
              </a:rPr>
              <a:t>và</a:t>
            </a:r>
            <a:r>
              <a:rPr lang="en-US" altLang="ko-KR" sz="1200" dirty="0">
                <a:solidFill>
                  <a:prstClr val="black"/>
                </a:solidFill>
                <a:latin typeface="arial" pitchFamily="34" charset="0"/>
                <a:ea typeface="+mn-ea"/>
              </a:rPr>
              <a:t> </a:t>
            </a:r>
            <a:r>
              <a:rPr lang="en-US" altLang="ko-KR" sz="1200" dirty="0" err="1">
                <a:solidFill>
                  <a:prstClr val="black"/>
                </a:solidFill>
                <a:latin typeface="arial" pitchFamily="34" charset="0"/>
                <a:ea typeface="+mn-ea"/>
              </a:rPr>
              <a:t>phân</a:t>
            </a:r>
            <a:r>
              <a:rPr lang="en-US" altLang="ko-KR" sz="1200" dirty="0">
                <a:solidFill>
                  <a:prstClr val="black"/>
                </a:solidFill>
                <a:latin typeface="arial" pitchFamily="34" charset="0"/>
                <a:ea typeface="+mn-ea"/>
              </a:rPr>
              <a:t> </a:t>
            </a:r>
            <a:r>
              <a:rPr lang="en-US" altLang="ko-KR" sz="1200" dirty="0" err="1">
                <a:solidFill>
                  <a:prstClr val="black"/>
                </a:solidFill>
                <a:latin typeface="arial" pitchFamily="34" charset="0"/>
                <a:ea typeface="+mn-ea"/>
              </a:rPr>
              <a:t>tích</a:t>
            </a:r>
            <a:endParaRPr lang="ko-KR" altLang="en-US" sz="1200" dirty="0">
              <a:solidFill>
                <a:prstClr val="black"/>
              </a:solidFill>
              <a:latin typeface="arial" pitchFamily="34" charset="0"/>
              <a:ea typeface="+mn-ea"/>
            </a:endParaRPr>
          </a:p>
        </p:txBody>
      </p:sp>
      <p:sp>
        <p:nvSpPr>
          <p:cNvPr id="16" name="AutoShape 32"/>
          <p:cNvSpPr>
            <a:spLocks noChangeArrowheads="1"/>
          </p:cNvSpPr>
          <p:nvPr/>
        </p:nvSpPr>
        <p:spPr bwMode="auto">
          <a:xfrm>
            <a:off x="4626347" y="1942480"/>
            <a:ext cx="974725" cy="406400"/>
          </a:xfrm>
          <a:prstGeom prst="diamond">
            <a:avLst/>
          </a:prstGeom>
          <a:solidFill>
            <a:schemeClr val="bg1"/>
          </a:solidFill>
          <a:ln w="9525" algn="ctr">
            <a:solidFill>
              <a:schemeClr val="tx1"/>
            </a:solidFill>
            <a:miter lim="800000"/>
            <a:headEnd/>
            <a:tailEnd/>
          </a:ln>
        </p:spPr>
        <p:txBody>
          <a:bodyPr wrap="none" anchor="ctr"/>
          <a:lstStyle/>
          <a:p>
            <a:pPr algn="ctr" defTabSz="911225">
              <a:defRPr/>
            </a:pPr>
            <a:r>
              <a:rPr lang="en-US" altLang="ko-KR" sz="1000" b="1" dirty="0" err="1">
                <a:solidFill>
                  <a:srgbClr val="000000"/>
                </a:solidFill>
                <a:effectLst>
                  <a:glow rad="101600">
                    <a:schemeClr val="bg1">
                      <a:alpha val="60000"/>
                    </a:schemeClr>
                  </a:glow>
                </a:effectLst>
                <a:latin typeface="arial" pitchFamily="34" charset="0"/>
                <a:ea typeface="+mn-ea"/>
              </a:rPr>
              <a:t>Đang</a:t>
            </a:r>
            <a:r>
              <a:rPr lang="en-US" altLang="ko-KR" sz="1000" b="1" dirty="0">
                <a:solidFill>
                  <a:srgbClr val="000000"/>
                </a:solidFill>
                <a:effectLst>
                  <a:glow rad="101600">
                    <a:schemeClr val="bg1">
                      <a:alpha val="60000"/>
                    </a:schemeClr>
                  </a:glow>
                </a:effectLst>
                <a:latin typeface="arial" pitchFamily="34" charset="0"/>
                <a:ea typeface="+mn-ea"/>
              </a:rPr>
              <a:t> </a:t>
            </a:r>
            <a:r>
              <a:rPr lang="en-US" altLang="ko-KR" sz="1000" b="1" dirty="0" err="1">
                <a:solidFill>
                  <a:srgbClr val="000000"/>
                </a:solidFill>
                <a:effectLst>
                  <a:glow rad="101600">
                    <a:schemeClr val="bg1">
                      <a:alpha val="60000"/>
                    </a:schemeClr>
                  </a:glow>
                </a:effectLst>
                <a:latin typeface="arial" pitchFamily="34" charset="0"/>
                <a:ea typeface="+mn-ea"/>
              </a:rPr>
              <a:t>được</a:t>
            </a:r>
            <a:br>
              <a:rPr lang="en-US" altLang="ko-KR" sz="1000" b="1" dirty="0">
                <a:solidFill>
                  <a:srgbClr val="000000"/>
                </a:solidFill>
                <a:effectLst>
                  <a:glow rad="101600">
                    <a:schemeClr val="bg1">
                      <a:alpha val="60000"/>
                    </a:schemeClr>
                  </a:glow>
                </a:effectLst>
                <a:latin typeface="arial" pitchFamily="34" charset="0"/>
                <a:ea typeface="+mn-ea"/>
              </a:rPr>
            </a:br>
            <a:r>
              <a:rPr lang="en-US" altLang="ko-KR" sz="1000" b="1" dirty="0" err="1">
                <a:solidFill>
                  <a:srgbClr val="000000"/>
                </a:solidFill>
                <a:effectLst>
                  <a:glow rad="101600">
                    <a:schemeClr val="bg1">
                      <a:alpha val="60000"/>
                    </a:schemeClr>
                  </a:glow>
                </a:effectLst>
                <a:latin typeface="arial" pitchFamily="34" charset="0"/>
                <a:ea typeface="+mn-ea"/>
              </a:rPr>
              <a:t>kiểm</a:t>
            </a:r>
            <a:r>
              <a:rPr lang="en-US" altLang="ko-KR" sz="1000" b="1" dirty="0">
                <a:solidFill>
                  <a:srgbClr val="000000"/>
                </a:solidFill>
                <a:effectLst>
                  <a:glow rad="101600">
                    <a:schemeClr val="bg1">
                      <a:alpha val="60000"/>
                    </a:schemeClr>
                  </a:glow>
                </a:effectLst>
                <a:latin typeface="arial" pitchFamily="34" charset="0"/>
                <a:ea typeface="+mn-ea"/>
              </a:rPr>
              <a:t> </a:t>
            </a:r>
            <a:r>
              <a:rPr lang="en-US" altLang="ko-KR" sz="1000" b="1" dirty="0" err="1">
                <a:solidFill>
                  <a:srgbClr val="000000"/>
                </a:solidFill>
                <a:effectLst>
                  <a:glow rad="101600">
                    <a:schemeClr val="bg1">
                      <a:alpha val="60000"/>
                    </a:schemeClr>
                  </a:glow>
                </a:effectLst>
                <a:latin typeface="arial" pitchFamily="34" charset="0"/>
                <a:ea typeface="+mn-ea"/>
              </a:rPr>
              <a:t>soát</a:t>
            </a:r>
            <a:r>
              <a:rPr lang="en-US" altLang="ko-KR" sz="1000" b="1" dirty="0">
                <a:solidFill>
                  <a:srgbClr val="000000"/>
                </a:solidFill>
                <a:effectLst>
                  <a:glow rad="101600">
                    <a:schemeClr val="bg1">
                      <a:alpha val="60000"/>
                    </a:schemeClr>
                  </a:glow>
                </a:effectLst>
                <a:latin typeface="arial" pitchFamily="34" charset="0"/>
                <a:ea typeface="+mn-ea"/>
              </a:rPr>
              <a:t>?</a:t>
            </a:r>
            <a:endParaRPr lang="ko-KR" altLang="en-US" sz="1000" b="1" dirty="0">
              <a:solidFill>
                <a:srgbClr val="000000"/>
              </a:solidFill>
              <a:effectLst>
                <a:glow rad="101600">
                  <a:schemeClr val="bg1">
                    <a:alpha val="60000"/>
                  </a:schemeClr>
                </a:glow>
              </a:effectLst>
              <a:latin typeface="arial" pitchFamily="34" charset="0"/>
              <a:ea typeface="+mn-ea"/>
            </a:endParaRPr>
          </a:p>
        </p:txBody>
      </p:sp>
      <p:sp>
        <p:nvSpPr>
          <p:cNvPr id="18" name="Text Box 34"/>
          <p:cNvSpPr txBox="1">
            <a:spLocks noChangeArrowheads="1"/>
          </p:cNvSpPr>
          <p:nvPr/>
        </p:nvSpPr>
        <p:spPr bwMode="auto">
          <a:xfrm>
            <a:off x="1879600" y="4810125"/>
            <a:ext cx="412292" cy="178960"/>
          </a:xfrm>
          <a:prstGeom prst="rect">
            <a:avLst/>
          </a:prstGeom>
          <a:solidFill>
            <a:schemeClr val="bg1"/>
          </a:solidFill>
          <a:ln w="38100" algn="ctr">
            <a:noFill/>
            <a:miter lim="800000"/>
            <a:headEnd/>
            <a:tailEnd/>
          </a:ln>
        </p:spPr>
        <p:txBody>
          <a:bodyPr wrap="none">
            <a:spAutoFit/>
          </a:bodyPr>
          <a:lstStyle/>
          <a:p>
            <a:pPr defTabSz="911225">
              <a:lnSpc>
                <a:spcPct val="50000"/>
              </a:lnSpc>
              <a:defRPr/>
            </a:pPr>
            <a:r>
              <a:rPr lang="en-US" altLang="ko-KR" sz="1000" dirty="0">
                <a:solidFill>
                  <a:srgbClr val="000000"/>
                </a:solidFill>
                <a:latin typeface="arial" pitchFamily="34" charset="0"/>
                <a:ea typeface="+mn-ea"/>
              </a:rPr>
              <a:t>size</a:t>
            </a:r>
            <a:endParaRPr lang="ko-KR" altLang="en-US" sz="1000" dirty="0">
              <a:solidFill>
                <a:srgbClr val="000000"/>
              </a:solidFill>
              <a:latin typeface="arial" pitchFamily="34" charset="0"/>
              <a:ea typeface="+mn-ea"/>
            </a:endParaRPr>
          </a:p>
        </p:txBody>
      </p:sp>
      <p:sp>
        <p:nvSpPr>
          <p:cNvPr id="19" name="Text Box 35"/>
          <p:cNvSpPr txBox="1">
            <a:spLocks noChangeArrowheads="1"/>
          </p:cNvSpPr>
          <p:nvPr/>
        </p:nvSpPr>
        <p:spPr bwMode="auto">
          <a:xfrm>
            <a:off x="3657600" y="3078163"/>
            <a:ext cx="380232" cy="276999"/>
          </a:xfrm>
          <a:prstGeom prst="rect">
            <a:avLst/>
          </a:prstGeom>
          <a:solidFill>
            <a:schemeClr val="bg1"/>
          </a:solidFill>
          <a:ln w="38100" algn="ctr">
            <a:noFill/>
            <a:miter lim="800000"/>
            <a:headEnd/>
            <a:tailEnd/>
          </a:ln>
        </p:spPr>
        <p:txBody>
          <a:bodyPr wrap="none">
            <a:spAutoFit/>
          </a:bodyPr>
          <a:lstStyle/>
          <a:p>
            <a:pPr defTabSz="911225">
              <a:defRPr/>
            </a:pPr>
            <a:r>
              <a:rPr lang="en-US" altLang="ko-KR" sz="1200" dirty="0" err="1">
                <a:solidFill>
                  <a:srgbClr val="000000"/>
                </a:solidFill>
                <a:latin typeface="arial" pitchFamily="34" charset="0"/>
                <a:ea typeface="+mn-ea"/>
              </a:rPr>
              <a:t>Có</a:t>
            </a:r>
            <a:endParaRPr lang="en-US" altLang="ko-KR" sz="1200" dirty="0">
              <a:solidFill>
                <a:srgbClr val="000000"/>
              </a:solidFill>
              <a:latin typeface="arial" pitchFamily="34" charset="0"/>
              <a:ea typeface="+mn-ea"/>
            </a:endParaRPr>
          </a:p>
        </p:txBody>
      </p:sp>
      <p:sp>
        <p:nvSpPr>
          <p:cNvPr id="20" name="Text Box 36"/>
          <p:cNvSpPr txBox="1">
            <a:spLocks noChangeArrowheads="1"/>
          </p:cNvSpPr>
          <p:nvPr/>
        </p:nvSpPr>
        <p:spPr bwMode="auto">
          <a:xfrm>
            <a:off x="7113588" y="2060575"/>
            <a:ext cx="641522" cy="276999"/>
          </a:xfrm>
          <a:prstGeom prst="rect">
            <a:avLst/>
          </a:prstGeom>
          <a:solidFill>
            <a:schemeClr val="bg1"/>
          </a:solidFill>
          <a:ln w="38100" algn="ctr">
            <a:noFill/>
            <a:miter lim="800000"/>
            <a:headEnd/>
            <a:tailEnd/>
          </a:ln>
        </p:spPr>
        <p:txBody>
          <a:bodyPr wrap="none">
            <a:spAutoFit/>
          </a:bodyPr>
          <a:lstStyle/>
          <a:p>
            <a:pPr defTabSz="911225">
              <a:defRPr/>
            </a:pPr>
            <a:r>
              <a:rPr lang="en-US" altLang="ko-KR" sz="1200" dirty="0" err="1">
                <a:solidFill>
                  <a:srgbClr val="000000"/>
                </a:solidFill>
                <a:latin typeface="arial" pitchFamily="34" charset="0"/>
                <a:ea typeface="+mn-ea"/>
              </a:rPr>
              <a:t>Không</a:t>
            </a:r>
            <a:endParaRPr lang="en-US" altLang="ko-KR" sz="1200" dirty="0">
              <a:solidFill>
                <a:srgbClr val="000000"/>
              </a:solidFill>
              <a:latin typeface="arial" pitchFamily="34" charset="0"/>
              <a:ea typeface="+mn-ea"/>
            </a:endParaRPr>
          </a:p>
        </p:txBody>
      </p:sp>
      <p:pic>
        <p:nvPicPr>
          <p:cNvPr id="21" name="Picture 37" descr="111"/>
          <p:cNvPicPr>
            <a:picLocks noChangeAspect="1" noChangeArrowheads="1"/>
          </p:cNvPicPr>
          <p:nvPr/>
        </p:nvPicPr>
        <p:blipFill>
          <a:blip r:embed="rId5" cstate="print"/>
          <a:srcRect/>
          <a:stretch>
            <a:fillRect/>
          </a:stretch>
        </p:blipFill>
        <p:spPr bwMode="auto">
          <a:xfrm>
            <a:off x="5368925" y="2389188"/>
            <a:ext cx="2897188" cy="1436687"/>
          </a:xfrm>
          <a:prstGeom prst="rect">
            <a:avLst/>
          </a:prstGeom>
          <a:noFill/>
          <a:ln>
            <a:solidFill>
              <a:schemeClr val="bg1">
                <a:lumMod val="65000"/>
              </a:schemeClr>
            </a:solidFill>
          </a:ln>
        </p:spPr>
      </p:pic>
      <p:sp>
        <p:nvSpPr>
          <p:cNvPr id="22" name="Text Box 15"/>
          <p:cNvSpPr txBox="1">
            <a:spLocks noChangeArrowheads="1"/>
          </p:cNvSpPr>
          <p:nvPr/>
        </p:nvSpPr>
        <p:spPr bwMode="auto">
          <a:xfrm>
            <a:off x="5300663" y="2365375"/>
            <a:ext cx="1927131" cy="430887"/>
          </a:xfrm>
          <a:prstGeom prst="rect">
            <a:avLst/>
          </a:prstGeom>
          <a:noFill/>
          <a:ln w="38100" algn="ctr">
            <a:noFill/>
            <a:miter lim="800000"/>
            <a:headEnd/>
            <a:tailEnd/>
          </a:ln>
        </p:spPr>
        <p:txBody>
          <a:bodyPr wrap="none">
            <a:spAutoFit/>
          </a:bodyPr>
          <a:lstStyle/>
          <a:p>
            <a:pPr defTabSz="911225">
              <a:defRPr/>
            </a:pPr>
            <a:r>
              <a:rPr lang="en-US" altLang="ko-KR" sz="1100" b="1" dirty="0" err="1">
                <a:solidFill>
                  <a:srgbClr val="000000"/>
                </a:solidFill>
                <a:latin typeface="arial" pitchFamily="34" charset="0"/>
                <a:ea typeface="+mn-ea"/>
              </a:rPr>
              <a:t>Sai</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lệch</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cho</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nguyên</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nhân</a:t>
            </a:r>
            <a:br>
              <a:rPr lang="en-US" altLang="ko-KR" sz="1100" b="1" dirty="0">
                <a:solidFill>
                  <a:srgbClr val="000000"/>
                </a:solidFill>
                <a:latin typeface="arial" pitchFamily="34" charset="0"/>
                <a:ea typeface="+mn-ea"/>
              </a:rPr>
            </a:br>
            <a:r>
              <a:rPr lang="en-US" altLang="ko-KR" sz="1100" b="1" dirty="0" err="1">
                <a:solidFill>
                  <a:srgbClr val="000000"/>
                </a:solidFill>
                <a:latin typeface="arial" pitchFamily="34" charset="0"/>
                <a:ea typeface="+mn-ea"/>
              </a:rPr>
              <a:t>không</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ngẫu</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nhiên</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gây</a:t>
            </a:r>
            <a:r>
              <a:rPr lang="en-US" altLang="ko-KR" sz="1100" b="1" dirty="0">
                <a:solidFill>
                  <a:srgbClr val="000000"/>
                </a:solidFill>
                <a:latin typeface="arial" pitchFamily="34" charset="0"/>
                <a:ea typeface="+mn-ea"/>
              </a:rPr>
              <a:t> </a:t>
            </a:r>
            <a:r>
              <a:rPr lang="en-US" altLang="ko-KR" sz="1100" b="1" dirty="0" err="1">
                <a:solidFill>
                  <a:srgbClr val="000000"/>
                </a:solidFill>
                <a:latin typeface="arial" pitchFamily="34" charset="0"/>
                <a:ea typeface="+mn-ea"/>
              </a:rPr>
              <a:t>ra</a:t>
            </a:r>
            <a:endParaRPr lang="en-US" altLang="ko-KR" sz="1100" b="1" dirty="0">
              <a:solidFill>
                <a:srgbClr val="000000"/>
              </a:solidFill>
              <a:latin typeface="arial" pitchFamily="34" charset="0"/>
              <a:ea typeface="+mn-ea"/>
            </a:endParaRPr>
          </a:p>
        </p:txBody>
      </p:sp>
      <p:sp>
        <p:nvSpPr>
          <p:cNvPr id="23" name="Text Box 26"/>
          <p:cNvSpPr txBox="1">
            <a:spLocks noChangeArrowheads="1"/>
          </p:cNvSpPr>
          <p:nvPr/>
        </p:nvSpPr>
        <p:spPr bwMode="auto">
          <a:xfrm rot="20036922">
            <a:off x="6748463" y="3348390"/>
            <a:ext cx="458787" cy="281872"/>
          </a:xfrm>
          <a:prstGeom prst="rect">
            <a:avLst/>
          </a:prstGeom>
          <a:solidFill>
            <a:schemeClr val="bg1"/>
          </a:solidFill>
          <a:ln w="38100" algn="ctr">
            <a:noFill/>
            <a:miter lim="800000"/>
            <a:headEnd/>
            <a:tailEnd/>
          </a:ln>
        </p:spPr>
        <p:txBody>
          <a:bodyPr>
            <a:spAutoFit/>
          </a:bodyPr>
          <a:lstStyle/>
          <a:p>
            <a:pPr algn="ctr" defTabSz="911225">
              <a:lnSpc>
                <a:spcPct val="60000"/>
              </a:lnSpc>
              <a:defRPr/>
            </a:pPr>
            <a:r>
              <a:rPr lang="en-US" altLang="ko-KR" sz="1000" dirty="0" err="1">
                <a:solidFill>
                  <a:srgbClr val="000000"/>
                </a:solidFill>
                <a:latin typeface="arial" pitchFamily="34" charset="0"/>
                <a:ea typeface="+mn-ea"/>
              </a:rPr>
              <a:t>Thời</a:t>
            </a:r>
            <a:r>
              <a:rPr lang="en-US" altLang="ko-KR" sz="1000" dirty="0">
                <a:solidFill>
                  <a:srgbClr val="000000"/>
                </a:solidFill>
                <a:latin typeface="arial" pitchFamily="34" charset="0"/>
                <a:ea typeface="+mn-ea"/>
              </a:rPr>
              <a:t> </a:t>
            </a:r>
            <a:r>
              <a:rPr lang="en-US" altLang="ko-KR" sz="1000" dirty="0" err="1">
                <a:solidFill>
                  <a:srgbClr val="000000"/>
                </a:solidFill>
                <a:latin typeface="arial" pitchFamily="34" charset="0"/>
                <a:ea typeface="+mn-ea"/>
              </a:rPr>
              <a:t>gian</a:t>
            </a:r>
            <a:endParaRPr lang="ko-KR" altLang="en-US" sz="1000" dirty="0">
              <a:solidFill>
                <a:srgbClr val="000000"/>
              </a:solidFill>
              <a:latin typeface="arial" pitchFamily="34" charset="0"/>
              <a:ea typeface="+mn-ea"/>
            </a:endParaRPr>
          </a:p>
        </p:txBody>
      </p:sp>
      <p:sp>
        <p:nvSpPr>
          <p:cNvPr id="24" name="Text Box 38"/>
          <p:cNvSpPr txBox="1">
            <a:spLocks noChangeArrowheads="1"/>
          </p:cNvSpPr>
          <p:nvPr/>
        </p:nvSpPr>
        <p:spPr bwMode="auto">
          <a:xfrm>
            <a:off x="7689304" y="2708920"/>
            <a:ext cx="928459" cy="333105"/>
          </a:xfrm>
          <a:prstGeom prst="rect">
            <a:avLst/>
          </a:prstGeom>
          <a:solidFill>
            <a:schemeClr val="bg1"/>
          </a:solidFill>
          <a:ln w="38100" algn="ctr">
            <a:noFill/>
            <a:miter lim="800000"/>
            <a:headEnd/>
            <a:tailEnd/>
          </a:ln>
        </p:spPr>
        <p:txBody>
          <a:bodyPr wrap="none">
            <a:spAutoFit/>
          </a:bodyPr>
          <a:lstStyle/>
          <a:p>
            <a:pPr defTabSz="911225">
              <a:lnSpc>
                <a:spcPct val="50000"/>
              </a:lnSpc>
              <a:defRPr/>
            </a:pPr>
            <a:r>
              <a:rPr lang="en-US" altLang="ko-KR" sz="1000" dirty="0" err="1">
                <a:solidFill>
                  <a:srgbClr val="000000"/>
                </a:solidFill>
                <a:latin typeface="arial" pitchFamily="34" charset="0"/>
                <a:ea typeface="+mn-ea"/>
              </a:rPr>
              <a:t>Khong</a:t>
            </a:r>
            <a:r>
              <a:rPr lang="en-US" altLang="ko-KR" sz="1000" dirty="0">
                <a:solidFill>
                  <a:srgbClr val="000000"/>
                </a:solidFill>
                <a:latin typeface="arial" pitchFamily="34" charset="0"/>
                <a:ea typeface="+mn-ea"/>
              </a:rPr>
              <a:t> </a:t>
            </a:r>
            <a:r>
              <a:rPr lang="en-US" altLang="ko-KR" sz="1000" dirty="0" err="1">
                <a:solidFill>
                  <a:srgbClr val="000000"/>
                </a:solidFill>
                <a:latin typeface="arial" pitchFamily="34" charset="0"/>
                <a:ea typeface="+mn-ea"/>
              </a:rPr>
              <a:t>thể</a:t>
            </a:r>
            <a:br>
              <a:rPr lang="en-US" altLang="ko-KR" sz="1000" dirty="0">
                <a:solidFill>
                  <a:srgbClr val="000000"/>
                </a:solidFill>
                <a:latin typeface="arial" pitchFamily="34" charset="0"/>
                <a:ea typeface="+mn-ea"/>
              </a:rPr>
            </a:br>
            <a:br>
              <a:rPr lang="en-US" altLang="ko-KR" sz="1000" dirty="0">
                <a:solidFill>
                  <a:srgbClr val="000000"/>
                </a:solidFill>
                <a:latin typeface="arial" pitchFamily="34" charset="0"/>
                <a:ea typeface="+mn-ea"/>
              </a:rPr>
            </a:br>
            <a:r>
              <a:rPr lang="en-US" altLang="ko-KR" sz="1000" dirty="0" err="1">
                <a:solidFill>
                  <a:srgbClr val="000000"/>
                </a:solidFill>
                <a:latin typeface="arial" pitchFamily="34" charset="0"/>
                <a:ea typeface="+mn-ea"/>
              </a:rPr>
              <a:t>dự</a:t>
            </a:r>
            <a:r>
              <a:rPr lang="en-US" altLang="ko-KR" sz="1000" dirty="0">
                <a:solidFill>
                  <a:srgbClr val="000000"/>
                </a:solidFill>
                <a:latin typeface="arial" pitchFamily="34" charset="0"/>
                <a:ea typeface="+mn-ea"/>
              </a:rPr>
              <a:t> </a:t>
            </a:r>
            <a:r>
              <a:rPr lang="en-US" altLang="ko-KR" sz="1000" dirty="0" err="1">
                <a:solidFill>
                  <a:srgbClr val="000000"/>
                </a:solidFill>
                <a:latin typeface="arial" pitchFamily="34" charset="0"/>
                <a:ea typeface="+mn-ea"/>
              </a:rPr>
              <a:t>báo</a:t>
            </a:r>
            <a:r>
              <a:rPr lang="en-US" altLang="ko-KR" sz="1000" dirty="0">
                <a:solidFill>
                  <a:srgbClr val="000000"/>
                </a:solidFill>
                <a:latin typeface="arial" pitchFamily="34" charset="0"/>
                <a:ea typeface="+mn-ea"/>
              </a:rPr>
              <a:t> </a:t>
            </a:r>
            <a:r>
              <a:rPr lang="en-US" altLang="ko-KR" sz="1000" dirty="0" err="1">
                <a:solidFill>
                  <a:srgbClr val="000000"/>
                </a:solidFill>
                <a:latin typeface="arial" pitchFamily="34" charset="0"/>
                <a:ea typeface="+mn-ea"/>
              </a:rPr>
              <a:t>được</a:t>
            </a:r>
            <a:endParaRPr lang="ko-KR" altLang="en-US" sz="1000" dirty="0">
              <a:solidFill>
                <a:srgbClr val="000000"/>
              </a:solidFill>
              <a:latin typeface="arial" pitchFamily="34" charset="0"/>
              <a:ea typeface="+mn-ea"/>
            </a:endParaRPr>
          </a:p>
        </p:txBody>
      </p:sp>
      <p:cxnSp>
        <p:nvCxnSpPr>
          <p:cNvPr id="25" name="꺾인 연결선 24"/>
          <p:cNvCxnSpPr>
            <a:stCxn id="16" idx="1"/>
            <a:endCxn id="28" idx="0"/>
          </p:cNvCxnSpPr>
          <p:nvPr/>
        </p:nvCxnSpPr>
        <p:spPr>
          <a:xfrm rot="10800000" flipV="1">
            <a:off x="3381375" y="2145680"/>
            <a:ext cx="1244972" cy="1264270"/>
          </a:xfrm>
          <a:prstGeom prst="bentConnector2">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16" idx="3"/>
            <a:endCxn id="21" idx="0"/>
          </p:cNvCxnSpPr>
          <p:nvPr/>
        </p:nvCxnSpPr>
        <p:spPr>
          <a:xfrm>
            <a:off x="5601072" y="2145680"/>
            <a:ext cx="1216447" cy="243508"/>
          </a:xfrm>
          <a:prstGeom prst="bentConnector2">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27" name="직선 화살표 연결선 26"/>
          <p:cNvCxnSpPr>
            <a:stCxn id="21" idx="2"/>
            <a:endCxn id="14" idx="0"/>
          </p:cNvCxnSpPr>
          <p:nvPr/>
        </p:nvCxnSpPr>
        <p:spPr>
          <a:xfrm>
            <a:off x="6817519" y="3825875"/>
            <a:ext cx="7528" cy="395213"/>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1809750" y="3409950"/>
            <a:ext cx="3143250" cy="1643063"/>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solidFill>
                <a:prstClr val="white"/>
              </a:solidFill>
              <a:latin typeface="arial" pitchFamily="34" charset="0"/>
            </a:endParaRPr>
          </a:p>
        </p:txBody>
      </p:sp>
      <p:cxnSp>
        <p:nvCxnSpPr>
          <p:cNvPr id="29" name="꺾인 연결선 28"/>
          <p:cNvCxnSpPr>
            <a:stCxn id="14" idx="2"/>
            <a:endCxn id="28" idx="3"/>
          </p:cNvCxnSpPr>
          <p:nvPr/>
        </p:nvCxnSpPr>
        <p:spPr>
          <a:xfrm rot="5400000" flipH="1">
            <a:off x="5655024" y="3529459"/>
            <a:ext cx="467999" cy="1872047"/>
          </a:xfrm>
          <a:prstGeom prst="bentConnector4">
            <a:avLst>
              <a:gd name="adj1" fmla="val -48846"/>
              <a:gd name="adj2" fmla="val 89366"/>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30" name="직선 화살표 연결선 29"/>
          <p:cNvCxnSpPr>
            <a:stCxn id="28" idx="2"/>
            <a:endCxn id="12" idx="0"/>
          </p:cNvCxnSpPr>
          <p:nvPr/>
        </p:nvCxnSpPr>
        <p:spPr>
          <a:xfrm flipH="1">
            <a:off x="3375248" y="5053013"/>
            <a:ext cx="6127" cy="30659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31" name="직선 화살표 연결선 30"/>
          <p:cNvCxnSpPr>
            <a:stCxn id="12" idx="2"/>
            <a:endCxn id="13" idx="0"/>
          </p:cNvCxnSpPr>
          <p:nvPr/>
        </p:nvCxnSpPr>
        <p:spPr>
          <a:xfrm flipH="1">
            <a:off x="3369469" y="5838000"/>
            <a:ext cx="5779" cy="28151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32" name="Freeform 109"/>
          <p:cNvSpPr>
            <a:spLocks/>
          </p:cNvSpPr>
          <p:nvPr/>
        </p:nvSpPr>
        <p:spPr bwMode="auto">
          <a:xfrm rot="16200000">
            <a:off x="7779543" y="2917032"/>
            <a:ext cx="1617663" cy="228600"/>
          </a:xfrm>
          <a:custGeom>
            <a:avLst/>
            <a:gdLst>
              <a:gd name="T0" fmla="*/ 0 w 2304"/>
              <a:gd name="T1" fmla="*/ 0 h 144"/>
              <a:gd name="T2" fmla="*/ 2147483647 w 2304"/>
              <a:gd name="T3" fmla="*/ 2147483647 h 144"/>
              <a:gd name="T4" fmla="*/ 2147483647 w 2304"/>
              <a:gd name="T5" fmla="*/ 2147483647 h 144"/>
              <a:gd name="T6" fmla="*/ 2147483647 w 2304"/>
              <a:gd name="T7" fmla="*/ 2147483647 h 144"/>
              <a:gd name="T8" fmla="*/ 2147483647 w 2304"/>
              <a:gd name="T9" fmla="*/ 2147483647 h 144"/>
              <a:gd name="T10" fmla="*/ 2147483647 w 2304"/>
              <a:gd name="T11" fmla="*/ 2147483647 h 144"/>
              <a:gd name="T12" fmla="*/ 2147483647 w 2304"/>
              <a:gd name="T13" fmla="*/ 0 h 144"/>
              <a:gd name="T14" fmla="*/ 0 60000 65536"/>
              <a:gd name="T15" fmla="*/ 0 60000 65536"/>
              <a:gd name="T16" fmla="*/ 0 60000 65536"/>
              <a:gd name="T17" fmla="*/ 0 60000 65536"/>
              <a:gd name="T18" fmla="*/ 0 60000 65536"/>
              <a:gd name="T19" fmla="*/ 0 60000 65536"/>
              <a:gd name="T20" fmla="*/ 0 60000 65536"/>
              <a:gd name="T21" fmla="*/ 0 w 2304"/>
              <a:gd name="T22" fmla="*/ 0 h 144"/>
              <a:gd name="T23" fmla="*/ 2304 w 230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4" h="144">
                <a:moveTo>
                  <a:pt x="0" y="0"/>
                </a:moveTo>
                <a:lnTo>
                  <a:pt x="96" y="96"/>
                </a:lnTo>
                <a:lnTo>
                  <a:pt x="1104" y="96"/>
                </a:lnTo>
                <a:lnTo>
                  <a:pt x="1152" y="144"/>
                </a:lnTo>
                <a:lnTo>
                  <a:pt x="1200" y="96"/>
                </a:lnTo>
                <a:lnTo>
                  <a:pt x="2256" y="96"/>
                </a:lnTo>
                <a:lnTo>
                  <a:pt x="2304" y="0"/>
                </a:lnTo>
              </a:path>
            </a:pathLst>
          </a:custGeom>
          <a:noFill/>
          <a:ln w="9525">
            <a:solidFill>
              <a:schemeClr val="tx1"/>
            </a:solidFill>
            <a:round/>
            <a:headEnd/>
            <a:tailEnd/>
          </a:ln>
        </p:spPr>
        <p:txBody>
          <a:bodyPr/>
          <a:lstStyle/>
          <a:p>
            <a:pPr>
              <a:defRPr/>
            </a:pPr>
            <a:endParaRPr lang="ko-KR" altLang="en-US" dirty="0">
              <a:latin typeface="arial" pitchFamily="34" charset="0"/>
              <a:ea typeface="+mn-ea"/>
            </a:endParaRPr>
          </a:p>
        </p:txBody>
      </p:sp>
      <p:sp>
        <p:nvSpPr>
          <p:cNvPr id="33" name="Text Box 7"/>
          <p:cNvSpPr txBox="1">
            <a:spLocks noChangeArrowheads="1"/>
          </p:cNvSpPr>
          <p:nvPr/>
        </p:nvSpPr>
        <p:spPr bwMode="auto">
          <a:xfrm>
            <a:off x="8697913" y="2499847"/>
            <a:ext cx="1166130" cy="646331"/>
          </a:xfrm>
          <a:prstGeom prst="rect">
            <a:avLst/>
          </a:prstGeom>
          <a:noFill/>
          <a:ln w="9525">
            <a:noFill/>
            <a:miter lim="800000"/>
            <a:headEnd/>
            <a:tailEnd/>
          </a:ln>
        </p:spPr>
        <p:txBody>
          <a:bodyPr wrap="square">
            <a:spAutoFit/>
          </a:bodyPr>
          <a:lstStyle/>
          <a:p>
            <a:pPr defTabSz="911225">
              <a:defRPr/>
            </a:pPr>
            <a:r>
              <a:rPr lang="en-US" altLang="ko-KR" sz="1200" b="1" dirty="0" err="1">
                <a:solidFill>
                  <a:srgbClr val="000000"/>
                </a:solidFill>
                <a:latin typeface="arial" pitchFamily="34" charset="0"/>
                <a:ea typeface="+mn-ea"/>
              </a:rPr>
              <a:t>Biểu</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đồ</a:t>
            </a:r>
            <a:br>
              <a:rPr lang="en-US" altLang="ko-KR" sz="1200" b="1" dirty="0">
                <a:solidFill>
                  <a:srgbClr val="000000"/>
                </a:solidFill>
                <a:latin typeface="arial" pitchFamily="34" charset="0"/>
                <a:ea typeface="+mn-ea"/>
              </a:rPr>
            </a:br>
            <a:r>
              <a:rPr lang="en-US" altLang="ko-KR" sz="1200" b="1" dirty="0" err="1">
                <a:solidFill>
                  <a:srgbClr val="000000"/>
                </a:solidFill>
                <a:latin typeface="arial" pitchFamily="34" charset="0"/>
                <a:ea typeface="+mn-ea"/>
              </a:rPr>
              <a:t>kiểm</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soát</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diễn</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giải</a:t>
            </a:r>
            <a:endParaRPr lang="ko-KR" altLang="en-US" sz="1200" b="1" dirty="0">
              <a:solidFill>
                <a:srgbClr val="000000"/>
              </a:solidFill>
              <a:latin typeface="arial" pitchFamily="34" charset="0"/>
              <a:ea typeface="+mn-ea"/>
            </a:endParaRPr>
          </a:p>
        </p:txBody>
      </p:sp>
      <p:sp>
        <p:nvSpPr>
          <p:cNvPr id="34" name="Freeform 109"/>
          <p:cNvSpPr>
            <a:spLocks/>
          </p:cNvSpPr>
          <p:nvPr/>
        </p:nvSpPr>
        <p:spPr bwMode="auto">
          <a:xfrm rot="5400000">
            <a:off x="815181" y="4104482"/>
            <a:ext cx="1617663" cy="228600"/>
          </a:xfrm>
          <a:custGeom>
            <a:avLst/>
            <a:gdLst>
              <a:gd name="T0" fmla="*/ 0 w 2304"/>
              <a:gd name="T1" fmla="*/ 0 h 144"/>
              <a:gd name="T2" fmla="*/ 2147483647 w 2304"/>
              <a:gd name="T3" fmla="*/ 2147483647 h 144"/>
              <a:gd name="T4" fmla="*/ 2147483647 w 2304"/>
              <a:gd name="T5" fmla="*/ 2147483647 h 144"/>
              <a:gd name="T6" fmla="*/ 2147483647 w 2304"/>
              <a:gd name="T7" fmla="*/ 2147483647 h 144"/>
              <a:gd name="T8" fmla="*/ 2147483647 w 2304"/>
              <a:gd name="T9" fmla="*/ 2147483647 h 144"/>
              <a:gd name="T10" fmla="*/ 2147483647 w 2304"/>
              <a:gd name="T11" fmla="*/ 2147483647 h 144"/>
              <a:gd name="T12" fmla="*/ 2147483647 w 2304"/>
              <a:gd name="T13" fmla="*/ 0 h 144"/>
              <a:gd name="T14" fmla="*/ 0 60000 65536"/>
              <a:gd name="T15" fmla="*/ 0 60000 65536"/>
              <a:gd name="T16" fmla="*/ 0 60000 65536"/>
              <a:gd name="T17" fmla="*/ 0 60000 65536"/>
              <a:gd name="T18" fmla="*/ 0 60000 65536"/>
              <a:gd name="T19" fmla="*/ 0 60000 65536"/>
              <a:gd name="T20" fmla="*/ 0 60000 65536"/>
              <a:gd name="T21" fmla="*/ 0 w 2304"/>
              <a:gd name="T22" fmla="*/ 0 h 144"/>
              <a:gd name="T23" fmla="*/ 2304 w 230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4" h="144">
                <a:moveTo>
                  <a:pt x="0" y="0"/>
                </a:moveTo>
                <a:lnTo>
                  <a:pt x="96" y="96"/>
                </a:lnTo>
                <a:lnTo>
                  <a:pt x="1104" y="96"/>
                </a:lnTo>
                <a:lnTo>
                  <a:pt x="1152" y="144"/>
                </a:lnTo>
                <a:lnTo>
                  <a:pt x="1200" y="96"/>
                </a:lnTo>
                <a:lnTo>
                  <a:pt x="2256" y="96"/>
                </a:lnTo>
                <a:lnTo>
                  <a:pt x="2304" y="0"/>
                </a:lnTo>
              </a:path>
            </a:pathLst>
          </a:custGeom>
          <a:noFill/>
          <a:ln w="9525">
            <a:solidFill>
              <a:schemeClr val="tx1"/>
            </a:solidFill>
            <a:round/>
            <a:headEnd/>
            <a:tailEnd/>
          </a:ln>
        </p:spPr>
        <p:txBody>
          <a:bodyPr/>
          <a:lstStyle/>
          <a:p>
            <a:pPr>
              <a:defRPr/>
            </a:pPr>
            <a:endParaRPr lang="ko-KR" altLang="en-US" dirty="0">
              <a:latin typeface="arial" pitchFamily="34" charset="0"/>
              <a:ea typeface="+mn-ea"/>
            </a:endParaRPr>
          </a:p>
        </p:txBody>
      </p:sp>
      <p:sp>
        <p:nvSpPr>
          <p:cNvPr id="35" name="Text Box 7"/>
          <p:cNvSpPr txBox="1">
            <a:spLocks noChangeArrowheads="1"/>
          </p:cNvSpPr>
          <p:nvPr/>
        </p:nvSpPr>
        <p:spPr bwMode="auto">
          <a:xfrm>
            <a:off x="128464" y="4119463"/>
            <a:ext cx="1440161" cy="461665"/>
          </a:xfrm>
          <a:prstGeom prst="rect">
            <a:avLst/>
          </a:prstGeom>
          <a:noFill/>
          <a:ln w="9525">
            <a:noFill/>
            <a:miter lim="800000"/>
            <a:headEnd/>
            <a:tailEnd/>
          </a:ln>
        </p:spPr>
        <p:txBody>
          <a:bodyPr wrap="square">
            <a:spAutoFit/>
          </a:bodyPr>
          <a:lstStyle/>
          <a:p>
            <a:pPr algn="ctr" defTabSz="911225">
              <a:defRPr/>
            </a:pPr>
            <a:r>
              <a:rPr lang="en-US" altLang="ko-KR" sz="1200" b="1" dirty="0" err="1">
                <a:solidFill>
                  <a:srgbClr val="000000"/>
                </a:solidFill>
                <a:latin typeface="arial" pitchFamily="34" charset="0"/>
                <a:ea typeface="+mn-ea"/>
              </a:rPr>
              <a:t>Biểu</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đồ</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kiểm</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soát</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cho</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quản</a:t>
            </a:r>
            <a:r>
              <a:rPr lang="en-US" altLang="ko-KR" sz="1200" b="1" dirty="0">
                <a:solidFill>
                  <a:srgbClr val="000000"/>
                </a:solidFill>
                <a:latin typeface="arial" pitchFamily="34" charset="0"/>
                <a:ea typeface="+mn-ea"/>
              </a:rPr>
              <a:t> </a:t>
            </a:r>
            <a:r>
              <a:rPr lang="en-US" altLang="ko-KR" sz="1200" b="1" dirty="0" err="1">
                <a:solidFill>
                  <a:srgbClr val="000000"/>
                </a:solidFill>
                <a:latin typeface="arial" pitchFamily="34" charset="0"/>
                <a:ea typeface="+mn-ea"/>
              </a:rPr>
              <a:t>lý</a:t>
            </a:r>
            <a:endParaRPr lang="ko-KR" altLang="en-US" sz="1200" b="1" dirty="0">
              <a:solidFill>
                <a:srgbClr val="000000"/>
              </a:solidFill>
              <a:latin typeface="arial" pitchFamily="34" charset="0"/>
              <a:ea typeface="+mn-ea"/>
            </a:endParaRPr>
          </a:p>
        </p:txBody>
      </p:sp>
      <p:cxnSp>
        <p:nvCxnSpPr>
          <p:cNvPr id="36" name="직선 화살표 연결선 35"/>
          <p:cNvCxnSpPr>
            <a:stCxn id="15" idx="2"/>
            <a:endCxn id="16" idx="0"/>
          </p:cNvCxnSpPr>
          <p:nvPr/>
        </p:nvCxnSpPr>
        <p:spPr>
          <a:xfrm>
            <a:off x="5107782" y="1603375"/>
            <a:ext cx="5928" cy="339105"/>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37" name="Text Box 4"/>
          <p:cNvSpPr txBox="1">
            <a:spLocks noChangeArrowheads="1"/>
          </p:cNvSpPr>
          <p:nvPr/>
        </p:nvSpPr>
        <p:spPr bwMode="auto">
          <a:xfrm>
            <a:off x="5918408" y="5478096"/>
            <a:ext cx="3499088" cy="1107996"/>
          </a:xfrm>
          <a:prstGeom prst="rect">
            <a:avLst/>
          </a:prstGeom>
          <a:noFill/>
          <a:ln w="9525">
            <a:solidFill>
              <a:schemeClr val="bg2">
                <a:lumMod val="25000"/>
              </a:schemeClr>
            </a:solidFill>
            <a:miter lim="800000"/>
            <a:headEnd/>
            <a:tailEnd/>
          </a:ln>
          <a:effectLst/>
        </p:spPr>
        <p:txBody>
          <a:bodyPr wrap="square">
            <a:spAutoFit/>
          </a:bodyPr>
          <a:lstStyle/>
          <a:p>
            <a:pPr>
              <a:defRPr/>
            </a:pPr>
            <a:r>
              <a:rPr lang="vi-VN" altLang="ko-KR" sz="1100" dirty="0">
                <a:latin typeface="arial" pitchFamily="34" charset="0"/>
                <a:ea typeface="+mn-ea"/>
              </a:rPr>
              <a:t>Sơ đồ </a:t>
            </a:r>
            <a:r>
              <a:rPr lang="en-US" altLang="ko-KR" sz="1100" dirty="0" err="1">
                <a:latin typeface="arial" pitchFamily="34" charset="0"/>
                <a:ea typeface="+mn-ea"/>
              </a:rPr>
              <a:t>kiểm</a:t>
            </a:r>
            <a:r>
              <a:rPr lang="en-US" altLang="ko-KR" sz="1100" dirty="0">
                <a:latin typeface="arial" pitchFamily="34" charset="0"/>
                <a:ea typeface="+mn-ea"/>
              </a:rPr>
              <a:t> </a:t>
            </a:r>
            <a:r>
              <a:rPr lang="en-US" altLang="ko-KR" sz="1100" dirty="0" err="1">
                <a:latin typeface="arial" pitchFamily="34" charset="0"/>
                <a:ea typeface="+mn-ea"/>
              </a:rPr>
              <a:t>soát</a:t>
            </a:r>
            <a:r>
              <a:rPr lang="vi-VN" altLang="ko-KR" sz="1100" dirty="0">
                <a:latin typeface="arial" pitchFamily="34" charset="0"/>
                <a:ea typeface="+mn-ea"/>
              </a:rPr>
              <a:t> là công cụ để kiểm tra xem phân phối các thông số thống kê liên quan đến một quá trình vượt quá sự phân bố sản xuất bằng các nguyên nhân </a:t>
            </a:r>
            <a:r>
              <a:rPr lang="en-US" altLang="ko-KR" sz="1100" dirty="0" err="1">
                <a:latin typeface="arial" pitchFamily="34" charset="0"/>
                <a:ea typeface="+mn-ea"/>
              </a:rPr>
              <a:t>ngẫu</a:t>
            </a:r>
            <a:r>
              <a:rPr lang="en-US" altLang="ko-KR" sz="1100" dirty="0">
                <a:latin typeface="arial" pitchFamily="34" charset="0"/>
                <a:ea typeface="+mn-ea"/>
              </a:rPr>
              <a:t> </a:t>
            </a:r>
            <a:r>
              <a:rPr lang="en-US" altLang="ko-KR" sz="1100" dirty="0" err="1">
                <a:latin typeface="arial" pitchFamily="34" charset="0"/>
                <a:ea typeface="+mn-ea"/>
              </a:rPr>
              <a:t>nhiên</a:t>
            </a:r>
            <a:r>
              <a:rPr lang="vi-VN" altLang="ko-KR" sz="1100" dirty="0">
                <a:latin typeface="arial" pitchFamily="34" charset="0"/>
                <a:ea typeface="+mn-ea"/>
              </a:rPr>
              <a:t>. </a:t>
            </a:r>
            <a:r>
              <a:rPr lang="en-US" altLang="ko-KR" sz="1100" dirty="0" err="1">
                <a:latin typeface="arial" pitchFamily="34" charset="0"/>
                <a:ea typeface="+mn-ea"/>
              </a:rPr>
              <a:t>Thao</a:t>
            </a:r>
            <a:r>
              <a:rPr lang="en-US" altLang="ko-KR" sz="1100" dirty="0">
                <a:latin typeface="arial" pitchFamily="34" charset="0"/>
                <a:ea typeface="+mn-ea"/>
              </a:rPr>
              <a:t> </a:t>
            </a:r>
            <a:r>
              <a:rPr lang="en-US" altLang="ko-KR" sz="1100" dirty="0" err="1">
                <a:latin typeface="arial" pitchFamily="34" charset="0"/>
                <a:ea typeface="+mn-ea"/>
              </a:rPr>
              <a:t>tác</a:t>
            </a:r>
            <a:r>
              <a:rPr lang="en-US" altLang="ko-KR" sz="1100" dirty="0">
                <a:latin typeface="arial" pitchFamily="34" charset="0"/>
                <a:ea typeface="+mn-ea"/>
              </a:rPr>
              <a:t> </a:t>
            </a:r>
            <a:r>
              <a:rPr lang="vi-VN" altLang="ko-KR" sz="1100" dirty="0">
                <a:latin typeface="arial" pitchFamily="34" charset="0"/>
                <a:ea typeface="+mn-ea"/>
              </a:rPr>
              <a:t>kiểm tra</a:t>
            </a:r>
            <a:r>
              <a:rPr lang="en-US" altLang="ko-KR" sz="1100" dirty="0">
                <a:latin typeface="arial" pitchFamily="34" charset="0"/>
                <a:ea typeface="+mn-ea"/>
              </a:rPr>
              <a:t> </a:t>
            </a:r>
            <a:r>
              <a:rPr lang="en-US" altLang="ko-KR" sz="1100" dirty="0" err="1">
                <a:latin typeface="arial" pitchFamily="34" charset="0"/>
                <a:ea typeface="+mn-ea"/>
              </a:rPr>
              <a:t>này</a:t>
            </a:r>
            <a:r>
              <a:rPr lang="vi-VN" altLang="ko-KR" sz="1100" dirty="0">
                <a:latin typeface="arial" pitchFamily="34" charset="0"/>
                <a:ea typeface="+mn-ea"/>
              </a:rPr>
              <a:t> giúp xác định </a:t>
            </a:r>
            <a:r>
              <a:rPr lang="en-US" altLang="ko-KR" sz="1100" dirty="0" err="1">
                <a:latin typeface="arial" pitchFamily="34" charset="0"/>
                <a:ea typeface="+mn-ea"/>
              </a:rPr>
              <a:t>trạng</a:t>
            </a:r>
            <a:r>
              <a:rPr lang="en-US" altLang="ko-KR" sz="1100" dirty="0">
                <a:latin typeface="arial" pitchFamily="34" charset="0"/>
                <a:ea typeface="+mn-ea"/>
              </a:rPr>
              <a:t> </a:t>
            </a:r>
            <a:r>
              <a:rPr lang="en-US" altLang="ko-KR" sz="1100" dirty="0" err="1">
                <a:latin typeface="arial" pitchFamily="34" charset="0"/>
                <a:ea typeface="+mn-ea"/>
              </a:rPr>
              <a:t>thái</a:t>
            </a:r>
            <a:r>
              <a:rPr lang="en-US" altLang="ko-KR" sz="1100" dirty="0">
                <a:latin typeface="arial" pitchFamily="34" charset="0"/>
                <a:ea typeface="+mn-ea"/>
              </a:rPr>
              <a:t> </a:t>
            </a:r>
            <a:r>
              <a:rPr lang="en-US" altLang="ko-KR" sz="1100" dirty="0" err="1">
                <a:latin typeface="arial" pitchFamily="34" charset="0"/>
                <a:ea typeface="+mn-ea"/>
              </a:rPr>
              <a:t>của</a:t>
            </a:r>
            <a:r>
              <a:rPr lang="en-US" altLang="ko-KR" sz="1100" dirty="0">
                <a:latin typeface="arial" pitchFamily="34" charset="0"/>
                <a:ea typeface="+mn-ea"/>
              </a:rPr>
              <a:t> </a:t>
            </a:r>
            <a:r>
              <a:rPr lang="en-US" altLang="ko-KR" sz="1100" dirty="0" err="1">
                <a:latin typeface="arial" pitchFamily="34" charset="0"/>
                <a:ea typeface="+mn-ea"/>
              </a:rPr>
              <a:t>quá</a:t>
            </a:r>
            <a:r>
              <a:rPr lang="en-US" altLang="ko-KR" sz="1100" dirty="0">
                <a:latin typeface="arial" pitchFamily="34" charset="0"/>
                <a:ea typeface="+mn-ea"/>
              </a:rPr>
              <a:t> </a:t>
            </a:r>
            <a:r>
              <a:rPr lang="en-US" altLang="ko-KR" sz="1100" dirty="0" err="1">
                <a:latin typeface="arial" pitchFamily="34" charset="0"/>
                <a:ea typeface="+mn-ea"/>
              </a:rPr>
              <a:t>trình</a:t>
            </a:r>
            <a:r>
              <a:rPr lang="en-US" altLang="ko-KR" sz="1100" dirty="0">
                <a:latin typeface="arial" pitchFamily="34" charset="0"/>
                <a:ea typeface="+mn-ea"/>
              </a:rPr>
              <a:t>, </a:t>
            </a:r>
            <a:r>
              <a:rPr lang="en-US" altLang="ko-KR" sz="1100" dirty="0" err="1">
                <a:latin typeface="arial" pitchFamily="34" charset="0"/>
                <a:ea typeface="+mn-ea"/>
              </a:rPr>
              <a:t>khi</a:t>
            </a:r>
            <a:r>
              <a:rPr lang="en-US" altLang="ko-KR" sz="1100" dirty="0">
                <a:latin typeface="arial" pitchFamily="34" charset="0"/>
                <a:ea typeface="+mn-ea"/>
              </a:rPr>
              <a:t> </a:t>
            </a:r>
            <a:r>
              <a:rPr lang="en-US" altLang="ko-KR" sz="1100" dirty="0" err="1">
                <a:latin typeface="arial" pitchFamily="34" charset="0"/>
                <a:ea typeface="+mn-ea"/>
              </a:rPr>
              <a:t>mà</a:t>
            </a:r>
            <a:r>
              <a:rPr lang="vi-VN" altLang="ko-KR" sz="1100" dirty="0">
                <a:latin typeface="arial" pitchFamily="34" charset="0"/>
                <a:ea typeface="+mn-ea"/>
              </a:rPr>
              <a:t> các thông số thống kê của nó được kiểm soát.</a:t>
            </a:r>
            <a:endParaRPr lang="en-US" altLang="ko-KR" sz="1100" dirty="0">
              <a:latin typeface="arial" pitchFamily="34" charset="0"/>
              <a:ea typeface="+mn-ea"/>
            </a:endParaRPr>
          </a:p>
        </p:txBody>
      </p:sp>
      <p:sp>
        <p:nvSpPr>
          <p:cNvPr id="38" name="Text Box 12"/>
          <p:cNvSpPr txBox="1">
            <a:spLocks noChangeArrowheads="1"/>
          </p:cNvSpPr>
          <p:nvPr/>
        </p:nvSpPr>
        <p:spPr bwMode="auto">
          <a:xfrm>
            <a:off x="200472" y="1350293"/>
            <a:ext cx="2939058" cy="1954381"/>
          </a:xfrm>
          <a:prstGeom prst="rect">
            <a:avLst/>
          </a:prstGeom>
          <a:noFill/>
          <a:ln w="9525">
            <a:solidFill>
              <a:schemeClr val="bg2">
                <a:lumMod val="25000"/>
              </a:schemeClr>
            </a:solidFill>
            <a:miter lim="800000"/>
            <a:headEnd/>
            <a:tailEnd/>
          </a:ln>
          <a:effectLst/>
        </p:spPr>
        <p:txBody>
          <a:bodyPr wrap="square">
            <a:spAutoFit/>
          </a:bodyPr>
          <a:lstStyle/>
          <a:p>
            <a:pPr algn="just">
              <a:defRPr/>
            </a:pPr>
            <a:r>
              <a:rPr lang="vi-VN" altLang="ko-KR" sz="1100" dirty="0">
                <a:latin typeface="arial" pitchFamily="34" charset="0"/>
                <a:ea typeface="+mn-ea"/>
              </a:rPr>
              <a:t>Mục đích của một biểu đồ kiểm soát là để duy trì </a:t>
            </a:r>
            <a:r>
              <a:rPr lang="en-US" altLang="ko-KR" sz="1100" dirty="0" err="1">
                <a:latin typeface="arial" pitchFamily="34" charset="0"/>
                <a:ea typeface="+mn-ea"/>
              </a:rPr>
              <a:t>ổn</a:t>
            </a:r>
            <a:r>
              <a:rPr lang="en-US" altLang="ko-KR" sz="1100" dirty="0">
                <a:latin typeface="arial" pitchFamily="34" charset="0"/>
                <a:ea typeface="+mn-ea"/>
              </a:rPr>
              <a:t> </a:t>
            </a:r>
            <a:r>
              <a:rPr lang="en-US" altLang="ko-KR" sz="1100" dirty="0" err="1">
                <a:latin typeface="arial" pitchFamily="34" charset="0"/>
                <a:ea typeface="+mn-ea"/>
              </a:rPr>
              <a:t>định</a:t>
            </a:r>
            <a:r>
              <a:rPr lang="en-US" altLang="ko-KR" sz="1100" dirty="0">
                <a:latin typeface="arial" pitchFamily="34" charset="0"/>
                <a:ea typeface="+mn-ea"/>
              </a:rPr>
              <a:t> </a:t>
            </a:r>
            <a:r>
              <a:rPr lang="vi-VN" altLang="ko-KR" sz="1100" dirty="0">
                <a:latin typeface="arial" pitchFamily="34" charset="0"/>
                <a:ea typeface="+mn-ea"/>
              </a:rPr>
              <a:t>quá trình</a:t>
            </a:r>
            <a:r>
              <a:rPr lang="en-US" altLang="ko-KR" sz="1100" dirty="0">
                <a:latin typeface="arial" pitchFamily="34" charset="0"/>
                <a:ea typeface="+mn-ea"/>
              </a:rPr>
              <a:t> </a:t>
            </a:r>
            <a:r>
              <a:rPr lang="vi-VN" altLang="ko-KR" sz="1100" dirty="0">
                <a:latin typeface="arial" pitchFamily="34" charset="0"/>
                <a:ea typeface="+mn-ea"/>
              </a:rPr>
              <a:t>quản lý bằng cách kiểm tra những thay đổi </a:t>
            </a:r>
            <a:r>
              <a:rPr lang="en-US" altLang="ko-KR" sz="1100" dirty="0" err="1">
                <a:latin typeface="arial" pitchFamily="34" charset="0"/>
                <a:ea typeface="+mn-ea"/>
              </a:rPr>
              <a:t>trong</a:t>
            </a:r>
            <a:r>
              <a:rPr lang="en-US" altLang="ko-KR" sz="1100" dirty="0">
                <a:latin typeface="arial" pitchFamily="34" charset="0"/>
                <a:ea typeface="+mn-ea"/>
              </a:rPr>
              <a:t> </a:t>
            </a:r>
            <a:r>
              <a:rPr lang="vi-VN" altLang="ko-KR" sz="1100" dirty="0">
                <a:latin typeface="arial" pitchFamily="34" charset="0"/>
                <a:ea typeface="+mn-ea"/>
              </a:rPr>
              <a:t>quy trình, xác định và loại bỏ các nguyên nhân gây ra những bất thường và duy trì quá trình này ở mức độ thích hợp để đảm bảo tính nhất quán</a:t>
            </a:r>
            <a:r>
              <a:rPr lang="en-US" altLang="ko-KR" sz="1100" dirty="0">
                <a:latin typeface="arial" pitchFamily="34" charset="0"/>
                <a:ea typeface="+mn-ea"/>
              </a:rPr>
              <a:t> </a:t>
            </a:r>
            <a:r>
              <a:rPr lang="en-US" altLang="ko-KR" sz="1100" dirty="0" err="1">
                <a:latin typeface="arial" pitchFamily="34" charset="0"/>
                <a:ea typeface="+mn-ea"/>
              </a:rPr>
              <a:t>của</a:t>
            </a:r>
            <a:r>
              <a:rPr lang="vi-VN" altLang="ko-KR" sz="1100" dirty="0">
                <a:latin typeface="arial" pitchFamily="34" charset="0"/>
                <a:ea typeface="+mn-ea"/>
              </a:rPr>
              <a:t> sản phẩm.</a:t>
            </a:r>
            <a:endParaRPr lang="en-US" altLang="ko-KR" sz="1100" dirty="0">
              <a:latin typeface="arial" pitchFamily="34" charset="0"/>
              <a:ea typeface="+mn-ea"/>
            </a:endParaRPr>
          </a:p>
          <a:p>
            <a:pPr algn="just">
              <a:defRPr/>
            </a:pPr>
            <a:br>
              <a:rPr lang="vi-VN" altLang="ko-KR" sz="1100" dirty="0">
                <a:latin typeface="arial" pitchFamily="34" charset="0"/>
                <a:ea typeface="+mn-ea"/>
              </a:rPr>
            </a:br>
            <a:r>
              <a:rPr lang="en-US" altLang="ko-KR" sz="1100" dirty="0">
                <a:latin typeface="arial" pitchFamily="34" charset="0"/>
                <a:ea typeface="+mn-ea"/>
              </a:rPr>
              <a:t>C</a:t>
            </a:r>
            <a:r>
              <a:rPr lang="vi-VN" altLang="ko-KR" sz="1100" dirty="0">
                <a:latin typeface="arial" pitchFamily="34" charset="0"/>
                <a:ea typeface="+mn-ea"/>
              </a:rPr>
              <a:t>ác giá trị dữ liệu </a:t>
            </a:r>
            <a:r>
              <a:rPr lang="en-US" altLang="ko-KR" sz="1100" dirty="0" err="1">
                <a:latin typeface="arial" pitchFamily="34" charset="0"/>
                <a:ea typeface="+mn-ea"/>
              </a:rPr>
              <a:t>dùng</a:t>
            </a:r>
            <a:r>
              <a:rPr lang="en-US" altLang="ko-KR" sz="1100" dirty="0">
                <a:latin typeface="arial" pitchFamily="34" charset="0"/>
                <a:ea typeface="+mn-ea"/>
              </a:rPr>
              <a:t> </a:t>
            </a:r>
            <a:r>
              <a:rPr lang="en-US" altLang="ko-KR" sz="1100" dirty="0" err="1">
                <a:latin typeface="arial" pitchFamily="34" charset="0"/>
                <a:ea typeface="+mn-ea"/>
              </a:rPr>
              <a:t>để</a:t>
            </a:r>
            <a:r>
              <a:rPr lang="vi-VN" altLang="ko-KR" sz="1100" dirty="0">
                <a:latin typeface="arial" pitchFamily="34" charset="0"/>
                <a:ea typeface="+mn-ea"/>
              </a:rPr>
              <a:t> tham chiếu như là tiêu chuẩn cần được</a:t>
            </a:r>
            <a:r>
              <a:rPr lang="en-US" altLang="ko-KR" sz="1100" dirty="0">
                <a:latin typeface="arial" pitchFamily="34" charset="0"/>
                <a:ea typeface="+mn-ea"/>
              </a:rPr>
              <a:t> </a:t>
            </a:r>
            <a:r>
              <a:rPr lang="en-US" altLang="ko-KR" sz="1100" dirty="0" err="1">
                <a:latin typeface="arial" pitchFamily="34" charset="0"/>
                <a:ea typeface="+mn-ea"/>
              </a:rPr>
              <a:t>thể</a:t>
            </a:r>
            <a:r>
              <a:rPr lang="en-US" altLang="ko-KR" sz="1100" dirty="0">
                <a:latin typeface="arial" pitchFamily="34" charset="0"/>
                <a:ea typeface="+mn-ea"/>
              </a:rPr>
              <a:t> </a:t>
            </a:r>
            <a:r>
              <a:rPr lang="en-US" altLang="ko-KR" sz="1100" dirty="0" err="1">
                <a:latin typeface="arial" pitchFamily="34" charset="0"/>
                <a:ea typeface="+mn-ea"/>
              </a:rPr>
              <a:t>hiện</a:t>
            </a:r>
            <a:r>
              <a:rPr lang="en-US" altLang="ko-KR" sz="1100" dirty="0">
                <a:latin typeface="arial" pitchFamily="34" charset="0"/>
                <a:ea typeface="+mn-ea"/>
              </a:rPr>
              <a:t> </a:t>
            </a:r>
            <a:r>
              <a:rPr lang="en-US" altLang="ko-KR" sz="1100" dirty="0" err="1">
                <a:latin typeface="arial" pitchFamily="34" charset="0"/>
                <a:ea typeface="+mn-ea"/>
              </a:rPr>
              <a:t>ra</a:t>
            </a:r>
            <a:r>
              <a:rPr lang="vi-VN" altLang="ko-KR" sz="1100" dirty="0">
                <a:latin typeface="arial" pitchFamily="34" charset="0"/>
                <a:ea typeface="+mn-ea"/>
              </a:rPr>
              <a:t> với </a:t>
            </a:r>
            <a:r>
              <a:rPr lang="en-US" altLang="ko-KR" sz="1100" dirty="0">
                <a:latin typeface="arial" pitchFamily="34" charset="0"/>
                <a:ea typeface="+mn-ea"/>
              </a:rPr>
              <a:t>“</a:t>
            </a:r>
            <a:r>
              <a:rPr lang="en-US" altLang="ko-KR" sz="1100" dirty="0" err="1">
                <a:latin typeface="arial" pitchFamily="34" charset="0"/>
                <a:ea typeface="+mn-ea"/>
              </a:rPr>
              <a:t>Biểu</a:t>
            </a:r>
            <a:r>
              <a:rPr lang="en-US" altLang="ko-KR" sz="1100" dirty="0">
                <a:latin typeface="arial" pitchFamily="34" charset="0"/>
                <a:ea typeface="+mn-ea"/>
              </a:rPr>
              <a:t> </a:t>
            </a:r>
            <a:r>
              <a:rPr lang="en-US" altLang="ko-KR" sz="1100" dirty="0" err="1">
                <a:latin typeface="arial" pitchFamily="34" charset="0"/>
                <a:ea typeface="+mn-ea"/>
              </a:rPr>
              <a:t>đồ</a:t>
            </a:r>
            <a:r>
              <a:rPr lang="en-US" altLang="ko-KR" sz="1100" dirty="0">
                <a:latin typeface="arial" pitchFamily="34" charset="0"/>
                <a:ea typeface="+mn-ea"/>
              </a:rPr>
              <a:t> </a:t>
            </a:r>
            <a:r>
              <a:rPr lang="en-US" altLang="ko-KR" sz="1100" dirty="0" err="1">
                <a:latin typeface="arial" pitchFamily="34" charset="0"/>
                <a:ea typeface="+mn-ea"/>
              </a:rPr>
              <a:t>kiểm</a:t>
            </a:r>
            <a:r>
              <a:rPr lang="en-US" altLang="ko-KR" sz="1100" dirty="0">
                <a:latin typeface="arial" pitchFamily="34" charset="0"/>
                <a:ea typeface="+mn-ea"/>
              </a:rPr>
              <a:t> </a:t>
            </a:r>
            <a:r>
              <a:rPr lang="en-US" altLang="ko-KR" sz="1100" dirty="0" err="1">
                <a:latin typeface="arial" pitchFamily="34" charset="0"/>
                <a:ea typeface="+mn-ea"/>
              </a:rPr>
              <a:t>soát</a:t>
            </a:r>
            <a:r>
              <a:rPr lang="en-US" altLang="ko-KR" sz="1100" dirty="0">
                <a:latin typeface="arial" pitchFamily="34" charset="0"/>
                <a:ea typeface="+mn-ea"/>
              </a:rPr>
              <a:t> </a:t>
            </a:r>
            <a:r>
              <a:rPr lang="en-US" altLang="ko-KR" sz="1100" dirty="0" err="1">
                <a:latin typeface="arial" pitchFamily="34" charset="0"/>
                <a:ea typeface="+mn-ea"/>
              </a:rPr>
              <a:t>diễn</a:t>
            </a:r>
            <a:r>
              <a:rPr lang="en-US" altLang="ko-KR" sz="1100" dirty="0">
                <a:latin typeface="arial" pitchFamily="34" charset="0"/>
                <a:ea typeface="+mn-ea"/>
              </a:rPr>
              <a:t> </a:t>
            </a:r>
            <a:r>
              <a:rPr lang="en-US" altLang="ko-KR" sz="1100" dirty="0" err="1">
                <a:latin typeface="arial" pitchFamily="34" charset="0"/>
                <a:ea typeface="+mn-ea"/>
              </a:rPr>
              <a:t>giải</a:t>
            </a:r>
            <a:r>
              <a:rPr lang="en-US" altLang="ko-KR" sz="1100" dirty="0">
                <a:latin typeface="arial" pitchFamily="34" charset="0"/>
                <a:ea typeface="+mn-ea"/>
              </a:rPr>
              <a:t>”</a:t>
            </a:r>
            <a:endParaRPr lang="en-US" altLang="ko-KR" sz="1100" dirty="0">
              <a:solidFill>
                <a:prstClr val="black"/>
              </a:solidFill>
              <a:latin typeface="arial" pitchFamily="34" charset="0"/>
              <a:ea typeface="+mn-ea"/>
            </a:endParaRPr>
          </a:p>
        </p:txBody>
      </p:sp>
      <p:cxnSp>
        <p:nvCxnSpPr>
          <p:cNvPr id="39" name="꺾인 연결선 38"/>
          <p:cNvCxnSpPr/>
          <p:nvPr/>
        </p:nvCxnSpPr>
        <p:spPr>
          <a:xfrm rot="5400000">
            <a:off x="7860507" y="4212431"/>
            <a:ext cx="2419350" cy="131763"/>
          </a:xfrm>
          <a:prstGeom prst="bentConnector3">
            <a:avLst>
              <a:gd name="adj1" fmla="val 50000"/>
            </a:avLst>
          </a:prstGeom>
          <a:ln w="28575">
            <a:solidFill>
              <a:schemeClr val="bg2">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5" idx="0"/>
          </p:cNvCxnSpPr>
          <p:nvPr/>
        </p:nvCxnSpPr>
        <p:spPr>
          <a:xfrm rot="16200000" flipV="1">
            <a:off x="405289" y="3676207"/>
            <a:ext cx="785792" cy="100720"/>
          </a:xfrm>
          <a:prstGeom prst="bentConnector3">
            <a:avLst>
              <a:gd name="adj1" fmla="val 50000"/>
            </a:avLst>
          </a:prstGeom>
          <a:ln w="28575">
            <a:solidFill>
              <a:schemeClr val="bg2">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41" name="Rectangle 26"/>
          <p:cNvSpPr>
            <a:spLocks noChangeArrowheads="1"/>
          </p:cNvSpPr>
          <p:nvPr/>
        </p:nvSpPr>
        <p:spPr bwMode="auto">
          <a:xfrm>
            <a:off x="285750" y="887413"/>
            <a:ext cx="3884397" cy="380873"/>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b="1" dirty="0" err="1">
                <a:solidFill>
                  <a:srgbClr val="000000"/>
                </a:solidFill>
                <a:latin typeface="arial" pitchFamily="34" charset="0"/>
                <a:ea typeface="+mn-ea"/>
              </a:rPr>
              <a:t>Ứng</a:t>
            </a:r>
            <a:r>
              <a:rPr kumimoji="0" lang="en-US" altLang="ko-KR" b="1" dirty="0">
                <a:solidFill>
                  <a:srgbClr val="000000"/>
                </a:solidFill>
                <a:latin typeface="arial" pitchFamily="34" charset="0"/>
                <a:ea typeface="+mn-ea"/>
              </a:rPr>
              <a:t> </a:t>
            </a:r>
            <a:r>
              <a:rPr kumimoji="0" lang="en-US" altLang="ko-KR" b="1" dirty="0" err="1">
                <a:solidFill>
                  <a:srgbClr val="000000"/>
                </a:solidFill>
                <a:latin typeface="arial" pitchFamily="34" charset="0"/>
                <a:ea typeface="+mn-ea"/>
              </a:rPr>
              <a:t>dụng</a:t>
            </a:r>
            <a:r>
              <a:rPr kumimoji="0" lang="en-US" altLang="ko-KR" b="1" dirty="0">
                <a:solidFill>
                  <a:srgbClr val="000000"/>
                </a:solidFill>
                <a:latin typeface="arial" pitchFamily="34" charset="0"/>
                <a:ea typeface="+mn-ea"/>
              </a:rPr>
              <a:t> </a:t>
            </a:r>
            <a:r>
              <a:rPr kumimoji="0" lang="en-US" altLang="ko-KR" b="1" dirty="0" err="1">
                <a:solidFill>
                  <a:srgbClr val="000000"/>
                </a:solidFill>
                <a:latin typeface="arial" pitchFamily="34" charset="0"/>
                <a:ea typeface="+mn-ea"/>
              </a:rPr>
              <a:t>của</a:t>
            </a:r>
            <a:r>
              <a:rPr kumimoji="0" lang="en-US" altLang="ko-KR" b="1" dirty="0">
                <a:solidFill>
                  <a:srgbClr val="000000"/>
                </a:solidFill>
                <a:latin typeface="arial" pitchFamily="34" charset="0"/>
                <a:ea typeface="+mn-ea"/>
              </a:rPr>
              <a:t> </a:t>
            </a:r>
            <a:r>
              <a:rPr kumimoji="0" lang="en-US" altLang="ko-KR" b="1" dirty="0" err="1">
                <a:solidFill>
                  <a:srgbClr val="000000"/>
                </a:solidFill>
                <a:latin typeface="arial" pitchFamily="34" charset="0"/>
                <a:ea typeface="+mn-ea"/>
              </a:rPr>
              <a:t>biểu</a:t>
            </a:r>
            <a:r>
              <a:rPr kumimoji="0" lang="en-US" altLang="ko-KR" b="1" dirty="0">
                <a:solidFill>
                  <a:srgbClr val="000000"/>
                </a:solidFill>
                <a:latin typeface="arial" pitchFamily="34" charset="0"/>
                <a:ea typeface="+mn-ea"/>
              </a:rPr>
              <a:t> </a:t>
            </a:r>
            <a:r>
              <a:rPr kumimoji="0" lang="en-US" altLang="ko-KR" b="1" dirty="0" err="1">
                <a:solidFill>
                  <a:srgbClr val="000000"/>
                </a:solidFill>
                <a:latin typeface="arial" pitchFamily="34" charset="0"/>
                <a:ea typeface="+mn-ea"/>
              </a:rPr>
              <a:t>đồ</a:t>
            </a:r>
            <a:r>
              <a:rPr kumimoji="0" lang="en-US" altLang="ko-KR" b="1" dirty="0">
                <a:solidFill>
                  <a:srgbClr val="000000"/>
                </a:solidFill>
                <a:latin typeface="arial" pitchFamily="34" charset="0"/>
                <a:ea typeface="+mn-ea"/>
              </a:rPr>
              <a:t> </a:t>
            </a:r>
            <a:r>
              <a:rPr kumimoji="0" lang="en-US" altLang="ko-KR" b="1" dirty="0" err="1">
                <a:solidFill>
                  <a:srgbClr val="000000"/>
                </a:solidFill>
                <a:latin typeface="arial" pitchFamily="34" charset="0"/>
                <a:ea typeface="+mn-ea"/>
              </a:rPr>
              <a:t>kiểm</a:t>
            </a:r>
            <a:r>
              <a:rPr kumimoji="0" lang="en-US" altLang="ko-KR" b="1" dirty="0">
                <a:solidFill>
                  <a:srgbClr val="000000"/>
                </a:solidFill>
                <a:latin typeface="arial" pitchFamily="34" charset="0"/>
                <a:ea typeface="+mn-ea"/>
              </a:rPr>
              <a:t> </a:t>
            </a:r>
            <a:r>
              <a:rPr kumimoji="0" lang="en-US" altLang="ko-KR" b="1" dirty="0" err="1">
                <a:solidFill>
                  <a:srgbClr val="000000"/>
                </a:solidFill>
                <a:latin typeface="arial" pitchFamily="34" charset="0"/>
                <a:ea typeface="+mn-ea"/>
              </a:rPr>
              <a:t>soát</a:t>
            </a:r>
            <a:endParaRPr kumimoji="0" lang="ko-KR" altLang="en-US" b="1" dirty="0">
              <a:solidFill>
                <a:srgbClr val="000000"/>
              </a:solidFill>
              <a:latin typeface="arial" pitchFamily="34" charset="0"/>
              <a:ea typeface="+mn-ea"/>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254</a:t>
            </a:fld>
            <a:endParaRPr lang="ko-KR" altLang="en-US" dirty="0"/>
          </a:p>
        </p:txBody>
      </p:sp>
      <p:sp>
        <p:nvSpPr>
          <p:cNvPr id="42" name="제목 8"/>
          <p:cNvSpPr txBox="1">
            <a:spLocks/>
          </p:cNvSpPr>
          <p:nvPr/>
        </p:nvSpPr>
        <p:spPr bwMode="auto">
          <a:xfrm>
            <a:off x="195263" y="188913"/>
            <a:ext cx="8813800" cy="488950"/>
          </a:xfrm>
          <a:prstGeom prst="rect">
            <a:avLst/>
          </a:prstGeom>
        </p:spPr>
        <p:txBody>
          <a:bodyPr/>
          <a:lstStyle/>
          <a:p>
            <a:pPr>
              <a:defRPr/>
            </a:pPr>
            <a:r>
              <a:rPr lang="en-US" altLang="ko-KR" sz="2000" b="1" dirty="0">
                <a:latin typeface="arial" pitchFamily="34" charset="0"/>
                <a:ea typeface="+mn-ea"/>
              </a:rPr>
              <a:t>3. </a:t>
            </a:r>
            <a:r>
              <a:rPr lang="en-US" altLang="ko-KR" sz="2000" b="1" dirty="0" err="1">
                <a:latin typeface="arial" pitchFamily="34" charset="0"/>
                <a:ea typeface="+mn-ea"/>
              </a:rPr>
              <a:t>Các</a:t>
            </a:r>
            <a:r>
              <a:rPr lang="en-US" altLang="ko-KR" sz="2000" b="1" dirty="0">
                <a:latin typeface="arial" pitchFamily="34" charset="0"/>
                <a:ea typeface="+mn-ea"/>
              </a:rPr>
              <a:t> </a:t>
            </a:r>
            <a:r>
              <a:rPr lang="en-US" altLang="ko-KR" sz="2000" b="1" dirty="0" err="1">
                <a:latin typeface="arial" pitchFamily="34" charset="0"/>
                <a:ea typeface="+mn-ea"/>
              </a:rPr>
              <a:t>ứng</a:t>
            </a:r>
            <a:r>
              <a:rPr lang="en-US" altLang="ko-KR" sz="2000" b="1" dirty="0">
                <a:latin typeface="arial" pitchFamily="34" charset="0"/>
                <a:ea typeface="+mn-ea"/>
              </a:rPr>
              <a:t> </a:t>
            </a:r>
            <a:r>
              <a:rPr lang="en-US" altLang="ko-KR" sz="2000" b="1" dirty="0" err="1">
                <a:latin typeface="arial" pitchFamily="34" charset="0"/>
                <a:ea typeface="+mn-ea"/>
              </a:rPr>
              <a:t>dụng</a:t>
            </a:r>
            <a:r>
              <a:rPr lang="en-US" altLang="ko-KR" sz="2000" b="1" dirty="0">
                <a:latin typeface="arial" pitchFamily="34" charset="0"/>
                <a:ea typeface="+mn-ea"/>
              </a:rPr>
              <a:t> </a:t>
            </a:r>
            <a:r>
              <a:rPr lang="en-US" altLang="ko-KR" sz="2000" b="1" dirty="0" err="1">
                <a:latin typeface="arial" pitchFamily="34" charset="0"/>
                <a:ea typeface="+mn-ea"/>
              </a:rPr>
              <a:t>của</a:t>
            </a:r>
            <a:r>
              <a:rPr lang="en-US" altLang="ko-KR" sz="2000" b="1" dirty="0">
                <a:latin typeface="arial" pitchFamily="34" charset="0"/>
                <a:ea typeface="+mn-ea"/>
              </a:rPr>
              <a:t> </a:t>
            </a:r>
            <a:r>
              <a:rPr lang="en-US" altLang="ko-KR" sz="2000" b="1" dirty="0" err="1">
                <a:latin typeface="arial" pitchFamily="34" charset="0"/>
                <a:ea typeface="+mn-ea"/>
              </a:rPr>
              <a:t>biểu</a:t>
            </a:r>
            <a:r>
              <a:rPr lang="en-US" altLang="ko-KR" sz="2000" b="1" dirty="0">
                <a:latin typeface="arial" pitchFamily="34" charset="0"/>
                <a:ea typeface="+mn-ea"/>
              </a:rPr>
              <a:t> </a:t>
            </a:r>
            <a:r>
              <a:rPr lang="en-US" altLang="ko-KR" sz="2000" b="1" dirty="0" err="1">
                <a:latin typeface="arial" pitchFamily="34" charset="0"/>
                <a:ea typeface="+mn-ea"/>
              </a:rPr>
              <a:t>đồ</a:t>
            </a:r>
            <a:r>
              <a:rPr lang="en-US" altLang="ko-KR" sz="2000" b="1" dirty="0">
                <a:latin typeface="arial" pitchFamily="34" charset="0"/>
                <a:ea typeface="+mn-ea"/>
              </a:rPr>
              <a:t> </a:t>
            </a:r>
            <a:r>
              <a:rPr lang="en-US" altLang="ko-KR" sz="2000" b="1" dirty="0" err="1">
                <a:latin typeface="arial" pitchFamily="34" charset="0"/>
                <a:ea typeface="+mn-ea"/>
              </a:rPr>
              <a:t>kiểm</a:t>
            </a:r>
            <a:r>
              <a:rPr lang="en-US" altLang="ko-KR" sz="2000" b="1" dirty="0">
                <a:latin typeface="arial" pitchFamily="34" charset="0"/>
                <a:ea typeface="+mn-ea"/>
              </a:rPr>
              <a:t> </a:t>
            </a:r>
            <a:r>
              <a:rPr lang="en-US" altLang="ko-KR" sz="2000" b="1" dirty="0" err="1">
                <a:latin typeface="arial" pitchFamily="34" charset="0"/>
                <a:ea typeface="+mn-ea"/>
              </a:rPr>
              <a:t>soát</a:t>
            </a:r>
            <a:endParaRPr kumimoji="0" lang="ko-KR" altLang="en-US" sz="2000" b="1" dirty="0">
              <a:latin typeface="arial" pitchFamily="34" charset="0"/>
              <a:ea typeface="+mn-ea"/>
              <a:cs typeface="+mj-cs"/>
            </a:endParaRPr>
          </a:p>
        </p:txBody>
      </p:sp>
    </p:spTree>
    <p:extLst>
      <p:ext uri="{BB962C8B-B14F-4D97-AF65-F5344CB8AC3E}">
        <p14:creationId xmlns:p14="http://schemas.microsoft.com/office/powerpoint/2010/main" val="4291388357"/>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4. </a:t>
            </a:r>
            <a:r>
              <a:rPr lang="en-US" altLang="ko-KR" sz="2000" b="1" dirty="0" err="1"/>
              <a:t>Loại</a:t>
            </a:r>
            <a:r>
              <a:rPr lang="en-US" altLang="ko-KR" sz="2000" b="1" dirty="0"/>
              <a:t> </a:t>
            </a:r>
            <a:r>
              <a:rPr lang="en-US" altLang="ko-KR" sz="2000" b="1" dirty="0" err="1"/>
              <a:t>biểu</a:t>
            </a:r>
            <a:r>
              <a:rPr lang="en-US" altLang="ko-KR" sz="2000" b="1" dirty="0"/>
              <a:t> </a:t>
            </a:r>
            <a:r>
              <a:rPr lang="en-US" altLang="ko-KR" sz="2000" b="1" dirty="0" err="1"/>
              <a:t>đồ</a:t>
            </a:r>
            <a:r>
              <a:rPr lang="en-US" altLang="ko-KR" sz="2000" b="1" dirty="0"/>
              <a:t> </a:t>
            </a:r>
            <a:r>
              <a:rPr lang="en-US" altLang="ko-KR" sz="2000" b="1" dirty="0" err="1"/>
              <a:t>kiểm</a:t>
            </a:r>
            <a:r>
              <a:rPr lang="en-US" altLang="ko-KR" sz="2000" b="1" dirty="0"/>
              <a:t> </a:t>
            </a:r>
            <a:r>
              <a:rPr lang="en-US" altLang="ko-KR" sz="2000" b="1" dirty="0" err="1"/>
              <a:t>soát</a:t>
            </a:r>
            <a:endParaRPr lang="ko-KR" altLang="en-US" sz="2000" b="1" dirty="0"/>
          </a:p>
        </p:txBody>
      </p:sp>
      <p:sp>
        <p:nvSpPr>
          <p:cNvPr id="71" name="Rectangle 3"/>
          <p:cNvSpPr>
            <a:spLocks noChangeArrowheads="1"/>
          </p:cNvSpPr>
          <p:nvPr/>
        </p:nvSpPr>
        <p:spPr bwMode="auto">
          <a:xfrm>
            <a:off x="2151063" y="2097088"/>
            <a:ext cx="2016125" cy="431800"/>
          </a:xfrm>
          <a:prstGeom prst="rect">
            <a:avLst/>
          </a:prstGeom>
          <a:solidFill>
            <a:schemeClr val="bg1">
              <a:lumMod val="50000"/>
            </a:schemeClr>
          </a:solidFill>
          <a:ln w="9525" algn="ctr">
            <a:solidFill>
              <a:schemeClr val="bg1">
                <a:lumMod val="65000"/>
              </a:schemeClr>
            </a:solidFill>
            <a:miter lim="800000"/>
            <a:headEnd/>
            <a:tailEnd/>
          </a:ln>
        </p:spPr>
        <p:txBody>
          <a:bodyPr wrap="none" anchor="ctr"/>
          <a:lstStyle/>
          <a:p>
            <a:pPr algn="ctr">
              <a:defRPr/>
            </a:pPr>
            <a:r>
              <a:rPr lang="en-US" altLang="ko-KR" sz="1200" b="1" dirty="0" err="1">
                <a:solidFill>
                  <a:srgbClr val="FFFFFF"/>
                </a:solidFill>
                <a:latin typeface="arial" pitchFamily="34" charset="0"/>
                <a:ea typeface="맑은 고딕" panose="020B0503020000020004" pitchFamily="50" charset="-127"/>
              </a:rPr>
              <a:t>Liên</a:t>
            </a:r>
            <a:r>
              <a:rPr lang="en-US" altLang="ko-KR" sz="1200" b="1" dirty="0">
                <a:solidFill>
                  <a:srgbClr val="FFFFFF"/>
                </a:solidFill>
                <a:latin typeface="arial" pitchFamily="34" charset="0"/>
                <a:ea typeface="맑은 고딕" panose="020B0503020000020004" pitchFamily="50" charset="-127"/>
              </a:rPr>
              <a:t> </a:t>
            </a:r>
            <a:r>
              <a:rPr lang="en-US" altLang="ko-KR" sz="1200" b="1" dirty="0" err="1">
                <a:solidFill>
                  <a:srgbClr val="FFFFFF"/>
                </a:solidFill>
                <a:latin typeface="arial" pitchFamily="34" charset="0"/>
                <a:ea typeface="맑은 고딕" panose="020B0503020000020004" pitchFamily="50" charset="-127"/>
              </a:rPr>
              <a:t>tục</a:t>
            </a:r>
            <a:endParaRPr lang="en-US" altLang="ko-KR" sz="1200" b="1" dirty="0">
              <a:solidFill>
                <a:srgbClr val="FFFFFF"/>
              </a:solidFill>
              <a:latin typeface="arial" pitchFamily="34" charset="0"/>
              <a:ea typeface="맑은 고딕" panose="020B0503020000020004" pitchFamily="50" charset="-127"/>
            </a:endParaRPr>
          </a:p>
        </p:txBody>
      </p:sp>
      <p:sp>
        <p:nvSpPr>
          <p:cNvPr id="72" name="AutoShape 4"/>
          <p:cNvSpPr>
            <a:spLocks noChangeArrowheads="1"/>
          </p:cNvSpPr>
          <p:nvPr/>
        </p:nvSpPr>
        <p:spPr bwMode="auto">
          <a:xfrm>
            <a:off x="1731690" y="3570288"/>
            <a:ext cx="1079500" cy="504825"/>
          </a:xfrm>
          <a:prstGeom prst="diamond">
            <a:avLst/>
          </a:prstGeom>
          <a:noFill/>
          <a:ln w="9525" algn="ctr">
            <a:solidFill>
              <a:schemeClr val="bg1">
                <a:lumMod val="65000"/>
              </a:schemeClr>
            </a:solidFill>
            <a:miter lim="800000"/>
            <a:headEnd/>
            <a:tailEnd/>
          </a:ln>
        </p:spPr>
        <p:txBody>
          <a:bodyPr wrap="none" anchor="ctr"/>
          <a:lstStyle/>
          <a:p>
            <a:pPr algn="ctr">
              <a:defRPr/>
            </a:pPr>
            <a:r>
              <a:rPr lang="en-US" altLang="ko-KR" sz="1200" b="1" dirty="0" err="1">
                <a:solidFill>
                  <a:srgbClr val="000000"/>
                </a:solidFill>
                <a:latin typeface="arial" pitchFamily="34" charset="0"/>
                <a:ea typeface="맑은 고딕" panose="020B0503020000020004" pitchFamily="50" charset="-127"/>
              </a:rPr>
              <a:t>Kích</a:t>
            </a:r>
            <a:r>
              <a:rPr lang="en-US" altLang="ko-KR" sz="1200" b="1" dirty="0">
                <a:solidFill>
                  <a:srgbClr val="000000"/>
                </a:solidFill>
                <a:latin typeface="arial" pitchFamily="34" charset="0"/>
                <a:ea typeface="맑은 고딕" panose="020B0503020000020004" pitchFamily="50" charset="-127"/>
              </a:rPr>
              <a:t> </a:t>
            </a:r>
            <a:r>
              <a:rPr lang="en-US" altLang="ko-KR" sz="1200" b="1" dirty="0" err="1">
                <a:solidFill>
                  <a:srgbClr val="000000"/>
                </a:solidFill>
                <a:latin typeface="arial" pitchFamily="34" charset="0"/>
                <a:ea typeface="맑은 고딕" panose="020B0503020000020004" pitchFamily="50" charset="-127"/>
              </a:rPr>
              <a:t>thước</a:t>
            </a:r>
            <a:br>
              <a:rPr lang="en-US" altLang="ko-KR" sz="1200" b="1" dirty="0">
                <a:solidFill>
                  <a:srgbClr val="000000"/>
                </a:solidFill>
                <a:latin typeface="arial" pitchFamily="34" charset="0"/>
                <a:ea typeface="맑은 고딕" panose="020B0503020000020004" pitchFamily="50" charset="-127"/>
              </a:rPr>
            </a:br>
            <a:r>
              <a:rPr lang="en-US" altLang="ko-KR" sz="1200" b="1" dirty="0" err="1">
                <a:solidFill>
                  <a:srgbClr val="000000"/>
                </a:solidFill>
                <a:latin typeface="arial" pitchFamily="34" charset="0"/>
                <a:ea typeface="맑은 고딕" panose="020B0503020000020004" pitchFamily="50" charset="-127"/>
              </a:rPr>
              <a:t>nhóm</a:t>
            </a:r>
            <a:endParaRPr lang="ko-KR" altLang="en-US" sz="1200" b="1" dirty="0">
              <a:solidFill>
                <a:srgbClr val="000000"/>
              </a:solidFill>
              <a:latin typeface="arial" pitchFamily="34" charset="0"/>
              <a:ea typeface="맑은 고딕" panose="020B0503020000020004" pitchFamily="50" charset="-127"/>
            </a:endParaRPr>
          </a:p>
        </p:txBody>
      </p:sp>
      <p:cxnSp>
        <p:nvCxnSpPr>
          <p:cNvPr id="73" name="AutoShape 5"/>
          <p:cNvCxnSpPr>
            <a:cxnSpLocks noChangeShapeType="1"/>
            <a:stCxn id="71" idx="2"/>
            <a:endCxn id="108" idx="0"/>
          </p:cNvCxnSpPr>
          <p:nvPr/>
        </p:nvCxnSpPr>
        <p:spPr bwMode="auto">
          <a:xfrm rot="5400000">
            <a:off x="2532857" y="2262981"/>
            <a:ext cx="360362" cy="892175"/>
          </a:xfrm>
          <a:prstGeom prst="bentConnector3">
            <a:avLst>
              <a:gd name="adj1" fmla="val 50000"/>
            </a:avLst>
          </a:prstGeom>
          <a:noFill/>
          <a:ln w="9525">
            <a:solidFill>
              <a:schemeClr val="bg1">
                <a:lumMod val="65000"/>
              </a:schemeClr>
            </a:solidFill>
            <a:miter lim="800000"/>
            <a:headEnd/>
            <a:tailEnd type="triangle" w="med" len="med"/>
          </a:ln>
        </p:spPr>
      </p:cxnSp>
      <p:sp>
        <p:nvSpPr>
          <p:cNvPr id="74" name="Rectangle 6"/>
          <p:cNvSpPr>
            <a:spLocks noChangeArrowheads="1"/>
          </p:cNvSpPr>
          <p:nvPr/>
        </p:nvSpPr>
        <p:spPr bwMode="auto">
          <a:xfrm>
            <a:off x="892175" y="4540250"/>
            <a:ext cx="865188" cy="431800"/>
          </a:xfrm>
          <a:prstGeom prst="rect">
            <a:avLst/>
          </a:prstGeom>
          <a:solidFill>
            <a:schemeClr val="bg1">
              <a:lumMod val="50000"/>
            </a:schemeClr>
          </a:solidFill>
          <a:ln w="9525" algn="ctr">
            <a:solidFill>
              <a:schemeClr val="bg1">
                <a:lumMod val="65000"/>
              </a:schemeClr>
            </a:solidFill>
            <a:miter lim="800000"/>
            <a:headEnd/>
            <a:tailEnd/>
          </a:ln>
        </p:spPr>
        <p:txBody>
          <a:bodyPr wrap="none" anchor="ctr"/>
          <a:lstStyle/>
          <a:p>
            <a:pPr algn="ctr">
              <a:defRPr/>
            </a:pPr>
            <a:r>
              <a:rPr lang="en-US" altLang="ko-KR" sz="1200" b="1" dirty="0">
                <a:solidFill>
                  <a:schemeClr val="bg1"/>
                </a:solidFill>
                <a:latin typeface="arial" pitchFamily="34" charset="0"/>
                <a:ea typeface="맑은 고딕" panose="020B0503020000020004" pitchFamily="50" charset="-127"/>
              </a:rPr>
              <a:t>I-MR</a:t>
            </a:r>
            <a:r>
              <a:rPr lang="en-US" altLang="ko-KR" sz="1200" b="1" baseline="30000" dirty="0">
                <a:solidFill>
                  <a:schemeClr val="bg1"/>
                </a:solidFill>
                <a:latin typeface="arial" pitchFamily="34" charset="0"/>
                <a:ea typeface="맑은 고딕" panose="020B0503020000020004" pitchFamily="50" charset="-127"/>
              </a:rPr>
              <a:t>1)</a:t>
            </a:r>
          </a:p>
        </p:txBody>
      </p:sp>
      <p:sp>
        <p:nvSpPr>
          <p:cNvPr id="75" name="Rectangle 7"/>
          <p:cNvSpPr>
            <a:spLocks noChangeArrowheads="1"/>
          </p:cNvSpPr>
          <p:nvPr/>
        </p:nvSpPr>
        <p:spPr bwMode="auto">
          <a:xfrm>
            <a:off x="1827213" y="4540250"/>
            <a:ext cx="865187" cy="431800"/>
          </a:xfrm>
          <a:prstGeom prst="rect">
            <a:avLst/>
          </a:prstGeom>
          <a:solidFill>
            <a:schemeClr val="bg1">
              <a:lumMod val="50000"/>
            </a:schemeClr>
          </a:solidFill>
          <a:ln w="9525" algn="ctr">
            <a:solidFill>
              <a:schemeClr val="bg1">
                <a:lumMod val="65000"/>
              </a:schemeClr>
            </a:solidFill>
            <a:miter lim="800000"/>
            <a:headEnd/>
            <a:tailEnd/>
          </a:ln>
        </p:spPr>
        <p:txBody>
          <a:bodyPr wrap="none" anchor="ctr"/>
          <a:lstStyle/>
          <a:p>
            <a:pPr algn="ctr">
              <a:defRPr/>
            </a:pPr>
            <a:r>
              <a:rPr lang="en-US" altLang="ko-KR" sz="1200" b="1" dirty="0">
                <a:solidFill>
                  <a:schemeClr val="bg1"/>
                </a:solidFill>
                <a:latin typeface="arial" pitchFamily="34" charset="0"/>
                <a:ea typeface="맑은 고딕" panose="020B0503020000020004" pitchFamily="50" charset="-127"/>
              </a:rPr>
              <a:t>Xbar-R</a:t>
            </a:r>
          </a:p>
        </p:txBody>
      </p:sp>
      <p:sp>
        <p:nvSpPr>
          <p:cNvPr id="76" name="Rectangle 8"/>
          <p:cNvSpPr>
            <a:spLocks noChangeArrowheads="1"/>
          </p:cNvSpPr>
          <p:nvPr/>
        </p:nvSpPr>
        <p:spPr bwMode="auto">
          <a:xfrm>
            <a:off x="2763838" y="4540250"/>
            <a:ext cx="865187" cy="431800"/>
          </a:xfrm>
          <a:prstGeom prst="rect">
            <a:avLst/>
          </a:prstGeom>
          <a:noFill/>
          <a:ln w="9525" algn="ctr">
            <a:solidFill>
              <a:schemeClr val="bg1">
                <a:lumMod val="65000"/>
              </a:schemeClr>
            </a:solidFill>
            <a:miter lim="800000"/>
            <a:headEnd/>
            <a:tailEnd/>
          </a:ln>
        </p:spPr>
        <p:txBody>
          <a:bodyPr wrap="none" anchor="ctr"/>
          <a:lstStyle/>
          <a:p>
            <a:pPr algn="ctr">
              <a:defRPr/>
            </a:pPr>
            <a:r>
              <a:rPr lang="en-US" altLang="ko-KR" sz="1200" b="1" dirty="0">
                <a:latin typeface="arial" pitchFamily="34" charset="0"/>
                <a:ea typeface="맑은 고딕" panose="020B0503020000020004" pitchFamily="50" charset="-127"/>
              </a:rPr>
              <a:t>Xbar-S</a:t>
            </a:r>
          </a:p>
        </p:txBody>
      </p:sp>
      <p:cxnSp>
        <p:nvCxnSpPr>
          <p:cNvPr id="77" name="AutoShape 9"/>
          <p:cNvCxnSpPr>
            <a:cxnSpLocks noChangeShapeType="1"/>
            <a:stCxn id="72" idx="2"/>
            <a:endCxn id="75" idx="0"/>
          </p:cNvCxnSpPr>
          <p:nvPr/>
        </p:nvCxnSpPr>
        <p:spPr bwMode="auto">
          <a:xfrm rot="5400000">
            <a:off x="2033056" y="4301865"/>
            <a:ext cx="465137" cy="11633"/>
          </a:xfrm>
          <a:prstGeom prst="bentConnector3">
            <a:avLst>
              <a:gd name="adj1" fmla="val 50000"/>
            </a:avLst>
          </a:prstGeom>
          <a:noFill/>
          <a:ln w="9525">
            <a:solidFill>
              <a:schemeClr val="bg1">
                <a:lumMod val="65000"/>
              </a:schemeClr>
            </a:solidFill>
            <a:miter lim="800000"/>
            <a:headEnd/>
            <a:tailEnd type="triangle" w="med" len="med"/>
          </a:ln>
        </p:spPr>
      </p:cxnSp>
      <p:cxnSp>
        <p:nvCxnSpPr>
          <p:cNvPr id="78" name="AutoShape 10"/>
          <p:cNvCxnSpPr>
            <a:cxnSpLocks noChangeShapeType="1"/>
            <a:stCxn id="72" idx="2"/>
            <a:endCxn id="74" idx="0"/>
          </p:cNvCxnSpPr>
          <p:nvPr/>
        </p:nvCxnSpPr>
        <p:spPr bwMode="auto">
          <a:xfrm rot="5400000">
            <a:off x="1565537" y="3834346"/>
            <a:ext cx="465137" cy="946671"/>
          </a:xfrm>
          <a:prstGeom prst="bentConnector3">
            <a:avLst>
              <a:gd name="adj1" fmla="val 50000"/>
            </a:avLst>
          </a:prstGeom>
          <a:noFill/>
          <a:ln w="9525">
            <a:solidFill>
              <a:schemeClr val="bg1">
                <a:lumMod val="65000"/>
              </a:schemeClr>
            </a:solidFill>
            <a:miter lim="800000"/>
            <a:headEnd/>
            <a:tailEnd type="triangle" w="med" len="med"/>
          </a:ln>
        </p:spPr>
      </p:cxnSp>
      <p:cxnSp>
        <p:nvCxnSpPr>
          <p:cNvPr id="79" name="AutoShape 11"/>
          <p:cNvCxnSpPr>
            <a:cxnSpLocks noChangeShapeType="1"/>
            <a:stCxn id="72" idx="2"/>
            <a:endCxn id="76" idx="0"/>
          </p:cNvCxnSpPr>
          <p:nvPr/>
        </p:nvCxnSpPr>
        <p:spPr bwMode="auto">
          <a:xfrm rot="16200000" flipH="1">
            <a:off x="2501368" y="3845185"/>
            <a:ext cx="465137" cy="924992"/>
          </a:xfrm>
          <a:prstGeom prst="bentConnector3">
            <a:avLst>
              <a:gd name="adj1" fmla="val 50000"/>
            </a:avLst>
          </a:prstGeom>
          <a:noFill/>
          <a:ln w="9525">
            <a:solidFill>
              <a:schemeClr val="bg1">
                <a:lumMod val="65000"/>
              </a:schemeClr>
            </a:solidFill>
            <a:miter lim="800000"/>
            <a:headEnd/>
            <a:tailEnd type="triangle" w="med" len="med"/>
          </a:ln>
        </p:spPr>
      </p:cxnSp>
      <p:sp>
        <p:nvSpPr>
          <p:cNvPr id="14349" name="Text Box 12"/>
          <p:cNvSpPr txBox="1">
            <a:spLocks noChangeArrowheads="1"/>
          </p:cNvSpPr>
          <p:nvPr/>
        </p:nvSpPr>
        <p:spPr bwMode="auto">
          <a:xfrm>
            <a:off x="881063" y="4979988"/>
            <a:ext cx="863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a:latin typeface="arial" pitchFamily="34" charset="0"/>
                <a:ea typeface="맑은 고딕" pitchFamily="50" charset="-127"/>
              </a:rPr>
              <a:t>n = 1</a:t>
            </a:r>
          </a:p>
        </p:txBody>
      </p:sp>
      <p:sp>
        <p:nvSpPr>
          <p:cNvPr id="14350" name="Text Box 13"/>
          <p:cNvSpPr txBox="1">
            <a:spLocks noChangeArrowheads="1"/>
          </p:cNvSpPr>
          <p:nvPr/>
        </p:nvSpPr>
        <p:spPr bwMode="auto">
          <a:xfrm>
            <a:off x="1817688" y="4979988"/>
            <a:ext cx="863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a:latin typeface="arial" pitchFamily="34" charset="0"/>
                <a:ea typeface="맑은 고딕" pitchFamily="50" charset="-127"/>
              </a:rPr>
              <a:t>n = 2~5</a:t>
            </a:r>
          </a:p>
        </p:txBody>
      </p:sp>
      <p:sp>
        <p:nvSpPr>
          <p:cNvPr id="14351" name="Text Box 14"/>
          <p:cNvSpPr txBox="1">
            <a:spLocks noChangeArrowheads="1"/>
          </p:cNvSpPr>
          <p:nvPr/>
        </p:nvSpPr>
        <p:spPr bwMode="auto">
          <a:xfrm>
            <a:off x="2754313" y="4979988"/>
            <a:ext cx="863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200" b="1" dirty="0">
                <a:latin typeface="arial" pitchFamily="34" charset="0"/>
                <a:ea typeface="맑은 고딕" pitchFamily="50" charset="-127"/>
              </a:rPr>
              <a:t>n &gt; 6</a:t>
            </a:r>
          </a:p>
        </p:txBody>
      </p:sp>
      <p:sp>
        <p:nvSpPr>
          <p:cNvPr id="83" name="Rectangle 15"/>
          <p:cNvSpPr>
            <a:spLocks noChangeArrowheads="1"/>
          </p:cNvSpPr>
          <p:nvPr/>
        </p:nvSpPr>
        <p:spPr bwMode="auto">
          <a:xfrm>
            <a:off x="4079875" y="1306513"/>
            <a:ext cx="2016125" cy="431800"/>
          </a:xfrm>
          <a:prstGeom prst="rect">
            <a:avLst/>
          </a:prstGeom>
          <a:noFill/>
          <a:ln w="9525" algn="ctr">
            <a:solidFill>
              <a:schemeClr val="bg1">
                <a:lumMod val="65000"/>
              </a:schemeClr>
            </a:solidFill>
            <a:miter lim="800000"/>
            <a:headEnd/>
            <a:tailEnd/>
          </a:ln>
        </p:spPr>
        <p:txBody>
          <a:bodyPr wrap="none" anchor="ctr"/>
          <a:lstStyle/>
          <a:p>
            <a:pPr algn="ctr">
              <a:defRPr/>
            </a:pPr>
            <a:r>
              <a:rPr lang="en-US" altLang="ko-KR" sz="1200" b="1" dirty="0" err="1">
                <a:solidFill>
                  <a:srgbClr val="000000"/>
                </a:solidFill>
                <a:latin typeface="arial" pitchFamily="34" charset="0"/>
                <a:ea typeface="맑은 고딕" panose="020B0503020000020004" pitchFamily="50" charset="-127"/>
              </a:rPr>
              <a:t>Loại</a:t>
            </a:r>
            <a:r>
              <a:rPr lang="en-US" altLang="ko-KR" sz="1200" b="1" dirty="0">
                <a:solidFill>
                  <a:srgbClr val="000000"/>
                </a:solidFill>
                <a:latin typeface="arial" pitchFamily="34" charset="0"/>
                <a:ea typeface="맑은 고딕" panose="020B0503020000020004" pitchFamily="50" charset="-127"/>
              </a:rPr>
              <a:t> </a:t>
            </a:r>
            <a:r>
              <a:rPr lang="en-US" altLang="ko-KR" sz="1200" b="1" dirty="0" err="1">
                <a:solidFill>
                  <a:srgbClr val="000000"/>
                </a:solidFill>
                <a:latin typeface="arial" pitchFamily="34" charset="0"/>
                <a:ea typeface="맑은 고딕" panose="020B0503020000020004" pitchFamily="50" charset="-127"/>
              </a:rPr>
              <a:t>dữ</a:t>
            </a:r>
            <a:r>
              <a:rPr lang="en-US" altLang="ko-KR" sz="1200" b="1" dirty="0">
                <a:solidFill>
                  <a:srgbClr val="000000"/>
                </a:solidFill>
                <a:latin typeface="arial" pitchFamily="34" charset="0"/>
                <a:ea typeface="맑은 고딕" panose="020B0503020000020004" pitchFamily="50" charset="-127"/>
              </a:rPr>
              <a:t> </a:t>
            </a:r>
            <a:r>
              <a:rPr lang="en-US" altLang="ko-KR" sz="1200" b="1" dirty="0" err="1">
                <a:solidFill>
                  <a:srgbClr val="000000"/>
                </a:solidFill>
                <a:latin typeface="arial" pitchFamily="34" charset="0"/>
                <a:ea typeface="맑은 고딕" panose="020B0503020000020004" pitchFamily="50" charset="-127"/>
              </a:rPr>
              <a:t>liệu</a:t>
            </a:r>
            <a:endParaRPr lang="en-US" altLang="ko-KR" sz="1200" b="1" dirty="0">
              <a:solidFill>
                <a:srgbClr val="000000"/>
              </a:solidFill>
              <a:latin typeface="arial" pitchFamily="34" charset="0"/>
              <a:ea typeface="맑은 고딕" panose="020B0503020000020004" pitchFamily="50" charset="-127"/>
            </a:endParaRPr>
          </a:p>
        </p:txBody>
      </p:sp>
      <p:sp>
        <p:nvSpPr>
          <p:cNvPr id="84" name="Rectangle 16"/>
          <p:cNvSpPr>
            <a:spLocks noChangeArrowheads="1"/>
          </p:cNvSpPr>
          <p:nvPr/>
        </p:nvSpPr>
        <p:spPr bwMode="auto">
          <a:xfrm>
            <a:off x="6018213" y="2025650"/>
            <a:ext cx="2016125" cy="431800"/>
          </a:xfrm>
          <a:prstGeom prst="rect">
            <a:avLst/>
          </a:prstGeom>
          <a:solidFill>
            <a:schemeClr val="bg1"/>
          </a:solidFill>
          <a:ln w="9525" algn="ctr">
            <a:solidFill>
              <a:schemeClr val="bg1">
                <a:lumMod val="65000"/>
              </a:schemeClr>
            </a:solidFill>
            <a:miter lim="800000"/>
            <a:headEnd/>
            <a:tailEnd/>
          </a:ln>
        </p:spPr>
        <p:txBody>
          <a:bodyPr wrap="none" anchor="ctr"/>
          <a:lstStyle/>
          <a:p>
            <a:pPr algn="ctr">
              <a:defRPr/>
            </a:pPr>
            <a:r>
              <a:rPr lang="en-US" altLang="ko-KR" sz="1200" b="1" dirty="0" err="1">
                <a:solidFill>
                  <a:srgbClr val="000000"/>
                </a:solidFill>
                <a:latin typeface="arial" pitchFamily="34" charset="0"/>
                <a:ea typeface="맑은 고딕" panose="020B0503020000020004" pitchFamily="50" charset="-127"/>
              </a:rPr>
              <a:t>Rời</a:t>
            </a:r>
            <a:r>
              <a:rPr lang="en-US" altLang="ko-KR" sz="1200" b="1" dirty="0">
                <a:solidFill>
                  <a:srgbClr val="000000"/>
                </a:solidFill>
                <a:latin typeface="arial" pitchFamily="34" charset="0"/>
                <a:ea typeface="맑은 고딕" panose="020B0503020000020004" pitchFamily="50" charset="-127"/>
              </a:rPr>
              <a:t> </a:t>
            </a:r>
            <a:r>
              <a:rPr lang="en-US" altLang="ko-KR" sz="1200" b="1" dirty="0" err="1">
                <a:solidFill>
                  <a:srgbClr val="000000"/>
                </a:solidFill>
                <a:latin typeface="arial" pitchFamily="34" charset="0"/>
                <a:ea typeface="맑은 고딕" panose="020B0503020000020004" pitchFamily="50" charset="-127"/>
              </a:rPr>
              <a:t>rạc</a:t>
            </a:r>
            <a:endParaRPr lang="en-US" altLang="ko-KR" sz="1200" b="1" dirty="0">
              <a:solidFill>
                <a:srgbClr val="000000"/>
              </a:solidFill>
              <a:latin typeface="arial" pitchFamily="34" charset="0"/>
              <a:ea typeface="맑은 고딕" panose="020B0503020000020004" pitchFamily="50" charset="-127"/>
            </a:endParaRPr>
          </a:p>
        </p:txBody>
      </p:sp>
      <p:cxnSp>
        <p:nvCxnSpPr>
          <p:cNvPr id="85" name="AutoShape 17"/>
          <p:cNvCxnSpPr>
            <a:cxnSpLocks noChangeShapeType="1"/>
            <a:stCxn id="83" idx="1"/>
            <a:endCxn id="71" idx="0"/>
          </p:cNvCxnSpPr>
          <p:nvPr/>
        </p:nvCxnSpPr>
        <p:spPr bwMode="auto">
          <a:xfrm rot="10800000" flipV="1">
            <a:off x="3159125" y="1522413"/>
            <a:ext cx="920750" cy="574675"/>
          </a:xfrm>
          <a:prstGeom prst="bentConnector2">
            <a:avLst/>
          </a:prstGeom>
          <a:noFill/>
          <a:ln w="9525">
            <a:solidFill>
              <a:schemeClr val="bg1">
                <a:lumMod val="65000"/>
              </a:schemeClr>
            </a:solidFill>
            <a:miter lim="800000"/>
            <a:headEnd/>
            <a:tailEnd type="triangle" w="med" len="med"/>
          </a:ln>
        </p:spPr>
      </p:cxnSp>
      <p:cxnSp>
        <p:nvCxnSpPr>
          <p:cNvPr id="86" name="AutoShape 18"/>
          <p:cNvCxnSpPr>
            <a:cxnSpLocks noChangeShapeType="1"/>
            <a:stCxn id="83" idx="3"/>
            <a:endCxn id="84" idx="0"/>
          </p:cNvCxnSpPr>
          <p:nvPr/>
        </p:nvCxnSpPr>
        <p:spPr bwMode="auto">
          <a:xfrm>
            <a:off x="6096000" y="1522413"/>
            <a:ext cx="930275" cy="503237"/>
          </a:xfrm>
          <a:prstGeom prst="bentConnector2">
            <a:avLst/>
          </a:prstGeom>
          <a:noFill/>
          <a:ln w="9525">
            <a:solidFill>
              <a:schemeClr val="bg1">
                <a:lumMod val="65000"/>
              </a:schemeClr>
            </a:solidFill>
            <a:miter lim="800000"/>
            <a:headEnd/>
            <a:tailEnd type="triangle" w="med" len="med"/>
          </a:ln>
        </p:spPr>
      </p:cxnSp>
      <p:sp>
        <p:nvSpPr>
          <p:cNvPr id="87" name="Rectangle 19"/>
          <p:cNvSpPr>
            <a:spLocks noChangeArrowheads="1"/>
          </p:cNvSpPr>
          <p:nvPr/>
        </p:nvSpPr>
        <p:spPr bwMode="auto">
          <a:xfrm>
            <a:off x="5472113" y="2889250"/>
            <a:ext cx="1368425" cy="431800"/>
          </a:xfrm>
          <a:prstGeom prst="rect">
            <a:avLst/>
          </a:prstGeom>
          <a:noFill/>
          <a:ln w="9525" algn="ctr">
            <a:solidFill>
              <a:schemeClr val="bg1">
                <a:lumMod val="65000"/>
              </a:schemeClr>
            </a:solidFill>
            <a:miter lim="800000"/>
            <a:headEnd/>
            <a:tailEnd/>
          </a:ln>
        </p:spPr>
        <p:txBody>
          <a:bodyPr wrap="none" anchor="ctr"/>
          <a:lstStyle/>
          <a:p>
            <a:pPr algn="ctr">
              <a:defRPr/>
            </a:pPr>
            <a:r>
              <a:rPr lang="en-US" altLang="ko-KR" sz="1000" b="1" dirty="0" err="1">
                <a:solidFill>
                  <a:srgbClr val="000000"/>
                </a:solidFill>
                <a:latin typeface="arial" pitchFamily="34" charset="0"/>
                <a:ea typeface="맑은 고딕" panose="020B0503020000020004" pitchFamily="50" charset="-127"/>
              </a:rPr>
              <a:t>Số</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lượng</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lỗi</a:t>
            </a:r>
            <a:r>
              <a:rPr lang="en-US" altLang="ko-KR" sz="1000" b="1" dirty="0">
                <a:solidFill>
                  <a:srgbClr val="000000"/>
                </a:solidFill>
                <a:latin typeface="arial" pitchFamily="34" charset="0"/>
                <a:ea typeface="맑은 고딕" panose="020B0503020000020004" pitchFamily="50" charset="-127"/>
              </a:rPr>
              <a:t>/</a:t>
            </a:r>
          </a:p>
          <a:p>
            <a:pPr algn="ctr">
              <a:defRPr/>
            </a:pPr>
            <a:r>
              <a:rPr lang="en-US" altLang="ko-KR" sz="1000" b="1" dirty="0" err="1">
                <a:solidFill>
                  <a:srgbClr val="000000"/>
                </a:solidFill>
                <a:latin typeface="arial" pitchFamily="34" charset="0"/>
                <a:ea typeface="맑은 고딕" panose="020B0503020000020004" pitchFamily="50" charset="-127"/>
              </a:rPr>
              <a:t>Tỷ</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lệ</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lỗi</a:t>
            </a:r>
            <a:endParaRPr lang="ko-KR" altLang="en-US" sz="1000" b="1" dirty="0">
              <a:solidFill>
                <a:srgbClr val="000000"/>
              </a:solidFill>
              <a:latin typeface="arial" pitchFamily="34" charset="0"/>
              <a:ea typeface="맑은 고딕" panose="020B0503020000020004" pitchFamily="50" charset="-127"/>
            </a:endParaRPr>
          </a:p>
        </p:txBody>
      </p:sp>
      <p:sp>
        <p:nvSpPr>
          <p:cNvPr id="88" name="Rectangle 20"/>
          <p:cNvSpPr>
            <a:spLocks noChangeArrowheads="1"/>
          </p:cNvSpPr>
          <p:nvPr/>
        </p:nvSpPr>
        <p:spPr bwMode="auto">
          <a:xfrm>
            <a:off x="7272338" y="2889250"/>
            <a:ext cx="1368425" cy="431800"/>
          </a:xfrm>
          <a:prstGeom prst="rect">
            <a:avLst/>
          </a:prstGeom>
          <a:noFill/>
          <a:ln w="9525" algn="ctr">
            <a:solidFill>
              <a:schemeClr val="bg1">
                <a:lumMod val="65000"/>
              </a:schemeClr>
            </a:solidFill>
            <a:miter lim="800000"/>
            <a:headEnd/>
            <a:tailEnd/>
          </a:ln>
        </p:spPr>
        <p:txBody>
          <a:bodyPr wrap="none" anchor="ctr"/>
          <a:lstStyle/>
          <a:p>
            <a:pPr algn="ctr">
              <a:defRPr/>
            </a:pPr>
            <a:r>
              <a:rPr lang="en-US" altLang="ko-KR" sz="1000" b="1" dirty="0" err="1">
                <a:solidFill>
                  <a:srgbClr val="000000"/>
                </a:solidFill>
                <a:latin typeface="arial" pitchFamily="34" charset="0"/>
                <a:ea typeface="맑은 고딕" panose="020B0503020000020004" pitchFamily="50" charset="-127"/>
              </a:rPr>
              <a:t>Số</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lượng</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không</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phù</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hợp</a:t>
            </a:r>
            <a:endParaRPr lang="ko-KR" altLang="en-US" sz="1000" b="1" dirty="0">
              <a:solidFill>
                <a:srgbClr val="000000"/>
              </a:solidFill>
              <a:latin typeface="arial" pitchFamily="34" charset="0"/>
              <a:ea typeface="맑은 고딕" panose="020B0503020000020004" pitchFamily="50" charset="-127"/>
            </a:endParaRPr>
          </a:p>
        </p:txBody>
      </p:sp>
      <p:sp>
        <p:nvSpPr>
          <p:cNvPr id="89" name="AutoShape 21"/>
          <p:cNvSpPr>
            <a:spLocks noChangeArrowheads="1"/>
          </p:cNvSpPr>
          <p:nvPr/>
        </p:nvSpPr>
        <p:spPr bwMode="auto">
          <a:xfrm>
            <a:off x="5591175" y="3532188"/>
            <a:ext cx="1152525" cy="504825"/>
          </a:xfrm>
          <a:prstGeom prst="diamond">
            <a:avLst/>
          </a:prstGeom>
          <a:noFill/>
          <a:ln w="9525" algn="ctr">
            <a:solidFill>
              <a:schemeClr val="bg1">
                <a:lumMod val="65000"/>
              </a:schemeClr>
            </a:solidFill>
            <a:miter lim="800000"/>
            <a:headEnd/>
            <a:tailEnd/>
          </a:ln>
        </p:spPr>
        <p:txBody>
          <a:bodyPr wrap="none" anchor="ctr"/>
          <a:lstStyle/>
          <a:p>
            <a:pPr algn="ctr">
              <a:defRPr/>
            </a:pPr>
            <a:r>
              <a:rPr lang="en-US" altLang="ko-KR" sz="1200" b="1" dirty="0" err="1">
                <a:solidFill>
                  <a:srgbClr val="000000"/>
                </a:solidFill>
                <a:latin typeface="arial" pitchFamily="34" charset="0"/>
                <a:ea typeface="맑은 고딕" panose="020B0503020000020004" pitchFamily="50" charset="-127"/>
              </a:rPr>
              <a:t>Kích</a:t>
            </a:r>
            <a:r>
              <a:rPr lang="en-US" altLang="ko-KR" sz="1200" b="1" dirty="0">
                <a:solidFill>
                  <a:srgbClr val="000000"/>
                </a:solidFill>
                <a:latin typeface="arial" pitchFamily="34" charset="0"/>
                <a:ea typeface="맑은 고딕" panose="020B0503020000020004" pitchFamily="50" charset="-127"/>
              </a:rPr>
              <a:t> </a:t>
            </a:r>
            <a:r>
              <a:rPr lang="en-US" altLang="ko-KR" sz="1200" b="1" dirty="0" err="1">
                <a:solidFill>
                  <a:srgbClr val="000000"/>
                </a:solidFill>
                <a:latin typeface="arial" pitchFamily="34" charset="0"/>
                <a:ea typeface="맑은 고딕" panose="020B0503020000020004" pitchFamily="50" charset="-127"/>
              </a:rPr>
              <a:t>thước</a:t>
            </a:r>
            <a:br>
              <a:rPr lang="en-US" altLang="ko-KR" sz="1200" b="1" dirty="0">
                <a:solidFill>
                  <a:srgbClr val="000000"/>
                </a:solidFill>
                <a:latin typeface="arial" pitchFamily="34" charset="0"/>
                <a:ea typeface="맑은 고딕" panose="020B0503020000020004" pitchFamily="50" charset="-127"/>
              </a:rPr>
            </a:br>
            <a:r>
              <a:rPr lang="en-US" altLang="ko-KR" sz="1200" b="1" dirty="0" err="1">
                <a:solidFill>
                  <a:srgbClr val="000000"/>
                </a:solidFill>
                <a:latin typeface="arial" pitchFamily="34" charset="0"/>
                <a:ea typeface="맑은 고딕" panose="020B0503020000020004" pitchFamily="50" charset="-127"/>
              </a:rPr>
              <a:t>nhóm</a:t>
            </a:r>
            <a:endParaRPr lang="ko-KR" altLang="en-US" sz="1200" b="1" dirty="0">
              <a:solidFill>
                <a:srgbClr val="000000"/>
              </a:solidFill>
              <a:latin typeface="arial" pitchFamily="34" charset="0"/>
              <a:ea typeface="맑은 고딕" panose="020B0503020000020004" pitchFamily="50" charset="-127"/>
            </a:endParaRPr>
          </a:p>
        </p:txBody>
      </p:sp>
      <p:sp>
        <p:nvSpPr>
          <p:cNvPr id="90" name="AutoShape 22"/>
          <p:cNvSpPr>
            <a:spLocks noChangeArrowheads="1"/>
          </p:cNvSpPr>
          <p:nvPr/>
        </p:nvSpPr>
        <p:spPr bwMode="auto">
          <a:xfrm>
            <a:off x="7361238" y="3532188"/>
            <a:ext cx="1195387" cy="504825"/>
          </a:xfrm>
          <a:prstGeom prst="diamond">
            <a:avLst/>
          </a:prstGeom>
          <a:noFill/>
          <a:ln w="9525" algn="ctr">
            <a:solidFill>
              <a:schemeClr val="bg1">
                <a:lumMod val="65000"/>
              </a:schemeClr>
            </a:solidFill>
            <a:miter lim="800000"/>
            <a:headEnd/>
            <a:tailEnd/>
          </a:ln>
        </p:spPr>
        <p:txBody>
          <a:bodyPr wrap="none" anchor="ctr"/>
          <a:lstStyle/>
          <a:p>
            <a:pPr algn="ctr">
              <a:defRPr/>
            </a:pPr>
            <a:r>
              <a:rPr lang="en-US" altLang="ko-KR" sz="1200" b="1" dirty="0" err="1">
                <a:solidFill>
                  <a:srgbClr val="000000"/>
                </a:solidFill>
                <a:latin typeface="arial" pitchFamily="34" charset="0"/>
                <a:ea typeface="맑은 고딕" panose="020B0503020000020004" pitchFamily="50" charset="-127"/>
              </a:rPr>
              <a:t>Kích</a:t>
            </a:r>
            <a:r>
              <a:rPr lang="en-US" altLang="ko-KR" sz="1200" b="1" dirty="0">
                <a:solidFill>
                  <a:srgbClr val="000000"/>
                </a:solidFill>
                <a:latin typeface="arial" pitchFamily="34" charset="0"/>
                <a:ea typeface="맑은 고딕" panose="020B0503020000020004" pitchFamily="50" charset="-127"/>
              </a:rPr>
              <a:t> </a:t>
            </a:r>
            <a:r>
              <a:rPr lang="en-US" altLang="ko-KR" sz="1200" b="1" dirty="0" err="1">
                <a:solidFill>
                  <a:srgbClr val="000000"/>
                </a:solidFill>
                <a:latin typeface="arial" pitchFamily="34" charset="0"/>
                <a:ea typeface="맑은 고딕" panose="020B0503020000020004" pitchFamily="50" charset="-127"/>
              </a:rPr>
              <a:t>thước</a:t>
            </a:r>
            <a:br>
              <a:rPr lang="en-US" altLang="ko-KR" sz="1200" b="1" dirty="0">
                <a:solidFill>
                  <a:srgbClr val="000000"/>
                </a:solidFill>
                <a:latin typeface="arial" pitchFamily="34" charset="0"/>
                <a:ea typeface="맑은 고딕" panose="020B0503020000020004" pitchFamily="50" charset="-127"/>
              </a:rPr>
            </a:br>
            <a:r>
              <a:rPr lang="en-US" altLang="ko-KR" sz="1200" b="1" dirty="0" err="1">
                <a:solidFill>
                  <a:srgbClr val="000000"/>
                </a:solidFill>
                <a:latin typeface="arial" pitchFamily="34" charset="0"/>
                <a:ea typeface="맑은 고딕" panose="020B0503020000020004" pitchFamily="50" charset="-127"/>
              </a:rPr>
              <a:t>nhóm</a:t>
            </a:r>
            <a:endParaRPr lang="ko-KR" altLang="en-US" sz="1200" b="1" dirty="0">
              <a:solidFill>
                <a:srgbClr val="000000"/>
              </a:solidFill>
              <a:latin typeface="arial" pitchFamily="34" charset="0"/>
              <a:ea typeface="맑은 고딕" panose="020B0503020000020004" pitchFamily="50" charset="-127"/>
            </a:endParaRPr>
          </a:p>
        </p:txBody>
      </p:sp>
      <p:cxnSp>
        <p:nvCxnSpPr>
          <p:cNvPr id="91" name="AutoShape 23"/>
          <p:cNvCxnSpPr>
            <a:cxnSpLocks noChangeShapeType="1"/>
            <a:stCxn id="84" idx="2"/>
            <a:endCxn id="87" idx="0"/>
          </p:cNvCxnSpPr>
          <p:nvPr/>
        </p:nvCxnSpPr>
        <p:spPr bwMode="auto">
          <a:xfrm rot="5400000">
            <a:off x="6375400" y="2238375"/>
            <a:ext cx="431800" cy="869950"/>
          </a:xfrm>
          <a:prstGeom prst="bentConnector3">
            <a:avLst>
              <a:gd name="adj1" fmla="val 50000"/>
            </a:avLst>
          </a:prstGeom>
          <a:noFill/>
          <a:ln w="9525">
            <a:solidFill>
              <a:schemeClr val="bg1">
                <a:lumMod val="65000"/>
              </a:schemeClr>
            </a:solidFill>
            <a:miter lim="800000"/>
            <a:headEnd/>
            <a:tailEnd type="triangle" w="med" len="med"/>
          </a:ln>
        </p:spPr>
      </p:cxnSp>
      <p:cxnSp>
        <p:nvCxnSpPr>
          <p:cNvPr id="92" name="AutoShape 24"/>
          <p:cNvCxnSpPr>
            <a:cxnSpLocks noChangeShapeType="1"/>
            <a:stCxn id="84" idx="2"/>
            <a:endCxn id="88" idx="0"/>
          </p:cNvCxnSpPr>
          <p:nvPr/>
        </p:nvCxnSpPr>
        <p:spPr bwMode="auto">
          <a:xfrm rot="16200000" flipH="1">
            <a:off x="7275513" y="2208212"/>
            <a:ext cx="431800" cy="930275"/>
          </a:xfrm>
          <a:prstGeom prst="bentConnector3">
            <a:avLst>
              <a:gd name="adj1" fmla="val 50000"/>
            </a:avLst>
          </a:prstGeom>
          <a:noFill/>
          <a:ln w="9525">
            <a:solidFill>
              <a:schemeClr val="bg1">
                <a:lumMod val="65000"/>
              </a:schemeClr>
            </a:solidFill>
            <a:miter lim="800000"/>
            <a:headEnd/>
            <a:tailEnd type="triangle" w="med" len="med"/>
          </a:ln>
        </p:spPr>
      </p:cxnSp>
      <p:cxnSp>
        <p:nvCxnSpPr>
          <p:cNvPr id="93" name="AutoShape 25"/>
          <p:cNvCxnSpPr>
            <a:cxnSpLocks noChangeShapeType="1"/>
            <a:stCxn id="87" idx="2"/>
            <a:endCxn id="89" idx="0"/>
          </p:cNvCxnSpPr>
          <p:nvPr/>
        </p:nvCxnSpPr>
        <p:spPr bwMode="auto">
          <a:xfrm rot="16200000" flipH="1">
            <a:off x="6056313" y="3421062"/>
            <a:ext cx="211138" cy="11113"/>
          </a:xfrm>
          <a:prstGeom prst="bentConnector3">
            <a:avLst>
              <a:gd name="adj1" fmla="val 49625"/>
            </a:avLst>
          </a:prstGeom>
          <a:noFill/>
          <a:ln w="9525">
            <a:solidFill>
              <a:schemeClr val="bg1">
                <a:lumMod val="65000"/>
              </a:schemeClr>
            </a:solidFill>
            <a:miter lim="800000"/>
            <a:headEnd/>
            <a:tailEnd type="triangle" w="med" len="med"/>
          </a:ln>
        </p:spPr>
      </p:cxnSp>
      <p:cxnSp>
        <p:nvCxnSpPr>
          <p:cNvPr id="94" name="AutoShape 26"/>
          <p:cNvCxnSpPr>
            <a:cxnSpLocks noChangeShapeType="1"/>
            <a:stCxn id="88" idx="2"/>
            <a:endCxn id="90" idx="0"/>
          </p:cNvCxnSpPr>
          <p:nvPr/>
        </p:nvCxnSpPr>
        <p:spPr bwMode="auto">
          <a:xfrm rot="16200000" flipH="1">
            <a:off x="7852569" y="3425031"/>
            <a:ext cx="211138" cy="3175"/>
          </a:xfrm>
          <a:prstGeom prst="bentConnector3">
            <a:avLst>
              <a:gd name="adj1" fmla="val 49625"/>
            </a:avLst>
          </a:prstGeom>
          <a:noFill/>
          <a:ln w="9525">
            <a:solidFill>
              <a:schemeClr val="bg1">
                <a:lumMod val="65000"/>
              </a:schemeClr>
            </a:solidFill>
            <a:miter lim="800000"/>
            <a:headEnd/>
            <a:tailEnd type="triangle" w="med" len="med"/>
          </a:ln>
        </p:spPr>
      </p:cxnSp>
      <p:sp>
        <p:nvSpPr>
          <p:cNvPr id="95" name="Rectangle 27"/>
          <p:cNvSpPr>
            <a:spLocks noChangeArrowheads="1"/>
          </p:cNvSpPr>
          <p:nvPr/>
        </p:nvSpPr>
        <p:spPr bwMode="auto">
          <a:xfrm>
            <a:off x="5235575" y="4543425"/>
            <a:ext cx="865188" cy="431800"/>
          </a:xfrm>
          <a:prstGeom prst="rect">
            <a:avLst/>
          </a:prstGeom>
          <a:solidFill>
            <a:schemeClr val="bg1"/>
          </a:solidFill>
          <a:ln w="9525" algn="ctr">
            <a:solidFill>
              <a:schemeClr val="bg1">
                <a:lumMod val="65000"/>
              </a:schemeClr>
            </a:solidFill>
            <a:miter lim="800000"/>
            <a:headEnd/>
            <a:tailEnd/>
          </a:ln>
        </p:spPr>
        <p:txBody>
          <a:bodyPr wrap="none" anchor="ctr"/>
          <a:lstStyle/>
          <a:p>
            <a:pPr algn="ctr">
              <a:defRPr/>
            </a:pPr>
            <a:r>
              <a:rPr lang="en-US" altLang="ko-KR" sz="1200" b="1" dirty="0">
                <a:latin typeface="arial" pitchFamily="34" charset="0"/>
                <a:ea typeface="맑은 고딕" panose="020B0503020000020004" pitchFamily="50" charset="-127"/>
              </a:rPr>
              <a:t>NP</a:t>
            </a:r>
          </a:p>
        </p:txBody>
      </p:sp>
      <p:sp>
        <p:nvSpPr>
          <p:cNvPr id="96" name="Rectangle 28"/>
          <p:cNvSpPr>
            <a:spLocks noChangeArrowheads="1"/>
          </p:cNvSpPr>
          <p:nvPr/>
        </p:nvSpPr>
        <p:spPr bwMode="auto">
          <a:xfrm>
            <a:off x="6172200" y="4543425"/>
            <a:ext cx="865188" cy="431800"/>
          </a:xfrm>
          <a:prstGeom prst="rect">
            <a:avLst/>
          </a:prstGeom>
          <a:solidFill>
            <a:schemeClr val="bg1">
              <a:lumMod val="50000"/>
            </a:schemeClr>
          </a:solidFill>
          <a:ln w="9525" algn="ctr">
            <a:solidFill>
              <a:schemeClr val="bg1">
                <a:lumMod val="65000"/>
              </a:schemeClr>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200" b="1" dirty="0">
                <a:solidFill>
                  <a:schemeClr val="bg1"/>
                </a:solidFill>
                <a:latin typeface="arial" pitchFamily="34" charset="0"/>
                <a:ea typeface="맑은 고딕" panose="020B0503020000020004" pitchFamily="50" charset="-127"/>
              </a:rPr>
              <a:t>P</a:t>
            </a:r>
          </a:p>
        </p:txBody>
      </p:sp>
      <p:sp>
        <p:nvSpPr>
          <p:cNvPr id="97" name="Rectangle 29"/>
          <p:cNvSpPr>
            <a:spLocks noChangeArrowheads="1"/>
          </p:cNvSpPr>
          <p:nvPr/>
        </p:nvSpPr>
        <p:spPr bwMode="auto">
          <a:xfrm>
            <a:off x="7127875" y="4548188"/>
            <a:ext cx="865188" cy="431800"/>
          </a:xfrm>
          <a:prstGeom prst="rect">
            <a:avLst/>
          </a:prstGeom>
          <a:solidFill>
            <a:schemeClr val="bg1"/>
          </a:solidFill>
          <a:ln w="9525" algn="ctr">
            <a:solidFill>
              <a:schemeClr val="bg1">
                <a:lumMod val="65000"/>
              </a:schemeClr>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200" b="1" dirty="0">
                <a:latin typeface="arial" pitchFamily="34" charset="0"/>
                <a:ea typeface="맑은 고딕" panose="020B0503020000020004" pitchFamily="50" charset="-127"/>
              </a:rPr>
              <a:t>C</a:t>
            </a:r>
          </a:p>
        </p:txBody>
      </p:sp>
      <p:sp>
        <p:nvSpPr>
          <p:cNvPr id="98" name="Rectangle 30"/>
          <p:cNvSpPr>
            <a:spLocks noChangeArrowheads="1"/>
          </p:cNvSpPr>
          <p:nvPr/>
        </p:nvSpPr>
        <p:spPr bwMode="auto">
          <a:xfrm>
            <a:off x="8064500" y="4548188"/>
            <a:ext cx="865188" cy="431800"/>
          </a:xfrm>
          <a:prstGeom prst="rect">
            <a:avLst/>
          </a:prstGeom>
          <a:solidFill>
            <a:schemeClr val="bg1"/>
          </a:solidFill>
          <a:ln w="9525" algn="ctr">
            <a:solidFill>
              <a:schemeClr val="bg1">
                <a:lumMod val="65000"/>
              </a:schemeClr>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defRPr/>
            </a:pPr>
            <a:r>
              <a:rPr lang="en-US" altLang="ko-KR" sz="1200" b="1" dirty="0">
                <a:latin typeface="arial" pitchFamily="34" charset="0"/>
                <a:ea typeface="맑은 고딕" panose="020B0503020000020004" pitchFamily="50" charset="-127"/>
              </a:rPr>
              <a:t>U</a:t>
            </a:r>
          </a:p>
        </p:txBody>
      </p:sp>
      <p:cxnSp>
        <p:nvCxnSpPr>
          <p:cNvPr id="99" name="AutoShape 31"/>
          <p:cNvCxnSpPr>
            <a:cxnSpLocks noChangeShapeType="1"/>
            <a:stCxn id="89" idx="2"/>
            <a:endCxn id="95" idx="0"/>
          </p:cNvCxnSpPr>
          <p:nvPr/>
        </p:nvCxnSpPr>
        <p:spPr bwMode="auto">
          <a:xfrm rot="5400000">
            <a:off x="5664995" y="4040981"/>
            <a:ext cx="506412" cy="498475"/>
          </a:xfrm>
          <a:prstGeom prst="bentConnector3">
            <a:avLst>
              <a:gd name="adj1" fmla="val 50000"/>
            </a:avLst>
          </a:prstGeom>
          <a:noFill/>
          <a:ln w="9525">
            <a:solidFill>
              <a:schemeClr val="bg1">
                <a:lumMod val="65000"/>
              </a:schemeClr>
            </a:solidFill>
            <a:miter lim="800000"/>
            <a:headEnd/>
            <a:tailEnd type="triangle" w="med" len="med"/>
          </a:ln>
        </p:spPr>
      </p:cxnSp>
      <p:cxnSp>
        <p:nvCxnSpPr>
          <p:cNvPr id="100" name="AutoShape 32"/>
          <p:cNvCxnSpPr>
            <a:cxnSpLocks noChangeShapeType="1"/>
            <a:stCxn id="89" idx="2"/>
            <a:endCxn id="96" idx="0"/>
          </p:cNvCxnSpPr>
          <p:nvPr/>
        </p:nvCxnSpPr>
        <p:spPr bwMode="auto">
          <a:xfrm rot="16200000" flipH="1">
            <a:off x="6133307" y="4071144"/>
            <a:ext cx="506412" cy="438150"/>
          </a:xfrm>
          <a:prstGeom prst="bentConnector3">
            <a:avLst>
              <a:gd name="adj1" fmla="val 50000"/>
            </a:avLst>
          </a:prstGeom>
          <a:noFill/>
          <a:ln w="9525">
            <a:solidFill>
              <a:schemeClr val="bg1">
                <a:lumMod val="65000"/>
              </a:schemeClr>
            </a:solidFill>
            <a:miter lim="800000"/>
            <a:headEnd/>
            <a:tailEnd type="triangle" w="med" len="med"/>
          </a:ln>
        </p:spPr>
      </p:cxnSp>
      <p:cxnSp>
        <p:nvCxnSpPr>
          <p:cNvPr id="101" name="AutoShape 33"/>
          <p:cNvCxnSpPr>
            <a:cxnSpLocks noChangeShapeType="1"/>
            <a:stCxn id="90" idx="2"/>
            <a:endCxn id="97" idx="0"/>
          </p:cNvCxnSpPr>
          <p:nvPr/>
        </p:nvCxnSpPr>
        <p:spPr bwMode="auto">
          <a:xfrm rot="5400000">
            <a:off x="7504906" y="4093370"/>
            <a:ext cx="511175" cy="398462"/>
          </a:xfrm>
          <a:prstGeom prst="bentConnector3">
            <a:avLst>
              <a:gd name="adj1" fmla="val 50000"/>
            </a:avLst>
          </a:prstGeom>
          <a:noFill/>
          <a:ln w="9525">
            <a:solidFill>
              <a:schemeClr val="bg1">
                <a:lumMod val="65000"/>
              </a:schemeClr>
            </a:solidFill>
            <a:miter lim="800000"/>
            <a:headEnd/>
            <a:tailEnd type="triangle" w="med" len="med"/>
          </a:ln>
        </p:spPr>
      </p:cxnSp>
      <p:cxnSp>
        <p:nvCxnSpPr>
          <p:cNvPr id="102" name="AutoShape 34"/>
          <p:cNvCxnSpPr>
            <a:cxnSpLocks noChangeShapeType="1"/>
            <a:stCxn id="90" idx="2"/>
            <a:endCxn id="98" idx="0"/>
          </p:cNvCxnSpPr>
          <p:nvPr/>
        </p:nvCxnSpPr>
        <p:spPr bwMode="auto">
          <a:xfrm rot="16200000" flipH="1">
            <a:off x="7973219" y="4023519"/>
            <a:ext cx="511175" cy="538163"/>
          </a:xfrm>
          <a:prstGeom prst="bentConnector3">
            <a:avLst>
              <a:gd name="adj1" fmla="val 50000"/>
            </a:avLst>
          </a:prstGeom>
          <a:noFill/>
          <a:ln w="9525">
            <a:solidFill>
              <a:schemeClr val="bg1">
                <a:lumMod val="65000"/>
              </a:schemeClr>
            </a:solidFill>
            <a:miter lim="800000"/>
            <a:headEnd/>
            <a:tailEnd type="triangle" w="med" len="med"/>
          </a:ln>
        </p:spPr>
      </p:cxnSp>
      <p:sp>
        <p:nvSpPr>
          <p:cNvPr id="14372" name="Text Box 35"/>
          <p:cNvSpPr txBox="1">
            <a:spLocks noChangeArrowheads="1"/>
          </p:cNvSpPr>
          <p:nvPr/>
        </p:nvSpPr>
        <p:spPr bwMode="auto">
          <a:xfrm>
            <a:off x="5270500" y="5008563"/>
            <a:ext cx="8636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b="1" dirty="0">
                <a:latin typeface="arial" pitchFamily="34" charset="0"/>
                <a:ea typeface="맑은 고딕" pitchFamily="50" charset="-127"/>
              </a:rPr>
              <a:t>consistent</a:t>
            </a:r>
            <a:endParaRPr lang="ko-KR" altLang="en-US" sz="1000" b="1" dirty="0">
              <a:latin typeface="arial" pitchFamily="34" charset="0"/>
              <a:ea typeface="맑은 고딕" pitchFamily="50" charset="-127"/>
            </a:endParaRPr>
          </a:p>
        </p:txBody>
      </p:sp>
      <p:sp>
        <p:nvSpPr>
          <p:cNvPr id="107" name="Rectangle 19"/>
          <p:cNvSpPr>
            <a:spLocks noChangeArrowheads="1"/>
          </p:cNvSpPr>
          <p:nvPr/>
        </p:nvSpPr>
        <p:spPr bwMode="auto">
          <a:xfrm>
            <a:off x="3570288" y="2889250"/>
            <a:ext cx="1368425" cy="431800"/>
          </a:xfrm>
          <a:prstGeom prst="rect">
            <a:avLst/>
          </a:prstGeom>
          <a:noFill/>
          <a:ln w="9525" algn="ctr">
            <a:solidFill>
              <a:schemeClr val="bg1">
                <a:lumMod val="65000"/>
              </a:schemeClr>
            </a:solidFill>
            <a:miter lim="800000"/>
            <a:headEnd/>
            <a:tailEnd/>
          </a:ln>
        </p:spPr>
        <p:txBody>
          <a:bodyPr wrap="none" anchor="ctr"/>
          <a:lstStyle/>
          <a:p>
            <a:pPr algn="ctr">
              <a:defRPr/>
            </a:pPr>
            <a:r>
              <a:rPr lang="en-US" altLang="ko-KR" sz="1000" b="1" dirty="0" err="1">
                <a:solidFill>
                  <a:srgbClr val="000000"/>
                </a:solidFill>
                <a:latin typeface="arial" pitchFamily="34" charset="0"/>
                <a:ea typeface="맑은 고딕" panose="020B0503020000020004" pitchFamily="50" charset="-127"/>
              </a:rPr>
              <a:t>Quy</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mô</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sản</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xuất</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lớn</a:t>
            </a:r>
            <a:endParaRPr lang="en-US" altLang="ko-KR" sz="1000" b="1" dirty="0">
              <a:solidFill>
                <a:srgbClr val="000000"/>
              </a:solidFill>
              <a:latin typeface="arial" pitchFamily="34" charset="0"/>
              <a:ea typeface="맑은 고딕" panose="020B0503020000020004" pitchFamily="50" charset="-127"/>
            </a:endParaRPr>
          </a:p>
          <a:p>
            <a:pPr algn="ctr">
              <a:defRPr/>
            </a:pPr>
            <a:r>
              <a:rPr lang="en-US" altLang="ko-KR" sz="1000" b="1" dirty="0" err="1">
                <a:solidFill>
                  <a:srgbClr val="000000"/>
                </a:solidFill>
                <a:latin typeface="arial" pitchFamily="34" charset="0"/>
                <a:ea typeface="맑은 고딕" panose="020B0503020000020004" pitchFamily="50" charset="-127"/>
              </a:rPr>
              <a:t>Sản</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xuất</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nhỏ</a:t>
            </a:r>
            <a:endParaRPr lang="ko-KR" altLang="en-US" sz="1000" b="1" dirty="0">
              <a:solidFill>
                <a:srgbClr val="000000"/>
              </a:solidFill>
              <a:latin typeface="arial" pitchFamily="34" charset="0"/>
              <a:ea typeface="맑은 고딕" panose="020B0503020000020004" pitchFamily="50" charset="-127"/>
            </a:endParaRPr>
          </a:p>
        </p:txBody>
      </p:sp>
      <p:sp>
        <p:nvSpPr>
          <p:cNvPr id="108" name="Rectangle 20"/>
          <p:cNvSpPr>
            <a:spLocks noChangeArrowheads="1"/>
          </p:cNvSpPr>
          <p:nvPr/>
        </p:nvSpPr>
        <p:spPr bwMode="auto">
          <a:xfrm>
            <a:off x="1582738" y="2889250"/>
            <a:ext cx="1368425" cy="431800"/>
          </a:xfrm>
          <a:prstGeom prst="rect">
            <a:avLst/>
          </a:prstGeom>
          <a:noFill/>
          <a:ln w="9525" algn="ctr">
            <a:solidFill>
              <a:schemeClr val="bg1">
                <a:lumMod val="65000"/>
              </a:schemeClr>
            </a:solidFill>
            <a:miter lim="800000"/>
            <a:headEnd/>
            <a:tailEnd/>
          </a:ln>
        </p:spPr>
        <p:txBody>
          <a:bodyPr wrap="none" anchor="ctr"/>
          <a:lstStyle/>
          <a:p>
            <a:pPr algn="ctr">
              <a:defRPr/>
            </a:pPr>
            <a:r>
              <a:rPr lang="en-US" altLang="ko-KR" sz="1000" b="1" dirty="0" err="1">
                <a:solidFill>
                  <a:srgbClr val="000000"/>
                </a:solidFill>
                <a:latin typeface="arial" pitchFamily="34" charset="0"/>
                <a:ea typeface="맑은 고딕" panose="020B0503020000020004" pitchFamily="50" charset="-127"/>
              </a:rPr>
              <a:t>Quy</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mô</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sản</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xuất</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nhỏ</a:t>
            </a:r>
            <a:endParaRPr lang="en-US" altLang="ko-KR" sz="1000" b="1" dirty="0">
              <a:solidFill>
                <a:srgbClr val="000000"/>
              </a:solidFill>
              <a:latin typeface="arial" pitchFamily="34" charset="0"/>
              <a:ea typeface="맑은 고딕" panose="020B0503020000020004" pitchFamily="50" charset="-127"/>
            </a:endParaRPr>
          </a:p>
          <a:p>
            <a:pPr algn="ctr">
              <a:defRPr/>
            </a:pPr>
            <a:r>
              <a:rPr lang="en-US" altLang="ko-KR" sz="1000" b="1" dirty="0" err="1">
                <a:solidFill>
                  <a:srgbClr val="000000"/>
                </a:solidFill>
                <a:latin typeface="arial" pitchFamily="34" charset="0"/>
                <a:ea typeface="맑은 고딕" panose="020B0503020000020004" pitchFamily="50" charset="-127"/>
              </a:rPr>
              <a:t>Sản</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xuất</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hàng</a:t>
            </a:r>
            <a:r>
              <a:rPr lang="en-US" altLang="ko-KR" sz="1000" b="1" dirty="0">
                <a:solidFill>
                  <a:srgbClr val="000000"/>
                </a:solidFill>
                <a:latin typeface="arial" pitchFamily="34" charset="0"/>
                <a:ea typeface="맑은 고딕" panose="020B0503020000020004" pitchFamily="50" charset="-127"/>
              </a:rPr>
              <a:t> </a:t>
            </a:r>
            <a:r>
              <a:rPr lang="en-US" altLang="ko-KR" sz="1000" b="1" dirty="0" err="1">
                <a:solidFill>
                  <a:srgbClr val="000000"/>
                </a:solidFill>
                <a:latin typeface="arial" pitchFamily="34" charset="0"/>
                <a:ea typeface="맑은 고딕" panose="020B0503020000020004" pitchFamily="50" charset="-127"/>
              </a:rPr>
              <a:t>loạt</a:t>
            </a:r>
            <a:endParaRPr lang="ko-KR" altLang="en-US" sz="1000" b="1" dirty="0">
              <a:solidFill>
                <a:srgbClr val="000000"/>
              </a:solidFill>
              <a:latin typeface="arial" pitchFamily="34" charset="0"/>
              <a:ea typeface="맑은 고딕" panose="020B0503020000020004" pitchFamily="50" charset="-127"/>
            </a:endParaRPr>
          </a:p>
        </p:txBody>
      </p:sp>
      <p:cxnSp>
        <p:nvCxnSpPr>
          <p:cNvPr id="109" name="AutoShape 11"/>
          <p:cNvCxnSpPr>
            <a:cxnSpLocks noChangeShapeType="1"/>
            <a:stCxn id="108" idx="2"/>
            <a:endCxn id="72" idx="0"/>
          </p:cNvCxnSpPr>
          <p:nvPr/>
        </p:nvCxnSpPr>
        <p:spPr bwMode="auto">
          <a:xfrm rot="16200000" flipH="1">
            <a:off x="2144576" y="3443424"/>
            <a:ext cx="249238" cy="4489"/>
          </a:xfrm>
          <a:prstGeom prst="bentConnector3">
            <a:avLst>
              <a:gd name="adj1" fmla="val 50000"/>
            </a:avLst>
          </a:prstGeom>
          <a:noFill/>
          <a:ln w="9525">
            <a:solidFill>
              <a:schemeClr val="bg1">
                <a:lumMod val="65000"/>
              </a:schemeClr>
            </a:solidFill>
            <a:miter lim="800000"/>
            <a:headEnd/>
            <a:tailEnd type="triangle" w="med" len="med"/>
          </a:ln>
        </p:spPr>
      </p:cxnSp>
      <p:cxnSp>
        <p:nvCxnSpPr>
          <p:cNvPr id="110" name="AutoShape 5"/>
          <p:cNvCxnSpPr>
            <a:cxnSpLocks noChangeShapeType="1"/>
            <a:stCxn id="71" idx="2"/>
            <a:endCxn id="107" idx="0"/>
          </p:cNvCxnSpPr>
          <p:nvPr/>
        </p:nvCxnSpPr>
        <p:spPr bwMode="auto">
          <a:xfrm rot="16200000" flipH="1">
            <a:off x="3526632" y="2161381"/>
            <a:ext cx="360362" cy="1095375"/>
          </a:xfrm>
          <a:prstGeom prst="bentConnector3">
            <a:avLst>
              <a:gd name="adj1" fmla="val 50000"/>
            </a:avLst>
          </a:prstGeom>
          <a:noFill/>
          <a:ln w="9525">
            <a:solidFill>
              <a:schemeClr val="bg1">
                <a:lumMod val="65000"/>
              </a:schemeClr>
            </a:solidFill>
            <a:miter lim="800000"/>
            <a:headEnd/>
            <a:tailEnd type="triangle" w="med" len="med"/>
          </a:ln>
        </p:spPr>
      </p:cxnSp>
      <p:sp>
        <p:nvSpPr>
          <p:cNvPr id="111" name="Rectangle 6"/>
          <p:cNvSpPr>
            <a:spLocks noChangeArrowheads="1"/>
          </p:cNvSpPr>
          <p:nvPr/>
        </p:nvSpPr>
        <p:spPr bwMode="auto">
          <a:xfrm>
            <a:off x="3824288" y="4540250"/>
            <a:ext cx="865187" cy="431800"/>
          </a:xfrm>
          <a:prstGeom prst="rect">
            <a:avLst/>
          </a:prstGeom>
          <a:noFill/>
          <a:ln w="9525" algn="ctr">
            <a:solidFill>
              <a:schemeClr val="bg1">
                <a:lumMod val="65000"/>
              </a:schemeClr>
            </a:solidFill>
            <a:miter lim="800000"/>
            <a:headEnd/>
            <a:tailEnd/>
          </a:ln>
        </p:spPr>
        <p:txBody>
          <a:bodyPr wrap="none" anchor="ctr"/>
          <a:lstStyle/>
          <a:p>
            <a:pPr algn="ctr">
              <a:defRPr/>
            </a:pPr>
            <a:r>
              <a:rPr lang="en-US" altLang="ko-KR" sz="1200" b="1" dirty="0">
                <a:latin typeface="arial" pitchFamily="34" charset="0"/>
                <a:ea typeface="맑은 고딕" panose="020B0503020000020004" pitchFamily="50" charset="-127"/>
              </a:rPr>
              <a:t>Xd - Rs</a:t>
            </a:r>
          </a:p>
        </p:txBody>
      </p:sp>
      <p:cxnSp>
        <p:nvCxnSpPr>
          <p:cNvPr id="112" name="AutoShape 11"/>
          <p:cNvCxnSpPr>
            <a:cxnSpLocks noChangeShapeType="1"/>
            <a:stCxn id="107" idx="2"/>
            <a:endCxn id="111" idx="0"/>
          </p:cNvCxnSpPr>
          <p:nvPr/>
        </p:nvCxnSpPr>
        <p:spPr bwMode="auto">
          <a:xfrm rot="16200000" flipH="1">
            <a:off x="3646488" y="3929062"/>
            <a:ext cx="1219200" cy="3175"/>
          </a:xfrm>
          <a:prstGeom prst="bentConnector3">
            <a:avLst>
              <a:gd name="adj1" fmla="val 50000"/>
            </a:avLst>
          </a:prstGeom>
          <a:noFill/>
          <a:ln w="9525">
            <a:solidFill>
              <a:schemeClr val="bg1">
                <a:lumMod val="65000"/>
              </a:schemeClr>
            </a:solidFill>
            <a:miter lim="800000"/>
            <a:headEnd/>
            <a:tailEnd type="triangle" w="med" len="med"/>
          </a:ln>
        </p:spPr>
      </p:cxnSp>
      <p:sp>
        <p:nvSpPr>
          <p:cNvPr id="14382" name="직사각형 1"/>
          <p:cNvSpPr>
            <a:spLocks noChangeArrowheads="1"/>
          </p:cNvSpPr>
          <p:nvPr/>
        </p:nvSpPr>
        <p:spPr bwMode="auto">
          <a:xfrm>
            <a:off x="560388" y="6165850"/>
            <a:ext cx="24705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a:latin typeface="arial" pitchFamily="34" charset="0"/>
                <a:ea typeface="맑은 고딕" pitchFamily="50" charset="-127"/>
              </a:rPr>
              <a:t>1) I-MR : Individuals - Moving Range</a:t>
            </a:r>
            <a:endParaRPr lang="ko-KR" altLang="en-US" sz="1100" dirty="0">
              <a:latin typeface="arial" pitchFamily="34" charset="0"/>
              <a:ea typeface="맑은 고딕" pitchFamily="50" charset="-127"/>
            </a:endParaRPr>
          </a:p>
        </p:txBody>
      </p:sp>
      <p:sp>
        <p:nvSpPr>
          <p:cNvPr id="14383" name="Line 2198"/>
          <p:cNvSpPr>
            <a:spLocks noChangeShapeType="1"/>
          </p:cNvSpPr>
          <p:nvPr/>
        </p:nvSpPr>
        <p:spPr bwMode="auto">
          <a:xfrm>
            <a:off x="493713" y="6092825"/>
            <a:ext cx="12192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255</a:t>
            </a:fld>
            <a:endParaRPr lang="ko-KR" altLang="en-US" dirty="0"/>
          </a:p>
        </p:txBody>
      </p:sp>
      <p:sp>
        <p:nvSpPr>
          <p:cNvPr id="48" name="Text Box 35"/>
          <p:cNvSpPr txBox="1">
            <a:spLocks noChangeArrowheads="1"/>
          </p:cNvSpPr>
          <p:nvPr/>
        </p:nvSpPr>
        <p:spPr bwMode="auto">
          <a:xfrm>
            <a:off x="6134100" y="5008404"/>
            <a:ext cx="97026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b="1" dirty="0">
                <a:latin typeface="arial" pitchFamily="34" charset="0"/>
                <a:ea typeface="맑은 고딕" pitchFamily="50" charset="-127"/>
              </a:rPr>
              <a:t>inconsistent</a:t>
            </a:r>
            <a:endParaRPr lang="ko-KR" altLang="en-US" sz="1000" b="1" dirty="0">
              <a:latin typeface="arial" pitchFamily="34" charset="0"/>
              <a:ea typeface="맑은 고딕" pitchFamily="50" charset="-127"/>
            </a:endParaRPr>
          </a:p>
        </p:txBody>
      </p:sp>
      <p:sp>
        <p:nvSpPr>
          <p:cNvPr id="49" name="Text Box 35"/>
          <p:cNvSpPr txBox="1">
            <a:spLocks noChangeArrowheads="1"/>
          </p:cNvSpPr>
          <p:nvPr/>
        </p:nvSpPr>
        <p:spPr bwMode="auto">
          <a:xfrm>
            <a:off x="7127875" y="5008404"/>
            <a:ext cx="8636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b="1" dirty="0">
                <a:latin typeface="arial" pitchFamily="34" charset="0"/>
                <a:ea typeface="맑은 고딕" pitchFamily="50" charset="-127"/>
              </a:rPr>
              <a:t>consistent</a:t>
            </a:r>
            <a:endParaRPr lang="ko-KR" altLang="en-US" sz="1000" b="1" dirty="0">
              <a:latin typeface="arial" pitchFamily="34" charset="0"/>
              <a:ea typeface="맑은 고딕" pitchFamily="50" charset="-127"/>
            </a:endParaRPr>
          </a:p>
        </p:txBody>
      </p:sp>
      <p:sp>
        <p:nvSpPr>
          <p:cNvPr id="50" name="Text Box 35"/>
          <p:cNvSpPr txBox="1">
            <a:spLocks noChangeArrowheads="1"/>
          </p:cNvSpPr>
          <p:nvPr/>
        </p:nvSpPr>
        <p:spPr bwMode="auto">
          <a:xfrm>
            <a:off x="7991475" y="5008245"/>
            <a:ext cx="97026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spcBef>
                <a:spcPct val="50000"/>
              </a:spcBef>
            </a:pPr>
            <a:r>
              <a:rPr lang="en-US" altLang="ko-KR" sz="1000" b="1" dirty="0">
                <a:latin typeface="arial" pitchFamily="34" charset="0"/>
                <a:ea typeface="맑은 고딕" pitchFamily="50" charset="-127"/>
              </a:rPr>
              <a:t>inconsistent</a:t>
            </a:r>
            <a:endParaRPr lang="ko-KR" altLang="en-US" sz="1000" b="1" dirty="0">
              <a:latin typeface="arial" pitchFamily="34" charset="0"/>
              <a:ea typeface="맑은 고딕" pitchFamily="50" charset="-127"/>
            </a:endParaRPr>
          </a:p>
        </p:txBody>
      </p:sp>
    </p:spTree>
    <p:extLst>
      <p:ext uri="{BB962C8B-B14F-4D97-AF65-F5344CB8AC3E}">
        <p14:creationId xmlns:p14="http://schemas.microsoft.com/office/powerpoint/2010/main" val="2034243637"/>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4. </a:t>
            </a:r>
            <a:r>
              <a:rPr lang="en-US" altLang="ko-KR" sz="2000" b="1" dirty="0" err="1"/>
              <a:t>Loại</a:t>
            </a:r>
            <a:r>
              <a:rPr lang="en-US" altLang="ko-KR" sz="2000" b="1" dirty="0"/>
              <a:t> </a:t>
            </a:r>
            <a:r>
              <a:rPr lang="en-US" altLang="ko-KR" sz="2000" b="1" dirty="0" err="1"/>
              <a:t>biểu</a:t>
            </a:r>
            <a:r>
              <a:rPr lang="en-US" altLang="ko-KR" sz="2000" b="1" dirty="0"/>
              <a:t> </a:t>
            </a:r>
            <a:r>
              <a:rPr lang="en-US" altLang="ko-KR" sz="2000" b="1" dirty="0" err="1"/>
              <a:t>đồ</a:t>
            </a:r>
            <a:r>
              <a:rPr lang="en-US" altLang="ko-KR" sz="2000" b="1" dirty="0"/>
              <a:t> </a:t>
            </a:r>
            <a:r>
              <a:rPr lang="en-US" altLang="ko-KR" sz="2000" b="1" dirty="0" err="1"/>
              <a:t>kiểm</a:t>
            </a:r>
            <a:r>
              <a:rPr lang="en-US" altLang="ko-KR" sz="2000" b="1" dirty="0"/>
              <a:t> </a:t>
            </a:r>
            <a:r>
              <a:rPr lang="en-US" altLang="ko-KR" sz="2000" b="1" dirty="0" err="1"/>
              <a:t>soát</a:t>
            </a:r>
            <a:r>
              <a:rPr lang="en-US" altLang="ko-KR" sz="2000" b="1" dirty="0"/>
              <a:t> _ </a:t>
            </a:r>
            <a:r>
              <a:rPr lang="en-US" altLang="ko-KR" sz="2000" b="1" dirty="0" err="1"/>
              <a:t>Xbar</a:t>
            </a:r>
            <a:r>
              <a:rPr lang="en-US" altLang="ko-KR" sz="2000" b="1" dirty="0"/>
              <a:t>-R Control Chart</a:t>
            </a:r>
            <a:endParaRPr lang="ko-KR" altLang="en-US" sz="2000" b="1" dirty="0"/>
          </a:p>
        </p:txBody>
      </p:sp>
      <p:sp>
        <p:nvSpPr>
          <p:cNvPr id="15364" name="TextBox 19"/>
          <p:cNvSpPr txBox="1">
            <a:spLocks noChangeArrowheads="1"/>
          </p:cNvSpPr>
          <p:nvPr/>
        </p:nvSpPr>
        <p:spPr bwMode="auto">
          <a:xfrm>
            <a:off x="1778694" y="1772816"/>
            <a:ext cx="8070850"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solidFill>
                  <a:srgbClr val="000000"/>
                </a:solidFill>
                <a:latin typeface="arial" pitchFamily="34" charset="0"/>
                <a:ea typeface="맑은 고딕" pitchFamily="50" charset="-127"/>
              </a:rPr>
              <a:t>Được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sử</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dụng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khi</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các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giá</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trị</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đặc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trưng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của</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mẫu</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là</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kiểu</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dữ</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liệu</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liên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tục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giữa</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các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nhóm</a:t>
            </a:r>
            <a:r>
              <a:rPr lang="ko-KR" altLang="en-US" sz="1400" b="1" dirty="0">
                <a:solidFill>
                  <a:srgbClr val="000000"/>
                </a:solidFill>
                <a:latin typeface="arial" pitchFamily="34" charset="0"/>
                <a:ea typeface="맑은 고딕" pitchFamily="50" charset="-127"/>
              </a:rPr>
              <a:t> </a:t>
            </a:r>
            <a:r>
              <a:rPr lang="en-US" altLang="ko-KR" sz="1400" b="1" dirty="0">
                <a:solidFill>
                  <a:srgbClr val="000000"/>
                </a:solidFill>
                <a:latin typeface="arial" pitchFamily="34" charset="0"/>
                <a:ea typeface="맑은 고딕" pitchFamily="50" charset="-127"/>
              </a:rPr>
              <a:t>(n=2~5)</a:t>
            </a:r>
            <a:r>
              <a:rPr lang="ko-KR" altLang="en-US" sz="1400" b="1" dirty="0">
                <a:solidFill>
                  <a:srgbClr val="000000"/>
                </a:solidFill>
                <a:latin typeface="arial" pitchFamily="34" charset="0"/>
                <a:ea typeface="맑은 고딕" pitchFamily="50" charset="-127"/>
              </a:rPr>
              <a:t> </a:t>
            </a:r>
          </a:p>
          <a:p>
            <a:pPr eaLnBrk="1" hangingPunct="1"/>
            <a:r>
              <a:rPr lang="ko-KR" altLang="en-US" sz="1100" dirty="0">
                <a:solidFill>
                  <a:srgbClr val="000000"/>
                </a:solidFill>
                <a:latin typeface="arial" pitchFamily="34" charset="0"/>
                <a:ea typeface="맑은 고딕" pitchFamily="50" charset="-127"/>
              </a:rPr>
              <a:t>    </a:t>
            </a:r>
            <a:r>
              <a:rPr lang="en-US" altLang="ko-KR" sz="1100" dirty="0">
                <a:solidFill>
                  <a:srgbClr val="000000"/>
                </a:solidFill>
                <a:latin typeface="arial" pitchFamily="34" charset="0"/>
                <a:ea typeface="맑은 고딕" pitchFamily="50" charset="-127"/>
              </a:rPr>
              <a:t>VD: </a:t>
            </a:r>
            <a:r>
              <a:rPr lang="en-US" altLang="ko-KR" sz="1100" dirty="0" err="1">
                <a:solidFill>
                  <a:srgbClr val="000000"/>
                </a:solidFill>
                <a:latin typeface="arial" pitchFamily="34" charset="0"/>
                <a:ea typeface="맑은 고딕" pitchFamily="50" charset="-127"/>
              </a:rPr>
              <a:t>Chiều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dài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Cân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nặng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thời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gian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độ</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bền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năng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suất</a:t>
            </a:r>
            <a:r>
              <a:rPr lang="en-US" altLang="ko-KR" sz="1100" dirty="0">
                <a:solidFill>
                  <a:srgbClr val="000000"/>
                </a:solidFill>
                <a:latin typeface="arial" pitchFamily="34" charset="0"/>
                <a:ea typeface="맑은 고딕" pitchFamily="50" charset="-127"/>
              </a:rPr>
              <a:t>,…</a:t>
            </a:r>
            <a:endParaRPr lang="ko-KR" altLang="en-US" sz="1100" dirty="0">
              <a:solidFill>
                <a:srgbClr val="000000"/>
              </a:solidFill>
              <a:latin typeface="arial" pitchFamily="34" charset="0"/>
              <a:ea typeface="맑은 고딕" pitchFamily="50" charset="-127"/>
            </a:endParaRPr>
          </a:p>
        </p:txBody>
      </p:sp>
      <p:sp>
        <p:nvSpPr>
          <p:cNvPr id="15365" name="직사각형 1"/>
          <p:cNvSpPr>
            <a:spLocks noChangeArrowheads="1"/>
          </p:cNvSpPr>
          <p:nvPr/>
        </p:nvSpPr>
        <p:spPr bwMode="auto">
          <a:xfrm>
            <a:off x="1805111" y="889000"/>
            <a:ext cx="75882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solidFill>
                  <a:srgbClr val="000000"/>
                </a:solidFill>
                <a:latin typeface="arial" pitchFamily="34" charset="0"/>
                <a:ea typeface="맑은 고딕" pitchFamily="50" charset="-127"/>
              </a:rPr>
              <a:t>Thường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được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sử</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dụng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khi</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các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giá</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trị</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đặc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trưng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của</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mẫu</a:t>
            </a:r>
            <a:r>
              <a:rPr lang="en-US" altLang="ko-KR" sz="1400" b="1" dirty="0">
                <a:solidFill>
                  <a:srgbClr val="000000"/>
                </a:solidFill>
                <a:latin typeface="arial" pitchFamily="34" charset="0"/>
                <a:ea typeface="맑은 고딕" pitchFamily="50" charset="-127"/>
              </a:rPr>
              <a:t> ở </a:t>
            </a:r>
            <a:r>
              <a:rPr lang="en-US" altLang="ko-KR" sz="1400" b="1" dirty="0" err="1">
                <a:solidFill>
                  <a:srgbClr val="000000"/>
                </a:solidFill>
                <a:latin typeface="arial" pitchFamily="34" charset="0"/>
                <a:ea typeface="맑은 고딕" pitchFamily="50" charset="-127"/>
              </a:rPr>
              <a:t>dạng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dữ</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liệu</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liên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tục</a:t>
            </a:r>
            <a:r>
              <a:rPr lang="en-US" altLang="ko-KR" sz="1400" b="1" dirty="0">
                <a:solidFill>
                  <a:srgbClr val="000000"/>
                </a:solidFill>
                <a:latin typeface="arial" pitchFamily="34" charset="0"/>
                <a:ea typeface="맑은 고딕" pitchFamily="50" charset="-127"/>
              </a:rPr>
              <a:t>.</a:t>
            </a:r>
          </a:p>
          <a:p>
            <a:pPr eaLnBrk="1" hangingPunct="1"/>
            <a:r>
              <a:rPr lang="ko-KR" altLang="en-US" sz="1100" dirty="0">
                <a:solidFill>
                  <a:srgbClr val="000000"/>
                </a:solidFill>
                <a:latin typeface="arial" pitchFamily="34" charset="0"/>
                <a:ea typeface="맑은 고딕" pitchFamily="50" charset="-127"/>
              </a:rPr>
              <a:t>  </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Xbar</a:t>
            </a:r>
            <a:r>
              <a:rPr lang="en-US" altLang="ko-KR" sz="1100" dirty="0">
                <a:solidFill>
                  <a:srgbClr val="000000"/>
                </a:solidFill>
                <a:latin typeface="arial" pitchFamily="34" charset="0"/>
                <a:ea typeface="맑은 고딕" pitchFamily="50" charset="-127"/>
              </a:rPr>
              <a:t> Control Chart</a:t>
            </a:r>
            <a:r>
              <a:rPr lang="ko-KR" altLang="en-US" sz="1100" dirty="0">
                <a:solidFill>
                  <a:srgbClr val="000000"/>
                </a:solidFill>
                <a:latin typeface="arial" pitchFamily="34" charset="0"/>
                <a:ea typeface="맑은 고딕" pitchFamily="50" charset="-127"/>
              </a:rPr>
              <a:t>：</a:t>
            </a:r>
            <a:r>
              <a:rPr lang="en-US" altLang="ko-KR" sz="1100" dirty="0" err="1">
                <a:solidFill>
                  <a:srgbClr val="000000"/>
                </a:solidFill>
                <a:latin typeface="arial" pitchFamily="34" charset="0"/>
                <a:ea typeface="맑은 고딕" pitchFamily="50" charset="-127"/>
              </a:rPr>
              <a:t>phát</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hiện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những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thay</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đổi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giữa</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trung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bình</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nhóm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và</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giữa</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các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nhóm</a:t>
            </a:r>
            <a:endParaRPr lang="ko-KR" altLang="en-US" sz="1100" dirty="0">
              <a:solidFill>
                <a:srgbClr val="000000"/>
              </a:solidFill>
              <a:latin typeface="arial" pitchFamily="34" charset="0"/>
              <a:ea typeface="맑은 고딕" pitchFamily="50" charset="-127"/>
            </a:endParaRPr>
          </a:p>
          <a:p>
            <a:pPr eaLnBrk="1" hangingPunct="1"/>
            <a:r>
              <a:rPr lang="ko-KR" altLang="en-US" sz="1100" dirty="0">
                <a:solidFill>
                  <a:srgbClr val="000000"/>
                </a:solidFill>
                <a:latin typeface="arial" pitchFamily="34" charset="0"/>
                <a:ea typeface="맑은 고딕" pitchFamily="50" charset="-127"/>
              </a:rPr>
              <a:t>  </a:t>
            </a:r>
            <a:r>
              <a:rPr lang="en-US" altLang="ko-KR" sz="1100" dirty="0">
                <a:solidFill>
                  <a:srgbClr val="000000"/>
                </a:solidFill>
                <a:latin typeface="arial" pitchFamily="34" charset="0"/>
                <a:ea typeface="맑은 고딕" pitchFamily="50" charset="-127"/>
              </a:rPr>
              <a:t>- R Control Chart</a:t>
            </a:r>
            <a:r>
              <a:rPr lang="ko-KR" altLang="en-US" sz="1100" dirty="0">
                <a:solidFill>
                  <a:srgbClr val="000000"/>
                </a:solidFill>
                <a:latin typeface="arial" pitchFamily="34" charset="0"/>
                <a:ea typeface="맑은 고딕" pitchFamily="50" charset="-127"/>
              </a:rPr>
              <a:t>：</a:t>
            </a:r>
            <a:r>
              <a:rPr lang="en-US" altLang="ko-KR" sz="1100" dirty="0" err="1">
                <a:solidFill>
                  <a:srgbClr val="000000"/>
                </a:solidFill>
                <a:latin typeface="arial" pitchFamily="34" charset="0"/>
                <a:ea typeface="맑은 고딕" pitchFamily="50" charset="-127"/>
              </a:rPr>
              <a:t>để</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quản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lý</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những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thay</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đổi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trong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phân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phối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trong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một</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nhóm</a:t>
            </a:r>
            <a:r>
              <a:rPr lang="en-US" altLang="ko-KR" sz="1100" dirty="0">
                <a:solidFill>
                  <a:srgbClr val="000000"/>
                </a:solidFill>
                <a:latin typeface="arial" pitchFamily="34" charset="0"/>
                <a:ea typeface="맑은 고딕" pitchFamily="50" charset="-127"/>
              </a:rPr>
              <a:t>.</a:t>
            </a:r>
            <a:endParaRPr lang="ko-KR" altLang="en-US" sz="1100" dirty="0">
              <a:solidFill>
                <a:srgbClr val="000000"/>
              </a:solidFill>
              <a:latin typeface="arial" pitchFamily="34" charset="0"/>
              <a:ea typeface="맑은 고딕" pitchFamily="50" charset="-127"/>
            </a:endParaRPr>
          </a:p>
        </p:txBody>
      </p:sp>
      <p:pic>
        <p:nvPicPr>
          <p:cNvPr id="15366" name="Picture 14"/>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281113" y="3011760"/>
            <a:ext cx="5486400"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15367" name="직사각형 3"/>
          <p:cNvSpPr>
            <a:spLocks noChangeArrowheads="1"/>
          </p:cNvSpPr>
          <p:nvPr/>
        </p:nvSpPr>
        <p:spPr bwMode="auto">
          <a:xfrm>
            <a:off x="6846888" y="3375297"/>
            <a:ext cx="2282825"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err="1">
                <a:solidFill>
                  <a:srgbClr val="000000"/>
                </a:solidFill>
                <a:latin typeface="arial" pitchFamily="34" charset="0"/>
                <a:ea typeface="맑은 고딕" pitchFamily="50" charset="-127"/>
              </a:rPr>
              <a:t>Tất</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cả</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dữ</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liệu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đo</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được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được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thể</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hiện</a:t>
            </a:r>
            <a:r>
              <a:rPr lang="en-US" altLang="ko-KR" sz="1100" dirty="0">
                <a:solidFill>
                  <a:srgbClr val="000000"/>
                </a:solidFill>
                <a:latin typeface="arial" pitchFamily="34" charset="0"/>
                <a:ea typeface="맑은 고딕" pitchFamily="50" charset="-127"/>
              </a:rPr>
              <a:t> qua </a:t>
            </a:r>
            <a:r>
              <a:rPr lang="en-US" altLang="ko-KR" sz="1100" dirty="0" err="1">
                <a:solidFill>
                  <a:srgbClr val="000000"/>
                </a:solidFill>
                <a:latin typeface="arial" pitchFamily="34" charset="0"/>
                <a:ea typeface="맑은 고딕" pitchFamily="50" charset="-127"/>
              </a:rPr>
              <a:t>biểu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đồ</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kiểm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soát</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Xbar</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đều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trong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giới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hạn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kiểm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soát</a:t>
            </a:r>
            <a:r>
              <a:rPr lang="en-US" altLang="ko-KR" sz="1100" dirty="0">
                <a:solidFill>
                  <a:srgbClr val="000000"/>
                </a:solidFill>
                <a:latin typeface="arial" pitchFamily="34" charset="0"/>
                <a:ea typeface="맑은 고딕" pitchFamily="50" charset="-127"/>
              </a:rPr>
              <a:t>.</a:t>
            </a:r>
          </a:p>
          <a:p>
            <a:pPr eaLnBrk="1" hangingPunct="1"/>
            <a:r>
              <a:rPr lang="en-US" altLang="ko-KR" sz="1100" dirty="0">
                <a:solidFill>
                  <a:srgbClr val="000000"/>
                </a:solidFill>
                <a:latin typeface="arial" pitchFamily="34" charset="0"/>
                <a:ea typeface="맑은 고딕" pitchFamily="50" charset="-127"/>
              </a:rPr>
              <a:t>-&gt; </a:t>
            </a:r>
            <a:r>
              <a:rPr lang="en-US" altLang="ko-KR" sz="1100" dirty="0" err="1">
                <a:solidFill>
                  <a:srgbClr val="000000"/>
                </a:solidFill>
                <a:latin typeface="arial" pitchFamily="34" charset="0"/>
                <a:ea typeface="맑은 고딕" pitchFamily="50" charset="-127"/>
              </a:rPr>
              <a:t>Phương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sai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giữa</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cá</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nhóm</a:t>
            </a:r>
            <a:r>
              <a:rPr lang="en-US" altLang="ko-KR" sz="1100" dirty="0">
                <a:solidFill>
                  <a:srgbClr val="000000"/>
                </a:solidFill>
                <a:latin typeface="arial" pitchFamily="34" charset="0"/>
                <a:ea typeface="맑은 고딕" pitchFamily="50" charset="-127"/>
              </a:rPr>
              <a:t> (’Between groups’ variances) </a:t>
            </a:r>
            <a:r>
              <a:rPr lang="en-US" altLang="ko-KR" sz="1100" dirty="0" err="1">
                <a:solidFill>
                  <a:srgbClr val="000000"/>
                </a:solidFill>
                <a:latin typeface="arial" pitchFamily="34" charset="0"/>
                <a:ea typeface="맑은 고딕" pitchFamily="50" charset="-127"/>
              </a:rPr>
              <a:t>là</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ổn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định</a:t>
            </a:r>
            <a:r>
              <a:rPr lang="en-US" altLang="ko-KR" sz="1100" dirty="0">
                <a:solidFill>
                  <a:srgbClr val="000000"/>
                </a:solidFill>
                <a:latin typeface="arial" pitchFamily="34" charset="0"/>
                <a:ea typeface="맑은 고딕" pitchFamily="50" charset="-127"/>
              </a:rPr>
              <a:t>.</a:t>
            </a:r>
          </a:p>
        </p:txBody>
      </p:sp>
      <p:sp>
        <p:nvSpPr>
          <p:cNvPr id="15368" name="직사각형 4"/>
          <p:cNvSpPr>
            <a:spLocks noChangeArrowheads="1"/>
          </p:cNvSpPr>
          <p:nvPr/>
        </p:nvSpPr>
        <p:spPr bwMode="auto">
          <a:xfrm>
            <a:off x="6869113" y="5085184"/>
            <a:ext cx="2282825"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err="1">
                <a:solidFill>
                  <a:srgbClr val="000000"/>
                </a:solidFill>
                <a:latin typeface="arial" pitchFamily="34" charset="0"/>
                <a:ea typeface="맑은 고딕" pitchFamily="50" charset="-127"/>
              </a:rPr>
              <a:t>Trong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biểu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đồ</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kiểm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soát</a:t>
            </a:r>
            <a:r>
              <a:rPr lang="en-US" altLang="ko-KR" sz="1100" dirty="0">
                <a:solidFill>
                  <a:srgbClr val="000000"/>
                </a:solidFill>
                <a:latin typeface="arial" pitchFamily="34" charset="0"/>
                <a:ea typeface="맑은 고딕" pitchFamily="50" charset="-127"/>
              </a:rPr>
              <a:t> R, </a:t>
            </a:r>
            <a:r>
              <a:rPr lang="en-US" altLang="ko-KR" sz="1100" dirty="0" err="1">
                <a:solidFill>
                  <a:srgbClr val="000000"/>
                </a:solidFill>
                <a:latin typeface="arial" pitchFamily="34" charset="0"/>
                <a:ea typeface="맑은 고딕" pitchFamily="50" charset="-127"/>
              </a:rPr>
              <a:t>phân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phối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của</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các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nhóm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riêng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biệt</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đều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nằm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trong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giới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hạn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kiểm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soát</a:t>
            </a:r>
            <a:r>
              <a:rPr lang="en-US" altLang="ko-KR" sz="1100" dirty="0">
                <a:solidFill>
                  <a:srgbClr val="000000"/>
                </a:solidFill>
                <a:latin typeface="arial" pitchFamily="34" charset="0"/>
                <a:ea typeface="맑은 고딕" pitchFamily="50" charset="-127"/>
              </a:rPr>
              <a:t>.</a:t>
            </a:r>
          </a:p>
          <a:p>
            <a:pPr eaLnBrk="1" hangingPunct="1"/>
            <a:r>
              <a:rPr lang="en-US" altLang="ko-KR" sz="1100" dirty="0">
                <a:solidFill>
                  <a:srgbClr val="000000"/>
                </a:solidFill>
                <a:latin typeface="arial" pitchFamily="34" charset="0"/>
                <a:ea typeface="맑은 고딕" pitchFamily="50" charset="-127"/>
              </a:rPr>
              <a:t> -&gt; </a:t>
            </a:r>
            <a:r>
              <a:rPr lang="en-US" altLang="ko-KR" sz="1100" dirty="0" err="1">
                <a:solidFill>
                  <a:srgbClr val="000000"/>
                </a:solidFill>
                <a:latin typeface="arial" pitchFamily="34" charset="0"/>
                <a:ea typeface="맑은 고딕" pitchFamily="50" charset="-127"/>
              </a:rPr>
              <a:t>Phương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sai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trong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nhóm</a:t>
            </a:r>
            <a:r>
              <a:rPr lang="en-US" altLang="ko-KR" sz="1100" dirty="0">
                <a:solidFill>
                  <a:srgbClr val="000000"/>
                </a:solidFill>
                <a:latin typeface="arial" pitchFamily="34" charset="0"/>
                <a:ea typeface="맑은 고딕" pitchFamily="50" charset="-127"/>
              </a:rPr>
              <a:t> (‘Within group’ variances) </a:t>
            </a:r>
            <a:r>
              <a:rPr lang="en-US" altLang="ko-KR" sz="1100" dirty="0" err="1">
                <a:solidFill>
                  <a:srgbClr val="000000"/>
                </a:solidFill>
                <a:latin typeface="arial" pitchFamily="34" charset="0"/>
                <a:ea typeface="맑은 고딕" pitchFamily="50" charset="-127"/>
              </a:rPr>
              <a:t>là</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ổn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định</a:t>
            </a:r>
            <a:r>
              <a:rPr lang="en-US" altLang="ko-KR" sz="1100" dirty="0">
                <a:solidFill>
                  <a:srgbClr val="000000"/>
                </a:solidFill>
                <a:latin typeface="arial" pitchFamily="34" charset="0"/>
                <a:ea typeface="맑은 고딕" pitchFamily="50" charset="-127"/>
              </a:rPr>
              <a:t>.</a:t>
            </a:r>
          </a:p>
        </p:txBody>
      </p:sp>
      <p:sp>
        <p:nvSpPr>
          <p:cNvPr id="15369" name="TextBox 19"/>
          <p:cNvSpPr txBox="1">
            <a:spLocks noChangeArrowheads="1"/>
          </p:cNvSpPr>
          <p:nvPr/>
        </p:nvSpPr>
        <p:spPr bwMode="auto">
          <a:xfrm>
            <a:off x="841375" y="2526481"/>
            <a:ext cx="635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rPr>
              <a:t>VD: </a:t>
            </a:r>
            <a:r>
              <a:rPr lang="en-US" altLang="ko-KR" sz="1200" b="1" dirty="0" err="1">
                <a:solidFill>
                  <a:srgbClr val="000000"/>
                </a:solidFill>
                <a:latin typeface="arial" pitchFamily="34" charset="0"/>
                <a:ea typeface="맑은 고딕" pitchFamily="50" charset="-127"/>
              </a:rPr>
              <a:t>Dữ</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liệu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dưới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đây</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là</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dữ</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liệu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về</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điện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trở</a:t>
            </a:r>
            <a:r>
              <a:rPr lang="en-US" altLang="ko-KR" sz="1200" b="1" dirty="0">
                <a:solidFill>
                  <a:srgbClr val="000000"/>
                </a:solidFill>
                <a:latin typeface="arial" pitchFamily="34" charset="0"/>
                <a:ea typeface="맑은 고딕" pitchFamily="50" charset="-127"/>
              </a:rPr>
              <a:t> (Ω) </a:t>
            </a:r>
            <a:r>
              <a:rPr lang="en-US" altLang="ko-KR" sz="1200" b="1" dirty="0" err="1">
                <a:solidFill>
                  <a:srgbClr val="000000"/>
                </a:solidFill>
                <a:latin typeface="arial" pitchFamily="34" charset="0"/>
                <a:ea typeface="맑은 고딕" pitchFamily="50" charset="-127"/>
              </a:rPr>
              <a:t>trên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chuyền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được</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đo</a:t>
            </a:r>
            <a:r>
              <a:rPr lang="en-US" altLang="ko-KR" sz="1200" b="1" dirty="0">
                <a:solidFill>
                  <a:srgbClr val="000000"/>
                </a:solidFill>
                <a:latin typeface="arial" pitchFamily="34" charset="0"/>
                <a:ea typeface="맑은 고딕" pitchFamily="50" charset="-127"/>
              </a:rPr>
              <a:t> 5 </a:t>
            </a:r>
            <a:r>
              <a:rPr lang="en-US" altLang="ko-KR" sz="1200" b="1" dirty="0" err="1">
                <a:solidFill>
                  <a:srgbClr val="000000"/>
                </a:solidFill>
                <a:latin typeface="arial" pitchFamily="34" charset="0"/>
                <a:ea typeface="맑은 고딕" pitchFamily="50" charset="-127"/>
              </a:rPr>
              <a:t>lần</a:t>
            </a:r>
            <a:r>
              <a:rPr lang="en-US" altLang="ko-KR" sz="1200" b="1" dirty="0">
                <a:solidFill>
                  <a:srgbClr val="000000"/>
                </a:solidFill>
                <a:latin typeface="arial" pitchFamily="34" charset="0"/>
                <a:ea typeface="맑은 고딕" pitchFamily="50" charset="-127"/>
              </a:rPr>
              <a:t>/</a:t>
            </a:r>
            <a:r>
              <a:rPr lang="en-US" altLang="ko-KR" sz="1200" b="1" dirty="0" err="1">
                <a:solidFill>
                  <a:srgbClr val="000000"/>
                </a:solidFill>
                <a:latin typeface="arial" pitchFamily="34" charset="0"/>
                <a:ea typeface="맑은 고딕" pitchFamily="50" charset="-127"/>
              </a:rPr>
              <a:t>ngày</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trong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vòng</a:t>
            </a:r>
            <a:r>
              <a:rPr lang="en-US" altLang="ko-KR" sz="1200" b="1" dirty="0">
                <a:solidFill>
                  <a:srgbClr val="000000"/>
                </a:solidFill>
                <a:latin typeface="arial" pitchFamily="34" charset="0"/>
                <a:ea typeface="맑은 고딕" pitchFamily="50" charset="-127"/>
              </a:rPr>
              <a:t> 10 </a:t>
            </a:r>
            <a:r>
              <a:rPr lang="en-US" altLang="ko-KR" sz="1200" b="1" dirty="0" err="1">
                <a:solidFill>
                  <a:srgbClr val="000000"/>
                </a:solidFill>
                <a:latin typeface="arial" pitchFamily="34" charset="0"/>
                <a:ea typeface="맑은 고딕" pitchFamily="50" charset="-127"/>
              </a:rPr>
              <a:t>ngày</a:t>
            </a:r>
            <a:r>
              <a:rPr lang="en-US" altLang="ko-KR" sz="1200" b="1" dirty="0">
                <a:solidFill>
                  <a:srgbClr val="000000"/>
                </a:solidFill>
                <a:latin typeface="arial" pitchFamily="34" charset="0"/>
                <a:ea typeface="맑은 고딕" pitchFamily="50" charset="-127"/>
              </a:rPr>
              <a:t>.</a:t>
            </a:r>
            <a:endParaRPr lang="ko-KR" altLang="en-US" sz="1200" b="1" dirty="0">
              <a:solidFill>
                <a:srgbClr val="000000"/>
              </a:solidFill>
              <a:latin typeface="arial" pitchFamily="34" charset="0"/>
              <a:ea typeface="맑은 고딕" pitchFamily="50" charset="-127"/>
            </a:endParaRPr>
          </a:p>
        </p:txBody>
      </p:sp>
      <p:sp>
        <p:nvSpPr>
          <p:cNvPr id="13" name="오각형 12"/>
          <p:cNvSpPr/>
          <p:nvPr/>
        </p:nvSpPr>
        <p:spPr>
          <a:xfrm>
            <a:off x="338882" y="952500"/>
            <a:ext cx="1301750" cy="488950"/>
          </a:xfrm>
          <a:prstGeom prst="homePlate">
            <a:avLst>
              <a:gd name="adj" fmla="val 26198"/>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solidFill>
                  <a:schemeClr val="tx1"/>
                </a:solidFill>
                <a:latin typeface="arial" pitchFamily="34" charset="0"/>
              </a:rPr>
              <a:t>Mô</a:t>
            </a:r>
            <a:r>
              <a:rPr lang="en-US" altLang="ko-KR" sz="1400" b="1" dirty="0">
                <a:solidFill>
                  <a:schemeClr val="tx1"/>
                </a:solidFill>
                <a:latin typeface="arial" pitchFamily="34" charset="0"/>
              </a:rPr>
              <a:t> </a:t>
            </a:r>
            <a:r>
              <a:rPr lang="en-US" altLang="ko-KR" sz="1400" b="1" dirty="0" err="1">
                <a:solidFill>
                  <a:schemeClr val="tx1"/>
                </a:solidFill>
                <a:latin typeface="arial" pitchFamily="34" charset="0"/>
              </a:rPr>
              <a:t>tả</a:t>
            </a:r>
            <a:endParaRPr lang="ko-KR" altLang="en-US" sz="1400" b="1" dirty="0">
              <a:solidFill>
                <a:schemeClr val="tx1"/>
              </a:solidFill>
              <a:latin typeface="arial" pitchFamily="34" charset="0"/>
            </a:endParaRPr>
          </a:p>
        </p:txBody>
      </p:sp>
      <p:sp>
        <p:nvSpPr>
          <p:cNvPr id="14" name="오각형 13"/>
          <p:cNvSpPr/>
          <p:nvPr/>
        </p:nvSpPr>
        <p:spPr>
          <a:xfrm>
            <a:off x="338882" y="1844675"/>
            <a:ext cx="1301750" cy="488950"/>
          </a:xfrm>
          <a:prstGeom prst="homePlate">
            <a:avLst>
              <a:gd name="adj" fmla="val 30165"/>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solidFill>
                  <a:schemeClr val="tx1"/>
                </a:solidFill>
                <a:latin typeface="arial" pitchFamily="34" charset="0"/>
              </a:rPr>
              <a:t>Mục</a:t>
            </a:r>
            <a:r>
              <a:rPr lang="en-US" altLang="ko-KR" sz="1400" b="1" dirty="0">
                <a:solidFill>
                  <a:schemeClr val="tx1"/>
                </a:solidFill>
                <a:latin typeface="arial" pitchFamily="34" charset="0"/>
              </a:rPr>
              <a:t> </a:t>
            </a:r>
            <a:r>
              <a:rPr lang="en-US" altLang="ko-KR" sz="1400" b="1" dirty="0" err="1">
                <a:solidFill>
                  <a:schemeClr val="tx1"/>
                </a:solidFill>
                <a:latin typeface="arial" pitchFamily="34" charset="0"/>
              </a:rPr>
              <a:t>đích</a:t>
            </a:r>
            <a:endParaRPr lang="ko-KR" altLang="en-US" sz="1400" b="1" dirty="0">
              <a:solidFill>
                <a:schemeClr val="tx1"/>
              </a:solidFill>
              <a:latin typeface="arial" pitchFamily="34" charset="0"/>
            </a:endParaRPr>
          </a:p>
        </p:txBody>
      </p:sp>
      <p:sp>
        <p:nvSpPr>
          <p:cNvPr id="15372" name="TextBox 1"/>
          <p:cNvSpPr txBox="1">
            <a:spLocks noChangeArrowheads="1"/>
          </p:cNvSpPr>
          <p:nvPr/>
        </p:nvSpPr>
        <p:spPr bwMode="auto">
          <a:xfrm>
            <a:off x="7191375" y="2504256"/>
            <a:ext cx="1800493" cy="307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solidFill>
                  <a:srgbClr val="FF0000"/>
                </a:solidFill>
                <a:latin typeface="arial" pitchFamily="34" charset="0"/>
                <a:ea typeface="맑은 고딕" pitchFamily="50" charset="-127"/>
              </a:rPr>
              <a:t>Excel) Control Chart</a:t>
            </a:r>
            <a:r>
              <a:rPr lang="ko-KR" altLang="en-US" sz="1200" b="1" dirty="0">
                <a:solidFill>
                  <a:srgbClr val="FF0000"/>
                </a:solidFill>
                <a:latin typeface="arial" pitchFamily="34" charset="0"/>
                <a:ea typeface="맑은 고딕" pitchFamily="50" charset="-127"/>
              </a:rPr>
              <a:t> </a:t>
            </a:r>
            <a:r>
              <a:rPr lang="en-US" altLang="ko-KR" sz="1200" b="1" dirty="0">
                <a:solidFill>
                  <a:srgbClr val="FF0000"/>
                </a:solidFill>
                <a:latin typeface="arial" pitchFamily="34" charset="0"/>
                <a:ea typeface="맑은 고딕" pitchFamily="50" charset="-127"/>
              </a:rPr>
              <a:t>1</a:t>
            </a:r>
            <a:endParaRPr lang="ko-KR" altLang="en-US" sz="1200" b="1" dirty="0">
              <a:solidFill>
                <a:srgbClr val="FF0000"/>
              </a:solidFill>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256</a:t>
            </a:fld>
            <a:endParaRPr lang="ko-KR" altLang="en-US" dirty="0"/>
          </a:p>
        </p:txBody>
      </p:sp>
    </p:spTree>
    <p:extLst>
      <p:ext uri="{BB962C8B-B14F-4D97-AF65-F5344CB8AC3E}">
        <p14:creationId xmlns:p14="http://schemas.microsoft.com/office/powerpoint/2010/main" val="3467797256"/>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ormAutofit/>
          </a:bodyPr>
          <a:lstStyle/>
          <a:p>
            <a:pPr algn="l" eaLnBrk="1" hangingPunct="1"/>
            <a:r>
              <a:rPr lang="en-US" altLang="ko-KR" sz="2000" b="1" dirty="0"/>
              <a:t>4. </a:t>
            </a:r>
            <a:r>
              <a:rPr lang="en-US" altLang="ko-KR" sz="2000" b="1" dirty="0" err="1"/>
              <a:t>Loại</a:t>
            </a:r>
            <a:r>
              <a:rPr lang="en-US" altLang="ko-KR" sz="2000" b="1" dirty="0"/>
              <a:t> </a:t>
            </a:r>
            <a:r>
              <a:rPr lang="en-US" altLang="ko-KR" sz="2000" b="1" dirty="0" err="1"/>
              <a:t>biểu</a:t>
            </a:r>
            <a:r>
              <a:rPr lang="en-US" altLang="ko-KR" sz="2000" b="1" dirty="0"/>
              <a:t> </a:t>
            </a:r>
            <a:r>
              <a:rPr lang="en-US" altLang="ko-KR" sz="2000" b="1" dirty="0" err="1"/>
              <a:t>đồ</a:t>
            </a:r>
            <a:r>
              <a:rPr lang="en-US" altLang="ko-KR" sz="2000" b="1" dirty="0"/>
              <a:t> </a:t>
            </a:r>
            <a:r>
              <a:rPr lang="en-US" altLang="ko-KR" sz="2000" b="1" dirty="0" err="1"/>
              <a:t>kiểm</a:t>
            </a:r>
            <a:r>
              <a:rPr lang="en-US" altLang="ko-KR" sz="2000" b="1" dirty="0"/>
              <a:t> </a:t>
            </a:r>
            <a:r>
              <a:rPr lang="en-US" altLang="ko-KR" sz="2000" b="1" dirty="0" err="1"/>
              <a:t>soát</a:t>
            </a:r>
            <a:r>
              <a:rPr lang="en-US" altLang="ko-KR" sz="2000" b="1" dirty="0"/>
              <a:t> _ I-MR Control Chart</a:t>
            </a:r>
            <a:endParaRPr lang="ko-KR" altLang="en-US" sz="2000" b="1" dirty="0"/>
          </a:p>
        </p:txBody>
      </p:sp>
      <p:sp>
        <p:nvSpPr>
          <p:cNvPr id="16388" name="직사각형 1"/>
          <p:cNvSpPr>
            <a:spLocks noChangeArrowheads="1"/>
          </p:cNvSpPr>
          <p:nvPr/>
        </p:nvSpPr>
        <p:spPr bwMode="auto">
          <a:xfrm>
            <a:off x="1639888" y="908050"/>
            <a:ext cx="7777162"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solidFill>
                  <a:srgbClr val="000000"/>
                </a:solidFill>
                <a:latin typeface="arial" pitchFamily="34" charset="0"/>
                <a:ea typeface="맑은 고딕" pitchFamily="50" charset="-127"/>
              </a:rPr>
              <a:t>Biểu</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đồ</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kiểm</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soát</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giúp</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quan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sát</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và</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quản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lý</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dữ</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liệu</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liên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tục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mà</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không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cần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phân</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chia</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thành</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các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nhóm</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nhỏ</a:t>
            </a:r>
            <a:r>
              <a:rPr lang="en-US" altLang="ko-KR" sz="1400" b="1" dirty="0">
                <a:solidFill>
                  <a:srgbClr val="000000"/>
                </a:solidFill>
                <a:latin typeface="arial" pitchFamily="34" charset="0"/>
                <a:ea typeface="맑은 고딕" pitchFamily="50" charset="-127"/>
              </a:rPr>
              <a:t>. </a:t>
            </a:r>
          </a:p>
          <a:p>
            <a:pPr eaLnBrk="1" hangingPunct="1"/>
            <a:r>
              <a:rPr lang="en-US" altLang="ko-KR" sz="1100" dirty="0">
                <a:solidFill>
                  <a:srgbClr val="000000"/>
                </a:solidFill>
                <a:latin typeface="arial" pitchFamily="34" charset="0"/>
                <a:ea typeface="맑은 고딕" pitchFamily="50" charset="-127"/>
              </a:rPr>
              <a:t>-  I (Individual Value) Control Chart</a:t>
            </a:r>
            <a:r>
              <a:rPr lang="ko-KR" altLang="en-US" sz="1100" dirty="0">
                <a:solidFill>
                  <a:srgbClr val="000000"/>
                </a:solidFill>
                <a:latin typeface="arial" pitchFamily="34" charset="0"/>
                <a:ea typeface="맑은 고딕" pitchFamily="50" charset="-127"/>
              </a:rPr>
              <a:t> </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Giá</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trị</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biểu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thị</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cho</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dữ</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liệu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cá</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nhân</a:t>
            </a:r>
            <a:endParaRPr lang="ko-KR" altLang="en-US" sz="1100" dirty="0">
              <a:latin typeface="arial" pitchFamily="34" charset="0"/>
              <a:ea typeface="맑은 고딕" pitchFamily="50" charset="-127"/>
            </a:endParaRPr>
          </a:p>
          <a:p>
            <a:pPr eaLnBrk="1" hangingPunct="1"/>
            <a:r>
              <a:rPr lang="en-US" altLang="ko-KR" sz="1100" dirty="0">
                <a:latin typeface="arial" pitchFamily="34" charset="0"/>
                <a:ea typeface="맑은 고딕" pitchFamily="50" charset="-127"/>
              </a:rPr>
              <a:t>-  MR (Moving Range) Control Chart</a:t>
            </a:r>
            <a:r>
              <a:rPr lang="ko-KR" altLang="en-US" sz="1100" dirty="0">
                <a:latin typeface="arial" pitchFamily="34" charset="0"/>
                <a:ea typeface="맑은 고딕" pitchFamily="50" charset="-127"/>
              </a:rPr>
              <a:t> </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Giá</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trị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hiển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thị</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độ</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biến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động</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giữa</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các</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dữ</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liệu</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liên</a:t>
            </a:r>
            <a:r>
              <a:rPr lang="en-US" altLang="ko-KR" sz="1100" dirty="0">
                <a:latin typeface="arial" pitchFamily="34" charset="0"/>
                <a:ea typeface="맑은 고딕" pitchFamily="50" charset="-127"/>
              </a:rPr>
              <a:t> </a:t>
            </a:r>
            <a:r>
              <a:rPr lang="en-US" altLang="ko-KR" sz="1100" dirty="0" err="1">
                <a:latin typeface="arial" pitchFamily="34" charset="0"/>
                <a:ea typeface="맑은 고딕" pitchFamily="50" charset="-127"/>
              </a:rPr>
              <a:t>tiếp</a:t>
            </a:r>
            <a:r>
              <a:rPr lang="en-US" altLang="ko-KR" sz="1100" dirty="0">
                <a:latin typeface="arial" pitchFamily="34" charset="0"/>
                <a:ea typeface="맑은 고딕" pitchFamily="50" charset="-127"/>
              </a:rPr>
              <a:t>.</a:t>
            </a:r>
            <a:endParaRPr lang="ko-KR" altLang="en-US" sz="1100" dirty="0">
              <a:latin typeface="arial" pitchFamily="34" charset="0"/>
              <a:ea typeface="맑은 고딕" pitchFamily="50" charset="-127"/>
            </a:endParaRPr>
          </a:p>
        </p:txBody>
      </p:sp>
      <p:sp>
        <p:nvSpPr>
          <p:cNvPr id="16389" name="직사각형 2"/>
          <p:cNvSpPr>
            <a:spLocks noChangeArrowheads="1"/>
          </p:cNvSpPr>
          <p:nvPr/>
        </p:nvSpPr>
        <p:spPr bwMode="auto">
          <a:xfrm>
            <a:off x="1712913" y="1844824"/>
            <a:ext cx="777659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solidFill>
                  <a:srgbClr val="000000"/>
                </a:solidFill>
                <a:latin typeface="arial" pitchFamily="34" charset="0"/>
                <a:ea typeface="맑은 고딕" pitchFamily="50" charset="-127"/>
              </a:rPr>
              <a:t>Sử</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dụng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trong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những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tình</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huống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mà</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khoảng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cách</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giữa</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dữ</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liệu</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là</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khá</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dài</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hoặc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không</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thể</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tách</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ra</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thành</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các</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nhóm</a:t>
            </a:r>
            <a:r>
              <a:rPr lang="en-US" altLang="ko-KR" sz="1400" b="1" dirty="0">
                <a:solidFill>
                  <a:srgbClr val="000000"/>
                </a:solidFill>
                <a:latin typeface="arial" pitchFamily="34" charset="0"/>
                <a:ea typeface="맑은 고딕" pitchFamily="50" charset="-127"/>
              </a:rPr>
              <a:t> n =1</a:t>
            </a:r>
          </a:p>
          <a:p>
            <a:pPr eaLnBrk="1" hangingPunct="1"/>
            <a:r>
              <a:rPr lang="en-US" altLang="ko-KR" sz="1400" dirty="0">
                <a:solidFill>
                  <a:srgbClr val="000000"/>
                </a:solidFill>
                <a:latin typeface="arial" pitchFamily="34" charset="0"/>
                <a:ea typeface="맑은 고딕" pitchFamily="50" charset="-127"/>
              </a:rPr>
              <a:t> </a:t>
            </a:r>
            <a:r>
              <a:rPr lang="en-US" altLang="ko-KR" sz="1100" dirty="0">
                <a:solidFill>
                  <a:srgbClr val="000000"/>
                </a:solidFill>
                <a:latin typeface="arial" pitchFamily="34" charset="0"/>
                <a:ea typeface="맑은 고딕" pitchFamily="50" charset="-127"/>
              </a:rPr>
              <a:t>VD: </a:t>
            </a:r>
            <a:r>
              <a:rPr lang="en-US" altLang="ko-KR" sz="1100" dirty="0" err="1">
                <a:solidFill>
                  <a:srgbClr val="000000"/>
                </a:solidFill>
                <a:latin typeface="arial" pitchFamily="34" charset="0"/>
                <a:ea typeface="맑은 고딕" pitchFamily="50" charset="-127"/>
              </a:rPr>
              <a:t>Năng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lượng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và</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nhiên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liệu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tiêu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dùng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mỗ</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ngày</a:t>
            </a:r>
            <a:endParaRPr lang="ko-KR" altLang="en-US" sz="1100" dirty="0">
              <a:solidFill>
                <a:srgbClr val="000000"/>
              </a:solidFill>
              <a:latin typeface="arial" pitchFamily="34" charset="0"/>
              <a:ea typeface="맑은 고딕" pitchFamily="50" charset="-127"/>
            </a:endParaRPr>
          </a:p>
        </p:txBody>
      </p:sp>
      <p:sp>
        <p:nvSpPr>
          <p:cNvPr id="16390" name="직사각형 12"/>
          <p:cNvSpPr>
            <a:spLocks noChangeArrowheads="1"/>
          </p:cNvSpPr>
          <p:nvPr/>
        </p:nvSpPr>
        <p:spPr bwMode="auto">
          <a:xfrm>
            <a:off x="704453" y="2564904"/>
            <a:ext cx="5400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rPr>
              <a:t>VD: </a:t>
            </a:r>
            <a:r>
              <a:rPr lang="en-US" altLang="ko-KR" sz="1200" b="1" dirty="0" err="1">
                <a:solidFill>
                  <a:srgbClr val="000000"/>
                </a:solidFill>
                <a:latin typeface="arial" pitchFamily="34" charset="0"/>
                <a:ea typeface="맑은 고딕" pitchFamily="50" charset="-127"/>
              </a:rPr>
              <a:t>Dữ</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liệu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sau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đây</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mô</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tả</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một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số</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lượng</a:t>
            </a:r>
            <a:r>
              <a:rPr lang="en-US" altLang="ko-KR" sz="1200" b="1" dirty="0">
                <a:solidFill>
                  <a:srgbClr val="000000"/>
                </a:solidFill>
                <a:latin typeface="arial" pitchFamily="34" charset="0"/>
                <a:ea typeface="맑은 고딕" pitchFamily="50" charset="-127"/>
              </a:rPr>
              <a:t> than </a:t>
            </a:r>
            <a:r>
              <a:rPr lang="en-US" altLang="ko-KR" sz="1200" b="1" dirty="0" err="1">
                <a:solidFill>
                  <a:srgbClr val="000000"/>
                </a:solidFill>
                <a:latin typeface="arial" pitchFamily="34" charset="0"/>
                <a:ea typeface="맑은 고딕" pitchFamily="50" charset="-127"/>
              </a:rPr>
              <a:t>sản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xuất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cho</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mỗi</a:t>
            </a:r>
            <a:r>
              <a:rPr lang="en-US" altLang="ko-KR" sz="1200" b="1" dirty="0">
                <a:solidFill>
                  <a:srgbClr val="000000"/>
                </a:solidFill>
                <a:latin typeface="arial" pitchFamily="34" charset="0"/>
                <a:ea typeface="맑은 고딕" pitchFamily="50" charset="-127"/>
              </a:rPr>
              <a:t> container </a:t>
            </a:r>
            <a:r>
              <a:rPr lang="en-US" altLang="ko-KR" sz="1200" b="1" dirty="0" err="1">
                <a:solidFill>
                  <a:srgbClr val="000000"/>
                </a:solidFill>
                <a:latin typeface="arial" pitchFamily="34" charset="0"/>
                <a:ea typeface="맑은 고딕" pitchFamily="50" charset="-127"/>
              </a:rPr>
              <a:t>tại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một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nhà</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máy</a:t>
            </a:r>
            <a:r>
              <a:rPr lang="en-US" altLang="ko-KR" sz="1200" b="1" dirty="0">
                <a:solidFill>
                  <a:srgbClr val="000000"/>
                </a:solidFill>
                <a:latin typeface="arial" pitchFamily="34" charset="0"/>
                <a:ea typeface="맑은 고딕" pitchFamily="50" charset="-127"/>
              </a:rPr>
              <a:t> than</a:t>
            </a:r>
            <a:endParaRPr lang="ko-KR" altLang="en-US" sz="1200" b="1" dirty="0">
              <a:solidFill>
                <a:srgbClr val="000000"/>
              </a:solidFill>
              <a:latin typeface="arial" pitchFamily="34" charset="0"/>
              <a:ea typeface="맑은 고딕" pitchFamily="50" charset="-127"/>
            </a:endParaRPr>
          </a:p>
        </p:txBody>
      </p:sp>
      <p:sp>
        <p:nvSpPr>
          <p:cNvPr id="16391" name="직사각형 19"/>
          <p:cNvSpPr>
            <a:spLocks noChangeArrowheads="1"/>
          </p:cNvSpPr>
          <p:nvPr/>
        </p:nvSpPr>
        <p:spPr bwMode="auto">
          <a:xfrm>
            <a:off x="6445250" y="5084763"/>
            <a:ext cx="24765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err="1">
                <a:solidFill>
                  <a:srgbClr val="000000"/>
                </a:solidFill>
                <a:latin typeface="arial" pitchFamily="34" charset="0"/>
                <a:ea typeface="맑은 고딕" pitchFamily="50" charset="-127"/>
              </a:rPr>
              <a:t>Các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khoảng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biến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động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đều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nằm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trong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giới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hạn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kiếm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soát</a:t>
            </a:r>
            <a:endParaRPr lang="en-US" altLang="ko-KR" sz="1100" dirty="0">
              <a:solidFill>
                <a:srgbClr val="000000"/>
              </a:solidFill>
              <a:latin typeface="arial" pitchFamily="34" charset="0"/>
              <a:ea typeface="맑은 고딕" pitchFamily="50" charset="-127"/>
            </a:endParaRPr>
          </a:p>
        </p:txBody>
      </p:sp>
      <p:sp>
        <p:nvSpPr>
          <p:cNvPr id="16392" name="직사각형 21"/>
          <p:cNvSpPr>
            <a:spLocks noChangeArrowheads="1"/>
          </p:cNvSpPr>
          <p:nvPr/>
        </p:nvSpPr>
        <p:spPr bwMode="auto">
          <a:xfrm>
            <a:off x="6411913" y="3429000"/>
            <a:ext cx="24765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dirty="0" err="1">
                <a:solidFill>
                  <a:srgbClr val="000000"/>
                </a:solidFill>
                <a:latin typeface="arial" pitchFamily="34" charset="0"/>
                <a:ea typeface="맑은 고딕" pitchFamily="50" charset="-127"/>
              </a:rPr>
              <a:t>Các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giá</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trị</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riêng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đo</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được</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đều</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nằm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trong</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giới</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hạn</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kiểm</a:t>
            </a:r>
            <a:r>
              <a:rPr lang="en-US" altLang="ko-KR" sz="1100" dirty="0">
                <a:solidFill>
                  <a:srgbClr val="000000"/>
                </a:solidFill>
                <a:latin typeface="arial" pitchFamily="34" charset="0"/>
                <a:ea typeface="맑은 고딕" pitchFamily="50" charset="-127"/>
              </a:rPr>
              <a:t> </a:t>
            </a:r>
            <a:r>
              <a:rPr lang="en-US" altLang="ko-KR" sz="1100" dirty="0" err="1">
                <a:solidFill>
                  <a:srgbClr val="000000"/>
                </a:solidFill>
                <a:latin typeface="arial" pitchFamily="34" charset="0"/>
                <a:ea typeface="맑은 고딕" pitchFamily="50" charset="-127"/>
              </a:rPr>
              <a:t>soát</a:t>
            </a:r>
            <a:r>
              <a:rPr lang="en-US" altLang="ko-KR" sz="1100" dirty="0">
                <a:solidFill>
                  <a:srgbClr val="000000"/>
                </a:solidFill>
                <a:latin typeface="arial" pitchFamily="34" charset="0"/>
                <a:ea typeface="맑은 고딕" pitchFamily="50" charset="-127"/>
              </a:rPr>
              <a:t>.</a:t>
            </a:r>
          </a:p>
        </p:txBody>
      </p:sp>
      <p:pic>
        <p:nvPicPr>
          <p:cNvPr id="16393" name="Picture 1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776288" y="2979738"/>
            <a:ext cx="5486400"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257</a:t>
            </a:fld>
            <a:endParaRPr lang="ko-KR" altLang="en-US" dirty="0"/>
          </a:p>
        </p:txBody>
      </p:sp>
      <p:sp>
        <p:nvSpPr>
          <p:cNvPr id="15" name="오각형 14"/>
          <p:cNvSpPr/>
          <p:nvPr/>
        </p:nvSpPr>
        <p:spPr>
          <a:xfrm>
            <a:off x="338882" y="952500"/>
            <a:ext cx="1301750" cy="488950"/>
          </a:xfrm>
          <a:prstGeom prst="homePlate">
            <a:avLst>
              <a:gd name="adj" fmla="val 26198"/>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solidFill>
                  <a:schemeClr val="tx1"/>
                </a:solidFill>
                <a:latin typeface="arial" pitchFamily="34" charset="0"/>
              </a:rPr>
              <a:t>Mô</a:t>
            </a:r>
            <a:r>
              <a:rPr lang="en-US" altLang="ko-KR" sz="1400" b="1" dirty="0">
                <a:solidFill>
                  <a:schemeClr val="tx1"/>
                </a:solidFill>
                <a:latin typeface="arial" pitchFamily="34" charset="0"/>
              </a:rPr>
              <a:t> </a:t>
            </a:r>
            <a:r>
              <a:rPr lang="en-US" altLang="ko-KR" sz="1400" b="1" dirty="0" err="1">
                <a:solidFill>
                  <a:schemeClr val="tx1"/>
                </a:solidFill>
                <a:latin typeface="arial" pitchFamily="34" charset="0"/>
              </a:rPr>
              <a:t>tả</a:t>
            </a:r>
            <a:endParaRPr lang="ko-KR" altLang="en-US" sz="1400" b="1" dirty="0">
              <a:solidFill>
                <a:schemeClr val="tx1"/>
              </a:solidFill>
              <a:latin typeface="arial" pitchFamily="34" charset="0"/>
            </a:endParaRPr>
          </a:p>
        </p:txBody>
      </p:sp>
      <p:sp>
        <p:nvSpPr>
          <p:cNvPr id="16" name="오각형 15"/>
          <p:cNvSpPr/>
          <p:nvPr/>
        </p:nvSpPr>
        <p:spPr>
          <a:xfrm>
            <a:off x="338882" y="1844675"/>
            <a:ext cx="1301750" cy="488950"/>
          </a:xfrm>
          <a:prstGeom prst="homePlate">
            <a:avLst>
              <a:gd name="adj" fmla="val 30165"/>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solidFill>
                  <a:schemeClr val="tx1"/>
                </a:solidFill>
                <a:latin typeface="arial" pitchFamily="34" charset="0"/>
              </a:rPr>
              <a:t>Mục</a:t>
            </a:r>
            <a:r>
              <a:rPr lang="en-US" altLang="ko-KR" sz="1400" b="1" dirty="0">
                <a:solidFill>
                  <a:schemeClr val="tx1"/>
                </a:solidFill>
                <a:latin typeface="arial" pitchFamily="34" charset="0"/>
              </a:rPr>
              <a:t> </a:t>
            </a:r>
            <a:r>
              <a:rPr lang="en-US" altLang="ko-KR" sz="1400" b="1" dirty="0" err="1">
                <a:solidFill>
                  <a:schemeClr val="tx1"/>
                </a:solidFill>
                <a:latin typeface="arial" pitchFamily="34" charset="0"/>
              </a:rPr>
              <a:t>đích</a:t>
            </a:r>
            <a:endParaRPr lang="ko-KR" altLang="en-US" sz="1400" b="1" dirty="0">
              <a:solidFill>
                <a:schemeClr val="tx1"/>
              </a:solidFill>
              <a:latin typeface="arial" pitchFamily="34" charset="0"/>
            </a:endParaRPr>
          </a:p>
        </p:txBody>
      </p:sp>
      <p:sp>
        <p:nvSpPr>
          <p:cNvPr id="17" name="TextBox 1"/>
          <p:cNvSpPr txBox="1">
            <a:spLocks noChangeArrowheads="1"/>
          </p:cNvSpPr>
          <p:nvPr/>
        </p:nvSpPr>
        <p:spPr bwMode="auto">
          <a:xfrm>
            <a:off x="6609184" y="2504256"/>
            <a:ext cx="1800493" cy="307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solidFill>
                  <a:srgbClr val="FF0000"/>
                </a:solidFill>
                <a:latin typeface="arial" pitchFamily="34" charset="0"/>
                <a:ea typeface="맑은 고딕" pitchFamily="50" charset="-127"/>
              </a:rPr>
              <a:t>Excel) Control Chart</a:t>
            </a:r>
            <a:r>
              <a:rPr lang="ko-KR" altLang="en-US" sz="1200" b="1" dirty="0">
                <a:solidFill>
                  <a:srgbClr val="FF0000"/>
                </a:solidFill>
                <a:latin typeface="arial" pitchFamily="34" charset="0"/>
                <a:ea typeface="맑은 고딕" pitchFamily="50" charset="-127"/>
              </a:rPr>
              <a:t> </a:t>
            </a:r>
            <a:r>
              <a:rPr lang="en-US" altLang="ko-KR" sz="1200" b="1" dirty="0">
                <a:solidFill>
                  <a:srgbClr val="FF0000"/>
                </a:solidFill>
                <a:latin typeface="arial" pitchFamily="34" charset="0"/>
                <a:ea typeface="맑은 고딕" pitchFamily="50" charset="-127"/>
              </a:rPr>
              <a:t>2</a:t>
            </a:r>
            <a:endParaRPr lang="ko-KR" altLang="en-US" sz="1200" b="1" dirty="0">
              <a:solidFill>
                <a:srgbClr val="FF0000"/>
              </a:solidFill>
              <a:latin typeface="arial" pitchFamily="34" charset="0"/>
              <a:ea typeface="맑은 고딕" pitchFamily="50" charset="-127"/>
            </a:endParaRPr>
          </a:p>
        </p:txBody>
      </p:sp>
    </p:spTree>
    <p:extLst>
      <p:ext uri="{BB962C8B-B14F-4D97-AF65-F5344CB8AC3E}">
        <p14:creationId xmlns:p14="http://schemas.microsoft.com/office/powerpoint/2010/main" val="2387792150"/>
      </p:ext>
    </p:extLst>
  </p:cSld>
  <p:clrMapOvr>
    <a:masterClrMapping/>
  </p:clrMapOvr>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4. </a:t>
            </a:r>
            <a:r>
              <a:rPr lang="en-US" altLang="ko-KR" sz="2000" b="1" dirty="0" err="1"/>
              <a:t>Loại</a:t>
            </a:r>
            <a:r>
              <a:rPr lang="en-US" altLang="ko-KR" sz="2000" b="1" dirty="0"/>
              <a:t> </a:t>
            </a:r>
            <a:r>
              <a:rPr lang="en-US" altLang="ko-KR" sz="2000" b="1" dirty="0" err="1"/>
              <a:t>biểu</a:t>
            </a:r>
            <a:r>
              <a:rPr lang="en-US" altLang="ko-KR" sz="2000" b="1" dirty="0"/>
              <a:t> </a:t>
            </a:r>
            <a:r>
              <a:rPr lang="en-US" altLang="ko-KR" sz="2000" b="1" dirty="0" err="1"/>
              <a:t>đồ</a:t>
            </a:r>
            <a:r>
              <a:rPr lang="en-US" altLang="ko-KR" sz="2000" b="1" dirty="0"/>
              <a:t> </a:t>
            </a:r>
            <a:r>
              <a:rPr lang="en-US" altLang="ko-KR" sz="2000" b="1" dirty="0" err="1"/>
              <a:t>kiểm</a:t>
            </a:r>
            <a:r>
              <a:rPr lang="en-US" altLang="ko-KR" sz="2000" b="1" dirty="0"/>
              <a:t> </a:t>
            </a:r>
            <a:r>
              <a:rPr lang="en-US" altLang="ko-KR" sz="2000" b="1" dirty="0" err="1"/>
              <a:t>soát</a:t>
            </a:r>
            <a:r>
              <a:rPr lang="en-US" altLang="ko-KR" sz="2000" b="1" dirty="0"/>
              <a:t> _ p Control Chart</a:t>
            </a:r>
            <a:endParaRPr lang="ko-KR" altLang="en-US" sz="2000" b="1" dirty="0"/>
          </a:p>
        </p:txBody>
      </p:sp>
      <p:sp>
        <p:nvSpPr>
          <p:cNvPr id="17412" name="직사각형 1"/>
          <p:cNvSpPr>
            <a:spLocks noChangeArrowheads="1"/>
          </p:cNvSpPr>
          <p:nvPr/>
        </p:nvSpPr>
        <p:spPr bwMode="auto">
          <a:xfrm>
            <a:off x="1639888" y="981075"/>
            <a:ext cx="78496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a:solidFill>
                  <a:srgbClr val="000000"/>
                </a:solidFill>
                <a:latin typeface="arial" pitchFamily="34" charset="0"/>
                <a:ea typeface="맑은 고딕" pitchFamily="50" charset="-127"/>
              </a:rPr>
              <a:t>B</a:t>
            </a:r>
            <a:r>
              <a:rPr lang="vi-VN" altLang="ko-KR" sz="1400" b="1" dirty="0">
                <a:solidFill>
                  <a:srgbClr val="000000"/>
                </a:solidFill>
                <a:latin typeface="arial" pitchFamily="34" charset="0"/>
                <a:ea typeface="맑은 고딕" pitchFamily="50" charset="-127"/>
              </a:rPr>
              <a:t>iểu đồ kiểm soát </a:t>
            </a:r>
            <a:r>
              <a:rPr lang="en-US" altLang="ko-KR" sz="1400" b="1" dirty="0" err="1">
                <a:solidFill>
                  <a:srgbClr val="000000"/>
                </a:solidFill>
                <a:latin typeface="arial" pitchFamily="34" charset="0"/>
                <a:ea typeface="맑은 고딕" pitchFamily="50" charset="-127"/>
              </a:rPr>
              <a:t>những</a:t>
            </a:r>
            <a:r>
              <a:rPr lang="vi-VN" altLang="ko-KR" sz="1400" b="1" dirty="0">
                <a:solidFill>
                  <a:srgbClr val="000000"/>
                </a:solidFill>
                <a:latin typeface="arial" pitchFamily="34" charset="0"/>
                <a:ea typeface="맑은 고딕" pitchFamily="50" charset="-127"/>
              </a:rPr>
              <a:t> đặc tính chất lượng không thể đo lường </a:t>
            </a:r>
            <a:r>
              <a:rPr lang="en-US" altLang="ko-KR" sz="1400" b="1" dirty="0" err="1">
                <a:solidFill>
                  <a:srgbClr val="000000"/>
                </a:solidFill>
                <a:latin typeface="arial" pitchFamily="34" charset="0"/>
                <a:ea typeface="맑은 고딕" pitchFamily="50" charset="-127"/>
              </a:rPr>
              <a:t>mà</a:t>
            </a:r>
            <a:r>
              <a:rPr lang="vi-VN" altLang="ko-KR" sz="1400" b="1" dirty="0">
                <a:solidFill>
                  <a:srgbClr val="000000"/>
                </a:solidFill>
                <a:latin typeface="arial" pitchFamily="34" charset="0"/>
                <a:ea typeface="맑은 고딕" pitchFamily="50" charset="-127"/>
              </a:rPr>
              <a:t> chỉ có thể được biểu diễn như là một phân phối rời rạc, chỉ có </a:t>
            </a:r>
            <a:r>
              <a:rPr lang="en-US" altLang="ko-KR" sz="1400" b="1" dirty="0" err="1">
                <a:solidFill>
                  <a:srgbClr val="000000"/>
                </a:solidFill>
                <a:latin typeface="arial" pitchFamily="34" charset="0"/>
                <a:ea typeface="맑은 고딕" pitchFamily="50" charset="-127"/>
              </a:rPr>
              <a:t>thể</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đánh</a:t>
            </a:r>
            <a:r>
              <a:rPr lang="en-US" altLang="ko-KR" sz="1400" b="1" dirty="0">
                <a:solidFill>
                  <a:srgbClr val="000000"/>
                </a:solidFill>
                <a:latin typeface="arial" pitchFamily="34" charset="0"/>
                <a:ea typeface="맑은 고딕" pitchFamily="50" charset="-127"/>
              </a:rPr>
              <a:t> </a:t>
            </a:r>
            <a:r>
              <a:rPr lang="en-US" altLang="ko-KR" sz="1400" b="1" dirty="0" err="1">
                <a:solidFill>
                  <a:srgbClr val="000000"/>
                </a:solidFill>
                <a:latin typeface="arial" pitchFamily="34" charset="0"/>
                <a:ea typeface="맑은 고딕" pitchFamily="50" charset="-127"/>
              </a:rPr>
              <a:t>giá</a:t>
            </a:r>
            <a:r>
              <a:rPr lang="en-US" altLang="ko-KR" sz="1400" b="1" dirty="0">
                <a:solidFill>
                  <a:srgbClr val="000000"/>
                </a:solidFill>
                <a:latin typeface="arial" pitchFamily="34" charset="0"/>
                <a:ea typeface="맑은 고딕" pitchFamily="50" charset="-127"/>
              </a:rPr>
              <a:t> qua Pass</a:t>
            </a:r>
            <a:r>
              <a:rPr lang="vi-VN" altLang="ko-KR" sz="1400" b="1" dirty="0">
                <a:solidFill>
                  <a:srgbClr val="000000"/>
                </a:solidFill>
                <a:latin typeface="arial" pitchFamily="34" charset="0"/>
                <a:ea typeface="맑은 고딕" pitchFamily="50" charset="-127"/>
              </a:rPr>
              <a:t> / Fail.</a:t>
            </a:r>
          </a:p>
        </p:txBody>
      </p:sp>
      <p:sp>
        <p:nvSpPr>
          <p:cNvPr id="17413" name="직사각형 2"/>
          <p:cNvSpPr>
            <a:spLocks noChangeArrowheads="1"/>
          </p:cNvSpPr>
          <p:nvPr/>
        </p:nvSpPr>
        <p:spPr bwMode="auto">
          <a:xfrm>
            <a:off x="1639888" y="1828800"/>
            <a:ext cx="712946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vi-VN" altLang="ko-KR" sz="1400" b="1" dirty="0">
                <a:solidFill>
                  <a:srgbClr val="000000"/>
                </a:solidFill>
                <a:latin typeface="arial" pitchFamily="34" charset="0"/>
                <a:ea typeface="맑은 고딕" pitchFamily="50" charset="-127"/>
              </a:rPr>
              <a:t>Được sử dụng cho việc quản lý tỷ lệ lỗi (</a:t>
            </a:r>
            <a:r>
              <a:rPr lang="en-US" altLang="ko-KR" sz="1400" b="1" dirty="0">
                <a:solidFill>
                  <a:srgbClr val="000000"/>
                </a:solidFill>
                <a:latin typeface="arial" pitchFamily="34" charset="0"/>
                <a:ea typeface="맑은 고딕" pitchFamily="50" charset="-127"/>
              </a:rPr>
              <a:t>defect rate</a:t>
            </a:r>
            <a:r>
              <a:rPr lang="vi-VN" altLang="ko-KR" sz="1400" b="1" dirty="0">
                <a:solidFill>
                  <a:srgbClr val="000000"/>
                </a:solidFill>
                <a:latin typeface="arial" pitchFamily="34" charset="0"/>
                <a:ea typeface="맑은 고딕" pitchFamily="50" charset="-127"/>
              </a:rPr>
              <a:t>) trong trường hợp kích thước mẫu là không phù hợp </a:t>
            </a:r>
            <a:r>
              <a:rPr lang="en-US" altLang="ko-KR" sz="1400" b="1" dirty="0">
                <a:solidFill>
                  <a:srgbClr val="000000"/>
                </a:solidFill>
                <a:latin typeface="arial" pitchFamily="34" charset="0"/>
                <a:ea typeface="맑은 고딕" pitchFamily="50" charset="-127"/>
              </a:rPr>
              <a:t>do</a:t>
            </a:r>
            <a:r>
              <a:rPr lang="vi-VN" altLang="ko-KR" sz="1400" b="1" dirty="0">
                <a:solidFill>
                  <a:srgbClr val="000000"/>
                </a:solidFill>
                <a:latin typeface="arial" pitchFamily="34" charset="0"/>
                <a:ea typeface="맑은 고딕" pitchFamily="50" charset="-127"/>
              </a:rPr>
              <a:t> biến động số lượng sản xuất.</a:t>
            </a:r>
            <a:endParaRPr lang="ko-KR" altLang="en-US" sz="1400" b="1" dirty="0">
              <a:solidFill>
                <a:srgbClr val="000000"/>
              </a:solidFill>
              <a:latin typeface="arial" pitchFamily="34" charset="0"/>
              <a:ea typeface="맑은 고딕" pitchFamily="50" charset="-127"/>
            </a:endParaRPr>
          </a:p>
        </p:txBody>
      </p:sp>
      <p:pic>
        <p:nvPicPr>
          <p:cNvPr id="17414" name="Picture 1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979488" y="2997200"/>
            <a:ext cx="5486400"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17415" name="TextBox 19"/>
          <p:cNvSpPr txBox="1">
            <a:spLocks noChangeArrowheads="1"/>
          </p:cNvSpPr>
          <p:nvPr/>
        </p:nvSpPr>
        <p:spPr bwMode="auto">
          <a:xfrm>
            <a:off x="841375" y="2527375"/>
            <a:ext cx="56245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200" b="1" dirty="0">
                <a:solidFill>
                  <a:srgbClr val="000000"/>
                </a:solidFill>
                <a:latin typeface="arial" pitchFamily="34" charset="0"/>
                <a:ea typeface="맑은 고딕" pitchFamily="50" charset="-127"/>
              </a:rPr>
              <a:t>VD: </a:t>
            </a:r>
            <a:r>
              <a:rPr lang="en-US" altLang="ko-KR" sz="1200" b="1" dirty="0" err="1">
                <a:solidFill>
                  <a:srgbClr val="000000"/>
                </a:solidFill>
                <a:latin typeface="arial" pitchFamily="34" charset="0"/>
                <a:ea typeface="맑은 고딕" pitchFamily="50" charset="-127"/>
              </a:rPr>
              <a:t>Dưới</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đây</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dữ</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liệu</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hàng</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ngày</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về</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tỷ</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lệ</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lỗi</a:t>
            </a:r>
            <a:r>
              <a:rPr lang="en-US" altLang="ko-KR" sz="1200" b="1" dirty="0">
                <a:solidFill>
                  <a:srgbClr val="000000"/>
                </a:solidFill>
                <a:latin typeface="arial" pitchFamily="34" charset="0"/>
                <a:ea typeface="맑은 고딕" pitchFamily="50" charset="-127"/>
              </a:rPr>
              <a:t> ở </a:t>
            </a:r>
            <a:r>
              <a:rPr lang="en-US" altLang="ko-KR" sz="1200" b="1" dirty="0" err="1">
                <a:solidFill>
                  <a:srgbClr val="000000"/>
                </a:solidFill>
                <a:latin typeface="arial" pitchFamily="34" charset="0"/>
                <a:ea typeface="맑은 고딕" pitchFamily="50" charset="-127"/>
              </a:rPr>
              <a:t>một</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nhà</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máy</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sản</a:t>
            </a:r>
            <a:r>
              <a:rPr lang="en-US" altLang="ko-KR" sz="1200" b="1" dirty="0">
                <a:solidFill>
                  <a:srgbClr val="000000"/>
                </a:solidFill>
                <a:latin typeface="arial" pitchFamily="34" charset="0"/>
                <a:ea typeface="맑은 고딕" pitchFamily="50" charset="-127"/>
              </a:rPr>
              <a:t> </a:t>
            </a:r>
            <a:r>
              <a:rPr lang="en-US" altLang="ko-KR" sz="1200" b="1" dirty="0" err="1">
                <a:solidFill>
                  <a:srgbClr val="000000"/>
                </a:solidFill>
                <a:latin typeface="arial" pitchFamily="34" charset="0"/>
                <a:ea typeface="맑은 고딕" pitchFamily="50" charset="-127"/>
              </a:rPr>
              <a:t>xuất</a:t>
            </a:r>
            <a:r>
              <a:rPr lang="en-US" altLang="ko-KR" sz="1200" b="1" dirty="0">
                <a:solidFill>
                  <a:srgbClr val="000000"/>
                </a:solidFill>
                <a:latin typeface="arial" pitchFamily="34" charset="0"/>
                <a:ea typeface="맑은 고딕" pitchFamily="50" charset="-127"/>
              </a:rPr>
              <a:t> ô </a:t>
            </a:r>
            <a:r>
              <a:rPr lang="en-US" altLang="ko-KR" sz="1200" b="1" dirty="0" err="1">
                <a:solidFill>
                  <a:srgbClr val="000000"/>
                </a:solidFill>
                <a:latin typeface="arial" pitchFamily="34" charset="0"/>
                <a:ea typeface="맑은 고딕" pitchFamily="50" charset="-127"/>
              </a:rPr>
              <a:t>tô</a:t>
            </a:r>
            <a:endParaRPr lang="ko-KR" altLang="en-US" sz="1200" b="1" dirty="0">
              <a:solidFill>
                <a:srgbClr val="000000"/>
              </a:solidFill>
              <a:latin typeface="arial" pitchFamily="34" charset="0"/>
              <a:ea typeface="맑은 고딕" pitchFamily="50" charset="-127"/>
            </a:endParaRPr>
          </a:p>
        </p:txBody>
      </p:sp>
      <p:sp>
        <p:nvSpPr>
          <p:cNvPr id="17416" name="직사각형 19"/>
          <p:cNvSpPr>
            <a:spLocks noChangeArrowheads="1"/>
          </p:cNvSpPr>
          <p:nvPr/>
        </p:nvSpPr>
        <p:spPr bwMode="auto">
          <a:xfrm>
            <a:off x="6537325" y="3500438"/>
            <a:ext cx="2476500"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vi-VN" altLang="ko-KR" sz="1200" dirty="0">
                <a:latin typeface="arial" pitchFamily="34" charset="0"/>
                <a:ea typeface="맑은 고딕" pitchFamily="50" charset="-127"/>
              </a:rPr>
              <a:t>Các tỷ lệ lỗi dữ liệu đo được trong biểu đồ kiểm soát P đều trong giới hạn kiểm soát và do đó quá trình này là ổn định.</a:t>
            </a:r>
            <a:br>
              <a:rPr lang="vi-VN" altLang="ko-KR" sz="1200" dirty="0">
                <a:latin typeface="arial" pitchFamily="34" charset="0"/>
                <a:ea typeface="맑은 고딕" pitchFamily="50" charset="-127"/>
              </a:rPr>
            </a:br>
            <a:endParaRPr lang="en-US" altLang="ko-KR" sz="1200" dirty="0">
              <a:latin typeface="arial" pitchFamily="34" charset="0"/>
              <a:ea typeface="맑은 고딕" pitchFamily="50" charset="-127"/>
            </a:endParaRPr>
          </a:p>
          <a:p>
            <a:pPr eaLnBrk="1" hangingPunct="1"/>
            <a:r>
              <a:rPr lang="vi-VN" altLang="ko-KR" sz="1200" dirty="0">
                <a:latin typeface="arial" pitchFamily="34" charset="0"/>
                <a:ea typeface="맑은 고딕" pitchFamily="50" charset="-127"/>
              </a:rPr>
              <a:t>Nếu có một </a:t>
            </a:r>
            <a:r>
              <a:rPr lang="en-US" altLang="ko-KR" sz="1200" dirty="0" err="1">
                <a:latin typeface="arial" pitchFamily="34" charset="0"/>
                <a:ea typeface="맑은 고딕" pitchFamily="50" charset="-127"/>
              </a:rPr>
              <a:t>trong</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số</a:t>
            </a:r>
            <a:r>
              <a:rPr lang="vi-VN" altLang="ko-KR" sz="1200" dirty="0">
                <a:latin typeface="arial" pitchFamily="34" charset="0"/>
                <a:ea typeface="맑은 고딕" pitchFamily="50" charset="-127"/>
              </a:rPr>
              <a:t> các điểm dữ liệu nằm ngoài giới hạn kiểm soát, toàn bộ </a:t>
            </a:r>
            <a:r>
              <a:rPr lang="en-US" altLang="ko-KR" sz="1200" dirty="0" err="1">
                <a:latin typeface="arial" pitchFamily="34" charset="0"/>
                <a:ea typeface="맑은 고딕" pitchFamily="50" charset="-127"/>
              </a:rPr>
              <a:t>lô</a:t>
            </a:r>
            <a:r>
              <a:rPr lang="en-US" altLang="ko-KR" sz="1200" dirty="0">
                <a:latin typeface="arial" pitchFamily="34" charset="0"/>
                <a:ea typeface="맑은 고딕" pitchFamily="50" charset="-127"/>
              </a:rPr>
              <a:t> </a:t>
            </a:r>
            <a:r>
              <a:rPr lang="en-US" altLang="ko-KR" sz="1200" dirty="0" err="1">
                <a:latin typeface="arial" pitchFamily="34" charset="0"/>
                <a:ea typeface="맑은 고딕" pitchFamily="50" charset="-127"/>
              </a:rPr>
              <a:t>hàng</a:t>
            </a:r>
            <a:r>
              <a:rPr lang="vi-VN" altLang="ko-KR" sz="1200" dirty="0">
                <a:latin typeface="arial" pitchFamily="34" charset="0"/>
                <a:ea typeface="맑은 고딕" pitchFamily="50" charset="-127"/>
              </a:rPr>
              <a:t> cần phải được thu hồi để đánh giá.</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258</a:t>
            </a:fld>
            <a:endParaRPr lang="ko-KR" altLang="en-US" dirty="0"/>
          </a:p>
        </p:txBody>
      </p:sp>
      <p:sp>
        <p:nvSpPr>
          <p:cNvPr id="12" name="TextBox 1"/>
          <p:cNvSpPr txBox="1">
            <a:spLocks noChangeArrowheads="1"/>
          </p:cNvSpPr>
          <p:nvPr/>
        </p:nvSpPr>
        <p:spPr bwMode="auto">
          <a:xfrm>
            <a:off x="6609184" y="2504256"/>
            <a:ext cx="1800493" cy="307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solidFill>
                  <a:srgbClr val="FF0000"/>
                </a:solidFill>
                <a:latin typeface="arial" pitchFamily="34" charset="0"/>
                <a:ea typeface="맑은 고딕" pitchFamily="50" charset="-127"/>
              </a:rPr>
              <a:t>Excel) Control Chart</a:t>
            </a:r>
            <a:r>
              <a:rPr lang="ko-KR" altLang="en-US" sz="1200" b="1" dirty="0">
                <a:solidFill>
                  <a:srgbClr val="FF0000"/>
                </a:solidFill>
                <a:latin typeface="arial" pitchFamily="34" charset="0"/>
                <a:ea typeface="맑은 고딕" pitchFamily="50" charset="-127"/>
              </a:rPr>
              <a:t> </a:t>
            </a:r>
            <a:r>
              <a:rPr lang="en-US" altLang="ko-KR" sz="1200" b="1" dirty="0">
                <a:solidFill>
                  <a:srgbClr val="FF0000"/>
                </a:solidFill>
                <a:latin typeface="arial" pitchFamily="34" charset="0"/>
                <a:ea typeface="맑은 고딕" pitchFamily="50" charset="-127"/>
              </a:rPr>
              <a:t>3</a:t>
            </a:r>
            <a:endParaRPr lang="ko-KR" altLang="en-US" sz="1200" b="1" dirty="0">
              <a:solidFill>
                <a:srgbClr val="FF0000"/>
              </a:solidFill>
              <a:latin typeface="arial" pitchFamily="34" charset="0"/>
              <a:ea typeface="맑은 고딕" pitchFamily="50" charset="-127"/>
            </a:endParaRPr>
          </a:p>
        </p:txBody>
      </p:sp>
      <p:sp>
        <p:nvSpPr>
          <p:cNvPr id="13" name="오각형 12"/>
          <p:cNvSpPr/>
          <p:nvPr/>
        </p:nvSpPr>
        <p:spPr>
          <a:xfrm>
            <a:off x="338882" y="952500"/>
            <a:ext cx="1301750" cy="488950"/>
          </a:xfrm>
          <a:prstGeom prst="homePlate">
            <a:avLst>
              <a:gd name="adj" fmla="val 26198"/>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solidFill>
                  <a:schemeClr val="tx1"/>
                </a:solidFill>
                <a:latin typeface="arial" pitchFamily="34" charset="0"/>
              </a:rPr>
              <a:t>Mô</a:t>
            </a:r>
            <a:r>
              <a:rPr lang="en-US" altLang="ko-KR" sz="1400" b="1" dirty="0">
                <a:solidFill>
                  <a:schemeClr val="tx1"/>
                </a:solidFill>
                <a:latin typeface="arial" pitchFamily="34" charset="0"/>
              </a:rPr>
              <a:t> </a:t>
            </a:r>
            <a:r>
              <a:rPr lang="en-US" altLang="ko-KR" sz="1400" b="1" dirty="0" err="1">
                <a:solidFill>
                  <a:schemeClr val="tx1"/>
                </a:solidFill>
                <a:latin typeface="arial" pitchFamily="34" charset="0"/>
              </a:rPr>
              <a:t>tả</a:t>
            </a:r>
            <a:endParaRPr lang="ko-KR" altLang="en-US" sz="1400" b="1" dirty="0">
              <a:solidFill>
                <a:schemeClr val="tx1"/>
              </a:solidFill>
              <a:latin typeface="arial" pitchFamily="34" charset="0"/>
            </a:endParaRPr>
          </a:p>
        </p:txBody>
      </p:sp>
      <p:sp>
        <p:nvSpPr>
          <p:cNvPr id="14" name="오각형 13"/>
          <p:cNvSpPr/>
          <p:nvPr/>
        </p:nvSpPr>
        <p:spPr>
          <a:xfrm>
            <a:off x="338882" y="1844675"/>
            <a:ext cx="1301750" cy="488950"/>
          </a:xfrm>
          <a:prstGeom prst="homePlate">
            <a:avLst>
              <a:gd name="adj" fmla="val 30165"/>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400" b="1" dirty="0" err="1">
                <a:solidFill>
                  <a:schemeClr val="tx1"/>
                </a:solidFill>
                <a:latin typeface="arial" pitchFamily="34" charset="0"/>
              </a:rPr>
              <a:t>Mục</a:t>
            </a:r>
            <a:r>
              <a:rPr lang="en-US" altLang="ko-KR" sz="1400" b="1" dirty="0">
                <a:solidFill>
                  <a:schemeClr val="tx1"/>
                </a:solidFill>
                <a:latin typeface="arial" pitchFamily="34" charset="0"/>
              </a:rPr>
              <a:t> </a:t>
            </a:r>
            <a:r>
              <a:rPr lang="en-US" altLang="ko-KR" sz="1400" b="1" dirty="0" err="1">
                <a:solidFill>
                  <a:schemeClr val="tx1"/>
                </a:solidFill>
                <a:latin typeface="arial" pitchFamily="34" charset="0"/>
              </a:rPr>
              <a:t>đích</a:t>
            </a:r>
            <a:endParaRPr lang="ko-KR" altLang="en-US" sz="1400" b="1" dirty="0">
              <a:solidFill>
                <a:schemeClr val="tx1"/>
              </a:solidFill>
              <a:latin typeface="arial" pitchFamily="34" charset="0"/>
            </a:endParaRPr>
          </a:p>
        </p:txBody>
      </p:sp>
    </p:spTree>
    <p:extLst>
      <p:ext uri="{BB962C8B-B14F-4D97-AF65-F5344CB8AC3E}">
        <p14:creationId xmlns:p14="http://schemas.microsoft.com/office/powerpoint/2010/main" val="3769604985"/>
      </p:ext>
    </p:extLst>
  </p:cSld>
  <p:clrMapOvr>
    <a:masterClrMapping/>
  </p:clrMapOvr>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제목 8"/>
          <p:cNvSpPr>
            <a:spLocks noGrp="1"/>
          </p:cNvSpPr>
          <p:nvPr>
            <p:ph type="title" idx="4294967295"/>
          </p:nvPr>
        </p:nvSpPr>
        <p:spPr bwMode="auto">
          <a:xfrm>
            <a:off x="195263" y="188913"/>
            <a:ext cx="8813800" cy="488950"/>
          </a:xfrm>
          <a:prstGeom prst="rect">
            <a:avLst/>
          </a:prstGeom>
        </p:spPr>
        <p:txBody>
          <a:bodyPr/>
          <a:lstStyle/>
          <a:p>
            <a:pPr algn="l" eaLnBrk="1" hangingPunct="1">
              <a:defRPr/>
            </a:pPr>
            <a:r>
              <a:rPr lang="en-US" altLang="ko-KR" sz="2000" b="1" dirty="0">
                <a:ea typeface="+mn-ea"/>
              </a:rPr>
              <a:t>5. </a:t>
            </a:r>
            <a:r>
              <a:rPr lang="en-US" altLang="ko-KR" sz="2000" b="1" dirty="0" err="1">
                <a:ea typeface="+mn-ea"/>
              </a:rPr>
              <a:t>Phương</a:t>
            </a:r>
            <a:r>
              <a:rPr lang="en-US" altLang="ko-KR" sz="2000" b="1" dirty="0">
                <a:ea typeface="+mn-ea"/>
              </a:rPr>
              <a:t> </a:t>
            </a:r>
            <a:r>
              <a:rPr lang="en-US" altLang="ko-KR" sz="2000" b="1" dirty="0" err="1">
                <a:ea typeface="+mn-ea"/>
              </a:rPr>
              <a:t>pháp</a:t>
            </a:r>
            <a:r>
              <a:rPr lang="en-US" altLang="ko-KR" sz="2000" b="1" dirty="0">
                <a:ea typeface="+mn-ea"/>
              </a:rPr>
              <a:t> </a:t>
            </a:r>
            <a:r>
              <a:rPr lang="en-US" altLang="ko-KR" sz="2000" b="1" dirty="0" err="1">
                <a:ea typeface="+mn-ea"/>
              </a:rPr>
              <a:t>xây</a:t>
            </a:r>
            <a:r>
              <a:rPr lang="en-US" altLang="ko-KR" sz="2000" b="1" dirty="0">
                <a:ea typeface="+mn-ea"/>
              </a:rPr>
              <a:t> </a:t>
            </a:r>
            <a:r>
              <a:rPr lang="en-US" altLang="ko-KR" sz="2000" b="1" dirty="0" err="1">
                <a:ea typeface="+mn-ea"/>
              </a:rPr>
              <a:t>dựng</a:t>
            </a:r>
            <a:endParaRPr lang="ko-KR" altLang="en-US" sz="2000" b="1" dirty="0">
              <a:ea typeface="+mn-ea"/>
            </a:endParaRPr>
          </a:p>
        </p:txBody>
      </p:sp>
      <p:sp>
        <p:nvSpPr>
          <p:cNvPr id="19460" name="Rectangle 13"/>
          <p:cNvSpPr>
            <a:spLocks noChangeArrowheads="1"/>
          </p:cNvSpPr>
          <p:nvPr/>
        </p:nvSpPr>
        <p:spPr bwMode="auto">
          <a:xfrm>
            <a:off x="2996059" y="1269652"/>
            <a:ext cx="6709469" cy="4488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latinLnBrk="0" hangingPunct="1">
              <a:lnSpc>
                <a:spcPct val="120000"/>
              </a:lnSpc>
              <a:defRPr/>
            </a:pPr>
            <a:r>
              <a:rPr lang="en-US" altLang="ko-KR" sz="1400" b="1" dirty="0">
                <a:latin typeface="arial" pitchFamily="34" charset="0"/>
                <a:ea typeface="+mn-ea"/>
              </a:rPr>
              <a:t>  1. </a:t>
            </a:r>
            <a:r>
              <a:rPr lang="en-US" altLang="ko-KR" sz="1400" b="1" dirty="0" err="1">
                <a:latin typeface="arial" pitchFamily="34" charset="0"/>
                <a:ea typeface="+mn-ea"/>
              </a:rPr>
              <a:t>Quyết</a:t>
            </a:r>
            <a:r>
              <a:rPr lang="en-US" altLang="ko-KR" sz="1400" b="1" dirty="0">
                <a:latin typeface="arial" pitchFamily="34" charset="0"/>
                <a:ea typeface="+mn-ea"/>
              </a:rPr>
              <a:t> </a:t>
            </a:r>
            <a:r>
              <a:rPr lang="en-US" altLang="ko-KR" sz="1400" b="1" dirty="0" err="1">
                <a:latin typeface="arial" pitchFamily="34" charset="0"/>
                <a:ea typeface="+mn-ea"/>
              </a:rPr>
              <a:t>định</a:t>
            </a:r>
            <a:r>
              <a:rPr lang="en-US" altLang="ko-KR" sz="1400" b="1" dirty="0">
                <a:latin typeface="arial" pitchFamily="34" charset="0"/>
                <a:ea typeface="+mn-ea"/>
              </a:rPr>
              <a:t> </a:t>
            </a:r>
            <a:r>
              <a:rPr lang="en-US" altLang="ko-KR" sz="1400" b="1" dirty="0" err="1">
                <a:latin typeface="arial" pitchFamily="34" charset="0"/>
                <a:ea typeface="+mn-ea"/>
              </a:rPr>
              <a:t>các</a:t>
            </a:r>
            <a:r>
              <a:rPr lang="en-US" altLang="ko-KR" sz="1400" b="1" dirty="0">
                <a:latin typeface="arial" pitchFamily="34" charset="0"/>
                <a:ea typeface="+mn-ea"/>
              </a:rPr>
              <a:t> </a:t>
            </a:r>
            <a:r>
              <a:rPr lang="en-US" altLang="ko-KR" sz="1400" b="1" dirty="0" err="1">
                <a:latin typeface="arial" pitchFamily="34" charset="0"/>
                <a:ea typeface="+mn-ea"/>
              </a:rPr>
              <a:t>thông</a:t>
            </a:r>
            <a:r>
              <a:rPr lang="en-US" altLang="ko-KR" sz="1400" b="1" dirty="0">
                <a:latin typeface="arial" pitchFamily="34" charset="0"/>
                <a:ea typeface="+mn-ea"/>
              </a:rPr>
              <a:t> </a:t>
            </a:r>
            <a:r>
              <a:rPr lang="en-US" altLang="ko-KR" sz="1400" b="1" dirty="0" err="1">
                <a:latin typeface="arial" pitchFamily="34" charset="0"/>
                <a:ea typeface="+mn-ea"/>
              </a:rPr>
              <a:t>số</a:t>
            </a:r>
            <a:r>
              <a:rPr lang="en-US" altLang="ko-KR" sz="1400" b="1" dirty="0">
                <a:latin typeface="arial" pitchFamily="34" charset="0"/>
                <a:ea typeface="+mn-ea"/>
              </a:rPr>
              <a:t> </a:t>
            </a:r>
            <a:r>
              <a:rPr lang="en-US" altLang="ko-KR" sz="1400" b="1" dirty="0" err="1">
                <a:latin typeface="arial" pitchFamily="34" charset="0"/>
                <a:ea typeface="+mn-ea"/>
              </a:rPr>
              <a:t>đặc</a:t>
            </a:r>
            <a:r>
              <a:rPr lang="en-US" altLang="ko-KR" sz="1400" b="1" dirty="0">
                <a:latin typeface="arial" pitchFamily="34" charset="0"/>
                <a:ea typeface="+mn-ea"/>
              </a:rPr>
              <a:t> </a:t>
            </a:r>
            <a:r>
              <a:rPr lang="en-US" altLang="ko-KR" sz="1400" b="1" dirty="0" err="1">
                <a:latin typeface="arial" pitchFamily="34" charset="0"/>
                <a:ea typeface="+mn-ea"/>
              </a:rPr>
              <a:t>trưng</a:t>
            </a:r>
            <a:r>
              <a:rPr lang="en-US" altLang="ko-KR" sz="1400" b="1" dirty="0">
                <a:latin typeface="arial" pitchFamily="34" charset="0"/>
                <a:ea typeface="+mn-ea"/>
              </a:rPr>
              <a:t> </a:t>
            </a:r>
            <a:r>
              <a:rPr lang="en-US" altLang="ko-KR" sz="1400" b="1" dirty="0" err="1">
                <a:latin typeface="arial" pitchFamily="34" charset="0"/>
                <a:ea typeface="+mn-ea"/>
              </a:rPr>
              <a:t>để</a:t>
            </a:r>
            <a:r>
              <a:rPr lang="en-US" altLang="ko-KR" sz="1400" b="1" dirty="0">
                <a:latin typeface="arial" pitchFamily="34" charset="0"/>
                <a:ea typeface="+mn-ea"/>
              </a:rPr>
              <a:t> </a:t>
            </a:r>
            <a:r>
              <a:rPr lang="en-US" altLang="ko-KR" sz="1400" b="1" dirty="0" err="1">
                <a:latin typeface="arial" pitchFamily="34" charset="0"/>
                <a:ea typeface="+mn-ea"/>
              </a:rPr>
              <a:t>tiến</a:t>
            </a:r>
            <a:r>
              <a:rPr lang="en-US" altLang="ko-KR" sz="1400" b="1" dirty="0">
                <a:latin typeface="arial" pitchFamily="34" charset="0"/>
                <a:ea typeface="+mn-ea"/>
              </a:rPr>
              <a:t> </a:t>
            </a:r>
            <a:r>
              <a:rPr lang="en-US" altLang="ko-KR" sz="1400" b="1" dirty="0" err="1">
                <a:latin typeface="arial" pitchFamily="34" charset="0"/>
                <a:ea typeface="+mn-ea"/>
              </a:rPr>
              <a:t>hành</a:t>
            </a:r>
            <a:r>
              <a:rPr lang="en-US" altLang="ko-KR" sz="1400" b="1" dirty="0">
                <a:latin typeface="arial" pitchFamily="34" charset="0"/>
                <a:ea typeface="+mn-ea"/>
              </a:rPr>
              <a:t> </a:t>
            </a:r>
            <a:r>
              <a:rPr lang="en-US" altLang="ko-KR" sz="1400" b="1" dirty="0" err="1">
                <a:latin typeface="arial" pitchFamily="34" charset="0"/>
                <a:ea typeface="+mn-ea"/>
              </a:rPr>
              <a:t>quản</a:t>
            </a:r>
            <a:r>
              <a:rPr lang="en-US" altLang="ko-KR" sz="1400" b="1" dirty="0">
                <a:latin typeface="arial" pitchFamily="34" charset="0"/>
                <a:ea typeface="+mn-ea"/>
              </a:rPr>
              <a:t> </a:t>
            </a:r>
            <a:r>
              <a:rPr lang="en-US" altLang="ko-KR" sz="1400" b="1" dirty="0" err="1">
                <a:latin typeface="arial" pitchFamily="34" charset="0"/>
                <a:ea typeface="+mn-ea"/>
              </a:rPr>
              <a:t>lý</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  2. </a:t>
            </a:r>
            <a:r>
              <a:rPr lang="en-US" altLang="ko-KR" sz="1400" b="1" dirty="0" err="1">
                <a:latin typeface="arial" pitchFamily="34" charset="0"/>
                <a:ea typeface="+mn-ea"/>
              </a:rPr>
              <a:t>Lựa</a:t>
            </a:r>
            <a:r>
              <a:rPr lang="en-US" altLang="ko-KR" sz="1400" b="1" dirty="0">
                <a:latin typeface="arial" pitchFamily="34" charset="0"/>
                <a:ea typeface="+mn-ea"/>
              </a:rPr>
              <a:t> </a:t>
            </a:r>
            <a:r>
              <a:rPr lang="en-US" altLang="ko-KR" sz="1400" b="1" dirty="0" err="1">
                <a:latin typeface="arial" pitchFamily="34" charset="0"/>
                <a:ea typeface="+mn-ea"/>
              </a:rPr>
              <a:t>chọn</a:t>
            </a:r>
            <a:r>
              <a:rPr lang="en-US" altLang="ko-KR" sz="1400" b="1" dirty="0">
                <a:latin typeface="arial" pitchFamily="34" charset="0"/>
                <a:ea typeface="+mn-ea"/>
              </a:rPr>
              <a:t> </a:t>
            </a:r>
            <a:r>
              <a:rPr lang="en-US" altLang="ko-KR" sz="1400" b="1" dirty="0" err="1">
                <a:latin typeface="arial" pitchFamily="34" charset="0"/>
                <a:ea typeface="+mn-ea"/>
              </a:rPr>
              <a:t>biểu</a:t>
            </a:r>
            <a:r>
              <a:rPr lang="en-US" altLang="ko-KR" sz="1400" b="1" dirty="0">
                <a:latin typeface="arial" pitchFamily="34" charset="0"/>
                <a:ea typeface="+mn-ea"/>
              </a:rPr>
              <a:t> </a:t>
            </a:r>
            <a:r>
              <a:rPr lang="en-US" altLang="ko-KR" sz="1400" b="1" dirty="0" err="1">
                <a:latin typeface="arial" pitchFamily="34" charset="0"/>
                <a:ea typeface="+mn-ea"/>
              </a:rPr>
              <a:t>đồ</a:t>
            </a:r>
            <a:r>
              <a:rPr lang="en-US" altLang="ko-KR" sz="1400" b="1" dirty="0">
                <a:latin typeface="arial" pitchFamily="34" charset="0"/>
                <a:ea typeface="+mn-ea"/>
              </a:rPr>
              <a:t> </a:t>
            </a:r>
            <a:r>
              <a:rPr lang="en-US" altLang="ko-KR" sz="1400" b="1" dirty="0" err="1">
                <a:latin typeface="arial" pitchFamily="34" charset="0"/>
                <a:ea typeface="+mn-ea"/>
              </a:rPr>
              <a:t>kiểm</a:t>
            </a:r>
            <a:r>
              <a:rPr lang="en-US" altLang="ko-KR" sz="1400" b="1" dirty="0">
                <a:latin typeface="arial" pitchFamily="34" charset="0"/>
                <a:ea typeface="+mn-ea"/>
              </a:rPr>
              <a:t> </a:t>
            </a:r>
            <a:r>
              <a:rPr lang="en-US" altLang="ko-KR" sz="1400" b="1" dirty="0" err="1">
                <a:latin typeface="arial" pitchFamily="34" charset="0"/>
                <a:ea typeface="+mn-ea"/>
              </a:rPr>
              <a:t>soát</a:t>
            </a:r>
            <a:endParaRPr lang="en-US" altLang="ko-KR" sz="1400" b="1" dirty="0">
              <a:latin typeface="arial" pitchFamily="34" charset="0"/>
              <a:ea typeface="+mn-ea"/>
            </a:endParaRPr>
          </a:p>
          <a:p>
            <a:pPr algn="just" eaLnBrk="1" latinLnBrk="0" hangingPunct="1">
              <a:lnSpc>
                <a:spcPct val="120000"/>
              </a:lnSpc>
              <a:defRPr/>
            </a:pPr>
            <a:r>
              <a:rPr lang="en-US" altLang="ko-KR" sz="1400" b="1" dirty="0">
                <a:latin typeface="arial" pitchFamily="34" charset="0"/>
                <a:ea typeface="+mn-ea"/>
              </a:rPr>
              <a:t>  3. </a:t>
            </a:r>
            <a:r>
              <a:rPr lang="en-US" altLang="ko-KR" sz="1400" b="1" dirty="0" err="1">
                <a:latin typeface="arial" pitchFamily="34" charset="0"/>
                <a:ea typeface="+mn-ea"/>
              </a:rPr>
              <a:t>Lên</a:t>
            </a:r>
            <a:r>
              <a:rPr lang="en-US" altLang="ko-KR" sz="1400" b="1" dirty="0">
                <a:latin typeface="arial" pitchFamily="34" charset="0"/>
                <a:ea typeface="+mn-ea"/>
              </a:rPr>
              <a:t> </a:t>
            </a:r>
            <a:r>
              <a:rPr lang="en-US" altLang="ko-KR" sz="1400" b="1" dirty="0" err="1">
                <a:latin typeface="arial" pitchFamily="34" charset="0"/>
                <a:ea typeface="+mn-ea"/>
              </a:rPr>
              <a:t>kế</a:t>
            </a:r>
            <a:r>
              <a:rPr lang="en-US" altLang="ko-KR" sz="1400" b="1" dirty="0">
                <a:latin typeface="arial" pitchFamily="34" charset="0"/>
                <a:ea typeface="+mn-ea"/>
              </a:rPr>
              <a:t> </a:t>
            </a:r>
            <a:r>
              <a:rPr lang="en-US" altLang="ko-KR" sz="1400" b="1" dirty="0" err="1">
                <a:latin typeface="arial" pitchFamily="34" charset="0"/>
                <a:ea typeface="+mn-ea"/>
              </a:rPr>
              <a:t>hoạch</a:t>
            </a:r>
            <a:r>
              <a:rPr lang="en-US" altLang="ko-KR" sz="1400" b="1" dirty="0">
                <a:latin typeface="arial" pitchFamily="34" charset="0"/>
                <a:ea typeface="+mn-ea"/>
              </a:rPr>
              <a:t> </a:t>
            </a:r>
            <a:r>
              <a:rPr lang="en-US" altLang="ko-KR" sz="1400" b="1" dirty="0" err="1">
                <a:latin typeface="arial" pitchFamily="34" charset="0"/>
                <a:ea typeface="+mn-ea"/>
              </a:rPr>
              <a:t>lấy</a:t>
            </a:r>
            <a:r>
              <a:rPr lang="en-US" altLang="ko-KR" sz="1400" b="1" dirty="0">
                <a:latin typeface="arial" pitchFamily="34" charset="0"/>
                <a:ea typeface="+mn-ea"/>
              </a:rPr>
              <a:t> </a:t>
            </a:r>
            <a:r>
              <a:rPr lang="en-US" altLang="ko-KR" sz="1400" b="1" dirty="0" err="1">
                <a:latin typeface="arial" pitchFamily="34" charset="0"/>
                <a:ea typeface="+mn-ea"/>
              </a:rPr>
              <a:t>mẫu</a:t>
            </a:r>
            <a:r>
              <a:rPr lang="en-US" altLang="ko-KR" sz="1400" b="1" dirty="0">
                <a:latin typeface="arial" pitchFamily="34" charset="0"/>
                <a:ea typeface="+mn-ea"/>
              </a:rPr>
              <a:t> (</a:t>
            </a:r>
            <a:r>
              <a:rPr lang="en-US" altLang="ko-KR" sz="1400" b="1" dirty="0" err="1">
                <a:latin typeface="arial" pitchFamily="34" charset="0"/>
                <a:ea typeface="+mn-ea"/>
              </a:rPr>
              <a:t>số</a:t>
            </a:r>
            <a:r>
              <a:rPr lang="en-US" altLang="ko-KR" sz="1400" b="1" dirty="0">
                <a:latin typeface="arial" pitchFamily="34" charset="0"/>
                <a:ea typeface="+mn-ea"/>
              </a:rPr>
              <a:t> </a:t>
            </a:r>
            <a:r>
              <a:rPr lang="en-US" altLang="ko-KR" sz="1400" b="1" dirty="0" err="1">
                <a:latin typeface="arial" pitchFamily="34" charset="0"/>
                <a:ea typeface="+mn-ea"/>
              </a:rPr>
              <a:t>lượng</a:t>
            </a:r>
            <a:r>
              <a:rPr lang="en-US" altLang="ko-KR" sz="1400" b="1" dirty="0">
                <a:latin typeface="arial" pitchFamily="34" charset="0"/>
                <a:ea typeface="+mn-ea"/>
              </a:rPr>
              <a:t> subgroups).</a:t>
            </a:r>
          </a:p>
          <a:p>
            <a:pPr algn="just" eaLnBrk="1" latinLnBrk="0" hangingPunct="1">
              <a:lnSpc>
                <a:spcPct val="120000"/>
              </a:lnSpc>
              <a:defRPr/>
            </a:pPr>
            <a:r>
              <a:rPr lang="en-US" altLang="ko-KR" sz="1400" b="1" dirty="0">
                <a:latin typeface="arial" pitchFamily="34" charset="0"/>
                <a:ea typeface="+mn-ea"/>
              </a:rPr>
              <a:t>  4. </a:t>
            </a:r>
            <a:r>
              <a:rPr lang="en-US" altLang="ko-KR" sz="1400" b="1" dirty="0" err="1">
                <a:latin typeface="arial" pitchFamily="34" charset="0"/>
                <a:ea typeface="+mn-ea"/>
              </a:rPr>
              <a:t>Xác</a:t>
            </a:r>
            <a:r>
              <a:rPr lang="en-US" altLang="ko-KR" sz="1400" b="1" dirty="0">
                <a:latin typeface="arial" pitchFamily="34" charset="0"/>
                <a:ea typeface="+mn-ea"/>
              </a:rPr>
              <a:t> </a:t>
            </a:r>
            <a:r>
              <a:rPr lang="en-US" altLang="ko-KR" sz="1400" b="1" dirty="0" err="1">
                <a:latin typeface="arial" pitchFamily="34" charset="0"/>
                <a:ea typeface="+mn-ea"/>
              </a:rPr>
              <a:t>định</a:t>
            </a:r>
            <a:r>
              <a:rPr lang="en-US" altLang="ko-KR" sz="1400" b="1" dirty="0">
                <a:latin typeface="arial" pitchFamily="34" charset="0"/>
                <a:ea typeface="+mn-ea"/>
              </a:rPr>
              <a:t> </a:t>
            </a:r>
            <a:r>
              <a:rPr lang="en-US" altLang="ko-KR" sz="1400" b="1" dirty="0" err="1">
                <a:latin typeface="arial" pitchFamily="34" charset="0"/>
                <a:ea typeface="+mn-ea"/>
              </a:rPr>
              <a:t>kích</a:t>
            </a:r>
            <a:r>
              <a:rPr lang="en-US" altLang="ko-KR" sz="1400" b="1" dirty="0">
                <a:latin typeface="arial" pitchFamily="34" charset="0"/>
                <a:ea typeface="+mn-ea"/>
              </a:rPr>
              <a:t> </a:t>
            </a:r>
            <a:r>
              <a:rPr lang="en-US" altLang="ko-KR" sz="1400" b="1" dirty="0" err="1">
                <a:latin typeface="arial" pitchFamily="34" charset="0"/>
                <a:ea typeface="+mn-ea"/>
              </a:rPr>
              <a:t>thước</a:t>
            </a:r>
            <a:r>
              <a:rPr lang="en-US" altLang="ko-KR" sz="1400" b="1" dirty="0">
                <a:latin typeface="arial" pitchFamily="34" charset="0"/>
                <a:ea typeface="+mn-ea"/>
              </a:rPr>
              <a:t> </a:t>
            </a:r>
            <a:r>
              <a:rPr lang="en-US" altLang="ko-KR" sz="1400" b="1" dirty="0" err="1">
                <a:latin typeface="arial" pitchFamily="34" charset="0"/>
                <a:ea typeface="+mn-ea"/>
              </a:rPr>
              <a:t>mẫu</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  5. </a:t>
            </a:r>
            <a:r>
              <a:rPr lang="en-US" altLang="ko-KR" sz="1400" b="1" dirty="0" err="1">
                <a:latin typeface="arial" pitchFamily="34" charset="0"/>
                <a:ea typeface="+mn-ea"/>
              </a:rPr>
              <a:t>Xác</a:t>
            </a:r>
            <a:r>
              <a:rPr lang="en-US" altLang="ko-KR" sz="1400" b="1" dirty="0">
                <a:latin typeface="arial" pitchFamily="34" charset="0"/>
                <a:ea typeface="+mn-ea"/>
              </a:rPr>
              <a:t> </a:t>
            </a:r>
            <a:r>
              <a:rPr lang="en-US" altLang="ko-KR" sz="1400" b="1" dirty="0" err="1">
                <a:latin typeface="arial" pitchFamily="34" charset="0"/>
                <a:ea typeface="+mn-ea"/>
              </a:rPr>
              <a:t>định</a:t>
            </a:r>
            <a:r>
              <a:rPr lang="en-US" altLang="ko-KR" sz="1400" b="1" dirty="0">
                <a:latin typeface="arial" pitchFamily="34" charset="0"/>
                <a:ea typeface="+mn-ea"/>
              </a:rPr>
              <a:t> </a:t>
            </a:r>
            <a:r>
              <a:rPr lang="en-US" altLang="ko-KR" sz="1400" b="1" dirty="0" err="1">
                <a:latin typeface="arial" pitchFamily="34" charset="0"/>
                <a:ea typeface="+mn-ea"/>
              </a:rPr>
              <a:t>không</a:t>
            </a:r>
            <a:r>
              <a:rPr lang="en-US" altLang="ko-KR" sz="1400" b="1" dirty="0">
                <a:latin typeface="arial" pitchFamily="34" charset="0"/>
                <a:ea typeface="+mn-ea"/>
              </a:rPr>
              <a:t> </a:t>
            </a:r>
            <a:r>
              <a:rPr lang="en-US" altLang="ko-KR" sz="1400" b="1" dirty="0" err="1">
                <a:latin typeface="arial" pitchFamily="34" charset="0"/>
                <a:ea typeface="+mn-ea"/>
              </a:rPr>
              <a:t>gian</a:t>
            </a:r>
            <a:r>
              <a:rPr lang="en-US" altLang="ko-KR" sz="1400" b="1" dirty="0">
                <a:latin typeface="arial" pitchFamily="34" charset="0"/>
                <a:ea typeface="+mn-ea"/>
              </a:rPr>
              <a:t> </a:t>
            </a:r>
            <a:r>
              <a:rPr lang="en-US" altLang="ko-KR" sz="1400" b="1" dirty="0" err="1">
                <a:latin typeface="arial" pitchFamily="34" charset="0"/>
                <a:ea typeface="+mn-ea"/>
              </a:rPr>
              <a:t>mẫu</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  6. </a:t>
            </a:r>
            <a:r>
              <a:rPr lang="en-US" altLang="ko-KR" sz="1400" b="1" dirty="0" err="1">
                <a:latin typeface="arial" pitchFamily="34" charset="0"/>
                <a:ea typeface="+mn-ea"/>
              </a:rPr>
              <a:t>Chọn</a:t>
            </a:r>
            <a:r>
              <a:rPr lang="en-US" altLang="ko-KR" sz="1400" b="1" dirty="0">
                <a:latin typeface="arial" pitchFamily="34" charset="0"/>
                <a:ea typeface="+mn-ea"/>
              </a:rPr>
              <a:t> </a:t>
            </a:r>
            <a:r>
              <a:rPr lang="en-US" altLang="ko-KR" sz="1400" b="1" dirty="0" err="1">
                <a:latin typeface="arial" pitchFamily="34" charset="0"/>
                <a:ea typeface="+mn-ea"/>
              </a:rPr>
              <a:t>thời</a:t>
            </a:r>
            <a:r>
              <a:rPr lang="en-US" altLang="ko-KR" sz="1400" b="1" dirty="0">
                <a:latin typeface="arial" pitchFamily="34" charset="0"/>
                <a:ea typeface="+mn-ea"/>
              </a:rPr>
              <a:t> </a:t>
            </a:r>
            <a:r>
              <a:rPr lang="en-US" altLang="ko-KR" sz="1400" b="1" dirty="0" err="1">
                <a:latin typeface="arial" pitchFamily="34" charset="0"/>
                <a:ea typeface="+mn-ea"/>
              </a:rPr>
              <a:t>gian</a:t>
            </a:r>
            <a:r>
              <a:rPr lang="en-US" altLang="ko-KR" sz="1400" b="1" dirty="0">
                <a:latin typeface="arial" pitchFamily="34" charset="0"/>
                <a:ea typeface="+mn-ea"/>
              </a:rPr>
              <a:t> </a:t>
            </a:r>
            <a:r>
              <a:rPr lang="en-US" altLang="ko-KR" sz="1400" b="1" dirty="0" err="1">
                <a:latin typeface="arial" pitchFamily="34" charset="0"/>
                <a:ea typeface="+mn-ea"/>
              </a:rPr>
              <a:t>lấy</a:t>
            </a:r>
            <a:r>
              <a:rPr lang="en-US" altLang="ko-KR" sz="1400" b="1" dirty="0">
                <a:latin typeface="arial" pitchFamily="34" charset="0"/>
                <a:ea typeface="+mn-ea"/>
              </a:rPr>
              <a:t> </a:t>
            </a:r>
            <a:r>
              <a:rPr lang="en-US" altLang="ko-KR" sz="1400" b="1" dirty="0" err="1">
                <a:latin typeface="arial" pitchFamily="34" charset="0"/>
                <a:ea typeface="+mn-ea"/>
              </a:rPr>
              <a:t>mẫu</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  7. </a:t>
            </a:r>
            <a:r>
              <a:rPr lang="en-US" altLang="ko-KR" sz="1400" b="1" dirty="0" err="1">
                <a:latin typeface="arial" pitchFamily="34" charset="0"/>
                <a:ea typeface="+mn-ea"/>
              </a:rPr>
              <a:t>Chọn</a:t>
            </a:r>
            <a:r>
              <a:rPr lang="en-US" altLang="ko-KR" sz="1400" b="1" dirty="0">
                <a:latin typeface="arial" pitchFamily="34" charset="0"/>
                <a:ea typeface="+mn-ea"/>
              </a:rPr>
              <a:t> </a:t>
            </a:r>
            <a:r>
              <a:rPr lang="en-US" altLang="ko-KR" sz="1400" b="1" dirty="0" err="1">
                <a:latin typeface="arial" pitchFamily="34" charset="0"/>
                <a:ea typeface="+mn-ea"/>
              </a:rPr>
              <a:t>phép</a:t>
            </a:r>
            <a:r>
              <a:rPr lang="en-US" altLang="ko-KR" sz="1400" b="1" dirty="0">
                <a:latin typeface="arial" pitchFamily="34" charset="0"/>
                <a:ea typeface="+mn-ea"/>
              </a:rPr>
              <a:t> </a:t>
            </a:r>
            <a:r>
              <a:rPr lang="en-US" altLang="ko-KR" sz="1400" b="1" dirty="0" err="1">
                <a:latin typeface="arial" pitchFamily="34" charset="0"/>
                <a:ea typeface="+mn-ea"/>
              </a:rPr>
              <a:t>đo</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  8. Thu </a:t>
            </a:r>
            <a:r>
              <a:rPr lang="en-US" altLang="ko-KR" sz="1400" b="1" dirty="0" err="1">
                <a:latin typeface="arial" pitchFamily="34" charset="0"/>
                <a:ea typeface="+mn-ea"/>
              </a:rPr>
              <a:t>thập</a:t>
            </a:r>
            <a:r>
              <a:rPr lang="en-US" altLang="ko-KR" sz="1400" b="1" dirty="0">
                <a:latin typeface="arial" pitchFamily="34" charset="0"/>
                <a:ea typeface="+mn-ea"/>
              </a:rPr>
              <a:t> </a:t>
            </a:r>
            <a:r>
              <a:rPr lang="en-US" altLang="ko-KR" sz="1400" b="1" dirty="0" err="1">
                <a:latin typeface="arial" pitchFamily="34" charset="0"/>
                <a:ea typeface="+mn-ea"/>
              </a:rPr>
              <a:t>dữ</a:t>
            </a:r>
            <a:r>
              <a:rPr lang="en-US" altLang="ko-KR" sz="1400" b="1" dirty="0">
                <a:latin typeface="arial" pitchFamily="34" charset="0"/>
                <a:ea typeface="+mn-ea"/>
              </a:rPr>
              <a:t> </a:t>
            </a:r>
            <a:r>
              <a:rPr lang="en-US" altLang="ko-KR" sz="1400" b="1" dirty="0" err="1">
                <a:latin typeface="arial" pitchFamily="34" charset="0"/>
                <a:ea typeface="+mn-ea"/>
              </a:rPr>
              <a:t>liệu</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  9. </a:t>
            </a:r>
            <a:r>
              <a:rPr lang="en-US" altLang="ko-KR" sz="1400" b="1" dirty="0" err="1">
                <a:latin typeface="arial" pitchFamily="34" charset="0"/>
                <a:ea typeface="+mn-ea"/>
              </a:rPr>
              <a:t>Xây</a:t>
            </a:r>
            <a:r>
              <a:rPr lang="en-US" altLang="ko-KR" sz="1400" b="1" dirty="0">
                <a:latin typeface="arial" pitchFamily="34" charset="0"/>
                <a:ea typeface="+mn-ea"/>
              </a:rPr>
              <a:t> </a:t>
            </a:r>
            <a:r>
              <a:rPr lang="en-US" altLang="ko-KR" sz="1400" b="1" dirty="0" err="1">
                <a:latin typeface="arial" pitchFamily="34" charset="0"/>
                <a:ea typeface="+mn-ea"/>
              </a:rPr>
              <a:t>dựng</a:t>
            </a:r>
            <a:r>
              <a:rPr lang="en-US" altLang="ko-KR" sz="1400" b="1" dirty="0">
                <a:latin typeface="arial" pitchFamily="34" charset="0"/>
                <a:ea typeface="+mn-ea"/>
              </a:rPr>
              <a:t> </a:t>
            </a:r>
            <a:r>
              <a:rPr lang="en-US" altLang="ko-KR" sz="1400" b="1" dirty="0" err="1">
                <a:latin typeface="arial" pitchFamily="34" charset="0"/>
                <a:ea typeface="+mn-ea"/>
              </a:rPr>
              <a:t>biểu</a:t>
            </a:r>
            <a:r>
              <a:rPr lang="en-US" altLang="ko-KR" sz="1400" b="1" dirty="0">
                <a:latin typeface="arial" pitchFamily="34" charset="0"/>
                <a:ea typeface="+mn-ea"/>
              </a:rPr>
              <a:t> </a:t>
            </a:r>
            <a:r>
              <a:rPr lang="en-US" altLang="ko-KR" sz="1400" b="1" dirty="0" err="1">
                <a:latin typeface="arial" pitchFamily="34" charset="0"/>
                <a:ea typeface="+mn-ea"/>
              </a:rPr>
              <a:t>đồ</a:t>
            </a:r>
            <a:r>
              <a:rPr lang="en-US" altLang="ko-KR" sz="1400" b="1" dirty="0">
                <a:latin typeface="arial" pitchFamily="34" charset="0"/>
                <a:ea typeface="+mn-ea"/>
              </a:rPr>
              <a:t> </a:t>
            </a:r>
            <a:r>
              <a:rPr lang="en-US" altLang="ko-KR" sz="1400" b="1" dirty="0" err="1">
                <a:latin typeface="arial" pitchFamily="34" charset="0"/>
                <a:ea typeface="+mn-ea"/>
              </a:rPr>
              <a:t>kiểm</a:t>
            </a:r>
            <a:r>
              <a:rPr lang="en-US" altLang="ko-KR" sz="1400" b="1" dirty="0">
                <a:latin typeface="arial" pitchFamily="34" charset="0"/>
                <a:ea typeface="+mn-ea"/>
              </a:rPr>
              <a:t> </a:t>
            </a:r>
            <a:r>
              <a:rPr lang="en-US" altLang="ko-KR" sz="1400" b="1" dirty="0" err="1">
                <a:latin typeface="arial" pitchFamily="34" charset="0"/>
                <a:ea typeface="+mn-ea"/>
              </a:rPr>
              <a:t>soát</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10. </a:t>
            </a:r>
            <a:r>
              <a:rPr lang="en-US" altLang="ko-KR" sz="1400" b="1" dirty="0" err="1">
                <a:latin typeface="arial" pitchFamily="34" charset="0"/>
                <a:ea typeface="+mn-ea"/>
              </a:rPr>
              <a:t>Đánh</a:t>
            </a:r>
            <a:r>
              <a:rPr lang="en-US" altLang="ko-KR" sz="1400" b="1" dirty="0">
                <a:latin typeface="arial" pitchFamily="34" charset="0"/>
                <a:ea typeface="+mn-ea"/>
              </a:rPr>
              <a:t> </a:t>
            </a:r>
            <a:r>
              <a:rPr lang="en-US" altLang="ko-KR" sz="1400" b="1" dirty="0" err="1">
                <a:latin typeface="arial" pitchFamily="34" charset="0"/>
                <a:ea typeface="+mn-ea"/>
              </a:rPr>
              <a:t>giá</a:t>
            </a:r>
            <a:r>
              <a:rPr lang="en-US" altLang="ko-KR" sz="1400" b="1" dirty="0">
                <a:latin typeface="arial" pitchFamily="34" charset="0"/>
                <a:ea typeface="+mn-ea"/>
              </a:rPr>
              <a:t> </a:t>
            </a:r>
            <a:r>
              <a:rPr lang="en-US" altLang="ko-KR" sz="1400" b="1" dirty="0" err="1">
                <a:latin typeface="arial" pitchFamily="34" charset="0"/>
                <a:ea typeface="+mn-ea"/>
              </a:rPr>
              <a:t>quá</a:t>
            </a:r>
            <a:r>
              <a:rPr lang="en-US" altLang="ko-KR" sz="1400" b="1" dirty="0">
                <a:latin typeface="arial" pitchFamily="34" charset="0"/>
                <a:ea typeface="+mn-ea"/>
              </a:rPr>
              <a:t> </a:t>
            </a:r>
            <a:r>
              <a:rPr lang="en-US" altLang="ko-KR" sz="1400" b="1" dirty="0" err="1">
                <a:latin typeface="arial" pitchFamily="34" charset="0"/>
                <a:ea typeface="+mn-ea"/>
              </a:rPr>
              <a:t>trình</a:t>
            </a:r>
            <a:r>
              <a:rPr lang="en-US" altLang="ko-KR" sz="1400" b="1" dirty="0">
                <a:latin typeface="arial" pitchFamily="34" charset="0"/>
                <a:ea typeface="+mn-ea"/>
              </a:rPr>
              <a:t> </a:t>
            </a:r>
            <a:r>
              <a:rPr lang="en-US" altLang="ko-KR" sz="1400" b="1" dirty="0" err="1">
                <a:latin typeface="arial" pitchFamily="34" charset="0"/>
                <a:ea typeface="+mn-ea"/>
              </a:rPr>
              <a:t>và</a:t>
            </a:r>
            <a:r>
              <a:rPr lang="en-US" altLang="ko-KR" sz="1400" b="1" dirty="0">
                <a:latin typeface="arial" pitchFamily="34" charset="0"/>
                <a:ea typeface="+mn-ea"/>
              </a:rPr>
              <a:t> </a:t>
            </a:r>
            <a:r>
              <a:rPr lang="en-US" altLang="ko-KR" sz="1400" b="1" dirty="0" err="1">
                <a:latin typeface="arial" pitchFamily="34" charset="0"/>
                <a:ea typeface="+mn-ea"/>
              </a:rPr>
              <a:t>thực</a:t>
            </a:r>
            <a:r>
              <a:rPr lang="en-US" altLang="ko-KR" sz="1400" b="1" dirty="0">
                <a:latin typeface="arial" pitchFamily="34" charset="0"/>
                <a:ea typeface="+mn-ea"/>
              </a:rPr>
              <a:t> </a:t>
            </a:r>
            <a:r>
              <a:rPr lang="en-US" altLang="ko-KR" sz="1400" b="1" dirty="0" err="1">
                <a:latin typeface="arial" pitchFamily="34" charset="0"/>
                <a:ea typeface="+mn-ea"/>
              </a:rPr>
              <a:t>hiện</a:t>
            </a:r>
            <a:r>
              <a:rPr lang="en-US" altLang="ko-KR" sz="1400" b="1" dirty="0">
                <a:latin typeface="arial" pitchFamily="34" charset="0"/>
                <a:ea typeface="+mn-ea"/>
              </a:rPr>
              <a:t> </a:t>
            </a:r>
            <a:r>
              <a:rPr lang="en-US" altLang="ko-KR" sz="1400" b="1" dirty="0" err="1">
                <a:latin typeface="arial" pitchFamily="34" charset="0"/>
                <a:ea typeface="+mn-ea"/>
              </a:rPr>
              <a:t>các</a:t>
            </a:r>
            <a:r>
              <a:rPr lang="en-US" altLang="ko-KR" sz="1400" b="1" dirty="0">
                <a:latin typeface="arial" pitchFamily="34" charset="0"/>
                <a:ea typeface="+mn-ea"/>
              </a:rPr>
              <a:t> </a:t>
            </a:r>
            <a:r>
              <a:rPr lang="en-US" altLang="ko-KR" sz="1400" b="1" dirty="0" err="1">
                <a:latin typeface="arial" pitchFamily="34" charset="0"/>
                <a:ea typeface="+mn-ea"/>
              </a:rPr>
              <a:t>cải</a:t>
            </a:r>
            <a:r>
              <a:rPr lang="en-US" altLang="ko-KR" sz="1400" b="1" dirty="0">
                <a:latin typeface="arial" pitchFamily="34" charset="0"/>
                <a:ea typeface="+mn-ea"/>
              </a:rPr>
              <a:t> </a:t>
            </a:r>
            <a:r>
              <a:rPr lang="en-US" altLang="ko-KR" sz="1400" b="1" dirty="0" err="1">
                <a:latin typeface="arial" pitchFamily="34" charset="0"/>
                <a:ea typeface="+mn-ea"/>
              </a:rPr>
              <a:t>tiến</a:t>
            </a:r>
            <a:r>
              <a:rPr lang="en-US" altLang="ko-KR" sz="1400" b="1" dirty="0">
                <a:latin typeface="arial" pitchFamily="34" charset="0"/>
                <a:ea typeface="+mn-ea"/>
              </a:rPr>
              <a:t> </a:t>
            </a:r>
            <a:r>
              <a:rPr lang="en-US" altLang="ko-KR" sz="1400" b="1" dirty="0" err="1">
                <a:latin typeface="arial" pitchFamily="34" charset="0"/>
                <a:ea typeface="+mn-ea"/>
              </a:rPr>
              <a:t>cần</a:t>
            </a:r>
            <a:r>
              <a:rPr lang="en-US" altLang="ko-KR" sz="1400" b="1" dirty="0">
                <a:latin typeface="arial" pitchFamily="34" charset="0"/>
                <a:ea typeface="+mn-ea"/>
              </a:rPr>
              <a:t> </a:t>
            </a:r>
            <a:r>
              <a:rPr lang="en-US" altLang="ko-KR" sz="1400" b="1" dirty="0" err="1">
                <a:latin typeface="arial" pitchFamily="34" charset="0"/>
                <a:ea typeface="+mn-ea"/>
              </a:rPr>
              <a:t>thiết</a:t>
            </a:r>
            <a:r>
              <a:rPr lang="en-US" altLang="ko-KR" sz="1400" b="1" dirty="0">
                <a:latin typeface="arial" pitchFamily="34" charset="0"/>
                <a:ea typeface="+mn-ea"/>
              </a:rPr>
              <a:t>. </a:t>
            </a:r>
          </a:p>
          <a:p>
            <a:pPr algn="just" eaLnBrk="1" latinLnBrk="0" hangingPunct="1">
              <a:lnSpc>
                <a:spcPct val="120000"/>
              </a:lnSpc>
              <a:defRPr/>
            </a:pPr>
            <a:endParaRPr lang="en-US" altLang="ko-KR" sz="1400" b="1" dirty="0">
              <a:latin typeface="arial" pitchFamily="34" charset="0"/>
              <a:ea typeface="+mn-ea"/>
            </a:endParaRPr>
          </a:p>
          <a:p>
            <a:pPr algn="just" eaLnBrk="1" latinLnBrk="0" hangingPunct="1">
              <a:lnSpc>
                <a:spcPct val="120000"/>
              </a:lnSpc>
              <a:defRPr/>
            </a:pPr>
            <a:r>
              <a:rPr lang="en-US" altLang="ko-KR" sz="1400" b="1" dirty="0">
                <a:latin typeface="arial" pitchFamily="34" charset="0"/>
                <a:ea typeface="+mn-ea"/>
              </a:rPr>
              <a:t>11. </a:t>
            </a:r>
            <a:r>
              <a:rPr lang="en-US" altLang="ko-KR" sz="1400" b="1" dirty="0" err="1">
                <a:latin typeface="arial" pitchFamily="34" charset="0"/>
                <a:ea typeface="+mn-ea"/>
              </a:rPr>
              <a:t>Mở</a:t>
            </a:r>
            <a:r>
              <a:rPr lang="en-US" altLang="ko-KR" sz="1400" b="1" dirty="0">
                <a:latin typeface="arial" pitchFamily="34" charset="0"/>
                <a:ea typeface="+mn-ea"/>
              </a:rPr>
              <a:t> </a:t>
            </a:r>
            <a:r>
              <a:rPr lang="en-US" altLang="ko-KR" sz="1400" b="1" dirty="0" err="1">
                <a:latin typeface="arial" pitchFamily="34" charset="0"/>
                <a:ea typeface="+mn-ea"/>
              </a:rPr>
              <a:t>rộng</a:t>
            </a:r>
            <a:r>
              <a:rPr lang="en-US" altLang="ko-KR" sz="1400" b="1" dirty="0">
                <a:latin typeface="arial" pitchFamily="34" charset="0"/>
                <a:ea typeface="+mn-ea"/>
              </a:rPr>
              <a:t> </a:t>
            </a:r>
            <a:r>
              <a:rPr lang="en-US" altLang="ko-KR" sz="1400" b="1" dirty="0" err="1">
                <a:latin typeface="arial" pitchFamily="34" charset="0"/>
                <a:ea typeface="+mn-ea"/>
              </a:rPr>
              <a:t>các</a:t>
            </a:r>
            <a:r>
              <a:rPr lang="en-US" altLang="ko-KR" sz="1400" b="1" dirty="0">
                <a:latin typeface="arial" pitchFamily="34" charset="0"/>
                <a:ea typeface="+mn-ea"/>
              </a:rPr>
              <a:t> </a:t>
            </a:r>
            <a:r>
              <a:rPr lang="en-US" altLang="ko-KR" sz="1400" b="1" dirty="0" err="1">
                <a:latin typeface="arial" pitchFamily="34" charset="0"/>
                <a:ea typeface="+mn-ea"/>
              </a:rPr>
              <a:t>giới</a:t>
            </a:r>
            <a:r>
              <a:rPr lang="en-US" altLang="ko-KR" sz="1400" b="1" dirty="0">
                <a:latin typeface="arial" pitchFamily="34" charset="0"/>
                <a:ea typeface="+mn-ea"/>
              </a:rPr>
              <a:t> </a:t>
            </a:r>
            <a:r>
              <a:rPr lang="en-US" altLang="ko-KR" sz="1400" b="1" dirty="0" err="1">
                <a:latin typeface="arial" pitchFamily="34" charset="0"/>
                <a:ea typeface="+mn-ea"/>
              </a:rPr>
              <a:t>hạn</a:t>
            </a:r>
            <a:r>
              <a:rPr lang="en-US" altLang="ko-KR" sz="1400" b="1" dirty="0">
                <a:latin typeface="arial" pitchFamily="34" charset="0"/>
                <a:ea typeface="+mn-ea"/>
              </a:rPr>
              <a:t> </a:t>
            </a:r>
            <a:r>
              <a:rPr lang="en-US" altLang="ko-KR" sz="1400" b="1" dirty="0" err="1">
                <a:latin typeface="arial" pitchFamily="34" charset="0"/>
                <a:ea typeface="+mn-ea"/>
              </a:rPr>
              <a:t>kiểm</a:t>
            </a:r>
            <a:r>
              <a:rPr lang="en-US" altLang="ko-KR" sz="1400" b="1" dirty="0">
                <a:latin typeface="arial" pitchFamily="34" charset="0"/>
                <a:ea typeface="+mn-ea"/>
              </a:rPr>
              <a:t> </a:t>
            </a:r>
            <a:r>
              <a:rPr lang="en-US" altLang="ko-KR" sz="1400" b="1" dirty="0" err="1">
                <a:latin typeface="arial" pitchFamily="34" charset="0"/>
                <a:ea typeface="+mn-ea"/>
              </a:rPr>
              <a:t>soát</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12. </a:t>
            </a:r>
            <a:r>
              <a:rPr lang="en-US" altLang="ko-KR" sz="1400" b="1" dirty="0" err="1">
                <a:latin typeface="arial" pitchFamily="34" charset="0"/>
                <a:ea typeface="+mn-ea"/>
              </a:rPr>
              <a:t>Thực</a:t>
            </a:r>
            <a:r>
              <a:rPr lang="en-US" altLang="ko-KR" sz="1400" b="1" dirty="0">
                <a:latin typeface="arial" pitchFamily="34" charset="0"/>
                <a:ea typeface="+mn-ea"/>
              </a:rPr>
              <a:t> </a:t>
            </a:r>
            <a:r>
              <a:rPr lang="en-US" altLang="ko-KR" sz="1400" b="1" dirty="0" err="1">
                <a:latin typeface="arial" pitchFamily="34" charset="0"/>
                <a:ea typeface="+mn-ea"/>
              </a:rPr>
              <a:t>hành</a:t>
            </a:r>
            <a:r>
              <a:rPr lang="en-US" altLang="ko-KR" sz="1400" b="1" dirty="0">
                <a:latin typeface="arial" pitchFamily="34" charset="0"/>
                <a:ea typeface="+mn-ea"/>
              </a:rPr>
              <a:t> </a:t>
            </a:r>
            <a:r>
              <a:rPr lang="en-US" altLang="ko-KR" sz="1400" b="1" dirty="0" err="1">
                <a:latin typeface="arial" pitchFamily="34" charset="0"/>
                <a:ea typeface="+mn-ea"/>
              </a:rPr>
              <a:t>đo</a:t>
            </a:r>
            <a:r>
              <a:rPr lang="en-US" altLang="ko-KR" sz="1400" b="1" dirty="0">
                <a:latin typeface="arial" pitchFamily="34" charset="0"/>
                <a:ea typeface="+mn-ea"/>
              </a:rPr>
              <a:t>. </a:t>
            </a:r>
            <a:r>
              <a:rPr lang="en-US" altLang="ko-KR" sz="1400" b="1" dirty="0" err="1">
                <a:latin typeface="arial" pitchFamily="34" charset="0"/>
                <a:ea typeface="+mn-ea"/>
              </a:rPr>
              <a:t>Số</a:t>
            </a:r>
            <a:r>
              <a:rPr lang="en-US" altLang="ko-KR" sz="1400" b="1" dirty="0">
                <a:latin typeface="arial" pitchFamily="34" charset="0"/>
                <a:ea typeface="+mn-ea"/>
              </a:rPr>
              <a:t> </a:t>
            </a:r>
            <a:r>
              <a:rPr lang="en-US" altLang="ko-KR" sz="1400" b="1" dirty="0" err="1">
                <a:latin typeface="arial" pitchFamily="34" charset="0"/>
                <a:ea typeface="+mn-ea"/>
              </a:rPr>
              <a:t>lượng</a:t>
            </a:r>
            <a:r>
              <a:rPr lang="en-US" altLang="ko-KR" sz="1400" b="1" dirty="0">
                <a:latin typeface="arial" pitchFamily="34" charset="0"/>
                <a:ea typeface="+mn-ea"/>
              </a:rPr>
              <a:t> </a:t>
            </a:r>
            <a:r>
              <a:rPr lang="en-US" altLang="ko-KR" sz="1400" b="1" dirty="0" err="1">
                <a:latin typeface="arial" pitchFamily="34" charset="0"/>
                <a:ea typeface="+mn-ea"/>
              </a:rPr>
              <a:t>mẫu</a:t>
            </a:r>
            <a:r>
              <a:rPr lang="en-US" altLang="ko-KR" sz="1400" b="1" dirty="0">
                <a:latin typeface="arial" pitchFamily="34" charset="0"/>
                <a:ea typeface="+mn-ea"/>
              </a:rPr>
              <a:t> </a:t>
            </a:r>
            <a:r>
              <a:rPr lang="en-US" altLang="ko-KR" sz="1400" b="1" dirty="0" err="1">
                <a:latin typeface="arial" pitchFamily="34" charset="0"/>
                <a:ea typeface="+mn-ea"/>
              </a:rPr>
              <a:t>và</a:t>
            </a:r>
            <a:r>
              <a:rPr lang="en-US" altLang="ko-KR" sz="1400" b="1" dirty="0">
                <a:latin typeface="arial" pitchFamily="34" charset="0"/>
                <a:ea typeface="+mn-ea"/>
              </a:rPr>
              <a:t> </a:t>
            </a:r>
            <a:r>
              <a:rPr lang="en-US" altLang="ko-KR" sz="1400" b="1" dirty="0" err="1">
                <a:latin typeface="arial" pitchFamily="34" charset="0"/>
                <a:ea typeface="+mn-ea"/>
              </a:rPr>
              <a:t>thơi</a:t>
            </a:r>
            <a:r>
              <a:rPr lang="en-US" altLang="ko-KR" sz="1400" b="1" dirty="0">
                <a:latin typeface="arial" pitchFamily="34" charset="0"/>
                <a:ea typeface="+mn-ea"/>
              </a:rPr>
              <a:t> </a:t>
            </a:r>
            <a:r>
              <a:rPr lang="en-US" altLang="ko-KR" sz="1400" b="1" dirty="0" err="1">
                <a:latin typeface="arial" pitchFamily="34" charset="0"/>
                <a:ea typeface="+mn-ea"/>
              </a:rPr>
              <a:t>gian</a:t>
            </a:r>
            <a:r>
              <a:rPr lang="en-US" altLang="ko-KR" sz="1400" b="1" dirty="0">
                <a:latin typeface="arial" pitchFamily="34" charset="0"/>
                <a:ea typeface="+mn-ea"/>
              </a:rPr>
              <a:t> </a:t>
            </a:r>
            <a:r>
              <a:rPr lang="en-US" altLang="ko-KR" sz="1400" b="1" dirty="0" err="1">
                <a:latin typeface="arial" pitchFamily="34" charset="0"/>
                <a:ea typeface="+mn-ea"/>
              </a:rPr>
              <a:t>đo</a:t>
            </a:r>
            <a:r>
              <a:rPr lang="en-US" altLang="ko-KR" sz="1400" b="1" dirty="0">
                <a:latin typeface="arial" pitchFamily="34" charset="0"/>
                <a:ea typeface="+mn-ea"/>
              </a:rPr>
              <a:t> </a:t>
            </a:r>
            <a:r>
              <a:rPr lang="en-US" altLang="ko-KR" sz="1400" b="1" dirty="0" err="1">
                <a:latin typeface="arial" pitchFamily="34" charset="0"/>
                <a:ea typeface="+mn-ea"/>
              </a:rPr>
              <a:t>cần</a:t>
            </a:r>
            <a:r>
              <a:rPr lang="en-US" altLang="ko-KR" sz="1400" b="1" dirty="0">
                <a:latin typeface="arial" pitchFamily="34" charset="0"/>
                <a:ea typeface="+mn-ea"/>
              </a:rPr>
              <a:t> </a:t>
            </a:r>
            <a:r>
              <a:rPr lang="en-US" altLang="ko-KR" sz="1400" b="1" dirty="0" err="1">
                <a:latin typeface="arial" pitchFamily="34" charset="0"/>
                <a:ea typeface="+mn-ea"/>
              </a:rPr>
              <a:t>được</a:t>
            </a:r>
            <a:r>
              <a:rPr lang="en-US" altLang="ko-KR" sz="1400" b="1" dirty="0">
                <a:latin typeface="arial" pitchFamily="34" charset="0"/>
                <a:ea typeface="+mn-ea"/>
              </a:rPr>
              <a:t> </a:t>
            </a:r>
            <a:r>
              <a:rPr lang="en-US" altLang="ko-KR" sz="1400" b="1" dirty="0" err="1">
                <a:latin typeface="arial" pitchFamily="34" charset="0"/>
                <a:ea typeface="+mn-ea"/>
              </a:rPr>
              <a:t>xác</a:t>
            </a:r>
            <a:r>
              <a:rPr lang="en-US" altLang="ko-KR" sz="1400" b="1" dirty="0">
                <a:latin typeface="arial" pitchFamily="34" charset="0"/>
                <a:ea typeface="+mn-ea"/>
              </a:rPr>
              <a:t> </a:t>
            </a:r>
            <a:r>
              <a:rPr lang="en-US" altLang="ko-KR" sz="1400" b="1" dirty="0" err="1">
                <a:latin typeface="arial" pitchFamily="34" charset="0"/>
                <a:ea typeface="+mn-ea"/>
              </a:rPr>
              <a:t>định</a:t>
            </a:r>
            <a:r>
              <a:rPr lang="en-US" altLang="ko-KR" sz="1400" b="1" dirty="0">
                <a:latin typeface="arial" pitchFamily="34" charset="0"/>
                <a:ea typeface="+mn-ea"/>
              </a:rPr>
              <a:t> </a:t>
            </a:r>
            <a:r>
              <a:rPr lang="en-US" altLang="ko-KR" sz="1400" b="1" dirty="0" err="1">
                <a:latin typeface="arial" pitchFamily="34" charset="0"/>
                <a:ea typeface="+mn-ea"/>
              </a:rPr>
              <a:t>trước</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13. </a:t>
            </a:r>
            <a:r>
              <a:rPr lang="en-US" altLang="ko-KR" sz="1400" b="1" dirty="0" err="1">
                <a:latin typeface="arial" pitchFamily="34" charset="0"/>
                <a:ea typeface="+mn-ea"/>
              </a:rPr>
              <a:t>Xây</a:t>
            </a:r>
            <a:r>
              <a:rPr lang="en-US" altLang="ko-KR" sz="1400" b="1" dirty="0">
                <a:latin typeface="arial" pitchFamily="34" charset="0"/>
                <a:ea typeface="+mn-ea"/>
              </a:rPr>
              <a:t> </a:t>
            </a:r>
            <a:r>
              <a:rPr lang="en-US" altLang="ko-KR" sz="1400" b="1" dirty="0" err="1">
                <a:latin typeface="arial" pitchFamily="34" charset="0"/>
                <a:ea typeface="+mn-ea"/>
              </a:rPr>
              <a:t>dựng</a:t>
            </a:r>
            <a:r>
              <a:rPr lang="en-US" altLang="ko-KR" sz="1400" b="1" dirty="0">
                <a:latin typeface="arial" pitchFamily="34" charset="0"/>
                <a:ea typeface="+mn-ea"/>
              </a:rPr>
              <a:t> </a:t>
            </a:r>
            <a:r>
              <a:rPr lang="en-US" altLang="ko-KR" sz="1400" b="1" dirty="0" err="1">
                <a:latin typeface="arial" pitchFamily="34" charset="0"/>
                <a:ea typeface="+mn-ea"/>
              </a:rPr>
              <a:t>các</a:t>
            </a:r>
            <a:r>
              <a:rPr lang="en-US" altLang="ko-KR" sz="1400" b="1" dirty="0">
                <a:latin typeface="arial" pitchFamily="34" charset="0"/>
                <a:ea typeface="+mn-ea"/>
              </a:rPr>
              <a:t> </a:t>
            </a:r>
            <a:r>
              <a:rPr lang="en-US" altLang="ko-KR" sz="1400" b="1" dirty="0" err="1">
                <a:latin typeface="arial" pitchFamily="34" charset="0"/>
                <a:ea typeface="+mn-ea"/>
              </a:rPr>
              <a:t>biểu</a:t>
            </a:r>
            <a:r>
              <a:rPr lang="en-US" altLang="ko-KR" sz="1400" b="1" dirty="0">
                <a:latin typeface="arial" pitchFamily="34" charset="0"/>
                <a:ea typeface="+mn-ea"/>
              </a:rPr>
              <a:t> </a:t>
            </a:r>
            <a:r>
              <a:rPr lang="en-US" altLang="ko-KR" sz="1400" b="1" dirty="0" err="1">
                <a:latin typeface="arial" pitchFamily="34" charset="0"/>
                <a:ea typeface="+mn-ea"/>
              </a:rPr>
              <a:t>đồ</a:t>
            </a:r>
            <a:r>
              <a:rPr lang="en-US" altLang="ko-KR" sz="1400" b="1" dirty="0">
                <a:latin typeface="arial" pitchFamily="34" charset="0"/>
                <a:ea typeface="+mn-ea"/>
              </a:rPr>
              <a:t> </a:t>
            </a:r>
            <a:r>
              <a:rPr lang="en-US" altLang="ko-KR" sz="1400" b="1" dirty="0" err="1">
                <a:latin typeface="arial" pitchFamily="34" charset="0"/>
                <a:ea typeface="+mn-ea"/>
              </a:rPr>
              <a:t>kiểm</a:t>
            </a:r>
            <a:r>
              <a:rPr lang="en-US" altLang="ko-KR" sz="1400" b="1" dirty="0">
                <a:latin typeface="arial" pitchFamily="34" charset="0"/>
                <a:ea typeface="+mn-ea"/>
              </a:rPr>
              <a:t> </a:t>
            </a:r>
            <a:r>
              <a:rPr lang="en-US" altLang="ko-KR" sz="1400" b="1" dirty="0" err="1">
                <a:latin typeface="arial" pitchFamily="34" charset="0"/>
                <a:ea typeface="+mn-ea"/>
              </a:rPr>
              <a:t>soát</a:t>
            </a:r>
            <a:r>
              <a:rPr lang="en-US" altLang="ko-KR" sz="1400" b="1" dirty="0">
                <a:latin typeface="arial" pitchFamily="34" charset="0"/>
                <a:ea typeface="+mn-ea"/>
              </a:rPr>
              <a:t> </a:t>
            </a:r>
            <a:r>
              <a:rPr lang="en-US" altLang="ko-KR" sz="1400" b="1" dirty="0" err="1">
                <a:latin typeface="arial" pitchFamily="34" charset="0"/>
                <a:ea typeface="+mn-ea"/>
              </a:rPr>
              <a:t>và</a:t>
            </a:r>
            <a:r>
              <a:rPr lang="en-US" altLang="ko-KR" sz="1400" b="1" dirty="0">
                <a:latin typeface="arial" pitchFamily="34" charset="0"/>
                <a:ea typeface="+mn-ea"/>
              </a:rPr>
              <a:t> </a:t>
            </a:r>
            <a:r>
              <a:rPr lang="en-US" altLang="ko-KR" sz="1400" b="1" dirty="0" err="1">
                <a:latin typeface="arial" pitchFamily="34" charset="0"/>
                <a:ea typeface="+mn-ea"/>
              </a:rPr>
              <a:t>đánh</a:t>
            </a:r>
            <a:r>
              <a:rPr lang="en-US" altLang="ko-KR" sz="1400" b="1" dirty="0">
                <a:latin typeface="arial" pitchFamily="34" charset="0"/>
                <a:ea typeface="+mn-ea"/>
              </a:rPr>
              <a:t> </a:t>
            </a:r>
            <a:r>
              <a:rPr lang="en-US" altLang="ko-KR" sz="1400" b="1" dirty="0" err="1">
                <a:latin typeface="arial" pitchFamily="34" charset="0"/>
                <a:ea typeface="+mn-ea"/>
              </a:rPr>
              <a:t>giá</a:t>
            </a:r>
            <a:r>
              <a:rPr lang="en-US" altLang="ko-KR" sz="1400" b="1" dirty="0">
                <a:latin typeface="arial" pitchFamily="34" charset="0"/>
                <a:ea typeface="+mn-ea"/>
              </a:rPr>
              <a:t> </a:t>
            </a:r>
            <a:r>
              <a:rPr lang="en-US" altLang="ko-KR" sz="1400" b="1" dirty="0" err="1">
                <a:latin typeface="arial" pitchFamily="34" charset="0"/>
                <a:ea typeface="+mn-ea"/>
              </a:rPr>
              <a:t>quá</a:t>
            </a:r>
            <a:r>
              <a:rPr lang="en-US" altLang="ko-KR" sz="1400" b="1" dirty="0">
                <a:latin typeface="arial" pitchFamily="34" charset="0"/>
                <a:ea typeface="+mn-ea"/>
              </a:rPr>
              <a:t> </a:t>
            </a:r>
            <a:r>
              <a:rPr lang="en-US" altLang="ko-KR" sz="1400" b="1" dirty="0" err="1">
                <a:latin typeface="arial" pitchFamily="34" charset="0"/>
                <a:ea typeface="+mn-ea"/>
              </a:rPr>
              <a:t>trình</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14. </a:t>
            </a:r>
            <a:r>
              <a:rPr lang="en-US" altLang="ko-KR" sz="1400" b="1" dirty="0" err="1">
                <a:latin typeface="arial" pitchFamily="34" charset="0"/>
                <a:ea typeface="+mn-ea"/>
              </a:rPr>
              <a:t>Đưa</a:t>
            </a:r>
            <a:r>
              <a:rPr lang="en-US" altLang="ko-KR" sz="1400" b="1" dirty="0">
                <a:latin typeface="arial" pitchFamily="34" charset="0"/>
                <a:ea typeface="+mn-ea"/>
              </a:rPr>
              <a:t> </a:t>
            </a:r>
            <a:r>
              <a:rPr lang="en-US" altLang="ko-KR" sz="1400" b="1" dirty="0" err="1">
                <a:latin typeface="arial" pitchFamily="34" charset="0"/>
                <a:ea typeface="+mn-ea"/>
              </a:rPr>
              <a:t>ra</a:t>
            </a:r>
            <a:r>
              <a:rPr lang="en-US" altLang="ko-KR" sz="1400" b="1" dirty="0">
                <a:latin typeface="arial" pitchFamily="34" charset="0"/>
                <a:ea typeface="+mn-ea"/>
              </a:rPr>
              <a:t> </a:t>
            </a:r>
            <a:r>
              <a:rPr lang="en-US" altLang="ko-KR" sz="1400" b="1" dirty="0" err="1">
                <a:latin typeface="arial" pitchFamily="34" charset="0"/>
                <a:ea typeface="+mn-ea"/>
              </a:rPr>
              <a:t>những</a:t>
            </a:r>
            <a:r>
              <a:rPr lang="en-US" altLang="ko-KR" sz="1400" b="1" dirty="0">
                <a:latin typeface="arial" pitchFamily="34" charset="0"/>
                <a:ea typeface="+mn-ea"/>
              </a:rPr>
              <a:t> </a:t>
            </a:r>
            <a:r>
              <a:rPr lang="en-US" altLang="ko-KR" sz="1400" b="1" dirty="0" err="1">
                <a:latin typeface="arial" pitchFamily="34" charset="0"/>
                <a:ea typeface="+mn-ea"/>
              </a:rPr>
              <a:t>biện</a:t>
            </a:r>
            <a:r>
              <a:rPr lang="en-US" altLang="ko-KR" sz="1400" b="1" dirty="0">
                <a:latin typeface="arial" pitchFamily="34" charset="0"/>
                <a:ea typeface="+mn-ea"/>
              </a:rPr>
              <a:t> </a:t>
            </a:r>
            <a:r>
              <a:rPr lang="en-US" altLang="ko-KR" sz="1400" b="1" dirty="0" err="1">
                <a:latin typeface="arial" pitchFamily="34" charset="0"/>
                <a:ea typeface="+mn-ea"/>
              </a:rPr>
              <a:t>pháp</a:t>
            </a:r>
            <a:r>
              <a:rPr lang="en-US" altLang="ko-KR" sz="1400" b="1" dirty="0">
                <a:latin typeface="arial" pitchFamily="34" charset="0"/>
                <a:ea typeface="+mn-ea"/>
              </a:rPr>
              <a:t> </a:t>
            </a:r>
            <a:r>
              <a:rPr lang="en-US" altLang="ko-KR" sz="1400" b="1" dirty="0" err="1">
                <a:latin typeface="arial" pitchFamily="34" charset="0"/>
                <a:ea typeface="+mn-ea"/>
              </a:rPr>
              <a:t>thích</a:t>
            </a:r>
            <a:r>
              <a:rPr lang="en-US" altLang="ko-KR" sz="1400" b="1" dirty="0">
                <a:latin typeface="arial" pitchFamily="34" charset="0"/>
                <a:ea typeface="+mn-ea"/>
              </a:rPr>
              <a:t> </a:t>
            </a:r>
            <a:r>
              <a:rPr lang="en-US" altLang="ko-KR" sz="1400" b="1" dirty="0" err="1">
                <a:latin typeface="arial" pitchFamily="34" charset="0"/>
                <a:ea typeface="+mn-ea"/>
              </a:rPr>
              <a:t>hợp</a:t>
            </a:r>
            <a:r>
              <a:rPr lang="en-US" altLang="ko-KR" sz="1400" b="1" dirty="0">
                <a:latin typeface="arial" pitchFamily="34" charset="0"/>
                <a:ea typeface="+mn-ea"/>
              </a:rPr>
              <a:t> </a:t>
            </a:r>
            <a:r>
              <a:rPr lang="en-US" altLang="ko-KR" sz="1400" b="1" dirty="0" err="1">
                <a:latin typeface="arial" pitchFamily="34" charset="0"/>
                <a:ea typeface="+mn-ea"/>
              </a:rPr>
              <a:t>nếu</a:t>
            </a:r>
            <a:r>
              <a:rPr lang="en-US" altLang="ko-KR" sz="1400" b="1" dirty="0">
                <a:latin typeface="arial" pitchFamily="34" charset="0"/>
                <a:ea typeface="+mn-ea"/>
              </a:rPr>
              <a:t> </a:t>
            </a:r>
            <a:r>
              <a:rPr lang="en-US" altLang="ko-KR" sz="1400" b="1" dirty="0" err="1">
                <a:latin typeface="arial" pitchFamily="34" charset="0"/>
                <a:ea typeface="+mn-ea"/>
              </a:rPr>
              <a:t>quá</a:t>
            </a:r>
            <a:r>
              <a:rPr lang="en-US" altLang="ko-KR" sz="1400" b="1" dirty="0">
                <a:latin typeface="arial" pitchFamily="34" charset="0"/>
                <a:ea typeface="+mn-ea"/>
              </a:rPr>
              <a:t> </a:t>
            </a:r>
            <a:r>
              <a:rPr lang="en-US" altLang="ko-KR" sz="1400" b="1" dirty="0" err="1">
                <a:latin typeface="arial" pitchFamily="34" charset="0"/>
                <a:ea typeface="+mn-ea"/>
              </a:rPr>
              <a:t>trình</a:t>
            </a:r>
            <a:r>
              <a:rPr lang="en-US" altLang="ko-KR" sz="1400" b="1" dirty="0">
                <a:latin typeface="arial" pitchFamily="34" charset="0"/>
                <a:ea typeface="+mn-ea"/>
              </a:rPr>
              <a:t> </a:t>
            </a:r>
            <a:r>
              <a:rPr lang="en-US" altLang="ko-KR" sz="1400" b="1" dirty="0" err="1">
                <a:latin typeface="arial" pitchFamily="34" charset="0"/>
                <a:ea typeface="+mn-ea"/>
              </a:rPr>
              <a:t>đang</a:t>
            </a:r>
            <a:r>
              <a:rPr lang="en-US" altLang="ko-KR" sz="1400" b="1" dirty="0">
                <a:latin typeface="arial" pitchFamily="34" charset="0"/>
                <a:ea typeface="+mn-ea"/>
              </a:rPr>
              <a:t> </a:t>
            </a:r>
            <a:r>
              <a:rPr lang="en-US" altLang="ko-KR" sz="1400" b="1" dirty="0" err="1">
                <a:latin typeface="arial" pitchFamily="34" charset="0"/>
                <a:ea typeface="+mn-ea"/>
              </a:rPr>
              <a:t>đi</a:t>
            </a:r>
            <a:r>
              <a:rPr lang="en-US" altLang="ko-KR" sz="1400" b="1" dirty="0">
                <a:latin typeface="arial" pitchFamily="34" charset="0"/>
                <a:ea typeface="+mn-ea"/>
              </a:rPr>
              <a:t> </a:t>
            </a:r>
            <a:r>
              <a:rPr lang="en-US" altLang="ko-KR" sz="1400" b="1" dirty="0" err="1">
                <a:latin typeface="arial" pitchFamily="34" charset="0"/>
                <a:ea typeface="+mn-ea"/>
              </a:rPr>
              <a:t>chệch</a:t>
            </a:r>
            <a:r>
              <a:rPr lang="en-US" altLang="ko-KR" sz="1400" b="1" dirty="0">
                <a:latin typeface="arial" pitchFamily="34" charset="0"/>
                <a:ea typeface="+mn-ea"/>
              </a:rPr>
              <a:t> </a:t>
            </a:r>
            <a:r>
              <a:rPr lang="en-US" altLang="ko-KR" sz="1400" b="1" dirty="0" err="1">
                <a:latin typeface="arial" pitchFamily="34" charset="0"/>
                <a:ea typeface="+mn-ea"/>
              </a:rPr>
              <a:t>hướng</a:t>
            </a:r>
            <a:r>
              <a:rPr lang="en-US" altLang="ko-KR" sz="1400" b="1" dirty="0">
                <a:latin typeface="arial" pitchFamily="34" charset="0"/>
                <a:ea typeface="+mn-ea"/>
              </a:rPr>
              <a:t> </a:t>
            </a:r>
            <a:r>
              <a:rPr lang="en-US" altLang="ko-KR" sz="1400" b="1" dirty="0" err="1">
                <a:latin typeface="arial" pitchFamily="34" charset="0"/>
                <a:ea typeface="+mn-ea"/>
              </a:rPr>
              <a:t>từ</a:t>
            </a:r>
            <a:r>
              <a:rPr lang="en-US" altLang="ko-KR" sz="1400" b="1" dirty="0">
                <a:latin typeface="arial" pitchFamily="34" charset="0"/>
                <a:ea typeface="+mn-ea"/>
              </a:rPr>
              <a:t> </a:t>
            </a:r>
            <a:r>
              <a:rPr lang="en-US" altLang="ko-KR" sz="1400" b="1" dirty="0" err="1">
                <a:latin typeface="arial" pitchFamily="34" charset="0"/>
                <a:ea typeface="+mn-ea"/>
              </a:rPr>
              <a:t>ranh</a:t>
            </a:r>
            <a:r>
              <a:rPr lang="en-US" altLang="ko-KR" sz="1400" b="1" dirty="0">
                <a:latin typeface="arial" pitchFamily="34" charset="0"/>
                <a:ea typeface="+mn-ea"/>
              </a:rPr>
              <a:t> </a:t>
            </a:r>
            <a:r>
              <a:rPr lang="en-US" altLang="ko-KR" sz="1400" b="1" dirty="0" err="1">
                <a:latin typeface="arial" pitchFamily="34" charset="0"/>
                <a:ea typeface="+mn-ea"/>
              </a:rPr>
              <a:t>giới</a:t>
            </a:r>
            <a:r>
              <a:rPr lang="en-US" altLang="ko-KR" sz="1400" b="1" dirty="0">
                <a:latin typeface="arial" pitchFamily="34" charset="0"/>
                <a:ea typeface="+mn-ea"/>
              </a:rPr>
              <a:t> </a:t>
            </a:r>
            <a:r>
              <a:rPr lang="en-US" altLang="ko-KR" sz="1400" b="1" dirty="0" err="1">
                <a:latin typeface="arial" pitchFamily="34" charset="0"/>
                <a:ea typeface="+mn-ea"/>
              </a:rPr>
              <a:t>kiểm</a:t>
            </a:r>
            <a:r>
              <a:rPr lang="en-US" altLang="ko-KR" sz="1400" b="1" dirty="0">
                <a:latin typeface="arial" pitchFamily="34" charset="0"/>
                <a:ea typeface="+mn-ea"/>
              </a:rPr>
              <a:t> </a:t>
            </a:r>
            <a:r>
              <a:rPr lang="en-US" altLang="ko-KR" sz="1400" b="1" dirty="0" err="1">
                <a:latin typeface="arial" pitchFamily="34" charset="0"/>
                <a:ea typeface="+mn-ea"/>
              </a:rPr>
              <a:t>soát</a:t>
            </a:r>
            <a:r>
              <a:rPr lang="en-US" altLang="ko-KR" sz="1400" b="1" dirty="0">
                <a:latin typeface="arial" pitchFamily="34" charset="0"/>
                <a:ea typeface="+mn-ea"/>
              </a:rPr>
              <a:t>.</a:t>
            </a:r>
          </a:p>
          <a:p>
            <a:pPr algn="just" eaLnBrk="1" latinLnBrk="0" hangingPunct="1">
              <a:lnSpc>
                <a:spcPct val="120000"/>
              </a:lnSpc>
              <a:defRPr/>
            </a:pPr>
            <a:r>
              <a:rPr lang="en-US" altLang="ko-KR" sz="1400" b="1" dirty="0">
                <a:latin typeface="arial" pitchFamily="34" charset="0"/>
                <a:ea typeface="+mn-ea"/>
              </a:rPr>
              <a:t>15. </a:t>
            </a:r>
            <a:r>
              <a:rPr lang="en-US" altLang="ko-KR" sz="1400" b="1" dirty="0" err="1">
                <a:latin typeface="arial" pitchFamily="34" charset="0"/>
                <a:ea typeface="+mn-ea"/>
              </a:rPr>
              <a:t>Khi</a:t>
            </a:r>
            <a:r>
              <a:rPr lang="en-US" altLang="ko-KR" sz="1400" b="1" dirty="0">
                <a:latin typeface="arial" pitchFamily="34" charset="0"/>
                <a:ea typeface="+mn-ea"/>
              </a:rPr>
              <a:t> </a:t>
            </a:r>
            <a:r>
              <a:rPr lang="en-US" altLang="ko-KR" sz="1400" b="1" dirty="0" err="1">
                <a:latin typeface="arial" pitchFamily="34" charset="0"/>
                <a:ea typeface="+mn-ea"/>
              </a:rPr>
              <a:t>cần</a:t>
            </a:r>
            <a:r>
              <a:rPr lang="en-US" altLang="ko-KR" sz="1400" b="1" dirty="0">
                <a:latin typeface="arial" pitchFamily="34" charset="0"/>
                <a:ea typeface="+mn-ea"/>
              </a:rPr>
              <a:t> </a:t>
            </a:r>
            <a:r>
              <a:rPr lang="en-US" altLang="ko-KR" sz="1400" b="1" dirty="0" err="1">
                <a:latin typeface="arial" pitchFamily="34" charset="0"/>
                <a:ea typeface="+mn-ea"/>
              </a:rPr>
              <a:t>thiết</a:t>
            </a:r>
            <a:r>
              <a:rPr lang="en-US" altLang="ko-KR" sz="1400" b="1" dirty="0">
                <a:latin typeface="arial" pitchFamily="34" charset="0"/>
                <a:ea typeface="+mn-ea"/>
              </a:rPr>
              <a:t>, </a:t>
            </a:r>
            <a:r>
              <a:rPr lang="en-US" altLang="ko-KR" sz="1400" b="1" dirty="0" err="1">
                <a:latin typeface="arial" pitchFamily="34" charset="0"/>
                <a:ea typeface="+mn-ea"/>
              </a:rPr>
              <a:t>các</a:t>
            </a:r>
            <a:r>
              <a:rPr lang="en-US" altLang="ko-KR" sz="1400" b="1" dirty="0">
                <a:latin typeface="arial" pitchFamily="34" charset="0"/>
                <a:ea typeface="+mn-ea"/>
              </a:rPr>
              <a:t> </a:t>
            </a:r>
            <a:r>
              <a:rPr lang="en-US" altLang="ko-KR" sz="1400" b="1" dirty="0" err="1">
                <a:latin typeface="arial" pitchFamily="34" charset="0"/>
                <a:ea typeface="+mn-ea"/>
              </a:rPr>
              <a:t>biểu</a:t>
            </a:r>
            <a:r>
              <a:rPr lang="en-US" altLang="ko-KR" sz="1400" b="1" dirty="0">
                <a:latin typeface="arial" pitchFamily="34" charset="0"/>
                <a:ea typeface="+mn-ea"/>
              </a:rPr>
              <a:t> </a:t>
            </a:r>
            <a:r>
              <a:rPr lang="en-US" altLang="ko-KR" sz="1400" b="1" dirty="0" err="1">
                <a:latin typeface="arial" pitchFamily="34" charset="0"/>
                <a:ea typeface="+mn-ea"/>
              </a:rPr>
              <a:t>đồ</a:t>
            </a:r>
            <a:r>
              <a:rPr lang="en-US" altLang="ko-KR" sz="1400" b="1" dirty="0">
                <a:latin typeface="arial" pitchFamily="34" charset="0"/>
                <a:ea typeface="+mn-ea"/>
              </a:rPr>
              <a:t> </a:t>
            </a:r>
            <a:r>
              <a:rPr lang="en-US" altLang="ko-KR" sz="1400" b="1" dirty="0" err="1">
                <a:latin typeface="arial" pitchFamily="34" charset="0"/>
                <a:ea typeface="+mn-ea"/>
              </a:rPr>
              <a:t>kiểm</a:t>
            </a:r>
            <a:r>
              <a:rPr lang="en-US" altLang="ko-KR" sz="1400" b="1" dirty="0">
                <a:latin typeface="arial" pitchFamily="34" charset="0"/>
                <a:ea typeface="+mn-ea"/>
              </a:rPr>
              <a:t> </a:t>
            </a:r>
            <a:r>
              <a:rPr lang="en-US" altLang="ko-KR" sz="1400" b="1" dirty="0" err="1">
                <a:latin typeface="arial" pitchFamily="34" charset="0"/>
                <a:ea typeface="+mn-ea"/>
              </a:rPr>
              <a:t>soát</a:t>
            </a:r>
            <a:r>
              <a:rPr lang="en-US" altLang="ko-KR" sz="1400" b="1" dirty="0">
                <a:latin typeface="arial" pitchFamily="34" charset="0"/>
                <a:ea typeface="+mn-ea"/>
              </a:rPr>
              <a:t> </a:t>
            </a:r>
            <a:r>
              <a:rPr lang="en-US" altLang="ko-KR" sz="1400" b="1" dirty="0" err="1">
                <a:latin typeface="arial" pitchFamily="34" charset="0"/>
                <a:ea typeface="+mn-ea"/>
              </a:rPr>
              <a:t>có</a:t>
            </a:r>
            <a:r>
              <a:rPr lang="en-US" altLang="ko-KR" sz="1400" b="1" dirty="0">
                <a:latin typeface="arial" pitchFamily="34" charset="0"/>
                <a:ea typeface="+mn-ea"/>
              </a:rPr>
              <a:t> </a:t>
            </a:r>
            <a:r>
              <a:rPr lang="en-US" altLang="ko-KR" sz="1400" b="1" dirty="0" err="1">
                <a:latin typeface="arial" pitchFamily="34" charset="0"/>
                <a:ea typeface="+mn-ea"/>
              </a:rPr>
              <a:t>thể</a:t>
            </a:r>
            <a:r>
              <a:rPr lang="en-US" altLang="ko-KR" sz="1400" b="1" dirty="0">
                <a:latin typeface="arial" pitchFamily="34" charset="0"/>
                <a:ea typeface="+mn-ea"/>
              </a:rPr>
              <a:t> </a:t>
            </a:r>
            <a:r>
              <a:rPr lang="en-US" altLang="ko-KR" sz="1400" b="1" dirty="0" err="1">
                <a:latin typeface="arial" pitchFamily="34" charset="0"/>
                <a:ea typeface="+mn-ea"/>
              </a:rPr>
              <a:t>được</a:t>
            </a:r>
            <a:r>
              <a:rPr lang="en-US" altLang="ko-KR" sz="1400" b="1" dirty="0">
                <a:latin typeface="arial" pitchFamily="34" charset="0"/>
                <a:ea typeface="+mn-ea"/>
              </a:rPr>
              <a:t> </a:t>
            </a:r>
            <a:r>
              <a:rPr lang="en-US" altLang="ko-KR" sz="1400" b="1" dirty="0" err="1">
                <a:latin typeface="arial" pitchFamily="34" charset="0"/>
                <a:ea typeface="+mn-ea"/>
              </a:rPr>
              <a:t>sửa</a:t>
            </a:r>
            <a:r>
              <a:rPr lang="en-US" altLang="ko-KR" sz="1400" b="1" dirty="0">
                <a:latin typeface="arial" pitchFamily="34" charset="0"/>
                <a:ea typeface="+mn-ea"/>
              </a:rPr>
              <a:t> </a:t>
            </a:r>
            <a:r>
              <a:rPr lang="en-US" altLang="ko-KR" sz="1400" b="1" dirty="0" err="1">
                <a:latin typeface="arial" pitchFamily="34" charset="0"/>
                <a:ea typeface="+mn-ea"/>
              </a:rPr>
              <a:t>chữa</a:t>
            </a:r>
            <a:r>
              <a:rPr lang="en-US" altLang="ko-KR" sz="1400" b="1" dirty="0">
                <a:latin typeface="arial" pitchFamily="34" charset="0"/>
                <a:ea typeface="+mn-ea"/>
              </a:rPr>
              <a:t>.</a:t>
            </a:r>
          </a:p>
        </p:txBody>
      </p:sp>
      <p:sp>
        <p:nvSpPr>
          <p:cNvPr id="7" name="아래쪽 화살표 6"/>
          <p:cNvSpPr/>
          <p:nvPr/>
        </p:nvSpPr>
        <p:spPr>
          <a:xfrm>
            <a:off x="2132459" y="1341090"/>
            <a:ext cx="647700" cy="252095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8" name="아래쪽 화살표 7"/>
          <p:cNvSpPr/>
          <p:nvPr/>
        </p:nvSpPr>
        <p:spPr>
          <a:xfrm>
            <a:off x="2132459" y="4222402"/>
            <a:ext cx="647700" cy="136683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9463" name="TextBox 8"/>
          <p:cNvSpPr txBox="1">
            <a:spLocks noChangeArrowheads="1"/>
          </p:cNvSpPr>
          <p:nvPr/>
        </p:nvSpPr>
        <p:spPr bwMode="auto">
          <a:xfrm>
            <a:off x="488504" y="1989509"/>
            <a:ext cx="1643955" cy="93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algn="ctr" eaLnBrk="1" hangingPunct="1">
              <a:lnSpc>
                <a:spcPct val="130000"/>
              </a:lnSpc>
              <a:buClr>
                <a:srgbClr val="C5003D"/>
              </a:buClr>
              <a:defRPr/>
            </a:pPr>
            <a:r>
              <a:rPr lang="en-US" altLang="ko-KR" sz="1400" b="1" dirty="0" err="1">
                <a:latin typeface="arial" pitchFamily="34" charset="0"/>
                <a:ea typeface="+mn-ea"/>
              </a:rPr>
              <a:t>Biểu</a:t>
            </a:r>
            <a:r>
              <a:rPr lang="en-US" altLang="ko-KR" sz="1400" b="1" dirty="0">
                <a:latin typeface="arial" pitchFamily="34" charset="0"/>
                <a:ea typeface="+mn-ea"/>
              </a:rPr>
              <a:t> </a:t>
            </a:r>
            <a:r>
              <a:rPr lang="en-US" altLang="ko-KR" sz="1400" b="1" dirty="0" err="1">
                <a:latin typeface="arial" pitchFamily="34" charset="0"/>
                <a:ea typeface="+mn-ea"/>
              </a:rPr>
              <a:t>đồ</a:t>
            </a:r>
            <a:r>
              <a:rPr lang="en-US" altLang="ko-KR" sz="1400" b="1" dirty="0">
                <a:latin typeface="arial" pitchFamily="34" charset="0"/>
                <a:ea typeface="+mn-ea"/>
              </a:rPr>
              <a:t> </a:t>
            </a:r>
            <a:r>
              <a:rPr lang="en-US" altLang="ko-KR" sz="1400" b="1" dirty="0" err="1">
                <a:latin typeface="arial" pitchFamily="34" charset="0"/>
                <a:ea typeface="+mn-ea"/>
              </a:rPr>
              <a:t>kiểm</a:t>
            </a:r>
            <a:r>
              <a:rPr lang="en-US" altLang="ko-KR" sz="1400" b="1" dirty="0">
                <a:latin typeface="arial" pitchFamily="34" charset="0"/>
                <a:ea typeface="+mn-ea"/>
              </a:rPr>
              <a:t> </a:t>
            </a:r>
            <a:r>
              <a:rPr lang="en-US" altLang="ko-KR" sz="1400" b="1" dirty="0" err="1">
                <a:latin typeface="arial" pitchFamily="34" charset="0"/>
                <a:ea typeface="+mn-ea"/>
              </a:rPr>
              <a:t>soát</a:t>
            </a:r>
            <a:r>
              <a:rPr lang="en-US" altLang="ko-KR" sz="1400" b="1" dirty="0">
                <a:latin typeface="arial" pitchFamily="34" charset="0"/>
                <a:ea typeface="+mn-ea"/>
              </a:rPr>
              <a:t> </a:t>
            </a:r>
            <a:r>
              <a:rPr lang="en-US" altLang="ko-KR" sz="1400" b="1" dirty="0" err="1">
                <a:latin typeface="arial" pitchFamily="34" charset="0"/>
                <a:ea typeface="+mn-ea"/>
              </a:rPr>
              <a:t>cho</a:t>
            </a:r>
            <a:br>
              <a:rPr lang="en-US" altLang="ko-KR" sz="1400" b="1" dirty="0">
                <a:latin typeface="arial" pitchFamily="34" charset="0"/>
                <a:ea typeface="+mn-ea"/>
              </a:rPr>
            </a:br>
            <a:r>
              <a:rPr lang="en-US" altLang="ko-KR" sz="1400" b="1" dirty="0" err="1">
                <a:latin typeface="arial" pitchFamily="34" charset="0"/>
                <a:ea typeface="+mn-ea"/>
              </a:rPr>
              <a:t>Diễn</a:t>
            </a:r>
            <a:r>
              <a:rPr lang="en-US" altLang="ko-KR" sz="1400" b="1" dirty="0">
                <a:latin typeface="arial" pitchFamily="34" charset="0"/>
                <a:ea typeface="+mn-ea"/>
              </a:rPr>
              <a:t> </a:t>
            </a:r>
            <a:r>
              <a:rPr lang="en-US" altLang="ko-KR" sz="1400" b="1" dirty="0" err="1">
                <a:latin typeface="arial" pitchFamily="34" charset="0"/>
                <a:ea typeface="+mn-ea"/>
              </a:rPr>
              <a:t>giải</a:t>
            </a:r>
            <a:endParaRPr lang="ko-KR" altLang="en-US" sz="1400" b="1" dirty="0">
              <a:latin typeface="arial" pitchFamily="34" charset="0"/>
              <a:ea typeface="+mn-ea"/>
            </a:endParaRPr>
          </a:p>
        </p:txBody>
      </p:sp>
      <p:sp>
        <p:nvSpPr>
          <p:cNvPr id="19464" name="TextBox 9"/>
          <p:cNvSpPr txBox="1">
            <a:spLocks noChangeArrowheads="1"/>
          </p:cNvSpPr>
          <p:nvPr/>
        </p:nvSpPr>
        <p:spPr bwMode="auto">
          <a:xfrm>
            <a:off x="492684" y="4221534"/>
            <a:ext cx="1612151" cy="93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66700" indent="-2667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0" indent="0" algn="ctr" eaLnBrk="1" hangingPunct="1">
              <a:lnSpc>
                <a:spcPct val="130000"/>
              </a:lnSpc>
              <a:buClr>
                <a:srgbClr val="C5003D"/>
              </a:buClr>
              <a:defRPr/>
            </a:pPr>
            <a:r>
              <a:rPr lang="en-US" altLang="ko-KR" sz="1400" b="1" dirty="0" err="1">
                <a:latin typeface="arial" pitchFamily="34" charset="0"/>
                <a:ea typeface="+mn-ea"/>
              </a:rPr>
              <a:t>Biểu</a:t>
            </a:r>
            <a:r>
              <a:rPr lang="en-US" altLang="ko-KR" sz="1400" b="1" dirty="0">
                <a:latin typeface="arial" pitchFamily="34" charset="0"/>
                <a:ea typeface="+mn-ea"/>
              </a:rPr>
              <a:t> </a:t>
            </a:r>
            <a:r>
              <a:rPr lang="en-US" altLang="ko-KR" sz="1400" b="1" dirty="0" err="1">
                <a:latin typeface="arial" pitchFamily="34" charset="0"/>
                <a:ea typeface="+mn-ea"/>
              </a:rPr>
              <a:t>đồ</a:t>
            </a:r>
            <a:r>
              <a:rPr lang="en-US" altLang="ko-KR" sz="1400" b="1" dirty="0">
                <a:latin typeface="arial" pitchFamily="34" charset="0"/>
                <a:ea typeface="+mn-ea"/>
              </a:rPr>
              <a:t> </a:t>
            </a:r>
            <a:r>
              <a:rPr lang="en-US" altLang="ko-KR" sz="1400" b="1" dirty="0" err="1">
                <a:latin typeface="arial" pitchFamily="34" charset="0"/>
                <a:ea typeface="+mn-ea"/>
              </a:rPr>
              <a:t>kiểm</a:t>
            </a:r>
            <a:r>
              <a:rPr lang="en-US" altLang="ko-KR" sz="1400" b="1" dirty="0">
                <a:latin typeface="arial" pitchFamily="34" charset="0"/>
                <a:ea typeface="+mn-ea"/>
              </a:rPr>
              <a:t> </a:t>
            </a:r>
            <a:r>
              <a:rPr lang="en-US" altLang="ko-KR" sz="1400" b="1" dirty="0" err="1">
                <a:latin typeface="arial" pitchFamily="34" charset="0"/>
                <a:ea typeface="+mn-ea"/>
              </a:rPr>
              <a:t>soát</a:t>
            </a:r>
            <a:r>
              <a:rPr lang="en-US" altLang="ko-KR" sz="1400" b="1" dirty="0">
                <a:latin typeface="arial" pitchFamily="34" charset="0"/>
                <a:ea typeface="+mn-ea"/>
              </a:rPr>
              <a:t> </a:t>
            </a:r>
            <a:r>
              <a:rPr lang="en-US" altLang="ko-KR" sz="1400" b="1" dirty="0" err="1">
                <a:latin typeface="arial" pitchFamily="34" charset="0"/>
                <a:ea typeface="+mn-ea"/>
              </a:rPr>
              <a:t>cho</a:t>
            </a:r>
            <a:br>
              <a:rPr lang="en-US" altLang="ko-KR" sz="1400" b="1" dirty="0">
                <a:latin typeface="arial" pitchFamily="34" charset="0"/>
                <a:ea typeface="+mn-ea"/>
              </a:rPr>
            </a:br>
            <a:r>
              <a:rPr lang="en-US" altLang="ko-KR" sz="1400" b="1" dirty="0" err="1">
                <a:latin typeface="arial" pitchFamily="34" charset="0"/>
                <a:ea typeface="+mn-ea"/>
              </a:rPr>
              <a:t>Quản</a:t>
            </a:r>
            <a:r>
              <a:rPr lang="en-US" altLang="ko-KR" sz="1400" b="1" dirty="0">
                <a:latin typeface="arial" pitchFamily="34" charset="0"/>
                <a:ea typeface="+mn-ea"/>
              </a:rPr>
              <a:t> </a:t>
            </a:r>
            <a:r>
              <a:rPr lang="en-US" altLang="ko-KR" sz="1400" b="1" dirty="0" err="1">
                <a:latin typeface="arial" pitchFamily="34" charset="0"/>
                <a:ea typeface="+mn-ea"/>
              </a:rPr>
              <a:t>lý</a:t>
            </a:r>
            <a:endParaRPr lang="ko-KR" altLang="en-US" sz="1400" b="1" dirty="0">
              <a:latin typeface="arial" pitchFamily="34" charset="0"/>
              <a:ea typeface="+mn-ea"/>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259</a:t>
            </a:fld>
            <a:endParaRPr lang="ko-KR" altLang="en-US" dirty="0"/>
          </a:p>
        </p:txBody>
      </p:sp>
    </p:spTree>
    <p:extLst>
      <p:ext uri="{BB962C8B-B14F-4D97-AF65-F5344CB8AC3E}">
        <p14:creationId xmlns:p14="http://schemas.microsoft.com/office/powerpoint/2010/main" val="1392608804"/>
      </p:ext>
    </p:extLst>
  </p:cSld>
  <p:clrMapOvr>
    <a:masterClrMapping/>
  </p:clrMapOvr>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Rectangle 13"/>
          <p:cNvSpPr>
            <a:spLocks noChangeArrowheads="1"/>
          </p:cNvSpPr>
          <p:nvPr/>
        </p:nvSpPr>
        <p:spPr bwMode="auto">
          <a:xfrm>
            <a:off x="344488" y="1931988"/>
            <a:ext cx="3887787" cy="3540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latinLnBrk="0" hangingPunct="1">
              <a:defRPr/>
            </a:pPr>
            <a:r>
              <a:rPr lang="en-US" altLang="ko-KR" sz="1400" b="1" dirty="0">
                <a:latin typeface="Arial" pitchFamily="34" charset="0"/>
                <a:ea typeface="+mn-ea"/>
                <a:cs typeface="Arial" pitchFamily="34" charset="0"/>
              </a:rPr>
              <a:t>3. </a:t>
            </a:r>
            <a:r>
              <a:rPr lang="en-US" altLang="ko-KR" sz="1400" b="1" dirty="0" err="1">
                <a:latin typeface="Arial" pitchFamily="34" charset="0"/>
                <a:ea typeface="+mn-ea"/>
                <a:cs typeface="Arial" pitchFamily="34" charset="0"/>
              </a:rPr>
              <a:t>Thiết</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lập</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kế</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hoạch</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lấy</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mẫu</a:t>
            </a:r>
            <a:endParaRPr lang="en-US" altLang="ko-KR" sz="1400" b="1" dirty="0">
              <a:latin typeface="Arial" pitchFamily="34" charset="0"/>
              <a:ea typeface="+mn-ea"/>
              <a:cs typeface="Arial" pitchFamily="34" charset="0"/>
            </a:endParaRPr>
          </a:p>
          <a:p>
            <a:pPr eaLnBrk="1" latinLnBrk="0" hangingPunct="1">
              <a:defRPr/>
            </a:pP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số</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lượng</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nhóm</a:t>
            </a:r>
            <a:r>
              <a:rPr lang="en-US" altLang="ko-KR" sz="1400" b="1" dirty="0">
                <a:latin typeface="Arial" pitchFamily="34" charset="0"/>
                <a:ea typeface="+mn-ea"/>
                <a:cs typeface="Arial" pitchFamily="34" charset="0"/>
              </a:rPr>
              <a:t> (subgroup)</a:t>
            </a: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r>
              <a:rPr lang="en-US" altLang="ko-KR" sz="1400" b="1" dirty="0">
                <a:latin typeface="Arial" pitchFamily="34" charset="0"/>
                <a:ea typeface="+mn-ea"/>
                <a:cs typeface="Arial" pitchFamily="34" charset="0"/>
              </a:rPr>
              <a:t>4. </a:t>
            </a:r>
            <a:r>
              <a:rPr lang="en-US" altLang="ko-KR" sz="1400" b="1" dirty="0" err="1">
                <a:latin typeface="Arial" pitchFamily="34" charset="0"/>
                <a:ea typeface="+mn-ea"/>
                <a:cs typeface="Arial" pitchFamily="34" charset="0"/>
              </a:rPr>
              <a:t>Xác</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định</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cỡ</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mẫu</a:t>
            </a: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r>
              <a:rPr lang="en-US" altLang="ko-KR" sz="1400" b="1" dirty="0">
                <a:latin typeface="Arial" pitchFamily="34" charset="0"/>
                <a:ea typeface="+mn-ea"/>
                <a:cs typeface="Arial" pitchFamily="34" charset="0"/>
              </a:rPr>
              <a:t>5. </a:t>
            </a:r>
            <a:r>
              <a:rPr lang="en-US" altLang="ko-KR" sz="1400" b="1" dirty="0" err="1">
                <a:latin typeface="Arial" pitchFamily="34" charset="0"/>
                <a:ea typeface="+mn-ea"/>
                <a:cs typeface="Arial" pitchFamily="34" charset="0"/>
              </a:rPr>
              <a:t>Xác</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định</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khoảng</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thời</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gian</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lấy</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mẫu</a:t>
            </a: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endParaRPr lang="en-US" altLang="ko-KR" sz="1400" b="1" dirty="0">
              <a:latin typeface="Arial" pitchFamily="34" charset="0"/>
              <a:ea typeface="+mn-ea"/>
              <a:cs typeface="Arial" pitchFamily="34" charset="0"/>
            </a:endParaRPr>
          </a:p>
          <a:p>
            <a:pPr eaLnBrk="1" latinLnBrk="0" hangingPunct="1">
              <a:defRPr/>
            </a:pPr>
            <a:r>
              <a:rPr lang="en-US" altLang="ko-KR" sz="1400" b="1" dirty="0">
                <a:latin typeface="Arial" pitchFamily="34" charset="0"/>
                <a:ea typeface="+mn-ea"/>
                <a:cs typeface="Arial" pitchFamily="34" charset="0"/>
              </a:rPr>
              <a:t>6. </a:t>
            </a:r>
            <a:r>
              <a:rPr lang="en-US" altLang="ko-KR" sz="1400" b="1" dirty="0" err="1">
                <a:latin typeface="Arial" pitchFamily="34" charset="0"/>
                <a:ea typeface="+mn-ea"/>
                <a:cs typeface="Arial" pitchFamily="34" charset="0"/>
              </a:rPr>
              <a:t>Chọn</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thời</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điểm</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lấy</a:t>
            </a:r>
            <a:r>
              <a:rPr lang="en-US" altLang="ko-KR" sz="1400" b="1" dirty="0">
                <a:latin typeface="Arial" pitchFamily="34" charset="0"/>
                <a:ea typeface="+mn-ea"/>
                <a:cs typeface="Arial" pitchFamily="34" charset="0"/>
              </a:rPr>
              <a:t> </a:t>
            </a:r>
            <a:r>
              <a:rPr lang="en-US" altLang="ko-KR" sz="1400" b="1" dirty="0" err="1">
                <a:latin typeface="Arial" pitchFamily="34" charset="0"/>
                <a:ea typeface="+mn-ea"/>
                <a:cs typeface="Arial" pitchFamily="34" charset="0"/>
              </a:rPr>
              <a:t>mẫu</a:t>
            </a:r>
            <a:endParaRPr lang="en-US" altLang="ko-KR" sz="1400" b="1" dirty="0">
              <a:latin typeface="Arial" pitchFamily="34" charset="0"/>
              <a:ea typeface="+mn-ea"/>
              <a:cs typeface="Arial" pitchFamily="34" charset="0"/>
            </a:endParaRPr>
          </a:p>
        </p:txBody>
      </p:sp>
      <p:sp>
        <p:nvSpPr>
          <p:cNvPr id="10" name="직사각형 1"/>
          <p:cNvSpPr>
            <a:spLocks noChangeArrowheads="1"/>
          </p:cNvSpPr>
          <p:nvPr/>
        </p:nvSpPr>
        <p:spPr bwMode="auto">
          <a:xfrm>
            <a:off x="4259908" y="2940050"/>
            <a:ext cx="53578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err="1">
                <a:latin typeface="Arial" pitchFamily="34" charset="0"/>
                <a:ea typeface="+mn-ea"/>
                <a:cs typeface="Arial" pitchFamily="34" charset="0"/>
              </a:rPr>
              <a:t>Xbar</a:t>
            </a:r>
            <a:r>
              <a:rPr lang="en-US" altLang="ko-KR" sz="1400" dirty="0">
                <a:latin typeface="Arial" pitchFamily="34" charset="0"/>
                <a:ea typeface="+mn-ea"/>
                <a:cs typeface="Arial" pitchFamily="34" charset="0"/>
              </a:rPr>
              <a:t>-R Control Chart</a:t>
            </a:r>
            <a:r>
              <a:rPr lang="ko-KR" altLang="en-US" sz="1400" dirty="0">
                <a:latin typeface="Arial" pitchFamily="34" charset="0"/>
                <a:ea typeface="+mn-ea"/>
                <a:cs typeface="Arial" pitchFamily="34" charset="0"/>
              </a:rPr>
              <a:t> </a:t>
            </a:r>
            <a:r>
              <a:rPr lang="en-US" altLang="ko-KR" sz="1400" dirty="0">
                <a:latin typeface="Arial" pitchFamily="34" charset="0"/>
                <a:ea typeface="+mn-ea"/>
                <a:cs typeface="Arial" pitchFamily="34" charset="0"/>
              </a:rPr>
              <a:t>: n=4~5</a:t>
            </a:r>
          </a:p>
          <a:p>
            <a:pPr eaLnBrk="1" hangingPunct="1">
              <a:defRPr/>
            </a:pPr>
            <a:r>
              <a:rPr lang="en-US" altLang="ko-KR" sz="1400" dirty="0">
                <a:latin typeface="Arial" pitchFamily="34" charset="0"/>
                <a:ea typeface="+mn-ea"/>
                <a:cs typeface="Arial" pitchFamily="34" charset="0"/>
              </a:rPr>
              <a:t>I-MR Control Chart</a:t>
            </a:r>
            <a:r>
              <a:rPr lang="ko-KR" altLang="en-US" sz="1400" dirty="0">
                <a:latin typeface="Arial" pitchFamily="34" charset="0"/>
                <a:ea typeface="+mn-ea"/>
                <a:cs typeface="Arial" pitchFamily="34" charset="0"/>
              </a:rPr>
              <a:t> </a:t>
            </a:r>
            <a:r>
              <a:rPr lang="en-US" altLang="ko-KR" sz="1400" dirty="0">
                <a:latin typeface="Arial" pitchFamily="34" charset="0"/>
                <a:ea typeface="+mn-ea"/>
                <a:cs typeface="Arial" pitchFamily="34" charset="0"/>
              </a:rPr>
              <a:t>: n=1</a:t>
            </a:r>
          </a:p>
          <a:p>
            <a:pPr eaLnBrk="1" hangingPunct="1">
              <a:defRPr/>
            </a:pPr>
            <a:r>
              <a:rPr lang="en-US" altLang="ko-KR" sz="1400" dirty="0">
                <a:latin typeface="Arial" pitchFamily="34" charset="0"/>
                <a:ea typeface="+mn-ea"/>
                <a:cs typeface="Arial" pitchFamily="34" charset="0"/>
              </a:rPr>
              <a:t>P Control Chart</a:t>
            </a:r>
            <a:r>
              <a:rPr lang="ko-KR" altLang="en-US" sz="1400" dirty="0">
                <a:latin typeface="Arial" pitchFamily="34" charset="0"/>
                <a:ea typeface="+mn-ea"/>
                <a:cs typeface="Arial" pitchFamily="34" charset="0"/>
              </a:rPr>
              <a:t> </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cần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đủ</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lớn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để</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có</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tối</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thiểu</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từ</a:t>
            </a:r>
            <a:r>
              <a:rPr lang="en-US" altLang="ko-KR" sz="1400" dirty="0">
                <a:latin typeface="Arial" pitchFamily="34" charset="0"/>
                <a:ea typeface="+mn-ea"/>
                <a:cs typeface="Arial" pitchFamily="34" charset="0"/>
              </a:rPr>
              <a:t> 1~5 </a:t>
            </a:r>
            <a:r>
              <a:rPr lang="en-US" altLang="ko-KR" sz="1400" dirty="0" err="1">
                <a:latin typeface="Arial" pitchFamily="34" charset="0"/>
                <a:ea typeface="+mn-ea"/>
                <a:cs typeface="Arial" pitchFamily="34" charset="0"/>
              </a:rPr>
              <a:t>lỗi</a:t>
            </a:r>
            <a:endParaRPr lang="ko-KR" altLang="en-US" sz="1400" dirty="0">
              <a:latin typeface="Arial" pitchFamily="34" charset="0"/>
              <a:ea typeface="+mn-ea"/>
              <a:cs typeface="Arial" pitchFamily="34" charset="0"/>
            </a:endParaRPr>
          </a:p>
        </p:txBody>
      </p:sp>
      <p:sp>
        <p:nvSpPr>
          <p:cNvPr id="18" name="직사각형 1"/>
          <p:cNvSpPr>
            <a:spLocks noChangeArrowheads="1"/>
          </p:cNvSpPr>
          <p:nvPr/>
        </p:nvSpPr>
        <p:spPr bwMode="auto">
          <a:xfrm>
            <a:off x="4259908" y="1931988"/>
            <a:ext cx="4953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err="1">
                <a:latin typeface="Arial" pitchFamily="34" charset="0"/>
                <a:ea typeface="+mn-ea"/>
                <a:cs typeface="Arial" pitchFamily="34" charset="0"/>
              </a:rPr>
              <a:t>Số</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lượng</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các</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nhóm</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cần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đủ</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lớn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để</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đại</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diện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cho</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năng</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lực</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quá</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trình</a:t>
            </a:r>
            <a:r>
              <a:rPr lang="en-US" altLang="ko-KR" sz="1400" dirty="0">
                <a:latin typeface="Arial" pitchFamily="34" charset="0"/>
                <a:ea typeface="+mn-ea"/>
                <a:cs typeface="Arial" pitchFamily="34" charset="0"/>
              </a:rPr>
              <a:t>.</a:t>
            </a:r>
            <a:r>
              <a:rPr lang="en-US" altLang="ko-KR" sz="1400" dirty="0">
                <a:latin typeface="Arial" pitchFamily="34" charset="0"/>
                <a:cs typeface="Arial" pitchFamily="34" charset="0"/>
              </a:rPr>
              <a:t> (g=20~30ea)</a:t>
            </a:r>
            <a:endParaRPr lang="ko-KR" altLang="en-US" sz="1400" dirty="0">
              <a:latin typeface="Arial" pitchFamily="34" charset="0"/>
              <a:ea typeface="+mn-ea"/>
              <a:cs typeface="Arial" pitchFamily="34" charset="0"/>
            </a:endParaRPr>
          </a:p>
        </p:txBody>
      </p:sp>
      <p:sp>
        <p:nvSpPr>
          <p:cNvPr id="20" name="직사각형 1"/>
          <p:cNvSpPr>
            <a:spLocks noChangeArrowheads="1"/>
          </p:cNvSpPr>
          <p:nvPr/>
        </p:nvSpPr>
        <p:spPr bwMode="auto">
          <a:xfrm>
            <a:off x="4232920" y="5210175"/>
            <a:ext cx="495300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400" dirty="0" err="1">
                <a:latin typeface="Arial" pitchFamily="34" charset="0"/>
                <a:ea typeface="+mn-ea"/>
                <a:cs typeface="Arial" pitchFamily="34" charset="0"/>
              </a:rPr>
              <a:t>Việc</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lấy</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mẫu</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cần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được</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thực</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hiện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thường</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xuyên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tại</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những</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thời</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điểm</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khi</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việc</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thu</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thập</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dữ</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liệu</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là</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thuận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tiện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sau</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thời</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gian</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nghỉ</a:t>
            </a:r>
            <a:r>
              <a:rPr lang="en-US" altLang="ko-KR" sz="1400" dirty="0">
                <a:latin typeface="Arial" pitchFamily="34" charset="0"/>
                <a:ea typeface="+mn-ea"/>
                <a:cs typeface="Arial" pitchFamily="34" charset="0"/>
              </a:rPr>
              <a:t>, 2 </a:t>
            </a:r>
            <a:r>
              <a:rPr lang="en-US" altLang="ko-KR" sz="1400" dirty="0" err="1">
                <a:latin typeface="Arial" pitchFamily="34" charset="0"/>
                <a:ea typeface="+mn-ea"/>
                <a:cs typeface="Arial" pitchFamily="34" charset="0"/>
              </a:rPr>
              <a:t>giờ</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mỗi</a:t>
            </a:r>
            <a:r>
              <a:rPr lang="en-US" altLang="ko-KR" sz="1400" dirty="0">
                <a:latin typeface="Arial" pitchFamily="34" charset="0"/>
                <a:ea typeface="+mn-ea"/>
                <a:cs typeface="Arial" pitchFamily="34" charset="0"/>
              </a:rPr>
              <a:t> </a:t>
            </a:r>
            <a:r>
              <a:rPr lang="en-US" altLang="ko-KR" sz="1400" dirty="0" err="1">
                <a:latin typeface="Arial" pitchFamily="34" charset="0"/>
                <a:ea typeface="+mn-ea"/>
                <a:cs typeface="Arial" pitchFamily="34" charset="0"/>
              </a:rPr>
              <a:t>lần</a:t>
            </a:r>
            <a:r>
              <a:rPr lang="en-US" altLang="ko-KR" sz="1400" dirty="0">
                <a:latin typeface="Arial" pitchFamily="34" charset="0"/>
                <a:ea typeface="+mn-ea"/>
                <a:cs typeface="Arial" pitchFamily="34" charset="0"/>
              </a:rPr>
              <a:t>)</a:t>
            </a:r>
            <a:endParaRPr lang="ko-KR" altLang="en-US" sz="1400" dirty="0">
              <a:latin typeface="Arial" pitchFamily="34" charset="0"/>
              <a:ea typeface="+mn-ea"/>
              <a:cs typeface="Arial" pitchFamily="34" charset="0"/>
            </a:endParaRPr>
          </a:p>
        </p:txBody>
      </p:sp>
      <p:sp>
        <p:nvSpPr>
          <p:cNvPr id="3" name="직사각형 2"/>
          <p:cNvSpPr/>
          <p:nvPr/>
        </p:nvSpPr>
        <p:spPr>
          <a:xfrm>
            <a:off x="4271020" y="4019550"/>
            <a:ext cx="4953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defRPr/>
            </a:pPr>
            <a:r>
              <a:rPr lang="en-US" altLang="ko-KR" sz="1400" dirty="0" err="1">
                <a:solidFill>
                  <a:prstClr val="black"/>
                </a:solidFill>
                <a:latin typeface="Arial" pitchFamily="34" charset="0"/>
                <a:ea typeface="+mn-ea"/>
                <a:cs typeface="Arial" pitchFamily="34" charset="0"/>
              </a:rPr>
              <a:t>Lựa</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chọn</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khoảng</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thời</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gian</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lấy</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mẫu</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để</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sự</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thay</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đổi</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của</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quá</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trình</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được</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thể</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hiện</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theo</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dòng</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thời</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gian</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Đối</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với</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các</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quá</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trình</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sản</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xuất</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nói</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chung</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khoảng</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thời</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gian</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này</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thường</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kéo</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dài</a:t>
            </a:r>
            <a:r>
              <a:rPr lang="en-US" altLang="ko-KR" sz="1400" dirty="0">
                <a:solidFill>
                  <a:prstClr val="black"/>
                </a:solidFill>
                <a:latin typeface="Arial" pitchFamily="34" charset="0"/>
                <a:ea typeface="+mn-ea"/>
                <a:cs typeface="Arial" pitchFamily="34" charset="0"/>
              </a:rPr>
              <a:t> </a:t>
            </a:r>
            <a:r>
              <a:rPr lang="en-US" altLang="ko-KR" sz="1400" dirty="0" err="1">
                <a:solidFill>
                  <a:prstClr val="black"/>
                </a:solidFill>
                <a:latin typeface="Arial" pitchFamily="34" charset="0"/>
                <a:ea typeface="+mn-ea"/>
                <a:cs typeface="Arial" pitchFamily="34" charset="0"/>
              </a:rPr>
              <a:t>khoảng</a:t>
            </a:r>
            <a:r>
              <a:rPr lang="en-US" altLang="ko-KR" sz="1400" dirty="0">
                <a:solidFill>
                  <a:prstClr val="black"/>
                </a:solidFill>
                <a:latin typeface="Arial" pitchFamily="34" charset="0"/>
                <a:ea typeface="+mn-ea"/>
                <a:cs typeface="Arial" pitchFamily="34" charset="0"/>
              </a:rPr>
              <a:t> 1 </a:t>
            </a:r>
            <a:r>
              <a:rPr lang="en-US" altLang="ko-KR" sz="1400" dirty="0" err="1">
                <a:solidFill>
                  <a:prstClr val="black"/>
                </a:solidFill>
                <a:latin typeface="Arial" pitchFamily="34" charset="0"/>
                <a:ea typeface="+mn-ea"/>
                <a:cs typeface="Arial" pitchFamily="34" charset="0"/>
              </a:rPr>
              <a:t>tháng</a:t>
            </a:r>
            <a:r>
              <a:rPr lang="en-US" altLang="ko-KR" sz="1400" dirty="0">
                <a:solidFill>
                  <a:prstClr val="black"/>
                </a:solidFill>
                <a:latin typeface="Arial" pitchFamily="34" charset="0"/>
                <a:ea typeface="+mn-ea"/>
                <a:cs typeface="Arial" pitchFamily="34" charset="0"/>
              </a:rPr>
              <a:t>).</a:t>
            </a:r>
            <a:endParaRPr lang="ko-KR" altLang="en-US" sz="1400" dirty="0">
              <a:latin typeface="Arial" pitchFamily="34" charset="0"/>
              <a:ea typeface="+mn-ea"/>
              <a:cs typeface="Arial" pitchFamily="34" charset="0"/>
            </a:endParaRPr>
          </a:p>
        </p:txBody>
      </p:sp>
      <p:sp>
        <p:nvSpPr>
          <p:cNvPr id="22" name="Rectangle 13"/>
          <p:cNvSpPr>
            <a:spLocks noChangeArrowheads="1"/>
          </p:cNvSpPr>
          <p:nvPr/>
        </p:nvSpPr>
        <p:spPr bwMode="auto">
          <a:xfrm>
            <a:off x="1209675" y="1165225"/>
            <a:ext cx="1748812" cy="350096"/>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sz="1600" b="1" dirty="0">
                <a:solidFill>
                  <a:srgbClr val="000000"/>
                </a:solidFill>
                <a:latin typeface="Arial" pitchFamily="34" charset="0"/>
                <a:ea typeface="+mn-ea"/>
                <a:cs typeface="Arial" pitchFamily="34" charset="0"/>
              </a:rPr>
              <a:t>Sampling Order</a:t>
            </a:r>
          </a:p>
        </p:txBody>
      </p:sp>
      <p:sp>
        <p:nvSpPr>
          <p:cNvPr id="23" name="Rectangle 13"/>
          <p:cNvSpPr>
            <a:spLocks noChangeArrowheads="1"/>
          </p:cNvSpPr>
          <p:nvPr/>
        </p:nvSpPr>
        <p:spPr bwMode="auto">
          <a:xfrm>
            <a:off x="5672783" y="1165225"/>
            <a:ext cx="2426305" cy="350096"/>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sz="1600" b="1" dirty="0" err="1">
                <a:solidFill>
                  <a:srgbClr val="000000"/>
                </a:solidFill>
                <a:latin typeface="Arial" pitchFamily="34" charset="0"/>
                <a:ea typeface="+mn-ea"/>
                <a:cs typeface="Arial" pitchFamily="34" charset="0"/>
              </a:rPr>
              <a:t>Phương</a:t>
            </a:r>
            <a:r>
              <a:rPr kumimoji="0" lang="en-US" altLang="ko-KR" sz="1600" b="1" dirty="0">
                <a:solidFill>
                  <a:srgbClr val="000000"/>
                </a:solidFill>
                <a:latin typeface="Arial" pitchFamily="34" charset="0"/>
                <a:ea typeface="+mn-ea"/>
                <a:cs typeface="Arial" pitchFamily="34" charset="0"/>
              </a:rPr>
              <a:t> </a:t>
            </a:r>
            <a:r>
              <a:rPr kumimoji="0" lang="en-US" altLang="ko-KR" sz="1600" b="1" dirty="0" err="1">
                <a:solidFill>
                  <a:srgbClr val="000000"/>
                </a:solidFill>
                <a:latin typeface="Arial" pitchFamily="34" charset="0"/>
                <a:ea typeface="+mn-ea"/>
                <a:cs typeface="Arial" pitchFamily="34" charset="0"/>
              </a:rPr>
              <a:t>pháp</a:t>
            </a:r>
            <a:r>
              <a:rPr kumimoji="0" lang="en-US" altLang="ko-KR" sz="1600" b="1" dirty="0">
                <a:solidFill>
                  <a:srgbClr val="000000"/>
                </a:solidFill>
                <a:latin typeface="Arial" pitchFamily="34" charset="0"/>
                <a:ea typeface="+mn-ea"/>
                <a:cs typeface="Arial" pitchFamily="34" charset="0"/>
              </a:rPr>
              <a:t> </a:t>
            </a:r>
            <a:r>
              <a:rPr kumimoji="0" lang="en-US" altLang="ko-KR" sz="1600" b="1" dirty="0" err="1">
                <a:solidFill>
                  <a:srgbClr val="000000"/>
                </a:solidFill>
                <a:latin typeface="Arial" pitchFamily="34" charset="0"/>
                <a:ea typeface="+mn-ea"/>
                <a:cs typeface="Arial" pitchFamily="34" charset="0"/>
              </a:rPr>
              <a:t>lấy</a:t>
            </a:r>
            <a:r>
              <a:rPr kumimoji="0" lang="en-US" altLang="ko-KR" sz="1600" b="1" dirty="0">
                <a:solidFill>
                  <a:srgbClr val="000000"/>
                </a:solidFill>
                <a:latin typeface="Arial" pitchFamily="34" charset="0"/>
                <a:ea typeface="+mn-ea"/>
                <a:cs typeface="Arial" pitchFamily="34" charset="0"/>
              </a:rPr>
              <a:t> </a:t>
            </a:r>
            <a:r>
              <a:rPr kumimoji="0" lang="en-US" altLang="ko-KR" sz="1600" b="1" dirty="0" err="1">
                <a:solidFill>
                  <a:srgbClr val="000000"/>
                </a:solidFill>
                <a:latin typeface="Arial" pitchFamily="34" charset="0"/>
                <a:ea typeface="+mn-ea"/>
                <a:cs typeface="Arial" pitchFamily="34" charset="0"/>
              </a:rPr>
              <a:t>mẫu</a:t>
            </a:r>
            <a:endParaRPr kumimoji="0" lang="en-US" altLang="ko-KR" sz="1600" b="1" dirty="0">
              <a:solidFill>
                <a:srgbClr val="000000"/>
              </a:solidFill>
              <a:latin typeface="Arial" pitchFamily="34" charset="0"/>
              <a:ea typeface="+mn-ea"/>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260</a:t>
            </a:fld>
            <a:endParaRPr lang="ko-KR" altLang="en-US" dirty="0">
              <a:latin typeface="Arial" pitchFamily="34" charset="0"/>
              <a:cs typeface="Arial" pitchFamily="34" charset="0"/>
            </a:endParaRPr>
          </a:p>
        </p:txBody>
      </p:sp>
      <p:sp>
        <p:nvSpPr>
          <p:cNvPr id="11" name="제목 8"/>
          <p:cNvSpPr txBox="1">
            <a:spLocks/>
          </p:cNvSpPr>
          <p:nvPr/>
        </p:nvSpPr>
        <p:spPr bwMode="auto">
          <a:xfrm>
            <a:off x="195263" y="188913"/>
            <a:ext cx="8813800" cy="488950"/>
          </a:xfrm>
          <a:prstGeom prst="rect">
            <a:avLst/>
          </a:prstGeom>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a:ln>
                  <a:noFill/>
                </a:ln>
                <a:solidFill>
                  <a:schemeClr val="tx1"/>
                </a:solidFill>
                <a:effectLst/>
                <a:uLnTx/>
                <a:uFillTx/>
                <a:latin typeface="Arial" pitchFamily="34" charset="0"/>
                <a:ea typeface="+mn-ea"/>
                <a:cs typeface="Arial" pitchFamily="34" charset="0"/>
              </a:rPr>
              <a:t>5. Phương pháp xây dựng</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233805553"/>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Rectangle 13"/>
          <p:cNvSpPr>
            <a:spLocks noChangeArrowheads="1"/>
          </p:cNvSpPr>
          <p:nvPr/>
        </p:nvSpPr>
        <p:spPr bwMode="auto">
          <a:xfrm>
            <a:off x="679117" y="1268413"/>
            <a:ext cx="8539389" cy="350096"/>
          </a:xfrm>
          <a:prstGeom prst="rect">
            <a:avLst/>
          </a:prstGeom>
          <a:solidFill>
            <a:schemeClr val="bg1">
              <a:lumMod val="85000"/>
            </a:schemeClr>
          </a:solidFill>
          <a:ln>
            <a:noFill/>
          </a:ln>
          <a:effectLst/>
        </p:spPr>
        <p:txBody>
          <a:bodyPr wrap="none" lIns="102870" tIns="51435" rIns="102870" bIns="51435">
            <a:spAutoFit/>
          </a:bodyPr>
          <a:lstStyle/>
          <a:p>
            <a:pPr algn="ctr" defTabSz="1028700" eaLnBrk="0" latinLnBrk="0" hangingPunct="0">
              <a:defRPr/>
            </a:pPr>
            <a:r>
              <a:rPr kumimoji="0" lang="en-US" altLang="ko-KR" sz="1600" b="1" dirty="0" err="1">
                <a:solidFill>
                  <a:srgbClr val="000000"/>
                </a:solidFill>
                <a:latin typeface="Arial" pitchFamily="34" charset="0"/>
                <a:ea typeface="맑은 고딕" panose="020B0503020000020004" pitchFamily="50" charset="-127"/>
                <a:cs typeface="Arial" pitchFamily="34" charset="0"/>
              </a:rPr>
              <a:t>Chuyển</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đổi</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từ</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một</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Biểu</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đồ</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kiểm</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soát</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diễn</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giải</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thành</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Biểu</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đồ</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kiểm</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soát</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quản</a:t>
            </a:r>
            <a:r>
              <a:rPr kumimoji="0" lang="en-US" altLang="ko-KR" sz="1600" b="1" dirty="0">
                <a:solidFill>
                  <a:srgbClr val="000000"/>
                </a:solidFill>
                <a:latin typeface="Arial" pitchFamily="34" charset="0"/>
                <a:ea typeface="맑은 고딕" panose="020B0503020000020004" pitchFamily="50" charset="-127"/>
                <a:cs typeface="Arial" pitchFamily="34" charset="0"/>
              </a:rPr>
              <a:t> </a:t>
            </a:r>
            <a:r>
              <a:rPr kumimoji="0" lang="en-US" altLang="ko-KR" sz="1600" b="1" dirty="0" err="1">
                <a:solidFill>
                  <a:srgbClr val="000000"/>
                </a:solidFill>
                <a:latin typeface="Arial" pitchFamily="34" charset="0"/>
                <a:ea typeface="맑은 고딕" panose="020B0503020000020004" pitchFamily="50" charset="-127"/>
                <a:cs typeface="Arial" pitchFamily="34" charset="0"/>
              </a:rPr>
              <a:t>lý</a:t>
            </a:r>
            <a:r>
              <a:rPr kumimoji="0" lang="en-US" altLang="ko-KR" sz="1600" b="1" dirty="0">
                <a:solidFill>
                  <a:srgbClr val="000000"/>
                </a:solidFill>
                <a:latin typeface="Arial" pitchFamily="34" charset="0"/>
                <a:ea typeface="맑은 고딕" panose="020B0503020000020004" pitchFamily="50" charset="-127"/>
                <a:cs typeface="Arial" pitchFamily="34" charset="0"/>
              </a:rPr>
              <a:t>”</a:t>
            </a:r>
          </a:p>
        </p:txBody>
      </p:sp>
      <p:sp>
        <p:nvSpPr>
          <p:cNvPr id="21509" name="직사각형 1"/>
          <p:cNvSpPr>
            <a:spLocks noChangeArrowheads="1"/>
          </p:cNvSpPr>
          <p:nvPr/>
        </p:nvSpPr>
        <p:spPr bwMode="auto">
          <a:xfrm>
            <a:off x="417066" y="1773238"/>
            <a:ext cx="4463926" cy="2292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defRPr/>
            </a:pPr>
            <a:r>
              <a:rPr kumimoji="0" lang="en-US" altLang="ko-KR" sz="1400" b="1" dirty="0">
                <a:latin typeface="Arial" pitchFamily="34" charset="0"/>
                <a:ea typeface="맑은 고딕" pitchFamily="50" charset="-127"/>
                <a:cs typeface="Arial" pitchFamily="34" charset="0"/>
              </a:rPr>
              <a:t> &lt;</a:t>
            </a:r>
            <a:r>
              <a:rPr kumimoji="0" lang="en-US" altLang="ko-KR" sz="1400" b="1" dirty="0" err="1">
                <a:latin typeface="Arial" pitchFamily="34" charset="0"/>
                <a:ea typeface="맑은 고딕" pitchFamily="50" charset="-127"/>
                <a:cs typeface="Arial" pitchFamily="34" charset="0"/>
              </a:rPr>
              <a:t>Xây</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dựng</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một</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Biểu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đồ</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kiểm</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soát</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diễn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giải</a:t>
            </a:r>
            <a:r>
              <a:rPr kumimoji="0" lang="en-US" altLang="ko-KR" sz="1400" b="1" dirty="0">
                <a:latin typeface="Arial" pitchFamily="34" charset="0"/>
                <a:ea typeface="맑은 고딕" pitchFamily="50" charset="-127"/>
                <a:cs typeface="Arial" pitchFamily="34" charset="0"/>
              </a:rPr>
              <a:t>”&gt;</a:t>
            </a:r>
          </a:p>
          <a:p>
            <a:pPr eaLnBrk="1" hangingPunct="1">
              <a:lnSpc>
                <a:spcPct val="130000"/>
              </a:lnSpc>
              <a:defRPr/>
            </a:pPr>
            <a:r>
              <a:rPr kumimoji="0" lang="en-US" altLang="ko-KR" sz="1200" dirty="0">
                <a:latin typeface="Arial" pitchFamily="34" charset="0"/>
                <a:ea typeface="맑은 고딕" pitchFamily="50" charset="-127"/>
                <a:cs typeface="Arial" pitchFamily="34" charset="0"/>
              </a:rPr>
              <a:t>   - </a:t>
            </a:r>
            <a:r>
              <a:rPr kumimoji="0" lang="en-US" altLang="ko-KR" sz="1200" dirty="0" err="1">
                <a:latin typeface="Arial" pitchFamily="34" charset="0"/>
                <a:ea typeface="맑은 고딕" pitchFamily="50" charset="-127"/>
                <a:cs typeface="Arial" pitchFamily="34" charset="0"/>
              </a:rPr>
              <a:t>Cần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chú</a:t>
            </a:r>
            <a:r>
              <a:rPr kumimoji="0" lang="en-US" altLang="ko-KR" sz="1200" dirty="0">
                <a:latin typeface="Arial" pitchFamily="34" charset="0"/>
                <a:ea typeface="맑은 고딕" pitchFamily="50" charset="-127"/>
                <a:cs typeface="Arial" pitchFamily="34" charset="0"/>
              </a:rPr>
              <a:t> ý </a:t>
            </a:r>
            <a:r>
              <a:rPr kumimoji="0" lang="en-US" altLang="ko-KR" sz="1200" dirty="0" err="1">
                <a:latin typeface="Arial" pitchFamily="34" charset="0"/>
                <a:ea typeface="맑은 고딕" pitchFamily="50" charset="-127"/>
                <a:cs typeface="Arial" pitchFamily="34" charset="0"/>
              </a:rPr>
              <a:t>tới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việc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phân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lớp</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phân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chia</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các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nhóm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khi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xây</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dựng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một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biểu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đồ</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kiểm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soát</a:t>
            </a:r>
            <a:r>
              <a:rPr kumimoji="0" lang="en-US" altLang="ko-KR" sz="1200" dirty="0">
                <a:latin typeface="Arial" pitchFamily="34" charset="0"/>
                <a:ea typeface="맑은 고딕" pitchFamily="50" charset="-127"/>
                <a:cs typeface="Arial" pitchFamily="34" charset="0"/>
              </a:rPr>
              <a:t>. </a:t>
            </a:r>
          </a:p>
          <a:p>
            <a:pPr eaLnBrk="1" hangingPunct="1">
              <a:lnSpc>
                <a:spcPct val="130000"/>
              </a:lnSpc>
              <a:defRPr/>
            </a:pPr>
            <a:r>
              <a:rPr kumimoji="0" lang="en-US" altLang="ko-KR" sz="1200" dirty="0">
                <a:latin typeface="Arial" pitchFamily="34" charset="0"/>
                <a:ea typeface="맑은 고딕" pitchFamily="50" charset="-127"/>
                <a:cs typeface="Arial" pitchFamily="34" charset="0"/>
              </a:rPr>
              <a:t>   - </a:t>
            </a:r>
            <a:r>
              <a:rPr kumimoji="0" lang="en-US" altLang="ko-KR" sz="1200" dirty="0" err="1">
                <a:latin typeface="Arial" pitchFamily="34" charset="0"/>
                <a:ea typeface="맑은 고딕" pitchFamily="50" charset="-127"/>
                <a:cs typeface="Arial" pitchFamily="34" charset="0"/>
              </a:rPr>
              <a:t>Cần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tiến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hành</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xác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định</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và</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loại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bỏ</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nếu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phát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hiện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được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ra</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những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bất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thường</a:t>
            </a:r>
            <a:r>
              <a:rPr kumimoji="0" lang="en-US" altLang="ko-KR" sz="1200" dirty="0">
                <a:latin typeface="Arial" pitchFamily="34" charset="0"/>
                <a:ea typeface="맑은 고딕" pitchFamily="50" charset="-127"/>
                <a:cs typeface="Arial" pitchFamily="34" charset="0"/>
              </a:rPr>
              <a:t>.</a:t>
            </a:r>
          </a:p>
          <a:p>
            <a:pPr eaLnBrk="1" hangingPunct="1">
              <a:lnSpc>
                <a:spcPct val="130000"/>
              </a:lnSpc>
              <a:defRPr/>
            </a:pPr>
            <a:r>
              <a:rPr kumimoji="0" lang="en-US" altLang="ko-KR" sz="1200" dirty="0">
                <a:latin typeface="Arial" pitchFamily="34" charset="0"/>
                <a:ea typeface="맑은 고딕" pitchFamily="50" charset="-127"/>
                <a:cs typeface="Arial" pitchFamily="34" charset="0"/>
              </a:rPr>
              <a:t>   - </a:t>
            </a:r>
            <a:r>
              <a:rPr kumimoji="0" lang="en-US" altLang="ko-KR" sz="1200" dirty="0" err="1">
                <a:latin typeface="Arial" pitchFamily="34" charset="0"/>
                <a:ea typeface="맑은 고딕" pitchFamily="50" charset="-127"/>
                <a:cs typeface="Arial" pitchFamily="34" charset="0"/>
              </a:rPr>
              <a:t>Dữ</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liệu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cần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bao</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gồm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cả</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những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nguyên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nhân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không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xác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định</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hoặc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đã</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được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xác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định</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nhưng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không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có</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biện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pháp</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khắc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phục</a:t>
            </a:r>
            <a:r>
              <a:rPr kumimoji="0" lang="en-US" altLang="ko-KR" sz="1200" dirty="0">
                <a:latin typeface="Arial" pitchFamily="34" charset="0"/>
                <a:ea typeface="맑은 고딕" pitchFamily="50" charset="-127"/>
                <a:cs typeface="Arial" pitchFamily="34" charset="0"/>
              </a:rPr>
              <a:t>. </a:t>
            </a:r>
          </a:p>
          <a:p>
            <a:pPr eaLnBrk="1" hangingPunct="1">
              <a:lnSpc>
                <a:spcPct val="130000"/>
              </a:lnSpc>
              <a:defRPr/>
            </a:pPr>
            <a:r>
              <a:rPr kumimoji="0" lang="en-US" altLang="ko-KR" sz="1200" dirty="0">
                <a:latin typeface="Arial" pitchFamily="34" charset="0"/>
                <a:ea typeface="맑은 고딕" pitchFamily="50" charset="-127"/>
                <a:cs typeface="Arial" pitchFamily="34" charset="0"/>
              </a:rPr>
              <a:t>  </a:t>
            </a:r>
            <a:r>
              <a:rPr kumimoji="0" lang="en-US" altLang="ko-KR" sz="1200" dirty="0">
                <a:solidFill>
                  <a:schemeClr val="bg1">
                    <a:lumMod val="75000"/>
                  </a:schemeClr>
                </a:solidFill>
                <a:latin typeface="Arial" pitchFamily="34" charset="0"/>
                <a:ea typeface="맑은 고딕" pitchFamily="50" charset="-127"/>
                <a:cs typeface="Arial" pitchFamily="34" charset="0"/>
              </a:rPr>
              <a:t> - </a:t>
            </a:r>
            <a:r>
              <a:rPr kumimoji="0" lang="en-US" altLang="ko-KR" sz="1200" dirty="0" err="1">
                <a:solidFill>
                  <a:schemeClr val="bg1">
                    <a:lumMod val="75000"/>
                  </a:schemeClr>
                </a:solidFill>
                <a:latin typeface="Arial" pitchFamily="34" charset="0"/>
                <a:ea typeface="맑은 고딕" pitchFamily="50" charset="-127"/>
                <a:cs typeface="Arial" pitchFamily="34" charset="0"/>
              </a:rPr>
              <a:t>Trường</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hợp</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này</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nên</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sử</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dụng</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đường</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nét</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đứt</a:t>
            </a:r>
            <a:r>
              <a:rPr kumimoji="0" lang="en-US" altLang="ko-KR" sz="1200" dirty="0">
                <a:solidFill>
                  <a:schemeClr val="bg1">
                    <a:lumMod val="75000"/>
                  </a:schemeClr>
                </a:solidFill>
                <a:latin typeface="Arial" pitchFamily="34" charset="0"/>
                <a:ea typeface="맑은 고딕" pitchFamily="50" charset="-127"/>
                <a:cs typeface="Arial" pitchFamily="34" charset="0"/>
              </a:rPr>
              <a:t> ( …... ).</a:t>
            </a:r>
          </a:p>
        </p:txBody>
      </p:sp>
      <p:sp>
        <p:nvSpPr>
          <p:cNvPr id="21510" name="Text Box 7"/>
          <p:cNvSpPr txBox="1">
            <a:spLocks noChangeArrowheads="1"/>
          </p:cNvSpPr>
          <p:nvPr/>
        </p:nvSpPr>
        <p:spPr bwMode="auto">
          <a:xfrm>
            <a:off x="4953000" y="1800803"/>
            <a:ext cx="4536504" cy="2228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kumimoji="0" lang="en-US" altLang="ko-KR" sz="1400" b="1" dirty="0">
                <a:latin typeface="Arial" pitchFamily="34" charset="0"/>
                <a:ea typeface="맑은 고딕" pitchFamily="50" charset="-127"/>
                <a:cs typeface="Arial" pitchFamily="34" charset="0"/>
              </a:rPr>
              <a:t>&lt;</a:t>
            </a:r>
            <a:r>
              <a:rPr kumimoji="0" lang="en-US" altLang="ko-KR" sz="1400" b="1" dirty="0" err="1">
                <a:latin typeface="Arial" pitchFamily="34" charset="0"/>
                <a:ea typeface="맑은 고딕" pitchFamily="50" charset="-127"/>
                <a:cs typeface="Arial" pitchFamily="34" charset="0"/>
              </a:rPr>
              <a:t>Xây</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dựng</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một</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Biểu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đồ</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kiểm</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soát</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quản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lý</a:t>
            </a:r>
            <a:r>
              <a:rPr kumimoji="0" lang="en-US" altLang="ko-KR" sz="1400" b="1" dirty="0">
                <a:latin typeface="Arial" pitchFamily="34" charset="0"/>
                <a:ea typeface="맑은 고딕" pitchFamily="50" charset="-127"/>
                <a:cs typeface="Arial" pitchFamily="34" charset="0"/>
              </a:rPr>
              <a:t>”&gt;</a:t>
            </a:r>
          </a:p>
          <a:p>
            <a:pPr eaLnBrk="1" hangingPunct="1">
              <a:lnSpc>
                <a:spcPct val="130000"/>
              </a:lnSpc>
              <a:defRPr/>
            </a:pP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Tiến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hành</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xây</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dựng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Biểu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đồ</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kiểm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soát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quản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lý</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khi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nguyên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nhân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không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ngẫu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nhiên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được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loại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bỏ</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và</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Biểu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đồ</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diễn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giải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thể</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hiện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một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quá</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trình</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đang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ổn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định</a:t>
            </a:r>
            <a:r>
              <a:rPr kumimoji="0" lang="en-US" altLang="ko-KR" sz="1200" dirty="0">
                <a:latin typeface="Arial" pitchFamily="34" charset="0"/>
                <a:ea typeface="맑은 고딕" pitchFamily="50" charset="-127"/>
                <a:cs typeface="Arial" pitchFamily="34" charset="0"/>
              </a:rPr>
              <a:t>.</a:t>
            </a:r>
          </a:p>
          <a:p>
            <a:pPr eaLnBrk="1" hangingPunct="1">
              <a:lnSpc>
                <a:spcPct val="130000"/>
              </a:lnSpc>
              <a:defRPr/>
            </a:pP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Mở</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rộng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các</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giới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hạn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kiểm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soát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trong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Biểu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đồ</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kiểm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soát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diễn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giải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và</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sử</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dụng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chúng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như</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những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giới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hạn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kiểm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soát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trong</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Biểu</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đồ</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kiểm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soát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quản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lý</a:t>
            </a:r>
            <a:r>
              <a:rPr kumimoji="0" lang="en-US" altLang="ko-KR" sz="1200" dirty="0">
                <a:latin typeface="Arial" pitchFamily="34" charset="0"/>
                <a:ea typeface="맑은 고딕" pitchFamily="50" charset="-127"/>
                <a:cs typeface="Arial" pitchFamily="34" charset="0"/>
              </a:rPr>
              <a:t>”.</a:t>
            </a:r>
          </a:p>
          <a:p>
            <a:pPr eaLnBrk="1" hangingPunct="1">
              <a:lnSpc>
                <a:spcPct val="130000"/>
              </a:lnSpc>
              <a:defRPr/>
            </a:pP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Trong</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trường</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hợp</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này</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đường</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nét</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đứt</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chấm</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gạch</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được</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sử</a:t>
            </a:r>
            <a:r>
              <a:rPr kumimoji="0" lang="en-US" altLang="ko-KR" sz="1200" dirty="0">
                <a:solidFill>
                  <a:schemeClr val="bg1">
                    <a:lumMod val="75000"/>
                  </a:schemeClr>
                </a:solidFill>
                <a:latin typeface="Arial" pitchFamily="34" charset="0"/>
                <a:ea typeface="맑은 고딕" pitchFamily="50" charset="-127"/>
                <a:cs typeface="Arial" pitchFamily="34" charset="0"/>
              </a:rPr>
              <a:t> </a:t>
            </a:r>
            <a:r>
              <a:rPr kumimoji="0" lang="en-US" altLang="ko-KR" sz="1200" dirty="0" err="1">
                <a:solidFill>
                  <a:schemeClr val="bg1">
                    <a:lumMod val="75000"/>
                  </a:schemeClr>
                </a:solidFill>
                <a:latin typeface="Arial" pitchFamily="34" charset="0"/>
                <a:ea typeface="맑은 고딕" pitchFamily="50" charset="-127"/>
                <a:cs typeface="Arial" pitchFamily="34" charset="0"/>
              </a:rPr>
              <a:t>dụng</a:t>
            </a:r>
            <a:r>
              <a:rPr kumimoji="0" lang="en-US" altLang="ko-KR" sz="1200" dirty="0">
                <a:solidFill>
                  <a:schemeClr val="bg1">
                    <a:lumMod val="75000"/>
                  </a:schemeClr>
                </a:solidFill>
                <a:latin typeface="Arial" pitchFamily="34" charset="0"/>
                <a:ea typeface="맑은 고딕" pitchFamily="50" charset="-127"/>
                <a:cs typeface="Arial" pitchFamily="34" charset="0"/>
              </a:rPr>
              <a:t> ( _ . _ . _ . _ . _ . _ ) </a:t>
            </a:r>
          </a:p>
        </p:txBody>
      </p:sp>
      <p:cxnSp>
        <p:nvCxnSpPr>
          <p:cNvPr id="12" name="직선 연결선 11"/>
          <p:cNvCxnSpPr/>
          <p:nvPr/>
        </p:nvCxnSpPr>
        <p:spPr>
          <a:xfrm>
            <a:off x="1639888" y="5732463"/>
            <a:ext cx="3241675"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직선 연결선 16"/>
          <p:cNvCxnSpPr/>
          <p:nvPr/>
        </p:nvCxnSpPr>
        <p:spPr>
          <a:xfrm>
            <a:off x="1639888" y="4076700"/>
            <a:ext cx="0" cy="19446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직선 연결선 3"/>
          <p:cNvCxnSpPr/>
          <p:nvPr/>
        </p:nvCxnSpPr>
        <p:spPr>
          <a:xfrm>
            <a:off x="1639888" y="5084763"/>
            <a:ext cx="61928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1639888" y="4437063"/>
            <a:ext cx="3284537"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p:nvCxnSpPr>
        <p:spPr>
          <a:xfrm>
            <a:off x="4953000" y="4437063"/>
            <a:ext cx="282257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6" name="직선 연결선 15"/>
          <p:cNvCxnSpPr/>
          <p:nvPr/>
        </p:nvCxnSpPr>
        <p:spPr>
          <a:xfrm>
            <a:off x="4953000" y="5732463"/>
            <a:ext cx="282257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p:nvCxnSpPr>
        <p:spPr>
          <a:xfrm>
            <a:off x="1639888" y="6021388"/>
            <a:ext cx="61928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p:cNvCxnSpPr/>
          <p:nvPr/>
        </p:nvCxnSpPr>
        <p:spPr>
          <a:xfrm>
            <a:off x="4881563" y="4076700"/>
            <a:ext cx="0" cy="19446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519" name="직사각형 31"/>
          <p:cNvSpPr>
            <a:spLocks noChangeArrowheads="1"/>
          </p:cNvSpPr>
          <p:nvPr/>
        </p:nvSpPr>
        <p:spPr bwMode="auto">
          <a:xfrm>
            <a:off x="7845425" y="4221163"/>
            <a:ext cx="708025"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kumimoji="0" lang="en-US" altLang="ko-KR" sz="1400">
                <a:latin typeface="Arial" pitchFamily="34" charset="0"/>
                <a:ea typeface="맑은 고딕" pitchFamily="50" charset="-127"/>
                <a:cs typeface="Arial" pitchFamily="34" charset="0"/>
              </a:rPr>
              <a:t>UCL</a:t>
            </a:r>
          </a:p>
        </p:txBody>
      </p:sp>
      <p:sp>
        <p:nvSpPr>
          <p:cNvPr id="21520" name="직사각형 32"/>
          <p:cNvSpPr>
            <a:spLocks noChangeArrowheads="1"/>
          </p:cNvSpPr>
          <p:nvPr/>
        </p:nvSpPr>
        <p:spPr bwMode="auto">
          <a:xfrm>
            <a:off x="7845425" y="4868863"/>
            <a:ext cx="708025"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kumimoji="0" lang="en-US" altLang="ko-KR" sz="1400">
                <a:latin typeface="Arial" pitchFamily="34" charset="0"/>
                <a:ea typeface="맑은 고딕" pitchFamily="50" charset="-127"/>
                <a:cs typeface="Arial" pitchFamily="34" charset="0"/>
              </a:rPr>
              <a:t>CL</a:t>
            </a:r>
          </a:p>
        </p:txBody>
      </p:sp>
      <p:sp>
        <p:nvSpPr>
          <p:cNvPr id="21521" name="직사각형 33"/>
          <p:cNvSpPr>
            <a:spLocks noChangeArrowheads="1"/>
          </p:cNvSpPr>
          <p:nvPr/>
        </p:nvSpPr>
        <p:spPr bwMode="auto">
          <a:xfrm>
            <a:off x="7845425" y="5535613"/>
            <a:ext cx="708025"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kumimoji="0" lang="en-US" altLang="ko-KR" sz="1400">
                <a:latin typeface="Arial" pitchFamily="34" charset="0"/>
                <a:ea typeface="맑은 고딕" pitchFamily="50" charset="-127"/>
                <a:cs typeface="Arial" pitchFamily="34" charset="0"/>
              </a:rPr>
              <a:t>LCL</a:t>
            </a:r>
          </a:p>
        </p:txBody>
      </p:sp>
      <p:sp>
        <p:nvSpPr>
          <p:cNvPr id="21522" name="직사각형 34"/>
          <p:cNvSpPr>
            <a:spLocks noChangeArrowheads="1"/>
          </p:cNvSpPr>
          <p:nvPr/>
        </p:nvSpPr>
        <p:spPr bwMode="auto">
          <a:xfrm>
            <a:off x="1639886" y="6021388"/>
            <a:ext cx="3241675" cy="34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30000"/>
              </a:lnSpc>
            </a:pPr>
            <a:r>
              <a:rPr kumimoji="0" lang="en-US" altLang="ko-KR" sz="1400" b="1" dirty="0" err="1">
                <a:latin typeface="Arial" pitchFamily="34" charset="0"/>
                <a:ea typeface="맑은 고딕" pitchFamily="50" charset="-127"/>
                <a:cs typeface="Arial" pitchFamily="34" charset="0"/>
              </a:rPr>
              <a:t>Biểu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đồ</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kiểm</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soát</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diễn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giải</a:t>
            </a:r>
            <a:endParaRPr kumimoji="0" lang="en-US" altLang="ko-KR" sz="1400" b="1" dirty="0">
              <a:latin typeface="Arial" pitchFamily="34" charset="0"/>
              <a:ea typeface="맑은 고딕" pitchFamily="50" charset="-127"/>
              <a:cs typeface="Arial" pitchFamily="34" charset="0"/>
            </a:endParaRPr>
          </a:p>
        </p:txBody>
      </p:sp>
      <p:cxnSp>
        <p:nvCxnSpPr>
          <p:cNvPr id="36" name="직선 연결선 35"/>
          <p:cNvCxnSpPr/>
          <p:nvPr/>
        </p:nvCxnSpPr>
        <p:spPr>
          <a:xfrm>
            <a:off x="2505075" y="4868863"/>
            <a:ext cx="360363" cy="73025"/>
          </a:xfrm>
          <a:prstGeom prst="line">
            <a:avLst/>
          </a:pr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직선 연결선 49"/>
          <p:cNvCxnSpPr/>
          <p:nvPr/>
        </p:nvCxnSpPr>
        <p:spPr>
          <a:xfrm>
            <a:off x="2865438" y="4941888"/>
            <a:ext cx="358775" cy="0"/>
          </a:xfrm>
          <a:prstGeom prst="line">
            <a:avLst/>
          </a:pr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직선 연결선 50"/>
          <p:cNvCxnSpPr/>
          <p:nvPr/>
        </p:nvCxnSpPr>
        <p:spPr>
          <a:xfrm>
            <a:off x="3224213" y="4941888"/>
            <a:ext cx="433387" cy="215900"/>
          </a:xfrm>
          <a:prstGeom prst="line">
            <a:avLst/>
          </a:pr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직선 연결선 51"/>
          <p:cNvCxnSpPr/>
          <p:nvPr/>
        </p:nvCxnSpPr>
        <p:spPr>
          <a:xfrm>
            <a:off x="3657600" y="5157788"/>
            <a:ext cx="431800" cy="71437"/>
          </a:xfrm>
          <a:prstGeom prst="line">
            <a:avLst/>
          </a:pr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직선 연결선 52"/>
          <p:cNvCxnSpPr/>
          <p:nvPr/>
        </p:nvCxnSpPr>
        <p:spPr>
          <a:xfrm flipV="1">
            <a:off x="4089400" y="5013325"/>
            <a:ext cx="358775" cy="215900"/>
          </a:xfrm>
          <a:prstGeom prst="line">
            <a:avLst/>
          </a:pr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4448175" y="5013325"/>
            <a:ext cx="360363" cy="0"/>
          </a:xfrm>
          <a:prstGeom prst="line">
            <a:avLst/>
          </a:pr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1529" name="직사각형 64"/>
          <p:cNvSpPr>
            <a:spLocks noChangeArrowheads="1"/>
          </p:cNvSpPr>
          <p:nvPr/>
        </p:nvSpPr>
        <p:spPr bwMode="auto">
          <a:xfrm>
            <a:off x="4881561" y="6021388"/>
            <a:ext cx="2951164" cy="34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lnSpc>
                <a:spcPct val="130000"/>
              </a:lnSpc>
            </a:pPr>
            <a:r>
              <a:rPr kumimoji="0" lang="en-US" altLang="ko-KR" sz="1400" b="1" dirty="0" err="1">
                <a:latin typeface="Arial" pitchFamily="34" charset="0"/>
                <a:ea typeface="맑은 고딕" pitchFamily="50" charset="-127"/>
                <a:cs typeface="Arial" pitchFamily="34" charset="0"/>
              </a:rPr>
              <a:t>Biểu</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đồ</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kiểm</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soát</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quản</a:t>
            </a:r>
            <a:r>
              <a:rPr kumimoji="0" lang="en-US" altLang="ko-KR" sz="1400" b="1" dirty="0">
                <a:latin typeface="Arial" pitchFamily="34" charset="0"/>
                <a:ea typeface="맑은 고딕" pitchFamily="50" charset="-127"/>
                <a:cs typeface="Arial" pitchFamily="34" charset="0"/>
              </a:rPr>
              <a:t> </a:t>
            </a:r>
            <a:r>
              <a:rPr kumimoji="0" lang="en-US" altLang="ko-KR" sz="1400" b="1" dirty="0" err="1">
                <a:latin typeface="Arial" pitchFamily="34" charset="0"/>
                <a:ea typeface="맑은 고딕" pitchFamily="50" charset="-127"/>
                <a:cs typeface="Arial" pitchFamily="34" charset="0"/>
              </a:rPr>
              <a:t>lý</a:t>
            </a:r>
            <a:endParaRPr kumimoji="0" lang="en-US" altLang="ko-KR" sz="1400" b="1" dirty="0">
              <a:latin typeface="Arial" pitchFamily="34" charset="0"/>
              <a:ea typeface="맑은 고딕" pitchFamily="50" charset="-127"/>
              <a:cs typeface="Arial" pitchFamily="34" charset="0"/>
            </a:endParaRPr>
          </a:p>
        </p:txBody>
      </p:sp>
      <p:sp>
        <p:nvSpPr>
          <p:cNvPr id="21530" name="직사각형 65"/>
          <p:cNvSpPr>
            <a:spLocks noChangeArrowheads="1"/>
          </p:cNvSpPr>
          <p:nvPr/>
        </p:nvSpPr>
        <p:spPr bwMode="auto">
          <a:xfrm>
            <a:off x="4881562" y="4076700"/>
            <a:ext cx="2591717" cy="305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kumimoji="0" lang="en-US" altLang="ko-KR" sz="1200" dirty="0" err="1">
                <a:latin typeface="Arial" pitchFamily="34" charset="0"/>
                <a:ea typeface="맑은 고딕" pitchFamily="50" charset="-127"/>
                <a:cs typeface="Arial" pitchFamily="34" charset="0"/>
              </a:rPr>
              <a:t>Giới</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hạn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kiểm</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soát</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ổn</a:t>
            </a:r>
            <a:r>
              <a:rPr kumimoji="0" lang="en-US" altLang="ko-KR" sz="1200" dirty="0">
                <a:latin typeface="Arial" pitchFamily="34" charset="0"/>
                <a:ea typeface="맑은 고딕" pitchFamily="50" charset="-127"/>
                <a:cs typeface="Arial" pitchFamily="34" charset="0"/>
              </a:rPr>
              <a:t> </a:t>
            </a:r>
            <a:r>
              <a:rPr kumimoji="0" lang="en-US" altLang="ko-KR" sz="1200" dirty="0" err="1">
                <a:latin typeface="Arial" pitchFamily="34" charset="0"/>
                <a:ea typeface="맑은 고딕" pitchFamily="50" charset="-127"/>
                <a:cs typeface="Arial" pitchFamily="34" charset="0"/>
              </a:rPr>
              <a:t>định</a:t>
            </a:r>
            <a:endParaRPr kumimoji="0" lang="en-US" altLang="ko-KR" sz="1200" dirty="0">
              <a:latin typeface="Arial" pitchFamily="34" charset="0"/>
              <a:ea typeface="맑은 고딕" pitchFamily="50" charset="-127"/>
              <a:cs typeface="Arial" pitchFamily="34" charset="0"/>
            </a:endParaRPr>
          </a:p>
        </p:txBody>
      </p:sp>
      <p:cxnSp>
        <p:nvCxnSpPr>
          <p:cNvPr id="70" name="직선 연결선 69"/>
          <p:cNvCxnSpPr/>
          <p:nvPr/>
        </p:nvCxnSpPr>
        <p:spPr>
          <a:xfrm flipV="1">
            <a:off x="2144713" y="4868863"/>
            <a:ext cx="360362" cy="341312"/>
          </a:xfrm>
          <a:prstGeom prst="line">
            <a:avLst/>
          </a:pr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1" name="직선 연결선 70"/>
          <p:cNvCxnSpPr/>
          <p:nvPr/>
        </p:nvCxnSpPr>
        <p:spPr>
          <a:xfrm>
            <a:off x="1784350" y="5173663"/>
            <a:ext cx="360363" cy="73025"/>
          </a:xfrm>
          <a:prstGeom prst="line">
            <a:avLst/>
          </a:prstGeom>
          <a:ln>
            <a:solidFill>
              <a:schemeClr val="tx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261</a:t>
            </a:fld>
            <a:endParaRPr lang="ko-KR" altLang="en-US" dirty="0">
              <a:latin typeface="Arial" pitchFamily="34" charset="0"/>
              <a:cs typeface="Arial" pitchFamily="34" charset="0"/>
            </a:endParaRPr>
          </a:p>
        </p:txBody>
      </p:sp>
      <p:sp>
        <p:nvSpPr>
          <p:cNvPr id="29" name="제목 8"/>
          <p:cNvSpPr txBox="1">
            <a:spLocks/>
          </p:cNvSpPr>
          <p:nvPr/>
        </p:nvSpPr>
        <p:spPr bwMode="auto">
          <a:xfrm>
            <a:off x="195263" y="188913"/>
            <a:ext cx="8813800" cy="488950"/>
          </a:xfrm>
          <a:prstGeom prst="rect">
            <a:avLst/>
          </a:prstGeom>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a:ln>
                  <a:noFill/>
                </a:ln>
                <a:solidFill>
                  <a:schemeClr val="tx1"/>
                </a:solidFill>
                <a:effectLst/>
                <a:uLnTx/>
                <a:uFillTx/>
                <a:latin typeface="Arial" pitchFamily="34" charset="0"/>
                <a:ea typeface="+mn-ea"/>
                <a:cs typeface="Arial" pitchFamily="34" charset="0"/>
              </a:rPr>
              <a:t>5. Phương pháp xây dựng</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3715342132"/>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381000" y="1268413"/>
            <a:ext cx="9144000" cy="3505875"/>
            <a:chOff x="560388" y="1268413"/>
            <a:chExt cx="9144000" cy="3505875"/>
          </a:xfrm>
        </p:grpSpPr>
        <p:sp>
          <p:nvSpPr>
            <p:cNvPr id="22531" name="Rectangle 13"/>
            <p:cNvSpPr>
              <a:spLocks noChangeArrowheads="1"/>
            </p:cNvSpPr>
            <p:nvPr/>
          </p:nvSpPr>
          <p:spPr bwMode="auto">
            <a:xfrm>
              <a:off x="560388" y="1268413"/>
              <a:ext cx="3474028" cy="380873"/>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b="1" dirty="0" err="1">
                  <a:solidFill>
                    <a:srgbClr val="000000"/>
                  </a:solidFill>
                  <a:latin typeface="Arial" pitchFamily="34" charset="0"/>
                  <a:ea typeface="맑은 고딕" panose="020B0503020000020004" pitchFamily="50" charset="-127"/>
                  <a:cs typeface="Arial" pitchFamily="34" charset="0"/>
                </a:rPr>
                <a:t>Điều</a:t>
              </a:r>
              <a:r>
                <a:rPr kumimoji="0" lang="en-US" altLang="ko-KR" b="1" dirty="0">
                  <a:solidFill>
                    <a:srgbClr val="000000"/>
                  </a:solidFill>
                  <a:latin typeface="Arial" pitchFamily="34" charset="0"/>
                  <a:ea typeface="맑은 고딕" panose="020B0503020000020004" pitchFamily="50" charset="-127"/>
                  <a:cs typeface="Arial" pitchFamily="34" charset="0"/>
                </a:rPr>
                <a:t> </a:t>
              </a:r>
              <a:r>
                <a:rPr kumimoji="0" lang="en-US" altLang="ko-KR" b="1" dirty="0" err="1">
                  <a:solidFill>
                    <a:srgbClr val="000000"/>
                  </a:solidFill>
                  <a:latin typeface="Arial" pitchFamily="34" charset="0"/>
                  <a:ea typeface="맑은 고딕" panose="020B0503020000020004" pitchFamily="50" charset="-127"/>
                  <a:cs typeface="Arial" pitchFamily="34" charset="0"/>
                </a:rPr>
                <a:t>chỉnh</a:t>
              </a:r>
              <a:r>
                <a:rPr kumimoji="0" lang="en-US" altLang="ko-KR" b="1" dirty="0">
                  <a:solidFill>
                    <a:srgbClr val="000000"/>
                  </a:solidFill>
                  <a:latin typeface="Arial" pitchFamily="34" charset="0"/>
                  <a:ea typeface="맑은 고딕" panose="020B0503020000020004" pitchFamily="50" charset="-127"/>
                  <a:cs typeface="Arial" pitchFamily="34" charset="0"/>
                </a:rPr>
                <a:t> </a:t>
              </a:r>
              <a:r>
                <a:rPr kumimoji="0" lang="en-US" altLang="ko-KR" b="1" dirty="0" err="1">
                  <a:solidFill>
                    <a:srgbClr val="000000"/>
                  </a:solidFill>
                  <a:latin typeface="Arial" pitchFamily="34" charset="0"/>
                  <a:ea typeface="맑은 고딕" panose="020B0503020000020004" pitchFamily="50" charset="-127"/>
                  <a:cs typeface="Arial" pitchFamily="34" charset="0"/>
                </a:rPr>
                <a:t>biểu</a:t>
              </a:r>
              <a:r>
                <a:rPr kumimoji="0" lang="en-US" altLang="ko-KR" b="1" dirty="0">
                  <a:solidFill>
                    <a:srgbClr val="000000"/>
                  </a:solidFill>
                  <a:latin typeface="Arial" pitchFamily="34" charset="0"/>
                  <a:ea typeface="맑은 고딕" panose="020B0503020000020004" pitchFamily="50" charset="-127"/>
                  <a:cs typeface="Arial" pitchFamily="34" charset="0"/>
                </a:rPr>
                <a:t> </a:t>
              </a:r>
              <a:r>
                <a:rPr kumimoji="0" lang="en-US" altLang="ko-KR" b="1" dirty="0" err="1">
                  <a:solidFill>
                    <a:srgbClr val="000000"/>
                  </a:solidFill>
                  <a:latin typeface="Arial" pitchFamily="34" charset="0"/>
                  <a:ea typeface="맑은 고딕" panose="020B0503020000020004" pitchFamily="50" charset="-127"/>
                  <a:cs typeface="Arial" pitchFamily="34" charset="0"/>
                </a:rPr>
                <a:t>đồ</a:t>
              </a:r>
              <a:r>
                <a:rPr kumimoji="0" lang="en-US" altLang="ko-KR" b="1" dirty="0">
                  <a:solidFill>
                    <a:srgbClr val="000000"/>
                  </a:solidFill>
                  <a:latin typeface="Arial" pitchFamily="34" charset="0"/>
                  <a:ea typeface="맑은 고딕" panose="020B0503020000020004" pitchFamily="50" charset="-127"/>
                  <a:cs typeface="Arial" pitchFamily="34" charset="0"/>
                </a:rPr>
                <a:t> </a:t>
              </a:r>
              <a:r>
                <a:rPr kumimoji="0" lang="en-US" altLang="ko-KR" b="1" dirty="0" err="1">
                  <a:solidFill>
                    <a:srgbClr val="000000"/>
                  </a:solidFill>
                  <a:latin typeface="Arial" pitchFamily="34" charset="0"/>
                  <a:ea typeface="맑은 고딕" panose="020B0503020000020004" pitchFamily="50" charset="-127"/>
                  <a:cs typeface="Arial" pitchFamily="34" charset="0"/>
                </a:rPr>
                <a:t>kiểm</a:t>
              </a:r>
              <a:r>
                <a:rPr kumimoji="0" lang="en-US" altLang="ko-KR" b="1" dirty="0">
                  <a:solidFill>
                    <a:srgbClr val="000000"/>
                  </a:solidFill>
                  <a:latin typeface="Arial" pitchFamily="34" charset="0"/>
                  <a:ea typeface="맑은 고딕" panose="020B0503020000020004" pitchFamily="50" charset="-127"/>
                  <a:cs typeface="Arial" pitchFamily="34" charset="0"/>
                </a:rPr>
                <a:t> </a:t>
              </a:r>
              <a:r>
                <a:rPr kumimoji="0" lang="en-US" altLang="ko-KR" b="1" dirty="0" err="1">
                  <a:solidFill>
                    <a:srgbClr val="000000"/>
                  </a:solidFill>
                  <a:latin typeface="Arial" pitchFamily="34" charset="0"/>
                  <a:ea typeface="맑은 고딕" panose="020B0503020000020004" pitchFamily="50" charset="-127"/>
                  <a:cs typeface="Arial" pitchFamily="34" charset="0"/>
                </a:rPr>
                <a:t>soát</a:t>
              </a:r>
              <a:endParaRPr kumimoji="0" lang="en-US" altLang="ko-KR" b="1" dirty="0">
                <a:solidFill>
                  <a:srgbClr val="000000"/>
                </a:solidFill>
                <a:latin typeface="Arial" pitchFamily="34" charset="0"/>
                <a:ea typeface="맑은 고딕" panose="020B0503020000020004" pitchFamily="50" charset="-127"/>
                <a:cs typeface="Arial" pitchFamily="34" charset="0"/>
              </a:endParaRPr>
            </a:p>
          </p:txBody>
        </p:sp>
        <p:sp>
          <p:nvSpPr>
            <p:cNvPr id="22533" name="직사각형 5"/>
            <p:cNvSpPr>
              <a:spLocks noChangeArrowheads="1"/>
            </p:cNvSpPr>
            <p:nvPr/>
          </p:nvSpPr>
          <p:spPr bwMode="auto">
            <a:xfrm>
              <a:off x="776288" y="1881188"/>
              <a:ext cx="8928100" cy="289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pPr>
              <a:r>
                <a:rPr kumimoji="0" lang="en-US" altLang="ko-KR" sz="1400" dirty="0" err="1">
                  <a:latin typeface="Arial" pitchFamily="34" charset="0"/>
                  <a:ea typeface="맑은 고딕" pitchFamily="50" charset="-127"/>
                  <a:cs typeface="Arial" pitchFamily="34" charset="0"/>
                </a:rPr>
                <a:t>Nếu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những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điểm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bất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thường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tìm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thấy</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Biểu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đồ</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kiểm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soát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quản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lý</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thì</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nguyên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nhân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điều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và</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biện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pháp</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cải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tiến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cần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thực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hiện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để</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loại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bỏ</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chúng</a:t>
              </a:r>
              <a:r>
                <a:rPr kumimoji="0" lang="en-US" altLang="ko-KR" sz="1400" dirty="0">
                  <a:latin typeface="Arial" pitchFamily="34" charset="0"/>
                  <a:ea typeface="맑은 고딕" pitchFamily="50" charset="-127"/>
                  <a:cs typeface="Arial" pitchFamily="34" charset="0"/>
                </a:rPr>
                <a:t>.</a:t>
              </a:r>
            </a:p>
            <a:p>
              <a:pPr eaLnBrk="1" hangingPunct="1">
                <a:lnSpc>
                  <a:spcPct val="130000"/>
                </a:lnSpc>
              </a:pPr>
              <a:endParaRPr kumimoji="0" lang="en-US" altLang="ko-KR" sz="1400" dirty="0">
                <a:latin typeface="Arial" pitchFamily="34" charset="0"/>
                <a:ea typeface="맑은 고딕" pitchFamily="50" charset="-127"/>
                <a:cs typeface="Arial" pitchFamily="34" charset="0"/>
              </a:endParaRPr>
            </a:p>
            <a:p>
              <a:pPr eaLnBrk="1" hangingPunct="1">
                <a:lnSpc>
                  <a:spcPct val="130000"/>
                </a:lnSpc>
              </a:pPr>
              <a:r>
                <a:rPr kumimoji="0" lang="en-US" altLang="ko-KR" sz="1400" dirty="0" err="1">
                  <a:latin typeface="Arial" pitchFamily="34" charset="0"/>
                  <a:ea typeface="맑은 고딕" pitchFamily="50" charset="-127"/>
                  <a:cs typeface="Arial" pitchFamily="34" charset="0"/>
                </a:rPr>
                <a:t>Trong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những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trường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hợp</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dưới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đây</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giới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hạn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kiểm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soát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phải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được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điều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chỉnh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bằng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cách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sử</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dụng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những</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dữ</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liệu</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mới</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nhất</a:t>
              </a:r>
              <a:r>
                <a:rPr kumimoji="0" lang="en-US" altLang="ko-KR" sz="1400" dirty="0">
                  <a:latin typeface="Arial" pitchFamily="34" charset="0"/>
                  <a:ea typeface="맑은 고딕" pitchFamily="50" charset="-127"/>
                  <a:cs typeface="Arial" pitchFamily="34" charset="0"/>
                </a:rPr>
                <a:t>.</a:t>
              </a:r>
              <a:endParaRPr kumimoji="0" lang="ko-KR" altLang="en-US" sz="1400" dirty="0">
                <a:latin typeface="Arial" pitchFamily="34" charset="0"/>
                <a:ea typeface="맑은 고딕" pitchFamily="50" charset="-127"/>
                <a:cs typeface="Arial" pitchFamily="34" charset="0"/>
              </a:endParaRPr>
            </a:p>
            <a:p>
              <a:pPr eaLnBrk="1" hangingPunct="1">
                <a:lnSpc>
                  <a:spcPct val="130000"/>
                </a:lnSpc>
              </a:pPr>
              <a:r>
                <a:rPr kumimoji="0" lang="ko-KR" altLang="en-US" sz="1400" dirty="0">
                  <a:latin typeface="Arial" pitchFamily="34" charset="0"/>
                  <a:ea typeface="맑은 고딕" pitchFamily="50" charset="-127"/>
                  <a:cs typeface="Arial" pitchFamily="34" charset="0"/>
                </a:rPr>
                <a:t>    </a:t>
              </a:r>
              <a:r>
                <a:rPr kumimoji="0" lang="ko-KR" altLang="en-US"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Khi</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quá</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trình</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đã</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bị</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thay</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đổi</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thuần</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túy</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từ</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góc</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độ</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kỹ</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thuật</a:t>
              </a:r>
              <a:r>
                <a:rPr kumimoji="0" lang="en-US" altLang="ko-KR" sz="1400" dirty="0">
                  <a:latin typeface="Arial" pitchFamily="34" charset="0"/>
                  <a:ea typeface="맑은 고딕" pitchFamily="50" charset="-127"/>
                  <a:cs typeface="Arial" pitchFamily="34" charset="0"/>
                  <a:sym typeface="Wingdings" pitchFamily="2" charset="2"/>
                </a:rPr>
                <a:t>.</a:t>
              </a:r>
              <a:endParaRPr kumimoji="0" lang="ko-KR" altLang="en-US" sz="1400" dirty="0">
                <a:latin typeface="Arial" pitchFamily="34" charset="0"/>
                <a:ea typeface="맑은 고딕" pitchFamily="50" charset="-127"/>
                <a:cs typeface="Arial" pitchFamily="34" charset="0"/>
              </a:endParaRPr>
            </a:p>
            <a:p>
              <a:pPr eaLnBrk="1" hangingPunct="1">
                <a:lnSpc>
                  <a:spcPct val="130000"/>
                </a:lnSpc>
              </a:pPr>
              <a:r>
                <a:rPr kumimoji="0" lang="ko-KR" altLang="en-US" sz="1400" dirty="0">
                  <a:latin typeface="Arial" pitchFamily="34" charset="0"/>
                  <a:ea typeface="맑은 고딕" pitchFamily="50" charset="-127"/>
                  <a:cs typeface="Arial" pitchFamily="34" charset="0"/>
                </a:rPr>
                <a:t>    </a:t>
              </a:r>
              <a:r>
                <a:rPr kumimoji="0" lang="ko-KR" altLang="en-US"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Khi</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thay</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đổi</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phương</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pháp</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lấy</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mẫu</a:t>
              </a:r>
              <a:r>
                <a:rPr kumimoji="0" lang="en-US" altLang="ko-KR" sz="1400" dirty="0">
                  <a:latin typeface="Arial" pitchFamily="34" charset="0"/>
                  <a:ea typeface="맑은 고딕" pitchFamily="50" charset="-127"/>
                  <a:cs typeface="Arial" pitchFamily="34" charset="0"/>
                </a:rPr>
                <a:t>.</a:t>
              </a:r>
              <a:endParaRPr kumimoji="0" lang="ko-KR" altLang="en-US" sz="1400" dirty="0">
                <a:latin typeface="Arial" pitchFamily="34" charset="0"/>
                <a:ea typeface="맑은 고딕" pitchFamily="50" charset="-127"/>
                <a:cs typeface="Arial" pitchFamily="34" charset="0"/>
              </a:endParaRPr>
            </a:p>
            <a:p>
              <a:pPr eaLnBrk="1" hangingPunct="1">
                <a:lnSpc>
                  <a:spcPct val="130000"/>
                </a:lnSpc>
              </a:pPr>
              <a:r>
                <a:rPr kumimoji="0" lang="ko-KR" altLang="en-US" sz="1400" dirty="0">
                  <a:latin typeface="Arial" pitchFamily="34" charset="0"/>
                  <a:ea typeface="맑은 고딕" pitchFamily="50" charset="-127"/>
                  <a:cs typeface="Arial" pitchFamily="34" charset="0"/>
                </a:rPr>
                <a:t>    </a:t>
              </a:r>
              <a:r>
                <a:rPr kumimoji="0" lang="ko-KR" altLang="en-US"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Khi</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mà</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từ</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biểu</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đồ</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kiểm</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soát</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có</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thể</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chắc</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chắn</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rằng</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quá</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trình</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đã</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xuất</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hiện</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những</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thay</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đổi</a:t>
              </a:r>
              <a:r>
                <a:rPr kumimoji="0" lang="en-US" altLang="ko-KR" sz="1400" dirty="0">
                  <a:latin typeface="Arial" pitchFamily="34" charset="0"/>
                  <a:ea typeface="맑은 고딕" pitchFamily="50" charset="-127"/>
                  <a:cs typeface="Arial" pitchFamily="34" charset="0"/>
                  <a:sym typeface="Wingdings" pitchFamily="2" charset="2"/>
                </a:rPr>
                <a:t>.</a:t>
              </a:r>
              <a:endParaRPr kumimoji="0" lang="ko-KR" altLang="en-US" sz="1400" dirty="0">
                <a:latin typeface="Arial" pitchFamily="34" charset="0"/>
                <a:ea typeface="맑은 고딕" pitchFamily="50" charset="-127"/>
                <a:cs typeface="Arial" pitchFamily="34" charset="0"/>
              </a:endParaRPr>
            </a:p>
            <a:p>
              <a:pPr eaLnBrk="1" hangingPunct="1">
                <a:lnSpc>
                  <a:spcPct val="130000"/>
                </a:lnSpc>
              </a:pPr>
              <a:r>
                <a:rPr kumimoji="0" lang="ko-KR" altLang="en-US" sz="1400" dirty="0">
                  <a:latin typeface="Arial" pitchFamily="34" charset="0"/>
                  <a:ea typeface="맑은 고딕" pitchFamily="50" charset="-127"/>
                  <a:cs typeface="Arial" pitchFamily="34" charset="0"/>
                </a:rPr>
                <a:t>    </a:t>
              </a:r>
              <a:r>
                <a:rPr kumimoji="0" lang="ko-KR" altLang="en-US"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Khi</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đã</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trải</a:t>
              </a:r>
              <a:r>
                <a:rPr kumimoji="0" lang="en-US" altLang="ko-KR" sz="1400" dirty="0">
                  <a:latin typeface="Arial" pitchFamily="34" charset="0"/>
                  <a:ea typeface="맑은 고딕" pitchFamily="50" charset="-127"/>
                  <a:cs typeface="Arial" pitchFamily="34" charset="0"/>
                  <a:sym typeface="Wingdings" pitchFamily="2" charset="2"/>
                </a:rPr>
                <a:t> qua </a:t>
              </a:r>
              <a:r>
                <a:rPr kumimoji="0" lang="en-US" altLang="ko-KR" sz="1400" dirty="0" err="1">
                  <a:latin typeface="Arial" pitchFamily="34" charset="0"/>
                  <a:ea typeface="맑은 고딕" pitchFamily="50" charset="-127"/>
                  <a:cs typeface="Arial" pitchFamily="34" charset="0"/>
                  <a:sym typeface="Wingdings" pitchFamily="2" charset="2"/>
                </a:rPr>
                <a:t>một</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khoảng</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thời</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gian</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nhất</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định</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kể</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từ</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lúc</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bắt</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đầu</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tiến</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hành</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quản</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lý</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quá</a:t>
              </a:r>
              <a:r>
                <a:rPr kumimoji="0" lang="en-US" altLang="ko-KR" sz="1400" dirty="0">
                  <a:latin typeface="Arial" pitchFamily="34" charset="0"/>
                  <a:ea typeface="맑은 고딕" pitchFamily="50" charset="-127"/>
                  <a:cs typeface="Arial" pitchFamily="34" charset="0"/>
                  <a:sym typeface="Wingdings" pitchFamily="2" charset="2"/>
                </a:rPr>
                <a:t> </a:t>
              </a:r>
              <a:r>
                <a:rPr kumimoji="0" lang="en-US" altLang="ko-KR" sz="1400" dirty="0" err="1">
                  <a:latin typeface="Arial" pitchFamily="34" charset="0"/>
                  <a:ea typeface="맑은 고딕" pitchFamily="50" charset="-127"/>
                  <a:cs typeface="Arial" pitchFamily="34" charset="0"/>
                  <a:sym typeface="Wingdings" pitchFamily="2" charset="2"/>
                </a:rPr>
                <a:t>trình</a:t>
              </a:r>
              <a:r>
                <a:rPr kumimoji="0" lang="en-US" altLang="ko-KR" sz="1400" dirty="0">
                  <a:latin typeface="Arial" pitchFamily="34" charset="0"/>
                  <a:ea typeface="맑은 고딕" pitchFamily="50" charset="-127"/>
                  <a:cs typeface="Arial" pitchFamily="34" charset="0"/>
                </a:rPr>
                <a:t>. </a:t>
              </a:r>
            </a:p>
            <a:p>
              <a:pPr eaLnBrk="1" hangingPunct="1">
                <a:lnSpc>
                  <a:spcPct val="130000"/>
                </a:lnSpc>
              </a:pP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quyết</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định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dựa</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trên</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kinh</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nghiệm</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thực</a:t>
              </a:r>
              <a:r>
                <a:rPr kumimoji="0" lang="en-US" altLang="ko-KR" sz="1400" dirty="0">
                  <a:latin typeface="Arial" pitchFamily="34" charset="0"/>
                  <a:ea typeface="맑은 고딕" pitchFamily="50" charset="-127"/>
                  <a:cs typeface="Arial" pitchFamily="34" charset="0"/>
                </a:rPr>
                <a:t> </a:t>
              </a:r>
              <a:r>
                <a:rPr kumimoji="0" lang="en-US" altLang="ko-KR" sz="1400" dirty="0" err="1">
                  <a:latin typeface="Arial" pitchFamily="34" charset="0"/>
                  <a:ea typeface="맑은 고딕" pitchFamily="50" charset="-127"/>
                  <a:cs typeface="Arial" pitchFamily="34" charset="0"/>
                </a:rPr>
                <a:t>tế</a:t>
              </a:r>
              <a:r>
                <a:rPr kumimoji="0" lang="en-US" altLang="ko-KR" sz="1400" dirty="0">
                  <a:latin typeface="Arial" pitchFamily="34" charset="0"/>
                  <a:ea typeface="맑은 고딕" pitchFamily="50" charset="-127"/>
                  <a:cs typeface="Arial" pitchFamily="34" charset="0"/>
                </a:rPr>
                <a:t>)</a:t>
              </a:r>
              <a:endParaRPr kumimoji="0" lang="ko-KR" altLang="en-US" sz="1400" dirty="0">
                <a:latin typeface="Arial" pitchFamily="34" charset="0"/>
                <a:ea typeface="맑은 고딕" pitchFamily="50" charset="-127"/>
                <a:cs typeface="Arial" pitchFamily="34" charset="0"/>
              </a:endParaRPr>
            </a:p>
          </p:txBody>
        </p:sp>
      </p:gr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262</a:t>
            </a:fld>
            <a:endParaRPr lang="ko-KR" altLang="en-US" dirty="0">
              <a:latin typeface="Arial" pitchFamily="34" charset="0"/>
              <a:cs typeface="Arial" pitchFamily="34" charset="0"/>
            </a:endParaRPr>
          </a:p>
        </p:txBody>
      </p:sp>
      <p:sp>
        <p:nvSpPr>
          <p:cNvPr id="6" name="제목 8"/>
          <p:cNvSpPr txBox="1">
            <a:spLocks/>
          </p:cNvSpPr>
          <p:nvPr/>
        </p:nvSpPr>
        <p:spPr bwMode="auto">
          <a:xfrm>
            <a:off x="195263" y="188913"/>
            <a:ext cx="8813800" cy="488950"/>
          </a:xfrm>
          <a:prstGeom prst="rect">
            <a:avLst/>
          </a:prstGeom>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a:ln>
                  <a:noFill/>
                </a:ln>
                <a:solidFill>
                  <a:schemeClr val="tx1"/>
                </a:solidFill>
                <a:effectLst/>
                <a:uLnTx/>
                <a:uFillTx/>
                <a:latin typeface="Arial" pitchFamily="34" charset="0"/>
                <a:ea typeface="+mn-ea"/>
                <a:cs typeface="Arial" pitchFamily="34" charset="0"/>
              </a:rPr>
              <a:t>5. Phương pháp xây dựng</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1183275939"/>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6. </a:t>
            </a:r>
            <a:r>
              <a:rPr lang="en-US" altLang="ko-KR" sz="2000" b="1" dirty="0" err="1"/>
              <a:t>Cách</a:t>
            </a:r>
            <a:r>
              <a:rPr lang="en-US" altLang="ko-KR" sz="2000" b="1" dirty="0"/>
              <a:t> </a:t>
            </a:r>
            <a:r>
              <a:rPr lang="en-US" altLang="ko-KR" sz="2000" b="1" dirty="0" err="1"/>
              <a:t>đọc</a:t>
            </a:r>
            <a:r>
              <a:rPr lang="en-US" altLang="ko-KR" sz="2000" b="1" dirty="0"/>
              <a:t> </a:t>
            </a:r>
            <a:r>
              <a:rPr lang="en-US" altLang="ko-KR" sz="2000" b="1" dirty="0" err="1"/>
              <a:t>biểu</a:t>
            </a:r>
            <a:r>
              <a:rPr lang="en-US" altLang="ko-KR" sz="2000" b="1" dirty="0"/>
              <a:t> </a:t>
            </a:r>
            <a:r>
              <a:rPr lang="en-US" altLang="ko-KR" sz="2000" b="1" dirty="0" err="1"/>
              <a:t>đồ</a:t>
            </a:r>
            <a:r>
              <a:rPr lang="en-US" altLang="ko-KR" sz="2000" b="1" dirty="0"/>
              <a:t> </a:t>
            </a:r>
            <a:r>
              <a:rPr lang="en-US" altLang="ko-KR" sz="2000" b="1" dirty="0" err="1"/>
              <a:t>kiểm</a:t>
            </a:r>
            <a:r>
              <a:rPr lang="en-US" altLang="ko-KR" sz="2000" b="1" dirty="0"/>
              <a:t> </a:t>
            </a:r>
            <a:r>
              <a:rPr lang="en-US" altLang="ko-KR" sz="2000" b="1" dirty="0" err="1"/>
              <a:t>soát</a:t>
            </a:r>
            <a:endParaRPr lang="ko-KR" altLang="en-US" sz="2000" b="1" dirty="0"/>
          </a:p>
        </p:txBody>
      </p:sp>
      <p:sp>
        <p:nvSpPr>
          <p:cNvPr id="23556" name="Rectangle 26"/>
          <p:cNvSpPr>
            <a:spLocks noChangeArrowheads="1"/>
          </p:cNvSpPr>
          <p:nvPr/>
        </p:nvSpPr>
        <p:spPr bwMode="auto">
          <a:xfrm>
            <a:off x="874576" y="1103313"/>
            <a:ext cx="8156848" cy="380873"/>
          </a:xfrm>
          <a:prstGeom prst="rect">
            <a:avLst/>
          </a:prstGeom>
          <a:solidFill>
            <a:schemeClr val="bg1">
              <a:lumMod val="85000"/>
            </a:schemeClr>
          </a:solidFill>
          <a:ln>
            <a:noFill/>
          </a:ln>
          <a:effectLst/>
        </p:spPr>
        <p:txBody>
          <a:bodyPr wrap="none" lIns="102870" tIns="51435" rIns="102870" bIns="51435">
            <a:spAutoFit/>
          </a:bodyPr>
          <a:lstStyle/>
          <a:p>
            <a:pPr algn="ctr" defTabSz="1028700" eaLnBrk="0" latinLnBrk="0" hangingPunct="0">
              <a:defRPr/>
            </a:pPr>
            <a:r>
              <a:rPr kumimoji="0" lang="en-US" altLang="en-US" b="1" dirty="0" err="1">
                <a:solidFill>
                  <a:srgbClr val="000000"/>
                </a:solidFill>
                <a:latin typeface="arial" pitchFamily="34" charset="0"/>
                <a:ea typeface="맑은 고딕" panose="020B0503020000020004" pitchFamily="50" charset="-127"/>
              </a:rPr>
              <a:t>Khái</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niệm</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về</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quá</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trình</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ổn</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định</a:t>
            </a:r>
            <a:r>
              <a:rPr kumimoji="0" lang="en-US" altLang="en-US" b="1" dirty="0">
                <a:solidFill>
                  <a:srgbClr val="000000"/>
                </a:solidFill>
                <a:latin typeface="arial" pitchFamily="34" charset="0"/>
                <a:ea typeface="맑은 고딕" panose="020B0503020000020004" pitchFamily="50" charset="-127"/>
              </a:rPr>
              <a:t> ( = </a:t>
            </a:r>
            <a:r>
              <a:rPr kumimoji="0" lang="en-US" altLang="en-US" b="1" dirty="0" err="1">
                <a:solidFill>
                  <a:srgbClr val="000000"/>
                </a:solidFill>
                <a:latin typeface="arial" pitchFamily="34" charset="0"/>
                <a:ea typeface="맑은 고딕" panose="020B0503020000020004" pitchFamily="50" charset="-127"/>
              </a:rPr>
              <a:t>quá</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trình</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nằm</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trong</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vùng</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kiểm</a:t>
            </a:r>
            <a:r>
              <a:rPr kumimoji="0" lang="en-US" altLang="en-US" b="1" dirty="0">
                <a:solidFill>
                  <a:srgbClr val="000000"/>
                </a:solidFill>
                <a:latin typeface="arial" pitchFamily="34" charset="0"/>
                <a:ea typeface="맑은 고딕" panose="020B0503020000020004" pitchFamily="50" charset="-127"/>
              </a:rPr>
              <a:t> </a:t>
            </a:r>
            <a:r>
              <a:rPr kumimoji="0" lang="en-US" altLang="en-US" b="1" dirty="0" err="1">
                <a:solidFill>
                  <a:srgbClr val="000000"/>
                </a:solidFill>
                <a:latin typeface="arial" pitchFamily="34" charset="0"/>
                <a:ea typeface="맑은 고딕" panose="020B0503020000020004" pitchFamily="50" charset="-127"/>
              </a:rPr>
              <a:t>soát</a:t>
            </a:r>
            <a:r>
              <a:rPr kumimoji="0" lang="en-US" altLang="en-US" b="1" dirty="0">
                <a:solidFill>
                  <a:srgbClr val="000000"/>
                </a:solidFill>
                <a:latin typeface="arial" pitchFamily="34" charset="0"/>
                <a:ea typeface="맑은 고딕" panose="020B0503020000020004" pitchFamily="50" charset="-127"/>
              </a:rPr>
              <a:t>)</a:t>
            </a:r>
          </a:p>
        </p:txBody>
      </p:sp>
      <p:sp>
        <p:nvSpPr>
          <p:cNvPr id="23557" name="Rectangle 3"/>
          <p:cNvSpPr>
            <a:spLocks noChangeArrowheads="1"/>
          </p:cNvSpPr>
          <p:nvPr/>
        </p:nvSpPr>
        <p:spPr bwMode="auto">
          <a:xfrm>
            <a:off x="776535" y="1628800"/>
            <a:ext cx="8232527" cy="17549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latinLnBrk="0">
              <a:lnSpc>
                <a:spcPct val="150000"/>
              </a:lnSpc>
              <a:buFontTx/>
              <a:buChar char="•"/>
            </a:pP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Quá</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trình</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được</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coi</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là</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ổn</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định</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khi</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sản</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phẩm</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của</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nó</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chỉ</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chịu</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tác</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động</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bởi</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nhóm</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nguyên</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nhân</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ngẫu</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nhiên</a:t>
            </a:r>
            <a:r>
              <a:rPr kumimoji="0" lang="en-US" altLang="ko-KR" sz="1200" dirty="0">
                <a:latin typeface="arial" pitchFamily="34" charset="0"/>
                <a:ea typeface="맑은 고딕" pitchFamily="50" charset="-127"/>
              </a:rPr>
              <a:t>.</a:t>
            </a:r>
          </a:p>
          <a:p>
            <a:pPr algn="just" latinLnBrk="0">
              <a:lnSpc>
                <a:spcPct val="150000"/>
              </a:lnSpc>
              <a:buFontTx/>
              <a:buChar char="•"/>
            </a:pP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Ổn</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định</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nghĩa</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là</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giá</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trị</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trung</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bình</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và</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phạm</a:t>
            </a:r>
            <a:r>
              <a:rPr kumimoji="0" lang="en-US" altLang="ko-KR" sz="1200" dirty="0">
                <a:latin typeface="arial" pitchFamily="34" charset="0"/>
                <a:ea typeface="맑은 고딕" pitchFamily="50" charset="-127"/>
              </a:rPr>
              <a:t> vi </a:t>
            </a:r>
            <a:r>
              <a:rPr kumimoji="0" lang="en-US" altLang="ko-KR" sz="1200" dirty="0" err="1">
                <a:latin typeface="arial" pitchFamily="34" charset="0"/>
                <a:ea typeface="맑은 고딕" pitchFamily="50" charset="-127"/>
              </a:rPr>
              <a:t>của</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tất</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cả</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các</a:t>
            </a:r>
            <a:r>
              <a:rPr kumimoji="0" lang="en-US" altLang="ko-KR" sz="1200" dirty="0">
                <a:latin typeface="arial" pitchFamily="34" charset="0"/>
                <a:ea typeface="맑은 고딕" pitchFamily="50" charset="-127"/>
              </a:rPr>
              <a:t> subgroup </a:t>
            </a:r>
            <a:r>
              <a:rPr kumimoji="0" lang="en-US" altLang="ko-KR" sz="1200" dirty="0" err="1">
                <a:latin typeface="arial" pitchFamily="34" charset="0"/>
                <a:ea typeface="맑은 고딕" pitchFamily="50" charset="-127"/>
              </a:rPr>
              <a:t>đều</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nằm</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trong</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vùng</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giới</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hạn</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kiểm</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soát</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và</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không</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có</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bất</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kỳ</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dấu</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hiệu</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nào</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bị</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tác</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động</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bởi</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nhóm</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nguyên</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nhân</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không</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ngẫu</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nhiên</a:t>
            </a:r>
            <a:r>
              <a:rPr kumimoji="0" lang="en-US" altLang="ko-KR" sz="1200" dirty="0">
                <a:latin typeface="arial" pitchFamily="34" charset="0"/>
                <a:ea typeface="맑은 고딕" pitchFamily="50" charset="-127"/>
              </a:rPr>
              <a:t>.</a:t>
            </a:r>
          </a:p>
          <a:p>
            <a:pPr algn="just" latinLnBrk="0">
              <a:lnSpc>
                <a:spcPct val="150000"/>
              </a:lnSpc>
              <a:buFontTx/>
              <a:buChar char="•"/>
            </a:pPr>
            <a:r>
              <a:rPr kumimoji="0" lang="en-US" altLang="ko-KR" sz="1200" dirty="0">
                <a:latin typeface="arial" pitchFamily="34" charset="0"/>
                <a:ea typeface="맑은 고딕" pitchFamily="50" charset="-127"/>
              </a:rPr>
              <a:t> </a:t>
            </a:r>
            <a:r>
              <a:rPr kumimoji="0" lang="vi-VN" altLang="ko-KR" sz="1200" dirty="0">
                <a:latin typeface="arial" pitchFamily="34" charset="0"/>
                <a:ea typeface="맑은 고딕" pitchFamily="50" charset="-127"/>
              </a:rPr>
              <a:t>Nếu có bất kỳ điểm xảy ra bên ngoài giới hạn kiểm soát trong c</a:t>
            </a:r>
            <a:r>
              <a:rPr kumimoji="0" lang="en-US" altLang="ko-KR" sz="1200" dirty="0">
                <a:latin typeface="arial" pitchFamily="34" charset="0"/>
                <a:ea typeface="맑은 고딕" pitchFamily="50" charset="-127"/>
              </a:rPr>
              <a:t> </a:t>
            </a:r>
            <a:r>
              <a:rPr kumimoji="0" lang="vi-VN" altLang="ko-KR" sz="1200" dirty="0">
                <a:latin typeface="arial" pitchFamily="34" charset="0"/>
                <a:ea typeface="맑은 고딕" pitchFamily="50" charset="-127"/>
              </a:rPr>
              <a:t>ác biểu đồ kiểm soát, sự phân bố của các điểm dữ liệu không phải là ngẫu nhiên, hay nói cách khác, nếu có một số xu hướng trong phân phối, thì đây có thể là một bằng chứng rõ ràng về nguyên nhân </a:t>
            </a:r>
            <a:r>
              <a:rPr kumimoji="0" lang="en-US" altLang="ko-KR" sz="1200" dirty="0" err="1">
                <a:latin typeface="arial" pitchFamily="34" charset="0"/>
                <a:ea typeface="맑은 고딕" pitchFamily="50" charset="-127"/>
              </a:rPr>
              <a:t>không</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ngẫu</a:t>
            </a:r>
            <a:r>
              <a:rPr kumimoji="0" lang="en-US" altLang="ko-KR" sz="1200" dirty="0">
                <a:latin typeface="arial" pitchFamily="34" charset="0"/>
                <a:ea typeface="맑은 고딕" pitchFamily="50" charset="-127"/>
              </a:rPr>
              <a:t> </a:t>
            </a:r>
            <a:r>
              <a:rPr kumimoji="0" lang="en-US" altLang="ko-KR" sz="1200" dirty="0" err="1">
                <a:latin typeface="arial" pitchFamily="34" charset="0"/>
                <a:ea typeface="맑은 고딕" pitchFamily="50" charset="-127"/>
              </a:rPr>
              <a:t>nhiên</a:t>
            </a:r>
            <a:r>
              <a:rPr kumimoji="0" lang="vi-VN" altLang="ko-KR" sz="1200" dirty="0">
                <a:latin typeface="arial" pitchFamily="34" charset="0"/>
                <a:ea typeface="맑은 고딕" pitchFamily="50" charset="-127"/>
              </a:rPr>
              <a:t>.</a:t>
            </a:r>
            <a:endParaRPr kumimoji="0" lang="en-US" altLang="ko-KR" sz="1200" dirty="0">
              <a:latin typeface="arial" pitchFamily="34" charset="0"/>
              <a:ea typeface="맑은 고딕" pitchFamily="50" charset="-127"/>
            </a:endParaRPr>
          </a:p>
        </p:txBody>
      </p:sp>
      <p:sp>
        <p:nvSpPr>
          <p:cNvPr id="23558" name="Line 4"/>
          <p:cNvSpPr>
            <a:spLocks noChangeShapeType="1"/>
          </p:cNvSpPr>
          <p:nvPr/>
        </p:nvSpPr>
        <p:spPr bwMode="auto">
          <a:xfrm flipV="1">
            <a:off x="1965325" y="4918075"/>
            <a:ext cx="5368925" cy="3175"/>
          </a:xfrm>
          <a:prstGeom prst="line">
            <a:avLst/>
          </a:prstGeom>
          <a:noFill/>
          <a:ln w="25400">
            <a:solidFill>
              <a:srgbClr val="063DE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23559" name="Line 5"/>
          <p:cNvSpPr>
            <a:spLocks noChangeShapeType="1"/>
          </p:cNvSpPr>
          <p:nvPr/>
        </p:nvSpPr>
        <p:spPr bwMode="auto">
          <a:xfrm>
            <a:off x="7408863" y="4356100"/>
            <a:ext cx="109537" cy="0"/>
          </a:xfrm>
          <a:prstGeom prst="line">
            <a:avLst/>
          </a:prstGeom>
          <a:noFill/>
          <a:ln w="38100" cmpd="dbl">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23560" name="Line 8"/>
          <p:cNvSpPr>
            <a:spLocks noChangeShapeType="1"/>
          </p:cNvSpPr>
          <p:nvPr/>
        </p:nvSpPr>
        <p:spPr bwMode="auto">
          <a:xfrm>
            <a:off x="1990725" y="3952875"/>
            <a:ext cx="5365750" cy="0"/>
          </a:xfrm>
          <a:prstGeom prst="line">
            <a:avLst/>
          </a:prstGeom>
          <a:noFill/>
          <a:ln w="25400">
            <a:solidFill>
              <a:srgbClr val="063DE8"/>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23561" name="Rectangle 9"/>
          <p:cNvSpPr>
            <a:spLocks noChangeArrowheads="1"/>
          </p:cNvSpPr>
          <p:nvPr/>
        </p:nvSpPr>
        <p:spPr bwMode="auto">
          <a:xfrm>
            <a:off x="1976438" y="3970338"/>
            <a:ext cx="5348287" cy="919162"/>
          </a:xfrm>
          <a:prstGeom prst="rect">
            <a:avLst/>
          </a:prstGeom>
          <a:solidFill>
            <a:srgbClr val="FFCC00">
              <a:alpha val="67058"/>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endParaRPr kumimoji="0" lang="ko-KR" altLang="ko-KR" sz="1400" b="1" dirty="0">
              <a:latin typeface="arial" pitchFamily="34" charset="0"/>
              <a:ea typeface="맑은 고딕" pitchFamily="50" charset="-127"/>
            </a:endParaRPr>
          </a:p>
        </p:txBody>
      </p:sp>
      <p:sp>
        <p:nvSpPr>
          <p:cNvPr id="23562" name="Line 10"/>
          <p:cNvSpPr>
            <a:spLocks noChangeShapeType="1"/>
          </p:cNvSpPr>
          <p:nvPr/>
        </p:nvSpPr>
        <p:spPr bwMode="auto">
          <a:xfrm>
            <a:off x="1957388" y="3741738"/>
            <a:ext cx="0" cy="1425575"/>
          </a:xfrm>
          <a:prstGeom prst="line">
            <a:avLst/>
          </a:prstGeom>
          <a:noFill/>
          <a:ln w="25400">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23563" name="Line 11"/>
          <p:cNvSpPr>
            <a:spLocks noChangeShapeType="1"/>
          </p:cNvSpPr>
          <p:nvPr/>
        </p:nvSpPr>
        <p:spPr bwMode="auto">
          <a:xfrm>
            <a:off x="1989138" y="4427538"/>
            <a:ext cx="5365750" cy="0"/>
          </a:xfrm>
          <a:prstGeom prst="line">
            <a:avLst/>
          </a:prstGeom>
          <a:noFill/>
          <a:ln w="12700">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grpSp>
        <p:nvGrpSpPr>
          <p:cNvPr id="3" name="Group 12"/>
          <p:cNvGrpSpPr>
            <a:grpSpLocks/>
          </p:cNvGrpSpPr>
          <p:nvPr/>
        </p:nvGrpSpPr>
        <p:grpSpPr bwMode="auto">
          <a:xfrm>
            <a:off x="2517775" y="3697288"/>
            <a:ext cx="5248280" cy="1460500"/>
            <a:chOff x="1056" y="2985"/>
            <a:chExt cx="2479" cy="1228"/>
          </a:xfrm>
        </p:grpSpPr>
        <p:grpSp>
          <p:nvGrpSpPr>
            <p:cNvPr id="4" name="Group 13"/>
            <p:cNvGrpSpPr>
              <a:grpSpLocks/>
            </p:cNvGrpSpPr>
            <p:nvPr/>
          </p:nvGrpSpPr>
          <p:grpSpPr bwMode="auto">
            <a:xfrm>
              <a:off x="3307" y="3097"/>
              <a:ext cx="228" cy="1018"/>
              <a:chOff x="3307" y="3097"/>
              <a:chExt cx="228" cy="1018"/>
            </a:xfrm>
          </p:grpSpPr>
          <p:sp>
            <p:nvSpPr>
              <p:cNvPr id="23570" name="Rectangle 14"/>
              <p:cNvSpPr>
                <a:spLocks noChangeArrowheads="1"/>
              </p:cNvSpPr>
              <p:nvPr/>
            </p:nvSpPr>
            <p:spPr bwMode="auto">
              <a:xfrm>
                <a:off x="3312" y="3097"/>
                <a:ext cx="223"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lvl1pPr defTabSz="661988" eaLnBrk="0" hangingPunct="0">
                  <a:defRPr kumimoji="1">
                    <a:solidFill>
                      <a:schemeClr val="tx1"/>
                    </a:solidFill>
                    <a:latin typeface="굴림" pitchFamily="50" charset="-127"/>
                    <a:ea typeface="굴림" pitchFamily="50" charset="-127"/>
                  </a:defRPr>
                </a:lvl1pPr>
                <a:lvl2pPr marL="742950" indent="-285750" defTabSz="661988" eaLnBrk="0" hangingPunct="0">
                  <a:defRPr kumimoji="1">
                    <a:solidFill>
                      <a:schemeClr val="tx1"/>
                    </a:solidFill>
                    <a:latin typeface="굴림" pitchFamily="50" charset="-127"/>
                    <a:ea typeface="굴림" pitchFamily="50" charset="-127"/>
                  </a:defRPr>
                </a:lvl2pPr>
                <a:lvl3pPr marL="1143000" indent="-228600" defTabSz="661988" eaLnBrk="0" hangingPunct="0">
                  <a:defRPr kumimoji="1">
                    <a:solidFill>
                      <a:schemeClr val="tx1"/>
                    </a:solidFill>
                    <a:latin typeface="굴림" pitchFamily="50" charset="-127"/>
                    <a:ea typeface="굴림" pitchFamily="50" charset="-127"/>
                  </a:defRPr>
                </a:lvl3pPr>
                <a:lvl4pPr marL="1600200" indent="-228600" defTabSz="661988" eaLnBrk="0" hangingPunct="0">
                  <a:defRPr kumimoji="1">
                    <a:solidFill>
                      <a:schemeClr val="tx1"/>
                    </a:solidFill>
                    <a:latin typeface="굴림" pitchFamily="50" charset="-127"/>
                    <a:ea typeface="굴림" pitchFamily="50" charset="-127"/>
                  </a:defRPr>
                </a:lvl4pPr>
                <a:lvl5pPr marL="2057400" indent="-228600" defTabSz="661988" eaLnBrk="0" hangingPunct="0">
                  <a:defRPr kumimoji="1">
                    <a:solidFill>
                      <a:schemeClr val="tx1"/>
                    </a:solidFill>
                    <a:latin typeface="굴림" pitchFamily="50" charset="-127"/>
                    <a:ea typeface="굴림" pitchFamily="50" charset="-127"/>
                  </a:defRPr>
                </a:lvl5pPr>
                <a:lvl6pPr marL="25146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90000"/>
                  </a:lnSpc>
                </a:pPr>
                <a:r>
                  <a:rPr kumimoji="0" lang="en-US" altLang="ko-KR" sz="1200" b="1" dirty="0">
                    <a:latin typeface="arial" pitchFamily="34" charset="0"/>
                    <a:ea typeface="맑은 고딕" pitchFamily="50" charset="-127"/>
                  </a:rPr>
                  <a:t>UCL</a:t>
                </a:r>
              </a:p>
            </p:txBody>
          </p:sp>
          <p:sp>
            <p:nvSpPr>
              <p:cNvPr id="23571" name="Rectangle 15"/>
              <p:cNvSpPr>
                <a:spLocks noChangeArrowheads="1"/>
              </p:cNvSpPr>
              <p:nvPr/>
            </p:nvSpPr>
            <p:spPr bwMode="auto">
              <a:xfrm>
                <a:off x="3307" y="3908"/>
                <a:ext cx="216"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lvl1pPr defTabSz="661988" eaLnBrk="0" hangingPunct="0">
                  <a:defRPr kumimoji="1">
                    <a:solidFill>
                      <a:schemeClr val="tx1"/>
                    </a:solidFill>
                    <a:latin typeface="굴림" pitchFamily="50" charset="-127"/>
                    <a:ea typeface="굴림" pitchFamily="50" charset="-127"/>
                  </a:defRPr>
                </a:lvl1pPr>
                <a:lvl2pPr marL="742950" indent="-285750" defTabSz="661988" eaLnBrk="0" hangingPunct="0">
                  <a:defRPr kumimoji="1">
                    <a:solidFill>
                      <a:schemeClr val="tx1"/>
                    </a:solidFill>
                    <a:latin typeface="굴림" pitchFamily="50" charset="-127"/>
                    <a:ea typeface="굴림" pitchFamily="50" charset="-127"/>
                  </a:defRPr>
                </a:lvl2pPr>
                <a:lvl3pPr marL="1143000" indent="-228600" defTabSz="661988" eaLnBrk="0" hangingPunct="0">
                  <a:defRPr kumimoji="1">
                    <a:solidFill>
                      <a:schemeClr val="tx1"/>
                    </a:solidFill>
                    <a:latin typeface="굴림" pitchFamily="50" charset="-127"/>
                    <a:ea typeface="굴림" pitchFamily="50" charset="-127"/>
                  </a:defRPr>
                </a:lvl3pPr>
                <a:lvl4pPr marL="1600200" indent="-228600" defTabSz="661988" eaLnBrk="0" hangingPunct="0">
                  <a:defRPr kumimoji="1">
                    <a:solidFill>
                      <a:schemeClr val="tx1"/>
                    </a:solidFill>
                    <a:latin typeface="굴림" pitchFamily="50" charset="-127"/>
                    <a:ea typeface="굴림" pitchFamily="50" charset="-127"/>
                  </a:defRPr>
                </a:lvl4pPr>
                <a:lvl5pPr marL="2057400" indent="-228600" defTabSz="661988" eaLnBrk="0" hangingPunct="0">
                  <a:defRPr kumimoji="1">
                    <a:solidFill>
                      <a:schemeClr val="tx1"/>
                    </a:solidFill>
                    <a:latin typeface="굴림" pitchFamily="50" charset="-127"/>
                    <a:ea typeface="굴림" pitchFamily="50" charset="-127"/>
                  </a:defRPr>
                </a:lvl5pPr>
                <a:lvl6pPr marL="25146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90000"/>
                  </a:lnSpc>
                </a:pPr>
                <a:r>
                  <a:rPr kumimoji="0" lang="en-US" altLang="ko-KR" sz="1200" b="1" dirty="0">
                    <a:latin typeface="arial" pitchFamily="34" charset="0"/>
                    <a:ea typeface="맑은 고딕" pitchFamily="50" charset="-127"/>
                  </a:rPr>
                  <a:t>LCL</a:t>
                </a:r>
              </a:p>
            </p:txBody>
          </p:sp>
          <p:sp>
            <p:nvSpPr>
              <p:cNvPr id="23572" name="Rectangle 16"/>
              <p:cNvSpPr>
                <a:spLocks noChangeArrowheads="1"/>
              </p:cNvSpPr>
              <p:nvPr/>
            </p:nvSpPr>
            <p:spPr bwMode="auto">
              <a:xfrm>
                <a:off x="3333" y="3494"/>
                <a:ext cx="123"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lvl1pPr defTabSz="661988" eaLnBrk="0" hangingPunct="0">
                  <a:defRPr kumimoji="1">
                    <a:solidFill>
                      <a:schemeClr val="tx1"/>
                    </a:solidFill>
                    <a:latin typeface="굴림" pitchFamily="50" charset="-127"/>
                    <a:ea typeface="굴림" pitchFamily="50" charset="-127"/>
                  </a:defRPr>
                </a:lvl1pPr>
                <a:lvl2pPr marL="742950" indent="-285750" defTabSz="661988" eaLnBrk="0" hangingPunct="0">
                  <a:defRPr kumimoji="1">
                    <a:solidFill>
                      <a:schemeClr val="tx1"/>
                    </a:solidFill>
                    <a:latin typeface="굴림" pitchFamily="50" charset="-127"/>
                    <a:ea typeface="굴림" pitchFamily="50" charset="-127"/>
                  </a:defRPr>
                </a:lvl2pPr>
                <a:lvl3pPr marL="1143000" indent="-228600" defTabSz="661988" eaLnBrk="0" hangingPunct="0">
                  <a:defRPr kumimoji="1">
                    <a:solidFill>
                      <a:schemeClr val="tx1"/>
                    </a:solidFill>
                    <a:latin typeface="굴림" pitchFamily="50" charset="-127"/>
                    <a:ea typeface="굴림" pitchFamily="50" charset="-127"/>
                  </a:defRPr>
                </a:lvl3pPr>
                <a:lvl4pPr marL="1600200" indent="-228600" defTabSz="661988" eaLnBrk="0" hangingPunct="0">
                  <a:defRPr kumimoji="1">
                    <a:solidFill>
                      <a:schemeClr val="tx1"/>
                    </a:solidFill>
                    <a:latin typeface="굴림" pitchFamily="50" charset="-127"/>
                    <a:ea typeface="굴림" pitchFamily="50" charset="-127"/>
                  </a:defRPr>
                </a:lvl4pPr>
                <a:lvl5pPr marL="2057400" indent="-228600" defTabSz="661988" eaLnBrk="0" hangingPunct="0">
                  <a:defRPr kumimoji="1">
                    <a:solidFill>
                      <a:schemeClr val="tx1"/>
                    </a:solidFill>
                    <a:latin typeface="굴림" pitchFamily="50" charset="-127"/>
                    <a:ea typeface="굴림" pitchFamily="50" charset="-127"/>
                  </a:defRPr>
                </a:lvl5pPr>
                <a:lvl6pPr marL="25146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90000"/>
                  </a:lnSpc>
                </a:pPr>
                <a:r>
                  <a:rPr kumimoji="0" lang="en-US" altLang="ko-KR" sz="1200" b="1" dirty="0">
                    <a:latin typeface="arial" pitchFamily="34" charset="0"/>
                    <a:ea typeface="맑은 고딕" pitchFamily="50" charset="-127"/>
                  </a:rPr>
                  <a:t>X</a:t>
                </a:r>
              </a:p>
            </p:txBody>
          </p:sp>
        </p:grpSp>
        <p:sp>
          <p:nvSpPr>
            <p:cNvPr id="23568" name="Rectangle 17"/>
            <p:cNvSpPr>
              <a:spLocks noChangeArrowheads="1"/>
            </p:cNvSpPr>
            <p:nvPr/>
          </p:nvSpPr>
          <p:spPr bwMode="auto">
            <a:xfrm>
              <a:off x="1056" y="2985"/>
              <a:ext cx="1392"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lvl1pPr defTabSz="661988" eaLnBrk="0" hangingPunct="0">
                <a:defRPr kumimoji="1">
                  <a:solidFill>
                    <a:schemeClr val="tx1"/>
                  </a:solidFill>
                  <a:latin typeface="굴림" pitchFamily="50" charset="-127"/>
                  <a:ea typeface="굴림" pitchFamily="50" charset="-127"/>
                </a:defRPr>
              </a:lvl1pPr>
              <a:lvl2pPr marL="742950" indent="-285750" defTabSz="661988" eaLnBrk="0" hangingPunct="0">
                <a:defRPr kumimoji="1">
                  <a:solidFill>
                    <a:schemeClr val="tx1"/>
                  </a:solidFill>
                  <a:latin typeface="굴림" pitchFamily="50" charset="-127"/>
                  <a:ea typeface="굴림" pitchFamily="50" charset="-127"/>
                </a:defRPr>
              </a:lvl2pPr>
              <a:lvl3pPr marL="1143000" indent="-228600" defTabSz="661988" eaLnBrk="0" hangingPunct="0">
                <a:defRPr kumimoji="1">
                  <a:solidFill>
                    <a:schemeClr val="tx1"/>
                  </a:solidFill>
                  <a:latin typeface="굴림" pitchFamily="50" charset="-127"/>
                  <a:ea typeface="굴림" pitchFamily="50" charset="-127"/>
                </a:defRPr>
              </a:lvl3pPr>
              <a:lvl4pPr marL="1600200" indent="-228600" defTabSz="661988" eaLnBrk="0" hangingPunct="0">
                <a:defRPr kumimoji="1">
                  <a:solidFill>
                    <a:schemeClr val="tx1"/>
                  </a:solidFill>
                  <a:latin typeface="굴림" pitchFamily="50" charset="-127"/>
                  <a:ea typeface="굴림" pitchFamily="50" charset="-127"/>
                </a:defRPr>
              </a:lvl4pPr>
              <a:lvl5pPr marL="2057400" indent="-228600" defTabSz="661988" eaLnBrk="0" hangingPunct="0">
                <a:defRPr kumimoji="1">
                  <a:solidFill>
                    <a:schemeClr val="tx1"/>
                  </a:solidFill>
                  <a:latin typeface="굴림" pitchFamily="50" charset="-127"/>
                  <a:ea typeface="굴림" pitchFamily="50" charset="-127"/>
                </a:defRPr>
              </a:lvl5pPr>
              <a:lvl6pPr marL="25146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90000"/>
                </a:lnSpc>
              </a:pPr>
              <a:r>
                <a:rPr kumimoji="0" lang="en-US" altLang="ko-KR" sz="1200" b="1" dirty="0" err="1">
                  <a:solidFill>
                    <a:schemeClr val="hlink"/>
                  </a:solidFill>
                  <a:latin typeface="arial" pitchFamily="34" charset="0"/>
                  <a:ea typeface="맑은 고딕" pitchFamily="50" charset="-127"/>
                </a:rPr>
                <a:t>Vùng</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nguyên</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nhân</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không</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ngẫu</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nhiên</a:t>
              </a:r>
              <a:endParaRPr kumimoji="0" lang="ko-KR" altLang="en-US" sz="1200" b="1" dirty="0">
                <a:solidFill>
                  <a:schemeClr val="hlink"/>
                </a:solidFill>
                <a:latin typeface="arial" pitchFamily="34" charset="0"/>
                <a:ea typeface="맑은 고딕" pitchFamily="50" charset="-127"/>
              </a:endParaRPr>
            </a:p>
          </p:txBody>
        </p:sp>
        <p:sp>
          <p:nvSpPr>
            <p:cNvPr id="23569" name="Rectangle 18"/>
            <p:cNvSpPr>
              <a:spLocks noChangeArrowheads="1"/>
            </p:cNvSpPr>
            <p:nvPr/>
          </p:nvSpPr>
          <p:spPr bwMode="auto">
            <a:xfrm>
              <a:off x="1056" y="4006"/>
              <a:ext cx="1392"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lvl1pPr defTabSz="661988" eaLnBrk="0" hangingPunct="0">
                <a:defRPr kumimoji="1">
                  <a:solidFill>
                    <a:schemeClr val="tx1"/>
                  </a:solidFill>
                  <a:latin typeface="굴림" pitchFamily="50" charset="-127"/>
                  <a:ea typeface="굴림" pitchFamily="50" charset="-127"/>
                </a:defRPr>
              </a:lvl1pPr>
              <a:lvl2pPr marL="742950" indent="-285750" defTabSz="661988" eaLnBrk="0" hangingPunct="0">
                <a:defRPr kumimoji="1">
                  <a:solidFill>
                    <a:schemeClr val="tx1"/>
                  </a:solidFill>
                  <a:latin typeface="굴림" pitchFamily="50" charset="-127"/>
                  <a:ea typeface="굴림" pitchFamily="50" charset="-127"/>
                </a:defRPr>
              </a:lvl2pPr>
              <a:lvl3pPr marL="1143000" indent="-228600" defTabSz="661988" eaLnBrk="0" hangingPunct="0">
                <a:defRPr kumimoji="1">
                  <a:solidFill>
                    <a:schemeClr val="tx1"/>
                  </a:solidFill>
                  <a:latin typeface="굴림" pitchFamily="50" charset="-127"/>
                  <a:ea typeface="굴림" pitchFamily="50" charset="-127"/>
                </a:defRPr>
              </a:lvl3pPr>
              <a:lvl4pPr marL="1600200" indent="-228600" defTabSz="661988" eaLnBrk="0" hangingPunct="0">
                <a:defRPr kumimoji="1">
                  <a:solidFill>
                    <a:schemeClr val="tx1"/>
                  </a:solidFill>
                  <a:latin typeface="굴림" pitchFamily="50" charset="-127"/>
                  <a:ea typeface="굴림" pitchFamily="50" charset="-127"/>
                </a:defRPr>
              </a:lvl4pPr>
              <a:lvl5pPr marL="2057400" indent="-228600" defTabSz="661988" eaLnBrk="0" hangingPunct="0">
                <a:defRPr kumimoji="1">
                  <a:solidFill>
                    <a:schemeClr val="tx1"/>
                  </a:solidFill>
                  <a:latin typeface="굴림" pitchFamily="50" charset="-127"/>
                  <a:ea typeface="굴림" pitchFamily="50" charset="-127"/>
                </a:defRPr>
              </a:lvl5pPr>
              <a:lvl6pPr marL="25146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90000"/>
                </a:lnSpc>
              </a:pPr>
              <a:r>
                <a:rPr kumimoji="0" lang="en-US" altLang="ko-KR" sz="1200" b="1" dirty="0" err="1">
                  <a:solidFill>
                    <a:schemeClr val="hlink"/>
                  </a:solidFill>
                  <a:latin typeface="arial" pitchFamily="34" charset="0"/>
                  <a:ea typeface="맑은 고딕" pitchFamily="50" charset="-127"/>
                </a:rPr>
                <a:t>Vùng</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nguyên</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nhân</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không</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ngẫu</a:t>
              </a:r>
              <a:r>
                <a:rPr kumimoji="0" lang="en-US" altLang="ko-KR" sz="1200" b="1" dirty="0">
                  <a:solidFill>
                    <a:schemeClr val="hlink"/>
                  </a:solidFill>
                  <a:latin typeface="arial" pitchFamily="34" charset="0"/>
                  <a:ea typeface="맑은 고딕" pitchFamily="50" charset="-127"/>
                </a:rPr>
                <a:t> </a:t>
              </a:r>
              <a:r>
                <a:rPr kumimoji="0" lang="en-US" altLang="ko-KR" sz="1200" b="1" dirty="0" err="1">
                  <a:solidFill>
                    <a:schemeClr val="hlink"/>
                  </a:solidFill>
                  <a:latin typeface="arial" pitchFamily="34" charset="0"/>
                  <a:ea typeface="맑은 고딕" pitchFamily="50" charset="-127"/>
                </a:rPr>
                <a:t>nhiên</a:t>
              </a:r>
              <a:endParaRPr kumimoji="0" lang="ko-KR" altLang="en-US" sz="1200" b="1" dirty="0">
                <a:solidFill>
                  <a:schemeClr val="hlink"/>
                </a:solidFill>
                <a:latin typeface="arial" pitchFamily="34" charset="0"/>
                <a:ea typeface="맑은 고딕" pitchFamily="50" charset="-127"/>
              </a:endParaRPr>
            </a:p>
          </p:txBody>
        </p:sp>
      </p:grpSp>
      <p:sp>
        <p:nvSpPr>
          <p:cNvPr id="23565" name="Rectangle 19"/>
          <p:cNvSpPr>
            <a:spLocks noChangeArrowheads="1"/>
          </p:cNvSpPr>
          <p:nvPr/>
        </p:nvSpPr>
        <p:spPr bwMode="auto">
          <a:xfrm>
            <a:off x="4056063" y="4076700"/>
            <a:ext cx="2935228" cy="63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lvl1pPr defTabSz="661988" eaLnBrk="0" hangingPunct="0">
              <a:defRPr kumimoji="1">
                <a:solidFill>
                  <a:schemeClr val="tx1"/>
                </a:solidFill>
                <a:latin typeface="굴림" pitchFamily="50" charset="-127"/>
                <a:ea typeface="굴림" pitchFamily="50" charset="-127"/>
              </a:defRPr>
            </a:lvl1pPr>
            <a:lvl2pPr marL="742950" indent="-285750" defTabSz="661988" eaLnBrk="0" hangingPunct="0">
              <a:defRPr kumimoji="1">
                <a:solidFill>
                  <a:schemeClr val="tx1"/>
                </a:solidFill>
                <a:latin typeface="굴림" pitchFamily="50" charset="-127"/>
                <a:ea typeface="굴림" pitchFamily="50" charset="-127"/>
              </a:defRPr>
            </a:lvl2pPr>
            <a:lvl3pPr marL="1143000" indent="-228600" defTabSz="661988" eaLnBrk="0" hangingPunct="0">
              <a:defRPr kumimoji="1">
                <a:solidFill>
                  <a:schemeClr val="tx1"/>
                </a:solidFill>
                <a:latin typeface="굴림" pitchFamily="50" charset="-127"/>
                <a:ea typeface="굴림" pitchFamily="50" charset="-127"/>
              </a:defRPr>
            </a:lvl3pPr>
            <a:lvl4pPr marL="1600200" indent="-228600" defTabSz="661988" eaLnBrk="0" hangingPunct="0">
              <a:defRPr kumimoji="1">
                <a:solidFill>
                  <a:schemeClr val="tx1"/>
                </a:solidFill>
                <a:latin typeface="굴림" pitchFamily="50" charset="-127"/>
                <a:ea typeface="굴림" pitchFamily="50" charset="-127"/>
              </a:defRPr>
            </a:lvl4pPr>
            <a:lvl5pPr marL="2057400" indent="-228600" defTabSz="661988" eaLnBrk="0" hangingPunct="0">
              <a:defRPr kumimoji="1">
                <a:solidFill>
                  <a:schemeClr val="tx1"/>
                </a:solidFill>
                <a:latin typeface="굴림" pitchFamily="50" charset="-127"/>
                <a:ea typeface="굴림" pitchFamily="50" charset="-127"/>
              </a:defRPr>
            </a:lvl5pPr>
            <a:lvl6pPr marL="25146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661988"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50000"/>
              </a:lnSpc>
            </a:pPr>
            <a:r>
              <a:rPr kumimoji="0" lang="en-US" altLang="ko-KR" sz="1200" b="1" dirty="0" err="1">
                <a:latin typeface="arial" pitchFamily="34" charset="0"/>
                <a:ea typeface="맑은 고딕" pitchFamily="50" charset="-127"/>
              </a:rPr>
              <a:t>Vùng</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ổn</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định</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của</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quá</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trình</a:t>
            </a:r>
            <a:endParaRPr kumimoji="0" lang="en-US" altLang="ko-KR" sz="1200" b="1" dirty="0">
              <a:latin typeface="arial" pitchFamily="34" charset="0"/>
              <a:ea typeface="맑은 고딕" pitchFamily="50" charset="-127"/>
            </a:endParaRPr>
          </a:p>
          <a:p>
            <a:pPr latinLnBrk="0">
              <a:lnSpc>
                <a:spcPct val="150000"/>
              </a:lnSpc>
            </a:pPr>
            <a:r>
              <a:rPr kumimoji="0" lang="en-US" altLang="ko-KR" sz="1200" b="1" dirty="0">
                <a:latin typeface="arial" pitchFamily="34" charset="0"/>
                <a:ea typeface="맑은 고딕" pitchFamily="50" charset="-127"/>
              </a:rPr>
              <a:t>(</a:t>
            </a:r>
            <a:r>
              <a:rPr kumimoji="0" lang="en-US" altLang="ko-KR" sz="1200" b="1" dirty="0" err="1">
                <a:latin typeface="arial" pitchFamily="34" charset="0"/>
                <a:ea typeface="맑은 고딕" pitchFamily="50" charset="-127"/>
              </a:rPr>
              <a:t>Chỉ</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tồn</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tại</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nguyên</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nhân</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ngẫu</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nhiên</a:t>
            </a:r>
            <a:r>
              <a:rPr kumimoji="0" lang="en-US" altLang="ko-KR" sz="1200" b="1" dirty="0">
                <a:latin typeface="arial" pitchFamily="34" charset="0"/>
                <a:ea typeface="맑은 고딕" pitchFamily="50" charset="-127"/>
              </a:rPr>
              <a:t>)</a:t>
            </a:r>
          </a:p>
        </p:txBody>
      </p:sp>
      <p:sp>
        <p:nvSpPr>
          <p:cNvPr id="23566" name="Rectangle 20"/>
          <p:cNvSpPr>
            <a:spLocks noChangeArrowheads="1"/>
          </p:cNvSpPr>
          <p:nvPr/>
        </p:nvSpPr>
        <p:spPr bwMode="auto">
          <a:xfrm>
            <a:off x="2468563" y="5280025"/>
            <a:ext cx="4779962" cy="31419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lIns="92075" tIns="46038" rIns="92075" bIns="46038">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50000"/>
              </a:lnSpc>
            </a:pPr>
            <a:endParaRPr kumimoji="0" lang="en-US" altLang="ko-KR" sz="1100" b="1" dirty="0">
              <a:solidFill>
                <a:srgbClr val="CC3300"/>
              </a:solidFill>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263</a:t>
            </a:fld>
            <a:endParaRPr lang="ko-KR" altLang="en-US" dirty="0"/>
          </a:p>
        </p:txBody>
      </p:sp>
    </p:spTree>
    <p:extLst>
      <p:ext uri="{BB962C8B-B14F-4D97-AF65-F5344CB8AC3E}">
        <p14:creationId xmlns:p14="http://schemas.microsoft.com/office/powerpoint/2010/main" val="1822091102"/>
      </p:ext>
    </p:extLst>
  </p:cSld>
  <p:clrMapOvr>
    <a:masterClrMapping/>
  </p:clrMapOvr>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Freeform 5"/>
          <p:cNvSpPr>
            <a:spLocks/>
          </p:cNvSpPr>
          <p:nvPr/>
        </p:nvSpPr>
        <p:spPr bwMode="auto">
          <a:xfrm rot="-5400000">
            <a:off x="646907" y="3298031"/>
            <a:ext cx="3024188" cy="1012825"/>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endParaRPr lang="ko-KR" altLang="en-US"/>
          </a:p>
        </p:txBody>
      </p:sp>
      <p:sp>
        <p:nvSpPr>
          <p:cNvPr id="24579" name="Line 13"/>
          <p:cNvSpPr>
            <a:spLocks noChangeShapeType="1"/>
          </p:cNvSpPr>
          <p:nvPr/>
        </p:nvSpPr>
        <p:spPr bwMode="auto">
          <a:xfrm>
            <a:off x="1579563" y="3813175"/>
            <a:ext cx="6831012" cy="0"/>
          </a:xfrm>
          <a:prstGeom prst="line">
            <a:avLst/>
          </a:prstGeom>
          <a:noFill/>
          <a:ln w="19050">
            <a:solidFill>
              <a:srgbClr val="CC0000"/>
            </a:solidFill>
            <a:prstDash val="sysDot"/>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24580" name="Rectangle 35"/>
          <p:cNvSpPr>
            <a:spLocks noChangeArrowheads="1"/>
          </p:cNvSpPr>
          <p:nvPr/>
        </p:nvSpPr>
        <p:spPr bwMode="auto">
          <a:xfrm>
            <a:off x="849313" y="1052513"/>
            <a:ext cx="6108788" cy="380873"/>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b="1" dirty="0" err="1">
                <a:solidFill>
                  <a:srgbClr val="000000"/>
                </a:solidFill>
                <a:latin typeface="arial" pitchFamily="34" charset="0"/>
                <a:ea typeface="맑은 고딕" panose="020B0503020000020004" pitchFamily="50" charset="-127"/>
              </a:rPr>
              <a:t>Vùng</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sai</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lệch</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về</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chất</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lượng</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trong</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biểu</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đồ</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kiểm</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soát</a:t>
            </a:r>
            <a:endParaRPr kumimoji="0" lang="ko-KR" altLang="en-US" b="1" dirty="0">
              <a:solidFill>
                <a:srgbClr val="000000"/>
              </a:solidFill>
              <a:latin typeface="arial" pitchFamily="34" charset="0"/>
              <a:ea typeface="맑은 고딕" panose="020B0503020000020004" pitchFamily="50" charset="-127"/>
            </a:endParaRPr>
          </a:p>
        </p:txBody>
      </p:sp>
      <p:sp>
        <p:nvSpPr>
          <p:cNvPr id="24581" name="Text Box 9"/>
          <p:cNvSpPr txBox="1">
            <a:spLocks noChangeArrowheads="1"/>
          </p:cNvSpPr>
          <p:nvPr/>
        </p:nvSpPr>
        <p:spPr bwMode="auto">
          <a:xfrm>
            <a:off x="2000250" y="2432050"/>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r>
              <a:rPr lang="en-US" altLang="ko-KR" sz="1600" b="1" dirty="0">
                <a:latin typeface="arial" pitchFamily="34" charset="0"/>
                <a:ea typeface="맑은 고딕" pitchFamily="50" charset="-127"/>
              </a:rPr>
              <a:t>UCL</a:t>
            </a:r>
          </a:p>
        </p:txBody>
      </p:sp>
      <p:sp>
        <p:nvSpPr>
          <p:cNvPr id="24582" name="Text Box 11"/>
          <p:cNvSpPr txBox="1">
            <a:spLocks noChangeArrowheads="1"/>
          </p:cNvSpPr>
          <p:nvPr/>
        </p:nvSpPr>
        <p:spPr bwMode="auto">
          <a:xfrm>
            <a:off x="2012950" y="4852988"/>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r>
              <a:rPr lang="en-US" altLang="ko-KR" sz="1600" b="1" dirty="0">
                <a:latin typeface="arial" pitchFamily="34" charset="0"/>
                <a:ea typeface="맑은 고딕" pitchFamily="50" charset="-127"/>
              </a:rPr>
              <a:t>LCL</a:t>
            </a:r>
          </a:p>
        </p:txBody>
      </p:sp>
      <p:graphicFrame>
        <p:nvGraphicFramePr>
          <p:cNvPr id="7" name="Group 38"/>
          <p:cNvGraphicFramePr>
            <a:graphicFrameLocks noGrp="1"/>
          </p:cNvGraphicFramePr>
          <p:nvPr>
            <p:extLst>
              <p:ext uri="{D42A27DB-BD31-4B8C-83A1-F6EECF244321}">
                <p14:modId xmlns:p14="http://schemas.microsoft.com/office/powerpoint/2010/main" val="3743110580"/>
              </p:ext>
            </p:extLst>
          </p:nvPr>
        </p:nvGraphicFramePr>
        <p:xfrm>
          <a:off x="2660650" y="2208213"/>
          <a:ext cx="5589588" cy="3213104"/>
        </p:xfrm>
        <a:graphic>
          <a:graphicData uri="http://schemas.openxmlformats.org/drawingml/2006/table">
            <a:tbl>
              <a:tblPr/>
              <a:tblGrid>
                <a:gridCol w="790575">
                  <a:extLst>
                    <a:ext uri="{9D8B030D-6E8A-4147-A177-3AD203B41FA5}">
                      <a16:colId xmlns:a16="http://schemas.microsoft.com/office/drawing/2014/main" val="20000"/>
                    </a:ext>
                  </a:extLst>
                </a:gridCol>
                <a:gridCol w="852488">
                  <a:extLst>
                    <a:ext uri="{9D8B030D-6E8A-4147-A177-3AD203B41FA5}">
                      <a16:colId xmlns:a16="http://schemas.microsoft.com/office/drawing/2014/main" val="20001"/>
                    </a:ext>
                  </a:extLst>
                </a:gridCol>
                <a:gridCol w="785812">
                  <a:extLst>
                    <a:ext uri="{9D8B030D-6E8A-4147-A177-3AD203B41FA5}">
                      <a16:colId xmlns:a16="http://schemas.microsoft.com/office/drawing/2014/main" val="20002"/>
                    </a:ext>
                  </a:extLst>
                </a:gridCol>
                <a:gridCol w="788988">
                  <a:extLst>
                    <a:ext uri="{9D8B030D-6E8A-4147-A177-3AD203B41FA5}">
                      <a16:colId xmlns:a16="http://schemas.microsoft.com/office/drawing/2014/main" val="20003"/>
                    </a:ext>
                  </a:extLst>
                </a:gridCol>
                <a:gridCol w="790575">
                  <a:extLst>
                    <a:ext uri="{9D8B030D-6E8A-4147-A177-3AD203B41FA5}">
                      <a16:colId xmlns:a16="http://schemas.microsoft.com/office/drawing/2014/main" val="20004"/>
                    </a:ext>
                  </a:extLst>
                </a:gridCol>
                <a:gridCol w="660176">
                  <a:extLst>
                    <a:ext uri="{9D8B030D-6E8A-4147-A177-3AD203B41FA5}">
                      <a16:colId xmlns:a16="http://schemas.microsoft.com/office/drawing/2014/main" val="20005"/>
                    </a:ext>
                  </a:extLst>
                </a:gridCol>
                <a:gridCol w="920974">
                  <a:extLst>
                    <a:ext uri="{9D8B030D-6E8A-4147-A177-3AD203B41FA5}">
                      <a16:colId xmlns:a16="http://schemas.microsoft.com/office/drawing/2014/main" val="20006"/>
                    </a:ext>
                  </a:extLst>
                </a:gridCol>
              </a:tblGrid>
              <a:tr h="4016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gridSpan="4">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돋움" pitchFamily="50" charset="-127"/>
                        </a:rPr>
                        <a:t>0.00135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400" b="1" i="0" u="none" strike="noStrike" cap="none" normalizeH="0" baseline="0" dirty="0">
                        <a:ln>
                          <a:noFill/>
                        </a:ln>
                        <a:solidFill>
                          <a:schemeClr val="bg1"/>
                        </a:solidFill>
                        <a:effectLst/>
                        <a:latin typeface="Arial" pitchFamily="34" charset="0"/>
                        <a:ea typeface="돋움" pitchFamily="50" charset="-127"/>
                      </a:endParaRPr>
                    </a:p>
                  </a:txBody>
                  <a:tcPr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hMerge="1">
                  <a:txBody>
                    <a:bodyPr/>
                    <a:lstStyle/>
                    <a:p>
                      <a:pPr latinLnBrk="1"/>
                      <a:endParaRPr lang="ko-KR" altLang="en-US"/>
                    </a:p>
                  </a:txBody>
                  <a:tcPr/>
                </a:tc>
                <a:extLst>
                  <a:ext uri="{0D108BD9-81ED-4DB2-BD59-A6C34878D82A}">
                    <a16:rowId xmlns:a16="http://schemas.microsoft.com/office/drawing/2014/main" val="10000"/>
                  </a:ext>
                </a:extLst>
              </a:tr>
              <a:tr h="4016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3σ</a:t>
                      </a: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0.02135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grid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hMerge="1">
                  <a:txBody>
                    <a:bodyPr/>
                    <a:lstStyle/>
                    <a:p>
                      <a:pPr latinLnBrk="1"/>
                      <a:endParaRPr lang="ko-KR" altLang="en-US"/>
                    </a:p>
                  </a:txBody>
                  <a:tcPr/>
                </a:tc>
                <a:tc rowSpan="6">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99.73%</a:t>
                      </a:r>
                    </a:p>
                  </a:txBody>
                  <a:tcPr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rowSpan="6">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돋움" pitchFamily="50" charset="-127"/>
                        </a:rPr>
                        <a:t>Khu</a:t>
                      </a:r>
                      <a:r>
                        <a:rPr kumimoji="1" lang="en-US" altLang="ko-KR"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tx1"/>
                          </a:solidFill>
                          <a:effectLst/>
                          <a:latin typeface="Arial" pitchFamily="34" charset="0"/>
                          <a:ea typeface="돋움" pitchFamily="50" charset="-127"/>
                        </a:rPr>
                        <a:t>vực</a:t>
                      </a:r>
                      <a:r>
                        <a:rPr kumimoji="1" lang="en-US" altLang="ko-KR"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tx1"/>
                          </a:solidFill>
                          <a:effectLst/>
                          <a:latin typeface="Arial" pitchFamily="34" charset="0"/>
                          <a:ea typeface="돋움" pitchFamily="50" charset="-127"/>
                        </a:rPr>
                        <a:t>nguyên</a:t>
                      </a:r>
                      <a:r>
                        <a:rPr kumimoji="1" lang="en-US" altLang="ko-KR"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tx1"/>
                          </a:solidFill>
                          <a:effectLst/>
                          <a:latin typeface="Arial" pitchFamily="34" charset="0"/>
                          <a:ea typeface="돋움" pitchFamily="50" charset="-127"/>
                        </a:rPr>
                        <a:t>nhân</a:t>
                      </a:r>
                      <a:br>
                        <a:rPr kumimoji="1" lang="en-US" altLang="ko-KR" sz="1200" b="1" i="0" u="none" strike="noStrike" cap="none" normalizeH="0" baseline="0" dirty="0">
                          <a:ln>
                            <a:noFill/>
                          </a:ln>
                          <a:solidFill>
                            <a:schemeClr val="tx1"/>
                          </a:solidFill>
                          <a:effectLst/>
                          <a:latin typeface="Arial" pitchFamily="34" charset="0"/>
                          <a:ea typeface="돋움" pitchFamily="50" charset="-127"/>
                        </a:rPr>
                      </a:br>
                      <a:r>
                        <a:rPr kumimoji="1" lang="en-US" altLang="ko-KR" sz="1200" b="1" i="0" u="none" strike="noStrike" cap="none" normalizeH="0" baseline="0" dirty="0" err="1">
                          <a:ln>
                            <a:noFill/>
                          </a:ln>
                          <a:solidFill>
                            <a:schemeClr val="tx1"/>
                          </a:solidFill>
                          <a:effectLst/>
                          <a:latin typeface="Arial" pitchFamily="34" charset="0"/>
                          <a:ea typeface="돋움" pitchFamily="50" charset="-127"/>
                        </a:rPr>
                        <a:t>ngẫu</a:t>
                      </a:r>
                      <a:r>
                        <a:rPr kumimoji="1" lang="en-US" altLang="ko-KR"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tx1"/>
                          </a:solidFill>
                          <a:effectLst/>
                          <a:latin typeface="Arial" pitchFamily="34" charset="0"/>
                          <a:ea typeface="돋움" pitchFamily="50" charset="-127"/>
                        </a:rPr>
                        <a:t>nhiên</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vert="vert27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rowSpan="6">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bg1"/>
                          </a:solidFill>
                          <a:effectLst/>
                          <a:latin typeface="Arial" pitchFamily="34" charset="0"/>
                          <a:ea typeface="돋움" pitchFamily="50" charset="-127"/>
                        </a:rPr>
                        <a:t>Khu</a:t>
                      </a:r>
                      <a:r>
                        <a:rPr kumimoji="1" lang="en-US" altLang="ko-KR" sz="1200" b="1" i="0" u="none" strike="noStrike" cap="none" normalizeH="0" baseline="0" dirty="0">
                          <a:ln>
                            <a:noFill/>
                          </a:ln>
                          <a:solidFill>
                            <a:schemeClr val="bg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bg1"/>
                          </a:solidFill>
                          <a:effectLst/>
                          <a:latin typeface="Arial" pitchFamily="34" charset="0"/>
                          <a:ea typeface="돋움" pitchFamily="50" charset="-127"/>
                        </a:rPr>
                        <a:t>vực</a:t>
                      </a:r>
                      <a:r>
                        <a:rPr kumimoji="1" lang="en-US" altLang="ko-KR" sz="1200" b="1" i="0" u="none" strike="noStrike" cap="none" normalizeH="0" baseline="0" dirty="0">
                          <a:ln>
                            <a:noFill/>
                          </a:ln>
                          <a:solidFill>
                            <a:schemeClr val="bg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bg1"/>
                          </a:solidFill>
                          <a:effectLst/>
                          <a:latin typeface="Arial" pitchFamily="34" charset="0"/>
                          <a:ea typeface="돋움" pitchFamily="50" charset="-127"/>
                        </a:rPr>
                        <a:t>nguyên</a:t>
                      </a:r>
                      <a:r>
                        <a:rPr kumimoji="1" lang="en-US" altLang="ko-KR" sz="1200" b="1" i="0" u="none" strike="noStrike" cap="none" normalizeH="0" baseline="0" dirty="0">
                          <a:ln>
                            <a:noFill/>
                          </a:ln>
                          <a:solidFill>
                            <a:schemeClr val="bg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bg1"/>
                          </a:solidFill>
                          <a:effectLst/>
                          <a:latin typeface="Arial" pitchFamily="34" charset="0"/>
                          <a:ea typeface="돋움" pitchFamily="50" charset="-127"/>
                        </a:rPr>
                        <a:t>nhân</a:t>
                      </a:r>
                      <a:br>
                        <a:rPr kumimoji="1" lang="en-US" altLang="ko-KR" sz="1200" b="1" i="0" u="none" strike="noStrike" cap="none" normalizeH="0" baseline="0" dirty="0">
                          <a:ln>
                            <a:noFill/>
                          </a:ln>
                          <a:solidFill>
                            <a:schemeClr val="bg1"/>
                          </a:solidFill>
                          <a:effectLst/>
                          <a:latin typeface="Arial" pitchFamily="34" charset="0"/>
                          <a:ea typeface="돋움" pitchFamily="50" charset="-127"/>
                        </a:rPr>
                      </a:br>
                      <a:r>
                        <a:rPr kumimoji="1" lang="en-US" altLang="ko-KR" sz="1200" b="1" i="0" u="none" strike="noStrike" cap="none" normalizeH="0" baseline="0" dirty="0" err="1">
                          <a:ln>
                            <a:noFill/>
                          </a:ln>
                          <a:solidFill>
                            <a:schemeClr val="bg1"/>
                          </a:solidFill>
                          <a:effectLst/>
                          <a:latin typeface="Arial" pitchFamily="34" charset="0"/>
                          <a:ea typeface="돋움" pitchFamily="50" charset="-127"/>
                        </a:rPr>
                        <a:t>không</a:t>
                      </a:r>
                      <a:r>
                        <a:rPr kumimoji="1" lang="en-US" altLang="ko-KR" sz="1200" b="1" i="0" u="none" strike="noStrike" cap="none" normalizeH="0" baseline="0" dirty="0">
                          <a:ln>
                            <a:noFill/>
                          </a:ln>
                          <a:solidFill>
                            <a:schemeClr val="bg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bg1"/>
                          </a:solidFill>
                          <a:effectLst/>
                          <a:latin typeface="Arial" pitchFamily="34" charset="0"/>
                          <a:ea typeface="돋움" pitchFamily="50" charset="-127"/>
                        </a:rPr>
                        <a:t>ngẫu</a:t>
                      </a:r>
                      <a:r>
                        <a:rPr kumimoji="1" lang="en-US" altLang="ko-KR" sz="1200" b="1" i="0" u="none" strike="noStrike" cap="none" normalizeH="0" baseline="0" dirty="0">
                          <a:ln>
                            <a:noFill/>
                          </a:ln>
                          <a:solidFill>
                            <a:schemeClr val="bg1"/>
                          </a:solidFill>
                          <a:effectLst/>
                          <a:latin typeface="Arial" pitchFamily="34" charset="0"/>
                          <a:ea typeface="돋움" pitchFamily="50" charset="-127"/>
                        </a:rPr>
                        <a:t> </a:t>
                      </a:r>
                      <a:r>
                        <a:rPr kumimoji="1" lang="en-US" altLang="ko-KR" sz="1200" b="1" i="0" u="none" strike="noStrike" cap="none" normalizeH="0" baseline="0" dirty="0" err="1">
                          <a:ln>
                            <a:noFill/>
                          </a:ln>
                          <a:solidFill>
                            <a:schemeClr val="bg1"/>
                          </a:solidFill>
                          <a:effectLst/>
                          <a:latin typeface="Arial" pitchFamily="34" charset="0"/>
                          <a:ea typeface="돋움" pitchFamily="50" charset="-127"/>
                        </a:rPr>
                        <a:t>nhiên</a:t>
                      </a:r>
                      <a:endParaRPr kumimoji="1" lang="ko-KR" altLang="en-US" sz="1200" b="1" i="0" u="none" strike="noStrike" cap="none" normalizeH="0" baseline="0" dirty="0">
                        <a:ln>
                          <a:noFill/>
                        </a:ln>
                        <a:solidFill>
                          <a:schemeClr val="bg1"/>
                        </a:solidFill>
                        <a:effectLst/>
                        <a:latin typeface="Arial" pitchFamily="34" charset="0"/>
                        <a:ea typeface="돋움" pitchFamily="50" charset="-127"/>
                      </a:endParaRPr>
                    </a:p>
                  </a:txBody>
                  <a:tcPr vert="vert270" anchor="ctr" horzOverflow="overflow">
                    <a:lnL w="12700" cap="flat" cmpd="sng" algn="ctr">
                      <a:solidFill>
                        <a:schemeClr val="tx1"/>
                      </a:solidFill>
                      <a:prstDash val="solid"/>
                      <a:round/>
                      <a:headEnd type="none" w="med" len="med"/>
                      <a:tailEnd type="none" w="med" len="med"/>
                    </a:lnL>
                    <a:lnR cap="flat">
                      <a:noFill/>
                    </a:lnR>
                    <a:lnT>
                      <a:noFill/>
                    </a:lnT>
                    <a:lnB>
                      <a:noFill/>
                    </a:lnB>
                    <a:lnTlToBr>
                      <a:noFill/>
                    </a:lnTlToBr>
                    <a:lnBlToTr>
                      <a:noFill/>
                    </a:lnBlToTr>
                    <a:solidFill>
                      <a:schemeClr val="bg1">
                        <a:lumMod val="50000"/>
                      </a:schemeClr>
                    </a:solidFill>
                  </a:tcPr>
                </a:tc>
                <a:extLst>
                  <a:ext uri="{0D108BD9-81ED-4DB2-BD59-A6C34878D82A}">
                    <a16:rowId xmlns:a16="http://schemas.microsoft.com/office/drawing/2014/main" val="10001"/>
                  </a:ext>
                </a:extLst>
              </a:tr>
              <a:tr h="4016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2σ</a:t>
                      </a: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0.1360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rowSpan="4">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95.45%</a:t>
                      </a:r>
                    </a:p>
                  </a:txBody>
                  <a:tcPr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2"/>
                  </a:ext>
                </a:extLst>
              </a:tr>
              <a:tr h="4016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1σ</a:t>
                      </a: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0.3413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row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68.27%</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3"/>
                  </a:ext>
                </a:extLst>
              </a:tr>
              <a:tr h="4016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a:ln>
                            <a:noFill/>
                          </a:ln>
                          <a:solidFill>
                            <a:schemeClr val="tx1"/>
                          </a:solidFill>
                          <a:effectLst/>
                          <a:latin typeface="Arial" pitchFamily="34" charset="0"/>
                          <a:ea typeface="돋움" pitchFamily="50" charset="-127"/>
                        </a:rPr>
                        <a:t>-1σ</a:t>
                      </a: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0.3413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4"/>
                  </a:ext>
                </a:extLst>
              </a:tr>
              <a:tr h="4016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-2σ</a:t>
                      </a: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0.1360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5"/>
                  </a:ext>
                </a:extLst>
              </a:tr>
              <a:tr h="4016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-3σ</a:t>
                      </a: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0.02135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grid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h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6"/>
                  </a:ext>
                </a:extLst>
              </a:tr>
              <a:tr h="4016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000" b="1" i="0" u="none" strike="noStrike" cap="none" normalizeH="0" baseline="0" dirty="0">
                        <a:ln>
                          <a:noFill/>
                        </a:ln>
                        <a:solidFill>
                          <a:schemeClr val="tx1"/>
                        </a:solidFill>
                        <a:effectLst/>
                        <a:latin typeface="Arial" pitchFamily="34" charset="0"/>
                        <a:ea typeface="돋움" pitchFamily="50" charset="-127"/>
                      </a:endParaRP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gridSpan="4">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1" i="0" u="none" strike="noStrike" cap="none" normalizeH="0" baseline="0" dirty="0">
                          <a:ln>
                            <a:noFill/>
                          </a:ln>
                          <a:solidFill>
                            <a:schemeClr val="bg1"/>
                          </a:solidFill>
                          <a:effectLst/>
                          <a:latin typeface="Arial" pitchFamily="34" charset="0"/>
                          <a:ea typeface="돋움" pitchFamily="50" charset="-127"/>
                        </a:rPr>
                        <a:t>0.00135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400" b="1" i="0" u="none" strike="noStrike" cap="none" normalizeH="0" baseline="0" dirty="0">
                        <a:ln>
                          <a:noFill/>
                        </a:ln>
                        <a:solidFill>
                          <a:schemeClr val="bg1"/>
                        </a:solidFill>
                        <a:effectLst/>
                        <a:latin typeface="Arial" pitchFamily="34" charset="0"/>
                        <a:ea typeface="돋움" pitchFamily="50" charset="-127"/>
                      </a:endParaRPr>
                    </a:p>
                  </a:txBody>
                  <a:tcPr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hMerge="1">
                  <a:txBody>
                    <a:bodyPr/>
                    <a:lstStyle/>
                    <a:p>
                      <a:pPr latinLnBrk="1"/>
                      <a:endParaRPr lang="ko-KR" altLang="en-US"/>
                    </a:p>
                  </a:txBody>
                  <a:tcPr/>
                </a:tc>
                <a:extLst>
                  <a:ext uri="{0D108BD9-81ED-4DB2-BD59-A6C34878D82A}">
                    <a16:rowId xmlns:a16="http://schemas.microsoft.com/office/drawing/2014/main" val="10007"/>
                  </a:ext>
                </a:extLst>
              </a:tr>
            </a:tbl>
          </a:graphicData>
        </a:graphic>
      </p:graphicFrame>
      <p:sp>
        <p:nvSpPr>
          <p:cNvPr id="24626" name="Rectangle 93"/>
          <p:cNvSpPr>
            <a:spLocks noChangeArrowheads="1"/>
          </p:cNvSpPr>
          <p:nvPr/>
        </p:nvSpPr>
        <p:spPr bwMode="auto">
          <a:xfrm>
            <a:off x="4079875" y="5489575"/>
            <a:ext cx="285187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latin typeface="arial" pitchFamily="34" charset="0"/>
                <a:ea typeface="맑은 고딕" pitchFamily="50" charset="-127"/>
              </a:rPr>
              <a:t>Phân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phối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xác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suất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ngẫu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nhiên</a:t>
            </a:r>
            <a:endParaRPr lang="ko-KR" altLang="en-US" sz="1400" b="1" dirty="0">
              <a:latin typeface="arial" pitchFamily="34" charset="0"/>
              <a:ea typeface="맑은 고딕" pitchFamily="50" charset="-127"/>
            </a:endParaRPr>
          </a:p>
        </p:txBody>
      </p:sp>
      <p:sp>
        <p:nvSpPr>
          <p:cNvPr id="24627" name="Rectangle 3"/>
          <p:cNvSpPr>
            <a:spLocks noChangeArrowheads="1"/>
          </p:cNvSpPr>
          <p:nvPr/>
        </p:nvSpPr>
        <p:spPr bwMode="auto">
          <a:xfrm>
            <a:off x="1065213" y="1557338"/>
            <a:ext cx="79922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30000"/>
              </a:spcBef>
              <a:buFont typeface="Wingdings" pitchFamily="2" charset="2"/>
              <a:buChar char="§"/>
            </a:pPr>
            <a:r>
              <a:rPr lang="en-US" altLang="ko-KR" sz="1400" b="1" dirty="0">
                <a:latin typeface="arial" pitchFamily="34" charset="0"/>
                <a:ea typeface="맑은 고딕" pitchFamily="50" charset="-127"/>
              </a:rPr>
              <a:t> </a:t>
            </a:r>
            <a:r>
              <a:rPr lang="vi-VN" altLang="ko-KR" sz="1400" b="1" dirty="0">
                <a:latin typeface="arial" pitchFamily="34" charset="0"/>
                <a:ea typeface="맑은 고딕" pitchFamily="50" charset="-127"/>
              </a:rPr>
              <a:t>Hiểu các xác suất phân phối ngẫu nhiên tương ứng với giới hạn kiểm soát và nghiên cứu để cải thiện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sai</a:t>
            </a:r>
            <a:r>
              <a:rPr lang="vi-VN" altLang="ko-KR" sz="1400" b="1" dirty="0">
                <a:latin typeface="arial" pitchFamily="34" charset="0"/>
                <a:ea typeface="맑은 고딕" pitchFamily="50" charset="-127"/>
              </a:rPr>
              <a:t> lệch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quá</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trình</a:t>
            </a:r>
            <a:r>
              <a:rPr lang="vi-VN" altLang="ko-KR" sz="1400" b="1" dirty="0">
                <a:latin typeface="arial" pitchFamily="34" charset="0"/>
                <a:ea typeface="맑은 고딕" pitchFamily="50" charset="-127"/>
              </a:rPr>
              <a:t>.</a:t>
            </a:r>
          </a:p>
        </p:txBody>
      </p:sp>
      <p:sp>
        <p:nvSpPr>
          <p:cNvPr id="24628" name="Text Box 10"/>
          <p:cNvSpPr txBox="1">
            <a:spLocks noChangeArrowheads="1"/>
          </p:cNvSpPr>
          <p:nvPr/>
        </p:nvSpPr>
        <p:spPr bwMode="auto">
          <a:xfrm>
            <a:off x="631825" y="3648075"/>
            <a:ext cx="10191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r>
              <a:rPr lang="en-US" altLang="ko-KR" sz="1600" b="1" dirty="0">
                <a:solidFill>
                  <a:srgbClr val="CC0000"/>
                </a:solidFill>
                <a:latin typeface="arial" pitchFamily="34" charset="0"/>
                <a:ea typeface="맑은 고딕" pitchFamily="50" charset="-127"/>
              </a:rPr>
              <a:t>CL(</a:t>
            </a:r>
            <a:r>
              <a:rPr lang="en-US" altLang="ko-KR" sz="1600" b="1" dirty="0" err="1">
                <a:solidFill>
                  <a:srgbClr val="CC0000"/>
                </a:solidFill>
                <a:latin typeface="arial" pitchFamily="34" charset="0"/>
                <a:ea typeface="맑은 고딕" pitchFamily="50" charset="-127"/>
              </a:rPr>
              <a:t>xbar</a:t>
            </a:r>
            <a:r>
              <a:rPr lang="en-US" altLang="ko-KR" sz="1600" b="1" dirty="0">
                <a:solidFill>
                  <a:srgbClr val="CC0000"/>
                </a:solidFill>
                <a:latin typeface="arial" pitchFamily="34" charset="0"/>
                <a:ea typeface="맑은 고딕" pitchFamily="50" charset="-127"/>
              </a:rPr>
              <a:t>)</a:t>
            </a:r>
          </a:p>
        </p:txBody>
      </p:sp>
      <p:sp>
        <p:nvSpPr>
          <p:cNvPr id="24629" name="Freeform 96"/>
          <p:cNvSpPr>
            <a:spLocks/>
          </p:cNvSpPr>
          <p:nvPr/>
        </p:nvSpPr>
        <p:spPr bwMode="auto">
          <a:xfrm>
            <a:off x="3800475" y="5411788"/>
            <a:ext cx="287338" cy="215900"/>
          </a:xfrm>
          <a:custGeom>
            <a:avLst/>
            <a:gdLst>
              <a:gd name="T0" fmla="*/ 0 w 181"/>
              <a:gd name="T1" fmla="*/ 0 h 136"/>
              <a:gd name="T2" fmla="*/ 0 w 181"/>
              <a:gd name="T3" fmla="*/ 2147483647 h 136"/>
              <a:gd name="T4" fmla="*/ 2147483647 w 181"/>
              <a:gd name="T5" fmla="*/ 2147483647 h 136"/>
              <a:gd name="T6" fmla="*/ 0 60000 65536"/>
              <a:gd name="T7" fmla="*/ 0 60000 65536"/>
              <a:gd name="T8" fmla="*/ 0 60000 65536"/>
              <a:gd name="T9" fmla="*/ 0 w 181"/>
              <a:gd name="T10" fmla="*/ 0 h 136"/>
              <a:gd name="T11" fmla="*/ 181 w 181"/>
              <a:gd name="T12" fmla="*/ 136 h 136"/>
            </a:gdLst>
            <a:ahLst/>
            <a:cxnLst>
              <a:cxn ang="T6">
                <a:pos x="T0" y="T1"/>
              </a:cxn>
              <a:cxn ang="T7">
                <a:pos x="T2" y="T3"/>
              </a:cxn>
              <a:cxn ang="T8">
                <a:pos x="T4" y="T5"/>
              </a:cxn>
            </a:cxnLst>
            <a:rect l="T9" t="T10" r="T11" b="T12"/>
            <a:pathLst>
              <a:path w="181" h="136">
                <a:moveTo>
                  <a:pt x="0" y="0"/>
                </a:moveTo>
                <a:lnTo>
                  <a:pt x="0" y="136"/>
                </a:lnTo>
                <a:lnTo>
                  <a:pt x="181" y="136"/>
                </a:lnTo>
              </a:path>
            </a:pathLst>
          </a:custGeom>
          <a:noFill/>
          <a:ln w="9525" cap="flat" cmpd="sng">
            <a:solidFill>
              <a:schemeClr val="tx1"/>
            </a:solidFill>
            <a:prstDash val="solid"/>
            <a:round/>
            <a:headEnd type="oval" w="med" len="med"/>
            <a:tailEnd type="stealth" w="lg" len="lg"/>
          </a:ln>
          <a:extLst>
            <a:ext uri="{909E8E84-426E-40DD-AFC4-6F175D3DCCD1}">
              <a14:hiddenFill xmlns:a14="http://schemas.microsoft.com/office/drawing/2010/main">
                <a:solidFill>
                  <a:srgbClr val="FFFFFF"/>
                </a:solidFill>
              </a14:hiddenFill>
            </a:ext>
          </a:extLst>
        </p:spPr>
        <p:txBody>
          <a:bodyPr wrap="none" anchor="ctr"/>
          <a:lstStyle/>
          <a:p>
            <a:endParaRPr lang="ko-KR" altLang="en-US"/>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264</a:t>
            </a:fld>
            <a:endParaRPr lang="ko-KR" altLang="en-US" dirty="0"/>
          </a:p>
        </p:txBody>
      </p:sp>
      <p:sp>
        <p:nvSpPr>
          <p:cNvPr id="14"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6.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Cách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đọc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1675888010"/>
      </p:ext>
    </p:extLst>
  </p:cSld>
  <p:clrMapOvr>
    <a:masterClrMapping/>
  </p:clrMapOvr>
  <p:transition/>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Group 736"/>
          <p:cNvGraphicFramePr>
            <a:graphicFrameLocks noGrp="1"/>
          </p:cNvGraphicFramePr>
          <p:nvPr/>
        </p:nvGraphicFramePr>
        <p:xfrm>
          <a:off x="1497013" y="2422525"/>
          <a:ext cx="7415216" cy="1658940"/>
        </p:xfrm>
        <a:graphic>
          <a:graphicData uri="http://schemas.openxmlformats.org/drawingml/2006/table">
            <a:tbl>
              <a:tblPr/>
              <a:tblGrid>
                <a:gridCol w="915055">
                  <a:extLst>
                    <a:ext uri="{9D8B030D-6E8A-4147-A177-3AD203B41FA5}">
                      <a16:colId xmlns:a16="http://schemas.microsoft.com/office/drawing/2014/main" val="20000"/>
                    </a:ext>
                  </a:extLst>
                </a:gridCol>
                <a:gridCol w="433344">
                  <a:extLst>
                    <a:ext uri="{9D8B030D-6E8A-4147-A177-3AD203B41FA5}">
                      <a16:colId xmlns:a16="http://schemas.microsoft.com/office/drawing/2014/main" val="20001"/>
                    </a:ext>
                  </a:extLst>
                </a:gridCol>
                <a:gridCol w="433344">
                  <a:extLst>
                    <a:ext uri="{9D8B030D-6E8A-4147-A177-3AD203B41FA5}">
                      <a16:colId xmlns:a16="http://schemas.microsoft.com/office/drawing/2014/main" val="20002"/>
                    </a:ext>
                  </a:extLst>
                </a:gridCol>
                <a:gridCol w="433344">
                  <a:extLst>
                    <a:ext uri="{9D8B030D-6E8A-4147-A177-3AD203B41FA5}">
                      <a16:colId xmlns:a16="http://schemas.microsoft.com/office/drawing/2014/main" val="20003"/>
                    </a:ext>
                  </a:extLst>
                </a:gridCol>
                <a:gridCol w="433344">
                  <a:extLst>
                    <a:ext uri="{9D8B030D-6E8A-4147-A177-3AD203B41FA5}">
                      <a16:colId xmlns:a16="http://schemas.microsoft.com/office/drawing/2014/main" val="20004"/>
                    </a:ext>
                  </a:extLst>
                </a:gridCol>
                <a:gridCol w="435278">
                  <a:extLst>
                    <a:ext uri="{9D8B030D-6E8A-4147-A177-3AD203B41FA5}">
                      <a16:colId xmlns:a16="http://schemas.microsoft.com/office/drawing/2014/main" val="20005"/>
                    </a:ext>
                  </a:extLst>
                </a:gridCol>
                <a:gridCol w="431411">
                  <a:extLst>
                    <a:ext uri="{9D8B030D-6E8A-4147-A177-3AD203B41FA5}">
                      <a16:colId xmlns:a16="http://schemas.microsoft.com/office/drawing/2014/main" val="20006"/>
                    </a:ext>
                  </a:extLst>
                </a:gridCol>
                <a:gridCol w="433344">
                  <a:extLst>
                    <a:ext uri="{9D8B030D-6E8A-4147-A177-3AD203B41FA5}">
                      <a16:colId xmlns:a16="http://schemas.microsoft.com/office/drawing/2014/main" val="20007"/>
                    </a:ext>
                  </a:extLst>
                </a:gridCol>
                <a:gridCol w="433344">
                  <a:extLst>
                    <a:ext uri="{9D8B030D-6E8A-4147-A177-3AD203B41FA5}">
                      <a16:colId xmlns:a16="http://schemas.microsoft.com/office/drawing/2014/main" val="20008"/>
                    </a:ext>
                  </a:extLst>
                </a:gridCol>
                <a:gridCol w="433344">
                  <a:extLst>
                    <a:ext uri="{9D8B030D-6E8A-4147-A177-3AD203B41FA5}">
                      <a16:colId xmlns:a16="http://schemas.microsoft.com/office/drawing/2014/main" val="20009"/>
                    </a:ext>
                  </a:extLst>
                </a:gridCol>
                <a:gridCol w="433344">
                  <a:extLst>
                    <a:ext uri="{9D8B030D-6E8A-4147-A177-3AD203B41FA5}">
                      <a16:colId xmlns:a16="http://schemas.microsoft.com/office/drawing/2014/main" val="20010"/>
                    </a:ext>
                  </a:extLst>
                </a:gridCol>
                <a:gridCol w="433344">
                  <a:extLst>
                    <a:ext uri="{9D8B030D-6E8A-4147-A177-3AD203B41FA5}">
                      <a16:colId xmlns:a16="http://schemas.microsoft.com/office/drawing/2014/main" val="20011"/>
                    </a:ext>
                  </a:extLst>
                </a:gridCol>
                <a:gridCol w="433344">
                  <a:extLst>
                    <a:ext uri="{9D8B030D-6E8A-4147-A177-3AD203B41FA5}">
                      <a16:colId xmlns:a16="http://schemas.microsoft.com/office/drawing/2014/main" val="20012"/>
                    </a:ext>
                  </a:extLst>
                </a:gridCol>
                <a:gridCol w="433344">
                  <a:extLst>
                    <a:ext uri="{9D8B030D-6E8A-4147-A177-3AD203B41FA5}">
                      <a16:colId xmlns:a16="http://schemas.microsoft.com/office/drawing/2014/main" val="20013"/>
                    </a:ext>
                  </a:extLst>
                </a:gridCol>
                <a:gridCol w="433344">
                  <a:extLst>
                    <a:ext uri="{9D8B030D-6E8A-4147-A177-3AD203B41FA5}">
                      <a16:colId xmlns:a16="http://schemas.microsoft.com/office/drawing/2014/main" val="20014"/>
                    </a:ext>
                  </a:extLst>
                </a:gridCol>
                <a:gridCol w="433344">
                  <a:extLst>
                    <a:ext uri="{9D8B030D-6E8A-4147-A177-3AD203B41FA5}">
                      <a16:colId xmlns:a16="http://schemas.microsoft.com/office/drawing/2014/main" val="20015"/>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a:ln>
                            <a:noFill/>
                          </a:ln>
                          <a:solidFill>
                            <a:schemeClr val="tx1"/>
                          </a:solidFill>
                          <a:effectLst/>
                          <a:latin typeface="Arial" pitchFamily="34" charset="0"/>
                          <a:ea typeface="돋움" pitchFamily="50" charset="-127"/>
                        </a:rPr>
                        <a:t>C</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5723" name="Text Box 3"/>
          <p:cNvSpPr txBox="1">
            <a:spLocks noChangeArrowheads="1"/>
          </p:cNvSpPr>
          <p:nvPr/>
        </p:nvSpPr>
        <p:spPr bwMode="auto">
          <a:xfrm>
            <a:off x="906463" y="1793875"/>
            <a:ext cx="2921782"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pPr>
            <a:r>
              <a:rPr lang="en-US" altLang="ko-KR" sz="1600" b="1" dirty="0">
                <a:latin typeface="arial" pitchFamily="34" charset="0"/>
                <a:ea typeface="맑은 고딕" pitchFamily="50" charset="-127"/>
              </a:rPr>
              <a:t>-</a:t>
            </a:r>
            <a:r>
              <a:rPr lang="ko-KR" altLang="en-US"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Vượt</a:t>
            </a:r>
            <a:r>
              <a:rPr lang="en-US" altLang="ko-KR" sz="1600" b="1" dirty="0">
                <a:latin typeface="arial" pitchFamily="34" charset="0"/>
                <a:ea typeface="맑은 고딕" pitchFamily="50" charset="-127"/>
              </a:rPr>
              <a:t> qua </a:t>
            </a:r>
            <a:r>
              <a:rPr lang="en-US" altLang="ko-KR" sz="1600" b="1" dirty="0" err="1">
                <a:latin typeface="arial" pitchFamily="34" charset="0"/>
                <a:ea typeface="맑은 고딕" pitchFamily="50" charset="-127"/>
              </a:rPr>
              <a:t>vùng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giới</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hạn</a:t>
            </a:r>
            <a:r>
              <a:rPr lang="en-US" altLang="ko-KR" sz="1600" b="1" dirty="0">
                <a:latin typeface="arial" pitchFamily="34" charset="0"/>
                <a:ea typeface="맑은 고딕" pitchFamily="50" charset="-127"/>
              </a:rPr>
              <a:t> </a:t>
            </a:r>
            <a:r>
              <a:rPr lang="el-GR" altLang="ko-KR" sz="1600" b="1" dirty="0">
                <a:latin typeface="arial" pitchFamily="34" charset="0"/>
                <a:ea typeface="맑은 고딕" pitchFamily="50" charset="-127"/>
              </a:rPr>
              <a:t>3σ </a:t>
            </a:r>
            <a:endParaRPr lang="ko-KR" altLang="en-US" sz="1600" b="1" dirty="0">
              <a:latin typeface="arial" pitchFamily="34" charset="0"/>
              <a:ea typeface="맑은 고딕" pitchFamily="50" charset="-127"/>
            </a:endParaRPr>
          </a:p>
        </p:txBody>
      </p:sp>
      <p:sp>
        <p:nvSpPr>
          <p:cNvPr id="25724" name="Oval 154"/>
          <p:cNvSpPr>
            <a:spLocks noChangeArrowheads="1"/>
          </p:cNvSpPr>
          <p:nvPr/>
        </p:nvSpPr>
        <p:spPr bwMode="auto">
          <a:xfrm>
            <a:off x="2511425" y="323532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25" name="Oval 155"/>
          <p:cNvSpPr>
            <a:spLocks noChangeArrowheads="1"/>
          </p:cNvSpPr>
          <p:nvPr/>
        </p:nvSpPr>
        <p:spPr bwMode="auto">
          <a:xfrm>
            <a:off x="2949575" y="301783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26" name="Oval 156"/>
          <p:cNvSpPr>
            <a:spLocks noChangeArrowheads="1"/>
          </p:cNvSpPr>
          <p:nvPr/>
        </p:nvSpPr>
        <p:spPr bwMode="auto">
          <a:xfrm>
            <a:off x="3387725" y="335756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27" name="Oval 157"/>
          <p:cNvSpPr>
            <a:spLocks noChangeArrowheads="1"/>
          </p:cNvSpPr>
          <p:nvPr/>
        </p:nvSpPr>
        <p:spPr bwMode="auto">
          <a:xfrm>
            <a:off x="3825875" y="323532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28" name="Oval 158"/>
          <p:cNvSpPr>
            <a:spLocks noChangeArrowheads="1"/>
          </p:cNvSpPr>
          <p:nvPr/>
        </p:nvSpPr>
        <p:spPr bwMode="auto">
          <a:xfrm>
            <a:off x="4264025" y="352266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29" name="Oval 159"/>
          <p:cNvSpPr>
            <a:spLocks noChangeArrowheads="1"/>
          </p:cNvSpPr>
          <p:nvPr/>
        </p:nvSpPr>
        <p:spPr bwMode="auto">
          <a:xfrm>
            <a:off x="4703763" y="280193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30" name="Oval 160"/>
          <p:cNvSpPr>
            <a:spLocks noChangeArrowheads="1"/>
          </p:cNvSpPr>
          <p:nvPr/>
        </p:nvSpPr>
        <p:spPr bwMode="auto">
          <a:xfrm>
            <a:off x="5141913" y="301783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5731" name="AutoShape 161"/>
          <p:cNvCxnSpPr>
            <a:cxnSpLocks noChangeShapeType="1"/>
            <a:stCxn id="25724" idx="6"/>
            <a:endCxn id="25725" idx="3"/>
          </p:cNvCxnSpPr>
          <p:nvPr/>
        </p:nvCxnSpPr>
        <p:spPr bwMode="auto">
          <a:xfrm flipV="1">
            <a:off x="2582863" y="3078163"/>
            <a:ext cx="377825" cy="193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2" name="AutoShape 162"/>
          <p:cNvCxnSpPr>
            <a:cxnSpLocks noChangeShapeType="1"/>
            <a:stCxn id="25725" idx="5"/>
            <a:endCxn id="25726" idx="2"/>
          </p:cNvCxnSpPr>
          <p:nvPr/>
        </p:nvCxnSpPr>
        <p:spPr bwMode="auto">
          <a:xfrm>
            <a:off x="3009900" y="3078163"/>
            <a:ext cx="377825" cy="3159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3" name="AutoShape 163"/>
          <p:cNvCxnSpPr>
            <a:cxnSpLocks noChangeShapeType="1"/>
            <a:stCxn id="25727" idx="5"/>
            <a:endCxn id="25728" idx="2"/>
          </p:cNvCxnSpPr>
          <p:nvPr/>
        </p:nvCxnSpPr>
        <p:spPr bwMode="auto">
          <a:xfrm>
            <a:off x="3886200" y="3295650"/>
            <a:ext cx="377825"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4" name="AutoShape 164"/>
          <p:cNvCxnSpPr>
            <a:cxnSpLocks noChangeShapeType="1"/>
            <a:stCxn id="25728" idx="7"/>
            <a:endCxn id="25729" idx="3"/>
          </p:cNvCxnSpPr>
          <p:nvPr/>
        </p:nvCxnSpPr>
        <p:spPr bwMode="auto">
          <a:xfrm flipV="1">
            <a:off x="4324350" y="2862263"/>
            <a:ext cx="390525" cy="6715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5" name="AutoShape 165"/>
          <p:cNvCxnSpPr>
            <a:cxnSpLocks noChangeShapeType="1"/>
            <a:stCxn id="25729" idx="6"/>
            <a:endCxn id="25730" idx="2"/>
          </p:cNvCxnSpPr>
          <p:nvPr/>
        </p:nvCxnSpPr>
        <p:spPr bwMode="auto">
          <a:xfrm>
            <a:off x="4775200" y="2838450"/>
            <a:ext cx="366713"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36" name="Oval 166"/>
          <p:cNvSpPr>
            <a:spLocks noChangeArrowheads="1"/>
          </p:cNvSpPr>
          <p:nvPr/>
        </p:nvSpPr>
        <p:spPr bwMode="auto">
          <a:xfrm>
            <a:off x="5580063" y="222567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37" name="Oval 167"/>
          <p:cNvSpPr>
            <a:spLocks noChangeArrowheads="1"/>
          </p:cNvSpPr>
          <p:nvPr/>
        </p:nvSpPr>
        <p:spPr bwMode="auto">
          <a:xfrm>
            <a:off x="6018213" y="323532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38" name="Oval 168"/>
          <p:cNvSpPr>
            <a:spLocks noChangeArrowheads="1"/>
          </p:cNvSpPr>
          <p:nvPr/>
        </p:nvSpPr>
        <p:spPr bwMode="auto">
          <a:xfrm>
            <a:off x="6456363" y="35226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39" name="Oval 169"/>
          <p:cNvSpPr>
            <a:spLocks noChangeArrowheads="1"/>
          </p:cNvSpPr>
          <p:nvPr/>
        </p:nvSpPr>
        <p:spPr bwMode="auto">
          <a:xfrm>
            <a:off x="6896100" y="301783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40" name="Oval 170"/>
          <p:cNvSpPr>
            <a:spLocks noChangeArrowheads="1"/>
          </p:cNvSpPr>
          <p:nvPr/>
        </p:nvSpPr>
        <p:spPr bwMode="auto">
          <a:xfrm>
            <a:off x="7334250" y="222567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5741" name="AutoShape 171"/>
          <p:cNvCxnSpPr>
            <a:cxnSpLocks noChangeShapeType="1"/>
            <a:stCxn id="25736" idx="5"/>
            <a:endCxn id="25737" idx="1"/>
          </p:cNvCxnSpPr>
          <p:nvPr/>
        </p:nvCxnSpPr>
        <p:spPr bwMode="auto">
          <a:xfrm>
            <a:off x="5640388" y="2286000"/>
            <a:ext cx="388937" cy="960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2" name="AutoShape 172"/>
          <p:cNvCxnSpPr>
            <a:cxnSpLocks noChangeShapeType="1"/>
            <a:stCxn id="25737" idx="5"/>
            <a:endCxn id="25738" idx="2"/>
          </p:cNvCxnSpPr>
          <p:nvPr/>
        </p:nvCxnSpPr>
        <p:spPr bwMode="auto">
          <a:xfrm>
            <a:off x="6078538" y="3295650"/>
            <a:ext cx="377825"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43" name="Text Box 2"/>
          <p:cNvSpPr txBox="1">
            <a:spLocks noChangeArrowheads="1"/>
          </p:cNvSpPr>
          <p:nvPr/>
        </p:nvSpPr>
        <p:spPr bwMode="auto">
          <a:xfrm>
            <a:off x="1065213" y="1341438"/>
            <a:ext cx="36000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latin typeface="arial" pitchFamily="34" charset="0"/>
                <a:ea typeface="맑은 고딕" pitchFamily="50" charset="-127"/>
              </a:rPr>
              <a:t>&lt;</a:t>
            </a:r>
            <a:r>
              <a:rPr lang="en-US" altLang="ko-KR" b="1" dirty="0" err="1">
                <a:latin typeface="arial" pitchFamily="34" charset="0"/>
                <a:ea typeface="맑은 고딕" pitchFamily="50" charset="-127"/>
              </a:rPr>
              <a:t>Kiểm</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soát</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giới</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hạn</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phạm</a:t>
            </a:r>
            <a:r>
              <a:rPr lang="en-US" altLang="ko-KR" b="1" dirty="0">
                <a:latin typeface="arial" pitchFamily="34" charset="0"/>
                <a:ea typeface="맑은 고딕" pitchFamily="50" charset="-127"/>
              </a:rPr>
              <a:t> vi&gt;</a:t>
            </a:r>
            <a:endParaRPr lang="ko-KR" altLang="en-US" b="1" dirty="0">
              <a:latin typeface="arial" pitchFamily="34" charset="0"/>
              <a:ea typeface="맑은 고딕" pitchFamily="50" charset="-127"/>
            </a:endParaRPr>
          </a:p>
        </p:txBody>
      </p:sp>
      <p:cxnSp>
        <p:nvCxnSpPr>
          <p:cNvPr id="25744" name="AutoShape 175"/>
          <p:cNvCxnSpPr>
            <a:cxnSpLocks noChangeShapeType="1"/>
            <a:stCxn id="25726" idx="6"/>
            <a:endCxn id="25727" idx="2"/>
          </p:cNvCxnSpPr>
          <p:nvPr/>
        </p:nvCxnSpPr>
        <p:spPr bwMode="auto">
          <a:xfrm flipV="1">
            <a:off x="3459163" y="3271838"/>
            <a:ext cx="366712" cy="1222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5" name="AutoShape 176"/>
          <p:cNvCxnSpPr>
            <a:cxnSpLocks noChangeShapeType="1"/>
            <a:stCxn id="25730" idx="7"/>
            <a:endCxn id="25736" idx="3"/>
          </p:cNvCxnSpPr>
          <p:nvPr/>
        </p:nvCxnSpPr>
        <p:spPr bwMode="auto">
          <a:xfrm flipV="1">
            <a:off x="5202238" y="2286000"/>
            <a:ext cx="388937"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6" name="AutoShape 177"/>
          <p:cNvCxnSpPr>
            <a:cxnSpLocks noChangeShapeType="1"/>
            <a:stCxn id="25738" idx="7"/>
            <a:endCxn id="25739" idx="3"/>
          </p:cNvCxnSpPr>
          <p:nvPr/>
        </p:nvCxnSpPr>
        <p:spPr bwMode="auto">
          <a:xfrm flipV="1">
            <a:off x="6516688" y="3078163"/>
            <a:ext cx="390525" cy="4556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7" name="AutoShape 178"/>
          <p:cNvCxnSpPr>
            <a:cxnSpLocks noChangeShapeType="1"/>
            <a:stCxn id="25739" idx="7"/>
            <a:endCxn id="25740" idx="3"/>
          </p:cNvCxnSpPr>
          <p:nvPr/>
        </p:nvCxnSpPr>
        <p:spPr bwMode="auto">
          <a:xfrm flipV="1">
            <a:off x="6956425" y="2286000"/>
            <a:ext cx="388938"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48" name="Text Box 179"/>
          <p:cNvSpPr txBox="1">
            <a:spLocks noChangeArrowheads="1"/>
          </p:cNvSpPr>
          <p:nvPr/>
        </p:nvSpPr>
        <p:spPr bwMode="auto">
          <a:xfrm>
            <a:off x="823913" y="2225675"/>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UCL</a:t>
            </a:r>
          </a:p>
        </p:txBody>
      </p:sp>
      <p:sp>
        <p:nvSpPr>
          <p:cNvPr id="25749" name="Text Box 180"/>
          <p:cNvSpPr txBox="1">
            <a:spLocks noChangeArrowheads="1"/>
          </p:cNvSpPr>
          <p:nvPr/>
        </p:nvSpPr>
        <p:spPr bwMode="auto">
          <a:xfrm>
            <a:off x="823913" y="3810000"/>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LCL</a:t>
            </a:r>
          </a:p>
        </p:txBody>
      </p:sp>
      <p:sp>
        <p:nvSpPr>
          <p:cNvPr id="25750" name="AutoShape 181"/>
          <p:cNvSpPr>
            <a:spLocks noChangeArrowheads="1"/>
          </p:cNvSpPr>
          <p:nvPr/>
        </p:nvSpPr>
        <p:spPr bwMode="auto">
          <a:xfrm>
            <a:off x="776288" y="4241800"/>
            <a:ext cx="1009650"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600" b="1" dirty="0">
                <a:latin typeface="arial" pitchFamily="34" charset="0"/>
                <a:ea typeface="맑은 고딕" pitchFamily="50" charset="-127"/>
              </a:rPr>
              <a:t>원인</a:t>
            </a:r>
          </a:p>
        </p:txBody>
      </p:sp>
      <p:sp>
        <p:nvSpPr>
          <p:cNvPr id="25751" name="Text Box 182"/>
          <p:cNvSpPr txBox="1">
            <a:spLocks noChangeArrowheads="1"/>
          </p:cNvSpPr>
          <p:nvPr/>
        </p:nvSpPr>
        <p:spPr bwMode="auto">
          <a:xfrm>
            <a:off x="898525" y="3017838"/>
            <a:ext cx="4571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CL</a:t>
            </a:r>
          </a:p>
        </p:txBody>
      </p:sp>
      <p:sp>
        <p:nvSpPr>
          <p:cNvPr id="25752" name="AutoShape 183"/>
          <p:cNvSpPr>
            <a:spLocks noChangeArrowheads="1"/>
          </p:cNvSpPr>
          <p:nvPr/>
        </p:nvSpPr>
        <p:spPr bwMode="auto">
          <a:xfrm>
            <a:off x="560512" y="4241800"/>
            <a:ext cx="1440160"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600" b="1" dirty="0" err="1">
                <a:latin typeface="arial" pitchFamily="34" charset="0"/>
                <a:ea typeface="맑은 고딕" pitchFamily="50" charset="-127"/>
              </a:rPr>
              <a:t>Nguyên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nhân</a:t>
            </a:r>
            <a:endParaRPr lang="ko-KR" altLang="en-US" sz="1600" b="1" dirty="0">
              <a:latin typeface="arial" pitchFamily="34" charset="0"/>
              <a:ea typeface="맑은 고딕" pitchFamily="50" charset="-127"/>
            </a:endParaRPr>
          </a:p>
        </p:txBody>
      </p:sp>
      <p:graphicFrame>
        <p:nvGraphicFramePr>
          <p:cNvPr id="33" name="Group 220"/>
          <p:cNvGraphicFramePr>
            <a:graphicFrameLocks noGrp="1"/>
          </p:cNvGraphicFramePr>
          <p:nvPr>
            <p:extLst>
              <p:ext uri="{D42A27DB-BD31-4B8C-83A1-F6EECF244321}">
                <p14:modId xmlns:p14="http://schemas.microsoft.com/office/powerpoint/2010/main" val="3777201879"/>
              </p:ext>
            </p:extLst>
          </p:nvPr>
        </p:nvGraphicFramePr>
        <p:xfrm>
          <a:off x="847725" y="4673600"/>
          <a:ext cx="8064500" cy="1587969"/>
        </p:xfrm>
        <a:graphic>
          <a:graphicData uri="http://schemas.openxmlformats.org/drawingml/2006/table">
            <a:tbl>
              <a:tblPr/>
              <a:tblGrid>
                <a:gridCol w="1173163">
                  <a:extLst>
                    <a:ext uri="{9D8B030D-6E8A-4147-A177-3AD203B41FA5}">
                      <a16:colId xmlns:a16="http://schemas.microsoft.com/office/drawing/2014/main" val="20000"/>
                    </a:ext>
                  </a:extLst>
                </a:gridCol>
                <a:gridCol w="6891337">
                  <a:extLst>
                    <a:ext uri="{9D8B030D-6E8A-4147-A177-3AD203B41FA5}">
                      <a16:colId xmlns:a16="http://schemas.microsoft.com/office/drawing/2014/main" val="20001"/>
                    </a:ext>
                  </a:extLst>
                </a:gridCol>
              </a:tblGrid>
              <a:tr h="56536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R</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Thay</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đổi</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các</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trang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thiết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bị</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quá</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thường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xuyên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Có</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sự</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khác</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biệt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ở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nguyên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vật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liệu</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công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nhân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dụng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cụ</a:t>
                      </a:r>
                      <a:r>
                        <a:rPr kumimoji="1" lang="en-US" altLang="ko-KR" sz="1100" b="0" i="0" u="none" strike="noStrike" cap="none" normalizeH="0" baseline="0" dirty="0">
                          <a:ln>
                            <a:noFill/>
                          </a:ln>
                          <a:solidFill>
                            <a:schemeClr val="tx1"/>
                          </a:solidFill>
                          <a:effectLst/>
                          <a:latin typeface="Arial" pitchFamily="34" charset="0"/>
                          <a:ea typeface="돋움" pitchFamily="50" charset="-127"/>
                        </a:rPr>
                        <a:t>,…</a:t>
                      </a:r>
                      <a:endParaRPr kumimoji="1" lang="ko-KR" altLang="en-US" sz="1100" b="0"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67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돋움" pitchFamily="50" charset="-127"/>
                        </a:rPr>
                        <a:t>Xbar</a:t>
                      </a:r>
                      <a:r>
                        <a:rPr kumimoji="1" lang="en-US" altLang="ko-KR" sz="1200" b="1" i="0" u="none" strike="noStrike" cap="none" normalizeH="0" baseline="0" dirty="0">
                          <a:ln>
                            <a:noFill/>
                          </a:ln>
                          <a:solidFill>
                            <a:schemeClr val="tx1"/>
                          </a:solidFill>
                          <a:effectLst/>
                          <a:latin typeface="Arial" pitchFamily="34" charset="0"/>
                          <a:ea typeface="돋움" pitchFamily="50" charset="-127"/>
                        </a:rPr>
                        <a:t> 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돋움" pitchFamily="50" charset="-127"/>
                        </a:rPr>
                        <a:t>Như</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trên</a:t>
                      </a:r>
                      <a:endParaRPr kumimoji="1" lang="ko-KR" altLang="en-US" sz="1100" b="0"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6320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P</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돋움" pitchFamily="50" charset="-127"/>
                        </a:rPr>
                        <a:t>Lịch</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trình</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kiểm</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tra</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quá</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đột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xuất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vật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liệu</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được</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cung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cấp</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bởi</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nhà</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cung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cấp</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khác</a:t>
                      </a:r>
                      <a:r>
                        <a:rPr kumimoji="1" lang="en-US" altLang="ko-KR" sz="1100" b="0" i="0" u="none" strike="noStrike" cap="none" normalizeH="0" baseline="0" dirty="0">
                          <a:ln>
                            <a:noFill/>
                          </a:ln>
                          <a:solidFill>
                            <a:schemeClr val="tx1"/>
                          </a:solidFill>
                          <a:effectLst/>
                          <a:latin typeface="Arial" pitchFamily="34" charset="0"/>
                          <a:ea typeface="돋움" pitchFamily="50" charset="-127"/>
                        </a:rPr>
                        <a:t>.</a:t>
                      </a:r>
                      <a:endParaRPr kumimoji="1" lang="ko-KR" altLang="en-US" sz="1100" b="0" i="0" u="none" strike="noStrike" cap="none" normalizeH="0" baseline="0" dirty="0">
                        <a:ln>
                          <a:noFill/>
                        </a:ln>
                        <a:solidFill>
                          <a:schemeClr val="tx1"/>
                        </a:solidFill>
                        <a:effectLst/>
                        <a:latin typeface="Arial" pitchFamily="34" charset="0"/>
                        <a:ea typeface="돋움" pitchFamily="50" charset="-127"/>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Bất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cẩn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trong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thao</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tác</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bảo</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trì</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lỗi</a:t>
                      </a:r>
                      <a:r>
                        <a:rPr kumimoji="1" lang="en-US" altLang="ko-KR" sz="1100" b="0" i="0" u="none" strike="noStrike" cap="none" normalizeH="0" baseline="0" dirty="0">
                          <a:ln>
                            <a:noFill/>
                          </a:ln>
                          <a:solidFill>
                            <a:schemeClr val="tx1"/>
                          </a:solidFill>
                          <a:effectLst/>
                          <a:latin typeface="Arial" pitchFamily="34" charset="0"/>
                          <a:ea typeface="돋움" pitchFamily="50" charset="-127"/>
                        </a:rPr>
                        <a:t>.</a:t>
                      </a:r>
                      <a:endParaRPr kumimoji="1" lang="ko-KR" altLang="en-US" sz="1100" b="0"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5767" name="Oval 198"/>
          <p:cNvSpPr>
            <a:spLocks noChangeArrowheads="1"/>
          </p:cNvSpPr>
          <p:nvPr/>
        </p:nvSpPr>
        <p:spPr bwMode="auto">
          <a:xfrm>
            <a:off x="7772400" y="25146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68" name="Oval 199"/>
          <p:cNvSpPr>
            <a:spLocks noChangeArrowheads="1"/>
          </p:cNvSpPr>
          <p:nvPr/>
        </p:nvSpPr>
        <p:spPr bwMode="auto">
          <a:xfrm>
            <a:off x="8210550" y="330676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69" name="Oval 200"/>
          <p:cNvSpPr>
            <a:spLocks noChangeArrowheads="1"/>
          </p:cNvSpPr>
          <p:nvPr/>
        </p:nvSpPr>
        <p:spPr bwMode="auto">
          <a:xfrm>
            <a:off x="8650288" y="35226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5770" name="AutoShape 204"/>
          <p:cNvCxnSpPr>
            <a:cxnSpLocks noChangeShapeType="1"/>
            <a:stCxn id="25740" idx="5"/>
            <a:endCxn id="25767" idx="1"/>
          </p:cNvCxnSpPr>
          <p:nvPr/>
        </p:nvCxnSpPr>
        <p:spPr bwMode="auto">
          <a:xfrm>
            <a:off x="7394575" y="2286000"/>
            <a:ext cx="388938"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71" name="AutoShape 205"/>
          <p:cNvCxnSpPr>
            <a:cxnSpLocks noChangeShapeType="1"/>
            <a:stCxn id="25767" idx="5"/>
            <a:endCxn id="25768" idx="1"/>
          </p:cNvCxnSpPr>
          <p:nvPr/>
        </p:nvCxnSpPr>
        <p:spPr bwMode="auto">
          <a:xfrm>
            <a:off x="7832725" y="2574925"/>
            <a:ext cx="388938"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72" name="AutoShape 206"/>
          <p:cNvCxnSpPr>
            <a:cxnSpLocks noChangeShapeType="1"/>
            <a:stCxn id="25768" idx="5"/>
            <a:endCxn id="25769" idx="2"/>
          </p:cNvCxnSpPr>
          <p:nvPr/>
        </p:nvCxnSpPr>
        <p:spPr bwMode="auto">
          <a:xfrm>
            <a:off x="8270875" y="3367088"/>
            <a:ext cx="379413" cy="1920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73" name="Oval 214"/>
          <p:cNvSpPr>
            <a:spLocks noChangeArrowheads="1"/>
          </p:cNvSpPr>
          <p:nvPr/>
        </p:nvSpPr>
        <p:spPr bwMode="auto">
          <a:xfrm>
            <a:off x="5422900" y="2108200"/>
            <a:ext cx="358775" cy="2825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5774" name="Oval 215"/>
          <p:cNvSpPr>
            <a:spLocks noChangeArrowheads="1"/>
          </p:cNvSpPr>
          <p:nvPr/>
        </p:nvSpPr>
        <p:spPr bwMode="auto">
          <a:xfrm>
            <a:off x="7185025" y="2108200"/>
            <a:ext cx="358775" cy="2825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46" name="Rectangle 12"/>
          <p:cNvSpPr>
            <a:spLocks noChangeArrowheads="1"/>
          </p:cNvSpPr>
          <p:nvPr/>
        </p:nvSpPr>
        <p:spPr bwMode="auto">
          <a:xfrm>
            <a:off x="849313" y="836613"/>
            <a:ext cx="3259226" cy="380873"/>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b="1" dirty="0" err="1">
                <a:solidFill>
                  <a:srgbClr val="000000"/>
                </a:solidFill>
                <a:latin typeface="arial" pitchFamily="34" charset="0"/>
                <a:ea typeface="맑은 고딕" panose="020B0503020000020004" pitchFamily="50" charset="-127"/>
              </a:rPr>
              <a:t>Biểu</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đồ</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kiểm</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soát</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diễn</a:t>
            </a:r>
            <a:r>
              <a:rPr kumimoji="0" lang="en-US" altLang="ko-KR" b="1" dirty="0">
                <a:solidFill>
                  <a:srgbClr val="000000"/>
                </a:solidFill>
                <a:latin typeface="arial" pitchFamily="34" charset="0"/>
                <a:ea typeface="맑은 고딕" panose="020B0503020000020004" pitchFamily="50" charset="-127"/>
              </a:rPr>
              <a:t> </a:t>
            </a:r>
            <a:r>
              <a:rPr kumimoji="0" lang="en-US" altLang="ko-KR" b="1" dirty="0" err="1">
                <a:solidFill>
                  <a:srgbClr val="000000"/>
                </a:solidFill>
                <a:latin typeface="arial" pitchFamily="34" charset="0"/>
                <a:ea typeface="맑은 고딕" panose="020B0503020000020004" pitchFamily="50" charset="-127"/>
              </a:rPr>
              <a:t>giải</a:t>
            </a:r>
            <a:endParaRPr kumimoji="0" lang="ko-KR" altLang="en-US" b="1" dirty="0">
              <a:solidFill>
                <a:srgbClr val="000000"/>
              </a:solidFill>
              <a:latin typeface="arial" pitchFamily="34" charset="0"/>
              <a:ea typeface="맑은 고딕" panose="020B0503020000020004"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265</a:t>
            </a:fld>
            <a:endParaRPr lang="ko-KR" altLang="en-US" dirty="0"/>
          </a:p>
        </p:txBody>
      </p:sp>
      <p:sp>
        <p:nvSpPr>
          <p:cNvPr id="45"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6.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Cách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đọc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4267050817"/>
      </p:ext>
    </p:extLst>
  </p:cSld>
  <p:clrMapOvr>
    <a:masterClrMapping/>
  </p:clrMapOvr>
  <p:transition/>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 name="Group 842"/>
          <p:cNvGraphicFramePr>
            <a:graphicFrameLocks noGrp="1"/>
          </p:cNvGraphicFramePr>
          <p:nvPr/>
        </p:nvGraphicFramePr>
        <p:xfrm>
          <a:off x="1495425" y="2201863"/>
          <a:ext cx="7345363" cy="1658940"/>
        </p:xfrm>
        <a:graphic>
          <a:graphicData uri="http://schemas.openxmlformats.org/drawingml/2006/table">
            <a:tbl>
              <a:tblPr/>
              <a:tblGrid>
                <a:gridCol w="566738">
                  <a:extLst>
                    <a:ext uri="{9D8B030D-6E8A-4147-A177-3AD203B41FA5}">
                      <a16:colId xmlns:a16="http://schemas.microsoft.com/office/drawing/2014/main" val="20000"/>
                    </a:ext>
                  </a:extLst>
                </a:gridCol>
                <a:gridCol w="563562">
                  <a:extLst>
                    <a:ext uri="{9D8B030D-6E8A-4147-A177-3AD203B41FA5}">
                      <a16:colId xmlns:a16="http://schemas.microsoft.com/office/drawing/2014/main" val="20001"/>
                    </a:ext>
                  </a:extLst>
                </a:gridCol>
                <a:gridCol w="566738">
                  <a:extLst>
                    <a:ext uri="{9D8B030D-6E8A-4147-A177-3AD203B41FA5}">
                      <a16:colId xmlns:a16="http://schemas.microsoft.com/office/drawing/2014/main" val="20002"/>
                    </a:ext>
                  </a:extLst>
                </a:gridCol>
                <a:gridCol w="565150">
                  <a:extLst>
                    <a:ext uri="{9D8B030D-6E8A-4147-A177-3AD203B41FA5}">
                      <a16:colId xmlns:a16="http://schemas.microsoft.com/office/drawing/2014/main" val="20003"/>
                    </a:ext>
                  </a:extLst>
                </a:gridCol>
                <a:gridCol w="565150">
                  <a:extLst>
                    <a:ext uri="{9D8B030D-6E8A-4147-A177-3AD203B41FA5}">
                      <a16:colId xmlns:a16="http://schemas.microsoft.com/office/drawing/2014/main" val="20004"/>
                    </a:ext>
                  </a:extLst>
                </a:gridCol>
                <a:gridCol w="565150">
                  <a:extLst>
                    <a:ext uri="{9D8B030D-6E8A-4147-A177-3AD203B41FA5}">
                      <a16:colId xmlns:a16="http://schemas.microsoft.com/office/drawing/2014/main" val="20005"/>
                    </a:ext>
                  </a:extLst>
                </a:gridCol>
                <a:gridCol w="566737">
                  <a:extLst>
                    <a:ext uri="{9D8B030D-6E8A-4147-A177-3AD203B41FA5}">
                      <a16:colId xmlns:a16="http://schemas.microsoft.com/office/drawing/2014/main" val="20006"/>
                    </a:ext>
                  </a:extLst>
                </a:gridCol>
                <a:gridCol w="563563">
                  <a:extLst>
                    <a:ext uri="{9D8B030D-6E8A-4147-A177-3AD203B41FA5}">
                      <a16:colId xmlns:a16="http://schemas.microsoft.com/office/drawing/2014/main" val="20007"/>
                    </a:ext>
                  </a:extLst>
                </a:gridCol>
                <a:gridCol w="566737">
                  <a:extLst>
                    <a:ext uri="{9D8B030D-6E8A-4147-A177-3AD203B41FA5}">
                      <a16:colId xmlns:a16="http://schemas.microsoft.com/office/drawing/2014/main" val="20008"/>
                    </a:ext>
                  </a:extLst>
                </a:gridCol>
                <a:gridCol w="561975">
                  <a:extLst>
                    <a:ext uri="{9D8B030D-6E8A-4147-A177-3AD203B41FA5}">
                      <a16:colId xmlns:a16="http://schemas.microsoft.com/office/drawing/2014/main" val="20009"/>
                    </a:ext>
                  </a:extLst>
                </a:gridCol>
                <a:gridCol w="565150">
                  <a:extLst>
                    <a:ext uri="{9D8B030D-6E8A-4147-A177-3AD203B41FA5}">
                      <a16:colId xmlns:a16="http://schemas.microsoft.com/office/drawing/2014/main" val="20010"/>
                    </a:ext>
                  </a:extLst>
                </a:gridCol>
                <a:gridCol w="565150">
                  <a:extLst>
                    <a:ext uri="{9D8B030D-6E8A-4147-A177-3AD203B41FA5}">
                      <a16:colId xmlns:a16="http://schemas.microsoft.com/office/drawing/2014/main" val="20011"/>
                    </a:ext>
                  </a:extLst>
                </a:gridCol>
                <a:gridCol w="563563">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a:ln>
                            <a:noFill/>
                          </a:ln>
                          <a:solidFill>
                            <a:schemeClr val="tx1"/>
                          </a:solidFill>
                          <a:effectLst/>
                          <a:latin typeface="Arial" pitchFamily="34" charset="0"/>
                          <a:ea typeface="돋움" pitchFamily="50" charset="-127"/>
                        </a:rPr>
                        <a:t>C</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6724" name="Text Box 3"/>
          <p:cNvSpPr txBox="1">
            <a:spLocks noChangeArrowheads="1"/>
          </p:cNvSpPr>
          <p:nvPr/>
        </p:nvSpPr>
        <p:spPr bwMode="auto">
          <a:xfrm>
            <a:off x="979488" y="1604963"/>
            <a:ext cx="5893750"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pPr>
            <a:r>
              <a:rPr lang="en-US" altLang="ko-KR" sz="1600" b="1" dirty="0">
                <a:latin typeface="arial" pitchFamily="34" charset="0"/>
                <a:ea typeface="맑은 고딕" pitchFamily="50" charset="-127"/>
              </a:rPr>
              <a:t>- 9 </a:t>
            </a:r>
            <a:r>
              <a:rPr lang="en-US" altLang="ko-KR" sz="1600" b="1" dirty="0" err="1">
                <a:latin typeface="arial" pitchFamily="34" charset="0"/>
                <a:ea typeface="맑은 고딕" pitchFamily="50" charset="-127"/>
              </a:rPr>
              <a:t>điểm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xuất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hiện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liên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tiếp</a:t>
            </a:r>
            <a:r>
              <a:rPr lang="en-US" altLang="ko-KR" sz="1600" b="1" dirty="0">
                <a:latin typeface="arial" pitchFamily="34" charset="0"/>
                <a:ea typeface="맑은 고딕" pitchFamily="50" charset="-127"/>
              </a:rPr>
              <a:t> ở </a:t>
            </a:r>
            <a:r>
              <a:rPr lang="en-US" altLang="ko-KR" sz="1600" b="1" dirty="0" err="1">
                <a:latin typeface="arial" pitchFamily="34" charset="0"/>
                <a:ea typeface="맑은 고딕" pitchFamily="50" charset="-127"/>
              </a:rPr>
              <a:t>một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bên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của</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đường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trung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tâm</a:t>
            </a:r>
            <a:endParaRPr lang="ko-KR" altLang="en-US" sz="1600" b="1" dirty="0">
              <a:latin typeface="arial" pitchFamily="34" charset="0"/>
              <a:ea typeface="맑은 고딕" pitchFamily="50" charset="-127"/>
            </a:endParaRPr>
          </a:p>
        </p:txBody>
      </p:sp>
      <p:sp>
        <p:nvSpPr>
          <p:cNvPr id="26725" name="Oval 115"/>
          <p:cNvSpPr>
            <a:spLocks noChangeArrowheads="1"/>
          </p:cNvSpPr>
          <p:nvPr/>
        </p:nvSpPr>
        <p:spPr bwMode="auto">
          <a:xfrm>
            <a:off x="2287588" y="3333750"/>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26" name="Oval 116"/>
          <p:cNvSpPr>
            <a:spLocks noChangeArrowheads="1"/>
          </p:cNvSpPr>
          <p:nvPr/>
        </p:nvSpPr>
        <p:spPr bwMode="auto">
          <a:xfrm>
            <a:off x="2863850" y="30861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27" name="Oval 117"/>
          <p:cNvSpPr>
            <a:spLocks noChangeArrowheads="1"/>
          </p:cNvSpPr>
          <p:nvPr/>
        </p:nvSpPr>
        <p:spPr bwMode="auto">
          <a:xfrm>
            <a:off x="3440113" y="282892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28" name="Oval 118"/>
          <p:cNvSpPr>
            <a:spLocks noChangeArrowheads="1"/>
          </p:cNvSpPr>
          <p:nvPr/>
        </p:nvSpPr>
        <p:spPr bwMode="auto">
          <a:xfrm>
            <a:off x="4016375" y="263683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29" name="Oval 119"/>
          <p:cNvSpPr>
            <a:spLocks noChangeArrowheads="1"/>
          </p:cNvSpPr>
          <p:nvPr/>
        </p:nvSpPr>
        <p:spPr bwMode="auto">
          <a:xfrm>
            <a:off x="4592638" y="2828925"/>
            <a:ext cx="73025"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30" name="Oval 120"/>
          <p:cNvSpPr>
            <a:spLocks noChangeArrowheads="1"/>
          </p:cNvSpPr>
          <p:nvPr/>
        </p:nvSpPr>
        <p:spPr bwMode="auto">
          <a:xfrm>
            <a:off x="5168900" y="261302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31" name="Oval 121"/>
          <p:cNvSpPr>
            <a:spLocks noChangeArrowheads="1"/>
          </p:cNvSpPr>
          <p:nvPr/>
        </p:nvSpPr>
        <p:spPr bwMode="auto">
          <a:xfrm>
            <a:off x="5745163" y="24685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6732" name="AutoShape 122"/>
          <p:cNvCxnSpPr>
            <a:cxnSpLocks noChangeShapeType="1"/>
            <a:stCxn id="26725" idx="6"/>
            <a:endCxn id="26726" idx="2"/>
          </p:cNvCxnSpPr>
          <p:nvPr/>
        </p:nvCxnSpPr>
        <p:spPr bwMode="auto">
          <a:xfrm flipV="1">
            <a:off x="2359025" y="3122613"/>
            <a:ext cx="504825" cy="2476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3" name="AutoShape 123"/>
          <p:cNvCxnSpPr>
            <a:cxnSpLocks noChangeShapeType="1"/>
            <a:stCxn id="26726" idx="7"/>
            <a:endCxn id="26727" idx="2"/>
          </p:cNvCxnSpPr>
          <p:nvPr/>
        </p:nvCxnSpPr>
        <p:spPr bwMode="auto">
          <a:xfrm flipV="1">
            <a:off x="2924175" y="2865438"/>
            <a:ext cx="515938" cy="2317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4" name="AutoShape 124"/>
          <p:cNvCxnSpPr>
            <a:cxnSpLocks noChangeShapeType="1"/>
            <a:stCxn id="26728" idx="6"/>
            <a:endCxn id="26729" idx="3"/>
          </p:cNvCxnSpPr>
          <p:nvPr/>
        </p:nvCxnSpPr>
        <p:spPr bwMode="auto">
          <a:xfrm>
            <a:off x="4087813" y="2673350"/>
            <a:ext cx="515937"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5" name="AutoShape 125"/>
          <p:cNvCxnSpPr>
            <a:cxnSpLocks noChangeShapeType="1"/>
            <a:stCxn id="26729" idx="6"/>
            <a:endCxn id="26730" idx="2"/>
          </p:cNvCxnSpPr>
          <p:nvPr/>
        </p:nvCxnSpPr>
        <p:spPr bwMode="auto">
          <a:xfrm flipV="1">
            <a:off x="4665663" y="2649538"/>
            <a:ext cx="503237"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6" name="AutoShape 126"/>
          <p:cNvCxnSpPr>
            <a:cxnSpLocks noChangeShapeType="1"/>
            <a:stCxn id="26730" idx="7"/>
            <a:endCxn id="26731" idx="2"/>
          </p:cNvCxnSpPr>
          <p:nvPr/>
        </p:nvCxnSpPr>
        <p:spPr bwMode="auto">
          <a:xfrm flipV="1">
            <a:off x="5229225" y="2505075"/>
            <a:ext cx="515938" cy="1190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37" name="Oval 127"/>
          <p:cNvSpPr>
            <a:spLocks noChangeArrowheads="1"/>
          </p:cNvSpPr>
          <p:nvPr/>
        </p:nvSpPr>
        <p:spPr bwMode="auto">
          <a:xfrm>
            <a:off x="6248400" y="261302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38" name="Oval 128"/>
          <p:cNvSpPr>
            <a:spLocks noChangeArrowheads="1"/>
          </p:cNvSpPr>
          <p:nvPr/>
        </p:nvSpPr>
        <p:spPr bwMode="auto">
          <a:xfrm>
            <a:off x="6824663" y="22526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39" name="Oval 129"/>
          <p:cNvSpPr>
            <a:spLocks noChangeArrowheads="1"/>
          </p:cNvSpPr>
          <p:nvPr/>
        </p:nvSpPr>
        <p:spPr bwMode="auto">
          <a:xfrm>
            <a:off x="7400925" y="254158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40" name="Oval 130"/>
          <p:cNvSpPr>
            <a:spLocks noChangeArrowheads="1"/>
          </p:cNvSpPr>
          <p:nvPr/>
        </p:nvSpPr>
        <p:spPr bwMode="auto">
          <a:xfrm>
            <a:off x="7977188" y="2828925"/>
            <a:ext cx="73025"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41" name="Oval 131"/>
          <p:cNvSpPr>
            <a:spLocks noChangeArrowheads="1"/>
          </p:cNvSpPr>
          <p:nvPr/>
        </p:nvSpPr>
        <p:spPr bwMode="auto">
          <a:xfrm>
            <a:off x="8553450" y="254158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6742" name="AutoShape 132"/>
          <p:cNvCxnSpPr>
            <a:cxnSpLocks noChangeShapeType="1"/>
            <a:stCxn id="26737" idx="6"/>
            <a:endCxn id="26738" idx="2"/>
          </p:cNvCxnSpPr>
          <p:nvPr/>
        </p:nvCxnSpPr>
        <p:spPr bwMode="auto">
          <a:xfrm flipV="1">
            <a:off x="6319838" y="2289175"/>
            <a:ext cx="504825" cy="3603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3" name="AutoShape 133"/>
          <p:cNvCxnSpPr>
            <a:cxnSpLocks noChangeShapeType="1"/>
            <a:stCxn id="26738" idx="5"/>
            <a:endCxn id="26739" idx="2"/>
          </p:cNvCxnSpPr>
          <p:nvPr/>
        </p:nvCxnSpPr>
        <p:spPr bwMode="auto">
          <a:xfrm>
            <a:off x="6884988" y="2312988"/>
            <a:ext cx="515937" cy="2651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44" name="Text Box 2"/>
          <p:cNvSpPr txBox="1">
            <a:spLocks noChangeArrowheads="1"/>
          </p:cNvSpPr>
          <p:nvPr/>
        </p:nvSpPr>
        <p:spPr bwMode="auto">
          <a:xfrm>
            <a:off x="849313" y="1125538"/>
            <a:ext cx="11464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latin typeface="arial" pitchFamily="34" charset="0"/>
                <a:ea typeface="맑은 고딕" pitchFamily="50" charset="-127"/>
              </a:rPr>
              <a:t>&lt; </a:t>
            </a:r>
            <a:r>
              <a:rPr lang="en-US" altLang="ko-KR" b="1" dirty="0" err="1">
                <a:latin typeface="arial" pitchFamily="34" charset="0"/>
                <a:ea typeface="맑은 고딕" pitchFamily="50" charset="-127"/>
              </a:rPr>
              <a:t>Chạy</a:t>
            </a:r>
            <a:r>
              <a:rPr lang="en-US" altLang="ko-KR" b="1" dirty="0">
                <a:latin typeface="arial" pitchFamily="34" charset="0"/>
                <a:ea typeface="맑은 고딕" pitchFamily="50" charset="-127"/>
              </a:rPr>
              <a:t> &gt;</a:t>
            </a:r>
            <a:endParaRPr lang="ko-KR" altLang="en-US" b="1" dirty="0">
              <a:latin typeface="arial" pitchFamily="34" charset="0"/>
              <a:ea typeface="맑은 고딕" pitchFamily="50" charset="-127"/>
            </a:endParaRPr>
          </a:p>
        </p:txBody>
      </p:sp>
      <p:cxnSp>
        <p:nvCxnSpPr>
          <p:cNvPr id="26745" name="AutoShape 137"/>
          <p:cNvCxnSpPr>
            <a:cxnSpLocks noChangeShapeType="1"/>
            <a:stCxn id="26727" idx="6"/>
            <a:endCxn id="26728" idx="2"/>
          </p:cNvCxnSpPr>
          <p:nvPr/>
        </p:nvCxnSpPr>
        <p:spPr bwMode="auto">
          <a:xfrm flipV="1">
            <a:off x="3511550" y="2673350"/>
            <a:ext cx="504825"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6" name="AutoShape 138"/>
          <p:cNvCxnSpPr>
            <a:cxnSpLocks noChangeShapeType="1"/>
            <a:stCxn id="26731" idx="6"/>
            <a:endCxn id="26737" idx="2"/>
          </p:cNvCxnSpPr>
          <p:nvPr/>
        </p:nvCxnSpPr>
        <p:spPr bwMode="auto">
          <a:xfrm>
            <a:off x="5816600" y="2505075"/>
            <a:ext cx="431800"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7" name="AutoShape 139"/>
          <p:cNvCxnSpPr>
            <a:cxnSpLocks noChangeShapeType="1"/>
            <a:stCxn id="26739" idx="5"/>
            <a:endCxn id="26740" idx="2"/>
          </p:cNvCxnSpPr>
          <p:nvPr/>
        </p:nvCxnSpPr>
        <p:spPr bwMode="auto">
          <a:xfrm>
            <a:off x="7461250" y="2601913"/>
            <a:ext cx="515938"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8" name="AutoShape 140"/>
          <p:cNvCxnSpPr>
            <a:cxnSpLocks noChangeShapeType="1"/>
            <a:stCxn id="26740" idx="6"/>
            <a:endCxn id="26741" idx="2"/>
          </p:cNvCxnSpPr>
          <p:nvPr/>
        </p:nvCxnSpPr>
        <p:spPr bwMode="auto">
          <a:xfrm flipV="1">
            <a:off x="8050213" y="2578100"/>
            <a:ext cx="503237" cy="2873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49" name="Text Box 141"/>
          <p:cNvSpPr txBox="1">
            <a:spLocks noChangeArrowheads="1"/>
          </p:cNvSpPr>
          <p:nvPr/>
        </p:nvSpPr>
        <p:spPr bwMode="auto">
          <a:xfrm>
            <a:off x="896938" y="2036763"/>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UCL</a:t>
            </a:r>
          </a:p>
        </p:txBody>
      </p:sp>
      <p:sp>
        <p:nvSpPr>
          <p:cNvPr id="26750" name="Text Box 142"/>
          <p:cNvSpPr txBox="1">
            <a:spLocks noChangeArrowheads="1"/>
          </p:cNvSpPr>
          <p:nvPr/>
        </p:nvSpPr>
        <p:spPr bwMode="auto">
          <a:xfrm>
            <a:off x="896938" y="3621088"/>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LCL</a:t>
            </a:r>
          </a:p>
        </p:txBody>
      </p:sp>
      <p:sp>
        <p:nvSpPr>
          <p:cNvPr id="26752" name="Oval 144"/>
          <p:cNvSpPr>
            <a:spLocks noChangeArrowheads="1"/>
          </p:cNvSpPr>
          <p:nvPr/>
        </p:nvSpPr>
        <p:spPr bwMode="auto">
          <a:xfrm>
            <a:off x="3763963" y="2036763"/>
            <a:ext cx="5008562" cy="11080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6753" name="Text Box 145"/>
          <p:cNvSpPr txBox="1">
            <a:spLocks noChangeArrowheads="1"/>
          </p:cNvSpPr>
          <p:nvPr/>
        </p:nvSpPr>
        <p:spPr bwMode="auto">
          <a:xfrm>
            <a:off x="971550" y="2828925"/>
            <a:ext cx="4571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CL</a:t>
            </a:r>
          </a:p>
        </p:txBody>
      </p:sp>
      <p:graphicFrame>
        <p:nvGraphicFramePr>
          <p:cNvPr id="34" name="Group 170"/>
          <p:cNvGraphicFramePr>
            <a:graphicFrameLocks noGrp="1"/>
          </p:cNvGraphicFramePr>
          <p:nvPr>
            <p:extLst>
              <p:ext uri="{D42A27DB-BD31-4B8C-83A1-F6EECF244321}">
                <p14:modId xmlns:p14="http://schemas.microsoft.com/office/powerpoint/2010/main" val="4000134975"/>
              </p:ext>
            </p:extLst>
          </p:nvPr>
        </p:nvGraphicFramePr>
        <p:xfrm>
          <a:off x="920750" y="4681115"/>
          <a:ext cx="7905750" cy="1690688"/>
        </p:xfrm>
        <a:graphic>
          <a:graphicData uri="http://schemas.openxmlformats.org/drawingml/2006/table">
            <a:tbl>
              <a:tblPr/>
              <a:tblGrid>
                <a:gridCol w="1149350">
                  <a:extLst>
                    <a:ext uri="{9D8B030D-6E8A-4147-A177-3AD203B41FA5}">
                      <a16:colId xmlns:a16="http://schemas.microsoft.com/office/drawing/2014/main" val="20000"/>
                    </a:ext>
                  </a:extLst>
                </a:gridCol>
                <a:gridCol w="6756400">
                  <a:extLst>
                    <a:ext uri="{9D8B030D-6E8A-4147-A177-3AD203B41FA5}">
                      <a16:colId xmlns:a16="http://schemas.microsoft.com/office/drawing/2014/main" val="20001"/>
                    </a:ext>
                  </a:extLst>
                </a:gridCol>
              </a:tblGrid>
              <a:tr h="56481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R</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Bảo</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quản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thiết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bị</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kém</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công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nhân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bất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cẩn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hoặc</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có</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sai</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sót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thay</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đổi</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trong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nguyên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vật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liệu</a:t>
                      </a:r>
                      <a:r>
                        <a:rPr kumimoji="1" lang="en-US" altLang="ko-KR" sz="1100" b="0" i="0" u="none" strike="noStrike" cap="none" normalizeH="0" baseline="0" dirty="0">
                          <a:ln>
                            <a:noFill/>
                          </a:ln>
                          <a:solidFill>
                            <a:schemeClr val="tx1"/>
                          </a:solidFill>
                          <a:effectLst/>
                          <a:latin typeface="Arial" pitchFamily="34" charset="0"/>
                          <a:ea typeface="돋움" pitchFamily="50" charset="-127"/>
                        </a:rPr>
                        <a:t>.</a:t>
                      </a:r>
                    </a:p>
                  </a:txBody>
                  <a:tcPr marL="90000" marR="90000"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629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돋움" pitchFamily="50" charset="-127"/>
                        </a:rPr>
                        <a:t>Xbar</a:t>
                      </a:r>
                      <a:r>
                        <a:rPr kumimoji="1" lang="en-US" altLang="ko-KR" sz="1200" b="1" i="0" u="none" strike="noStrike" cap="none" normalizeH="0" baseline="0" dirty="0">
                          <a:ln>
                            <a:noFill/>
                          </a:ln>
                          <a:solidFill>
                            <a:schemeClr val="tx1"/>
                          </a:solidFill>
                          <a:effectLst/>
                          <a:latin typeface="Arial" pitchFamily="34" charset="0"/>
                          <a:ea typeface="돋움" pitchFamily="50" charset="-127"/>
                        </a:rPr>
                        <a:t> 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Thay</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đổi</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thiết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lập</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trong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các</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thiết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bị</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sản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xuất</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luân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chuẩn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công</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nhân</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sửa</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đổi</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quy</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trình</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làm</a:t>
                      </a:r>
                      <a:r>
                        <a:rPr kumimoji="1" lang="en-US" altLang="ko-KR" sz="1100" b="0" i="0" u="none" strike="noStrike" cap="none" normalizeH="0" baseline="0" dirty="0">
                          <a:ln>
                            <a:noFill/>
                          </a:ln>
                          <a:solidFill>
                            <a:schemeClr val="tx1"/>
                          </a:solidFill>
                          <a:effectLst/>
                          <a:latin typeface="Arial" pitchFamily="34" charset="0"/>
                          <a:ea typeface="돋움" pitchFamily="50" charset="-127"/>
                        </a:rPr>
                        <a:t> </a:t>
                      </a:r>
                      <a:r>
                        <a:rPr kumimoji="1" lang="en-US" altLang="ko-KR" sz="1100" b="0" i="0" u="none" strike="noStrike" cap="none" normalizeH="0" baseline="0" dirty="0" err="1">
                          <a:ln>
                            <a:noFill/>
                          </a:ln>
                          <a:solidFill>
                            <a:schemeClr val="tx1"/>
                          </a:solidFill>
                          <a:effectLst/>
                          <a:latin typeface="Arial" pitchFamily="34" charset="0"/>
                          <a:ea typeface="돋움" pitchFamily="50" charset="-127"/>
                        </a:rPr>
                        <a:t>việc</a:t>
                      </a:r>
                      <a:endParaRPr kumimoji="1" lang="ko-KR" altLang="en-US" sz="1100" b="0" i="0" u="none" strike="noStrike" cap="none" normalizeH="0" baseline="0" dirty="0">
                        <a:ln>
                          <a:noFill/>
                        </a:ln>
                        <a:solidFill>
                          <a:schemeClr val="tx1"/>
                        </a:solidFill>
                        <a:effectLst/>
                        <a:latin typeface="Arial" pitchFamily="34" charset="0"/>
                        <a:ea typeface="돋움" pitchFamily="50" charset="-127"/>
                      </a:endParaRPr>
                    </a:p>
                  </a:txBody>
                  <a:tcPr marL="90000" marR="90000"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629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P</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cap="none" normalizeH="0" baseline="0" dirty="0" err="1">
                          <a:ln>
                            <a:noFill/>
                          </a:ln>
                          <a:solidFill>
                            <a:schemeClr val="tx1"/>
                          </a:solidFill>
                          <a:effectLst/>
                          <a:latin typeface="Arial" pitchFamily="34" charset="0"/>
                          <a:ea typeface="돋움" pitchFamily="50" charset="-127"/>
                        </a:rPr>
                        <a:t>Như</a:t>
                      </a:r>
                      <a:r>
                        <a:rPr kumimoji="1" lang="en-US" altLang="ko-KR" sz="1100" b="0" i="0" u="none" strike="noStrike" cap="none" normalizeH="0" baseline="0" dirty="0">
                          <a:ln>
                            <a:noFill/>
                          </a:ln>
                          <a:solidFill>
                            <a:schemeClr val="tx1"/>
                          </a:solidFill>
                          <a:effectLst/>
                          <a:latin typeface="Arial" pitchFamily="34" charset="0"/>
                          <a:ea typeface="돋움" pitchFamily="50" charset="-127"/>
                        </a:rPr>
                        <a:t> R Control Chart</a:t>
                      </a:r>
                    </a:p>
                  </a:txBody>
                  <a:tcPr marL="90000" marR="90000"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6769" name="Text Box 166"/>
          <p:cNvSpPr txBox="1">
            <a:spLocks noChangeArrowheads="1"/>
          </p:cNvSpPr>
          <p:nvPr/>
        </p:nvSpPr>
        <p:spPr bwMode="auto">
          <a:xfrm>
            <a:off x="2480137" y="3910013"/>
            <a:ext cx="700936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err="1">
                <a:solidFill>
                  <a:srgbClr val="CC0000"/>
                </a:solidFill>
                <a:latin typeface="arial" pitchFamily="34" charset="0"/>
                <a:ea typeface="맑은 고딕" pitchFamily="50" charset="-127"/>
              </a:rPr>
              <a:t>Xác</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suất</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để</a:t>
            </a:r>
            <a:r>
              <a:rPr lang="en-US" altLang="ko-KR" sz="1100" b="1" dirty="0">
                <a:solidFill>
                  <a:srgbClr val="CC0000"/>
                </a:solidFill>
                <a:latin typeface="arial" pitchFamily="34" charset="0"/>
                <a:ea typeface="맑은 고딕" pitchFamily="50" charset="-127"/>
              </a:rPr>
              <a:t> </a:t>
            </a:r>
            <a:r>
              <a:rPr lang="vi-VN" altLang="ko-KR" sz="1100" b="1" dirty="0">
                <a:solidFill>
                  <a:srgbClr val="CC0000"/>
                </a:solidFill>
                <a:latin typeface="arial" pitchFamily="34" charset="0"/>
                <a:ea typeface="맑은 고딕" pitchFamily="50" charset="-127"/>
              </a:rPr>
              <a:t>9 điểm xuất hiện liên tiếp ở một bên của đường trung tâm</a:t>
            </a:r>
            <a:r>
              <a:rPr lang="en-US" altLang="ko-KR" sz="1100" b="1" dirty="0">
                <a:solidFill>
                  <a:srgbClr val="CC0000"/>
                </a:solidFill>
                <a:latin typeface="arial" pitchFamily="34" charset="0"/>
                <a:ea typeface="맑은 고딕" pitchFamily="50" charset="-127"/>
              </a:rPr>
              <a:t> ((0.5)^9 = 0.2%)</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266</a:t>
            </a:fld>
            <a:endParaRPr lang="ko-KR" altLang="en-US" dirty="0"/>
          </a:p>
        </p:txBody>
      </p:sp>
      <p:sp>
        <p:nvSpPr>
          <p:cNvPr id="38"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6.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Cách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đọc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
        <p:nvSpPr>
          <p:cNvPr id="41" name="AutoShape 181"/>
          <p:cNvSpPr>
            <a:spLocks noChangeArrowheads="1"/>
          </p:cNvSpPr>
          <p:nvPr/>
        </p:nvSpPr>
        <p:spPr bwMode="auto">
          <a:xfrm>
            <a:off x="776288" y="4211016"/>
            <a:ext cx="1009650"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600" b="1" dirty="0">
                <a:latin typeface="arial" pitchFamily="34" charset="0"/>
                <a:ea typeface="맑은 고딕" pitchFamily="50" charset="-127"/>
              </a:rPr>
              <a:t>원인</a:t>
            </a:r>
          </a:p>
        </p:txBody>
      </p:sp>
      <p:sp>
        <p:nvSpPr>
          <p:cNvPr id="42" name="AutoShape 183"/>
          <p:cNvSpPr>
            <a:spLocks noChangeArrowheads="1"/>
          </p:cNvSpPr>
          <p:nvPr/>
        </p:nvSpPr>
        <p:spPr bwMode="auto">
          <a:xfrm>
            <a:off x="560512" y="4211016"/>
            <a:ext cx="1440160"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600" b="1" dirty="0" err="1">
                <a:latin typeface="arial" pitchFamily="34" charset="0"/>
                <a:ea typeface="맑은 고딕" pitchFamily="50" charset="-127"/>
              </a:rPr>
              <a:t>Nguyên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nhân</a:t>
            </a:r>
            <a:endParaRPr lang="ko-KR" altLang="en-US" sz="1600" b="1" dirty="0">
              <a:latin typeface="arial" pitchFamily="34" charset="0"/>
              <a:ea typeface="맑은 고딕" pitchFamily="50" charset="-127"/>
            </a:endParaRPr>
          </a:p>
        </p:txBody>
      </p:sp>
    </p:spTree>
    <p:extLst>
      <p:ext uri="{BB962C8B-B14F-4D97-AF65-F5344CB8AC3E}">
        <p14:creationId xmlns:p14="http://schemas.microsoft.com/office/powerpoint/2010/main" val="2064224667"/>
      </p:ext>
    </p:extLst>
  </p:cSld>
  <p:clrMapOvr>
    <a:masterClrMapping/>
  </p:clrMapOvr>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 name="Group 842"/>
          <p:cNvGraphicFramePr>
            <a:graphicFrameLocks noGrp="1"/>
          </p:cNvGraphicFramePr>
          <p:nvPr/>
        </p:nvGraphicFramePr>
        <p:xfrm>
          <a:off x="1495425" y="2133600"/>
          <a:ext cx="7345363" cy="1658940"/>
        </p:xfrm>
        <a:graphic>
          <a:graphicData uri="http://schemas.openxmlformats.org/drawingml/2006/table">
            <a:tbl>
              <a:tblPr/>
              <a:tblGrid>
                <a:gridCol w="566738">
                  <a:extLst>
                    <a:ext uri="{9D8B030D-6E8A-4147-A177-3AD203B41FA5}">
                      <a16:colId xmlns:a16="http://schemas.microsoft.com/office/drawing/2014/main" val="20000"/>
                    </a:ext>
                  </a:extLst>
                </a:gridCol>
                <a:gridCol w="563562">
                  <a:extLst>
                    <a:ext uri="{9D8B030D-6E8A-4147-A177-3AD203B41FA5}">
                      <a16:colId xmlns:a16="http://schemas.microsoft.com/office/drawing/2014/main" val="20001"/>
                    </a:ext>
                  </a:extLst>
                </a:gridCol>
                <a:gridCol w="566738">
                  <a:extLst>
                    <a:ext uri="{9D8B030D-6E8A-4147-A177-3AD203B41FA5}">
                      <a16:colId xmlns:a16="http://schemas.microsoft.com/office/drawing/2014/main" val="20002"/>
                    </a:ext>
                  </a:extLst>
                </a:gridCol>
                <a:gridCol w="565150">
                  <a:extLst>
                    <a:ext uri="{9D8B030D-6E8A-4147-A177-3AD203B41FA5}">
                      <a16:colId xmlns:a16="http://schemas.microsoft.com/office/drawing/2014/main" val="20003"/>
                    </a:ext>
                  </a:extLst>
                </a:gridCol>
                <a:gridCol w="565150">
                  <a:extLst>
                    <a:ext uri="{9D8B030D-6E8A-4147-A177-3AD203B41FA5}">
                      <a16:colId xmlns:a16="http://schemas.microsoft.com/office/drawing/2014/main" val="20004"/>
                    </a:ext>
                  </a:extLst>
                </a:gridCol>
                <a:gridCol w="565150">
                  <a:extLst>
                    <a:ext uri="{9D8B030D-6E8A-4147-A177-3AD203B41FA5}">
                      <a16:colId xmlns:a16="http://schemas.microsoft.com/office/drawing/2014/main" val="20005"/>
                    </a:ext>
                  </a:extLst>
                </a:gridCol>
                <a:gridCol w="566737">
                  <a:extLst>
                    <a:ext uri="{9D8B030D-6E8A-4147-A177-3AD203B41FA5}">
                      <a16:colId xmlns:a16="http://schemas.microsoft.com/office/drawing/2014/main" val="20006"/>
                    </a:ext>
                  </a:extLst>
                </a:gridCol>
                <a:gridCol w="563563">
                  <a:extLst>
                    <a:ext uri="{9D8B030D-6E8A-4147-A177-3AD203B41FA5}">
                      <a16:colId xmlns:a16="http://schemas.microsoft.com/office/drawing/2014/main" val="20007"/>
                    </a:ext>
                  </a:extLst>
                </a:gridCol>
                <a:gridCol w="566737">
                  <a:extLst>
                    <a:ext uri="{9D8B030D-6E8A-4147-A177-3AD203B41FA5}">
                      <a16:colId xmlns:a16="http://schemas.microsoft.com/office/drawing/2014/main" val="20008"/>
                    </a:ext>
                  </a:extLst>
                </a:gridCol>
                <a:gridCol w="561975">
                  <a:extLst>
                    <a:ext uri="{9D8B030D-6E8A-4147-A177-3AD203B41FA5}">
                      <a16:colId xmlns:a16="http://schemas.microsoft.com/office/drawing/2014/main" val="20009"/>
                    </a:ext>
                  </a:extLst>
                </a:gridCol>
                <a:gridCol w="565150">
                  <a:extLst>
                    <a:ext uri="{9D8B030D-6E8A-4147-A177-3AD203B41FA5}">
                      <a16:colId xmlns:a16="http://schemas.microsoft.com/office/drawing/2014/main" val="20010"/>
                    </a:ext>
                  </a:extLst>
                </a:gridCol>
                <a:gridCol w="565150">
                  <a:extLst>
                    <a:ext uri="{9D8B030D-6E8A-4147-A177-3AD203B41FA5}">
                      <a16:colId xmlns:a16="http://schemas.microsoft.com/office/drawing/2014/main" val="20011"/>
                    </a:ext>
                  </a:extLst>
                </a:gridCol>
                <a:gridCol w="563563">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a:ln>
                            <a:noFill/>
                          </a:ln>
                          <a:solidFill>
                            <a:schemeClr val="tx1"/>
                          </a:solidFill>
                          <a:effectLst/>
                          <a:latin typeface="Arial" pitchFamily="34" charset="0"/>
                          <a:ea typeface="돋움" pitchFamily="50" charset="-127"/>
                        </a:rPr>
                        <a:t>C</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7748" name="Text Box 3"/>
          <p:cNvSpPr txBox="1">
            <a:spLocks noChangeArrowheads="1"/>
          </p:cNvSpPr>
          <p:nvPr/>
        </p:nvSpPr>
        <p:spPr bwMode="auto">
          <a:xfrm>
            <a:off x="979488" y="1533525"/>
            <a:ext cx="6164658" cy="264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marL="285750" indent="-285750" eaLnBrk="1" fontAlgn="ctr" hangingPunct="1">
              <a:lnSpc>
                <a:spcPts val="1200"/>
              </a:lnSpc>
              <a:spcBef>
                <a:spcPct val="50000"/>
              </a:spcBef>
              <a:buFontTx/>
              <a:buChar char="-"/>
            </a:pPr>
            <a:r>
              <a:rPr lang="en-US" altLang="ko-KR" sz="1600" b="1" dirty="0">
                <a:latin typeface="arial" pitchFamily="34" charset="0"/>
                <a:ea typeface="맑은 고딕" pitchFamily="50" charset="-127"/>
              </a:rPr>
              <a:t>6 </a:t>
            </a:r>
            <a:r>
              <a:rPr lang="en-US" altLang="ko-KR" sz="1600" b="1" dirty="0" err="1">
                <a:latin typeface="arial" pitchFamily="34" charset="0"/>
                <a:ea typeface="맑은 고딕" pitchFamily="50" charset="-127"/>
              </a:rPr>
              <a:t>điểm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tăng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hoặc</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giảm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liên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tục</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thường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là</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theo</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một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hướng</a:t>
            </a:r>
            <a:r>
              <a:rPr lang="en-US" altLang="ko-KR" sz="1600" b="1" dirty="0">
                <a:latin typeface="arial" pitchFamily="34" charset="0"/>
                <a:ea typeface="맑은 고딕" pitchFamily="50" charset="-127"/>
              </a:rPr>
              <a:t>.</a:t>
            </a:r>
            <a:endParaRPr lang="ko-KR" altLang="en-US" sz="1600" b="1" dirty="0">
              <a:latin typeface="arial" pitchFamily="34" charset="0"/>
              <a:ea typeface="맑은 고딕" pitchFamily="50" charset="-127"/>
            </a:endParaRPr>
          </a:p>
        </p:txBody>
      </p:sp>
      <p:sp>
        <p:nvSpPr>
          <p:cNvPr id="27749" name="Oval 115"/>
          <p:cNvSpPr>
            <a:spLocks noChangeArrowheads="1"/>
          </p:cNvSpPr>
          <p:nvPr/>
        </p:nvSpPr>
        <p:spPr bwMode="auto">
          <a:xfrm>
            <a:off x="2287588" y="304641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50" name="Oval 116"/>
          <p:cNvSpPr>
            <a:spLocks noChangeArrowheads="1"/>
          </p:cNvSpPr>
          <p:nvPr/>
        </p:nvSpPr>
        <p:spPr bwMode="auto">
          <a:xfrm>
            <a:off x="2863850" y="326231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51" name="Oval 117"/>
          <p:cNvSpPr>
            <a:spLocks noChangeArrowheads="1"/>
          </p:cNvSpPr>
          <p:nvPr/>
        </p:nvSpPr>
        <p:spPr bwMode="auto">
          <a:xfrm>
            <a:off x="3440113" y="283051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52" name="Oval 118"/>
          <p:cNvSpPr>
            <a:spLocks noChangeArrowheads="1"/>
          </p:cNvSpPr>
          <p:nvPr/>
        </p:nvSpPr>
        <p:spPr bwMode="auto">
          <a:xfrm>
            <a:off x="4016375" y="261302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53" name="Oval 119"/>
          <p:cNvSpPr>
            <a:spLocks noChangeArrowheads="1"/>
          </p:cNvSpPr>
          <p:nvPr/>
        </p:nvSpPr>
        <p:spPr bwMode="auto">
          <a:xfrm>
            <a:off x="4592638" y="2974975"/>
            <a:ext cx="73025"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54" name="Oval 120"/>
          <p:cNvSpPr>
            <a:spLocks noChangeArrowheads="1"/>
          </p:cNvSpPr>
          <p:nvPr/>
        </p:nvSpPr>
        <p:spPr bwMode="auto">
          <a:xfrm>
            <a:off x="5168900" y="29972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55" name="Oval 121"/>
          <p:cNvSpPr>
            <a:spLocks noChangeArrowheads="1"/>
          </p:cNvSpPr>
          <p:nvPr/>
        </p:nvSpPr>
        <p:spPr bwMode="auto">
          <a:xfrm>
            <a:off x="5745163" y="306863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7756" name="AutoShape 122"/>
          <p:cNvCxnSpPr>
            <a:cxnSpLocks noChangeShapeType="1"/>
            <a:stCxn id="27749" idx="6"/>
            <a:endCxn id="27750" idx="3"/>
          </p:cNvCxnSpPr>
          <p:nvPr/>
        </p:nvCxnSpPr>
        <p:spPr bwMode="auto">
          <a:xfrm>
            <a:off x="2359025" y="3082925"/>
            <a:ext cx="515938"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7" name="AutoShape 123"/>
          <p:cNvCxnSpPr>
            <a:cxnSpLocks noChangeShapeType="1"/>
            <a:stCxn id="27750" idx="6"/>
            <a:endCxn id="27751" idx="2"/>
          </p:cNvCxnSpPr>
          <p:nvPr/>
        </p:nvCxnSpPr>
        <p:spPr bwMode="auto">
          <a:xfrm flipV="1">
            <a:off x="2935288" y="2867025"/>
            <a:ext cx="504825" cy="431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8" name="AutoShape 124"/>
          <p:cNvCxnSpPr>
            <a:cxnSpLocks noChangeShapeType="1"/>
            <a:stCxn id="27752" idx="6"/>
            <a:endCxn id="27753" idx="2"/>
          </p:cNvCxnSpPr>
          <p:nvPr/>
        </p:nvCxnSpPr>
        <p:spPr bwMode="auto">
          <a:xfrm>
            <a:off x="4087813" y="2649538"/>
            <a:ext cx="504825" cy="361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9" name="AutoShape 125"/>
          <p:cNvCxnSpPr>
            <a:cxnSpLocks noChangeShapeType="1"/>
            <a:stCxn id="27753" idx="6"/>
            <a:endCxn id="27754" idx="2"/>
          </p:cNvCxnSpPr>
          <p:nvPr/>
        </p:nvCxnSpPr>
        <p:spPr bwMode="auto">
          <a:xfrm>
            <a:off x="4665663" y="3011488"/>
            <a:ext cx="503237" cy="222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60" name="AutoShape 126"/>
          <p:cNvCxnSpPr>
            <a:cxnSpLocks noChangeShapeType="1"/>
            <a:stCxn id="27754" idx="6"/>
            <a:endCxn id="27755" idx="2"/>
          </p:cNvCxnSpPr>
          <p:nvPr/>
        </p:nvCxnSpPr>
        <p:spPr bwMode="auto">
          <a:xfrm>
            <a:off x="5240338" y="3033713"/>
            <a:ext cx="504825"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61" name="Oval 127"/>
          <p:cNvSpPr>
            <a:spLocks noChangeArrowheads="1"/>
          </p:cNvSpPr>
          <p:nvPr/>
        </p:nvSpPr>
        <p:spPr bwMode="auto">
          <a:xfrm>
            <a:off x="6248400" y="314166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62" name="Oval 128"/>
          <p:cNvSpPr>
            <a:spLocks noChangeArrowheads="1"/>
          </p:cNvSpPr>
          <p:nvPr/>
        </p:nvSpPr>
        <p:spPr bwMode="auto">
          <a:xfrm>
            <a:off x="6824663" y="326231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63" name="Oval 129"/>
          <p:cNvSpPr>
            <a:spLocks noChangeArrowheads="1"/>
          </p:cNvSpPr>
          <p:nvPr/>
        </p:nvSpPr>
        <p:spPr bwMode="auto">
          <a:xfrm>
            <a:off x="7400925" y="355123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64" name="Oval 130"/>
          <p:cNvSpPr>
            <a:spLocks noChangeArrowheads="1"/>
          </p:cNvSpPr>
          <p:nvPr/>
        </p:nvSpPr>
        <p:spPr bwMode="auto">
          <a:xfrm>
            <a:off x="7977188" y="3406775"/>
            <a:ext cx="73025"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65" name="Oval 131"/>
          <p:cNvSpPr>
            <a:spLocks noChangeArrowheads="1"/>
          </p:cNvSpPr>
          <p:nvPr/>
        </p:nvSpPr>
        <p:spPr bwMode="auto">
          <a:xfrm>
            <a:off x="8553450" y="362267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7766" name="AutoShape 132"/>
          <p:cNvCxnSpPr>
            <a:cxnSpLocks noChangeShapeType="1"/>
            <a:stCxn id="27761" idx="6"/>
            <a:endCxn id="27762" idx="2"/>
          </p:cNvCxnSpPr>
          <p:nvPr/>
        </p:nvCxnSpPr>
        <p:spPr bwMode="auto">
          <a:xfrm>
            <a:off x="6319838" y="3176588"/>
            <a:ext cx="504825" cy="1222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67" name="AutoShape 133"/>
          <p:cNvCxnSpPr>
            <a:cxnSpLocks noChangeShapeType="1"/>
            <a:stCxn id="27762" idx="5"/>
            <a:endCxn id="27763" idx="2"/>
          </p:cNvCxnSpPr>
          <p:nvPr/>
        </p:nvCxnSpPr>
        <p:spPr bwMode="auto">
          <a:xfrm>
            <a:off x="6884988" y="3322638"/>
            <a:ext cx="515937" cy="2651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68" name="Text Box 2"/>
          <p:cNvSpPr txBox="1">
            <a:spLocks noChangeArrowheads="1"/>
          </p:cNvSpPr>
          <p:nvPr/>
        </p:nvSpPr>
        <p:spPr bwMode="auto">
          <a:xfrm>
            <a:off x="849313" y="1052513"/>
            <a:ext cx="12875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latin typeface="arial" pitchFamily="34" charset="0"/>
                <a:ea typeface="맑은 고딕" pitchFamily="50" charset="-127"/>
              </a:rPr>
              <a:t>&lt; </a:t>
            </a:r>
            <a:r>
              <a:rPr lang="en-US" altLang="ko-KR" b="1" dirty="0" err="1">
                <a:latin typeface="arial" pitchFamily="34" charset="0"/>
                <a:ea typeface="맑은 고딕" pitchFamily="50" charset="-127"/>
              </a:rPr>
              <a:t>Xu</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thế</a:t>
            </a:r>
            <a:r>
              <a:rPr lang="ko-KR" altLang="en-US" b="1" dirty="0">
                <a:latin typeface="arial" pitchFamily="34" charset="0"/>
                <a:ea typeface="맑은 고딕" pitchFamily="50" charset="-127"/>
              </a:rPr>
              <a:t> </a:t>
            </a:r>
            <a:r>
              <a:rPr lang="en-US" altLang="ko-KR" b="1" dirty="0">
                <a:latin typeface="arial" pitchFamily="34" charset="0"/>
                <a:ea typeface="맑은 고딕" pitchFamily="50" charset="-127"/>
              </a:rPr>
              <a:t>&gt;</a:t>
            </a:r>
            <a:endParaRPr lang="ko-KR" altLang="en-US" b="1" dirty="0">
              <a:latin typeface="arial" pitchFamily="34" charset="0"/>
              <a:ea typeface="맑은 고딕" pitchFamily="50" charset="-127"/>
            </a:endParaRPr>
          </a:p>
        </p:txBody>
      </p:sp>
      <p:cxnSp>
        <p:nvCxnSpPr>
          <p:cNvPr id="27769" name="AutoShape 136"/>
          <p:cNvCxnSpPr>
            <a:cxnSpLocks noChangeShapeType="1"/>
            <a:stCxn id="27751" idx="6"/>
            <a:endCxn id="27752" idx="2"/>
          </p:cNvCxnSpPr>
          <p:nvPr/>
        </p:nvCxnSpPr>
        <p:spPr bwMode="auto">
          <a:xfrm flipV="1">
            <a:off x="3511550" y="2649538"/>
            <a:ext cx="504825" cy="2174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0" name="AutoShape 137"/>
          <p:cNvCxnSpPr>
            <a:cxnSpLocks noChangeShapeType="1"/>
            <a:stCxn id="27755" idx="6"/>
            <a:endCxn id="27761" idx="2"/>
          </p:cNvCxnSpPr>
          <p:nvPr/>
        </p:nvCxnSpPr>
        <p:spPr bwMode="auto">
          <a:xfrm>
            <a:off x="5816600" y="3105150"/>
            <a:ext cx="431800" cy="71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1" name="AutoShape 138"/>
          <p:cNvCxnSpPr>
            <a:cxnSpLocks noChangeShapeType="1"/>
            <a:stCxn id="27763" idx="6"/>
            <a:endCxn id="27764" idx="2"/>
          </p:cNvCxnSpPr>
          <p:nvPr/>
        </p:nvCxnSpPr>
        <p:spPr bwMode="auto">
          <a:xfrm flipV="1">
            <a:off x="7472363" y="3443288"/>
            <a:ext cx="504825" cy="1444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2" name="AutoShape 139"/>
          <p:cNvCxnSpPr>
            <a:cxnSpLocks noChangeShapeType="1"/>
            <a:stCxn id="27764" idx="5"/>
            <a:endCxn id="27765" idx="2"/>
          </p:cNvCxnSpPr>
          <p:nvPr/>
        </p:nvCxnSpPr>
        <p:spPr bwMode="auto">
          <a:xfrm>
            <a:off x="8039100" y="3467100"/>
            <a:ext cx="514350"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73" name="Text Box 140"/>
          <p:cNvSpPr txBox="1">
            <a:spLocks noChangeArrowheads="1"/>
          </p:cNvSpPr>
          <p:nvPr/>
        </p:nvSpPr>
        <p:spPr bwMode="auto">
          <a:xfrm>
            <a:off x="896938" y="1965325"/>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UCL</a:t>
            </a:r>
          </a:p>
        </p:txBody>
      </p:sp>
      <p:sp>
        <p:nvSpPr>
          <p:cNvPr id="27774" name="Text Box 141"/>
          <p:cNvSpPr txBox="1">
            <a:spLocks noChangeArrowheads="1"/>
          </p:cNvSpPr>
          <p:nvPr/>
        </p:nvSpPr>
        <p:spPr bwMode="auto">
          <a:xfrm>
            <a:off x="896938" y="3549650"/>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LCL</a:t>
            </a:r>
          </a:p>
        </p:txBody>
      </p:sp>
      <p:sp>
        <p:nvSpPr>
          <p:cNvPr id="27776" name="Oval 143"/>
          <p:cNvSpPr>
            <a:spLocks noChangeArrowheads="1"/>
          </p:cNvSpPr>
          <p:nvPr/>
        </p:nvSpPr>
        <p:spPr bwMode="auto">
          <a:xfrm rot="430555">
            <a:off x="4414838" y="2849563"/>
            <a:ext cx="3448050" cy="823912"/>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7777" name="Text Box 144"/>
          <p:cNvSpPr txBox="1">
            <a:spLocks noChangeArrowheads="1"/>
          </p:cNvSpPr>
          <p:nvPr/>
        </p:nvSpPr>
        <p:spPr bwMode="auto">
          <a:xfrm>
            <a:off x="971550" y="2757488"/>
            <a:ext cx="4571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CL</a:t>
            </a:r>
          </a:p>
        </p:txBody>
      </p:sp>
      <p:graphicFrame>
        <p:nvGraphicFramePr>
          <p:cNvPr id="34" name="Group 168"/>
          <p:cNvGraphicFramePr>
            <a:graphicFrameLocks noGrp="1"/>
          </p:cNvGraphicFramePr>
          <p:nvPr>
            <p:extLst>
              <p:ext uri="{D42A27DB-BD31-4B8C-83A1-F6EECF244321}">
                <p14:modId xmlns:p14="http://schemas.microsoft.com/office/powerpoint/2010/main" val="1282721847"/>
              </p:ext>
            </p:extLst>
          </p:nvPr>
        </p:nvGraphicFramePr>
        <p:xfrm>
          <a:off x="920750" y="4653136"/>
          <a:ext cx="8064500" cy="1562519"/>
        </p:xfrm>
        <a:graphic>
          <a:graphicData uri="http://schemas.openxmlformats.org/drawingml/2006/table">
            <a:tbl>
              <a:tblPr/>
              <a:tblGrid>
                <a:gridCol w="1173163">
                  <a:extLst>
                    <a:ext uri="{9D8B030D-6E8A-4147-A177-3AD203B41FA5}">
                      <a16:colId xmlns:a16="http://schemas.microsoft.com/office/drawing/2014/main" val="20000"/>
                    </a:ext>
                  </a:extLst>
                </a:gridCol>
                <a:gridCol w="6891337">
                  <a:extLst>
                    <a:ext uri="{9D8B030D-6E8A-4147-A177-3AD203B41FA5}">
                      <a16:colId xmlns:a16="http://schemas.microsoft.com/office/drawing/2014/main" val="20001"/>
                    </a:ext>
                  </a:extLst>
                </a:gridCol>
              </a:tblGrid>
              <a:tr h="56515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R</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1.Decrease: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Cải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thiện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dần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chất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lượng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nguyên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liệu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hiệu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suất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thiết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bị</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sản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xuất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đạt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được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tốt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hơn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đạt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được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qua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bảo</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trì</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thiết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bị</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hiệu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quả</a:t>
                      </a:r>
                      <a:endPar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2.Increase: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suy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thoái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chất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lượng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nới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lỏng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kiểm</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soát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chất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lượng</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돋움" pitchFamily="50" charset="-127"/>
                        </a:rPr>
                        <a:t>Xbar</a:t>
                      </a:r>
                      <a:r>
                        <a:rPr kumimoji="1" lang="en-US" altLang="ko-KR" sz="1200" b="1" i="0" u="none" strike="noStrike" cap="none" normalizeH="0" baseline="0" dirty="0">
                          <a:ln>
                            <a:noFill/>
                          </a:ln>
                          <a:solidFill>
                            <a:schemeClr val="tx1"/>
                          </a:solidFill>
                          <a:effectLst/>
                          <a:latin typeface="Arial" pitchFamily="34" charset="0"/>
                          <a:ea typeface="돋움" pitchFamily="50" charset="-127"/>
                        </a:rPr>
                        <a:t> 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nhân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mệt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mỏi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tối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giản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cụ</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nguyên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vật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liệu</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307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P</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Như</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R Control Chart. </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267</a:t>
            </a:fld>
            <a:endParaRPr lang="ko-KR" altLang="en-US" dirty="0"/>
          </a:p>
        </p:txBody>
      </p:sp>
      <p:sp>
        <p:nvSpPr>
          <p:cNvPr id="37"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6.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Cách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đọc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
        <p:nvSpPr>
          <p:cNvPr id="42" name="AutoShape 181"/>
          <p:cNvSpPr>
            <a:spLocks noChangeArrowheads="1"/>
          </p:cNvSpPr>
          <p:nvPr/>
        </p:nvSpPr>
        <p:spPr bwMode="auto">
          <a:xfrm>
            <a:off x="776288" y="4211016"/>
            <a:ext cx="1009650"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600" b="1" dirty="0">
                <a:latin typeface="arial" pitchFamily="34" charset="0"/>
                <a:ea typeface="맑은 고딕" pitchFamily="50" charset="-127"/>
              </a:rPr>
              <a:t>원인</a:t>
            </a:r>
          </a:p>
        </p:txBody>
      </p:sp>
      <p:sp>
        <p:nvSpPr>
          <p:cNvPr id="43" name="AutoShape 183"/>
          <p:cNvSpPr>
            <a:spLocks noChangeArrowheads="1"/>
          </p:cNvSpPr>
          <p:nvPr/>
        </p:nvSpPr>
        <p:spPr bwMode="auto">
          <a:xfrm>
            <a:off x="560512" y="4211016"/>
            <a:ext cx="1440160"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600" b="1" dirty="0" err="1">
                <a:latin typeface="arial" pitchFamily="34" charset="0"/>
                <a:ea typeface="맑은 고딕" pitchFamily="50" charset="-127"/>
              </a:rPr>
              <a:t>Nguyên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nhân</a:t>
            </a:r>
            <a:endParaRPr lang="ko-KR" altLang="en-US" sz="1600" b="1" dirty="0">
              <a:latin typeface="arial" pitchFamily="34" charset="0"/>
              <a:ea typeface="맑은 고딕" pitchFamily="50" charset="-127"/>
            </a:endParaRPr>
          </a:p>
        </p:txBody>
      </p:sp>
    </p:spTree>
    <p:extLst>
      <p:ext uri="{BB962C8B-B14F-4D97-AF65-F5344CB8AC3E}">
        <p14:creationId xmlns:p14="http://schemas.microsoft.com/office/powerpoint/2010/main" val="4163759702"/>
      </p:ext>
    </p:extLst>
  </p:cSld>
  <p:clrMapOvr>
    <a:masterClrMapping/>
  </p:clrMapOvr>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ext Box 3"/>
          <p:cNvSpPr txBox="1">
            <a:spLocks noChangeArrowheads="1"/>
          </p:cNvSpPr>
          <p:nvPr/>
        </p:nvSpPr>
        <p:spPr bwMode="auto">
          <a:xfrm>
            <a:off x="979488" y="1604963"/>
            <a:ext cx="5876117"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pPr>
            <a:r>
              <a:rPr lang="en-US" altLang="ko-KR" sz="1600" b="1" dirty="0">
                <a:latin typeface="arial" pitchFamily="34" charset="0"/>
                <a:ea typeface="맑은 고딕" pitchFamily="50" charset="-127"/>
              </a:rPr>
              <a:t>-</a:t>
            </a:r>
            <a:r>
              <a:rPr lang="ko-KR" altLang="en-US" sz="1600" b="1" dirty="0">
                <a:latin typeface="arial" pitchFamily="34" charset="0"/>
                <a:ea typeface="맑은 고딕" pitchFamily="50" charset="-127"/>
              </a:rPr>
              <a:t> </a:t>
            </a:r>
            <a:r>
              <a:rPr lang="en-US" altLang="ko-KR" sz="1600" b="1" dirty="0">
                <a:latin typeface="arial" pitchFamily="34" charset="0"/>
                <a:ea typeface="맑은 고딕" pitchFamily="50" charset="-127"/>
              </a:rPr>
              <a:t>14 </a:t>
            </a:r>
            <a:r>
              <a:rPr lang="en-US" altLang="ko-KR" sz="1600" b="1" dirty="0" err="1">
                <a:latin typeface="arial" pitchFamily="34" charset="0"/>
                <a:ea typeface="맑은 고딕" pitchFamily="50" charset="-127"/>
              </a:rPr>
              <a:t>điểm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biến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động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liên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tục</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về</a:t>
            </a:r>
            <a:r>
              <a:rPr lang="en-US" altLang="ko-KR" sz="1600" b="1" dirty="0">
                <a:latin typeface="arial" pitchFamily="34" charset="0"/>
                <a:ea typeface="맑은 고딕" pitchFamily="50" charset="-127"/>
              </a:rPr>
              <a:t> 2 </a:t>
            </a:r>
            <a:r>
              <a:rPr lang="en-US" altLang="ko-KR" sz="1600" b="1" dirty="0" err="1">
                <a:latin typeface="arial" pitchFamily="34" charset="0"/>
                <a:ea typeface="맑은 고딕" pitchFamily="50" charset="-127"/>
              </a:rPr>
              <a:t>phía</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của</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đường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trung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tâm</a:t>
            </a:r>
            <a:endParaRPr lang="ko-KR" altLang="en-US" sz="1600" b="1" dirty="0">
              <a:latin typeface="arial" pitchFamily="34" charset="0"/>
              <a:ea typeface="맑은 고딕" pitchFamily="50" charset="-127"/>
            </a:endParaRPr>
          </a:p>
        </p:txBody>
      </p:sp>
      <p:graphicFrame>
        <p:nvGraphicFramePr>
          <p:cNvPr id="3" name="Group 736"/>
          <p:cNvGraphicFramePr>
            <a:graphicFrameLocks noGrp="1"/>
          </p:cNvGraphicFramePr>
          <p:nvPr/>
        </p:nvGraphicFramePr>
        <p:xfrm>
          <a:off x="1495425" y="2179638"/>
          <a:ext cx="7507288" cy="1658940"/>
        </p:xfrm>
        <a:graphic>
          <a:graphicData uri="http://schemas.openxmlformats.org/drawingml/2006/table">
            <a:tbl>
              <a:tblPr/>
              <a:tblGrid>
                <a:gridCol w="750888">
                  <a:extLst>
                    <a:ext uri="{9D8B030D-6E8A-4147-A177-3AD203B41FA5}">
                      <a16:colId xmlns:a16="http://schemas.microsoft.com/office/drawing/2014/main" val="20000"/>
                    </a:ext>
                  </a:extLst>
                </a:gridCol>
                <a:gridCol w="355600">
                  <a:extLst>
                    <a:ext uri="{9D8B030D-6E8A-4147-A177-3AD203B41FA5}">
                      <a16:colId xmlns:a16="http://schemas.microsoft.com/office/drawing/2014/main" val="20001"/>
                    </a:ext>
                  </a:extLst>
                </a:gridCol>
                <a:gridCol w="355600">
                  <a:extLst>
                    <a:ext uri="{9D8B030D-6E8A-4147-A177-3AD203B41FA5}">
                      <a16:colId xmlns:a16="http://schemas.microsoft.com/office/drawing/2014/main" val="20002"/>
                    </a:ext>
                  </a:extLst>
                </a:gridCol>
                <a:gridCol w="355600">
                  <a:extLst>
                    <a:ext uri="{9D8B030D-6E8A-4147-A177-3AD203B41FA5}">
                      <a16:colId xmlns:a16="http://schemas.microsoft.com/office/drawing/2014/main" val="20003"/>
                    </a:ext>
                  </a:extLst>
                </a:gridCol>
                <a:gridCol w="355600">
                  <a:extLst>
                    <a:ext uri="{9D8B030D-6E8A-4147-A177-3AD203B41FA5}">
                      <a16:colId xmlns:a16="http://schemas.microsoft.com/office/drawing/2014/main" val="20004"/>
                    </a:ext>
                  </a:extLst>
                </a:gridCol>
                <a:gridCol w="357187">
                  <a:extLst>
                    <a:ext uri="{9D8B030D-6E8A-4147-A177-3AD203B41FA5}">
                      <a16:colId xmlns:a16="http://schemas.microsoft.com/office/drawing/2014/main" val="20005"/>
                    </a:ext>
                  </a:extLst>
                </a:gridCol>
                <a:gridCol w="354013">
                  <a:extLst>
                    <a:ext uri="{9D8B030D-6E8A-4147-A177-3AD203B41FA5}">
                      <a16:colId xmlns:a16="http://schemas.microsoft.com/office/drawing/2014/main" val="20006"/>
                    </a:ext>
                  </a:extLst>
                </a:gridCol>
                <a:gridCol w="355600">
                  <a:extLst>
                    <a:ext uri="{9D8B030D-6E8A-4147-A177-3AD203B41FA5}">
                      <a16:colId xmlns:a16="http://schemas.microsoft.com/office/drawing/2014/main" val="20007"/>
                    </a:ext>
                  </a:extLst>
                </a:gridCol>
                <a:gridCol w="355600">
                  <a:extLst>
                    <a:ext uri="{9D8B030D-6E8A-4147-A177-3AD203B41FA5}">
                      <a16:colId xmlns:a16="http://schemas.microsoft.com/office/drawing/2014/main" val="20008"/>
                    </a:ext>
                  </a:extLst>
                </a:gridCol>
                <a:gridCol w="355600">
                  <a:extLst>
                    <a:ext uri="{9D8B030D-6E8A-4147-A177-3AD203B41FA5}">
                      <a16:colId xmlns:a16="http://schemas.microsoft.com/office/drawing/2014/main" val="20009"/>
                    </a:ext>
                  </a:extLst>
                </a:gridCol>
                <a:gridCol w="355600">
                  <a:extLst>
                    <a:ext uri="{9D8B030D-6E8A-4147-A177-3AD203B41FA5}">
                      <a16:colId xmlns:a16="http://schemas.microsoft.com/office/drawing/2014/main" val="20010"/>
                    </a:ext>
                  </a:extLst>
                </a:gridCol>
                <a:gridCol w="355600">
                  <a:extLst>
                    <a:ext uri="{9D8B030D-6E8A-4147-A177-3AD203B41FA5}">
                      <a16:colId xmlns:a16="http://schemas.microsoft.com/office/drawing/2014/main" val="20011"/>
                    </a:ext>
                  </a:extLst>
                </a:gridCol>
                <a:gridCol w="355600">
                  <a:extLst>
                    <a:ext uri="{9D8B030D-6E8A-4147-A177-3AD203B41FA5}">
                      <a16:colId xmlns:a16="http://schemas.microsoft.com/office/drawing/2014/main" val="20012"/>
                    </a:ext>
                  </a:extLst>
                </a:gridCol>
                <a:gridCol w="355600">
                  <a:extLst>
                    <a:ext uri="{9D8B030D-6E8A-4147-A177-3AD203B41FA5}">
                      <a16:colId xmlns:a16="http://schemas.microsoft.com/office/drawing/2014/main" val="20013"/>
                    </a:ext>
                  </a:extLst>
                </a:gridCol>
                <a:gridCol w="355600">
                  <a:extLst>
                    <a:ext uri="{9D8B030D-6E8A-4147-A177-3AD203B41FA5}">
                      <a16:colId xmlns:a16="http://schemas.microsoft.com/office/drawing/2014/main" val="20014"/>
                    </a:ext>
                  </a:extLst>
                </a:gridCol>
                <a:gridCol w="355600">
                  <a:extLst>
                    <a:ext uri="{9D8B030D-6E8A-4147-A177-3AD203B41FA5}">
                      <a16:colId xmlns:a16="http://schemas.microsoft.com/office/drawing/2014/main" val="20015"/>
                    </a:ext>
                  </a:extLst>
                </a:gridCol>
                <a:gridCol w="355600">
                  <a:extLst>
                    <a:ext uri="{9D8B030D-6E8A-4147-A177-3AD203B41FA5}">
                      <a16:colId xmlns:a16="http://schemas.microsoft.com/office/drawing/2014/main" val="20016"/>
                    </a:ext>
                  </a:extLst>
                </a:gridCol>
                <a:gridCol w="355600">
                  <a:extLst>
                    <a:ext uri="{9D8B030D-6E8A-4147-A177-3AD203B41FA5}">
                      <a16:colId xmlns:a16="http://schemas.microsoft.com/office/drawing/2014/main" val="20017"/>
                    </a:ext>
                  </a:extLst>
                </a:gridCol>
                <a:gridCol w="357187">
                  <a:extLst>
                    <a:ext uri="{9D8B030D-6E8A-4147-A177-3AD203B41FA5}">
                      <a16:colId xmlns:a16="http://schemas.microsoft.com/office/drawing/2014/main" val="20018"/>
                    </a:ext>
                  </a:extLst>
                </a:gridCol>
                <a:gridCol w="354013">
                  <a:extLst>
                    <a:ext uri="{9D8B030D-6E8A-4147-A177-3AD203B41FA5}">
                      <a16:colId xmlns:a16="http://schemas.microsoft.com/office/drawing/2014/main" val="20019"/>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a:ln>
                            <a:noFill/>
                          </a:ln>
                          <a:solidFill>
                            <a:schemeClr val="tx1"/>
                          </a:solidFill>
                          <a:effectLst/>
                          <a:latin typeface="Arial" pitchFamily="34" charset="0"/>
                          <a:ea typeface="돋움" pitchFamily="50" charset="-127"/>
                        </a:rPr>
                        <a:t>C</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8824" name="Oval 115"/>
          <p:cNvSpPr>
            <a:spLocks noChangeArrowheads="1"/>
          </p:cNvSpPr>
          <p:nvPr/>
        </p:nvSpPr>
        <p:spPr bwMode="auto">
          <a:xfrm>
            <a:off x="2395538" y="2830513"/>
            <a:ext cx="69850"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25" name="Oval 116"/>
          <p:cNvSpPr>
            <a:spLocks noChangeArrowheads="1"/>
          </p:cNvSpPr>
          <p:nvPr/>
        </p:nvSpPr>
        <p:spPr bwMode="auto">
          <a:xfrm>
            <a:off x="2716213" y="2852738"/>
            <a:ext cx="73025"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26" name="Oval 117"/>
          <p:cNvSpPr>
            <a:spLocks noChangeArrowheads="1"/>
          </p:cNvSpPr>
          <p:nvPr/>
        </p:nvSpPr>
        <p:spPr bwMode="auto">
          <a:xfrm>
            <a:off x="3105150" y="248285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27" name="Oval 118"/>
          <p:cNvSpPr>
            <a:spLocks noChangeArrowheads="1"/>
          </p:cNvSpPr>
          <p:nvPr/>
        </p:nvSpPr>
        <p:spPr bwMode="auto">
          <a:xfrm>
            <a:off x="3441700" y="3132138"/>
            <a:ext cx="71438" cy="69850"/>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28" name="Oval 119"/>
          <p:cNvSpPr>
            <a:spLocks noChangeArrowheads="1"/>
          </p:cNvSpPr>
          <p:nvPr/>
        </p:nvSpPr>
        <p:spPr bwMode="auto">
          <a:xfrm>
            <a:off x="3789363" y="280511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29" name="Oval 120"/>
          <p:cNvSpPr>
            <a:spLocks noChangeArrowheads="1"/>
          </p:cNvSpPr>
          <p:nvPr/>
        </p:nvSpPr>
        <p:spPr bwMode="auto">
          <a:xfrm>
            <a:off x="4170363" y="3333750"/>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30" name="Oval 121"/>
          <p:cNvSpPr>
            <a:spLocks noChangeArrowheads="1"/>
          </p:cNvSpPr>
          <p:nvPr/>
        </p:nvSpPr>
        <p:spPr bwMode="auto">
          <a:xfrm>
            <a:off x="4527550" y="27813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8831" name="AutoShape 122"/>
          <p:cNvCxnSpPr>
            <a:cxnSpLocks noChangeShapeType="1"/>
            <a:stCxn id="28824" idx="6"/>
            <a:endCxn id="28825" idx="3"/>
          </p:cNvCxnSpPr>
          <p:nvPr/>
        </p:nvCxnSpPr>
        <p:spPr bwMode="auto">
          <a:xfrm>
            <a:off x="2465388" y="2867025"/>
            <a:ext cx="261937" cy="476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2" name="AutoShape 123"/>
          <p:cNvCxnSpPr>
            <a:cxnSpLocks noChangeShapeType="1"/>
            <a:stCxn id="28825" idx="6"/>
            <a:endCxn id="28826" idx="2"/>
          </p:cNvCxnSpPr>
          <p:nvPr/>
        </p:nvCxnSpPr>
        <p:spPr bwMode="auto">
          <a:xfrm flipV="1">
            <a:off x="2789238" y="2519363"/>
            <a:ext cx="315912" cy="3698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3" name="AutoShape 124"/>
          <p:cNvCxnSpPr>
            <a:cxnSpLocks noChangeShapeType="1"/>
            <a:stCxn id="28827" idx="5"/>
            <a:endCxn id="28828" idx="2"/>
          </p:cNvCxnSpPr>
          <p:nvPr/>
        </p:nvCxnSpPr>
        <p:spPr bwMode="auto">
          <a:xfrm flipV="1">
            <a:off x="3502025" y="2840038"/>
            <a:ext cx="287338" cy="3524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4" name="AutoShape 125"/>
          <p:cNvCxnSpPr>
            <a:cxnSpLocks noChangeShapeType="1"/>
            <a:stCxn id="28828" idx="5"/>
            <a:endCxn id="28829" idx="2"/>
          </p:cNvCxnSpPr>
          <p:nvPr/>
        </p:nvCxnSpPr>
        <p:spPr bwMode="auto">
          <a:xfrm>
            <a:off x="3849688" y="2865438"/>
            <a:ext cx="320675" cy="5048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5" name="AutoShape 126"/>
          <p:cNvCxnSpPr>
            <a:cxnSpLocks noChangeShapeType="1"/>
            <a:stCxn id="28829" idx="6"/>
            <a:endCxn id="28830" idx="3"/>
          </p:cNvCxnSpPr>
          <p:nvPr/>
        </p:nvCxnSpPr>
        <p:spPr bwMode="auto">
          <a:xfrm flipV="1">
            <a:off x="4241800" y="2843213"/>
            <a:ext cx="296863" cy="5270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36" name="Oval 127"/>
          <p:cNvSpPr>
            <a:spLocks noChangeArrowheads="1"/>
          </p:cNvSpPr>
          <p:nvPr/>
        </p:nvSpPr>
        <p:spPr bwMode="auto">
          <a:xfrm>
            <a:off x="4881563" y="3141663"/>
            <a:ext cx="73025"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37" name="Oval 128"/>
          <p:cNvSpPr>
            <a:spLocks noChangeArrowheads="1"/>
          </p:cNvSpPr>
          <p:nvPr/>
        </p:nvSpPr>
        <p:spPr bwMode="auto">
          <a:xfrm>
            <a:off x="5243513" y="2541588"/>
            <a:ext cx="69850"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38" name="Oval 129"/>
          <p:cNvSpPr>
            <a:spLocks noChangeArrowheads="1"/>
          </p:cNvSpPr>
          <p:nvPr/>
        </p:nvSpPr>
        <p:spPr bwMode="auto">
          <a:xfrm>
            <a:off x="5602288" y="33575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39" name="Oval 130"/>
          <p:cNvSpPr>
            <a:spLocks noChangeArrowheads="1"/>
          </p:cNvSpPr>
          <p:nvPr/>
        </p:nvSpPr>
        <p:spPr bwMode="auto">
          <a:xfrm>
            <a:off x="5957888" y="282892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40" name="Oval 131"/>
          <p:cNvSpPr>
            <a:spLocks noChangeArrowheads="1"/>
          </p:cNvSpPr>
          <p:nvPr/>
        </p:nvSpPr>
        <p:spPr bwMode="auto">
          <a:xfrm>
            <a:off x="6321425" y="311785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8841" name="AutoShape 132"/>
          <p:cNvCxnSpPr>
            <a:cxnSpLocks noChangeShapeType="1"/>
            <a:stCxn id="28836" idx="7"/>
            <a:endCxn id="28837" idx="2"/>
          </p:cNvCxnSpPr>
          <p:nvPr/>
        </p:nvCxnSpPr>
        <p:spPr bwMode="auto">
          <a:xfrm flipV="1">
            <a:off x="4943475" y="2578100"/>
            <a:ext cx="300038" cy="573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2" name="AutoShape 133"/>
          <p:cNvCxnSpPr>
            <a:cxnSpLocks noChangeShapeType="1"/>
            <a:stCxn id="28837" idx="6"/>
            <a:endCxn id="28838" idx="2"/>
          </p:cNvCxnSpPr>
          <p:nvPr/>
        </p:nvCxnSpPr>
        <p:spPr bwMode="auto">
          <a:xfrm>
            <a:off x="5313363" y="2578100"/>
            <a:ext cx="288925" cy="8143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43" name="Text Box 2"/>
          <p:cNvSpPr txBox="1">
            <a:spLocks noChangeArrowheads="1"/>
          </p:cNvSpPr>
          <p:nvPr/>
        </p:nvSpPr>
        <p:spPr bwMode="auto">
          <a:xfrm>
            <a:off x="992188" y="1125538"/>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latin typeface="arial" pitchFamily="34" charset="0"/>
                <a:ea typeface="맑은 고딕" pitchFamily="50" charset="-127"/>
              </a:rPr>
              <a:t>&lt; </a:t>
            </a:r>
            <a:r>
              <a:rPr lang="en-US" altLang="ko-KR" b="1" dirty="0" err="1">
                <a:latin typeface="arial" pitchFamily="34" charset="0"/>
                <a:ea typeface="맑은 고딕" pitchFamily="50" charset="-127"/>
              </a:rPr>
              <a:t>chu</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kỳ</a:t>
            </a:r>
            <a:r>
              <a:rPr lang="en-US" altLang="ko-KR" b="1" dirty="0">
                <a:latin typeface="arial" pitchFamily="34" charset="0"/>
                <a:ea typeface="맑은 고딕" pitchFamily="50" charset="-127"/>
              </a:rPr>
              <a:t> &gt;</a:t>
            </a:r>
            <a:endParaRPr lang="ko-KR" altLang="en-US" b="1" dirty="0">
              <a:latin typeface="arial" pitchFamily="34" charset="0"/>
              <a:ea typeface="맑은 고딕" pitchFamily="50" charset="-127"/>
            </a:endParaRPr>
          </a:p>
        </p:txBody>
      </p:sp>
      <p:cxnSp>
        <p:nvCxnSpPr>
          <p:cNvPr id="28844" name="AutoShape 136"/>
          <p:cNvCxnSpPr>
            <a:cxnSpLocks noChangeShapeType="1"/>
            <a:stCxn id="28826" idx="6"/>
            <a:endCxn id="28827" idx="1"/>
          </p:cNvCxnSpPr>
          <p:nvPr/>
        </p:nvCxnSpPr>
        <p:spPr bwMode="auto">
          <a:xfrm>
            <a:off x="3176588" y="2519363"/>
            <a:ext cx="274637" cy="6223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5" name="AutoShape 137"/>
          <p:cNvCxnSpPr>
            <a:cxnSpLocks noChangeShapeType="1"/>
            <a:stCxn id="28830" idx="7"/>
            <a:endCxn id="28836" idx="3"/>
          </p:cNvCxnSpPr>
          <p:nvPr/>
        </p:nvCxnSpPr>
        <p:spPr bwMode="auto">
          <a:xfrm>
            <a:off x="4587875" y="2792413"/>
            <a:ext cx="304800" cy="4095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6" name="AutoShape 138"/>
          <p:cNvCxnSpPr>
            <a:cxnSpLocks noChangeShapeType="1"/>
            <a:stCxn id="28838" idx="5"/>
            <a:endCxn id="28839" idx="1"/>
          </p:cNvCxnSpPr>
          <p:nvPr/>
        </p:nvCxnSpPr>
        <p:spPr bwMode="auto">
          <a:xfrm flipV="1">
            <a:off x="5662613" y="2840038"/>
            <a:ext cx="306387" cy="5778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7" name="AutoShape 139"/>
          <p:cNvCxnSpPr>
            <a:cxnSpLocks noChangeShapeType="1"/>
            <a:stCxn id="28839" idx="5"/>
            <a:endCxn id="28840" idx="2"/>
          </p:cNvCxnSpPr>
          <p:nvPr/>
        </p:nvCxnSpPr>
        <p:spPr bwMode="auto">
          <a:xfrm>
            <a:off x="6018213" y="2889250"/>
            <a:ext cx="303212" cy="2651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48" name="Text Box 140"/>
          <p:cNvSpPr txBox="1">
            <a:spLocks noChangeArrowheads="1"/>
          </p:cNvSpPr>
          <p:nvPr/>
        </p:nvSpPr>
        <p:spPr bwMode="auto">
          <a:xfrm>
            <a:off x="896938" y="2036763"/>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UCL</a:t>
            </a:r>
          </a:p>
        </p:txBody>
      </p:sp>
      <p:sp>
        <p:nvSpPr>
          <p:cNvPr id="28849" name="Text Box 141"/>
          <p:cNvSpPr txBox="1">
            <a:spLocks noChangeArrowheads="1"/>
          </p:cNvSpPr>
          <p:nvPr/>
        </p:nvSpPr>
        <p:spPr bwMode="auto">
          <a:xfrm>
            <a:off x="896938" y="3621088"/>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LCL</a:t>
            </a:r>
          </a:p>
        </p:txBody>
      </p:sp>
      <p:sp>
        <p:nvSpPr>
          <p:cNvPr id="28851" name="Text Box 144"/>
          <p:cNvSpPr txBox="1">
            <a:spLocks noChangeArrowheads="1"/>
          </p:cNvSpPr>
          <p:nvPr/>
        </p:nvSpPr>
        <p:spPr bwMode="auto">
          <a:xfrm>
            <a:off x="971550" y="2828925"/>
            <a:ext cx="4571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CL</a:t>
            </a:r>
          </a:p>
        </p:txBody>
      </p:sp>
      <p:graphicFrame>
        <p:nvGraphicFramePr>
          <p:cNvPr id="33" name="Group 737"/>
          <p:cNvGraphicFramePr>
            <a:graphicFrameLocks noGrp="1"/>
          </p:cNvGraphicFramePr>
          <p:nvPr>
            <p:extLst>
              <p:ext uri="{D42A27DB-BD31-4B8C-83A1-F6EECF244321}">
                <p14:modId xmlns:p14="http://schemas.microsoft.com/office/powerpoint/2010/main" val="59644278"/>
              </p:ext>
            </p:extLst>
          </p:nvPr>
        </p:nvGraphicFramePr>
        <p:xfrm>
          <a:off x="920750" y="4667683"/>
          <a:ext cx="8064500" cy="1497621"/>
        </p:xfrm>
        <a:graphic>
          <a:graphicData uri="http://schemas.openxmlformats.org/drawingml/2006/table">
            <a:tbl>
              <a:tblPr/>
              <a:tblGrid>
                <a:gridCol w="1173163">
                  <a:extLst>
                    <a:ext uri="{9D8B030D-6E8A-4147-A177-3AD203B41FA5}">
                      <a16:colId xmlns:a16="http://schemas.microsoft.com/office/drawing/2014/main" val="20000"/>
                    </a:ext>
                  </a:extLst>
                </a:gridCol>
                <a:gridCol w="6891337">
                  <a:extLst>
                    <a:ext uri="{9D8B030D-6E8A-4147-A177-3AD203B41FA5}">
                      <a16:colId xmlns:a16="http://schemas.microsoft.com/office/drawing/2014/main" val="20001"/>
                    </a:ext>
                  </a:extLst>
                </a:gridCol>
              </a:tblGrid>
              <a:tr h="56515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R</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nhân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mệt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mỏi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luân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chuyển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lao</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động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thay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thế</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định</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kỳ</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các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cụ</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bảo</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trì</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돋움" pitchFamily="50" charset="-127"/>
                        </a:rPr>
                        <a:t>Xbar</a:t>
                      </a:r>
                      <a:r>
                        <a:rPr kumimoji="1" lang="en-US" altLang="ko-KR" sz="1200" b="1" i="0" u="none" strike="noStrike" cap="none" normalizeH="0" baseline="0" dirty="0">
                          <a:ln>
                            <a:noFill/>
                          </a:ln>
                          <a:solidFill>
                            <a:schemeClr val="tx1"/>
                          </a:solidFill>
                          <a:effectLst/>
                          <a:latin typeface="Arial" pitchFamily="34" charset="0"/>
                          <a:ea typeface="돋움" pitchFamily="50" charset="-127"/>
                        </a:rPr>
                        <a:t> 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Gióng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R Control Chart,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thay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đổi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theo</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mùa</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hoặc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môi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trường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thay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đổi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trong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điện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áp</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cơ</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chế</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máy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móc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chưa</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ổn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định</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307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P</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vi-VN" altLang="ko-KR" sz="1100" b="0" i="0" u="none" strike="noStrike" kern="1200" cap="none" normalizeH="0" baseline="0" dirty="0">
                          <a:ln>
                            <a:noFill/>
                          </a:ln>
                          <a:solidFill>
                            <a:schemeClr val="tx1"/>
                          </a:solidFill>
                          <a:effectLst/>
                          <a:latin typeface="Arial" pitchFamily="34" charset="0"/>
                          <a:ea typeface="돋움" pitchFamily="50" charset="-127"/>
                          <a:cs typeface="+mn-cs"/>
                        </a:rPr>
                        <a:t>Sự thay đổi trong vật liệu, thay thế nhà cung cấp, phương pháp lấy mẫu thay đổi, quy trình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tách</a:t>
                      </a:r>
                      <a:r>
                        <a:rPr kumimoji="1" lang="vi-VN" altLang="ko-KR" sz="1100" b="0" i="0" u="none" strike="noStrike" kern="1200" cap="none" normalizeH="0" baseline="0" dirty="0">
                          <a:ln>
                            <a:noFill/>
                          </a:ln>
                          <a:solidFill>
                            <a:schemeClr val="tx1"/>
                          </a:solidFill>
                          <a:effectLst/>
                          <a:latin typeface="Arial" pitchFamily="34" charset="0"/>
                          <a:ea typeface="돋움" pitchFamily="50" charset="-127"/>
                          <a:cs typeface="+mn-cs"/>
                        </a:rPr>
                        <a:t> biệt</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8867" name="Oval 706"/>
          <p:cNvSpPr>
            <a:spLocks noChangeArrowheads="1"/>
          </p:cNvSpPr>
          <p:nvPr/>
        </p:nvSpPr>
        <p:spPr bwMode="auto">
          <a:xfrm>
            <a:off x="6659563" y="285273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68" name="Oval 707"/>
          <p:cNvSpPr>
            <a:spLocks noChangeArrowheads="1"/>
          </p:cNvSpPr>
          <p:nvPr/>
        </p:nvSpPr>
        <p:spPr bwMode="auto">
          <a:xfrm>
            <a:off x="7019925" y="344328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69" name="Oval 708"/>
          <p:cNvSpPr>
            <a:spLocks noChangeArrowheads="1"/>
          </p:cNvSpPr>
          <p:nvPr/>
        </p:nvSpPr>
        <p:spPr bwMode="auto">
          <a:xfrm>
            <a:off x="7369175" y="2852738"/>
            <a:ext cx="69850"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70" name="Oval 709"/>
          <p:cNvSpPr>
            <a:spLocks noChangeArrowheads="1"/>
          </p:cNvSpPr>
          <p:nvPr/>
        </p:nvSpPr>
        <p:spPr bwMode="auto">
          <a:xfrm>
            <a:off x="7724775" y="304482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71" name="Oval 710"/>
          <p:cNvSpPr>
            <a:spLocks noChangeArrowheads="1"/>
          </p:cNvSpPr>
          <p:nvPr/>
        </p:nvSpPr>
        <p:spPr bwMode="auto">
          <a:xfrm>
            <a:off x="8081963" y="282892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8872" name="Oval 711"/>
          <p:cNvSpPr>
            <a:spLocks noChangeArrowheads="1"/>
          </p:cNvSpPr>
          <p:nvPr/>
        </p:nvSpPr>
        <p:spPr bwMode="auto">
          <a:xfrm>
            <a:off x="8443913" y="285273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8873" name="AutoShape 726"/>
          <p:cNvCxnSpPr>
            <a:cxnSpLocks noChangeShapeType="1"/>
            <a:stCxn id="28840" idx="5"/>
            <a:endCxn id="28867" idx="1"/>
          </p:cNvCxnSpPr>
          <p:nvPr/>
        </p:nvCxnSpPr>
        <p:spPr bwMode="auto">
          <a:xfrm flipV="1">
            <a:off x="6381750" y="2863850"/>
            <a:ext cx="288925" cy="3143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4" name="AutoShape 727"/>
          <p:cNvCxnSpPr>
            <a:cxnSpLocks noChangeShapeType="1"/>
            <a:stCxn id="28867" idx="5"/>
            <a:endCxn id="28868" idx="2"/>
          </p:cNvCxnSpPr>
          <p:nvPr/>
        </p:nvCxnSpPr>
        <p:spPr bwMode="auto">
          <a:xfrm>
            <a:off x="6719888" y="2914650"/>
            <a:ext cx="300037" cy="565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5" name="AutoShape 728"/>
          <p:cNvCxnSpPr>
            <a:cxnSpLocks noChangeShapeType="1"/>
            <a:stCxn id="28868" idx="6"/>
            <a:endCxn id="28869" idx="3"/>
          </p:cNvCxnSpPr>
          <p:nvPr/>
        </p:nvCxnSpPr>
        <p:spPr bwMode="auto">
          <a:xfrm flipV="1">
            <a:off x="7091363" y="2914650"/>
            <a:ext cx="287337" cy="565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6" name="AutoShape 729"/>
          <p:cNvCxnSpPr>
            <a:cxnSpLocks noChangeShapeType="1"/>
            <a:stCxn id="28869" idx="7"/>
            <a:endCxn id="28870" idx="3"/>
          </p:cNvCxnSpPr>
          <p:nvPr/>
        </p:nvCxnSpPr>
        <p:spPr bwMode="auto">
          <a:xfrm>
            <a:off x="7429500" y="2863850"/>
            <a:ext cx="306388" cy="2413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7" name="AutoShape 730"/>
          <p:cNvCxnSpPr>
            <a:cxnSpLocks noChangeShapeType="1"/>
            <a:stCxn id="28870" idx="7"/>
            <a:endCxn id="28871" idx="3"/>
          </p:cNvCxnSpPr>
          <p:nvPr/>
        </p:nvCxnSpPr>
        <p:spPr bwMode="auto">
          <a:xfrm flipV="1">
            <a:off x="7785100" y="2889250"/>
            <a:ext cx="307975" cy="1666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78" name="Oval 731"/>
          <p:cNvSpPr>
            <a:spLocks noChangeArrowheads="1"/>
          </p:cNvSpPr>
          <p:nvPr/>
        </p:nvSpPr>
        <p:spPr bwMode="auto">
          <a:xfrm>
            <a:off x="8793163" y="2541588"/>
            <a:ext cx="69850"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8879" name="AutoShape 732"/>
          <p:cNvCxnSpPr>
            <a:cxnSpLocks noChangeShapeType="1"/>
            <a:stCxn id="28871" idx="7"/>
            <a:endCxn id="28872" idx="3"/>
          </p:cNvCxnSpPr>
          <p:nvPr/>
        </p:nvCxnSpPr>
        <p:spPr bwMode="auto">
          <a:xfrm>
            <a:off x="8142288" y="2840038"/>
            <a:ext cx="312737" cy="746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80" name="AutoShape 733"/>
          <p:cNvCxnSpPr>
            <a:cxnSpLocks noChangeShapeType="1"/>
            <a:stCxn id="28872" idx="6"/>
            <a:endCxn id="28878" idx="2"/>
          </p:cNvCxnSpPr>
          <p:nvPr/>
        </p:nvCxnSpPr>
        <p:spPr bwMode="auto">
          <a:xfrm flipV="1">
            <a:off x="8515350" y="2578100"/>
            <a:ext cx="277813"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82" name="Oval 143"/>
          <p:cNvSpPr>
            <a:spLocks noChangeArrowheads="1"/>
          </p:cNvSpPr>
          <p:nvPr/>
        </p:nvSpPr>
        <p:spPr bwMode="auto">
          <a:xfrm rot="297141">
            <a:off x="2946400" y="2135188"/>
            <a:ext cx="4992688" cy="1585912"/>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268</a:t>
            </a:fld>
            <a:endParaRPr lang="ko-KR" altLang="en-US" dirty="0"/>
          </a:p>
        </p:txBody>
      </p:sp>
      <p:sp>
        <p:nvSpPr>
          <p:cNvPr id="51"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6.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Cách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đọc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
        <p:nvSpPr>
          <p:cNvPr id="52" name="AutoShape 181"/>
          <p:cNvSpPr>
            <a:spLocks noChangeArrowheads="1"/>
          </p:cNvSpPr>
          <p:nvPr/>
        </p:nvSpPr>
        <p:spPr bwMode="auto">
          <a:xfrm>
            <a:off x="776288" y="4211016"/>
            <a:ext cx="1009650"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600" b="1" dirty="0">
                <a:latin typeface="arial" pitchFamily="34" charset="0"/>
                <a:ea typeface="맑은 고딕" pitchFamily="50" charset="-127"/>
              </a:rPr>
              <a:t>원인</a:t>
            </a:r>
          </a:p>
        </p:txBody>
      </p:sp>
      <p:sp>
        <p:nvSpPr>
          <p:cNvPr id="53" name="AutoShape 183"/>
          <p:cNvSpPr>
            <a:spLocks noChangeArrowheads="1"/>
          </p:cNvSpPr>
          <p:nvPr/>
        </p:nvSpPr>
        <p:spPr bwMode="auto">
          <a:xfrm>
            <a:off x="560512" y="4211016"/>
            <a:ext cx="1440160"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600" b="1" dirty="0" err="1">
                <a:latin typeface="arial" pitchFamily="34" charset="0"/>
                <a:ea typeface="맑은 고딕" pitchFamily="50" charset="-127"/>
              </a:rPr>
              <a:t>Nguyên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nhân</a:t>
            </a:r>
            <a:endParaRPr lang="ko-KR" altLang="en-US" sz="1600" b="1" dirty="0">
              <a:latin typeface="arial" pitchFamily="34" charset="0"/>
              <a:ea typeface="맑은 고딕" pitchFamily="50" charset="-127"/>
            </a:endParaRPr>
          </a:p>
        </p:txBody>
      </p:sp>
    </p:spTree>
    <p:extLst>
      <p:ext uri="{BB962C8B-B14F-4D97-AF65-F5344CB8AC3E}">
        <p14:creationId xmlns:p14="http://schemas.microsoft.com/office/powerpoint/2010/main" val="1113382513"/>
      </p:ext>
    </p:extLst>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ext Box 3"/>
          <p:cNvSpPr txBox="1">
            <a:spLocks noChangeArrowheads="1"/>
          </p:cNvSpPr>
          <p:nvPr/>
        </p:nvSpPr>
        <p:spPr bwMode="auto">
          <a:xfrm>
            <a:off x="950021" y="1582738"/>
            <a:ext cx="8005959" cy="579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fontAlgn="ctr" hangingPunct="1">
              <a:spcBef>
                <a:spcPts val="100"/>
              </a:spcBef>
            </a:pPr>
            <a:r>
              <a:rPr lang="en-US" altLang="ko-KR" sz="1600" b="1" dirty="0">
                <a:latin typeface="arial" pitchFamily="34" charset="0"/>
                <a:ea typeface="맑은 고딕" pitchFamily="50" charset="-127"/>
              </a:rPr>
              <a:t>-</a:t>
            </a:r>
            <a:r>
              <a:rPr lang="en-US" altLang="ko-KR" sz="1600" b="1" dirty="0" err="1">
                <a:latin typeface="arial" pitchFamily="34" charset="0"/>
                <a:ea typeface="맑은 고딕" pitchFamily="50" charset="-127"/>
              </a:rPr>
              <a:t>Trong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số</a:t>
            </a:r>
            <a:r>
              <a:rPr lang="en-US" altLang="ko-KR" sz="1600" b="1" dirty="0">
                <a:latin typeface="arial" pitchFamily="34" charset="0"/>
                <a:ea typeface="맑은 고딕" pitchFamily="50" charset="-127"/>
              </a:rPr>
              <a:t> 3 </a:t>
            </a:r>
            <a:r>
              <a:rPr lang="en-US" altLang="ko-KR" sz="1600" b="1" dirty="0" err="1">
                <a:latin typeface="arial" pitchFamily="34" charset="0"/>
                <a:ea typeface="맑은 고딕" pitchFamily="50" charset="-127"/>
              </a:rPr>
              <a:t>điểm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liên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tiếp</a:t>
            </a:r>
            <a:r>
              <a:rPr lang="en-US" altLang="ko-KR" sz="1600" b="1" dirty="0">
                <a:latin typeface="arial" pitchFamily="34" charset="0"/>
                <a:ea typeface="맑은 고딕" pitchFamily="50" charset="-127"/>
              </a:rPr>
              <a:t>, 2 </a:t>
            </a:r>
            <a:r>
              <a:rPr lang="en-US" altLang="ko-KR" sz="1600" b="1" dirty="0" err="1">
                <a:latin typeface="arial" pitchFamily="34" charset="0"/>
                <a:ea typeface="맑은 고딕" pitchFamily="50" charset="-127"/>
              </a:rPr>
              <a:t>điểm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xuất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hiện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cùng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một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bên</a:t>
            </a:r>
            <a:r>
              <a:rPr lang="en-US" altLang="ko-KR" sz="1600" b="1" dirty="0">
                <a:latin typeface="arial" pitchFamily="34" charset="0"/>
                <a:ea typeface="맑은 고딕" pitchFamily="50" charset="-127"/>
              </a:rPr>
              <a:t> ở </a:t>
            </a:r>
            <a:r>
              <a:rPr lang="en-US" altLang="ko-KR" sz="1600" b="1" dirty="0" err="1">
                <a:latin typeface="arial" pitchFamily="34" charset="0"/>
                <a:ea typeface="맑은 고딕" pitchFamily="50" charset="-127"/>
              </a:rPr>
              <a:t>vùng</a:t>
            </a:r>
            <a:r>
              <a:rPr lang="en-US" altLang="ko-KR" sz="1600" b="1" dirty="0">
                <a:latin typeface="arial" pitchFamily="34" charset="0"/>
                <a:ea typeface="맑은 고딕" pitchFamily="50" charset="-127"/>
              </a:rPr>
              <a:t> A, </a:t>
            </a:r>
            <a:r>
              <a:rPr lang="en-US" altLang="ko-KR" sz="1600" b="1" dirty="0" err="1">
                <a:latin typeface="arial" pitchFamily="34" charset="0"/>
                <a:ea typeface="맑은 고딕" pitchFamily="50" charset="-127"/>
              </a:rPr>
              <a:t>hoặc</a:t>
            </a:r>
            <a:r>
              <a:rPr lang="en-US" altLang="ko-KR" sz="1600" b="1" dirty="0">
                <a:latin typeface="arial" pitchFamily="34" charset="0"/>
                <a:ea typeface="맑은 고딕" pitchFamily="50" charset="-127"/>
              </a:rPr>
              <a:t> 4 – 5 </a:t>
            </a:r>
            <a:r>
              <a:rPr lang="en-US" altLang="ko-KR" sz="1600" b="1" dirty="0" err="1">
                <a:latin typeface="arial" pitchFamily="34" charset="0"/>
                <a:ea typeface="맑은 고딕" pitchFamily="50" charset="-127"/>
              </a:rPr>
              <a:t>điểm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cùng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một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phía</a:t>
            </a:r>
            <a:r>
              <a:rPr lang="en-US" altLang="ko-KR" sz="1600" b="1" dirty="0">
                <a:latin typeface="arial" pitchFamily="34" charset="0"/>
                <a:ea typeface="맑은 고딕" pitchFamily="50" charset="-127"/>
              </a:rPr>
              <a:t> so </a:t>
            </a:r>
            <a:r>
              <a:rPr lang="en-US" altLang="ko-KR" sz="1600" b="1" dirty="0" err="1">
                <a:latin typeface="arial" pitchFamily="34" charset="0"/>
                <a:ea typeface="맑은 고딕" pitchFamily="50" charset="-127"/>
              </a:rPr>
              <a:t>với</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đường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trung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tâm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và</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cùng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nằm</a:t>
            </a:r>
            <a:r>
              <a:rPr lang="en-US" altLang="ko-KR" sz="1600" b="1" dirty="0">
                <a:latin typeface="arial" pitchFamily="34" charset="0"/>
                <a:ea typeface="맑은 고딕" pitchFamily="50" charset="-127"/>
              </a:rPr>
              <a:t> ở </a:t>
            </a:r>
            <a:r>
              <a:rPr lang="en-US" altLang="ko-KR" sz="1600" b="1" dirty="0" err="1">
                <a:latin typeface="arial" pitchFamily="34" charset="0"/>
                <a:ea typeface="맑은 고딕" pitchFamily="50" charset="-127"/>
              </a:rPr>
              <a:t>vùng</a:t>
            </a:r>
            <a:r>
              <a:rPr lang="en-US" altLang="ko-KR" sz="1600" b="1" dirty="0">
                <a:latin typeface="arial" pitchFamily="34" charset="0"/>
                <a:ea typeface="맑은 고딕" pitchFamily="50" charset="-127"/>
              </a:rPr>
              <a:t> B, </a:t>
            </a:r>
            <a:r>
              <a:rPr lang="en-US" altLang="ko-KR" sz="1600" b="1" dirty="0" err="1">
                <a:latin typeface="arial" pitchFamily="34" charset="0"/>
                <a:ea typeface="맑은 고딕" pitchFamily="50" charset="-127"/>
              </a:rPr>
              <a:t>hoặc</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hơn</a:t>
            </a:r>
            <a:r>
              <a:rPr lang="en-US" altLang="ko-KR" sz="1600" b="1" dirty="0">
                <a:latin typeface="arial" pitchFamily="34" charset="0"/>
                <a:ea typeface="맑은 고딕" pitchFamily="50" charset="-127"/>
              </a:rPr>
              <a:t>.</a:t>
            </a:r>
            <a:endParaRPr lang="ko-KR" altLang="en-US" sz="1600" b="1" dirty="0">
              <a:latin typeface="arial" pitchFamily="34" charset="0"/>
              <a:ea typeface="맑은 고딕" pitchFamily="50" charset="-127"/>
            </a:endParaRPr>
          </a:p>
        </p:txBody>
      </p:sp>
      <p:graphicFrame>
        <p:nvGraphicFramePr>
          <p:cNvPr id="4" name="Group 842"/>
          <p:cNvGraphicFramePr>
            <a:graphicFrameLocks noGrp="1"/>
          </p:cNvGraphicFramePr>
          <p:nvPr/>
        </p:nvGraphicFramePr>
        <p:xfrm>
          <a:off x="1495425" y="2490788"/>
          <a:ext cx="7345363" cy="1658940"/>
        </p:xfrm>
        <a:graphic>
          <a:graphicData uri="http://schemas.openxmlformats.org/drawingml/2006/table">
            <a:tbl>
              <a:tblPr/>
              <a:tblGrid>
                <a:gridCol w="566738">
                  <a:extLst>
                    <a:ext uri="{9D8B030D-6E8A-4147-A177-3AD203B41FA5}">
                      <a16:colId xmlns:a16="http://schemas.microsoft.com/office/drawing/2014/main" val="20000"/>
                    </a:ext>
                  </a:extLst>
                </a:gridCol>
                <a:gridCol w="563562">
                  <a:extLst>
                    <a:ext uri="{9D8B030D-6E8A-4147-A177-3AD203B41FA5}">
                      <a16:colId xmlns:a16="http://schemas.microsoft.com/office/drawing/2014/main" val="20001"/>
                    </a:ext>
                  </a:extLst>
                </a:gridCol>
                <a:gridCol w="566738">
                  <a:extLst>
                    <a:ext uri="{9D8B030D-6E8A-4147-A177-3AD203B41FA5}">
                      <a16:colId xmlns:a16="http://schemas.microsoft.com/office/drawing/2014/main" val="20002"/>
                    </a:ext>
                  </a:extLst>
                </a:gridCol>
                <a:gridCol w="565150">
                  <a:extLst>
                    <a:ext uri="{9D8B030D-6E8A-4147-A177-3AD203B41FA5}">
                      <a16:colId xmlns:a16="http://schemas.microsoft.com/office/drawing/2014/main" val="20003"/>
                    </a:ext>
                  </a:extLst>
                </a:gridCol>
                <a:gridCol w="565150">
                  <a:extLst>
                    <a:ext uri="{9D8B030D-6E8A-4147-A177-3AD203B41FA5}">
                      <a16:colId xmlns:a16="http://schemas.microsoft.com/office/drawing/2014/main" val="20004"/>
                    </a:ext>
                  </a:extLst>
                </a:gridCol>
                <a:gridCol w="565150">
                  <a:extLst>
                    <a:ext uri="{9D8B030D-6E8A-4147-A177-3AD203B41FA5}">
                      <a16:colId xmlns:a16="http://schemas.microsoft.com/office/drawing/2014/main" val="20005"/>
                    </a:ext>
                  </a:extLst>
                </a:gridCol>
                <a:gridCol w="566737">
                  <a:extLst>
                    <a:ext uri="{9D8B030D-6E8A-4147-A177-3AD203B41FA5}">
                      <a16:colId xmlns:a16="http://schemas.microsoft.com/office/drawing/2014/main" val="20006"/>
                    </a:ext>
                  </a:extLst>
                </a:gridCol>
                <a:gridCol w="563563">
                  <a:extLst>
                    <a:ext uri="{9D8B030D-6E8A-4147-A177-3AD203B41FA5}">
                      <a16:colId xmlns:a16="http://schemas.microsoft.com/office/drawing/2014/main" val="20007"/>
                    </a:ext>
                  </a:extLst>
                </a:gridCol>
                <a:gridCol w="566737">
                  <a:extLst>
                    <a:ext uri="{9D8B030D-6E8A-4147-A177-3AD203B41FA5}">
                      <a16:colId xmlns:a16="http://schemas.microsoft.com/office/drawing/2014/main" val="20008"/>
                    </a:ext>
                  </a:extLst>
                </a:gridCol>
                <a:gridCol w="561975">
                  <a:extLst>
                    <a:ext uri="{9D8B030D-6E8A-4147-A177-3AD203B41FA5}">
                      <a16:colId xmlns:a16="http://schemas.microsoft.com/office/drawing/2014/main" val="20009"/>
                    </a:ext>
                  </a:extLst>
                </a:gridCol>
                <a:gridCol w="565150">
                  <a:extLst>
                    <a:ext uri="{9D8B030D-6E8A-4147-A177-3AD203B41FA5}">
                      <a16:colId xmlns:a16="http://schemas.microsoft.com/office/drawing/2014/main" val="20010"/>
                    </a:ext>
                  </a:extLst>
                </a:gridCol>
                <a:gridCol w="565150">
                  <a:extLst>
                    <a:ext uri="{9D8B030D-6E8A-4147-A177-3AD203B41FA5}">
                      <a16:colId xmlns:a16="http://schemas.microsoft.com/office/drawing/2014/main" val="20011"/>
                    </a:ext>
                  </a:extLst>
                </a:gridCol>
                <a:gridCol w="563563">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a:ln>
                            <a:noFill/>
                          </a:ln>
                          <a:solidFill>
                            <a:schemeClr val="tx1"/>
                          </a:solidFill>
                          <a:effectLst/>
                          <a:latin typeface="Arial" pitchFamily="34" charset="0"/>
                          <a:ea typeface="돋움" pitchFamily="50" charset="-127"/>
                        </a:rPr>
                        <a:t>C</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90000" marR="90000"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9797" name="Oval 582"/>
          <p:cNvSpPr>
            <a:spLocks noChangeArrowheads="1"/>
          </p:cNvSpPr>
          <p:nvPr/>
        </p:nvSpPr>
        <p:spPr bwMode="auto">
          <a:xfrm>
            <a:off x="2287588" y="310832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798" name="Oval 583"/>
          <p:cNvSpPr>
            <a:spLocks noChangeArrowheads="1"/>
          </p:cNvSpPr>
          <p:nvPr/>
        </p:nvSpPr>
        <p:spPr bwMode="auto">
          <a:xfrm>
            <a:off x="2863850" y="339725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799" name="Oval 584"/>
          <p:cNvSpPr>
            <a:spLocks noChangeArrowheads="1"/>
          </p:cNvSpPr>
          <p:nvPr/>
        </p:nvSpPr>
        <p:spPr bwMode="auto">
          <a:xfrm>
            <a:off x="3440113" y="371792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00" name="Oval 585"/>
          <p:cNvSpPr>
            <a:spLocks noChangeArrowheads="1"/>
          </p:cNvSpPr>
          <p:nvPr/>
        </p:nvSpPr>
        <p:spPr bwMode="auto">
          <a:xfrm>
            <a:off x="4016375" y="400526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01" name="Oval 586"/>
          <p:cNvSpPr>
            <a:spLocks noChangeArrowheads="1"/>
          </p:cNvSpPr>
          <p:nvPr/>
        </p:nvSpPr>
        <p:spPr bwMode="auto">
          <a:xfrm>
            <a:off x="4592638" y="4005263"/>
            <a:ext cx="73025"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02" name="Oval 587"/>
          <p:cNvSpPr>
            <a:spLocks noChangeArrowheads="1"/>
          </p:cNvSpPr>
          <p:nvPr/>
        </p:nvSpPr>
        <p:spPr bwMode="auto">
          <a:xfrm>
            <a:off x="5168900" y="339725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03" name="Oval 588"/>
          <p:cNvSpPr>
            <a:spLocks noChangeArrowheads="1"/>
          </p:cNvSpPr>
          <p:nvPr/>
        </p:nvSpPr>
        <p:spPr bwMode="auto">
          <a:xfrm>
            <a:off x="5745163" y="310832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9804" name="AutoShape 589"/>
          <p:cNvCxnSpPr>
            <a:cxnSpLocks noChangeShapeType="1"/>
            <a:stCxn id="29797" idx="5"/>
            <a:endCxn id="29798" idx="1"/>
          </p:cNvCxnSpPr>
          <p:nvPr/>
        </p:nvCxnSpPr>
        <p:spPr bwMode="auto">
          <a:xfrm>
            <a:off x="2347913" y="3168650"/>
            <a:ext cx="527050"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5" name="AutoShape 590"/>
          <p:cNvCxnSpPr>
            <a:cxnSpLocks noChangeShapeType="1"/>
            <a:stCxn id="29798" idx="6"/>
          </p:cNvCxnSpPr>
          <p:nvPr/>
        </p:nvCxnSpPr>
        <p:spPr bwMode="auto">
          <a:xfrm>
            <a:off x="2935288" y="3432175"/>
            <a:ext cx="504825"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6" name="AutoShape 592"/>
          <p:cNvCxnSpPr>
            <a:cxnSpLocks noChangeShapeType="1"/>
            <a:stCxn id="29800" idx="6"/>
            <a:endCxn id="29801" idx="1"/>
          </p:cNvCxnSpPr>
          <p:nvPr/>
        </p:nvCxnSpPr>
        <p:spPr bwMode="auto">
          <a:xfrm flipV="1">
            <a:off x="4087813" y="4016375"/>
            <a:ext cx="515937" cy="254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7" name="AutoShape 593"/>
          <p:cNvCxnSpPr>
            <a:cxnSpLocks noChangeShapeType="1"/>
            <a:stCxn id="29801" idx="6"/>
            <a:endCxn id="29802" idx="2"/>
          </p:cNvCxnSpPr>
          <p:nvPr/>
        </p:nvCxnSpPr>
        <p:spPr bwMode="auto">
          <a:xfrm flipV="1">
            <a:off x="4665663" y="3432175"/>
            <a:ext cx="503237" cy="6096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8" name="AutoShape 594"/>
          <p:cNvCxnSpPr>
            <a:cxnSpLocks noChangeShapeType="1"/>
            <a:stCxn id="29802" idx="7"/>
            <a:endCxn id="29803" idx="2"/>
          </p:cNvCxnSpPr>
          <p:nvPr/>
        </p:nvCxnSpPr>
        <p:spPr bwMode="auto">
          <a:xfrm flipV="1">
            <a:off x="5229225" y="3144838"/>
            <a:ext cx="515938"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09" name="Oval 675"/>
          <p:cNvSpPr>
            <a:spLocks noChangeArrowheads="1"/>
          </p:cNvSpPr>
          <p:nvPr/>
        </p:nvSpPr>
        <p:spPr bwMode="auto">
          <a:xfrm>
            <a:off x="6248400" y="28194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10" name="Oval 676"/>
          <p:cNvSpPr>
            <a:spLocks noChangeArrowheads="1"/>
          </p:cNvSpPr>
          <p:nvPr/>
        </p:nvSpPr>
        <p:spPr bwMode="auto">
          <a:xfrm>
            <a:off x="6824663" y="288607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11" name="Oval 677"/>
          <p:cNvSpPr>
            <a:spLocks noChangeArrowheads="1"/>
          </p:cNvSpPr>
          <p:nvPr/>
        </p:nvSpPr>
        <p:spPr bwMode="auto">
          <a:xfrm>
            <a:off x="7400925" y="317976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12" name="Oval 678"/>
          <p:cNvSpPr>
            <a:spLocks noChangeArrowheads="1"/>
          </p:cNvSpPr>
          <p:nvPr/>
        </p:nvSpPr>
        <p:spPr bwMode="auto">
          <a:xfrm>
            <a:off x="7977188" y="2819400"/>
            <a:ext cx="73025"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13" name="Oval 679"/>
          <p:cNvSpPr>
            <a:spLocks noChangeArrowheads="1"/>
          </p:cNvSpPr>
          <p:nvPr/>
        </p:nvSpPr>
        <p:spPr bwMode="auto">
          <a:xfrm>
            <a:off x="8553450" y="28194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29814" name="AutoShape 682"/>
          <p:cNvCxnSpPr>
            <a:cxnSpLocks noChangeShapeType="1"/>
            <a:stCxn id="29809" idx="6"/>
            <a:endCxn id="29810" idx="2"/>
          </p:cNvCxnSpPr>
          <p:nvPr/>
        </p:nvCxnSpPr>
        <p:spPr bwMode="auto">
          <a:xfrm>
            <a:off x="6319838" y="2855913"/>
            <a:ext cx="504825" cy="66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5" name="AutoShape 683"/>
          <p:cNvCxnSpPr>
            <a:cxnSpLocks noChangeShapeType="1"/>
            <a:stCxn id="29810" idx="5"/>
            <a:endCxn id="29811" idx="2"/>
          </p:cNvCxnSpPr>
          <p:nvPr/>
        </p:nvCxnSpPr>
        <p:spPr bwMode="auto">
          <a:xfrm>
            <a:off x="6884988" y="2946400"/>
            <a:ext cx="515937" cy="2698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16" name="Text Box 2"/>
          <p:cNvSpPr txBox="1">
            <a:spLocks noChangeArrowheads="1"/>
          </p:cNvSpPr>
          <p:nvPr/>
        </p:nvSpPr>
        <p:spPr bwMode="auto">
          <a:xfrm>
            <a:off x="849313" y="1150938"/>
            <a:ext cx="47157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latin typeface="arial" pitchFamily="34" charset="0"/>
                <a:ea typeface="맑은 고딕" pitchFamily="50" charset="-127"/>
              </a:rPr>
              <a:t>&lt; </a:t>
            </a:r>
            <a:r>
              <a:rPr lang="en-US" altLang="ko-KR" b="1" dirty="0" err="1">
                <a:latin typeface="arial" pitchFamily="34" charset="0"/>
                <a:ea typeface="맑은 고딕" pitchFamily="50" charset="-127"/>
              </a:rPr>
              <a:t>Tiệm</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cận</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với</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các</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giới</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hạn</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kiểm</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soát</a:t>
            </a:r>
            <a:r>
              <a:rPr lang="en-US" altLang="ko-KR" b="1" dirty="0">
                <a:latin typeface="arial" pitchFamily="34" charset="0"/>
                <a:ea typeface="맑은 고딕" pitchFamily="50" charset="-127"/>
              </a:rPr>
              <a:t> &gt;</a:t>
            </a:r>
            <a:endParaRPr lang="ko-KR" altLang="en-US" b="1" dirty="0">
              <a:latin typeface="arial" pitchFamily="34" charset="0"/>
              <a:ea typeface="맑은 고딕" pitchFamily="50" charset="-127"/>
            </a:endParaRPr>
          </a:p>
        </p:txBody>
      </p:sp>
      <p:cxnSp>
        <p:nvCxnSpPr>
          <p:cNvPr id="29817" name="AutoShape 789"/>
          <p:cNvCxnSpPr>
            <a:cxnSpLocks noChangeShapeType="1"/>
            <a:stCxn id="29799" idx="6"/>
            <a:endCxn id="29800" idx="2"/>
          </p:cNvCxnSpPr>
          <p:nvPr/>
        </p:nvCxnSpPr>
        <p:spPr bwMode="auto">
          <a:xfrm>
            <a:off x="3511550" y="3752850"/>
            <a:ext cx="504825" cy="2889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8" name="AutoShape 790"/>
          <p:cNvCxnSpPr>
            <a:cxnSpLocks noChangeShapeType="1"/>
            <a:stCxn id="29803" idx="7"/>
            <a:endCxn id="29809" idx="3"/>
          </p:cNvCxnSpPr>
          <p:nvPr/>
        </p:nvCxnSpPr>
        <p:spPr bwMode="auto">
          <a:xfrm flipV="1">
            <a:off x="5805488" y="2879725"/>
            <a:ext cx="454025"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9" name="AutoShape 791"/>
          <p:cNvCxnSpPr>
            <a:cxnSpLocks noChangeShapeType="1"/>
            <a:stCxn id="29811" idx="7"/>
            <a:endCxn id="29812" idx="2"/>
          </p:cNvCxnSpPr>
          <p:nvPr/>
        </p:nvCxnSpPr>
        <p:spPr bwMode="auto">
          <a:xfrm flipV="1">
            <a:off x="7461250" y="2855913"/>
            <a:ext cx="515938" cy="3349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20" name="AutoShape 798"/>
          <p:cNvCxnSpPr>
            <a:cxnSpLocks noChangeShapeType="1"/>
            <a:stCxn id="29812" idx="6"/>
            <a:endCxn id="29813" idx="2"/>
          </p:cNvCxnSpPr>
          <p:nvPr/>
        </p:nvCxnSpPr>
        <p:spPr bwMode="auto">
          <a:xfrm>
            <a:off x="8050213" y="2855913"/>
            <a:ext cx="503237" cy="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21" name="Text Box 799"/>
          <p:cNvSpPr txBox="1">
            <a:spLocks noChangeArrowheads="1"/>
          </p:cNvSpPr>
          <p:nvPr/>
        </p:nvSpPr>
        <p:spPr bwMode="auto">
          <a:xfrm>
            <a:off x="896938" y="2347913"/>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UCL</a:t>
            </a:r>
          </a:p>
        </p:txBody>
      </p:sp>
      <p:sp>
        <p:nvSpPr>
          <p:cNvPr id="29822" name="Text Box 800"/>
          <p:cNvSpPr txBox="1">
            <a:spLocks noChangeArrowheads="1"/>
          </p:cNvSpPr>
          <p:nvPr/>
        </p:nvSpPr>
        <p:spPr bwMode="auto">
          <a:xfrm>
            <a:off x="896938" y="3932238"/>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LCL</a:t>
            </a:r>
          </a:p>
        </p:txBody>
      </p:sp>
      <p:sp>
        <p:nvSpPr>
          <p:cNvPr id="29824" name="Oval 803"/>
          <p:cNvSpPr>
            <a:spLocks noChangeArrowheads="1"/>
          </p:cNvSpPr>
          <p:nvPr/>
        </p:nvSpPr>
        <p:spPr bwMode="auto">
          <a:xfrm>
            <a:off x="6103938" y="2686050"/>
            <a:ext cx="2809875" cy="622300"/>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9825" name="Text Box 804"/>
          <p:cNvSpPr txBox="1">
            <a:spLocks noChangeArrowheads="1"/>
          </p:cNvSpPr>
          <p:nvPr/>
        </p:nvSpPr>
        <p:spPr bwMode="auto">
          <a:xfrm>
            <a:off x="971550" y="3140075"/>
            <a:ext cx="4571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CL</a:t>
            </a:r>
          </a:p>
        </p:txBody>
      </p:sp>
      <p:graphicFrame>
        <p:nvGraphicFramePr>
          <p:cNvPr id="34" name="Group 843"/>
          <p:cNvGraphicFramePr>
            <a:graphicFrameLocks noGrp="1"/>
          </p:cNvGraphicFramePr>
          <p:nvPr>
            <p:extLst>
              <p:ext uri="{D42A27DB-BD31-4B8C-83A1-F6EECF244321}">
                <p14:modId xmlns:p14="http://schemas.microsoft.com/office/powerpoint/2010/main" val="3117847112"/>
              </p:ext>
            </p:extLst>
          </p:nvPr>
        </p:nvGraphicFramePr>
        <p:xfrm>
          <a:off x="920750" y="4918075"/>
          <a:ext cx="7905750" cy="1257084"/>
        </p:xfrm>
        <a:graphic>
          <a:graphicData uri="http://schemas.openxmlformats.org/drawingml/2006/table">
            <a:tbl>
              <a:tblPr/>
              <a:tblGrid>
                <a:gridCol w="1149350">
                  <a:extLst>
                    <a:ext uri="{9D8B030D-6E8A-4147-A177-3AD203B41FA5}">
                      <a16:colId xmlns:a16="http://schemas.microsoft.com/office/drawing/2014/main" val="20000"/>
                    </a:ext>
                  </a:extLst>
                </a:gridCol>
                <a:gridCol w="6756400">
                  <a:extLst>
                    <a:ext uri="{9D8B030D-6E8A-4147-A177-3AD203B41FA5}">
                      <a16:colId xmlns:a16="http://schemas.microsoft.com/office/drawing/2014/main" val="20001"/>
                    </a:ext>
                  </a:extLst>
                </a:gridCol>
              </a:tblGrid>
              <a:tr h="66833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R</a:t>
                      </a:r>
                      <a:r>
                        <a:rPr kumimoji="1" lang="ko-KR" altLang="en-US" sz="1200" b="1" i="0" u="none" strike="noStrike" cap="none" normalizeH="0" baseline="0" dirty="0">
                          <a:ln>
                            <a:noFill/>
                          </a:ln>
                          <a:solidFill>
                            <a:schemeClr val="tx1"/>
                          </a:solidFill>
                          <a:effectLst/>
                          <a:latin typeface="Arial" pitchFamily="34" charset="0"/>
                          <a:ea typeface="돋움" pitchFamily="50" charset="-127"/>
                        </a:rPr>
                        <a:t> </a:t>
                      </a:r>
                      <a:r>
                        <a:rPr kumimoji="1" lang="en-US" altLang="ko-KR" sz="1200" b="1" i="0" u="none" strike="noStrike" cap="none" normalizeH="0" baseline="0" dirty="0">
                          <a:ln>
                            <a:noFill/>
                          </a:ln>
                          <a:solidFill>
                            <a:schemeClr val="tx1"/>
                          </a:solidFill>
                          <a:effectLst/>
                          <a:latin typeface="Arial" pitchFamily="34" charset="0"/>
                          <a:ea typeface="돋움" pitchFamily="50" charset="-127"/>
                        </a:rPr>
                        <a:t>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Sai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sót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của</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nhân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kỹ</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thuật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của</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người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nhân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đầy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đủ</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máy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móc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ổn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định</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do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cơ</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chế</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kết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nối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chắc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chắn</a:t>
                      </a:r>
                      <a:endPar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Nguyên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liệu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phù</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hợp</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được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cung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cấp</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bởi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những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nhà</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cung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cấp</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khác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nhau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bộ</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phận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bị</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lỗi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do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sai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sót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hoặc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dụng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cụ</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bị</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lỗi</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Arial" pitchFamily="34" charset="0"/>
                          <a:ea typeface="돋움" pitchFamily="50" charset="-127"/>
                        </a:rPr>
                        <a:t>Xbar</a:t>
                      </a:r>
                      <a:r>
                        <a:rPr kumimoji="1" lang="en-US" altLang="ko-KR" sz="1200" b="1" i="0" u="none" strike="noStrike" cap="none" normalizeH="0" baseline="0" dirty="0">
                          <a:ln>
                            <a:noFill/>
                          </a:ln>
                          <a:solidFill>
                            <a:schemeClr val="tx1"/>
                          </a:solidFill>
                          <a:effectLst/>
                          <a:latin typeface="Arial" pitchFamily="34" charset="0"/>
                          <a:ea typeface="돋움" pitchFamily="50" charset="-127"/>
                        </a:rPr>
                        <a:t> Control Chart</a:t>
                      </a:r>
                      <a:endParaRPr kumimoji="1" lang="ko-KR" altLang="en-US"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Như</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trên</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9839" name="Oval 803"/>
          <p:cNvSpPr>
            <a:spLocks noChangeArrowheads="1"/>
          </p:cNvSpPr>
          <p:nvPr/>
        </p:nvSpPr>
        <p:spPr bwMode="auto">
          <a:xfrm>
            <a:off x="3009900" y="3644900"/>
            <a:ext cx="1952625" cy="6127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269</a:t>
            </a:fld>
            <a:endParaRPr lang="ko-KR" altLang="en-US" dirty="0"/>
          </a:p>
        </p:txBody>
      </p:sp>
      <p:sp>
        <p:nvSpPr>
          <p:cNvPr id="37"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6.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Cách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đọc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
        <p:nvSpPr>
          <p:cNvPr id="38" name="AutoShape 181"/>
          <p:cNvSpPr>
            <a:spLocks noChangeArrowheads="1"/>
          </p:cNvSpPr>
          <p:nvPr/>
        </p:nvSpPr>
        <p:spPr bwMode="auto">
          <a:xfrm>
            <a:off x="776288" y="4507210"/>
            <a:ext cx="1009650"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600" b="1" dirty="0">
                <a:latin typeface="arial" pitchFamily="34" charset="0"/>
                <a:ea typeface="맑은 고딕" pitchFamily="50" charset="-127"/>
              </a:rPr>
              <a:t>원인</a:t>
            </a:r>
          </a:p>
        </p:txBody>
      </p:sp>
      <p:sp>
        <p:nvSpPr>
          <p:cNvPr id="39" name="AutoShape 183"/>
          <p:cNvSpPr>
            <a:spLocks noChangeArrowheads="1"/>
          </p:cNvSpPr>
          <p:nvPr/>
        </p:nvSpPr>
        <p:spPr bwMode="auto">
          <a:xfrm>
            <a:off x="560512" y="4507210"/>
            <a:ext cx="1440160"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600" b="1" dirty="0" err="1">
                <a:latin typeface="arial" pitchFamily="34" charset="0"/>
                <a:ea typeface="맑은 고딕" pitchFamily="50" charset="-127"/>
              </a:rPr>
              <a:t>Nguyên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nhân</a:t>
            </a:r>
            <a:endParaRPr lang="ko-KR" altLang="en-US" sz="1600" b="1" dirty="0">
              <a:latin typeface="arial" pitchFamily="34" charset="0"/>
              <a:ea typeface="맑은 고딕" pitchFamily="50" charset="-127"/>
            </a:endParaRPr>
          </a:p>
        </p:txBody>
      </p:sp>
    </p:spTree>
    <p:extLst>
      <p:ext uri="{BB962C8B-B14F-4D97-AF65-F5344CB8AC3E}">
        <p14:creationId xmlns:p14="http://schemas.microsoft.com/office/powerpoint/2010/main" val="754797002"/>
      </p:ext>
    </p:extLst>
  </p:cSld>
  <p:clrMapOvr>
    <a:masterClrMapping/>
  </p:clrMapOvr>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 name="Group 736"/>
          <p:cNvGraphicFramePr>
            <a:graphicFrameLocks noGrp="1"/>
          </p:cNvGraphicFramePr>
          <p:nvPr/>
        </p:nvGraphicFramePr>
        <p:xfrm>
          <a:off x="1281113" y="2179638"/>
          <a:ext cx="7507288" cy="1658940"/>
        </p:xfrm>
        <a:graphic>
          <a:graphicData uri="http://schemas.openxmlformats.org/drawingml/2006/table">
            <a:tbl>
              <a:tblPr/>
              <a:tblGrid>
                <a:gridCol w="750888">
                  <a:extLst>
                    <a:ext uri="{9D8B030D-6E8A-4147-A177-3AD203B41FA5}">
                      <a16:colId xmlns:a16="http://schemas.microsoft.com/office/drawing/2014/main" val="20000"/>
                    </a:ext>
                  </a:extLst>
                </a:gridCol>
                <a:gridCol w="355600">
                  <a:extLst>
                    <a:ext uri="{9D8B030D-6E8A-4147-A177-3AD203B41FA5}">
                      <a16:colId xmlns:a16="http://schemas.microsoft.com/office/drawing/2014/main" val="20001"/>
                    </a:ext>
                  </a:extLst>
                </a:gridCol>
                <a:gridCol w="355600">
                  <a:extLst>
                    <a:ext uri="{9D8B030D-6E8A-4147-A177-3AD203B41FA5}">
                      <a16:colId xmlns:a16="http://schemas.microsoft.com/office/drawing/2014/main" val="20002"/>
                    </a:ext>
                  </a:extLst>
                </a:gridCol>
                <a:gridCol w="355600">
                  <a:extLst>
                    <a:ext uri="{9D8B030D-6E8A-4147-A177-3AD203B41FA5}">
                      <a16:colId xmlns:a16="http://schemas.microsoft.com/office/drawing/2014/main" val="20003"/>
                    </a:ext>
                  </a:extLst>
                </a:gridCol>
                <a:gridCol w="355600">
                  <a:extLst>
                    <a:ext uri="{9D8B030D-6E8A-4147-A177-3AD203B41FA5}">
                      <a16:colId xmlns:a16="http://schemas.microsoft.com/office/drawing/2014/main" val="20004"/>
                    </a:ext>
                  </a:extLst>
                </a:gridCol>
                <a:gridCol w="357187">
                  <a:extLst>
                    <a:ext uri="{9D8B030D-6E8A-4147-A177-3AD203B41FA5}">
                      <a16:colId xmlns:a16="http://schemas.microsoft.com/office/drawing/2014/main" val="20005"/>
                    </a:ext>
                  </a:extLst>
                </a:gridCol>
                <a:gridCol w="354013">
                  <a:extLst>
                    <a:ext uri="{9D8B030D-6E8A-4147-A177-3AD203B41FA5}">
                      <a16:colId xmlns:a16="http://schemas.microsoft.com/office/drawing/2014/main" val="20006"/>
                    </a:ext>
                  </a:extLst>
                </a:gridCol>
                <a:gridCol w="355600">
                  <a:extLst>
                    <a:ext uri="{9D8B030D-6E8A-4147-A177-3AD203B41FA5}">
                      <a16:colId xmlns:a16="http://schemas.microsoft.com/office/drawing/2014/main" val="20007"/>
                    </a:ext>
                  </a:extLst>
                </a:gridCol>
                <a:gridCol w="355600">
                  <a:extLst>
                    <a:ext uri="{9D8B030D-6E8A-4147-A177-3AD203B41FA5}">
                      <a16:colId xmlns:a16="http://schemas.microsoft.com/office/drawing/2014/main" val="20008"/>
                    </a:ext>
                  </a:extLst>
                </a:gridCol>
                <a:gridCol w="355600">
                  <a:extLst>
                    <a:ext uri="{9D8B030D-6E8A-4147-A177-3AD203B41FA5}">
                      <a16:colId xmlns:a16="http://schemas.microsoft.com/office/drawing/2014/main" val="20009"/>
                    </a:ext>
                  </a:extLst>
                </a:gridCol>
                <a:gridCol w="355600">
                  <a:extLst>
                    <a:ext uri="{9D8B030D-6E8A-4147-A177-3AD203B41FA5}">
                      <a16:colId xmlns:a16="http://schemas.microsoft.com/office/drawing/2014/main" val="20010"/>
                    </a:ext>
                  </a:extLst>
                </a:gridCol>
                <a:gridCol w="355600">
                  <a:extLst>
                    <a:ext uri="{9D8B030D-6E8A-4147-A177-3AD203B41FA5}">
                      <a16:colId xmlns:a16="http://schemas.microsoft.com/office/drawing/2014/main" val="20011"/>
                    </a:ext>
                  </a:extLst>
                </a:gridCol>
                <a:gridCol w="355600">
                  <a:extLst>
                    <a:ext uri="{9D8B030D-6E8A-4147-A177-3AD203B41FA5}">
                      <a16:colId xmlns:a16="http://schemas.microsoft.com/office/drawing/2014/main" val="20012"/>
                    </a:ext>
                  </a:extLst>
                </a:gridCol>
                <a:gridCol w="355600">
                  <a:extLst>
                    <a:ext uri="{9D8B030D-6E8A-4147-A177-3AD203B41FA5}">
                      <a16:colId xmlns:a16="http://schemas.microsoft.com/office/drawing/2014/main" val="20013"/>
                    </a:ext>
                  </a:extLst>
                </a:gridCol>
                <a:gridCol w="355600">
                  <a:extLst>
                    <a:ext uri="{9D8B030D-6E8A-4147-A177-3AD203B41FA5}">
                      <a16:colId xmlns:a16="http://schemas.microsoft.com/office/drawing/2014/main" val="20014"/>
                    </a:ext>
                  </a:extLst>
                </a:gridCol>
                <a:gridCol w="355600">
                  <a:extLst>
                    <a:ext uri="{9D8B030D-6E8A-4147-A177-3AD203B41FA5}">
                      <a16:colId xmlns:a16="http://schemas.microsoft.com/office/drawing/2014/main" val="20015"/>
                    </a:ext>
                  </a:extLst>
                </a:gridCol>
                <a:gridCol w="355600">
                  <a:extLst>
                    <a:ext uri="{9D8B030D-6E8A-4147-A177-3AD203B41FA5}">
                      <a16:colId xmlns:a16="http://schemas.microsoft.com/office/drawing/2014/main" val="20016"/>
                    </a:ext>
                  </a:extLst>
                </a:gridCol>
                <a:gridCol w="355600">
                  <a:extLst>
                    <a:ext uri="{9D8B030D-6E8A-4147-A177-3AD203B41FA5}">
                      <a16:colId xmlns:a16="http://schemas.microsoft.com/office/drawing/2014/main" val="20017"/>
                    </a:ext>
                  </a:extLst>
                </a:gridCol>
                <a:gridCol w="357187">
                  <a:extLst>
                    <a:ext uri="{9D8B030D-6E8A-4147-A177-3AD203B41FA5}">
                      <a16:colId xmlns:a16="http://schemas.microsoft.com/office/drawing/2014/main" val="20018"/>
                    </a:ext>
                  </a:extLst>
                </a:gridCol>
                <a:gridCol w="354013">
                  <a:extLst>
                    <a:ext uri="{9D8B030D-6E8A-4147-A177-3AD203B41FA5}">
                      <a16:colId xmlns:a16="http://schemas.microsoft.com/office/drawing/2014/main" val="20019"/>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a:ln>
                            <a:noFill/>
                          </a:ln>
                          <a:solidFill>
                            <a:schemeClr val="tx1"/>
                          </a:solidFill>
                          <a:effectLst/>
                          <a:latin typeface="Arial" pitchFamily="34" charset="0"/>
                          <a:ea typeface="돋움" pitchFamily="50" charset="-127"/>
                        </a:rPr>
                        <a:t>C</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30871" name="Text Box 3"/>
          <p:cNvSpPr txBox="1">
            <a:spLocks noChangeArrowheads="1"/>
          </p:cNvSpPr>
          <p:nvPr/>
        </p:nvSpPr>
        <p:spPr bwMode="auto">
          <a:xfrm>
            <a:off x="762000" y="1557338"/>
            <a:ext cx="8016125"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pPr>
            <a:r>
              <a:rPr lang="en-US" altLang="ko-KR" sz="1600" b="1" dirty="0">
                <a:latin typeface="arial" pitchFamily="34" charset="0"/>
                <a:ea typeface="맑은 고딕" pitchFamily="50" charset="-127"/>
              </a:rPr>
              <a:t>- 15 </a:t>
            </a:r>
            <a:r>
              <a:rPr lang="en-US" altLang="ko-KR" sz="1600" b="1" dirty="0" err="1">
                <a:latin typeface="arial" pitchFamily="34" charset="0"/>
                <a:ea typeface="맑은 고딕" pitchFamily="50" charset="-127"/>
              </a:rPr>
              <a:t>điểm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không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vượt</a:t>
            </a:r>
            <a:r>
              <a:rPr lang="en-US" altLang="ko-KR" sz="1600" b="1" dirty="0">
                <a:latin typeface="arial" pitchFamily="34" charset="0"/>
                <a:ea typeface="맑은 고딕" pitchFamily="50" charset="-127"/>
              </a:rPr>
              <a:t> qua </a:t>
            </a:r>
            <a:r>
              <a:rPr lang="en-US" altLang="ko-KR" sz="1600" b="1" dirty="0" err="1">
                <a:latin typeface="arial" pitchFamily="34" charset="0"/>
                <a:ea typeface="맑은 고딕" pitchFamily="50" charset="-127"/>
              </a:rPr>
              <a:t>vùng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giới</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hạn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kiểm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soát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và</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tập</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trung</a:t>
            </a:r>
            <a:r>
              <a:rPr lang="en-US" altLang="ko-KR" sz="1600" b="1" dirty="0">
                <a:latin typeface="arial" pitchFamily="34" charset="0"/>
                <a:ea typeface="맑은 고딕" pitchFamily="50" charset="-127"/>
              </a:rPr>
              <a:t> ở </a:t>
            </a:r>
            <a:r>
              <a:rPr lang="en-US" altLang="ko-KR" sz="1600" b="1" dirty="0" err="1">
                <a:latin typeface="arial" pitchFamily="34" charset="0"/>
                <a:ea typeface="맑은 고딕" pitchFamily="50" charset="-127"/>
              </a:rPr>
              <a:t>vùng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trung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tâm</a:t>
            </a:r>
            <a:endParaRPr lang="ko-KR" altLang="en-US" sz="1600" b="1" dirty="0">
              <a:latin typeface="arial" pitchFamily="34" charset="0"/>
              <a:ea typeface="맑은 고딕" pitchFamily="50" charset="-127"/>
            </a:endParaRPr>
          </a:p>
        </p:txBody>
      </p:sp>
      <p:sp>
        <p:nvSpPr>
          <p:cNvPr id="30872" name="Text Box 2"/>
          <p:cNvSpPr txBox="1">
            <a:spLocks noChangeArrowheads="1"/>
          </p:cNvSpPr>
          <p:nvPr/>
        </p:nvSpPr>
        <p:spPr bwMode="auto">
          <a:xfrm>
            <a:off x="992188" y="1052513"/>
            <a:ext cx="34579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latin typeface="arial" pitchFamily="34" charset="0"/>
                <a:ea typeface="맑은 고딕" pitchFamily="50" charset="-127"/>
              </a:rPr>
              <a:t>&lt; </a:t>
            </a:r>
            <a:r>
              <a:rPr lang="en-US" altLang="ko-KR" b="1" dirty="0" err="1">
                <a:latin typeface="arial" pitchFamily="34" charset="0"/>
                <a:ea typeface="맑은 고딕" pitchFamily="50" charset="-127"/>
              </a:rPr>
              <a:t>Bám</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sát</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đường</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trung</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tâm</a:t>
            </a:r>
            <a:r>
              <a:rPr lang="ko-KR" altLang="en-US" b="1" dirty="0">
                <a:latin typeface="arial" pitchFamily="34" charset="0"/>
                <a:ea typeface="맑은 고딕" pitchFamily="50" charset="-127"/>
              </a:rPr>
              <a:t> </a:t>
            </a:r>
            <a:r>
              <a:rPr lang="en-US" altLang="ko-KR" b="1" dirty="0">
                <a:latin typeface="arial" pitchFamily="34" charset="0"/>
                <a:ea typeface="맑은 고딕" pitchFamily="50" charset="-127"/>
              </a:rPr>
              <a:t>&gt;</a:t>
            </a:r>
            <a:endParaRPr lang="ko-KR" altLang="en-US" b="1" dirty="0">
              <a:latin typeface="arial" pitchFamily="34" charset="0"/>
              <a:ea typeface="맑은 고딕" pitchFamily="50" charset="-127"/>
            </a:endParaRPr>
          </a:p>
        </p:txBody>
      </p:sp>
      <p:sp>
        <p:nvSpPr>
          <p:cNvPr id="30873" name="Text Box 151"/>
          <p:cNvSpPr txBox="1">
            <a:spLocks noChangeArrowheads="1"/>
          </p:cNvSpPr>
          <p:nvPr/>
        </p:nvSpPr>
        <p:spPr bwMode="auto">
          <a:xfrm>
            <a:off x="679450" y="1989138"/>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UCL</a:t>
            </a:r>
          </a:p>
        </p:txBody>
      </p:sp>
      <p:sp>
        <p:nvSpPr>
          <p:cNvPr id="30874" name="Text Box 152"/>
          <p:cNvSpPr txBox="1">
            <a:spLocks noChangeArrowheads="1"/>
          </p:cNvSpPr>
          <p:nvPr/>
        </p:nvSpPr>
        <p:spPr bwMode="auto">
          <a:xfrm>
            <a:off x="679450" y="3573463"/>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LCL</a:t>
            </a:r>
          </a:p>
        </p:txBody>
      </p:sp>
      <p:sp>
        <p:nvSpPr>
          <p:cNvPr id="30876" name="Text Box 154"/>
          <p:cNvSpPr txBox="1">
            <a:spLocks noChangeArrowheads="1"/>
          </p:cNvSpPr>
          <p:nvPr/>
        </p:nvSpPr>
        <p:spPr bwMode="auto">
          <a:xfrm>
            <a:off x="754063" y="2781300"/>
            <a:ext cx="4571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CL</a:t>
            </a:r>
          </a:p>
        </p:txBody>
      </p:sp>
      <p:graphicFrame>
        <p:nvGraphicFramePr>
          <p:cNvPr id="9" name="Group 371"/>
          <p:cNvGraphicFramePr>
            <a:graphicFrameLocks noGrp="1"/>
          </p:cNvGraphicFramePr>
          <p:nvPr>
            <p:extLst>
              <p:ext uri="{D42A27DB-BD31-4B8C-83A1-F6EECF244321}">
                <p14:modId xmlns:p14="http://schemas.microsoft.com/office/powerpoint/2010/main" val="2075198577"/>
              </p:ext>
            </p:extLst>
          </p:nvPr>
        </p:nvGraphicFramePr>
        <p:xfrm>
          <a:off x="703263" y="4724400"/>
          <a:ext cx="8064500" cy="1368425"/>
        </p:xfrm>
        <a:graphic>
          <a:graphicData uri="http://schemas.openxmlformats.org/drawingml/2006/table">
            <a:tbl>
              <a:tblPr/>
              <a:tblGrid>
                <a:gridCol w="1173163">
                  <a:extLst>
                    <a:ext uri="{9D8B030D-6E8A-4147-A177-3AD203B41FA5}">
                      <a16:colId xmlns:a16="http://schemas.microsoft.com/office/drawing/2014/main" val="20000"/>
                    </a:ext>
                  </a:extLst>
                </a:gridCol>
                <a:gridCol w="6891337">
                  <a:extLst>
                    <a:ext uri="{9D8B030D-6E8A-4147-A177-3AD203B41FA5}">
                      <a16:colId xmlns:a16="http://schemas.microsoft.com/office/drawing/2014/main" val="20001"/>
                    </a:ext>
                  </a:extLst>
                </a:gridCol>
              </a:tblGrid>
              <a:tr h="68738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Vấn</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đề</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 ở </a:t>
                      </a: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hệ</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thống</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đo</a:t>
                      </a:r>
                      <a:endParaRPr kumimoji="1" lang="ko-KR" altLang="en-US"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Phép</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đo</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là</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đủ</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để</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xác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định</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những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thay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đổi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trong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các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số</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đặc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trưng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về</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chất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lượng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Nếu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phép</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đo</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có</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khả</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năng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phân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biệt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những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thay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đổi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trong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quá</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trình</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này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sẽ</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được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ghi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lại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810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Vấn</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đề</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 ở </a:t>
                      </a: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công</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nhân</a:t>
                      </a:r>
                      <a:endParaRPr kumimoji="1" lang="ko-KR" altLang="en-US"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Dữ</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liệu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đã</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được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làm</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lại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để</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quá</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trình</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sản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xuất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trở</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nên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gần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hơn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với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giá</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trị</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trung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bình</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hoặc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sản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phẩm</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bị</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lỗi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đã</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được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làm</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lại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để</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cải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thiện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và</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đã</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được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ghi</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nhận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0889" name="Text Box 178"/>
          <p:cNvSpPr txBox="1">
            <a:spLocks noChangeArrowheads="1"/>
          </p:cNvSpPr>
          <p:nvPr/>
        </p:nvSpPr>
        <p:spPr bwMode="auto">
          <a:xfrm>
            <a:off x="1601788" y="3862388"/>
            <a:ext cx="7210628"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100" b="1" dirty="0" err="1">
                <a:solidFill>
                  <a:srgbClr val="CC0000"/>
                </a:solidFill>
                <a:latin typeface="arial" pitchFamily="34" charset="0"/>
                <a:ea typeface="맑은 고딕" pitchFamily="50" charset="-127"/>
              </a:rPr>
              <a:t>Xác</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suất</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để</a:t>
            </a:r>
            <a:r>
              <a:rPr lang="en-US" altLang="ko-KR" sz="1100" b="1" dirty="0">
                <a:solidFill>
                  <a:srgbClr val="CC0000"/>
                </a:solidFill>
                <a:latin typeface="arial" pitchFamily="34" charset="0"/>
                <a:ea typeface="맑은 고딕" pitchFamily="50" charset="-127"/>
              </a:rPr>
              <a:t> </a:t>
            </a:r>
            <a:r>
              <a:rPr lang="vi-VN" altLang="ko-KR" sz="1100" b="1" dirty="0">
                <a:solidFill>
                  <a:srgbClr val="CC0000"/>
                </a:solidFill>
                <a:latin typeface="arial" pitchFamily="34" charset="0"/>
                <a:ea typeface="맑은 고딕" pitchFamily="50" charset="-127"/>
              </a:rPr>
              <a:t>15 điểm</a:t>
            </a:r>
            <a:r>
              <a:rPr lang="en-US" altLang="ko-KR" sz="1100" b="1" dirty="0">
                <a:solidFill>
                  <a:srgbClr val="CC0000"/>
                </a:solidFill>
                <a:latin typeface="arial" pitchFamily="34" charset="0"/>
                <a:ea typeface="맑은 고딕" pitchFamily="50" charset="-127"/>
              </a:rPr>
              <a:t> </a:t>
            </a:r>
            <a:r>
              <a:rPr lang="vi-VN" altLang="ko-KR" sz="1100" b="1" dirty="0">
                <a:solidFill>
                  <a:srgbClr val="CC0000"/>
                </a:solidFill>
                <a:latin typeface="arial" pitchFamily="34" charset="0"/>
                <a:ea typeface="맑은 고딕" pitchFamily="50" charset="-127"/>
              </a:rPr>
              <a:t>tập trung</a:t>
            </a:r>
            <a:r>
              <a:rPr lang="en-US" altLang="ko-KR" sz="1100" b="1" dirty="0">
                <a:solidFill>
                  <a:srgbClr val="CC0000"/>
                </a:solidFill>
                <a:latin typeface="arial" pitchFamily="34" charset="0"/>
                <a:ea typeface="맑은 고딕" pitchFamily="50" charset="-127"/>
              </a:rPr>
              <a:t> ở </a:t>
            </a:r>
            <a:r>
              <a:rPr lang="en-US" altLang="ko-KR" sz="1100" b="1" dirty="0" err="1">
                <a:solidFill>
                  <a:srgbClr val="CC0000"/>
                </a:solidFill>
                <a:latin typeface="arial" pitchFamily="34" charset="0"/>
                <a:ea typeface="맑은 고딕" pitchFamily="50" charset="-127"/>
              </a:rPr>
              <a:t>vùng</a:t>
            </a:r>
            <a:r>
              <a:rPr lang="en-US" altLang="ko-KR" sz="1100" b="1" dirty="0">
                <a:solidFill>
                  <a:srgbClr val="CC0000"/>
                </a:solidFill>
                <a:latin typeface="arial" pitchFamily="34" charset="0"/>
                <a:ea typeface="맑은 고딕" pitchFamily="50" charset="-127"/>
              </a:rPr>
              <a:t> ±1σ </a:t>
            </a:r>
            <a:r>
              <a:rPr lang="en-US" altLang="ko-KR" sz="1100" b="1" dirty="0" err="1">
                <a:solidFill>
                  <a:srgbClr val="CC0000"/>
                </a:solidFill>
                <a:latin typeface="arial" pitchFamily="34" charset="0"/>
                <a:ea typeface="맑은 고딕" pitchFamily="50" charset="-127"/>
              </a:rPr>
              <a:t>quanh</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vùng</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trung</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tâm</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là</a:t>
            </a:r>
            <a:r>
              <a:rPr lang="en-US" altLang="ko-KR" sz="1100" b="1" dirty="0">
                <a:solidFill>
                  <a:srgbClr val="CC0000"/>
                </a:solidFill>
                <a:latin typeface="arial" pitchFamily="34" charset="0"/>
                <a:ea typeface="맑은 고딕" pitchFamily="50" charset="-127"/>
              </a:rPr>
              <a:t> (0.6826)^15=0.00326, </a:t>
            </a:r>
            <a:r>
              <a:rPr lang="en-US" altLang="ko-KR" sz="1100" b="1" dirty="0" err="1">
                <a:solidFill>
                  <a:srgbClr val="CC0000"/>
                </a:solidFill>
                <a:latin typeface="arial" pitchFamily="34" charset="0"/>
                <a:ea typeface="맑은 고딕" pitchFamily="50" charset="-127"/>
              </a:rPr>
              <a:t>khoảng</a:t>
            </a:r>
            <a:r>
              <a:rPr lang="ko-KR" altLang="en-US" sz="1100" b="1" dirty="0">
                <a:solidFill>
                  <a:srgbClr val="CC0000"/>
                </a:solidFill>
                <a:latin typeface="arial" pitchFamily="34" charset="0"/>
                <a:ea typeface="맑은 고딕" pitchFamily="50" charset="-127"/>
              </a:rPr>
              <a:t> </a:t>
            </a:r>
            <a:r>
              <a:rPr lang="en-US" altLang="ko-KR" sz="1100" b="1" dirty="0">
                <a:solidFill>
                  <a:srgbClr val="CC0000"/>
                </a:solidFill>
                <a:latin typeface="arial" pitchFamily="34" charset="0"/>
                <a:ea typeface="맑은 고딕" pitchFamily="50" charset="-127"/>
              </a:rPr>
              <a:t>0.33%. </a:t>
            </a:r>
          </a:p>
          <a:p>
            <a:pPr eaLnBrk="1" hangingPunct="1"/>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Trong</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trường</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hợp</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như</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trên</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quá</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trình</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này</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được</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coi</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là</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bất</a:t>
            </a:r>
            <a:r>
              <a:rPr lang="en-US" altLang="ko-KR" sz="1100" b="1" dirty="0">
                <a:solidFill>
                  <a:srgbClr val="CC0000"/>
                </a:solidFill>
                <a:latin typeface="arial" pitchFamily="34" charset="0"/>
                <a:ea typeface="맑은 고딕" pitchFamily="50" charset="-127"/>
              </a:rPr>
              <a:t> </a:t>
            </a:r>
            <a:r>
              <a:rPr lang="en-US" altLang="ko-KR" sz="1100" b="1" dirty="0" err="1">
                <a:solidFill>
                  <a:srgbClr val="CC0000"/>
                </a:solidFill>
                <a:latin typeface="arial" pitchFamily="34" charset="0"/>
                <a:ea typeface="맑은 고딕" pitchFamily="50" charset="-127"/>
              </a:rPr>
              <a:t>thường</a:t>
            </a:r>
            <a:r>
              <a:rPr lang="en-US" altLang="ko-KR" sz="1100" b="1" dirty="0">
                <a:solidFill>
                  <a:srgbClr val="CC0000"/>
                </a:solidFill>
                <a:latin typeface="arial" pitchFamily="34" charset="0"/>
                <a:ea typeface="맑은 고딕" pitchFamily="50" charset="-127"/>
              </a:rPr>
              <a:t>”.</a:t>
            </a:r>
            <a:endParaRPr lang="ko-KR" altLang="en-US" sz="1100" b="1" dirty="0">
              <a:solidFill>
                <a:srgbClr val="CC0000"/>
              </a:solidFill>
              <a:latin typeface="arial" pitchFamily="34" charset="0"/>
              <a:ea typeface="맑은 고딕" pitchFamily="50" charset="-127"/>
            </a:endParaRPr>
          </a:p>
        </p:txBody>
      </p:sp>
      <p:sp>
        <p:nvSpPr>
          <p:cNvPr id="30890" name="Oval 328"/>
          <p:cNvSpPr>
            <a:spLocks noChangeArrowheads="1"/>
          </p:cNvSpPr>
          <p:nvPr/>
        </p:nvSpPr>
        <p:spPr bwMode="auto">
          <a:xfrm>
            <a:off x="2178050" y="279241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891" name="Oval 329"/>
          <p:cNvSpPr>
            <a:spLocks noChangeArrowheads="1"/>
          </p:cNvSpPr>
          <p:nvPr/>
        </p:nvSpPr>
        <p:spPr bwMode="auto">
          <a:xfrm>
            <a:off x="2536825" y="256698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892" name="Oval 330"/>
          <p:cNvSpPr>
            <a:spLocks noChangeArrowheads="1"/>
          </p:cNvSpPr>
          <p:nvPr/>
        </p:nvSpPr>
        <p:spPr bwMode="auto">
          <a:xfrm>
            <a:off x="2889250" y="3070225"/>
            <a:ext cx="73025"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893" name="Oval 331"/>
          <p:cNvSpPr>
            <a:spLocks noChangeArrowheads="1"/>
          </p:cNvSpPr>
          <p:nvPr/>
        </p:nvSpPr>
        <p:spPr bwMode="auto">
          <a:xfrm>
            <a:off x="3238500" y="279241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894" name="Oval 332"/>
          <p:cNvSpPr>
            <a:spLocks noChangeArrowheads="1"/>
          </p:cNvSpPr>
          <p:nvPr/>
        </p:nvSpPr>
        <p:spPr bwMode="auto">
          <a:xfrm>
            <a:off x="3584575" y="242093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895" name="Oval 333"/>
          <p:cNvSpPr>
            <a:spLocks noChangeArrowheads="1"/>
          </p:cNvSpPr>
          <p:nvPr/>
        </p:nvSpPr>
        <p:spPr bwMode="auto">
          <a:xfrm>
            <a:off x="3954463" y="2781300"/>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896" name="Oval 334"/>
          <p:cNvSpPr>
            <a:spLocks noChangeArrowheads="1"/>
          </p:cNvSpPr>
          <p:nvPr/>
        </p:nvSpPr>
        <p:spPr bwMode="auto">
          <a:xfrm>
            <a:off x="4311650" y="307975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30897" name="AutoShape 335"/>
          <p:cNvCxnSpPr>
            <a:cxnSpLocks noChangeShapeType="1"/>
            <a:stCxn id="30890" idx="7"/>
            <a:endCxn id="30891" idx="3"/>
          </p:cNvCxnSpPr>
          <p:nvPr/>
        </p:nvCxnSpPr>
        <p:spPr bwMode="auto">
          <a:xfrm flipV="1">
            <a:off x="2238375" y="2627313"/>
            <a:ext cx="309563" cy="1762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898" name="AutoShape 336"/>
          <p:cNvCxnSpPr>
            <a:cxnSpLocks noChangeShapeType="1"/>
            <a:stCxn id="30891" idx="5"/>
            <a:endCxn id="30892" idx="2"/>
          </p:cNvCxnSpPr>
          <p:nvPr/>
        </p:nvCxnSpPr>
        <p:spPr bwMode="auto">
          <a:xfrm>
            <a:off x="2597150" y="2627313"/>
            <a:ext cx="292100" cy="4794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899" name="AutoShape 337"/>
          <p:cNvCxnSpPr>
            <a:cxnSpLocks noChangeShapeType="1"/>
            <a:stCxn id="30893" idx="7"/>
            <a:endCxn id="30894" idx="3"/>
          </p:cNvCxnSpPr>
          <p:nvPr/>
        </p:nvCxnSpPr>
        <p:spPr bwMode="auto">
          <a:xfrm flipV="1">
            <a:off x="3298825" y="2481263"/>
            <a:ext cx="296863" cy="3222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0" name="AutoShape 338"/>
          <p:cNvCxnSpPr>
            <a:cxnSpLocks noChangeShapeType="1"/>
            <a:stCxn id="30894" idx="5"/>
            <a:endCxn id="30895" idx="1"/>
          </p:cNvCxnSpPr>
          <p:nvPr/>
        </p:nvCxnSpPr>
        <p:spPr bwMode="auto">
          <a:xfrm>
            <a:off x="3644900" y="2481263"/>
            <a:ext cx="320675"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1" name="AutoShape 339"/>
          <p:cNvCxnSpPr>
            <a:cxnSpLocks noChangeShapeType="1"/>
            <a:stCxn id="30895" idx="5"/>
            <a:endCxn id="30896" idx="1"/>
          </p:cNvCxnSpPr>
          <p:nvPr/>
        </p:nvCxnSpPr>
        <p:spPr bwMode="auto">
          <a:xfrm>
            <a:off x="4014788" y="2841625"/>
            <a:ext cx="307975" cy="2492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02" name="Oval 340"/>
          <p:cNvSpPr>
            <a:spLocks noChangeArrowheads="1"/>
          </p:cNvSpPr>
          <p:nvPr/>
        </p:nvSpPr>
        <p:spPr bwMode="auto">
          <a:xfrm>
            <a:off x="4665663" y="27098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03" name="Oval 341"/>
          <p:cNvSpPr>
            <a:spLocks noChangeArrowheads="1"/>
          </p:cNvSpPr>
          <p:nvPr/>
        </p:nvSpPr>
        <p:spPr bwMode="auto">
          <a:xfrm>
            <a:off x="5026025" y="285432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04" name="Oval 342"/>
          <p:cNvSpPr>
            <a:spLocks noChangeArrowheads="1"/>
          </p:cNvSpPr>
          <p:nvPr/>
        </p:nvSpPr>
        <p:spPr bwMode="auto">
          <a:xfrm>
            <a:off x="5386388" y="3070225"/>
            <a:ext cx="73025"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05" name="Oval 343"/>
          <p:cNvSpPr>
            <a:spLocks noChangeArrowheads="1"/>
          </p:cNvSpPr>
          <p:nvPr/>
        </p:nvSpPr>
        <p:spPr bwMode="auto">
          <a:xfrm>
            <a:off x="5741988" y="29257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06" name="Oval 344"/>
          <p:cNvSpPr>
            <a:spLocks noChangeArrowheads="1"/>
          </p:cNvSpPr>
          <p:nvPr/>
        </p:nvSpPr>
        <p:spPr bwMode="auto">
          <a:xfrm>
            <a:off x="6105525" y="2854325"/>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30907" name="AutoShape 345"/>
          <p:cNvCxnSpPr>
            <a:cxnSpLocks noChangeShapeType="1"/>
            <a:stCxn id="30902" idx="5"/>
            <a:endCxn id="30903" idx="2"/>
          </p:cNvCxnSpPr>
          <p:nvPr/>
        </p:nvCxnSpPr>
        <p:spPr bwMode="auto">
          <a:xfrm>
            <a:off x="4725988" y="2770188"/>
            <a:ext cx="300037" cy="1206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8" name="AutoShape 346"/>
          <p:cNvCxnSpPr>
            <a:cxnSpLocks noChangeShapeType="1"/>
            <a:stCxn id="30903" idx="5"/>
            <a:endCxn id="30904" idx="2"/>
          </p:cNvCxnSpPr>
          <p:nvPr/>
        </p:nvCxnSpPr>
        <p:spPr bwMode="auto">
          <a:xfrm>
            <a:off x="5086350" y="2914650"/>
            <a:ext cx="300038"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9" name="AutoShape 347"/>
          <p:cNvCxnSpPr>
            <a:cxnSpLocks noChangeShapeType="1"/>
            <a:stCxn id="30892" idx="6"/>
            <a:endCxn id="30893" idx="3"/>
          </p:cNvCxnSpPr>
          <p:nvPr/>
        </p:nvCxnSpPr>
        <p:spPr bwMode="auto">
          <a:xfrm flipV="1">
            <a:off x="2962275" y="2852738"/>
            <a:ext cx="287338" cy="2540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0" name="AutoShape 348"/>
          <p:cNvCxnSpPr>
            <a:cxnSpLocks noChangeShapeType="1"/>
            <a:stCxn id="30896" idx="7"/>
            <a:endCxn id="30902" idx="3"/>
          </p:cNvCxnSpPr>
          <p:nvPr/>
        </p:nvCxnSpPr>
        <p:spPr bwMode="auto">
          <a:xfrm flipV="1">
            <a:off x="4371975" y="2770188"/>
            <a:ext cx="304800" cy="320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1" name="AutoShape 349"/>
          <p:cNvCxnSpPr>
            <a:cxnSpLocks noChangeShapeType="1"/>
            <a:stCxn id="30904" idx="6"/>
            <a:endCxn id="30905" idx="2"/>
          </p:cNvCxnSpPr>
          <p:nvPr/>
        </p:nvCxnSpPr>
        <p:spPr bwMode="auto">
          <a:xfrm flipV="1">
            <a:off x="5459413" y="2962275"/>
            <a:ext cx="282575"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2" name="AutoShape 350"/>
          <p:cNvCxnSpPr>
            <a:cxnSpLocks noChangeShapeType="1"/>
            <a:stCxn id="30905" idx="6"/>
            <a:endCxn id="30906" idx="2"/>
          </p:cNvCxnSpPr>
          <p:nvPr/>
        </p:nvCxnSpPr>
        <p:spPr bwMode="auto">
          <a:xfrm flipV="1">
            <a:off x="5813425" y="2890838"/>
            <a:ext cx="292100"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13" name="Oval 351"/>
          <p:cNvSpPr>
            <a:spLocks noChangeArrowheads="1"/>
          </p:cNvSpPr>
          <p:nvPr/>
        </p:nvSpPr>
        <p:spPr bwMode="auto">
          <a:xfrm>
            <a:off x="6443663" y="27098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14" name="Oval 352"/>
          <p:cNvSpPr>
            <a:spLocks noChangeArrowheads="1"/>
          </p:cNvSpPr>
          <p:nvPr/>
        </p:nvSpPr>
        <p:spPr bwMode="auto">
          <a:xfrm>
            <a:off x="6804025" y="29972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15" name="Oval 353"/>
          <p:cNvSpPr>
            <a:spLocks noChangeArrowheads="1"/>
          </p:cNvSpPr>
          <p:nvPr/>
        </p:nvSpPr>
        <p:spPr bwMode="auto">
          <a:xfrm>
            <a:off x="7151688" y="2781300"/>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16" name="Oval 354"/>
          <p:cNvSpPr>
            <a:spLocks noChangeArrowheads="1"/>
          </p:cNvSpPr>
          <p:nvPr/>
        </p:nvSpPr>
        <p:spPr bwMode="auto">
          <a:xfrm>
            <a:off x="7508875" y="314166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17" name="Oval 355"/>
          <p:cNvSpPr>
            <a:spLocks noChangeArrowheads="1"/>
          </p:cNvSpPr>
          <p:nvPr/>
        </p:nvSpPr>
        <p:spPr bwMode="auto">
          <a:xfrm>
            <a:off x="7866063" y="299878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0918" name="Oval 356"/>
          <p:cNvSpPr>
            <a:spLocks noChangeArrowheads="1"/>
          </p:cNvSpPr>
          <p:nvPr/>
        </p:nvSpPr>
        <p:spPr bwMode="auto">
          <a:xfrm>
            <a:off x="8228013" y="278288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30919" name="AutoShape 357"/>
          <p:cNvCxnSpPr>
            <a:cxnSpLocks noChangeShapeType="1"/>
            <a:stCxn id="30906" idx="6"/>
            <a:endCxn id="30913" idx="2"/>
          </p:cNvCxnSpPr>
          <p:nvPr/>
        </p:nvCxnSpPr>
        <p:spPr bwMode="auto">
          <a:xfrm flipV="1">
            <a:off x="6176963" y="2746375"/>
            <a:ext cx="266700"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0" name="AutoShape 358"/>
          <p:cNvCxnSpPr>
            <a:cxnSpLocks noChangeShapeType="1"/>
            <a:stCxn id="30913" idx="5"/>
            <a:endCxn id="30914" idx="2"/>
          </p:cNvCxnSpPr>
          <p:nvPr/>
        </p:nvCxnSpPr>
        <p:spPr bwMode="auto">
          <a:xfrm>
            <a:off x="6503988" y="2770188"/>
            <a:ext cx="300037"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1" name="AutoShape 359"/>
          <p:cNvCxnSpPr>
            <a:cxnSpLocks noChangeShapeType="1"/>
            <a:stCxn id="30914" idx="6"/>
            <a:endCxn id="30915" idx="3"/>
          </p:cNvCxnSpPr>
          <p:nvPr/>
        </p:nvCxnSpPr>
        <p:spPr bwMode="auto">
          <a:xfrm flipV="1">
            <a:off x="6875463" y="2841625"/>
            <a:ext cx="287337"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2" name="AutoShape 360"/>
          <p:cNvCxnSpPr>
            <a:cxnSpLocks noChangeShapeType="1"/>
            <a:stCxn id="30915" idx="5"/>
            <a:endCxn id="30916" idx="1"/>
          </p:cNvCxnSpPr>
          <p:nvPr/>
        </p:nvCxnSpPr>
        <p:spPr bwMode="auto">
          <a:xfrm>
            <a:off x="7212013" y="2841625"/>
            <a:ext cx="307975"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3" name="AutoShape 361"/>
          <p:cNvCxnSpPr>
            <a:cxnSpLocks noChangeShapeType="1"/>
            <a:stCxn id="30916" idx="6"/>
            <a:endCxn id="30917" idx="2"/>
          </p:cNvCxnSpPr>
          <p:nvPr/>
        </p:nvCxnSpPr>
        <p:spPr bwMode="auto">
          <a:xfrm flipV="1">
            <a:off x="7580313" y="3035300"/>
            <a:ext cx="285750" cy="1428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24" name="Oval 362"/>
          <p:cNvSpPr>
            <a:spLocks noChangeArrowheads="1"/>
          </p:cNvSpPr>
          <p:nvPr/>
        </p:nvSpPr>
        <p:spPr bwMode="auto">
          <a:xfrm>
            <a:off x="8575675" y="299878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30925" name="AutoShape 363"/>
          <p:cNvCxnSpPr>
            <a:cxnSpLocks noChangeShapeType="1"/>
            <a:stCxn id="30917" idx="7"/>
            <a:endCxn id="30918" idx="3"/>
          </p:cNvCxnSpPr>
          <p:nvPr/>
        </p:nvCxnSpPr>
        <p:spPr bwMode="auto">
          <a:xfrm flipV="1">
            <a:off x="7926388" y="2843213"/>
            <a:ext cx="312737" cy="1666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6" name="AutoShape 364"/>
          <p:cNvCxnSpPr>
            <a:cxnSpLocks noChangeShapeType="1"/>
            <a:stCxn id="30918" idx="5"/>
            <a:endCxn id="30924" idx="1"/>
          </p:cNvCxnSpPr>
          <p:nvPr/>
        </p:nvCxnSpPr>
        <p:spPr bwMode="auto">
          <a:xfrm>
            <a:off x="8288338" y="2843213"/>
            <a:ext cx="298450" cy="1666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27" name="Oval 365"/>
          <p:cNvSpPr>
            <a:spLocks noChangeArrowheads="1"/>
          </p:cNvSpPr>
          <p:nvPr/>
        </p:nvSpPr>
        <p:spPr bwMode="auto">
          <a:xfrm>
            <a:off x="3727450" y="2663825"/>
            <a:ext cx="5045075" cy="622300"/>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270</a:t>
            </a:fld>
            <a:endParaRPr lang="ko-KR" altLang="en-US" dirty="0"/>
          </a:p>
        </p:txBody>
      </p:sp>
      <p:sp>
        <p:nvSpPr>
          <p:cNvPr id="54" name="AutoShape 181"/>
          <p:cNvSpPr>
            <a:spLocks noChangeArrowheads="1"/>
          </p:cNvSpPr>
          <p:nvPr/>
        </p:nvSpPr>
        <p:spPr bwMode="auto">
          <a:xfrm>
            <a:off x="776288" y="4293096"/>
            <a:ext cx="1009650"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600" b="1" dirty="0">
                <a:latin typeface="arial" pitchFamily="34" charset="0"/>
                <a:ea typeface="맑은 고딕" pitchFamily="50" charset="-127"/>
              </a:rPr>
              <a:t>원인</a:t>
            </a:r>
          </a:p>
        </p:txBody>
      </p:sp>
      <p:sp>
        <p:nvSpPr>
          <p:cNvPr id="55" name="AutoShape 183"/>
          <p:cNvSpPr>
            <a:spLocks noChangeArrowheads="1"/>
          </p:cNvSpPr>
          <p:nvPr/>
        </p:nvSpPr>
        <p:spPr bwMode="auto">
          <a:xfrm>
            <a:off x="560512" y="4293096"/>
            <a:ext cx="1440160"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600" b="1" dirty="0" err="1">
                <a:latin typeface="arial" pitchFamily="34" charset="0"/>
                <a:ea typeface="맑은 고딕" pitchFamily="50" charset="-127"/>
              </a:rPr>
              <a:t>Nguyên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nhân</a:t>
            </a:r>
            <a:endParaRPr lang="ko-KR" altLang="en-US" sz="1600" b="1" dirty="0">
              <a:latin typeface="arial" pitchFamily="34" charset="0"/>
              <a:ea typeface="맑은 고딕" pitchFamily="50" charset="-127"/>
            </a:endParaRPr>
          </a:p>
        </p:txBody>
      </p:sp>
      <p:sp>
        <p:nvSpPr>
          <p:cNvPr id="56"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6.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Cách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đọc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3113112412"/>
      </p:ext>
    </p:extLst>
  </p:cSld>
  <p:clrMapOvr>
    <a:masterClrMapping/>
  </p:clrMapOvr>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Group 736"/>
          <p:cNvGraphicFramePr>
            <a:graphicFrameLocks noGrp="1"/>
          </p:cNvGraphicFramePr>
          <p:nvPr/>
        </p:nvGraphicFramePr>
        <p:xfrm>
          <a:off x="1352550" y="2201863"/>
          <a:ext cx="7415217" cy="1658940"/>
        </p:xfrm>
        <a:graphic>
          <a:graphicData uri="http://schemas.openxmlformats.org/drawingml/2006/table">
            <a:tbl>
              <a:tblPr/>
              <a:tblGrid>
                <a:gridCol w="915056">
                  <a:extLst>
                    <a:ext uri="{9D8B030D-6E8A-4147-A177-3AD203B41FA5}">
                      <a16:colId xmlns:a16="http://schemas.microsoft.com/office/drawing/2014/main" val="20000"/>
                    </a:ext>
                  </a:extLst>
                </a:gridCol>
                <a:gridCol w="433344">
                  <a:extLst>
                    <a:ext uri="{9D8B030D-6E8A-4147-A177-3AD203B41FA5}">
                      <a16:colId xmlns:a16="http://schemas.microsoft.com/office/drawing/2014/main" val="20001"/>
                    </a:ext>
                  </a:extLst>
                </a:gridCol>
                <a:gridCol w="433344">
                  <a:extLst>
                    <a:ext uri="{9D8B030D-6E8A-4147-A177-3AD203B41FA5}">
                      <a16:colId xmlns:a16="http://schemas.microsoft.com/office/drawing/2014/main" val="20002"/>
                    </a:ext>
                  </a:extLst>
                </a:gridCol>
                <a:gridCol w="433344">
                  <a:extLst>
                    <a:ext uri="{9D8B030D-6E8A-4147-A177-3AD203B41FA5}">
                      <a16:colId xmlns:a16="http://schemas.microsoft.com/office/drawing/2014/main" val="20003"/>
                    </a:ext>
                  </a:extLst>
                </a:gridCol>
                <a:gridCol w="433344">
                  <a:extLst>
                    <a:ext uri="{9D8B030D-6E8A-4147-A177-3AD203B41FA5}">
                      <a16:colId xmlns:a16="http://schemas.microsoft.com/office/drawing/2014/main" val="20004"/>
                    </a:ext>
                  </a:extLst>
                </a:gridCol>
                <a:gridCol w="435278">
                  <a:extLst>
                    <a:ext uri="{9D8B030D-6E8A-4147-A177-3AD203B41FA5}">
                      <a16:colId xmlns:a16="http://schemas.microsoft.com/office/drawing/2014/main" val="20005"/>
                    </a:ext>
                  </a:extLst>
                </a:gridCol>
                <a:gridCol w="431411">
                  <a:extLst>
                    <a:ext uri="{9D8B030D-6E8A-4147-A177-3AD203B41FA5}">
                      <a16:colId xmlns:a16="http://schemas.microsoft.com/office/drawing/2014/main" val="20006"/>
                    </a:ext>
                  </a:extLst>
                </a:gridCol>
                <a:gridCol w="433344">
                  <a:extLst>
                    <a:ext uri="{9D8B030D-6E8A-4147-A177-3AD203B41FA5}">
                      <a16:colId xmlns:a16="http://schemas.microsoft.com/office/drawing/2014/main" val="20007"/>
                    </a:ext>
                  </a:extLst>
                </a:gridCol>
                <a:gridCol w="433344">
                  <a:extLst>
                    <a:ext uri="{9D8B030D-6E8A-4147-A177-3AD203B41FA5}">
                      <a16:colId xmlns:a16="http://schemas.microsoft.com/office/drawing/2014/main" val="20008"/>
                    </a:ext>
                  </a:extLst>
                </a:gridCol>
                <a:gridCol w="433344">
                  <a:extLst>
                    <a:ext uri="{9D8B030D-6E8A-4147-A177-3AD203B41FA5}">
                      <a16:colId xmlns:a16="http://schemas.microsoft.com/office/drawing/2014/main" val="20009"/>
                    </a:ext>
                  </a:extLst>
                </a:gridCol>
                <a:gridCol w="433344">
                  <a:extLst>
                    <a:ext uri="{9D8B030D-6E8A-4147-A177-3AD203B41FA5}">
                      <a16:colId xmlns:a16="http://schemas.microsoft.com/office/drawing/2014/main" val="20010"/>
                    </a:ext>
                  </a:extLst>
                </a:gridCol>
                <a:gridCol w="433344">
                  <a:extLst>
                    <a:ext uri="{9D8B030D-6E8A-4147-A177-3AD203B41FA5}">
                      <a16:colId xmlns:a16="http://schemas.microsoft.com/office/drawing/2014/main" val="20011"/>
                    </a:ext>
                  </a:extLst>
                </a:gridCol>
                <a:gridCol w="433344">
                  <a:extLst>
                    <a:ext uri="{9D8B030D-6E8A-4147-A177-3AD203B41FA5}">
                      <a16:colId xmlns:a16="http://schemas.microsoft.com/office/drawing/2014/main" val="20012"/>
                    </a:ext>
                  </a:extLst>
                </a:gridCol>
                <a:gridCol w="433344">
                  <a:extLst>
                    <a:ext uri="{9D8B030D-6E8A-4147-A177-3AD203B41FA5}">
                      <a16:colId xmlns:a16="http://schemas.microsoft.com/office/drawing/2014/main" val="20013"/>
                    </a:ext>
                  </a:extLst>
                </a:gridCol>
                <a:gridCol w="433344">
                  <a:extLst>
                    <a:ext uri="{9D8B030D-6E8A-4147-A177-3AD203B41FA5}">
                      <a16:colId xmlns:a16="http://schemas.microsoft.com/office/drawing/2014/main" val="20014"/>
                    </a:ext>
                  </a:extLst>
                </a:gridCol>
                <a:gridCol w="433344">
                  <a:extLst>
                    <a:ext uri="{9D8B030D-6E8A-4147-A177-3AD203B41FA5}">
                      <a16:colId xmlns:a16="http://schemas.microsoft.com/office/drawing/2014/main" val="20015"/>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a:ln>
                            <a:noFill/>
                          </a:ln>
                          <a:solidFill>
                            <a:schemeClr val="tx1"/>
                          </a:solidFill>
                          <a:effectLst/>
                          <a:latin typeface="Arial" pitchFamily="34" charset="0"/>
                          <a:ea typeface="돋움" pitchFamily="50" charset="-127"/>
                        </a:rPr>
                        <a:t>C</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9996" marR="89996"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31867" name="Text Box 3"/>
          <p:cNvSpPr txBox="1">
            <a:spLocks noChangeArrowheads="1"/>
          </p:cNvSpPr>
          <p:nvPr/>
        </p:nvSpPr>
        <p:spPr bwMode="auto">
          <a:xfrm>
            <a:off x="762000" y="1628775"/>
            <a:ext cx="5064292"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pP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Từ</a:t>
            </a:r>
            <a:r>
              <a:rPr lang="en-US" altLang="ko-KR" sz="1600" b="1" dirty="0">
                <a:latin typeface="arial" pitchFamily="34" charset="0"/>
                <a:ea typeface="맑은 고딕" pitchFamily="50" charset="-127"/>
              </a:rPr>
              <a:t> 8 </a:t>
            </a:r>
            <a:r>
              <a:rPr lang="en-US" altLang="ko-KR" sz="1600" b="1" dirty="0" err="1">
                <a:latin typeface="arial" pitchFamily="34" charset="0"/>
                <a:ea typeface="맑은 고딕" pitchFamily="50" charset="-127"/>
              </a:rPr>
              <a:t>điểm</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trở</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xuất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hiện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liên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tục</a:t>
            </a:r>
            <a:r>
              <a:rPr lang="en-US" altLang="ko-KR" sz="1600" b="1" dirty="0">
                <a:latin typeface="arial" pitchFamily="34" charset="0"/>
                <a:ea typeface="맑은 고딕" pitchFamily="50" charset="-127"/>
              </a:rPr>
              <a:t> ở </a:t>
            </a:r>
            <a:r>
              <a:rPr lang="en-US" altLang="ko-KR" sz="1600" b="1" dirty="0" err="1">
                <a:latin typeface="arial" pitchFamily="34" charset="0"/>
                <a:ea typeface="맑은 고딕" pitchFamily="50" charset="-127"/>
              </a:rPr>
              <a:t>vùng</a:t>
            </a:r>
            <a:r>
              <a:rPr lang="en-US" altLang="ko-KR" sz="1600" b="1" dirty="0">
                <a:latin typeface="arial" pitchFamily="34" charset="0"/>
                <a:ea typeface="맑은 고딕" pitchFamily="50" charset="-127"/>
              </a:rPr>
              <a:t> A </a:t>
            </a:r>
            <a:r>
              <a:rPr lang="en-US" altLang="ko-KR" sz="1600" b="1" dirty="0" err="1">
                <a:latin typeface="arial" pitchFamily="34" charset="0"/>
                <a:ea typeface="맑은 고딕" pitchFamily="50" charset="-127"/>
              </a:rPr>
              <a:t>và</a:t>
            </a:r>
            <a:r>
              <a:rPr lang="en-US" altLang="ko-KR" sz="1600" b="1" dirty="0">
                <a:latin typeface="arial" pitchFamily="34" charset="0"/>
                <a:ea typeface="맑은 고딕" pitchFamily="50" charset="-127"/>
              </a:rPr>
              <a:t> B</a:t>
            </a:r>
            <a:endParaRPr lang="ko-KR" altLang="en-US" sz="1600" b="1" dirty="0">
              <a:latin typeface="arial" pitchFamily="34" charset="0"/>
              <a:ea typeface="맑은 고딕" pitchFamily="50" charset="-127"/>
            </a:endParaRPr>
          </a:p>
        </p:txBody>
      </p:sp>
      <p:sp>
        <p:nvSpPr>
          <p:cNvPr id="31868" name="Oval 126"/>
          <p:cNvSpPr>
            <a:spLocks noChangeArrowheads="1"/>
          </p:cNvSpPr>
          <p:nvPr/>
        </p:nvSpPr>
        <p:spPr bwMode="auto">
          <a:xfrm>
            <a:off x="2366963" y="3429000"/>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69" name="Oval 127"/>
          <p:cNvSpPr>
            <a:spLocks noChangeArrowheads="1"/>
          </p:cNvSpPr>
          <p:nvPr/>
        </p:nvSpPr>
        <p:spPr bwMode="auto">
          <a:xfrm>
            <a:off x="2865438" y="285273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70" name="Oval 128"/>
          <p:cNvSpPr>
            <a:spLocks noChangeArrowheads="1"/>
          </p:cNvSpPr>
          <p:nvPr/>
        </p:nvSpPr>
        <p:spPr bwMode="auto">
          <a:xfrm>
            <a:off x="3243263" y="263683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71" name="Oval 129"/>
          <p:cNvSpPr>
            <a:spLocks noChangeArrowheads="1"/>
          </p:cNvSpPr>
          <p:nvPr/>
        </p:nvSpPr>
        <p:spPr bwMode="auto">
          <a:xfrm>
            <a:off x="3681413" y="249237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72" name="Oval 130"/>
          <p:cNvSpPr>
            <a:spLocks noChangeArrowheads="1"/>
          </p:cNvSpPr>
          <p:nvPr/>
        </p:nvSpPr>
        <p:spPr bwMode="auto">
          <a:xfrm>
            <a:off x="4119563" y="2636838"/>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73" name="Oval 131"/>
          <p:cNvSpPr>
            <a:spLocks noChangeArrowheads="1"/>
          </p:cNvSpPr>
          <p:nvPr/>
        </p:nvSpPr>
        <p:spPr bwMode="auto">
          <a:xfrm>
            <a:off x="4559300" y="34290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74" name="Oval 132"/>
          <p:cNvSpPr>
            <a:spLocks noChangeArrowheads="1"/>
          </p:cNvSpPr>
          <p:nvPr/>
        </p:nvSpPr>
        <p:spPr bwMode="auto">
          <a:xfrm>
            <a:off x="4997450" y="3357563"/>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31875" name="AutoShape 133"/>
          <p:cNvCxnSpPr>
            <a:cxnSpLocks noChangeShapeType="1"/>
            <a:stCxn id="31868" idx="5"/>
            <a:endCxn id="31869" idx="2"/>
          </p:cNvCxnSpPr>
          <p:nvPr/>
        </p:nvCxnSpPr>
        <p:spPr bwMode="auto">
          <a:xfrm flipV="1">
            <a:off x="2427288" y="2889250"/>
            <a:ext cx="438150" cy="6000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6" name="AutoShape 134"/>
          <p:cNvCxnSpPr>
            <a:cxnSpLocks noChangeShapeType="1"/>
            <a:stCxn id="31869" idx="6"/>
            <a:endCxn id="31870" idx="3"/>
          </p:cNvCxnSpPr>
          <p:nvPr/>
        </p:nvCxnSpPr>
        <p:spPr bwMode="auto">
          <a:xfrm flipV="1">
            <a:off x="2936875" y="2697163"/>
            <a:ext cx="317500" cy="1920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7" name="AutoShape 135"/>
          <p:cNvCxnSpPr>
            <a:cxnSpLocks noChangeShapeType="1"/>
            <a:stCxn id="31871" idx="6"/>
            <a:endCxn id="31872" idx="2"/>
          </p:cNvCxnSpPr>
          <p:nvPr/>
        </p:nvCxnSpPr>
        <p:spPr bwMode="auto">
          <a:xfrm>
            <a:off x="3752850" y="2528888"/>
            <a:ext cx="366713" cy="1444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8" name="AutoShape 136"/>
          <p:cNvCxnSpPr>
            <a:cxnSpLocks noChangeShapeType="1"/>
            <a:stCxn id="31872" idx="5"/>
            <a:endCxn id="31873" idx="1"/>
          </p:cNvCxnSpPr>
          <p:nvPr/>
        </p:nvCxnSpPr>
        <p:spPr bwMode="auto">
          <a:xfrm>
            <a:off x="4179888" y="2697163"/>
            <a:ext cx="390525"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9" name="AutoShape 137"/>
          <p:cNvCxnSpPr>
            <a:cxnSpLocks noChangeShapeType="1"/>
            <a:stCxn id="31873" idx="6"/>
            <a:endCxn id="31874" idx="2"/>
          </p:cNvCxnSpPr>
          <p:nvPr/>
        </p:nvCxnSpPr>
        <p:spPr bwMode="auto">
          <a:xfrm flipV="1">
            <a:off x="4630738" y="3394075"/>
            <a:ext cx="366712" cy="71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80" name="Oval 138"/>
          <p:cNvSpPr>
            <a:spLocks noChangeArrowheads="1"/>
          </p:cNvSpPr>
          <p:nvPr/>
        </p:nvSpPr>
        <p:spPr bwMode="auto">
          <a:xfrm>
            <a:off x="5435600" y="25654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81" name="Oval 139"/>
          <p:cNvSpPr>
            <a:spLocks noChangeArrowheads="1"/>
          </p:cNvSpPr>
          <p:nvPr/>
        </p:nvSpPr>
        <p:spPr bwMode="auto">
          <a:xfrm>
            <a:off x="5873750" y="2349500"/>
            <a:ext cx="7143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82" name="Oval 140"/>
          <p:cNvSpPr>
            <a:spLocks noChangeArrowheads="1"/>
          </p:cNvSpPr>
          <p:nvPr/>
        </p:nvSpPr>
        <p:spPr bwMode="auto">
          <a:xfrm>
            <a:off x="6311900" y="263683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83" name="Oval 141"/>
          <p:cNvSpPr>
            <a:spLocks noChangeArrowheads="1"/>
          </p:cNvSpPr>
          <p:nvPr/>
        </p:nvSpPr>
        <p:spPr bwMode="auto">
          <a:xfrm>
            <a:off x="6751638" y="31416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884" name="Oval 142"/>
          <p:cNvSpPr>
            <a:spLocks noChangeArrowheads="1"/>
          </p:cNvSpPr>
          <p:nvPr/>
        </p:nvSpPr>
        <p:spPr bwMode="auto">
          <a:xfrm>
            <a:off x="7189788" y="3502025"/>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31885" name="AutoShape 143"/>
          <p:cNvCxnSpPr>
            <a:cxnSpLocks noChangeShapeType="1"/>
            <a:stCxn id="31880" idx="7"/>
            <a:endCxn id="31881" idx="2"/>
          </p:cNvCxnSpPr>
          <p:nvPr/>
        </p:nvCxnSpPr>
        <p:spPr bwMode="auto">
          <a:xfrm flipV="1">
            <a:off x="5495925" y="2386013"/>
            <a:ext cx="377825" cy="1905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86" name="AutoShape 144"/>
          <p:cNvCxnSpPr>
            <a:cxnSpLocks noChangeShapeType="1"/>
            <a:stCxn id="31881" idx="5"/>
            <a:endCxn id="31882" idx="2"/>
          </p:cNvCxnSpPr>
          <p:nvPr/>
        </p:nvCxnSpPr>
        <p:spPr bwMode="auto">
          <a:xfrm>
            <a:off x="5934075" y="2409825"/>
            <a:ext cx="377825"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87" name="Text Box 2"/>
          <p:cNvSpPr txBox="1">
            <a:spLocks noChangeArrowheads="1"/>
          </p:cNvSpPr>
          <p:nvPr/>
        </p:nvSpPr>
        <p:spPr bwMode="auto">
          <a:xfrm>
            <a:off x="920750" y="1052513"/>
            <a:ext cx="29803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r>
              <a:rPr lang="en-US" altLang="ko-KR" b="1" dirty="0">
                <a:latin typeface="arial" pitchFamily="34" charset="0"/>
                <a:ea typeface="맑은 고딕" pitchFamily="50" charset="-127"/>
              </a:rPr>
              <a:t>&lt; </a:t>
            </a:r>
            <a:r>
              <a:rPr lang="en-US" altLang="ko-KR" b="1" dirty="0" err="1">
                <a:latin typeface="arial" pitchFamily="34" charset="0"/>
                <a:ea typeface="맑은 고딕" pitchFamily="50" charset="-127"/>
              </a:rPr>
              <a:t>Khoảng</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phân</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bổ</a:t>
            </a:r>
            <a:r>
              <a:rPr lang="en-US" altLang="ko-KR" b="1" dirty="0">
                <a:latin typeface="arial" pitchFamily="34" charset="0"/>
                <a:ea typeface="맑은 고딕" pitchFamily="50" charset="-127"/>
              </a:rPr>
              <a:t> </a:t>
            </a:r>
            <a:r>
              <a:rPr lang="en-US" altLang="ko-KR" b="1" dirty="0" err="1">
                <a:latin typeface="arial" pitchFamily="34" charset="0"/>
                <a:ea typeface="맑은 고딕" pitchFamily="50" charset="-127"/>
              </a:rPr>
              <a:t>rộng</a:t>
            </a:r>
            <a:r>
              <a:rPr lang="ko-KR" altLang="en-US" b="1" dirty="0">
                <a:latin typeface="arial" pitchFamily="34" charset="0"/>
                <a:ea typeface="맑은 고딕" pitchFamily="50" charset="-127"/>
              </a:rPr>
              <a:t> </a:t>
            </a:r>
            <a:r>
              <a:rPr lang="en-US" altLang="ko-KR" b="1" dirty="0">
                <a:latin typeface="arial" pitchFamily="34" charset="0"/>
                <a:ea typeface="맑은 고딕" pitchFamily="50" charset="-127"/>
              </a:rPr>
              <a:t>&gt;</a:t>
            </a:r>
            <a:endParaRPr lang="ko-KR" altLang="en-US" b="1" dirty="0">
              <a:latin typeface="arial" pitchFamily="34" charset="0"/>
              <a:ea typeface="맑은 고딕" pitchFamily="50" charset="-127"/>
            </a:endParaRPr>
          </a:p>
        </p:txBody>
      </p:sp>
      <p:cxnSp>
        <p:nvCxnSpPr>
          <p:cNvPr id="31888" name="AutoShape 147"/>
          <p:cNvCxnSpPr>
            <a:cxnSpLocks noChangeShapeType="1"/>
            <a:stCxn id="31870" idx="7"/>
            <a:endCxn id="31871" idx="3"/>
          </p:cNvCxnSpPr>
          <p:nvPr/>
        </p:nvCxnSpPr>
        <p:spPr bwMode="auto">
          <a:xfrm flipV="1">
            <a:off x="3303588" y="2552700"/>
            <a:ext cx="388937" cy="952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89" name="AutoShape 148"/>
          <p:cNvCxnSpPr>
            <a:cxnSpLocks noChangeShapeType="1"/>
            <a:stCxn id="31874" idx="7"/>
            <a:endCxn id="31880" idx="3"/>
          </p:cNvCxnSpPr>
          <p:nvPr/>
        </p:nvCxnSpPr>
        <p:spPr bwMode="auto">
          <a:xfrm flipV="1">
            <a:off x="5057775" y="2625725"/>
            <a:ext cx="388938"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90" name="AutoShape 149"/>
          <p:cNvCxnSpPr>
            <a:cxnSpLocks noChangeShapeType="1"/>
            <a:stCxn id="31882" idx="5"/>
            <a:endCxn id="31883" idx="1"/>
          </p:cNvCxnSpPr>
          <p:nvPr/>
        </p:nvCxnSpPr>
        <p:spPr bwMode="auto">
          <a:xfrm>
            <a:off x="6372225" y="2697163"/>
            <a:ext cx="390525" cy="4540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91" name="AutoShape 150"/>
          <p:cNvCxnSpPr>
            <a:cxnSpLocks noChangeShapeType="1"/>
            <a:stCxn id="31883" idx="5"/>
            <a:endCxn id="31884" idx="2"/>
          </p:cNvCxnSpPr>
          <p:nvPr/>
        </p:nvCxnSpPr>
        <p:spPr bwMode="auto">
          <a:xfrm>
            <a:off x="6811963" y="3201988"/>
            <a:ext cx="377825" cy="3365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92" name="Text Box 151"/>
          <p:cNvSpPr txBox="1">
            <a:spLocks noChangeArrowheads="1"/>
          </p:cNvSpPr>
          <p:nvPr/>
        </p:nvSpPr>
        <p:spPr bwMode="auto">
          <a:xfrm>
            <a:off x="679450" y="2060575"/>
            <a:ext cx="6046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UCL</a:t>
            </a:r>
          </a:p>
        </p:txBody>
      </p:sp>
      <p:sp>
        <p:nvSpPr>
          <p:cNvPr id="31893" name="Text Box 152"/>
          <p:cNvSpPr txBox="1">
            <a:spLocks noChangeArrowheads="1"/>
          </p:cNvSpPr>
          <p:nvPr/>
        </p:nvSpPr>
        <p:spPr bwMode="auto">
          <a:xfrm>
            <a:off x="679450" y="3644900"/>
            <a:ext cx="582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LCL</a:t>
            </a:r>
          </a:p>
        </p:txBody>
      </p:sp>
      <p:sp>
        <p:nvSpPr>
          <p:cNvPr id="31895" name="Text Box 154"/>
          <p:cNvSpPr txBox="1">
            <a:spLocks noChangeArrowheads="1"/>
          </p:cNvSpPr>
          <p:nvPr/>
        </p:nvSpPr>
        <p:spPr bwMode="auto">
          <a:xfrm>
            <a:off x="754063" y="2852738"/>
            <a:ext cx="4571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600" b="1" dirty="0">
                <a:latin typeface="arial" pitchFamily="34" charset="0"/>
                <a:ea typeface="맑은 고딕" pitchFamily="50" charset="-127"/>
              </a:rPr>
              <a:t>CL</a:t>
            </a:r>
          </a:p>
        </p:txBody>
      </p:sp>
      <p:graphicFrame>
        <p:nvGraphicFramePr>
          <p:cNvPr id="33" name="Group 183"/>
          <p:cNvGraphicFramePr>
            <a:graphicFrameLocks noGrp="1"/>
          </p:cNvGraphicFramePr>
          <p:nvPr>
            <p:extLst>
              <p:ext uri="{D42A27DB-BD31-4B8C-83A1-F6EECF244321}">
                <p14:modId xmlns:p14="http://schemas.microsoft.com/office/powerpoint/2010/main" val="629516078"/>
              </p:ext>
            </p:extLst>
          </p:nvPr>
        </p:nvGraphicFramePr>
        <p:xfrm>
          <a:off x="703263" y="4732338"/>
          <a:ext cx="8064500" cy="1024545"/>
        </p:xfrm>
        <a:graphic>
          <a:graphicData uri="http://schemas.openxmlformats.org/drawingml/2006/table">
            <a:tbl>
              <a:tblPr/>
              <a:tblGrid>
                <a:gridCol w="1173163">
                  <a:extLst>
                    <a:ext uri="{9D8B030D-6E8A-4147-A177-3AD203B41FA5}">
                      <a16:colId xmlns:a16="http://schemas.microsoft.com/office/drawing/2014/main" val="20000"/>
                    </a:ext>
                  </a:extLst>
                </a:gridCol>
                <a:gridCol w="6891337">
                  <a:extLst>
                    <a:ext uri="{9D8B030D-6E8A-4147-A177-3AD203B41FA5}">
                      <a16:colId xmlns:a16="http://schemas.microsoft.com/office/drawing/2014/main" val="20001"/>
                    </a:ext>
                  </a:extLst>
                </a:gridCol>
              </a:tblGrid>
              <a:tr h="565149">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R</a:t>
                      </a:r>
                      <a:r>
                        <a:rPr kumimoji="1" lang="ko-KR" altLang="en-US" sz="1200" b="1"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Control Chart</a:t>
                      </a:r>
                      <a:endParaRPr kumimoji="1" lang="ko-KR" altLang="en-US"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Các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nhà</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cung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cấp</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khác</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nhau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công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nhân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kiểm</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soát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viên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dây</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chuyền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sản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xuất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trang</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thiết</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bị</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tiêu</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chí</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kiểm</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tra</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bị</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trộn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lẫn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err="1">
                          <a:ln>
                            <a:noFill/>
                          </a:ln>
                          <a:solidFill>
                            <a:schemeClr val="tx1"/>
                          </a:solidFill>
                          <a:effectLst/>
                          <a:latin typeface="Arial" pitchFamily="34" charset="0"/>
                          <a:ea typeface="돋움" pitchFamily="50" charset="-127"/>
                          <a:cs typeface="+mn-cs"/>
                        </a:rPr>
                        <a:t>Xbar</a:t>
                      </a: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 Control Chart</a:t>
                      </a:r>
                      <a:endParaRPr kumimoji="1" lang="ko-KR" altLang="en-US"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Như</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 </a:t>
                      </a:r>
                      <a:r>
                        <a:rPr kumimoji="1" lang="en-US" altLang="ko-KR" sz="1100" b="0" i="0" u="none" strike="noStrike" kern="1200" cap="none" normalizeH="0" baseline="0" dirty="0" err="1">
                          <a:ln>
                            <a:noFill/>
                          </a:ln>
                          <a:solidFill>
                            <a:schemeClr val="tx1"/>
                          </a:solidFill>
                          <a:effectLst/>
                          <a:latin typeface="Arial" pitchFamily="34" charset="0"/>
                          <a:ea typeface="돋움" pitchFamily="50" charset="-127"/>
                          <a:cs typeface="+mn-cs"/>
                        </a:rPr>
                        <a:t>trên</a:t>
                      </a:r>
                      <a:r>
                        <a:rPr kumimoji="1" lang="en-US" altLang="ko-KR" sz="1100" b="0" i="0" u="none" strike="noStrike" kern="1200" cap="none" normalizeH="0" baseline="0" dirty="0">
                          <a:ln>
                            <a:noFill/>
                          </a:ln>
                          <a:solidFill>
                            <a:schemeClr val="tx1"/>
                          </a:solidFill>
                          <a:effectLst/>
                          <a:latin typeface="Arial" pitchFamily="34" charset="0"/>
                          <a:ea typeface="돋움" pitchFamily="50" charset="-127"/>
                          <a:cs typeface="+mn-cs"/>
                        </a:rPr>
                        <a:t>.</a:t>
                      </a:r>
                      <a:endParaRPr kumimoji="1" lang="ko-KR" altLang="en-US" sz="1100" b="0" i="0" u="none" strike="noStrike" kern="1200" cap="none" normalizeH="0" baseline="0" dirty="0">
                        <a:ln>
                          <a:noFill/>
                        </a:ln>
                        <a:solidFill>
                          <a:schemeClr val="tx1"/>
                        </a:solidFill>
                        <a:effectLst/>
                        <a:latin typeface="Arial" pitchFamily="34" charset="0"/>
                        <a:ea typeface="돋움" pitchFamily="50" charset="-127"/>
                        <a:cs typeface="+mn-cs"/>
                      </a:endParaRPr>
                    </a:p>
                  </a:txBody>
                  <a:tcPr marL="90000" marR="90000"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1908" name="Oval 170"/>
          <p:cNvSpPr>
            <a:spLocks noChangeArrowheads="1"/>
          </p:cNvSpPr>
          <p:nvPr/>
        </p:nvSpPr>
        <p:spPr bwMode="auto">
          <a:xfrm>
            <a:off x="7627938" y="3357563"/>
            <a:ext cx="7143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909" name="Oval 171"/>
          <p:cNvSpPr>
            <a:spLocks noChangeArrowheads="1"/>
          </p:cNvSpPr>
          <p:nvPr/>
        </p:nvSpPr>
        <p:spPr bwMode="auto">
          <a:xfrm>
            <a:off x="8066088" y="2565400"/>
            <a:ext cx="71437"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31910" name="Oval 172"/>
          <p:cNvSpPr>
            <a:spLocks noChangeArrowheads="1"/>
          </p:cNvSpPr>
          <p:nvPr/>
        </p:nvSpPr>
        <p:spPr bwMode="auto">
          <a:xfrm>
            <a:off x="8505825" y="2636838"/>
            <a:ext cx="7143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cxnSp>
        <p:nvCxnSpPr>
          <p:cNvPr id="31911" name="AutoShape 173"/>
          <p:cNvCxnSpPr>
            <a:cxnSpLocks noChangeShapeType="1"/>
            <a:stCxn id="31884" idx="6"/>
            <a:endCxn id="31908" idx="2"/>
          </p:cNvCxnSpPr>
          <p:nvPr/>
        </p:nvCxnSpPr>
        <p:spPr bwMode="auto">
          <a:xfrm flipV="1">
            <a:off x="7261225" y="3394075"/>
            <a:ext cx="366713"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912" name="AutoShape 174"/>
          <p:cNvCxnSpPr>
            <a:cxnSpLocks noChangeShapeType="1"/>
            <a:stCxn id="31908" idx="7"/>
            <a:endCxn id="31909" idx="3"/>
          </p:cNvCxnSpPr>
          <p:nvPr/>
        </p:nvCxnSpPr>
        <p:spPr bwMode="auto">
          <a:xfrm flipV="1">
            <a:off x="7688263" y="2625725"/>
            <a:ext cx="388937"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913" name="AutoShape 175"/>
          <p:cNvCxnSpPr>
            <a:cxnSpLocks noChangeShapeType="1"/>
            <a:stCxn id="31909" idx="6"/>
            <a:endCxn id="31910" idx="2"/>
          </p:cNvCxnSpPr>
          <p:nvPr/>
        </p:nvCxnSpPr>
        <p:spPr bwMode="auto">
          <a:xfrm>
            <a:off x="8137525" y="2601913"/>
            <a:ext cx="368300"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914" name="Oval 176"/>
          <p:cNvSpPr>
            <a:spLocks noChangeArrowheads="1"/>
          </p:cNvSpPr>
          <p:nvPr/>
        </p:nvSpPr>
        <p:spPr bwMode="auto">
          <a:xfrm>
            <a:off x="3008313" y="2132013"/>
            <a:ext cx="3657600" cy="1512887"/>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ko-KR" altLang="en-US" sz="1200"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271</a:t>
            </a:fld>
            <a:endParaRPr lang="ko-KR" altLang="en-US" dirty="0"/>
          </a:p>
        </p:txBody>
      </p:sp>
      <p:sp>
        <p:nvSpPr>
          <p:cNvPr id="45" name="AutoShape 181"/>
          <p:cNvSpPr>
            <a:spLocks noChangeArrowheads="1"/>
          </p:cNvSpPr>
          <p:nvPr/>
        </p:nvSpPr>
        <p:spPr bwMode="auto">
          <a:xfrm>
            <a:off x="776288" y="4293096"/>
            <a:ext cx="1009650"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ko-KR" altLang="en-US" sz="1600" b="1" dirty="0">
                <a:latin typeface="arial" pitchFamily="34" charset="0"/>
                <a:ea typeface="맑은 고딕" pitchFamily="50" charset="-127"/>
              </a:rPr>
              <a:t>원인</a:t>
            </a:r>
          </a:p>
        </p:txBody>
      </p:sp>
      <p:sp>
        <p:nvSpPr>
          <p:cNvPr id="46" name="AutoShape 183"/>
          <p:cNvSpPr>
            <a:spLocks noChangeArrowheads="1"/>
          </p:cNvSpPr>
          <p:nvPr/>
        </p:nvSpPr>
        <p:spPr bwMode="auto">
          <a:xfrm>
            <a:off x="560512" y="4293096"/>
            <a:ext cx="1440160"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600" b="1" dirty="0" err="1">
                <a:latin typeface="arial" pitchFamily="34" charset="0"/>
                <a:ea typeface="맑은 고딕" pitchFamily="50" charset="-127"/>
              </a:rPr>
              <a:t>Nguyên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nhân</a:t>
            </a:r>
            <a:endParaRPr lang="ko-KR" altLang="en-US" sz="1600" b="1" dirty="0">
              <a:latin typeface="arial" pitchFamily="34" charset="0"/>
              <a:ea typeface="맑은 고딕" pitchFamily="50" charset="-127"/>
            </a:endParaRPr>
          </a:p>
        </p:txBody>
      </p:sp>
      <p:sp>
        <p:nvSpPr>
          <p:cNvPr id="47"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6.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Cách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đọc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biểu</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đồ</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kiểm</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soát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3960439750"/>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 name="Group 2263"/>
          <p:cNvGraphicFramePr>
            <a:graphicFrameLocks noGrp="1"/>
          </p:cNvGraphicFramePr>
          <p:nvPr>
            <p:extLst>
              <p:ext uri="{D42A27DB-BD31-4B8C-83A1-F6EECF244321}">
                <p14:modId xmlns:p14="http://schemas.microsoft.com/office/powerpoint/2010/main" val="3471012687"/>
              </p:ext>
            </p:extLst>
          </p:nvPr>
        </p:nvGraphicFramePr>
        <p:xfrm>
          <a:off x="130175" y="601384"/>
          <a:ext cx="9645650" cy="6194408"/>
        </p:xfrm>
        <a:graphic>
          <a:graphicData uri="http://schemas.openxmlformats.org/drawingml/2006/table">
            <a:tbl>
              <a:tblPr/>
              <a:tblGrid>
                <a:gridCol w="371475">
                  <a:extLst>
                    <a:ext uri="{9D8B030D-6E8A-4147-A177-3AD203B41FA5}">
                      <a16:colId xmlns:a16="http://schemas.microsoft.com/office/drawing/2014/main" val="20000"/>
                    </a:ext>
                  </a:extLst>
                </a:gridCol>
                <a:gridCol w="369888">
                  <a:extLst>
                    <a:ext uri="{9D8B030D-6E8A-4147-A177-3AD203B41FA5}">
                      <a16:colId xmlns:a16="http://schemas.microsoft.com/office/drawing/2014/main" val="20001"/>
                    </a:ext>
                  </a:extLst>
                </a:gridCol>
                <a:gridCol w="915987">
                  <a:extLst>
                    <a:ext uri="{9D8B030D-6E8A-4147-A177-3AD203B41FA5}">
                      <a16:colId xmlns:a16="http://schemas.microsoft.com/office/drawing/2014/main" val="20002"/>
                    </a:ext>
                  </a:extLst>
                </a:gridCol>
                <a:gridCol w="1800225">
                  <a:extLst>
                    <a:ext uri="{9D8B030D-6E8A-4147-A177-3AD203B41FA5}">
                      <a16:colId xmlns:a16="http://schemas.microsoft.com/office/drawing/2014/main" val="20003"/>
                    </a:ext>
                  </a:extLst>
                </a:gridCol>
                <a:gridCol w="1758950">
                  <a:extLst>
                    <a:ext uri="{9D8B030D-6E8A-4147-A177-3AD203B41FA5}">
                      <a16:colId xmlns:a16="http://schemas.microsoft.com/office/drawing/2014/main" val="20004"/>
                    </a:ext>
                  </a:extLst>
                </a:gridCol>
                <a:gridCol w="850900">
                  <a:extLst>
                    <a:ext uri="{9D8B030D-6E8A-4147-A177-3AD203B41FA5}">
                      <a16:colId xmlns:a16="http://schemas.microsoft.com/office/drawing/2014/main" val="20005"/>
                    </a:ext>
                  </a:extLst>
                </a:gridCol>
                <a:gridCol w="1925638">
                  <a:extLst>
                    <a:ext uri="{9D8B030D-6E8A-4147-A177-3AD203B41FA5}">
                      <a16:colId xmlns:a16="http://schemas.microsoft.com/office/drawing/2014/main" val="20006"/>
                    </a:ext>
                  </a:extLst>
                </a:gridCol>
                <a:gridCol w="1652587">
                  <a:extLst>
                    <a:ext uri="{9D8B030D-6E8A-4147-A177-3AD203B41FA5}">
                      <a16:colId xmlns:a16="http://schemas.microsoft.com/office/drawing/2014/main" val="20007"/>
                    </a:ext>
                  </a:extLst>
                </a:gridCol>
              </a:tblGrid>
              <a:tr h="281064">
                <a:tc gridSpan="3">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Loại</a:t>
                      </a:r>
                      <a:endParaRPr kumimoji="1" lang="ko-KR" altLang="en-US"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BE0E3"/>
                    </a:solidFill>
                  </a:tcPr>
                </a:tc>
                <a:tc hMerge="1">
                  <a:txBody>
                    <a:bodyPr/>
                    <a:lstStyle/>
                    <a:p>
                      <a:pPr latinLnBrk="1"/>
                      <a:endParaRPr lang="ko-KR" altLang="en-US"/>
                    </a:p>
                  </a:txBody>
                  <a:tcPr/>
                </a:tc>
                <a:tc h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Minh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họa</a:t>
                      </a:r>
                      <a:endParaRPr kumimoji="1" lang="ko-KR" altLang="en-US"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BE0E3"/>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Biểu</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hiện</a:t>
                      </a:r>
                      <a:endParaRPr kumimoji="1" lang="ko-KR" altLang="en-US"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BE0E3"/>
                    </a:solidFill>
                  </a:tcPr>
                </a:tc>
                <a:tc gridSpan="2">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Diễn</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giải</a:t>
                      </a:r>
                      <a:endParaRPr kumimoji="1" lang="ko-KR" altLang="en-US"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BE0E3"/>
                    </a:solidFill>
                  </a:tcPr>
                </a:tc>
                <a:tc h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Các</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yếu</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tố</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ảnh</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hưởng</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tới</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10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phối</a:t>
                      </a:r>
                      <a:endParaRPr kumimoji="1" lang="ko-KR" altLang="en-US"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BE0E3"/>
                    </a:solidFill>
                  </a:tcPr>
                </a:tc>
                <a:extLst>
                  <a:ext uri="{0D108BD9-81ED-4DB2-BD59-A6C34878D82A}">
                    <a16:rowId xmlns:a16="http://schemas.microsoft.com/office/drawing/2014/main" val="10000"/>
                  </a:ext>
                </a:extLst>
              </a:tr>
              <a:tr h="609787">
                <a:tc gridSpan="3">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Trạng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thái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ổn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định</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h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3">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 typeface="Wingdings" pitchFamily="2" charset="2"/>
                        <a:buChar char="§"/>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Không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có</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nằm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ngoài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giới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soát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 typeface="Wingdings" pitchFamily="2" charset="2"/>
                        <a:buChar char="§"/>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Không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có</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tính</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chất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nằm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sau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các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phối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 typeface="Wingdings" pitchFamily="2" charset="2"/>
                        <a:buChar char="§"/>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2/3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tổng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nằm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trong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vùng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±1σ,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còn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lại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1/3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số</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nằm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ngoài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vùng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±1σ.</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h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 typeface="Wingdings" pitchFamily="2" charset="2"/>
                        <a:buChar char="§"/>
                        <a:tabLst/>
                      </a:pP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Chỉ</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tồn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tại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nguyên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nhân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ngẫu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nhiên</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15585">
                <a:tc rowSpan="7">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Trạng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thái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bất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thường</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vert="vert27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2">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soát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giới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phạm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vi</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Giới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soát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trên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dưới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đã</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bị</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vượt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qua</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a:ln>
                            <a:noFill/>
                          </a:ln>
                          <a:solidFill>
                            <a:schemeClr val="tx1"/>
                          </a:solidFill>
                          <a:effectLst/>
                          <a:latin typeface="Arial" pitchFamily="34" charset="0"/>
                          <a:ea typeface="맑은 고딕" pitchFamily="50" charset="-127"/>
                          <a:cs typeface="Arial" pitchFamily="34" charset="0"/>
                        </a:rPr>
                        <a:t>A,B,C,D</a:t>
                      </a: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7">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biệt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do hit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hoặc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do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tính</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toán</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defRPr/>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B:</a:t>
                      </a: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vi-VN"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Thay đổi giữa các thành phần tại thời điểm cụ thể hoặc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gia</a:t>
                      </a:r>
                      <a:r>
                        <a:rPr kumimoji="1" lang="vi-VN"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tăng phân tán trong phân phối</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C: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Những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thay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đổi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trong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hệ</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thống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đo</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lường</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D:</a:t>
                      </a: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Năng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lực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của</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các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hệ</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thống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đo</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lường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là</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không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đủ</a:t>
                      </a:r>
                      <a:endPar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E: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các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yếu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tố</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không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nhất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quán</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thiết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bị</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hỏng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hóc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v.v</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F: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Thay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đổi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xảy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ra</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do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các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yếu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tố</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như</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Thay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đổi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nguyên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vật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G: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Trộn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lẫn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những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dữ</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không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đồng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nhất</a:t>
                      </a: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quá</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trình</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nguyên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vật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thô</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H: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Điều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chỉnh</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tài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I: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Giảm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rộng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trong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phối</a:t>
                      </a: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Giảm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độ</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tán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J: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Thay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đổi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trong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quá</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trình</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K:</a:t>
                      </a: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Những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điều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kiện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thuận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lợi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cho</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việc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cải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tiến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quá</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trình</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L:</a:t>
                      </a: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Sai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lầm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trong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phương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pháp</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lấy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mẫu</a:t>
                      </a:r>
                      <a:endPar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Vấn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đề</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về</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sự</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tầng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 typeface="Wingdings" pitchFamily="2" charset="2"/>
                        <a:buChar char="§"/>
                        <a:tabLst/>
                      </a:pP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Thiếu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kỹ</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năng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thiếu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cẩn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trọng</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 typeface="Wingdings" pitchFamily="2" charset="2"/>
                        <a:buChar char="§"/>
                        <a:tabLst/>
                      </a:pP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Lỗi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thiết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bị</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bảo</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dưỡng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không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đầy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đủ</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p>
                      <a:pPr marL="0" marR="0" lvl="0" indent="0" algn="l" defTabSz="914400" rtl="0" eaLnBrk="1" fontAlgn="base" latinLnBrk="1" hangingPunct="1">
                        <a:lnSpc>
                          <a:spcPct val="100000"/>
                        </a:lnSpc>
                        <a:spcBef>
                          <a:spcPct val="20000"/>
                        </a:spcBef>
                        <a:spcAft>
                          <a:spcPct val="0"/>
                        </a:spcAft>
                        <a:buClrTx/>
                        <a:buSzTx/>
                        <a:buFont typeface="Wingdings" pitchFamily="2" charset="2"/>
                        <a:buChar char="§"/>
                        <a:tabLst/>
                      </a:pPr>
                      <a:r>
                        <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Lỗi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do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nguyên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vật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liệu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thô</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15585">
                <a:tc vMerge="1">
                  <a:txBody>
                    <a:bodyPr/>
                    <a:lstStyle/>
                    <a:p>
                      <a:pPr latinLnBrk="1"/>
                      <a:endParaRPr lang="ko-KR" altLang="en-US"/>
                    </a:p>
                  </a:txBody>
                  <a:tcPr/>
                </a:tc>
                <a:tc gridSpan="2">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lang="en-US" altLang="ko-KR" sz="900" b="1" dirty="0" err="1">
                          <a:latin typeface="arial" pitchFamily="34" charset="0"/>
                          <a:ea typeface="맑은 고딕" pitchFamily="50" charset="-127"/>
                        </a:rPr>
                        <a:t>Chạy</a:t>
                      </a:r>
                      <a:endPar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1" i="0" u="none" strike="noStrike" cap="none" normalizeH="0" baseline="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eaLnBrk="1" fontAlgn="ctr" hangingPunct="1">
                        <a:spcBef>
                          <a:spcPct val="50000"/>
                        </a:spcBef>
                      </a:pPr>
                      <a:r>
                        <a:rPr lang="en-US" altLang="ko-KR" sz="900" b="1" dirty="0">
                          <a:latin typeface="arial" pitchFamily="34" charset="0"/>
                          <a:ea typeface="맑은 고딕" pitchFamily="50" charset="-127"/>
                        </a:rPr>
                        <a:t>9 </a:t>
                      </a:r>
                      <a:r>
                        <a:rPr lang="en-US" altLang="ko-KR" sz="900" b="1" dirty="0" err="1">
                          <a:latin typeface="arial" pitchFamily="34" charset="0"/>
                          <a:ea typeface="맑은 고딕" pitchFamily="50" charset="-127"/>
                        </a:rPr>
                        <a:t>điểmc</a:t>
                      </a:r>
                      <a:r>
                        <a:rPr lang="en-US" altLang="ko-KR" sz="900" b="1" dirty="0">
                          <a:latin typeface="arial" pitchFamily="34" charset="0"/>
                          <a:ea typeface="맑은 고딕" pitchFamily="50" charset="-127"/>
                        </a:rPr>
                        <a:t>(</a:t>
                      </a:r>
                      <a:r>
                        <a:rPr lang="en-US" altLang="ko-KR" sz="900" b="1" dirty="0" err="1">
                          <a:latin typeface="arial" pitchFamily="34" charset="0"/>
                          <a:ea typeface="맑은 고딕" pitchFamily="50" charset="-127"/>
                        </a:rPr>
                        <a:t>hoặc</a:t>
                      </a:r>
                      <a:r>
                        <a:rPr lang="en-US" altLang="ko-KR" sz="900" b="1" baseline="0" dirty="0">
                          <a:latin typeface="arial" pitchFamily="34" charset="0"/>
                          <a:ea typeface="맑은 고딕" pitchFamily="50" charset="-127"/>
                        </a:rPr>
                        <a:t> </a:t>
                      </a:r>
                      <a:r>
                        <a:rPr lang="en-US" altLang="ko-KR" sz="900" b="1" baseline="0" dirty="0" err="1">
                          <a:latin typeface="arial" pitchFamily="34" charset="0"/>
                          <a:ea typeface="맑은 고딕" pitchFamily="50" charset="-127"/>
                        </a:rPr>
                        <a:t>nhiều</a:t>
                      </a:r>
                      <a:r>
                        <a:rPr lang="en-US" altLang="ko-KR" sz="900" b="1" baseline="0" dirty="0">
                          <a:latin typeface="arial" pitchFamily="34" charset="0"/>
                          <a:ea typeface="맑은 고딕" pitchFamily="50" charset="-127"/>
                        </a:rPr>
                        <a:t> </a:t>
                      </a:r>
                      <a:r>
                        <a:rPr lang="en-US" altLang="ko-KR" sz="900" b="1" baseline="0" dirty="0" err="1">
                          <a:latin typeface="arial" pitchFamily="34" charset="0"/>
                          <a:ea typeface="맑은 고딕" pitchFamily="50" charset="-127"/>
                        </a:rPr>
                        <a:t>hơn</a:t>
                      </a:r>
                      <a:r>
                        <a:rPr lang="en-US" altLang="ko-KR" sz="900" b="1" baseline="0" dirty="0">
                          <a:latin typeface="arial" pitchFamily="34" charset="0"/>
                          <a:ea typeface="맑은 고딕" pitchFamily="50" charset="-127"/>
                        </a:rPr>
                        <a:t>)</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xuất</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hiện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liên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tiếp</a:t>
                      </a:r>
                      <a:r>
                        <a:rPr lang="en-US" altLang="ko-KR" sz="900" b="1" dirty="0">
                          <a:latin typeface="arial" pitchFamily="34" charset="0"/>
                          <a:ea typeface="맑은 고딕" pitchFamily="50" charset="-127"/>
                        </a:rPr>
                        <a:t> ở </a:t>
                      </a:r>
                      <a:r>
                        <a:rPr lang="en-US" altLang="ko-KR" sz="900" b="1" dirty="0" err="1">
                          <a:latin typeface="arial" pitchFamily="34" charset="0"/>
                          <a:ea typeface="맑은 고딕" pitchFamily="50" charset="-127"/>
                        </a:rPr>
                        <a:t>một</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bên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của</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đường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trung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tâm</a:t>
                      </a:r>
                      <a:endParaRPr lang="ko-KR" altLang="en-US" sz="900" b="1" dirty="0">
                        <a:latin typeface="arial" pitchFamily="34" charset="0"/>
                        <a:ea typeface="맑은 고딕" pitchFamily="50" charset="-127"/>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C,E,F,J,K</a:t>
                      </a: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Hầu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hết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những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thay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đổi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thông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thường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trong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quá</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trình</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đều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được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thể</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hiện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(P=0.57=0.0078)</a:t>
                      </a: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78999">
                <a:tc vMerge="1">
                  <a:txBody>
                    <a:bodyPr/>
                    <a:lstStyle/>
                    <a:p>
                      <a:pPr latinLnBrk="1"/>
                      <a:endParaRPr lang="ko-KR" altLang="en-US"/>
                    </a:p>
                  </a:txBody>
                  <a:tcPr/>
                </a:tc>
                <a:tc gridSpan="2">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lang="en-US" altLang="ko-KR" sz="900" b="1" dirty="0" err="1">
                          <a:latin typeface="arial" pitchFamily="34" charset="0"/>
                          <a:ea typeface="맑은 고딕" pitchFamily="50" charset="-127"/>
                        </a:rPr>
                        <a:t>Xu</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thế</a:t>
                      </a:r>
                      <a:r>
                        <a:rPr lang="ko-KR" altLang="en-US" sz="900" b="1" dirty="0">
                          <a:latin typeface="arial" pitchFamily="34" charset="0"/>
                          <a:ea typeface="맑은 고딕" pitchFamily="50" charset="-127"/>
                        </a:rPr>
                        <a:t> </a:t>
                      </a:r>
                      <a:endPar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1" i="0" u="none" strike="noStrike" cap="none" normalizeH="0" baseline="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6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tăng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tiếp</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c v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Lỗi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do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mang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thiết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bị</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làm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việc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mệt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mỏi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điều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kiện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môi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trường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máy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móc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hư</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hỏng</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2339">
                <a:tc vMerge="1">
                  <a:txBody>
                    <a:bodyPr/>
                    <a:lstStyle/>
                    <a:p>
                      <a:pPr latinLnBrk="1"/>
                      <a:endParaRPr lang="ko-KR" altLang="en-US"/>
                    </a:p>
                  </a:txBody>
                  <a:tcPr/>
                </a:tc>
                <a:tc rowSpan="4">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Đặc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tính</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không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xác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suất</a:t>
                      </a:r>
                      <a:b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b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Nonprobability</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Characteristic)</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vert="vert27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Chu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kỳ</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eaLnBrk="1" fontAlgn="ctr" hangingPunct="1">
                        <a:spcBef>
                          <a:spcPct val="50000"/>
                        </a:spcBef>
                      </a:pPr>
                      <a:r>
                        <a:rPr lang="en-US" altLang="ko-KR" sz="900" b="1" dirty="0">
                          <a:latin typeface="arial" pitchFamily="34" charset="0"/>
                          <a:ea typeface="맑은 고딕" pitchFamily="50" charset="-127"/>
                        </a:rPr>
                        <a:t>14 </a:t>
                      </a:r>
                      <a:r>
                        <a:rPr lang="en-US" altLang="ko-KR" sz="900" b="1" dirty="0" err="1">
                          <a:latin typeface="arial" pitchFamily="34" charset="0"/>
                          <a:ea typeface="맑은 고딕" pitchFamily="50" charset="-127"/>
                        </a:rPr>
                        <a:t>điểm</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biến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động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liên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tục</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về</a:t>
                      </a:r>
                      <a:r>
                        <a:rPr lang="en-US" altLang="ko-KR" sz="900" b="1" dirty="0">
                          <a:latin typeface="arial" pitchFamily="34" charset="0"/>
                          <a:ea typeface="맑은 고딕" pitchFamily="50" charset="-127"/>
                        </a:rPr>
                        <a:t> 2 </a:t>
                      </a:r>
                      <a:r>
                        <a:rPr lang="en-US" altLang="ko-KR" sz="900" b="1" dirty="0" err="1">
                          <a:latin typeface="arial" pitchFamily="34" charset="0"/>
                          <a:ea typeface="맑은 고딕" pitchFamily="50" charset="-127"/>
                        </a:rPr>
                        <a:t>phía</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của</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đường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trung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tâm</a:t>
                      </a:r>
                      <a:endParaRPr lang="ko-KR" altLang="en-US" sz="900" b="1" dirty="0">
                        <a:latin typeface="arial" pitchFamily="34" charset="0"/>
                        <a:ea typeface="맑은 고딕" pitchFamily="50" charset="-127"/>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L</a:t>
                      </a: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algn="l">
                        <a:buFont typeface="Wingdings" pitchFamily="2" charset="2"/>
                        <a:buNone/>
                      </a:pP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Thay</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đổi</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từ</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môi</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trường</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liên</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quan</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tới</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thời</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gian</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đo</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đạc</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sáng</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a:t>
                      </a:r>
                      <a:r>
                        <a:rPr kumimoji="1" lang="en-US" altLang="ko-KR" sz="900" b="1" i="0" u="none" strike="noStrike" kern="1200" cap="none" normalizeH="0" baseline="0" dirty="0" err="1">
                          <a:ln>
                            <a:noFill/>
                          </a:ln>
                          <a:solidFill>
                            <a:schemeClr val="tx1"/>
                          </a:solidFill>
                          <a:effectLst/>
                          <a:latin typeface="Arial" pitchFamily="34" charset="0"/>
                          <a:ea typeface="맑은 고딕" pitchFamily="50" charset="-127"/>
                          <a:cs typeface="Arial" pitchFamily="34" charset="0"/>
                        </a:rPr>
                        <a:t>chiều</a:t>
                      </a:r>
                      <a:r>
                        <a:rPr kumimoji="1" lang="en-US"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rPr>
                        <a:t>/…)</a:t>
                      </a:r>
                      <a:endParaRPr kumimoji="1" lang="ko-KR" altLang="ko-KR" sz="900" b="1" i="0" u="none" strike="noStrike" kern="1200"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25644">
                <a:tc vMerge="1">
                  <a:txBody>
                    <a:bodyPr/>
                    <a:lstStyle/>
                    <a:p>
                      <a:pPr latinLnBrk="1"/>
                      <a:endParaRPr lang="ko-KR" altLang="en-US"/>
                    </a:p>
                  </a:txBody>
                  <a:tcPr/>
                </a:tc>
                <a:tc v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lang="en-US" altLang="ko-KR" sz="900" b="1" dirty="0" err="1">
                          <a:latin typeface="arial" pitchFamily="34" charset="0"/>
                          <a:ea typeface="맑은 고딕" pitchFamily="50" charset="-127"/>
                        </a:rPr>
                        <a:t>Tiệm</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cận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với</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các</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giới</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hạn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kiểm</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soát</a:t>
                      </a:r>
                      <a:r>
                        <a:rPr lang="en-US" altLang="ko-KR" sz="900" b="1" dirty="0">
                          <a:latin typeface="arial" pitchFamily="34" charset="0"/>
                          <a:ea typeface="맑은 고딕" pitchFamily="50" charset="-127"/>
                        </a:rPr>
                        <a:t> </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eaLnBrk="1" fontAlgn="ctr" hangingPunct="1">
                        <a:spcBef>
                          <a:spcPts val="100"/>
                        </a:spcBef>
                      </a:pPr>
                      <a:r>
                        <a:rPr lang="en-US" altLang="ko-KR" sz="900" b="1" dirty="0" err="1">
                          <a:latin typeface="arial" pitchFamily="34" charset="0"/>
                          <a:ea typeface="맑은 고딕" pitchFamily="50" charset="-127"/>
                        </a:rPr>
                        <a:t>Trong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số</a:t>
                      </a:r>
                      <a:r>
                        <a:rPr lang="en-US" altLang="ko-KR" sz="900" b="1" dirty="0">
                          <a:latin typeface="arial" pitchFamily="34" charset="0"/>
                          <a:ea typeface="맑은 고딕" pitchFamily="50" charset="-127"/>
                        </a:rPr>
                        <a:t> 3 </a:t>
                      </a:r>
                      <a:r>
                        <a:rPr lang="en-US" altLang="ko-KR" sz="900" b="1" dirty="0" err="1">
                          <a:latin typeface="arial" pitchFamily="34" charset="0"/>
                          <a:ea typeface="맑은 고딕" pitchFamily="50" charset="-127"/>
                        </a:rPr>
                        <a:t>điểm</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liên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tiếp</a:t>
                      </a:r>
                      <a:r>
                        <a:rPr lang="en-US" altLang="ko-KR" sz="900" b="1" dirty="0">
                          <a:latin typeface="arial" pitchFamily="34" charset="0"/>
                          <a:ea typeface="맑은 고딕" pitchFamily="50" charset="-127"/>
                        </a:rPr>
                        <a:t>, 2 </a:t>
                      </a:r>
                      <a:r>
                        <a:rPr lang="en-US" altLang="ko-KR" sz="900" b="1" dirty="0" err="1">
                          <a:latin typeface="arial" pitchFamily="34" charset="0"/>
                          <a:ea typeface="맑은 고딕" pitchFamily="50" charset="-127"/>
                        </a:rPr>
                        <a:t>điểm</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xuất</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hiện</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cùng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một</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bên</a:t>
                      </a:r>
                      <a:r>
                        <a:rPr lang="en-US" altLang="ko-KR" sz="900" b="1" dirty="0">
                          <a:latin typeface="arial" pitchFamily="34" charset="0"/>
                          <a:ea typeface="맑은 고딕" pitchFamily="50" charset="-127"/>
                        </a:rPr>
                        <a:t> ở </a:t>
                      </a:r>
                      <a:r>
                        <a:rPr lang="en-US" altLang="ko-KR" sz="900" b="1" dirty="0" err="1">
                          <a:latin typeface="arial" pitchFamily="34" charset="0"/>
                          <a:ea typeface="맑은 고딕" pitchFamily="50" charset="-127"/>
                        </a:rPr>
                        <a:t>vùng</a:t>
                      </a:r>
                      <a:r>
                        <a:rPr lang="en-US" altLang="ko-KR" sz="900" b="1" dirty="0">
                          <a:latin typeface="arial" pitchFamily="34" charset="0"/>
                          <a:ea typeface="맑은 고딕" pitchFamily="50" charset="-127"/>
                        </a:rPr>
                        <a:t> A, </a:t>
                      </a:r>
                      <a:r>
                        <a:rPr lang="en-US" altLang="ko-KR" sz="900" b="1" dirty="0" err="1">
                          <a:latin typeface="arial" pitchFamily="34" charset="0"/>
                          <a:ea typeface="맑은 고딕" pitchFamily="50" charset="-127"/>
                        </a:rPr>
                        <a:t>hoặc</a:t>
                      </a:r>
                      <a:r>
                        <a:rPr lang="en-US" altLang="ko-KR" sz="900" b="1" dirty="0">
                          <a:latin typeface="arial" pitchFamily="34" charset="0"/>
                          <a:ea typeface="맑은 고딕" pitchFamily="50" charset="-127"/>
                        </a:rPr>
                        <a:t> 4 – 5 </a:t>
                      </a:r>
                      <a:r>
                        <a:rPr lang="en-US" altLang="ko-KR" sz="900" b="1" dirty="0" err="1">
                          <a:latin typeface="arial" pitchFamily="34" charset="0"/>
                          <a:ea typeface="맑은 고딕" pitchFamily="50" charset="-127"/>
                        </a:rPr>
                        <a:t>điểm</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cùng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một</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phía</a:t>
                      </a:r>
                      <a:r>
                        <a:rPr lang="en-US" altLang="ko-KR" sz="900" b="1" dirty="0">
                          <a:latin typeface="arial" pitchFamily="34" charset="0"/>
                          <a:ea typeface="맑은 고딕" pitchFamily="50" charset="-127"/>
                        </a:rPr>
                        <a:t> so </a:t>
                      </a:r>
                      <a:r>
                        <a:rPr lang="en-US" altLang="ko-KR" sz="900" b="1" dirty="0" err="1">
                          <a:latin typeface="arial" pitchFamily="34" charset="0"/>
                          <a:ea typeface="맑은 고딕" pitchFamily="50" charset="-127"/>
                        </a:rPr>
                        <a:t>với</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đường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trung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tâm</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và</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cùng</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nằm</a:t>
                      </a:r>
                      <a:r>
                        <a:rPr lang="en-US" altLang="ko-KR" sz="900" b="1" dirty="0">
                          <a:latin typeface="arial" pitchFamily="34" charset="0"/>
                          <a:ea typeface="맑은 고딕" pitchFamily="50" charset="-127"/>
                        </a:rPr>
                        <a:t> ở </a:t>
                      </a:r>
                      <a:r>
                        <a:rPr lang="en-US" altLang="ko-KR" sz="900" b="1" dirty="0" err="1">
                          <a:latin typeface="arial" pitchFamily="34" charset="0"/>
                          <a:ea typeface="맑은 고딕" pitchFamily="50" charset="-127"/>
                        </a:rPr>
                        <a:t>vùng</a:t>
                      </a:r>
                      <a:r>
                        <a:rPr lang="en-US" altLang="ko-KR" sz="900" b="1" dirty="0">
                          <a:latin typeface="arial" pitchFamily="34" charset="0"/>
                          <a:ea typeface="맑은 고딕" pitchFamily="50" charset="-127"/>
                        </a:rPr>
                        <a:t> B, </a:t>
                      </a:r>
                      <a:r>
                        <a:rPr lang="en-US" altLang="ko-KR" sz="900" b="1" dirty="0" err="1">
                          <a:latin typeface="arial" pitchFamily="34" charset="0"/>
                          <a:ea typeface="맑은 고딕" pitchFamily="50" charset="-127"/>
                        </a:rPr>
                        <a:t>hoặc</a:t>
                      </a:r>
                      <a:r>
                        <a:rPr lang="en-US" altLang="ko-KR" sz="900" b="1" dirty="0">
                          <a:latin typeface="arial" pitchFamily="34" charset="0"/>
                          <a:ea typeface="맑은 고딕" pitchFamily="50" charset="-127"/>
                        </a:rPr>
                        <a:t> </a:t>
                      </a:r>
                      <a:r>
                        <a:rPr lang="en-US" altLang="ko-KR" sz="900" b="1" dirty="0" err="1">
                          <a:latin typeface="arial" pitchFamily="34" charset="0"/>
                          <a:ea typeface="맑은 고딕" pitchFamily="50" charset="-127"/>
                        </a:rPr>
                        <a:t>hơn</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B,E,F</a:t>
                      </a: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25829">
                <a:tc vMerge="1">
                  <a:txBody>
                    <a:bodyPr/>
                    <a:lstStyle/>
                    <a:p>
                      <a:pPr latinLnBrk="1"/>
                      <a:endParaRPr lang="ko-KR" altLang="en-US"/>
                    </a:p>
                  </a:txBody>
                  <a:tcPr/>
                </a:tc>
                <a:tc v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Bám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sát</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đường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trung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tâm</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15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hoặc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hơn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nằm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trong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vùng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giới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±1σ</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A,G,H,I,K</a:t>
                      </a: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648072">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Khoảng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phân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bổ</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rộng</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latinLnBrk="1"/>
                      <a:endParaRPr lang="ko-KR" altLang="en-US" dirty="0">
                        <a:latin typeface="Arial" pitchFamily="34" charset="0"/>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8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điểm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hoặc</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nhiều</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hơn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nằm</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ngoài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vùng</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giới</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a:t>
                      </a:r>
                      <a:r>
                        <a:rPr kumimoji="1" lang="en-US" altLang="ko-KR" sz="900" b="1" i="0" u="none" strike="noStrike" cap="none" normalizeH="0" baseline="0" dirty="0" err="1">
                          <a:ln>
                            <a:noFill/>
                          </a:ln>
                          <a:solidFill>
                            <a:schemeClr val="tx1"/>
                          </a:solidFill>
                          <a:effectLst/>
                          <a:latin typeface="Arial" pitchFamily="34" charset="0"/>
                          <a:ea typeface="맑은 고딕" pitchFamily="50" charset="-127"/>
                          <a:cs typeface="Arial" pitchFamily="34" charset="0"/>
                        </a:rPr>
                        <a:t>hạn</a:t>
                      </a: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 ±1σ</a:t>
                      </a:r>
                      <a:endParaRPr kumimoji="1" lang="ko-KR" altLang="en-US" sz="900" b="1" i="0" u="none" strike="noStrike" cap="none" normalizeH="0" baseline="0" dirty="0">
                        <a:ln>
                          <a:noFill/>
                        </a:ln>
                        <a:solidFill>
                          <a:schemeClr val="tx1"/>
                        </a:solidFill>
                        <a:effectLst/>
                        <a:latin typeface="Arial" pitchFamily="34" charset="0"/>
                        <a:ea typeface="맑은 고딕" pitchFamily="50" charset="-127"/>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dirty="0">
                          <a:ln>
                            <a:noFill/>
                          </a:ln>
                          <a:solidFill>
                            <a:schemeClr val="tx1"/>
                          </a:solidFill>
                          <a:effectLst/>
                          <a:latin typeface="Arial" pitchFamily="34" charset="0"/>
                          <a:ea typeface="맑은 고딕" pitchFamily="50" charset="-127"/>
                          <a:cs typeface="Arial" pitchFamily="34" charset="0"/>
                        </a:rPr>
                        <a:t>A,G,F</a:t>
                      </a: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c>
                  <a:txBody>
                    <a:bodyPr/>
                    <a:lstStyle/>
                    <a:p>
                      <a:pPr latinLnBrk="1"/>
                      <a:endParaRPr lang="ko-KR" altLang="en-US" dirty="0">
                        <a:latin typeface="Arial" pitchFamily="34" charset="0"/>
                        <a:cs typeface="Arial" pitchFamily="34" charset="0"/>
                      </a:endParaRPr>
                    </a:p>
                  </a:txBody>
                  <a:tcPr marL="90000" marR="90000" marT="46812" marB="4681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grpSp>
        <p:nvGrpSpPr>
          <p:cNvPr id="3" name="Group 1659"/>
          <p:cNvGrpSpPr>
            <a:grpSpLocks/>
          </p:cNvGrpSpPr>
          <p:nvPr/>
        </p:nvGrpSpPr>
        <p:grpSpPr bwMode="auto">
          <a:xfrm>
            <a:off x="1854889" y="1090240"/>
            <a:ext cx="1660525" cy="511175"/>
            <a:chOff x="1218" y="891"/>
            <a:chExt cx="864" cy="370"/>
          </a:xfrm>
        </p:grpSpPr>
        <p:sp>
          <p:nvSpPr>
            <p:cNvPr id="575" name="Rectangle 1660"/>
            <p:cNvSpPr>
              <a:spLocks noChangeArrowheads="1"/>
            </p:cNvSpPr>
            <p:nvPr/>
          </p:nvSpPr>
          <p:spPr bwMode="auto">
            <a:xfrm>
              <a:off x="1226" y="891"/>
              <a:ext cx="849" cy="370"/>
            </a:xfrm>
            <a:prstGeom prst="rect">
              <a:avLst/>
            </a:prstGeom>
            <a:noFill/>
            <a:ln w="19050">
              <a:solidFill>
                <a:srgbClr val="000000"/>
              </a:solidFill>
              <a:miter lim="800000"/>
              <a:headEnd/>
              <a:tailEnd/>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76" name="Rectangle 1661"/>
            <p:cNvSpPr>
              <a:spLocks noChangeArrowheads="1"/>
            </p:cNvSpPr>
            <p:nvPr/>
          </p:nvSpPr>
          <p:spPr bwMode="auto">
            <a:xfrm>
              <a:off x="1218" y="937"/>
              <a:ext cx="25"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77" name="Rectangle 1662"/>
            <p:cNvSpPr>
              <a:spLocks noChangeArrowheads="1"/>
            </p:cNvSpPr>
            <p:nvPr/>
          </p:nvSpPr>
          <p:spPr bwMode="auto">
            <a:xfrm>
              <a:off x="1268" y="937"/>
              <a:ext cx="24"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78" name="Rectangle 1663"/>
            <p:cNvSpPr>
              <a:spLocks noChangeArrowheads="1"/>
            </p:cNvSpPr>
            <p:nvPr/>
          </p:nvSpPr>
          <p:spPr bwMode="auto">
            <a:xfrm>
              <a:off x="1317" y="937"/>
              <a:ext cx="24"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79" name="Rectangle 1664"/>
            <p:cNvSpPr>
              <a:spLocks noChangeArrowheads="1"/>
            </p:cNvSpPr>
            <p:nvPr/>
          </p:nvSpPr>
          <p:spPr bwMode="auto">
            <a:xfrm>
              <a:off x="1366" y="937"/>
              <a:ext cx="25"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0" name="Rectangle 1665"/>
            <p:cNvSpPr>
              <a:spLocks noChangeArrowheads="1"/>
            </p:cNvSpPr>
            <p:nvPr/>
          </p:nvSpPr>
          <p:spPr bwMode="auto">
            <a:xfrm>
              <a:off x="1415" y="937"/>
              <a:ext cx="2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1" name="Rectangle 1666"/>
            <p:cNvSpPr>
              <a:spLocks noChangeArrowheads="1"/>
            </p:cNvSpPr>
            <p:nvPr/>
          </p:nvSpPr>
          <p:spPr bwMode="auto">
            <a:xfrm>
              <a:off x="1464" y="937"/>
              <a:ext cx="25"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2" name="Rectangle 1667"/>
            <p:cNvSpPr>
              <a:spLocks noChangeArrowheads="1"/>
            </p:cNvSpPr>
            <p:nvPr/>
          </p:nvSpPr>
          <p:spPr bwMode="auto">
            <a:xfrm>
              <a:off x="1514" y="937"/>
              <a:ext cx="24"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3" name="Rectangle 1668"/>
            <p:cNvSpPr>
              <a:spLocks noChangeArrowheads="1"/>
            </p:cNvSpPr>
            <p:nvPr/>
          </p:nvSpPr>
          <p:spPr bwMode="auto">
            <a:xfrm>
              <a:off x="1563" y="937"/>
              <a:ext cx="24"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4" name="Rectangle 1669"/>
            <p:cNvSpPr>
              <a:spLocks noChangeArrowheads="1"/>
            </p:cNvSpPr>
            <p:nvPr/>
          </p:nvSpPr>
          <p:spPr bwMode="auto">
            <a:xfrm>
              <a:off x="1612" y="937"/>
              <a:ext cx="25"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5" name="Rectangle 1670"/>
            <p:cNvSpPr>
              <a:spLocks noChangeArrowheads="1"/>
            </p:cNvSpPr>
            <p:nvPr/>
          </p:nvSpPr>
          <p:spPr bwMode="auto">
            <a:xfrm>
              <a:off x="1661" y="937"/>
              <a:ext cx="2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6" name="Rectangle 1671"/>
            <p:cNvSpPr>
              <a:spLocks noChangeArrowheads="1"/>
            </p:cNvSpPr>
            <p:nvPr/>
          </p:nvSpPr>
          <p:spPr bwMode="auto">
            <a:xfrm>
              <a:off x="1710" y="937"/>
              <a:ext cx="25"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7" name="Rectangle 1672"/>
            <p:cNvSpPr>
              <a:spLocks noChangeArrowheads="1"/>
            </p:cNvSpPr>
            <p:nvPr/>
          </p:nvSpPr>
          <p:spPr bwMode="auto">
            <a:xfrm>
              <a:off x="1760" y="937"/>
              <a:ext cx="24"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8" name="Rectangle 1673"/>
            <p:cNvSpPr>
              <a:spLocks noChangeArrowheads="1"/>
            </p:cNvSpPr>
            <p:nvPr/>
          </p:nvSpPr>
          <p:spPr bwMode="auto">
            <a:xfrm>
              <a:off x="1809" y="937"/>
              <a:ext cx="2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89" name="Rectangle 1674"/>
            <p:cNvSpPr>
              <a:spLocks noChangeArrowheads="1"/>
            </p:cNvSpPr>
            <p:nvPr/>
          </p:nvSpPr>
          <p:spPr bwMode="auto">
            <a:xfrm>
              <a:off x="1858" y="937"/>
              <a:ext cx="25"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0" name="Rectangle 1675"/>
            <p:cNvSpPr>
              <a:spLocks noChangeArrowheads="1"/>
            </p:cNvSpPr>
            <p:nvPr/>
          </p:nvSpPr>
          <p:spPr bwMode="auto">
            <a:xfrm>
              <a:off x="1907" y="937"/>
              <a:ext cx="25"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1" name="Rectangle 1676"/>
            <p:cNvSpPr>
              <a:spLocks noChangeArrowheads="1"/>
            </p:cNvSpPr>
            <p:nvPr/>
          </p:nvSpPr>
          <p:spPr bwMode="auto">
            <a:xfrm>
              <a:off x="1956" y="937"/>
              <a:ext cx="2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2" name="Rectangle 1677"/>
            <p:cNvSpPr>
              <a:spLocks noChangeArrowheads="1"/>
            </p:cNvSpPr>
            <p:nvPr/>
          </p:nvSpPr>
          <p:spPr bwMode="auto">
            <a:xfrm>
              <a:off x="2006" y="937"/>
              <a:ext cx="24"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3" name="Rectangle 1678"/>
            <p:cNvSpPr>
              <a:spLocks noChangeArrowheads="1"/>
            </p:cNvSpPr>
            <p:nvPr/>
          </p:nvSpPr>
          <p:spPr bwMode="auto">
            <a:xfrm>
              <a:off x="2055" y="937"/>
              <a:ext cx="24"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4" name="Line 1679"/>
            <p:cNvSpPr>
              <a:spLocks noChangeShapeType="1"/>
            </p:cNvSpPr>
            <p:nvPr/>
          </p:nvSpPr>
          <p:spPr bwMode="auto">
            <a:xfrm>
              <a:off x="1220" y="1085"/>
              <a:ext cx="862" cy="1"/>
            </a:xfrm>
            <a:prstGeom prst="line">
              <a:avLst/>
            </a:prstGeom>
            <a:noFill/>
            <a:ln w="9525">
              <a:solidFill>
                <a:srgbClr val="000000"/>
              </a:solidFill>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595" name="Rectangle 1680"/>
            <p:cNvSpPr>
              <a:spLocks noChangeArrowheads="1"/>
            </p:cNvSpPr>
            <p:nvPr/>
          </p:nvSpPr>
          <p:spPr bwMode="auto">
            <a:xfrm>
              <a:off x="1218" y="1209"/>
              <a:ext cx="25"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6" name="Rectangle 1681"/>
            <p:cNvSpPr>
              <a:spLocks noChangeArrowheads="1"/>
            </p:cNvSpPr>
            <p:nvPr/>
          </p:nvSpPr>
          <p:spPr bwMode="auto">
            <a:xfrm>
              <a:off x="1268" y="1209"/>
              <a:ext cx="24"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7" name="Rectangle 1682"/>
            <p:cNvSpPr>
              <a:spLocks noChangeArrowheads="1"/>
            </p:cNvSpPr>
            <p:nvPr/>
          </p:nvSpPr>
          <p:spPr bwMode="auto">
            <a:xfrm>
              <a:off x="1317" y="1209"/>
              <a:ext cx="24"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8" name="Rectangle 1683"/>
            <p:cNvSpPr>
              <a:spLocks noChangeArrowheads="1"/>
            </p:cNvSpPr>
            <p:nvPr/>
          </p:nvSpPr>
          <p:spPr bwMode="auto">
            <a:xfrm>
              <a:off x="1366" y="1209"/>
              <a:ext cx="25"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599" name="Rectangle 1684"/>
            <p:cNvSpPr>
              <a:spLocks noChangeArrowheads="1"/>
            </p:cNvSpPr>
            <p:nvPr/>
          </p:nvSpPr>
          <p:spPr bwMode="auto">
            <a:xfrm>
              <a:off x="1415" y="1209"/>
              <a:ext cx="26"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0" name="Rectangle 1685"/>
            <p:cNvSpPr>
              <a:spLocks noChangeArrowheads="1"/>
            </p:cNvSpPr>
            <p:nvPr/>
          </p:nvSpPr>
          <p:spPr bwMode="auto">
            <a:xfrm>
              <a:off x="1464" y="1209"/>
              <a:ext cx="25"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1" name="Rectangle 1686"/>
            <p:cNvSpPr>
              <a:spLocks noChangeArrowheads="1"/>
            </p:cNvSpPr>
            <p:nvPr/>
          </p:nvSpPr>
          <p:spPr bwMode="auto">
            <a:xfrm>
              <a:off x="1514" y="1209"/>
              <a:ext cx="24"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2" name="Rectangle 1687"/>
            <p:cNvSpPr>
              <a:spLocks noChangeArrowheads="1"/>
            </p:cNvSpPr>
            <p:nvPr/>
          </p:nvSpPr>
          <p:spPr bwMode="auto">
            <a:xfrm>
              <a:off x="1563" y="1209"/>
              <a:ext cx="24"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3" name="Rectangle 1688"/>
            <p:cNvSpPr>
              <a:spLocks noChangeArrowheads="1"/>
            </p:cNvSpPr>
            <p:nvPr/>
          </p:nvSpPr>
          <p:spPr bwMode="auto">
            <a:xfrm>
              <a:off x="1612" y="1209"/>
              <a:ext cx="25"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4" name="Rectangle 1689"/>
            <p:cNvSpPr>
              <a:spLocks noChangeArrowheads="1"/>
            </p:cNvSpPr>
            <p:nvPr/>
          </p:nvSpPr>
          <p:spPr bwMode="auto">
            <a:xfrm>
              <a:off x="1661" y="1209"/>
              <a:ext cx="26"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5" name="Rectangle 1690"/>
            <p:cNvSpPr>
              <a:spLocks noChangeArrowheads="1"/>
            </p:cNvSpPr>
            <p:nvPr/>
          </p:nvSpPr>
          <p:spPr bwMode="auto">
            <a:xfrm>
              <a:off x="1710" y="1209"/>
              <a:ext cx="25"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6" name="Rectangle 1691"/>
            <p:cNvSpPr>
              <a:spLocks noChangeArrowheads="1"/>
            </p:cNvSpPr>
            <p:nvPr/>
          </p:nvSpPr>
          <p:spPr bwMode="auto">
            <a:xfrm>
              <a:off x="1760" y="1209"/>
              <a:ext cx="24"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7" name="Rectangle 1692"/>
            <p:cNvSpPr>
              <a:spLocks noChangeArrowheads="1"/>
            </p:cNvSpPr>
            <p:nvPr/>
          </p:nvSpPr>
          <p:spPr bwMode="auto">
            <a:xfrm>
              <a:off x="1809" y="1209"/>
              <a:ext cx="26"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8" name="Rectangle 1693"/>
            <p:cNvSpPr>
              <a:spLocks noChangeArrowheads="1"/>
            </p:cNvSpPr>
            <p:nvPr/>
          </p:nvSpPr>
          <p:spPr bwMode="auto">
            <a:xfrm>
              <a:off x="1858" y="1209"/>
              <a:ext cx="25"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09" name="Rectangle 1694"/>
            <p:cNvSpPr>
              <a:spLocks noChangeArrowheads="1"/>
            </p:cNvSpPr>
            <p:nvPr/>
          </p:nvSpPr>
          <p:spPr bwMode="auto">
            <a:xfrm>
              <a:off x="1907" y="1209"/>
              <a:ext cx="25"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10" name="Rectangle 1695"/>
            <p:cNvSpPr>
              <a:spLocks noChangeArrowheads="1"/>
            </p:cNvSpPr>
            <p:nvPr/>
          </p:nvSpPr>
          <p:spPr bwMode="auto">
            <a:xfrm>
              <a:off x="1956" y="1209"/>
              <a:ext cx="26"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11" name="Rectangle 1696"/>
            <p:cNvSpPr>
              <a:spLocks noChangeArrowheads="1"/>
            </p:cNvSpPr>
            <p:nvPr/>
          </p:nvSpPr>
          <p:spPr bwMode="auto">
            <a:xfrm>
              <a:off x="2006" y="1209"/>
              <a:ext cx="24"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12" name="Rectangle 1697"/>
            <p:cNvSpPr>
              <a:spLocks noChangeArrowheads="1"/>
            </p:cNvSpPr>
            <p:nvPr/>
          </p:nvSpPr>
          <p:spPr bwMode="auto">
            <a:xfrm>
              <a:off x="2055" y="1209"/>
              <a:ext cx="24"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13" name="Freeform 1698"/>
            <p:cNvSpPr>
              <a:spLocks/>
            </p:cNvSpPr>
            <p:nvPr/>
          </p:nvSpPr>
          <p:spPr bwMode="auto">
            <a:xfrm>
              <a:off x="1219" y="956"/>
              <a:ext cx="860" cy="200"/>
            </a:xfrm>
            <a:custGeom>
              <a:avLst/>
              <a:gdLst>
                <a:gd name="T0" fmla="*/ 0 w 1721"/>
                <a:gd name="T1" fmla="*/ 183 h 399"/>
                <a:gd name="T2" fmla="*/ 49 w 1721"/>
                <a:gd name="T3" fmla="*/ 327 h 399"/>
                <a:gd name="T4" fmla="*/ 83 w 1721"/>
                <a:gd name="T5" fmla="*/ 146 h 399"/>
                <a:gd name="T6" fmla="*/ 132 w 1721"/>
                <a:gd name="T7" fmla="*/ 218 h 399"/>
                <a:gd name="T8" fmla="*/ 165 w 1721"/>
                <a:gd name="T9" fmla="*/ 183 h 399"/>
                <a:gd name="T10" fmla="*/ 197 w 1721"/>
                <a:gd name="T11" fmla="*/ 291 h 399"/>
                <a:gd name="T12" fmla="*/ 231 w 1721"/>
                <a:gd name="T13" fmla="*/ 254 h 399"/>
                <a:gd name="T14" fmla="*/ 280 w 1721"/>
                <a:gd name="T15" fmla="*/ 0 h 399"/>
                <a:gd name="T16" fmla="*/ 312 w 1721"/>
                <a:gd name="T17" fmla="*/ 364 h 399"/>
                <a:gd name="T18" fmla="*/ 362 w 1721"/>
                <a:gd name="T19" fmla="*/ 254 h 399"/>
                <a:gd name="T20" fmla="*/ 394 w 1721"/>
                <a:gd name="T21" fmla="*/ 218 h 399"/>
                <a:gd name="T22" fmla="*/ 428 w 1721"/>
                <a:gd name="T23" fmla="*/ 146 h 399"/>
                <a:gd name="T24" fmla="*/ 460 w 1721"/>
                <a:gd name="T25" fmla="*/ 254 h 399"/>
                <a:gd name="T26" fmla="*/ 509 w 1721"/>
                <a:gd name="T27" fmla="*/ 327 h 399"/>
                <a:gd name="T28" fmla="*/ 558 w 1721"/>
                <a:gd name="T29" fmla="*/ 291 h 399"/>
                <a:gd name="T30" fmla="*/ 591 w 1721"/>
                <a:gd name="T31" fmla="*/ 291 h 399"/>
                <a:gd name="T32" fmla="*/ 672 w 1721"/>
                <a:gd name="T33" fmla="*/ 146 h 399"/>
                <a:gd name="T34" fmla="*/ 706 w 1721"/>
                <a:gd name="T35" fmla="*/ 291 h 399"/>
                <a:gd name="T36" fmla="*/ 787 w 1721"/>
                <a:gd name="T37" fmla="*/ 364 h 399"/>
                <a:gd name="T38" fmla="*/ 837 w 1721"/>
                <a:gd name="T39" fmla="*/ 218 h 399"/>
                <a:gd name="T40" fmla="*/ 854 w 1721"/>
                <a:gd name="T41" fmla="*/ 110 h 399"/>
                <a:gd name="T42" fmla="*/ 952 w 1721"/>
                <a:gd name="T43" fmla="*/ 327 h 399"/>
                <a:gd name="T44" fmla="*/ 1001 w 1721"/>
                <a:gd name="T45" fmla="*/ 183 h 399"/>
                <a:gd name="T46" fmla="*/ 1100 w 1721"/>
                <a:gd name="T47" fmla="*/ 327 h 399"/>
                <a:gd name="T48" fmla="*/ 1115 w 1721"/>
                <a:gd name="T49" fmla="*/ 291 h 399"/>
                <a:gd name="T50" fmla="*/ 1164 w 1721"/>
                <a:gd name="T51" fmla="*/ 327 h 399"/>
                <a:gd name="T52" fmla="*/ 1196 w 1721"/>
                <a:gd name="T53" fmla="*/ 183 h 399"/>
                <a:gd name="T54" fmla="*/ 1246 w 1721"/>
                <a:gd name="T55" fmla="*/ 218 h 399"/>
                <a:gd name="T56" fmla="*/ 1312 w 1721"/>
                <a:gd name="T57" fmla="*/ 110 h 399"/>
                <a:gd name="T58" fmla="*/ 1378 w 1721"/>
                <a:gd name="T59" fmla="*/ 399 h 399"/>
                <a:gd name="T60" fmla="*/ 1427 w 1721"/>
                <a:gd name="T61" fmla="*/ 218 h 399"/>
                <a:gd name="T62" fmla="*/ 1459 w 1721"/>
                <a:gd name="T63" fmla="*/ 254 h 399"/>
                <a:gd name="T64" fmla="*/ 1590 w 1721"/>
                <a:gd name="T65" fmla="*/ 146 h 399"/>
                <a:gd name="T66" fmla="*/ 1705 w 1721"/>
                <a:gd name="T67" fmla="*/ 399 h 399"/>
                <a:gd name="T68" fmla="*/ 1721 w 1721"/>
                <a:gd name="T69" fmla="*/ 254 h 3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21"/>
                <a:gd name="T106" fmla="*/ 0 h 399"/>
                <a:gd name="T107" fmla="*/ 1721 w 1721"/>
                <a:gd name="T108" fmla="*/ 399 h 3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21" h="399">
                  <a:moveTo>
                    <a:pt x="0" y="183"/>
                  </a:moveTo>
                  <a:lnTo>
                    <a:pt x="49" y="327"/>
                  </a:lnTo>
                  <a:lnTo>
                    <a:pt x="83" y="146"/>
                  </a:lnTo>
                  <a:lnTo>
                    <a:pt x="132" y="218"/>
                  </a:lnTo>
                  <a:lnTo>
                    <a:pt x="165" y="183"/>
                  </a:lnTo>
                  <a:lnTo>
                    <a:pt x="197" y="291"/>
                  </a:lnTo>
                  <a:lnTo>
                    <a:pt x="231" y="254"/>
                  </a:lnTo>
                  <a:lnTo>
                    <a:pt x="280" y="0"/>
                  </a:lnTo>
                  <a:lnTo>
                    <a:pt x="312" y="364"/>
                  </a:lnTo>
                  <a:lnTo>
                    <a:pt x="362" y="254"/>
                  </a:lnTo>
                  <a:lnTo>
                    <a:pt x="394" y="218"/>
                  </a:lnTo>
                  <a:lnTo>
                    <a:pt x="428" y="146"/>
                  </a:lnTo>
                  <a:lnTo>
                    <a:pt x="460" y="254"/>
                  </a:lnTo>
                  <a:lnTo>
                    <a:pt x="509" y="327"/>
                  </a:lnTo>
                  <a:lnTo>
                    <a:pt x="558" y="291"/>
                  </a:lnTo>
                  <a:lnTo>
                    <a:pt x="591" y="291"/>
                  </a:lnTo>
                  <a:lnTo>
                    <a:pt x="672" y="146"/>
                  </a:lnTo>
                  <a:lnTo>
                    <a:pt x="706" y="291"/>
                  </a:lnTo>
                  <a:lnTo>
                    <a:pt x="787" y="364"/>
                  </a:lnTo>
                  <a:lnTo>
                    <a:pt x="837" y="218"/>
                  </a:lnTo>
                  <a:lnTo>
                    <a:pt x="854" y="110"/>
                  </a:lnTo>
                  <a:lnTo>
                    <a:pt x="952" y="327"/>
                  </a:lnTo>
                  <a:lnTo>
                    <a:pt x="1001" y="183"/>
                  </a:lnTo>
                  <a:lnTo>
                    <a:pt x="1100" y="327"/>
                  </a:lnTo>
                  <a:lnTo>
                    <a:pt x="1115" y="291"/>
                  </a:lnTo>
                  <a:lnTo>
                    <a:pt x="1164" y="327"/>
                  </a:lnTo>
                  <a:lnTo>
                    <a:pt x="1196" y="183"/>
                  </a:lnTo>
                  <a:lnTo>
                    <a:pt x="1246" y="218"/>
                  </a:lnTo>
                  <a:lnTo>
                    <a:pt x="1312" y="110"/>
                  </a:lnTo>
                  <a:lnTo>
                    <a:pt x="1378" y="399"/>
                  </a:lnTo>
                  <a:lnTo>
                    <a:pt x="1427" y="218"/>
                  </a:lnTo>
                  <a:lnTo>
                    <a:pt x="1459" y="254"/>
                  </a:lnTo>
                  <a:lnTo>
                    <a:pt x="1590" y="146"/>
                  </a:lnTo>
                  <a:lnTo>
                    <a:pt x="1705" y="399"/>
                  </a:lnTo>
                  <a:lnTo>
                    <a:pt x="1721" y="254"/>
                  </a:lnTo>
                </a:path>
              </a:pathLst>
            </a:custGeom>
            <a:noFill/>
            <a:ln w="19050">
              <a:solidFill>
                <a:srgbClr val="000000"/>
              </a:solidFill>
              <a:prstDash val="solid"/>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grpSp>
      <p:grpSp>
        <p:nvGrpSpPr>
          <p:cNvPr id="4" name="Group 1699"/>
          <p:cNvGrpSpPr>
            <a:grpSpLocks/>
          </p:cNvGrpSpPr>
          <p:nvPr/>
        </p:nvGrpSpPr>
        <p:grpSpPr bwMode="auto">
          <a:xfrm>
            <a:off x="1854889" y="1925458"/>
            <a:ext cx="1658937" cy="511175"/>
            <a:chOff x="1219" y="1297"/>
            <a:chExt cx="862" cy="384"/>
          </a:xfrm>
        </p:grpSpPr>
        <p:sp>
          <p:nvSpPr>
            <p:cNvPr id="615" name="Rectangle 1700"/>
            <p:cNvSpPr>
              <a:spLocks noChangeArrowheads="1"/>
            </p:cNvSpPr>
            <p:nvPr/>
          </p:nvSpPr>
          <p:spPr bwMode="auto">
            <a:xfrm>
              <a:off x="1222" y="1297"/>
              <a:ext cx="857" cy="382"/>
            </a:xfrm>
            <a:prstGeom prst="rect">
              <a:avLst/>
            </a:prstGeom>
            <a:noFill/>
            <a:ln w="7938">
              <a:solidFill>
                <a:srgbClr val="000000"/>
              </a:solidFill>
              <a:miter lim="800000"/>
              <a:headEnd/>
              <a:tailEnd/>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16" name="Rectangle 1701"/>
            <p:cNvSpPr>
              <a:spLocks noChangeArrowheads="1"/>
            </p:cNvSpPr>
            <p:nvPr/>
          </p:nvSpPr>
          <p:spPr bwMode="auto">
            <a:xfrm>
              <a:off x="1219" y="1365"/>
              <a:ext cx="11"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17" name="Rectangle 1702"/>
            <p:cNvSpPr>
              <a:spLocks noChangeArrowheads="1"/>
            </p:cNvSpPr>
            <p:nvPr/>
          </p:nvSpPr>
          <p:spPr bwMode="auto">
            <a:xfrm>
              <a:off x="1240" y="1365"/>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18" name="Rectangle 1703"/>
            <p:cNvSpPr>
              <a:spLocks noChangeArrowheads="1"/>
            </p:cNvSpPr>
            <p:nvPr/>
          </p:nvSpPr>
          <p:spPr bwMode="auto">
            <a:xfrm>
              <a:off x="1261"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19" name="Rectangle 1704"/>
            <p:cNvSpPr>
              <a:spLocks noChangeArrowheads="1"/>
            </p:cNvSpPr>
            <p:nvPr/>
          </p:nvSpPr>
          <p:spPr bwMode="auto">
            <a:xfrm>
              <a:off x="1282"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0" name="Rectangle 1705"/>
            <p:cNvSpPr>
              <a:spLocks noChangeArrowheads="1"/>
            </p:cNvSpPr>
            <p:nvPr/>
          </p:nvSpPr>
          <p:spPr bwMode="auto">
            <a:xfrm>
              <a:off x="1302" y="1365"/>
              <a:ext cx="11"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1" name="Rectangle 1706"/>
            <p:cNvSpPr>
              <a:spLocks noChangeArrowheads="1"/>
            </p:cNvSpPr>
            <p:nvPr/>
          </p:nvSpPr>
          <p:spPr bwMode="auto">
            <a:xfrm>
              <a:off x="1323"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2" name="Rectangle 1707"/>
            <p:cNvSpPr>
              <a:spLocks noChangeArrowheads="1"/>
            </p:cNvSpPr>
            <p:nvPr/>
          </p:nvSpPr>
          <p:spPr bwMode="auto">
            <a:xfrm>
              <a:off x="1344"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3" name="Rectangle 1708"/>
            <p:cNvSpPr>
              <a:spLocks noChangeArrowheads="1"/>
            </p:cNvSpPr>
            <p:nvPr/>
          </p:nvSpPr>
          <p:spPr bwMode="auto">
            <a:xfrm>
              <a:off x="1365"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4" name="Rectangle 1709"/>
            <p:cNvSpPr>
              <a:spLocks noChangeArrowheads="1"/>
            </p:cNvSpPr>
            <p:nvPr/>
          </p:nvSpPr>
          <p:spPr bwMode="auto">
            <a:xfrm>
              <a:off x="1385" y="1365"/>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5" name="Rectangle 1710"/>
            <p:cNvSpPr>
              <a:spLocks noChangeArrowheads="1"/>
            </p:cNvSpPr>
            <p:nvPr/>
          </p:nvSpPr>
          <p:spPr bwMode="auto">
            <a:xfrm>
              <a:off x="1406"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6" name="Rectangle 1711"/>
            <p:cNvSpPr>
              <a:spLocks noChangeArrowheads="1"/>
            </p:cNvSpPr>
            <p:nvPr/>
          </p:nvSpPr>
          <p:spPr bwMode="auto">
            <a:xfrm>
              <a:off x="1427"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7" name="Rectangle 1712"/>
            <p:cNvSpPr>
              <a:spLocks noChangeArrowheads="1"/>
            </p:cNvSpPr>
            <p:nvPr/>
          </p:nvSpPr>
          <p:spPr bwMode="auto">
            <a:xfrm>
              <a:off x="1448"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8" name="Rectangle 1713"/>
            <p:cNvSpPr>
              <a:spLocks noChangeArrowheads="1"/>
            </p:cNvSpPr>
            <p:nvPr/>
          </p:nvSpPr>
          <p:spPr bwMode="auto">
            <a:xfrm>
              <a:off x="1468" y="1365"/>
              <a:ext cx="11"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29" name="Rectangle 1714"/>
            <p:cNvSpPr>
              <a:spLocks noChangeArrowheads="1"/>
            </p:cNvSpPr>
            <p:nvPr/>
          </p:nvSpPr>
          <p:spPr bwMode="auto">
            <a:xfrm>
              <a:off x="1489"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0" name="Rectangle 1715"/>
            <p:cNvSpPr>
              <a:spLocks noChangeArrowheads="1"/>
            </p:cNvSpPr>
            <p:nvPr/>
          </p:nvSpPr>
          <p:spPr bwMode="auto">
            <a:xfrm>
              <a:off x="1510"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1" name="Rectangle 1716"/>
            <p:cNvSpPr>
              <a:spLocks noChangeArrowheads="1"/>
            </p:cNvSpPr>
            <p:nvPr/>
          </p:nvSpPr>
          <p:spPr bwMode="auto">
            <a:xfrm>
              <a:off x="1531"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2" name="Rectangle 1717"/>
            <p:cNvSpPr>
              <a:spLocks noChangeArrowheads="1"/>
            </p:cNvSpPr>
            <p:nvPr/>
          </p:nvSpPr>
          <p:spPr bwMode="auto">
            <a:xfrm>
              <a:off x="1551" y="1365"/>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3" name="Rectangle 1718"/>
            <p:cNvSpPr>
              <a:spLocks noChangeArrowheads="1"/>
            </p:cNvSpPr>
            <p:nvPr/>
          </p:nvSpPr>
          <p:spPr bwMode="auto">
            <a:xfrm>
              <a:off x="1572"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4" name="Rectangle 1719"/>
            <p:cNvSpPr>
              <a:spLocks noChangeArrowheads="1"/>
            </p:cNvSpPr>
            <p:nvPr/>
          </p:nvSpPr>
          <p:spPr bwMode="auto">
            <a:xfrm>
              <a:off x="1593" y="1365"/>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5" name="Rectangle 1720"/>
            <p:cNvSpPr>
              <a:spLocks noChangeArrowheads="1"/>
            </p:cNvSpPr>
            <p:nvPr/>
          </p:nvSpPr>
          <p:spPr bwMode="auto">
            <a:xfrm>
              <a:off x="1614"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6" name="Rectangle 1721"/>
            <p:cNvSpPr>
              <a:spLocks noChangeArrowheads="1"/>
            </p:cNvSpPr>
            <p:nvPr/>
          </p:nvSpPr>
          <p:spPr bwMode="auto">
            <a:xfrm>
              <a:off x="1634" y="1365"/>
              <a:ext cx="11"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7" name="Rectangle 1722"/>
            <p:cNvSpPr>
              <a:spLocks noChangeArrowheads="1"/>
            </p:cNvSpPr>
            <p:nvPr/>
          </p:nvSpPr>
          <p:spPr bwMode="auto">
            <a:xfrm>
              <a:off x="1655"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8" name="Rectangle 1723"/>
            <p:cNvSpPr>
              <a:spLocks noChangeArrowheads="1"/>
            </p:cNvSpPr>
            <p:nvPr/>
          </p:nvSpPr>
          <p:spPr bwMode="auto">
            <a:xfrm>
              <a:off x="1676"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39" name="Rectangle 1724"/>
            <p:cNvSpPr>
              <a:spLocks noChangeArrowheads="1"/>
            </p:cNvSpPr>
            <p:nvPr/>
          </p:nvSpPr>
          <p:spPr bwMode="auto">
            <a:xfrm>
              <a:off x="1697" y="1365"/>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0" name="Rectangle 1725"/>
            <p:cNvSpPr>
              <a:spLocks noChangeArrowheads="1"/>
            </p:cNvSpPr>
            <p:nvPr/>
          </p:nvSpPr>
          <p:spPr bwMode="auto">
            <a:xfrm>
              <a:off x="1717" y="1365"/>
              <a:ext cx="11"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1" name="Rectangle 1726"/>
            <p:cNvSpPr>
              <a:spLocks noChangeArrowheads="1"/>
            </p:cNvSpPr>
            <p:nvPr/>
          </p:nvSpPr>
          <p:spPr bwMode="auto">
            <a:xfrm>
              <a:off x="1738"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2" name="Rectangle 1727"/>
            <p:cNvSpPr>
              <a:spLocks noChangeArrowheads="1"/>
            </p:cNvSpPr>
            <p:nvPr/>
          </p:nvSpPr>
          <p:spPr bwMode="auto">
            <a:xfrm>
              <a:off x="1759"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3" name="Rectangle 1728"/>
            <p:cNvSpPr>
              <a:spLocks noChangeArrowheads="1"/>
            </p:cNvSpPr>
            <p:nvPr/>
          </p:nvSpPr>
          <p:spPr bwMode="auto">
            <a:xfrm>
              <a:off x="1780"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4" name="Rectangle 1729"/>
            <p:cNvSpPr>
              <a:spLocks noChangeArrowheads="1"/>
            </p:cNvSpPr>
            <p:nvPr/>
          </p:nvSpPr>
          <p:spPr bwMode="auto">
            <a:xfrm>
              <a:off x="1800" y="1365"/>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5" name="Rectangle 1730"/>
            <p:cNvSpPr>
              <a:spLocks noChangeArrowheads="1"/>
            </p:cNvSpPr>
            <p:nvPr/>
          </p:nvSpPr>
          <p:spPr bwMode="auto">
            <a:xfrm>
              <a:off x="1821"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6" name="Rectangle 1731"/>
            <p:cNvSpPr>
              <a:spLocks noChangeArrowheads="1"/>
            </p:cNvSpPr>
            <p:nvPr/>
          </p:nvSpPr>
          <p:spPr bwMode="auto">
            <a:xfrm>
              <a:off x="1842"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7" name="Rectangle 1732"/>
            <p:cNvSpPr>
              <a:spLocks noChangeArrowheads="1"/>
            </p:cNvSpPr>
            <p:nvPr/>
          </p:nvSpPr>
          <p:spPr bwMode="auto">
            <a:xfrm>
              <a:off x="1863"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8" name="Rectangle 1733"/>
            <p:cNvSpPr>
              <a:spLocks noChangeArrowheads="1"/>
            </p:cNvSpPr>
            <p:nvPr/>
          </p:nvSpPr>
          <p:spPr bwMode="auto">
            <a:xfrm>
              <a:off x="1883" y="1365"/>
              <a:ext cx="11"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49" name="Rectangle 1734"/>
            <p:cNvSpPr>
              <a:spLocks noChangeArrowheads="1"/>
            </p:cNvSpPr>
            <p:nvPr/>
          </p:nvSpPr>
          <p:spPr bwMode="auto">
            <a:xfrm>
              <a:off x="1904" y="1365"/>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0" name="Rectangle 1735"/>
            <p:cNvSpPr>
              <a:spLocks noChangeArrowheads="1"/>
            </p:cNvSpPr>
            <p:nvPr/>
          </p:nvSpPr>
          <p:spPr bwMode="auto">
            <a:xfrm>
              <a:off x="1925"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1" name="Rectangle 1736"/>
            <p:cNvSpPr>
              <a:spLocks noChangeArrowheads="1"/>
            </p:cNvSpPr>
            <p:nvPr/>
          </p:nvSpPr>
          <p:spPr bwMode="auto">
            <a:xfrm>
              <a:off x="1946"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2" name="Rectangle 1737"/>
            <p:cNvSpPr>
              <a:spLocks noChangeArrowheads="1"/>
            </p:cNvSpPr>
            <p:nvPr/>
          </p:nvSpPr>
          <p:spPr bwMode="auto">
            <a:xfrm>
              <a:off x="1966" y="1365"/>
              <a:ext cx="11"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3" name="Rectangle 1738"/>
            <p:cNvSpPr>
              <a:spLocks noChangeArrowheads="1"/>
            </p:cNvSpPr>
            <p:nvPr/>
          </p:nvSpPr>
          <p:spPr bwMode="auto">
            <a:xfrm>
              <a:off x="1987"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4" name="Rectangle 1739"/>
            <p:cNvSpPr>
              <a:spLocks noChangeArrowheads="1"/>
            </p:cNvSpPr>
            <p:nvPr/>
          </p:nvSpPr>
          <p:spPr bwMode="auto">
            <a:xfrm>
              <a:off x="2008"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5" name="Rectangle 1740"/>
            <p:cNvSpPr>
              <a:spLocks noChangeArrowheads="1"/>
            </p:cNvSpPr>
            <p:nvPr/>
          </p:nvSpPr>
          <p:spPr bwMode="auto">
            <a:xfrm>
              <a:off x="2029"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6" name="Rectangle 1741"/>
            <p:cNvSpPr>
              <a:spLocks noChangeArrowheads="1"/>
            </p:cNvSpPr>
            <p:nvPr/>
          </p:nvSpPr>
          <p:spPr bwMode="auto">
            <a:xfrm>
              <a:off x="2049" y="1365"/>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7" name="Rectangle 1742"/>
            <p:cNvSpPr>
              <a:spLocks noChangeArrowheads="1"/>
            </p:cNvSpPr>
            <p:nvPr/>
          </p:nvSpPr>
          <p:spPr bwMode="auto">
            <a:xfrm>
              <a:off x="2070" y="1365"/>
              <a:ext cx="10"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58" name="Line 1743"/>
            <p:cNvSpPr>
              <a:spLocks noChangeShapeType="1"/>
            </p:cNvSpPr>
            <p:nvPr/>
          </p:nvSpPr>
          <p:spPr bwMode="auto">
            <a:xfrm>
              <a:off x="1220" y="1499"/>
              <a:ext cx="861" cy="0"/>
            </a:xfrm>
            <a:prstGeom prst="line">
              <a:avLst/>
            </a:prstGeom>
            <a:noFill/>
            <a:ln w="4763">
              <a:solidFill>
                <a:srgbClr val="000000"/>
              </a:solidFill>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659" name="Rectangle 1744"/>
            <p:cNvSpPr>
              <a:spLocks noChangeArrowheads="1"/>
            </p:cNvSpPr>
            <p:nvPr/>
          </p:nvSpPr>
          <p:spPr bwMode="auto">
            <a:xfrm>
              <a:off x="1219" y="1609"/>
              <a:ext cx="11"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0" name="Rectangle 1745"/>
            <p:cNvSpPr>
              <a:spLocks noChangeArrowheads="1"/>
            </p:cNvSpPr>
            <p:nvPr/>
          </p:nvSpPr>
          <p:spPr bwMode="auto">
            <a:xfrm>
              <a:off x="1240" y="1609"/>
              <a:ext cx="12"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1" name="Rectangle 1746"/>
            <p:cNvSpPr>
              <a:spLocks noChangeArrowheads="1"/>
            </p:cNvSpPr>
            <p:nvPr/>
          </p:nvSpPr>
          <p:spPr bwMode="auto">
            <a:xfrm>
              <a:off x="1261"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2" name="Rectangle 1747"/>
            <p:cNvSpPr>
              <a:spLocks noChangeArrowheads="1"/>
            </p:cNvSpPr>
            <p:nvPr/>
          </p:nvSpPr>
          <p:spPr bwMode="auto">
            <a:xfrm>
              <a:off x="1282"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3" name="Rectangle 1748"/>
            <p:cNvSpPr>
              <a:spLocks noChangeArrowheads="1"/>
            </p:cNvSpPr>
            <p:nvPr/>
          </p:nvSpPr>
          <p:spPr bwMode="auto">
            <a:xfrm>
              <a:off x="1302" y="1609"/>
              <a:ext cx="11"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4" name="Rectangle 1749"/>
            <p:cNvSpPr>
              <a:spLocks noChangeArrowheads="1"/>
            </p:cNvSpPr>
            <p:nvPr/>
          </p:nvSpPr>
          <p:spPr bwMode="auto">
            <a:xfrm>
              <a:off x="1323"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5" name="Rectangle 1750"/>
            <p:cNvSpPr>
              <a:spLocks noChangeArrowheads="1"/>
            </p:cNvSpPr>
            <p:nvPr/>
          </p:nvSpPr>
          <p:spPr bwMode="auto">
            <a:xfrm>
              <a:off x="1344"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6" name="Rectangle 1751"/>
            <p:cNvSpPr>
              <a:spLocks noChangeArrowheads="1"/>
            </p:cNvSpPr>
            <p:nvPr/>
          </p:nvSpPr>
          <p:spPr bwMode="auto">
            <a:xfrm>
              <a:off x="1365"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7" name="Rectangle 1752"/>
            <p:cNvSpPr>
              <a:spLocks noChangeArrowheads="1"/>
            </p:cNvSpPr>
            <p:nvPr/>
          </p:nvSpPr>
          <p:spPr bwMode="auto">
            <a:xfrm>
              <a:off x="1385" y="1609"/>
              <a:ext cx="12"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8" name="Rectangle 1753"/>
            <p:cNvSpPr>
              <a:spLocks noChangeArrowheads="1"/>
            </p:cNvSpPr>
            <p:nvPr/>
          </p:nvSpPr>
          <p:spPr bwMode="auto">
            <a:xfrm>
              <a:off x="1406"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69" name="Rectangle 1754"/>
            <p:cNvSpPr>
              <a:spLocks noChangeArrowheads="1"/>
            </p:cNvSpPr>
            <p:nvPr/>
          </p:nvSpPr>
          <p:spPr bwMode="auto">
            <a:xfrm>
              <a:off x="1427"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0" name="Rectangle 1755"/>
            <p:cNvSpPr>
              <a:spLocks noChangeArrowheads="1"/>
            </p:cNvSpPr>
            <p:nvPr/>
          </p:nvSpPr>
          <p:spPr bwMode="auto">
            <a:xfrm>
              <a:off x="1448"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1" name="Rectangle 1756"/>
            <p:cNvSpPr>
              <a:spLocks noChangeArrowheads="1"/>
            </p:cNvSpPr>
            <p:nvPr/>
          </p:nvSpPr>
          <p:spPr bwMode="auto">
            <a:xfrm>
              <a:off x="1468" y="1609"/>
              <a:ext cx="11"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2" name="Rectangle 1757"/>
            <p:cNvSpPr>
              <a:spLocks noChangeArrowheads="1"/>
            </p:cNvSpPr>
            <p:nvPr/>
          </p:nvSpPr>
          <p:spPr bwMode="auto">
            <a:xfrm>
              <a:off x="1489"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3" name="Rectangle 1758"/>
            <p:cNvSpPr>
              <a:spLocks noChangeArrowheads="1"/>
            </p:cNvSpPr>
            <p:nvPr/>
          </p:nvSpPr>
          <p:spPr bwMode="auto">
            <a:xfrm>
              <a:off x="1510"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4" name="Rectangle 1759"/>
            <p:cNvSpPr>
              <a:spLocks noChangeArrowheads="1"/>
            </p:cNvSpPr>
            <p:nvPr/>
          </p:nvSpPr>
          <p:spPr bwMode="auto">
            <a:xfrm>
              <a:off x="1531"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5" name="Rectangle 1760"/>
            <p:cNvSpPr>
              <a:spLocks noChangeArrowheads="1"/>
            </p:cNvSpPr>
            <p:nvPr/>
          </p:nvSpPr>
          <p:spPr bwMode="auto">
            <a:xfrm>
              <a:off x="1551" y="1609"/>
              <a:ext cx="12"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6" name="Rectangle 1761"/>
            <p:cNvSpPr>
              <a:spLocks noChangeArrowheads="1"/>
            </p:cNvSpPr>
            <p:nvPr/>
          </p:nvSpPr>
          <p:spPr bwMode="auto">
            <a:xfrm>
              <a:off x="1572"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7" name="Rectangle 1762"/>
            <p:cNvSpPr>
              <a:spLocks noChangeArrowheads="1"/>
            </p:cNvSpPr>
            <p:nvPr/>
          </p:nvSpPr>
          <p:spPr bwMode="auto">
            <a:xfrm>
              <a:off x="1593" y="1609"/>
              <a:ext cx="12"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8" name="Rectangle 1763"/>
            <p:cNvSpPr>
              <a:spLocks noChangeArrowheads="1"/>
            </p:cNvSpPr>
            <p:nvPr/>
          </p:nvSpPr>
          <p:spPr bwMode="auto">
            <a:xfrm>
              <a:off x="1614"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79" name="Rectangle 1764"/>
            <p:cNvSpPr>
              <a:spLocks noChangeArrowheads="1"/>
            </p:cNvSpPr>
            <p:nvPr/>
          </p:nvSpPr>
          <p:spPr bwMode="auto">
            <a:xfrm>
              <a:off x="1634" y="1609"/>
              <a:ext cx="11"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0" name="Rectangle 1765"/>
            <p:cNvSpPr>
              <a:spLocks noChangeArrowheads="1"/>
            </p:cNvSpPr>
            <p:nvPr/>
          </p:nvSpPr>
          <p:spPr bwMode="auto">
            <a:xfrm>
              <a:off x="1655"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1" name="Rectangle 1766"/>
            <p:cNvSpPr>
              <a:spLocks noChangeArrowheads="1"/>
            </p:cNvSpPr>
            <p:nvPr/>
          </p:nvSpPr>
          <p:spPr bwMode="auto">
            <a:xfrm>
              <a:off x="1676"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2" name="Rectangle 1767"/>
            <p:cNvSpPr>
              <a:spLocks noChangeArrowheads="1"/>
            </p:cNvSpPr>
            <p:nvPr/>
          </p:nvSpPr>
          <p:spPr bwMode="auto">
            <a:xfrm>
              <a:off x="1697" y="1609"/>
              <a:ext cx="12"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3" name="Rectangle 1768"/>
            <p:cNvSpPr>
              <a:spLocks noChangeArrowheads="1"/>
            </p:cNvSpPr>
            <p:nvPr/>
          </p:nvSpPr>
          <p:spPr bwMode="auto">
            <a:xfrm>
              <a:off x="1717" y="1609"/>
              <a:ext cx="11"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4" name="Rectangle 1769"/>
            <p:cNvSpPr>
              <a:spLocks noChangeArrowheads="1"/>
            </p:cNvSpPr>
            <p:nvPr/>
          </p:nvSpPr>
          <p:spPr bwMode="auto">
            <a:xfrm>
              <a:off x="1738"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5" name="Rectangle 1770"/>
            <p:cNvSpPr>
              <a:spLocks noChangeArrowheads="1"/>
            </p:cNvSpPr>
            <p:nvPr/>
          </p:nvSpPr>
          <p:spPr bwMode="auto">
            <a:xfrm>
              <a:off x="1759"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6" name="Rectangle 1771"/>
            <p:cNvSpPr>
              <a:spLocks noChangeArrowheads="1"/>
            </p:cNvSpPr>
            <p:nvPr/>
          </p:nvSpPr>
          <p:spPr bwMode="auto">
            <a:xfrm>
              <a:off x="1780"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7" name="Rectangle 1772"/>
            <p:cNvSpPr>
              <a:spLocks noChangeArrowheads="1"/>
            </p:cNvSpPr>
            <p:nvPr/>
          </p:nvSpPr>
          <p:spPr bwMode="auto">
            <a:xfrm>
              <a:off x="1800" y="1609"/>
              <a:ext cx="12"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8" name="Rectangle 1773"/>
            <p:cNvSpPr>
              <a:spLocks noChangeArrowheads="1"/>
            </p:cNvSpPr>
            <p:nvPr/>
          </p:nvSpPr>
          <p:spPr bwMode="auto">
            <a:xfrm>
              <a:off x="1821"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89" name="Rectangle 1774"/>
            <p:cNvSpPr>
              <a:spLocks noChangeArrowheads="1"/>
            </p:cNvSpPr>
            <p:nvPr/>
          </p:nvSpPr>
          <p:spPr bwMode="auto">
            <a:xfrm>
              <a:off x="1842"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0" name="Rectangle 1775"/>
            <p:cNvSpPr>
              <a:spLocks noChangeArrowheads="1"/>
            </p:cNvSpPr>
            <p:nvPr/>
          </p:nvSpPr>
          <p:spPr bwMode="auto">
            <a:xfrm>
              <a:off x="1863"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1" name="Rectangle 1776"/>
            <p:cNvSpPr>
              <a:spLocks noChangeArrowheads="1"/>
            </p:cNvSpPr>
            <p:nvPr/>
          </p:nvSpPr>
          <p:spPr bwMode="auto">
            <a:xfrm>
              <a:off x="1883" y="1609"/>
              <a:ext cx="11"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2" name="Rectangle 1777"/>
            <p:cNvSpPr>
              <a:spLocks noChangeArrowheads="1"/>
            </p:cNvSpPr>
            <p:nvPr/>
          </p:nvSpPr>
          <p:spPr bwMode="auto">
            <a:xfrm>
              <a:off x="1904" y="1609"/>
              <a:ext cx="12"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3" name="Rectangle 1778"/>
            <p:cNvSpPr>
              <a:spLocks noChangeArrowheads="1"/>
            </p:cNvSpPr>
            <p:nvPr/>
          </p:nvSpPr>
          <p:spPr bwMode="auto">
            <a:xfrm>
              <a:off x="1925"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4" name="Rectangle 1779"/>
            <p:cNvSpPr>
              <a:spLocks noChangeArrowheads="1"/>
            </p:cNvSpPr>
            <p:nvPr/>
          </p:nvSpPr>
          <p:spPr bwMode="auto">
            <a:xfrm>
              <a:off x="1946"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5" name="Rectangle 1780"/>
            <p:cNvSpPr>
              <a:spLocks noChangeArrowheads="1"/>
            </p:cNvSpPr>
            <p:nvPr/>
          </p:nvSpPr>
          <p:spPr bwMode="auto">
            <a:xfrm>
              <a:off x="1966" y="1609"/>
              <a:ext cx="11"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6" name="Rectangle 1781"/>
            <p:cNvSpPr>
              <a:spLocks noChangeArrowheads="1"/>
            </p:cNvSpPr>
            <p:nvPr/>
          </p:nvSpPr>
          <p:spPr bwMode="auto">
            <a:xfrm>
              <a:off x="1987"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7" name="Rectangle 1782"/>
            <p:cNvSpPr>
              <a:spLocks noChangeArrowheads="1"/>
            </p:cNvSpPr>
            <p:nvPr/>
          </p:nvSpPr>
          <p:spPr bwMode="auto">
            <a:xfrm>
              <a:off x="2008"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8" name="Rectangle 1783"/>
            <p:cNvSpPr>
              <a:spLocks noChangeArrowheads="1"/>
            </p:cNvSpPr>
            <p:nvPr/>
          </p:nvSpPr>
          <p:spPr bwMode="auto">
            <a:xfrm>
              <a:off x="2029"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699" name="Rectangle 1784"/>
            <p:cNvSpPr>
              <a:spLocks noChangeArrowheads="1"/>
            </p:cNvSpPr>
            <p:nvPr/>
          </p:nvSpPr>
          <p:spPr bwMode="auto">
            <a:xfrm>
              <a:off x="2049" y="1609"/>
              <a:ext cx="12"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00" name="Rectangle 1785"/>
            <p:cNvSpPr>
              <a:spLocks noChangeArrowheads="1"/>
            </p:cNvSpPr>
            <p:nvPr/>
          </p:nvSpPr>
          <p:spPr bwMode="auto">
            <a:xfrm>
              <a:off x="2070" y="1609"/>
              <a:ext cx="10" cy="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01" name="Freeform 1786"/>
            <p:cNvSpPr>
              <a:spLocks/>
            </p:cNvSpPr>
            <p:nvPr/>
          </p:nvSpPr>
          <p:spPr bwMode="auto">
            <a:xfrm>
              <a:off x="1220" y="1311"/>
              <a:ext cx="861" cy="370"/>
            </a:xfrm>
            <a:custGeom>
              <a:avLst/>
              <a:gdLst>
                <a:gd name="T0" fmla="*/ 0 w 3444"/>
                <a:gd name="T1" fmla="*/ 504 h 1108"/>
                <a:gd name="T2" fmla="*/ 98 w 3444"/>
                <a:gd name="T3" fmla="*/ 907 h 1108"/>
                <a:gd name="T4" fmla="*/ 164 w 3444"/>
                <a:gd name="T5" fmla="*/ 402 h 1108"/>
                <a:gd name="T6" fmla="*/ 263 w 3444"/>
                <a:gd name="T7" fmla="*/ 604 h 1108"/>
                <a:gd name="T8" fmla="*/ 328 w 3444"/>
                <a:gd name="T9" fmla="*/ 504 h 1108"/>
                <a:gd name="T10" fmla="*/ 394 w 3444"/>
                <a:gd name="T11" fmla="*/ 806 h 1108"/>
                <a:gd name="T12" fmla="*/ 459 w 3444"/>
                <a:gd name="T13" fmla="*/ 706 h 1108"/>
                <a:gd name="T14" fmla="*/ 557 w 3444"/>
                <a:gd name="T15" fmla="*/ 0 h 1108"/>
                <a:gd name="T16" fmla="*/ 623 w 3444"/>
                <a:gd name="T17" fmla="*/ 1008 h 1108"/>
                <a:gd name="T18" fmla="*/ 722 w 3444"/>
                <a:gd name="T19" fmla="*/ 706 h 1108"/>
                <a:gd name="T20" fmla="*/ 787 w 3444"/>
                <a:gd name="T21" fmla="*/ 604 h 1108"/>
                <a:gd name="T22" fmla="*/ 853 w 3444"/>
                <a:gd name="T23" fmla="*/ 402 h 1108"/>
                <a:gd name="T24" fmla="*/ 918 w 3444"/>
                <a:gd name="T25" fmla="*/ 706 h 1108"/>
                <a:gd name="T26" fmla="*/ 1016 w 3444"/>
                <a:gd name="T27" fmla="*/ 907 h 1108"/>
                <a:gd name="T28" fmla="*/ 1115 w 3444"/>
                <a:gd name="T29" fmla="*/ 806 h 1108"/>
                <a:gd name="T30" fmla="*/ 1181 w 3444"/>
                <a:gd name="T31" fmla="*/ 806 h 1108"/>
                <a:gd name="T32" fmla="*/ 1344 w 3444"/>
                <a:gd name="T33" fmla="*/ 402 h 1108"/>
                <a:gd name="T34" fmla="*/ 1411 w 3444"/>
                <a:gd name="T35" fmla="*/ 806 h 1108"/>
                <a:gd name="T36" fmla="*/ 1574 w 3444"/>
                <a:gd name="T37" fmla="*/ 1008 h 1108"/>
                <a:gd name="T38" fmla="*/ 1672 w 3444"/>
                <a:gd name="T39" fmla="*/ 604 h 1108"/>
                <a:gd name="T40" fmla="*/ 1705 w 3444"/>
                <a:gd name="T41" fmla="*/ 302 h 1108"/>
                <a:gd name="T42" fmla="*/ 1902 w 3444"/>
                <a:gd name="T43" fmla="*/ 907 h 1108"/>
                <a:gd name="T44" fmla="*/ 2001 w 3444"/>
                <a:gd name="T45" fmla="*/ 504 h 1108"/>
                <a:gd name="T46" fmla="*/ 2198 w 3444"/>
                <a:gd name="T47" fmla="*/ 907 h 1108"/>
                <a:gd name="T48" fmla="*/ 2230 w 3444"/>
                <a:gd name="T49" fmla="*/ 806 h 1108"/>
                <a:gd name="T50" fmla="*/ 2329 w 3444"/>
                <a:gd name="T51" fmla="*/ 907 h 1108"/>
                <a:gd name="T52" fmla="*/ 2393 w 3444"/>
                <a:gd name="T53" fmla="*/ 504 h 1108"/>
                <a:gd name="T54" fmla="*/ 2492 w 3444"/>
                <a:gd name="T55" fmla="*/ 604 h 1108"/>
                <a:gd name="T56" fmla="*/ 2623 w 3444"/>
                <a:gd name="T57" fmla="*/ 302 h 1108"/>
                <a:gd name="T58" fmla="*/ 2755 w 3444"/>
                <a:gd name="T59" fmla="*/ 1108 h 1108"/>
                <a:gd name="T60" fmla="*/ 2852 w 3444"/>
                <a:gd name="T61" fmla="*/ 604 h 1108"/>
                <a:gd name="T62" fmla="*/ 2919 w 3444"/>
                <a:gd name="T63" fmla="*/ 706 h 1108"/>
                <a:gd name="T64" fmla="*/ 3181 w 3444"/>
                <a:gd name="T65" fmla="*/ 402 h 1108"/>
                <a:gd name="T66" fmla="*/ 3410 w 3444"/>
                <a:gd name="T67" fmla="*/ 1108 h 1108"/>
                <a:gd name="T68" fmla="*/ 3444 w 3444"/>
                <a:gd name="T69" fmla="*/ 706 h 110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44"/>
                <a:gd name="T106" fmla="*/ 0 h 1108"/>
                <a:gd name="T107" fmla="*/ 3444 w 3444"/>
                <a:gd name="T108" fmla="*/ 1108 h 110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44" h="1108">
                  <a:moveTo>
                    <a:pt x="0" y="504"/>
                  </a:moveTo>
                  <a:lnTo>
                    <a:pt x="98" y="907"/>
                  </a:lnTo>
                  <a:lnTo>
                    <a:pt x="164" y="402"/>
                  </a:lnTo>
                  <a:lnTo>
                    <a:pt x="263" y="604"/>
                  </a:lnTo>
                  <a:lnTo>
                    <a:pt x="328" y="504"/>
                  </a:lnTo>
                  <a:lnTo>
                    <a:pt x="394" y="806"/>
                  </a:lnTo>
                  <a:lnTo>
                    <a:pt x="459" y="706"/>
                  </a:lnTo>
                  <a:lnTo>
                    <a:pt x="557" y="0"/>
                  </a:lnTo>
                  <a:lnTo>
                    <a:pt x="623" y="1008"/>
                  </a:lnTo>
                  <a:lnTo>
                    <a:pt x="722" y="706"/>
                  </a:lnTo>
                  <a:lnTo>
                    <a:pt x="787" y="604"/>
                  </a:lnTo>
                  <a:lnTo>
                    <a:pt x="853" y="402"/>
                  </a:lnTo>
                  <a:lnTo>
                    <a:pt x="918" y="706"/>
                  </a:lnTo>
                  <a:lnTo>
                    <a:pt x="1016" y="907"/>
                  </a:lnTo>
                  <a:lnTo>
                    <a:pt x="1115" y="806"/>
                  </a:lnTo>
                  <a:lnTo>
                    <a:pt x="1181" y="806"/>
                  </a:lnTo>
                  <a:lnTo>
                    <a:pt x="1344" y="402"/>
                  </a:lnTo>
                  <a:lnTo>
                    <a:pt x="1411" y="806"/>
                  </a:lnTo>
                  <a:lnTo>
                    <a:pt x="1574" y="1008"/>
                  </a:lnTo>
                  <a:lnTo>
                    <a:pt x="1672" y="604"/>
                  </a:lnTo>
                  <a:lnTo>
                    <a:pt x="1705" y="302"/>
                  </a:lnTo>
                  <a:lnTo>
                    <a:pt x="1902" y="907"/>
                  </a:lnTo>
                  <a:lnTo>
                    <a:pt x="2001" y="504"/>
                  </a:lnTo>
                  <a:lnTo>
                    <a:pt x="2198" y="907"/>
                  </a:lnTo>
                  <a:lnTo>
                    <a:pt x="2230" y="806"/>
                  </a:lnTo>
                  <a:lnTo>
                    <a:pt x="2329" y="907"/>
                  </a:lnTo>
                  <a:lnTo>
                    <a:pt x="2393" y="504"/>
                  </a:lnTo>
                  <a:lnTo>
                    <a:pt x="2492" y="604"/>
                  </a:lnTo>
                  <a:lnTo>
                    <a:pt x="2623" y="302"/>
                  </a:lnTo>
                  <a:lnTo>
                    <a:pt x="2755" y="1108"/>
                  </a:lnTo>
                  <a:lnTo>
                    <a:pt x="2852" y="604"/>
                  </a:lnTo>
                  <a:lnTo>
                    <a:pt x="2919" y="706"/>
                  </a:lnTo>
                  <a:lnTo>
                    <a:pt x="3181" y="402"/>
                  </a:lnTo>
                  <a:lnTo>
                    <a:pt x="3410" y="1108"/>
                  </a:lnTo>
                  <a:lnTo>
                    <a:pt x="3444" y="706"/>
                  </a:lnTo>
                </a:path>
              </a:pathLst>
            </a:custGeom>
            <a:noFill/>
            <a:ln w="7938">
              <a:solidFill>
                <a:srgbClr val="000000"/>
              </a:solidFill>
              <a:prstDash val="solid"/>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grpSp>
      <p:grpSp>
        <p:nvGrpSpPr>
          <p:cNvPr id="5" name="Group 1787"/>
          <p:cNvGrpSpPr>
            <a:grpSpLocks/>
          </p:cNvGrpSpPr>
          <p:nvPr/>
        </p:nvGrpSpPr>
        <p:grpSpPr bwMode="auto">
          <a:xfrm>
            <a:off x="1854889" y="2780928"/>
            <a:ext cx="1658937" cy="511175"/>
            <a:chOff x="1219" y="1712"/>
            <a:chExt cx="863" cy="372"/>
          </a:xfrm>
        </p:grpSpPr>
        <p:sp>
          <p:nvSpPr>
            <p:cNvPr id="703" name="Rectangle 1788"/>
            <p:cNvSpPr>
              <a:spLocks noChangeArrowheads="1"/>
            </p:cNvSpPr>
            <p:nvPr/>
          </p:nvSpPr>
          <p:spPr bwMode="auto">
            <a:xfrm>
              <a:off x="1224" y="1712"/>
              <a:ext cx="853" cy="372"/>
            </a:xfrm>
            <a:prstGeom prst="rect">
              <a:avLst/>
            </a:prstGeom>
            <a:noFill/>
            <a:ln w="14288">
              <a:solidFill>
                <a:srgbClr val="000000"/>
              </a:solidFill>
              <a:miter lim="800000"/>
              <a:headEnd/>
              <a:tailEnd/>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04" name="Rectangle 1789"/>
            <p:cNvSpPr>
              <a:spLocks noChangeArrowheads="1"/>
            </p:cNvSpPr>
            <p:nvPr/>
          </p:nvSpPr>
          <p:spPr bwMode="auto">
            <a:xfrm>
              <a:off x="1219"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05" name="Rectangle 1790"/>
            <p:cNvSpPr>
              <a:spLocks noChangeArrowheads="1"/>
            </p:cNvSpPr>
            <p:nvPr/>
          </p:nvSpPr>
          <p:spPr bwMode="auto">
            <a:xfrm>
              <a:off x="1257"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06" name="Rectangle 1791"/>
            <p:cNvSpPr>
              <a:spLocks noChangeArrowheads="1"/>
            </p:cNvSpPr>
            <p:nvPr/>
          </p:nvSpPr>
          <p:spPr bwMode="auto">
            <a:xfrm>
              <a:off x="1294"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07" name="Rectangle 1792"/>
            <p:cNvSpPr>
              <a:spLocks noChangeArrowheads="1"/>
            </p:cNvSpPr>
            <p:nvPr/>
          </p:nvSpPr>
          <p:spPr bwMode="auto">
            <a:xfrm>
              <a:off x="1332"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08" name="Rectangle 1793"/>
            <p:cNvSpPr>
              <a:spLocks noChangeArrowheads="1"/>
            </p:cNvSpPr>
            <p:nvPr/>
          </p:nvSpPr>
          <p:spPr bwMode="auto">
            <a:xfrm>
              <a:off x="1370"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09" name="Rectangle 1794"/>
            <p:cNvSpPr>
              <a:spLocks noChangeArrowheads="1"/>
            </p:cNvSpPr>
            <p:nvPr/>
          </p:nvSpPr>
          <p:spPr bwMode="auto">
            <a:xfrm>
              <a:off x="1408"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0" name="Rectangle 1795"/>
            <p:cNvSpPr>
              <a:spLocks noChangeArrowheads="1"/>
            </p:cNvSpPr>
            <p:nvPr/>
          </p:nvSpPr>
          <p:spPr bwMode="auto">
            <a:xfrm>
              <a:off x="1446"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1" name="Rectangle 1796"/>
            <p:cNvSpPr>
              <a:spLocks noChangeArrowheads="1"/>
            </p:cNvSpPr>
            <p:nvPr/>
          </p:nvSpPr>
          <p:spPr bwMode="auto">
            <a:xfrm>
              <a:off x="1484"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2" name="Rectangle 1797"/>
            <p:cNvSpPr>
              <a:spLocks noChangeArrowheads="1"/>
            </p:cNvSpPr>
            <p:nvPr/>
          </p:nvSpPr>
          <p:spPr bwMode="auto">
            <a:xfrm>
              <a:off x="1522" y="1776"/>
              <a:ext cx="18"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3" name="Rectangle 1798"/>
            <p:cNvSpPr>
              <a:spLocks noChangeArrowheads="1"/>
            </p:cNvSpPr>
            <p:nvPr/>
          </p:nvSpPr>
          <p:spPr bwMode="auto">
            <a:xfrm>
              <a:off x="1559"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4" name="Rectangle 1799"/>
            <p:cNvSpPr>
              <a:spLocks noChangeArrowheads="1"/>
            </p:cNvSpPr>
            <p:nvPr/>
          </p:nvSpPr>
          <p:spPr bwMode="auto">
            <a:xfrm>
              <a:off x="1597"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5" name="Rectangle 1800"/>
            <p:cNvSpPr>
              <a:spLocks noChangeArrowheads="1"/>
            </p:cNvSpPr>
            <p:nvPr/>
          </p:nvSpPr>
          <p:spPr bwMode="auto">
            <a:xfrm>
              <a:off x="1635"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6" name="Rectangle 1801"/>
            <p:cNvSpPr>
              <a:spLocks noChangeArrowheads="1"/>
            </p:cNvSpPr>
            <p:nvPr/>
          </p:nvSpPr>
          <p:spPr bwMode="auto">
            <a:xfrm>
              <a:off x="1673"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7" name="Rectangle 1802"/>
            <p:cNvSpPr>
              <a:spLocks noChangeArrowheads="1"/>
            </p:cNvSpPr>
            <p:nvPr/>
          </p:nvSpPr>
          <p:spPr bwMode="auto">
            <a:xfrm>
              <a:off x="1711"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8" name="Rectangle 1803"/>
            <p:cNvSpPr>
              <a:spLocks noChangeArrowheads="1"/>
            </p:cNvSpPr>
            <p:nvPr/>
          </p:nvSpPr>
          <p:spPr bwMode="auto">
            <a:xfrm>
              <a:off x="1749"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19" name="Rectangle 1804"/>
            <p:cNvSpPr>
              <a:spLocks noChangeArrowheads="1"/>
            </p:cNvSpPr>
            <p:nvPr/>
          </p:nvSpPr>
          <p:spPr bwMode="auto">
            <a:xfrm>
              <a:off x="1786"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0" name="Rectangle 1805"/>
            <p:cNvSpPr>
              <a:spLocks noChangeArrowheads="1"/>
            </p:cNvSpPr>
            <p:nvPr/>
          </p:nvSpPr>
          <p:spPr bwMode="auto">
            <a:xfrm>
              <a:off x="1824"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1" name="Rectangle 1806"/>
            <p:cNvSpPr>
              <a:spLocks noChangeArrowheads="1"/>
            </p:cNvSpPr>
            <p:nvPr/>
          </p:nvSpPr>
          <p:spPr bwMode="auto">
            <a:xfrm>
              <a:off x="1862"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2" name="Rectangle 1807"/>
            <p:cNvSpPr>
              <a:spLocks noChangeArrowheads="1"/>
            </p:cNvSpPr>
            <p:nvPr/>
          </p:nvSpPr>
          <p:spPr bwMode="auto">
            <a:xfrm>
              <a:off x="1900"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3" name="Rectangle 1808"/>
            <p:cNvSpPr>
              <a:spLocks noChangeArrowheads="1"/>
            </p:cNvSpPr>
            <p:nvPr/>
          </p:nvSpPr>
          <p:spPr bwMode="auto">
            <a:xfrm>
              <a:off x="1938"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4" name="Rectangle 1809"/>
            <p:cNvSpPr>
              <a:spLocks noChangeArrowheads="1"/>
            </p:cNvSpPr>
            <p:nvPr/>
          </p:nvSpPr>
          <p:spPr bwMode="auto">
            <a:xfrm>
              <a:off x="1976"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5" name="Rectangle 1810"/>
            <p:cNvSpPr>
              <a:spLocks noChangeArrowheads="1"/>
            </p:cNvSpPr>
            <p:nvPr/>
          </p:nvSpPr>
          <p:spPr bwMode="auto">
            <a:xfrm>
              <a:off x="2014" y="1776"/>
              <a:ext cx="17"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6" name="Rectangle 1811"/>
            <p:cNvSpPr>
              <a:spLocks noChangeArrowheads="1"/>
            </p:cNvSpPr>
            <p:nvPr/>
          </p:nvSpPr>
          <p:spPr bwMode="auto">
            <a:xfrm>
              <a:off x="2051" y="1776"/>
              <a:ext cx="1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7" name="Line 1812"/>
            <p:cNvSpPr>
              <a:spLocks noChangeShapeType="1"/>
            </p:cNvSpPr>
            <p:nvPr/>
          </p:nvSpPr>
          <p:spPr bwMode="auto">
            <a:xfrm>
              <a:off x="1220" y="1907"/>
              <a:ext cx="862" cy="1"/>
            </a:xfrm>
            <a:prstGeom prst="line">
              <a:avLst/>
            </a:prstGeom>
            <a:noFill/>
            <a:ln w="7938">
              <a:solidFill>
                <a:srgbClr val="000000"/>
              </a:solidFill>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728" name="Rectangle 1813"/>
            <p:cNvSpPr>
              <a:spLocks noChangeArrowheads="1"/>
            </p:cNvSpPr>
            <p:nvPr/>
          </p:nvSpPr>
          <p:spPr bwMode="auto">
            <a:xfrm>
              <a:off x="1219"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29" name="Rectangle 1814"/>
            <p:cNvSpPr>
              <a:spLocks noChangeArrowheads="1"/>
            </p:cNvSpPr>
            <p:nvPr/>
          </p:nvSpPr>
          <p:spPr bwMode="auto">
            <a:xfrm>
              <a:off x="1257"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0" name="Rectangle 1815"/>
            <p:cNvSpPr>
              <a:spLocks noChangeArrowheads="1"/>
            </p:cNvSpPr>
            <p:nvPr/>
          </p:nvSpPr>
          <p:spPr bwMode="auto">
            <a:xfrm>
              <a:off x="1294"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1" name="Rectangle 1816"/>
            <p:cNvSpPr>
              <a:spLocks noChangeArrowheads="1"/>
            </p:cNvSpPr>
            <p:nvPr/>
          </p:nvSpPr>
          <p:spPr bwMode="auto">
            <a:xfrm>
              <a:off x="1332"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2" name="Rectangle 1817"/>
            <p:cNvSpPr>
              <a:spLocks noChangeArrowheads="1"/>
            </p:cNvSpPr>
            <p:nvPr/>
          </p:nvSpPr>
          <p:spPr bwMode="auto">
            <a:xfrm>
              <a:off x="1370"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3" name="Rectangle 1818"/>
            <p:cNvSpPr>
              <a:spLocks noChangeArrowheads="1"/>
            </p:cNvSpPr>
            <p:nvPr/>
          </p:nvSpPr>
          <p:spPr bwMode="auto">
            <a:xfrm>
              <a:off x="1408"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4" name="Rectangle 1819"/>
            <p:cNvSpPr>
              <a:spLocks noChangeArrowheads="1"/>
            </p:cNvSpPr>
            <p:nvPr/>
          </p:nvSpPr>
          <p:spPr bwMode="auto">
            <a:xfrm>
              <a:off x="1446"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5" name="Rectangle 1820"/>
            <p:cNvSpPr>
              <a:spLocks noChangeArrowheads="1"/>
            </p:cNvSpPr>
            <p:nvPr/>
          </p:nvSpPr>
          <p:spPr bwMode="auto">
            <a:xfrm>
              <a:off x="1484"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6" name="Rectangle 1821"/>
            <p:cNvSpPr>
              <a:spLocks noChangeArrowheads="1"/>
            </p:cNvSpPr>
            <p:nvPr/>
          </p:nvSpPr>
          <p:spPr bwMode="auto">
            <a:xfrm>
              <a:off x="1522" y="2016"/>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7" name="Rectangle 1822"/>
            <p:cNvSpPr>
              <a:spLocks noChangeArrowheads="1"/>
            </p:cNvSpPr>
            <p:nvPr/>
          </p:nvSpPr>
          <p:spPr bwMode="auto">
            <a:xfrm>
              <a:off x="1559"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8" name="Rectangle 1823"/>
            <p:cNvSpPr>
              <a:spLocks noChangeArrowheads="1"/>
            </p:cNvSpPr>
            <p:nvPr/>
          </p:nvSpPr>
          <p:spPr bwMode="auto">
            <a:xfrm>
              <a:off x="1597"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39" name="Rectangle 1824"/>
            <p:cNvSpPr>
              <a:spLocks noChangeArrowheads="1"/>
            </p:cNvSpPr>
            <p:nvPr/>
          </p:nvSpPr>
          <p:spPr bwMode="auto">
            <a:xfrm>
              <a:off x="1635"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0" name="Rectangle 1825"/>
            <p:cNvSpPr>
              <a:spLocks noChangeArrowheads="1"/>
            </p:cNvSpPr>
            <p:nvPr/>
          </p:nvSpPr>
          <p:spPr bwMode="auto">
            <a:xfrm>
              <a:off x="1673"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1" name="Rectangle 1826"/>
            <p:cNvSpPr>
              <a:spLocks noChangeArrowheads="1"/>
            </p:cNvSpPr>
            <p:nvPr/>
          </p:nvSpPr>
          <p:spPr bwMode="auto">
            <a:xfrm>
              <a:off x="1711"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2" name="Rectangle 1827"/>
            <p:cNvSpPr>
              <a:spLocks noChangeArrowheads="1"/>
            </p:cNvSpPr>
            <p:nvPr/>
          </p:nvSpPr>
          <p:spPr bwMode="auto">
            <a:xfrm>
              <a:off x="1749"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3" name="Rectangle 1828"/>
            <p:cNvSpPr>
              <a:spLocks noChangeArrowheads="1"/>
            </p:cNvSpPr>
            <p:nvPr/>
          </p:nvSpPr>
          <p:spPr bwMode="auto">
            <a:xfrm>
              <a:off x="1786"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4" name="Rectangle 1829"/>
            <p:cNvSpPr>
              <a:spLocks noChangeArrowheads="1"/>
            </p:cNvSpPr>
            <p:nvPr/>
          </p:nvSpPr>
          <p:spPr bwMode="auto">
            <a:xfrm>
              <a:off x="1824"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5" name="Rectangle 1830"/>
            <p:cNvSpPr>
              <a:spLocks noChangeArrowheads="1"/>
            </p:cNvSpPr>
            <p:nvPr/>
          </p:nvSpPr>
          <p:spPr bwMode="auto">
            <a:xfrm>
              <a:off x="1862"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6" name="Rectangle 1831"/>
            <p:cNvSpPr>
              <a:spLocks noChangeArrowheads="1"/>
            </p:cNvSpPr>
            <p:nvPr/>
          </p:nvSpPr>
          <p:spPr bwMode="auto">
            <a:xfrm>
              <a:off x="1900"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7" name="Rectangle 1832"/>
            <p:cNvSpPr>
              <a:spLocks noChangeArrowheads="1"/>
            </p:cNvSpPr>
            <p:nvPr/>
          </p:nvSpPr>
          <p:spPr bwMode="auto">
            <a:xfrm>
              <a:off x="1938"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8" name="Rectangle 1833"/>
            <p:cNvSpPr>
              <a:spLocks noChangeArrowheads="1"/>
            </p:cNvSpPr>
            <p:nvPr/>
          </p:nvSpPr>
          <p:spPr bwMode="auto">
            <a:xfrm>
              <a:off x="1976"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49" name="Rectangle 1834"/>
            <p:cNvSpPr>
              <a:spLocks noChangeArrowheads="1"/>
            </p:cNvSpPr>
            <p:nvPr/>
          </p:nvSpPr>
          <p:spPr bwMode="auto">
            <a:xfrm>
              <a:off x="2014" y="2016"/>
              <a:ext cx="17"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0" name="Rectangle 1835"/>
            <p:cNvSpPr>
              <a:spLocks noChangeArrowheads="1"/>
            </p:cNvSpPr>
            <p:nvPr/>
          </p:nvSpPr>
          <p:spPr bwMode="auto">
            <a:xfrm>
              <a:off x="2051" y="2016"/>
              <a:ext cx="19"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1" name="Freeform 1836"/>
            <p:cNvSpPr>
              <a:spLocks/>
            </p:cNvSpPr>
            <p:nvPr/>
          </p:nvSpPr>
          <p:spPr bwMode="auto">
            <a:xfrm>
              <a:off x="1239" y="1787"/>
              <a:ext cx="826" cy="189"/>
            </a:xfrm>
            <a:custGeom>
              <a:avLst/>
              <a:gdLst>
                <a:gd name="T0" fmla="*/ 0 w 1651"/>
                <a:gd name="T1" fmla="*/ 348 h 379"/>
                <a:gd name="T2" fmla="*/ 59 w 1651"/>
                <a:gd name="T3" fmla="*/ 158 h 379"/>
                <a:gd name="T4" fmla="*/ 150 w 1651"/>
                <a:gd name="T5" fmla="*/ 316 h 379"/>
                <a:gd name="T6" fmla="*/ 240 w 1651"/>
                <a:gd name="T7" fmla="*/ 0 h 379"/>
                <a:gd name="T8" fmla="*/ 270 w 1651"/>
                <a:gd name="T9" fmla="*/ 95 h 379"/>
                <a:gd name="T10" fmla="*/ 330 w 1651"/>
                <a:gd name="T11" fmla="*/ 32 h 379"/>
                <a:gd name="T12" fmla="*/ 359 w 1651"/>
                <a:gd name="T13" fmla="*/ 190 h 379"/>
                <a:gd name="T14" fmla="*/ 420 w 1651"/>
                <a:gd name="T15" fmla="*/ 95 h 379"/>
                <a:gd name="T16" fmla="*/ 449 w 1651"/>
                <a:gd name="T17" fmla="*/ 190 h 379"/>
                <a:gd name="T18" fmla="*/ 510 w 1651"/>
                <a:gd name="T19" fmla="*/ 32 h 379"/>
                <a:gd name="T20" fmla="*/ 540 w 1651"/>
                <a:gd name="T21" fmla="*/ 158 h 379"/>
                <a:gd name="T22" fmla="*/ 600 w 1651"/>
                <a:gd name="T23" fmla="*/ 127 h 379"/>
                <a:gd name="T24" fmla="*/ 630 w 1651"/>
                <a:gd name="T25" fmla="*/ 158 h 379"/>
                <a:gd name="T26" fmla="*/ 660 w 1651"/>
                <a:gd name="T27" fmla="*/ 285 h 379"/>
                <a:gd name="T28" fmla="*/ 720 w 1651"/>
                <a:gd name="T29" fmla="*/ 127 h 379"/>
                <a:gd name="T30" fmla="*/ 750 w 1651"/>
                <a:gd name="T31" fmla="*/ 285 h 379"/>
                <a:gd name="T32" fmla="*/ 810 w 1651"/>
                <a:gd name="T33" fmla="*/ 190 h 379"/>
                <a:gd name="T34" fmla="*/ 870 w 1651"/>
                <a:gd name="T35" fmla="*/ 285 h 379"/>
                <a:gd name="T36" fmla="*/ 991 w 1651"/>
                <a:gd name="T37" fmla="*/ 127 h 379"/>
                <a:gd name="T38" fmla="*/ 1050 w 1651"/>
                <a:gd name="T39" fmla="*/ 190 h 379"/>
                <a:gd name="T40" fmla="*/ 1081 w 1651"/>
                <a:gd name="T41" fmla="*/ 127 h 379"/>
                <a:gd name="T42" fmla="*/ 1171 w 1651"/>
                <a:gd name="T43" fmla="*/ 316 h 379"/>
                <a:gd name="T44" fmla="*/ 1291 w 1651"/>
                <a:gd name="T45" fmla="*/ 95 h 379"/>
                <a:gd name="T46" fmla="*/ 1471 w 1651"/>
                <a:gd name="T47" fmla="*/ 379 h 379"/>
                <a:gd name="T48" fmla="*/ 1471 w 1651"/>
                <a:gd name="T49" fmla="*/ 190 h 379"/>
                <a:gd name="T50" fmla="*/ 1592 w 1651"/>
                <a:gd name="T51" fmla="*/ 253 h 379"/>
                <a:gd name="T52" fmla="*/ 1592 w 1651"/>
                <a:gd name="T53" fmla="*/ 158 h 379"/>
                <a:gd name="T54" fmla="*/ 1651 w 1651"/>
                <a:gd name="T55" fmla="*/ 221 h 37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51"/>
                <a:gd name="T85" fmla="*/ 0 h 379"/>
                <a:gd name="T86" fmla="*/ 1651 w 1651"/>
                <a:gd name="T87" fmla="*/ 379 h 37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51" h="379">
                  <a:moveTo>
                    <a:pt x="0" y="348"/>
                  </a:moveTo>
                  <a:lnTo>
                    <a:pt x="59" y="158"/>
                  </a:lnTo>
                  <a:lnTo>
                    <a:pt x="150" y="316"/>
                  </a:lnTo>
                  <a:lnTo>
                    <a:pt x="240" y="0"/>
                  </a:lnTo>
                  <a:lnTo>
                    <a:pt x="270" y="95"/>
                  </a:lnTo>
                  <a:lnTo>
                    <a:pt x="330" y="32"/>
                  </a:lnTo>
                  <a:lnTo>
                    <a:pt x="359" y="190"/>
                  </a:lnTo>
                  <a:lnTo>
                    <a:pt x="420" y="95"/>
                  </a:lnTo>
                  <a:lnTo>
                    <a:pt x="449" y="190"/>
                  </a:lnTo>
                  <a:lnTo>
                    <a:pt x="510" y="32"/>
                  </a:lnTo>
                  <a:lnTo>
                    <a:pt x="540" y="158"/>
                  </a:lnTo>
                  <a:lnTo>
                    <a:pt x="600" y="127"/>
                  </a:lnTo>
                  <a:lnTo>
                    <a:pt x="630" y="158"/>
                  </a:lnTo>
                  <a:lnTo>
                    <a:pt x="660" y="285"/>
                  </a:lnTo>
                  <a:lnTo>
                    <a:pt x="720" y="127"/>
                  </a:lnTo>
                  <a:lnTo>
                    <a:pt x="750" y="285"/>
                  </a:lnTo>
                  <a:lnTo>
                    <a:pt x="810" y="190"/>
                  </a:lnTo>
                  <a:lnTo>
                    <a:pt x="870" y="285"/>
                  </a:lnTo>
                  <a:lnTo>
                    <a:pt x="991" y="127"/>
                  </a:lnTo>
                  <a:lnTo>
                    <a:pt x="1050" y="190"/>
                  </a:lnTo>
                  <a:lnTo>
                    <a:pt x="1081" y="127"/>
                  </a:lnTo>
                  <a:lnTo>
                    <a:pt x="1171" y="316"/>
                  </a:lnTo>
                  <a:lnTo>
                    <a:pt x="1291" y="95"/>
                  </a:lnTo>
                  <a:lnTo>
                    <a:pt x="1471" y="379"/>
                  </a:lnTo>
                  <a:lnTo>
                    <a:pt x="1471" y="190"/>
                  </a:lnTo>
                  <a:lnTo>
                    <a:pt x="1592" y="253"/>
                  </a:lnTo>
                  <a:lnTo>
                    <a:pt x="1592" y="158"/>
                  </a:lnTo>
                  <a:lnTo>
                    <a:pt x="1651" y="221"/>
                  </a:lnTo>
                </a:path>
              </a:pathLst>
            </a:custGeom>
            <a:noFill/>
            <a:ln w="7938">
              <a:solidFill>
                <a:srgbClr val="000000"/>
              </a:solidFill>
              <a:prstDash val="solid"/>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752" name="Rectangle 1837"/>
            <p:cNvSpPr>
              <a:spLocks noChangeArrowheads="1"/>
            </p:cNvSpPr>
            <p:nvPr/>
          </p:nvSpPr>
          <p:spPr bwMode="auto">
            <a:xfrm>
              <a:off x="1330" y="1765"/>
              <a:ext cx="9"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3" name="Rectangle 1838"/>
            <p:cNvSpPr>
              <a:spLocks noChangeArrowheads="1"/>
            </p:cNvSpPr>
            <p:nvPr/>
          </p:nvSpPr>
          <p:spPr bwMode="auto">
            <a:xfrm>
              <a:off x="1330" y="1804"/>
              <a:ext cx="9"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4" name="Rectangle 1839"/>
            <p:cNvSpPr>
              <a:spLocks noChangeArrowheads="1"/>
            </p:cNvSpPr>
            <p:nvPr/>
          </p:nvSpPr>
          <p:spPr bwMode="auto">
            <a:xfrm>
              <a:off x="1330" y="1843"/>
              <a:ext cx="9"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5" name="Rectangle 1840"/>
            <p:cNvSpPr>
              <a:spLocks noChangeArrowheads="1"/>
            </p:cNvSpPr>
            <p:nvPr/>
          </p:nvSpPr>
          <p:spPr bwMode="auto">
            <a:xfrm>
              <a:off x="1330" y="1882"/>
              <a:ext cx="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6" name="Rectangle 1841"/>
            <p:cNvSpPr>
              <a:spLocks noChangeArrowheads="1"/>
            </p:cNvSpPr>
            <p:nvPr/>
          </p:nvSpPr>
          <p:spPr bwMode="auto">
            <a:xfrm>
              <a:off x="1339" y="1889"/>
              <a:ext cx="3"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7" name="Rectangle 1842"/>
            <p:cNvSpPr>
              <a:spLocks noChangeArrowheads="1"/>
            </p:cNvSpPr>
            <p:nvPr/>
          </p:nvSpPr>
          <p:spPr bwMode="auto">
            <a:xfrm>
              <a:off x="1371" y="1889"/>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8" name="Rectangle 1843"/>
            <p:cNvSpPr>
              <a:spLocks noChangeArrowheads="1"/>
            </p:cNvSpPr>
            <p:nvPr/>
          </p:nvSpPr>
          <p:spPr bwMode="auto">
            <a:xfrm>
              <a:off x="1409" y="1889"/>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59" name="Rectangle 1844"/>
            <p:cNvSpPr>
              <a:spLocks noChangeArrowheads="1"/>
            </p:cNvSpPr>
            <p:nvPr/>
          </p:nvSpPr>
          <p:spPr bwMode="auto">
            <a:xfrm>
              <a:off x="1446" y="1889"/>
              <a:ext cx="10"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0" name="Rectangle 1845"/>
            <p:cNvSpPr>
              <a:spLocks noChangeArrowheads="1"/>
            </p:cNvSpPr>
            <p:nvPr/>
          </p:nvSpPr>
          <p:spPr bwMode="auto">
            <a:xfrm>
              <a:off x="1484" y="1889"/>
              <a:ext cx="10"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1" name="Rectangle 1846"/>
            <p:cNvSpPr>
              <a:spLocks noChangeArrowheads="1"/>
            </p:cNvSpPr>
            <p:nvPr/>
          </p:nvSpPr>
          <p:spPr bwMode="auto">
            <a:xfrm>
              <a:off x="1522" y="1889"/>
              <a:ext cx="10"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2" name="Rectangle 1847"/>
            <p:cNvSpPr>
              <a:spLocks noChangeArrowheads="1"/>
            </p:cNvSpPr>
            <p:nvPr/>
          </p:nvSpPr>
          <p:spPr bwMode="auto">
            <a:xfrm>
              <a:off x="1560" y="1889"/>
              <a:ext cx="1"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3" name="Rectangle 1848"/>
            <p:cNvSpPr>
              <a:spLocks noChangeArrowheads="1"/>
            </p:cNvSpPr>
            <p:nvPr/>
          </p:nvSpPr>
          <p:spPr bwMode="auto">
            <a:xfrm>
              <a:off x="1561" y="1880"/>
              <a:ext cx="10"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4" name="Rectangle 1849"/>
            <p:cNvSpPr>
              <a:spLocks noChangeArrowheads="1"/>
            </p:cNvSpPr>
            <p:nvPr/>
          </p:nvSpPr>
          <p:spPr bwMode="auto">
            <a:xfrm>
              <a:off x="1561" y="1841"/>
              <a:ext cx="10"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5" name="Rectangle 1850"/>
            <p:cNvSpPr>
              <a:spLocks noChangeArrowheads="1"/>
            </p:cNvSpPr>
            <p:nvPr/>
          </p:nvSpPr>
          <p:spPr bwMode="auto">
            <a:xfrm>
              <a:off x="1561" y="1802"/>
              <a:ext cx="10"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6" name="Rectangle 1851"/>
            <p:cNvSpPr>
              <a:spLocks noChangeArrowheads="1"/>
            </p:cNvSpPr>
            <p:nvPr/>
          </p:nvSpPr>
          <p:spPr bwMode="auto">
            <a:xfrm>
              <a:off x="1561" y="1765"/>
              <a:ext cx="10"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7" name="Rectangle 1852"/>
            <p:cNvSpPr>
              <a:spLocks noChangeArrowheads="1"/>
            </p:cNvSpPr>
            <p:nvPr/>
          </p:nvSpPr>
          <p:spPr bwMode="auto">
            <a:xfrm>
              <a:off x="1559" y="1755"/>
              <a:ext cx="2"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8" name="Rectangle 1853"/>
            <p:cNvSpPr>
              <a:spLocks noChangeArrowheads="1"/>
            </p:cNvSpPr>
            <p:nvPr/>
          </p:nvSpPr>
          <p:spPr bwMode="auto">
            <a:xfrm>
              <a:off x="1522" y="1755"/>
              <a:ext cx="9"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69" name="Rectangle 1854"/>
            <p:cNvSpPr>
              <a:spLocks noChangeArrowheads="1"/>
            </p:cNvSpPr>
            <p:nvPr/>
          </p:nvSpPr>
          <p:spPr bwMode="auto">
            <a:xfrm>
              <a:off x="1484" y="1755"/>
              <a:ext cx="9"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70" name="Rectangle 1855"/>
            <p:cNvSpPr>
              <a:spLocks noChangeArrowheads="1"/>
            </p:cNvSpPr>
            <p:nvPr/>
          </p:nvSpPr>
          <p:spPr bwMode="auto">
            <a:xfrm>
              <a:off x="1446" y="1755"/>
              <a:ext cx="9"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71" name="Rectangle 1856"/>
            <p:cNvSpPr>
              <a:spLocks noChangeArrowheads="1"/>
            </p:cNvSpPr>
            <p:nvPr/>
          </p:nvSpPr>
          <p:spPr bwMode="auto">
            <a:xfrm>
              <a:off x="1408" y="1755"/>
              <a:ext cx="9"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72" name="Rectangle 1857"/>
            <p:cNvSpPr>
              <a:spLocks noChangeArrowheads="1"/>
            </p:cNvSpPr>
            <p:nvPr/>
          </p:nvSpPr>
          <p:spPr bwMode="auto">
            <a:xfrm>
              <a:off x="1370" y="1755"/>
              <a:ext cx="10"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73" name="Rectangle 1858"/>
            <p:cNvSpPr>
              <a:spLocks noChangeArrowheads="1"/>
            </p:cNvSpPr>
            <p:nvPr/>
          </p:nvSpPr>
          <p:spPr bwMode="auto">
            <a:xfrm>
              <a:off x="1339" y="1755"/>
              <a:ext cx="3" cy="10"/>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grpSp>
      <p:grpSp>
        <p:nvGrpSpPr>
          <p:cNvPr id="6" name="Group 1859"/>
          <p:cNvGrpSpPr>
            <a:grpSpLocks/>
          </p:cNvGrpSpPr>
          <p:nvPr/>
        </p:nvGrpSpPr>
        <p:grpSpPr bwMode="auto">
          <a:xfrm>
            <a:off x="1854889" y="3476637"/>
            <a:ext cx="1658937" cy="511175"/>
            <a:chOff x="1219" y="2121"/>
            <a:chExt cx="862" cy="378"/>
          </a:xfrm>
        </p:grpSpPr>
        <p:sp>
          <p:nvSpPr>
            <p:cNvPr id="775" name="Rectangle 1860"/>
            <p:cNvSpPr>
              <a:spLocks noChangeArrowheads="1"/>
            </p:cNvSpPr>
            <p:nvPr/>
          </p:nvSpPr>
          <p:spPr bwMode="auto">
            <a:xfrm>
              <a:off x="1224" y="2121"/>
              <a:ext cx="853" cy="378"/>
            </a:xfrm>
            <a:prstGeom prst="rect">
              <a:avLst/>
            </a:prstGeom>
            <a:noFill/>
            <a:ln w="14288">
              <a:solidFill>
                <a:srgbClr val="000000"/>
              </a:solidFill>
              <a:miter lim="800000"/>
              <a:headEnd/>
              <a:tailEnd/>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76" name="Rectangle 1861"/>
            <p:cNvSpPr>
              <a:spLocks noChangeArrowheads="1"/>
            </p:cNvSpPr>
            <p:nvPr/>
          </p:nvSpPr>
          <p:spPr bwMode="auto">
            <a:xfrm>
              <a:off x="1219"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77" name="Rectangle 1862"/>
            <p:cNvSpPr>
              <a:spLocks noChangeArrowheads="1"/>
            </p:cNvSpPr>
            <p:nvPr/>
          </p:nvSpPr>
          <p:spPr bwMode="auto">
            <a:xfrm>
              <a:off x="1254"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78" name="Rectangle 1863"/>
            <p:cNvSpPr>
              <a:spLocks noChangeArrowheads="1"/>
            </p:cNvSpPr>
            <p:nvPr/>
          </p:nvSpPr>
          <p:spPr bwMode="auto">
            <a:xfrm>
              <a:off x="1290"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79" name="Rectangle 1864"/>
            <p:cNvSpPr>
              <a:spLocks noChangeArrowheads="1"/>
            </p:cNvSpPr>
            <p:nvPr/>
          </p:nvSpPr>
          <p:spPr bwMode="auto">
            <a:xfrm>
              <a:off x="1325" y="2159"/>
              <a:ext cx="1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0" name="Rectangle 1865"/>
            <p:cNvSpPr>
              <a:spLocks noChangeArrowheads="1"/>
            </p:cNvSpPr>
            <p:nvPr/>
          </p:nvSpPr>
          <p:spPr bwMode="auto">
            <a:xfrm>
              <a:off x="1361"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1" name="Rectangle 1866"/>
            <p:cNvSpPr>
              <a:spLocks noChangeArrowheads="1"/>
            </p:cNvSpPr>
            <p:nvPr/>
          </p:nvSpPr>
          <p:spPr bwMode="auto">
            <a:xfrm>
              <a:off x="1396" y="2159"/>
              <a:ext cx="1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2" name="Rectangle 1867"/>
            <p:cNvSpPr>
              <a:spLocks noChangeArrowheads="1"/>
            </p:cNvSpPr>
            <p:nvPr/>
          </p:nvSpPr>
          <p:spPr bwMode="auto">
            <a:xfrm>
              <a:off x="1432"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3" name="Rectangle 1868"/>
            <p:cNvSpPr>
              <a:spLocks noChangeArrowheads="1"/>
            </p:cNvSpPr>
            <p:nvPr/>
          </p:nvSpPr>
          <p:spPr bwMode="auto">
            <a:xfrm>
              <a:off x="1467" y="2159"/>
              <a:ext cx="1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4" name="Rectangle 1869"/>
            <p:cNvSpPr>
              <a:spLocks noChangeArrowheads="1"/>
            </p:cNvSpPr>
            <p:nvPr/>
          </p:nvSpPr>
          <p:spPr bwMode="auto">
            <a:xfrm>
              <a:off x="1503"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5" name="Rectangle 1870"/>
            <p:cNvSpPr>
              <a:spLocks noChangeArrowheads="1"/>
            </p:cNvSpPr>
            <p:nvPr/>
          </p:nvSpPr>
          <p:spPr bwMode="auto">
            <a:xfrm>
              <a:off x="1538"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6" name="Rectangle 1871"/>
            <p:cNvSpPr>
              <a:spLocks noChangeArrowheads="1"/>
            </p:cNvSpPr>
            <p:nvPr/>
          </p:nvSpPr>
          <p:spPr bwMode="auto">
            <a:xfrm>
              <a:off x="1574"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7" name="Rectangle 1872"/>
            <p:cNvSpPr>
              <a:spLocks noChangeArrowheads="1"/>
            </p:cNvSpPr>
            <p:nvPr/>
          </p:nvSpPr>
          <p:spPr bwMode="auto">
            <a:xfrm>
              <a:off x="1609"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8" name="Rectangle 1873"/>
            <p:cNvSpPr>
              <a:spLocks noChangeArrowheads="1"/>
            </p:cNvSpPr>
            <p:nvPr/>
          </p:nvSpPr>
          <p:spPr bwMode="auto">
            <a:xfrm>
              <a:off x="1645"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89" name="Rectangle 1874"/>
            <p:cNvSpPr>
              <a:spLocks noChangeArrowheads="1"/>
            </p:cNvSpPr>
            <p:nvPr/>
          </p:nvSpPr>
          <p:spPr bwMode="auto">
            <a:xfrm>
              <a:off x="1680"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0" name="Rectangle 1875"/>
            <p:cNvSpPr>
              <a:spLocks noChangeArrowheads="1"/>
            </p:cNvSpPr>
            <p:nvPr/>
          </p:nvSpPr>
          <p:spPr bwMode="auto">
            <a:xfrm>
              <a:off x="1716" y="2159"/>
              <a:ext cx="1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1" name="Rectangle 1876"/>
            <p:cNvSpPr>
              <a:spLocks noChangeArrowheads="1"/>
            </p:cNvSpPr>
            <p:nvPr/>
          </p:nvSpPr>
          <p:spPr bwMode="auto">
            <a:xfrm>
              <a:off x="1751"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2" name="Rectangle 1877"/>
            <p:cNvSpPr>
              <a:spLocks noChangeArrowheads="1"/>
            </p:cNvSpPr>
            <p:nvPr/>
          </p:nvSpPr>
          <p:spPr bwMode="auto">
            <a:xfrm>
              <a:off x="1787" y="2159"/>
              <a:ext cx="1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3" name="Rectangle 1878"/>
            <p:cNvSpPr>
              <a:spLocks noChangeArrowheads="1"/>
            </p:cNvSpPr>
            <p:nvPr/>
          </p:nvSpPr>
          <p:spPr bwMode="auto">
            <a:xfrm>
              <a:off x="1822"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4" name="Rectangle 1879"/>
            <p:cNvSpPr>
              <a:spLocks noChangeArrowheads="1"/>
            </p:cNvSpPr>
            <p:nvPr/>
          </p:nvSpPr>
          <p:spPr bwMode="auto">
            <a:xfrm>
              <a:off x="1858" y="2159"/>
              <a:ext cx="16"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5" name="Rectangle 1880"/>
            <p:cNvSpPr>
              <a:spLocks noChangeArrowheads="1"/>
            </p:cNvSpPr>
            <p:nvPr/>
          </p:nvSpPr>
          <p:spPr bwMode="auto">
            <a:xfrm>
              <a:off x="1893"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6" name="Rectangle 1881"/>
            <p:cNvSpPr>
              <a:spLocks noChangeArrowheads="1"/>
            </p:cNvSpPr>
            <p:nvPr/>
          </p:nvSpPr>
          <p:spPr bwMode="auto">
            <a:xfrm>
              <a:off x="1929"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7" name="Rectangle 1882"/>
            <p:cNvSpPr>
              <a:spLocks noChangeArrowheads="1"/>
            </p:cNvSpPr>
            <p:nvPr/>
          </p:nvSpPr>
          <p:spPr bwMode="auto">
            <a:xfrm>
              <a:off x="1964"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8" name="Rectangle 1883"/>
            <p:cNvSpPr>
              <a:spLocks noChangeArrowheads="1"/>
            </p:cNvSpPr>
            <p:nvPr/>
          </p:nvSpPr>
          <p:spPr bwMode="auto">
            <a:xfrm>
              <a:off x="2000"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799" name="Rectangle 1884"/>
            <p:cNvSpPr>
              <a:spLocks noChangeArrowheads="1"/>
            </p:cNvSpPr>
            <p:nvPr/>
          </p:nvSpPr>
          <p:spPr bwMode="auto">
            <a:xfrm>
              <a:off x="2035" y="2159"/>
              <a:ext cx="18"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0" name="Rectangle 1885"/>
            <p:cNvSpPr>
              <a:spLocks noChangeArrowheads="1"/>
            </p:cNvSpPr>
            <p:nvPr/>
          </p:nvSpPr>
          <p:spPr bwMode="auto">
            <a:xfrm>
              <a:off x="2071" y="2159"/>
              <a:ext cx="10" cy="6"/>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1" name="Line 1886"/>
            <p:cNvSpPr>
              <a:spLocks noChangeShapeType="1"/>
            </p:cNvSpPr>
            <p:nvPr/>
          </p:nvSpPr>
          <p:spPr bwMode="auto">
            <a:xfrm>
              <a:off x="1220" y="2321"/>
              <a:ext cx="861" cy="0"/>
            </a:xfrm>
            <a:prstGeom prst="line">
              <a:avLst/>
            </a:prstGeom>
            <a:noFill/>
            <a:ln w="6350">
              <a:solidFill>
                <a:srgbClr val="000000"/>
              </a:solidFill>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802" name="Rectangle 1887"/>
            <p:cNvSpPr>
              <a:spLocks noChangeArrowheads="1"/>
            </p:cNvSpPr>
            <p:nvPr/>
          </p:nvSpPr>
          <p:spPr bwMode="auto">
            <a:xfrm>
              <a:off x="1219"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3" name="Rectangle 1888"/>
            <p:cNvSpPr>
              <a:spLocks noChangeArrowheads="1"/>
            </p:cNvSpPr>
            <p:nvPr/>
          </p:nvSpPr>
          <p:spPr bwMode="auto">
            <a:xfrm>
              <a:off x="1254"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4" name="Rectangle 1889"/>
            <p:cNvSpPr>
              <a:spLocks noChangeArrowheads="1"/>
            </p:cNvSpPr>
            <p:nvPr/>
          </p:nvSpPr>
          <p:spPr bwMode="auto">
            <a:xfrm>
              <a:off x="1290"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5" name="Rectangle 1890"/>
            <p:cNvSpPr>
              <a:spLocks noChangeArrowheads="1"/>
            </p:cNvSpPr>
            <p:nvPr/>
          </p:nvSpPr>
          <p:spPr bwMode="auto">
            <a:xfrm>
              <a:off x="1325" y="2457"/>
              <a:ext cx="16"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6" name="Rectangle 1891"/>
            <p:cNvSpPr>
              <a:spLocks noChangeArrowheads="1"/>
            </p:cNvSpPr>
            <p:nvPr/>
          </p:nvSpPr>
          <p:spPr bwMode="auto">
            <a:xfrm>
              <a:off x="1361"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7" name="Rectangle 1892"/>
            <p:cNvSpPr>
              <a:spLocks noChangeArrowheads="1"/>
            </p:cNvSpPr>
            <p:nvPr/>
          </p:nvSpPr>
          <p:spPr bwMode="auto">
            <a:xfrm>
              <a:off x="1396" y="2457"/>
              <a:ext cx="16"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8" name="Rectangle 1893"/>
            <p:cNvSpPr>
              <a:spLocks noChangeArrowheads="1"/>
            </p:cNvSpPr>
            <p:nvPr/>
          </p:nvSpPr>
          <p:spPr bwMode="auto">
            <a:xfrm>
              <a:off x="1432"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09" name="Rectangle 1894"/>
            <p:cNvSpPr>
              <a:spLocks noChangeArrowheads="1"/>
            </p:cNvSpPr>
            <p:nvPr/>
          </p:nvSpPr>
          <p:spPr bwMode="auto">
            <a:xfrm>
              <a:off x="1467" y="2457"/>
              <a:ext cx="16"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0" name="Rectangle 1895"/>
            <p:cNvSpPr>
              <a:spLocks noChangeArrowheads="1"/>
            </p:cNvSpPr>
            <p:nvPr/>
          </p:nvSpPr>
          <p:spPr bwMode="auto">
            <a:xfrm>
              <a:off x="1503"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1" name="Rectangle 1896"/>
            <p:cNvSpPr>
              <a:spLocks noChangeArrowheads="1"/>
            </p:cNvSpPr>
            <p:nvPr/>
          </p:nvSpPr>
          <p:spPr bwMode="auto">
            <a:xfrm>
              <a:off x="1538"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2" name="Rectangle 1897"/>
            <p:cNvSpPr>
              <a:spLocks noChangeArrowheads="1"/>
            </p:cNvSpPr>
            <p:nvPr/>
          </p:nvSpPr>
          <p:spPr bwMode="auto">
            <a:xfrm>
              <a:off x="1574"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3" name="Rectangle 1898"/>
            <p:cNvSpPr>
              <a:spLocks noChangeArrowheads="1"/>
            </p:cNvSpPr>
            <p:nvPr/>
          </p:nvSpPr>
          <p:spPr bwMode="auto">
            <a:xfrm>
              <a:off x="1609"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4" name="Rectangle 1899"/>
            <p:cNvSpPr>
              <a:spLocks noChangeArrowheads="1"/>
            </p:cNvSpPr>
            <p:nvPr/>
          </p:nvSpPr>
          <p:spPr bwMode="auto">
            <a:xfrm>
              <a:off x="1645"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5" name="Rectangle 1900"/>
            <p:cNvSpPr>
              <a:spLocks noChangeArrowheads="1"/>
            </p:cNvSpPr>
            <p:nvPr/>
          </p:nvSpPr>
          <p:spPr bwMode="auto">
            <a:xfrm>
              <a:off x="1680"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6" name="Rectangle 1901"/>
            <p:cNvSpPr>
              <a:spLocks noChangeArrowheads="1"/>
            </p:cNvSpPr>
            <p:nvPr/>
          </p:nvSpPr>
          <p:spPr bwMode="auto">
            <a:xfrm>
              <a:off x="1716" y="2457"/>
              <a:ext cx="16"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7" name="Rectangle 1902"/>
            <p:cNvSpPr>
              <a:spLocks noChangeArrowheads="1"/>
            </p:cNvSpPr>
            <p:nvPr/>
          </p:nvSpPr>
          <p:spPr bwMode="auto">
            <a:xfrm>
              <a:off x="1751"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8" name="Rectangle 1903"/>
            <p:cNvSpPr>
              <a:spLocks noChangeArrowheads="1"/>
            </p:cNvSpPr>
            <p:nvPr/>
          </p:nvSpPr>
          <p:spPr bwMode="auto">
            <a:xfrm>
              <a:off x="1787" y="2457"/>
              <a:ext cx="16"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19" name="Rectangle 1904"/>
            <p:cNvSpPr>
              <a:spLocks noChangeArrowheads="1"/>
            </p:cNvSpPr>
            <p:nvPr/>
          </p:nvSpPr>
          <p:spPr bwMode="auto">
            <a:xfrm>
              <a:off x="1822"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0" name="Rectangle 1905"/>
            <p:cNvSpPr>
              <a:spLocks noChangeArrowheads="1"/>
            </p:cNvSpPr>
            <p:nvPr/>
          </p:nvSpPr>
          <p:spPr bwMode="auto">
            <a:xfrm>
              <a:off x="1858" y="2457"/>
              <a:ext cx="16"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1" name="Rectangle 1906"/>
            <p:cNvSpPr>
              <a:spLocks noChangeArrowheads="1"/>
            </p:cNvSpPr>
            <p:nvPr/>
          </p:nvSpPr>
          <p:spPr bwMode="auto">
            <a:xfrm>
              <a:off x="1893"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2" name="Rectangle 1907"/>
            <p:cNvSpPr>
              <a:spLocks noChangeArrowheads="1"/>
            </p:cNvSpPr>
            <p:nvPr/>
          </p:nvSpPr>
          <p:spPr bwMode="auto">
            <a:xfrm>
              <a:off x="1929"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3" name="Rectangle 1908"/>
            <p:cNvSpPr>
              <a:spLocks noChangeArrowheads="1"/>
            </p:cNvSpPr>
            <p:nvPr/>
          </p:nvSpPr>
          <p:spPr bwMode="auto">
            <a:xfrm>
              <a:off x="1964"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4" name="Rectangle 1909"/>
            <p:cNvSpPr>
              <a:spLocks noChangeArrowheads="1"/>
            </p:cNvSpPr>
            <p:nvPr/>
          </p:nvSpPr>
          <p:spPr bwMode="auto">
            <a:xfrm>
              <a:off x="2000"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5" name="Rectangle 1910"/>
            <p:cNvSpPr>
              <a:spLocks noChangeArrowheads="1"/>
            </p:cNvSpPr>
            <p:nvPr/>
          </p:nvSpPr>
          <p:spPr bwMode="auto">
            <a:xfrm>
              <a:off x="2035" y="2457"/>
              <a:ext cx="18"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6" name="Rectangle 1911"/>
            <p:cNvSpPr>
              <a:spLocks noChangeArrowheads="1"/>
            </p:cNvSpPr>
            <p:nvPr/>
          </p:nvSpPr>
          <p:spPr bwMode="auto">
            <a:xfrm>
              <a:off x="2071" y="2457"/>
              <a:ext cx="10" cy="5"/>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7" name="Rectangle 1912"/>
            <p:cNvSpPr>
              <a:spLocks noChangeArrowheads="1"/>
            </p:cNvSpPr>
            <p:nvPr/>
          </p:nvSpPr>
          <p:spPr bwMode="auto">
            <a:xfrm>
              <a:off x="1438" y="2223"/>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8" name="Rectangle 1913"/>
            <p:cNvSpPr>
              <a:spLocks noChangeArrowheads="1"/>
            </p:cNvSpPr>
            <p:nvPr/>
          </p:nvSpPr>
          <p:spPr bwMode="auto">
            <a:xfrm>
              <a:off x="1438" y="2260"/>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29" name="Rectangle 1914"/>
            <p:cNvSpPr>
              <a:spLocks noChangeArrowheads="1"/>
            </p:cNvSpPr>
            <p:nvPr/>
          </p:nvSpPr>
          <p:spPr bwMode="auto">
            <a:xfrm>
              <a:off x="1438" y="2296"/>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0" name="Rectangle 1915"/>
            <p:cNvSpPr>
              <a:spLocks noChangeArrowheads="1"/>
            </p:cNvSpPr>
            <p:nvPr/>
          </p:nvSpPr>
          <p:spPr bwMode="auto">
            <a:xfrm>
              <a:off x="1438" y="2333"/>
              <a:ext cx="9"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1" name="Rectangle 1916"/>
            <p:cNvSpPr>
              <a:spLocks noChangeArrowheads="1"/>
            </p:cNvSpPr>
            <p:nvPr/>
          </p:nvSpPr>
          <p:spPr bwMode="auto">
            <a:xfrm>
              <a:off x="1438" y="2370"/>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2" name="Rectangle 1917"/>
            <p:cNvSpPr>
              <a:spLocks noChangeArrowheads="1"/>
            </p:cNvSpPr>
            <p:nvPr/>
          </p:nvSpPr>
          <p:spPr bwMode="auto">
            <a:xfrm>
              <a:off x="1438" y="2406"/>
              <a:ext cx="9"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3" name="Rectangle 1918"/>
            <p:cNvSpPr>
              <a:spLocks noChangeArrowheads="1"/>
            </p:cNvSpPr>
            <p:nvPr/>
          </p:nvSpPr>
          <p:spPr bwMode="auto">
            <a:xfrm>
              <a:off x="1464" y="2425"/>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4" name="Rectangle 1919"/>
            <p:cNvSpPr>
              <a:spLocks noChangeArrowheads="1"/>
            </p:cNvSpPr>
            <p:nvPr/>
          </p:nvSpPr>
          <p:spPr bwMode="auto">
            <a:xfrm>
              <a:off x="1500" y="2425"/>
              <a:ext cx="7"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5" name="Rectangle 1920"/>
            <p:cNvSpPr>
              <a:spLocks noChangeArrowheads="1"/>
            </p:cNvSpPr>
            <p:nvPr/>
          </p:nvSpPr>
          <p:spPr bwMode="auto">
            <a:xfrm>
              <a:off x="1535" y="2425"/>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6" name="Rectangle 1921"/>
            <p:cNvSpPr>
              <a:spLocks noChangeArrowheads="1"/>
            </p:cNvSpPr>
            <p:nvPr/>
          </p:nvSpPr>
          <p:spPr bwMode="auto">
            <a:xfrm>
              <a:off x="1571" y="2425"/>
              <a:ext cx="7"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7" name="Rectangle 1922"/>
            <p:cNvSpPr>
              <a:spLocks noChangeArrowheads="1"/>
            </p:cNvSpPr>
            <p:nvPr/>
          </p:nvSpPr>
          <p:spPr bwMode="auto">
            <a:xfrm>
              <a:off x="1606" y="2425"/>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8" name="Rectangle 1923"/>
            <p:cNvSpPr>
              <a:spLocks noChangeArrowheads="1"/>
            </p:cNvSpPr>
            <p:nvPr/>
          </p:nvSpPr>
          <p:spPr bwMode="auto">
            <a:xfrm>
              <a:off x="1642" y="2425"/>
              <a:ext cx="8"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39" name="Rectangle 1924"/>
            <p:cNvSpPr>
              <a:spLocks noChangeArrowheads="1"/>
            </p:cNvSpPr>
            <p:nvPr/>
          </p:nvSpPr>
          <p:spPr bwMode="auto">
            <a:xfrm>
              <a:off x="1677" y="2425"/>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0" name="Rectangle 1925"/>
            <p:cNvSpPr>
              <a:spLocks noChangeArrowheads="1"/>
            </p:cNvSpPr>
            <p:nvPr/>
          </p:nvSpPr>
          <p:spPr bwMode="auto">
            <a:xfrm>
              <a:off x="1691" y="2395"/>
              <a:ext cx="9"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1" name="Rectangle 1926"/>
            <p:cNvSpPr>
              <a:spLocks noChangeArrowheads="1"/>
            </p:cNvSpPr>
            <p:nvPr/>
          </p:nvSpPr>
          <p:spPr bwMode="auto">
            <a:xfrm>
              <a:off x="1691" y="2357"/>
              <a:ext cx="9" cy="11"/>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2" name="Rectangle 1927"/>
            <p:cNvSpPr>
              <a:spLocks noChangeArrowheads="1"/>
            </p:cNvSpPr>
            <p:nvPr/>
          </p:nvSpPr>
          <p:spPr bwMode="auto">
            <a:xfrm>
              <a:off x="1691" y="2321"/>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3" name="Rectangle 1928"/>
            <p:cNvSpPr>
              <a:spLocks noChangeArrowheads="1"/>
            </p:cNvSpPr>
            <p:nvPr/>
          </p:nvSpPr>
          <p:spPr bwMode="auto">
            <a:xfrm>
              <a:off x="1691" y="2284"/>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4" name="Rectangle 1929"/>
            <p:cNvSpPr>
              <a:spLocks noChangeArrowheads="1"/>
            </p:cNvSpPr>
            <p:nvPr/>
          </p:nvSpPr>
          <p:spPr bwMode="auto">
            <a:xfrm>
              <a:off x="1691" y="2247"/>
              <a:ext cx="9" cy="1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5" name="Rectangle 1930"/>
            <p:cNvSpPr>
              <a:spLocks noChangeArrowheads="1"/>
            </p:cNvSpPr>
            <p:nvPr/>
          </p:nvSpPr>
          <p:spPr bwMode="auto">
            <a:xfrm>
              <a:off x="1680" y="2214"/>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6" name="Rectangle 1931"/>
            <p:cNvSpPr>
              <a:spLocks noChangeArrowheads="1"/>
            </p:cNvSpPr>
            <p:nvPr/>
          </p:nvSpPr>
          <p:spPr bwMode="auto">
            <a:xfrm>
              <a:off x="1644" y="2214"/>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7" name="Rectangle 1932"/>
            <p:cNvSpPr>
              <a:spLocks noChangeArrowheads="1"/>
            </p:cNvSpPr>
            <p:nvPr/>
          </p:nvSpPr>
          <p:spPr bwMode="auto">
            <a:xfrm>
              <a:off x="1609" y="2214"/>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8" name="Rectangle 1933"/>
            <p:cNvSpPr>
              <a:spLocks noChangeArrowheads="1"/>
            </p:cNvSpPr>
            <p:nvPr/>
          </p:nvSpPr>
          <p:spPr bwMode="auto">
            <a:xfrm>
              <a:off x="1573" y="2214"/>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49" name="Rectangle 1934"/>
            <p:cNvSpPr>
              <a:spLocks noChangeArrowheads="1"/>
            </p:cNvSpPr>
            <p:nvPr/>
          </p:nvSpPr>
          <p:spPr bwMode="auto">
            <a:xfrm>
              <a:off x="1538" y="2214"/>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50" name="Rectangle 1935"/>
            <p:cNvSpPr>
              <a:spLocks noChangeArrowheads="1"/>
            </p:cNvSpPr>
            <p:nvPr/>
          </p:nvSpPr>
          <p:spPr bwMode="auto">
            <a:xfrm>
              <a:off x="1502" y="2214"/>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51" name="Rectangle 1936"/>
            <p:cNvSpPr>
              <a:spLocks noChangeArrowheads="1"/>
            </p:cNvSpPr>
            <p:nvPr/>
          </p:nvSpPr>
          <p:spPr bwMode="auto">
            <a:xfrm>
              <a:off x="1467" y="2214"/>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52" name="Freeform 1937"/>
            <p:cNvSpPr>
              <a:spLocks/>
            </p:cNvSpPr>
            <p:nvPr/>
          </p:nvSpPr>
          <p:spPr bwMode="auto">
            <a:xfrm>
              <a:off x="1247" y="2227"/>
              <a:ext cx="833" cy="195"/>
            </a:xfrm>
            <a:custGeom>
              <a:avLst/>
              <a:gdLst>
                <a:gd name="T0" fmla="*/ 0 w 1666"/>
                <a:gd name="T1" fmla="*/ 247 h 385"/>
                <a:gd name="T2" fmla="*/ 25 w 1666"/>
                <a:gd name="T3" fmla="*/ 137 h 385"/>
                <a:gd name="T4" fmla="*/ 72 w 1666"/>
                <a:gd name="T5" fmla="*/ 357 h 385"/>
                <a:gd name="T6" fmla="*/ 120 w 1666"/>
                <a:gd name="T7" fmla="*/ 0 h 385"/>
                <a:gd name="T8" fmla="*/ 143 w 1666"/>
                <a:gd name="T9" fmla="*/ 165 h 385"/>
                <a:gd name="T10" fmla="*/ 168 w 1666"/>
                <a:gd name="T11" fmla="*/ 110 h 385"/>
                <a:gd name="T12" fmla="*/ 191 w 1666"/>
                <a:gd name="T13" fmla="*/ 137 h 385"/>
                <a:gd name="T14" fmla="*/ 239 w 1666"/>
                <a:gd name="T15" fmla="*/ 55 h 385"/>
                <a:gd name="T16" fmla="*/ 287 w 1666"/>
                <a:gd name="T17" fmla="*/ 275 h 385"/>
                <a:gd name="T18" fmla="*/ 310 w 1666"/>
                <a:gd name="T19" fmla="*/ 137 h 385"/>
                <a:gd name="T20" fmla="*/ 358 w 1666"/>
                <a:gd name="T21" fmla="*/ 357 h 385"/>
                <a:gd name="T22" fmla="*/ 405 w 1666"/>
                <a:gd name="T23" fmla="*/ 385 h 385"/>
                <a:gd name="T24" fmla="*/ 453 w 1666"/>
                <a:gd name="T25" fmla="*/ 357 h 385"/>
                <a:gd name="T26" fmla="*/ 476 w 1666"/>
                <a:gd name="T27" fmla="*/ 275 h 385"/>
                <a:gd name="T28" fmla="*/ 524 w 1666"/>
                <a:gd name="T29" fmla="*/ 247 h 385"/>
                <a:gd name="T30" fmla="*/ 572 w 1666"/>
                <a:gd name="T31" fmla="*/ 165 h 385"/>
                <a:gd name="T32" fmla="*/ 643 w 1666"/>
                <a:gd name="T33" fmla="*/ 137 h 385"/>
                <a:gd name="T34" fmla="*/ 690 w 1666"/>
                <a:gd name="T35" fmla="*/ 82 h 385"/>
                <a:gd name="T36" fmla="*/ 762 w 1666"/>
                <a:gd name="T37" fmla="*/ 82 h 385"/>
                <a:gd name="T38" fmla="*/ 810 w 1666"/>
                <a:gd name="T39" fmla="*/ 27 h 385"/>
                <a:gd name="T40" fmla="*/ 881 w 1666"/>
                <a:gd name="T41" fmla="*/ 0 h 385"/>
                <a:gd name="T42" fmla="*/ 929 w 1666"/>
                <a:gd name="T43" fmla="*/ 275 h 385"/>
                <a:gd name="T44" fmla="*/ 952 w 1666"/>
                <a:gd name="T45" fmla="*/ 137 h 385"/>
                <a:gd name="T46" fmla="*/ 1000 w 1666"/>
                <a:gd name="T47" fmla="*/ 220 h 385"/>
                <a:gd name="T48" fmla="*/ 1048 w 1666"/>
                <a:gd name="T49" fmla="*/ 0 h 385"/>
                <a:gd name="T50" fmla="*/ 1095 w 1666"/>
                <a:gd name="T51" fmla="*/ 302 h 385"/>
                <a:gd name="T52" fmla="*/ 1143 w 1666"/>
                <a:gd name="T53" fmla="*/ 110 h 385"/>
                <a:gd name="T54" fmla="*/ 1191 w 1666"/>
                <a:gd name="T55" fmla="*/ 275 h 385"/>
                <a:gd name="T56" fmla="*/ 1262 w 1666"/>
                <a:gd name="T57" fmla="*/ 137 h 385"/>
                <a:gd name="T58" fmla="*/ 1310 w 1666"/>
                <a:gd name="T59" fmla="*/ 247 h 385"/>
                <a:gd name="T60" fmla="*/ 1357 w 1666"/>
                <a:gd name="T61" fmla="*/ 275 h 385"/>
                <a:gd name="T62" fmla="*/ 1405 w 1666"/>
                <a:gd name="T63" fmla="*/ 247 h 385"/>
                <a:gd name="T64" fmla="*/ 1428 w 1666"/>
                <a:gd name="T65" fmla="*/ 137 h 385"/>
                <a:gd name="T66" fmla="*/ 1476 w 1666"/>
                <a:gd name="T67" fmla="*/ 165 h 385"/>
                <a:gd name="T68" fmla="*/ 1524 w 1666"/>
                <a:gd name="T69" fmla="*/ 275 h 385"/>
                <a:gd name="T70" fmla="*/ 1571 w 1666"/>
                <a:gd name="T71" fmla="*/ 110 h 385"/>
                <a:gd name="T72" fmla="*/ 1619 w 1666"/>
                <a:gd name="T73" fmla="*/ 247 h 385"/>
                <a:gd name="T74" fmla="*/ 1666 w 1666"/>
                <a:gd name="T75" fmla="*/ 192 h 38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66"/>
                <a:gd name="T115" fmla="*/ 0 h 385"/>
                <a:gd name="T116" fmla="*/ 1666 w 1666"/>
                <a:gd name="T117" fmla="*/ 385 h 38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66" h="385">
                  <a:moveTo>
                    <a:pt x="0" y="247"/>
                  </a:moveTo>
                  <a:lnTo>
                    <a:pt x="25" y="137"/>
                  </a:lnTo>
                  <a:lnTo>
                    <a:pt x="72" y="357"/>
                  </a:lnTo>
                  <a:lnTo>
                    <a:pt x="120" y="0"/>
                  </a:lnTo>
                  <a:lnTo>
                    <a:pt x="143" y="165"/>
                  </a:lnTo>
                  <a:lnTo>
                    <a:pt x="168" y="110"/>
                  </a:lnTo>
                  <a:lnTo>
                    <a:pt x="191" y="137"/>
                  </a:lnTo>
                  <a:lnTo>
                    <a:pt x="239" y="55"/>
                  </a:lnTo>
                  <a:lnTo>
                    <a:pt x="287" y="275"/>
                  </a:lnTo>
                  <a:lnTo>
                    <a:pt x="310" y="137"/>
                  </a:lnTo>
                  <a:lnTo>
                    <a:pt x="358" y="357"/>
                  </a:lnTo>
                  <a:lnTo>
                    <a:pt x="405" y="385"/>
                  </a:lnTo>
                  <a:lnTo>
                    <a:pt x="453" y="357"/>
                  </a:lnTo>
                  <a:lnTo>
                    <a:pt x="476" y="275"/>
                  </a:lnTo>
                  <a:lnTo>
                    <a:pt x="524" y="247"/>
                  </a:lnTo>
                  <a:lnTo>
                    <a:pt x="572" y="165"/>
                  </a:lnTo>
                  <a:lnTo>
                    <a:pt x="643" y="137"/>
                  </a:lnTo>
                  <a:lnTo>
                    <a:pt x="690" y="82"/>
                  </a:lnTo>
                  <a:lnTo>
                    <a:pt x="762" y="82"/>
                  </a:lnTo>
                  <a:lnTo>
                    <a:pt x="810" y="27"/>
                  </a:lnTo>
                  <a:lnTo>
                    <a:pt x="881" y="0"/>
                  </a:lnTo>
                  <a:lnTo>
                    <a:pt x="929" y="275"/>
                  </a:lnTo>
                  <a:lnTo>
                    <a:pt x="952" y="137"/>
                  </a:lnTo>
                  <a:lnTo>
                    <a:pt x="1000" y="220"/>
                  </a:lnTo>
                  <a:lnTo>
                    <a:pt x="1048" y="0"/>
                  </a:lnTo>
                  <a:lnTo>
                    <a:pt x="1095" y="302"/>
                  </a:lnTo>
                  <a:lnTo>
                    <a:pt x="1143" y="110"/>
                  </a:lnTo>
                  <a:lnTo>
                    <a:pt x="1191" y="275"/>
                  </a:lnTo>
                  <a:lnTo>
                    <a:pt x="1262" y="137"/>
                  </a:lnTo>
                  <a:lnTo>
                    <a:pt x="1310" y="247"/>
                  </a:lnTo>
                  <a:lnTo>
                    <a:pt x="1357" y="275"/>
                  </a:lnTo>
                  <a:lnTo>
                    <a:pt x="1405" y="247"/>
                  </a:lnTo>
                  <a:lnTo>
                    <a:pt x="1428" y="137"/>
                  </a:lnTo>
                  <a:lnTo>
                    <a:pt x="1476" y="165"/>
                  </a:lnTo>
                  <a:lnTo>
                    <a:pt x="1524" y="275"/>
                  </a:lnTo>
                  <a:lnTo>
                    <a:pt x="1571" y="110"/>
                  </a:lnTo>
                  <a:lnTo>
                    <a:pt x="1619" y="247"/>
                  </a:lnTo>
                  <a:lnTo>
                    <a:pt x="1666" y="192"/>
                  </a:lnTo>
                </a:path>
              </a:pathLst>
            </a:custGeom>
            <a:noFill/>
            <a:ln w="6350">
              <a:solidFill>
                <a:srgbClr val="000000"/>
              </a:solidFill>
              <a:prstDash val="solid"/>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grpSp>
      <p:grpSp>
        <p:nvGrpSpPr>
          <p:cNvPr id="7" name="Group 1938"/>
          <p:cNvGrpSpPr>
            <a:grpSpLocks/>
          </p:cNvGrpSpPr>
          <p:nvPr/>
        </p:nvGrpSpPr>
        <p:grpSpPr bwMode="auto">
          <a:xfrm>
            <a:off x="1854889" y="5615118"/>
            <a:ext cx="1658937" cy="511175"/>
            <a:chOff x="1219" y="2572"/>
            <a:chExt cx="865" cy="282"/>
          </a:xfrm>
        </p:grpSpPr>
        <p:sp>
          <p:nvSpPr>
            <p:cNvPr id="854" name="Freeform 1939"/>
            <p:cNvSpPr>
              <a:spLocks/>
            </p:cNvSpPr>
            <p:nvPr/>
          </p:nvSpPr>
          <p:spPr bwMode="auto">
            <a:xfrm>
              <a:off x="1226" y="2686"/>
              <a:ext cx="834" cy="51"/>
            </a:xfrm>
            <a:custGeom>
              <a:avLst/>
              <a:gdLst>
                <a:gd name="T0" fmla="*/ 0 w 2499"/>
                <a:gd name="T1" fmla="*/ 70 h 155"/>
                <a:gd name="T2" fmla="*/ 71 w 2499"/>
                <a:gd name="T3" fmla="*/ 127 h 155"/>
                <a:gd name="T4" fmla="*/ 119 w 2499"/>
                <a:gd name="T5" fmla="*/ 56 h 155"/>
                <a:gd name="T6" fmla="*/ 190 w 2499"/>
                <a:gd name="T7" fmla="*/ 84 h 155"/>
                <a:gd name="T8" fmla="*/ 238 w 2499"/>
                <a:gd name="T9" fmla="*/ 70 h 155"/>
                <a:gd name="T10" fmla="*/ 285 w 2499"/>
                <a:gd name="T11" fmla="*/ 112 h 155"/>
                <a:gd name="T12" fmla="*/ 333 w 2499"/>
                <a:gd name="T13" fmla="*/ 98 h 155"/>
                <a:gd name="T14" fmla="*/ 404 w 2499"/>
                <a:gd name="T15" fmla="*/ 0 h 155"/>
                <a:gd name="T16" fmla="*/ 452 w 2499"/>
                <a:gd name="T17" fmla="*/ 141 h 155"/>
                <a:gd name="T18" fmla="*/ 524 w 2499"/>
                <a:gd name="T19" fmla="*/ 98 h 155"/>
                <a:gd name="T20" fmla="*/ 571 w 2499"/>
                <a:gd name="T21" fmla="*/ 84 h 155"/>
                <a:gd name="T22" fmla="*/ 619 w 2499"/>
                <a:gd name="T23" fmla="*/ 56 h 155"/>
                <a:gd name="T24" fmla="*/ 666 w 2499"/>
                <a:gd name="T25" fmla="*/ 98 h 155"/>
                <a:gd name="T26" fmla="*/ 738 w 2499"/>
                <a:gd name="T27" fmla="*/ 127 h 155"/>
                <a:gd name="T28" fmla="*/ 809 w 2499"/>
                <a:gd name="T29" fmla="*/ 112 h 155"/>
                <a:gd name="T30" fmla="*/ 856 w 2499"/>
                <a:gd name="T31" fmla="*/ 112 h 155"/>
                <a:gd name="T32" fmla="*/ 976 w 2499"/>
                <a:gd name="T33" fmla="*/ 56 h 155"/>
                <a:gd name="T34" fmla="*/ 1023 w 2499"/>
                <a:gd name="T35" fmla="*/ 112 h 155"/>
                <a:gd name="T36" fmla="*/ 1143 w 2499"/>
                <a:gd name="T37" fmla="*/ 141 h 155"/>
                <a:gd name="T38" fmla="*/ 1214 w 2499"/>
                <a:gd name="T39" fmla="*/ 84 h 155"/>
                <a:gd name="T40" fmla="*/ 1237 w 2499"/>
                <a:gd name="T41" fmla="*/ 42 h 155"/>
                <a:gd name="T42" fmla="*/ 1380 w 2499"/>
                <a:gd name="T43" fmla="*/ 127 h 155"/>
                <a:gd name="T44" fmla="*/ 1452 w 2499"/>
                <a:gd name="T45" fmla="*/ 70 h 155"/>
                <a:gd name="T46" fmla="*/ 1594 w 2499"/>
                <a:gd name="T47" fmla="*/ 127 h 155"/>
                <a:gd name="T48" fmla="*/ 1618 w 2499"/>
                <a:gd name="T49" fmla="*/ 112 h 155"/>
                <a:gd name="T50" fmla="*/ 1690 w 2499"/>
                <a:gd name="T51" fmla="*/ 127 h 155"/>
                <a:gd name="T52" fmla="*/ 1738 w 2499"/>
                <a:gd name="T53" fmla="*/ 70 h 155"/>
                <a:gd name="T54" fmla="*/ 1808 w 2499"/>
                <a:gd name="T55" fmla="*/ 84 h 155"/>
                <a:gd name="T56" fmla="*/ 1904 w 2499"/>
                <a:gd name="T57" fmla="*/ 42 h 155"/>
                <a:gd name="T58" fmla="*/ 1999 w 2499"/>
                <a:gd name="T59" fmla="*/ 155 h 155"/>
                <a:gd name="T60" fmla="*/ 2071 w 2499"/>
                <a:gd name="T61" fmla="*/ 84 h 155"/>
                <a:gd name="T62" fmla="*/ 2118 w 2499"/>
                <a:gd name="T63" fmla="*/ 98 h 155"/>
                <a:gd name="T64" fmla="*/ 2309 w 2499"/>
                <a:gd name="T65" fmla="*/ 56 h 155"/>
                <a:gd name="T66" fmla="*/ 2476 w 2499"/>
                <a:gd name="T67" fmla="*/ 155 h 155"/>
                <a:gd name="T68" fmla="*/ 2499 w 2499"/>
                <a:gd name="T69" fmla="*/ 98 h 1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99"/>
                <a:gd name="T106" fmla="*/ 0 h 155"/>
                <a:gd name="T107" fmla="*/ 2499 w 2499"/>
                <a:gd name="T108" fmla="*/ 155 h 15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99" h="155">
                  <a:moveTo>
                    <a:pt x="0" y="70"/>
                  </a:moveTo>
                  <a:lnTo>
                    <a:pt x="71" y="127"/>
                  </a:lnTo>
                  <a:lnTo>
                    <a:pt x="119" y="56"/>
                  </a:lnTo>
                  <a:lnTo>
                    <a:pt x="190" y="84"/>
                  </a:lnTo>
                  <a:lnTo>
                    <a:pt x="238" y="70"/>
                  </a:lnTo>
                  <a:lnTo>
                    <a:pt x="285" y="112"/>
                  </a:lnTo>
                  <a:lnTo>
                    <a:pt x="333" y="98"/>
                  </a:lnTo>
                  <a:lnTo>
                    <a:pt x="404" y="0"/>
                  </a:lnTo>
                  <a:lnTo>
                    <a:pt x="452" y="141"/>
                  </a:lnTo>
                  <a:lnTo>
                    <a:pt x="524" y="98"/>
                  </a:lnTo>
                  <a:lnTo>
                    <a:pt x="571" y="84"/>
                  </a:lnTo>
                  <a:lnTo>
                    <a:pt x="619" y="56"/>
                  </a:lnTo>
                  <a:lnTo>
                    <a:pt x="666" y="98"/>
                  </a:lnTo>
                  <a:lnTo>
                    <a:pt x="738" y="127"/>
                  </a:lnTo>
                  <a:lnTo>
                    <a:pt x="809" y="112"/>
                  </a:lnTo>
                  <a:lnTo>
                    <a:pt x="856" y="112"/>
                  </a:lnTo>
                  <a:lnTo>
                    <a:pt x="976" y="56"/>
                  </a:lnTo>
                  <a:lnTo>
                    <a:pt x="1023" y="112"/>
                  </a:lnTo>
                  <a:lnTo>
                    <a:pt x="1143" y="141"/>
                  </a:lnTo>
                  <a:lnTo>
                    <a:pt x="1214" y="84"/>
                  </a:lnTo>
                  <a:lnTo>
                    <a:pt x="1237" y="42"/>
                  </a:lnTo>
                  <a:lnTo>
                    <a:pt x="1380" y="127"/>
                  </a:lnTo>
                  <a:lnTo>
                    <a:pt x="1452" y="70"/>
                  </a:lnTo>
                  <a:lnTo>
                    <a:pt x="1594" y="127"/>
                  </a:lnTo>
                  <a:lnTo>
                    <a:pt x="1618" y="112"/>
                  </a:lnTo>
                  <a:lnTo>
                    <a:pt x="1690" y="127"/>
                  </a:lnTo>
                  <a:lnTo>
                    <a:pt x="1738" y="70"/>
                  </a:lnTo>
                  <a:lnTo>
                    <a:pt x="1808" y="84"/>
                  </a:lnTo>
                  <a:lnTo>
                    <a:pt x="1904" y="42"/>
                  </a:lnTo>
                  <a:lnTo>
                    <a:pt x="1999" y="155"/>
                  </a:lnTo>
                  <a:lnTo>
                    <a:pt x="2071" y="84"/>
                  </a:lnTo>
                  <a:lnTo>
                    <a:pt x="2118" y="98"/>
                  </a:lnTo>
                  <a:lnTo>
                    <a:pt x="2309" y="56"/>
                  </a:lnTo>
                  <a:lnTo>
                    <a:pt x="2476" y="155"/>
                  </a:lnTo>
                  <a:lnTo>
                    <a:pt x="2499" y="98"/>
                  </a:lnTo>
                </a:path>
              </a:pathLst>
            </a:custGeom>
            <a:noFill/>
            <a:ln w="11113">
              <a:solidFill>
                <a:srgbClr val="000000"/>
              </a:solidFill>
              <a:prstDash val="solid"/>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grpSp>
          <p:nvGrpSpPr>
            <p:cNvPr id="8" name="Group 1940"/>
            <p:cNvGrpSpPr>
              <a:grpSpLocks/>
            </p:cNvGrpSpPr>
            <p:nvPr/>
          </p:nvGrpSpPr>
          <p:grpSpPr bwMode="auto">
            <a:xfrm>
              <a:off x="1219" y="2572"/>
              <a:ext cx="865" cy="282"/>
              <a:chOff x="1219" y="2572"/>
              <a:chExt cx="865" cy="282"/>
            </a:xfrm>
          </p:grpSpPr>
          <p:sp>
            <p:nvSpPr>
              <p:cNvPr id="856" name="Rectangle 1941"/>
              <p:cNvSpPr>
                <a:spLocks noChangeArrowheads="1"/>
              </p:cNvSpPr>
              <p:nvPr/>
            </p:nvSpPr>
            <p:spPr bwMode="auto">
              <a:xfrm>
                <a:off x="1223" y="2572"/>
                <a:ext cx="846" cy="282"/>
              </a:xfrm>
              <a:prstGeom prst="rect">
                <a:avLst/>
              </a:prstGeom>
              <a:noFill/>
              <a:ln w="11113">
                <a:solidFill>
                  <a:srgbClr val="000000"/>
                </a:solidFill>
                <a:miter lim="800000"/>
                <a:headEnd/>
                <a:tailEnd/>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57" name="Rectangle 1942"/>
              <p:cNvSpPr>
                <a:spLocks noChangeArrowheads="1"/>
              </p:cNvSpPr>
              <p:nvPr/>
            </p:nvSpPr>
            <p:spPr bwMode="auto">
              <a:xfrm>
                <a:off x="1219"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58" name="Rectangle 1943"/>
              <p:cNvSpPr>
                <a:spLocks noChangeArrowheads="1"/>
              </p:cNvSpPr>
              <p:nvPr/>
            </p:nvSpPr>
            <p:spPr bwMode="auto">
              <a:xfrm>
                <a:off x="1246" y="260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59" name="Rectangle 1944"/>
              <p:cNvSpPr>
                <a:spLocks noChangeArrowheads="1"/>
              </p:cNvSpPr>
              <p:nvPr/>
            </p:nvSpPr>
            <p:spPr bwMode="auto">
              <a:xfrm>
                <a:off x="1273"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0" name="Rectangle 1945"/>
              <p:cNvSpPr>
                <a:spLocks noChangeArrowheads="1"/>
              </p:cNvSpPr>
              <p:nvPr/>
            </p:nvSpPr>
            <p:spPr bwMode="auto">
              <a:xfrm>
                <a:off x="1299" y="260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1" name="Rectangle 1946"/>
              <p:cNvSpPr>
                <a:spLocks noChangeArrowheads="1"/>
              </p:cNvSpPr>
              <p:nvPr/>
            </p:nvSpPr>
            <p:spPr bwMode="auto">
              <a:xfrm>
                <a:off x="1326"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2" name="Rectangle 1947"/>
              <p:cNvSpPr>
                <a:spLocks noChangeArrowheads="1"/>
              </p:cNvSpPr>
              <p:nvPr/>
            </p:nvSpPr>
            <p:spPr bwMode="auto">
              <a:xfrm>
                <a:off x="1352" y="260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3" name="Rectangle 1948"/>
              <p:cNvSpPr>
                <a:spLocks noChangeArrowheads="1"/>
              </p:cNvSpPr>
              <p:nvPr/>
            </p:nvSpPr>
            <p:spPr bwMode="auto">
              <a:xfrm>
                <a:off x="1379"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4" name="Rectangle 1949"/>
              <p:cNvSpPr>
                <a:spLocks noChangeArrowheads="1"/>
              </p:cNvSpPr>
              <p:nvPr/>
            </p:nvSpPr>
            <p:spPr bwMode="auto">
              <a:xfrm>
                <a:off x="1405"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5" name="Rectangle 1950"/>
              <p:cNvSpPr>
                <a:spLocks noChangeArrowheads="1"/>
              </p:cNvSpPr>
              <p:nvPr/>
            </p:nvSpPr>
            <p:spPr bwMode="auto">
              <a:xfrm>
                <a:off x="1432"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6" name="Rectangle 1951"/>
              <p:cNvSpPr>
                <a:spLocks noChangeArrowheads="1"/>
              </p:cNvSpPr>
              <p:nvPr/>
            </p:nvSpPr>
            <p:spPr bwMode="auto">
              <a:xfrm>
                <a:off x="1458"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7" name="Rectangle 1952"/>
              <p:cNvSpPr>
                <a:spLocks noChangeArrowheads="1"/>
              </p:cNvSpPr>
              <p:nvPr/>
            </p:nvSpPr>
            <p:spPr bwMode="auto">
              <a:xfrm>
                <a:off x="1485"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8" name="Rectangle 1953"/>
              <p:cNvSpPr>
                <a:spLocks noChangeArrowheads="1"/>
              </p:cNvSpPr>
              <p:nvPr/>
            </p:nvSpPr>
            <p:spPr bwMode="auto">
              <a:xfrm>
                <a:off x="1512"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69" name="Rectangle 1954"/>
              <p:cNvSpPr>
                <a:spLocks noChangeArrowheads="1"/>
              </p:cNvSpPr>
              <p:nvPr/>
            </p:nvSpPr>
            <p:spPr bwMode="auto">
              <a:xfrm>
                <a:off x="1538"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0" name="Rectangle 1955"/>
              <p:cNvSpPr>
                <a:spLocks noChangeArrowheads="1"/>
              </p:cNvSpPr>
              <p:nvPr/>
            </p:nvSpPr>
            <p:spPr bwMode="auto">
              <a:xfrm>
                <a:off x="1565"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1" name="Rectangle 1956"/>
              <p:cNvSpPr>
                <a:spLocks noChangeArrowheads="1"/>
              </p:cNvSpPr>
              <p:nvPr/>
            </p:nvSpPr>
            <p:spPr bwMode="auto">
              <a:xfrm>
                <a:off x="1591"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2" name="Rectangle 1957"/>
              <p:cNvSpPr>
                <a:spLocks noChangeArrowheads="1"/>
              </p:cNvSpPr>
              <p:nvPr/>
            </p:nvSpPr>
            <p:spPr bwMode="auto">
              <a:xfrm>
                <a:off x="1618"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3" name="Rectangle 1958"/>
              <p:cNvSpPr>
                <a:spLocks noChangeArrowheads="1"/>
              </p:cNvSpPr>
              <p:nvPr/>
            </p:nvSpPr>
            <p:spPr bwMode="auto">
              <a:xfrm>
                <a:off x="1644"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4" name="Rectangle 1959"/>
              <p:cNvSpPr>
                <a:spLocks noChangeArrowheads="1"/>
              </p:cNvSpPr>
              <p:nvPr/>
            </p:nvSpPr>
            <p:spPr bwMode="auto">
              <a:xfrm>
                <a:off x="1671"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5" name="Rectangle 1960"/>
              <p:cNvSpPr>
                <a:spLocks noChangeArrowheads="1"/>
              </p:cNvSpPr>
              <p:nvPr/>
            </p:nvSpPr>
            <p:spPr bwMode="auto">
              <a:xfrm>
                <a:off x="1697"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6" name="Rectangle 1961"/>
              <p:cNvSpPr>
                <a:spLocks noChangeArrowheads="1"/>
              </p:cNvSpPr>
              <p:nvPr/>
            </p:nvSpPr>
            <p:spPr bwMode="auto">
              <a:xfrm>
                <a:off x="1724"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7" name="Rectangle 1962"/>
              <p:cNvSpPr>
                <a:spLocks noChangeArrowheads="1"/>
              </p:cNvSpPr>
              <p:nvPr/>
            </p:nvSpPr>
            <p:spPr bwMode="auto">
              <a:xfrm>
                <a:off x="1750"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8" name="Rectangle 1963"/>
              <p:cNvSpPr>
                <a:spLocks noChangeArrowheads="1"/>
              </p:cNvSpPr>
              <p:nvPr/>
            </p:nvSpPr>
            <p:spPr bwMode="auto">
              <a:xfrm>
                <a:off x="1777"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79" name="Rectangle 1964"/>
              <p:cNvSpPr>
                <a:spLocks noChangeArrowheads="1"/>
              </p:cNvSpPr>
              <p:nvPr/>
            </p:nvSpPr>
            <p:spPr bwMode="auto">
              <a:xfrm>
                <a:off x="1804" y="260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0" name="Rectangle 1965"/>
              <p:cNvSpPr>
                <a:spLocks noChangeArrowheads="1"/>
              </p:cNvSpPr>
              <p:nvPr/>
            </p:nvSpPr>
            <p:spPr bwMode="auto">
              <a:xfrm>
                <a:off x="1830"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1" name="Rectangle 1966"/>
              <p:cNvSpPr>
                <a:spLocks noChangeArrowheads="1"/>
              </p:cNvSpPr>
              <p:nvPr/>
            </p:nvSpPr>
            <p:spPr bwMode="auto">
              <a:xfrm>
                <a:off x="1857" y="260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2" name="Rectangle 1967"/>
              <p:cNvSpPr>
                <a:spLocks noChangeArrowheads="1"/>
              </p:cNvSpPr>
              <p:nvPr/>
            </p:nvSpPr>
            <p:spPr bwMode="auto">
              <a:xfrm>
                <a:off x="1883"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3" name="Rectangle 1968"/>
              <p:cNvSpPr>
                <a:spLocks noChangeArrowheads="1"/>
              </p:cNvSpPr>
              <p:nvPr/>
            </p:nvSpPr>
            <p:spPr bwMode="auto">
              <a:xfrm>
                <a:off x="1910" y="260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4" name="Rectangle 1969"/>
              <p:cNvSpPr>
                <a:spLocks noChangeArrowheads="1"/>
              </p:cNvSpPr>
              <p:nvPr/>
            </p:nvSpPr>
            <p:spPr bwMode="auto">
              <a:xfrm>
                <a:off x="1936"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5" name="Rectangle 1970"/>
              <p:cNvSpPr>
                <a:spLocks noChangeArrowheads="1"/>
              </p:cNvSpPr>
              <p:nvPr/>
            </p:nvSpPr>
            <p:spPr bwMode="auto">
              <a:xfrm>
                <a:off x="1963"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6" name="Rectangle 1971"/>
              <p:cNvSpPr>
                <a:spLocks noChangeArrowheads="1"/>
              </p:cNvSpPr>
              <p:nvPr/>
            </p:nvSpPr>
            <p:spPr bwMode="auto">
              <a:xfrm>
                <a:off x="1989" y="260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7" name="Rectangle 1972"/>
              <p:cNvSpPr>
                <a:spLocks noChangeArrowheads="1"/>
              </p:cNvSpPr>
              <p:nvPr/>
            </p:nvSpPr>
            <p:spPr bwMode="auto">
              <a:xfrm>
                <a:off x="2016"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8" name="Rectangle 1973"/>
              <p:cNvSpPr>
                <a:spLocks noChangeArrowheads="1"/>
              </p:cNvSpPr>
              <p:nvPr/>
            </p:nvSpPr>
            <p:spPr bwMode="auto">
              <a:xfrm>
                <a:off x="2043"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89" name="Rectangle 1974"/>
              <p:cNvSpPr>
                <a:spLocks noChangeArrowheads="1"/>
              </p:cNvSpPr>
              <p:nvPr/>
            </p:nvSpPr>
            <p:spPr bwMode="auto">
              <a:xfrm>
                <a:off x="2069" y="260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0" name="Line 1975"/>
              <p:cNvSpPr>
                <a:spLocks noChangeShapeType="1"/>
              </p:cNvSpPr>
              <p:nvPr/>
            </p:nvSpPr>
            <p:spPr bwMode="auto">
              <a:xfrm>
                <a:off x="1220" y="2720"/>
                <a:ext cx="864" cy="1"/>
              </a:xfrm>
              <a:prstGeom prst="line">
                <a:avLst/>
              </a:prstGeom>
              <a:noFill/>
              <a:ln w="4763">
                <a:solidFill>
                  <a:srgbClr val="000000"/>
                </a:solidFill>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891" name="Rectangle 1976"/>
              <p:cNvSpPr>
                <a:spLocks noChangeArrowheads="1"/>
              </p:cNvSpPr>
              <p:nvPr/>
            </p:nvSpPr>
            <p:spPr bwMode="auto">
              <a:xfrm>
                <a:off x="1219"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2" name="Rectangle 1977"/>
              <p:cNvSpPr>
                <a:spLocks noChangeArrowheads="1"/>
              </p:cNvSpPr>
              <p:nvPr/>
            </p:nvSpPr>
            <p:spPr bwMode="auto">
              <a:xfrm>
                <a:off x="1246" y="282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3" name="Rectangle 1978"/>
              <p:cNvSpPr>
                <a:spLocks noChangeArrowheads="1"/>
              </p:cNvSpPr>
              <p:nvPr/>
            </p:nvSpPr>
            <p:spPr bwMode="auto">
              <a:xfrm>
                <a:off x="1273"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4" name="Rectangle 1979"/>
              <p:cNvSpPr>
                <a:spLocks noChangeArrowheads="1"/>
              </p:cNvSpPr>
              <p:nvPr/>
            </p:nvSpPr>
            <p:spPr bwMode="auto">
              <a:xfrm>
                <a:off x="1299" y="282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5" name="Rectangle 1980"/>
              <p:cNvSpPr>
                <a:spLocks noChangeArrowheads="1"/>
              </p:cNvSpPr>
              <p:nvPr/>
            </p:nvSpPr>
            <p:spPr bwMode="auto">
              <a:xfrm>
                <a:off x="1326"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6" name="Rectangle 1981"/>
              <p:cNvSpPr>
                <a:spLocks noChangeArrowheads="1"/>
              </p:cNvSpPr>
              <p:nvPr/>
            </p:nvSpPr>
            <p:spPr bwMode="auto">
              <a:xfrm>
                <a:off x="1352" y="282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7" name="Rectangle 1982"/>
              <p:cNvSpPr>
                <a:spLocks noChangeArrowheads="1"/>
              </p:cNvSpPr>
              <p:nvPr/>
            </p:nvSpPr>
            <p:spPr bwMode="auto">
              <a:xfrm>
                <a:off x="1379"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8" name="Rectangle 1983"/>
              <p:cNvSpPr>
                <a:spLocks noChangeArrowheads="1"/>
              </p:cNvSpPr>
              <p:nvPr/>
            </p:nvSpPr>
            <p:spPr bwMode="auto">
              <a:xfrm>
                <a:off x="1405"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899" name="Rectangle 1984"/>
              <p:cNvSpPr>
                <a:spLocks noChangeArrowheads="1"/>
              </p:cNvSpPr>
              <p:nvPr/>
            </p:nvSpPr>
            <p:spPr bwMode="auto">
              <a:xfrm>
                <a:off x="1432"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0" name="Rectangle 1985"/>
              <p:cNvSpPr>
                <a:spLocks noChangeArrowheads="1"/>
              </p:cNvSpPr>
              <p:nvPr/>
            </p:nvSpPr>
            <p:spPr bwMode="auto">
              <a:xfrm>
                <a:off x="1458"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1" name="Rectangle 1986"/>
              <p:cNvSpPr>
                <a:spLocks noChangeArrowheads="1"/>
              </p:cNvSpPr>
              <p:nvPr/>
            </p:nvSpPr>
            <p:spPr bwMode="auto">
              <a:xfrm>
                <a:off x="1485"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2" name="Rectangle 1987"/>
              <p:cNvSpPr>
                <a:spLocks noChangeArrowheads="1"/>
              </p:cNvSpPr>
              <p:nvPr/>
            </p:nvSpPr>
            <p:spPr bwMode="auto">
              <a:xfrm>
                <a:off x="1512"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3" name="Rectangle 1988"/>
              <p:cNvSpPr>
                <a:spLocks noChangeArrowheads="1"/>
              </p:cNvSpPr>
              <p:nvPr/>
            </p:nvSpPr>
            <p:spPr bwMode="auto">
              <a:xfrm>
                <a:off x="1538"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4" name="Rectangle 1989"/>
              <p:cNvSpPr>
                <a:spLocks noChangeArrowheads="1"/>
              </p:cNvSpPr>
              <p:nvPr/>
            </p:nvSpPr>
            <p:spPr bwMode="auto">
              <a:xfrm>
                <a:off x="1565"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5" name="Rectangle 1990"/>
              <p:cNvSpPr>
                <a:spLocks noChangeArrowheads="1"/>
              </p:cNvSpPr>
              <p:nvPr/>
            </p:nvSpPr>
            <p:spPr bwMode="auto">
              <a:xfrm>
                <a:off x="1591"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6" name="Rectangle 1991"/>
              <p:cNvSpPr>
                <a:spLocks noChangeArrowheads="1"/>
              </p:cNvSpPr>
              <p:nvPr/>
            </p:nvSpPr>
            <p:spPr bwMode="auto">
              <a:xfrm>
                <a:off x="1618"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7" name="Rectangle 1992"/>
              <p:cNvSpPr>
                <a:spLocks noChangeArrowheads="1"/>
              </p:cNvSpPr>
              <p:nvPr/>
            </p:nvSpPr>
            <p:spPr bwMode="auto">
              <a:xfrm>
                <a:off x="1644"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8" name="Rectangle 1993"/>
              <p:cNvSpPr>
                <a:spLocks noChangeArrowheads="1"/>
              </p:cNvSpPr>
              <p:nvPr/>
            </p:nvSpPr>
            <p:spPr bwMode="auto">
              <a:xfrm>
                <a:off x="1671"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09" name="Rectangle 1994"/>
              <p:cNvSpPr>
                <a:spLocks noChangeArrowheads="1"/>
              </p:cNvSpPr>
              <p:nvPr/>
            </p:nvSpPr>
            <p:spPr bwMode="auto">
              <a:xfrm>
                <a:off x="1697"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0" name="Rectangle 1995"/>
              <p:cNvSpPr>
                <a:spLocks noChangeArrowheads="1"/>
              </p:cNvSpPr>
              <p:nvPr/>
            </p:nvSpPr>
            <p:spPr bwMode="auto">
              <a:xfrm>
                <a:off x="1724"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1" name="Rectangle 1996"/>
              <p:cNvSpPr>
                <a:spLocks noChangeArrowheads="1"/>
              </p:cNvSpPr>
              <p:nvPr/>
            </p:nvSpPr>
            <p:spPr bwMode="auto">
              <a:xfrm>
                <a:off x="1750"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2" name="Rectangle 1997"/>
              <p:cNvSpPr>
                <a:spLocks noChangeArrowheads="1"/>
              </p:cNvSpPr>
              <p:nvPr/>
            </p:nvSpPr>
            <p:spPr bwMode="auto">
              <a:xfrm>
                <a:off x="1777"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3" name="Rectangle 1998"/>
              <p:cNvSpPr>
                <a:spLocks noChangeArrowheads="1"/>
              </p:cNvSpPr>
              <p:nvPr/>
            </p:nvSpPr>
            <p:spPr bwMode="auto">
              <a:xfrm>
                <a:off x="1804" y="282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4" name="Rectangle 1999"/>
              <p:cNvSpPr>
                <a:spLocks noChangeArrowheads="1"/>
              </p:cNvSpPr>
              <p:nvPr/>
            </p:nvSpPr>
            <p:spPr bwMode="auto">
              <a:xfrm>
                <a:off x="1830"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5" name="Rectangle 2000"/>
              <p:cNvSpPr>
                <a:spLocks noChangeArrowheads="1"/>
              </p:cNvSpPr>
              <p:nvPr/>
            </p:nvSpPr>
            <p:spPr bwMode="auto">
              <a:xfrm>
                <a:off x="1857" y="282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6" name="Rectangle 2001"/>
              <p:cNvSpPr>
                <a:spLocks noChangeArrowheads="1"/>
              </p:cNvSpPr>
              <p:nvPr/>
            </p:nvSpPr>
            <p:spPr bwMode="auto">
              <a:xfrm>
                <a:off x="1883"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7" name="Rectangle 2002"/>
              <p:cNvSpPr>
                <a:spLocks noChangeArrowheads="1"/>
              </p:cNvSpPr>
              <p:nvPr/>
            </p:nvSpPr>
            <p:spPr bwMode="auto">
              <a:xfrm>
                <a:off x="1910" y="282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8" name="Rectangle 2003"/>
              <p:cNvSpPr>
                <a:spLocks noChangeArrowheads="1"/>
              </p:cNvSpPr>
              <p:nvPr/>
            </p:nvSpPr>
            <p:spPr bwMode="auto">
              <a:xfrm>
                <a:off x="1936"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19" name="Rectangle 2004"/>
              <p:cNvSpPr>
                <a:spLocks noChangeArrowheads="1"/>
              </p:cNvSpPr>
              <p:nvPr/>
            </p:nvSpPr>
            <p:spPr bwMode="auto">
              <a:xfrm>
                <a:off x="1963"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20" name="Rectangle 2005"/>
              <p:cNvSpPr>
                <a:spLocks noChangeArrowheads="1"/>
              </p:cNvSpPr>
              <p:nvPr/>
            </p:nvSpPr>
            <p:spPr bwMode="auto">
              <a:xfrm>
                <a:off x="1989" y="282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21" name="Rectangle 2006"/>
              <p:cNvSpPr>
                <a:spLocks noChangeArrowheads="1"/>
              </p:cNvSpPr>
              <p:nvPr/>
            </p:nvSpPr>
            <p:spPr bwMode="auto">
              <a:xfrm>
                <a:off x="2016"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22" name="Rectangle 2007"/>
              <p:cNvSpPr>
                <a:spLocks noChangeArrowheads="1"/>
              </p:cNvSpPr>
              <p:nvPr/>
            </p:nvSpPr>
            <p:spPr bwMode="auto">
              <a:xfrm>
                <a:off x="2043"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23" name="Rectangle 2008"/>
              <p:cNvSpPr>
                <a:spLocks noChangeArrowheads="1"/>
              </p:cNvSpPr>
              <p:nvPr/>
            </p:nvSpPr>
            <p:spPr bwMode="auto">
              <a:xfrm>
                <a:off x="2069" y="282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grpSp>
      </p:grpSp>
      <p:grpSp>
        <p:nvGrpSpPr>
          <p:cNvPr id="9" name="Group 2009"/>
          <p:cNvGrpSpPr>
            <a:grpSpLocks/>
          </p:cNvGrpSpPr>
          <p:nvPr/>
        </p:nvGrpSpPr>
        <p:grpSpPr bwMode="auto">
          <a:xfrm>
            <a:off x="1854889" y="6221567"/>
            <a:ext cx="1658937" cy="511175"/>
            <a:chOff x="1219" y="2953"/>
            <a:chExt cx="862" cy="289"/>
          </a:xfrm>
        </p:grpSpPr>
        <p:grpSp>
          <p:nvGrpSpPr>
            <p:cNvPr id="10" name="Group 2010"/>
            <p:cNvGrpSpPr>
              <a:grpSpLocks/>
            </p:cNvGrpSpPr>
            <p:nvPr/>
          </p:nvGrpSpPr>
          <p:grpSpPr bwMode="auto">
            <a:xfrm>
              <a:off x="1219" y="2953"/>
              <a:ext cx="862" cy="289"/>
              <a:chOff x="1219" y="2953"/>
              <a:chExt cx="862" cy="289"/>
            </a:xfrm>
          </p:grpSpPr>
          <p:sp>
            <p:nvSpPr>
              <p:cNvPr id="927" name="Rectangle 2011"/>
              <p:cNvSpPr>
                <a:spLocks noChangeArrowheads="1"/>
              </p:cNvSpPr>
              <p:nvPr/>
            </p:nvSpPr>
            <p:spPr bwMode="auto">
              <a:xfrm>
                <a:off x="1223" y="2953"/>
                <a:ext cx="852" cy="289"/>
              </a:xfrm>
              <a:prstGeom prst="rect">
                <a:avLst/>
              </a:prstGeom>
              <a:noFill/>
              <a:ln w="11113">
                <a:solidFill>
                  <a:srgbClr val="000000"/>
                </a:solidFill>
                <a:miter lim="800000"/>
                <a:headEnd/>
                <a:tailEnd/>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28" name="Rectangle 2012"/>
              <p:cNvSpPr>
                <a:spLocks noChangeArrowheads="1"/>
              </p:cNvSpPr>
              <p:nvPr/>
            </p:nvSpPr>
            <p:spPr bwMode="auto">
              <a:xfrm>
                <a:off x="1219"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29" name="Rectangle 2013"/>
              <p:cNvSpPr>
                <a:spLocks noChangeArrowheads="1"/>
              </p:cNvSpPr>
              <p:nvPr/>
            </p:nvSpPr>
            <p:spPr bwMode="auto">
              <a:xfrm>
                <a:off x="1246"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0" name="Rectangle 2014"/>
              <p:cNvSpPr>
                <a:spLocks noChangeArrowheads="1"/>
              </p:cNvSpPr>
              <p:nvPr/>
            </p:nvSpPr>
            <p:spPr bwMode="auto">
              <a:xfrm>
                <a:off x="1273"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1" name="Rectangle 2015"/>
              <p:cNvSpPr>
                <a:spLocks noChangeArrowheads="1"/>
              </p:cNvSpPr>
              <p:nvPr/>
            </p:nvSpPr>
            <p:spPr bwMode="auto">
              <a:xfrm>
                <a:off x="1300"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2" name="Rectangle 2016"/>
              <p:cNvSpPr>
                <a:spLocks noChangeArrowheads="1"/>
              </p:cNvSpPr>
              <p:nvPr/>
            </p:nvSpPr>
            <p:spPr bwMode="auto">
              <a:xfrm>
                <a:off x="1328"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3" name="Rectangle 2017"/>
              <p:cNvSpPr>
                <a:spLocks noChangeArrowheads="1"/>
              </p:cNvSpPr>
              <p:nvPr/>
            </p:nvSpPr>
            <p:spPr bwMode="auto">
              <a:xfrm>
                <a:off x="1355"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4" name="Rectangle 2018"/>
              <p:cNvSpPr>
                <a:spLocks noChangeArrowheads="1"/>
              </p:cNvSpPr>
              <p:nvPr/>
            </p:nvSpPr>
            <p:spPr bwMode="auto">
              <a:xfrm>
                <a:off x="1382" y="298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5" name="Rectangle 2019"/>
              <p:cNvSpPr>
                <a:spLocks noChangeArrowheads="1"/>
              </p:cNvSpPr>
              <p:nvPr/>
            </p:nvSpPr>
            <p:spPr bwMode="auto">
              <a:xfrm>
                <a:off x="1409"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6" name="Rectangle 2020"/>
              <p:cNvSpPr>
                <a:spLocks noChangeArrowheads="1"/>
              </p:cNvSpPr>
              <p:nvPr/>
            </p:nvSpPr>
            <p:spPr bwMode="auto">
              <a:xfrm>
                <a:off x="1436"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7" name="Rectangle 2021"/>
              <p:cNvSpPr>
                <a:spLocks noChangeArrowheads="1"/>
              </p:cNvSpPr>
              <p:nvPr/>
            </p:nvSpPr>
            <p:spPr bwMode="auto">
              <a:xfrm>
                <a:off x="1463"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8" name="Rectangle 2022"/>
              <p:cNvSpPr>
                <a:spLocks noChangeArrowheads="1"/>
              </p:cNvSpPr>
              <p:nvPr/>
            </p:nvSpPr>
            <p:spPr bwMode="auto">
              <a:xfrm>
                <a:off x="1490"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39" name="Rectangle 2023"/>
              <p:cNvSpPr>
                <a:spLocks noChangeArrowheads="1"/>
              </p:cNvSpPr>
              <p:nvPr/>
            </p:nvSpPr>
            <p:spPr bwMode="auto">
              <a:xfrm>
                <a:off x="1517"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0" name="Rectangle 2024"/>
              <p:cNvSpPr>
                <a:spLocks noChangeArrowheads="1"/>
              </p:cNvSpPr>
              <p:nvPr/>
            </p:nvSpPr>
            <p:spPr bwMode="auto">
              <a:xfrm>
                <a:off x="1545"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1" name="Rectangle 2025"/>
              <p:cNvSpPr>
                <a:spLocks noChangeArrowheads="1"/>
              </p:cNvSpPr>
              <p:nvPr/>
            </p:nvSpPr>
            <p:spPr bwMode="auto">
              <a:xfrm>
                <a:off x="1572"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2" name="Rectangle 2026"/>
              <p:cNvSpPr>
                <a:spLocks noChangeArrowheads="1"/>
              </p:cNvSpPr>
              <p:nvPr/>
            </p:nvSpPr>
            <p:spPr bwMode="auto">
              <a:xfrm>
                <a:off x="1599" y="298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3" name="Rectangle 2027"/>
              <p:cNvSpPr>
                <a:spLocks noChangeArrowheads="1"/>
              </p:cNvSpPr>
              <p:nvPr/>
            </p:nvSpPr>
            <p:spPr bwMode="auto">
              <a:xfrm>
                <a:off x="1626"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4" name="Rectangle 2028"/>
              <p:cNvSpPr>
                <a:spLocks noChangeArrowheads="1"/>
              </p:cNvSpPr>
              <p:nvPr/>
            </p:nvSpPr>
            <p:spPr bwMode="auto">
              <a:xfrm>
                <a:off x="1653"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5" name="Rectangle 2029"/>
              <p:cNvSpPr>
                <a:spLocks noChangeArrowheads="1"/>
              </p:cNvSpPr>
              <p:nvPr/>
            </p:nvSpPr>
            <p:spPr bwMode="auto">
              <a:xfrm>
                <a:off x="1680"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6" name="Rectangle 2030"/>
              <p:cNvSpPr>
                <a:spLocks noChangeArrowheads="1"/>
              </p:cNvSpPr>
              <p:nvPr/>
            </p:nvSpPr>
            <p:spPr bwMode="auto">
              <a:xfrm>
                <a:off x="1707"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7" name="Rectangle 2031"/>
              <p:cNvSpPr>
                <a:spLocks noChangeArrowheads="1"/>
              </p:cNvSpPr>
              <p:nvPr/>
            </p:nvSpPr>
            <p:spPr bwMode="auto">
              <a:xfrm>
                <a:off x="1734"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8" name="Rectangle 2032"/>
              <p:cNvSpPr>
                <a:spLocks noChangeArrowheads="1"/>
              </p:cNvSpPr>
              <p:nvPr/>
            </p:nvSpPr>
            <p:spPr bwMode="auto">
              <a:xfrm>
                <a:off x="1761"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49" name="Rectangle 2033"/>
              <p:cNvSpPr>
                <a:spLocks noChangeArrowheads="1"/>
              </p:cNvSpPr>
              <p:nvPr/>
            </p:nvSpPr>
            <p:spPr bwMode="auto">
              <a:xfrm>
                <a:off x="1789"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0" name="Rectangle 2034"/>
              <p:cNvSpPr>
                <a:spLocks noChangeArrowheads="1"/>
              </p:cNvSpPr>
              <p:nvPr/>
            </p:nvSpPr>
            <p:spPr bwMode="auto">
              <a:xfrm>
                <a:off x="1816"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1" name="Rectangle 2035"/>
              <p:cNvSpPr>
                <a:spLocks noChangeArrowheads="1"/>
              </p:cNvSpPr>
              <p:nvPr/>
            </p:nvSpPr>
            <p:spPr bwMode="auto">
              <a:xfrm>
                <a:off x="1843"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2" name="Rectangle 2036"/>
              <p:cNvSpPr>
                <a:spLocks noChangeArrowheads="1"/>
              </p:cNvSpPr>
              <p:nvPr/>
            </p:nvSpPr>
            <p:spPr bwMode="auto">
              <a:xfrm>
                <a:off x="1870"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3" name="Rectangle 2037"/>
              <p:cNvSpPr>
                <a:spLocks noChangeArrowheads="1"/>
              </p:cNvSpPr>
              <p:nvPr/>
            </p:nvSpPr>
            <p:spPr bwMode="auto">
              <a:xfrm>
                <a:off x="1897"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4" name="Rectangle 2038"/>
              <p:cNvSpPr>
                <a:spLocks noChangeArrowheads="1"/>
              </p:cNvSpPr>
              <p:nvPr/>
            </p:nvSpPr>
            <p:spPr bwMode="auto">
              <a:xfrm>
                <a:off x="1924"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5" name="Rectangle 2039"/>
              <p:cNvSpPr>
                <a:spLocks noChangeArrowheads="1"/>
              </p:cNvSpPr>
              <p:nvPr/>
            </p:nvSpPr>
            <p:spPr bwMode="auto">
              <a:xfrm>
                <a:off x="1951"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6" name="Rectangle 2040"/>
              <p:cNvSpPr>
                <a:spLocks noChangeArrowheads="1"/>
              </p:cNvSpPr>
              <p:nvPr/>
            </p:nvSpPr>
            <p:spPr bwMode="auto">
              <a:xfrm>
                <a:off x="1978" y="2982"/>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7" name="Rectangle 2041"/>
              <p:cNvSpPr>
                <a:spLocks noChangeArrowheads="1"/>
              </p:cNvSpPr>
              <p:nvPr/>
            </p:nvSpPr>
            <p:spPr bwMode="auto">
              <a:xfrm>
                <a:off x="2006"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8" name="Rectangle 2042"/>
              <p:cNvSpPr>
                <a:spLocks noChangeArrowheads="1"/>
              </p:cNvSpPr>
              <p:nvPr/>
            </p:nvSpPr>
            <p:spPr bwMode="auto">
              <a:xfrm>
                <a:off x="2033" y="2982"/>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59" name="Rectangle 2043"/>
              <p:cNvSpPr>
                <a:spLocks noChangeArrowheads="1"/>
              </p:cNvSpPr>
              <p:nvPr/>
            </p:nvSpPr>
            <p:spPr bwMode="auto">
              <a:xfrm>
                <a:off x="2060" y="2982"/>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0" name="Line 2044"/>
              <p:cNvSpPr>
                <a:spLocks noChangeShapeType="1"/>
              </p:cNvSpPr>
              <p:nvPr/>
            </p:nvSpPr>
            <p:spPr bwMode="auto">
              <a:xfrm>
                <a:off x="1220" y="3105"/>
                <a:ext cx="861" cy="1"/>
              </a:xfrm>
              <a:prstGeom prst="line">
                <a:avLst/>
              </a:prstGeom>
              <a:noFill/>
              <a:ln w="4763">
                <a:solidFill>
                  <a:srgbClr val="000000"/>
                </a:solidFill>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961" name="Rectangle 2045"/>
              <p:cNvSpPr>
                <a:spLocks noChangeArrowheads="1"/>
              </p:cNvSpPr>
              <p:nvPr/>
            </p:nvSpPr>
            <p:spPr bwMode="auto">
              <a:xfrm>
                <a:off x="1219"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2" name="Rectangle 2046"/>
              <p:cNvSpPr>
                <a:spLocks noChangeArrowheads="1"/>
              </p:cNvSpPr>
              <p:nvPr/>
            </p:nvSpPr>
            <p:spPr bwMode="auto">
              <a:xfrm>
                <a:off x="1246"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3" name="Rectangle 2047"/>
              <p:cNvSpPr>
                <a:spLocks noChangeArrowheads="1"/>
              </p:cNvSpPr>
              <p:nvPr/>
            </p:nvSpPr>
            <p:spPr bwMode="auto">
              <a:xfrm>
                <a:off x="1273"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4" name="Rectangle 2048"/>
              <p:cNvSpPr>
                <a:spLocks noChangeArrowheads="1"/>
              </p:cNvSpPr>
              <p:nvPr/>
            </p:nvSpPr>
            <p:spPr bwMode="auto">
              <a:xfrm>
                <a:off x="1300"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5" name="Rectangle 2049"/>
              <p:cNvSpPr>
                <a:spLocks noChangeArrowheads="1"/>
              </p:cNvSpPr>
              <p:nvPr/>
            </p:nvSpPr>
            <p:spPr bwMode="auto">
              <a:xfrm>
                <a:off x="1328"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6" name="Rectangle 2050"/>
              <p:cNvSpPr>
                <a:spLocks noChangeArrowheads="1"/>
              </p:cNvSpPr>
              <p:nvPr/>
            </p:nvSpPr>
            <p:spPr bwMode="auto">
              <a:xfrm>
                <a:off x="1355"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7" name="Rectangle 2051"/>
              <p:cNvSpPr>
                <a:spLocks noChangeArrowheads="1"/>
              </p:cNvSpPr>
              <p:nvPr/>
            </p:nvSpPr>
            <p:spPr bwMode="auto">
              <a:xfrm>
                <a:off x="1382" y="3210"/>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8" name="Rectangle 2052"/>
              <p:cNvSpPr>
                <a:spLocks noChangeArrowheads="1"/>
              </p:cNvSpPr>
              <p:nvPr/>
            </p:nvSpPr>
            <p:spPr bwMode="auto">
              <a:xfrm>
                <a:off x="1409"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69" name="Rectangle 2053"/>
              <p:cNvSpPr>
                <a:spLocks noChangeArrowheads="1"/>
              </p:cNvSpPr>
              <p:nvPr/>
            </p:nvSpPr>
            <p:spPr bwMode="auto">
              <a:xfrm>
                <a:off x="1436"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0" name="Rectangle 2054"/>
              <p:cNvSpPr>
                <a:spLocks noChangeArrowheads="1"/>
              </p:cNvSpPr>
              <p:nvPr/>
            </p:nvSpPr>
            <p:spPr bwMode="auto">
              <a:xfrm>
                <a:off x="1463"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1" name="Rectangle 2055"/>
              <p:cNvSpPr>
                <a:spLocks noChangeArrowheads="1"/>
              </p:cNvSpPr>
              <p:nvPr/>
            </p:nvSpPr>
            <p:spPr bwMode="auto">
              <a:xfrm>
                <a:off x="1490"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2" name="Rectangle 2056"/>
              <p:cNvSpPr>
                <a:spLocks noChangeArrowheads="1"/>
              </p:cNvSpPr>
              <p:nvPr/>
            </p:nvSpPr>
            <p:spPr bwMode="auto">
              <a:xfrm>
                <a:off x="1517"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3" name="Rectangle 2057"/>
              <p:cNvSpPr>
                <a:spLocks noChangeArrowheads="1"/>
              </p:cNvSpPr>
              <p:nvPr/>
            </p:nvSpPr>
            <p:spPr bwMode="auto">
              <a:xfrm>
                <a:off x="1545"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4" name="Rectangle 2058"/>
              <p:cNvSpPr>
                <a:spLocks noChangeArrowheads="1"/>
              </p:cNvSpPr>
              <p:nvPr/>
            </p:nvSpPr>
            <p:spPr bwMode="auto">
              <a:xfrm>
                <a:off x="1572"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5" name="Rectangle 2059"/>
              <p:cNvSpPr>
                <a:spLocks noChangeArrowheads="1"/>
              </p:cNvSpPr>
              <p:nvPr/>
            </p:nvSpPr>
            <p:spPr bwMode="auto">
              <a:xfrm>
                <a:off x="1599" y="3210"/>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6" name="Rectangle 2060"/>
              <p:cNvSpPr>
                <a:spLocks noChangeArrowheads="1"/>
              </p:cNvSpPr>
              <p:nvPr/>
            </p:nvSpPr>
            <p:spPr bwMode="auto">
              <a:xfrm>
                <a:off x="1626"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7" name="Rectangle 2061"/>
              <p:cNvSpPr>
                <a:spLocks noChangeArrowheads="1"/>
              </p:cNvSpPr>
              <p:nvPr/>
            </p:nvSpPr>
            <p:spPr bwMode="auto">
              <a:xfrm>
                <a:off x="1653"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8" name="Rectangle 2062"/>
              <p:cNvSpPr>
                <a:spLocks noChangeArrowheads="1"/>
              </p:cNvSpPr>
              <p:nvPr/>
            </p:nvSpPr>
            <p:spPr bwMode="auto">
              <a:xfrm>
                <a:off x="1680"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79" name="Rectangle 2063"/>
              <p:cNvSpPr>
                <a:spLocks noChangeArrowheads="1"/>
              </p:cNvSpPr>
              <p:nvPr/>
            </p:nvSpPr>
            <p:spPr bwMode="auto">
              <a:xfrm>
                <a:off x="1707"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0" name="Rectangle 2064"/>
              <p:cNvSpPr>
                <a:spLocks noChangeArrowheads="1"/>
              </p:cNvSpPr>
              <p:nvPr/>
            </p:nvSpPr>
            <p:spPr bwMode="auto">
              <a:xfrm>
                <a:off x="1734"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1" name="Rectangle 2065"/>
              <p:cNvSpPr>
                <a:spLocks noChangeArrowheads="1"/>
              </p:cNvSpPr>
              <p:nvPr/>
            </p:nvSpPr>
            <p:spPr bwMode="auto">
              <a:xfrm>
                <a:off x="1761"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2" name="Rectangle 2066"/>
              <p:cNvSpPr>
                <a:spLocks noChangeArrowheads="1"/>
              </p:cNvSpPr>
              <p:nvPr/>
            </p:nvSpPr>
            <p:spPr bwMode="auto">
              <a:xfrm>
                <a:off x="1789"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3" name="Rectangle 2067"/>
              <p:cNvSpPr>
                <a:spLocks noChangeArrowheads="1"/>
              </p:cNvSpPr>
              <p:nvPr/>
            </p:nvSpPr>
            <p:spPr bwMode="auto">
              <a:xfrm>
                <a:off x="1816"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4" name="Rectangle 2068"/>
              <p:cNvSpPr>
                <a:spLocks noChangeArrowheads="1"/>
              </p:cNvSpPr>
              <p:nvPr/>
            </p:nvSpPr>
            <p:spPr bwMode="auto">
              <a:xfrm>
                <a:off x="1843"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5" name="Rectangle 2069"/>
              <p:cNvSpPr>
                <a:spLocks noChangeArrowheads="1"/>
              </p:cNvSpPr>
              <p:nvPr/>
            </p:nvSpPr>
            <p:spPr bwMode="auto">
              <a:xfrm>
                <a:off x="1870"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6" name="Rectangle 2070"/>
              <p:cNvSpPr>
                <a:spLocks noChangeArrowheads="1"/>
              </p:cNvSpPr>
              <p:nvPr/>
            </p:nvSpPr>
            <p:spPr bwMode="auto">
              <a:xfrm>
                <a:off x="1897"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7" name="Rectangle 2071"/>
              <p:cNvSpPr>
                <a:spLocks noChangeArrowheads="1"/>
              </p:cNvSpPr>
              <p:nvPr/>
            </p:nvSpPr>
            <p:spPr bwMode="auto">
              <a:xfrm>
                <a:off x="1924"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8" name="Rectangle 2072"/>
              <p:cNvSpPr>
                <a:spLocks noChangeArrowheads="1"/>
              </p:cNvSpPr>
              <p:nvPr/>
            </p:nvSpPr>
            <p:spPr bwMode="auto">
              <a:xfrm>
                <a:off x="1951"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89" name="Rectangle 2073"/>
              <p:cNvSpPr>
                <a:spLocks noChangeArrowheads="1"/>
              </p:cNvSpPr>
              <p:nvPr/>
            </p:nvSpPr>
            <p:spPr bwMode="auto">
              <a:xfrm>
                <a:off x="1978" y="3210"/>
                <a:ext cx="14"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90" name="Rectangle 2074"/>
              <p:cNvSpPr>
                <a:spLocks noChangeArrowheads="1"/>
              </p:cNvSpPr>
              <p:nvPr/>
            </p:nvSpPr>
            <p:spPr bwMode="auto">
              <a:xfrm>
                <a:off x="2006"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91" name="Rectangle 2075"/>
              <p:cNvSpPr>
                <a:spLocks noChangeArrowheads="1"/>
              </p:cNvSpPr>
              <p:nvPr/>
            </p:nvSpPr>
            <p:spPr bwMode="auto">
              <a:xfrm>
                <a:off x="2033" y="3210"/>
                <a:ext cx="13"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92" name="Rectangle 2076"/>
              <p:cNvSpPr>
                <a:spLocks noChangeArrowheads="1"/>
              </p:cNvSpPr>
              <p:nvPr/>
            </p:nvSpPr>
            <p:spPr bwMode="auto">
              <a:xfrm>
                <a:off x="2060" y="3210"/>
                <a:ext cx="12"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grpSp>
        <p:sp>
          <p:nvSpPr>
            <p:cNvPr id="926" name="Freeform 2077"/>
            <p:cNvSpPr>
              <a:spLocks/>
            </p:cNvSpPr>
            <p:nvPr/>
          </p:nvSpPr>
          <p:spPr bwMode="auto">
            <a:xfrm>
              <a:off x="1250" y="2991"/>
              <a:ext cx="798" cy="215"/>
            </a:xfrm>
            <a:custGeom>
              <a:avLst/>
              <a:gdLst>
                <a:gd name="T0" fmla="*/ 0 w 2400"/>
                <a:gd name="T1" fmla="*/ 614 h 639"/>
                <a:gd name="T2" fmla="*/ 112 w 2400"/>
                <a:gd name="T3" fmla="*/ 25 h 639"/>
                <a:gd name="T4" fmla="*/ 252 w 2400"/>
                <a:gd name="T5" fmla="*/ 614 h 639"/>
                <a:gd name="T6" fmla="*/ 245 w 2400"/>
                <a:gd name="T7" fmla="*/ 590 h 639"/>
                <a:gd name="T8" fmla="*/ 363 w 2400"/>
                <a:gd name="T9" fmla="*/ 25 h 639"/>
                <a:gd name="T10" fmla="*/ 419 w 2400"/>
                <a:gd name="T11" fmla="*/ 467 h 639"/>
                <a:gd name="T12" fmla="*/ 426 w 2400"/>
                <a:gd name="T13" fmla="*/ 423 h 639"/>
                <a:gd name="T14" fmla="*/ 559 w 2400"/>
                <a:gd name="T15" fmla="*/ 0 h 639"/>
                <a:gd name="T16" fmla="*/ 586 w 2400"/>
                <a:gd name="T17" fmla="*/ 122 h 639"/>
                <a:gd name="T18" fmla="*/ 614 w 2400"/>
                <a:gd name="T19" fmla="*/ 92 h 639"/>
                <a:gd name="T20" fmla="*/ 642 w 2400"/>
                <a:gd name="T21" fmla="*/ 49 h 639"/>
                <a:gd name="T22" fmla="*/ 754 w 2400"/>
                <a:gd name="T23" fmla="*/ 614 h 639"/>
                <a:gd name="T24" fmla="*/ 866 w 2400"/>
                <a:gd name="T25" fmla="*/ 122 h 639"/>
                <a:gd name="T26" fmla="*/ 977 w 2400"/>
                <a:gd name="T27" fmla="*/ 467 h 639"/>
                <a:gd name="T28" fmla="*/ 1061 w 2400"/>
                <a:gd name="T29" fmla="*/ 0 h 639"/>
                <a:gd name="T30" fmla="*/ 1145 w 2400"/>
                <a:gd name="T31" fmla="*/ 639 h 639"/>
                <a:gd name="T32" fmla="*/ 1284 w 2400"/>
                <a:gd name="T33" fmla="*/ 74 h 639"/>
                <a:gd name="T34" fmla="*/ 1340 w 2400"/>
                <a:gd name="T35" fmla="*/ 122 h 639"/>
                <a:gd name="T36" fmla="*/ 1424 w 2400"/>
                <a:gd name="T37" fmla="*/ 25 h 639"/>
                <a:gd name="T38" fmla="*/ 1535 w 2400"/>
                <a:gd name="T39" fmla="*/ 639 h 639"/>
                <a:gd name="T40" fmla="*/ 1619 w 2400"/>
                <a:gd name="T41" fmla="*/ 541 h 639"/>
                <a:gd name="T42" fmla="*/ 1703 w 2400"/>
                <a:gd name="T43" fmla="*/ 590 h 639"/>
                <a:gd name="T44" fmla="*/ 1786 w 2400"/>
                <a:gd name="T45" fmla="*/ 517 h 639"/>
                <a:gd name="T46" fmla="*/ 1982 w 2400"/>
                <a:gd name="T47" fmla="*/ 25 h 639"/>
                <a:gd name="T48" fmla="*/ 2121 w 2400"/>
                <a:gd name="T49" fmla="*/ 99 h 639"/>
                <a:gd name="T50" fmla="*/ 2177 w 2400"/>
                <a:gd name="T51" fmla="*/ 25 h 639"/>
                <a:gd name="T52" fmla="*/ 2400 w 2400"/>
                <a:gd name="T53" fmla="*/ 614 h 63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400"/>
                <a:gd name="T82" fmla="*/ 0 h 639"/>
                <a:gd name="T83" fmla="*/ 2400 w 2400"/>
                <a:gd name="T84" fmla="*/ 639 h 63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400" h="639">
                  <a:moveTo>
                    <a:pt x="0" y="614"/>
                  </a:moveTo>
                  <a:lnTo>
                    <a:pt x="112" y="25"/>
                  </a:lnTo>
                  <a:lnTo>
                    <a:pt x="252" y="614"/>
                  </a:lnTo>
                  <a:lnTo>
                    <a:pt x="245" y="590"/>
                  </a:lnTo>
                  <a:lnTo>
                    <a:pt x="363" y="25"/>
                  </a:lnTo>
                  <a:lnTo>
                    <a:pt x="419" y="467"/>
                  </a:lnTo>
                  <a:lnTo>
                    <a:pt x="426" y="423"/>
                  </a:lnTo>
                  <a:lnTo>
                    <a:pt x="559" y="0"/>
                  </a:lnTo>
                  <a:lnTo>
                    <a:pt x="586" y="122"/>
                  </a:lnTo>
                  <a:lnTo>
                    <a:pt x="614" y="92"/>
                  </a:lnTo>
                  <a:lnTo>
                    <a:pt x="642" y="49"/>
                  </a:lnTo>
                  <a:lnTo>
                    <a:pt x="754" y="614"/>
                  </a:lnTo>
                  <a:lnTo>
                    <a:pt x="866" y="122"/>
                  </a:lnTo>
                  <a:lnTo>
                    <a:pt x="977" y="467"/>
                  </a:lnTo>
                  <a:lnTo>
                    <a:pt x="1061" y="0"/>
                  </a:lnTo>
                  <a:lnTo>
                    <a:pt x="1145" y="639"/>
                  </a:lnTo>
                  <a:lnTo>
                    <a:pt x="1284" y="74"/>
                  </a:lnTo>
                  <a:lnTo>
                    <a:pt x="1340" y="122"/>
                  </a:lnTo>
                  <a:lnTo>
                    <a:pt x="1424" y="25"/>
                  </a:lnTo>
                  <a:lnTo>
                    <a:pt x="1535" y="639"/>
                  </a:lnTo>
                  <a:lnTo>
                    <a:pt x="1619" y="541"/>
                  </a:lnTo>
                  <a:lnTo>
                    <a:pt x="1703" y="590"/>
                  </a:lnTo>
                  <a:lnTo>
                    <a:pt x="1786" y="517"/>
                  </a:lnTo>
                  <a:lnTo>
                    <a:pt x="1982" y="25"/>
                  </a:lnTo>
                  <a:lnTo>
                    <a:pt x="2121" y="99"/>
                  </a:lnTo>
                  <a:lnTo>
                    <a:pt x="2177" y="25"/>
                  </a:lnTo>
                  <a:lnTo>
                    <a:pt x="2400" y="614"/>
                  </a:lnTo>
                </a:path>
              </a:pathLst>
            </a:custGeom>
            <a:noFill/>
            <a:ln w="4763">
              <a:solidFill>
                <a:srgbClr val="000000"/>
              </a:solidFill>
              <a:prstDash val="solid"/>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grpSp>
      <p:grpSp>
        <p:nvGrpSpPr>
          <p:cNvPr id="11" name="Group 2078"/>
          <p:cNvGrpSpPr>
            <a:grpSpLocks/>
          </p:cNvGrpSpPr>
          <p:nvPr/>
        </p:nvGrpSpPr>
        <p:grpSpPr bwMode="auto">
          <a:xfrm>
            <a:off x="1854889" y="4126202"/>
            <a:ext cx="1658937" cy="511175"/>
            <a:chOff x="1219" y="3328"/>
            <a:chExt cx="862" cy="315"/>
          </a:xfrm>
        </p:grpSpPr>
        <p:grpSp>
          <p:nvGrpSpPr>
            <p:cNvPr id="12" name="Group 2079"/>
            <p:cNvGrpSpPr>
              <a:grpSpLocks/>
            </p:cNvGrpSpPr>
            <p:nvPr/>
          </p:nvGrpSpPr>
          <p:grpSpPr bwMode="auto">
            <a:xfrm>
              <a:off x="1219" y="3328"/>
              <a:ext cx="862" cy="315"/>
              <a:chOff x="1219" y="3328"/>
              <a:chExt cx="862" cy="315"/>
            </a:xfrm>
          </p:grpSpPr>
          <p:sp>
            <p:nvSpPr>
              <p:cNvPr id="996" name="Rectangle 2080"/>
              <p:cNvSpPr>
                <a:spLocks noChangeArrowheads="1"/>
              </p:cNvSpPr>
              <p:nvPr/>
            </p:nvSpPr>
            <p:spPr bwMode="auto">
              <a:xfrm>
                <a:off x="1223" y="3328"/>
                <a:ext cx="852" cy="315"/>
              </a:xfrm>
              <a:prstGeom prst="rect">
                <a:avLst/>
              </a:prstGeom>
              <a:noFill/>
              <a:ln w="11113">
                <a:solidFill>
                  <a:srgbClr val="000000"/>
                </a:solidFill>
                <a:miter lim="800000"/>
                <a:headEnd/>
                <a:tailEnd/>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97" name="Rectangle 2081"/>
              <p:cNvSpPr>
                <a:spLocks noChangeArrowheads="1"/>
              </p:cNvSpPr>
              <p:nvPr/>
            </p:nvSpPr>
            <p:spPr bwMode="auto">
              <a:xfrm>
                <a:off x="1219"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98" name="Rectangle 2082"/>
              <p:cNvSpPr>
                <a:spLocks noChangeArrowheads="1"/>
              </p:cNvSpPr>
              <p:nvPr/>
            </p:nvSpPr>
            <p:spPr bwMode="auto">
              <a:xfrm>
                <a:off x="1246"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999" name="Rectangle 2083"/>
              <p:cNvSpPr>
                <a:spLocks noChangeArrowheads="1"/>
              </p:cNvSpPr>
              <p:nvPr/>
            </p:nvSpPr>
            <p:spPr bwMode="auto">
              <a:xfrm>
                <a:off x="1273"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0" name="Rectangle 2084"/>
              <p:cNvSpPr>
                <a:spLocks noChangeArrowheads="1"/>
              </p:cNvSpPr>
              <p:nvPr/>
            </p:nvSpPr>
            <p:spPr bwMode="auto">
              <a:xfrm>
                <a:off x="1300"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1" name="Rectangle 2085"/>
              <p:cNvSpPr>
                <a:spLocks noChangeArrowheads="1"/>
              </p:cNvSpPr>
              <p:nvPr/>
            </p:nvSpPr>
            <p:spPr bwMode="auto">
              <a:xfrm>
                <a:off x="1328"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2" name="Rectangle 2086"/>
              <p:cNvSpPr>
                <a:spLocks noChangeArrowheads="1"/>
              </p:cNvSpPr>
              <p:nvPr/>
            </p:nvSpPr>
            <p:spPr bwMode="auto">
              <a:xfrm>
                <a:off x="1355"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3" name="Rectangle 2087"/>
              <p:cNvSpPr>
                <a:spLocks noChangeArrowheads="1"/>
              </p:cNvSpPr>
              <p:nvPr/>
            </p:nvSpPr>
            <p:spPr bwMode="auto">
              <a:xfrm>
                <a:off x="1382" y="336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4" name="Rectangle 2088"/>
              <p:cNvSpPr>
                <a:spLocks noChangeArrowheads="1"/>
              </p:cNvSpPr>
              <p:nvPr/>
            </p:nvSpPr>
            <p:spPr bwMode="auto">
              <a:xfrm>
                <a:off x="1409"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5" name="Rectangle 2089"/>
              <p:cNvSpPr>
                <a:spLocks noChangeArrowheads="1"/>
              </p:cNvSpPr>
              <p:nvPr/>
            </p:nvSpPr>
            <p:spPr bwMode="auto">
              <a:xfrm>
                <a:off x="1436"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6" name="Rectangle 2090"/>
              <p:cNvSpPr>
                <a:spLocks noChangeArrowheads="1"/>
              </p:cNvSpPr>
              <p:nvPr/>
            </p:nvSpPr>
            <p:spPr bwMode="auto">
              <a:xfrm>
                <a:off x="1463"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7" name="Rectangle 2091"/>
              <p:cNvSpPr>
                <a:spLocks noChangeArrowheads="1"/>
              </p:cNvSpPr>
              <p:nvPr/>
            </p:nvSpPr>
            <p:spPr bwMode="auto">
              <a:xfrm>
                <a:off x="1490"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8" name="Rectangle 2092"/>
              <p:cNvSpPr>
                <a:spLocks noChangeArrowheads="1"/>
              </p:cNvSpPr>
              <p:nvPr/>
            </p:nvSpPr>
            <p:spPr bwMode="auto">
              <a:xfrm>
                <a:off x="1517"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09" name="Rectangle 2093"/>
              <p:cNvSpPr>
                <a:spLocks noChangeArrowheads="1"/>
              </p:cNvSpPr>
              <p:nvPr/>
            </p:nvSpPr>
            <p:spPr bwMode="auto">
              <a:xfrm>
                <a:off x="1545"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0" name="Rectangle 2094"/>
              <p:cNvSpPr>
                <a:spLocks noChangeArrowheads="1"/>
              </p:cNvSpPr>
              <p:nvPr/>
            </p:nvSpPr>
            <p:spPr bwMode="auto">
              <a:xfrm>
                <a:off x="1572"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1" name="Rectangle 2095"/>
              <p:cNvSpPr>
                <a:spLocks noChangeArrowheads="1"/>
              </p:cNvSpPr>
              <p:nvPr/>
            </p:nvSpPr>
            <p:spPr bwMode="auto">
              <a:xfrm>
                <a:off x="1599" y="336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2" name="Rectangle 2096"/>
              <p:cNvSpPr>
                <a:spLocks noChangeArrowheads="1"/>
              </p:cNvSpPr>
              <p:nvPr/>
            </p:nvSpPr>
            <p:spPr bwMode="auto">
              <a:xfrm>
                <a:off x="1626"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3" name="Rectangle 2097"/>
              <p:cNvSpPr>
                <a:spLocks noChangeArrowheads="1"/>
              </p:cNvSpPr>
              <p:nvPr/>
            </p:nvSpPr>
            <p:spPr bwMode="auto">
              <a:xfrm>
                <a:off x="1653"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4" name="Rectangle 2098"/>
              <p:cNvSpPr>
                <a:spLocks noChangeArrowheads="1"/>
              </p:cNvSpPr>
              <p:nvPr/>
            </p:nvSpPr>
            <p:spPr bwMode="auto">
              <a:xfrm>
                <a:off x="1680"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5" name="Rectangle 2099"/>
              <p:cNvSpPr>
                <a:spLocks noChangeArrowheads="1"/>
              </p:cNvSpPr>
              <p:nvPr/>
            </p:nvSpPr>
            <p:spPr bwMode="auto">
              <a:xfrm>
                <a:off x="1707"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6" name="Rectangle 2100"/>
              <p:cNvSpPr>
                <a:spLocks noChangeArrowheads="1"/>
              </p:cNvSpPr>
              <p:nvPr/>
            </p:nvSpPr>
            <p:spPr bwMode="auto">
              <a:xfrm>
                <a:off x="1734"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7" name="Rectangle 2101"/>
              <p:cNvSpPr>
                <a:spLocks noChangeArrowheads="1"/>
              </p:cNvSpPr>
              <p:nvPr/>
            </p:nvSpPr>
            <p:spPr bwMode="auto">
              <a:xfrm>
                <a:off x="1761"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8" name="Rectangle 2102"/>
              <p:cNvSpPr>
                <a:spLocks noChangeArrowheads="1"/>
              </p:cNvSpPr>
              <p:nvPr/>
            </p:nvSpPr>
            <p:spPr bwMode="auto">
              <a:xfrm>
                <a:off x="1789"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19" name="Rectangle 2103"/>
              <p:cNvSpPr>
                <a:spLocks noChangeArrowheads="1"/>
              </p:cNvSpPr>
              <p:nvPr/>
            </p:nvSpPr>
            <p:spPr bwMode="auto">
              <a:xfrm>
                <a:off x="1816"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0" name="Rectangle 2104"/>
              <p:cNvSpPr>
                <a:spLocks noChangeArrowheads="1"/>
              </p:cNvSpPr>
              <p:nvPr/>
            </p:nvSpPr>
            <p:spPr bwMode="auto">
              <a:xfrm>
                <a:off x="1843"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1" name="Rectangle 2105"/>
              <p:cNvSpPr>
                <a:spLocks noChangeArrowheads="1"/>
              </p:cNvSpPr>
              <p:nvPr/>
            </p:nvSpPr>
            <p:spPr bwMode="auto">
              <a:xfrm>
                <a:off x="1870"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2" name="Rectangle 2106"/>
              <p:cNvSpPr>
                <a:spLocks noChangeArrowheads="1"/>
              </p:cNvSpPr>
              <p:nvPr/>
            </p:nvSpPr>
            <p:spPr bwMode="auto">
              <a:xfrm>
                <a:off x="1897"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3" name="Rectangle 2107"/>
              <p:cNvSpPr>
                <a:spLocks noChangeArrowheads="1"/>
              </p:cNvSpPr>
              <p:nvPr/>
            </p:nvSpPr>
            <p:spPr bwMode="auto">
              <a:xfrm>
                <a:off x="1924"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4" name="Rectangle 2108"/>
              <p:cNvSpPr>
                <a:spLocks noChangeArrowheads="1"/>
              </p:cNvSpPr>
              <p:nvPr/>
            </p:nvSpPr>
            <p:spPr bwMode="auto">
              <a:xfrm>
                <a:off x="1951"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5" name="Rectangle 2109"/>
              <p:cNvSpPr>
                <a:spLocks noChangeArrowheads="1"/>
              </p:cNvSpPr>
              <p:nvPr/>
            </p:nvSpPr>
            <p:spPr bwMode="auto">
              <a:xfrm>
                <a:off x="1978" y="3360"/>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6" name="Rectangle 2110"/>
              <p:cNvSpPr>
                <a:spLocks noChangeArrowheads="1"/>
              </p:cNvSpPr>
              <p:nvPr/>
            </p:nvSpPr>
            <p:spPr bwMode="auto">
              <a:xfrm>
                <a:off x="2006"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7" name="Rectangle 2111"/>
              <p:cNvSpPr>
                <a:spLocks noChangeArrowheads="1"/>
              </p:cNvSpPr>
              <p:nvPr/>
            </p:nvSpPr>
            <p:spPr bwMode="auto">
              <a:xfrm>
                <a:off x="2033" y="3360"/>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8" name="Rectangle 2112"/>
              <p:cNvSpPr>
                <a:spLocks noChangeArrowheads="1"/>
              </p:cNvSpPr>
              <p:nvPr/>
            </p:nvSpPr>
            <p:spPr bwMode="auto">
              <a:xfrm>
                <a:off x="2060" y="3360"/>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29" name="Line 2113"/>
              <p:cNvSpPr>
                <a:spLocks noChangeShapeType="1"/>
              </p:cNvSpPr>
              <p:nvPr/>
            </p:nvSpPr>
            <p:spPr bwMode="auto">
              <a:xfrm>
                <a:off x="1220" y="3494"/>
                <a:ext cx="861" cy="1"/>
              </a:xfrm>
              <a:prstGeom prst="line">
                <a:avLst/>
              </a:prstGeom>
              <a:noFill/>
              <a:ln w="4763">
                <a:solidFill>
                  <a:srgbClr val="000000"/>
                </a:solidFill>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1030" name="Rectangle 2114"/>
              <p:cNvSpPr>
                <a:spLocks noChangeArrowheads="1"/>
              </p:cNvSpPr>
              <p:nvPr/>
            </p:nvSpPr>
            <p:spPr bwMode="auto">
              <a:xfrm>
                <a:off x="1219"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1" name="Rectangle 2115"/>
              <p:cNvSpPr>
                <a:spLocks noChangeArrowheads="1"/>
              </p:cNvSpPr>
              <p:nvPr/>
            </p:nvSpPr>
            <p:spPr bwMode="auto">
              <a:xfrm>
                <a:off x="1246"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2" name="Rectangle 2116"/>
              <p:cNvSpPr>
                <a:spLocks noChangeArrowheads="1"/>
              </p:cNvSpPr>
              <p:nvPr/>
            </p:nvSpPr>
            <p:spPr bwMode="auto">
              <a:xfrm>
                <a:off x="1273"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3" name="Rectangle 2117"/>
              <p:cNvSpPr>
                <a:spLocks noChangeArrowheads="1"/>
              </p:cNvSpPr>
              <p:nvPr/>
            </p:nvSpPr>
            <p:spPr bwMode="auto">
              <a:xfrm>
                <a:off x="1300"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4" name="Rectangle 2118"/>
              <p:cNvSpPr>
                <a:spLocks noChangeArrowheads="1"/>
              </p:cNvSpPr>
              <p:nvPr/>
            </p:nvSpPr>
            <p:spPr bwMode="auto">
              <a:xfrm>
                <a:off x="1328"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5" name="Rectangle 2119"/>
              <p:cNvSpPr>
                <a:spLocks noChangeArrowheads="1"/>
              </p:cNvSpPr>
              <p:nvPr/>
            </p:nvSpPr>
            <p:spPr bwMode="auto">
              <a:xfrm>
                <a:off x="1355"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6" name="Rectangle 2120"/>
              <p:cNvSpPr>
                <a:spLocks noChangeArrowheads="1"/>
              </p:cNvSpPr>
              <p:nvPr/>
            </p:nvSpPr>
            <p:spPr bwMode="auto">
              <a:xfrm>
                <a:off x="1382" y="3609"/>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7" name="Rectangle 2121"/>
              <p:cNvSpPr>
                <a:spLocks noChangeArrowheads="1"/>
              </p:cNvSpPr>
              <p:nvPr/>
            </p:nvSpPr>
            <p:spPr bwMode="auto">
              <a:xfrm>
                <a:off x="1409"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8" name="Rectangle 2122"/>
              <p:cNvSpPr>
                <a:spLocks noChangeArrowheads="1"/>
              </p:cNvSpPr>
              <p:nvPr/>
            </p:nvSpPr>
            <p:spPr bwMode="auto">
              <a:xfrm>
                <a:off x="1436"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39" name="Rectangle 2123"/>
              <p:cNvSpPr>
                <a:spLocks noChangeArrowheads="1"/>
              </p:cNvSpPr>
              <p:nvPr/>
            </p:nvSpPr>
            <p:spPr bwMode="auto">
              <a:xfrm>
                <a:off x="1463"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0" name="Rectangle 2124"/>
              <p:cNvSpPr>
                <a:spLocks noChangeArrowheads="1"/>
              </p:cNvSpPr>
              <p:nvPr/>
            </p:nvSpPr>
            <p:spPr bwMode="auto">
              <a:xfrm>
                <a:off x="1490"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1" name="Rectangle 2125"/>
              <p:cNvSpPr>
                <a:spLocks noChangeArrowheads="1"/>
              </p:cNvSpPr>
              <p:nvPr/>
            </p:nvSpPr>
            <p:spPr bwMode="auto">
              <a:xfrm>
                <a:off x="1517"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2" name="Rectangle 2126"/>
              <p:cNvSpPr>
                <a:spLocks noChangeArrowheads="1"/>
              </p:cNvSpPr>
              <p:nvPr/>
            </p:nvSpPr>
            <p:spPr bwMode="auto">
              <a:xfrm>
                <a:off x="1545"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3" name="Rectangle 2127"/>
              <p:cNvSpPr>
                <a:spLocks noChangeArrowheads="1"/>
              </p:cNvSpPr>
              <p:nvPr/>
            </p:nvSpPr>
            <p:spPr bwMode="auto">
              <a:xfrm>
                <a:off x="1572"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4" name="Rectangle 2128"/>
              <p:cNvSpPr>
                <a:spLocks noChangeArrowheads="1"/>
              </p:cNvSpPr>
              <p:nvPr/>
            </p:nvSpPr>
            <p:spPr bwMode="auto">
              <a:xfrm>
                <a:off x="1599" y="3609"/>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5" name="Rectangle 2129"/>
              <p:cNvSpPr>
                <a:spLocks noChangeArrowheads="1"/>
              </p:cNvSpPr>
              <p:nvPr/>
            </p:nvSpPr>
            <p:spPr bwMode="auto">
              <a:xfrm>
                <a:off x="1626"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6" name="Rectangle 2130"/>
              <p:cNvSpPr>
                <a:spLocks noChangeArrowheads="1"/>
              </p:cNvSpPr>
              <p:nvPr/>
            </p:nvSpPr>
            <p:spPr bwMode="auto">
              <a:xfrm>
                <a:off x="1653"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7" name="Rectangle 2131"/>
              <p:cNvSpPr>
                <a:spLocks noChangeArrowheads="1"/>
              </p:cNvSpPr>
              <p:nvPr/>
            </p:nvSpPr>
            <p:spPr bwMode="auto">
              <a:xfrm>
                <a:off x="1680"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8" name="Rectangle 2132"/>
              <p:cNvSpPr>
                <a:spLocks noChangeArrowheads="1"/>
              </p:cNvSpPr>
              <p:nvPr/>
            </p:nvSpPr>
            <p:spPr bwMode="auto">
              <a:xfrm>
                <a:off x="1707"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49" name="Rectangle 2133"/>
              <p:cNvSpPr>
                <a:spLocks noChangeArrowheads="1"/>
              </p:cNvSpPr>
              <p:nvPr/>
            </p:nvSpPr>
            <p:spPr bwMode="auto">
              <a:xfrm>
                <a:off x="1734"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0" name="Rectangle 2134"/>
              <p:cNvSpPr>
                <a:spLocks noChangeArrowheads="1"/>
              </p:cNvSpPr>
              <p:nvPr/>
            </p:nvSpPr>
            <p:spPr bwMode="auto">
              <a:xfrm>
                <a:off x="1761"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1" name="Rectangle 2135"/>
              <p:cNvSpPr>
                <a:spLocks noChangeArrowheads="1"/>
              </p:cNvSpPr>
              <p:nvPr/>
            </p:nvSpPr>
            <p:spPr bwMode="auto">
              <a:xfrm>
                <a:off x="1789"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2" name="Rectangle 2136"/>
              <p:cNvSpPr>
                <a:spLocks noChangeArrowheads="1"/>
              </p:cNvSpPr>
              <p:nvPr/>
            </p:nvSpPr>
            <p:spPr bwMode="auto">
              <a:xfrm>
                <a:off x="1816"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3" name="Rectangle 2137"/>
              <p:cNvSpPr>
                <a:spLocks noChangeArrowheads="1"/>
              </p:cNvSpPr>
              <p:nvPr/>
            </p:nvSpPr>
            <p:spPr bwMode="auto">
              <a:xfrm>
                <a:off x="1843"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4" name="Rectangle 2138"/>
              <p:cNvSpPr>
                <a:spLocks noChangeArrowheads="1"/>
              </p:cNvSpPr>
              <p:nvPr/>
            </p:nvSpPr>
            <p:spPr bwMode="auto">
              <a:xfrm>
                <a:off x="1870"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5" name="Rectangle 2139"/>
              <p:cNvSpPr>
                <a:spLocks noChangeArrowheads="1"/>
              </p:cNvSpPr>
              <p:nvPr/>
            </p:nvSpPr>
            <p:spPr bwMode="auto">
              <a:xfrm>
                <a:off x="1897"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6" name="Rectangle 2140"/>
              <p:cNvSpPr>
                <a:spLocks noChangeArrowheads="1"/>
              </p:cNvSpPr>
              <p:nvPr/>
            </p:nvSpPr>
            <p:spPr bwMode="auto">
              <a:xfrm>
                <a:off x="1924"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7" name="Rectangle 2141"/>
              <p:cNvSpPr>
                <a:spLocks noChangeArrowheads="1"/>
              </p:cNvSpPr>
              <p:nvPr/>
            </p:nvSpPr>
            <p:spPr bwMode="auto">
              <a:xfrm>
                <a:off x="1951"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8" name="Rectangle 2142"/>
              <p:cNvSpPr>
                <a:spLocks noChangeArrowheads="1"/>
              </p:cNvSpPr>
              <p:nvPr/>
            </p:nvSpPr>
            <p:spPr bwMode="auto">
              <a:xfrm>
                <a:off x="1978" y="3609"/>
                <a:ext cx="14"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59" name="Rectangle 2143"/>
              <p:cNvSpPr>
                <a:spLocks noChangeArrowheads="1"/>
              </p:cNvSpPr>
              <p:nvPr/>
            </p:nvSpPr>
            <p:spPr bwMode="auto">
              <a:xfrm>
                <a:off x="2006"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60" name="Rectangle 2144"/>
              <p:cNvSpPr>
                <a:spLocks noChangeArrowheads="1"/>
              </p:cNvSpPr>
              <p:nvPr/>
            </p:nvSpPr>
            <p:spPr bwMode="auto">
              <a:xfrm>
                <a:off x="2033" y="3609"/>
                <a:ext cx="13"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61" name="Rectangle 2145"/>
              <p:cNvSpPr>
                <a:spLocks noChangeArrowheads="1"/>
              </p:cNvSpPr>
              <p:nvPr/>
            </p:nvSpPr>
            <p:spPr bwMode="auto">
              <a:xfrm>
                <a:off x="2060" y="3609"/>
                <a:ext cx="12" cy="3"/>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grpSp>
        <p:sp>
          <p:nvSpPr>
            <p:cNvPr id="995" name="Freeform 2146"/>
            <p:cNvSpPr>
              <a:spLocks/>
            </p:cNvSpPr>
            <p:nvPr/>
          </p:nvSpPr>
          <p:spPr bwMode="auto">
            <a:xfrm>
              <a:off x="1242" y="3385"/>
              <a:ext cx="839" cy="203"/>
            </a:xfrm>
            <a:custGeom>
              <a:avLst/>
              <a:gdLst>
                <a:gd name="T0" fmla="*/ 0 w 2515"/>
                <a:gd name="T1" fmla="*/ 270 h 601"/>
                <a:gd name="T2" fmla="*/ 60 w 2515"/>
                <a:gd name="T3" fmla="*/ 150 h 601"/>
                <a:gd name="T4" fmla="*/ 120 w 2515"/>
                <a:gd name="T5" fmla="*/ 240 h 601"/>
                <a:gd name="T6" fmla="*/ 238 w 2515"/>
                <a:gd name="T7" fmla="*/ 60 h 601"/>
                <a:gd name="T8" fmla="*/ 297 w 2515"/>
                <a:gd name="T9" fmla="*/ 60 h 601"/>
                <a:gd name="T10" fmla="*/ 356 w 2515"/>
                <a:gd name="T11" fmla="*/ 0 h 601"/>
                <a:gd name="T12" fmla="*/ 474 w 2515"/>
                <a:gd name="T13" fmla="*/ 90 h 601"/>
                <a:gd name="T14" fmla="*/ 593 w 2515"/>
                <a:gd name="T15" fmla="*/ 30 h 601"/>
                <a:gd name="T16" fmla="*/ 680 w 2515"/>
                <a:gd name="T17" fmla="*/ 150 h 601"/>
                <a:gd name="T18" fmla="*/ 769 w 2515"/>
                <a:gd name="T19" fmla="*/ 150 h 601"/>
                <a:gd name="T20" fmla="*/ 829 w 2515"/>
                <a:gd name="T21" fmla="*/ 270 h 601"/>
                <a:gd name="T22" fmla="*/ 888 w 2515"/>
                <a:gd name="T23" fmla="*/ 481 h 601"/>
                <a:gd name="T24" fmla="*/ 977 w 2515"/>
                <a:gd name="T25" fmla="*/ 511 h 601"/>
                <a:gd name="T26" fmla="*/ 1006 w 2515"/>
                <a:gd name="T27" fmla="*/ 601 h 601"/>
                <a:gd name="T28" fmla="*/ 1155 w 2515"/>
                <a:gd name="T29" fmla="*/ 511 h 601"/>
                <a:gd name="T30" fmla="*/ 1242 w 2515"/>
                <a:gd name="T31" fmla="*/ 541 h 601"/>
                <a:gd name="T32" fmla="*/ 1331 w 2515"/>
                <a:gd name="T33" fmla="*/ 390 h 601"/>
                <a:gd name="T34" fmla="*/ 1420 w 2515"/>
                <a:gd name="T35" fmla="*/ 390 h 601"/>
                <a:gd name="T36" fmla="*/ 1479 w 2515"/>
                <a:gd name="T37" fmla="*/ 240 h 601"/>
                <a:gd name="T38" fmla="*/ 1568 w 2515"/>
                <a:gd name="T39" fmla="*/ 210 h 601"/>
                <a:gd name="T40" fmla="*/ 1657 w 2515"/>
                <a:gd name="T41" fmla="*/ 60 h 601"/>
                <a:gd name="T42" fmla="*/ 1716 w 2515"/>
                <a:gd name="T43" fmla="*/ 30 h 601"/>
                <a:gd name="T44" fmla="*/ 1864 w 2515"/>
                <a:gd name="T45" fmla="*/ 90 h 601"/>
                <a:gd name="T46" fmla="*/ 1922 w 2515"/>
                <a:gd name="T47" fmla="*/ 150 h 601"/>
                <a:gd name="T48" fmla="*/ 1982 w 2515"/>
                <a:gd name="T49" fmla="*/ 300 h 601"/>
                <a:gd name="T50" fmla="*/ 2041 w 2515"/>
                <a:gd name="T51" fmla="*/ 541 h 601"/>
                <a:gd name="T52" fmla="*/ 2159 w 2515"/>
                <a:gd name="T53" fmla="*/ 571 h 601"/>
                <a:gd name="T54" fmla="*/ 2218 w 2515"/>
                <a:gd name="T55" fmla="*/ 601 h 601"/>
                <a:gd name="T56" fmla="*/ 2337 w 2515"/>
                <a:gd name="T57" fmla="*/ 571 h 601"/>
                <a:gd name="T58" fmla="*/ 2395 w 2515"/>
                <a:gd name="T59" fmla="*/ 481 h 601"/>
                <a:gd name="T60" fmla="*/ 2484 w 2515"/>
                <a:gd name="T61" fmla="*/ 421 h 601"/>
                <a:gd name="T62" fmla="*/ 2515 w 2515"/>
                <a:gd name="T63" fmla="*/ 300 h 60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15"/>
                <a:gd name="T97" fmla="*/ 0 h 601"/>
                <a:gd name="T98" fmla="*/ 2515 w 2515"/>
                <a:gd name="T99" fmla="*/ 601 h 60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15" h="601">
                  <a:moveTo>
                    <a:pt x="0" y="270"/>
                  </a:moveTo>
                  <a:lnTo>
                    <a:pt x="60" y="150"/>
                  </a:lnTo>
                  <a:lnTo>
                    <a:pt x="120" y="240"/>
                  </a:lnTo>
                  <a:lnTo>
                    <a:pt x="238" y="60"/>
                  </a:lnTo>
                  <a:lnTo>
                    <a:pt x="297" y="60"/>
                  </a:lnTo>
                  <a:lnTo>
                    <a:pt x="356" y="0"/>
                  </a:lnTo>
                  <a:lnTo>
                    <a:pt x="474" y="90"/>
                  </a:lnTo>
                  <a:lnTo>
                    <a:pt x="593" y="30"/>
                  </a:lnTo>
                  <a:lnTo>
                    <a:pt x="680" y="150"/>
                  </a:lnTo>
                  <a:lnTo>
                    <a:pt x="769" y="150"/>
                  </a:lnTo>
                  <a:lnTo>
                    <a:pt x="829" y="270"/>
                  </a:lnTo>
                  <a:lnTo>
                    <a:pt x="888" y="481"/>
                  </a:lnTo>
                  <a:lnTo>
                    <a:pt x="977" y="511"/>
                  </a:lnTo>
                  <a:lnTo>
                    <a:pt x="1006" y="601"/>
                  </a:lnTo>
                  <a:lnTo>
                    <a:pt x="1155" y="511"/>
                  </a:lnTo>
                  <a:lnTo>
                    <a:pt x="1242" y="541"/>
                  </a:lnTo>
                  <a:lnTo>
                    <a:pt x="1331" y="390"/>
                  </a:lnTo>
                  <a:lnTo>
                    <a:pt x="1420" y="390"/>
                  </a:lnTo>
                  <a:lnTo>
                    <a:pt x="1479" y="240"/>
                  </a:lnTo>
                  <a:lnTo>
                    <a:pt x="1568" y="210"/>
                  </a:lnTo>
                  <a:lnTo>
                    <a:pt x="1657" y="60"/>
                  </a:lnTo>
                  <a:lnTo>
                    <a:pt x="1716" y="30"/>
                  </a:lnTo>
                  <a:lnTo>
                    <a:pt x="1864" y="90"/>
                  </a:lnTo>
                  <a:lnTo>
                    <a:pt x="1922" y="150"/>
                  </a:lnTo>
                  <a:lnTo>
                    <a:pt x="1982" y="300"/>
                  </a:lnTo>
                  <a:lnTo>
                    <a:pt x="2041" y="541"/>
                  </a:lnTo>
                  <a:lnTo>
                    <a:pt x="2159" y="571"/>
                  </a:lnTo>
                  <a:lnTo>
                    <a:pt x="2218" y="601"/>
                  </a:lnTo>
                  <a:lnTo>
                    <a:pt x="2337" y="571"/>
                  </a:lnTo>
                  <a:lnTo>
                    <a:pt x="2395" y="481"/>
                  </a:lnTo>
                  <a:lnTo>
                    <a:pt x="2484" y="421"/>
                  </a:lnTo>
                  <a:lnTo>
                    <a:pt x="2515" y="300"/>
                  </a:lnTo>
                </a:path>
              </a:pathLst>
            </a:custGeom>
            <a:noFill/>
            <a:ln w="4763">
              <a:solidFill>
                <a:srgbClr val="000000"/>
              </a:solidFill>
              <a:prstDash val="solid"/>
              <a:round/>
              <a:headEnd/>
              <a:tailEnd/>
            </a:ln>
          </p:spPr>
          <p:txBody>
            <a:bodyPr/>
            <a:lstStyle/>
            <a:p>
              <a:pPr algn="ctr" fontAlgn="auto" latinLnBrk="0">
                <a:spcBef>
                  <a:spcPts val="0"/>
                </a:spcBef>
                <a:spcAft>
                  <a:spcPts val="0"/>
                </a:spcAft>
                <a:defRPr/>
              </a:pPr>
              <a:r>
                <a:rPr kumimoji="0" lang="en-US" altLang="ko-KR" sz="1200" kern="0" dirty="0">
                  <a:solidFill>
                    <a:srgbClr val="000000"/>
                  </a:solidFill>
                  <a:latin typeface="Arial" pitchFamily="34" charset="0"/>
                  <a:ea typeface="맑은 고딕" panose="020B0503020000020004" pitchFamily="50" charset="-127"/>
                  <a:cs typeface="Arial" pitchFamily="34" charset="0"/>
                </a:rPr>
                <a:t>`</a:t>
              </a:r>
              <a:endParaRPr kumimoji="0" lang="ko-KR" altLang="en-US" sz="1200" kern="0" dirty="0">
                <a:solidFill>
                  <a:srgbClr val="000000"/>
                </a:solidFill>
                <a:latin typeface="Arial" pitchFamily="34" charset="0"/>
                <a:ea typeface="맑은 고딕" panose="020B0503020000020004" pitchFamily="50" charset="-127"/>
                <a:cs typeface="Arial" pitchFamily="34" charset="0"/>
              </a:endParaRPr>
            </a:p>
          </p:txBody>
        </p:sp>
      </p:grpSp>
      <p:grpSp>
        <p:nvGrpSpPr>
          <p:cNvPr id="13" name="Group 2147"/>
          <p:cNvGrpSpPr>
            <a:grpSpLocks/>
          </p:cNvGrpSpPr>
          <p:nvPr/>
        </p:nvGrpSpPr>
        <p:grpSpPr bwMode="auto">
          <a:xfrm>
            <a:off x="1854889" y="4877786"/>
            <a:ext cx="1658937" cy="511175"/>
            <a:chOff x="1219" y="3722"/>
            <a:chExt cx="865" cy="330"/>
          </a:xfrm>
        </p:grpSpPr>
        <p:sp>
          <p:nvSpPr>
            <p:cNvPr id="1063" name="Rectangle 2148"/>
            <p:cNvSpPr>
              <a:spLocks noChangeArrowheads="1"/>
            </p:cNvSpPr>
            <p:nvPr/>
          </p:nvSpPr>
          <p:spPr bwMode="auto">
            <a:xfrm>
              <a:off x="1329" y="3752"/>
              <a:ext cx="8"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64" name="Rectangle 2149"/>
            <p:cNvSpPr>
              <a:spLocks noChangeArrowheads="1"/>
            </p:cNvSpPr>
            <p:nvPr/>
          </p:nvSpPr>
          <p:spPr bwMode="auto">
            <a:xfrm>
              <a:off x="1329" y="3787"/>
              <a:ext cx="8"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65" name="Rectangle 2150"/>
            <p:cNvSpPr>
              <a:spLocks noChangeArrowheads="1"/>
            </p:cNvSpPr>
            <p:nvPr/>
          </p:nvSpPr>
          <p:spPr bwMode="auto">
            <a:xfrm>
              <a:off x="1345" y="3813"/>
              <a:ext cx="8"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66" name="Rectangle 2151"/>
            <p:cNvSpPr>
              <a:spLocks noChangeArrowheads="1"/>
            </p:cNvSpPr>
            <p:nvPr/>
          </p:nvSpPr>
          <p:spPr bwMode="auto">
            <a:xfrm>
              <a:off x="1378" y="3813"/>
              <a:ext cx="9"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67" name="Rectangle 2152"/>
            <p:cNvSpPr>
              <a:spLocks noChangeArrowheads="1"/>
            </p:cNvSpPr>
            <p:nvPr/>
          </p:nvSpPr>
          <p:spPr bwMode="auto">
            <a:xfrm>
              <a:off x="1412" y="3813"/>
              <a:ext cx="8"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68" name="Rectangle 2153"/>
            <p:cNvSpPr>
              <a:spLocks noChangeArrowheads="1"/>
            </p:cNvSpPr>
            <p:nvPr/>
          </p:nvSpPr>
          <p:spPr bwMode="auto">
            <a:xfrm>
              <a:off x="1445" y="3813"/>
              <a:ext cx="2"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69" name="Rectangle 2154"/>
            <p:cNvSpPr>
              <a:spLocks noChangeArrowheads="1"/>
            </p:cNvSpPr>
            <p:nvPr/>
          </p:nvSpPr>
          <p:spPr bwMode="auto">
            <a:xfrm>
              <a:off x="1447" y="3806"/>
              <a:ext cx="8" cy="7"/>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70" name="Rectangle 2155"/>
            <p:cNvSpPr>
              <a:spLocks noChangeArrowheads="1"/>
            </p:cNvSpPr>
            <p:nvPr/>
          </p:nvSpPr>
          <p:spPr bwMode="auto">
            <a:xfrm>
              <a:off x="1447" y="3771"/>
              <a:ext cx="8"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71" name="Rectangle 2156"/>
            <p:cNvSpPr>
              <a:spLocks noChangeArrowheads="1"/>
            </p:cNvSpPr>
            <p:nvPr/>
          </p:nvSpPr>
          <p:spPr bwMode="auto">
            <a:xfrm>
              <a:off x="1431" y="3744"/>
              <a:ext cx="9"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72" name="Rectangle 2157"/>
            <p:cNvSpPr>
              <a:spLocks noChangeArrowheads="1"/>
            </p:cNvSpPr>
            <p:nvPr/>
          </p:nvSpPr>
          <p:spPr bwMode="auto">
            <a:xfrm>
              <a:off x="1398" y="3744"/>
              <a:ext cx="8"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73" name="Rectangle 2158"/>
            <p:cNvSpPr>
              <a:spLocks noChangeArrowheads="1"/>
            </p:cNvSpPr>
            <p:nvPr/>
          </p:nvSpPr>
          <p:spPr bwMode="auto">
            <a:xfrm>
              <a:off x="1364" y="3744"/>
              <a:ext cx="9"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74" name="Rectangle 2159"/>
            <p:cNvSpPr>
              <a:spLocks noChangeArrowheads="1"/>
            </p:cNvSpPr>
            <p:nvPr/>
          </p:nvSpPr>
          <p:spPr bwMode="auto">
            <a:xfrm>
              <a:off x="1337" y="3744"/>
              <a:ext cx="2"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grpSp>
          <p:nvGrpSpPr>
            <p:cNvPr id="14" name="Group 2160"/>
            <p:cNvGrpSpPr>
              <a:grpSpLocks/>
            </p:cNvGrpSpPr>
            <p:nvPr/>
          </p:nvGrpSpPr>
          <p:grpSpPr bwMode="auto">
            <a:xfrm>
              <a:off x="1219" y="3722"/>
              <a:ext cx="865" cy="330"/>
              <a:chOff x="1219" y="3722"/>
              <a:chExt cx="865" cy="330"/>
            </a:xfrm>
          </p:grpSpPr>
          <p:grpSp>
            <p:nvGrpSpPr>
              <p:cNvPr id="15" name="Group 2161"/>
              <p:cNvGrpSpPr>
                <a:grpSpLocks/>
              </p:cNvGrpSpPr>
              <p:nvPr/>
            </p:nvGrpSpPr>
            <p:grpSpPr bwMode="auto">
              <a:xfrm>
                <a:off x="1219" y="3722"/>
                <a:ext cx="865" cy="330"/>
                <a:chOff x="1219" y="3722"/>
                <a:chExt cx="865" cy="330"/>
              </a:xfrm>
            </p:grpSpPr>
            <p:sp>
              <p:nvSpPr>
                <p:cNvPr id="1090" name="Rectangle 2162"/>
                <p:cNvSpPr>
                  <a:spLocks noChangeArrowheads="1"/>
                </p:cNvSpPr>
                <p:nvPr/>
              </p:nvSpPr>
              <p:spPr bwMode="auto">
                <a:xfrm>
                  <a:off x="1224" y="3722"/>
                  <a:ext cx="853" cy="330"/>
                </a:xfrm>
                <a:prstGeom prst="rect">
                  <a:avLst/>
                </a:prstGeom>
                <a:noFill/>
                <a:ln w="12700">
                  <a:solidFill>
                    <a:srgbClr val="000000"/>
                  </a:solidFill>
                  <a:miter lim="800000"/>
                  <a:headEnd/>
                  <a:tailEnd/>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1" name="Rectangle 2163"/>
                <p:cNvSpPr>
                  <a:spLocks noChangeArrowheads="1"/>
                </p:cNvSpPr>
                <p:nvPr/>
              </p:nvSpPr>
              <p:spPr bwMode="auto">
                <a:xfrm>
                  <a:off x="1219"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2" name="Rectangle 2164"/>
                <p:cNvSpPr>
                  <a:spLocks noChangeArrowheads="1"/>
                </p:cNvSpPr>
                <p:nvPr/>
              </p:nvSpPr>
              <p:spPr bwMode="auto">
                <a:xfrm>
                  <a:off x="1253"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3" name="Rectangle 2165"/>
                <p:cNvSpPr>
                  <a:spLocks noChangeArrowheads="1"/>
                </p:cNvSpPr>
                <p:nvPr/>
              </p:nvSpPr>
              <p:spPr bwMode="auto">
                <a:xfrm>
                  <a:off x="1286"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4" name="Rectangle 2166"/>
                <p:cNvSpPr>
                  <a:spLocks noChangeArrowheads="1"/>
                </p:cNvSpPr>
                <p:nvPr/>
              </p:nvSpPr>
              <p:spPr bwMode="auto">
                <a:xfrm>
                  <a:off x="1320"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5" name="Rectangle 2167"/>
                <p:cNvSpPr>
                  <a:spLocks noChangeArrowheads="1"/>
                </p:cNvSpPr>
                <p:nvPr/>
              </p:nvSpPr>
              <p:spPr bwMode="auto">
                <a:xfrm>
                  <a:off x="1353"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6" name="Rectangle 2168"/>
                <p:cNvSpPr>
                  <a:spLocks noChangeArrowheads="1"/>
                </p:cNvSpPr>
                <p:nvPr/>
              </p:nvSpPr>
              <p:spPr bwMode="auto">
                <a:xfrm>
                  <a:off x="1387"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7" name="Rectangle 2169"/>
                <p:cNvSpPr>
                  <a:spLocks noChangeArrowheads="1"/>
                </p:cNvSpPr>
                <p:nvPr/>
              </p:nvSpPr>
              <p:spPr bwMode="auto">
                <a:xfrm>
                  <a:off x="1420"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8" name="Rectangle 2170"/>
                <p:cNvSpPr>
                  <a:spLocks noChangeArrowheads="1"/>
                </p:cNvSpPr>
                <p:nvPr/>
              </p:nvSpPr>
              <p:spPr bwMode="auto">
                <a:xfrm>
                  <a:off x="1454"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99" name="Rectangle 2171"/>
                <p:cNvSpPr>
                  <a:spLocks noChangeArrowheads="1"/>
                </p:cNvSpPr>
                <p:nvPr/>
              </p:nvSpPr>
              <p:spPr bwMode="auto">
                <a:xfrm>
                  <a:off x="1487"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0" name="Rectangle 2172"/>
                <p:cNvSpPr>
                  <a:spLocks noChangeArrowheads="1"/>
                </p:cNvSpPr>
                <p:nvPr/>
              </p:nvSpPr>
              <p:spPr bwMode="auto">
                <a:xfrm>
                  <a:off x="1521"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1" name="Rectangle 2173"/>
                <p:cNvSpPr>
                  <a:spLocks noChangeArrowheads="1"/>
                </p:cNvSpPr>
                <p:nvPr/>
              </p:nvSpPr>
              <p:spPr bwMode="auto">
                <a:xfrm>
                  <a:off x="1554"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2" name="Rectangle 2174"/>
                <p:cNvSpPr>
                  <a:spLocks noChangeArrowheads="1"/>
                </p:cNvSpPr>
                <p:nvPr/>
              </p:nvSpPr>
              <p:spPr bwMode="auto">
                <a:xfrm>
                  <a:off x="1588"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3" name="Rectangle 2175"/>
                <p:cNvSpPr>
                  <a:spLocks noChangeArrowheads="1"/>
                </p:cNvSpPr>
                <p:nvPr/>
              </p:nvSpPr>
              <p:spPr bwMode="auto">
                <a:xfrm>
                  <a:off x="1621"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4" name="Rectangle 2176"/>
                <p:cNvSpPr>
                  <a:spLocks noChangeArrowheads="1"/>
                </p:cNvSpPr>
                <p:nvPr/>
              </p:nvSpPr>
              <p:spPr bwMode="auto">
                <a:xfrm>
                  <a:off x="1655"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5" name="Rectangle 2177"/>
                <p:cNvSpPr>
                  <a:spLocks noChangeArrowheads="1"/>
                </p:cNvSpPr>
                <p:nvPr/>
              </p:nvSpPr>
              <p:spPr bwMode="auto">
                <a:xfrm>
                  <a:off x="1688"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6" name="Rectangle 2178"/>
                <p:cNvSpPr>
                  <a:spLocks noChangeArrowheads="1"/>
                </p:cNvSpPr>
                <p:nvPr/>
              </p:nvSpPr>
              <p:spPr bwMode="auto">
                <a:xfrm>
                  <a:off x="1722"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7" name="Rectangle 2179"/>
                <p:cNvSpPr>
                  <a:spLocks noChangeArrowheads="1"/>
                </p:cNvSpPr>
                <p:nvPr/>
              </p:nvSpPr>
              <p:spPr bwMode="auto">
                <a:xfrm>
                  <a:off x="1755"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8" name="Rectangle 2180"/>
                <p:cNvSpPr>
                  <a:spLocks noChangeArrowheads="1"/>
                </p:cNvSpPr>
                <p:nvPr/>
              </p:nvSpPr>
              <p:spPr bwMode="auto">
                <a:xfrm>
                  <a:off x="1789"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09" name="Rectangle 2181"/>
                <p:cNvSpPr>
                  <a:spLocks noChangeArrowheads="1"/>
                </p:cNvSpPr>
                <p:nvPr/>
              </p:nvSpPr>
              <p:spPr bwMode="auto">
                <a:xfrm>
                  <a:off x="1823" y="3754"/>
                  <a:ext cx="16"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0" name="Rectangle 2182"/>
                <p:cNvSpPr>
                  <a:spLocks noChangeArrowheads="1"/>
                </p:cNvSpPr>
                <p:nvPr/>
              </p:nvSpPr>
              <p:spPr bwMode="auto">
                <a:xfrm>
                  <a:off x="1856"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1" name="Rectangle 2183"/>
                <p:cNvSpPr>
                  <a:spLocks noChangeArrowheads="1"/>
                </p:cNvSpPr>
                <p:nvPr/>
              </p:nvSpPr>
              <p:spPr bwMode="auto">
                <a:xfrm>
                  <a:off x="1890" y="3754"/>
                  <a:ext cx="16"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2" name="Rectangle 2184"/>
                <p:cNvSpPr>
                  <a:spLocks noChangeArrowheads="1"/>
                </p:cNvSpPr>
                <p:nvPr/>
              </p:nvSpPr>
              <p:spPr bwMode="auto">
                <a:xfrm>
                  <a:off x="1923"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3" name="Rectangle 2185"/>
                <p:cNvSpPr>
                  <a:spLocks noChangeArrowheads="1"/>
                </p:cNvSpPr>
                <p:nvPr/>
              </p:nvSpPr>
              <p:spPr bwMode="auto">
                <a:xfrm>
                  <a:off x="1957" y="3754"/>
                  <a:ext cx="16"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4" name="Rectangle 2186"/>
                <p:cNvSpPr>
                  <a:spLocks noChangeArrowheads="1"/>
                </p:cNvSpPr>
                <p:nvPr/>
              </p:nvSpPr>
              <p:spPr bwMode="auto">
                <a:xfrm>
                  <a:off x="1990"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5" name="Rectangle 2187"/>
                <p:cNvSpPr>
                  <a:spLocks noChangeArrowheads="1"/>
                </p:cNvSpPr>
                <p:nvPr/>
              </p:nvSpPr>
              <p:spPr bwMode="auto">
                <a:xfrm>
                  <a:off x="2024" y="3754"/>
                  <a:ext cx="16"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6" name="Rectangle 2188"/>
                <p:cNvSpPr>
                  <a:spLocks noChangeArrowheads="1"/>
                </p:cNvSpPr>
                <p:nvPr/>
              </p:nvSpPr>
              <p:spPr bwMode="auto">
                <a:xfrm>
                  <a:off x="2057" y="3754"/>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7" name="Line 2189"/>
                <p:cNvSpPr>
                  <a:spLocks noChangeShapeType="1"/>
                </p:cNvSpPr>
                <p:nvPr/>
              </p:nvSpPr>
              <p:spPr bwMode="auto">
                <a:xfrm>
                  <a:off x="1220" y="3895"/>
                  <a:ext cx="864" cy="1"/>
                </a:xfrm>
                <a:prstGeom prst="line">
                  <a:avLst/>
                </a:prstGeom>
                <a:noFill/>
                <a:ln w="6350">
                  <a:solidFill>
                    <a:srgbClr val="000000"/>
                  </a:solidFill>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sp>
              <p:nvSpPr>
                <p:cNvPr id="1118" name="Rectangle 2190"/>
                <p:cNvSpPr>
                  <a:spLocks noChangeArrowheads="1"/>
                </p:cNvSpPr>
                <p:nvPr/>
              </p:nvSpPr>
              <p:spPr bwMode="auto">
                <a:xfrm>
                  <a:off x="1219"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19" name="Rectangle 2191"/>
                <p:cNvSpPr>
                  <a:spLocks noChangeArrowheads="1"/>
                </p:cNvSpPr>
                <p:nvPr/>
              </p:nvSpPr>
              <p:spPr bwMode="auto">
                <a:xfrm>
                  <a:off x="1253"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0" name="Rectangle 2192"/>
                <p:cNvSpPr>
                  <a:spLocks noChangeArrowheads="1"/>
                </p:cNvSpPr>
                <p:nvPr/>
              </p:nvSpPr>
              <p:spPr bwMode="auto">
                <a:xfrm>
                  <a:off x="1286"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1" name="Rectangle 2193"/>
                <p:cNvSpPr>
                  <a:spLocks noChangeArrowheads="1"/>
                </p:cNvSpPr>
                <p:nvPr/>
              </p:nvSpPr>
              <p:spPr bwMode="auto">
                <a:xfrm>
                  <a:off x="1320"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2" name="Rectangle 2194"/>
                <p:cNvSpPr>
                  <a:spLocks noChangeArrowheads="1"/>
                </p:cNvSpPr>
                <p:nvPr/>
              </p:nvSpPr>
              <p:spPr bwMode="auto">
                <a:xfrm>
                  <a:off x="1353"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3" name="Rectangle 2195"/>
                <p:cNvSpPr>
                  <a:spLocks noChangeArrowheads="1"/>
                </p:cNvSpPr>
                <p:nvPr/>
              </p:nvSpPr>
              <p:spPr bwMode="auto">
                <a:xfrm>
                  <a:off x="1387"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4" name="Rectangle 2196"/>
                <p:cNvSpPr>
                  <a:spLocks noChangeArrowheads="1"/>
                </p:cNvSpPr>
                <p:nvPr/>
              </p:nvSpPr>
              <p:spPr bwMode="auto">
                <a:xfrm>
                  <a:off x="1420"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5" name="Rectangle 2197"/>
                <p:cNvSpPr>
                  <a:spLocks noChangeArrowheads="1"/>
                </p:cNvSpPr>
                <p:nvPr/>
              </p:nvSpPr>
              <p:spPr bwMode="auto">
                <a:xfrm>
                  <a:off x="1454"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6" name="Rectangle 2198"/>
                <p:cNvSpPr>
                  <a:spLocks noChangeArrowheads="1"/>
                </p:cNvSpPr>
                <p:nvPr/>
              </p:nvSpPr>
              <p:spPr bwMode="auto">
                <a:xfrm>
                  <a:off x="1487"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7" name="Rectangle 2199"/>
                <p:cNvSpPr>
                  <a:spLocks noChangeArrowheads="1"/>
                </p:cNvSpPr>
                <p:nvPr/>
              </p:nvSpPr>
              <p:spPr bwMode="auto">
                <a:xfrm>
                  <a:off x="1521"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8" name="Rectangle 2200"/>
                <p:cNvSpPr>
                  <a:spLocks noChangeArrowheads="1"/>
                </p:cNvSpPr>
                <p:nvPr/>
              </p:nvSpPr>
              <p:spPr bwMode="auto">
                <a:xfrm>
                  <a:off x="1554"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29" name="Rectangle 2201"/>
                <p:cNvSpPr>
                  <a:spLocks noChangeArrowheads="1"/>
                </p:cNvSpPr>
                <p:nvPr/>
              </p:nvSpPr>
              <p:spPr bwMode="auto">
                <a:xfrm>
                  <a:off x="1588"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0" name="Rectangle 2202"/>
                <p:cNvSpPr>
                  <a:spLocks noChangeArrowheads="1"/>
                </p:cNvSpPr>
                <p:nvPr/>
              </p:nvSpPr>
              <p:spPr bwMode="auto">
                <a:xfrm>
                  <a:off x="1621"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1" name="Rectangle 2203"/>
                <p:cNvSpPr>
                  <a:spLocks noChangeArrowheads="1"/>
                </p:cNvSpPr>
                <p:nvPr/>
              </p:nvSpPr>
              <p:spPr bwMode="auto">
                <a:xfrm>
                  <a:off x="1655"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2" name="Rectangle 2204"/>
                <p:cNvSpPr>
                  <a:spLocks noChangeArrowheads="1"/>
                </p:cNvSpPr>
                <p:nvPr/>
              </p:nvSpPr>
              <p:spPr bwMode="auto">
                <a:xfrm>
                  <a:off x="1688"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3" name="Rectangle 2205"/>
                <p:cNvSpPr>
                  <a:spLocks noChangeArrowheads="1"/>
                </p:cNvSpPr>
                <p:nvPr/>
              </p:nvSpPr>
              <p:spPr bwMode="auto">
                <a:xfrm>
                  <a:off x="1722"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4" name="Rectangle 2206"/>
                <p:cNvSpPr>
                  <a:spLocks noChangeArrowheads="1"/>
                </p:cNvSpPr>
                <p:nvPr/>
              </p:nvSpPr>
              <p:spPr bwMode="auto">
                <a:xfrm>
                  <a:off x="1755"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5" name="Rectangle 2207"/>
                <p:cNvSpPr>
                  <a:spLocks noChangeArrowheads="1"/>
                </p:cNvSpPr>
                <p:nvPr/>
              </p:nvSpPr>
              <p:spPr bwMode="auto">
                <a:xfrm>
                  <a:off x="1789"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6" name="Rectangle 2208"/>
                <p:cNvSpPr>
                  <a:spLocks noChangeArrowheads="1"/>
                </p:cNvSpPr>
                <p:nvPr/>
              </p:nvSpPr>
              <p:spPr bwMode="auto">
                <a:xfrm>
                  <a:off x="1823" y="4016"/>
                  <a:ext cx="16"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7" name="Rectangle 2209"/>
                <p:cNvSpPr>
                  <a:spLocks noChangeArrowheads="1"/>
                </p:cNvSpPr>
                <p:nvPr/>
              </p:nvSpPr>
              <p:spPr bwMode="auto">
                <a:xfrm>
                  <a:off x="1856"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8" name="Rectangle 2210"/>
                <p:cNvSpPr>
                  <a:spLocks noChangeArrowheads="1"/>
                </p:cNvSpPr>
                <p:nvPr/>
              </p:nvSpPr>
              <p:spPr bwMode="auto">
                <a:xfrm>
                  <a:off x="1890" y="4016"/>
                  <a:ext cx="16"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39" name="Rectangle 2211"/>
                <p:cNvSpPr>
                  <a:spLocks noChangeArrowheads="1"/>
                </p:cNvSpPr>
                <p:nvPr/>
              </p:nvSpPr>
              <p:spPr bwMode="auto">
                <a:xfrm>
                  <a:off x="1923"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40" name="Rectangle 2212"/>
                <p:cNvSpPr>
                  <a:spLocks noChangeArrowheads="1"/>
                </p:cNvSpPr>
                <p:nvPr/>
              </p:nvSpPr>
              <p:spPr bwMode="auto">
                <a:xfrm>
                  <a:off x="1957" y="4016"/>
                  <a:ext cx="16"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41" name="Rectangle 2213"/>
                <p:cNvSpPr>
                  <a:spLocks noChangeArrowheads="1"/>
                </p:cNvSpPr>
                <p:nvPr/>
              </p:nvSpPr>
              <p:spPr bwMode="auto">
                <a:xfrm>
                  <a:off x="1990"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42" name="Rectangle 2214"/>
                <p:cNvSpPr>
                  <a:spLocks noChangeArrowheads="1"/>
                </p:cNvSpPr>
                <p:nvPr/>
              </p:nvSpPr>
              <p:spPr bwMode="auto">
                <a:xfrm>
                  <a:off x="2024" y="4016"/>
                  <a:ext cx="16"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143" name="Rectangle 2215"/>
                <p:cNvSpPr>
                  <a:spLocks noChangeArrowheads="1"/>
                </p:cNvSpPr>
                <p:nvPr/>
              </p:nvSpPr>
              <p:spPr bwMode="auto">
                <a:xfrm>
                  <a:off x="2057" y="4016"/>
                  <a:ext cx="17" cy="4"/>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grpSp>
          <p:sp>
            <p:nvSpPr>
              <p:cNvPr id="1089" name="Freeform 2216"/>
              <p:cNvSpPr>
                <a:spLocks/>
              </p:cNvSpPr>
              <p:nvPr/>
            </p:nvSpPr>
            <p:spPr bwMode="auto">
              <a:xfrm>
                <a:off x="1239" y="3768"/>
                <a:ext cx="844" cy="236"/>
              </a:xfrm>
              <a:custGeom>
                <a:avLst/>
                <a:gdLst>
                  <a:gd name="T0" fmla="*/ 0 w 1688"/>
                  <a:gd name="T1" fmla="*/ 389 h 472"/>
                  <a:gd name="T2" fmla="*/ 50 w 1688"/>
                  <a:gd name="T3" fmla="*/ 144 h 472"/>
                  <a:gd name="T4" fmla="*/ 83 w 1688"/>
                  <a:gd name="T5" fmla="*/ 287 h 472"/>
                  <a:gd name="T6" fmla="*/ 133 w 1688"/>
                  <a:gd name="T7" fmla="*/ 226 h 472"/>
                  <a:gd name="T8" fmla="*/ 167 w 1688"/>
                  <a:gd name="T9" fmla="*/ 307 h 472"/>
                  <a:gd name="T10" fmla="*/ 267 w 1688"/>
                  <a:gd name="T11" fmla="*/ 0 h 472"/>
                  <a:gd name="T12" fmla="*/ 301 w 1688"/>
                  <a:gd name="T13" fmla="*/ 41 h 472"/>
                  <a:gd name="T14" fmla="*/ 318 w 1688"/>
                  <a:gd name="T15" fmla="*/ 0 h 472"/>
                  <a:gd name="T16" fmla="*/ 367 w 1688"/>
                  <a:gd name="T17" fmla="*/ 21 h 472"/>
                  <a:gd name="T18" fmla="*/ 434 w 1688"/>
                  <a:gd name="T19" fmla="*/ 287 h 472"/>
                  <a:gd name="T20" fmla="*/ 467 w 1688"/>
                  <a:gd name="T21" fmla="*/ 205 h 472"/>
                  <a:gd name="T22" fmla="*/ 501 w 1688"/>
                  <a:gd name="T23" fmla="*/ 287 h 472"/>
                  <a:gd name="T24" fmla="*/ 568 w 1688"/>
                  <a:gd name="T25" fmla="*/ 185 h 472"/>
                  <a:gd name="T26" fmla="*/ 635 w 1688"/>
                  <a:gd name="T27" fmla="*/ 348 h 472"/>
                  <a:gd name="T28" fmla="*/ 668 w 1688"/>
                  <a:gd name="T29" fmla="*/ 307 h 472"/>
                  <a:gd name="T30" fmla="*/ 718 w 1688"/>
                  <a:gd name="T31" fmla="*/ 287 h 472"/>
                  <a:gd name="T32" fmla="*/ 751 w 1688"/>
                  <a:gd name="T33" fmla="*/ 287 h 472"/>
                  <a:gd name="T34" fmla="*/ 785 w 1688"/>
                  <a:gd name="T35" fmla="*/ 164 h 472"/>
                  <a:gd name="T36" fmla="*/ 835 w 1688"/>
                  <a:gd name="T37" fmla="*/ 328 h 472"/>
                  <a:gd name="T38" fmla="*/ 885 w 1688"/>
                  <a:gd name="T39" fmla="*/ 82 h 472"/>
                  <a:gd name="T40" fmla="*/ 986 w 1688"/>
                  <a:gd name="T41" fmla="*/ 451 h 472"/>
                  <a:gd name="T42" fmla="*/ 1018 w 1688"/>
                  <a:gd name="T43" fmla="*/ 430 h 472"/>
                  <a:gd name="T44" fmla="*/ 1052 w 1688"/>
                  <a:gd name="T45" fmla="*/ 472 h 472"/>
                  <a:gd name="T46" fmla="*/ 1085 w 1688"/>
                  <a:gd name="T47" fmla="*/ 430 h 472"/>
                  <a:gd name="T48" fmla="*/ 1119 w 1688"/>
                  <a:gd name="T49" fmla="*/ 472 h 472"/>
                  <a:gd name="T50" fmla="*/ 1186 w 1688"/>
                  <a:gd name="T51" fmla="*/ 389 h 472"/>
                  <a:gd name="T52" fmla="*/ 1203 w 1688"/>
                  <a:gd name="T53" fmla="*/ 185 h 472"/>
                  <a:gd name="T54" fmla="*/ 1253 w 1688"/>
                  <a:gd name="T55" fmla="*/ 307 h 472"/>
                  <a:gd name="T56" fmla="*/ 1337 w 1688"/>
                  <a:gd name="T57" fmla="*/ 62 h 472"/>
                  <a:gd name="T58" fmla="*/ 1386 w 1688"/>
                  <a:gd name="T59" fmla="*/ 451 h 472"/>
                  <a:gd name="T60" fmla="*/ 1436 w 1688"/>
                  <a:gd name="T61" fmla="*/ 205 h 472"/>
                  <a:gd name="T62" fmla="*/ 1470 w 1688"/>
                  <a:gd name="T63" fmla="*/ 307 h 472"/>
                  <a:gd name="T64" fmla="*/ 1537 w 1688"/>
                  <a:gd name="T65" fmla="*/ 205 h 472"/>
                  <a:gd name="T66" fmla="*/ 1570 w 1688"/>
                  <a:gd name="T67" fmla="*/ 287 h 472"/>
                  <a:gd name="T68" fmla="*/ 1637 w 1688"/>
                  <a:gd name="T69" fmla="*/ 205 h 472"/>
                  <a:gd name="T70" fmla="*/ 1688 w 1688"/>
                  <a:gd name="T71" fmla="*/ 328 h 47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88"/>
                  <a:gd name="T109" fmla="*/ 0 h 472"/>
                  <a:gd name="T110" fmla="*/ 1688 w 1688"/>
                  <a:gd name="T111" fmla="*/ 472 h 47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88" h="472">
                    <a:moveTo>
                      <a:pt x="0" y="389"/>
                    </a:moveTo>
                    <a:lnTo>
                      <a:pt x="50" y="144"/>
                    </a:lnTo>
                    <a:lnTo>
                      <a:pt x="83" y="287"/>
                    </a:lnTo>
                    <a:lnTo>
                      <a:pt x="133" y="226"/>
                    </a:lnTo>
                    <a:lnTo>
                      <a:pt x="167" y="307"/>
                    </a:lnTo>
                    <a:lnTo>
                      <a:pt x="267" y="0"/>
                    </a:lnTo>
                    <a:lnTo>
                      <a:pt x="301" y="41"/>
                    </a:lnTo>
                    <a:lnTo>
                      <a:pt x="318" y="0"/>
                    </a:lnTo>
                    <a:lnTo>
                      <a:pt x="367" y="21"/>
                    </a:lnTo>
                    <a:lnTo>
                      <a:pt x="434" y="287"/>
                    </a:lnTo>
                    <a:lnTo>
                      <a:pt x="467" y="205"/>
                    </a:lnTo>
                    <a:lnTo>
                      <a:pt x="501" y="287"/>
                    </a:lnTo>
                    <a:lnTo>
                      <a:pt x="568" y="185"/>
                    </a:lnTo>
                    <a:lnTo>
                      <a:pt x="635" y="348"/>
                    </a:lnTo>
                    <a:lnTo>
                      <a:pt x="668" y="307"/>
                    </a:lnTo>
                    <a:lnTo>
                      <a:pt x="718" y="287"/>
                    </a:lnTo>
                    <a:lnTo>
                      <a:pt x="751" y="287"/>
                    </a:lnTo>
                    <a:lnTo>
                      <a:pt x="785" y="164"/>
                    </a:lnTo>
                    <a:lnTo>
                      <a:pt x="835" y="328"/>
                    </a:lnTo>
                    <a:lnTo>
                      <a:pt x="885" y="82"/>
                    </a:lnTo>
                    <a:lnTo>
                      <a:pt x="986" y="451"/>
                    </a:lnTo>
                    <a:lnTo>
                      <a:pt x="1018" y="430"/>
                    </a:lnTo>
                    <a:lnTo>
                      <a:pt x="1052" y="472"/>
                    </a:lnTo>
                    <a:lnTo>
                      <a:pt x="1085" y="430"/>
                    </a:lnTo>
                    <a:lnTo>
                      <a:pt x="1119" y="472"/>
                    </a:lnTo>
                    <a:lnTo>
                      <a:pt x="1186" y="389"/>
                    </a:lnTo>
                    <a:lnTo>
                      <a:pt x="1203" y="185"/>
                    </a:lnTo>
                    <a:lnTo>
                      <a:pt x="1253" y="307"/>
                    </a:lnTo>
                    <a:lnTo>
                      <a:pt x="1337" y="62"/>
                    </a:lnTo>
                    <a:lnTo>
                      <a:pt x="1386" y="451"/>
                    </a:lnTo>
                    <a:lnTo>
                      <a:pt x="1436" y="205"/>
                    </a:lnTo>
                    <a:lnTo>
                      <a:pt x="1470" y="307"/>
                    </a:lnTo>
                    <a:lnTo>
                      <a:pt x="1537" y="205"/>
                    </a:lnTo>
                    <a:lnTo>
                      <a:pt x="1570" y="287"/>
                    </a:lnTo>
                    <a:lnTo>
                      <a:pt x="1637" y="205"/>
                    </a:lnTo>
                    <a:lnTo>
                      <a:pt x="1688" y="328"/>
                    </a:lnTo>
                  </a:path>
                </a:pathLst>
              </a:custGeom>
              <a:noFill/>
              <a:ln w="6350">
                <a:solidFill>
                  <a:srgbClr val="000000"/>
                </a:solidFill>
                <a:prstDash val="solid"/>
                <a:round/>
                <a:headEnd/>
                <a:tailEnd/>
              </a:ln>
            </p:spPr>
            <p:txBody>
              <a:bodyPr/>
              <a:lstStyle/>
              <a:p>
                <a:pPr algn="ctr" fontAlgn="auto" latinLnBrk="0">
                  <a:spcBef>
                    <a:spcPts val="0"/>
                  </a:spcBef>
                  <a:spcAft>
                    <a:spcPts val="0"/>
                  </a:spcAft>
                  <a:defRPr/>
                </a:pPr>
                <a:endParaRPr kumimoji="0" lang="ko-KR" altLang="en-US" sz="1200" kern="0">
                  <a:solidFill>
                    <a:srgbClr val="000000"/>
                  </a:solidFill>
                  <a:latin typeface="Arial" pitchFamily="34" charset="0"/>
                  <a:ea typeface="맑은 고딕" panose="020B0503020000020004" pitchFamily="50" charset="-127"/>
                  <a:cs typeface="Arial" pitchFamily="34" charset="0"/>
                </a:endParaRPr>
              </a:p>
            </p:txBody>
          </p:sp>
        </p:grpSp>
        <p:sp>
          <p:nvSpPr>
            <p:cNvPr id="1076" name="Rectangle 2217"/>
            <p:cNvSpPr>
              <a:spLocks noChangeArrowheads="1"/>
            </p:cNvSpPr>
            <p:nvPr/>
          </p:nvSpPr>
          <p:spPr bwMode="auto">
            <a:xfrm>
              <a:off x="1706" y="3960"/>
              <a:ext cx="8"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77" name="Rectangle 2218"/>
            <p:cNvSpPr>
              <a:spLocks noChangeArrowheads="1"/>
            </p:cNvSpPr>
            <p:nvPr/>
          </p:nvSpPr>
          <p:spPr bwMode="auto">
            <a:xfrm>
              <a:off x="1706" y="3995"/>
              <a:ext cx="8"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78" name="Rectangle 2219"/>
            <p:cNvSpPr>
              <a:spLocks noChangeArrowheads="1"/>
            </p:cNvSpPr>
            <p:nvPr/>
          </p:nvSpPr>
          <p:spPr bwMode="auto">
            <a:xfrm>
              <a:off x="1722" y="4021"/>
              <a:ext cx="7"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79" name="Rectangle 2220"/>
            <p:cNvSpPr>
              <a:spLocks noChangeArrowheads="1"/>
            </p:cNvSpPr>
            <p:nvPr/>
          </p:nvSpPr>
          <p:spPr bwMode="auto">
            <a:xfrm>
              <a:off x="1755" y="4021"/>
              <a:ext cx="7"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80" name="Rectangle 2221"/>
            <p:cNvSpPr>
              <a:spLocks noChangeArrowheads="1"/>
            </p:cNvSpPr>
            <p:nvPr/>
          </p:nvSpPr>
          <p:spPr bwMode="auto">
            <a:xfrm>
              <a:off x="1789" y="4021"/>
              <a:ext cx="7"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81" name="Rectangle 2222"/>
            <p:cNvSpPr>
              <a:spLocks noChangeArrowheads="1"/>
            </p:cNvSpPr>
            <p:nvPr/>
          </p:nvSpPr>
          <p:spPr bwMode="auto">
            <a:xfrm>
              <a:off x="1823" y="4021"/>
              <a:ext cx="1"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82" name="Rectangle 2223"/>
            <p:cNvSpPr>
              <a:spLocks noChangeArrowheads="1"/>
            </p:cNvSpPr>
            <p:nvPr/>
          </p:nvSpPr>
          <p:spPr bwMode="auto">
            <a:xfrm>
              <a:off x="1824" y="4013"/>
              <a:ext cx="8" cy="8"/>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83" name="Rectangle 2224"/>
            <p:cNvSpPr>
              <a:spLocks noChangeArrowheads="1"/>
            </p:cNvSpPr>
            <p:nvPr/>
          </p:nvSpPr>
          <p:spPr bwMode="auto">
            <a:xfrm>
              <a:off x="1824" y="3979"/>
              <a:ext cx="8"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84" name="Rectangle 2225"/>
            <p:cNvSpPr>
              <a:spLocks noChangeArrowheads="1"/>
            </p:cNvSpPr>
            <p:nvPr/>
          </p:nvSpPr>
          <p:spPr bwMode="auto">
            <a:xfrm>
              <a:off x="1808" y="3951"/>
              <a:ext cx="7"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85" name="Rectangle 2226"/>
            <p:cNvSpPr>
              <a:spLocks noChangeArrowheads="1"/>
            </p:cNvSpPr>
            <p:nvPr/>
          </p:nvSpPr>
          <p:spPr bwMode="auto">
            <a:xfrm>
              <a:off x="1775" y="3951"/>
              <a:ext cx="7"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86" name="Rectangle 2227"/>
            <p:cNvSpPr>
              <a:spLocks noChangeArrowheads="1"/>
            </p:cNvSpPr>
            <p:nvPr/>
          </p:nvSpPr>
          <p:spPr bwMode="auto">
            <a:xfrm>
              <a:off x="1741" y="3951"/>
              <a:ext cx="7"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sp>
          <p:nvSpPr>
            <p:cNvPr id="1087" name="Rectangle 2228"/>
            <p:cNvSpPr>
              <a:spLocks noChangeArrowheads="1"/>
            </p:cNvSpPr>
            <p:nvPr/>
          </p:nvSpPr>
          <p:spPr bwMode="auto">
            <a:xfrm>
              <a:off x="1714" y="3951"/>
              <a:ext cx="2" cy="9"/>
            </a:xfrm>
            <a:prstGeom prst="rect">
              <a:avLst/>
            </a:prstGeom>
            <a:solidFill>
              <a:srgbClr val="000000"/>
            </a:solidFill>
            <a:ln>
              <a:noFill/>
            </a:ln>
          </p:spPr>
          <p:txBody>
            <a:bodyPr/>
            <a:lstStyle>
              <a:lvl1pPr eaLnBrk="0" hangingPunct="0">
                <a:defRPr kumimoji="1" sz="1200">
                  <a:solidFill>
                    <a:schemeClr val="tx1"/>
                  </a:solidFill>
                  <a:latin typeface="Arial" charset="0"/>
                  <a:ea typeface="돋움" pitchFamily="50" charset="-127"/>
                </a:defRPr>
              </a:lvl1pPr>
              <a:lvl2pPr marL="742950" indent="-285750" eaLnBrk="0" hangingPunct="0">
                <a:defRPr kumimoji="1" sz="1200">
                  <a:solidFill>
                    <a:schemeClr val="tx1"/>
                  </a:solidFill>
                  <a:latin typeface="Arial" charset="0"/>
                  <a:ea typeface="돋움" pitchFamily="50" charset="-127"/>
                </a:defRPr>
              </a:lvl2pPr>
              <a:lvl3pPr marL="1143000" indent="-228600" eaLnBrk="0" hangingPunct="0">
                <a:defRPr kumimoji="1" sz="1200">
                  <a:solidFill>
                    <a:schemeClr val="tx1"/>
                  </a:solidFill>
                  <a:latin typeface="Arial" charset="0"/>
                  <a:ea typeface="돋움" pitchFamily="50" charset="-127"/>
                </a:defRPr>
              </a:lvl3pPr>
              <a:lvl4pPr marL="1600200" indent="-228600" eaLnBrk="0" hangingPunct="0">
                <a:defRPr kumimoji="1" sz="1200">
                  <a:solidFill>
                    <a:schemeClr val="tx1"/>
                  </a:solidFill>
                  <a:latin typeface="Arial" charset="0"/>
                  <a:ea typeface="돋움" pitchFamily="50" charset="-127"/>
                </a:defRPr>
              </a:lvl4pPr>
              <a:lvl5pPr marL="2057400" indent="-228600" eaLnBrk="0" hangingPunct="0">
                <a:defRPr kumimoji="1" sz="1200">
                  <a:solidFill>
                    <a:schemeClr val="tx1"/>
                  </a:solidFill>
                  <a:latin typeface="Arial" charset="0"/>
                  <a:ea typeface="돋움" pitchFamily="50" charset="-127"/>
                </a:defRPr>
              </a:lvl5pPr>
              <a:lvl6pPr marL="2514600" indent="-228600" algn="ctr" eaLnBrk="0" fontAlgn="base" hangingPunct="0">
                <a:spcBef>
                  <a:spcPct val="0"/>
                </a:spcBef>
                <a:spcAft>
                  <a:spcPct val="0"/>
                </a:spcAft>
                <a:defRPr kumimoji="1" sz="1200">
                  <a:solidFill>
                    <a:schemeClr val="tx1"/>
                  </a:solidFill>
                  <a:latin typeface="Arial" charset="0"/>
                  <a:ea typeface="돋움" pitchFamily="50" charset="-127"/>
                </a:defRPr>
              </a:lvl6pPr>
              <a:lvl7pPr marL="2971800" indent="-228600" algn="ctr" eaLnBrk="0" fontAlgn="base" hangingPunct="0">
                <a:spcBef>
                  <a:spcPct val="0"/>
                </a:spcBef>
                <a:spcAft>
                  <a:spcPct val="0"/>
                </a:spcAft>
                <a:defRPr kumimoji="1" sz="1200">
                  <a:solidFill>
                    <a:schemeClr val="tx1"/>
                  </a:solidFill>
                  <a:latin typeface="Arial" charset="0"/>
                  <a:ea typeface="돋움" pitchFamily="50" charset="-127"/>
                </a:defRPr>
              </a:lvl7pPr>
              <a:lvl8pPr marL="3429000" indent="-228600" algn="ctr" eaLnBrk="0" fontAlgn="base" hangingPunct="0">
                <a:spcBef>
                  <a:spcPct val="0"/>
                </a:spcBef>
                <a:spcAft>
                  <a:spcPct val="0"/>
                </a:spcAft>
                <a:defRPr kumimoji="1" sz="1200">
                  <a:solidFill>
                    <a:schemeClr val="tx1"/>
                  </a:solidFill>
                  <a:latin typeface="Arial" charset="0"/>
                  <a:ea typeface="돋움" pitchFamily="50" charset="-127"/>
                </a:defRPr>
              </a:lvl8pPr>
              <a:lvl9pPr marL="3886200" indent="-228600" algn="ctr" eaLnBrk="0" fontAlgn="base" hangingPunct="0">
                <a:spcBef>
                  <a:spcPct val="0"/>
                </a:spcBef>
                <a:spcAft>
                  <a:spcPct val="0"/>
                </a:spcAft>
                <a:defRPr kumimoji="1" sz="1200">
                  <a:solidFill>
                    <a:schemeClr val="tx1"/>
                  </a:solidFill>
                  <a:latin typeface="Arial" charset="0"/>
                  <a:ea typeface="돋움" pitchFamily="50" charset="-127"/>
                </a:defRPr>
              </a:lvl9pPr>
            </a:lstStyle>
            <a:p>
              <a:pPr algn="ctr" eaLnBrk="1" fontAlgn="auto" latinLnBrk="0" hangingPunct="1">
                <a:spcBef>
                  <a:spcPts val="0"/>
                </a:spcBef>
                <a:spcAft>
                  <a:spcPts val="0"/>
                </a:spcAft>
                <a:defRPr/>
              </a:pPr>
              <a:endParaRPr lang="ko-KR" altLang="en-US" kern="0">
                <a:solidFill>
                  <a:srgbClr val="000000"/>
                </a:solidFill>
                <a:latin typeface="Arial" pitchFamily="34" charset="0"/>
                <a:ea typeface="맑은 고딕" panose="020B0503020000020004" pitchFamily="50" charset="-127"/>
                <a:cs typeface="Arial" pitchFamily="34" charset="0"/>
              </a:endParaRPr>
            </a:p>
          </p:txBody>
        </p:sp>
      </p:grpSp>
      <p:sp>
        <p:nvSpPr>
          <p:cNvPr id="32851" name="Text Box 2230"/>
          <p:cNvSpPr txBox="1">
            <a:spLocks noChangeArrowheads="1"/>
          </p:cNvSpPr>
          <p:nvPr/>
        </p:nvSpPr>
        <p:spPr bwMode="auto">
          <a:xfrm>
            <a:off x="6889023" y="258763"/>
            <a:ext cx="28328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r" eaLnBrk="1" hangingPunct="1">
              <a:spcBef>
                <a:spcPct val="50000"/>
              </a:spcBef>
            </a:pPr>
            <a:r>
              <a:rPr lang="en-US" altLang="ko-KR" sz="1600" b="1" dirty="0" err="1">
                <a:latin typeface="Arial" pitchFamily="34" charset="0"/>
                <a:ea typeface="맑은 고딕" pitchFamily="50" charset="-127"/>
                <a:cs typeface="Arial" pitchFamily="34" charset="0"/>
              </a:rPr>
              <a:t>Biểu</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đồ</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kiểm</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soát</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diễn</a:t>
            </a:r>
            <a:r>
              <a:rPr lang="en-US" altLang="ko-KR" sz="1600" b="1" dirty="0">
                <a:latin typeface="Arial" pitchFamily="34" charset="0"/>
                <a:ea typeface="맑은 고딕" pitchFamily="50" charset="-127"/>
                <a:cs typeface="Arial" pitchFamily="34" charset="0"/>
              </a:rPr>
              <a:t> </a:t>
            </a:r>
            <a:r>
              <a:rPr lang="en-US" altLang="ko-KR" sz="1600" b="1" dirty="0" err="1">
                <a:latin typeface="Arial" pitchFamily="34" charset="0"/>
                <a:ea typeface="맑은 고딕" pitchFamily="50" charset="-127"/>
                <a:cs typeface="Arial" pitchFamily="34" charset="0"/>
              </a:rPr>
              <a:t>giải</a:t>
            </a:r>
            <a:endParaRPr lang="ko-KR" altLang="en-US" sz="1600" b="1" dirty="0">
              <a:latin typeface="Arial" pitchFamily="34" charset="0"/>
              <a:ea typeface="맑은 고딕" pitchFamily="50" charset="-127"/>
              <a:cs typeface="Arial" pitchFamily="34" charset="0"/>
            </a:endParaRPr>
          </a:p>
        </p:txBody>
      </p:sp>
      <p:sp>
        <p:nvSpPr>
          <p:cNvPr id="614" name="제목 8"/>
          <p:cNvSpPr txBox="1">
            <a:spLocks/>
          </p:cNvSpPr>
          <p:nvPr/>
        </p:nvSpPr>
        <p:spPr bwMode="auto">
          <a:xfrm>
            <a:off x="195263" y="188913"/>
            <a:ext cx="8813800" cy="488950"/>
          </a:xfrm>
          <a:prstGeom prst="rect">
            <a:avLst/>
          </a:prstGeom>
        </p:spPr>
        <p:txBody>
          <a:bodyPr/>
          <a:lstStyle/>
          <a:p>
            <a:pPr lvl="0" fontAlgn="auto">
              <a:spcAft>
                <a:spcPts val="0"/>
              </a:spcAft>
              <a:defRPr/>
            </a:pPr>
            <a:r>
              <a:rPr kumimoji="0" lang="en-US" altLang="ko-KR" sz="2000" b="1" dirty="0">
                <a:latin typeface="Arial" pitchFamily="34" charset="0"/>
                <a:ea typeface="맑은 고딕" panose="020B0503020000020004" pitchFamily="50" charset="-127"/>
                <a:cs typeface="Arial" pitchFamily="34" charset="0"/>
              </a:rPr>
              <a:t>6. </a:t>
            </a:r>
            <a:r>
              <a:rPr kumimoji="0" lang="en-US" altLang="ko-KR" sz="2000" b="1" dirty="0" err="1">
                <a:latin typeface="Arial" pitchFamily="34" charset="0"/>
                <a:cs typeface="Arial" pitchFamily="34" charset="0"/>
              </a:rPr>
              <a:t>Cách</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đọc</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biểu</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đồ</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kiểm</a:t>
            </a:r>
            <a:r>
              <a:rPr kumimoji="0" lang="en-US" altLang="ko-KR" sz="2000" b="1" dirty="0">
                <a:latin typeface="Arial" pitchFamily="34" charset="0"/>
                <a:cs typeface="Arial" pitchFamily="34" charset="0"/>
              </a:rPr>
              <a:t> </a:t>
            </a:r>
            <a:r>
              <a:rPr kumimoji="0" lang="en-US" altLang="ko-KR" sz="2000" b="1" dirty="0" err="1">
                <a:latin typeface="Arial" pitchFamily="34" charset="0"/>
                <a:cs typeface="Arial" pitchFamily="34" charset="0"/>
              </a:rPr>
              <a:t>soát</a:t>
            </a:r>
            <a:endParaRPr kumimoji="0" lang="ko-KR" altLang="en-US" sz="2000" b="1" dirty="0">
              <a:latin typeface="Arial" pitchFamily="34" charset="0"/>
              <a:cs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latin typeface="Arial" pitchFamily="34" charset="0"/>
                <a:cs typeface="Arial" pitchFamily="34" charset="0"/>
              </a:rPr>
              <a:pPr>
                <a:defRPr/>
              </a:pPr>
              <a:t>272</a:t>
            </a:fld>
            <a:endParaRPr lang="ko-KR" altLang="en-US" dirty="0">
              <a:latin typeface="Arial" pitchFamily="34" charset="0"/>
              <a:cs typeface="Arial" pitchFamily="34" charset="0"/>
            </a:endParaRPr>
          </a:p>
        </p:txBody>
      </p:sp>
    </p:spTree>
    <p:extLst>
      <p:ext uri="{BB962C8B-B14F-4D97-AF65-F5344CB8AC3E}">
        <p14:creationId xmlns:p14="http://schemas.microsoft.com/office/powerpoint/2010/main" val="3880353825"/>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7. </a:t>
            </a:r>
            <a:r>
              <a:rPr lang="en-US" altLang="ko-KR" sz="2000" b="1" dirty="0" err="1"/>
              <a:t>Thực</a:t>
            </a:r>
            <a:r>
              <a:rPr lang="en-US" altLang="ko-KR" sz="2000" b="1" dirty="0"/>
              <a:t> </a:t>
            </a:r>
            <a:r>
              <a:rPr lang="en-US" altLang="ko-KR" sz="2000" b="1" dirty="0" err="1"/>
              <a:t>hành</a:t>
            </a:r>
            <a:r>
              <a:rPr lang="en-US" altLang="ko-KR" sz="2000" b="1" dirty="0"/>
              <a:t> </a:t>
            </a:r>
            <a:r>
              <a:rPr lang="en-US" altLang="ko-KR" sz="2000" b="1" dirty="0" err="1"/>
              <a:t>Xbar</a:t>
            </a:r>
            <a:r>
              <a:rPr lang="en-US" altLang="ko-KR" sz="2000" b="1" dirty="0"/>
              <a:t>-R Control Chart</a:t>
            </a:r>
            <a:endParaRPr lang="ko-KR" altLang="en-US" sz="2000" b="1" dirty="0"/>
          </a:p>
        </p:txBody>
      </p:sp>
      <p:sp>
        <p:nvSpPr>
          <p:cNvPr id="34820" name="Rectangle 2"/>
          <p:cNvSpPr>
            <a:spLocks noChangeArrowheads="1"/>
          </p:cNvSpPr>
          <p:nvPr/>
        </p:nvSpPr>
        <p:spPr bwMode="auto">
          <a:xfrm>
            <a:off x="560388" y="1076325"/>
            <a:ext cx="8785225" cy="1601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latinLnBrk="0">
              <a:lnSpc>
                <a:spcPct val="140000"/>
              </a:lnSpc>
            </a:pPr>
            <a:r>
              <a:rPr kumimoji="0" lang="en-US" altLang="ko-KR" sz="1400" b="1" dirty="0" err="1">
                <a:latin typeface="arial" pitchFamily="34" charset="0"/>
                <a:ea typeface="맑은 고딕" pitchFamily="50" charset="-127"/>
              </a:rPr>
              <a:t>Một</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sản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phẩm</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âm</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thanh</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đã</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được</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phát</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triển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và</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đang</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được</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sản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xuất</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trên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dòng</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sản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phẩm</a:t>
            </a:r>
            <a:r>
              <a:rPr kumimoji="0" lang="en-US" altLang="ko-KR" sz="1400" b="1" dirty="0">
                <a:latin typeface="arial" pitchFamily="34" charset="0"/>
                <a:ea typeface="맑은 고딕" pitchFamily="50" charset="-127"/>
              </a:rPr>
              <a:t> A </a:t>
            </a:r>
            <a:r>
              <a:rPr kumimoji="0" lang="en-US" altLang="ko-KR" sz="1400" b="1" dirty="0" err="1">
                <a:latin typeface="arial" pitchFamily="34" charset="0"/>
                <a:ea typeface="맑은 고딕" pitchFamily="50" charset="-127"/>
              </a:rPr>
              <a:t>và</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dòng</a:t>
            </a:r>
            <a:r>
              <a:rPr kumimoji="0" lang="en-US" altLang="ko-KR" sz="1400" b="1" dirty="0">
                <a:latin typeface="arial" pitchFamily="34" charset="0"/>
                <a:ea typeface="맑은 고딕" pitchFamily="50" charset="-127"/>
              </a:rPr>
              <a:t> M. </a:t>
            </a:r>
            <a:r>
              <a:rPr kumimoji="0" lang="en-US" altLang="ko-KR" sz="1400" b="1" dirty="0" err="1">
                <a:latin typeface="arial" pitchFamily="34" charset="0"/>
                <a:ea typeface="맑은 고딕" pitchFamily="50" charset="-127"/>
              </a:rPr>
              <a:t>Để</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kiểm</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tra</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mức</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đầu</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ra</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âm</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thanh</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Ông</a:t>
            </a:r>
            <a:r>
              <a:rPr kumimoji="0" lang="en-US" altLang="ko-KR" sz="1400" b="1" dirty="0">
                <a:latin typeface="arial" pitchFamily="34" charset="0"/>
                <a:ea typeface="맑은 고딕" pitchFamily="50" charset="-127"/>
              </a:rPr>
              <a:t> Kim </a:t>
            </a:r>
            <a:r>
              <a:rPr kumimoji="0" lang="en-US" altLang="ko-KR" sz="1400" b="1" dirty="0" err="1">
                <a:latin typeface="arial" pitchFamily="34" charset="0"/>
                <a:ea typeface="맑은 고딕" pitchFamily="50" charset="-127"/>
              </a:rPr>
              <a:t>Kil</a:t>
            </a:r>
            <a:r>
              <a:rPr kumimoji="0" lang="en-US" altLang="ko-KR" sz="1400" b="1" dirty="0">
                <a:latin typeface="arial" pitchFamily="34" charset="0"/>
                <a:ea typeface="맑은 고딕" pitchFamily="50" charset="-127"/>
              </a:rPr>
              <a:t> Dong </a:t>
            </a:r>
            <a:r>
              <a:rPr kumimoji="0" lang="en-US" altLang="ko-KR" sz="1400" b="1" dirty="0" err="1">
                <a:latin typeface="arial" pitchFamily="34" charset="0"/>
                <a:ea typeface="맑은 고딕" pitchFamily="50" charset="-127"/>
              </a:rPr>
              <a:t>tiến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hành</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đo</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đạc</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bằng</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cách</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lấy</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mẫu</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sản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phẩm</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trong</a:t>
            </a:r>
            <a:r>
              <a:rPr kumimoji="0" lang="en-US" altLang="ko-KR" sz="1400" b="1" dirty="0">
                <a:latin typeface="arial" pitchFamily="34" charset="0"/>
                <a:ea typeface="맑은 고딕" pitchFamily="50" charset="-127"/>
              </a:rPr>
              <a:t> 7 </a:t>
            </a:r>
            <a:r>
              <a:rPr kumimoji="0" lang="en-US" altLang="ko-KR" sz="1400" b="1" dirty="0" err="1">
                <a:latin typeface="arial" pitchFamily="34" charset="0"/>
                <a:ea typeface="맑은 고딕" pitchFamily="50" charset="-127"/>
              </a:rPr>
              <a:t>ngày</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liên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tục</a:t>
            </a:r>
            <a:r>
              <a:rPr kumimoji="0" lang="en-US" altLang="ko-KR" sz="1400" b="1" dirty="0">
                <a:latin typeface="arial" pitchFamily="34" charset="0"/>
                <a:ea typeface="맑은 고딕" pitchFamily="50" charset="-127"/>
              </a:rPr>
              <a:t>, 5 </a:t>
            </a:r>
            <a:r>
              <a:rPr kumimoji="0" lang="en-US" altLang="ko-KR" sz="1400" b="1" dirty="0" err="1">
                <a:latin typeface="arial" pitchFamily="34" charset="0"/>
                <a:ea typeface="맑은 고딕" pitchFamily="50" charset="-127"/>
              </a:rPr>
              <a:t>lần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trong</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vòng</a:t>
            </a:r>
            <a:r>
              <a:rPr kumimoji="0" lang="en-US" altLang="ko-KR" sz="1400" b="1" dirty="0">
                <a:latin typeface="arial" pitchFamily="34" charset="0"/>
                <a:ea typeface="맑은 고딕" pitchFamily="50" charset="-127"/>
              </a:rPr>
              <a:t> 1 </a:t>
            </a:r>
            <a:r>
              <a:rPr kumimoji="0" lang="en-US" altLang="ko-KR" sz="1400" b="1" dirty="0" err="1">
                <a:latin typeface="arial" pitchFamily="34" charset="0"/>
                <a:ea typeface="맑은 고딕" pitchFamily="50" charset="-127"/>
              </a:rPr>
              <a:t>ngày</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và</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thu</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được</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bảng</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dữ</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liệu</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dưới</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đây</a:t>
            </a:r>
            <a:r>
              <a:rPr kumimoji="0" lang="en-US" altLang="ko-KR" sz="1400" b="1" dirty="0">
                <a:latin typeface="arial" pitchFamily="34" charset="0"/>
                <a:ea typeface="맑은 고딕" pitchFamily="50" charset="-127"/>
              </a:rPr>
              <a:t>.</a:t>
            </a:r>
          </a:p>
          <a:p>
            <a:pPr algn="just" latinLnBrk="0">
              <a:lnSpc>
                <a:spcPct val="140000"/>
              </a:lnSpc>
            </a:pPr>
            <a:r>
              <a:rPr kumimoji="0" lang="en-US" altLang="ko-KR" sz="1400" b="1" dirty="0" err="1">
                <a:latin typeface="arial" pitchFamily="34" charset="0"/>
                <a:ea typeface="맑은 고딕" pitchFamily="50" charset="-127"/>
              </a:rPr>
              <a:t>Hãy</a:t>
            </a:r>
            <a:r>
              <a:rPr kumimoji="0" lang="en-US" altLang="ko-KR" sz="1400" b="1" dirty="0">
                <a:latin typeface="arial" pitchFamily="34" charset="0"/>
                <a:ea typeface="맑은 고딕" pitchFamily="50" charset="-127"/>
              </a:rPr>
              <a:t> s</a:t>
            </a:r>
            <a:r>
              <a:rPr kumimoji="0" lang="vi-VN" altLang="ko-KR" sz="1400" b="1" dirty="0">
                <a:latin typeface="arial" pitchFamily="34" charset="0"/>
                <a:ea typeface="맑은 고딕" pitchFamily="50" charset="-127"/>
              </a:rPr>
              <a:t>ử dụng các dữ liệu trong bảng dưới</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và</a:t>
            </a:r>
            <a:r>
              <a:rPr kumimoji="0" lang="vi-VN" altLang="ko-KR" sz="1400" b="1" dirty="0">
                <a:latin typeface="arial" pitchFamily="34" charset="0"/>
                <a:ea typeface="맑은 고딕" pitchFamily="50" charset="-127"/>
              </a:rPr>
              <a:t> xác định đặc điểm</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âm</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thanh</a:t>
            </a:r>
            <a:r>
              <a:rPr kumimoji="0" lang="vi-VN" altLang="ko-KR" sz="1400" b="1" dirty="0">
                <a:latin typeface="arial" pitchFamily="34" charset="0"/>
                <a:ea typeface="맑은 고딕" pitchFamily="50" charset="-127"/>
              </a:rPr>
              <a:t> của sản phẩm được thể hiện như thế nào trong quá trình này.</a:t>
            </a:r>
            <a:endParaRPr kumimoji="0" lang="en-US" altLang="ko-KR" sz="1400" b="1" dirty="0">
              <a:latin typeface="arial" pitchFamily="34" charset="0"/>
              <a:ea typeface="맑은 고딕" pitchFamily="50" charset="-127"/>
            </a:endParaRPr>
          </a:p>
        </p:txBody>
      </p:sp>
      <p:graphicFrame>
        <p:nvGraphicFramePr>
          <p:cNvPr id="12" name="Group 288"/>
          <p:cNvGraphicFramePr>
            <a:graphicFrameLocks noGrp="1"/>
          </p:cNvGraphicFramePr>
          <p:nvPr>
            <p:extLst>
              <p:ext uri="{D42A27DB-BD31-4B8C-83A1-F6EECF244321}">
                <p14:modId xmlns:p14="http://schemas.microsoft.com/office/powerpoint/2010/main" val="2049634017"/>
              </p:ext>
            </p:extLst>
          </p:nvPr>
        </p:nvGraphicFramePr>
        <p:xfrm>
          <a:off x="1100931" y="2924944"/>
          <a:ext cx="7704138" cy="2303463"/>
        </p:xfrm>
        <a:graphic>
          <a:graphicData uri="http://schemas.openxmlformats.org/drawingml/2006/table">
            <a:tbl>
              <a:tblPr/>
              <a:tblGrid>
                <a:gridCol w="542925">
                  <a:extLst>
                    <a:ext uri="{9D8B030D-6E8A-4147-A177-3AD203B41FA5}">
                      <a16:colId xmlns:a16="http://schemas.microsoft.com/office/drawing/2014/main" val="20000"/>
                    </a:ext>
                  </a:extLst>
                </a:gridCol>
                <a:gridCol w="541338">
                  <a:extLst>
                    <a:ext uri="{9D8B030D-6E8A-4147-A177-3AD203B41FA5}">
                      <a16:colId xmlns:a16="http://schemas.microsoft.com/office/drawing/2014/main" val="20001"/>
                    </a:ext>
                  </a:extLst>
                </a:gridCol>
                <a:gridCol w="542925">
                  <a:extLst>
                    <a:ext uri="{9D8B030D-6E8A-4147-A177-3AD203B41FA5}">
                      <a16:colId xmlns:a16="http://schemas.microsoft.com/office/drawing/2014/main" val="20002"/>
                    </a:ext>
                  </a:extLst>
                </a:gridCol>
                <a:gridCol w="542925">
                  <a:extLst>
                    <a:ext uri="{9D8B030D-6E8A-4147-A177-3AD203B41FA5}">
                      <a16:colId xmlns:a16="http://schemas.microsoft.com/office/drawing/2014/main" val="20003"/>
                    </a:ext>
                  </a:extLst>
                </a:gridCol>
                <a:gridCol w="541337">
                  <a:extLst>
                    <a:ext uri="{9D8B030D-6E8A-4147-A177-3AD203B41FA5}">
                      <a16:colId xmlns:a16="http://schemas.microsoft.com/office/drawing/2014/main" val="20004"/>
                    </a:ext>
                  </a:extLst>
                </a:gridCol>
                <a:gridCol w="542925">
                  <a:extLst>
                    <a:ext uri="{9D8B030D-6E8A-4147-A177-3AD203B41FA5}">
                      <a16:colId xmlns:a16="http://schemas.microsoft.com/office/drawing/2014/main" val="20005"/>
                    </a:ext>
                  </a:extLst>
                </a:gridCol>
                <a:gridCol w="542925">
                  <a:extLst>
                    <a:ext uri="{9D8B030D-6E8A-4147-A177-3AD203B41FA5}">
                      <a16:colId xmlns:a16="http://schemas.microsoft.com/office/drawing/2014/main" val="20006"/>
                    </a:ext>
                  </a:extLst>
                </a:gridCol>
                <a:gridCol w="541338">
                  <a:extLst>
                    <a:ext uri="{9D8B030D-6E8A-4147-A177-3AD203B41FA5}">
                      <a16:colId xmlns:a16="http://schemas.microsoft.com/office/drawing/2014/main" val="20007"/>
                    </a:ext>
                  </a:extLst>
                </a:gridCol>
                <a:gridCol w="542925">
                  <a:extLst>
                    <a:ext uri="{9D8B030D-6E8A-4147-A177-3AD203B41FA5}">
                      <a16:colId xmlns:a16="http://schemas.microsoft.com/office/drawing/2014/main" val="20008"/>
                    </a:ext>
                  </a:extLst>
                </a:gridCol>
                <a:gridCol w="542925">
                  <a:extLst>
                    <a:ext uri="{9D8B030D-6E8A-4147-A177-3AD203B41FA5}">
                      <a16:colId xmlns:a16="http://schemas.microsoft.com/office/drawing/2014/main" val="20009"/>
                    </a:ext>
                  </a:extLst>
                </a:gridCol>
                <a:gridCol w="541337">
                  <a:extLst>
                    <a:ext uri="{9D8B030D-6E8A-4147-A177-3AD203B41FA5}">
                      <a16:colId xmlns:a16="http://schemas.microsoft.com/office/drawing/2014/main" val="20010"/>
                    </a:ext>
                  </a:extLst>
                </a:gridCol>
                <a:gridCol w="654050">
                  <a:extLst>
                    <a:ext uri="{9D8B030D-6E8A-4147-A177-3AD203B41FA5}">
                      <a16:colId xmlns:a16="http://schemas.microsoft.com/office/drawing/2014/main" val="20011"/>
                    </a:ext>
                  </a:extLst>
                </a:gridCol>
                <a:gridCol w="542925">
                  <a:extLst>
                    <a:ext uri="{9D8B030D-6E8A-4147-A177-3AD203B41FA5}">
                      <a16:colId xmlns:a16="http://schemas.microsoft.com/office/drawing/2014/main" val="20012"/>
                    </a:ext>
                  </a:extLst>
                </a:gridCol>
                <a:gridCol w="541338">
                  <a:extLst>
                    <a:ext uri="{9D8B030D-6E8A-4147-A177-3AD203B41FA5}">
                      <a16:colId xmlns:a16="http://schemas.microsoft.com/office/drawing/2014/main" val="20013"/>
                    </a:ext>
                  </a:extLst>
                </a:gridCol>
              </a:tblGrid>
              <a:tr h="384175">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1.A</a:t>
                      </a:r>
                    </a:p>
                  </a:txBody>
                  <a:tcPr marL="9525" marR="9525" marT="9525" marB="0" anchor="ctr" horzOverflow="overflow">
                    <a:lnL cap="flat">
                      <a:noFill/>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1.M</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2.A</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2.M</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3.A</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3.M</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4.A</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4.M</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5.A</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5.M</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6.A</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6.M</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7.A</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bg1"/>
                          </a:solidFill>
                          <a:effectLst/>
                          <a:latin typeface="Arial" pitchFamily="34" charset="0"/>
                          <a:ea typeface="맑은 고딕" pitchFamily="50" charset="-127"/>
                        </a:rPr>
                        <a:t>7.M</a:t>
                      </a:r>
                    </a:p>
                  </a:txBody>
                  <a:tcPr marL="9525" marR="9525" marT="9525" marB="0" anchor="ctr" horzOverflow="overflow">
                    <a:lnL w="6350" cap="flat" cmpd="sng" algn="ctr">
                      <a:solidFill>
                        <a:srgbClr val="808080"/>
                      </a:solidFill>
                      <a:prstDash val="solid"/>
                      <a:round/>
                      <a:headEnd type="none" w="med" len="med"/>
                      <a:tailEnd type="none" w="med" len="med"/>
                    </a:lnL>
                    <a:lnR cap="flat">
                      <a:noFill/>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solidFill>
                      <a:srgbClr val="009999"/>
                    </a:solidFill>
                  </a:tcPr>
                </a:tc>
                <a:extLst>
                  <a:ext uri="{0D108BD9-81ED-4DB2-BD59-A6C34878D82A}">
                    <a16:rowId xmlns:a16="http://schemas.microsoft.com/office/drawing/2014/main" val="10000"/>
                  </a:ext>
                </a:extLst>
              </a:tr>
              <a:tr h="384175">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84.7</a:t>
                      </a:r>
                    </a:p>
                  </a:txBody>
                  <a:tcPr marL="9525" marR="9525" marT="9525" marB="0" anchor="ctr" horzOverflow="overflow">
                    <a:lnL cap="flat">
                      <a:noFill/>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83.6</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93.7</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95.9</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91.9</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87.2</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95.8</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93.1</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88.1</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90.8</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91.9</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93.7</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87.8</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88.2</a:t>
                      </a:r>
                    </a:p>
                  </a:txBody>
                  <a:tcPr marL="9525" marR="9525" marT="9525" marB="0" anchor="ctr" horzOverflow="overflow">
                    <a:lnL w="6350" cap="flat" cmpd="sng" algn="ctr">
                      <a:solidFill>
                        <a:srgbClr val="808080"/>
                      </a:solidFill>
                      <a:prstDash val="solid"/>
                      <a:round/>
                      <a:headEnd type="none" w="med" len="med"/>
                      <a:tailEnd type="none" w="med" len="med"/>
                    </a:lnL>
                    <a:lnR cap="flat">
                      <a:noFill/>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84175">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86.2</a:t>
                      </a:r>
                    </a:p>
                  </a:txBody>
                  <a:tcPr marL="9525" marR="9525" marT="9525" marB="0" anchor="ctr" horzOverflow="overflow">
                    <a:lnL cap="flat">
                      <a:noFill/>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94.5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97.4</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86.6</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87.0</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88.5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90.3</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88.1</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95.6</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95.5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93.9</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102.1</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93.7</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92.3</a:t>
                      </a:r>
                    </a:p>
                  </a:txBody>
                  <a:tcPr marL="9525" marR="9525" marT="9525" marB="0" anchor="ctr" horzOverflow="overflow">
                    <a:lnL w="6350" cap="flat" cmpd="sng" algn="ctr">
                      <a:solidFill>
                        <a:srgbClr val="808080"/>
                      </a:solidFill>
                      <a:prstDash val="solid"/>
                      <a:round/>
                      <a:headEnd type="none" w="med" len="med"/>
                      <a:tailEnd type="none" w="med" len="med"/>
                    </a:lnL>
                    <a:lnR cap="flat">
                      <a:noFill/>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82588">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83.3</a:t>
                      </a:r>
                    </a:p>
                  </a:txBody>
                  <a:tcPr marL="9525" marR="9525" marT="9525" marB="0" anchor="ctr" horzOverflow="overflow">
                    <a:lnL cap="flat">
                      <a:noFill/>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88.8</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83.2</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89.7</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99.5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89.5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93.5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89.3</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80.5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94.6</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88.8</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96.3</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87.5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91.8</a:t>
                      </a:r>
                    </a:p>
                  </a:txBody>
                  <a:tcPr marL="9525" marR="9525" marT="9525" marB="0" anchor="ctr" horzOverflow="overflow">
                    <a:lnL w="6350" cap="flat" cmpd="sng" algn="ctr">
                      <a:solidFill>
                        <a:srgbClr val="808080"/>
                      </a:solidFill>
                      <a:prstDash val="solid"/>
                      <a:round/>
                      <a:headEnd type="none" w="med" len="med"/>
                      <a:tailEnd type="none" w="med" len="med"/>
                    </a:lnL>
                    <a:lnR cap="flat">
                      <a:noFill/>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84175">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91.4</a:t>
                      </a:r>
                    </a:p>
                  </a:txBody>
                  <a:tcPr marL="9525" marR="9525" marT="9525" marB="0" anchor="ctr" horzOverflow="overflow">
                    <a:lnL cap="flat">
                      <a:noFill/>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96.6</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97.5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88.0</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82.6</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79.9</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93.2</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90.4</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91.0</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89.1</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79.5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97.4</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93.9</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88.7</a:t>
                      </a:r>
                    </a:p>
                  </a:txBody>
                  <a:tcPr marL="9525" marR="9525" marT="9525" marB="0" anchor="ctr" horzOverflow="overflow">
                    <a:lnL w="6350" cap="flat" cmpd="sng" algn="ctr">
                      <a:solidFill>
                        <a:srgbClr val="808080"/>
                      </a:solidFill>
                      <a:prstDash val="solid"/>
                      <a:round/>
                      <a:headEnd type="none" w="med" len="med"/>
                      <a:tailEnd type="none" w="med" len="med"/>
                    </a:lnL>
                    <a:lnR cap="flat">
                      <a:noFill/>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84175">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86.3</a:t>
                      </a:r>
                    </a:p>
                  </a:txBody>
                  <a:tcPr marL="9525" marR="9525" marT="9525" marB="0" anchor="ctr" horzOverflow="overflow">
                    <a:lnL cap="flat">
                      <a:noFill/>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82.5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86.0</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89.1</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94.5</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86.4</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90.3</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96.9</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94.0</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89.2</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90.0</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99.2</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77.2</a:t>
                      </a:r>
                    </a:p>
                  </a:txBody>
                  <a:tcPr marL="9525" marR="9525" marT="9525" marB="0" anchor="ctr" horzOverflow="overflow">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맑은 고딕"/>
                        </a:defRPr>
                      </a:lvl1pPr>
                      <a:lvl2pPr marL="457200" algn="l" defTabSz="914400" rtl="0" eaLnBrk="1" latinLnBrk="1" hangingPunct="1">
                        <a:defRPr sz="1800" kern="1200">
                          <a:solidFill>
                            <a:schemeClr val="tx1"/>
                          </a:solidFill>
                          <a:latin typeface="맑은 고딕"/>
                          <a:ea typeface="맑은 고딕"/>
                        </a:defRPr>
                      </a:lvl2pPr>
                      <a:lvl3pPr marL="914400" algn="l" defTabSz="914400" rtl="0" eaLnBrk="1" latinLnBrk="1" hangingPunct="1">
                        <a:defRPr sz="1800" kern="1200">
                          <a:solidFill>
                            <a:schemeClr val="tx1"/>
                          </a:solidFill>
                          <a:latin typeface="맑은 고딕"/>
                          <a:ea typeface="맑은 고딕"/>
                        </a:defRPr>
                      </a:lvl3pPr>
                      <a:lvl4pPr marL="1371600" algn="l" defTabSz="914400" rtl="0" eaLnBrk="1" latinLnBrk="1" hangingPunct="1">
                        <a:defRPr sz="1800" kern="1200">
                          <a:solidFill>
                            <a:schemeClr val="tx1"/>
                          </a:solidFill>
                          <a:latin typeface="맑은 고딕"/>
                          <a:ea typeface="맑은 고딕"/>
                        </a:defRPr>
                      </a:lvl4pPr>
                      <a:lvl5pPr marL="1828800" algn="l" defTabSz="914400" rtl="0" eaLnBrk="1" latinLnBrk="1" hangingPunct="1">
                        <a:defRPr sz="1800" kern="1200">
                          <a:solidFill>
                            <a:schemeClr val="tx1"/>
                          </a:solidFill>
                          <a:latin typeface="맑은 고딕"/>
                          <a:ea typeface="맑은 고딕"/>
                        </a:defRPr>
                      </a:lvl5pPr>
                      <a:lvl6pPr marL="2286000" algn="l" defTabSz="914400" rtl="0" eaLnBrk="1" latinLnBrk="1" hangingPunct="1">
                        <a:defRPr sz="1800" kern="1200">
                          <a:solidFill>
                            <a:schemeClr val="tx1"/>
                          </a:solidFill>
                          <a:latin typeface="맑은 고딕"/>
                          <a:ea typeface="맑은 고딕"/>
                        </a:defRPr>
                      </a:lvl6pPr>
                      <a:lvl7pPr marL="2743200" algn="l" defTabSz="914400" rtl="0" eaLnBrk="1" latinLnBrk="1" hangingPunct="1">
                        <a:defRPr sz="1800" kern="1200">
                          <a:solidFill>
                            <a:schemeClr val="tx1"/>
                          </a:solidFill>
                          <a:latin typeface="맑은 고딕"/>
                          <a:ea typeface="맑은 고딕"/>
                        </a:defRPr>
                      </a:lvl7pPr>
                      <a:lvl8pPr marL="3200400" algn="l" defTabSz="914400" rtl="0" eaLnBrk="1" latinLnBrk="1" hangingPunct="1">
                        <a:defRPr sz="1800" kern="1200">
                          <a:solidFill>
                            <a:schemeClr val="tx1"/>
                          </a:solidFill>
                          <a:latin typeface="맑은 고딕"/>
                          <a:ea typeface="맑은 고딕"/>
                        </a:defRPr>
                      </a:lvl8pPr>
                      <a:lvl9pPr marL="3657600" algn="l" defTabSz="914400" rtl="0" eaLnBrk="1" latinLnBrk="1" hangingPunct="1">
                        <a:defRPr sz="1800" kern="1200">
                          <a:solidFill>
                            <a:schemeClr val="tx1"/>
                          </a:solidFill>
                          <a:latin typeface="맑은 고딕"/>
                          <a:ea typeface="맑은 고딕"/>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00"/>
                          </a:solidFill>
                          <a:effectLst/>
                          <a:latin typeface="Arial" pitchFamily="34" charset="0"/>
                          <a:ea typeface="맑은 고딕" pitchFamily="50" charset="-127"/>
                        </a:rPr>
                        <a:t>85.6</a:t>
                      </a:r>
                    </a:p>
                  </a:txBody>
                  <a:tcPr marL="9525" marR="9525" marT="9525" marB="0" anchor="ctr" horzOverflow="overflow">
                    <a:lnL w="6350" cap="flat" cmpd="sng" algn="ctr">
                      <a:solidFill>
                        <a:srgbClr val="808080"/>
                      </a:solidFill>
                      <a:prstDash val="solid"/>
                      <a:round/>
                      <a:headEnd type="none" w="med" len="med"/>
                      <a:tailEnd type="none" w="med" len="med"/>
                    </a:lnL>
                    <a:lnR cap="flat">
                      <a:noFill/>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34926" name="TextBox 7"/>
          <p:cNvSpPr txBox="1">
            <a:spLocks noChangeArrowheads="1"/>
          </p:cNvSpPr>
          <p:nvPr/>
        </p:nvSpPr>
        <p:spPr bwMode="auto">
          <a:xfrm>
            <a:off x="7210494" y="2421755"/>
            <a:ext cx="1800493" cy="307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solidFill>
                  <a:srgbClr val="FF0000"/>
                </a:solidFill>
                <a:latin typeface="arial" pitchFamily="34" charset="0"/>
                <a:ea typeface="맑은 고딕" pitchFamily="50" charset="-127"/>
              </a:rPr>
              <a:t>Excel) Control Chart</a:t>
            </a:r>
            <a:r>
              <a:rPr lang="ko-KR" altLang="en-US" sz="1200" b="1" dirty="0">
                <a:solidFill>
                  <a:srgbClr val="FF0000"/>
                </a:solidFill>
                <a:latin typeface="arial" pitchFamily="34" charset="0"/>
                <a:ea typeface="맑은 고딕" pitchFamily="50" charset="-127"/>
              </a:rPr>
              <a:t> </a:t>
            </a:r>
            <a:r>
              <a:rPr lang="en-US" altLang="ko-KR" sz="1200" b="1" dirty="0">
                <a:solidFill>
                  <a:srgbClr val="FF0000"/>
                </a:solidFill>
                <a:latin typeface="arial" pitchFamily="34" charset="0"/>
                <a:ea typeface="맑은 고딕" pitchFamily="50" charset="-127"/>
              </a:rPr>
              <a:t>4</a:t>
            </a:r>
            <a:endParaRPr lang="ko-KR" altLang="en-US" sz="1200" b="1" dirty="0">
              <a:solidFill>
                <a:srgbClr val="FF0000"/>
              </a:solidFill>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273</a:t>
            </a:fld>
            <a:endParaRPr lang="ko-KR" altLang="en-US" dirty="0"/>
          </a:p>
        </p:txBody>
      </p:sp>
    </p:spTree>
    <p:extLst>
      <p:ext uri="{BB962C8B-B14F-4D97-AF65-F5344CB8AC3E}">
        <p14:creationId xmlns:p14="http://schemas.microsoft.com/office/powerpoint/2010/main" val="3986829573"/>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4"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00025" y="1268413"/>
            <a:ext cx="9372600" cy="475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5" name="TextBox 1"/>
          <p:cNvSpPr txBox="1">
            <a:spLocks noChangeArrowheads="1"/>
          </p:cNvSpPr>
          <p:nvPr/>
        </p:nvSpPr>
        <p:spPr bwMode="auto">
          <a:xfrm>
            <a:off x="200025" y="908050"/>
            <a:ext cx="6408999"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a:latin typeface="arial" pitchFamily="34" charset="0"/>
                <a:ea typeface="맑은 고딕" pitchFamily="50" charset="-127"/>
              </a:rPr>
              <a:t>Stat &gt; Control Charts  &gt; Variable Charts for Subgroups</a:t>
            </a:r>
            <a:r>
              <a:rPr lang="ko-KR" altLang="en-US" sz="1600" b="1" dirty="0">
                <a:latin typeface="arial" pitchFamily="34" charset="0"/>
                <a:ea typeface="맑은 고딕" pitchFamily="50" charset="-127"/>
              </a:rPr>
              <a:t> </a:t>
            </a:r>
            <a:r>
              <a:rPr lang="en-US" altLang="ko-KR" sz="1600" b="1" dirty="0">
                <a:latin typeface="arial" pitchFamily="34" charset="0"/>
                <a:ea typeface="맑은 고딕" pitchFamily="50" charset="-127"/>
              </a:rPr>
              <a:t>&gt; </a:t>
            </a:r>
            <a:r>
              <a:rPr lang="en-US" altLang="ko-KR" sz="1600" b="1" dirty="0" err="1">
                <a:latin typeface="arial" pitchFamily="34" charset="0"/>
                <a:ea typeface="맑은 고딕" pitchFamily="50" charset="-127"/>
              </a:rPr>
              <a:t>Xbar</a:t>
            </a:r>
            <a:r>
              <a:rPr lang="en-US" altLang="ko-KR" sz="1600" b="1" dirty="0">
                <a:latin typeface="arial" pitchFamily="34" charset="0"/>
                <a:ea typeface="맑은 고딕" pitchFamily="50" charset="-127"/>
              </a:rPr>
              <a:t>-R</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274</a:t>
            </a:fld>
            <a:endParaRPr lang="ko-KR" altLang="en-US" dirty="0"/>
          </a:p>
        </p:txBody>
      </p:sp>
      <p:sp>
        <p:nvSpPr>
          <p:cNvPr id="6"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7.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Thực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hành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Xbar</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-R Control Chart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444290264"/>
      </p:ext>
    </p:extLst>
  </p:cSld>
  <p:clrMapOvr>
    <a:masterClrMapping/>
  </p:clrMapOvr>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8"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431800" y="1881188"/>
            <a:ext cx="4953000" cy="327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69" name="Picture 3"/>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5705475" y="3786188"/>
            <a:ext cx="3441700" cy="292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직사각형 1"/>
          <p:cNvSpPr/>
          <p:nvPr/>
        </p:nvSpPr>
        <p:spPr>
          <a:xfrm>
            <a:off x="4232275" y="4005263"/>
            <a:ext cx="1008063" cy="287337"/>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pic>
        <p:nvPicPr>
          <p:cNvPr id="36871" name="Picture 4"/>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5692775" y="765175"/>
            <a:ext cx="3459163" cy="302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직사각형 9"/>
          <p:cNvSpPr/>
          <p:nvPr/>
        </p:nvSpPr>
        <p:spPr>
          <a:xfrm>
            <a:off x="7019925" y="4005263"/>
            <a:ext cx="406400" cy="2159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1" name="직사각형 10"/>
          <p:cNvSpPr/>
          <p:nvPr/>
        </p:nvSpPr>
        <p:spPr>
          <a:xfrm>
            <a:off x="5740400" y="1041400"/>
            <a:ext cx="406400" cy="2159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12" name="직사각형 11"/>
          <p:cNvSpPr/>
          <p:nvPr/>
        </p:nvSpPr>
        <p:spPr>
          <a:xfrm>
            <a:off x="1989138" y="3683000"/>
            <a:ext cx="1008062" cy="2873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cxnSp>
        <p:nvCxnSpPr>
          <p:cNvPr id="4" name="꺾인 연결선 3"/>
          <p:cNvCxnSpPr>
            <a:stCxn id="12" idx="3"/>
          </p:cNvCxnSpPr>
          <p:nvPr/>
        </p:nvCxnSpPr>
        <p:spPr>
          <a:xfrm flipV="1">
            <a:off x="2997200" y="2487613"/>
            <a:ext cx="2695575" cy="1339850"/>
          </a:xfrm>
          <a:prstGeom prst="bentConnector3">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7" name="타원 6"/>
          <p:cNvSpPr/>
          <p:nvPr/>
        </p:nvSpPr>
        <p:spPr>
          <a:xfrm>
            <a:off x="1952625" y="3381375"/>
            <a:ext cx="263525" cy="263525"/>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b="1" dirty="0">
                <a:latin typeface="arial" pitchFamily="34" charset="0"/>
              </a:rPr>
              <a:t>1</a:t>
            </a:r>
            <a:endParaRPr lang="ko-KR" altLang="en-US" sz="1200" b="1" dirty="0">
              <a:latin typeface="arial" pitchFamily="34" charset="0"/>
            </a:endParaRPr>
          </a:p>
        </p:txBody>
      </p:sp>
      <p:sp>
        <p:nvSpPr>
          <p:cNvPr id="18" name="타원 17"/>
          <p:cNvSpPr/>
          <p:nvPr/>
        </p:nvSpPr>
        <p:spPr>
          <a:xfrm>
            <a:off x="4592638" y="4318000"/>
            <a:ext cx="263525" cy="263525"/>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b="1" dirty="0">
                <a:latin typeface="arial" pitchFamily="34" charset="0"/>
              </a:rPr>
              <a:t>2</a:t>
            </a:r>
            <a:endParaRPr lang="ko-KR" altLang="en-US" sz="1200" b="1" dirty="0">
              <a:latin typeface="arial" pitchFamily="34" charset="0"/>
            </a:endParaRPr>
          </a:p>
        </p:txBody>
      </p:sp>
      <p:cxnSp>
        <p:nvCxnSpPr>
          <p:cNvPr id="19" name="꺾인 연결선 18"/>
          <p:cNvCxnSpPr/>
          <p:nvPr/>
        </p:nvCxnSpPr>
        <p:spPr>
          <a:xfrm rot="16200000" flipH="1">
            <a:off x="4833937" y="4376738"/>
            <a:ext cx="930275" cy="812800"/>
          </a:xfrm>
          <a:prstGeom prst="bentConnector2">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3" name="슬라이드 번호 개체 틀 2"/>
          <p:cNvSpPr>
            <a:spLocks noGrp="1"/>
          </p:cNvSpPr>
          <p:nvPr>
            <p:ph type="sldNum" sz="quarter" idx="10"/>
          </p:nvPr>
        </p:nvSpPr>
        <p:spPr/>
        <p:txBody>
          <a:bodyPr/>
          <a:lstStyle/>
          <a:p>
            <a:pPr>
              <a:defRPr/>
            </a:pPr>
            <a:fld id="{336E293E-7793-468B-AB4C-49C46432963A}" type="slidenum">
              <a:rPr lang="ko-KR" altLang="en-US" smtClean="0"/>
              <a:pPr>
                <a:defRPr/>
              </a:pPr>
              <a:t>275</a:t>
            </a:fld>
            <a:endParaRPr lang="ko-KR" altLang="en-US" dirty="0"/>
          </a:p>
        </p:txBody>
      </p:sp>
      <p:sp>
        <p:nvSpPr>
          <p:cNvPr id="15"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7.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Thực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hành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Xbar</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-R Control Chart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3487132235"/>
      </p:ext>
    </p:extLst>
  </p:cSld>
  <p:clrMapOvr>
    <a:masterClrMapping/>
  </p:clrMapOvr>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2" name="Picture 9"/>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571625" y="1412875"/>
            <a:ext cx="6765925" cy="451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AutoShape 21"/>
          <p:cNvSpPr>
            <a:spLocks noChangeArrowheads="1"/>
          </p:cNvSpPr>
          <p:nvPr/>
        </p:nvSpPr>
        <p:spPr bwMode="auto">
          <a:xfrm>
            <a:off x="273050" y="3670326"/>
            <a:ext cx="1693863" cy="432048"/>
          </a:xfrm>
          <a:prstGeom prst="roundRect">
            <a:avLst>
              <a:gd name="adj" fmla="val 50000"/>
            </a:avLst>
          </a:prstGeom>
          <a:solidFill>
            <a:srgbClr val="808080">
              <a:alpha val="59999"/>
            </a:srgbClr>
          </a:solidFill>
          <a:ln>
            <a:noFill/>
          </a:ln>
        </p:spPr>
        <p:txBody>
          <a:bodyPr wrap="none" anchor="ctr"/>
          <a:lstStyle>
            <a:lvl1pPr eaLnBrk="0" hangingPunct="0">
              <a:defRPr kumimoji="1" sz="2000">
                <a:solidFill>
                  <a:schemeClr val="tx1"/>
                </a:solidFill>
                <a:latin typeface="맑은 고딕" pitchFamily="50" charset="-127"/>
                <a:ea typeface="맑은 고딕" pitchFamily="50" charset="-127"/>
              </a:defRPr>
            </a:lvl1pPr>
            <a:lvl2pPr marL="742950" indent="-285750" eaLnBrk="0" hangingPunct="0">
              <a:defRPr kumimoji="1" sz="2000">
                <a:solidFill>
                  <a:schemeClr val="tx1"/>
                </a:solidFill>
                <a:latin typeface="맑은 고딕" pitchFamily="50" charset="-127"/>
                <a:ea typeface="맑은 고딕" pitchFamily="50" charset="-127"/>
              </a:defRPr>
            </a:lvl2pPr>
            <a:lvl3pPr marL="1143000" indent="-228600" eaLnBrk="0" hangingPunct="0">
              <a:defRPr kumimoji="1" sz="2000">
                <a:solidFill>
                  <a:schemeClr val="tx1"/>
                </a:solidFill>
                <a:latin typeface="맑은 고딕" pitchFamily="50" charset="-127"/>
                <a:ea typeface="맑은 고딕" pitchFamily="50" charset="-127"/>
              </a:defRPr>
            </a:lvl3pPr>
            <a:lvl4pPr marL="1600200" indent="-228600" eaLnBrk="0" hangingPunct="0">
              <a:defRPr kumimoji="1" sz="2000">
                <a:solidFill>
                  <a:schemeClr val="tx1"/>
                </a:solidFill>
                <a:latin typeface="맑은 고딕" pitchFamily="50" charset="-127"/>
                <a:ea typeface="맑은 고딕" pitchFamily="50" charset="-127"/>
              </a:defRPr>
            </a:lvl4pPr>
            <a:lvl5pPr marL="2057400" indent="-228600" eaLnBrk="0" hangingPunct="0">
              <a:defRPr kumimoji="1" sz="2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2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2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2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2000">
                <a:solidFill>
                  <a:schemeClr val="tx1"/>
                </a:solidFill>
                <a:latin typeface="맑은 고딕" pitchFamily="50" charset="-127"/>
                <a:ea typeface="맑은 고딕" pitchFamily="50" charset="-127"/>
              </a:defRPr>
            </a:lvl9pPr>
          </a:lstStyle>
          <a:p>
            <a:pPr algn="ctr" eaLnBrk="1" fontAlgn="auto" latinLnBrk="0" hangingPunct="1">
              <a:spcBef>
                <a:spcPts val="0"/>
              </a:spcBef>
              <a:spcAft>
                <a:spcPts val="0"/>
              </a:spcAft>
              <a:defRPr/>
            </a:pPr>
            <a:r>
              <a:rPr kumimoji="0" lang="en-US" altLang="en-US" sz="1200" b="1" kern="0" dirty="0">
                <a:solidFill>
                  <a:srgbClr val="000000"/>
                </a:solidFill>
                <a:latin typeface="arial" pitchFamily="34" charset="0"/>
              </a:rPr>
              <a:t>Range</a:t>
            </a:r>
          </a:p>
          <a:p>
            <a:pPr algn="ctr" eaLnBrk="1" fontAlgn="auto" latinLnBrk="0" hangingPunct="1">
              <a:spcBef>
                <a:spcPts val="0"/>
              </a:spcBef>
              <a:spcAft>
                <a:spcPts val="0"/>
              </a:spcAft>
              <a:defRPr/>
            </a:pPr>
            <a:r>
              <a:rPr kumimoji="0" lang="en-US" altLang="en-US" sz="1200" b="1" kern="0" dirty="0">
                <a:solidFill>
                  <a:srgbClr val="000000"/>
                </a:solidFill>
                <a:latin typeface="arial" pitchFamily="34" charset="0"/>
              </a:rPr>
              <a:t>Control Chart</a:t>
            </a:r>
          </a:p>
        </p:txBody>
      </p:sp>
      <p:sp>
        <p:nvSpPr>
          <p:cNvPr id="28" name="AutoShape 19"/>
          <p:cNvSpPr>
            <a:spLocks noChangeArrowheads="1"/>
          </p:cNvSpPr>
          <p:nvPr/>
        </p:nvSpPr>
        <p:spPr bwMode="auto">
          <a:xfrm>
            <a:off x="273050" y="1628801"/>
            <a:ext cx="1693863" cy="432048"/>
          </a:xfrm>
          <a:prstGeom prst="roundRect">
            <a:avLst>
              <a:gd name="adj" fmla="val 50000"/>
            </a:avLst>
          </a:prstGeom>
          <a:solidFill>
            <a:srgbClr val="808080">
              <a:alpha val="59999"/>
            </a:srgbClr>
          </a:solidFill>
          <a:ln>
            <a:noFill/>
          </a:ln>
        </p:spPr>
        <p:txBody>
          <a:bodyPr wrap="none" anchor="ctr"/>
          <a:lstStyle>
            <a:lvl1pPr eaLnBrk="0" hangingPunct="0">
              <a:defRPr kumimoji="1" sz="2000">
                <a:solidFill>
                  <a:schemeClr val="tx1"/>
                </a:solidFill>
                <a:latin typeface="맑은 고딕" pitchFamily="50" charset="-127"/>
                <a:ea typeface="맑은 고딕" pitchFamily="50" charset="-127"/>
              </a:defRPr>
            </a:lvl1pPr>
            <a:lvl2pPr marL="742950" indent="-285750" eaLnBrk="0" hangingPunct="0">
              <a:defRPr kumimoji="1" sz="2000">
                <a:solidFill>
                  <a:schemeClr val="tx1"/>
                </a:solidFill>
                <a:latin typeface="맑은 고딕" pitchFamily="50" charset="-127"/>
                <a:ea typeface="맑은 고딕" pitchFamily="50" charset="-127"/>
              </a:defRPr>
            </a:lvl2pPr>
            <a:lvl3pPr marL="1143000" indent="-228600" eaLnBrk="0" hangingPunct="0">
              <a:defRPr kumimoji="1" sz="2000">
                <a:solidFill>
                  <a:schemeClr val="tx1"/>
                </a:solidFill>
                <a:latin typeface="맑은 고딕" pitchFamily="50" charset="-127"/>
                <a:ea typeface="맑은 고딕" pitchFamily="50" charset="-127"/>
              </a:defRPr>
            </a:lvl3pPr>
            <a:lvl4pPr marL="1600200" indent="-228600" eaLnBrk="0" hangingPunct="0">
              <a:defRPr kumimoji="1" sz="2000">
                <a:solidFill>
                  <a:schemeClr val="tx1"/>
                </a:solidFill>
                <a:latin typeface="맑은 고딕" pitchFamily="50" charset="-127"/>
                <a:ea typeface="맑은 고딕" pitchFamily="50" charset="-127"/>
              </a:defRPr>
            </a:lvl4pPr>
            <a:lvl5pPr marL="2057400" indent="-228600" eaLnBrk="0" hangingPunct="0">
              <a:defRPr kumimoji="1" sz="2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2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2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2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2000">
                <a:solidFill>
                  <a:schemeClr val="tx1"/>
                </a:solidFill>
                <a:latin typeface="맑은 고딕" pitchFamily="50" charset="-127"/>
                <a:ea typeface="맑은 고딕" pitchFamily="50" charset="-127"/>
              </a:defRPr>
            </a:lvl9pPr>
          </a:lstStyle>
          <a:p>
            <a:pPr algn="ctr" eaLnBrk="1" fontAlgn="auto" latinLnBrk="0" hangingPunct="1">
              <a:spcBef>
                <a:spcPts val="0"/>
              </a:spcBef>
              <a:spcAft>
                <a:spcPts val="0"/>
              </a:spcAft>
              <a:defRPr/>
            </a:pPr>
            <a:r>
              <a:rPr kumimoji="0" lang="en-US" altLang="ko-KR" sz="1200" b="1" kern="0" dirty="0">
                <a:solidFill>
                  <a:srgbClr val="000000"/>
                </a:solidFill>
                <a:latin typeface="arial" pitchFamily="34" charset="0"/>
              </a:rPr>
              <a:t>X Bar</a:t>
            </a:r>
          </a:p>
          <a:p>
            <a:pPr algn="ctr" eaLnBrk="1" fontAlgn="auto" latinLnBrk="0" hangingPunct="1">
              <a:spcBef>
                <a:spcPts val="0"/>
              </a:spcBef>
              <a:spcAft>
                <a:spcPts val="0"/>
              </a:spcAft>
              <a:defRPr/>
            </a:pPr>
            <a:r>
              <a:rPr kumimoji="0" lang="en-US" altLang="ko-KR" sz="1200" b="1" kern="0" dirty="0">
                <a:solidFill>
                  <a:srgbClr val="000000"/>
                </a:solidFill>
                <a:latin typeface="arial" pitchFamily="34" charset="0"/>
              </a:rPr>
              <a:t>Control Chart</a:t>
            </a:r>
            <a:endParaRPr kumimoji="0" lang="ko-KR" altLang="en-US" sz="1200" b="1" kern="0" dirty="0">
              <a:solidFill>
                <a:srgbClr val="000000"/>
              </a:solidFill>
              <a:latin typeface="arial" pitchFamily="34" charset="0"/>
            </a:endParaRPr>
          </a:p>
        </p:txBody>
      </p:sp>
      <p:sp>
        <p:nvSpPr>
          <p:cNvPr id="3" name="직사각형 2"/>
          <p:cNvSpPr/>
          <p:nvPr/>
        </p:nvSpPr>
        <p:spPr>
          <a:xfrm>
            <a:off x="7661398" y="2492375"/>
            <a:ext cx="2116138" cy="276225"/>
          </a:xfrm>
          <a:prstGeom prst="rect">
            <a:avLst/>
          </a:prstGeom>
        </p:spPr>
        <p:txBody>
          <a:bodyPr>
            <a:spAutoFit/>
          </a:bodyPr>
          <a:lstStyle/>
          <a:p>
            <a:pPr algn="ctr" defTabSz="585788" fontAlgn="auto" latinLnBrk="0">
              <a:spcBef>
                <a:spcPts val="0"/>
              </a:spcBef>
              <a:spcAft>
                <a:spcPts val="0"/>
              </a:spcAft>
              <a:defRPr/>
            </a:pPr>
            <a:r>
              <a:rPr kumimoji="0" lang="en-US" altLang="en-US" sz="1200" kern="0" dirty="0">
                <a:solidFill>
                  <a:srgbClr val="000000"/>
                </a:solidFill>
                <a:latin typeface="arial" pitchFamily="34" charset="0"/>
                <a:ea typeface="맑은 고딕" panose="020B0503020000020004" pitchFamily="50" charset="-127"/>
              </a:rPr>
              <a:t>Overall Mean </a:t>
            </a:r>
          </a:p>
        </p:txBody>
      </p:sp>
      <p:sp>
        <p:nvSpPr>
          <p:cNvPr id="35" name="직사각형 34"/>
          <p:cNvSpPr/>
          <p:nvPr/>
        </p:nvSpPr>
        <p:spPr>
          <a:xfrm>
            <a:off x="7661398" y="4613275"/>
            <a:ext cx="2116138" cy="276225"/>
          </a:xfrm>
          <a:prstGeom prst="rect">
            <a:avLst/>
          </a:prstGeom>
        </p:spPr>
        <p:txBody>
          <a:bodyPr>
            <a:spAutoFit/>
          </a:bodyPr>
          <a:lstStyle/>
          <a:p>
            <a:pPr algn="ctr" defTabSz="585788" fontAlgn="auto" latinLnBrk="0">
              <a:spcBef>
                <a:spcPts val="0"/>
              </a:spcBef>
              <a:spcAft>
                <a:spcPts val="0"/>
              </a:spcAft>
              <a:defRPr/>
            </a:pPr>
            <a:r>
              <a:rPr kumimoji="0" lang="en-US" altLang="en-US" sz="1200" kern="0" dirty="0">
                <a:solidFill>
                  <a:srgbClr val="000000"/>
                </a:solidFill>
                <a:latin typeface="arial" pitchFamily="34" charset="0"/>
                <a:ea typeface="맑은 고딕" panose="020B0503020000020004" pitchFamily="50" charset="-127"/>
              </a:rPr>
              <a:t>Range Mean</a:t>
            </a:r>
          </a:p>
        </p:txBody>
      </p:sp>
      <p:sp>
        <p:nvSpPr>
          <p:cNvPr id="37897" name="TextBox 8"/>
          <p:cNvSpPr txBox="1">
            <a:spLocks noChangeArrowheads="1"/>
          </p:cNvSpPr>
          <p:nvPr/>
        </p:nvSpPr>
        <p:spPr bwMode="auto">
          <a:xfrm>
            <a:off x="1549400" y="963613"/>
            <a:ext cx="7653057" cy="34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latin typeface="arial" pitchFamily="34" charset="0"/>
                <a:ea typeface="맑은 고딕" pitchFamily="50" charset="-127"/>
              </a:rPr>
              <a:t>Kết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luận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Giá</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trị</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trung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bình</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được</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của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dữ</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liệu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thứ</a:t>
            </a:r>
            <a:r>
              <a:rPr lang="en-US" altLang="ko-KR" sz="1400" b="1" dirty="0">
                <a:latin typeface="arial" pitchFamily="34" charset="0"/>
                <a:ea typeface="맑은 고딕" pitchFamily="50" charset="-127"/>
              </a:rPr>
              <a:t> 6M </a:t>
            </a:r>
            <a:r>
              <a:rPr lang="en-US" altLang="ko-KR" sz="1400" b="1" dirty="0" err="1">
                <a:latin typeface="arial" pitchFamily="34" charset="0"/>
                <a:ea typeface="맑은 고딕" pitchFamily="50" charset="-127"/>
              </a:rPr>
              <a:t>đã</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vượt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quá</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giới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hạn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kiểm</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soát</a:t>
            </a:r>
            <a:r>
              <a:rPr lang="en-US" altLang="ko-KR" sz="1400" b="1" dirty="0">
                <a:latin typeface="arial" pitchFamily="34" charset="0"/>
                <a:ea typeface="맑은 고딕" pitchFamily="50" charset="-127"/>
              </a:rPr>
              <a:t>.</a:t>
            </a: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276</a:t>
            </a:fld>
            <a:endParaRPr lang="ko-KR" altLang="en-US" dirty="0"/>
          </a:p>
        </p:txBody>
      </p:sp>
      <p:sp>
        <p:nvSpPr>
          <p:cNvPr id="10"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7.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Thực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hành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Xbar</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-R Control Chart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4119251675"/>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lgn="l">
              <a:defRPr/>
            </a:pPr>
            <a:r>
              <a:rPr lang="en-US" altLang="ko-KR" sz="2000" b="1" dirty="0">
                <a:latin typeface="arial" pitchFamily="34" charset="0"/>
              </a:rPr>
              <a:t>7. </a:t>
            </a:r>
            <a:r>
              <a:rPr lang="en-US" altLang="ko-KR" sz="2000" b="1" dirty="0" err="1">
                <a:latin typeface="arial" pitchFamily="34" charset="0"/>
              </a:rPr>
              <a:t>Thực</a:t>
            </a:r>
            <a:r>
              <a:rPr lang="en-US" altLang="ko-KR" sz="2000" b="1" dirty="0">
                <a:latin typeface="arial" pitchFamily="34" charset="0"/>
              </a:rPr>
              <a:t> </a:t>
            </a:r>
            <a:r>
              <a:rPr lang="en-US" altLang="ko-KR" sz="2000" b="1" dirty="0" err="1">
                <a:latin typeface="arial" pitchFamily="34" charset="0"/>
              </a:rPr>
              <a:t>hành</a:t>
            </a:r>
            <a:r>
              <a:rPr lang="en-US" altLang="ko-KR" sz="2000" b="1" dirty="0">
                <a:latin typeface="arial" pitchFamily="34" charset="0"/>
              </a:rPr>
              <a:t> </a:t>
            </a:r>
            <a:r>
              <a:rPr lang="en-US" altLang="ko-KR" sz="2000" b="1" dirty="0" err="1">
                <a:latin typeface="arial" pitchFamily="34" charset="0"/>
              </a:rPr>
              <a:t>Xbar</a:t>
            </a:r>
            <a:r>
              <a:rPr lang="en-US" altLang="ko-KR" sz="2000" b="1" dirty="0">
                <a:latin typeface="arial" pitchFamily="34" charset="0"/>
              </a:rPr>
              <a:t>-R Control Chart</a:t>
            </a:r>
            <a:endParaRPr lang="ko-KR" altLang="en-US" sz="2000" b="1" dirty="0">
              <a:latin typeface="arial" pitchFamily="34" charset="0"/>
            </a:endParaRPr>
          </a:p>
        </p:txBody>
      </p:sp>
      <p:sp>
        <p:nvSpPr>
          <p:cNvPr id="38916" name="Rectangle 2"/>
          <p:cNvSpPr>
            <a:spLocks noChangeArrowheads="1"/>
          </p:cNvSpPr>
          <p:nvPr/>
        </p:nvSpPr>
        <p:spPr bwMode="auto">
          <a:xfrm>
            <a:off x="415925" y="1076325"/>
            <a:ext cx="8785225" cy="1564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40000"/>
              </a:lnSpc>
            </a:pPr>
            <a:r>
              <a:rPr kumimoji="0" lang="en-US" altLang="ko-KR" sz="1400" b="1" dirty="0">
                <a:latin typeface="맑은 고딕" pitchFamily="50" charset="-127"/>
                <a:ea typeface="맑은 고딕" pitchFamily="50" charset="-127"/>
              </a:rPr>
              <a:t>The problems discovered through the aforementioned control charts were rectified and now only ‘chance causes’ remain with ‘assignable causes’ eliminated. With the stabilized process, the output level is 90±3db and the range is measured to be below 10bB. To maintain to process in the stabilized state, the product being manufactured in A line and M line is to be sampled 5 times a day for 7 days and the measurement data is to be organized as below.</a:t>
            </a:r>
          </a:p>
        </p:txBody>
      </p:sp>
      <p:graphicFrame>
        <p:nvGraphicFramePr>
          <p:cNvPr id="7" name="표 6"/>
          <p:cNvGraphicFramePr>
            <a:graphicFrameLocks noGrp="1"/>
          </p:cNvGraphicFramePr>
          <p:nvPr/>
        </p:nvGraphicFramePr>
        <p:xfrm>
          <a:off x="495300" y="3289300"/>
          <a:ext cx="8915394" cy="1508124"/>
        </p:xfrm>
        <a:graphic>
          <a:graphicData uri="http://schemas.openxmlformats.org/drawingml/2006/table">
            <a:tbl>
              <a:tblPr/>
              <a:tblGrid>
                <a:gridCol w="625845">
                  <a:extLst>
                    <a:ext uri="{9D8B030D-6E8A-4147-A177-3AD203B41FA5}">
                      <a16:colId xmlns:a16="http://schemas.microsoft.com/office/drawing/2014/main" val="20000"/>
                    </a:ext>
                  </a:extLst>
                </a:gridCol>
                <a:gridCol w="718563">
                  <a:extLst>
                    <a:ext uri="{9D8B030D-6E8A-4147-A177-3AD203B41FA5}">
                      <a16:colId xmlns:a16="http://schemas.microsoft.com/office/drawing/2014/main" val="20001"/>
                    </a:ext>
                  </a:extLst>
                </a:gridCol>
                <a:gridCol w="625845">
                  <a:extLst>
                    <a:ext uri="{9D8B030D-6E8A-4147-A177-3AD203B41FA5}">
                      <a16:colId xmlns:a16="http://schemas.microsoft.com/office/drawing/2014/main" val="20002"/>
                    </a:ext>
                  </a:extLst>
                </a:gridCol>
                <a:gridCol w="625845">
                  <a:extLst>
                    <a:ext uri="{9D8B030D-6E8A-4147-A177-3AD203B41FA5}">
                      <a16:colId xmlns:a16="http://schemas.microsoft.com/office/drawing/2014/main" val="20003"/>
                    </a:ext>
                  </a:extLst>
                </a:gridCol>
                <a:gridCol w="686691">
                  <a:extLst>
                    <a:ext uri="{9D8B030D-6E8A-4147-A177-3AD203B41FA5}">
                      <a16:colId xmlns:a16="http://schemas.microsoft.com/office/drawing/2014/main" val="20004"/>
                    </a:ext>
                  </a:extLst>
                </a:gridCol>
                <a:gridCol w="625845">
                  <a:extLst>
                    <a:ext uri="{9D8B030D-6E8A-4147-A177-3AD203B41FA5}">
                      <a16:colId xmlns:a16="http://schemas.microsoft.com/office/drawing/2014/main" val="20005"/>
                    </a:ext>
                  </a:extLst>
                </a:gridCol>
                <a:gridCol w="625845">
                  <a:extLst>
                    <a:ext uri="{9D8B030D-6E8A-4147-A177-3AD203B41FA5}">
                      <a16:colId xmlns:a16="http://schemas.microsoft.com/office/drawing/2014/main" val="20006"/>
                    </a:ext>
                  </a:extLst>
                </a:gridCol>
                <a:gridCol w="625845">
                  <a:extLst>
                    <a:ext uri="{9D8B030D-6E8A-4147-A177-3AD203B41FA5}">
                      <a16:colId xmlns:a16="http://schemas.microsoft.com/office/drawing/2014/main" val="20007"/>
                    </a:ext>
                  </a:extLst>
                </a:gridCol>
                <a:gridCol w="625845">
                  <a:extLst>
                    <a:ext uri="{9D8B030D-6E8A-4147-A177-3AD203B41FA5}">
                      <a16:colId xmlns:a16="http://schemas.microsoft.com/office/drawing/2014/main" val="20008"/>
                    </a:ext>
                  </a:extLst>
                </a:gridCol>
                <a:gridCol w="625845">
                  <a:extLst>
                    <a:ext uri="{9D8B030D-6E8A-4147-A177-3AD203B41FA5}">
                      <a16:colId xmlns:a16="http://schemas.microsoft.com/office/drawing/2014/main" val="20009"/>
                    </a:ext>
                  </a:extLst>
                </a:gridCol>
                <a:gridCol w="625845">
                  <a:extLst>
                    <a:ext uri="{9D8B030D-6E8A-4147-A177-3AD203B41FA5}">
                      <a16:colId xmlns:a16="http://schemas.microsoft.com/office/drawing/2014/main" val="20010"/>
                    </a:ext>
                  </a:extLst>
                </a:gridCol>
                <a:gridCol w="625845">
                  <a:extLst>
                    <a:ext uri="{9D8B030D-6E8A-4147-A177-3AD203B41FA5}">
                      <a16:colId xmlns:a16="http://schemas.microsoft.com/office/drawing/2014/main" val="20011"/>
                    </a:ext>
                  </a:extLst>
                </a:gridCol>
                <a:gridCol w="625845">
                  <a:extLst>
                    <a:ext uri="{9D8B030D-6E8A-4147-A177-3AD203B41FA5}">
                      <a16:colId xmlns:a16="http://schemas.microsoft.com/office/drawing/2014/main" val="20012"/>
                    </a:ext>
                  </a:extLst>
                </a:gridCol>
                <a:gridCol w="625845">
                  <a:extLst>
                    <a:ext uri="{9D8B030D-6E8A-4147-A177-3AD203B41FA5}">
                      <a16:colId xmlns:a16="http://schemas.microsoft.com/office/drawing/2014/main" val="20013"/>
                    </a:ext>
                  </a:extLst>
                </a:gridCol>
              </a:tblGrid>
              <a:tr h="251354">
                <a:tc>
                  <a:txBody>
                    <a:bodyPr/>
                    <a:lstStyle/>
                    <a:p>
                      <a:pPr algn="ctr" rtl="0" fontAlgn="b"/>
                      <a:r>
                        <a:rPr lang="en-US" sz="1200" b="1" i="0" u="none" strike="noStrike" dirty="0">
                          <a:solidFill>
                            <a:srgbClr val="FFFFFF"/>
                          </a:solidFill>
                          <a:effectLst/>
                          <a:latin typeface="Arial"/>
                        </a:rPr>
                        <a:t>1.A</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dirty="0">
                          <a:solidFill>
                            <a:srgbClr val="FFFFFF"/>
                          </a:solidFill>
                          <a:effectLst/>
                          <a:latin typeface="Arial"/>
                        </a:rPr>
                        <a:t>1.M</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dirty="0">
                          <a:solidFill>
                            <a:srgbClr val="FFFFFF"/>
                          </a:solidFill>
                          <a:effectLst/>
                          <a:latin typeface="Arial"/>
                        </a:rPr>
                        <a:t>2.A</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2.M</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dirty="0">
                          <a:solidFill>
                            <a:srgbClr val="FFFFFF"/>
                          </a:solidFill>
                          <a:effectLst/>
                          <a:latin typeface="Arial"/>
                        </a:rPr>
                        <a:t>3.A</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3.M</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4.A</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4.M</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5.A</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5.M</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6.A</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6.M</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7.A</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tc>
                  <a:txBody>
                    <a:bodyPr/>
                    <a:lstStyle/>
                    <a:p>
                      <a:pPr algn="ctr" rtl="0" fontAlgn="b"/>
                      <a:r>
                        <a:rPr lang="en-US" sz="1200" b="1" i="0" u="none" strike="noStrike">
                          <a:solidFill>
                            <a:srgbClr val="FFFFFF"/>
                          </a:solidFill>
                          <a:effectLst/>
                          <a:latin typeface="Arial"/>
                        </a:rPr>
                        <a:t>7.M</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9999"/>
                    </a:solidFill>
                  </a:tcPr>
                </a:tc>
                <a:extLst>
                  <a:ext uri="{0D108BD9-81ED-4DB2-BD59-A6C34878D82A}">
                    <a16:rowId xmlns:a16="http://schemas.microsoft.com/office/drawing/2014/main" val="10000"/>
                  </a:ext>
                </a:extLst>
              </a:tr>
              <a:tr h="251354">
                <a:tc>
                  <a:txBody>
                    <a:bodyPr/>
                    <a:lstStyle/>
                    <a:p>
                      <a:pPr algn="ctr" fontAlgn="b"/>
                      <a:r>
                        <a:rPr lang="en-US" altLang="ko-KR" sz="1200" b="0" i="0" u="none" strike="noStrike">
                          <a:solidFill>
                            <a:srgbClr val="000000"/>
                          </a:solidFill>
                          <a:effectLst/>
                          <a:latin typeface="맑은 고딕"/>
                        </a:rPr>
                        <a:t>90.7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87.9</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91.2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91.7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87.6</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93.8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92.2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89.0</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87.9</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89.1</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90.8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91.5</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93.3</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86.4</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51354">
                <a:tc>
                  <a:txBody>
                    <a:bodyPr/>
                    <a:lstStyle/>
                    <a:p>
                      <a:pPr algn="ctr" fontAlgn="b"/>
                      <a:r>
                        <a:rPr lang="en-US" altLang="ko-KR" sz="1200" b="0" i="0" u="none" strike="noStrike">
                          <a:solidFill>
                            <a:srgbClr val="000000"/>
                          </a:solidFill>
                          <a:effectLst/>
                          <a:latin typeface="맑은 고딕"/>
                        </a:rPr>
                        <a:t>91.8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89.7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89.1</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88.6</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90.0</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88.4</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90.2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87.4</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92.0</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92.6</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88.7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90.4</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88.4</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91.4</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51354">
                <a:tc>
                  <a:txBody>
                    <a:bodyPr/>
                    <a:lstStyle/>
                    <a:p>
                      <a:pPr algn="ctr" fontAlgn="b"/>
                      <a:r>
                        <a:rPr lang="en-US" altLang="ko-KR" sz="1200" b="0" i="0" u="none" strike="noStrike">
                          <a:solidFill>
                            <a:srgbClr val="000000"/>
                          </a:solidFill>
                          <a:effectLst/>
                          <a:latin typeface="맑은 고딕"/>
                        </a:rPr>
                        <a:t>91.5</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93.5</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84.6</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90.5</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87.6</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92.3</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89.8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92.2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90.2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89.1</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91.2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87.9</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88.5</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87.8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51354">
                <a:tc>
                  <a:txBody>
                    <a:bodyPr/>
                    <a:lstStyle/>
                    <a:p>
                      <a:pPr algn="ctr" fontAlgn="b"/>
                      <a:r>
                        <a:rPr lang="en-US" altLang="ko-KR" sz="1200" b="0" i="0" u="none" strike="noStrike">
                          <a:solidFill>
                            <a:srgbClr val="000000"/>
                          </a:solidFill>
                          <a:effectLst/>
                          <a:latin typeface="맑은 고딕"/>
                        </a:rPr>
                        <a:t>89.6</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91.2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88.8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89.9</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88.4</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89.5</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88.1</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86.8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94.7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88.0</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86.1</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86.9</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87.6</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89.6</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51354">
                <a:tc>
                  <a:txBody>
                    <a:bodyPr/>
                    <a:lstStyle/>
                    <a:p>
                      <a:pPr algn="ctr" fontAlgn="b"/>
                      <a:r>
                        <a:rPr lang="en-US" altLang="ko-KR" sz="1200" b="0" i="0" u="none" strike="noStrike">
                          <a:solidFill>
                            <a:srgbClr val="000000"/>
                          </a:solidFill>
                          <a:effectLst/>
                          <a:latin typeface="맑은 고딕"/>
                        </a:rPr>
                        <a:t>88.2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92.4</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91.0</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88.1</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94.1</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86.7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87.2</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89.8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93.8</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91.3</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89.7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88.1</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91.7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86.7</a:t>
                      </a:r>
                    </a:p>
                  </a:txBody>
                  <a:tcPr marL="8695" marR="8695" marT="869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277</a:t>
            </a:fld>
            <a:endParaRPr lang="ko-KR" altLang="en-US" dirty="0"/>
          </a:p>
        </p:txBody>
      </p:sp>
    </p:spTree>
    <p:extLst>
      <p:ext uri="{BB962C8B-B14F-4D97-AF65-F5344CB8AC3E}">
        <p14:creationId xmlns:p14="http://schemas.microsoft.com/office/powerpoint/2010/main" val="2873530889"/>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14"/>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5453063" y="904875"/>
            <a:ext cx="4324350" cy="3676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41" name="Picture 2"/>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279400" y="1681163"/>
            <a:ext cx="4953000" cy="327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직사각형 6"/>
          <p:cNvSpPr/>
          <p:nvPr/>
        </p:nvSpPr>
        <p:spPr>
          <a:xfrm>
            <a:off x="4149725" y="3811588"/>
            <a:ext cx="1008063" cy="28892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cxnSp>
        <p:nvCxnSpPr>
          <p:cNvPr id="8" name="꺾인 연결선 7"/>
          <p:cNvCxnSpPr>
            <a:stCxn id="7" idx="0"/>
          </p:cNvCxnSpPr>
          <p:nvPr/>
        </p:nvCxnSpPr>
        <p:spPr>
          <a:xfrm rot="5400000" flipH="1" flipV="1">
            <a:off x="4523581" y="2877344"/>
            <a:ext cx="1065213" cy="803275"/>
          </a:xfrm>
          <a:prstGeom prst="bentConnector2">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타원 8"/>
          <p:cNvSpPr/>
          <p:nvPr/>
        </p:nvSpPr>
        <p:spPr>
          <a:xfrm>
            <a:off x="4295775" y="4171950"/>
            <a:ext cx="263525" cy="263525"/>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b="1" dirty="0">
                <a:latin typeface="arial" pitchFamily="34" charset="0"/>
              </a:rPr>
              <a:t>1</a:t>
            </a:r>
            <a:endParaRPr lang="ko-KR" altLang="en-US" sz="1200" b="1" dirty="0">
              <a:latin typeface="arial" pitchFamily="34" charset="0"/>
            </a:endParaRPr>
          </a:p>
        </p:txBody>
      </p:sp>
      <p:sp>
        <p:nvSpPr>
          <p:cNvPr id="12" name="직사각형 11"/>
          <p:cNvSpPr/>
          <p:nvPr/>
        </p:nvSpPr>
        <p:spPr>
          <a:xfrm>
            <a:off x="5600700" y="1216025"/>
            <a:ext cx="647700" cy="2873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pic>
        <p:nvPicPr>
          <p:cNvPr id="39946" name="Picture 13"/>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5457825" y="2805113"/>
            <a:ext cx="4324350" cy="3676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직사각형 14"/>
          <p:cNvSpPr/>
          <p:nvPr/>
        </p:nvSpPr>
        <p:spPr>
          <a:xfrm>
            <a:off x="6753225" y="3070225"/>
            <a:ext cx="431800" cy="2873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cxnSp>
        <p:nvCxnSpPr>
          <p:cNvPr id="3" name="직선 연결선 2"/>
          <p:cNvCxnSpPr/>
          <p:nvPr/>
        </p:nvCxnSpPr>
        <p:spPr>
          <a:xfrm>
            <a:off x="6608763" y="2133600"/>
            <a:ext cx="4318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p:nvCxnSpPr>
        <p:spPr>
          <a:xfrm>
            <a:off x="7689850" y="4221163"/>
            <a:ext cx="4318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직선 연결선 20"/>
          <p:cNvCxnSpPr/>
          <p:nvPr/>
        </p:nvCxnSpPr>
        <p:spPr>
          <a:xfrm>
            <a:off x="7689850" y="4437063"/>
            <a:ext cx="4318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직선 연결선 21"/>
          <p:cNvCxnSpPr/>
          <p:nvPr/>
        </p:nvCxnSpPr>
        <p:spPr>
          <a:xfrm>
            <a:off x="7689850" y="5157788"/>
            <a:ext cx="4318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278</a:t>
            </a:fld>
            <a:endParaRPr lang="ko-KR" altLang="en-US" dirty="0"/>
          </a:p>
        </p:txBody>
      </p:sp>
      <p:sp>
        <p:nvSpPr>
          <p:cNvPr id="17"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7.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Thực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hành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Xbar</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-R Control Chart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4077508967"/>
      </p:ext>
    </p:extLst>
  </p:cSld>
  <p:clrMapOvr>
    <a:masterClrMapping/>
  </p:clrMapOvr>
  <p:transition/>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4" name="TextBox 8"/>
          <p:cNvSpPr txBox="1">
            <a:spLocks noChangeArrowheads="1"/>
          </p:cNvSpPr>
          <p:nvPr/>
        </p:nvSpPr>
        <p:spPr bwMode="auto">
          <a:xfrm>
            <a:off x="1549400" y="963613"/>
            <a:ext cx="3129383" cy="379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err="1">
                <a:latin typeface="arial" pitchFamily="34" charset="0"/>
                <a:ea typeface="맑은 고딕" pitchFamily="50" charset="-127"/>
              </a:rPr>
              <a:t>Kết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luận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Quá</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trình</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đã</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ổn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định</a:t>
            </a:r>
            <a:endParaRPr lang="en-US" altLang="ko-KR" sz="1600" b="1" dirty="0">
              <a:latin typeface="arial" pitchFamily="34" charset="0"/>
              <a:ea typeface="맑은 고딕" pitchFamily="50" charset="-127"/>
            </a:endParaRPr>
          </a:p>
        </p:txBody>
      </p:sp>
      <p:pic>
        <p:nvPicPr>
          <p:cNvPr id="40965" name="Picture 7"/>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281113" y="1600200"/>
            <a:ext cx="6696075" cy="446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279</a:t>
            </a:fld>
            <a:endParaRPr lang="ko-KR" altLang="en-US" dirty="0"/>
          </a:p>
        </p:txBody>
      </p:sp>
      <p:sp>
        <p:nvSpPr>
          <p:cNvPr id="7" name="제목 8"/>
          <p:cNvSpPr txBox="1">
            <a:spLocks/>
          </p:cNvSpPr>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pPr marL="0" marR="0" lvl="0" indent="0" algn="l" defTabSz="914400" rtl="0" eaLnBrk="1" fontAlgn="auto" latinLnBrk="1" hangingPunct="1">
              <a:lnSpc>
                <a:spcPct val="100000"/>
              </a:lnSpc>
              <a:spcBef>
                <a:spcPct val="0"/>
              </a:spcBef>
              <a:spcAft>
                <a:spcPts val="0"/>
              </a:spcAft>
              <a:buClrTx/>
              <a:buSzTx/>
              <a:buFontTx/>
              <a:buNone/>
              <a:tabLst/>
              <a:defRPr/>
            </a:pP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7.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Thực</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hành</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 </a:t>
            </a:r>
            <a:r>
              <a:rPr kumimoji="0" lang="en-US" altLang="ko-KR" sz="2000" b="1" i="0" u="none" strike="noStrike" kern="1200" cap="none" spc="0" normalizeH="0" baseline="0" noProof="0" dirty="0" err="1">
                <a:ln>
                  <a:noFill/>
                </a:ln>
                <a:solidFill>
                  <a:schemeClr val="tx1"/>
                </a:solidFill>
                <a:effectLst/>
                <a:uLnTx/>
                <a:uFillTx/>
                <a:latin typeface="arial" pitchFamily="34" charset="0"/>
                <a:ea typeface="+mj-ea"/>
                <a:cs typeface="+mj-cs"/>
              </a:rPr>
              <a:t>Xbar</a:t>
            </a:r>
            <a:r>
              <a:rPr kumimoji="0" lang="en-US" altLang="ko-KR" sz="2000" b="1" i="0" u="none" strike="noStrike" kern="1200" cap="none" spc="0" normalizeH="0" baseline="0" noProof="0" dirty="0">
                <a:ln>
                  <a:noFill/>
                </a:ln>
                <a:solidFill>
                  <a:schemeClr val="tx1"/>
                </a:solidFill>
                <a:effectLst/>
                <a:uLnTx/>
                <a:uFillTx/>
                <a:latin typeface="arial" pitchFamily="34" charset="0"/>
                <a:ea typeface="+mj-ea"/>
                <a:cs typeface="+mj-cs"/>
              </a:rPr>
              <a:t>-R Control Chart</a:t>
            </a:r>
            <a:endParaRPr kumimoji="0" lang="ko-KR" altLang="en-US" sz="2000" b="1" i="0" u="none" strike="noStrike" kern="1200" cap="none" spc="0" normalizeH="0" baseline="0" noProof="0" dirty="0">
              <a:ln>
                <a:noFill/>
              </a:ln>
              <a:solidFill>
                <a:schemeClr val="tx1"/>
              </a:solidFill>
              <a:effectLst/>
              <a:uLnTx/>
              <a:uFillTx/>
              <a:latin typeface="arial" pitchFamily="34" charset="0"/>
              <a:ea typeface="+mj-ea"/>
              <a:cs typeface="+mj-cs"/>
            </a:endParaRPr>
          </a:p>
        </p:txBody>
      </p:sp>
    </p:spTree>
    <p:extLst>
      <p:ext uri="{BB962C8B-B14F-4D97-AF65-F5344CB8AC3E}">
        <p14:creationId xmlns:p14="http://schemas.microsoft.com/office/powerpoint/2010/main" val="2868770188"/>
      </p:ext>
    </p:extLst>
  </p:cSld>
  <p:clrMapOvr>
    <a:masterClrMapping/>
  </p:clrMapOvr>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7. </a:t>
            </a:r>
            <a:r>
              <a:rPr lang="en-US" altLang="ko-KR" sz="2000" b="1" dirty="0" err="1"/>
              <a:t>Thực</a:t>
            </a:r>
            <a:r>
              <a:rPr lang="en-US" altLang="ko-KR" sz="2000" b="1" dirty="0"/>
              <a:t> </a:t>
            </a:r>
            <a:r>
              <a:rPr lang="en-US" altLang="ko-KR" sz="2000" b="1" dirty="0" err="1"/>
              <a:t>hành</a:t>
            </a:r>
            <a:r>
              <a:rPr lang="ko-KR" altLang="en-US" sz="2000" b="1" dirty="0"/>
              <a:t> </a:t>
            </a:r>
            <a:r>
              <a:rPr lang="en-US" altLang="ko-KR" sz="2000" b="1" dirty="0"/>
              <a:t>_ I-MR Control Chart</a:t>
            </a:r>
            <a:endParaRPr lang="ko-KR" altLang="en-US" sz="2000" b="1" dirty="0"/>
          </a:p>
        </p:txBody>
      </p:sp>
      <p:sp>
        <p:nvSpPr>
          <p:cNvPr id="41988" name="Rectangle 3"/>
          <p:cNvSpPr>
            <a:spLocks noChangeArrowheads="1"/>
          </p:cNvSpPr>
          <p:nvPr/>
        </p:nvSpPr>
        <p:spPr bwMode="auto">
          <a:xfrm>
            <a:off x="650429" y="980728"/>
            <a:ext cx="8605142" cy="1385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latinLnBrk="0">
              <a:lnSpc>
                <a:spcPct val="150000"/>
              </a:lnSpc>
            </a:pPr>
            <a:r>
              <a:rPr kumimoji="0" lang="vi-VN" altLang="ko-KR" sz="1400" b="1" dirty="0">
                <a:latin typeface="arial" pitchFamily="34" charset="0"/>
                <a:ea typeface="맑은 고딕" pitchFamily="50" charset="-127"/>
              </a:rPr>
              <a:t>Một đơn vị kinh doanh đang có kế hoạch đo độ dày lớp phủ</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sơn</a:t>
            </a:r>
            <a:r>
              <a:rPr kumimoji="0" lang="vi-VN" altLang="ko-KR" sz="1400" b="1" dirty="0">
                <a:latin typeface="arial" pitchFamily="34" charset="0"/>
                <a:ea typeface="맑은 고딕" pitchFamily="50" charset="-127"/>
              </a:rPr>
              <a:t> bởi nó là một đặc tính chất lượng chủ yếu của quá trình sơn. Do đặc điểm </a:t>
            </a:r>
            <a:r>
              <a:rPr kumimoji="0" lang="en-US" altLang="ko-KR" sz="1400" b="1" dirty="0" err="1">
                <a:latin typeface="arial" pitchFamily="34" charset="0"/>
                <a:ea typeface="맑은 고딕" pitchFamily="50" charset="-127"/>
              </a:rPr>
              <a:t>của</a:t>
            </a:r>
            <a:r>
              <a:rPr kumimoji="0" lang="en-US" altLang="ko-KR" sz="1400" b="1" dirty="0">
                <a:latin typeface="arial" pitchFamily="34" charset="0"/>
                <a:ea typeface="맑은 고딕" pitchFamily="50" charset="-127"/>
              </a:rPr>
              <a:t> </a:t>
            </a:r>
            <a:r>
              <a:rPr kumimoji="0" lang="vi-VN" altLang="ko-KR" sz="1400" b="1" dirty="0">
                <a:latin typeface="arial" pitchFamily="34" charset="0"/>
                <a:ea typeface="맑은 고딕" pitchFamily="50" charset="-127"/>
              </a:rPr>
              <a:t>quá trình, 1 </a:t>
            </a:r>
            <a:r>
              <a:rPr kumimoji="0" lang="en-US" altLang="ko-KR" sz="1400" b="1" dirty="0" err="1">
                <a:latin typeface="arial" pitchFamily="34" charset="0"/>
                <a:ea typeface="맑은 고딕" pitchFamily="50" charset="-127"/>
              </a:rPr>
              <a:t>phép</a:t>
            </a:r>
            <a:r>
              <a:rPr kumimoji="0" lang="en-US" altLang="ko-KR" sz="1400" b="1" dirty="0">
                <a:latin typeface="arial" pitchFamily="34" charset="0"/>
                <a:ea typeface="맑은 고딕" pitchFamily="50" charset="-127"/>
              </a:rPr>
              <a:t> </a:t>
            </a:r>
            <a:r>
              <a:rPr kumimoji="0" lang="vi-VN" altLang="ko-KR" sz="1400" b="1" dirty="0">
                <a:latin typeface="arial" pitchFamily="34" charset="0"/>
                <a:ea typeface="맑은 고딕" pitchFamily="50" charset="-127"/>
              </a:rPr>
              <a:t>đo được thực hiện mỗi ngày trong một dòng liên tục. Các dữ liệu thu thập được hiển thị dưới đây. Quá trình này sẽ được phân tích để xe</a:t>
            </a:r>
            <a:r>
              <a:rPr kumimoji="0" lang="en-US" altLang="ko-KR" sz="1400" b="1" dirty="0">
                <a:latin typeface="arial" pitchFamily="34" charset="0"/>
                <a:ea typeface="맑은 고딕" pitchFamily="50" charset="-127"/>
              </a:rPr>
              <a:t>m </a:t>
            </a:r>
            <a:r>
              <a:rPr kumimoji="0" lang="en-US" altLang="ko-KR" sz="1400" b="1" dirty="0" err="1">
                <a:latin typeface="arial" pitchFamily="34" charset="0"/>
                <a:ea typeface="맑은 고딕" pitchFamily="50" charset="-127"/>
              </a:rPr>
              <a:t>quá</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trình</a:t>
            </a:r>
            <a:r>
              <a:rPr kumimoji="0" lang="vi-VN" altLang="ko-KR" sz="1400" b="1" dirty="0">
                <a:latin typeface="arial" pitchFamily="34" charset="0"/>
                <a:ea typeface="맑은 고딕" pitchFamily="50" charset="-127"/>
              </a:rPr>
              <a:t> đang được duy trì</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như</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thế</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nào</a:t>
            </a:r>
            <a:r>
              <a:rPr kumimoji="0" lang="en-US" altLang="ko-KR" sz="1400" b="1" dirty="0">
                <a:latin typeface="arial" pitchFamily="34" charset="0"/>
                <a:ea typeface="맑은 고딕" pitchFamily="50" charset="-127"/>
              </a:rPr>
              <a:t>.</a:t>
            </a:r>
          </a:p>
        </p:txBody>
      </p:sp>
      <p:graphicFrame>
        <p:nvGraphicFramePr>
          <p:cNvPr id="3" name="표 2"/>
          <p:cNvGraphicFramePr>
            <a:graphicFrameLocks noGrp="1"/>
          </p:cNvGraphicFramePr>
          <p:nvPr>
            <p:extLst>
              <p:ext uri="{D42A27DB-BD31-4B8C-83A1-F6EECF244321}">
                <p14:modId xmlns:p14="http://schemas.microsoft.com/office/powerpoint/2010/main" val="2071064865"/>
              </p:ext>
            </p:extLst>
          </p:nvPr>
        </p:nvGraphicFramePr>
        <p:xfrm>
          <a:off x="2864768" y="2682378"/>
          <a:ext cx="1477485" cy="3758170"/>
        </p:xfrm>
        <a:graphic>
          <a:graphicData uri="http://schemas.openxmlformats.org/drawingml/2006/table">
            <a:tbl>
              <a:tblPr/>
              <a:tblGrid>
                <a:gridCol w="511027">
                  <a:extLst>
                    <a:ext uri="{9D8B030D-6E8A-4147-A177-3AD203B41FA5}">
                      <a16:colId xmlns:a16="http://schemas.microsoft.com/office/drawing/2014/main" val="20000"/>
                    </a:ext>
                  </a:extLst>
                </a:gridCol>
                <a:gridCol w="966458">
                  <a:extLst>
                    <a:ext uri="{9D8B030D-6E8A-4147-A177-3AD203B41FA5}">
                      <a16:colId xmlns:a16="http://schemas.microsoft.com/office/drawing/2014/main" val="20001"/>
                    </a:ext>
                  </a:extLst>
                </a:gridCol>
              </a:tblGrid>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굴림" pitchFamily="50" charset="-127"/>
                        </a:rPr>
                        <a:t>No.</a:t>
                      </a:r>
                    </a:p>
                  </a:txBody>
                  <a:tcPr marL="7379" marR="7379" marT="7385" marB="0" anchor="b" horzOverflow="overflow">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Thickness(mm)</a:t>
                      </a:r>
                      <a:endParaRPr kumimoji="0" lang="en-US" altLang="ko-KR" sz="900" b="0" i="0" u="none" strike="noStrike" cap="none" normalizeH="0" baseline="0" dirty="0">
                        <a:ln>
                          <a:noFill/>
                        </a:ln>
                        <a:solidFill>
                          <a:schemeClr val="tx1"/>
                        </a:solidFill>
                        <a:effectLst/>
                        <a:latin typeface="돋움" pitchFamily="50" charset="-127"/>
                        <a:ea typeface="굴림" pitchFamily="50" charset="-127"/>
                      </a:endParaRPr>
                    </a:p>
                  </a:txBody>
                  <a:tcPr marL="7379" marR="7379" marT="7385" marB="0" anchor="b" horzOverflow="overflow">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a:t>
                      </a:r>
                    </a:p>
                  </a:txBody>
                  <a:tcPr marL="7379" marR="7379" marT="7385"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1.01</a:t>
                      </a:r>
                    </a:p>
                  </a:txBody>
                  <a:tcPr marL="7379" marR="7379" marT="7385"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2</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0.98</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3</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1.04</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4</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1.07</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5</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1.02</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6</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1.03</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6"/>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7</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0.98</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7"/>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8</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1.01</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8"/>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9</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0.97</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9"/>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1.01</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0"/>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11</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1.04</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1"/>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12</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1.02</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2"/>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13</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1.05</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3"/>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14</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1.00</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4"/>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15</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0.96</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5"/>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16</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0.99</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6"/>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17</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1.03</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7"/>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18</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1.00</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8"/>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19</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1.06</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9"/>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20</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1.02</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0"/>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21</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0.98</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1"/>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22</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1.00</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2"/>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23</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1.04</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3"/>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24</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0.96</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4"/>
                  </a:ext>
                </a:extLst>
              </a:tr>
              <a:tr h="140373">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25</a:t>
                      </a:r>
                    </a:p>
                  </a:txBody>
                  <a:tcPr marL="7379" marR="7379" marT="7385" marB="0" anchor="b" horzOverflow="overflow">
                    <a:lnL>
                      <a:noFill/>
                    </a:lnL>
                    <a:lnR>
                      <a:noFill/>
                    </a:lnR>
                    <a:lnT>
                      <a:noFill/>
                    </a:lnT>
                    <a:lnB>
                      <a:noFill/>
                    </a:lnB>
                    <a:lnTlToBr>
                      <a:noFill/>
                    </a:lnTlToBr>
                    <a:lnBlToTr>
                      <a:noFill/>
                    </a:lnBlToTr>
                    <a:no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 latinLnBrk="1" hangingPunct="1">
                        <a:lnSpc>
                          <a:spcPct val="100000"/>
                        </a:lnSpc>
                        <a:spcBef>
                          <a:spcPct val="0"/>
                        </a:spcBef>
                        <a:spcAft>
                          <a:spcPct val="0"/>
                        </a:spcAft>
                        <a:buClrTx/>
                        <a:buSzTx/>
                        <a:buFontTx/>
                        <a:buNone/>
                        <a:tabLst/>
                      </a:pPr>
                      <a:r>
                        <a:rPr kumimoji="0" lang="en-US" altLang="ko-KR" sz="900" b="0" i="0" u="none" strike="noStrike" cap="none" normalizeH="0" baseline="0" dirty="0">
                          <a:ln>
                            <a:noFill/>
                          </a:ln>
                          <a:solidFill>
                            <a:schemeClr val="tx1"/>
                          </a:solidFill>
                          <a:effectLst/>
                          <a:latin typeface="돋움" pitchFamily="50" charset="-127"/>
                          <a:ea typeface="맑은 고딕" pitchFamily="50" charset="-127"/>
                        </a:rPr>
                        <a:t>1.01</a:t>
                      </a:r>
                    </a:p>
                  </a:txBody>
                  <a:tcPr marL="7379" marR="7379" marT="7385"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5"/>
                  </a:ext>
                </a:extLst>
              </a:tr>
            </a:tbl>
          </a:graphicData>
        </a:graphic>
      </p:graphicFrame>
      <p:sp>
        <p:nvSpPr>
          <p:cNvPr id="42044" name="TextBox 5"/>
          <p:cNvSpPr txBox="1">
            <a:spLocks noChangeArrowheads="1"/>
          </p:cNvSpPr>
          <p:nvPr/>
        </p:nvSpPr>
        <p:spPr bwMode="auto">
          <a:xfrm>
            <a:off x="4602163" y="2611674"/>
            <a:ext cx="1800493" cy="307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solidFill>
                  <a:srgbClr val="FF0000"/>
                </a:solidFill>
                <a:latin typeface="arial" pitchFamily="34" charset="0"/>
                <a:ea typeface="맑은 고딕" pitchFamily="50" charset="-127"/>
              </a:rPr>
              <a:t>Excel) Control Chart</a:t>
            </a:r>
            <a:r>
              <a:rPr lang="ko-KR" altLang="en-US" sz="1200" b="1" dirty="0">
                <a:solidFill>
                  <a:srgbClr val="FF0000"/>
                </a:solidFill>
                <a:latin typeface="arial" pitchFamily="34" charset="0"/>
                <a:ea typeface="맑은 고딕" pitchFamily="50" charset="-127"/>
              </a:rPr>
              <a:t> </a:t>
            </a:r>
            <a:r>
              <a:rPr lang="en-US" altLang="ko-KR" sz="1200" b="1" dirty="0">
                <a:solidFill>
                  <a:srgbClr val="FF0000"/>
                </a:solidFill>
                <a:latin typeface="arial" pitchFamily="34" charset="0"/>
                <a:ea typeface="맑은 고딕" pitchFamily="50" charset="-127"/>
              </a:rPr>
              <a:t>5</a:t>
            </a:r>
            <a:endParaRPr lang="ko-KR" altLang="en-US" sz="1200" b="1" dirty="0">
              <a:solidFill>
                <a:srgbClr val="FF0000"/>
              </a:solidFill>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280</a:t>
            </a:fld>
            <a:endParaRPr lang="ko-KR" altLang="en-US" dirty="0"/>
          </a:p>
        </p:txBody>
      </p:sp>
    </p:spTree>
    <p:extLst>
      <p:ext uri="{BB962C8B-B14F-4D97-AF65-F5344CB8AC3E}">
        <p14:creationId xmlns:p14="http://schemas.microsoft.com/office/powerpoint/2010/main" val="2665704457"/>
      </p:ext>
    </p:extLst>
  </p:cSld>
  <p:clrMapOvr>
    <a:masterClrMapping/>
  </p:clrMapOvr>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349250" y="908050"/>
            <a:ext cx="9212263" cy="493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제목 8"/>
          <p:cNvSpPr txBox="1">
            <a:spLocks/>
          </p:cNvSpPr>
          <p:nvPr/>
        </p:nvSpPr>
        <p:spPr bwMode="auto">
          <a:xfrm>
            <a:off x="195263" y="188913"/>
            <a:ext cx="8813800" cy="488950"/>
          </a:xfrm>
          <a:prstGeom prst="rect">
            <a:avLst/>
          </a:prstGeom>
        </p:spPr>
        <p:txBody>
          <a:bodyPr/>
          <a:lstStyle/>
          <a:p>
            <a:pPr>
              <a:defRPr/>
            </a:pPr>
            <a:r>
              <a:rPr kumimoji="0" lang="en-US" altLang="ko-KR" sz="2000" b="1" dirty="0">
                <a:latin typeface="arial" pitchFamily="34" charset="0"/>
                <a:ea typeface="맑은 고딕" panose="020B0503020000020004" pitchFamily="50" charset="-127"/>
                <a:cs typeface="+mj-cs"/>
              </a:rPr>
              <a:t>7. </a:t>
            </a:r>
            <a:r>
              <a:rPr kumimoji="0" lang="en-US" altLang="ko-KR" sz="2000" b="1" dirty="0" err="1">
                <a:latin typeface="arial" pitchFamily="34" charset="0"/>
                <a:ea typeface="맑은 고딕" panose="020B0503020000020004" pitchFamily="50" charset="-127"/>
                <a:cs typeface="+mj-cs"/>
              </a:rPr>
              <a:t>Thực</a:t>
            </a:r>
            <a:r>
              <a:rPr kumimoji="0" lang="en-US" altLang="ko-KR" sz="2000" b="1" dirty="0">
                <a:latin typeface="arial" pitchFamily="34" charset="0"/>
                <a:ea typeface="맑은 고딕" panose="020B0503020000020004" pitchFamily="50" charset="-127"/>
                <a:cs typeface="+mj-cs"/>
              </a:rPr>
              <a:t> </a:t>
            </a:r>
            <a:r>
              <a:rPr kumimoji="0" lang="en-US" altLang="ko-KR" sz="2000" b="1" dirty="0" err="1">
                <a:latin typeface="arial" pitchFamily="34" charset="0"/>
                <a:ea typeface="맑은 고딕" panose="020B0503020000020004" pitchFamily="50" charset="-127"/>
                <a:cs typeface="+mj-cs"/>
              </a:rPr>
              <a:t>hành</a:t>
            </a:r>
            <a:r>
              <a:rPr kumimoji="0" lang="en-US" altLang="ko-KR" sz="2000" b="1" dirty="0">
                <a:latin typeface="arial" pitchFamily="34" charset="0"/>
                <a:ea typeface="맑은 고딕" panose="020B0503020000020004" pitchFamily="50" charset="-127"/>
                <a:cs typeface="+mj-cs"/>
              </a:rPr>
              <a:t> _ I-MR Control Chart</a:t>
            </a:r>
            <a:endParaRPr kumimoji="0" lang="ko-KR" altLang="en-US" sz="2000" b="1" dirty="0">
              <a:latin typeface="arial" pitchFamily="34" charset="0"/>
              <a:ea typeface="맑은 고딕" panose="020B0503020000020004" pitchFamily="50" charset="-127"/>
              <a:cs typeface="+mj-cs"/>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281</a:t>
            </a:fld>
            <a:endParaRPr lang="ko-KR" altLang="en-US" dirty="0"/>
          </a:p>
        </p:txBody>
      </p:sp>
    </p:spTree>
    <p:extLst>
      <p:ext uri="{BB962C8B-B14F-4D97-AF65-F5344CB8AC3E}">
        <p14:creationId xmlns:p14="http://schemas.microsoft.com/office/powerpoint/2010/main" val="209097800"/>
      </p:ext>
    </p:extLst>
  </p:cSld>
  <p:clrMapOvr>
    <a:masterClrMapping/>
  </p:clrMapOvr>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5"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00025" y="1844675"/>
            <a:ext cx="4953000" cy="327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36" name="Picture 4"/>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5454650" y="1268413"/>
            <a:ext cx="4324350" cy="424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직사각형 6"/>
          <p:cNvSpPr/>
          <p:nvPr/>
        </p:nvSpPr>
        <p:spPr>
          <a:xfrm>
            <a:off x="4016375" y="3956050"/>
            <a:ext cx="1008063" cy="28892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cxnSp>
        <p:nvCxnSpPr>
          <p:cNvPr id="8" name="꺾인 연결선 7"/>
          <p:cNvCxnSpPr>
            <a:stCxn id="7" idx="0"/>
          </p:cNvCxnSpPr>
          <p:nvPr/>
        </p:nvCxnSpPr>
        <p:spPr>
          <a:xfrm rot="5400000" flipH="1" flipV="1">
            <a:off x="4706144" y="3207544"/>
            <a:ext cx="563562" cy="933450"/>
          </a:xfrm>
          <a:prstGeom prst="bentConnector2">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타원 8"/>
          <p:cNvSpPr/>
          <p:nvPr/>
        </p:nvSpPr>
        <p:spPr>
          <a:xfrm>
            <a:off x="4162425" y="4316413"/>
            <a:ext cx="263525" cy="263525"/>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b="1" dirty="0">
                <a:latin typeface="arial" pitchFamily="34" charset="0"/>
              </a:rPr>
              <a:t>1</a:t>
            </a:r>
            <a:endParaRPr lang="ko-KR" altLang="en-US" sz="1200" b="1" dirty="0">
              <a:latin typeface="arial" pitchFamily="34" charset="0"/>
            </a:endParaRPr>
          </a:p>
        </p:txBody>
      </p:sp>
      <p:sp>
        <p:nvSpPr>
          <p:cNvPr id="10" name="직사각형 9"/>
          <p:cNvSpPr/>
          <p:nvPr/>
        </p:nvSpPr>
        <p:spPr>
          <a:xfrm>
            <a:off x="7113588" y="1557338"/>
            <a:ext cx="503237" cy="287337"/>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282</a:t>
            </a:fld>
            <a:endParaRPr lang="ko-KR" altLang="en-US" dirty="0"/>
          </a:p>
        </p:txBody>
      </p:sp>
      <p:sp>
        <p:nvSpPr>
          <p:cNvPr id="12" name="제목 8"/>
          <p:cNvSpPr txBox="1">
            <a:spLocks/>
          </p:cNvSpPr>
          <p:nvPr/>
        </p:nvSpPr>
        <p:spPr bwMode="auto">
          <a:xfrm>
            <a:off x="195263" y="188913"/>
            <a:ext cx="8813800" cy="488950"/>
          </a:xfrm>
          <a:prstGeom prst="rect">
            <a:avLst/>
          </a:prstGeom>
        </p:spPr>
        <p:txBody>
          <a:bodyPr/>
          <a:lstStyle/>
          <a:p>
            <a:pPr>
              <a:defRPr/>
            </a:pPr>
            <a:r>
              <a:rPr kumimoji="0" lang="en-US" altLang="ko-KR" sz="2000" b="1" dirty="0">
                <a:latin typeface="arial" pitchFamily="34" charset="0"/>
                <a:ea typeface="맑은 고딕" panose="020B0503020000020004" pitchFamily="50" charset="-127"/>
                <a:cs typeface="+mj-cs"/>
              </a:rPr>
              <a:t>7. </a:t>
            </a:r>
            <a:r>
              <a:rPr kumimoji="0" lang="en-US" altLang="ko-KR" sz="2000" b="1" dirty="0" err="1">
                <a:latin typeface="arial" pitchFamily="34" charset="0"/>
                <a:ea typeface="맑은 고딕" panose="020B0503020000020004" pitchFamily="50" charset="-127"/>
                <a:cs typeface="+mj-cs"/>
              </a:rPr>
              <a:t>Thực</a:t>
            </a:r>
            <a:r>
              <a:rPr kumimoji="0" lang="en-US" altLang="ko-KR" sz="2000" b="1" dirty="0">
                <a:latin typeface="arial" pitchFamily="34" charset="0"/>
                <a:ea typeface="맑은 고딕" panose="020B0503020000020004" pitchFamily="50" charset="-127"/>
                <a:cs typeface="+mj-cs"/>
              </a:rPr>
              <a:t> </a:t>
            </a:r>
            <a:r>
              <a:rPr kumimoji="0" lang="en-US" altLang="ko-KR" sz="2000" b="1" dirty="0" err="1">
                <a:latin typeface="arial" pitchFamily="34" charset="0"/>
                <a:ea typeface="맑은 고딕" panose="020B0503020000020004" pitchFamily="50" charset="-127"/>
                <a:cs typeface="+mj-cs"/>
              </a:rPr>
              <a:t>hành</a:t>
            </a:r>
            <a:r>
              <a:rPr kumimoji="0" lang="en-US" altLang="ko-KR" sz="2000" b="1" dirty="0">
                <a:latin typeface="arial" pitchFamily="34" charset="0"/>
                <a:ea typeface="맑은 고딕" panose="020B0503020000020004" pitchFamily="50" charset="-127"/>
                <a:cs typeface="+mj-cs"/>
              </a:rPr>
              <a:t> _ I-MR Control Chart</a:t>
            </a:r>
            <a:endParaRPr kumimoji="0" lang="ko-KR" altLang="en-US" sz="2000" b="1" dirty="0">
              <a:latin typeface="arial" pitchFamily="34" charset="0"/>
              <a:ea typeface="맑은 고딕" panose="020B0503020000020004" pitchFamily="50" charset="-127"/>
              <a:cs typeface="+mj-cs"/>
            </a:endParaRPr>
          </a:p>
        </p:txBody>
      </p:sp>
    </p:spTree>
    <p:extLst>
      <p:ext uri="{BB962C8B-B14F-4D97-AF65-F5344CB8AC3E}">
        <p14:creationId xmlns:p14="http://schemas.microsoft.com/office/powerpoint/2010/main" val="1602726572"/>
      </p:ext>
    </p:extLst>
  </p:cSld>
  <p:clrMapOvr>
    <a:masterClrMapping/>
  </p:clrMapOvr>
  <p:transition/>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639888" y="1484313"/>
            <a:ext cx="6265862" cy="417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60" name="TextBox 1"/>
          <p:cNvSpPr txBox="1">
            <a:spLocks noChangeArrowheads="1"/>
          </p:cNvSpPr>
          <p:nvPr/>
        </p:nvSpPr>
        <p:spPr bwMode="auto">
          <a:xfrm>
            <a:off x="1630363" y="949325"/>
            <a:ext cx="6322565" cy="41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600" b="1" dirty="0" err="1">
                <a:latin typeface="arial" pitchFamily="34" charset="0"/>
                <a:ea typeface="맑은 고딕" pitchFamily="50" charset="-127"/>
              </a:rPr>
              <a:t>Kết</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luận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Quá</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trình</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này</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đang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được</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duy</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trì</a:t>
            </a:r>
            <a:r>
              <a:rPr lang="en-US" altLang="ko-KR" sz="1600" b="1" dirty="0">
                <a:latin typeface="arial" pitchFamily="34" charset="0"/>
                <a:ea typeface="맑은 고딕" pitchFamily="50" charset="-127"/>
              </a:rPr>
              <a:t> ở </a:t>
            </a:r>
            <a:r>
              <a:rPr lang="en-US" altLang="ko-KR" sz="1600" b="1" dirty="0" err="1">
                <a:latin typeface="arial" pitchFamily="34" charset="0"/>
                <a:ea typeface="맑은 고딕" pitchFamily="50" charset="-127"/>
              </a:rPr>
              <a:t>trạng</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thái</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ổn</a:t>
            </a:r>
            <a:r>
              <a:rPr lang="en-US" altLang="ko-KR" sz="1600" b="1" dirty="0">
                <a:latin typeface="arial" pitchFamily="34" charset="0"/>
                <a:ea typeface="맑은 고딕" pitchFamily="50" charset="-127"/>
              </a:rPr>
              <a:t> </a:t>
            </a:r>
            <a:r>
              <a:rPr lang="en-US" altLang="ko-KR" sz="1600" b="1" dirty="0" err="1">
                <a:latin typeface="arial" pitchFamily="34" charset="0"/>
                <a:ea typeface="맑은 고딕" pitchFamily="50" charset="-127"/>
              </a:rPr>
              <a:t>định</a:t>
            </a:r>
            <a:r>
              <a:rPr lang="en-US" altLang="ko-KR" sz="1600" b="1" dirty="0">
                <a:latin typeface="arial" pitchFamily="34" charset="0"/>
                <a:ea typeface="맑은 고딕" pitchFamily="50" charset="-127"/>
              </a:rPr>
              <a:t>.</a:t>
            </a:r>
            <a:endParaRPr lang="ko-KR" altLang="en-US" sz="16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283</a:t>
            </a:fld>
            <a:endParaRPr lang="ko-KR" altLang="en-US" dirty="0"/>
          </a:p>
        </p:txBody>
      </p:sp>
      <p:sp>
        <p:nvSpPr>
          <p:cNvPr id="7" name="제목 8"/>
          <p:cNvSpPr txBox="1">
            <a:spLocks/>
          </p:cNvSpPr>
          <p:nvPr/>
        </p:nvSpPr>
        <p:spPr bwMode="auto">
          <a:xfrm>
            <a:off x="195263" y="188913"/>
            <a:ext cx="8813800" cy="488950"/>
          </a:xfrm>
          <a:prstGeom prst="rect">
            <a:avLst/>
          </a:prstGeom>
        </p:spPr>
        <p:txBody>
          <a:bodyPr/>
          <a:lstStyle/>
          <a:p>
            <a:pPr>
              <a:defRPr/>
            </a:pPr>
            <a:r>
              <a:rPr kumimoji="0" lang="en-US" altLang="ko-KR" sz="2000" b="1" dirty="0">
                <a:latin typeface="arial" pitchFamily="34" charset="0"/>
                <a:ea typeface="맑은 고딕" panose="020B0503020000020004" pitchFamily="50" charset="-127"/>
                <a:cs typeface="+mj-cs"/>
              </a:rPr>
              <a:t>7. </a:t>
            </a:r>
            <a:r>
              <a:rPr kumimoji="0" lang="en-US" altLang="ko-KR" sz="2000" b="1" dirty="0" err="1">
                <a:latin typeface="arial" pitchFamily="34" charset="0"/>
                <a:ea typeface="맑은 고딕" panose="020B0503020000020004" pitchFamily="50" charset="-127"/>
                <a:cs typeface="+mj-cs"/>
              </a:rPr>
              <a:t>Thực</a:t>
            </a:r>
            <a:r>
              <a:rPr kumimoji="0" lang="en-US" altLang="ko-KR" sz="2000" b="1" dirty="0">
                <a:latin typeface="arial" pitchFamily="34" charset="0"/>
                <a:ea typeface="맑은 고딕" panose="020B0503020000020004" pitchFamily="50" charset="-127"/>
                <a:cs typeface="+mj-cs"/>
              </a:rPr>
              <a:t> </a:t>
            </a:r>
            <a:r>
              <a:rPr kumimoji="0" lang="en-US" altLang="ko-KR" sz="2000" b="1" dirty="0" err="1">
                <a:latin typeface="arial" pitchFamily="34" charset="0"/>
                <a:ea typeface="맑은 고딕" panose="020B0503020000020004" pitchFamily="50" charset="-127"/>
                <a:cs typeface="+mj-cs"/>
              </a:rPr>
              <a:t>hành</a:t>
            </a:r>
            <a:r>
              <a:rPr kumimoji="0" lang="en-US" altLang="ko-KR" sz="2000" b="1" dirty="0">
                <a:latin typeface="arial" pitchFamily="34" charset="0"/>
                <a:ea typeface="맑은 고딕" panose="020B0503020000020004" pitchFamily="50" charset="-127"/>
                <a:cs typeface="+mj-cs"/>
              </a:rPr>
              <a:t> _ I-MR Control Chart</a:t>
            </a:r>
            <a:endParaRPr kumimoji="0" lang="ko-KR" altLang="en-US" sz="2000" b="1" dirty="0">
              <a:latin typeface="arial" pitchFamily="34" charset="0"/>
              <a:ea typeface="맑은 고딕" panose="020B0503020000020004" pitchFamily="50" charset="-127"/>
              <a:cs typeface="+mj-cs"/>
            </a:endParaRPr>
          </a:p>
        </p:txBody>
      </p:sp>
    </p:spTree>
    <p:extLst>
      <p:ext uri="{BB962C8B-B14F-4D97-AF65-F5344CB8AC3E}">
        <p14:creationId xmlns:p14="http://schemas.microsoft.com/office/powerpoint/2010/main" val="2154987697"/>
      </p:ext>
    </p:extLst>
  </p:cSld>
  <p:clrMapOvr>
    <a:masterClrMapping/>
  </p:clrMapOvr>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3" name="Rectangle 3"/>
          <p:cNvSpPr>
            <a:spLocks noChangeArrowheads="1"/>
          </p:cNvSpPr>
          <p:nvPr/>
        </p:nvSpPr>
        <p:spPr bwMode="auto">
          <a:xfrm>
            <a:off x="578421" y="836712"/>
            <a:ext cx="8749158" cy="1708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latinLnBrk="0">
              <a:lnSpc>
                <a:spcPct val="150000"/>
              </a:lnSpc>
            </a:pPr>
            <a:r>
              <a:rPr kumimoji="0" lang="vi-VN" altLang="ko-KR" sz="1400" b="1" dirty="0">
                <a:latin typeface="arial" pitchFamily="34" charset="0"/>
                <a:ea typeface="맑은 고딕" pitchFamily="50" charset="-127"/>
              </a:rPr>
              <a:t>Một hiệp hội nha sĩ trong khu vực đã phát hiện ra rằng n</a:t>
            </a:r>
            <a:r>
              <a:rPr kumimoji="0" lang="en-US" altLang="ko-KR" sz="1400" b="1" dirty="0" err="1">
                <a:latin typeface="arial" pitchFamily="34" charset="0"/>
                <a:ea typeface="맑은 고딕" pitchFamily="50" charset="-127"/>
              </a:rPr>
              <a:t>guyên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nhân</a:t>
            </a:r>
            <a:r>
              <a:rPr kumimoji="0" lang="vi-VN" altLang="ko-KR" sz="1400" b="1" dirty="0">
                <a:latin typeface="arial" pitchFamily="34" charset="0"/>
                <a:ea typeface="맑은 고딕" pitchFamily="50" charset="-127"/>
              </a:rPr>
              <a:t> chính </a:t>
            </a:r>
            <a:r>
              <a:rPr kumimoji="0" lang="en-US" altLang="ko-KR" sz="1400" b="1" dirty="0" err="1">
                <a:latin typeface="arial" pitchFamily="34" charset="0"/>
                <a:ea typeface="맑은 고딕" pitchFamily="50" charset="-127"/>
              </a:rPr>
              <a:t>dẫn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tới</a:t>
            </a:r>
            <a:r>
              <a:rPr kumimoji="0" lang="vi-VN" altLang="ko-KR" sz="1400" b="1" dirty="0">
                <a:latin typeface="arial" pitchFamily="34" charset="0"/>
                <a:ea typeface="맑은 고딕" pitchFamily="50" charset="-127"/>
              </a:rPr>
              <a:t> khiếu nại của khách hàng là thái độ </a:t>
            </a:r>
            <a:r>
              <a:rPr kumimoji="0" lang="en-US" altLang="ko-KR" sz="1400" b="1" dirty="0" err="1">
                <a:latin typeface="arial" pitchFamily="34" charset="0"/>
                <a:ea typeface="맑은 고딕" pitchFamily="50" charset="-127"/>
              </a:rPr>
              <a:t>bất</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lịch</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sự</a:t>
            </a:r>
            <a:r>
              <a:rPr kumimoji="0" lang="vi-VN" altLang="ko-KR" sz="1400" b="1" dirty="0">
                <a:latin typeface="arial" pitchFamily="34" charset="0"/>
                <a:ea typeface="맑은 고딕" pitchFamily="50" charset="-127"/>
              </a:rPr>
              <a:t> của </a:t>
            </a:r>
            <a:r>
              <a:rPr kumimoji="0" lang="en-US" altLang="ko-KR" sz="1400" b="1" dirty="0" err="1">
                <a:latin typeface="arial" pitchFamily="34" charset="0"/>
                <a:ea typeface="맑은 고딕" pitchFamily="50" charset="-127"/>
              </a:rPr>
              <a:t>nhân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viên</a:t>
            </a:r>
            <a:r>
              <a:rPr kumimoji="0" lang="vi-VN" altLang="ko-KR" sz="1400" b="1" dirty="0">
                <a:latin typeface="arial" pitchFamily="34" charset="0"/>
                <a:ea typeface="맑은 고딕" pitchFamily="50" charset="-127"/>
              </a:rPr>
              <a:t>. Vì vậy, các </a:t>
            </a:r>
            <a:r>
              <a:rPr kumimoji="0" lang="en-US" altLang="ko-KR" sz="1400" b="1" dirty="0" err="1">
                <a:latin typeface="arial" pitchFamily="34" charset="0"/>
                <a:ea typeface="맑은 고딕" pitchFamily="50" charset="-127"/>
              </a:rPr>
              <a:t>nhóm</a:t>
            </a:r>
            <a:r>
              <a:rPr kumimoji="0" lang="vi-VN" altLang="ko-KR" sz="1400" b="1" dirty="0">
                <a:latin typeface="arial" pitchFamily="34" charset="0"/>
                <a:ea typeface="맑은 고딕" pitchFamily="50" charset="-127"/>
              </a:rPr>
              <a:t> </a:t>
            </a:r>
            <a:r>
              <a:rPr kumimoji="0" lang="en-US" altLang="ko-KR" sz="1400" b="1" dirty="0">
                <a:latin typeface="arial" pitchFamily="34" charset="0"/>
                <a:ea typeface="맑은 고딕" pitchFamily="50" charset="-127"/>
              </a:rPr>
              <a:t>c</a:t>
            </a:r>
            <a:r>
              <a:rPr kumimoji="0" lang="vi-VN" altLang="ko-KR" sz="1400" b="1" dirty="0">
                <a:latin typeface="arial" pitchFamily="34" charset="0"/>
                <a:ea typeface="맑은 고딕" pitchFamily="50" charset="-127"/>
              </a:rPr>
              <a:t>ải</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tiến</a:t>
            </a:r>
            <a:r>
              <a:rPr kumimoji="0" lang="vi-VN" altLang="ko-KR" sz="1400" b="1" dirty="0">
                <a:latin typeface="arial" pitchFamily="34" charset="0"/>
                <a:ea typeface="맑은 고딕" pitchFamily="50" charset="-127"/>
              </a:rPr>
              <a:t> của hiệp hội đã bắt đầu một chương trình giáo dục phục vụ khách hàng trong tháng để cải thiện </a:t>
            </a:r>
            <a:r>
              <a:rPr kumimoji="0" lang="en-US" altLang="ko-KR" sz="1400" b="1" dirty="0" err="1">
                <a:latin typeface="arial" pitchFamily="34" charset="0"/>
                <a:ea typeface="맑은 고딕" pitchFamily="50" charset="-127"/>
              </a:rPr>
              <a:t>hình</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ảnh</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của</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nhân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viên</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trong</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mắt</a:t>
            </a:r>
            <a:r>
              <a:rPr kumimoji="0" lang="vi-VN" altLang="ko-KR" sz="1400" b="1" dirty="0">
                <a:latin typeface="arial" pitchFamily="34" charset="0"/>
                <a:ea typeface="맑은 고딕" pitchFamily="50" charset="-127"/>
              </a:rPr>
              <a:t> khách hàng. Sau khi chương trình kết thúc, Hiệp hội đã bắt đầu</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những</a:t>
            </a:r>
            <a:r>
              <a:rPr kumimoji="0" lang="vi-VN" altLang="ko-KR" sz="1400" b="1" dirty="0">
                <a:latin typeface="arial" pitchFamily="34" charset="0"/>
                <a:ea typeface="맑은 고딕" pitchFamily="50" charset="-127"/>
              </a:rPr>
              <a:t> cuộc điều tra hàng tháng</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về</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khiếu</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nại</a:t>
            </a:r>
            <a:r>
              <a:rPr kumimoji="0" lang="en-US" altLang="ko-KR" sz="1400" b="1" dirty="0">
                <a:latin typeface="arial" pitchFamily="34" charset="0"/>
                <a:ea typeface="맑은 고딕" pitchFamily="50" charset="-127"/>
              </a:rPr>
              <a:t> </a:t>
            </a:r>
            <a:r>
              <a:rPr kumimoji="0" lang="en-US" altLang="ko-KR" sz="1400" b="1" dirty="0" err="1">
                <a:latin typeface="arial" pitchFamily="34" charset="0"/>
                <a:ea typeface="맑은 고딕" pitchFamily="50" charset="-127"/>
              </a:rPr>
              <a:t>từ</a:t>
            </a:r>
            <a:r>
              <a:rPr kumimoji="0" lang="vi-VN" altLang="ko-KR" sz="1400" b="1" dirty="0">
                <a:latin typeface="arial" pitchFamily="34" charset="0"/>
                <a:ea typeface="맑은 고딕" pitchFamily="50" charset="-127"/>
              </a:rPr>
              <a:t> khách hàng.</a:t>
            </a:r>
            <a:endParaRPr kumimoji="0" lang="en-US" altLang="ko-KR" sz="1400" b="1" dirty="0">
              <a:latin typeface="arial" pitchFamily="34" charset="0"/>
              <a:ea typeface="맑은 고딕" pitchFamily="50" charset="-127"/>
            </a:endParaRPr>
          </a:p>
        </p:txBody>
      </p:sp>
      <p:sp>
        <p:nvSpPr>
          <p:cNvPr id="46084" name="Rectangle 70"/>
          <p:cNvSpPr>
            <a:spLocks noChangeArrowheads="1"/>
          </p:cNvSpPr>
          <p:nvPr/>
        </p:nvSpPr>
        <p:spPr bwMode="auto">
          <a:xfrm>
            <a:off x="2875615" y="2713881"/>
            <a:ext cx="16353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cmpd="tri"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50000"/>
              </a:lnSpc>
            </a:pPr>
            <a:r>
              <a:rPr kumimoji="0" lang="en-US" altLang="ko-KR" sz="1200" b="1" dirty="0" err="1">
                <a:latin typeface="arial" pitchFamily="34" charset="0"/>
                <a:ea typeface="맑은 고딕" pitchFamily="50" charset="-127"/>
              </a:rPr>
              <a:t>Dữ</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liệu</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hàng</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tháng</a:t>
            </a:r>
            <a:endParaRPr kumimoji="0" lang="en-US" altLang="ko-KR" sz="1200" b="1" dirty="0">
              <a:latin typeface="arial" pitchFamily="34" charset="0"/>
              <a:ea typeface="맑은 고딕" pitchFamily="50" charset="-127"/>
            </a:endParaRPr>
          </a:p>
        </p:txBody>
      </p:sp>
      <p:sp>
        <p:nvSpPr>
          <p:cNvPr id="7" name="제목 8"/>
          <p:cNvSpPr txBox="1">
            <a:spLocks/>
          </p:cNvSpPr>
          <p:nvPr/>
        </p:nvSpPr>
        <p:spPr bwMode="auto">
          <a:xfrm>
            <a:off x="195263" y="188913"/>
            <a:ext cx="8813800" cy="488950"/>
          </a:xfrm>
          <a:prstGeom prst="rect">
            <a:avLst/>
          </a:prstGeom>
        </p:spPr>
        <p:txBody>
          <a:bodyPr/>
          <a:lstStyle/>
          <a:p>
            <a:pPr>
              <a:defRPr/>
            </a:pPr>
            <a:r>
              <a:rPr kumimoji="0" lang="en-US" altLang="ko-KR" sz="2000" b="1" dirty="0">
                <a:latin typeface="arial" pitchFamily="34" charset="0"/>
                <a:ea typeface="맑은 고딕" panose="020B0503020000020004" pitchFamily="50" charset="-127"/>
                <a:cs typeface="+mj-cs"/>
              </a:rPr>
              <a:t>7. </a:t>
            </a:r>
            <a:r>
              <a:rPr kumimoji="0" lang="en-US" altLang="ko-KR" sz="2000" b="1" dirty="0" err="1">
                <a:latin typeface="arial" pitchFamily="34" charset="0"/>
                <a:ea typeface="맑은 고딕" panose="020B0503020000020004" pitchFamily="50" charset="-127"/>
                <a:cs typeface="+mj-cs"/>
              </a:rPr>
              <a:t>Thực</a:t>
            </a:r>
            <a:r>
              <a:rPr kumimoji="0" lang="en-US" altLang="ko-KR" sz="2000" b="1" dirty="0">
                <a:latin typeface="arial" pitchFamily="34" charset="0"/>
                <a:ea typeface="맑은 고딕" panose="020B0503020000020004" pitchFamily="50" charset="-127"/>
                <a:cs typeface="+mj-cs"/>
              </a:rPr>
              <a:t> </a:t>
            </a:r>
            <a:r>
              <a:rPr kumimoji="0" lang="en-US" altLang="ko-KR" sz="2000" b="1" dirty="0" err="1">
                <a:latin typeface="arial" pitchFamily="34" charset="0"/>
                <a:ea typeface="맑은 고딕" panose="020B0503020000020004" pitchFamily="50" charset="-127"/>
                <a:cs typeface="+mj-cs"/>
              </a:rPr>
              <a:t>hành</a:t>
            </a:r>
            <a:r>
              <a:rPr kumimoji="0" lang="ko-KR" altLang="en-US" sz="2000" b="1" dirty="0">
                <a:latin typeface="arial" pitchFamily="34" charset="0"/>
                <a:ea typeface="맑은 고딕" panose="020B0503020000020004" pitchFamily="50" charset="-127"/>
                <a:cs typeface="+mj-cs"/>
              </a:rPr>
              <a:t> </a:t>
            </a:r>
            <a:r>
              <a:rPr kumimoji="0" lang="en-US" altLang="ko-KR" sz="2000" b="1" dirty="0">
                <a:latin typeface="arial" pitchFamily="34" charset="0"/>
                <a:ea typeface="맑은 고딕" panose="020B0503020000020004" pitchFamily="50" charset="-127"/>
                <a:cs typeface="+mj-cs"/>
              </a:rPr>
              <a:t>_ P Control Chart</a:t>
            </a:r>
            <a:endParaRPr kumimoji="0" lang="ko-KR" altLang="en-US" sz="2000" b="1" dirty="0">
              <a:latin typeface="arial" pitchFamily="34" charset="0"/>
              <a:ea typeface="맑은 고딕" panose="020B0503020000020004" pitchFamily="50" charset="-127"/>
              <a:cs typeface="+mj-cs"/>
            </a:endParaRPr>
          </a:p>
        </p:txBody>
      </p:sp>
      <p:sp>
        <p:nvSpPr>
          <p:cNvPr id="46086" name="TextBox 7"/>
          <p:cNvSpPr txBox="1">
            <a:spLocks noChangeArrowheads="1"/>
          </p:cNvSpPr>
          <p:nvPr/>
        </p:nvSpPr>
        <p:spPr bwMode="auto">
          <a:xfrm>
            <a:off x="5169024" y="3048551"/>
            <a:ext cx="1800493" cy="307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200" b="1" dirty="0">
                <a:solidFill>
                  <a:srgbClr val="FF0000"/>
                </a:solidFill>
                <a:latin typeface="arial" pitchFamily="34" charset="0"/>
                <a:ea typeface="맑은 고딕" pitchFamily="50" charset="-127"/>
              </a:rPr>
              <a:t>Excel) Control Chart</a:t>
            </a:r>
            <a:r>
              <a:rPr lang="ko-KR" altLang="en-US" sz="1200" b="1" dirty="0">
                <a:solidFill>
                  <a:srgbClr val="FF0000"/>
                </a:solidFill>
                <a:latin typeface="arial" pitchFamily="34" charset="0"/>
                <a:ea typeface="맑은 고딕" pitchFamily="50" charset="-127"/>
              </a:rPr>
              <a:t> </a:t>
            </a:r>
            <a:r>
              <a:rPr lang="en-US" altLang="ko-KR" sz="1200" b="1" dirty="0">
                <a:solidFill>
                  <a:srgbClr val="FF0000"/>
                </a:solidFill>
                <a:latin typeface="arial" pitchFamily="34" charset="0"/>
                <a:ea typeface="맑은 고딕" pitchFamily="50" charset="-127"/>
              </a:rPr>
              <a:t>6</a:t>
            </a:r>
            <a:endParaRPr lang="ko-KR" altLang="en-US" sz="1200" b="1" dirty="0">
              <a:solidFill>
                <a:srgbClr val="FF0000"/>
              </a:solidFill>
              <a:latin typeface="arial" pitchFamily="34" charset="0"/>
              <a:ea typeface="맑은 고딕" pitchFamily="50" charset="-127"/>
            </a:endParaRPr>
          </a:p>
        </p:txBody>
      </p:sp>
      <p:graphicFrame>
        <p:nvGraphicFramePr>
          <p:cNvPr id="3" name="표 2"/>
          <p:cNvGraphicFramePr>
            <a:graphicFrameLocks noGrp="1"/>
          </p:cNvGraphicFramePr>
          <p:nvPr>
            <p:extLst>
              <p:ext uri="{D42A27DB-BD31-4B8C-83A1-F6EECF244321}">
                <p14:modId xmlns:p14="http://schemas.microsoft.com/office/powerpoint/2010/main" val="2667032359"/>
              </p:ext>
            </p:extLst>
          </p:nvPr>
        </p:nvGraphicFramePr>
        <p:xfrm>
          <a:off x="2576513" y="3179018"/>
          <a:ext cx="2400301" cy="3562350"/>
        </p:xfrm>
        <a:graphic>
          <a:graphicData uri="http://schemas.openxmlformats.org/drawingml/2006/table">
            <a:tbl>
              <a:tblPr/>
              <a:tblGrid>
                <a:gridCol w="750490">
                  <a:extLst>
                    <a:ext uri="{9D8B030D-6E8A-4147-A177-3AD203B41FA5}">
                      <a16:colId xmlns:a16="http://schemas.microsoft.com/office/drawing/2014/main" val="20000"/>
                    </a:ext>
                  </a:extLst>
                </a:gridCol>
                <a:gridCol w="823322">
                  <a:extLst>
                    <a:ext uri="{9D8B030D-6E8A-4147-A177-3AD203B41FA5}">
                      <a16:colId xmlns:a16="http://schemas.microsoft.com/office/drawing/2014/main" val="20001"/>
                    </a:ext>
                  </a:extLst>
                </a:gridCol>
                <a:gridCol w="826489">
                  <a:extLst>
                    <a:ext uri="{9D8B030D-6E8A-4147-A177-3AD203B41FA5}">
                      <a16:colId xmlns:a16="http://schemas.microsoft.com/office/drawing/2014/main" val="20002"/>
                    </a:ext>
                  </a:extLst>
                </a:gridCol>
              </a:tblGrid>
              <a:tr h="209550">
                <a:tc>
                  <a:txBody>
                    <a:bodyPr/>
                    <a:lstStyle/>
                    <a:p>
                      <a:pPr algn="ctr" fontAlgn="ctr"/>
                      <a:r>
                        <a:rPr lang="en-US" altLang="ko-KR" sz="1100" b="1" i="0" u="none" strike="noStrike" dirty="0">
                          <a:solidFill>
                            <a:srgbClr val="000000"/>
                          </a:solidFill>
                          <a:effectLst/>
                          <a:latin typeface="arial" pitchFamily="34" charset="0"/>
                        </a:rPr>
                        <a:t>Date</a:t>
                      </a:r>
                      <a:endParaRPr lang="ko-KR" altLang="en-US" sz="1100" b="1" i="0" u="none" strike="noStrike" dirty="0">
                        <a:solidFill>
                          <a:srgbClr val="000000"/>
                        </a:solidFill>
                        <a:effectLst/>
                        <a:latin typeface="arial"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rtl="0" fontAlgn="b"/>
                      <a:r>
                        <a:rPr lang="en-US" sz="1100" b="1" i="0" u="none" strike="noStrike" dirty="0">
                          <a:solidFill>
                            <a:srgbClr val="000000"/>
                          </a:solidFill>
                          <a:effectLst/>
                          <a:latin typeface="arial" pitchFamily="34" charset="0"/>
                        </a:rPr>
                        <a:t>Sample N</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rtl="0" fontAlgn="b"/>
                      <a:r>
                        <a:rPr lang="en-US" sz="1100" b="1" i="0" u="none" strike="noStrike" dirty="0">
                          <a:solidFill>
                            <a:srgbClr val="000000"/>
                          </a:solidFill>
                          <a:effectLst/>
                          <a:latin typeface="arial" pitchFamily="34" charset="0"/>
                        </a:rPr>
                        <a:t>Reject N</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01</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100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30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04</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06</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101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07</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102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26</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08</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103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24</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11</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12</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13</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26</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14</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15</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18</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20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19</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20</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16</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28</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102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29</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209550">
                <a:tc>
                  <a:txBody>
                    <a:bodyPr/>
                    <a:lstStyle/>
                    <a:p>
                      <a:pPr algn="ctr" fontAlgn="ctr"/>
                      <a:r>
                        <a:rPr lang="en-US" altLang="ko-KR" sz="1100" b="0" i="0" u="none" strike="noStrike" dirty="0">
                          <a:solidFill>
                            <a:srgbClr val="000000"/>
                          </a:solidFill>
                          <a:effectLst/>
                          <a:latin typeface="arial" pitchFamily="34" charset="0"/>
                        </a:rPr>
                        <a:t>05</a:t>
                      </a:r>
                      <a:r>
                        <a:rPr lang="ko-KR" altLang="en-US" sz="1100" b="0" i="0" u="none" strike="noStrike" dirty="0">
                          <a:solidFill>
                            <a:srgbClr val="000000"/>
                          </a:solidFill>
                          <a:effectLst/>
                          <a:latin typeface="arial" pitchFamily="34" charset="0"/>
                        </a:rPr>
                        <a:t>월 </a:t>
                      </a:r>
                      <a:r>
                        <a:rPr lang="en-US" altLang="ko-KR" sz="1100" b="0" i="0" u="none" strike="noStrike" dirty="0">
                          <a:solidFill>
                            <a:srgbClr val="000000"/>
                          </a:solidFill>
                          <a:effectLst/>
                          <a:latin typeface="arial" pitchFamily="34" charset="0"/>
                        </a:rPr>
                        <a:t>30</a:t>
                      </a:r>
                      <a:r>
                        <a:rPr lang="ko-KR" altLang="en-US" sz="1100" b="0" i="0" u="none" strike="noStrike" dirty="0">
                          <a:solidFill>
                            <a:srgbClr val="000000"/>
                          </a:solidFill>
                          <a:effectLst/>
                          <a:latin typeface="arial" pitchFamily="34" charset="0"/>
                        </a:rPr>
                        <a:t>일</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97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altLang="ko-KR" sz="1100" b="0" i="0" u="none" strike="noStrike" dirty="0">
                          <a:solidFill>
                            <a:srgbClr val="000000"/>
                          </a:solidFill>
                          <a:effectLst/>
                          <a:latin typeface="arial" pitchFamily="34" charset="0"/>
                        </a:rPr>
                        <a:t>12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bl>
          </a:graphicData>
        </a:graphic>
      </p:graphicFrame>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284</a:t>
            </a:fld>
            <a:endParaRPr lang="ko-KR" altLang="en-US" dirty="0"/>
          </a:p>
        </p:txBody>
      </p:sp>
    </p:spTree>
    <p:extLst>
      <p:ext uri="{BB962C8B-B14F-4D97-AF65-F5344CB8AC3E}">
        <p14:creationId xmlns:p14="http://schemas.microsoft.com/office/powerpoint/2010/main" val="2046625427"/>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428625" y="908050"/>
            <a:ext cx="8970963" cy="652463"/>
          </a:xfrm>
          <a:prstGeom prst="rect">
            <a:avLst/>
          </a:prstGeom>
          <a:noFill/>
        </p:spPr>
        <p:txBody>
          <a:bodyPr>
            <a:spAutoFit/>
          </a:bodyPr>
          <a:lstStyle/>
          <a:p>
            <a:pPr fontAlgn="auto">
              <a:lnSpc>
                <a:spcPct val="130000"/>
              </a:lnSpc>
              <a:spcBef>
                <a:spcPts val="0"/>
              </a:spcBef>
              <a:spcAft>
                <a:spcPts val="0"/>
              </a:spcAft>
              <a:buClr>
                <a:srgbClr val="595959"/>
              </a:buClr>
              <a:buFont typeface="Wingdings" pitchFamily="2" charset="2"/>
              <a:buChar char="u"/>
              <a:defRPr/>
            </a:pPr>
            <a:r>
              <a:rPr kumimoji="0" lang="en-US" altLang="ko-KR" sz="1400" dirty="0">
                <a:latin typeface="arial" pitchFamily="34" charset="0"/>
                <a:ea typeface="맑은 고딕" panose="020B0503020000020004" pitchFamily="50" charset="-127"/>
              </a:rPr>
              <a:t>  </a:t>
            </a:r>
            <a:r>
              <a:rPr kumimoji="0" lang="ko-KR" altLang="en-US" sz="1400" dirty="0">
                <a:latin typeface="arial" pitchFamily="34" charset="0"/>
                <a:ea typeface="맑은 고딕" panose="020B0503020000020004" pitchFamily="50" charset="-127"/>
              </a:rPr>
              <a:t>본문내용</a:t>
            </a:r>
            <a:r>
              <a:rPr kumimoji="0" lang="en-US" altLang="ko-KR" sz="1400" dirty="0">
                <a:latin typeface="arial" pitchFamily="34" charset="0"/>
                <a:ea typeface="맑은 고딕" panose="020B0503020000020004" pitchFamily="50" charset="-127"/>
              </a:rPr>
              <a:t>~~~</a:t>
            </a:r>
          </a:p>
          <a:p>
            <a:pPr marL="534988" indent="-169863" fontAlgn="auto">
              <a:lnSpc>
                <a:spcPct val="130000"/>
              </a:lnSpc>
              <a:spcBef>
                <a:spcPts val="0"/>
              </a:spcBef>
              <a:spcAft>
                <a:spcPts val="0"/>
              </a:spcAft>
              <a:buClr>
                <a:srgbClr val="595959"/>
              </a:buClr>
              <a:buFont typeface="Wingdings" pitchFamily="2" charset="2"/>
              <a:buChar char="§"/>
              <a:defRPr/>
            </a:pPr>
            <a:r>
              <a:rPr kumimoji="0" lang="ko-KR" altLang="en-US" sz="1400" dirty="0">
                <a:latin typeface="arial" pitchFamily="34" charset="0"/>
                <a:ea typeface="맑은 고딕" panose="020B0503020000020004" pitchFamily="50" charset="-127"/>
              </a:rPr>
              <a:t>본문내용</a:t>
            </a:r>
          </a:p>
        </p:txBody>
      </p:sp>
      <p:pic>
        <p:nvPicPr>
          <p:cNvPr id="47108"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325438" y="919163"/>
            <a:ext cx="9177337" cy="521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285</a:t>
            </a:fld>
            <a:endParaRPr lang="ko-KR" altLang="en-US" dirty="0"/>
          </a:p>
        </p:txBody>
      </p:sp>
      <p:sp>
        <p:nvSpPr>
          <p:cNvPr id="7" name="제목 8"/>
          <p:cNvSpPr txBox="1">
            <a:spLocks/>
          </p:cNvSpPr>
          <p:nvPr/>
        </p:nvSpPr>
        <p:spPr bwMode="auto">
          <a:xfrm>
            <a:off x="195263" y="188913"/>
            <a:ext cx="8813800" cy="488950"/>
          </a:xfrm>
          <a:prstGeom prst="rect">
            <a:avLst/>
          </a:prstGeom>
        </p:spPr>
        <p:txBody>
          <a:bodyPr/>
          <a:lstStyle/>
          <a:p>
            <a:pPr>
              <a:defRPr/>
            </a:pPr>
            <a:r>
              <a:rPr kumimoji="0" lang="en-US" altLang="ko-KR" sz="2000" b="1" dirty="0">
                <a:latin typeface="arial" pitchFamily="34" charset="0"/>
                <a:ea typeface="맑은 고딕" panose="020B0503020000020004" pitchFamily="50" charset="-127"/>
                <a:cs typeface="+mj-cs"/>
              </a:rPr>
              <a:t>7. </a:t>
            </a:r>
            <a:r>
              <a:rPr kumimoji="0" lang="en-US" altLang="ko-KR" sz="2000" b="1" dirty="0" err="1">
                <a:latin typeface="arial" pitchFamily="34" charset="0"/>
                <a:ea typeface="맑은 고딕" panose="020B0503020000020004" pitchFamily="50" charset="-127"/>
                <a:cs typeface="+mj-cs"/>
              </a:rPr>
              <a:t>Thực</a:t>
            </a:r>
            <a:r>
              <a:rPr kumimoji="0" lang="en-US" altLang="ko-KR" sz="2000" b="1" dirty="0">
                <a:latin typeface="arial" pitchFamily="34" charset="0"/>
                <a:ea typeface="맑은 고딕" panose="020B0503020000020004" pitchFamily="50" charset="-127"/>
                <a:cs typeface="+mj-cs"/>
              </a:rPr>
              <a:t> </a:t>
            </a:r>
            <a:r>
              <a:rPr kumimoji="0" lang="en-US" altLang="ko-KR" sz="2000" b="1" dirty="0" err="1">
                <a:latin typeface="arial" pitchFamily="34" charset="0"/>
                <a:ea typeface="맑은 고딕" panose="020B0503020000020004" pitchFamily="50" charset="-127"/>
                <a:cs typeface="+mj-cs"/>
              </a:rPr>
              <a:t>hành</a:t>
            </a:r>
            <a:r>
              <a:rPr kumimoji="0" lang="ko-KR" altLang="en-US" sz="2000" b="1" dirty="0">
                <a:latin typeface="arial" pitchFamily="34" charset="0"/>
                <a:ea typeface="맑은 고딕" panose="020B0503020000020004" pitchFamily="50" charset="-127"/>
                <a:cs typeface="+mj-cs"/>
              </a:rPr>
              <a:t> </a:t>
            </a:r>
            <a:r>
              <a:rPr kumimoji="0" lang="en-US" altLang="ko-KR" sz="2000" b="1" dirty="0">
                <a:latin typeface="arial" pitchFamily="34" charset="0"/>
                <a:ea typeface="맑은 고딕" panose="020B0503020000020004" pitchFamily="50" charset="-127"/>
                <a:cs typeface="+mj-cs"/>
              </a:rPr>
              <a:t>_ P Control Chart</a:t>
            </a:r>
            <a:endParaRPr kumimoji="0" lang="ko-KR" altLang="en-US" sz="2000" b="1" dirty="0">
              <a:latin typeface="arial" pitchFamily="34" charset="0"/>
              <a:ea typeface="맑은 고딕" panose="020B0503020000020004" pitchFamily="50" charset="-127"/>
              <a:cs typeface="+mj-cs"/>
            </a:endParaRPr>
          </a:p>
        </p:txBody>
      </p:sp>
    </p:spTree>
    <p:extLst>
      <p:ext uri="{BB962C8B-B14F-4D97-AF65-F5344CB8AC3E}">
        <p14:creationId xmlns:p14="http://schemas.microsoft.com/office/powerpoint/2010/main" val="3081665078"/>
      </p:ext>
    </p:extLst>
  </p:cSld>
  <p:clrMapOvr>
    <a:masterClrMapping/>
  </p:clrMapOvr>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1" name="Picture 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73050" y="1612900"/>
            <a:ext cx="4953000" cy="327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2" name="Picture 3"/>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5457825" y="1412875"/>
            <a:ext cx="4324350" cy="3676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직사각형 7"/>
          <p:cNvSpPr/>
          <p:nvPr/>
        </p:nvSpPr>
        <p:spPr>
          <a:xfrm>
            <a:off x="4089400" y="3741738"/>
            <a:ext cx="1008063" cy="287337"/>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cxnSp>
        <p:nvCxnSpPr>
          <p:cNvPr id="9" name="꺾인 연결선 8"/>
          <p:cNvCxnSpPr/>
          <p:nvPr/>
        </p:nvCxnSpPr>
        <p:spPr>
          <a:xfrm rot="5400000" flipH="1" flipV="1">
            <a:off x="4990307" y="3418681"/>
            <a:ext cx="635000" cy="300037"/>
          </a:xfrm>
          <a:prstGeom prst="bentConnector2">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타원 10"/>
          <p:cNvSpPr/>
          <p:nvPr/>
        </p:nvSpPr>
        <p:spPr>
          <a:xfrm>
            <a:off x="4592638" y="3436938"/>
            <a:ext cx="263525" cy="263525"/>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ko-KR" sz="1200" b="1" dirty="0">
                <a:latin typeface="arial" pitchFamily="34" charset="0"/>
              </a:rPr>
              <a:t>1</a:t>
            </a:r>
            <a:endParaRPr lang="ko-KR" altLang="en-US" sz="1200" b="1" dirty="0">
              <a:latin typeface="arial" pitchFamily="34" charset="0"/>
            </a:endParaRPr>
          </a:p>
        </p:txBody>
      </p:sp>
      <p:sp>
        <p:nvSpPr>
          <p:cNvPr id="12" name="직사각형 11"/>
          <p:cNvSpPr/>
          <p:nvPr/>
        </p:nvSpPr>
        <p:spPr>
          <a:xfrm>
            <a:off x="7185025" y="1700213"/>
            <a:ext cx="360363" cy="28892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latin typeface="arial" pitchFamily="34" charset="0"/>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286</a:t>
            </a:fld>
            <a:endParaRPr lang="ko-KR" altLang="en-US" dirty="0"/>
          </a:p>
        </p:txBody>
      </p:sp>
      <p:sp>
        <p:nvSpPr>
          <p:cNvPr id="13" name="제목 8"/>
          <p:cNvSpPr txBox="1">
            <a:spLocks/>
          </p:cNvSpPr>
          <p:nvPr/>
        </p:nvSpPr>
        <p:spPr bwMode="auto">
          <a:xfrm>
            <a:off x="195263" y="188913"/>
            <a:ext cx="8813800" cy="488950"/>
          </a:xfrm>
          <a:prstGeom prst="rect">
            <a:avLst/>
          </a:prstGeom>
        </p:spPr>
        <p:txBody>
          <a:bodyPr/>
          <a:lstStyle/>
          <a:p>
            <a:pPr>
              <a:defRPr/>
            </a:pPr>
            <a:r>
              <a:rPr kumimoji="0" lang="en-US" altLang="ko-KR" sz="2000" b="1" dirty="0">
                <a:latin typeface="arial" pitchFamily="34" charset="0"/>
                <a:ea typeface="맑은 고딕" panose="020B0503020000020004" pitchFamily="50" charset="-127"/>
                <a:cs typeface="+mj-cs"/>
              </a:rPr>
              <a:t>7. </a:t>
            </a:r>
            <a:r>
              <a:rPr kumimoji="0" lang="en-US" altLang="ko-KR" sz="2000" b="1" dirty="0" err="1">
                <a:latin typeface="arial" pitchFamily="34" charset="0"/>
                <a:ea typeface="맑은 고딕" panose="020B0503020000020004" pitchFamily="50" charset="-127"/>
                <a:cs typeface="+mj-cs"/>
              </a:rPr>
              <a:t>Thực</a:t>
            </a:r>
            <a:r>
              <a:rPr kumimoji="0" lang="en-US" altLang="ko-KR" sz="2000" b="1" dirty="0">
                <a:latin typeface="arial" pitchFamily="34" charset="0"/>
                <a:ea typeface="맑은 고딕" panose="020B0503020000020004" pitchFamily="50" charset="-127"/>
                <a:cs typeface="+mj-cs"/>
              </a:rPr>
              <a:t> </a:t>
            </a:r>
            <a:r>
              <a:rPr kumimoji="0" lang="en-US" altLang="ko-KR" sz="2000" b="1" dirty="0" err="1">
                <a:latin typeface="arial" pitchFamily="34" charset="0"/>
                <a:ea typeface="맑은 고딕" panose="020B0503020000020004" pitchFamily="50" charset="-127"/>
                <a:cs typeface="+mj-cs"/>
              </a:rPr>
              <a:t>hành</a:t>
            </a:r>
            <a:r>
              <a:rPr kumimoji="0" lang="ko-KR" altLang="en-US" sz="2000" b="1" dirty="0">
                <a:latin typeface="arial" pitchFamily="34" charset="0"/>
                <a:ea typeface="맑은 고딕" panose="020B0503020000020004" pitchFamily="50" charset="-127"/>
                <a:cs typeface="+mj-cs"/>
              </a:rPr>
              <a:t> </a:t>
            </a:r>
            <a:r>
              <a:rPr kumimoji="0" lang="en-US" altLang="ko-KR" sz="2000" b="1" dirty="0">
                <a:latin typeface="arial" pitchFamily="34" charset="0"/>
                <a:ea typeface="맑은 고딕" panose="020B0503020000020004" pitchFamily="50" charset="-127"/>
                <a:cs typeface="+mj-cs"/>
              </a:rPr>
              <a:t>_ P Control Chart</a:t>
            </a:r>
            <a:endParaRPr kumimoji="0" lang="ko-KR" altLang="en-US" sz="2000" b="1" dirty="0">
              <a:latin typeface="arial" pitchFamily="34" charset="0"/>
              <a:ea typeface="맑은 고딕" panose="020B0503020000020004" pitchFamily="50" charset="-127"/>
              <a:cs typeface="+mj-cs"/>
            </a:endParaRPr>
          </a:p>
        </p:txBody>
      </p:sp>
    </p:spTree>
    <p:extLst>
      <p:ext uri="{BB962C8B-B14F-4D97-AF65-F5344CB8AC3E}">
        <p14:creationId xmlns:p14="http://schemas.microsoft.com/office/powerpoint/2010/main" val="473283066"/>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860550" y="1941661"/>
            <a:ext cx="6188075" cy="412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56" name="Rectangle 3"/>
          <p:cNvSpPr>
            <a:spLocks noChangeArrowheads="1"/>
          </p:cNvSpPr>
          <p:nvPr/>
        </p:nvSpPr>
        <p:spPr bwMode="auto">
          <a:xfrm>
            <a:off x="1476375" y="6064398"/>
            <a:ext cx="6789738" cy="388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228600" eaLnBrk="0" hangingPunct="0">
              <a:defRPr kumimoji="1">
                <a:solidFill>
                  <a:schemeClr val="tx1"/>
                </a:solidFill>
                <a:latin typeface="굴림" pitchFamily="50" charset="-127"/>
                <a:ea typeface="굴림" pitchFamily="50" charset="-127"/>
              </a:defRPr>
            </a:lvl1pPr>
            <a:lvl2pPr marL="742950" indent="-285750" defTabSz="228600" eaLnBrk="0" hangingPunct="0">
              <a:defRPr kumimoji="1">
                <a:solidFill>
                  <a:schemeClr val="tx1"/>
                </a:solidFill>
                <a:latin typeface="굴림" pitchFamily="50" charset="-127"/>
                <a:ea typeface="굴림" pitchFamily="50" charset="-127"/>
              </a:defRPr>
            </a:lvl2pPr>
            <a:lvl3pPr marL="1143000" indent="-228600" defTabSz="228600" eaLnBrk="0" hangingPunct="0">
              <a:defRPr kumimoji="1">
                <a:solidFill>
                  <a:schemeClr val="tx1"/>
                </a:solidFill>
                <a:latin typeface="굴림" pitchFamily="50" charset="-127"/>
                <a:ea typeface="굴림" pitchFamily="50" charset="-127"/>
              </a:defRPr>
            </a:lvl3pPr>
            <a:lvl4pPr marL="1600200" indent="-228600" defTabSz="228600" eaLnBrk="0" hangingPunct="0">
              <a:defRPr kumimoji="1">
                <a:solidFill>
                  <a:schemeClr val="tx1"/>
                </a:solidFill>
                <a:latin typeface="굴림" pitchFamily="50" charset="-127"/>
                <a:ea typeface="굴림" pitchFamily="50" charset="-127"/>
              </a:defRPr>
            </a:lvl4pPr>
            <a:lvl5pPr marL="2057400" indent="-228600" defTabSz="228600" eaLnBrk="0" hangingPunct="0">
              <a:defRPr kumimoji="1">
                <a:solidFill>
                  <a:schemeClr val="tx1"/>
                </a:solidFill>
                <a:latin typeface="굴림" pitchFamily="50" charset="-127"/>
                <a:ea typeface="굴림" pitchFamily="50" charset="-127"/>
              </a:defRPr>
            </a:lvl5pPr>
            <a:lvl6pPr marL="2514600" indent="-228600" defTabSz="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latinLnBrk="0">
              <a:lnSpc>
                <a:spcPct val="160000"/>
              </a:lnSpc>
              <a:buFontTx/>
              <a:buChar char="•"/>
            </a:pP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Giới</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hạn</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kiểm</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soát</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thay</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đổi</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mỗi</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khi</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kích</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thước</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mẫu</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thay</a:t>
            </a:r>
            <a:r>
              <a:rPr kumimoji="0" lang="en-US" altLang="ko-KR" sz="1200" b="1" dirty="0">
                <a:latin typeface="arial" pitchFamily="34" charset="0"/>
                <a:ea typeface="맑은 고딕" pitchFamily="50" charset="-127"/>
              </a:rPr>
              <a:t> </a:t>
            </a:r>
            <a:r>
              <a:rPr kumimoji="0" lang="en-US" altLang="ko-KR" sz="1200" b="1" dirty="0" err="1">
                <a:latin typeface="arial" pitchFamily="34" charset="0"/>
                <a:ea typeface="맑은 고딕" pitchFamily="50" charset="-127"/>
              </a:rPr>
              <a:t>đổi</a:t>
            </a:r>
            <a:r>
              <a:rPr kumimoji="0" lang="en-US" altLang="ko-KR" sz="1200" b="1" dirty="0">
                <a:latin typeface="arial" pitchFamily="34" charset="0"/>
                <a:ea typeface="맑은 고딕" pitchFamily="50" charset="-127"/>
              </a:rPr>
              <a:t>.</a:t>
            </a:r>
          </a:p>
        </p:txBody>
      </p:sp>
      <p:sp>
        <p:nvSpPr>
          <p:cNvPr id="49157" name="TextBox 6"/>
          <p:cNvSpPr txBox="1">
            <a:spLocks noChangeArrowheads="1"/>
          </p:cNvSpPr>
          <p:nvPr/>
        </p:nvSpPr>
        <p:spPr bwMode="auto">
          <a:xfrm>
            <a:off x="1491482" y="949325"/>
            <a:ext cx="6923037" cy="652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30000"/>
              </a:lnSpc>
              <a:buClr>
                <a:srgbClr val="C5003D"/>
              </a:buClr>
            </a:pPr>
            <a:r>
              <a:rPr lang="en-US" altLang="ko-KR" sz="1400" b="1" dirty="0" err="1">
                <a:latin typeface="arial" pitchFamily="34" charset="0"/>
                <a:ea typeface="맑은 고딕" pitchFamily="50" charset="-127"/>
              </a:rPr>
              <a:t>Kết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luận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Biểu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đồ</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cho</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thấy</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một</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xu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hướng</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giảm</a:t>
            </a:r>
            <a:r>
              <a:rPr lang="en-US" altLang="ko-KR" sz="1400" b="1" dirty="0">
                <a:latin typeface="arial" pitchFamily="34" charset="0"/>
                <a:ea typeface="맑은 고딕" pitchFamily="50" charset="-127"/>
              </a:rPr>
              <a:t>, do </a:t>
            </a:r>
            <a:r>
              <a:rPr lang="en-US" altLang="ko-KR" sz="1400" b="1" dirty="0" err="1">
                <a:latin typeface="arial" pitchFamily="34" charset="0"/>
                <a:ea typeface="맑은 고딕" pitchFamily="50" charset="-127"/>
              </a:rPr>
              <a:t>đó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thể</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coi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đó</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là</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đấu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hiệu</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của</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sự</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cải</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thiện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dần</a:t>
            </a:r>
            <a:r>
              <a:rPr lang="en-US" altLang="ko-KR" sz="1400" b="1" dirty="0">
                <a:latin typeface="arial" pitchFamily="34" charset="0"/>
                <a:ea typeface="맑은 고딕" pitchFamily="50" charset="-127"/>
              </a:rPr>
              <a:t> </a:t>
            </a:r>
            <a:r>
              <a:rPr lang="en-US" altLang="ko-KR" sz="1400" b="1" dirty="0" err="1">
                <a:latin typeface="arial" pitchFamily="34" charset="0"/>
                <a:ea typeface="맑은 고딕" pitchFamily="50" charset="-127"/>
              </a:rPr>
              <a:t>dần</a:t>
            </a:r>
            <a:r>
              <a:rPr lang="en-US" altLang="ko-KR" sz="1400" b="1" dirty="0">
                <a:latin typeface="arial" pitchFamily="34" charset="0"/>
                <a:ea typeface="맑은 고딕" pitchFamily="50" charset="-127"/>
              </a:rPr>
              <a:t>.</a:t>
            </a:r>
            <a:endParaRPr lang="ko-KR" altLang="en-US" sz="1400" b="1" dirty="0">
              <a:latin typeface="arial" pitchFamily="34" charset="0"/>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287</a:t>
            </a:fld>
            <a:endParaRPr lang="ko-KR" altLang="en-US" dirty="0"/>
          </a:p>
        </p:txBody>
      </p:sp>
      <p:sp>
        <p:nvSpPr>
          <p:cNvPr id="8" name="제목 8"/>
          <p:cNvSpPr txBox="1">
            <a:spLocks/>
          </p:cNvSpPr>
          <p:nvPr/>
        </p:nvSpPr>
        <p:spPr bwMode="auto">
          <a:xfrm>
            <a:off x="195263" y="188913"/>
            <a:ext cx="8813800" cy="488950"/>
          </a:xfrm>
          <a:prstGeom prst="rect">
            <a:avLst/>
          </a:prstGeom>
        </p:spPr>
        <p:txBody>
          <a:bodyPr/>
          <a:lstStyle/>
          <a:p>
            <a:pPr>
              <a:defRPr/>
            </a:pPr>
            <a:r>
              <a:rPr kumimoji="0" lang="en-US" altLang="ko-KR" sz="2000" b="1" dirty="0">
                <a:latin typeface="arial" pitchFamily="34" charset="0"/>
                <a:ea typeface="맑은 고딕" panose="020B0503020000020004" pitchFamily="50" charset="-127"/>
                <a:cs typeface="+mj-cs"/>
              </a:rPr>
              <a:t>7. </a:t>
            </a:r>
            <a:r>
              <a:rPr kumimoji="0" lang="en-US" altLang="ko-KR" sz="2000" b="1" dirty="0" err="1">
                <a:latin typeface="arial" pitchFamily="34" charset="0"/>
                <a:ea typeface="맑은 고딕" panose="020B0503020000020004" pitchFamily="50" charset="-127"/>
                <a:cs typeface="+mj-cs"/>
              </a:rPr>
              <a:t>Thực</a:t>
            </a:r>
            <a:r>
              <a:rPr kumimoji="0" lang="en-US" altLang="ko-KR" sz="2000" b="1" dirty="0">
                <a:latin typeface="arial" pitchFamily="34" charset="0"/>
                <a:ea typeface="맑은 고딕" panose="020B0503020000020004" pitchFamily="50" charset="-127"/>
                <a:cs typeface="+mj-cs"/>
              </a:rPr>
              <a:t> </a:t>
            </a:r>
            <a:r>
              <a:rPr kumimoji="0" lang="en-US" altLang="ko-KR" sz="2000" b="1" dirty="0" err="1">
                <a:latin typeface="arial" pitchFamily="34" charset="0"/>
                <a:ea typeface="맑은 고딕" panose="020B0503020000020004" pitchFamily="50" charset="-127"/>
                <a:cs typeface="+mj-cs"/>
              </a:rPr>
              <a:t>hành</a:t>
            </a:r>
            <a:r>
              <a:rPr kumimoji="0" lang="ko-KR" altLang="en-US" sz="2000" b="1" dirty="0">
                <a:latin typeface="arial" pitchFamily="34" charset="0"/>
                <a:ea typeface="맑은 고딕" panose="020B0503020000020004" pitchFamily="50" charset="-127"/>
                <a:cs typeface="+mj-cs"/>
              </a:rPr>
              <a:t> </a:t>
            </a:r>
            <a:r>
              <a:rPr kumimoji="0" lang="en-US" altLang="ko-KR" sz="2000" b="1" dirty="0">
                <a:latin typeface="arial" pitchFamily="34" charset="0"/>
                <a:ea typeface="맑은 고딕" panose="020B0503020000020004" pitchFamily="50" charset="-127"/>
                <a:cs typeface="+mj-cs"/>
              </a:rPr>
              <a:t>_ P Control Chart</a:t>
            </a:r>
            <a:endParaRPr kumimoji="0" lang="ko-KR" altLang="en-US" sz="2000" b="1" dirty="0">
              <a:latin typeface="arial" pitchFamily="34" charset="0"/>
              <a:ea typeface="맑은 고딕" panose="020B0503020000020004" pitchFamily="50" charset="-127"/>
              <a:cs typeface="+mj-cs"/>
            </a:endParaRPr>
          </a:p>
        </p:txBody>
      </p:sp>
    </p:spTree>
    <p:extLst>
      <p:ext uri="{BB962C8B-B14F-4D97-AF65-F5344CB8AC3E}">
        <p14:creationId xmlns:p14="http://schemas.microsoft.com/office/powerpoint/2010/main" val="3050054269"/>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2" name="Picture 2" descr="H:\자료\png모음\arrow01.png"/>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rot="16233311" flipV="1">
            <a:off x="3872707" y="3759894"/>
            <a:ext cx="2578100"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03" name="Rectangle 3"/>
          <p:cNvSpPr>
            <a:spLocks noChangeArrowheads="1"/>
          </p:cNvSpPr>
          <p:nvPr/>
        </p:nvSpPr>
        <p:spPr bwMode="auto">
          <a:xfrm>
            <a:off x="1136650" y="2204938"/>
            <a:ext cx="3429000" cy="3816350"/>
          </a:xfrm>
          <a:prstGeom prst="rect">
            <a:avLst/>
          </a:prstGeom>
          <a:noFill/>
          <a:ln w="28575"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endParaRPr lang="ko-KR" altLang="ko-KR" b="1">
              <a:latin typeface="맑은 고딕" pitchFamily="50" charset="-127"/>
              <a:ea typeface="맑은 고딕" pitchFamily="50" charset="-127"/>
            </a:endParaRPr>
          </a:p>
        </p:txBody>
      </p:sp>
      <p:grpSp>
        <p:nvGrpSpPr>
          <p:cNvPr id="35" name="Group 34"/>
          <p:cNvGrpSpPr/>
          <p:nvPr/>
        </p:nvGrpSpPr>
        <p:grpSpPr>
          <a:xfrm>
            <a:off x="1541463" y="2413992"/>
            <a:ext cx="2728912" cy="2743200"/>
            <a:chOff x="1541463" y="2516088"/>
            <a:chExt cx="2728912" cy="2743200"/>
          </a:xfrm>
        </p:grpSpPr>
        <p:sp>
          <p:nvSpPr>
            <p:cNvPr id="51204" name="Line 4"/>
            <p:cNvSpPr>
              <a:spLocks noChangeShapeType="1"/>
            </p:cNvSpPr>
            <p:nvPr/>
          </p:nvSpPr>
          <p:spPr bwMode="auto">
            <a:xfrm flipV="1">
              <a:off x="2243138" y="2636738"/>
              <a:ext cx="1331912" cy="2520950"/>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endParaRPr lang="ko-KR" altLang="en-US"/>
            </a:p>
          </p:txBody>
        </p:sp>
        <p:sp>
          <p:nvSpPr>
            <p:cNvPr id="51205" name="Freeform 5"/>
            <p:cNvSpPr>
              <a:spLocks/>
            </p:cNvSpPr>
            <p:nvPr/>
          </p:nvSpPr>
          <p:spPr bwMode="auto">
            <a:xfrm>
              <a:off x="1889125" y="4460775"/>
              <a:ext cx="2038350" cy="565150"/>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endParaRPr lang="ko-KR" altLang="en-US"/>
            </a:p>
          </p:txBody>
        </p:sp>
        <p:sp>
          <p:nvSpPr>
            <p:cNvPr id="51206" name="Line 6"/>
            <p:cNvSpPr>
              <a:spLocks noChangeShapeType="1"/>
            </p:cNvSpPr>
            <p:nvPr/>
          </p:nvSpPr>
          <p:spPr bwMode="auto">
            <a:xfrm>
              <a:off x="1636713" y="5025925"/>
              <a:ext cx="242887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51207" name="Freeform 7"/>
            <p:cNvSpPr>
              <a:spLocks/>
            </p:cNvSpPr>
            <p:nvPr/>
          </p:nvSpPr>
          <p:spPr bwMode="auto">
            <a:xfrm>
              <a:off x="2368550" y="2516088"/>
              <a:ext cx="1781175" cy="1069975"/>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2147483647 h 1671"/>
                <a:gd name="T48" fmla="*/ 2147483647 w 2048"/>
                <a:gd name="T49" fmla="*/ 0 h 1671"/>
                <a:gd name="T50" fmla="*/ 2147483647 w 2048"/>
                <a:gd name="T51" fmla="*/ 2147483647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endParaRPr lang="ko-KR" altLang="en-US"/>
            </a:p>
          </p:txBody>
        </p:sp>
        <p:sp>
          <p:nvSpPr>
            <p:cNvPr id="51208" name="Line 8"/>
            <p:cNvSpPr>
              <a:spLocks noChangeShapeType="1"/>
            </p:cNvSpPr>
            <p:nvPr/>
          </p:nvSpPr>
          <p:spPr bwMode="auto">
            <a:xfrm>
              <a:off x="2149475" y="3586063"/>
              <a:ext cx="21209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51209" name="Freeform 9"/>
            <p:cNvSpPr>
              <a:spLocks/>
            </p:cNvSpPr>
            <p:nvPr/>
          </p:nvSpPr>
          <p:spPr bwMode="auto">
            <a:xfrm>
              <a:off x="1735138" y="2897088"/>
              <a:ext cx="1581150" cy="1538287"/>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2147483647 h 1671"/>
                <a:gd name="T48" fmla="*/ 2147483647 w 2048"/>
                <a:gd name="T49" fmla="*/ 0 h 1671"/>
                <a:gd name="T50" fmla="*/ 2147483647 w 2048"/>
                <a:gd name="T51" fmla="*/ 2147483647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endParaRPr lang="ko-KR" altLang="en-US"/>
            </a:p>
          </p:txBody>
        </p:sp>
        <p:sp>
          <p:nvSpPr>
            <p:cNvPr id="51210" name="Line 10"/>
            <p:cNvSpPr>
              <a:spLocks noChangeShapeType="1"/>
            </p:cNvSpPr>
            <p:nvPr/>
          </p:nvSpPr>
          <p:spPr bwMode="auto">
            <a:xfrm>
              <a:off x="1541463" y="4435375"/>
              <a:ext cx="188118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51211" name="Line 11"/>
            <p:cNvSpPr>
              <a:spLocks noChangeShapeType="1"/>
            </p:cNvSpPr>
            <p:nvPr/>
          </p:nvSpPr>
          <p:spPr bwMode="auto">
            <a:xfrm flipV="1">
              <a:off x="3073400" y="2808188"/>
              <a:ext cx="0" cy="7778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endParaRPr lang="ko-KR" altLang="en-US"/>
            </a:p>
          </p:txBody>
        </p:sp>
        <p:sp>
          <p:nvSpPr>
            <p:cNvPr id="51212" name="Line 12"/>
            <p:cNvSpPr>
              <a:spLocks noChangeShapeType="1"/>
            </p:cNvSpPr>
            <p:nvPr/>
          </p:nvSpPr>
          <p:spPr bwMode="auto">
            <a:xfrm flipV="1">
              <a:off x="2601913" y="2995513"/>
              <a:ext cx="0" cy="145732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endParaRPr lang="ko-KR" altLang="en-US"/>
            </a:p>
          </p:txBody>
        </p:sp>
        <p:sp>
          <p:nvSpPr>
            <p:cNvPr id="51213" name="Line 13"/>
            <p:cNvSpPr>
              <a:spLocks noChangeShapeType="1"/>
            </p:cNvSpPr>
            <p:nvPr/>
          </p:nvSpPr>
          <p:spPr bwMode="auto">
            <a:xfrm>
              <a:off x="2365375" y="5259288"/>
              <a:ext cx="454025"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0" tIns="43200" rIns="90000" bIns="43200" anchor="ctr"/>
            <a:lstStyle/>
            <a:p>
              <a:endParaRPr lang="ko-KR" altLang="en-US"/>
            </a:p>
          </p:txBody>
        </p:sp>
      </p:grpSp>
      <p:sp>
        <p:nvSpPr>
          <p:cNvPr id="51214" name="Text Box 14"/>
          <p:cNvSpPr txBox="1">
            <a:spLocks noChangeArrowheads="1"/>
          </p:cNvSpPr>
          <p:nvPr/>
        </p:nvSpPr>
        <p:spPr bwMode="auto">
          <a:xfrm>
            <a:off x="1136651" y="5373216"/>
            <a:ext cx="3429000" cy="604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ctr" hangingPunct="1">
              <a:lnSpc>
                <a:spcPct val="80000"/>
              </a:lnSpc>
              <a:spcBef>
                <a:spcPct val="50000"/>
              </a:spcBef>
            </a:pPr>
            <a:r>
              <a:rPr lang="en-US" altLang="ko-KR" sz="1400" b="1" dirty="0" err="1">
                <a:latin typeface="맑은 고딕" pitchFamily="50" charset="-127"/>
                <a:ea typeface="맑은 고딕" pitchFamily="50" charset="-127"/>
              </a:rPr>
              <a:t>Nguyên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nhân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không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ngẫu</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nhiên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xuất</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hiện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gây</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ra</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biến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động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vượt</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ngoài</a:t>
            </a:r>
            <a:br>
              <a:rPr lang="en-US" altLang="ko-KR" sz="1400" b="1" dirty="0">
                <a:latin typeface="맑은 고딕" pitchFamily="50" charset="-127"/>
                <a:ea typeface="맑은 고딕" pitchFamily="50" charset="-127"/>
              </a:rPr>
            </a:br>
            <a:r>
              <a:rPr lang="en-US" altLang="ko-KR" sz="1400" b="1" dirty="0" err="1">
                <a:latin typeface="맑은 고딕" pitchFamily="50" charset="-127"/>
                <a:ea typeface="맑은 고딕" pitchFamily="50" charset="-127"/>
              </a:rPr>
              <a:t>giới</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hạn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kiểm</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soát</a:t>
            </a:r>
            <a:endParaRPr lang="ko-KR" altLang="en-US" sz="1400" b="1" dirty="0">
              <a:latin typeface="맑은 고딕" pitchFamily="50" charset="-127"/>
              <a:ea typeface="맑은 고딕" pitchFamily="50" charset="-127"/>
            </a:endParaRPr>
          </a:p>
        </p:txBody>
      </p:sp>
      <p:sp>
        <p:nvSpPr>
          <p:cNvPr id="51215" name="Rectangle 15"/>
          <p:cNvSpPr>
            <a:spLocks noChangeArrowheads="1"/>
          </p:cNvSpPr>
          <p:nvPr/>
        </p:nvSpPr>
        <p:spPr bwMode="auto">
          <a:xfrm>
            <a:off x="5600700" y="2204938"/>
            <a:ext cx="3429000" cy="3816350"/>
          </a:xfrm>
          <a:prstGeom prst="rect">
            <a:avLst/>
          </a:prstGeom>
          <a:noFill/>
          <a:ln w="28575"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pPr>
            <a:endParaRPr lang="ko-KR" altLang="ko-KR" b="1">
              <a:latin typeface="맑은 고딕" pitchFamily="50" charset="-127"/>
              <a:ea typeface="맑은 고딕" pitchFamily="50" charset="-127"/>
            </a:endParaRPr>
          </a:p>
        </p:txBody>
      </p:sp>
      <p:grpSp>
        <p:nvGrpSpPr>
          <p:cNvPr id="34" name="Group 33"/>
          <p:cNvGrpSpPr/>
          <p:nvPr/>
        </p:nvGrpSpPr>
        <p:grpSpPr>
          <a:xfrm>
            <a:off x="5813425" y="2639417"/>
            <a:ext cx="2911475" cy="2328862"/>
            <a:chOff x="5813425" y="2741513"/>
            <a:chExt cx="2911475" cy="2328862"/>
          </a:xfrm>
        </p:grpSpPr>
        <p:sp>
          <p:nvSpPr>
            <p:cNvPr id="51217" name="Line 18"/>
            <p:cNvSpPr>
              <a:spLocks noChangeShapeType="1"/>
            </p:cNvSpPr>
            <p:nvPr/>
          </p:nvSpPr>
          <p:spPr bwMode="auto">
            <a:xfrm flipV="1">
              <a:off x="6775450" y="2781200"/>
              <a:ext cx="1160463" cy="22891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endParaRPr lang="ko-KR" altLang="en-US"/>
            </a:p>
          </p:txBody>
        </p:sp>
        <p:sp>
          <p:nvSpPr>
            <p:cNvPr id="51218" name="Freeform 20"/>
            <p:cNvSpPr>
              <a:spLocks/>
            </p:cNvSpPr>
            <p:nvPr/>
          </p:nvSpPr>
          <p:spPr bwMode="auto">
            <a:xfrm>
              <a:off x="6664325" y="2741513"/>
              <a:ext cx="1846263" cy="836612"/>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endParaRPr lang="ko-KR" altLang="en-US"/>
            </a:p>
          </p:txBody>
        </p:sp>
        <p:sp>
          <p:nvSpPr>
            <p:cNvPr id="51219" name="Line 21"/>
            <p:cNvSpPr>
              <a:spLocks noChangeShapeType="1"/>
            </p:cNvSpPr>
            <p:nvPr/>
          </p:nvSpPr>
          <p:spPr bwMode="auto">
            <a:xfrm>
              <a:off x="6526213" y="3578125"/>
              <a:ext cx="2198687"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51220" name="Line 22"/>
            <p:cNvSpPr>
              <a:spLocks noChangeShapeType="1"/>
            </p:cNvSpPr>
            <p:nvPr/>
          </p:nvSpPr>
          <p:spPr bwMode="auto">
            <a:xfrm>
              <a:off x="7561263" y="2795488"/>
              <a:ext cx="0" cy="788987"/>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endParaRPr lang="ko-KR" altLang="en-US"/>
            </a:p>
          </p:txBody>
        </p:sp>
        <p:sp>
          <p:nvSpPr>
            <p:cNvPr id="51221" name="Freeform 24"/>
            <p:cNvSpPr>
              <a:spLocks/>
            </p:cNvSpPr>
            <p:nvPr/>
          </p:nvSpPr>
          <p:spPr bwMode="auto">
            <a:xfrm>
              <a:off x="6296025" y="3417788"/>
              <a:ext cx="1846263" cy="838200"/>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endParaRPr lang="ko-KR" altLang="en-US"/>
            </a:p>
          </p:txBody>
        </p:sp>
        <p:sp>
          <p:nvSpPr>
            <p:cNvPr id="51222" name="Line 25"/>
            <p:cNvSpPr>
              <a:spLocks noChangeShapeType="1"/>
            </p:cNvSpPr>
            <p:nvPr/>
          </p:nvSpPr>
          <p:spPr bwMode="auto">
            <a:xfrm>
              <a:off x="6157913" y="4255988"/>
              <a:ext cx="2198687"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51223" name="Line 26"/>
            <p:cNvSpPr>
              <a:spLocks noChangeShapeType="1"/>
            </p:cNvSpPr>
            <p:nvPr/>
          </p:nvSpPr>
          <p:spPr bwMode="auto">
            <a:xfrm>
              <a:off x="7192963" y="3471763"/>
              <a:ext cx="0" cy="7905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endParaRPr lang="ko-KR" altLang="en-US"/>
            </a:p>
          </p:txBody>
        </p:sp>
        <p:sp>
          <p:nvSpPr>
            <p:cNvPr id="51224" name="Freeform 28"/>
            <p:cNvSpPr>
              <a:spLocks/>
            </p:cNvSpPr>
            <p:nvPr/>
          </p:nvSpPr>
          <p:spPr bwMode="auto">
            <a:xfrm>
              <a:off x="5951538" y="4041675"/>
              <a:ext cx="1846262" cy="836613"/>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endParaRPr lang="ko-KR" altLang="en-US"/>
            </a:p>
          </p:txBody>
        </p:sp>
        <p:sp>
          <p:nvSpPr>
            <p:cNvPr id="51225" name="Line 29"/>
            <p:cNvSpPr>
              <a:spLocks noChangeShapeType="1"/>
            </p:cNvSpPr>
            <p:nvPr/>
          </p:nvSpPr>
          <p:spPr bwMode="auto">
            <a:xfrm>
              <a:off x="5813425" y="4878288"/>
              <a:ext cx="2198688"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ko-KR" altLang="en-US"/>
            </a:p>
          </p:txBody>
        </p:sp>
        <p:sp>
          <p:nvSpPr>
            <p:cNvPr id="51226" name="Line 30"/>
            <p:cNvSpPr>
              <a:spLocks noChangeShapeType="1"/>
            </p:cNvSpPr>
            <p:nvPr/>
          </p:nvSpPr>
          <p:spPr bwMode="auto">
            <a:xfrm>
              <a:off x="6848475" y="4095650"/>
              <a:ext cx="0" cy="788988"/>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endParaRPr lang="ko-KR" altLang="en-US"/>
            </a:p>
          </p:txBody>
        </p:sp>
      </p:grpSp>
      <p:sp>
        <p:nvSpPr>
          <p:cNvPr id="51227" name="Text Box 32"/>
          <p:cNvSpPr txBox="1">
            <a:spLocks noChangeArrowheads="1"/>
          </p:cNvSpPr>
          <p:nvPr/>
        </p:nvSpPr>
        <p:spPr bwMode="auto">
          <a:xfrm>
            <a:off x="4690047" y="3573016"/>
            <a:ext cx="839017" cy="1121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lnSpc>
                <a:spcPct val="80000"/>
              </a:lnSpc>
              <a:spcBef>
                <a:spcPct val="50000"/>
              </a:spcBef>
            </a:pPr>
            <a:r>
              <a:rPr lang="en-US" altLang="ko-KR" sz="1400" b="1" dirty="0" err="1">
                <a:latin typeface="맑은 고딕" pitchFamily="50" charset="-127"/>
                <a:ea typeface="맑은 고딕" pitchFamily="50" charset="-127"/>
              </a:rPr>
              <a:t>Nguyên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nhân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không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ngẫu</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nhiên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bị</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loại</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bỏ</a:t>
            </a:r>
            <a:endParaRPr lang="ko-KR" altLang="en-US" sz="1400" b="1" dirty="0">
              <a:latin typeface="맑은 고딕" pitchFamily="50" charset="-127"/>
              <a:ea typeface="맑은 고딕" pitchFamily="50" charset="-127"/>
            </a:endParaRPr>
          </a:p>
        </p:txBody>
      </p:sp>
      <p:sp>
        <p:nvSpPr>
          <p:cNvPr id="54300" name="Rectangle 66"/>
          <p:cNvSpPr>
            <a:spLocks noChangeArrowheads="1"/>
          </p:cNvSpPr>
          <p:nvPr/>
        </p:nvSpPr>
        <p:spPr bwMode="auto">
          <a:xfrm>
            <a:off x="849313" y="1052513"/>
            <a:ext cx="4185633" cy="350096"/>
          </a:xfrm>
          <a:prstGeom prst="rect">
            <a:avLst/>
          </a:prstGeom>
          <a:solidFill>
            <a:schemeClr val="bg1">
              <a:lumMod val="85000"/>
            </a:schemeClr>
          </a:solidFill>
          <a:ln>
            <a:noFill/>
          </a:ln>
          <a:effectLst/>
        </p:spPr>
        <p:txBody>
          <a:bodyPr wrap="none" lIns="102870" tIns="51435" rIns="102870" bIns="51435">
            <a:spAutoFit/>
          </a:bodyPr>
          <a:lstStyle/>
          <a:p>
            <a:pPr defTabSz="1028700" eaLnBrk="0" latinLnBrk="0" hangingPunct="0">
              <a:defRPr/>
            </a:pPr>
            <a:r>
              <a:rPr kumimoji="0" lang="en-US" altLang="ko-KR" sz="1600" b="1" dirty="0" err="1">
                <a:solidFill>
                  <a:srgbClr val="000000"/>
                </a:solidFill>
                <a:latin typeface="맑은 고딕" panose="020B0503020000020004" pitchFamily="50" charset="-127"/>
                <a:ea typeface="맑은 고딕" panose="020B0503020000020004" pitchFamily="50" charset="-127"/>
              </a:rPr>
              <a:t>Vùng</a:t>
            </a:r>
            <a:r>
              <a:rPr kumimoji="0" lang="en-US" altLang="ko-KR" sz="1600" b="1" dirty="0">
                <a:solidFill>
                  <a:srgbClr val="000000"/>
                </a:solidFill>
                <a:latin typeface="맑은 고딕" panose="020B0503020000020004" pitchFamily="50" charset="-127"/>
                <a:ea typeface="맑은 고딕" panose="020B0503020000020004" pitchFamily="50" charset="-127"/>
              </a:rPr>
              <a:t> </a:t>
            </a:r>
            <a:r>
              <a:rPr kumimoji="0" lang="en-US" altLang="ko-KR" sz="1600" b="1" dirty="0" err="1">
                <a:solidFill>
                  <a:srgbClr val="000000"/>
                </a:solidFill>
                <a:latin typeface="맑은 고딕" panose="020B0503020000020004" pitchFamily="50" charset="-127"/>
                <a:ea typeface="맑은 고딕" panose="020B0503020000020004" pitchFamily="50" charset="-127"/>
              </a:rPr>
              <a:t>phương</a:t>
            </a:r>
            <a:r>
              <a:rPr kumimoji="0" lang="en-US" altLang="ko-KR" sz="1600" b="1" dirty="0">
                <a:solidFill>
                  <a:srgbClr val="000000"/>
                </a:solidFill>
                <a:latin typeface="맑은 고딕" panose="020B0503020000020004" pitchFamily="50" charset="-127"/>
                <a:ea typeface="맑은 고딕" panose="020B0503020000020004" pitchFamily="50" charset="-127"/>
              </a:rPr>
              <a:t> </a:t>
            </a:r>
            <a:r>
              <a:rPr kumimoji="0" lang="en-US" altLang="ko-KR" sz="1600" b="1" dirty="0" err="1">
                <a:solidFill>
                  <a:srgbClr val="000000"/>
                </a:solidFill>
                <a:latin typeface="맑은 고딕" panose="020B0503020000020004" pitchFamily="50" charset="-127"/>
                <a:ea typeface="맑은 고딕" panose="020B0503020000020004" pitchFamily="50" charset="-127"/>
              </a:rPr>
              <a:t>sai</a:t>
            </a:r>
            <a:r>
              <a:rPr kumimoji="0" lang="en-US" altLang="ko-KR" sz="1600" b="1" dirty="0">
                <a:solidFill>
                  <a:srgbClr val="000000"/>
                </a:solidFill>
                <a:latin typeface="맑은 고딕" panose="020B0503020000020004" pitchFamily="50" charset="-127"/>
                <a:ea typeface="맑은 고딕" panose="020B0503020000020004" pitchFamily="50" charset="-127"/>
              </a:rPr>
              <a:t> </a:t>
            </a:r>
            <a:r>
              <a:rPr kumimoji="0" lang="en-US" altLang="ko-KR" sz="1600" b="1" dirty="0" err="1">
                <a:solidFill>
                  <a:srgbClr val="000000"/>
                </a:solidFill>
                <a:latin typeface="맑은 고딕" panose="020B0503020000020004" pitchFamily="50" charset="-127"/>
                <a:ea typeface="맑은 고딕" panose="020B0503020000020004" pitchFamily="50" charset="-127"/>
              </a:rPr>
              <a:t>của</a:t>
            </a:r>
            <a:r>
              <a:rPr kumimoji="0" lang="en-US" altLang="ko-KR" sz="1600" b="1" dirty="0">
                <a:solidFill>
                  <a:srgbClr val="000000"/>
                </a:solidFill>
                <a:latin typeface="맑은 고딕" panose="020B0503020000020004" pitchFamily="50" charset="-127"/>
                <a:ea typeface="맑은 고딕" panose="020B0503020000020004" pitchFamily="50" charset="-127"/>
              </a:rPr>
              <a:t> </a:t>
            </a:r>
            <a:r>
              <a:rPr kumimoji="0" lang="en-US" altLang="ko-KR" sz="1600" b="1" dirty="0" err="1">
                <a:solidFill>
                  <a:srgbClr val="000000"/>
                </a:solidFill>
                <a:latin typeface="맑은 고딕" panose="020B0503020000020004" pitchFamily="50" charset="-127"/>
                <a:ea typeface="맑은 고딕" panose="020B0503020000020004" pitchFamily="50" charset="-127"/>
              </a:rPr>
              <a:t>biểu</a:t>
            </a:r>
            <a:r>
              <a:rPr kumimoji="0" lang="en-US" altLang="ko-KR" sz="1600" b="1" dirty="0">
                <a:solidFill>
                  <a:srgbClr val="000000"/>
                </a:solidFill>
                <a:latin typeface="맑은 고딕" panose="020B0503020000020004" pitchFamily="50" charset="-127"/>
                <a:ea typeface="맑은 고딕" panose="020B0503020000020004" pitchFamily="50" charset="-127"/>
              </a:rPr>
              <a:t> </a:t>
            </a:r>
            <a:r>
              <a:rPr kumimoji="0" lang="en-US" altLang="ko-KR" sz="1600" b="1" dirty="0" err="1">
                <a:solidFill>
                  <a:srgbClr val="000000"/>
                </a:solidFill>
                <a:latin typeface="맑은 고딕" panose="020B0503020000020004" pitchFamily="50" charset="-127"/>
                <a:ea typeface="맑은 고딕" panose="020B0503020000020004" pitchFamily="50" charset="-127"/>
              </a:rPr>
              <a:t>đồ</a:t>
            </a:r>
            <a:r>
              <a:rPr kumimoji="0" lang="en-US" altLang="ko-KR" sz="1600" b="1" dirty="0">
                <a:solidFill>
                  <a:srgbClr val="000000"/>
                </a:solidFill>
                <a:latin typeface="맑은 고딕" panose="020B0503020000020004" pitchFamily="50" charset="-127"/>
                <a:ea typeface="맑은 고딕" panose="020B0503020000020004" pitchFamily="50" charset="-127"/>
              </a:rPr>
              <a:t> </a:t>
            </a:r>
            <a:r>
              <a:rPr kumimoji="0" lang="en-US" altLang="ko-KR" sz="1600" b="1" dirty="0" err="1">
                <a:solidFill>
                  <a:srgbClr val="000000"/>
                </a:solidFill>
                <a:latin typeface="맑은 고딕" panose="020B0503020000020004" pitchFamily="50" charset="-127"/>
                <a:ea typeface="맑은 고딕" panose="020B0503020000020004" pitchFamily="50" charset="-127"/>
              </a:rPr>
              <a:t>kiểm</a:t>
            </a:r>
            <a:r>
              <a:rPr kumimoji="0" lang="en-US" altLang="ko-KR" sz="1600" b="1" dirty="0">
                <a:solidFill>
                  <a:srgbClr val="000000"/>
                </a:solidFill>
                <a:latin typeface="맑은 고딕" panose="020B0503020000020004" pitchFamily="50" charset="-127"/>
                <a:ea typeface="맑은 고딕" panose="020B0503020000020004" pitchFamily="50" charset="-127"/>
              </a:rPr>
              <a:t> </a:t>
            </a:r>
            <a:r>
              <a:rPr kumimoji="0" lang="en-US" altLang="ko-KR" sz="1600" b="1" dirty="0" err="1">
                <a:solidFill>
                  <a:srgbClr val="000000"/>
                </a:solidFill>
                <a:latin typeface="맑은 고딕" panose="020B0503020000020004" pitchFamily="50" charset="-127"/>
                <a:ea typeface="맑은 고딕" panose="020B0503020000020004" pitchFamily="50" charset="-127"/>
              </a:rPr>
              <a:t>soát</a:t>
            </a:r>
            <a:endParaRPr kumimoji="0" lang="ko-KR" altLang="en-US" sz="1600" b="1" dirty="0">
              <a:solidFill>
                <a:srgbClr val="000000"/>
              </a:solidFill>
              <a:latin typeface="맑은 고딕" panose="020B0503020000020004" pitchFamily="50" charset="-127"/>
              <a:ea typeface="맑은 고딕" panose="020B0503020000020004" pitchFamily="50" charset="-127"/>
            </a:endParaRPr>
          </a:p>
        </p:txBody>
      </p:sp>
      <p:sp>
        <p:nvSpPr>
          <p:cNvPr id="51229" name="Rectangle 67"/>
          <p:cNvSpPr>
            <a:spLocks noChangeArrowheads="1"/>
          </p:cNvSpPr>
          <p:nvPr/>
        </p:nvSpPr>
        <p:spPr bwMode="auto">
          <a:xfrm>
            <a:off x="858096" y="1795363"/>
            <a:ext cx="45007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Thống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kê</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bất</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thường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quá</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trình</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không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ổn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định</a:t>
            </a:r>
            <a:r>
              <a:rPr lang="en-US" altLang="ko-KR" sz="1400" b="1" dirty="0">
                <a:latin typeface="맑은 고딕" pitchFamily="50" charset="-127"/>
                <a:ea typeface="맑은 고딕" pitchFamily="50" charset="-127"/>
              </a:rPr>
              <a:t>)</a:t>
            </a:r>
          </a:p>
        </p:txBody>
      </p:sp>
      <p:sp>
        <p:nvSpPr>
          <p:cNvPr id="51230" name="Rectangle 68"/>
          <p:cNvSpPr>
            <a:spLocks noChangeArrowheads="1"/>
          </p:cNvSpPr>
          <p:nvPr/>
        </p:nvSpPr>
        <p:spPr bwMode="auto">
          <a:xfrm>
            <a:off x="5366596" y="1795363"/>
            <a:ext cx="37328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buFont typeface="Wingdings" pitchFamily="2" charset="2"/>
              <a:buChar char="§"/>
            </a:pP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Thống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kê</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kiểm</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soát</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quá</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trình</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ổn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định</a:t>
            </a:r>
            <a:r>
              <a:rPr lang="en-US" altLang="ko-KR" sz="1400" b="1" dirty="0">
                <a:latin typeface="맑은 고딕" pitchFamily="50" charset="-127"/>
                <a:ea typeface="맑은 고딕" pitchFamily="50" charset="-127"/>
              </a:rPr>
              <a:t>)</a:t>
            </a:r>
          </a:p>
        </p:txBody>
      </p:sp>
      <p:sp>
        <p:nvSpPr>
          <p:cNvPr id="31" name="제목 8"/>
          <p:cNvSpPr txBox="1">
            <a:spLocks/>
          </p:cNvSpPr>
          <p:nvPr/>
        </p:nvSpPr>
        <p:spPr bwMode="auto">
          <a:xfrm>
            <a:off x="195263" y="188913"/>
            <a:ext cx="8813800" cy="488950"/>
          </a:xfrm>
          <a:prstGeom prst="rect">
            <a:avLst/>
          </a:prstGeom>
        </p:spPr>
        <p:txBody>
          <a:bodyPr/>
          <a:lstStyle/>
          <a:p>
            <a:pPr>
              <a:defRPr/>
            </a:pPr>
            <a:r>
              <a:rPr kumimoji="0" lang="en-US" altLang="ko-KR" sz="2000" b="1" dirty="0">
                <a:latin typeface="맑은 고딕" panose="020B0503020000020004" pitchFamily="50" charset="-127"/>
                <a:ea typeface="맑은 고딕" panose="020B0503020000020004" pitchFamily="50" charset="-127"/>
                <a:cs typeface="+mj-cs"/>
              </a:rPr>
              <a:t>8. </a:t>
            </a:r>
            <a:r>
              <a:rPr kumimoji="0" lang="en-US" altLang="ko-KR" sz="2000" b="1" dirty="0" err="1">
                <a:latin typeface="맑은 고딕" panose="020B0503020000020004" pitchFamily="50" charset="-127"/>
                <a:ea typeface="맑은 고딕" panose="020B0503020000020004" pitchFamily="50" charset="-127"/>
                <a:cs typeface="+mj-cs"/>
              </a:rPr>
              <a:t>Tổng</a:t>
            </a:r>
            <a:r>
              <a:rPr kumimoji="0" lang="en-US" altLang="ko-KR" sz="2000" b="1" dirty="0">
                <a:latin typeface="맑은 고딕" panose="020B0503020000020004" pitchFamily="50" charset="-127"/>
                <a:ea typeface="맑은 고딕" panose="020B0503020000020004" pitchFamily="50" charset="-127"/>
                <a:cs typeface="+mj-cs"/>
              </a:rPr>
              <a:t> </a:t>
            </a:r>
            <a:r>
              <a:rPr kumimoji="0" lang="en-US" altLang="ko-KR" sz="2000" b="1" dirty="0" err="1">
                <a:latin typeface="맑은 고딕" panose="020B0503020000020004" pitchFamily="50" charset="-127"/>
                <a:ea typeface="맑은 고딕" panose="020B0503020000020004" pitchFamily="50" charset="-127"/>
                <a:cs typeface="+mj-cs"/>
              </a:rPr>
              <a:t>kết</a:t>
            </a:r>
            <a:endParaRPr kumimoji="0" lang="ko-KR" altLang="en-US" sz="2000" b="1" dirty="0">
              <a:latin typeface="맑은 고딕" panose="020B0503020000020004" pitchFamily="50" charset="-127"/>
              <a:ea typeface="맑은 고딕" panose="020B0503020000020004" pitchFamily="50" charset="-127"/>
              <a:cs typeface="+mj-cs"/>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288</a:t>
            </a:fld>
            <a:endParaRPr lang="ko-KR" altLang="en-US" dirty="0"/>
          </a:p>
        </p:txBody>
      </p:sp>
      <p:sp>
        <p:nvSpPr>
          <p:cNvPr id="33" name="Text Box 14"/>
          <p:cNvSpPr txBox="1">
            <a:spLocks noChangeArrowheads="1"/>
          </p:cNvSpPr>
          <p:nvPr/>
        </p:nvSpPr>
        <p:spPr bwMode="auto">
          <a:xfrm>
            <a:off x="5628456" y="5383400"/>
            <a:ext cx="3429000" cy="604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ctr" hangingPunct="1">
              <a:lnSpc>
                <a:spcPct val="80000"/>
              </a:lnSpc>
              <a:spcBef>
                <a:spcPct val="50000"/>
              </a:spcBef>
            </a:pPr>
            <a:r>
              <a:rPr lang="en-US" altLang="ko-KR" sz="1400" b="1" dirty="0" err="1">
                <a:latin typeface="맑은 고딕" pitchFamily="50" charset="-127"/>
                <a:ea typeface="맑은 고딕" pitchFamily="50" charset="-127"/>
              </a:rPr>
              <a:t>Các</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nguyên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nhân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không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ngẫu</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nhiên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gây</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ra</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những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biến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động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nằm</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vượt</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ngoài</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giới</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hạn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kiểm</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soát</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đã</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bị</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loại</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bỏ</a:t>
            </a:r>
            <a:endParaRPr lang="ko-KR" altLang="en-US" sz="1400" b="1" dirty="0">
              <a:latin typeface="맑은 고딕" pitchFamily="50" charset="-127"/>
              <a:ea typeface="맑은 고딕" pitchFamily="50" charset="-127"/>
            </a:endParaRPr>
          </a:p>
        </p:txBody>
      </p:sp>
    </p:spTree>
    <p:extLst>
      <p:ext uri="{BB962C8B-B14F-4D97-AF65-F5344CB8AC3E}">
        <p14:creationId xmlns:p14="http://schemas.microsoft.com/office/powerpoint/2010/main" val="279271113"/>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제목 8"/>
          <p:cNvSpPr>
            <a:spLocks noGrp="1"/>
          </p:cNvSpPr>
          <p:nvPr>
            <p:ph type="title" idx="4294967295"/>
          </p:nvPr>
        </p:nvSpPr>
        <p:spPr bwMode="auto">
          <a:xfrm>
            <a:off x="195263" y="188913"/>
            <a:ext cx="8813800" cy="48895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1" hangingPunct="1"/>
            <a:r>
              <a:rPr lang="en-US" altLang="ko-KR" sz="2000" b="1" dirty="0"/>
              <a:t>8. </a:t>
            </a:r>
            <a:r>
              <a:rPr lang="en-US" altLang="ko-KR" sz="2000" b="1" dirty="0" err="1"/>
              <a:t>Tổng</a:t>
            </a:r>
            <a:r>
              <a:rPr lang="en-US" altLang="ko-KR" sz="2000" b="1" dirty="0"/>
              <a:t> </a:t>
            </a:r>
            <a:r>
              <a:rPr lang="en-US" altLang="ko-KR" sz="2000" b="1" dirty="0" err="1"/>
              <a:t>kết</a:t>
            </a:r>
            <a:endParaRPr lang="ko-KR" altLang="en-US" sz="2000" b="1" dirty="0"/>
          </a:p>
        </p:txBody>
      </p:sp>
      <p:sp>
        <p:nvSpPr>
          <p:cNvPr id="52228" name="Text Box 27"/>
          <p:cNvSpPr txBox="1">
            <a:spLocks noChangeArrowheads="1"/>
          </p:cNvSpPr>
          <p:nvPr/>
        </p:nvSpPr>
        <p:spPr bwMode="auto">
          <a:xfrm>
            <a:off x="523875" y="1341438"/>
            <a:ext cx="766948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spcBef>
                <a:spcPct val="50000"/>
              </a:spcBef>
              <a:buFont typeface="Arial" pitchFamily="34" charset="0"/>
              <a:buChar char="•"/>
            </a:pPr>
            <a:r>
              <a:rPr lang="ko-KR" altLang="en-US"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Kiểm</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soát</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quá</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trình</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không</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chỉ</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tập</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trung</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vào</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kết</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quả</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quá</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trình</a:t>
            </a:r>
            <a:r>
              <a:rPr lang="en-US" altLang="ko-KR" sz="1400" b="1" dirty="0">
                <a:solidFill>
                  <a:srgbClr val="FF0066"/>
                </a:solidFill>
                <a:latin typeface="맑은 고딕" pitchFamily="50" charset="-127"/>
                <a:ea typeface="맑은 고딕" pitchFamily="50" charset="-127"/>
              </a:rPr>
              <a:t> (Y) </a:t>
            </a:r>
            <a:r>
              <a:rPr lang="en-US" altLang="ko-KR" sz="1400" b="1" dirty="0" err="1">
                <a:solidFill>
                  <a:srgbClr val="FF0066"/>
                </a:solidFill>
                <a:latin typeface="맑은 고딕" pitchFamily="50" charset="-127"/>
                <a:ea typeface="맑은 고딕" pitchFamily="50" charset="-127"/>
              </a:rPr>
              <a:t>mà</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còn</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phải</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tập</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trung</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vào</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những</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nguyên</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nhân</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quan</a:t>
            </a:r>
            <a:r>
              <a:rPr lang="en-US" altLang="ko-KR" sz="1400" b="1" dirty="0">
                <a:solidFill>
                  <a:srgbClr val="FF0066"/>
                </a:solidFill>
                <a:latin typeface="맑은 고딕" pitchFamily="50" charset="-127"/>
                <a:ea typeface="맑은 고딕" pitchFamily="50" charset="-127"/>
              </a:rPr>
              <a:t> </a:t>
            </a:r>
            <a:r>
              <a:rPr lang="en-US" altLang="ko-KR" sz="1400" b="1" dirty="0" err="1">
                <a:solidFill>
                  <a:srgbClr val="FF0066"/>
                </a:solidFill>
                <a:latin typeface="맑은 고딕" pitchFamily="50" charset="-127"/>
                <a:ea typeface="맑은 고딕" pitchFamily="50" charset="-127"/>
              </a:rPr>
              <a:t>trọng</a:t>
            </a:r>
            <a:r>
              <a:rPr lang="en-US" altLang="ko-KR" sz="1400" b="1" dirty="0">
                <a:solidFill>
                  <a:srgbClr val="FF0066"/>
                </a:solidFill>
                <a:latin typeface="맑은 고딕" pitchFamily="50" charset="-127"/>
                <a:ea typeface="맑은 고딕" pitchFamily="50" charset="-127"/>
              </a:rPr>
              <a:t> (X’s)</a:t>
            </a:r>
          </a:p>
        </p:txBody>
      </p:sp>
      <p:sp>
        <p:nvSpPr>
          <p:cNvPr id="52229" name="Rectangle 48"/>
          <p:cNvSpPr>
            <a:spLocks noChangeArrowheads="1"/>
          </p:cNvSpPr>
          <p:nvPr/>
        </p:nvSpPr>
        <p:spPr bwMode="auto">
          <a:xfrm>
            <a:off x="912812" y="2239293"/>
            <a:ext cx="2095971" cy="392112"/>
          </a:xfrm>
          <a:prstGeom prst="rect">
            <a:avLst/>
          </a:prstGeom>
          <a:solidFill>
            <a:srgbClr val="0000FF"/>
          </a:solidFill>
          <a:ln w="9525" algn="ctr">
            <a:solidFill>
              <a:srgbClr val="0000FF"/>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FFFF"/>
                </a:solidFill>
                <a:latin typeface="맑은 고딕" pitchFamily="50" charset="-127"/>
                <a:ea typeface="맑은 고딕" pitchFamily="50" charset="-127"/>
              </a:rPr>
              <a:t>Mục</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tiêu</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quá</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trình</a:t>
            </a:r>
            <a:endParaRPr lang="ko-KR" altLang="en-US" sz="1200" b="1" dirty="0">
              <a:solidFill>
                <a:srgbClr val="FFFFFF"/>
              </a:solidFill>
              <a:latin typeface="맑은 고딕" pitchFamily="50" charset="-127"/>
              <a:ea typeface="맑은 고딕" pitchFamily="50" charset="-127"/>
            </a:endParaRPr>
          </a:p>
        </p:txBody>
      </p:sp>
      <p:sp>
        <p:nvSpPr>
          <p:cNvPr id="52230" name="Rectangle 49"/>
          <p:cNvSpPr>
            <a:spLocks noChangeArrowheads="1"/>
          </p:cNvSpPr>
          <p:nvPr/>
        </p:nvSpPr>
        <p:spPr bwMode="auto">
          <a:xfrm>
            <a:off x="3224808" y="2245643"/>
            <a:ext cx="4995862" cy="392112"/>
          </a:xfrm>
          <a:prstGeom prst="rect">
            <a:avLst/>
          </a:prstGeom>
          <a:noFill/>
          <a:ln w="9525" algn="ctr">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000000"/>
                </a:solidFill>
                <a:latin typeface="맑은 고딕" pitchFamily="50" charset="-127"/>
                <a:ea typeface="맑은 고딕" pitchFamily="50" charset="-127"/>
              </a:rPr>
              <a:t>Một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quá</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trình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luôn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cung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cấp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các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sản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phẩm</a:t>
            </a:r>
            <a:r>
              <a:rPr lang="en-US" altLang="ko-KR" sz="1200" b="1" dirty="0">
                <a:solidFill>
                  <a:srgbClr val="000000"/>
                </a:solidFill>
                <a:latin typeface="맑은 고딕" pitchFamily="50" charset="-127"/>
                <a:ea typeface="맑은 고딕" pitchFamily="50" charset="-127"/>
              </a:rPr>
              <a:t>/</a:t>
            </a:r>
            <a:r>
              <a:rPr lang="en-US" altLang="ko-KR" sz="1200" b="1" dirty="0" err="1">
                <a:solidFill>
                  <a:srgbClr val="000000"/>
                </a:solidFill>
                <a:latin typeface="맑은 고딕" pitchFamily="50" charset="-127"/>
                <a:ea typeface="맑은 고딕" pitchFamily="50" charset="-127"/>
              </a:rPr>
              <a:t>dịch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vụ</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phù</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hợp</a:t>
            </a:r>
            <a:endParaRPr lang="ko-KR" altLang="en-US" sz="1200" b="1" dirty="0">
              <a:solidFill>
                <a:srgbClr val="000000"/>
              </a:solidFill>
              <a:latin typeface="맑은 고딕" pitchFamily="50" charset="-127"/>
              <a:ea typeface="맑은 고딕" pitchFamily="50" charset="-127"/>
            </a:endParaRPr>
          </a:p>
        </p:txBody>
      </p:sp>
      <p:sp>
        <p:nvSpPr>
          <p:cNvPr id="52231" name="Rectangle 52"/>
          <p:cNvSpPr>
            <a:spLocks noChangeArrowheads="1"/>
          </p:cNvSpPr>
          <p:nvPr/>
        </p:nvSpPr>
        <p:spPr bwMode="auto">
          <a:xfrm>
            <a:off x="3235920" y="2802855"/>
            <a:ext cx="2241550" cy="390525"/>
          </a:xfrm>
          <a:prstGeom prst="rect">
            <a:avLst/>
          </a:prstGeom>
          <a:solidFill>
            <a:srgbClr val="66CCFF"/>
          </a:solidFill>
          <a:ln w="9525" algn="ctr">
            <a:solidFill>
              <a:srgbClr val="0000FF"/>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000000"/>
                </a:solidFill>
                <a:latin typeface="맑은 고딕" pitchFamily="50" charset="-127"/>
                <a:ea typeface="맑은 고딕" pitchFamily="50" charset="-127"/>
              </a:rPr>
              <a:t>Phương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sai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ngẫu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nhiên</a:t>
            </a:r>
            <a:endParaRPr lang="ko-KR" altLang="en-US" sz="1200" b="1" dirty="0">
              <a:solidFill>
                <a:srgbClr val="000000"/>
              </a:solidFill>
              <a:latin typeface="맑은 고딕" pitchFamily="50" charset="-127"/>
              <a:ea typeface="맑은 고딕" pitchFamily="50" charset="-127"/>
            </a:endParaRPr>
          </a:p>
        </p:txBody>
      </p:sp>
      <p:sp>
        <p:nvSpPr>
          <p:cNvPr id="52232" name="Rectangle 53"/>
          <p:cNvSpPr>
            <a:spLocks noChangeArrowheads="1"/>
          </p:cNvSpPr>
          <p:nvPr/>
        </p:nvSpPr>
        <p:spPr bwMode="auto">
          <a:xfrm>
            <a:off x="5961112" y="2802855"/>
            <a:ext cx="2277021" cy="390525"/>
          </a:xfrm>
          <a:prstGeom prst="rect">
            <a:avLst/>
          </a:prstGeom>
          <a:solidFill>
            <a:srgbClr val="FFCCCC"/>
          </a:solidFill>
          <a:ln w="9525" algn="ctr">
            <a:solidFill>
              <a:srgbClr val="FF0000"/>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000000"/>
                </a:solidFill>
                <a:latin typeface="맑은 고딕" pitchFamily="50" charset="-127"/>
                <a:ea typeface="맑은 고딕" pitchFamily="50" charset="-127"/>
              </a:rPr>
              <a:t>Phương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sai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không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ngẫu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nhiên</a:t>
            </a:r>
            <a:endParaRPr lang="ko-KR" altLang="en-US" sz="1200" b="1" dirty="0">
              <a:solidFill>
                <a:srgbClr val="000000"/>
              </a:solidFill>
              <a:latin typeface="맑은 고딕" pitchFamily="50" charset="-127"/>
              <a:ea typeface="맑은 고딕" pitchFamily="50" charset="-127"/>
            </a:endParaRPr>
          </a:p>
        </p:txBody>
      </p:sp>
      <p:cxnSp>
        <p:nvCxnSpPr>
          <p:cNvPr id="52233" name="AutoShape 54"/>
          <p:cNvCxnSpPr>
            <a:cxnSpLocks noChangeShapeType="1"/>
            <a:stCxn id="52231" idx="3"/>
            <a:endCxn id="52232" idx="1"/>
          </p:cNvCxnSpPr>
          <p:nvPr/>
        </p:nvCxnSpPr>
        <p:spPr bwMode="auto">
          <a:xfrm>
            <a:off x="5477470" y="2998118"/>
            <a:ext cx="483642" cy="0"/>
          </a:xfrm>
          <a:prstGeom prst="straightConnector1">
            <a:avLst/>
          </a:prstGeom>
          <a:noFill/>
          <a:ln w="9525">
            <a:solidFill>
              <a:srgbClr val="0000FF"/>
            </a:solidFill>
            <a:round/>
            <a:headEnd type="triangle" w="med" len="med"/>
            <a:tailEnd type="triangle" w="med" len="med"/>
          </a:ln>
          <a:extLst>
            <a:ext uri="{909E8E84-426E-40DD-AFC4-6F175D3DCCD1}">
              <a14:hiddenFill xmlns:a14="http://schemas.microsoft.com/office/drawing/2010/main">
                <a:noFill/>
              </a14:hiddenFill>
            </a:ext>
          </a:extLst>
        </p:spPr>
      </p:cxnSp>
      <p:sp>
        <p:nvSpPr>
          <p:cNvPr id="52234" name="Rectangle 57"/>
          <p:cNvSpPr>
            <a:spLocks noChangeArrowheads="1"/>
          </p:cNvSpPr>
          <p:nvPr/>
        </p:nvSpPr>
        <p:spPr bwMode="auto">
          <a:xfrm>
            <a:off x="839271" y="3531983"/>
            <a:ext cx="2632024" cy="566738"/>
          </a:xfrm>
          <a:prstGeom prst="rect">
            <a:avLst/>
          </a:prstGeom>
          <a:noFill/>
          <a:ln w="9525" algn="ctr">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0000FF"/>
                </a:solidFill>
                <a:latin typeface="맑은 고딕" pitchFamily="50" charset="-127"/>
                <a:ea typeface="맑은 고딕" pitchFamily="50" charset="-127"/>
              </a:rPr>
              <a:t>Trạng</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thái</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ổn</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định</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của</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quá</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trình</a:t>
            </a:r>
            <a:endParaRPr lang="en-US" altLang="ko-KR" sz="1200" b="1" dirty="0">
              <a:solidFill>
                <a:srgbClr val="0000FF"/>
              </a:solidFill>
              <a:latin typeface="맑은 고딕" pitchFamily="50" charset="-127"/>
              <a:ea typeface="맑은 고딕" pitchFamily="50" charset="-127"/>
            </a:endParaRPr>
          </a:p>
          <a:p>
            <a:pPr algn="ctr" eaLnBrk="1" hangingPunct="1"/>
            <a:r>
              <a:rPr lang="en-US" altLang="ko-KR" sz="1200" b="1" dirty="0">
                <a:solidFill>
                  <a:srgbClr val="0000FF"/>
                </a:solidFill>
                <a:latin typeface="맑은 고딕" pitchFamily="50" charset="-127"/>
                <a:ea typeface="맑은 고딕" pitchFamily="50" charset="-127"/>
              </a:rPr>
              <a:t>(</a:t>
            </a:r>
            <a:r>
              <a:rPr lang="en-US" altLang="ko-KR" sz="1200" b="1" dirty="0" err="1">
                <a:solidFill>
                  <a:srgbClr val="0000FF"/>
                </a:solidFill>
                <a:latin typeface="맑은 고딕" pitchFamily="50" charset="-127"/>
                <a:ea typeface="맑은 고딕" pitchFamily="50" charset="-127"/>
              </a:rPr>
              <a:t>Thống</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kê</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trong</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tầm</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kiểm</a:t>
            </a:r>
            <a:r>
              <a:rPr lang="en-US" altLang="ko-KR" sz="1200" b="1" dirty="0">
                <a:solidFill>
                  <a:srgbClr val="0000FF"/>
                </a:solidFill>
                <a:latin typeface="맑은 고딕" pitchFamily="50" charset="-127"/>
                <a:ea typeface="맑은 고딕" pitchFamily="50" charset="-127"/>
              </a:rPr>
              <a:t> </a:t>
            </a:r>
            <a:r>
              <a:rPr lang="en-US" altLang="ko-KR" sz="1200" b="1" dirty="0" err="1">
                <a:solidFill>
                  <a:srgbClr val="0000FF"/>
                </a:solidFill>
                <a:latin typeface="맑은 고딕" pitchFamily="50" charset="-127"/>
                <a:ea typeface="맑은 고딕" pitchFamily="50" charset="-127"/>
              </a:rPr>
              <a:t>soát</a:t>
            </a:r>
            <a:r>
              <a:rPr lang="en-US" altLang="ko-KR" sz="1200" b="1" dirty="0">
                <a:solidFill>
                  <a:srgbClr val="0000FF"/>
                </a:solidFill>
                <a:latin typeface="맑은 고딕" pitchFamily="50" charset="-127"/>
                <a:ea typeface="맑은 고딕" pitchFamily="50" charset="-127"/>
              </a:rPr>
              <a:t>)</a:t>
            </a:r>
          </a:p>
        </p:txBody>
      </p:sp>
      <p:sp>
        <p:nvSpPr>
          <p:cNvPr id="52235" name="Rectangle 58"/>
          <p:cNvSpPr>
            <a:spLocks noChangeArrowheads="1"/>
          </p:cNvSpPr>
          <p:nvPr/>
        </p:nvSpPr>
        <p:spPr bwMode="auto">
          <a:xfrm>
            <a:off x="3801046" y="3553742"/>
            <a:ext cx="56164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solidFill>
                  <a:srgbClr val="000000"/>
                </a:solidFill>
                <a:latin typeface="맑은 고딕" pitchFamily="50" charset="-127"/>
                <a:ea typeface="맑은 고딕" pitchFamily="50" charset="-127"/>
              </a:rPr>
              <a:t>Trạng</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thái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khi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đã</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loại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bỏ</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các</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nguyên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nhân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không</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ngẫu</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nhiên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chỉ</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giữ</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lại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nguyên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nhân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ngẫu</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nhiên</a:t>
            </a:r>
            <a:r>
              <a:rPr lang="en-US" altLang="ko-KR" sz="1400" b="1" dirty="0">
                <a:solidFill>
                  <a:srgbClr val="000000"/>
                </a:solidFill>
                <a:latin typeface="맑은 고딕" pitchFamily="50" charset="-127"/>
                <a:ea typeface="맑은 고딕" pitchFamily="50" charset="-127"/>
              </a:rPr>
              <a:t>”</a:t>
            </a:r>
            <a:endParaRPr lang="ko-KR" altLang="en-US" sz="1400" b="1" dirty="0">
              <a:solidFill>
                <a:srgbClr val="000000"/>
              </a:solidFill>
              <a:latin typeface="맑은 고딕" pitchFamily="50" charset="-127"/>
              <a:ea typeface="맑은 고딕" pitchFamily="50" charset="-127"/>
            </a:endParaRPr>
          </a:p>
        </p:txBody>
      </p:sp>
      <p:sp>
        <p:nvSpPr>
          <p:cNvPr id="52236" name="Rectangle 59"/>
          <p:cNvSpPr>
            <a:spLocks noChangeArrowheads="1"/>
          </p:cNvSpPr>
          <p:nvPr/>
        </p:nvSpPr>
        <p:spPr bwMode="auto">
          <a:xfrm>
            <a:off x="702858" y="5528146"/>
            <a:ext cx="2904850" cy="565150"/>
          </a:xfrm>
          <a:prstGeom prst="rect">
            <a:avLst/>
          </a:prstGeom>
          <a:noFill/>
          <a:ln w="9525"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0000"/>
                </a:solidFill>
                <a:latin typeface="맑은 고딕" pitchFamily="50" charset="-127"/>
                <a:ea typeface="맑은 고딕" pitchFamily="50" charset="-127"/>
              </a:rPr>
              <a:t>Trạng</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thái</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bất</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thường</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của</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quá</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trình</a:t>
            </a:r>
            <a:endParaRPr lang="ko-KR" altLang="en-US" sz="1200" b="1" dirty="0">
              <a:solidFill>
                <a:srgbClr val="FF0000"/>
              </a:solidFill>
              <a:latin typeface="맑은 고딕" pitchFamily="50" charset="-127"/>
              <a:ea typeface="맑은 고딕" pitchFamily="50" charset="-127"/>
            </a:endParaRPr>
          </a:p>
          <a:p>
            <a:pPr algn="ctr" eaLnBrk="1" hangingPunct="1"/>
            <a:r>
              <a:rPr lang="en-US" altLang="ko-KR" sz="1200" b="1" dirty="0">
                <a:solidFill>
                  <a:srgbClr val="FF0000"/>
                </a:solidFill>
                <a:latin typeface="맑은 고딕" pitchFamily="50" charset="-127"/>
                <a:ea typeface="맑은 고딕" pitchFamily="50" charset="-127"/>
              </a:rPr>
              <a:t>(</a:t>
            </a:r>
            <a:r>
              <a:rPr lang="en-US" altLang="ko-KR" sz="1200" b="1" dirty="0" err="1">
                <a:solidFill>
                  <a:srgbClr val="FF0000"/>
                </a:solidFill>
                <a:latin typeface="맑은 고딕" pitchFamily="50" charset="-127"/>
                <a:ea typeface="맑은 고딕" pitchFamily="50" charset="-127"/>
              </a:rPr>
              <a:t>Thống</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kê</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nằm</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ngoài</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tầm</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kiểm</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soát</a:t>
            </a:r>
            <a:r>
              <a:rPr lang="en-US" altLang="ko-KR" sz="1200" b="1" dirty="0">
                <a:solidFill>
                  <a:srgbClr val="FF0000"/>
                </a:solidFill>
                <a:latin typeface="맑은 고딕" pitchFamily="50" charset="-127"/>
                <a:ea typeface="맑은 고딕" pitchFamily="50" charset="-127"/>
              </a:rPr>
              <a:t>)</a:t>
            </a:r>
          </a:p>
        </p:txBody>
      </p:sp>
      <p:sp>
        <p:nvSpPr>
          <p:cNvPr id="52237" name="Rectangle 60"/>
          <p:cNvSpPr>
            <a:spLocks noChangeArrowheads="1"/>
          </p:cNvSpPr>
          <p:nvPr/>
        </p:nvSpPr>
        <p:spPr bwMode="auto">
          <a:xfrm>
            <a:off x="3801046" y="5549111"/>
            <a:ext cx="51844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400" b="1" dirty="0" err="1">
                <a:solidFill>
                  <a:srgbClr val="000000"/>
                </a:solidFill>
                <a:latin typeface="맑은 고딕" pitchFamily="50" charset="-127"/>
                <a:ea typeface="맑은 고딕" pitchFamily="50" charset="-127"/>
              </a:rPr>
              <a:t>Trạng</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Thái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khi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cả</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nguyên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nhân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ngẫu</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nhiên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và</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nguyên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nhân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không</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ngẫu</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nhiên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cùng</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tồn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tại</a:t>
            </a:r>
            <a:endParaRPr lang="ko-KR" altLang="en-US" sz="1400" b="1" dirty="0">
              <a:solidFill>
                <a:srgbClr val="000000"/>
              </a:solidFill>
              <a:latin typeface="맑은 고딕" pitchFamily="50" charset="-127"/>
              <a:ea typeface="맑은 고딕" pitchFamily="50" charset="-127"/>
            </a:endParaRPr>
          </a:p>
        </p:txBody>
      </p:sp>
      <p:sp>
        <p:nvSpPr>
          <p:cNvPr id="52238" name="AutoShape 61"/>
          <p:cNvSpPr>
            <a:spLocks noChangeArrowheads="1"/>
          </p:cNvSpPr>
          <p:nvPr/>
        </p:nvSpPr>
        <p:spPr bwMode="auto">
          <a:xfrm>
            <a:off x="924177" y="4542315"/>
            <a:ext cx="2462213" cy="625475"/>
          </a:xfrm>
          <a:prstGeom prst="diamond">
            <a:avLst/>
          </a:prstGeom>
          <a:solidFill>
            <a:srgbClr val="0000FF"/>
          </a:solidFill>
          <a:ln w="9525" algn="ctr">
            <a:solidFill>
              <a:srgbClr val="0000FF"/>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FFFF"/>
                </a:solidFill>
                <a:latin typeface="맑은 고딕" pitchFamily="50" charset="-127"/>
                <a:ea typeface="맑은 고딕" pitchFamily="50" charset="-127"/>
              </a:rPr>
              <a:t>Biểu</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đồ</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kiểm</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soát</a:t>
            </a:r>
            <a:endParaRPr lang="ko-KR" altLang="en-US" sz="1200" b="1" dirty="0">
              <a:solidFill>
                <a:srgbClr val="FFFFFF"/>
              </a:solidFill>
              <a:latin typeface="맑은 고딕" pitchFamily="50" charset="-127"/>
              <a:ea typeface="맑은 고딕" pitchFamily="50" charset="-127"/>
            </a:endParaRPr>
          </a:p>
        </p:txBody>
      </p:sp>
      <p:cxnSp>
        <p:nvCxnSpPr>
          <p:cNvPr id="52239" name="AutoShape 63"/>
          <p:cNvCxnSpPr>
            <a:cxnSpLocks noChangeShapeType="1"/>
            <a:stCxn id="52238" idx="0"/>
            <a:endCxn id="52234" idx="2"/>
          </p:cNvCxnSpPr>
          <p:nvPr/>
        </p:nvCxnSpPr>
        <p:spPr bwMode="auto">
          <a:xfrm rot="16200000" flipV="1">
            <a:off x="1933487" y="4320517"/>
            <a:ext cx="443594" cy="1"/>
          </a:xfrm>
          <a:prstGeom prst="bentConnector3">
            <a:avLst>
              <a:gd name="adj1" fmla="val 50000"/>
            </a:avLst>
          </a:prstGeom>
          <a:noFill/>
          <a:ln w="9525">
            <a:solidFill>
              <a:srgbClr val="0000FF"/>
            </a:solidFill>
            <a:miter lim="800000"/>
            <a:headEnd/>
            <a:tailEnd type="triangle" w="med" len="med"/>
          </a:ln>
          <a:extLst>
            <a:ext uri="{909E8E84-426E-40DD-AFC4-6F175D3DCCD1}">
              <a14:hiddenFill xmlns:a14="http://schemas.microsoft.com/office/drawing/2010/main">
                <a:noFill/>
              </a14:hiddenFill>
            </a:ext>
          </a:extLst>
        </p:spPr>
      </p:cxnSp>
      <p:cxnSp>
        <p:nvCxnSpPr>
          <p:cNvPr id="52240" name="AutoShape 64"/>
          <p:cNvCxnSpPr>
            <a:cxnSpLocks noChangeShapeType="1"/>
            <a:stCxn id="52238" idx="2"/>
            <a:endCxn id="52236" idx="0"/>
          </p:cNvCxnSpPr>
          <p:nvPr/>
        </p:nvCxnSpPr>
        <p:spPr bwMode="auto">
          <a:xfrm rot="5400000">
            <a:off x="1975106" y="5347968"/>
            <a:ext cx="360356" cy="1"/>
          </a:xfrm>
          <a:prstGeom prst="bentConnector3">
            <a:avLst>
              <a:gd name="adj1" fmla="val 50000"/>
            </a:avLst>
          </a:prstGeom>
          <a:noFill/>
          <a:ln w="9525">
            <a:solidFill>
              <a:srgbClr val="0000FF"/>
            </a:solidFill>
            <a:miter lim="800000"/>
            <a:headEnd/>
            <a:tailEnd type="triangle" w="med" len="med"/>
          </a:ln>
          <a:extLst>
            <a:ext uri="{909E8E84-426E-40DD-AFC4-6F175D3DCCD1}">
              <a14:hiddenFill xmlns:a14="http://schemas.microsoft.com/office/drawing/2010/main">
                <a:noFill/>
              </a14:hiddenFill>
            </a:ext>
          </a:extLst>
        </p:spPr>
      </p:cxnSp>
      <p:sp>
        <p:nvSpPr>
          <p:cNvPr id="52241" name="Oval 65"/>
          <p:cNvSpPr>
            <a:spLocks noChangeArrowheads="1"/>
          </p:cNvSpPr>
          <p:nvPr/>
        </p:nvSpPr>
        <p:spPr bwMode="auto">
          <a:xfrm>
            <a:off x="3468688" y="4816159"/>
            <a:ext cx="79375" cy="77787"/>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2000">
              <a:solidFill>
                <a:srgbClr val="000000"/>
              </a:solidFill>
              <a:latin typeface="맑은 고딕" pitchFamily="50" charset="-127"/>
              <a:ea typeface="맑은 고딕" pitchFamily="50" charset="-127"/>
            </a:endParaRPr>
          </a:p>
        </p:txBody>
      </p:sp>
      <p:sp>
        <p:nvSpPr>
          <p:cNvPr id="52242" name="Oval 66"/>
          <p:cNvSpPr>
            <a:spLocks noChangeArrowheads="1"/>
          </p:cNvSpPr>
          <p:nvPr/>
        </p:nvSpPr>
        <p:spPr bwMode="auto">
          <a:xfrm>
            <a:off x="3598863" y="4816159"/>
            <a:ext cx="79375" cy="77787"/>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2000">
              <a:solidFill>
                <a:srgbClr val="000000"/>
              </a:solidFill>
              <a:latin typeface="맑은 고딕" pitchFamily="50" charset="-127"/>
              <a:ea typeface="맑은 고딕" pitchFamily="50" charset="-127"/>
            </a:endParaRPr>
          </a:p>
        </p:txBody>
      </p:sp>
      <p:sp>
        <p:nvSpPr>
          <p:cNvPr id="52243" name="Oval 67"/>
          <p:cNvSpPr>
            <a:spLocks noChangeArrowheads="1"/>
          </p:cNvSpPr>
          <p:nvPr/>
        </p:nvSpPr>
        <p:spPr bwMode="auto">
          <a:xfrm>
            <a:off x="3729038" y="4816159"/>
            <a:ext cx="79375" cy="77787"/>
          </a:xfrm>
          <a:prstGeom prst="ellipse">
            <a:avLst/>
          </a:prstGeom>
          <a:solidFill>
            <a:srgbClr val="0000FF"/>
          </a:solidFill>
          <a:ln w="9525" algn="ctr">
            <a:solidFill>
              <a:srgbClr val="0000FF"/>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endParaRPr lang="ko-KR" altLang="en-US" sz="2000">
              <a:solidFill>
                <a:srgbClr val="000000"/>
              </a:solidFill>
              <a:latin typeface="맑은 고딕" pitchFamily="50" charset="-127"/>
              <a:ea typeface="맑은 고딕" pitchFamily="50" charset="-127"/>
            </a:endParaRPr>
          </a:p>
        </p:txBody>
      </p:sp>
      <p:sp>
        <p:nvSpPr>
          <p:cNvPr id="52244" name="Rectangle 68"/>
          <p:cNvSpPr>
            <a:spLocks noChangeArrowheads="1"/>
          </p:cNvSpPr>
          <p:nvPr/>
        </p:nvSpPr>
        <p:spPr bwMode="auto">
          <a:xfrm>
            <a:off x="4140213" y="4270277"/>
            <a:ext cx="4505721"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1400" b="1" dirty="0" err="1">
                <a:solidFill>
                  <a:srgbClr val="0000FF"/>
                </a:solidFill>
                <a:latin typeface="맑은 고딕" pitchFamily="50" charset="-127"/>
                <a:ea typeface="맑은 고딕" pitchFamily="50" charset="-127"/>
              </a:rPr>
              <a:t>Điều</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kiện</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tiên</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quyết</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của</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một</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quá</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trình</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là</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nó</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phải</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có</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năng</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lực</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sản</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xuất</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sản</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phẩm</a:t>
            </a:r>
            <a:r>
              <a:rPr lang="en-US" altLang="ko-KR" sz="1400" b="1" dirty="0">
                <a:solidFill>
                  <a:srgbClr val="0000FF"/>
                </a:solidFill>
                <a:latin typeface="맑은 고딕" pitchFamily="50" charset="-127"/>
                <a:ea typeface="맑은 고딕" pitchFamily="50" charset="-127"/>
              </a:rPr>
              <a:t>/</a:t>
            </a:r>
            <a:r>
              <a:rPr lang="en-US" altLang="ko-KR" sz="1400" b="1" dirty="0" err="1">
                <a:solidFill>
                  <a:srgbClr val="0000FF"/>
                </a:solidFill>
                <a:latin typeface="맑은 고딕" pitchFamily="50" charset="-127"/>
                <a:ea typeface="맑은 고딕" pitchFamily="50" charset="-127"/>
              </a:rPr>
              <a:t>dịch</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vụ</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một</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cách</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liên</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tục</a:t>
            </a:r>
            <a:r>
              <a:rPr lang="en-US" altLang="ko-KR" sz="1400" b="1" dirty="0">
                <a:solidFill>
                  <a:srgbClr val="0000FF"/>
                </a:solidFill>
                <a:latin typeface="맑은 고딕" pitchFamily="50" charset="-127"/>
                <a:ea typeface="맑은 고딕" pitchFamily="50" charset="-127"/>
              </a:rPr>
              <a:t>, do </a:t>
            </a:r>
            <a:r>
              <a:rPr lang="en-US" altLang="ko-KR" sz="1400" b="1" dirty="0" err="1">
                <a:solidFill>
                  <a:srgbClr val="0000FF"/>
                </a:solidFill>
                <a:latin typeface="맑은 고딕" pitchFamily="50" charset="-127"/>
                <a:ea typeface="맑은 고딕" pitchFamily="50" charset="-127"/>
              </a:rPr>
              <a:t>đó</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kích</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thước</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mẫu</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và</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khoảng</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thời</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gian</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lấy</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mẫu</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cần</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được</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xác</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định</a:t>
            </a:r>
            <a:r>
              <a:rPr lang="en-US" altLang="ko-KR" sz="1400" b="1" dirty="0">
                <a:solidFill>
                  <a:srgbClr val="0000FF"/>
                </a:solidFill>
                <a:latin typeface="맑은 고딕" pitchFamily="50" charset="-127"/>
                <a:ea typeface="맑은 고딕" pitchFamily="50" charset="-127"/>
              </a:rPr>
              <a:t> </a:t>
            </a:r>
            <a:r>
              <a:rPr lang="en-US" altLang="ko-KR" sz="1400" b="1" dirty="0" err="1">
                <a:solidFill>
                  <a:srgbClr val="0000FF"/>
                </a:solidFill>
                <a:latin typeface="맑은 고딕" pitchFamily="50" charset="-127"/>
                <a:ea typeface="맑은 고딕" pitchFamily="50" charset="-127"/>
              </a:rPr>
              <a:t>trước</a:t>
            </a:r>
            <a:r>
              <a:rPr lang="en-US" altLang="ko-KR" sz="1400" b="1" dirty="0">
                <a:solidFill>
                  <a:srgbClr val="0000FF"/>
                </a:solidFill>
                <a:latin typeface="맑은 고딕" pitchFamily="50" charset="-127"/>
                <a:ea typeface="맑은 고딕" pitchFamily="50" charset="-127"/>
              </a:rPr>
              <a:t>.</a:t>
            </a:r>
            <a:endParaRPr lang="ko-KR" altLang="en-US" sz="1400" b="1" dirty="0">
              <a:solidFill>
                <a:srgbClr val="0000FF"/>
              </a:solidFill>
              <a:latin typeface="맑은 고딕" pitchFamily="50" charset="-127"/>
              <a:ea typeface="맑은 고딕" pitchFamily="50" charset="-127"/>
            </a:endParaRPr>
          </a:p>
          <a:p>
            <a:pPr eaLnBrk="1" hangingPunct="1"/>
            <a:r>
              <a:rPr lang="en-US" altLang="ko-KR" sz="1400" b="1" dirty="0">
                <a:solidFill>
                  <a:srgbClr val="008000"/>
                </a:solidFill>
                <a:latin typeface="맑은 고딕" pitchFamily="50" charset="-127"/>
                <a:ea typeface="맑은 고딕" pitchFamily="50" charset="-127"/>
              </a:rPr>
              <a:t>: </a:t>
            </a:r>
            <a:r>
              <a:rPr lang="en-US" altLang="ko-KR" sz="1400" b="1" dirty="0" err="1">
                <a:solidFill>
                  <a:srgbClr val="008000"/>
                </a:solidFill>
                <a:latin typeface="맑은 고딕" pitchFamily="50" charset="-127"/>
                <a:ea typeface="맑은 고딕" pitchFamily="50" charset="-127"/>
              </a:rPr>
              <a:t>Nên</a:t>
            </a:r>
            <a:r>
              <a:rPr lang="en-US" altLang="ko-KR" sz="1400" b="1" dirty="0">
                <a:solidFill>
                  <a:srgbClr val="008000"/>
                </a:solidFill>
                <a:latin typeface="맑은 고딕" pitchFamily="50" charset="-127"/>
                <a:ea typeface="맑은 고딕" pitchFamily="50" charset="-127"/>
              </a:rPr>
              <a:t> </a:t>
            </a:r>
            <a:r>
              <a:rPr lang="en-US" altLang="ko-KR" sz="1400" b="1" dirty="0" err="1">
                <a:solidFill>
                  <a:srgbClr val="008000"/>
                </a:solidFill>
                <a:latin typeface="맑은 고딕" pitchFamily="50" charset="-127"/>
                <a:ea typeface="맑은 고딕" pitchFamily="50" charset="-127"/>
              </a:rPr>
              <a:t>sử</a:t>
            </a:r>
            <a:r>
              <a:rPr lang="en-US" altLang="ko-KR" sz="1400" b="1" dirty="0">
                <a:solidFill>
                  <a:srgbClr val="008000"/>
                </a:solidFill>
                <a:latin typeface="맑은 고딕" pitchFamily="50" charset="-127"/>
                <a:ea typeface="맑은 고딕" pitchFamily="50" charset="-127"/>
              </a:rPr>
              <a:t> </a:t>
            </a:r>
            <a:r>
              <a:rPr lang="en-US" altLang="ko-KR" sz="1400" b="1" dirty="0" err="1">
                <a:solidFill>
                  <a:srgbClr val="008000"/>
                </a:solidFill>
                <a:latin typeface="맑은 고딕" pitchFamily="50" charset="-127"/>
                <a:ea typeface="맑은 고딕" pitchFamily="50" charset="-127"/>
              </a:rPr>
              <a:t>dụng</a:t>
            </a:r>
            <a:r>
              <a:rPr lang="en-US" altLang="ko-KR" sz="1400" b="1" dirty="0">
                <a:solidFill>
                  <a:srgbClr val="008000"/>
                </a:solidFill>
                <a:latin typeface="맑은 고딕" pitchFamily="50" charset="-127"/>
                <a:ea typeface="맑은 고딕" pitchFamily="50" charset="-127"/>
              </a:rPr>
              <a:t> </a:t>
            </a:r>
            <a:r>
              <a:rPr lang="en-US" altLang="ko-KR" sz="1400" b="1" dirty="0" err="1">
                <a:solidFill>
                  <a:srgbClr val="008000"/>
                </a:solidFill>
                <a:latin typeface="맑은 고딕" pitchFamily="50" charset="-127"/>
                <a:ea typeface="맑은 고딕" pitchFamily="50" charset="-127"/>
              </a:rPr>
              <a:t>phân</a:t>
            </a:r>
            <a:r>
              <a:rPr lang="en-US" altLang="ko-KR" sz="1400" b="1" dirty="0">
                <a:solidFill>
                  <a:srgbClr val="008000"/>
                </a:solidFill>
                <a:latin typeface="맑은 고딕" pitchFamily="50" charset="-127"/>
                <a:ea typeface="맑은 고딕" pitchFamily="50" charset="-127"/>
              </a:rPr>
              <a:t> </a:t>
            </a:r>
            <a:r>
              <a:rPr lang="en-US" altLang="ko-KR" sz="1400" b="1" dirty="0" err="1">
                <a:solidFill>
                  <a:srgbClr val="008000"/>
                </a:solidFill>
                <a:latin typeface="맑은 고딕" pitchFamily="50" charset="-127"/>
                <a:ea typeface="맑은 고딕" pitchFamily="50" charset="-127"/>
              </a:rPr>
              <a:t>nhóm</a:t>
            </a:r>
            <a:r>
              <a:rPr lang="en-US" altLang="ko-KR" sz="1400" b="1" dirty="0">
                <a:solidFill>
                  <a:srgbClr val="008000"/>
                </a:solidFill>
                <a:latin typeface="맑은 고딕" pitchFamily="50" charset="-127"/>
                <a:ea typeface="맑은 고딕" pitchFamily="50" charset="-127"/>
              </a:rPr>
              <a:t> </a:t>
            </a:r>
            <a:r>
              <a:rPr lang="en-US" altLang="ko-KR" sz="1400" b="1" dirty="0" err="1">
                <a:solidFill>
                  <a:srgbClr val="008000"/>
                </a:solidFill>
                <a:latin typeface="맑은 고딕" pitchFamily="50" charset="-127"/>
                <a:ea typeface="맑은 고딕" pitchFamily="50" charset="-127"/>
              </a:rPr>
              <a:t>đồng</a:t>
            </a:r>
            <a:r>
              <a:rPr lang="en-US" altLang="ko-KR" sz="1400" b="1" dirty="0">
                <a:solidFill>
                  <a:srgbClr val="008000"/>
                </a:solidFill>
                <a:latin typeface="맑은 고딕" pitchFamily="50" charset="-127"/>
                <a:ea typeface="맑은 고딕" pitchFamily="50" charset="-127"/>
              </a:rPr>
              <a:t> </a:t>
            </a:r>
            <a:r>
              <a:rPr lang="en-US" altLang="ko-KR" sz="1400" b="1" dirty="0" err="1">
                <a:solidFill>
                  <a:srgbClr val="008000"/>
                </a:solidFill>
                <a:latin typeface="맑은 고딕" pitchFamily="50" charset="-127"/>
                <a:ea typeface="맑은 고딕" pitchFamily="50" charset="-127"/>
              </a:rPr>
              <a:t>chất</a:t>
            </a:r>
            <a:r>
              <a:rPr lang="en-US" altLang="ko-KR" sz="1400" b="1" dirty="0">
                <a:solidFill>
                  <a:srgbClr val="008000"/>
                </a:solidFill>
                <a:latin typeface="맑은 고딕" pitchFamily="50" charset="-127"/>
                <a:ea typeface="맑은 고딕" pitchFamily="50" charset="-127"/>
              </a:rPr>
              <a:t>.</a:t>
            </a:r>
            <a:endParaRPr lang="ko-KR" altLang="en-US" sz="1400" b="1" dirty="0">
              <a:solidFill>
                <a:srgbClr val="008000"/>
              </a:solidFill>
              <a:latin typeface="맑은 고딕" pitchFamily="50" charset="-127"/>
              <a:ea typeface="맑은 고딕" pitchFamily="50" charset="-127"/>
            </a:endParaRPr>
          </a:p>
        </p:txBody>
      </p:sp>
      <p:sp>
        <p:nvSpPr>
          <p:cNvPr id="52245" name="Rectangle 48"/>
          <p:cNvSpPr>
            <a:spLocks noChangeArrowheads="1"/>
          </p:cNvSpPr>
          <p:nvPr/>
        </p:nvSpPr>
        <p:spPr bwMode="auto">
          <a:xfrm>
            <a:off x="912812" y="2802855"/>
            <a:ext cx="2095971" cy="390525"/>
          </a:xfrm>
          <a:prstGeom prst="rect">
            <a:avLst/>
          </a:prstGeom>
          <a:solidFill>
            <a:srgbClr val="0000FF"/>
          </a:solidFill>
          <a:ln w="9525" algn="ctr">
            <a:solidFill>
              <a:srgbClr val="0000FF"/>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hangingPunct="1"/>
            <a:r>
              <a:rPr lang="en-US" altLang="ko-KR" sz="1200" b="1" dirty="0" err="1">
                <a:solidFill>
                  <a:srgbClr val="FFFFFF"/>
                </a:solidFill>
                <a:latin typeface="맑은 고딕" pitchFamily="50" charset="-127"/>
                <a:ea typeface="맑은 고딕" pitchFamily="50" charset="-127"/>
              </a:rPr>
              <a:t>Phương</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sai</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chất</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lượng</a:t>
            </a:r>
            <a:br>
              <a:rPr lang="en-US" altLang="ko-KR" sz="1200" b="1" dirty="0">
                <a:solidFill>
                  <a:srgbClr val="FFFFFF"/>
                </a:solidFill>
                <a:latin typeface="맑은 고딕" pitchFamily="50" charset="-127"/>
                <a:ea typeface="맑은 고딕" pitchFamily="50" charset="-127"/>
              </a:rPr>
            </a:br>
            <a:r>
              <a:rPr lang="en-US" altLang="ko-KR" sz="1200" b="1" dirty="0" err="1">
                <a:solidFill>
                  <a:srgbClr val="FFFFFF"/>
                </a:solidFill>
                <a:latin typeface="맑은 고딕" pitchFamily="50" charset="-127"/>
                <a:ea typeface="맑은 고딕" pitchFamily="50" charset="-127"/>
              </a:rPr>
              <a:t>của</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quá</a:t>
            </a:r>
            <a:r>
              <a:rPr lang="en-US" altLang="ko-KR" sz="1200" b="1" dirty="0">
                <a:solidFill>
                  <a:srgbClr val="FFFFFF"/>
                </a:solidFill>
                <a:latin typeface="맑은 고딕" pitchFamily="50" charset="-127"/>
                <a:ea typeface="맑은 고딕" pitchFamily="50" charset="-127"/>
              </a:rPr>
              <a:t> </a:t>
            </a:r>
            <a:r>
              <a:rPr lang="en-US" altLang="ko-KR" sz="1200" b="1" dirty="0" err="1">
                <a:solidFill>
                  <a:srgbClr val="FFFFFF"/>
                </a:solidFill>
                <a:latin typeface="맑은 고딕" pitchFamily="50" charset="-127"/>
                <a:ea typeface="맑은 고딕" pitchFamily="50" charset="-127"/>
              </a:rPr>
              <a:t>trình</a:t>
            </a:r>
            <a:endParaRPr lang="ko-KR" altLang="en-US" sz="1200" b="1" dirty="0">
              <a:solidFill>
                <a:srgbClr val="FFFFFF"/>
              </a:solidFill>
              <a:latin typeface="맑은 고딕" pitchFamily="50" charset="-127"/>
              <a:ea typeface="맑은 고딕" pitchFamily="50" charset="-127"/>
            </a:endParaRPr>
          </a:p>
        </p:txBody>
      </p:sp>
      <p:sp>
        <p:nvSpPr>
          <p:cNvPr id="2" name="슬라이드 번호 개체 틀 1"/>
          <p:cNvSpPr>
            <a:spLocks noGrp="1"/>
          </p:cNvSpPr>
          <p:nvPr>
            <p:ph type="sldNum" sz="quarter" idx="10"/>
          </p:nvPr>
        </p:nvSpPr>
        <p:spPr/>
        <p:txBody>
          <a:bodyPr/>
          <a:lstStyle/>
          <a:p>
            <a:pPr>
              <a:defRPr/>
            </a:pPr>
            <a:fld id="{336E293E-7793-468B-AB4C-49C46432963A}" type="slidenum">
              <a:rPr lang="ko-KR" altLang="en-US" smtClean="0"/>
              <a:pPr>
                <a:defRPr/>
              </a:pPr>
              <a:t>289</a:t>
            </a:fld>
            <a:endParaRPr lang="ko-KR" altLang="en-US" dirty="0"/>
          </a:p>
        </p:txBody>
      </p:sp>
    </p:spTree>
    <p:extLst>
      <p:ext uri="{BB962C8B-B14F-4D97-AF65-F5344CB8AC3E}">
        <p14:creationId xmlns:p14="http://schemas.microsoft.com/office/powerpoint/2010/main" val="3862124321"/>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그림 1"/>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3327594" y="2279910"/>
            <a:ext cx="3250813" cy="2298180"/>
          </a:xfrm>
          <a:prstGeom prst="rect">
            <a:avLst/>
          </a:prstGeom>
        </p:spPr>
      </p:pic>
    </p:spTree>
    <p:extLst>
      <p:ext uri="{BB962C8B-B14F-4D97-AF65-F5344CB8AC3E}">
        <p14:creationId xmlns:p14="http://schemas.microsoft.com/office/powerpoint/2010/main" val="1990782460"/>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psL.RbRInwUuIT0HpslLiwA"/>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psL.RbRInwUuIT0HpslLiwA"/>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psL.RbRInwUuIT0HpslLiwA"/>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pFv26bsa3aEmXCbdhXIgtOg"/>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pFv26bsa3aEmXCbdhXIgtOg"/>
</p:tagLst>
</file>

<file path=ppt/theme/theme1.xml><?xml version="1.0" encoding="utf-8"?>
<a:theme xmlns:a="http://schemas.openxmlformats.org/drawingml/2006/main" name="제목 슬라이드">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marL="266700" indent="-266700">
          <a:lnSpc>
            <a:spcPct val="130000"/>
          </a:lnSpc>
          <a:buClr>
            <a:srgbClr val="C5003D"/>
          </a:buClr>
          <a:buFont typeface="Wingdings" pitchFamily="2" charset="2"/>
          <a:buChar char="u"/>
          <a:defRPr sz="1600" b="1" dirty="0" smtClean="0"/>
        </a:defPPr>
      </a:lstStyle>
    </a:txDef>
  </a:objectDefaults>
  <a:extraClrSchemeLst/>
</a:theme>
</file>

<file path=ppt/theme/theme2.xml><?xml version="1.0" encoding="utf-8"?>
<a:theme xmlns:a="http://schemas.openxmlformats.org/drawingml/2006/main" name="디자인 사용자 지정">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35247</TotalTime>
  <Words>47159</Words>
  <Application>Microsoft Office PowerPoint</Application>
  <PresentationFormat>A4 Paper (210x297 mm)</PresentationFormat>
  <Paragraphs>6016</Paragraphs>
  <Slides>291</Slides>
  <Notes>177</Notes>
  <HiddenSlides>4</HiddenSlides>
  <MMClips>0</MMClips>
  <ScaleCrop>false</ScaleCrop>
  <HeadingPairs>
    <vt:vector size="8" baseType="variant">
      <vt:variant>
        <vt:lpstr>Fonts Used</vt:lpstr>
      </vt:variant>
      <vt:variant>
        <vt:i4>12</vt:i4>
      </vt:variant>
      <vt:variant>
        <vt:lpstr>Theme</vt:lpstr>
      </vt:variant>
      <vt:variant>
        <vt:i4>2</vt:i4>
      </vt:variant>
      <vt:variant>
        <vt:lpstr>Embedded OLE Servers</vt:lpstr>
      </vt:variant>
      <vt:variant>
        <vt:i4>10</vt:i4>
      </vt:variant>
      <vt:variant>
        <vt:lpstr>Slide Titles</vt:lpstr>
      </vt:variant>
      <vt:variant>
        <vt:i4>291</vt:i4>
      </vt:variant>
    </vt:vector>
  </HeadingPairs>
  <TitlesOfParts>
    <vt:vector size="315" baseType="lpstr">
      <vt:lpstr>돋움</vt:lpstr>
      <vt:lpstr>굴림</vt:lpstr>
      <vt:lpstr>맑은 고딕</vt:lpstr>
      <vt:lpstr>Arial</vt:lpstr>
      <vt:lpstr>Arial</vt:lpstr>
      <vt:lpstr>Arial (Body)</vt:lpstr>
      <vt:lpstr>Arial Narrow</vt:lpstr>
      <vt:lpstr>Calibri</vt:lpstr>
      <vt:lpstr>HY울릉도B</vt:lpstr>
      <vt:lpstr>Monotype Sorts</vt:lpstr>
      <vt:lpstr>Times New Roman</vt:lpstr>
      <vt:lpstr>Wingdings</vt:lpstr>
      <vt:lpstr>제목 슬라이드</vt:lpstr>
      <vt:lpstr>디자인 사용자 지정</vt:lpstr>
      <vt:lpstr>클립</vt:lpstr>
      <vt:lpstr>Equation</vt:lpstr>
      <vt:lpstr>워크시트</vt:lpstr>
      <vt:lpstr>차트</vt:lpstr>
      <vt:lpstr>Flash Document</vt:lpstr>
      <vt:lpstr>Graph</vt:lpstr>
      <vt:lpstr>Image</vt:lpstr>
      <vt:lpstr>Worksheet</vt:lpstr>
      <vt:lpstr>Mtb Graph</vt:lpstr>
      <vt:lpstr>수식</vt:lpstr>
      <vt:lpstr>PowerPoint Presentation</vt:lpstr>
      <vt:lpstr>Lịch trình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Mục tiêu khóa học</vt:lpstr>
      <vt:lpstr>M1. Giới thiệu</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M2. Dữ liệu</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M3. QC 7 Tool</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M7. Biểu đồ kiểm soát</vt:lpstr>
      <vt:lpstr>1. Giới thiệu</vt:lpstr>
      <vt:lpstr>1. Giới thiệu</vt:lpstr>
      <vt:lpstr>PowerPoint Presentation</vt:lpstr>
      <vt:lpstr>PowerPoint Presentation</vt:lpstr>
      <vt:lpstr>PowerPoint Presentation</vt:lpstr>
      <vt:lpstr>PowerPoint Presentation</vt:lpstr>
      <vt:lpstr>2. Định nghĩa biểu đồ kiểm soát</vt:lpstr>
      <vt:lpstr>PowerPoint Presentation</vt:lpstr>
      <vt:lpstr>PowerPoint Presentation</vt:lpstr>
      <vt:lpstr>PowerPoint Presentation</vt:lpstr>
      <vt:lpstr>4. Loại biểu đồ kiểm soát</vt:lpstr>
      <vt:lpstr>4. Loại biểu đồ kiểm soát _ Xbar-R Control Chart</vt:lpstr>
      <vt:lpstr>4. Loại biểu đồ kiểm soát _ I-MR Control Chart</vt:lpstr>
      <vt:lpstr>4. Loại biểu đồ kiểm soát _ p Control Chart</vt:lpstr>
      <vt:lpstr>5. Phương pháp xây dựng</vt:lpstr>
      <vt:lpstr>PowerPoint Presentation</vt:lpstr>
      <vt:lpstr>PowerPoint Presentation</vt:lpstr>
      <vt:lpstr>PowerPoint Presentation</vt:lpstr>
      <vt:lpstr>6. Cách đọc biểu đồ kiểm soát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7. Thực hành Xbar-R Control Chart</vt:lpstr>
      <vt:lpstr>PowerPoint Presentation</vt:lpstr>
      <vt:lpstr>PowerPoint Presentation</vt:lpstr>
      <vt:lpstr>PowerPoint Presentation</vt:lpstr>
      <vt:lpstr>7. Thực hành Xbar-R Control Chart</vt:lpstr>
      <vt:lpstr>PowerPoint Presentation</vt:lpstr>
      <vt:lpstr>PowerPoint Presentation</vt:lpstr>
      <vt:lpstr>7. Thực hành _ I-MR Control Chart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8. Tổng kết</vt:lpstr>
      <vt:lpstr>PowerPoint Presentation</vt:lpstr>
    </vt:vector>
  </TitlesOfParts>
  <Company>LG</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슬라이드 1</dc:title>
  <dc:creator>Administrator</dc:creator>
  <cp:lastModifiedBy>DUC VIET BUI/LGEVH IVI LD Cyber Security Part</cp:lastModifiedBy>
  <cp:revision>1716</cp:revision>
  <cp:lastPrinted>2015-10-02T00:10:48Z</cp:lastPrinted>
  <dcterms:created xsi:type="dcterms:W3CDTF">2012-01-20T03:23:33Z</dcterms:created>
  <dcterms:modified xsi:type="dcterms:W3CDTF">2026-04-03T03:24:37Z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cc6ed9fc-fefc-4a0c-a6d6-10cf236c0d4f_Enabled">
    <vt:lpwstr>true</vt:lpwstr>
  </property>
  <property fmtid="{D5CDD505-2E9C-101B-9397-08002B2CF9AE}" pid="3" name="MSIP_Label_cc6ed9fc-fefc-4a0c-a6d6-10cf236c0d4f_SetDate">
    <vt:lpwstr>2026-02-26T06:52:36Z</vt:lpwstr>
  </property>
  <property fmtid="{D5CDD505-2E9C-101B-9397-08002B2CF9AE}" pid="4" name="MSIP_Label_cc6ed9fc-fefc-4a0c-a6d6-10cf236c0d4f_Method">
    <vt:lpwstr>Standard</vt:lpwstr>
  </property>
  <property fmtid="{D5CDD505-2E9C-101B-9397-08002B2CF9AE}" pid="5" name="MSIP_Label_cc6ed9fc-fefc-4a0c-a6d6-10cf236c0d4f_Name">
    <vt:lpwstr>Internal use only</vt:lpwstr>
  </property>
  <property fmtid="{D5CDD505-2E9C-101B-9397-08002B2CF9AE}" pid="6" name="MSIP_Label_cc6ed9fc-fefc-4a0c-a6d6-10cf236c0d4f_SiteId">
    <vt:lpwstr>5069cde4-642a-45c0-8094-d0c2dec10be3</vt:lpwstr>
  </property>
  <property fmtid="{D5CDD505-2E9C-101B-9397-08002B2CF9AE}" pid="7" name="MSIP_Label_cc6ed9fc-fefc-4a0c-a6d6-10cf236c0d4f_ActionId">
    <vt:lpwstr>ae04b20e-0dc9-4dbc-b62f-3f75e48f0663</vt:lpwstr>
  </property>
  <property fmtid="{D5CDD505-2E9C-101B-9397-08002B2CF9AE}" pid="8" name="MSIP_Label_cc6ed9fc-fefc-4a0c-a6d6-10cf236c0d4f_ContentBits">
    <vt:lpwstr>1</vt:lpwstr>
  </property>
  <property fmtid="{D5CDD505-2E9C-101B-9397-08002B2CF9AE}" pid="9" name="MSIP_Label_cc6ed9fc-fefc-4a0c-a6d6-10cf236c0d4f_Tag">
    <vt:lpwstr>10, 3, 0, 1</vt:lpwstr>
  </property>
  <property fmtid="{D5CDD505-2E9C-101B-9397-08002B2CF9AE}" pid="10" name="ClassificationContentMarkingHeaderLocations">
    <vt:lpwstr>제목 슬라이드:3\디자인 사용자 지정:5</vt:lpwstr>
  </property>
  <property fmtid="{D5CDD505-2E9C-101B-9397-08002B2CF9AE}" pid="11" name="ClassificationContentMarkingHeaderText">
    <vt:lpwstr>LGE Internal Use Only</vt:lpwstr>
  </property>
</Properties>
</file>